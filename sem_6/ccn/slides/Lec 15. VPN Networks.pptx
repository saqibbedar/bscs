
<file path=[Content_Types].xml><?xml version="1.0" encoding="utf-8"?>
<Types xmlns="http://schemas.openxmlformats.org/package/2006/content-types">
  <Default Extension="xml" ContentType="application/xml"/>
  <Default Extension="png" ContentType="image/png"/>
  <Default Extension="jpeg" ContentType="image/jpeg"/>
  <Default Extension="rels" ContentType="application/vnd.openxmlformats-package.relationships+xml"/>
  <Default Extension="emf" ContentType="image/x-emf"/>
  <Default Extension="vml" ContentType="application/vnd.openxmlformats-officedocument.vmlDrawing"/>
  <Default Extension="bin" ContentType="application/vnd.openxmlformats-officedocument.oleObject"/>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notesMasterIdLst>
    <p:notesMasterId r:id="rId38"/>
  </p:notesMasterIdLst>
  <p:handoutMasterIdLst>
    <p:handoutMasterId r:id="rId39"/>
  </p:handoutMasterIdLst>
  <p:sldIdLst>
    <p:sldId id="310" r:id="rId2"/>
    <p:sldId id="256" r:id="rId3"/>
    <p:sldId id="313" r:id="rId4"/>
    <p:sldId id="258" r:id="rId5"/>
    <p:sldId id="259" r:id="rId6"/>
    <p:sldId id="260" r:id="rId7"/>
    <p:sldId id="261" r:id="rId8"/>
    <p:sldId id="262" r:id="rId9"/>
    <p:sldId id="314"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311" r:id="rId29"/>
    <p:sldId id="312" r:id="rId30"/>
    <p:sldId id="283" r:id="rId31"/>
    <p:sldId id="284" r:id="rId32"/>
    <p:sldId id="285" r:id="rId33"/>
    <p:sldId id="287" r:id="rId34"/>
    <p:sldId id="288" r:id="rId35"/>
    <p:sldId id="289" r:id="rId36"/>
    <p:sldId id="290" r:id="rId37"/>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itchFamily="34" charset="0"/>
        <a:ea typeface="+mn-ea"/>
        <a:cs typeface="+mn-cs"/>
      </a:defRPr>
    </a:lvl1pPr>
    <a:lvl2pPr marL="457200" algn="l" rtl="0" eaLnBrk="0" fontAlgn="base" hangingPunct="0">
      <a:spcBef>
        <a:spcPct val="0"/>
      </a:spcBef>
      <a:spcAft>
        <a:spcPct val="0"/>
      </a:spcAft>
      <a:defRPr kern="1200">
        <a:solidFill>
          <a:schemeClr val="tx1"/>
        </a:solidFill>
        <a:latin typeface="Arial" pitchFamily="34" charset="0"/>
        <a:ea typeface="+mn-ea"/>
        <a:cs typeface="+mn-cs"/>
      </a:defRPr>
    </a:lvl2pPr>
    <a:lvl3pPr marL="914400" algn="l" rtl="0" eaLnBrk="0" fontAlgn="base" hangingPunct="0">
      <a:spcBef>
        <a:spcPct val="0"/>
      </a:spcBef>
      <a:spcAft>
        <a:spcPct val="0"/>
      </a:spcAft>
      <a:defRPr kern="1200">
        <a:solidFill>
          <a:schemeClr val="tx1"/>
        </a:solidFill>
        <a:latin typeface="Arial"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3333CC"/>
    <a:srgbClr val="E2A7FF"/>
    <a:srgbClr val="CC66FF"/>
    <a:srgbClr val="97F385"/>
    <a:srgbClr val="B8D9E6"/>
    <a:srgbClr val="AFAF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autoAdjust="0"/>
    <p:restoredTop sz="77932" autoAdjust="0"/>
  </p:normalViewPr>
  <p:slideViewPr>
    <p:cSldViewPr>
      <p:cViewPr varScale="1">
        <p:scale>
          <a:sx n="81" d="100"/>
          <a:sy n="81" d="100"/>
        </p:scale>
        <p:origin x="242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handoutMaster" Target="handoutMasters/handout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0290" name="Rectangle 2"/>
          <p:cNvSpPr>
            <a:spLocks noGrp="1" noChangeArrowheads="1"/>
          </p:cNvSpPr>
          <p:nvPr>
            <p:ph type="hdr" sz="quarter"/>
          </p:nvPr>
        </p:nvSpPr>
        <p:spPr bwMode="auto">
          <a:xfrm>
            <a:off x="0" y="0"/>
            <a:ext cx="3135313" cy="484188"/>
          </a:xfrm>
          <a:prstGeom prst="rect">
            <a:avLst/>
          </a:prstGeom>
          <a:noFill/>
          <a:ln w="9525">
            <a:noFill/>
            <a:miter lim="800000"/>
            <a:headEnd/>
            <a:tailEnd/>
          </a:ln>
          <a:effectLst/>
        </p:spPr>
        <p:txBody>
          <a:bodyPr vert="horz" wrap="square" lIns="96566" tIns="48283" rIns="96566" bIns="48283" numCol="1" anchor="t" anchorCtr="0" compatLnSpc="1">
            <a:prstTxWarp prst="textNoShape">
              <a:avLst/>
            </a:prstTxWarp>
          </a:bodyPr>
          <a:lstStyle>
            <a:lvl1pPr defTabSz="964112">
              <a:defRPr sz="1300">
                <a:latin typeface="Times New Roman" pitchFamily="18" charset="0"/>
              </a:defRPr>
            </a:lvl1pPr>
          </a:lstStyle>
          <a:p>
            <a:pPr>
              <a:defRPr/>
            </a:pPr>
            <a:endParaRPr lang="en-US"/>
          </a:p>
        </p:txBody>
      </p:sp>
      <p:sp>
        <p:nvSpPr>
          <p:cNvPr id="140291" name="Rectangle 3"/>
          <p:cNvSpPr>
            <a:spLocks noGrp="1" noChangeArrowheads="1"/>
          </p:cNvSpPr>
          <p:nvPr>
            <p:ph type="dt" sz="quarter" idx="1"/>
          </p:nvPr>
        </p:nvSpPr>
        <p:spPr bwMode="auto">
          <a:xfrm>
            <a:off x="4179888" y="0"/>
            <a:ext cx="3135312" cy="484188"/>
          </a:xfrm>
          <a:prstGeom prst="rect">
            <a:avLst/>
          </a:prstGeom>
          <a:noFill/>
          <a:ln w="9525">
            <a:noFill/>
            <a:miter lim="800000"/>
            <a:headEnd/>
            <a:tailEnd/>
          </a:ln>
          <a:effectLst/>
        </p:spPr>
        <p:txBody>
          <a:bodyPr vert="horz" wrap="square" lIns="96566" tIns="48283" rIns="96566" bIns="48283" numCol="1" anchor="t" anchorCtr="0" compatLnSpc="1">
            <a:prstTxWarp prst="textNoShape">
              <a:avLst/>
            </a:prstTxWarp>
          </a:bodyPr>
          <a:lstStyle>
            <a:lvl1pPr algn="r" defTabSz="964112">
              <a:defRPr sz="1300">
                <a:latin typeface="Times New Roman" pitchFamily="18" charset="0"/>
              </a:defRPr>
            </a:lvl1pPr>
          </a:lstStyle>
          <a:p>
            <a:pPr>
              <a:defRPr/>
            </a:pPr>
            <a:endParaRPr lang="en-US"/>
          </a:p>
        </p:txBody>
      </p:sp>
      <p:sp>
        <p:nvSpPr>
          <p:cNvPr id="140292" name="Rectangle 4"/>
          <p:cNvSpPr>
            <a:spLocks noGrp="1" noChangeArrowheads="1"/>
          </p:cNvSpPr>
          <p:nvPr>
            <p:ph type="ftr" sz="quarter" idx="2"/>
          </p:nvPr>
        </p:nvSpPr>
        <p:spPr bwMode="auto">
          <a:xfrm>
            <a:off x="0" y="9104313"/>
            <a:ext cx="3135313" cy="484187"/>
          </a:xfrm>
          <a:prstGeom prst="rect">
            <a:avLst/>
          </a:prstGeom>
          <a:noFill/>
          <a:ln w="9525">
            <a:noFill/>
            <a:miter lim="800000"/>
            <a:headEnd/>
            <a:tailEnd/>
          </a:ln>
          <a:effectLst/>
        </p:spPr>
        <p:txBody>
          <a:bodyPr vert="horz" wrap="square" lIns="96566" tIns="48283" rIns="96566" bIns="48283" numCol="1" anchor="b" anchorCtr="0" compatLnSpc="1">
            <a:prstTxWarp prst="textNoShape">
              <a:avLst/>
            </a:prstTxWarp>
          </a:bodyPr>
          <a:lstStyle>
            <a:lvl1pPr defTabSz="964112">
              <a:defRPr sz="1300">
                <a:latin typeface="Times New Roman" pitchFamily="18" charset="0"/>
              </a:defRPr>
            </a:lvl1pPr>
          </a:lstStyle>
          <a:p>
            <a:pPr>
              <a:defRPr/>
            </a:pPr>
            <a:endParaRPr lang="en-US"/>
          </a:p>
        </p:txBody>
      </p:sp>
      <p:sp>
        <p:nvSpPr>
          <p:cNvPr id="140293" name="Rectangle 5"/>
          <p:cNvSpPr>
            <a:spLocks noGrp="1" noChangeArrowheads="1"/>
          </p:cNvSpPr>
          <p:nvPr>
            <p:ph type="sldNum" sz="quarter" idx="3"/>
          </p:nvPr>
        </p:nvSpPr>
        <p:spPr bwMode="auto">
          <a:xfrm>
            <a:off x="4179888" y="9104313"/>
            <a:ext cx="3135312" cy="484187"/>
          </a:xfrm>
          <a:prstGeom prst="rect">
            <a:avLst/>
          </a:prstGeom>
          <a:noFill/>
          <a:ln w="9525">
            <a:noFill/>
            <a:miter lim="800000"/>
            <a:headEnd/>
            <a:tailEnd/>
          </a:ln>
          <a:effectLst/>
        </p:spPr>
        <p:txBody>
          <a:bodyPr vert="horz" wrap="square" lIns="96566" tIns="48283" rIns="96566" bIns="48283" numCol="1" anchor="b" anchorCtr="0" compatLnSpc="1">
            <a:prstTxWarp prst="textNoShape">
              <a:avLst/>
            </a:prstTxWarp>
          </a:bodyPr>
          <a:lstStyle>
            <a:lvl1pPr algn="r" defTabSz="964112">
              <a:defRPr sz="1300">
                <a:latin typeface="Times New Roman" pitchFamily="18" charset="0"/>
                <a:cs typeface="Times New Roman" pitchFamily="18" charset="0"/>
              </a:defRPr>
            </a:lvl1pPr>
          </a:lstStyle>
          <a:p>
            <a:pPr>
              <a:defRPr/>
            </a:pPr>
            <a:fld id="{52B5ACDF-F3E8-41FC-8E03-C7302A567AD3}" type="slidenum">
              <a:rPr lang="ar-SA"/>
              <a:pPr>
                <a:defRPr/>
              </a:pPr>
              <a:t>‹#›</a:t>
            </a:fld>
            <a:endParaRPr lang="en-US"/>
          </a:p>
        </p:txBody>
      </p:sp>
    </p:spTree>
    <p:extLst>
      <p:ext uri="{BB962C8B-B14F-4D97-AF65-F5344CB8AC3E}">
        <p14:creationId xmlns:p14="http://schemas.microsoft.com/office/powerpoint/2010/main" val="9382524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2"/>
          <p:cNvSpPr>
            <a:spLocks noGrp="1" noChangeArrowheads="1"/>
          </p:cNvSpPr>
          <p:nvPr>
            <p:ph type="hdr" sz="quarter"/>
          </p:nvPr>
        </p:nvSpPr>
        <p:spPr bwMode="auto">
          <a:xfrm>
            <a:off x="0" y="0"/>
            <a:ext cx="3132138" cy="484188"/>
          </a:xfrm>
          <a:prstGeom prst="rect">
            <a:avLst/>
          </a:prstGeom>
          <a:noFill/>
          <a:ln w="9525">
            <a:noFill/>
            <a:miter lim="800000"/>
            <a:headEnd/>
            <a:tailEnd/>
          </a:ln>
          <a:effectLst/>
        </p:spPr>
        <p:txBody>
          <a:bodyPr vert="horz" wrap="square" lIns="96566" tIns="48283" rIns="96566" bIns="48283" numCol="1" anchor="t" anchorCtr="0" compatLnSpc="1">
            <a:prstTxWarp prst="textNoShape">
              <a:avLst/>
            </a:prstTxWarp>
          </a:bodyPr>
          <a:lstStyle>
            <a:lvl1pPr defTabSz="964112">
              <a:defRPr sz="1300">
                <a:latin typeface="Times New Roman" pitchFamily="18" charset="0"/>
              </a:defRPr>
            </a:lvl1pPr>
          </a:lstStyle>
          <a:p>
            <a:pPr>
              <a:defRPr/>
            </a:pPr>
            <a:endParaRPr lang="en-US"/>
          </a:p>
        </p:txBody>
      </p:sp>
      <p:sp>
        <p:nvSpPr>
          <p:cNvPr id="65539" name="Rectangle 3"/>
          <p:cNvSpPr>
            <a:spLocks noGrp="1" noChangeArrowheads="1"/>
          </p:cNvSpPr>
          <p:nvPr>
            <p:ph type="dt" idx="1"/>
          </p:nvPr>
        </p:nvSpPr>
        <p:spPr bwMode="auto">
          <a:xfrm>
            <a:off x="4176713" y="0"/>
            <a:ext cx="3132137" cy="484188"/>
          </a:xfrm>
          <a:prstGeom prst="rect">
            <a:avLst/>
          </a:prstGeom>
          <a:noFill/>
          <a:ln w="9525">
            <a:noFill/>
            <a:miter lim="800000"/>
            <a:headEnd/>
            <a:tailEnd/>
          </a:ln>
          <a:effectLst/>
        </p:spPr>
        <p:txBody>
          <a:bodyPr vert="horz" wrap="square" lIns="96566" tIns="48283" rIns="96566" bIns="48283" numCol="1" anchor="t" anchorCtr="0" compatLnSpc="1">
            <a:prstTxWarp prst="textNoShape">
              <a:avLst/>
            </a:prstTxWarp>
          </a:bodyPr>
          <a:lstStyle>
            <a:lvl1pPr algn="r" defTabSz="964112">
              <a:defRPr sz="1300">
                <a:latin typeface="Times New Roman" pitchFamily="18" charset="0"/>
              </a:defRPr>
            </a:lvl1pPr>
          </a:lstStyle>
          <a:p>
            <a:pPr>
              <a:defRPr/>
            </a:pPr>
            <a:endParaRPr lang="en-US"/>
          </a:p>
        </p:txBody>
      </p:sp>
      <p:sp>
        <p:nvSpPr>
          <p:cNvPr id="55300" name="Rectangle 4"/>
          <p:cNvSpPr>
            <a:spLocks noGrp="1" noRot="1" noChangeAspect="1" noChangeArrowheads="1" noTextEdit="1"/>
          </p:cNvSpPr>
          <p:nvPr>
            <p:ph type="sldImg" idx="2"/>
          </p:nvPr>
        </p:nvSpPr>
        <p:spPr bwMode="auto">
          <a:xfrm>
            <a:off x="1236663" y="725488"/>
            <a:ext cx="4835525" cy="3625850"/>
          </a:xfrm>
          <a:prstGeom prst="rect">
            <a:avLst/>
          </a:prstGeom>
          <a:noFill/>
          <a:ln w="9525">
            <a:solidFill>
              <a:srgbClr val="000000"/>
            </a:solidFill>
            <a:miter lim="800000"/>
            <a:headEnd/>
            <a:tailEnd/>
          </a:ln>
        </p:spPr>
      </p:sp>
      <p:sp>
        <p:nvSpPr>
          <p:cNvPr id="65541" name="Rectangle 5"/>
          <p:cNvSpPr>
            <a:spLocks noGrp="1" noChangeArrowheads="1"/>
          </p:cNvSpPr>
          <p:nvPr>
            <p:ph type="body" sz="quarter" idx="3"/>
          </p:nvPr>
        </p:nvSpPr>
        <p:spPr bwMode="auto">
          <a:xfrm>
            <a:off x="963613" y="4592638"/>
            <a:ext cx="5381625" cy="4270375"/>
          </a:xfrm>
          <a:prstGeom prst="rect">
            <a:avLst/>
          </a:prstGeom>
          <a:noFill/>
          <a:ln w="9525">
            <a:noFill/>
            <a:miter lim="800000"/>
            <a:headEnd/>
            <a:tailEnd/>
          </a:ln>
          <a:effectLst/>
        </p:spPr>
        <p:txBody>
          <a:bodyPr vert="horz" wrap="square" lIns="96566" tIns="48283" rIns="96566" bIns="4828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5542" name="Rectangle 6"/>
          <p:cNvSpPr>
            <a:spLocks noGrp="1" noChangeArrowheads="1"/>
          </p:cNvSpPr>
          <p:nvPr>
            <p:ph type="ftr" sz="quarter" idx="4"/>
          </p:nvPr>
        </p:nvSpPr>
        <p:spPr bwMode="auto">
          <a:xfrm>
            <a:off x="0" y="9104313"/>
            <a:ext cx="3132138" cy="484187"/>
          </a:xfrm>
          <a:prstGeom prst="rect">
            <a:avLst/>
          </a:prstGeom>
          <a:noFill/>
          <a:ln w="9525">
            <a:noFill/>
            <a:miter lim="800000"/>
            <a:headEnd/>
            <a:tailEnd/>
          </a:ln>
          <a:effectLst/>
        </p:spPr>
        <p:txBody>
          <a:bodyPr vert="horz" wrap="square" lIns="96566" tIns="48283" rIns="96566" bIns="48283" numCol="1" anchor="b" anchorCtr="0" compatLnSpc="1">
            <a:prstTxWarp prst="textNoShape">
              <a:avLst/>
            </a:prstTxWarp>
          </a:bodyPr>
          <a:lstStyle>
            <a:lvl1pPr defTabSz="964112">
              <a:defRPr sz="1300">
                <a:latin typeface="Times New Roman" pitchFamily="18" charset="0"/>
              </a:defRPr>
            </a:lvl1pPr>
          </a:lstStyle>
          <a:p>
            <a:pPr>
              <a:defRPr/>
            </a:pPr>
            <a:endParaRPr lang="en-US"/>
          </a:p>
        </p:txBody>
      </p:sp>
      <p:sp>
        <p:nvSpPr>
          <p:cNvPr id="65543" name="Rectangle 7"/>
          <p:cNvSpPr>
            <a:spLocks noGrp="1" noChangeArrowheads="1"/>
          </p:cNvSpPr>
          <p:nvPr>
            <p:ph type="sldNum" sz="quarter" idx="5"/>
          </p:nvPr>
        </p:nvSpPr>
        <p:spPr bwMode="auto">
          <a:xfrm>
            <a:off x="4176713" y="9104313"/>
            <a:ext cx="3132137" cy="484187"/>
          </a:xfrm>
          <a:prstGeom prst="rect">
            <a:avLst/>
          </a:prstGeom>
          <a:noFill/>
          <a:ln w="9525">
            <a:noFill/>
            <a:miter lim="800000"/>
            <a:headEnd/>
            <a:tailEnd/>
          </a:ln>
          <a:effectLst/>
        </p:spPr>
        <p:txBody>
          <a:bodyPr vert="horz" wrap="square" lIns="96566" tIns="48283" rIns="96566" bIns="48283" numCol="1" anchor="b" anchorCtr="0" compatLnSpc="1">
            <a:prstTxWarp prst="textNoShape">
              <a:avLst/>
            </a:prstTxWarp>
          </a:bodyPr>
          <a:lstStyle>
            <a:lvl1pPr algn="r" defTabSz="964112">
              <a:defRPr sz="1300">
                <a:latin typeface="Times New Roman" pitchFamily="18" charset="0"/>
                <a:cs typeface="Times New Roman" pitchFamily="18" charset="0"/>
              </a:defRPr>
            </a:lvl1pPr>
          </a:lstStyle>
          <a:p>
            <a:pPr>
              <a:defRPr/>
            </a:pPr>
            <a:fld id="{EB9E7AF9-28AA-4CCD-A6B2-5D0B187CCF2F}" type="slidenum">
              <a:rPr lang="ar-SA"/>
              <a:pPr>
                <a:defRPr/>
              </a:pPr>
              <a:t>‹#›</a:t>
            </a:fld>
            <a:endParaRPr lang="en-US"/>
          </a:p>
        </p:txBody>
      </p:sp>
    </p:spTree>
    <p:extLst>
      <p:ext uri="{BB962C8B-B14F-4D97-AF65-F5344CB8AC3E}">
        <p14:creationId xmlns:p14="http://schemas.microsoft.com/office/powerpoint/2010/main" val="722003740"/>
      </p:ext>
    </p:extLst>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Times New Roman" pitchFamily="18" charset="0"/>
        <a:ea typeface="+mn-ea"/>
        <a:cs typeface="Arial" pitchFamily="34" charset="0"/>
      </a:defRPr>
    </a:lvl1pPr>
    <a:lvl2pPr marL="457200" algn="r" rtl="1" eaLnBrk="0" fontAlgn="base" hangingPunct="0">
      <a:spcBef>
        <a:spcPct val="30000"/>
      </a:spcBef>
      <a:spcAft>
        <a:spcPct val="0"/>
      </a:spcAft>
      <a:defRPr sz="1200" kern="1200">
        <a:solidFill>
          <a:schemeClr val="tx1"/>
        </a:solidFill>
        <a:latin typeface="Times New Roman" pitchFamily="18" charset="0"/>
        <a:ea typeface="+mn-ea"/>
        <a:cs typeface="Arial" pitchFamily="34" charset="0"/>
      </a:defRPr>
    </a:lvl2pPr>
    <a:lvl3pPr marL="914400" algn="r" rtl="1" eaLnBrk="0" fontAlgn="base" hangingPunct="0">
      <a:spcBef>
        <a:spcPct val="30000"/>
      </a:spcBef>
      <a:spcAft>
        <a:spcPct val="0"/>
      </a:spcAft>
      <a:defRPr sz="1200" kern="1200">
        <a:solidFill>
          <a:schemeClr val="tx1"/>
        </a:solidFill>
        <a:latin typeface="Times New Roman" pitchFamily="18" charset="0"/>
        <a:ea typeface="+mn-ea"/>
        <a:cs typeface="Arial" pitchFamily="34" charset="0"/>
      </a:defRPr>
    </a:lvl3pPr>
    <a:lvl4pPr marL="1371600" algn="r" rtl="1" eaLnBrk="0" fontAlgn="base" hangingPunct="0">
      <a:spcBef>
        <a:spcPct val="30000"/>
      </a:spcBef>
      <a:spcAft>
        <a:spcPct val="0"/>
      </a:spcAft>
      <a:defRPr sz="1200" kern="1200">
        <a:solidFill>
          <a:schemeClr val="tx1"/>
        </a:solidFill>
        <a:latin typeface="Times New Roman" pitchFamily="18" charset="0"/>
        <a:ea typeface="+mn-ea"/>
        <a:cs typeface="Arial" pitchFamily="34" charset="0"/>
      </a:defRPr>
    </a:lvl4pPr>
    <a:lvl5pPr marL="1828800" algn="r" rtl="1" eaLnBrk="0" fontAlgn="base" hangingPunct="0">
      <a:spcBef>
        <a:spcPct val="30000"/>
      </a:spcBef>
      <a:spcAft>
        <a:spcPct val="0"/>
      </a:spcAft>
      <a:defRPr sz="1200" kern="1200">
        <a:solidFill>
          <a:schemeClr val="tx1"/>
        </a:solidFill>
        <a:latin typeface="Times New Roman" pitchFamily="18"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1"/>
          <p:cNvSpPr>
            <a:spLocks noGrp="1" noRot="1" noChangeAspect="1" noChangeArrowheads="1" noTextEdit="1"/>
          </p:cNvSpPr>
          <p:nvPr>
            <p:ph type="sldImg"/>
          </p:nvPr>
        </p:nvSpPr>
        <p:spPr>
          <a:xfrm>
            <a:off x="1441450" y="920750"/>
            <a:ext cx="4432300" cy="3324225"/>
          </a:xfrm>
          <a:solidFill>
            <a:srgbClr val="FFFFFF"/>
          </a:solidFill>
          <a:ln/>
        </p:spPr>
      </p:sp>
      <p:sp>
        <p:nvSpPr>
          <p:cNvPr id="56323" name="Rectangle 2"/>
          <p:cNvSpPr>
            <a:spLocks noGrp="1" noChangeArrowheads="1"/>
          </p:cNvSpPr>
          <p:nvPr>
            <p:ph type="body" idx="1"/>
          </p:nvPr>
        </p:nvSpPr>
        <p:spPr>
          <a:xfrm>
            <a:off x="1133475" y="4567238"/>
            <a:ext cx="5056188" cy="3689350"/>
          </a:xfrm>
          <a:noFill/>
          <a:ln/>
        </p:spPr>
        <p:txBody>
          <a:bodyPr wrap="none" anchor="ctr"/>
          <a:lstStyle/>
          <a:p>
            <a:pPr eaLnBrk="1" hangingPunct="1"/>
            <a:endParaRPr lang="en-US" altLang="en-US" smtClean="0"/>
          </a:p>
        </p:txBody>
      </p:sp>
    </p:spTree>
    <p:extLst>
      <p:ext uri="{BB962C8B-B14F-4D97-AF65-F5344CB8AC3E}">
        <p14:creationId xmlns:p14="http://schemas.microsoft.com/office/powerpoint/2010/main" val="1434252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1"/>
          <p:cNvSpPr>
            <a:spLocks noGrp="1" noRot="1" noChangeAspect="1" noChangeArrowheads="1" noTextEdit="1"/>
          </p:cNvSpPr>
          <p:nvPr>
            <p:ph type="sldImg"/>
          </p:nvPr>
        </p:nvSpPr>
        <p:spPr>
          <a:xfrm>
            <a:off x="1441450" y="920750"/>
            <a:ext cx="4432300" cy="3324225"/>
          </a:xfrm>
          <a:solidFill>
            <a:srgbClr val="FFFFFF"/>
          </a:solidFill>
          <a:ln/>
        </p:spPr>
      </p:sp>
      <p:sp>
        <p:nvSpPr>
          <p:cNvPr id="58371" name="Rectangle 2"/>
          <p:cNvSpPr>
            <a:spLocks noGrp="1" noChangeArrowheads="1"/>
          </p:cNvSpPr>
          <p:nvPr>
            <p:ph type="body" idx="1"/>
          </p:nvPr>
        </p:nvSpPr>
        <p:spPr>
          <a:xfrm>
            <a:off x="1133475" y="4567238"/>
            <a:ext cx="5056188" cy="3689350"/>
          </a:xfrm>
          <a:noFill/>
          <a:ln/>
        </p:spPr>
        <p:txBody>
          <a:bodyPr wrap="none" anchor="ctr"/>
          <a:lstStyle/>
          <a:p>
            <a:pPr eaLnBrk="1" hangingPunct="1"/>
            <a:endParaRPr lang="en-US" altLang="en-US" smtClean="0"/>
          </a:p>
        </p:txBody>
      </p:sp>
    </p:spTree>
    <p:extLst>
      <p:ext uri="{BB962C8B-B14F-4D97-AF65-F5344CB8AC3E}">
        <p14:creationId xmlns:p14="http://schemas.microsoft.com/office/powerpoint/2010/main" val="12642644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1"/>
          <p:cNvSpPr>
            <a:spLocks noGrp="1" noRot="1" noChangeAspect="1" noChangeArrowheads="1" noTextEdit="1"/>
          </p:cNvSpPr>
          <p:nvPr>
            <p:ph type="sldImg"/>
          </p:nvPr>
        </p:nvSpPr>
        <p:spPr>
          <a:xfrm>
            <a:off x="1441450" y="920750"/>
            <a:ext cx="4432300" cy="3324225"/>
          </a:xfrm>
          <a:solidFill>
            <a:srgbClr val="FFFFFF"/>
          </a:solidFill>
          <a:ln/>
        </p:spPr>
      </p:sp>
      <p:sp>
        <p:nvSpPr>
          <p:cNvPr id="59395" name="Rectangle 2"/>
          <p:cNvSpPr>
            <a:spLocks noGrp="1" noChangeArrowheads="1"/>
          </p:cNvSpPr>
          <p:nvPr>
            <p:ph type="body" idx="1"/>
          </p:nvPr>
        </p:nvSpPr>
        <p:spPr>
          <a:xfrm>
            <a:off x="1133475" y="4567238"/>
            <a:ext cx="5056188" cy="3689350"/>
          </a:xfrm>
          <a:noFill/>
          <a:ln/>
        </p:spPr>
        <p:txBody>
          <a:bodyPr wrap="none" anchor="ctr"/>
          <a:lstStyle/>
          <a:p>
            <a:pPr eaLnBrk="1" hangingPunct="1"/>
            <a:endParaRPr lang="en-US" altLang="en-US" dirty="0" smtClean="0"/>
          </a:p>
        </p:txBody>
      </p:sp>
    </p:spTree>
    <p:extLst>
      <p:ext uri="{BB962C8B-B14F-4D97-AF65-F5344CB8AC3E}">
        <p14:creationId xmlns:p14="http://schemas.microsoft.com/office/powerpoint/2010/main" val="1288970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1"/>
          <p:cNvSpPr>
            <a:spLocks noGrp="1" noRot="1" noChangeAspect="1" noChangeArrowheads="1" noTextEdit="1"/>
          </p:cNvSpPr>
          <p:nvPr>
            <p:ph type="sldImg"/>
          </p:nvPr>
        </p:nvSpPr>
        <p:spPr>
          <a:xfrm>
            <a:off x="1441450" y="920750"/>
            <a:ext cx="4432300" cy="3324225"/>
          </a:xfrm>
          <a:solidFill>
            <a:srgbClr val="FFFFFF"/>
          </a:solidFill>
          <a:ln/>
        </p:spPr>
      </p:sp>
      <p:sp>
        <p:nvSpPr>
          <p:cNvPr id="60419" name="Rectangle 2"/>
          <p:cNvSpPr>
            <a:spLocks noGrp="1" noChangeArrowheads="1"/>
          </p:cNvSpPr>
          <p:nvPr>
            <p:ph type="body" idx="1"/>
          </p:nvPr>
        </p:nvSpPr>
        <p:spPr>
          <a:xfrm>
            <a:off x="1133475" y="4567238"/>
            <a:ext cx="5056188" cy="3689350"/>
          </a:xfrm>
          <a:noFill/>
          <a:ln/>
        </p:spPr>
        <p:txBody>
          <a:bodyPr wrap="none" anchor="ctr"/>
          <a:lstStyle/>
          <a:p>
            <a:pPr eaLnBrk="1" hangingPunct="1"/>
            <a:endParaRPr lang="en-US" altLang="en-US" smtClean="0"/>
          </a:p>
        </p:txBody>
      </p:sp>
    </p:spTree>
    <p:extLst>
      <p:ext uri="{BB962C8B-B14F-4D97-AF65-F5344CB8AC3E}">
        <p14:creationId xmlns:p14="http://schemas.microsoft.com/office/powerpoint/2010/main" val="2063847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1"/>
          <p:cNvSpPr>
            <a:spLocks noGrp="1" noRot="1" noChangeAspect="1" noChangeArrowheads="1" noTextEdit="1"/>
          </p:cNvSpPr>
          <p:nvPr>
            <p:ph type="sldImg"/>
          </p:nvPr>
        </p:nvSpPr>
        <p:spPr>
          <a:xfrm>
            <a:off x="1441450" y="920750"/>
            <a:ext cx="4432300" cy="3324225"/>
          </a:xfrm>
          <a:solidFill>
            <a:srgbClr val="FFFFFF"/>
          </a:solidFill>
          <a:ln/>
        </p:spPr>
      </p:sp>
      <p:sp>
        <p:nvSpPr>
          <p:cNvPr id="61443" name="Rectangle 2"/>
          <p:cNvSpPr>
            <a:spLocks noGrp="1" noChangeArrowheads="1"/>
          </p:cNvSpPr>
          <p:nvPr>
            <p:ph type="body" idx="1"/>
          </p:nvPr>
        </p:nvSpPr>
        <p:spPr>
          <a:xfrm>
            <a:off x="1133475" y="4567238"/>
            <a:ext cx="5056188" cy="3689350"/>
          </a:xfrm>
          <a:noFill/>
          <a:ln/>
        </p:spPr>
        <p:txBody>
          <a:bodyPr wrap="none" anchor="ctr"/>
          <a:lstStyle/>
          <a:p>
            <a:pPr eaLnBrk="1" hangingPunct="1"/>
            <a:endParaRPr lang="en-US" altLang="en-US" smtClean="0"/>
          </a:p>
        </p:txBody>
      </p:sp>
    </p:spTree>
    <p:extLst>
      <p:ext uri="{BB962C8B-B14F-4D97-AF65-F5344CB8AC3E}">
        <p14:creationId xmlns:p14="http://schemas.microsoft.com/office/powerpoint/2010/main" val="936814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1"/>
          <p:cNvSpPr>
            <a:spLocks noGrp="1" noRot="1" noChangeAspect="1" noChangeArrowheads="1" noTextEdit="1"/>
          </p:cNvSpPr>
          <p:nvPr>
            <p:ph type="sldImg"/>
          </p:nvPr>
        </p:nvSpPr>
        <p:spPr>
          <a:xfrm>
            <a:off x="1441450" y="920750"/>
            <a:ext cx="4432300" cy="3324225"/>
          </a:xfrm>
          <a:solidFill>
            <a:srgbClr val="FFFFFF"/>
          </a:solidFill>
          <a:ln/>
        </p:spPr>
      </p:sp>
      <p:sp>
        <p:nvSpPr>
          <p:cNvPr id="62467" name="Rectangle 2"/>
          <p:cNvSpPr>
            <a:spLocks noGrp="1" noChangeArrowheads="1"/>
          </p:cNvSpPr>
          <p:nvPr>
            <p:ph type="body" idx="1"/>
          </p:nvPr>
        </p:nvSpPr>
        <p:spPr>
          <a:xfrm>
            <a:off x="1133475" y="4567238"/>
            <a:ext cx="5056188" cy="3689350"/>
          </a:xfrm>
          <a:noFill/>
          <a:ln/>
        </p:spPr>
        <p:txBody>
          <a:bodyPr wrap="none" anchor="ctr"/>
          <a:lstStyle/>
          <a:p>
            <a:pPr eaLnBrk="1" hangingPunct="1"/>
            <a:endParaRPr lang="en-US" altLang="en-US" smtClean="0"/>
          </a:p>
        </p:txBody>
      </p:sp>
    </p:spTree>
    <p:extLst>
      <p:ext uri="{BB962C8B-B14F-4D97-AF65-F5344CB8AC3E}">
        <p14:creationId xmlns:p14="http://schemas.microsoft.com/office/powerpoint/2010/main" val="1833357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1"/>
          <p:cNvSpPr>
            <a:spLocks noGrp="1" noRot="1" noChangeAspect="1" noChangeArrowheads="1" noTextEdit="1"/>
          </p:cNvSpPr>
          <p:nvPr>
            <p:ph type="sldImg"/>
          </p:nvPr>
        </p:nvSpPr>
        <p:spPr>
          <a:xfrm>
            <a:off x="1441450" y="920750"/>
            <a:ext cx="4432300" cy="3324225"/>
          </a:xfrm>
          <a:solidFill>
            <a:srgbClr val="FFFFFF"/>
          </a:solidFill>
          <a:ln/>
        </p:spPr>
      </p:sp>
      <p:sp>
        <p:nvSpPr>
          <p:cNvPr id="63491" name="Rectangle 2"/>
          <p:cNvSpPr>
            <a:spLocks noGrp="1" noChangeArrowheads="1"/>
          </p:cNvSpPr>
          <p:nvPr>
            <p:ph type="body" idx="1"/>
          </p:nvPr>
        </p:nvSpPr>
        <p:spPr>
          <a:xfrm>
            <a:off x="1133475" y="4567238"/>
            <a:ext cx="5056188" cy="3689350"/>
          </a:xfrm>
          <a:noFill/>
          <a:ln/>
        </p:spPr>
        <p:txBody>
          <a:bodyPr wrap="none" anchor="ctr"/>
          <a:lstStyle/>
          <a:p>
            <a:pPr eaLnBrk="1" hangingPunct="1"/>
            <a:endParaRPr lang="en-US" altLang="en-US" smtClean="0"/>
          </a:p>
        </p:txBody>
      </p:sp>
    </p:spTree>
    <p:extLst>
      <p:ext uri="{BB962C8B-B14F-4D97-AF65-F5344CB8AC3E}">
        <p14:creationId xmlns:p14="http://schemas.microsoft.com/office/powerpoint/2010/main" val="1144538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pPr defTabSz="962025"/>
            <a:fld id="{9C91DDCB-DDF4-46C8-ACA6-04AD33D3D7ED}" type="slidenum">
              <a:rPr lang="en-US" altLang="en-US" smtClean="0"/>
              <a:pPr defTabSz="962025"/>
              <a:t>18</a:t>
            </a:fld>
            <a:endParaRPr lang="en-US" altLang="en-US"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altLang="en-US" smtClean="0"/>
          </a:p>
        </p:txBody>
      </p:sp>
    </p:spTree>
    <p:extLst>
      <p:ext uri="{BB962C8B-B14F-4D97-AF65-F5344CB8AC3E}">
        <p14:creationId xmlns:p14="http://schemas.microsoft.com/office/powerpoint/2010/main" val="55787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pPr defTabSz="962025"/>
            <a:fld id="{97B93F2B-C527-4A2B-8B48-8357C964E6DE}" type="slidenum">
              <a:rPr lang="en-US" altLang="en-US" smtClean="0"/>
              <a:pPr defTabSz="962025"/>
              <a:t>21</a:t>
            </a:fld>
            <a:endParaRPr lang="en-US" altLang="en-US" smtClean="0"/>
          </a:p>
        </p:txBody>
      </p:sp>
      <p:sp>
        <p:nvSpPr>
          <p:cNvPr id="65539" name="Rectangle 2"/>
          <p:cNvSpPr>
            <a:spLocks noGrp="1" noRot="1" noChangeAspect="1" noChangeArrowheads="1" noTextEdit="1"/>
          </p:cNvSpPr>
          <p:nvPr>
            <p:ph type="sldImg"/>
          </p:nvPr>
        </p:nvSpPr>
        <p:spPr>
          <a:solidFill>
            <a:srgbClr val="FFFFFF"/>
          </a:solidFill>
          <a:ln/>
        </p:spPr>
      </p:sp>
      <p:sp>
        <p:nvSpPr>
          <p:cNvPr id="6554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p>
        </p:txBody>
      </p:sp>
    </p:spTree>
    <p:extLst>
      <p:ext uri="{BB962C8B-B14F-4D97-AF65-F5344CB8AC3E}">
        <p14:creationId xmlns:p14="http://schemas.microsoft.com/office/powerpoint/2010/main" val="937789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pPr defTabSz="962025"/>
            <a:fld id="{A4AF51DE-8BC9-4BEE-BB18-34DC84A4A103}" type="slidenum">
              <a:rPr lang="en-US" altLang="en-US" smtClean="0"/>
              <a:pPr defTabSz="962025"/>
              <a:t>22</a:t>
            </a:fld>
            <a:endParaRPr lang="en-US" altLang="en-US" smtClean="0"/>
          </a:p>
        </p:txBody>
      </p:sp>
      <p:sp>
        <p:nvSpPr>
          <p:cNvPr id="66563" name="Rectangle 2"/>
          <p:cNvSpPr>
            <a:spLocks noGrp="1" noRot="1" noChangeAspect="1" noChangeArrowheads="1" noTextEdit="1"/>
          </p:cNvSpPr>
          <p:nvPr>
            <p:ph type="sldImg"/>
          </p:nvPr>
        </p:nvSpPr>
        <p:spPr>
          <a:solidFill>
            <a:srgbClr val="FFFFFF"/>
          </a:solidFill>
          <a:ln/>
        </p:spPr>
      </p:sp>
      <p:sp>
        <p:nvSpPr>
          <p:cNvPr id="665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p>
        </p:txBody>
      </p:sp>
    </p:spTree>
    <p:extLst>
      <p:ext uri="{BB962C8B-B14F-4D97-AF65-F5344CB8AC3E}">
        <p14:creationId xmlns:p14="http://schemas.microsoft.com/office/powerpoint/2010/main" val="4583573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pPr defTabSz="962025"/>
            <a:fld id="{69FA98A1-4B96-487A-B75A-87D4CEC945A1}" type="slidenum">
              <a:rPr lang="en-US" altLang="en-US" smtClean="0"/>
              <a:pPr defTabSz="962025"/>
              <a:t>23</a:t>
            </a:fld>
            <a:endParaRPr lang="en-US" altLang="en-US" smtClean="0"/>
          </a:p>
        </p:txBody>
      </p:sp>
      <p:sp>
        <p:nvSpPr>
          <p:cNvPr id="67587" name="Rectangle 2"/>
          <p:cNvSpPr>
            <a:spLocks noGrp="1" noRot="1" noChangeAspect="1" noChangeArrowheads="1" noTextEdit="1"/>
          </p:cNvSpPr>
          <p:nvPr>
            <p:ph type="sldImg"/>
          </p:nvPr>
        </p:nvSpPr>
        <p:spPr>
          <a:solidFill>
            <a:srgbClr val="FFFFFF"/>
          </a:solidFill>
          <a:ln/>
        </p:spPr>
      </p:sp>
      <p:sp>
        <p:nvSpPr>
          <p:cNvPr id="6758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b="1" dirty="0" smtClean="0"/>
          </a:p>
        </p:txBody>
      </p:sp>
    </p:spTree>
    <p:extLst>
      <p:ext uri="{BB962C8B-B14F-4D97-AF65-F5344CB8AC3E}">
        <p14:creationId xmlns:p14="http://schemas.microsoft.com/office/powerpoint/2010/main" val="5875009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pPr defTabSz="962025"/>
            <a:fld id="{2D4C78F0-AD97-4BD9-BB39-FFA8560E7C0E}" type="slidenum">
              <a:rPr lang="en-US" altLang="en-US" smtClean="0"/>
              <a:pPr defTabSz="962025"/>
              <a:t>24</a:t>
            </a:fld>
            <a:endParaRPr lang="en-US" altLang="en-US" smtClean="0"/>
          </a:p>
        </p:txBody>
      </p:sp>
      <p:sp>
        <p:nvSpPr>
          <p:cNvPr id="68611" name="Rectangle 2"/>
          <p:cNvSpPr>
            <a:spLocks noGrp="1" noRot="1" noChangeAspect="1" noChangeArrowheads="1" noTextEdit="1"/>
          </p:cNvSpPr>
          <p:nvPr>
            <p:ph type="sldImg"/>
          </p:nvPr>
        </p:nvSpPr>
        <p:spPr>
          <a:solidFill>
            <a:srgbClr val="FFFFFF"/>
          </a:solidFill>
          <a:ln/>
        </p:spPr>
      </p:sp>
      <p:sp>
        <p:nvSpPr>
          <p:cNvPr id="6861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p>
        </p:txBody>
      </p:sp>
    </p:spTree>
    <p:extLst>
      <p:ext uri="{BB962C8B-B14F-4D97-AF65-F5344CB8AC3E}">
        <p14:creationId xmlns:p14="http://schemas.microsoft.com/office/powerpoint/2010/main" val="178349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pPr defTabSz="962025"/>
            <a:fld id="{CADF976E-8482-4664-AAA8-965F8E2E1E45}" type="slidenum">
              <a:rPr lang="en-US" altLang="en-US" smtClean="0"/>
              <a:pPr defTabSz="962025"/>
              <a:t>25</a:t>
            </a:fld>
            <a:endParaRPr lang="en-US" altLang="en-US" smtClean="0"/>
          </a:p>
        </p:txBody>
      </p:sp>
      <p:sp>
        <p:nvSpPr>
          <p:cNvPr id="69635" name="Rectangle 2"/>
          <p:cNvSpPr>
            <a:spLocks noGrp="1" noRot="1" noChangeAspect="1" noChangeArrowheads="1" noTextEdit="1"/>
          </p:cNvSpPr>
          <p:nvPr>
            <p:ph type="sldImg"/>
          </p:nvPr>
        </p:nvSpPr>
        <p:spPr>
          <a:solidFill>
            <a:srgbClr val="FFFFFF"/>
          </a:solidFill>
          <a:ln/>
        </p:spPr>
      </p:sp>
      <p:sp>
        <p:nvSpPr>
          <p:cNvPr id="6963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p>
        </p:txBody>
      </p:sp>
    </p:spTree>
    <p:extLst>
      <p:ext uri="{BB962C8B-B14F-4D97-AF65-F5344CB8AC3E}">
        <p14:creationId xmlns:p14="http://schemas.microsoft.com/office/powerpoint/2010/main" val="1787014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pPr defTabSz="962025"/>
            <a:fld id="{F0C09C84-C789-49AE-9EE6-AC6011565BE3}" type="slidenum">
              <a:rPr lang="en-US" altLang="en-US" smtClean="0"/>
              <a:pPr defTabSz="962025"/>
              <a:t>26</a:t>
            </a:fld>
            <a:endParaRPr lang="en-US" altLang="en-US" smtClean="0"/>
          </a:p>
        </p:txBody>
      </p:sp>
      <p:sp>
        <p:nvSpPr>
          <p:cNvPr id="70659" name="Rectangle 2"/>
          <p:cNvSpPr>
            <a:spLocks noGrp="1" noRot="1" noChangeAspect="1" noChangeArrowheads="1" noTextEdit="1"/>
          </p:cNvSpPr>
          <p:nvPr>
            <p:ph type="sldImg"/>
          </p:nvPr>
        </p:nvSpPr>
        <p:spPr>
          <a:solidFill>
            <a:srgbClr val="FFFFFF"/>
          </a:solidFill>
          <a:ln/>
        </p:spPr>
      </p:sp>
      <p:sp>
        <p:nvSpPr>
          <p:cNvPr id="7066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p>
        </p:txBody>
      </p:sp>
    </p:spTree>
    <p:extLst>
      <p:ext uri="{BB962C8B-B14F-4D97-AF65-F5344CB8AC3E}">
        <p14:creationId xmlns:p14="http://schemas.microsoft.com/office/powerpoint/2010/main" val="706379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pPr defTabSz="962025"/>
            <a:fld id="{3A5001B5-B4EC-4D1E-A6E8-5D32631077E8}" type="slidenum">
              <a:rPr lang="en-US" altLang="en-US" smtClean="0"/>
              <a:pPr defTabSz="962025"/>
              <a:t>27</a:t>
            </a:fld>
            <a:endParaRPr lang="en-US" altLang="en-US" smtClean="0"/>
          </a:p>
        </p:txBody>
      </p:sp>
      <p:sp>
        <p:nvSpPr>
          <p:cNvPr id="71683" name="Rectangle 2"/>
          <p:cNvSpPr>
            <a:spLocks noGrp="1" noRot="1" noChangeAspect="1" noChangeArrowheads="1" noTextEdit="1"/>
          </p:cNvSpPr>
          <p:nvPr>
            <p:ph type="sldImg"/>
          </p:nvPr>
        </p:nvSpPr>
        <p:spPr>
          <a:solidFill>
            <a:srgbClr val="FFFFFF"/>
          </a:solidFill>
          <a:ln/>
        </p:spPr>
      </p:sp>
      <p:sp>
        <p:nvSpPr>
          <p:cNvPr id="7168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p>
        </p:txBody>
      </p:sp>
    </p:spTree>
    <p:extLst>
      <p:ext uri="{BB962C8B-B14F-4D97-AF65-F5344CB8AC3E}">
        <p14:creationId xmlns:p14="http://schemas.microsoft.com/office/powerpoint/2010/main" val="1399158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solidFill>
            <a:srgbClr val="FFFFFF"/>
          </a:solidFill>
          <a:ln/>
        </p:spPr>
      </p:sp>
      <p:sp>
        <p:nvSpPr>
          <p:cNvPr id="72707" name="Rectangle 3"/>
          <p:cNvSpPr>
            <a:spLocks noGrp="1" noChangeArrowheads="1"/>
          </p:cNvSpPr>
          <p:nvPr>
            <p:ph type="body" idx="1"/>
          </p:nvPr>
        </p:nvSpPr>
        <p:spPr>
          <a:xfrm>
            <a:off x="731838" y="4560888"/>
            <a:ext cx="5851525" cy="4319587"/>
          </a:xfrm>
          <a:solidFill>
            <a:srgbClr val="FFFFFF"/>
          </a:solidFill>
          <a:ln>
            <a:solidFill>
              <a:srgbClr val="000000"/>
            </a:solidFill>
          </a:ln>
        </p:spPr>
        <p:txBody>
          <a:bodyPr/>
          <a:lstStyle/>
          <a:p>
            <a:pPr eaLnBrk="1" hangingPunct="1"/>
            <a:r>
              <a:rPr lang="en-US" altLang="en-US" smtClean="0">
                <a:latin typeface="Times-Roman"/>
              </a:rPr>
              <a:t>IP-level security encompasses three functional areas: authentication, confidentiality, and key management. The authentication mechanism assures that a received packet was transmitted by the party identified as the source in the packet header, and that the packet has not been altered in transit. The confidentiality facility enables communicating nodes to encrypt messages to prevent eavesdropping by third parties. The key management facility is concerned with the secure exchange of keys. IPSec provides the capability to secure communications across a LAN, across private and public WANs, and across the Internet.</a:t>
            </a:r>
          </a:p>
        </p:txBody>
      </p:sp>
    </p:spTree>
    <p:extLst>
      <p:ext uri="{BB962C8B-B14F-4D97-AF65-F5344CB8AC3E}">
        <p14:creationId xmlns:p14="http://schemas.microsoft.com/office/powerpoint/2010/main" val="107762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solidFill>
            <a:srgbClr val="FFFFFF"/>
          </a:solidFill>
          <a:ln/>
        </p:spPr>
      </p:sp>
      <p:sp>
        <p:nvSpPr>
          <p:cNvPr id="73731" name="Rectangle 3"/>
          <p:cNvSpPr>
            <a:spLocks noGrp="1" noChangeArrowheads="1"/>
          </p:cNvSpPr>
          <p:nvPr>
            <p:ph type="body" idx="1"/>
          </p:nvPr>
        </p:nvSpPr>
        <p:spPr>
          <a:xfrm>
            <a:off x="731838" y="4560888"/>
            <a:ext cx="5851525" cy="4319587"/>
          </a:xfrm>
          <a:solidFill>
            <a:srgbClr val="FFFFFF"/>
          </a:solidFill>
          <a:ln>
            <a:solidFill>
              <a:srgbClr val="000000"/>
            </a:solidFill>
          </a:ln>
        </p:spPr>
        <p:txBody>
          <a:bodyPr/>
          <a:lstStyle/>
          <a:p>
            <a:pPr eaLnBrk="1" hangingPunct="1"/>
            <a:r>
              <a:rPr lang="en-US" altLang="en-US" dirty="0" smtClean="0"/>
              <a:t>Stallings Figure 16.1 illustrates a typical IP Security scenario. </a:t>
            </a:r>
            <a:r>
              <a:rPr lang="en-US" altLang="en-US" dirty="0" smtClean="0">
                <a:latin typeface="Times-Roman"/>
              </a:rPr>
              <a:t>An organization maintains LANs at dispersed locations. </a:t>
            </a:r>
            <a:r>
              <a:rPr lang="en-US" altLang="en-US" dirty="0" err="1" smtClean="0">
                <a:latin typeface="Times-Roman"/>
              </a:rPr>
              <a:t>Nonsecure</a:t>
            </a:r>
            <a:r>
              <a:rPr lang="en-US" altLang="en-US" dirty="0" smtClean="0">
                <a:latin typeface="Times-Roman"/>
              </a:rPr>
              <a:t> IP traffic is conducted on each LAN. For traffic offsite, through some sort of private or public WAN, IPSec protocols are used. These protocols operate in networking devices, such as a router or firewall, that connect each LAN to the outside world. The IPSec networking device will typically encrypt and compress all traffic going into the WAN, and decrypt and decompress traffic coming from the WAN; these operations are transparent to workstations and servers on the LAN. Secure transmission is also possible with individual users who dial into the WAN. Such user workstations must implement the IPSec protocols to provide security.</a:t>
            </a:r>
            <a:r>
              <a:rPr lang="en-US" altLang="en-US" dirty="0" smtClean="0">
                <a:latin typeface="Helvetica" pitchFamily="34" charset="0"/>
              </a:rPr>
              <a:t> </a:t>
            </a:r>
            <a:endParaRPr lang="en-US" altLang="en-US" dirty="0" smtClean="0"/>
          </a:p>
          <a:p>
            <a:pPr eaLnBrk="1" hangingPunct="1"/>
            <a:endParaRPr lang="en-AU" altLang="en-US" dirty="0" smtClean="0"/>
          </a:p>
          <a:p>
            <a:pPr eaLnBrk="1" hangingPunct="1"/>
            <a:r>
              <a:rPr lang="en-US" altLang="en-US" dirty="0" smtClean="0"/>
              <a:t>Security Associations</a:t>
            </a:r>
          </a:p>
          <a:p>
            <a:pPr eaLnBrk="1" hangingPunct="1"/>
            <a:r>
              <a:rPr lang="en-US" altLang="en-US" dirty="0" smtClean="0"/>
              <a:t>A one-way relationship between sender &amp; receiver that affords security for traffic flow</a:t>
            </a:r>
          </a:p>
          <a:p>
            <a:pPr eaLnBrk="1" hangingPunct="1"/>
            <a:r>
              <a:rPr lang="en-US" altLang="en-US" dirty="0" smtClean="0"/>
              <a:t>Can be between </a:t>
            </a:r>
          </a:p>
          <a:p>
            <a:pPr lvl="1" eaLnBrk="1" hangingPunct="1"/>
            <a:r>
              <a:rPr lang="en-US" altLang="en-US" dirty="0" smtClean="0"/>
              <a:t>A pair of hosts</a:t>
            </a:r>
          </a:p>
          <a:p>
            <a:pPr lvl="1" eaLnBrk="1" hangingPunct="1"/>
            <a:r>
              <a:rPr lang="en-US" altLang="en-US" dirty="0" smtClean="0"/>
              <a:t>A host and a security gateway</a:t>
            </a:r>
          </a:p>
          <a:p>
            <a:pPr lvl="1" eaLnBrk="1" hangingPunct="1"/>
            <a:r>
              <a:rPr lang="en-US" altLang="en-US" dirty="0" smtClean="0"/>
              <a:t>A pair of security gateways</a:t>
            </a:r>
            <a:endParaRPr lang="en-AU" altLang="en-US" dirty="0" smtClean="0"/>
          </a:p>
        </p:txBody>
      </p:sp>
    </p:spTree>
    <p:extLst>
      <p:ext uri="{BB962C8B-B14F-4D97-AF65-F5344CB8AC3E}">
        <p14:creationId xmlns:p14="http://schemas.microsoft.com/office/powerpoint/2010/main" val="8429005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solidFill>
            <a:srgbClr val="FFFFFF"/>
          </a:solidFill>
          <a:ln/>
        </p:spPr>
      </p:sp>
      <p:sp>
        <p:nvSpPr>
          <p:cNvPr id="74755" name="Rectangle 3"/>
          <p:cNvSpPr>
            <a:spLocks noGrp="1" noChangeArrowheads="1"/>
          </p:cNvSpPr>
          <p:nvPr>
            <p:ph type="body" idx="1"/>
          </p:nvPr>
        </p:nvSpPr>
        <p:spPr>
          <a:xfrm>
            <a:off x="731838" y="4560888"/>
            <a:ext cx="5851525" cy="4319587"/>
          </a:xfrm>
          <a:solidFill>
            <a:srgbClr val="FFFFFF"/>
          </a:solidFill>
          <a:ln>
            <a:solidFill>
              <a:srgbClr val="000000"/>
            </a:solidFill>
          </a:ln>
        </p:spPr>
        <p:txBody>
          <a:bodyPr/>
          <a:lstStyle/>
          <a:p>
            <a:pPr eaLnBrk="1" hangingPunct="1"/>
            <a:r>
              <a:rPr lang="en-US" altLang="en-US" smtClean="0">
                <a:latin typeface="Times-Roman"/>
              </a:rPr>
              <a:t>[MARK97] lists the benefits shown for IPSec. It also plays a vital role in the routing architecture required for internetworking.</a:t>
            </a:r>
          </a:p>
        </p:txBody>
      </p:sp>
    </p:spTree>
    <p:extLst>
      <p:ext uri="{BB962C8B-B14F-4D97-AF65-F5344CB8AC3E}">
        <p14:creationId xmlns:p14="http://schemas.microsoft.com/office/powerpoint/2010/main" val="18267359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xfrm>
            <a:off x="731838" y="4560888"/>
            <a:ext cx="5851525" cy="4319587"/>
          </a:xfrm>
          <a:noFill/>
          <a:ln/>
        </p:spPr>
        <p:txBody>
          <a:bodyPr/>
          <a:lstStyle/>
          <a:p>
            <a:pPr algn="l" eaLnBrk="1" hangingPunct="1"/>
            <a:r>
              <a:rPr lang="en-US" altLang="en-US" dirty="0" smtClean="0"/>
              <a:t>The difference between end-to-end (transport) mode and end-to-intermediate (tunnel) mode.</a:t>
            </a:r>
          </a:p>
          <a:p>
            <a:pPr algn="l" eaLnBrk="1" hangingPunct="1"/>
            <a:r>
              <a:rPr lang="en-US" altLang="en-US" dirty="0" smtClean="0">
                <a:latin typeface="Times-Roman"/>
              </a:rPr>
              <a:t>Transport mode provides protection primarily for upper-layer protocol payloads, by inserting the AH after the original IP header and before the IP payload. Typically, transport mode is used for end-to-end communication between two hosts.</a:t>
            </a:r>
          </a:p>
          <a:p>
            <a:pPr algn="l" eaLnBrk="1" hangingPunct="1"/>
            <a:r>
              <a:rPr lang="en-US" altLang="en-US" dirty="0" smtClean="0">
                <a:latin typeface="Times-Roman"/>
              </a:rPr>
              <a:t>Tunnel mode provides protection to the entire IP, after the AH or ESP fields are added to the IP packet, the entire packet plus security fields is treated as the payload of new “</a:t>
            </a:r>
            <a:r>
              <a:rPr lang="en-US" altLang="en-US" dirty="0" err="1" smtClean="0">
                <a:latin typeface="Times-Roman"/>
              </a:rPr>
              <a:t>outer”IP</a:t>
            </a:r>
            <a:r>
              <a:rPr lang="en-US" altLang="en-US" dirty="0" smtClean="0">
                <a:latin typeface="Times-Roman"/>
              </a:rPr>
              <a:t> packet with a new outer IP header. Tunnel mode is used when one or both ends of an SA are a security gateway, such as a firewall or router that implements IPSec. </a:t>
            </a:r>
            <a:endParaRPr lang="en-AU" altLang="en-US" dirty="0" smtClean="0">
              <a:latin typeface="Times-Roman"/>
            </a:endParaRPr>
          </a:p>
          <a:p>
            <a:pPr algn="l" eaLnBrk="1" hangingPunct="1"/>
            <a:endParaRPr lang="en-US" altLang="en-US" dirty="0" smtClean="0"/>
          </a:p>
        </p:txBody>
      </p:sp>
    </p:spTree>
    <p:extLst>
      <p:ext uri="{BB962C8B-B14F-4D97-AF65-F5344CB8AC3E}">
        <p14:creationId xmlns:p14="http://schemas.microsoft.com/office/powerpoint/2010/main" val="1525028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3429000"/>
            <a:ext cx="9144000" cy="3429000"/>
          </a:xfrm>
          <a:prstGeom prst="rect">
            <a:avLst/>
          </a:prstGeom>
          <a:solidFill>
            <a:srgbClr val="3333CC"/>
          </a:solidFill>
          <a:ln w="9525">
            <a:noFill/>
            <a:miter lim="800000"/>
            <a:headEnd/>
            <a:tailEnd/>
          </a:ln>
        </p:spPr>
        <p:txBody>
          <a:bodyPr wrap="none" anchor="ctr"/>
          <a:lstStyle/>
          <a:p>
            <a:pPr algn="ctr"/>
            <a:endParaRPr lang="en-US" sz="2400">
              <a:latin typeface="Times New Roman" pitchFamily="18" charset="0"/>
            </a:endParaRPr>
          </a:p>
        </p:txBody>
      </p:sp>
      <p:sp>
        <p:nvSpPr>
          <p:cNvPr id="370692" name="Rectangle 4"/>
          <p:cNvSpPr>
            <a:spLocks noGrp="1" noChangeArrowheads="1"/>
          </p:cNvSpPr>
          <p:nvPr>
            <p:ph type="ctrTitle"/>
          </p:nvPr>
        </p:nvSpPr>
        <p:spPr>
          <a:xfrm>
            <a:off x="533400" y="1143000"/>
            <a:ext cx="8305800" cy="1905000"/>
          </a:xfrm>
          <a:effectLst>
            <a:outerShdw dist="28398" dir="1593903" algn="ctr" rotWithShape="0">
              <a:schemeClr val="folHlink"/>
            </a:outerShdw>
          </a:effectLst>
        </p:spPr>
        <p:txBody>
          <a:bodyPr/>
          <a:lstStyle>
            <a:lvl1pPr>
              <a:defRPr/>
            </a:lvl1pPr>
          </a:lstStyle>
          <a:p>
            <a:r>
              <a:rPr lang="en-US" dirty="0"/>
              <a:t>Click to edit Master title style</a:t>
            </a:r>
          </a:p>
        </p:txBody>
      </p:sp>
      <p:sp>
        <p:nvSpPr>
          <p:cNvPr id="370693" name="Rectangle 5"/>
          <p:cNvSpPr>
            <a:spLocks noGrp="1" noChangeArrowheads="1"/>
          </p:cNvSpPr>
          <p:nvPr>
            <p:ph type="subTitle" idx="1"/>
          </p:nvPr>
        </p:nvSpPr>
        <p:spPr bwMode="white">
          <a:xfrm>
            <a:off x="533400" y="3962400"/>
            <a:ext cx="4648200" cy="2362200"/>
          </a:xfrm>
        </p:spPr>
        <p:txBody>
          <a:bodyPr/>
          <a:lstStyle>
            <a:lvl1pPr marL="0" indent="0" algn="ctr">
              <a:buFont typeface="Wingdings" pitchFamily="2" charset="2"/>
              <a:buNone/>
              <a:defRPr/>
            </a:lvl1pPr>
          </a:lstStyle>
          <a:p>
            <a:r>
              <a:rPr lang="en-US"/>
              <a:t>Click to edit Master subtitle style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sldNum" sz="quarter" idx="10"/>
          </p:nvPr>
        </p:nvSpPr>
        <p:spPr>
          <a:ln/>
        </p:spPr>
        <p:txBody>
          <a:bodyPr/>
          <a:lstStyle>
            <a:lvl1pPr>
              <a:defRPr/>
            </a:lvl1pPr>
          </a:lstStyle>
          <a:p>
            <a:pPr>
              <a:defRPr/>
            </a:pPr>
            <a:r>
              <a:rPr lang="en-US"/>
              <a:t>-</a:t>
            </a:r>
            <a:fld id="{25C84B9B-4421-46F2-97D7-023CBE8A1C07}" type="slidenum">
              <a:rPr lang="ar-SA"/>
              <a:pPr>
                <a:defRPr/>
              </a:pPr>
              <a:t>‹#›</a:t>
            </a:fld>
            <a:r>
              <a:rPr lang="en-US"/>
              <a:t>-</a:t>
            </a:r>
            <a:endParaRPr lang="en-US" sz="800">
              <a:effectLst>
                <a:outerShdw blurRad="38100" dist="38100" dir="2700000" algn="tl">
                  <a:srgbClr val="FFFFFF"/>
                </a:outerShdw>
              </a:effectLst>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sldNum" sz="quarter" idx="10"/>
          </p:nvPr>
        </p:nvSpPr>
        <p:spPr>
          <a:ln/>
        </p:spPr>
        <p:txBody>
          <a:bodyPr/>
          <a:lstStyle>
            <a:lvl1pPr>
              <a:defRPr/>
            </a:lvl1pPr>
          </a:lstStyle>
          <a:p>
            <a:pPr>
              <a:defRPr/>
            </a:pPr>
            <a:r>
              <a:rPr lang="en-US"/>
              <a:t>-</a:t>
            </a:r>
            <a:fld id="{E383CAE9-D77D-42F8-92B9-727457586F20}" type="slidenum">
              <a:rPr lang="ar-SA"/>
              <a:pPr>
                <a:defRPr/>
              </a:pPr>
              <a:t>‹#›</a:t>
            </a:fld>
            <a:r>
              <a:rPr lang="en-US"/>
              <a:t>-</a:t>
            </a:r>
            <a:endParaRPr lang="en-US" sz="800">
              <a:effectLst>
                <a:outerShdw blurRad="38100" dist="38100" dir="2700000" algn="tl">
                  <a:srgbClr val="FFFFFF"/>
                </a:outerShdw>
              </a:effectLst>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85838" y="13700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48238" y="13700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sldNum" sz="quarter" idx="10"/>
          </p:nvPr>
        </p:nvSpPr>
        <p:spPr>
          <a:ln/>
        </p:spPr>
        <p:txBody>
          <a:bodyPr/>
          <a:lstStyle>
            <a:lvl1pPr>
              <a:defRPr/>
            </a:lvl1pPr>
          </a:lstStyle>
          <a:p>
            <a:pPr>
              <a:defRPr/>
            </a:pPr>
            <a:r>
              <a:rPr lang="en-US"/>
              <a:t>-</a:t>
            </a:r>
            <a:fld id="{288303BA-0397-4148-981C-8A980242B4EC}" type="slidenum">
              <a:rPr lang="ar-SA"/>
              <a:pPr>
                <a:defRPr/>
              </a:pPr>
              <a:t>‹#›</a:t>
            </a:fld>
            <a:r>
              <a:rPr lang="en-US"/>
              <a:t>-</a:t>
            </a:r>
            <a:endParaRPr lang="en-US" sz="800">
              <a:effectLst>
                <a:outerShdw blurRad="38100" dist="38100" dir="2700000" algn="tl">
                  <a:srgbClr val="FFFFFF"/>
                </a:outerShdw>
              </a:effectLst>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sldNum" sz="quarter" idx="10"/>
          </p:nvPr>
        </p:nvSpPr>
        <p:spPr>
          <a:ln/>
        </p:spPr>
        <p:txBody>
          <a:bodyPr/>
          <a:lstStyle>
            <a:lvl1pPr>
              <a:defRPr/>
            </a:lvl1pPr>
          </a:lstStyle>
          <a:p>
            <a:pPr>
              <a:defRPr/>
            </a:pPr>
            <a:r>
              <a:rPr lang="en-US"/>
              <a:t>-</a:t>
            </a:r>
            <a:fld id="{3F07622A-5834-404C-A677-EBFC4C170DF1}" type="slidenum">
              <a:rPr lang="ar-SA"/>
              <a:pPr>
                <a:defRPr/>
              </a:pPr>
              <a:t>‹#›</a:t>
            </a:fld>
            <a:r>
              <a:rPr lang="en-US"/>
              <a:t>-</a:t>
            </a:r>
            <a:endParaRPr lang="en-US" sz="800">
              <a:effectLst>
                <a:outerShdw blurRad="38100" dist="38100" dir="2700000" algn="tl">
                  <a:srgbClr val="FFFFFF"/>
                </a:outerShdw>
              </a:effectLst>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cs typeface="B Lotus" pitchFamily="2" charset="-78"/>
              </a:defRPr>
            </a:lvl1pPr>
          </a:lstStyle>
          <a:p>
            <a:r>
              <a:rPr lang="en-US" dirty="0" smtClean="0"/>
              <a:t>Click to edit Master title style</a:t>
            </a:r>
            <a:endParaRPr lang="en-US" dirty="0"/>
          </a:p>
        </p:txBody>
      </p:sp>
      <p:sp>
        <p:nvSpPr>
          <p:cNvPr id="3" name="Rectangle 5"/>
          <p:cNvSpPr>
            <a:spLocks noGrp="1" noChangeArrowheads="1"/>
          </p:cNvSpPr>
          <p:nvPr>
            <p:ph type="sldNum" sz="quarter" idx="10"/>
          </p:nvPr>
        </p:nvSpPr>
        <p:spPr>
          <a:ln/>
        </p:spPr>
        <p:txBody>
          <a:bodyPr/>
          <a:lstStyle>
            <a:lvl1pPr>
              <a:defRPr/>
            </a:lvl1pPr>
          </a:lstStyle>
          <a:p>
            <a:pPr>
              <a:defRPr/>
            </a:pPr>
            <a:r>
              <a:rPr lang="en-US"/>
              <a:t>-</a:t>
            </a:r>
            <a:fld id="{275C0C7E-401C-42D9-B280-2548F5868F00}" type="slidenum">
              <a:rPr lang="ar-SA"/>
              <a:pPr>
                <a:defRPr/>
              </a:pPr>
              <a:t>‹#›</a:t>
            </a:fld>
            <a:r>
              <a:rPr lang="en-US"/>
              <a:t>-</a:t>
            </a:r>
            <a:endParaRPr lang="en-US" sz="800">
              <a:effectLst>
                <a:outerShdw blurRad="38100" dist="38100" dir="2700000" algn="tl">
                  <a:srgbClr val="FFFFFF"/>
                </a:outerShdw>
              </a:effectLst>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pPr>
              <a:defRPr/>
            </a:pPr>
            <a:r>
              <a:rPr lang="en-US"/>
              <a:t>-</a:t>
            </a:r>
            <a:fld id="{EACB0E99-42D6-41E0-97BA-7ECB6B979562}" type="slidenum">
              <a:rPr lang="ar-SA"/>
              <a:pPr>
                <a:defRPr/>
              </a:pPr>
              <a:t>‹#›</a:t>
            </a:fld>
            <a:r>
              <a:rPr lang="en-US"/>
              <a:t>-</a:t>
            </a:r>
            <a:endParaRPr lang="en-US" sz="800">
              <a:effectLst>
                <a:outerShdw blurRad="38100" dist="38100" dir="2700000" algn="tl">
                  <a:srgbClr val="FFFFFF"/>
                </a:outerShdw>
              </a:effectLst>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r>
              <a:rPr lang="en-US"/>
              <a:t>-</a:t>
            </a:r>
            <a:fld id="{D53797ED-5B0F-4C8F-9F33-10000D3BD5B6}" type="slidenum">
              <a:rPr lang="ar-SA"/>
              <a:pPr>
                <a:defRPr/>
              </a:pPr>
              <a:t>‹#›</a:t>
            </a:fld>
            <a:r>
              <a:rPr lang="en-US"/>
              <a:t>-</a:t>
            </a:r>
            <a:endParaRPr lang="en-US" sz="800">
              <a:effectLst>
                <a:outerShdw blurRad="38100" dist="38100" dir="2700000" algn="tl">
                  <a:srgbClr val="FFFFFF"/>
                </a:outerShdw>
              </a:effectLst>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r>
              <a:rPr lang="en-US"/>
              <a:t>-</a:t>
            </a:r>
            <a:fld id="{97D19002-E8C1-4F15-ADA2-9129B744E0D0}" type="slidenum">
              <a:rPr lang="ar-SA"/>
              <a:pPr>
                <a:defRPr/>
              </a:pPr>
              <a:t>‹#›</a:t>
            </a:fld>
            <a:r>
              <a:rPr lang="en-US"/>
              <a:t>-</a:t>
            </a:r>
            <a:endParaRPr lang="en-US" sz="800">
              <a:effectLst>
                <a:outerShdw blurRad="38100" dist="38100" dir="2700000" algn="tl">
                  <a:srgbClr val="FFFFFF"/>
                </a:outerShdw>
              </a:effectLst>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sldNum" sz="quarter" idx="10"/>
          </p:nvPr>
        </p:nvSpPr>
        <p:spPr>
          <a:ln/>
        </p:spPr>
        <p:txBody>
          <a:bodyPr/>
          <a:lstStyle>
            <a:lvl1pPr>
              <a:defRPr/>
            </a:lvl1pPr>
          </a:lstStyle>
          <a:p>
            <a:pPr>
              <a:defRPr/>
            </a:pPr>
            <a:r>
              <a:rPr lang="en-US"/>
              <a:t>-</a:t>
            </a:r>
            <a:fld id="{90174916-E635-4463-AA80-F7F94697ADCB}" type="slidenum">
              <a:rPr lang="ar-SA"/>
              <a:pPr>
                <a:defRPr/>
              </a:pPr>
              <a:t>‹#›</a:t>
            </a:fld>
            <a:r>
              <a:rPr lang="en-US"/>
              <a:t>-</a:t>
            </a:r>
            <a:endParaRPr lang="en-US" sz="800">
              <a:effectLst>
                <a:outerShdw blurRad="38100" dist="38100" dir="2700000" algn="tl">
                  <a:srgbClr val="FFFFFF"/>
                </a:outerShdw>
              </a:effectLst>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5138" y="153988"/>
            <a:ext cx="1943100" cy="53308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85838" y="153988"/>
            <a:ext cx="5676900" cy="5330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sldNum" sz="quarter" idx="10"/>
          </p:nvPr>
        </p:nvSpPr>
        <p:spPr>
          <a:ln/>
        </p:spPr>
        <p:txBody>
          <a:bodyPr/>
          <a:lstStyle>
            <a:lvl1pPr>
              <a:defRPr/>
            </a:lvl1pPr>
          </a:lstStyle>
          <a:p>
            <a:pPr>
              <a:defRPr/>
            </a:pPr>
            <a:r>
              <a:rPr lang="en-US"/>
              <a:t>-</a:t>
            </a:r>
            <a:fld id="{239DA8D7-E554-4661-92F2-7A1D50EDC458}" type="slidenum">
              <a:rPr lang="ar-SA"/>
              <a:pPr>
                <a:defRPr/>
              </a:pPr>
              <a:t>‹#›</a:t>
            </a:fld>
            <a:r>
              <a:rPr lang="en-US"/>
              <a:t>-</a:t>
            </a:r>
            <a:endParaRPr lang="en-US" sz="800">
              <a:effectLst>
                <a:outerShdw blurRad="38100" dist="38100" dir="2700000" algn="tl">
                  <a:srgbClr val="FFFFFF"/>
                </a:outerShdw>
              </a:effectLst>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985838" y="153988"/>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985838" y="1370013"/>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948238" y="1370013"/>
            <a:ext cx="3810000" cy="4114800"/>
          </a:xfrm>
        </p:spPr>
        <p:txBody>
          <a:bodyPr/>
          <a:lstStyle/>
          <a:p>
            <a:pPr lvl="0"/>
            <a:endParaRPr lang="en-US" noProof="0" smtClean="0"/>
          </a:p>
        </p:txBody>
      </p:sp>
      <p:sp>
        <p:nvSpPr>
          <p:cNvPr id="5" name="Rectangle 5"/>
          <p:cNvSpPr>
            <a:spLocks noGrp="1" noChangeArrowheads="1"/>
          </p:cNvSpPr>
          <p:nvPr>
            <p:ph type="sldNum" sz="quarter" idx="10"/>
          </p:nvPr>
        </p:nvSpPr>
        <p:spPr>
          <a:ln/>
        </p:spPr>
        <p:txBody>
          <a:bodyPr/>
          <a:lstStyle>
            <a:lvl1pPr>
              <a:defRPr/>
            </a:lvl1pPr>
          </a:lstStyle>
          <a:p>
            <a:pPr>
              <a:defRPr/>
            </a:pPr>
            <a:r>
              <a:rPr lang="en-US"/>
              <a:t>-</a:t>
            </a:r>
            <a:fld id="{95866931-0E57-4B09-8A0F-9F1306EEEA49}" type="slidenum">
              <a:rPr lang="ar-SA"/>
              <a:pPr>
                <a:defRPr/>
              </a:pPr>
              <a:t>‹#›</a:t>
            </a:fld>
            <a:r>
              <a:rPr lang="en-US"/>
              <a:t>-</a:t>
            </a:r>
            <a:endParaRPr lang="en-US" sz="800">
              <a:effectLst>
                <a:outerShdw blurRad="38100" dist="38100" dir="2700000" algn="tl">
                  <a:srgbClr val="FFFFFF"/>
                </a:outerShdw>
              </a:effectLst>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72481" y="106572"/>
            <a:ext cx="7806240" cy="1143480"/>
          </a:xfrm>
        </p:spPr>
        <p:txBody>
          <a:bodyPr/>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alpha val="0"/>
          </a:schemeClr>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985838" y="153988"/>
            <a:ext cx="7772400" cy="1143000"/>
          </a:xfrm>
          <a:prstGeom prst="rect">
            <a:avLst/>
          </a:prstGeom>
          <a:noFill/>
          <a:ln w="9525">
            <a:noFill/>
            <a:miter lim="800000"/>
            <a:headEnd/>
            <a:tailEnd/>
          </a:ln>
          <a:effectLst>
            <a:outerShdw dist="28398" dir="1593903" algn="ctr" rotWithShape="0">
              <a:srgbClr val="D76A19">
                <a:alpha val="50000"/>
              </a:srgbClr>
            </a:outerShdw>
          </a:effec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369668" name="Rectangle 4"/>
          <p:cNvSpPr>
            <a:spLocks noGrp="1" noChangeArrowheads="1"/>
          </p:cNvSpPr>
          <p:nvPr>
            <p:ph type="body" idx="1"/>
          </p:nvPr>
        </p:nvSpPr>
        <p:spPr bwMode="auto">
          <a:xfrm>
            <a:off x="985838" y="1370013"/>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69669" name="Rectangle 5"/>
          <p:cNvSpPr>
            <a:spLocks noGrp="1" noChangeArrowheads="1"/>
          </p:cNvSpPr>
          <p:nvPr>
            <p:ph type="sldNum" sz="quarter" idx="4"/>
          </p:nvPr>
        </p:nvSpPr>
        <p:spPr bwMode="auto">
          <a:xfrm>
            <a:off x="2057400" y="6629400"/>
            <a:ext cx="5715000" cy="228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a:defRPr sz="1200" b="1">
                <a:solidFill>
                  <a:schemeClr val="tx1"/>
                </a:solidFill>
                <a:effectLst>
                  <a:outerShdw blurRad="38100" dist="38100" dir="2700000" algn="tl">
                    <a:srgbClr val="000000"/>
                  </a:outerShdw>
                </a:effectLst>
                <a:latin typeface="Times New Roman" pitchFamily="18" charset="0"/>
              </a:defRPr>
            </a:lvl1pPr>
          </a:lstStyle>
          <a:p>
            <a:pPr>
              <a:defRPr/>
            </a:pPr>
            <a:r>
              <a:rPr lang="en-US"/>
              <a:t>-</a:t>
            </a:r>
            <a:fld id="{CE3F6D4F-9BEF-4FE8-A864-AED3A26858F9}" type="slidenum">
              <a:rPr lang="ar-SA"/>
              <a:pPr>
                <a:defRPr/>
              </a:pPr>
              <a:t>‹#›</a:t>
            </a:fld>
            <a:r>
              <a:rPr lang="en-US"/>
              <a:t>-</a:t>
            </a:r>
            <a:endParaRPr lang="en-US" sz="800">
              <a:effectLst>
                <a:outerShdw blurRad="38100" dist="38100" dir="2700000" algn="tl">
                  <a:srgbClr val="FFFFFF"/>
                </a:outerShdw>
              </a:effectLst>
            </a:endParaRPr>
          </a:p>
        </p:txBody>
      </p:sp>
    </p:spTree>
  </p:cSld>
  <p:clrMap bg1="lt1" tx1="dk1" bg2="lt2" tx2="dk2" accent1="accent1" accent2="accent2" accent3="accent3" accent4="accent4" accent5="accent5" accent6="accent6" hlink="hlink" folHlink="folHlink"/>
  <p:sldLayoutIdLst>
    <p:sldLayoutId id="2147483884"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 id="2147483883" r:id="rId12"/>
    <p:sldLayoutId id="2147483885" r:id="rId13"/>
  </p:sldLayoutIdLst>
  <p:transition/>
  <p:hf hdr="0" ftr="0" dt="0"/>
  <p:txStyles>
    <p:titleStyle>
      <a:lvl1pPr algn="l" rtl="0" eaLnBrk="0" fontAlgn="base" hangingPunct="0">
        <a:lnSpc>
          <a:spcPct val="80000"/>
        </a:lnSpc>
        <a:spcBef>
          <a:spcPct val="0"/>
        </a:spcBef>
        <a:spcAft>
          <a:spcPct val="0"/>
        </a:spcAft>
        <a:defRPr kumimoji="1" sz="4000" b="1">
          <a:solidFill>
            <a:schemeClr val="tx1"/>
          </a:solidFill>
          <a:latin typeface="+mj-lt"/>
          <a:ea typeface="+mj-ea"/>
          <a:cs typeface="+mj-cs"/>
        </a:defRPr>
      </a:lvl1pPr>
      <a:lvl2pPr algn="l" rtl="0" eaLnBrk="0" fontAlgn="base" hangingPunct="0">
        <a:lnSpc>
          <a:spcPct val="80000"/>
        </a:lnSpc>
        <a:spcBef>
          <a:spcPct val="0"/>
        </a:spcBef>
        <a:spcAft>
          <a:spcPct val="0"/>
        </a:spcAft>
        <a:defRPr kumimoji="1" sz="4000" b="1">
          <a:solidFill>
            <a:schemeClr val="tx1"/>
          </a:solidFill>
          <a:latin typeface="Calibri" pitchFamily="34" charset="0"/>
        </a:defRPr>
      </a:lvl2pPr>
      <a:lvl3pPr algn="l" rtl="0" eaLnBrk="0" fontAlgn="base" hangingPunct="0">
        <a:lnSpc>
          <a:spcPct val="80000"/>
        </a:lnSpc>
        <a:spcBef>
          <a:spcPct val="0"/>
        </a:spcBef>
        <a:spcAft>
          <a:spcPct val="0"/>
        </a:spcAft>
        <a:defRPr kumimoji="1" sz="4000" b="1">
          <a:solidFill>
            <a:schemeClr val="tx1"/>
          </a:solidFill>
          <a:latin typeface="Calibri" pitchFamily="34" charset="0"/>
        </a:defRPr>
      </a:lvl3pPr>
      <a:lvl4pPr algn="l" rtl="0" eaLnBrk="0" fontAlgn="base" hangingPunct="0">
        <a:lnSpc>
          <a:spcPct val="80000"/>
        </a:lnSpc>
        <a:spcBef>
          <a:spcPct val="0"/>
        </a:spcBef>
        <a:spcAft>
          <a:spcPct val="0"/>
        </a:spcAft>
        <a:defRPr kumimoji="1" sz="4000" b="1">
          <a:solidFill>
            <a:schemeClr val="tx1"/>
          </a:solidFill>
          <a:latin typeface="Calibri" pitchFamily="34" charset="0"/>
        </a:defRPr>
      </a:lvl4pPr>
      <a:lvl5pPr algn="l" rtl="0" eaLnBrk="0" fontAlgn="base" hangingPunct="0">
        <a:lnSpc>
          <a:spcPct val="80000"/>
        </a:lnSpc>
        <a:spcBef>
          <a:spcPct val="0"/>
        </a:spcBef>
        <a:spcAft>
          <a:spcPct val="0"/>
        </a:spcAft>
        <a:defRPr kumimoji="1" sz="4000" b="1">
          <a:solidFill>
            <a:schemeClr val="tx1"/>
          </a:solidFill>
          <a:latin typeface="Calibri" pitchFamily="34" charset="0"/>
        </a:defRPr>
      </a:lvl5pPr>
      <a:lvl6pPr marL="457200" algn="l" rtl="0" eaLnBrk="0" fontAlgn="base" hangingPunct="0">
        <a:lnSpc>
          <a:spcPct val="80000"/>
        </a:lnSpc>
        <a:spcBef>
          <a:spcPct val="0"/>
        </a:spcBef>
        <a:spcAft>
          <a:spcPct val="0"/>
        </a:spcAft>
        <a:defRPr kumimoji="1" sz="4000" b="1">
          <a:solidFill>
            <a:schemeClr val="accent1"/>
          </a:solidFill>
          <a:latin typeface="Arial" pitchFamily="34" charset="0"/>
        </a:defRPr>
      </a:lvl6pPr>
      <a:lvl7pPr marL="914400" algn="l" rtl="0" eaLnBrk="0" fontAlgn="base" hangingPunct="0">
        <a:lnSpc>
          <a:spcPct val="80000"/>
        </a:lnSpc>
        <a:spcBef>
          <a:spcPct val="0"/>
        </a:spcBef>
        <a:spcAft>
          <a:spcPct val="0"/>
        </a:spcAft>
        <a:defRPr kumimoji="1" sz="4000" b="1">
          <a:solidFill>
            <a:schemeClr val="accent1"/>
          </a:solidFill>
          <a:latin typeface="Arial" pitchFamily="34" charset="0"/>
        </a:defRPr>
      </a:lvl7pPr>
      <a:lvl8pPr marL="1371600" algn="l" rtl="0" eaLnBrk="0" fontAlgn="base" hangingPunct="0">
        <a:lnSpc>
          <a:spcPct val="80000"/>
        </a:lnSpc>
        <a:spcBef>
          <a:spcPct val="0"/>
        </a:spcBef>
        <a:spcAft>
          <a:spcPct val="0"/>
        </a:spcAft>
        <a:defRPr kumimoji="1" sz="4000" b="1">
          <a:solidFill>
            <a:schemeClr val="accent1"/>
          </a:solidFill>
          <a:latin typeface="Arial" pitchFamily="34" charset="0"/>
        </a:defRPr>
      </a:lvl8pPr>
      <a:lvl9pPr marL="1828800" algn="l" rtl="0" eaLnBrk="0" fontAlgn="base" hangingPunct="0">
        <a:lnSpc>
          <a:spcPct val="80000"/>
        </a:lnSpc>
        <a:spcBef>
          <a:spcPct val="0"/>
        </a:spcBef>
        <a:spcAft>
          <a:spcPct val="0"/>
        </a:spcAft>
        <a:defRPr kumimoji="1" sz="4000" b="1">
          <a:solidFill>
            <a:schemeClr val="accent1"/>
          </a:solidFill>
          <a:latin typeface="Arial" pitchFamily="34" charset="0"/>
        </a:defRPr>
      </a:lvl9pPr>
    </p:titleStyle>
    <p:bodyStyle>
      <a:lvl1pPr marL="342900" indent="-342900" algn="l" rtl="0" eaLnBrk="0" fontAlgn="base" hangingPunct="0">
        <a:spcBef>
          <a:spcPct val="20000"/>
        </a:spcBef>
        <a:spcAft>
          <a:spcPct val="0"/>
        </a:spcAft>
        <a:buClr>
          <a:srgbClr val="FFEB95"/>
        </a:buClr>
        <a:buSzPct val="75000"/>
        <a:buFont typeface="Wingdings" pitchFamily="2" charset="2"/>
        <a:buChar char="l"/>
        <a:tabLst>
          <a:tab pos="4052888" algn="l"/>
        </a:tabLst>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15000"/>
        </a:spcBef>
        <a:spcAft>
          <a:spcPct val="0"/>
        </a:spcAft>
        <a:buClr>
          <a:schemeClr val="accent1"/>
        </a:buClr>
        <a:buSzPct val="50000"/>
        <a:buFont typeface="Wingdings" pitchFamily="2" charset="2"/>
        <a:buChar char="v"/>
        <a:tabLst>
          <a:tab pos="4052888" algn="l"/>
        </a:tabLst>
        <a:defRPr kumimoji="1"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15000"/>
        </a:spcBef>
        <a:spcAft>
          <a:spcPct val="0"/>
        </a:spcAft>
        <a:buClr>
          <a:srgbClr val="FFEB95"/>
        </a:buClr>
        <a:buSzPct val="50000"/>
        <a:buFont typeface="Wingdings" pitchFamily="2" charset="2"/>
        <a:buChar char="w"/>
        <a:tabLst>
          <a:tab pos="4052888" algn="l"/>
        </a:tabLst>
        <a:defRPr kumimoji="1"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15000"/>
        </a:spcBef>
        <a:spcAft>
          <a:spcPct val="0"/>
        </a:spcAft>
        <a:buClr>
          <a:schemeClr val="accent1"/>
        </a:buClr>
        <a:buSzPct val="50000"/>
        <a:buFont typeface="Wingdings" pitchFamily="2" charset="2"/>
        <a:buChar char="w"/>
        <a:tabLst>
          <a:tab pos="4052888" algn="l"/>
        </a:tabLst>
        <a:defRPr kumimoji="1"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15000"/>
        </a:spcBef>
        <a:spcAft>
          <a:spcPct val="0"/>
        </a:spcAft>
        <a:buClr>
          <a:schemeClr val="accent1"/>
        </a:buClr>
        <a:buSzPct val="50000"/>
        <a:buFont typeface="Wingdings" pitchFamily="2" charset="2"/>
        <a:buChar char="w"/>
        <a:tabLst>
          <a:tab pos="4052888" algn="l"/>
        </a:tabLst>
        <a:defRPr kumimoji="1">
          <a:solidFill>
            <a:schemeClr val="tx1"/>
          </a:solidFill>
          <a:effectLst>
            <a:outerShdw blurRad="38100" dist="38100" dir="2700000" algn="tl">
              <a:srgbClr val="000000"/>
            </a:outerShdw>
          </a:effectLst>
          <a:latin typeface="+mn-lt"/>
        </a:defRPr>
      </a:lvl5pPr>
      <a:lvl6pPr marL="2514600" indent="-228600" algn="l" rtl="0" eaLnBrk="0" fontAlgn="base" hangingPunct="0">
        <a:spcBef>
          <a:spcPct val="15000"/>
        </a:spcBef>
        <a:spcAft>
          <a:spcPct val="0"/>
        </a:spcAft>
        <a:buClr>
          <a:schemeClr val="accent1"/>
        </a:buClr>
        <a:buSzPct val="50000"/>
        <a:buFont typeface="Wingdings" pitchFamily="2" charset="2"/>
        <a:buChar char="w"/>
        <a:tabLst>
          <a:tab pos="4052888" algn="l"/>
        </a:tabLst>
        <a:defRPr kumimoji="1">
          <a:solidFill>
            <a:srgbClr val="FFFFFF"/>
          </a:solidFill>
          <a:effectLst>
            <a:outerShdw blurRad="38100" dist="38100" dir="2700000" algn="tl">
              <a:srgbClr val="000000"/>
            </a:outerShdw>
          </a:effectLst>
          <a:latin typeface="+mn-lt"/>
        </a:defRPr>
      </a:lvl6pPr>
      <a:lvl7pPr marL="2971800" indent="-228600" algn="l" rtl="0" eaLnBrk="0" fontAlgn="base" hangingPunct="0">
        <a:spcBef>
          <a:spcPct val="15000"/>
        </a:spcBef>
        <a:spcAft>
          <a:spcPct val="0"/>
        </a:spcAft>
        <a:buClr>
          <a:schemeClr val="accent1"/>
        </a:buClr>
        <a:buSzPct val="50000"/>
        <a:buFont typeface="Wingdings" pitchFamily="2" charset="2"/>
        <a:buChar char="w"/>
        <a:tabLst>
          <a:tab pos="4052888" algn="l"/>
        </a:tabLst>
        <a:defRPr kumimoji="1">
          <a:solidFill>
            <a:srgbClr val="FFFFFF"/>
          </a:solidFill>
          <a:effectLst>
            <a:outerShdw blurRad="38100" dist="38100" dir="2700000" algn="tl">
              <a:srgbClr val="000000"/>
            </a:outerShdw>
          </a:effectLst>
          <a:latin typeface="+mn-lt"/>
        </a:defRPr>
      </a:lvl7pPr>
      <a:lvl8pPr marL="3429000" indent="-228600" algn="l" rtl="0" eaLnBrk="0" fontAlgn="base" hangingPunct="0">
        <a:spcBef>
          <a:spcPct val="15000"/>
        </a:spcBef>
        <a:spcAft>
          <a:spcPct val="0"/>
        </a:spcAft>
        <a:buClr>
          <a:schemeClr val="accent1"/>
        </a:buClr>
        <a:buSzPct val="50000"/>
        <a:buFont typeface="Wingdings" pitchFamily="2" charset="2"/>
        <a:buChar char="w"/>
        <a:tabLst>
          <a:tab pos="4052888" algn="l"/>
        </a:tabLst>
        <a:defRPr kumimoji="1">
          <a:solidFill>
            <a:srgbClr val="FFFFFF"/>
          </a:solidFill>
          <a:effectLst>
            <a:outerShdw blurRad="38100" dist="38100" dir="2700000" algn="tl">
              <a:srgbClr val="000000"/>
            </a:outerShdw>
          </a:effectLst>
          <a:latin typeface="+mn-lt"/>
        </a:defRPr>
      </a:lvl8pPr>
      <a:lvl9pPr marL="3886200" indent="-228600" algn="l" rtl="0" eaLnBrk="0" fontAlgn="base" hangingPunct="0">
        <a:spcBef>
          <a:spcPct val="15000"/>
        </a:spcBef>
        <a:spcAft>
          <a:spcPct val="0"/>
        </a:spcAft>
        <a:buClr>
          <a:schemeClr val="accent1"/>
        </a:buClr>
        <a:buSzPct val="50000"/>
        <a:buFont typeface="Wingdings" pitchFamily="2" charset="2"/>
        <a:buChar char="w"/>
        <a:tabLst>
          <a:tab pos="4052888" algn="l"/>
        </a:tabLst>
        <a:defRPr kumimoji="1">
          <a:solidFill>
            <a:srgbClr val="FFFFFF"/>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eg"/><Relationship Id="rId3"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4.wmf"/><Relationship Id="rId5" Type="http://schemas.openxmlformats.org/officeDocument/2006/relationships/image" Target="../media/image5.wmf"/><Relationship Id="rId1" Type="http://schemas.openxmlformats.org/officeDocument/2006/relationships/vmlDrawing" Target="../drawings/vmlDrawing1.vml"/><Relationship Id="rId2"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4" Type="http://schemas.openxmlformats.org/officeDocument/2006/relationships/image" Target="../media/image7.emf"/><Relationship Id="rId1" Type="http://schemas.openxmlformats.org/officeDocument/2006/relationships/slideLayout" Target="../slideLayouts/slideLayout2.xml"/><Relationship Id="rId2" Type="http://schemas.openxmlformats.org/officeDocument/2006/relationships/image" Target="../media/image6.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wmf"/></Relationships>
</file>

<file path=ppt/slides/_rels/slide22.xml.rels><?xml version="1.0" encoding="UTF-8" standalone="yes"?>
<Relationships xmlns="http://schemas.openxmlformats.org/package/2006/relationships"><Relationship Id="rId3" Type="http://schemas.openxmlformats.org/officeDocument/2006/relationships/image" Target="../media/image8.wmf"/><Relationship Id="rId4" Type="http://schemas.openxmlformats.org/officeDocument/2006/relationships/image" Target="../media/image9.wmf"/><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3" Type="http://schemas.openxmlformats.org/officeDocument/2006/relationships/image" Target="../media/image8.wmf"/><Relationship Id="rId4" Type="http://schemas.openxmlformats.org/officeDocument/2006/relationships/image" Target="../media/image9.wmf"/><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3" Type="http://schemas.openxmlformats.org/officeDocument/2006/relationships/image" Target="../media/image8.wmf"/><Relationship Id="rId4" Type="http://schemas.openxmlformats.org/officeDocument/2006/relationships/image" Target="../media/image9.wmf"/><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3" Type="http://schemas.openxmlformats.org/officeDocument/2006/relationships/image" Target="../media/image8.wmf"/><Relationship Id="rId4" Type="http://schemas.openxmlformats.org/officeDocument/2006/relationships/image" Target="../media/image9.wmf"/><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3" Type="http://schemas.openxmlformats.org/officeDocument/2006/relationships/image" Target="../media/image8.wmf"/><Relationship Id="rId4" Type="http://schemas.openxmlformats.org/officeDocument/2006/relationships/image" Target="../media/image9.wmf"/><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7.xml.rels><?xml version="1.0" encoding="UTF-8" standalone="yes"?>
<Relationships xmlns="http://schemas.openxmlformats.org/package/2006/relationships"><Relationship Id="rId3" Type="http://schemas.openxmlformats.org/officeDocument/2006/relationships/image" Target="../media/image8.wmf"/><Relationship Id="rId4" Type="http://schemas.openxmlformats.org/officeDocument/2006/relationships/image" Target="../media/image9.wmf"/><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5.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pPr algn="ctr" eaLnBrk="1" hangingPunct="1"/>
            <a:r>
              <a:rPr lang="en-US" i="1" dirty="0" smtClean="0">
                <a:solidFill>
                  <a:srgbClr val="002060"/>
                </a:solidFill>
                <a:latin typeface="+mn-lt"/>
              </a:rPr>
              <a:t>Virtual Private Network</a:t>
            </a:r>
          </a:p>
        </p:txBody>
      </p:sp>
      <p:sp>
        <p:nvSpPr>
          <p:cNvPr id="5" name="Subtitle 4"/>
          <p:cNvSpPr>
            <a:spLocks noGrp="1"/>
          </p:cNvSpPr>
          <p:nvPr>
            <p:ph type="subTitle" idx="1"/>
          </p:nvPr>
        </p:nvSpPr>
        <p:spPr>
          <a:xfrm>
            <a:off x="3733800" y="5334000"/>
            <a:ext cx="4648200" cy="838200"/>
          </a:xfrm>
        </p:spPr>
        <p:txBody>
          <a:bodyPr/>
          <a:lstStyle/>
          <a:p>
            <a:r>
              <a:rPr lang="en-US" dirty="0" smtClean="0"/>
              <a:t>Dr. Muazzam A. Khan</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673100" y="106363"/>
            <a:ext cx="7807325" cy="1144587"/>
          </a:xfrm>
        </p:spPr>
        <p:txBody>
          <a:bodyPr/>
          <a:lstStyle/>
          <a:p>
            <a:pPr marL="195263" indent="-195263" eaLnBrk="1" hangingPunct="1">
              <a:tabLst>
                <a:tab pos="655638" algn="l"/>
                <a:tab pos="1312863" algn="l"/>
                <a:tab pos="1968500" algn="l"/>
                <a:tab pos="2625725" algn="l"/>
                <a:tab pos="3282950" algn="l"/>
                <a:tab pos="3938588" algn="l"/>
                <a:tab pos="4595813" algn="l"/>
                <a:tab pos="5253038" algn="l"/>
                <a:tab pos="5908675" algn="l"/>
                <a:tab pos="6565900" algn="l"/>
                <a:tab pos="7223125" algn="l"/>
              </a:tabLst>
            </a:pPr>
            <a:r>
              <a:rPr lang="en-GB" smtClean="0"/>
              <a:t>Virtual Private Networks</a:t>
            </a:r>
          </a:p>
        </p:txBody>
      </p:sp>
      <p:sp>
        <p:nvSpPr>
          <p:cNvPr id="4099" name="Rectangle 2"/>
          <p:cNvSpPr>
            <a:spLocks noGrp="1" noChangeArrowheads="1"/>
          </p:cNvSpPr>
          <p:nvPr>
            <p:ph type="subTitle" idx="4294967295"/>
          </p:nvPr>
        </p:nvSpPr>
        <p:spPr>
          <a:xfrm>
            <a:off x="987425" y="1600200"/>
            <a:ext cx="7927975" cy="4738688"/>
          </a:xfrm>
        </p:spPr>
        <p:txBody>
          <a:bodyPr lIns="0" tIns="0" rIns="0" bIns="0" anchor="ctr"/>
          <a:lstStyle/>
          <a:p>
            <a:pPr marL="0" indent="0" eaLnBrk="1" hangingPunct="1">
              <a:buClr>
                <a:srgbClr val="000000"/>
              </a:buClr>
              <a:buSzPct val="45000"/>
              <a:buFont typeface="Wingdings" pitchFamily="2" charset="2"/>
              <a:buChar char=""/>
              <a:tabLst>
                <a:tab pos="655638" algn="l"/>
                <a:tab pos="1312863" algn="l"/>
                <a:tab pos="1968500" algn="l"/>
                <a:tab pos="2625725" algn="l"/>
                <a:tab pos="3282950" algn="l"/>
                <a:tab pos="3938588" algn="l"/>
                <a:tab pos="4595813" algn="l"/>
                <a:tab pos="5253038" algn="l"/>
                <a:tab pos="5908675" algn="l"/>
                <a:tab pos="6565900" algn="l"/>
                <a:tab pos="7223125" algn="l"/>
              </a:tabLst>
              <a:defRPr/>
            </a:pPr>
            <a:r>
              <a:rPr lang="en-GB" dirty="0" smtClean="0"/>
              <a:t>Introduction</a:t>
            </a:r>
          </a:p>
          <a:p>
            <a:pPr marL="0" indent="0" eaLnBrk="1" hangingPunct="1">
              <a:buClr>
                <a:srgbClr val="000000"/>
              </a:buClr>
              <a:buSzPct val="45000"/>
              <a:buFont typeface="Wingdings" pitchFamily="2" charset="2"/>
              <a:buChar char=""/>
              <a:tabLst>
                <a:tab pos="655638" algn="l"/>
                <a:tab pos="1312863" algn="l"/>
                <a:tab pos="1968500" algn="l"/>
                <a:tab pos="2625725" algn="l"/>
                <a:tab pos="3282950" algn="l"/>
                <a:tab pos="3938588" algn="l"/>
                <a:tab pos="4595813" algn="l"/>
                <a:tab pos="5253038" algn="l"/>
                <a:tab pos="5908675" algn="l"/>
                <a:tab pos="6565900" algn="l"/>
                <a:tab pos="7223125" algn="l"/>
              </a:tabLst>
              <a:defRPr/>
            </a:pPr>
            <a:r>
              <a:rPr lang="en-GB" dirty="0" smtClean="0"/>
              <a:t>What security problems do VPNs solve ?</a:t>
            </a:r>
          </a:p>
          <a:p>
            <a:pPr marL="0" indent="0" eaLnBrk="1" hangingPunct="1">
              <a:buClr>
                <a:srgbClr val="000000"/>
              </a:buClr>
              <a:buSzPct val="45000"/>
              <a:buFont typeface="Wingdings" pitchFamily="2" charset="2"/>
              <a:buChar char=""/>
              <a:tabLst>
                <a:tab pos="655638" algn="l"/>
                <a:tab pos="1312863" algn="l"/>
                <a:tab pos="1968500" algn="l"/>
                <a:tab pos="2625725" algn="l"/>
                <a:tab pos="3282950" algn="l"/>
                <a:tab pos="3938588" algn="l"/>
                <a:tab pos="4595813" algn="l"/>
                <a:tab pos="5253038" algn="l"/>
                <a:tab pos="5908675" algn="l"/>
                <a:tab pos="6565900" algn="l"/>
                <a:tab pos="7223125" algn="l"/>
              </a:tabLst>
              <a:defRPr/>
            </a:pPr>
            <a:r>
              <a:rPr lang="en-GB" dirty="0" smtClean="0"/>
              <a:t>What security problems are not solved by VPNs ?</a:t>
            </a:r>
          </a:p>
          <a:p>
            <a:pPr marL="0" indent="0" eaLnBrk="1" hangingPunct="1">
              <a:buClr>
                <a:srgbClr val="000000"/>
              </a:buClr>
              <a:buSzPct val="45000"/>
              <a:buFont typeface="Wingdings" pitchFamily="2" charset="2"/>
              <a:buChar char=""/>
              <a:tabLst>
                <a:tab pos="655638" algn="l"/>
                <a:tab pos="1312863" algn="l"/>
                <a:tab pos="1968500" algn="l"/>
                <a:tab pos="2625725" algn="l"/>
                <a:tab pos="3282950" algn="l"/>
                <a:tab pos="3938588" algn="l"/>
                <a:tab pos="4595813" algn="l"/>
                <a:tab pos="5253038" algn="l"/>
                <a:tab pos="5908675" algn="l"/>
                <a:tab pos="6565900" algn="l"/>
                <a:tab pos="7223125" algn="l"/>
              </a:tabLst>
              <a:defRPr/>
            </a:pPr>
            <a:r>
              <a:rPr lang="en-GB" dirty="0" smtClean="0"/>
              <a:t>VPN Principles of operation: </a:t>
            </a:r>
            <a:r>
              <a:rPr lang="en-GB" dirty="0" err="1" smtClean="0"/>
              <a:t>tunneling</a:t>
            </a:r>
            <a:r>
              <a:rPr lang="en-GB" dirty="0" smtClean="0"/>
              <a:t>, encapsulation, encryption and authentication</a:t>
            </a:r>
          </a:p>
          <a:p>
            <a:pPr marL="0" indent="0" eaLnBrk="1" hangingPunct="1">
              <a:buClr>
                <a:srgbClr val="000000"/>
              </a:buClr>
              <a:buSzPct val="45000"/>
              <a:buFont typeface="Wingdings" pitchFamily="2" charset="2"/>
              <a:buChar char=""/>
              <a:tabLst>
                <a:tab pos="655638" algn="l"/>
                <a:tab pos="1312863" algn="l"/>
                <a:tab pos="1968500" algn="l"/>
                <a:tab pos="2625725" algn="l"/>
                <a:tab pos="3282950" algn="l"/>
                <a:tab pos="3938588" algn="l"/>
                <a:tab pos="4595813" algn="l"/>
                <a:tab pos="5253038" algn="l"/>
                <a:tab pos="5908675" algn="l"/>
                <a:tab pos="6565900" algn="l"/>
                <a:tab pos="7223125" algn="l"/>
              </a:tabLst>
              <a:defRPr/>
            </a:pPr>
            <a:r>
              <a:rPr lang="en-GB" dirty="0" smtClean="0"/>
              <a:t>VPN Technologies: Microsoft PPTP, L2TP and </a:t>
            </a:r>
            <a:r>
              <a:rPr lang="en-GB" dirty="0" err="1" smtClean="0"/>
              <a:t>IPsec</a:t>
            </a:r>
            <a:endParaRPr lang="en-GB" dirty="0" smtClean="0"/>
          </a:p>
        </p:txBody>
      </p:sp>
    </p:spTree>
  </p:cSld>
  <p:clrMapOvr>
    <a:masterClrMapping/>
  </p:clrMapOvr>
  <p:transition spd="med" advClick="0"/>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981200"/>
            <a:ext cx="7806240" cy="4191480"/>
          </a:xfrm>
        </p:spPr>
        <p:txBody>
          <a:bodyPr/>
          <a:lstStyle/>
          <a:p>
            <a:pPr marL="0" indent="0" eaLnBrk="1" hangingPunct="1">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defRPr/>
            </a:pPr>
            <a:r>
              <a:rPr lang="en-US" sz="2800" dirty="0" smtClean="0"/>
              <a:t>Virtual Private Network is a type of private network that uses public telecommunication, such as the Internet, instead of leased lines to communicate.</a:t>
            </a:r>
            <a:br>
              <a:rPr lang="en-US" sz="2800" dirty="0" smtClean="0"/>
            </a:br>
            <a:r>
              <a:rPr lang="en-US" sz="2800" dirty="0" smtClean="0"/>
              <a:t> </a:t>
            </a:r>
            <a:br>
              <a:rPr lang="en-US" sz="2800" dirty="0" smtClean="0"/>
            </a:br>
            <a:r>
              <a:rPr lang="en-GB" sz="2800" dirty="0" smtClean="0"/>
              <a:t>VPNs enabled more flexible use of larger networks by removing network geography constraints from shared-insider LAN/Intranet associations and services. </a:t>
            </a:r>
            <a:br>
              <a:rPr lang="en-GB" sz="2800" dirty="0" smtClean="0"/>
            </a:br>
            <a:r>
              <a:rPr lang="en-GB" sz="2800" dirty="0" smtClean="0"/>
              <a:t/>
            </a:r>
            <a:br>
              <a:rPr lang="en-GB" sz="2800" dirty="0" smtClean="0"/>
            </a:br>
            <a:endParaRPr lang="en-US" sz="2800" dirty="0"/>
          </a:p>
        </p:txBody>
      </p:sp>
      <p:sp>
        <p:nvSpPr>
          <p:cNvPr id="3" name="Rectangle 1"/>
          <p:cNvSpPr txBox="1">
            <a:spLocks noChangeArrowheads="1"/>
          </p:cNvSpPr>
          <p:nvPr/>
        </p:nvSpPr>
        <p:spPr bwMode="auto">
          <a:xfrm>
            <a:off x="685800" y="609600"/>
            <a:ext cx="7807325" cy="1144587"/>
          </a:xfrm>
          <a:prstGeom prst="rect">
            <a:avLst/>
          </a:prstGeom>
          <a:noFill/>
          <a:ln w="9525">
            <a:noFill/>
            <a:miter lim="800000"/>
            <a:headEnd/>
            <a:tailEnd/>
          </a:ln>
          <a:effectLst>
            <a:outerShdw dist="28398" dir="1593903" algn="ctr" rotWithShape="0">
              <a:srgbClr val="D76A19">
                <a:alpha val="50000"/>
              </a:srgbClr>
            </a:outerShdw>
          </a:effectLst>
        </p:spPr>
        <p:txBody>
          <a:bodyPr vert="horz" wrap="square" lIns="91440" tIns="45720" rIns="91440" bIns="45720" numCol="1" anchor="b" anchorCtr="0" compatLnSpc="1">
            <a:prstTxWarp prst="textNoShape">
              <a:avLst/>
            </a:prstTxWarp>
          </a:bodyPr>
          <a:lstStyle/>
          <a:p>
            <a:pPr marL="195263" marR="0" lvl="0" indent="-195263" algn="l" defTabSz="914400" rtl="0" eaLnBrk="1" fontAlgn="base" latinLnBrk="0" hangingPunct="1">
              <a:lnSpc>
                <a:spcPct val="80000"/>
              </a:lnSpc>
              <a:spcBef>
                <a:spcPct val="0"/>
              </a:spcBef>
              <a:spcAft>
                <a:spcPct val="0"/>
              </a:spcAft>
              <a:buClrTx/>
              <a:buSzTx/>
              <a:buFontTx/>
              <a:buNone/>
              <a:tabLst>
                <a:tab pos="655638" algn="l"/>
                <a:tab pos="1312863" algn="l"/>
                <a:tab pos="1968500" algn="l"/>
                <a:tab pos="2625725" algn="l"/>
                <a:tab pos="3282950" algn="l"/>
                <a:tab pos="3938588" algn="l"/>
                <a:tab pos="4595813" algn="l"/>
                <a:tab pos="5253038" algn="l"/>
                <a:tab pos="5908675" algn="l"/>
                <a:tab pos="6565900" algn="l"/>
                <a:tab pos="7223125" algn="l"/>
              </a:tabLst>
              <a:defRPr/>
            </a:pPr>
            <a:r>
              <a:rPr kumimoji="1" lang="en-GB" sz="4000" b="1" i="0" u="none" strike="noStrike" kern="0" cap="none" spc="0" normalizeH="0" baseline="0" noProof="0" smtClean="0">
                <a:ln>
                  <a:noFill/>
                </a:ln>
                <a:solidFill>
                  <a:schemeClr val="tx1"/>
                </a:solidFill>
                <a:effectLst/>
                <a:uLnTx/>
                <a:uFillTx/>
                <a:latin typeface="+mj-lt"/>
                <a:ea typeface="+mj-ea"/>
                <a:cs typeface="+mj-cs"/>
              </a:rPr>
              <a:t>Virtual Private Networks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a:xfrm>
            <a:off x="163513" y="106363"/>
            <a:ext cx="8816975" cy="709612"/>
          </a:xfrm>
        </p:spPr>
        <p:txBody>
          <a:bodyPr/>
          <a:lstStyle/>
          <a:p>
            <a:pPr eaLnBrk="1" hangingPunct="1">
              <a:tabLst>
                <a:tab pos="655638" algn="l"/>
                <a:tab pos="1312863" algn="l"/>
                <a:tab pos="1968500" algn="l"/>
                <a:tab pos="2625725" algn="l"/>
                <a:tab pos="3282950" algn="l"/>
                <a:tab pos="3938588" algn="l"/>
                <a:tab pos="4595813" algn="l"/>
                <a:tab pos="5253038" algn="l"/>
                <a:tab pos="5908675" algn="l"/>
                <a:tab pos="6565900" algn="l"/>
                <a:tab pos="7223125" algn="l"/>
                <a:tab pos="7878763" algn="l"/>
                <a:tab pos="8535988" algn="l"/>
              </a:tabLst>
            </a:pPr>
            <a:r>
              <a:rPr lang="en-GB" sz="3300" smtClean="0"/>
              <a:t>What problems do VPNs solve ?</a:t>
            </a:r>
          </a:p>
        </p:txBody>
      </p:sp>
      <p:sp>
        <p:nvSpPr>
          <p:cNvPr id="6147" name="Rectangle 2"/>
          <p:cNvSpPr>
            <a:spLocks noGrp="1" noChangeArrowheads="1"/>
          </p:cNvSpPr>
          <p:nvPr>
            <p:ph type="subTitle" idx="4294967295"/>
          </p:nvPr>
        </p:nvSpPr>
        <p:spPr>
          <a:xfrm>
            <a:off x="381000" y="1219200"/>
            <a:ext cx="8350250" cy="5359400"/>
          </a:xfrm>
        </p:spPr>
        <p:txBody>
          <a:bodyPr lIns="0" tIns="0" rIns="0" bIns="0" anchor="ctr"/>
          <a:lstStyle/>
          <a:p>
            <a:pPr marL="0" indent="0" algn="just" eaLnBrk="1" hangingPunct="1">
              <a:buClr>
                <a:srgbClr val="000000"/>
              </a:buClr>
              <a:buSzPct val="45000"/>
              <a:buFont typeface="Wingdings" pitchFamily="2" charset="2"/>
              <a:buChar cha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defRPr/>
            </a:pPr>
            <a:r>
              <a:rPr lang="en-GB" dirty="0" smtClean="0"/>
              <a:t> Avoiding costs of fixed lines.</a:t>
            </a:r>
          </a:p>
          <a:p>
            <a:pPr marL="292100" indent="-292100" algn="just" eaLnBrk="1" hangingPunct="1">
              <a:buClr>
                <a:srgbClr val="000000"/>
              </a:buClr>
              <a:buSzPct val="45000"/>
              <a:buFont typeface="Wingdings" pitchFamily="2" charset="2"/>
              <a:buChar cha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defRPr/>
            </a:pPr>
            <a:r>
              <a:rPr lang="en-GB" dirty="0" smtClean="0"/>
              <a:t> Extending security context of LAN across sites, regardless of geography, including to mobile users.</a:t>
            </a:r>
          </a:p>
          <a:p>
            <a:pPr marL="0" indent="0" algn="just" eaLnBrk="1" hangingPunct="1">
              <a:buClr>
                <a:srgbClr val="000000"/>
              </a:buClr>
              <a:buSzPct val="45000"/>
              <a:buFont typeface="Wingdings" pitchFamily="2" charset="2"/>
              <a:buChar cha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defRPr/>
            </a:pPr>
            <a:r>
              <a:rPr lang="en-GB" dirty="0" smtClean="0"/>
              <a:t> Authentication: knowing who your users are.</a:t>
            </a:r>
          </a:p>
          <a:p>
            <a:pPr marL="347663" indent="-347663" algn="just" eaLnBrk="1" hangingPunct="1">
              <a:buClr>
                <a:srgbClr val="000000"/>
              </a:buClr>
              <a:buSzPct val="45000"/>
              <a:buFont typeface="Wingdings" pitchFamily="2" charset="2"/>
              <a:buChar cha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defRPr/>
            </a:pPr>
            <a:r>
              <a:rPr lang="en-GB" dirty="0" smtClean="0"/>
              <a:t> Encryption: preventing monitoring of use of insecure client server applications at the network level.</a:t>
            </a:r>
          </a:p>
          <a:p>
            <a:pPr marL="0" indent="0" algn="just" eaLnBrk="1" hangingPunct="1">
              <a:buClr>
                <a:srgbClr val="000000"/>
              </a:buClr>
              <a:buSzPct val="45000"/>
              <a:buFontTx/>
              <a:buNone/>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defRPr/>
            </a:pPr>
            <a:endParaRPr lang="en-GB" dirty="0" smtClean="0"/>
          </a:p>
          <a:p>
            <a:pPr marL="0" indent="0" algn="just" eaLnBrk="1" hangingPunct="1">
              <a:buClr>
                <a:srgbClr val="000000"/>
              </a:buClr>
              <a:buSzPct val="45000"/>
              <a:buFontTx/>
              <a:buNone/>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defRPr/>
            </a:pPr>
            <a:endParaRPr lang="en-GB" dirty="0" smtClean="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163513" y="-3175"/>
            <a:ext cx="9285287" cy="928688"/>
          </a:xfrm>
        </p:spPr>
        <p:txBody>
          <a:bodyPr/>
          <a:lstStyle/>
          <a:p>
            <a:pPr eaLnBrk="1" hangingPunct="1">
              <a:tabLst>
                <a:tab pos="655638" algn="l"/>
                <a:tab pos="1312863" algn="l"/>
                <a:tab pos="1968500" algn="l"/>
                <a:tab pos="2625725" algn="l"/>
                <a:tab pos="3282950" algn="l"/>
                <a:tab pos="3938588" algn="l"/>
                <a:tab pos="4595813" algn="l"/>
                <a:tab pos="5253038" algn="l"/>
                <a:tab pos="5908675" algn="l"/>
                <a:tab pos="6565900" algn="l"/>
                <a:tab pos="7223125" algn="l"/>
                <a:tab pos="7878763" algn="l"/>
                <a:tab pos="8535988" algn="l"/>
              </a:tabLst>
            </a:pPr>
            <a:r>
              <a:rPr lang="en-GB" sz="3300" smtClean="0"/>
              <a:t>What security problems do VPNs not solve ?</a:t>
            </a:r>
          </a:p>
        </p:txBody>
      </p:sp>
      <p:sp>
        <p:nvSpPr>
          <p:cNvPr id="2" name="Rectangle 2"/>
          <p:cNvSpPr>
            <a:spLocks noGrp="1" noChangeArrowheads="1"/>
          </p:cNvSpPr>
          <p:nvPr>
            <p:ph type="subTitle" idx="4294967295"/>
          </p:nvPr>
        </p:nvSpPr>
        <p:spPr>
          <a:xfrm>
            <a:off x="488950" y="979488"/>
            <a:ext cx="8186738" cy="5359400"/>
          </a:xfrm>
        </p:spPr>
        <p:txBody>
          <a:bodyPr lIns="0" tIns="0" rIns="0" bIns="0" anchor="ctr">
            <a:normAutofit/>
          </a:bodyPr>
          <a:lstStyle/>
          <a:p>
            <a:pPr marL="347663" indent="-347663" algn="just" eaLnBrk="1" hangingPunct="1">
              <a:buClr>
                <a:srgbClr val="000000"/>
              </a:buClr>
              <a:buSzPct val="45000"/>
              <a:buFont typeface="Wingdings" pitchFamily="2"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GB" dirty="0" smtClean="0"/>
              <a:t>Traffic analysis: monitoring of packet sizes, network usage times, endpoints of conversation etc.</a:t>
            </a:r>
          </a:p>
          <a:p>
            <a:pPr marL="347663" indent="-347663" algn="just" eaLnBrk="1" hangingPunct="1">
              <a:buClr>
                <a:srgbClr val="000000"/>
              </a:buClr>
              <a:buSzPct val="45000"/>
              <a:buFont typeface="Wingdings" pitchFamily="2"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defRPr/>
            </a:pPr>
            <a:r>
              <a:rPr lang="en-GB" dirty="0" smtClean="0"/>
              <a:t> VPNs can be used with firewalls, by encapsulating traffic prohibited by organisation policy within a firewalled perimeter which the firewall can't inspect or control.</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noChangeArrowheads="1"/>
          </p:cNvSpPr>
          <p:nvPr>
            <p:ph type="title"/>
          </p:nvPr>
        </p:nvSpPr>
        <p:spPr>
          <a:xfrm>
            <a:off x="673100" y="106363"/>
            <a:ext cx="7807325" cy="1144587"/>
          </a:xfrm>
        </p:spPr>
        <p:txBody>
          <a:bodyPr/>
          <a:lstStyle/>
          <a:p>
            <a:pPr eaLnBrk="1" hangingPunct="1">
              <a:tabLst>
                <a:tab pos="655638" algn="l"/>
                <a:tab pos="1312863" algn="l"/>
                <a:tab pos="1968500" algn="l"/>
                <a:tab pos="2625725" algn="l"/>
                <a:tab pos="3282950" algn="l"/>
                <a:tab pos="3938588" algn="l"/>
                <a:tab pos="4595813" algn="l"/>
                <a:tab pos="5253038" algn="l"/>
                <a:tab pos="5908675" algn="l"/>
                <a:tab pos="6565900" algn="l"/>
                <a:tab pos="7223125" algn="l"/>
              </a:tabLst>
            </a:pPr>
            <a:r>
              <a:rPr lang="en-GB" smtClean="0"/>
              <a:t>Tunneling</a:t>
            </a:r>
          </a:p>
        </p:txBody>
      </p:sp>
      <p:sp>
        <p:nvSpPr>
          <p:cNvPr id="8195" name="Rectangle 2"/>
          <p:cNvSpPr>
            <a:spLocks noGrp="1" noChangeArrowheads="1"/>
          </p:cNvSpPr>
          <p:nvPr>
            <p:ph type="subTitle" idx="4294967295"/>
          </p:nvPr>
        </p:nvSpPr>
        <p:spPr>
          <a:xfrm>
            <a:off x="381000" y="2017713"/>
            <a:ext cx="8296275" cy="4321175"/>
          </a:xfrm>
        </p:spPr>
        <p:txBody>
          <a:bodyPr lIns="0" tIns="0" rIns="0" bIns="0" anchor="ctr"/>
          <a:lstStyle/>
          <a:p>
            <a:pPr marL="165100" indent="-165100" eaLnBrk="1" hangingPunct="1">
              <a:buClr>
                <a:srgbClr val="000000"/>
              </a:buClr>
              <a:buSzPct val="45000"/>
              <a:tabLst>
                <a:tab pos="655638" algn="l"/>
                <a:tab pos="1312863" algn="l"/>
                <a:tab pos="1968500" algn="l"/>
                <a:tab pos="2625725" algn="l"/>
                <a:tab pos="3282950" algn="l"/>
                <a:tab pos="3938588" algn="l"/>
                <a:tab pos="4595813" algn="l"/>
                <a:tab pos="5253038" algn="l"/>
                <a:tab pos="5908675" algn="l"/>
                <a:tab pos="6565900" algn="l"/>
                <a:tab pos="7223125" algn="l"/>
              </a:tabLst>
              <a:defRPr/>
            </a:pPr>
            <a:r>
              <a:rPr lang="en-GB" dirty="0" smtClean="0"/>
              <a:t> Typically a VPN consists of a set of point to point connections tunnelled over the Internet. </a:t>
            </a:r>
          </a:p>
          <a:p>
            <a:pPr marL="0" indent="0" eaLnBrk="1" hangingPunct="1">
              <a:buClr>
                <a:srgbClr val="000000"/>
              </a:buClr>
              <a:buSzPct val="45000"/>
              <a:tabLst>
                <a:tab pos="655638" algn="l"/>
                <a:tab pos="1312863" algn="l"/>
                <a:tab pos="1968500" algn="l"/>
                <a:tab pos="2625725" algn="l"/>
                <a:tab pos="3282950" algn="l"/>
                <a:tab pos="3938588" algn="l"/>
                <a:tab pos="4595813" algn="l"/>
                <a:tab pos="5253038" algn="l"/>
                <a:tab pos="5908675" algn="l"/>
                <a:tab pos="6565900" algn="l"/>
                <a:tab pos="7223125" algn="l"/>
              </a:tabLst>
              <a:defRPr/>
            </a:pPr>
            <a:endParaRPr lang="en-GB" dirty="0" smtClean="0"/>
          </a:p>
          <a:p>
            <a:pPr marL="292100" indent="-292100" eaLnBrk="1" hangingPunct="1">
              <a:buClr>
                <a:srgbClr val="000000"/>
              </a:buClr>
              <a:buSzPct val="45000"/>
              <a:tabLst>
                <a:tab pos="655638" algn="l"/>
                <a:tab pos="1312863" algn="l"/>
                <a:tab pos="1968500" algn="l"/>
                <a:tab pos="2625725" algn="l"/>
                <a:tab pos="3282950" algn="l"/>
                <a:tab pos="3938588" algn="l"/>
                <a:tab pos="4595813" algn="l"/>
                <a:tab pos="5253038" algn="l"/>
                <a:tab pos="5908675" algn="l"/>
                <a:tab pos="6565900" algn="l"/>
                <a:tab pos="7223125" algn="l"/>
              </a:tabLst>
              <a:defRPr/>
            </a:pPr>
            <a:r>
              <a:rPr lang="en-GB" dirty="0" smtClean="0"/>
              <a:t> The routers carrying this traffic over the Internet see each P2P connection externally as a sequence of packets routed between endpoints. </a:t>
            </a:r>
          </a:p>
          <a:p>
            <a:pPr marL="0" indent="0" eaLnBrk="1" hangingPunct="1">
              <a:buClr>
                <a:srgbClr val="000000"/>
              </a:buClr>
              <a:buSzPct val="45000"/>
              <a:buFontTx/>
              <a:buNone/>
              <a:tabLst>
                <a:tab pos="655638" algn="l"/>
                <a:tab pos="1312863" algn="l"/>
                <a:tab pos="1968500" algn="l"/>
                <a:tab pos="2625725" algn="l"/>
                <a:tab pos="3282950" algn="l"/>
                <a:tab pos="3938588" algn="l"/>
                <a:tab pos="4595813" algn="l"/>
                <a:tab pos="5253038" algn="l"/>
                <a:tab pos="5908675" algn="l"/>
                <a:tab pos="6565900" algn="l"/>
                <a:tab pos="7223125" algn="l"/>
              </a:tabLst>
              <a:defRPr/>
            </a:pPr>
            <a:endParaRPr lang="en-GB" dirty="0" smtClean="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7620000" y="2438400"/>
            <a:ext cx="1219200" cy="1143000"/>
          </a:xfrm>
          <a:prstGeom prst="rect">
            <a:avLst/>
          </a:prstGeom>
          <a:solidFill>
            <a:srgbClr val="DDDDDD"/>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DDDDDD"/>
            </a:extrusionClr>
          </a:sp3d>
        </p:spPr>
        <p:txBody>
          <a:bodyPr wrap="none" anchor="ctr">
            <a:flatTx/>
          </a:bodyPr>
          <a:lstStyle/>
          <a:p>
            <a:endParaRPr lang="en-US" altLang="en-US"/>
          </a:p>
        </p:txBody>
      </p:sp>
      <p:sp>
        <p:nvSpPr>
          <p:cNvPr id="10243" name="Rectangle 3"/>
          <p:cNvSpPr>
            <a:spLocks noChangeArrowheads="1"/>
          </p:cNvSpPr>
          <p:nvPr/>
        </p:nvSpPr>
        <p:spPr bwMode="auto">
          <a:xfrm>
            <a:off x="6324600" y="609600"/>
            <a:ext cx="2209800" cy="914400"/>
          </a:xfrm>
          <a:prstGeom prst="rect">
            <a:avLst/>
          </a:prstGeom>
          <a:solidFill>
            <a:srgbClr val="DDDDDD"/>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DDDDDD"/>
            </a:extrusionClr>
          </a:sp3d>
        </p:spPr>
        <p:txBody>
          <a:bodyPr wrap="none" anchor="ctr">
            <a:flatTx/>
          </a:bodyPr>
          <a:lstStyle/>
          <a:p>
            <a:endParaRPr lang="en-US" altLang="en-US"/>
          </a:p>
        </p:txBody>
      </p:sp>
      <p:pic>
        <p:nvPicPr>
          <p:cNvPr id="10244" name="Picture 4" descr="cloud"/>
          <p:cNvPicPr>
            <a:picLocks noChangeAspect="1" noChangeArrowheads="1"/>
          </p:cNvPicPr>
          <p:nvPr/>
        </p:nvPicPr>
        <p:blipFill>
          <a:blip r:embed="rId2" cstate="print">
            <a:clrChange>
              <a:clrFrom>
                <a:srgbClr val="FEFEFC"/>
              </a:clrFrom>
              <a:clrTo>
                <a:srgbClr val="FEFEFC">
                  <a:alpha val="0"/>
                </a:srgbClr>
              </a:clrTo>
            </a:clrChange>
          </a:blip>
          <a:srcRect/>
          <a:stretch>
            <a:fillRect/>
          </a:stretch>
        </p:blipFill>
        <p:spPr bwMode="auto">
          <a:xfrm>
            <a:off x="2514600" y="1752600"/>
            <a:ext cx="4419600" cy="2857500"/>
          </a:xfrm>
          <a:prstGeom prst="rect">
            <a:avLst/>
          </a:prstGeom>
          <a:noFill/>
          <a:ln w="9525">
            <a:noFill/>
            <a:miter lim="800000"/>
            <a:headEnd/>
            <a:tailEnd/>
          </a:ln>
        </p:spPr>
      </p:pic>
      <p:sp>
        <p:nvSpPr>
          <p:cNvPr id="10245" name="Rectangle 5"/>
          <p:cNvSpPr>
            <a:spLocks noChangeArrowheads="1"/>
          </p:cNvSpPr>
          <p:nvPr/>
        </p:nvSpPr>
        <p:spPr bwMode="auto">
          <a:xfrm>
            <a:off x="6324600" y="4343400"/>
            <a:ext cx="2209800" cy="2209800"/>
          </a:xfrm>
          <a:prstGeom prst="rect">
            <a:avLst/>
          </a:prstGeom>
          <a:solidFill>
            <a:srgbClr val="DDDDDD"/>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DDDDDD"/>
            </a:extrusionClr>
          </a:sp3d>
        </p:spPr>
        <p:txBody>
          <a:bodyPr wrap="none" anchor="ctr">
            <a:flatTx/>
          </a:bodyPr>
          <a:lstStyle/>
          <a:p>
            <a:endParaRPr lang="en-US" altLang="en-US"/>
          </a:p>
        </p:txBody>
      </p:sp>
      <p:sp>
        <p:nvSpPr>
          <p:cNvPr id="10246" name="Rectangle 6"/>
          <p:cNvSpPr>
            <a:spLocks noChangeArrowheads="1"/>
          </p:cNvSpPr>
          <p:nvPr/>
        </p:nvSpPr>
        <p:spPr bwMode="auto">
          <a:xfrm>
            <a:off x="457200" y="1676400"/>
            <a:ext cx="1828800" cy="2590800"/>
          </a:xfrm>
          <a:prstGeom prst="rect">
            <a:avLst/>
          </a:prstGeom>
          <a:solidFill>
            <a:srgbClr val="DDDDDD"/>
          </a:solidFill>
          <a:ln w="9525">
            <a:miter lim="800000"/>
            <a:headEnd/>
            <a:tailEnd/>
          </a:ln>
          <a:scene3d>
            <a:camera prst="legacyObliqueTopLeft"/>
            <a:lightRig rig="legacyFlat3" dir="t"/>
          </a:scene3d>
          <a:sp3d extrusionH="430200" prstMaterial="legacyMatte">
            <a:bevelT w="13500" h="13500" prst="angle"/>
            <a:bevelB w="13500" h="13500" prst="angle"/>
            <a:extrusionClr>
              <a:srgbClr val="DDDDDD"/>
            </a:extrusionClr>
          </a:sp3d>
        </p:spPr>
        <p:txBody>
          <a:bodyPr wrap="none" anchor="ctr">
            <a:flatTx/>
          </a:bodyPr>
          <a:lstStyle/>
          <a:p>
            <a:endParaRPr lang="en-US" altLang="en-US"/>
          </a:p>
        </p:txBody>
      </p:sp>
      <p:sp>
        <p:nvSpPr>
          <p:cNvPr id="10247" name="Rectangle 7"/>
          <p:cNvSpPr>
            <a:spLocks noChangeArrowheads="1"/>
          </p:cNvSpPr>
          <p:nvPr/>
        </p:nvSpPr>
        <p:spPr bwMode="auto">
          <a:xfrm>
            <a:off x="1447800" y="2438400"/>
            <a:ext cx="685800" cy="381000"/>
          </a:xfrm>
          <a:prstGeom prst="rect">
            <a:avLst/>
          </a:prstGeom>
          <a:solidFill>
            <a:schemeClr val="hlink"/>
          </a:solidFill>
          <a:ln w="9525">
            <a:miter lim="800000"/>
            <a:headEnd/>
            <a:tailEnd/>
          </a:ln>
          <a:scene3d>
            <a:camera prst="legacyObliqueTopLeft"/>
            <a:lightRig rig="legacyFlat3" dir="t"/>
          </a:scene3d>
          <a:sp3d extrusionH="430200" prstMaterial="legacyMatte">
            <a:bevelT w="13500" h="13500" prst="angle"/>
            <a:bevelB w="13500" h="13500" prst="angle"/>
            <a:extrusionClr>
              <a:schemeClr val="hlink"/>
            </a:extrusionClr>
          </a:sp3d>
        </p:spPr>
        <p:txBody>
          <a:bodyPr wrap="none" anchor="ctr">
            <a:flatTx/>
          </a:bodyPr>
          <a:lstStyle/>
          <a:p>
            <a:pPr algn="ctr"/>
            <a:endParaRPr lang="en-US" altLang="en-US"/>
          </a:p>
        </p:txBody>
      </p:sp>
      <p:sp>
        <p:nvSpPr>
          <p:cNvPr id="10248" name="Freeform 8"/>
          <p:cNvSpPr>
            <a:spLocks/>
          </p:cNvSpPr>
          <p:nvPr/>
        </p:nvSpPr>
        <p:spPr bwMode="auto">
          <a:xfrm>
            <a:off x="2133600" y="2590800"/>
            <a:ext cx="685800" cy="228600"/>
          </a:xfrm>
          <a:custGeom>
            <a:avLst/>
            <a:gdLst>
              <a:gd name="T0" fmla="*/ 2147483647 w 384"/>
              <a:gd name="T1" fmla="*/ 2147483647 h 144"/>
              <a:gd name="T2" fmla="*/ 2147483647 w 384"/>
              <a:gd name="T3" fmla="*/ 2147483647 h 144"/>
              <a:gd name="T4" fmla="*/ 0 w 384"/>
              <a:gd name="T5" fmla="*/ 0 h 144"/>
              <a:gd name="T6" fmla="*/ 0 60000 65536"/>
              <a:gd name="T7" fmla="*/ 0 60000 65536"/>
              <a:gd name="T8" fmla="*/ 0 60000 65536"/>
              <a:gd name="T9" fmla="*/ 0 w 384"/>
              <a:gd name="T10" fmla="*/ 0 h 144"/>
              <a:gd name="T11" fmla="*/ 384 w 384"/>
              <a:gd name="T12" fmla="*/ 144 h 144"/>
            </a:gdLst>
            <a:ahLst/>
            <a:cxnLst>
              <a:cxn ang="T6">
                <a:pos x="T0" y="T1"/>
              </a:cxn>
              <a:cxn ang="T7">
                <a:pos x="T2" y="T3"/>
              </a:cxn>
              <a:cxn ang="T8">
                <a:pos x="T4" y="T5"/>
              </a:cxn>
            </a:cxnLst>
            <a:rect l="T9" t="T10" r="T11" b="T12"/>
            <a:pathLst>
              <a:path w="384" h="144">
                <a:moveTo>
                  <a:pt x="384" y="144"/>
                </a:moveTo>
                <a:cubicBezTo>
                  <a:pt x="320" y="108"/>
                  <a:pt x="256" y="72"/>
                  <a:pt x="192" y="48"/>
                </a:cubicBezTo>
                <a:cubicBezTo>
                  <a:pt x="128" y="24"/>
                  <a:pt x="64" y="12"/>
                  <a:pt x="0" y="0"/>
                </a:cubicBezTo>
              </a:path>
            </a:pathLst>
          </a:custGeom>
          <a:noFill/>
          <a:ln w="28575">
            <a:solidFill>
              <a:schemeClr val="tx1"/>
            </a:solidFill>
            <a:round/>
            <a:headEnd/>
            <a:tailEnd/>
          </a:ln>
        </p:spPr>
        <p:txBody>
          <a:bodyPr wrap="none" anchor="ctr"/>
          <a:lstStyle/>
          <a:p>
            <a:endParaRPr lang="en-US"/>
          </a:p>
        </p:txBody>
      </p:sp>
      <p:sp>
        <p:nvSpPr>
          <p:cNvPr id="10249" name="Oval 9"/>
          <p:cNvSpPr>
            <a:spLocks noChangeArrowheads="1"/>
          </p:cNvSpPr>
          <p:nvPr/>
        </p:nvSpPr>
        <p:spPr bwMode="auto">
          <a:xfrm>
            <a:off x="4876800" y="4191000"/>
            <a:ext cx="457200" cy="457200"/>
          </a:xfrm>
          <a:prstGeom prst="ellipse">
            <a:avLst/>
          </a:prstGeom>
          <a:solidFill>
            <a:srgbClr val="9999FF"/>
          </a:solidFill>
          <a:ln w="9525">
            <a:round/>
            <a:headEnd/>
            <a:tailEnd/>
          </a:ln>
          <a:scene3d>
            <a:camera prst="legacyObliqueTopLeft">
              <a:rot lat="0" lon="20999979" rev="0"/>
            </a:camera>
            <a:lightRig rig="legacyFlat3" dir="t"/>
          </a:scene3d>
          <a:sp3d extrusionH="4519600" prstMaterial="legacyMatte">
            <a:bevelT w="13500" h="13500" prst="angle"/>
            <a:bevelB w="13500" h="13500" prst="angle"/>
            <a:extrusionClr>
              <a:srgbClr val="9999FF"/>
            </a:extrusionClr>
          </a:sp3d>
        </p:spPr>
        <p:txBody>
          <a:bodyPr wrap="none" anchor="ctr">
            <a:flatTx/>
          </a:bodyPr>
          <a:lstStyle/>
          <a:p>
            <a:endParaRPr lang="en-US" altLang="en-US"/>
          </a:p>
        </p:txBody>
      </p:sp>
      <p:sp>
        <p:nvSpPr>
          <p:cNvPr id="10250" name="Freeform 10"/>
          <p:cNvSpPr>
            <a:spLocks/>
          </p:cNvSpPr>
          <p:nvPr/>
        </p:nvSpPr>
        <p:spPr bwMode="auto">
          <a:xfrm>
            <a:off x="5105400" y="4419600"/>
            <a:ext cx="1371600" cy="609600"/>
          </a:xfrm>
          <a:custGeom>
            <a:avLst/>
            <a:gdLst>
              <a:gd name="T0" fmla="*/ 2147483647 w 432"/>
              <a:gd name="T1" fmla="*/ 2147483647 h 112"/>
              <a:gd name="T2" fmla="*/ 2147483647 w 432"/>
              <a:gd name="T3" fmla="*/ 2147483647 h 112"/>
              <a:gd name="T4" fmla="*/ 0 w 432"/>
              <a:gd name="T5" fmla="*/ 0 h 112"/>
              <a:gd name="T6" fmla="*/ 0 60000 65536"/>
              <a:gd name="T7" fmla="*/ 0 60000 65536"/>
              <a:gd name="T8" fmla="*/ 0 60000 65536"/>
              <a:gd name="T9" fmla="*/ 0 w 432"/>
              <a:gd name="T10" fmla="*/ 0 h 112"/>
              <a:gd name="T11" fmla="*/ 432 w 432"/>
              <a:gd name="T12" fmla="*/ 112 h 112"/>
            </a:gdLst>
            <a:ahLst/>
            <a:cxnLst>
              <a:cxn ang="T6">
                <a:pos x="T0" y="T1"/>
              </a:cxn>
              <a:cxn ang="T7">
                <a:pos x="T2" y="T3"/>
              </a:cxn>
              <a:cxn ang="T8">
                <a:pos x="T4" y="T5"/>
              </a:cxn>
            </a:cxnLst>
            <a:rect l="T9" t="T10" r="T11" b="T12"/>
            <a:pathLst>
              <a:path w="432" h="112">
                <a:moveTo>
                  <a:pt x="432" y="96"/>
                </a:moveTo>
                <a:cubicBezTo>
                  <a:pt x="372" y="104"/>
                  <a:pt x="312" y="112"/>
                  <a:pt x="240" y="96"/>
                </a:cubicBezTo>
                <a:cubicBezTo>
                  <a:pt x="168" y="80"/>
                  <a:pt x="84" y="40"/>
                  <a:pt x="0" y="0"/>
                </a:cubicBezTo>
              </a:path>
            </a:pathLst>
          </a:custGeom>
          <a:noFill/>
          <a:ln w="28575">
            <a:solidFill>
              <a:schemeClr val="tx1"/>
            </a:solidFill>
            <a:round/>
            <a:headEnd/>
            <a:tailEnd/>
          </a:ln>
        </p:spPr>
        <p:txBody>
          <a:bodyPr wrap="none" anchor="ctr"/>
          <a:lstStyle/>
          <a:p>
            <a:endParaRPr lang="en-US"/>
          </a:p>
        </p:txBody>
      </p:sp>
      <p:sp>
        <p:nvSpPr>
          <p:cNvPr id="10251" name="Oval 11"/>
          <p:cNvSpPr>
            <a:spLocks noChangeArrowheads="1"/>
          </p:cNvSpPr>
          <p:nvPr/>
        </p:nvSpPr>
        <p:spPr bwMode="auto">
          <a:xfrm>
            <a:off x="5562600" y="3810000"/>
            <a:ext cx="457200" cy="457200"/>
          </a:xfrm>
          <a:prstGeom prst="ellipse">
            <a:avLst/>
          </a:prstGeom>
          <a:solidFill>
            <a:srgbClr val="9999FF"/>
          </a:solidFill>
          <a:ln w="9525">
            <a:round/>
            <a:headEnd/>
            <a:tailEnd/>
          </a:ln>
          <a:scene3d>
            <a:camera prst="legacyObliqueTopLeft">
              <a:rot lat="0" lon="1500000" rev="0"/>
            </a:camera>
            <a:lightRig rig="legacyFlat3" dir="t"/>
          </a:scene3d>
          <a:sp3d extrusionH="4900600" prstMaterial="legacyMatte">
            <a:bevelT w="13500" h="13500" prst="angle"/>
            <a:bevelB w="13500" h="13500" prst="angle"/>
            <a:extrusionClr>
              <a:srgbClr val="9999FF"/>
            </a:extrusionClr>
          </a:sp3d>
        </p:spPr>
        <p:txBody>
          <a:bodyPr wrap="none" anchor="ctr">
            <a:flatTx/>
          </a:bodyPr>
          <a:lstStyle/>
          <a:p>
            <a:endParaRPr lang="en-US" altLang="en-US"/>
          </a:p>
        </p:txBody>
      </p:sp>
      <p:sp>
        <p:nvSpPr>
          <p:cNvPr id="10252" name="Freeform 12"/>
          <p:cNvSpPr>
            <a:spLocks/>
          </p:cNvSpPr>
          <p:nvPr/>
        </p:nvSpPr>
        <p:spPr bwMode="auto">
          <a:xfrm>
            <a:off x="5791200" y="4038600"/>
            <a:ext cx="685800" cy="685800"/>
          </a:xfrm>
          <a:custGeom>
            <a:avLst/>
            <a:gdLst>
              <a:gd name="T0" fmla="*/ 2147483647 w 288"/>
              <a:gd name="T1" fmla="*/ 2147483647 h 432"/>
              <a:gd name="T2" fmla="*/ 2147483647 w 288"/>
              <a:gd name="T3" fmla="*/ 2147483647 h 432"/>
              <a:gd name="T4" fmla="*/ 0 w 288"/>
              <a:gd name="T5" fmla="*/ 0 h 432"/>
              <a:gd name="T6" fmla="*/ 0 60000 65536"/>
              <a:gd name="T7" fmla="*/ 0 60000 65536"/>
              <a:gd name="T8" fmla="*/ 0 60000 65536"/>
              <a:gd name="T9" fmla="*/ 0 w 288"/>
              <a:gd name="T10" fmla="*/ 0 h 432"/>
              <a:gd name="T11" fmla="*/ 288 w 288"/>
              <a:gd name="T12" fmla="*/ 432 h 432"/>
            </a:gdLst>
            <a:ahLst/>
            <a:cxnLst>
              <a:cxn ang="T6">
                <a:pos x="T0" y="T1"/>
              </a:cxn>
              <a:cxn ang="T7">
                <a:pos x="T2" y="T3"/>
              </a:cxn>
              <a:cxn ang="T8">
                <a:pos x="T4" y="T5"/>
              </a:cxn>
            </a:cxnLst>
            <a:rect l="T9" t="T10" r="T11" b="T12"/>
            <a:pathLst>
              <a:path w="288" h="432">
                <a:moveTo>
                  <a:pt x="288" y="432"/>
                </a:moveTo>
                <a:cubicBezTo>
                  <a:pt x="192" y="396"/>
                  <a:pt x="96" y="360"/>
                  <a:pt x="48" y="288"/>
                </a:cubicBezTo>
                <a:cubicBezTo>
                  <a:pt x="0" y="216"/>
                  <a:pt x="8" y="48"/>
                  <a:pt x="0" y="0"/>
                </a:cubicBezTo>
              </a:path>
            </a:pathLst>
          </a:custGeom>
          <a:noFill/>
          <a:ln w="28575">
            <a:solidFill>
              <a:schemeClr val="tx1"/>
            </a:solidFill>
            <a:round/>
            <a:headEnd/>
            <a:tailEnd/>
          </a:ln>
        </p:spPr>
        <p:txBody>
          <a:bodyPr wrap="none" anchor="ctr"/>
          <a:lstStyle/>
          <a:p>
            <a:endParaRPr lang="en-US"/>
          </a:p>
        </p:txBody>
      </p:sp>
      <p:sp>
        <p:nvSpPr>
          <p:cNvPr id="10253" name="Freeform 13"/>
          <p:cNvSpPr>
            <a:spLocks/>
          </p:cNvSpPr>
          <p:nvPr/>
        </p:nvSpPr>
        <p:spPr bwMode="auto">
          <a:xfrm>
            <a:off x="6400800" y="1371600"/>
            <a:ext cx="304800" cy="914400"/>
          </a:xfrm>
          <a:custGeom>
            <a:avLst/>
            <a:gdLst>
              <a:gd name="T0" fmla="*/ 0 w 288"/>
              <a:gd name="T1" fmla="*/ 2147483647 h 432"/>
              <a:gd name="T2" fmla="*/ 2147483647 w 288"/>
              <a:gd name="T3" fmla="*/ 2147483647 h 432"/>
              <a:gd name="T4" fmla="*/ 2147483647 w 288"/>
              <a:gd name="T5" fmla="*/ 0 h 432"/>
              <a:gd name="T6" fmla="*/ 0 60000 65536"/>
              <a:gd name="T7" fmla="*/ 0 60000 65536"/>
              <a:gd name="T8" fmla="*/ 0 60000 65536"/>
              <a:gd name="T9" fmla="*/ 0 w 288"/>
              <a:gd name="T10" fmla="*/ 0 h 432"/>
              <a:gd name="T11" fmla="*/ 288 w 288"/>
              <a:gd name="T12" fmla="*/ 432 h 432"/>
            </a:gdLst>
            <a:ahLst/>
            <a:cxnLst>
              <a:cxn ang="T6">
                <a:pos x="T0" y="T1"/>
              </a:cxn>
              <a:cxn ang="T7">
                <a:pos x="T2" y="T3"/>
              </a:cxn>
              <a:cxn ang="T8">
                <a:pos x="T4" y="T5"/>
              </a:cxn>
            </a:cxnLst>
            <a:rect l="T9" t="T10" r="T11" b="T12"/>
            <a:pathLst>
              <a:path w="288" h="432">
                <a:moveTo>
                  <a:pt x="0" y="432"/>
                </a:moveTo>
                <a:cubicBezTo>
                  <a:pt x="24" y="348"/>
                  <a:pt x="48" y="264"/>
                  <a:pt x="96" y="192"/>
                </a:cubicBezTo>
                <a:cubicBezTo>
                  <a:pt x="144" y="120"/>
                  <a:pt x="216" y="60"/>
                  <a:pt x="288" y="0"/>
                </a:cubicBezTo>
              </a:path>
            </a:pathLst>
          </a:custGeom>
          <a:noFill/>
          <a:ln w="28575">
            <a:solidFill>
              <a:schemeClr val="tx1"/>
            </a:solidFill>
            <a:round/>
            <a:headEnd/>
            <a:tailEnd/>
          </a:ln>
        </p:spPr>
        <p:txBody>
          <a:bodyPr wrap="none" anchor="ctr"/>
          <a:lstStyle/>
          <a:p>
            <a:endParaRPr lang="en-US"/>
          </a:p>
        </p:txBody>
      </p:sp>
      <p:sp>
        <p:nvSpPr>
          <p:cNvPr id="10254" name="Text Box 14"/>
          <p:cNvSpPr txBox="1">
            <a:spLocks noChangeArrowheads="1"/>
          </p:cNvSpPr>
          <p:nvPr/>
        </p:nvSpPr>
        <p:spPr bwMode="auto">
          <a:xfrm>
            <a:off x="4038600" y="2590800"/>
            <a:ext cx="1301750" cy="457200"/>
          </a:xfrm>
          <a:prstGeom prst="rect">
            <a:avLst/>
          </a:prstGeom>
          <a:noFill/>
          <a:ln w="9525">
            <a:noFill/>
            <a:miter lim="800000"/>
            <a:headEnd/>
            <a:tailEnd/>
          </a:ln>
        </p:spPr>
        <p:txBody>
          <a:bodyPr wrap="none">
            <a:spAutoFit/>
          </a:bodyPr>
          <a:lstStyle/>
          <a:p>
            <a:r>
              <a:rPr lang="en-US" altLang="en-US" b="1">
                <a:solidFill>
                  <a:srgbClr val="00008C"/>
                </a:solidFill>
              </a:rPr>
              <a:t>Internet</a:t>
            </a:r>
          </a:p>
        </p:txBody>
      </p:sp>
      <p:sp>
        <p:nvSpPr>
          <p:cNvPr id="10255" name="Text Box 15"/>
          <p:cNvSpPr txBox="1">
            <a:spLocks noChangeArrowheads="1"/>
          </p:cNvSpPr>
          <p:nvPr/>
        </p:nvSpPr>
        <p:spPr bwMode="auto">
          <a:xfrm>
            <a:off x="3200400" y="4267200"/>
            <a:ext cx="1322388" cy="336550"/>
          </a:xfrm>
          <a:prstGeom prst="rect">
            <a:avLst/>
          </a:prstGeom>
          <a:noFill/>
          <a:ln w="9525">
            <a:noFill/>
            <a:miter lim="800000"/>
            <a:headEnd/>
            <a:tailEnd/>
          </a:ln>
        </p:spPr>
        <p:txBody>
          <a:bodyPr wrap="none">
            <a:spAutoFit/>
          </a:bodyPr>
          <a:lstStyle/>
          <a:p>
            <a:r>
              <a:rPr lang="en-US" altLang="en-US" sz="1600" b="1">
                <a:solidFill>
                  <a:schemeClr val="bg1"/>
                </a:solidFill>
              </a:rPr>
              <a:t>VPN Tunnel</a:t>
            </a:r>
          </a:p>
        </p:txBody>
      </p:sp>
      <p:sp>
        <p:nvSpPr>
          <p:cNvPr id="10256" name="Text Box 16"/>
          <p:cNvSpPr txBox="1">
            <a:spLocks noChangeArrowheads="1"/>
          </p:cNvSpPr>
          <p:nvPr/>
        </p:nvSpPr>
        <p:spPr bwMode="auto">
          <a:xfrm>
            <a:off x="6172200" y="3429000"/>
            <a:ext cx="1322388" cy="336550"/>
          </a:xfrm>
          <a:prstGeom prst="rect">
            <a:avLst/>
          </a:prstGeom>
          <a:noFill/>
          <a:ln w="9525">
            <a:noFill/>
            <a:miter lim="800000"/>
            <a:headEnd/>
            <a:tailEnd/>
          </a:ln>
        </p:spPr>
        <p:txBody>
          <a:bodyPr wrap="none">
            <a:spAutoFit/>
          </a:bodyPr>
          <a:lstStyle/>
          <a:p>
            <a:r>
              <a:rPr lang="en-US" altLang="en-US" sz="1600" b="1">
                <a:solidFill>
                  <a:schemeClr val="bg1"/>
                </a:solidFill>
              </a:rPr>
              <a:t>VPN Tunnel</a:t>
            </a:r>
          </a:p>
        </p:txBody>
      </p:sp>
      <p:sp>
        <p:nvSpPr>
          <p:cNvPr id="10257" name="Text Box 17"/>
          <p:cNvSpPr txBox="1">
            <a:spLocks noChangeArrowheads="1"/>
          </p:cNvSpPr>
          <p:nvPr/>
        </p:nvSpPr>
        <p:spPr bwMode="auto">
          <a:xfrm>
            <a:off x="1371600" y="2362200"/>
            <a:ext cx="838200" cy="482600"/>
          </a:xfrm>
          <a:prstGeom prst="rect">
            <a:avLst/>
          </a:prstGeom>
          <a:noFill/>
          <a:ln w="9525">
            <a:noFill/>
            <a:miter lim="800000"/>
            <a:headEnd/>
            <a:tailEnd/>
          </a:ln>
        </p:spPr>
        <p:txBody>
          <a:bodyPr>
            <a:spAutoFit/>
          </a:bodyPr>
          <a:lstStyle/>
          <a:p>
            <a:pPr algn="ctr">
              <a:lnSpc>
                <a:spcPct val="80000"/>
              </a:lnSpc>
            </a:pPr>
            <a:r>
              <a:rPr lang="en-US" altLang="en-US" sz="1600" b="1">
                <a:solidFill>
                  <a:schemeClr val="bg1"/>
                </a:solidFill>
              </a:rPr>
              <a:t>VPN</a:t>
            </a:r>
          </a:p>
          <a:p>
            <a:pPr algn="ctr">
              <a:lnSpc>
                <a:spcPct val="80000"/>
              </a:lnSpc>
            </a:pPr>
            <a:r>
              <a:rPr lang="en-US" altLang="en-US" sz="1600" b="1">
                <a:solidFill>
                  <a:schemeClr val="bg1"/>
                </a:solidFill>
              </a:rPr>
              <a:t>Device</a:t>
            </a:r>
          </a:p>
        </p:txBody>
      </p:sp>
      <p:pic>
        <p:nvPicPr>
          <p:cNvPr id="10258" name="Picture 18" descr="cloud"/>
          <p:cNvPicPr>
            <a:picLocks noChangeAspect="1" noChangeArrowheads="1"/>
          </p:cNvPicPr>
          <p:nvPr/>
        </p:nvPicPr>
        <p:blipFill>
          <a:blip r:embed="rId2" cstate="print"/>
          <a:srcRect/>
          <a:stretch>
            <a:fillRect/>
          </a:stretch>
        </p:blipFill>
        <p:spPr bwMode="auto">
          <a:xfrm>
            <a:off x="609600" y="3124200"/>
            <a:ext cx="1524000" cy="985838"/>
          </a:xfrm>
          <a:prstGeom prst="rect">
            <a:avLst/>
          </a:prstGeom>
          <a:noFill/>
          <a:ln w="9525">
            <a:noFill/>
            <a:miter lim="800000"/>
            <a:headEnd/>
            <a:tailEnd/>
          </a:ln>
        </p:spPr>
      </p:pic>
      <p:sp>
        <p:nvSpPr>
          <p:cNvPr id="10259" name="Text Box 19"/>
          <p:cNvSpPr txBox="1">
            <a:spLocks noChangeArrowheads="1"/>
          </p:cNvSpPr>
          <p:nvPr/>
        </p:nvSpPr>
        <p:spPr bwMode="auto">
          <a:xfrm>
            <a:off x="838200" y="3429000"/>
            <a:ext cx="1152525" cy="336550"/>
          </a:xfrm>
          <a:prstGeom prst="rect">
            <a:avLst/>
          </a:prstGeom>
          <a:noFill/>
          <a:ln w="9525">
            <a:noFill/>
            <a:miter lim="800000"/>
            <a:headEnd/>
            <a:tailEnd/>
          </a:ln>
        </p:spPr>
        <p:txBody>
          <a:bodyPr wrap="none">
            <a:spAutoFit/>
          </a:bodyPr>
          <a:lstStyle/>
          <a:p>
            <a:r>
              <a:rPr lang="en-US" altLang="en-US" sz="1600" b="1">
                <a:solidFill>
                  <a:srgbClr val="00008C"/>
                </a:solidFill>
              </a:rPr>
              <a:t>Backbone</a:t>
            </a:r>
          </a:p>
        </p:txBody>
      </p:sp>
      <p:sp>
        <p:nvSpPr>
          <p:cNvPr id="10260" name="Line 20"/>
          <p:cNvSpPr>
            <a:spLocks noChangeShapeType="1"/>
          </p:cNvSpPr>
          <p:nvPr/>
        </p:nvSpPr>
        <p:spPr bwMode="auto">
          <a:xfrm flipV="1">
            <a:off x="1447800" y="2743200"/>
            <a:ext cx="152400" cy="457200"/>
          </a:xfrm>
          <a:prstGeom prst="line">
            <a:avLst/>
          </a:prstGeom>
          <a:noFill/>
          <a:ln w="9525">
            <a:solidFill>
              <a:schemeClr val="tx1"/>
            </a:solidFill>
            <a:round/>
            <a:headEnd/>
            <a:tailEnd/>
          </a:ln>
        </p:spPr>
        <p:txBody>
          <a:bodyPr wrap="none" anchor="ctr"/>
          <a:lstStyle/>
          <a:p>
            <a:endParaRPr lang="en-US"/>
          </a:p>
        </p:txBody>
      </p:sp>
      <p:pic>
        <p:nvPicPr>
          <p:cNvPr id="10261" name="Picture 21" descr="cloud"/>
          <p:cNvPicPr>
            <a:picLocks noChangeAspect="1" noChangeArrowheads="1"/>
          </p:cNvPicPr>
          <p:nvPr/>
        </p:nvPicPr>
        <p:blipFill>
          <a:blip r:embed="rId2" cstate="print"/>
          <a:srcRect/>
          <a:stretch>
            <a:fillRect/>
          </a:stretch>
        </p:blipFill>
        <p:spPr bwMode="auto">
          <a:xfrm>
            <a:off x="6934200" y="5486400"/>
            <a:ext cx="1524000" cy="985838"/>
          </a:xfrm>
          <a:prstGeom prst="rect">
            <a:avLst/>
          </a:prstGeom>
          <a:noFill/>
          <a:ln w="9525">
            <a:noFill/>
            <a:miter lim="800000"/>
            <a:headEnd/>
            <a:tailEnd/>
          </a:ln>
        </p:spPr>
      </p:pic>
      <p:sp>
        <p:nvSpPr>
          <p:cNvPr id="10262" name="Text Box 22"/>
          <p:cNvSpPr txBox="1">
            <a:spLocks noChangeArrowheads="1"/>
          </p:cNvSpPr>
          <p:nvPr/>
        </p:nvSpPr>
        <p:spPr bwMode="auto">
          <a:xfrm>
            <a:off x="7086600" y="5867400"/>
            <a:ext cx="1152525" cy="336550"/>
          </a:xfrm>
          <a:prstGeom prst="rect">
            <a:avLst/>
          </a:prstGeom>
          <a:noFill/>
          <a:ln w="9525">
            <a:noFill/>
            <a:miter lim="800000"/>
            <a:headEnd/>
            <a:tailEnd/>
          </a:ln>
        </p:spPr>
        <p:txBody>
          <a:bodyPr wrap="none">
            <a:spAutoFit/>
          </a:bodyPr>
          <a:lstStyle/>
          <a:p>
            <a:r>
              <a:rPr lang="en-US" altLang="en-US" sz="1600" b="1">
                <a:solidFill>
                  <a:srgbClr val="00008C"/>
                </a:solidFill>
              </a:rPr>
              <a:t>Backbone</a:t>
            </a:r>
          </a:p>
        </p:txBody>
      </p:sp>
      <p:sp>
        <p:nvSpPr>
          <p:cNvPr id="10263" name="Line 23"/>
          <p:cNvSpPr>
            <a:spLocks noChangeShapeType="1"/>
          </p:cNvSpPr>
          <p:nvPr/>
        </p:nvSpPr>
        <p:spPr bwMode="auto">
          <a:xfrm flipH="1" flipV="1">
            <a:off x="6934200" y="5029200"/>
            <a:ext cx="457200" cy="609600"/>
          </a:xfrm>
          <a:prstGeom prst="line">
            <a:avLst/>
          </a:prstGeom>
          <a:noFill/>
          <a:ln w="9525">
            <a:solidFill>
              <a:schemeClr val="tx1"/>
            </a:solidFill>
            <a:round/>
            <a:headEnd/>
            <a:tailEnd/>
          </a:ln>
        </p:spPr>
        <p:txBody>
          <a:bodyPr wrap="none" anchor="ctr"/>
          <a:lstStyle/>
          <a:p>
            <a:endParaRPr lang="en-US"/>
          </a:p>
        </p:txBody>
      </p:sp>
      <p:sp>
        <p:nvSpPr>
          <p:cNvPr id="10264" name="Text Box 24"/>
          <p:cNvSpPr txBox="1">
            <a:spLocks noChangeArrowheads="1"/>
          </p:cNvSpPr>
          <p:nvPr/>
        </p:nvSpPr>
        <p:spPr bwMode="auto">
          <a:xfrm>
            <a:off x="533400" y="1776413"/>
            <a:ext cx="762000" cy="336550"/>
          </a:xfrm>
          <a:prstGeom prst="rect">
            <a:avLst/>
          </a:prstGeom>
          <a:noFill/>
          <a:ln w="9525">
            <a:noFill/>
            <a:miter lim="800000"/>
            <a:headEnd/>
            <a:tailEnd/>
          </a:ln>
        </p:spPr>
        <p:txBody>
          <a:bodyPr wrap="none">
            <a:spAutoFit/>
          </a:bodyPr>
          <a:lstStyle/>
          <a:p>
            <a:r>
              <a:rPr lang="en-US" altLang="en-US" sz="1600" b="1"/>
              <a:t>Office</a:t>
            </a:r>
          </a:p>
        </p:txBody>
      </p:sp>
      <p:sp>
        <p:nvSpPr>
          <p:cNvPr id="10265" name="Text Box 25"/>
          <p:cNvSpPr txBox="1">
            <a:spLocks noChangeArrowheads="1"/>
          </p:cNvSpPr>
          <p:nvPr/>
        </p:nvSpPr>
        <p:spPr bwMode="auto">
          <a:xfrm>
            <a:off x="7696200" y="4419600"/>
            <a:ext cx="762000" cy="336550"/>
          </a:xfrm>
          <a:prstGeom prst="rect">
            <a:avLst/>
          </a:prstGeom>
          <a:noFill/>
          <a:ln w="9525">
            <a:noFill/>
            <a:miter lim="800000"/>
            <a:headEnd/>
            <a:tailEnd/>
          </a:ln>
        </p:spPr>
        <p:txBody>
          <a:bodyPr wrap="none">
            <a:spAutoFit/>
          </a:bodyPr>
          <a:lstStyle/>
          <a:p>
            <a:r>
              <a:rPr lang="en-US" altLang="en-US" sz="1600" b="1">
                <a:solidFill>
                  <a:srgbClr val="00008C"/>
                </a:solidFill>
              </a:rPr>
              <a:t>Office</a:t>
            </a:r>
          </a:p>
        </p:txBody>
      </p:sp>
      <p:sp>
        <p:nvSpPr>
          <p:cNvPr id="10266" name="Rectangle 26"/>
          <p:cNvSpPr>
            <a:spLocks noChangeArrowheads="1"/>
          </p:cNvSpPr>
          <p:nvPr/>
        </p:nvSpPr>
        <p:spPr bwMode="auto">
          <a:xfrm>
            <a:off x="6400800" y="1066800"/>
            <a:ext cx="685800" cy="381000"/>
          </a:xfrm>
          <a:prstGeom prst="rect">
            <a:avLst/>
          </a:prstGeom>
          <a:solidFill>
            <a:schemeClr val="hlink"/>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hlink"/>
            </a:extrusionClr>
          </a:sp3d>
        </p:spPr>
        <p:txBody>
          <a:bodyPr wrap="none" anchor="ctr">
            <a:flatTx/>
          </a:bodyPr>
          <a:lstStyle/>
          <a:p>
            <a:pPr algn="ctr"/>
            <a:endParaRPr lang="en-US" altLang="en-US"/>
          </a:p>
        </p:txBody>
      </p:sp>
      <p:sp>
        <p:nvSpPr>
          <p:cNvPr id="10267" name="Text Box 27"/>
          <p:cNvSpPr txBox="1">
            <a:spLocks noChangeArrowheads="1"/>
          </p:cNvSpPr>
          <p:nvPr/>
        </p:nvSpPr>
        <p:spPr bwMode="auto">
          <a:xfrm>
            <a:off x="6248400" y="990600"/>
            <a:ext cx="1066800" cy="482600"/>
          </a:xfrm>
          <a:prstGeom prst="rect">
            <a:avLst/>
          </a:prstGeom>
          <a:noFill/>
          <a:ln w="9525">
            <a:noFill/>
            <a:miter lim="800000"/>
            <a:headEnd/>
            <a:tailEnd/>
          </a:ln>
        </p:spPr>
        <p:txBody>
          <a:bodyPr>
            <a:spAutoFit/>
          </a:bodyPr>
          <a:lstStyle/>
          <a:p>
            <a:pPr algn="ctr">
              <a:lnSpc>
                <a:spcPct val="80000"/>
              </a:lnSpc>
            </a:pPr>
            <a:r>
              <a:rPr lang="en-US" altLang="en-US" sz="1600" b="1">
                <a:solidFill>
                  <a:schemeClr val="bg1"/>
                </a:solidFill>
              </a:rPr>
              <a:t>VPN</a:t>
            </a:r>
          </a:p>
          <a:p>
            <a:pPr algn="ctr">
              <a:lnSpc>
                <a:spcPct val="80000"/>
              </a:lnSpc>
            </a:pPr>
            <a:r>
              <a:rPr lang="en-US" altLang="en-US" sz="1600" b="1">
                <a:solidFill>
                  <a:schemeClr val="bg1"/>
                </a:solidFill>
              </a:rPr>
              <a:t>Device</a:t>
            </a:r>
          </a:p>
        </p:txBody>
      </p:sp>
      <p:sp>
        <p:nvSpPr>
          <p:cNvPr id="10268" name="Rectangle 28"/>
          <p:cNvSpPr>
            <a:spLocks noChangeArrowheads="1"/>
          </p:cNvSpPr>
          <p:nvPr/>
        </p:nvSpPr>
        <p:spPr bwMode="auto">
          <a:xfrm>
            <a:off x="6477000" y="4648200"/>
            <a:ext cx="685800" cy="381000"/>
          </a:xfrm>
          <a:prstGeom prst="rect">
            <a:avLst/>
          </a:prstGeom>
          <a:solidFill>
            <a:schemeClr val="hlink"/>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hlink"/>
            </a:extrusionClr>
          </a:sp3d>
        </p:spPr>
        <p:txBody>
          <a:bodyPr wrap="none" anchor="ctr">
            <a:flatTx/>
          </a:bodyPr>
          <a:lstStyle/>
          <a:p>
            <a:pPr algn="ctr"/>
            <a:endParaRPr lang="en-US" altLang="en-US"/>
          </a:p>
        </p:txBody>
      </p:sp>
      <p:sp>
        <p:nvSpPr>
          <p:cNvPr id="10269" name="Text Box 29"/>
          <p:cNvSpPr txBox="1">
            <a:spLocks noChangeArrowheads="1"/>
          </p:cNvSpPr>
          <p:nvPr/>
        </p:nvSpPr>
        <p:spPr bwMode="auto">
          <a:xfrm>
            <a:off x="6400800" y="4572000"/>
            <a:ext cx="914400" cy="482600"/>
          </a:xfrm>
          <a:prstGeom prst="rect">
            <a:avLst/>
          </a:prstGeom>
          <a:noFill/>
          <a:ln w="9525">
            <a:noFill/>
            <a:miter lim="800000"/>
            <a:headEnd/>
            <a:tailEnd/>
          </a:ln>
        </p:spPr>
        <p:txBody>
          <a:bodyPr>
            <a:spAutoFit/>
          </a:bodyPr>
          <a:lstStyle/>
          <a:p>
            <a:pPr algn="ctr">
              <a:lnSpc>
                <a:spcPct val="80000"/>
              </a:lnSpc>
            </a:pPr>
            <a:r>
              <a:rPr lang="en-US" altLang="en-US" sz="1600" b="1">
                <a:solidFill>
                  <a:schemeClr val="bg1"/>
                </a:solidFill>
              </a:rPr>
              <a:t>VPN</a:t>
            </a:r>
          </a:p>
          <a:p>
            <a:pPr algn="ctr">
              <a:lnSpc>
                <a:spcPct val="80000"/>
              </a:lnSpc>
            </a:pPr>
            <a:r>
              <a:rPr lang="en-US" altLang="en-US" sz="1600" b="1">
                <a:solidFill>
                  <a:schemeClr val="bg1"/>
                </a:solidFill>
              </a:rPr>
              <a:t>Device</a:t>
            </a:r>
          </a:p>
        </p:txBody>
      </p:sp>
      <p:sp>
        <p:nvSpPr>
          <p:cNvPr id="10270" name="Freeform 30"/>
          <p:cNvSpPr>
            <a:spLocks/>
          </p:cNvSpPr>
          <p:nvPr/>
        </p:nvSpPr>
        <p:spPr bwMode="auto">
          <a:xfrm>
            <a:off x="8153400" y="1219200"/>
            <a:ext cx="457200" cy="1676400"/>
          </a:xfrm>
          <a:custGeom>
            <a:avLst/>
            <a:gdLst>
              <a:gd name="T0" fmla="*/ 0 w 688"/>
              <a:gd name="T1" fmla="*/ 0 h 288"/>
              <a:gd name="T2" fmla="*/ 2147483647 w 688"/>
              <a:gd name="T3" fmla="*/ 2147483647 h 288"/>
              <a:gd name="T4" fmla="*/ 2147483647 w 688"/>
              <a:gd name="T5" fmla="*/ 2147483647 h 288"/>
              <a:gd name="T6" fmla="*/ 0 60000 65536"/>
              <a:gd name="T7" fmla="*/ 0 60000 65536"/>
              <a:gd name="T8" fmla="*/ 0 60000 65536"/>
              <a:gd name="T9" fmla="*/ 0 w 688"/>
              <a:gd name="T10" fmla="*/ 0 h 288"/>
              <a:gd name="T11" fmla="*/ 688 w 688"/>
              <a:gd name="T12" fmla="*/ 288 h 288"/>
            </a:gdLst>
            <a:ahLst/>
            <a:cxnLst>
              <a:cxn ang="T6">
                <a:pos x="T0" y="T1"/>
              </a:cxn>
              <a:cxn ang="T7">
                <a:pos x="T2" y="T3"/>
              </a:cxn>
              <a:cxn ang="T8">
                <a:pos x="T4" y="T5"/>
              </a:cxn>
            </a:cxnLst>
            <a:rect l="T9" t="T10" r="T11" b="T12"/>
            <a:pathLst>
              <a:path w="688" h="288">
                <a:moveTo>
                  <a:pt x="0" y="0"/>
                </a:moveTo>
                <a:cubicBezTo>
                  <a:pt x="232" y="0"/>
                  <a:pt x="464" y="0"/>
                  <a:pt x="576" y="48"/>
                </a:cubicBezTo>
                <a:cubicBezTo>
                  <a:pt x="688" y="96"/>
                  <a:pt x="680" y="192"/>
                  <a:pt x="672" y="288"/>
                </a:cubicBezTo>
              </a:path>
            </a:pathLst>
          </a:custGeom>
          <a:noFill/>
          <a:ln w="9525">
            <a:solidFill>
              <a:schemeClr val="tx1"/>
            </a:solidFill>
            <a:round/>
            <a:headEnd/>
            <a:tailEnd/>
          </a:ln>
        </p:spPr>
        <p:txBody>
          <a:bodyPr wrap="none" anchor="ctr"/>
          <a:lstStyle/>
          <a:p>
            <a:endParaRPr lang="en-US"/>
          </a:p>
        </p:txBody>
      </p:sp>
      <p:sp>
        <p:nvSpPr>
          <p:cNvPr id="10271" name="Text Box 31"/>
          <p:cNvSpPr txBox="1">
            <a:spLocks noChangeArrowheads="1"/>
          </p:cNvSpPr>
          <p:nvPr/>
        </p:nvSpPr>
        <p:spPr bwMode="auto">
          <a:xfrm>
            <a:off x="7448550" y="1752600"/>
            <a:ext cx="1198563" cy="482600"/>
          </a:xfrm>
          <a:prstGeom prst="rect">
            <a:avLst/>
          </a:prstGeom>
          <a:solidFill>
            <a:schemeClr val="accent1"/>
          </a:solidFill>
          <a:ln w="9525">
            <a:solidFill>
              <a:schemeClr val="bg1"/>
            </a:solidFill>
            <a:miter lim="800000"/>
            <a:headEnd/>
            <a:tailEnd/>
          </a:ln>
        </p:spPr>
        <p:txBody>
          <a:bodyPr wrap="none">
            <a:spAutoFit/>
          </a:bodyPr>
          <a:lstStyle/>
          <a:p>
            <a:pPr algn="r">
              <a:lnSpc>
                <a:spcPct val="80000"/>
              </a:lnSpc>
            </a:pPr>
            <a:r>
              <a:rPr lang="en-US" altLang="en-US" sz="1600" b="1">
                <a:solidFill>
                  <a:schemeClr val="bg1"/>
                </a:solidFill>
              </a:rPr>
              <a:t>Telephone</a:t>
            </a:r>
          </a:p>
          <a:p>
            <a:pPr algn="r">
              <a:lnSpc>
                <a:spcPct val="80000"/>
              </a:lnSpc>
            </a:pPr>
            <a:r>
              <a:rPr lang="en-US" altLang="en-US" sz="1600" b="1">
                <a:solidFill>
                  <a:schemeClr val="bg1"/>
                </a:solidFill>
              </a:rPr>
              <a:t>Line</a:t>
            </a:r>
          </a:p>
        </p:txBody>
      </p:sp>
      <p:pic>
        <p:nvPicPr>
          <p:cNvPr id="10272" name="Picture 32" descr="computer"/>
          <p:cNvPicPr>
            <a:picLocks noChangeAspect="1" noChangeArrowheads="1"/>
          </p:cNvPicPr>
          <p:nvPr/>
        </p:nvPicPr>
        <p:blipFill>
          <a:blip r:embed="rId3" cstate="print"/>
          <a:srcRect/>
          <a:stretch>
            <a:fillRect/>
          </a:stretch>
        </p:blipFill>
        <p:spPr bwMode="auto">
          <a:xfrm>
            <a:off x="8229600" y="2895600"/>
            <a:ext cx="495300" cy="558800"/>
          </a:xfrm>
          <a:prstGeom prst="rect">
            <a:avLst/>
          </a:prstGeom>
          <a:noFill/>
          <a:ln w="9525">
            <a:noFill/>
            <a:miter lim="800000"/>
            <a:headEnd/>
            <a:tailEnd/>
          </a:ln>
        </p:spPr>
      </p:pic>
      <p:sp>
        <p:nvSpPr>
          <p:cNvPr id="10273" name="Text Box 33"/>
          <p:cNvSpPr txBox="1">
            <a:spLocks noChangeArrowheads="1"/>
          </p:cNvSpPr>
          <p:nvPr/>
        </p:nvSpPr>
        <p:spPr bwMode="auto">
          <a:xfrm>
            <a:off x="6400800" y="557213"/>
            <a:ext cx="511175" cy="336550"/>
          </a:xfrm>
          <a:prstGeom prst="rect">
            <a:avLst/>
          </a:prstGeom>
          <a:noFill/>
          <a:ln w="9525">
            <a:noFill/>
            <a:miter lim="800000"/>
            <a:headEnd/>
            <a:tailEnd/>
          </a:ln>
        </p:spPr>
        <p:txBody>
          <a:bodyPr wrap="none">
            <a:spAutoFit/>
          </a:bodyPr>
          <a:lstStyle/>
          <a:p>
            <a:r>
              <a:rPr lang="en-US" altLang="en-US" sz="1600" b="1"/>
              <a:t>ISP</a:t>
            </a:r>
          </a:p>
        </p:txBody>
      </p:sp>
      <p:sp>
        <p:nvSpPr>
          <p:cNvPr id="10274" name="Text Box 34"/>
          <p:cNvSpPr txBox="1">
            <a:spLocks noChangeArrowheads="1"/>
          </p:cNvSpPr>
          <p:nvPr/>
        </p:nvSpPr>
        <p:spPr bwMode="auto">
          <a:xfrm>
            <a:off x="7620000" y="2438400"/>
            <a:ext cx="1312863" cy="482600"/>
          </a:xfrm>
          <a:prstGeom prst="rect">
            <a:avLst/>
          </a:prstGeom>
          <a:noFill/>
          <a:ln w="9525">
            <a:noFill/>
            <a:miter lim="800000"/>
            <a:headEnd/>
            <a:tailEnd/>
          </a:ln>
        </p:spPr>
        <p:txBody>
          <a:bodyPr wrap="none">
            <a:spAutoFit/>
          </a:bodyPr>
          <a:lstStyle/>
          <a:p>
            <a:pPr algn="ctr">
              <a:lnSpc>
                <a:spcPct val="80000"/>
              </a:lnSpc>
            </a:pPr>
            <a:r>
              <a:rPr lang="en-US" altLang="en-US" sz="1600" b="1">
                <a:solidFill>
                  <a:srgbClr val="00008C"/>
                </a:solidFill>
              </a:rPr>
              <a:t>Employee’s</a:t>
            </a:r>
          </a:p>
          <a:p>
            <a:pPr algn="ctr">
              <a:lnSpc>
                <a:spcPct val="80000"/>
              </a:lnSpc>
            </a:pPr>
            <a:r>
              <a:rPr lang="en-US" altLang="en-US" sz="1600" b="1">
                <a:solidFill>
                  <a:srgbClr val="00008C"/>
                </a:solidFill>
              </a:rPr>
              <a:t>Home</a:t>
            </a:r>
          </a:p>
        </p:txBody>
      </p:sp>
      <p:sp>
        <p:nvSpPr>
          <p:cNvPr id="10275" name="Rectangle 35"/>
          <p:cNvSpPr>
            <a:spLocks noChangeArrowheads="1"/>
          </p:cNvSpPr>
          <p:nvPr/>
        </p:nvSpPr>
        <p:spPr bwMode="auto">
          <a:xfrm>
            <a:off x="7696200" y="990600"/>
            <a:ext cx="685800" cy="381000"/>
          </a:xfrm>
          <a:prstGeom prst="rect">
            <a:avLst/>
          </a:prstGeom>
          <a:solidFill>
            <a:schemeClr val="hlink"/>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hlink"/>
            </a:extrusionClr>
          </a:sp3d>
        </p:spPr>
        <p:txBody>
          <a:bodyPr wrap="none" anchor="ctr">
            <a:flatTx/>
          </a:bodyPr>
          <a:lstStyle/>
          <a:p>
            <a:pPr algn="ctr"/>
            <a:endParaRPr lang="en-US" altLang="en-US"/>
          </a:p>
        </p:txBody>
      </p:sp>
      <p:sp>
        <p:nvSpPr>
          <p:cNvPr id="10276" name="Text Box 36"/>
          <p:cNvSpPr txBox="1">
            <a:spLocks noChangeArrowheads="1"/>
          </p:cNvSpPr>
          <p:nvPr/>
        </p:nvSpPr>
        <p:spPr bwMode="auto">
          <a:xfrm>
            <a:off x="7620000" y="914400"/>
            <a:ext cx="914400" cy="482600"/>
          </a:xfrm>
          <a:prstGeom prst="rect">
            <a:avLst/>
          </a:prstGeom>
          <a:noFill/>
          <a:ln w="9525">
            <a:noFill/>
            <a:miter lim="800000"/>
            <a:headEnd/>
            <a:tailEnd/>
          </a:ln>
        </p:spPr>
        <p:txBody>
          <a:bodyPr>
            <a:spAutoFit/>
          </a:bodyPr>
          <a:lstStyle/>
          <a:p>
            <a:pPr algn="ctr">
              <a:lnSpc>
                <a:spcPct val="80000"/>
              </a:lnSpc>
            </a:pPr>
            <a:r>
              <a:rPr lang="en-US" altLang="en-US" sz="1600" b="1">
                <a:solidFill>
                  <a:schemeClr val="bg1"/>
                </a:solidFill>
              </a:rPr>
              <a:t>Access</a:t>
            </a:r>
          </a:p>
          <a:p>
            <a:pPr algn="ctr">
              <a:lnSpc>
                <a:spcPct val="80000"/>
              </a:lnSpc>
            </a:pPr>
            <a:r>
              <a:rPr lang="en-US" altLang="en-US" sz="1600" b="1">
                <a:solidFill>
                  <a:schemeClr val="bg1"/>
                </a:solidFill>
              </a:rPr>
              <a:t>Server</a:t>
            </a:r>
          </a:p>
        </p:txBody>
      </p:sp>
      <p:sp>
        <p:nvSpPr>
          <p:cNvPr id="10277" name="Line 37"/>
          <p:cNvSpPr>
            <a:spLocks noChangeShapeType="1"/>
          </p:cNvSpPr>
          <p:nvPr/>
        </p:nvSpPr>
        <p:spPr bwMode="auto">
          <a:xfrm>
            <a:off x="7162800" y="1219200"/>
            <a:ext cx="533400" cy="0"/>
          </a:xfrm>
          <a:prstGeom prst="line">
            <a:avLst/>
          </a:prstGeom>
          <a:noFill/>
          <a:ln w="9525">
            <a:solidFill>
              <a:schemeClr val="tx1"/>
            </a:solidFill>
            <a:round/>
            <a:headEnd/>
            <a:tailEnd/>
          </a:ln>
        </p:spPr>
        <p:txBody>
          <a:bodyPr wrap="none" anchor="ctr"/>
          <a:lstStyle/>
          <a:p>
            <a:endParaRPr lang="en-US"/>
          </a:p>
        </p:txBody>
      </p:sp>
      <p:sp>
        <p:nvSpPr>
          <p:cNvPr id="10278" name="Rectangle 38"/>
          <p:cNvSpPr>
            <a:spLocks noGrp="1" noChangeArrowheads="1"/>
          </p:cNvSpPr>
          <p:nvPr>
            <p:ph type="title"/>
          </p:nvPr>
        </p:nvSpPr>
        <p:spPr/>
        <p:txBody>
          <a:bodyPr/>
          <a:lstStyle/>
          <a:p>
            <a:pPr eaLnBrk="1" hangingPunct="1"/>
            <a:r>
              <a:rPr lang="en-US" smtClean="0"/>
              <a:t>VPN Architecture</a:t>
            </a:r>
          </a:p>
        </p:txBody>
      </p:sp>
      <p:sp>
        <p:nvSpPr>
          <p:cNvPr id="10279" name="Rectangle 39"/>
          <p:cNvSpPr>
            <a:spLocks noChangeArrowheads="1"/>
          </p:cNvSpPr>
          <p:nvPr/>
        </p:nvSpPr>
        <p:spPr bwMode="auto">
          <a:xfrm>
            <a:off x="457200" y="4786313"/>
            <a:ext cx="5334000" cy="1417637"/>
          </a:xfrm>
          <a:prstGeom prst="rect">
            <a:avLst/>
          </a:prstGeom>
          <a:noFill/>
          <a:ln w="9525">
            <a:noFill/>
            <a:miter lim="800000"/>
            <a:headEnd/>
            <a:tailEnd/>
          </a:ln>
        </p:spPr>
        <p:txBody>
          <a:bodyPr>
            <a:spAutoFit/>
          </a:bodyPr>
          <a:lstStyle/>
          <a:p>
            <a:pPr marL="165100" indent="-165100">
              <a:spcBef>
                <a:spcPct val="20000"/>
              </a:spcBef>
              <a:spcAft>
                <a:spcPct val="15000"/>
              </a:spcAft>
              <a:buFontTx/>
              <a:buChar char="•"/>
            </a:pPr>
            <a:r>
              <a:rPr lang="en-US" altLang="en-US" sz="2000" b="1"/>
              <a:t>VPN is transparent to the users, ISP, and the Internet as a whole; </a:t>
            </a:r>
          </a:p>
          <a:p>
            <a:pPr marL="165100" indent="-165100">
              <a:spcBef>
                <a:spcPct val="20000"/>
              </a:spcBef>
              <a:spcAft>
                <a:spcPct val="15000"/>
              </a:spcAft>
              <a:buFontTx/>
              <a:buChar char="•"/>
            </a:pPr>
            <a:r>
              <a:rPr lang="en-US" altLang="en-US" sz="2000" b="1"/>
              <a:t>It appears to be simply a stream of packets moving across the Internet</a:t>
            </a:r>
          </a:p>
        </p:txBody>
      </p:sp>
      <p:sp>
        <p:nvSpPr>
          <p:cNvPr id="10280" name="Rectangle 40"/>
          <p:cNvSpPr>
            <a:spLocks noChangeArrowheads="1"/>
          </p:cNvSpPr>
          <p:nvPr/>
        </p:nvSpPr>
        <p:spPr bwMode="auto">
          <a:xfrm>
            <a:off x="2514600" y="1549400"/>
            <a:ext cx="1771650" cy="366713"/>
          </a:xfrm>
          <a:prstGeom prst="rect">
            <a:avLst/>
          </a:prstGeom>
          <a:noFill/>
          <a:ln w="9525">
            <a:noFill/>
            <a:miter lim="800000"/>
            <a:headEnd/>
            <a:tailEnd/>
          </a:ln>
        </p:spPr>
        <p:txBody>
          <a:bodyPr wrap="none">
            <a:spAutoFit/>
          </a:bodyPr>
          <a:lstStyle/>
          <a:p>
            <a:r>
              <a:rPr lang="en-US" altLang="en-US" b="1">
                <a:solidFill>
                  <a:schemeClr val="bg1"/>
                </a:solidFill>
              </a:rPr>
              <a:t>leased circuits</a:t>
            </a:r>
          </a:p>
        </p:txBody>
      </p:sp>
      <p:sp>
        <p:nvSpPr>
          <p:cNvPr id="10281" name="Line 41"/>
          <p:cNvSpPr>
            <a:spLocks noChangeShapeType="1"/>
          </p:cNvSpPr>
          <p:nvPr/>
        </p:nvSpPr>
        <p:spPr bwMode="auto">
          <a:xfrm flipH="1">
            <a:off x="2514600" y="1916113"/>
            <a:ext cx="304800" cy="522287"/>
          </a:xfrm>
          <a:prstGeom prst="line">
            <a:avLst/>
          </a:prstGeom>
          <a:noFill/>
          <a:ln w="9525">
            <a:solidFill>
              <a:schemeClr val="bg1"/>
            </a:solidFill>
            <a:round/>
            <a:headEnd/>
            <a:tailEnd type="triangle" w="med" len="med"/>
          </a:ln>
        </p:spPr>
        <p:txBody>
          <a:bodyPr/>
          <a:lstStyle/>
          <a:p>
            <a:endParaRPr lang="en-US"/>
          </a:p>
        </p:txBody>
      </p:sp>
      <p:sp>
        <p:nvSpPr>
          <p:cNvPr id="10282" name="Line 42"/>
          <p:cNvSpPr>
            <a:spLocks noChangeShapeType="1"/>
          </p:cNvSpPr>
          <p:nvPr/>
        </p:nvSpPr>
        <p:spPr bwMode="auto">
          <a:xfrm>
            <a:off x="4159250" y="1676400"/>
            <a:ext cx="2241550" cy="0"/>
          </a:xfrm>
          <a:prstGeom prst="line">
            <a:avLst/>
          </a:prstGeom>
          <a:noFill/>
          <a:ln w="9525">
            <a:solidFill>
              <a:schemeClr val="bg1"/>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noChangeArrowheads="1"/>
          </p:cNvSpPr>
          <p:nvPr>
            <p:ph type="title"/>
          </p:nvPr>
        </p:nvSpPr>
        <p:spPr>
          <a:xfrm>
            <a:off x="673100" y="106363"/>
            <a:ext cx="7807325" cy="1144587"/>
          </a:xfrm>
        </p:spPr>
        <p:txBody>
          <a:bodyPr/>
          <a:lstStyle/>
          <a:p>
            <a:pPr eaLnBrk="1" hangingPunct="1">
              <a:tabLst>
                <a:tab pos="655638" algn="l"/>
                <a:tab pos="1312863" algn="l"/>
                <a:tab pos="1968500" algn="l"/>
                <a:tab pos="2625725" algn="l"/>
                <a:tab pos="3282950" algn="l"/>
                <a:tab pos="3938588" algn="l"/>
                <a:tab pos="4595813" algn="l"/>
                <a:tab pos="5253038" algn="l"/>
                <a:tab pos="5908675" algn="l"/>
                <a:tab pos="6565900" algn="l"/>
                <a:tab pos="7223125" algn="l"/>
              </a:tabLst>
            </a:pPr>
            <a:r>
              <a:rPr lang="en-GB" smtClean="0"/>
              <a:t>Encapsulation</a:t>
            </a:r>
          </a:p>
        </p:txBody>
      </p:sp>
      <p:sp>
        <p:nvSpPr>
          <p:cNvPr id="10243" name="Rectangle 2"/>
          <p:cNvSpPr>
            <a:spLocks noGrp="1" noChangeArrowheads="1"/>
          </p:cNvSpPr>
          <p:nvPr>
            <p:ph type="subTitle" idx="4294967295"/>
          </p:nvPr>
        </p:nvSpPr>
        <p:spPr>
          <a:xfrm>
            <a:off x="457200" y="990600"/>
            <a:ext cx="8328025" cy="4495800"/>
          </a:xfrm>
        </p:spPr>
        <p:txBody>
          <a:bodyPr lIns="0" tIns="0" rIns="0" bIns="0" anchor="ctr"/>
          <a:lstStyle/>
          <a:p>
            <a:pPr marL="0" indent="0" eaLnBrk="1" hangingPunct="1">
              <a:buClr>
                <a:srgbClr val="000000"/>
              </a:buClr>
              <a:buSzPct val="45000"/>
              <a:buNone/>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defRPr/>
            </a:pPr>
            <a:r>
              <a:rPr lang="en-GB" dirty="0" smtClean="0"/>
              <a:t> </a:t>
            </a:r>
          </a:p>
          <a:p>
            <a:pPr marL="0" indent="0" eaLnBrk="1" hangingPunct="1">
              <a:buClr>
                <a:srgbClr val="000000"/>
              </a:buClr>
              <a:buSzPct val="4500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defRPr/>
            </a:pPr>
            <a:r>
              <a:rPr lang="en-GB" dirty="0" smtClean="0"/>
              <a:t> In order to achieve tunnelling,</a:t>
            </a:r>
          </a:p>
          <a:p>
            <a:pPr marL="0" indent="0" eaLnBrk="1" hangingPunct="1">
              <a:buClr>
                <a:srgbClr val="000000"/>
              </a:buClr>
              <a:buSzPct val="4500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defRPr/>
            </a:pPr>
            <a:endParaRPr lang="en-GB" dirty="0" smtClean="0"/>
          </a:p>
          <a:p>
            <a:pPr marL="238125" indent="-238125" eaLnBrk="1" hangingPunct="1">
              <a:buClr>
                <a:srgbClr val="000000"/>
              </a:buClr>
              <a:buSzPct val="45000"/>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defRPr/>
            </a:pPr>
            <a:r>
              <a:rPr lang="en-GB" dirty="0" smtClean="0"/>
              <a:t> The packets including payloads, to and from addresses, port numbers and other standard protocol packet headers are encapsulated as the payload of packets as seen by the external routers carrying the connection.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4" descr="08"/>
          <p:cNvPicPr>
            <a:picLocks noChangeAspect="1" noChangeArrowheads="1"/>
          </p:cNvPicPr>
          <p:nvPr/>
        </p:nvPicPr>
        <p:blipFill>
          <a:blip r:embed="rId2" cstate="print"/>
          <a:srcRect/>
          <a:stretch>
            <a:fillRect/>
          </a:stretch>
        </p:blipFill>
        <p:spPr>
          <a:xfrm>
            <a:off x="533400" y="1219200"/>
            <a:ext cx="7696200" cy="500697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ChangeArrowheads="1"/>
          </p:cNvSpPr>
          <p:nvPr>
            <p:ph type="title"/>
          </p:nvPr>
        </p:nvSpPr>
        <p:spPr>
          <a:xfrm>
            <a:off x="673100" y="106363"/>
            <a:ext cx="7807325" cy="1144587"/>
          </a:xfrm>
        </p:spPr>
        <p:txBody>
          <a:bodyPr/>
          <a:lstStyle/>
          <a:p>
            <a:pPr eaLnBrk="1" hangingPunct="1">
              <a:tabLst>
                <a:tab pos="655638" algn="l"/>
                <a:tab pos="1312863" algn="l"/>
                <a:tab pos="1968500" algn="l"/>
                <a:tab pos="2625725" algn="l"/>
                <a:tab pos="3282950" algn="l"/>
                <a:tab pos="3938588" algn="l"/>
                <a:tab pos="4595813" algn="l"/>
                <a:tab pos="5253038" algn="l"/>
                <a:tab pos="5908675" algn="l"/>
                <a:tab pos="6565900" algn="l"/>
                <a:tab pos="7223125" algn="l"/>
              </a:tabLst>
            </a:pPr>
            <a:r>
              <a:rPr lang="en-GB" smtClean="0"/>
              <a:t>Authentication</a:t>
            </a:r>
          </a:p>
        </p:txBody>
      </p:sp>
      <p:sp>
        <p:nvSpPr>
          <p:cNvPr id="11267" name="Rectangle 2"/>
          <p:cNvSpPr>
            <a:spLocks noGrp="1" noChangeArrowheads="1"/>
          </p:cNvSpPr>
          <p:nvPr>
            <p:ph type="subTitle" idx="4294967295"/>
          </p:nvPr>
        </p:nvSpPr>
        <p:spPr>
          <a:xfrm>
            <a:off x="762000" y="1676400"/>
            <a:ext cx="7689850" cy="4321175"/>
          </a:xfrm>
        </p:spPr>
        <p:txBody>
          <a:bodyPr lIns="0" tIns="0" rIns="0" bIns="0" anchor="ctr"/>
          <a:lstStyle/>
          <a:p>
            <a:pPr marL="238125" indent="-238125" algn="just" eaLnBrk="1" hangingPunct="1">
              <a:buClr>
                <a:srgbClr val="000000"/>
              </a:buClr>
              <a:buSzPct val="45000"/>
              <a:tabLst>
                <a:tab pos="655638" algn="l"/>
                <a:tab pos="1312863" algn="l"/>
                <a:tab pos="1968500" algn="l"/>
                <a:tab pos="2625725" algn="l"/>
                <a:tab pos="3282950" algn="l"/>
                <a:tab pos="3938588" algn="l"/>
                <a:tab pos="4595813" algn="l"/>
                <a:tab pos="5253038" algn="l"/>
                <a:tab pos="5908675" algn="l"/>
                <a:tab pos="6565900" algn="l"/>
                <a:tab pos="7223125" algn="l"/>
              </a:tabLst>
              <a:defRPr/>
            </a:pPr>
            <a:endParaRPr lang="en-GB" dirty="0" smtClean="0"/>
          </a:p>
          <a:p>
            <a:pPr marL="238125" indent="-238125" algn="just" eaLnBrk="1" hangingPunct="1">
              <a:buClr>
                <a:srgbClr val="000000"/>
              </a:buClr>
              <a:buSzPct val="45000"/>
              <a:tabLst>
                <a:tab pos="655638" algn="l"/>
                <a:tab pos="1312863" algn="l"/>
                <a:tab pos="1968500" algn="l"/>
                <a:tab pos="2625725" algn="l"/>
                <a:tab pos="3282950" algn="l"/>
                <a:tab pos="3938588" algn="l"/>
                <a:tab pos="4595813" algn="l"/>
                <a:tab pos="5253038" algn="l"/>
                <a:tab pos="5908675" algn="l"/>
                <a:tab pos="6565900" algn="l"/>
                <a:tab pos="7223125" algn="l"/>
              </a:tabLst>
              <a:defRPr/>
            </a:pPr>
            <a:r>
              <a:rPr lang="en-GB" dirty="0" smtClean="0"/>
              <a:t>A digital signing scheme is typically used to enable verification of the VPN principals. Note that both the client and the server need to authenticate each other.</a:t>
            </a:r>
          </a:p>
          <a:p>
            <a:pPr marL="238125" indent="-238125" algn="just" eaLnBrk="1" hangingPunct="1">
              <a:buClr>
                <a:srgbClr val="000000"/>
              </a:buClr>
              <a:buSzPct val="45000"/>
              <a:tabLst>
                <a:tab pos="655638" algn="l"/>
                <a:tab pos="1312863" algn="l"/>
                <a:tab pos="1968500" algn="l"/>
                <a:tab pos="2625725" algn="l"/>
                <a:tab pos="3282950" algn="l"/>
                <a:tab pos="3938588" algn="l"/>
                <a:tab pos="4595813" algn="l"/>
                <a:tab pos="5253038" algn="l"/>
                <a:tab pos="5908675" algn="l"/>
                <a:tab pos="6565900" algn="l"/>
                <a:tab pos="7223125" algn="l"/>
              </a:tabLst>
              <a:defRPr/>
            </a:pPr>
            <a:endParaRPr lang="en-GB" dirty="0" smtClean="0"/>
          </a:p>
          <a:p>
            <a:pPr marL="238125" indent="-238125" algn="just" eaLnBrk="1" hangingPunct="1">
              <a:buClr>
                <a:srgbClr val="000000"/>
              </a:buClr>
              <a:buSzPct val="45000"/>
              <a:tabLst>
                <a:tab pos="655638" algn="l"/>
                <a:tab pos="1312863" algn="l"/>
                <a:tab pos="1968500" algn="l"/>
                <a:tab pos="2625725" algn="l"/>
                <a:tab pos="3282950" algn="l"/>
                <a:tab pos="3938588" algn="l"/>
                <a:tab pos="4595813" algn="l"/>
                <a:tab pos="5253038" algn="l"/>
                <a:tab pos="5908675" algn="l"/>
                <a:tab pos="6565900" algn="l"/>
                <a:tab pos="7223125" algn="l"/>
              </a:tabLst>
              <a:defRPr/>
            </a:pPr>
            <a:r>
              <a:rPr lang="en-GB" dirty="0" smtClean="0"/>
              <a:t>Message authentication codes, hashes or checksums are typically used to authenticate message contents. </a:t>
            </a:r>
          </a:p>
          <a:p>
            <a:pPr marL="238125" indent="-238125" algn="just" eaLnBrk="1" hangingPunct="1">
              <a:buClr>
                <a:srgbClr val="000000"/>
              </a:buClr>
              <a:buSzPct val="45000"/>
              <a:tabLst>
                <a:tab pos="655638" algn="l"/>
                <a:tab pos="1312863" algn="l"/>
                <a:tab pos="1968500" algn="l"/>
                <a:tab pos="2625725" algn="l"/>
                <a:tab pos="3282950" algn="l"/>
                <a:tab pos="3938588" algn="l"/>
                <a:tab pos="4595813" algn="l"/>
                <a:tab pos="5253038" algn="l"/>
                <a:tab pos="5908675" algn="l"/>
                <a:tab pos="6565900" algn="l"/>
                <a:tab pos="7223125" algn="l"/>
              </a:tabLst>
              <a:defRPr/>
            </a:pPr>
            <a:endParaRPr lang="en-GB" dirty="0" smtClean="0"/>
          </a:p>
          <a:p>
            <a:pPr marL="238125" indent="-238125" algn="just" eaLnBrk="1" hangingPunct="1">
              <a:buClr>
                <a:srgbClr val="000000"/>
              </a:buClr>
              <a:buSzPct val="45000"/>
              <a:tabLst>
                <a:tab pos="655638" algn="l"/>
                <a:tab pos="1312863" algn="l"/>
                <a:tab pos="1968500" algn="l"/>
                <a:tab pos="2625725" algn="l"/>
                <a:tab pos="3282950" algn="l"/>
                <a:tab pos="3938588" algn="l"/>
                <a:tab pos="4595813" algn="l"/>
                <a:tab pos="5253038" algn="l"/>
                <a:tab pos="5908675" algn="l"/>
                <a:tab pos="6565900" algn="l"/>
                <a:tab pos="7223125" algn="l"/>
              </a:tabLst>
              <a:defRPr/>
            </a:pPr>
            <a:endParaRPr lang="en-GB" dirty="0" smtClean="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a:xfrm>
            <a:off x="673100" y="106363"/>
            <a:ext cx="7807325" cy="1144587"/>
          </a:xfrm>
        </p:spPr>
        <p:txBody>
          <a:bodyPr/>
          <a:lstStyle/>
          <a:p>
            <a:pPr eaLnBrk="1" hangingPunct="1">
              <a:tabLst>
                <a:tab pos="655638" algn="l"/>
                <a:tab pos="1312863" algn="l"/>
                <a:tab pos="1968500" algn="l"/>
                <a:tab pos="2625725" algn="l"/>
                <a:tab pos="3282950" algn="l"/>
                <a:tab pos="3938588" algn="l"/>
                <a:tab pos="4595813" algn="l"/>
                <a:tab pos="5253038" algn="l"/>
                <a:tab pos="5908675" algn="l"/>
                <a:tab pos="6565900" algn="l"/>
                <a:tab pos="7223125" algn="l"/>
              </a:tabLst>
            </a:pPr>
            <a:r>
              <a:rPr lang="en-GB" smtClean="0"/>
              <a:t>Encryption</a:t>
            </a:r>
          </a:p>
        </p:txBody>
      </p:sp>
      <p:sp>
        <p:nvSpPr>
          <p:cNvPr id="11266" name="Rectangle 2"/>
          <p:cNvSpPr>
            <a:spLocks noGrp="1" noChangeArrowheads="1"/>
          </p:cNvSpPr>
          <p:nvPr>
            <p:ph type="subTitle" idx="4294967295"/>
          </p:nvPr>
        </p:nvSpPr>
        <p:spPr>
          <a:xfrm>
            <a:off x="838200" y="1371600"/>
            <a:ext cx="7689850" cy="4321175"/>
          </a:xfrm>
        </p:spPr>
        <p:txBody>
          <a:bodyPr lIns="0" tIns="0" rIns="0" bIns="0" anchor="ctr">
            <a:normAutofit fontScale="92500" lnSpcReduction="10000"/>
          </a:bodyPr>
          <a:lstStyle/>
          <a:p>
            <a:pPr marL="401638" indent="-401638" algn="just" eaLnBrk="1" hangingPunct="1">
              <a:buClr>
                <a:srgbClr val="000000"/>
              </a:buClr>
              <a:buSzPct val="45000"/>
              <a:tabLst>
                <a:tab pos="656650" algn="l"/>
                <a:tab pos="1313299" algn="l"/>
                <a:tab pos="1969949" algn="l"/>
                <a:tab pos="2626599" algn="l"/>
                <a:tab pos="3283248" algn="l"/>
                <a:tab pos="3939898" algn="l"/>
                <a:tab pos="4596548" algn="l"/>
                <a:tab pos="5253198" algn="l"/>
                <a:tab pos="5909847" algn="l"/>
                <a:tab pos="6566497" algn="l"/>
                <a:tab pos="7223147" algn="l"/>
              </a:tabLst>
              <a:defRPr/>
            </a:pPr>
            <a:r>
              <a:rPr lang="en-GB" dirty="0" smtClean="0"/>
              <a:t> To protect the privacy of the connection from external snooping, the payload of the packets visible externally will be encrypted. </a:t>
            </a:r>
          </a:p>
          <a:p>
            <a:pPr marL="401638" indent="-401638" algn="just" eaLnBrk="1" hangingPunct="1">
              <a:buClr>
                <a:srgbClr val="000000"/>
              </a:buClr>
              <a:buSzPct val="45000"/>
              <a:tabLst>
                <a:tab pos="656650" algn="l"/>
                <a:tab pos="1313299" algn="l"/>
                <a:tab pos="1969949" algn="l"/>
                <a:tab pos="2626599" algn="l"/>
                <a:tab pos="3283248" algn="l"/>
                <a:tab pos="3939898" algn="l"/>
                <a:tab pos="4596548" algn="l"/>
                <a:tab pos="5253198" algn="l"/>
                <a:tab pos="5909847" algn="l"/>
                <a:tab pos="6566497" algn="l"/>
                <a:tab pos="7223147" algn="l"/>
              </a:tabLst>
              <a:defRPr/>
            </a:pPr>
            <a:endParaRPr lang="en-GB" dirty="0" smtClean="0"/>
          </a:p>
          <a:p>
            <a:pPr marL="401638" indent="-401638" algn="just" eaLnBrk="1" hangingPunct="1">
              <a:buClr>
                <a:srgbClr val="000000"/>
              </a:buClr>
              <a:buSzPct val="45000"/>
              <a:tabLst>
                <a:tab pos="656650" algn="l"/>
                <a:tab pos="1313299" algn="l"/>
                <a:tab pos="1969949" algn="l"/>
                <a:tab pos="2626599" algn="l"/>
                <a:tab pos="3283248" algn="l"/>
                <a:tab pos="3939898" algn="l"/>
                <a:tab pos="4596548" algn="l"/>
                <a:tab pos="5253198" algn="l"/>
                <a:tab pos="5909847" algn="l"/>
                <a:tab pos="6566497" algn="l"/>
                <a:tab pos="7223147" algn="l"/>
              </a:tabLst>
              <a:defRPr/>
            </a:pPr>
            <a:r>
              <a:rPr lang="en-GB" dirty="0" smtClean="0"/>
              <a:t> To enable routing over conventional  networks, the packet headers of the 2</a:t>
            </a:r>
            <a:r>
              <a:rPr lang="en-GB" baseline="30000" dirty="0" smtClean="0"/>
              <a:t>nd</a:t>
            </a:r>
            <a:r>
              <a:rPr lang="en-GB" dirty="0" smtClean="0"/>
              <a:t> encapsulating packets are not encrypted, but the packet headers of the 1</a:t>
            </a:r>
            <a:r>
              <a:rPr lang="en-GB" baseline="30000" dirty="0" smtClean="0"/>
              <a:t>st</a:t>
            </a:r>
            <a:r>
              <a:rPr lang="en-GB" dirty="0" smtClean="0"/>
              <a:t> encapsulated packets are encrypted along with their contents.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smtClean="0"/>
              <a:t>VPN Topology: Types of VPNs</a:t>
            </a:r>
          </a:p>
        </p:txBody>
      </p:sp>
      <p:sp>
        <p:nvSpPr>
          <p:cNvPr id="16387" name="Rectangle 3"/>
          <p:cNvSpPr>
            <a:spLocks noGrp="1" noChangeArrowheads="1"/>
          </p:cNvSpPr>
          <p:nvPr>
            <p:ph type="body" idx="1"/>
          </p:nvPr>
        </p:nvSpPr>
        <p:spPr/>
        <p:txBody>
          <a:bodyPr/>
          <a:lstStyle/>
          <a:p>
            <a:pPr>
              <a:defRPr/>
            </a:pPr>
            <a:r>
              <a:rPr lang="en-US" dirty="0" smtClean="0"/>
              <a:t>Remote access VPN</a:t>
            </a:r>
          </a:p>
          <a:p>
            <a:pPr>
              <a:defRPr/>
            </a:pPr>
            <a:r>
              <a:rPr lang="en-US" dirty="0" smtClean="0"/>
              <a:t>Site-to-Site VPN</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Slide Number Placeholder 4"/>
          <p:cNvSpPr>
            <a:spLocks noGrp="1"/>
          </p:cNvSpPr>
          <p:nvPr>
            <p:ph type="sldNum" sz="quarter" idx="10"/>
          </p:nvPr>
        </p:nvSpPr>
        <p:spPr/>
        <p:txBody>
          <a:bodyPr/>
          <a:lstStyle/>
          <a:p>
            <a:pPr>
              <a:defRPr/>
            </a:pPr>
            <a:r>
              <a:rPr lang="en-US"/>
              <a:t>-</a:t>
            </a:r>
            <a:fld id="{C02EE04E-C4C0-414D-9FF7-D22B77543464}" type="slidenum">
              <a:rPr lang="ar-SA"/>
              <a:pPr>
                <a:defRPr/>
              </a:pPr>
              <a:t>13</a:t>
            </a:fld>
            <a:r>
              <a:rPr lang="en-US"/>
              <a:t>-</a:t>
            </a:r>
            <a:endParaRPr lang="en-US" sz="800">
              <a:effectLst>
                <a:outerShdw blurRad="38100" dist="38100" dir="2700000" algn="tl">
                  <a:srgbClr val="FFFFFF"/>
                </a:outerShdw>
              </a:effectLst>
            </a:endParaRPr>
          </a:p>
        </p:txBody>
      </p:sp>
      <p:sp>
        <p:nvSpPr>
          <p:cNvPr id="15363" name="Rectangle 2"/>
          <p:cNvSpPr>
            <a:spLocks noGrp="1" noChangeArrowheads="1"/>
          </p:cNvSpPr>
          <p:nvPr>
            <p:ph type="title"/>
          </p:nvPr>
        </p:nvSpPr>
        <p:spPr/>
        <p:txBody>
          <a:bodyPr/>
          <a:lstStyle/>
          <a:p>
            <a:r>
              <a:rPr lang="en-US" smtClean="0"/>
              <a:t>Types of VPNs</a:t>
            </a:r>
          </a:p>
        </p:txBody>
      </p:sp>
      <p:sp>
        <p:nvSpPr>
          <p:cNvPr id="307203" name="Rectangle 3"/>
          <p:cNvSpPr>
            <a:spLocks noGrp="1" noChangeArrowheads="1"/>
          </p:cNvSpPr>
          <p:nvPr>
            <p:ph type="body" sz="half" idx="1"/>
          </p:nvPr>
        </p:nvSpPr>
        <p:spPr>
          <a:xfrm>
            <a:off x="985838" y="1370013"/>
            <a:ext cx="4271962" cy="5106987"/>
          </a:xfrm>
        </p:spPr>
        <p:txBody>
          <a:bodyPr/>
          <a:lstStyle/>
          <a:p>
            <a:pPr>
              <a:defRPr/>
            </a:pPr>
            <a:r>
              <a:rPr lang="en-US" sz="2800" b="1" dirty="0" smtClean="0"/>
              <a:t>Remote Access VPN</a:t>
            </a:r>
          </a:p>
          <a:p>
            <a:pPr lvl="1">
              <a:defRPr/>
            </a:pPr>
            <a:r>
              <a:rPr lang="en-US" dirty="0" smtClean="0"/>
              <a:t>Provides access to internal corporate network over the Internet.</a:t>
            </a:r>
          </a:p>
          <a:p>
            <a:pPr lvl="1">
              <a:defRPr/>
            </a:pPr>
            <a:r>
              <a:rPr lang="en-US" dirty="0" smtClean="0"/>
              <a:t>Reduces long distance technical support costs.</a:t>
            </a:r>
          </a:p>
        </p:txBody>
      </p:sp>
      <p:grpSp>
        <p:nvGrpSpPr>
          <p:cNvPr id="15365" name="Group 10"/>
          <p:cNvGrpSpPr>
            <a:grpSpLocks/>
          </p:cNvGrpSpPr>
          <p:nvPr/>
        </p:nvGrpSpPr>
        <p:grpSpPr bwMode="auto">
          <a:xfrm>
            <a:off x="6553200" y="3886200"/>
            <a:ext cx="1828800" cy="942975"/>
            <a:chOff x="2371" y="3356"/>
            <a:chExt cx="1152" cy="594"/>
          </a:xfrm>
        </p:grpSpPr>
        <p:grpSp>
          <p:nvGrpSpPr>
            <p:cNvPr id="15608" name="Group 11"/>
            <p:cNvGrpSpPr>
              <a:grpSpLocks/>
            </p:cNvGrpSpPr>
            <p:nvPr/>
          </p:nvGrpSpPr>
          <p:grpSpPr bwMode="auto">
            <a:xfrm>
              <a:off x="2371" y="3356"/>
              <a:ext cx="1152" cy="594"/>
              <a:chOff x="1584" y="699"/>
              <a:chExt cx="2224" cy="1098"/>
            </a:xfrm>
          </p:grpSpPr>
          <p:sp>
            <p:nvSpPr>
              <p:cNvPr id="15610" name="Freeform 12"/>
              <p:cNvSpPr>
                <a:spLocks/>
              </p:cNvSpPr>
              <p:nvPr/>
            </p:nvSpPr>
            <p:spPr bwMode="auto">
              <a:xfrm>
                <a:off x="1588" y="1419"/>
                <a:ext cx="2172" cy="378"/>
              </a:xfrm>
              <a:custGeom>
                <a:avLst/>
                <a:gdLst>
                  <a:gd name="T0" fmla="*/ 0 w 2172"/>
                  <a:gd name="T1" fmla="*/ 60 h 378"/>
                  <a:gd name="T2" fmla="*/ 66 w 2172"/>
                  <a:gd name="T3" fmla="*/ 0 h 378"/>
                  <a:gd name="T4" fmla="*/ 135 w 2172"/>
                  <a:gd name="T5" fmla="*/ 21 h 378"/>
                  <a:gd name="T6" fmla="*/ 162 w 2172"/>
                  <a:gd name="T7" fmla="*/ 21 h 378"/>
                  <a:gd name="T8" fmla="*/ 2118 w 2172"/>
                  <a:gd name="T9" fmla="*/ 93 h 378"/>
                  <a:gd name="T10" fmla="*/ 2172 w 2172"/>
                  <a:gd name="T11" fmla="*/ 144 h 378"/>
                  <a:gd name="T12" fmla="*/ 2115 w 2172"/>
                  <a:gd name="T13" fmla="*/ 177 h 378"/>
                  <a:gd name="T14" fmla="*/ 2073 w 2172"/>
                  <a:gd name="T15" fmla="*/ 204 h 378"/>
                  <a:gd name="T16" fmla="*/ 2034 w 2172"/>
                  <a:gd name="T17" fmla="*/ 225 h 378"/>
                  <a:gd name="T18" fmla="*/ 1944 w 2172"/>
                  <a:gd name="T19" fmla="*/ 282 h 378"/>
                  <a:gd name="T20" fmla="*/ 1824 w 2172"/>
                  <a:gd name="T21" fmla="*/ 306 h 378"/>
                  <a:gd name="T22" fmla="*/ 1659 w 2172"/>
                  <a:gd name="T23" fmla="*/ 315 h 378"/>
                  <a:gd name="T24" fmla="*/ 1590 w 2172"/>
                  <a:gd name="T25" fmla="*/ 306 h 378"/>
                  <a:gd name="T26" fmla="*/ 1521 w 2172"/>
                  <a:gd name="T27" fmla="*/ 279 h 378"/>
                  <a:gd name="T28" fmla="*/ 1338 w 2172"/>
                  <a:gd name="T29" fmla="*/ 312 h 378"/>
                  <a:gd name="T30" fmla="*/ 1242 w 2172"/>
                  <a:gd name="T31" fmla="*/ 261 h 378"/>
                  <a:gd name="T32" fmla="*/ 1179 w 2172"/>
                  <a:gd name="T33" fmla="*/ 315 h 378"/>
                  <a:gd name="T34" fmla="*/ 1068 w 2172"/>
                  <a:gd name="T35" fmla="*/ 321 h 378"/>
                  <a:gd name="T36" fmla="*/ 924 w 2172"/>
                  <a:gd name="T37" fmla="*/ 333 h 378"/>
                  <a:gd name="T38" fmla="*/ 831 w 2172"/>
                  <a:gd name="T39" fmla="*/ 342 h 378"/>
                  <a:gd name="T40" fmla="*/ 795 w 2172"/>
                  <a:gd name="T41" fmla="*/ 360 h 378"/>
                  <a:gd name="T42" fmla="*/ 717 w 2172"/>
                  <a:gd name="T43" fmla="*/ 378 h 378"/>
                  <a:gd name="T44" fmla="*/ 633 w 2172"/>
                  <a:gd name="T45" fmla="*/ 375 h 378"/>
                  <a:gd name="T46" fmla="*/ 561 w 2172"/>
                  <a:gd name="T47" fmla="*/ 354 h 378"/>
                  <a:gd name="T48" fmla="*/ 498 w 2172"/>
                  <a:gd name="T49" fmla="*/ 303 h 378"/>
                  <a:gd name="T50" fmla="*/ 438 w 2172"/>
                  <a:gd name="T51" fmla="*/ 282 h 378"/>
                  <a:gd name="T52" fmla="*/ 336 w 2172"/>
                  <a:gd name="T53" fmla="*/ 222 h 378"/>
                  <a:gd name="T54" fmla="*/ 276 w 2172"/>
                  <a:gd name="T55" fmla="*/ 114 h 378"/>
                  <a:gd name="T56" fmla="*/ 222 w 2172"/>
                  <a:gd name="T57" fmla="*/ 153 h 378"/>
                  <a:gd name="T58" fmla="*/ 120 w 2172"/>
                  <a:gd name="T59" fmla="*/ 144 h 378"/>
                  <a:gd name="T60" fmla="*/ 81 w 2172"/>
                  <a:gd name="T61" fmla="*/ 117 h 378"/>
                  <a:gd name="T62" fmla="*/ 0 w 2172"/>
                  <a:gd name="T63" fmla="*/ 60 h 3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72"/>
                  <a:gd name="T97" fmla="*/ 0 h 378"/>
                  <a:gd name="T98" fmla="*/ 2172 w 2172"/>
                  <a:gd name="T99" fmla="*/ 378 h 3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72" h="378">
                    <a:moveTo>
                      <a:pt x="0" y="60"/>
                    </a:moveTo>
                    <a:cubicBezTo>
                      <a:pt x="18" y="48"/>
                      <a:pt x="44" y="6"/>
                      <a:pt x="66" y="0"/>
                    </a:cubicBezTo>
                    <a:cubicBezTo>
                      <a:pt x="104" y="3"/>
                      <a:pt x="105" y="11"/>
                      <a:pt x="135" y="21"/>
                    </a:cubicBezTo>
                    <a:cubicBezTo>
                      <a:pt x="144" y="35"/>
                      <a:pt x="150" y="29"/>
                      <a:pt x="162" y="21"/>
                    </a:cubicBezTo>
                    <a:cubicBezTo>
                      <a:pt x="492" y="33"/>
                      <a:pt x="1783" y="72"/>
                      <a:pt x="2118" y="93"/>
                    </a:cubicBezTo>
                    <a:cubicBezTo>
                      <a:pt x="2161" y="97"/>
                      <a:pt x="2162" y="105"/>
                      <a:pt x="2172" y="144"/>
                    </a:cubicBezTo>
                    <a:cubicBezTo>
                      <a:pt x="2166" y="162"/>
                      <a:pt x="2133" y="171"/>
                      <a:pt x="2115" y="177"/>
                    </a:cubicBezTo>
                    <a:cubicBezTo>
                      <a:pt x="2103" y="189"/>
                      <a:pt x="2089" y="199"/>
                      <a:pt x="2073" y="204"/>
                    </a:cubicBezTo>
                    <a:cubicBezTo>
                      <a:pt x="2045" y="225"/>
                      <a:pt x="2059" y="220"/>
                      <a:pt x="2034" y="225"/>
                    </a:cubicBezTo>
                    <a:cubicBezTo>
                      <a:pt x="2008" y="242"/>
                      <a:pt x="1974" y="279"/>
                      <a:pt x="1944" y="282"/>
                    </a:cubicBezTo>
                    <a:cubicBezTo>
                      <a:pt x="1904" y="295"/>
                      <a:pt x="1865" y="298"/>
                      <a:pt x="1824" y="306"/>
                    </a:cubicBezTo>
                    <a:cubicBezTo>
                      <a:pt x="1781" y="335"/>
                      <a:pt x="1709" y="303"/>
                      <a:pt x="1659" y="315"/>
                    </a:cubicBezTo>
                    <a:cubicBezTo>
                      <a:pt x="1598" y="309"/>
                      <a:pt x="1621" y="314"/>
                      <a:pt x="1590" y="306"/>
                    </a:cubicBezTo>
                    <a:cubicBezTo>
                      <a:pt x="1558" y="286"/>
                      <a:pt x="1557" y="291"/>
                      <a:pt x="1521" y="279"/>
                    </a:cubicBezTo>
                    <a:cubicBezTo>
                      <a:pt x="1500" y="342"/>
                      <a:pt x="1389" y="310"/>
                      <a:pt x="1338" y="312"/>
                    </a:cubicBezTo>
                    <a:cubicBezTo>
                      <a:pt x="1292" y="309"/>
                      <a:pt x="1269" y="265"/>
                      <a:pt x="1242" y="261"/>
                    </a:cubicBezTo>
                    <a:cubicBezTo>
                      <a:pt x="1216" y="265"/>
                      <a:pt x="1202" y="304"/>
                      <a:pt x="1179" y="315"/>
                    </a:cubicBezTo>
                    <a:cubicBezTo>
                      <a:pt x="1148" y="330"/>
                      <a:pt x="1102" y="311"/>
                      <a:pt x="1068" y="321"/>
                    </a:cubicBezTo>
                    <a:cubicBezTo>
                      <a:pt x="1023" y="334"/>
                      <a:pt x="968" y="331"/>
                      <a:pt x="924" y="333"/>
                    </a:cubicBezTo>
                    <a:cubicBezTo>
                      <a:pt x="893" y="335"/>
                      <a:pt x="862" y="338"/>
                      <a:pt x="831" y="342"/>
                    </a:cubicBezTo>
                    <a:cubicBezTo>
                      <a:pt x="818" y="346"/>
                      <a:pt x="807" y="355"/>
                      <a:pt x="795" y="360"/>
                    </a:cubicBezTo>
                    <a:cubicBezTo>
                      <a:pt x="770" y="371"/>
                      <a:pt x="745" y="375"/>
                      <a:pt x="717" y="378"/>
                    </a:cubicBezTo>
                    <a:cubicBezTo>
                      <a:pt x="689" y="377"/>
                      <a:pt x="661" y="377"/>
                      <a:pt x="633" y="375"/>
                    </a:cubicBezTo>
                    <a:cubicBezTo>
                      <a:pt x="609" y="374"/>
                      <a:pt x="585" y="359"/>
                      <a:pt x="561" y="354"/>
                    </a:cubicBezTo>
                    <a:cubicBezTo>
                      <a:pt x="539" y="342"/>
                      <a:pt x="518" y="315"/>
                      <a:pt x="498" y="303"/>
                    </a:cubicBezTo>
                    <a:cubicBezTo>
                      <a:pt x="473" y="278"/>
                      <a:pt x="493" y="286"/>
                      <a:pt x="438" y="282"/>
                    </a:cubicBezTo>
                    <a:cubicBezTo>
                      <a:pt x="414" y="264"/>
                      <a:pt x="363" y="250"/>
                      <a:pt x="336" y="222"/>
                    </a:cubicBezTo>
                    <a:cubicBezTo>
                      <a:pt x="309" y="194"/>
                      <a:pt x="291" y="126"/>
                      <a:pt x="276" y="114"/>
                    </a:cubicBezTo>
                    <a:cubicBezTo>
                      <a:pt x="257" y="103"/>
                      <a:pt x="248" y="148"/>
                      <a:pt x="222" y="153"/>
                    </a:cubicBezTo>
                    <a:cubicBezTo>
                      <a:pt x="183" y="151"/>
                      <a:pt x="155" y="151"/>
                      <a:pt x="120" y="144"/>
                    </a:cubicBezTo>
                    <a:cubicBezTo>
                      <a:pt x="104" y="136"/>
                      <a:pt x="98" y="121"/>
                      <a:pt x="81" y="117"/>
                    </a:cubicBezTo>
                    <a:cubicBezTo>
                      <a:pt x="61" y="103"/>
                      <a:pt x="2" y="79"/>
                      <a:pt x="0" y="60"/>
                    </a:cubicBezTo>
                    <a:close/>
                  </a:path>
                </a:pathLst>
              </a:custGeom>
              <a:solidFill>
                <a:srgbClr val="2C5CFF"/>
              </a:solidFill>
              <a:ln w="12700" cap="flat" cmpd="sng">
                <a:noFill/>
                <a:prstDash val="solid"/>
                <a:round/>
                <a:headEnd type="none" w="sm" len="sm"/>
                <a:tailEnd type="none" w="sm" len="sm"/>
              </a:ln>
            </p:spPr>
            <p:txBody>
              <a:bodyPr wrap="none" anchor="ctr"/>
              <a:lstStyle/>
              <a:p>
                <a:endParaRPr lang="en-US"/>
              </a:p>
            </p:txBody>
          </p:sp>
          <p:sp>
            <p:nvSpPr>
              <p:cNvPr id="15611" name="Freeform 13"/>
              <p:cNvSpPr>
                <a:spLocks/>
              </p:cNvSpPr>
              <p:nvPr/>
            </p:nvSpPr>
            <p:spPr bwMode="auto">
              <a:xfrm>
                <a:off x="1584" y="699"/>
                <a:ext cx="2109" cy="789"/>
              </a:xfrm>
              <a:custGeom>
                <a:avLst/>
                <a:gdLst>
                  <a:gd name="T0" fmla="*/ 18 w 2109"/>
                  <a:gd name="T1" fmla="*/ 789 h 789"/>
                  <a:gd name="T2" fmla="*/ 24 w 2109"/>
                  <a:gd name="T3" fmla="*/ 702 h 789"/>
                  <a:gd name="T4" fmla="*/ 51 w 2109"/>
                  <a:gd name="T5" fmla="*/ 693 h 789"/>
                  <a:gd name="T6" fmla="*/ 18 w 2109"/>
                  <a:gd name="T7" fmla="*/ 660 h 789"/>
                  <a:gd name="T8" fmla="*/ 0 w 2109"/>
                  <a:gd name="T9" fmla="*/ 594 h 789"/>
                  <a:gd name="T10" fmla="*/ 36 w 2109"/>
                  <a:gd name="T11" fmla="*/ 507 h 789"/>
                  <a:gd name="T12" fmla="*/ 105 w 2109"/>
                  <a:gd name="T13" fmla="*/ 480 h 789"/>
                  <a:gd name="T14" fmla="*/ 153 w 2109"/>
                  <a:gd name="T15" fmla="*/ 474 h 789"/>
                  <a:gd name="T16" fmla="*/ 249 w 2109"/>
                  <a:gd name="T17" fmla="*/ 402 h 789"/>
                  <a:gd name="T18" fmla="*/ 228 w 2109"/>
                  <a:gd name="T19" fmla="*/ 375 h 789"/>
                  <a:gd name="T20" fmla="*/ 267 w 2109"/>
                  <a:gd name="T21" fmla="*/ 339 h 789"/>
                  <a:gd name="T22" fmla="*/ 288 w 2109"/>
                  <a:gd name="T23" fmla="*/ 237 h 789"/>
                  <a:gd name="T24" fmla="*/ 342 w 2109"/>
                  <a:gd name="T25" fmla="*/ 147 h 789"/>
                  <a:gd name="T26" fmla="*/ 408 w 2109"/>
                  <a:gd name="T27" fmla="*/ 102 h 789"/>
                  <a:gd name="T28" fmla="*/ 459 w 2109"/>
                  <a:gd name="T29" fmla="*/ 105 h 789"/>
                  <a:gd name="T30" fmla="*/ 513 w 2109"/>
                  <a:gd name="T31" fmla="*/ 129 h 789"/>
                  <a:gd name="T32" fmla="*/ 576 w 2109"/>
                  <a:gd name="T33" fmla="*/ 156 h 789"/>
                  <a:gd name="T34" fmla="*/ 600 w 2109"/>
                  <a:gd name="T35" fmla="*/ 123 h 789"/>
                  <a:gd name="T36" fmla="*/ 642 w 2109"/>
                  <a:gd name="T37" fmla="*/ 84 h 789"/>
                  <a:gd name="T38" fmla="*/ 780 w 2109"/>
                  <a:gd name="T39" fmla="*/ 24 h 789"/>
                  <a:gd name="T40" fmla="*/ 846 w 2109"/>
                  <a:gd name="T41" fmla="*/ 27 h 789"/>
                  <a:gd name="T42" fmla="*/ 897 w 2109"/>
                  <a:gd name="T43" fmla="*/ 0 h 789"/>
                  <a:gd name="T44" fmla="*/ 1023 w 2109"/>
                  <a:gd name="T45" fmla="*/ 3 h 789"/>
                  <a:gd name="T46" fmla="*/ 1167 w 2109"/>
                  <a:gd name="T47" fmla="*/ 42 h 789"/>
                  <a:gd name="T48" fmla="*/ 1218 w 2109"/>
                  <a:gd name="T49" fmla="*/ 99 h 789"/>
                  <a:gd name="T50" fmla="*/ 1317 w 2109"/>
                  <a:gd name="T51" fmla="*/ 48 h 789"/>
                  <a:gd name="T52" fmla="*/ 1377 w 2109"/>
                  <a:gd name="T53" fmla="*/ 36 h 789"/>
                  <a:gd name="T54" fmla="*/ 1551 w 2109"/>
                  <a:gd name="T55" fmla="*/ 33 h 789"/>
                  <a:gd name="T56" fmla="*/ 1644 w 2109"/>
                  <a:gd name="T57" fmla="*/ 51 h 789"/>
                  <a:gd name="T58" fmla="*/ 1659 w 2109"/>
                  <a:gd name="T59" fmla="*/ 78 h 789"/>
                  <a:gd name="T60" fmla="*/ 1776 w 2109"/>
                  <a:gd name="T61" fmla="*/ 60 h 789"/>
                  <a:gd name="T62" fmla="*/ 1851 w 2109"/>
                  <a:gd name="T63" fmla="*/ 81 h 789"/>
                  <a:gd name="T64" fmla="*/ 1908 w 2109"/>
                  <a:gd name="T65" fmla="*/ 102 h 789"/>
                  <a:gd name="T66" fmla="*/ 1938 w 2109"/>
                  <a:gd name="T67" fmla="*/ 204 h 789"/>
                  <a:gd name="T68" fmla="*/ 1941 w 2109"/>
                  <a:gd name="T69" fmla="*/ 261 h 789"/>
                  <a:gd name="T70" fmla="*/ 2055 w 2109"/>
                  <a:gd name="T71" fmla="*/ 267 h 789"/>
                  <a:gd name="T72" fmla="*/ 2106 w 2109"/>
                  <a:gd name="T73" fmla="*/ 336 h 789"/>
                  <a:gd name="T74" fmla="*/ 2073 w 2109"/>
                  <a:gd name="T75" fmla="*/ 465 h 789"/>
                  <a:gd name="T76" fmla="*/ 2109 w 2109"/>
                  <a:gd name="T77" fmla="*/ 498 h 789"/>
                  <a:gd name="T78" fmla="*/ 2106 w 2109"/>
                  <a:gd name="T79" fmla="*/ 543 h 789"/>
                  <a:gd name="T80" fmla="*/ 2067 w 2109"/>
                  <a:gd name="T81" fmla="*/ 612 h 789"/>
                  <a:gd name="T82" fmla="*/ 2040 w 2109"/>
                  <a:gd name="T83" fmla="*/ 627 h 789"/>
                  <a:gd name="T84" fmla="*/ 1980 w 2109"/>
                  <a:gd name="T85" fmla="*/ 657 h 789"/>
                  <a:gd name="T86" fmla="*/ 1938 w 2109"/>
                  <a:gd name="T87" fmla="*/ 663 h 789"/>
                  <a:gd name="T88" fmla="*/ 18 w 2109"/>
                  <a:gd name="T89" fmla="*/ 789 h 78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09"/>
                  <a:gd name="T136" fmla="*/ 0 h 789"/>
                  <a:gd name="T137" fmla="*/ 2109 w 2109"/>
                  <a:gd name="T138" fmla="*/ 789 h 78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09" h="789">
                    <a:moveTo>
                      <a:pt x="18" y="789"/>
                    </a:moveTo>
                    <a:cubicBezTo>
                      <a:pt x="19" y="760"/>
                      <a:pt x="0" y="719"/>
                      <a:pt x="24" y="702"/>
                    </a:cubicBezTo>
                    <a:cubicBezTo>
                      <a:pt x="32" y="696"/>
                      <a:pt x="51" y="693"/>
                      <a:pt x="51" y="693"/>
                    </a:cubicBezTo>
                    <a:cubicBezTo>
                      <a:pt x="38" y="683"/>
                      <a:pt x="30" y="672"/>
                      <a:pt x="18" y="660"/>
                    </a:cubicBezTo>
                    <a:cubicBezTo>
                      <a:pt x="12" y="638"/>
                      <a:pt x="4" y="617"/>
                      <a:pt x="0" y="594"/>
                    </a:cubicBezTo>
                    <a:cubicBezTo>
                      <a:pt x="5" y="541"/>
                      <a:pt x="2" y="541"/>
                      <a:pt x="36" y="507"/>
                    </a:cubicBezTo>
                    <a:cubicBezTo>
                      <a:pt x="54" y="488"/>
                      <a:pt x="86" y="485"/>
                      <a:pt x="105" y="480"/>
                    </a:cubicBezTo>
                    <a:cubicBezTo>
                      <a:pt x="121" y="478"/>
                      <a:pt x="153" y="474"/>
                      <a:pt x="153" y="474"/>
                    </a:cubicBezTo>
                    <a:cubicBezTo>
                      <a:pt x="177" y="461"/>
                      <a:pt x="236" y="418"/>
                      <a:pt x="249" y="402"/>
                    </a:cubicBezTo>
                    <a:cubicBezTo>
                      <a:pt x="235" y="380"/>
                      <a:pt x="242" y="389"/>
                      <a:pt x="228" y="375"/>
                    </a:cubicBezTo>
                    <a:cubicBezTo>
                      <a:pt x="216" y="339"/>
                      <a:pt x="238" y="342"/>
                      <a:pt x="267" y="339"/>
                    </a:cubicBezTo>
                    <a:cubicBezTo>
                      <a:pt x="297" y="331"/>
                      <a:pt x="286" y="258"/>
                      <a:pt x="288" y="237"/>
                    </a:cubicBezTo>
                    <a:cubicBezTo>
                      <a:pt x="292" y="197"/>
                      <a:pt x="315" y="174"/>
                      <a:pt x="342" y="147"/>
                    </a:cubicBezTo>
                    <a:cubicBezTo>
                      <a:pt x="362" y="125"/>
                      <a:pt x="389" y="109"/>
                      <a:pt x="408" y="102"/>
                    </a:cubicBezTo>
                    <a:cubicBezTo>
                      <a:pt x="425" y="103"/>
                      <a:pt x="442" y="102"/>
                      <a:pt x="459" y="105"/>
                    </a:cubicBezTo>
                    <a:cubicBezTo>
                      <a:pt x="476" y="108"/>
                      <a:pt x="496" y="124"/>
                      <a:pt x="513" y="129"/>
                    </a:cubicBezTo>
                    <a:cubicBezTo>
                      <a:pt x="532" y="137"/>
                      <a:pt x="562" y="157"/>
                      <a:pt x="576" y="156"/>
                    </a:cubicBezTo>
                    <a:cubicBezTo>
                      <a:pt x="583" y="157"/>
                      <a:pt x="599" y="124"/>
                      <a:pt x="600" y="123"/>
                    </a:cubicBezTo>
                    <a:cubicBezTo>
                      <a:pt x="611" y="106"/>
                      <a:pt x="625" y="97"/>
                      <a:pt x="642" y="84"/>
                    </a:cubicBezTo>
                    <a:cubicBezTo>
                      <a:pt x="682" y="53"/>
                      <a:pt x="731" y="36"/>
                      <a:pt x="780" y="24"/>
                    </a:cubicBezTo>
                    <a:cubicBezTo>
                      <a:pt x="802" y="25"/>
                      <a:pt x="824" y="27"/>
                      <a:pt x="846" y="27"/>
                    </a:cubicBezTo>
                    <a:cubicBezTo>
                      <a:pt x="854" y="27"/>
                      <a:pt x="879" y="6"/>
                      <a:pt x="897" y="0"/>
                    </a:cubicBezTo>
                    <a:cubicBezTo>
                      <a:pt x="939" y="1"/>
                      <a:pt x="981" y="0"/>
                      <a:pt x="1023" y="3"/>
                    </a:cubicBezTo>
                    <a:cubicBezTo>
                      <a:pt x="1068" y="10"/>
                      <a:pt x="1135" y="26"/>
                      <a:pt x="1167" y="42"/>
                    </a:cubicBezTo>
                    <a:cubicBezTo>
                      <a:pt x="1188" y="49"/>
                      <a:pt x="1211" y="78"/>
                      <a:pt x="1218" y="99"/>
                    </a:cubicBezTo>
                    <a:cubicBezTo>
                      <a:pt x="1239" y="68"/>
                      <a:pt x="1281" y="53"/>
                      <a:pt x="1317" y="48"/>
                    </a:cubicBezTo>
                    <a:cubicBezTo>
                      <a:pt x="1339" y="41"/>
                      <a:pt x="1353" y="38"/>
                      <a:pt x="1377" y="36"/>
                    </a:cubicBezTo>
                    <a:cubicBezTo>
                      <a:pt x="1436" y="21"/>
                      <a:pt x="1479" y="32"/>
                      <a:pt x="1551" y="33"/>
                    </a:cubicBezTo>
                    <a:cubicBezTo>
                      <a:pt x="1585" y="35"/>
                      <a:pt x="1613" y="41"/>
                      <a:pt x="1644" y="51"/>
                    </a:cubicBezTo>
                    <a:cubicBezTo>
                      <a:pt x="1658" y="72"/>
                      <a:pt x="1654" y="62"/>
                      <a:pt x="1659" y="78"/>
                    </a:cubicBezTo>
                    <a:cubicBezTo>
                      <a:pt x="1697" y="73"/>
                      <a:pt x="1739" y="72"/>
                      <a:pt x="1776" y="60"/>
                    </a:cubicBezTo>
                    <a:cubicBezTo>
                      <a:pt x="1808" y="60"/>
                      <a:pt x="1829" y="74"/>
                      <a:pt x="1851" y="81"/>
                    </a:cubicBezTo>
                    <a:cubicBezTo>
                      <a:pt x="1868" y="89"/>
                      <a:pt x="1890" y="96"/>
                      <a:pt x="1908" y="102"/>
                    </a:cubicBezTo>
                    <a:cubicBezTo>
                      <a:pt x="1931" y="125"/>
                      <a:pt x="1934" y="173"/>
                      <a:pt x="1938" y="204"/>
                    </a:cubicBezTo>
                    <a:cubicBezTo>
                      <a:pt x="1939" y="223"/>
                      <a:pt x="1925" y="250"/>
                      <a:pt x="1941" y="261"/>
                    </a:cubicBezTo>
                    <a:cubicBezTo>
                      <a:pt x="1973" y="282"/>
                      <a:pt x="2017" y="263"/>
                      <a:pt x="2055" y="267"/>
                    </a:cubicBezTo>
                    <a:cubicBezTo>
                      <a:pt x="2082" y="279"/>
                      <a:pt x="2103" y="303"/>
                      <a:pt x="2106" y="336"/>
                    </a:cubicBezTo>
                    <a:cubicBezTo>
                      <a:pt x="2104" y="382"/>
                      <a:pt x="2099" y="426"/>
                      <a:pt x="2073" y="465"/>
                    </a:cubicBezTo>
                    <a:cubicBezTo>
                      <a:pt x="2074" y="492"/>
                      <a:pt x="2104" y="485"/>
                      <a:pt x="2109" y="498"/>
                    </a:cubicBezTo>
                    <a:cubicBezTo>
                      <a:pt x="2108" y="513"/>
                      <a:pt x="2108" y="528"/>
                      <a:pt x="2106" y="543"/>
                    </a:cubicBezTo>
                    <a:cubicBezTo>
                      <a:pt x="2099" y="562"/>
                      <a:pt x="2078" y="598"/>
                      <a:pt x="2067" y="612"/>
                    </a:cubicBezTo>
                    <a:cubicBezTo>
                      <a:pt x="2064" y="622"/>
                      <a:pt x="2048" y="623"/>
                      <a:pt x="2040" y="627"/>
                    </a:cubicBezTo>
                    <a:cubicBezTo>
                      <a:pt x="2020" y="636"/>
                      <a:pt x="2001" y="652"/>
                      <a:pt x="1980" y="657"/>
                    </a:cubicBezTo>
                    <a:cubicBezTo>
                      <a:pt x="1966" y="660"/>
                      <a:pt x="1952" y="660"/>
                      <a:pt x="1938" y="663"/>
                    </a:cubicBezTo>
                    <a:cubicBezTo>
                      <a:pt x="1611" y="685"/>
                      <a:pt x="337" y="782"/>
                      <a:pt x="18" y="789"/>
                    </a:cubicBezTo>
                    <a:close/>
                  </a:path>
                </a:pathLst>
              </a:custGeom>
              <a:solidFill>
                <a:srgbClr val="3232A6"/>
              </a:solidFill>
              <a:ln w="12700" cap="flat" cmpd="sng">
                <a:noFill/>
                <a:prstDash val="solid"/>
                <a:round/>
                <a:headEnd type="none" w="sm" len="sm"/>
                <a:tailEnd type="none" w="sm" len="sm"/>
              </a:ln>
            </p:spPr>
            <p:txBody>
              <a:bodyPr wrap="none" anchor="ctr"/>
              <a:lstStyle/>
              <a:p>
                <a:endParaRPr lang="en-US"/>
              </a:p>
            </p:txBody>
          </p:sp>
          <p:sp>
            <p:nvSpPr>
              <p:cNvPr id="15612" name="Freeform 14"/>
              <p:cNvSpPr>
                <a:spLocks/>
              </p:cNvSpPr>
              <p:nvPr/>
            </p:nvSpPr>
            <p:spPr bwMode="auto">
              <a:xfrm>
                <a:off x="1584" y="720"/>
                <a:ext cx="2109" cy="789"/>
              </a:xfrm>
              <a:custGeom>
                <a:avLst/>
                <a:gdLst>
                  <a:gd name="T0" fmla="*/ 18 w 2109"/>
                  <a:gd name="T1" fmla="*/ 789 h 789"/>
                  <a:gd name="T2" fmla="*/ 24 w 2109"/>
                  <a:gd name="T3" fmla="*/ 702 h 789"/>
                  <a:gd name="T4" fmla="*/ 51 w 2109"/>
                  <a:gd name="T5" fmla="*/ 693 h 789"/>
                  <a:gd name="T6" fmla="*/ 18 w 2109"/>
                  <a:gd name="T7" fmla="*/ 660 h 789"/>
                  <a:gd name="T8" fmla="*/ 0 w 2109"/>
                  <a:gd name="T9" fmla="*/ 594 h 789"/>
                  <a:gd name="T10" fmla="*/ 36 w 2109"/>
                  <a:gd name="T11" fmla="*/ 507 h 789"/>
                  <a:gd name="T12" fmla="*/ 105 w 2109"/>
                  <a:gd name="T13" fmla="*/ 480 h 789"/>
                  <a:gd name="T14" fmla="*/ 153 w 2109"/>
                  <a:gd name="T15" fmla="*/ 474 h 789"/>
                  <a:gd name="T16" fmla="*/ 249 w 2109"/>
                  <a:gd name="T17" fmla="*/ 402 h 789"/>
                  <a:gd name="T18" fmla="*/ 228 w 2109"/>
                  <a:gd name="T19" fmla="*/ 375 h 789"/>
                  <a:gd name="T20" fmla="*/ 267 w 2109"/>
                  <a:gd name="T21" fmla="*/ 339 h 789"/>
                  <a:gd name="T22" fmla="*/ 288 w 2109"/>
                  <a:gd name="T23" fmla="*/ 237 h 789"/>
                  <a:gd name="T24" fmla="*/ 342 w 2109"/>
                  <a:gd name="T25" fmla="*/ 147 h 789"/>
                  <a:gd name="T26" fmla="*/ 408 w 2109"/>
                  <a:gd name="T27" fmla="*/ 102 h 789"/>
                  <a:gd name="T28" fmla="*/ 459 w 2109"/>
                  <a:gd name="T29" fmla="*/ 105 h 789"/>
                  <a:gd name="T30" fmla="*/ 513 w 2109"/>
                  <a:gd name="T31" fmla="*/ 129 h 789"/>
                  <a:gd name="T32" fmla="*/ 576 w 2109"/>
                  <a:gd name="T33" fmla="*/ 156 h 789"/>
                  <a:gd name="T34" fmla="*/ 600 w 2109"/>
                  <a:gd name="T35" fmla="*/ 123 h 789"/>
                  <a:gd name="T36" fmla="*/ 642 w 2109"/>
                  <a:gd name="T37" fmla="*/ 84 h 789"/>
                  <a:gd name="T38" fmla="*/ 780 w 2109"/>
                  <a:gd name="T39" fmla="*/ 24 h 789"/>
                  <a:gd name="T40" fmla="*/ 846 w 2109"/>
                  <a:gd name="T41" fmla="*/ 27 h 789"/>
                  <a:gd name="T42" fmla="*/ 897 w 2109"/>
                  <a:gd name="T43" fmla="*/ 0 h 789"/>
                  <a:gd name="T44" fmla="*/ 1023 w 2109"/>
                  <a:gd name="T45" fmla="*/ 3 h 789"/>
                  <a:gd name="T46" fmla="*/ 1167 w 2109"/>
                  <a:gd name="T47" fmla="*/ 42 h 789"/>
                  <a:gd name="T48" fmla="*/ 1218 w 2109"/>
                  <a:gd name="T49" fmla="*/ 99 h 789"/>
                  <a:gd name="T50" fmla="*/ 1317 w 2109"/>
                  <a:gd name="T51" fmla="*/ 48 h 789"/>
                  <a:gd name="T52" fmla="*/ 1377 w 2109"/>
                  <a:gd name="T53" fmla="*/ 36 h 789"/>
                  <a:gd name="T54" fmla="*/ 1551 w 2109"/>
                  <a:gd name="T55" fmla="*/ 33 h 789"/>
                  <a:gd name="T56" fmla="*/ 1644 w 2109"/>
                  <a:gd name="T57" fmla="*/ 51 h 789"/>
                  <a:gd name="T58" fmla="*/ 1659 w 2109"/>
                  <a:gd name="T59" fmla="*/ 78 h 789"/>
                  <a:gd name="T60" fmla="*/ 1776 w 2109"/>
                  <a:gd name="T61" fmla="*/ 60 h 789"/>
                  <a:gd name="T62" fmla="*/ 1851 w 2109"/>
                  <a:gd name="T63" fmla="*/ 81 h 789"/>
                  <a:gd name="T64" fmla="*/ 1908 w 2109"/>
                  <a:gd name="T65" fmla="*/ 102 h 789"/>
                  <a:gd name="T66" fmla="*/ 1938 w 2109"/>
                  <a:gd name="T67" fmla="*/ 204 h 789"/>
                  <a:gd name="T68" fmla="*/ 1941 w 2109"/>
                  <a:gd name="T69" fmla="*/ 261 h 789"/>
                  <a:gd name="T70" fmla="*/ 2055 w 2109"/>
                  <a:gd name="T71" fmla="*/ 267 h 789"/>
                  <a:gd name="T72" fmla="*/ 2106 w 2109"/>
                  <a:gd name="T73" fmla="*/ 336 h 789"/>
                  <a:gd name="T74" fmla="*/ 2073 w 2109"/>
                  <a:gd name="T75" fmla="*/ 465 h 789"/>
                  <a:gd name="T76" fmla="*/ 2109 w 2109"/>
                  <a:gd name="T77" fmla="*/ 498 h 789"/>
                  <a:gd name="T78" fmla="*/ 2106 w 2109"/>
                  <a:gd name="T79" fmla="*/ 543 h 789"/>
                  <a:gd name="T80" fmla="*/ 2067 w 2109"/>
                  <a:gd name="T81" fmla="*/ 612 h 789"/>
                  <a:gd name="T82" fmla="*/ 2040 w 2109"/>
                  <a:gd name="T83" fmla="*/ 627 h 789"/>
                  <a:gd name="T84" fmla="*/ 1980 w 2109"/>
                  <a:gd name="T85" fmla="*/ 657 h 789"/>
                  <a:gd name="T86" fmla="*/ 1938 w 2109"/>
                  <a:gd name="T87" fmla="*/ 663 h 789"/>
                  <a:gd name="T88" fmla="*/ 18 w 2109"/>
                  <a:gd name="T89" fmla="*/ 789 h 78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09"/>
                  <a:gd name="T136" fmla="*/ 0 h 789"/>
                  <a:gd name="T137" fmla="*/ 2109 w 2109"/>
                  <a:gd name="T138" fmla="*/ 789 h 78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09" h="789">
                    <a:moveTo>
                      <a:pt x="18" y="789"/>
                    </a:moveTo>
                    <a:cubicBezTo>
                      <a:pt x="19" y="760"/>
                      <a:pt x="0" y="719"/>
                      <a:pt x="24" y="702"/>
                    </a:cubicBezTo>
                    <a:cubicBezTo>
                      <a:pt x="32" y="696"/>
                      <a:pt x="51" y="693"/>
                      <a:pt x="51" y="693"/>
                    </a:cubicBezTo>
                    <a:cubicBezTo>
                      <a:pt x="38" y="683"/>
                      <a:pt x="30" y="672"/>
                      <a:pt x="18" y="660"/>
                    </a:cubicBezTo>
                    <a:cubicBezTo>
                      <a:pt x="12" y="638"/>
                      <a:pt x="4" y="617"/>
                      <a:pt x="0" y="594"/>
                    </a:cubicBezTo>
                    <a:cubicBezTo>
                      <a:pt x="5" y="541"/>
                      <a:pt x="2" y="541"/>
                      <a:pt x="36" y="507"/>
                    </a:cubicBezTo>
                    <a:cubicBezTo>
                      <a:pt x="54" y="488"/>
                      <a:pt x="86" y="485"/>
                      <a:pt x="105" y="480"/>
                    </a:cubicBezTo>
                    <a:cubicBezTo>
                      <a:pt x="121" y="478"/>
                      <a:pt x="153" y="474"/>
                      <a:pt x="153" y="474"/>
                    </a:cubicBezTo>
                    <a:cubicBezTo>
                      <a:pt x="177" y="461"/>
                      <a:pt x="236" y="418"/>
                      <a:pt x="249" y="402"/>
                    </a:cubicBezTo>
                    <a:cubicBezTo>
                      <a:pt x="235" y="380"/>
                      <a:pt x="242" y="389"/>
                      <a:pt x="228" y="375"/>
                    </a:cubicBezTo>
                    <a:cubicBezTo>
                      <a:pt x="216" y="339"/>
                      <a:pt x="238" y="342"/>
                      <a:pt x="267" y="339"/>
                    </a:cubicBezTo>
                    <a:cubicBezTo>
                      <a:pt x="297" y="331"/>
                      <a:pt x="286" y="258"/>
                      <a:pt x="288" y="237"/>
                    </a:cubicBezTo>
                    <a:cubicBezTo>
                      <a:pt x="292" y="197"/>
                      <a:pt x="315" y="174"/>
                      <a:pt x="342" y="147"/>
                    </a:cubicBezTo>
                    <a:cubicBezTo>
                      <a:pt x="362" y="125"/>
                      <a:pt x="389" y="109"/>
                      <a:pt x="408" y="102"/>
                    </a:cubicBezTo>
                    <a:cubicBezTo>
                      <a:pt x="425" y="103"/>
                      <a:pt x="442" y="102"/>
                      <a:pt x="459" y="105"/>
                    </a:cubicBezTo>
                    <a:cubicBezTo>
                      <a:pt x="476" y="108"/>
                      <a:pt x="496" y="124"/>
                      <a:pt x="513" y="129"/>
                    </a:cubicBezTo>
                    <a:cubicBezTo>
                      <a:pt x="532" y="137"/>
                      <a:pt x="562" y="157"/>
                      <a:pt x="576" y="156"/>
                    </a:cubicBezTo>
                    <a:cubicBezTo>
                      <a:pt x="583" y="157"/>
                      <a:pt x="599" y="124"/>
                      <a:pt x="600" y="123"/>
                    </a:cubicBezTo>
                    <a:cubicBezTo>
                      <a:pt x="611" y="106"/>
                      <a:pt x="625" y="97"/>
                      <a:pt x="642" y="84"/>
                    </a:cubicBezTo>
                    <a:cubicBezTo>
                      <a:pt x="682" y="53"/>
                      <a:pt x="731" y="36"/>
                      <a:pt x="780" y="24"/>
                    </a:cubicBezTo>
                    <a:cubicBezTo>
                      <a:pt x="802" y="25"/>
                      <a:pt x="824" y="27"/>
                      <a:pt x="846" y="27"/>
                    </a:cubicBezTo>
                    <a:cubicBezTo>
                      <a:pt x="854" y="27"/>
                      <a:pt x="879" y="6"/>
                      <a:pt x="897" y="0"/>
                    </a:cubicBezTo>
                    <a:cubicBezTo>
                      <a:pt x="939" y="1"/>
                      <a:pt x="981" y="0"/>
                      <a:pt x="1023" y="3"/>
                    </a:cubicBezTo>
                    <a:cubicBezTo>
                      <a:pt x="1068" y="10"/>
                      <a:pt x="1135" y="26"/>
                      <a:pt x="1167" y="42"/>
                    </a:cubicBezTo>
                    <a:cubicBezTo>
                      <a:pt x="1188" y="49"/>
                      <a:pt x="1211" y="78"/>
                      <a:pt x="1218" y="99"/>
                    </a:cubicBezTo>
                    <a:cubicBezTo>
                      <a:pt x="1239" y="68"/>
                      <a:pt x="1281" y="53"/>
                      <a:pt x="1317" y="48"/>
                    </a:cubicBezTo>
                    <a:cubicBezTo>
                      <a:pt x="1339" y="41"/>
                      <a:pt x="1353" y="38"/>
                      <a:pt x="1377" y="36"/>
                    </a:cubicBezTo>
                    <a:cubicBezTo>
                      <a:pt x="1436" y="21"/>
                      <a:pt x="1479" y="32"/>
                      <a:pt x="1551" y="33"/>
                    </a:cubicBezTo>
                    <a:cubicBezTo>
                      <a:pt x="1585" y="35"/>
                      <a:pt x="1613" y="41"/>
                      <a:pt x="1644" y="51"/>
                    </a:cubicBezTo>
                    <a:cubicBezTo>
                      <a:pt x="1658" y="72"/>
                      <a:pt x="1654" y="62"/>
                      <a:pt x="1659" y="78"/>
                    </a:cubicBezTo>
                    <a:cubicBezTo>
                      <a:pt x="1697" y="73"/>
                      <a:pt x="1739" y="72"/>
                      <a:pt x="1776" y="60"/>
                    </a:cubicBezTo>
                    <a:cubicBezTo>
                      <a:pt x="1808" y="60"/>
                      <a:pt x="1829" y="74"/>
                      <a:pt x="1851" y="81"/>
                    </a:cubicBezTo>
                    <a:cubicBezTo>
                      <a:pt x="1868" y="89"/>
                      <a:pt x="1890" y="96"/>
                      <a:pt x="1908" y="102"/>
                    </a:cubicBezTo>
                    <a:cubicBezTo>
                      <a:pt x="1931" y="125"/>
                      <a:pt x="1934" y="173"/>
                      <a:pt x="1938" y="204"/>
                    </a:cubicBezTo>
                    <a:cubicBezTo>
                      <a:pt x="1939" y="223"/>
                      <a:pt x="1925" y="250"/>
                      <a:pt x="1941" y="261"/>
                    </a:cubicBezTo>
                    <a:cubicBezTo>
                      <a:pt x="1973" y="282"/>
                      <a:pt x="2017" y="263"/>
                      <a:pt x="2055" y="267"/>
                    </a:cubicBezTo>
                    <a:cubicBezTo>
                      <a:pt x="2082" y="279"/>
                      <a:pt x="2103" y="303"/>
                      <a:pt x="2106" y="336"/>
                    </a:cubicBezTo>
                    <a:cubicBezTo>
                      <a:pt x="2104" y="382"/>
                      <a:pt x="2099" y="426"/>
                      <a:pt x="2073" y="465"/>
                    </a:cubicBezTo>
                    <a:cubicBezTo>
                      <a:pt x="2074" y="492"/>
                      <a:pt x="2104" y="485"/>
                      <a:pt x="2109" y="498"/>
                    </a:cubicBezTo>
                    <a:cubicBezTo>
                      <a:pt x="2108" y="513"/>
                      <a:pt x="2108" y="528"/>
                      <a:pt x="2106" y="543"/>
                    </a:cubicBezTo>
                    <a:cubicBezTo>
                      <a:pt x="2099" y="562"/>
                      <a:pt x="2078" y="598"/>
                      <a:pt x="2067" y="612"/>
                    </a:cubicBezTo>
                    <a:cubicBezTo>
                      <a:pt x="2064" y="622"/>
                      <a:pt x="2048" y="623"/>
                      <a:pt x="2040" y="627"/>
                    </a:cubicBezTo>
                    <a:cubicBezTo>
                      <a:pt x="2020" y="636"/>
                      <a:pt x="2001" y="652"/>
                      <a:pt x="1980" y="657"/>
                    </a:cubicBezTo>
                    <a:cubicBezTo>
                      <a:pt x="1966" y="660"/>
                      <a:pt x="1952" y="660"/>
                      <a:pt x="1938" y="663"/>
                    </a:cubicBezTo>
                    <a:cubicBezTo>
                      <a:pt x="1611" y="685"/>
                      <a:pt x="337" y="782"/>
                      <a:pt x="18" y="789"/>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5613" name="Freeform 15"/>
              <p:cNvSpPr>
                <a:spLocks/>
              </p:cNvSpPr>
              <p:nvPr/>
            </p:nvSpPr>
            <p:spPr bwMode="auto">
              <a:xfrm>
                <a:off x="1824" y="1232"/>
                <a:ext cx="976" cy="416"/>
              </a:xfrm>
              <a:custGeom>
                <a:avLst/>
                <a:gdLst>
                  <a:gd name="T0" fmla="*/ 31 w 976"/>
                  <a:gd name="T1" fmla="*/ 288 h 416"/>
                  <a:gd name="T2" fmla="*/ 10 w 976"/>
                  <a:gd name="T3" fmla="*/ 255 h 416"/>
                  <a:gd name="T4" fmla="*/ 7 w 976"/>
                  <a:gd name="T5" fmla="*/ 210 h 416"/>
                  <a:gd name="T6" fmla="*/ 100 w 976"/>
                  <a:gd name="T7" fmla="*/ 171 h 416"/>
                  <a:gd name="T8" fmla="*/ 130 w 976"/>
                  <a:gd name="T9" fmla="*/ 135 h 416"/>
                  <a:gd name="T10" fmla="*/ 148 w 976"/>
                  <a:gd name="T11" fmla="*/ 84 h 416"/>
                  <a:gd name="T12" fmla="*/ 196 w 976"/>
                  <a:gd name="T13" fmla="*/ 30 h 416"/>
                  <a:gd name="T14" fmla="*/ 229 w 976"/>
                  <a:gd name="T15" fmla="*/ 21 h 416"/>
                  <a:gd name="T16" fmla="*/ 334 w 976"/>
                  <a:gd name="T17" fmla="*/ 63 h 416"/>
                  <a:gd name="T18" fmla="*/ 442 w 976"/>
                  <a:gd name="T19" fmla="*/ 54 h 416"/>
                  <a:gd name="T20" fmla="*/ 478 w 976"/>
                  <a:gd name="T21" fmla="*/ 33 h 416"/>
                  <a:gd name="T22" fmla="*/ 553 w 976"/>
                  <a:gd name="T23" fmla="*/ 0 h 416"/>
                  <a:gd name="T24" fmla="*/ 589 w 976"/>
                  <a:gd name="T25" fmla="*/ 30 h 416"/>
                  <a:gd name="T26" fmla="*/ 685 w 976"/>
                  <a:gd name="T27" fmla="*/ 81 h 416"/>
                  <a:gd name="T28" fmla="*/ 724 w 976"/>
                  <a:gd name="T29" fmla="*/ 159 h 416"/>
                  <a:gd name="T30" fmla="*/ 769 w 976"/>
                  <a:gd name="T31" fmla="*/ 132 h 416"/>
                  <a:gd name="T32" fmla="*/ 829 w 976"/>
                  <a:gd name="T33" fmla="*/ 144 h 416"/>
                  <a:gd name="T34" fmla="*/ 871 w 976"/>
                  <a:gd name="T35" fmla="*/ 156 h 416"/>
                  <a:gd name="T36" fmla="*/ 898 w 976"/>
                  <a:gd name="T37" fmla="*/ 198 h 416"/>
                  <a:gd name="T38" fmla="*/ 922 w 976"/>
                  <a:gd name="T39" fmla="*/ 231 h 416"/>
                  <a:gd name="T40" fmla="*/ 949 w 976"/>
                  <a:gd name="T41" fmla="*/ 240 h 416"/>
                  <a:gd name="T42" fmla="*/ 958 w 976"/>
                  <a:gd name="T43" fmla="*/ 291 h 416"/>
                  <a:gd name="T44" fmla="*/ 973 w 976"/>
                  <a:gd name="T45" fmla="*/ 327 h 416"/>
                  <a:gd name="T46" fmla="*/ 970 w 976"/>
                  <a:gd name="T47" fmla="*/ 414 h 416"/>
                  <a:gd name="T48" fmla="*/ 55 w 976"/>
                  <a:gd name="T49" fmla="*/ 339 h 41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76"/>
                  <a:gd name="T76" fmla="*/ 0 h 416"/>
                  <a:gd name="T77" fmla="*/ 976 w 976"/>
                  <a:gd name="T78" fmla="*/ 416 h 41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76" h="416">
                    <a:moveTo>
                      <a:pt x="31" y="288"/>
                    </a:moveTo>
                    <a:cubicBezTo>
                      <a:pt x="23" y="277"/>
                      <a:pt x="16" y="267"/>
                      <a:pt x="10" y="255"/>
                    </a:cubicBezTo>
                    <a:cubicBezTo>
                      <a:pt x="7" y="240"/>
                      <a:pt x="0" y="225"/>
                      <a:pt x="7" y="210"/>
                    </a:cubicBezTo>
                    <a:cubicBezTo>
                      <a:pt x="20" y="180"/>
                      <a:pt x="75" y="173"/>
                      <a:pt x="100" y="171"/>
                    </a:cubicBezTo>
                    <a:cubicBezTo>
                      <a:pt x="120" y="159"/>
                      <a:pt x="122" y="149"/>
                      <a:pt x="130" y="135"/>
                    </a:cubicBezTo>
                    <a:cubicBezTo>
                      <a:pt x="132" y="106"/>
                      <a:pt x="127" y="98"/>
                      <a:pt x="148" y="84"/>
                    </a:cubicBezTo>
                    <a:cubicBezTo>
                      <a:pt x="158" y="63"/>
                      <a:pt x="174" y="41"/>
                      <a:pt x="196" y="30"/>
                    </a:cubicBezTo>
                    <a:cubicBezTo>
                      <a:pt x="206" y="25"/>
                      <a:pt x="229" y="21"/>
                      <a:pt x="229" y="21"/>
                    </a:cubicBezTo>
                    <a:cubicBezTo>
                      <a:pt x="252" y="27"/>
                      <a:pt x="299" y="58"/>
                      <a:pt x="334" y="63"/>
                    </a:cubicBezTo>
                    <a:cubicBezTo>
                      <a:pt x="366" y="84"/>
                      <a:pt x="410" y="70"/>
                      <a:pt x="442" y="54"/>
                    </a:cubicBezTo>
                    <a:cubicBezTo>
                      <a:pt x="451" y="40"/>
                      <a:pt x="462" y="38"/>
                      <a:pt x="478" y="33"/>
                    </a:cubicBezTo>
                    <a:cubicBezTo>
                      <a:pt x="504" y="24"/>
                      <a:pt x="525" y="7"/>
                      <a:pt x="553" y="0"/>
                    </a:cubicBezTo>
                    <a:cubicBezTo>
                      <a:pt x="567" y="9"/>
                      <a:pt x="572" y="24"/>
                      <a:pt x="589" y="30"/>
                    </a:cubicBezTo>
                    <a:cubicBezTo>
                      <a:pt x="646" y="22"/>
                      <a:pt x="641" y="66"/>
                      <a:pt x="685" y="81"/>
                    </a:cubicBezTo>
                    <a:cubicBezTo>
                      <a:pt x="710" y="100"/>
                      <a:pt x="702" y="152"/>
                      <a:pt x="724" y="159"/>
                    </a:cubicBezTo>
                    <a:cubicBezTo>
                      <a:pt x="738" y="167"/>
                      <a:pt x="752" y="134"/>
                      <a:pt x="769" y="132"/>
                    </a:cubicBezTo>
                    <a:cubicBezTo>
                      <a:pt x="788" y="145"/>
                      <a:pt x="805" y="142"/>
                      <a:pt x="829" y="144"/>
                    </a:cubicBezTo>
                    <a:cubicBezTo>
                      <a:pt x="843" y="149"/>
                      <a:pt x="857" y="152"/>
                      <a:pt x="871" y="156"/>
                    </a:cubicBezTo>
                    <a:cubicBezTo>
                      <a:pt x="875" y="185"/>
                      <a:pt x="876" y="183"/>
                      <a:pt x="898" y="198"/>
                    </a:cubicBezTo>
                    <a:cubicBezTo>
                      <a:pt x="902" y="211"/>
                      <a:pt x="909" y="225"/>
                      <a:pt x="922" y="231"/>
                    </a:cubicBezTo>
                    <a:cubicBezTo>
                      <a:pt x="930" y="238"/>
                      <a:pt x="943" y="230"/>
                      <a:pt x="949" y="240"/>
                    </a:cubicBezTo>
                    <a:cubicBezTo>
                      <a:pt x="963" y="262"/>
                      <a:pt x="952" y="242"/>
                      <a:pt x="958" y="291"/>
                    </a:cubicBezTo>
                    <a:cubicBezTo>
                      <a:pt x="962" y="305"/>
                      <a:pt x="971" y="307"/>
                      <a:pt x="973" y="327"/>
                    </a:cubicBezTo>
                    <a:cubicBezTo>
                      <a:pt x="972" y="356"/>
                      <a:pt x="976" y="386"/>
                      <a:pt x="970" y="414"/>
                    </a:cubicBezTo>
                    <a:cubicBezTo>
                      <a:pt x="817" y="416"/>
                      <a:pt x="207" y="351"/>
                      <a:pt x="55" y="339"/>
                    </a:cubicBezTo>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5614" name="Freeform 16"/>
              <p:cNvSpPr>
                <a:spLocks/>
              </p:cNvSpPr>
              <p:nvPr/>
            </p:nvSpPr>
            <p:spPr bwMode="auto">
              <a:xfrm>
                <a:off x="2592" y="1184"/>
                <a:ext cx="1169" cy="449"/>
              </a:xfrm>
              <a:custGeom>
                <a:avLst/>
                <a:gdLst>
                  <a:gd name="T0" fmla="*/ 0 w 1169"/>
                  <a:gd name="T1" fmla="*/ 423 h 449"/>
                  <a:gd name="T2" fmla="*/ 48 w 1169"/>
                  <a:gd name="T3" fmla="*/ 327 h 449"/>
                  <a:gd name="T4" fmla="*/ 63 w 1169"/>
                  <a:gd name="T5" fmla="*/ 324 h 449"/>
                  <a:gd name="T6" fmla="*/ 99 w 1169"/>
                  <a:gd name="T7" fmla="*/ 276 h 449"/>
                  <a:gd name="T8" fmla="*/ 123 w 1169"/>
                  <a:gd name="T9" fmla="*/ 249 h 449"/>
                  <a:gd name="T10" fmla="*/ 162 w 1169"/>
                  <a:gd name="T11" fmla="*/ 216 h 449"/>
                  <a:gd name="T12" fmla="*/ 225 w 1169"/>
                  <a:gd name="T13" fmla="*/ 201 h 449"/>
                  <a:gd name="T14" fmla="*/ 309 w 1169"/>
                  <a:gd name="T15" fmla="*/ 201 h 449"/>
                  <a:gd name="T16" fmla="*/ 276 w 1169"/>
                  <a:gd name="T17" fmla="*/ 171 h 449"/>
                  <a:gd name="T18" fmla="*/ 330 w 1169"/>
                  <a:gd name="T19" fmla="*/ 117 h 449"/>
                  <a:gd name="T20" fmla="*/ 372 w 1169"/>
                  <a:gd name="T21" fmla="*/ 108 h 449"/>
                  <a:gd name="T22" fmla="*/ 402 w 1169"/>
                  <a:gd name="T23" fmla="*/ 102 h 449"/>
                  <a:gd name="T24" fmla="*/ 444 w 1169"/>
                  <a:gd name="T25" fmla="*/ 138 h 449"/>
                  <a:gd name="T26" fmla="*/ 462 w 1169"/>
                  <a:gd name="T27" fmla="*/ 141 h 449"/>
                  <a:gd name="T28" fmla="*/ 525 w 1169"/>
                  <a:gd name="T29" fmla="*/ 174 h 449"/>
                  <a:gd name="T30" fmla="*/ 612 w 1169"/>
                  <a:gd name="T31" fmla="*/ 120 h 449"/>
                  <a:gd name="T32" fmla="*/ 597 w 1169"/>
                  <a:gd name="T33" fmla="*/ 93 h 449"/>
                  <a:gd name="T34" fmla="*/ 648 w 1169"/>
                  <a:gd name="T35" fmla="*/ 60 h 449"/>
                  <a:gd name="T36" fmla="*/ 768 w 1169"/>
                  <a:gd name="T37" fmla="*/ 0 h 449"/>
                  <a:gd name="T38" fmla="*/ 903 w 1169"/>
                  <a:gd name="T39" fmla="*/ 15 h 449"/>
                  <a:gd name="T40" fmla="*/ 924 w 1169"/>
                  <a:gd name="T41" fmla="*/ 24 h 449"/>
                  <a:gd name="T42" fmla="*/ 927 w 1169"/>
                  <a:gd name="T43" fmla="*/ 15 h 449"/>
                  <a:gd name="T44" fmla="*/ 936 w 1169"/>
                  <a:gd name="T45" fmla="*/ 12 h 449"/>
                  <a:gd name="T46" fmla="*/ 978 w 1169"/>
                  <a:gd name="T47" fmla="*/ 99 h 449"/>
                  <a:gd name="T48" fmla="*/ 1032 w 1169"/>
                  <a:gd name="T49" fmla="*/ 165 h 449"/>
                  <a:gd name="T50" fmla="*/ 1086 w 1169"/>
                  <a:gd name="T51" fmla="*/ 186 h 449"/>
                  <a:gd name="T52" fmla="*/ 1161 w 1169"/>
                  <a:gd name="T53" fmla="*/ 255 h 449"/>
                  <a:gd name="T54" fmla="*/ 1143 w 1169"/>
                  <a:gd name="T55" fmla="*/ 288 h 449"/>
                  <a:gd name="T56" fmla="*/ 1167 w 1169"/>
                  <a:gd name="T57" fmla="*/ 393 h 449"/>
                  <a:gd name="T58" fmla="*/ 1074 w 1169"/>
                  <a:gd name="T59" fmla="*/ 441 h 449"/>
                  <a:gd name="T60" fmla="*/ 0 w 1169"/>
                  <a:gd name="T61" fmla="*/ 423 h 4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169"/>
                  <a:gd name="T94" fmla="*/ 0 h 449"/>
                  <a:gd name="T95" fmla="*/ 1169 w 1169"/>
                  <a:gd name="T96" fmla="*/ 449 h 44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169" h="449">
                    <a:moveTo>
                      <a:pt x="0" y="423"/>
                    </a:moveTo>
                    <a:cubicBezTo>
                      <a:pt x="16" y="391"/>
                      <a:pt x="28" y="357"/>
                      <a:pt x="48" y="327"/>
                    </a:cubicBezTo>
                    <a:cubicBezTo>
                      <a:pt x="83" y="275"/>
                      <a:pt x="45" y="379"/>
                      <a:pt x="63" y="324"/>
                    </a:cubicBezTo>
                    <a:cubicBezTo>
                      <a:pt x="68" y="272"/>
                      <a:pt x="67" y="297"/>
                      <a:pt x="99" y="276"/>
                    </a:cubicBezTo>
                    <a:cubicBezTo>
                      <a:pt x="109" y="264"/>
                      <a:pt x="112" y="259"/>
                      <a:pt x="123" y="249"/>
                    </a:cubicBezTo>
                    <a:cubicBezTo>
                      <a:pt x="137" y="239"/>
                      <a:pt x="150" y="228"/>
                      <a:pt x="162" y="216"/>
                    </a:cubicBezTo>
                    <a:cubicBezTo>
                      <a:pt x="121" y="188"/>
                      <a:pt x="114" y="197"/>
                      <a:pt x="225" y="201"/>
                    </a:cubicBezTo>
                    <a:cubicBezTo>
                      <a:pt x="257" y="209"/>
                      <a:pt x="252" y="209"/>
                      <a:pt x="309" y="201"/>
                    </a:cubicBezTo>
                    <a:cubicBezTo>
                      <a:pt x="317" y="196"/>
                      <a:pt x="272" y="185"/>
                      <a:pt x="276" y="171"/>
                    </a:cubicBezTo>
                    <a:cubicBezTo>
                      <a:pt x="276" y="110"/>
                      <a:pt x="281" y="122"/>
                      <a:pt x="330" y="117"/>
                    </a:cubicBezTo>
                    <a:cubicBezTo>
                      <a:pt x="345" y="115"/>
                      <a:pt x="358" y="113"/>
                      <a:pt x="372" y="108"/>
                    </a:cubicBezTo>
                    <a:cubicBezTo>
                      <a:pt x="381" y="101"/>
                      <a:pt x="389" y="91"/>
                      <a:pt x="402" y="102"/>
                    </a:cubicBezTo>
                    <a:cubicBezTo>
                      <a:pt x="431" y="126"/>
                      <a:pt x="410" y="132"/>
                      <a:pt x="444" y="138"/>
                    </a:cubicBezTo>
                    <a:cubicBezTo>
                      <a:pt x="450" y="139"/>
                      <a:pt x="456" y="140"/>
                      <a:pt x="462" y="141"/>
                    </a:cubicBezTo>
                    <a:cubicBezTo>
                      <a:pt x="476" y="147"/>
                      <a:pt x="500" y="177"/>
                      <a:pt x="525" y="174"/>
                    </a:cubicBezTo>
                    <a:cubicBezTo>
                      <a:pt x="560" y="170"/>
                      <a:pt x="595" y="153"/>
                      <a:pt x="612" y="120"/>
                    </a:cubicBezTo>
                    <a:cubicBezTo>
                      <a:pt x="608" y="106"/>
                      <a:pt x="601" y="106"/>
                      <a:pt x="597" y="93"/>
                    </a:cubicBezTo>
                    <a:cubicBezTo>
                      <a:pt x="602" y="62"/>
                      <a:pt x="622" y="69"/>
                      <a:pt x="648" y="60"/>
                    </a:cubicBezTo>
                    <a:cubicBezTo>
                      <a:pt x="685" y="23"/>
                      <a:pt x="715" y="5"/>
                      <a:pt x="768" y="0"/>
                    </a:cubicBezTo>
                    <a:cubicBezTo>
                      <a:pt x="826" y="2"/>
                      <a:pt x="852" y="10"/>
                      <a:pt x="903" y="15"/>
                    </a:cubicBezTo>
                    <a:cubicBezTo>
                      <a:pt x="910" y="18"/>
                      <a:pt x="917" y="27"/>
                      <a:pt x="924" y="24"/>
                    </a:cubicBezTo>
                    <a:cubicBezTo>
                      <a:pt x="927" y="23"/>
                      <a:pt x="924" y="16"/>
                      <a:pt x="927" y="15"/>
                    </a:cubicBezTo>
                    <a:cubicBezTo>
                      <a:pt x="930" y="14"/>
                      <a:pt x="933" y="13"/>
                      <a:pt x="936" y="12"/>
                    </a:cubicBezTo>
                    <a:cubicBezTo>
                      <a:pt x="959" y="35"/>
                      <a:pt x="970" y="68"/>
                      <a:pt x="978" y="99"/>
                    </a:cubicBezTo>
                    <a:cubicBezTo>
                      <a:pt x="982" y="152"/>
                      <a:pt x="985" y="151"/>
                      <a:pt x="1032" y="165"/>
                    </a:cubicBezTo>
                    <a:cubicBezTo>
                      <a:pt x="1050" y="179"/>
                      <a:pt x="1065" y="171"/>
                      <a:pt x="1086" y="186"/>
                    </a:cubicBezTo>
                    <a:cubicBezTo>
                      <a:pt x="1105" y="214"/>
                      <a:pt x="1139" y="228"/>
                      <a:pt x="1161" y="255"/>
                    </a:cubicBezTo>
                    <a:cubicBezTo>
                      <a:pt x="1169" y="286"/>
                      <a:pt x="1169" y="271"/>
                      <a:pt x="1143" y="288"/>
                    </a:cubicBezTo>
                    <a:cubicBezTo>
                      <a:pt x="1131" y="324"/>
                      <a:pt x="1151" y="361"/>
                      <a:pt x="1167" y="393"/>
                    </a:cubicBezTo>
                    <a:cubicBezTo>
                      <a:pt x="1161" y="449"/>
                      <a:pt x="1133" y="439"/>
                      <a:pt x="1074" y="441"/>
                    </a:cubicBezTo>
                    <a:cubicBezTo>
                      <a:pt x="880" y="446"/>
                      <a:pt x="171" y="442"/>
                      <a:pt x="0" y="423"/>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5615" name="Freeform 17"/>
              <p:cNvSpPr>
                <a:spLocks/>
              </p:cNvSpPr>
              <p:nvPr/>
            </p:nvSpPr>
            <p:spPr bwMode="auto">
              <a:xfrm>
                <a:off x="1584" y="1344"/>
                <a:ext cx="2224" cy="453"/>
              </a:xfrm>
              <a:custGeom>
                <a:avLst/>
                <a:gdLst>
                  <a:gd name="T0" fmla="*/ 118 w 2224"/>
                  <a:gd name="T1" fmla="*/ 75 h 453"/>
                  <a:gd name="T2" fmla="*/ 214 w 2224"/>
                  <a:gd name="T3" fmla="*/ 96 h 453"/>
                  <a:gd name="T4" fmla="*/ 322 w 2224"/>
                  <a:gd name="T5" fmla="*/ 18 h 453"/>
                  <a:gd name="T6" fmla="*/ 367 w 2224"/>
                  <a:gd name="T7" fmla="*/ 84 h 453"/>
                  <a:gd name="T8" fmla="*/ 520 w 2224"/>
                  <a:gd name="T9" fmla="*/ 93 h 453"/>
                  <a:gd name="T10" fmla="*/ 574 w 2224"/>
                  <a:gd name="T11" fmla="*/ 153 h 453"/>
                  <a:gd name="T12" fmla="*/ 721 w 2224"/>
                  <a:gd name="T13" fmla="*/ 159 h 453"/>
                  <a:gd name="T14" fmla="*/ 817 w 2224"/>
                  <a:gd name="T15" fmla="*/ 126 h 453"/>
                  <a:gd name="T16" fmla="*/ 958 w 2224"/>
                  <a:gd name="T17" fmla="*/ 207 h 453"/>
                  <a:gd name="T18" fmla="*/ 1231 w 2224"/>
                  <a:gd name="T19" fmla="*/ 255 h 453"/>
                  <a:gd name="T20" fmla="*/ 1318 w 2224"/>
                  <a:gd name="T21" fmla="*/ 213 h 453"/>
                  <a:gd name="T22" fmla="*/ 1384 w 2224"/>
                  <a:gd name="T23" fmla="*/ 219 h 453"/>
                  <a:gd name="T24" fmla="*/ 1459 w 2224"/>
                  <a:gd name="T25" fmla="*/ 192 h 453"/>
                  <a:gd name="T26" fmla="*/ 1495 w 2224"/>
                  <a:gd name="T27" fmla="*/ 144 h 453"/>
                  <a:gd name="T28" fmla="*/ 1600 w 2224"/>
                  <a:gd name="T29" fmla="*/ 102 h 453"/>
                  <a:gd name="T30" fmla="*/ 1714 w 2224"/>
                  <a:gd name="T31" fmla="*/ 165 h 453"/>
                  <a:gd name="T32" fmla="*/ 1786 w 2224"/>
                  <a:gd name="T33" fmla="*/ 147 h 453"/>
                  <a:gd name="T34" fmla="*/ 1801 w 2224"/>
                  <a:gd name="T35" fmla="*/ 45 h 453"/>
                  <a:gd name="T36" fmla="*/ 1864 w 2224"/>
                  <a:gd name="T37" fmla="*/ 42 h 453"/>
                  <a:gd name="T38" fmla="*/ 1954 w 2224"/>
                  <a:gd name="T39" fmla="*/ 153 h 453"/>
                  <a:gd name="T40" fmla="*/ 2170 w 2224"/>
                  <a:gd name="T41" fmla="*/ 168 h 453"/>
                  <a:gd name="T42" fmla="*/ 2167 w 2224"/>
                  <a:gd name="T43" fmla="*/ 252 h 453"/>
                  <a:gd name="T44" fmla="*/ 2086 w 2224"/>
                  <a:gd name="T45" fmla="*/ 300 h 453"/>
                  <a:gd name="T46" fmla="*/ 1876 w 2224"/>
                  <a:gd name="T47" fmla="*/ 381 h 453"/>
                  <a:gd name="T48" fmla="*/ 1642 w 2224"/>
                  <a:gd name="T49" fmla="*/ 381 h 453"/>
                  <a:gd name="T50" fmla="*/ 1390 w 2224"/>
                  <a:gd name="T51" fmla="*/ 387 h 453"/>
                  <a:gd name="T52" fmla="*/ 1231 w 2224"/>
                  <a:gd name="T53" fmla="*/ 390 h 453"/>
                  <a:gd name="T54" fmla="*/ 976 w 2224"/>
                  <a:gd name="T55" fmla="*/ 408 h 453"/>
                  <a:gd name="T56" fmla="*/ 847 w 2224"/>
                  <a:gd name="T57" fmla="*/ 435 h 453"/>
                  <a:gd name="T58" fmla="*/ 685 w 2224"/>
                  <a:gd name="T59" fmla="*/ 450 h 453"/>
                  <a:gd name="T60" fmla="*/ 550 w 2224"/>
                  <a:gd name="T61" fmla="*/ 378 h 453"/>
                  <a:gd name="T62" fmla="*/ 388 w 2224"/>
                  <a:gd name="T63" fmla="*/ 297 h 453"/>
                  <a:gd name="T64" fmla="*/ 274 w 2224"/>
                  <a:gd name="T65" fmla="*/ 228 h 453"/>
                  <a:gd name="T66" fmla="*/ 133 w 2224"/>
                  <a:gd name="T67" fmla="*/ 192 h 453"/>
                  <a:gd name="T68" fmla="*/ 10 w 2224"/>
                  <a:gd name="T69" fmla="*/ 180 h 453"/>
                  <a:gd name="T70" fmla="*/ 52 w 2224"/>
                  <a:gd name="T71" fmla="*/ 135 h 45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224"/>
                  <a:gd name="T109" fmla="*/ 0 h 453"/>
                  <a:gd name="T110" fmla="*/ 2224 w 2224"/>
                  <a:gd name="T111" fmla="*/ 453 h 45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224" h="453">
                    <a:moveTo>
                      <a:pt x="52" y="135"/>
                    </a:moveTo>
                    <a:cubicBezTo>
                      <a:pt x="70" y="123"/>
                      <a:pt x="96" y="81"/>
                      <a:pt x="118" y="75"/>
                    </a:cubicBezTo>
                    <a:cubicBezTo>
                      <a:pt x="156" y="78"/>
                      <a:pt x="157" y="86"/>
                      <a:pt x="187" y="96"/>
                    </a:cubicBezTo>
                    <a:cubicBezTo>
                      <a:pt x="196" y="110"/>
                      <a:pt x="202" y="104"/>
                      <a:pt x="214" y="96"/>
                    </a:cubicBezTo>
                    <a:cubicBezTo>
                      <a:pt x="224" y="81"/>
                      <a:pt x="224" y="58"/>
                      <a:pt x="235" y="45"/>
                    </a:cubicBezTo>
                    <a:cubicBezTo>
                      <a:pt x="249" y="27"/>
                      <a:pt x="301" y="20"/>
                      <a:pt x="322" y="18"/>
                    </a:cubicBezTo>
                    <a:cubicBezTo>
                      <a:pt x="344" y="11"/>
                      <a:pt x="361" y="0"/>
                      <a:pt x="370" y="0"/>
                    </a:cubicBezTo>
                    <a:cubicBezTo>
                      <a:pt x="377" y="11"/>
                      <a:pt x="348" y="72"/>
                      <a:pt x="367" y="84"/>
                    </a:cubicBezTo>
                    <a:cubicBezTo>
                      <a:pt x="414" y="81"/>
                      <a:pt x="448" y="79"/>
                      <a:pt x="484" y="72"/>
                    </a:cubicBezTo>
                    <a:cubicBezTo>
                      <a:pt x="509" y="73"/>
                      <a:pt x="517" y="83"/>
                      <a:pt x="520" y="93"/>
                    </a:cubicBezTo>
                    <a:cubicBezTo>
                      <a:pt x="524" y="108"/>
                      <a:pt x="501" y="121"/>
                      <a:pt x="505" y="135"/>
                    </a:cubicBezTo>
                    <a:cubicBezTo>
                      <a:pt x="508" y="144"/>
                      <a:pt x="564" y="151"/>
                      <a:pt x="574" y="153"/>
                    </a:cubicBezTo>
                    <a:cubicBezTo>
                      <a:pt x="598" y="155"/>
                      <a:pt x="628" y="146"/>
                      <a:pt x="652" y="147"/>
                    </a:cubicBezTo>
                    <a:cubicBezTo>
                      <a:pt x="672" y="140"/>
                      <a:pt x="703" y="163"/>
                      <a:pt x="721" y="159"/>
                    </a:cubicBezTo>
                    <a:cubicBezTo>
                      <a:pt x="733" y="160"/>
                      <a:pt x="745" y="165"/>
                      <a:pt x="757" y="165"/>
                    </a:cubicBezTo>
                    <a:cubicBezTo>
                      <a:pt x="778" y="165"/>
                      <a:pt x="797" y="130"/>
                      <a:pt x="817" y="126"/>
                    </a:cubicBezTo>
                    <a:cubicBezTo>
                      <a:pt x="886" y="99"/>
                      <a:pt x="853" y="77"/>
                      <a:pt x="904" y="60"/>
                    </a:cubicBezTo>
                    <a:cubicBezTo>
                      <a:pt x="929" y="66"/>
                      <a:pt x="964" y="117"/>
                      <a:pt x="958" y="207"/>
                    </a:cubicBezTo>
                    <a:cubicBezTo>
                      <a:pt x="1054" y="63"/>
                      <a:pt x="1057" y="250"/>
                      <a:pt x="1198" y="180"/>
                    </a:cubicBezTo>
                    <a:cubicBezTo>
                      <a:pt x="1242" y="195"/>
                      <a:pt x="1216" y="246"/>
                      <a:pt x="1231" y="255"/>
                    </a:cubicBezTo>
                    <a:cubicBezTo>
                      <a:pt x="1249" y="244"/>
                      <a:pt x="1267" y="236"/>
                      <a:pt x="1288" y="231"/>
                    </a:cubicBezTo>
                    <a:cubicBezTo>
                      <a:pt x="1298" y="223"/>
                      <a:pt x="1308" y="220"/>
                      <a:pt x="1318" y="213"/>
                    </a:cubicBezTo>
                    <a:cubicBezTo>
                      <a:pt x="1328" y="198"/>
                      <a:pt x="1343" y="177"/>
                      <a:pt x="1360" y="171"/>
                    </a:cubicBezTo>
                    <a:cubicBezTo>
                      <a:pt x="1371" y="187"/>
                      <a:pt x="1367" y="208"/>
                      <a:pt x="1384" y="219"/>
                    </a:cubicBezTo>
                    <a:cubicBezTo>
                      <a:pt x="1401" y="218"/>
                      <a:pt x="1418" y="219"/>
                      <a:pt x="1435" y="216"/>
                    </a:cubicBezTo>
                    <a:cubicBezTo>
                      <a:pt x="1447" y="214"/>
                      <a:pt x="1446" y="195"/>
                      <a:pt x="1459" y="192"/>
                    </a:cubicBezTo>
                    <a:cubicBezTo>
                      <a:pt x="1470" y="190"/>
                      <a:pt x="1481" y="190"/>
                      <a:pt x="1492" y="189"/>
                    </a:cubicBezTo>
                    <a:cubicBezTo>
                      <a:pt x="1493" y="174"/>
                      <a:pt x="1497" y="159"/>
                      <a:pt x="1495" y="144"/>
                    </a:cubicBezTo>
                    <a:cubicBezTo>
                      <a:pt x="1506" y="129"/>
                      <a:pt x="1543" y="106"/>
                      <a:pt x="1561" y="99"/>
                    </a:cubicBezTo>
                    <a:cubicBezTo>
                      <a:pt x="1574" y="100"/>
                      <a:pt x="1587" y="99"/>
                      <a:pt x="1600" y="102"/>
                    </a:cubicBezTo>
                    <a:cubicBezTo>
                      <a:pt x="1614" y="106"/>
                      <a:pt x="1620" y="133"/>
                      <a:pt x="1633" y="141"/>
                    </a:cubicBezTo>
                    <a:cubicBezTo>
                      <a:pt x="1656" y="154"/>
                      <a:pt x="1687" y="161"/>
                      <a:pt x="1714" y="165"/>
                    </a:cubicBezTo>
                    <a:cubicBezTo>
                      <a:pt x="1733" y="164"/>
                      <a:pt x="1752" y="165"/>
                      <a:pt x="1771" y="162"/>
                    </a:cubicBezTo>
                    <a:cubicBezTo>
                      <a:pt x="1781" y="161"/>
                      <a:pt x="1780" y="152"/>
                      <a:pt x="1786" y="147"/>
                    </a:cubicBezTo>
                    <a:cubicBezTo>
                      <a:pt x="1791" y="142"/>
                      <a:pt x="1804" y="135"/>
                      <a:pt x="1804" y="135"/>
                    </a:cubicBezTo>
                    <a:cubicBezTo>
                      <a:pt x="1803" y="105"/>
                      <a:pt x="1801" y="75"/>
                      <a:pt x="1801" y="45"/>
                    </a:cubicBezTo>
                    <a:cubicBezTo>
                      <a:pt x="1801" y="37"/>
                      <a:pt x="1798" y="26"/>
                      <a:pt x="1804" y="21"/>
                    </a:cubicBezTo>
                    <a:cubicBezTo>
                      <a:pt x="1804" y="21"/>
                      <a:pt x="1854" y="34"/>
                      <a:pt x="1864" y="42"/>
                    </a:cubicBezTo>
                    <a:cubicBezTo>
                      <a:pt x="1883" y="57"/>
                      <a:pt x="1916" y="91"/>
                      <a:pt x="1924" y="114"/>
                    </a:cubicBezTo>
                    <a:cubicBezTo>
                      <a:pt x="1929" y="130"/>
                      <a:pt x="1939" y="144"/>
                      <a:pt x="1954" y="153"/>
                    </a:cubicBezTo>
                    <a:cubicBezTo>
                      <a:pt x="1975" y="166"/>
                      <a:pt x="1994" y="163"/>
                      <a:pt x="2020" y="165"/>
                    </a:cubicBezTo>
                    <a:cubicBezTo>
                      <a:pt x="2062" y="193"/>
                      <a:pt x="2170" y="168"/>
                      <a:pt x="2170" y="168"/>
                    </a:cubicBezTo>
                    <a:cubicBezTo>
                      <a:pt x="2213" y="172"/>
                      <a:pt x="2214" y="180"/>
                      <a:pt x="2224" y="219"/>
                    </a:cubicBezTo>
                    <a:cubicBezTo>
                      <a:pt x="2218" y="237"/>
                      <a:pt x="2185" y="246"/>
                      <a:pt x="2167" y="252"/>
                    </a:cubicBezTo>
                    <a:cubicBezTo>
                      <a:pt x="2155" y="264"/>
                      <a:pt x="2141" y="274"/>
                      <a:pt x="2125" y="279"/>
                    </a:cubicBezTo>
                    <a:cubicBezTo>
                      <a:pt x="2097" y="300"/>
                      <a:pt x="2111" y="295"/>
                      <a:pt x="2086" y="300"/>
                    </a:cubicBezTo>
                    <a:cubicBezTo>
                      <a:pt x="2060" y="317"/>
                      <a:pt x="2026" y="354"/>
                      <a:pt x="1996" y="357"/>
                    </a:cubicBezTo>
                    <a:cubicBezTo>
                      <a:pt x="1956" y="370"/>
                      <a:pt x="1917" y="373"/>
                      <a:pt x="1876" y="381"/>
                    </a:cubicBezTo>
                    <a:cubicBezTo>
                      <a:pt x="1833" y="410"/>
                      <a:pt x="1761" y="378"/>
                      <a:pt x="1711" y="390"/>
                    </a:cubicBezTo>
                    <a:cubicBezTo>
                      <a:pt x="1650" y="384"/>
                      <a:pt x="1673" y="389"/>
                      <a:pt x="1642" y="381"/>
                    </a:cubicBezTo>
                    <a:cubicBezTo>
                      <a:pt x="1610" y="361"/>
                      <a:pt x="1609" y="366"/>
                      <a:pt x="1573" y="354"/>
                    </a:cubicBezTo>
                    <a:cubicBezTo>
                      <a:pt x="1552" y="417"/>
                      <a:pt x="1441" y="385"/>
                      <a:pt x="1390" y="387"/>
                    </a:cubicBezTo>
                    <a:cubicBezTo>
                      <a:pt x="1344" y="384"/>
                      <a:pt x="1321" y="340"/>
                      <a:pt x="1294" y="336"/>
                    </a:cubicBezTo>
                    <a:cubicBezTo>
                      <a:pt x="1268" y="340"/>
                      <a:pt x="1254" y="379"/>
                      <a:pt x="1231" y="390"/>
                    </a:cubicBezTo>
                    <a:cubicBezTo>
                      <a:pt x="1200" y="405"/>
                      <a:pt x="1154" y="386"/>
                      <a:pt x="1120" y="396"/>
                    </a:cubicBezTo>
                    <a:cubicBezTo>
                      <a:pt x="1075" y="409"/>
                      <a:pt x="1020" y="406"/>
                      <a:pt x="976" y="408"/>
                    </a:cubicBezTo>
                    <a:cubicBezTo>
                      <a:pt x="945" y="410"/>
                      <a:pt x="914" y="413"/>
                      <a:pt x="883" y="417"/>
                    </a:cubicBezTo>
                    <a:cubicBezTo>
                      <a:pt x="870" y="421"/>
                      <a:pt x="859" y="430"/>
                      <a:pt x="847" y="435"/>
                    </a:cubicBezTo>
                    <a:cubicBezTo>
                      <a:pt x="822" y="446"/>
                      <a:pt x="797" y="450"/>
                      <a:pt x="769" y="453"/>
                    </a:cubicBezTo>
                    <a:cubicBezTo>
                      <a:pt x="741" y="452"/>
                      <a:pt x="713" y="452"/>
                      <a:pt x="685" y="450"/>
                    </a:cubicBezTo>
                    <a:cubicBezTo>
                      <a:pt x="661" y="449"/>
                      <a:pt x="637" y="434"/>
                      <a:pt x="613" y="429"/>
                    </a:cubicBezTo>
                    <a:cubicBezTo>
                      <a:pt x="591" y="417"/>
                      <a:pt x="570" y="390"/>
                      <a:pt x="550" y="378"/>
                    </a:cubicBezTo>
                    <a:cubicBezTo>
                      <a:pt x="525" y="353"/>
                      <a:pt x="545" y="361"/>
                      <a:pt x="490" y="357"/>
                    </a:cubicBezTo>
                    <a:cubicBezTo>
                      <a:pt x="466" y="339"/>
                      <a:pt x="415" y="325"/>
                      <a:pt x="388" y="297"/>
                    </a:cubicBezTo>
                    <a:cubicBezTo>
                      <a:pt x="361" y="269"/>
                      <a:pt x="343" y="201"/>
                      <a:pt x="328" y="189"/>
                    </a:cubicBezTo>
                    <a:cubicBezTo>
                      <a:pt x="309" y="178"/>
                      <a:pt x="300" y="223"/>
                      <a:pt x="274" y="228"/>
                    </a:cubicBezTo>
                    <a:cubicBezTo>
                      <a:pt x="235" y="226"/>
                      <a:pt x="207" y="226"/>
                      <a:pt x="172" y="219"/>
                    </a:cubicBezTo>
                    <a:cubicBezTo>
                      <a:pt x="156" y="211"/>
                      <a:pt x="150" y="196"/>
                      <a:pt x="133" y="192"/>
                    </a:cubicBezTo>
                    <a:cubicBezTo>
                      <a:pt x="98" y="199"/>
                      <a:pt x="76" y="197"/>
                      <a:pt x="37" y="195"/>
                    </a:cubicBezTo>
                    <a:cubicBezTo>
                      <a:pt x="25" y="192"/>
                      <a:pt x="15" y="192"/>
                      <a:pt x="10" y="180"/>
                    </a:cubicBezTo>
                    <a:cubicBezTo>
                      <a:pt x="5" y="172"/>
                      <a:pt x="0" y="154"/>
                      <a:pt x="7" y="147"/>
                    </a:cubicBezTo>
                    <a:cubicBezTo>
                      <a:pt x="12" y="140"/>
                      <a:pt x="41" y="131"/>
                      <a:pt x="52" y="135"/>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5616" name="Freeform 18"/>
              <p:cNvSpPr>
                <a:spLocks/>
              </p:cNvSpPr>
              <p:nvPr/>
            </p:nvSpPr>
            <p:spPr bwMode="auto">
              <a:xfrm>
                <a:off x="1968" y="1136"/>
                <a:ext cx="415" cy="295"/>
              </a:xfrm>
              <a:custGeom>
                <a:avLst/>
                <a:gdLst>
                  <a:gd name="T0" fmla="*/ 73 w 415"/>
                  <a:gd name="T1" fmla="*/ 247 h 295"/>
                  <a:gd name="T2" fmla="*/ 13 w 415"/>
                  <a:gd name="T3" fmla="*/ 193 h 295"/>
                  <a:gd name="T4" fmla="*/ 58 w 415"/>
                  <a:gd name="T5" fmla="*/ 154 h 295"/>
                  <a:gd name="T6" fmla="*/ 82 w 415"/>
                  <a:gd name="T7" fmla="*/ 124 h 295"/>
                  <a:gd name="T8" fmla="*/ 163 w 415"/>
                  <a:gd name="T9" fmla="*/ 43 h 295"/>
                  <a:gd name="T10" fmla="*/ 196 w 415"/>
                  <a:gd name="T11" fmla="*/ 10 h 295"/>
                  <a:gd name="T12" fmla="*/ 235 w 415"/>
                  <a:gd name="T13" fmla="*/ 106 h 295"/>
                  <a:gd name="T14" fmla="*/ 349 w 415"/>
                  <a:gd name="T15" fmla="*/ 157 h 295"/>
                  <a:gd name="T16" fmla="*/ 397 w 415"/>
                  <a:gd name="T17" fmla="*/ 211 h 295"/>
                  <a:gd name="T18" fmla="*/ 241 w 415"/>
                  <a:gd name="T19" fmla="*/ 244 h 295"/>
                  <a:gd name="T20" fmla="*/ 145 w 415"/>
                  <a:gd name="T21" fmla="*/ 256 h 295"/>
                  <a:gd name="T22" fmla="*/ 73 w 415"/>
                  <a:gd name="T23" fmla="*/ 247 h 2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5"/>
                  <a:gd name="T37" fmla="*/ 0 h 295"/>
                  <a:gd name="T38" fmla="*/ 415 w 415"/>
                  <a:gd name="T39" fmla="*/ 295 h 2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5" h="295">
                    <a:moveTo>
                      <a:pt x="73" y="247"/>
                    </a:moveTo>
                    <a:cubicBezTo>
                      <a:pt x="51" y="237"/>
                      <a:pt x="15" y="208"/>
                      <a:pt x="13" y="193"/>
                    </a:cubicBezTo>
                    <a:cubicBezTo>
                      <a:pt x="0" y="154"/>
                      <a:pt x="23" y="158"/>
                      <a:pt x="58" y="154"/>
                    </a:cubicBezTo>
                    <a:cubicBezTo>
                      <a:pt x="65" y="143"/>
                      <a:pt x="73" y="133"/>
                      <a:pt x="82" y="124"/>
                    </a:cubicBezTo>
                    <a:cubicBezTo>
                      <a:pt x="93" y="92"/>
                      <a:pt x="133" y="56"/>
                      <a:pt x="163" y="43"/>
                    </a:cubicBezTo>
                    <a:cubicBezTo>
                      <a:pt x="182" y="24"/>
                      <a:pt x="184" y="0"/>
                      <a:pt x="196" y="10"/>
                    </a:cubicBezTo>
                    <a:cubicBezTo>
                      <a:pt x="228" y="31"/>
                      <a:pt x="209" y="80"/>
                      <a:pt x="235" y="106"/>
                    </a:cubicBezTo>
                    <a:cubicBezTo>
                      <a:pt x="265" y="136"/>
                      <a:pt x="311" y="142"/>
                      <a:pt x="349" y="157"/>
                    </a:cubicBezTo>
                    <a:cubicBezTo>
                      <a:pt x="376" y="175"/>
                      <a:pt x="415" y="197"/>
                      <a:pt x="397" y="211"/>
                    </a:cubicBezTo>
                    <a:cubicBezTo>
                      <a:pt x="409" y="295"/>
                      <a:pt x="363" y="246"/>
                      <a:pt x="241" y="244"/>
                    </a:cubicBezTo>
                    <a:cubicBezTo>
                      <a:pt x="199" y="251"/>
                      <a:pt x="173" y="255"/>
                      <a:pt x="145" y="256"/>
                    </a:cubicBezTo>
                    <a:cubicBezTo>
                      <a:pt x="118" y="254"/>
                      <a:pt x="99" y="250"/>
                      <a:pt x="73" y="247"/>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5617" name="Freeform 19"/>
              <p:cNvSpPr>
                <a:spLocks/>
              </p:cNvSpPr>
              <p:nvPr/>
            </p:nvSpPr>
            <p:spPr bwMode="auto">
              <a:xfrm>
                <a:off x="2476" y="1104"/>
                <a:ext cx="905" cy="292"/>
              </a:xfrm>
              <a:custGeom>
                <a:avLst/>
                <a:gdLst>
                  <a:gd name="T0" fmla="*/ 71 w 905"/>
                  <a:gd name="T1" fmla="*/ 278 h 292"/>
                  <a:gd name="T2" fmla="*/ 173 w 905"/>
                  <a:gd name="T3" fmla="*/ 278 h 292"/>
                  <a:gd name="T4" fmla="*/ 287 w 905"/>
                  <a:gd name="T5" fmla="*/ 266 h 292"/>
                  <a:gd name="T6" fmla="*/ 314 w 905"/>
                  <a:gd name="T7" fmla="*/ 290 h 292"/>
                  <a:gd name="T8" fmla="*/ 410 w 905"/>
                  <a:gd name="T9" fmla="*/ 281 h 292"/>
                  <a:gd name="T10" fmla="*/ 461 w 905"/>
                  <a:gd name="T11" fmla="*/ 239 h 292"/>
                  <a:gd name="T12" fmla="*/ 503 w 905"/>
                  <a:gd name="T13" fmla="*/ 236 h 292"/>
                  <a:gd name="T14" fmla="*/ 704 w 905"/>
                  <a:gd name="T15" fmla="*/ 227 h 292"/>
                  <a:gd name="T16" fmla="*/ 761 w 905"/>
                  <a:gd name="T17" fmla="*/ 197 h 292"/>
                  <a:gd name="T18" fmla="*/ 785 w 905"/>
                  <a:gd name="T19" fmla="*/ 158 h 292"/>
                  <a:gd name="T20" fmla="*/ 905 w 905"/>
                  <a:gd name="T21" fmla="*/ 104 h 292"/>
                  <a:gd name="T22" fmla="*/ 833 w 905"/>
                  <a:gd name="T23" fmla="*/ 32 h 292"/>
                  <a:gd name="T24" fmla="*/ 779 w 905"/>
                  <a:gd name="T25" fmla="*/ 11 h 292"/>
                  <a:gd name="T26" fmla="*/ 737 w 905"/>
                  <a:gd name="T27" fmla="*/ 8 h 292"/>
                  <a:gd name="T28" fmla="*/ 698 w 905"/>
                  <a:gd name="T29" fmla="*/ 35 h 292"/>
                  <a:gd name="T30" fmla="*/ 641 w 905"/>
                  <a:gd name="T31" fmla="*/ 50 h 292"/>
                  <a:gd name="T32" fmla="*/ 566 w 905"/>
                  <a:gd name="T33" fmla="*/ 41 h 292"/>
                  <a:gd name="T34" fmla="*/ 536 w 905"/>
                  <a:gd name="T35" fmla="*/ 26 h 292"/>
                  <a:gd name="T36" fmla="*/ 473 w 905"/>
                  <a:gd name="T37" fmla="*/ 17 h 292"/>
                  <a:gd name="T38" fmla="*/ 440 w 905"/>
                  <a:gd name="T39" fmla="*/ 14 h 292"/>
                  <a:gd name="T40" fmla="*/ 428 w 905"/>
                  <a:gd name="T41" fmla="*/ 62 h 292"/>
                  <a:gd name="T42" fmla="*/ 392 w 905"/>
                  <a:gd name="T43" fmla="*/ 65 h 292"/>
                  <a:gd name="T44" fmla="*/ 350 w 905"/>
                  <a:gd name="T45" fmla="*/ 83 h 292"/>
                  <a:gd name="T46" fmla="*/ 332 w 905"/>
                  <a:gd name="T47" fmla="*/ 92 h 292"/>
                  <a:gd name="T48" fmla="*/ 302 w 905"/>
                  <a:gd name="T49" fmla="*/ 116 h 292"/>
                  <a:gd name="T50" fmla="*/ 254 w 905"/>
                  <a:gd name="T51" fmla="*/ 188 h 292"/>
                  <a:gd name="T52" fmla="*/ 188 w 905"/>
                  <a:gd name="T53" fmla="*/ 170 h 292"/>
                  <a:gd name="T54" fmla="*/ 104 w 905"/>
                  <a:gd name="T55" fmla="*/ 194 h 292"/>
                  <a:gd name="T56" fmla="*/ 8 w 905"/>
                  <a:gd name="T57" fmla="*/ 203 h 292"/>
                  <a:gd name="T58" fmla="*/ 23 w 905"/>
                  <a:gd name="T59" fmla="*/ 281 h 292"/>
                  <a:gd name="T60" fmla="*/ 71 w 905"/>
                  <a:gd name="T61" fmla="*/ 278 h 29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05"/>
                  <a:gd name="T94" fmla="*/ 0 h 292"/>
                  <a:gd name="T95" fmla="*/ 905 w 905"/>
                  <a:gd name="T96" fmla="*/ 292 h 29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05" h="292">
                    <a:moveTo>
                      <a:pt x="71" y="278"/>
                    </a:moveTo>
                    <a:cubicBezTo>
                      <a:pt x="111" y="288"/>
                      <a:pt x="91" y="284"/>
                      <a:pt x="173" y="278"/>
                    </a:cubicBezTo>
                    <a:cubicBezTo>
                      <a:pt x="211" y="275"/>
                      <a:pt x="287" y="266"/>
                      <a:pt x="287" y="266"/>
                    </a:cubicBezTo>
                    <a:cubicBezTo>
                      <a:pt x="306" y="260"/>
                      <a:pt x="291" y="278"/>
                      <a:pt x="314" y="290"/>
                    </a:cubicBezTo>
                    <a:cubicBezTo>
                      <a:pt x="333" y="289"/>
                      <a:pt x="388" y="292"/>
                      <a:pt x="410" y="281"/>
                    </a:cubicBezTo>
                    <a:cubicBezTo>
                      <a:pt x="429" y="271"/>
                      <a:pt x="437" y="243"/>
                      <a:pt x="461" y="239"/>
                    </a:cubicBezTo>
                    <a:cubicBezTo>
                      <a:pt x="475" y="237"/>
                      <a:pt x="489" y="237"/>
                      <a:pt x="503" y="236"/>
                    </a:cubicBezTo>
                    <a:cubicBezTo>
                      <a:pt x="567" y="225"/>
                      <a:pt x="641" y="229"/>
                      <a:pt x="704" y="227"/>
                    </a:cubicBezTo>
                    <a:cubicBezTo>
                      <a:pt x="725" y="222"/>
                      <a:pt x="742" y="207"/>
                      <a:pt x="761" y="197"/>
                    </a:cubicBezTo>
                    <a:cubicBezTo>
                      <a:pt x="769" y="185"/>
                      <a:pt x="778" y="168"/>
                      <a:pt x="785" y="158"/>
                    </a:cubicBezTo>
                    <a:cubicBezTo>
                      <a:pt x="813" y="121"/>
                      <a:pt x="863" y="111"/>
                      <a:pt x="905" y="104"/>
                    </a:cubicBezTo>
                    <a:cubicBezTo>
                      <a:pt x="900" y="49"/>
                      <a:pt x="887" y="40"/>
                      <a:pt x="833" y="32"/>
                    </a:cubicBezTo>
                    <a:cubicBezTo>
                      <a:pt x="815" y="26"/>
                      <a:pt x="798" y="16"/>
                      <a:pt x="779" y="11"/>
                    </a:cubicBezTo>
                    <a:cubicBezTo>
                      <a:pt x="763" y="1"/>
                      <a:pt x="766" y="0"/>
                      <a:pt x="737" y="8"/>
                    </a:cubicBezTo>
                    <a:cubicBezTo>
                      <a:pt x="731" y="10"/>
                      <a:pt x="707" y="31"/>
                      <a:pt x="698" y="35"/>
                    </a:cubicBezTo>
                    <a:cubicBezTo>
                      <a:pt x="680" y="44"/>
                      <a:pt x="661" y="47"/>
                      <a:pt x="641" y="50"/>
                    </a:cubicBezTo>
                    <a:cubicBezTo>
                      <a:pt x="614" y="48"/>
                      <a:pt x="591" y="48"/>
                      <a:pt x="566" y="41"/>
                    </a:cubicBezTo>
                    <a:cubicBezTo>
                      <a:pt x="555" y="38"/>
                      <a:pt x="547" y="30"/>
                      <a:pt x="536" y="26"/>
                    </a:cubicBezTo>
                    <a:cubicBezTo>
                      <a:pt x="510" y="16"/>
                      <a:pt x="509" y="19"/>
                      <a:pt x="473" y="17"/>
                    </a:cubicBezTo>
                    <a:cubicBezTo>
                      <a:pt x="459" y="14"/>
                      <a:pt x="454" y="10"/>
                      <a:pt x="440" y="14"/>
                    </a:cubicBezTo>
                    <a:cubicBezTo>
                      <a:pt x="436" y="25"/>
                      <a:pt x="430" y="61"/>
                      <a:pt x="428" y="62"/>
                    </a:cubicBezTo>
                    <a:cubicBezTo>
                      <a:pt x="417" y="67"/>
                      <a:pt x="404" y="64"/>
                      <a:pt x="392" y="65"/>
                    </a:cubicBezTo>
                    <a:cubicBezTo>
                      <a:pt x="376" y="69"/>
                      <a:pt x="366" y="79"/>
                      <a:pt x="350" y="83"/>
                    </a:cubicBezTo>
                    <a:cubicBezTo>
                      <a:pt x="344" y="87"/>
                      <a:pt x="337" y="88"/>
                      <a:pt x="332" y="92"/>
                    </a:cubicBezTo>
                    <a:cubicBezTo>
                      <a:pt x="299" y="119"/>
                      <a:pt x="324" y="109"/>
                      <a:pt x="302" y="116"/>
                    </a:cubicBezTo>
                    <a:cubicBezTo>
                      <a:pt x="256" y="186"/>
                      <a:pt x="344" y="195"/>
                      <a:pt x="254" y="188"/>
                    </a:cubicBezTo>
                    <a:cubicBezTo>
                      <a:pt x="232" y="184"/>
                      <a:pt x="210" y="176"/>
                      <a:pt x="188" y="170"/>
                    </a:cubicBezTo>
                    <a:cubicBezTo>
                      <a:pt x="137" y="174"/>
                      <a:pt x="143" y="186"/>
                      <a:pt x="104" y="194"/>
                    </a:cubicBezTo>
                    <a:cubicBezTo>
                      <a:pt x="73" y="200"/>
                      <a:pt x="40" y="200"/>
                      <a:pt x="8" y="203"/>
                    </a:cubicBezTo>
                    <a:cubicBezTo>
                      <a:pt x="9" y="226"/>
                      <a:pt x="0" y="266"/>
                      <a:pt x="23" y="281"/>
                    </a:cubicBezTo>
                    <a:cubicBezTo>
                      <a:pt x="55" y="277"/>
                      <a:pt x="39" y="278"/>
                      <a:pt x="71" y="278"/>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grpSp>
        <p:sp>
          <p:nvSpPr>
            <p:cNvPr id="15609" name="Rectangle 20"/>
            <p:cNvSpPr>
              <a:spLocks noChangeArrowheads="1"/>
            </p:cNvSpPr>
            <p:nvPr/>
          </p:nvSpPr>
          <p:spPr bwMode="auto">
            <a:xfrm>
              <a:off x="2658" y="3392"/>
              <a:ext cx="116" cy="231"/>
            </a:xfrm>
            <a:prstGeom prst="rect">
              <a:avLst/>
            </a:prstGeom>
            <a:noFill/>
            <a:ln w="9525">
              <a:noFill/>
              <a:miter lim="800000"/>
              <a:headEnd/>
              <a:tailEnd/>
            </a:ln>
          </p:spPr>
          <p:txBody>
            <a:bodyPr wrap="none">
              <a:spAutoFit/>
            </a:bodyPr>
            <a:lstStyle/>
            <a:p>
              <a:endParaRPr lang="en-US" altLang="en-US" b="1">
                <a:latin typeface="Times New Roman" pitchFamily="18" charset="0"/>
              </a:endParaRPr>
            </a:p>
          </p:txBody>
        </p:sp>
      </p:grpSp>
      <p:grpSp>
        <p:nvGrpSpPr>
          <p:cNvPr id="15366" name="Group 211"/>
          <p:cNvGrpSpPr>
            <a:grpSpLocks/>
          </p:cNvGrpSpPr>
          <p:nvPr/>
        </p:nvGrpSpPr>
        <p:grpSpPr bwMode="auto">
          <a:xfrm>
            <a:off x="5808663" y="2100263"/>
            <a:ext cx="1387475" cy="819150"/>
            <a:chOff x="3659" y="1323"/>
            <a:chExt cx="874" cy="516"/>
          </a:xfrm>
        </p:grpSpPr>
        <p:sp>
          <p:nvSpPr>
            <p:cNvPr id="15602" name="Line 22"/>
            <p:cNvSpPr>
              <a:spLocks noChangeShapeType="1"/>
            </p:cNvSpPr>
            <p:nvPr/>
          </p:nvSpPr>
          <p:spPr bwMode="auto">
            <a:xfrm rot="877658">
              <a:off x="4217" y="1670"/>
              <a:ext cx="229" cy="169"/>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5603" name="Line 23"/>
            <p:cNvSpPr>
              <a:spLocks noChangeShapeType="1"/>
            </p:cNvSpPr>
            <p:nvPr/>
          </p:nvSpPr>
          <p:spPr bwMode="auto">
            <a:xfrm rot="877658">
              <a:off x="4341" y="1400"/>
              <a:ext cx="192" cy="144"/>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5604" name="Line 24"/>
            <p:cNvSpPr>
              <a:spLocks noChangeShapeType="1"/>
            </p:cNvSpPr>
            <p:nvPr/>
          </p:nvSpPr>
          <p:spPr bwMode="auto">
            <a:xfrm rot="877658" flipV="1">
              <a:off x="4216" y="1323"/>
              <a:ext cx="240" cy="118"/>
            </a:xfrm>
            <a:prstGeom prst="line">
              <a:avLst/>
            </a:prstGeom>
            <a:noFill/>
            <a:ln w="28575">
              <a:solidFill>
                <a:schemeClr val="tx1"/>
              </a:solidFill>
              <a:round/>
              <a:headEnd/>
              <a:tailEnd/>
            </a:ln>
          </p:spPr>
          <p:txBody>
            <a:bodyPr wrap="none" anchor="ctr"/>
            <a:lstStyle/>
            <a:p>
              <a:endParaRPr lang="en-US"/>
            </a:p>
          </p:txBody>
        </p:sp>
        <p:sp>
          <p:nvSpPr>
            <p:cNvPr id="15605" name="Line 25"/>
            <p:cNvSpPr>
              <a:spLocks noChangeShapeType="1"/>
            </p:cNvSpPr>
            <p:nvPr/>
          </p:nvSpPr>
          <p:spPr bwMode="auto">
            <a:xfrm rot="1038176" flipV="1">
              <a:off x="3958" y="1487"/>
              <a:ext cx="518" cy="323"/>
            </a:xfrm>
            <a:prstGeom prst="line">
              <a:avLst/>
            </a:prstGeom>
            <a:noFill/>
            <a:ln w="28575">
              <a:solidFill>
                <a:schemeClr val="tx1"/>
              </a:solidFill>
              <a:round/>
              <a:headEnd/>
              <a:tailEnd/>
            </a:ln>
          </p:spPr>
          <p:txBody>
            <a:bodyPr wrap="none" anchor="ctr"/>
            <a:lstStyle/>
            <a:p>
              <a:endParaRPr lang="en-US"/>
            </a:p>
          </p:txBody>
        </p:sp>
        <p:sp>
          <p:nvSpPr>
            <p:cNvPr id="15606" name="Freeform 26"/>
            <p:cNvSpPr>
              <a:spLocks noChangeArrowheads="1"/>
            </p:cNvSpPr>
            <p:nvPr/>
          </p:nvSpPr>
          <p:spPr bwMode="auto">
            <a:xfrm rot="877658">
              <a:off x="3754" y="1551"/>
              <a:ext cx="201" cy="147"/>
            </a:xfrm>
            <a:custGeom>
              <a:avLst/>
              <a:gdLst>
                <a:gd name="T0" fmla="*/ 0 w 228"/>
                <a:gd name="T1" fmla="*/ 0 h 180"/>
                <a:gd name="T2" fmla="*/ 84 w 228"/>
                <a:gd name="T3" fmla="*/ 35 h 180"/>
                <a:gd name="T4" fmla="*/ 0 60000 65536"/>
                <a:gd name="T5" fmla="*/ 0 60000 65536"/>
                <a:gd name="T6" fmla="*/ 0 w 228"/>
                <a:gd name="T7" fmla="*/ 0 h 180"/>
                <a:gd name="T8" fmla="*/ 228 w 228"/>
                <a:gd name="T9" fmla="*/ 180 h 180"/>
              </a:gdLst>
              <a:ahLst/>
              <a:cxnLst>
                <a:cxn ang="T4">
                  <a:pos x="T0" y="T1"/>
                </a:cxn>
                <a:cxn ang="T5">
                  <a:pos x="T2" y="T3"/>
                </a:cxn>
              </a:cxnLst>
              <a:rect l="T6" t="T7" r="T8" b="T9"/>
              <a:pathLst>
                <a:path w="228" h="180">
                  <a:moveTo>
                    <a:pt x="0" y="0"/>
                  </a:moveTo>
                  <a:lnTo>
                    <a:pt x="228" y="180"/>
                  </a:lnTo>
                </a:path>
              </a:pathLst>
            </a:custGeom>
            <a:noFill/>
            <a:ln w="25400" cap="flat" cmpd="sng">
              <a:solidFill>
                <a:schemeClr val="tx1"/>
              </a:solidFill>
              <a:prstDash val="solid"/>
              <a:round/>
              <a:headEnd type="none" w="sm" len="sm"/>
              <a:tailEnd type="none" w="sm" len="sm"/>
            </a:ln>
          </p:spPr>
          <p:txBody>
            <a:bodyPr wrap="none" anchor="ctr"/>
            <a:lstStyle/>
            <a:p>
              <a:endParaRPr lang="en-US"/>
            </a:p>
          </p:txBody>
        </p:sp>
        <p:sp>
          <p:nvSpPr>
            <p:cNvPr id="15607" name="Line 27"/>
            <p:cNvSpPr>
              <a:spLocks noChangeShapeType="1"/>
            </p:cNvSpPr>
            <p:nvPr/>
          </p:nvSpPr>
          <p:spPr bwMode="auto">
            <a:xfrm rot="877658" flipV="1">
              <a:off x="3659" y="1476"/>
              <a:ext cx="241" cy="118"/>
            </a:xfrm>
            <a:prstGeom prst="line">
              <a:avLst/>
            </a:prstGeom>
            <a:noFill/>
            <a:ln w="28575">
              <a:solidFill>
                <a:schemeClr val="tx1"/>
              </a:solidFill>
              <a:round/>
              <a:headEnd/>
              <a:tailEnd/>
            </a:ln>
          </p:spPr>
          <p:txBody>
            <a:bodyPr wrap="none" anchor="ctr"/>
            <a:lstStyle/>
            <a:p>
              <a:endParaRPr lang="en-US"/>
            </a:p>
          </p:txBody>
        </p:sp>
      </p:grpSp>
      <p:grpSp>
        <p:nvGrpSpPr>
          <p:cNvPr id="15367" name="Group 28"/>
          <p:cNvGrpSpPr>
            <a:grpSpLocks/>
          </p:cNvGrpSpPr>
          <p:nvPr/>
        </p:nvGrpSpPr>
        <p:grpSpPr bwMode="auto">
          <a:xfrm rot="-245528">
            <a:off x="5867400" y="1981200"/>
            <a:ext cx="238125" cy="309563"/>
            <a:chOff x="2202" y="666"/>
            <a:chExt cx="2001" cy="2601"/>
          </a:xfrm>
        </p:grpSpPr>
        <p:sp>
          <p:nvSpPr>
            <p:cNvPr id="15575" name="Freeform 29"/>
            <p:cNvSpPr>
              <a:spLocks/>
            </p:cNvSpPr>
            <p:nvPr/>
          </p:nvSpPr>
          <p:spPr bwMode="auto">
            <a:xfrm>
              <a:off x="2236" y="871"/>
              <a:ext cx="692" cy="2345"/>
            </a:xfrm>
            <a:custGeom>
              <a:avLst/>
              <a:gdLst>
                <a:gd name="T0" fmla="*/ 692 w 692"/>
                <a:gd name="T1" fmla="*/ 2345 h 2345"/>
                <a:gd name="T2" fmla="*/ 116 w 692"/>
                <a:gd name="T3" fmla="*/ 2009 h 2345"/>
                <a:gd name="T4" fmla="*/ 116 w 692"/>
                <a:gd name="T5" fmla="*/ 1385 h 2345"/>
                <a:gd name="T6" fmla="*/ 164 w 692"/>
                <a:gd name="T7" fmla="*/ 1193 h 2345"/>
                <a:gd name="T8" fmla="*/ 0 w 692"/>
                <a:gd name="T9" fmla="*/ 0 h 2345"/>
                <a:gd name="T10" fmla="*/ 673 w 692"/>
                <a:gd name="T11" fmla="*/ 222 h 2345"/>
                <a:gd name="T12" fmla="*/ 692 w 692"/>
                <a:gd name="T13" fmla="*/ 2345 h 2345"/>
                <a:gd name="T14" fmla="*/ 0 60000 65536"/>
                <a:gd name="T15" fmla="*/ 0 60000 65536"/>
                <a:gd name="T16" fmla="*/ 0 60000 65536"/>
                <a:gd name="T17" fmla="*/ 0 60000 65536"/>
                <a:gd name="T18" fmla="*/ 0 60000 65536"/>
                <a:gd name="T19" fmla="*/ 0 60000 65536"/>
                <a:gd name="T20" fmla="*/ 0 60000 65536"/>
                <a:gd name="T21" fmla="*/ 0 w 692"/>
                <a:gd name="T22" fmla="*/ 0 h 2345"/>
                <a:gd name="T23" fmla="*/ 692 w 692"/>
                <a:gd name="T24" fmla="*/ 2345 h 23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2" h="2345">
                  <a:moveTo>
                    <a:pt x="692" y="2345"/>
                  </a:moveTo>
                  <a:lnTo>
                    <a:pt x="116" y="2009"/>
                  </a:lnTo>
                  <a:lnTo>
                    <a:pt x="116" y="1385"/>
                  </a:lnTo>
                  <a:lnTo>
                    <a:pt x="164" y="1193"/>
                  </a:lnTo>
                  <a:lnTo>
                    <a:pt x="0" y="0"/>
                  </a:lnTo>
                  <a:lnTo>
                    <a:pt x="673" y="222"/>
                  </a:lnTo>
                  <a:lnTo>
                    <a:pt x="692" y="2345"/>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5576" name="Freeform 30"/>
            <p:cNvSpPr>
              <a:spLocks/>
            </p:cNvSpPr>
            <p:nvPr/>
          </p:nvSpPr>
          <p:spPr bwMode="auto">
            <a:xfrm>
              <a:off x="2928" y="768"/>
              <a:ext cx="1248" cy="2448"/>
            </a:xfrm>
            <a:custGeom>
              <a:avLst/>
              <a:gdLst>
                <a:gd name="T0" fmla="*/ 0 w 1248"/>
                <a:gd name="T1" fmla="*/ 336 h 2448"/>
                <a:gd name="T2" fmla="*/ 0 w 1248"/>
                <a:gd name="T3" fmla="*/ 2448 h 2448"/>
                <a:gd name="T4" fmla="*/ 1200 w 1248"/>
                <a:gd name="T5" fmla="*/ 1968 h 2448"/>
                <a:gd name="T6" fmla="*/ 1008 w 1248"/>
                <a:gd name="T7" fmla="*/ 1008 h 2448"/>
                <a:gd name="T8" fmla="*/ 1248 w 1248"/>
                <a:gd name="T9" fmla="*/ 0 h 2448"/>
                <a:gd name="T10" fmla="*/ 0 w 1248"/>
                <a:gd name="T11" fmla="*/ 336 h 2448"/>
                <a:gd name="T12" fmla="*/ 0 60000 65536"/>
                <a:gd name="T13" fmla="*/ 0 60000 65536"/>
                <a:gd name="T14" fmla="*/ 0 60000 65536"/>
                <a:gd name="T15" fmla="*/ 0 60000 65536"/>
                <a:gd name="T16" fmla="*/ 0 60000 65536"/>
                <a:gd name="T17" fmla="*/ 0 60000 65536"/>
                <a:gd name="T18" fmla="*/ 0 w 1248"/>
                <a:gd name="T19" fmla="*/ 0 h 2448"/>
                <a:gd name="T20" fmla="*/ 1248 w 1248"/>
                <a:gd name="T21" fmla="*/ 2448 h 2448"/>
              </a:gdLst>
              <a:ahLst/>
              <a:cxnLst>
                <a:cxn ang="T12">
                  <a:pos x="T0" y="T1"/>
                </a:cxn>
                <a:cxn ang="T13">
                  <a:pos x="T2" y="T3"/>
                </a:cxn>
                <a:cxn ang="T14">
                  <a:pos x="T4" y="T5"/>
                </a:cxn>
                <a:cxn ang="T15">
                  <a:pos x="T6" y="T7"/>
                </a:cxn>
                <a:cxn ang="T16">
                  <a:pos x="T8" y="T9"/>
                </a:cxn>
                <a:cxn ang="T17">
                  <a:pos x="T10" y="T11"/>
                </a:cxn>
              </a:cxnLst>
              <a:rect l="T18" t="T19" r="T20" b="T21"/>
              <a:pathLst>
                <a:path w="1248" h="2448">
                  <a:moveTo>
                    <a:pt x="0" y="336"/>
                  </a:moveTo>
                  <a:lnTo>
                    <a:pt x="0" y="2448"/>
                  </a:lnTo>
                  <a:lnTo>
                    <a:pt x="1200" y="1968"/>
                  </a:lnTo>
                  <a:lnTo>
                    <a:pt x="1008" y="1008"/>
                  </a:lnTo>
                  <a:lnTo>
                    <a:pt x="1248" y="0"/>
                  </a:lnTo>
                  <a:lnTo>
                    <a:pt x="0" y="336"/>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5577" name="Freeform 31"/>
            <p:cNvSpPr>
              <a:spLocks/>
            </p:cNvSpPr>
            <p:nvPr/>
          </p:nvSpPr>
          <p:spPr bwMode="auto">
            <a:xfrm>
              <a:off x="2326" y="2051"/>
              <a:ext cx="603" cy="1216"/>
            </a:xfrm>
            <a:custGeom>
              <a:avLst/>
              <a:gdLst>
                <a:gd name="T0" fmla="*/ 1 w 1204"/>
                <a:gd name="T1" fmla="*/ 1 h 2432"/>
                <a:gd name="T2" fmla="*/ 1 w 1204"/>
                <a:gd name="T3" fmla="*/ 0 h 2432"/>
                <a:gd name="T4" fmla="*/ 0 w 1204"/>
                <a:gd name="T5" fmla="*/ 7 h 2432"/>
                <a:gd name="T6" fmla="*/ 5 w 1204"/>
                <a:gd name="T7" fmla="*/ 10 h 2432"/>
                <a:gd name="T8" fmla="*/ 5 w 1204"/>
                <a:gd name="T9" fmla="*/ 9 h 2432"/>
                <a:gd name="T10" fmla="*/ 5 w 1204"/>
                <a:gd name="T11" fmla="*/ 9 h 2432"/>
                <a:gd name="T12" fmla="*/ 5 w 1204"/>
                <a:gd name="T13" fmla="*/ 10 h 2432"/>
                <a:gd name="T14" fmla="*/ 1 w 1204"/>
                <a:gd name="T15" fmla="*/ 6 h 2432"/>
                <a:gd name="T16" fmla="*/ 1 w 1204"/>
                <a:gd name="T17" fmla="*/ 1 h 2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04"/>
                <a:gd name="T28" fmla="*/ 0 h 2432"/>
                <a:gd name="T29" fmla="*/ 1204 w 1204"/>
                <a:gd name="T30" fmla="*/ 2432 h 24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04" h="2432">
                  <a:moveTo>
                    <a:pt x="162" y="3"/>
                  </a:moveTo>
                  <a:lnTo>
                    <a:pt x="104" y="0"/>
                  </a:lnTo>
                  <a:lnTo>
                    <a:pt x="0" y="1669"/>
                  </a:lnTo>
                  <a:lnTo>
                    <a:pt x="1193" y="2432"/>
                  </a:lnTo>
                  <a:lnTo>
                    <a:pt x="1204" y="2292"/>
                  </a:lnTo>
                  <a:lnTo>
                    <a:pt x="1146" y="2286"/>
                  </a:lnTo>
                  <a:lnTo>
                    <a:pt x="1143" y="2328"/>
                  </a:lnTo>
                  <a:lnTo>
                    <a:pt x="58" y="1633"/>
                  </a:lnTo>
                  <a:lnTo>
                    <a:pt x="162" y="3"/>
                  </a:lnTo>
                  <a:close/>
                </a:path>
              </a:pathLst>
            </a:custGeom>
            <a:solidFill>
              <a:srgbClr val="000000"/>
            </a:solidFill>
            <a:ln w="9525">
              <a:noFill/>
              <a:round/>
              <a:headEnd/>
              <a:tailEnd/>
            </a:ln>
          </p:spPr>
          <p:txBody>
            <a:bodyPr/>
            <a:lstStyle/>
            <a:p>
              <a:endParaRPr lang="en-US"/>
            </a:p>
          </p:txBody>
        </p:sp>
        <p:sp>
          <p:nvSpPr>
            <p:cNvPr id="15578" name="Freeform 32"/>
            <p:cNvSpPr>
              <a:spLocks/>
            </p:cNvSpPr>
            <p:nvPr/>
          </p:nvSpPr>
          <p:spPr bwMode="auto">
            <a:xfrm>
              <a:off x="2202" y="858"/>
              <a:ext cx="206" cy="1196"/>
            </a:xfrm>
            <a:custGeom>
              <a:avLst/>
              <a:gdLst>
                <a:gd name="T0" fmla="*/ 0 w 410"/>
                <a:gd name="T1" fmla="*/ 0 h 2391"/>
                <a:gd name="T2" fmla="*/ 2 w 410"/>
                <a:gd name="T3" fmla="*/ 10 h 2391"/>
                <a:gd name="T4" fmla="*/ 2 w 410"/>
                <a:gd name="T5" fmla="*/ 10 h 2391"/>
                <a:gd name="T6" fmla="*/ 2 w 410"/>
                <a:gd name="T7" fmla="*/ 10 h 2391"/>
                <a:gd name="T8" fmla="*/ 1 w 410"/>
                <a:gd name="T9" fmla="*/ 1 h 2391"/>
                <a:gd name="T10" fmla="*/ 0 w 410"/>
                <a:gd name="T11" fmla="*/ 0 h 2391"/>
                <a:gd name="T12" fmla="*/ 0 60000 65536"/>
                <a:gd name="T13" fmla="*/ 0 60000 65536"/>
                <a:gd name="T14" fmla="*/ 0 60000 65536"/>
                <a:gd name="T15" fmla="*/ 0 60000 65536"/>
                <a:gd name="T16" fmla="*/ 0 60000 65536"/>
                <a:gd name="T17" fmla="*/ 0 60000 65536"/>
                <a:gd name="T18" fmla="*/ 0 w 410"/>
                <a:gd name="T19" fmla="*/ 0 h 2391"/>
                <a:gd name="T20" fmla="*/ 410 w 410"/>
                <a:gd name="T21" fmla="*/ 2391 h 2391"/>
              </a:gdLst>
              <a:ahLst/>
              <a:cxnLst>
                <a:cxn ang="T12">
                  <a:pos x="T0" y="T1"/>
                </a:cxn>
                <a:cxn ang="T13">
                  <a:pos x="T2" y="T3"/>
                </a:cxn>
                <a:cxn ang="T14">
                  <a:pos x="T4" y="T5"/>
                </a:cxn>
                <a:cxn ang="T15">
                  <a:pos x="T6" y="T7"/>
                </a:cxn>
                <a:cxn ang="T16">
                  <a:pos x="T8" y="T9"/>
                </a:cxn>
                <a:cxn ang="T17">
                  <a:pos x="T10" y="T11"/>
                </a:cxn>
              </a:cxnLst>
              <a:rect l="T18" t="T19" r="T20" b="T21"/>
              <a:pathLst>
                <a:path w="410" h="2391">
                  <a:moveTo>
                    <a:pt x="0" y="0"/>
                  </a:moveTo>
                  <a:lnTo>
                    <a:pt x="352" y="2391"/>
                  </a:lnTo>
                  <a:lnTo>
                    <a:pt x="410" y="2389"/>
                  </a:lnTo>
                  <a:lnTo>
                    <a:pt x="410" y="2385"/>
                  </a:lnTo>
                  <a:lnTo>
                    <a:pt x="69" y="81"/>
                  </a:lnTo>
                  <a:lnTo>
                    <a:pt x="0" y="0"/>
                  </a:lnTo>
                  <a:close/>
                </a:path>
              </a:pathLst>
            </a:custGeom>
            <a:solidFill>
              <a:srgbClr val="000000"/>
            </a:solidFill>
            <a:ln w="9525">
              <a:noFill/>
              <a:round/>
              <a:headEnd/>
              <a:tailEnd/>
            </a:ln>
          </p:spPr>
          <p:txBody>
            <a:bodyPr/>
            <a:lstStyle/>
            <a:p>
              <a:endParaRPr lang="en-US"/>
            </a:p>
          </p:txBody>
        </p:sp>
        <p:sp>
          <p:nvSpPr>
            <p:cNvPr id="15579" name="Freeform 33"/>
            <p:cNvSpPr>
              <a:spLocks/>
            </p:cNvSpPr>
            <p:nvPr/>
          </p:nvSpPr>
          <p:spPr bwMode="auto">
            <a:xfrm>
              <a:off x="2916" y="751"/>
              <a:ext cx="1287" cy="2503"/>
            </a:xfrm>
            <a:custGeom>
              <a:avLst/>
              <a:gdLst>
                <a:gd name="T0" fmla="*/ 1 w 2574"/>
                <a:gd name="T1" fmla="*/ 20 h 5006"/>
                <a:gd name="T2" fmla="*/ 1 w 2574"/>
                <a:gd name="T3" fmla="*/ 20 h 5006"/>
                <a:gd name="T4" fmla="*/ 10 w 2574"/>
                <a:gd name="T5" fmla="*/ 16 h 5006"/>
                <a:gd name="T6" fmla="*/ 9 w 2574"/>
                <a:gd name="T7" fmla="*/ 9 h 5006"/>
                <a:gd name="T8" fmla="*/ 10 w 2574"/>
                <a:gd name="T9" fmla="*/ 0 h 5006"/>
                <a:gd name="T10" fmla="*/ 0 w 2574"/>
                <a:gd name="T11" fmla="*/ 3 h 5006"/>
                <a:gd name="T12" fmla="*/ 1 w 2574"/>
                <a:gd name="T13" fmla="*/ 3 h 5006"/>
                <a:gd name="T14" fmla="*/ 10 w 2574"/>
                <a:gd name="T15" fmla="*/ 1 h 5006"/>
                <a:gd name="T16" fmla="*/ 8 w 2574"/>
                <a:gd name="T17" fmla="*/ 9 h 5006"/>
                <a:gd name="T18" fmla="*/ 10 w 2574"/>
                <a:gd name="T19" fmla="*/ 16 h 5006"/>
                <a:gd name="T20" fmla="*/ 1 w 2574"/>
                <a:gd name="T21" fmla="*/ 20 h 50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74"/>
                <a:gd name="T34" fmla="*/ 0 h 5006"/>
                <a:gd name="T35" fmla="*/ 2574 w 2574"/>
                <a:gd name="T36" fmla="*/ 5006 h 50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74" h="5006">
                  <a:moveTo>
                    <a:pt x="18" y="4944"/>
                  </a:moveTo>
                  <a:lnTo>
                    <a:pt x="36" y="5006"/>
                  </a:lnTo>
                  <a:lnTo>
                    <a:pt x="2394" y="4015"/>
                  </a:lnTo>
                  <a:lnTo>
                    <a:pt x="2098" y="2069"/>
                  </a:lnTo>
                  <a:lnTo>
                    <a:pt x="2574" y="0"/>
                  </a:lnTo>
                  <a:lnTo>
                    <a:pt x="0" y="620"/>
                  </a:lnTo>
                  <a:lnTo>
                    <a:pt x="56" y="675"/>
                  </a:lnTo>
                  <a:lnTo>
                    <a:pt x="2498" y="85"/>
                  </a:lnTo>
                  <a:lnTo>
                    <a:pt x="2040" y="2075"/>
                  </a:lnTo>
                  <a:lnTo>
                    <a:pt x="2330" y="3973"/>
                  </a:lnTo>
                  <a:lnTo>
                    <a:pt x="18" y="4944"/>
                  </a:lnTo>
                  <a:close/>
                </a:path>
              </a:pathLst>
            </a:custGeom>
            <a:solidFill>
              <a:srgbClr val="000000"/>
            </a:solidFill>
            <a:ln w="9525">
              <a:noFill/>
              <a:round/>
              <a:headEnd/>
              <a:tailEnd/>
            </a:ln>
          </p:spPr>
          <p:txBody>
            <a:bodyPr/>
            <a:lstStyle/>
            <a:p>
              <a:endParaRPr lang="en-US"/>
            </a:p>
          </p:txBody>
        </p:sp>
        <p:sp>
          <p:nvSpPr>
            <p:cNvPr id="15580" name="Freeform 34"/>
            <p:cNvSpPr>
              <a:spLocks/>
            </p:cNvSpPr>
            <p:nvPr/>
          </p:nvSpPr>
          <p:spPr bwMode="auto">
            <a:xfrm>
              <a:off x="2916" y="1061"/>
              <a:ext cx="29" cy="2200"/>
            </a:xfrm>
            <a:custGeom>
              <a:avLst/>
              <a:gdLst>
                <a:gd name="T0" fmla="*/ 1 w 58"/>
                <a:gd name="T1" fmla="*/ 0 h 4401"/>
                <a:gd name="T2" fmla="*/ 0 w 58"/>
                <a:gd name="T3" fmla="*/ 17 h 4401"/>
                <a:gd name="T4" fmla="*/ 1 w 58"/>
                <a:gd name="T5" fmla="*/ 17 h 4401"/>
                <a:gd name="T6" fmla="*/ 1 w 58"/>
                <a:gd name="T7" fmla="*/ 16 h 4401"/>
                <a:gd name="T8" fmla="*/ 1 w 58"/>
                <a:gd name="T9" fmla="*/ 0 h 4401"/>
                <a:gd name="T10" fmla="*/ 1 w 58"/>
                <a:gd name="T11" fmla="*/ 0 h 4401"/>
                <a:gd name="T12" fmla="*/ 0 60000 65536"/>
                <a:gd name="T13" fmla="*/ 0 60000 65536"/>
                <a:gd name="T14" fmla="*/ 0 60000 65536"/>
                <a:gd name="T15" fmla="*/ 0 60000 65536"/>
                <a:gd name="T16" fmla="*/ 0 60000 65536"/>
                <a:gd name="T17" fmla="*/ 0 60000 65536"/>
                <a:gd name="T18" fmla="*/ 0 w 58"/>
                <a:gd name="T19" fmla="*/ 0 h 4401"/>
                <a:gd name="T20" fmla="*/ 58 w 58"/>
                <a:gd name="T21" fmla="*/ 4401 h 4401"/>
              </a:gdLst>
              <a:ahLst/>
              <a:cxnLst>
                <a:cxn ang="T12">
                  <a:pos x="T0" y="T1"/>
                </a:cxn>
                <a:cxn ang="T13">
                  <a:pos x="T2" y="T3"/>
                </a:cxn>
                <a:cxn ang="T14">
                  <a:pos x="T4" y="T5"/>
                </a:cxn>
                <a:cxn ang="T15">
                  <a:pos x="T6" y="T7"/>
                </a:cxn>
                <a:cxn ang="T16">
                  <a:pos x="T8" y="T9"/>
                </a:cxn>
                <a:cxn ang="T17">
                  <a:pos x="T10" y="T11"/>
                </a:cxn>
              </a:cxnLst>
              <a:rect l="T18" t="T19" r="T20" b="T21"/>
              <a:pathLst>
                <a:path w="58" h="4401">
                  <a:moveTo>
                    <a:pt x="2" y="0"/>
                  </a:moveTo>
                  <a:lnTo>
                    <a:pt x="0" y="4401"/>
                  </a:lnTo>
                  <a:lnTo>
                    <a:pt x="38" y="4386"/>
                  </a:lnTo>
                  <a:lnTo>
                    <a:pt x="58" y="4310"/>
                  </a:lnTo>
                  <a:lnTo>
                    <a:pt x="58" y="55"/>
                  </a:lnTo>
                  <a:lnTo>
                    <a:pt x="2" y="0"/>
                  </a:lnTo>
                  <a:close/>
                </a:path>
              </a:pathLst>
            </a:custGeom>
            <a:solidFill>
              <a:srgbClr val="000000"/>
            </a:solidFill>
            <a:ln w="9525">
              <a:noFill/>
              <a:round/>
              <a:headEnd/>
              <a:tailEnd/>
            </a:ln>
          </p:spPr>
          <p:txBody>
            <a:bodyPr/>
            <a:lstStyle/>
            <a:p>
              <a:endParaRPr lang="en-US"/>
            </a:p>
          </p:txBody>
        </p:sp>
        <p:sp>
          <p:nvSpPr>
            <p:cNvPr id="15581" name="Freeform 35"/>
            <p:cNvSpPr>
              <a:spLocks/>
            </p:cNvSpPr>
            <p:nvPr/>
          </p:nvSpPr>
          <p:spPr bwMode="auto">
            <a:xfrm>
              <a:off x="2205" y="666"/>
              <a:ext cx="1982" cy="425"/>
            </a:xfrm>
            <a:custGeom>
              <a:avLst/>
              <a:gdLst>
                <a:gd name="T0" fmla="*/ 0 w 3964"/>
                <a:gd name="T1" fmla="*/ 1 h 851"/>
                <a:gd name="T2" fmla="*/ 1 w 3964"/>
                <a:gd name="T3" fmla="*/ 1 h 851"/>
                <a:gd name="T4" fmla="*/ 12 w 3964"/>
                <a:gd name="T5" fmla="*/ 0 h 851"/>
                <a:gd name="T6" fmla="*/ 15 w 3964"/>
                <a:gd name="T7" fmla="*/ 0 h 851"/>
                <a:gd name="T8" fmla="*/ 6 w 3964"/>
                <a:gd name="T9" fmla="*/ 3 h 851"/>
                <a:gd name="T10" fmla="*/ 6 w 3964"/>
                <a:gd name="T11" fmla="*/ 3 h 851"/>
                <a:gd name="T12" fmla="*/ 16 w 3964"/>
                <a:gd name="T13" fmla="*/ 0 h 851"/>
                <a:gd name="T14" fmla="*/ 16 w 3964"/>
                <a:gd name="T15" fmla="*/ 0 h 851"/>
                <a:gd name="T16" fmla="*/ 12 w 3964"/>
                <a:gd name="T17" fmla="*/ 0 h 851"/>
                <a:gd name="T18" fmla="*/ 0 w 3964"/>
                <a:gd name="T19" fmla="*/ 1 h 8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64"/>
                <a:gd name="T31" fmla="*/ 0 h 851"/>
                <a:gd name="T32" fmla="*/ 3964 w 3964"/>
                <a:gd name="T33" fmla="*/ 851 h 8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64" h="851">
                  <a:moveTo>
                    <a:pt x="0" y="378"/>
                  </a:moveTo>
                  <a:lnTo>
                    <a:pt x="5" y="444"/>
                  </a:lnTo>
                  <a:lnTo>
                    <a:pt x="2899" y="65"/>
                  </a:lnTo>
                  <a:lnTo>
                    <a:pt x="3796" y="220"/>
                  </a:lnTo>
                  <a:lnTo>
                    <a:pt x="1446" y="786"/>
                  </a:lnTo>
                  <a:lnTo>
                    <a:pt x="1452" y="851"/>
                  </a:lnTo>
                  <a:lnTo>
                    <a:pt x="3964" y="246"/>
                  </a:lnTo>
                  <a:lnTo>
                    <a:pt x="3961" y="181"/>
                  </a:lnTo>
                  <a:lnTo>
                    <a:pt x="2899" y="0"/>
                  </a:lnTo>
                  <a:lnTo>
                    <a:pt x="0" y="378"/>
                  </a:lnTo>
                  <a:close/>
                </a:path>
              </a:pathLst>
            </a:custGeom>
            <a:solidFill>
              <a:srgbClr val="000000"/>
            </a:solidFill>
            <a:ln w="9525">
              <a:noFill/>
              <a:round/>
              <a:headEnd/>
              <a:tailEnd/>
            </a:ln>
          </p:spPr>
          <p:txBody>
            <a:bodyPr/>
            <a:lstStyle/>
            <a:p>
              <a:endParaRPr lang="en-US"/>
            </a:p>
          </p:txBody>
        </p:sp>
        <p:sp>
          <p:nvSpPr>
            <p:cNvPr id="15582" name="Freeform 36"/>
            <p:cNvSpPr>
              <a:spLocks/>
            </p:cNvSpPr>
            <p:nvPr/>
          </p:nvSpPr>
          <p:spPr bwMode="auto">
            <a:xfrm>
              <a:off x="2204" y="855"/>
              <a:ext cx="727" cy="236"/>
            </a:xfrm>
            <a:custGeom>
              <a:avLst/>
              <a:gdLst>
                <a:gd name="T0" fmla="*/ 5 w 1455"/>
                <a:gd name="T1" fmla="*/ 1 h 473"/>
                <a:gd name="T2" fmla="*/ 0 w 1455"/>
                <a:gd name="T3" fmla="*/ 0 h 473"/>
                <a:gd name="T4" fmla="*/ 0 w 1455"/>
                <a:gd name="T5" fmla="*/ 0 h 473"/>
                <a:gd name="T6" fmla="*/ 0 w 1455"/>
                <a:gd name="T7" fmla="*/ 0 h 473"/>
                <a:gd name="T8" fmla="*/ 5 w 1455"/>
                <a:gd name="T9" fmla="*/ 1 h 473"/>
                <a:gd name="T10" fmla="*/ 5 w 1455"/>
                <a:gd name="T11" fmla="*/ 1 h 473"/>
                <a:gd name="T12" fmla="*/ 0 60000 65536"/>
                <a:gd name="T13" fmla="*/ 0 60000 65536"/>
                <a:gd name="T14" fmla="*/ 0 60000 65536"/>
                <a:gd name="T15" fmla="*/ 0 60000 65536"/>
                <a:gd name="T16" fmla="*/ 0 60000 65536"/>
                <a:gd name="T17" fmla="*/ 0 60000 65536"/>
                <a:gd name="T18" fmla="*/ 0 w 1455"/>
                <a:gd name="T19" fmla="*/ 0 h 473"/>
                <a:gd name="T20" fmla="*/ 1455 w 1455"/>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455" h="473">
                  <a:moveTo>
                    <a:pt x="1449" y="408"/>
                  </a:moveTo>
                  <a:lnTo>
                    <a:pt x="164" y="44"/>
                  </a:lnTo>
                  <a:lnTo>
                    <a:pt x="3" y="0"/>
                  </a:lnTo>
                  <a:lnTo>
                    <a:pt x="0" y="64"/>
                  </a:lnTo>
                  <a:lnTo>
                    <a:pt x="1455" y="473"/>
                  </a:lnTo>
                  <a:lnTo>
                    <a:pt x="1449" y="408"/>
                  </a:lnTo>
                  <a:close/>
                </a:path>
              </a:pathLst>
            </a:custGeom>
            <a:solidFill>
              <a:srgbClr val="000000"/>
            </a:solidFill>
            <a:ln w="9525">
              <a:noFill/>
              <a:round/>
              <a:headEnd/>
              <a:tailEnd/>
            </a:ln>
          </p:spPr>
          <p:txBody>
            <a:bodyPr/>
            <a:lstStyle/>
            <a:p>
              <a:endParaRPr lang="en-US"/>
            </a:p>
          </p:txBody>
        </p:sp>
        <p:sp>
          <p:nvSpPr>
            <p:cNvPr id="15583" name="Freeform 37"/>
            <p:cNvSpPr>
              <a:spLocks/>
            </p:cNvSpPr>
            <p:nvPr/>
          </p:nvSpPr>
          <p:spPr bwMode="auto">
            <a:xfrm>
              <a:off x="2300" y="1199"/>
              <a:ext cx="1779" cy="324"/>
            </a:xfrm>
            <a:custGeom>
              <a:avLst/>
              <a:gdLst>
                <a:gd name="T0" fmla="*/ 1 w 3556"/>
                <a:gd name="T1" fmla="*/ 1 h 647"/>
                <a:gd name="T2" fmla="*/ 0 w 3556"/>
                <a:gd name="T3" fmla="*/ 1 h 647"/>
                <a:gd name="T4" fmla="*/ 5 w 3556"/>
                <a:gd name="T5" fmla="*/ 3 h 647"/>
                <a:gd name="T6" fmla="*/ 14 w 3556"/>
                <a:gd name="T7" fmla="*/ 1 h 647"/>
                <a:gd name="T8" fmla="*/ 14 w 3556"/>
                <a:gd name="T9" fmla="*/ 0 h 647"/>
                <a:gd name="T10" fmla="*/ 5 w 3556"/>
                <a:gd name="T11" fmla="*/ 3 h 647"/>
                <a:gd name="T12" fmla="*/ 1 w 3556"/>
                <a:gd name="T13" fmla="*/ 1 h 647"/>
                <a:gd name="T14" fmla="*/ 0 60000 65536"/>
                <a:gd name="T15" fmla="*/ 0 60000 65536"/>
                <a:gd name="T16" fmla="*/ 0 60000 65536"/>
                <a:gd name="T17" fmla="*/ 0 60000 65536"/>
                <a:gd name="T18" fmla="*/ 0 60000 65536"/>
                <a:gd name="T19" fmla="*/ 0 60000 65536"/>
                <a:gd name="T20" fmla="*/ 0 60000 65536"/>
                <a:gd name="T21" fmla="*/ 0 w 3556"/>
                <a:gd name="T22" fmla="*/ 0 h 647"/>
                <a:gd name="T23" fmla="*/ 3556 w 3556"/>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6" h="647">
                  <a:moveTo>
                    <a:pt x="8" y="184"/>
                  </a:moveTo>
                  <a:lnTo>
                    <a:pt x="0" y="223"/>
                  </a:lnTo>
                  <a:lnTo>
                    <a:pt x="1247" y="647"/>
                  </a:lnTo>
                  <a:lnTo>
                    <a:pt x="3556" y="42"/>
                  </a:lnTo>
                  <a:lnTo>
                    <a:pt x="3551" y="0"/>
                  </a:lnTo>
                  <a:lnTo>
                    <a:pt x="1245" y="605"/>
                  </a:lnTo>
                  <a:lnTo>
                    <a:pt x="8" y="184"/>
                  </a:lnTo>
                  <a:close/>
                </a:path>
              </a:pathLst>
            </a:custGeom>
            <a:solidFill>
              <a:srgbClr val="000000"/>
            </a:solidFill>
            <a:ln w="9525">
              <a:noFill/>
              <a:round/>
              <a:headEnd/>
              <a:tailEnd/>
            </a:ln>
          </p:spPr>
          <p:txBody>
            <a:bodyPr/>
            <a:lstStyle/>
            <a:p>
              <a:endParaRPr lang="en-US"/>
            </a:p>
          </p:txBody>
        </p:sp>
        <p:sp>
          <p:nvSpPr>
            <p:cNvPr id="15584" name="Freeform 38"/>
            <p:cNvSpPr>
              <a:spLocks/>
            </p:cNvSpPr>
            <p:nvPr/>
          </p:nvSpPr>
          <p:spPr bwMode="auto">
            <a:xfrm>
              <a:off x="2334" y="1477"/>
              <a:ext cx="1690" cy="355"/>
            </a:xfrm>
            <a:custGeom>
              <a:avLst/>
              <a:gdLst>
                <a:gd name="T0" fmla="*/ 1 w 3380"/>
                <a:gd name="T1" fmla="*/ 1 h 709"/>
                <a:gd name="T2" fmla="*/ 0 w 3380"/>
                <a:gd name="T3" fmla="*/ 2 h 709"/>
                <a:gd name="T4" fmla="*/ 5 w 3380"/>
                <a:gd name="T5" fmla="*/ 3 h 709"/>
                <a:gd name="T6" fmla="*/ 13 w 3380"/>
                <a:gd name="T7" fmla="*/ 1 h 709"/>
                <a:gd name="T8" fmla="*/ 13 w 3380"/>
                <a:gd name="T9" fmla="*/ 0 h 709"/>
                <a:gd name="T10" fmla="*/ 5 w 3380"/>
                <a:gd name="T11" fmla="*/ 3 h 709"/>
                <a:gd name="T12" fmla="*/ 1 w 3380"/>
                <a:gd name="T13" fmla="*/ 1 h 709"/>
                <a:gd name="T14" fmla="*/ 0 60000 65536"/>
                <a:gd name="T15" fmla="*/ 0 60000 65536"/>
                <a:gd name="T16" fmla="*/ 0 60000 65536"/>
                <a:gd name="T17" fmla="*/ 0 60000 65536"/>
                <a:gd name="T18" fmla="*/ 0 60000 65536"/>
                <a:gd name="T19" fmla="*/ 0 60000 65536"/>
                <a:gd name="T20" fmla="*/ 0 60000 65536"/>
                <a:gd name="T21" fmla="*/ 0 w 3380"/>
                <a:gd name="T22" fmla="*/ 0 h 709"/>
                <a:gd name="T23" fmla="*/ 3380 w 3380"/>
                <a:gd name="T24" fmla="*/ 709 h 7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80" h="709">
                  <a:moveTo>
                    <a:pt x="11" y="228"/>
                  </a:moveTo>
                  <a:lnTo>
                    <a:pt x="0" y="267"/>
                  </a:lnTo>
                  <a:lnTo>
                    <a:pt x="1182" y="709"/>
                  </a:lnTo>
                  <a:lnTo>
                    <a:pt x="3380" y="42"/>
                  </a:lnTo>
                  <a:lnTo>
                    <a:pt x="3371" y="0"/>
                  </a:lnTo>
                  <a:lnTo>
                    <a:pt x="1182" y="666"/>
                  </a:lnTo>
                  <a:lnTo>
                    <a:pt x="11" y="228"/>
                  </a:lnTo>
                  <a:close/>
                </a:path>
              </a:pathLst>
            </a:custGeom>
            <a:solidFill>
              <a:srgbClr val="000000"/>
            </a:solidFill>
            <a:ln w="9525">
              <a:noFill/>
              <a:round/>
              <a:headEnd/>
              <a:tailEnd/>
            </a:ln>
          </p:spPr>
          <p:txBody>
            <a:bodyPr/>
            <a:lstStyle/>
            <a:p>
              <a:endParaRPr lang="en-US"/>
            </a:p>
          </p:txBody>
        </p:sp>
        <p:sp>
          <p:nvSpPr>
            <p:cNvPr id="15585" name="Freeform 39"/>
            <p:cNvSpPr>
              <a:spLocks/>
            </p:cNvSpPr>
            <p:nvPr/>
          </p:nvSpPr>
          <p:spPr bwMode="auto">
            <a:xfrm>
              <a:off x="2389" y="2201"/>
              <a:ext cx="1620" cy="363"/>
            </a:xfrm>
            <a:custGeom>
              <a:avLst/>
              <a:gdLst>
                <a:gd name="T0" fmla="*/ 1 w 3239"/>
                <a:gd name="T1" fmla="*/ 1 h 725"/>
                <a:gd name="T2" fmla="*/ 0 w 3239"/>
                <a:gd name="T3" fmla="*/ 1 h 725"/>
                <a:gd name="T4" fmla="*/ 5 w 3239"/>
                <a:gd name="T5" fmla="*/ 3 h 725"/>
                <a:gd name="T6" fmla="*/ 13 w 3239"/>
                <a:gd name="T7" fmla="*/ 1 h 725"/>
                <a:gd name="T8" fmla="*/ 13 w 3239"/>
                <a:gd name="T9" fmla="*/ 0 h 725"/>
                <a:gd name="T10" fmla="*/ 5 w 3239"/>
                <a:gd name="T11" fmla="*/ 3 h 725"/>
                <a:gd name="T12" fmla="*/ 1 w 3239"/>
                <a:gd name="T13" fmla="*/ 1 h 725"/>
                <a:gd name="T14" fmla="*/ 0 60000 65536"/>
                <a:gd name="T15" fmla="*/ 0 60000 65536"/>
                <a:gd name="T16" fmla="*/ 0 60000 65536"/>
                <a:gd name="T17" fmla="*/ 0 60000 65536"/>
                <a:gd name="T18" fmla="*/ 0 60000 65536"/>
                <a:gd name="T19" fmla="*/ 0 60000 65536"/>
                <a:gd name="T20" fmla="*/ 0 60000 65536"/>
                <a:gd name="T21" fmla="*/ 0 w 3239"/>
                <a:gd name="T22" fmla="*/ 0 h 725"/>
                <a:gd name="T23" fmla="*/ 3239 w 3239"/>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5">
                  <a:moveTo>
                    <a:pt x="14" y="113"/>
                  </a:moveTo>
                  <a:lnTo>
                    <a:pt x="0" y="152"/>
                  </a:lnTo>
                  <a:lnTo>
                    <a:pt x="1075" y="725"/>
                  </a:lnTo>
                  <a:lnTo>
                    <a:pt x="3239" y="39"/>
                  </a:lnTo>
                  <a:lnTo>
                    <a:pt x="3231" y="0"/>
                  </a:lnTo>
                  <a:lnTo>
                    <a:pt x="1084" y="683"/>
                  </a:lnTo>
                  <a:lnTo>
                    <a:pt x="14" y="113"/>
                  </a:lnTo>
                  <a:close/>
                </a:path>
              </a:pathLst>
            </a:custGeom>
            <a:solidFill>
              <a:srgbClr val="000000"/>
            </a:solidFill>
            <a:ln w="9525">
              <a:noFill/>
              <a:round/>
              <a:headEnd/>
              <a:tailEnd/>
            </a:ln>
          </p:spPr>
          <p:txBody>
            <a:bodyPr/>
            <a:lstStyle/>
            <a:p>
              <a:endParaRPr lang="en-US"/>
            </a:p>
          </p:txBody>
        </p:sp>
        <p:sp>
          <p:nvSpPr>
            <p:cNvPr id="15586" name="Freeform 40"/>
            <p:cNvSpPr>
              <a:spLocks/>
            </p:cNvSpPr>
            <p:nvPr/>
          </p:nvSpPr>
          <p:spPr bwMode="auto">
            <a:xfrm>
              <a:off x="2297" y="1174"/>
              <a:ext cx="1779" cy="324"/>
            </a:xfrm>
            <a:custGeom>
              <a:avLst/>
              <a:gdLst>
                <a:gd name="T0" fmla="*/ 0 w 3559"/>
                <a:gd name="T1" fmla="*/ 1 h 647"/>
                <a:gd name="T2" fmla="*/ 0 w 3559"/>
                <a:gd name="T3" fmla="*/ 1 h 647"/>
                <a:gd name="T4" fmla="*/ 4 w 3559"/>
                <a:gd name="T5" fmla="*/ 3 h 647"/>
                <a:gd name="T6" fmla="*/ 13 w 3559"/>
                <a:gd name="T7" fmla="*/ 1 h 647"/>
                <a:gd name="T8" fmla="*/ 13 w 3559"/>
                <a:gd name="T9" fmla="*/ 0 h 647"/>
                <a:gd name="T10" fmla="*/ 4 w 3559"/>
                <a:gd name="T11" fmla="*/ 3 h 647"/>
                <a:gd name="T12" fmla="*/ 0 w 3559"/>
                <a:gd name="T13" fmla="*/ 1 h 647"/>
                <a:gd name="T14" fmla="*/ 0 60000 65536"/>
                <a:gd name="T15" fmla="*/ 0 60000 65536"/>
                <a:gd name="T16" fmla="*/ 0 60000 65536"/>
                <a:gd name="T17" fmla="*/ 0 60000 65536"/>
                <a:gd name="T18" fmla="*/ 0 60000 65536"/>
                <a:gd name="T19" fmla="*/ 0 60000 65536"/>
                <a:gd name="T20" fmla="*/ 0 60000 65536"/>
                <a:gd name="T21" fmla="*/ 0 w 3559"/>
                <a:gd name="T22" fmla="*/ 0 h 647"/>
                <a:gd name="T23" fmla="*/ 3559 w 3559"/>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9" h="647">
                  <a:moveTo>
                    <a:pt x="9" y="183"/>
                  </a:moveTo>
                  <a:lnTo>
                    <a:pt x="0" y="222"/>
                  </a:lnTo>
                  <a:lnTo>
                    <a:pt x="1250" y="647"/>
                  </a:lnTo>
                  <a:lnTo>
                    <a:pt x="3559" y="43"/>
                  </a:lnTo>
                  <a:lnTo>
                    <a:pt x="3553" y="0"/>
                  </a:lnTo>
                  <a:lnTo>
                    <a:pt x="1247" y="605"/>
                  </a:lnTo>
                  <a:lnTo>
                    <a:pt x="9" y="183"/>
                  </a:lnTo>
                  <a:close/>
                </a:path>
              </a:pathLst>
            </a:custGeom>
            <a:solidFill>
              <a:srgbClr val="DEFF73"/>
            </a:solidFill>
            <a:ln w="9525">
              <a:noFill/>
              <a:round/>
              <a:headEnd/>
              <a:tailEnd/>
            </a:ln>
          </p:spPr>
          <p:txBody>
            <a:bodyPr/>
            <a:lstStyle/>
            <a:p>
              <a:endParaRPr lang="en-US"/>
            </a:p>
          </p:txBody>
        </p:sp>
        <p:sp>
          <p:nvSpPr>
            <p:cNvPr id="15587" name="Freeform 41"/>
            <p:cNvSpPr>
              <a:spLocks/>
            </p:cNvSpPr>
            <p:nvPr/>
          </p:nvSpPr>
          <p:spPr bwMode="auto">
            <a:xfrm>
              <a:off x="2331" y="1451"/>
              <a:ext cx="1690" cy="355"/>
            </a:xfrm>
            <a:custGeom>
              <a:avLst/>
              <a:gdLst>
                <a:gd name="T0" fmla="*/ 1 w 3379"/>
                <a:gd name="T1" fmla="*/ 1 h 710"/>
                <a:gd name="T2" fmla="*/ 0 w 3379"/>
                <a:gd name="T3" fmla="*/ 2 h 710"/>
                <a:gd name="T4" fmla="*/ 5 w 3379"/>
                <a:gd name="T5" fmla="*/ 3 h 710"/>
                <a:gd name="T6" fmla="*/ 14 w 3379"/>
                <a:gd name="T7" fmla="*/ 1 h 710"/>
                <a:gd name="T8" fmla="*/ 14 w 3379"/>
                <a:gd name="T9" fmla="*/ 0 h 710"/>
                <a:gd name="T10" fmla="*/ 5 w 3379"/>
                <a:gd name="T11" fmla="*/ 3 h 710"/>
                <a:gd name="T12" fmla="*/ 1 w 3379"/>
                <a:gd name="T13" fmla="*/ 1 h 710"/>
                <a:gd name="T14" fmla="*/ 0 60000 65536"/>
                <a:gd name="T15" fmla="*/ 0 60000 65536"/>
                <a:gd name="T16" fmla="*/ 0 60000 65536"/>
                <a:gd name="T17" fmla="*/ 0 60000 65536"/>
                <a:gd name="T18" fmla="*/ 0 60000 65536"/>
                <a:gd name="T19" fmla="*/ 0 60000 65536"/>
                <a:gd name="T20" fmla="*/ 0 60000 65536"/>
                <a:gd name="T21" fmla="*/ 0 w 3379"/>
                <a:gd name="T22" fmla="*/ 0 h 710"/>
                <a:gd name="T23" fmla="*/ 3379 w 3379"/>
                <a:gd name="T24" fmla="*/ 710 h 7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9" h="710">
                  <a:moveTo>
                    <a:pt x="11" y="229"/>
                  </a:moveTo>
                  <a:lnTo>
                    <a:pt x="0" y="268"/>
                  </a:lnTo>
                  <a:lnTo>
                    <a:pt x="1181" y="710"/>
                  </a:lnTo>
                  <a:lnTo>
                    <a:pt x="3379" y="43"/>
                  </a:lnTo>
                  <a:lnTo>
                    <a:pt x="3370" y="0"/>
                  </a:lnTo>
                  <a:lnTo>
                    <a:pt x="1181" y="667"/>
                  </a:lnTo>
                  <a:lnTo>
                    <a:pt x="11" y="229"/>
                  </a:lnTo>
                  <a:close/>
                </a:path>
              </a:pathLst>
            </a:custGeom>
            <a:solidFill>
              <a:srgbClr val="DEFF73"/>
            </a:solidFill>
            <a:ln w="9525">
              <a:noFill/>
              <a:round/>
              <a:headEnd/>
              <a:tailEnd/>
            </a:ln>
          </p:spPr>
          <p:txBody>
            <a:bodyPr/>
            <a:lstStyle/>
            <a:p>
              <a:endParaRPr lang="en-US"/>
            </a:p>
          </p:txBody>
        </p:sp>
        <p:sp>
          <p:nvSpPr>
            <p:cNvPr id="15588" name="Freeform 42"/>
            <p:cNvSpPr>
              <a:spLocks/>
            </p:cNvSpPr>
            <p:nvPr/>
          </p:nvSpPr>
          <p:spPr bwMode="auto">
            <a:xfrm>
              <a:off x="2386" y="2175"/>
              <a:ext cx="1620" cy="363"/>
            </a:xfrm>
            <a:custGeom>
              <a:avLst/>
              <a:gdLst>
                <a:gd name="T0" fmla="*/ 1 w 3239"/>
                <a:gd name="T1" fmla="*/ 0 h 727"/>
                <a:gd name="T2" fmla="*/ 0 w 3239"/>
                <a:gd name="T3" fmla="*/ 0 h 727"/>
                <a:gd name="T4" fmla="*/ 5 w 3239"/>
                <a:gd name="T5" fmla="*/ 2 h 727"/>
                <a:gd name="T6" fmla="*/ 13 w 3239"/>
                <a:gd name="T7" fmla="*/ 0 h 727"/>
                <a:gd name="T8" fmla="*/ 13 w 3239"/>
                <a:gd name="T9" fmla="*/ 0 h 727"/>
                <a:gd name="T10" fmla="*/ 5 w 3239"/>
                <a:gd name="T11" fmla="*/ 2 h 727"/>
                <a:gd name="T12" fmla="*/ 1 w 3239"/>
                <a:gd name="T13" fmla="*/ 0 h 727"/>
                <a:gd name="T14" fmla="*/ 0 60000 65536"/>
                <a:gd name="T15" fmla="*/ 0 60000 65536"/>
                <a:gd name="T16" fmla="*/ 0 60000 65536"/>
                <a:gd name="T17" fmla="*/ 0 60000 65536"/>
                <a:gd name="T18" fmla="*/ 0 60000 65536"/>
                <a:gd name="T19" fmla="*/ 0 60000 65536"/>
                <a:gd name="T20" fmla="*/ 0 60000 65536"/>
                <a:gd name="T21" fmla="*/ 0 w 3239"/>
                <a:gd name="T22" fmla="*/ 0 h 727"/>
                <a:gd name="T23" fmla="*/ 3239 w 3239"/>
                <a:gd name="T24" fmla="*/ 727 h 7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7">
                  <a:moveTo>
                    <a:pt x="14" y="114"/>
                  </a:moveTo>
                  <a:lnTo>
                    <a:pt x="0" y="153"/>
                  </a:lnTo>
                  <a:lnTo>
                    <a:pt x="1076" y="727"/>
                  </a:lnTo>
                  <a:lnTo>
                    <a:pt x="3239" y="39"/>
                  </a:lnTo>
                  <a:lnTo>
                    <a:pt x="3230" y="0"/>
                  </a:lnTo>
                  <a:lnTo>
                    <a:pt x="1085" y="685"/>
                  </a:lnTo>
                  <a:lnTo>
                    <a:pt x="14" y="114"/>
                  </a:lnTo>
                  <a:close/>
                </a:path>
              </a:pathLst>
            </a:custGeom>
            <a:solidFill>
              <a:srgbClr val="DEFF73"/>
            </a:solidFill>
            <a:ln w="9525">
              <a:noFill/>
              <a:round/>
              <a:headEnd/>
              <a:tailEnd/>
            </a:ln>
          </p:spPr>
          <p:txBody>
            <a:bodyPr/>
            <a:lstStyle/>
            <a:p>
              <a:endParaRPr lang="en-US"/>
            </a:p>
          </p:txBody>
        </p:sp>
        <p:sp>
          <p:nvSpPr>
            <p:cNvPr id="15589" name="Freeform 43"/>
            <p:cNvSpPr>
              <a:spLocks/>
            </p:cNvSpPr>
            <p:nvPr/>
          </p:nvSpPr>
          <p:spPr bwMode="auto">
            <a:xfrm>
              <a:off x="2315" y="1005"/>
              <a:ext cx="496" cy="331"/>
            </a:xfrm>
            <a:custGeom>
              <a:avLst/>
              <a:gdLst>
                <a:gd name="T0" fmla="*/ 0 w 993"/>
                <a:gd name="T1" fmla="*/ 0 h 664"/>
                <a:gd name="T2" fmla="*/ 0 w 993"/>
                <a:gd name="T3" fmla="*/ 1 h 664"/>
                <a:gd name="T4" fmla="*/ 3 w 993"/>
                <a:gd name="T5" fmla="*/ 2 h 664"/>
                <a:gd name="T6" fmla="*/ 3 w 993"/>
                <a:gd name="T7" fmla="*/ 1 h 664"/>
                <a:gd name="T8" fmla="*/ 0 w 993"/>
                <a:gd name="T9" fmla="*/ 0 h 664"/>
                <a:gd name="T10" fmla="*/ 0 w 993"/>
                <a:gd name="T11" fmla="*/ 0 h 664"/>
                <a:gd name="T12" fmla="*/ 0 w 993"/>
                <a:gd name="T13" fmla="*/ 0 h 664"/>
                <a:gd name="T14" fmla="*/ 0 60000 65536"/>
                <a:gd name="T15" fmla="*/ 0 60000 65536"/>
                <a:gd name="T16" fmla="*/ 0 60000 65536"/>
                <a:gd name="T17" fmla="*/ 0 60000 65536"/>
                <a:gd name="T18" fmla="*/ 0 60000 65536"/>
                <a:gd name="T19" fmla="*/ 0 60000 65536"/>
                <a:gd name="T20" fmla="*/ 0 60000 65536"/>
                <a:gd name="T21" fmla="*/ 0 w 993"/>
                <a:gd name="T22" fmla="*/ 0 h 664"/>
                <a:gd name="T23" fmla="*/ 993 w 993"/>
                <a:gd name="T24" fmla="*/ 664 h 6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3" h="664">
                  <a:moveTo>
                    <a:pt x="0" y="47"/>
                  </a:moveTo>
                  <a:lnTo>
                    <a:pt x="44" y="339"/>
                  </a:lnTo>
                  <a:lnTo>
                    <a:pt x="990" y="664"/>
                  </a:lnTo>
                  <a:lnTo>
                    <a:pt x="993" y="372"/>
                  </a:lnTo>
                  <a:lnTo>
                    <a:pt x="0" y="0"/>
                  </a:lnTo>
                  <a:lnTo>
                    <a:pt x="0" y="47"/>
                  </a:lnTo>
                  <a:close/>
                </a:path>
              </a:pathLst>
            </a:custGeom>
            <a:solidFill>
              <a:srgbClr val="99FFFB"/>
            </a:solidFill>
            <a:ln w="9525">
              <a:noFill/>
              <a:round/>
              <a:headEnd/>
              <a:tailEnd/>
            </a:ln>
          </p:spPr>
          <p:txBody>
            <a:bodyPr/>
            <a:lstStyle/>
            <a:p>
              <a:endParaRPr lang="en-US"/>
            </a:p>
          </p:txBody>
        </p:sp>
        <p:sp>
          <p:nvSpPr>
            <p:cNvPr id="15590" name="Freeform 44"/>
            <p:cNvSpPr>
              <a:spLocks/>
            </p:cNvSpPr>
            <p:nvPr/>
          </p:nvSpPr>
          <p:spPr bwMode="auto">
            <a:xfrm>
              <a:off x="2305" y="1027"/>
              <a:ext cx="516" cy="322"/>
            </a:xfrm>
            <a:custGeom>
              <a:avLst/>
              <a:gdLst>
                <a:gd name="T0" fmla="*/ 1 w 1030"/>
                <a:gd name="T1" fmla="*/ 0 h 644"/>
                <a:gd name="T2" fmla="*/ 0 w 1030"/>
                <a:gd name="T3" fmla="*/ 1 h 644"/>
                <a:gd name="T4" fmla="*/ 1 w 1030"/>
                <a:gd name="T5" fmla="*/ 2 h 644"/>
                <a:gd name="T6" fmla="*/ 5 w 1030"/>
                <a:gd name="T7" fmla="*/ 3 h 644"/>
                <a:gd name="T8" fmla="*/ 5 w 1030"/>
                <a:gd name="T9" fmla="*/ 2 h 644"/>
                <a:gd name="T10" fmla="*/ 4 w 1030"/>
                <a:gd name="T11" fmla="*/ 2 h 644"/>
                <a:gd name="T12" fmla="*/ 4 w 1030"/>
                <a:gd name="T13" fmla="*/ 3 h 644"/>
                <a:gd name="T14" fmla="*/ 1 w 1030"/>
                <a:gd name="T15" fmla="*/ 2 h 644"/>
                <a:gd name="T16" fmla="*/ 1 w 1030"/>
                <a:gd name="T17" fmla="*/ 0 h 6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0"/>
                <a:gd name="T28" fmla="*/ 0 h 644"/>
                <a:gd name="T29" fmla="*/ 1030 w 1030"/>
                <a:gd name="T30" fmla="*/ 644 h 6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0" h="644">
                  <a:moveTo>
                    <a:pt x="37" y="0"/>
                  </a:moveTo>
                  <a:lnTo>
                    <a:pt x="0" y="3"/>
                  </a:lnTo>
                  <a:lnTo>
                    <a:pt x="45" y="308"/>
                  </a:lnTo>
                  <a:lnTo>
                    <a:pt x="1026" y="644"/>
                  </a:lnTo>
                  <a:lnTo>
                    <a:pt x="1030" y="313"/>
                  </a:lnTo>
                  <a:lnTo>
                    <a:pt x="993" y="339"/>
                  </a:lnTo>
                  <a:lnTo>
                    <a:pt x="991" y="592"/>
                  </a:lnTo>
                  <a:lnTo>
                    <a:pt x="79" y="279"/>
                  </a:lnTo>
                  <a:lnTo>
                    <a:pt x="37" y="0"/>
                  </a:lnTo>
                  <a:close/>
                </a:path>
              </a:pathLst>
            </a:custGeom>
            <a:solidFill>
              <a:srgbClr val="000000"/>
            </a:solidFill>
            <a:ln w="9525">
              <a:noFill/>
              <a:round/>
              <a:headEnd/>
              <a:tailEnd/>
            </a:ln>
          </p:spPr>
          <p:txBody>
            <a:bodyPr/>
            <a:lstStyle/>
            <a:p>
              <a:endParaRPr lang="en-US"/>
            </a:p>
          </p:txBody>
        </p:sp>
        <p:sp>
          <p:nvSpPr>
            <p:cNvPr id="15591" name="Freeform 45"/>
            <p:cNvSpPr>
              <a:spLocks/>
            </p:cNvSpPr>
            <p:nvPr/>
          </p:nvSpPr>
          <p:spPr bwMode="auto">
            <a:xfrm>
              <a:off x="2305" y="991"/>
              <a:ext cx="516" cy="206"/>
            </a:xfrm>
            <a:custGeom>
              <a:avLst/>
              <a:gdLst>
                <a:gd name="T0" fmla="*/ 5 w 1030"/>
                <a:gd name="T1" fmla="*/ 2 h 412"/>
                <a:gd name="T2" fmla="*/ 1 w 1030"/>
                <a:gd name="T3" fmla="*/ 0 h 412"/>
                <a:gd name="T4" fmla="*/ 0 w 1030"/>
                <a:gd name="T5" fmla="*/ 1 h 412"/>
                <a:gd name="T6" fmla="*/ 0 w 1030"/>
                <a:gd name="T7" fmla="*/ 1 h 412"/>
                <a:gd name="T8" fmla="*/ 1 w 1030"/>
                <a:gd name="T9" fmla="*/ 1 h 412"/>
                <a:gd name="T10" fmla="*/ 1 w 1030"/>
                <a:gd name="T11" fmla="*/ 1 h 412"/>
                <a:gd name="T12" fmla="*/ 4 w 1030"/>
                <a:gd name="T13" fmla="*/ 2 h 412"/>
                <a:gd name="T14" fmla="*/ 5 w 1030"/>
                <a:gd name="T15" fmla="*/ 2 h 412"/>
                <a:gd name="T16" fmla="*/ 0 60000 65536"/>
                <a:gd name="T17" fmla="*/ 0 60000 65536"/>
                <a:gd name="T18" fmla="*/ 0 60000 65536"/>
                <a:gd name="T19" fmla="*/ 0 60000 65536"/>
                <a:gd name="T20" fmla="*/ 0 60000 65536"/>
                <a:gd name="T21" fmla="*/ 0 60000 65536"/>
                <a:gd name="T22" fmla="*/ 0 60000 65536"/>
                <a:gd name="T23" fmla="*/ 0 60000 65536"/>
                <a:gd name="T24" fmla="*/ 0 w 1030"/>
                <a:gd name="T25" fmla="*/ 0 h 412"/>
                <a:gd name="T26" fmla="*/ 1030 w 1030"/>
                <a:gd name="T27" fmla="*/ 412 h 4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0" h="412">
                  <a:moveTo>
                    <a:pt x="1030" y="386"/>
                  </a:moveTo>
                  <a:lnTo>
                    <a:pt x="1" y="0"/>
                  </a:lnTo>
                  <a:lnTo>
                    <a:pt x="0" y="74"/>
                  </a:lnTo>
                  <a:lnTo>
                    <a:pt x="0" y="76"/>
                  </a:lnTo>
                  <a:lnTo>
                    <a:pt x="37" y="73"/>
                  </a:lnTo>
                  <a:lnTo>
                    <a:pt x="37" y="55"/>
                  </a:lnTo>
                  <a:lnTo>
                    <a:pt x="993" y="412"/>
                  </a:lnTo>
                  <a:lnTo>
                    <a:pt x="1030" y="386"/>
                  </a:lnTo>
                  <a:close/>
                </a:path>
              </a:pathLst>
            </a:custGeom>
            <a:solidFill>
              <a:srgbClr val="000000"/>
            </a:solidFill>
            <a:ln w="9525">
              <a:noFill/>
              <a:round/>
              <a:headEnd/>
              <a:tailEnd/>
            </a:ln>
          </p:spPr>
          <p:txBody>
            <a:bodyPr/>
            <a:lstStyle/>
            <a:p>
              <a:endParaRPr lang="en-US"/>
            </a:p>
          </p:txBody>
        </p:sp>
        <p:sp>
          <p:nvSpPr>
            <p:cNvPr id="15592" name="Freeform 46"/>
            <p:cNvSpPr>
              <a:spLocks/>
            </p:cNvSpPr>
            <p:nvPr/>
          </p:nvSpPr>
          <p:spPr bwMode="auto">
            <a:xfrm>
              <a:off x="2340" y="1403"/>
              <a:ext cx="502" cy="270"/>
            </a:xfrm>
            <a:custGeom>
              <a:avLst/>
              <a:gdLst>
                <a:gd name="T0" fmla="*/ 0 w 1005"/>
                <a:gd name="T1" fmla="*/ 0 h 540"/>
                <a:gd name="T2" fmla="*/ 0 w 1005"/>
                <a:gd name="T3" fmla="*/ 1 h 540"/>
                <a:gd name="T4" fmla="*/ 3 w 1005"/>
                <a:gd name="T5" fmla="*/ 2 h 540"/>
                <a:gd name="T6" fmla="*/ 3 w 1005"/>
                <a:gd name="T7" fmla="*/ 1 h 540"/>
                <a:gd name="T8" fmla="*/ 0 w 1005"/>
                <a:gd name="T9" fmla="*/ 0 h 540"/>
                <a:gd name="T10" fmla="*/ 0 w 1005"/>
                <a:gd name="T11" fmla="*/ 0 h 540"/>
                <a:gd name="T12" fmla="*/ 0 w 1005"/>
                <a:gd name="T13" fmla="*/ 0 h 540"/>
                <a:gd name="T14" fmla="*/ 0 60000 65536"/>
                <a:gd name="T15" fmla="*/ 0 60000 65536"/>
                <a:gd name="T16" fmla="*/ 0 60000 65536"/>
                <a:gd name="T17" fmla="*/ 0 60000 65536"/>
                <a:gd name="T18" fmla="*/ 0 60000 65536"/>
                <a:gd name="T19" fmla="*/ 0 60000 65536"/>
                <a:gd name="T20" fmla="*/ 0 60000 65536"/>
                <a:gd name="T21" fmla="*/ 0 w 1005"/>
                <a:gd name="T22" fmla="*/ 0 h 540"/>
                <a:gd name="T23" fmla="*/ 1005 w 1005"/>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5" h="540">
                  <a:moveTo>
                    <a:pt x="34" y="0"/>
                  </a:moveTo>
                  <a:lnTo>
                    <a:pt x="94" y="245"/>
                  </a:lnTo>
                  <a:lnTo>
                    <a:pt x="1005" y="540"/>
                  </a:lnTo>
                  <a:lnTo>
                    <a:pt x="993" y="317"/>
                  </a:lnTo>
                  <a:lnTo>
                    <a:pt x="0" y="0"/>
                  </a:lnTo>
                  <a:lnTo>
                    <a:pt x="34" y="0"/>
                  </a:lnTo>
                  <a:close/>
                </a:path>
              </a:pathLst>
            </a:custGeom>
            <a:solidFill>
              <a:srgbClr val="99FFFB"/>
            </a:solidFill>
            <a:ln w="9525">
              <a:noFill/>
              <a:round/>
              <a:headEnd/>
              <a:tailEnd/>
            </a:ln>
          </p:spPr>
          <p:txBody>
            <a:bodyPr/>
            <a:lstStyle/>
            <a:p>
              <a:endParaRPr lang="en-US"/>
            </a:p>
          </p:txBody>
        </p:sp>
        <p:sp>
          <p:nvSpPr>
            <p:cNvPr id="15593" name="Freeform 47"/>
            <p:cNvSpPr>
              <a:spLocks/>
            </p:cNvSpPr>
            <p:nvPr/>
          </p:nvSpPr>
          <p:spPr bwMode="auto">
            <a:xfrm>
              <a:off x="2348" y="1401"/>
              <a:ext cx="504" cy="285"/>
            </a:xfrm>
            <a:custGeom>
              <a:avLst/>
              <a:gdLst>
                <a:gd name="T0" fmla="*/ 1 w 1008"/>
                <a:gd name="T1" fmla="*/ 0 h 571"/>
                <a:gd name="T2" fmla="*/ 0 w 1008"/>
                <a:gd name="T3" fmla="*/ 0 h 571"/>
                <a:gd name="T4" fmla="*/ 1 w 1008"/>
                <a:gd name="T5" fmla="*/ 1 h 571"/>
                <a:gd name="T6" fmla="*/ 4 w 1008"/>
                <a:gd name="T7" fmla="*/ 2 h 571"/>
                <a:gd name="T8" fmla="*/ 4 w 1008"/>
                <a:gd name="T9" fmla="*/ 1 h 571"/>
                <a:gd name="T10" fmla="*/ 4 w 1008"/>
                <a:gd name="T11" fmla="*/ 1 h 571"/>
                <a:gd name="T12" fmla="*/ 4 w 1008"/>
                <a:gd name="T13" fmla="*/ 2 h 571"/>
                <a:gd name="T14" fmla="*/ 1 w 1008"/>
                <a:gd name="T15" fmla="*/ 0 h 571"/>
                <a:gd name="T16" fmla="*/ 1 w 1008"/>
                <a:gd name="T17" fmla="*/ 0 h 5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8"/>
                <a:gd name="T28" fmla="*/ 0 h 571"/>
                <a:gd name="T29" fmla="*/ 1008 w 1008"/>
                <a:gd name="T30" fmla="*/ 571 h 5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8" h="571">
                  <a:moveTo>
                    <a:pt x="35" y="0"/>
                  </a:moveTo>
                  <a:lnTo>
                    <a:pt x="0" y="10"/>
                  </a:lnTo>
                  <a:lnTo>
                    <a:pt x="62" y="264"/>
                  </a:lnTo>
                  <a:lnTo>
                    <a:pt x="1008" y="571"/>
                  </a:lnTo>
                  <a:lnTo>
                    <a:pt x="996" y="307"/>
                  </a:lnTo>
                  <a:lnTo>
                    <a:pt x="958" y="336"/>
                  </a:lnTo>
                  <a:lnTo>
                    <a:pt x="970" y="519"/>
                  </a:lnTo>
                  <a:lnTo>
                    <a:pt x="94" y="235"/>
                  </a:lnTo>
                  <a:lnTo>
                    <a:pt x="35" y="0"/>
                  </a:lnTo>
                  <a:close/>
                </a:path>
              </a:pathLst>
            </a:custGeom>
            <a:solidFill>
              <a:srgbClr val="000000"/>
            </a:solidFill>
            <a:ln w="9525">
              <a:noFill/>
              <a:round/>
              <a:headEnd/>
              <a:tailEnd/>
            </a:ln>
          </p:spPr>
          <p:txBody>
            <a:bodyPr/>
            <a:lstStyle/>
            <a:p>
              <a:endParaRPr lang="en-US"/>
            </a:p>
          </p:txBody>
        </p:sp>
        <p:sp>
          <p:nvSpPr>
            <p:cNvPr id="15594" name="Freeform 48"/>
            <p:cNvSpPr>
              <a:spLocks/>
            </p:cNvSpPr>
            <p:nvPr/>
          </p:nvSpPr>
          <p:spPr bwMode="auto">
            <a:xfrm>
              <a:off x="2338" y="1393"/>
              <a:ext cx="508" cy="176"/>
            </a:xfrm>
            <a:custGeom>
              <a:avLst/>
              <a:gdLst>
                <a:gd name="T0" fmla="*/ 4 w 1016"/>
                <a:gd name="T1" fmla="*/ 2 h 350"/>
                <a:gd name="T2" fmla="*/ 1 w 1016"/>
                <a:gd name="T3" fmla="*/ 0 h 350"/>
                <a:gd name="T4" fmla="*/ 1 w 1016"/>
                <a:gd name="T5" fmla="*/ 1 h 350"/>
                <a:gd name="T6" fmla="*/ 0 w 1016"/>
                <a:gd name="T7" fmla="*/ 1 h 350"/>
                <a:gd name="T8" fmla="*/ 4 w 1016"/>
                <a:gd name="T9" fmla="*/ 2 h 350"/>
                <a:gd name="T10" fmla="*/ 4 w 1016"/>
                <a:gd name="T11" fmla="*/ 2 h 350"/>
                <a:gd name="T12" fmla="*/ 0 60000 65536"/>
                <a:gd name="T13" fmla="*/ 0 60000 65536"/>
                <a:gd name="T14" fmla="*/ 0 60000 65536"/>
                <a:gd name="T15" fmla="*/ 0 60000 65536"/>
                <a:gd name="T16" fmla="*/ 0 60000 65536"/>
                <a:gd name="T17" fmla="*/ 0 60000 65536"/>
                <a:gd name="T18" fmla="*/ 0 w 1016"/>
                <a:gd name="T19" fmla="*/ 0 h 350"/>
                <a:gd name="T20" fmla="*/ 1016 w 1016"/>
                <a:gd name="T21" fmla="*/ 350 h 350"/>
              </a:gdLst>
              <a:ahLst/>
              <a:cxnLst>
                <a:cxn ang="T12">
                  <a:pos x="T0" y="T1"/>
                </a:cxn>
                <a:cxn ang="T13">
                  <a:pos x="T2" y="T3"/>
                </a:cxn>
                <a:cxn ang="T14">
                  <a:pos x="T4" y="T5"/>
                </a:cxn>
                <a:cxn ang="T15">
                  <a:pos x="T6" y="T7"/>
                </a:cxn>
                <a:cxn ang="T16">
                  <a:pos x="T8" y="T9"/>
                </a:cxn>
                <a:cxn ang="T17">
                  <a:pos x="T10" y="T11"/>
                </a:cxn>
              </a:cxnLst>
              <a:rect l="T18" t="T19" r="T20" b="T21"/>
              <a:pathLst>
                <a:path w="1016" h="350">
                  <a:moveTo>
                    <a:pt x="1016" y="321"/>
                  </a:moveTo>
                  <a:lnTo>
                    <a:pt x="9" y="0"/>
                  </a:lnTo>
                  <a:lnTo>
                    <a:pt x="4" y="19"/>
                  </a:lnTo>
                  <a:lnTo>
                    <a:pt x="0" y="39"/>
                  </a:lnTo>
                  <a:lnTo>
                    <a:pt x="978" y="350"/>
                  </a:lnTo>
                  <a:lnTo>
                    <a:pt x="1016" y="321"/>
                  </a:lnTo>
                  <a:close/>
                </a:path>
              </a:pathLst>
            </a:custGeom>
            <a:solidFill>
              <a:srgbClr val="000000"/>
            </a:solidFill>
            <a:ln w="9525">
              <a:noFill/>
              <a:round/>
              <a:headEnd/>
              <a:tailEnd/>
            </a:ln>
          </p:spPr>
          <p:txBody>
            <a:bodyPr/>
            <a:lstStyle/>
            <a:p>
              <a:endParaRPr lang="en-US"/>
            </a:p>
          </p:txBody>
        </p:sp>
        <p:sp>
          <p:nvSpPr>
            <p:cNvPr id="15595" name="Freeform 49"/>
            <p:cNvSpPr>
              <a:spLocks/>
            </p:cNvSpPr>
            <p:nvPr/>
          </p:nvSpPr>
          <p:spPr bwMode="auto">
            <a:xfrm>
              <a:off x="2370" y="1429"/>
              <a:ext cx="443" cy="148"/>
            </a:xfrm>
            <a:custGeom>
              <a:avLst/>
              <a:gdLst>
                <a:gd name="T0" fmla="*/ 1 w 885"/>
                <a:gd name="T1" fmla="*/ 1 h 296"/>
                <a:gd name="T2" fmla="*/ 0 w 885"/>
                <a:gd name="T3" fmla="*/ 0 h 296"/>
                <a:gd name="T4" fmla="*/ 4 w 885"/>
                <a:gd name="T5" fmla="*/ 1 h 296"/>
                <a:gd name="T6" fmla="*/ 1 w 885"/>
                <a:gd name="T7" fmla="*/ 1 h 296"/>
                <a:gd name="T8" fmla="*/ 1 w 885"/>
                <a:gd name="T9" fmla="*/ 1 h 296"/>
                <a:gd name="T10" fmla="*/ 0 60000 65536"/>
                <a:gd name="T11" fmla="*/ 0 60000 65536"/>
                <a:gd name="T12" fmla="*/ 0 60000 65536"/>
                <a:gd name="T13" fmla="*/ 0 60000 65536"/>
                <a:gd name="T14" fmla="*/ 0 60000 65536"/>
                <a:gd name="T15" fmla="*/ 0 w 885"/>
                <a:gd name="T16" fmla="*/ 0 h 296"/>
                <a:gd name="T17" fmla="*/ 885 w 885"/>
                <a:gd name="T18" fmla="*/ 296 h 296"/>
              </a:gdLst>
              <a:ahLst/>
              <a:cxnLst>
                <a:cxn ang="T10">
                  <a:pos x="T0" y="T1"/>
                </a:cxn>
                <a:cxn ang="T11">
                  <a:pos x="T2" y="T3"/>
                </a:cxn>
                <a:cxn ang="T12">
                  <a:pos x="T4" y="T5"/>
                </a:cxn>
                <a:cxn ang="T13">
                  <a:pos x="T6" y="T7"/>
                </a:cxn>
                <a:cxn ang="T14">
                  <a:pos x="T8" y="T9"/>
                </a:cxn>
              </a:cxnLst>
              <a:rect l="T15" t="T16" r="T17" b="T18"/>
              <a:pathLst>
                <a:path w="885" h="296">
                  <a:moveTo>
                    <a:pt x="50" y="115"/>
                  </a:moveTo>
                  <a:lnTo>
                    <a:pt x="0" y="0"/>
                  </a:lnTo>
                  <a:lnTo>
                    <a:pt x="885" y="296"/>
                  </a:lnTo>
                  <a:lnTo>
                    <a:pt x="50" y="115"/>
                  </a:lnTo>
                  <a:close/>
                </a:path>
              </a:pathLst>
            </a:custGeom>
            <a:solidFill>
              <a:srgbClr val="99FFFB"/>
            </a:solidFill>
            <a:ln w="9525">
              <a:noFill/>
              <a:round/>
              <a:headEnd/>
              <a:tailEnd/>
            </a:ln>
          </p:spPr>
          <p:txBody>
            <a:bodyPr/>
            <a:lstStyle/>
            <a:p>
              <a:endParaRPr lang="en-US"/>
            </a:p>
          </p:txBody>
        </p:sp>
        <p:sp>
          <p:nvSpPr>
            <p:cNvPr id="15596" name="Freeform 50"/>
            <p:cNvSpPr>
              <a:spLocks/>
            </p:cNvSpPr>
            <p:nvPr/>
          </p:nvSpPr>
          <p:spPr bwMode="auto">
            <a:xfrm>
              <a:off x="2468" y="2490"/>
              <a:ext cx="343" cy="194"/>
            </a:xfrm>
            <a:custGeom>
              <a:avLst/>
              <a:gdLst>
                <a:gd name="T0" fmla="*/ 0 w 687"/>
                <a:gd name="T1" fmla="*/ 0 h 386"/>
                <a:gd name="T2" fmla="*/ 0 w 687"/>
                <a:gd name="T3" fmla="*/ 1 h 386"/>
                <a:gd name="T4" fmla="*/ 2 w 687"/>
                <a:gd name="T5" fmla="*/ 2 h 386"/>
                <a:gd name="T6" fmla="*/ 2 w 687"/>
                <a:gd name="T7" fmla="*/ 2 h 386"/>
                <a:gd name="T8" fmla="*/ 0 w 687"/>
                <a:gd name="T9" fmla="*/ 0 h 386"/>
                <a:gd name="T10" fmla="*/ 0 60000 65536"/>
                <a:gd name="T11" fmla="*/ 0 60000 65536"/>
                <a:gd name="T12" fmla="*/ 0 60000 65536"/>
                <a:gd name="T13" fmla="*/ 0 60000 65536"/>
                <a:gd name="T14" fmla="*/ 0 60000 65536"/>
                <a:gd name="T15" fmla="*/ 0 w 687"/>
                <a:gd name="T16" fmla="*/ 0 h 386"/>
                <a:gd name="T17" fmla="*/ 687 w 687"/>
                <a:gd name="T18" fmla="*/ 386 h 386"/>
              </a:gdLst>
              <a:ahLst/>
              <a:cxnLst>
                <a:cxn ang="T10">
                  <a:pos x="T0" y="T1"/>
                </a:cxn>
                <a:cxn ang="T11">
                  <a:pos x="T2" y="T3"/>
                </a:cxn>
                <a:cxn ang="T12">
                  <a:pos x="T4" y="T5"/>
                </a:cxn>
                <a:cxn ang="T13">
                  <a:pos x="T6" y="T7"/>
                </a:cxn>
                <a:cxn ang="T14">
                  <a:pos x="T8" y="T9"/>
                </a:cxn>
              </a:cxnLst>
              <a:rect l="T15" t="T16" r="T17" b="T18"/>
              <a:pathLst>
                <a:path w="687" h="386">
                  <a:moveTo>
                    <a:pt x="24" y="0"/>
                  </a:moveTo>
                  <a:lnTo>
                    <a:pt x="0" y="58"/>
                  </a:lnTo>
                  <a:lnTo>
                    <a:pt x="664" y="386"/>
                  </a:lnTo>
                  <a:lnTo>
                    <a:pt x="687" y="327"/>
                  </a:lnTo>
                  <a:lnTo>
                    <a:pt x="24" y="0"/>
                  </a:lnTo>
                  <a:close/>
                </a:path>
              </a:pathLst>
            </a:custGeom>
            <a:solidFill>
              <a:srgbClr val="000000"/>
            </a:solidFill>
            <a:ln w="9525">
              <a:noFill/>
              <a:round/>
              <a:headEnd/>
              <a:tailEnd/>
            </a:ln>
          </p:spPr>
          <p:txBody>
            <a:bodyPr/>
            <a:lstStyle/>
            <a:p>
              <a:endParaRPr lang="en-US"/>
            </a:p>
          </p:txBody>
        </p:sp>
        <p:sp>
          <p:nvSpPr>
            <p:cNvPr id="15597" name="Freeform 51"/>
            <p:cNvSpPr>
              <a:spLocks/>
            </p:cNvSpPr>
            <p:nvPr/>
          </p:nvSpPr>
          <p:spPr bwMode="auto">
            <a:xfrm>
              <a:off x="2463" y="2566"/>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5598" name="Freeform 52"/>
            <p:cNvSpPr>
              <a:spLocks/>
            </p:cNvSpPr>
            <p:nvPr/>
          </p:nvSpPr>
          <p:spPr bwMode="auto">
            <a:xfrm>
              <a:off x="2442" y="2641"/>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5599" name="Freeform 53"/>
            <p:cNvSpPr>
              <a:spLocks/>
            </p:cNvSpPr>
            <p:nvPr/>
          </p:nvSpPr>
          <p:spPr bwMode="auto">
            <a:xfrm>
              <a:off x="2437" y="2718"/>
              <a:ext cx="350" cy="221"/>
            </a:xfrm>
            <a:custGeom>
              <a:avLst/>
              <a:gdLst>
                <a:gd name="T0" fmla="*/ 1 w 699"/>
                <a:gd name="T1" fmla="*/ 0 h 441"/>
                <a:gd name="T2" fmla="*/ 0 w 699"/>
                <a:gd name="T3" fmla="*/ 1 h 441"/>
                <a:gd name="T4" fmla="*/ 3 w 699"/>
                <a:gd name="T5" fmla="*/ 2 h 441"/>
                <a:gd name="T6" fmla="*/ 3 w 699"/>
                <a:gd name="T7" fmla="*/ 2 h 441"/>
                <a:gd name="T8" fmla="*/ 1 w 699"/>
                <a:gd name="T9" fmla="*/ 0 h 441"/>
                <a:gd name="T10" fmla="*/ 0 60000 65536"/>
                <a:gd name="T11" fmla="*/ 0 60000 65536"/>
                <a:gd name="T12" fmla="*/ 0 60000 65536"/>
                <a:gd name="T13" fmla="*/ 0 60000 65536"/>
                <a:gd name="T14" fmla="*/ 0 60000 65536"/>
                <a:gd name="T15" fmla="*/ 0 w 699"/>
                <a:gd name="T16" fmla="*/ 0 h 441"/>
                <a:gd name="T17" fmla="*/ 699 w 699"/>
                <a:gd name="T18" fmla="*/ 441 h 441"/>
              </a:gdLst>
              <a:ahLst/>
              <a:cxnLst>
                <a:cxn ang="T10">
                  <a:pos x="T0" y="T1"/>
                </a:cxn>
                <a:cxn ang="T11">
                  <a:pos x="T2" y="T3"/>
                </a:cxn>
                <a:cxn ang="T12">
                  <a:pos x="T4" y="T5"/>
                </a:cxn>
                <a:cxn ang="T13">
                  <a:pos x="T6" y="T7"/>
                </a:cxn>
                <a:cxn ang="T14">
                  <a:pos x="T8" y="T9"/>
                </a:cxn>
              </a:cxnLst>
              <a:rect l="T15" t="T16" r="T17" b="T18"/>
              <a:pathLst>
                <a:path w="699" h="441">
                  <a:moveTo>
                    <a:pt x="27" y="0"/>
                  </a:moveTo>
                  <a:lnTo>
                    <a:pt x="0" y="58"/>
                  </a:lnTo>
                  <a:lnTo>
                    <a:pt x="673" y="441"/>
                  </a:lnTo>
                  <a:lnTo>
                    <a:pt x="699" y="383"/>
                  </a:lnTo>
                  <a:lnTo>
                    <a:pt x="27" y="0"/>
                  </a:lnTo>
                  <a:close/>
                </a:path>
              </a:pathLst>
            </a:custGeom>
            <a:solidFill>
              <a:srgbClr val="000000"/>
            </a:solidFill>
            <a:ln w="9525">
              <a:noFill/>
              <a:round/>
              <a:headEnd/>
              <a:tailEnd/>
            </a:ln>
          </p:spPr>
          <p:txBody>
            <a:bodyPr/>
            <a:lstStyle/>
            <a:p>
              <a:endParaRPr lang="en-US"/>
            </a:p>
          </p:txBody>
        </p:sp>
        <p:sp>
          <p:nvSpPr>
            <p:cNvPr id="15600" name="Freeform 54"/>
            <p:cNvSpPr>
              <a:spLocks/>
            </p:cNvSpPr>
            <p:nvPr/>
          </p:nvSpPr>
          <p:spPr bwMode="auto">
            <a:xfrm>
              <a:off x="2934" y="770"/>
              <a:ext cx="1059" cy="264"/>
            </a:xfrm>
            <a:custGeom>
              <a:avLst/>
              <a:gdLst>
                <a:gd name="T0" fmla="*/ 0 w 2119"/>
                <a:gd name="T1" fmla="*/ 2 h 528"/>
                <a:gd name="T2" fmla="*/ 0 w 2119"/>
                <a:gd name="T3" fmla="*/ 2 h 528"/>
                <a:gd name="T4" fmla="*/ 8 w 2119"/>
                <a:gd name="T5" fmla="*/ 1 h 528"/>
                <a:gd name="T6" fmla="*/ 8 w 2119"/>
                <a:gd name="T7" fmla="*/ 0 h 528"/>
                <a:gd name="T8" fmla="*/ 0 w 2119"/>
                <a:gd name="T9" fmla="*/ 2 h 528"/>
                <a:gd name="T10" fmla="*/ 0 60000 65536"/>
                <a:gd name="T11" fmla="*/ 0 60000 65536"/>
                <a:gd name="T12" fmla="*/ 0 60000 65536"/>
                <a:gd name="T13" fmla="*/ 0 60000 65536"/>
                <a:gd name="T14" fmla="*/ 0 60000 65536"/>
                <a:gd name="T15" fmla="*/ 0 w 2119"/>
                <a:gd name="T16" fmla="*/ 0 h 528"/>
                <a:gd name="T17" fmla="*/ 2119 w 2119"/>
                <a:gd name="T18" fmla="*/ 528 h 528"/>
              </a:gdLst>
              <a:ahLst/>
              <a:cxnLst>
                <a:cxn ang="T10">
                  <a:pos x="T0" y="T1"/>
                </a:cxn>
                <a:cxn ang="T11">
                  <a:pos x="T2" y="T3"/>
                </a:cxn>
                <a:cxn ang="T12">
                  <a:pos x="T4" y="T5"/>
                </a:cxn>
                <a:cxn ang="T13">
                  <a:pos x="T6" y="T7"/>
                </a:cxn>
                <a:cxn ang="T14">
                  <a:pos x="T8" y="T9"/>
                </a:cxn>
              </a:cxnLst>
              <a:rect l="T15" t="T16" r="T17" b="T18"/>
              <a:pathLst>
                <a:path w="2119" h="528">
                  <a:moveTo>
                    <a:pt x="0" y="486"/>
                  </a:moveTo>
                  <a:lnTo>
                    <a:pt x="6" y="528"/>
                  </a:lnTo>
                  <a:lnTo>
                    <a:pt x="2119" y="42"/>
                  </a:lnTo>
                  <a:lnTo>
                    <a:pt x="2114" y="0"/>
                  </a:lnTo>
                  <a:lnTo>
                    <a:pt x="0" y="486"/>
                  </a:lnTo>
                  <a:close/>
                </a:path>
              </a:pathLst>
            </a:custGeom>
            <a:solidFill>
              <a:srgbClr val="DEFF73"/>
            </a:solidFill>
            <a:ln w="9525">
              <a:noFill/>
              <a:round/>
              <a:headEnd/>
              <a:tailEnd/>
            </a:ln>
          </p:spPr>
          <p:txBody>
            <a:bodyPr/>
            <a:lstStyle/>
            <a:p>
              <a:endParaRPr lang="en-US"/>
            </a:p>
          </p:txBody>
        </p:sp>
        <p:sp>
          <p:nvSpPr>
            <p:cNvPr id="15601" name="Freeform 55"/>
            <p:cNvSpPr>
              <a:spLocks/>
            </p:cNvSpPr>
            <p:nvPr/>
          </p:nvSpPr>
          <p:spPr bwMode="auto">
            <a:xfrm>
              <a:off x="2256" y="672"/>
              <a:ext cx="1872" cy="384"/>
            </a:xfrm>
            <a:custGeom>
              <a:avLst/>
              <a:gdLst>
                <a:gd name="T0" fmla="*/ 1872 w 1872"/>
                <a:gd name="T1" fmla="*/ 96 h 384"/>
                <a:gd name="T2" fmla="*/ 672 w 1872"/>
                <a:gd name="T3" fmla="*/ 384 h 384"/>
                <a:gd name="T4" fmla="*/ 0 w 1872"/>
                <a:gd name="T5" fmla="*/ 192 h 384"/>
                <a:gd name="T6" fmla="*/ 1392 w 1872"/>
                <a:gd name="T7" fmla="*/ 0 h 384"/>
                <a:gd name="T8" fmla="*/ 1872 w 1872"/>
                <a:gd name="T9" fmla="*/ 96 h 384"/>
                <a:gd name="T10" fmla="*/ 0 60000 65536"/>
                <a:gd name="T11" fmla="*/ 0 60000 65536"/>
                <a:gd name="T12" fmla="*/ 0 60000 65536"/>
                <a:gd name="T13" fmla="*/ 0 60000 65536"/>
                <a:gd name="T14" fmla="*/ 0 60000 65536"/>
                <a:gd name="T15" fmla="*/ 0 w 1872"/>
                <a:gd name="T16" fmla="*/ 0 h 384"/>
                <a:gd name="T17" fmla="*/ 1872 w 1872"/>
                <a:gd name="T18" fmla="*/ 384 h 384"/>
              </a:gdLst>
              <a:ahLst/>
              <a:cxnLst>
                <a:cxn ang="T10">
                  <a:pos x="T0" y="T1"/>
                </a:cxn>
                <a:cxn ang="T11">
                  <a:pos x="T2" y="T3"/>
                </a:cxn>
                <a:cxn ang="T12">
                  <a:pos x="T4" y="T5"/>
                </a:cxn>
                <a:cxn ang="T13">
                  <a:pos x="T6" y="T7"/>
                </a:cxn>
                <a:cxn ang="T14">
                  <a:pos x="T8" y="T9"/>
                </a:cxn>
              </a:cxnLst>
              <a:rect l="T15" t="T16" r="T17" b="T18"/>
              <a:pathLst>
                <a:path w="1872" h="384">
                  <a:moveTo>
                    <a:pt x="1872" y="96"/>
                  </a:moveTo>
                  <a:lnTo>
                    <a:pt x="672" y="384"/>
                  </a:lnTo>
                  <a:lnTo>
                    <a:pt x="0" y="192"/>
                  </a:lnTo>
                  <a:lnTo>
                    <a:pt x="1392" y="0"/>
                  </a:lnTo>
                  <a:lnTo>
                    <a:pt x="1872" y="96"/>
                  </a:lnTo>
                  <a:close/>
                </a:path>
              </a:pathLst>
            </a:custGeom>
            <a:gradFill rotWithShape="0">
              <a:gsLst>
                <a:gs pos="0">
                  <a:srgbClr val="BEE761"/>
                </a:gs>
                <a:gs pos="100000">
                  <a:srgbClr val="44D6FE"/>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5368" name="Group 56"/>
          <p:cNvGrpSpPr>
            <a:grpSpLocks/>
          </p:cNvGrpSpPr>
          <p:nvPr/>
        </p:nvGrpSpPr>
        <p:grpSpPr bwMode="auto">
          <a:xfrm rot="-245528">
            <a:off x="5715000" y="2133600"/>
            <a:ext cx="238125" cy="309563"/>
            <a:chOff x="2202" y="666"/>
            <a:chExt cx="2001" cy="2601"/>
          </a:xfrm>
        </p:grpSpPr>
        <p:sp>
          <p:nvSpPr>
            <p:cNvPr id="15548" name="Freeform 57"/>
            <p:cNvSpPr>
              <a:spLocks/>
            </p:cNvSpPr>
            <p:nvPr/>
          </p:nvSpPr>
          <p:spPr bwMode="auto">
            <a:xfrm>
              <a:off x="2236" y="871"/>
              <a:ext cx="692" cy="2345"/>
            </a:xfrm>
            <a:custGeom>
              <a:avLst/>
              <a:gdLst>
                <a:gd name="T0" fmla="*/ 692 w 692"/>
                <a:gd name="T1" fmla="*/ 2345 h 2345"/>
                <a:gd name="T2" fmla="*/ 116 w 692"/>
                <a:gd name="T3" fmla="*/ 2009 h 2345"/>
                <a:gd name="T4" fmla="*/ 116 w 692"/>
                <a:gd name="T5" fmla="*/ 1385 h 2345"/>
                <a:gd name="T6" fmla="*/ 164 w 692"/>
                <a:gd name="T7" fmla="*/ 1193 h 2345"/>
                <a:gd name="T8" fmla="*/ 0 w 692"/>
                <a:gd name="T9" fmla="*/ 0 h 2345"/>
                <a:gd name="T10" fmla="*/ 673 w 692"/>
                <a:gd name="T11" fmla="*/ 222 h 2345"/>
                <a:gd name="T12" fmla="*/ 692 w 692"/>
                <a:gd name="T13" fmla="*/ 2345 h 2345"/>
                <a:gd name="T14" fmla="*/ 0 60000 65536"/>
                <a:gd name="T15" fmla="*/ 0 60000 65536"/>
                <a:gd name="T16" fmla="*/ 0 60000 65536"/>
                <a:gd name="T17" fmla="*/ 0 60000 65536"/>
                <a:gd name="T18" fmla="*/ 0 60000 65536"/>
                <a:gd name="T19" fmla="*/ 0 60000 65536"/>
                <a:gd name="T20" fmla="*/ 0 60000 65536"/>
                <a:gd name="T21" fmla="*/ 0 w 692"/>
                <a:gd name="T22" fmla="*/ 0 h 2345"/>
                <a:gd name="T23" fmla="*/ 692 w 692"/>
                <a:gd name="T24" fmla="*/ 2345 h 23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2" h="2345">
                  <a:moveTo>
                    <a:pt x="692" y="2345"/>
                  </a:moveTo>
                  <a:lnTo>
                    <a:pt x="116" y="2009"/>
                  </a:lnTo>
                  <a:lnTo>
                    <a:pt x="116" y="1385"/>
                  </a:lnTo>
                  <a:lnTo>
                    <a:pt x="164" y="1193"/>
                  </a:lnTo>
                  <a:lnTo>
                    <a:pt x="0" y="0"/>
                  </a:lnTo>
                  <a:lnTo>
                    <a:pt x="673" y="222"/>
                  </a:lnTo>
                  <a:lnTo>
                    <a:pt x="692" y="2345"/>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5549" name="Freeform 58"/>
            <p:cNvSpPr>
              <a:spLocks/>
            </p:cNvSpPr>
            <p:nvPr/>
          </p:nvSpPr>
          <p:spPr bwMode="auto">
            <a:xfrm>
              <a:off x="2928" y="768"/>
              <a:ext cx="1248" cy="2448"/>
            </a:xfrm>
            <a:custGeom>
              <a:avLst/>
              <a:gdLst>
                <a:gd name="T0" fmla="*/ 0 w 1248"/>
                <a:gd name="T1" fmla="*/ 336 h 2448"/>
                <a:gd name="T2" fmla="*/ 0 w 1248"/>
                <a:gd name="T3" fmla="*/ 2448 h 2448"/>
                <a:gd name="T4" fmla="*/ 1200 w 1248"/>
                <a:gd name="T5" fmla="*/ 1968 h 2448"/>
                <a:gd name="T6" fmla="*/ 1008 w 1248"/>
                <a:gd name="T7" fmla="*/ 1008 h 2448"/>
                <a:gd name="T8" fmla="*/ 1248 w 1248"/>
                <a:gd name="T9" fmla="*/ 0 h 2448"/>
                <a:gd name="T10" fmla="*/ 0 w 1248"/>
                <a:gd name="T11" fmla="*/ 336 h 2448"/>
                <a:gd name="T12" fmla="*/ 0 60000 65536"/>
                <a:gd name="T13" fmla="*/ 0 60000 65536"/>
                <a:gd name="T14" fmla="*/ 0 60000 65536"/>
                <a:gd name="T15" fmla="*/ 0 60000 65536"/>
                <a:gd name="T16" fmla="*/ 0 60000 65536"/>
                <a:gd name="T17" fmla="*/ 0 60000 65536"/>
                <a:gd name="T18" fmla="*/ 0 w 1248"/>
                <a:gd name="T19" fmla="*/ 0 h 2448"/>
                <a:gd name="T20" fmla="*/ 1248 w 1248"/>
                <a:gd name="T21" fmla="*/ 2448 h 2448"/>
              </a:gdLst>
              <a:ahLst/>
              <a:cxnLst>
                <a:cxn ang="T12">
                  <a:pos x="T0" y="T1"/>
                </a:cxn>
                <a:cxn ang="T13">
                  <a:pos x="T2" y="T3"/>
                </a:cxn>
                <a:cxn ang="T14">
                  <a:pos x="T4" y="T5"/>
                </a:cxn>
                <a:cxn ang="T15">
                  <a:pos x="T6" y="T7"/>
                </a:cxn>
                <a:cxn ang="T16">
                  <a:pos x="T8" y="T9"/>
                </a:cxn>
                <a:cxn ang="T17">
                  <a:pos x="T10" y="T11"/>
                </a:cxn>
              </a:cxnLst>
              <a:rect l="T18" t="T19" r="T20" b="T21"/>
              <a:pathLst>
                <a:path w="1248" h="2448">
                  <a:moveTo>
                    <a:pt x="0" y="336"/>
                  </a:moveTo>
                  <a:lnTo>
                    <a:pt x="0" y="2448"/>
                  </a:lnTo>
                  <a:lnTo>
                    <a:pt x="1200" y="1968"/>
                  </a:lnTo>
                  <a:lnTo>
                    <a:pt x="1008" y="1008"/>
                  </a:lnTo>
                  <a:lnTo>
                    <a:pt x="1248" y="0"/>
                  </a:lnTo>
                  <a:lnTo>
                    <a:pt x="0" y="336"/>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5550" name="Freeform 59"/>
            <p:cNvSpPr>
              <a:spLocks/>
            </p:cNvSpPr>
            <p:nvPr/>
          </p:nvSpPr>
          <p:spPr bwMode="auto">
            <a:xfrm>
              <a:off x="2326" y="2051"/>
              <a:ext cx="603" cy="1216"/>
            </a:xfrm>
            <a:custGeom>
              <a:avLst/>
              <a:gdLst>
                <a:gd name="T0" fmla="*/ 1 w 1204"/>
                <a:gd name="T1" fmla="*/ 1 h 2432"/>
                <a:gd name="T2" fmla="*/ 1 w 1204"/>
                <a:gd name="T3" fmla="*/ 0 h 2432"/>
                <a:gd name="T4" fmla="*/ 0 w 1204"/>
                <a:gd name="T5" fmla="*/ 7 h 2432"/>
                <a:gd name="T6" fmla="*/ 5 w 1204"/>
                <a:gd name="T7" fmla="*/ 10 h 2432"/>
                <a:gd name="T8" fmla="*/ 5 w 1204"/>
                <a:gd name="T9" fmla="*/ 9 h 2432"/>
                <a:gd name="T10" fmla="*/ 5 w 1204"/>
                <a:gd name="T11" fmla="*/ 9 h 2432"/>
                <a:gd name="T12" fmla="*/ 5 w 1204"/>
                <a:gd name="T13" fmla="*/ 10 h 2432"/>
                <a:gd name="T14" fmla="*/ 1 w 1204"/>
                <a:gd name="T15" fmla="*/ 6 h 2432"/>
                <a:gd name="T16" fmla="*/ 1 w 1204"/>
                <a:gd name="T17" fmla="*/ 1 h 2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04"/>
                <a:gd name="T28" fmla="*/ 0 h 2432"/>
                <a:gd name="T29" fmla="*/ 1204 w 1204"/>
                <a:gd name="T30" fmla="*/ 2432 h 24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04" h="2432">
                  <a:moveTo>
                    <a:pt x="162" y="3"/>
                  </a:moveTo>
                  <a:lnTo>
                    <a:pt x="104" y="0"/>
                  </a:lnTo>
                  <a:lnTo>
                    <a:pt x="0" y="1669"/>
                  </a:lnTo>
                  <a:lnTo>
                    <a:pt x="1193" y="2432"/>
                  </a:lnTo>
                  <a:lnTo>
                    <a:pt x="1204" y="2292"/>
                  </a:lnTo>
                  <a:lnTo>
                    <a:pt x="1146" y="2286"/>
                  </a:lnTo>
                  <a:lnTo>
                    <a:pt x="1143" y="2328"/>
                  </a:lnTo>
                  <a:lnTo>
                    <a:pt x="58" y="1633"/>
                  </a:lnTo>
                  <a:lnTo>
                    <a:pt x="162" y="3"/>
                  </a:lnTo>
                  <a:close/>
                </a:path>
              </a:pathLst>
            </a:custGeom>
            <a:solidFill>
              <a:srgbClr val="000000"/>
            </a:solidFill>
            <a:ln w="9525">
              <a:noFill/>
              <a:round/>
              <a:headEnd/>
              <a:tailEnd/>
            </a:ln>
          </p:spPr>
          <p:txBody>
            <a:bodyPr/>
            <a:lstStyle/>
            <a:p>
              <a:endParaRPr lang="en-US"/>
            </a:p>
          </p:txBody>
        </p:sp>
        <p:sp>
          <p:nvSpPr>
            <p:cNvPr id="15551" name="Freeform 60"/>
            <p:cNvSpPr>
              <a:spLocks/>
            </p:cNvSpPr>
            <p:nvPr/>
          </p:nvSpPr>
          <p:spPr bwMode="auto">
            <a:xfrm>
              <a:off x="2202" y="858"/>
              <a:ext cx="206" cy="1196"/>
            </a:xfrm>
            <a:custGeom>
              <a:avLst/>
              <a:gdLst>
                <a:gd name="T0" fmla="*/ 0 w 410"/>
                <a:gd name="T1" fmla="*/ 0 h 2391"/>
                <a:gd name="T2" fmla="*/ 2 w 410"/>
                <a:gd name="T3" fmla="*/ 10 h 2391"/>
                <a:gd name="T4" fmla="*/ 2 w 410"/>
                <a:gd name="T5" fmla="*/ 10 h 2391"/>
                <a:gd name="T6" fmla="*/ 2 w 410"/>
                <a:gd name="T7" fmla="*/ 10 h 2391"/>
                <a:gd name="T8" fmla="*/ 1 w 410"/>
                <a:gd name="T9" fmla="*/ 1 h 2391"/>
                <a:gd name="T10" fmla="*/ 0 w 410"/>
                <a:gd name="T11" fmla="*/ 0 h 2391"/>
                <a:gd name="T12" fmla="*/ 0 60000 65536"/>
                <a:gd name="T13" fmla="*/ 0 60000 65536"/>
                <a:gd name="T14" fmla="*/ 0 60000 65536"/>
                <a:gd name="T15" fmla="*/ 0 60000 65536"/>
                <a:gd name="T16" fmla="*/ 0 60000 65536"/>
                <a:gd name="T17" fmla="*/ 0 60000 65536"/>
                <a:gd name="T18" fmla="*/ 0 w 410"/>
                <a:gd name="T19" fmla="*/ 0 h 2391"/>
                <a:gd name="T20" fmla="*/ 410 w 410"/>
                <a:gd name="T21" fmla="*/ 2391 h 2391"/>
              </a:gdLst>
              <a:ahLst/>
              <a:cxnLst>
                <a:cxn ang="T12">
                  <a:pos x="T0" y="T1"/>
                </a:cxn>
                <a:cxn ang="T13">
                  <a:pos x="T2" y="T3"/>
                </a:cxn>
                <a:cxn ang="T14">
                  <a:pos x="T4" y="T5"/>
                </a:cxn>
                <a:cxn ang="T15">
                  <a:pos x="T6" y="T7"/>
                </a:cxn>
                <a:cxn ang="T16">
                  <a:pos x="T8" y="T9"/>
                </a:cxn>
                <a:cxn ang="T17">
                  <a:pos x="T10" y="T11"/>
                </a:cxn>
              </a:cxnLst>
              <a:rect l="T18" t="T19" r="T20" b="T21"/>
              <a:pathLst>
                <a:path w="410" h="2391">
                  <a:moveTo>
                    <a:pt x="0" y="0"/>
                  </a:moveTo>
                  <a:lnTo>
                    <a:pt x="352" y="2391"/>
                  </a:lnTo>
                  <a:lnTo>
                    <a:pt x="410" y="2389"/>
                  </a:lnTo>
                  <a:lnTo>
                    <a:pt x="410" y="2385"/>
                  </a:lnTo>
                  <a:lnTo>
                    <a:pt x="69" y="81"/>
                  </a:lnTo>
                  <a:lnTo>
                    <a:pt x="0" y="0"/>
                  </a:lnTo>
                  <a:close/>
                </a:path>
              </a:pathLst>
            </a:custGeom>
            <a:solidFill>
              <a:srgbClr val="000000"/>
            </a:solidFill>
            <a:ln w="9525">
              <a:noFill/>
              <a:round/>
              <a:headEnd/>
              <a:tailEnd/>
            </a:ln>
          </p:spPr>
          <p:txBody>
            <a:bodyPr/>
            <a:lstStyle/>
            <a:p>
              <a:endParaRPr lang="en-US"/>
            </a:p>
          </p:txBody>
        </p:sp>
        <p:sp>
          <p:nvSpPr>
            <p:cNvPr id="15552" name="Freeform 61"/>
            <p:cNvSpPr>
              <a:spLocks/>
            </p:cNvSpPr>
            <p:nvPr/>
          </p:nvSpPr>
          <p:spPr bwMode="auto">
            <a:xfrm>
              <a:off x="2916" y="751"/>
              <a:ext cx="1287" cy="2503"/>
            </a:xfrm>
            <a:custGeom>
              <a:avLst/>
              <a:gdLst>
                <a:gd name="T0" fmla="*/ 1 w 2574"/>
                <a:gd name="T1" fmla="*/ 20 h 5006"/>
                <a:gd name="T2" fmla="*/ 1 w 2574"/>
                <a:gd name="T3" fmla="*/ 20 h 5006"/>
                <a:gd name="T4" fmla="*/ 10 w 2574"/>
                <a:gd name="T5" fmla="*/ 16 h 5006"/>
                <a:gd name="T6" fmla="*/ 9 w 2574"/>
                <a:gd name="T7" fmla="*/ 9 h 5006"/>
                <a:gd name="T8" fmla="*/ 10 w 2574"/>
                <a:gd name="T9" fmla="*/ 0 h 5006"/>
                <a:gd name="T10" fmla="*/ 0 w 2574"/>
                <a:gd name="T11" fmla="*/ 3 h 5006"/>
                <a:gd name="T12" fmla="*/ 1 w 2574"/>
                <a:gd name="T13" fmla="*/ 3 h 5006"/>
                <a:gd name="T14" fmla="*/ 10 w 2574"/>
                <a:gd name="T15" fmla="*/ 1 h 5006"/>
                <a:gd name="T16" fmla="*/ 8 w 2574"/>
                <a:gd name="T17" fmla="*/ 9 h 5006"/>
                <a:gd name="T18" fmla="*/ 10 w 2574"/>
                <a:gd name="T19" fmla="*/ 16 h 5006"/>
                <a:gd name="T20" fmla="*/ 1 w 2574"/>
                <a:gd name="T21" fmla="*/ 20 h 50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74"/>
                <a:gd name="T34" fmla="*/ 0 h 5006"/>
                <a:gd name="T35" fmla="*/ 2574 w 2574"/>
                <a:gd name="T36" fmla="*/ 5006 h 50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74" h="5006">
                  <a:moveTo>
                    <a:pt x="18" y="4944"/>
                  </a:moveTo>
                  <a:lnTo>
                    <a:pt x="36" y="5006"/>
                  </a:lnTo>
                  <a:lnTo>
                    <a:pt x="2394" y="4015"/>
                  </a:lnTo>
                  <a:lnTo>
                    <a:pt x="2098" y="2069"/>
                  </a:lnTo>
                  <a:lnTo>
                    <a:pt x="2574" y="0"/>
                  </a:lnTo>
                  <a:lnTo>
                    <a:pt x="0" y="620"/>
                  </a:lnTo>
                  <a:lnTo>
                    <a:pt x="56" y="675"/>
                  </a:lnTo>
                  <a:lnTo>
                    <a:pt x="2498" y="85"/>
                  </a:lnTo>
                  <a:lnTo>
                    <a:pt x="2040" y="2075"/>
                  </a:lnTo>
                  <a:lnTo>
                    <a:pt x="2330" y="3973"/>
                  </a:lnTo>
                  <a:lnTo>
                    <a:pt x="18" y="4944"/>
                  </a:lnTo>
                  <a:close/>
                </a:path>
              </a:pathLst>
            </a:custGeom>
            <a:solidFill>
              <a:srgbClr val="000000"/>
            </a:solidFill>
            <a:ln w="9525">
              <a:noFill/>
              <a:round/>
              <a:headEnd/>
              <a:tailEnd/>
            </a:ln>
          </p:spPr>
          <p:txBody>
            <a:bodyPr/>
            <a:lstStyle/>
            <a:p>
              <a:endParaRPr lang="en-US"/>
            </a:p>
          </p:txBody>
        </p:sp>
        <p:sp>
          <p:nvSpPr>
            <p:cNvPr id="15553" name="Freeform 62"/>
            <p:cNvSpPr>
              <a:spLocks/>
            </p:cNvSpPr>
            <p:nvPr/>
          </p:nvSpPr>
          <p:spPr bwMode="auto">
            <a:xfrm>
              <a:off x="2916" y="1061"/>
              <a:ext cx="29" cy="2200"/>
            </a:xfrm>
            <a:custGeom>
              <a:avLst/>
              <a:gdLst>
                <a:gd name="T0" fmla="*/ 1 w 58"/>
                <a:gd name="T1" fmla="*/ 0 h 4401"/>
                <a:gd name="T2" fmla="*/ 0 w 58"/>
                <a:gd name="T3" fmla="*/ 17 h 4401"/>
                <a:gd name="T4" fmla="*/ 1 w 58"/>
                <a:gd name="T5" fmla="*/ 17 h 4401"/>
                <a:gd name="T6" fmla="*/ 1 w 58"/>
                <a:gd name="T7" fmla="*/ 16 h 4401"/>
                <a:gd name="T8" fmla="*/ 1 w 58"/>
                <a:gd name="T9" fmla="*/ 0 h 4401"/>
                <a:gd name="T10" fmla="*/ 1 w 58"/>
                <a:gd name="T11" fmla="*/ 0 h 4401"/>
                <a:gd name="T12" fmla="*/ 0 60000 65536"/>
                <a:gd name="T13" fmla="*/ 0 60000 65536"/>
                <a:gd name="T14" fmla="*/ 0 60000 65536"/>
                <a:gd name="T15" fmla="*/ 0 60000 65536"/>
                <a:gd name="T16" fmla="*/ 0 60000 65536"/>
                <a:gd name="T17" fmla="*/ 0 60000 65536"/>
                <a:gd name="T18" fmla="*/ 0 w 58"/>
                <a:gd name="T19" fmla="*/ 0 h 4401"/>
                <a:gd name="T20" fmla="*/ 58 w 58"/>
                <a:gd name="T21" fmla="*/ 4401 h 4401"/>
              </a:gdLst>
              <a:ahLst/>
              <a:cxnLst>
                <a:cxn ang="T12">
                  <a:pos x="T0" y="T1"/>
                </a:cxn>
                <a:cxn ang="T13">
                  <a:pos x="T2" y="T3"/>
                </a:cxn>
                <a:cxn ang="T14">
                  <a:pos x="T4" y="T5"/>
                </a:cxn>
                <a:cxn ang="T15">
                  <a:pos x="T6" y="T7"/>
                </a:cxn>
                <a:cxn ang="T16">
                  <a:pos x="T8" y="T9"/>
                </a:cxn>
                <a:cxn ang="T17">
                  <a:pos x="T10" y="T11"/>
                </a:cxn>
              </a:cxnLst>
              <a:rect l="T18" t="T19" r="T20" b="T21"/>
              <a:pathLst>
                <a:path w="58" h="4401">
                  <a:moveTo>
                    <a:pt x="2" y="0"/>
                  </a:moveTo>
                  <a:lnTo>
                    <a:pt x="0" y="4401"/>
                  </a:lnTo>
                  <a:lnTo>
                    <a:pt x="38" y="4386"/>
                  </a:lnTo>
                  <a:lnTo>
                    <a:pt x="58" y="4310"/>
                  </a:lnTo>
                  <a:lnTo>
                    <a:pt x="58" y="55"/>
                  </a:lnTo>
                  <a:lnTo>
                    <a:pt x="2" y="0"/>
                  </a:lnTo>
                  <a:close/>
                </a:path>
              </a:pathLst>
            </a:custGeom>
            <a:solidFill>
              <a:srgbClr val="000000"/>
            </a:solidFill>
            <a:ln w="9525">
              <a:noFill/>
              <a:round/>
              <a:headEnd/>
              <a:tailEnd/>
            </a:ln>
          </p:spPr>
          <p:txBody>
            <a:bodyPr/>
            <a:lstStyle/>
            <a:p>
              <a:endParaRPr lang="en-US"/>
            </a:p>
          </p:txBody>
        </p:sp>
        <p:sp>
          <p:nvSpPr>
            <p:cNvPr id="15554" name="Freeform 63"/>
            <p:cNvSpPr>
              <a:spLocks/>
            </p:cNvSpPr>
            <p:nvPr/>
          </p:nvSpPr>
          <p:spPr bwMode="auto">
            <a:xfrm>
              <a:off x="2205" y="666"/>
              <a:ext cx="1982" cy="425"/>
            </a:xfrm>
            <a:custGeom>
              <a:avLst/>
              <a:gdLst>
                <a:gd name="T0" fmla="*/ 0 w 3964"/>
                <a:gd name="T1" fmla="*/ 1 h 851"/>
                <a:gd name="T2" fmla="*/ 1 w 3964"/>
                <a:gd name="T3" fmla="*/ 1 h 851"/>
                <a:gd name="T4" fmla="*/ 12 w 3964"/>
                <a:gd name="T5" fmla="*/ 0 h 851"/>
                <a:gd name="T6" fmla="*/ 15 w 3964"/>
                <a:gd name="T7" fmla="*/ 0 h 851"/>
                <a:gd name="T8" fmla="*/ 6 w 3964"/>
                <a:gd name="T9" fmla="*/ 3 h 851"/>
                <a:gd name="T10" fmla="*/ 6 w 3964"/>
                <a:gd name="T11" fmla="*/ 3 h 851"/>
                <a:gd name="T12" fmla="*/ 16 w 3964"/>
                <a:gd name="T13" fmla="*/ 0 h 851"/>
                <a:gd name="T14" fmla="*/ 16 w 3964"/>
                <a:gd name="T15" fmla="*/ 0 h 851"/>
                <a:gd name="T16" fmla="*/ 12 w 3964"/>
                <a:gd name="T17" fmla="*/ 0 h 851"/>
                <a:gd name="T18" fmla="*/ 0 w 3964"/>
                <a:gd name="T19" fmla="*/ 1 h 8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64"/>
                <a:gd name="T31" fmla="*/ 0 h 851"/>
                <a:gd name="T32" fmla="*/ 3964 w 3964"/>
                <a:gd name="T33" fmla="*/ 851 h 8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64" h="851">
                  <a:moveTo>
                    <a:pt x="0" y="378"/>
                  </a:moveTo>
                  <a:lnTo>
                    <a:pt x="5" y="444"/>
                  </a:lnTo>
                  <a:lnTo>
                    <a:pt x="2899" y="65"/>
                  </a:lnTo>
                  <a:lnTo>
                    <a:pt x="3796" y="220"/>
                  </a:lnTo>
                  <a:lnTo>
                    <a:pt x="1446" y="786"/>
                  </a:lnTo>
                  <a:lnTo>
                    <a:pt x="1452" y="851"/>
                  </a:lnTo>
                  <a:lnTo>
                    <a:pt x="3964" y="246"/>
                  </a:lnTo>
                  <a:lnTo>
                    <a:pt x="3961" y="181"/>
                  </a:lnTo>
                  <a:lnTo>
                    <a:pt x="2899" y="0"/>
                  </a:lnTo>
                  <a:lnTo>
                    <a:pt x="0" y="378"/>
                  </a:lnTo>
                  <a:close/>
                </a:path>
              </a:pathLst>
            </a:custGeom>
            <a:solidFill>
              <a:srgbClr val="000000"/>
            </a:solidFill>
            <a:ln w="9525">
              <a:noFill/>
              <a:round/>
              <a:headEnd/>
              <a:tailEnd/>
            </a:ln>
          </p:spPr>
          <p:txBody>
            <a:bodyPr/>
            <a:lstStyle/>
            <a:p>
              <a:endParaRPr lang="en-US"/>
            </a:p>
          </p:txBody>
        </p:sp>
        <p:sp>
          <p:nvSpPr>
            <p:cNvPr id="15555" name="Freeform 64"/>
            <p:cNvSpPr>
              <a:spLocks/>
            </p:cNvSpPr>
            <p:nvPr/>
          </p:nvSpPr>
          <p:spPr bwMode="auto">
            <a:xfrm>
              <a:off x="2204" y="855"/>
              <a:ext cx="727" cy="236"/>
            </a:xfrm>
            <a:custGeom>
              <a:avLst/>
              <a:gdLst>
                <a:gd name="T0" fmla="*/ 5 w 1455"/>
                <a:gd name="T1" fmla="*/ 1 h 473"/>
                <a:gd name="T2" fmla="*/ 0 w 1455"/>
                <a:gd name="T3" fmla="*/ 0 h 473"/>
                <a:gd name="T4" fmla="*/ 0 w 1455"/>
                <a:gd name="T5" fmla="*/ 0 h 473"/>
                <a:gd name="T6" fmla="*/ 0 w 1455"/>
                <a:gd name="T7" fmla="*/ 0 h 473"/>
                <a:gd name="T8" fmla="*/ 5 w 1455"/>
                <a:gd name="T9" fmla="*/ 1 h 473"/>
                <a:gd name="T10" fmla="*/ 5 w 1455"/>
                <a:gd name="T11" fmla="*/ 1 h 473"/>
                <a:gd name="T12" fmla="*/ 0 60000 65536"/>
                <a:gd name="T13" fmla="*/ 0 60000 65536"/>
                <a:gd name="T14" fmla="*/ 0 60000 65536"/>
                <a:gd name="T15" fmla="*/ 0 60000 65536"/>
                <a:gd name="T16" fmla="*/ 0 60000 65536"/>
                <a:gd name="T17" fmla="*/ 0 60000 65536"/>
                <a:gd name="T18" fmla="*/ 0 w 1455"/>
                <a:gd name="T19" fmla="*/ 0 h 473"/>
                <a:gd name="T20" fmla="*/ 1455 w 1455"/>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455" h="473">
                  <a:moveTo>
                    <a:pt x="1449" y="408"/>
                  </a:moveTo>
                  <a:lnTo>
                    <a:pt x="164" y="44"/>
                  </a:lnTo>
                  <a:lnTo>
                    <a:pt x="3" y="0"/>
                  </a:lnTo>
                  <a:lnTo>
                    <a:pt x="0" y="64"/>
                  </a:lnTo>
                  <a:lnTo>
                    <a:pt x="1455" y="473"/>
                  </a:lnTo>
                  <a:lnTo>
                    <a:pt x="1449" y="408"/>
                  </a:lnTo>
                  <a:close/>
                </a:path>
              </a:pathLst>
            </a:custGeom>
            <a:solidFill>
              <a:srgbClr val="000000"/>
            </a:solidFill>
            <a:ln w="9525">
              <a:noFill/>
              <a:round/>
              <a:headEnd/>
              <a:tailEnd/>
            </a:ln>
          </p:spPr>
          <p:txBody>
            <a:bodyPr/>
            <a:lstStyle/>
            <a:p>
              <a:endParaRPr lang="en-US"/>
            </a:p>
          </p:txBody>
        </p:sp>
        <p:sp>
          <p:nvSpPr>
            <p:cNvPr id="15556" name="Freeform 65"/>
            <p:cNvSpPr>
              <a:spLocks/>
            </p:cNvSpPr>
            <p:nvPr/>
          </p:nvSpPr>
          <p:spPr bwMode="auto">
            <a:xfrm>
              <a:off x="2300" y="1199"/>
              <a:ext cx="1779" cy="324"/>
            </a:xfrm>
            <a:custGeom>
              <a:avLst/>
              <a:gdLst>
                <a:gd name="T0" fmla="*/ 1 w 3556"/>
                <a:gd name="T1" fmla="*/ 1 h 647"/>
                <a:gd name="T2" fmla="*/ 0 w 3556"/>
                <a:gd name="T3" fmla="*/ 1 h 647"/>
                <a:gd name="T4" fmla="*/ 5 w 3556"/>
                <a:gd name="T5" fmla="*/ 3 h 647"/>
                <a:gd name="T6" fmla="*/ 14 w 3556"/>
                <a:gd name="T7" fmla="*/ 1 h 647"/>
                <a:gd name="T8" fmla="*/ 14 w 3556"/>
                <a:gd name="T9" fmla="*/ 0 h 647"/>
                <a:gd name="T10" fmla="*/ 5 w 3556"/>
                <a:gd name="T11" fmla="*/ 3 h 647"/>
                <a:gd name="T12" fmla="*/ 1 w 3556"/>
                <a:gd name="T13" fmla="*/ 1 h 647"/>
                <a:gd name="T14" fmla="*/ 0 60000 65536"/>
                <a:gd name="T15" fmla="*/ 0 60000 65536"/>
                <a:gd name="T16" fmla="*/ 0 60000 65536"/>
                <a:gd name="T17" fmla="*/ 0 60000 65536"/>
                <a:gd name="T18" fmla="*/ 0 60000 65536"/>
                <a:gd name="T19" fmla="*/ 0 60000 65536"/>
                <a:gd name="T20" fmla="*/ 0 60000 65536"/>
                <a:gd name="T21" fmla="*/ 0 w 3556"/>
                <a:gd name="T22" fmla="*/ 0 h 647"/>
                <a:gd name="T23" fmla="*/ 3556 w 3556"/>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6" h="647">
                  <a:moveTo>
                    <a:pt x="8" y="184"/>
                  </a:moveTo>
                  <a:lnTo>
                    <a:pt x="0" y="223"/>
                  </a:lnTo>
                  <a:lnTo>
                    <a:pt x="1247" y="647"/>
                  </a:lnTo>
                  <a:lnTo>
                    <a:pt x="3556" y="42"/>
                  </a:lnTo>
                  <a:lnTo>
                    <a:pt x="3551" y="0"/>
                  </a:lnTo>
                  <a:lnTo>
                    <a:pt x="1245" y="605"/>
                  </a:lnTo>
                  <a:lnTo>
                    <a:pt x="8" y="184"/>
                  </a:lnTo>
                  <a:close/>
                </a:path>
              </a:pathLst>
            </a:custGeom>
            <a:solidFill>
              <a:srgbClr val="000000"/>
            </a:solidFill>
            <a:ln w="9525">
              <a:noFill/>
              <a:round/>
              <a:headEnd/>
              <a:tailEnd/>
            </a:ln>
          </p:spPr>
          <p:txBody>
            <a:bodyPr/>
            <a:lstStyle/>
            <a:p>
              <a:endParaRPr lang="en-US"/>
            </a:p>
          </p:txBody>
        </p:sp>
        <p:sp>
          <p:nvSpPr>
            <p:cNvPr id="15557" name="Freeform 66"/>
            <p:cNvSpPr>
              <a:spLocks/>
            </p:cNvSpPr>
            <p:nvPr/>
          </p:nvSpPr>
          <p:spPr bwMode="auto">
            <a:xfrm>
              <a:off x="2334" y="1477"/>
              <a:ext cx="1690" cy="355"/>
            </a:xfrm>
            <a:custGeom>
              <a:avLst/>
              <a:gdLst>
                <a:gd name="T0" fmla="*/ 1 w 3380"/>
                <a:gd name="T1" fmla="*/ 1 h 709"/>
                <a:gd name="T2" fmla="*/ 0 w 3380"/>
                <a:gd name="T3" fmla="*/ 2 h 709"/>
                <a:gd name="T4" fmla="*/ 5 w 3380"/>
                <a:gd name="T5" fmla="*/ 3 h 709"/>
                <a:gd name="T6" fmla="*/ 13 w 3380"/>
                <a:gd name="T7" fmla="*/ 1 h 709"/>
                <a:gd name="T8" fmla="*/ 13 w 3380"/>
                <a:gd name="T9" fmla="*/ 0 h 709"/>
                <a:gd name="T10" fmla="*/ 5 w 3380"/>
                <a:gd name="T11" fmla="*/ 3 h 709"/>
                <a:gd name="T12" fmla="*/ 1 w 3380"/>
                <a:gd name="T13" fmla="*/ 1 h 709"/>
                <a:gd name="T14" fmla="*/ 0 60000 65536"/>
                <a:gd name="T15" fmla="*/ 0 60000 65536"/>
                <a:gd name="T16" fmla="*/ 0 60000 65536"/>
                <a:gd name="T17" fmla="*/ 0 60000 65536"/>
                <a:gd name="T18" fmla="*/ 0 60000 65536"/>
                <a:gd name="T19" fmla="*/ 0 60000 65536"/>
                <a:gd name="T20" fmla="*/ 0 60000 65536"/>
                <a:gd name="T21" fmla="*/ 0 w 3380"/>
                <a:gd name="T22" fmla="*/ 0 h 709"/>
                <a:gd name="T23" fmla="*/ 3380 w 3380"/>
                <a:gd name="T24" fmla="*/ 709 h 7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80" h="709">
                  <a:moveTo>
                    <a:pt x="11" y="228"/>
                  </a:moveTo>
                  <a:lnTo>
                    <a:pt x="0" y="267"/>
                  </a:lnTo>
                  <a:lnTo>
                    <a:pt x="1182" y="709"/>
                  </a:lnTo>
                  <a:lnTo>
                    <a:pt x="3380" y="42"/>
                  </a:lnTo>
                  <a:lnTo>
                    <a:pt x="3371" y="0"/>
                  </a:lnTo>
                  <a:lnTo>
                    <a:pt x="1182" y="666"/>
                  </a:lnTo>
                  <a:lnTo>
                    <a:pt x="11" y="228"/>
                  </a:lnTo>
                  <a:close/>
                </a:path>
              </a:pathLst>
            </a:custGeom>
            <a:solidFill>
              <a:srgbClr val="000000"/>
            </a:solidFill>
            <a:ln w="9525">
              <a:noFill/>
              <a:round/>
              <a:headEnd/>
              <a:tailEnd/>
            </a:ln>
          </p:spPr>
          <p:txBody>
            <a:bodyPr/>
            <a:lstStyle/>
            <a:p>
              <a:endParaRPr lang="en-US"/>
            </a:p>
          </p:txBody>
        </p:sp>
        <p:sp>
          <p:nvSpPr>
            <p:cNvPr id="15558" name="Freeform 67"/>
            <p:cNvSpPr>
              <a:spLocks/>
            </p:cNvSpPr>
            <p:nvPr/>
          </p:nvSpPr>
          <p:spPr bwMode="auto">
            <a:xfrm>
              <a:off x="2389" y="2201"/>
              <a:ext cx="1620" cy="363"/>
            </a:xfrm>
            <a:custGeom>
              <a:avLst/>
              <a:gdLst>
                <a:gd name="T0" fmla="*/ 1 w 3239"/>
                <a:gd name="T1" fmla="*/ 1 h 725"/>
                <a:gd name="T2" fmla="*/ 0 w 3239"/>
                <a:gd name="T3" fmla="*/ 1 h 725"/>
                <a:gd name="T4" fmla="*/ 5 w 3239"/>
                <a:gd name="T5" fmla="*/ 3 h 725"/>
                <a:gd name="T6" fmla="*/ 13 w 3239"/>
                <a:gd name="T7" fmla="*/ 1 h 725"/>
                <a:gd name="T8" fmla="*/ 13 w 3239"/>
                <a:gd name="T9" fmla="*/ 0 h 725"/>
                <a:gd name="T10" fmla="*/ 5 w 3239"/>
                <a:gd name="T11" fmla="*/ 3 h 725"/>
                <a:gd name="T12" fmla="*/ 1 w 3239"/>
                <a:gd name="T13" fmla="*/ 1 h 725"/>
                <a:gd name="T14" fmla="*/ 0 60000 65536"/>
                <a:gd name="T15" fmla="*/ 0 60000 65536"/>
                <a:gd name="T16" fmla="*/ 0 60000 65536"/>
                <a:gd name="T17" fmla="*/ 0 60000 65536"/>
                <a:gd name="T18" fmla="*/ 0 60000 65536"/>
                <a:gd name="T19" fmla="*/ 0 60000 65536"/>
                <a:gd name="T20" fmla="*/ 0 60000 65536"/>
                <a:gd name="T21" fmla="*/ 0 w 3239"/>
                <a:gd name="T22" fmla="*/ 0 h 725"/>
                <a:gd name="T23" fmla="*/ 3239 w 3239"/>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5">
                  <a:moveTo>
                    <a:pt x="14" y="113"/>
                  </a:moveTo>
                  <a:lnTo>
                    <a:pt x="0" y="152"/>
                  </a:lnTo>
                  <a:lnTo>
                    <a:pt x="1075" y="725"/>
                  </a:lnTo>
                  <a:lnTo>
                    <a:pt x="3239" y="39"/>
                  </a:lnTo>
                  <a:lnTo>
                    <a:pt x="3231" y="0"/>
                  </a:lnTo>
                  <a:lnTo>
                    <a:pt x="1084" y="683"/>
                  </a:lnTo>
                  <a:lnTo>
                    <a:pt x="14" y="113"/>
                  </a:lnTo>
                  <a:close/>
                </a:path>
              </a:pathLst>
            </a:custGeom>
            <a:solidFill>
              <a:srgbClr val="000000"/>
            </a:solidFill>
            <a:ln w="9525">
              <a:noFill/>
              <a:round/>
              <a:headEnd/>
              <a:tailEnd/>
            </a:ln>
          </p:spPr>
          <p:txBody>
            <a:bodyPr/>
            <a:lstStyle/>
            <a:p>
              <a:endParaRPr lang="en-US"/>
            </a:p>
          </p:txBody>
        </p:sp>
        <p:sp>
          <p:nvSpPr>
            <p:cNvPr id="15559" name="Freeform 68"/>
            <p:cNvSpPr>
              <a:spLocks/>
            </p:cNvSpPr>
            <p:nvPr/>
          </p:nvSpPr>
          <p:spPr bwMode="auto">
            <a:xfrm>
              <a:off x="2297" y="1174"/>
              <a:ext cx="1779" cy="324"/>
            </a:xfrm>
            <a:custGeom>
              <a:avLst/>
              <a:gdLst>
                <a:gd name="T0" fmla="*/ 0 w 3559"/>
                <a:gd name="T1" fmla="*/ 1 h 647"/>
                <a:gd name="T2" fmla="*/ 0 w 3559"/>
                <a:gd name="T3" fmla="*/ 1 h 647"/>
                <a:gd name="T4" fmla="*/ 4 w 3559"/>
                <a:gd name="T5" fmla="*/ 3 h 647"/>
                <a:gd name="T6" fmla="*/ 13 w 3559"/>
                <a:gd name="T7" fmla="*/ 1 h 647"/>
                <a:gd name="T8" fmla="*/ 13 w 3559"/>
                <a:gd name="T9" fmla="*/ 0 h 647"/>
                <a:gd name="T10" fmla="*/ 4 w 3559"/>
                <a:gd name="T11" fmla="*/ 3 h 647"/>
                <a:gd name="T12" fmla="*/ 0 w 3559"/>
                <a:gd name="T13" fmla="*/ 1 h 647"/>
                <a:gd name="T14" fmla="*/ 0 60000 65536"/>
                <a:gd name="T15" fmla="*/ 0 60000 65536"/>
                <a:gd name="T16" fmla="*/ 0 60000 65536"/>
                <a:gd name="T17" fmla="*/ 0 60000 65536"/>
                <a:gd name="T18" fmla="*/ 0 60000 65536"/>
                <a:gd name="T19" fmla="*/ 0 60000 65536"/>
                <a:gd name="T20" fmla="*/ 0 60000 65536"/>
                <a:gd name="T21" fmla="*/ 0 w 3559"/>
                <a:gd name="T22" fmla="*/ 0 h 647"/>
                <a:gd name="T23" fmla="*/ 3559 w 3559"/>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9" h="647">
                  <a:moveTo>
                    <a:pt x="9" y="183"/>
                  </a:moveTo>
                  <a:lnTo>
                    <a:pt x="0" y="222"/>
                  </a:lnTo>
                  <a:lnTo>
                    <a:pt x="1250" y="647"/>
                  </a:lnTo>
                  <a:lnTo>
                    <a:pt x="3559" y="43"/>
                  </a:lnTo>
                  <a:lnTo>
                    <a:pt x="3553" y="0"/>
                  </a:lnTo>
                  <a:lnTo>
                    <a:pt x="1247" y="605"/>
                  </a:lnTo>
                  <a:lnTo>
                    <a:pt x="9" y="183"/>
                  </a:lnTo>
                  <a:close/>
                </a:path>
              </a:pathLst>
            </a:custGeom>
            <a:solidFill>
              <a:srgbClr val="DEFF73"/>
            </a:solidFill>
            <a:ln w="9525">
              <a:noFill/>
              <a:round/>
              <a:headEnd/>
              <a:tailEnd/>
            </a:ln>
          </p:spPr>
          <p:txBody>
            <a:bodyPr/>
            <a:lstStyle/>
            <a:p>
              <a:endParaRPr lang="en-US"/>
            </a:p>
          </p:txBody>
        </p:sp>
        <p:sp>
          <p:nvSpPr>
            <p:cNvPr id="15560" name="Freeform 69"/>
            <p:cNvSpPr>
              <a:spLocks/>
            </p:cNvSpPr>
            <p:nvPr/>
          </p:nvSpPr>
          <p:spPr bwMode="auto">
            <a:xfrm>
              <a:off x="2331" y="1451"/>
              <a:ext cx="1690" cy="355"/>
            </a:xfrm>
            <a:custGeom>
              <a:avLst/>
              <a:gdLst>
                <a:gd name="T0" fmla="*/ 1 w 3379"/>
                <a:gd name="T1" fmla="*/ 1 h 710"/>
                <a:gd name="T2" fmla="*/ 0 w 3379"/>
                <a:gd name="T3" fmla="*/ 2 h 710"/>
                <a:gd name="T4" fmla="*/ 5 w 3379"/>
                <a:gd name="T5" fmla="*/ 3 h 710"/>
                <a:gd name="T6" fmla="*/ 14 w 3379"/>
                <a:gd name="T7" fmla="*/ 1 h 710"/>
                <a:gd name="T8" fmla="*/ 14 w 3379"/>
                <a:gd name="T9" fmla="*/ 0 h 710"/>
                <a:gd name="T10" fmla="*/ 5 w 3379"/>
                <a:gd name="T11" fmla="*/ 3 h 710"/>
                <a:gd name="T12" fmla="*/ 1 w 3379"/>
                <a:gd name="T13" fmla="*/ 1 h 710"/>
                <a:gd name="T14" fmla="*/ 0 60000 65536"/>
                <a:gd name="T15" fmla="*/ 0 60000 65536"/>
                <a:gd name="T16" fmla="*/ 0 60000 65536"/>
                <a:gd name="T17" fmla="*/ 0 60000 65536"/>
                <a:gd name="T18" fmla="*/ 0 60000 65536"/>
                <a:gd name="T19" fmla="*/ 0 60000 65536"/>
                <a:gd name="T20" fmla="*/ 0 60000 65536"/>
                <a:gd name="T21" fmla="*/ 0 w 3379"/>
                <a:gd name="T22" fmla="*/ 0 h 710"/>
                <a:gd name="T23" fmla="*/ 3379 w 3379"/>
                <a:gd name="T24" fmla="*/ 710 h 7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9" h="710">
                  <a:moveTo>
                    <a:pt x="11" y="229"/>
                  </a:moveTo>
                  <a:lnTo>
                    <a:pt x="0" y="268"/>
                  </a:lnTo>
                  <a:lnTo>
                    <a:pt x="1181" y="710"/>
                  </a:lnTo>
                  <a:lnTo>
                    <a:pt x="3379" y="43"/>
                  </a:lnTo>
                  <a:lnTo>
                    <a:pt x="3370" y="0"/>
                  </a:lnTo>
                  <a:lnTo>
                    <a:pt x="1181" y="667"/>
                  </a:lnTo>
                  <a:lnTo>
                    <a:pt x="11" y="229"/>
                  </a:lnTo>
                  <a:close/>
                </a:path>
              </a:pathLst>
            </a:custGeom>
            <a:solidFill>
              <a:srgbClr val="DEFF73"/>
            </a:solidFill>
            <a:ln w="9525">
              <a:noFill/>
              <a:round/>
              <a:headEnd/>
              <a:tailEnd/>
            </a:ln>
          </p:spPr>
          <p:txBody>
            <a:bodyPr/>
            <a:lstStyle/>
            <a:p>
              <a:endParaRPr lang="en-US"/>
            </a:p>
          </p:txBody>
        </p:sp>
        <p:sp>
          <p:nvSpPr>
            <p:cNvPr id="15561" name="Freeform 70"/>
            <p:cNvSpPr>
              <a:spLocks/>
            </p:cNvSpPr>
            <p:nvPr/>
          </p:nvSpPr>
          <p:spPr bwMode="auto">
            <a:xfrm>
              <a:off x="2386" y="2175"/>
              <a:ext cx="1620" cy="363"/>
            </a:xfrm>
            <a:custGeom>
              <a:avLst/>
              <a:gdLst>
                <a:gd name="T0" fmla="*/ 1 w 3239"/>
                <a:gd name="T1" fmla="*/ 0 h 727"/>
                <a:gd name="T2" fmla="*/ 0 w 3239"/>
                <a:gd name="T3" fmla="*/ 0 h 727"/>
                <a:gd name="T4" fmla="*/ 5 w 3239"/>
                <a:gd name="T5" fmla="*/ 2 h 727"/>
                <a:gd name="T6" fmla="*/ 13 w 3239"/>
                <a:gd name="T7" fmla="*/ 0 h 727"/>
                <a:gd name="T8" fmla="*/ 13 w 3239"/>
                <a:gd name="T9" fmla="*/ 0 h 727"/>
                <a:gd name="T10" fmla="*/ 5 w 3239"/>
                <a:gd name="T11" fmla="*/ 2 h 727"/>
                <a:gd name="T12" fmla="*/ 1 w 3239"/>
                <a:gd name="T13" fmla="*/ 0 h 727"/>
                <a:gd name="T14" fmla="*/ 0 60000 65536"/>
                <a:gd name="T15" fmla="*/ 0 60000 65536"/>
                <a:gd name="T16" fmla="*/ 0 60000 65536"/>
                <a:gd name="T17" fmla="*/ 0 60000 65536"/>
                <a:gd name="T18" fmla="*/ 0 60000 65536"/>
                <a:gd name="T19" fmla="*/ 0 60000 65536"/>
                <a:gd name="T20" fmla="*/ 0 60000 65536"/>
                <a:gd name="T21" fmla="*/ 0 w 3239"/>
                <a:gd name="T22" fmla="*/ 0 h 727"/>
                <a:gd name="T23" fmla="*/ 3239 w 3239"/>
                <a:gd name="T24" fmla="*/ 727 h 7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7">
                  <a:moveTo>
                    <a:pt x="14" y="114"/>
                  </a:moveTo>
                  <a:lnTo>
                    <a:pt x="0" y="153"/>
                  </a:lnTo>
                  <a:lnTo>
                    <a:pt x="1076" y="727"/>
                  </a:lnTo>
                  <a:lnTo>
                    <a:pt x="3239" y="39"/>
                  </a:lnTo>
                  <a:lnTo>
                    <a:pt x="3230" y="0"/>
                  </a:lnTo>
                  <a:lnTo>
                    <a:pt x="1085" y="685"/>
                  </a:lnTo>
                  <a:lnTo>
                    <a:pt x="14" y="114"/>
                  </a:lnTo>
                  <a:close/>
                </a:path>
              </a:pathLst>
            </a:custGeom>
            <a:solidFill>
              <a:srgbClr val="DEFF73"/>
            </a:solidFill>
            <a:ln w="9525">
              <a:noFill/>
              <a:round/>
              <a:headEnd/>
              <a:tailEnd/>
            </a:ln>
          </p:spPr>
          <p:txBody>
            <a:bodyPr/>
            <a:lstStyle/>
            <a:p>
              <a:endParaRPr lang="en-US"/>
            </a:p>
          </p:txBody>
        </p:sp>
        <p:sp>
          <p:nvSpPr>
            <p:cNvPr id="15562" name="Freeform 71"/>
            <p:cNvSpPr>
              <a:spLocks/>
            </p:cNvSpPr>
            <p:nvPr/>
          </p:nvSpPr>
          <p:spPr bwMode="auto">
            <a:xfrm>
              <a:off x="2315" y="1005"/>
              <a:ext cx="496" cy="331"/>
            </a:xfrm>
            <a:custGeom>
              <a:avLst/>
              <a:gdLst>
                <a:gd name="T0" fmla="*/ 0 w 993"/>
                <a:gd name="T1" fmla="*/ 0 h 664"/>
                <a:gd name="T2" fmla="*/ 0 w 993"/>
                <a:gd name="T3" fmla="*/ 1 h 664"/>
                <a:gd name="T4" fmla="*/ 3 w 993"/>
                <a:gd name="T5" fmla="*/ 2 h 664"/>
                <a:gd name="T6" fmla="*/ 3 w 993"/>
                <a:gd name="T7" fmla="*/ 1 h 664"/>
                <a:gd name="T8" fmla="*/ 0 w 993"/>
                <a:gd name="T9" fmla="*/ 0 h 664"/>
                <a:gd name="T10" fmla="*/ 0 w 993"/>
                <a:gd name="T11" fmla="*/ 0 h 664"/>
                <a:gd name="T12" fmla="*/ 0 w 993"/>
                <a:gd name="T13" fmla="*/ 0 h 664"/>
                <a:gd name="T14" fmla="*/ 0 60000 65536"/>
                <a:gd name="T15" fmla="*/ 0 60000 65536"/>
                <a:gd name="T16" fmla="*/ 0 60000 65536"/>
                <a:gd name="T17" fmla="*/ 0 60000 65536"/>
                <a:gd name="T18" fmla="*/ 0 60000 65536"/>
                <a:gd name="T19" fmla="*/ 0 60000 65536"/>
                <a:gd name="T20" fmla="*/ 0 60000 65536"/>
                <a:gd name="T21" fmla="*/ 0 w 993"/>
                <a:gd name="T22" fmla="*/ 0 h 664"/>
                <a:gd name="T23" fmla="*/ 993 w 993"/>
                <a:gd name="T24" fmla="*/ 664 h 6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3" h="664">
                  <a:moveTo>
                    <a:pt x="0" y="47"/>
                  </a:moveTo>
                  <a:lnTo>
                    <a:pt x="44" y="339"/>
                  </a:lnTo>
                  <a:lnTo>
                    <a:pt x="990" y="664"/>
                  </a:lnTo>
                  <a:lnTo>
                    <a:pt x="993" y="372"/>
                  </a:lnTo>
                  <a:lnTo>
                    <a:pt x="0" y="0"/>
                  </a:lnTo>
                  <a:lnTo>
                    <a:pt x="0" y="47"/>
                  </a:lnTo>
                  <a:close/>
                </a:path>
              </a:pathLst>
            </a:custGeom>
            <a:solidFill>
              <a:srgbClr val="99FFFB"/>
            </a:solidFill>
            <a:ln w="9525">
              <a:noFill/>
              <a:round/>
              <a:headEnd/>
              <a:tailEnd/>
            </a:ln>
          </p:spPr>
          <p:txBody>
            <a:bodyPr/>
            <a:lstStyle/>
            <a:p>
              <a:endParaRPr lang="en-US"/>
            </a:p>
          </p:txBody>
        </p:sp>
        <p:sp>
          <p:nvSpPr>
            <p:cNvPr id="15563" name="Freeform 72"/>
            <p:cNvSpPr>
              <a:spLocks/>
            </p:cNvSpPr>
            <p:nvPr/>
          </p:nvSpPr>
          <p:spPr bwMode="auto">
            <a:xfrm>
              <a:off x="2305" y="1027"/>
              <a:ext cx="516" cy="322"/>
            </a:xfrm>
            <a:custGeom>
              <a:avLst/>
              <a:gdLst>
                <a:gd name="T0" fmla="*/ 1 w 1030"/>
                <a:gd name="T1" fmla="*/ 0 h 644"/>
                <a:gd name="T2" fmla="*/ 0 w 1030"/>
                <a:gd name="T3" fmla="*/ 1 h 644"/>
                <a:gd name="T4" fmla="*/ 1 w 1030"/>
                <a:gd name="T5" fmla="*/ 2 h 644"/>
                <a:gd name="T6" fmla="*/ 5 w 1030"/>
                <a:gd name="T7" fmla="*/ 3 h 644"/>
                <a:gd name="T8" fmla="*/ 5 w 1030"/>
                <a:gd name="T9" fmla="*/ 2 h 644"/>
                <a:gd name="T10" fmla="*/ 4 w 1030"/>
                <a:gd name="T11" fmla="*/ 2 h 644"/>
                <a:gd name="T12" fmla="*/ 4 w 1030"/>
                <a:gd name="T13" fmla="*/ 3 h 644"/>
                <a:gd name="T14" fmla="*/ 1 w 1030"/>
                <a:gd name="T15" fmla="*/ 2 h 644"/>
                <a:gd name="T16" fmla="*/ 1 w 1030"/>
                <a:gd name="T17" fmla="*/ 0 h 6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0"/>
                <a:gd name="T28" fmla="*/ 0 h 644"/>
                <a:gd name="T29" fmla="*/ 1030 w 1030"/>
                <a:gd name="T30" fmla="*/ 644 h 6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0" h="644">
                  <a:moveTo>
                    <a:pt x="37" y="0"/>
                  </a:moveTo>
                  <a:lnTo>
                    <a:pt x="0" y="3"/>
                  </a:lnTo>
                  <a:lnTo>
                    <a:pt x="45" y="308"/>
                  </a:lnTo>
                  <a:lnTo>
                    <a:pt x="1026" y="644"/>
                  </a:lnTo>
                  <a:lnTo>
                    <a:pt x="1030" y="313"/>
                  </a:lnTo>
                  <a:lnTo>
                    <a:pt x="993" y="339"/>
                  </a:lnTo>
                  <a:lnTo>
                    <a:pt x="991" y="592"/>
                  </a:lnTo>
                  <a:lnTo>
                    <a:pt x="79" y="279"/>
                  </a:lnTo>
                  <a:lnTo>
                    <a:pt x="37" y="0"/>
                  </a:lnTo>
                  <a:close/>
                </a:path>
              </a:pathLst>
            </a:custGeom>
            <a:solidFill>
              <a:srgbClr val="000000"/>
            </a:solidFill>
            <a:ln w="9525">
              <a:noFill/>
              <a:round/>
              <a:headEnd/>
              <a:tailEnd/>
            </a:ln>
          </p:spPr>
          <p:txBody>
            <a:bodyPr/>
            <a:lstStyle/>
            <a:p>
              <a:endParaRPr lang="en-US"/>
            </a:p>
          </p:txBody>
        </p:sp>
        <p:sp>
          <p:nvSpPr>
            <p:cNvPr id="15564" name="Freeform 73"/>
            <p:cNvSpPr>
              <a:spLocks/>
            </p:cNvSpPr>
            <p:nvPr/>
          </p:nvSpPr>
          <p:spPr bwMode="auto">
            <a:xfrm>
              <a:off x="2305" y="991"/>
              <a:ext cx="516" cy="206"/>
            </a:xfrm>
            <a:custGeom>
              <a:avLst/>
              <a:gdLst>
                <a:gd name="T0" fmla="*/ 5 w 1030"/>
                <a:gd name="T1" fmla="*/ 2 h 412"/>
                <a:gd name="T2" fmla="*/ 1 w 1030"/>
                <a:gd name="T3" fmla="*/ 0 h 412"/>
                <a:gd name="T4" fmla="*/ 0 w 1030"/>
                <a:gd name="T5" fmla="*/ 1 h 412"/>
                <a:gd name="T6" fmla="*/ 0 w 1030"/>
                <a:gd name="T7" fmla="*/ 1 h 412"/>
                <a:gd name="T8" fmla="*/ 1 w 1030"/>
                <a:gd name="T9" fmla="*/ 1 h 412"/>
                <a:gd name="T10" fmla="*/ 1 w 1030"/>
                <a:gd name="T11" fmla="*/ 1 h 412"/>
                <a:gd name="T12" fmla="*/ 4 w 1030"/>
                <a:gd name="T13" fmla="*/ 2 h 412"/>
                <a:gd name="T14" fmla="*/ 5 w 1030"/>
                <a:gd name="T15" fmla="*/ 2 h 412"/>
                <a:gd name="T16" fmla="*/ 0 60000 65536"/>
                <a:gd name="T17" fmla="*/ 0 60000 65536"/>
                <a:gd name="T18" fmla="*/ 0 60000 65536"/>
                <a:gd name="T19" fmla="*/ 0 60000 65536"/>
                <a:gd name="T20" fmla="*/ 0 60000 65536"/>
                <a:gd name="T21" fmla="*/ 0 60000 65536"/>
                <a:gd name="T22" fmla="*/ 0 60000 65536"/>
                <a:gd name="T23" fmla="*/ 0 60000 65536"/>
                <a:gd name="T24" fmla="*/ 0 w 1030"/>
                <a:gd name="T25" fmla="*/ 0 h 412"/>
                <a:gd name="T26" fmla="*/ 1030 w 1030"/>
                <a:gd name="T27" fmla="*/ 412 h 4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0" h="412">
                  <a:moveTo>
                    <a:pt x="1030" y="386"/>
                  </a:moveTo>
                  <a:lnTo>
                    <a:pt x="1" y="0"/>
                  </a:lnTo>
                  <a:lnTo>
                    <a:pt x="0" y="74"/>
                  </a:lnTo>
                  <a:lnTo>
                    <a:pt x="0" y="76"/>
                  </a:lnTo>
                  <a:lnTo>
                    <a:pt x="37" y="73"/>
                  </a:lnTo>
                  <a:lnTo>
                    <a:pt x="37" y="55"/>
                  </a:lnTo>
                  <a:lnTo>
                    <a:pt x="993" y="412"/>
                  </a:lnTo>
                  <a:lnTo>
                    <a:pt x="1030" y="386"/>
                  </a:lnTo>
                  <a:close/>
                </a:path>
              </a:pathLst>
            </a:custGeom>
            <a:solidFill>
              <a:srgbClr val="000000"/>
            </a:solidFill>
            <a:ln w="9525">
              <a:noFill/>
              <a:round/>
              <a:headEnd/>
              <a:tailEnd/>
            </a:ln>
          </p:spPr>
          <p:txBody>
            <a:bodyPr/>
            <a:lstStyle/>
            <a:p>
              <a:endParaRPr lang="en-US"/>
            </a:p>
          </p:txBody>
        </p:sp>
        <p:sp>
          <p:nvSpPr>
            <p:cNvPr id="15565" name="Freeform 74"/>
            <p:cNvSpPr>
              <a:spLocks/>
            </p:cNvSpPr>
            <p:nvPr/>
          </p:nvSpPr>
          <p:spPr bwMode="auto">
            <a:xfrm>
              <a:off x="2340" y="1403"/>
              <a:ext cx="502" cy="270"/>
            </a:xfrm>
            <a:custGeom>
              <a:avLst/>
              <a:gdLst>
                <a:gd name="T0" fmla="*/ 0 w 1005"/>
                <a:gd name="T1" fmla="*/ 0 h 540"/>
                <a:gd name="T2" fmla="*/ 0 w 1005"/>
                <a:gd name="T3" fmla="*/ 1 h 540"/>
                <a:gd name="T4" fmla="*/ 3 w 1005"/>
                <a:gd name="T5" fmla="*/ 2 h 540"/>
                <a:gd name="T6" fmla="*/ 3 w 1005"/>
                <a:gd name="T7" fmla="*/ 1 h 540"/>
                <a:gd name="T8" fmla="*/ 0 w 1005"/>
                <a:gd name="T9" fmla="*/ 0 h 540"/>
                <a:gd name="T10" fmla="*/ 0 w 1005"/>
                <a:gd name="T11" fmla="*/ 0 h 540"/>
                <a:gd name="T12" fmla="*/ 0 w 1005"/>
                <a:gd name="T13" fmla="*/ 0 h 540"/>
                <a:gd name="T14" fmla="*/ 0 60000 65536"/>
                <a:gd name="T15" fmla="*/ 0 60000 65536"/>
                <a:gd name="T16" fmla="*/ 0 60000 65536"/>
                <a:gd name="T17" fmla="*/ 0 60000 65536"/>
                <a:gd name="T18" fmla="*/ 0 60000 65536"/>
                <a:gd name="T19" fmla="*/ 0 60000 65536"/>
                <a:gd name="T20" fmla="*/ 0 60000 65536"/>
                <a:gd name="T21" fmla="*/ 0 w 1005"/>
                <a:gd name="T22" fmla="*/ 0 h 540"/>
                <a:gd name="T23" fmla="*/ 1005 w 1005"/>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5" h="540">
                  <a:moveTo>
                    <a:pt x="34" y="0"/>
                  </a:moveTo>
                  <a:lnTo>
                    <a:pt x="94" y="245"/>
                  </a:lnTo>
                  <a:lnTo>
                    <a:pt x="1005" y="540"/>
                  </a:lnTo>
                  <a:lnTo>
                    <a:pt x="993" y="317"/>
                  </a:lnTo>
                  <a:lnTo>
                    <a:pt x="0" y="0"/>
                  </a:lnTo>
                  <a:lnTo>
                    <a:pt x="34" y="0"/>
                  </a:lnTo>
                  <a:close/>
                </a:path>
              </a:pathLst>
            </a:custGeom>
            <a:solidFill>
              <a:srgbClr val="99FFFB"/>
            </a:solidFill>
            <a:ln w="9525">
              <a:noFill/>
              <a:round/>
              <a:headEnd/>
              <a:tailEnd/>
            </a:ln>
          </p:spPr>
          <p:txBody>
            <a:bodyPr/>
            <a:lstStyle/>
            <a:p>
              <a:endParaRPr lang="en-US"/>
            </a:p>
          </p:txBody>
        </p:sp>
        <p:sp>
          <p:nvSpPr>
            <p:cNvPr id="15566" name="Freeform 75"/>
            <p:cNvSpPr>
              <a:spLocks/>
            </p:cNvSpPr>
            <p:nvPr/>
          </p:nvSpPr>
          <p:spPr bwMode="auto">
            <a:xfrm>
              <a:off x="2348" y="1401"/>
              <a:ext cx="504" cy="285"/>
            </a:xfrm>
            <a:custGeom>
              <a:avLst/>
              <a:gdLst>
                <a:gd name="T0" fmla="*/ 1 w 1008"/>
                <a:gd name="T1" fmla="*/ 0 h 571"/>
                <a:gd name="T2" fmla="*/ 0 w 1008"/>
                <a:gd name="T3" fmla="*/ 0 h 571"/>
                <a:gd name="T4" fmla="*/ 1 w 1008"/>
                <a:gd name="T5" fmla="*/ 1 h 571"/>
                <a:gd name="T6" fmla="*/ 4 w 1008"/>
                <a:gd name="T7" fmla="*/ 2 h 571"/>
                <a:gd name="T8" fmla="*/ 4 w 1008"/>
                <a:gd name="T9" fmla="*/ 1 h 571"/>
                <a:gd name="T10" fmla="*/ 4 w 1008"/>
                <a:gd name="T11" fmla="*/ 1 h 571"/>
                <a:gd name="T12" fmla="*/ 4 w 1008"/>
                <a:gd name="T13" fmla="*/ 2 h 571"/>
                <a:gd name="T14" fmla="*/ 1 w 1008"/>
                <a:gd name="T15" fmla="*/ 0 h 571"/>
                <a:gd name="T16" fmla="*/ 1 w 1008"/>
                <a:gd name="T17" fmla="*/ 0 h 5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8"/>
                <a:gd name="T28" fmla="*/ 0 h 571"/>
                <a:gd name="T29" fmla="*/ 1008 w 1008"/>
                <a:gd name="T30" fmla="*/ 571 h 5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8" h="571">
                  <a:moveTo>
                    <a:pt x="35" y="0"/>
                  </a:moveTo>
                  <a:lnTo>
                    <a:pt x="0" y="10"/>
                  </a:lnTo>
                  <a:lnTo>
                    <a:pt x="62" y="264"/>
                  </a:lnTo>
                  <a:lnTo>
                    <a:pt x="1008" y="571"/>
                  </a:lnTo>
                  <a:lnTo>
                    <a:pt x="996" y="307"/>
                  </a:lnTo>
                  <a:lnTo>
                    <a:pt x="958" y="336"/>
                  </a:lnTo>
                  <a:lnTo>
                    <a:pt x="970" y="519"/>
                  </a:lnTo>
                  <a:lnTo>
                    <a:pt x="94" y="235"/>
                  </a:lnTo>
                  <a:lnTo>
                    <a:pt x="35" y="0"/>
                  </a:lnTo>
                  <a:close/>
                </a:path>
              </a:pathLst>
            </a:custGeom>
            <a:solidFill>
              <a:srgbClr val="000000"/>
            </a:solidFill>
            <a:ln w="9525">
              <a:noFill/>
              <a:round/>
              <a:headEnd/>
              <a:tailEnd/>
            </a:ln>
          </p:spPr>
          <p:txBody>
            <a:bodyPr/>
            <a:lstStyle/>
            <a:p>
              <a:endParaRPr lang="en-US"/>
            </a:p>
          </p:txBody>
        </p:sp>
        <p:sp>
          <p:nvSpPr>
            <p:cNvPr id="15567" name="Freeform 76"/>
            <p:cNvSpPr>
              <a:spLocks/>
            </p:cNvSpPr>
            <p:nvPr/>
          </p:nvSpPr>
          <p:spPr bwMode="auto">
            <a:xfrm>
              <a:off x="2338" y="1393"/>
              <a:ext cx="508" cy="176"/>
            </a:xfrm>
            <a:custGeom>
              <a:avLst/>
              <a:gdLst>
                <a:gd name="T0" fmla="*/ 4 w 1016"/>
                <a:gd name="T1" fmla="*/ 2 h 350"/>
                <a:gd name="T2" fmla="*/ 1 w 1016"/>
                <a:gd name="T3" fmla="*/ 0 h 350"/>
                <a:gd name="T4" fmla="*/ 1 w 1016"/>
                <a:gd name="T5" fmla="*/ 1 h 350"/>
                <a:gd name="T6" fmla="*/ 0 w 1016"/>
                <a:gd name="T7" fmla="*/ 1 h 350"/>
                <a:gd name="T8" fmla="*/ 4 w 1016"/>
                <a:gd name="T9" fmla="*/ 2 h 350"/>
                <a:gd name="T10" fmla="*/ 4 w 1016"/>
                <a:gd name="T11" fmla="*/ 2 h 350"/>
                <a:gd name="T12" fmla="*/ 0 60000 65536"/>
                <a:gd name="T13" fmla="*/ 0 60000 65536"/>
                <a:gd name="T14" fmla="*/ 0 60000 65536"/>
                <a:gd name="T15" fmla="*/ 0 60000 65536"/>
                <a:gd name="T16" fmla="*/ 0 60000 65536"/>
                <a:gd name="T17" fmla="*/ 0 60000 65536"/>
                <a:gd name="T18" fmla="*/ 0 w 1016"/>
                <a:gd name="T19" fmla="*/ 0 h 350"/>
                <a:gd name="T20" fmla="*/ 1016 w 1016"/>
                <a:gd name="T21" fmla="*/ 350 h 350"/>
              </a:gdLst>
              <a:ahLst/>
              <a:cxnLst>
                <a:cxn ang="T12">
                  <a:pos x="T0" y="T1"/>
                </a:cxn>
                <a:cxn ang="T13">
                  <a:pos x="T2" y="T3"/>
                </a:cxn>
                <a:cxn ang="T14">
                  <a:pos x="T4" y="T5"/>
                </a:cxn>
                <a:cxn ang="T15">
                  <a:pos x="T6" y="T7"/>
                </a:cxn>
                <a:cxn ang="T16">
                  <a:pos x="T8" y="T9"/>
                </a:cxn>
                <a:cxn ang="T17">
                  <a:pos x="T10" y="T11"/>
                </a:cxn>
              </a:cxnLst>
              <a:rect l="T18" t="T19" r="T20" b="T21"/>
              <a:pathLst>
                <a:path w="1016" h="350">
                  <a:moveTo>
                    <a:pt x="1016" y="321"/>
                  </a:moveTo>
                  <a:lnTo>
                    <a:pt x="9" y="0"/>
                  </a:lnTo>
                  <a:lnTo>
                    <a:pt x="4" y="19"/>
                  </a:lnTo>
                  <a:lnTo>
                    <a:pt x="0" y="39"/>
                  </a:lnTo>
                  <a:lnTo>
                    <a:pt x="978" y="350"/>
                  </a:lnTo>
                  <a:lnTo>
                    <a:pt x="1016" y="321"/>
                  </a:lnTo>
                  <a:close/>
                </a:path>
              </a:pathLst>
            </a:custGeom>
            <a:solidFill>
              <a:srgbClr val="000000"/>
            </a:solidFill>
            <a:ln w="9525">
              <a:noFill/>
              <a:round/>
              <a:headEnd/>
              <a:tailEnd/>
            </a:ln>
          </p:spPr>
          <p:txBody>
            <a:bodyPr/>
            <a:lstStyle/>
            <a:p>
              <a:endParaRPr lang="en-US"/>
            </a:p>
          </p:txBody>
        </p:sp>
        <p:sp>
          <p:nvSpPr>
            <p:cNvPr id="15568" name="Freeform 77"/>
            <p:cNvSpPr>
              <a:spLocks/>
            </p:cNvSpPr>
            <p:nvPr/>
          </p:nvSpPr>
          <p:spPr bwMode="auto">
            <a:xfrm>
              <a:off x="2370" y="1429"/>
              <a:ext cx="443" cy="148"/>
            </a:xfrm>
            <a:custGeom>
              <a:avLst/>
              <a:gdLst>
                <a:gd name="T0" fmla="*/ 1 w 885"/>
                <a:gd name="T1" fmla="*/ 1 h 296"/>
                <a:gd name="T2" fmla="*/ 0 w 885"/>
                <a:gd name="T3" fmla="*/ 0 h 296"/>
                <a:gd name="T4" fmla="*/ 4 w 885"/>
                <a:gd name="T5" fmla="*/ 1 h 296"/>
                <a:gd name="T6" fmla="*/ 1 w 885"/>
                <a:gd name="T7" fmla="*/ 1 h 296"/>
                <a:gd name="T8" fmla="*/ 1 w 885"/>
                <a:gd name="T9" fmla="*/ 1 h 296"/>
                <a:gd name="T10" fmla="*/ 0 60000 65536"/>
                <a:gd name="T11" fmla="*/ 0 60000 65536"/>
                <a:gd name="T12" fmla="*/ 0 60000 65536"/>
                <a:gd name="T13" fmla="*/ 0 60000 65536"/>
                <a:gd name="T14" fmla="*/ 0 60000 65536"/>
                <a:gd name="T15" fmla="*/ 0 w 885"/>
                <a:gd name="T16" fmla="*/ 0 h 296"/>
                <a:gd name="T17" fmla="*/ 885 w 885"/>
                <a:gd name="T18" fmla="*/ 296 h 296"/>
              </a:gdLst>
              <a:ahLst/>
              <a:cxnLst>
                <a:cxn ang="T10">
                  <a:pos x="T0" y="T1"/>
                </a:cxn>
                <a:cxn ang="T11">
                  <a:pos x="T2" y="T3"/>
                </a:cxn>
                <a:cxn ang="T12">
                  <a:pos x="T4" y="T5"/>
                </a:cxn>
                <a:cxn ang="T13">
                  <a:pos x="T6" y="T7"/>
                </a:cxn>
                <a:cxn ang="T14">
                  <a:pos x="T8" y="T9"/>
                </a:cxn>
              </a:cxnLst>
              <a:rect l="T15" t="T16" r="T17" b="T18"/>
              <a:pathLst>
                <a:path w="885" h="296">
                  <a:moveTo>
                    <a:pt x="50" y="115"/>
                  </a:moveTo>
                  <a:lnTo>
                    <a:pt x="0" y="0"/>
                  </a:lnTo>
                  <a:lnTo>
                    <a:pt x="885" y="296"/>
                  </a:lnTo>
                  <a:lnTo>
                    <a:pt x="50" y="115"/>
                  </a:lnTo>
                  <a:close/>
                </a:path>
              </a:pathLst>
            </a:custGeom>
            <a:solidFill>
              <a:srgbClr val="99FFFB"/>
            </a:solidFill>
            <a:ln w="9525">
              <a:noFill/>
              <a:round/>
              <a:headEnd/>
              <a:tailEnd/>
            </a:ln>
          </p:spPr>
          <p:txBody>
            <a:bodyPr/>
            <a:lstStyle/>
            <a:p>
              <a:endParaRPr lang="en-US"/>
            </a:p>
          </p:txBody>
        </p:sp>
        <p:sp>
          <p:nvSpPr>
            <p:cNvPr id="15569" name="Freeform 78"/>
            <p:cNvSpPr>
              <a:spLocks/>
            </p:cNvSpPr>
            <p:nvPr/>
          </p:nvSpPr>
          <p:spPr bwMode="auto">
            <a:xfrm>
              <a:off x="2468" y="2490"/>
              <a:ext cx="343" cy="194"/>
            </a:xfrm>
            <a:custGeom>
              <a:avLst/>
              <a:gdLst>
                <a:gd name="T0" fmla="*/ 0 w 687"/>
                <a:gd name="T1" fmla="*/ 0 h 386"/>
                <a:gd name="T2" fmla="*/ 0 w 687"/>
                <a:gd name="T3" fmla="*/ 1 h 386"/>
                <a:gd name="T4" fmla="*/ 2 w 687"/>
                <a:gd name="T5" fmla="*/ 2 h 386"/>
                <a:gd name="T6" fmla="*/ 2 w 687"/>
                <a:gd name="T7" fmla="*/ 2 h 386"/>
                <a:gd name="T8" fmla="*/ 0 w 687"/>
                <a:gd name="T9" fmla="*/ 0 h 386"/>
                <a:gd name="T10" fmla="*/ 0 60000 65536"/>
                <a:gd name="T11" fmla="*/ 0 60000 65536"/>
                <a:gd name="T12" fmla="*/ 0 60000 65536"/>
                <a:gd name="T13" fmla="*/ 0 60000 65536"/>
                <a:gd name="T14" fmla="*/ 0 60000 65536"/>
                <a:gd name="T15" fmla="*/ 0 w 687"/>
                <a:gd name="T16" fmla="*/ 0 h 386"/>
                <a:gd name="T17" fmla="*/ 687 w 687"/>
                <a:gd name="T18" fmla="*/ 386 h 386"/>
              </a:gdLst>
              <a:ahLst/>
              <a:cxnLst>
                <a:cxn ang="T10">
                  <a:pos x="T0" y="T1"/>
                </a:cxn>
                <a:cxn ang="T11">
                  <a:pos x="T2" y="T3"/>
                </a:cxn>
                <a:cxn ang="T12">
                  <a:pos x="T4" y="T5"/>
                </a:cxn>
                <a:cxn ang="T13">
                  <a:pos x="T6" y="T7"/>
                </a:cxn>
                <a:cxn ang="T14">
                  <a:pos x="T8" y="T9"/>
                </a:cxn>
              </a:cxnLst>
              <a:rect l="T15" t="T16" r="T17" b="T18"/>
              <a:pathLst>
                <a:path w="687" h="386">
                  <a:moveTo>
                    <a:pt x="24" y="0"/>
                  </a:moveTo>
                  <a:lnTo>
                    <a:pt x="0" y="58"/>
                  </a:lnTo>
                  <a:lnTo>
                    <a:pt x="664" y="386"/>
                  </a:lnTo>
                  <a:lnTo>
                    <a:pt x="687" y="327"/>
                  </a:lnTo>
                  <a:lnTo>
                    <a:pt x="24" y="0"/>
                  </a:lnTo>
                  <a:close/>
                </a:path>
              </a:pathLst>
            </a:custGeom>
            <a:solidFill>
              <a:srgbClr val="000000"/>
            </a:solidFill>
            <a:ln w="9525">
              <a:noFill/>
              <a:round/>
              <a:headEnd/>
              <a:tailEnd/>
            </a:ln>
          </p:spPr>
          <p:txBody>
            <a:bodyPr/>
            <a:lstStyle/>
            <a:p>
              <a:endParaRPr lang="en-US"/>
            </a:p>
          </p:txBody>
        </p:sp>
        <p:sp>
          <p:nvSpPr>
            <p:cNvPr id="15570" name="Freeform 79"/>
            <p:cNvSpPr>
              <a:spLocks/>
            </p:cNvSpPr>
            <p:nvPr/>
          </p:nvSpPr>
          <p:spPr bwMode="auto">
            <a:xfrm>
              <a:off x="2463" y="2566"/>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5571" name="Freeform 80"/>
            <p:cNvSpPr>
              <a:spLocks/>
            </p:cNvSpPr>
            <p:nvPr/>
          </p:nvSpPr>
          <p:spPr bwMode="auto">
            <a:xfrm>
              <a:off x="2442" y="2641"/>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5572" name="Freeform 81"/>
            <p:cNvSpPr>
              <a:spLocks/>
            </p:cNvSpPr>
            <p:nvPr/>
          </p:nvSpPr>
          <p:spPr bwMode="auto">
            <a:xfrm>
              <a:off x="2437" y="2718"/>
              <a:ext cx="350" cy="221"/>
            </a:xfrm>
            <a:custGeom>
              <a:avLst/>
              <a:gdLst>
                <a:gd name="T0" fmla="*/ 1 w 699"/>
                <a:gd name="T1" fmla="*/ 0 h 441"/>
                <a:gd name="T2" fmla="*/ 0 w 699"/>
                <a:gd name="T3" fmla="*/ 1 h 441"/>
                <a:gd name="T4" fmla="*/ 3 w 699"/>
                <a:gd name="T5" fmla="*/ 2 h 441"/>
                <a:gd name="T6" fmla="*/ 3 w 699"/>
                <a:gd name="T7" fmla="*/ 2 h 441"/>
                <a:gd name="T8" fmla="*/ 1 w 699"/>
                <a:gd name="T9" fmla="*/ 0 h 441"/>
                <a:gd name="T10" fmla="*/ 0 60000 65536"/>
                <a:gd name="T11" fmla="*/ 0 60000 65536"/>
                <a:gd name="T12" fmla="*/ 0 60000 65536"/>
                <a:gd name="T13" fmla="*/ 0 60000 65536"/>
                <a:gd name="T14" fmla="*/ 0 60000 65536"/>
                <a:gd name="T15" fmla="*/ 0 w 699"/>
                <a:gd name="T16" fmla="*/ 0 h 441"/>
                <a:gd name="T17" fmla="*/ 699 w 699"/>
                <a:gd name="T18" fmla="*/ 441 h 441"/>
              </a:gdLst>
              <a:ahLst/>
              <a:cxnLst>
                <a:cxn ang="T10">
                  <a:pos x="T0" y="T1"/>
                </a:cxn>
                <a:cxn ang="T11">
                  <a:pos x="T2" y="T3"/>
                </a:cxn>
                <a:cxn ang="T12">
                  <a:pos x="T4" y="T5"/>
                </a:cxn>
                <a:cxn ang="T13">
                  <a:pos x="T6" y="T7"/>
                </a:cxn>
                <a:cxn ang="T14">
                  <a:pos x="T8" y="T9"/>
                </a:cxn>
              </a:cxnLst>
              <a:rect l="T15" t="T16" r="T17" b="T18"/>
              <a:pathLst>
                <a:path w="699" h="441">
                  <a:moveTo>
                    <a:pt x="27" y="0"/>
                  </a:moveTo>
                  <a:lnTo>
                    <a:pt x="0" y="58"/>
                  </a:lnTo>
                  <a:lnTo>
                    <a:pt x="673" y="441"/>
                  </a:lnTo>
                  <a:lnTo>
                    <a:pt x="699" y="383"/>
                  </a:lnTo>
                  <a:lnTo>
                    <a:pt x="27" y="0"/>
                  </a:lnTo>
                  <a:close/>
                </a:path>
              </a:pathLst>
            </a:custGeom>
            <a:solidFill>
              <a:srgbClr val="000000"/>
            </a:solidFill>
            <a:ln w="9525">
              <a:noFill/>
              <a:round/>
              <a:headEnd/>
              <a:tailEnd/>
            </a:ln>
          </p:spPr>
          <p:txBody>
            <a:bodyPr/>
            <a:lstStyle/>
            <a:p>
              <a:endParaRPr lang="en-US"/>
            </a:p>
          </p:txBody>
        </p:sp>
        <p:sp>
          <p:nvSpPr>
            <p:cNvPr id="15573" name="Freeform 82"/>
            <p:cNvSpPr>
              <a:spLocks/>
            </p:cNvSpPr>
            <p:nvPr/>
          </p:nvSpPr>
          <p:spPr bwMode="auto">
            <a:xfrm>
              <a:off x="2934" y="770"/>
              <a:ext cx="1059" cy="264"/>
            </a:xfrm>
            <a:custGeom>
              <a:avLst/>
              <a:gdLst>
                <a:gd name="T0" fmla="*/ 0 w 2119"/>
                <a:gd name="T1" fmla="*/ 2 h 528"/>
                <a:gd name="T2" fmla="*/ 0 w 2119"/>
                <a:gd name="T3" fmla="*/ 2 h 528"/>
                <a:gd name="T4" fmla="*/ 8 w 2119"/>
                <a:gd name="T5" fmla="*/ 1 h 528"/>
                <a:gd name="T6" fmla="*/ 8 w 2119"/>
                <a:gd name="T7" fmla="*/ 0 h 528"/>
                <a:gd name="T8" fmla="*/ 0 w 2119"/>
                <a:gd name="T9" fmla="*/ 2 h 528"/>
                <a:gd name="T10" fmla="*/ 0 60000 65536"/>
                <a:gd name="T11" fmla="*/ 0 60000 65536"/>
                <a:gd name="T12" fmla="*/ 0 60000 65536"/>
                <a:gd name="T13" fmla="*/ 0 60000 65536"/>
                <a:gd name="T14" fmla="*/ 0 60000 65536"/>
                <a:gd name="T15" fmla="*/ 0 w 2119"/>
                <a:gd name="T16" fmla="*/ 0 h 528"/>
                <a:gd name="T17" fmla="*/ 2119 w 2119"/>
                <a:gd name="T18" fmla="*/ 528 h 528"/>
              </a:gdLst>
              <a:ahLst/>
              <a:cxnLst>
                <a:cxn ang="T10">
                  <a:pos x="T0" y="T1"/>
                </a:cxn>
                <a:cxn ang="T11">
                  <a:pos x="T2" y="T3"/>
                </a:cxn>
                <a:cxn ang="T12">
                  <a:pos x="T4" y="T5"/>
                </a:cxn>
                <a:cxn ang="T13">
                  <a:pos x="T6" y="T7"/>
                </a:cxn>
                <a:cxn ang="T14">
                  <a:pos x="T8" y="T9"/>
                </a:cxn>
              </a:cxnLst>
              <a:rect l="T15" t="T16" r="T17" b="T18"/>
              <a:pathLst>
                <a:path w="2119" h="528">
                  <a:moveTo>
                    <a:pt x="0" y="486"/>
                  </a:moveTo>
                  <a:lnTo>
                    <a:pt x="6" y="528"/>
                  </a:lnTo>
                  <a:lnTo>
                    <a:pt x="2119" y="42"/>
                  </a:lnTo>
                  <a:lnTo>
                    <a:pt x="2114" y="0"/>
                  </a:lnTo>
                  <a:lnTo>
                    <a:pt x="0" y="486"/>
                  </a:lnTo>
                  <a:close/>
                </a:path>
              </a:pathLst>
            </a:custGeom>
            <a:solidFill>
              <a:srgbClr val="DEFF73"/>
            </a:solidFill>
            <a:ln w="9525">
              <a:noFill/>
              <a:round/>
              <a:headEnd/>
              <a:tailEnd/>
            </a:ln>
          </p:spPr>
          <p:txBody>
            <a:bodyPr/>
            <a:lstStyle/>
            <a:p>
              <a:endParaRPr lang="en-US"/>
            </a:p>
          </p:txBody>
        </p:sp>
        <p:sp>
          <p:nvSpPr>
            <p:cNvPr id="15574" name="Freeform 83"/>
            <p:cNvSpPr>
              <a:spLocks/>
            </p:cNvSpPr>
            <p:nvPr/>
          </p:nvSpPr>
          <p:spPr bwMode="auto">
            <a:xfrm>
              <a:off x="2256" y="672"/>
              <a:ext cx="1872" cy="384"/>
            </a:xfrm>
            <a:custGeom>
              <a:avLst/>
              <a:gdLst>
                <a:gd name="T0" fmla="*/ 1872 w 1872"/>
                <a:gd name="T1" fmla="*/ 96 h 384"/>
                <a:gd name="T2" fmla="*/ 672 w 1872"/>
                <a:gd name="T3" fmla="*/ 384 h 384"/>
                <a:gd name="T4" fmla="*/ 0 w 1872"/>
                <a:gd name="T5" fmla="*/ 192 h 384"/>
                <a:gd name="T6" fmla="*/ 1392 w 1872"/>
                <a:gd name="T7" fmla="*/ 0 h 384"/>
                <a:gd name="T8" fmla="*/ 1872 w 1872"/>
                <a:gd name="T9" fmla="*/ 96 h 384"/>
                <a:gd name="T10" fmla="*/ 0 60000 65536"/>
                <a:gd name="T11" fmla="*/ 0 60000 65536"/>
                <a:gd name="T12" fmla="*/ 0 60000 65536"/>
                <a:gd name="T13" fmla="*/ 0 60000 65536"/>
                <a:gd name="T14" fmla="*/ 0 60000 65536"/>
                <a:gd name="T15" fmla="*/ 0 w 1872"/>
                <a:gd name="T16" fmla="*/ 0 h 384"/>
                <a:gd name="T17" fmla="*/ 1872 w 1872"/>
                <a:gd name="T18" fmla="*/ 384 h 384"/>
              </a:gdLst>
              <a:ahLst/>
              <a:cxnLst>
                <a:cxn ang="T10">
                  <a:pos x="T0" y="T1"/>
                </a:cxn>
                <a:cxn ang="T11">
                  <a:pos x="T2" y="T3"/>
                </a:cxn>
                <a:cxn ang="T12">
                  <a:pos x="T4" y="T5"/>
                </a:cxn>
                <a:cxn ang="T13">
                  <a:pos x="T6" y="T7"/>
                </a:cxn>
                <a:cxn ang="T14">
                  <a:pos x="T8" y="T9"/>
                </a:cxn>
              </a:cxnLst>
              <a:rect l="T15" t="T16" r="T17" b="T18"/>
              <a:pathLst>
                <a:path w="1872" h="384">
                  <a:moveTo>
                    <a:pt x="1872" y="96"/>
                  </a:moveTo>
                  <a:lnTo>
                    <a:pt x="672" y="384"/>
                  </a:lnTo>
                  <a:lnTo>
                    <a:pt x="0" y="192"/>
                  </a:lnTo>
                  <a:lnTo>
                    <a:pt x="1392" y="0"/>
                  </a:lnTo>
                  <a:lnTo>
                    <a:pt x="1872" y="96"/>
                  </a:lnTo>
                  <a:close/>
                </a:path>
              </a:pathLst>
            </a:custGeom>
            <a:gradFill rotWithShape="0">
              <a:gsLst>
                <a:gs pos="0">
                  <a:srgbClr val="BEE761"/>
                </a:gs>
                <a:gs pos="100000">
                  <a:srgbClr val="44D6FE"/>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5369" name="Group 84"/>
          <p:cNvGrpSpPr>
            <a:grpSpLocks/>
          </p:cNvGrpSpPr>
          <p:nvPr/>
        </p:nvGrpSpPr>
        <p:grpSpPr bwMode="auto">
          <a:xfrm rot="-245528">
            <a:off x="6477000" y="1676400"/>
            <a:ext cx="606425" cy="479425"/>
            <a:chOff x="2469" y="453"/>
            <a:chExt cx="382" cy="302"/>
          </a:xfrm>
        </p:grpSpPr>
        <p:grpSp>
          <p:nvGrpSpPr>
            <p:cNvPr id="15428" name="Group 85"/>
            <p:cNvGrpSpPr>
              <a:grpSpLocks/>
            </p:cNvGrpSpPr>
            <p:nvPr/>
          </p:nvGrpSpPr>
          <p:grpSpPr bwMode="auto">
            <a:xfrm>
              <a:off x="2592" y="453"/>
              <a:ext cx="163" cy="144"/>
              <a:chOff x="1824" y="844"/>
              <a:chExt cx="2035" cy="1803"/>
            </a:xfrm>
          </p:grpSpPr>
          <p:sp>
            <p:nvSpPr>
              <p:cNvPr id="15519" name="Freeform 86"/>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520" name="Freeform 87"/>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5521" name="Freeform 88"/>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5522" name="Freeform 89"/>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5523" name="Freeform 90"/>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5524" name="Freeform 91"/>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5525" name="Freeform 92"/>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5526" name="Freeform 93"/>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5527" name="Freeform 94"/>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5528" name="Freeform 95"/>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5529" name="Freeform 96"/>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5530" name="Freeform 97"/>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5531" name="Freeform 98"/>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5532" name="Freeform 99"/>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5533" name="Freeform 100"/>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5534" name="Freeform 101"/>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5535" name="Freeform 102"/>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5536" name="Freeform 103"/>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5537" name="Freeform 104"/>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5538" name="Freeform 105"/>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5539" name="Freeform 106"/>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5540" name="Freeform 107"/>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541" name="Freeform 108"/>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542" name="Freeform 109"/>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543" name="Freeform 110"/>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5544" name="Freeform 111"/>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5545" name="Freeform 112"/>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5546" name="Freeform 113"/>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5547" name="Freeform 114"/>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5429" name="Group 115"/>
            <p:cNvGrpSpPr>
              <a:grpSpLocks/>
            </p:cNvGrpSpPr>
            <p:nvPr/>
          </p:nvGrpSpPr>
          <p:grpSpPr bwMode="auto">
            <a:xfrm>
              <a:off x="2688" y="549"/>
              <a:ext cx="163" cy="144"/>
              <a:chOff x="1824" y="844"/>
              <a:chExt cx="2035" cy="1803"/>
            </a:xfrm>
          </p:grpSpPr>
          <p:sp>
            <p:nvSpPr>
              <p:cNvPr id="15490" name="Freeform 116"/>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491" name="Freeform 117"/>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5492" name="Freeform 118"/>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5493" name="Freeform 119"/>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5494" name="Freeform 120"/>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5495" name="Freeform 121"/>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5496" name="Freeform 122"/>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5497" name="Freeform 123"/>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5498" name="Freeform 124"/>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5499" name="Freeform 125"/>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5500" name="Freeform 126"/>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5501" name="Freeform 127"/>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5502" name="Freeform 128"/>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5503" name="Freeform 129"/>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5504" name="Freeform 130"/>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5505" name="Freeform 131"/>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5506" name="Freeform 132"/>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5507" name="Freeform 133"/>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5508" name="Freeform 134"/>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5509" name="Freeform 135"/>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5510" name="Freeform 136"/>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5511" name="Freeform 137"/>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512" name="Freeform 138"/>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513" name="Freeform 139"/>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514" name="Freeform 140"/>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5515" name="Freeform 141"/>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5516" name="Freeform 142"/>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5517" name="Freeform 143"/>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5518" name="Freeform 144"/>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5430" name="Group 145"/>
            <p:cNvGrpSpPr>
              <a:grpSpLocks/>
            </p:cNvGrpSpPr>
            <p:nvPr/>
          </p:nvGrpSpPr>
          <p:grpSpPr bwMode="auto">
            <a:xfrm>
              <a:off x="2561" y="611"/>
              <a:ext cx="163" cy="144"/>
              <a:chOff x="1824" y="844"/>
              <a:chExt cx="2035" cy="1803"/>
            </a:xfrm>
          </p:grpSpPr>
          <p:sp>
            <p:nvSpPr>
              <p:cNvPr id="15461" name="Freeform 146"/>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462" name="Freeform 147"/>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5463" name="Freeform 148"/>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5464" name="Freeform 149"/>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5465" name="Freeform 150"/>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5466" name="Freeform 151"/>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5467" name="Freeform 152"/>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5468" name="Freeform 153"/>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5469" name="Freeform 154"/>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5470" name="Freeform 155"/>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5471" name="Freeform 156"/>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5472" name="Freeform 157"/>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5473" name="Freeform 158"/>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5474" name="Freeform 159"/>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5475" name="Freeform 160"/>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5476" name="Freeform 161"/>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5477" name="Freeform 162"/>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5478" name="Freeform 163"/>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5479" name="Freeform 164"/>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5480" name="Freeform 165"/>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5481" name="Freeform 166"/>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5482" name="Freeform 167"/>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483" name="Freeform 168"/>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484" name="Freeform 169"/>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485" name="Freeform 170"/>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5486" name="Freeform 171"/>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5487" name="Freeform 172"/>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5488" name="Freeform 173"/>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5489" name="Freeform 174"/>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5431" name="Group 175"/>
            <p:cNvGrpSpPr>
              <a:grpSpLocks/>
            </p:cNvGrpSpPr>
            <p:nvPr/>
          </p:nvGrpSpPr>
          <p:grpSpPr bwMode="auto">
            <a:xfrm>
              <a:off x="2469" y="536"/>
              <a:ext cx="163" cy="144"/>
              <a:chOff x="1824" y="844"/>
              <a:chExt cx="2035" cy="1803"/>
            </a:xfrm>
          </p:grpSpPr>
          <p:sp>
            <p:nvSpPr>
              <p:cNvPr id="15432" name="Freeform 176"/>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433" name="Freeform 177"/>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5434" name="Freeform 178"/>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5435" name="Freeform 179"/>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5436" name="Freeform 180"/>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5437" name="Freeform 181"/>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5438" name="Freeform 182"/>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5439" name="Freeform 183"/>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5440" name="Freeform 184"/>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5441" name="Freeform 185"/>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5442" name="Freeform 186"/>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5443" name="Freeform 187"/>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5444" name="Freeform 188"/>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5445" name="Freeform 189"/>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5446" name="Freeform 190"/>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5447" name="Freeform 191"/>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5448" name="Freeform 192"/>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5449" name="Freeform 193"/>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5450" name="Freeform 194"/>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5451" name="Freeform 195"/>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5452" name="Freeform 196"/>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5453" name="Freeform 197"/>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454" name="Freeform 198"/>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455" name="Freeform 199"/>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5456" name="Freeform 200"/>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5457" name="Freeform 201"/>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5458" name="Freeform 202"/>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5459" name="Freeform 203"/>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5460" name="Freeform 204"/>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sp>
        <p:nvSpPr>
          <p:cNvPr id="307409" name="Freeform 209"/>
          <p:cNvSpPr>
            <a:spLocks/>
          </p:cNvSpPr>
          <p:nvPr/>
        </p:nvSpPr>
        <p:spPr bwMode="auto">
          <a:xfrm rot="3174258">
            <a:off x="6561138" y="3954462"/>
            <a:ext cx="1919288" cy="411163"/>
          </a:xfrm>
          <a:custGeom>
            <a:avLst/>
            <a:gdLst/>
            <a:ahLst/>
            <a:cxnLst>
              <a:cxn ang="0">
                <a:pos x="1844" y="131"/>
              </a:cxn>
              <a:cxn ang="0">
                <a:pos x="1835" y="203"/>
              </a:cxn>
              <a:cxn ang="0">
                <a:pos x="5" y="75"/>
              </a:cxn>
              <a:cxn ang="0">
                <a:pos x="0" y="0"/>
              </a:cxn>
              <a:cxn ang="0">
                <a:pos x="1844" y="131"/>
              </a:cxn>
            </a:cxnLst>
            <a:rect l="0" t="0" r="r" b="b"/>
            <a:pathLst>
              <a:path w="1844" h="203">
                <a:moveTo>
                  <a:pt x="1844" y="131"/>
                </a:moveTo>
                <a:lnTo>
                  <a:pt x="1835" y="203"/>
                </a:lnTo>
                <a:lnTo>
                  <a:pt x="5" y="75"/>
                </a:lnTo>
                <a:lnTo>
                  <a:pt x="0" y="0"/>
                </a:lnTo>
                <a:lnTo>
                  <a:pt x="1844" y="131"/>
                </a:lnTo>
                <a:close/>
              </a:path>
            </a:pathLst>
          </a:custGeom>
          <a:gradFill rotWithShape="0">
            <a:gsLst>
              <a:gs pos="0">
                <a:schemeClr val="accent1"/>
              </a:gs>
              <a:gs pos="100000">
                <a:schemeClr val="accent1">
                  <a:gamma/>
                  <a:shade val="46275"/>
                  <a:invGamma/>
                </a:schemeClr>
              </a:gs>
            </a:gsLst>
            <a:lin ang="2700000" scaled="1"/>
          </a:gradFill>
          <a:ln w="9525" cap="flat" cmpd="sng">
            <a:noFill/>
            <a:prstDash val="solid"/>
            <a:round/>
            <a:headEnd/>
            <a:tailEnd/>
          </a:ln>
          <a:effectLst/>
        </p:spPr>
        <p:txBody>
          <a:bodyPr wrap="none" anchor="ctr"/>
          <a:lstStyle/>
          <a:p>
            <a:pPr>
              <a:defRPr/>
            </a:pPr>
            <a:endParaRPr lang="en-US"/>
          </a:p>
        </p:txBody>
      </p:sp>
      <p:sp>
        <p:nvSpPr>
          <p:cNvPr id="307410" name="Text Box 210"/>
          <p:cNvSpPr txBox="1">
            <a:spLocks noChangeArrowheads="1"/>
          </p:cNvSpPr>
          <p:nvPr/>
        </p:nvSpPr>
        <p:spPr bwMode="auto">
          <a:xfrm>
            <a:off x="6934200" y="4038600"/>
            <a:ext cx="1071563" cy="396875"/>
          </a:xfrm>
          <a:prstGeom prst="rect">
            <a:avLst/>
          </a:prstGeom>
          <a:noFill/>
          <a:ln w="9525">
            <a:noFill/>
            <a:miter lim="800000"/>
            <a:headEnd/>
            <a:tailEnd/>
          </a:ln>
          <a:effectLst/>
        </p:spPr>
        <p:txBody>
          <a:bodyPr wrap="none">
            <a:spAutoFit/>
          </a:bodyPr>
          <a:lstStyle/>
          <a:p>
            <a:pPr algn="ctr">
              <a:defRPr/>
            </a:pPr>
            <a:r>
              <a:rPr lang="en-US" sz="2000" b="1">
                <a:effectLst>
                  <a:outerShdw blurRad="38100" dist="38100" dir="2700000" algn="tl">
                    <a:srgbClr val="FFFFFF"/>
                  </a:outerShdw>
                </a:effectLst>
                <a:latin typeface="Times New Roman" pitchFamily="18" charset="0"/>
              </a:rPr>
              <a:t>Internet</a:t>
            </a:r>
          </a:p>
        </p:txBody>
      </p:sp>
      <p:graphicFrame>
        <p:nvGraphicFramePr>
          <p:cNvPr id="15372" name="Object 2"/>
          <p:cNvGraphicFramePr>
            <a:graphicFrameLocks noChangeAspect="1"/>
          </p:cNvGraphicFramePr>
          <p:nvPr/>
        </p:nvGraphicFramePr>
        <p:xfrm>
          <a:off x="7848600" y="4876800"/>
          <a:ext cx="493713" cy="539750"/>
        </p:xfrm>
        <a:graphic>
          <a:graphicData uri="http://schemas.openxmlformats.org/presentationml/2006/ole">
            <mc:AlternateContent xmlns:mc="http://schemas.openxmlformats.org/markup-compatibility/2006">
              <mc:Choice xmlns:v="urn:schemas-microsoft-com:vml" Requires="v">
                <p:oleObj spid="_x0000_s15375" name="Clip" r:id="rId3" imgW="1645920" imgH="1801368" progId="MS_ClipArt_Gallery.2">
                  <p:embed/>
                </p:oleObj>
              </mc:Choice>
              <mc:Fallback>
                <p:oleObj name="Clip" r:id="rId3" imgW="1645920" imgH="1801368" progId="MS_ClipArt_Gallery.2">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8600" y="4876800"/>
                        <a:ext cx="493713"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373" name="Picture 6" descr="Graphic1"/>
          <p:cNvPicPr>
            <a:picLocks noChangeAspect="1" noChangeArrowheads="1"/>
          </p:cNvPicPr>
          <p:nvPr/>
        </p:nvPicPr>
        <p:blipFill>
          <a:blip r:embed="rId5" cstate="print"/>
          <a:srcRect/>
          <a:stretch>
            <a:fillRect/>
          </a:stretch>
        </p:blipFill>
        <p:spPr bwMode="auto">
          <a:xfrm>
            <a:off x="7467600" y="4953000"/>
            <a:ext cx="384175" cy="342900"/>
          </a:xfrm>
          <a:prstGeom prst="rect">
            <a:avLst/>
          </a:prstGeom>
          <a:noFill/>
          <a:ln w="9525">
            <a:noFill/>
            <a:miter lim="800000"/>
            <a:headEnd/>
            <a:tailEnd/>
          </a:ln>
        </p:spPr>
      </p:pic>
      <p:sp>
        <p:nvSpPr>
          <p:cNvPr id="15374" name="Text Box 212"/>
          <p:cNvSpPr txBox="1">
            <a:spLocks noChangeArrowheads="1"/>
          </p:cNvSpPr>
          <p:nvPr/>
        </p:nvSpPr>
        <p:spPr bwMode="auto">
          <a:xfrm>
            <a:off x="7251700" y="1549400"/>
            <a:ext cx="1276350" cy="641350"/>
          </a:xfrm>
          <a:prstGeom prst="rect">
            <a:avLst/>
          </a:prstGeom>
          <a:noFill/>
          <a:ln w="9525">
            <a:noFill/>
            <a:miter lim="800000"/>
            <a:headEnd/>
            <a:tailEnd/>
          </a:ln>
        </p:spPr>
        <p:txBody>
          <a:bodyPr wrap="none">
            <a:spAutoFit/>
          </a:bodyPr>
          <a:lstStyle/>
          <a:p>
            <a:pPr algn="ctr"/>
            <a:r>
              <a:rPr lang="en-US" altLang="en-US" b="1">
                <a:solidFill>
                  <a:schemeClr val="bg1"/>
                </a:solidFill>
              </a:rPr>
              <a:t>Corporate</a:t>
            </a:r>
          </a:p>
          <a:p>
            <a:pPr algn="ctr"/>
            <a:r>
              <a:rPr lang="en-US" altLang="en-US" b="1">
                <a:solidFill>
                  <a:schemeClr val="bg1"/>
                </a:solidFill>
              </a:rPr>
              <a:t>Site</a:t>
            </a:r>
          </a:p>
        </p:txBody>
      </p:sp>
      <p:grpSp>
        <p:nvGrpSpPr>
          <p:cNvPr id="15375" name="Group 266"/>
          <p:cNvGrpSpPr>
            <a:grpSpLocks/>
          </p:cNvGrpSpPr>
          <p:nvPr/>
        </p:nvGrpSpPr>
        <p:grpSpPr bwMode="auto">
          <a:xfrm>
            <a:off x="6781800" y="2667000"/>
            <a:ext cx="576263" cy="1277938"/>
            <a:chOff x="1125" y="288"/>
            <a:chExt cx="2859" cy="3498"/>
          </a:xfrm>
        </p:grpSpPr>
        <p:sp>
          <p:nvSpPr>
            <p:cNvPr id="15376" name="Freeform 267"/>
            <p:cNvSpPr>
              <a:spLocks/>
            </p:cNvSpPr>
            <p:nvPr/>
          </p:nvSpPr>
          <p:spPr bwMode="auto">
            <a:xfrm>
              <a:off x="1151" y="288"/>
              <a:ext cx="2833" cy="3456"/>
            </a:xfrm>
            <a:custGeom>
              <a:avLst/>
              <a:gdLst>
                <a:gd name="T0" fmla="*/ 865 w 2833"/>
                <a:gd name="T1" fmla="*/ 3456 h 3456"/>
                <a:gd name="T2" fmla="*/ 529 w 2833"/>
                <a:gd name="T3" fmla="*/ 3312 h 3456"/>
                <a:gd name="T4" fmla="*/ 452 w 2833"/>
                <a:gd name="T5" fmla="*/ 2646 h 3456"/>
                <a:gd name="T6" fmla="*/ 343 w 2833"/>
                <a:gd name="T7" fmla="*/ 2154 h 3456"/>
                <a:gd name="T8" fmla="*/ 180 w 2833"/>
                <a:gd name="T9" fmla="*/ 1717 h 3456"/>
                <a:gd name="T10" fmla="*/ 0 w 2833"/>
                <a:gd name="T11" fmla="*/ 1241 h 3456"/>
                <a:gd name="T12" fmla="*/ 567 w 2833"/>
                <a:gd name="T13" fmla="*/ 1035 h 3456"/>
                <a:gd name="T14" fmla="*/ 1027 w 2833"/>
                <a:gd name="T15" fmla="*/ 854 h 3456"/>
                <a:gd name="T16" fmla="*/ 1405 w 2833"/>
                <a:gd name="T17" fmla="*/ 657 h 3456"/>
                <a:gd name="T18" fmla="*/ 1717 w 2833"/>
                <a:gd name="T19" fmla="*/ 485 h 3456"/>
                <a:gd name="T20" fmla="*/ 1964 w 2833"/>
                <a:gd name="T21" fmla="*/ 312 h 3456"/>
                <a:gd name="T22" fmla="*/ 2161 w 2833"/>
                <a:gd name="T23" fmla="*/ 96 h 3456"/>
                <a:gd name="T24" fmla="*/ 2593 w 2833"/>
                <a:gd name="T25" fmla="*/ 0 h 3456"/>
                <a:gd name="T26" fmla="*/ 2833 w 2833"/>
                <a:gd name="T27" fmla="*/ 1920 h 3456"/>
                <a:gd name="T28" fmla="*/ 2178 w 2833"/>
                <a:gd name="T29" fmla="*/ 2531 h 3456"/>
                <a:gd name="T30" fmla="*/ 1726 w 2833"/>
                <a:gd name="T31" fmla="*/ 2892 h 3456"/>
                <a:gd name="T32" fmla="*/ 865 w 2833"/>
                <a:gd name="T33" fmla="*/ 3456 h 34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33"/>
                <a:gd name="T52" fmla="*/ 0 h 3456"/>
                <a:gd name="T53" fmla="*/ 2833 w 2833"/>
                <a:gd name="T54" fmla="*/ 3456 h 34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33" h="3456">
                  <a:moveTo>
                    <a:pt x="865" y="3456"/>
                  </a:moveTo>
                  <a:lnTo>
                    <a:pt x="529" y="3312"/>
                  </a:lnTo>
                  <a:lnTo>
                    <a:pt x="452" y="2646"/>
                  </a:lnTo>
                  <a:lnTo>
                    <a:pt x="343" y="2154"/>
                  </a:lnTo>
                  <a:lnTo>
                    <a:pt x="180" y="1717"/>
                  </a:lnTo>
                  <a:lnTo>
                    <a:pt x="0" y="1241"/>
                  </a:lnTo>
                  <a:lnTo>
                    <a:pt x="567" y="1035"/>
                  </a:lnTo>
                  <a:lnTo>
                    <a:pt x="1027" y="854"/>
                  </a:lnTo>
                  <a:lnTo>
                    <a:pt x="1405" y="657"/>
                  </a:lnTo>
                  <a:lnTo>
                    <a:pt x="1717" y="485"/>
                  </a:lnTo>
                  <a:lnTo>
                    <a:pt x="1964" y="312"/>
                  </a:lnTo>
                  <a:lnTo>
                    <a:pt x="2161" y="96"/>
                  </a:lnTo>
                  <a:lnTo>
                    <a:pt x="2593" y="0"/>
                  </a:lnTo>
                  <a:lnTo>
                    <a:pt x="2833" y="1920"/>
                  </a:lnTo>
                  <a:lnTo>
                    <a:pt x="2178" y="2531"/>
                  </a:lnTo>
                  <a:lnTo>
                    <a:pt x="1726" y="2892"/>
                  </a:lnTo>
                  <a:lnTo>
                    <a:pt x="865" y="3456"/>
                  </a:lnTo>
                  <a:close/>
                </a:path>
              </a:pathLst>
            </a:custGeom>
            <a:solidFill>
              <a:srgbClr val="4D4D4D"/>
            </a:solidFill>
            <a:ln w="12700" cap="flat" cmpd="sng">
              <a:noFill/>
              <a:prstDash val="solid"/>
              <a:round/>
              <a:headEnd type="none" w="sm" len="sm"/>
              <a:tailEnd type="none" w="sm" len="sm"/>
            </a:ln>
          </p:spPr>
          <p:txBody>
            <a:bodyPr wrap="none" anchor="ctr"/>
            <a:lstStyle/>
            <a:p>
              <a:endParaRPr lang="en-US"/>
            </a:p>
          </p:txBody>
        </p:sp>
        <p:sp>
          <p:nvSpPr>
            <p:cNvPr id="15377" name="Freeform 268"/>
            <p:cNvSpPr>
              <a:spLocks/>
            </p:cNvSpPr>
            <p:nvPr/>
          </p:nvSpPr>
          <p:spPr bwMode="auto">
            <a:xfrm>
              <a:off x="1125" y="1508"/>
              <a:ext cx="32" cy="43"/>
            </a:xfrm>
            <a:custGeom>
              <a:avLst/>
              <a:gdLst>
                <a:gd name="T0" fmla="*/ 1 w 63"/>
                <a:gd name="T1" fmla="*/ 0 h 43"/>
                <a:gd name="T2" fmla="*/ 1 w 63"/>
                <a:gd name="T3" fmla="*/ 0 h 43"/>
                <a:gd name="T4" fmla="*/ 0 w 63"/>
                <a:gd name="T5" fmla="*/ 20 h 43"/>
                <a:gd name="T6" fmla="*/ 1 w 63"/>
                <a:gd name="T7" fmla="*/ 43 h 43"/>
                <a:gd name="T8" fmla="*/ 1 w 63"/>
                <a:gd name="T9" fmla="*/ 37 h 43"/>
                <a:gd name="T10" fmla="*/ 1 w 63"/>
                <a:gd name="T11" fmla="*/ 30 h 43"/>
                <a:gd name="T12" fmla="*/ 1 w 63"/>
                <a:gd name="T13" fmla="*/ 7 h 43"/>
                <a:gd name="T14" fmla="*/ 1 w 63"/>
                <a:gd name="T15" fmla="*/ 14 h 43"/>
                <a:gd name="T16" fmla="*/ 1 w 63"/>
                <a:gd name="T17" fmla="*/ 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
                <a:gd name="T28" fmla="*/ 0 h 43"/>
                <a:gd name="T29" fmla="*/ 63 w 63"/>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 h="43">
                  <a:moveTo>
                    <a:pt x="23" y="0"/>
                  </a:moveTo>
                  <a:lnTo>
                    <a:pt x="23" y="0"/>
                  </a:lnTo>
                  <a:lnTo>
                    <a:pt x="0" y="20"/>
                  </a:lnTo>
                  <a:lnTo>
                    <a:pt x="21" y="43"/>
                  </a:lnTo>
                  <a:lnTo>
                    <a:pt x="42" y="37"/>
                  </a:lnTo>
                  <a:lnTo>
                    <a:pt x="63" y="30"/>
                  </a:lnTo>
                  <a:lnTo>
                    <a:pt x="42" y="7"/>
                  </a:lnTo>
                  <a:lnTo>
                    <a:pt x="21" y="14"/>
                  </a:lnTo>
                  <a:lnTo>
                    <a:pt x="23" y="0"/>
                  </a:lnTo>
                  <a:close/>
                </a:path>
              </a:pathLst>
            </a:custGeom>
            <a:solidFill>
              <a:srgbClr val="000000"/>
            </a:solidFill>
            <a:ln w="9525">
              <a:noFill/>
              <a:round/>
              <a:headEnd/>
              <a:tailEnd/>
            </a:ln>
          </p:spPr>
          <p:txBody>
            <a:bodyPr/>
            <a:lstStyle/>
            <a:p>
              <a:endParaRPr lang="en-US"/>
            </a:p>
          </p:txBody>
        </p:sp>
        <p:sp>
          <p:nvSpPr>
            <p:cNvPr id="15378" name="Freeform 269"/>
            <p:cNvSpPr>
              <a:spLocks/>
            </p:cNvSpPr>
            <p:nvPr/>
          </p:nvSpPr>
          <p:spPr bwMode="auto">
            <a:xfrm>
              <a:off x="1135" y="1538"/>
              <a:ext cx="897" cy="2248"/>
            </a:xfrm>
            <a:custGeom>
              <a:avLst/>
              <a:gdLst>
                <a:gd name="T0" fmla="*/ 0 w 1793"/>
                <a:gd name="T1" fmla="*/ 13 h 2248"/>
                <a:gd name="T2" fmla="*/ 3 w 1793"/>
                <a:gd name="T3" fmla="*/ 686 h 2248"/>
                <a:gd name="T4" fmla="*/ 1 w 1793"/>
                <a:gd name="T5" fmla="*/ 89 h 2248"/>
                <a:gd name="T6" fmla="*/ 1 w 1793"/>
                <a:gd name="T7" fmla="*/ 177 h 2248"/>
                <a:gd name="T8" fmla="*/ 1 w 1793"/>
                <a:gd name="T9" fmla="*/ 312 h 2248"/>
                <a:gd name="T10" fmla="*/ 2 w 1793"/>
                <a:gd name="T11" fmla="*/ 475 h 2248"/>
                <a:gd name="T12" fmla="*/ 3 w 1793"/>
                <a:gd name="T13" fmla="*/ 671 h 2248"/>
                <a:gd name="T14" fmla="*/ 3 w 1793"/>
                <a:gd name="T15" fmla="*/ 867 h 2248"/>
                <a:gd name="T16" fmla="*/ 3 w 1793"/>
                <a:gd name="T17" fmla="*/ 1075 h 2248"/>
                <a:gd name="T18" fmla="*/ 4 w 1793"/>
                <a:gd name="T19" fmla="*/ 1328 h 2248"/>
                <a:gd name="T20" fmla="*/ 4 w 1793"/>
                <a:gd name="T21" fmla="*/ 1566 h 2248"/>
                <a:gd name="T22" fmla="*/ 5 w 1793"/>
                <a:gd name="T23" fmla="*/ 1808 h 2248"/>
                <a:gd name="T24" fmla="*/ 5 w 1793"/>
                <a:gd name="T25" fmla="*/ 2059 h 2248"/>
                <a:gd name="T26" fmla="*/ 8 w 1793"/>
                <a:gd name="T27" fmla="*/ 2248 h 2248"/>
                <a:gd name="T28" fmla="*/ 7 w 1793"/>
                <a:gd name="T29" fmla="*/ 2211 h 2248"/>
                <a:gd name="T30" fmla="*/ 5 w 1793"/>
                <a:gd name="T31" fmla="*/ 2041 h 2248"/>
                <a:gd name="T32" fmla="*/ 5 w 1793"/>
                <a:gd name="T33" fmla="*/ 1806 h 2248"/>
                <a:gd name="T34" fmla="*/ 4 w 1793"/>
                <a:gd name="T35" fmla="*/ 1559 h 2248"/>
                <a:gd name="T36" fmla="*/ 4 w 1793"/>
                <a:gd name="T37" fmla="*/ 1315 h 2248"/>
                <a:gd name="T38" fmla="*/ 4 w 1793"/>
                <a:gd name="T39" fmla="*/ 1098 h 2248"/>
                <a:gd name="T40" fmla="*/ 3 w 1793"/>
                <a:gd name="T41" fmla="*/ 858 h 2248"/>
                <a:gd name="T42" fmla="*/ 3 w 1793"/>
                <a:gd name="T43" fmla="*/ 641 h 2248"/>
                <a:gd name="T44" fmla="*/ 2 w 1793"/>
                <a:gd name="T45" fmla="*/ 464 h 2248"/>
                <a:gd name="T46" fmla="*/ 2 w 1793"/>
                <a:gd name="T47" fmla="*/ 301 h 2248"/>
                <a:gd name="T48" fmla="*/ 1 w 1793"/>
                <a:gd name="T49" fmla="*/ 166 h 2248"/>
                <a:gd name="T50" fmla="*/ 1 w 1793"/>
                <a:gd name="T51" fmla="*/ 52 h 2248"/>
                <a:gd name="T52" fmla="*/ 1 w 1793"/>
                <a:gd name="T53" fmla="*/ 0 h 2248"/>
                <a:gd name="T54" fmla="*/ 1 w 1793"/>
                <a:gd name="T55" fmla="*/ 7 h 2248"/>
                <a:gd name="T56" fmla="*/ 0 w 1793"/>
                <a:gd name="T57" fmla="*/ 13 h 22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93"/>
                <a:gd name="T88" fmla="*/ 0 h 2248"/>
                <a:gd name="T89" fmla="*/ 1793 w 1793"/>
                <a:gd name="T90" fmla="*/ 2248 h 224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93" h="2248">
                  <a:moveTo>
                    <a:pt x="0" y="13"/>
                  </a:moveTo>
                  <a:lnTo>
                    <a:pt x="625" y="686"/>
                  </a:lnTo>
                  <a:lnTo>
                    <a:pt x="69" y="89"/>
                  </a:lnTo>
                  <a:lnTo>
                    <a:pt x="145" y="177"/>
                  </a:lnTo>
                  <a:lnTo>
                    <a:pt x="255" y="312"/>
                  </a:lnTo>
                  <a:lnTo>
                    <a:pt x="380" y="475"/>
                  </a:lnTo>
                  <a:lnTo>
                    <a:pt x="519" y="671"/>
                  </a:lnTo>
                  <a:lnTo>
                    <a:pt x="646" y="867"/>
                  </a:lnTo>
                  <a:lnTo>
                    <a:pt x="764" y="1075"/>
                  </a:lnTo>
                  <a:lnTo>
                    <a:pt x="882" y="1328"/>
                  </a:lnTo>
                  <a:lnTo>
                    <a:pt x="970" y="1566"/>
                  </a:lnTo>
                  <a:lnTo>
                    <a:pt x="1030" y="1808"/>
                  </a:lnTo>
                  <a:lnTo>
                    <a:pt x="1053" y="2059"/>
                  </a:lnTo>
                  <a:lnTo>
                    <a:pt x="1793" y="2248"/>
                  </a:lnTo>
                  <a:lnTo>
                    <a:pt x="1769" y="2211"/>
                  </a:lnTo>
                  <a:lnTo>
                    <a:pt x="1104" y="2041"/>
                  </a:lnTo>
                  <a:lnTo>
                    <a:pt x="1080" y="1806"/>
                  </a:lnTo>
                  <a:lnTo>
                    <a:pt x="1021" y="1559"/>
                  </a:lnTo>
                  <a:lnTo>
                    <a:pt x="932" y="1315"/>
                  </a:lnTo>
                  <a:lnTo>
                    <a:pt x="826" y="1098"/>
                  </a:lnTo>
                  <a:lnTo>
                    <a:pt x="693" y="858"/>
                  </a:lnTo>
                  <a:lnTo>
                    <a:pt x="554" y="641"/>
                  </a:lnTo>
                  <a:lnTo>
                    <a:pt x="426" y="464"/>
                  </a:lnTo>
                  <a:lnTo>
                    <a:pt x="301" y="301"/>
                  </a:lnTo>
                  <a:lnTo>
                    <a:pt x="191" y="166"/>
                  </a:lnTo>
                  <a:lnTo>
                    <a:pt x="92" y="52"/>
                  </a:lnTo>
                  <a:lnTo>
                    <a:pt x="44" y="0"/>
                  </a:lnTo>
                  <a:lnTo>
                    <a:pt x="21" y="7"/>
                  </a:lnTo>
                  <a:lnTo>
                    <a:pt x="0" y="13"/>
                  </a:lnTo>
                  <a:close/>
                </a:path>
              </a:pathLst>
            </a:custGeom>
            <a:solidFill>
              <a:srgbClr val="000000"/>
            </a:solidFill>
            <a:ln w="9525">
              <a:noFill/>
              <a:round/>
              <a:headEnd/>
              <a:tailEnd/>
            </a:ln>
          </p:spPr>
          <p:txBody>
            <a:bodyPr/>
            <a:lstStyle/>
            <a:p>
              <a:endParaRPr lang="en-US"/>
            </a:p>
          </p:txBody>
        </p:sp>
        <p:sp>
          <p:nvSpPr>
            <p:cNvPr id="15379" name="Freeform 270"/>
            <p:cNvSpPr>
              <a:spLocks/>
            </p:cNvSpPr>
            <p:nvPr/>
          </p:nvSpPr>
          <p:spPr bwMode="auto">
            <a:xfrm>
              <a:off x="1133" y="295"/>
              <a:ext cx="2604" cy="1241"/>
            </a:xfrm>
            <a:custGeom>
              <a:avLst/>
              <a:gdLst>
                <a:gd name="T0" fmla="*/ 21 w 5206"/>
                <a:gd name="T1" fmla="*/ 29 h 1241"/>
                <a:gd name="T2" fmla="*/ 21 w 5206"/>
                <a:gd name="T3" fmla="*/ 0 h 1241"/>
                <a:gd name="T4" fmla="*/ 18 w 5206"/>
                <a:gd name="T5" fmla="*/ 89 h 1241"/>
                <a:gd name="T6" fmla="*/ 16 w 5206"/>
                <a:gd name="T7" fmla="*/ 255 h 1241"/>
                <a:gd name="T8" fmla="*/ 15 w 5206"/>
                <a:gd name="T9" fmla="*/ 410 h 1241"/>
                <a:gd name="T10" fmla="*/ 13 w 5206"/>
                <a:gd name="T11" fmla="*/ 542 h 1241"/>
                <a:gd name="T12" fmla="*/ 11 w 5206"/>
                <a:gd name="T13" fmla="*/ 682 h 1241"/>
                <a:gd name="T14" fmla="*/ 9 w 5206"/>
                <a:gd name="T15" fmla="*/ 800 h 1241"/>
                <a:gd name="T16" fmla="*/ 7 w 5206"/>
                <a:gd name="T17" fmla="*/ 902 h 1241"/>
                <a:gd name="T18" fmla="*/ 6 w 5206"/>
                <a:gd name="T19" fmla="*/ 994 h 1241"/>
                <a:gd name="T20" fmla="*/ 4 w 5206"/>
                <a:gd name="T21" fmla="*/ 1076 h 1241"/>
                <a:gd name="T22" fmla="*/ 3 w 5206"/>
                <a:gd name="T23" fmla="*/ 1132 h 1241"/>
                <a:gd name="T24" fmla="*/ 1 w 5206"/>
                <a:gd name="T25" fmla="*/ 1177 h 1241"/>
                <a:gd name="T26" fmla="*/ 1 w 5206"/>
                <a:gd name="T27" fmla="*/ 1201 h 1241"/>
                <a:gd name="T28" fmla="*/ 0 w 5206"/>
                <a:gd name="T29" fmla="*/ 1213 h 1241"/>
                <a:gd name="T30" fmla="*/ 1 w 5206"/>
                <a:gd name="T31" fmla="*/ 1227 h 1241"/>
                <a:gd name="T32" fmla="*/ 1 w 5206"/>
                <a:gd name="T33" fmla="*/ 1241 h 1241"/>
                <a:gd name="T34" fmla="*/ 1 w 5206"/>
                <a:gd name="T35" fmla="*/ 1236 h 1241"/>
                <a:gd name="T36" fmla="*/ 1 w 5206"/>
                <a:gd name="T37" fmla="*/ 1203 h 1241"/>
                <a:gd name="T38" fmla="*/ 3 w 5206"/>
                <a:gd name="T39" fmla="*/ 1158 h 1241"/>
                <a:gd name="T40" fmla="*/ 4 w 5206"/>
                <a:gd name="T41" fmla="*/ 1093 h 1241"/>
                <a:gd name="T42" fmla="*/ 6 w 5206"/>
                <a:gd name="T43" fmla="*/ 1020 h 1241"/>
                <a:gd name="T44" fmla="*/ 7 w 5206"/>
                <a:gd name="T45" fmla="*/ 928 h 1241"/>
                <a:gd name="T46" fmla="*/ 9 w 5206"/>
                <a:gd name="T47" fmla="*/ 819 h 1241"/>
                <a:gd name="T48" fmla="*/ 11 w 5206"/>
                <a:gd name="T49" fmla="*/ 701 h 1241"/>
                <a:gd name="T50" fmla="*/ 13 w 5206"/>
                <a:gd name="T51" fmla="*/ 579 h 1241"/>
                <a:gd name="T52" fmla="*/ 15 w 5206"/>
                <a:gd name="T53" fmla="*/ 427 h 1241"/>
                <a:gd name="T54" fmla="*/ 16 w 5206"/>
                <a:gd name="T55" fmla="*/ 278 h 1241"/>
                <a:gd name="T56" fmla="*/ 18 w 5206"/>
                <a:gd name="T57" fmla="*/ 118 h 1241"/>
                <a:gd name="T58" fmla="*/ 21 w 5206"/>
                <a:gd name="T59" fmla="*/ 29 h 124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206"/>
                <a:gd name="T91" fmla="*/ 0 h 1241"/>
                <a:gd name="T92" fmla="*/ 5206 w 5206"/>
                <a:gd name="T93" fmla="*/ 1241 h 124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206" h="1241">
                  <a:moveTo>
                    <a:pt x="5206" y="29"/>
                  </a:moveTo>
                  <a:lnTo>
                    <a:pt x="5199" y="0"/>
                  </a:lnTo>
                  <a:lnTo>
                    <a:pt x="4369" y="89"/>
                  </a:lnTo>
                  <a:lnTo>
                    <a:pt x="4037" y="255"/>
                  </a:lnTo>
                  <a:lnTo>
                    <a:pt x="3632" y="410"/>
                  </a:lnTo>
                  <a:lnTo>
                    <a:pt x="3223" y="542"/>
                  </a:lnTo>
                  <a:lnTo>
                    <a:pt x="2711" y="682"/>
                  </a:lnTo>
                  <a:lnTo>
                    <a:pt x="2219" y="800"/>
                  </a:lnTo>
                  <a:lnTo>
                    <a:pt x="1754" y="902"/>
                  </a:lnTo>
                  <a:lnTo>
                    <a:pt x="1295" y="994"/>
                  </a:lnTo>
                  <a:lnTo>
                    <a:pt x="853" y="1076"/>
                  </a:lnTo>
                  <a:lnTo>
                    <a:pt x="521" y="1132"/>
                  </a:lnTo>
                  <a:lnTo>
                    <a:pt x="243" y="1177"/>
                  </a:lnTo>
                  <a:lnTo>
                    <a:pt x="96" y="1201"/>
                  </a:lnTo>
                  <a:lnTo>
                    <a:pt x="0" y="1213"/>
                  </a:lnTo>
                  <a:lnTo>
                    <a:pt x="4" y="1227"/>
                  </a:lnTo>
                  <a:lnTo>
                    <a:pt x="8" y="1241"/>
                  </a:lnTo>
                  <a:lnTo>
                    <a:pt x="42" y="1236"/>
                  </a:lnTo>
                  <a:lnTo>
                    <a:pt x="255" y="1203"/>
                  </a:lnTo>
                  <a:lnTo>
                    <a:pt x="533" y="1158"/>
                  </a:lnTo>
                  <a:lnTo>
                    <a:pt x="915" y="1093"/>
                  </a:lnTo>
                  <a:lnTo>
                    <a:pt x="1310" y="1020"/>
                  </a:lnTo>
                  <a:lnTo>
                    <a:pt x="1769" y="928"/>
                  </a:lnTo>
                  <a:lnTo>
                    <a:pt x="2273" y="819"/>
                  </a:lnTo>
                  <a:lnTo>
                    <a:pt x="2761" y="701"/>
                  </a:lnTo>
                  <a:lnTo>
                    <a:pt x="3199" y="579"/>
                  </a:lnTo>
                  <a:lnTo>
                    <a:pt x="3678" y="427"/>
                  </a:lnTo>
                  <a:lnTo>
                    <a:pt x="4064" y="278"/>
                  </a:lnTo>
                  <a:lnTo>
                    <a:pt x="4388" y="118"/>
                  </a:lnTo>
                  <a:lnTo>
                    <a:pt x="5206" y="29"/>
                  </a:lnTo>
                  <a:close/>
                </a:path>
              </a:pathLst>
            </a:custGeom>
            <a:solidFill>
              <a:srgbClr val="000000"/>
            </a:solidFill>
            <a:ln w="9525">
              <a:noFill/>
              <a:round/>
              <a:headEnd/>
              <a:tailEnd/>
            </a:ln>
          </p:spPr>
          <p:txBody>
            <a:bodyPr/>
            <a:lstStyle/>
            <a:p>
              <a:endParaRPr lang="en-US"/>
            </a:p>
          </p:txBody>
        </p:sp>
        <p:sp>
          <p:nvSpPr>
            <p:cNvPr id="15380" name="Freeform 271"/>
            <p:cNvSpPr>
              <a:spLocks/>
            </p:cNvSpPr>
            <p:nvPr/>
          </p:nvSpPr>
          <p:spPr bwMode="auto">
            <a:xfrm>
              <a:off x="1133" y="1508"/>
              <a:ext cx="365" cy="88"/>
            </a:xfrm>
            <a:custGeom>
              <a:avLst/>
              <a:gdLst>
                <a:gd name="T0" fmla="*/ 0 w 1177"/>
                <a:gd name="T1" fmla="*/ 0 h 150"/>
                <a:gd name="T2" fmla="*/ 0 w 1177"/>
                <a:gd name="T3" fmla="*/ 0 h 150"/>
                <a:gd name="T4" fmla="*/ 0 w 1177"/>
                <a:gd name="T5" fmla="*/ 1 h 150"/>
                <a:gd name="T6" fmla="*/ 0 w 1177"/>
                <a:gd name="T7" fmla="*/ 1 h 150"/>
                <a:gd name="T8" fmla="*/ 0 w 1177"/>
                <a:gd name="T9" fmla="*/ 2 h 150"/>
                <a:gd name="T10" fmla="*/ 0 w 1177"/>
                <a:gd name="T11" fmla="*/ 2 h 150"/>
                <a:gd name="T12" fmla="*/ 0 w 1177"/>
                <a:gd name="T13" fmla="*/ 1 h 150"/>
                <a:gd name="T14" fmla="*/ 0 w 1177"/>
                <a:gd name="T15" fmla="*/ 0 h 150"/>
                <a:gd name="T16" fmla="*/ 0 w 1177"/>
                <a:gd name="T17" fmla="*/ 1 h 150"/>
                <a:gd name="T18" fmla="*/ 0 w 1177"/>
                <a:gd name="T19" fmla="*/ 0 h 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77"/>
                <a:gd name="T31" fmla="*/ 0 h 150"/>
                <a:gd name="T32" fmla="*/ 1177 w 1177"/>
                <a:gd name="T33" fmla="*/ 150 h 1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77" h="150">
                  <a:moveTo>
                    <a:pt x="0" y="0"/>
                  </a:moveTo>
                  <a:lnTo>
                    <a:pt x="0" y="0"/>
                  </a:lnTo>
                  <a:lnTo>
                    <a:pt x="2" y="28"/>
                  </a:lnTo>
                  <a:lnTo>
                    <a:pt x="681" y="79"/>
                  </a:lnTo>
                  <a:lnTo>
                    <a:pt x="1177" y="150"/>
                  </a:lnTo>
                  <a:lnTo>
                    <a:pt x="1177" y="121"/>
                  </a:lnTo>
                  <a:lnTo>
                    <a:pt x="700" y="51"/>
                  </a:lnTo>
                  <a:lnTo>
                    <a:pt x="6" y="0"/>
                  </a:lnTo>
                  <a:lnTo>
                    <a:pt x="4" y="14"/>
                  </a:lnTo>
                  <a:lnTo>
                    <a:pt x="0" y="0"/>
                  </a:lnTo>
                  <a:close/>
                </a:path>
              </a:pathLst>
            </a:custGeom>
            <a:solidFill>
              <a:srgbClr val="000000"/>
            </a:solidFill>
            <a:ln w="9525">
              <a:noFill/>
              <a:round/>
              <a:headEnd/>
              <a:tailEnd/>
            </a:ln>
          </p:spPr>
          <p:txBody>
            <a:bodyPr/>
            <a:lstStyle/>
            <a:p>
              <a:endParaRPr lang="en-US"/>
            </a:p>
          </p:txBody>
        </p:sp>
        <p:sp>
          <p:nvSpPr>
            <p:cNvPr id="15381" name="Freeform 272"/>
            <p:cNvSpPr>
              <a:spLocks/>
            </p:cNvSpPr>
            <p:nvPr/>
          </p:nvSpPr>
          <p:spPr bwMode="auto">
            <a:xfrm>
              <a:off x="3722" y="308"/>
              <a:ext cx="259" cy="1907"/>
            </a:xfrm>
            <a:custGeom>
              <a:avLst/>
              <a:gdLst>
                <a:gd name="T0" fmla="*/ 2 w 518"/>
                <a:gd name="T1" fmla="*/ 1907 h 1907"/>
                <a:gd name="T2" fmla="*/ 2 w 518"/>
                <a:gd name="T3" fmla="*/ 1907 h 1907"/>
                <a:gd name="T4" fmla="*/ 2 w 518"/>
                <a:gd name="T5" fmla="*/ 1862 h 1907"/>
                <a:gd name="T6" fmla="*/ 2 w 518"/>
                <a:gd name="T7" fmla="*/ 1750 h 1907"/>
                <a:gd name="T8" fmla="*/ 2 w 518"/>
                <a:gd name="T9" fmla="*/ 1594 h 1907"/>
                <a:gd name="T10" fmla="*/ 2 w 518"/>
                <a:gd name="T11" fmla="*/ 1396 h 1907"/>
                <a:gd name="T12" fmla="*/ 1 w 518"/>
                <a:gd name="T13" fmla="*/ 1175 h 1907"/>
                <a:gd name="T14" fmla="*/ 1 w 518"/>
                <a:gd name="T15" fmla="*/ 940 h 1907"/>
                <a:gd name="T16" fmla="*/ 1 w 518"/>
                <a:gd name="T17" fmla="*/ 707 h 1907"/>
                <a:gd name="T18" fmla="*/ 1 w 518"/>
                <a:gd name="T19" fmla="*/ 487 h 1907"/>
                <a:gd name="T20" fmla="*/ 1 w 518"/>
                <a:gd name="T21" fmla="*/ 294 h 1907"/>
                <a:gd name="T22" fmla="*/ 1 w 518"/>
                <a:gd name="T23" fmla="*/ 139 h 1907"/>
                <a:gd name="T24" fmla="*/ 1 w 518"/>
                <a:gd name="T25" fmla="*/ 37 h 1907"/>
                <a:gd name="T26" fmla="*/ 1 w 518"/>
                <a:gd name="T27" fmla="*/ 0 h 1907"/>
                <a:gd name="T28" fmla="*/ 1 w 518"/>
                <a:gd name="T29" fmla="*/ 2 h 1907"/>
                <a:gd name="T30" fmla="*/ 0 w 518"/>
                <a:gd name="T31" fmla="*/ 3 h 1907"/>
                <a:gd name="T32" fmla="*/ 1 w 518"/>
                <a:gd name="T33" fmla="*/ 40 h 1907"/>
                <a:gd name="T34" fmla="*/ 1 w 518"/>
                <a:gd name="T35" fmla="*/ 142 h 1907"/>
                <a:gd name="T36" fmla="*/ 1 w 518"/>
                <a:gd name="T37" fmla="*/ 296 h 1907"/>
                <a:gd name="T38" fmla="*/ 1 w 518"/>
                <a:gd name="T39" fmla="*/ 489 h 1907"/>
                <a:gd name="T40" fmla="*/ 1 w 518"/>
                <a:gd name="T41" fmla="*/ 709 h 1907"/>
                <a:gd name="T42" fmla="*/ 1 w 518"/>
                <a:gd name="T43" fmla="*/ 942 h 1907"/>
                <a:gd name="T44" fmla="*/ 1 w 518"/>
                <a:gd name="T45" fmla="*/ 1177 h 1907"/>
                <a:gd name="T46" fmla="*/ 1 w 518"/>
                <a:gd name="T47" fmla="*/ 1399 h 1907"/>
                <a:gd name="T48" fmla="*/ 2 w 518"/>
                <a:gd name="T49" fmla="*/ 1596 h 1907"/>
                <a:gd name="T50" fmla="*/ 2 w 518"/>
                <a:gd name="T51" fmla="*/ 1757 h 1907"/>
                <a:gd name="T52" fmla="*/ 2 w 518"/>
                <a:gd name="T53" fmla="*/ 1862 h 1907"/>
                <a:gd name="T54" fmla="*/ 2 w 518"/>
                <a:gd name="T55" fmla="*/ 1907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18"/>
                <a:gd name="T85" fmla="*/ 0 h 1907"/>
                <a:gd name="T86" fmla="*/ 518 w 518"/>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18" h="1907">
                  <a:moveTo>
                    <a:pt x="464" y="1907"/>
                  </a:moveTo>
                  <a:lnTo>
                    <a:pt x="514" y="1907"/>
                  </a:lnTo>
                  <a:lnTo>
                    <a:pt x="518" y="1862"/>
                  </a:lnTo>
                  <a:lnTo>
                    <a:pt x="502" y="1750"/>
                  </a:lnTo>
                  <a:lnTo>
                    <a:pt x="469" y="1594"/>
                  </a:lnTo>
                  <a:lnTo>
                    <a:pt x="423" y="1396"/>
                  </a:lnTo>
                  <a:lnTo>
                    <a:pt x="369" y="1175"/>
                  </a:lnTo>
                  <a:lnTo>
                    <a:pt x="307" y="940"/>
                  </a:lnTo>
                  <a:lnTo>
                    <a:pt x="245" y="707"/>
                  </a:lnTo>
                  <a:lnTo>
                    <a:pt x="186" y="487"/>
                  </a:lnTo>
                  <a:lnTo>
                    <a:pt x="132" y="294"/>
                  </a:lnTo>
                  <a:lnTo>
                    <a:pt x="89" y="139"/>
                  </a:lnTo>
                  <a:lnTo>
                    <a:pt x="60" y="37"/>
                  </a:lnTo>
                  <a:lnTo>
                    <a:pt x="51" y="0"/>
                  </a:lnTo>
                  <a:lnTo>
                    <a:pt x="25" y="2"/>
                  </a:lnTo>
                  <a:lnTo>
                    <a:pt x="0" y="3"/>
                  </a:lnTo>
                  <a:lnTo>
                    <a:pt x="10" y="40"/>
                  </a:lnTo>
                  <a:lnTo>
                    <a:pt x="39" y="142"/>
                  </a:lnTo>
                  <a:lnTo>
                    <a:pt x="81" y="296"/>
                  </a:lnTo>
                  <a:lnTo>
                    <a:pt x="135" y="489"/>
                  </a:lnTo>
                  <a:lnTo>
                    <a:pt x="195" y="709"/>
                  </a:lnTo>
                  <a:lnTo>
                    <a:pt x="257" y="942"/>
                  </a:lnTo>
                  <a:lnTo>
                    <a:pt x="319" y="1177"/>
                  </a:lnTo>
                  <a:lnTo>
                    <a:pt x="373" y="1399"/>
                  </a:lnTo>
                  <a:lnTo>
                    <a:pt x="419" y="1596"/>
                  </a:lnTo>
                  <a:lnTo>
                    <a:pt x="452" y="1757"/>
                  </a:lnTo>
                  <a:lnTo>
                    <a:pt x="467" y="1862"/>
                  </a:lnTo>
                  <a:lnTo>
                    <a:pt x="464" y="1907"/>
                  </a:lnTo>
                  <a:close/>
                </a:path>
              </a:pathLst>
            </a:custGeom>
            <a:solidFill>
              <a:srgbClr val="000000"/>
            </a:solidFill>
            <a:ln w="9525">
              <a:noFill/>
              <a:round/>
              <a:headEnd/>
              <a:tailEnd/>
            </a:ln>
          </p:spPr>
          <p:txBody>
            <a:bodyPr/>
            <a:lstStyle/>
            <a:p>
              <a:endParaRPr lang="en-US"/>
            </a:p>
          </p:txBody>
        </p:sp>
        <p:sp>
          <p:nvSpPr>
            <p:cNvPr id="15382" name="Freeform 273"/>
            <p:cNvSpPr>
              <a:spLocks/>
            </p:cNvSpPr>
            <p:nvPr/>
          </p:nvSpPr>
          <p:spPr bwMode="auto">
            <a:xfrm>
              <a:off x="3722" y="299"/>
              <a:ext cx="25" cy="26"/>
            </a:xfrm>
            <a:custGeom>
              <a:avLst/>
              <a:gdLst>
                <a:gd name="T0" fmla="*/ 0 w 51"/>
                <a:gd name="T1" fmla="*/ 11 h 26"/>
                <a:gd name="T2" fmla="*/ 0 w 51"/>
                <a:gd name="T3" fmla="*/ 21 h 26"/>
                <a:gd name="T4" fmla="*/ 0 w 51"/>
                <a:gd name="T5" fmla="*/ 26 h 26"/>
                <a:gd name="T6" fmla="*/ 0 w 51"/>
                <a:gd name="T7" fmla="*/ 15 h 26"/>
                <a:gd name="T8" fmla="*/ 0 w 51"/>
                <a:gd name="T9" fmla="*/ 4 h 26"/>
                <a:gd name="T10" fmla="*/ 0 w 51"/>
                <a:gd name="T11" fmla="*/ 0 h 26"/>
                <a:gd name="T12" fmla="*/ 0 w 51"/>
                <a:gd name="T13" fmla="*/ 12 h 26"/>
                <a:gd name="T14" fmla="*/ 0 w 51"/>
                <a:gd name="T15" fmla="*/ 12 h 26"/>
                <a:gd name="T16" fmla="*/ 0 w 51"/>
                <a:gd name="T17" fmla="*/ 11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26"/>
                <a:gd name="T29" fmla="*/ 51 w 51"/>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26">
                  <a:moveTo>
                    <a:pt x="25" y="11"/>
                  </a:moveTo>
                  <a:lnTo>
                    <a:pt x="10" y="21"/>
                  </a:lnTo>
                  <a:lnTo>
                    <a:pt x="20" y="26"/>
                  </a:lnTo>
                  <a:lnTo>
                    <a:pt x="35" y="15"/>
                  </a:lnTo>
                  <a:lnTo>
                    <a:pt x="51" y="4"/>
                  </a:lnTo>
                  <a:lnTo>
                    <a:pt x="41" y="0"/>
                  </a:lnTo>
                  <a:lnTo>
                    <a:pt x="0" y="12"/>
                  </a:lnTo>
                  <a:lnTo>
                    <a:pt x="25" y="11"/>
                  </a:lnTo>
                  <a:close/>
                </a:path>
              </a:pathLst>
            </a:custGeom>
            <a:solidFill>
              <a:srgbClr val="000000"/>
            </a:solidFill>
            <a:ln w="9525">
              <a:noFill/>
              <a:round/>
              <a:headEnd/>
              <a:tailEnd/>
            </a:ln>
          </p:spPr>
          <p:txBody>
            <a:bodyPr/>
            <a:lstStyle/>
            <a:p>
              <a:endParaRPr lang="en-US"/>
            </a:p>
          </p:txBody>
        </p:sp>
        <p:sp>
          <p:nvSpPr>
            <p:cNvPr id="15383" name="Freeform 274"/>
            <p:cNvSpPr>
              <a:spLocks/>
            </p:cNvSpPr>
            <p:nvPr/>
          </p:nvSpPr>
          <p:spPr bwMode="auto">
            <a:xfrm>
              <a:off x="3727" y="303"/>
              <a:ext cx="25" cy="11"/>
            </a:xfrm>
            <a:custGeom>
              <a:avLst/>
              <a:gdLst>
                <a:gd name="T0" fmla="*/ 1 w 50"/>
                <a:gd name="T1" fmla="*/ 11 h 11"/>
                <a:gd name="T2" fmla="*/ 0 w 50"/>
                <a:gd name="T3" fmla="*/ 10 h 11"/>
                <a:gd name="T4" fmla="*/ 1 w 50"/>
                <a:gd name="T5" fmla="*/ 4 h 11"/>
                <a:gd name="T6" fmla="*/ 1 w 50"/>
                <a:gd name="T7" fmla="*/ 0 h 11"/>
                <a:gd name="T8" fmla="*/ 1 w 50"/>
                <a:gd name="T9" fmla="*/ 11 h 11"/>
                <a:gd name="T10" fmla="*/ 0 60000 65536"/>
                <a:gd name="T11" fmla="*/ 0 60000 65536"/>
                <a:gd name="T12" fmla="*/ 0 60000 65536"/>
                <a:gd name="T13" fmla="*/ 0 60000 65536"/>
                <a:gd name="T14" fmla="*/ 0 60000 65536"/>
                <a:gd name="T15" fmla="*/ 0 w 50"/>
                <a:gd name="T16" fmla="*/ 0 h 11"/>
                <a:gd name="T17" fmla="*/ 50 w 50"/>
                <a:gd name="T18" fmla="*/ 11 h 11"/>
              </a:gdLst>
              <a:ahLst/>
              <a:cxnLst>
                <a:cxn ang="T10">
                  <a:pos x="T0" y="T1"/>
                </a:cxn>
                <a:cxn ang="T11">
                  <a:pos x="T2" y="T3"/>
                </a:cxn>
                <a:cxn ang="T12">
                  <a:pos x="T4" y="T5"/>
                </a:cxn>
                <a:cxn ang="T13">
                  <a:pos x="T6" y="T7"/>
                </a:cxn>
                <a:cxn ang="T14">
                  <a:pos x="T8" y="T9"/>
                </a:cxn>
              </a:cxnLst>
              <a:rect l="T15" t="T16" r="T17" b="T18"/>
              <a:pathLst>
                <a:path w="50" h="11">
                  <a:moveTo>
                    <a:pt x="25" y="11"/>
                  </a:moveTo>
                  <a:lnTo>
                    <a:pt x="0" y="10"/>
                  </a:lnTo>
                  <a:lnTo>
                    <a:pt x="50" y="4"/>
                  </a:lnTo>
                  <a:lnTo>
                    <a:pt x="41" y="0"/>
                  </a:lnTo>
                  <a:lnTo>
                    <a:pt x="25" y="11"/>
                  </a:lnTo>
                  <a:close/>
                </a:path>
              </a:pathLst>
            </a:custGeom>
            <a:solidFill>
              <a:srgbClr val="000000"/>
            </a:solidFill>
            <a:ln w="9525">
              <a:noFill/>
              <a:round/>
              <a:headEnd/>
              <a:tailEnd/>
            </a:ln>
          </p:spPr>
          <p:txBody>
            <a:bodyPr/>
            <a:lstStyle/>
            <a:p>
              <a:endParaRPr lang="en-US"/>
            </a:p>
          </p:txBody>
        </p:sp>
        <p:sp>
          <p:nvSpPr>
            <p:cNvPr id="15384" name="Freeform 275"/>
            <p:cNvSpPr>
              <a:spLocks/>
            </p:cNvSpPr>
            <p:nvPr/>
          </p:nvSpPr>
          <p:spPr bwMode="auto">
            <a:xfrm>
              <a:off x="1478" y="307"/>
              <a:ext cx="2274" cy="1281"/>
            </a:xfrm>
            <a:custGeom>
              <a:avLst/>
              <a:gdLst>
                <a:gd name="T0" fmla="*/ 18 w 4548"/>
                <a:gd name="T1" fmla="*/ 6 h 1281"/>
                <a:gd name="T2" fmla="*/ 18 w 4548"/>
                <a:gd name="T3" fmla="*/ 17 h 1281"/>
                <a:gd name="T4" fmla="*/ 18 w 4548"/>
                <a:gd name="T5" fmla="*/ 38 h 1281"/>
                <a:gd name="T6" fmla="*/ 18 w 4548"/>
                <a:gd name="T7" fmla="*/ 68 h 1281"/>
                <a:gd name="T8" fmla="*/ 18 w 4548"/>
                <a:gd name="T9" fmla="*/ 112 h 1281"/>
                <a:gd name="T10" fmla="*/ 17 w 4548"/>
                <a:gd name="T11" fmla="*/ 164 h 1281"/>
                <a:gd name="T12" fmla="*/ 17 w 4548"/>
                <a:gd name="T13" fmla="*/ 231 h 1281"/>
                <a:gd name="T14" fmla="*/ 15 w 4548"/>
                <a:gd name="T15" fmla="*/ 306 h 1281"/>
                <a:gd name="T16" fmla="*/ 15 w 4548"/>
                <a:gd name="T17" fmla="*/ 398 h 1281"/>
                <a:gd name="T18" fmla="*/ 14 w 4548"/>
                <a:gd name="T19" fmla="*/ 501 h 1281"/>
                <a:gd name="T20" fmla="*/ 12 w 4548"/>
                <a:gd name="T21" fmla="*/ 632 h 1281"/>
                <a:gd name="T22" fmla="*/ 11 w 4548"/>
                <a:gd name="T23" fmla="*/ 746 h 1281"/>
                <a:gd name="T24" fmla="*/ 9 w 4548"/>
                <a:gd name="T25" fmla="*/ 862 h 1281"/>
                <a:gd name="T26" fmla="*/ 8 w 4548"/>
                <a:gd name="T27" fmla="*/ 975 h 1281"/>
                <a:gd name="T28" fmla="*/ 6 w 4548"/>
                <a:gd name="T29" fmla="*/ 1056 h 1281"/>
                <a:gd name="T30" fmla="*/ 5 w 4548"/>
                <a:gd name="T31" fmla="*/ 1120 h 1281"/>
                <a:gd name="T32" fmla="*/ 5 w 4548"/>
                <a:gd name="T33" fmla="*/ 1165 h 1281"/>
                <a:gd name="T34" fmla="*/ 3 w 4548"/>
                <a:gd name="T35" fmla="*/ 1202 h 1281"/>
                <a:gd name="T36" fmla="*/ 2 w 4548"/>
                <a:gd name="T37" fmla="*/ 1227 h 1281"/>
                <a:gd name="T38" fmla="*/ 1 w 4548"/>
                <a:gd name="T39" fmla="*/ 1242 h 1281"/>
                <a:gd name="T40" fmla="*/ 1 w 4548"/>
                <a:gd name="T41" fmla="*/ 1250 h 1281"/>
                <a:gd name="T42" fmla="*/ 1 w 4548"/>
                <a:gd name="T43" fmla="*/ 1253 h 1281"/>
                <a:gd name="T44" fmla="*/ 1 w 4548"/>
                <a:gd name="T45" fmla="*/ 1253 h 1281"/>
                <a:gd name="T46" fmla="*/ 1 w 4548"/>
                <a:gd name="T47" fmla="*/ 1252 h 1281"/>
                <a:gd name="T48" fmla="*/ 1 w 4548"/>
                <a:gd name="T49" fmla="*/ 1266 h 1281"/>
                <a:gd name="T50" fmla="*/ 0 w 4548"/>
                <a:gd name="T51" fmla="*/ 1280 h 1281"/>
                <a:gd name="T52" fmla="*/ 1 w 4548"/>
                <a:gd name="T53" fmla="*/ 1281 h 1281"/>
                <a:gd name="T54" fmla="*/ 1 w 4548"/>
                <a:gd name="T55" fmla="*/ 1281 h 1281"/>
                <a:gd name="T56" fmla="*/ 1 w 4548"/>
                <a:gd name="T57" fmla="*/ 1278 h 1281"/>
                <a:gd name="T58" fmla="*/ 1 w 4548"/>
                <a:gd name="T59" fmla="*/ 1270 h 1281"/>
                <a:gd name="T60" fmla="*/ 2 w 4548"/>
                <a:gd name="T61" fmla="*/ 1255 h 1281"/>
                <a:gd name="T62" fmla="*/ 3 w 4548"/>
                <a:gd name="T63" fmla="*/ 1230 h 1281"/>
                <a:gd name="T64" fmla="*/ 4 w 4548"/>
                <a:gd name="T65" fmla="*/ 1197 h 1281"/>
                <a:gd name="T66" fmla="*/ 5 w 4548"/>
                <a:gd name="T67" fmla="*/ 1144 h 1281"/>
                <a:gd name="T68" fmla="*/ 7 w 4548"/>
                <a:gd name="T69" fmla="*/ 1078 h 1281"/>
                <a:gd name="T70" fmla="*/ 8 w 4548"/>
                <a:gd name="T71" fmla="*/ 994 h 1281"/>
                <a:gd name="T72" fmla="*/ 9 w 4548"/>
                <a:gd name="T73" fmla="*/ 903 h 1281"/>
                <a:gd name="T74" fmla="*/ 11 w 4548"/>
                <a:gd name="T75" fmla="*/ 769 h 1281"/>
                <a:gd name="T76" fmla="*/ 13 w 4548"/>
                <a:gd name="T77" fmla="*/ 625 h 1281"/>
                <a:gd name="T78" fmla="*/ 14 w 4548"/>
                <a:gd name="T79" fmla="*/ 525 h 1281"/>
                <a:gd name="T80" fmla="*/ 15 w 4548"/>
                <a:gd name="T81" fmla="*/ 422 h 1281"/>
                <a:gd name="T82" fmla="*/ 16 w 4548"/>
                <a:gd name="T83" fmla="*/ 334 h 1281"/>
                <a:gd name="T84" fmla="*/ 17 w 4548"/>
                <a:gd name="T85" fmla="*/ 252 h 1281"/>
                <a:gd name="T86" fmla="*/ 17 w 4548"/>
                <a:gd name="T87" fmla="*/ 186 h 1281"/>
                <a:gd name="T88" fmla="*/ 18 w 4548"/>
                <a:gd name="T89" fmla="*/ 130 h 1281"/>
                <a:gd name="T90" fmla="*/ 18 w 4548"/>
                <a:gd name="T91" fmla="*/ 85 h 1281"/>
                <a:gd name="T92" fmla="*/ 18 w 4548"/>
                <a:gd name="T93" fmla="*/ 49 h 1281"/>
                <a:gd name="T94" fmla="*/ 18 w 4548"/>
                <a:gd name="T95" fmla="*/ 23 h 1281"/>
                <a:gd name="T96" fmla="*/ 18 w 4548"/>
                <a:gd name="T97" fmla="*/ 0 h 1281"/>
                <a:gd name="T98" fmla="*/ 18 w 4548"/>
                <a:gd name="T99" fmla="*/ 6 h 12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548"/>
                <a:gd name="T151" fmla="*/ 0 h 1281"/>
                <a:gd name="T152" fmla="*/ 4548 w 4548"/>
                <a:gd name="T153" fmla="*/ 1281 h 12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548" h="1281">
                  <a:moveTo>
                    <a:pt x="4498" y="6"/>
                  </a:moveTo>
                  <a:lnTo>
                    <a:pt x="4496" y="17"/>
                  </a:lnTo>
                  <a:lnTo>
                    <a:pt x="4479" y="38"/>
                  </a:lnTo>
                  <a:lnTo>
                    <a:pt x="4438" y="68"/>
                  </a:lnTo>
                  <a:lnTo>
                    <a:pt x="4369" y="112"/>
                  </a:lnTo>
                  <a:lnTo>
                    <a:pt x="4270" y="164"/>
                  </a:lnTo>
                  <a:lnTo>
                    <a:pt x="4133" y="231"/>
                  </a:lnTo>
                  <a:lnTo>
                    <a:pt x="3964" y="306"/>
                  </a:lnTo>
                  <a:lnTo>
                    <a:pt x="3736" y="398"/>
                  </a:lnTo>
                  <a:lnTo>
                    <a:pt x="3466" y="501"/>
                  </a:lnTo>
                  <a:lnTo>
                    <a:pt x="3099" y="632"/>
                  </a:lnTo>
                  <a:lnTo>
                    <a:pt x="2763" y="746"/>
                  </a:lnTo>
                  <a:lnTo>
                    <a:pt x="2389" y="862"/>
                  </a:lnTo>
                  <a:lnTo>
                    <a:pt x="1976" y="975"/>
                  </a:lnTo>
                  <a:lnTo>
                    <a:pt x="1627" y="1056"/>
                  </a:lnTo>
                  <a:lnTo>
                    <a:pt x="1310" y="1120"/>
                  </a:lnTo>
                  <a:lnTo>
                    <a:pt x="1050" y="1165"/>
                  </a:lnTo>
                  <a:lnTo>
                    <a:pt x="768" y="1202"/>
                  </a:lnTo>
                  <a:lnTo>
                    <a:pt x="538" y="1227"/>
                  </a:lnTo>
                  <a:lnTo>
                    <a:pt x="353" y="1242"/>
                  </a:lnTo>
                  <a:lnTo>
                    <a:pt x="204" y="1250"/>
                  </a:lnTo>
                  <a:lnTo>
                    <a:pt x="94" y="1253"/>
                  </a:lnTo>
                  <a:lnTo>
                    <a:pt x="27" y="1253"/>
                  </a:lnTo>
                  <a:lnTo>
                    <a:pt x="4" y="1252"/>
                  </a:lnTo>
                  <a:lnTo>
                    <a:pt x="2" y="1266"/>
                  </a:lnTo>
                  <a:lnTo>
                    <a:pt x="0" y="1280"/>
                  </a:lnTo>
                  <a:lnTo>
                    <a:pt x="25" y="1281"/>
                  </a:lnTo>
                  <a:lnTo>
                    <a:pt x="94" y="1281"/>
                  </a:lnTo>
                  <a:lnTo>
                    <a:pt x="204" y="1278"/>
                  </a:lnTo>
                  <a:lnTo>
                    <a:pt x="361" y="1270"/>
                  </a:lnTo>
                  <a:lnTo>
                    <a:pt x="554" y="1255"/>
                  </a:lnTo>
                  <a:lnTo>
                    <a:pt x="776" y="1230"/>
                  </a:lnTo>
                  <a:lnTo>
                    <a:pt x="1015" y="1197"/>
                  </a:lnTo>
                  <a:lnTo>
                    <a:pt x="1341" y="1144"/>
                  </a:lnTo>
                  <a:lnTo>
                    <a:pt x="1669" y="1078"/>
                  </a:lnTo>
                  <a:lnTo>
                    <a:pt x="2022" y="994"/>
                  </a:lnTo>
                  <a:lnTo>
                    <a:pt x="2358" y="903"/>
                  </a:lnTo>
                  <a:lnTo>
                    <a:pt x="2786" y="769"/>
                  </a:lnTo>
                  <a:lnTo>
                    <a:pt x="3211" y="625"/>
                  </a:lnTo>
                  <a:lnTo>
                    <a:pt x="3493" y="525"/>
                  </a:lnTo>
                  <a:lnTo>
                    <a:pt x="3763" y="422"/>
                  </a:lnTo>
                  <a:lnTo>
                    <a:pt x="3979" y="334"/>
                  </a:lnTo>
                  <a:lnTo>
                    <a:pt x="4164" y="252"/>
                  </a:lnTo>
                  <a:lnTo>
                    <a:pt x="4301" y="186"/>
                  </a:lnTo>
                  <a:lnTo>
                    <a:pt x="4407" y="130"/>
                  </a:lnTo>
                  <a:lnTo>
                    <a:pt x="4477" y="85"/>
                  </a:lnTo>
                  <a:lnTo>
                    <a:pt x="4525" y="49"/>
                  </a:lnTo>
                  <a:lnTo>
                    <a:pt x="4546" y="23"/>
                  </a:lnTo>
                  <a:lnTo>
                    <a:pt x="4548" y="0"/>
                  </a:lnTo>
                  <a:lnTo>
                    <a:pt x="4498" y="6"/>
                  </a:lnTo>
                  <a:close/>
                </a:path>
              </a:pathLst>
            </a:custGeom>
            <a:solidFill>
              <a:srgbClr val="000000"/>
            </a:solidFill>
            <a:ln w="9525">
              <a:noFill/>
              <a:round/>
              <a:headEnd/>
              <a:tailEnd/>
            </a:ln>
          </p:spPr>
          <p:txBody>
            <a:bodyPr/>
            <a:lstStyle/>
            <a:p>
              <a:endParaRPr lang="en-US"/>
            </a:p>
          </p:txBody>
        </p:sp>
        <p:sp>
          <p:nvSpPr>
            <p:cNvPr id="15385" name="Freeform 276"/>
            <p:cNvSpPr>
              <a:spLocks/>
            </p:cNvSpPr>
            <p:nvPr/>
          </p:nvSpPr>
          <p:spPr bwMode="auto">
            <a:xfrm>
              <a:off x="1460" y="1558"/>
              <a:ext cx="581" cy="2221"/>
            </a:xfrm>
            <a:custGeom>
              <a:avLst/>
              <a:gdLst>
                <a:gd name="T0" fmla="*/ 0 w 1164"/>
                <a:gd name="T1" fmla="*/ 1 h 2221"/>
                <a:gd name="T2" fmla="*/ 0 w 1164"/>
                <a:gd name="T3" fmla="*/ 0 h 2221"/>
                <a:gd name="T4" fmla="*/ 0 w 1164"/>
                <a:gd name="T5" fmla="*/ 52 h 2221"/>
                <a:gd name="T6" fmla="*/ 0 w 1164"/>
                <a:gd name="T7" fmla="*/ 140 h 2221"/>
                <a:gd name="T8" fmla="*/ 0 w 1164"/>
                <a:gd name="T9" fmla="*/ 275 h 2221"/>
                <a:gd name="T10" fmla="*/ 1 w 1164"/>
                <a:gd name="T11" fmla="*/ 465 h 2221"/>
                <a:gd name="T12" fmla="*/ 1 w 1164"/>
                <a:gd name="T13" fmla="*/ 653 h 2221"/>
                <a:gd name="T14" fmla="*/ 2 w 1164"/>
                <a:gd name="T15" fmla="*/ 877 h 2221"/>
                <a:gd name="T16" fmla="*/ 2 w 1164"/>
                <a:gd name="T17" fmla="*/ 1128 h 2221"/>
                <a:gd name="T18" fmla="*/ 3 w 1164"/>
                <a:gd name="T19" fmla="*/ 1337 h 2221"/>
                <a:gd name="T20" fmla="*/ 3 w 1164"/>
                <a:gd name="T21" fmla="*/ 1604 h 2221"/>
                <a:gd name="T22" fmla="*/ 4 w 1164"/>
                <a:gd name="T23" fmla="*/ 1829 h 2221"/>
                <a:gd name="T24" fmla="*/ 4 w 1164"/>
                <a:gd name="T25" fmla="*/ 2033 h 2221"/>
                <a:gd name="T26" fmla="*/ 4 w 1164"/>
                <a:gd name="T27" fmla="*/ 2209 h 2221"/>
                <a:gd name="T28" fmla="*/ 4 w 1164"/>
                <a:gd name="T29" fmla="*/ 2221 h 2221"/>
                <a:gd name="T30" fmla="*/ 4 w 1164"/>
                <a:gd name="T31" fmla="*/ 2185 h 2221"/>
                <a:gd name="T32" fmla="*/ 4 w 1164"/>
                <a:gd name="T33" fmla="*/ 2031 h 2221"/>
                <a:gd name="T34" fmla="*/ 4 w 1164"/>
                <a:gd name="T35" fmla="*/ 1823 h 2221"/>
                <a:gd name="T36" fmla="*/ 4 w 1164"/>
                <a:gd name="T37" fmla="*/ 1591 h 2221"/>
                <a:gd name="T38" fmla="*/ 3 w 1164"/>
                <a:gd name="T39" fmla="*/ 1378 h 2221"/>
                <a:gd name="T40" fmla="*/ 3 w 1164"/>
                <a:gd name="T41" fmla="*/ 1098 h 2221"/>
                <a:gd name="T42" fmla="*/ 2 w 1164"/>
                <a:gd name="T43" fmla="*/ 869 h 2221"/>
                <a:gd name="T44" fmla="*/ 2 w 1164"/>
                <a:gd name="T45" fmla="*/ 644 h 2221"/>
                <a:gd name="T46" fmla="*/ 1 w 1164"/>
                <a:gd name="T47" fmla="*/ 421 h 2221"/>
                <a:gd name="T48" fmla="*/ 0 w 1164"/>
                <a:gd name="T49" fmla="*/ 264 h 2221"/>
                <a:gd name="T50" fmla="*/ 0 w 1164"/>
                <a:gd name="T51" fmla="*/ 129 h 2221"/>
                <a:gd name="T52" fmla="*/ 0 w 1164"/>
                <a:gd name="T53" fmla="*/ 41 h 2221"/>
                <a:gd name="T54" fmla="*/ 0 w 1164"/>
                <a:gd name="T55" fmla="*/ 9 h 2221"/>
                <a:gd name="T56" fmla="*/ 0 w 1164"/>
                <a:gd name="T57" fmla="*/ 15 h 2221"/>
                <a:gd name="T58" fmla="*/ 0 w 1164"/>
                <a:gd name="T59" fmla="*/ 1 h 22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64"/>
                <a:gd name="T91" fmla="*/ 0 h 2221"/>
                <a:gd name="T92" fmla="*/ 1164 w 1164"/>
                <a:gd name="T93" fmla="*/ 2221 h 22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64" h="2221">
                  <a:moveTo>
                    <a:pt x="41" y="1"/>
                  </a:moveTo>
                  <a:lnTo>
                    <a:pt x="0" y="0"/>
                  </a:lnTo>
                  <a:lnTo>
                    <a:pt x="41" y="52"/>
                  </a:lnTo>
                  <a:lnTo>
                    <a:pt x="106" y="140"/>
                  </a:lnTo>
                  <a:lnTo>
                    <a:pt x="205" y="275"/>
                  </a:lnTo>
                  <a:lnTo>
                    <a:pt x="340" y="465"/>
                  </a:lnTo>
                  <a:lnTo>
                    <a:pt x="465" y="653"/>
                  </a:lnTo>
                  <a:lnTo>
                    <a:pt x="610" y="877"/>
                  </a:lnTo>
                  <a:lnTo>
                    <a:pt x="757" y="1128"/>
                  </a:lnTo>
                  <a:lnTo>
                    <a:pt x="870" y="1337"/>
                  </a:lnTo>
                  <a:lnTo>
                    <a:pt x="990" y="1604"/>
                  </a:lnTo>
                  <a:lnTo>
                    <a:pt x="1071" y="1829"/>
                  </a:lnTo>
                  <a:lnTo>
                    <a:pt x="1114" y="2033"/>
                  </a:lnTo>
                  <a:lnTo>
                    <a:pt x="1108" y="2209"/>
                  </a:lnTo>
                  <a:lnTo>
                    <a:pt x="1145" y="2221"/>
                  </a:lnTo>
                  <a:lnTo>
                    <a:pt x="1158" y="2185"/>
                  </a:lnTo>
                  <a:lnTo>
                    <a:pt x="1164" y="2031"/>
                  </a:lnTo>
                  <a:lnTo>
                    <a:pt x="1121" y="1823"/>
                  </a:lnTo>
                  <a:lnTo>
                    <a:pt x="1040" y="1591"/>
                  </a:lnTo>
                  <a:lnTo>
                    <a:pt x="940" y="1378"/>
                  </a:lnTo>
                  <a:lnTo>
                    <a:pt x="791" y="1098"/>
                  </a:lnTo>
                  <a:lnTo>
                    <a:pt x="656" y="869"/>
                  </a:lnTo>
                  <a:lnTo>
                    <a:pt x="512" y="644"/>
                  </a:lnTo>
                  <a:lnTo>
                    <a:pt x="363" y="421"/>
                  </a:lnTo>
                  <a:lnTo>
                    <a:pt x="251" y="264"/>
                  </a:lnTo>
                  <a:lnTo>
                    <a:pt x="153" y="129"/>
                  </a:lnTo>
                  <a:lnTo>
                    <a:pt x="87" y="41"/>
                  </a:lnTo>
                  <a:lnTo>
                    <a:pt x="62" y="9"/>
                  </a:lnTo>
                  <a:lnTo>
                    <a:pt x="39" y="15"/>
                  </a:lnTo>
                  <a:lnTo>
                    <a:pt x="41" y="1"/>
                  </a:lnTo>
                  <a:close/>
                </a:path>
              </a:pathLst>
            </a:custGeom>
            <a:solidFill>
              <a:srgbClr val="000000"/>
            </a:solidFill>
            <a:ln w="9525">
              <a:noFill/>
              <a:round/>
              <a:headEnd/>
              <a:tailEnd/>
            </a:ln>
          </p:spPr>
          <p:txBody>
            <a:bodyPr/>
            <a:lstStyle/>
            <a:p>
              <a:endParaRPr lang="en-US"/>
            </a:p>
          </p:txBody>
        </p:sp>
        <p:sp>
          <p:nvSpPr>
            <p:cNvPr id="15386" name="Freeform 277"/>
            <p:cNvSpPr>
              <a:spLocks/>
            </p:cNvSpPr>
            <p:nvPr/>
          </p:nvSpPr>
          <p:spPr bwMode="auto">
            <a:xfrm>
              <a:off x="2032" y="2208"/>
              <a:ext cx="1947" cy="1571"/>
            </a:xfrm>
            <a:custGeom>
              <a:avLst/>
              <a:gdLst>
                <a:gd name="T0" fmla="*/ 0 w 3894"/>
                <a:gd name="T1" fmla="*/ 1571 h 1571"/>
                <a:gd name="T2" fmla="*/ 1 w 3894"/>
                <a:gd name="T3" fmla="*/ 1554 h 1571"/>
                <a:gd name="T4" fmla="*/ 1 w 3894"/>
                <a:gd name="T5" fmla="*/ 1505 h 1571"/>
                <a:gd name="T6" fmla="*/ 2 w 3894"/>
                <a:gd name="T7" fmla="*/ 1428 h 1571"/>
                <a:gd name="T8" fmla="*/ 4 w 3894"/>
                <a:gd name="T9" fmla="*/ 1269 h 1571"/>
                <a:gd name="T10" fmla="*/ 5 w 3894"/>
                <a:gd name="T11" fmla="*/ 1201 h 1571"/>
                <a:gd name="T12" fmla="*/ 6 w 3894"/>
                <a:gd name="T13" fmla="*/ 1060 h 1571"/>
                <a:gd name="T14" fmla="*/ 8 w 3894"/>
                <a:gd name="T15" fmla="*/ 903 h 1571"/>
                <a:gd name="T16" fmla="*/ 9 w 3894"/>
                <a:gd name="T17" fmla="*/ 735 h 1571"/>
                <a:gd name="T18" fmla="*/ 11 w 3894"/>
                <a:gd name="T19" fmla="*/ 562 h 1571"/>
                <a:gd name="T20" fmla="*/ 13 w 3894"/>
                <a:gd name="T21" fmla="*/ 377 h 1571"/>
                <a:gd name="T22" fmla="*/ 14 w 3894"/>
                <a:gd name="T23" fmla="*/ 196 h 1571"/>
                <a:gd name="T24" fmla="*/ 15 w 3894"/>
                <a:gd name="T25" fmla="*/ 13 h 1571"/>
                <a:gd name="T26" fmla="*/ 15 w 3894"/>
                <a:gd name="T27" fmla="*/ 7 h 1571"/>
                <a:gd name="T28" fmla="*/ 15 w 3894"/>
                <a:gd name="T29" fmla="*/ 0 h 1571"/>
                <a:gd name="T30" fmla="*/ 14 w 3894"/>
                <a:gd name="T31" fmla="*/ 174 h 1571"/>
                <a:gd name="T32" fmla="*/ 13 w 3894"/>
                <a:gd name="T33" fmla="*/ 356 h 1571"/>
                <a:gd name="T34" fmla="*/ 11 w 3894"/>
                <a:gd name="T35" fmla="*/ 532 h 1571"/>
                <a:gd name="T36" fmla="*/ 9 w 3894"/>
                <a:gd name="T37" fmla="*/ 711 h 1571"/>
                <a:gd name="T38" fmla="*/ 8 w 3894"/>
                <a:gd name="T39" fmla="*/ 879 h 1571"/>
                <a:gd name="T40" fmla="*/ 6 w 3894"/>
                <a:gd name="T41" fmla="*/ 1036 h 1571"/>
                <a:gd name="T42" fmla="*/ 5 w 3894"/>
                <a:gd name="T43" fmla="*/ 1177 h 1571"/>
                <a:gd name="T44" fmla="*/ 3 w 3894"/>
                <a:gd name="T45" fmla="*/ 1356 h 1571"/>
                <a:gd name="T46" fmla="*/ 2 w 3894"/>
                <a:gd name="T47" fmla="*/ 1404 h 1571"/>
                <a:gd name="T48" fmla="*/ 1 w 3894"/>
                <a:gd name="T49" fmla="*/ 1481 h 1571"/>
                <a:gd name="T50" fmla="*/ 1 w 3894"/>
                <a:gd name="T51" fmla="*/ 1530 h 1571"/>
                <a:gd name="T52" fmla="*/ 1 w 3894"/>
                <a:gd name="T53" fmla="*/ 1535 h 1571"/>
                <a:gd name="T54" fmla="*/ 0 w 3894"/>
                <a:gd name="T55" fmla="*/ 1571 h 15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894"/>
                <a:gd name="T85" fmla="*/ 0 h 1571"/>
                <a:gd name="T86" fmla="*/ 3894 w 3894"/>
                <a:gd name="T87" fmla="*/ 1571 h 15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894" h="1571">
                  <a:moveTo>
                    <a:pt x="0" y="1571"/>
                  </a:moveTo>
                  <a:lnTo>
                    <a:pt x="52" y="1554"/>
                  </a:lnTo>
                  <a:lnTo>
                    <a:pt x="196" y="1505"/>
                  </a:lnTo>
                  <a:lnTo>
                    <a:pt x="422" y="1428"/>
                  </a:lnTo>
                  <a:lnTo>
                    <a:pt x="872" y="1269"/>
                  </a:lnTo>
                  <a:lnTo>
                    <a:pt x="1061" y="1201"/>
                  </a:lnTo>
                  <a:lnTo>
                    <a:pt x="1447" y="1060"/>
                  </a:lnTo>
                  <a:lnTo>
                    <a:pt x="1860" y="903"/>
                  </a:lnTo>
                  <a:lnTo>
                    <a:pt x="2288" y="735"/>
                  </a:lnTo>
                  <a:lnTo>
                    <a:pt x="2709" y="562"/>
                  </a:lnTo>
                  <a:lnTo>
                    <a:pt x="3137" y="377"/>
                  </a:lnTo>
                  <a:lnTo>
                    <a:pt x="3529" y="196"/>
                  </a:lnTo>
                  <a:lnTo>
                    <a:pt x="3892" y="13"/>
                  </a:lnTo>
                  <a:lnTo>
                    <a:pt x="3894" y="7"/>
                  </a:lnTo>
                  <a:lnTo>
                    <a:pt x="3845" y="0"/>
                  </a:lnTo>
                  <a:lnTo>
                    <a:pt x="3498" y="174"/>
                  </a:lnTo>
                  <a:lnTo>
                    <a:pt x="3106" y="356"/>
                  </a:lnTo>
                  <a:lnTo>
                    <a:pt x="2701" y="532"/>
                  </a:lnTo>
                  <a:lnTo>
                    <a:pt x="2261" y="711"/>
                  </a:lnTo>
                  <a:lnTo>
                    <a:pt x="1833" y="879"/>
                  </a:lnTo>
                  <a:lnTo>
                    <a:pt x="1420" y="1036"/>
                  </a:lnTo>
                  <a:lnTo>
                    <a:pt x="1034" y="1177"/>
                  </a:lnTo>
                  <a:lnTo>
                    <a:pt x="532" y="1356"/>
                  </a:lnTo>
                  <a:lnTo>
                    <a:pt x="399" y="1404"/>
                  </a:lnTo>
                  <a:lnTo>
                    <a:pt x="173" y="1481"/>
                  </a:lnTo>
                  <a:lnTo>
                    <a:pt x="28" y="1530"/>
                  </a:lnTo>
                  <a:lnTo>
                    <a:pt x="13" y="1535"/>
                  </a:lnTo>
                  <a:lnTo>
                    <a:pt x="0" y="1571"/>
                  </a:lnTo>
                  <a:close/>
                </a:path>
              </a:pathLst>
            </a:custGeom>
            <a:solidFill>
              <a:srgbClr val="000000"/>
            </a:solidFill>
            <a:ln w="9525">
              <a:noFill/>
              <a:round/>
              <a:headEnd/>
              <a:tailEnd/>
            </a:ln>
          </p:spPr>
          <p:txBody>
            <a:bodyPr/>
            <a:lstStyle/>
            <a:p>
              <a:endParaRPr lang="en-US"/>
            </a:p>
          </p:txBody>
        </p:sp>
        <p:sp>
          <p:nvSpPr>
            <p:cNvPr id="15387" name="Freeform 278"/>
            <p:cNvSpPr>
              <a:spLocks/>
            </p:cNvSpPr>
            <p:nvPr/>
          </p:nvSpPr>
          <p:spPr bwMode="auto">
            <a:xfrm>
              <a:off x="1488" y="1488"/>
              <a:ext cx="648" cy="492"/>
            </a:xfrm>
            <a:custGeom>
              <a:avLst/>
              <a:gdLst>
                <a:gd name="T0" fmla="*/ 546 w 648"/>
                <a:gd name="T1" fmla="*/ 0 h 492"/>
                <a:gd name="T2" fmla="*/ 405 w 648"/>
                <a:gd name="T3" fmla="*/ 36 h 492"/>
                <a:gd name="T4" fmla="*/ 264 w 648"/>
                <a:gd name="T5" fmla="*/ 66 h 492"/>
                <a:gd name="T6" fmla="*/ 99 w 648"/>
                <a:gd name="T7" fmla="*/ 90 h 492"/>
                <a:gd name="T8" fmla="*/ 0 w 648"/>
                <a:gd name="T9" fmla="*/ 93 h 492"/>
                <a:gd name="T10" fmla="*/ 147 w 648"/>
                <a:gd name="T11" fmla="*/ 492 h 492"/>
                <a:gd name="T12" fmla="*/ 360 w 648"/>
                <a:gd name="T13" fmla="*/ 414 h 492"/>
                <a:gd name="T14" fmla="*/ 648 w 648"/>
                <a:gd name="T15" fmla="*/ 273 h 492"/>
                <a:gd name="T16" fmla="*/ 624 w 648"/>
                <a:gd name="T17" fmla="*/ 168 h 492"/>
                <a:gd name="T18" fmla="*/ 612 w 648"/>
                <a:gd name="T19" fmla="*/ 123 h 492"/>
                <a:gd name="T20" fmla="*/ 588 w 648"/>
                <a:gd name="T21" fmla="*/ 63 h 492"/>
                <a:gd name="T22" fmla="*/ 546 w 648"/>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492"/>
                <a:gd name="T38" fmla="*/ 648 w 648"/>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492">
                  <a:moveTo>
                    <a:pt x="546" y="0"/>
                  </a:moveTo>
                  <a:lnTo>
                    <a:pt x="405" y="36"/>
                  </a:lnTo>
                  <a:lnTo>
                    <a:pt x="264" y="66"/>
                  </a:lnTo>
                  <a:lnTo>
                    <a:pt x="99" y="90"/>
                  </a:lnTo>
                  <a:lnTo>
                    <a:pt x="0" y="93"/>
                  </a:lnTo>
                  <a:lnTo>
                    <a:pt x="147" y="492"/>
                  </a:lnTo>
                  <a:lnTo>
                    <a:pt x="360" y="414"/>
                  </a:lnTo>
                  <a:lnTo>
                    <a:pt x="648" y="273"/>
                  </a:lnTo>
                  <a:lnTo>
                    <a:pt x="624" y="168"/>
                  </a:lnTo>
                  <a:lnTo>
                    <a:pt x="612" y="123"/>
                  </a:lnTo>
                  <a:lnTo>
                    <a:pt x="588" y="63"/>
                  </a:lnTo>
                  <a:lnTo>
                    <a:pt x="546"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5388" name="Freeform 279"/>
            <p:cNvSpPr>
              <a:spLocks/>
            </p:cNvSpPr>
            <p:nvPr/>
          </p:nvSpPr>
          <p:spPr bwMode="auto">
            <a:xfrm>
              <a:off x="2049" y="1278"/>
              <a:ext cx="597" cy="477"/>
            </a:xfrm>
            <a:custGeom>
              <a:avLst/>
              <a:gdLst>
                <a:gd name="T0" fmla="*/ 465 w 597"/>
                <a:gd name="T1" fmla="*/ 0 h 477"/>
                <a:gd name="T2" fmla="*/ 249 w 597"/>
                <a:gd name="T3" fmla="*/ 105 h 477"/>
                <a:gd name="T4" fmla="*/ 0 w 597"/>
                <a:gd name="T5" fmla="*/ 207 h 477"/>
                <a:gd name="T6" fmla="*/ 27 w 597"/>
                <a:gd name="T7" fmla="*/ 258 h 477"/>
                <a:gd name="T8" fmla="*/ 57 w 597"/>
                <a:gd name="T9" fmla="*/ 315 h 477"/>
                <a:gd name="T10" fmla="*/ 75 w 597"/>
                <a:gd name="T11" fmla="*/ 384 h 477"/>
                <a:gd name="T12" fmla="*/ 99 w 597"/>
                <a:gd name="T13" fmla="*/ 477 h 477"/>
                <a:gd name="T14" fmla="*/ 366 w 597"/>
                <a:gd name="T15" fmla="*/ 348 h 477"/>
                <a:gd name="T16" fmla="*/ 597 w 597"/>
                <a:gd name="T17" fmla="*/ 219 h 477"/>
                <a:gd name="T18" fmla="*/ 567 w 597"/>
                <a:gd name="T19" fmla="*/ 120 h 477"/>
                <a:gd name="T20" fmla="*/ 519 w 597"/>
                <a:gd name="T21" fmla="*/ 54 h 477"/>
                <a:gd name="T22" fmla="*/ 465 w 597"/>
                <a:gd name="T23" fmla="*/ 0 h 4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97"/>
                <a:gd name="T37" fmla="*/ 0 h 477"/>
                <a:gd name="T38" fmla="*/ 597 w 597"/>
                <a:gd name="T39" fmla="*/ 477 h 4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97" h="477">
                  <a:moveTo>
                    <a:pt x="465" y="0"/>
                  </a:moveTo>
                  <a:lnTo>
                    <a:pt x="249" y="105"/>
                  </a:lnTo>
                  <a:lnTo>
                    <a:pt x="0" y="207"/>
                  </a:lnTo>
                  <a:lnTo>
                    <a:pt x="27" y="258"/>
                  </a:lnTo>
                  <a:lnTo>
                    <a:pt x="57" y="315"/>
                  </a:lnTo>
                  <a:lnTo>
                    <a:pt x="75" y="384"/>
                  </a:lnTo>
                  <a:lnTo>
                    <a:pt x="99" y="477"/>
                  </a:lnTo>
                  <a:lnTo>
                    <a:pt x="366" y="348"/>
                  </a:lnTo>
                  <a:lnTo>
                    <a:pt x="597" y="219"/>
                  </a:lnTo>
                  <a:lnTo>
                    <a:pt x="567" y="120"/>
                  </a:lnTo>
                  <a:lnTo>
                    <a:pt x="519" y="54"/>
                  </a:lnTo>
                  <a:lnTo>
                    <a:pt x="4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389" name="Freeform 280"/>
            <p:cNvSpPr>
              <a:spLocks/>
            </p:cNvSpPr>
            <p:nvPr/>
          </p:nvSpPr>
          <p:spPr bwMode="auto">
            <a:xfrm>
              <a:off x="2526" y="1005"/>
              <a:ext cx="585" cy="486"/>
            </a:xfrm>
            <a:custGeom>
              <a:avLst/>
              <a:gdLst>
                <a:gd name="T0" fmla="*/ 447 w 585"/>
                <a:gd name="T1" fmla="*/ 0 h 486"/>
                <a:gd name="T2" fmla="*/ 261 w 585"/>
                <a:gd name="T3" fmla="*/ 120 h 486"/>
                <a:gd name="T4" fmla="*/ 0 w 585"/>
                <a:gd name="T5" fmla="*/ 264 h 486"/>
                <a:gd name="T6" fmla="*/ 48 w 585"/>
                <a:gd name="T7" fmla="*/ 318 h 486"/>
                <a:gd name="T8" fmla="*/ 93 w 585"/>
                <a:gd name="T9" fmla="*/ 384 h 486"/>
                <a:gd name="T10" fmla="*/ 132 w 585"/>
                <a:gd name="T11" fmla="*/ 486 h 486"/>
                <a:gd name="T12" fmla="*/ 363 w 585"/>
                <a:gd name="T13" fmla="*/ 348 h 486"/>
                <a:gd name="T14" fmla="*/ 585 w 585"/>
                <a:gd name="T15" fmla="*/ 210 h 486"/>
                <a:gd name="T16" fmla="*/ 528 w 585"/>
                <a:gd name="T17" fmla="*/ 102 h 486"/>
                <a:gd name="T18" fmla="*/ 486 w 585"/>
                <a:gd name="T19" fmla="*/ 51 h 486"/>
                <a:gd name="T20" fmla="*/ 447 w 585"/>
                <a:gd name="T21" fmla="*/ 0 h 4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5"/>
                <a:gd name="T34" fmla="*/ 0 h 486"/>
                <a:gd name="T35" fmla="*/ 585 w 585"/>
                <a:gd name="T36" fmla="*/ 486 h 4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5" h="486">
                  <a:moveTo>
                    <a:pt x="447" y="0"/>
                  </a:moveTo>
                  <a:lnTo>
                    <a:pt x="261" y="120"/>
                  </a:lnTo>
                  <a:lnTo>
                    <a:pt x="0" y="264"/>
                  </a:lnTo>
                  <a:lnTo>
                    <a:pt x="48" y="318"/>
                  </a:lnTo>
                  <a:lnTo>
                    <a:pt x="93" y="384"/>
                  </a:lnTo>
                  <a:lnTo>
                    <a:pt x="132" y="486"/>
                  </a:lnTo>
                  <a:lnTo>
                    <a:pt x="363" y="348"/>
                  </a:lnTo>
                  <a:lnTo>
                    <a:pt x="585" y="210"/>
                  </a:lnTo>
                  <a:lnTo>
                    <a:pt x="528" y="102"/>
                  </a:lnTo>
                  <a:lnTo>
                    <a:pt x="486" y="51"/>
                  </a:lnTo>
                  <a:lnTo>
                    <a:pt x="447"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5390" name="Freeform 281"/>
            <p:cNvSpPr>
              <a:spLocks/>
            </p:cNvSpPr>
            <p:nvPr/>
          </p:nvSpPr>
          <p:spPr bwMode="auto">
            <a:xfrm>
              <a:off x="2988" y="723"/>
              <a:ext cx="531" cy="483"/>
            </a:xfrm>
            <a:custGeom>
              <a:avLst/>
              <a:gdLst>
                <a:gd name="T0" fmla="*/ 372 w 531"/>
                <a:gd name="T1" fmla="*/ 0 h 483"/>
                <a:gd name="T2" fmla="*/ 198 w 531"/>
                <a:gd name="T3" fmla="*/ 132 h 483"/>
                <a:gd name="T4" fmla="*/ 0 w 531"/>
                <a:gd name="T5" fmla="*/ 273 h 483"/>
                <a:gd name="T6" fmla="*/ 33 w 531"/>
                <a:gd name="T7" fmla="*/ 321 h 483"/>
                <a:gd name="T8" fmla="*/ 78 w 531"/>
                <a:gd name="T9" fmla="*/ 381 h 483"/>
                <a:gd name="T10" fmla="*/ 108 w 531"/>
                <a:gd name="T11" fmla="*/ 423 h 483"/>
                <a:gd name="T12" fmla="*/ 135 w 531"/>
                <a:gd name="T13" fmla="*/ 483 h 483"/>
                <a:gd name="T14" fmla="*/ 351 w 531"/>
                <a:gd name="T15" fmla="*/ 345 h 483"/>
                <a:gd name="T16" fmla="*/ 531 w 531"/>
                <a:gd name="T17" fmla="*/ 234 h 483"/>
                <a:gd name="T18" fmla="*/ 468 w 531"/>
                <a:gd name="T19" fmla="*/ 111 h 483"/>
                <a:gd name="T20" fmla="*/ 435 w 531"/>
                <a:gd name="T21" fmla="*/ 54 h 483"/>
                <a:gd name="T22" fmla="*/ 372 w 531"/>
                <a:gd name="T23" fmla="*/ 0 h 4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483"/>
                <a:gd name="T38" fmla="*/ 531 w 531"/>
                <a:gd name="T39" fmla="*/ 483 h 4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483">
                  <a:moveTo>
                    <a:pt x="372" y="0"/>
                  </a:moveTo>
                  <a:lnTo>
                    <a:pt x="198" y="132"/>
                  </a:lnTo>
                  <a:lnTo>
                    <a:pt x="0" y="273"/>
                  </a:lnTo>
                  <a:lnTo>
                    <a:pt x="33" y="321"/>
                  </a:lnTo>
                  <a:lnTo>
                    <a:pt x="78" y="381"/>
                  </a:lnTo>
                  <a:lnTo>
                    <a:pt x="108" y="423"/>
                  </a:lnTo>
                  <a:lnTo>
                    <a:pt x="135" y="483"/>
                  </a:lnTo>
                  <a:lnTo>
                    <a:pt x="351" y="345"/>
                  </a:lnTo>
                  <a:lnTo>
                    <a:pt x="531" y="234"/>
                  </a:lnTo>
                  <a:lnTo>
                    <a:pt x="468" y="111"/>
                  </a:lnTo>
                  <a:lnTo>
                    <a:pt x="435" y="54"/>
                  </a:lnTo>
                  <a:lnTo>
                    <a:pt x="372"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391" name="Freeform 282"/>
            <p:cNvSpPr>
              <a:spLocks/>
            </p:cNvSpPr>
            <p:nvPr/>
          </p:nvSpPr>
          <p:spPr bwMode="auto">
            <a:xfrm>
              <a:off x="3369" y="363"/>
              <a:ext cx="417" cy="585"/>
            </a:xfrm>
            <a:custGeom>
              <a:avLst/>
              <a:gdLst>
                <a:gd name="T0" fmla="*/ 363 w 417"/>
                <a:gd name="T1" fmla="*/ 0 h 585"/>
                <a:gd name="T2" fmla="*/ 207 w 417"/>
                <a:gd name="T3" fmla="*/ 171 h 585"/>
                <a:gd name="T4" fmla="*/ 0 w 417"/>
                <a:gd name="T5" fmla="*/ 345 h 585"/>
                <a:gd name="T6" fmla="*/ 57 w 417"/>
                <a:gd name="T7" fmla="*/ 393 h 585"/>
                <a:gd name="T8" fmla="*/ 99 w 417"/>
                <a:gd name="T9" fmla="*/ 462 h 585"/>
                <a:gd name="T10" fmla="*/ 162 w 417"/>
                <a:gd name="T11" fmla="*/ 585 h 585"/>
                <a:gd name="T12" fmla="*/ 369 w 417"/>
                <a:gd name="T13" fmla="*/ 447 h 585"/>
                <a:gd name="T14" fmla="*/ 417 w 417"/>
                <a:gd name="T15" fmla="*/ 402 h 585"/>
                <a:gd name="T16" fmla="*/ 363 w 417"/>
                <a:gd name="T17" fmla="*/ 0 h 5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7"/>
                <a:gd name="T28" fmla="*/ 0 h 585"/>
                <a:gd name="T29" fmla="*/ 417 w 417"/>
                <a:gd name="T30" fmla="*/ 585 h 5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7" h="585">
                  <a:moveTo>
                    <a:pt x="363" y="0"/>
                  </a:moveTo>
                  <a:lnTo>
                    <a:pt x="207" y="171"/>
                  </a:lnTo>
                  <a:lnTo>
                    <a:pt x="0" y="345"/>
                  </a:lnTo>
                  <a:lnTo>
                    <a:pt x="57" y="393"/>
                  </a:lnTo>
                  <a:lnTo>
                    <a:pt x="99" y="462"/>
                  </a:lnTo>
                  <a:lnTo>
                    <a:pt x="162" y="585"/>
                  </a:lnTo>
                  <a:lnTo>
                    <a:pt x="369" y="447"/>
                  </a:lnTo>
                  <a:lnTo>
                    <a:pt x="417" y="402"/>
                  </a:lnTo>
                  <a:lnTo>
                    <a:pt x="36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392" name="Freeform 283"/>
            <p:cNvSpPr>
              <a:spLocks/>
            </p:cNvSpPr>
            <p:nvPr/>
          </p:nvSpPr>
          <p:spPr bwMode="auto">
            <a:xfrm>
              <a:off x="1644" y="1896"/>
              <a:ext cx="444" cy="450"/>
            </a:xfrm>
            <a:custGeom>
              <a:avLst/>
              <a:gdLst>
                <a:gd name="T0" fmla="*/ 273 w 444"/>
                <a:gd name="T1" fmla="*/ 0 h 450"/>
                <a:gd name="T2" fmla="*/ 0 w 444"/>
                <a:gd name="T3" fmla="*/ 102 h 450"/>
                <a:gd name="T4" fmla="*/ 114 w 444"/>
                <a:gd name="T5" fmla="*/ 450 h 450"/>
                <a:gd name="T6" fmla="*/ 276 w 444"/>
                <a:gd name="T7" fmla="*/ 387 h 450"/>
                <a:gd name="T8" fmla="*/ 444 w 444"/>
                <a:gd name="T9" fmla="*/ 303 h 450"/>
                <a:gd name="T10" fmla="*/ 390 w 444"/>
                <a:gd name="T11" fmla="*/ 138 h 450"/>
                <a:gd name="T12" fmla="*/ 333 w 444"/>
                <a:gd name="T13" fmla="*/ 57 h 450"/>
                <a:gd name="T14" fmla="*/ 273 w 444"/>
                <a:gd name="T15" fmla="*/ 0 h 450"/>
                <a:gd name="T16" fmla="*/ 0 60000 65536"/>
                <a:gd name="T17" fmla="*/ 0 60000 65536"/>
                <a:gd name="T18" fmla="*/ 0 60000 65536"/>
                <a:gd name="T19" fmla="*/ 0 60000 65536"/>
                <a:gd name="T20" fmla="*/ 0 60000 65536"/>
                <a:gd name="T21" fmla="*/ 0 60000 65536"/>
                <a:gd name="T22" fmla="*/ 0 60000 65536"/>
                <a:gd name="T23" fmla="*/ 0 60000 65536"/>
                <a:gd name="T24" fmla="*/ 0 w 444"/>
                <a:gd name="T25" fmla="*/ 0 h 450"/>
                <a:gd name="T26" fmla="*/ 444 w 444"/>
                <a:gd name="T27" fmla="*/ 450 h 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4" h="450">
                  <a:moveTo>
                    <a:pt x="273" y="0"/>
                  </a:moveTo>
                  <a:lnTo>
                    <a:pt x="0" y="102"/>
                  </a:lnTo>
                  <a:lnTo>
                    <a:pt x="114" y="450"/>
                  </a:lnTo>
                  <a:lnTo>
                    <a:pt x="276" y="387"/>
                  </a:lnTo>
                  <a:lnTo>
                    <a:pt x="444" y="303"/>
                  </a:lnTo>
                  <a:lnTo>
                    <a:pt x="390" y="138"/>
                  </a:lnTo>
                  <a:lnTo>
                    <a:pt x="333" y="57"/>
                  </a:lnTo>
                  <a:lnTo>
                    <a:pt x="273"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5393" name="Freeform 284"/>
            <p:cNvSpPr>
              <a:spLocks/>
            </p:cNvSpPr>
            <p:nvPr/>
          </p:nvSpPr>
          <p:spPr bwMode="auto">
            <a:xfrm>
              <a:off x="1929" y="1677"/>
              <a:ext cx="579" cy="507"/>
            </a:xfrm>
            <a:custGeom>
              <a:avLst/>
              <a:gdLst>
                <a:gd name="T0" fmla="*/ 435 w 579"/>
                <a:gd name="T1" fmla="*/ 0 h 507"/>
                <a:gd name="T2" fmla="*/ 225 w 579"/>
                <a:gd name="T3" fmla="*/ 99 h 507"/>
                <a:gd name="T4" fmla="*/ 0 w 579"/>
                <a:gd name="T5" fmla="*/ 210 h 507"/>
                <a:gd name="T6" fmla="*/ 63 w 579"/>
                <a:gd name="T7" fmla="*/ 276 h 507"/>
                <a:gd name="T8" fmla="*/ 120 w 579"/>
                <a:gd name="T9" fmla="*/ 360 h 507"/>
                <a:gd name="T10" fmla="*/ 141 w 579"/>
                <a:gd name="T11" fmla="*/ 429 h 507"/>
                <a:gd name="T12" fmla="*/ 174 w 579"/>
                <a:gd name="T13" fmla="*/ 507 h 507"/>
                <a:gd name="T14" fmla="*/ 390 w 579"/>
                <a:gd name="T15" fmla="*/ 390 h 507"/>
                <a:gd name="T16" fmla="*/ 579 w 579"/>
                <a:gd name="T17" fmla="*/ 279 h 507"/>
                <a:gd name="T18" fmla="*/ 540 w 579"/>
                <a:gd name="T19" fmla="*/ 165 h 507"/>
                <a:gd name="T20" fmla="*/ 495 w 579"/>
                <a:gd name="T21" fmla="*/ 87 h 507"/>
                <a:gd name="T22" fmla="*/ 435 w 579"/>
                <a:gd name="T23" fmla="*/ 0 h 5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9"/>
                <a:gd name="T37" fmla="*/ 0 h 507"/>
                <a:gd name="T38" fmla="*/ 579 w 579"/>
                <a:gd name="T39" fmla="*/ 507 h 5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9" h="507">
                  <a:moveTo>
                    <a:pt x="435" y="0"/>
                  </a:moveTo>
                  <a:lnTo>
                    <a:pt x="225" y="99"/>
                  </a:lnTo>
                  <a:lnTo>
                    <a:pt x="0" y="210"/>
                  </a:lnTo>
                  <a:lnTo>
                    <a:pt x="63" y="276"/>
                  </a:lnTo>
                  <a:lnTo>
                    <a:pt x="120" y="360"/>
                  </a:lnTo>
                  <a:lnTo>
                    <a:pt x="141" y="429"/>
                  </a:lnTo>
                  <a:lnTo>
                    <a:pt x="174" y="507"/>
                  </a:lnTo>
                  <a:lnTo>
                    <a:pt x="390" y="390"/>
                  </a:lnTo>
                  <a:lnTo>
                    <a:pt x="579" y="279"/>
                  </a:lnTo>
                  <a:lnTo>
                    <a:pt x="540" y="165"/>
                  </a:lnTo>
                  <a:lnTo>
                    <a:pt x="495" y="87"/>
                  </a:lnTo>
                  <a:lnTo>
                    <a:pt x="435"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5394" name="Freeform 285"/>
            <p:cNvSpPr>
              <a:spLocks/>
            </p:cNvSpPr>
            <p:nvPr/>
          </p:nvSpPr>
          <p:spPr bwMode="auto">
            <a:xfrm>
              <a:off x="2379" y="1404"/>
              <a:ext cx="630" cy="546"/>
            </a:xfrm>
            <a:custGeom>
              <a:avLst/>
              <a:gdLst>
                <a:gd name="T0" fmla="*/ 459 w 630"/>
                <a:gd name="T1" fmla="*/ 0 h 546"/>
                <a:gd name="T2" fmla="*/ 219 w 630"/>
                <a:gd name="T3" fmla="*/ 144 h 546"/>
                <a:gd name="T4" fmla="*/ 0 w 630"/>
                <a:gd name="T5" fmla="*/ 264 h 546"/>
                <a:gd name="T6" fmla="*/ 57 w 630"/>
                <a:gd name="T7" fmla="*/ 363 h 546"/>
                <a:gd name="T8" fmla="*/ 102 w 630"/>
                <a:gd name="T9" fmla="*/ 441 h 546"/>
                <a:gd name="T10" fmla="*/ 141 w 630"/>
                <a:gd name="T11" fmla="*/ 546 h 546"/>
                <a:gd name="T12" fmla="*/ 411 w 630"/>
                <a:gd name="T13" fmla="*/ 393 h 546"/>
                <a:gd name="T14" fmla="*/ 630 w 630"/>
                <a:gd name="T15" fmla="*/ 243 h 546"/>
                <a:gd name="T16" fmla="*/ 591 w 630"/>
                <a:gd name="T17" fmla="*/ 156 h 546"/>
                <a:gd name="T18" fmla="*/ 555 w 630"/>
                <a:gd name="T19" fmla="*/ 102 h 546"/>
                <a:gd name="T20" fmla="*/ 519 w 630"/>
                <a:gd name="T21" fmla="*/ 51 h 546"/>
                <a:gd name="T22" fmla="*/ 459 w 630"/>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0"/>
                <a:gd name="T37" fmla="*/ 0 h 546"/>
                <a:gd name="T38" fmla="*/ 630 w 630"/>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0" h="546">
                  <a:moveTo>
                    <a:pt x="459" y="0"/>
                  </a:moveTo>
                  <a:lnTo>
                    <a:pt x="219" y="144"/>
                  </a:lnTo>
                  <a:lnTo>
                    <a:pt x="0" y="264"/>
                  </a:lnTo>
                  <a:lnTo>
                    <a:pt x="57" y="363"/>
                  </a:lnTo>
                  <a:lnTo>
                    <a:pt x="102" y="441"/>
                  </a:lnTo>
                  <a:lnTo>
                    <a:pt x="141" y="546"/>
                  </a:lnTo>
                  <a:lnTo>
                    <a:pt x="411" y="393"/>
                  </a:lnTo>
                  <a:lnTo>
                    <a:pt x="630" y="243"/>
                  </a:lnTo>
                  <a:lnTo>
                    <a:pt x="591" y="156"/>
                  </a:lnTo>
                  <a:lnTo>
                    <a:pt x="555" y="102"/>
                  </a:lnTo>
                  <a:lnTo>
                    <a:pt x="519" y="51"/>
                  </a:lnTo>
                  <a:lnTo>
                    <a:pt x="45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395" name="Freeform 286"/>
            <p:cNvSpPr>
              <a:spLocks/>
            </p:cNvSpPr>
            <p:nvPr/>
          </p:nvSpPr>
          <p:spPr bwMode="auto">
            <a:xfrm>
              <a:off x="2850" y="1146"/>
              <a:ext cx="567" cy="492"/>
            </a:xfrm>
            <a:custGeom>
              <a:avLst/>
              <a:gdLst>
                <a:gd name="T0" fmla="*/ 396 w 567"/>
                <a:gd name="T1" fmla="*/ 0 h 492"/>
                <a:gd name="T2" fmla="*/ 210 w 567"/>
                <a:gd name="T3" fmla="*/ 126 h 492"/>
                <a:gd name="T4" fmla="*/ 108 w 567"/>
                <a:gd name="T5" fmla="*/ 186 h 492"/>
                <a:gd name="T6" fmla="*/ 0 w 567"/>
                <a:gd name="T7" fmla="*/ 252 h 492"/>
                <a:gd name="T8" fmla="*/ 57 w 567"/>
                <a:gd name="T9" fmla="*/ 312 h 492"/>
                <a:gd name="T10" fmla="*/ 108 w 567"/>
                <a:gd name="T11" fmla="*/ 378 h 492"/>
                <a:gd name="T12" fmla="*/ 171 w 567"/>
                <a:gd name="T13" fmla="*/ 492 h 492"/>
                <a:gd name="T14" fmla="*/ 387 w 567"/>
                <a:gd name="T15" fmla="*/ 354 h 492"/>
                <a:gd name="T16" fmla="*/ 567 w 567"/>
                <a:gd name="T17" fmla="*/ 243 h 492"/>
                <a:gd name="T18" fmla="*/ 534 w 567"/>
                <a:gd name="T19" fmla="*/ 162 h 492"/>
                <a:gd name="T20" fmla="*/ 504 w 567"/>
                <a:gd name="T21" fmla="*/ 114 h 492"/>
                <a:gd name="T22" fmla="*/ 447 w 567"/>
                <a:gd name="T23" fmla="*/ 42 h 492"/>
                <a:gd name="T24" fmla="*/ 396 w 567"/>
                <a:gd name="T25" fmla="*/ 0 h 4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7"/>
                <a:gd name="T40" fmla="*/ 0 h 492"/>
                <a:gd name="T41" fmla="*/ 567 w 567"/>
                <a:gd name="T42" fmla="*/ 492 h 4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7" h="492">
                  <a:moveTo>
                    <a:pt x="396" y="0"/>
                  </a:moveTo>
                  <a:lnTo>
                    <a:pt x="210" y="126"/>
                  </a:lnTo>
                  <a:lnTo>
                    <a:pt x="108" y="186"/>
                  </a:lnTo>
                  <a:lnTo>
                    <a:pt x="0" y="252"/>
                  </a:lnTo>
                  <a:lnTo>
                    <a:pt x="57" y="312"/>
                  </a:lnTo>
                  <a:lnTo>
                    <a:pt x="108" y="378"/>
                  </a:lnTo>
                  <a:lnTo>
                    <a:pt x="171" y="492"/>
                  </a:lnTo>
                  <a:lnTo>
                    <a:pt x="387" y="354"/>
                  </a:lnTo>
                  <a:lnTo>
                    <a:pt x="567" y="243"/>
                  </a:lnTo>
                  <a:lnTo>
                    <a:pt x="534" y="162"/>
                  </a:lnTo>
                  <a:lnTo>
                    <a:pt x="504" y="114"/>
                  </a:lnTo>
                  <a:lnTo>
                    <a:pt x="447" y="42"/>
                  </a:lnTo>
                  <a:lnTo>
                    <a:pt x="39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396" name="Freeform 287"/>
            <p:cNvSpPr>
              <a:spLocks/>
            </p:cNvSpPr>
            <p:nvPr/>
          </p:nvSpPr>
          <p:spPr bwMode="auto">
            <a:xfrm>
              <a:off x="3258" y="798"/>
              <a:ext cx="570" cy="582"/>
            </a:xfrm>
            <a:custGeom>
              <a:avLst/>
              <a:gdLst>
                <a:gd name="T0" fmla="*/ 534 w 570"/>
                <a:gd name="T1" fmla="*/ 0 h 582"/>
                <a:gd name="T2" fmla="*/ 222 w 570"/>
                <a:gd name="T3" fmla="*/ 210 h 582"/>
                <a:gd name="T4" fmla="*/ 0 w 570"/>
                <a:gd name="T5" fmla="*/ 342 h 582"/>
                <a:gd name="T6" fmla="*/ 42 w 570"/>
                <a:gd name="T7" fmla="*/ 384 h 582"/>
                <a:gd name="T8" fmla="*/ 87 w 570"/>
                <a:gd name="T9" fmla="*/ 438 h 582"/>
                <a:gd name="T10" fmla="*/ 129 w 570"/>
                <a:gd name="T11" fmla="*/ 492 h 582"/>
                <a:gd name="T12" fmla="*/ 165 w 570"/>
                <a:gd name="T13" fmla="*/ 582 h 582"/>
                <a:gd name="T14" fmla="*/ 372 w 570"/>
                <a:gd name="T15" fmla="*/ 438 h 582"/>
                <a:gd name="T16" fmla="*/ 570 w 570"/>
                <a:gd name="T17" fmla="*/ 294 h 582"/>
                <a:gd name="T18" fmla="*/ 534 w 570"/>
                <a:gd name="T19" fmla="*/ 0 h 5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0"/>
                <a:gd name="T31" fmla="*/ 0 h 582"/>
                <a:gd name="T32" fmla="*/ 570 w 570"/>
                <a:gd name="T33" fmla="*/ 582 h 5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0" h="582">
                  <a:moveTo>
                    <a:pt x="534" y="0"/>
                  </a:moveTo>
                  <a:lnTo>
                    <a:pt x="222" y="210"/>
                  </a:lnTo>
                  <a:lnTo>
                    <a:pt x="0" y="342"/>
                  </a:lnTo>
                  <a:lnTo>
                    <a:pt x="42" y="384"/>
                  </a:lnTo>
                  <a:lnTo>
                    <a:pt x="87" y="438"/>
                  </a:lnTo>
                  <a:lnTo>
                    <a:pt x="129" y="492"/>
                  </a:lnTo>
                  <a:lnTo>
                    <a:pt x="165" y="582"/>
                  </a:lnTo>
                  <a:lnTo>
                    <a:pt x="372" y="438"/>
                  </a:lnTo>
                  <a:lnTo>
                    <a:pt x="570" y="294"/>
                  </a:lnTo>
                  <a:lnTo>
                    <a:pt x="534"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397" name="Freeform 288"/>
            <p:cNvSpPr>
              <a:spLocks/>
            </p:cNvSpPr>
            <p:nvPr/>
          </p:nvSpPr>
          <p:spPr bwMode="auto">
            <a:xfrm>
              <a:off x="1758" y="2136"/>
              <a:ext cx="669" cy="561"/>
            </a:xfrm>
            <a:custGeom>
              <a:avLst/>
              <a:gdLst>
                <a:gd name="T0" fmla="*/ 474 w 669"/>
                <a:gd name="T1" fmla="*/ 0 h 561"/>
                <a:gd name="T2" fmla="*/ 243 w 669"/>
                <a:gd name="T3" fmla="*/ 120 h 561"/>
                <a:gd name="T4" fmla="*/ 0 w 669"/>
                <a:gd name="T5" fmla="*/ 231 h 561"/>
                <a:gd name="T6" fmla="*/ 102 w 669"/>
                <a:gd name="T7" fmla="*/ 561 h 561"/>
                <a:gd name="T8" fmla="*/ 330 w 669"/>
                <a:gd name="T9" fmla="*/ 459 h 561"/>
                <a:gd name="T10" fmla="*/ 669 w 669"/>
                <a:gd name="T11" fmla="*/ 291 h 561"/>
                <a:gd name="T12" fmla="*/ 633 w 669"/>
                <a:gd name="T13" fmla="*/ 186 h 561"/>
                <a:gd name="T14" fmla="*/ 597 w 669"/>
                <a:gd name="T15" fmla="*/ 132 h 561"/>
                <a:gd name="T16" fmla="*/ 549 w 669"/>
                <a:gd name="T17" fmla="*/ 60 h 561"/>
                <a:gd name="T18" fmla="*/ 474 w 669"/>
                <a:gd name="T19" fmla="*/ 0 h 5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69"/>
                <a:gd name="T31" fmla="*/ 0 h 561"/>
                <a:gd name="T32" fmla="*/ 669 w 669"/>
                <a:gd name="T33" fmla="*/ 561 h 56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69" h="561">
                  <a:moveTo>
                    <a:pt x="474" y="0"/>
                  </a:moveTo>
                  <a:lnTo>
                    <a:pt x="243" y="120"/>
                  </a:lnTo>
                  <a:lnTo>
                    <a:pt x="0" y="231"/>
                  </a:lnTo>
                  <a:lnTo>
                    <a:pt x="102" y="561"/>
                  </a:lnTo>
                  <a:lnTo>
                    <a:pt x="330" y="459"/>
                  </a:lnTo>
                  <a:lnTo>
                    <a:pt x="669" y="291"/>
                  </a:lnTo>
                  <a:lnTo>
                    <a:pt x="633" y="186"/>
                  </a:lnTo>
                  <a:lnTo>
                    <a:pt x="597" y="132"/>
                  </a:lnTo>
                  <a:lnTo>
                    <a:pt x="549" y="60"/>
                  </a:lnTo>
                  <a:lnTo>
                    <a:pt x="474"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5398" name="Freeform 289"/>
            <p:cNvSpPr>
              <a:spLocks/>
            </p:cNvSpPr>
            <p:nvPr/>
          </p:nvSpPr>
          <p:spPr bwMode="auto">
            <a:xfrm>
              <a:off x="2247" y="1842"/>
              <a:ext cx="669" cy="579"/>
            </a:xfrm>
            <a:custGeom>
              <a:avLst/>
              <a:gdLst>
                <a:gd name="T0" fmla="*/ 489 w 669"/>
                <a:gd name="T1" fmla="*/ 0 h 579"/>
                <a:gd name="T2" fmla="*/ 216 w 669"/>
                <a:gd name="T3" fmla="*/ 162 h 579"/>
                <a:gd name="T4" fmla="*/ 0 w 669"/>
                <a:gd name="T5" fmla="*/ 291 h 579"/>
                <a:gd name="T6" fmla="*/ 72 w 669"/>
                <a:gd name="T7" fmla="*/ 354 h 579"/>
                <a:gd name="T8" fmla="*/ 135 w 669"/>
                <a:gd name="T9" fmla="*/ 444 h 579"/>
                <a:gd name="T10" fmla="*/ 195 w 669"/>
                <a:gd name="T11" fmla="*/ 579 h 579"/>
                <a:gd name="T12" fmla="*/ 387 w 669"/>
                <a:gd name="T13" fmla="*/ 471 h 579"/>
                <a:gd name="T14" fmla="*/ 669 w 669"/>
                <a:gd name="T15" fmla="*/ 276 h 579"/>
                <a:gd name="T16" fmla="*/ 645 w 669"/>
                <a:gd name="T17" fmla="*/ 201 h 579"/>
                <a:gd name="T18" fmla="*/ 618 w 669"/>
                <a:gd name="T19" fmla="*/ 150 h 579"/>
                <a:gd name="T20" fmla="*/ 591 w 669"/>
                <a:gd name="T21" fmla="*/ 108 h 579"/>
                <a:gd name="T22" fmla="*/ 543 w 669"/>
                <a:gd name="T23" fmla="*/ 54 h 579"/>
                <a:gd name="T24" fmla="*/ 489 w 669"/>
                <a:gd name="T25" fmla="*/ 0 h 5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69"/>
                <a:gd name="T40" fmla="*/ 0 h 579"/>
                <a:gd name="T41" fmla="*/ 669 w 669"/>
                <a:gd name="T42" fmla="*/ 579 h 5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69" h="579">
                  <a:moveTo>
                    <a:pt x="489" y="0"/>
                  </a:moveTo>
                  <a:lnTo>
                    <a:pt x="216" y="162"/>
                  </a:lnTo>
                  <a:lnTo>
                    <a:pt x="0" y="291"/>
                  </a:lnTo>
                  <a:lnTo>
                    <a:pt x="72" y="354"/>
                  </a:lnTo>
                  <a:lnTo>
                    <a:pt x="135" y="444"/>
                  </a:lnTo>
                  <a:lnTo>
                    <a:pt x="195" y="579"/>
                  </a:lnTo>
                  <a:lnTo>
                    <a:pt x="387" y="471"/>
                  </a:lnTo>
                  <a:lnTo>
                    <a:pt x="669" y="276"/>
                  </a:lnTo>
                  <a:lnTo>
                    <a:pt x="645" y="201"/>
                  </a:lnTo>
                  <a:lnTo>
                    <a:pt x="618" y="150"/>
                  </a:lnTo>
                  <a:lnTo>
                    <a:pt x="591" y="108"/>
                  </a:lnTo>
                  <a:lnTo>
                    <a:pt x="543" y="54"/>
                  </a:lnTo>
                  <a:lnTo>
                    <a:pt x="48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399" name="Freeform 290"/>
            <p:cNvSpPr>
              <a:spLocks/>
            </p:cNvSpPr>
            <p:nvPr/>
          </p:nvSpPr>
          <p:spPr bwMode="auto">
            <a:xfrm>
              <a:off x="2742" y="1533"/>
              <a:ext cx="654" cy="582"/>
            </a:xfrm>
            <a:custGeom>
              <a:avLst/>
              <a:gdLst>
                <a:gd name="T0" fmla="*/ 480 w 654"/>
                <a:gd name="T1" fmla="*/ 0 h 582"/>
                <a:gd name="T2" fmla="*/ 249 w 654"/>
                <a:gd name="T3" fmla="*/ 150 h 582"/>
                <a:gd name="T4" fmla="*/ 0 w 654"/>
                <a:gd name="T5" fmla="*/ 300 h 582"/>
                <a:gd name="T6" fmla="*/ 66 w 654"/>
                <a:gd name="T7" fmla="*/ 372 h 582"/>
                <a:gd name="T8" fmla="*/ 120 w 654"/>
                <a:gd name="T9" fmla="*/ 435 h 582"/>
                <a:gd name="T10" fmla="*/ 189 w 654"/>
                <a:gd name="T11" fmla="*/ 582 h 582"/>
                <a:gd name="T12" fmla="*/ 360 w 654"/>
                <a:gd name="T13" fmla="*/ 471 h 582"/>
                <a:gd name="T14" fmla="*/ 654 w 654"/>
                <a:gd name="T15" fmla="*/ 246 h 582"/>
                <a:gd name="T16" fmla="*/ 606 w 654"/>
                <a:gd name="T17" fmla="*/ 153 h 582"/>
                <a:gd name="T18" fmla="*/ 543 w 654"/>
                <a:gd name="T19" fmla="*/ 54 h 582"/>
                <a:gd name="T20" fmla="*/ 480 w 654"/>
                <a:gd name="T21" fmla="*/ 0 h 5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4"/>
                <a:gd name="T34" fmla="*/ 0 h 582"/>
                <a:gd name="T35" fmla="*/ 654 w 654"/>
                <a:gd name="T36" fmla="*/ 582 h 5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4" h="582">
                  <a:moveTo>
                    <a:pt x="480" y="0"/>
                  </a:moveTo>
                  <a:lnTo>
                    <a:pt x="249" y="150"/>
                  </a:lnTo>
                  <a:lnTo>
                    <a:pt x="0" y="300"/>
                  </a:lnTo>
                  <a:lnTo>
                    <a:pt x="66" y="372"/>
                  </a:lnTo>
                  <a:lnTo>
                    <a:pt x="120" y="435"/>
                  </a:lnTo>
                  <a:lnTo>
                    <a:pt x="189" y="582"/>
                  </a:lnTo>
                  <a:lnTo>
                    <a:pt x="360" y="471"/>
                  </a:lnTo>
                  <a:lnTo>
                    <a:pt x="654" y="246"/>
                  </a:lnTo>
                  <a:lnTo>
                    <a:pt x="606" y="153"/>
                  </a:lnTo>
                  <a:lnTo>
                    <a:pt x="543" y="54"/>
                  </a:lnTo>
                  <a:lnTo>
                    <a:pt x="480"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5400" name="Freeform 291"/>
            <p:cNvSpPr>
              <a:spLocks/>
            </p:cNvSpPr>
            <p:nvPr/>
          </p:nvSpPr>
          <p:spPr bwMode="auto">
            <a:xfrm>
              <a:off x="3234" y="1239"/>
              <a:ext cx="555" cy="537"/>
            </a:xfrm>
            <a:custGeom>
              <a:avLst/>
              <a:gdLst>
                <a:gd name="T0" fmla="*/ 423 w 555"/>
                <a:gd name="T1" fmla="*/ 0 h 537"/>
                <a:gd name="T2" fmla="*/ 219 w 555"/>
                <a:gd name="T3" fmla="*/ 144 h 537"/>
                <a:gd name="T4" fmla="*/ 0 w 555"/>
                <a:gd name="T5" fmla="*/ 285 h 537"/>
                <a:gd name="T6" fmla="*/ 66 w 555"/>
                <a:gd name="T7" fmla="*/ 354 h 537"/>
                <a:gd name="T8" fmla="*/ 132 w 555"/>
                <a:gd name="T9" fmla="*/ 447 h 537"/>
                <a:gd name="T10" fmla="*/ 177 w 555"/>
                <a:gd name="T11" fmla="*/ 537 h 537"/>
                <a:gd name="T12" fmla="*/ 312 w 555"/>
                <a:gd name="T13" fmla="*/ 444 h 537"/>
                <a:gd name="T14" fmla="*/ 555 w 555"/>
                <a:gd name="T15" fmla="*/ 240 h 537"/>
                <a:gd name="T16" fmla="*/ 525 w 555"/>
                <a:gd name="T17" fmla="*/ 135 h 537"/>
                <a:gd name="T18" fmla="*/ 504 w 555"/>
                <a:gd name="T19" fmla="*/ 75 h 537"/>
                <a:gd name="T20" fmla="*/ 459 w 555"/>
                <a:gd name="T21" fmla="*/ 36 h 537"/>
                <a:gd name="T22" fmla="*/ 423 w 555"/>
                <a:gd name="T23" fmla="*/ 0 h 5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5"/>
                <a:gd name="T37" fmla="*/ 0 h 537"/>
                <a:gd name="T38" fmla="*/ 555 w 555"/>
                <a:gd name="T39" fmla="*/ 537 h 5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5" h="537">
                  <a:moveTo>
                    <a:pt x="423" y="0"/>
                  </a:moveTo>
                  <a:lnTo>
                    <a:pt x="219" y="144"/>
                  </a:lnTo>
                  <a:lnTo>
                    <a:pt x="0" y="285"/>
                  </a:lnTo>
                  <a:lnTo>
                    <a:pt x="66" y="354"/>
                  </a:lnTo>
                  <a:lnTo>
                    <a:pt x="132" y="447"/>
                  </a:lnTo>
                  <a:lnTo>
                    <a:pt x="177" y="537"/>
                  </a:lnTo>
                  <a:lnTo>
                    <a:pt x="312" y="444"/>
                  </a:lnTo>
                  <a:lnTo>
                    <a:pt x="555" y="240"/>
                  </a:lnTo>
                  <a:lnTo>
                    <a:pt x="525" y="135"/>
                  </a:lnTo>
                  <a:lnTo>
                    <a:pt x="504" y="75"/>
                  </a:lnTo>
                  <a:lnTo>
                    <a:pt x="459" y="36"/>
                  </a:lnTo>
                  <a:lnTo>
                    <a:pt x="42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01" name="Freeform 292"/>
            <p:cNvSpPr>
              <a:spLocks/>
            </p:cNvSpPr>
            <p:nvPr/>
          </p:nvSpPr>
          <p:spPr bwMode="auto">
            <a:xfrm>
              <a:off x="3675" y="1107"/>
              <a:ext cx="204" cy="366"/>
            </a:xfrm>
            <a:custGeom>
              <a:avLst/>
              <a:gdLst>
                <a:gd name="T0" fmla="*/ 165 w 204"/>
                <a:gd name="T1" fmla="*/ 0 h 366"/>
                <a:gd name="T2" fmla="*/ 0 w 204"/>
                <a:gd name="T3" fmla="*/ 123 h 366"/>
                <a:gd name="T4" fmla="*/ 36 w 204"/>
                <a:gd name="T5" fmla="*/ 174 h 366"/>
                <a:gd name="T6" fmla="*/ 75 w 204"/>
                <a:gd name="T7" fmla="*/ 216 h 366"/>
                <a:gd name="T8" fmla="*/ 120 w 204"/>
                <a:gd name="T9" fmla="*/ 366 h 366"/>
                <a:gd name="T10" fmla="*/ 204 w 204"/>
                <a:gd name="T11" fmla="*/ 318 h 366"/>
                <a:gd name="T12" fmla="*/ 165 w 204"/>
                <a:gd name="T13" fmla="*/ 0 h 366"/>
                <a:gd name="T14" fmla="*/ 0 60000 65536"/>
                <a:gd name="T15" fmla="*/ 0 60000 65536"/>
                <a:gd name="T16" fmla="*/ 0 60000 65536"/>
                <a:gd name="T17" fmla="*/ 0 60000 65536"/>
                <a:gd name="T18" fmla="*/ 0 60000 65536"/>
                <a:gd name="T19" fmla="*/ 0 60000 65536"/>
                <a:gd name="T20" fmla="*/ 0 60000 65536"/>
                <a:gd name="T21" fmla="*/ 0 w 204"/>
                <a:gd name="T22" fmla="*/ 0 h 366"/>
                <a:gd name="T23" fmla="*/ 204 w 204"/>
                <a:gd name="T24" fmla="*/ 366 h 3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4" h="366">
                  <a:moveTo>
                    <a:pt x="165" y="0"/>
                  </a:moveTo>
                  <a:lnTo>
                    <a:pt x="0" y="123"/>
                  </a:lnTo>
                  <a:lnTo>
                    <a:pt x="36" y="174"/>
                  </a:lnTo>
                  <a:lnTo>
                    <a:pt x="75" y="216"/>
                  </a:lnTo>
                  <a:lnTo>
                    <a:pt x="120" y="366"/>
                  </a:lnTo>
                  <a:lnTo>
                    <a:pt x="204" y="318"/>
                  </a:lnTo>
                  <a:lnTo>
                    <a:pt x="1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02" name="Freeform 293"/>
            <p:cNvSpPr>
              <a:spLocks/>
            </p:cNvSpPr>
            <p:nvPr/>
          </p:nvSpPr>
          <p:spPr bwMode="auto">
            <a:xfrm>
              <a:off x="1866" y="2505"/>
              <a:ext cx="642" cy="537"/>
            </a:xfrm>
            <a:custGeom>
              <a:avLst/>
              <a:gdLst>
                <a:gd name="T0" fmla="*/ 450 w 642"/>
                <a:gd name="T1" fmla="*/ 0 h 537"/>
                <a:gd name="T2" fmla="*/ 222 w 642"/>
                <a:gd name="T3" fmla="*/ 111 h 537"/>
                <a:gd name="T4" fmla="*/ 0 w 642"/>
                <a:gd name="T5" fmla="*/ 207 h 537"/>
                <a:gd name="T6" fmla="*/ 84 w 642"/>
                <a:gd name="T7" fmla="*/ 537 h 537"/>
                <a:gd name="T8" fmla="*/ 213 w 642"/>
                <a:gd name="T9" fmla="*/ 489 h 537"/>
                <a:gd name="T10" fmla="*/ 366 w 642"/>
                <a:gd name="T11" fmla="*/ 423 h 537"/>
                <a:gd name="T12" fmla="*/ 510 w 642"/>
                <a:gd name="T13" fmla="*/ 351 h 537"/>
                <a:gd name="T14" fmla="*/ 642 w 642"/>
                <a:gd name="T15" fmla="*/ 285 h 537"/>
                <a:gd name="T16" fmla="*/ 579 w 642"/>
                <a:gd name="T17" fmla="*/ 141 h 537"/>
                <a:gd name="T18" fmla="*/ 522 w 642"/>
                <a:gd name="T19" fmla="*/ 69 h 537"/>
                <a:gd name="T20" fmla="*/ 450 w 642"/>
                <a:gd name="T21" fmla="*/ 0 h 5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2"/>
                <a:gd name="T34" fmla="*/ 0 h 537"/>
                <a:gd name="T35" fmla="*/ 642 w 642"/>
                <a:gd name="T36" fmla="*/ 537 h 5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2" h="537">
                  <a:moveTo>
                    <a:pt x="450" y="0"/>
                  </a:moveTo>
                  <a:lnTo>
                    <a:pt x="222" y="111"/>
                  </a:lnTo>
                  <a:lnTo>
                    <a:pt x="0" y="207"/>
                  </a:lnTo>
                  <a:lnTo>
                    <a:pt x="84" y="537"/>
                  </a:lnTo>
                  <a:lnTo>
                    <a:pt x="213" y="489"/>
                  </a:lnTo>
                  <a:lnTo>
                    <a:pt x="366" y="423"/>
                  </a:lnTo>
                  <a:lnTo>
                    <a:pt x="510" y="351"/>
                  </a:lnTo>
                  <a:lnTo>
                    <a:pt x="642" y="285"/>
                  </a:lnTo>
                  <a:lnTo>
                    <a:pt x="579" y="141"/>
                  </a:lnTo>
                  <a:lnTo>
                    <a:pt x="522" y="69"/>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03" name="Freeform 294"/>
            <p:cNvSpPr>
              <a:spLocks/>
            </p:cNvSpPr>
            <p:nvPr/>
          </p:nvSpPr>
          <p:spPr bwMode="auto">
            <a:xfrm>
              <a:off x="2331" y="2238"/>
              <a:ext cx="606" cy="549"/>
            </a:xfrm>
            <a:custGeom>
              <a:avLst/>
              <a:gdLst>
                <a:gd name="T0" fmla="*/ 438 w 606"/>
                <a:gd name="T1" fmla="*/ 0 h 549"/>
                <a:gd name="T2" fmla="*/ 246 w 606"/>
                <a:gd name="T3" fmla="*/ 126 h 549"/>
                <a:gd name="T4" fmla="*/ 0 w 606"/>
                <a:gd name="T5" fmla="*/ 261 h 549"/>
                <a:gd name="T6" fmla="*/ 57 w 606"/>
                <a:gd name="T7" fmla="*/ 324 h 549"/>
                <a:gd name="T8" fmla="*/ 105 w 606"/>
                <a:gd name="T9" fmla="*/ 384 h 549"/>
                <a:gd name="T10" fmla="*/ 153 w 606"/>
                <a:gd name="T11" fmla="*/ 465 h 549"/>
                <a:gd name="T12" fmla="*/ 183 w 606"/>
                <a:gd name="T13" fmla="*/ 549 h 549"/>
                <a:gd name="T14" fmla="*/ 411 w 606"/>
                <a:gd name="T15" fmla="*/ 420 h 549"/>
                <a:gd name="T16" fmla="*/ 606 w 606"/>
                <a:gd name="T17" fmla="*/ 294 h 549"/>
                <a:gd name="T18" fmla="*/ 540 w 606"/>
                <a:gd name="T19" fmla="*/ 147 h 549"/>
                <a:gd name="T20" fmla="*/ 489 w 606"/>
                <a:gd name="T21" fmla="*/ 63 h 549"/>
                <a:gd name="T22" fmla="*/ 438 w 606"/>
                <a:gd name="T23" fmla="*/ 0 h 5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6"/>
                <a:gd name="T37" fmla="*/ 0 h 549"/>
                <a:gd name="T38" fmla="*/ 606 w 606"/>
                <a:gd name="T39" fmla="*/ 549 h 5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6" h="549">
                  <a:moveTo>
                    <a:pt x="438" y="0"/>
                  </a:moveTo>
                  <a:lnTo>
                    <a:pt x="246" y="126"/>
                  </a:lnTo>
                  <a:lnTo>
                    <a:pt x="0" y="261"/>
                  </a:lnTo>
                  <a:lnTo>
                    <a:pt x="57" y="324"/>
                  </a:lnTo>
                  <a:lnTo>
                    <a:pt x="105" y="384"/>
                  </a:lnTo>
                  <a:lnTo>
                    <a:pt x="153" y="465"/>
                  </a:lnTo>
                  <a:lnTo>
                    <a:pt x="183" y="549"/>
                  </a:lnTo>
                  <a:lnTo>
                    <a:pt x="411" y="420"/>
                  </a:lnTo>
                  <a:lnTo>
                    <a:pt x="606" y="294"/>
                  </a:lnTo>
                  <a:lnTo>
                    <a:pt x="540" y="147"/>
                  </a:lnTo>
                  <a:lnTo>
                    <a:pt x="489" y="63"/>
                  </a:lnTo>
                  <a:lnTo>
                    <a:pt x="438"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5404" name="Freeform 295"/>
            <p:cNvSpPr>
              <a:spLocks/>
            </p:cNvSpPr>
            <p:nvPr/>
          </p:nvSpPr>
          <p:spPr bwMode="auto">
            <a:xfrm>
              <a:off x="2775" y="1926"/>
              <a:ext cx="645" cy="597"/>
            </a:xfrm>
            <a:custGeom>
              <a:avLst/>
              <a:gdLst>
                <a:gd name="T0" fmla="*/ 453 w 645"/>
                <a:gd name="T1" fmla="*/ 0 h 597"/>
                <a:gd name="T2" fmla="*/ 231 w 645"/>
                <a:gd name="T3" fmla="*/ 153 h 597"/>
                <a:gd name="T4" fmla="*/ 0 w 645"/>
                <a:gd name="T5" fmla="*/ 306 h 597"/>
                <a:gd name="T6" fmla="*/ 48 w 645"/>
                <a:gd name="T7" fmla="*/ 369 h 597"/>
                <a:gd name="T8" fmla="*/ 93 w 645"/>
                <a:gd name="T9" fmla="*/ 432 h 597"/>
                <a:gd name="T10" fmla="*/ 132 w 645"/>
                <a:gd name="T11" fmla="*/ 507 h 597"/>
                <a:gd name="T12" fmla="*/ 171 w 645"/>
                <a:gd name="T13" fmla="*/ 597 h 597"/>
                <a:gd name="T14" fmla="*/ 411 w 645"/>
                <a:gd name="T15" fmla="*/ 411 h 597"/>
                <a:gd name="T16" fmla="*/ 645 w 645"/>
                <a:gd name="T17" fmla="*/ 216 h 597"/>
                <a:gd name="T18" fmla="*/ 618 w 645"/>
                <a:gd name="T19" fmla="*/ 153 h 597"/>
                <a:gd name="T20" fmla="*/ 567 w 645"/>
                <a:gd name="T21" fmla="*/ 90 h 597"/>
                <a:gd name="T22" fmla="*/ 516 w 645"/>
                <a:gd name="T23" fmla="*/ 39 h 597"/>
                <a:gd name="T24" fmla="*/ 453 w 645"/>
                <a:gd name="T25" fmla="*/ 0 h 5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5"/>
                <a:gd name="T40" fmla="*/ 0 h 597"/>
                <a:gd name="T41" fmla="*/ 645 w 645"/>
                <a:gd name="T42" fmla="*/ 597 h 5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5" h="597">
                  <a:moveTo>
                    <a:pt x="453" y="0"/>
                  </a:moveTo>
                  <a:lnTo>
                    <a:pt x="231" y="153"/>
                  </a:lnTo>
                  <a:lnTo>
                    <a:pt x="0" y="306"/>
                  </a:lnTo>
                  <a:lnTo>
                    <a:pt x="48" y="369"/>
                  </a:lnTo>
                  <a:lnTo>
                    <a:pt x="93" y="432"/>
                  </a:lnTo>
                  <a:lnTo>
                    <a:pt x="132" y="507"/>
                  </a:lnTo>
                  <a:lnTo>
                    <a:pt x="171" y="597"/>
                  </a:lnTo>
                  <a:lnTo>
                    <a:pt x="411" y="411"/>
                  </a:lnTo>
                  <a:lnTo>
                    <a:pt x="645" y="216"/>
                  </a:lnTo>
                  <a:lnTo>
                    <a:pt x="618" y="153"/>
                  </a:lnTo>
                  <a:lnTo>
                    <a:pt x="567" y="90"/>
                  </a:lnTo>
                  <a:lnTo>
                    <a:pt x="516" y="39"/>
                  </a:lnTo>
                  <a:lnTo>
                    <a:pt x="45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05" name="Freeform 296"/>
            <p:cNvSpPr>
              <a:spLocks/>
            </p:cNvSpPr>
            <p:nvPr/>
          </p:nvSpPr>
          <p:spPr bwMode="auto">
            <a:xfrm>
              <a:off x="3240" y="1590"/>
              <a:ext cx="567" cy="546"/>
            </a:xfrm>
            <a:custGeom>
              <a:avLst/>
              <a:gdLst>
                <a:gd name="T0" fmla="*/ 441 w 567"/>
                <a:gd name="T1" fmla="*/ 0 h 546"/>
                <a:gd name="T2" fmla="*/ 237 w 567"/>
                <a:gd name="T3" fmla="*/ 150 h 546"/>
                <a:gd name="T4" fmla="*/ 0 w 567"/>
                <a:gd name="T5" fmla="*/ 330 h 546"/>
                <a:gd name="T6" fmla="*/ 54 w 567"/>
                <a:gd name="T7" fmla="*/ 366 h 546"/>
                <a:gd name="T8" fmla="*/ 117 w 567"/>
                <a:gd name="T9" fmla="*/ 429 h 546"/>
                <a:gd name="T10" fmla="*/ 168 w 567"/>
                <a:gd name="T11" fmla="*/ 492 h 546"/>
                <a:gd name="T12" fmla="*/ 192 w 567"/>
                <a:gd name="T13" fmla="*/ 546 h 546"/>
                <a:gd name="T14" fmla="*/ 369 w 567"/>
                <a:gd name="T15" fmla="*/ 396 h 546"/>
                <a:gd name="T16" fmla="*/ 567 w 567"/>
                <a:gd name="T17" fmla="*/ 204 h 546"/>
                <a:gd name="T18" fmla="*/ 531 w 567"/>
                <a:gd name="T19" fmla="*/ 111 h 546"/>
                <a:gd name="T20" fmla="*/ 483 w 567"/>
                <a:gd name="T21" fmla="*/ 39 h 546"/>
                <a:gd name="T22" fmla="*/ 441 w 567"/>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67"/>
                <a:gd name="T37" fmla="*/ 0 h 546"/>
                <a:gd name="T38" fmla="*/ 567 w 567"/>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67" h="546">
                  <a:moveTo>
                    <a:pt x="441" y="0"/>
                  </a:moveTo>
                  <a:lnTo>
                    <a:pt x="237" y="150"/>
                  </a:lnTo>
                  <a:lnTo>
                    <a:pt x="0" y="330"/>
                  </a:lnTo>
                  <a:lnTo>
                    <a:pt x="54" y="366"/>
                  </a:lnTo>
                  <a:lnTo>
                    <a:pt x="117" y="429"/>
                  </a:lnTo>
                  <a:lnTo>
                    <a:pt x="168" y="492"/>
                  </a:lnTo>
                  <a:lnTo>
                    <a:pt x="192" y="546"/>
                  </a:lnTo>
                  <a:lnTo>
                    <a:pt x="369" y="396"/>
                  </a:lnTo>
                  <a:lnTo>
                    <a:pt x="567" y="204"/>
                  </a:lnTo>
                  <a:lnTo>
                    <a:pt x="531" y="111"/>
                  </a:lnTo>
                  <a:lnTo>
                    <a:pt x="483" y="39"/>
                  </a:lnTo>
                  <a:lnTo>
                    <a:pt x="44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06" name="Freeform 297"/>
            <p:cNvSpPr>
              <a:spLocks/>
            </p:cNvSpPr>
            <p:nvPr/>
          </p:nvSpPr>
          <p:spPr bwMode="auto">
            <a:xfrm>
              <a:off x="3684" y="1434"/>
              <a:ext cx="234" cy="345"/>
            </a:xfrm>
            <a:custGeom>
              <a:avLst/>
              <a:gdLst>
                <a:gd name="T0" fmla="*/ 198 w 234"/>
                <a:gd name="T1" fmla="*/ 0 h 345"/>
                <a:gd name="T2" fmla="*/ 111 w 234"/>
                <a:gd name="T3" fmla="*/ 54 h 345"/>
                <a:gd name="T4" fmla="*/ 0 w 234"/>
                <a:gd name="T5" fmla="*/ 153 h 345"/>
                <a:gd name="T6" fmla="*/ 45 w 234"/>
                <a:gd name="T7" fmla="*/ 192 h 345"/>
                <a:gd name="T8" fmla="*/ 75 w 234"/>
                <a:gd name="T9" fmla="*/ 234 h 345"/>
                <a:gd name="T10" fmla="*/ 129 w 234"/>
                <a:gd name="T11" fmla="*/ 345 h 345"/>
                <a:gd name="T12" fmla="*/ 234 w 234"/>
                <a:gd name="T13" fmla="*/ 252 h 345"/>
                <a:gd name="T14" fmla="*/ 198 w 234"/>
                <a:gd name="T15" fmla="*/ 0 h 345"/>
                <a:gd name="T16" fmla="*/ 0 60000 65536"/>
                <a:gd name="T17" fmla="*/ 0 60000 65536"/>
                <a:gd name="T18" fmla="*/ 0 60000 65536"/>
                <a:gd name="T19" fmla="*/ 0 60000 65536"/>
                <a:gd name="T20" fmla="*/ 0 60000 65536"/>
                <a:gd name="T21" fmla="*/ 0 60000 65536"/>
                <a:gd name="T22" fmla="*/ 0 60000 65536"/>
                <a:gd name="T23" fmla="*/ 0 60000 65536"/>
                <a:gd name="T24" fmla="*/ 0 w 234"/>
                <a:gd name="T25" fmla="*/ 0 h 345"/>
                <a:gd name="T26" fmla="*/ 234 w 234"/>
                <a:gd name="T27" fmla="*/ 345 h 3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4" h="345">
                  <a:moveTo>
                    <a:pt x="198" y="0"/>
                  </a:moveTo>
                  <a:lnTo>
                    <a:pt x="111" y="54"/>
                  </a:lnTo>
                  <a:lnTo>
                    <a:pt x="0" y="153"/>
                  </a:lnTo>
                  <a:lnTo>
                    <a:pt x="45" y="192"/>
                  </a:lnTo>
                  <a:lnTo>
                    <a:pt x="75" y="234"/>
                  </a:lnTo>
                  <a:lnTo>
                    <a:pt x="129" y="345"/>
                  </a:lnTo>
                  <a:lnTo>
                    <a:pt x="234" y="252"/>
                  </a:lnTo>
                  <a:lnTo>
                    <a:pt x="19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07" name="Freeform 298"/>
            <p:cNvSpPr>
              <a:spLocks/>
            </p:cNvSpPr>
            <p:nvPr/>
          </p:nvSpPr>
          <p:spPr bwMode="auto">
            <a:xfrm>
              <a:off x="1956" y="2859"/>
              <a:ext cx="624" cy="555"/>
            </a:xfrm>
            <a:custGeom>
              <a:avLst/>
              <a:gdLst>
                <a:gd name="T0" fmla="*/ 447 w 624"/>
                <a:gd name="T1" fmla="*/ 0 h 555"/>
                <a:gd name="T2" fmla="*/ 222 w 624"/>
                <a:gd name="T3" fmla="*/ 117 h 555"/>
                <a:gd name="T4" fmla="*/ 0 w 624"/>
                <a:gd name="T5" fmla="*/ 198 h 555"/>
                <a:gd name="T6" fmla="*/ 60 w 624"/>
                <a:gd name="T7" fmla="*/ 555 h 555"/>
                <a:gd name="T8" fmla="*/ 213 w 624"/>
                <a:gd name="T9" fmla="*/ 489 h 555"/>
                <a:gd name="T10" fmla="*/ 369 w 624"/>
                <a:gd name="T11" fmla="*/ 408 h 555"/>
                <a:gd name="T12" fmla="*/ 489 w 624"/>
                <a:gd name="T13" fmla="*/ 342 h 555"/>
                <a:gd name="T14" fmla="*/ 624 w 624"/>
                <a:gd name="T15" fmla="*/ 267 h 555"/>
                <a:gd name="T16" fmla="*/ 591 w 624"/>
                <a:gd name="T17" fmla="*/ 162 h 555"/>
                <a:gd name="T18" fmla="*/ 546 w 624"/>
                <a:gd name="T19" fmla="*/ 84 h 555"/>
                <a:gd name="T20" fmla="*/ 495 w 624"/>
                <a:gd name="T21" fmla="*/ 39 h 555"/>
                <a:gd name="T22" fmla="*/ 447 w 624"/>
                <a:gd name="T23" fmla="*/ 0 h 5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4"/>
                <a:gd name="T37" fmla="*/ 0 h 555"/>
                <a:gd name="T38" fmla="*/ 624 w 624"/>
                <a:gd name="T39" fmla="*/ 555 h 5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4" h="555">
                  <a:moveTo>
                    <a:pt x="447" y="0"/>
                  </a:moveTo>
                  <a:lnTo>
                    <a:pt x="222" y="117"/>
                  </a:lnTo>
                  <a:lnTo>
                    <a:pt x="0" y="198"/>
                  </a:lnTo>
                  <a:lnTo>
                    <a:pt x="60" y="555"/>
                  </a:lnTo>
                  <a:lnTo>
                    <a:pt x="213" y="489"/>
                  </a:lnTo>
                  <a:lnTo>
                    <a:pt x="369" y="408"/>
                  </a:lnTo>
                  <a:lnTo>
                    <a:pt x="489" y="342"/>
                  </a:lnTo>
                  <a:lnTo>
                    <a:pt x="624" y="267"/>
                  </a:lnTo>
                  <a:lnTo>
                    <a:pt x="591" y="162"/>
                  </a:lnTo>
                  <a:lnTo>
                    <a:pt x="546" y="84"/>
                  </a:lnTo>
                  <a:lnTo>
                    <a:pt x="495" y="39"/>
                  </a:lnTo>
                  <a:lnTo>
                    <a:pt x="447"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5408" name="Freeform 299"/>
            <p:cNvSpPr>
              <a:spLocks/>
            </p:cNvSpPr>
            <p:nvPr/>
          </p:nvSpPr>
          <p:spPr bwMode="auto">
            <a:xfrm>
              <a:off x="2418" y="2595"/>
              <a:ext cx="576" cy="525"/>
            </a:xfrm>
            <a:custGeom>
              <a:avLst/>
              <a:gdLst>
                <a:gd name="T0" fmla="*/ 450 w 576"/>
                <a:gd name="T1" fmla="*/ 0 h 525"/>
                <a:gd name="T2" fmla="*/ 255 w 576"/>
                <a:gd name="T3" fmla="*/ 120 h 525"/>
                <a:gd name="T4" fmla="*/ 0 w 576"/>
                <a:gd name="T5" fmla="*/ 264 h 525"/>
                <a:gd name="T6" fmla="*/ 66 w 576"/>
                <a:gd name="T7" fmla="*/ 318 h 525"/>
                <a:gd name="T8" fmla="*/ 114 w 576"/>
                <a:gd name="T9" fmla="*/ 378 h 525"/>
                <a:gd name="T10" fmla="*/ 150 w 576"/>
                <a:gd name="T11" fmla="*/ 456 h 525"/>
                <a:gd name="T12" fmla="*/ 171 w 576"/>
                <a:gd name="T13" fmla="*/ 525 h 525"/>
                <a:gd name="T14" fmla="*/ 387 w 576"/>
                <a:gd name="T15" fmla="*/ 369 h 525"/>
                <a:gd name="T16" fmla="*/ 576 w 576"/>
                <a:gd name="T17" fmla="*/ 228 h 525"/>
                <a:gd name="T18" fmla="*/ 549 w 576"/>
                <a:gd name="T19" fmla="*/ 141 h 525"/>
                <a:gd name="T20" fmla="*/ 498 w 576"/>
                <a:gd name="T21" fmla="*/ 57 h 525"/>
                <a:gd name="T22" fmla="*/ 450 w 576"/>
                <a:gd name="T23" fmla="*/ 0 h 5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6"/>
                <a:gd name="T37" fmla="*/ 0 h 525"/>
                <a:gd name="T38" fmla="*/ 576 w 576"/>
                <a:gd name="T39" fmla="*/ 525 h 5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6" h="525">
                  <a:moveTo>
                    <a:pt x="450" y="0"/>
                  </a:moveTo>
                  <a:lnTo>
                    <a:pt x="255" y="120"/>
                  </a:lnTo>
                  <a:lnTo>
                    <a:pt x="0" y="264"/>
                  </a:lnTo>
                  <a:lnTo>
                    <a:pt x="66" y="318"/>
                  </a:lnTo>
                  <a:lnTo>
                    <a:pt x="114" y="378"/>
                  </a:lnTo>
                  <a:lnTo>
                    <a:pt x="150" y="456"/>
                  </a:lnTo>
                  <a:lnTo>
                    <a:pt x="171" y="525"/>
                  </a:lnTo>
                  <a:lnTo>
                    <a:pt x="387" y="369"/>
                  </a:lnTo>
                  <a:lnTo>
                    <a:pt x="576" y="228"/>
                  </a:lnTo>
                  <a:lnTo>
                    <a:pt x="549" y="141"/>
                  </a:lnTo>
                  <a:lnTo>
                    <a:pt x="498" y="57"/>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09" name="Freeform 300"/>
            <p:cNvSpPr>
              <a:spLocks/>
            </p:cNvSpPr>
            <p:nvPr/>
          </p:nvSpPr>
          <p:spPr bwMode="auto">
            <a:xfrm>
              <a:off x="2880" y="2301"/>
              <a:ext cx="522" cy="519"/>
            </a:xfrm>
            <a:custGeom>
              <a:avLst/>
              <a:gdLst>
                <a:gd name="T0" fmla="*/ 375 w 522"/>
                <a:gd name="T1" fmla="*/ 0 h 519"/>
                <a:gd name="T2" fmla="*/ 219 w 522"/>
                <a:gd name="T3" fmla="*/ 120 h 519"/>
                <a:gd name="T4" fmla="*/ 0 w 522"/>
                <a:gd name="T5" fmla="*/ 285 h 519"/>
                <a:gd name="T6" fmla="*/ 33 w 522"/>
                <a:gd name="T7" fmla="*/ 330 h 519"/>
                <a:gd name="T8" fmla="*/ 84 w 522"/>
                <a:gd name="T9" fmla="*/ 393 h 519"/>
                <a:gd name="T10" fmla="*/ 108 w 522"/>
                <a:gd name="T11" fmla="*/ 453 h 519"/>
                <a:gd name="T12" fmla="*/ 126 w 522"/>
                <a:gd name="T13" fmla="*/ 519 h 519"/>
                <a:gd name="T14" fmla="*/ 330 w 522"/>
                <a:gd name="T15" fmla="*/ 354 h 519"/>
                <a:gd name="T16" fmla="*/ 522 w 522"/>
                <a:gd name="T17" fmla="*/ 183 h 519"/>
                <a:gd name="T18" fmla="*/ 489 w 522"/>
                <a:gd name="T19" fmla="*/ 120 h 519"/>
                <a:gd name="T20" fmla="*/ 468 w 522"/>
                <a:gd name="T21" fmla="*/ 84 h 519"/>
                <a:gd name="T22" fmla="*/ 444 w 522"/>
                <a:gd name="T23" fmla="*/ 54 h 519"/>
                <a:gd name="T24" fmla="*/ 375 w 522"/>
                <a:gd name="T25" fmla="*/ 0 h 5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2"/>
                <a:gd name="T40" fmla="*/ 0 h 519"/>
                <a:gd name="T41" fmla="*/ 522 w 522"/>
                <a:gd name="T42" fmla="*/ 519 h 5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2" h="519">
                  <a:moveTo>
                    <a:pt x="375" y="0"/>
                  </a:moveTo>
                  <a:lnTo>
                    <a:pt x="219" y="120"/>
                  </a:lnTo>
                  <a:lnTo>
                    <a:pt x="0" y="285"/>
                  </a:lnTo>
                  <a:lnTo>
                    <a:pt x="33" y="330"/>
                  </a:lnTo>
                  <a:lnTo>
                    <a:pt x="84" y="393"/>
                  </a:lnTo>
                  <a:lnTo>
                    <a:pt x="108" y="453"/>
                  </a:lnTo>
                  <a:lnTo>
                    <a:pt x="126" y="519"/>
                  </a:lnTo>
                  <a:lnTo>
                    <a:pt x="330" y="354"/>
                  </a:lnTo>
                  <a:lnTo>
                    <a:pt x="522" y="183"/>
                  </a:lnTo>
                  <a:lnTo>
                    <a:pt x="489" y="120"/>
                  </a:lnTo>
                  <a:lnTo>
                    <a:pt x="468" y="84"/>
                  </a:lnTo>
                  <a:lnTo>
                    <a:pt x="444" y="54"/>
                  </a:lnTo>
                  <a:lnTo>
                    <a:pt x="375"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5410" name="Freeform 301"/>
            <p:cNvSpPr>
              <a:spLocks/>
            </p:cNvSpPr>
            <p:nvPr/>
          </p:nvSpPr>
          <p:spPr bwMode="auto">
            <a:xfrm>
              <a:off x="3258" y="1959"/>
              <a:ext cx="519" cy="510"/>
            </a:xfrm>
            <a:custGeom>
              <a:avLst/>
              <a:gdLst>
                <a:gd name="T0" fmla="*/ 399 w 519"/>
                <a:gd name="T1" fmla="*/ 0 h 510"/>
                <a:gd name="T2" fmla="*/ 237 w 519"/>
                <a:gd name="T3" fmla="*/ 153 h 510"/>
                <a:gd name="T4" fmla="*/ 0 w 519"/>
                <a:gd name="T5" fmla="*/ 333 h 510"/>
                <a:gd name="T6" fmla="*/ 54 w 519"/>
                <a:gd name="T7" fmla="*/ 369 h 510"/>
                <a:gd name="T8" fmla="*/ 87 w 519"/>
                <a:gd name="T9" fmla="*/ 402 h 510"/>
                <a:gd name="T10" fmla="*/ 111 w 519"/>
                <a:gd name="T11" fmla="*/ 441 h 510"/>
                <a:gd name="T12" fmla="*/ 147 w 519"/>
                <a:gd name="T13" fmla="*/ 510 h 510"/>
                <a:gd name="T14" fmla="*/ 333 w 519"/>
                <a:gd name="T15" fmla="*/ 342 h 510"/>
                <a:gd name="T16" fmla="*/ 519 w 519"/>
                <a:gd name="T17" fmla="*/ 156 h 510"/>
                <a:gd name="T18" fmla="*/ 498 w 519"/>
                <a:gd name="T19" fmla="*/ 84 h 510"/>
                <a:gd name="T20" fmla="*/ 453 w 519"/>
                <a:gd name="T21" fmla="*/ 42 h 510"/>
                <a:gd name="T22" fmla="*/ 399 w 519"/>
                <a:gd name="T23" fmla="*/ 0 h 5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19"/>
                <a:gd name="T37" fmla="*/ 0 h 510"/>
                <a:gd name="T38" fmla="*/ 519 w 519"/>
                <a:gd name="T39" fmla="*/ 510 h 5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19" h="510">
                  <a:moveTo>
                    <a:pt x="399" y="0"/>
                  </a:moveTo>
                  <a:lnTo>
                    <a:pt x="237" y="153"/>
                  </a:lnTo>
                  <a:lnTo>
                    <a:pt x="0" y="333"/>
                  </a:lnTo>
                  <a:lnTo>
                    <a:pt x="54" y="369"/>
                  </a:lnTo>
                  <a:lnTo>
                    <a:pt x="87" y="402"/>
                  </a:lnTo>
                  <a:lnTo>
                    <a:pt x="111" y="441"/>
                  </a:lnTo>
                  <a:lnTo>
                    <a:pt x="147" y="510"/>
                  </a:lnTo>
                  <a:lnTo>
                    <a:pt x="333" y="342"/>
                  </a:lnTo>
                  <a:lnTo>
                    <a:pt x="519" y="156"/>
                  </a:lnTo>
                  <a:lnTo>
                    <a:pt x="498" y="84"/>
                  </a:lnTo>
                  <a:lnTo>
                    <a:pt x="453" y="42"/>
                  </a:lnTo>
                  <a:lnTo>
                    <a:pt x="39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11" name="Freeform 302"/>
            <p:cNvSpPr>
              <a:spLocks/>
            </p:cNvSpPr>
            <p:nvPr/>
          </p:nvSpPr>
          <p:spPr bwMode="auto">
            <a:xfrm>
              <a:off x="3663" y="1707"/>
              <a:ext cx="276" cy="399"/>
            </a:xfrm>
            <a:custGeom>
              <a:avLst/>
              <a:gdLst>
                <a:gd name="T0" fmla="*/ 246 w 276"/>
                <a:gd name="T1" fmla="*/ 0 h 399"/>
                <a:gd name="T2" fmla="*/ 117 w 276"/>
                <a:gd name="T3" fmla="*/ 132 h 399"/>
                <a:gd name="T4" fmla="*/ 60 w 276"/>
                <a:gd name="T5" fmla="*/ 183 h 399"/>
                <a:gd name="T6" fmla="*/ 0 w 276"/>
                <a:gd name="T7" fmla="*/ 243 h 399"/>
                <a:gd name="T8" fmla="*/ 54 w 276"/>
                <a:gd name="T9" fmla="*/ 285 h 399"/>
                <a:gd name="T10" fmla="*/ 87 w 276"/>
                <a:gd name="T11" fmla="*/ 315 h 399"/>
                <a:gd name="T12" fmla="*/ 123 w 276"/>
                <a:gd name="T13" fmla="*/ 399 h 399"/>
                <a:gd name="T14" fmla="*/ 276 w 276"/>
                <a:gd name="T15" fmla="*/ 255 h 399"/>
                <a:gd name="T16" fmla="*/ 246 w 276"/>
                <a:gd name="T17" fmla="*/ 0 h 3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6"/>
                <a:gd name="T28" fmla="*/ 0 h 399"/>
                <a:gd name="T29" fmla="*/ 276 w 276"/>
                <a:gd name="T30" fmla="*/ 399 h 3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6" h="399">
                  <a:moveTo>
                    <a:pt x="246" y="0"/>
                  </a:moveTo>
                  <a:lnTo>
                    <a:pt x="117" y="132"/>
                  </a:lnTo>
                  <a:lnTo>
                    <a:pt x="60" y="183"/>
                  </a:lnTo>
                  <a:lnTo>
                    <a:pt x="0" y="243"/>
                  </a:lnTo>
                  <a:lnTo>
                    <a:pt x="54" y="285"/>
                  </a:lnTo>
                  <a:lnTo>
                    <a:pt x="87" y="315"/>
                  </a:lnTo>
                  <a:lnTo>
                    <a:pt x="123" y="399"/>
                  </a:lnTo>
                  <a:lnTo>
                    <a:pt x="276" y="255"/>
                  </a:lnTo>
                  <a:lnTo>
                    <a:pt x="24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12" name="Freeform 303"/>
            <p:cNvSpPr>
              <a:spLocks/>
            </p:cNvSpPr>
            <p:nvPr/>
          </p:nvSpPr>
          <p:spPr bwMode="auto">
            <a:xfrm>
              <a:off x="2016" y="3261"/>
              <a:ext cx="483" cy="492"/>
            </a:xfrm>
            <a:custGeom>
              <a:avLst/>
              <a:gdLst>
                <a:gd name="T0" fmla="*/ 366 w 483"/>
                <a:gd name="T1" fmla="*/ 0 h 492"/>
                <a:gd name="T2" fmla="*/ 204 w 483"/>
                <a:gd name="T3" fmla="*/ 78 h 492"/>
                <a:gd name="T4" fmla="*/ 0 w 483"/>
                <a:gd name="T5" fmla="*/ 171 h 492"/>
                <a:gd name="T6" fmla="*/ 18 w 483"/>
                <a:gd name="T7" fmla="*/ 492 h 492"/>
                <a:gd name="T8" fmla="*/ 168 w 483"/>
                <a:gd name="T9" fmla="*/ 396 h 492"/>
                <a:gd name="T10" fmla="*/ 297 w 483"/>
                <a:gd name="T11" fmla="*/ 303 h 492"/>
                <a:gd name="T12" fmla="*/ 393 w 483"/>
                <a:gd name="T13" fmla="*/ 231 h 492"/>
                <a:gd name="T14" fmla="*/ 483 w 483"/>
                <a:gd name="T15" fmla="*/ 168 h 492"/>
                <a:gd name="T16" fmla="*/ 450 w 483"/>
                <a:gd name="T17" fmla="*/ 108 h 492"/>
                <a:gd name="T18" fmla="*/ 432 w 483"/>
                <a:gd name="T19" fmla="*/ 84 h 492"/>
                <a:gd name="T20" fmla="*/ 405 w 483"/>
                <a:gd name="T21" fmla="*/ 45 h 492"/>
                <a:gd name="T22" fmla="*/ 366 w 483"/>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3"/>
                <a:gd name="T37" fmla="*/ 0 h 492"/>
                <a:gd name="T38" fmla="*/ 483 w 483"/>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3" h="492">
                  <a:moveTo>
                    <a:pt x="366" y="0"/>
                  </a:moveTo>
                  <a:lnTo>
                    <a:pt x="204" y="78"/>
                  </a:lnTo>
                  <a:lnTo>
                    <a:pt x="0" y="171"/>
                  </a:lnTo>
                  <a:lnTo>
                    <a:pt x="18" y="492"/>
                  </a:lnTo>
                  <a:lnTo>
                    <a:pt x="168" y="396"/>
                  </a:lnTo>
                  <a:lnTo>
                    <a:pt x="297" y="303"/>
                  </a:lnTo>
                  <a:lnTo>
                    <a:pt x="393" y="231"/>
                  </a:lnTo>
                  <a:lnTo>
                    <a:pt x="483" y="168"/>
                  </a:lnTo>
                  <a:lnTo>
                    <a:pt x="450" y="108"/>
                  </a:lnTo>
                  <a:lnTo>
                    <a:pt x="432" y="84"/>
                  </a:lnTo>
                  <a:lnTo>
                    <a:pt x="405" y="45"/>
                  </a:lnTo>
                  <a:lnTo>
                    <a:pt x="36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13" name="Freeform 304"/>
            <p:cNvSpPr>
              <a:spLocks/>
            </p:cNvSpPr>
            <p:nvPr/>
          </p:nvSpPr>
          <p:spPr bwMode="auto">
            <a:xfrm>
              <a:off x="2388" y="2985"/>
              <a:ext cx="504" cy="441"/>
            </a:xfrm>
            <a:custGeom>
              <a:avLst/>
              <a:gdLst>
                <a:gd name="T0" fmla="*/ 411 w 504"/>
                <a:gd name="T1" fmla="*/ 0 h 441"/>
                <a:gd name="T2" fmla="*/ 255 w 504"/>
                <a:gd name="T3" fmla="*/ 114 h 441"/>
                <a:gd name="T4" fmla="*/ 0 w 504"/>
                <a:gd name="T5" fmla="*/ 270 h 441"/>
                <a:gd name="T6" fmla="*/ 42 w 504"/>
                <a:gd name="T7" fmla="*/ 312 h 441"/>
                <a:gd name="T8" fmla="*/ 66 w 504"/>
                <a:gd name="T9" fmla="*/ 348 h 441"/>
                <a:gd name="T10" fmla="*/ 87 w 504"/>
                <a:gd name="T11" fmla="*/ 375 h 441"/>
                <a:gd name="T12" fmla="*/ 111 w 504"/>
                <a:gd name="T13" fmla="*/ 441 h 441"/>
                <a:gd name="T14" fmla="*/ 318 w 504"/>
                <a:gd name="T15" fmla="*/ 306 h 441"/>
                <a:gd name="T16" fmla="*/ 504 w 504"/>
                <a:gd name="T17" fmla="*/ 147 h 441"/>
                <a:gd name="T18" fmla="*/ 471 w 504"/>
                <a:gd name="T19" fmla="*/ 87 h 441"/>
                <a:gd name="T20" fmla="*/ 450 w 504"/>
                <a:gd name="T21" fmla="*/ 51 h 441"/>
                <a:gd name="T22" fmla="*/ 411 w 504"/>
                <a:gd name="T23" fmla="*/ 0 h 4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4"/>
                <a:gd name="T37" fmla="*/ 0 h 441"/>
                <a:gd name="T38" fmla="*/ 504 w 504"/>
                <a:gd name="T39" fmla="*/ 441 h 4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4" h="441">
                  <a:moveTo>
                    <a:pt x="411" y="0"/>
                  </a:moveTo>
                  <a:lnTo>
                    <a:pt x="255" y="114"/>
                  </a:lnTo>
                  <a:lnTo>
                    <a:pt x="0" y="270"/>
                  </a:lnTo>
                  <a:lnTo>
                    <a:pt x="42" y="312"/>
                  </a:lnTo>
                  <a:lnTo>
                    <a:pt x="66" y="348"/>
                  </a:lnTo>
                  <a:lnTo>
                    <a:pt x="87" y="375"/>
                  </a:lnTo>
                  <a:lnTo>
                    <a:pt x="111" y="441"/>
                  </a:lnTo>
                  <a:lnTo>
                    <a:pt x="318" y="306"/>
                  </a:lnTo>
                  <a:lnTo>
                    <a:pt x="504" y="147"/>
                  </a:lnTo>
                  <a:lnTo>
                    <a:pt x="471" y="87"/>
                  </a:lnTo>
                  <a:lnTo>
                    <a:pt x="450" y="51"/>
                  </a:lnTo>
                  <a:lnTo>
                    <a:pt x="41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14" name="Freeform 305"/>
            <p:cNvSpPr>
              <a:spLocks/>
            </p:cNvSpPr>
            <p:nvPr/>
          </p:nvSpPr>
          <p:spPr bwMode="auto">
            <a:xfrm>
              <a:off x="2805" y="2694"/>
              <a:ext cx="492" cy="441"/>
            </a:xfrm>
            <a:custGeom>
              <a:avLst/>
              <a:gdLst>
                <a:gd name="T0" fmla="*/ 375 w 492"/>
                <a:gd name="T1" fmla="*/ 0 h 441"/>
                <a:gd name="T2" fmla="*/ 219 w 492"/>
                <a:gd name="T3" fmla="*/ 120 h 441"/>
                <a:gd name="T4" fmla="*/ 0 w 492"/>
                <a:gd name="T5" fmla="*/ 285 h 441"/>
                <a:gd name="T6" fmla="*/ 33 w 492"/>
                <a:gd name="T7" fmla="*/ 330 h 441"/>
                <a:gd name="T8" fmla="*/ 63 w 492"/>
                <a:gd name="T9" fmla="*/ 366 h 441"/>
                <a:gd name="T10" fmla="*/ 78 w 492"/>
                <a:gd name="T11" fmla="*/ 390 h 441"/>
                <a:gd name="T12" fmla="*/ 99 w 492"/>
                <a:gd name="T13" fmla="*/ 441 h 441"/>
                <a:gd name="T14" fmla="*/ 288 w 492"/>
                <a:gd name="T15" fmla="*/ 300 h 441"/>
                <a:gd name="T16" fmla="*/ 492 w 492"/>
                <a:gd name="T17" fmla="*/ 123 h 441"/>
                <a:gd name="T18" fmla="*/ 459 w 492"/>
                <a:gd name="T19" fmla="*/ 69 h 441"/>
                <a:gd name="T20" fmla="*/ 441 w 492"/>
                <a:gd name="T21" fmla="*/ 45 h 441"/>
                <a:gd name="T22" fmla="*/ 417 w 492"/>
                <a:gd name="T23" fmla="*/ 30 h 441"/>
                <a:gd name="T24" fmla="*/ 375 w 492"/>
                <a:gd name="T25" fmla="*/ 0 h 4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2"/>
                <a:gd name="T40" fmla="*/ 0 h 441"/>
                <a:gd name="T41" fmla="*/ 492 w 492"/>
                <a:gd name="T42" fmla="*/ 441 h 4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2" h="441">
                  <a:moveTo>
                    <a:pt x="375" y="0"/>
                  </a:moveTo>
                  <a:lnTo>
                    <a:pt x="219" y="120"/>
                  </a:lnTo>
                  <a:lnTo>
                    <a:pt x="0" y="285"/>
                  </a:lnTo>
                  <a:lnTo>
                    <a:pt x="33" y="330"/>
                  </a:lnTo>
                  <a:lnTo>
                    <a:pt x="63" y="366"/>
                  </a:lnTo>
                  <a:lnTo>
                    <a:pt x="78" y="390"/>
                  </a:lnTo>
                  <a:lnTo>
                    <a:pt x="99" y="441"/>
                  </a:lnTo>
                  <a:lnTo>
                    <a:pt x="288" y="300"/>
                  </a:lnTo>
                  <a:lnTo>
                    <a:pt x="492" y="123"/>
                  </a:lnTo>
                  <a:lnTo>
                    <a:pt x="459" y="69"/>
                  </a:lnTo>
                  <a:lnTo>
                    <a:pt x="441" y="45"/>
                  </a:lnTo>
                  <a:lnTo>
                    <a:pt x="417" y="30"/>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15" name="Freeform 306"/>
            <p:cNvSpPr>
              <a:spLocks/>
            </p:cNvSpPr>
            <p:nvPr/>
          </p:nvSpPr>
          <p:spPr bwMode="auto">
            <a:xfrm>
              <a:off x="3189" y="2343"/>
              <a:ext cx="507" cy="465"/>
            </a:xfrm>
            <a:custGeom>
              <a:avLst/>
              <a:gdLst>
                <a:gd name="T0" fmla="*/ 375 w 507"/>
                <a:gd name="T1" fmla="*/ 0 h 465"/>
                <a:gd name="T2" fmla="*/ 219 w 507"/>
                <a:gd name="T3" fmla="*/ 147 h 465"/>
                <a:gd name="T4" fmla="*/ 90 w 507"/>
                <a:gd name="T5" fmla="*/ 264 h 465"/>
                <a:gd name="T6" fmla="*/ 0 w 507"/>
                <a:gd name="T7" fmla="*/ 339 h 465"/>
                <a:gd name="T8" fmla="*/ 45 w 507"/>
                <a:gd name="T9" fmla="*/ 375 h 465"/>
                <a:gd name="T10" fmla="*/ 75 w 507"/>
                <a:gd name="T11" fmla="*/ 399 h 465"/>
                <a:gd name="T12" fmla="*/ 96 w 507"/>
                <a:gd name="T13" fmla="*/ 423 h 465"/>
                <a:gd name="T14" fmla="*/ 114 w 507"/>
                <a:gd name="T15" fmla="*/ 465 h 465"/>
                <a:gd name="T16" fmla="*/ 306 w 507"/>
                <a:gd name="T17" fmla="*/ 309 h 465"/>
                <a:gd name="T18" fmla="*/ 507 w 507"/>
                <a:gd name="T19" fmla="*/ 129 h 465"/>
                <a:gd name="T20" fmla="*/ 465 w 507"/>
                <a:gd name="T21" fmla="*/ 63 h 465"/>
                <a:gd name="T22" fmla="*/ 423 w 507"/>
                <a:gd name="T23" fmla="*/ 24 h 465"/>
                <a:gd name="T24" fmla="*/ 375 w 507"/>
                <a:gd name="T25" fmla="*/ 0 h 4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7"/>
                <a:gd name="T40" fmla="*/ 0 h 465"/>
                <a:gd name="T41" fmla="*/ 507 w 507"/>
                <a:gd name="T42" fmla="*/ 465 h 4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7" h="465">
                  <a:moveTo>
                    <a:pt x="375" y="0"/>
                  </a:moveTo>
                  <a:lnTo>
                    <a:pt x="219" y="147"/>
                  </a:lnTo>
                  <a:lnTo>
                    <a:pt x="90" y="264"/>
                  </a:lnTo>
                  <a:lnTo>
                    <a:pt x="0" y="339"/>
                  </a:lnTo>
                  <a:lnTo>
                    <a:pt x="45" y="375"/>
                  </a:lnTo>
                  <a:lnTo>
                    <a:pt x="75" y="399"/>
                  </a:lnTo>
                  <a:lnTo>
                    <a:pt x="96" y="423"/>
                  </a:lnTo>
                  <a:lnTo>
                    <a:pt x="114" y="465"/>
                  </a:lnTo>
                  <a:lnTo>
                    <a:pt x="306" y="309"/>
                  </a:lnTo>
                  <a:lnTo>
                    <a:pt x="507" y="129"/>
                  </a:lnTo>
                  <a:lnTo>
                    <a:pt x="465" y="63"/>
                  </a:lnTo>
                  <a:lnTo>
                    <a:pt x="423" y="24"/>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16" name="Freeform 307"/>
            <p:cNvSpPr>
              <a:spLocks/>
            </p:cNvSpPr>
            <p:nvPr/>
          </p:nvSpPr>
          <p:spPr bwMode="auto">
            <a:xfrm>
              <a:off x="3570" y="1968"/>
              <a:ext cx="387" cy="507"/>
            </a:xfrm>
            <a:custGeom>
              <a:avLst/>
              <a:gdLst>
                <a:gd name="T0" fmla="*/ 378 w 387"/>
                <a:gd name="T1" fmla="*/ 0 h 507"/>
                <a:gd name="T2" fmla="*/ 240 w 387"/>
                <a:gd name="T3" fmla="*/ 132 h 507"/>
                <a:gd name="T4" fmla="*/ 132 w 387"/>
                <a:gd name="T5" fmla="*/ 240 h 507"/>
                <a:gd name="T6" fmla="*/ 0 w 387"/>
                <a:gd name="T7" fmla="*/ 369 h 507"/>
                <a:gd name="T8" fmla="*/ 63 w 387"/>
                <a:gd name="T9" fmla="*/ 405 h 507"/>
                <a:gd name="T10" fmla="*/ 99 w 387"/>
                <a:gd name="T11" fmla="*/ 435 h 507"/>
                <a:gd name="T12" fmla="*/ 132 w 387"/>
                <a:gd name="T13" fmla="*/ 507 h 507"/>
                <a:gd name="T14" fmla="*/ 387 w 387"/>
                <a:gd name="T15" fmla="*/ 249 h 507"/>
                <a:gd name="T16" fmla="*/ 378 w 387"/>
                <a:gd name="T17" fmla="*/ 0 h 5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507"/>
                <a:gd name="T29" fmla="*/ 387 w 387"/>
                <a:gd name="T30" fmla="*/ 507 h 5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507">
                  <a:moveTo>
                    <a:pt x="378" y="0"/>
                  </a:moveTo>
                  <a:lnTo>
                    <a:pt x="240" y="132"/>
                  </a:lnTo>
                  <a:lnTo>
                    <a:pt x="132" y="240"/>
                  </a:lnTo>
                  <a:lnTo>
                    <a:pt x="0" y="369"/>
                  </a:lnTo>
                  <a:lnTo>
                    <a:pt x="63" y="405"/>
                  </a:lnTo>
                  <a:lnTo>
                    <a:pt x="99" y="435"/>
                  </a:lnTo>
                  <a:lnTo>
                    <a:pt x="132" y="507"/>
                  </a:lnTo>
                  <a:lnTo>
                    <a:pt x="387" y="249"/>
                  </a:lnTo>
                  <a:lnTo>
                    <a:pt x="37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5417" name="Freeform 308"/>
            <p:cNvSpPr>
              <a:spLocks/>
            </p:cNvSpPr>
            <p:nvPr/>
          </p:nvSpPr>
          <p:spPr bwMode="auto">
            <a:xfrm>
              <a:off x="1676" y="3350"/>
              <a:ext cx="340" cy="394"/>
            </a:xfrm>
            <a:custGeom>
              <a:avLst/>
              <a:gdLst>
                <a:gd name="T0" fmla="*/ 340 w 340"/>
                <a:gd name="T1" fmla="*/ 394 h 394"/>
                <a:gd name="T2" fmla="*/ 8 w 340"/>
                <a:gd name="T3" fmla="*/ 236 h 394"/>
                <a:gd name="T4" fmla="*/ 4 w 340"/>
                <a:gd name="T5" fmla="*/ 114 h 394"/>
                <a:gd name="T6" fmla="*/ 0 w 340"/>
                <a:gd name="T7" fmla="*/ 0 h 394"/>
                <a:gd name="T8" fmla="*/ 90 w 340"/>
                <a:gd name="T9" fmla="*/ 14 h 394"/>
                <a:gd name="T10" fmla="*/ 150 w 340"/>
                <a:gd name="T11" fmla="*/ 28 h 394"/>
                <a:gd name="T12" fmla="*/ 258 w 340"/>
                <a:gd name="T13" fmla="*/ 52 h 394"/>
                <a:gd name="T14" fmla="*/ 326 w 340"/>
                <a:gd name="T15" fmla="*/ 72 h 394"/>
                <a:gd name="T16" fmla="*/ 338 w 340"/>
                <a:gd name="T17" fmla="*/ 180 h 394"/>
                <a:gd name="T18" fmla="*/ 340 w 340"/>
                <a:gd name="T19" fmla="*/ 248 h 394"/>
                <a:gd name="T20" fmla="*/ 340 w 340"/>
                <a:gd name="T21" fmla="*/ 316 h 394"/>
                <a:gd name="T22" fmla="*/ 340 w 340"/>
                <a:gd name="T23" fmla="*/ 394 h 3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0"/>
                <a:gd name="T37" fmla="*/ 0 h 394"/>
                <a:gd name="T38" fmla="*/ 340 w 340"/>
                <a:gd name="T39" fmla="*/ 394 h 39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0" h="394">
                  <a:moveTo>
                    <a:pt x="340" y="394"/>
                  </a:moveTo>
                  <a:lnTo>
                    <a:pt x="8" y="236"/>
                  </a:lnTo>
                  <a:lnTo>
                    <a:pt x="4" y="114"/>
                  </a:lnTo>
                  <a:lnTo>
                    <a:pt x="0" y="0"/>
                  </a:lnTo>
                  <a:lnTo>
                    <a:pt x="90" y="14"/>
                  </a:lnTo>
                  <a:lnTo>
                    <a:pt x="150" y="28"/>
                  </a:lnTo>
                  <a:lnTo>
                    <a:pt x="258" y="52"/>
                  </a:lnTo>
                  <a:lnTo>
                    <a:pt x="326" y="72"/>
                  </a:lnTo>
                  <a:lnTo>
                    <a:pt x="338" y="180"/>
                  </a:lnTo>
                  <a:lnTo>
                    <a:pt x="340" y="248"/>
                  </a:lnTo>
                  <a:lnTo>
                    <a:pt x="340" y="316"/>
                  </a:lnTo>
                  <a:lnTo>
                    <a:pt x="340"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5418" name="Freeform 309"/>
            <p:cNvSpPr>
              <a:spLocks/>
            </p:cNvSpPr>
            <p:nvPr/>
          </p:nvSpPr>
          <p:spPr bwMode="auto">
            <a:xfrm>
              <a:off x="1626" y="3012"/>
              <a:ext cx="372" cy="394"/>
            </a:xfrm>
            <a:custGeom>
              <a:avLst/>
              <a:gdLst>
                <a:gd name="T0" fmla="*/ 372 w 372"/>
                <a:gd name="T1" fmla="*/ 394 h 394"/>
                <a:gd name="T2" fmla="*/ 190 w 372"/>
                <a:gd name="T3" fmla="*/ 348 h 394"/>
                <a:gd name="T4" fmla="*/ 40 w 372"/>
                <a:gd name="T5" fmla="*/ 318 h 394"/>
                <a:gd name="T6" fmla="*/ 0 w 372"/>
                <a:gd name="T7" fmla="*/ 0 h 394"/>
                <a:gd name="T8" fmla="*/ 76 w 372"/>
                <a:gd name="T9" fmla="*/ 10 h 394"/>
                <a:gd name="T10" fmla="*/ 198 w 372"/>
                <a:gd name="T11" fmla="*/ 22 h 394"/>
                <a:gd name="T12" fmla="*/ 308 w 372"/>
                <a:gd name="T13" fmla="*/ 38 h 394"/>
                <a:gd name="T14" fmla="*/ 340 w 372"/>
                <a:gd name="T15" fmla="*/ 202 h 394"/>
                <a:gd name="T16" fmla="*/ 372 w 372"/>
                <a:gd name="T17" fmla="*/ 394 h 3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2"/>
                <a:gd name="T28" fmla="*/ 0 h 394"/>
                <a:gd name="T29" fmla="*/ 372 w 372"/>
                <a:gd name="T30" fmla="*/ 394 h 3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2" h="394">
                  <a:moveTo>
                    <a:pt x="372" y="394"/>
                  </a:moveTo>
                  <a:lnTo>
                    <a:pt x="190" y="348"/>
                  </a:lnTo>
                  <a:lnTo>
                    <a:pt x="40" y="318"/>
                  </a:lnTo>
                  <a:lnTo>
                    <a:pt x="0" y="0"/>
                  </a:lnTo>
                  <a:lnTo>
                    <a:pt x="76" y="10"/>
                  </a:lnTo>
                  <a:lnTo>
                    <a:pt x="198" y="22"/>
                  </a:lnTo>
                  <a:lnTo>
                    <a:pt x="308" y="38"/>
                  </a:lnTo>
                  <a:lnTo>
                    <a:pt x="340" y="202"/>
                  </a:lnTo>
                  <a:lnTo>
                    <a:pt x="372"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5419" name="Freeform 310"/>
            <p:cNvSpPr>
              <a:spLocks/>
            </p:cNvSpPr>
            <p:nvPr/>
          </p:nvSpPr>
          <p:spPr bwMode="auto">
            <a:xfrm>
              <a:off x="1554" y="2698"/>
              <a:ext cx="374" cy="340"/>
            </a:xfrm>
            <a:custGeom>
              <a:avLst/>
              <a:gdLst>
                <a:gd name="T0" fmla="*/ 374 w 374"/>
                <a:gd name="T1" fmla="*/ 340 h 340"/>
                <a:gd name="T2" fmla="*/ 240 w 374"/>
                <a:gd name="T3" fmla="*/ 324 h 340"/>
                <a:gd name="T4" fmla="*/ 68 w 374"/>
                <a:gd name="T5" fmla="*/ 302 h 340"/>
                <a:gd name="T6" fmla="*/ 0 w 374"/>
                <a:gd name="T7" fmla="*/ 0 h 340"/>
                <a:gd name="T8" fmla="*/ 90 w 374"/>
                <a:gd name="T9" fmla="*/ 2 h 340"/>
                <a:gd name="T10" fmla="*/ 174 w 374"/>
                <a:gd name="T11" fmla="*/ 0 h 340"/>
                <a:gd name="T12" fmla="*/ 296 w 374"/>
                <a:gd name="T13" fmla="*/ 14 h 340"/>
                <a:gd name="T14" fmla="*/ 312 w 374"/>
                <a:gd name="T15" fmla="*/ 90 h 340"/>
                <a:gd name="T16" fmla="*/ 354 w 374"/>
                <a:gd name="T17" fmla="*/ 246 h 340"/>
                <a:gd name="T18" fmla="*/ 374 w 374"/>
                <a:gd name="T19" fmla="*/ 340 h 3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340"/>
                <a:gd name="T32" fmla="*/ 374 w 374"/>
                <a:gd name="T33" fmla="*/ 340 h 3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340">
                  <a:moveTo>
                    <a:pt x="374" y="340"/>
                  </a:moveTo>
                  <a:lnTo>
                    <a:pt x="240" y="324"/>
                  </a:lnTo>
                  <a:lnTo>
                    <a:pt x="68" y="302"/>
                  </a:lnTo>
                  <a:lnTo>
                    <a:pt x="0" y="0"/>
                  </a:lnTo>
                  <a:lnTo>
                    <a:pt x="90" y="2"/>
                  </a:lnTo>
                  <a:lnTo>
                    <a:pt x="174" y="0"/>
                  </a:lnTo>
                  <a:lnTo>
                    <a:pt x="296" y="14"/>
                  </a:lnTo>
                  <a:lnTo>
                    <a:pt x="312" y="90"/>
                  </a:lnTo>
                  <a:lnTo>
                    <a:pt x="354" y="246"/>
                  </a:lnTo>
                  <a:lnTo>
                    <a:pt x="374" y="340"/>
                  </a:lnTo>
                  <a:close/>
                </a:path>
              </a:pathLst>
            </a:custGeom>
            <a:gradFill rotWithShape="0">
              <a:gsLst>
                <a:gs pos="0">
                  <a:srgbClr val="CFB2AD"/>
                </a:gs>
                <a:gs pos="100000">
                  <a:srgbClr val="A85656"/>
                </a:gs>
              </a:gsLst>
              <a:lin ang="2700000" scaled="1"/>
            </a:gradFill>
            <a:ln w="12700" cap="flat" cmpd="sng">
              <a:noFill/>
              <a:prstDash val="solid"/>
              <a:round/>
              <a:headEnd type="none" w="sm" len="sm"/>
              <a:tailEnd type="none" w="sm" len="sm"/>
            </a:ln>
          </p:spPr>
          <p:txBody>
            <a:bodyPr wrap="none" anchor="ctr"/>
            <a:lstStyle/>
            <a:p>
              <a:endParaRPr lang="en-US"/>
            </a:p>
          </p:txBody>
        </p:sp>
        <p:sp>
          <p:nvSpPr>
            <p:cNvPr id="15420" name="Freeform 311"/>
            <p:cNvSpPr>
              <a:spLocks/>
            </p:cNvSpPr>
            <p:nvPr/>
          </p:nvSpPr>
          <p:spPr bwMode="auto">
            <a:xfrm>
              <a:off x="1460" y="2366"/>
              <a:ext cx="388" cy="334"/>
            </a:xfrm>
            <a:custGeom>
              <a:avLst/>
              <a:gdLst>
                <a:gd name="T0" fmla="*/ 388 w 388"/>
                <a:gd name="T1" fmla="*/ 334 h 334"/>
                <a:gd name="T2" fmla="*/ 258 w 388"/>
                <a:gd name="T3" fmla="*/ 320 h 334"/>
                <a:gd name="T4" fmla="*/ 90 w 388"/>
                <a:gd name="T5" fmla="*/ 324 h 334"/>
                <a:gd name="T6" fmla="*/ 0 w 388"/>
                <a:gd name="T7" fmla="*/ 2 h 334"/>
                <a:gd name="T8" fmla="*/ 82 w 388"/>
                <a:gd name="T9" fmla="*/ 2 h 334"/>
                <a:gd name="T10" fmla="*/ 172 w 388"/>
                <a:gd name="T11" fmla="*/ 0 h 334"/>
                <a:gd name="T12" fmla="*/ 288 w 388"/>
                <a:gd name="T13" fmla="*/ 6 h 334"/>
                <a:gd name="T14" fmla="*/ 308 w 388"/>
                <a:gd name="T15" fmla="*/ 80 h 334"/>
                <a:gd name="T16" fmla="*/ 350 w 388"/>
                <a:gd name="T17" fmla="*/ 212 h 334"/>
                <a:gd name="T18" fmla="*/ 388 w 388"/>
                <a:gd name="T19" fmla="*/ 334 h 3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8"/>
                <a:gd name="T31" fmla="*/ 0 h 334"/>
                <a:gd name="T32" fmla="*/ 388 w 388"/>
                <a:gd name="T33" fmla="*/ 334 h 3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8" h="334">
                  <a:moveTo>
                    <a:pt x="388" y="334"/>
                  </a:moveTo>
                  <a:lnTo>
                    <a:pt x="258" y="320"/>
                  </a:lnTo>
                  <a:lnTo>
                    <a:pt x="90" y="324"/>
                  </a:lnTo>
                  <a:lnTo>
                    <a:pt x="0" y="2"/>
                  </a:lnTo>
                  <a:lnTo>
                    <a:pt x="82" y="2"/>
                  </a:lnTo>
                  <a:lnTo>
                    <a:pt x="172" y="0"/>
                  </a:lnTo>
                  <a:lnTo>
                    <a:pt x="288" y="6"/>
                  </a:lnTo>
                  <a:lnTo>
                    <a:pt x="308" y="80"/>
                  </a:lnTo>
                  <a:lnTo>
                    <a:pt x="350" y="212"/>
                  </a:lnTo>
                  <a:lnTo>
                    <a:pt x="388" y="334"/>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5421" name="Freeform 312"/>
            <p:cNvSpPr>
              <a:spLocks/>
            </p:cNvSpPr>
            <p:nvPr/>
          </p:nvSpPr>
          <p:spPr bwMode="auto">
            <a:xfrm>
              <a:off x="1344" y="1998"/>
              <a:ext cx="398" cy="358"/>
            </a:xfrm>
            <a:custGeom>
              <a:avLst/>
              <a:gdLst>
                <a:gd name="T0" fmla="*/ 398 w 398"/>
                <a:gd name="T1" fmla="*/ 358 h 358"/>
                <a:gd name="T2" fmla="*/ 272 w 398"/>
                <a:gd name="T3" fmla="*/ 358 h 358"/>
                <a:gd name="T4" fmla="*/ 108 w 398"/>
                <a:gd name="T5" fmla="*/ 356 h 358"/>
                <a:gd name="T6" fmla="*/ 64 w 398"/>
                <a:gd name="T7" fmla="*/ 204 h 358"/>
                <a:gd name="T8" fmla="*/ 0 w 398"/>
                <a:gd name="T9" fmla="*/ 28 h 358"/>
                <a:gd name="T10" fmla="*/ 90 w 398"/>
                <a:gd name="T11" fmla="*/ 24 h 358"/>
                <a:gd name="T12" fmla="*/ 144 w 398"/>
                <a:gd name="T13" fmla="*/ 22 h 358"/>
                <a:gd name="T14" fmla="*/ 212 w 398"/>
                <a:gd name="T15" fmla="*/ 16 h 358"/>
                <a:gd name="T16" fmla="*/ 286 w 398"/>
                <a:gd name="T17" fmla="*/ 0 h 358"/>
                <a:gd name="T18" fmla="*/ 314 w 398"/>
                <a:gd name="T19" fmla="*/ 94 h 358"/>
                <a:gd name="T20" fmla="*/ 356 w 398"/>
                <a:gd name="T21" fmla="*/ 228 h 358"/>
                <a:gd name="T22" fmla="*/ 398 w 398"/>
                <a:gd name="T23" fmla="*/ 358 h 3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8"/>
                <a:gd name="T37" fmla="*/ 0 h 358"/>
                <a:gd name="T38" fmla="*/ 398 w 398"/>
                <a:gd name="T39" fmla="*/ 358 h 3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8" h="358">
                  <a:moveTo>
                    <a:pt x="398" y="358"/>
                  </a:moveTo>
                  <a:lnTo>
                    <a:pt x="272" y="358"/>
                  </a:lnTo>
                  <a:lnTo>
                    <a:pt x="108" y="356"/>
                  </a:lnTo>
                  <a:lnTo>
                    <a:pt x="64" y="204"/>
                  </a:lnTo>
                  <a:lnTo>
                    <a:pt x="0" y="28"/>
                  </a:lnTo>
                  <a:lnTo>
                    <a:pt x="90" y="24"/>
                  </a:lnTo>
                  <a:lnTo>
                    <a:pt x="144" y="22"/>
                  </a:lnTo>
                  <a:lnTo>
                    <a:pt x="212" y="16"/>
                  </a:lnTo>
                  <a:lnTo>
                    <a:pt x="286" y="0"/>
                  </a:lnTo>
                  <a:lnTo>
                    <a:pt x="314" y="94"/>
                  </a:lnTo>
                  <a:lnTo>
                    <a:pt x="356" y="228"/>
                  </a:lnTo>
                  <a:lnTo>
                    <a:pt x="398" y="358"/>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5422" name="Freeform 313"/>
            <p:cNvSpPr>
              <a:spLocks/>
            </p:cNvSpPr>
            <p:nvPr/>
          </p:nvSpPr>
          <p:spPr bwMode="auto">
            <a:xfrm>
              <a:off x="1144" y="1522"/>
              <a:ext cx="482" cy="492"/>
            </a:xfrm>
            <a:custGeom>
              <a:avLst/>
              <a:gdLst>
                <a:gd name="T0" fmla="*/ 482 w 482"/>
                <a:gd name="T1" fmla="*/ 468 h 492"/>
                <a:gd name="T2" fmla="*/ 364 w 482"/>
                <a:gd name="T3" fmla="*/ 492 h 492"/>
                <a:gd name="T4" fmla="*/ 198 w 482"/>
                <a:gd name="T5" fmla="*/ 492 h 492"/>
                <a:gd name="T6" fmla="*/ 126 w 482"/>
                <a:gd name="T7" fmla="*/ 292 h 492"/>
                <a:gd name="T8" fmla="*/ 0 w 482"/>
                <a:gd name="T9" fmla="*/ 0 h 492"/>
                <a:gd name="T10" fmla="*/ 122 w 482"/>
                <a:gd name="T11" fmla="*/ 22 h 492"/>
                <a:gd name="T12" fmla="*/ 196 w 482"/>
                <a:gd name="T13" fmla="*/ 34 h 492"/>
                <a:gd name="T14" fmla="*/ 276 w 482"/>
                <a:gd name="T15" fmla="*/ 48 h 492"/>
                <a:gd name="T16" fmla="*/ 328 w 482"/>
                <a:gd name="T17" fmla="*/ 62 h 492"/>
                <a:gd name="T18" fmla="*/ 380 w 482"/>
                <a:gd name="T19" fmla="*/ 198 h 492"/>
                <a:gd name="T20" fmla="*/ 432 w 482"/>
                <a:gd name="T21" fmla="*/ 330 h 492"/>
                <a:gd name="T22" fmla="*/ 482 w 482"/>
                <a:gd name="T23" fmla="*/ 468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2"/>
                <a:gd name="T37" fmla="*/ 0 h 492"/>
                <a:gd name="T38" fmla="*/ 482 w 482"/>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2" h="492">
                  <a:moveTo>
                    <a:pt x="482" y="468"/>
                  </a:moveTo>
                  <a:lnTo>
                    <a:pt x="364" y="492"/>
                  </a:lnTo>
                  <a:lnTo>
                    <a:pt x="198" y="492"/>
                  </a:lnTo>
                  <a:lnTo>
                    <a:pt x="126" y="292"/>
                  </a:lnTo>
                  <a:lnTo>
                    <a:pt x="0" y="0"/>
                  </a:lnTo>
                  <a:lnTo>
                    <a:pt x="122" y="22"/>
                  </a:lnTo>
                  <a:lnTo>
                    <a:pt x="196" y="34"/>
                  </a:lnTo>
                  <a:lnTo>
                    <a:pt x="276" y="48"/>
                  </a:lnTo>
                  <a:lnTo>
                    <a:pt x="328" y="62"/>
                  </a:lnTo>
                  <a:lnTo>
                    <a:pt x="380" y="198"/>
                  </a:lnTo>
                  <a:lnTo>
                    <a:pt x="432" y="330"/>
                  </a:lnTo>
                  <a:lnTo>
                    <a:pt x="482" y="468"/>
                  </a:lnTo>
                  <a:close/>
                </a:path>
              </a:pathLst>
            </a:custGeom>
            <a:gradFill rotWithShape="0">
              <a:gsLst>
                <a:gs pos="0">
                  <a:srgbClr val="E8D9D6"/>
                </a:gs>
                <a:gs pos="100000">
                  <a:srgbClr val="CA989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5423" name="Freeform 314"/>
            <p:cNvSpPr>
              <a:spLocks/>
            </p:cNvSpPr>
            <p:nvPr/>
          </p:nvSpPr>
          <p:spPr bwMode="auto">
            <a:xfrm>
              <a:off x="1167" y="1344"/>
              <a:ext cx="837" cy="231"/>
            </a:xfrm>
            <a:custGeom>
              <a:avLst/>
              <a:gdLst>
                <a:gd name="T0" fmla="*/ 0 w 837"/>
                <a:gd name="T1" fmla="*/ 171 h 231"/>
                <a:gd name="T2" fmla="*/ 297 w 837"/>
                <a:gd name="T3" fmla="*/ 231 h 231"/>
                <a:gd name="T4" fmla="*/ 561 w 837"/>
                <a:gd name="T5" fmla="*/ 204 h 231"/>
                <a:gd name="T6" fmla="*/ 837 w 837"/>
                <a:gd name="T7" fmla="*/ 138 h 231"/>
                <a:gd name="T8" fmla="*/ 738 w 837"/>
                <a:gd name="T9" fmla="*/ 75 h 231"/>
                <a:gd name="T10" fmla="*/ 618 w 837"/>
                <a:gd name="T11" fmla="*/ 27 h 231"/>
                <a:gd name="T12" fmla="*/ 513 w 837"/>
                <a:gd name="T13" fmla="*/ 0 h 231"/>
                <a:gd name="T14" fmla="*/ 390 w 837"/>
                <a:gd name="T15" fmla="*/ 45 h 231"/>
                <a:gd name="T16" fmla="*/ 0 w 837"/>
                <a:gd name="T17" fmla="*/ 171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37"/>
                <a:gd name="T28" fmla="*/ 0 h 231"/>
                <a:gd name="T29" fmla="*/ 837 w 837"/>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37" h="231">
                  <a:moveTo>
                    <a:pt x="0" y="171"/>
                  </a:moveTo>
                  <a:lnTo>
                    <a:pt x="297" y="231"/>
                  </a:lnTo>
                  <a:lnTo>
                    <a:pt x="561" y="204"/>
                  </a:lnTo>
                  <a:lnTo>
                    <a:pt x="837" y="138"/>
                  </a:lnTo>
                  <a:lnTo>
                    <a:pt x="738" y="75"/>
                  </a:lnTo>
                  <a:lnTo>
                    <a:pt x="618" y="27"/>
                  </a:lnTo>
                  <a:lnTo>
                    <a:pt x="513" y="0"/>
                  </a:lnTo>
                  <a:lnTo>
                    <a:pt x="390" y="45"/>
                  </a:lnTo>
                  <a:lnTo>
                    <a:pt x="0" y="171"/>
                  </a:lnTo>
                  <a:close/>
                </a:path>
              </a:pathLst>
            </a:custGeom>
            <a:gradFill rotWithShape="0">
              <a:gsLst>
                <a:gs pos="0">
                  <a:srgbClr val="C58D8D"/>
                </a:gs>
                <a:gs pos="100000">
                  <a:srgbClr val="8F5A59"/>
                </a:gs>
              </a:gsLst>
              <a:lin ang="0" scaled="1"/>
            </a:gradFill>
            <a:ln w="12700" cap="flat" cmpd="sng">
              <a:noFill/>
              <a:prstDash val="solid"/>
              <a:round/>
              <a:headEnd type="none" w="sm" len="sm"/>
              <a:tailEnd type="none" w="sm" len="sm"/>
            </a:ln>
          </p:spPr>
          <p:txBody>
            <a:bodyPr wrap="none" anchor="ctr"/>
            <a:lstStyle/>
            <a:p>
              <a:endParaRPr lang="en-US"/>
            </a:p>
          </p:txBody>
        </p:sp>
        <p:sp>
          <p:nvSpPr>
            <p:cNvPr id="15424" name="Freeform 315"/>
            <p:cNvSpPr>
              <a:spLocks/>
            </p:cNvSpPr>
            <p:nvPr/>
          </p:nvSpPr>
          <p:spPr bwMode="auto">
            <a:xfrm>
              <a:off x="1707" y="1128"/>
              <a:ext cx="780" cy="345"/>
            </a:xfrm>
            <a:custGeom>
              <a:avLst/>
              <a:gdLst>
                <a:gd name="T0" fmla="*/ 0 w 780"/>
                <a:gd name="T1" fmla="*/ 207 h 345"/>
                <a:gd name="T2" fmla="*/ 165 w 780"/>
                <a:gd name="T3" fmla="*/ 261 h 345"/>
                <a:gd name="T4" fmla="*/ 318 w 780"/>
                <a:gd name="T5" fmla="*/ 345 h 345"/>
                <a:gd name="T6" fmla="*/ 552 w 780"/>
                <a:gd name="T7" fmla="*/ 255 h 345"/>
                <a:gd name="T8" fmla="*/ 780 w 780"/>
                <a:gd name="T9" fmla="*/ 144 h 345"/>
                <a:gd name="T10" fmla="*/ 705 w 780"/>
                <a:gd name="T11" fmla="*/ 69 h 345"/>
                <a:gd name="T12" fmla="*/ 618 w 780"/>
                <a:gd name="T13" fmla="*/ 30 h 345"/>
                <a:gd name="T14" fmla="*/ 498 w 780"/>
                <a:gd name="T15" fmla="*/ 0 h 345"/>
                <a:gd name="T16" fmla="*/ 384 w 780"/>
                <a:gd name="T17" fmla="*/ 51 h 345"/>
                <a:gd name="T18" fmla="*/ 0 w 780"/>
                <a:gd name="T19" fmla="*/ 207 h 3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0"/>
                <a:gd name="T31" fmla="*/ 0 h 345"/>
                <a:gd name="T32" fmla="*/ 780 w 780"/>
                <a:gd name="T33" fmla="*/ 345 h 3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0" h="345">
                  <a:moveTo>
                    <a:pt x="0" y="207"/>
                  </a:moveTo>
                  <a:lnTo>
                    <a:pt x="165" y="261"/>
                  </a:lnTo>
                  <a:lnTo>
                    <a:pt x="318" y="345"/>
                  </a:lnTo>
                  <a:lnTo>
                    <a:pt x="552" y="255"/>
                  </a:lnTo>
                  <a:lnTo>
                    <a:pt x="780" y="144"/>
                  </a:lnTo>
                  <a:lnTo>
                    <a:pt x="705" y="69"/>
                  </a:lnTo>
                  <a:lnTo>
                    <a:pt x="618" y="30"/>
                  </a:lnTo>
                  <a:lnTo>
                    <a:pt x="498" y="0"/>
                  </a:lnTo>
                  <a:lnTo>
                    <a:pt x="384" y="51"/>
                  </a:lnTo>
                  <a:lnTo>
                    <a:pt x="0" y="207"/>
                  </a:lnTo>
                  <a:close/>
                </a:path>
              </a:pathLst>
            </a:custGeom>
            <a:gradFill rotWithShape="0">
              <a:gsLst>
                <a:gs pos="0">
                  <a:srgbClr val="CA9898"/>
                </a:gs>
                <a:gs pos="100000">
                  <a:srgbClr val="A46F6E"/>
                </a:gs>
              </a:gsLst>
              <a:lin ang="0" scaled="1"/>
            </a:gradFill>
            <a:ln w="12700" cap="flat" cmpd="sng">
              <a:noFill/>
              <a:prstDash val="solid"/>
              <a:round/>
              <a:headEnd type="none" w="sm" len="sm"/>
              <a:tailEnd type="none" w="sm" len="sm"/>
            </a:ln>
          </p:spPr>
          <p:txBody>
            <a:bodyPr wrap="none" anchor="ctr"/>
            <a:lstStyle/>
            <a:p>
              <a:endParaRPr lang="en-US"/>
            </a:p>
          </p:txBody>
        </p:sp>
        <p:sp>
          <p:nvSpPr>
            <p:cNvPr id="15425" name="Freeform 316"/>
            <p:cNvSpPr>
              <a:spLocks/>
            </p:cNvSpPr>
            <p:nvPr/>
          </p:nvSpPr>
          <p:spPr bwMode="auto">
            <a:xfrm>
              <a:off x="2232" y="900"/>
              <a:ext cx="729" cy="363"/>
            </a:xfrm>
            <a:custGeom>
              <a:avLst/>
              <a:gdLst>
                <a:gd name="T0" fmla="*/ 0 w 729"/>
                <a:gd name="T1" fmla="*/ 219 h 363"/>
                <a:gd name="T2" fmla="*/ 141 w 729"/>
                <a:gd name="T3" fmla="*/ 258 h 363"/>
                <a:gd name="T4" fmla="*/ 204 w 729"/>
                <a:gd name="T5" fmla="*/ 300 h 363"/>
                <a:gd name="T6" fmla="*/ 279 w 729"/>
                <a:gd name="T7" fmla="*/ 363 h 363"/>
                <a:gd name="T8" fmla="*/ 507 w 729"/>
                <a:gd name="T9" fmla="*/ 228 h 363"/>
                <a:gd name="T10" fmla="*/ 729 w 729"/>
                <a:gd name="T11" fmla="*/ 96 h 363"/>
                <a:gd name="T12" fmla="*/ 621 w 729"/>
                <a:gd name="T13" fmla="*/ 54 h 363"/>
                <a:gd name="T14" fmla="*/ 531 w 729"/>
                <a:gd name="T15" fmla="*/ 18 h 363"/>
                <a:gd name="T16" fmla="*/ 441 w 729"/>
                <a:gd name="T17" fmla="*/ 0 h 363"/>
                <a:gd name="T18" fmla="*/ 309 w 729"/>
                <a:gd name="T19" fmla="*/ 72 h 363"/>
                <a:gd name="T20" fmla="*/ 0 w 729"/>
                <a:gd name="T21" fmla="*/ 219 h 3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9"/>
                <a:gd name="T34" fmla="*/ 0 h 363"/>
                <a:gd name="T35" fmla="*/ 729 w 729"/>
                <a:gd name="T36" fmla="*/ 363 h 3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9" h="363">
                  <a:moveTo>
                    <a:pt x="0" y="219"/>
                  </a:moveTo>
                  <a:lnTo>
                    <a:pt x="141" y="258"/>
                  </a:lnTo>
                  <a:lnTo>
                    <a:pt x="204" y="300"/>
                  </a:lnTo>
                  <a:lnTo>
                    <a:pt x="279" y="363"/>
                  </a:lnTo>
                  <a:lnTo>
                    <a:pt x="507" y="228"/>
                  </a:lnTo>
                  <a:lnTo>
                    <a:pt x="729" y="96"/>
                  </a:lnTo>
                  <a:lnTo>
                    <a:pt x="621" y="54"/>
                  </a:lnTo>
                  <a:lnTo>
                    <a:pt x="531" y="18"/>
                  </a:lnTo>
                  <a:lnTo>
                    <a:pt x="441" y="0"/>
                  </a:lnTo>
                  <a:lnTo>
                    <a:pt x="309" y="72"/>
                  </a:lnTo>
                  <a:lnTo>
                    <a:pt x="0" y="219"/>
                  </a:lnTo>
                  <a:close/>
                </a:path>
              </a:pathLst>
            </a:custGeom>
            <a:gradFill rotWithShape="0">
              <a:gsLst>
                <a:gs pos="0">
                  <a:srgbClr val="D2A6A6"/>
                </a:gs>
                <a:gs pos="100000">
                  <a:srgbClr val="AE7F7E"/>
                </a:gs>
              </a:gsLst>
              <a:lin ang="2700000" scaled="1"/>
            </a:gradFill>
            <a:ln w="12700" cap="flat" cmpd="sng">
              <a:noFill/>
              <a:prstDash val="solid"/>
              <a:round/>
              <a:headEnd type="none" w="sm" len="sm"/>
              <a:tailEnd type="none" w="sm" len="sm"/>
            </a:ln>
          </p:spPr>
          <p:txBody>
            <a:bodyPr wrap="none" anchor="ctr"/>
            <a:lstStyle/>
            <a:p>
              <a:endParaRPr lang="en-US"/>
            </a:p>
          </p:txBody>
        </p:sp>
        <p:sp>
          <p:nvSpPr>
            <p:cNvPr id="15426" name="Freeform 317"/>
            <p:cNvSpPr>
              <a:spLocks/>
            </p:cNvSpPr>
            <p:nvPr/>
          </p:nvSpPr>
          <p:spPr bwMode="auto">
            <a:xfrm>
              <a:off x="2691" y="642"/>
              <a:ext cx="648" cy="339"/>
            </a:xfrm>
            <a:custGeom>
              <a:avLst/>
              <a:gdLst>
                <a:gd name="T0" fmla="*/ 0 w 648"/>
                <a:gd name="T1" fmla="*/ 246 h 339"/>
                <a:gd name="T2" fmla="*/ 99 w 648"/>
                <a:gd name="T3" fmla="*/ 270 h 339"/>
                <a:gd name="T4" fmla="*/ 183 w 648"/>
                <a:gd name="T5" fmla="*/ 309 h 339"/>
                <a:gd name="T6" fmla="*/ 279 w 648"/>
                <a:gd name="T7" fmla="*/ 339 h 339"/>
                <a:gd name="T8" fmla="*/ 456 w 648"/>
                <a:gd name="T9" fmla="*/ 210 h 339"/>
                <a:gd name="T10" fmla="*/ 648 w 648"/>
                <a:gd name="T11" fmla="*/ 69 h 339"/>
                <a:gd name="T12" fmla="*/ 573 w 648"/>
                <a:gd name="T13" fmla="*/ 45 h 339"/>
                <a:gd name="T14" fmla="*/ 465 w 648"/>
                <a:gd name="T15" fmla="*/ 15 h 339"/>
                <a:gd name="T16" fmla="*/ 372 w 648"/>
                <a:gd name="T17" fmla="*/ 0 h 339"/>
                <a:gd name="T18" fmla="*/ 291 w 648"/>
                <a:gd name="T19" fmla="*/ 72 h 339"/>
                <a:gd name="T20" fmla="*/ 171 w 648"/>
                <a:gd name="T21" fmla="*/ 144 h 339"/>
                <a:gd name="T22" fmla="*/ 0 w 648"/>
                <a:gd name="T23" fmla="*/ 246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339"/>
                <a:gd name="T38" fmla="*/ 648 w 648"/>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339">
                  <a:moveTo>
                    <a:pt x="0" y="246"/>
                  </a:moveTo>
                  <a:lnTo>
                    <a:pt x="99" y="270"/>
                  </a:lnTo>
                  <a:lnTo>
                    <a:pt x="183" y="309"/>
                  </a:lnTo>
                  <a:lnTo>
                    <a:pt x="279" y="339"/>
                  </a:lnTo>
                  <a:lnTo>
                    <a:pt x="456" y="210"/>
                  </a:lnTo>
                  <a:lnTo>
                    <a:pt x="648" y="69"/>
                  </a:lnTo>
                  <a:lnTo>
                    <a:pt x="573" y="45"/>
                  </a:lnTo>
                  <a:lnTo>
                    <a:pt x="465" y="15"/>
                  </a:lnTo>
                  <a:lnTo>
                    <a:pt x="372" y="0"/>
                  </a:lnTo>
                  <a:lnTo>
                    <a:pt x="291" y="72"/>
                  </a:lnTo>
                  <a:lnTo>
                    <a:pt x="171" y="144"/>
                  </a:lnTo>
                  <a:lnTo>
                    <a:pt x="0" y="246"/>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sp>
          <p:nvSpPr>
            <p:cNvPr id="15427" name="Freeform 318"/>
            <p:cNvSpPr>
              <a:spLocks/>
            </p:cNvSpPr>
            <p:nvPr/>
          </p:nvSpPr>
          <p:spPr bwMode="auto">
            <a:xfrm>
              <a:off x="3090" y="330"/>
              <a:ext cx="633" cy="366"/>
            </a:xfrm>
            <a:custGeom>
              <a:avLst/>
              <a:gdLst>
                <a:gd name="T0" fmla="*/ 0 w 633"/>
                <a:gd name="T1" fmla="*/ 297 h 366"/>
                <a:gd name="T2" fmla="*/ 90 w 633"/>
                <a:gd name="T3" fmla="*/ 315 h 366"/>
                <a:gd name="T4" fmla="*/ 198 w 633"/>
                <a:gd name="T5" fmla="*/ 345 h 366"/>
                <a:gd name="T6" fmla="*/ 264 w 633"/>
                <a:gd name="T7" fmla="*/ 366 h 366"/>
                <a:gd name="T8" fmla="*/ 438 w 633"/>
                <a:gd name="T9" fmla="*/ 216 h 366"/>
                <a:gd name="T10" fmla="*/ 633 w 633"/>
                <a:gd name="T11" fmla="*/ 0 h 366"/>
                <a:gd name="T12" fmla="*/ 537 w 633"/>
                <a:gd name="T13" fmla="*/ 15 h 366"/>
                <a:gd name="T14" fmla="*/ 450 w 633"/>
                <a:gd name="T15" fmla="*/ 30 h 366"/>
                <a:gd name="T16" fmla="*/ 345 w 633"/>
                <a:gd name="T17" fmla="*/ 48 h 366"/>
                <a:gd name="T18" fmla="*/ 234 w 633"/>
                <a:gd name="T19" fmla="*/ 69 h 366"/>
                <a:gd name="T20" fmla="*/ 162 w 633"/>
                <a:gd name="T21" fmla="*/ 150 h 366"/>
                <a:gd name="T22" fmla="*/ 0 w 633"/>
                <a:gd name="T23" fmla="*/ 297 h 36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3"/>
                <a:gd name="T37" fmla="*/ 0 h 366"/>
                <a:gd name="T38" fmla="*/ 633 w 633"/>
                <a:gd name="T39" fmla="*/ 366 h 36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3" h="366">
                  <a:moveTo>
                    <a:pt x="0" y="297"/>
                  </a:moveTo>
                  <a:lnTo>
                    <a:pt x="90" y="315"/>
                  </a:lnTo>
                  <a:lnTo>
                    <a:pt x="198" y="345"/>
                  </a:lnTo>
                  <a:lnTo>
                    <a:pt x="264" y="366"/>
                  </a:lnTo>
                  <a:lnTo>
                    <a:pt x="438" y="216"/>
                  </a:lnTo>
                  <a:lnTo>
                    <a:pt x="633" y="0"/>
                  </a:lnTo>
                  <a:lnTo>
                    <a:pt x="537" y="15"/>
                  </a:lnTo>
                  <a:lnTo>
                    <a:pt x="450" y="30"/>
                  </a:lnTo>
                  <a:lnTo>
                    <a:pt x="345" y="48"/>
                  </a:lnTo>
                  <a:lnTo>
                    <a:pt x="234" y="69"/>
                  </a:lnTo>
                  <a:lnTo>
                    <a:pt x="162" y="150"/>
                  </a:lnTo>
                  <a:lnTo>
                    <a:pt x="0" y="297"/>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307409"/>
                                        </p:tgtEl>
                                        <p:attrNameLst>
                                          <p:attrName>style.visibility</p:attrName>
                                        </p:attrNameLst>
                                      </p:cBhvr>
                                      <p:to>
                                        <p:strVal val="visible"/>
                                      </p:to>
                                    </p:set>
                                    <p:animEffect transition="in" filter="wipe(down)">
                                      <p:cBhvr>
                                        <p:cTn id="7" dur="500"/>
                                        <p:tgtEl>
                                          <p:spTgt spid="307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Slide Number Placeholder 4"/>
          <p:cNvSpPr>
            <a:spLocks noGrp="1"/>
          </p:cNvSpPr>
          <p:nvPr>
            <p:ph type="sldNum" sz="quarter" idx="10"/>
          </p:nvPr>
        </p:nvSpPr>
        <p:spPr/>
        <p:txBody>
          <a:bodyPr/>
          <a:lstStyle/>
          <a:p>
            <a:pPr>
              <a:defRPr/>
            </a:pPr>
            <a:r>
              <a:rPr lang="en-US"/>
              <a:t>-</a:t>
            </a:r>
            <a:fld id="{2EB6F919-0204-4C1A-BCDC-A84B65E8684C}" type="slidenum">
              <a:rPr lang="ar-SA"/>
              <a:pPr>
                <a:defRPr/>
              </a:pPr>
              <a:t>14</a:t>
            </a:fld>
            <a:r>
              <a:rPr lang="en-US"/>
              <a:t>-</a:t>
            </a:r>
            <a:endParaRPr lang="en-US" sz="800">
              <a:effectLst>
                <a:outerShdw blurRad="38100" dist="38100" dir="2700000" algn="tl">
                  <a:srgbClr val="FFFFFF"/>
                </a:outerShdw>
              </a:effectLst>
            </a:endParaRPr>
          </a:p>
        </p:txBody>
      </p:sp>
      <p:sp>
        <p:nvSpPr>
          <p:cNvPr id="308618" name="Rectangle 394"/>
          <p:cNvSpPr>
            <a:spLocks noChangeArrowheads="1"/>
          </p:cNvSpPr>
          <p:nvPr/>
        </p:nvSpPr>
        <p:spPr bwMode="auto">
          <a:xfrm rot="301165">
            <a:off x="7029450" y="2727325"/>
            <a:ext cx="82550" cy="2289175"/>
          </a:xfrm>
          <a:prstGeom prst="rect">
            <a:avLst/>
          </a:prstGeom>
          <a:gradFill rotWithShape="0">
            <a:gsLst>
              <a:gs pos="0">
                <a:schemeClr val="accent1">
                  <a:gamma/>
                  <a:shade val="46275"/>
                  <a:invGamma/>
                </a:schemeClr>
              </a:gs>
              <a:gs pos="100000">
                <a:schemeClr val="accent1"/>
              </a:gs>
            </a:gsLst>
            <a:lin ang="18900000" scaled="1"/>
          </a:gradFill>
          <a:ln w="9525">
            <a:noFill/>
            <a:miter lim="800000"/>
            <a:headEnd/>
            <a:tailEnd/>
          </a:ln>
          <a:effectLst/>
        </p:spPr>
        <p:txBody>
          <a:bodyPr wrap="none" anchor="ctr"/>
          <a:lstStyle/>
          <a:p>
            <a:pPr>
              <a:defRPr/>
            </a:pPr>
            <a:endParaRPr lang="en-US"/>
          </a:p>
        </p:txBody>
      </p:sp>
      <p:sp>
        <p:nvSpPr>
          <p:cNvPr id="16388" name="Rectangle 2"/>
          <p:cNvSpPr>
            <a:spLocks noGrp="1" noChangeArrowheads="1"/>
          </p:cNvSpPr>
          <p:nvPr>
            <p:ph type="title"/>
          </p:nvPr>
        </p:nvSpPr>
        <p:spPr/>
        <p:txBody>
          <a:bodyPr/>
          <a:lstStyle/>
          <a:p>
            <a:r>
              <a:rPr lang="en-US" smtClean="0"/>
              <a:t>Types of VPNs</a:t>
            </a:r>
          </a:p>
        </p:txBody>
      </p:sp>
      <p:sp>
        <p:nvSpPr>
          <p:cNvPr id="308227" name="Rectangle 3"/>
          <p:cNvSpPr>
            <a:spLocks noGrp="1" noChangeArrowheads="1"/>
          </p:cNvSpPr>
          <p:nvPr>
            <p:ph type="body" sz="half" idx="1"/>
          </p:nvPr>
        </p:nvSpPr>
        <p:spPr>
          <a:xfrm>
            <a:off x="985838" y="1370013"/>
            <a:ext cx="4500562" cy="4573587"/>
          </a:xfrm>
        </p:spPr>
        <p:txBody>
          <a:bodyPr/>
          <a:lstStyle/>
          <a:p>
            <a:pPr>
              <a:defRPr/>
            </a:pPr>
            <a:r>
              <a:rPr lang="en-US" sz="2400" smtClean="0">
                <a:solidFill>
                  <a:schemeClr val="folHlink"/>
                </a:solidFill>
              </a:rPr>
              <a:t>Remote Access VPN</a:t>
            </a:r>
          </a:p>
          <a:p>
            <a:pPr>
              <a:defRPr/>
            </a:pPr>
            <a:r>
              <a:rPr lang="en-US" sz="2800" smtClean="0"/>
              <a:t>Site-to-Site VPN</a:t>
            </a:r>
          </a:p>
          <a:p>
            <a:pPr lvl="1">
              <a:defRPr/>
            </a:pPr>
            <a:r>
              <a:rPr lang="en-US" smtClean="0"/>
              <a:t>Connects multiple offices over Internet</a:t>
            </a:r>
          </a:p>
          <a:p>
            <a:pPr lvl="1">
              <a:defRPr/>
            </a:pPr>
            <a:r>
              <a:rPr lang="en-US" smtClean="0"/>
              <a:t>Reduces dependencies on frame relay and leased lines</a:t>
            </a:r>
          </a:p>
        </p:txBody>
      </p:sp>
      <p:grpSp>
        <p:nvGrpSpPr>
          <p:cNvPr id="16390" name="Group 5"/>
          <p:cNvGrpSpPr>
            <a:grpSpLocks/>
          </p:cNvGrpSpPr>
          <p:nvPr/>
        </p:nvGrpSpPr>
        <p:grpSpPr bwMode="auto">
          <a:xfrm flipH="1">
            <a:off x="7162800" y="1447800"/>
            <a:ext cx="1387475" cy="819150"/>
            <a:chOff x="3659" y="1323"/>
            <a:chExt cx="874" cy="516"/>
          </a:xfrm>
        </p:grpSpPr>
        <p:sp>
          <p:nvSpPr>
            <p:cNvPr id="16872" name="Line 6"/>
            <p:cNvSpPr>
              <a:spLocks noChangeShapeType="1"/>
            </p:cNvSpPr>
            <p:nvPr/>
          </p:nvSpPr>
          <p:spPr bwMode="auto">
            <a:xfrm rot="877658">
              <a:off x="4217" y="1670"/>
              <a:ext cx="229" cy="169"/>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6873" name="Line 7"/>
            <p:cNvSpPr>
              <a:spLocks noChangeShapeType="1"/>
            </p:cNvSpPr>
            <p:nvPr/>
          </p:nvSpPr>
          <p:spPr bwMode="auto">
            <a:xfrm rot="877658">
              <a:off x="4341" y="1400"/>
              <a:ext cx="192" cy="144"/>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6874" name="Line 8"/>
            <p:cNvSpPr>
              <a:spLocks noChangeShapeType="1"/>
            </p:cNvSpPr>
            <p:nvPr/>
          </p:nvSpPr>
          <p:spPr bwMode="auto">
            <a:xfrm rot="877658" flipV="1">
              <a:off x="4216" y="1323"/>
              <a:ext cx="240" cy="118"/>
            </a:xfrm>
            <a:prstGeom prst="line">
              <a:avLst/>
            </a:prstGeom>
            <a:noFill/>
            <a:ln w="28575">
              <a:solidFill>
                <a:schemeClr val="tx1"/>
              </a:solidFill>
              <a:round/>
              <a:headEnd/>
              <a:tailEnd/>
            </a:ln>
          </p:spPr>
          <p:txBody>
            <a:bodyPr wrap="none" anchor="ctr"/>
            <a:lstStyle/>
            <a:p>
              <a:endParaRPr lang="en-US"/>
            </a:p>
          </p:txBody>
        </p:sp>
        <p:sp>
          <p:nvSpPr>
            <p:cNvPr id="16875" name="Line 9"/>
            <p:cNvSpPr>
              <a:spLocks noChangeShapeType="1"/>
            </p:cNvSpPr>
            <p:nvPr/>
          </p:nvSpPr>
          <p:spPr bwMode="auto">
            <a:xfrm rot="1038176" flipV="1">
              <a:off x="3958" y="1487"/>
              <a:ext cx="518" cy="323"/>
            </a:xfrm>
            <a:prstGeom prst="line">
              <a:avLst/>
            </a:prstGeom>
            <a:noFill/>
            <a:ln w="28575">
              <a:solidFill>
                <a:schemeClr val="tx1"/>
              </a:solidFill>
              <a:round/>
              <a:headEnd/>
              <a:tailEnd/>
            </a:ln>
          </p:spPr>
          <p:txBody>
            <a:bodyPr wrap="none" anchor="ctr"/>
            <a:lstStyle/>
            <a:p>
              <a:endParaRPr lang="en-US"/>
            </a:p>
          </p:txBody>
        </p:sp>
        <p:sp>
          <p:nvSpPr>
            <p:cNvPr id="16876" name="Freeform 10"/>
            <p:cNvSpPr>
              <a:spLocks noChangeArrowheads="1"/>
            </p:cNvSpPr>
            <p:nvPr/>
          </p:nvSpPr>
          <p:spPr bwMode="auto">
            <a:xfrm rot="877658">
              <a:off x="3754" y="1551"/>
              <a:ext cx="201" cy="147"/>
            </a:xfrm>
            <a:custGeom>
              <a:avLst/>
              <a:gdLst>
                <a:gd name="T0" fmla="*/ 0 w 228"/>
                <a:gd name="T1" fmla="*/ 0 h 180"/>
                <a:gd name="T2" fmla="*/ 84 w 228"/>
                <a:gd name="T3" fmla="*/ 35 h 180"/>
                <a:gd name="T4" fmla="*/ 0 60000 65536"/>
                <a:gd name="T5" fmla="*/ 0 60000 65536"/>
                <a:gd name="T6" fmla="*/ 0 w 228"/>
                <a:gd name="T7" fmla="*/ 0 h 180"/>
                <a:gd name="T8" fmla="*/ 228 w 228"/>
                <a:gd name="T9" fmla="*/ 180 h 180"/>
              </a:gdLst>
              <a:ahLst/>
              <a:cxnLst>
                <a:cxn ang="T4">
                  <a:pos x="T0" y="T1"/>
                </a:cxn>
                <a:cxn ang="T5">
                  <a:pos x="T2" y="T3"/>
                </a:cxn>
              </a:cxnLst>
              <a:rect l="T6" t="T7" r="T8" b="T9"/>
              <a:pathLst>
                <a:path w="228" h="180">
                  <a:moveTo>
                    <a:pt x="0" y="0"/>
                  </a:moveTo>
                  <a:lnTo>
                    <a:pt x="228" y="180"/>
                  </a:lnTo>
                </a:path>
              </a:pathLst>
            </a:custGeom>
            <a:noFill/>
            <a:ln w="25400" cap="flat" cmpd="sng">
              <a:solidFill>
                <a:schemeClr val="tx1"/>
              </a:solidFill>
              <a:prstDash val="solid"/>
              <a:round/>
              <a:headEnd type="none" w="sm" len="sm"/>
              <a:tailEnd type="none" w="sm" len="sm"/>
            </a:ln>
          </p:spPr>
          <p:txBody>
            <a:bodyPr wrap="none" anchor="ctr"/>
            <a:lstStyle/>
            <a:p>
              <a:endParaRPr lang="en-US"/>
            </a:p>
          </p:txBody>
        </p:sp>
        <p:sp>
          <p:nvSpPr>
            <p:cNvPr id="16877" name="Line 11"/>
            <p:cNvSpPr>
              <a:spLocks noChangeShapeType="1"/>
            </p:cNvSpPr>
            <p:nvPr/>
          </p:nvSpPr>
          <p:spPr bwMode="auto">
            <a:xfrm rot="877658" flipV="1">
              <a:off x="3659" y="1476"/>
              <a:ext cx="241" cy="118"/>
            </a:xfrm>
            <a:prstGeom prst="line">
              <a:avLst/>
            </a:prstGeom>
            <a:noFill/>
            <a:ln w="28575">
              <a:solidFill>
                <a:schemeClr val="tx1"/>
              </a:solidFill>
              <a:round/>
              <a:headEnd/>
              <a:tailEnd/>
            </a:ln>
          </p:spPr>
          <p:txBody>
            <a:bodyPr wrap="none" anchor="ctr"/>
            <a:lstStyle/>
            <a:p>
              <a:endParaRPr lang="en-US"/>
            </a:p>
          </p:txBody>
        </p:sp>
      </p:grpSp>
      <p:grpSp>
        <p:nvGrpSpPr>
          <p:cNvPr id="16391" name="Group 12"/>
          <p:cNvGrpSpPr>
            <a:grpSpLocks/>
          </p:cNvGrpSpPr>
          <p:nvPr/>
        </p:nvGrpSpPr>
        <p:grpSpPr bwMode="auto">
          <a:xfrm flipV="1">
            <a:off x="5791200" y="5334000"/>
            <a:ext cx="1387475" cy="819150"/>
            <a:chOff x="3659" y="1323"/>
            <a:chExt cx="874" cy="516"/>
          </a:xfrm>
        </p:grpSpPr>
        <p:sp>
          <p:nvSpPr>
            <p:cNvPr id="16866" name="Line 13"/>
            <p:cNvSpPr>
              <a:spLocks noChangeShapeType="1"/>
            </p:cNvSpPr>
            <p:nvPr/>
          </p:nvSpPr>
          <p:spPr bwMode="auto">
            <a:xfrm rot="877658">
              <a:off x="4217" y="1670"/>
              <a:ext cx="229" cy="169"/>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6867" name="Line 14"/>
            <p:cNvSpPr>
              <a:spLocks noChangeShapeType="1"/>
            </p:cNvSpPr>
            <p:nvPr/>
          </p:nvSpPr>
          <p:spPr bwMode="auto">
            <a:xfrm rot="877658">
              <a:off x="4341" y="1400"/>
              <a:ext cx="192" cy="144"/>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6868" name="Line 15"/>
            <p:cNvSpPr>
              <a:spLocks noChangeShapeType="1"/>
            </p:cNvSpPr>
            <p:nvPr/>
          </p:nvSpPr>
          <p:spPr bwMode="auto">
            <a:xfrm rot="877658" flipV="1">
              <a:off x="4216" y="1323"/>
              <a:ext cx="240" cy="118"/>
            </a:xfrm>
            <a:prstGeom prst="line">
              <a:avLst/>
            </a:prstGeom>
            <a:noFill/>
            <a:ln w="28575">
              <a:solidFill>
                <a:schemeClr val="tx1"/>
              </a:solidFill>
              <a:round/>
              <a:headEnd/>
              <a:tailEnd/>
            </a:ln>
          </p:spPr>
          <p:txBody>
            <a:bodyPr wrap="none" anchor="ctr"/>
            <a:lstStyle/>
            <a:p>
              <a:endParaRPr lang="en-US"/>
            </a:p>
          </p:txBody>
        </p:sp>
        <p:sp>
          <p:nvSpPr>
            <p:cNvPr id="16869" name="Line 16"/>
            <p:cNvSpPr>
              <a:spLocks noChangeShapeType="1"/>
            </p:cNvSpPr>
            <p:nvPr/>
          </p:nvSpPr>
          <p:spPr bwMode="auto">
            <a:xfrm rot="1038176" flipV="1">
              <a:off x="3958" y="1487"/>
              <a:ext cx="518" cy="323"/>
            </a:xfrm>
            <a:prstGeom prst="line">
              <a:avLst/>
            </a:prstGeom>
            <a:noFill/>
            <a:ln w="28575">
              <a:solidFill>
                <a:schemeClr val="tx1"/>
              </a:solidFill>
              <a:round/>
              <a:headEnd/>
              <a:tailEnd/>
            </a:ln>
          </p:spPr>
          <p:txBody>
            <a:bodyPr wrap="none" anchor="ctr"/>
            <a:lstStyle/>
            <a:p>
              <a:endParaRPr lang="en-US"/>
            </a:p>
          </p:txBody>
        </p:sp>
        <p:sp>
          <p:nvSpPr>
            <p:cNvPr id="16870" name="Freeform 17"/>
            <p:cNvSpPr>
              <a:spLocks noChangeArrowheads="1"/>
            </p:cNvSpPr>
            <p:nvPr/>
          </p:nvSpPr>
          <p:spPr bwMode="auto">
            <a:xfrm rot="877658">
              <a:off x="3754" y="1551"/>
              <a:ext cx="201" cy="147"/>
            </a:xfrm>
            <a:custGeom>
              <a:avLst/>
              <a:gdLst>
                <a:gd name="T0" fmla="*/ 0 w 228"/>
                <a:gd name="T1" fmla="*/ 0 h 180"/>
                <a:gd name="T2" fmla="*/ 84 w 228"/>
                <a:gd name="T3" fmla="*/ 35 h 180"/>
                <a:gd name="T4" fmla="*/ 0 60000 65536"/>
                <a:gd name="T5" fmla="*/ 0 60000 65536"/>
                <a:gd name="T6" fmla="*/ 0 w 228"/>
                <a:gd name="T7" fmla="*/ 0 h 180"/>
                <a:gd name="T8" fmla="*/ 228 w 228"/>
                <a:gd name="T9" fmla="*/ 180 h 180"/>
              </a:gdLst>
              <a:ahLst/>
              <a:cxnLst>
                <a:cxn ang="T4">
                  <a:pos x="T0" y="T1"/>
                </a:cxn>
                <a:cxn ang="T5">
                  <a:pos x="T2" y="T3"/>
                </a:cxn>
              </a:cxnLst>
              <a:rect l="T6" t="T7" r="T8" b="T9"/>
              <a:pathLst>
                <a:path w="228" h="180">
                  <a:moveTo>
                    <a:pt x="0" y="0"/>
                  </a:moveTo>
                  <a:lnTo>
                    <a:pt x="228" y="180"/>
                  </a:lnTo>
                </a:path>
              </a:pathLst>
            </a:custGeom>
            <a:noFill/>
            <a:ln w="25400" cap="flat" cmpd="sng">
              <a:solidFill>
                <a:schemeClr val="tx1"/>
              </a:solidFill>
              <a:prstDash val="solid"/>
              <a:round/>
              <a:headEnd type="none" w="sm" len="sm"/>
              <a:tailEnd type="none" w="sm" len="sm"/>
            </a:ln>
          </p:spPr>
          <p:txBody>
            <a:bodyPr wrap="none" anchor="ctr"/>
            <a:lstStyle/>
            <a:p>
              <a:endParaRPr lang="en-US"/>
            </a:p>
          </p:txBody>
        </p:sp>
        <p:sp>
          <p:nvSpPr>
            <p:cNvPr id="16871" name="Line 18"/>
            <p:cNvSpPr>
              <a:spLocks noChangeShapeType="1"/>
            </p:cNvSpPr>
            <p:nvPr/>
          </p:nvSpPr>
          <p:spPr bwMode="auto">
            <a:xfrm rot="877658" flipV="1">
              <a:off x="3659" y="1476"/>
              <a:ext cx="241" cy="118"/>
            </a:xfrm>
            <a:prstGeom prst="line">
              <a:avLst/>
            </a:prstGeom>
            <a:noFill/>
            <a:ln w="28575">
              <a:solidFill>
                <a:schemeClr val="tx1"/>
              </a:solidFill>
              <a:round/>
              <a:headEnd/>
              <a:tailEnd/>
            </a:ln>
          </p:spPr>
          <p:txBody>
            <a:bodyPr wrap="none" anchor="ctr"/>
            <a:lstStyle/>
            <a:p>
              <a:endParaRPr lang="en-US"/>
            </a:p>
          </p:txBody>
        </p:sp>
      </p:grpSp>
      <p:grpSp>
        <p:nvGrpSpPr>
          <p:cNvPr id="16392" name="Group 19"/>
          <p:cNvGrpSpPr>
            <a:grpSpLocks/>
          </p:cNvGrpSpPr>
          <p:nvPr/>
        </p:nvGrpSpPr>
        <p:grpSpPr bwMode="auto">
          <a:xfrm rot="-245528">
            <a:off x="7620000" y="990600"/>
            <a:ext cx="238125" cy="309563"/>
            <a:chOff x="2202" y="666"/>
            <a:chExt cx="2001" cy="2601"/>
          </a:xfrm>
        </p:grpSpPr>
        <p:sp>
          <p:nvSpPr>
            <p:cNvPr id="16839" name="Freeform 20"/>
            <p:cNvSpPr>
              <a:spLocks/>
            </p:cNvSpPr>
            <p:nvPr/>
          </p:nvSpPr>
          <p:spPr bwMode="auto">
            <a:xfrm>
              <a:off x="2236" y="871"/>
              <a:ext cx="692" cy="2345"/>
            </a:xfrm>
            <a:custGeom>
              <a:avLst/>
              <a:gdLst>
                <a:gd name="T0" fmla="*/ 692 w 692"/>
                <a:gd name="T1" fmla="*/ 2345 h 2345"/>
                <a:gd name="T2" fmla="*/ 116 w 692"/>
                <a:gd name="T3" fmla="*/ 2009 h 2345"/>
                <a:gd name="T4" fmla="*/ 116 w 692"/>
                <a:gd name="T5" fmla="*/ 1385 h 2345"/>
                <a:gd name="T6" fmla="*/ 164 w 692"/>
                <a:gd name="T7" fmla="*/ 1193 h 2345"/>
                <a:gd name="T8" fmla="*/ 0 w 692"/>
                <a:gd name="T9" fmla="*/ 0 h 2345"/>
                <a:gd name="T10" fmla="*/ 673 w 692"/>
                <a:gd name="T11" fmla="*/ 222 h 2345"/>
                <a:gd name="T12" fmla="*/ 692 w 692"/>
                <a:gd name="T13" fmla="*/ 2345 h 2345"/>
                <a:gd name="T14" fmla="*/ 0 60000 65536"/>
                <a:gd name="T15" fmla="*/ 0 60000 65536"/>
                <a:gd name="T16" fmla="*/ 0 60000 65536"/>
                <a:gd name="T17" fmla="*/ 0 60000 65536"/>
                <a:gd name="T18" fmla="*/ 0 60000 65536"/>
                <a:gd name="T19" fmla="*/ 0 60000 65536"/>
                <a:gd name="T20" fmla="*/ 0 60000 65536"/>
                <a:gd name="T21" fmla="*/ 0 w 692"/>
                <a:gd name="T22" fmla="*/ 0 h 2345"/>
                <a:gd name="T23" fmla="*/ 692 w 692"/>
                <a:gd name="T24" fmla="*/ 2345 h 23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2" h="2345">
                  <a:moveTo>
                    <a:pt x="692" y="2345"/>
                  </a:moveTo>
                  <a:lnTo>
                    <a:pt x="116" y="2009"/>
                  </a:lnTo>
                  <a:lnTo>
                    <a:pt x="116" y="1385"/>
                  </a:lnTo>
                  <a:lnTo>
                    <a:pt x="164" y="1193"/>
                  </a:lnTo>
                  <a:lnTo>
                    <a:pt x="0" y="0"/>
                  </a:lnTo>
                  <a:lnTo>
                    <a:pt x="673" y="222"/>
                  </a:lnTo>
                  <a:lnTo>
                    <a:pt x="692" y="2345"/>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840" name="Freeform 21"/>
            <p:cNvSpPr>
              <a:spLocks/>
            </p:cNvSpPr>
            <p:nvPr/>
          </p:nvSpPr>
          <p:spPr bwMode="auto">
            <a:xfrm>
              <a:off x="2928" y="768"/>
              <a:ext cx="1248" cy="2448"/>
            </a:xfrm>
            <a:custGeom>
              <a:avLst/>
              <a:gdLst>
                <a:gd name="T0" fmla="*/ 0 w 1248"/>
                <a:gd name="T1" fmla="*/ 336 h 2448"/>
                <a:gd name="T2" fmla="*/ 0 w 1248"/>
                <a:gd name="T3" fmla="*/ 2448 h 2448"/>
                <a:gd name="T4" fmla="*/ 1200 w 1248"/>
                <a:gd name="T5" fmla="*/ 1968 h 2448"/>
                <a:gd name="T6" fmla="*/ 1008 w 1248"/>
                <a:gd name="T7" fmla="*/ 1008 h 2448"/>
                <a:gd name="T8" fmla="*/ 1248 w 1248"/>
                <a:gd name="T9" fmla="*/ 0 h 2448"/>
                <a:gd name="T10" fmla="*/ 0 w 1248"/>
                <a:gd name="T11" fmla="*/ 336 h 2448"/>
                <a:gd name="T12" fmla="*/ 0 60000 65536"/>
                <a:gd name="T13" fmla="*/ 0 60000 65536"/>
                <a:gd name="T14" fmla="*/ 0 60000 65536"/>
                <a:gd name="T15" fmla="*/ 0 60000 65536"/>
                <a:gd name="T16" fmla="*/ 0 60000 65536"/>
                <a:gd name="T17" fmla="*/ 0 60000 65536"/>
                <a:gd name="T18" fmla="*/ 0 w 1248"/>
                <a:gd name="T19" fmla="*/ 0 h 2448"/>
                <a:gd name="T20" fmla="*/ 1248 w 1248"/>
                <a:gd name="T21" fmla="*/ 2448 h 2448"/>
              </a:gdLst>
              <a:ahLst/>
              <a:cxnLst>
                <a:cxn ang="T12">
                  <a:pos x="T0" y="T1"/>
                </a:cxn>
                <a:cxn ang="T13">
                  <a:pos x="T2" y="T3"/>
                </a:cxn>
                <a:cxn ang="T14">
                  <a:pos x="T4" y="T5"/>
                </a:cxn>
                <a:cxn ang="T15">
                  <a:pos x="T6" y="T7"/>
                </a:cxn>
                <a:cxn ang="T16">
                  <a:pos x="T8" y="T9"/>
                </a:cxn>
                <a:cxn ang="T17">
                  <a:pos x="T10" y="T11"/>
                </a:cxn>
              </a:cxnLst>
              <a:rect l="T18" t="T19" r="T20" b="T21"/>
              <a:pathLst>
                <a:path w="1248" h="2448">
                  <a:moveTo>
                    <a:pt x="0" y="336"/>
                  </a:moveTo>
                  <a:lnTo>
                    <a:pt x="0" y="2448"/>
                  </a:lnTo>
                  <a:lnTo>
                    <a:pt x="1200" y="1968"/>
                  </a:lnTo>
                  <a:lnTo>
                    <a:pt x="1008" y="1008"/>
                  </a:lnTo>
                  <a:lnTo>
                    <a:pt x="1248" y="0"/>
                  </a:lnTo>
                  <a:lnTo>
                    <a:pt x="0" y="336"/>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841" name="Freeform 22"/>
            <p:cNvSpPr>
              <a:spLocks/>
            </p:cNvSpPr>
            <p:nvPr/>
          </p:nvSpPr>
          <p:spPr bwMode="auto">
            <a:xfrm>
              <a:off x="2326" y="2051"/>
              <a:ext cx="603" cy="1216"/>
            </a:xfrm>
            <a:custGeom>
              <a:avLst/>
              <a:gdLst>
                <a:gd name="T0" fmla="*/ 1 w 1204"/>
                <a:gd name="T1" fmla="*/ 1 h 2432"/>
                <a:gd name="T2" fmla="*/ 1 w 1204"/>
                <a:gd name="T3" fmla="*/ 0 h 2432"/>
                <a:gd name="T4" fmla="*/ 0 w 1204"/>
                <a:gd name="T5" fmla="*/ 7 h 2432"/>
                <a:gd name="T6" fmla="*/ 5 w 1204"/>
                <a:gd name="T7" fmla="*/ 10 h 2432"/>
                <a:gd name="T8" fmla="*/ 5 w 1204"/>
                <a:gd name="T9" fmla="*/ 9 h 2432"/>
                <a:gd name="T10" fmla="*/ 5 w 1204"/>
                <a:gd name="T11" fmla="*/ 9 h 2432"/>
                <a:gd name="T12" fmla="*/ 5 w 1204"/>
                <a:gd name="T13" fmla="*/ 10 h 2432"/>
                <a:gd name="T14" fmla="*/ 1 w 1204"/>
                <a:gd name="T15" fmla="*/ 6 h 2432"/>
                <a:gd name="T16" fmla="*/ 1 w 1204"/>
                <a:gd name="T17" fmla="*/ 1 h 2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04"/>
                <a:gd name="T28" fmla="*/ 0 h 2432"/>
                <a:gd name="T29" fmla="*/ 1204 w 1204"/>
                <a:gd name="T30" fmla="*/ 2432 h 24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04" h="2432">
                  <a:moveTo>
                    <a:pt x="162" y="3"/>
                  </a:moveTo>
                  <a:lnTo>
                    <a:pt x="104" y="0"/>
                  </a:lnTo>
                  <a:lnTo>
                    <a:pt x="0" y="1669"/>
                  </a:lnTo>
                  <a:lnTo>
                    <a:pt x="1193" y="2432"/>
                  </a:lnTo>
                  <a:lnTo>
                    <a:pt x="1204" y="2292"/>
                  </a:lnTo>
                  <a:lnTo>
                    <a:pt x="1146" y="2286"/>
                  </a:lnTo>
                  <a:lnTo>
                    <a:pt x="1143" y="2328"/>
                  </a:lnTo>
                  <a:lnTo>
                    <a:pt x="58" y="1633"/>
                  </a:lnTo>
                  <a:lnTo>
                    <a:pt x="162" y="3"/>
                  </a:lnTo>
                  <a:close/>
                </a:path>
              </a:pathLst>
            </a:custGeom>
            <a:solidFill>
              <a:srgbClr val="000000"/>
            </a:solidFill>
            <a:ln w="9525">
              <a:noFill/>
              <a:round/>
              <a:headEnd/>
              <a:tailEnd/>
            </a:ln>
          </p:spPr>
          <p:txBody>
            <a:bodyPr/>
            <a:lstStyle/>
            <a:p>
              <a:endParaRPr lang="en-US"/>
            </a:p>
          </p:txBody>
        </p:sp>
        <p:sp>
          <p:nvSpPr>
            <p:cNvPr id="16842" name="Freeform 23"/>
            <p:cNvSpPr>
              <a:spLocks/>
            </p:cNvSpPr>
            <p:nvPr/>
          </p:nvSpPr>
          <p:spPr bwMode="auto">
            <a:xfrm>
              <a:off x="2202" y="858"/>
              <a:ext cx="206" cy="1196"/>
            </a:xfrm>
            <a:custGeom>
              <a:avLst/>
              <a:gdLst>
                <a:gd name="T0" fmla="*/ 0 w 410"/>
                <a:gd name="T1" fmla="*/ 0 h 2391"/>
                <a:gd name="T2" fmla="*/ 2 w 410"/>
                <a:gd name="T3" fmla="*/ 10 h 2391"/>
                <a:gd name="T4" fmla="*/ 2 w 410"/>
                <a:gd name="T5" fmla="*/ 10 h 2391"/>
                <a:gd name="T6" fmla="*/ 2 w 410"/>
                <a:gd name="T7" fmla="*/ 10 h 2391"/>
                <a:gd name="T8" fmla="*/ 1 w 410"/>
                <a:gd name="T9" fmla="*/ 1 h 2391"/>
                <a:gd name="T10" fmla="*/ 0 w 410"/>
                <a:gd name="T11" fmla="*/ 0 h 2391"/>
                <a:gd name="T12" fmla="*/ 0 60000 65536"/>
                <a:gd name="T13" fmla="*/ 0 60000 65536"/>
                <a:gd name="T14" fmla="*/ 0 60000 65536"/>
                <a:gd name="T15" fmla="*/ 0 60000 65536"/>
                <a:gd name="T16" fmla="*/ 0 60000 65536"/>
                <a:gd name="T17" fmla="*/ 0 60000 65536"/>
                <a:gd name="T18" fmla="*/ 0 w 410"/>
                <a:gd name="T19" fmla="*/ 0 h 2391"/>
                <a:gd name="T20" fmla="*/ 410 w 410"/>
                <a:gd name="T21" fmla="*/ 2391 h 2391"/>
              </a:gdLst>
              <a:ahLst/>
              <a:cxnLst>
                <a:cxn ang="T12">
                  <a:pos x="T0" y="T1"/>
                </a:cxn>
                <a:cxn ang="T13">
                  <a:pos x="T2" y="T3"/>
                </a:cxn>
                <a:cxn ang="T14">
                  <a:pos x="T4" y="T5"/>
                </a:cxn>
                <a:cxn ang="T15">
                  <a:pos x="T6" y="T7"/>
                </a:cxn>
                <a:cxn ang="T16">
                  <a:pos x="T8" y="T9"/>
                </a:cxn>
                <a:cxn ang="T17">
                  <a:pos x="T10" y="T11"/>
                </a:cxn>
              </a:cxnLst>
              <a:rect l="T18" t="T19" r="T20" b="T21"/>
              <a:pathLst>
                <a:path w="410" h="2391">
                  <a:moveTo>
                    <a:pt x="0" y="0"/>
                  </a:moveTo>
                  <a:lnTo>
                    <a:pt x="352" y="2391"/>
                  </a:lnTo>
                  <a:lnTo>
                    <a:pt x="410" y="2389"/>
                  </a:lnTo>
                  <a:lnTo>
                    <a:pt x="410" y="2385"/>
                  </a:lnTo>
                  <a:lnTo>
                    <a:pt x="69" y="81"/>
                  </a:lnTo>
                  <a:lnTo>
                    <a:pt x="0" y="0"/>
                  </a:lnTo>
                  <a:close/>
                </a:path>
              </a:pathLst>
            </a:custGeom>
            <a:solidFill>
              <a:srgbClr val="000000"/>
            </a:solidFill>
            <a:ln w="9525">
              <a:noFill/>
              <a:round/>
              <a:headEnd/>
              <a:tailEnd/>
            </a:ln>
          </p:spPr>
          <p:txBody>
            <a:bodyPr/>
            <a:lstStyle/>
            <a:p>
              <a:endParaRPr lang="en-US"/>
            </a:p>
          </p:txBody>
        </p:sp>
        <p:sp>
          <p:nvSpPr>
            <p:cNvPr id="16843" name="Freeform 24"/>
            <p:cNvSpPr>
              <a:spLocks/>
            </p:cNvSpPr>
            <p:nvPr/>
          </p:nvSpPr>
          <p:spPr bwMode="auto">
            <a:xfrm>
              <a:off x="2916" y="751"/>
              <a:ext cx="1287" cy="2503"/>
            </a:xfrm>
            <a:custGeom>
              <a:avLst/>
              <a:gdLst>
                <a:gd name="T0" fmla="*/ 1 w 2574"/>
                <a:gd name="T1" fmla="*/ 20 h 5006"/>
                <a:gd name="T2" fmla="*/ 1 w 2574"/>
                <a:gd name="T3" fmla="*/ 20 h 5006"/>
                <a:gd name="T4" fmla="*/ 10 w 2574"/>
                <a:gd name="T5" fmla="*/ 16 h 5006"/>
                <a:gd name="T6" fmla="*/ 9 w 2574"/>
                <a:gd name="T7" fmla="*/ 9 h 5006"/>
                <a:gd name="T8" fmla="*/ 10 w 2574"/>
                <a:gd name="T9" fmla="*/ 0 h 5006"/>
                <a:gd name="T10" fmla="*/ 0 w 2574"/>
                <a:gd name="T11" fmla="*/ 3 h 5006"/>
                <a:gd name="T12" fmla="*/ 1 w 2574"/>
                <a:gd name="T13" fmla="*/ 3 h 5006"/>
                <a:gd name="T14" fmla="*/ 10 w 2574"/>
                <a:gd name="T15" fmla="*/ 1 h 5006"/>
                <a:gd name="T16" fmla="*/ 8 w 2574"/>
                <a:gd name="T17" fmla="*/ 9 h 5006"/>
                <a:gd name="T18" fmla="*/ 10 w 2574"/>
                <a:gd name="T19" fmla="*/ 16 h 5006"/>
                <a:gd name="T20" fmla="*/ 1 w 2574"/>
                <a:gd name="T21" fmla="*/ 20 h 50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74"/>
                <a:gd name="T34" fmla="*/ 0 h 5006"/>
                <a:gd name="T35" fmla="*/ 2574 w 2574"/>
                <a:gd name="T36" fmla="*/ 5006 h 50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74" h="5006">
                  <a:moveTo>
                    <a:pt x="18" y="4944"/>
                  </a:moveTo>
                  <a:lnTo>
                    <a:pt x="36" y="5006"/>
                  </a:lnTo>
                  <a:lnTo>
                    <a:pt x="2394" y="4015"/>
                  </a:lnTo>
                  <a:lnTo>
                    <a:pt x="2098" y="2069"/>
                  </a:lnTo>
                  <a:lnTo>
                    <a:pt x="2574" y="0"/>
                  </a:lnTo>
                  <a:lnTo>
                    <a:pt x="0" y="620"/>
                  </a:lnTo>
                  <a:lnTo>
                    <a:pt x="56" y="675"/>
                  </a:lnTo>
                  <a:lnTo>
                    <a:pt x="2498" y="85"/>
                  </a:lnTo>
                  <a:lnTo>
                    <a:pt x="2040" y="2075"/>
                  </a:lnTo>
                  <a:lnTo>
                    <a:pt x="2330" y="3973"/>
                  </a:lnTo>
                  <a:lnTo>
                    <a:pt x="18" y="4944"/>
                  </a:lnTo>
                  <a:close/>
                </a:path>
              </a:pathLst>
            </a:custGeom>
            <a:solidFill>
              <a:srgbClr val="000000"/>
            </a:solidFill>
            <a:ln w="9525">
              <a:noFill/>
              <a:round/>
              <a:headEnd/>
              <a:tailEnd/>
            </a:ln>
          </p:spPr>
          <p:txBody>
            <a:bodyPr/>
            <a:lstStyle/>
            <a:p>
              <a:endParaRPr lang="en-US"/>
            </a:p>
          </p:txBody>
        </p:sp>
        <p:sp>
          <p:nvSpPr>
            <p:cNvPr id="16844" name="Freeform 25"/>
            <p:cNvSpPr>
              <a:spLocks/>
            </p:cNvSpPr>
            <p:nvPr/>
          </p:nvSpPr>
          <p:spPr bwMode="auto">
            <a:xfrm>
              <a:off x="2916" y="1061"/>
              <a:ext cx="29" cy="2200"/>
            </a:xfrm>
            <a:custGeom>
              <a:avLst/>
              <a:gdLst>
                <a:gd name="T0" fmla="*/ 1 w 58"/>
                <a:gd name="T1" fmla="*/ 0 h 4401"/>
                <a:gd name="T2" fmla="*/ 0 w 58"/>
                <a:gd name="T3" fmla="*/ 17 h 4401"/>
                <a:gd name="T4" fmla="*/ 1 w 58"/>
                <a:gd name="T5" fmla="*/ 17 h 4401"/>
                <a:gd name="T6" fmla="*/ 1 w 58"/>
                <a:gd name="T7" fmla="*/ 16 h 4401"/>
                <a:gd name="T8" fmla="*/ 1 w 58"/>
                <a:gd name="T9" fmla="*/ 0 h 4401"/>
                <a:gd name="T10" fmla="*/ 1 w 58"/>
                <a:gd name="T11" fmla="*/ 0 h 4401"/>
                <a:gd name="T12" fmla="*/ 0 60000 65536"/>
                <a:gd name="T13" fmla="*/ 0 60000 65536"/>
                <a:gd name="T14" fmla="*/ 0 60000 65536"/>
                <a:gd name="T15" fmla="*/ 0 60000 65536"/>
                <a:gd name="T16" fmla="*/ 0 60000 65536"/>
                <a:gd name="T17" fmla="*/ 0 60000 65536"/>
                <a:gd name="T18" fmla="*/ 0 w 58"/>
                <a:gd name="T19" fmla="*/ 0 h 4401"/>
                <a:gd name="T20" fmla="*/ 58 w 58"/>
                <a:gd name="T21" fmla="*/ 4401 h 4401"/>
              </a:gdLst>
              <a:ahLst/>
              <a:cxnLst>
                <a:cxn ang="T12">
                  <a:pos x="T0" y="T1"/>
                </a:cxn>
                <a:cxn ang="T13">
                  <a:pos x="T2" y="T3"/>
                </a:cxn>
                <a:cxn ang="T14">
                  <a:pos x="T4" y="T5"/>
                </a:cxn>
                <a:cxn ang="T15">
                  <a:pos x="T6" y="T7"/>
                </a:cxn>
                <a:cxn ang="T16">
                  <a:pos x="T8" y="T9"/>
                </a:cxn>
                <a:cxn ang="T17">
                  <a:pos x="T10" y="T11"/>
                </a:cxn>
              </a:cxnLst>
              <a:rect l="T18" t="T19" r="T20" b="T21"/>
              <a:pathLst>
                <a:path w="58" h="4401">
                  <a:moveTo>
                    <a:pt x="2" y="0"/>
                  </a:moveTo>
                  <a:lnTo>
                    <a:pt x="0" y="4401"/>
                  </a:lnTo>
                  <a:lnTo>
                    <a:pt x="38" y="4386"/>
                  </a:lnTo>
                  <a:lnTo>
                    <a:pt x="58" y="4310"/>
                  </a:lnTo>
                  <a:lnTo>
                    <a:pt x="58" y="55"/>
                  </a:lnTo>
                  <a:lnTo>
                    <a:pt x="2" y="0"/>
                  </a:lnTo>
                  <a:close/>
                </a:path>
              </a:pathLst>
            </a:custGeom>
            <a:solidFill>
              <a:srgbClr val="000000"/>
            </a:solidFill>
            <a:ln w="9525">
              <a:noFill/>
              <a:round/>
              <a:headEnd/>
              <a:tailEnd/>
            </a:ln>
          </p:spPr>
          <p:txBody>
            <a:bodyPr/>
            <a:lstStyle/>
            <a:p>
              <a:endParaRPr lang="en-US"/>
            </a:p>
          </p:txBody>
        </p:sp>
        <p:sp>
          <p:nvSpPr>
            <p:cNvPr id="16845" name="Freeform 26"/>
            <p:cNvSpPr>
              <a:spLocks/>
            </p:cNvSpPr>
            <p:nvPr/>
          </p:nvSpPr>
          <p:spPr bwMode="auto">
            <a:xfrm>
              <a:off x="2205" y="666"/>
              <a:ext cx="1982" cy="425"/>
            </a:xfrm>
            <a:custGeom>
              <a:avLst/>
              <a:gdLst>
                <a:gd name="T0" fmla="*/ 0 w 3964"/>
                <a:gd name="T1" fmla="*/ 1 h 851"/>
                <a:gd name="T2" fmla="*/ 1 w 3964"/>
                <a:gd name="T3" fmla="*/ 1 h 851"/>
                <a:gd name="T4" fmla="*/ 12 w 3964"/>
                <a:gd name="T5" fmla="*/ 0 h 851"/>
                <a:gd name="T6" fmla="*/ 15 w 3964"/>
                <a:gd name="T7" fmla="*/ 0 h 851"/>
                <a:gd name="T8" fmla="*/ 6 w 3964"/>
                <a:gd name="T9" fmla="*/ 3 h 851"/>
                <a:gd name="T10" fmla="*/ 6 w 3964"/>
                <a:gd name="T11" fmla="*/ 3 h 851"/>
                <a:gd name="T12" fmla="*/ 16 w 3964"/>
                <a:gd name="T13" fmla="*/ 0 h 851"/>
                <a:gd name="T14" fmla="*/ 16 w 3964"/>
                <a:gd name="T15" fmla="*/ 0 h 851"/>
                <a:gd name="T16" fmla="*/ 12 w 3964"/>
                <a:gd name="T17" fmla="*/ 0 h 851"/>
                <a:gd name="T18" fmla="*/ 0 w 3964"/>
                <a:gd name="T19" fmla="*/ 1 h 8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64"/>
                <a:gd name="T31" fmla="*/ 0 h 851"/>
                <a:gd name="T32" fmla="*/ 3964 w 3964"/>
                <a:gd name="T33" fmla="*/ 851 h 8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64" h="851">
                  <a:moveTo>
                    <a:pt x="0" y="378"/>
                  </a:moveTo>
                  <a:lnTo>
                    <a:pt x="5" y="444"/>
                  </a:lnTo>
                  <a:lnTo>
                    <a:pt x="2899" y="65"/>
                  </a:lnTo>
                  <a:lnTo>
                    <a:pt x="3796" y="220"/>
                  </a:lnTo>
                  <a:lnTo>
                    <a:pt x="1446" y="786"/>
                  </a:lnTo>
                  <a:lnTo>
                    <a:pt x="1452" y="851"/>
                  </a:lnTo>
                  <a:lnTo>
                    <a:pt x="3964" y="246"/>
                  </a:lnTo>
                  <a:lnTo>
                    <a:pt x="3961" y="181"/>
                  </a:lnTo>
                  <a:lnTo>
                    <a:pt x="2899" y="0"/>
                  </a:lnTo>
                  <a:lnTo>
                    <a:pt x="0" y="378"/>
                  </a:lnTo>
                  <a:close/>
                </a:path>
              </a:pathLst>
            </a:custGeom>
            <a:solidFill>
              <a:srgbClr val="000000"/>
            </a:solidFill>
            <a:ln w="9525">
              <a:noFill/>
              <a:round/>
              <a:headEnd/>
              <a:tailEnd/>
            </a:ln>
          </p:spPr>
          <p:txBody>
            <a:bodyPr/>
            <a:lstStyle/>
            <a:p>
              <a:endParaRPr lang="en-US"/>
            </a:p>
          </p:txBody>
        </p:sp>
        <p:sp>
          <p:nvSpPr>
            <p:cNvPr id="16846" name="Freeform 27"/>
            <p:cNvSpPr>
              <a:spLocks/>
            </p:cNvSpPr>
            <p:nvPr/>
          </p:nvSpPr>
          <p:spPr bwMode="auto">
            <a:xfrm>
              <a:off x="2204" y="855"/>
              <a:ext cx="727" cy="236"/>
            </a:xfrm>
            <a:custGeom>
              <a:avLst/>
              <a:gdLst>
                <a:gd name="T0" fmla="*/ 5 w 1455"/>
                <a:gd name="T1" fmla="*/ 1 h 473"/>
                <a:gd name="T2" fmla="*/ 0 w 1455"/>
                <a:gd name="T3" fmla="*/ 0 h 473"/>
                <a:gd name="T4" fmla="*/ 0 w 1455"/>
                <a:gd name="T5" fmla="*/ 0 h 473"/>
                <a:gd name="T6" fmla="*/ 0 w 1455"/>
                <a:gd name="T7" fmla="*/ 0 h 473"/>
                <a:gd name="T8" fmla="*/ 5 w 1455"/>
                <a:gd name="T9" fmla="*/ 1 h 473"/>
                <a:gd name="T10" fmla="*/ 5 w 1455"/>
                <a:gd name="T11" fmla="*/ 1 h 473"/>
                <a:gd name="T12" fmla="*/ 0 60000 65536"/>
                <a:gd name="T13" fmla="*/ 0 60000 65536"/>
                <a:gd name="T14" fmla="*/ 0 60000 65536"/>
                <a:gd name="T15" fmla="*/ 0 60000 65536"/>
                <a:gd name="T16" fmla="*/ 0 60000 65536"/>
                <a:gd name="T17" fmla="*/ 0 60000 65536"/>
                <a:gd name="T18" fmla="*/ 0 w 1455"/>
                <a:gd name="T19" fmla="*/ 0 h 473"/>
                <a:gd name="T20" fmla="*/ 1455 w 1455"/>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455" h="473">
                  <a:moveTo>
                    <a:pt x="1449" y="408"/>
                  </a:moveTo>
                  <a:lnTo>
                    <a:pt x="164" y="44"/>
                  </a:lnTo>
                  <a:lnTo>
                    <a:pt x="3" y="0"/>
                  </a:lnTo>
                  <a:lnTo>
                    <a:pt x="0" y="64"/>
                  </a:lnTo>
                  <a:lnTo>
                    <a:pt x="1455" y="473"/>
                  </a:lnTo>
                  <a:lnTo>
                    <a:pt x="1449" y="408"/>
                  </a:lnTo>
                  <a:close/>
                </a:path>
              </a:pathLst>
            </a:custGeom>
            <a:solidFill>
              <a:srgbClr val="000000"/>
            </a:solidFill>
            <a:ln w="9525">
              <a:noFill/>
              <a:round/>
              <a:headEnd/>
              <a:tailEnd/>
            </a:ln>
          </p:spPr>
          <p:txBody>
            <a:bodyPr/>
            <a:lstStyle/>
            <a:p>
              <a:endParaRPr lang="en-US"/>
            </a:p>
          </p:txBody>
        </p:sp>
        <p:sp>
          <p:nvSpPr>
            <p:cNvPr id="16847" name="Freeform 28"/>
            <p:cNvSpPr>
              <a:spLocks/>
            </p:cNvSpPr>
            <p:nvPr/>
          </p:nvSpPr>
          <p:spPr bwMode="auto">
            <a:xfrm>
              <a:off x="2300" y="1199"/>
              <a:ext cx="1779" cy="324"/>
            </a:xfrm>
            <a:custGeom>
              <a:avLst/>
              <a:gdLst>
                <a:gd name="T0" fmla="*/ 1 w 3556"/>
                <a:gd name="T1" fmla="*/ 1 h 647"/>
                <a:gd name="T2" fmla="*/ 0 w 3556"/>
                <a:gd name="T3" fmla="*/ 1 h 647"/>
                <a:gd name="T4" fmla="*/ 5 w 3556"/>
                <a:gd name="T5" fmla="*/ 3 h 647"/>
                <a:gd name="T6" fmla="*/ 14 w 3556"/>
                <a:gd name="T7" fmla="*/ 1 h 647"/>
                <a:gd name="T8" fmla="*/ 14 w 3556"/>
                <a:gd name="T9" fmla="*/ 0 h 647"/>
                <a:gd name="T10" fmla="*/ 5 w 3556"/>
                <a:gd name="T11" fmla="*/ 3 h 647"/>
                <a:gd name="T12" fmla="*/ 1 w 3556"/>
                <a:gd name="T13" fmla="*/ 1 h 647"/>
                <a:gd name="T14" fmla="*/ 0 60000 65536"/>
                <a:gd name="T15" fmla="*/ 0 60000 65536"/>
                <a:gd name="T16" fmla="*/ 0 60000 65536"/>
                <a:gd name="T17" fmla="*/ 0 60000 65536"/>
                <a:gd name="T18" fmla="*/ 0 60000 65536"/>
                <a:gd name="T19" fmla="*/ 0 60000 65536"/>
                <a:gd name="T20" fmla="*/ 0 60000 65536"/>
                <a:gd name="T21" fmla="*/ 0 w 3556"/>
                <a:gd name="T22" fmla="*/ 0 h 647"/>
                <a:gd name="T23" fmla="*/ 3556 w 3556"/>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6" h="647">
                  <a:moveTo>
                    <a:pt x="8" y="184"/>
                  </a:moveTo>
                  <a:lnTo>
                    <a:pt x="0" y="223"/>
                  </a:lnTo>
                  <a:lnTo>
                    <a:pt x="1247" y="647"/>
                  </a:lnTo>
                  <a:lnTo>
                    <a:pt x="3556" y="42"/>
                  </a:lnTo>
                  <a:lnTo>
                    <a:pt x="3551" y="0"/>
                  </a:lnTo>
                  <a:lnTo>
                    <a:pt x="1245" y="605"/>
                  </a:lnTo>
                  <a:lnTo>
                    <a:pt x="8" y="184"/>
                  </a:lnTo>
                  <a:close/>
                </a:path>
              </a:pathLst>
            </a:custGeom>
            <a:solidFill>
              <a:srgbClr val="000000"/>
            </a:solidFill>
            <a:ln w="9525">
              <a:noFill/>
              <a:round/>
              <a:headEnd/>
              <a:tailEnd/>
            </a:ln>
          </p:spPr>
          <p:txBody>
            <a:bodyPr/>
            <a:lstStyle/>
            <a:p>
              <a:endParaRPr lang="en-US"/>
            </a:p>
          </p:txBody>
        </p:sp>
        <p:sp>
          <p:nvSpPr>
            <p:cNvPr id="16848" name="Freeform 29"/>
            <p:cNvSpPr>
              <a:spLocks/>
            </p:cNvSpPr>
            <p:nvPr/>
          </p:nvSpPr>
          <p:spPr bwMode="auto">
            <a:xfrm>
              <a:off x="2334" y="1477"/>
              <a:ext cx="1690" cy="355"/>
            </a:xfrm>
            <a:custGeom>
              <a:avLst/>
              <a:gdLst>
                <a:gd name="T0" fmla="*/ 1 w 3380"/>
                <a:gd name="T1" fmla="*/ 1 h 709"/>
                <a:gd name="T2" fmla="*/ 0 w 3380"/>
                <a:gd name="T3" fmla="*/ 2 h 709"/>
                <a:gd name="T4" fmla="*/ 5 w 3380"/>
                <a:gd name="T5" fmla="*/ 3 h 709"/>
                <a:gd name="T6" fmla="*/ 13 w 3380"/>
                <a:gd name="T7" fmla="*/ 1 h 709"/>
                <a:gd name="T8" fmla="*/ 13 w 3380"/>
                <a:gd name="T9" fmla="*/ 0 h 709"/>
                <a:gd name="T10" fmla="*/ 5 w 3380"/>
                <a:gd name="T11" fmla="*/ 3 h 709"/>
                <a:gd name="T12" fmla="*/ 1 w 3380"/>
                <a:gd name="T13" fmla="*/ 1 h 709"/>
                <a:gd name="T14" fmla="*/ 0 60000 65536"/>
                <a:gd name="T15" fmla="*/ 0 60000 65536"/>
                <a:gd name="T16" fmla="*/ 0 60000 65536"/>
                <a:gd name="T17" fmla="*/ 0 60000 65536"/>
                <a:gd name="T18" fmla="*/ 0 60000 65536"/>
                <a:gd name="T19" fmla="*/ 0 60000 65536"/>
                <a:gd name="T20" fmla="*/ 0 60000 65536"/>
                <a:gd name="T21" fmla="*/ 0 w 3380"/>
                <a:gd name="T22" fmla="*/ 0 h 709"/>
                <a:gd name="T23" fmla="*/ 3380 w 3380"/>
                <a:gd name="T24" fmla="*/ 709 h 7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80" h="709">
                  <a:moveTo>
                    <a:pt x="11" y="228"/>
                  </a:moveTo>
                  <a:lnTo>
                    <a:pt x="0" y="267"/>
                  </a:lnTo>
                  <a:lnTo>
                    <a:pt x="1182" y="709"/>
                  </a:lnTo>
                  <a:lnTo>
                    <a:pt x="3380" y="42"/>
                  </a:lnTo>
                  <a:lnTo>
                    <a:pt x="3371" y="0"/>
                  </a:lnTo>
                  <a:lnTo>
                    <a:pt x="1182" y="666"/>
                  </a:lnTo>
                  <a:lnTo>
                    <a:pt x="11" y="228"/>
                  </a:lnTo>
                  <a:close/>
                </a:path>
              </a:pathLst>
            </a:custGeom>
            <a:solidFill>
              <a:srgbClr val="000000"/>
            </a:solidFill>
            <a:ln w="9525">
              <a:noFill/>
              <a:round/>
              <a:headEnd/>
              <a:tailEnd/>
            </a:ln>
          </p:spPr>
          <p:txBody>
            <a:bodyPr/>
            <a:lstStyle/>
            <a:p>
              <a:endParaRPr lang="en-US"/>
            </a:p>
          </p:txBody>
        </p:sp>
        <p:sp>
          <p:nvSpPr>
            <p:cNvPr id="16849" name="Freeform 30"/>
            <p:cNvSpPr>
              <a:spLocks/>
            </p:cNvSpPr>
            <p:nvPr/>
          </p:nvSpPr>
          <p:spPr bwMode="auto">
            <a:xfrm>
              <a:off x="2389" y="2201"/>
              <a:ext cx="1620" cy="363"/>
            </a:xfrm>
            <a:custGeom>
              <a:avLst/>
              <a:gdLst>
                <a:gd name="T0" fmla="*/ 1 w 3239"/>
                <a:gd name="T1" fmla="*/ 1 h 725"/>
                <a:gd name="T2" fmla="*/ 0 w 3239"/>
                <a:gd name="T3" fmla="*/ 1 h 725"/>
                <a:gd name="T4" fmla="*/ 5 w 3239"/>
                <a:gd name="T5" fmla="*/ 3 h 725"/>
                <a:gd name="T6" fmla="*/ 13 w 3239"/>
                <a:gd name="T7" fmla="*/ 1 h 725"/>
                <a:gd name="T8" fmla="*/ 13 w 3239"/>
                <a:gd name="T9" fmla="*/ 0 h 725"/>
                <a:gd name="T10" fmla="*/ 5 w 3239"/>
                <a:gd name="T11" fmla="*/ 3 h 725"/>
                <a:gd name="T12" fmla="*/ 1 w 3239"/>
                <a:gd name="T13" fmla="*/ 1 h 725"/>
                <a:gd name="T14" fmla="*/ 0 60000 65536"/>
                <a:gd name="T15" fmla="*/ 0 60000 65536"/>
                <a:gd name="T16" fmla="*/ 0 60000 65536"/>
                <a:gd name="T17" fmla="*/ 0 60000 65536"/>
                <a:gd name="T18" fmla="*/ 0 60000 65536"/>
                <a:gd name="T19" fmla="*/ 0 60000 65536"/>
                <a:gd name="T20" fmla="*/ 0 60000 65536"/>
                <a:gd name="T21" fmla="*/ 0 w 3239"/>
                <a:gd name="T22" fmla="*/ 0 h 725"/>
                <a:gd name="T23" fmla="*/ 3239 w 3239"/>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5">
                  <a:moveTo>
                    <a:pt x="14" y="113"/>
                  </a:moveTo>
                  <a:lnTo>
                    <a:pt x="0" y="152"/>
                  </a:lnTo>
                  <a:lnTo>
                    <a:pt x="1075" y="725"/>
                  </a:lnTo>
                  <a:lnTo>
                    <a:pt x="3239" y="39"/>
                  </a:lnTo>
                  <a:lnTo>
                    <a:pt x="3231" y="0"/>
                  </a:lnTo>
                  <a:lnTo>
                    <a:pt x="1084" y="683"/>
                  </a:lnTo>
                  <a:lnTo>
                    <a:pt x="14" y="113"/>
                  </a:lnTo>
                  <a:close/>
                </a:path>
              </a:pathLst>
            </a:custGeom>
            <a:solidFill>
              <a:srgbClr val="000000"/>
            </a:solidFill>
            <a:ln w="9525">
              <a:noFill/>
              <a:round/>
              <a:headEnd/>
              <a:tailEnd/>
            </a:ln>
          </p:spPr>
          <p:txBody>
            <a:bodyPr/>
            <a:lstStyle/>
            <a:p>
              <a:endParaRPr lang="en-US"/>
            </a:p>
          </p:txBody>
        </p:sp>
        <p:sp>
          <p:nvSpPr>
            <p:cNvPr id="16850" name="Freeform 31"/>
            <p:cNvSpPr>
              <a:spLocks/>
            </p:cNvSpPr>
            <p:nvPr/>
          </p:nvSpPr>
          <p:spPr bwMode="auto">
            <a:xfrm>
              <a:off x="2297" y="1174"/>
              <a:ext cx="1779" cy="324"/>
            </a:xfrm>
            <a:custGeom>
              <a:avLst/>
              <a:gdLst>
                <a:gd name="T0" fmla="*/ 0 w 3559"/>
                <a:gd name="T1" fmla="*/ 1 h 647"/>
                <a:gd name="T2" fmla="*/ 0 w 3559"/>
                <a:gd name="T3" fmla="*/ 1 h 647"/>
                <a:gd name="T4" fmla="*/ 4 w 3559"/>
                <a:gd name="T5" fmla="*/ 3 h 647"/>
                <a:gd name="T6" fmla="*/ 13 w 3559"/>
                <a:gd name="T7" fmla="*/ 1 h 647"/>
                <a:gd name="T8" fmla="*/ 13 w 3559"/>
                <a:gd name="T9" fmla="*/ 0 h 647"/>
                <a:gd name="T10" fmla="*/ 4 w 3559"/>
                <a:gd name="T11" fmla="*/ 3 h 647"/>
                <a:gd name="T12" fmla="*/ 0 w 3559"/>
                <a:gd name="T13" fmla="*/ 1 h 647"/>
                <a:gd name="T14" fmla="*/ 0 60000 65536"/>
                <a:gd name="T15" fmla="*/ 0 60000 65536"/>
                <a:gd name="T16" fmla="*/ 0 60000 65536"/>
                <a:gd name="T17" fmla="*/ 0 60000 65536"/>
                <a:gd name="T18" fmla="*/ 0 60000 65536"/>
                <a:gd name="T19" fmla="*/ 0 60000 65536"/>
                <a:gd name="T20" fmla="*/ 0 60000 65536"/>
                <a:gd name="T21" fmla="*/ 0 w 3559"/>
                <a:gd name="T22" fmla="*/ 0 h 647"/>
                <a:gd name="T23" fmla="*/ 3559 w 3559"/>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9" h="647">
                  <a:moveTo>
                    <a:pt x="9" y="183"/>
                  </a:moveTo>
                  <a:lnTo>
                    <a:pt x="0" y="222"/>
                  </a:lnTo>
                  <a:lnTo>
                    <a:pt x="1250" y="647"/>
                  </a:lnTo>
                  <a:lnTo>
                    <a:pt x="3559" y="43"/>
                  </a:lnTo>
                  <a:lnTo>
                    <a:pt x="3553" y="0"/>
                  </a:lnTo>
                  <a:lnTo>
                    <a:pt x="1247" y="605"/>
                  </a:lnTo>
                  <a:lnTo>
                    <a:pt x="9" y="183"/>
                  </a:lnTo>
                  <a:close/>
                </a:path>
              </a:pathLst>
            </a:custGeom>
            <a:solidFill>
              <a:srgbClr val="DEFF73"/>
            </a:solidFill>
            <a:ln w="9525">
              <a:noFill/>
              <a:round/>
              <a:headEnd/>
              <a:tailEnd/>
            </a:ln>
          </p:spPr>
          <p:txBody>
            <a:bodyPr/>
            <a:lstStyle/>
            <a:p>
              <a:endParaRPr lang="en-US"/>
            </a:p>
          </p:txBody>
        </p:sp>
        <p:sp>
          <p:nvSpPr>
            <p:cNvPr id="16851" name="Freeform 32"/>
            <p:cNvSpPr>
              <a:spLocks/>
            </p:cNvSpPr>
            <p:nvPr/>
          </p:nvSpPr>
          <p:spPr bwMode="auto">
            <a:xfrm>
              <a:off x="2331" y="1451"/>
              <a:ext cx="1690" cy="355"/>
            </a:xfrm>
            <a:custGeom>
              <a:avLst/>
              <a:gdLst>
                <a:gd name="T0" fmla="*/ 1 w 3379"/>
                <a:gd name="T1" fmla="*/ 1 h 710"/>
                <a:gd name="T2" fmla="*/ 0 w 3379"/>
                <a:gd name="T3" fmla="*/ 2 h 710"/>
                <a:gd name="T4" fmla="*/ 5 w 3379"/>
                <a:gd name="T5" fmla="*/ 3 h 710"/>
                <a:gd name="T6" fmla="*/ 14 w 3379"/>
                <a:gd name="T7" fmla="*/ 1 h 710"/>
                <a:gd name="T8" fmla="*/ 14 w 3379"/>
                <a:gd name="T9" fmla="*/ 0 h 710"/>
                <a:gd name="T10" fmla="*/ 5 w 3379"/>
                <a:gd name="T11" fmla="*/ 3 h 710"/>
                <a:gd name="T12" fmla="*/ 1 w 3379"/>
                <a:gd name="T13" fmla="*/ 1 h 710"/>
                <a:gd name="T14" fmla="*/ 0 60000 65536"/>
                <a:gd name="T15" fmla="*/ 0 60000 65536"/>
                <a:gd name="T16" fmla="*/ 0 60000 65536"/>
                <a:gd name="T17" fmla="*/ 0 60000 65536"/>
                <a:gd name="T18" fmla="*/ 0 60000 65536"/>
                <a:gd name="T19" fmla="*/ 0 60000 65536"/>
                <a:gd name="T20" fmla="*/ 0 60000 65536"/>
                <a:gd name="T21" fmla="*/ 0 w 3379"/>
                <a:gd name="T22" fmla="*/ 0 h 710"/>
                <a:gd name="T23" fmla="*/ 3379 w 3379"/>
                <a:gd name="T24" fmla="*/ 710 h 7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9" h="710">
                  <a:moveTo>
                    <a:pt x="11" y="229"/>
                  </a:moveTo>
                  <a:lnTo>
                    <a:pt x="0" y="268"/>
                  </a:lnTo>
                  <a:lnTo>
                    <a:pt x="1181" y="710"/>
                  </a:lnTo>
                  <a:lnTo>
                    <a:pt x="3379" y="43"/>
                  </a:lnTo>
                  <a:lnTo>
                    <a:pt x="3370" y="0"/>
                  </a:lnTo>
                  <a:lnTo>
                    <a:pt x="1181" y="667"/>
                  </a:lnTo>
                  <a:lnTo>
                    <a:pt x="11" y="229"/>
                  </a:lnTo>
                  <a:close/>
                </a:path>
              </a:pathLst>
            </a:custGeom>
            <a:solidFill>
              <a:srgbClr val="DEFF73"/>
            </a:solidFill>
            <a:ln w="9525">
              <a:noFill/>
              <a:round/>
              <a:headEnd/>
              <a:tailEnd/>
            </a:ln>
          </p:spPr>
          <p:txBody>
            <a:bodyPr/>
            <a:lstStyle/>
            <a:p>
              <a:endParaRPr lang="en-US"/>
            </a:p>
          </p:txBody>
        </p:sp>
        <p:sp>
          <p:nvSpPr>
            <p:cNvPr id="16852" name="Freeform 33"/>
            <p:cNvSpPr>
              <a:spLocks/>
            </p:cNvSpPr>
            <p:nvPr/>
          </p:nvSpPr>
          <p:spPr bwMode="auto">
            <a:xfrm>
              <a:off x="2386" y="2175"/>
              <a:ext cx="1620" cy="363"/>
            </a:xfrm>
            <a:custGeom>
              <a:avLst/>
              <a:gdLst>
                <a:gd name="T0" fmla="*/ 1 w 3239"/>
                <a:gd name="T1" fmla="*/ 0 h 727"/>
                <a:gd name="T2" fmla="*/ 0 w 3239"/>
                <a:gd name="T3" fmla="*/ 0 h 727"/>
                <a:gd name="T4" fmla="*/ 5 w 3239"/>
                <a:gd name="T5" fmla="*/ 2 h 727"/>
                <a:gd name="T6" fmla="*/ 13 w 3239"/>
                <a:gd name="T7" fmla="*/ 0 h 727"/>
                <a:gd name="T8" fmla="*/ 13 w 3239"/>
                <a:gd name="T9" fmla="*/ 0 h 727"/>
                <a:gd name="T10" fmla="*/ 5 w 3239"/>
                <a:gd name="T11" fmla="*/ 2 h 727"/>
                <a:gd name="T12" fmla="*/ 1 w 3239"/>
                <a:gd name="T13" fmla="*/ 0 h 727"/>
                <a:gd name="T14" fmla="*/ 0 60000 65536"/>
                <a:gd name="T15" fmla="*/ 0 60000 65536"/>
                <a:gd name="T16" fmla="*/ 0 60000 65536"/>
                <a:gd name="T17" fmla="*/ 0 60000 65536"/>
                <a:gd name="T18" fmla="*/ 0 60000 65536"/>
                <a:gd name="T19" fmla="*/ 0 60000 65536"/>
                <a:gd name="T20" fmla="*/ 0 60000 65536"/>
                <a:gd name="T21" fmla="*/ 0 w 3239"/>
                <a:gd name="T22" fmla="*/ 0 h 727"/>
                <a:gd name="T23" fmla="*/ 3239 w 3239"/>
                <a:gd name="T24" fmla="*/ 727 h 7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7">
                  <a:moveTo>
                    <a:pt x="14" y="114"/>
                  </a:moveTo>
                  <a:lnTo>
                    <a:pt x="0" y="153"/>
                  </a:lnTo>
                  <a:lnTo>
                    <a:pt x="1076" y="727"/>
                  </a:lnTo>
                  <a:lnTo>
                    <a:pt x="3239" y="39"/>
                  </a:lnTo>
                  <a:lnTo>
                    <a:pt x="3230" y="0"/>
                  </a:lnTo>
                  <a:lnTo>
                    <a:pt x="1085" y="685"/>
                  </a:lnTo>
                  <a:lnTo>
                    <a:pt x="14" y="114"/>
                  </a:lnTo>
                  <a:close/>
                </a:path>
              </a:pathLst>
            </a:custGeom>
            <a:solidFill>
              <a:srgbClr val="DEFF73"/>
            </a:solidFill>
            <a:ln w="9525">
              <a:noFill/>
              <a:round/>
              <a:headEnd/>
              <a:tailEnd/>
            </a:ln>
          </p:spPr>
          <p:txBody>
            <a:bodyPr/>
            <a:lstStyle/>
            <a:p>
              <a:endParaRPr lang="en-US"/>
            </a:p>
          </p:txBody>
        </p:sp>
        <p:sp>
          <p:nvSpPr>
            <p:cNvPr id="16853" name="Freeform 34"/>
            <p:cNvSpPr>
              <a:spLocks/>
            </p:cNvSpPr>
            <p:nvPr/>
          </p:nvSpPr>
          <p:spPr bwMode="auto">
            <a:xfrm>
              <a:off x="2315" y="1005"/>
              <a:ext cx="496" cy="331"/>
            </a:xfrm>
            <a:custGeom>
              <a:avLst/>
              <a:gdLst>
                <a:gd name="T0" fmla="*/ 0 w 993"/>
                <a:gd name="T1" fmla="*/ 0 h 664"/>
                <a:gd name="T2" fmla="*/ 0 w 993"/>
                <a:gd name="T3" fmla="*/ 1 h 664"/>
                <a:gd name="T4" fmla="*/ 3 w 993"/>
                <a:gd name="T5" fmla="*/ 2 h 664"/>
                <a:gd name="T6" fmla="*/ 3 w 993"/>
                <a:gd name="T7" fmla="*/ 1 h 664"/>
                <a:gd name="T8" fmla="*/ 0 w 993"/>
                <a:gd name="T9" fmla="*/ 0 h 664"/>
                <a:gd name="T10" fmla="*/ 0 w 993"/>
                <a:gd name="T11" fmla="*/ 0 h 664"/>
                <a:gd name="T12" fmla="*/ 0 w 993"/>
                <a:gd name="T13" fmla="*/ 0 h 664"/>
                <a:gd name="T14" fmla="*/ 0 60000 65536"/>
                <a:gd name="T15" fmla="*/ 0 60000 65536"/>
                <a:gd name="T16" fmla="*/ 0 60000 65536"/>
                <a:gd name="T17" fmla="*/ 0 60000 65536"/>
                <a:gd name="T18" fmla="*/ 0 60000 65536"/>
                <a:gd name="T19" fmla="*/ 0 60000 65536"/>
                <a:gd name="T20" fmla="*/ 0 60000 65536"/>
                <a:gd name="T21" fmla="*/ 0 w 993"/>
                <a:gd name="T22" fmla="*/ 0 h 664"/>
                <a:gd name="T23" fmla="*/ 993 w 993"/>
                <a:gd name="T24" fmla="*/ 664 h 6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3" h="664">
                  <a:moveTo>
                    <a:pt x="0" y="47"/>
                  </a:moveTo>
                  <a:lnTo>
                    <a:pt x="44" y="339"/>
                  </a:lnTo>
                  <a:lnTo>
                    <a:pt x="990" y="664"/>
                  </a:lnTo>
                  <a:lnTo>
                    <a:pt x="993" y="372"/>
                  </a:lnTo>
                  <a:lnTo>
                    <a:pt x="0" y="0"/>
                  </a:lnTo>
                  <a:lnTo>
                    <a:pt x="0" y="47"/>
                  </a:lnTo>
                  <a:close/>
                </a:path>
              </a:pathLst>
            </a:custGeom>
            <a:solidFill>
              <a:srgbClr val="99FFFB"/>
            </a:solidFill>
            <a:ln w="9525">
              <a:noFill/>
              <a:round/>
              <a:headEnd/>
              <a:tailEnd/>
            </a:ln>
          </p:spPr>
          <p:txBody>
            <a:bodyPr/>
            <a:lstStyle/>
            <a:p>
              <a:endParaRPr lang="en-US"/>
            </a:p>
          </p:txBody>
        </p:sp>
        <p:sp>
          <p:nvSpPr>
            <p:cNvPr id="16854" name="Freeform 35"/>
            <p:cNvSpPr>
              <a:spLocks/>
            </p:cNvSpPr>
            <p:nvPr/>
          </p:nvSpPr>
          <p:spPr bwMode="auto">
            <a:xfrm>
              <a:off x="2305" y="1027"/>
              <a:ext cx="516" cy="322"/>
            </a:xfrm>
            <a:custGeom>
              <a:avLst/>
              <a:gdLst>
                <a:gd name="T0" fmla="*/ 1 w 1030"/>
                <a:gd name="T1" fmla="*/ 0 h 644"/>
                <a:gd name="T2" fmla="*/ 0 w 1030"/>
                <a:gd name="T3" fmla="*/ 1 h 644"/>
                <a:gd name="T4" fmla="*/ 1 w 1030"/>
                <a:gd name="T5" fmla="*/ 2 h 644"/>
                <a:gd name="T6" fmla="*/ 5 w 1030"/>
                <a:gd name="T7" fmla="*/ 3 h 644"/>
                <a:gd name="T8" fmla="*/ 5 w 1030"/>
                <a:gd name="T9" fmla="*/ 2 h 644"/>
                <a:gd name="T10" fmla="*/ 4 w 1030"/>
                <a:gd name="T11" fmla="*/ 2 h 644"/>
                <a:gd name="T12" fmla="*/ 4 w 1030"/>
                <a:gd name="T13" fmla="*/ 3 h 644"/>
                <a:gd name="T14" fmla="*/ 1 w 1030"/>
                <a:gd name="T15" fmla="*/ 2 h 644"/>
                <a:gd name="T16" fmla="*/ 1 w 1030"/>
                <a:gd name="T17" fmla="*/ 0 h 6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0"/>
                <a:gd name="T28" fmla="*/ 0 h 644"/>
                <a:gd name="T29" fmla="*/ 1030 w 1030"/>
                <a:gd name="T30" fmla="*/ 644 h 6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0" h="644">
                  <a:moveTo>
                    <a:pt x="37" y="0"/>
                  </a:moveTo>
                  <a:lnTo>
                    <a:pt x="0" y="3"/>
                  </a:lnTo>
                  <a:lnTo>
                    <a:pt x="45" y="308"/>
                  </a:lnTo>
                  <a:lnTo>
                    <a:pt x="1026" y="644"/>
                  </a:lnTo>
                  <a:lnTo>
                    <a:pt x="1030" y="313"/>
                  </a:lnTo>
                  <a:lnTo>
                    <a:pt x="993" y="339"/>
                  </a:lnTo>
                  <a:lnTo>
                    <a:pt x="991" y="592"/>
                  </a:lnTo>
                  <a:lnTo>
                    <a:pt x="79" y="279"/>
                  </a:lnTo>
                  <a:lnTo>
                    <a:pt x="37" y="0"/>
                  </a:lnTo>
                  <a:close/>
                </a:path>
              </a:pathLst>
            </a:custGeom>
            <a:solidFill>
              <a:srgbClr val="000000"/>
            </a:solidFill>
            <a:ln w="9525">
              <a:noFill/>
              <a:round/>
              <a:headEnd/>
              <a:tailEnd/>
            </a:ln>
          </p:spPr>
          <p:txBody>
            <a:bodyPr/>
            <a:lstStyle/>
            <a:p>
              <a:endParaRPr lang="en-US"/>
            </a:p>
          </p:txBody>
        </p:sp>
        <p:sp>
          <p:nvSpPr>
            <p:cNvPr id="16855" name="Freeform 36"/>
            <p:cNvSpPr>
              <a:spLocks/>
            </p:cNvSpPr>
            <p:nvPr/>
          </p:nvSpPr>
          <p:spPr bwMode="auto">
            <a:xfrm>
              <a:off x="2305" y="991"/>
              <a:ext cx="516" cy="206"/>
            </a:xfrm>
            <a:custGeom>
              <a:avLst/>
              <a:gdLst>
                <a:gd name="T0" fmla="*/ 5 w 1030"/>
                <a:gd name="T1" fmla="*/ 2 h 412"/>
                <a:gd name="T2" fmla="*/ 1 w 1030"/>
                <a:gd name="T3" fmla="*/ 0 h 412"/>
                <a:gd name="T4" fmla="*/ 0 w 1030"/>
                <a:gd name="T5" fmla="*/ 1 h 412"/>
                <a:gd name="T6" fmla="*/ 0 w 1030"/>
                <a:gd name="T7" fmla="*/ 1 h 412"/>
                <a:gd name="T8" fmla="*/ 1 w 1030"/>
                <a:gd name="T9" fmla="*/ 1 h 412"/>
                <a:gd name="T10" fmla="*/ 1 w 1030"/>
                <a:gd name="T11" fmla="*/ 1 h 412"/>
                <a:gd name="T12" fmla="*/ 4 w 1030"/>
                <a:gd name="T13" fmla="*/ 2 h 412"/>
                <a:gd name="T14" fmla="*/ 5 w 1030"/>
                <a:gd name="T15" fmla="*/ 2 h 412"/>
                <a:gd name="T16" fmla="*/ 0 60000 65536"/>
                <a:gd name="T17" fmla="*/ 0 60000 65536"/>
                <a:gd name="T18" fmla="*/ 0 60000 65536"/>
                <a:gd name="T19" fmla="*/ 0 60000 65536"/>
                <a:gd name="T20" fmla="*/ 0 60000 65536"/>
                <a:gd name="T21" fmla="*/ 0 60000 65536"/>
                <a:gd name="T22" fmla="*/ 0 60000 65536"/>
                <a:gd name="T23" fmla="*/ 0 60000 65536"/>
                <a:gd name="T24" fmla="*/ 0 w 1030"/>
                <a:gd name="T25" fmla="*/ 0 h 412"/>
                <a:gd name="T26" fmla="*/ 1030 w 1030"/>
                <a:gd name="T27" fmla="*/ 412 h 4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0" h="412">
                  <a:moveTo>
                    <a:pt x="1030" y="386"/>
                  </a:moveTo>
                  <a:lnTo>
                    <a:pt x="1" y="0"/>
                  </a:lnTo>
                  <a:lnTo>
                    <a:pt x="0" y="74"/>
                  </a:lnTo>
                  <a:lnTo>
                    <a:pt x="0" y="76"/>
                  </a:lnTo>
                  <a:lnTo>
                    <a:pt x="37" y="73"/>
                  </a:lnTo>
                  <a:lnTo>
                    <a:pt x="37" y="55"/>
                  </a:lnTo>
                  <a:lnTo>
                    <a:pt x="993" y="412"/>
                  </a:lnTo>
                  <a:lnTo>
                    <a:pt x="1030" y="386"/>
                  </a:lnTo>
                  <a:close/>
                </a:path>
              </a:pathLst>
            </a:custGeom>
            <a:solidFill>
              <a:srgbClr val="000000"/>
            </a:solidFill>
            <a:ln w="9525">
              <a:noFill/>
              <a:round/>
              <a:headEnd/>
              <a:tailEnd/>
            </a:ln>
          </p:spPr>
          <p:txBody>
            <a:bodyPr/>
            <a:lstStyle/>
            <a:p>
              <a:endParaRPr lang="en-US"/>
            </a:p>
          </p:txBody>
        </p:sp>
        <p:sp>
          <p:nvSpPr>
            <p:cNvPr id="16856" name="Freeform 37"/>
            <p:cNvSpPr>
              <a:spLocks/>
            </p:cNvSpPr>
            <p:nvPr/>
          </p:nvSpPr>
          <p:spPr bwMode="auto">
            <a:xfrm>
              <a:off x="2340" y="1403"/>
              <a:ext cx="502" cy="270"/>
            </a:xfrm>
            <a:custGeom>
              <a:avLst/>
              <a:gdLst>
                <a:gd name="T0" fmla="*/ 0 w 1005"/>
                <a:gd name="T1" fmla="*/ 0 h 540"/>
                <a:gd name="T2" fmla="*/ 0 w 1005"/>
                <a:gd name="T3" fmla="*/ 1 h 540"/>
                <a:gd name="T4" fmla="*/ 3 w 1005"/>
                <a:gd name="T5" fmla="*/ 2 h 540"/>
                <a:gd name="T6" fmla="*/ 3 w 1005"/>
                <a:gd name="T7" fmla="*/ 1 h 540"/>
                <a:gd name="T8" fmla="*/ 0 w 1005"/>
                <a:gd name="T9" fmla="*/ 0 h 540"/>
                <a:gd name="T10" fmla="*/ 0 w 1005"/>
                <a:gd name="T11" fmla="*/ 0 h 540"/>
                <a:gd name="T12" fmla="*/ 0 w 1005"/>
                <a:gd name="T13" fmla="*/ 0 h 540"/>
                <a:gd name="T14" fmla="*/ 0 60000 65536"/>
                <a:gd name="T15" fmla="*/ 0 60000 65536"/>
                <a:gd name="T16" fmla="*/ 0 60000 65536"/>
                <a:gd name="T17" fmla="*/ 0 60000 65536"/>
                <a:gd name="T18" fmla="*/ 0 60000 65536"/>
                <a:gd name="T19" fmla="*/ 0 60000 65536"/>
                <a:gd name="T20" fmla="*/ 0 60000 65536"/>
                <a:gd name="T21" fmla="*/ 0 w 1005"/>
                <a:gd name="T22" fmla="*/ 0 h 540"/>
                <a:gd name="T23" fmla="*/ 1005 w 1005"/>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5" h="540">
                  <a:moveTo>
                    <a:pt x="34" y="0"/>
                  </a:moveTo>
                  <a:lnTo>
                    <a:pt x="94" y="245"/>
                  </a:lnTo>
                  <a:lnTo>
                    <a:pt x="1005" y="540"/>
                  </a:lnTo>
                  <a:lnTo>
                    <a:pt x="993" y="317"/>
                  </a:lnTo>
                  <a:lnTo>
                    <a:pt x="0" y="0"/>
                  </a:lnTo>
                  <a:lnTo>
                    <a:pt x="34" y="0"/>
                  </a:lnTo>
                  <a:close/>
                </a:path>
              </a:pathLst>
            </a:custGeom>
            <a:solidFill>
              <a:srgbClr val="99FFFB"/>
            </a:solidFill>
            <a:ln w="9525">
              <a:noFill/>
              <a:round/>
              <a:headEnd/>
              <a:tailEnd/>
            </a:ln>
          </p:spPr>
          <p:txBody>
            <a:bodyPr/>
            <a:lstStyle/>
            <a:p>
              <a:endParaRPr lang="en-US"/>
            </a:p>
          </p:txBody>
        </p:sp>
        <p:sp>
          <p:nvSpPr>
            <p:cNvPr id="16857" name="Freeform 38"/>
            <p:cNvSpPr>
              <a:spLocks/>
            </p:cNvSpPr>
            <p:nvPr/>
          </p:nvSpPr>
          <p:spPr bwMode="auto">
            <a:xfrm>
              <a:off x="2348" y="1401"/>
              <a:ext cx="504" cy="285"/>
            </a:xfrm>
            <a:custGeom>
              <a:avLst/>
              <a:gdLst>
                <a:gd name="T0" fmla="*/ 1 w 1008"/>
                <a:gd name="T1" fmla="*/ 0 h 571"/>
                <a:gd name="T2" fmla="*/ 0 w 1008"/>
                <a:gd name="T3" fmla="*/ 0 h 571"/>
                <a:gd name="T4" fmla="*/ 1 w 1008"/>
                <a:gd name="T5" fmla="*/ 1 h 571"/>
                <a:gd name="T6" fmla="*/ 4 w 1008"/>
                <a:gd name="T7" fmla="*/ 2 h 571"/>
                <a:gd name="T8" fmla="*/ 4 w 1008"/>
                <a:gd name="T9" fmla="*/ 1 h 571"/>
                <a:gd name="T10" fmla="*/ 4 w 1008"/>
                <a:gd name="T11" fmla="*/ 1 h 571"/>
                <a:gd name="T12" fmla="*/ 4 w 1008"/>
                <a:gd name="T13" fmla="*/ 2 h 571"/>
                <a:gd name="T14" fmla="*/ 1 w 1008"/>
                <a:gd name="T15" fmla="*/ 0 h 571"/>
                <a:gd name="T16" fmla="*/ 1 w 1008"/>
                <a:gd name="T17" fmla="*/ 0 h 5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8"/>
                <a:gd name="T28" fmla="*/ 0 h 571"/>
                <a:gd name="T29" fmla="*/ 1008 w 1008"/>
                <a:gd name="T30" fmla="*/ 571 h 5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8" h="571">
                  <a:moveTo>
                    <a:pt x="35" y="0"/>
                  </a:moveTo>
                  <a:lnTo>
                    <a:pt x="0" y="10"/>
                  </a:lnTo>
                  <a:lnTo>
                    <a:pt x="62" y="264"/>
                  </a:lnTo>
                  <a:lnTo>
                    <a:pt x="1008" y="571"/>
                  </a:lnTo>
                  <a:lnTo>
                    <a:pt x="996" y="307"/>
                  </a:lnTo>
                  <a:lnTo>
                    <a:pt x="958" y="336"/>
                  </a:lnTo>
                  <a:lnTo>
                    <a:pt x="970" y="519"/>
                  </a:lnTo>
                  <a:lnTo>
                    <a:pt x="94" y="235"/>
                  </a:lnTo>
                  <a:lnTo>
                    <a:pt x="35" y="0"/>
                  </a:lnTo>
                  <a:close/>
                </a:path>
              </a:pathLst>
            </a:custGeom>
            <a:solidFill>
              <a:srgbClr val="000000"/>
            </a:solidFill>
            <a:ln w="9525">
              <a:noFill/>
              <a:round/>
              <a:headEnd/>
              <a:tailEnd/>
            </a:ln>
          </p:spPr>
          <p:txBody>
            <a:bodyPr/>
            <a:lstStyle/>
            <a:p>
              <a:endParaRPr lang="en-US"/>
            </a:p>
          </p:txBody>
        </p:sp>
        <p:sp>
          <p:nvSpPr>
            <p:cNvPr id="16858" name="Freeform 39"/>
            <p:cNvSpPr>
              <a:spLocks/>
            </p:cNvSpPr>
            <p:nvPr/>
          </p:nvSpPr>
          <p:spPr bwMode="auto">
            <a:xfrm>
              <a:off x="2338" y="1393"/>
              <a:ext cx="508" cy="176"/>
            </a:xfrm>
            <a:custGeom>
              <a:avLst/>
              <a:gdLst>
                <a:gd name="T0" fmla="*/ 4 w 1016"/>
                <a:gd name="T1" fmla="*/ 2 h 350"/>
                <a:gd name="T2" fmla="*/ 1 w 1016"/>
                <a:gd name="T3" fmla="*/ 0 h 350"/>
                <a:gd name="T4" fmla="*/ 1 w 1016"/>
                <a:gd name="T5" fmla="*/ 1 h 350"/>
                <a:gd name="T6" fmla="*/ 0 w 1016"/>
                <a:gd name="T7" fmla="*/ 1 h 350"/>
                <a:gd name="T8" fmla="*/ 4 w 1016"/>
                <a:gd name="T9" fmla="*/ 2 h 350"/>
                <a:gd name="T10" fmla="*/ 4 w 1016"/>
                <a:gd name="T11" fmla="*/ 2 h 350"/>
                <a:gd name="T12" fmla="*/ 0 60000 65536"/>
                <a:gd name="T13" fmla="*/ 0 60000 65536"/>
                <a:gd name="T14" fmla="*/ 0 60000 65536"/>
                <a:gd name="T15" fmla="*/ 0 60000 65536"/>
                <a:gd name="T16" fmla="*/ 0 60000 65536"/>
                <a:gd name="T17" fmla="*/ 0 60000 65536"/>
                <a:gd name="T18" fmla="*/ 0 w 1016"/>
                <a:gd name="T19" fmla="*/ 0 h 350"/>
                <a:gd name="T20" fmla="*/ 1016 w 1016"/>
                <a:gd name="T21" fmla="*/ 350 h 350"/>
              </a:gdLst>
              <a:ahLst/>
              <a:cxnLst>
                <a:cxn ang="T12">
                  <a:pos x="T0" y="T1"/>
                </a:cxn>
                <a:cxn ang="T13">
                  <a:pos x="T2" y="T3"/>
                </a:cxn>
                <a:cxn ang="T14">
                  <a:pos x="T4" y="T5"/>
                </a:cxn>
                <a:cxn ang="T15">
                  <a:pos x="T6" y="T7"/>
                </a:cxn>
                <a:cxn ang="T16">
                  <a:pos x="T8" y="T9"/>
                </a:cxn>
                <a:cxn ang="T17">
                  <a:pos x="T10" y="T11"/>
                </a:cxn>
              </a:cxnLst>
              <a:rect l="T18" t="T19" r="T20" b="T21"/>
              <a:pathLst>
                <a:path w="1016" h="350">
                  <a:moveTo>
                    <a:pt x="1016" y="321"/>
                  </a:moveTo>
                  <a:lnTo>
                    <a:pt x="9" y="0"/>
                  </a:lnTo>
                  <a:lnTo>
                    <a:pt x="4" y="19"/>
                  </a:lnTo>
                  <a:lnTo>
                    <a:pt x="0" y="39"/>
                  </a:lnTo>
                  <a:lnTo>
                    <a:pt x="978" y="350"/>
                  </a:lnTo>
                  <a:lnTo>
                    <a:pt x="1016" y="321"/>
                  </a:lnTo>
                  <a:close/>
                </a:path>
              </a:pathLst>
            </a:custGeom>
            <a:solidFill>
              <a:srgbClr val="000000"/>
            </a:solidFill>
            <a:ln w="9525">
              <a:noFill/>
              <a:round/>
              <a:headEnd/>
              <a:tailEnd/>
            </a:ln>
          </p:spPr>
          <p:txBody>
            <a:bodyPr/>
            <a:lstStyle/>
            <a:p>
              <a:endParaRPr lang="en-US"/>
            </a:p>
          </p:txBody>
        </p:sp>
        <p:sp>
          <p:nvSpPr>
            <p:cNvPr id="16859" name="Freeform 40"/>
            <p:cNvSpPr>
              <a:spLocks/>
            </p:cNvSpPr>
            <p:nvPr/>
          </p:nvSpPr>
          <p:spPr bwMode="auto">
            <a:xfrm>
              <a:off x="2370" y="1429"/>
              <a:ext cx="443" cy="148"/>
            </a:xfrm>
            <a:custGeom>
              <a:avLst/>
              <a:gdLst>
                <a:gd name="T0" fmla="*/ 1 w 885"/>
                <a:gd name="T1" fmla="*/ 1 h 296"/>
                <a:gd name="T2" fmla="*/ 0 w 885"/>
                <a:gd name="T3" fmla="*/ 0 h 296"/>
                <a:gd name="T4" fmla="*/ 4 w 885"/>
                <a:gd name="T5" fmla="*/ 1 h 296"/>
                <a:gd name="T6" fmla="*/ 1 w 885"/>
                <a:gd name="T7" fmla="*/ 1 h 296"/>
                <a:gd name="T8" fmla="*/ 1 w 885"/>
                <a:gd name="T9" fmla="*/ 1 h 296"/>
                <a:gd name="T10" fmla="*/ 0 60000 65536"/>
                <a:gd name="T11" fmla="*/ 0 60000 65536"/>
                <a:gd name="T12" fmla="*/ 0 60000 65536"/>
                <a:gd name="T13" fmla="*/ 0 60000 65536"/>
                <a:gd name="T14" fmla="*/ 0 60000 65536"/>
                <a:gd name="T15" fmla="*/ 0 w 885"/>
                <a:gd name="T16" fmla="*/ 0 h 296"/>
                <a:gd name="T17" fmla="*/ 885 w 885"/>
                <a:gd name="T18" fmla="*/ 296 h 296"/>
              </a:gdLst>
              <a:ahLst/>
              <a:cxnLst>
                <a:cxn ang="T10">
                  <a:pos x="T0" y="T1"/>
                </a:cxn>
                <a:cxn ang="T11">
                  <a:pos x="T2" y="T3"/>
                </a:cxn>
                <a:cxn ang="T12">
                  <a:pos x="T4" y="T5"/>
                </a:cxn>
                <a:cxn ang="T13">
                  <a:pos x="T6" y="T7"/>
                </a:cxn>
                <a:cxn ang="T14">
                  <a:pos x="T8" y="T9"/>
                </a:cxn>
              </a:cxnLst>
              <a:rect l="T15" t="T16" r="T17" b="T18"/>
              <a:pathLst>
                <a:path w="885" h="296">
                  <a:moveTo>
                    <a:pt x="50" y="115"/>
                  </a:moveTo>
                  <a:lnTo>
                    <a:pt x="0" y="0"/>
                  </a:lnTo>
                  <a:lnTo>
                    <a:pt x="885" y="296"/>
                  </a:lnTo>
                  <a:lnTo>
                    <a:pt x="50" y="115"/>
                  </a:lnTo>
                  <a:close/>
                </a:path>
              </a:pathLst>
            </a:custGeom>
            <a:solidFill>
              <a:srgbClr val="99FFFB"/>
            </a:solidFill>
            <a:ln w="9525">
              <a:noFill/>
              <a:round/>
              <a:headEnd/>
              <a:tailEnd/>
            </a:ln>
          </p:spPr>
          <p:txBody>
            <a:bodyPr/>
            <a:lstStyle/>
            <a:p>
              <a:endParaRPr lang="en-US"/>
            </a:p>
          </p:txBody>
        </p:sp>
        <p:sp>
          <p:nvSpPr>
            <p:cNvPr id="16860" name="Freeform 41"/>
            <p:cNvSpPr>
              <a:spLocks/>
            </p:cNvSpPr>
            <p:nvPr/>
          </p:nvSpPr>
          <p:spPr bwMode="auto">
            <a:xfrm>
              <a:off x="2468" y="2490"/>
              <a:ext cx="343" cy="194"/>
            </a:xfrm>
            <a:custGeom>
              <a:avLst/>
              <a:gdLst>
                <a:gd name="T0" fmla="*/ 0 w 687"/>
                <a:gd name="T1" fmla="*/ 0 h 386"/>
                <a:gd name="T2" fmla="*/ 0 w 687"/>
                <a:gd name="T3" fmla="*/ 1 h 386"/>
                <a:gd name="T4" fmla="*/ 2 w 687"/>
                <a:gd name="T5" fmla="*/ 2 h 386"/>
                <a:gd name="T6" fmla="*/ 2 w 687"/>
                <a:gd name="T7" fmla="*/ 2 h 386"/>
                <a:gd name="T8" fmla="*/ 0 w 687"/>
                <a:gd name="T9" fmla="*/ 0 h 386"/>
                <a:gd name="T10" fmla="*/ 0 60000 65536"/>
                <a:gd name="T11" fmla="*/ 0 60000 65536"/>
                <a:gd name="T12" fmla="*/ 0 60000 65536"/>
                <a:gd name="T13" fmla="*/ 0 60000 65536"/>
                <a:gd name="T14" fmla="*/ 0 60000 65536"/>
                <a:gd name="T15" fmla="*/ 0 w 687"/>
                <a:gd name="T16" fmla="*/ 0 h 386"/>
                <a:gd name="T17" fmla="*/ 687 w 687"/>
                <a:gd name="T18" fmla="*/ 386 h 386"/>
              </a:gdLst>
              <a:ahLst/>
              <a:cxnLst>
                <a:cxn ang="T10">
                  <a:pos x="T0" y="T1"/>
                </a:cxn>
                <a:cxn ang="T11">
                  <a:pos x="T2" y="T3"/>
                </a:cxn>
                <a:cxn ang="T12">
                  <a:pos x="T4" y="T5"/>
                </a:cxn>
                <a:cxn ang="T13">
                  <a:pos x="T6" y="T7"/>
                </a:cxn>
                <a:cxn ang="T14">
                  <a:pos x="T8" y="T9"/>
                </a:cxn>
              </a:cxnLst>
              <a:rect l="T15" t="T16" r="T17" b="T18"/>
              <a:pathLst>
                <a:path w="687" h="386">
                  <a:moveTo>
                    <a:pt x="24" y="0"/>
                  </a:moveTo>
                  <a:lnTo>
                    <a:pt x="0" y="58"/>
                  </a:lnTo>
                  <a:lnTo>
                    <a:pt x="664" y="386"/>
                  </a:lnTo>
                  <a:lnTo>
                    <a:pt x="687" y="327"/>
                  </a:lnTo>
                  <a:lnTo>
                    <a:pt x="24" y="0"/>
                  </a:lnTo>
                  <a:close/>
                </a:path>
              </a:pathLst>
            </a:custGeom>
            <a:solidFill>
              <a:srgbClr val="000000"/>
            </a:solidFill>
            <a:ln w="9525">
              <a:noFill/>
              <a:round/>
              <a:headEnd/>
              <a:tailEnd/>
            </a:ln>
          </p:spPr>
          <p:txBody>
            <a:bodyPr/>
            <a:lstStyle/>
            <a:p>
              <a:endParaRPr lang="en-US"/>
            </a:p>
          </p:txBody>
        </p:sp>
        <p:sp>
          <p:nvSpPr>
            <p:cNvPr id="16861" name="Freeform 42"/>
            <p:cNvSpPr>
              <a:spLocks/>
            </p:cNvSpPr>
            <p:nvPr/>
          </p:nvSpPr>
          <p:spPr bwMode="auto">
            <a:xfrm>
              <a:off x="2463" y="2566"/>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6862" name="Freeform 43"/>
            <p:cNvSpPr>
              <a:spLocks/>
            </p:cNvSpPr>
            <p:nvPr/>
          </p:nvSpPr>
          <p:spPr bwMode="auto">
            <a:xfrm>
              <a:off x="2442" y="2641"/>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6863" name="Freeform 44"/>
            <p:cNvSpPr>
              <a:spLocks/>
            </p:cNvSpPr>
            <p:nvPr/>
          </p:nvSpPr>
          <p:spPr bwMode="auto">
            <a:xfrm>
              <a:off x="2437" y="2718"/>
              <a:ext cx="350" cy="221"/>
            </a:xfrm>
            <a:custGeom>
              <a:avLst/>
              <a:gdLst>
                <a:gd name="T0" fmla="*/ 1 w 699"/>
                <a:gd name="T1" fmla="*/ 0 h 441"/>
                <a:gd name="T2" fmla="*/ 0 w 699"/>
                <a:gd name="T3" fmla="*/ 1 h 441"/>
                <a:gd name="T4" fmla="*/ 3 w 699"/>
                <a:gd name="T5" fmla="*/ 2 h 441"/>
                <a:gd name="T6" fmla="*/ 3 w 699"/>
                <a:gd name="T7" fmla="*/ 2 h 441"/>
                <a:gd name="T8" fmla="*/ 1 w 699"/>
                <a:gd name="T9" fmla="*/ 0 h 441"/>
                <a:gd name="T10" fmla="*/ 0 60000 65536"/>
                <a:gd name="T11" fmla="*/ 0 60000 65536"/>
                <a:gd name="T12" fmla="*/ 0 60000 65536"/>
                <a:gd name="T13" fmla="*/ 0 60000 65536"/>
                <a:gd name="T14" fmla="*/ 0 60000 65536"/>
                <a:gd name="T15" fmla="*/ 0 w 699"/>
                <a:gd name="T16" fmla="*/ 0 h 441"/>
                <a:gd name="T17" fmla="*/ 699 w 699"/>
                <a:gd name="T18" fmla="*/ 441 h 441"/>
              </a:gdLst>
              <a:ahLst/>
              <a:cxnLst>
                <a:cxn ang="T10">
                  <a:pos x="T0" y="T1"/>
                </a:cxn>
                <a:cxn ang="T11">
                  <a:pos x="T2" y="T3"/>
                </a:cxn>
                <a:cxn ang="T12">
                  <a:pos x="T4" y="T5"/>
                </a:cxn>
                <a:cxn ang="T13">
                  <a:pos x="T6" y="T7"/>
                </a:cxn>
                <a:cxn ang="T14">
                  <a:pos x="T8" y="T9"/>
                </a:cxn>
              </a:cxnLst>
              <a:rect l="T15" t="T16" r="T17" b="T18"/>
              <a:pathLst>
                <a:path w="699" h="441">
                  <a:moveTo>
                    <a:pt x="27" y="0"/>
                  </a:moveTo>
                  <a:lnTo>
                    <a:pt x="0" y="58"/>
                  </a:lnTo>
                  <a:lnTo>
                    <a:pt x="673" y="441"/>
                  </a:lnTo>
                  <a:lnTo>
                    <a:pt x="699" y="383"/>
                  </a:lnTo>
                  <a:lnTo>
                    <a:pt x="27" y="0"/>
                  </a:lnTo>
                  <a:close/>
                </a:path>
              </a:pathLst>
            </a:custGeom>
            <a:solidFill>
              <a:srgbClr val="000000"/>
            </a:solidFill>
            <a:ln w="9525">
              <a:noFill/>
              <a:round/>
              <a:headEnd/>
              <a:tailEnd/>
            </a:ln>
          </p:spPr>
          <p:txBody>
            <a:bodyPr/>
            <a:lstStyle/>
            <a:p>
              <a:endParaRPr lang="en-US"/>
            </a:p>
          </p:txBody>
        </p:sp>
        <p:sp>
          <p:nvSpPr>
            <p:cNvPr id="16864" name="Freeform 45"/>
            <p:cNvSpPr>
              <a:spLocks/>
            </p:cNvSpPr>
            <p:nvPr/>
          </p:nvSpPr>
          <p:spPr bwMode="auto">
            <a:xfrm>
              <a:off x="2934" y="770"/>
              <a:ext cx="1059" cy="264"/>
            </a:xfrm>
            <a:custGeom>
              <a:avLst/>
              <a:gdLst>
                <a:gd name="T0" fmla="*/ 0 w 2119"/>
                <a:gd name="T1" fmla="*/ 2 h 528"/>
                <a:gd name="T2" fmla="*/ 0 w 2119"/>
                <a:gd name="T3" fmla="*/ 2 h 528"/>
                <a:gd name="T4" fmla="*/ 8 w 2119"/>
                <a:gd name="T5" fmla="*/ 1 h 528"/>
                <a:gd name="T6" fmla="*/ 8 w 2119"/>
                <a:gd name="T7" fmla="*/ 0 h 528"/>
                <a:gd name="T8" fmla="*/ 0 w 2119"/>
                <a:gd name="T9" fmla="*/ 2 h 528"/>
                <a:gd name="T10" fmla="*/ 0 60000 65536"/>
                <a:gd name="T11" fmla="*/ 0 60000 65536"/>
                <a:gd name="T12" fmla="*/ 0 60000 65536"/>
                <a:gd name="T13" fmla="*/ 0 60000 65536"/>
                <a:gd name="T14" fmla="*/ 0 60000 65536"/>
                <a:gd name="T15" fmla="*/ 0 w 2119"/>
                <a:gd name="T16" fmla="*/ 0 h 528"/>
                <a:gd name="T17" fmla="*/ 2119 w 2119"/>
                <a:gd name="T18" fmla="*/ 528 h 528"/>
              </a:gdLst>
              <a:ahLst/>
              <a:cxnLst>
                <a:cxn ang="T10">
                  <a:pos x="T0" y="T1"/>
                </a:cxn>
                <a:cxn ang="T11">
                  <a:pos x="T2" y="T3"/>
                </a:cxn>
                <a:cxn ang="T12">
                  <a:pos x="T4" y="T5"/>
                </a:cxn>
                <a:cxn ang="T13">
                  <a:pos x="T6" y="T7"/>
                </a:cxn>
                <a:cxn ang="T14">
                  <a:pos x="T8" y="T9"/>
                </a:cxn>
              </a:cxnLst>
              <a:rect l="T15" t="T16" r="T17" b="T18"/>
              <a:pathLst>
                <a:path w="2119" h="528">
                  <a:moveTo>
                    <a:pt x="0" y="486"/>
                  </a:moveTo>
                  <a:lnTo>
                    <a:pt x="6" y="528"/>
                  </a:lnTo>
                  <a:lnTo>
                    <a:pt x="2119" y="42"/>
                  </a:lnTo>
                  <a:lnTo>
                    <a:pt x="2114" y="0"/>
                  </a:lnTo>
                  <a:lnTo>
                    <a:pt x="0" y="486"/>
                  </a:lnTo>
                  <a:close/>
                </a:path>
              </a:pathLst>
            </a:custGeom>
            <a:solidFill>
              <a:srgbClr val="DEFF73"/>
            </a:solidFill>
            <a:ln w="9525">
              <a:noFill/>
              <a:round/>
              <a:headEnd/>
              <a:tailEnd/>
            </a:ln>
          </p:spPr>
          <p:txBody>
            <a:bodyPr/>
            <a:lstStyle/>
            <a:p>
              <a:endParaRPr lang="en-US"/>
            </a:p>
          </p:txBody>
        </p:sp>
        <p:sp>
          <p:nvSpPr>
            <p:cNvPr id="16865" name="Freeform 46"/>
            <p:cNvSpPr>
              <a:spLocks/>
            </p:cNvSpPr>
            <p:nvPr/>
          </p:nvSpPr>
          <p:spPr bwMode="auto">
            <a:xfrm>
              <a:off x="2256" y="672"/>
              <a:ext cx="1872" cy="384"/>
            </a:xfrm>
            <a:custGeom>
              <a:avLst/>
              <a:gdLst>
                <a:gd name="T0" fmla="*/ 1872 w 1872"/>
                <a:gd name="T1" fmla="*/ 96 h 384"/>
                <a:gd name="T2" fmla="*/ 672 w 1872"/>
                <a:gd name="T3" fmla="*/ 384 h 384"/>
                <a:gd name="T4" fmla="*/ 0 w 1872"/>
                <a:gd name="T5" fmla="*/ 192 h 384"/>
                <a:gd name="T6" fmla="*/ 1392 w 1872"/>
                <a:gd name="T7" fmla="*/ 0 h 384"/>
                <a:gd name="T8" fmla="*/ 1872 w 1872"/>
                <a:gd name="T9" fmla="*/ 96 h 384"/>
                <a:gd name="T10" fmla="*/ 0 60000 65536"/>
                <a:gd name="T11" fmla="*/ 0 60000 65536"/>
                <a:gd name="T12" fmla="*/ 0 60000 65536"/>
                <a:gd name="T13" fmla="*/ 0 60000 65536"/>
                <a:gd name="T14" fmla="*/ 0 60000 65536"/>
                <a:gd name="T15" fmla="*/ 0 w 1872"/>
                <a:gd name="T16" fmla="*/ 0 h 384"/>
                <a:gd name="T17" fmla="*/ 1872 w 1872"/>
                <a:gd name="T18" fmla="*/ 384 h 384"/>
              </a:gdLst>
              <a:ahLst/>
              <a:cxnLst>
                <a:cxn ang="T10">
                  <a:pos x="T0" y="T1"/>
                </a:cxn>
                <a:cxn ang="T11">
                  <a:pos x="T2" y="T3"/>
                </a:cxn>
                <a:cxn ang="T12">
                  <a:pos x="T4" y="T5"/>
                </a:cxn>
                <a:cxn ang="T13">
                  <a:pos x="T6" y="T7"/>
                </a:cxn>
                <a:cxn ang="T14">
                  <a:pos x="T8" y="T9"/>
                </a:cxn>
              </a:cxnLst>
              <a:rect l="T15" t="T16" r="T17" b="T18"/>
              <a:pathLst>
                <a:path w="1872" h="384">
                  <a:moveTo>
                    <a:pt x="1872" y="96"/>
                  </a:moveTo>
                  <a:lnTo>
                    <a:pt x="672" y="384"/>
                  </a:lnTo>
                  <a:lnTo>
                    <a:pt x="0" y="192"/>
                  </a:lnTo>
                  <a:lnTo>
                    <a:pt x="1392" y="0"/>
                  </a:lnTo>
                  <a:lnTo>
                    <a:pt x="1872" y="96"/>
                  </a:lnTo>
                  <a:close/>
                </a:path>
              </a:pathLst>
            </a:custGeom>
            <a:gradFill rotWithShape="0">
              <a:gsLst>
                <a:gs pos="0">
                  <a:srgbClr val="BEE761"/>
                </a:gs>
                <a:gs pos="100000">
                  <a:srgbClr val="44D6FE"/>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6393" name="Group 47"/>
          <p:cNvGrpSpPr>
            <a:grpSpLocks/>
          </p:cNvGrpSpPr>
          <p:nvPr/>
        </p:nvGrpSpPr>
        <p:grpSpPr bwMode="auto">
          <a:xfrm rot="-245528">
            <a:off x="7467600" y="1143000"/>
            <a:ext cx="238125" cy="309563"/>
            <a:chOff x="2202" y="666"/>
            <a:chExt cx="2001" cy="2601"/>
          </a:xfrm>
        </p:grpSpPr>
        <p:sp>
          <p:nvSpPr>
            <p:cNvPr id="16812" name="Freeform 48"/>
            <p:cNvSpPr>
              <a:spLocks/>
            </p:cNvSpPr>
            <p:nvPr/>
          </p:nvSpPr>
          <p:spPr bwMode="auto">
            <a:xfrm>
              <a:off x="2236" y="871"/>
              <a:ext cx="692" cy="2345"/>
            </a:xfrm>
            <a:custGeom>
              <a:avLst/>
              <a:gdLst>
                <a:gd name="T0" fmla="*/ 692 w 692"/>
                <a:gd name="T1" fmla="*/ 2345 h 2345"/>
                <a:gd name="T2" fmla="*/ 116 w 692"/>
                <a:gd name="T3" fmla="*/ 2009 h 2345"/>
                <a:gd name="T4" fmla="*/ 116 w 692"/>
                <a:gd name="T5" fmla="*/ 1385 h 2345"/>
                <a:gd name="T6" fmla="*/ 164 w 692"/>
                <a:gd name="T7" fmla="*/ 1193 h 2345"/>
                <a:gd name="T8" fmla="*/ 0 w 692"/>
                <a:gd name="T9" fmla="*/ 0 h 2345"/>
                <a:gd name="T10" fmla="*/ 673 w 692"/>
                <a:gd name="T11" fmla="*/ 222 h 2345"/>
                <a:gd name="T12" fmla="*/ 692 w 692"/>
                <a:gd name="T13" fmla="*/ 2345 h 2345"/>
                <a:gd name="T14" fmla="*/ 0 60000 65536"/>
                <a:gd name="T15" fmla="*/ 0 60000 65536"/>
                <a:gd name="T16" fmla="*/ 0 60000 65536"/>
                <a:gd name="T17" fmla="*/ 0 60000 65536"/>
                <a:gd name="T18" fmla="*/ 0 60000 65536"/>
                <a:gd name="T19" fmla="*/ 0 60000 65536"/>
                <a:gd name="T20" fmla="*/ 0 60000 65536"/>
                <a:gd name="T21" fmla="*/ 0 w 692"/>
                <a:gd name="T22" fmla="*/ 0 h 2345"/>
                <a:gd name="T23" fmla="*/ 692 w 692"/>
                <a:gd name="T24" fmla="*/ 2345 h 23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2" h="2345">
                  <a:moveTo>
                    <a:pt x="692" y="2345"/>
                  </a:moveTo>
                  <a:lnTo>
                    <a:pt x="116" y="2009"/>
                  </a:lnTo>
                  <a:lnTo>
                    <a:pt x="116" y="1385"/>
                  </a:lnTo>
                  <a:lnTo>
                    <a:pt x="164" y="1193"/>
                  </a:lnTo>
                  <a:lnTo>
                    <a:pt x="0" y="0"/>
                  </a:lnTo>
                  <a:lnTo>
                    <a:pt x="673" y="222"/>
                  </a:lnTo>
                  <a:lnTo>
                    <a:pt x="692" y="2345"/>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813" name="Freeform 49"/>
            <p:cNvSpPr>
              <a:spLocks/>
            </p:cNvSpPr>
            <p:nvPr/>
          </p:nvSpPr>
          <p:spPr bwMode="auto">
            <a:xfrm>
              <a:off x="2928" y="768"/>
              <a:ext cx="1248" cy="2448"/>
            </a:xfrm>
            <a:custGeom>
              <a:avLst/>
              <a:gdLst>
                <a:gd name="T0" fmla="*/ 0 w 1248"/>
                <a:gd name="T1" fmla="*/ 336 h 2448"/>
                <a:gd name="T2" fmla="*/ 0 w 1248"/>
                <a:gd name="T3" fmla="*/ 2448 h 2448"/>
                <a:gd name="T4" fmla="*/ 1200 w 1248"/>
                <a:gd name="T5" fmla="*/ 1968 h 2448"/>
                <a:gd name="T6" fmla="*/ 1008 w 1248"/>
                <a:gd name="T7" fmla="*/ 1008 h 2448"/>
                <a:gd name="T8" fmla="*/ 1248 w 1248"/>
                <a:gd name="T9" fmla="*/ 0 h 2448"/>
                <a:gd name="T10" fmla="*/ 0 w 1248"/>
                <a:gd name="T11" fmla="*/ 336 h 2448"/>
                <a:gd name="T12" fmla="*/ 0 60000 65536"/>
                <a:gd name="T13" fmla="*/ 0 60000 65536"/>
                <a:gd name="T14" fmla="*/ 0 60000 65536"/>
                <a:gd name="T15" fmla="*/ 0 60000 65536"/>
                <a:gd name="T16" fmla="*/ 0 60000 65536"/>
                <a:gd name="T17" fmla="*/ 0 60000 65536"/>
                <a:gd name="T18" fmla="*/ 0 w 1248"/>
                <a:gd name="T19" fmla="*/ 0 h 2448"/>
                <a:gd name="T20" fmla="*/ 1248 w 1248"/>
                <a:gd name="T21" fmla="*/ 2448 h 2448"/>
              </a:gdLst>
              <a:ahLst/>
              <a:cxnLst>
                <a:cxn ang="T12">
                  <a:pos x="T0" y="T1"/>
                </a:cxn>
                <a:cxn ang="T13">
                  <a:pos x="T2" y="T3"/>
                </a:cxn>
                <a:cxn ang="T14">
                  <a:pos x="T4" y="T5"/>
                </a:cxn>
                <a:cxn ang="T15">
                  <a:pos x="T6" y="T7"/>
                </a:cxn>
                <a:cxn ang="T16">
                  <a:pos x="T8" y="T9"/>
                </a:cxn>
                <a:cxn ang="T17">
                  <a:pos x="T10" y="T11"/>
                </a:cxn>
              </a:cxnLst>
              <a:rect l="T18" t="T19" r="T20" b="T21"/>
              <a:pathLst>
                <a:path w="1248" h="2448">
                  <a:moveTo>
                    <a:pt x="0" y="336"/>
                  </a:moveTo>
                  <a:lnTo>
                    <a:pt x="0" y="2448"/>
                  </a:lnTo>
                  <a:lnTo>
                    <a:pt x="1200" y="1968"/>
                  </a:lnTo>
                  <a:lnTo>
                    <a:pt x="1008" y="1008"/>
                  </a:lnTo>
                  <a:lnTo>
                    <a:pt x="1248" y="0"/>
                  </a:lnTo>
                  <a:lnTo>
                    <a:pt x="0" y="336"/>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814" name="Freeform 50"/>
            <p:cNvSpPr>
              <a:spLocks/>
            </p:cNvSpPr>
            <p:nvPr/>
          </p:nvSpPr>
          <p:spPr bwMode="auto">
            <a:xfrm>
              <a:off x="2326" y="2051"/>
              <a:ext cx="603" cy="1216"/>
            </a:xfrm>
            <a:custGeom>
              <a:avLst/>
              <a:gdLst>
                <a:gd name="T0" fmla="*/ 1 w 1204"/>
                <a:gd name="T1" fmla="*/ 1 h 2432"/>
                <a:gd name="T2" fmla="*/ 1 w 1204"/>
                <a:gd name="T3" fmla="*/ 0 h 2432"/>
                <a:gd name="T4" fmla="*/ 0 w 1204"/>
                <a:gd name="T5" fmla="*/ 7 h 2432"/>
                <a:gd name="T6" fmla="*/ 5 w 1204"/>
                <a:gd name="T7" fmla="*/ 10 h 2432"/>
                <a:gd name="T8" fmla="*/ 5 w 1204"/>
                <a:gd name="T9" fmla="*/ 9 h 2432"/>
                <a:gd name="T10" fmla="*/ 5 w 1204"/>
                <a:gd name="T11" fmla="*/ 9 h 2432"/>
                <a:gd name="T12" fmla="*/ 5 w 1204"/>
                <a:gd name="T13" fmla="*/ 10 h 2432"/>
                <a:gd name="T14" fmla="*/ 1 w 1204"/>
                <a:gd name="T15" fmla="*/ 6 h 2432"/>
                <a:gd name="T16" fmla="*/ 1 w 1204"/>
                <a:gd name="T17" fmla="*/ 1 h 2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04"/>
                <a:gd name="T28" fmla="*/ 0 h 2432"/>
                <a:gd name="T29" fmla="*/ 1204 w 1204"/>
                <a:gd name="T30" fmla="*/ 2432 h 24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04" h="2432">
                  <a:moveTo>
                    <a:pt x="162" y="3"/>
                  </a:moveTo>
                  <a:lnTo>
                    <a:pt x="104" y="0"/>
                  </a:lnTo>
                  <a:lnTo>
                    <a:pt x="0" y="1669"/>
                  </a:lnTo>
                  <a:lnTo>
                    <a:pt x="1193" y="2432"/>
                  </a:lnTo>
                  <a:lnTo>
                    <a:pt x="1204" y="2292"/>
                  </a:lnTo>
                  <a:lnTo>
                    <a:pt x="1146" y="2286"/>
                  </a:lnTo>
                  <a:lnTo>
                    <a:pt x="1143" y="2328"/>
                  </a:lnTo>
                  <a:lnTo>
                    <a:pt x="58" y="1633"/>
                  </a:lnTo>
                  <a:lnTo>
                    <a:pt x="162" y="3"/>
                  </a:lnTo>
                  <a:close/>
                </a:path>
              </a:pathLst>
            </a:custGeom>
            <a:solidFill>
              <a:srgbClr val="000000"/>
            </a:solidFill>
            <a:ln w="9525">
              <a:noFill/>
              <a:round/>
              <a:headEnd/>
              <a:tailEnd/>
            </a:ln>
          </p:spPr>
          <p:txBody>
            <a:bodyPr/>
            <a:lstStyle/>
            <a:p>
              <a:endParaRPr lang="en-US"/>
            </a:p>
          </p:txBody>
        </p:sp>
        <p:sp>
          <p:nvSpPr>
            <p:cNvPr id="16815" name="Freeform 51"/>
            <p:cNvSpPr>
              <a:spLocks/>
            </p:cNvSpPr>
            <p:nvPr/>
          </p:nvSpPr>
          <p:spPr bwMode="auto">
            <a:xfrm>
              <a:off x="2202" y="858"/>
              <a:ext cx="206" cy="1196"/>
            </a:xfrm>
            <a:custGeom>
              <a:avLst/>
              <a:gdLst>
                <a:gd name="T0" fmla="*/ 0 w 410"/>
                <a:gd name="T1" fmla="*/ 0 h 2391"/>
                <a:gd name="T2" fmla="*/ 2 w 410"/>
                <a:gd name="T3" fmla="*/ 10 h 2391"/>
                <a:gd name="T4" fmla="*/ 2 w 410"/>
                <a:gd name="T5" fmla="*/ 10 h 2391"/>
                <a:gd name="T6" fmla="*/ 2 w 410"/>
                <a:gd name="T7" fmla="*/ 10 h 2391"/>
                <a:gd name="T8" fmla="*/ 1 w 410"/>
                <a:gd name="T9" fmla="*/ 1 h 2391"/>
                <a:gd name="T10" fmla="*/ 0 w 410"/>
                <a:gd name="T11" fmla="*/ 0 h 2391"/>
                <a:gd name="T12" fmla="*/ 0 60000 65536"/>
                <a:gd name="T13" fmla="*/ 0 60000 65536"/>
                <a:gd name="T14" fmla="*/ 0 60000 65536"/>
                <a:gd name="T15" fmla="*/ 0 60000 65536"/>
                <a:gd name="T16" fmla="*/ 0 60000 65536"/>
                <a:gd name="T17" fmla="*/ 0 60000 65536"/>
                <a:gd name="T18" fmla="*/ 0 w 410"/>
                <a:gd name="T19" fmla="*/ 0 h 2391"/>
                <a:gd name="T20" fmla="*/ 410 w 410"/>
                <a:gd name="T21" fmla="*/ 2391 h 2391"/>
              </a:gdLst>
              <a:ahLst/>
              <a:cxnLst>
                <a:cxn ang="T12">
                  <a:pos x="T0" y="T1"/>
                </a:cxn>
                <a:cxn ang="T13">
                  <a:pos x="T2" y="T3"/>
                </a:cxn>
                <a:cxn ang="T14">
                  <a:pos x="T4" y="T5"/>
                </a:cxn>
                <a:cxn ang="T15">
                  <a:pos x="T6" y="T7"/>
                </a:cxn>
                <a:cxn ang="T16">
                  <a:pos x="T8" y="T9"/>
                </a:cxn>
                <a:cxn ang="T17">
                  <a:pos x="T10" y="T11"/>
                </a:cxn>
              </a:cxnLst>
              <a:rect l="T18" t="T19" r="T20" b="T21"/>
              <a:pathLst>
                <a:path w="410" h="2391">
                  <a:moveTo>
                    <a:pt x="0" y="0"/>
                  </a:moveTo>
                  <a:lnTo>
                    <a:pt x="352" y="2391"/>
                  </a:lnTo>
                  <a:lnTo>
                    <a:pt x="410" y="2389"/>
                  </a:lnTo>
                  <a:lnTo>
                    <a:pt x="410" y="2385"/>
                  </a:lnTo>
                  <a:lnTo>
                    <a:pt x="69" y="81"/>
                  </a:lnTo>
                  <a:lnTo>
                    <a:pt x="0" y="0"/>
                  </a:lnTo>
                  <a:close/>
                </a:path>
              </a:pathLst>
            </a:custGeom>
            <a:solidFill>
              <a:srgbClr val="000000"/>
            </a:solidFill>
            <a:ln w="9525">
              <a:noFill/>
              <a:round/>
              <a:headEnd/>
              <a:tailEnd/>
            </a:ln>
          </p:spPr>
          <p:txBody>
            <a:bodyPr/>
            <a:lstStyle/>
            <a:p>
              <a:endParaRPr lang="en-US"/>
            </a:p>
          </p:txBody>
        </p:sp>
        <p:sp>
          <p:nvSpPr>
            <p:cNvPr id="16816" name="Freeform 52"/>
            <p:cNvSpPr>
              <a:spLocks/>
            </p:cNvSpPr>
            <p:nvPr/>
          </p:nvSpPr>
          <p:spPr bwMode="auto">
            <a:xfrm>
              <a:off x="2916" y="751"/>
              <a:ext cx="1287" cy="2503"/>
            </a:xfrm>
            <a:custGeom>
              <a:avLst/>
              <a:gdLst>
                <a:gd name="T0" fmla="*/ 1 w 2574"/>
                <a:gd name="T1" fmla="*/ 20 h 5006"/>
                <a:gd name="T2" fmla="*/ 1 w 2574"/>
                <a:gd name="T3" fmla="*/ 20 h 5006"/>
                <a:gd name="T4" fmla="*/ 10 w 2574"/>
                <a:gd name="T5" fmla="*/ 16 h 5006"/>
                <a:gd name="T6" fmla="*/ 9 w 2574"/>
                <a:gd name="T7" fmla="*/ 9 h 5006"/>
                <a:gd name="T8" fmla="*/ 10 w 2574"/>
                <a:gd name="T9" fmla="*/ 0 h 5006"/>
                <a:gd name="T10" fmla="*/ 0 w 2574"/>
                <a:gd name="T11" fmla="*/ 3 h 5006"/>
                <a:gd name="T12" fmla="*/ 1 w 2574"/>
                <a:gd name="T13" fmla="*/ 3 h 5006"/>
                <a:gd name="T14" fmla="*/ 10 w 2574"/>
                <a:gd name="T15" fmla="*/ 1 h 5006"/>
                <a:gd name="T16" fmla="*/ 8 w 2574"/>
                <a:gd name="T17" fmla="*/ 9 h 5006"/>
                <a:gd name="T18" fmla="*/ 10 w 2574"/>
                <a:gd name="T19" fmla="*/ 16 h 5006"/>
                <a:gd name="T20" fmla="*/ 1 w 2574"/>
                <a:gd name="T21" fmla="*/ 20 h 50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74"/>
                <a:gd name="T34" fmla="*/ 0 h 5006"/>
                <a:gd name="T35" fmla="*/ 2574 w 2574"/>
                <a:gd name="T36" fmla="*/ 5006 h 50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74" h="5006">
                  <a:moveTo>
                    <a:pt x="18" y="4944"/>
                  </a:moveTo>
                  <a:lnTo>
                    <a:pt x="36" y="5006"/>
                  </a:lnTo>
                  <a:lnTo>
                    <a:pt x="2394" y="4015"/>
                  </a:lnTo>
                  <a:lnTo>
                    <a:pt x="2098" y="2069"/>
                  </a:lnTo>
                  <a:lnTo>
                    <a:pt x="2574" y="0"/>
                  </a:lnTo>
                  <a:lnTo>
                    <a:pt x="0" y="620"/>
                  </a:lnTo>
                  <a:lnTo>
                    <a:pt x="56" y="675"/>
                  </a:lnTo>
                  <a:lnTo>
                    <a:pt x="2498" y="85"/>
                  </a:lnTo>
                  <a:lnTo>
                    <a:pt x="2040" y="2075"/>
                  </a:lnTo>
                  <a:lnTo>
                    <a:pt x="2330" y="3973"/>
                  </a:lnTo>
                  <a:lnTo>
                    <a:pt x="18" y="4944"/>
                  </a:lnTo>
                  <a:close/>
                </a:path>
              </a:pathLst>
            </a:custGeom>
            <a:solidFill>
              <a:srgbClr val="000000"/>
            </a:solidFill>
            <a:ln w="9525">
              <a:noFill/>
              <a:round/>
              <a:headEnd/>
              <a:tailEnd/>
            </a:ln>
          </p:spPr>
          <p:txBody>
            <a:bodyPr/>
            <a:lstStyle/>
            <a:p>
              <a:endParaRPr lang="en-US"/>
            </a:p>
          </p:txBody>
        </p:sp>
        <p:sp>
          <p:nvSpPr>
            <p:cNvPr id="16817" name="Freeform 53"/>
            <p:cNvSpPr>
              <a:spLocks/>
            </p:cNvSpPr>
            <p:nvPr/>
          </p:nvSpPr>
          <p:spPr bwMode="auto">
            <a:xfrm>
              <a:off x="2916" y="1061"/>
              <a:ext cx="29" cy="2200"/>
            </a:xfrm>
            <a:custGeom>
              <a:avLst/>
              <a:gdLst>
                <a:gd name="T0" fmla="*/ 1 w 58"/>
                <a:gd name="T1" fmla="*/ 0 h 4401"/>
                <a:gd name="T2" fmla="*/ 0 w 58"/>
                <a:gd name="T3" fmla="*/ 17 h 4401"/>
                <a:gd name="T4" fmla="*/ 1 w 58"/>
                <a:gd name="T5" fmla="*/ 17 h 4401"/>
                <a:gd name="T6" fmla="*/ 1 w 58"/>
                <a:gd name="T7" fmla="*/ 16 h 4401"/>
                <a:gd name="T8" fmla="*/ 1 w 58"/>
                <a:gd name="T9" fmla="*/ 0 h 4401"/>
                <a:gd name="T10" fmla="*/ 1 w 58"/>
                <a:gd name="T11" fmla="*/ 0 h 4401"/>
                <a:gd name="T12" fmla="*/ 0 60000 65536"/>
                <a:gd name="T13" fmla="*/ 0 60000 65536"/>
                <a:gd name="T14" fmla="*/ 0 60000 65536"/>
                <a:gd name="T15" fmla="*/ 0 60000 65536"/>
                <a:gd name="T16" fmla="*/ 0 60000 65536"/>
                <a:gd name="T17" fmla="*/ 0 60000 65536"/>
                <a:gd name="T18" fmla="*/ 0 w 58"/>
                <a:gd name="T19" fmla="*/ 0 h 4401"/>
                <a:gd name="T20" fmla="*/ 58 w 58"/>
                <a:gd name="T21" fmla="*/ 4401 h 4401"/>
              </a:gdLst>
              <a:ahLst/>
              <a:cxnLst>
                <a:cxn ang="T12">
                  <a:pos x="T0" y="T1"/>
                </a:cxn>
                <a:cxn ang="T13">
                  <a:pos x="T2" y="T3"/>
                </a:cxn>
                <a:cxn ang="T14">
                  <a:pos x="T4" y="T5"/>
                </a:cxn>
                <a:cxn ang="T15">
                  <a:pos x="T6" y="T7"/>
                </a:cxn>
                <a:cxn ang="T16">
                  <a:pos x="T8" y="T9"/>
                </a:cxn>
                <a:cxn ang="T17">
                  <a:pos x="T10" y="T11"/>
                </a:cxn>
              </a:cxnLst>
              <a:rect l="T18" t="T19" r="T20" b="T21"/>
              <a:pathLst>
                <a:path w="58" h="4401">
                  <a:moveTo>
                    <a:pt x="2" y="0"/>
                  </a:moveTo>
                  <a:lnTo>
                    <a:pt x="0" y="4401"/>
                  </a:lnTo>
                  <a:lnTo>
                    <a:pt x="38" y="4386"/>
                  </a:lnTo>
                  <a:lnTo>
                    <a:pt x="58" y="4310"/>
                  </a:lnTo>
                  <a:lnTo>
                    <a:pt x="58" y="55"/>
                  </a:lnTo>
                  <a:lnTo>
                    <a:pt x="2" y="0"/>
                  </a:lnTo>
                  <a:close/>
                </a:path>
              </a:pathLst>
            </a:custGeom>
            <a:solidFill>
              <a:srgbClr val="000000"/>
            </a:solidFill>
            <a:ln w="9525">
              <a:noFill/>
              <a:round/>
              <a:headEnd/>
              <a:tailEnd/>
            </a:ln>
          </p:spPr>
          <p:txBody>
            <a:bodyPr/>
            <a:lstStyle/>
            <a:p>
              <a:endParaRPr lang="en-US"/>
            </a:p>
          </p:txBody>
        </p:sp>
        <p:sp>
          <p:nvSpPr>
            <p:cNvPr id="16818" name="Freeform 54"/>
            <p:cNvSpPr>
              <a:spLocks/>
            </p:cNvSpPr>
            <p:nvPr/>
          </p:nvSpPr>
          <p:spPr bwMode="auto">
            <a:xfrm>
              <a:off x="2205" y="666"/>
              <a:ext cx="1982" cy="425"/>
            </a:xfrm>
            <a:custGeom>
              <a:avLst/>
              <a:gdLst>
                <a:gd name="T0" fmla="*/ 0 w 3964"/>
                <a:gd name="T1" fmla="*/ 1 h 851"/>
                <a:gd name="T2" fmla="*/ 1 w 3964"/>
                <a:gd name="T3" fmla="*/ 1 h 851"/>
                <a:gd name="T4" fmla="*/ 12 w 3964"/>
                <a:gd name="T5" fmla="*/ 0 h 851"/>
                <a:gd name="T6" fmla="*/ 15 w 3964"/>
                <a:gd name="T7" fmla="*/ 0 h 851"/>
                <a:gd name="T8" fmla="*/ 6 w 3964"/>
                <a:gd name="T9" fmla="*/ 3 h 851"/>
                <a:gd name="T10" fmla="*/ 6 w 3964"/>
                <a:gd name="T11" fmla="*/ 3 h 851"/>
                <a:gd name="T12" fmla="*/ 16 w 3964"/>
                <a:gd name="T13" fmla="*/ 0 h 851"/>
                <a:gd name="T14" fmla="*/ 16 w 3964"/>
                <a:gd name="T15" fmla="*/ 0 h 851"/>
                <a:gd name="T16" fmla="*/ 12 w 3964"/>
                <a:gd name="T17" fmla="*/ 0 h 851"/>
                <a:gd name="T18" fmla="*/ 0 w 3964"/>
                <a:gd name="T19" fmla="*/ 1 h 8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64"/>
                <a:gd name="T31" fmla="*/ 0 h 851"/>
                <a:gd name="T32" fmla="*/ 3964 w 3964"/>
                <a:gd name="T33" fmla="*/ 851 h 8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64" h="851">
                  <a:moveTo>
                    <a:pt x="0" y="378"/>
                  </a:moveTo>
                  <a:lnTo>
                    <a:pt x="5" y="444"/>
                  </a:lnTo>
                  <a:lnTo>
                    <a:pt x="2899" y="65"/>
                  </a:lnTo>
                  <a:lnTo>
                    <a:pt x="3796" y="220"/>
                  </a:lnTo>
                  <a:lnTo>
                    <a:pt x="1446" y="786"/>
                  </a:lnTo>
                  <a:lnTo>
                    <a:pt x="1452" y="851"/>
                  </a:lnTo>
                  <a:lnTo>
                    <a:pt x="3964" y="246"/>
                  </a:lnTo>
                  <a:lnTo>
                    <a:pt x="3961" y="181"/>
                  </a:lnTo>
                  <a:lnTo>
                    <a:pt x="2899" y="0"/>
                  </a:lnTo>
                  <a:lnTo>
                    <a:pt x="0" y="378"/>
                  </a:lnTo>
                  <a:close/>
                </a:path>
              </a:pathLst>
            </a:custGeom>
            <a:solidFill>
              <a:srgbClr val="000000"/>
            </a:solidFill>
            <a:ln w="9525">
              <a:noFill/>
              <a:round/>
              <a:headEnd/>
              <a:tailEnd/>
            </a:ln>
          </p:spPr>
          <p:txBody>
            <a:bodyPr/>
            <a:lstStyle/>
            <a:p>
              <a:endParaRPr lang="en-US"/>
            </a:p>
          </p:txBody>
        </p:sp>
        <p:sp>
          <p:nvSpPr>
            <p:cNvPr id="16819" name="Freeform 55"/>
            <p:cNvSpPr>
              <a:spLocks/>
            </p:cNvSpPr>
            <p:nvPr/>
          </p:nvSpPr>
          <p:spPr bwMode="auto">
            <a:xfrm>
              <a:off x="2204" y="855"/>
              <a:ext cx="727" cy="236"/>
            </a:xfrm>
            <a:custGeom>
              <a:avLst/>
              <a:gdLst>
                <a:gd name="T0" fmla="*/ 5 w 1455"/>
                <a:gd name="T1" fmla="*/ 1 h 473"/>
                <a:gd name="T2" fmla="*/ 0 w 1455"/>
                <a:gd name="T3" fmla="*/ 0 h 473"/>
                <a:gd name="T4" fmla="*/ 0 w 1455"/>
                <a:gd name="T5" fmla="*/ 0 h 473"/>
                <a:gd name="T6" fmla="*/ 0 w 1455"/>
                <a:gd name="T7" fmla="*/ 0 h 473"/>
                <a:gd name="T8" fmla="*/ 5 w 1455"/>
                <a:gd name="T9" fmla="*/ 1 h 473"/>
                <a:gd name="T10" fmla="*/ 5 w 1455"/>
                <a:gd name="T11" fmla="*/ 1 h 473"/>
                <a:gd name="T12" fmla="*/ 0 60000 65536"/>
                <a:gd name="T13" fmla="*/ 0 60000 65536"/>
                <a:gd name="T14" fmla="*/ 0 60000 65536"/>
                <a:gd name="T15" fmla="*/ 0 60000 65536"/>
                <a:gd name="T16" fmla="*/ 0 60000 65536"/>
                <a:gd name="T17" fmla="*/ 0 60000 65536"/>
                <a:gd name="T18" fmla="*/ 0 w 1455"/>
                <a:gd name="T19" fmla="*/ 0 h 473"/>
                <a:gd name="T20" fmla="*/ 1455 w 1455"/>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455" h="473">
                  <a:moveTo>
                    <a:pt x="1449" y="408"/>
                  </a:moveTo>
                  <a:lnTo>
                    <a:pt x="164" y="44"/>
                  </a:lnTo>
                  <a:lnTo>
                    <a:pt x="3" y="0"/>
                  </a:lnTo>
                  <a:lnTo>
                    <a:pt x="0" y="64"/>
                  </a:lnTo>
                  <a:lnTo>
                    <a:pt x="1455" y="473"/>
                  </a:lnTo>
                  <a:lnTo>
                    <a:pt x="1449" y="408"/>
                  </a:lnTo>
                  <a:close/>
                </a:path>
              </a:pathLst>
            </a:custGeom>
            <a:solidFill>
              <a:srgbClr val="000000"/>
            </a:solidFill>
            <a:ln w="9525">
              <a:noFill/>
              <a:round/>
              <a:headEnd/>
              <a:tailEnd/>
            </a:ln>
          </p:spPr>
          <p:txBody>
            <a:bodyPr/>
            <a:lstStyle/>
            <a:p>
              <a:endParaRPr lang="en-US"/>
            </a:p>
          </p:txBody>
        </p:sp>
        <p:sp>
          <p:nvSpPr>
            <p:cNvPr id="16820" name="Freeform 56"/>
            <p:cNvSpPr>
              <a:spLocks/>
            </p:cNvSpPr>
            <p:nvPr/>
          </p:nvSpPr>
          <p:spPr bwMode="auto">
            <a:xfrm>
              <a:off x="2300" y="1199"/>
              <a:ext cx="1779" cy="324"/>
            </a:xfrm>
            <a:custGeom>
              <a:avLst/>
              <a:gdLst>
                <a:gd name="T0" fmla="*/ 1 w 3556"/>
                <a:gd name="T1" fmla="*/ 1 h 647"/>
                <a:gd name="T2" fmla="*/ 0 w 3556"/>
                <a:gd name="T3" fmla="*/ 1 h 647"/>
                <a:gd name="T4" fmla="*/ 5 w 3556"/>
                <a:gd name="T5" fmla="*/ 3 h 647"/>
                <a:gd name="T6" fmla="*/ 14 w 3556"/>
                <a:gd name="T7" fmla="*/ 1 h 647"/>
                <a:gd name="T8" fmla="*/ 14 w 3556"/>
                <a:gd name="T9" fmla="*/ 0 h 647"/>
                <a:gd name="T10" fmla="*/ 5 w 3556"/>
                <a:gd name="T11" fmla="*/ 3 h 647"/>
                <a:gd name="T12" fmla="*/ 1 w 3556"/>
                <a:gd name="T13" fmla="*/ 1 h 647"/>
                <a:gd name="T14" fmla="*/ 0 60000 65536"/>
                <a:gd name="T15" fmla="*/ 0 60000 65536"/>
                <a:gd name="T16" fmla="*/ 0 60000 65536"/>
                <a:gd name="T17" fmla="*/ 0 60000 65536"/>
                <a:gd name="T18" fmla="*/ 0 60000 65536"/>
                <a:gd name="T19" fmla="*/ 0 60000 65536"/>
                <a:gd name="T20" fmla="*/ 0 60000 65536"/>
                <a:gd name="T21" fmla="*/ 0 w 3556"/>
                <a:gd name="T22" fmla="*/ 0 h 647"/>
                <a:gd name="T23" fmla="*/ 3556 w 3556"/>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6" h="647">
                  <a:moveTo>
                    <a:pt x="8" y="184"/>
                  </a:moveTo>
                  <a:lnTo>
                    <a:pt x="0" y="223"/>
                  </a:lnTo>
                  <a:lnTo>
                    <a:pt x="1247" y="647"/>
                  </a:lnTo>
                  <a:lnTo>
                    <a:pt x="3556" y="42"/>
                  </a:lnTo>
                  <a:lnTo>
                    <a:pt x="3551" y="0"/>
                  </a:lnTo>
                  <a:lnTo>
                    <a:pt x="1245" y="605"/>
                  </a:lnTo>
                  <a:lnTo>
                    <a:pt x="8" y="184"/>
                  </a:lnTo>
                  <a:close/>
                </a:path>
              </a:pathLst>
            </a:custGeom>
            <a:solidFill>
              <a:srgbClr val="000000"/>
            </a:solidFill>
            <a:ln w="9525">
              <a:noFill/>
              <a:round/>
              <a:headEnd/>
              <a:tailEnd/>
            </a:ln>
          </p:spPr>
          <p:txBody>
            <a:bodyPr/>
            <a:lstStyle/>
            <a:p>
              <a:endParaRPr lang="en-US"/>
            </a:p>
          </p:txBody>
        </p:sp>
        <p:sp>
          <p:nvSpPr>
            <p:cNvPr id="16821" name="Freeform 57"/>
            <p:cNvSpPr>
              <a:spLocks/>
            </p:cNvSpPr>
            <p:nvPr/>
          </p:nvSpPr>
          <p:spPr bwMode="auto">
            <a:xfrm>
              <a:off x="2334" y="1477"/>
              <a:ext cx="1690" cy="355"/>
            </a:xfrm>
            <a:custGeom>
              <a:avLst/>
              <a:gdLst>
                <a:gd name="T0" fmla="*/ 1 w 3380"/>
                <a:gd name="T1" fmla="*/ 1 h 709"/>
                <a:gd name="T2" fmla="*/ 0 w 3380"/>
                <a:gd name="T3" fmla="*/ 2 h 709"/>
                <a:gd name="T4" fmla="*/ 5 w 3380"/>
                <a:gd name="T5" fmla="*/ 3 h 709"/>
                <a:gd name="T6" fmla="*/ 13 w 3380"/>
                <a:gd name="T7" fmla="*/ 1 h 709"/>
                <a:gd name="T8" fmla="*/ 13 w 3380"/>
                <a:gd name="T9" fmla="*/ 0 h 709"/>
                <a:gd name="T10" fmla="*/ 5 w 3380"/>
                <a:gd name="T11" fmla="*/ 3 h 709"/>
                <a:gd name="T12" fmla="*/ 1 w 3380"/>
                <a:gd name="T13" fmla="*/ 1 h 709"/>
                <a:gd name="T14" fmla="*/ 0 60000 65536"/>
                <a:gd name="T15" fmla="*/ 0 60000 65536"/>
                <a:gd name="T16" fmla="*/ 0 60000 65536"/>
                <a:gd name="T17" fmla="*/ 0 60000 65536"/>
                <a:gd name="T18" fmla="*/ 0 60000 65536"/>
                <a:gd name="T19" fmla="*/ 0 60000 65536"/>
                <a:gd name="T20" fmla="*/ 0 60000 65536"/>
                <a:gd name="T21" fmla="*/ 0 w 3380"/>
                <a:gd name="T22" fmla="*/ 0 h 709"/>
                <a:gd name="T23" fmla="*/ 3380 w 3380"/>
                <a:gd name="T24" fmla="*/ 709 h 7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80" h="709">
                  <a:moveTo>
                    <a:pt x="11" y="228"/>
                  </a:moveTo>
                  <a:lnTo>
                    <a:pt x="0" y="267"/>
                  </a:lnTo>
                  <a:lnTo>
                    <a:pt x="1182" y="709"/>
                  </a:lnTo>
                  <a:lnTo>
                    <a:pt x="3380" y="42"/>
                  </a:lnTo>
                  <a:lnTo>
                    <a:pt x="3371" y="0"/>
                  </a:lnTo>
                  <a:lnTo>
                    <a:pt x="1182" y="666"/>
                  </a:lnTo>
                  <a:lnTo>
                    <a:pt x="11" y="228"/>
                  </a:lnTo>
                  <a:close/>
                </a:path>
              </a:pathLst>
            </a:custGeom>
            <a:solidFill>
              <a:srgbClr val="000000"/>
            </a:solidFill>
            <a:ln w="9525">
              <a:noFill/>
              <a:round/>
              <a:headEnd/>
              <a:tailEnd/>
            </a:ln>
          </p:spPr>
          <p:txBody>
            <a:bodyPr/>
            <a:lstStyle/>
            <a:p>
              <a:endParaRPr lang="en-US"/>
            </a:p>
          </p:txBody>
        </p:sp>
        <p:sp>
          <p:nvSpPr>
            <p:cNvPr id="16822" name="Freeform 58"/>
            <p:cNvSpPr>
              <a:spLocks/>
            </p:cNvSpPr>
            <p:nvPr/>
          </p:nvSpPr>
          <p:spPr bwMode="auto">
            <a:xfrm>
              <a:off x="2389" y="2201"/>
              <a:ext cx="1620" cy="363"/>
            </a:xfrm>
            <a:custGeom>
              <a:avLst/>
              <a:gdLst>
                <a:gd name="T0" fmla="*/ 1 w 3239"/>
                <a:gd name="T1" fmla="*/ 1 h 725"/>
                <a:gd name="T2" fmla="*/ 0 w 3239"/>
                <a:gd name="T3" fmla="*/ 1 h 725"/>
                <a:gd name="T4" fmla="*/ 5 w 3239"/>
                <a:gd name="T5" fmla="*/ 3 h 725"/>
                <a:gd name="T6" fmla="*/ 13 w 3239"/>
                <a:gd name="T7" fmla="*/ 1 h 725"/>
                <a:gd name="T8" fmla="*/ 13 w 3239"/>
                <a:gd name="T9" fmla="*/ 0 h 725"/>
                <a:gd name="T10" fmla="*/ 5 w 3239"/>
                <a:gd name="T11" fmla="*/ 3 h 725"/>
                <a:gd name="T12" fmla="*/ 1 w 3239"/>
                <a:gd name="T13" fmla="*/ 1 h 725"/>
                <a:gd name="T14" fmla="*/ 0 60000 65536"/>
                <a:gd name="T15" fmla="*/ 0 60000 65536"/>
                <a:gd name="T16" fmla="*/ 0 60000 65536"/>
                <a:gd name="T17" fmla="*/ 0 60000 65536"/>
                <a:gd name="T18" fmla="*/ 0 60000 65536"/>
                <a:gd name="T19" fmla="*/ 0 60000 65536"/>
                <a:gd name="T20" fmla="*/ 0 60000 65536"/>
                <a:gd name="T21" fmla="*/ 0 w 3239"/>
                <a:gd name="T22" fmla="*/ 0 h 725"/>
                <a:gd name="T23" fmla="*/ 3239 w 3239"/>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5">
                  <a:moveTo>
                    <a:pt x="14" y="113"/>
                  </a:moveTo>
                  <a:lnTo>
                    <a:pt x="0" y="152"/>
                  </a:lnTo>
                  <a:lnTo>
                    <a:pt x="1075" y="725"/>
                  </a:lnTo>
                  <a:lnTo>
                    <a:pt x="3239" y="39"/>
                  </a:lnTo>
                  <a:lnTo>
                    <a:pt x="3231" y="0"/>
                  </a:lnTo>
                  <a:lnTo>
                    <a:pt x="1084" y="683"/>
                  </a:lnTo>
                  <a:lnTo>
                    <a:pt x="14" y="113"/>
                  </a:lnTo>
                  <a:close/>
                </a:path>
              </a:pathLst>
            </a:custGeom>
            <a:solidFill>
              <a:srgbClr val="000000"/>
            </a:solidFill>
            <a:ln w="9525">
              <a:noFill/>
              <a:round/>
              <a:headEnd/>
              <a:tailEnd/>
            </a:ln>
          </p:spPr>
          <p:txBody>
            <a:bodyPr/>
            <a:lstStyle/>
            <a:p>
              <a:endParaRPr lang="en-US"/>
            </a:p>
          </p:txBody>
        </p:sp>
        <p:sp>
          <p:nvSpPr>
            <p:cNvPr id="16823" name="Freeform 59"/>
            <p:cNvSpPr>
              <a:spLocks/>
            </p:cNvSpPr>
            <p:nvPr/>
          </p:nvSpPr>
          <p:spPr bwMode="auto">
            <a:xfrm>
              <a:off x="2297" y="1174"/>
              <a:ext cx="1779" cy="324"/>
            </a:xfrm>
            <a:custGeom>
              <a:avLst/>
              <a:gdLst>
                <a:gd name="T0" fmla="*/ 0 w 3559"/>
                <a:gd name="T1" fmla="*/ 1 h 647"/>
                <a:gd name="T2" fmla="*/ 0 w 3559"/>
                <a:gd name="T3" fmla="*/ 1 h 647"/>
                <a:gd name="T4" fmla="*/ 4 w 3559"/>
                <a:gd name="T5" fmla="*/ 3 h 647"/>
                <a:gd name="T6" fmla="*/ 13 w 3559"/>
                <a:gd name="T7" fmla="*/ 1 h 647"/>
                <a:gd name="T8" fmla="*/ 13 w 3559"/>
                <a:gd name="T9" fmla="*/ 0 h 647"/>
                <a:gd name="T10" fmla="*/ 4 w 3559"/>
                <a:gd name="T11" fmla="*/ 3 h 647"/>
                <a:gd name="T12" fmla="*/ 0 w 3559"/>
                <a:gd name="T13" fmla="*/ 1 h 647"/>
                <a:gd name="T14" fmla="*/ 0 60000 65536"/>
                <a:gd name="T15" fmla="*/ 0 60000 65536"/>
                <a:gd name="T16" fmla="*/ 0 60000 65536"/>
                <a:gd name="T17" fmla="*/ 0 60000 65536"/>
                <a:gd name="T18" fmla="*/ 0 60000 65536"/>
                <a:gd name="T19" fmla="*/ 0 60000 65536"/>
                <a:gd name="T20" fmla="*/ 0 60000 65536"/>
                <a:gd name="T21" fmla="*/ 0 w 3559"/>
                <a:gd name="T22" fmla="*/ 0 h 647"/>
                <a:gd name="T23" fmla="*/ 3559 w 3559"/>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9" h="647">
                  <a:moveTo>
                    <a:pt x="9" y="183"/>
                  </a:moveTo>
                  <a:lnTo>
                    <a:pt x="0" y="222"/>
                  </a:lnTo>
                  <a:lnTo>
                    <a:pt x="1250" y="647"/>
                  </a:lnTo>
                  <a:lnTo>
                    <a:pt x="3559" y="43"/>
                  </a:lnTo>
                  <a:lnTo>
                    <a:pt x="3553" y="0"/>
                  </a:lnTo>
                  <a:lnTo>
                    <a:pt x="1247" y="605"/>
                  </a:lnTo>
                  <a:lnTo>
                    <a:pt x="9" y="183"/>
                  </a:lnTo>
                  <a:close/>
                </a:path>
              </a:pathLst>
            </a:custGeom>
            <a:solidFill>
              <a:srgbClr val="DEFF73"/>
            </a:solidFill>
            <a:ln w="9525">
              <a:noFill/>
              <a:round/>
              <a:headEnd/>
              <a:tailEnd/>
            </a:ln>
          </p:spPr>
          <p:txBody>
            <a:bodyPr/>
            <a:lstStyle/>
            <a:p>
              <a:endParaRPr lang="en-US"/>
            </a:p>
          </p:txBody>
        </p:sp>
        <p:sp>
          <p:nvSpPr>
            <p:cNvPr id="16824" name="Freeform 60"/>
            <p:cNvSpPr>
              <a:spLocks/>
            </p:cNvSpPr>
            <p:nvPr/>
          </p:nvSpPr>
          <p:spPr bwMode="auto">
            <a:xfrm>
              <a:off x="2331" y="1451"/>
              <a:ext cx="1690" cy="355"/>
            </a:xfrm>
            <a:custGeom>
              <a:avLst/>
              <a:gdLst>
                <a:gd name="T0" fmla="*/ 1 w 3379"/>
                <a:gd name="T1" fmla="*/ 1 h 710"/>
                <a:gd name="T2" fmla="*/ 0 w 3379"/>
                <a:gd name="T3" fmla="*/ 2 h 710"/>
                <a:gd name="T4" fmla="*/ 5 w 3379"/>
                <a:gd name="T5" fmla="*/ 3 h 710"/>
                <a:gd name="T6" fmla="*/ 14 w 3379"/>
                <a:gd name="T7" fmla="*/ 1 h 710"/>
                <a:gd name="T8" fmla="*/ 14 w 3379"/>
                <a:gd name="T9" fmla="*/ 0 h 710"/>
                <a:gd name="T10" fmla="*/ 5 w 3379"/>
                <a:gd name="T11" fmla="*/ 3 h 710"/>
                <a:gd name="T12" fmla="*/ 1 w 3379"/>
                <a:gd name="T13" fmla="*/ 1 h 710"/>
                <a:gd name="T14" fmla="*/ 0 60000 65536"/>
                <a:gd name="T15" fmla="*/ 0 60000 65536"/>
                <a:gd name="T16" fmla="*/ 0 60000 65536"/>
                <a:gd name="T17" fmla="*/ 0 60000 65536"/>
                <a:gd name="T18" fmla="*/ 0 60000 65536"/>
                <a:gd name="T19" fmla="*/ 0 60000 65536"/>
                <a:gd name="T20" fmla="*/ 0 60000 65536"/>
                <a:gd name="T21" fmla="*/ 0 w 3379"/>
                <a:gd name="T22" fmla="*/ 0 h 710"/>
                <a:gd name="T23" fmla="*/ 3379 w 3379"/>
                <a:gd name="T24" fmla="*/ 710 h 7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9" h="710">
                  <a:moveTo>
                    <a:pt x="11" y="229"/>
                  </a:moveTo>
                  <a:lnTo>
                    <a:pt x="0" y="268"/>
                  </a:lnTo>
                  <a:lnTo>
                    <a:pt x="1181" y="710"/>
                  </a:lnTo>
                  <a:lnTo>
                    <a:pt x="3379" y="43"/>
                  </a:lnTo>
                  <a:lnTo>
                    <a:pt x="3370" y="0"/>
                  </a:lnTo>
                  <a:lnTo>
                    <a:pt x="1181" y="667"/>
                  </a:lnTo>
                  <a:lnTo>
                    <a:pt x="11" y="229"/>
                  </a:lnTo>
                  <a:close/>
                </a:path>
              </a:pathLst>
            </a:custGeom>
            <a:solidFill>
              <a:srgbClr val="DEFF73"/>
            </a:solidFill>
            <a:ln w="9525">
              <a:noFill/>
              <a:round/>
              <a:headEnd/>
              <a:tailEnd/>
            </a:ln>
          </p:spPr>
          <p:txBody>
            <a:bodyPr/>
            <a:lstStyle/>
            <a:p>
              <a:endParaRPr lang="en-US"/>
            </a:p>
          </p:txBody>
        </p:sp>
        <p:sp>
          <p:nvSpPr>
            <p:cNvPr id="16825" name="Freeform 61"/>
            <p:cNvSpPr>
              <a:spLocks/>
            </p:cNvSpPr>
            <p:nvPr/>
          </p:nvSpPr>
          <p:spPr bwMode="auto">
            <a:xfrm>
              <a:off x="2386" y="2175"/>
              <a:ext cx="1620" cy="363"/>
            </a:xfrm>
            <a:custGeom>
              <a:avLst/>
              <a:gdLst>
                <a:gd name="T0" fmla="*/ 1 w 3239"/>
                <a:gd name="T1" fmla="*/ 0 h 727"/>
                <a:gd name="T2" fmla="*/ 0 w 3239"/>
                <a:gd name="T3" fmla="*/ 0 h 727"/>
                <a:gd name="T4" fmla="*/ 5 w 3239"/>
                <a:gd name="T5" fmla="*/ 2 h 727"/>
                <a:gd name="T6" fmla="*/ 13 w 3239"/>
                <a:gd name="T7" fmla="*/ 0 h 727"/>
                <a:gd name="T8" fmla="*/ 13 w 3239"/>
                <a:gd name="T9" fmla="*/ 0 h 727"/>
                <a:gd name="T10" fmla="*/ 5 w 3239"/>
                <a:gd name="T11" fmla="*/ 2 h 727"/>
                <a:gd name="T12" fmla="*/ 1 w 3239"/>
                <a:gd name="T13" fmla="*/ 0 h 727"/>
                <a:gd name="T14" fmla="*/ 0 60000 65536"/>
                <a:gd name="T15" fmla="*/ 0 60000 65536"/>
                <a:gd name="T16" fmla="*/ 0 60000 65536"/>
                <a:gd name="T17" fmla="*/ 0 60000 65536"/>
                <a:gd name="T18" fmla="*/ 0 60000 65536"/>
                <a:gd name="T19" fmla="*/ 0 60000 65536"/>
                <a:gd name="T20" fmla="*/ 0 60000 65536"/>
                <a:gd name="T21" fmla="*/ 0 w 3239"/>
                <a:gd name="T22" fmla="*/ 0 h 727"/>
                <a:gd name="T23" fmla="*/ 3239 w 3239"/>
                <a:gd name="T24" fmla="*/ 727 h 7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7">
                  <a:moveTo>
                    <a:pt x="14" y="114"/>
                  </a:moveTo>
                  <a:lnTo>
                    <a:pt x="0" y="153"/>
                  </a:lnTo>
                  <a:lnTo>
                    <a:pt x="1076" y="727"/>
                  </a:lnTo>
                  <a:lnTo>
                    <a:pt x="3239" y="39"/>
                  </a:lnTo>
                  <a:lnTo>
                    <a:pt x="3230" y="0"/>
                  </a:lnTo>
                  <a:lnTo>
                    <a:pt x="1085" y="685"/>
                  </a:lnTo>
                  <a:lnTo>
                    <a:pt x="14" y="114"/>
                  </a:lnTo>
                  <a:close/>
                </a:path>
              </a:pathLst>
            </a:custGeom>
            <a:solidFill>
              <a:srgbClr val="DEFF73"/>
            </a:solidFill>
            <a:ln w="9525">
              <a:noFill/>
              <a:round/>
              <a:headEnd/>
              <a:tailEnd/>
            </a:ln>
          </p:spPr>
          <p:txBody>
            <a:bodyPr/>
            <a:lstStyle/>
            <a:p>
              <a:endParaRPr lang="en-US"/>
            </a:p>
          </p:txBody>
        </p:sp>
        <p:sp>
          <p:nvSpPr>
            <p:cNvPr id="16826" name="Freeform 62"/>
            <p:cNvSpPr>
              <a:spLocks/>
            </p:cNvSpPr>
            <p:nvPr/>
          </p:nvSpPr>
          <p:spPr bwMode="auto">
            <a:xfrm>
              <a:off x="2315" y="1005"/>
              <a:ext cx="496" cy="331"/>
            </a:xfrm>
            <a:custGeom>
              <a:avLst/>
              <a:gdLst>
                <a:gd name="T0" fmla="*/ 0 w 993"/>
                <a:gd name="T1" fmla="*/ 0 h 664"/>
                <a:gd name="T2" fmla="*/ 0 w 993"/>
                <a:gd name="T3" fmla="*/ 1 h 664"/>
                <a:gd name="T4" fmla="*/ 3 w 993"/>
                <a:gd name="T5" fmla="*/ 2 h 664"/>
                <a:gd name="T6" fmla="*/ 3 w 993"/>
                <a:gd name="T7" fmla="*/ 1 h 664"/>
                <a:gd name="T8" fmla="*/ 0 w 993"/>
                <a:gd name="T9" fmla="*/ 0 h 664"/>
                <a:gd name="T10" fmla="*/ 0 w 993"/>
                <a:gd name="T11" fmla="*/ 0 h 664"/>
                <a:gd name="T12" fmla="*/ 0 w 993"/>
                <a:gd name="T13" fmla="*/ 0 h 664"/>
                <a:gd name="T14" fmla="*/ 0 60000 65536"/>
                <a:gd name="T15" fmla="*/ 0 60000 65536"/>
                <a:gd name="T16" fmla="*/ 0 60000 65536"/>
                <a:gd name="T17" fmla="*/ 0 60000 65536"/>
                <a:gd name="T18" fmla="*/ 0 60000 65536"/>
                <a:gd name="T19" fmla="*/ 0 60000 65536"/>
                <a:gd name="T20" fmla="*/ 0 60000 65536"/>
                <a:gd name="T21" fmla="*/ 0 w 993"/>
                <a:gd name="T22" fmla="*/ 0 h 664"/>
                <a:gd name="T23" fmla="*/ 993 w 993"/>
                <a:gd name="T24" fmla="*/ 664 h 6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3" h="664">
                  <a:moveTo>
                    <a:pt x="0" y="47"/>
                  </a:moveTo>
                  <a:lnTo>
                    <a:pt x="44" y="339"/>
                  </a:lnTo>
                  <a:lnTo>
                    <a:pt x="990" y="664"/>
                  </a:lnTo>
                  <a:lnTo>
                    <a:pt x="993" y="372"/>
                  </a:lnTo>
                  <a:lnTo>
                    <a:pt x="0" y="0"/>
                  </a:lnTo>
                  <a:lnTo>
                    <a:pt x="0" y="47"/>
                  </a:lnTo>
                  <a:close/>
                </a:path>
              </a:pathLst>
            </a:custGeom>
            <a:solidFill>
              <a:srgbClr val="99FFFB"/>
            </a:solidFill>
            <a:ln w="9525">
              <a:noFill/>
              <a:round/>
              <a:headEnd/>
              <a:tailEnd/>
            </a:ln>
          </p:spPr>
          <p:txBody>
            <a:bodyPr/>
            <a:lstStyle/>
            <a:p>
              <a:endParaRPr lang="en-US"/>
            </a:p>
          </p:txBody>
        </p:sp>
        <p:sp>
          <p:nvSpPr>
            <p:cNvPr id="16827" name="Freeform 63"/>
            <p:cNvSpPr>
              <a:spLocks/>
            </p:cNvSpPr>
            <p:nvPr/>
          </p:nvSpPr>
          <p:spPr bwMode="auto">
            <a:xfrm>
              <a:off x="2305" y="1027"/>
              <a:ext cx="516" cy="322"/>
            </a:xfrm>
            <a:custGeom>
              <a:avLst/>
              <a:gdLst>
                <a:gd name="T0" fmla="*/ 1 w 1030"/>
                <a:gd name="T1" fmla="*/ 0 h 644"/>
                <a:gd name="T2" fmla="*/ 0 w 1030"/>
                <a:gd name="T3" fmla="*/ 1 h 644"/>
                <a:gd name="T4" fmla="*/ 1 w 1030"/>
                <a:gd name="T5" fmla="*/ 2 h 644"/>
                <a:gd name="T6" fmla="*/ 5 w 1030"/>
                <a:gd name="T7" fmla="*/ 3 h 644"/>
                <a:gd name="T8" fmla="*/ 5 w 1030"/>
                <a:gd name="T9" fmla="*/ 2 h 644"/>
                <a:gd name="T10" fmla="*/ 4 w 1030"/>
                <a:gd name="T11" fmla="*/ 2 h 644"/>
                <a:gd name="T12" fmla="*/ 4 w 1030"/>
                <a:gd name="T13" fmla="*/ 3 h 644"/>
                <a:gd name="T14" fmla="*/ 1 w 1030"/>
                <a:gd name="T15" fmla="*/ 2 h 644"/>
                <a:gd name="T16" fmla="*/ 1 w 1030"/>
                <a:gd name="T17" fmla="*/ 0 h 6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0"/>
                <a:gd name="T28" fmla="*/ 0 h 644"/>
                <a:gd name="T29" fmla="*/ 1030 w 1030"/>
                <a:gd name="T30" fmla="*/ 644 h 6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0" h="644">
                  <a:moveTo>
                    <a:pt x="37" y="0"/>
                  </a:moveTo>
                  <a:lnTo>
                    <a:pt x="0" y="3"/>
                  </a:lnTo>
                  <a:lnTo>
                    <a:pt x="45" y="308"/>
                  </a:lnTo>
                  <a:lnTo>
                    <a:pt x="1026" y="644"/>
                  </a:lnTo>
                  <a:lnTo>
                    <a:pt x="1030" y="313"/>
                  </a:lnTo>
                  <a:lnTo>
                    <a:pt x="993" y="339"/>
                  </a:lnTo>
                  <a:lnTo>
                    <a:pt x="991" y="592"/>
                  </a:lnTo>
                  <a:lnTo>
                    <a:pt x="79" y="279"/>
                  </a:lnTo>
                  <a:lnTo>
                    <a:pt x="37" y="0"/>
                  </a:lnTo>
                  <a:close/>
                </a:path>
              </a:pathLst>
            </a:custGeom>
            <a:solidFill>
              <a:srgbClr val="000000"/>
            </a:solidFill>
            <a:ln w="9525">
              <a:noFill/>
              <a:round/>
              <a:headEnd/>
              <a:tailEnd/>
            </a:ln>
          </p:spPr>
          <p:txBody>
            <a:bodyPr/>
            <a:lstStyle/>
            <a:p>
              <a:endParaRPr lang="en-US"/>
            </a:p>
          </p:txBody>
        </p:sp>
        <p:sp>
          <p:nvSpPr>
            <p:cNvPr id="16828" name="Freeform 64"/>
            <p:cNvSpPr>
              <a:spLocks/>
            </p:cNvSpPr>
            <p:nvPr/>
          </p:nvSpPr>
          <p:spPr bwMode="auto">
            <a:xfrm>
              <a:off x="2305" y="991"/>
              <a:ext cx="516" cy="206"/>
            </a:xfrm>
            <a:custGeom>
              <a:avLst/>
              <a:gdLst>
                <a:gd name="T0" fmla="*/ 5 w 1030"/>
                <a:gd name="T1" fmla="*/ 2 h 412"/>
                <a:gd name="T2" fmla="*/ 1 w 1030"/>
                <a:gd name="T3" fmla="*/ 0 h 412"/>
                <a:gd name="T4" fmla="*/ 0 w 1030"/>
                <a:gd name="T5" fmla="*/ 1 h 412"/>
                <a:gd name="T6" fmla="*/ 0 w 1030"/>
                <a:gd name="T7" fmla="*/ 1 h 412"/>
                <a:gd name="T8" fmla="*/ 1 w 1030"/>
                <a:gd name="T9" fmla="*/ 1 h 412"/>
                <a:gd name="T10" fmla="*/ 1 w 1030"/>
                <a:gd name="T11" fmla="*/ 1 h 412"/>
                <a:gd name="T12" fmla="*/ 4 w 1030"/>
                <a:gd name="T13" fmla="*/ 2 h 412"/>
                <a:gd name="T14" fmla="*/ 5 w 1030"/>
                <a:gd name="T15" fmla="*/ 2 h 412"/>
                <a:gd name="T16" fmla="*/ 0 60000 65536"/>
                <a:gd name="T17" fmla="*/ 0 60000 65536"/>
                <a:gd name="T18" fmla="*/ 0 60000 65536"/>
                <a:gd name="T19" fmla="*/ 0 60000 65536"/>
                <a:gd name="T20" fmla="*/ 0 60000 65536"/>
                <a:gd name="T21" fmla="*/ 0 60000 65536"/>
                <a:gd name="T22" fmla="*/ 0 60000 65536"/>
                <a:gd name="T23" fmla="*/ 0 60000 65536"/>
                <a:gd name="T24" fmla="*/ 0 w 1030"/>
                <a:gd name="T25" fmla="*/ 0 h 412"/>
                <a:gd name="T26" fmla="*/ 1030 w 1030"/>
                <a:gd name="T27" fmla="*/ 412 h 4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0" h="412">
                  <a:moveTo>
                    <a:pt x="1030" y="386"/>
                  </a:moveTo>
                  <a:lnTo>
                    <a:pt x="1" y="0"/>
                  </a:lnTo>
                  <a:lnTo>
                    <a:pt x="0" y="74"/>
                  </a:lnTo>
                  <a:lnTo>
                    <a:pt x="0" y="76"/>
                  </a:lnTo>
                  <a:lnTo>
                    <a:pt x="37" y="73"/>
                  </a:lnTo>
                  <a:lnTo>
                    <a:pt x="37" y="55"/>
                  </a:lnTo>
                  <a:lnTo>
                    <a:pt x="993" y="412"/>
                  </a:lnTo>
                  <a:lnTo>
                    <a:pt x="1030" y="386"/>
                  </a:lnTo>
                  <a:close/>
                </a:path>
              </a:pathLst>
            </a:custGeom>
            <a:solidFill>
              <a:srgbClr val="000000"/>
            </a:solidFill>
            <a:ln w="9525">
              <a:noFill/>
              <a:round/>
              <a:headEnd/>
              <a:tailEnd/>
            </a:ln>
          </p:spPr>
          <p:txBody>
            <a:bodyPr/>
            <a:lstStyle/>
            <a:p>
              <a:endParaRPr lang="en-US"/>
            </a:p>
          </p:txBody>
        </p:sp>
        <p:sp>
          <p:nvSpPr>
            <p:cNvPr id="16829" name="Freeform 65"/>
            <p:cNvSpPr>
              <a:spLocks/>
            </p:cNvSpPr>
            <p:nvPr/>
          </p:nvSpPr>
          <p:spPr bwMode="auto">
            <a:xfrm>
              <a:off x="2340" y="1403"/>
              <a:ext cx="502" cy="270"/>
            </a:xfrm>
            <a:custGeom>
              <a:avLst/>
              <a:gdLst>
                <a:gd name="T0" fmla="*/ 0 w 1005"/>
                <a:gd name="T1" fmla="*/ 0 h 540"/>
                <a:gd name="T2" fmla="*/ 0 w 1005"/>
                <a:gd name="T3" fmla="*/ 1 h 540"/>
                <a:gd name="T4" fmla="*/ 3 w 1005"/>
                <a:gd name="T5" fmla="*/ 2 h 540"/>
                <a:gd name="T6" fmla="*/ 3 w 1005"/>
                <a:gd name="T7" fmla="*/ 1 h 540"/>
                <a:gd name="T8" fmla="*/ 0 w 1005"/>
                <a:gd name="T9" fmla="*/ 0 h 540"/>
                <a:gd name="T10" fmla="*/ 0 w 1005"/>
                <a:gd name="T11" fmla="*/ 0 h 540"/>
                <a:gd name="T12" fmla="*/ 0 w 1005"/>
                <a:gd name="T13" fmla="*/ 0 h 540"/>
                <a:gd name="T14" fmla="*/ 0 60000 65536"/>
                <a:gd name="T15" fmla="*/ 0 60000 65536"/>
                <a:gd name="T16" fmla="*/ 0 60000 65536"/>
                <a:gd name="T17" fmla="*/ 0 60000 65536"/>
                <a:gd name="T18" fmla="*/ 0 60000 65536"/>
                <a:gd name="T19" fmla="*/ 0 60000 65536"/>
                <a:gd name="T20" fmla="*/ 0 60000 65536"/>
                <a:gd name="T21" fmla="*/ 0 w 1005"/>
                <a:gd name="T22" fmla="*/ 0 h 540"/>
                <a:gd name="T23" fmla="*/ 1005 w 1005"/>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5" h="540">
                  <a:moveTo>
                    <a:pt x="34" y="0"/>
                  </a:moveTo>
                  <a:lnTo>
                    <a:pt x="94" y="245"/>
                  </a:lnTo>
                  <a:lnTo>
                    <a:pt x="1005" y="540"/>
                  </a:lnTo>
                  <a:lnTo>
                    <a:pt x="993" y="317"/>
                  </a:lnTo>
                  <a:lnTo>
                    <a:pt x="0" y="0"/>
                  </a:lnTo>
                  <a:lnTo>
                    <a:pt x="34" y="0"/>
                  </a:lnTo>
                  <a:close/>
                </a:path>
              </a:pathLst>
            </a:custGeom>
            <a:solidFill>
              <a:srgbClr val="99FFFB"/>
            </a:solidFill>
            <a:ln w="9525">
              <a:noFill/>
              <a:round/>
              <a:headEnd/>
              <a:tailEnd/>
            </a:ln>
          </p:spPr>
          <p:txBody>
            <a:bodyPr/>
            <a:lstStyle/>
            <a:p>
              <a:endParaRPr lang="en-US"/>
            </a:p>
          </p:txBody>
        </p:sp>
        <p:sp>
          <p:nvSpPr>
            <p:cNvPr id="16830" name="Freeform 66"/>
            <p:cNvSpPr>
              <a:spLocks/>
            </p:cNvSpPr>
            <p:nvPr/>
          </p:nvSpPr>
          <p:spPr bwMode="auto">
            <a:xfrm>
              <a:off x="2348" y="1401"/>
              <a:ext cx="504" cy="285"/>
            </a:xfrm>
            <a:custGeom>
              <a:avLst/>
              <a:gdLst>
                <a:gd name="T0" fmla="*/ 1 w 1008"/>
                <a:gd name="T1" fmla="*/ 0 h 571"/>
                <a:gd name="T2" fmla="*/ 0 w 1008"/>
                <a:gd name="T3" fmla="*/ 0 h 571"/>
                <a:gd name="T4" fmla="*/ 1 w 1008"/>
                <a:gd name="T5" fmla="*/ 1 h 571"/>
                <a:gd name="T6" fmla="*/ 4 w 1008"/>
                <a:gd name="T7" fmla="*/ 2 h 571"/>
                <a:gd name="T8" fmla="*/ 4 w 1008"/>
                <a:gd name="T9" fmla="*/ 1 h 571"/>
                <a:gd name="T10" fmla="*/ 4 w 1008"/>
                <a:gd name="T11" fmla="*/ 1 h 571"/>
                <a:gd name="T12" fmla="*/ 4 w 1008"/>
                <a:gd name="T13" fmla="*/ 2 h 571"/>
                <a:gd name="T14" fmla="*/ 1 w 1008"/>
                <a:gd name="T15" fmla="*/ 0 h 571"/>
                <a:gd name="T16" fmla="*/ 1 w 1008"/>
                <a:gd name="T17" fmla="*/ 0 h 5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8"/>
                <a:gd name="T28" fmla="*/ 0 h 571"/>
                <a:gd name="T29" fmla="*/ 1008 w 1008"/>
                <a:gd name="T30" fmla="*/ 571 h 5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8" h="571">
                  <a:moveTo>
                    <a:pt x="35" y="0"/>
                  </a:moveTo>
                  <a:lnTo>
                    <a:pt x="0" y="10"/>
                  </a:lnTo>
                  <a:lnTo>
                    <a:pt x="62" y="264"/>
                  </a:lnTo>
                  <a:lnTo>
                    <a:pt x="1008" y="571"/>
                  </a:lnTo>
                  <a:lnTo>
                    <a:pt x="996" y="307"/>
                  </a:lnTo>
                  <a:lnTo>
                    <a:pt x="958" y="336"/>
                  </a:lnTo>
                  <a:lnTo>
                    <a:pt x="970" y="519"/>
                  </a:lnTo>
                  <a:lnTo>
                    <a:pt x="94" y="235"/>
                  </a:lnTo>
                  <a:lnTo>
                    <a:pt x="35" y="0"/>
                  </a:lnTo>
                  <a:close/>
                </a:path>
              </a:pathLst>
            </a:custGeom>
            <a:solidFill>
              <a:srgbClr val="000000"/>
            </a:solidFill>
            <a:ln w="9525">
              <a:noFill/>
              <a:round/>
              <a:headEnd/>
              <a:tailEnd/>
            </a:ln>
          </p:spPr>
          <p:txBody>
            <a:bodyPr/>
            <a:lstStyle/>
            <a:p>
              <a:endParaRPr lang="en-US"/>
            </a:p>
          </p:txBody>
        </p:sp>
        <p:sp>
          <p:nvSpPr>
            <p:cNvPr id="16831" name="Freeform 67"/>
            <p:cNvSpPr>
              <a:spLocks/>
            </p:cNvSpPr>
            <p:nvPr/>
          </p:nvSpPr>
          <p:spPr bwMode="auto">
            <a:xfrm>
              <a:off x="2338" y="1393"/>
              <a:ext cx="508" cy="176"/>
            </a:xfrm>
            <a:custGeom>
              <a:avLst/>
              <a:gdLst>
                <a:gd name="T0" fmla="*/ 4 w 1016"/>
                <a:gd name="T1" fmla="*/ 2 h 350"/>
                <a:gd name="T2" fmla="*/ 1 w 1016"/>
                <a:gd name="T3" fmla="*/ 0 h 350"/>
                <a:gd name="T4" fmla="*/ 1 w 1016"/>
                <a:gd name="T5" fmla="*/ 1 h 350"/>
                <a:gd name="T6" fmla="*/ 0 w 1016"/>
                <a:gd name="T7" fmla="*/ 1 h 350"/>
                <a:gd name="T8" fmla="*/ 4 w 1016"/>
                <a:gd name="T9" fmla="*/ 2 h 350"/>
                <a:gd name="T10" fmla="*/ 4 w 1016"/>
                <a:gd name="T11" fmla="*/ 2 h 350"/>
                <a:gd name="T12" fmla="*/ 0 60000 65536"/>
                <a:gd name="T13" fmla="*/ 0 60000 65536"/>
                <a:gd name="T14" fmla="*/ 0 60000 65536"/>
                <a:gd name="T15" fmla="*/ 0 60000 65536"/>
                <a:gd name="T16" fmla="*/ 0 60000 65536"/>
                <a:gd name="T17" fmla="*/ 0 60000 65536"/>
                <a:gd name="T18" fmla="*/ 0 w 1016"/>
                <a:gd name="T19" fmla="*/ 0 h 350"/>
                <a:gd name="T20" fmla="*/ 1016 w 1016"/>
                <a:gd name="T21" fmla="*/ 350 h 350"/>
              </a:gdLst>
              <a:ahLst/>
              <a:cxnLst>
                <a:cxn ang="T12">
                  <a:pos x="T0" y="T1"/>
                </a:cxn>
                <a:cxn ang="T13">
                  <a:pos x="T2" y="T3"/>
                </a:cxn>
                <a:cxn ang="T14">
                  <a:pos x="T4" y="T5"/>
                </a:cxn>
                <a:cxn ang="T15">
                  <a:pos x="T6" y="T7"/>
                </a:cxn>
                <a:cxn ang="T16">
                  <a:pos x="T8" y="T9"/>
                </a:cxn>
                <a:cxn ang="T17">
                  <a:pos x="T10" y="T11"/>
                </a:cxn>
              </a:cxnLst>
              <a:rect l="T18" t="T19" r="T20" b="T21"/>
              <a:pathLst>
                <a:path w="1016" h="350">
                  <a:moveTo>
                    <a:pt x="1016" y="321"/>
                  </a:moveTo>
                  <a:lnTo>
                    <a:pt x="9" y="0"/>
                  </a:lnTo>
                  <a:lnTo>
                    <a:pt x="4" y="19"/>
                  </a:lnTo>
                  <a:lnTo>
                    <a:pt x="0" y="39"/>
                  </a:lnTo>
                  <a:lnTo>
                    <a:pt x="978" y="350"/>
                  </a:lnTo>
                  <a:lnTo>
                    <a:pt x="1016" y="321"/>
                  </a:lnTo>
                  <a:close/>
                </a:path>
              </a:pathLst>
            </a:custGeom>
            <a:solidFill>
              <a:srgbClr val="000000"/>
            </a:solidFill>
            <a:ln w="9525">
              <a:noFill/>
              <a:round/>
              <a:headEnd/>
              <a:tailEnd/>
            </a:ln>
          </p:spPr>
          <p:txBody>
            <a:bodyPr/>
            <a:lstStyle/>
            <a:p>
              <a:endParaRPr lang="en-US"/>
            </a:p>
          </p:txBody>
        </p:sp>
        <p:sp>
          <p:nvSpPr>
            <p:cNvPr id="16832" name="Freeform 68"/>
            <p:cNvSpPr>
              <a:spLocks/>
            </p:cNvSpPr>
            <p:nvPr/>
          </p:nvSpPr>
          <p:spPr bwMode="auto">
            <a:xfrm>
              <a:off x="2370" y="1429"/>
              <a:ext cx="443" cy="148"/>
            </a:xfrm>
            <a:custGeom>
              <a:avLst/>
              <a:gdLst>
                <a:gd name="T0" fmla="*/ 1 w 885"/>
                <a:gd name="T1" fmla="*/ 1 h 296"/>
                <a:gd name="T2" fmla="*/ 0 w 885"/>
                <a:gd name="T3" fmla="*/ 0 h 296"/>
                <a:gd name="T4" fmla="*/ 4 w 885"/>
                <a:gd name="T5" fmla="*/ 1 h 296"/>
                <a:gd name="T6" fmla="*/ 1 w 885"/>
                <a:gd name="T7" fmla="*/ 1 h 296"/>
                <a:gd name="T8" fmla="*/ 1 w 885"/>
                <a:gd name="T9" fmla="*/ 1 h 296"/>
                <a:gd name="T10" fmla="*/ 0 60000 65536"/>
                <a:gd name="T11" fmla="*/ 0 60000 65536"/>
                <a:gd name="T12" fmla="*/ 0 60000 65536"/>
                <a:gd name="T13" fmla="*/ 0 60000 65536"/>
                <a:gd name="T14" fmla="*/ 0 60000 65536"/>
                <a:gd name="T15" fmla="*/ 0 w 885"/>
                <a:gd name="T16" fmla="*/ 0 h 296"/>
                <a:gd name="T17" fmla="*/ 885 w 885"/>
                <a:gd name="T18" fmla="*/ 296 h 296"/>
              </a:gdLst>
              <a:ahLst/>
              <a:cxnLst>
                <a:cxn ang="T10">
                  <a:pos x="T0" y="T1"/>
                </a:cxn>
                <a:cxn ang="T11">
                  <a:pos x="T2" y="T3"/>
                </a:cxn>
                <a:cxn ang="T12">
                  <a:pos x="T4" y="T5"/>
                </a:cxn>
                <a:cxn ang="T13">
                  <a:pos x="T6" y="T7"/>
                </a:cxn>
                <a:cxn ang="T14">
                  <a:pos x="T8" y="T9"/>
                </a:cxn>
              </a:cxnLst>
              <a:rect l="T15" t="T16" r="T17" b="T18"/>
              <a:pathLst>
                <a:path w="885" h="296">
                  <a:moveTo>
                    <a:pt x="50" y="115"/>
                  </a:moveTo>
                  <a:lnTo>
                    <a:pt x="0" y="0"/>
                  </a:lnTo>
                  <a:lnTo>
                    <a:pt x="885" y="296"/>
                  </a:lnTo>
                  <a:lnTo>
                    <a:pt x="50" y="115"/>
                  </a:lnTo>
                  <a:close/>
                </a:path>
              </a:pathLst>
            </a:custGeom>
            <a:solidFill>
              <a:srgbClr val="99FFFB"/>
            </a:solidFill>
            <a:ln w="9525">
              <a:noFill/>
              <a:round/>
              <a:headEnd/>
              <a:tailEnd/>
            </a:ln>
          </p:spPr>
          <p:txBody>
            <a:bodyPr/>
            <a:lstStyle/>
            <a:p>
              <a:endParaRPr lang="en-US"/>
            </a:p>
          </p:txBody>
        </p:sp>
        <p:sp>
          <p:nvSpPr>
            <p:cNvPr id="16833" name="Freeform 69"/>
            <p:cNvSpPr>
              <a:spLocks/>
            </p:cNvSpPr>
            <p:nvPr/>
          </p:nvSpPr>
          <p:spPr bwMode="auto">
            <a:xfrm>
              <a:off x="2468" y="2490"/>
              <a:ext cx="343" cy="194"/>
            </a:xfrm>
            <a:custGeom>
              <a:avLst/>
              <a:gdLst>
                <a:gd name="T0" fmla="*/ 0 w 687"/>
                <a:gd name="T1" fmla="*/ 0 h 386"/>
                <a:gd name="T2" fmla="*/ 0 w 687"/>
                <a:gd name="T3" fmla="*/ 1 h 386"/>
                <a:gd name="T4" fmla="*/ 2 w 687"/>
                <a:gd name="T5" fmla="*/ 2 h 386"/>
                <a:gd name="T6" fmla="*/ 2 w 687"/>
                <a:gd name="T7" fmla="*/ 2 h 386"/>
                <a:gd name="T8" fmla="*/ 0 w 687"/>
                <a:gd name="T9" fmla="*/ 0 h 386"/>
                <a:gd name="T10" fmla="*/ 0 60000 65536"/>
                <a:gd name="T11" fmla="*/ 0 60000 65536"/>
                <a:gd name="T12" fmla="*/ 0 60000 65536"/>
                <a:gd name="T13" fmla="*/ 0 60000 65536"/>
                <a:gd name="T14" fmla="*/ 0 60000 65536"/>
                <a:gd name="T15" fmla="*/ 0 w 687"/>
                <a:gd name="T16" fmla="*/ 0 h 386"/>
                <a:gd name="T17" fmla="*/ 687 w 687"/>
                <a:gd name="T18" fmla="*/ 386 h 386"/>
              </a:gdLst>
              <a:ahLst/>
              <a:cxnLst>
                <a:cxn ang="T10">
                  <a:pos x="T0" y="T1"/>
                </a:cxn>
                <a:cxn ang="T11">
                  <a:pos x="T2" y="T3"/>
                </a:cxn>
                <a:cxn ang="T12">
                  <a:pos x="T4" y="T5"/>
                </a:cxn>
                <a:cxn ang="T13">
                  <a:pos x="T6" y="T7"/>
                </a:cxn>
                <a:cxn ang="T14">
                  <a:pos x="T8" y="T9"/>
                </a:cxn>
              </a:cxnLst>
              <a:rect l="T15" t="T16" r="T17" b="T18"/>
              <a:pathLst>
                <a:path w="687" h="386">
                  <a:moveTo>
                    <a:pt x="24" y="0"/>
                  </a:moveTo>
                  <a:lnTo>
                    <a:pt x="0" y="58"/>
                  </a:lnTo>
                  <a:lnTo>
                    <a:pt x="664" y="386"/>
                  </a:lnTo>
                  <a:lnTo>
                    <a:pt x="687" y="327"/>
                  </a:lnTo>
                  <a:lnTo>
                    <a:pt x="24" y="0"/>
                  </a:lnTo>
                  <a:close/>
                </a:path>
              </a:pathLst>
            </a:custGeom>
            <a:solidFill>
              <a:srgbClr val="000000"/>
            </a:solidFill>
            <a:ln w="9525">
              <a:noFill/>
              <a:round/>
              <a:headEnd/>
              <a:tailEnd/>
            </a:ln>
          </p:spPr>
          <p:txBody>
            <a:bodyPr/>
            <a:lstStyle/>
            <a:p>
              <a:endParaRPr lang="en-US"/>
            </a:p>
          </p:txBody>
        </p:sp>
        <p:sp>
          <p:nvSpPr>
            <p:cNvPr id="16834" name="Freeform 70"/>
            <p:cNvSpPr>
              <a:spLocks/>
            </p:cNvSpPr>
            <p:nvPr/>
          </p:nvSpPr>
          <p:spPr bwMode="auto">
            <a:xfrm>
              <a:off x="2463" y="2566"/>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6835" name="Freeform 71"/>
            <p:cNvSpPr>
              <a:spLocks/>
            </p:cNvSpPr>
            <p:nvPr/>
          </p:nvSpPr>
          <p:spPr bwMode="auto">
            <a:xfrm>
              <a:off x="2442" y="2641"/>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6836" name="Freeform 72"/>
            <p:cNvSpPr>
              <a:spLocks/>
            </p:cNvSpPr>
            <p:nvPr/>
          </p:nvSpPr>
          <p:spPr bwMode="auto">
            <a:xfrm>
              <a:off x="2437" y="2718"/>
              <a:ext cx="350" cy="221"/>
            </a:xfrm>
            <a:custGeom>
              <a:avLst/>
              <a:gdLst>
                <a:gd name="T0" fmla="*/ 1 w 699"/>
                <a:gd name="T1" fmla="*/ 0 h 441"/>
                <a:gd name="T2" fmla="*/ 0 w 699"/>
                <a:gd name="T3" fmla="*/ 1 h 441"/>
                <a:gd name="T4" fmla="*/ 3 w 699"/>
                <a:gd name="T5" fmla="*/ 2 h 441"/>
                <a:gd name="T6" fmla="*/ 3 w 699"/>
                <a:gd name="T7" fmla="*/ 2 h 441"/>
                <a:gd name="T8" fmla="*/ 1 w 699"/>
                <a:gd name="T9" fmla="*/ 0 h 441"/>
                <a:gd name="T10" fmla="*/ 0 60000 65536"/>
                <a:gd name="T11" fmla="*/ 0 60000 65536"/>
                <a:gd name="T12" fmla="*/ 0 60000 65536"/>
                <a:gd name="T13" fmla="*/ 0 60000 65536"/>
                <a:gd name="T14" fmla="*/ 0 60000 65536"/>
                <a:gd name="T15" fmla="*/ 0 w 699"/>
                <a:gd name="T16" fmla="*/ 0 h 441"/>
                <a:gd name="T17" fmla="*/ 699 w 699"/>
                <a:gd name="T18" fmla="*/ 441 h 441"/>
              </a:gdLst>
              <a:ahLst/>
              <a:cxnLst>
                <a:cxn ang="T10">
                  <a:pos x="T0" y="T1"/>
                </a:cxn>
                <a:cxn ang="T11">
                  <a:pos x="T2" y="T3"/>
                </a:cxn>
                <a:cxn ang="T12">
                  <a:pos x="T4" y="T5"/>
                </a:cxn>
                <a:cxn ang="T13">
                  <a:pos x="T6" y="T7"/>
                </a:cxn>
                <a:cxn ang="T14">
                  <a:pos x="T8" y="T9"/>
                </a:cxn>
              </a:cxnLst>
              <a:rect l="T15" t="T16" r="T17" b="T18"/>
              <a:pathLst>
                <a:path w="699" h="441">
                  <a:moveTo>
                    <a:pt x="27" y="0"/>
                  </a:moveTo>
                  <a:lnTo>
                    <a:pt x="0" y="58"/>
                  </a:lnTo>
                  <a:lnTo>
                    <a:pt x="673" y="441"/>
                  </a:lnTo>
                  <a:lnTo>
                    <a:pt x="699" y="383"/>
                  </a:lnTo>
                  <a:lnTo>
                    <a:pt x="27" y="0"/>
                  </a:lnTo>
                  <a:close/>
                </a:path>
              </a:pathLst>
            </a:custGeom>
            <a:solidFill>
              <a:srgbClr val="000000"/>
            </a:solidFill>
            <a:ln w="9525">
              <a:noFill/>
              <a:round/>
              <a:headEnd/>
              <a:tailEnd/>
            </a:ln>
          </p:spPr>
          <p:txBody>
            <a:bodyPr/>
            <a:lstStyle/>
            <a:p>
              <a:endParaRPr lang="en-US"/>
            </a:p>
          </p:txBody>
        </p:sp>
        <p:sp>
          <p:nvSpPr>
            <p:cNvPr id="16837" name="Freeform 73"/>
            <p:cNvSpPr>
              <a:spLocks/>
            </p:cNvSpPr>
            <p:nvPr/>
          </p:nvSpPr>
          <p:spPr bwMode="auto">
            <a:xfrm>
              <a:off x="2934" y="770"/>
              <a:ext cx="1059" cy="264"/>
            </a:xfrm>
            <a:custGeom>
              <a:avLst/>
              <a:gdLst>
                <a:gd name="T0" fmla="*/ 0 w 2119"/>
                <a:gd name="T1" fmla="*/ 2 h 528"/>
                <a:gd name="T2" fmla="*/ 0 w 2119"/>
                <a:gd name="T3" fmla="*/ 2 h 528"/>
                <a:gd name="T4" fmla="*/ 8 w 2119"/>
                <a:gd name="T5" fmla="*/ 1 h 528"/>
                <a:gd name="T6" fmla="*/ 8 w 2119"/>
                <a:gd name="T7" fmla="*/ 0 h 528"/>
                <a:gd name="T8" fmla="*/ 0 w 2119"/>
                <a:gd name="T9" fmla="*/ 2 h 528"/>
                <a:gd name="T10" fmla="*/ 0 60000 65536"/>
                <a:gd name="T11" fmla="*/ 0 60000 65536"/>
                <a:gd name="T12" fmla="*/ 0 60000 65536"/>
                <a:gd name="T13" fmla="*/ 0 60000 65536"/>
                <a:gd name="T14" fmla="*/ 0 60000 65536"/>
                <a:gd name="T15" fmla="*/ 0 w 2119"/>
                <a:gd name="T16" fmla="*/ 0 h 528"/>
                <a:gd name="T17" fmla="*/ 2119 w 2119"/>
                <a:gd name="T18" fmla="*/ 528 h 528"/>
              </a:gdLst>
              <a:ahLst/>
              <a:cxnLst>
                <a:cxn ang="T10">
                  <a:pos x="T0" y="T1"/>
                </a:cxn>
                <a:cxn ang="T11">
                  <a:pos x="T2" y="T3"/>
                </a:cxn>
                <a:cxn ang="T12">
                  <a:pos x="T4" y="T5"/>
                </a:cxn>
                <a:cxn ang="T13">
                  <a:pos x="T6" y="T7"/>
                </a:cxn>
                <a:cxn ang="T14">
                  <a:pos x="T8" y="T9"/>
                </a:cxn>
              </a:cxnLst>
              <a:rect l="T15" t="T16" r="T17" b="T18"/>
              <a:pathLst>
                <a:path w="2119" h="528">
                  <a:moveTo>
                    <a:pt x="0" y="486"/>
                  </a:moveTo>
                  <a:lnTo>
                    <a:pt x="6" y="528"/>
                  </a:lnTo>
                  <a:lnTo>
                    <a:pt x="2119" y="42"/>
                  </a:lnTo>
                  <a:lnTo>
                    <a:pt x="2114" y="0"/>
                  </a:lnTo>
                  <a:lnTo>
                    <a:pt x="0" y="486"/>
                  </a:lnTo>
                  <a:close/>
                </a:path>
              </a:pathLst>
            </a:custGeom>
            <a:solidFill>
              <a:srgbClr val="DEFF73"/>
            </a:solidFill>
            <a:ln w="9525">
              <a:noFill/>
              <a:round/>
              <a:headEnd/>
              <a:tailEnd/>
            </a:ln>
          </p:spPr>
          <p:txBody>
            <a:bodyPr/>
            <a:lstStyle/>
            <a:p>
              <a:endParaRPr lang="en-US"/>
            </a:p>
          </p:txBody>
        </p:sp>
        <p:sp>
          <p:nvSpPr>
            <p:cNvPr id="16838" name="Freeform 74"/>
            <p:cNvSpPr>
              <a:spLocks/>
            </p:cNvSpPr>
            <p:nvPr/>
          </p:nvSpPr>
          <p:spPr bwMode="auto">
            <a:xfrm>
              <a:off x="2256" y="672"/>
              <a:ext cx="1872" cy="384"/>
            </a:xfrm>
            <a:custGeom>
              <a:avLst/>
              <a:gdLst>
                <a:gd name="T0" fmla="*/ 1872 w 1872"/>
                <a:gd name="T1" fmla="*/ 96 h 384"/>
                <a:gd name="T2" fmla="*/ 672 w 1872"/>
                <a:gd name="T3" fmla="*/ 384 h 384"/>
                <a:gd name="T4" fmla="*/ 0 w 1872"/>
                <a:gd name="T5" fmla="*/ 192 h 384"/>
                <a:gd name="T6" fmla="*/ 1392 w 1872"/>
                <a:gd name="T7" fmla="*/ 0 h 384"/>
                <a:gd name="T8" fmla="*/ 1872 w 1872"/>
                <a:gd name="T9" fmla="*/ 96 h 384"/>
                <a:gd name="T10" fmla="*/ 0 60000 65536"/>
                <a:gd name="T11" fmla="*/ 0 60000 65536"/>
                <a:gd name="T12" fmla="*/ 0 60000 65536"/>
                <a:gd name="T13" fmla="*/ 0 60000 65536"/>
                <a:gd name="T14" fmla="*/ 0 60000 65536"/>
                <a:gd name="T15" fmla="*/ 0 w 1872"/>
                <a:gd name="T16" fmla="*/ 0 h 384"/>
                <a:gd name="T17" fmla="*/ 1872 w 1872"/>
                <a:gd name="T18" fmla="*/ 384 h 384"/>
              </a:gdLst>
              <a:ahLst/>
              <a:cxnLst>
                <a:cxn ang="T10">
                  <a:pos x="T0" y="T1"/>
                </a:cxn>
                <a:cxn ang="T11">
                  <a:pos x="T2" y="T3"/>
                </a:cxn>
                <a:cxn ang="T12">
                  <a:pos x="T4" y="T5"/>
                </a:cxn>
                <a:cxn ang="T13">
                  <a:pos x="T6" y="T7"/>
                </a:cxn>
                <a:cxn ang="T14">
                  <a:pos x="T8" y="T9"/>
                </a:cxn>
              </a:cxnLst>
              <a:rect l="T15" t="T16" r="T17" b="T18"/>
              <a:pathLst>
                <a:path w="1872" h="384">
                  <a:moveTo>
                    <a:pt x="1872" y="96"/>
                  </a:moveTo>
                  <a:lnTo>
                    <a:pt x="672" y="384"/>
                  </a:lnTo>
                  <a:lnTo>
                    <a:pt x="0" y="192"/>
                  </a:lnTo>
                  <a:lnTo>
                    <a:pt x="1392" y="0"/>
                  </a:lnTo>
                  <a:lnTo>
                    <a:pt x="1872" y="96"/>
                  </a:lnTo>
                  <a:close/>
                </a:path>
              </a:pathLst>
            </a:custGeom>
            <a:gradFill rotWithShape="0">
              <a:gsLst>
                <a:gs pos="0">
                  <a:srgbClr val="BEE761"/>
                </a:gs>
                <a:gs pos="100000">
                  <a:srgbClr val="44D6FE"/>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6394" name="Group 75"/>
          <p:cNvGrpSpPr>
            <a:grpSpLocks/>
          </p:cNvGrpSpPr>
          <p:nvPr/>
        </p:nvGrpSpPr>
        <p:grpSpPr bwMode="auto">
          <a:xfrm rot="-245528">
            <a:off x="8305800" y="1219200"/>
            <a:ext cx="606425" cy="479425"/>
            <a:chOff x="2469" y="453"/>
            <a:chExt cx="382" cy="302"/>
          </a:xfrm>
        </p:grpSpPr>
        <p:grpSp>
          <p:nvGrpSpPr>
            <p:cNvPr id="16692" name="Group 76"/>
            <p:cNvGrpSpPr>
              <a:grpSpLocks/>
            </p:cNvGrpSpPr>
            <p:nvPr/>
          </p:nvGrpSpPr>
          <p:grpSpPr bwMode="auto">
            <a:xfrm>
              <a:off x="2592" y="453"/>
              <a:ext cx="163" cy="144"/>
              <a:chOff x="1824" y="844"/>
              <a:chExt cx="2035" cy="1803"/>
            </a:xfrm>
          </p:grpSpPr>
          <p:sp>
            <p:nvSpPr>
              <p:cNvPr id="16783" name="Freeform 77"/>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784" name="Freeform 78"/>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785" name="Freeform 79"/>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6786" name="Freeform 80"/>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6787" name="Freeform 81"/>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6788" name="Freeform 82"/>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6789" name="Freeform 83"/>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6790" name="Freeform 84"/>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6791" name="Freeform 85"/>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6792" name="Freeform 86"/>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6793" name="Freeform 87"/>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6794" name="Freeform 88"/>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6795" name="Freeform 89"/>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6796" name="Freeform 90"/>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6797" name="Freeform 91"/>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6798" name="Freeform 92"/>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6799" name="Freeform 93"/>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6800" name="Freeform 94"/>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6801" name="Freeform 95"/>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802" name="Freeform 96"/>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803" name="Freeform 97"/>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6804" name="Freeform 98"/>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805" name="Freeform 99"/>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806" name="Freeform 100"/>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807" name="Freeform 101"/>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808" name="Freeform 102"/>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809" name="Freeform 103"/>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810" name="Freeform 104"/>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811" name="Freeform 105"/>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6693" name="Group 106"/>
            <p:cNvGrpSpPr>
              <a:grpSpLocks/>
            </p:cNvGrpSpPr>
            <p:nvPr/>
          </p:nvGrpSpPr>
          <p:grpSpPr bwMode="auto">
            <a:xfrm>
              <a:off x="2688" y="549"/>
              <a:ext cx="163" cy="144"/>
              <a:chOff x="1824" y="844"/>
              <a:chExt cx="2035" cy="1803"/>
            </a:xfrm>
          </p:grpSpPr>
          <p:sp>
            <p:nvSpPr>
              <p:cNvPr id="16754" name="Freeform 107"/>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755" name="Freeform 108"/>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756" name="Freeform 109"/>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6757" name="Freeform 110"/>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6758" name="Freeform 111"/>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6759" name="Freeform 112"/>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6760" name="Freeform 113"/>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6761" name="Freeform 114"/>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6762" name="Freeform 115"/>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6763" name="Freeform 116"/>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6764" name="Freeform 117"/>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6765" name="Freeform 118"/>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6766" name="Freeform 119"/>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6767" name="Freeform 120"/>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6768" name="Freeform 121"/>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6769" name="Freeform 122"/>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6770" name="Freeform 123"/>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6771" name="Freeform 124"/>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6772" name="Freeform 125"/>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773" name="Freeform 126"/>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774" name="Freeform 127"/>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6775" name="Freeform 128"/>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776" name="Freeform 129"/>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777" name="Freeform 130"/>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778" name="Freeform 131"/>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779" name="Freeform 132"/>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780" name="Freeform 133"/>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781" name="Freeform 134"/>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782" name="Freeform 135"/>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6694" name="Group 136"/>
            <p:cNvGrpSpPr>
              <a:grpSpLocks/>
            </p:cNvGrpSpPr>
            <p:nvPr/>
          </p:nvGrpSpPr>
          <p:grpSpPr bwMode="auto">
            <a:xfrm>
              <a:off x="2561" y="611"/>
              <a:ext cx="163" cy="144"/>
              <a:chOff x="1824" y="844"/>
              <a:chExt cx="2035" cy="1803"/>
            </a:xfrm>
          </p:grpSpPr>
          <p:sp>
            <p:nvSpPr>
              <p:cNvPr id="16725" name="Freeform 137"/>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726" name="Freeform 138"/>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727" name="Freeform 139"/>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6728" name="Freeform 140"/>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6729" name="Freeform 141"/>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6730" name="Freeform 142"/>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6731" name="Freeform 143"/>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6732" name="Freeform 144"/>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6733" name="Freeform 145"/>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6734" name="Freeform 146"/>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6735" name="Freeform 147"/>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6736" name="Freeform 148"/>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6737" name="Freeform 149"/>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6738" name="Freeform 150"/>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6739" name="Freeform 151"/>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6740" name="Freeform 152"/>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6741" name="Freeform 153"/>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6742" name="Freeform 154"/>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6743" name="Freeform 155"/>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744" name="Freeform 156"/>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745" name="Freeform 157"/>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6746" name="Freeform 158"/>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747" name="Freeform 159"/>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748" name="Freeform 160"/>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749" name="Freeform 161"/>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750" name="Freeform 162"/>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751" name="Freeform 163"/>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752" name="Freeform 164"/>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753" name="Freeform 165"/>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6695" name="Group 166"/>
            <p:cNvGrpSpPr>
              <a:grpSpLocks/>
            </p:cNvGrpSpPr>
            <p:nvPr/>
          </p:nvGrpSpPr>
          <p:grpSpPr bwMode="auto">
            <a:xfrm>
              <a:off x="2469" y="536"/>
              <a:ext cx="163" cy="144"/>
              <a:chOff x="1824" y="844"/>
              <a:chExt cx="2035" cy="1803"/>
            </a:xfrm>
          </p:grpSpPr>
          <p:sp>
            <p:nvSpPr>
              <p:cNvPr id="16696" name="Freeform 167"/>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697" name="Freeform 168"/>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698" name="Freeform 169"/>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6699" name="Freeform 170"/>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6700" name="Freeform 171"/>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6701" name="Freeform 172"/>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6702" name="Freeform 173"/>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6703" name="Freeform 174"/>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6704" name="Freeform 175"/>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6705" name="Freeform 176"/>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6706" name="Freeform 177"/>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6707" name="Freeform 178"/>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6708" name="Freeform 179"/>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6709" name="Freeform 180"/>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6710" name="Freeform 181"/>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6711" name="Freeform 182"/>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6712" name="Freeform 183"/>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6713" name="Freeform 184"/>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6714" name="Freeform 185"/>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715" name="Freeform 186"/>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716" name="Freeform 187"/>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6717" name="Freeform 188"/>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718" name="Freeform 189"/>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719" name="Freeform 190"/>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720" name="Freeform 191"/>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721" name="Freeform 192"/>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722" name="Freeform 193"/>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723" name="Freeform 194"/>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724" name="Freeform 195"/>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grpSp>
        <p:nvGrpSpPr>
          <p:cNvPr id="16395" name="Group 196"/>
          <p:cNvGrpSpPr>
            <a:grpSpLocks/>
          </p:cNvGrpSpPr>
          <p:nvPr/>
        </p:nvGrpSpPr>
        <p:grpSpPr bwMode="auto">
          <a:xfrm rot="-245528">
            <a:off x="6781800" y="6096000"/>
            <a:ext cx="238125" cy="309563"/>
            <a:chOff x="2202" y="666"/>
            <a:chExt cx="2001" cy="2601"/>
          </a:xfrm>
        </p:grpSpPr>
        <p:sp>
          <p:nvSpPr>
            <p:cNvPr id="16665" name="Freeform 197"/>
            <p:cNvSpPr>
              <a:spLocks/>
            </p:cNvSpPr>
            <p:nvPr/>
          </p:nvSpPr>
          <p:spPr bwMode="auto">
            <a:xfrm>
              <a:off x="2236" y="871"/>
              <a:ext cx="692" cy="2345"/>
            </a:xfrm>
            <a:custGeom>
              <a:avLst/>
              <a:gdLst>
                <a:gd name="T0" fmla="*/ 692 w 692"/>
                <a:gd name="T1" fmla="*/ 2345 h 2345"/>
                <a:gd name="T2" fmla="*/ 116 w 692"/>
                <a:gd name="T3" fmla="*/ 2009 h 2345"/>
                <a:gd name="T4" fmla="*/ 116 w 692"/>
                <a:gd name="T5" fmla="*/ 1385 h 2345"/>
                <a:gd name="T6" fmla="*/ 164 w 692"/>
                <a:gd name="T7" fmla="*/ 1193 h 2345"/>
                <a:gd name="T8" fmla="*/ 0 w 692"/>
                <a:gd name="T9" fmla="*/ 0 h 2345"/>
                <a:gd name="T10" fmla="*/ 673 w 692"/>
                <a:gd name="T11" fmla="*/ 222 h 2345"/>
                <a:gd name="T12" fmla="*/ 692 w 692"/>
                <a:gd name="T13" fmla="*/ 2345 h 2345"/>
                <a:gd name="T14" fmla="*/ 0 60000 65536"/>
                <a:gd name="T15" fmla="*/ 0 60000 65536"/>
                <a:gd name="T16" fmla="*/ 0 60000 65536"/>
                <a:gd name="T17" fmla="*/ 0 60000 65536"/>
                <a:gd name="T18" fmla="*/ 0 60000 65536"/>
                <a:gd name="T19" fmla="*/ 0 60000 65536"/>
                <a:gd name="T20" fmla="*/ 0 60000 65536"/>
                <a:gd name="T21" fmla="*/ 0 w 692"/>
                <a:gd name="T22" fmla="*/ 0 h 2345"/>
                <a:gd name="T23" fmla="*/ 692 w 692"/>
                <a:gd name="T24" fmla="*/ 2345 h 23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2" h="2345">
                  <a:moveTo>
                    <a:pt x="692" y="2345"/>
                  </a:moveTo>
                  <a:lnTo>
                    <a:pt x="116" y="2009"/>
                  </a:lnTo>
                  <a:lnTo>
                    <a:pt x="116" y="1385"/>
                  </a:lnTo>
                  <a:lnTo>
                    <a:pt x="164" y="1193"/>
                  </a:lnTo>
                  <a:lnTo>
                    <a:pt x="0" y="0"/>
                  </a:lnTo>
                  <a:lnTo>
                    <a:pt x="673" y="222"/>
                  </a:lnTo>
                  <a:lnTo>
                    <a:pt x="692" y="2345"/>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666" name="Freeform 198"/>
            <p:cNvSpPr>
              <a:spLocks/>
            </p:cNvSpPr>
            <p:nvPr/>
          </p:nvSpPr>
          <p:spPr bwMode="auto">
            <a:xfrm>
              <a:off x="2928" y="768"/>
              <a:ext cx="1248" cy="2448"/>
            </a:xfrm>
            <a:custGeom>
              <a:avLst/>
              <a:gdLst>
                <a:gd name="T0" fmla="*/ 0 w 1248"/>
                <a:gd name="T1" fmla="*/ 336 h 2448"/>
                <a:gd name="T2" fmla="*/ 0 w 1248"/>
                <a:gd name="T3" fmla="*/ 2448 h 2448"/>
                <a:gd name="T4" fmla="*/ 1200 w 1248"/>
                <a:gd name="T5" fmla="*/ 1968 h 2448"/>
                <a:gd name="T6" fmla="*/ 1008 w 1248"/>
                <a:gd name="T7" fmla="*/ 1008 h 2448"/>
                <a:gd name="T8" fmla="*/ 1248 w 1248"/>
                <a:gd name="T9" fmla="*/ 0 h 2448"/>
                <a:gd name="T10" fmla="*/ 0 w 1248"/>
                <a:gd name="T11" fmla="*/ 336 h 2448"/>
                <a:gd name="T12" fmla="*/ 0 60000 65536"/>
                <a:gd name="T13" fmla="*/ 0 60000 65536"/>
                <a:gd name="T14" fmla="*/ 0 60000 65536"/>
                <a:gd name="T15" fmla="*/ 0 60000 65536"/>
                <a:gd name="T16" fmla="*/ 0 60000 65536"/>
                <a:gd name="T17" fmla="*/ 0 60000 65536"/>
                <a:gd name="T18" fmla="*/ 0 w 1248"/>
                <a:gd name="T19" fmla="*/ 0 h 2448"/>
                <a:gd name="T20" fmla="*/ 1248 w 1248"/>
                <a:gd name="T21" fmla="*/ 2448 h 2448"/>
              </a:gdLst>
              <a:ahLst/>
              <a:cxnLst>
                <a:cxn ang="T12">
                  <a:pos x="T0" y="T1"/>
                </a:cxn>
                <a:cxn ang="T13">
                  <a:pos x="T2" y="T3"/>
                </a:cxn>
                <a:cxn ang="T14">
                  <a:pos x="T4" y="T5"/>
                </a:cxn>
                <a:cxn ang="T15">
                  <a:pos x="T6" y="T7"/>
                </a:cxn>
                <a:cxn ang="T16">
                  <a:pos x="T8" y="T9"/>
                </a:cxn>
                <a:cxn ang="T17">
                  <a:pos x="T10" y="T11"/>
                </a:cxn>
              </a:cxnLst>
              <a:rect l="T18" t="T19" r="T20" b="T21"/>
              <a:pathLst>
                <a:path w="1248" h="2448">
                  <a:moveTo>
                    <a:pt x="0" y="336"/>
                  </a:moveTo>
                  <a:lnTo>
                    <a:pt x="0" y="2448"/>
                  </a:lnTo>
                  <a:lnTo>
                    <a:pt x="1200" y="1968"/>
                  </a:lnTo>
                  <a:lnTo>
                    <a:pt x="1008" y="1008"/>
                  </a:lnTo>
                  <a:lnTo>
                    <a:pt x="1248" y="0"/>
                  </a:lnTo>
                  <a:lnTo>
                    <a:pt x="0" y="336"/>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667" name="Freeform 199"/>
            <p:cNvSpPr>
              <a:spLocks/>
            </p:cNvSpPr>
            <p:nvPr/>
          </p:nvSpPr>
          <p:spPr bwMode="auto">
            <a:xfrm>
              <a:off x="2326" y="2051"/>
              <a:ext cx="603" cy="1216"/>
            </a:xfrm>
            <a:custGeom>
              <a:avLst/>
              <a:gdLst>
                <a:gd name="T0" fmla="*/ 1 w 1204"/>
                <a:gd name="T1" fmla="*/ 1 h 2432"/>
                <a:gd name="T2" fmla="*/ 1 w 1204"/>
                <a:gd name="T3" fmla="*/ 0 h 2432"/>
                <a:gd name="T4" fmla="*/ 0 w 1204"/>
                <a:gd name="T5" fmla="*/ 7 h 2432"/>
                <a:gd name="T6" fmla="*/ 5 w 1204"/>
                <a:gd name="T7" fmla="*/ 10 h 2432"/>
                <a:gd name="T8" fmla="*/ 5 w 1204"/>
                <a:gd name="T9" fmla="*/ 9 h 2432"/>
                <a:gd name="T10" fmla="*/ 5 w 1204"/>
                <a:gd name="T11" fmla="*/ 9 h 2432"/>
                <a:gd name="T12" fmla="*/ 5 w 1204"/>
                <a:gd name="T13" fmla="*/ 10 h 2432"/>
                <a:gd name="T14" fmla="*/ 1 w 1204"/>
                <a:gd name="T15" fmla="*/ 6 h 2432"/>
                <a:gd name="T16" fmla="*/ 1 w 1204"/>
                <a:gd name="T17" fmla="*/ 1 h 2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04"/>
                <a:gd name="T28" fmla="*/ 0 h 2432"/>
                <a:gd name="T29" fmla="*/ 1204 w 1204"/>
                <a:gd name="T30" fmla="*/ 2432 h 24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04" h="2432">
                  <a:moveTo>
                    <a:pt x="162" y="3"/>
                  </a:moveTo>
                  <a:lnTo>
                    <a:pt x="104" y="0"/>
                  </a:lnTo>
                  <a:lnTo>
                    <a:pt x="0" y="1669"/>
                  </a:lnTo>
                  <a:lnTo>
                    <a:pt x="1193" y="2432"/>
                  </a:lnTo>
                  <a:lnTo>
                    <a:pt x="1204" y="2292"/>
                  </a:lnTo>
                  <a:lnTo>
                    <a:pt x="1146" y="2286"/>
                  </a:lnTo>
                  <a:lnTo>
                    <a:pt x="1143" y="2328"/>
                  </a:lnTo>
                  <a:lnTo>
                    <a:pt x="58" y="1633"/>
                  </a:lnTo>
                  <a:lnTo>
                    <a:pt x="162" y="3"/>
                  </a:lnTo>
                  <a:close/>
                </a:path>
              </a:pathLst>
            </a:custGeom>
            <a:solidFill>
              <a:srgbClr val="000000"/>
            </a:solidFill>
            <a:ln w="9525">
              <a:noFill/>
              <a:round/>
              <a:headEnd/>
              <a:tailEnd/>
            </a:ln>
          </p:spPr>
          <p:txBody>
            <a:bodyPr/>
            <a:lstStyle/>
            <a:p>
              <a:endParaRPr lang="en-US"/>
            </a:p>
          </p:txBody>
        </p:sp>
        <p:sp>
          <p:nvSpPr>
            <p:cNvPr id="16668" name="Freeform 200"/>
            <p:cNvSpPr>
              <a:spLocks/>
            </p:cNvSpPr>
            <p:nvPr/>
          </p:nvSpPr>
          <p:spPr bwMode="auto">
            <a:xfrm>
              <a:off x="2202" y="858"/>
              <a:ext cx="206" cy="1196"/>
            </a:xfrm>
            <a:custGeom>
              <a:avLst/>
              <a:gdLst>
                <a:gd name="T0" fmla="*/ 0 w 410"/>
                <a:gd name="T1" fmla="*/ 0 h 2391"/>
                <a:gd name="T2" fmla="*/ 2 w 410"/>
                <a:gd name="T3" fmla="*/ 10 h 2391"/>
                <a:gd name="T4" fmla="*/ 2 w 410"/>
                <a:gd name="T5" fmla="*/ 10 h 2391"/>
                <a:gd name="T6" fmla="*/ 2 w 410"/>
                <a:gd name="T7" fmla="*/ 10 h 2391"/>
                <a:gd name="T8" fmla="*/ 1 w 410"/>
                <a:gd name="T9" fmla="*/ 1 h 2391"/>
                <a:gd name="T10" fmla="*/ 0 w 410"/>
                <a:gd name="T11" fmla="*/ 0 h 2391"/>
                <a:gd name="T12" fmla="*/ 0 60000 65536"/>
                <a:gd name="T13" fmla="*/ 0 60000 65536"/>
                <a:gd name="T14" fmla="*/ 0 60000 65536"/>
                <a:gd name="T15" fmla="*/ 0 60000 65536"/>
                <a:gd name="T16" fmla="*/ 0 60000 65536"/>
                <a:gd name="T17" fmla="*/ 0 60000 65536"/>
                <a:gd name="T18" fmla="*/ 0 w 410"/>
                <a:gd name="T19" fmla="*/ 0 h 2391"/>
                <a:gd name="T20" fmla="*/ 410 w 410"/>
                <a:gd name="T21" fmla="*/ 2391 h 2391"/>
              </a:gdLst>
              <a:ahLst/>
              <a:cxnLst>
                <a:cxn ang="T12">
                  <a:pos x="T0" y="T1"/>
                </a:cxn>
                <a:cxn ang="T13">
                  <a:pos x="T2" y="T3"/>
                </a:cxn>
                <a:cxn ang="T14">
                  <a:pos x="T4" y="T5"/>
                </a:cxn>
                <a:cxn ang="T15">
                  <a:pos x="T6" y="T7"/>
                </a:cxn>
                <a:cxn ang="T16">
                  <a:pos x="T8" y="T9"/>
                </a:cxn>
                <a:cxn ang="T17">
                  <a:pos x="T10" y="T11"/>
                </a:cxn>
              </a:cxnLst>
              <a:rect l="T18" t="T19" r="T20" b="T21"/>
              <a:pathLst>
                <a:path w="410" h="2391">
                  <a:moveTo>
                    <a:pt x="0" y="0"/>
                  </a:moveTo>
                  <a:lnTo>
                    <a:pt x="352" y="2391"/>
                  </a:lnTo>
                  <a:lnTo>
                    <a:pt x="410" y="2389"/>
                  </a:lnTo>
                  <a:lnTo>
                    <a:pt x="410" y="2385"/>
                  </a:lnTo>
                  <a:lnTo>
                    <a:pt x="69" y="81"/>
                  </a:lnTo>
                  <a:lnTo>
                    <a:pt x="0" y="0"/>
                  </a:lnTo>
                  <a:close/>
                </a:path>
              </a:pathLst>
            </a:custGeom>
            <a:solidFill>
              <a:srgbClr val="000000"/>
            </a:solidFill>
            <a:ln w="9525">
              <a:noFill/>
              <a:round/>
              <a:headEnd/>
              <a:tailEnd/>
            </a:ln>
          </p:spPr>
          <p:txBody>
            <a:bodyPr/>
            <a:lstStyle/>
            <a:p>
              <a:endParaRPr lang="en-US"/>
            </a:p>
          </p:txBody>
        </p:sp>
        <p:sp>
          <p:nvSpPr>
            <p:cNvPr id="16669" name="Freeform 201"/>
            <p:cNvSpPr>
              <a:spLocks/>
            </p:cNvSpPr>
            <p:nvPr/>
          </p:nvSpPr>
          <p:spPr bwMode="auto">
            <a:xfrm>
              <a:off x="2916" y="751"/>
              <a:ext cx="1287" cy="2503"/>
            </a:xfrm>
            <a:custGeom>
              <a:avLst/>
              <a:gdLst>
                <a:gd name="T0" fmla="*/ 1 w 2574"/>
                <a:gd name="T1" fmla="*/ 20 h 5006"/>
                <a:gd name="T2" fmla="*/ 1 w 2574"/>
                <a:gd name="T3" fmla="*/ 20 h 5006"/>
                <a:gd name="T4" fmla="*/ 10 w 2574"/>
                <a:gd name="T5" fmla="*/ 16 h 5006"/>
                <a:gd name="T6" fmla="*/ 9 w 2574"/>
                <a:gd name="T7" fmla="*/ 9 h 5006"/>
                <a:gd name="T8" fmla="*/ 10 w 2574"/>
                <a:gd name="T9" fmla="*/ 0 h 5006"/>
                <a:gd name="T10" fmla="*/ 0 w 2574"/>
                <a:gd name="T11" fmla="*/ 3 h 5006"/>
                <a:gd name="T12" fmla="*/ 1 w 2574"/>
                <a:gd name="T13" fmla="*/ 3 h 5006"/>
                <a:gd name="T14" fmla="*/ 10 w 2574"/>
                <a:gd name="T15" fmla="*/ 1 h 5006"/>
                <a:gd name="T16" fmla="*/ 8 w 2574"/>
                <a:gd name="T17" fmla="*/ 9 h 5006"/>
                <a:gd name="T18" fmla="*/ 10 w 2574"/>
                <a:gd name="T19" fmla="*/ 16 h 5006"/>
                <a:gd name="T20" fmla="*/ 1 w 2574"/>
                <a:gd name="T21" fmla="*/ 20 h 50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74"/>
                <a:gd name="T34" fmla="*/ 0 h 5006"/>
                <a:gd name="T35" fmla="*/ 2574 w 2574"/>
                <a:gd name="T36" fmla="*/ 5006 h 50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74" h="5006">
                  <a:moveTo>
                    <a:pt x="18" y="4944"/>
                  </a:moveTo>
                  <a:lnTo>
                    <a:pt x="36" y="5006"/>
                  </a:lnTo>
                  <a:lnTo>
                    <a:pt x="2394" y="4015"/>
                  </a:lnTo>
                  <a:lnTo>
                    <a:pt x="2098" y="2069"/>
                  </a:lnTo>
                  <a:lnTo>
                    <a:pt x="2574" y="0"/>
                  </a:lnTo>
                  <a:lnTo>
                    <a:pt x="0" y="620"/>
                  </a:lnTo>
                  <a:lnTo>
                    <a:pt x="56" y="675"/>
                  </a:lnTo>
                  <a:lnTo>
                    <a:pt x="2498" y="85"/>
                  </a:lnTo>
                  <a:lnTo>
                    <a:pt x="2040" y="2075"/>
                  </a:lnTo>
                  <a:lnTo>
                    <a:pt x="2330" y="3973"/>
                  </a:lnTo>
                  <a:lnTo>
                    <a:pt x="18" y="4944"/>
                  </a:lnTo>
                  <a:close/>
                </a:path>
              </a:pathLst>
            </a:custGeom>
            <a:solidFill>
              <a:srgbClr val="000000"/>
            </a:solidFill>
            <a:ln w="9525">
              <a:noFill/>
              <a:round/>
              <a:headEnd/>
              <a:tailEnd/>
            </a:ln>
          </p:spPr>
          <p:txBody>
            <a:bodyPr/>
            <a:lstStyle/>
            <a:p>
              <a:endParaRPr lang="en-US"/>
            </a:p>
          </p:txBody>
        </p:sp>
        <p:sp>
          <p:nvSpPr>
            <p:cNvPr id="16670" name="Freeform 202"/>
            <p:cNvSpPr>
              <a:spLocks/>
            </p:cNvSpPr>
            <p:nvPr/>
          </p:nvSpPr>
          <p:spPr bwMode="auto">
            <a:xfrm>
              <a:off x="2916" y="1061"/>
              <a:ext cx="29" cy="2200"/>
            </a:xfrm>
            <a:custGeom>
              <a:avLst/>
              <a:gdLst>
                <a:gd name="T0" fmla="*/ 1 w 58"/>
                <a:gd name="T1" fmla="*/ 0 h 4401"/>
                <a:gd name="T2" fmla="*/ 0 w 58"/>
                <a:gd name="T3" fmla="*/ 17 h 4401"/>
                <a:gd name="T4" fmla="*/ 1 w 58"/>
                <a:gd name="T5" fmla="*/ 17 h 4401"/>
                <a:gd name="T6" fmla="*/ 1 w 58"/>
                <a:gd name="T7" fmla="*/ 16 h 4401"/>
                <a:gd name="T8" fmla="*/ 1 w 58"/>
                <a:gd name="T9" fmla="*/ 0 h 4401"/>
                <a:gd name="T10" fmla="*/ 1 w 58"/>
                <a:gd name="T11" fmla="*/ 0 h 4401"/>
                <a:gd name="T12" fmla="*/ 0 60000 65536"/>
                <a:gd name="T13" fmla="*/ 0 60000 65536"/>
                <a:gd name="T14" fmla="*/ 0 60000 65536"/>
                <a:gd name="T15" fmla="*/ 0 60000 65536"/>
                <a:gd name="T16" fmla="*/ 0 60000 65536"/>
                <a:gd name="T17" fmla="*/ 0 60000 65536"/>
                <a:gd name="T18" fmla="*/ 0 w 58"/>
                <a:gd name="T19" fmla="*/ 0 h 4401"/>
                <a:gd name="T20" fmla="*/ 58 w 58"/>
                <a:gd name="T21" fmla="*/ 4401 h 4401"/>
              </a:gdLst>
              <a:ahLst/>
              <a:cxnLst>
                <a:cxn ang="T12">
                  <a:pos x="T0" y="T1"/>
                </a:cxn>
                <a:cxn ang="T13">
                  <a:pos x="T2" y="T3"/>
                </a:cxn>
                <a:cxn ang="T14">
                  <a:pos x="T4" y="T5"/>
                </a:cxn>
                <a:cxn ang="T15">
                  <a:pos x="T6" y="T7"/>
                </a:cxn>
                <a:cxn ang="T16">
                  <a:pos x="T8" y="T9"/>
                </a:cxn>
                <a:cxn ang="T17">
                  <a:pos x="T10" y="T11"/>
                </a:cxn>
              </a:cxnLst>
              <a:rect l="T18" t="T19" r="T20" b="T21"/>
              <a:pathLst>
                <a:path w="58" h="4401">
                  <a:moveTo>
                    <a:pt x="2" y="0"/>
                  </a:moveTo>
                  <a:lnTo>
                    <a:pt x="0" y="4401"/>
                  </a:lnTo>
                  <a:lnTo>
                    <a:pt x="38" y="4386"/>
                  </a:lnTo>
                  <a:lnTo>
                    <a:pt x="58" y="4310"/>
                  </a:lnTo>
                  <a:lnTo>
                    <a:pt x="58" y="55"/>
                  </a:lnTo>
                  <a:lnTo>
                    <a:pt x="2" y="0"/>
                  </a:lnTo>
                  <a:close/>
                </a:path>
              </a:pathLst>
            </a:custGeom>
            <a:solidFill>
              <a:srgbClr val="000000"/>
            </a:solidFill>
            <a:ln w="9525">
              <a:noFill/>
              <a:round/>
              <a:headEnd/>
              <a:tailEnd/>
            </a:ln>
          </p:spPr>
          <p:txBody>
            <a:bodyPr/>
            <a:lstStyle/>
            <a:p>
              <a:endParaRPr lang="en-US"/>
            </a:p>
          </p:txBody>
        </p:sp>
        <p:sp>
          <p:nvSpPr>
            <p:cNvPr id="16671" name="Freeform 203"/>
            <p:cNvSpPr>
              <a:spLocks/>
            </p:cNvSpPr>
            <p:nvPr/>
          </p:nvSpPr>
          <p:spPr bwMode="auto">
            <a:xfrm>
              <a:off x="2205" y="666"/>
              <a:ext cx="1982" cy="425"/>
            </a:xfrm>
            <a:custGeom>
              <a:avLst/>
              <a:gdLst>
                <a:gd name="T0" fmla="*/ 0 w 3964"/>
                <a:gd name="T1" fmla="*/ 1 h 851"/>
                <a:gd name="T2" fmla="*/ 1 w 3964"/>
                <a:gd name="T3" fmla="*/ 1 h 851"/>
                <a:gd name="T4" fmla="*/ 12 w 3964"/>
                <a:gd name="T5" fmla="*/ 0 h 851"/>
                <a:gd name="T6" fmla="*/ 15 w 3964"/>
                <a:gd name="T7" fmla="*/ 0 h 851"/>
                <a:gd name="T8" fmla="*/ 6 w 3964"/>
                <a:gd name="T9" fmla="*/ 3 h 851"/>
                <a:gd name="T10" fmla="*/ 6 w 3964"/>
                <a:gd name="T11" fmla="*/ 3 h 851"/>
                <a:gd name="T12" fmla="*/ 16 w 3964"/>
                <a:gd name="T13" fmla="*/ 0 h 851"/>
                <a:gd name="T14" fmla="*/ 16 w 3964"/>
                <a:gd name="T15" fmla="*/ 0 h 851"/>
                <a:gd name="T16" fmla="*/ 12 w 3964"/>
                <a:gd name="T17" fmla="*/ 0 h 851"/>
                <a:gd name="T18" fmla="*/ 0 w 3964"/>
                <a:gd name="T19" fmla="*/ 1 h 8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64"/>
                <a:gd name="T31" fmla="*/ 0 h 851"/>
                <a:gd name="T32" fmla="*/ 3964 w 3964"/>
                <a:gd name="T33" fmla="*/ 851 h 8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64" h="851">
                  <a:moveTo>
                    <a:pt x="0" y="378"/>
                  </a:moveTo>
                  <a:lnTo>
                    <a:pt x="5" y="444"/>
                  </a:lnTo>
                  <a:lnTo>
                    <a:pt x="2899" y="65"/>
                  </a:lnTo>
                  <a:lnTo>
                    <a:pt x="3796" y="220"/>
                  </a:lnTo>
                  <a:lnTo>
                    <a:pt x="1446" y="786"/>
                  </a:lnTo>
                  <a:lnTo>
                    <a:pt x="1452" y="851"/>
                  </a:lnTo>
                  <a:lnTo>
                    <a:pt x="3964" y="246"/>
                  </a:lnTo>
                  <a:lnTo>
                    <a:pt x="3961" y="181"/>
                  </a:lnTo>
                  <a:lnTo>
                    <a:pt x="2899" y="0"/>
                  </a:lnTo>
                  <a:lnTo>
                    <a:pt x="0" y="378"/>
                  </a:lnTo>
                  <a:close/>
                </a:path>
              </a:pathLst>
            </a:custGeom>
            <a:solidFill>
              <a:srgbClr val="000000"/>
            </a:solidFill>
            <a:ln w="9525">
              <a:noFill/>
              <a:round/>
              <a:headEnd/>
              <a:tailEnd/>
            </a:ln>
          </p:spPr>
          <p:txBody>
            <a:bodyPr/>
            <a:lstStyle/>
            <a:p>
              <a:endParaRPr lang="en-US"/>
            </a:p>
          </p:txBody>
        </p:sp>
        <p:sp>
          <p:nvSpPr>
            <p:cNvPr id="16672" name="Freeform 204"/>
            <p:cNvSpPr>
              <a:spLocks/>
            </p:cNvSpPr>
            <p:nvPr/>
          </p:nvSpPr>
          <p:spPr bwMode="auto">
            <a:xfrm>
              <a:off x="2204" y="855"/>
              <a:ext cx="727" cy="236"/>
            </a:xfrm>
            <a:custGeom>
              <a:avLst/>
              <a:gdLst>
                <a:gd name="T0" fmla="*/ 5 w 1455"/>
                <a:gd name="T1" fmla="*/ 1 h 473"/>
                <a:gd name="T2" fmla="*/ 0 w 1455"/>
                <a:gd name="T3" fmla="*/ 0 h 473"/>
                <a:gd name="T4" fmla="*/ 0 w 1455"/>
                <a:gd name="T5" fmla="*/ 0 h 473"/>
                <a:gd name="T6" fmla="*/ 0 w 1455"/>
                <a:gd name="T7" fmla="*/ 0 h 473"/>
                <a:gd name="T8" fmla="*/ 5 w 1455"/>
                <a:gd name="T9" fmla="*/ 1 h 473"/>
                <a:gd name="T10" fmla="*/ 5 w 1455"/>
                <a:gd name="T11" fmla="*/ 1 h 473"/>
                <a:gd name="T12" fmla="*/ 0 60000 65536"/>
                <a:gd name="T13" fmla="*/ 0 60000 65536"/>
                <a:gd name="T14" fmla="*/ 0 60000 65536"/>
                <a:gd name="T15" fmla="*/ 0 60000 65536"/>
                <a:gd name="T16" fmla="*/ 0 60000 65536"/>
                <a:gd name="T17" fmla="*/ 0 60000 65536"/>
                <a:gd name="T18" fmla="*/ 0 w 1455"/>
                <a:gd name="T19" fmla="*/ 0 h 473"/>
                <a:gd name="T20" fmla="*/ 1455 w 1455"/>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455" h="473">
                  <a:moveTo>
                    <a:pt x="1449" y="408"/>
                  </a:moveTo>
                  <a:lnTo>
                    <a:pt x="164" y="44"/>
                  </a:lnTo>
                  <a:lnTo>
                    <a:pt x="3" y="0"/>
                  </a:lnTo>
                  <a:lnTo>
                    <a:pt x="0" y="64"/>
                  </a:lnTo>
                  <a:lnTo>
                    <a:pt x="1455" y="473"/>
                  </a:lnTo>
                  <a:lnTo>
                    <a:pt x="1449" y="408"/>
                  </a:lnTo>
                  <a:close/>
                </a:path>
              </a:pathLst>
            </a:custGeom>
            <a:solidFill>
              <a:srgbClr val="000000"/>
            </a:solidFill>
            <a:ln w="9525">
              <a:noFill/>
              <a:round/>
              <a:headEnd/>
              <a:tailEnd/>
            </a:ln>
          </p:spPr>
          <p:txBody>
            <a:bodyPr/>
            <a:lstStyle/>
            <a:p>
              <a:endParaRPr lang="en-US"/>
            </a:p>
          </p:txBody>
        </p:sp>
        <p:sp>
          <p:nvSpPr>
            <p:cNvPr id="16673" name="Freeform 205"/>
            <p:cNvSpPr>
              <a:spLocks/>
            </p:cNvSpPr>
            <p:nvPr/>
          </p:nvSpPr>
          <p:spPr bwMode="auto">
            <a:xfrm>
              <a:off x="2300" y="1199"/>
              <a:ext cx="1779" cy="324"/>
            </a:xfrm>
            <a:custGeom>
              <a:avLst/>
              <a:gdLst>
                <a:gd name="T0" fmla="*/ 1 w 3556"/>
                <a:gd name="T1" fmla="*/ 1 h 647"/>
                <a:gd name="T2" fmla="*/ 0 w 3556"/>
                <a:gd name="T3" fmla="*/ 1 h 647"/>
                <a:gd name="T4" fmla="*/ 5 w 3556"/>
                <a:gd name="T5" fmla="*/ 3 h 647"/>
                <a:gd name="T6" fmla="*/ 14 w 3556"/>
                <a:gd name="T7" fmla="*/ 1 h 647"/>
                <a:gd name="T8" fmla="*/ 14 w 3556"/>
                <a:gd name="T9" fmla="*/ 0 h 647"/>
                <a:gd name="T10" fmla="*/ 5 w 3556"/>
                <a:gd name="T11" fmla="*/ 3 h 647"/>
                <a:gd name="T12" fmla="*/ 1 w 3556"/>
                <a:gd name="T13" fmla="*/ 1 h 647"/>
                <a:gd name="T14" fmla="*/ 0 60000 65536"/>
                <a:gd name="T15" fmla="*/ 0 60000 65536"/>
                <a:gd name="T16" fmla="*/ 0 60000 65536"/>
                <a:gd name="T17" fmla="*/ 0 60000 65536"/>
                <a:gd name="T18" fmla="*/ 0 60000 65536"/>
                <a:gd name="T19" fmla="*/ 0 60000 65536"/>
                <a:gd name="T20" fmla="*/ 0 60000 65536"/>
                <a:gd name="T21" fmla="*/ 0 w 3556"/>
                <a:gd name="T22" fmla="*/ 0 h 647"/>
                <a:gd name="T23" fmla="*/ 3556 w 3556"/>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6" h="647">
                  <a:moveTo>
                    <a:pt x="8" y="184"/>
                  </a:moveTo>
                  <a:lnTo>
                    <a:pt x="0" y="223"/>
                  </a:lnTo>
                  <a:lnTo>
                    <a:pt x="1247" y="647"/>
                  </a:lnTo>
                  <a:lnTo>
                    <a:pt x="3556" y="42"/>
                  </a:lnTo>
                  <a:lnTo>
                    <a:pt x="3551" y="0"/>
                  </a:lnTo>
                  <a:lnTo>
                    <a:pt x="1245" y="605"/>
                  </a:lnTo>
                  <a:lnTo>
                    <a:pt x="8" y="184"/>
                  </a:lnTo>
                  <a:close/>
                </a:path>
              </a:pathLst>
            </a:custGeom>
            <a:solidFill>
              <a:srgbClr val="000000"/>
            </a:solidFill>
            <a:ln w="9525">
              <a:noFill/>
              <a:round/>
              <a:headEnd/>
              <a:tailEnd/>
            </a:ln>
          </p:spPr>
          <p:txBody>
            <a:bodyPr/>
            <a:lstStyle/>
            <a:p>
              <a:endParaRPr lang="en-US"/>
            </a:p>
          </p:txBody>
        </p:sp>
        <p:sp>
          <p:nvSpPr>
            <p:cNvPr id="16674" name="Freeform 206"/>
            <p:cNvSpPr>
              <a:spLocks/>
            </p:cNvSpPr>
            <p:nvPr/>
          </p:nvSpPr>
          <p:spPr bwMode="auto">
            <a:xfrm>
              <a:off x="2334" y="1477"/>
              <a:ext cx="1690" cy="355"/>
            </a:xfrm>
            <a:custGeom>
              <a:avLst/>
              <a:gdLst>
                <a:gd name="T0" fmla="*/ 1 w 3380"/>
                <a:gd name="T1" fmla="*/ 1 h 709"/>
                <a:gd name="T2" fmla="*/ 0 w 3380"/>
                <a:gd name="T3" fmla="*/ 2 h 709"/>
                <a:gd name="T4" fmla="*/ 5 w 3380"/>
                <a:gd name="T5" fmla="*/ 3 h 709"/>
                <a:gd name="T6" fmla="*/ 13 w 3380"/>
                <a:gd name="T7" fmla="*/ 1 h 709"/>
                <a:gd name="T8" fmla="*/ 13 w 3380"/>
                <a:gd name="T9" fmla="*/ 0 h 709"/>
                <a:gd name="T10" fmla="*/ 5 w 3380"/>
                <a:gd name="T11" fmla="*/ 3 h 709"/>
                <a:gd name="T12" fmla="*/ 1 w 3380"/>
                <a:gd name="T13" fmla="*/ 1 h 709"/>
                <a:gd name="T14" fmla="*/ 0 60000 65536"/>
                <a:gd name="T15" fmla="*/ 0 60000 65536"/>
                <a:gd name="T16" fmla="*/ 0 60000 65536"/>
                <a:gd name="T17" fmla="*/ 0 60000 65536"/>
                <a:gd name="T18" fmla="*/ 0 60000 65536"/>
                <a:gd name="T19" fmla="*/ 0 60000 65536"/>
                <a:gd name="T20" fmla="*/ 0 60000 65536"/>
                <a:gd name="T21" fmla="*/ 0 w 3380"/>
                <a:gd name="T22" fmla="*/ 0 h 709"/>
                <a:gd name="T23" fmla="*/ 3380 w 3380"/>
                <a:gd name="T24" fmla="*/ 709 h 7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80" h="709">
                  <a:moveTo>
                    <a:pt x="11" y="228"/>
                  </a:moveTo>
                  <a:lnTo>
                    <a:pt x="0" y="267"/>
                  </a:lnTo>
                  <a:lnTo>
                    <a:pt x="1182" y="709"/>
                  </a:lnTo>
                  <a:lnTo>
                    <a:pt x="3380" y="42"/>
                  </a:lnTo>
                  <a:lnTo>
                    <a:pt x="3371" y="0"/>
                  </a:lnTo>
                  <a:lnTo>
                    <a:pt x="1182" y="666"/>
                  </a:lnTo>
                  <a:lnTo>
                    <a:pt x="11" y="228"/>
                  </a:lnTo>
                  <a:close/>
                </a:path>
              </a:pathLst>
            </a:custGeom>
            <a:solidFill>
              <a:srgbClr val="000000"/>
            </a:solidFill>
            <a:ln w="9525">
              <a:noFill/>
              <a:round/>
              <a:headEnd/>
              <a:tailEnd/>
            </a:ln>
          </p:spPr>
          <p:txBody>
            <a:bodyPr/>
            <a:lstStyle/>
            <a:p>
              <a:endParaRPr lang="en-US"/>
            </a:p>
          </p:txBody>
        </p:sp>
        <p:sp>
          <p:nvSpPr>
            <p:cNvPr id="16675" name="Freeform 207"/>
            <p:cNvSpPr>
              <a:spLocks/>
            </p:cNvSpPr>
            <p:nvPr/>
          </p:nvSpPr>
          <p:spPr bwMode="auto">
            <a:xfrm>
              <a:off x="2389" y="2201"/>
              <a:ext cx="1620" cy="363"/>
            </a:xfrm>
            <a:custGeom>
              <a:avLst/>
              <a:gdLst>
                <a:gd name="T0" fmla="*/ 1 w 3239"/>
                <a:gd name="T1" fmla="*/ 1 h 725"/>
                <a:gd name="T2" fmla="*/ 0 w 3239"/>
                <a:gd name="T3" fmla="*/ 1 h 725"/>
                <a:gd name="T4" fmla="*/ 5 w 3239"/>
                <a:gd name="T5" fmla="*/ 3 h 725"/>
                <a:gd name="T6" fmla="*/ 13 w 3239"/>
                <a:gd name="T7" fmla="*/ 1 h 725"/>
                <a:gd name="T8" fmla="*/ 13 w 3239"/>
                <a:gd name="T9" fmla="*/ 0 h 725"/>
                <a:gd name="T10" fmla="*/ 5 w 3239"/>
                <a:gd name="T11" fmla="*/ 3 h 725"/>
                <a:gd name="T12" fmla="*/ 1 w 3239"/>
                <a:gd name="T13" fmla="*/ 1 h 725"/>
                <a:gd name="T14" fmla="*/ 0 60000 65536"/>
                <a:gd name="T15" fmla="*/ 0 60000 65536"/>
                <a:gd name="T16" fmla="*/ 0 60000 65536"/>
                <a:gd name="T17" fmla="*/ 0 60000 65536"/>
                <a:gd name="T18" fmla="*/ 0 60000 65536"/>
                <a:gd name="T19" fmla="*/ 0 60000 65536"/>
                <a:gd name="T20" fmla="*/ 0 60000 65536"/>
                <a:gd name="T21" fmla="*/ 0 w 3239"/>
                <a:gd name="T22" fmla="*/ 0 h 725"/>
                <a:gd name="T23" fmla="*/ 3239 w 3239"/>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5">
                  <a:moveTo>
                    <a:pt x="14" y="113"/>
                  </a:moveTo>
                  <a:lnTo>
                    <a:pt x="0" y="152"/>
                  </a:lnTo>
                  <a:lnTo>
                    <a:pt x="1075" y="725"/>
                  </a:lnTo>
                  <a:lnTo>
                    <a:pt x="3239" y="39"/>
                  </a:lnTo>
                  <a:lnTo>
                    <a:pt x="3231" y="0"/>
                  </a:lnTo>
                  <a:lnTo>
                    <a:pt x="1084" y="683"/>
                  </a:lnTo>
                  <a:lnTo>
                    <a:pt x="14" y="113"/>
                  </a:lnTo>
                  <a:close/>
                </a:path>
              </a:pathLst>
            </a:custGeom>
            <a:solidFill>
              <a:srgbClr val="000000"/>
            </a:solidFill>
            <a:ln w="9525">
              <a:noFill/>
              <a:round/>
              <a:headEnd/>
              <a:tailEnd/>
            </a:ln>
          </p:spPr>
          <p:txBody>
            <a:bodyPr/>
            <a:lstStyle/>
            <a:p>
              <a:endParaRPr lang="en-US"/>
            </a:p>
          </p:txBody>
        </p:sp>
        <p:sp>
          <p:nvSpPr>
            <p:cNvPr id="16676" name="Freeform 208"/>
            <p:cNvSpPr>
              <a:spLocks/>
            </p:cNvSpPr>
            <p:nvPr/>
          </p:nvSpPr>
          <p:spPr bwMode="auto">
            <a:xfrm>
              <a:off x="2297" y="1174"/>
              <a:ext cx="1779" cy="324"/>
            </a:xfrm>
            <a:custGeom>
              <a:avLst/>
              <a:gdLst>
                <a:gd name="T0" fmla="*/ 0 w 3559"/>
                <a:gd name="T1" fmla="*/ 1 h 647"/>
                <a:gd name="T2" fmla="*/ 0 w 3559"/>
                <a:gd name="T3" fmla="*/ 1 h 647"/>
                <a:gd name="T4" fmla="*/ 4 w 3559"/>
                <a:gd name="T5" fmla="*/ 3 h 647"/>
                <a:gd name="T6" fmla="*/ 13 w 3559"/>
                <a:gd name="T7" fmla="*/ 1 h 647"/>
                <a:gd name="T8" fmla="*/ 13 w 3559"/>
                <a:gd name="T9" fmla="*/ 0 h 647"/>
                <a:gd name="T10" fmla="*/ 4 w 3559"/>
                <a:gd name="T11" fmla="*/ 3 h 647"/>
                <a:gd name="T12" fmla="*/ 0 w 3559"/>
                <a:gd name="T13" fmla="*/ 1 h 647"/>
                <a:gd name="T14" fmla="*/ 0 60000 65536"/>
                <a:gd name="T15" fmla="*/ 0 60000 65536"/>
                <a:gd name="T16" fmla="*/ 0 60000 65536"/>
                <a:gd name="T17" fmla="*/ 0 60000 65536"/>
                <a:gd name="T18" fmla="*/ 0 60000 65536"/>
                <a:gd name="T19" fmla="*/ 0 60000 65536"/>
                <a:gd name="T20" fmla="*/ 0 60000 65536"/>
                <a:gd name="T21" fmla="*/ 0 w 3559"/>
                <a:gd name="T22" fmla="*/ 0 h 647"/>
                <a:gd name="T23" fmla="*/ 3559 w 3559"/>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9" h="647">
                  <a:moveTo>
                    <a:pt x="9" y="183"/>
                  </a:moveTo>
                  <a:lnTo>
                    <a:pt x="0" y="222"/>
                  </a:lnTo>
                  <a:lnTo>
                    <a:pt x="1250" y="647"/>
                  </a:lnTo>
                  <a:lnTo>
                    <a:pt x="3559" y="43"/>
                  </a:lnTo>
                  <a:lnTo>
                    <a:pt x="3553" y="0"/>
                  </a:lnTo>
                  <a:lnTo>
                    <a:pt x="1247" y="605"/>
                  </a:lnTo>
                  <a:lnTo>
                    <a:pt x="9" y="183"/>
                  </a:lnTo>
                  <a:close/>
                </a:path>
              </a:pathLst>
            </a:custGeom>
            <a:solidFill>
              <a:srgbClr val="DEFF73"/>
            </a:solidFill>
            <a:ln w="9525">
              <a:noFill/>
              <a:round/>
              <a:headEnd/>
              <a:tailEnd/>
            </a:ln>
          </p:spPr>
          <p:txBody>
            <a:bodyPr/>
            <a:lstStyle/>
            <a:p>
              <a:endParaRPr lang="en-US"/>
            </a:p>
          </p:txBody>
        </p:sp>
        <p:sp>
          <p:nvSpPr>
            <p:cNvPr id="16677" name="Freeform 209"/>
            <p:cNvSpPr>
              <a:spLocks/>
            </p:cNvSpPr>
            <p:nvPr/>
          </p:nvSpPr>
          <p:spPr bwMode="auto">
            <a:xfrm>
              <a:off x="2331" y="1451"/>
              <a:ext cx="1690" cy="355"/>
            </a:xfrm>
            <a:custGeom>
              <a:avLst/>
              <a:gdLst>
                <a:gd name="T0" fmla="*/ 1 w 3379"/>
                <a:gd name="T1" fmla="*/ 1 h 710"/>
                <a:gd name="T2" fmla="*/ 0 w 3379"/>
                <a:gd name="T3" fmla="*/ 2 h 710"/>
                <a:gd name="T4" fmla="*/ 5 w 3379"/>
                <a:gd name="T5" fmla="*/ 3 h 710"/>
                <a:gd name="T6" fmla="*/ 14 w 3379"/>
                <a:gd name="T7" fmla="*/ 1 h 710"/>
                <a:gd name="T8" fmla="*/ 14 w 3379"/>
                <a:gd name="T9" fmla="*/ 0 h 710"/>
                <a:gd name="T10" fmla="*/ 5 w 3379"/>
                <a:gd name="T11" fmla="*/ 3 h 710"/>
                <a:gd name="T12" fmla="*/ 1 w 3379"/>
                <a:gd name="T13" fmla="*/ 1 h 710"/>
                <a:gd name="T14" fmla="*/ 0 60000 65536"/>
                <a:gd name="T15" fmla="*/ 0 60000 65536"/>
                <a:gd name="T16" fmla="*/ 0 60000 65536"/>
                <a:gd name="T17" fmla="*/ 0 60000 65536"/>
                <a:gd name="T18" fmla="*/ 0 60000 65536"/>
                <a:gd name="T19" fmla="*/ 0 60000 65536"/>
                <a:gd name="T20" fmla="*/ 0 60000 65536"/>
                <a:gd name="T21" fmla="*/ 0 w 3379"/>
                <a:gd name="T22" fmla="*/ 0 h 710"/>
                <a:gd name="T23" fmla="*/ 3379 w 3379"/>
                <a:gd name="T24" fmla="*/ 710 h 7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9" h="710">
                  <a:moveTo>
                    <a:pt x="11" y="229"/>
                  </a:moveTo>
                  <a:lnTo>
                    <a:pt x="0" y="268"/>
                  </a:lnTo>
                  <a:lnTo>
                    <a:pt x="1181" y="710"/>
                  </a:lnTo>
                  <a:lnTo>
                    <a:pt x="3379" y="43"/>
                  </a:lnTo>
                  <a:lnTo>
                    <a:pt x="3370" y="0"/>
                  </a:lnTo>
                  <a:lnTo>
                    <a:pt x="1181" y="667"/>
                  </a:lnTo>
                  <a:lnTo>
                    <a:pt x="11" y="229"/>
                  </a:lnTo>
                  <a:close/>
                </a:path>
              </a:pathLst>
            </a:custGeom>
            <a:solidFill>
              <a:srgbClr val="DEFF73"/>
            </a:solidFill>
            <a:ln w="9525">
              <a:noFill/>
              <a:round/>
              <a:headEnd/>
              <a:tailEnd/>
            </a:ln>
          </p:spPr>
          <p:txBody>
            <a:bodyPr/>
            <a:lstStyle/>
            <a:p>
              <a:endParaRPr lang="en-US"/>
            </a:p>
          </p:txBody>
        </p:sp>
        <p:sp>
          <p:nvSpPr>
            <p:cNvPr id="16678" name="Freeform 210"/>
            <p:cNvSpPr>
              <a:spLocks/>
            </p:cNvSpPr>
            <p:nvPr/>
          </p:nvSpPr>
          <p:spPr bwMode="auto">
            <a:xfrm>
              <a:off x="2386" y="2175"/>
              <a:ext cx="1620" cy="363"/>
            </a:xfrm>
            <a:custGeom>
              <a:avLst/>
              <a:gdLst>
                <a:gd name="T0" fmla="*/ 1 w 3239"/>
                <a:gd name="T1" fmla="*/ 0 h 727"/>
                <a:gd name="T2" fmla="*/ 0 w 3239"/>
                <a:gd name="T3" fmla="*/ 0 h 727"/>
                <a:gd name="T4" fmla="*/ 5 w 3239"/>
                <a:gd name="T5" fmla="*/ 2 h 727"/>
                <a:gd name="T6" fmla="*/ 13 w 3239"/>
                <a:gd name="T7" fmla="*/ 0 h 727"/>
                <a:gd name="T8" fmla="*/ 13 w 3239"/>
                <a:gd name="T9" fmla="*/ 0 h 727"/>
                <a:gd name="T10" fmla="*/ 5 w 3239"/>
                <a:gd name="T11" fmla="*/ 2 h 727"/>
                <a:gd name="T12" fmla="*/ 1 w 3239"/>
                <a:gd name="T13" fmla="*/ 0 h 727"/>
                <a:gd name="T14" fmla="*/ 0 60000 65536"/>
                <a:gd name="T15" fmla="*/ 0 60000 65536"/>
                <a:gd name="T16" fmla="*/ 0 60000 65536"/>
                <a:gd name="T17" fmla="*/ 0 60000 65536"/>
                <a:gd name="T18" fmla="*/ 0 60000 65536"/>
                <a:gd name="T19" fmla="*/ 0 60000 65536"/>
                <a:gd name="T20" fmla="*/ 0 60000 65536"/>
                <a:gd name="T21" fmla="*/ 0 w 3239"/>
                <a:gd name="T22" fmla="*/ 0 h 727"/>
                <a:gd name="T23" fmla="*/ 3239 w 3239"/>
                <a:gd name="T24" fmla="*/ 727 h 7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7">
                  <a:moveTo>
                    <a:pt x="14" y="114"/>
                  </a:moveTo>
                  <a:lnTo>
                    <a:pt x="0" y="153"/>
                  </a:lnTo>
                  <a:lnTo>
                    <a:pt x="1076" y="727"/>
                  </a:lnTo>
                  <a:lnTo>
                    <a:pt x="3239" y="39"/>
                  </a:lnTo>
                  <a:lnTo>
                    <a:pt x="3230" y="0"/>
                  </a:lnTo>
                  <a:lnTo>
                    <a:pt x="1085" y="685"/>
                  </a:lnTo>
                  <a:lnTo>
                    <a:pt x="14" y="114"/>
                  </a:lnTo>
                  <a:close/>
                </a:path>
              </a:pathLst>
            </a:custGeom>
            <a:solidFill>
              <a:srgbClr val="DEFF73"/>
            </a:solidFill>
            <a:ln w="9525">
              <a:noFill/>
              <a:round/>
              <a:headEnd/>
              <a:tailEnd/>
            </a:ln>
          </p:spPr>
          <p:txBody>
            <a:bodyPr/>
            <a:lstStyle/>
            <a:p>
              <a:endParaRPr lang="en-US"/>
            </a:p>
          </p:txBody>
        </p:sp>
        <p:sp>
          <p:nvSpPr>
            <p:cNvPr id="16679" name="Freeform 211"/>
            <p:cNvSpPr>
              <a:spLocks/>
            </p:cNvSpPr>
            <p:nvPr/>
          </p:nvSpPr>
          <p:spPr bwMode="auto">
            <a:xfrm>
              <a:off x="2315" y="1005"/>
              <a:ext cx="496" cy="331"/>
            </a:xfrm>
            <a:custGeom>
              <a:avLst/>
              <a:gdLst>
                <a:gd name="T0" fmla="*/ 0 w 993"/>
                <a:gd name="T1" fmla="*/ 0 h 664"/>
                <a:gd name="T2" fmla="*/ 0 w 993"/>
                <a:gd name="T3" fmla="*/ 1 h 664"/>
                <a:gd name="T4" fmla="*/ 3 w 993"/>
                <a:gd name="T5" fmla="*/ 2 h 664"/>
                <a:gd name="T6" fmla="*/ 3 w 993"/>
                <a:gd name="T7" fmla="*/ 1 h 664"/>
                <a:gd name="T8" fmla="*/ 0 w 993"/>
                <a:gd name="T9" fmla="*/ 0 h 664"/>
                <a:gd name="T10" fmla="*/ 0 w 993"/>
                <a:gd name="T11" fmla="*/ 0 h 664"/>
                <a:gd name="T12" fmla="*/ 0 w 993"/>
                <a:gd name="T13" fmla="*/ 0 h 664"/>
                <a:gd name="T14" fmla="*/ 0 60000 65536"/>
                <a:gd name="T15" fmla="*/ 0 60000 65536"/>
                <a:gd name="T16" fmla="*/ 0 60000 65536"/>
                <a:gd name="T17" fmla="*/ 0 60000 65536"/>
                <a:gd name="T18" fmla="*/ 0 60000 65536"/>
                <a:gd name="T19" fmla="*/ 0 60000 65536"/>
                <a:gd name="T20" fmla="*/ 0 60000 65536"/>
                <a:gd name="T21" fmla="*/ 0 w 993"/>
                <a:gd name="T22" fmla="*/ 0 h 664"/>
                <a:gd name="T23" fmla="*/ 993 w 993"/>
                <a:gd name="T24" fmla="*/ 664 h 6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3" h="664">
                  <a:moveTo>
                    <a:pt x="0" y="47"/>
                  </a:moveTo>
                  <a:lnTo>
                    <a:pt x="44" y="339"/>
                  </a:lnTo>
                  <a:lnTo>
                    <a:pt x="990" y="664"/>
                  </a:lnTo>
                  <a:lnTo>
                    <a:pt x="993" y="372"/>
                  </a:lnTo>
                  <a:lnTo>
                    <a:pt x="0" y="0"/>
                  </a:lnTo>
                  <a:lnTo>
                    <a:pt x="0" y="47"/>
                  </a:lnTo>
                  <a:close/>
                </a:path>
              </a:pathLst>
            </a:custGeom>
            <a:solidFill>
              <a:srgbClr val="99FFFB"/>
            </a:solidFill>
            <a:ln w="9525">
              <a:noFill/>
              <a:round/>
              <a:headEnd/>
              <a:tailEnd/>
            </a:ln>
          </p:spPr>
          <p:txBody>
            <a:bodyPr/>
            <a:lstStyle/>
            <a:p>
              <a:endParaRPr lang="en-US"/>
            </a:p>
          </p:txBody>
        </p:sp>
        <p:sp>
          <p:nvSpPr>
            <p:cNvPr id="16680" name="Freeform 212"/>
            <p:cNvSpPr>
              <a:spLocks/>
            </p:cNvSpPr>
            <p:nvPr/>
          </p:nvSpPr>
          <p:spPr bwMode="auto">
            <a:xfrm>
              <a:off x="2305" y="1027"/>
              <a:ext cx="516" cy="322"/>
            </a:xfrm>
            <a:custGeom>
              <a:avLst/>
              <a:gdLst>
                <a:gd name="T0" fmla="*/ 1 w 1030"/>
                <a:gd name="T1" fmla="*/ 0 h 644"/>
                <a:gd name="T2" fmla="*/ 0 w 1030"/>
                <a:gd name="T3" fmla="*/ 1 h 644"/>
                <a:gd name="T4" fmla="*/ 1 w 1030"/>
                <a:gd name="T5" fmla="*/ 2 h 644"/>
                <a:gd name="T6" fmla="*/ 5 w 1030"/>
                <a:gd name="T7" fmla="*/ 3 h 644"/>
                <a:gd name="T8" fmla="*/ 5 w 1030"/>
                <a:gd name="T9" fmla="*/ 2 h 644"/>
                <a:gd name="T10" fmla="*/ 4 w 1030"/>
                <a:gd name="T11" fmla="*/ 2 h 644"/>
                <a:gd name="T12" fmla="*/ 4 w 1030"/>
                <a:gd name="T13" fmla="*/ 3 h 644"/>
                <a:gd name="T14" fmla="*/ 1 w 1030"/>
                <a:gd name="T15" fmla="*/ 2 h 644"/>
                <a:gd name="T16" fmla="*/ 1 w 1030"/>
                <a:gd name="T17" fmla="*/ 0 h 6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0"/>
                <a:gd name="T28" fmla="*/ 0 h 644"/>
                <a:gd name="T29" fmla="*/ 1030 w 1030"/>
                <a:gd name="T30" fmla="*/ 644 h 6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0" h="644">
                  <a:moveTo>
                    <a:pt x="37" y="0"/>
                  </a:moveTo>
                  <a:lnTo>
                    <a:pt x="0" y="3"/>
                  </a:lnTo>
                  <a:lnTo>
                    <a:pt x="45" y="308"/>
                  </a:lnTo>
                  <a:lnTo>
                    <a:pt x="1026" y="644"/>
                  </a:lnTo>
                  <a:lnTo>
                    <a:pt x="1030" y="313"/>
                  </a:lnTo>
                  <a:lnTo>
                    <a:pt x="993" y="339"/>
                  </a:lnTo>
                  <a:lnTo>
                    <a:pt x="991" y="592"/>
                  </a:lnTo>
                  <a:lnTo>
                    <a:pt x="79" y="279"/>
                  </a:lnTo>
                  <a:lnTo>
                    <a:pt x="37" y="0"/>
                  </a:lnTo>
                  <a:close/>
                </a:path>
              </a:pathLst>
            </a:custGeom>
            <a:solidFill>
              <a:srgbClr val="000000"/>
            </a:solidFill>
            <a:ln w="9525">
              <a:noFill/>
              <a:round/>
              <a:headEnd/>
              <a:tailEnd/>
            </a:ln>
          </p:spPr>
          <p:txBody>
            <a:bodyPr/>
            <a:lstStyle/>
            <a:p>
              <a:endParaRPr lang="en-US"/>
            </a:p>
          </p:txBody>
        </p:sp>
        <p:sp>
          <p:nvSpPr>
            <p:cNvPr id="16681" name="Freeform 213"/>
            <p:cNvSpPr>
              <a:spLocks/>
            </p:cNvSpPr>
            <p:nvPr/>
          </p:nvSpPr>
          <p:spPr bwMode="auto">
            <a:xfrm>
              <a:off x="2305" y="991"/>
              <a:ext cx="516" cy="206"/>
            </a:xfrm>
            <a:custGeom>
              <a:avLst/>
              <a:gdLst>
                <a:gd name="T0" fmla="*/ 5 w 1030"/>
                <a:gd name="T1" fmla="*/ 2 h 412"/>
                <a:gd name="T2" fmla="*/ 1 w 1030"/>
                <a:gd name="T3" fmla="*/ 0 h 412"/>
                <a:gd name="T4" fmla="*/ 0 w 1030"/>
                <a:gd name="T5" fmla="*/ 1 h 412"/>
                <a:gd name="T6" fmla="*/ 0 w 1030"/>
                <a:gd name="T7" fmla="*/ 1 h 412"/>
                <a:gd name="T8" fmla="*/ 1 w 1030"/>
                <a:gd name="T9" fmla="*/ 1 h 412"/>
                <a:gd name="T10" fmla="*/ 1 w 1030"/>
                <a:gd name="T11" fmla="*/ 1 h 412"/>
                <a:gd name="T12" fmla="*/ 4 w 1030"/>
                <a:gd name="T13" fmla="*/ 2 h 412"/>
                <a:gd name="T14" fmla="*/ 5 w 1030"/>
                <a:gd name="T15" fmla="*/ 2 h 412"/>
                <a:gd name="T16" fmla="*/ 0 60000 65536"/>
                <a:gd name="T17" fmla="*/ 0 60000 65536"/>
                <a:gd name="T18" fmla="*/ 0 60000 65536"/>
                <a:gd name="T19" fmla="*/ 0 60000 65536"/>
                <a:gd name="T20" fmla="*/ 0 60000 65536"/>
                <a:gd name="T21" fmla="*/ 0 60000 65536"/>
                <a:gd name="T22" fmla="*/ 0 60000 65536"/>
                <a:gd name="T23" fmla="*/ 0 60000 65536"/>
                <a:gd name="T24" fmla="*/ 0 w 1030"/>
                <a:gd name="T25" fmla="*/ 0 h 412"/>
                <a:gd name="T26" fmla="*/ 1030 w 1030"/>
                <a:gd name="T27" fmla="*/ 412 h 4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0" h="412">
                  <a:moveTo>
                    <a:pt x="1030" y="386"/>
                  </a:moveTo>
                  <a:lnTo>
                    <a:pt x="1" y="0"/>
                  </a:lnTo>
                  <a:lnTo>
                    <a:pt x="0" y="74"/>
                  </a:lnTo>
                  <a:lnTo>
                    <a:pt x="0" y="76"/>
                  </a:lnTo>
                  <a:lnTo>
                    <a:pt x="37" y="73"/>
                  </a:lnTo>
                  <a:lnTo>
                    <a:pt x="37" y="55"/>
                  </a:lnTo>
                  <a:lnTo>
                    <a:pt x="993" y="412"/>
                  </a:lnTo>
                  <a:lnTo>
                    <a:pt x="1030" y="386"/>
                  </a:lnTo>
                  <a:close/>
                </a:path>
              </a:pathLst>
            </a:custGeom>
            <a:solidFill>
              <a:srgbClr val="000000"/>
            </a:solidFill>
            <a:ln w="9525">
              <a:noFill/>
              <a:round/>
              <a:headEnd/>
              <a:tailEnd/>
            </a:ln>
          </p:spPr>
          <p:txBody>
            <a:bodyPr/>
            <a:lstStyle/>
            <a:p>
              <a:endParaRPr lang="en-US"/>
            </a:p>
          </p:txBody>
        </p:sp>
        <p:sp>
          <p:nvSpPr>
            <p:cNvPr id="16682" name="Freeform 214"/>
            <p:cNvSpPr>
              <a:spLocks/>
            </p:cNvSpPr>
            <p:nvPr/>
          </p:nvSpPr>
          <p:spPr bwMode="auto">
            <a:xfrm>
              <a:off x="2340" y="1403"/>
              <a:ext cx="502" cy="270"/>
            </a:xfrm>
            <a:custGeom>
              <a:avLst/>
              <a:gdLst>
                <a:gd name="T0" fmla="*/ 0 w 1005"/>
                <a:gd name="T1" fmla="*/ 0 h 540"/>
                <a:gd name="T2" fmla="*/ 0 w 1005"/>
                <a:gd name="T3" fmla="*/ 1 h 540"/>
                <a:gd name="T4" fmla="*/ 3 w 1005"/>
                <a:gd name="T5" fmla="*/ 2 h 540"/>
                <a:gd name="T6" fmla="*/ 3 w 1005"/>
                <a:gd name="T7" fmla="*/ 1 h 540"/>
                <a:gd name="T8" fmla="*/ 0 w 1005"/>
                <a:gd name="T9" fmla="*/ 0 h 540"/>
                <a:gd name="T10" fmla="*/ 0 w 1005"/>
                <a:gd name="T11" fmla="*/ 0 h 540"/>
                <a:gd name="T12" fmla="*/ 0 w 1005"/>
                <a:gd name="T13" fmla="*/ 0 h 540"/>
                <a:gd name="T14" fmla="*/ 0 60000 65536"/>
                <a:gd name="T15" fmla="*/ 0 60000 65536"/>
                <a:gd name="T16" fmla="*/ 0 60000 65536"/>
                <a:gd name="T17" fmla="*/ 0 60000 65536"/>
                <a:gd name="T18" fmla="*/ 0 60000 65536"/>
                <a:gd name="T19" fmla="*/ 0 60000 65536"/>
                <a:gd name="T20" fmla="*/ 0 60000 65536"/>
                <a:gd name="T21" fmla="*/ 0 w 1005"/>
                <a:gd name="T22" fmla="*/ 0 h 540"/>
                <a:gd name="T23" fmla="*/ 1005 w 1005"/>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5" h="540">
                  <a:moveTo>
                    <a:pt x="34" y="0"/>
                  </a:moveTo>
                  <a:lnTo>
                    <a:pt x="94" y="245"/>
                  </a:lnTo>
                  <a:lnTo>
                    <a:pt x="1005" y="540"/>
                  </a:lnTo>
                  <a:lnTo>
                    <a:pt x="993" y="317"/>
                  </a:lnTo>
                  <a:lnTo>
                    <a:pt x="0" y="0"/>
                  </a:lnTo>
                  <a:lnTo>
                    <a:pt x="34" y="0"/>
                  </a:lnTo>
                  <a:close/>
                </a:path>
              </a:pathLst>
            </a:custGeom>
            <a:solidFill>
              <a:srgbClr val="99FFFB"/>
            </a:solidFill>
            <a:ln w="9525">
              <a:noFill/>
              <a:round/>
              <a:headEnd/>
              <a:tailEnd/>
            </a:ln>
          </p:spPr>
          <p:txBody>
            <a:bodyPr/>
            <a:lstStyle/>
            <a:p>
              <a:endParaRPr lang="en-US"/>
            </a:p>
          </p:txBody>
        </p:sp>
        <p:sp>
          <p:nvSpPr>
            <p:cNvPr id="16683" name="Freeform 215"/>
            <p:cNvSpPr>
              <a:spLocks/>
            </p:cNvSpPr>
            <p:nvPr/>
          </p:nvSpPr>
          <p:spPr bwMode="auto">
            <a:xfrm>
              <a:off x="2348" y="1401"/>
              <a:ext cx="504" cy="285"/>
            </a:xfrm>
            <a:custGeom>
              <a:avLst/>
              <a:gdLst>
                <a:gd name="T0" fmla="*/ 1 w 1008"/>
                <a:gd name="T1" fmla="*/ 0 h 571"/>
                <a:gd name="T2" fmla="*/ 0 w 1008"/>
                <a:gd name="T3" fmla="*/ 0 h 571"/>
                <a:gd name="T4" fmla="*/ 1 w 1008"/>
                <a:gd name="T5" fmla="*/ 1 h 571"/>
                <a:gd name="T6" fmla="*/ 4 w 1008"/>
                <a:gd name="T7" fmla="*/ 2 h 571"/>
                <a:gd name="T8" fmla="*/ 4 w 1008"/>
                <a:gd name="T9" fmla="*/ 1 h 571"/>
                <a:gd name="T10" fmla="*/ 4 w 1008"/>
                <a:gd name="T11" fmla="*/ 1 h 571"/>
                <a:gd name="T12" fmla="*/ 4 w 1008"/>
                <a:gd name="T13" fmla="*/ 2 h 571"/>
                <a:gd name="T14" fmla="*/ 1 w 1008"/>
                <a:gd name="T15" fmla="*/ 0 h 571"/>
                <a:gd name="T16" fmla="*/ 1 w 1008"/>
                <a:gd name="T17" fmla="*/ 0 h 5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8"/>
                <a:gd name="T28" fmla="*/ 0 h 571"/>
                <a:gd name="T29" fmla="*/ 1008 w 1008"/>
                <a:gd name="T30" fmla="*/ 571 h 5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8" h="571">
                  <a:moveTo>
                    <a:pt x="35" y="0"/>
                  </a:moveTo>
                  <a:lnTo>
                    <a:pt x="0" y="10"/>
                  </a:lnTo>
                  <a:lnTo>
                    <a:pt x="62" y="264"/>
                  </a:lnTo>
                  <a:lnTo>
                    <a:pt x="1008" y="571"/>
                  </a:lnTo>
                  <a:lnTo>
                    <a:pt x="996" y="307"/>
                  </a:lnTo>
                  <a:lnTo>
                    <a:pt x="958" y="336"/>
                  </a:lnTo>
                  <a:lnTo>
                    <a:pt x="970" y="519"/>
                  </a:lnTo>
                  <a:lnTo>
                    <a:pt x="94" y="235"/>
                  </a:lnTo>
                  <a:lnTo>
                    <a:pt x="35" y="0"/>
                  </a:lnTo>
                  <a:close/>
                </a:path>
              </a:pathLst>
            </a:custGeom>
            <a:solidFill>
              <a:srgbClr val="000000"/>
            </a:solidFill>
            <a:ln w="9525">
              <a:noFill/>
              <a:round/>
              <a:headEnd/>
              <a:tailEnd/>
            </a:ln>
          </p:spPr>
          <p:txBody>
            <a:bodyPr/>
            <a:lstStyle/>
            <a:p>
              <a:endParaRPr lang="en-US"/>
            </a:p>
          </p:txBody>
        </p:sp>
        <p:sp>
          <p:nvSpPr>
            <p:cNvPr id="16684" name="Freeform 216"/>
            <p:cNvSpPr>
              <a:spLocks/>
            </p:cNvSpPr>
            <p:nvPr/>
          </p:nvSpPr>
          <p:spPr bwMode="auto">
            <a:xfrm>
              <a:off x="2338" y="1393"/>
              <a:ext cx="508" cy="176"/>
            </a:xfrm>
            <a:custGeom>
              <a:avLst/>
              <a:gdLst>
                <a:gd name="T0" fmla="*/ 4 w 1016"/>
                <a:gd name="T1" fmla="*/ 2 h 350"/>
                <a:gd name="T2" fmla="*/ 1 w 1016"/>
                <a:gd name="T3" fmla="*/ 0 h 350"/>
                <a:gd name="T4" fmla="*/ 1 w 1016"/>
                <a:gd name="T5" fmla="*/ 1 h 350"/>
                <a:gd name="T6" fmla="*/ 0 w 1016"/>
                <a:gd name="T7" fmla="*/ 1 h 350"/>
                <a:gd name="T8" fmla="*/ 4 w 1016"/>
                <a:gd name="T9" fmla="*/ 2 h 350"/>
                <a:gd name="T10" fmla="*/ 4 w 1016"/>
                <a:gd name="T11" fmla="*/ 2 h 350"/>
                <a:gd name="T12" fmla="*/ 0 60000 65536"/>
                <a:gd name="T13" fmla="*/ 0 60000 65536"/>
                <a:gd name="T14" fmla="*/ 0 60000 65536"/>
                <a:gd name="T15" fmla="*/ 0 60000 65536"/>
                <a:gd name="T16" fmla="*/ 0 60000 65536"/>
                <a:gd name="T17" fmla="*/ 0 60000 65536"/>
                <a:gd name="T18" fmla="*/ 0 w 1016"/>
                <a:gd name="T19" fmla="*/ 0 h 350"/>
                <a:gd name="T20" fmla="*/ 1016 w 1016"/>
                <a:gd name="T21" fmla="*/ 350 h 350"/>
              </a:gdLst>
              <a:ahLst/>
              <a:cxnLst>
                <a:cxn ang="T12">
                  <a:pos x="T0" y="T1"/>
                </a:cxn>
                <a:cxn ang="T13">
                  <a:pos x="T2" y="T3"/>
                </a:cxn>
                <a:cxn ang="T14">
                  <a:pos x="T4" y="T5"/>
                </a:cxn>
                <a:cxn ang="T15">
                  <a:pos x="T6" y="T7"/>
                </a:cxn>
                <a:cxn ang="T16">
                  <a:pos x="T8" y="T9"/>
                </a:cxn>
                <a:cxn ang="T17">
                  <a:pos x="T10" y="T11"/>
                </a:cxn>
              </a:cxnLst>
              <a:rect l="T18" t="T19" r="T20" b="T21"/>
              <a:pathLst>
                <a:path w="1016" h="350">
                  <a:moveTo>
                    <a:pt x="1016" y="321"/>
                  </a:moveTo>
                  <a:lnTo>
                    <a:pt x="9" y="0"/>
                  </a:lnTo>
                  <a:lnTo>
                    <a:pt x="4" y="19"/>
                  </a:lnTo>
                  <a:lnTo>
                    <a:pt x="0" y="39"/>
                  </a:lnTo>
                  <a:lnTo>
                    <a:pt x="978" y="350"/>
                  </a:lnTo>
                  <a:lnTo>
                    <a:pt x="1016" y="321"/>
                  </a:lnTo>
                  <a:close/>
                </a:path>
              </a:pathLst>
            </a:custGeom>
            <a:solidFill>
              <a:srgbClr val="000000"/>
            </a:solidFill>
            <a:ln w="9525">
              <a:noFill/>
              <a:round/>
              <a:headEnd/>
              <a:tailEnd/>
            </a:ln>
          </p:spPr>
          <p:txBody>
            <a:bodyPr/>
            <a:lstStyle/>
            <a:p>
              <a:endParaRPr lang="en-US"/>
            </a:p>
          </p:txBody>
        </p:sp>
        <p:sp>
          <p:nvSpPr>
            <p:cNvPr id="16685" name="Freeform 217"/>
            <p:cNvSpPr>
              <a:spLocks/>
            </p:cNvSpPr>
            <p:nvPr/>
          </p:nvSpPr>
          <p:spPr bwMode="auto">
            <a:xfrm>
              <a:off x="2370" y="1429"/>
              <a:ext cx="443" cy="148"/>
            </a:xfrm>
            <a:custGeom>
              <a:avLst/>
              <a:gdLst>
                <a:gd name="T0" fmla="*/ 1 w 885"/>
                <a:gd name="T1" fmla="*/ 1 h 296"/>
                <a:gd name="T2" fmla="*/ 0 w 885"/>
                <a:gd name="T3" fmla="*/ 0 h 296"/>
                <a:gd name="T4" fmla="*/ 4 w 885"/>
                <a:gd name="T5" fmla="*/ 1 h 296"/>
                <a:gd name="T6" fmla="*/ 1 w 885"/>
                <a:gd name="T7" fmla="*/ 1 h 296"/>
                <a:gd name="T8" fmla="*/ 1 w 885"/>
                <a:gd name="T9" fmla="*/ 1 h 296"/>
                <a:gd name="T10" fmla="*/ 0 60000 65536"/>
                <a:gd name="T11" fmla="*/ 0 60000 65536"/>
                <a:gd name="T12" fmla="*/ 0 60000 65536"/>
                <a:gd name="T13" fmla="*/ 0 60000 65536"/>
                <a:gd name="T14" fmla="*/ 0 60000 65536"/>
                <a:gd name="T15" fmla="*/ 0 w 885"/>
                <a:gd name="T16" fmla="*/ 0 h 296"/>
                <a:gd name="T17" fmla="*/ 885 w 885"/>
                <a:gd name="T18" fmla="*/ 296 h 296"/>
              </a:gdLst>
              <a:ahLst/>
              <a:cxnLst>
                <a:cxn ang="T10">
                  <a:pos x="T0" y="T1"/>
                </a:cxn>
                <a:cxn ang="T11">
                  <a:pos x="T2" y="T3"/>
                </a:cxn>
                <a:cxn ang="T12">
                  <a:pos x="T4" y="T5"/>
                </a:cxn>
                <a:cxn ang="T13">
                  <a:pos x="T6" y="T7"/>
                </a:cxn>
                <a:cxn ang="T14">
                  <a:pos x="T8" y="T9"/>
                </a:cxn>
              </a:cxnLst>
              <a:rect l="T15" t="T16" r="T17" b="T18"/>
              <a:pathLst>
                <a:path w="885" h="296">
                  <a:moveTo>
                    <a:pt x="50" y="115"/>
                  </a:moveTo>
                  <a:lnTo>
                    <a:pt x="0" y="0"/>
                  </a:lnTo>
                  <a:lnTo>
                    <a:pt x="885" y="296"/>
                  </a:lnTo>
                  <a:lnTo>
                    <a:pt x="50" y="115"/>
                  </a:lnTo>
                  <a:close/>
                </a:path>
              </a:pathLst>
            </a:custGeom>
            <a:solidFill>
              <a:srgbClr val="99FFFB"/>
            </a:solidFill>
            <a:ln w="9525">
              <a:noFill/>
              <a:round/>
              <a:headEnd/>
              <a:tailEnd/>
            </a:ln>
          </p:spPr>
          <p:txBody>
            <a:bodyPr/>
            <a:lstStyle/>
            <a:p>
              <a:endParaRPr lang="en-US"/>
            </a:p>
          </p:txBody>
        </p:sp>
        <p:sp>
          <p:nvSpPr>
            <p:cNvPr id="16686" name="Freeform 218"/>
            <p:cNvSpPr>
              <a:spLocks/>
            </p:cNvSpPr>
            <p:nvPr/>
          </p:nvSpPr>
          <p:spPr bwMode="auto">
            <a:xfrm>
              <a:off x="2468" y="2490"/>
              <a:ext cx="343" cy="194"/>
            </a:xfrm>
            <a:custGeom>
              <a:avLst/>
              <a:gdLst>
                <a:gd name="T0" fmla="*/ 0 w 687"/>
                <a:gd name="T1" fmla="*/ 0 h 386"/>
                <a:gd name="T2" fmla="*/ 0 w 687"/>
                <a:gd name="T3" fmla="*/ 1 h 386"/>
                <a:gd name="T4" fmla="*/ 2 w 687"/>
                <a:gd name="T5" fmla="*/ 2 h 386"/>
                <a:gd name="T6" fmla="*/ 2 w 687"/>
                <a:gd name="T7" fmla="*/ 2 h 386"/>
                <a:gd name="T8" fmla="*/ 0 w 687"/>
                <a:gd name="T9" fmla="*/ 0 h 386"/>
                <a:gd name="T10" fmla="*/ 0 60000 65536"/>
                <a:gd name="T11" fmla="*/ 0 60000 65536"/>
                <a:gd name="T12" fmla="*/ 0 60000 65536"/>
                <a:gd name="T13" fmla="*/ 0 60000 65536"/>
                <a:gd name="T14" fmla="*/ 0 60000 65536"/>
                <a:gd name="T15" fmla="*/ 0 w 687"/>
                <a:gd name="T16" fmla="*/ 0 h 386"/>
                <a:gd name="T17" fmla="*/ 687 w 687"/>
                <a:gd name="T18" fmla="*/ 386 h 386"/>
              </a:gdLst>
              <a:ahLst/>
              <a:cxnLst>
                <a:cxn ang="T10">
                  <a:pos x="T0" y="T1"/>
                </a:cxn>
                <a:cxn ang="T11">
                  <a:pos x="T2" y="T3"/>
                </a:cxn>
                <a:cxn ang="T12">
                  <a:pos x="T4" y="T5"/>
                </a:cxn>
                <a:cxn ang="T13">
                  <a:pos x="T6" y="T7"/>
                </a:cxn>
                <a:cxn ang="T14">
                  <a:pos x="T8" y="T9"/>
                </a:cxn>
              </a:cxnLst>
              <a:rect l="T15" t="T16" r="T17" b="T18"/>
              <a:pathLst>
                <a:path w="687" h="386">
                  <a:moveTo>
                    <a:pt x="24" y="0"/>
                  </a:moveTo>
                  <a:lnTo>
                    <a:pt x="0" y="58"/>
                  </a:lnTo>
                  <a:lnTo>
                    <a:pt x="664" y="386"/>
                  </a:lnTo>
                  <a:lnTo>
                    <a:pt x="687" y="327"/>
                  </a:lnTo>
                  <a:lnTo>
                    <a:pt x="24" y="0"/>
                  </a:lnTo>
                  <a:close/>
                </a:path>
              </a:pathLst>
            </a:custGeom>
            <a:solidFill>
              <a:srgbClr val="000000"/>
            </a:solidFill>
            <a:ln w="9525">
              <a:noFill/>
              <a:round/>
              <a:headEnd/>
              <a:tailEnd/>
            </a:ln>
          </p:spPr>
          <p:txBody>
            <a:bodyPr/>
            <a:lstStyle/>
            <a:p>
              <a:endParaRPr lang="en-US"/>
            </a:p>
          </p:txBody>
        </p:sp>
        <p:sp>
          <p:nvSpPr>
            <p:cNvPr id="16687" name="Freeform 219"/>
            <p:cNvSpPr>
              <a:spLocks/>
            </p:cNvSpPr>
            <p:nvPr/>
          </p:nvSpPr>
          <p:spPr bwMode="auto">
            <a:xfrm>
              <a:off x="2463" y="2566"/>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6688" name="Freeform 220"/>
            <p:cNvSpPr>
              <a:spLocks/>
            </p:cNvSpPr>
            <p:nvPr/>
          </p:nvSpPr>
          <p:spPr bwMode="auto">
            <a:xfrm>
              <a:off x="2442" y="2641"/>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6689" name="Freeform 221"/>
            <p:cNvSpPr>
              <a:spLocks/>
            </p:cNvSpPr>
            <p:nvPr/>
          </p:nvSpPr>
          <p:spPr bwMode="auto">
            <a:xfrm>
              <a:off x="2437" y="2718"/>
              <a:ext cx="350" cy="221"/>
            </a:xfrm>
            <a:custGeom>
              <a:avLst/>
              <a:gdLst>
                <a:gd name="T0" fmla="*/ 1 w 699"/>
                <a:gd name="T1" fmla="*/ 0 h 441"/>
                <a:gd name="T2" fmla="*/ 0 w 699"/>
                <a:gd name="T3" fmla="*/ 1 h 441"/>
                <a:gd name="T4" fmla="*/ 3 w 699"/>
                <a:gd name="T5" fmla="*/ 2 h 441"/>
                <a:gd name="T6" fmla="*/ 3 w 699"/>
                <a:gd name="T7" fmla="*/ 2 h 441"/>
                <a:gd name="T8" fmla="*/ 1 w 699"/>
                <a:gd name="T9" fmla="*/ 0 h 441"/>
                <a:gd name="T10" fmla="*/ 0 60000 65536"/>
                <a:gd name="T11" fmla="*/ 0 60000 65536"/>
                <a:gd name="T12" fmla="*/ 0 60000 65536"/>
                <a:gd name="T13" fmla="*/ 0 60000 65536"/>
                <a:gd name="T14" fmla="*/ 0 60000 65536"/>
                <a:gd name="T15" fmla="*/ 0 w 699"/>
                <a:gd name="T16" fmla="*/ 0 h 441"/>
                <a:gd name="T17" fmla="*/ 699 w 699"/>
                <a:gd name="T18" fmla="*/ 441 h 441"/>
              </a:gdLst>
              <a:ahLst/>
              <a:cxnLst>
                <a:cxn ang="T10">
                  <a:pos x="T0" y="T1"/>
                </a:cxn>
                <a:cxn ang="T11">
                  <a:pos x="T2" y="T3"/>
                </a:cxn>
                <a:cxn ang="T12">
                  <a:pos x="T4" y="T5"/>
                </a:cxn>
                <a:cxn ang="T13">
                  <a:pos x="T6" y="T7"/>
                </a:cxn>
                <a:cxn ang="T14">
                  <a:pos x="T8" y="T9"/>
                </a:cxn>
              </a:cxnLst>
              <a:rect l="T15" t="T16" r="T17" b="T18"/>
              <a:pathLst>
                <a:path w="699" h="441">
                  <a:moveTo>
                    <a:pt x="27" y="0"/>
                  </a:moveTo>
                  <a:lnTo>
                    <a:pt x="0" y="58"/>
                  </a:lnTo>
                  <a:lnTo>
                    <a:pt x="673" y="441"/>
                  </a:lnTo>
                  <a:lnTo>
                    <a:pt x="699" y="383"/>
                  </a:lnTo>
                  <a:lnTo>
                    <a:pt x="27" y="0"/>
                  </a:lnTo>
                  <a:close/>
                </a:path>
              </a:pathLst>
            </a:custGeom>
            <a:solidFill>
              <a:srgbClr val="000000"/>
            </a:solidFill>
            <a:ln w="9525">
              <a:noFill/>
              <a:round/>
              <a:headEnd/>
              <a:tailEnd/>
            </a:ln>
          </p:spPr>
          <p:txBody>
            <a:bodyPr/>
            <a:lstStyle/>
            <a:p>
              <a:endParaRPr lang="en-US"/>
            </a:p>
          </p:txBody>
        </p:sp>
        <p:sp>
          <p:nvSpPr>
            <p:cNvPr id="16690" name="Freeform 222"/>
            <p:cNvSpPr>
              <a:spLocks/>
            </p:cNvSpPr>
            <p:nvPr/>
          </p:nvSpPr>
          <p:spPr bwMode="auto">
            <a:xfrm>
              <a:off x="2934" y="770"/>
              <a:ext cx="1059" cy="264"/>
            </a:xfrm>
            <a:custGeom>
              <a:avLst/>
              <a:gdLst>
                <a:gd name="T0" fmla="*/ 0 w 2119"/>
                <a:gd name="T1" fmla="*/ 2 h 528"/>
                <a:gd name="T2" fmla="*/ 0 w 2119"/>
                <a:gd name="T3" fmla="*/ 2 h 528"/>
                <a:gd name="T4" fmla="*/ 8 w 2119"/>
                <a:gd name="T5" fmla="*/ 1 h 528"/>
                <a:gd name="T6" fmla="*/ 8 w 2119"/>
                <a:gd name="T7" fmla="*/ 0 h 528"/>
                <a:gd name="T8" fmla="*/ 0 w 2119"/>
                <a:gd name="T9" fmla="*/ 2 h 528"/>
                <a:gd name="T10" fmla="*/ 0 60000 65536"/>
                <a:gd name="T11" fmla="*/ 0 60000 65536"/>
                <a:gd name="T12" fmla="*/ 0 60000 65536"/>
                <a:gd name="T13" fmla="*/ 0 60000 65536"/>
                <a:gd name="T14" fmla="*/ 0 60000 65536"/>
                <a:gd name="T15" fmla="*/ 0 w 2119"/>
                <a:gd name="T16" fmla="*/ 0 h 528"/>
                <a:gd name="T17" fmla="*/ 2119 w 2119"/>
                <a:gd name="T18" fmla="*/ 528 h 528"/>
              </a:gdLst>
              <a:ahLst/>
              <a:cxnLst>
                <a:cxn ang="T10">
                  <a:pos x="T0" y="T1"/>
                </a:cxn>
                <a:cxn ang="T11">
                  <a:pos x="T2" y="T3"/>
                </a:cxn>
                <a:cxn ang="T12">
                  <a:pos x="T4" y="T5"/>
                </a:cxn>
                <a:cxn ang="T13">
                  <a:pos x="T6" y="T7"/>
                </a:cxn>
                <a:cxn ang="T14">
                  <a:pos x="T8" y="T9"/>
                </a:cxn>
              </a:cxnLst>
              <a:rect l="T15" t="T16" r="T17" b="T18"/>
              <a:pathLst>
                <a:path w="2119" h="528">
                  <a:moveTo>
                    <a:pt x="0" y="486"/>
                  </a:moveTo>
                  <a:lnTo>
                    <a:pt x="6" y="528"/>
                  </a:lnTo>
                  <a:lnTo>
                    <a:pt x="2119" y="42"/>
                  </a:lnTo>
                  <a:lnTo>
                    <a:pt x="2114" y="0"/>
                  </a:lnTo>
                  <a:lnTo>
                    <a:pt x="0" y="486"/>
                  </a:lnTo>
                  <a:close/>
                </a:path>
              </a:pathLst>
            </a:custGeom>
            <a:solidFill>
              <a:srgbClr val="DEFF73"/>
            </a:solidFill>
            <a:ln w="9525">
              <a:noFill/>
              <a:round/>
              <a:headEnd/>
              <a:tailEnd/>
            </a:ln>
          </p:spPr>
          <p:txBody>
            <a:bodyPr/>
            <a:lstStyle/>
            <a:p>
              <a:endParaRPr lang="en-US"/>
            </a:p>
          </p:txBody>
        </p:sp>
        <p:sp>
          <p:nvSpPr>
            <p:cNvPr id="16691" name="Freeform 223"/>
            <p:cNvSpPr>
              <a:spLocks/>
            </p:cNvSpPr>
            <p:nvPr/>
          </p:nvSpPr>
          <p:spPr bwMode="auto">
            <a:xfrm>
              <a:off x="2256" y="672"/>
              <a:ext cx="1872" cy="384"/>
            </a:xfrm>
            <a:custGeom>
              <a:avLst/>
              <a:gdLst>
                <a:gd name="T0" fmla="*/ 1872 w 1872"/>
                <a:gd name="T1" fmla="*/ 96 h 384"/>
                <a:gd name="T2" fmla="*/ 672 w 1872"/>
                <a:gd name="T3" fmla="*/ 384 h 384"/>
                <a:gd name="T4" fmla="*/ 0 w 1872"/>
                <a:gd name="T5" fmla="*/ 192 h 384"/>
                <a:gd name="T6" fmla="*/ 1392 w 1872"/>
                <a:gd name="T7" fmla="*/ 0 h 384"/>
                <a:gd name="T8" fmla="*/ 1872 w 1872"/>
                <a:gd name="T9" fmla="*/ 96 h 384"/>
                <a:gd name="T10" fmla="*/ 0 60000 65536"/>
                <a:gd name="T11" fmla="*/ 0 60000 65536"/>
                <a:gd name="T12" fmla="*/ 0 60000 65536"/>
                <a:gd name="T13" fmla="*/ 0 60000 65536"/>
                <a:gd name="T14" fmla="*/ 0 60000 65536"/>
                <a:gd name="T15" fmla="*/ 0 w 1872"/>
                <a:gd name="T16" fmla="*/ 0 h 384"/>
                <a:gd name="T17" fmla="*/ 1872 w 1872"/>
                <a:gd name="T18" fmla="*/ 384 h 384"/>
              </a:gdLst>
              <a:ahLst/>
              <a:cxnLst>
                <a:cxn ang="T10">
                  <a:pos x="T0" y="T1"/>
                </a:cxn>
                <a:cxn ang="T11">
                  <a:pos x="T2" y="T3"/>
                </a:cxn>
                <a:cxn ang="T12">
                  <a:pos x="T4" y="T5"/>
                </a:cxn>
                <a:cxn ang="T13">
                  <a:pos x="T6" y="T7"/>
                </a:cxn>
                <a:cxn ang="T14">
                  <a:pos x="T8" y="T9"/>
                </a:cxn>
              </a:cxnLst>
              <a:rect l="T15" t="T16" r="T17" b="T18"/>
              <a:pathLst>
                <a:path w="1872" h="384">
                  <a:moveTo>
                    <a:pt x="1872" y="96"/>
                  </a:moveTo>
                  <a:lnTo>
                    <a:pt x="672" y="384"/>
                  </a:lnTo>
                  <a:lnTo>
                    <a:pt x="0" y="192"/>
                  </a:lnTo>
                  <a:lnTo>
                    <a:pt x="1392" y="0"/>
                  </a:lnTo>
                  <a:lnTo>
                    <a:pt x="1872" y="96"/>
                  </a:lnTo>
                  <a:close/>
                </a:path>
              </a:pathLst>
            </a:custGeom>
            <a:gradFill rotWithShape="0">
              <a:gsLst>
                <a:gs pos="0">
                  <a:srgbClr val="BEE761"/>
                </a:gs>
                <a:gs pos="100000">
                  <a:srgbClr val="44D6FE"/>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6396" name="Group 224"/>
          <p:cNvGrpSpPr>
            <a:grpSpLocks/>
          </p:cNvGrpSpPr>
          <p:nvPr/>
        </p:nvGrpSpPr>
        <p:grpSpPr bwMode="auto">
          <a:xfrm rot="-245528">
            <a:off x="6553200" y="6172200"/>
            <a:ext cx="238125" cy="309563"/>
            <a:chOff x="2202" y="666"/>
            <a:chExt cx="2001" cy="2601"/>
          </a:xfrm>
        </p:grpSpPr>
        <p:sp>
          <p:nvSpPr>
            <p:cNvPr id="16638" name="Freeform 225"/>
            <p:cNvSpPr>
              <a:spLocks/>
            </p:cNvSpPr>
            <p:nvPr/>
          </p:nvSpPr>
          <p:spPr bwMode="auto">
            <a:xfrm>
              <a:off x="2236" y="871"/>
              <a:ext cx="692" cy="2345"/>
            </a:xfrm>
            <a:custGeom>
              <a:avLst/>
              <a:gdLst>
                <a:gd name="T0" fmla="*/ 692 w 692"/>
                <a:gd name="T1" fmla="*/ 2345 h 2345"/>
                <a:gd name="T2" fmla="*/ 116 w 692"/>
                <a:gd name="T3" fmla="*/ 2009 h 2345"/>
                <a:gd name="T4" fmla="*/ 116 w 692"/>
                <a:gd name="T5" fmla="*/ 1385 h 2345"/>
                <a:gd name="T6" fmla="*/ 164 w 692"/>
                <a:gd name="T7" fmla="*/ 1193 h 2345"/>
                <a:gd name="T8" fmla="*/ 0 w 692"/>
                <a:gd name="T9" fmla="*/ 0 h 2345"/>
                <a:gd name="T10" fmla="*/ 673 w 692"/>
                <a:gd name="T11" fmla="*/ 222 h 2345"/>
                <a:gd name="T12" fmla="*/ 692 w 692"/>
                <a:gd name="T13" fmla="*/ 2345 h 2345"/>
                <a:gd name="T14" fmla="*/ 0 60000 65536"/>
                <a:gd name="T15" fmla="*/ 0 60000 65536"/>
                <a:gd name="T16" fmla="*/ 0 60000 65536"/>
                <a:gd name="T17" fmla="*/ 0 60000 65536"/>
                <a:gd name="T18" fmla="*/ 0 60000 65536"/>
                <a:gd name="T19" fmla="*/ 0 60000 65536"/>
                <a:gd name="T20" fmla="*/ 0 60000 65536"/>
                <a:gd name="T21" fmla="*/ 0 w 692"/>
                <a:gd name="T22" fmla="*/ 0 h 2345"/>
                <a:gd name="T23" fmla="*/ 692 w 692"/>
                <a:gd name="T24" fmla="*/ 2345 h 23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2" h="2345">
                  <a:moveTo>
                    <a:pt x="692" y="2345"/>
                  </a:moveTo>
                  <a:lnTo>
                    <a:pt x="116" y="2009"/>
                  </a:lnTo>
                  <a:lnTo>
                    <a:pt x="116" y="1385"/>
                  </a:lnTo>
                  <a:lnTo>
                    <a:pt x="164" y="1193"/>
                  </a:lnTo>
                  <a:lnTo>
                    <a:pt x="0" y="0"/>
                  </a:lnTo>
                  <a:lnTo>
                    <a:pt x="673" y="222"/>
                  </a:lnTo>
                  <a:lnTo>
                    <a:pt x="692" y="2345"/>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639" name="Freeform 226"/>
            <p:cNvSpPr>
              <a:spLocks/>
            </p:cNvSpPr>
            <p:nvPr/>
          </p:nvSpPr>
          <p:spPr bwMode="auto">
            <a:xfrm>
              <a:off x="2928" y="768"/>
              <a:ext cx="1248" cy="2448"/>
            </a:xfrm>
            <a:custGeom>
              <a:avLst/>
              <a:gdLst>
                <a:gd name="T0" fmla="*/ 0 w 1248"/>
                <a:gd name="T1" fmla="*/ 336 h 2448"/>
                <a:gd name="T2" fmla="*/ 0 w 1248"/>
                <a:gd name="T3" fmla="*/ 2448 h 2448"/>
                <a:gd name="T4" fmla="*/ 1200 w 1248"/>
                <a:gd name="T5" fmla="*/ 1968 h 2448"/>
                <a:gd name="T6" fmla="*/ 1008 w 1248"/>
                <a:gd name="T7" fmla="*/ 1008 h 2448"/>
                <a:gd name="T8" fmla="*/ 1248 w 1248"/>
                <a:gd name="T9" fmla="*/ 0 h 2448"/>
                <a:gd name="T10" fmla="*/ 0 w 1248"/>
                <a:gd name="T11" fmla="*/ 336 h 2448"/>
                <a:gd name="T12" fmla="*/ 0 60000 65536"/>
                <a:gd name="T13" fmla="*/ 0 60000 65536"/>
                <a:gd name="T14" fmla="*/ 0 60000 65536"/>
                <a:gd name="T15" fmla="*/ 0 60000 65536"/>
                <a:gd name="T16" fmla="*/ 0 60000 65536"/>
                <a:gd name="T17" fmla="*/ 0 60000 65536"/>
                <a:gd name="T18" fmla="*/ 0 w 1248"/>
                <a:gd name="T19" fmla="*/ 0 h 2448"/>
                <a:gd name="T20" fmla="*/ 1248 w 1248"/>
                <a:gd name="T21" fmla="*/ 2448 h 2448"/>
              </a:gdLst>
              <a:ahLst/>
              <a:cxnLst>
                <a:cxn ang="T12">
                  <a:pos x="T0" y="T1"/>
                </a:cxn>
                <a:cxn ang="T13">
                  <a:pos x="T2" y="T3"/>
                </a:cxn>
                <a:cxn ang="T14">
                  <a:pos x="T4" y="T5"/>
                </a:cxn>
                <a:cxn ang="T15">
                  <a:pos x="T6" y="T7"/>
                </a:cxn>
                <a:cxn ang="T16">
                  <a:pos x="T8" y="T9"/>
                </a:cxn>
                <a:cxn ang="T17">
                  <a:pos x="T10" y="T11"/>
                </a:cxn>
              </a:cxnLst>
              <a:rect l="T18" t="T19" r="T20" b="T21"/>
              <a:pathLst>
                <a:path w="1248" h="2448">
                  <a:moveTo>
                    <a:pt x="0" y="336"/>
                  </a:moveTo>
                  <a:lnTo>
                    <a:pt x="0" y="2448"/>
                  </a:lnTo>
                  <a:lnTo>
                    <a:pt x="1200" y="1968"/>
                  </a:lnTo>
                  <a:lnTo>
                    <a:pt x="1008" y="1008"/>
                  </a:lnTo>
                  <a:lnTo>
                    <a:pt x="1248" y="0"/>
                  </a:lnTo>
                  <a:lnTo>
                    <a:pt x="0" y="336"/>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640" name="Freeform 227"/>
            <p:cNvSpPr>
              <a:spLocks/>
            </p:cNvSpPr>
            <p:nvPr/>
          </p:nvSpPr>
          <p:spPr bwMode="auto">
            <a:xfrm>
              <a:off x="2326" y="2051"/>
              <a:ext cx="603" cy="1216"/>
            </a:xfrm>
            <a:custGeom>
              <a:avLst/>
              <a:gdLst>
                <a:gd name="T0" fmla="*/ 1 w 1204"/>
                <a:gd name="T1" fmla="*/ 1 h 2432"/>
                <a:gd name="T2" fmla="*/ 1 w 1204"/>
                <a:gd name="T3" fmla="*/ 0 h 2432"/>
                <a:gd name="T4" fmla="*/ 0 w 1204"/>
                <a:gd name="T5" fmla="*/ 7 h 2432"/>
                <a:gd name="T6" fmla="*/ 5 w 1204"/>
                <a:gd name="T7" fmla="*/ 10 h 2432"/>
                <a:gd name="T8" fmla="*/ 5 w 1204"/>
                <a:gd name="T9" fmla="*/ 9 h 2432"/>
                <a:gd name="T10" fmla="*/ 5 w 1204"/>
                <a:gd name="T11" fmla="*/ 9 h 2432"/>
                <a:gd name="T12" fmla="*/ 5 w 1204"/>
                <a:gd name="T13" fmla="*/ 10 h 2432"/>
                <a:gd name="T14" fmla="*/ 1 w 1204"/>
                <a:gd name="T15" fmla="*/ 6 h 2432"/>
                <a:gd name="T16" fmla="*/ 1 w 1204"/>
                <a:gd name="T17" fmla="*/ 1 h 2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04"/>
                <a:gd name="T28" fmla="*/ 0 h 2432"/>
                <a:gd name="T29" fmla="*/ 1204 w 1204"/>
                <a:gd name="T30" fmla="*/ 2432 h 24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04" h="2432">
                  <a:moveTo>
                    <a:pt x="162" y="3"/>
                  </a:moveTo>
                  <a:lnTo>
                    <a:pt x="104" y="0"/>
                  </a:lnTo>
                  <a:lnTo>
                    <a:pt x="0" y="1669"/>
                  </a:lnTo>
                  <a:lnTo>
                    <a:pt x="1193" y="2432"/>
                  </a:lnTo>
                  <a:lnTo>
                    <a:pt x="1204" y="2292"/>
                  </a:lnTo>
                  <a:lnTo>
                    <a:pt x="1146" y="2286"/>
                  </a:lnTo>
                  <a:lnTo>
                    <a:pt x="1143" y="2328"/>
                  </a:lnTo>
                  <a:lnTo>
                    <a:pt x="58" y="1633"/>
                  </a:lnTo>
                  <a:lnTo>
                    <a:pt x="162" y="3"/>
                  </a:lnTo>
                  <a:close/>
                </a:path>
              </a:pathLst>
            </a:custGeom>
            <a:solidFill>
              <a:srgbClr val="000000"/>
            </a:solidFill>
            <a:ln w="9525">
              <a:noFill/>
              <a:round/>
              <a:headEnd/>
              <a:tailEnd/>
            </a:ln>
          </p:spPr>
          <p:txBody>
            <a:bodyPr/>
            <a:lstStyle/>
            <a:p>
              <a:endParaRPr lang="en-US"/>
            </a:p>
          </p:txBody>
        </p:sp>
        <p:sp>
          <p:nvSpPr>
            <p:cNvPr id="16641" name="Freeform 228"/>
            <p:cNvSpPr>
              <a:spLocks/>
            </p:cNvSpPr>
            <p:nvPr/>
          </p:nvSpPr>
          <p:spPr bwMode="auto">
            <a:xfrm>
              <a:off x="2202" y="858"/>
              <a:ext cx="206" cy="1196"/>
            </a:xfrm>
            <a:custGeom>
              <a:avLst/>
              <a:gdLst>
                <a:gd name="T0" fmla="*/ 0 w 410"/>
                <a:gd name="T1" fmla="*/ 0 h 2391"/>
                <a:gd name="T2" fmla="*/ 2 w 410"/>
                <a:gd name="T3" fmla="*/ 10 h 2391"/>
                <a:gd name="T4" fmla="*/ 2 w 410"/>
                <a:gd name="T5" fmla="*/ 10 h 2391"/>
                <a:gd name="T6" fmla="*/ 2 w 410"/>
                <a:gd name="T7" fmla="*/ 10 h 2391"/>
                <a:gd name="T8" fmla="*/ 1 w 410"/>
                <a:gd name="T9" fmla="*/ 1 h 2391"/>
                <a:gd name="T10" fmla="*/ 0 w 410"/>
                <a:gd name="T11" fmla="*/ 0 h 2391"/>
                <a:gd name="T12" fmla="*/ 0 60000 65536"/>
                <a:gd name="T13" fmla="*/ 0 60000 65536"/>
                <a:gd name="T14" fmla="*/ 0 60000 65536"/>
                <a:gd name="T15" fmla="*/ 0 60000 65536"/>
                <a:gd name="T16" fmla="*/ 0 60000 65536"/>
                <a:gd name="T17" fmla="*/ 0 60000 65536"/>
                <a:gd name="T18" fmla="*/ 0 w 410"/>
                <a:gd name="T19" fmla="*/ 0 h 2391"/>
                <a:gd name="T20" fmla="*/ 410 w 410"/>
                <a:gd name="T21" fmla="*/ 2391 h 2391"/>
              </a:gdLst>
              <a:ahLst/>
              <a:cxnLst>
                <a:cxn ang="T12">
                  <a:pos x="T0" y="T1"/>
                </a:cxn>
                <a:cxn ang="T13">
                  <a:pos x="T2" y="T3"/>
                </a:cxn>
                <a:cxn ang="T14">
                  <a:pos x="T4" y="T5"/>
                </a:cxn>
                <a:cxn ang="T15">
                  <a:pos x="T6" y="T7"/>
                </a:cxn>
                <a:cxn ang="T16">
                  <a:pos x="T8" y="T9"/>
                </a:cxn>
                <a:cxn ang="T17">
                  <a:pos x="T10" y="T11"/>
                </a:cxn>
              </a:cxnLst>
              <a:rect l="T18" t="T19" r="T20" b="T21"/>
              <a:pathLst>
                <a:path w="410" h="2391">
                  <a:moveTo>
                    <a:pt x="0" y="0"/>
                  </a:moveTo>
                  <a:lnTo>
                    <a:pt x="352" y="2391"/>
                  </a:lnTo>
                  <a:lnTo>
                    <a:pt x="410" y="2389"/>
                  </a:lnTo>
                  <a:lnTo>
                    <a:pt x="410" y="2385"/>
                  </a:lnTo>
                  <a:lnTo>
                    <a:pt x="69" y="81"/>
                  </a:lnTo>
                  <a:lnTo>
                    <a:pt x="0" y="0"/>
                  </a:lnTo>
                  <a:close/>
                </a:path>
              </a:pathLst>
            </a:custGeom>
            <a:solidFill>
              <a:srgbClr val="000000"/>
            </a:solidFill>
            <a:ln w="9525">
              <a:noFill/>
              <a:round/>
              <a:headEnd/>
              <a:tailEnd/>
            </a:ln>
          </p:spPr>
          <p:txBody>
            <a:bodyPr/>
            <a:lstStyle/>
            <a:p>
              <a:endParaRPr lang="en-US"/>
            </a:p>
          </p:txBody>
        </p:sp>
        <p:sp>
          <p:nvSpPr>
            <p:cNvPr id="16642" name="Freeform 229"/>
            <p:cNvSpPr>
              <a:spLocks/>
            </p:cNvSpPr>
            <p:nvPr/>
          </p:nvSpPr>
          <p:spPr bwMode="auto">
            <a:xfrm>
              <a:off x="2916" y="751"/>
              <a:ext cx="1287" cy="2503"/>
            </a:xfrm>
            <a:custGeom>
              <a:avLst/>
              <a:gdLst>
                <a:gd name="T0" fmla="*/ 1 w 2574"/>
                <a:gd name="T1" fmla="*/ 20 h 5006"/>
                <a:gd name="T2" fmla="*/ 1 w 2574"/>
                <a:gd name="T3" fmla="*/ 20 h 5006"/>
                <a:gd name="T4" fmla="*/ 10 w 2574"/>
                <a:gd name="T5" fmla="*/ 16 h 5006"/>
                <a:gd name="T6" fmla="*/ 9 w 2574"/>
                <a:gd name="T7" fmla="*/ 9 h 5006"/>
                <a:gd name="T8" fmla="*/ 10 w 2574"/>
                <a:gd name="T9" fmla="*/ 0 h 5006"/>
                <a:gd name="T10" fmla="*/ 0 w 2574"/>
                <a:gd name="T11" fmla="*/ 3 h 5006"/>
                <a:gd name="T12" fmla="*/ 1 w 2574"/>
                <a:gd name="T13" fmla="*/ 3 h 5006"/>
                <a:gd name="T14" fmla="*/ 10 w 2574"/>
                <a:gd name="T15" fmla="*/ 1 h 5006"/>
                <a:gd name="T16" fmla="*/ 8 w 2574"/>
                <a:gd name="T17" fmla="*/ 9 h 5006"/>
                <a:gd name="T18" fmla="*/ 10 w 2574"/>
                <a:gd name="T19" fmla="*/ 16 h 5006"/>
                <a:gd name="T20" fmla="*/ 1 w 2574"/>
                <a:gd name="T21" fmla="*/ 20 h 50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74"/>
                <a:gd name="T34" fmla="*/ 0 h 5006"/>
                <a:gd name="T35" fmla="*/ 2574 w 2574"/>
                <a:gd name="T36" fmla="*/ 5006 h 50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74" h="5006">
                  <a:moveTo>
                    <a:pt x="18" y="4944"/>
                  </a:moveTo>
                  <a:lnTo>
                    <a:pt x="36" y="5006"/>
                  </a:lnTo>
                  <a:lnTo>
                    <a:pt x="2394" y="4015"/>
                  </a:lnTo>
                  <a:lnTo>
                    <a:pt x="2098" y="2069"/>
                  </a:lnTo>
                  <a:lnTo>
                    <a:pt x="2574" y="0"/>
                  </a:lnTo>
                  <a:lnTo>
                    <a:pt x="0" y="620"/>
                  </a:lnTo>
                  <a:lnTo>
                    <a:pt x="56" y="675"/>
                  </a:lnTo>
                  <a:lnTo>
                    <a:pt x="2498" y="85"/>
                  </a:lnTo>
                  <a:lnTo>
                    <a:pt x="2040" y="2075"/>
                  </a:lnTo>
                  <a:lnTo>
                    <a:pt x="2330" y="3973"/>
                  </a:lnTo>
                  <a:lnTo>
                    <a:pt x="18" y="4944"/>
                  </a:lnTo>
                  <a:close/>
                </a:path>
              </a:pathLst>
            </a:custGeom>
            <a:solidFill>
              <a:srgbClr val="000000"/>
            </a:solidFill>
            <a:ln w="9525">
              <a:noFill/>
              <a:round/>
              <a:headEnd/>
              <a:tailEnd/>
            </a:ln>
          </p:spPr>
          <p:txBody>
            <a:bodyPr/>
            <a:lstStyle/>
            <a:p>
              <a:endParaRPr lang="en-US"/>
            </a:p>
          </p:txBody>
        </p:sp>
        <p:sp>
          <p:nvSpPr>
            <p:cNvPr id="16643" name="Freeform 230"/>
            <p:cNvSpPr>
              <a:spLocks/>
            </p:cNvSpPr>
            <p:nvPr/>
          </p:nvSpPr>
          <p:spPr bwMode="auto">
            <a:xfrm>
              <a:off x="2916" y="1061"/>
              <a:ext cx="29" cy="2200"/>
            </a:xfrm>
            <a:custGeom>
              <a:avLst/>
              <a:gdLst>
                <a:gd name="T0" fmla="*/ 1 w 58"/>
                <a:gd name="T1" fmla="*/ 0 h 4401"/>
                <a:gd name="T2" fmla="*/ 0 w 58"/>
                <a:gd name="T3" fmla="*/ 17 h 4401"/>
                <a:gd name="T4" fmla="*/ 1 w 58"/>
                <a:gd name="T5" fmla="*/ 17 h 4401"/>
                <a:gd name="T6" fmla="*/ 1 w 58"/>
                <a:gd name="T7" fmla="*/ 16 h 4401"/>
                <a:gd name="T8" fmla="*/ 1 w 58"/>
                <a:gd name="T9" fmla="*/ 0 h 4401"/>
                <a:gd name="T10" fmla="*/ 1 w 58"/>
                <a:gd name="T11" fmla="*/ 0 h 4401"/>
                <a:gd name="T12" fmla="*/ 0 60000 65536"/>
                <a:gd name="T13" fmla="*/ 0 60000 65536"/>
                <a:gd name="T14" fmla="*/ 0 60000 65536"/>
                <a:gd name="T15" fmla="*/ 0 60000 65536"/>
                <a:gd name="T16" fmla="*/ 0 60000 65536"/>
                <a:gd name="T17" fmla="*/ 0 60000 65536"/>
                <a:gd name="T18" fmla="*/ 0 w 58"/>
                <a:gd name="T19" fmla="*/ 0 h 4401"/>
                <a:gd name="T20" fmla="*/ 58 w 58"/>
                <a:gd name="T21" fmla="*/ 4401 h 4401"/>
              </a:gdLst>
              <a:ahLst/>
              <a:cxnLst>
                <a:cxn ang="T12">
                  <a:pos x="T0" y="T1"/>
                </a:cxn>
                <a:cxn ang="T13">
                  <a:pos x="T2" y="T3"/>
                </a:cxn>
                <a:cxn ang="T14">
                  <a:pos x="T4" y="T5"/>
                </a:cxn>
                <a:cxn ang="T15">
                  <a:pos x="T6" y="T7"/>
                </a:cxn>
                <a:cxn ang="T16">
                  <a:pos x="T8" y="T9"/>
                </a:cxn>
                <a:cxn ang="T17">
                  <a:pos x="T10" y="T11"/>
                </a:cxn>
              </a:cxnLst>
              <a:rect l="T18" t="T19" r="T20" b="T21"/>
              <a:pathLst>
                <a:path w="58" h="4401">
                  <a:moveTo>
                    <a:pt x="2" y="0"/>
                  </a:moveTo>
                  <a:lnTo>
                    <a:pt x="0" y="4401"/>
                  </a:lnTo>
                  <a:lnTo>
                    <a:pt x="38" y="4386"/>
                  </a:lnTo>
                  <a:lnTo>
                    <a:pt x="58" y="4310"/>
                  </a:lnTo>
                  <a:lnTo>
                    <a:pt x="58" y="55"/>
                  </a:lnTo>
                  <a:lnTo>
                    <a:pt x="2" y="0"/>
                  </a:lnTo>
                  <a:close/>
                </a:path>
              </a:pathLst>
            </a:custGeom>
            <a:solidFill>
              <a:srgbClr val="000000"/>
            </a:solidFill>
            <a:ln w="9525">
              <a:noFill/>
              <a:round/>
              <a:headEnd/>
              <a:tailEnd/>
            </a:ln>
          </p:spPr>
          <p:txBody>
            <a:bodyPr/>
            <a:lstStyle/>
            <a:p>
              <a:endParaRPr lang="en-US"/>
            </a:p>
          </p:txBody>
        </p:sp>
        <p:sp>
          <p:nvSpPr>
            <p:cNvPr id="16644" name="Freeform 231"/>
            <p:cNvSpPr>
              <a:spLocks/>
            </p:cNvSpPr>
            <p:nvPr/>
          </p:nvSpPr>
          <p:spPr bwMode="auto">
            <a:xfrm>
              <a:off x="2205" y="666"/>
              <a:ext cx="1982" cy="425"/>
            </a:xfrm>
            <a:custGeom>
              <a:avLst/>
              <a:gdLst>
                <a:gd name="T0" fmla="*/ 0 w 3964"/>
                <a:gd name="T1" fmla="*/ 1 h 851"/>
                <a:gd name="T2" fmla="*/ 1 w 3964"/>
                <a:gd name="T3" fmla="*/ 1 h 851"/>
                <a:gd name="T4" fmla="*/ 12 w 3964"/>
                <a:gd name="T5" fmla="*/ 0 h 851"/>
                <a:gd name="T6" fmla="*/ 15 w 3964"/>
                <a:gd name="T7" fmla="*/ 0 h 851"/>
                <a:gd name="T8" fmla="*/ 6 w 3964"/>
                <a:gd name="T9" fmla="*/ 3 h 851"/>
                <a:gd name="T10" fmla="*/ 6 w 3964"/>
                <a:gd name="T11" fmla="*/ 3 h 851"/>
                <a:gd name="T12" fmla="*/ 16 w 3964"/>
                <a:gd name="T13" fmla="*/ 0 h 851"/>
                <a:gd name="T14" fmla="*/ 16 w 3964"/>
                <a:gd name="T15" fmla="*/ 0 h 851"/>
                <a:gd name="T16" fmla="*/ 12 w 3964"/>
                <a:gd name="T17" fmla="*/ 0 h 851"/>
                <a:gd name="T18" fmla="*/ 0 w 3964"/>
                <a:gd name="T19" fmla="*/ 1 h 8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64"/>
                <a:gd name="T31" fmla="*/ 0 h 851"/>
                <a:gd name="T32" fmla="*/ 3964 w 3964"/>
                <a:gd name="T33" fmla="*/ 851 h 8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64" h="851">
                  <a:moveTo>
                    <a:pt x="0" y="378"/>
                  </a:moveTo>
                  <a:lnTo>
                    <a:pt x="5" y="444"/>
                  </a:lnTo>
                  <a:lnTo>
                    <a:pt x="2899" y="65"/>
                  </a:lnTo>
                  <a:lnTo>
                    <a:pt x="3796" y="220"/>
                  </a:lnTo>
                  <a:lnTo>
                    <a:pt x="1446" y="786"/>
                  </a:lnTo>
                  <a:lnTo>
                    <a:pt x="1452" y="851"/>
                  </a:lnTo>
                  <a:lnTo>
                    <a:pt x="3964" y="246"/>
                  </a:lnTo>
                  <a:lnTo>
                    <a:pt x="3961" y="181"/>
                  </a:lnTo>
                  <a:lnTo>
                    <a:pt x="2899" y="0"/>
                  </a:lnTo>
                  <a:lnTo>
                    <a:pt x="0" y="378"/>
                  </a:lnTo>
                  <a:close/>
                </a:path>
              </a:pathLst>
            </a:custGeom>
            <a:solidFill>
              <a:srgbClr val="000000"/>
            </a:solidFill>
            <a:ln w="9525">
              <a:noFill/>
              <a:round/>
              <a:headEnd/>
              <a:tailEnd/>
            </a:ln>
          </p:spPr>
          <p:txBody>
            <a:bodyPr/>
            <a:lstStyle/>
            <a:p>
              <a:endParaRPr lang="en-US"/>
            </a:p>
          </p:txBody>
        </p:sp>
        <p:sp>
          <p:nvSpPr>
            <p:cNvPr id="16645" name="Freeform 232"/>
            <p:cNvSpPr>
              <a:spLocks/>
            </p:cNvSpPr>
            <p:nvPr/>
          </p:nvSpPr>
          <p:spPr bwMode="auto">
            <a:xfrm>
              <a:off x="2204" y="855"/>
              <a:ext cx="727" cy="236"/>
            </a:xfrm>
            <a:custGeom>
              <a:avLst/>
              <a:gdLst>
                <a:gd name="T0" fmla="*/ 5 w 1455"/>
                <a:gd name="T1" fmla="*/ 1 h 473"/>
                <a:gd name="T2" fmla="*/ 0 w 1455"/>
                <a:gd name="T3" fmla="*/ 0 h 473"/>
                <a:gd name="T4" fmla="*/ 0 w 1455"/>
                <a:gd name="T5" fmla="*/ 0 h 473"/>
                <a:gd name="T6" fmla="*/ 0 w 1455"/>
                <a:gd name="T7" fmla="*/ 0 h 473"/>
                <a:gd name="T8" fmla="*/ 5 w 1455"/>
                <a:gd name="T9" fmla="*/ 1 h 473"/>
                <a:gd name="T10" fmla="*/ 5 w 1455"/>
                <a:gd name="T11" fmla="*/ 1 h 473"/>
                <a:gd name="T12" fmla="*/ 0 60000 65536"/>
                <a:gd name="T13" fmla="*/ 0 60000 65536"/>
                <a:gd name="T14" fmla="*/ 0 60000 65536"/>
                <a:gd name="T15" fmla="*/ 0 60000 65536"/>
                <a:gd name="T16" fmla="*/ 0 60000 65536"/>
                <a:gd name="T17" fmla="*/ 0 60000 65536"/>
                <a:gd name="T18" fmla="*/ 0 w 1455"/>
                <a:gd name="T19" fmla="*/ 0 h 473"/>
                <a:gd name="T20" fmla="*/ 1455 w 1455"/>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455" h="473">
                  <a:moveTo>
                    <a:pt x="1449" y="408"/>
                  </a:moveTo>
                  <a:lnTo>
                    <a:pt x="164" y="44"/>
                  </a:lnTo>
                  <a:lnTo>
                    <a:pt x="3" y="0"/>
                  </a:lnTo>
                  <a:lnTo>
                    <a:pt x="0" y="64"/>
                  </a:lnTo>
                  <a:lnTo>
                    <a:pt x="1455" y="473"/>
                  </a:lnTo>
                  <a:lnTo>
                    <a:pt x="1449" y="408"/>
                  </a:lnTo>
                  <a:close/>
                </a:path>
              </a:pathLst>
            </a:custGeom>
            <a:solidFill>
              <a:srgbClr val="000000"/>
            </a:solidFill>
            <a:ln w="9525">
              <a:noFill/>
              <a:round/>
              <a:headEnd/>
              <a:tailEnd/>
            </a:ln>
          </p:spPr>
          <p:txBody>
            <a:bodyPr/>
            <a:lstStyle/>
            <a:p>
              <a:endParaRPr lang="en-US"/>
            </a:p>
          </p:txBody>
        </p:sp>
        <p:sp>
          <p:nvSpPr>
            <p:cNvPr id="16646" name="Freeform 233"/>
            <p:cNvSpPr>
              <a:spLocks/>
            </p:cNvSpPr>
            <p:nvPr/>
          </p:nvSpPr>
          <p:spPr bwMode="auto">
            <a:xfrm>
              <a:off x="2300" y="1199"/>
              <a:ext cx="1779" cy="324"/>
            </a:xfrm>
            <a:custGeom>
              <a:avLst/>
              <a:gdLst>
                <a:gd name="T0" fmla="*/ 1 w 3556"/>
                <a:gd name="T1" fmla="*/ 1 h 647"/>
                <a:gd name="T2" fmla="*/ 0 w 3556"/>
                <a:gd name="T3" fmla="*/ 1 h 647"/>
                <a:gd name="T4" fmla="*/ 5 w 3556"/>
                <a:gd name="T5" fmla="*/ 3 h 647"/>
                <a:gd name="T6" fmla="*/ 14 w 3556"/>
                <a:gd name="T7" fmla="*/ 1 h 647"/>
                <a:gd name="T8" fmla="*/ 14 w 3556"/>
                <a:gd name="T9" fmla="*/ 0 h 647"/>
                <a:gd name="T10" fmla="*/ 5 w 3556"/>
                <a:gd name="T11" fmla="*/ 3 h 647"/>
                <a:gd name="T12" fmla="*/ 1 w 3556"/>
                <a:gd name="T13" fmla="*/ 1 h 647"/>
                <a:gd name="T14" fmla="*/ 0 60000 65536"/>
                <a:gd name="T15" fmla="*/ 0 60000 65536"/>
                <a:gd name="T16" fmla="*/ 0 60000 65536"/>
                <a:gd name="T17" fmla="*/ 0 60000 65536"/>
                <a:gd name="T18" fmla="*/ 0 60000 65536"/>
                <a:gd name="T19" fmla="*/ 0 60000 65536"/>
                <a:gd name="T20" fmla="*/ 0 60000 65536"/>
                <a:gd name="T21" fmla="*/ 0 w 3556"/>
                <a:gd name="T22" fmla="*/ 0 h 647"/>
                <a:gd name="T23" fmla="*/ 3556 w 3556"/>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6" h="647">
                  <a:moveTo>
                    <a:pt x="8" y="184"/>
                  </a:moveTo>
                  <a:lnTo>
                    <a:pt x="0" y="223"/>
                  </a:lnTo>
                  <a:lnTo>
                    <a:pt x="1247" y="647"/>
                  </a:lnTo>
                  <a:lnTo>
                    <a:pt x="3556" y="42"/>
                  </a:lnTo>
                  <a:lnTo>
                    <a:pt x="3551" y="0"/>
                  </a:lnTo>
                  <a:lnTo>
                    <a:pt x="1245" y="605"/>
                  </a:lnTo>
                  <a:lnTo>
                    <a:pt x="8" y="184"/>
                  </a:lnTo>
                  <a:close/>
                </a:path>
              </a:pathLst>
            </a:custGeom>
            <a:solidFill>
              <a:srgbClr val="000000"/>
            </a:solidFill>
            <a:ln w="9525">
              <a:noFill/>
              <a:round/>
              <a:headEnd/>
              <a:tailEnd/>
            </a:ln>
          </p:spPr>
          <p:txBody>
            <a:bodyPr/>
            <a:lstStyle/>
            <a:p>
              <a:endParaRPr lang="en-US"/>
            </a:p>
          </p:txBody>
        </p:sp>
        <p:sp>
          <p:nvSpPr>
            <p:cNvPr id="16647" name="Freeform 234"/>
            <p:cNvSpPr>
              <a:spLocks/>
            </p:cNvSpPr>
            <p:nvPr/>
          </p:nvSpPr>
          <p:spPr bwMode="auto">
            <a:xfrm>
              <a:off x="2334" y="1477"/>
              <a:ext cx="1690" cy="355"/>
            </a:xfrm>
            <a:custGeom>
              <a:avLst/>
              <a:gdLst>
                <a:gd name="T0" fmla="*/ 1 w 3380"/>
                <a:gd name="T1" fmla="*/ 1 h 709"/>
                <a:gd name="T2" fmla="*/ 0 w 3380"/>
                <a:gd name="T3" fmla="*/ 2 h 709"/>
                <a:gd name="T4" fmla="*/ 5 w 3380"/>
                <a:gd name="T5" fmla="*/ 3 h 709"/>
                <a:gd name="T6" fmla="*/ 13 w 3380"/>
                <a:gd name="T7" fmla="*/ 1 h 709"/>
                <a:gd name="T8" fmla="*/ 13 w 3380"/>
                <a:gd name="T9" fmla="*/ 0 h 709"/>
                <a:gd name="T10" fmla="*/ 5 w 3380"/>
                <a:gd name="T11" fmla="*/ 3 h 709"/>
                <a:gd name="T12" fmla="*/ 1 w 3380"/>
                <a:gd name="T13" fmla="*/ 1 h 709"/>
                <a:gd name="T14" fmla="*/ 0 60000 65536"/>
                <a:gd name="T15" fmla="*/ 0 60000 65536"/>
                <a:gd name="T16" fmla="*/ 0 60000 65536"/>
                <a:gd name="T17" fmla="*/ 0 60000 65536"/>
                <a:gd name="T18" fmla="*/ 0 60000 65536"/>
                <a:gd name="T19" fmla="*/ 0 60000 65536"/>
                <a:gd name="T20" fmla="*/ 0 60000 65536"/>
                <a:gd name="T21" fmla="*/ 0 w 3380"/>
                <a:gd name="T22" fmla="*/ 0 h 709"/>
                <a:gd name="T23" fmla="*/ 3380 w 3380"/>
                <a:gd name="T24" fmla="*/ 709 h 7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80" h="709">
                  <a:moveTo>
                    <a:pt x="11" y="228"/>
                  </a:moveTo>
                  <a:lnTo>
                    <a:pt x="0" y="267"/>
                  </a:lnTo>
                  <a:lnTo>
                    <a:pt x="1182" y="709"/>
                  </a:lnTo>
                  <a:lnTo>
                    <a:pt x="3380" y="42"/>
                  </a:lnTo>
                  <a:lnTo>
                    <a:pt x="3371" y="0"/>
                  </a:lnTo>
                  <a:lnTo>
                    <a:pt x="1182" y="666"/>
                  </a:lnTo>
                  <a:lnTo>
                    <a:pt x="11" y="228"/>
                  </a:lnTo>
                  <a:close/>
                </a:path>
              </a:pathLst>
            </a:custGeom>
            <a:solidFill>
              <a:srgbClr val="000000"/>
            </a:solidFill>
            <a:ln w="9525">
              <a:noFill/>
              <a:round/>
              <a:headEnd/>
              <a:tailEnd/>
            </a:ln>
          </p:spPr>
          <p:txBody>
            <a:bodyPr/>
            <a:lstStyle/>
            <a:p>
              <a:endParaRPr lang="en-US"/>
            </a:p>
          </p:txBody>
        </p:sp>
        <p:sp>
          <p:nvSpPr>
            <p:cNvPr id="16648" name="Freeform 235"/>
            <p:cNvSpPr>
              <a:spLocks/>
            </p:cNvSpPr>
            <p:nvPr/>
          </p:nvSpPr>
          <p:spPr bwMode="auto">
            <a:xfrm>
              <a:off x="2389" y="2201"/>
              <a:ext cx="1620" cy="363"/>
            </a:xfrm>
            <a:custGeom>
              <a:avLst/>
              <a:gdLst>
                <a:gd name="T0" fmla="*/ 1 w 3239"/>
                <a:gd name="T1" fmla="*/ 1 h 725"/>
                <a:gd name="T2" fmla="*/ 0 w 3239"/>
                <a:gd name="T3" fmla="*/ 1 h 725"/>
                <a:gd name="T4" fmla="*/ 5 w 3239"/>
                <a:gd name="T5" fmla="*/ 3 h 725"/>
                <a:gd name="T6" fmla="*/ 13 w 3239"/>
                <a:gd name="T7" fmla="*/ 1 h 725"/>
                <a:gd name="T8" fmla="*/ 13 w 3239"/>
                <a:gd name="T9" fmla="*/ 0 h 725"/>
                <a:gd name="T10" fmla="*/ 5 w 3239"/>
                <a:gd name="T11" fmla="*/ 3 h 725"/>
                <a:gd name="T12" fmla="*/ 1 w 3239"/>
                <a:gd name="T13" fmla="*/ 1 h 725"/>
                <a:gd name="T14" fmla="*/ 0 60000 65536"/>
                <a:gd name="T15" fmla="*/ 0 60000 65536"/>
                <a:gd name="T16" fmla="*/ 0 60000 65536"/>
                <a:gd name="T17" fmla="*/ 0 60000 65536"/>
                <a:gd name="T18" fmla="*/ 0 60000 65536"/>
                <a:gd name="T19" fmla="*/ 0 60000 65536"/>
                <a:gd name="T20" fmla="*/ 0 60000 65536"/>
                <a:gd name="T21" fmla="*/ 0 w 3239"/>
                <a:gd name="T22" fmla="*/ 0 h 725"/>
                <a:gd name="T23" fmla="*/ 3239 w 3239"/>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5">
                  <a:moveTo>
                    <a:pt x="14" y="113"/>
                  </a:moveTo>
                  <a:lnTo>
                    <a:pt x="0" y="152"/>
                  </a:lnTo>
                  <a:lnTo>
                    <a:pt x="1075" y="725"/>
                  </a:lnTo>
                  <a:lnTo>
                    <a:pt x="3239" y="39"/>
                  </a:lnTo>
                  <a:lnTo>
                    <a:pt x="3231" y="0"/>
                  </a:lnTo>
                  <a:lnTo>
                    <a:pt x="1084" y="683"/>
                  </a:lnTo>
                  <a:lnTo>
                    <a:pt x="14" y="113"/>
                  </a:lnTo>
                  <a:close/>
                </a:path>
              </a:pathLst>
            </a:custGeom>
            <a:solidFill>
              <a:srgbClr val="000000"/>
            </a:solidFill>
            <a:ln w="9525">
              <a:noFill/>
              <a:round/>
              <a:headEnd/>
              <a:tailEnd/>
            </a:ln>
          </p:spPr>
          <p:txBody>
            <a:bodyPr/>
            <a:lstStyle/>
            <a:p>
              <a:endParaRPr lang="en-US"/>
            </a:p>
          </p:txBody>
        </p:sp>
        <p:sp>
          <p:nvSpPr>
            <p:cNvPr id="16649" name="Freeform 236"/>
            <p:cNvSpPr>
              <a:spLocks/>
            </p:cNvSpPr>
            <p:nvPr/>
          </p:nvSpPr>
          <p:spPr bwMode="auto">
            <a:xfrm>
              <a:off x="2297" y="1174"/>
              <a:ext cx="1779" cy="324"/>
            </a:xfrm>
            <a:custGeom>
              <a:avLst/>
              <a:gdLst>
                <a:gd name="T0" fmla="*/ 0 w 3559"/>
                <a:gd name="T1" fmla="*/ 1 h 647"/>
                <a:gd name="T2" fmla="*/ 0 w 3559"/>
                <a:gd name="T3" fmla="*/ 1 h 647"/>
                <a:gd name="T4" fmla="*/ 4 w 3559"/>
                <a:gd name="T5" fmla="*/ 3 h 647"/>
                <a:gd name="T6" fmla="*/ 13 w 3559"/>
                <a:gd name="T7" fmla="*/ 1 h 647"/>
                <a:gd name="T8" fmla="*/ 13 w 3559"/>
                <a:gd name="T9" fmla="*/ 0 h 647"/>
                <a:gd name="T10" fmla="*/ 4 w 3559"/>
                <a:gd name="T11" fmla="*/ 3 h 647"/>
                <a:gd name="T12" fmla="*/ 0 w 3559"/>
                <a:gd name="T13" fmla="*/ 1 h 647"/>
                <a:gd name="T14" fmla="*/ 0 60000 65536"/>
                <a:gd name="T15" fmla="*/ 0 60000 65536"/>
                <a:gd name="T16" fmla="*/ 0 60000 65536"/>
                <a:gd name="T17" fmla="*/ 0 60000 65536"/>
                <a:gd name="T18" fmla="*/ 0 60000 65536"/>
                <a:gd name="T19" fmla="*/ 0 60000 65536"/>
                <a:gd name="T20" fmla="*/ 0 60000 65536"/>
                <a:gd name="T21" fmla="*/ 0 w 3559"/>
                <a:gd name="T22" fmla="*/ 0 h 647"/>
                <a:gd name="T23" fmla="*/ 3559 w 3559"/>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9" h="647">
                  <a:moveTo>
                    <a:pt x="9" y="183"/>
                  </a:moveTo>
                  <a:lnTo>
                    <a:pt x="0" y="222"/>
                  </a:lnTo>
                  <a:lnTo>
                    <a:pt x="1250" y="647"/>
                  </a:lnTo>
                  <a:lnTo>
                    <a:pt x="3559" y="43"/>
                  </a:lnTo>
                  <a:lnTo>
                    <a:pt x="3553" y="0"/>
                  </a:lnTo>
                  <a:lnTo>
                    <a:pt x="1247" y="605"/>
                  </a:lnTo>
                  <a:lnTo>
                    <a:pt x="9" y="183"/>
                  </a:lnTo>
                  <a:close/>
                </a:path>
              </a:pathLst>
            </a:custGeom>
            <a:solidFill>
              <a:srgbClr val="DEFF73"/>
            </a:solidFill>
            <a:ln w="9525">
              <a:noFill/>
              <a:round/>
              <a:headEnd/>
              <a:tailEnd/>
            </a:ln>
          </p:spPr>
          <p:txBody>
            <a:bodyPr/>
            <a:lstStyle/>
            <a:p>
              <a:endParaRPr lang="en-US"/>
            </a:p>
          </p:txBody>
        </p:sp>
        <p:sp>
          <p:nvSpPr>
            <p:cNvPr id="16650" name="Freeform 237"/>
            <p:cNvSpPr>
              <a:spLocks/>
            </p:cNvSpPr>
            <p:nvPr/>
          </p:nvSpPr>
          <p:spPr bwMode="auto">
            <a:xfrm>
              <a:off x="2331" y="1451"/>
              <a:ext cx="1690" cy="355"/>
            </a:xfrm>
            <a:custGeom>
              <a:avLst/>
              <a:gdLst>
                <a:gd name="T0" fmla="*/ 1 w 3379"/>
                <a:gd name="T1" fmla="*/ 1 h 710"/>
                <a:gd name="T2" fmla="*/ 0 w 3379"/>
                <a:gd name="T3" fmla="*/ 2 h 710"/>
                <a:gd name="T4" fmla="*/ 5 w 3379"/>
                <a:gd name="T5" fmla="*/ 3 h 710"/>
                <a:gd name="T6" fmla="*/ 14 w 3379"/>
                <a:gd name="T7" fmla="*/ 1 h 710"/>
                <a:gd name="T8" fmla="*/ 14 w 3379"/>
                <a:gd name="T9" fmla="*/ 0 h 710"/>
                <a:gd name="T10" fmla="*/ 5 w 3379"/>
                <a:gd name="T11" fmla="*/ 3 h 710"/>
                <a:gd name="T12" fmla="*/ 1 w 3379"/>
                <a:gd name="T13" fmla="*/ 1 h 710"/>
                <a:gd name="T14" fmla="*/ 0 60000 65536"/>
                <a:gd name="T15" fmla="*/ 0 60000 65536"/>
                <a:gd name="T16" fmla="*/ 0 60000 65536"/>
                <a:gd name="T17" fmla="*/ 0 60000 65536"/>
                <a:gd name="T18" fmla="*/ 0 60000 65536"/>
                <a:gd name="T19" fmla="*/ 0 60000 65536"/>
                <a:gd name="T20" fmla="*/ 0 60000 65536"/>
                <a:gd name="T21" fmla="*/ 0 w 3379"/>
                <a:gd name="T22" fmla="*/ 0 h 710"/>
                <a:gd name="T23" fmla="*/ 3379 w 3379"/>
                <a:gd name="T24" fmla="*/ 710 h 7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9" h="710">
                  <a:moveTo>
                    <a:pt x="11" y="229"/>
                  </a:moveTo>
                  <a:lnTo>
                    <a:pt x="0" y="268"/>
                  </a:lnTo>
                  <a:lnTo>
                    <a:pt x="1181" y="710"/>
                  </a:lnTo>
                  <a:lnTo>
                    <a:pt x="3379" y="43"/>
                  </a:lnTo>
                  <a:lnTo>
                    <a:pt x="3370" y="0"/>
                  </a:lnTo>
                  <a:lnTo>
                    <a:pt x="1181" y="667"/>
                  </a:lnTo>
                  <a:lnTo>
                    <a:pt x="11" y="229"/>
                  </a:lnTo>
                  <a:close/>
                </a:path>
              </a:pathLst>
            </a:custGeom>
            <a:solidFill>
              <a:srgbClr val="DEFF73"/>
            </a:solidFill>
            <a:ln w="9525">
              <a:noFill/>
              <a:round/>
              <a:headEnd/>
              <a:tailEnd/>
            </a:ln>
          </p:spPr>
          <p:txBody>
            <a:bodyPr/>
            <a:lstStyle/>
            <a:p>
              <a:endParaRPr lang="en-US"/>
            </a:p>
          </p:txBody>
        </p:sp>
        <p:sp>
          <p:nvSpPr>
            <p:cNvPr id="16651" name="Freeform 238"/>
            <p:cNvSpPr>
              <a:spLocks/>
            </p:cNvSpPr>
            <p:nvPr/>
          </p:nvSpPr>
          <p:spPr bwMode="auto">
            <a:xfrm>
              <a:off x="2386" y="2175"/>
              <a:ext cx="1620" cy="363"/>
            </a:xfrm>
            <a:custGeom>
              <a:avLst/>
              <a:gdLst>
                <a:gd name="T0" fmla="*/ 1 w 3239"/>
                <a:gd name="T1" fmla="*/ 0 h 727"/>
                <a:gd name="T2" fmla="*/ 0 w 3239"/>
                <a:gd name="T3" fmla="*/ 0 h 727"/>
                <a:gd name="T4" fmla="*/ 5 w 3239"/>
                <a:gd name="T5" fmla="*/ 2 h 727"/>
                <a:gd name="T6" fmla="*/ 13 w 3239"/>
                <a:gd name="T7" fmla="*/ 0 h 727"/>
                <a:gd name="T8" fmla="*/ 13 w 3239"/>
                <a:gd name="T9" fmla="*/ 0 h 727"/>
                <a:gd name="T10" fmla="*/ 5 w 3239"/>
                <a:gd name="T11" fmla="*/ 2 h 727"/>
                <a:gd name="T12" fmla="*/ 1 w 3239"/>
                <a:gd name="T13" fmla="*/ 0 h 727"/>
                <a:gd name="T14" fmla="*/ 0 60000 65536"/>
                <a:gd name="T15" fmla="*/ 0 60000 65536"/>
                <a:gd name="T16" fmla="*/ 0 60000 65536"/>
                <a:gd name="T17" fmla="*/ 0 60000 65536"/>
                <a:gd name="T18" fmla="*/ 0 60000 65536"/>
                <a:gd name="T19" fmla="*/ 0 60000 65536"/>
                <a:gd name="T20" fmla="*/ 0 60000 65536"/>
                <a:gd name="T21" fmla="*/ 0 w 3239"/>
                <a:gd name="T22" fmla="*/ 0 h 727"/>
                <a:gd name="T23" fmla="*/ 3239 w 3239"/>
                <a:gd name="T24" fmla="*/ 727 h 7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7">
                  <a:moveTo>
                    <a:pt x="14" y="114"/>
                  </a:moveTo>
                  <a:lnTo>
                    <a:pt x="0" y="153"/>
                  </a:lnTo>
                  <a:lnTo>
                    <a:pt x="1076" y="727"/>
                  </a:lnTo>
                  <a:lnTo>
                    <a:pt x="3239" y="39"/>
                  </a:lnTo>
                  <a:lnTo>
                    <a:pt x="3230" y="0"/>
                  </a:lnTo>
                  <a:lnTo>
                    <a:pt x="1085" y="685"/>
                  </a:lnTo>
                  <a:lnTo>
                    <a:pt x="14" y="114"/>
                  </a:lnTo>
                  <a:close/>
                </a:path>
              </a:pathLst>
            </a:custGeom>
            <a:solidFill>
              <a:srgbClr val="DEFF73"/>
            </a:solidFill>
            <a:ln w="9525">
              <a:noFill/>
              <a:round/>
              <a:headEnd/>
              <a:tailEnd/>
            </a:ln>
          </p:spPr>
          <p:txBody>
            <a:bodyPr/>
            <a:lstStyle/>
            <a:p>
              <a:endParaRPr lang="en-US"/>
            </a:p>
          </p:txBody>
        </p:sp>
        <p:sp>
          <p:nvSpPr>
            <p:cNvPr id="16652" name="Freeform 239"/>
            <p:cNvSpPr>
              <a:spLocks/>
            </p:cNvSpPr>
            <p:nvPr/>
          </p:nvSpPr>
          <p:spPr bwMode="auto">
            <a:xfrm>
              <a:off x="2315" y="1005"/>
              <a:ext cx="496" cy="331"/>
            </a:xfrm>
            <a:custGeom>
              <a:avLst/>
              <a:gdLst>
                <a:gd name="T0" fmla="*/ 0 w 993"/>
                <a:gd name="T1" fmla="*/ 0 h 664"/>
                <a:gd name="T2" fmla="*/ 0 w 993"/>
                <a:gd name="T3" fmla="*/ 1 h 664"/>
                <a:gd name="T4" fmla="*/ 3 w 993"/>
                <a:gd name="T5" fmla="*/ 2 h 664"/>
                <a:gd name="T6" fmla="*/ 3 w 993"/>
                <a:gd name="T7" fmla="*/ 1 h 664"/>
                <a:gd name="T8" fmla="*/ 0 w 993"/>
                <a:gd name="T9" fmla="*/ 0 h 664"/>
                <a:gd name="T10" fmla="*/ 0 w 993"/>
                <a:gd name="T11" fmla="*/ 0 h 664"/>
                <a:gd name="T12" fmla="*/ 0 w 993"/>
                <a:gd name="T13" fmla="*/ 0 h 664"/>
                <a:gd name="T14" fmla="*/ 0 60000 65536"/>
                <a:gd name="T15" fmla="*/ 0 60000 65536"/>
                <a:gd name="T16" fmla="*/ 0 60000 65536"/>
                <a:gd name="T17" fmla="*/ 0 60000 65536"/>
                <a:gd name="T18" fmla="*/ 0 60000 65536"/>
                <a:gd name="T19" fmla="*/ 0 60000 65536"/>
                <a:gd name="T20" fmla="*/ 0 60000 65536"/>
                <a:gd name="T21" fmla="*/ 0 w 993"/>
                <a:gd name="T22" fmla="*/ 0 h 664"/>
                <a:gd name="T23" fmla="*/ 993 w 993"/>
                <a:gd name="T24" fmla="*/ 664 h 6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3" h="664">
                  <a:moveTo>
                    <a:pt x="0" y="47"/>
                  </a:moveTo>
                  <a:lnTo>
                    <a:pt x="44" y="339"/>
                  </a:lnTo>
                  <a:lnTo>
                    <a:pt x="990" y="664"/>
                  </a:lnTo>
                  <a:lnTo>
                    <a:pt x="993" y="372"/>
                  </a:lnTo>
                  <a:lnTo>
                    <a:pt x="0" y="0"/>
                  </a:lnTo>
                  <a:lnTo>
                    <a:pt x="0" y="47"/>
                  </a:lnTo>
                  <a:close/>
                </a:path>
              </a:pathLst>
            </a:custGeom>
            <a:solidFill>
              <a:srgbClr val="99FFFB"/>
            </a:solidFill>
            <a:ln w="9525">
              <a:noFill/>
              <a:round/>
              <a:headEnd/>
              <a:tailEnd/>
            </a:ln>
          </p:spPr>
          <p:txBody>
            <a:bodyPr/>
            <a:lstStyle/>
            <a:p>
              <a:endParaRPr lang="en-US"/>
            </a:p>
          </p:txBody>
        </p:sp>
        <p:sp>
          <p:nvSpPr>
            <p:cNvPr id="16653" name="Freeform 240"/>
            <p:cNvSpPr>
              <a:spLocks/>
            </p:cNvSpPr>
            <p:nvPr/>
          </p:nvSpPr>
          <p:spPr bwMode="auto">
            <a:xfrm>
              <a:off x="2305" y="1027"/>
              <a:ext cx="516" cy="322"/>
            </a:xfrm>
            <a:custGeom>
              <a:avLst/>
              <a:gdLst>
                <a:gd name="T0" fmla="*/ 1 w 1030"/>
                <a:gd name="T1" fmla="*/ 0 h 644"/>
                <a:gd name="T2" fmla="*/ 0 w 1030"/>
                <a:gd name="T3" fmla="*/ 1 h 644"/>
                <a:gd name="T4" fmla="*/ 1 w 1030"/>
                <a:gd name="T5" fmla="*/ 2 h 644"/>
                <a:gd name="T6" fmla="*/ 5 w 1030"/>
                <a:gd name="T7" fmla="*/ 3 h 644"/>
                <a:gd name="T8" fmla="*/ 5 w 1030"/>
                <a:gd name="T9" fmla="*/ 2 h 644"/>
                <a:gd name="T10" fmla="*/ 4 w 1030"/>
                <a:gd name="T11" fmla="*/ 2 h 644"/>
                <a:gd name="T12" fmla="*/ 4 w 1030"/>
                <a:gd name="T13" fmla="*/ 3 h 644"/>
                <a:gd name="T14" fmla="*/ 1 w 1030"/>
                <a:gd name="T15" fmla="*/ 2 h 644"/>
                <a:gd name="T16" fmla="*/ 1 w 1030"/>
                <a:gd name="T17" fmla="*/ 0 h 6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0"/>
                <a:gd name="T28" fmla="*/ 0 h 644"/>
                <a:gd name="T29" fmla="*/ 1030 w 1030"/>
                <a:gd name="T30" fmla="*/ 644 h 6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0" h="644">
                  <a:moveTo>
                    <a:pt x="37" y="0"/>
                  </a:moveTo>
                  <a:lnTo>
                    <a:pt x="0" y="3"/>
                  </a:lnTo>
                  <a:lnTo>
                    <a:pt x="45" y="308"/>
                  </a:lnTo>
                  <a:lnTo>
                    <a:pt x="1026" y="644"/>
                  </a:lnTo>
                  <a:lnTo>
                    <a:pt x="1030" y="313"/>
                  </a:lnTo>
                  <a:lnTo>
                    <a:pt x="993" y="339"/>
                  </a:lnTo>
                  <a:lnTo>
                    <a:pt x="991" y="592"/>
                  </a:lnTo>
                  <a:lnTo>
                    <a:pt x="79" y="279"/>
                  </a:lnTo>
                  <a:lnTo>
                    <a:pt x="37" y="0"/>
                  </a:lnTo>
                  <a:close/>
                </a:path>
              </a:pathLst>
            </a:custGeom>
            <a:solidFill>
              <a:srgbClr val="000000"/>
            </a:solidFill>
            <a:ln w="9525">
              <a:noFill/>
              <a:round/>
              <a:headEnd/>
              <a:tailEnd/>
            </a:ln>
          </p:spPr>
          <p:txBody>
            <a:bodyPr/>
            <a:lstStyle/>
            <a:p>
              <a:endParaRPr lang="en-US"/>
            </a:p>
          </p:txBody>
        </p:sp>
        <p:sp>
          <p:nvSpPr>
            <p:cNvPr id="16654" name="Freeform 241"/>
            <p:cNvSpPr>
              <a:spLocks/>
            </p:cNvSpPr>
            <p:nvPr/>
          </p:nvSpPr>
          <p:spPr bwMode="auto">
            <a:xfrm>
              <a:off x="2305" y="991"/>
              <a:ext cx="516" cy="206"/>
            </a:xfrm>
            <a:custGeom>
              <a:avLst/>
              <a:gdLst>
                <a:gd name="T0" fmla="*/ 5 w 1030"/>
                <a:gd name="T1" fmla="*/ 2 h 412"/>
                <a:gd name="T2" fmla="*/ 1 w 1030"/>
                <a:gd name="T3" fmla="*/ 0 h 412"/>
                <a:gd name="T4" fmla="*/ 0 w 1030"/>
                <a:gd name="T5" fmla="*/ 1 h 412"/>
                <a:gd name="T6" fmla="*/ 0 w 1030"/>
                <a:gd name="T7" fmla="*/ 1 h 412"/>
                <a:gd name="T8" fmla="*/ 1 w 1030"/>
                <a:gd name="T9" fmla="*/ 1 h 412"/>
                <a:gd name="T10" fmla="*/ 1 w 1030"/>
                <a:gd name="T11" fmla="*/ 1 h 412"/>
                <a:gd name="T12" fmla="*/ 4 w 1030"/>
                <a:gd name="T13" fmla="*/ 2 h 412"/>
                <a:gd name="T14" fmla="*/ 5 w 1030"/>
                <a:gd name="T15" fmla="*/ 2 h 412"/>
                <a:gd name="T16" fmla="*/ 0 60000 65536"/>
                <a:gd name="T17" fmla="*/ 0 60000 65536"/>
                <a:gd name="T18" fmla="*/ 0 60000 65536"/>
                <a:gd name="T19" fmla="*/ 0 60000 65536"/>
                <a:gd name="T20" fmla="*/ 0 60000 65536"/>
                <a:gd name="T21" fmla="*/ 0 60000 65536"/>
                <a:gd name="T22" fmla="*/ 0 60000 65536"/>
                <a:gd name="T23" fmla="*/ 0 60000 65536"/>
                <a:gd name="T24" fmla="*/ 0 w 1030"/>
                <a:gd name="T25" fmla="*/ 0 h 412"/>
                <a:gd name="T26" fmla="*/ 1030 w 1030"/>
                <a:gd name="T27" fmla="*/ 412 h 4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0" h="412">
                  <a:moveTo>
                    <a:pt x="1030" y="386"/>
                  </a:moveTo>
                  <a:lnTo>
                    <a:pt x="1" y="0"/>
                  </a:lnTo>
                  <a:lnTo>
                    <a:pt x="0" y="74"/>
                  </a:lnTo>
                  <a:lnTo>
                    <a:pt x="0" y="76"/>
                  </a:lnTo>
                  <a:lnTo>
                    <a:pt x="37" y="73"/>
                  </a:lnTo>
                  <a:lnTo>
                    <a:pt x="37" y="55"/>
                  </a:lnTo>
                  <a:lnTo>
                    <a:pt x="993" y="412"/>
                  </a:lnTo>
                  <a:lnTo>
                    <a:pt x="1030" y="386"/>
                  </a:lnTo>
                  <a:close/>
                </a:path>
              </a:pathLst>
            </a:custGeom>
            <a:solidFill>
              <a:srgbClr val="000000"/>
            </a:solidFill>
            <a:ln w="9525">
              <a:noFill/>
              <a:round/>
              <a:headEnd/>
              <a:tailEnd/>
            </a:ln>
          </p:spPr>
          <p:txBody>
            <a:bodyPr/>
            <a:lstStyle/>
            <a:p>
              <a:endParaRPr lang="en-US"/>
            </a:p>
          </p:txBody>
        </p:sp>
        <p:sp>
          <p:nvSpPr>
            <p:cNvPr id="16655" name="Freeform 242"/>
            <p:cNvSpPr>
              <a:spLocks/>
            </p:cNvSpPr>
            <p:nvPr/>
          </p:nvSpPr>
          <p:spPr bwMode="auto">
            <a:xfrm>
              <a:off x="2340" y="1403"/>
              <a:ext cx="502" cy="270"/>
            </a:xfrm>
            <a:custGeom>
              <a:avLst/>
              <a:gdLst>
                <a:gd name="T0" fmla="*/ 0 w 1005"/>
                <a:gd name="T1" fmla="*/ 0 h 540"/>
                <a:gd name="T2" fmla="*/ 0 w 1005"/>
                <a:gd name="T3" fmla="*/ 1 h 540"/>
                <a:gd name="T4" fmla="*/ 3 w 1005"/>
                <a:gd name="T5" fmla="*/ 2 h 540"/>
                <a:gd name="T6" fmla="*/ 3 w 1005"/>
                <a:gd name="T7" fmla="*/ 1 h 540"/>
                <a:gd name="T8" fmla="*/ 0 w 1005"/>
                <a:gd name="T9" fmla="*/ 0 h 540"/>
                <a:gd name="T10" fmla="*/ 0 w 1005"/>
                <a:gd name="T11" fmla="*/ 0 h 540"/>
                <a:gd name="T12" fmla="*/ 0 w 1005"/>
                <a:gd name="T13" fmla="*/ 0 h 540"/>
                <a:gd name="T14" fmla="*/ 0 60000 65536"/>
                <a:gd name="T15" fmla="*/ 0 60000 65536"/>
                <a:gd name="T16" fmla="*/ 0 60000 65536"/>
                <a:gd name="T17" fmla="*/ 0 60000 65536"/>
                <a:gd name="T18" fmla="*/ 0 60000 65536"/>
                <a:gd name="T19" fmla="*/ 0 60000 65536"/>
                <a:gd name="T20" fmla="*/ 0 60000 65536"/>
                <a:gd name="T21" fmla="*/ 0 w 1005"/>
                <a:gd name="T22" fmla="*/ 0 h 540"/>
                <a:gd name="T23" fmla="*/ 1005 w 1005"/>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5" h="540">
                  <a:moveTo>
                    <a:pt x="34" y="0"/>
                  </a:moveTo>
                  <a:lnTo>
                    <a:pt x="94" y="245"/>
                  </a:lnTo>
                  <a:lnTo>
                    <a:pt x="1005" y="540"/>
                  </a:lnTo>
                  <a:lnTo>
                    <a:pt x="993" y="317"/>
                  </a:lnTo>
                  <a:lnTo>
                    <a:pt x="0" y="0"/>
                  </a:lnTo>
                  <a:lnTo>
                    <a:pt x="34" y="0"/>
                  </a:lnTo>
                  <a:close/>
                </a:path>
              </a:pathLst>
            </a:custGeom>
            <a:solidFill>
              <a:srgbClr val="99FFFB"/>
            </a:solidFill>
            <a:ln w="9525">
              <a:noFill/>
              <a:round/>
              <a:headEnd/>
              <a:tailEnd/>
            </a:ln>
          </p:spPr>
          <p:txBody>
            <a:bodyPr/>
            <a:lstStyle/>
            <a:p>
              <a:endParaRPr lang="en-US"/>
            </a:p>
          </p:txBody>
        </p:sp>
        <p:sp>
          <p:nvSpPr>
            <p:cNvPr id="16656" name="Freeform 243"/>
            <p:cNvSpPr>
              <a:spLocks/>
            </p:cNvSpPr>
            <p:nvPr/>
          </p:nvSpPr>
          <p:spPr bwMode="auto">
            <a:xfrm>
              <a:off x="2348" y="1401"/>
              <a:ext cx="504" cy="285"/>
            </a:xfrm>
            <a:custGeom>
              <a:avLst/>
              <a:gdLst>
                <a:gd name="T0" fmla="*/ 1 w 1008"/>
                <a:gd name="T1" fmla="*/ 0 h 571"/>
                <a:gd name="T2" fmla="*/ 0 w 1008"/>
                <a:gd name="T3" fmla="*/ 0 h 571"/>
                <a:gd name="T4" fmla="*/ 1 w 1008"/>
                <a:gd name="T5" fmla="*/ 1 h 571"/>
                <a:gd name="T6" fmla="*/ 4 w 1008"/>
                <a:gd name="T7" fmla="*/ 2 h 571"/>
                <a:gd name="T8" fmla="*/ 4 w 1008"/>
                <a:gd name="T9" fmla="*/ 1 h 571"/>
                <a:gd name="T10" fmla="*/ 4 w 1008"/>
                <a:gd name="T11" fmla="*/ 1 h 571"/>
                <a:gd name="T12" fmla="*/ 4 w 1008"/>
                <a:gd name="T13" fmla="*/ 2 h 571"/>
                <a:gd name="T14" fmla="*/ 1 w 1008"/>
                <a:gd name="T15" fmla="*/ 0 h 571"/>
                <a:gd name="T16" fmla="*/ 1 w 1008"/>
                <a:gd name="T17" fmla="*/ 0 h 5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8"/>
                <a:gd name="T28" fmla="*/ 0 h 571"/>
                <a:gd name="T29" fmla="*/ 1008 w 1008"/>
                <a:gd name="T30" fmla="*/ 571 h 5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8" h="571">
                  <a:moveTo>
                    <a:pt x="35" y="0"/>
                  </a:moveTo>
                  <a:lnTo>
                    <a:pt x="0" y="10"/>
                  </a:lnTo>
                  <a:lnTo>
                    <a:pt x="62" y="264"/>
                  </a:lnTo>
                  <a:lnTo>
                    <a:pt x="1008" y="571"/>
                  </a:lnTo>
                  <a:lnTo>
                    <a:pt x="996" y="307"/>
                  </a:lnTo>
                  <a:lnTo>
                    <a:pt x="958" y="336"/>
                  </a:lnTo>
                  <a:lnTo>
                    <a:pt x="970" y="519"/>
                  </a:lnTo>
                  <a:lnTo>
                    <a:pt x="94" y="235"/>
                  </a:lnTo>
                  <a:lnTo>
                    <a:pt x="35" y="0"/>
                  </a:lnTo>
                  <a:close/>
                </a:path>
              </a:pathLst>
            </a:custGeom>
            <a:solidFill>
              <a:srgbClr val="000000"/>
            </a:solidFill>
            <a:ln w="9525">
              <a:noFill/>
              <a:round/>
              <a:headEnd/>
              <a:tailEnd/>
            </a:ln>
          </p:spPr>
          <p:txBody>
            <a:bodyPr/>
            <a:lstStyle/>
            <a:p>
              <a:endParaRPr lang="en-US"/>
            </a:p>
          </p:txBody>
        </p:sp>
        <p:sp>
          <p:nvSpPr>
            <p:cNvPr id="16657" name="Freeform 244"/>
            <p:cNvSpPr>
              <a:spLocks/>
            </p:cNvSpPr>
            <p:nvPr/>
          </p:nvSpPr>
          <p:spPr bwMode="auto">
            <a:xfrm>
              <a:off x="2338" y="1393"/>
              <a:ext cx="508" cy="176"/>
            </a:xfrm>
            <a:custGeom>
              <a:avLst/>
              <a:gdLst>
                <a:gd name="T0" fmla="*/ 4 w 1016"/>
                <a:gd name="T1" fmla="*/ 2 h 350"/>
                <a:gd name="T2" fmla="*/ 1 w 1016"/>
                <a:gd name="T3" fmla="*/ 0 h 350"/>
                <a:gd name="T4" fmla="*/ 1 w 1016"/>
                <a:gd name="T5" fmla="*/ 1 h 350"/>
                <a:gd name="T6" fmla="*/ 0 w 1016"/>
                <a:gd name="T7" fmla="*/ 1 h 350"/>
                <a:gd name="T8" fmla="*/ 4 w 1016"/>
                <a:gd name="T9" fmla="*/ 2 h 350"/>
                <a:gd name="T10" fmla="*/ 4 w 1016"/>
                <a:gd name="T11" fmla="*/ 2 h 350"/>
                <a:gd name="T12" fmla="*/ 0 60000 65536"/>
                <a:gd name="T13" fmla="*/ 0 60000 65536"/>
                <a:gd name="T14" fmla="*/ 0 60000 65536"/>
                <a:gd name="T15" fmla="*/ 0 60000 65536"/>
                <a:gd name="T16" fmla="*/ 0 60000 65536"/>
                <a:gd name="T17" fmla="*/ 0 60000 65536"/>
                <a:gd name="T18" fmla="*/ 0 w 1016"/>
                <a:gd name="T19" fmla="*/ 0 h 350"/>
                <a:gd name="T20" fmla="*/ 1016 w 1016"/>
                <a:gd name="T21" fmla="*/ 350 h 350"/>
              </a:gdLst>
              <a:ahLst/>
              <a:cxnLst>
                <a:cxn ang="T12">
                  <a:pos x="T0" y="T1"/>
                </a:cxn>
                <a:cxn ang="T13">
                  <a:pos x="T2" y="T3"/>
                </a:cxn>
                <a:cxn ang="T14">
                  <a:pos x="T4" y="T5"/>
                </a:cxn>
                <a:cxn ang="T15">
                  <a:pos x="T6" y="T7"/>
                </a:cxn>
                <a:cxn ang="T16">
                  <a:pos x="T8" y="T9"/>
                </a:cxn>
                <a:cxn ang="T17">
                  <a:pos x="T10" y="T11"/>
                </a:cxn>
              </a:cxnLst>
              <a:rect l="T18" t="T19" r="T20" b="T21"/>
              <a:pathLst>
                <a:path w="1016" h="350">
                  <a:moveTo>
                    <a:pt x="1016" y="321"/>
                  </a:moveTo>
                  <a:lnTo>
                    <a:pt x="9" y="0"/>
                  </a:lnTo>
                  <a:lnTo>
                    <a:pt x="4" y="19"/>
                  </a:lnTo>
                  <a:lnTo>
                    <a:pt x="0" y="39"/>
                  </a:lnTo>
                  <a:lnTo>
                    <a:pt x="978" y="350"/>
                  </a:lnTo>
                  <a:lnTo>
                    <a:pt x="1016" y="321"/>
                  </a:lnTo>
                  <a:close/>
                </a:path>
              </a:pathLst>
            </a:custGeom>
            <a:solidFill>
              <a:srgbClr val="000000"/>
            </a:solidFill>
            <a:ln w="9525">
              <a:noFill/>
              <a:round/>
              <a:headEnd/>
              <a:tailEnd/>
            </a:ln>
          </p:spPr>
          <p:txBody>
            <a:bodyPr/>
            <a:lstStyle/>
            <a:p>
              <a:endParaRPr lang="en-US"/>
            </a:p>
          </p:txBody>
        </p:sp>
        <p:sp>
          <p:nvSpPr>
            <p:cNvPr id="16658" name="Freeform 245"/>
            <p:cNvSpPr>
              <a:spLocks/>
            </p:cNvSpPr>
            <p:nvPr/>
          </p:nvSpPr>
          <p:spPr bwMode="auto">
            <a:xfrm>
              <a:off x="2370" y="1429"/>
              <a:ext cx="443" cy="148"/>
            </a:xfrm>
            <a:custGeom>
              <a:avLst/>
              <a:gdLst>
                <a:gd name="T0" fmla="*/ 1 w 885"/>
                <a:gd name="T1" fmla="*/ 1 h 296"/>
                <a:gd name="T2" fmla="*/ 0 w 885"/>
                <a:gd name="T3" fmla="*/ 0 h 296"/>
                <a:gd name="T4" fmla="*/ 4 w 885"/>
                <a:gd name="T5" fmla="*/ 1 h 296"/>
                <a:gd name="T6" fmla="*/ 1 w 885"/>
                <a:gd name="T7" fmla="*/ 1 h 296"/>
                <a:gd name="T8" fmla="*/ 1 w 885"/>
                <a:gd name="T9" fmla="*/ 1 h 296"/>
                <a:gd name="T10" fmla="*/ 0 60000 65536"/>
                <a:gd name="T11" fmla="*/ 0 60000 65536"/>
                <a:gd name="T12" fmla="*/ 0 60000 65536"/>
                <a:gd name="T13" fmla="*/ 0 60000 65536"/>
                <a:gd name="T14" fmla="*/ 0 60000 65536"/>
                <a:gd name="T15" fmla="*/ 0 w 885"/>
                <a:gd name="T16" fmla="*/ 0 h 296"/>
                <a:gd name="T17" fmla="*/ 885 w 885"/>
                <a:gd name="T18" fmla="*/ 296 h 296"/>
              </a:gdLst>
              <a:ahLst/>
              <a:cxnLst>
                <a:cxn ang="T10">
                  <a:pos x="T0" y="T1"/>
                </a:cxn>
                <a:cxn ang="T11">
                  <a:pos x="T2" y="T3"/>
                </a:cxn>
                <a:cxn ang="T12">
                  <a:pos x="T4" y="T5"/>
                </a:cxn>
                <a:cxn ang="T13">
                  <a:pos x="T6" y="T7"/>
                </a:cxn>
                <a:cxn ang="T14">
                  <a:pos x="T8" y="T9"/>
                </a:cxn>
              </a:cxnLst>
              <a:rect l="T15" t="T16" r="T17" b="T18"/>
              <a:pathLst>
                <a:path w="885" h="296">
                  <a:moveTo>
                    <a:pt x="50" y="115"/>
                  </a:moveTo>
                  <a:lnTo>
                    <a:pt x="0" y="0"/>
                  </a:lnTo>
                  <a:lnTo>
                    <a:pt x="885" y="296"/>
                  </a:lnTo>
                  <a:lnTo>
                    <a:pt x="50" y="115"/>
                  </a:lnTo>
                  <a:close/>
                </a:path>
              </a:pathLst>
            </a:custGeom>
            <a:solidFill>
              <a:srgbClr val="99FFFB"/>
            </a:solidFill>
            <a:ln w="9525">
              <a:noFill/>
              <a:round/>
              <a:headEnd/>
              <a:tailEnd/>
            </a:ln>
          </p:spPr>
          <p:txBody>
            <a:bodyPr/>
            <a:lstStyle/>
            <a:p>
              <a:endParaRPr lang="en-US"/>
            </a:p>
          </p:txBody>
        </p:sp>
        <p:sp>
          <p:nvSpPr>
            <p:cNvPr id="16659" name="Freeform 246"/>
            <p:cNvSpPr>
              <a:spLocks/>
            </p:cNvSpPr>
            <p:nvPr/>
          </p:nvSpPr>
          <p:spPr bwMode="auto">
            <a:xfrm>
              <a:off x="2468" y="2490"/>
              <a:ext cx="343" cy="194"/>
            </a:xfrm>
            <a:custGeom>
              <a:avLst/>
              <a:gdLst>
                <a:gd name="T0" fmla="*/ 0 w 687"/>
                <a:gd name="T1" fmla="*/ 0 h 386"/>
                <a:gd name="T2" fmla="*/ 0 w 687"/>
                <a:gd name="T3" fmla="*/ 1 h 386"/>
                <a:gd name="T4" fmla="*/ 2 w 687"/>
                <a:gd name="T5" fmla="*/ 2 h 386"/>
                <a:gd name="T6" fmla="*/ 2 w 687"/>
                <a:gd name="T7" fmla="*/ 2 h 386"/>
                <a:gd name="T8" fmla="*/ 0 w 687"/>
                <a:gd name="T9" fmla="*/ 0 h 386"/>
                <a:gd name="T10" fmla="*/ 0 60000 65536"/>
                <a:gd name="T11" fmla="*/ 0 60000 65536"/>
                <a:gd name="T12" fmla="*/ 0 60000 65536"/>
                <a:gd name="T13" fmla="*/ 0 60000 65536"/>
                <a:gd name="T14" fmla="*/ 0 60000 65536"/>
                <a:gd name="T15" fmla="*/ 0 w 687"/>
                <a:gd name="T16" fmla="*/ 0 h 386"/>
                <a:gd name="T17" fmla="*/ 687 w 687"/>
                <a:gd name="T18" fmla="*/ 386 h 386"/>
              </a:gdLst>
              <a:ahLst/>
              <a:cxnLst>
                <a:cxn ang="T10">
                  <a:pos x="T0" y="T1"/>
                </a:cxn>
                <a:cxn ang="T11">
                  <a:pos x="T2" y="T3"/>
                </a:cxn>
                <a:cxn ang="T12">
                  <a:pos x="T4" y="T5"/>
                </a:cxn>
                <a:cxn ang="T13">
                  <a:pos x="T6" y="T7"/>
                </a:cxn>
                <a:cxn ang="T14">
                  <a:pos x="T8" y="T9"/>
                </a:cxn>
              </a:cxnLst>
              <a:rect l="T15" t="T16" r="T17" b="T18"/>
              <a:pathLst>
                <a:path w="687" h="386">
                  <a:moveTo>
                    <a:pt x="24" y="0"/>
                  </a:moveTo>
                  <a:lnTo>
                    <a:pt x="0" y="58"/>
                  </a:lnTo>
                  <a:lnTo>
                    <a:pt x="664" y="386"/>
                  </a:lnTo>
                  <a:lnTo>
                    <a:pt x="687" y="327"/>
                  </a:lnTo>
                  <a:lnTo>
                    <a:pt x="24" y="0"/>
                  </a:lnTo>
                  <a:close/>
                </a:path>
              </a:pathLst>
            </a:custGeom>
            <a:solidFill>
              <a:srgbClr val="000000"/>
            </a:solidFill>
            <a:ln w="9525">
              <a:noFill/>
              <a:round/>
              <a:headEnd/>
              <a:tailEnd/>
            </a:ln>
          </p:spPr>
          <p:txBody>
            <a:bodyPr/>
            <a:lstStyle/>
            <a:p>
              <a:endParaRPr lang="en-US"/>
            </a:p>
          </p:txBody>
        </p:sp>
        <p:sp>
          <p:nvSpPr>
            <p:cNvPr id="16660" name="Freeform 247"/>
            <p:cNvSpPr>
              <a:spLocks/>
            </p:cNvSpPr>
            <p:nvPr/>
          </p:nvSpPr>
          <p:spPr bwMode="auto">
            <a:xfrm>
              <a:off x="2463" y="2566"/>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6661" name="Freeform 248"/>
            <p:cNvSpPr>
              <a:spLocks/>
            </p:cNvSpPr>
            <p:nvPr/>
          </p:nvSpPr>
          <p:spPr bwMode="auto">
            <a:xfrm>
              <a:off x="2442" y="2641"/>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6662" name="Freeform 249"/>
            <p:cNvSpPr>
              <a:spLocks/>
            </p:cNvSpPr>
            <p:nvPr/>
          </p:nvSpPr>
          <p:spPr bwMode="auto">
            <a:xfrm>
              <a:off x="2437" y="2718"/>
              <a:ext cx="350" cy="221"/>
            </a:xfrm>
            <a:custGeom>
              <a:avLst/>
              <a:gdLst>
                <a:gd name="T0" fmla="*/ 1 w 699"/>
                <a:gd name="T1" fmla="*/ 0 h 441"/>
                <a:gd name="T2" fmla="*/ 0 w 699"/>
                <a:gd name="T3" fmla="*/ 1 h 441"/>
                <a:gd name="T4" fmla="*/ 3 w 699"/>
                <a:gd name="T5" fmla="*/ 2 h 441"/>
                <a:gd name="T6" fmla="*/ 3 w 699"/>
                <a:gd name="T7" fmla="*/ 2 h 441"/>
                <a:gd name="T8" fmla="*/ 1 w 699"/>
                <a:gd name="T9" fmla="*/ 0 h 441"/>
                <a:gd name="T10" fmla="*/ 0 60000 65536"/>
                <a:gd name="T11" fmla="*/ 0 60000 65536"/>
                <a:gd name="T12" fmla="*/ 0 60000 65536"/>
                <a:gd name="T13" fmla="*/ 0 60000 65536"/>
                <a:gd name="T14" fmla="*/ 0 60000 65536"/>
                <a:gd name="T15" fmla="*/ 0 w 699"/>
                <a:gd name="T16" fmla="*/ 0 h 441"/>
                <a:gd name="T17" fmla="*/ 699 w 699"/>
                <a:gd name="T18" fmla="*/ 441 h 441"/>
              </a:gdLst>
              <a:ahLst/>
              <a:cxnLst>
                <a:cxn ang="T10">
                  <a:pos x="T0" y="T1"/>
                </a:cxn>
                <a:cxn ang="T11">
                  <a:pos x="T2" y="T3"/>
                </a:cxn>
                <a:cxn ang="T12">
                  <a:pos x="T4" y="T5"/>
                </a:cxn>
                <a:cxn ang="T13">
                  <a:pos x="T6" y="T7"/>
                </a:cxn>
                <a:cxn ang="T14">
                  <a:pos x="T8" y="T9"/>
                </a:cxn>
              </a:cxnLst>
              <a:rect l="T15" t="T16" r="T17" b="T18"/>
              <a:pathLst>
                <a:path w="699" h="441">
                  <a:moveTo>
                    <a:pt x="27" y="0"/>
                  </a:moveTo>
                  <a:lnTo>
                    <a:pt x="0" y="58"/>
                  </a:lnTo>
                  <a:lnTo>
                    <a:pt x="673" y="441"/>
                  </a:lnTo>
                  <a:lnTo>
                    <a:pt x="699" y="383"/>
                  </a:lnTo>
                  <a:lnTo>
                    <a:pt x="27" y="0"/>
                  </a:lnTo>
                  <a:close/>
                </a:path>
              </a:pathLst>
            </a:custGeom>
            <a:solidFill>
              <a:srgbClr val="000000"/>
            </a:solidFill>
            <a:ln w="9525">
              <a:noFill/>
              <a:round/>
              <a:headEnd/>
              <a:tailEnd/>
            </a:ln>
          </p:spPr>
          <p:txBody>
            <a:bodyPr/>
            <a:lstStyle/>
            <a:p>
              <a:endParaRPr lang="en-US"/>
            </a:p>
          </p:txBody>
        </p:sp>
        <p:sp>
          <p:nvSpPr>
            <p:cNvPr id="16663" name="Freeform 250"/>
            <p:cNvSpPr>
              <a:spLocks/>
            </p:cNvSpPr>
            <p:nvPr/>
          </p:nvSpPr>
          <p:spPr bwMode="auto">
            <a:xfrm>
              <a:off x="2934" y="770"/>
              <a:ext cx="1059" cy="264"/>
            </a:xfrm>
            <a:custGeom>
              <a:avLst/>
              <a:gdLst>
                <a:gd name="T0" fmla="*/ 0 w 2119"/>
                <a:gd name="T1" fmla="*/ 2 h 528"/>
                <a:gd name="T2" fmla="*/ 0 w 2119"/>
                <a:gd name="T3" fmla="*/ 2 h 528"/>
                <a:gd name="T4" fmla="*/ 8 w 2119"/>
                <a:gd name="T5" fmla="*/ 1 h 528"/>
                <a:gd name="T6" fmla="*/ 8 w 2119"/>
                <a:gd name="T7" fmla="*/ 0 h 528"/>
                <a:gd name="T8" fmla="*/ 0 w 2119"/>
                <a:gd name="T9" fmla="*/ 2 h 528"/>
                <a:gd name="T10" fmla="*/ 0 60000 65536"/>
                <a:gd name="T11" fmla="*/ 0 60000 65536"/>
                <a:gd name="T12" fmla="*/ 0 60000 65536"/>
                <a:gd name="T13" fmla="*/ 0 60000 65536"/>
                <a:gd name="T14" fmla="*/ 0 60000 65536"/>
                <a:gd name="T15" fmla="*/ 0 w 2119"/>
                <a:gd name="T16" fmla="*/ 0 h 528"/>
                <a:gd name="T17" fmla="*/ 2119 w 2119"/>
                <a:gd name="T18" fmla="*/ 528 h 528"/>
              </a:gdLst>
              <a:ahLst/>
              <a:cxnLst>
                <a:cxn ang="T10">
                  <a:pos x="T0" y="T1"/>
                </a:cxn>
                <a:cxn ang="T11">
                  <a:pos x="T2" y="T3"/>
                </a:cxn>
                <a:cxn ang="T12">
                  <a:pos x="T4" y="T5"/>
                </a:cxn>
                <a:cxn ang="T13">
                  <a:pos x="T6" y="T7"/>
                </a:cxn>
                <a:cxn ang="T14">
                  <a:pos x="T8" y="T9"/>
                </a:cxn>
              </a:cxnLst>
              <a:rect l="T15" t="T16" r="T17" b="T18"/>
              <a:pathLst>
                <a:path w="2119" h="528">
                  <a:moveTo>
                    <a:pt x="0" y="486"/>
                  </a:moveTo>
                  <a:lnTo>
                    <a:pt x="6" y="528"/>
                  </a:lnTo>
                  <a:lnTo>
                    <a:pt x="2119" y="42"/>
                  </a:lnTo>
                  <a:lnTo>
                    <a:pt x="2114" y="0"/>
                  </a:lnTo>
                  <a:lnTo>
                    <a:pt x="0" y="486"/>
                  </a:lnTo>
                  <a:close/>
                </a:path>
              </a:pathLst>
            </a:custGeom>
            <a:solidFill>
              <a:srgbClr val="DEFF73"/>
            </a:solidFill>
            <a:ln w="9525">
              <a:noFill/>
              <a:round/>
              <a:headEnd/>
              <a:tailEnd/>
            </a:ln>
          </p:spPr>
          <p:txBody>
            <a:bodyPr/>
            <a:lstStyle/>
            <a:p>
              <a:endParaRPr lang="en-US"/>
            </a:p>
          </p:txBody>
        </p:sp>
        <p:sp>
          <p:nvSpPr>
            <p:cNvPr id="16664" name="Freeform 251"/>
            <p:cNvSpPr>
              <a:spLocks/>
            </p:cNvSpPr>
            <p:nvPr/>
          </p:nvSpPr>
          <p:spPr bwMode="auto">
            <a:xfrm>
              <a:off x="2256" y="672"/>
              <a:ext cx="1872" cy="384"/>
            </a:xfrm>
            <a:custGeom>
              <a:avLst/>
              <a:gdLst>
                <a:gd name="T0" fmla="*/ 1872 w 1872"/>
                <a:gd name="T1" fmla="*/ 96 h 384"/>
                <a:gd name="T2" fmla="*/ 672 w 1872"/>
                <a:gd name="T3" fmla="*/ 384 h 384"/>
                <a:gd name="T4" fmla="*/ 0 w 1872"/>
                <a:gd name="T5" fmla="*/ 192 h 384"/>
                <a:gd name="T6" fmla="*/ 1392 w 1872"/>
                <a:gd name="T7" fmla="*/ 0 h 384"/>
                <a:gd name="T8" fmla="*/ 1872 w 1872"/>
                <a:gd name="T9" fmla="*/ 96 h 384"/>
                <a:gd name="T10" fmla="*/ 0 60000 65536"/>
                <a:gd name="T11" fmla="*/ 0 60000 65536"/>
                <a:gd name="T12" fmla="*/ 0 60000 65536"/>
                <a:gd name="T13" fmla="*/ 0 60000 65536"/>
                <a:gd name="T14" fmla="*/ 0 60000 65536"/>
                <a:gd name="T15" fmla="*/ 0 w 1872"/>
                <a:gd name="T16" fmla="*/ 0 h 384"/>
                <a:gd name="T17" fmla="*/ 1872 w 1872"/>
                <a:gd name="T18" fmla="*/ 384 h 384"/>
              </a:gdLst>
              <a:ahLst/>
              <a:cxnLst>
                <a:cxn ang="T10">
                  <a:pos x="T0" y="T1"/>
                </a:cxn>
                <a:cxn ang="T11">
                  <a:pos x="T2" y="T3"/>
                </a:cxn>
                <a:cxn ang="T12">
                  <a:pos x="T4" y="T5"/>
                </a:cxn>
                <a:cxn ang="T13">
                  <a:pos x="T6" y="T7"/>
                </a:cxn>
                <a:cxn ang="T14">
                  <a:pos x="T8" y="T9"/>
                </a:cxn>
              </a:cxnLst>
              <a:rect l="T15" t="T16" r="T17" b="T18"/>
              <a:pathLst>
                <a:path w="1872" h="384">
                  <a:moveTo>
                    <a:pt x="1872" y="96"/>
                  </a:moveTo>
                  <a:lnTo>
                    <a:pt x="672" y="384"/>
                  </a:lnTo>
                  <a:lnTo>
                    <a:pt x="0" y="192"/>
                  </a:lnTo>
                  <a:lnTo>
                    <a:pt x="1392" y="0"/>
                  </a:lnTo>
                  <a:lnTo>
                    <a:pt x="1872" y="96"/>
                  </a:lnTo>
                  <a:close/>
                </a:path>
              </a:pathLst>
            </a:custGeom>
            <a:gradFill rotWithShape="0">
              <a:gsLst>
                <a:gs pos="0">
                  <a:srgbClr val="BEE761"/>
                </a:gs>
                <a:gs pos="100000">
                  <a:srgbClr val="44D6FE"/>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6397" name="Group 252"/>
          <p:cNvGrpSpPr>
            <a:grpSpLocks/>
          </p:cNvGrpSpPr>
          <p:nvPr/>
        </p:nvGrpSpPr>
        <p:grpSpPr bwMode="auto">
          <a:xfrm rot="-245528">
            <a:off x="5562600" y="5867400"/>
            <a:ext cx="606425" cy="479425"/>
            <a:chOff x="2469" y="453"/>
            <a:chExt cx="382" cy="302"/>
          </a:xfrm>
        </p:grpSpPr>
        <p:grpSp>
          <p:nvGrpSpPr>
            <p:cNvPr id="16518" name="Group 253"/>
            <p:cNvGrpSpPr>
              <a:grpSpLocks/>
            </p:cNvGrpSpPr>
            <p:nvPr/>
          </p:nvGrpSpPr>
          <p:grpSpPr bwMode="auto">
            <a:xfrm>
              <a:off x="2592" y="453"/>
              <a:ext cx="163" cy="144"/>
              <a:chOff x="1824" y="844"/>
              <a:chExt cx="2035" cy="1803"/>
            </a:xfrm>
          </p:grpSpPr>
          <p:sp>
            <p:nvSpPr>
              <p:cNvPr id="16609" name="Freeform 254"/>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610" name="Freeform 255"/>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611" name="Freeform 256"/>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6612" name="Freeform 257"/>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6613" name="Freeform 258"/>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6614" name="Freeform 259"/>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6615" name="Freeform 260"/>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6616" name="Freeform 261"/>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6617" name="Freeform 262"/>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6618" name="Freeform 263"/>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6619" name="Freeform 264"/>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6620" name="Freeform 265"/>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6621" name="Freeform 266"/>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6622" name="Freeform 267"/>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6623" name="Freeform 268"/>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6624" name="Freeform 269"/>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6625" name="Freeform 270"/>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6626" name="Freeform 271"/>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6627" name="Freeform 272"/>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628" name="Freeform 273"/>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629" name="Freeform 274"/>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6630" name="Freeform 275"/>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631" name="Freeform 276"/>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632" name="Freeform 277"/>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633" name="Freeform 278"/>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634" name="Freeform 279"/>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635" name="Freeform 280"/>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636" name="Freeform 281"/>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637" name="Freeform 282"/>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6519" name="Group 283"/>
            <p:cNvGrpSpPr>
              <a:grpSpLocks/>
            </p:cNvGrpSpPr>
            <p:nvPr/>
          </p:nvGrpSpPr>
          <p:grpSpPr bwMode="auto">
            <a:xfrm>
              <a:off x="2688" y="549"/>
              <a:ext cx="163" cy="144"/>
              <a:chOff x="1824" y="844"/>
              <a:chExt cx="2035" cy="1803"/>
            </a:xfrm>
          </p:grpSpPr>
          <p:sp>
            <p:nvSpPr>
              <p:cNvPr id="16580" name="Freeform 284"/>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581" name="Freeform 285"/>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582" name="Freeform 286"/>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6583" name="Freeform 287"/>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6584" name="Freeform 288"/>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6585" name="Freeform 289"/>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6586" name="Freeform 290"/>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6587" name="Freeform 291"/>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6588" name="Freeform 292"/>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6589" name="Freeform 293"/>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6590" name="Freeform 294"/>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6591" name="Freeform 295"/>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6592" name="Freeform 296"/>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6593" name="Freeform 297"/>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6594" name="Freeform 298"/>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6595" name="Freeform 299"/>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6596" name="Freeform 300"/>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6597" name="Freeform 301"/>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6598" name="Freeform 302"/>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599" name="Freeform 303"/>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600" name="Freeform 304"/>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6601" name="Freeform 305"/>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602" name="Freeform 306"/>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603" name="Freeform 307"/>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604" name="Freeform 308"/>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605" name="Freeform 309"/>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606" name="Freeform 310"/>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607" name="Freeform 311"/>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608" name="Freeform 312"/>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6520" name="Group 313"/>
            <p:cNvGrpSpPr>
              <a:grpSpLocks/>
            </p:cNvGrpSpPr>
            <p:nvPr/>
          </p:nvGrpSpPr>
          <p:grpSpPr bwMode="auto">
            <a:xfrm>
              <a:off x="2561" y="611"/>
              <a:ext cx="163" cy="144"/>
              <a:chOff x="1824" y="844"/>
              <a:chExt cx="2035" cy="1803"/>
            </a:xfrm>
          </p:grpSpPr>
          <p:sp>
            <p:nvSpPr>
              <p:cNvPr id="16551" name="Freeform 314"/>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552" name="Freeform 315"/>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553" name="Freeform 316"/>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6554" name="Freeform 317"/>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6555" name="Freeform 318"/>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6556" name="Freeform 319"/>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6557" name="Freeform 320"/>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6558" name="Freeform 321"/>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6559" name="Freeform 322"/>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6560" name="Freeform 323"/>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6561" name="Freeform 324"/>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6562" name="Freeform 325"/>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6563" name="Freeform 326"/>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6564" name="Freeform 327"/>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6565" name="Freeform 328"/>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6566" name="Freeform 329"/>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6567" name="Freeform 330"/>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6568" name="Freeform 331"/>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6569" name="Freeform 332"/>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570" name="Freeform 333"/>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571" name="Freeform 334"/>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6572" name="Freeform 335"/>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573" name="Freeform 336"/>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574" name="Freeform 337"/>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575" name="Freeform 338"/>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576" name="Freeform 339"/>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577" name="Freeform 340"/>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578" name="Freeform 341"/>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579" name="Freeform 342"/>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6521" name="Group 343"/>
            <p:cNvGrpSpPr>
              <a:grpSpLocks/>
            </p:cNvGrpSpPr>
            <p:nvPr/>
          </p:nvGrpSpPr>
          <p:grpSpPr bwMode="auto">
            <a:xfrm>
              <a:off x="2469" y="536"/>
              <a:ext cx="163" cy="144"/>
              <a:chOff x="1824" y="844"/>
              <a:chExt cx="2035" cy="1803"/>
            </a:xfrm>
          </p:grpSpPr>
          <p:sp>
            <p:nvSpPr>
              <p:cNvPr id="16522" name="Freeform 344"/>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523" name="Freeform 345"/>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524" name="Freeform 346"/>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6525" name="Freeform 347"/>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6526" name="Freeform 348"/>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6527" name="Freeform 349"/>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6528" name="Freeform 350"/>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6529" name="Freeform 351"/>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6530" name="Freeform 352"/>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6531" name="Freeform 353"/>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6532" name="Freeform 354"/>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6533" name="Freeform 355"/>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6534" name="Freeform 356"/>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6535" name="Freeform 357"/>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6536" name="Freeform 358"/>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6537" name="Freeform 359"/>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6538" name="Freeform 360"/>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6539" name="Freeform 361"/>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6540" name="Freeform 362"/>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541" name="Freeform 363"/>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542" name="Freeform 364"/>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6543" name="Freeform 365"/>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544" name="Freeform 366"/>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545" name="Freeform 367"/>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6546" name="Freeform 368"/>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6547" name="Freeform 369"/>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6548" name="Freeform 370"/>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549" name="Freeform 371"/>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6550" name="Freeform 372"/>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grpSp>
        <p:nvGrpSpPr>
          <p:cNvPr id="16398" name="Group 379"/>
          <p:cNvGrpSpPr>
            <a:grpSpLocks/>
          </p:cNvGrpSpPr>
          <p:nvPr/>
        </p:nvGrpSpPr>
        <p:grpSpPr bwMode="auto">
          <a:xfrm>
            <a:off x="6477000" y="3429000"/>
            <a:ext cx="1828800" cy="942975"/>
            <a:chOff x="2371" y="3356"/>
            <a:chExt cx="1152" cy="594"/>
          </a:xfrm>
        </p:grpSpPr>
        <p:grpSp>
          <p:nvGrpSpPr>
            <p:cNvPr id="16508" name="Group 380"/>
            <p:cNvGrpSpPr>
              <a:grpSpLocks/>
            </p:cNvGrpSpPr>
            <p:nvPr/>
          </p:nvGrpSpPr>
          <p:grpSpPr bwMode="auto">
            <a:xfrm>
              <a:off x="2371" y="3356"/>
              <a:ext cx="1152" cy="594"/>
              <a:chOff x="1584" y="699"/>
              <a:chExt cx="2224" cy="1098"/>
            </a:xfrm>
          </p:grpSpPr>
          <p:sp>
            <p:nvSpPr>
              <p:cNvPr id="16510" name="Freeform 381"/>
              <p:cNvSpPr>
                <a:spLocks/>
              </p:cNvSpPr>
              <p:nvPr/>
            </p:nvSpPr>
            <p:spPr bwMode="auto">
              <a:xfrm>
                <a:off x="1588" y="1419"/>
                <a:ext cx="2172" cy="378"/>
              </a:xfrm>
              <a:custGeom>
                <a:avLst/>
                <a:gdLst>
                  <a:gd name="T0" fmla="*/ 0 w 2172"/>
                  <a:gd name="T1" fmla="*/ 60 h 378"/>
                  <a:gd name="T2" fmla="*/ 66 w 2172"/>
                  <a:gd name="T3" fmla="*/ 0 h 378"/>
                  <a:gd name="T4" fmla="*/ 135 w 2172"/>
                  <a:gd name="T5" fmla="*/ 21 h 378"/>
                  <a:gd name="T6" fmla="*/ 162 w 2172"/>
                  <a:gd name="T7" fmla="*/ 21 h 378"/>
                  <a:gd name="T8" fmla="*/ 2118 w 2172"/>
                  <a:gd name="T9" fmla="*/ 93 h 378"/>
                  <a:gd name="T10" fmla="*/ 2172 w 2172"/>
                  <a:gd name="T11" fmla="*/ 144 h 378"/>
                  <a:gd name="T12" fmla="*/ 2115 w 2172"/>
                  <a:gd name="T13" fmla="*/ 177 h 378"/>
                  <a:gd name="T14" fmla="*/ 2073 w 2172"/>
                  <a:gd name="T15" fmla="*/ 204 h 378"/>
                  <a:gd name="T16" fmla="*/ 2034 w 2172"/>
                  <a:gd name="T17" fmla="*/ 225 h 378"/>
                  <a:gd name="T18" fmla="*/ 1944 w 2172"/>
                  <a:gd name="T19" fmla="*/ 282 h 378"/>
                  <a:gd name="T20" fmla="*/ 1824 w 2172"/>
                  <a:gd name="T21" fmla="*/ 306 h 378"/>
                  <a:gd name="T22" fmla="*/ 1659 w 2172"/>
                  <a:gd name="T23" fmla="*/ 315 h 378"/>
                  <a:gd name="T24" fmla="*/ 1590 w 2172"/>
                  <a:gd name="T25" fmla="*/ 306 h 378"/>
                  <a:gd name="T26" fmla="*/ 1521 w 2172"/>
                  <a:gd name="T27" fmla="*/ 279 h 378"/>
                  <a:gd name="T28" fmla="*/ 1338 w 2172"/>
                  <a:gd name="T29" fmla="*/ 312 h 378"/>
                  <a:gd name="T30" fmla="*/ 1242 w 2172"/>
                  <a:gd name="T31" fmla="*/ 261 h 378"/>
                  <a:gd name="T32" fmla="*/ 1179 w 2172"/>
                  <a:gd name="T33" fmla="*/ 315 h 378"/>
                  <a:gd name="T34" fmla="*/ 1068 w 2172"/>
                  <a:gd name="T35" fmla="*/ 321 h 378"/>
                  <a:gd name="T36" fmla="*/ 924 w 2172"/>
                  <a:gd name="T37" fmla="*/ 333 h 378"/>
                  <a:gd name="T38" fmla="*/ 831 w 2172"/>
                  <a:gd name="T39" fmla="*/ 342 h 378"/>
                  <a:gd name="T40" fmla="*/ 795 w 2172"/>
                  <a:gd name="T41" fmla="*/ 360 h 378"/>
                  <a:gd name="T42" fmla="*/ 717 w 2172"/>
                  <a:gd name="T43" fmla="*/ 378 h 378"/>
                  <a:gd name="T44" fmla="*/ 633 w 2172"/>
                  <a:gd name="T45" fmla="*/ 375 h 378"/>
                  <a:gd name="T46" fmla="*/ 561 w 2172"/>
                  <a:gd name="T47" fmla="*/ 354 h 378"/>
                  <a:gd name="T48" fmla="*/ 498 w 2172"/>
                  <a:gd name="T49" fmla="*/ 303 h 378"/>
                  <a:gd name="T50" fmla="*/ 438 w 2172"/>
                  <a:gd name="T51" fmla="*/ 282 h 378"/>
                  <a:gd name="T52" fmla="*/ 336 w 2172"/>
                  <a:gd name="T53" fmla="*/ 222 h 378"/>
                  <a:gd name="T54" fmla="*/ 276 w 2172"/>
                  <a:gd name="T55" fmla="*/ 114 h 378"/>
                  <a:gd name="T56" fmla="*/ 222 w 2172"/>
                  <a:gd name="T57" fmla="*/ 153 h 378"/>
                  <a:gd name="T58" fmla="*/ 120 w 2172"/>
                  <a:gd name="T59" fmla="*/ 144 h 378"/>
                  <a:gd name="T60" fmla="*/ 81 w 2172"/>
                  <a:gd name="T61" fmla="*/ 117 h 378"/>
                  <a:gd name="T62" fmla="*/ 0 w 2172"/>
                  <a:gd name="T63" fmla="*/ 60 h 3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72"/>
                  <a:gd name="T97" fmla="*/ 0 h 378"/>
                  <a:gd name="T98" fmla="*/ 2172 w 2172"/>
                  <a:gd name="T99" fmla="*/ 378 h 3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72" h="378">
                    <a:moveTo>
                      <a:pt x="0" y="60"/>
                    </a:moveTo>
                    <a:cubicBezTo>
                      <a:pt x="18" y="48"/>
                      <a:pt x="44" y="6"/>
                      <a:pt x="66" y="0"/>
                    </a:cubicBezTo>
                    <a:cubicBezTo>
                      <a:pt x="104" y="3"/>
                      <a:pt x="105" y="11"/>
                      <a:pt x="135" y="21"/>
                    </a:cubicBezTo>
                    <a:cubicBezTo>
                      <a:pt x="144" y="35"/>
                      <a:pt x="150" y="29"/>
                      <a:pt x="162" y="21"/>
                    </a:cubicBezTo>
                    <a:cubicBezTo>
                      <a:pt x="492" y="33"/>
                      <a:pt x="1783" y="72"/>
                      <a:pt x="2118" y="93"/>
                    </a:cubicBezTo>
                    <a:cubicBezTo>
                      <a:pt x="2161" y="97"/>
                      <a:pt x="2162" y="105"/>
                      <a:pt x="2172" y="144"/>
                    </a:cubicBezTo>
                    <a:cubicBezTo>
                      <a:pt x="2166" y="162"/>
                      <a:pt x="2133" y="171"/>
                      <a:pt x="2115" y="177"/>
                    </a:cubicBezTo>
                    <a:cubicBezTo>
                      <a:pt x="2103" y="189"/>
                      <a:pt x="2089" y="199"/>
                      <a:pt x="2073" y="204"/>
                    </a:cubicBezTo>
                    <a:cubicBezTo>
                      <a:pt x="2045" y="225"/>
                      <a:pt x="2059" y="220"/>
                      <a:pt x="2034" y="225"/>
                    </a:cubicBezTo>
                    <a:cubicBezTo>
                      <a:pt x="2008" y="242"/>
                      <a:pt x="1974" y="279"/>
                      <a:pt x="1944" y="282"/>
                    </a:cubicBezTo>
                    <a:cubicBezTo>
                      <a:pt x="1904" y="295"/>
                      <a:pt x="1865" y="298"/>
                      <a:pt x="1824" y="306"/>
                    </a:cubicBezTo>
                    <a:cubicBezTo>
                      <a:pt x="1781" y="335"/>
                      <a:pt x="1709" y="303"/>
                      <a:pt x="1659" y="315"/>
                    </a:cubicBezTo>
                    <a:cubicBezTo>
                      <a:pt x="1598" y="309"/>
                      <a:pt x="1621" y="314"/>
                      <a:pt x="1590" y="306"/>
                    </a:cubicBezTo>
                    <a:cubicBezTo>
                      <a:pt x="1558" y="286"/>
                      <a:pt x="1557" y="291"/>
                      <a:pt x="1521" y="279"/>
                    </a:cubicBezTo>
                    <a:cubicBezTo>
                      <a:pt x="1500" y="342"/>
                      <a:pt x="1389" y="310"/>
                      <a:pt x="1338" y="312"/>
                    </a:cubicBezTo>
                    <a:cubicBezTo>
                      <a:pt x="1292" y="309"/>
                      <a:pt x="1269" y="265"/>
                      <a:pt x="1242" y="261"/>
                    </a:cubicBezTo>
                    <a:cubicBezTo>
                      <a:pt x="1216" y="265"/>
                      <a:pt x="1202" y="304"/>
                      <a:pt x="1179" y="315"/>
                    </a:cubicBezTo>
                    <a:cubicBezTo>
                      <a:pt x="1148" y="330"/>
                      <a:pt x="1102" y="311"/>
                      <a:pt x="1068" y="321"/>
                    </a:cubicBezTo>
                    <a:cubicBezTo>
                      <a:pt x="1023" y="334"/>
                      <a:pt x="968" y="331"/>
                      <a:pt x="924" y="333"/>
                    </a:cubicBezTo>
                    <a:cubicBezTo>
                      <a:pt x="893" y="335"/>
                      <a:pt x="862" y="338"/>
                      <a:pt x="831" y="342"/>
                    </a:cubicBezTo>
                    <a:cubicBezTo>
                      <a:pt x="818" y="346"/>
                      <a:pt x="807" y="355"/>
                      <a:pt x="795" y="360"/>
                    </a:cubicBezTo>
                    <a:cubicBezTo>
                      <a:pt x="770" y="371"/>
                      <a:pt x="745" y="375"/>
                      <a:pt x="717" y="378"/>
                    </a:cubicBezTo>
                    <a:cubicBezTo>
                      <a:pt x="689" y="377"/>
                      <a:pt x="661" y="377"/>
                      <a:pt x="633" y="375"/>
                    </a:cubicBezTo>
                    <a:cubicBezTo>
                      <a:pt x="609" y="374"/>
                      <a:pt x="585" y="359"/>
                      <a:pt x="561" y="354"/>
                    </a:cubicBezTo>
                    <a:cubicBezTo>
                      <a:pt x="539" y="342"/>
                      <a:pt x="518" y="315"/>
                      <a:pt x="498" y="303"/>
                    </a:cubicBezTo>
                    <a:cubicBezTo>
                      <a:pt x="473" y="278"/>
                      <a:pt x="493" y="286"/>
                      <a:pt x="438" y="282"/>
                    </a:cubicBezTo>
                    <a:cubicBezTo>
                      <a:pt x="414" y="264"/>
                      <a:pt x="363" y="250"/>
                      <a:pt x="336" y="222"/>
                    </a:cubicBezTo>
                    <a:cubicBezTo>
                      <a:pt x="309" y="194"/>
                      <a:pt x="291" y="126"/>
                      <a:pt x="276" y="114"/>
                    </a:cubicBezTo>
                    <a:cubicBezTo>
                      <a:pt x="257" y="103"/>
                      <a:pt x="248" y="148"/>
                      <a:pt x="222" y="153"/>
                    </a:cubicBezTo>
                    <a:cubicBezTo>
                      <a:pt x="183" y="151"/>
                      <a:pt x="155" y="151"/>
                      <a:pt x="120" y="144"/>
                    </a:cubicBezTo>
                    <a:cubicBezTo>
                      <a:pt x="104" y="136"/>
                      <a:pt x="98" y="121"/>
                      <a:pt x="81" y="117"/>
                    </a:cubicBezTo>
                    <a:cubicBezTo>
                      <a:pt x="61" y="103"/>
                      <a:pt x="2" y="79"/>
                      <a:pt x="0" y="60"/>
                    </a:cubicBezTo>
                    <a:close/>
                  </a:path>
                </a:pathLst>
              </a:custGeom>
              <a:solidFill>
                <a:srgbClr val="2C5CFF"/>
              </a:solidFill>
              <a:ln w="12700" cap="flat" cmpd="sng">
                <a:noFill/>
                <a:prstDash val="solid"/>
                <a:round/>
                <a:headEnd type="none" w="sm" len="sm"/>
                <a:tailEnd type="none" w="sm" len="sm"/>
              </a:ln>
            </p:spPr>
            <p:txBody>
              <a:bodyPr wrap="none" anchor="ctr"/>
              <a:lstStyle/>
              <a:p>
                <a:endParaRPr lang="en-US"/>
              </a:p>
            </p:txBody>
          </p:sp>
          <p:sp>
            <p:nvSpPr>
              <p:cNvPr id="16511" name="Freeform 382"/>
              <p:cNvSpPr>
                <a:spLocks/>
              </p:cNvSpPr>
              <p:nvPr/>
            </p:nvSpPr>
            <p:spPr bwMode="auto">
              <a:xfrm>
                <a:off x="1584" y="699"/>
                <a:ext cx="2109" cy="789"/>
              </a:xfrm>
              <a:custGeom>
                <a:avLst/>
                <a:gdLst>
                  <a:gd name="T0" fmla="*/ 18 w 2109"/>
                  <a:gd name="T1" fmla="*/ 789 h 789"/>
                  <a:gd name="T2" fmla="*/ 24 w 2109"/>
                  <a:gd name="T3" fmla="*/ 702 h 789"/>
                  <a:gd name="T4" fmla="*/ 51 w 2109"/>
                  <a:gd name="T5" fmla="*/ 693 h 789"/>
                  <a:gd name="T6" fmla="*/ 18 w 2109"/>
                  <a:gd name="T7" fmla="*/ 660 h 789"/>
                  <a:gd name="T8" fmla="*/ 0 w 2109"/>
                  <a:gd name="T9" fmla="*/ 594 h 789"/>
                  <a:gd name="T10" fmla="*/ 36 w 2109"/>
                  <a:gd name="T11" fmla="*/ 507 h 789"/>
                  <a:gd name="T12" fmla="*/ 105 w 2109"/>
                  <a:gd name="T13" fmla="*/ 480 h 789"/>
                  <a:gd name="T14" fmla="*/ 153 w 2109"/>
                  <a:gd name="T15" fmla="*/ 474 h 789"/>
                  <a:gd name="T16" fmla="*/ 249 w 2109"/>
                  <a:gd name="T17" fmla="*/ 402 h 789"/>
                  <a:gd name="T18" fmla="*/ 228 w 2109"/>
                  <a:gd name="T19" fmla="*/ 375 h 789"/>
                  <a:gd name="T20" fmla="*/ 267 w 2109"/>
                  <a:gd name="T21" fmla="*/ 339 h 789"/>
                  <a:gd name="T22" fmla="*/ 288 w 2109"/>
                  <a:gd name="T23" fmla="*/ 237 h 789"/>
                  <a:gd name="T24" fmla="*/ 342 w 2109"/>
                  <a:gd name="T25" fmla="*/ 147 h 789"/>
                  <a:gd name="T26" fmla="*/ 408 w 2109"/>
                  <a:gd name="T27" fmla="*/ 102 h 789"/>
                  <a:gd name="T28" fmla="*/ 459 w 2109"/>
                  <a:gd name="T29" fmla="*/ 105 h 789"/>
                  <a:gd name="T30" fmla="*/ 513 w 2109"/>
                  <a:gd name="T31" fmla="*/ 129 h 789"/>
                  <a:gd name="T32" fmla="*/ 576 w 2109"/>
                  <a:gd name="T33" fmla="*/ 156 h 789"/>
                  <a:gd name="T34" fmla="*/ 600 w 2109"/>
                  <a:gd name="T35" fmla="*/ 123 h 789"/>
                  <a:gd name="T36" fmla="*/ 642 w 2109"/>
                  <a:gd name="T37" fmla="*/ 84 h 789"/>
                  <a:gd name="T38" fmla="*/ 780 w 2109"/>
                  <a:gd name="T39" fmla="*/ 24 h 789"/>
                  <a:gd name="T40" fmla="*/ 846 w 2109"/>
                  <a:gd name="T41" fmla="*/ 27 h 789"/>
                  <a:gd name="T42" fmla="*/ 897 w 2109"/>
                  <a:gd name="T43" fmla="*/ 0 h 789"/>
                  <a:gd name="T44" fmla="*/ 1023 w 2109"/>
                  <a:gd name="T45" fmla="*/ 3 h 789"/>
                  <a:gd name="T46" fmla="*/ 1167 w 2109"/>
                  <a:gd name="T47" fmla="*/ 42 h 789"/>
                  <a:gd name="T48" fmla="*/ 1218 w 2109"/>
                  <a:gd name="T49" fmla="*/ 99 h 789"/>
                  <a:gd name="T50" fmla="*/ 1317 w 2109"/>
                  <a:gd name="T51" fmla="*/ 48 h 789"/>
                  <a:gd name="T52" fmla="*/ 1377 w 2109"/>
                  <a:gd name="T53" fmla="*/ 36 h 789"/>
                  <a:gd name="T54" fmla="*/ 1551 w 2109"/>
                  <a:gd name="T55" fmla="*/ 33 h 789"/>
                  <a:gd name="T56" fmla="*/ 1644 w 2109"/>
                  <a:gd name="T57" fmla="*/ 51 h 789"/>
                  <a:gd name="T58" fmla="*/ 1659 w 2109"/>
                  <a:gd name="T59" fmla="*/ 78 h 789"/>
                  <a:gd name="T60" fmla="*/ 1776 w 2109"/>
                  <a:gd name="T61" fmla="*/ 60 h 789"/>
                  <a:gd name="T62" fmla="*/ 1851 w 2109"/>
                  <a:gd name="T63" fmla="*/ 81 h 789"/>
                  <a:gd name="T64" fmla="*/ 1908 w 2109"/>
                  <a:gd name="T65" fmla="*/ 102 h 789"/>
                  <a:gd name="T66" fmla="*/ 1938 w 2109"/>
                  <a:gd name="T67" fmla="*/ 204 h 789"/>
                  <a:gd name="T68" fmla="*/ 1941 w 2109"/>
                  <a:gd name="T69" fmla="*/ 261 h 789"/>
                  <a:gd name="T70" fmla="*/ 2055 w 2109"/>
                  <a:gd name="T71" fmla="*/ 267 h 789"/>
                  <a:gd name="T72" fmla="*/ 2106 w 2109"/>
                  <a:gd name="T73" fmla="*/ 336 h 789"/>
                  <a:gd name="T74" fmla="*/ 2073 w 2109"/>
                  <a:gd name="T75" fmla="*/ 465 h 789"/>
                  <a:gd name="T76" fmla="*/ 2109 w 2109"/>
                  <a:gd name="T77" fmla="*/ 498 h 789"/>
                  <a:gd name="T78" fmla="*/ 2106 w 2109"/>
                  <a:gd name="T79" fmla="*/ 543 h 789"/>
                  <a:gd name="T80" fmla="*/ 2067 w 2109"/>
                  <a:gd name="T81" fmla="*/ 612 h 789"/>
                  <a:gd name="T82" fmla="*/ 2040 w 2109"/>
                  <a:gd name="T83" fmla="*/ 627 h 789"/>
                  <a:gd name="T84" fmla="*/ 1980 w 2109"/>
                  <a:gd name="T85" fmla="*/ 657 h 789"/>
                  <a:gd name="T86" fmla="*/ 1938 w 2109"/>
                  <a:gd name="T87" fmla="*/ 663 h 789"/>
                  <a:gd name="T88" fmla="*/ 18 w 2109"/>
                  <a:gd name="T89" fmla="*/ 789 h 78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09"/>
                  <a:gd name="T136" fmla="*/ 0 h 789"/>
                  <a:gd name="T137" fmla="*/ 2109 w 2109"/>
                  <a:gd name="T138" fmla="*/ 789 h 78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09" h="789">
                    <a:moveTo>
                      <a:pt x="18" y="789"/>
                    </a:moveTo>
                    <a:cubicBezTo>
                      <a:pt x="19" y="760"/>
                      <a:pt x="0" y="719"/>
                      <a:pt x="24" y="702"/>
                    </a:cubicBezTo>
                    <a:cubicBezTo>
                      <a:pt x="32" y="696"/>
                      <a:pt x="51" y="693"/>
                      <a:pt x="51" y="693"/>
                    </a:cubicBezTo>
                    <a:cubicBezTo>
                      <a:pt x="38" y="683"/>
                      <a:pt x="30" y="672"/>
                      <a:pt x="18" y="660"/>
                    </a:cubicBezTo>
                    <a:cubicBezTo>
                      <a:pt x="12" y="638"/>
                      <a:pt x="4" y="617"/>
                      <a:pt x="0" y="594"/>
                    </a:cubicBezTo>
                    <a:cubicBezTo>
                      <a:pt x="5" y="541"/>
                      <a:pt x="2" y="541"/>
                      <a:pt x="36" y="507"/>
                    </a:cubicBezTo>
                    <a:cubicBezTo>
                      <a:pt x="54" y="488"/>
                      <a:pt x="86" y="485"/>
                      <a:pt x="105" y="480"/>
                    </a:cubicBezTo>
                    <a:cubicBezTo>
                      <a:pt x="121" y="478"/>
                      <a:pt x="153" y="474"/>
                      <a:pt x="153" y="474"/>
                    </a:cubicBezTo>
                    <a:cubicBezTo>
                      <a:pt x="177" y="461"/>
                      <a:pt x="236" y="418"/>
                      <a:pt x="249" y="402"/>
                    </a:cubicBezTo>
                    <a:cubicBezTo>
                      <a:pt x="235" y="380"/>
                      <a:pt x="242" y="389"/>
                      <a:pt x="228" y="375"/>
                    </a:cubicBezTo>
                    <a:cubicBezTo>
                      <a:pt x="216" y="339"/>
                      <a:pt x="238" y="342"/>
                      <a:pt x="267" y="339"/>
                    </a:cubicBezTo>
                    <a:cubicBezTo>
                      <a:pt x="297" y="331"/>
                      <a:pt x="286" y="258"/>
                      <a:pt x="288" y="237"/>
                    </a:cubicBezTo>
                    <a:cubicBezTo>
                      <a:pt x="292" y="197"/>
                      <a:pt x="315" y="174"/>
                      <a:pt x="342" y="147"/>
                    </a:cubicBezTo>
                    <a:cubicBezTo>
                      <a:pt x="362" y="125"/>
                      <a:pt x="389" y="109"/>
                      <a:pt x="408" y="102"/>
                    </a:cubicBezTo>
                    <a:cubicBezTo>
                      <a:pt x="425" y="103"/>
                      <a:pt x="442" y="102"/>
                      <a:pt x="459" y="105"/>
                    </a:cubicBezTo>
                    <a:cubicBezTo>
                      <a:pt x="476" y="108"/>
                      <a:pt x="496" y="124"/>
                      <a:pt x="513" y="129"/>
                    </a:cubicBezTo>
                    <a:cubicBezTo>
                      <a:pt x="532" y="137"/>
                      <a:pt x="562" y="157"/>
                      <a:pt x="576" y="156"/>
                    </a:cubicBezTo>
                    <a:cubicBezTo>
                      <a:pt x="583" y="157"/>
                      <a:pt x="599" y="124"/>
                      <a:pt x="600" y="123"/>
                    </a:cubicBezTo>
                    <a:cubicBezTo>
                      <a:pt x="611" y="106"/>
                      <a:pt x="625" y="97"/>
                      <a:pt x="642" y="84"/>
                    </a:cubicBezTo>
                    <a:cubicBezTo>
                      <a:pt x="682" y="53"/>
                      <a:pt x="731" y="36"/>
                      <a:pt x="780" y="24"/>
                    </a:cubicBezTo>
                    <a:cubicBezTo>
                      <a:pt x="802" y="25"/>
                      <a:pt x="824" y="27"/>
                      <a:pt x="846" y="27"/>
                    </a:cubicBezTo>
                    <a:cubicBezTo>
                      <a:pt x="854" y="27"/>
                      <a:pt x="879" y="6"/>
                      <a:pt x="897" y="0"/>
                    </a:cubicBezTo>
                    <a:cubicBezTo>
                      <a:pt x="939" y="1"/>
                      <a:pt x="981" y="0"/>
                      <a:pt x="1023" y="3"/>
                    </a:cubicBezTo>
                    <a:cubicBezTo>
                      <a:pt x="1068" y="10"/>
                      <a:pt x="1135" y="26"/>
                      <a:pt x="1167" y="42"/>
                    </a:cubicBezTo>
                    <a:cubicBezTo>
                      <a:pt x="1188" y="49"/>
                      <a:pt x="1211" y="78"/>
                      <a:pt x="1218" y="99"/>
                    </a:cubicBezTo>
                    <a:cubicBezTo>
                      <a:pt x="1239" y="68"/>
                      <a:pt x="1281" y="53"/>
                      <a:pt x="1317" y="48"/>
                    </a:cubicBezTo>
                    <a:cubicBezTo>
                      <a:pt x="1339" y="41"/>
                      <a:pt x="1353" y="38"/>
                      <a:pt x="1377" y="36"/>
                    </a:cubicBezTo>
                    <a:cubicBezTo>
                      <a:pt x="1436" y="21"/>
                      <a:pt x="1479" y="32"/>
                      <a:pt x="1551" y="33"/>
                    </a:cubicBezTo>
                    <a:cubicBezTo>
                      <a:pt x="1585" y="35"/>
                      <a:pt x="1613" y="41"/>
                      <a:pt x="1644" y="51"/>
                    </a:cubicBezTo>
                    <a:cubicBezTo>
                      <a:pt x="1658" y="72"/>
                      <a:pt x="1654" y="62"/>
                      <a:pt x="1659" y="78"/>
                    </a:cubicBezTo>
                    <a:cubicBezTo>
                      <a:pt x="1697" y="73"/>
                      <a:pt x="1739" y="72"/>
                      <a:pt x="1776" y="60"/>
                    </a:cubicBezTo>
                    <a:cubicBezTo>
                      <a:pt x="1808" y="60"/>
                      <a:pt x="1829" y="74"/>
                      <a:pt x="1851" y="81"/>
                    </a:cubicBezTo>
                    <a:cubicBezTo>
                      <a:pt x="1868" y="89"/>
                      <a:pt x="1890" y="96"/>
                      <a:pt x="1908" y="102"/>
                    </a:cubicBezTo>
                    <a:cubicBezTo>
                      <a:pt x="1931" y="125"/>
                      <a:pt x="1934" y="173"/>
                      <a:pt x="1938" y="204"/>
                    </a:cubicBezTo>
                    <a:cubicBezTo>
                      <a:pt x="1939" y="223"/>
                      <a:pt x="1925" y="250"/>
                      <a:pt x="1941" y="261"/>
                    </a:cubicBezTo>
                    <a:cubicBezTo>
                      <a:pt x="1973" y="282"/>
                      <a:pt x="2017" y="263"/>
                      <a:pt x="2055" y="267"/>
                    </a:cubicBezTo>
                    <a:cubicBezTo>
                      <a:pt x="2082" y="279"/>
                      <a:pt x="2103" y="303"/>
                      <a:pt x="2106" y="336"/>
                    </a:cubicBezTo>
                    <a:cubicBezTo>
                      <a:pt x="2104" y="382"/>
                      <a:pt x="2099" y="426"/>
                      <a:pt x="2073" y="465"/>
                    </a:cubicBezTo>
                    <a:cubicBezTo>
                      <a:pt x="2074" y="492"/>
                      <a:pt x="2104" y="485"/>
                      <a:pt x="2109" y="498"/>
                    </a:cubicBezTo>
                    <a:cubicBezTo>
                      <a:pt x="2108" y="513"/>
                      <a:pt x="2108" y="528"/>
                      <a:pt x="2106" y="543"/>
                    </a:cubicBezTo>
                    <a:cubicBezTo>
                      <a:pt x="2099" y="562"/>
                      <a:pt x="2078" y="598"/>
                      <a:pt x="2067" y="612"/>
                    </a:cubicBezTo>
                    <a:cubicBezTo>
                      <a:pt x="2064" y="622"/>
                      <a:pt x="2048" y="623"/>
                      <a:pt x="2040" y="627"/>
                    </a:cubicBezTo>
                    <a:cubicBezTo>
                      <a:pt x="2020" y="636"/>
                      <a:pt x="2001" y="652"/>
                      <a:pt x="1980" y="657"/>
                    </a:cubicBezTo>
                    <a:cubicBezTo>
                      <a:pt x="1966" y="660"/>
                      <a:pt x="1952" y="660"/>
                      <a:pt x="1938" y="663"/>
                    </a:cubicBezTo>
                    <a:cubicBezTo>
                      <a:pt x="1611" y="685"/>
                      <a:pt x="337" y="782"/>
                      <a:pt x="18" y="789"/>
                    </a:cubicBezTo>
                    <a:close/>
                  </a:path>
                </a:pathLst>
              </a:custGeom>
              <a:solidFill>
                <a:srgbClr val="3232A6"/>
              </a:solidFill>
              <a:ln w="12700" cap="flat" cmpd="sng">
                <a:noFill/>
                <a:prstDash val="solid"/>
                <a:round/>
                <a:headEnd type="none" w="sm" len="sm"/>
                <a:tailEnd type="none" w="sm" len="sm"/>
              </a:ln>
            </p:spPr>
            <p:txBody>
              <a:bodyPr wrap="none" anchor="ctr"/>
              <a:lstStyle/>
              <a:p>
                <a:endParaRPr lang="en-US"/>
              </a:p>
            </p:txBody>
          </p:sp>
          <p:sp>
            <p:nvSpPr>
              <p:cNvPr id="16512" name="Freeform 383"/>
              <p:cNvSpPr>
                <a:spLocks/>
              </p:cNvSpPr>
              <p:nvPr/>
            </p:nvSpPr>
            <p:spPr bwMode="auto">
              <a:xfrm>
                <a:off x="1584" y="720"/>
                <a:ext cx="2109" cy="789"/>
              </a:xfrm>
              <a:custGeom>
                <a:avLst/>
                <a:gdLst>
                  <a:gd name="T0" fmla="*/ 18 w 2109"/>
                  <a:gd name="T1" fmla="*/ 789 h 789"/>
                  <a:gd name="T2" fmla="*/ 24 w 2109"/>
                  <a:gd name="T3" fmla="*/ 702 h 789"/>
                  <a:gd name="T4" fmla="*/ 51 w 2109"/>
                  <a:gd name="T5" fmla="*/ 693 h 789"/>
                  <a:gd name="T6" fmla="*/ 18 w 2109"/>
                  <a:gd name="T7" fmla="*/ 660 h 789"/>
                  <a:gd name="T8" fmla="*/ 0 w 2109"/>
                  <a:gd name="T9" fmla="*/ 594 h 789"/>
                  <a:gd name="T10" fmla="*/ 36 w 2109"/>
                  <a:gd name="T11" fmla="*/ 507 h 789"/>
                  <a:gd name="T12" fmla="*/ 105 w 2109"/>
                  <a:gd name="T13" fmla="*/ 480 h 789"/>
                  <a:gd name="T14" fmla="*/ 153 w 2109"/>
                  <a:gd name="T15" fmla="*/ 474 h 789"/>
                  <a:gd name="T16" fmla="*/ 249 w 2109"/>
                  <a:gd name="T17" fmla="*/ 402 h 789"/>
                  <a:gd name="T18" fmla="*/ 228 w 2109"/>
                  <a:gd name="T19" fmla="*/ 375 h 789"/>
                  <a:gd name="T20" fmla="*/ 267 w 2109"/>
                  <a:gd name="T21" fmla="*/ 339 h 789"/>
                  <a:gd name="T22" fmla="*/ 288 w 2109"/>
                  <a:gd name="T23" fmla="*/ 237 h 789"/>
                  <a:gd name="T24" fmla="*/ 342 w 2109"/>
                  <a:gd name="T25" fmla="*/ 147 h 789"/>
                  <a:gd name="T26" fmla="*/ 408 w 2109"/>
                  <a:gd name="T27" fmla="*/ 102 h 789"/>
                  <a:gd name="T28" fmla="*/ 459 w 2109"/>
                  <a:gd name="T29" fmla="*/ 105 h 789"/>
                  <a:gd name="T30" fmla="*/ 513 w 2109"/>
                  <a:gd name="T31" fmla="*/ 129 h 789"/>
                  <a:gd name="T32" fmla="*/ 576 w 2109"/>
                  <a:gd name="T33" fmla="*/ 156 h 789"/>
                  <a:gd name="T34" fmla="*/ 600 w 2109"/>
                  <a:gd name="T35" fmla="*/ 123 h 789"/>
                  <a:gd name="T36" fmla="*/ 642 w 2109"/>
                  <a:gd name="T37" fmla="*/ 84 h 789"/>
                  <a:gd name="T38" fmla="*/ 780 w 2109"/>
                  <a:gd name="T39" fmla="*/ 24 h 789"/>
                  <a:gd name="T40" fmla="*/ 846 w 2109"/>
                  <a:gd name="T41" fmla="*/ 27 h 789"/>
                  <a:gd name="T42" fmla="*/ 897 w 2109"/>
                  <a:gd name="T43" fmla="*/ 0 h 789"/>
                  <a:gd name="T44" fmla="*/ 1023 w 2109"/>
                  <a:gd name="T45" fmla="*/ 3 h 789"/>
                  <a:gd name="T46" fmla="*/ 1167 w 2109"/>
                  <a:gd name="T47" fmla="*/ 42 h 789"/>
                  <a:gd name="T48" fmla="*/ 1218 w 2109"/>
                  <a:gd name="T49" fmla="*/ 99 h 789"/>
                  <a:gd name="T50" fmla="*/ 1317 w 2109"/>
                  <a:gd name="T51" fmla="*/ 48 h 789"/>
                  <a:gd name="T52" fmla="*/ 1377 w 2109"/>
                  <a:gd name="T53" fmla="*/ 36 h 789"/>
                  <a:gd name="T54" fmla="*/ 1551 w 2109"/>
                  <a:gd name="T55" fmla="*/ 33 h 789"/>
                  <a:gd name="T56" fmla="*/ 1644 w 2109"/>
                  <a:gd name="T57" fmla="*/ 51 h 789"/>
                  <a:gd name="T58" fmla="*/ 1659 w 2109"/>
                  <a:gd name="T59" fmla="*/ 78 h 789"/>
                  <a:gd name="T60" fmla="*/ 1776 w 2109"/>
                  <a:gd name="T61" fmla="*/ 60 h 789"/>
                  <a:gd name="T62" fmla="*/ 1851 w 2109"/>
                  <a:gd name="T63" fmla="*/ 81 h 789"/>
                  <a:gd name="T64" fmla="*/ 1908 w 2109"/>
                  <a:gd name="T65" fmla="*/ 102 h 789"/>
                  <a:gd name="T66" fmla="*/ 1938 w 2109"/>
                  <a:gd name="T67" fmla="*/ 204 h 789"/>
                  <a:gd name="T68" fmla="*/ 1941 w 2109"/>
                  <a:gd name="T69" fmla="*/ 261 h 789"/>
                  <a:gd name="T70" fmla="*/ 2055 w 2109"/>
                  <a:gd name="T71" fmla="*/ 267 h 789"/>
                  <a:gd name="T72" fmla="*/ 2106 w 2109"/>
                  <a:gd name="T73" fmla="*/ 336 h 789"/>
                  <a:gd name="T74" fmla="*/ 2073 w 2109"/>
                  <a:gd name="T75" fmla="*/ 465 h 789"/>
                  <a:gd name="T76" fmla="*/ 2109 w 2109"/>
                  <a:gd name="T77" fmla="*/ 498 h 789"/>
                  <a:gd name="T78" fmla="*/ 2106 w 2109"/>
                  <a:gd name="T79" fmla="*/ 543 h 789"/>
                  <a:gd name="T80" fmla="*/ 2067 w 2109"/>
                  <a:gd name="T81" fmla="*/ 612 h 789"/>
                  <a:gd name="T82" fmla="*/ 2040 w 2109"/>
                  <a:gd name="T83" fmla="*/ 627 h 789"/>
                  <a:gd name="T84" fmla="*/ 1980 w 2109"/>
                  <a:gd name="T85" fmla="*/ 657 h 789"/>
                  <a:gd name="T86" fmla="*/ 1938 w 2109"/>
                  <a:gd name="T87" fmla="*/ 663 h 789"/>
                  <a:gd name="T88" fmla="*/ 18 w 2109"/>
                  <a:gd name="T89" fmla="*/ 789 h 78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09"/>
                  <a:gd name="T136" fmla="*/ 0 h 789"/>
                  <a:gd name="T137" fmla="*/ 2109 w 2109"/>
                  <a:gd name="T138" fmla="*/ 789 h 78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09" h="789">
                    <a:moveTo>
                      <a:pt x="18" y="789"/>
                    </a:moveTo>
                    <a:cubicBezTo>
                      <a:pt x="19" y="760"/>
                      <a:pt x="0" y="719"/>
                      <a:pt x="24" y="702"/>
                    </a:cubicBezTo>
                    <a:cubicBezTo>
                      <a:pt x="32" y="696"/>
                      <a:pt x="51" y="693"/>
                      <a:pt x="51" y="693"/>
                    </a:cubicBezTo>
                    <a:cubicBezTo>
                      <a:pt x="38" y="683"/>
                      <a:pt x="30" y="672"/>
                      <a:pt x="18" y="660"/>
                    </a:cubicBezTo>
                    <a:cubicBezTo>
                      <a:pt x="12" y="638"/>
                      <a:pt x="4" y="617"/>
                      <a:pt x="0" y="594"/>
                    </a:cubicBezTo>
                    <a:cubicBezTo>
                      <a:pt x="5" y="541"/>
                      <a:pt x="2" y="541"/>
                      <a:pt x="36" y="507"/>
                    </a:cubicBezTo>
                    <a:cubicBezTo>
                      <a:pt x="54" y="488"/>
                      <a:pt x="86" y="485"/>
                      <a:pt x="105" y="480"/>
                    </a:cubicBezTo>
                    <a:cubicBezTo>
                      <a:pt x="121" y="478"/>
                      <a:pt x="153" y="474"/>
                      <a:pt x="153" y="474"/>
                    </a:cubicBezTo>
                    <a:cubicBezTo>
                      <a:pt x="177" y="461"/>
                      <a:pt x="236" y="418"/>
                      <a:pt x="249" y="402"/>
                    </a:cubicBezTo>
                    <a:cubicBezTo>
                      <a:pt x="235" y="380"/>
                      <a:pt x="242" y="389"/>
                      <a:pt x="228" y="375"/>
                    </a:cubicBezTo>
                    <a:cubicBezTo>
                      <a:pt x="216" y="339"/>
                      <a:pt x="238" y="342"/>
                      <a:pt x="267" y="339"/>
                    </a:cubicBezTo>
                    <a:cubicBezTo>
                      <a:pt x="297" y="331"/>
                      <a:pt x="286" y="258"/>
                      <a:pt x="288" y="237"/>
                    </a:cubicBezTo>
                    <a:cubicBezTo>
                      <a:pt x="292" y="197"/>
                      <a:pt x="315" y="174"/>
                      <a:pt x="342" y="147"/>
                    </a:cubicBezTo>
                    <a:cubicBezTo>
                      <a:pt x="362" y="125"/>
                      <a:pt x="389" y="109"/>
                      <a:pt x="408" y="102"/>
                    </a:cubicBezTo>
                    <a:cubicBezTo>
                      <a:pt x="425" y="103"/>
                      <a:pt x="442" y="102"/>
                      <a:pt x="459" y="105"/>
                    </a:cubicBezTo>
                    <a:cubicBezTo>
                      <a:pt x="476" y="108"/>
                      <a:pt x="496" y="124"/>
                      <a:pt x="513" y="129"/>
                    </a:cubicBezTo>
                    <a:cubicBezTo>
                      <a:pt x="532" y="137"/>
                      <a:pt x="562" y="157"/>
                      <a:pt x="576" y="156"/>
                    </a:cubicBezTo>
                    <a:cubicBezTo>
                      <a:pt x="583" y="157"/>
                      <a:pt x="599" y="124"/>
                      <a:pt x="600" y="123"/>
                    </a:cubicBezTo>
                    <a:cubicBezTo>
                      <a:pt x="611" y="106"/>
                      <a:pt x="625" y="97"/>
                      <a:pt x="642" y="84"/>
                    </a:cubicBezTo>
                    <a:cubicBezTo>
                      <a:pt x="682" y="53"/>
                      <a:pt x="731" y="36"/>
                      <a:pt x="780" y="24"/>
                    </a:cubicBezTo>
                    <a:cubicBezTo>
                      <a:pt x="802" y="25"/>
                      <a:pt x="824" y="27"/>
                      <a:pt x="846" y="27"/>
                    </a:cubicBezTo>
                    <a:cubicBezTo>
                      <a:pt x="854" y="27"/>
                      <a:pt x="879" y="6"/>
                      <a:pt x="897" y="0"/>
                    </a:cubicBezTo>
                    <a:cubicBezTo>
                      <a:pt x="939" y="1"/>
                      <a:pt x="981" y="0"/>
                      <a:pt x="1023" y="3"/>
                    </a:cubicBezTo>
                    <a:cubicBezTo>
                      <a:pt x="1068" y="10"/>
                      <a:pt x="1135" y="26"/>
                      <a:pt x="1167" y="42"/>
                    </a:cubicBezTo>
                    <a:cubicBezTo>
                      <a:pt x="1188" y="49"/>
                      <a:pt x="1211" y="78"/>
                      <a:pt x="1218" y="99"/>
                    </a:cubicBezTo>
                    <a:cubicBezTo>
                      <a:pt x="1239" y="68"/>
                      <a:pt x="1281" y="53"/>
                      <a:pt x="1317" y="48"/>
                    </a:cubicBezTo>
                    <a:cubicBezTo>
                      <a:pt x="1339" y="41"/>
                      <a:pt x="1353" y="38"/>
                      <a:pt x="1377" y="36"/>
                    </a:cubicBezTo>
                    <a:cubicBezTo>
                      <a:pt x="1436" y="21"/>
                      <a:pt x="1479" y="32"/>
                      <a:pt x="1551" y="33"/>
                    </a:cubicBezTo>
                    <a:cubicBezTo>
                      <a:pt x="1585" y="35"/>
                      <a:pt x="1613" y="41"/>
                      <a:pt x="1644" y="51"/>
                    </a:cubicBezTo>
                    <a:cubicBezTo>
                      <a:pt x="1658" y="72"/>
                      <a:pt x="1654" y="62"/>
                      <a:pt x="1659" y="78"/>
                    </a:cubicBezTo>
                    <a:cubicBezTo>
                      <a:pt x="1697" y="73"/>
                      <a:pt x="1739" y="72"/>
                      <a:pt x="1776" y="60"/>
                    </a:cubicBezTo>
                    <a:cubicBezTo>
                      <a:pt x="1808" y="60"/>
                      <a:pt x="1829" y="74"/>
                      <a:pt x="1851" y="81"/>
                    </a:cubicBezTo>
                    <a:cubicBezTo>
                      <a:pt x="1868" y="89"/>
                      <a:pt x="1890" y="96"/>
                      <a:pt x="1908" y="102"/>
                    </a:cubicBezTo>
                    <a:cubicBezTo>
                      <a:pt x="1931" y="125"/>
                      <a:pt x="1934" y="173"/>
                      <a:pt x="1938" y="204"/>
                    </a:cubicBezTo>
                    <a:cubicBezTo>
                      <a:pt x="1939" y="223"/>
                      <a:pt x="1925" y="250"/>
                      <a:pt x="1941" y="261"/>
                    </a:cubicBezTo>
                    <a:cubicBezTo>
                      <a:pt x="1973" y="282"/>
                      <a:pt x="2017" y="263"/>
                      <a:pt x="2055" y="267"/>
                    </a:cubicBezTo>
                    <a:cubicBezTo>
                      <a:pt x="2082" y="279"/>
                      <a:pt x="2103" y="303"/>
                      <a:pt x="2106" y="336"/>
                    </a:cubicBezTo>
                    <a:cubicBezTo>
                      <a:pt x="2104" y="382"/>
                      <a:pt x="2099" y="426"/>
                      <a:pt x="2073" y="465"/>
                    </a:cubicBezTo>
                    <a:cubicBezTo>
                      <a:pt x="2074" y="492"/>
                      <a:pt x="2104" y="485"/>
                      <a:pt x="2109" y="498"/>
                    </a:cubicBezTo>
                    <a:cubicBezTo>
                      <a:pt x="2108" y="513"/>
                      <a:pt x="2108" y="528"/>
                      <a:pt x="2106" y="543"/>
                    </a:cubicBezTo>
                    <a:cubicBezTo>
                      <a:pt x="2099" y="562"/>
                      <a:pt x="2078" y="598"/>
                      <a:pt x="2067" y="612"/>
                    </a:cubicBezTo>
                    <a:cubicBezTo>
                      <a:pt x="2064" y="622"/>
                      <a:pt x="2048" y="623"/>
                      <a:pt x="2040" y="627"/>
                    </a:cubicBezTo>
                    <a:cubicBezTo>
                      <a:pt x="2020" y="636"/>
                      <a:pt x="2001" y="652"/>
                      <a:pt x="1980" y="657"/>
                    </a:cubicBezTo>
                    <a:cubicBezTo>
                      <a:pt x="1966" y="660"/>
                      <a:pt x="1952" y="660"/>
                      <a:pt x="1938" y="663"/>
                    </a:cubicBezTo>
                    <a:cubicBezTo>
                      <a:pt x="1611" y="685"/>
                      <a:pt x="337" y="782"/>
                      <a:pt x="18" y="789"/>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513" name="Freeform 384"/>
              <p:cNvSpPr>
                <a:spLocks/>
              </p:cNvSpPr>
              <p:nvPr/>
            </p:nvSpPr>
            <p:spPr bwMode="auto">
              <a:xfrm>
                <a:off x="1824" y="1232"/>
                <a:ext cx="976" cy="416"/>
              </a:xfrm>
              <a:custGeom>
                <a:avLst/>
                <a:gdLst>
                  <a:gd name="T0" fmla="*/ 31 w 976"/>
                  <a:gd name="T1" fmla="*/ 288 h 416"/>
                  <a:gd name="T2" fmla="*/ 10 w 976"/>
                  <a:gd name="T3" fmla="*/ 255 h 416"/>
                  <a:gd name="T4" fmla="*/ 7 w 976"/>
                  <a:gd name="T5" fmla="*/ 210 h 416"/>
                  <a:gd name="T6" fmla="*/ 100 w 976"/>
                  <a:gd name="T7" fmla="*/ 171 h 416"/>
                  <a:gd name="T8" fmla="*/ 130 w 976"/>
                  <a:gd name="T9" fmla="*/ 135 h 416"/>
                  <a:gd name="T10" fmla="*/ 148 w 976"/>
                  <a:gd name="T11" fmla="*/ 84 h 416"/>
                  <a:gd name="T12" fmla="*/ 196 w 976"/>
                  <a:gd name="T13" fmla="*/ 30 h 416"/>
                  <a:gd name="T14" fmla="*/ 229 w 976"/>
                  <a:gd name="T15" fmla="*/ 21 h 416"/>
                  <a:gd name="T16" fmla="*/ 334 w 976"/>
                  <a:gd name="T17" fmla="*/ 63 h 416"/>
                  <a:gd name="T18" fmla="*/ 442 w 976"/>
                  <a:gd name="T19" fmla="*/ 54 h 416"/>
                  <a:gd name="T20" fmla="*/ 478 w 976"/>
                  <a:gd name="T21" fmla="*/ 33 h 416"/>
                  <a:gd name="T22" fmla="*/ 553 w 976"/>
                  <a:gd name="T23" fmla="*/ 0 h 416"/>
                  <a:gd name="T24" fmla="*/ 589 w 976"/>
                  <a:gd name="T25" fmla="*/ 30 h 416"/>
                  <a:gd name="T26" fmla="*/ 685 w 976"/>
                  <a:gd name="T27" fmla="*/ 81 h 416"/>
                  <a:gd name="T28" fmla="*/ 724 w 976"/>
                  <a:gd name="T29" fmla="*/ 159 h 416"/>
                  <a:gd name="T30" fmla="*/ 769 w 976"/>
                  <a:gd name="T31" fmla="*/ 132 h 416"/>
                  <a:gd name="T32" fmla="*/ 829 w 976"/>
                  <a:gd name="T33" fmla="*/ 144 h 416"/>
                  <a:gd name="T34" fmla="*/ 871 w 976"/>
                  <a:gd name="T35" fmla="*/ 156 h 416"/>
                  <a:gd name="T36" fmla="*/ 898 w 976"/>
                  <a:gd name="T37" fmla="*/ 198 h 416"/>
                  <a:gd name="T38" fmla="*/ 922 w 976"/>
                  <a:gd name="T39" fmla="*/ 231 h 416"/>
                  <a:gd name="T40" fmla="*/ 949 w 976"/>
                  <a:gd name="T41" fmla="*/ 240 h 416"/>
                  <a:gd name="T42" fmla="*/ 958 w 976"/>
                  <a:gd name="T43" fmla="*/ 291 h 416"/>
                  <a:gd name="T44" fmla="*/ 973 w 976"/>
                  <a:gd name="T45" fmla="*/ 327 h 416"/>
                  <a:gd name="T46" fmla="*/ 970 w 976"/>
                  <a:gd name="T47" fmla="*/ 414 h 416"/>
                  <a:gd name="T48" fmla="*/ 55 w 976"/>
                  <a:gd name="T49" fmla="*/ 339 h 41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76"/>
                  <a:gd name="T76" fmla="*/ 0 h 416"/>
                  <a:gd name="T77" fmla="*/ 976 w 976"/>
                  <a:gd name="T78" fmla="*/ 416 h 41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76" h="416">
                    <a:moveTo>
                      <a:pt x="31" y="288"/>
                    </a:moveTo>
                    <a:cubicBezTo>
                      <a:pt x="23" y="277"/>
                      <a:pt x="16" y="267"/>
                      <a:pt x="10" y="255"/>
                    </a:cubicBezTo>
                    <a:cubicBezTo>
                      <a:pt x="7" y="240"/>
                      <a:pt x="0" y="225"/>
                      <a:pt x="7" y="210"/>
                    </a:cubicBezTo>
                    <a:cubicBezTo>
                      <a:pt x="20" y="180"/>
                      <a:pt x="75" y="173"/>
                      <a:pt x="100" y="171"/>
                    </a:cubicBezTo>
                    <a:cubicBezTo>
                      <a:pt x="120" y="159"/>
                      <a:pt x="122" y="149"/>
                      <a:pt x="130" y="135"/>
                    </a:cubicBezTo>
                    <a:cubicBezTo>
                      <a:pt x="132" y="106"/>
                      <a:pt x="127" y="98"/>
                      <a:pt x="148" y="84"/>
                    </a:cubicBezTo>
                    <a:cubicBezTo>
                      <a:pt x="158" y="63"/>
                      <a:pt x="174" y="41"/>
                      <a:pt x="196" y="30"/>
                    </a:cubicBezTo>
                    <a:cubicBezTo>
                      <a:pt x="206" y="25"/>
                      <a:pt x="229" y="21"/>
                      <a:pt x="229" y="21"/>
                    </a:cubicBezTo>
                    <a:cubicBezTo>
                      <a:pt x="252" y="27"/>
                      <a:pt x="299" y="58"/>
                      <a:pt x="334" y="63"/>
                    </a:cubicBezTo>
                    <a:cubicBezTo>
                      <a:pt x="366" y="84"/>
                      <a:pt x="410" y="70"/>
                      <a:pt x="442" y="54"/>
                    </a:cubicBezTo>
                    <a:cubicBezTo>
                      <a:pt x="451" y="40"/>
                      <a:pt x="462" y="38"/>
                      <a:pt x="478" y="33"/>
                    </a:cubicBezTo>
                    <a:cubicBezTo>
                      <a:pt x="504" y="24"/>
                      <a:pt x="525" y="7"/>
                      <a:pt x="553" y="0"/>
                    </a:cubicBezTo>
                    <a:cubicBezTo>
                      <a:pt x="567" y="9"/>
                      <a:pt x="572" y="24"/>
                      <a:pt x="589" y="30"/>
                    </a:cubicBezTo>
                    <a:cubicBezTo>
                      <a:pt x="646" y="22"/>
                      <a:pt x="641" y="66"/>
                      <a:pt x="685" y="81"/>
                    </a:cubicBezTo>
                    <a:cubicBezTo>
                      <a:pt x="710" y="100"/>
                      <a:pt x="702" y="152"/>
                      <a:pt x="724" y="159"/>
                    </a:cubicBezTo>
                    <a:cubicBezTo>
                      <a:pt x="738" y="167"/>
                      <a:pt x="752" y="134"/>
                      <a:pt x="769" y="132"/>
                    </a:cubicBezTo>
                    <a:cubicBezTo>
                      <a:pt x="788" y="145"/>
                      <a:pt x="805" y="142"/>
                      <a:pt x="829" y="144"/>
                    </a:cubicBezTo>
                    <a:cubicBezTo>
                      <a:pt x="843" y="149"/>
                      <a:pt x="857" y="152"/>
                      <a:pt x="871" y="156"/>
                    </a:cubicBezTo>
                    <a:cubicBezTo>
                      <a:pt x="875" y="185"/>
                      <a:pt x="876" y="183"/>
                      <a:pt x="898" y="198"/>
                    </a:cubicBezTo>
                    <a:cubicBezTo>
                      <a:pt x="902" y="211"/>
                      <a:pt x="909" y="225"/>
                      <a:pt x="922" y="231"/>
                    </a:cubicBezTo>
                    <a:cubicBezTo>
                      <a:pt x="930" y="238"/>
                      <a:pt x="943" y="230"/>
                      <a:pt x="949" y="240"/>
                    </a:cubicBezTo>
                    <a:cubicBezTo>
                      <a:pt x="963" y="262"/>
                      <a:pt x="952" y="242"/>
                      <a:pt x="958" y="291"/>
                    </a:cubicBezTo>
                    <a:cubicBezTo>
                      <a:pt x="962" y="305"/>
                      <a:pt x="971" y="307"/>
                      <a:pt x="973" y="327"/>
                    </a:cubicBezTo>
                    <a:cubicBezTo>
                      <a:pt x="972" y="356"/>
                      <a:pt x="976" y="386"/>
                      <a:pt x="970" y="414"/>
                    </a:cubicBezTo>
                    <a:cubicBezTo>
                      <a:pt x="817" y="416"/>
                      <a:pt x="207" y="351"/>
                      <a:pt x="55" y="339"/>
                    </a:cubicBezTo>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514" name="Freeform 385"/>
              <p:cNvSpPr>
                <a:spLocks/>
              </p:cNvSpPr>
              <p:nvPr/>
            </p:nvSpPr>
            <p:spPr bwMode="auto">
              <a:xfrm>
                <a:off x="2592" y="1184"/>
                <a:ext cx="1169" cy="449"/>
              </a:xfrm>
              <a:custGeom>
                <a:avLst/>
                <a:gdLst>
                  <a:gd name="T0" fmla="*/ 0 w 1169"/>
                  <a:gd name="T1" fmla="*/ 423 h 449"/>
                  <a:gd name="T2" fmla="*/ 48 w 1169"/>
                  <a:gd name="T3" fmla="*/ 327 h 449"/>
                  <a:gd name="T4" fmla="*/ 63 w 1169"/>
                  <a:gd name="T5" fmla="*/ 324 h 449"/>
                  <a:gd name="T6" fmla="*/ 99 w 1169"/>
                  <a:gd name="T7" fmla="*/ 276 h 449"/>
                  <a:gd name="T8" fmla="*/ 123 w 1169"/>
                  <a:gd name="T9" fmla="*/ 249 h 449"/>
                  <a:gd name="T10" fmla="*/ 162 w 1169"/>
                  <a:gd name="T11" fmla="*/ 216 h 449"/>
                  <a:gd name="T12" fmla="*/ 225 w 1169"/>
                  <a:gd name="T13" fmla="*/ 201 h 449"/>
                  <a:gd name="T14" fmla="*/ 309 w 1169"/>
                  <a:gd name="T15" fmla="*/ 201 h 449"/>
                  <a:gd name="T16" fmla="*/ 276 w 1169"/>
                  <a:gd name="T17" fmla="*/ 171 h 449"/>
                  <a:gd name="T18" fmla="*/ 330 w 1169"/>
                  <a:gd name="T19" fmla="*/ 117 h 449"/>
                  <a:gd name="T20" fmla="*/ 372 w 1169"/>
                  <a:gd name="T21" fmla="*/ 108 h 449"/>
                  <a:gd name="T22" fmla="*/ 402 w 1169"/>
                  <a:gd name="T23" fmla="*/ 102 h 449"/>
                  <a:gd name="T24" fmla="*/ 444 w 1169"/>
                  <a:gd name="T25" fmla="*/ 138 h 449"/>
                  <a:gd name="T26" fmla="*/ 462 w 1169"/>
                  <a:gd name="T27" fmla="*/ 141 h 449"/>
                  <a:gd name="T28" fmla="*/ 525 w 1169"/>
                  <a:gd name="T29" fmla="*/ 174 h 449"/>
                  <a:gd name="T30" fmla="*/ 612 w 1169"/>
                  <a:gd name="T31" fmla="*/ 120 h 449"/>
                  <a:gd name="T32" fmla="*/ 597 w 1169"/>
                  <a:gd name="T33" fmla="*/ 93 h 449"/>
                  <a:gd name="T34" fmla="*/ 648 w 1169"/>
                  <a:gd name="T35" fmla="*/ 60 h 449"/>
                  <a:gd name="T36" fmla="*/ 768 w 1169"/>
                  <a:gd name="T37" fmla="*/ 0 h 449"/>
                  <a:gd name="T38" fmla="*/ 903 w 1169"/>
                  <a:gd name="T39" fmla="*/ 15 h 449"/>
                  <a:gd name="T40" fmla="*/ 924 w 1169"/>
                  <a:gd name="T41" fmla="*/ 24 h 449"/>
                  <a:gd name="T42" fmla="*/ 927 w 1169"/>
                  <a:gd name="T43" fmla="*/ 15 h 449"/>
                  <a:gd name="T44" fmla="*/ 936 w 1169"/>
                  <a:gd name="T45" fmla="*/ 12 h 449"/>
                  <a:gd name="T46" fmla="*/ 978 w 1169"/>
                  <a:gd name="T47" fmla="*/ 99 h 449"/>
                  <a:gd name="T48" fmla="*/ 1032 w 1169"/>
                  <a:gd name="T49" fmla="*/ 165 h 449"/>
                  <a:gd name="T50" fmla="*/ 1086 w 1169"/>
                  <a:gd name="T51" fmla="*/ 186 h 449"/>
                  <a:gd name="T52" fmla="*/ 1161 w 1169"/>
                  <a:gd name="T53" fmla="*/ 255 h 449"/>
                  <a:gd name="T54" fmla="*/ 1143 w 1169"/>
                  <a:gd name="T55" fmla="*/ 288 h 449"/>
                  <a:gd name="T56" fmla="*/ 1167 w 1169"/>
                  <a:gd name="T57" fmla="*/ 393 h 449"/>
                  <a:gd name="T58" fmla="*/ 1074 w 1169"/>
                  <a:gd name="T59" fmla="*/ 441 h 449"/>
                  <a:gd name="T60" fmla="*/ 0 w 1169"/>
                  <a:gd name="T61" fmla="*/ 423 h 4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169"/>
                  <a:gd name="T94" fmla="*/ 0 h 449"/>
                  <a:gd name="T95" fmla="*/ 1169 w 1169"/>
                  <a:gd name="T96" fmla="*/ 449 h 44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169" h="449">
                    <a:moveTo>
                      <a:pt x="0" y="423"/>
                    </a:moveTo>
                    <a:cubicBezTo>
                      <a:pt x="16" y="391"/>
                      <a:pt x="28" y="357"/>
                      <a:pt x="48" y="327"/>
                    </a:cubicBezTo>
                    <a:cubicBezTo>
                      <a:pt x="83" y="275"/>
                      <a:pt x="45" y="379"/>
                      <a:pt x="63" y="324"/>
                    </a:cubicBezTo>
                    <a:cubicBezTo>
                      <a:pt x="68" y="272"/>
                      <a:pt x="67" y="297"/>
                      <a:pt x="99" y="276"/>
                    </a:cubicBezTo>
                    <a:cubicBezTo>
                      <a:pt x="109" y="264"/>
                      <a:pt x="112" y="259"/>
                      <a:pt x="123" y="249"/>
                    </a:cubicBezTo>
                    <a:cubicBezTo>
                      <a:pt x="137" y="239"/>
                      <a:pt x="150" y="228"/>
                      <a:pt x="162" y="216"/>
                    </a:cubicBezTo>
                    <a:cubicBezTo>
                      <a:pt x="121" y="188"/>
                      <a:pt x="114" y="197"/>
                      <a:pt x="225" y="201"/>
                    </a:cubicBezTo>
                    <a:cubicBezTo>
                      <a:pt x="257" y="209"/>
                      <a:pt x="252" y="209"/>
                      <a:pt x="309" y="201"/>
                    </a:cubicBezTo>
                    <a:cubicBezTo>
                      <a:pt x="317" y="196"/>
                      <a:pt x="272" y="185"/>
                      <a:pt x="276" y="171"/>
                    </a:cubicBezTo>
                    <a:cubicBezTo>
                      <a:pt x="276" y="110"/>
                      <a:pt x="281" y="122"/>
                      <a:pt x="330" y="117"/>
                    </a:cubicBezTo>
                    <a:cubicBezTo>
                      <a:pt x="345" y="115"/>
                      <a:pt x="358" y="113"/>
                      <a:pt x="372" y="108"/>
                    </a:cubicBezTo>
                    <a:cubicBezTo>
                      <a:pt x="381" y="101"/>
                      <a:pt x="389" y="91"/>
                      <a:pt x="402" y="102"/>
                    </a:cubicBezTo>
                    <a:cubicBezTo>
                      <a:pt x="431" y="126"/>
                      <a:pt x="410" y="132"/>
                      <a:pt x="444" y="138"/>
                    </a:cubicBezTo>
                    <a:cubicBezTo>
                      <a:pt x="450" y="139"/>
                      <a:pt x="456" y="140"/>
                      <a:pt x="462" y="141"/>
                    </a:cubicBezTo>
                    <a:cubicBezTo>
                      <a:pt x="476" y="147"/>
                      <a:pt x="500" y="177"/>
                      <a:pt x="525" y="174"/>
                    </a:cubicBezTo>
                    <a:cubicBezTo>
                      <a:pt x="560" y="170"/>
                      <a:pt x="595" y="153"/>
                      <a:pt x="612" y="120"/>
                    </a:cubicBezTo>
                    <a:cubicBezTo>
                      <a:pt x="608" y="106"/>
                      <a:pt x="601" y="106"/>
                      <a:pt x="597" y="93"/>
                    </a:cubicBezTo>
                    <a:cubicBezTo>
                      <a:pt x="602" y="62"/>
                      <a:pt x="622" y="69"/>
                      <a:pt x="648" y="60"/>
                    </a:cubicBezTo>
                    <a:cubicBezTo>
                      <a:pt x="685" y="23"/>
                      <a:pt x="715" y="5"/>
                      <a:pt x="768" y="0"/>
                    </a:cubicBezTo>
                    <a:cubicBezTo>
                      <a:pt x="826" y="2"/>
                      <a:pt x="852" y="10"/>
                      <a:pt x="903" y="15"/>
                    </a:cubicBezTo>
                    <a:cubicBezTo>
                      <a:pt x="910" y="18"/>
                      <a:pt x="917" y="27"/>
                      <a:pt x="924" y="24"/>
                    </a:cubicBezTo>
                    <a:cubicBezTo>
                      <a:pt x="927" y="23"/>
                      <a:pt x="924" y="16"/>
                      <a:pt x="927" y="15"/>
                    </a:cubicBezTo>
                    <a:cubicBezTo>
                      <a:pt x="930" y="14"/>
                      <a:pt x="933" y="13"/>
                      <a:pt x="936" y="12"/>
                    </a:cubicBezTo>
                    <a:cubicBezTo>
                      <a:pt x="959" y="35"/>
                      <a:pt x="970" y="68"/>
                      <a:pt x="978" y="99"/>
                    </a:cubicBezTo>
                    <a:cubicBezTo>
                      <a:pt x="982" y="152"/>
                      <a:pt x="985" y="151"/>
                      <a:pt x="1032" y="165"/>
                    </a:cubicBezTo>
                    <a:cubicBezTo>
                      <a:pt x="1050" y="179"/>
                      <a:pt x="1065" y="171"/>
                      <a:pt x="1086" y="186"/>
                    </a:cubicBezTo>
                    <a:cubicBezTo>
                      <a:pt x="1105" y="214"/>
                      <a:pt x="1139" y="228"/>
                      <a:pt x="1161" y="255"/>
                    </a:cubicBezTo>
                    <a:cubicBezTo>
                      <a:pt x="1169" y="286"/>
                      <a:pt x="1169" y="271"/>
                      <a:pt x="1143" y="288"/>
                    </a:cubicBezTo>
                    <a:cubicBezTo>
                      <a:pt x="1131" y="324"/>
                      <a:pt x="1151" y="361"/>
                      <a:pt x="1167" y="393"/>
                    </a:cubicBezTo>
                    <a:cubicBezTo>
                      <a:pt x="1161" y="449"/>
                      <a:pt x="1133" y="439"/>
                      <a:pt x="1074" y="441"/>
                    </a:cubicBezTo>
                    <a:cubicBezTo>
                      <a:pt x="880" y="446"/>
                      <a:pt x="171" y="442"/>
                      <a:pt x="0" y="423"/>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515" name="Freeform 386"/>
              <p:cNvSpPr>
                <a:spLocks/>
              </p:cNvSpPr>
              <p:nvPr/>
            </p:nvSpPr>
            <p:spPr bwMode="auto">
              <a:xfrm>
                <a:off x="1584" y="1344"/>
                <a:ext cx="2224" cy="453"/>
              </a:xfrm>
              <a:custGeom>
                <a:avLst/>
                <a:gdLst>
                  <a:gd name="T0" fmla="*/ 118 w 2224"/>
                  <a:gd name="T1" fmla="*/ 75 h 453"/>
                  <a:gd name="T2" fmla="*/ 214 w 2224"/>
                  <a:gd name="T3" fmla="*/ 96 h 453"/>
                  <a:gd name="T4" fmla="*/ 322 w 2224"/>
                  <a:gd name="T5" fmla="*/ 18 h 453"/>
                  <a:gd name="T6" fmla="*/ 367 w 2224"/>
                  <a:gd name="T7" fmla="*/ 84 h 453"/>
                  <a:gd name="T8" fmla="*/ 520 w 2224"/>
                  <a:gd name="T9" fmla="*/ 93 h 453"/>
                  <a:gd name="T10" fmla="*/ 574 w 2224"/>
                  <a:gd name="T11" fmla="*/ 153 h 453"/>
                  <a:gd name="T12" fmla="*/ 721 w 2224"/>
                  <a:gd name="T13" fmla="*/ 159 h 453"/>
                  <a:gd name="T14" fmla="*/ 817 w 2224"/>
                  <a:gd name="T15" fmla="*/ 126 h 453"/>
                  <a:gd name="T16" fmla="*/ 958 w 2224"/>
                  <a:gd name="T17" fmla="*/ 207 h 453"/>
                  <a:gd name="T18" fmla="*/ 1231 w 2224"/>
                  <a:gd name="T19" fmla="*/ 255 h 453"/>
                  <a:gd name="T20" fmla="*/ 1318 w 2224"/>
                  <a:gd name="T21" fmla="*/ 213 h 453"/>
                  <a:gd name="T22" fmla="*/ 1384 w 2224"/>
                  <a:gd name="T23" fmla="*/ 219 h 453"/>
                  <a:gd name="T24" fmla="*/ 1459 w 2224"/>
                  <a:gd name="T25" fmla="*/ 192 h 453"/>
                  <a:gd name="T26" fmla="*/ 1495 w 2224"/>
                  <a:gd name="T27" fmla="*/ 144 h 453"/>
                  <a:gd name="T28" fmla="*/ 1600 w 2224"/>
                  <a:gd name="T29" fmla="*/ 102 h 453"/>
                  <a:gd name="T30" fmla="*/ 1714 w 2224"/>
                  <a:gd name="T31" fmla="*/ 165 h 453"/>
                  <a:gd name="T32" fmla="*/ 1786 w 2224"/>
                  <a:gd name="T33" fmla="*/ 147 h 453"/>
                  <a:gd name="T34" fmla="*/ 1801 w 2224"/>
                  <a:gd name="T35" fmla="*/ 45 h 453"/>
                  <a:gd name="T36" fmla="*/ 1864 w 2224"/>
                  <a:gd name="T37" fmla="*/ 42 h 453"/>
                  <a:gd name="T38" fmla="*/ 1954 w 2224"/>
                  <a:gd name="T39" fmla="*/ 153 h 453"/>
                  <a:gd name="T40" fmla="*/ 2170 w 2224"/>
                  <a:gd name="T41" fmla="*/ 168 h 453"/>
                  <a:gd name="T42" fmla="*/ 2167 w 2224"/>
                  <a:gd name="T43" fmla="*/ 252 h 453"/>
                  <a:gd name="T44" fmla="*/ 2086 w 2224"/>
                  <a:gd name="T45" fmla="*/ 300 h 453"/>
                  <a:gd name="T46" fmla="*/ 1876 w 2224"/>
                  <a:gd name="T47" fmla="*/ 381 h 453"/>
                  <a:gd name="T48" fmla="*/ 1642 w 2224"/>
                  <a:gd name="T49" fmla="*/ 381 h 453"/>
                  <a:gd name="T50" fmla="*/ 1390 w 2224"/>
                  <a:gd name="T51" fmla="*/ 387 h 453"/>
                  <a:gd name="T52" fmla="*/ 1231 w 2224"/>
                  <a:gd name="T53" fmla="*/ 390 h 453"/>
                  <a:gd name="T54" fmla="*/ 976 w 2224"/>
                  <a:gd name="T55" fmla="*/ 408 h 453"/>
                  <a:gd name="T56" fmla="*/ 847 w 2224"/>
                  <a:gd name="T57" fmla="*/ 435 h 453"/>
                  <a:gd name="T58" fmla="*/ 685 w 2224"/>
                  <a:gd name="T59" fmla="*/ 450 h 453"/>
                  <a:gd name="T60" fmla="*/ 550 w 2224"/>
                  <a:gd name="T61" fmla="*/ 378 h 453"/>
                  <a:gd name="T62" fmla="*/ 388 w 2224"/>
                  <a:gd name="T63" fmla="*/ 297 h 453"/>
                  <a:gd name="T64" fmla="*/ 274 w 2224"/>
                  <a:gd name="T65" fmla="*/ 228 h 453"/>
                  <a:gd name="T66" fmla="*/ 133 w 2224"/>
                  <a:gd name="T67" fmla="*/ 192 h 453"/>
                  <a:gd name="T68" fmla="*/ 10 w 2224"/>
                  <a:gd name="T69" fmla="*/ 180 h 453"/>
                  <a:gd name="T70" fmla="*/ 52 w 2224"/>
                  <a:gd name="T71" fmla="*/ 135 h 45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224"/>
                  <a:gd name="T109" fmla="*/ 0 h 453"/>
                  <a:gd name="T110" fmla="*/ 2224 w 2224"/>
                  <a:gd name="T111" fmla="*/ 453 h 45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224" h="453">
                    <a:moveTo>
                      <a:pt x="52" y="135"/>
                    </a:moveTo>
                    <a:cubicBezTo>
                      <a:pt x="70" y="123"/>
                      <a:pt x="96" y="81"/>
                      <a:pt x="118" y="75"/>
                    </a:cubicBezTo>
                    <a:cubicBezTo>
                      <a:pt x="156" y="78"/>
                      <a:pt x="157" y="86"/>
                      <a:pt x="187" y="96"/>
                    </a:cubicBezTo>
                    <a:cubicBezTo>
                      <a:pt x="196" y="110"/>
                      <a:pt x="202" y="104"/>
                      <a:pt x="214" y="96"/>
                    </a:cubicBezTo>
                    <a:cubicBezTo>
                      <a:pt x="224" y="81"/>
                      <a:pt x="224" y="58"/>
                      <a:pt x="235" y="45"/>
                    </a:cubicBezTo>
                    <a:cubicBezTo>
                      <a:pt x="249" y="27"/>
                      <a:pt x="301" y="20"/>
                      <a:pt x="322" y="18"/>
                    </a:cubicBezTo>
                    <a:cubicBezTo>
                      <a:pt x="344" y="11"/>
                      <a:pt x="361" y="0"/>
                      <a:pt x="370" y="0"/>
                    </a:cubicBezTo>
                    <a:cubicBezTo>
                      <a:pt x="377" y="11"/>
                      <a:pt x="348" y="72"/>
                      <a:pt x="367" y="84"/>
                    </a:cubicBezTo>
                    <a:cubicBezTo>
                      <a:pt x="414" y="81"/>
                      <a:pt x="448" y="79"/>
                      <a:pt x="484" y="72"/>
                    </a:cubicBezTo>
                    <a:cubicBezTo>
                      <a:pt x="509" y="73"/>
                      <a:pt x="517" y="83"/>
                      <a:pt x="520" y="93"/>
                    </a:cubicBezTo>
                    <a:cubicBezTo>
                      <a:pt x="524" y="108"/>
                      <a:pt x="501" y="121"/>
                      <a:pt x="505" y="135"/>
                    </a:cubicBezTo>
                    <a:cubicBezTo>
                      <a:pt x="508" y="144"/>
                      <a:pt x="564" y="151"/>
                      <a:pt x="574" y="153"/>
                    </a:cubicBezTo>
                    <a:cubicBezTo>
                      <a:pt x="598" y="155"/>
                      <a:pt x="628" y="146"/>
                      <a:pt x="652" y="147"/>
                    </a:cubicBezTo>
                    <a:cubicBezTo>
                      <a:pt x="672" y="140"/>
                      <a:pt x="703" y="163"/>
                      <a:pt x="721" y="159"/>
                    </a:cubicBezTo>
                    <a:cubicBezTo>
                      <a:pt x="733" y="160"/>
                      <a:pt x="745" y="165"/>
                      <a:pt x="757" y="165"/>
                    </a:cubicBezTo>
                    <a:cubicBezTo>
                      <a:pt x="778" y="165"/>
                      <a:pt x="797" y="130"/>
                      <a:pt x="817" y="126"/>
                    </a:cubicBezTo>
                    <a:cubicBezTo>
                      <a:pt x="886" y="99"/>
                      <a:pt x="853" y="77"/>
                      <a:pt x="904" y="60"/>
                    </a:cubicBezTo>
                    <a:cubicBezTo>
                      <a:pt x="929" y="66"/>
                      <a:pt x="964" y="117"/>
                      <a:pt x="958" y="207"/>
                    </a:cubicBezTo>
                    <a:cubicBezTo>
                      <a:pt x="1054" y="63"/>
                      <a:pt x="1057" y="250"/>
                      <a:pt x="1198" y="180"/>
                    </a:cubicBezTo>
                    <a:cubicBezTo>
                      <a:pt x="1242" y="195"/>
                      <a:pt x="1216" y="246"/>
                      <a:pt x="1231" y="255"/>
                    </a:cubicBezTo>
                    <a:cubicBezTo>
                      <a:pt x="1249" y="244"/>
                      <a:pt x="1267" y="236"/>
                      <a:pt x="1288" y="231"/>
                    </a:cubicBezTo>
                    <a:cubicBezTo>
                      <a:pt x="1298" y="223"/>
                      <a:pt x="1308" y="220"/>
                      <a:pt x="1318" y="213"/>
                    </a:cubicBezTo>
                    <a:cubicBezTo>
                      <a:pt x="1328" y="198"/>
                      <a:pt x="1343" y="177"/>
                      <a:pt x="1360" y="171"/>
                    </a:cubicBezTo>
                    <a:cubicBezTo>
                      <a:pt x="1371" y="187"/>
                      <a:pt x="1367" y="208"/>
                      <a:pt x="1384" y="219"/>
                    </a:cubicBezTo>
                    <a:cubicBezTo>
                      <a:pt x="1401" y="218"/>
                      <a:pt x="1418" y="219"/>
                      <a:pt x="1435" y="216"/>
                    </a:cubicBezTo>
                    <a:cubicBezTo>
                      <a:pt x="1447" y="214"/>
                      <a:pt x="1446" y="195"/>
                      <a:pt x="1459" y="192"/>
                    </a:cubicBezTo>
                    <a:cubicBezTo>
                      <a:pt x="1470" y="190"/>
                      <a:pt x="1481" y="190"/>
                      <a:pt x="1492" y="189"/>
                    </a:cubicBezTo>
                    <a:cubicBezTo>
                      <a:pt x="1493" y="174"/>
                      <a:pt x="1497" y="159"/>
                      <a:pt x="1495" y="144"/>
                    </a:cubicBezTo>
                    <a:cubicBezTo>
                      <a:pt x="1506" y="129"/>
                      <a:pt x="1543" y="106"/>
                      <a:pt x="1561" y="99"/>
                    </a:cubicBezTo>
                    <a:cubicBezTo>
                      <a:pt x="1574" y="100"/>
                      <a:pt x="1587" y="99"/>
                      <a:pt x="1600" y="102"/>
                    </a:cubicBezTo>
                    <a:cubicBezTo>
                      <a:pt x="1614" y="106"/>
                      <a:pt x="1620" y="133"/>
                      <a:pt x="1633" y="141"/>
                    </a:cubicBezTo>
                    <a:cubicBezTo>
                      <a:pt x="1656" y="154"/>
                      <a:pt x="1687" y="161"/>
                      <a:pt x="1714" y="165"/>
                    </a:cubicBezTo>
                    <a:cubicBezTo>
                      <a:pt x="1733" y="164"/>
                      <a:pt x="1752" y="165"/>
                      <a:pt x="1771" y="162"/>
                    </a:cubicBezTo>
                    <a:cubicBezTo>
                      <a:pt x="1781" y="161"/>
                      <a:pt x="1780" y="152"/>
                      <a:pt x="1786" y="147"/>
                    </a:cubicBezTo>
                    <a:cubicBezTo>
                      <a:pt x="1791" y="142"/>
                      <a:pt x="1804" y="135"/>
                      <a:pt x="1804" y="135"/>
                    </a:cubicBezTo>
                    <a:cubicBezTo>
                      <a:pt x="1803" y="105"/>
                      <a:pt x="1801" y="75"/>
                      <a:pt x="1801" y="45"/>
                    </a:cubicBezTo>
                    <a:cubicBezTo>
                      <a:pt x="1801" y="37"/>
                      <a:pt x="1798" y="26"/>
                      <a:pt x="1804" y="21"/>
                    </a:cubicBezTo>
                    <a:cubicBezTo>
                      <a:pt x="1804" y="21"/>
                      <a:pt x="1854" y="34"/>
                      <a:pt x="1864" y="42"/>
                    </a:cubicBezTo>
                    <a:cubicBezTo>
                      <a:pt x="1883" y="57"/>
                      <a:pt x="1916" y="91"/>
                      <a:pt x="1924" y="114"/>
                    </a:cubicBezTo>
                    <a:cubicBezTo>
                      <a:pt x="1929" y="130"/>
                      <a:pt x="1939" y="144"/>
                      <a:pt x="1954" y="153"/>
                    </a:cubicBezTo>
                    <a:cubicBezTo>
                      <a:pt x="1975" y="166"/>
                      <a:pt x="1994" y="163"/>
                      <a:pt x="2020" y="165"/>
                    </a:cubicBezTo>
                    <a:cubicBezTo>
                      <a:pt x="2062" y="193"/>
                      <a:pt x="2170" y="168"/>
                      <a:pt x="2170" y="168"/>
                    </a:cubicBezTo>
                    <a:cubicBezTo>
                      <a:pt x="2213" y="172"/>
                      <a:pt x="2214" y="180"/>
                      <a:pt x="2224" y="219"/>
                    </a:cubicBezTo>
                    <a:cubicBezTo>
                      <a:pt x="2218" y="237"/>
                      <a:pt x="2185" y="246"/>
                      <a:pt x="2167" y="252"/>
                    </a:cubicBezTo>
                    <a:cubicBezTo>
                      <a:pt x="2155" y="264"/>
                      <a:pt x="2141" y="274"/>
                      <a:pt x="2125" y="279"/>
                    </a:cubicBezTo>
                    <a:cubicBezTo>
                      <a:pt x="2097" y="300"/>
                      <a:pt x="2111" y="295"/>
                      <a:pt x="2086" y="300"/>
                    </a:cubicBezTo>
                    <a:cubicBezTo>
                      <a:pt x="2060" y="317"/>
                      <a:pt x="2026" y="354"/>
                      <a:pt x="1996" y="357"/>
                    </a:cubicBezTo>
                    <a:cubicBezTo>
                      <a:pt x="1956" y="370"/>
                      <a:pt x="1917" y="373"/>
                      <a:pt x="1876" y="381"/>
                    </a:cubicBezTo>
                    <a:cubicBezTo>
                      <a:pt x="1833" y="410"/>
                      <a:pt x="1761" y="378"/>
                      <a:pt x="1711" y="390"/>
                    </a:cubicBezTo>
                    <a:cubicBezTo>
                      <a:pt x="1650" y="384"/>
                      <a:pt x="1673" y="389"/>
                      <a:pt x="1642" y="381"/>
                    </a:cubicBezTo>
                    <a:cubicBezTo>
                      <a:pt x="1610" y="361"/>
                      <a:pt x="1609" y="366"/>
                      <a:pt x="1573" y="354"/>
                    </a:cubicBezTo>
                    <a:cubicBezTo>
                      <a:pt x="1552" y="417"/>
                      <a:pt x="1441" y="385"/>
                      <a:pt x="1390" y="387"/>
                    </a:cubicBezTo>
                    <a:cubicBezTo>
                      <a:pt x="1344" y="384"/>
                      <a:pt x="1321" y="340"/>
                      <a:pt x="1294" y="336"/>
                    </a:cubicBezTo>
                    <a:cubicBezTo>
                      <a:pt x="1268" y="340"/>
                      <a:pt x="1254" y="379"/>
                      <a:pt x="1231" y="390"/>
                    </a:cubicBezTo>
                    <a:cubicBezTo>
                      <a:pt x="1200" y="405"/>
                      <a:pt x="1154" y="386"/>
                      <a:pt x="1120" y="396"/>
                    </a:cubicBezTo>
                    <a:cubicBezTo>
                      <a:pt x="1075" y="409"/>
                      <a:pt x="1020" y="406"/>
                      <a:pt x="976" y="408"/>
                    </a:cubicBezTo>
                    <a:cubicBezTo>
                      <a:pt x="945" y="410"/>
                      <a:pt x="914" y="413"/>
                      <a:pt x="883" y="417"/>
                    </a:cubicBezTo>
                    <a:cubicBezTo>
                      <a:pt x="870" y="421"/>
                      <a:pt x="859" y="430"/>
                      <a:pt x="847" y="435"/>
                    </a:cubicBezTo>
                    <a:cubicBezTo>
                      <a:pt x="822" y="446"/>
                      <a:pt x="797" y="450"/>
                      <a:pt x="769" y="453"/>
                    </a:cubicBezTo>
                    <a:cubicBezTo>
                      <a:pt x="741" y="452"/>
                      <a:pt x="713" y="452"/>
                      <a:pt x="685" y="450"/>
                    </a:cubicBezTo>
                    <a:cubicBezTo>
                      <a:pt x="661" y="449"/>
                      <a:pt x="637" y="434"/>
                      <a:pt x="613" y="429"/>
                    </a:cubicBezTo>
                    <a:cubicBezTo>
                      <a:pt x="591" y="417"/>
                      <a:pt x="570" y="390"/>
                      <a:pt x="550" y="378"/>
                    </a:cubicBezTo>
                    <a:cubicBezTo>
                      <a:pt x="525" y="353"/>
                      <a:pt x="545" y="361"/>
                      <a:pt x="490" y="357"/>
                    </a:cubicBezTo>
                    <a:cubicBezTo>
                      <a:pt x="466" y="339"/>
                      <a:pt x="415" y="325"/>
                      <a:pt x="388" y="297"/>
                    </a:cubicBezTo>
                    <a:cubicBezTo>
                      <a:pt x="361" y="269"/>
                      <a:pt x="343" y="201"/>
                      <a:pt x="328" y="189"/>
                    </a:cubicBezTo>
                    <a:cubicBezTo>
                      <a:pt x="309" y="178"/>
                      <a:pt x="300" y="223"/>
                      <a:pt x="274" y="228"/>
                    </a:cubicBezTo>
                    <a:cubicBezTo>
                      <a:pt x="235" y="226"/>
                      <a:pt x="207" y="226"/>
                      <a:pt x="172" y="219"/>
                    </a:cubicBezTo>
                    <a:cubicBezTo>
                      <a:pt x="156" y="211"/>
                      <a:pt x="150" y="196"/>
                      <a:pt x="133" y="192"/>
                    </a:cubicBezTo>
                    <a:cubicBezTo>
                      <a:pt x="98" y="199"/>
                      <a:pt x="76" y="197"/>
                      <a:pt x="37" y="195"/>
                    </a:cubicBezTo>
                    <a:cubicBezTo>
                      <a:pt x="25" y="192"/>
                      <a:pt x="15" y="192"/>
                      <a:pt x="10" y="180"/>
                    </a:cubicBezTo>
                    <a:cubicBezTo>
                      <a:pt x="5" y="172"/>
                      <a:pt x="0" y="154"/>
                      <a:pt x="7" y="147"/>
                    </a:cubicBezTo>
                    <a:cubicBezTo>
                      <a:pt x="12" y="140"/>
                      <a:pt x="41" y="131"/>
                      <a:pt x="52" y="135"/>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516" name="Freeform 387"/>
              <p:cNvSpPr>
                <a:spLocks/>
              </p:cNvSpPr>
              <p:nvPr/>
            </p:nvSpPr>
            <p:spPr bwMode="auto">
              <a:xfrm>
                <a:off x="1968" y="1136"/>
                <a:ext cx="415" cy="295"/>
              </a:xfrm>
              <a:custGeom>
                <a:avLst/>
                <a:gdLst>
                  <a:gd name="T0" fmla="*/ 73 w 415"/>
                  <a:gd name="T1" fmla="*/ 247 h 295"/>
                  <a:gd name="T2" fmla="*/ 13 w 415"/>
                  <a:gd name="T3" fmla="*/ 193 h 295"/>
                  <a:gd name="T4" fmla="*/ 58 w 415"/>
                  <a:gd name="T5" fmla="*/ 154 h 295"/>
                  <a:gd name="T6" fmla="*/ 82 w 415"/>
                  <a:gd name="T7" fmla="*/ 124 h 295"/>
                  <a:gd name="T8" fmla="*/ 163 w 415"/>
                  <a:gd name="T9" fmla="*/ 43 h 295"/>
                  <a:gd name="T10" fmla="*/ 196 w 415"/>
                  <a:gd name="T11" fmla="*/ 10 h 295"/>
                  <a:gd name="T12" fmla="*/ 235 w 415"/>
                  <a:gd name="T13" fmla="*/ 106 h 295"/>
                  <a:gd name="T14" fmla="*/ 349 w 415"/>
                  <a:gd name="T15" fmla="*/ 157 h 295"/>
                  <a:gd name="T16" fmla="*/ 397 w 415"/>
                  <a:gd name="T17" fmla="*/ 211 h 295"/>
                  <a:gd name="T18" fmla="*/ 241 w 415"/>
                  <a:gd name="T19" fmla="*/ 244 h 295"/>
                  <a:gd name="T20" fmla="*/ 145 w 415"/>
                  <a:gd name="T21" fmla="*/ 256 h 295"/>
                  <a:gd name="T22" fmla="*/ 73 w 415"/>
                  <a:gd name="T23" fmla="*/ 247 h 2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5"/>
                  <a:gd name="T37" fmla="*/ 0 h 295"/>
                  <a:gd name="T38" fmla="*/ 415 w 415"/>
                  <a:gd name="T39" fmla="*/ 295 h 2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5" h="295">
                    <a:moveTo>
                      <a:pt x="73" y="247"/>
                    </a:moveTo>
                    <a:cubicBezTo>
                      <a:pt x="51" y="237"/>
                      <a:pt x="15" y="208"/>
                      <a:pt x="13" y="193"/>
                    </a:cubicBezTo>
                    <a:cubicBezTo>
                      <a:pt x="0" y="154"/>
                      <a:pt x="23" y="158"/>
                      <a:pt x="58" y="154"/>
                    </a:cubicBezTo>
                    <a:cubicBezTo>
                      <a:pt x="65" y="143"/>
                      <a:pt x="73" y="133"/>
                      <a:pt x="82" y="124"/>
                    </a:cubicBezTo>
                    <a:cubicBezTo>
                      <a:pt x="93" y="92"/>
                      <a:pt x="133" y="56"/>
                      <a:pt x="163" y="43"/>
                    </a:cubicBezTo>
                    <a:cubicBezTo>
                      <a:pt x="182" y="24"/>
                      <a:pt x="184" y="0"/>
                      <a:pt x="196" y="10"/>
                    </a:cubicBezTo>
                    <a:cubicBezTo>
                      <a:pt x="228" y="31"/>
                      <a:pt x="209" y="80"/>
                      <a:pt x="235" y="106"/>
                    </a:cubicBezTo>
                    <a:cubicBezTo>
                      <a:pt x="265" y="136"/>
                      <a:pt x="311" y="142"/>
                      <a:pt x="349" y="157"/>
                    </a:cubicBezTo>
                    <a:cubicBezTo>
                      <a:pt x="376" y="175"/>
                      <a:pt x="415" y="197"/>
                      <a:pt x="397" y="211"/>
                    </a:cubicBezTo>
                    <a:cubicBezTo>
                      <a:pt x="409" y="295"/>
                      <a:pt x="363" y="246"/>
                      <a:pt x="241" y="244"/>
                    </a:cubicBezTo>
                    <a:cubicBezTo>
                      <a:pt x="199" y="251"/>
                      <a:pt x="173" y="255"/>
                      <a:pt x="145" y="256"/>
                    </a:cubicBezTo>
                    <a:cubicBezTo>
                      <a:pt x="118" y="254"/>
                      <a:pt x="99" y="250"/>
                      <a:pt x="73" y="247"/>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6517" name="Freeform 388"/>
              <p:cNvSpPr>
                <a:spLocks/>
              </p:cNvSpPr>
              <p:nvPr/>
            </p:nvSpPr>
            <p:spPr bwMode="auto">
              <a:xfrm>
                <a:off x="2476" y="1104"/>
                <a:ext cx="905" cy="292"/>
              </a:xfrm>
              <a:custGeom>
                <a:avLst/>
                <a:gdLst>
                  <a:gd name="T0" fmla="*/ 71 w 905"/>
                  <a:gd name="T1" fmla="*/ 278 h 292"/>
                  <a:gd name="T2" fmla="*/ 173 w 905"/>
                  <a:gd name="T3" fmla="*/ 278 h 292"/>
                  <a:gd name="T4" fmla="*/ 287 w 905"/>
                  <a:gd name="T5" fmla="*/ 266 h 292"/>
                  <a:gd name="T6" fmla="*/ 314 w 905"/>
                  <a:gd name="T7" fmla="*/ 290 h 292"/>
                  <a:gd name="T8" fmla="*/ 410 w 905"/>
                  <a:gd name="T9" fmla="*/ 281 h 292"/>
                  <a:gd name="T10" fmla="*/ 461 w 905"/>
                  <a:gd name="T11" fmla="*/ 239 h 292"/>
                  <a:gd name="T12" fmla="*/ 503 w 905"/>
                  <a:gd name="T13" fmla="*/ 236 h 292"/>
                  <a:gd name="T14" fmla="*/ 704 w 905"/>
                  <a:gd name="T15" fmla="*/ 227 h 292"/>
                  <a:gd name="T16" fmla="*/ 761 w 905"/>
                  <a:gd name="T17" fmla="*/ 197 h 292"/>
                  <a:gd name="T18" fmla="*/ 785 w 905"/>
                  <a:gd name="T19" fmla="*/ 158 h 292"/>
                  <a:gd name="T20" fmla="*/ 905 w 905"/>
                  <a:gd name="T21" fmla="*/ 104 h 292"/>
                  <a:gd name="T22" fmla="*/ 833 w 905"/>
                  <a:gd name="T23" fmla="*/ 32 h 292"/>
                  <a:gd name="T24" fmla="*/ 779 w 905"/>
                  <a:gd name="T25" fmla="*/ 11 h 292"/>
                  <a:gd name="T26" fmla="*/ 737 w 905"/>
                  <a:gd name="T27" fmla="*/ 8 h 292"/>
                  <a:gd name="T28" fmla="*/ 698 w 905"/>
                  <a:gd name="T29" fmla="*/ 35 h 292"/>
                  <a:gd name="T30" fmla="*/ 641 w 905"/>
                  <a:gd name="T31" fmla="*/ 50 h 292"/>
                  <a:gd name="T32" fmla="*/ 566 w 905"/>
                  <a:gd name="T33" fmla="*/ 41 h 292"/>
                  <a:gd name="T34" fmla="*/ 536 w 905"/>
                  <a:gd name="T35" fmla="*/ 26 h 292"/>
                  <a:gd name="T36" fmla="*/ 473 w 905"/>
                  <a:gd name="T37" fmla="*/ 17 h 292"/>
                  <a:gd name="T38" fmla="*/ 440 w 905"/>
                  <a:gd name="T39" fmla="*/ 14 h 292"/>
                  <a:gd name="T40" fmla="*/ 428 w 905"/>
                  <a:gd name="T41" fmla="*/ 62 h 292"/>
                  <a:gd name="T42" fmla="*/ 392 w 905"/>
                  <a:gd name="T43" fmla="*/ 65 h 292"/>
                  <a:gd name="T44" fmla="*/ 350 w 905"/>
                  <a:gd name="T45" fmla="*/ 83 h 292"/>
                  <a:gd name="T46" fmla="*/ 332 w 905"/>
                  <a:gd name="T47" fmla="*/ 92 h 292"/>
                  <a:gd name="T48" fmla="*/ 302 w 905"/>
                  <a:gd name="T49" fmla="*/ 116 h 292"/>
                  <a:gd name="T50" fmla="*/ 254 w 905"/>
                  <a:gd name="T51" fmla="*/ 188 h 292"/>
                  <a:gd name="T52" fmla="*/ 188 w 905"/>
                  <a:gd name="T53" fmla="*/ 170 h 292"/>
                  <a:gd name="T54" fmla="*/ 104 w 905"/>
                  <a:gd name="T55" fmla="*/ 194 h 292"/>
                  <a:gd name="T56" fmla="*/ 8 w 905"/>
                  <a:gd name="T57" fmla="*/ 203 h 292"/>
                  <a:gd name="T58" fmla="*/ 23 w 905"/>
                  <a:gd name="T59" fmla="*/ 281 h 292"/>
                  <a:gd name="T60" fmla="*/ 71 w 905"/>
                  <a:gd name="T61" fmla="*/ 278 h 29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05"/>
                  <a:gd name="T94" fmla="*/ 0 h 292"/>
                  <a:gd name="T95" fmla="*/ 905 w 905"/>
                  <a:gd name="T96" fmla="*/ 292 h 29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05" h="292">
                    <a:moveTo>
                      <a:pt x="71" y="278"/>
                    </a:moveTo>
                    <a:cubicBezTo>
                      <a:pt x="111" y="288"/>
                      <a:pt x="91" y="284"/>
                      <a:pt x="173" y="278"/>
                    </a:cubicBezTo>
                    <a:cubicBezTo>
                      <a:pt x="211" y="275"/>
                      <a:pt x="287" y="266"/>
                      <a:pt x="287" y="266"/>
                    </a:cubicBezTo>
                    <a:cubicBezTo>
                      <a:pt x="306" y="260"/>
                      <a:pt x="291" y="278"/>
                      <a:pt x="314" y="290"/>
                    </a:cubicBezTo>
                    <a:cubicBezTo>
                      <a:pt x="333" y="289"/>
                      <a:pt x="388" y="292"/>
                      <a:pt x="410" y="281"/>
                    </a:cubicBezTo>
                    <a:cubicBezTo>
                      <a:pt x="429" y="271"/>
                      <a:pt x="437" y="243"/>
                      <a:pt x="461" y="239"/>
                    </a:cubicBezTo>
                    <a:cubicBezTo>
                      <a:pt x="475" y="237"/>
                      <a:pt x="489" y="237"/>
                      <a:pt x="503" y="236"/>
                    </a:cubicBezTo>
                    <a:cubicBezTo>
                      <a:pt x="567" y="225"/>
                      <a:pt x="641" y="229"/>
                      <a:pt x="704" y="227"/>
                    </a:cubicBezTo>
                    <a:cubicBezTo>
                      <a:pt x="725" y="222"/>
                      <a:pt x="742" y="207"/>
                      <a:pt x="761" y="197"/>
                    </a:cubicBezTo>
                    <a:cubicBezTo>
                      <a:pt x="769" y="185"/>
                      <a:pt x="778" y="168"/>
                      <a:pt x="785" y="158"/>
                    </a:cubicBezTo>
                    <a:cubicBezTo>
                      <a:pt x="813" y="121"/>
                      <a:pt x="863" y="111"/>
                      <a:pt x="905" y="104"/>
                    </a:cubicBezTo>
                    <a:cubicBezTo>
                      <a:pt x="900" y="49"/>
                      <a:pt x="887" y="40"/>
                      <a:pt x="833" y="32"/>
                    </a:cubicBezTo>
                    <a:cubicBezTo>
                      <a:pt x="815" y="26"/>
                      <a:pt x="798" y="16"/>
                      <a:pt x="779" y="11"/>
                    </a:cubicBezTo>
                    <a:cubicBezTo>
                      <a:pt x="763" y="1"/>
                      <a:pt x="766" y="0"/>
                      <a:pt x="737" y="8"/>
                    </a:cubicBezTo>
                    <a:cubicBezTo>
                      <a:pt x="731" y="10"/>
                      <a:pt x="707" y="31"/>
                      <a:pt x="698" y="35"/>
                    </a:cubicBezTo>
                    <a:cubicBezTo>
                      <a:pt x="680" y="44"/>
                      <a:pt x="661" y="47"/>
                      <a:pt x="641" y="50"/>
                    </a:cubicBezTo>
                    <a:cubicBezTo>
                      <a:pt x="614" y="48"/>
                      <a:pt x="591" y="48"/>
                      <a:pt x="566" y="41"/>
                    </a:cubicBezTo>
                    <a:cubicBezTo>
                      <a:pt x="555" y="38"/>
                      <a:pt x="547" y="30"/>
                      <a:pt x="536" y="26"/>
                    </a:cubicBezTo>
                    <a:cubicBezTo>
                      <a:pt x="510" y="16"/>
                      <a:pt x="509" y="19"/>
                      <a:pt x="473" y="17"/>
                    </a:cubicBezTo>
                    <a:cubicBezTo>
                      <a:pt x="459" y="14"/>
                      <a:pt x="454" y="10"/>
                      <a:pt x="440" y="14"/>
                    </a:cubicBezTo>
                    <a:cubicBezTo>
                      <a:pt x="436" y="25"/>
                      <a:pt x="430" y="61"/>
                      <a:pt x="428" y="62"/>
                    </a:cubicBezTo>
                    <a:cubicBezTo>
                      <a:pt x="417" y="67"/>
                      <a:pt x="404" y="64"/>
                      <a:pt x="392" y="65"/>
                    </a:cubicBezTo>
                    <a:cubicBezTo>
                      <a:pt x="376" y="69"/>
                      <a:pt x="366" y="79"/>
                      <a:pt x="350" y="83"/>
                    </a:cubicBezTo>
                    <a:cubicBezTo>
                      <a:pt x="344" y="87"/>
                      <a:pt x="337" y="88"/>
                      <a:pt x="332" y="92"/>
                    </a:cubicBezTo>
                    <a:cubicBezTo>
                      <a:pt x="299" y="119"/>
                      <a:pt x="324" y="109"/>
                      <a:pt x="302" y="116"/>
                    </a:cubicBezTo>
                    <a:cubicBezTo>
                      <a:pt x="256" y="186"/>
                      <a:pt x="344" y="195"/>
                      <a:pt x="254" y="188"/>
                    </a:cubicBezTo>
                    <a:cubicBezTo>
                      <a:pt x="232" y="184"/>
                      <a:pt x="210" y="176"/>
                      <a:pt x="188" y="170"/>
                    </a:cubicBezTo>
                    <a:cubicBezTo>
                      <a:pt x="137" y="174"/>
                      <a:pt x="143" y="186"/>
                      <a:pt x="104" y="194"/>
                    </a:cubicBezTo>
                    <a:cubicBezTo>
                      <a:pt x="73" y="200"/>
                      <a:pt x="40" y="200"/>
                      <a:pt x="8" y="203"/>
                    </a:cubicBezTo>
                    <a:cubicBezTo>
                      <a:pt x="9" y="226"/>
                      <a:pt x="0" y="266"/>
                      <a:pt x="23" y="281"/>
                    </a:cubicBezTo>
                    <a:cubicBezTo>
                      <a:pt x="55" y="277"/>
                      <a:pt x="39" y="278"/>
                      <a:pt x="71" y="278"/>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grpSp>
        <p:sp>
          <p:nvSpPr>
            <p:cNvPr id="16509" name="Rectangle 389"/>
            <p:cNvSpPr>
              <a:spLocks noChangeArrowheads="1"/>
            </p:cNvSpPr>
            <p:nvPr/>
          </p:nvSpPr>
          <p:spPr bwMode="auto">
            <a:xfrm>
              <a:off x="2658" y="3392"/>
              <a:ext cx="116" cy="231"/>
            </a:xfrm>
            <a:prstGeom prst="rect">
              <a:avLst/>
            </a:prstGeom>
            <a:noFill/>
            <a:ln w="9525">
              <a:noFill/>
              <a:miter lim="800000"/>
              <a:headEnd/>
              <a:tailEnd/>
            </a:ln>
          </p:spPr>
          <p:txBody>
            <a:bodyPr wrap="none">
              <a:spAutoFit/>
            </a:bodyPr>
            <a:lstStyle/>
            <a:p>
              <a:endParaRPr lang="en-US" altLang="en-US" b="1">
                <a:latin typeface="Times New Roman" pitchFamily="18" charset="0"/>
              </a:endParaRPr>
            </a:p>
          </p:txBody>
        </p:sp>
      </p:grpSp>
      <p:sp>
        <p:nvSpPr>
          <p:cNvPr id="308614" name="Text Box 390"/>
          <p:cNvSpPr txBox="1">
            <a:spLocks noChangeArrowheads="1"/>
          </p:cNvSpPr>
          <p:nvPr/>
        </p:nvSpPr>
        <p:spPr bwMode="auto">
          <a:xfrm>
            <a:off x="6858000" y="3581400"/>
            <a:ext cx="1071563" cy="396875"/>
          </a:xfrm>
          <a:prstGeom prst="rect">
            <a:avLst/>
          </a:prstGeom>
          <a:noFill/>
          <a:ln w="9525">
            <a:noFill/>
            <a:miter lim="800000"/>
            <a:headEnd/>
            <a:tailEnd/>
          </a:ln>
          <a:effectLst/>
        </p:spPr>
        <p:txBody>
          <a:bodyPr wrap="none">
            <a:spAutoFit/>
          </a:bodyPr>
          <a:lstStyle/>
          <a:p>
            <a:pPr algn="ctr">
              <a:defRPr/>
            </a:pPr>
            <a:r>
              <a:rPr lang="en-US" sz="2000" b="1">
                <a:effectLst>
                  <a:outerShdw blurRad="38100" dist="38100" dir="2700000" algn="tl">
                    <a:srgbClr val="FFFFFF"/>
                  </a:outerShdw>
                </a:effectLst>
                <a:latin typeface="Times New Roman" pitchFamily="18" charset="0"/>
              </a:rPr>
              <a:t>Internet</a:t>
            </a:r>
          </a:p>
        </p:txBody>
      </p:sp>
      <p:sp>
        <p:nvSpPr>
          <p:cNvPr id="16400" name="Text Box 393"/>
          <p:cNvSpPr txBox="1">
            <a:spLocks noChangeArrowheads="1"/>
          </p:cNvSpPr>
          <p:nvPr/>
        </p:nvSpPr>
        <p:spPr bwMode="auto">
          <a:xfrm>
            <a:off x="3941763" y="5511800"/>
            <a:ext cx="971550" cy="641350"/>
          </a:xfrm>
          <a:prstGeom prst="rect">
            <a:avLst/>
          </a:prstGeom>
          <a:noFill/>
          <a:ln w="9525">
            <a:noFill/>
            <a:miter lim="800000"/>
            <a:headEnd/>
            <a:tailEnd/>
          </a:ln>
        </p:spPr>
        <p:txBody>
          <a:bodyPr wrap="none">
            <a:spAutoFit/>
          </a:bodyPr>
          <a:lstStyle/>
          <a:p>
            <a:pPr algn="ctr"/>
            <a:r>
              <a:rPr lang="en-US" altLang="en-US" b="1">
                <a:solidFill>
                  <a:schemeClr val="bg1"/>
                </a:solidFill>
              </a:rPr>
              <a:t>Branch</a:t>
            </a:r>
          </a:p>
          <a:p>
            <a:pPr algn="ctr"/>
            <a:r>
              <a:rPr lang="en-US" altLang="en-US" b="1">
                <a:solidFill>
                  <a:schemeClr val="bg1"/>
                </a:solidFill>
              </a:rPr>
              <a:t>Office</a:t>
            </a:r>
          </a:p>
        </p:txBody>
      </p:sp>
      <p:grpSp>
        <p:nvGrpSpPr>
          <p:cNvPr id="16401" name="Group 448"/>
          <p:cNvGrpSpPr>
            <a:grpSpLocks/>
          </p:cNvGrpSpPr>
          <p:nvPr/>
        </p:nvGrpSpPr>
        <p:grpSpPr bwMode="auto">
          <a:xfrm rot="19425538" flipH="1">
            <a:off x="6629400" y="4419600"/>
            <a:ext cx="576263" cy="1277938"/>
            <a:chOff x="1125" y="288"/>
            <a:chExt cx="2859" cy="3498"/>
          </a:xfrm>
        </p:grpSpPr>
        <p:sp>
          <p:nvSpPr>
            <p:cNvPr id="16456" name="Freeform 449"/>
            <p:cNvSpPr>
              <a:spLocks/>
            </p:cNvSpPr>
            <p:nvPr/>
          </p:nvSpPr>
          <p:spPr bwMode="auto">
            <a:xfrm>
              <a:off x="1151" y="288"/>
              <a:ext cx="2833" cy="3456"/>
            </a:xfrm>
            <a:custGeom>
              <a:avLst/>
              <a:gdLst>
                <a:gd name="T0" fmla="*/ 865 w 2833"/>
                <a:gd name="T1" fmla="*/ 3456 h 3456"/>
                <a:gd name="T2" fmla="*/ 529 w 2833"/>
                <a:gd name="T3" fmla="*/ 3312 h 3456"/>
                <a:gd name="T4" fmla="*/ 452 w 2833"/>
                <a:gd name="T5" fmla="*/ 2646 h 3456"/>
                <a:gd name="T6" fmla="*/ 343 w 2833"/>
                <a:gd name="T7" fmla="*/ 2154 h 3456"/>
                <a:gd name="T8" fmla="*/ 180 w 2833"/>
                <a:gd name="T9" fmla="*/ 1717 h 3456"/>
                <a:gd name="T10" fmla="*/ 0 w 2833"/>
                <a:gd name="T11" fmla="*/ 1241 h 3456"/>
                <a:gd name="T12" fmla="*/ 567 w 2833"/>
                <a:gd name="T13" fmla="*/ 1035 h 3456"/>
                <a:gd name="T14" fmla="*/ 1027 w 2833"/>
                <a:gd name="T15" fmla="*/ 854 h 3456"/>
                <a:gd name="T16" fmla="*/ 1405 w 2833"/>
                <a:gd name="T17" fmla="*/ 657 h 3456"/>
                <a:gd name="T18" fmla="*/ 1717 w 2833"/>
                <a:gd name="T19" fmla="*/ 485 h 3456"/>
                <a:gd name="T20" fmla="*/ 1964 w 2833"/>
                <a:gd name="T21" fmla="*/ 312 h 3456"/>
                <a:gd name="T22" fmla="*/ 2161 w 2833"/>
                <a:gd name="T23" fmla="*/ 96 h 3456"/>
                <a:gd name="T24" fmla="*/ 2593 w 2833"/>
                <a:gd name="T25" fmla="*/ 0 h 3456"/>
                <a:gd name="T26" fmla="*/ 2833 w 2833"/>
                <a:gd name="T27" fmla="*/ 1920 h 3456"/>
                <a:gd name="T28" fmla="*/ 2178 w 2833"/>
                <a:gd name="T29" fmla="*/ 2531 h 3456"/>
                <a:gd name="T30" fmla="*/ 1726 w 2833"/>
                <a:gd name="T31" fmla="*/ 2892 h 3456"/>
                <a:gd name="T32" fmla="*/ 865 w 2833"/>
                <a:gd name="T33" fmla="*/ 3456 h 34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33"/>
                <a:gd name="T52" fmla="*/ 0 h 3456"/>
                <a:gd name="T53" fmla="*/ 2833 w 2833"/>
                <a:gd name="T54" fmla="*/ 3456 h 34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33" h="3456">
                  <a:moveTo>
                    <a:pt x="865" y="3456"/>
                  </a:moveTo>
                  <a:lnTo>
                    <a:pt x="529" y="3312"/>
                  </a:lnTo>
                  <a:lnTo>
                    <a:pt x="452" y="2646"/>
                  </a:lnTo>
                  <a:lnTo>
                    <a:pt x="343" y="2154"/>
                  </a:lnTo>
                  <a:lnTo>
                    <a:pt x="180" y="1717"/>
                  </a:lnTo>
                  <a:lnTo>
                    <a:pt x="0" y="1241"/>
                  </a:lnTo>
                  <a:lnTo>
                    <a:pt x="567" y="1035"/>
                  </a:lnTo>
                  <a:lnTo>
                    <a:pt x="1027" y="854"/>
                  </a:lnTo>
                  <a:lnTo>
                    <a:pt x="1405" y="657"/>
                  </a:lnTo>
                  <a:lnTo>
                    <a:pt x="1717" y="485"/>
                  </a:lnTo>
                  <a:lnTo>
                    <a:pt x="1964" y="312"/>
                  </a:lnTo>
                  <a:lnTo>
                    <a:pt x="2161" y="96"/>
                  </a:lnTo>
                  <a:lnTo>
                    <a:pt x="2593" y="0"/>
                  </a:lnTo>
                  <a:lnTo>
                    <a:pt x="2833" y="1920"/>
                  </a:lnTo>
                  <a:lnTo>
                    <a:pt x="2178" y="2531"/>
                  </a:lnTo>
                  <a:lnTo>
                    <a:pt x="1726" y="2892"/>
                  </a:lnTo>
                  <a:lnTo>
                    <a:pt x="865" y="3456"/>
                  </a:lnTo>
                  <a:close/>
                </a:path>
              </a:pathLst>
            </a:custGeom>
            <a:solidFill>
              <a:srgbClr val="4D4D4D"/>
            </a:solidFill>
            <a:ln w="12700" cap="flat" cmpd="sng">
              <a:noFill/>
              <a:prstDash val="solid"/>
              <a:round/>
              <a:headEnd type="none" w="sm" len="sm"/>
              <a:tailEnd type="none" w="sm" len="sm"/>
            </a:ln>
          </p:spPr>
          <p:txBody>
            <a:bodyPr wrap="none" anchor="ctr"/>
            <a:lstStyle/>
            <a:p>
              <a:endParaRPr lang="en-US"/>
            </a:p>
          </p:txBody>
        </p:sp>
        <p:sp>
          <p:nvSpPr>
            <p:cNvPr id="16457" name="Freeform 450"/>
            <p:cNvSpPr>
              <a:spLocks/>
            </p:cNvSpPr>
            <p:nvPr/>
          </p:nvSpPr>
          <p:spPr bwMode="auto">
            <a:xfrm>
              <a:off x="1125" y="1508"/>
              <a:ext cx="32" cy="43"/>
            </a:xfrm>
            <a:custGeom>
              <a:avLst/>
              <a:gdLst>
                <a:gd name="T0" fmla="*/ 1 w 63"/>
                <a:gd name="T1" fmla="*/ 0 h 43"/>
                <a:gd name="T2" fmla="*/ 1 w 63"/>
                <a:gd name="T3" fmla="*/ 0 h 43"/>
                <a:gd name="T4" fmla="*/ 0 w 63"/>
                <a:gd name="T5" fmla="*/ 20 h 43"/>
                <a:gd name="T6" fmla="*/ 1 w 63"/>
                <a:gd name="T7" fmla="*/ 43 h 43"/>
                <a:gd name="T8" fmla="*/ 1 w 63"/>
                <a:gd name="T9" fmla="*/ 37 h 43"/>
                <a:gd name="T10" fmla="*/ 1 w 63"/>
                <a:gd name="T11" fmla="*/ 30 h 43"/>
                <a:gd name="T12" fmla="*/ 1 w 63"/>
                <a:gd name="T13" fmla="*/ 7 h 43"/>
                <a:gd name="T14" fmla="*/ 1 w 63"/>
                <a:gd name="T15" fmla="*/ 14 h 43"/>
                <a:gd name="T16" fmla="*/ 1 w 63"/>
                <a:gd name="T17" fmla="*/ 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
                <a:gd name="T28" fmla="*/ 0 h 43"/>
                <a:gd name="T29" fmla="*/ 63 w 63"/>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 h="43">
                  <a:moveTo>
                    <a:pt x="23" y="0"/>
                  </a:moveTo>
                  <a:lnTo>
                    <a:pt x="23" y="0"/>
                  </a:lnTo>
                  <a:lnTo>
                    <a:pt x="0" y="20"/>
                  </a:lnTo>
                  <a:lnTo>
                    <a:pt x="21" y="43"/>
                  </a:lnTo>
                  <a:lnTo>
                    <a:pt x="42" y="37"/>
                  </a:lnTo>
                  <a:lnTo>
                    <a:pt x="63" y="30"/>
                  </a:lnTo>
                  <a:lnTo>
                    <a:pt x="42" y="7"/>
                  </a:lnTo>
                  <a:lnTo>
                    <a:pt x="21" y="14"/>
                  </a:lnTo>
                  <a:lnTo>
                    <a:pt x="23" y="0"/>
                  </a:lnTo>
                  <a:close/>
                </a:path>
              </a:pathLst>
            </a:custGeom>
            <a:solidFill>
              <a:srgbClr val="000000"/>
            </a:solidFill>
            <a:ln w="9525">
              <a:noFill/>
              <a:round/>
              <a:headEnd/>
              <a:tailEnd/>
            </a:ln>
          </p:spPr>
          <p:txBody>
            <a:bodyPr/>
            <a:lstStyle/>
            <a:p>
              <a:endParaRPr lang="en-US"/>
            </a:p>
          </p:txBody>
        </p:sp>
        <p:sp>
          <p:nvSpPr>
            <p:cNvPr id="16458" name="Freeform 451"/>
            <p:cNvSpPr>
              <a:spLocks/>
            </p:cNvSpPr>
            <p:nvPr/>
          </p:nvSpPr>
          <p:spPr bwMode="auto">
            <a:xfrm>
              <a:off x="1135" y="1538"/>
              <a:ext cx="897" cy="2248"/>
            </a:xfrm>
            <a:custGeom>
              <a:avLst/>
              <a:gdLst>
                <a:gd name="T0" fmla="*/ 0 w 1793"/>
                <a:gd name="T1" fmla="*/ 13 h 2248"/>
                <a:gd name="T2" fmla="*/ 3 w 1793"/>
                <a:gd name="T3" fmla="*/ 686 h 2248"/>
                <a:gd name="T4" fmla="*/ 1 w 1793"/>
                <a:gd name="T5" fmla="*/ 89 h 2248"/>
                <a:gd name="T6" fmla="*/ 1 w 1793"/>
                <a:gd name="T7" fmla="*/ 177 h 2248"/>
                <a:gd name="T8" fmla="*/ 1 w 1793"/>
                <a:gd name="T9" fmla="*/ 312 h 2248"/>
                <a:gd name="T10" fmla="*/ 2 w 1793"/>
                <a:gd name="T11" fmla="*/ 475 h 2248"/>
                <a:gd name="T12" fmla="*/ 3 w 1793"/>
                <a:gd name="T13" fmla="*/ 671 h 2248"/>
                <a:gd name="T14" fmla="*/ 3 w 1793"/>
                <a:gd name="T15" fmla="*/ 867 h 2248"/>
                <a:gd name="T16" fmla="*/ 3 w 1793"/>
                <a:gd name="T17" fmla="*/ 1075 h 2248"/>
                <a:gd name="T18" fmla="*/ 4 w 1793"/>
                <a:gd name="T19" fmla="*/ 1328 h 2248"/>
                <a:gd name="T20" fmla="*/ 4 w 1793"/>
                <a:gd name="T21" fmla="*/ 1566 h 2248"/>
                <a:gd name="T22" fmla="*/ 5 w 1793"/>
                <a:gd name="T23" fmla="*/ 1808 h 2248"/>
                <a:gd name="T24" fmla="*/ 5 w 1793"/>
                <a:gd name="T25" fmla="*/ 2059 h 2248"/>
                <a:gd name="T26" fmla="*/ 8 w 1793"/>
                <a:gd name="T27" fmla="*/ 2248 h 2248"/>
                <a:gd name="T28" fmla="*/ 7 w 1793"/>
                <a:gd name="T29" fmla="*/ 2211 h 2248"/>
                <a:gd name="T30" fmla="*/ 5 w 1793"/>
                <a:gd name="T31" fmla="*/ 2041 h 2248"/>
                <a:gd name="T32" fmla="*/ 5 w 1793"/>
                <a:gd name="T33" fmla="*/ 1806 h 2248"/>
                <a:gd name="T34" fmla="*/ 4 w 1793"/>
                <a:gd name="T35" fmla="*/ 1559 h 2248"/>
                <a:gd name="T36" fmla="*/ 4 w 1793"/>
                <a:gd name="T37" fmla="*/ 1315 h 2248"/>
                <a:gd name="T38" fmla="*/ 4 w 1793"/>
                <a:gd name="T39" fmla="*/ 1098 h 2248"/>
                <a:gd name="T40" fmla="*/ 3 w 1793"/>
                <a:gd name="T41" fmla="*/ 858 h 2248"/>
                <a:gd name="T42" fmla="*/ 3 w 1793"/>
                <a:gd name="T43" fmla="*/ 641 h 2248"/>
                <a:gd name="T44" fmla="*/ 2 w 1793"/>
                <a:gd name="T45" fmla="*/ 464 h 2248"/>
                <a:gd name="T46" fmla="*/ 2 w 1793"/>
                <a:gd name="T47" fmla="*/ 301 h 2248"/>
                <a:gd name="T48" fmla="*/ 1 w 1793"/>
                <a:gd name="T49" fmla="*/ 166 h 2248"/>
                <a:gd name="T50" fmla="*/ 1 w 1793"/>
                <a:gd name="T51" fmla="*/ 52 h 2248"/>
                <a:gd name="T52" fmla="*/ 1 w 1793"/>
                <a:gd name="T53" fmla="*/ 0 h 2248"/>
                <a:gd name="T54" fmla="*/ 1 w 1793"/>
                <a:gd name="T55" fmla="*/ 7 h 2248"/>
                <a:gd name="T56" fmla="*/ 0 w 1793"/>
                <a:gd name="T57" fmla="*/ 13 h 22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93"/>
                <a:gd name="T88" fmla="*/ 0 h 2248"/>
                <a:gd name="T89" fmla="*/ 1793 w 1793"/>
                <a:gd name="T90" fmla="*/ 2248 h 224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93" h="2248">
                  <a:moveTo>
                    <a:pt x="0" y="13"/>
                  </a:moveTo>
                  <a:lnTo>
                    <a:pt x="625" y="686"/>
                  </a:lnTo>
                  <a:lnTo>
                    <a:pt x="69" y="89"/>
                  </a:lnTo>
                  <a:lnTo>
                    <a:pt x="145" y="177"/>
                  </a:lnTo>
                  <a:lnTo>
                    <a:pt x="255" y="312"/>
                  </a:lnTo>
                  <a:lnTo>
                    <a:pt x="380" y="475"/>
                  </a:lnTo>
                  <a:lnTo>
                    <a:pt x="519" y="671"/>
                  </a:lnTo>
                  <a:lnTo>
                    <a:pt x="646" y="867"/>
                  </a:lnTo>
                  <a:lnTo>
                    <a:pt x="764" y="1075"/>
                  </a:lnTo>
                  <a:lnTo>
                    <a:pt x="882" y="1328"/>
                  </a:lnTo>
                  <a:lnTo>
                    <a:pt x="970" y="1566"/>
                  </a:lnTo>
                  <a:lnTo>
                    <a:pt x="1030" y="1808"/>
                  </a:lnTo>
                  <a:lnTo>
                    <a:pt x="1053" y="2059"/>
                  </a:lnTo>
                  <a:lnTo>
                    <a:pt x="1793" y="2248"/>
                  </a:lnTo>
                  <a:lnTo>
                    <a:pt x="1769" y="2211"/>
                  </a:lnTo>
                  <a:lnTo>
                    <a:pt x="1104" y="2041"/>
                  </a:lnTo>
                  <a:lnTo>
                    <a:pt x="1080" y="1806"/>
                  </a:lnTo>
                  <a:lnTo>
                    <a:pt x="1021" y="1559"/>
                  </a:lnTo>
                  <a:lnTo>
                    <a:pt x="932" y="1315"/>
                  </a:lnTo>
                  <a:lnTo>
                    <a:pt x="826" y="1098"/>
                  </a:lnTo>
                  <a:lnTo>
                    <a:pt x="693" y="858"/>
                  </a:lnTo>
                  <a:lnTo>
                    <a:pt x="554" y="641"/>
                  </a:lnTo>
                  <a:lnTo>
                    <a:pt x="426" y="464"/>
                  </a:lnTo>
                  <a:lnTo>
                    <a:pt x="301" y="301"/>
                  </a:lnTo>
                  <a:lnTo>
                    <a:pt x="191" y="166"/>
                  </a:lnTo>
                  <a:lnTo>
                    <a:pt x="92" y="52"/>
                  </a:lnTo>
                  <a:lnTo>
                    <a:pt x="44" y="0"/>
                  </a:lnTo>
                  <a:lnTo>
                    <a:pt x="21" y="7"/>
                  </a:lnTo>
                  <a:lnTo>
                    <a:pt x="0" y="13"/>
                  </a:lnTo>
                  <a:close/>
                </a:path>
              </a:pathLst>
            </a:custGeom>
            <a:solidFill>
              <a:srgbClr val="000000"/>
            </a:solidFill>
            <a:ln w="9525">
              <a:noFill/>
              <a:round/>
              <a:headEnd/>
              <a:tailEnd/>
            </a:ln>
          </p:spPr>
          <p:txBody>
            <a:bodyPr/>
            <a:lstStyle/>
            <a:p>
              <a:endParaRPr lang="en-US"/>
            </a:p>
          </p:txBody>
        </p:sp>
        <p:sp>
          <p:nvSpPr>
            <p:cNvPr id="16459" name="Freeform 452"/>
            <p:cNvSpPr>
              <a:spLocks/>
            </p:cNvSpPr>
            <p:nvPr/>
          </p:nvSpPr>
          <p:spPr bwMode="auto">
            <a:xfrm>
              <a:off x="1133" y="295"/>
              <a:ext cx="2604" cy="1241"/>
            </a:xfrm>
            <a:custGeom>
              <a:avLst/>
              <a:gdLst>
                <a:gd name="T0" fmla="*/ 21 w 5206"/>
                <a:gd name="T1" fmla="*/ 29 h 1241"/>
                <a:gd name="T2" fmla="*/ 21 w 5206"/>
                <a:gd name="T3" fmla="*/ 0 h 1241"/>
                <a:gd name="T4" fmla="*/ 18 w 5206"/>
                <a:gd name="T5" fmla="*/ 89 h 1241"/>
                <a:gd name="T6" fmla="*/ 16 w 5206"/>
                <a:gd name="T7" fmla="*/ 255 h 1241"/>
                <a:gd name="T8" fmla="*/ 15 w 5206"/>
                <a:gd name="T9" fmla="*/ 410 h 1241"/>
                <a:gd name="T10" fmla="*/ 13 w 5206"/>
                <a:gd name="T11" fmla="*/ 542 h 1241"/>
                <a:gd name="T12" fmla="*/ 11 w 5206"/>
                <a:gd name="T13" fmla="*/ 682 h 1241"/>
                <a:gd name="T14" fmla="*/ 9 w 5206"/>
                <a:gd name="T15" fmla="*/ 800 h 1241"/>
                <a:gd name="T16" fmla="*/ 7 w 5206"/>
                <a:gd name="T17" fmla="*/ 902 h 1241"/>
                <a:gd name="T18" fmla="*/ 6 w 5206"/>
                <a:gd name="T19" fmla="*/ 994 h 1241"/>
                <a:gd name="T20" fmla="*/ 4 w 5206"/>
                <a:gd name="T21" fmla="*/ 1076 h 1241"/>
                <a:gd name="T22" fmla="*/ 3 w 5206"/>
                <a:gd name="T23" fmla="*/ 1132 h 1241"/>
                <a:gd name="T24" fmla="*/ 1 w 5206"/>
                <a:gd name="T25" fmla="*/ 1177 h 1241"/>
                <a:gd name="T26" fmla="*/ 1 w 5206"/>
                <a:gd name="T27" fmla="*/ 1201 h 1241"/>
                <a:gd name="T28" fmla="*/ 0 w 5206"/>
                <a:gd name="T29" fmla="*/ 1213 h 1241"/>
                <a:gd name="T30" fmla="*/ 1 w 5206"/>
                <a:gd name="T31" fmla="*/ 1227 h 1241"/>
                <a:gd name="T32" fmla="*/ 1 w 5206"/>
                <a:gd name="T33" fmla="*/ 1241 h 1241"/>
                <a:gd name="T34" fmla="*/ 1 w 5206"/>
                <a:gd name="T35" fmla="*/ 1236 h 1241"/>
                <a:gd name="T36" fmla="*/ 1 w 5206"/>
                <a:gd name="T37" fmla="*/ 1203 h 1241"/>
                <a:gd name="T38" fmla="*/ 3 w 5206"/>
                <a:gd name="T39" fmla="*/ 1158 h 1241"/>
                <a:gd name="T40" fmla="*/ 4 w 5206"/>
                <a:gd name="T41" fmla="*/ 1093 h 1241"/>
                <a:gd name="T42" fmla="*/ 6 w 5206"/>
                <a:gd name="T43" fmla="*/ 1020 h 1241"/>
                <a:gd name="T44" fmla="*/ 7 w 5206"/>
                <a:gd name="T45" fmla="*/ 928 h 1241"/>
                <a:gd name="T46" fmla="*/ 9 w 5206"/>
                <a:gd name="T47" fmla="*/ 819 h 1241"/>
                <a:gd name="T48" fmla="*/ 11 w 5206"/>
                <a:gd name="T49" fmla="*/ 701 h 1241"/>
                <a:gd name="T50" fmla="*/ 13 w 5206"/>
                <a:gd name="T51" fmla="*/ 579 h 1241"/>
                <a:gd name="T52" fmla="*/ 15 w 5206"/>
                <a:gd name="T53" fmla="*/ 427 h 1241"/>
                <a:gd name="T54" fmla="*/ 16 w 5206"/>
                <a:gd name="T55" fmla="*/ 278 h 1241"/>
                <a:gd name="T56" fmla="*/ 18 w 5206"/>
                <a:gd name="T57" fmla="*/ 118 h 1241"/>
                <a:gd name="T58" fmla="*/ 21 w 5206"/>
                <a:gd name="T59" fmla="*/ 29 h 124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206"/>
                <a:gd name="T91" fmla="*/ 0 h 1241"/>
                <a:gd name="T92" fmla="*/ 5206 w 5206"/>
                <a:gd name="T93" fmla="*/ 1241 h 124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206" h="1241">
                  <a:moveTo>
                    <a:pt x="5206" y="29"/>
                  </a:moveTo>
                  <a:lnTo>
                    <a:pt x="5199" y="0"/>
                  </a:lnTo>
                  <a:lnTo>
                    <a:pt x="4369" y="89"/>
                  </a:lnTo>
                  <a:lnTo>
                    <a:pt x="4037" y="255"/>
                  </a:lnTo>
                  <a:lnTo>
                    <a:pt x="3632" y="410"/>
                  </a:lnTo>
                  <a:lnTo>
                    <a:pt x="3223" y="542"/>
                  </a:lnTo>
                  <a:lnTo>
                    <a:pt x="2711" y="682"/>
                  </a:lnTo>
                  <a:lnTo>
                    <a:pt x="2219" y="800"/>
                  </a:lnTo>
                  <a:lnTo>
                    <a:pt x="1754" y="902"/>
                  </a:lnTo>
                  <a:lnTo>
                    <a:pt x="1295" y="994"/>
                  </a:lnTo>
                  <a:lnTo>
                    <a:pt x="853" y="1076"/>
                  </a:lnTo>
                  <a:lnTo>
                    <a:pt x="521" y="1132"/>
                  </a:lnTo>
                  <a:lnTo>
                    <a:pt x="243" y="1177"/>
                  </a:lnTo>
                  <a:lnTo>
                    <a:pt x="96" y="1201"/>
                  </a:lnTo>
                  <a:lnTo>
                    <a:pt x="0" y="1213"/>
                  </a:lnTo>
                  <a:lnTo>
                    <a:pt x="4" y="1227"/>
                  </a:lnTo>
                  <a:lnTo>
                    <a:pt x="8" y="1241"/>
                  </a:lnTo>
                  <a:lnTo>
                    <a:pt x="42" y="1236"/>
                  </a:lnTo>
                  <a:lnTo>
                    <a:pt x="255" y="1203"/>
                  </a:lnTo>
                  <a:lnTo>
                    <a:pt x="533" y="1158"/>
                  </a:lnTo>
                  <a:lnTo>
                    <a:pt x="915" y="1093"/>
                  </a:lnTo>
                  <a:lnTo>
                    <a:pt x="1310" y="1020"/>
                  </a:lnTo>
                  <a:lnTo>
                    <a:pt x="1769" y="928"/>
                  </a:lnTo>
                  <a:lnTo>
                    <a:pt x="2273" y="819"/>
                  </a:lnTo>
                  <a:lnTo>
                    <a:pt x="2761" y="701"/>
                  </a:lnTo>
                  <a:lnTo>
                    <a:pt x="3199" y="579"/>
                  </a:lnTo>
                  <a:lnTo>
                    <a:pt x="3678" y="427"/>
                  </a:lnTo>
                  <a:lnTo>
                    <a:pt x="4064" y="278"/>
                  </a:lnTo>
                  <a:lnTo>
                    <a:pt x="4388" y="118"/>
                  </a:lnTo>
                  <a:lnTo>
                    <a:pt x="5206" y="29"/>
                  </a:lnTo>
                  <a:close/>
                </a:path>
              </a:pathLst>
            </a:custGeom>
            <a:solidFill>
              <a:srgbClr val="000000"/>
            </a:solidFill>
            <a:ln w="9525">
              <a:noFill/>
              <a:round/>
              <a:headEnd/>
              <a:tailEnd/>
            </a:ln>
          </p:spPr>
          <p:txBody>
            <a:bodyPr/>
            <a:lstStyle/>
            <a:p>
              <a:endParaRPr lang="en-US"/>
            </a:p>
          </p:txBody>
        </p:sp>
        <p:sp>
          <p:nvSpPr>
            <p:cNvPr id="16460" name="Freeform 453"/>
            <p:cNvSpPr>
              <a:spLocks/>
            </p:cNvSpPr>
            <p:nvPr/>
          </p:nvSpPr>
          <p:spPr bwMode="auto">
            <a:xfrm>
              <a:off x="1133" y="1508"/>
              <a:ext cx="365" cy="88"/>
            </a:xfrm>
            <a:custGeom>
              <a:avLst/>
              <a:gdLst>
                <a:gd name="T0" fmla="*/ 0 w 1177"/>
                <a:gd name="T1" fmla="*/ 0 h 150"/>
                <a:gd name="T2" fmla="*/ 0 w 1177"/>
                <a:gd name="T3" fmla="*/ 0 h 150"/>
                <a:gd name="T4" fmla="*/ 0 w 1177"/>
                <a:gd name="T5" fmla="*/ 1 h 150"/>
                <a:gd name="T6" fmla="*/ 0 w 1177"/>
                <a:gd name="T7" fmla="*/ 1 h 150"/>
                <a:gd name="T8" fmla="*/ 0 w 1177"/>
                <a:gd name="T9" fmla="*/ 2 h 150"/>
                <a:gd name="T10" fmla="*/ 0 w 1177"/>
                <a:gd name="T11" fmla="*/ 2 h 150"/>
                <a:gd name="T12" fmla="*/ 0 w 1177"/>
                <a:gd name="T13" fmla="*/ 1 h 150"/>
                <a:gd name="T14" fmla="*/ 0 w 1177"/>
                <a:gd name="T15" fmla="*/ 0 h 150"/>
                <a:gd name="T16" fmla="*/ 0 w 1177"/>
                <a:gd name="T17" fmla="*/ 1 h 150"/>
                <a:gd name="T18" fmla="*/ 0 w 1177"/>
                <a:gd name="T19" fmla="*/ 0 h 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77"/>
                <a:gd name="T31" fmla="*/ 0 h 150"/>
                <a:gd name="T32" fmla="*/ 1177 w 1177"/>
                <a:gd name="T33" fmla="*/ 150 h 1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77" h="150">
                  <a:moveTo>
                    <a:pt x="0" y="0"/>
                  </a:moveTo>
                  <a:lnTo>
                    <a:pt x="0" y="0"/>
                  </a:lnTo>
                  <a:lnTo>
                    <a:pt x="2" y="28"/>
                  </a:lnTo>
                  <a:lnTo>
                    <a:pt x="681" y="79"/>
                  </a:lnTo>
                  <a:lnTo>
                    <a:pt x="1177" y="150"/>
                  </a:lnTo>
                  <a:lnTo>
                    <a:pt x="1177" y="121"/>
                  </a:lnTo>
                  <a:lnTo>
                    <a:pt x="700" y="51"/>
                  </a:lnTo>
                  <a:lnTo>
                    <a:pt x="6" y="0"/>
                  </a:lnTo>
                  <a:lnTo>
                    <a:pt x="4" y="14"/>
                  </a:lnTo>
                  <a:lnTo>
                    <a:pt x="0" y="0"/>
                  </a:lnTo>
                  <a:close/>
                </a:path>
              </a:pathLst>
            </a:custGeom>
            <a:solidFill>
              <a:srgbClr val="000000"/>
            </a:solidFill>
            <a:ln w="9525">
              <a:noFill/>
              <a:round/>
              <a:headEnd/>
              <a:tailEnd/>
            </a:ln>
          </p:spPr>
          <p:txBody>
            <a:bodyPr/>
            <a:lstStyle/>
            <a:p>
              <a:endParaRPr lang="en-US"/>
            </a:p>
          </p:txBody>
        </p:sp>
        <p:sp>
          <p:nvSpPr>
            <p:cNvPr id="16461" name="Freeform 454"/>
            <p:cNvSpPr>
              <a:spLocks/>
            </p:cNvSpPr>
            <p:nvPr/>
          </p:nvSpPr>
          <p:spPr bwMode="auto">
            <a:xfrm>
              <a:off x="3722" y="308"/>
              <a:ext cx="259" cy="1907"/>
            </a:xfrm>
            <a:custGeom>
              <a:avLst/>
              <a:gdLst>
                <a:gd name="T0" fmla="*/ 2 w 518"/>
                <a:gd name="T1" fmla="*/ 1907 h 1907"/>
                <a:gd name="T2" fmla="*/ 2 w 518"/>
                <a:gd name="T3" fmla="*/ 1907 h 1907"/>
                <a:gd name="T4" fmla="*/ 2 w 518"/>
                <a:gd name="T5" fmla="*/ 1862 h 1907"/>
                <a:gd name="T6" fmla="*/ 2 w 518"/>
                <a:gd name="T7" fmla="*/ 1750 h 1907"/>
                <a:gd name="T8" fmla="*/ 2 w 518"/>
                <a:gd name="T9" fmla="*/ 1594 h 1907"/>
                <a:gd name="T10" fmla="*/ 2 w 518"/>
                <a:gd name="T11" fmla="*/ 1396 h 1907"/>
                <a:gd name="T12" fmla="*/ 1 w 518"/>
                <a:gd name="T13" fmla="*/ 1175 h 1907"/>
                <a:gd name="T14" fmla="*/ 1 w 518"/>
                <a:gd name="T15" fmla="*/ 940 h 1907"/>
                <a:gd name="T16" fmla="*/ 1 w 518"/>
                <a:gd name="T17" fmla="*/ 707 h 1907"/>
                <a:gd name="T18" fmla="*/ 1 w 518"/>
                <a:gd name="T19" fmla="*/ 487 h 1907"/>
                <a:gd name="T20" fmla="*/ 1 w 518"/>
                <a:gd name="T21" fmla="*/ 294 h 1907"/>
                <a:gd name="T22" fmla="*/ 1 w 518"/>
                <a:gd name="T23" fmla="*/ 139 h 1907"/>
                <a:gd name="T24" fmla="*/ 1 w 518"/>
                <a:gd name="T25" fmla="*/ 37 h 1907"/>
                <a:gd name="T26" fmla="*/ 1 w 518"/>
                <a:gd name="T27" fmla="*/ 0 h 1907"/>
                <a:gd name="T28" fmla="*/ 1 w 518"/>
                <a:gd name="T29" fmla="*/ 2 h 1907"/>
                <a:gd name="T30" fmla="*/ 0 w 518"/>
                <a:gd name="T31" fmla="*/ 3 h 1907"/>
                <a:gd name="T32" fmla="*/ 1 w 518"/>
                <a:gd name="T33" fmla="*/ 40 h 1907"/>
                <a:gd name="T34" fmla="*/ 1 w 518"/>
                <a:gd name="T35" fmla="*/ 142 h 1907"/>
                <a:gd name="T36" fmla="*/ 1 w 518"/>
                <a:gd name="T37" fmla="*/ 296 h 1907"/>
                <a:gd name="T38" fmla="*/ 1 w 518"/>
                <a:gd name="T39" fmla="*/ 489 h 1907"/>
                <a:gd name="T40" fmla="*/ 1 w 518"/>
                <a:gd name="T41" fmla="*/ 709 h 1907"/>
                <a:gd name="T42" fmla="*/ 1 w 518"/>
                <a:gd name="T43" fmla="*/ 942 h 1907"/>
                <a:gd name="T44" fmla="*/ 1 w 518"/>
                <a:gd name="T45" fmla="*/ 1177 h 1907"/>
                <a:gd name="T46" fmla="*/ 1 w 518"/>
                <a:gd name="T47" fmla="*/ 1399 h 1907"/>
                <a:gd name="T48" fmla="*/ 2 w 518"/>
                <a:gd name="T49" fmla="*/ 1596 h 1907"/>
                <a:gd name="T50" fmla="*/ 2 w 518"/>
                <a:gd name="T51" fmla="*/ 1757 h 1907"/>
                <a:gd name="T52" fmla="*/ 2 w 518"/>
                <a:gd name="T53" fmla="*/ 1862 h 1907"/>
                <a:gd name="T54" fmla="*/ 2 w 518"/>
                <a:gd name="T55" fmla="*/ 1907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18"/>
                <a:gd name="T85" fmla="*/ 0 h 1907"/>
                <a:gd name="T86" fmla="*/ 518 w 518"/>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18" h="1907">
                  <a:moveTo>
                    <a:pt x="464" y="1907"/>
                  </a:moveTo>
                  <a:lnTo>
                    <a:pt x="514" y="1907"/>
                  </a:lnTo>
                  <a:lnTo>
                    <a:pt x="518" y="1862"/>
                  </a:lnTo>
                  <a:lnTo>
                    <a:pt x="502" y="1750"/>
                  </a:lnTo>
                  <a:lnTo>
                    <a:pt x="469" y="1594"/>
                  </a:lnTo>
                  <a:lnTo>
                    <a:pt x="423" y="1396"/>
                  </a:lnTo>
                  <a:lnTo>
                    <a:pt x="369" y="1175"/>
                  </a:lnTo>
                  <a:lnTo>
                    <a:pt x="307" y="940"/>
                  </a:lnTo>
                  <a:lnTo>
                    <a:pt x="245" y="707"/>
                  </a:lnTo>
                  <a:lnTo>
                    <a:pt x="186" y="487"/>
                  </a:lnTo>
                  <a:lnTo>
                    <a:pt x="132" y="294"/>
                  </a:lnTo>
                  <a:lnTo>
                    <a:pt x="89" y="139"/>
                  </a:lnTo>
                  <a:lnTo>
                    <a:pt x="60" y="37"/>
                  </a:lnTo>
                  <a:lnTo>
                    <a:pt x="51" y="0"/>
                  </a:lnTo>
                  <a:lnTo>
                    <a:pt x="25" y="2"/>
                  </a:lnTo>
                  <a:lnTo>
                    <a:pt x="0" y="3"/>
                  </a:lnTo>
                  <a:lnTo>
                    <a:pt x="10" y="40"/>
                  </a:lnTo>
                  <a:lnTo>
                    <a:pt x="39" y="142"/>
                  </a:lnTo>
                  <a:lnTo>
                    <a:pt x="81" y="296"/>
                  </a:lnTo>
                  <a:lnTo>
                    <a:pt x="135" y="489"/>
                  </a:lnTo>
                  <a:lnTo>
                    <a:pt x="195" y="709"/>
                  </a:lnTo>
                  <a:lnTo>
                    <a:pt x="257" y="942"/>
                  </a:lnTo>
                  <a:lnTo>
                    <a:pt x="319" y="1177"/>
                  </a:lnTo>
                  <a:lnTo>
                    <a:pt x="373" y="1399"/>
                  </a:lnTo>
                  <a:lnTo>
                    <a:pt x="419" y="1596"/>
                  </a:lnTo>
                  <a:lnTo>
                    <a:pt x="452" y="1757"/>
                  </a:lnTo>
                  <a:lnTo>
                    <a:pt x="467" y="1862"/>
                  </a:lnTo>
                  <a:lnTo>
                    <a:pt x="464" y="1907"/>
                  </a:lnTo>
                  <a:close/>
                </a:path>
              </a:pathLst>
            </a:custGeom>
            <a:solidFill>
              <a:srgbClr val="000000"/>
            </a:solidFill>
            <a:ln w="9525">
              <a:noFill/>
              <a:round/>
              <a:headEnd/>
              <a:tailEnd/>
            </a:ln>
          </p:spPr>
          <p:txBody>
            <a:bodyPr/>
            <a:lstStyle/>
            <a:p>
              <a:endParaRPr lang="en-US"/>
            </a:p>
          </p:txBody>
        </p:sp>
        <p:sp>
          <p:nvSpPr>
            <p:cNvPr id="16462" name="Freeform 455"/>
            <p:cNvSpPr>
              <a:spLocks/>
            </p:cNvSpPr>
            <p:nvPr/>
          </p:nvSpPr>
          <p:spPr bwMode="auto">
            <a:xfrm>
              <a:off x="3722" y="299"/>
              <a:ext cx="25" cy="26"/>
            </a:xfrm>
            <a:custGeom>
              <a:avLst/>
              <a:gdLst>
                <a:gd name="T0" fmla="*/ 0 w 51"/>
                <a:gd name="T1" fmla="*/ 11 h 26"/>
                <a:gd name="T2" fmla="*/ 0 w 51"/>
                <a:gd name="T3" fmla="*/ 21 h 26"/>
                <a:gd name="T4" fmla="*/ 0 w 51"/>
                <a:gd name="T5" fmla="*/ 26 h 26"/>
                <a:gd name="T6" fmla="*/ 0 w 51"/>
                <a:gd name="T7" fmla="*/ 15 h 26"/>
                <a:gd name="T8" fmla="*/ 0 w 51"/>
                <a:gd name="T9" fmla="*/ 4 h 26"/>
                <a:gd name="T10" fmla="*/ 0 w 51"/>
                <a:gd name="T11" fmla="*/ 0 h 26"/>
                <a:gd name="T12" fmla="*/ 0 w 51"/>
                <a:gd name="T13" fmla="*/ 12 h 26"/>
                <a:gd name="T14" fmla="*/ 0 w 51"/>
                <a:gd name="T15" fmla="*/ 12 h 26"/>
                <a:gd name="T16" fmla="*/ 0 w 51"/>
                <a:gd name="T17" fmla="*/ 11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26"/>
                <a:gd name="T29" fmla="*/ 51 w 51"/>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26">
                  <a:moveTo>
                    <a:pt x="25" y="11"/>
                  </a:moveTo>
                  <a:lnTo>
                    <a:pt x="10" y="21"/>
                  </a:lnTo>
                  <a:lnTo>
                    <a:pt x="20" y="26"/>
                  </a:lnTo>
                  <a:lnTo>
                    <a:pt x="35" y="15"/>
                  </a:lnTo>
                  <a:lnTo>
                    <a:pt x="51" y="4"/>
                  </a:lnTo>
                  <a:lnTo>
                    <a:pt x="41" y="0"/>
                  </a:lnTo>
                  <a:lnTo>
                    <a:pt x="0" y="12"/>
                  </a:lnTo>
                  <a:lnTo>
                    <a:pt x="25" y="11"/>
                  </a:lnTo>
                  <a:close/>
                </a:path>
              </a:pathLst>
            </a:custGeom>
            <a:solidFill>
              <a:srgbClr val="000000"/>
            </a:solidFill>
            <a:ln w="9525">
              <a:noFill/>
              <a:round/>
              <a:headEnd/>
              <a:tailEnd/>
            </a:ln>
          </p:spPr>
          <p:txBody>
            <a:bodyPr/>
            <a:lstStyle/>
            <a:p>
              <a:endParaRPr lang="en-US"/>
            </a:p>
          </p:txBody>
        </p:sp>
        <p:sp>
          <p:nvSpPr>
            <p:cNvPr id="16463" name="Freeform 456"/>
            <p:cNvSpPr>
              <a:spLocks/>
            </p:cNvSpPr>
            <p:nvPr/>
          </p:nvSpPr>
          <p:spPr bwMode="auto">
            <a:xfrm>
              <a:off x="3727" y="303"/>
              <a:ext cx="25" cy="11"/>
            </a:xfrm>
            <a:custGeom>
              <a:avLst/>
              <a:gdLst>
                <a:gd name="T0" fmla="*/ 1 w 50"/>
                <a:gd name="T1" fmla="*/ 11 h 11"/>
                <a:gd name="T2" fmla="*/ 0 w 50"/>
                <a:gd name="T3" fmla="*/ 10 h 11"/>
                <a:gd name="T4" fmla="*/ 1 w 50"/>
                <a:gd name="T5" fmla="*/ 4 h 11"/>
                <a:gd name="T6" fmla="*/ 1 w 50"/>
                <a:gd name="T7" fmla="*/ 0 h 11"/>
                <a:gd name="T8" fmla="*/ 1 w 50"/>
                <a:gd name="T9" fmla="*/ 11 h 11"/>
                <a:gd name="T10" fmla="*/ 0 60000 65536"/>
                <a:gd name="T11" fmla="*/ 0 60000 65536"/>
                <a:gd name="T12" fmla="*/ 0 60000 65536"/>
                <a:gd name="T13" fmla="*/ 0 60000 65536"/>
                <a:gd name="T14" fmla="*/ 0 60000 65536"/>
                <a:gd name="T15" fmla="*/ 0 w 50"/>
                <a:gd name="T16" fmla="*/ 0 h 11"/>
                <a:gd name="T17" fmla="*/ 50 w 50"/>
                <a:gd name="T18" fmla="*/ 11 h 11"/>
              </a:gdLst>
              <a:ahLst/>
              <a:cxnLst>
                <a:cxn ang="T10">
                  <a:pos x="T0" y="T1"/>
                </a:cxn>
                <a:cxn ang="T11">
                  <a:pos x="T2" y="T3"/>
                </a:cxn>
                <a:cxn ang="T12">
                  <a:pos x="T4" y="T5"/>
                </a:cxn>
                <a:cxn ang="T13">
                  <a:pos x="T6" y="T7"/>
                </a:cxn>
                <a:cxn ang="T14">
                  <a:pos x="T8" y="T9"/>
                </a:cxn>
              </a:cxnLst>
              <a:rect l="T15" t="T16" r="T17" b="T18"/>
              <a:pathLst>
                <a:path w="50" h="11">
                  <a:moveTo>
                    <a:pt x="25" y="11"/>
                  </a:moveTo>
                  <a:lnTo>
                    <a:pt x="0" y="10"/>
                  </a:lnTo>
                  <a:lnTo>
                    <a:pt x="50" y="4"/>
                  </a:lnTo>
                  <a:lnTo>
                    <a:pt x="41" y="0"/>
                  </a:lnTo>
                  <a:lnTo>
                    <a:pt x="25" y="11"/>
                  </a:lnTo>
                  <a:close/>
                </a:path>
              </a:pathLst>
            </a:custGeom>
            <a:solidFill>
              <a:srgbClr val="000000"/>
            </a:solidFill>
            <a:ln w="9525">
              <a:noFill/>
              <a:round/>
              <a:headEnd/>
              <a:tailEnd/>
            </a:ln>
          </p:spPr>
          <p:txBody>
            <a:bodyPr/>
            <a:lstStyle/>
            <a:p>
              <a:endParaRPr lang="en-US"/>
            </a:p>
          </p:txBody>
        </p:sp>
        <p:sp>
          <p:nvSpPr>
            <p:cNvPr id="16464" name="Freeform 457"/>
            <p:cNvSpPr>
              <a:spLocks/>
            </p:cNvSpPr>
            <p:nvPr/>
          </p:nvSpPr>
          <p:spPr bwMode="auto">
            <a:xfrm>
              <a:off x="1478" y="307"/>
              <a:ext cx="2274" cy="1281"/>
            </a:xfrm>
            <a:custGeom>
              <a:avLst/>
              <a:gdLst>
                <a:gd name="T0" fmla="*/ 18 w 4548"/>
                <a:gd name="T1" fmla="*/ 6 h 1281"/>
                <a:gd name="T2" fmla="*/ 18 w 4548"/>
                <a:gd name="T3" fmla="*/ 17 h 1281"/>
                <a:gd name="T4" fmla="*/ 18 w 4548"/>
                <a:gd name="T5" fmla="*/ 38 h 1281"/>
                <a:gd name="T6" fmla="*/ 18 w 4548"/>
                <a:gd name="T7" fmla="*/ 68 h 1281"/>
                <a:gd name="T8" fmla="*/ 18 w 4548"/>
                <a:gd name="T9" fmla="*/ 112 h 1281"/>
                <a:gd name="T10" fmla="*/ 17 w 4548"/>
                <a:gd name="T11" fmla="*/ 164 h 1281"/>
                <a:gd name="T12" fmla="*/ 17 w 4548"/>
                <a:gd name="T13" fmla="*/ 231 h 1281"/>
                <a:gd name="T14" fmla="*/ 15 w 4548"/>
                <a:gd name="T15" fmla="*/ 306 h 1281"/>
                <a:gd name="T16" fmla="*/ 15 w 4548"/>
                <a:gd name="T17" fmla="*/ 398 h 1281"/>
                <a:gd name="T18" fmla="*/ 14 w 4548"/>
                <a:gd name="T19" fmla="*/ 501 h 1281"/>
                <a:gd name="T20" fmla="*/ 12 w 4548"/>
                <a:gd name="T21" fmla="*/ 632 h 1281"/>
                <a:gd name="T22" fmla="*/ 11 w 4548"/>
                <a:gd name="T23" fmla="*/ 746 h 1281"/>
                <a:gd name="T24" fmla="*/ 9 w 4548"/>
                <a:gd name="T25" fmla="*/ 862 h 1281"/>
                <a:gd name="T26" fmla="*/ 8 w 4548"/>
                <a:gd name="T27" fmla="*/ 975 h 1281"/>
                <a:gd name="T28" fmla="*/ 6 w 4548"/>
                <a:gd name="T29" fmla="*/ 1056 h 1281"/>
                <a:gd name="T30" fmla="*/ 5 w 4548"/>
                <a:gd name="T31" fmla="*/ 1120 h 1281"/>
                <a:gd name="T32" fmla="*/ 5 w 4548"/>
                <a:gd name="T33" fmla="*/ 1165 h 1281"/>
                <a:gd name="T34" fmla="*/ 3 w 4548"/>
                <a:gd name="T35" fmla="*/ 1202 h 1281"/>
                <a:gd name="T36" fmla="*/ 2 w 4548"/>
                <a:gd name="T37" fmla="*/ 1227 h 1281"/>
                <a:gd name="T38" fmla="*/ 1 w 4548"/>
                <a:gd name="T39" fmla="*/ 1242 h 1281"/>
                <a:gd name="T40" fmla="*/ 1 w 4548"/>
                <a:gd name="T41" fmla="*/ 1250 h 1281"/>
                <a:gd name="T42" fmla="*/ 1 w 4548"/>
                <a:gd name="T43" fmla="*/ 1253 h 1281"/>
                <a:gd name="T44" fmla="*/ 1 w 4548"/>
                <a:gd name="T45" fmla="*/ 1253 h 1281"/>
                <a:gd name="T46" fmla="*/ 1 w 4548"/>
                <a:gd name="T47" fmla="*/ 1252 h 1281"/>
                <a:gd name="T48" fmla="*/ 1 w 4548"/>
                <a:gd name="T49" fmla="*/ 1266 h 1281"/>
                <a:gd name="T50" fmla="*/ 0 w 4548"/>
                <a:gd name="T51" fmla="*/ 1280 h 1281"/>
                <a:gd name="T52" fmla="*/ 1 w 4548"/>
                <a:gd name="T53" fmla="*/ 1281 h 1281"/>
                <a:gd name="T54" fmla="*/ 1 w 4548"/>
                <a:gd name="T55" fmla="*/ 1281 h 1281"/>
                <a:gd name="T56" fmla="*/ 1 w 4548"/>
                <a:gd name="T57" fmla="*/ 1278 h 1281"/>
                <a:gd name="T58" fmla="*/ 1 w 4548"/>
                <a:gd name="T59" fmla="*/ 1270 h 1281"/>
                <a:gd name="T60" fmla="*/ 2 w 4548"/>
                <a:gd name="T61" fmla="*/ 1255 h 1281"/>
                <a:gd name="T62" fmla="*/ 3 w 4548"/>
                <a:gd name="T63" fmla="*/ 1230 h 1281"/>
                <a:gd name="T64" fmla="*/ 4 w 4548"/>
                <a:gd name="T65" fmla="*/ 1197 h 1281"/>
                <a:gd name="T66" fmla="*/ 5 w 4548"/>
                <a:gd name="T67" fmla="*/ 1144 h 1281"/>
                <a:gd name="T68" fmla="*/ 7 w 4548"/>
                <a:gd name="T69" fmla="*/ 1078 h 1281"/>
                <a:gd name="T70" fmla="*/ 8 w 4548"/>
                <a:gd name="T71" fmla="*/ 994 h 1281"/>
                <a:gd name="T72" fmla="*/ 9 w 4548"/>
                <a:gd name="T73" fmla="*/ 903 h 1281"/>
                <a:gd name="T74" fmla="*/ 11 w 4548"/>
                <a:gd name="T75" fmla="*/ 769 h 1281"/>
                <a:gd name="T76" fmla="*/ 13 w 4548"/>
                <a:gd name="T77" fmla="*/ 625 h 1281"/>
                <a:gd name="T78" fmla="*/ 14 w 4548"/>
                <a:gd name="T79" fmla="*/ 525 h 1281"/>
                <a:gd name="T80" fmla="*/ 15 w 4548"/>
                <a:gd name="T81" fmla="*/ 422 h 1281"/>
                <a:gd name="T82" fmla="*/ 16 w 4548"/>
                <a:gd name="T83" fmla="*/ 334 h 1281"/>
                <a:gd name="T84" fmla="*/ 17 w 4548"/>
                <a:gd name="T85" fmla="*/ 252 h 1281"/>
                <a:gd name="T86" fmla="*/ 17 w 4548"/>
                <a:gd name="T87" fmla="*/ 186 h 1281"/>
                <a:gd name="T88" fmla="*/ 18 w 4548"/>
                <a:gd name="T89" fmla="*/ 130 h 1281"/>
                <a:gd name="T90" fmla="*/ 18 w 4548"/>
                <a:gd name="T91" fmla="*/ 85 h 1281"/>
                <a:gd name="T92" fmla="*/ 18 w 4548"/>
                <a:gd name="T93" fmla="*/ 49 h 1281"/>
                <a:gd name="T94" fmla="*/ 18 w 4548"/>
                <a:gd name="T95" fmla="*/ 23 h 1281"/>
                <a:gd name="T96" fmla="*/ 18 w 4548"/>
                <a:gd name="T97" fmla="*/ 0 h 1281"/>
                <a:gd name="T98" fmla="*/ 18 w 4548"/>
                <a:gd name="T99" fmla="*/ 6 h 12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548"/>
                <a:gd name="T151" fmla="*/ 0 h 1281"/>
                <a:gd name="T152" fmla="*/ 4548 w 4548"/>
                <a:gd name="T153" fmla="*/ 1281 h 12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548" h="1281">
                  <a:moveTo>
                    <a:pt x="4498" y="6"/>
                  </a:moveTo>
                  <a:lnTo>
                    <a:pt x="4496" y="17"/>
                  </a:lnTo>
                  <a:lnTo>
                    <a:pt x="4479" y="38"/>
                  </a:lnTo>
                  <a:lnTo>
                    <a:pt x="4438" y="68"/>
                  </a:lnTo>
                  <a:lnTo>
                    <a:pt x="4369" y="112"/>
                  </a:lnTo>
                  <a:lnTo>
                    <a:pt x="4270" y="164"/>
                  </a:lnTo>
                  <a:lnTo>
                    <a:pt x="4133" y="231"/>
                  </a:lnTo>
                  <a:lnTo>
                    <a:pt x="3964" y="306"/>
                  </a:lnTo>
                  <a:lnTo>
                    <a:pt x="3736" y="398"/>
                  </a:lnTo>
                  <a:lnTo>
                    <a:pt x="3466" y="501"/>
                  </a:lnTo>
                  <a:lnTo>
                    <a:pt x="3099" y="632"/>
                  </a:lnTo>
                  <a:lnTo>
                    <a:pt x="2763" y="746"/>
                  </a:lnTo>
                  <a:lnTo>
                    <a:pt x="2389" y="862"/>
                  </a:lnTo>
                  <a:lnTo>
                    <a:pt x="1976" y="975"/>
                  </a:lnTo>
                  <a:lnTo>
                    <a:pt x="1627" y="1056"/>
                  </a:lnTo>
                  <a:lnTo>
                    <a:pt x="1310" y="1120"/>
                  </a:lnTo>
                  <a:lnTo>
                    <a:pt x="1050" y="1165"/>
                  </a:lnTo>
                  <a:lnTo>
                    <a:pt x="768" y="1202"/>
                  </a:lnTo>
                  <a:lnTo>
                    <a:pt x="538" y="1227"/>
                  </a:lnTo>
                  <a:lnTo>
                    <a:pt x="353" y="1242"/>
                  </a:lnTo>
                  <a:lnTo>
                    <a:pt x="204" y="1250"/>
                  </a:lnTo>
                  <a:lnTo>
                    <a:pt x="94" y="1253"/>
                  </a:lnTo>
                  <a:lnTo>
                    <a:pt x="27" y="1253"/>
                  </a:lnTo>
                  <a:lnTo>
                    <a:pt x="4" y="1252"/>
                  </a:lnTo>
                  <a:lnTo>
                    <a:pt x="2" y="1266"/>
                  </a:lnTo>
                  <a:lnTo>
                    <a:pt x="0" y="1280"/>
                  </a:lnTo>
                  <a:lnTo>
                    <a:pt x="25" y="1281"/>
                  </a:lnTo>
                  <a:lnTo>
                    <a:pt x="94" y="1281"/>
                  </a:lnTo>
                  <a:lnTo>
                    <a:pt x="204" y="1278"/>
                  </a:lnTo>
                  <a:lnTo>
                    <a:pt x="361" y="1270"/>
                  </a:lnTo>
                  <a:lnTo>
                    <a:pt x="554" y="1255"/>
                  </a:lnTo>
                  <a:lnTo>
                    <a:pt x="776" y="1230"/>
                  </a:lnTo>
                  <a:lnTo>
                    <a:pt x="1015" y="1197"/>
                  </a:lnTo>
                  <a:lnTo>
                    <a:pt x="1341" y="1144"/>
                  </a:lnTo>
                  <a:lnTo>
                    <a:pt x="1669" y="1078"/>
                  </a:lnTo>
                  <a:lnTo>
                    <a:pt x="2022" y="994"/>
                  </a:lnTo>
                  <a:lnTo>
                    <a:pt x="2358" y="903"/>
                  </a:lnTo>
                  <a:lnTo>
                    <a:pt x="2786" y="769"/>
                  </a:lnTo>
                  <a:lnTo>
                    <a:pt x="3211" y="625"/>
                  </a:lnTo>
                  <a:lnTo>
                    <a:pt x="3493" y="525"/>
                  </a:lnTo>
                  <a:lnTo>
                    <a:pt x="3763" y="422"/>
                  </a:lnTo>
                  <a:lnTo>
                    <a:pt x="3979" y="334"/>
                  </a:lnTo>
                  <a:lnTo>
                    <a:pt x="4164" y="252"/>
                  </a:lnTo>
                  <a:lnTo>
                    <a:pt x="4301" y="186"/>
                  </a:lnTo>
                  <a:lnTo>
                    <a:pt x="4407" y="130"/>
                  </a:lnTo>
                  <a:lnTo>
                    <a:pt x="4477" y="85"/>
                  </a:lnTo>
                  <a:lnTo>
                    <a:pt x="4525" y="49"/>
                  </a:lnTo>
                  <a:lnTo>
                    <a:pt x="4546" y="23"/>
                  </a:lnTo>
                  <a:lnTo>
                    <a:pt x="4548" y="0"/>
                  </a:lnTo>
                  <a:lnTo>
                    <a:pt x="4498" y="6"/>
                  </a:lnTo>
                  <a:close/>
                </a:path>
              </a:pathLst>
            </a:custGeom>
            <a:solidFill>
              <a:srgbClr val="000000"/>
            </a:solidFill>
            <a:ln w="9525">
              <a:noFill/>
              <a:round/>
              <a:headEnd/>
              <a:tailEnd/>
            </a:ln>
          </p:spPr>
          <p:txBody>
            <a:bodyPr/>
            <a:lstStyle/>
            <a:p>
              <a:endParaRPr lang="en-US"/>
            </a:p>
          </p:txBody>
        </p:sp>
        <p:sp>
          <p:nvSpPr>
            <p:cNvPr id="16465" name="Freeform 458"/>
            <p:cNvSpPr>
              <a:spLocks/>
            </p:cNvSpPr>
            <p:nvPr/>
          </p:nvSpPr>
          <p:spPr bwMode="auto">
            <a:xfrm>
              <a:off x="1460" y="1558"/>
              <a:ext cx="581" cy="2221"/>
            </a:xfrm>
            <a:custGeom>
              <a:avLst/>
              <a:gdLst>
                <a:gd name="T0" fmla="*/ 0 w 1164"/>
                <a:gd name="T1" fmla="*/ 1 h 2221"/>
                <a:gd name="T2" fmla="*/ 0 w 1164"/>
                <a:gd name="T3" fmla="*/ 0 h 2221"/>
                <a:gd name="T4" fmla="*/ 0 w 1164"/>
                <a:gd name="T5" fmla="*/ 52 h 2221"/>
                <a:gd name="T6" fmla="*/ 0 w 1164"/>
                <a:gd name="T7" fmla="*/ 140 h 2221"/>
                <a:gd name="T8" fmla="*/ 0 w 1164"/>
                <a:gd name="T9" fmla="*/ 275 h 2221"/>
                <a:gd name="T10" fmla="*/ 1 w 1164"/>
                <a:gd name="T11" fmla="*/ 465 h 2221"/>
                <a:gd name="T12" fmla="*/ 1 w 1164"/>
                <a:gd name="T13" fmla="*/ 653 h 2221"/>
                <a:gd name="T14" fmla="*/ 2 w 1164"/>
                <a:gd name="T15" fmla="*/ 877 h 2221"/>
                <a:gd name="T16" fmla="*/ 2 w 1164"/>
                <a:gd name="T17" fmla="*/ 1128 h 2221"/>
                <a:gd name="T18" fmla="*/ 3 w 1164"/>
                <a:gd name="T19" fmla="*/ 1337 h 2221"/>
                <a:gd name="T20" fmla="*/ 3 w 1164"/>
                <a:gd name="T21" fmla="*/ 1604 h 2221"/>
                <a:gd name="T22" fmla="*/ 4 w 1164"/>
                <a:gd name="T23" fmla="*/ 1829 h 2221"/>
                <a:gd name="T24" fmla="*/ 4 w 1164"/>
                <a:gd name="T25" fmla="*/ 2033 h 2221"/>
                <a:gd name="T26" fmla="*/ 4 w 1164"/>
                <a:gd name="T27" fmla="*/ 2209 h 2221"/>
                <a:gd name="T28" fmla="*/ 4 w 1164"/>
                <a:gd name="T29" fmla="*/ 2221 h 2221"/>
                <a:gd name="T30" fmla="*/ 4 w 1164"/>
                <a:gd name="T31" fmla="*/ 2185 h 2221"/>
                <a:gd name="T32" fmla="*/ 4 w 1164"/>
                <a:gd name="T33" fmla="*/ 2031 h 2221"/>
                <a:gd name="T34" fmla="*/ 4 w 1164"/>
                <a:gd name="T35" fmla="*/ 1823 h 2221"/>
                <a:gd name="T36" fmla="*/ 4 w 1164"/>
                <a:gd name="T37" fmla="*/ 1591 h 2221"/>
                <a:gd name="T38" fmla="*/ 3 w 1164"/>
                <a:gd name="T39" fmla="*/ 1378 h 2221"/>
                <a:gd name="T40" fmla="*/ 3 w 1164"/>
                <a:gd name="T41" fmla="*/ 1098 h 2221"/>
                <a:gd name="T42" fmla="*/ 2 w 1164"/>
                <a:gd name="T43" fmla="*/ 869 h 2221"/>
                <a:gd name="T44" fmla="*/ 2 w 1164"/>
                <a:gd name="T45" fmla="*/ 644 h 2221"/>
                <a:gd name="T46" fmla="*/ 1 w 1164"/>
                <a:gd name="T47" fmla="*/ 421 h 2221"/>
                <a:gd name="T48" fmla="*/ 0 w 1164"/>
                <a:gd name="T49" fmla="*/ 264 h 2221"/>
                <a:gd name="T50" fmla="*/ 0 w 1164"/>
                <a:gd name="T51" fmla="*/ 129 h 2221"/>
                <a:gd name="T52" fmla="*/ 0 w 1164"/>
                <a:gd name="T53" fmla="*/ 41 h 2221"/>
                <a:gd name="T54" fmla="*/ 0 w 1164"/>
                <a:gd name="T55" fmla="*/ 9 h 2221"/>
                <a:gd name="T56" fmla="*/ 0 w 1164"/>
                <a:gd name="T57" fmla="*/ 15 h 2221"/>
                <a:gd name="T58" fmla="*/ 0 w 1164"/>
                <a:gd name="T59" fmla="*/ 1 h 22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64"/>
                <a:gd name="T91" fmla="*/ 0 h 2221"/>
                <a:gd name="T92" fmla="*/ 1164 w 1164"/>
                <a:gd name="T93" fmla="*/ 2221 h 22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64" h="2221">
                  <a:moveTo>
                    <a:pt x="41" y="1"/>
                  </a:moveTo>
                  <a:lnTo>
                    <a:pt x="0" y="0"/>
                  </a:lnTo>
                  <a:lnTo>
                    <a:pt x="41" y="52"/>
                  </a:lnTo>
                  <a:lnTo>
                    <a:pt x="106" y="140"/>
                  </a:lnTo>
                  <a:lnTo>
                    <a:pt x="205" y="275"/>
                  </a:lnTo>
                  <a:lnTo>
                    <a:pt x="340" y="465"/>
                  </a:lnTo>
                  <a:lnTo>
                    <a:pt x="465" y="653"/>
                  </a:lnTo>
                  <a:lnTo>
                    <a:pt x="610" y="877"/>
                  </a:lnTo>
                  <a:lnTo>
                    <a:pt x="757" y="1128"/>
                  </a:lnTo>
                  <a:lnTo>
                    <a:pt x="870" y="1337"/>
                  </a:lnTo>
                  <a:lnTo>
                    <a:pt x="990" y="1604"/>
                  </a:lnTo>
                  <a:lnTo>
                    <a:pt x="1071" y="1829"/>
                  </a:lnTo>
                  <a:lnTo>
                    <a:pt x="1114" y="2033"/>
                  </a:lnTo>
                  <a:lnTo>
                    <a:pt x="1108" y="2209"/>
                  </a:lnTo>
                  <a:lnTo>
                    <a:pt x="1145" y="2221"/>
                  </a:lnTo>
                  <a:lnTo>
                    <a:pt x="1158" y="2185"/>
                  </a:lnTo>
                  <a:lnTo>
                    <a:pt x="1164" y="2031"/>
                  </a:lnTo>
                  <a:lnTo>
                    <a:pt x="1121" y="1823"/>
                  </a:lnTo>
                  <a:lnTo>
                    <a:pt x="1040" y="1591"/>
                  </a:lnTo>
                  <a:lnTo>
                    <a:pt x="940" y="1378"/>
                  </a:lnTo>
                  <a:lnTo>
                    <a:pt x="791" y="1098"/>
                  </a:lnTo>
                  <a:lnTo>
                    <a:pt x="656" y="869"/>
                  </a:lnTo>
                  <a:lnTo>
                    <a:pt x="512" y="644"/>
                  </a:lnTo>
                  <a:lnTo>
                    <a:pt x="363" y="421"/>
                  </a:lnTo>
                  <a:lnTo>
                    <a:pt x="251" y="264"/>
                  </a:lnTo>
                  <a:lnTo>
                    <a:pt x="153" y="129"/>
                  </a:lnTo>
                  <a:lnTo>
                    <a:pt x="87" y="41"/>
                  </a:lnTo>
                  <a:lnTo>
                    <a:pt x="62" y="9"/>
                  </a:lnTo>
                  <a:lnTo>
                    <a:pt x="39" y="15"/>
                  </a:lnTo>
                  <a:lnTo>
                    <a:pt x="41" y="1"/>
                  </a:lnTo>
                  <a:close/>
                </a:path>
              </a:pathLst>
            </a:custGeom>
            <a:solidFill>
              <a:srgbClr val="000000"/>
            </a:solidFill>
            <a:ln w="9525">
              <a:noFill/>
              <a:round/>
              <a:headEnd/>
              <a:tailEnd/>
            </a:ln>
          </p:spPr>
          <p:txBody>
            <a:bodyPr/>
            <a:lstStyle/>
            <a:p>
              <a:endParaRPr lang="en-US"/>
            </a:p>
          </p:txBody>
        </p:sp>
        <p:sp>
          <p:nvSpPr>
            <p:cNvPr id="16466" name="Freeform 459"/>
            <p:cNvSpPr>
              <a:spLocks/>
            </p:cNvSpPr>
            <p:nvPr/>
          </p:nvSpPr>
          <p:spPr bwMode="auto">
            <a:xfrm>
              <a:off x="2032" y="2208"/>
              <a:ext cx="1947" cy="1571"/>
            </a:xfrm>
            <a:custGeom>
              <a:avLst/>
              <a:gdLst>
                <a:gd name="T0" fmla="*/ 0 w 3894"/>
                <a:gd name="T1" fmla="*/ 1571 h 1571"/>
                <a:gd name="T2" fmla="*/ 1 w 3894"/>
                <a:gd name="T3" fmla="*/ 1554 h 1571"/>
                <a:gd name="T4" fmla="*/ 1 w 3894"/>
                <a:gd name="T5" fmla="*/ 1505 h 1571"/>
                <a:gd name="T6" fmla="*/ 2 w 3894"/>
                <a:gd name="T7" fmla="*/ 1428 h 1571"/>
                <a:gd name="T8" fmla="*/ 4 w 3894"/>
                <a:gd name="T9" fmla="*/ 1269 h 1571"/>
                <a:gd name="T10" fmla="*/ 5 w 3894"/>
                <a:gd name="T11" fmla="*/ 1201 h 1571"/>
                <a:gd name="T12" fmla="*/ 6 w 3894"/>
                <a:gd name="T13" fmla="*/ 1060 h 1571"/>
                <a:gd name="T14" fmla="*/ 8 w 3894"/>
                <a:gd name="T15" fmla="*/ 903 h 1571"/>
                <a:gd name="T16" fmla="*/ 9 w 3894"/>
                <a:gd name="T17" fmla="*/ 735 h 1571"/>
                <a:gd name="T18" fmla="*/ 11 w 3894"/>
                <a:gd name="T19" fmla="*/ 562 h 1571"/>
                <a:gd name="T20" fmla="*/ 13 w 3894"/>
                <a:gd name="T21" fmla="*/ 377 h 1571"/>
                <a:gd name="T22" fmla="*/ 14 w 3894"/>
                <a:gd name="T23" fmla="*/ 196 h 1571"/>
                <a:gd name="T24" fmla="*/ 15 w 3894"/>
                <a:gd name="T25" fmla="*/ 13 h 1571"/>
                <a:gd name="T26" fmla="*/ 15 w 3894"/>
                <a:gd name="T27" fmla="*/ 7 h 1571"/>
                <a:gd name="T28" fmla="*/ 15 w 3894"/>
                <a:gd name="T29" fmla="*/ 0 h 1571"/>
                <a:gd name="T30" fmla="*/ 14 w 3894"/>
                <a:gd name="T31" fmla="*/ 174 h 1571"/>
                <a:gd name="T32" fmla="*/ 13 w 3894"/>
                <a:gd name="T33" fmla="*/ 356 h 1571"/>
                <a:gd name="T34" fmla="*/ 11 w 3894"/>
                <a:gd name="T35" fmla="*/ 532 h 1571"/>
                <a:gd name="T36" fmla="*/ 9 w 3894"/>
                <a:gd name="T37" fmla="*/ 711 h 1571"/>
                <a:gd name="T38" fmla="*/ 8 w 3894"/>
                <a:gd name="T39" fmla="*/ 879 h 1571"/>
                <a:gd name="T40" fmla="*/ 6 w 3894"/>
                <a:gd name="T41" fmla="*/ 1036 h 1571"/>
                <a:gd name="T42" fmla="*/ 5 w 3894"/>
                <a:gd name="T43" fmla="*/ 1177 h 1571"/>
                <a:gd name="T44" fmla="*/ 3 w 3894"/>
                <a:gd name="T45" fmla="*/ 1356 h 1571"/>
                <a:gd name="T46" fmla="*/ 2 w 3894"/>
                <a:gd name="T47" fmla="*/ 1404 h 1571"/>
                <a:gd name="T48" fmla="*/ 1 w 3894"/>
                <a:gd name="T49" fmla="*/ 1481 h 1571"/>
                <a:gd name="T50" fmla="*/ 1 w 3894"/>
                <a:gd name="T51" fmla="*/ 1530 h 1571"/>
                <a:gd name="T52" fmla="*/ 1 w 3894"/>
                <a:gd name="T53" fmla="*/ 1535 h 1571"/>
                <a:gd name="T54" fmla="*/ 0 w 3894"/>
                <a:gd name="T55" fmla="*/ 1571 h 15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894"/>
                <a:gd name="T85" fmla="*/ 0 h 1571"/>
                <a:gd name="T86" fmla="*/ 3894 w 3894"/>
                <a:gd name="T87" fmla="*/ 1571 h 15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894" h="1571">
                  <a:moveTo>
                    <a:pt x="0" y="1571"/>
                  </a:moveTo>
                  <a:lnTo>
                    <a:pt x="52" y="1554"/>
                  </a:lnTo>
                  <a:lnTo>
                    <a:pt x="196" y="1505"/>
                  </a:lnTo>
                  <a:lnTo>
                    <a:pt x="422" y="1428"/>
                  </a:lnTo>
                  <a:lnTo>
                    <a:pt x="872" y="1269"/>
                  </a:lnTo>
                  <a:lnTo>
                    <a:pt x="1061" y="1201"/>
                  </a:lnTo>
                  <a:lnTo>
                    <a:pt x="1447" y="1060"/>
                  </a:lnTo>
                  <a:lnTo>
                    <a:pt x="1860" y="903"/>
                  </a:lnTo>
                  <a:lnTo>
                    <a:pt x="2288" y="735"/>
                  </a:lnTo>
                  <a:lnTo>
                    <a:pt x="2709" y="562"/>
                  </a:lnTo>
                  <a:lnTo>
                    <a:pt x="3137" y="377"/>
                  </a:lnTo>
                  <a:lnTo>
                    <a:pt x="3529" y="196"/>
                  </a:lnTo>
                  <a:lnTo>
                    <a:pt x="3892" y="13"/>
                  </a:lnTo>
                  <a:lnTo>
                    <a:pt x="3894" y="7"/>
                  </a:lnTo>
                  <a:lnTo>
                    <a:pt x="3845" y="0"/>
                  </a:lnTo>
                  <a:lnTo>
                    <a:pt x="3498" y="174"/>
                  </a:lnTo>
                  <a:lnTo>
                    <a:pt x="3106" y="356"/>
                  </a:lnTo>
                  <a:lnTo>
                    <a:pt x="2701" y="532"/>
                  </a:lnTo>
                  <a:lnTo>
                    <a:pt x="2261" y="711"/>
                  </a:lnTo>
                  <a:lnTo>
                    <a:pt x="1833" y="879"/>
                  </a:lnTo>
                  <a:lnTo>
                    <a:pt x="1420" y="1036"/>
                  </a:lnTo>
                  <a:lnTo>
                    <a:pt x="1034" y="1177"/>
                  </a:lnTo>
                  <a:lnTo>
                    <a:pt x="532" y="1356"/>
                  </a:lnTo>
                  <a:lnTo>
                    <a:pt x="399" y="1404"/>
                  </a:lnTo>
                  <a:lnTo>
                    <a:pt x="173" y="1481"/>
                  </a:lnTo>
                  <a:lnTo>
                    <a:pt x="28" y="1530"/>
                  </a:lnTo>
                  <a:lnTo>
                    <a:pt x="13" y="1535"/>
                  </a:lnTo>
                  <a:lnTo>
                    <a:pt x="0" y="1571"/>
                  </a:lnTo>
                  <a:close/>
                </a:path>
              </a:pathLst>
            </a:custGeom>
            <a:solidFill>
              <a:srgbClr val="000000"/>
            </a:solidFill>
            <a:ln w="9525">
              <a:noFill/>
              <a:round/>
              <a:headEnd/>
              <a:tailEnd/>
            </a:ln>
          </p:spPr>
          <p:txBody>
            <a:bodyPr/>
            <a:lstStyle/>
            <a:p>
              <a:endParaRPr lang="en-US"/>
            </a:p>
          </p:txBody>
        </p:sp>
        <p:sp>
          <p:nvSpPr>
            <p:cNvPr id="16467" name="Freeform 460"/>
            <p:cNvSpPr>
              <a:spLocks/>
            </p:cNvSpPr>
            <p:nvPr/>
          </p:nvSpPr>
          <p:spPr bwMode="auto">
            <a:xfrm>
              <a:off x="1488" y="1488"/>
              <a:ext cx="648" cy="492"/>
            </a:xfrm>
            <a:custGeom>
              <a:avLst/>
              <a:gdLst>
                <a:gd name="T0" fmla="*/ 546 w 648"/>
                <a:gd name="T1" fmla="*/ 0 h 492"/>
                <a:gd name="T2" fmla="*/ 405 w 648"/>
                <a:gd name="T3" fmla="*/ 36 h 492"/>
                <a:gd name="T4" fmla="*/ 264 w 648"/>
                <a:gd name="T5" fmla="*/ 66 h 492"/>
                <a:gd name="T6" fmla="*/ 99 w 648"/>
                <a:gd name="T7" fmla="*/ 90 h 492"/>
                <a:gd name="T8" fmla="*/ 0 w 648"/>
                <a:gd name="T9" fmla="*/ 93 h 492"/>
                <a:gd name="T10" fmla="*/ 147 w 648"/>
                <a:gd name="T11" fmla="*/ 492 h 492"/>
                <a:gd name="T12" fmla="*/ 360 w 648"/>
                <a:gd name="T13" fmla="*/ 414 h 492"/>
                <a:gd name="T14" fmla="*/ 648 w 648"/>
                <a:gd name="T15" fmla="*/ 273 h 492"/>
                <a:gd name="T16" fmla="*/ 624 w 648"/>
                <a:gd name="T17" fmla="*/ 168 h 492"/>
                <a:gd name="T18" fmla="*/ 612 w 648"/>
                <a:gd name="T19" fmla="*/ 123 h 492"/>
                <a:gd name="T20" fmla="*/ 588 w 648"/>
                <a:gd name="T21" fmla="*/ 63 h 492"/>
                <a:gd name="T22" fmla="*/ 546 w 648"/>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492"/>
                <a:gd name="T38" fmla="*/ 648 w 648"/>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492">
                  <a:moveTo>
                    <a:pt x="546" y="0"/>
                  </a:moveTo>
                  <a:lnTo>
                    <a:pt x="405" y="36"/>
                  </a:lnTo>
                  <a:lnTo>
                    <a:pt x="264" y="66"/>
                  </a:lnTo>
                  <a:lnTo>
                    <a:pt x="99" y="90"/>
                  </a:lnTo>
                  <a:lnTo>
                    <a:pt x="0" y="93"/>
                  </a:lnTo>
                  <a:lnTo>
                    <a:pt x="147" y="492"/>
                  </a:lnTo>
                  <a:lnTo>
                    <a:pt x="360" y="414"/>
                  </a:lnTo>
                  <a:lnTo>
                    <a:pt x="648" y="273"/>
                  </a:lnTo>
                  <a:lnTo>
                    <a:pt x="624" y="168"/>
                  </a:lnTo>
                  <a:lnTo>
                    <a:pt x="612" y="123"/>
                  </a:lnTo>
                  <a:lnTo>
                    <a:pt x="588" y="63"/>
                  </a:lnTo>
                  <a:lnTo>
                    <a:pt x="546"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6468" name="Freeform 461"/>
            <p:cNvSpPr>
              <a:spLocks/>
            </p:cNvSpPr>
            <p:nvPr/>
          </p:nvSpPr>
          <p:spPr bwMode="auto">
            <a:xfrm>
              <a:off x="2049" y="1278"/>
              <a:ext cx="597" cy="477"/>
            </a:xfrm>
            <a:custGeom>
              <a:avLst/>
              <a:gdLst>
                <a:gd name="T0" fmla="*/ 465 w 597"/>
                <a:gd name="T1" fmla="*/ 0 h 477"/>
                <a:gd name="T2" fmla="*/ 249 w 597"/>
                <a:gd name="T3" fmla="*/ 105 h 477"/>
                <a:gd name="T4" fmla="*/ 0 w 597"/>
                <a:gd name="T5" fmla="*/ 207 h 477"/>
                <a:gd name="T6" fmla="*/ 27 w 597"/>
                <a:gd name="T7" fmla="*/ 258 h 477"/>
                <a:gd name="T8" fmla="*/ 57 w 597"/>
                <a:gd name="T9" fmla="*/ 315 h 477"/>
                <a:gd name="T10" fmla="*/ 75 w 597"/>
                <a:gd name="T11" fmla="*/ 384 h 477"/>
                <a:gd name="T12" fmla="*/ 99 w 597"/>
                <a:gd name="T13" fmla="*/ 477 h 477"/>
                <a:gd name="T14" fmla="*/ 366 w 597"/>
                <a:gd name="T15" fmla="*/ 348 h 477"/>
                <a:gd name="T16" fmla="*/ 597 w 597"/>
                <a:gd name="T17" fmla="*/ 219 h 477"/>
                <a:gd name="T18" fmla="*/ 567 w 597"/>
                <a:gd name="T19" fmla="*/ 120 h 477"/>
                <a:gd name="T20" fmla="*/ 519 w 597"/>
                <a:gd name="T21" fmla="*/ 54 h 477"/>
                <a:gd name="T22" fmla="*/ 465 w 597"/>
                <a:gd name="T23" fmla="*/ 0 h 4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97"/>
                <a:gd name="T37" fmla="*/ 0 h 477"/>
                <a:gd name="T38" fmla="*/ 597 w 597"/>
                <a:gd name="T39" fmla="*/ 477 h 4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97" h="477">
                  <a:moveTo>
                    <a:pt x="465" y="0"/>
                  </a:moveTo>
                  <a:lnTo>
                    <a:pt x="249" y="105"/>
                  </a:lnTo>
                  <a:lnTo>
                    <a:pt x="0" y="207"/>
                  </a:lnTo>
                  <a:lnTo>
                    <a:pt x="27" y="258"/>
                  </a:lnTo>
                  <a:lnTo>
                    <a:pt x="57" y="315"/>
                  </a:lnTo>
                  <a:lnTo>
                    <a:pt x="75" y="384"/>
                  </a:lnTo>
                  <a:lnTo>
                    <a:pt x="99" y="477"/>
                  </a:lnTo>
                  <a:lnTo>
                    <a:pt x="366" y="348"/>
                  </a:lnTo>
                  <a:lnTo>
                    <a:pt x="597" y="219"/>
                  </a:lnTo>
                  <a:lnTo>
                    <a:pt x="567" y="120"/>
                  </a:lnTo>
                  <a:lnTo>
                    <a:pt x="519" y="54"/>
                  </a:lnTo>
                  <a:lnTo>
                    <a:pt x="4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69" name="Freeform 462"/>
            <p:cNvSpPr>
              <a:spLocks/>
            </p:cNvSpPr>
            <p:nvPr/>
          </p:nvSpPr>
          <p:spPr bwMode="auto">
            <a:xfrm>
              <a:off x="2526" y="1005"/>
              <a:ext cx="585" cy="486"/>
            </a:xfrm>
            <a:custGeom>
              <a:avLst/>
              <a:gdLst>
                <a:gd name="T0" fmla="*/ 447 w 585"/>
                <a:gd name="T1" fmla="*/ 0 h 486"/>
                <a:gd name="T2" fmla="*/ 261 w 585"/>
                <a:gd name="T3" fmla="*/ 120 h 486"/>
                <a:gd name="T4" fmla="*/ 0 w 585"/>
                <a:gd name="T5" fmla="*/ 264 h 486"/>
                <a:gd name="T6" fmla="*/ 48 w 585"/>
                <a:gd name="T7" fmla="*/ 318 h 486"/>
                <a:gd name="T8" fmla="*/ 93 w 585"/>
                <a:gd name="T9" fmla="*/ 384 h 486"/>
                <a:gd name="T10" fmla="*/ 132 w 585"/>
                <a:gd name="T11" fmla="*/ 486 h 486"/>
                <a:gd name="T12" fmla="*/ 363 w 585"/>
                <a:gd name="T13" fmla="*/ 348 h 486"/>
                <a:gd name="T14" fmla="*/ 585 w 585"/>
                <a:gd name="T15" fmla="*/ 210 h 486"/>
                <a:gd name="T16" fmla="*/ 528 w 585"/>
                <a:gd name="T17" fmla="*/ 102 h 486"/>
                <a:gd name="T18" fmla="*/ 486 w 585"/>
                <a:gd name="T19" fmla="*/ 51 h 486"/>
                <a:gd name="T20" fmla="*/ 447 w 585"/>
                <a:gd name="T21" fmla="*/ 0 h 4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5"/>
                <a:gd name="T34" fmla="*/ 0 h 486"/>
                <a:gd name="T35" fmla="*/ 585 w 585"/>
                <a:gd name="T36" fmla="*/ 486 h 4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5" h="486">
                  <a:moveTo>
                    <a:pt x="447" y="0"/>
                  </a:moveTo>
                  <a:lnTo>
                    <a:pt x="261" y="120"/>
                  </a:lnTo>
                  <a:lnTo>
                    <a:pt x="0" y="264"/>
                  </a:lnTo>
                  <a:lnTo>
                    <a:pt x="48" y="318"/>
                  </a:lnTo>
                  <a:lnTo>
                    <a:pt x="93" y="384"/>
                  </a:lnTo>
                  <a:lnTo>
                    <a:pt x="132" y="486"/>
                  </a:lnTo>
                  <a:lnTo>
                    <a:pt x="363" y="348"/>
                  </a:lnTo>
                  <a:lnTo>
                    <a:pt x="585" y="210"/>
                  </a:lnTo>
                  <a:lnTo>
                    <a:pt x="528" y="102"/>
                  </a:lnTo>
                  <a:lnTo>
                    <a:pt x="486" y="51"/>
                  </a:lnTo>
                  <a:lnTo>
                    <a:pt x="447"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6470" name="Freeform 463"/>
            <p:cNvSpPr>
              <a:spLocks/>
            </p:cNvSpPr>
            <p:nvPr/>
          </p:nvSpPr>
          <p:spPr bwMode="auto">
            <a:xfrm>
              <a:off x="2988" y="723"/>
              <a:ext cx="531" cy="483"/>
            </a:xfrm>
            <a:custGeom>
              <a:avLst/>
              <a:gdLst>
                <a:gd name="T0" fmla="*/ 372 w 531"/>
                <a:gd name="T1" fmla="*/ 0 h 483"/>
                <a:gd name="T2" fmla="*/ 198 w 531"/>
                <a:gd name="T3" fmla="*/ 132 h 483"/>
                <a:gd name="T4" fmla="*/ 0 w 531"/>
                <a:gd name="T5" fmla="*/ 273 h 483"/>
                <a:gd name="T6" fmla="*/ 33 w 531"/>
                <a:gd name="T7" fmla="*/ 321 h 483"/>
                <a:gd name="T8" fmla="*/ 78 w 531"/>
                <a:gd name="T9" fmla="*/ 381 h 483"/>
                <a:gd name="T10" fmla="*/ 108 w 531"/>
                <a:gd name="T11" fmla="*/ 423 h 483"/>
                <a:gd name="T12" fmla="*/ 135 w 531"/>
                <a:gd name="T13" fmla="*/ 483 h 483"/>
                <a:gd name="T14" fmla="*/ 351 w 531"/>
                <a:gd name="T15" fmla="*/ 345 h 483"/>
                <a:gd name="T16" fmla="*/ 531 w 531"/>
                <a:gd name="T17" fmla="*/ 234 h 483"/>
                <a:gd name="T18" fmla="*/ 468 w 531"/>
                <a:gd name="T19" fmla="*/ 111 h 483"/>
                <a:gd name="T20" fmla="*/ 435 w 531"/>
                <a:gd name="T21" fmla="*/ 54 h 483"/>
                <a:gd name="T22" fmla="*/ 372 w 531"/>
                <a:gd name="T23" fmla="*/ 0 h 4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483"/>
                <a:gd name="T38" fmla="*/ 531 w 531"/>
                <a:gd name="T39" fmla="*/ 483 h 4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483">
                  <a:moveTo>
                    <a:pt x="372" y="0"/>
                  </a:moveTo>
                  <a:lnTo>
                    <a:pt x="198" y="132"/>
                  </a:lnTo>
                  <a:lnTo>
                    <a:pt x="0" y="273"/>
                  </a:lnTo>
                  <a:lnTo>
                    <a:pt x="33" y="321"/>
                  </a:lnTo>
                  <a:lnTo>
                    <a:pt x="78" y="381"/>
                  </a:lnTo>
                  <a:lnTo>
                    <a:pt x="108" y="423"/>
                  </a:lnTo>
                  <a:lnTo>
                    <a:pt x="135" y="483"/>
                  </a:lnTo>
                  <a:lnTo>
                    <a:pt x="351" y="345"/>
                  </a:lnTo>
                  <a:lnTo>
                    <a:pt x="531" y="234"/>
                  </a:lnTo>
                  <a:lnTo>
                    <a:pt x="468" y="111"/>
                  </a:lnTo>
                  <a:lnTo>
                    <a:pt x="435" y="54"/>
                  </a:lnTo>
                  <a:lnTo>
                    <a:pt x="372"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71" name="Freeform 464"/>
            <p:cNvSpPr>
              <a:spLocks/>
            </p:cNvSpPr>
            <p:nvPr/>
          </p:nvSpPr>
          <p:spPr bwMode="auto">
            <a:xfrm>
              <a:off x="3369" y="363"/>
              <a:ext cx="417" cy="585"/>
            </a:xfrm>
            <a:custGeom>
              <a:avLst/>
              <a:gdLst>
                <a:gd name="T0" fmla="*/ 363 w 417"/>
                <a:gd name="T1" fmla="*/ 0 h 585"/>
                <a:gd name="T2" fmla="*/ 207 w 417"/>
                <a:gd name="T3" fmla="*/ 171 h 585"/>
                <a:gd name="T4" fmla="*/ 0 w 417"/>
                <a:gd name="T5" fmla="*/ 345 h 585"/>
                <a:gd name="T6" fmla="*/ 57 w 417"/>
                <a:gd name="T7" fmla="*/ 393 h 585"/>
                <a:gd name="T8" fmla="*/ 99 w 417"/>
                <a:gd name="T9" fmla="*/ 462 h 585"/>
                <a:gd name="T10" fmla="*/ 162 w 417"/>
                <a:gd name="T11" fmla="*/ 585 h 585"/>
                <a:gd name="T12" fmla="*/ 369 w 417"/>
                <a:gd name="T13" fmla="*/ 447 h 585"/>
                <a:gd name="T14" fmla="*/ 417 w 417"/>
                <a:gd name="T15" fmla="*/ 402 h 585"/>
                <a:gd name="T16" fmla="*/ 363 w 417"/>
                <a:gd name="T17" fmla="*/ 0 h 5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7"/>
                <a:gd name="T28" fmla="*/ 0 h 585"/>
                <a:gd name="T29" fmla="*/ 417 w 417"/>
                <a:gd name="T30" fmla="*/ 585 h 5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7" h="585">
                  <a:moveTo>
                    <a:pt x="363" y="0"/>
                  </a:moveTo>
                  <a:lnTo>
                    <a:pt x="207" y="171"/>
                  </a:lnTo>
                  <a:lnTo>
                    <a:pt x="0" y="345"/>
                  </a:lnTo>
                  <a:lnTo>
                    <a:pt x="57" y="393"/>
                  </a:lnTo>
                  <a:lnTo>
                    <a:pt x="99" y="462"/>
                  </a:lnTo>
                  <a:lnTo>
                    <a:pt x="162" y="585"/>
                  </a:lnTo>
                  <a:lnTo>
                    <a:pt x="369" y="447"/>
                  </a:lnTo>
                  <a:lnTo>
                    <a:pt x="417" y="402"/>
                  </a:lnTo>
                  <a:lnTo>
                    <a:pt x="36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72" name="Freeform 465"/>
            <p:cNvSpPr>
              <a:spLocks/>
            </p:cNvSpPr>
            <p:nvPr/>
          </p:nvSpPr>
          <p:spPr bwMode="auto">
            <a:xfrm>
              <a:off x="1644" y="1896"/>
              <a:ext cx="444" cy="450"/>
            </a:xfrm>
            <a:custGeom>
              <a:avLst/>
              <a:gdLst>
                <a:gd name="T0" fmla="*/ 273 w 444"/>
                <a:gd name="T1" fmla="*/ 0 h 450"/>
                <a:gd name="T2" fmla="*/ 0 w 444"/>
                <a:gd name="T3" fmla="*/ 102 h 450"/>
                <a:gd name="T4" fmla="*/ 114 w 444"/>
                <a:gd name="T5" fmla="*/ 450 h 450"/>
                <a:gd name="T6" fmla="*/ 276 w 444"/>
                <a:gd name="T7" fmla="*/ 387 h 450"/>
                <a:gd name="T8" fmla="*/ 444 w 444"/>
                <a:gd name="T9" fmla="*/ 303 h 450"/>
                <a:gd name="T10" fmla="*/ 390 w 444"/>
                <a:gd name="T11" fmla="*/ 138 h 450"/>
                <a:gd name="T12" fmla="*/ 333 w 444"/>
                <a:gd name="T13" fmla="*/ 57 h 450"/>
                <a:gd name="T14" fmla="*/ 273 w 444"/>
                <a:gd name="T15" fmla="*/ 0 h 450"/>
                <a:gd name="T16" fmla="*/ 0 60000 65536"/>
                <a:gd name="T17" fmla="*/ 0 60000 65536"/>
                <a:gd name="T18" fmla="*/ 0 60000 65536"/>
                <a:gd name="T19" fmla="*/ 0 60000 65536"/>
                <a:gd name="T20" fmla="*/ 0 60000 65536"/>
                <a:gd name="T21" fmla="*/ 0 60000 65536"/>
                <a:gd name="T22" fmla="*/ 0 60000 65536"/>
                <a:gd name="T23" fmla="*/ 0 60000 65536"/>
                <a:gd name="T24" fmla="*/ 0 w 444"/>
                <a:gd name="T25" fmla="*/ 0 h 450"/>
                <a:gd name="T26" fmla="*/ 444 w 444"/>
                <a:gd name="T27" fmla="*/ 450 h 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4" h="450">
                  <a:moveTo>
                    <a:pt x="273" y="0"/>
                  </a:moveTo>
                  <a:lnTo>
                    <a:pt x="0" y="102"/>
                  </a:lnTo>
                  <a:lnTo>
                    <a:pt x="114" y="450"/>
                  </a:lnTo>
                  <a:lnTo>
                    <a:pt x="276" y="387"/>
                  </a:lnTo>
                  <a:lnTo>
                    <a:pt x="444" y="303"/>
                  </a:lnTo>
                  <a:lnTo>
                    <a:pt x="390" y="138"/>
                  </a:lnTo>
                  <a:lnTo>
                    <a:pt x="333" y="57"/>
                  </a:lnTo>
                  <a:lnTo>
                    <a:pt x="273"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6473" name="Freeform 466"/>
            <p:cNvSpPr>
              <a:spLocks/>
            </p:cNvSpPr>
            <p:nvPr/>
          </p:nvSpPr>
          <p:spPr bwMode="auto">
            <a:xfrm>
              <a:off x="1929" y="1677"/>
              <a:ext cx="579" cy="507"/>
            </a:xfrm>
            <a:custGeom>
              <a:avLst/>
              <a:gdLst>
                <a:gd name="T0" fmla="*/ 435 w 579"/>
                <a:gd name="T1" fmla="*/ 0 h 507"/>
                <a:gd name="T2" fmla="*/ 225 w 579"/>
                <a:gd name="T3" fmla="*/ 99 h 507"/>
                <a:gd name="T4" fmla="*/ 0 w 579"/>
                <a:gd name="T5" fmla="*/ 210 h 507"/>
                <a:gd name="T6" fmla="*/ 63 w 579"/>
                <a:gd name="T7" fmla="*/ 276 h 507"/>
                <a:gd name="T8" fmla="*/ 120 w 579"/>
                <a:gd name="T9" fmla="*/ 360 h 507"/>
                <a:gd name="T10" fmla="*/ 141 w 579"/>
                <a:gd name="T11" fmla="*/ 429 h 507"/>
                <a:gd name="T12" fmla="*/ 174 w 579"/>
                <a:gd name="T13" fmla="*/ 507 h 507"/>
                <a:gd name="T14" fmla="*/ 390 w 579"/>
                <a:gd name="T15" fmla="*/ 390 h 507"/>
                <a:gd name="T16" fmla="*/ 579 w 579"/>
                <a:gd name="T17" fmla="*/ 279 h 507"/>
                <a:gd name="T18" fmla="*/ 540 w 579"/>
                <a:gd name="T19" fmla="*/ 165 h 507"/>
                <a:gd name="T20" fmla="*/ 495 w 579"/>
                <a:gd name="T21" fmla="*/ 87 h 507"/>
                <a:gd name="T22" fmla="*/ 435 w 579"/>
                <a:gd name="T23" fmla="*/ 0 h 5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9"/>
                <a:gd name="T37" fmla="*/ 0 h 507"/>
                <a:gd name="T38" fmla="*/ 579 w 579"/>
                <a:gd name="T39" fmla="*/ 507 h 5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9" h="507">
                  <a:moveTo>
                    <a:pt x="435" y="0"/>
                  </a:moveTo>
                  <a:lnTo>
                    <a:pt x="225" y="99"/>
                  </a:lnTo>
                  <a:lnTo>
                    <a:pt x="0" y="210"/>
                  </a:lnTo>
                  <a:lnTo>
                    <a:pt x="63" y="276"/>
                  </a:lnTo>
                  <a:lnTo>
                    <a:pt x="120" y="360"/>
                  </a:lnTo>
                  <a:lnTo>
                    <a:pt x="141" y="429"/>
                  </a:lnTo>
                  <a:lnTo>
                    <a:pt x="174" y="507"/>
                  </a:lnTo>
                  <a:lnTo>
                    <a:pt x="390" y="390"/>
                  </a:lnTo>
                  <a:lnTo>
                    <a:pt x="579" y="279"/>
                  </a:lnTo>
                  <a:lnTo>
                    <a:pt x="540" y="165"/>
                  </a:lnTo>
                  <a:lnTo>
                    <a:pt x="495" y="87"/>
                  </a:lnTo>
                  <a:lnTo>
                    <a:pt x="435"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6474" name="Freeform 467"/>
            <p:cNvSpPr>
              <a:spLocks/>
            </p:cNvSpPr>
            <p:nvPr/>
          </p:nvSpPr>
          <p:spPr bwMode="auto">
            <a:xfrm>
              <a:off x="2379" y="1404"/>
              <a:ext cx="630" cy="546"/>
            </a:xfrm>
            <a:custGeom>
              <a:avLst/>
              <a:gdLst>
                <a:gd name="T0" fmla="*/ 459 w 630"/>
                <a:gd name="T1" fmla="*/ 0 h 546"/>
                <a:gd name="T2" fmla="*/ 219 w 630"/>
                <a:gd name="T3" fmla="*/ 144 h 546"/>
                <a:gd name="T4" fmla="*/ 0 w 630"/>
                <a:gd name="T5" fmla="*/ 264 h 546"/>
                <a:gd name="T6" fmla="*/ 57 w 630"/>
                <a:gd name="T7" fmla="*/ 363 h 546"/>
                <a:gd name="T8" fmla="*/ 102 w 630"/>
                <a:gd name="T9" fmla="*/ 441 h 546"/>
                <a:gd name="T10" fmla="*/ 141 w 630"/>
                <a:gd name="T11" fmla="*/ 546 h 546"/>
                <a:gd name="T12" fmla="*/ 411 w 630"/>
                <a:gd name="T13" fmla="*/ 393 h 546"/>
                <a:gd name="T14" fmla="*/ 630 w 630"/>
                <a:gd name="T15" fmla="*/ 243 h 546"/>
                <a:gd name="T16" fmla="*/ 591 w 630"/>
                <a:gd name="T17" fmla="*/ 156 h 546"/>
                <a:gd name="T18" fmla="*/ 555 w 630"/>
                <a:gd name="T19" fmla="*/ 102 h 546"/>
                <a:gd name="T20" fmla="*/ 519 w 630"/>
                <a:gd name="T21" fmla="*/ 51 h 546"/>
                <a:gd name="T22" fmla="*/ 459 w 630"/>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0"/>
                <a:gd name="T37" fmla="*/ 0 h 546"/>
                <a:gd name="T38" fmla="*/ 630 w 630"/>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0" h="546">
                  <a:moveTo>
                    <a:pt x="459" y="0"/>
                  </a:moveTo>
                  <a:lnTo>
                    <a:pt x="219" y="144"/>
                  </a:lnTo>
                  <a:lnTo>
                    <a:pt x="0" y="264"/>
                  </a:lnTo>
                  <a:lnTo>
                    <a:pt x="57" y="363"/>
                  </a:lnTo>
                  <a:lnTo>
                    <a:pt x="102" y="441"/>
                  </a:lnTo>
                  <a:lnTo>
                    <a:pt x="141" y="546"/>
                  </a:lnTo>
                  <a:lnTo>
                    <a:pt x="411" y="393"/>
                  </a:lnTo>
                  <a:lnTo>
                    <a:pt x="630" y="243"/>
                  </a:lnTo>
                  <a:lnTo>
                    <a:pt x="591" y="156"/>
                  </a:lnTo>
                  <a:lnTo>
                    <a:pt x="555" y="102"/>
                  </a:lnTo>
                  <a:lnTo>
                    <a:pt x="519" y="51"/>
                  </a:lnTo>
                  <a:lnTo>
                    <a:pt x="45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75" name="Freeform 468"/>
            <p:cNvSpPr>
              <a:spLocks/>
            </p:cNvSpPr>
            <p:nvPr/>
          </p:nvSpPr>
          <p:spPr bwMode="auto">
            <a:xfrm>
              <a:off x="2850" y="1146"/>
              <a:ext cx="567" cy="492"/>
            </a:xfrm>
            <a:custGeom>
              <a:avLst/>
              <a:gdLst>
                <a:gd name="T0" fmla="*/ 396 w 567"/>
                <a:gd name="T1" fmla="*/ 0 h 492"/>
                <a:gd name="T2" fmla="*/ 210 w 567"/>
                <a:gd name="T3" fmla="*/ 126 h 492"/>
                <a:gd name="T4" fmla="*/ 108 w 567"/>
                <a:gd name="T5" fmla="*/ 186 h 492"/>
                <a:gd name="T6" fmla="*/ 0 w 567"/>
                <a:gd name="T7" fmla="*/ 252 h 492"/>
                <a:gd name="T8" fmla="*/ 57 w 567"/>
                <a:gd name="T9" fmla="*/ 312 h 492"/>
                <a:gd name="T10" fmla="*/ 108 w 567"/>
                <a:gd name="T11" fmla="*/ 378 h 492"/>
                <a:gd name="T12" fmla="*/ 171 w 567"/>
                <a:gd name="T13" fmla="*/ 492 h 492"/>
                <a:gd name="T14" fmla="*/ 387 w 567"/>
                <a:gd name="T15" fmla="*/ 354 h 492"/>
                <a:gd name="T16" fmla="*/ 567 w 567"/>
                <a:gd name="T17" fmla="*/ 243 h 492"/>
                <a:gd name="T18" fmla="*/ 534 w 567"/>
                <a:gd name="T19" fmla="*/ 162 h 492"/>
                <a:gd name="T20" fmla="*/ 504 w 567"/>
                <a:gd name="T21" fmla="*/ 114 h 492"/>
                <a:gd name="T22" fmla="*/ 447 w 567"/>
                <a:gd name="T23" fmla="*/ 42 h 492"/>
                <a:gd name="T24" fmla="*/ 396 w 567"/>
                <a:gd name="T25" fmla="*/ 0 h 4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7"/>
                <a:gd name="T40" fmla="*/ 0 h 492"/>
                <a:gd name="T41" fmla="*/ 567 w 567"/>
                <a:gd name="T42" fmla="*/ 492 h 4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7" h="492">
                  <a:moveTo>
                    <a:pt x="396" y="0"/>
                  </a:moveTo>
                  <a:lnTo>
                    <a:pt x="210" y="126"/>
                  </a:lnTo>
                  <a:lnTo>
                    <a:pt x="108" y="186"/>
                  </a:lnTo>
                  <a:lnTo>
                    <a:pt x="0" y="252"/>
                  </a:lnTo>
                  <a:lnTo>
                    <a:pt x="57" y="312"/>
                  </a:lnTo>
                  <a:lnTo>
                    <a:pt x="108" y="378"/>
                  </a:lnTo>
                  <a:lnTo>
                    <a:pt x="171" y="492"/>
                  </a:lnTo>
                  <a:lnTo>
                    <a:pt x="387" y="354"/>
                  </a:lnTo>
                  <a:lnTo>
                    <a:pt x="567" y="243"/>
                  </a:lnTo>
                  <a:lnTo>
                    <a:pt x="534" y="162"/>
                  </a:lnTo>
                  <a:lnTo>
                    <a:pt x="504" y="114"/>
                  </a:lnTo>
                  <a:lnTo>
                    <a:pt x="447" y="42"/>
                  </a:lnTo>
                  <a:lnTo>
                    <a:pt x="39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76" name="Freeform 469"/>
            <p:cNvSpPr>
              <a:spLocks/>
            </p:cNvSpPr>
            <p:nvPr/>
          </p:nvSpPr>
          <p:spPr bwMode="auto">
            <a:xfrm>
              <a:off x="3258" y="798"/>
              <a:ext cx="570" cy="582"/>
            </a:xfrm>
            <a:custGeom>
              <a:avLst/>
              <a:gdLst>
                <a:gd name="T0" fmla="*/ 534 w 570"/>
                <a:gd name="T1" fmla="*/ 0 h 582"/>
                <a:gd name="T2" fmla="*/ 222 w 570"/>
                <a:gd name="T3" fmla="*/ 210 h 582"/>
                <a:gd name="T4" fmla="*/ 0 w 570"/>
                <a:gd name="T5" fmla="*/ 342 h 582"/>
                <a:gd name="T6" fmla="*/ 42 w 570"/>
                <a:gd name="T7" fmla="*/ 384 h 582"/>
                <a:gd name="T8" fmla="*/ 87 w 570"/>
                <a:gd name="T9" fmla="*/ 438 h 582"/>
                <a:gd name="T10" fmla="*/ 129 w 570"/>
                <a:gd name="T11" fmla="*/ 492 h 582"/>
                <a:gd name="T12" fmla="*/ 165 w 570"/>
                <a:gd name="T13" fmla="*/ 582 h 582"/>
                <a:gd name="T14" fmla="*/ 372 w 570"/>
                <a:gd name="T15" fmla="*/ 438 h 582"/>
                <a:gd name="T16" fmla="*/ 570 w 570"/>
                <a:gd name="T17" fmla="*/ 294 h 582"/>
                <a:gd name="T18" fmla="*/ 534 w 570"/>
                <a:gd name="T19" fmla="*/ 0 h 5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0"/>
                <a:gd name="T31" fmla="*/ 0 h 582"/>
                <a:gd name="T32" fmla="*/ 570 w 570"/>
                <a:gd name="T33" fmla="*/ 582 h 5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0" h="582">
                  <a:moveTo>
                    <a:pt x="534" y="0"/>
                  </a:moveTo>
                  <a:lnTo>
                    <a:pt x="222" y="210"/>
                  </a:lnTo>
                  <a:lnTo>
                    <a:pt x="0" y="342"/>
                  </a:lnTo>
                  <a:lnTo>
                    <a:pt x="42" y="384"/>
                  </a:lnTo>
                  <a:lnTo>
                    <a:pt x="87" y="438"/>
                  </a:lnTo>
                  <a:lnTo>
                    <a:pt x="129" y="492"/>
                  </a:lnTo>
                  <a:lnTo>
                    <a:pt x="165" y="582"/>
                  </a:lnTo>
                  <a:lnTo>
                    <a:pt x="372" y="438"/>
                  </a:lnTo>
                  <a:lnTo>
                    <a:pt x="570" y="294"/>
                  </a:lnTo>
                  <a:lnTo>
                    <a:pt x="534"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77" name="Freeform 470"/>
            <p:cNvSpPr>
              <a:spLocks/>
            </p:cNvSpPr>
            <p:nvPr/>
          </p:nvSpPr>
          <p:spPr bwMode="auto">
            <a:xfrm>
              <a:off x="1758" y="2136"/>
              <a:ext cx="669" cy="561"/>
            </a:xfrm>
            <a:custGeom>
              <a:avLst/>
              <a:gdLst>
                <a:gd name="T0" fmla="*/ 474 w 669"/>
                <a:gd name="T1" fmla="*/ 0 h 561"/>
                <a:gd name="T2" fmla="*/ 243 w 669"/>
                <a:gd name="T3" fmla="*/ 120 h 561"/>
                <a:gd name="T4" fmla="*/ 0 w 669"/>
                <a:gd name="T5" fmla="*/ 231 h 561"/>
                <a:gd name="T6" fmla="*/ 102 w 669"/>
                <a:gd name="T7" fmla="*/ 561 h 561"/>
                <a:gd name="T8" fmla="*/ 330 w 669"/>
                <a:gd name="T9" fmla="*/ 459 h 561"/>
                <a:gd name="T10" fmla="*/ 669 w 669"/>
                <a:gd name="T11" fmla="*/ 291 h 561"/>
                <a:gd name="T12" fmla="*/ 633 w 669"/>
                <a:gd name="T13" fmla="*/ 186 h 561"/>
                <a:gd name="T14" fmla="*/ 597 w 669"/>
                <a:gd name="T15" fmla="*/ 132 h 561"/>
                <a:gd name="T16" fmla="*/ 549 w 669"/>
                <a:gd name="T17" fmla="*/ 60 h 561"/>
                <a:gd name="T18" fmla="*/ 474 w 669"/>
                <a:gd name="T19" fmla="*/ 0 h 5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69"/>
                <a:gd name="T31" fmla="*/ 0 h 561"/>
                <a:gd name="T32" fmla="*/ 669 w 669"/>
                <a:gd name="T33" fmla="*/ 561 h 56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69" h="561">
                  <a:moveTo>
                    <a:pt x="474" y="0"/>
                  </a:moveTo>
                  <a:lnTo>
                    <a:pt x="243" y="120"/>
                  </a:lnTo>
                  <a:lnTo>
                    <a:pt x="0" y="231"/>
                  </a:lnTo>
                  <a:lnTo>
                    <a:pt x="102" y="561"/>
                  </a:lnTo>
                  <a:lnTo>
                    <a:pt x="330" y="459"/>
                  </a:lnTo>
                  <a:lnTo>
                    <a:pt x="669" y="291"/>
                  </a:lnTo>
                  <a:lnTo>
                    <a:pt x="633" y="186"/>
                  </a:lnTo>
                  <a:lnTo>
                    <a:pt x="597" y="132"/>
                  </a:lnTo>
                  <a:lnTo>
                    <a:pt x="549" y="60"/>
                  </a:lnTo>
                  <a:lnTo>
                    <a:pt x="474"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6478" name="Freeform 471"/>
            <p:cNvSpPr>
              <a:spLocks/>
            </p:cNvSpPr>
            <p:nvPr/>
          </p:nvSpPr>
          <p:spPr bwMode="auto">
            <a:xfrm>
              <a:off x="2247" y="1842"/>
              <a:ext cx="669" cy="579"/>
            </a:xfrm>
            <a:custGeom>
              <a:avLst/>
              <a:gdLst>
                <a:gd name="T0" fmla="*/ 489 w 669"/>
                <a:gd name="T1" fmla="*/ 0 h 579"/>
                <a:gd name="T2" fmla="*/ 216 w 669"/>
                <a:gd name="T3" fmla="*/ 162 h 579"/>
                <a:gd name="T4" fmla="*/ 0 w 669"/>
                <a:gd name="T5" fmla="*/ 291 h 579"/>
                <a:gd name="T6" fmla="*/ 72 w 669"/>
                <a:gd name="T7" fmla="*/ 354 h 579"/>
                <a:gd name="T8" fmla="*/ 135 w 669"/>
                <a:gd name="T9" fmla="*/ 444 h 579"/>
                <a:gd name="T10" fmla="*/ 195 w 669"/>
                <a:gd name="T11" fmla="*/ 579 h 579"/>
                <a:gd name="T12" fmla="*/ 387 w 669"/>
                <a:gd name="T13" fmla="*/ 471 h 579"/>
                <a:gd name="T14" fmla="*/ 669 w 669"/>
                <a:gd name="T15" fmla="*/ 276 h 579"/>
                <a:gd name="T16" fmla="*/ 645 w 669"/>
                <a:gd name="T17" fmla="*/ 201 h 579"/>
                <a:gd name="T18" fmla="*/ 618 w 669"/>
                <a:gd name="T19" fmla="*/ 150 h 579"/>
                <a:gd name="T20" fmla="*/ 591 w 669"/>
                <a:gd name="T21" fmla="*/ 108 h 579"/>
                <a:gd name="T22" fmla="*/ 543 w 669"/>
                <a:gd name="T23" fmla="*/ 54 h 579"/>
                <a:gd name="T24" fmla="*/ 489 w 669"/>
                <a:gd name="T25" fmla="*/ 0 h 5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69"/>
                <a:gd name="T40" fmla="*/ 0 h 579"/>
                <a:gd name="T41" fmla="*/ 669 w 669"/>
                <a:gd name="T42" fmla="*/ 579 h 5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69" h="579">
                  <a:moveTo>
                    <a:pt x="489" y="0"/>
                  </a:moveTo>
                  <a:lnTo>
                    <a:pt x="216" y="162"/>
                  </a:lnTo>
                  <a:lnTo>
                    <a:pt x="0" y="291"/>
                  </a:lnTo>
                  <a:lnTo>
                    <a:pt x="72" y="354"/>
                  </a:lnTo>
                  <a:lnTo>
                    <a:pt x="135" y="444"/>
                  </a:lnTo>
                  <a:lnTo>
                    <a:pt x="195" y="579"/>
                  </a:lnTo>
                  <a:lnTo>
                    <a:pt x="387" y="471"/>
                  </a:lnTo>
                  <a:lnTo>
                    <a:pt x="669" y="276"/>
                  </a:lnTo>
                  <a:lnTo>
                    <a:pt x="645" y="201"/>
                  </a:lnTo>
                  <a:lnTo>
                    <a:pt x="618" y="150"/>
                  </a:lnTo>
                  <a:lnTo>
                    <a:pt x="591" y="108"/>
                  </a:lnTo>
                  <a:lnTo>
                    <a:pt x="543" y="54"/>
                  </a:lnTo>
                  <a:lnTo>
                    <a:pt x="48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79" name="Freeform 472"/>
            <p:cNvSpPr>
              <a:spLocks/>
            </p:cNvSpPr>
            <p:nvPr/>
          </p:nvSpPr>
          <p:spPr bwMode="auto">
            <a:xfrm>
              <a:off x="2742" y="1533"/>
              <a:ext cx="654" cy="582"/>
            </a:xfrm>
            <a:custGeom>
              <a:avLst/>
              <a:gdLst>
                <a:gd name="T0" fmla="*/ 480 w 654"/>
                <a:gd name="T1" fmla="*/ 0 h 582"/>
                <a:gd name="T2" fmla="*/ 249 w 654"/>
                <a:gd name="T3" fmla="*/ 150 h 582"/>
                <a:gd name="T4" fmla="*/ 0 w 654"/>
                <a:gd name="T5" fmla="*/ 300 h 582"/>
                <a:gd name="T6" fmla="*/ 66 w 654"/>
                <a:gd name="T7" fmla="*/ 372 h 582"/>
                <a:gd name="T8" fmla="*/ 120 w 654"/>
                <a:gd name="T9" fmla="*/ 435 h 582"/>
                <a:gd name="T10" fmla="*/ 189 w 654"/>
                <a:gd name="T11" fmla="*/ 582 h 582"/>
                <a:gd name="T12" fmla="*/ 360 w 654"/>
                <a:gd name="T13" fmla="*/ 471 h 582"/>
                <a:gd name="T14" fmla="*/ 654 w 654"/>
                <a:gd name="T15" fmla="*/ 246 h 582"/>
                <a:gd name="T16" fmla="*/ 606 w 654"/>
                <a:gd name="T17" fmla="*/ 153 h 582"/>
                <a:gd name="T18" fmla="*/ 543 w 654"/>
                <a:gd name="T19" fmla="*/ 54 h 582"/>
                <a:gd name="T20" fmla="*/ 480 w 654"/>
                <a:gd name="T21" fmla="*/ 0 h 5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4"/>
                <a:gd name="T34" fmla="*/ 0 h 582"/>
                <a:gd name="T35" fmla="*/ 654 w 654"/>
                <a:gd name="T36" fmla="*/ 582 h 5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4" h="582">
                  <a:moveTo>
                    <a:pt x="480" y="0"/>
                  </a:moveTo>
                  <a:lnTo>
                    <a:pt x="249" y="150"/>
                  </a:lnTo>
                  <a:lnTo>
                    <a:pt x="0" y="300"/>
                  </a:lnTo>
                  <a:lnTo>
                    <a:pt x="66" y="372"/>
                  </a:lnTo>
                  <a:lnTo>
                    <a:pt x="120" y="435"/>
                  </a:lnTo>
                  <a:lnTo>
                    <a:pt x="189" y="582"/>
                  </a:lnTo>
                  <a:lnTo>
                    <a:pt x="360" y="471"/>
                  </a:lnTo>
                  <a:lnTo>
                    <a:pt x="654" y="246"/>
                  </a:lnTo>
                  <a:lnTo>
                    <a:pt x="606" y="153"/>
                  </a:lnTo>
                  <a:lnTo>
                    <a:pt x="543" y="54"/>
                  </a:lnTo>
                  <a:lnTo>
                    <a:pt x="480"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6480" name="Freeform 473"/>
            <p:cNvSpPr>
              <a:spLocks/>
            </p:cNvSpPr>
            <p:nvPr/>
          </p:nvSpPr>
          <p:spPr bwMode="auto">
            <a:xfrm>
              <a:off x="3234" y="1239"/>
              <a:ext cx="555" cy="537"/>
            </a:xfrm>
            <a:custGeom>
              <a:avLst/>
              <a:gdLst>
                <a:gd name="T0" fmla="*/ 423 w 555"/>
                <a:gd name="T1" fmla="*/ 0 h 537"/>
                <a:gd name="T2" fmla="*/ 219 w 555"/>
                <a:gd name="T3" fmla="*/ 144 h 537"/>
                <a:gd name="T4" fmla="*/ 0 w 555"/>
                <a:gd name="T5" fmla="*/ 285 h 537"/>
                <a:gd name="T6" fmla="*/ 66 w 555"/>
                <a:gd name="T7" fmla="*/ 354 h 537"/>
                <a:gd name="T8" fmla="*/ 132 w 555"/>
                <a:gd name="T9" fmla="*/ 447 h 537"/>
                <a:gd name="T10" fmla="*/ 177 w 555"/>
                <a:gd name="T11" fmla="*/ 537 h 537"/>
                <a:gd name="T12" fmla="*/ 312 w 555"/>
                <a:gd name="T13" fmla="*/ 444 h 537"/>
                <a:gd name="T14" fmla="*/ 555 w 555"/>
                <a:gd name="T15" fmla="*/ 240 h 537"/>
                <a:gd name="T16" fmla="*/ 525 w 555"/>
                <a:gd name="T17" fmla="*/ 135 h 537"/>
                <a:gd name="T18" fmla="*/ 504 w 555"/>
                <a:gd name="T19" fmla="*/ 75 h 537"/>
                <a:gd name="T20" fmla="*/ 459 w 555"/>
                <a:gd name="T21" fmla="*/ 36 h 537"/>
                <a:gd name="T22" fmla="*/ 423 w 555"/>
                <a:gd name="T23" fmla="*/ 0 h 5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5"/>
                <a:gd name="T37" fmla="*/ 0 h 537"/>
                <a:gd name="T38" fmla="*/ 555 w 555"/>
                <a:gd name="T39" fmla="*/ 537 h 5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5" h="537">
                  <a:moveTo>
                    <a:pt x="423" y="0"/>
                  </a:moveTo>
                  <a:lnTo>
                    <a:pt x="219" y="144"/>
                  </a:lnTo>
                  <a:lnTo>
                    <a:pt x="0" y="285"/>
                  </a:lnTo>
                  <a:lnTo>
                    <a:pt x="66" y="354"/>
                  </a:lnTo>
                  <a:lnTo>
                    <a:pt x="132" y="447"/>
                  </a:lnTo>
                  <a:lnTo>
                    <a:pt x="177" y="537"/>
                  </a:lnTo>
                  <a:lnTo>
                    <a:pt x="312" y="444"/>
                  </a:lnTo>
                  <a:lnTo>
                    <a:pt x="555" y="240"/>
                  </a:lnTo>
                  <a:lnTo>
                    <a:pt x="525" y="135"/>
                  </a:lnTo>
                  <a:lnTo>
                    <a:pt x="504" y="75"/>
                  </a:lnTo>
                  <a:lnTo>
                    <a:pt x="459" y="36"/>
                  </a:lnTo>
                  <a:lnTo>
                    <a:pt x="42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81" name="Freeform 474"/>
            <p:cNvSpPr>
              <a:spLocks/>
            </p:cNvSpPr>
            <p:nvPr/>
          </p:nvSpPr>
          <p:spPr bwMode="auto">
            <a:xfrm>
              <a:off x="3675" y="1107"/>
              <a:ext cx="204" cy="366"/>
            </a:xfrm>
            <a:custGeom>
              <a:avLst/>
              <a:gdLst>
                <a:gd name="T0" fmla="*/ 165 w 204"/>
                <a:gd name="T1" fmla="*/ 0 h 366"/>
                <a:gd name="T2" fmla="*/ 0 w 204"/>
                <a:gd name="T3" fmla="*/ 123 h 366"/>
                <a:gd name="T4" fmla="*/ 36 w 204"/>
                <a:gd name="T5" fmla="*/ 174 h 366"/>
                <a:gd name="T6" fmla="*/ 75 w 204"/>
                <a:gd name="T7" fmla="*/ 216 h 366"/>
                <a:gd name="T8" fmla="*/ 120 w 204"/>
                <a:gd name="T9" fmla="*/ 366 h 366"/>
                <a:gd name="T10" fmla="*/ 204 w 204"/>
                <a:gd name="T11" fmla="*/ 318 h 366"/>
                <a:gd name="T12" fmla="*/ 165 w 204"/>
                <a:gd name="T13" fmla="*/ 0 h 366"/>
                <a:gd name="T14" fmla="*/ 0 60000 65536"/>
                <a:gd name="T15" fmla="*/ 0 60000 65536"/>
                <a:gd name="T16" fmla="*/ 0 60000 65536"/>
                <a:gd name="T17" fmla="*/ 0 60000 65536"/>
                <a:gd name="T18" fmla="*/ 0 60000 65536"/>
                <a:gd name="T19" fmla="*/ 0 60000 65536"/>
                <a:gd name="T20" fmla="*/ 0 60000 65536"/>
                <a:gd name="T21" fmla="*/ 0 w 204"/>
                <a:gd name="T22" fmla="*/ 0 h 366"/>
                <a:gd name="T23" fmla="*/ 204 w 204"/>
                <a:gd name="T24" fmla="*/ 366 h 3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4" h="366">
                  <a:moveTo>
                    <a:pt x="165" y="0"/>
                  </a:moveTo>
                  <a:lnTo>
                    <a:pt x="0" y="123"/>
                  </a:lnTo>
                  <a:lnTo>
                    <a:pt x="36" y="174"/>
                  </a:lnTo>
                  <a:lnTo>
                    <a:pt x="75" y="216"/>
                  </a:lnTo>
                  <a:lnTo>
                    <a:pt x="120" y="366"/>
                  </a:lnTo>
                  <a:lnTo>
                    <a:pt x="204" y="318"/>
                  </a:lnTo>
                  <a:lnTo>
                    <a:pt x="1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82" name="Freeform 475"/>
            <p:cNvSpPr>
              <a:spLocks/>
            </p:cNvSpPr>
            <p:nvPr/>
          </p:nvSpPr>
          <p:spPr bwMode="auto">
            <a:xfrm>
              <a:off x="1866" y="2505"/>
              <a:ext cx="642" cy="537"/>
            </a:xfrm>
            <a:custGeom>
              <a:avLst/>
              <a:gdLst>
                <a:gd name="T0" fmla="*/ 450 w 642"/>
                <a:gd name="T1" fmla="*/ 0 h 537"/>
                <a:gd name="T2" fmla="*/ 222 w 642"/>
                <a:gd name="T3" fmla="*/ 111 h 537"/>
                <a:gd name="T4" fmla="*/ 0 w 642"/>
                <a:gd name="T5" fmla="*/ 207 h 537"/>
                <a:gd name="T6" fmla="*/ 84 w 642"/>
                <a:gd name="T7" fmla="*/ 537 h 537"/>
                <a:gd name="T8" fmla="*/ 213 w 642"/>
                <a:gd name="T9" fmla="*/ 489 h 537"/>
                <a:gd name="T10" fmla="*/ 366 w 642"/>
                <a:gd name="T11" fmla="*/ 423 h 537"/>
                <a:gd name="T12" fmla="*/ 510 w 642"/>
                <a:gd name="T13" fmla="*/ 351 h 537"/>
                <a:gd name="T14" fmla="*/ 642 w 642"/>
                <a:gd name="T15" fmla="*/ 285 h 537"/>
                <a:gd name="T16" fmla="*/ 579 w 642"/>
                <a:gd name="T17" fmla="*/ 141 h 537"/>
                <a:gd name="T18" fmla="*/ 522 w 642"/>
                <a:gd name="T19" fmla="*/ 69 h 537"/>
                <a:gd name="T20" fmla="*/ 450 w 642"/>
                <a:gd name="T21" fmla="*/ 0 h 5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2"/>
                <a:gd name="T34" fmla="*/ 0 h 537"/>
                <a:gd name="T35" fmla="*/ 642 w 642"/>
                <a:gd name="T36" fmla="*/ 537 h 5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2" h="537">
                  <a:moveTo>
                    <a:pt x="450" y="0"/>
                  </a:moveTo>
                  <a:lnTo>
                    <a:pt x="222" y="111"/>
                  </a:lnTo>
                  <a:lnTo>
                    <a:pt x="0" y="207"/>
                  </a:lnTo>
                  <a:lnTo>
                    <a:pt x="84" y="537"/>
                  </a:lnTo>
                  <a:lnTo>
                    <a:pt x="213" y="489"/>
                  </a:lnTo>
                  <a:lnTo>
                    <a:pt x="366" y="423"/>
                  </a:lnTo>
                  <a:lnTo>
                    <a:pt x="510" y="351"/>
                  </a:lnTo>
                  <a:lnTo>
                    <a:pt x="642" y="285"/>
                  </a:lnTo>
                  <a:lnTo>
                    <a:pt x="579" y="141"/>
                  </a:lnTo>
                  <a:lnTo>
                    <a:pt x="522" y="69"/>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83" name="Freeform 476"/>
            <p:cNvSpPr>
              <a:spLocks/>
            </p:cNvSpPr>
            <p:nvPr/>
          </p:nvSpPr>
          <p:spPr bwMode="auto">
            <a:xfrm>
              <a:off x="2331" y="2238"/>
              <a:ext cx="606" cy="549"/>
            </a:xfrm>
            <a:custGeom>
              <a:avLst/>
              <a:gdLst>
                <a:gd name="T0" fmla="*/ 438 w 606"/>
                <a:gd name="T1" fmla="*/ 0 h 549"/>
                <a:gd name="T2" fmla="*/ 246 w 606"/>
                <a:gd name="T3" fmla="*/ 126 h 549"/>
                <a:gd name="T4" fmla="*/ 0 w 606"/>
                <a:gd name="T5" fmla="*/ 261 h 549"/>
                <a:gd name="T6" fmla="*/ 57 w 606"/>
                <a:gd name="T7" fmla="*/ 324 h 549"/>
                <a:gd name="T8" fmla="*/ 105 w 606"/>
                <a:gd name="T9" fmla="*/ 384 h 549"/>
                <a:gd name="T10" fmla="*/ 153 w 606"/>
                <a:gd name="T11" fmla="*/ 465 h 549"/>
                <a:gd name="T12" fmla="*/ 183 w 606"/>
                <a:gd name="T13" fmla="*/ 549 h 549"/>
                <a:gd name="T14" fmla="*/ 411 w 606"/>
                <a:gd name="T15" fmla="*/ 420 h 549"/>
                <a:gd name="T16" fmla="*/ 606 w 606"/>
                <a:gd name="T17" fmla="*/ 294 h 549"/>
                <a:gd name="T18" fmla="*/ 540 w 606"/>
                <a:gd name="T19" fmla="*/ 147 h 549"/>
                <a:gd name="T20" fmla="*/ 489 w 606"/>
                <a:gd name="T21" fmla="*/ 63 h 549"/>
                <a:gd name="T22" fmla="*/ 438 w 606"/>
                <a:gd name="T23" fmla="*/ 0 h 5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6"/>
                <a:gd name="T37" fmla="*/ 0 h 549"/>
                <a:gd name="T38" fmla="*/ 606 w 606"/>
                <a:gd name="T39" fmla="*/ 549 h 5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6" h="549">
                  <a:moveTo>
                    <a:pt x="438" y="0"/>
                  </a:moveTo>
                  <a:lnTo>
                    <a:pt x="246" y="126"/>
                  </a:lnTo>
                  <a:lnTo>
                    <a:pt x="0" y="261"/>
                  </a:lnTo>
                  <a:lnTo>
                    <a:pt x="57" y="324"/>
                  </a:lnTo>
                  <a:lnTo>
                    <a:pt x="105" y="384"/>
                  </a:lnTo>
                  <a:lnTo>
                    <a:pt x="153" y="465"/>
                  </a:lnTo>
                  <a:lnTo>
                    <a:pt x="183" y="549"/>
                  </a:lnTo>
                  <a:lnTo>
                    <a:pt x="411" y="420"/>
                  </a:lnTo>
                  <a:lnTo>
                    <a:pt x="606" y="294"/>
                  </a:lnTo>
                  <a:lnTo>
                    <a:pt x="540" y="147"/>
                  </a:lnTo>
                  <a:lnTo>
                    <a:pt x="489" y="63"/>
                  </a:lnTo>
                  <a:lnTo>
                    <a:pt x="438"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6484" name="Freeform 477"/>
            <p:cNvSpPr>
              <a:spLocks/>
            </p:cNvSpPr>
            <p:nvPr/>
          </p:nvSpPr>
          <p:spPr bwMode="auto">
            <a:xfrm>
              <a:off x="2775" y="1926"/>
              <a:ext cx="645" cy="597"/>
            </a:xfrm>
            <a:custGeom>
              <a:avLst/>
              <a:gdLst>
                <a:gd name="T0" fmla="*/ 453 w 645"/>
                <a:gd name="T1" fmla="*/ 0 h 597"/>
                <a:gd name="T2" fmla="*/ 231 w 645"/>
                <a:gd name="T3" fmla="*/ 153 h 597"/>
                <a:gd name="T4" fmla="*/ 0 w 645"/>
                <a:gd name="T5" fmla="*/ 306 h 597"/>
                <a:gd name="T6" fmla="*/ 48 w 645"/>
                <a:gd name="T7" fmla="*/ 369 h 597"/>
                <a:gd name="T8" fmla="*/ 93 w 645"/>
                <a:gd name="T9" fmla="*/ 432 h 597"/>
                <a:gd name="T10" fmla="*/ 132 w 645"/>
                <a:gd name="T11" fmla="*/ 507 h 597"/>
                <a:gd name="T12" fmla="*/ 171 w 645"/>
                <a:gd name="T13" fmla="*/ 597 h 597"/>
                <a:gd name="T14" fmla="*/ 411 w 645"/>
                <a:gd name="T15" fmla="*/ 411 h 597"/>
                <a:gd name="T16" fmla="*/ 645 w 645"/>
                <a:gd name="T17" fmla="*/ 216 h 597"/>
                <a:gd name="T18" fmla="*/ 618 w 645"/>
                <a:gd name="T19" fmla="*/ 153 h 597"/>
                <a:gd name="T20" fmla="*/ 567 w 645"/>
                <a:gd name="T21" fmla="*/ 90 h 597"/>
                <a:gd name="T22" fmla="*/ 516 w 645"/>
                <a:gd name="T23" fmla="*/ 39 h 597"/>
                <a:gd name="T24" fmla="*/ 453 w 645"/>
                <a:gd name="T25" fmla="*/ 0 h 5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5"/>
                <a:gd name="T40" fmla="*/ 0 h 597"/>
                <a:gd name="T41" fmla="*/ 645 w 645"/>
                <a:gd name="T42" fmla="*/ 597 h 5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5" h="597">
                  <a:moveTo>
                    <a:pt x="453" y="0"/>
                  </a:moveTo>
                  <a:lnTo>
                    <a:pt x="231" y="153"/>
                  </a:lnTo>
                  <a:lnTo>
                    <a:pt x="0" y="306"/>
                  </a:lnTo>
                  <a:lnTo>
                    <a:pt x="48" y="369"/>
                  </a:lnTo>
                  <a:lnTo>
                    <a:pt x="93" y="432"/>
                  </a:lnTo>
                  <a:lnTo>
                    <a:pt x="132" y="507"/>
                  </a:lnTo>
                  <a:lnTo>
                    <a:pt x="171" y="597"/>
                  </a:lnTo>
                  <a:lnTo>
                    <a:pt x="411" y="411"/>
                  </a:lnTo>
                  <a:lnTo>
                    <a:pt x="645" y="216"/>
                  </a:lnTo>
                  <a:lnTo>
                    <a:pt x="618" y="153"/>
                  </a:lnTo>
                  <a:lnTo>
                    <a:pt x="567" y="90"/>
                  </a:lnTo>
                  <a:lnTo>
                    <a:pt x="516" y="39"/>
                  </a:lnTo>
                  <a:lnTo>
                    <a:pt x="45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85" name="Freeform 478"/>
            <p:cNvSpPr>
              <a:spLocks/>
            </p:cNvSpPr>
            <p:nvPr/>
          </p:nvSpPr>
          <p:spPr bwMode="auto">
            <a:xfrm>
              <a:off x="3240" y="1590"/>
              <a:ext cx="567" cy="546"/>
            </a:xfrm>
            <a:custGeom>
              <a:avLst/>
              <a:gdLst>
                <a:gd name="T0" fmla="*/ 441 w 567"/>
                <a:gd name="T1" fmla="*/ 0 h 546"/>
                <a:gd name="T2" fmla="*/ 237 w 567"/>
                <a:gd name="T3" fmla="*/ 150 h 546"/>
                <a:gd name="T4" fmla="*/ 0 w 567"/>
                <a:gd name="T5" fmla="*/ 330 h 546"/>
                <a:gd name="T6" fmla="*/ 54 w 567"/>
                <a:gd name="T7" fmla="*/ 366 h 546"/>
                <a:gd name="T8" fmla="*/ 117 w 567"/>
                <a:gd name="T9" fmla="*/ 429 h 546"/>
                <a:gd name="T10" fmla="*/ 168 w 567"/>
                <a:gd name="T11" fmla="*/ 492 h 546"/>
                <a:gd name="T12" fmla="*/ 192 w 567"/>
                <a:gd name="T13" fmla="*/ 546 h 546"/>
                <a:gd name="T14" fmla="*/ 369 w 567"/>
                <a:gd name="T15" fmla="*/ 396 h 546"/>
                <a:gd name="T16" fmla="*/ 567 w 567"/>
                <a:gd name="T17" fmla="*/ 204 h 546"/>
                <a:gd name="T18" fmla="*/ 531 w 567"/>
                <a:gd name="T19" fmla="*/ 111 h 546"/>
                <a:gd name="T20" fmla="*/ 483 w 567"/>
                <a:gd name="T21" fmla="*/ 39 h 546"/>
                <a:gd name="T22" fmla="*/ 441 w 567"/>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67"/>
                <a:gd name="T37" fmla="*/ 0 h 546"/>
                <a:gd name="T38" fmla="*/ 567 w 567"/>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67" h="546">
                  <a:moveTo>
                    <a:pt x="441" y="0"/>
                  </a:moveTo>
                  <a:lnTo>
                    <a:pt x="237" y="150"/>
                  </a:lnTo>
                  <a:lnTo>
                    <a:pt x="0" y="330"/>
                  </a:lnTo>
                  <a:lnTo>
                    <a:pt x="54" y="366"/>
                  </a:lnTo>
                  <a:lnTo>
                    <a:pt x="117" y="429"/>
                  </a:lnTo>
                  <a:lnTo>
                    <a:pt x="168" y="492"/>
                  </a:lnTo>
                  <a:lnTo>
                    <a:pt x="192" y="546"/>
                  </a:lnTo>
                  <a:lnTo>
                    <a:pt x="369" y="396"/>
                  </a:lnTo>
                  <a:lnTo>
                    <a:pt x="567" y="204"/>
                  </a:lnTo>
                  <a:lnTo>
                    <a:pt x="531" y="111"/>
                  </a:lnTo>
                  <a:lnTo>
                    <a:pt x="483" y="39"/>
                  </a:lnTo>
                  <a:lnTo>
                    <a:pt x="44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86" name="Freeform 479"/>
            <p:cNvSpPr>
              <a:spLocks/>
            </p:cNvSpPr>
            <p:nvPr/>
          </p:nvSpPr>
          <p:spPr bwMode="auto">
            <a:xfrm>
              <a:off x="3684" y="1434"/>
              <a:ext cx="234" cy="345"/>
            </a:xfrm>
            <a:custGeom>
              <a:avLst/>
              <a:gdLst>
                <a:gd name="T0" fmla="*/ 198 w 234"/>
                <a:gd name="T1" fmla="*/ 0 h 345"/>
                <a:gd name="T2" fmla="*/ 111 w 234"/>
                <a:gd name="T3" fmla="*/ 54 h 345"/>
                <a:gd name="T4" fmla="*/ 0 w 234"/>
                <a:gd name="T5" fmla="*/ 153 h 345"/>
                <a:gd name="T6" fmla="*/ 45 w 234"/>
                <a:gd name="T7" fmla="*/ 192 h 345"/>
                <a:gd name="T8" fmla="*/ 75 w 234"/>
                <a:gd name="T9" fmla="*/ 234 h 345"/>
                <a:gd name="T10" fmla="*/ 129 w 234"/>
                <a:gd name="T11" fmla="*/ 345 h 345"/>
                <a:gd name="T12" fmla="*/ 234 w 234"/>
                <a:gd name="T13" fmla="*/ 252 h 345"/>
                <a:gd name="T14" fmla="*/ 198 w 234"/>
                <a:gd name="T15" fmla="*/ 0 h 345"/>
                <a:gd name="T16" fmla="*/ 0 60000 65536"/>
                <a:gd name="T17" fmla="*/ 0 60000 65536"/>
                <a:gd name="T18" fmla="*/ 0 60000 65536"/>
                <a:gd name="T19" fmla="*/ 0 60000 65536"/>
                <a:gd name="T20" fmla="*/ 0 60000 65536"/>
                <a:gd name="T21" fmla="*/ 0 60000 65536"/>
                <a:gd name="T22" fmla="*/ 0 60000 65536"/>
                <a:gd name="T23" fmla="*/ 0 60000 65536"/>
                <a:gd name="T24" fmla="*/ 0 w 234"/>
                <a:gd name="T25" fmla="*/ 0 h 345"/>
                <a:gd name="T26" fmla="*/ 234 w 234"/>
                <a:gd name="T27" fmla="*/ 345 h 3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4" h="345">
                  <a:moveTo>
                    <a:pt x="198" y="0"/>
                  </a:moveTo>
                  <a:lnTo>
                    <a:pt x="111" y="54"/>
                  </a:lnTo>
                  <a:lnTo>
                    <a:pt x="0" y="153"/>
                  </a:lnTo>
                  <a:lnTo>
                    <a:pt x="45" y="192"/>
                  </a:lnTo>
                  <a:lnTo>
                    <a:pt x="75" y="234"/>
                  </a:lnTo>
                  <a:lnTo>
                    <a:pt x="129" y="345"/>
                  </a:lnTo>
                  <a:lnTo>
                    <a:pt x="234" y="252"/>
                  </a:lnTo>
                  <a:lnTo>
                    <a:pt x="19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87" name="Freeform 480"/>
            <p:cNvSpPr>
              <a:spLocks/>
            </p:cNvSpPr>
            <p:nvPr/>
          </p:nvSpPr>
          <p:spPr bwMode="auto">
            <a:xfrm>
              <a:off x="1956" y="2859"/>
              <a:ext cx="624" cy="555"/>
            </a:xfrm>
            <a:custGeom>
              <a:avLst/>
              <a:gdLst>
                <a:gd name="T0" fmla="*/ 447 w 624"/>
                <a:gd name="T1" fmla="*/ 0 h 555"/>
                <a:gd name="T2" fmla="*/ 222 w 624"/>
                <a:gd name="T3" fmla="*/ 117 h 555"/>
                <a:gd name="T4" fmla="*/ 0 w 624"/>
                <a:gd name="T5" fmla="*/ 198 h 555"/>
                <a:gd name="T6" fmla="*/ 60 w 624"/>
                <a:gd name="T7" fmla="*/ 555 h 555"/>
                <a:gd name="T8" fmla="*/ 213 w 624"/>
                <a:gd name="T9" fmla="*/ 489 h 555"/>
                <a:gd name="T10" fmla="*/ 369 w 624"/>
                <a:gd name="T11" fmla="*/ 408 h 555"/>
                <a:gd name="T12" fmla="*/ 489 w 624"/>
                <a:gd name="T13" fmla="*/ 342 h 555"/>
                <a:gd name="T14" fmla="*/ 624 w 624"/>
                <a:gd name="T15" fmla="*/ 267 h 555"/>
                <a:gd name="T16" fmla="*/ 591 w 624"/>
                <a:gd name="T17" fmla="*/ 162 h 555"/>
                <a:gd name="T18" fmla="*/ 546 w 624"/>
                <a:gd name="T19" fmla="*/ 84 h 555"/>
                <a:gd name="T20" fmla="*/ 495 w 624"/>
                <a:gd name="T21" fmla="*/ 39 h 555"/>
                <a:gd name="T22" fmla="*/ 447 w 624"/>
                <a:gd name="T23" fmla="*/ 0 h 5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4"/>
                <a:gd name="T37" fmla="*/ 0 h 555"/>
                <a:gd name="T38" fmla="*/ 624 w 624"/>
                <a:gd name="T39" fmla="*/ 555 h 5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4" h="555">
                  <a:moveTo>
                    <a:pt x="447" y="0"/>
                  </a:moveTo>
                  <a:lnTo>
                    <a:pt x="222" y="117"/>
                  </a:lnTo>
                  <a:lnTo>
                    <a:pt x="0" y="198"/>
                  </a:lnTo>
                  <a:lnTo>
                    <a:pt x="60" y="555"/>
                  </a:lnTo>
                  <a:lnTo>
                    <a:pt x="213" y="489"/>
                  </a:lnTo>
                  <a:lnTo>
                    <a:pt x="369" y="408"/>
                  </a:lnTo>
                  <a:lnTo>
                    <a:pt x="489" y="342"/>
                  </a:lnTo>
                  <a:lnTo>
                    <a:pt x="624" y="267"/>
                  </a:lnTo>
                  <a:lnTo>
                    <a:pt x="591" y="162"/>
                  </a:lnTo>
                  <a:lnTo>
                    <a:pt x="546" y="84"/>
                  </a:lnTo>
                  <a:lnTo>
                    <a:pt x="495" y="39"/>
                  </a:lnTo>
                  <a:lnTo>
                    <a:pt x="447"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6488" name="Freeform 481"/>
            <p:cNvSpPr>
              <a:spLocks/>
            </p:cNvSpPr>
            <p:nvPr/>
          </p:nvSpPr>
          <p:spPr bwMode="auto">
            <a:xfrm>
              <a:off x="2418" y="2595"/>
              <a:ext cx="576" cy="525"/>
            </a:xfrm>
            <a:custGeom>
              <a:avLst/>
              <a:gdLst>
                <a:gd name="T0" fmla="*/ 450 w 576"/>
                <a:gd name="T1" fmla="*/ 0 h 525"/>
                <a:gd name="T2" fmla="*/ 255 w 576"/>
                <a:gd name="T3" fmla="*/ 120 h 525"/>
                <a:gd name="T4" fmla="*/ 0 w 576"/>
                <a:gd name="T5" fmla="*/ 264 h 525"/>
                <a:gd name="T6" fmla="*/ 66 w 576"/>
                <a:gd name="T7" fmla="*/ 318 h 525"/>
                <a:gd name="T8" fmla="*/ 114 w 576"/>
                <a:gd name="T9" fmla="*/ 378 h 525"/>
                <a:gd name="T10" fmla="*/ 150 w 576"/>
                <a:gd name="T11" fmla="*/ 456 h 525"/>
                <a:gd name="T12" fmla="*/ 171 w 576"/>
                <a:gd name="T13" fmla="*/ 525 h 525"/>
                <a:gd name="T14" fmla="*/ 387 w 576"/>
                <a:gd name="T15" fmla="*/ 369 h 525"/>
                <a:gd name="T16" fmla="*/ 576 w 576"/>
                <a:gd name="T17" fmla="*/ 228 h 525"/>
                <a:gd name="T18" fmla="*/ 549 w 576"/>
                <a:gd name="T19" fmla="*/ 141 h 525"/>
                <a:gd name="T20" fmla="*/ 498 w 576"/>
                <a:gd name="T21" fmla="*/ 57 h 525"/>
                <a:gd name="T22" fmla="*/ 450 w 576"/>
                <a:gd name="T23" fmla="*/ 0 h 5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6"/>
                <a:gd name="T37" fmla="*/ 0 h 525"/>
                <a:gd name="T38" fmla="*/ 576 w 576"/>
                <a:gd name="T39" fmla="*/ 525 h 5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6" h="525">
                  <a:moveTo>
                    <a:pt x="450" y="0"/>
                  </a:moveTo>
                  <a:lnTo>
                    <a:pt x="255" y="120"/>
                  </a:lnTo>
                  <a:lnTo>
                    <a:pt x="0" y="264"/>
                  </a:lnTo>
                  <a:lnTo>
                    <a:pt x="66" y="318"/>
                  </a:lnTo>
                  <a:lnTo>
                    <a:pt x="114" y="378"/>
                  </a:lnTo>
                  <a:lnTo>
                    <a:pt x="150" y="456"/>
                  </a:lnTo>
                  <a:lnTo>
                    <a:pt x="171" y="525"/>
                  </a:lnTo>
                  <a:lnTo>
                    <a:pt x="387" y="369"/>
                  </a:lnTo>
                  <a:lnTo>
                    <a:pt x="576" y="228"/>
                  </a:lnTo>
                  <a:lnTo>
                    <a:pt x="549" y="141"/>
                  </a:lnTo>
                  <a:lnTo>
                    <a:pt x="498" y="57"/>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89" name="Freeform 482"/>
            <p:cNvSpPr>
              <a:spLocks/>
            </p:cNvSpPr>
            <p:nvPr/>
          </p:nvSpPr>
          <p:spPr bwMode="auto">
            <a:xfrm>
              <a:off x="2880" y="2301"/>
              <a:ext cx="522" cy="519"/>
            </a:xfrm>
            <a:custGeom>
              <a:avLst/>
              <a:gdLst>
                <a:gd name="T0" fmla="*/ 375 w 522"/>
                <a:gd name="T1" fmla="*/ 0 h 519"/>
                <a:gd name="T2" fmla="*/ 219 w 522"/>
                <a:gd name="T3" fmla="*/ 120 h 519"/>
                <a:gd name="T4" fmla="*/ 0 w 522"/>
                <a:gd name="T5" fmla="*/ 285 h 519"/>
                <a:gd name="T6" fmla="*/ 33 w 522"/>
                <a:gd name="T7" fmla="*/ 330 h 519"/>
                <a:gd name="T8" fmla="*/ 84 w 522"/>
                <a:gd name="T9" fmla="*/ 393 h 519"/>
                <a:gd name="T10" fmla="*/ 108 w 522"/>
                <a:gd name="T11" fmla="*/ 453 h 519"/>
                <a:gd name="T12" fmla="*/ 126 w 522"/>
                <a:gd name="T13" fmla="*/ 519 h 519"/>
                <a:gd name="T14" fmla="*/ 330 w 522"/>
                <a:gd name="T15" fmla="*/ 354 h 519"/>
                <a:gd name="T16" fmla="*/ 522 w 522"/>
                <a:gd name="T17" fmla="*/ 183 h 519"/>
                <a:gd name="T18" fmla="*/ 489 w 522"/>
                <a:gd name="T19" fmla="*/ 120 h 519"/>
                <a:gd name="T20" fmla="*/ 468 w 522"/>
                <a:gd name="T21" fmla="*/ 84 h 519"/>
                <a:gd name="T22" fmla="*/ 444 w 522"/>
                <a:gd name="T23" fmla="*/ 54 h 519"/>
                <a:gd name="T24" fmla="*/ 375 w 522"/>
                <a:gd name="T25" fmla="*/ 0 h 5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2"/>
                <a:gd name="T40" fmla="*/ 0 h 519"/>
                <a:gd name="T41" fmla="*/ 522 w 522"/>
                <a:gd name="T42" fmla="*/ 519 h 5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2" h="519">
                  <a:moveTo>
                    <a:pt x="375" y="0"/>
                  </a:moveTo>
                  <a:lnTo>
                    <a:pt x="219" y="120"/>
                  </a:lnTo>
                  <a:lnTo>
                    <a:pt x="0" y="285"/>
                  </a:lnTo>
                  <a:lnTo>
                    <a:pt x="33" y="330"/>
                  </a:lnTo>
                  <a:lnTo>
                    <a:pt x="84" y="393"/>
                  </a:lnTo>
                  <a:lnTo>
                    <a:pt x="108" y="453"/>
                  </a:lnTo>
                  <a:lnTo>
                    <a:pt x="126" y="519"/>
                  </a:lnTo>
                  <a:lnTo>
                    <a:pt x="330" y="354"/>
                  </a:lnTo>
                  <a:lnTo>
                    <a:pt x="522" y="183"/>
                  </a:lnTo>
                  <a:lnTo>
                    <a:pt x="489" y="120"/>
                  </a:lnTo>
                  <a:lnTo>
                    <a:pt x="468" y="84"/>
                  </a:lnTo>
                  <a:lnTo>
                    <a:pt x="444" y="54"/>
                  </a:lnTo>
                  <a:lnTo>
                    <a:pt x="375"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6490" name="Freeform 483"/>
            <p:cNvSpPr>
              <a:spLocks/>
            </p:cNvSpPr>
            <p:nvPr/>
          </p:nvSpPr>
          <p:spPr bwMode="auto">
            <a:xfrm>
              <a:off x="3258" y="1959"/>
              <a:ext cx="519" cy="510"/>
            </a:xfrm>
            <a:custGeom>
              <a:avLst/>
              <a:gdLst>
                <a:gd name="T0" fmla="*/ 399 w 519"/>
                <a:gd name="T1" fmla="*/ 0 h 510"/>
                <a:gd name="T2" fmla="*/ 237 w 519"/>
                <a:gd name="T3" fmla="*/ 153 h 510"/>
                <a:gd name="T4" fmla="*/ 0 w 519"/>
                <a:gd name="T5" fmla="*/ 333 h 510"/>
                <a:gd name="T6" fmla="*/ 54 w 519"/>
                <a:gd name="T7" fmla="*/ 369 h 510"/>
                <a:gd name="T8" fmla="*/ 87 w 519"/>
                <a:gd name="T9" fmla="*/ 402 h 510"/>
                <a:gd name="T10" fmla="*/ 111 w 519"/>
                <a:gd name="T11" fmla="*/ 441 h 510"/>
                <a:gd name="T12" fmla="*/ 147 w 519"/>
                <a:gd name="T13" fmla="*/ 510 h 510"/>
                <a:gd name="T14" fmla="*/ 333 w 519"/>
                <a:gd name="T15" fmla="*/ 342 h 510"/>
                <a:gd name="T16" fmla="*/ 519 w 519"/>
                <a:gd name="T17" fmla="*/ 156 h 510"/>
                <a:gd name="T18" fmla="*/ 498 w 519"/>
                <a:gd name="T19" fmla="*/ 84 h 510"/>
                <a:gd name="T20" fmla="*/ 453 w 519"/>
                <a:gd name="T21" fmla="*/ 42 h 510"/>
                <a:gd name="T22" fmla="*/ 399 w 519"/>
                <a:gd name="T23" fmla="*/ 0 h 5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19"/>
                <a:gd name="T37" fmla="*/ 0 h 510"/>
                <a:gd name="T38" fmla="*/ 519 w 519"/>
                <a:gd name="T39" fmla="*/ 510 h 5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19" h="510">
                  <a:moveTo>
                    <a:pt x="399" y="0"/>
                  </a:moveTo>
                  <a:lnTo>
                    <a:pt x="237" y="153"/>
                  </a:lnTo>
                  <a:lnTo>
                    <a:pt x="0" y="333"/>
                  </a:lnTo>
                  <a:lnTo>
                    <a:pt x="54" y="369"/>
                  </a:lnTo>
                  <a:lnTo>
                    <a:pt x="87" y="402"/>
                  </a:lnTo>
                  <a:lnTo>
                    <a:pt x="111" y="441"/>
                  </a:lnTo>
                  <a:lnTo>
                    <a:pt x="147" y="510"/>
                  </a:lnTo>
                  <a:lnTo>
                    <a:pt x="333" y="342"/>
                  </a:lnTo>
                  <a:lnTo>
                    <a:pt x="519" y="156"/>
                  </a:lnTo>
                  <a:lnTo>
                    <a:pt x="498" y="84"/>
                  </a:lnTo>
                  <a:lnTo>
                    <a:pt x="453" y="42"/>
                  </a:lnTo>
                  <a:lnTo>
                    <a:pt x="39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91" name="Freeform 484"/>
            <p:cNvSpPr>
              <a:spLocks/>
            </p:cNvSpPr>
            <p:nvPr/>
          </p:nvSpPr>
          <p:spPr bwMode="auto">
            <a:xfrm>
              <a:off x="3663" y="1707"/>
              <a:ext cx="276" cy="399"/>
            </a:xfrm>
            <a:custGeom>
              <a:avLst/>
              <a:gdLst>
                <a:gd name="T0" fmla="*/ 246 w 276"/>
                <a:gd name="T1" fmla="*/ 0 h 399"/>
                <a:gd name="T2" fmla="*/ 117 w 276"/>
                <a:gd name="T3" fmla="*/ 132 h 399"/>
                <a:gd name="T4" fmla="*/ 60 w 276"/>
                <a:gd name="T5" fmla="*/ 183 h 399"/>
                <a:gd name="T6" fmla="*/ 0 w 276"/>
                <a:gd name="T7" fmla="*/ 243 h 399"/>
                <a:gd name="T8" fmla="*/ 54 w 276"/>
                <a:gd name="T9" fmla="*/ 285 h 399"/>
                <a:gd name="T10" fmla="*/ 87 w 276"/>
                <a:gd name="T11" fmla="*/ 315 h 399"/>
                <a:gd name="T12" fmla="*/ 123 w 276"/>
                <a:gd name="T13" fmla="*/ 399 h 399"/>
                <a:gd name="T14" fmla="*/ 276 w 276"/>
                <a:gd name="T15" fmla="*/ 255 h 399"/>
                <a:gd name="T16" fmla="*/ 246 w 276"/>
                <a:gd name="T17" fmla="*/ 0 h 3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6"/>
                <a:gd name="T28" fmla="*/ 0 h 399"/>
                <a:gd name="T29" fmla="*/ 276 w 276"/>
                <a:gd name="T30" fmla="*/ 399 h 3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6" h="399">
                  <a:moveTo>
                    <a:pt x="246" y="0"/>
                  </a:moveTo>
                  <a:lnTo>
                    <a:pt x="117" y="132"/>
                  </a:lnTo>
                  <a:lnTo>
                    <a:pt x="60" y="183"/>
                  </a:lnTo>
                  <a:lnTo>
                    <a:pt x="0" y="243"/>
                  </a:lnTo>
                  <a:lnTo>
                    <a:pt x="54" y="285"/>
                  </a:lnTo>
                  <a:lnTo>
                    <a:pt x="87" y="315"/>
                  </a:lnTo>
                  <a:lnTo>
                    <a:pt x="123" y="399"/>
                  </a:lnTo>
                  <a:lnTo>
                    <a:pt x="276" y="255"/>
                  </a:lnTo>
                  <a:lnTo>
                    <a:pt x="24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92" name="Freeform 485"/>
            <p:cNvSpPr>
              <a:spLocks/>
            </p:cNvSpPr>
            <p:nvPr/>
          </p:nvSpPr>
          <p:spPr bwMode="auto">
            <a:xfrm>
              <a:off x="2016" y="3261"/>
              <a:ext cx="483" cy="492"/>
            </a:xfrm>
            <a:custGeom>
              <a:avLst/>
              <a:gdLst>
                <a:gd name="T0" fmla="*/ 366 w 483"/>
                <a:gd name="T1" fmla="*/ 0 h 492"/>
                <a:gd name="T2" fmla="*/ 204 w 483"/>
                <a:gd name="T3" fmla="*/ 78 h 492"/>
                <a:gd name="T4" fmla="*/ 0 w 483"/>
                <a:gd name="T5" fmla="*/ 171 h 492"/>
                <a:gd name="T6" fmla="*/ 18 w 483"/>
                <a:gd name="T7" fmla="*/ 492 h 492"/>
                <a:gd name="T8" fmla="*/ 168 w 483"/>
                <a:gd name="T9" fmla="*/ 396 h 492"/>
                <a:gd name="T10" fmla="*/ 297 w 483"/>
                <a:gd name="T11" fmla="*/ 303 h 492"/>
                <a:gd name="T12" fmla="*/ 393 w 483"/>
                <a:gd name="T13" fmla="*/ 231 h 492"/>
                <a:gd name="T14" fmla="*/ 483 w 483"/>
                <a:gd name="T15" fmla="*/ 168 h 492"/>
                <a:gd name="T16" fmla="*/ 450 w 483"/>
                <a:gd name="T17" fmla="*/ 108 h 492"/>
                <a:gd name="T18" fmla="*/ 432 w 483"/>
                <a:gd name="T19" fmla="*/ 84 h 492"/>
                <a:gd name="T20" fmla="*/ 405 w 483"/>
                <a:gd name="T21" fmla="*/ 45 h 492"/>
                <a:gd name="T22" fmla="*/ 366 w 483"/>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3"/>
                <a:gd name="T37" fmla="*/ 0 h 492"/>
                <a:gd name="T38" fmla="*/ 483 w 483"/>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3" h="492">
                  <a:moveTo>
                    <a:pt x="366" y="0"/>
                  </a:moveTo>
                  <a:lnTo>
                    <a:pt x="204" y="78"/>
                  </a:lnTo>
                  <a:lnTo>
                    <a:pt x="0" y="171"/>
                  </a:lnTo>
                  <a:lnTo>
                    <a:pt x="18" y="492"/>
                  </a:lnTo>
                  <a:lnTo>
                    <a:pt x="168" y="396"/>
                  </a:lnTo>
                  <a:lnTo>
                    <a:pt x="297" y="303"/>
                  </a:lnTo>
                  <a:lnTo>
                    <a:pt x="393" y="231"/>
                  </a:lnTo>
                  <a:lnTo>
                    <a:pt x="483" y="168"/>
                  </a:lnTo>
                  <a:lnTo>
                    <a:pt x="450" y="108"/>
                  </a:lnTo>
                  <a:lnTo>
                    <a:pt x="432" y="84"/>
                  </a:lnTo>
                  <a:lnTo>
                    <a:pt x="405" y="45"/>
                  </a:lnTo>
                  <a:lnTo>
                    <a:pt x="36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93" name="Freeform 486"/>
            <p:cNvSpPr>
              <a:spLocks/>
            </p:cNvSpPr>
            <p:nvPr/>
          </p:nvSpPr>
          <p:spPr bwMode="auto">
            <a:xfrm>
              <a:off x="2388" y="2985"/>
              <a:ext cx="504" cy="441"/>
            </a:xfrm>
            <a:custGeom>
              <a:avLst/>
              <a:gdLst>
                <a:gd name="T0" fmla="*/ 411 w 504"/>
                <a:gd name="T1" fmla="*/ 0 h 441"/>
                <a:gd name="T2" fmla="*/ 255 w 504"/>
                <a:gd name="T3" fmla="*/ 114 h 441"/>
                <a:gd name="T4" fmla="*/ 0 w 504"/>
                <a:gd name="T5" fmla="*/ 270 h 441"/>
                <a:gd name="T6" fmla="*/ 42 w 504"/>
                <a:gd name="T7" fmla="*/ 312 h 441"/>
                <a:gd name="T8" fmla="*/ 66 w 504"/>
                <a:gd name="T9" fmla="*/ 348 h 441"/>
                <a:gd name="T10" fmla="*/ 87 w 504"/>
                <a:gd name="T11" fmla="*/ 375 h 441"/>
                <a:gd name="T12" fmla="*/ 111 w 504"/>
                <a:gd name="T13" fmla="*/ 441 h 441"/>
                <a:gd name="T14" fmla="*/ 318 w 504"/>
                <a:gd name="T15" fmla="*/ 306 h 441"/>
                <a:gd name="T16" fmla="*/ 504 w 504"/>
                <a:gd name="T17" fmla="*/ 147 h 441"/>
                <a:gd name="T18" fmla="*/ 471 w 504"/>
                <a:gd name="T19" fmla="*/ 87 h 441"/>
                <a:gd name="T20" fmla="*/ 450 w 504"/>
                <a:gd name="T21" fmla="*/ 51 h 441"/>
                <a:gd name="T22" fmla="*/ 411 w 504"/>
                <a:gd name="T23" fmla="*/ 0 h 4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4"/>
                <a:gd name="T37" fmla="*/ 0 h 441"/>
                <a:gd name="T38" fmla="*/ 504 w 504"/>
                <a:gd name="T39" fmla="*/ 441 h 4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4" h="441">
                  <a:moveTo>
                    <a:pt x="411" y="0"/>
                  </a:moveTo>
                  <a:lnTo>
                    <a:pt x="255" y="114"/>
                  </a:lnTo>
                  <a:lnTo>
                    <a:pt x="0" y="270"/>
                  </a:lnTo>
                  <a:lnTo>
                    <a:pt x="42" y="312"/>
                  </a:lnTo>
                  <a:lnTo>
                    <a:pt x="66" y="348"/>
                  </a:lnTo>
                  <a:lnTo>
                    <a:pt x="87" y="375"/>
                  </a:lnTo>
                  <a:lnTo>
                    <a:pt x="111" y="441"/>
                  </a:lnTo>
                  <a:lnTo>
                    <a:pt x="318" y="306"/>
                  </a:lnTo>
                  <a:lnTo>
                    <a:pt x="504" y="147"/>
                  </a:lnTo>
                  <a:lnTo>
                    <a:pt x="471" y="87"/>
                  </a:lnTo>
                  <a:lnTo>
                    <a:pt x="450" y="51"/>
                  </a:lnTo>
                  <a:lnTo>
                    <a:pt x="41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94" name="Freeform 487"/>
            <p:cNvSpPr>
              <a:spLocks/>
            </p:cNvSpPr>
            <p:nvPr/>
          </p:nvSpPr>
          <p:spPr bwMode="auto">
            <a:xfrm>
              <a:off x="2805" y="2694"/>
              <a:ext cx="492" cy="441"/>
            </a:xfrm>
            <a:custGeom>
              <a:avLst/>
              <a:gdLst>
                <a:gd name="T0" fmla="*/ 375 w 492"/>
                <a:gd name="T1" fmla="*/ 0 h 441"/>
                <a:gd name="T2" fmla="*/ 219 w 492"/>
                <a:gd name="T3" fmla="*/ 120 h 441"/>
                <a:gd name="T4" fmla="*/ 0 w 492"/>
                <a:gd name="T5" fmla="*/ 285 h 441"/>
                <a:gd name="T6" fmla="*/ 33 w 492"/>
                <a:gd name="T7" fmla="*/ 330 h 441"/>
                <a:gd name="T8" fmla="*/ 63 w 492"/>
                <a:gd name="T9" fmla="*/ 366 h 441"/>
                <a:gd name="T10" fmla="*/ 78 w 492"/>
                <a:gd name="T11" fmla="*/ 390 h 441"/>
                <a:gd name="T12" fmla="*/ 99 w 492"/>
                <a:gd name="T13" fmla="*/ 441 h 441"/>
                <a:gd name="T14" fmla="*/ 288 w 492"/>
                <a:gd name="T15" fmla="*/ 300 h 441"/>
                <a:gd name="T16" fmla="*/ 492 w 492"/>
                <a:gd name="T17" fmla="*/ 123 h 441"/>
                <a:gd name="T18" fmla="*/ 459 w 492"/>
                <a:gd name="T19" fmla="*/ 69 h 441"/>
                <a:gd name="T20" fmla="*/ 441 w 492"/>
                <a:gd name="T21" fmla="*/ 45 h 441"/>
                <a:gd name="T22" fmla="*/ 417 w 492"/>
                <a:gd name="T23" fmla="*/ 30 h 441"/>
                <a:gd name="T24" fmla="*/ 375 w 492"/>
                <a:gd name="T25" fmla="*/ 0 h 4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2"/>
                <a:gd name="T40" fmla="*/ 0 h 441"/>
                <a:gd name="T41" fmla="*/ 492 w 492"/>
                <a:gd name="T42" fmla="*/ 441 h 4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2" h="441">
                  <a:moveTo>
                    <a:pt x="375" y="0"/>
                  </a:moveTo>
                  <a:lnTo>
                    <a:pt x="219" y="120"/>
                  </a:lnTo>
                  <a:lnTo>
                    <a:pt x="0" y="285"/>
                  </a:lnTo>
                  <a:lnTo>
                    <a:pt x="33" y="330"/>
                  </a:lnTo>
                  <a:lnTo>
                    <a:pt x="63" y="366"/>
                  </a:lnTo>
                  <a:lnTo>
                    <a:pt x="78" y="390"/>
                  </a:lnTo>
                  <a:lnTo>
                    <a:pt x="99" y="441"/>
                  </a:lnTo>
                  <a:lnTo>
                    <a:pt x="288" y="300"/>
                  </a:lnTo>
                  <a:lnTo>
                    <a:pt x="492" y="123"/>
                  </a:lnTo>
                  <a:lnTo>
                    <a:pt x="459" y="69"/>
                  </a:lnTo>
                  <a:lnTo>
                    <a:pt x="441" y="45"/>
                  </a:lnTo>
                  <a:lnTo>
                    <a:pt x="417" y="30"/>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95" name="Freeform 488"/>
            <p:cNvSpPr>
              <a:spLocks/>
            </p:cNvSpPr>
            <p:nvPr/>
          </p:nvSpPr>
          <p:spPr bwMode="auto">
            <a:xfrm>
              <a:off x="3189" y="2343"/>
              <a:ext cx="507" cy="465"/>
            </a:xfrm>
            <a:custGeom>
              <a:avLst/>
              <a:gdLst>
                <a:gd name="T0" fmla="*/ 375 w 507"/>
                <a:gd name="T1" fmla="*/ 0 h 465"/>
                <a:gd name="T2" fmla="*/ 219 w 507"/>
                <a:gd name="T3" fmla="*/ 147 h 465"/>
                <a:gd name="T4" fmla="*/ 90 w 507"/>
                <a:gd name="T5" fmla="*/ 264 h 465"/>
                <a:gd name="T6" fmla="*/ 0 w 507"/>
                <a:gd name="T7" fmla="*/ 339 h 465"/>
                <a:gd name="T8" fmla="*/ 45 w 507"/>
                <a:gd name="T9" fmla="*/ 375 h 465"/>
                <a:gd name="T10" fmla="*/ 75 w 507"/>
                <a:gd name="T11" fmla="*/ 399 h 465"/>
                <a:gd name="T12" fmla="*/ 96 w 507"/>
                <a:gd name="T13" fmla="*/ 423 h 465"/>
                <a:gd name="T14" fmla="*/ 114 w 507"/>
                <a:gd name="T15" fmla="*/ 465 h 465"/>
                <a:gd name="T16" fmla="*/ 306 w 507"/>
                <a:gd name="T17" fmla="*/ 309 h 465"/>
                <a:gd name="T18" fmla="*/ 507 w 507"/>
                <a:gd name="T19" fmla="*/ 129 h 465"/>
                <a:gd name="T20" fmla="*/ 465 w 507"/>
                <a:gd name="T21" fmla="*/ 63 h 465"/>
                <a:gd name="T22" fmla="*/ 423 w 507"/>
                <a:gd name="T23" fmla="*/ 24 h 465"/>
                <a:gd name="T24" fmla="*/ 375 w 507"/>
                <a:gd name="T25" fmla="*/ 0 h 4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7"/>
                <a:gd name="T40" fmla="*/ 0 h 465"/>
                <a:gd name="T41" fmla="*/ 507 w 507"/>
                <a:gd name="T42" fmla="*/ 465 h 4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7" h="465">
                  <a:moveTo>
                    <a:pt x="375" y="0"/>
                  </a:moveTo>
                  <a:lnTo>
                    <a:pt x="219" y="147"/>
                  </a:lnTo>
                  <a:lnTo>
                    <a:pt x="90" y="264"/>
                  </a:lnTo>
                  <a:lnTo>
                    <a:pt x="0" y="339"/>
                  </a:lnTo>
                  <a:lnTo>
                    <a:pt x="45" y="375"/>
                  </a:lnTo>
                  <a:lnTo>
                    <a:pt x="75" y="399"/>
                  </a:lnTo>
                  <a:lnTo>
                    <a:pt x="96" y="423"/>
                  </a:lnTo>
                  <a:lnTo>
                    <a:pt x="114" y="465"/>
                  </a:lnTo>
                  <a:lnTo>
                    <a:pt x="306" y="309"/>
                  </a:lnTo>
                  <a:lnTo>
                    <a:pt x="507" y="129"/>
                  </a:lnTo>
                  <a:lnTo>
                    <a:pt x="465" y="63"/>
                  </a:lnTo>
                  <a:lnTo>
                    <a:pt x="423" y="24"/>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96" name="Freeform 489"/>
            <p:cNvSpPr>
              <a:spLocks/>
            </p:cNvSpPr>
            <p:nvPr/>
          </p:nvSpPr>
          <p:spPr bwMode="auto">
            <a:xfrm>
              <a:off x="3570" y="1968"/>
              <a:ext cx="387" cy="507"/>
            </a:xfrm>
            <a:custGeom>
              <a:avLst/>
              <a:gdLst>
                <a:gd name="T0" fmla="*/ 378 w 387"/>
                <a:gd name="T1" fmla="*/ 0 h 507"/>
                <a:gd name="T2" fmla="*/ 240 w 387"/>
                <a:gd name="T3" fmla="*/ 132 h 507"/>
                <a:gd name="T4" fmla="*/ 132 w 387"/>
                <a:gd name="T5" fmla="*/ 240 h 507"/>
                <a:gd name="T6" fmla="*/ 0 w 387"/>
                <a:gd name="T7" fmla="*/ 369 h 507"/>
                <a:gd name="T8" fmla="*/ 63 w 387"/>
                <a:gd name="T9" fmla="*/ 405 h 507"/>
                <a:gd name="T10" fmla="*/ 99 w 387"/>
                <a:gd name="T11" fmla="*/ 435 h 507"/>
                <a:gd name="T12" fmla="*/ 132 w 387"/>
                <a:gd name="T13" fmla="*/ 507 h 507"/>
                <a:gd name="T14" fmla="*/ 387 w 387"/>
                <a:gd name="T15" fmla="*/ 249 h 507"/>
                <a:gd name="T16" fmla="*/ 378 w 387"/>
                <a:gd name="T17" fmla="*/ 0 h 5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507"/>
                <a:gd name="T29" fmla="*/ 387 w 387"/>
                <a:gd name="T30" fmla="*/ 507 h 5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507">
                  <a:moveTo>
                    <a:pt x="378" y="0"/>
                  </a:moveTo>
                  <a:lnTo>
                    <a:pt x="240" y="132"/>
                  </a:lnTo>
                  <a:lnTo>
                    <a:pt x="132" y="240"/>
                  </a:lnTo>
                  <a:lnTo>
                    <a:pt x="0" y="369"/>
                  </a:lnTo>
                  <a:lnTo>
                    <a:pt x="63" y="405"/>
                  </a:lnTo>
                  <a:lnTo>
                    <a:pt x="99" y="435"/>
                  </a:lnTo>
                  <a:lnTo>
                    <a:pt x="132" y="507"/>
                  </a:lnTo>
                  <a:lnTo>
                    <a:pt x="387" y="249"/>
                  </a:lnTo>
                  <a:lnTo>
                    <a:pt x="37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97" name="Freeform 490"/>
            <p:cNvSpPr>
              <a:spLocks/>
            </p:cNvSpPr>
            <p:nvPr/>
          </p:nvSpPr>
          <p:spPr bwMode="auto">
            <a:xfrm>
              <a:off x="1676" y="3350"/>
              <a:ext cx="340" cy="394"/>
            </a:xfrm>
            <a:custGeom>
              <a:avLst/>
              <a:gdLst>
                <a:gd name="T0" fmla="*/ 340 w 340"/>
                <a:gd name="T1" fmla="*/ 394 h 394"/>
                <a:gd name="T2" fmla="*/ 8 w 340"/>
                <a:gd name="T3" fmla="*/ 236 h 394"/>
                <a:gd name="T4" fmla="*/ 4 w 340"/>
                <a:gd name="T5" fmla="*/ 114 h 394"/>
                <a:gd name="T6" fmla="*/ 0 w 340"/>
                <a:gd name="T7" fmla="*/ 0 h 394"/>
                <a:gd name="T8" fmla="*/ 90 w 340"/>
                <a:gd name="T9" fmla="*/ 14 h 394"/>
                <a:gd name="T10" fmla="*/ 150 w 340"/>
                <a:gd name="T11" fmla="*/ 28 h 394"/>
                <a:gd name="T12" fmla="*/ 258 w 340"/>
                <a:gd name="T13" fmla="*/ 52 h 394"/>
                <a:gd name="T14" fmla="*/ 326 w 340"/>
                <a:gd name="T15" fmla="*/ 72 h 394"/>
                <a:gd name="T16" fmla="*/ 338 w 340"/>
                <a:gd name="T17" fmla="*/ 180 h 394"/>
                <a:gd name="T18" fmla="*/ 340 w 340"/>
                <a:gd name="T19" fmla="*/ 248 h 394"/>
                <a:gd name="T20" fmla="*/ 340 w 340"/>
                <a:gd name="T21" fmla="*/ 316 h 394"/>
                <a:gd name="T22" fmla="*/ 340 w 340"/>
                <a:gd name="T23" fmla="*/ 394 h 3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0"/>
                <a:gd name="T37" fmla="*/ 0 h 394"/>
                <a:gd name="T38" fmla="*/ 340 w 340"/>
                <a:gd name="T39" fmla="*/ 394 h 39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0" h="394">
                  <a:moveTo>
                    <a:pt x="340" y="394"/>
                  </a:moveTo>
                  <a:lnTo>
                    <a:pt x="8" y="236"/>
                  </a:lnTo>
                  <a:lnTo>
                    <a:pt x="4" y="114"/>
                  </a:lnTo>
                  <a:lnTo>
                    <a:pt x="0" y="0"/>
                  </a:lnTo>
                  <a:lnTo>
                    <a:pt x="90" y="14"/>
                  </a:lnTo>
                  <a:lnTo>
                    <a:pt x="150" y="28"/>
                  </a:lnTo>
                  <a:lnTo>
                    <a:pt x="258" y="52"/>
                  </a:lnTo>
                  <a:lnTo>
                    <a:pt x="326" y="72"/>
                  </a:lnTo>
                  <a:lnTo>
                    <a:pt x="338" y="180"/>
                  </a:lnTo>
                  <a:lnTo>
                    <a:pt x="340" y="248"/>
                  </a:lnTo>
                  <a:lnTo>
                    <a:pt x="340" y="316"/>
                  </a:lnTo>
                  <a:lnTo>
                    <a:pt x="340"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498" name="Freeform 491"/>
            <p:cNvSpPr>
              <a:spLocks/>
            </p:cNvSpPr>
            <p:nvPr/>
          </p:nvSpPr>
          <p:spPr bwMode="auto">
            <a:xfrm>
              <a:off x="1626" y="3012"/>
              <a:ext cx="372" cy="394"/>
            </a:xfrm>
            <a:custGeom>
              <a:avLst/>
              <a:gdLst>
                <a:gd name="T0" fmla="*/ 372 w 372"/>
                <a:gd name="T1" fmla="*/ 394 h 394"/>
                <a:gd name="T2" fmla="*/ 190 w 372"/>
                <a:gd name="T3" fmla="*/ 348 h 394"/>
                <a:gd name="T4" fmla="*/ 40 w 372"/>
                <a:gd name="T5" fmla="*/ 318 h 394"/>
                <a:gd name="T6" fmla="*/ 0 w 372"/>
                <a:gd name="T7" fmla="*/ 0 h 394"/>
                <a:gd name="T8" fmla="*/ 76 w 372"/>
                <a:gd name="T9" fmla="*/ 10 h 394"/>
                <a:gd name="T10" fmla="*/ 198 w 372"/>
                <a:gd name="T11" fmla="*/ 22 h 394"/>
                <a:gd name="T12" fmla="*/ 308 w 372"/>
                <a:gd name="T13" fmla="*/ 38 h 394"/>
                <a:gd name="T14" fmla="*/ 340 w 372"/>
                <a:gd name="T15" fmla="*/ 202 h 394"/>
                <a:gd name="T16" fmla="*/ 372 w 372"/>
                <a:gd name="T17" fmla="*/ 394 h 3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2"/>
                <a:gd name="T28" fmla="*/ 0 h 394"/>
                <a:gd name="T29" fmla="*/ 372 w 372"/>
                <a:gd name="T30" fmla="*/ 394 h 3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2" h="394">
                  <a:moveTo>
                    <a:pt x="372" y="394"/>
                  </a:moveTo>
                  <a:lnTo>
                    <a:pt x="190" y="348"/>
                  </a:lnTo>
                  <a:lnTo>
                    <a:pt x="40" y="318"/>
                  </a:lnTo>
                  <a:lnTo>
                    <a:pt x="0" y="0"/>
                  </a:lnTo>
                  <a:lnTo>
                    <a:pt x="76" y="10"/>
                  </a:lnTo>
                  <a:lnTo>
                    <a:pt x="198" y="22"/>
                  </a:lnTo>
                  <a:lnTo>
                    <a:pt x="308" y="38"/>
                  </a:lnTo>
                  <a:lnTo>
                    <a:pt x="340" y="202"/>
                  </a:lnTo>
                  <a:lnTo>
                    <a:pt x="372"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499" name="Freeform 492"/>
            <p:cNvSpPr>
              <a:spLocks/>
            </p:cNvSpPr>
            <p:nvPr/>
          </p:nvSpPr>
          <p:spPr bwMode="auto">
            <a:xfrm>
              <a:off x="1554" y="2698"/>
              <a:ext cx="374" cy="340"/>
            </a:xfrm>
            <a:custGeom>
              <a:avLst/>
              <a:gdLst>
                <a:gd name="T0" fmla="*/ 374 w 374"/>
                <a:gd name="T1" fmla="*/ 340 h 340"/>
                <a:gd name="T2" fmla="*/ 240 w 374"/>
                <a:gd name="T3" fmla="*/ 324 h 340"/>
                <a:gd name="T4" fmla="*/ 68 w 374"/>
                <a:gd name="T5" fmla="*/ 302 h 340"/>
                <a:gd name="T6" fmla="*/ 0 w 374"/>
                <a:gd name="T7" fmla="*/ 0 h 340"/>
                <a:gd name="T8" fmla="*/ 90 w 374"/>
                <a:gd name="T9" fmla="*/ 2 h 340"/>
                <a:gd name="T10" fmla="*/ 174 w 374"/>
                <a:gd name="T11" fmla="*/ 0 h 340"/>
                <a:gd name="T12" fmla="*/ 296 w 374"/>
                <a:gd name="T13" fmla="*/ 14 h 340"/>
                <a:gd name="T14" fmla="*/ 312 w 374"/>
                <a:gd name="T15" fmla="*/ 90 h 340"/>
                <a:gd name="T16" fmla="*/ 354 w 374"/>
                <a:gd name="T17" fmla="*/ 246 h 340"/>
                <a:gd name="T18" fmla="*/ 374 w 374"/>
                <a:gd name="T19" fmla="*/ 340 h 3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340"/>
                <a:gd name="T32" fmla="*/ 374 w 374"/>
                <a:gd name="T33" fmla="*/ 340 h 3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340">
                  <a:moveTo>
                    <a:pt x="374" y="340"/>
                  </a:moveTo>
                  <a:lnTo>
                    <a:pt x="240" y="324"/>
                  </a:lnTo>
                  <a:lnTo>
                    <a:pt x="68" y="302"/>
                  </a:lnTo>
                  <a:lnTo>
                    <a:pt x="0" y="0"/>
                  </a:lnTo>
                  <a:lnTo>
                    <a:pt x="90" y="2"/>
                  </a:lnTo>
                  <a:lnTo>
                    <a:pt x="174" y="0"/>
                  </a:lnTo>
                  <a:lnTo>
                    <a:pt x="296" y="14"/>
                  </a:lnTo>
                  <a:lnTo>
                    <a:pt x="312" y="90"/>
                  </a:lnTo>
                  <a:lnTo>
                    <a:pt x="354" y="246"/>
                  </a:lnTo>
                  <a:lnTo>
                    <a:pt x="374" y="340"/>
                  </a:lnTo>
                  <a:close/>
                </a:path>
              </a:pathLst>
            </a:custGeom>
            <a:gradFill rotWithShape="0">
              <a:gsLst>
                <a:gs pos="0">
                  <a:srgbClr val="CFB2AD"/>
                </a:gs>
                <a:gs pos="100000">
                  <a:srgbClr val="A85656"/>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500" name="Freeform 493"/>
            <p:cNvSpPr>
              <a:spLocks/>
            </p:cNvSpPr>
            <p:nvPr/>
          </p:nvSpPr>
          <p:spPr bwMode="auto">
            <a:xfrm>
              <a:off x="1460" y="2366"/>
              <a:ext cx="388" cy="334"/>
            </a:xfrm>
            <a:custGeom>
              <a:avLst/>
              <a:gdLst>
                <a:gd name="T0" fmla="*/ 388 w 388"/>
                <a:gd name="T1" fmla="*/ 334 h 334"/>
                <a:gd name="T2" fmla="*/ 258 w 388"/>
                <a:gd name="T3" fmla="*/ 320 h 334"/>
                <a:gd name="T4" fmla="*/ 90 w 388"/>
                <a:gd name="T5" fmla="*/ 324 h 334"/>
                <a:gd name="T6" fmla="*/ 0 w 388"/>
                <a:gd name="T7" fmla="*/ 2 h 334"/>
                <a:gd name="T8" fmla="*/ 82 w 388"/>
                <a:gd name="T9" fmla="*/ 2 h 334"/>
                <a:gd name="T10" fmla="*/ 172 w 388"/>
                <a:gd name="T11" fmla="*/ 0 h 334"/>
                <a:gd name="T12" fmla="*/ 288 w 388"/>
                <a:gd name="T13" fmla="*/ 6 h 334"/>
                <a:gd name="T14" fmla="*/ 308 w 388"/>
                <a:gd name="T15" fmla="*/ 80 h 334"/>
                <a:gd name="T16" fmla="*/ 350 w 388"/>
                <a:gd name="T17" fmla="*/ 212 h 334"/>
                <a:gd name="T18" fmla="*/ 388 w 388"/>
                <a:gd name="T19" fmla="*/ 334 h 3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8"/>
                <a:gd name="T31" fmla="*/ 0 h 334"/>
                <a:gd name="T32" fmla="*/ 388 w 388"/>
                <a:gd name="T33" fmla="*/ 334 h 3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8" h="334">
                  <a:moveTo>
                    <a:pt x="388" y="334"/>
                  </a:moveTo>
                  <a:lnTo>
                    <a:pt x="258" y="320"/>
                  </a:lnTo>
                  <a:lnTo>
                    <a:pt x="90" y="324"/>
                  </a:lnTo>
                  <a:lnTo>
                    <a:pt x="0" y="2"/>
                  </a:lnTo>
                  <a:lnTo>
                    <a:pt x="82" y="2"/>
                  </a:lnTo>
                  <a:lnTo>
                    <a:pt x="172" y="0"/>
                  </a:lnTo>
                  <a:lnTo>
                    <a:pt x="288" y="6"/>
                  </a:lnTo>
                  <a:lnTo>
                    <a:pt x="308" y="80"/>
                  </a:lnTo>
                  <a:lnTo>
                    <a:pt x="350" y="212"/>
                  </a:lnTo>
                  <a:lnTo>
                    <a:pt x="388" y="334"/>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501" name="Freeform 494"/>
            <p:cNvSpPr>
              <a:spLocks/>
            </p:cNvSpPr>
            <p:nvPr/>
          </p:nvSpPr>
          <p:spPr bwMode="auto">
            <a:xfrm>
              <a:off x="1344" y="1998"/>
              <a:ext cx="398" cy="358"/>
            </a:xfrm>
            <a:custGeom>
              <a:avLst/>
              <a:gdLst>
                <a:gd name="T0" fmla="*/ 398 w 398"/>
                <a:gd name="T1" fmla="*/ 358 h 358"/>
                <a:gd name="T2" fmla="*/ 272 w 398"/>
                <a:gd name="T3" fmla="*/ 358 h 358"/>
                <a:gd name="T4" fmla="*/ 108 w 398"/>
                <a:gd name="T5" fmla="*/ 356 h 358"/>
                <a:gd name="T6" fmla="*/ 64 w 398"/>
                <a:gd name="T7" fmla="*/ 204 h 358"/>
                <a:gd name="T8" fmla="*/ 0 w 398"/>
                <a:gd name="T9" fmla="*/ 28 h 358"/>
                <a:gd name="T10" fmla="*/ 90 w 398"/>
                <a:gd name="T11" fmla="*/ 24 h 358"/>
                <a:gd name="T12" fmla="*/ 144 w 398"/>
                <a:gd name="T13" fmla="*/ 22 h 358"/>
                <a:gd name="T14" fmla="*/ 212 w 398"/>
                <a:gd name="T15" fmla="*/ 16 h 358"/>
                <a:gd name="T16" fmla="*/ 286 w 398"/>
                <a:gd name="T17" fmla="*/ 0 h 358"/>
                <a:gd name="T18" fmla="*/ 314 w 398"/>
                <a:gd name="T19" fmla="*/ 94 h 358"/>
                <a:gd name="T20" fmla="*/ 356 w 398"/>
                <a:gd name="T21" fmla="*/ 228 h 358"/>
                <a:gd name="T22" fmla="*/ 398 w 398"/>
                <a:gd name="T23" fmla="*/ 358 h 3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8"/>
                <a:gd name="T37" fmla="*/ 0 h 358"/>
                <a:gd name="T38" fmla="*/ 398 w 398"/>
                <a:gd name="T39" fmla="*/ 358 h 3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8" h="358">
                  <a:moveTo>
                    <a:pt x="398" y="358"/>
                  </a:moveTo>
                  <a:lnTo>
                    <a:pt x="272" y="358"/>
                  </a:lnTo>
                  <a:lnTo>
                    <a:pt x="108" y="356"/>
                  </a:lnTo>
                  <a:lnTo>
                    <a:pt x="64" y="204"/>
                  </a:lnTo>
                  <a:lnTo>
                    <a:pt x="0" y="28"/>
                  </a:lnTo>
                  <a:lnTo>
                    <a:pt x="90" y="24"/>
                  </a:lnTo>
                  <a:lnTo>
                    <a:pt x="144" y="22"/>
                  </a:lnTo>
                  <a:lnTo>
                    <a:pt x="212" y="16"/>
                  </a:lnTo>
                  <a:lnTo>
                    <a:pt x="286" y="0"/>
                  </a:lnTo>
                  <a:lnTo>
                    <a:pt x="314" y="94"/>
                  </a:lnTo>
                  <a:lnTo>
                    <a:pt x="356" y="228"/>
                  </a:lnTo>
                  <a:lnTo>
                    <a:pt x="398" y="358"/>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502" name="Freeform 495"/>
            <p:cNvSpPr>
              <a:spLocks/>
            </p:cNvSpPr>
            <p:nvPr/>
          </p:nvSpPr>
          <p:spPr bwMode="auto">
            <a:xfrm>
              <a:off x="1144" y="1522"/>
              <a:ext cx="482" cy="492"/>
            </a:xfrm>
            <a:custGeom>
              <a:avLst/>
              <a:gdLst>
                <a:gd name="T0" fmla="*/ 482 w 482"/>
                <a:gd name="T1" fmla="*/ 468 h 492"/>
                <a:gd name="T2" fmla="*/ 364 w 482"/>
                <a:gd name="T3" fmla="*/ 492 h 492"/>
                <a:gd name="T4" fmla="*/ 198 w 482"/>
                <a:gd name="T5" fmla="*/ 492 h 492"/>
                <a:gd name="T6" fmla="*/ 126 w 482"/>
                <a:gd name="T7" fmla="*/ 292 h 492"/>
                <a:gd name="T8" fmla="*/ 0 w 482"/>
                <a:gd name="T9" fmla="*/ 0 h 492"/>
                <a:gd name="T10" fmla="*/ 122 w 482"/>
                <a:gd name="T11" fmla="*/ 22 h 492"/>
                <a:gd name="T12" fmla="*/ 196 w 482"/>
                <a:gd name="T13" fmla="*/ 34 h 492"/>
                <a:gd name="T14" fmla="*/ 276 w 482"/>
                <a:gd name="T15" fmla="*/ 48 h 492"/>
                <a:gd name="T16" fmla="*/ 328 w 482"/>
                <a:gd name="T17" fmla="*/ 62 h 492"/>
                <a:gd name="T18" fmla="*/ 380 w 482"/>
                <a:gd name="T19" fmla="*/ 198 h 492"/>
                <a:gd name="T20" fmla="*/ 432 w 482"/>
                <a:gd name="T21" fmla="*/ 330 h 492"/>
                <a:gd name="T22" fmla="*/ 482 w 482"/>
                <a:gd name="T23" fmla="*/ 468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2"/>
                <a:gd name="T37" fmla="*/ 0 h 492"/>
                <a:gd name="T38" fmla="*/ 482 w 482"/>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2" h="492">
                  <a:moveTo>
                    <a:pt x="482" y="468"/>
                  </a:moveTo>
                  <a:lnTo>
                    <a:pt x="364" y="492"/>
                  </a:lnTo>
                  <a:lnTo>
                    <a:pt x="198" y="492"/>
                  </a:lnTo>
                  <a:lnTo>
                    <a:pt x="126" y="292"/>
                  </a:lnTo>
                  <a:lnTo>
                    <a:pt x="0" y="0"/>
                  </a:lnTo>
                  <a:lnTo>
                    <a:pt x="122" y="22"/>
                  </a:lnTo>
                  <a:lnTo>
                    <a:pt x="196" y="34"/>
                  </a:lnTo>
                  <a:lnTo>
                    <a:pt x="276" y="48"/>
                  </a:lnTo>
                  <a:lnTo>
                    <a:pt x="328" y="62"/>
                  </a:lnTo>
                  <a:lnTo>
                    <a:pt x="380" y="198"/>
                  </a:lnTo>
                  <a:lnTo>
                    <a:pt x="432" y="330"/>
                  </a:lnTo>
                  <a:lnTo>
                    <a:pt x="482" y="468"/>
                  </a:lnTo>
                  <a:close/>
                </a:path>
              </a:pathLst>
            </a:custGeom>
            <a:gradFill rotWithShape="0">
              <a:gsLst>
                <a:gs pos="0">
                  <a:srgbClr val="E8D9D6"/>
                </a:gs>
                <a:gs pos="100000">
                  <a:srgbClr val="CA989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503" name="Freeform 496"/>
            <p:cNvSpPr>
              <a:spLocks/>
            </p:cNvSpPr>
            <p:nvPr/>
          </p:nvSpPr>
          <p:spPr bwMode="auto">
            <a:xfrm>
              <a:off x="1167" y="1344"/>
              <a:ext cx="837" cy="231"/>
            </a:xfrm>
            <a:custGeom>
              <a:avLst/>
              <a:gdLst>
                <a:gd name="T0" fmla="*/ 0 w 837"/>
                <a:gd name="T1" fmla="*/ 171 h 231"/>
                <a:gd name="T2" fmla="*/ 297 w 837"/>
                <a:gd name="T3" fmla="*/ 231 h 231"/>
                <a:gd name="T4" fmla="*/ 561 w 837"/>
                <a:gd name="T5" fmla="*/ 204 h 231"/>
                <a:gd name="T6" fmla="*/ 837 w 837"/>
                <a:gd name="T7" fmla="*/ 138 h 231"/>
                <a:gd name="T8" fmla="*/ 738 w 837"/>
                <a:gd name="T9" fmla="*/ 75 h 231"/>
                <a:gd name="T10" fmla="*/ 618 w 837"/>
                <a:gd name="T11" fmla="*/ 27 h 231"/>
                <a:gd name="T12" fmla="*/ 513 w 837"/>
                <a:gd name="T13" fmla="*/ 0 h 231"/>
                <a:gd name="T14" fmla="*/ 390 w 837"/>
                <a:gd name="T15" fmla="*/ 45 h 231"/>
                <a:gd name="T16" fmla="*/ 0 w 837"/>
                <a:gd name="T17" fmla="*/ 171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37"/>
                <a:gd name="T28" fmla="*/ 0 h 231"/>
                <a:gd name="T29" fmla="*/ 837 w 837"/>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37" h="231">
                  <a:moveTo>
                    <a:pt x="0" y="171"/>
                  </a:moveTo>
                  <a:lnTo>
                    <a:pt x="297" y="231"/>
                  </a:lnTo>
                  <a:lnTo>
                    <a:pt x="561" y="204"/>
                  </a:lnTo>
                  <a:lnTo>
                    <a:pt x="837" y="138"/>
                  </a:lnTo>
                  <a:lnTo>
                    <a:pt x="738" y="75"/>
                  </a:lnTo>
                  <a:lnTo>
                    <a:pt x="618" y="27"/>
                  </a:lnTo>
                  <a:lnTo>
                    <a:pt x="513" y="0"/>
                  </a:lnTo>
                  <a:lnTo>
                    <a:pt x="390" y="45"/>
                  </a:lnTo>
                  <a:lnTo>
                    <a:pt x="0" y="171"/>
                  </a:lnTo>
                  <a:close/>
                </a:path>
              </a:pathLst>
            </a:custGeom>
            <a:gradFill rotWithShape="0">
              <a:gsLst>
                <a:gs pos="0">
                  <a:srgbClr val="C58D8D"/>
                </a:gs>
                <a:gs pos="100000">
                  <a:srgbClr val="8F5A59"/>
                </a:gs>
              </a:gsLst>
              <a:lin ang="0" scaled="1"/>
            </a:gradFill>
            <a:ln w="12700" cap="flat" cmpd="sng">
              <a:noFill/>
              <a:prstDash val="solid"/>
              <a:round/>
              <a:headEnd type="none" w="sm" len="sm"/>
              <a:tailEnd type="none" w="sm" len="sm"/>
            </a:ln>
          </p:spPr>
          <p:txBody>
            <a:bodyPr wrap="none" anchor="ctr"/>
            <a:lstStyle/>
            <a:p>
              <a:endParaRPr lang="en-US"/>
            </a:p>
          </p:txBody>
        </p:sp>
        <p:sp>
          <p:nvSpPr>
            <p:cNvPr id="16504" name="Freeform 497"/>
            <p:cNvSpPr>
              <a:spLocks/>
            </p:cNvSpPr>
            <p:nvPr/>
          </p:nvSpPr>
          <p:spPr bwMode="auto">
            <a:xfrm>
              <a:off x="1707" y="1128"/>
              <a:ext cx="780" cy="345"/>
            </a:xfrm>
            <a:custGeom>
              <a:avLst/>
              <a:gdLst>
                <a:gd name="T0" fmla="*/ 0 w 780"/>
                <a:gd name="T1" fmla="*/ 207 h 345"/>
                <a:gd name="T2" fmla="*/ 165 w 780"/>
                <a:gd name="T3" fmla="*/ 261 h 345"/>
                <a:gd name="T4" fmla="*/ 318 w 780"/>
                <a:gd name="T5" fmla="*/ 345 h 345"/>
                <a:gd name="T6" fmla="*/ 552 w 780"/>
                <a:gd name="T7" fmla="*/ 255 h 345"/>
                <a:gd name="T8" fmla="*/ 780 w 780"/>
                <a:gd name="T9" fmla="*/ 144 h 345"/>
                <a:gd name="T10" fmla="*/ 705 w 780"/>
                <a:gd name="T11" fmla="*/ 69 h 345"/>
                <a:gd name="T12" fmla="*/ 618 w 780"/>
                <a:gd name="T13" fmla="*/ 30 h 345"/>
                <a:gd name="T14" fmla="*/ 498 w 780"/>
                <a:gd name="T15" fmla="*/ 0 h 345"/>
                <a:gd name="T16" fmla="*/ 384 w 780"/>
                <a:gd name="T17" fmla="*/ 51 h 345"/>
                <a:gd name="T18" fmla="*/ 0 w 780"/>
                <a:gd name="T19" fmla="*/ 207 h 3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0"/>
                <a:gd name="T31" fmla="*/ 0 h 345"/>
                <a:gd name="T32" fmla="*/ 780 w 780"/>
                <a:gd name="T33" fmla="*/ 345 h 3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0" h="345">
                  <a:moveTo>
                    <a:pt x="0" y="207"/>
                  </a:moveTo>
                  <a:lnTo>
                    <a:pt x="165" y="261"/>
                  </a:lnTo>
                  <a:lnTo>
                    <a:pt x="318" y="345"/>
                  </a:lnTo>
                  <a:lnTo>
                    <a:pt x="552" y="255"/>
                  </a:lnTo>
                  <a:lnTo>
                    <a:pt x="780" y="144"/>
                  </a:lnTo>
                  <a:lnTo>
                    <a:pt x="705" y="69"/>
                  </a:lnTo>
                  <a:lnTo>
                    <a:pt x="618" y="30"/>
                  </a:lnTo>
                  <a:lnTo>
                    <a:pt x="498" y="0"/>
                  </a:lnTo>
                  <a:lnTo>
                    <a:pt x="384" y="51"/>
                  </a:lnTo>
                  <a:lnTo>
                    <a:pt x="0" y="207"/>
                  </a:lnTo>
                  <a:close/>
                </a:path>
              </a:pathLst>
            </a:custGeom>
            <a:gradFill rotWithShape="0">
              <a:gsLst>
                <a:gs pos="0">
                  <a:srgbClr val="CA9898"/>
                </a:gs>
                <a:gs pos="100000">
                  <a:srgbClr val="A46F6E"/>
                </a:gs>
              </a:gsLst>
              <a:lin ang="0" scaled="1"/>
            </a:gradFill>
            <a:ln w="12700" cap="flat" cmpd="sng">
              <a:noFill/>
              <a:prstDash val="solid"/>
              <a:round/>
              <a:headEnd type="none" w="sm" len="sm"/>
              <a:tailEnd type="none" w="sm" len="sm"/>
            </a:ln>
          </p:spPr>
          <p:txBody>
            <a:bodyPr wrap="none" anchor="ctr"/>
            <a:lstStyle/>
            <a:p>
              <a:endParaRPr lang="en-US"/>
            </a:p>
          </p:txBody>
        </p:sp>
        <p:sp>
          <p:nvSpPr>
            <p:cNvPr id="16505" name="Freeform 498"/>
            <p:cNvSpPr>
              <a:spLocks/>
            </p:cNvSpPr>
            <p:nvPr/>
          </p:nvSpPr>
          <p:spPr bwMode="auto">
            <a:xfrm>
              <a:off x="2232" y="900"/>
              <a:ext cx="729" cy="363"/>
            </a:xfrm>
            <a:custGeom>
              <a:avLst/>
              <a:gdLst>
                <a:gd name="T0" fmla="*/ 0 w 729"/>
                <a:gd name="T1" fmla="*/ 219 h 363"/>
                <a:gd name="T2" fmla="*/ 141 w 729"/>
                <a:gd name="T3" fmla="*/ 258 h 363"/>
                <a:gd name="T4" fmla="*/ 204 w 729"/>
                <a:gd name="T5" fmla="*/ 300 h 363"/>
                <a:gd name="T6" fmla="*/ 279 w 729"/>
                <a:gd name="T7" fmla="*/ 363 h 363"/>
                <a:gd name="T8" fmla="*/ 507 w 729"/>
                <a:gd name="T9" fmla="*/ 228 h 363"/>
                <a:gd name="T10" fmla="*/ 729 w 729"/>
                <a:gd name="T11" fmla="*/ 96 h 363"/>
                <a:gd name="T12" fmla="*/ 621 w 729"/>
                <a:gd name="T13" fmla="*/ 54 h 363"/>
                <a:gd name="T14" fmla="*/ 531 w 729"/>
                <a:gd name="T15" fmla="*/ 18 h 363"/>
                <a:gd name="T16" fmla="*/ 441 w 729"/>
                <a:gd name="T17" fmla="*/ 0 h 363"/>
                <a:gd name="T18" fmla="*/ 309 w 729"/>
                <a:gd name="T19" fmla="*/ 72 h 363"/>
                <a:gd name="T20" fmla="*/ 0 w 729"/>
                <a:gd name="T21" fmla="*/ 219 h 3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9"/>
                <a:gd name="T34" fmla="*/ 0 h 363"/>
                <a:gd name="T35" fmla="*/ 729 w 729"/>
                <a:gd name="T36" fmla="*/ 363 h 3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9" h="363">
                  <a:moveTo>
                    <a:pt x="0" y="219"/>
                  </a:moveTo>
                  <a:lnTo>
                    <a:pt x="141" y="258"/>
                  </a:lnTo>
                  <a:lnTo>
                    <a:pt x="204" y="300"/>
                  </a:lnTo>
                  <a:lnTo>
                    <a:pt x="279" y="363"/>
                  </a:lnTo>
                  <a:lnTo>
                    <a:pt x="507" y="228"/>
                  </a:lnTo>
                  <a:lnTo>
                    <a:pt x="729" y="96"/>
                  </a:lnTo>
                  <a:lnTo>
                    <a:pt x="621" y="54"/>
                  </a:lnTo>
                  <a:lnTo>
                    <a:pt x="531" y="18"/>
                  </a:lnTo>
                  <a:lnTo>
                    <a:pt x="441" y="0"/>
                  </a:lnTo>
                  <a:lnTo>
                    <a:pt x="309" y="72"/>
                  </a:lnTo>
                  <a:lnTo>
                    <a:pt x="0" y="219"/>
                  </a:lnTo>
                  <a:close/>
                </a:path>
              </a:pathLst>
            </a:custGeom>
            <a:gradFill rotWithShape="0">
              <a:gsLst>
                <a:gs pos="0">
                  <a:srgbClr val="D2A6A6"/>
                </a:gs>
                <a:gs pos="100000">
                  <a:srgbClr val="AE7F7E"/>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506" name="Freeform 499"/>
            <p:cNvSpPr>
              <a:spLocks/>
            </p:cNvSpPr>
            <p:nvPr/>
          </p:nvSpPr>
          <p:spPr bwMode="auto">
            <a:xfrm>
              <a:off x="2691" y="642"/>
              <a:ext cx="648" cy="339"/>
            </a:xfrm>
            <a:custGeom>
              <a:avLst/>
              <a:gdLst>
                <a:gd name="T0" fmla="*/ 0 w 648"/>
                <a:gd name="T1" fmla="*/ 246 h 339"/>
                <a:gd name="T2" fmla="*/ 99 w 648"/>
                <a:gd name="T3" fmla="*/ 270 h 339"/>
                <a:gd name="T4" fmla="*/ 183 w 648"/>
                <a:gd name="T5" fmla="*/ 309 h 339"/>
                <a:gd name="T6" fmla="*/ 279 w 648"/>
                <a:gd name="T7" fmla="*/ 339 h 339"/>
                <a:gd name="T8" fmla="*/ 456 w 648"/>
                <a:gd name="T9" fmla="*/ 210 h 339"/>
                <a:gd name="T10" fmla="*/ 648 w 648"/>
                <a:gd name="T11" fmla="*/ 69 h 339"/>
                <a:gd name="T12" fmla="*/ 573 w 648"/>
                <a:gd name="T13" fmla="*/ 45 h 339"/>
                <a:gd name="T14" fmla="*/ 465 w 648"/>
                <a:gd name="T15" fmla="*/ 15 h 339"/>
                <a:gd name="T16" fmla="*/ 372 w 648"/>
                <a:gd name="T17" fmla="*/ 0 h 339"/>
                <a:gd name="T18" fmla="*/ 291 w 648"/>
                <a:gd name="T19" fmla="*/ 72 h 339"/>
                <a:gd name="T20" fmla="*/ 171 w 648"/>
                <a:gd name="T21" fmla="*/ 144 h 339"/>
                <a:gd name="T22" fmla="*/ 0 w 648"/>
                <a:gd name="T23" fmla="*/ 246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339"/>
                <a:gd name="T38" fmla="*/ 648 w 648"/>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339">
                  <a:moveTo>
                    <a:pt x="0" y="246"/>
                  </a:moveTo>
                  <a:lnTo>
                    <a:pt x="99" y="270"/>
                  </a:lnTo>
                  <a:lnTo>
                    <a:pt x="183" y="309"/>
                  </a:lnTo>
                  <a:lnTo>
                    <a:pt x="279" y="339"/>
                  </a:lnTo>
                  <a:lnTo>
                    <a:pt x="456" y="210"/>
                  </a:lnTo>
                  <a:lnTo>
                    <a:pt x="648" y="69"/>
                  </a:lnTo>
                  <a:lnTo>
                    <a:pt x="573" y="45"/>
                  </a:lnTo>
                  <a:lnTo>
                    <a:pt x="465" y="15"/>
                  </a:lnTo>
                  <a:lnTo>
                    <a:pt x="372" y="0"/>
                  </a:lnTo>
                  <a:lnTo>
                    <a:pt x="291" y="72"/>
                  </a:lnTo>
                  <a:lnTo>
                    <a:pt x="171" y="144"/>
                  </a:lnTo>
                  <a:lnTo>
                    <a:pt x="0" y="246"/>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sp>
          <p:nvSpPr>
            <p:cNvPr id="16507" name="Freeform 500"/>
            <p:cNvSpPr>
              <a:spLocks/>
            </p:cNvSpPr>
            <p:nvPr/>
          </p:nvSpPr>
          <p:spPr bwMode="auto">
            <a:xfrm>
              <a:off x="3090" y="330"/>
              <a:ext cx="633" cy="366"/>
            </a:xfrm>
            <a:custGeom>
              <a:avLst/>
              <a:gdLst>
                <a:gd name="T0" fmla="*/ 0 w 633"/>
                <a:gd name="T1" fmla="*/ 297 h 366"/>
                <a:gd name="T2" fmla="*/ 90 w 633"/>
                <a:gd name="T3" fmla="*/ 315 h 366"/>
                <a:gd name="T4" fmla="*/ 198 w 633"/>
                <a:gd name="T5" fmla="*/ 345 h 366"/>
                <a:gd name="T6" fmla="*/ 264 w 633"/>
                <a:gd name="T7" fmla="*/ 366 h 366"/>
                <a:gd name="T8" fmla="*/ 438 w 633"/>
                <a:gd name="T9" fmla="*/ 216 h 366"/>
                <a:gd name="T10" fmla="*/ 633 w 633"/>
                <a:gd name="T11" fmla="*/ 0 h 366"/>
                <a:gd name="T12" fmla="*/ 537 w 633"/>
                <a:gd name="T13" fmla="*/ 15 h 366"/>
                <a:gd name="T14" fmla="*/ 450 w 633"/>
                <a:gd name="T15" fmla="*/ 30 h 366"/>
                <a:gd name="T16" fmla="*/ 345 w 633"/>
                <a:gd name="T17" fmla="*/ 48 h 366"/>
                <a:gd name="T18" fmla="*/ 234 w 633"/>
                <a:gd name="T19" fmla="*/ 69 h 366"/>
                <a:gd name="T20" fmla="*/ 162 w 633"/>
                <a:gd name="T21" fmla="*/ 150 h 366"/>
                <a:gd name="T22" fmla="*/ 0 w 633"/>
                <a:gd name="T23" fmla="*/ 297 h 36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3"/>
                <a:gd name="T37" fmla="*/ 0 h 366"/>
                <a:gd name="T38" fmla="*/ 633 w 633"/>
                <a:gd name="T39" fmla="*/ 366 h 36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3" h="366">
                  <a:moveTo>
                    <a:pt x="0" y="297"/>
                  </a:moveTo>
                  <a:lnTo>
                    <a:pt x="90" y="315"/>
                  </a:lnTo>
                  <a:lnTo>
                    <a:pt x="198" y="345"/>
                  </a:lnTo>
                  <a:lnTo>
                    <a:pt x="264" y="366"/>
                  </a:lnTo>
                  <a:lnTo>
                    <a:pt x="438" y="216"/>
                  </a:lnTo>
                  <a:lnTo>
                    <a:pt x="633" y="0"/>
                  </a:lnTo>
                  <a:lnTo>
                    <a:pt x="537" y="15"/>
                  </a:lnTo>
                  <a:lnTo>
                    <a:pt x="450" y="30"/>
                  </a:lnTo>
                  <a:lnTo>
                    <a:pt x="345" y="48"/>
                  </a:lnTo>
                  <a:lnTo>
                    <a:pt x="234" y="69"/>
                  </a:lnTo>
                  <a:lnTo>
                    <a:pt x="162" y="150"/>
                  </a:lnTo>
                  <a:lnTo>
                    <a:pt x="0" y="297"/>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6402" name="Group 501"/>
          <p:cNvGrpSpPr>
            <a:grpSpLocks/>
          </p:cNvGrpSpPr>
          <p:nvPr/>
        </p:nvGrpSpPr>
        <p:grpSpPr bwMode="auto">
          <a:xfrm rot="19425538" flipH="1">
            <a:off x="7010400" y="1828800"/>
            <a:ext cx="576263" cy="1277938"/>
            <a:chOff x="1125" y="288"/>
            <a:chExt cx="2859" cy="3498"/>
          </a:xfrm>
        </p:grpSpPr>
        <p:sp>
          <p:nvSpPr>
            <p:cNvPr id="16404" name="Freeform 502"/>
            <p:cNvSpPr>
              <a:spLocks/>
            </p:cNvSpPr>
            <p:nvPr/>
          </p:nvSpPr>
          <p:spPr bwMode="auto">
            <a:xfrm>
              <a:off x="1151" y="288"/>
              <a:ext cx="2833" cy="3456"/>
            </a:xfrm>
            <a:custGeom>
              <a:avLst/>
              <a:gdLst>
                <a:gd name="T0" fmla="*/ 865 w 2833"/>
                <a:gd name="T1" fmla="*/ 3456 h 3456"/>
                <a:gd name="T2" fmla="*/ 529 w 2833"/>
                <a:gd name="T3" fmla="*/ 3312 h 3456"/>
                <a:gd name="T4" fmla="*/ 452 w 2833"/>
                <a:gd name="T5" fmla="*/ 2646 h 3456"/>
                <a:gd name="T6" fmla="*/ 343 w 2833"/>
                <a:gd name="T7" fmla="*/ 2154 h 3456"/>
                <a:gd name="T8" fmla="*/ 180 w 2833"/>
                <a:gd name="T9" fmla="*/ 1717 h 3456"/>
                <a:gd name="T10" fmla="*/ 0 w 2833"/>
                <a:gd name="T11" fmla="*/ 1241 h 3456"/>
                <a:gd name="T12" fmla="*/ 567 w 2833"/>
                <a:gd name="T13" fmla="*/ 1035 h 3456"/>
                <a:gd name="T14" fmla="*/ 1027 w 2833"/>
                <a:gd name="T15" fmla="*/ 854 h 3456"/>
                <a:gd name="T16" fmla="*/ 1405 w 2833"/>
                <a:gd name="T17" fmla="*/ 657 h 3456"/>
                <a:gd name="T18" fmla="*/ 1717 w 2833"/>
                <a:gd name="T19" fmla="*/ 485 h 3456"/>
                <a:gd name="T20" fmla="*/ 1964 w 2833"/>
                <a:gd name="T21" fmla="*/ 312 h 3456"/>
                <a:gd name="T22" fmla="*/ 2161 w 2833"/>
                <a:gd name="T23" fmla="*/ 96 h 3456"/>
                <a:gd name="T24" fmla="*/ 2593 w 2833"/>
                <a:gd name="T25" fmla="*/ 0 h 3456"/>
                <a:gd name="T26" fmla="*/ 2833 w 2833"/>
                <a:gd name="T27" fmla="*/ 1920 h 3456"/>
                <a:gd name="T28" fmla="*/ 2178 w 2833"/>
                <a:gd name="T29" fmla="*/ 2531 h 3456"/>
                <a:gd name="T30" fmla="*/ 1726 w 2833"/>
                <a:gd name="T31" fmla="*/ 2892 h 3456"/>
                <a:gd name="T32" fmla="*/ 865 w 2833"/>
                <a:gd name="T33" fmla="*/ 3456 h 34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33"/>
                <a:gd name="T52" fmla="*/ 0 h 3456"/>
                <a:gd name="T53" fmla="*/ 2833 w 2833"/>
                <a:gd name="T54" fmla="*/ 3456 h 34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33" h="3456">
                  <a:moveTo>
                    <a:pt x="865" y="3456"/>
                  </a:moveTo>
                  <a:lnTo>
                    <a:pt x="529" y="3312"/>
                  </a:lnTo>
                  <a:lnTo>
                    <a:pt x="452" y="2646"/>
                  </a:lnTo>
                  <a:lnTo>
                    <a:pt x="343" y="2154"/>
                  </a:lnTo>
                  <a:lnTo>
                    <a:pt x="180" y="1717"/>
                  </a:lnTo>
                  <a:lnTo>
                    <a:pt x="0" y="1241"/>
                  </a:lnTo>
                  <a:lnTo>
                    <a:pt x="567" y="1035"/>
                  </a:lnTo>
                  <a:lnTo>
                    <a:pt x="1027" y="854"/>
                  </a:lnTo>
                  <a:lnTo>
                    <a:pt x="1405" y="657"/>
                  </a:lnTo>
                  <a:lnTo>
                    <a:pt x="1717" y="485"/>
                  </a:lnTo>
                  <a:lnTo>
                    <a:pt x="1964" y="312"/>
                  </a:lnTo>
                  <a:lnTo>
                    <a:pt x="2161" y="96"/>
                  </a:lnTo>
                  <a:lnTo>
                    <a:pt x="2593" y="0"/>
                  </a:lnTo>
                  <a:lnTo>
                    <a:pt x="2833" y="1920"/>
                  </a:lnTo>
                  <a:lnTo>
                    <a:pt x="2178" y="2531"/>
                  </a:lnTo>
                  <a:lnTo>
                    <a:pt x="1726" y="2892"/>
                  </a:lnTo>
                  <a:lnTo>
                    <a:pt x="865" y="3456"/>
                  </a:lnTo>
                  <a:close/>
                </a:path>
              </a:pathLst>
            </a:custGeom>
            <a:solidFill>
              <a:srgbClr val="4D4D4D"/>
            </a:solidFill>
            <a:ln w="12700" cap="flat" cmpd="sng">
              <a:noFill/>
              <a:prstDash val="solid"/>
              <a:round/>
              <a:headEnd type="none" w="sm" len="sm"/>
              <a:tailEnd type="none" w="sm" len="sm"/>
            </a:ln>
          </p:spPr>
          <p:txBody>
            <a:bodyPr wrap="none" anchor="ctr"/>
            <a:lstStyle/>
            <a:p>
              <a:endParaRPr lang="en-US"/>
            </a:p>
          </p:txBody>
        </p:sp>
        <p:sp>
          <p:nvSpPr>
            <p:cNvPr id="16405" name="Freeform 503"/>
            <p:cNvSpPr>
              <a:spLocks/>
            </p:cNvSpPr>
            <p:nvPr/>
          </p:nvSpPr>
          <p:spPr bwMode="auto">
            <a:xfrm>
              <a:off x="1125" y="1508"/>
              <a:ext cx="32" cy="43"/>
            </a:xfrm>
            <a:custGeom>
              <a:avLst/>
              <a:gdLst>
                <a:gd name="T0" fmla="*/ 1 w 63"/>
                <a:gd name="T1" fmla="*/ 0 h 43"/>
                <a:gd name="T2" fmla="*/ 1 w 63"/>
                <a:gd name="T3" fmla="*/ 0 h 43"/>
                <a:gd name="T4" fmla="*/ 0 w 63"/>
                <a:gd name="T5" fmla="*/ 20 h 43"/>
                <a:gd name="T6" fmla="*/ 1 w 63"/>
                <a:gd name="T7" fmla="*/ 43 h 43"/>
                <a:gd name="T8" fmla="*/ 1 w 63"/>
                <a:gd name="T9" fmla="*/ 37 h 43"/>
                <a:gd name="T10" fmla="*/ 1 w 63"/>
                <a:gd name="T11" fmla="*/ 30 h 43"/>
                <a:gd name="T12" fmla="*/ 1 w 63"/>
                <a:gd name="T13" fmla="*/ 7 h 43"/>
                <a:gd name="T14" fmla="*/ 1 w 63"/>
                <a:gd name="T15" fmla="*/ 14 h 43"/>
                <a:gd name="T16" fmla="*/ 1 w 63"/>
                <a:gd name="T17" fmla="*/ 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
                <a:gd name="T28" fmla="*/ 0 h 43"/>
                <a:gd name="T29" fmla="*/ 63 w 63"/>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 h="43">
                  <a:moveTo>
                    <a:pt x="23" y="0"/>
                  </a:moveTo>
                  <a:lnTo>
                    <a:pt x="23" y="0"/>
                  </a:lnTo>
                  <a:lnTo>
                    <a:pt x="0" y="20"/>
                  </a:lnTo>
                  <a:lnTo>
                    <a:pt x="21" y="43"/>
                  </a:lnTo>
                  <a:lnTo>
                    <a:pt x="42" y="37"/>
                  </a:lnTo>
                  <a:lnTo>
                    <a:pt x="63" y="30"/>
                  </a:lnTo>
                  <a:lnTo>
                    <a:pt x="42" y="7"/>
                  </a:lnTo>
                  <a:lnTo>
                    <a:pt x="21" y="14"/>
                  </a:lnTo>
                  <a:lnTo>
                    <a:pt x="23" y="0"/>
                  </a:lnTo>
                  <a:close/>
                </a:path>
              </a:pathLst>
            </a:custGeom>
            <a:solidFill>
              <a:srgbClr val="000000"/>
            </a:solidFill>
            <a:ln w="9525">
              <a:noFill/>
              <a:round/>
              <a:headEnd/>
              <a:tailEnd/>
            </a:ln>
          </p:spPr>
          <p:txBody>
            <a:bodyPr/>
            <a:lstStyle/>
            <a:p>
              <a:endParaRPr lang="en-US"/>
            </a:p>
          </p:txBody>
        </p:sp>
        <p:sp>
          <p:nvSpPr>
            <p:cNvPr id="16406" name="Freeform 504"/>
            <p:cNvSpPr>
              <a:spLocks/>
            </p:cNvSpPr>
            <p:nvPr/>
          </p:nvSpPr>
          <p:spPr bwMode="auto">
            <a:xfrm>
              <a:off x="1135" y="1538"/>
              <a:ext cx="897" cy="2248"/>
            </a:xfrm>
            <a:custGeom>
              <a:avLst/>
              <a:gdLst>
                <a:gd name="T0" fmla="*/ 0 w 1793"/>
                <a:gd name="T1" fmla="*/ 13 h 2248"/>
                <a:gd name="T2" fmla="*/ 3 w 1793"/>
                <a:gd name="T3" fmla="*/ 686 h 2248"/>
                <a:gd name="T4" fmla="*/ 1 w 1793"/>
                <a:gd name="T5" fmla="*/ 89 h 2248"/>
                <a:gd name="T6" fmla="*/ 1 w 1793"/>
                <a:gd name="T7" fmla="*/ 177 h 2248"/>
                <a:gd name="T8" fmla="*/ 1 w 1793"/>
                <a:gd name="T9" fmla="*/ 312 h 2248"/>
                <a:gd name="T10" fmla="*/ 2 w 1793"/>
                <a:gd name="T11" fmla="*/ 475 h 2248"/>
                <a:gd name="T12" fmla="*/ 3 w 1793"/>
                <a:gd name="T13" fmla="*/ 671 h 2248"/>
                <a:gd name="T14" fmla="*/ 3 w 1793"/>
                <a:gd name="T15" fmla="*/ 867 h 2248"/>
                <a:gd name="T16" fmla="*/ 3 w 1793"/>
                <a:gd name="T17" fmla="*/ 1075 h 2248"/>
                <a:gd name="T18" fmla="*/ 4 w 1793"/>
                <a:gd name="T19" fmla="*/ 1328 h 2248"/>
                <a:gd name="T20" fmla="*/ 4 w 1793"/>
                <a:gd name="T21" fmla="*/ 1566 h 2248"/>
                <a:gd name="T22" fmla="*/ 5 w 1793"/>
                <a:gd name="T23" fmla="*/ 1808 h 2248"/>
                <a:gd name="T24" fmla="*/ 5 w 1793"/>
                <a:gd name="T25" fmla="*/ 2059 h 2248"/>
                <a:gd name="T26" fmla="*/ 8 w 1793"/>
                <a:gd name="T27" fmla="*/ 2248 h 2248"/>
                <a:gd name="T28" fmla="*/ 7 w 1793"/>
                <a:gd name="T29" fmla="*/ 2211 h 2248"/>
                <a:gd name="T30" fmla="*/ 5 w 1793"/>
                <a:gd name="T31" fmla="*/ 2041 h 2248"/>
                <a:gd name="T32" fmla="*/ 5 w 1793"/>
                <a:gd name="T33" fmla="*/ 1806 h 2248"/>
                <a:gd name="T34" fmla="*/ 4 w 1793"/>
                <a:gd name="T35" fmla="*/ 1559 h 2248"/>
                <a:gd name="T36" fmla="*/ 4 w 1793"/>
                <a:gd name="T37" fmla="*/ 1315 h 2248"/>
                <a:gd name="T38" fmla="*/ 4 w 1793"/>
                <a:gd name="T39" fmla="*/ 1098 h 2248"/>
                <a:gd name="T40" fmla="*/ 3 w 1793"/>
                <a:gd name="T41" fmla="*/ 858 h 2248"/>
                <a:gd name="T42" fmla="*/ 3 w 1793"/>
                <a:gd name="T43" fmla="*/ 641 h 2248"/>
                <a:gd name="T44" fmla="*/ 2 w 1793"/>
                <a:gd name="T45" fmla="*/ 464 h 2248"/>
                <a:gd name="T46" fmla="*/ 2 w 1793"/>
                <a:gd name="T47" fmla="*/ 301 h 2248"/>
                <a:gd name="T48" fmla="*/ 1 w 1793"/>
                <a:gd name="T49" fmla="*/ 166 h 2248"/>
                <a:gd name="T50" fmla="*/ 1 w 1793"/>
                <a:gd name="T51" fmla="*/ 52 h 2248"/>
                <a:gd name="T52" fmla="*/ 1 w 1793"/>
                <a:gd name="T53" fmla="*/ 0 h 2248"/>
                <a:gd name="T54" fmla="*/ 1 w 1793"/>
                <a:gd name="T55" fmla="*/ 7 h 2248"/>
                <a:gd name="T56" fmla="*/ 0 w 1793"/>
                <a:gd name="T57" fmla="*/ 13 h 22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93"/>
                <a:gd name="T88" fmla="*/ 0 h 2248"/>
                <a:gd name="T89" fmla="*/ 1793 w 1793"/>
                <a:gd name="T90" fmla="*/ 2248 h 224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93" h="2248">
                  <a:moveTo>
                    <a:pt x="0" y="13"/>
                  </a:moveTo>
                  <a:lnTo>
                    <a:pt x="625" y="686"/>
                  </a:lnTo>
                  <a:lnTo>
                    <a:pt x="69" y="89"/>
                  </a:lnTo>
                  <a:lnTo>
                    <a:pt x="145" y="177"/>
                  </a:lnTo>
                  <a:lnTo>
                    <a:pt x="255" y="312"/>
                  </a:lnTo>
                  <a:lnTo>
                    <a:pt x="380" y="475"/>
                  </a:lnTo>
                  <a:lnTo>
                    <a:pt x="519" y="671"/>
                  </a:lnTo>
                  <a:lnTo>
                    <a:pt x="646" y="867"/>
                  </a:lnTo>
                  <a:lnTo>
                    <a:pt x="764" y="1075"/>
                  </a:lnTo>
                  <a:lnTo>
                    <a:pt x="882" y="1328"/>
                  </a:lnTo>
                  <a:lnTo>
                    <a:pt x="970" y="1566"/>
                  </a:lnTo>
                  <a:lnTo>
                    <a:pt x="1030" y="1808"/>
                  </a:lnTo>
                  <a:lnTo>
                    <a:pt x="1053" y="2059"/>
                  </a:lnTo>
                  <a:lnTo>
                    <a:pt x="1793" y="2248"/>
                  </a:lnTo>
                  <a:lnTo>
                    <a:pt x="1769" y="2211"/>
                  </a:lnTo>
                  <a:lnTo>
                    <a:pt x="1104" y="2041"/>
                  </a:lnTo>
                  <a:lnTo>
                    <a:pt x="1080" y="1806"/>
                  </a:lnTo>
                  <a:lnTo>
                    <a:pt x="1021" y="1559"/>
                  </a:lnTo>
                  <a:lnTo>
                    <a:pt x="932" y="1315"/>
                  </a:lnTo>
                  <a:lnTo>
                    <a:pt x="826" y="1098"/>
                  </a:lnTo>
                  <a:lnTo>
                    <a:pt x="693" y="858"/>
                  </a:lnTo>
                  <a:lnTo>
                    <a:pt x="554" y="641"/>
                  </a:lnTo>
                  <a:lnTo>
                    <a:pt x="426" y="464"/>
                  </a:lnTo>
                  <a:lnTo>
                    <a:pt x="301" y="301"/>
                  </a:lnTo>
                  <a:lnTo>
                    <a:pt x="191" y="166"/>
                  </a:lnTo>
                  <a:lnTo>
                    <a:pt x="92" y="52"/>
                  </a:lnTo>
                  <a:lnTo>
                    <a:pt x="44" y="0"/>
                  </a:lnTo>
                  <a:lnTo>
                    <a:pt x="21" y="7"/>
                  </a:lnTo>
                  <a:lnTo>
                    <a:pt x="0" y="13"/>
                  </a:lnTo>
                  <a:close/>
                </a:path>
              </a:pathLst>
            </a:custGeom>
            <a:solidFill>
              <a:srgbClr val="000000"/>
            </a:solidFill>
            <a:ln w="9525">
              <a:noFill/>
              <a:round/>
              <a:headEnd/>
              <a:tailEnd/>
            </a:ln>
          </p:spPr>
          <p:txBody>
            <a:bodyPr/>
            <a:lstStyle/>
            <a:p>
              <a:endParaRPr lang="en-US"/>
            </a:p>
          </p:txBody>
        </p:sp>
        <p:sp>
          <p:nvSpPr>
            <p:cNvPr id="16407" name="Freeform 505"/>
            <p:cNvSpPr>
              <a:spLocks/>
            </p:cNvSpPr>
            <p:nvPr/>
          </p:nvSpPr>
          <p:spPr bwMode="auto">
            <a:xfrm>
              <a:off x="1133" y="295"/>
              <a:ext cx="2604" cy="1241"/>
            </a:xfrm>
            <a:custGeom>
              <a:avLst/>
              <a:gdLst>
                <a:gd name="T0" fmla="*/ 21 w 5206"/>
                <a:gd name="T1" fmla="*/ 29 h 1241"/>
                <a:gd name="T2" fmla="*/ 21 w 5206"/>
                <a:gd name="T3" fmla="*/ 0 h 1241"/>
                <a:gd name="T4" fmla="*/ 18 w 5206"/>
                <a:gd name="T5" fmla="*/ 89 h 1241"/>
                <a:gd name="T6" fmla="*/ 16 w 5206"/>
                <a:gd name="T7" fmla="*/ 255 h 1241"/>
                <a:gd name="T8" fmla="*/ 15 w 5206"/>
                <a:gd name="T9" fmla="*/ 410 h 1241"/>
                <a:gd name="T10" fmla="*/ 13 w 5206"/>
                <a:gd name="T11" fmla="*/ 542 h 1241"/>
                <a:gd name="T12" fmla="*/ 11 w 5206"/>
                <a:gd name="T13" fmla="*/ 682 h 1241"/>
                <a:gd name="T14" fmla="*/ 9 w 5206"/>
                <a:gd name="T15" fmla="*/ 800 h 1241"/>
                <a:gd name="T16" fmla="*/ 7 w 5206"/>
                <a:gd name="T17" fmla="*/ 902 h 1241"/>
                <a:gd name="T18" fmla="*/ 6 w 5206"/>
                <a:gd name="T19" fmla="*/ 994 h 1241"/>
                <a:gd name="T20" fmla="*/ 4 w 5206"/>
                <a:gd name="T21" fmla="*/ 1076 h 1241"/>
                <a:gd name="T22" fmla="*/ 3 w 5206"/>
                <a:gd name="T23" fmla="*/ 1132 h 1241"/>
                <a:gd name="T24" fmla="*/ 1 w 5206"/>
                <a:gd name="T25" fmla="*/ 1177 h 1241"/>
                <a:gd name="T26" fmla="*/ 1 w 5206"/>
                <a:gd name="T27" fmla="*/ 1201 h 1241"/>
                <a:gd name="T28" fmla="*/ 0 w 5206"/>
                <a:gd name="T29" fmla="*/ 1213 h 1241"/>
                <a:gd name="T30" fmla="*/ 1 w 5206"/>
                <a:gd name="T31" fmla="*/ 1227 h 1241"/>
                <a:gd name="T32" fmla="*/ 1 w 5206"/>
                <a:gd name="T33" fmla="*/ 1241 h 1241"/>
                <a:gd name="T34" fmla="*/ 1 w 5206"/>
                <a:gd name="T35" fmla="*/ 1236 h 1241"/>
                <a:gd name="T36" fmla="*/ 1 w 5206"/>
                <a:gd name="T37" fmla="*/ 1203 h 1241"/>
                <a:gd name="T38" fmla="*/ 3 w 5206"/>
                <a:gd name="T39" fmla="*/ 1158 h 1241"/>
                <a:gd name="T40" fmla="*/ 4 w 5206"/>
                <a:gd name="T41" fmla="*/ 1093 h 1241"/>
                <a:gd name="T42" fmla="*/ 6 w 5206"/>
                <a:gd name="T43" fmla="*/ 1020 h 1241"/>
                <a:gd name="T44" fmla="*/ 7 w 5206"/>
                <a:gd name="T45" fmla="*/ 928 h 1241"/>
                <a:gd name="T46" fmla="*/ 9 w 5206"/>
                <a:gd name="T47" fmla="*/ 819 h 1241"/>
                <a:gd name="T48" fmla="*/ 11 w 5206"/>
                <a:gd name="T49" fmla="*/ 701 h 1241"/>
                <a:gd name="T50" fmla="*/ 13 w 5206"/>
                <a:gd name="T51" fmla="*/ 579 h 1241"/>
                <a:gd name="T52" fmla="*/ 15 w 5206"/>
                <a:gd name="T53" fmla="*/ 427 h 1241"/>
                <a:gd name="T54" fmla="*/ 16 w 5206"/>
                <a:gd name="T55" fmla="*/ 278 h 1241"/>
                <a:gd name="T56" fmla="*/ 18 w 5206"/>
                <a:gd name="T57" fmla="*/ 118 h 1241"/>
                <a:gd name="T58" fmla="*/ 21 w 5206"/>
                <a:gd name="T59" fmla="*/ 29 h 124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206"/>
                <a:gd name="T91" fmla="*/ 0 h 1241"/>
                <a:gd name="T92" fmla="*/ 5206 w 5206"/>
                <a:gd name="T93" fmla="*/ 1241 h 124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206" h="1241">
                  <a:moveTo>
                    <a:pt x="5206" y="29"/>
                  </a:moveTo>
                  <a:lnTo>
                    <a:pt x="5199" y="0"/>
                  </a:lnTo>
                  <a:lnTo>
                    <a:pt x="4369" y="89"/>
                  </a:lnTo>
                  <a:lnTo>
                    <a:pt x="4037" y="255"/>
                  </a:lnTo>
                  <a:lnTo>
                    <a:pt x="3632" y="410"/>
                  </a:lnTo>
                  <a:lnTo>
                    <a:pt x="3223" y="542"/>
                  </a:lnTo>
                  <a:lnTo>
                    <a:pt x="2711" y="682"/>
                  </a:lnTo>
                  <a:lnTo>
                    <a:pt x="2219" y="800"/>
                  </a:lnTo>
                  <a:lnTo>
                    <a:pt x="1754" y="902"/>
                  </a:lnTo>
                  <a:lnTo>
                    <a:pt x="1295" y="994"/>
                  </a:lnTo>
                  <a:lnTo>
                    <a:pt x="853" y="1076"/>
                  </a:lnTo>
                  <a:lnTo>
                    <a:pt x="521" y="1132"/>
                  </a:lnTo>
                  <a:lnTo>
                    <a:pt x="243" y="1177"/>
                  </a:lnTo>
                  <a:lnTo>
                    <a:pt x="96" y="1201"/>
                  </a:lnTo>
                  <a:lnTo>
                    <a:pt x="0" y="1213"/>
                  </a:lnTo>
                  <a:lnTo>
                    <a:pt x="4" y="1227"/>
                  </a:lnTo>
                  <a:lnTo>
                    <a:pt x="8" y="1241"/>
                  </a:lnTo>
                  <a:lnTo>
                    <a:pt x="42" y="1236"/>
                  </a:lnTo>
                  <a:lnTo>
                    <a:pt x="255" y="1203"/>
                  </a:lnTo>
                  <a:lnTo>
                    <a:pt x="533" y="1158"/>
                  </a:lnTo>
                  <a:lnTo>
                    <a:pt x="915" y="1093"/>
                  </a:lnTo>
                  <a:lnTo>
                    <a:pt x="1310" y="1020"/>
                  </a:lnTo>
                  <a:lnTo>
                    <a:pt x="1769" y="928"/>
                  </a:lnTo>
                  <a:lnTo>
                    <a:pt x="2273" y="819"/>
                  </a:lnTo>
                  <a:lnTo>
                    <a:pt x="2761" y="701"/>
                  </a:lnTo>
                  <a:lnTo>
                    <a:pt x="3199" y="579"/>
                  </a:lnTo>
                  <a:lnTo>
                    <a:pt x="3678" y="427"/>
                  </a:lnTo>
                  <a:lnTo>
                    <a:pt x="4064" y="278"/>
                  </a:lnTo>
                  <a:lnTo>
                    <a:pt x="4388" y="118"/>
                  </a:lnTo>
                  <a:lnTo>
                    <a:pt x="5206" y="29"/>
                  </a:lnTo>
                  <a:close/>
                </a:path>
              </a:pathLst>
            </a:custGeom>
            <a:solidFill>
              <a:srgbClr val="000000"/>
            </a:solidFill>
            <a:ln w="9525">
              <a:noFill/>
              <a:round/>
              <a:headEnd/>
              <a:tailEnd/>
            </a:ln>
          </p:spPr>
          <p:txBody>
            <a:bodyPr/>
            <a:lstStyle/>
            <a:p>
              <a:endParaRPr lang="en-US"/>
            </a:p>
          </p:txBody>
        </p:sp>
        <p:sp>
          <p:nvSpPr>
            <p:cNvPr id="16408" name="Freeform 506"/>
            <p:cNvSpPr>
              <a:spLocks/>
            </p:cNvSpPr>
            <p:nvPr/>
          </p:nvSpPr>
          <p:spPr bwMode="auto">
            <a:xfrm>
              <a:off x="1133" y="1508"/>
              <a:ext cx="365" cy="88"/>
            </a:xfrm>
            <a:custGeom>
              <a:avLst/>
              <a:gdLst>
                <a:gd name="T0" fmla="*/ 0 w 1177"/>
                <a:gd name="T1" fmla="*/ 0 h 150"/>
                <a:gd name="T2" fmla="*/ 0 w 1177"/>
                <a:gd name="T3" fmla="*/ 0 h 150"/>
                <a:gd name="T4" fmla="*/ 0 w 1177"/>
                <a:gd name="T5" fmla="*/ 1 h 150"/>
                <a:gd name="T6" fmla="*/ 0 w 1177"/>
                <a:gd name="T7" fmla="*/ 1 h 150"/>
                <a:gd name="T8" fmla="*/ 0 w 1177"/>
                <a:gd name="T9" fmla="*/ 2 h 150"/>
                <a:gd name="T10" fmla="*/ 0 w 1177"/>
                <a:gd name="T11" fmla="*/ 2 h 150"/>
                <a:gd name="T12" fmla="*/ 0 w 1177"/>
                <a:gd name="T13" fmla="*/ 1 h 150"/>
                <a:gd name="T14" fmla="*/ 0 w 1177"/>
                <a:gd name="T15" fmla="*/ 0 h 150"/>
                <a:gd name="T16" fmla="*/ 0 w 1177"/>
                <a:gd name="T17" fmla="*/ 1 h 150"/>
                <a:gd name="T18" fmla="*/ 0 w 1177"/>
                <a:gd name="T19" fmla="*/ 0 h 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77"/>
                <a:gd name="T31" fmla="*/ 0 h 150"/>
                <a:gd name="T32" fmla="*/ 1177 w 1177"/>
                <a:gd name="T33" fmla="*/ 150 h 1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77" h="150">
                  <a:moveTo>
                    <a:pt x="0" y="0"/>
                  </a:moveTo>
                  <a:lnTo>
                    <a:pt x="0" y="0"/>
                  </a:lnTo>
                  <a:lnTo>
                    <a:pt x="2" y="28"/>
                  </a:lnTo>
                  <a:lnTo>
                    <a:pt x="681" y="79"/>
                  </a:lnTo>
                  <a:lnTo>
                    <a:pt x="1177" y="150"/>
                  </a:lnTo>
                  <a:lnTo>
                    <a:pt x="1177" y="121"/>
                  </a:lnTo>
                  <a:lnTo>
                    <a:pt x="700" y="51"/>
                  </a:lnTo>
                  <a:lnTo>
                    <a:pt x="6" y="0"/>
                  </a:lnTo>
                  <a:lnTo>
                    <a:pt x="4" y="14"/>
                  </a:lnTo>
                  <a:lnTo>
                    <a:pt x="0" y="0"/>
                  </a:lnTo>
                  <a:close/>
                </a:path>
              </a:pathLst>
            </a:custGeom>
            <a:solidFill>
              <a:srgbClr val="000000"/>
            </a:solidFill>
            <a:ln w="9525">
              <a:noFill/>
              <a:round/>
              <a:headEnd/>
              <a:tailEnd/>
            </a:ln>
          </p:spPr>
          <p:txBody>
            <a:bodyPr/>
            <a:lstStyle/>
            <a:p>
              <a:endParaRPr lang="en-US"/>
            </a:p>
          </p:txBody>
        </p:sp>
        <p:sp>
          <p:nvSpPr>
            <p:cNvPr id="16409" name="Freeform 507"/>
            <p:cNvSpPr>
              <a:spLocks/>
            </p:cNvSpPr>
            <p:nvPr/>
          </p:nvSpPr>
          <p:spPr bwMode="auto">
            <a:xfrm>
              <a:off x="3722" y="308"/>
              <a:ext cx="259" cy="1907"/>
            </a:xfrm>
            <a:custGeom>
              <a:avLst/>
              <a:gdLst>
                <a:gd name="T0" fmla="*/ 2 w 518"/>
                <a:gd name="T1" fmla="*/ 1907 h 1907"/>
                <a:gd name="T2" fmla="*/ 2 w 518"/>
                <a:gd name="T3" fmla="*/ 1907 h 1907"/>
                <a:gd name="T4" fmla="*/ 2 w 518"/>
                <a:gd name="T5" fmla="*/ 1862 h 1907"/>
                <a:gd name="T6" fmla="*/ 2 w 518"/>
                <a:gd name="T7" fmla="*/ 1750 h 1907"/>
                <a:gd name="T8" fmla="*/ 2 w 518"/>
                <a:gd name="T9" fmla="*/ 1594 h 1907"/>
                <a:gd name="T10" fmla="*/ 2 w 518"/>
                <a:gd name="T11" fmla="*/ 1396 h 1907"/>
                <a:gd name="T12" fmla="*/ 1 w 518"/>
                <a:gd name="T13" fmla="*/ 1175 h 1907"/>
                <a:gd name="T14" fmla="*/ 1 w 518"/>
                <a:gd name="T15" fmla="*/ 940 h 1907"/>
                <a:gd name="T16" fmla="*/ 1 w 518"/>
                <a:gd name="T17" fmla="*/ 707 h 1907"/>
                <a:gd name="T18" fmla="*/ 1 w 518"/>
                <a:gd name="T19" fmla="*/ 487 h 1907"/>
                <a:gd name="T20" fmla="*/ 1 w 518"/>
                <a:gd name="T21" fmla="*/ 294 h 1907"/>
                <a:gd name="T22" fmla="*/ 1 w 518"/>
                <a:gd name="T23" fmla="*/ 139 h 1907"/>
                <a:gd name="T24" fmla="*/ 1 w 518"/>
                <a:gd name="T25" fmla="*/ 37 h 1907"/>
                <a:gd name="T26" fmla="*/ 1 w 518"/>
                <a:gd name="T27" fmla="*/ 0 h 1907"/>
                <a:gd name="T28" fmla="*/ 1 w 518"/>
                <a:gd name="T29" fmla="*/ 2 h 1907"/>
                <a:gd name="T30" fmla="*/ 0 w 518"/>
                <a:gd name="T31" fmla="*/ 3 h 1907"/>
                <a:gd name="T32" fmla="*/ 1 w 518"/>
                <a:gd name="T33" fmla="*/ 40 h 1907"/>
                <a:gd name="T34" fmla="*/ 1 w 518"/>
                <a:gd name="T35" fmla="*/ 142 h 1907"/>
                <a:gd name="T36" fmla="*/ 1 w 518"/>
                <a:gd name="T37" fmla="*/ 296 h 1907"/>
                <a:gd name="T38" fmla="*/ 1 w 518"/>
                <a:gd name="T39" fmla="*/ 489 h 1907"/>
                <a:gd name="T40" fmla="*/ 1 w 518"/>
                <a:gd name="T41" fmla="*/ 709 h 1907"/>
                <a:gd name="T42" fmla="*/ 1 w 518"/>
                <a:gd name="T43" fmla="*/ 942 h 1907"/>
                <a:gd name="T44" fmla="*/ 1 w 518"/>
                <a:gd name="T45" fmla="*/ 1177 h 1907"/>
                <a:gd name="T46" fmla="*/ 1 w 518"/>
                <a:gd name="T47" fmla="*/ 1399 h 1907"/>
                <a:gd name="T48" fmla="*/ 2 w 518"/>
                <a:gd name="T49" fmla="*/ 1596 h 1907"/>
                <a:gd name="T50" fmla="*/ 2 w 518"/>
                <a:gd name="T51" fmla="*/ 1757 h 1907"/>
                <a:gd name="T52" fmla="*/ 2 w 518"/>
                <a:gd name="T53" fmla="*/ 1862 h 1907"/>
                <a:gd name="T54" fmla="*/ 2 w 518"/>
                <a:gd name="T55" fmla="*/ 1907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18"/>
                <a:gd name="T85" fmla="*/ 0 h 1907"/>
                <a:gd name="T86" fmla="*/ 518 w 518"/>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18" h="1907">
                  <a:moveTo>
                    <a:pt x="464" y="1907"/>
                  </a:moveTo>
                  <a:lnTo>
                    <a:pt x="514" y="1907"/>
                  </a:lnTo>
                  <a:lnTo>
                    <a:pt x="518" y="1862"/>
                  </a:lnTo>
                  <a:lnTo>
                    <a:pt x="502" y="1750"/>
                  </a:lnTo>
                  <a:lnTo>
                    <a:pt x="469" y="1594"/>
                  </a:lnTo>
                  <a:lnTo>
                    <a:pt x="423" y="1396"/>
                  </a:lnTo>
                  <a:lnTo>
                    <a:pt x="369" y="1175"/>
                  </a:lnTo>
                  <a:lnTo>
                    <a:pt x="307" y="940"/>
                  </a:lnTo>
                  <a:lnTo>
                    <a:pt x="245" y="707"/>
                  </a:lnTo>
                  <a:lnTo>
                    <a:pt x="186" y="487"/>
                  </a:lnTo>
                  <a:lnTo>
                    <a:pt x="132" y="294"/>
                  </a:lnTo>
                  <a:lnTo>
                    <a:pt x="89" y="139"/>
                  </a:lnTo>
                  <a:lnTo>
                    <a:pt x="60" y="37"/>
                  </a:lnTo>
                  <a:lnTo>
                    <a:pt x="51" y="0"/>
                  </a:lnTo>
                  <a:lnTo>
                    <a:pt x="25" y="2"/>
                  </a:lnTo>
                  <a:lnTo>
                    <a:pt x="0" y="3"/>
                  </a:lnTo>
                  <a:lnTo>
                    <a:pt x="10" y="40"/>
                  </a:lnTo>
                  <a:lnTo>
                    <a:pt x="39" y="142"/>
                  </a:lnTo>
                  <a:lnTo>
                    <a:pt x="81" y="296"/>
                  </a:lnTo>
                  <a:lnTo>
                    <a:pt x="135" y="489"/>
                  </a:lnTo>
                  <a:lnTo>
                    <a:pt x="195" y="709"/>
                  </a:lnTo>
                  <a:lnTo>
                    <a:pt x="257" y="942"/>
                  </a:lnTo>
                  <a:lnTo>
                    <a:pt x="319" y="1177"/>
                  </a:lnTo>
                  <a:lnTo>
                    <a:pt x="373" y="1399"/>
                  </a:lnTo>
                  <a:lnTo>
                    <a:pt x="419" y="1596"/>
                  </a:lnTo>
                  <a:lnTo>
                    <a:pt x="452" y="1757"/>
                  </a:lnTo>
                  <a:lnTo>
                    <a:pt x="467" y="1862"/>
                  </a:lnTo>
                  <a:lnTo>
                    <a:pt x="464" y="1907"/>
                  </a:lnTo>
                  <a:close/>
                </a:path>
              </a:pathLst>
            </a:custGeom>
            <a:solidFill>
              <a:srgbClr val="000000"/>
            </a:solidFill>
            <a:ln w="9525">
              <a:noFill/>
              <a:round/>
              <a:headEnd/>
              <a:tailEnd/>
            </a:ln>
          </p:spPr>
          <p:txBody>
            <a:bodyPr/>
            <a:lstStyle/>
            <a:p>
              <a:endParaRPr lang="en-US"/>
            </a:p>
          </p:txBody>
        </p:sp>
        <p:sp>
          <p:nvSpPr>
            <p:cNvPr id="16410" name="Freeform 508"/>
            <p:cNvSpPr>
              <a:spLocks/>
            </p:cNvSpPr>
            <p:nvPr/>
          </p:nvSpPr>
          <p:spPr bwMode="auto">
            <a:xfrm>
              <a:off x="3722" y="299"/>
              <a:ext cx="25" cy="26"/>
            </a:xfrm>
            <a:custGeom>
              <a:avLst/>
              <a:gdLst>
                <a:gd name="T0" fmla="*/ 0 w 51"/>
                <a:gd name="T1" fmla="*/ 11 h 26"/>
                <a:gd name="T2" fmla="*/ 0 w 51"/>
                <a:gd name="T3" fmla="*/ 21 h 26"/>
                <a:gd name="T4" fmla="*/ 0 w 51"/>
                <a:gd name="T5" fmla="*/ 26 h 26"/>
                <a:gd name="T6" fmla="*/ 0 w 51"/>
                <a:gd name="T7" fmla="*/ 15 h 26"/>
                <a:gd name="T8" fmla="*/ 0 w 51"/>
                <a:gd name="T9" fmla="*/ 4 h 26"/>
                <a:gd name="T10" fmla="*/ 0 w 51"/>
                <a:gd name="T11" fmla="*/ 0 h 26"/>
                <a:gd name="T12" fmla="*/ 0 w 51"/>
                <a:gd name="T13" fmla="*/ 12 h 26"/>
                <a:gd name="T14" fmla="*/ 0 w 51"/>
                <a:gd name="T15" fmla="*/ 12 h 26"/>
                <a:gd name="T16" fmla="*/ 0 w 51"/>
                <a:gd name="T17" fmla="*/ 11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26"/>
                <a:gd name="T29" fmla="*/ 51 w 51"/>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26">
                  <a:moveTo>
                    <a:pt x="25" y="11"/>
                  </a:moveTo>
                  <a:lnTo>
                    <a:pt x="10" y="21"/>
                  </a:lnTo>
                  <a:lnTo>
                    <a:pt x="20" y="26"/>
                  </a:lnTo>
                  <a:lnTo>
                    <a:pt x="35" y="15"/>
                  </a:lnTo>
                  <a:lnTo>
                    <a:pt x="51" y="4"/>
                  </a:lnTo>
                  <a:lnTo>
                    <a:pt x="41" y="0"/>
                  </a:lnTo>
                  <a:lnTo>
                    <a:pt x="0" y="12"/>
                  </a:lnTo>
                  <a:lnTo>
                    <a:pt x="25" y="11"/>
                  </a:lnTo>
                  <a:close/>
                </a:path>
              </a:pathLst>
            </a:custGeom>
            <a:solidFill>
              <a:srgbClr val="000000"/>
            </a:solidFill>
            <a:ln w="9525">
              <a:noFill/>
              <a:round/>
              <a:headEnd/>
              <a:tailEnd/>
            </a:ln>
          </p:spPr>
          <p:txBody>
            <a:bodyPr/>
            <a:lstStyle/>
            <a:p>
              <a:endParaRPr lang="en-US"/>
            </a:p>
          </p:txBody>
        </p:sp>
        <p:sp>
          <p:nvSpPr>
            <p:cNvPr id="16411" name="Freeform 509"/>
            <p:cNvSpPr>
              <a:spLocks/>
            </p:cNvSpPr>
            <p:nvPr/>
          </p:nvSpPr>
          <p:spPr bwMode="auto">
            <a:xfrm>
              <a:off x="3727" y="303"/>
              <a:ext cx="25" cy="11"/>
            </a:xfrm>
            <a:custGeom>
              <a:avLst/>
              <a:gdLst>
                <a:gd name="T0" fmla="*/ 1 w 50"/>
                <a:gd name="T1" fmla="*/ 11 h 11"/>
                <a:gd name="T2" fmla="*/ 0 w 50"/>
                <a:gd name="T3" fmla="*/ 10 h 11"/>
                <a:gd name="T4" fmla="*/ 1 w 50"/>
                <a:gd name="T5" fmla="*/ 4 h 11"/>
                <a:gd name="T6" fmla="*/ 1 w 50"/>
                <a:gd name="T7" fmla="*/ 0 h 11"/>
                <a:gd name="T8" fmla="*/ 1 w 50"/>
                <a:gd name="T9" fmla="*/ 11 h 11"/>
                <a:gd name="T10" fmla="*/ 0 60000 65536"/>
                <a:gd name="T11" fmla="*/ 0 60000 65536"/>
                <a:gd name="T12" fmla="*/ 0 60000 65536"/>
                <a:gd name="T13" fmla="*/ 0 60000 65536"/>
                <a:gd name="T14" fmla="*/ 0 60000 65536"/>
                <a:gd name="T15" fmla="*/ 0 w 50"/>
                <a:gd name="T16" fmla="*/ 0 h 11"/>
                <a:gd name="T17" fmla="*/ 50 w 50"/>
                <a:gd name="T18" fmla="*/ 11 h 11"/>
              </a:gdLst>
              <a:ahLst/>
              <a:cxnLst>
                <a:cxn ang="T10">
                  <a:pos x="T0" y="T1"/>
                </a:cxn>
                <a:cxn ang="T11">
                  <a:pos x="T2" y="T3"/>
                </a:cxn>
                <a:cxn ang="T12">
                  <a:pos x="T4" y="T5"/>
                </a:cxn>
                <a:cxn ang="T13">
                  <a:pos x="T6" y="T7"/>
                </a:cxn>
                <a:cxn ang="T14">
                  <a:pos x="T8" y="T9"/>
                </a:cxn>
              </a:cxnLst>
              <a:rect l="T15" t="T16" r="T17" b="T18"/>
              <a:pathLst>
                <a:path w="50" h="11">
                  <a:moveTo>
                    <a:pt x="25" y="11"/>
                  </a:moveTo>
                  <a:lnTo>
                    <a:pt x="0" y="10"/>
                  </a:lnTo>
                  <a:lnTo>
                    <a:pt x="50" y="4"/>
                  </a:lnTo>
                  <a:lnTo>
                    <a:pt x="41" y="0"/>
                  </a:lnTo>
                  <a:lnTo>
                    <a:pt x="25" y="11"/>
                  </a:lnTo>
                  <a:close/>
                </a:path>
              </a:pathLst>
            </a:custGeom>
            <a:solidFill>
              <a:srgbClr val="000000"/>
            </a:solidFill>
            <a:ln w="9525">
              <a:noFill/>
              <a:round/>
              <a:headEnd/>
              <a:tailEnd/>
            </a:ln>
          </p:spPr>
          <p:txBody>
            <a:bodyPr/>
            <a:lstStyle/>
            <a:p>
              <a:endParaRPr lang="en-US"/>
            </a:p>
          </p:txBody>
        </p:sp>
        <p:sp>
          <p:nvSpPr>
            <p:cNvPr id="16412" name="Freeform 510"/>
            <p:cNvSpPr>
              <a:spLocks/>
            </p:cNvSpPr>
            <p:nvPr/>
          </p:nvSpPr>
          <p:spPr bwMode="auto">
            <a:xfrm>
              <a:off x="1478" y="307"/>
              <a:ext cx="2274" cy="1281"/>
            </a:xfrm>
            <a:custGeom>
              <a:avLst/>
              <a:gdLst>
                <a:gd name="T0" fmla="*/ 18 w 4548"/>
                <a:gd name="T1" fmla="*/ 6 h 1281"/>
                <a:gd name="T2" fmla="*/ 18 w 4548"/>
                <a:gd name="T3" fmla="*/ 17 h 1281"/>
                <a:gd name="T4" fmla="*/ 18 w 4548"/>
                <a:gd name="T5" fmla="*/ 38 h 1281"/>
                <a:gd name="T6" fmla="*/ 18 w 4548"/>
                <a:gd name="T7" fmla="*/ 68 h 1281"/>
                <a:gd name="T8" fmla="*/ 18 w 4548"/>
                <a:gd name="T9" fmla="*/ 112 h 1281"/>
                <a:gd name="T10" fmla="*/ 17 w 4548"/>
                <a:gd name="T11" fmla="*/ 164 h 1281"/>
                <a:gd name="T12" fmla="*/ 17 w 4548"/>
                <a:gd name="T13" fmla="*/ 231 h 1281"/>
                <a:gd name="T14" fmla="*/ 15 w 4548"/>
                <a:gd name="T15" fmla="*/ 306 h 1281"/>
                <a:gd name="T16" fmla="*/ 15 w 4548"/>
                <a:gd name="T17" fmla="*/ 398 h 1281"/>
                <a:gd name="T18" fmla="*/ 14 w 4548"/>
                <a:gd name="T19" fmla="*/ 501 h 1281"/>
                <a:gd name="T20" fmla="*/ 12 w 4548"/>
                <a:gd name="T21" fmla="*/ 632 h 1281"/>
                <a:gd name="T22" fmla="*/ 11 w 4548"/>
                <a:gd name="T23" fmla="*/ 746 h 1281"/>
                <a:gd name="T24" fmla="*/ 9 w 4548"/>
                <a:gd name="T25" fmla="*/ 862 h 1281"/>
                <a:gd name="T26" fmla="*/ 8 w 4548"/>
                <a:gd name="T27" fmla="*/ 975 h 1281"/>
                <a:gd name="T28" fmla="*/ 6 w 4548"/>
                <a:gd name="T29" fmla="*/ 1056 h 1281"/>
                <a:gd name="T30" fmla="*/ 5 w 4548"/>
                <a:gd name="T31" fmla="*/ 1120 h 1281"/>
                <a:gd name="T32" fmla="*/ 5 w 4548"/>
                <a:gd name="T33" fmla="*/ 1165 h 1281"/>
                <a:gd name="T34" fmla="*/ 3 w 4548"/>
                <a:gd name="T35" fmla="*/ 1202 h 1281"/>
                <a:gd name="T36" fmla="*/ 2 w 4548"/>
                <a:gd name="T37" fmla="*/ 1227 h 1281"/>
                <a:gd name="T38" fmla="*/ 1 w 4548"/>
                <a:gd name="T39" fmla="*/ 1242 h 1281"/>
                <a:gd name="T40" fmla="*/ 1 w 4548"/>
                <a:gd name="T41" fmla="*/ 1250 h 1281"/>
                <a:gd name="T42" fmla="*/ 1 w 4548"/>
                <a:gd name="T43" fmla="*/ 1253 h 1281"/>
                <a:gd name="T44" fmla="*/ 1 w 4548"/>
                <a:gd name="T45" fmla="*/ 1253 h 1281"/>
                <a:gd name="T46" fmla="*/ 1 w 4548"/>
                <a:gd name="T47" fmla="*/ 1252 h 1281"/>
                <a:gd name="T48" fmla="*/ 1 w 4548"/>
                <a:gd name="T49" fmla="*/ 1266 h 1281"/>
                <a:gd name="T50" fmla="*/ 0 w 4548"/>
                <a:gd name="T51" fmla="*/ 1280 h 1281"/>
                <a:gd name="T52" fmla="*/ 1 w 4548"/>
                <a:gd name="T53" fmla="*/ 1281 h 1281"/>
                <a:gd name="T54" fmla="*/ 1 w 4548"/>
                <a:gd name="T55" fmla="*/ 1281 h 1281"/>
                <a:gd name="T56" fmla="*/ 1 w 4548"/>
                <a:gd name="T57" fmla="*/ 1278 h 1281"/>
                <a:gd name="T58" fmla="*/ 1 w 4548"/>
                <a:gd name="T59" fmla="*/ 1270 h 1281"/>
                <a:gd name="T60" fmla="*/ 2 w 4548"/>
                <a:gd name="T61" fmla="*/ 1255 h 1281"/>
                <a:gd name="T62" fmla="*/ 3 w 4548"/>
                <a:gd name="T63" fmla="*/ 1230 h 1281"/>
                <a:gd name="T64" fmla="*/ 4 w 4548"/>
                <a:gd name="T65" fmla="*/ 1197 h 1281"/>
                <a:gd name="T66" fmla="*/ 5 w 4548"/>
                <a:gd name="T67" fmla="*/ 1144 h 1281"/>
                <a:gd name="T68" fmla="*/ 7 w 4548"/>
                <a:gd name="T69" fmla="*/ 1078 h 1281"/>
                <a:gd name="T70" fmla="*/ 8 w 4548"/>
                <a:gd name="T71" fmla="*/ 994 h 1281"/>
                <a:gd name="T72" fmla="*/ 9 w 4548"/>
                <a:gd name="T73" fmla="*/ 903 h 1281"/>
                <a:gd name="T74" fmla="*/ 11 w 4548"/>
                <a:gd name="T75" fmla="*/ 769 h 1281"/>
                <a:gd name="T76" fmla="*/ 13 w 4548"/>
                <a:gd name="T77" fmla="*/ 625 h 1281"/>
                <a:gd name="T78" fmla="*/ 14 w 4548"/>
                <a:gd name="T79" fmla="*/ 525 h 1281"/>
                <a:gd name="T80" fmla="*/ 15 w 4548"/>
                <a:gd name="T81" fmla="*/ 422 h 1281"/>
                <a:gd name="T82" fmla="*/ 16 w 4548"/>
                <a:gd name="T83" fmla="*/ 334 h 1281"/>
                <a:gd name="T84" fmla="*/ 17 w 4548"/>
                <a:gd name="T85" fmla="*/ 252 h 1281"/>
                <a:gd name="T86" fmla="*/ 17 w 4548"/>
                <a:gd name="T87" fmla="*/ 186 h 1281"/>
                <a:gd name="T88" fmla="*/ 18 w 4548"/>
                <a:gd name="T89" fmla="*/ 130 h 1281"/>
                <a:gd name="T90" fmla="*/ 18 w 4548"/>
                <a:gd name="T91" fmla="*/ 85 h 1281"/>
                <a:gd name="T92" fmla="*/ 18 w 4548"/>
                <a:gd name="T93" fmla="*/ 49 h 1281"/>
                <a:gd name="T94" fmla="*/ 18 w 4548"/>
                <a:gd name="T95" fmla="*/ 23 h 1281"/>
                <a:gd name="T96" fmla="*/ 18 w 4548"/>
                <a:gd name="T97" fmla="*/ 0 h 1281"/>
                <a:gd name="T98" fmla="*/ 18 w 4548"/>
                <a:gd name="T99" fmla="*/ 6 h 12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548"/>
                <a:gd name="T151" fmla="*/ 0 h 1281"/>
                <a:gd name="T152" fmla="*/ 4548 w 4548"/>
                <a:gd name="T153" fmla="*/ 1281 h 12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548" h="1281">
                  <a:moveTo>
                    <a:pt x="4498" y="6"/>
                  </a:moveTo>
                  <a:lnTo>
                    <a:pt x="4496" y="17"/>
                  </a:lnTo>
                  <a:lnTo>
                    <a:pt x="4479" y="38"/>
                  </a:lnTo>
                  <a:lnTo>
                    <a:pt x="4438" y="68"/>
                  </a:lnTo>
                  <a:lnTo>
                    <a:pt x="4369" y="112"/>
                  </a:lnTo>
                  <a:lnTo>
                    <a:pt x="4270" y="164"/>
                  </a:lnTo>
                  <a:lnTo>
                    <a:pt x="4133" y="231"/>
                  </a:lnTo>
                  <a:lnTo>
                    <a:pt x="3964" y="306"/>
                  </a:lnTo>
                  <a:lnTo>
                    <a:pt x="3736" y="398"/>
                  </a:lnTo>
                  <a:lnTo>
                    <a:pt x="3466" y="501"/>
                  </a:lnTo>
                  <a:lnTo>
                    <a:pt x="3099" y="632"/>
                  </a:lnTo>
                  <a:lnTo>
                    <a:pt x="2763" y="746"/>
                  </a:lnTo>
                  <a:lnTo>
                    <a:pt x="2389" y="862"/>
                  </a:lnTo>
                  <a:lnTo>
                    <a:pt x="1976" y="975"/>
                  </a:lnTo>
                  <a:lnTo>
                    <a:pt x="1627" y="1056"/>
                  </a:lnTo>
                  <a:lnTo>
                    <a:pt x="1310" y="1120"/>
                  </a:lnTo>
                  <a:lnTo>
                    <a:pt x="1050" y="1165"/>
                  </a:lnTo>
                  <a:lnTo>
                    <a:pt x="768" y="1202"/>
                  </a:lnTo>
                  <a:lnTo>
                    <a:pt x="538" y="1227"/>
                  </a:lnTo>
                  <a:lnTo>
                    <a:pt x="353" y="1242"/>
                  </a:lnTo>
                  <a:lnTo>
                    <a:pt x="204" y="1250"/>
                  </a:lnTo>
                  <a:lnTo>
                    <a:pt x="94" y="1253"/>
                  </a:lnTo>
                  <a:lnTo>
                    <a:pt x="27" y="1253"/>
                  </a:lnTo>
                  <a:lnTo>
                    <a:pt x="4" y="1252"/>
                  </a:lnTo>
                  <a:lnTo>
                    <a:pt x="2" y="1266"/>
                  </a:lnTo>
                  <a:lnTo>
                    <a:pt x="0" y="1280"/>
                  </a:lnTo>
                  <a:lnTo>
                    <a:pt x="25" y="1281"/>
                  </a:lnTo>
                  <a:lnTo>
                    <a:pt x="94" y="1281"/>
                  </a:lnTo>
                  <a:lnTo>
                    <a:pt x="204" y="1278"/>
                  </a:lnTo>
                  <a:lnTo>
                    <a:pt x="361" y="1270"/>
                  </a:lnTo>
                  <a:lnTo>
                    <a:pt x="554" y="1255"/>
                  </a:lnTo>
                  <a:lnTo>
                    <a:pt x="776" y="1230"/>
                  </a:lnTo>
                  <a:lnTo>
                    <a:pt x="1015" y="1197"/>
                  </a:lnTo>
                  <a:lnTo>
                    <a:pt x="1341" y="1144"/>
                  </a:lnTo>
                  <a:lnTo>
                    <a:pt x="1669" y="1078"/>
                  </a:lnTo>
                  <a:lnTo>
                    <a:pt x="2022" y="994"/>
                  </a:lnTo>
                  <a:lnTo>
                    <a:pt x="2358" y="903"/>
                  </a:lnTo>
                  <a:lnTo>
                    <a:pt x="2786" y="769"/>
                  </a:lnTo>
                  <a:lnTo>
                    <a:pt x="3211" y="625"/>
                  </a:lnTo>
                  <a:lnTo>
                    <a:pt x="3493" y="525"/>
                  </a:lnTo>
                  <a:lnTo>
                    <a:pt x="3763" y="422"/>
                  </a:lnTo>
                  <a:lnTo>
                    <a:pt x="3979" y="334"/>
                  </a:lnTo>
                  <a:lnTo>
                    <a:pt x="4164" y="252"/>
                  </a:lnTo>
                  <a:lnTo>
                    <a:pt x="4301" y="186"/>
                  </a:lnTo>
                  <a:lnTo>
                    <a:pt x="4407" y="130"/>
                  </a:lnTo>
                  <a:lnTo>
                    <a:pt x="4477" y="85"/>
                  </a:lnTo>
                  <a:lnTo>
                    <a:pt x="4525" y="49"/>
                  </a:lnTo>
                  <a:lnTo>
                    <a:pt x="4546" y="23"/>
                  </a:lnTo>
                  <a:lnTo>
                    <a:pt x="4548" y="0"/>
                  </a:lnTo>
                  <a:lnTo>
                    <a:pt x="4498" y="6"/>
                  </a:lnTo>
                  <a:close/>
                </a:path>
              </a:pathLst>
            </a:custGeom>
            <a:solidFill>
              <a:srgbClr val="000000"/>
            </a:solidFill>
            <a:ln w="9525">
              <a:noFill/>
              <a:round/>
              <a:headEnd/>
              <a:tailEnd/>
            </a:ln>
          </p:spPr>
          <p:txBody>
            <a:bodyPr/>
            <a:lstStyle/>
            <a:p>
              <a:endParaRPr lang="en-US"/>
            </a:p>
          </p:txBody>
        </p:sp>
        <p:sp>
          <p:nvSpPr>
            <p:cNvPr id="16413" name="Freeform 511"/>
            <p:cNvSpPr>
              <a:spLocks/>
            </p:cNvSpPr>
            <p:nvPr/>
          </p:nvSpPr>
          <p:spPr bwMode="auto">
            <a:xfrm>
              <a:off x="1460" y="1558"/>
              <a:ext cx="581" cy="2221"/>
            </a:xfrm>
            <a:custGeom>
              <a:avLst/>
              <a:gdLst>
                <a:gd name="T0" fmla="*/ 0 w 1164"/>
                <a:gd name="T1" fmla="*/ 1 h 2221"/>
                <a:gd name="T2" fmla="*/ 0 w 1164"/>
                <a:gd name="T3" fmla="*/ 0 h 2221"/>
                <a:gd name="T4" fmla="*/ 0 w 1164"/>
                <a:gd name="T5" fmla="*/ 52 h 2221"/>
                <a:gd name="T6" fmla="*/ 0 w 1164"/>
                <a:gd name="T7" fmla="*/ 140 h 2221"/>
                <a:gd name="T8" fmla="*/ 0 w 1164"/>
                <a:gd name="T9" fmla="*/ 275 h 2221"/>
                <a:gd name="T10" fmla="*/ 1 w 1164"/>
                <a:gd name="T11" fmla="*/ 465 h 2221"/>
                <a:gd name="T12" fmla="*/ 1 w 1164"/>
                <a:gd name="T13" fmla="*/ 653 h 2221"/>
                <a:gd name="T14" fmla="*/ 2 w 1164"/>
                <a:gd name="T15" fmla="*/ 877 h 2221"/>
                <a:gd name="T16" fmla="*/ 2 w 1164"/>
                <a:gd name="T17" fmla="*/ 1128 h 2221"/>
                <a:gd name="T18" fmla="*/ 3 w 1164"/>
                <a:gd name="T19" fmla="*/ 1337 h 2221"/>
                <a:gd name="T20" fmla="*/ 3 w 1164"/>
                <a:gd name="T21" fmla="*/ 1604 h 2221"/>
                <a:gd name="T22" fmla="*/ 4 w 1164"/>
                <a:gd name="T23" fmla="*/ 1829 h 2221"/>
                <a:gd name="T24" fmla="*/ 4 w 1164"/>
                <a:gd name="T25" fmla="*/ 2033 h 2221"/>
                <a:gd name="T26" fmla="*/ 4 w 1164"/>
                <a:gd name="T27" fmla="*/ 2209 h 2221"/>
                <a:gd name="T28" fmla="*/ 4 w 1164"/>
                <a:gd name="T29" fmla="*/ 2221 h 2221"/>
                <a:gd name="T30" fmla="*/ 4 w 1164"/>
                <a:gd name="T31" fmla="*/ 2185 h 2221"/>
                <a:gd name="T32" fmla="*/ 4 w 1164"/>
                <a:gd name="T33" fmla="*/ 2031 h 2221"/>
                <a:gd name="T34" fmla="*/ 4 w 1164"/>
                <a:gd name="T35" fmla="*/ 1823 h 2221"/>
                <a:gd name="T36" fmla="*/ 4 w 1164"/>
                <a:gd name="T37" fmla="*/ 1591 h 2221"/>
                <a:gd name="T38" fmla="*/ 3 w 1164"/>
                <a:gd name="T39" fmla="*/ 1378 h 2221"/>
                <a:gd name="T40" fmla="*/ 3 w 1164"/>
                <a:gd name="T41" fmla="*/ 1098 h 2221"/>
                <a:gd name="T42" fmla="*/ 2 w 1164"/>
                <a:gd name="T43" fmla="*/ 869 h 2221"/>
                <a:gd name="T44" fmla="*/ 2 w 1164"/>
                <a:gd name="T45" fmla="*/ 644 h 2221"/>
                <a:gd name="T46" fmla="*/ 1 w 1164"/>
                <a:gd name="T47" fmla="*/ 421 h 2221"/>
                <a:gd name="T48" fmla="*/ 0 w 1164"/>
                <a:gd name="T49" fmla="*/ 264 h 2221"/>
                <a:gd name="T50" fmla="*/ 0 w 1164"/>
                <a:gd name="T51" fmla="*/ 129 h 2221"/>
                <a:gd name="T52" fmla="*/ 0 w 1164"/>
                <a:gd name="T53" fmla="*/ 41 h 2221"/>
                <a:gd name="T54" fmla="*/ 0 w 1164"/>
                <a:gd name="T55" fmla="*/ 9 h 2221"/>
                <a:gd name="T56" fmla="*/ 0 w 1164"/>
                <a:gd name="T57" fmla="*/ 15 h 2221"/>
                <a:gd name="T58" fmla="*/ 0 w 1164"/>
                <a:gd name="T59" fmla="*/ 1 h 22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64"/>
                <a:gd name="T91" fmla="*/ 0 h 2221"/>
                <a:gd name="T92" fmla="*/ 1164 w 1164"/>
                <a:gd name="T93" fmla="*/ 2221 h 22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64" h="2221">
                  <a:moveTo>
                    <a:pt x="41" y="1"/>
                  </a:moveTo>
                  <a:lnTo>
                    <a:pt x="0" y="0"/>
                  </a:lnTo>
                  <a:lnTo>
                    <a:pt x="41" y="52"/>
                  </a:lnTo>
                  <a:lnTo>
                    <a:pt x="106" y="140"/>
                  </a:lnTo>
                  <a:lnTo>
                    <a:pt x="205" y="275"/>
                  </a:lnTo>
                  <a:lnTo>
                    <a:pt x="340" y="465"/>
                  </a:lnTo>
                  <a:lnTo>
                    <a:pt x="465" y="653"/>
                  </a:lnTo>
                  <a:lnTo>
                    <a:pt x="610" y="877"/>
                  </a:lnTo>
                  <a:lnTo>
                    <a:pt x="757" y="1128"/>
                  </a:lnTo>
                  <a:lnTo>
                    <a:pt x="870" y="1337"/>
                  </a:lnTo>
                  <a:lnTo>
                    <a:pt x="990" y="1604"/>
                  </a:lnTo>
                  <a:lnTo>
                    <a:pt x="1071" y="1829"/>
                  </a:lnTo>
                  <a:lnTo>
                    <a:pt x="1114" y="2033"/>
                  </a:lnTo>
                  <a:lnTo>
                    <a:pt x="1108" y="2209"/>
                  </a:lnTo>
                  <a:lnTo>
                    <a:pt x="1145" y="2221"/>
                  </a:lnTo>
                  <a:lnTo>
                    <a:pt x="1158" y="2185"/>
                  </a:lnTo>
                  <a:lnTo>
                    <a:pt x="1164" y="2031"/>
                  </a:lnTo>
                  <a:lnTo>
                    <a:pt x="1121" y="1823"/>
                  </a:lnTo>
                  <a:lnTo>
                    <a:pt x="1040" y="1591"/>
                  </a:lnTo>
                  <a:lnTo>
                    <a:pt x="940" y="1378"/>
                  </a:lnTo>
                  <a:lnTo>
                    <a:pt x="791" y="1098"/>
                  </a:lnTo>
                  <a:lnTo>
                    <a:pt x="656" y="869"/>
                  </a:lnTo>
                  <a:lnTo>
                    <a:pt x="512" y="644"/>
                  </a:lnTo>
                  <a:lnTo>
                    <a:pt x="363" y="421"/>
                  </a:lnTo>
                  <a:lnTo>
                    <a:pt x="251" y="264"/>
                  </a:lnTo>
                  <a:lnTo>
                    <a:pt x="153" y="129"/>
                  </a:lnTo>
                  <a:lnTo>
                    <a:pt x="87" y="41"/>
                  </a:lnTo>
                  <a:lnTo>
                    <a:pt x="62" y="9"/>
                  </a:lnTo>
                  <a:lnTo>
                    <a:pt x="39" y="15"/>
                  </a:lnTo>
                  <a:lnTo>
                    <a:pt x="41" y="1"/>
                  </a:lnTo>
                  <a:close/>
                </a:path>
              </a:pathLst>
            </a:custGeom>
            <a:solidFill>
              <a:srgbClr val="000000"/>
            </a:solidFill>
            <a:ln w="9525">
              <a:noFill/>
              <a:round/>
              <a:headEnd/>
              <a:tailEnd/>
            </a:ln>
          </p:spPr>
          <p:txBody>
            <a:bodyPr/>
            <a:lstStyle/>
            <a:p>
              <a:endParaRPr lang="en-US"/>
            </a:p>
          </p:txBody>
        </p:sp>
        <p:sp>
          <p:nvSpPr>
            <p:cNvPr id="16414" name="Freeform 512"/>
            <p:cNvSpPr>
              <a:spLocks/>
            </p:cNvSpPr>
            <p:nvPr/>
          </p:nvSpPr>
          <p:spPr bwMode="auto">
            <a:xfrm>
              <a:off x="2032" y="2208"/>
              <a:ext cx="1947" cy="1571"/>
            </a:xfrm>
            <a:custGeom>
              <a:avLst/>
              <a:gdLst>
                <a:gd name="T0" fmla="*/ 0 w 3894"/>
                <a:gd name="T1" fmla="*/ 1571 h 1571"/>
                <a:gd name="T2" fmla="*/ 1 w 3894"/>
                <a:gd name="T3" fmla="*/ 1554 h 1571"/>
                <a:gd name="T4" fmla="*/ 1 w 3894"/>
                <a:gd name="T5" fmla="*/ 1505 h 1571"/>
                <a:gd name="T6" fmla="*/ 2 w 3894"/>
                <a:gd name="T7" fmla="*/ 1428 h 1571"/>
                <a:gd name="T8" fmla="*/ 4 w 3894"/>
                <a:gd name="T9" fmla="*/ 1269 h 1571"/>
                <a:gd name="T10" fmla="*/ 5 w 3894"/>
                <a:gd name="T11" fmla="*/ 1201 h 1571"/>
                <a:gd name="T12" fmla="*/ 6 w 3894"/>
                <a:gd name="T13" fmla="*/ 1060 h 1571"/>
                <a:gd name="T14" fmla="*/ 8 w 3894"/>
                <a:gd name="T15" fmla="*/ 903 h 1571"/>
                <a:gd name="T16" fmla="*/ 9 w 3894"/>
                <a:gd name="T17" fmla="*/ 735 h 1571"/>
                <a:gd name="T18" fmla="*/ 11 w 3894"/>
                <a:gd name="T19" fmla="*/ 562 h 1571"/>
                <a:gd name="T20" fmla="*/ 13 w 3894"/>
                <a:gd name="T21" fmla="*/ 377 h 1571"/>
                <a:gd name="T22" fmla="*/ 14 w 3894"/>
                <a:gd name="T23" fmla="*/ 196 h 1571"/>
                <a:gd name="T24" fmla="*/ 15 w 3894"/>
                <a:gd name="T25" fmla="*/ 13 h 1571"/>
                <a:gd name="T26" fmla="*/ 15 w 3894"/>
                <a:gd name="T27" fmla="*/ 7 h 1571"/>
                <a:gd name="T28" fmla="*/ 15 w 3894"/>
                <a:gd name="T29" fmla="*/ 0 h 1571"/>
                <a:gd name="T30" fmla="*/ 14 w 3894"/>
                <a:gd name="T31" fmla="*/ 174 h 1571"/>
                <a:gd name="T32" fmla="*/ 13 w 3894"/>
                <a:gd name="T33" fmla="*/ 356 h 1571"/>
                <a:gd name="T34" fmla="*/ 11 w 3894"/>
                <a:gd name="T35" fmla="*/ 532 h 1571"/>
                <a:gd name="T36" fmla="*/ 9 w 3894"/>
                <a:gd name="T37" fmla="*/ 711 h 1571"/>
                <a:gd name="T38" fmla="*/ 8 w 3894"/>
                <a:gd name="T39" fmla="*/ 879 h 1571"/>
                <a:gd name="T40" fmla="*/ 6 w 3894"/>
                <a:gd name="T41" fmla="*/ 1036 h 1571"/>
                <a:gd name="T42" fmla="*/ 5 w 3894"/>
                <a:gd name="T43" fmla="*/ 1177 h 1571"/>
                <a:gd name="T44" fmla="*/ 3 w 3894"/>
                <a:gd name="T45" fmla="*/ 1356 h 1571"/>
                <a:gd name="T46" fmla="*/ 2 w 3894"/>
                <a:gd name="T47" fmla="*/ 1404 h 1571"/>
                <a:gd name="T48" fmla="*/ 1 w 3894"/>
                <a:gd name="T49" fmla="*/ 1481 h 1571"/>
                <a:gd name="T50" fmla="*/ 1 w 3894"/>
                <a:gd name="T51" fmla="*/ 1530 h 1571"/>
                <a:gd name="T52" fmla="*/ 1 w 3894"/>
                <a:gd name="T53" fmla="*/ 1535 h 1571"/>
                <a:gd name="T54" fmla="*/ 0 w 3894"/>
                <a:gd name="T55" fmla="*/ 1571 h 15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894"/>
                <a:gd name="T85" fmla="*/ 0 h 1571"/>
                <a:gd name="T86" fmla="*/ 3894 w 3894"/>
                <a:gd name="T87" fmla="*/ 1571 h 15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894" h="1571">
                  <a:moveTo>
                    <a:pt x="0" y="1571"/>
                  </a:moveTo>
                  <a:lnTo>
                    <a:pt x="52" y="1554"/>
                  </a:lnTo>
                  <a:lnTo>
                    <a:pt x="196" y="1505"/>
                  </a:lnTo>
                  <a:lnTo>
                    <a:pt x="422" y="1428"/>
                  </a:lnTo>
                  <a:lnTo>
                    <a:pt x="872" y="1269"/>
                  </a:lnTo>
                  <a:lnTo>
                    <a:pt x="1061" y="1201"/>
                  </a:lnTo>
                  <a:lnTo>
                    <a:pt x="1447" y="1060"/>
                  </a:lnTo>
                  <a:lnTo>
                    <a:pt x="1860" y="903"/>
                  </a:lnTo>
                  <a:lnTo>
                    <a:pt x="2288" y="735"/>
                  </a:lnTo>
                  <a:lnTo>
                    <a:pt x="2709" y="562"/>
                  </a:lnTo>
                  <a:lnTo>
                    <a:pt x="3137" y="377"/>
                  </a:lnTo>
                  <a:lnTo>
                    <a:pt x="3529" y="196"/>
                  </a:lnTo>
                  <a:lnTo>
                    <a:pt x="3892" y="13"/>
                  </a:lnTo>
                  <a:lnTo>
                    <a:pt x="3894" y="7"/>
                  </a:lnTo>
                  <a:lnTo>
                    <a:pt x="3845" y="0"/>
                  </a:lnTo>
                  <a:lnTo>
                    <a:pt x="3498" y="174"/>
                  </a:lnTo>
                  <a:lnTo>
                    <a:pt x="3106" y="356"/>
                  </a:lnTo>
                  <a:lnTo>
                    <a:pt x="2701" y="532"/>
                  </a:lnTo>
                  <a:lnTo>
                    <a:pt x="2261" y="711"/>
                  </a:lnTo>
                  <a:lnTo>
                    <a:pt x="1833" y="879"/>
                  </a:lnTo>
                  <a:lnTo>
                    <a:pt x="1420" y="1036"/>
                  </a:lnTo>
                  <a:lnTo>
                    <a:pt x="1034" y="1177"/>
                  </a:lnTo>
                  <a:lnTo>
                    <a:pt x="532" y="1356"/>
                  </a:lnTo>
                  <a:lnTo>
                    <a:pt x="399" y="1404"/>
                  </a:lnTo>
                  <a:lnTo>
                    <a:pt x="173" y="1481"/>
                  </a:lnTo>
                  <a:lnTo>
                    <a:pt x="28" y="1530"/>
                  </a:lnTo>
                  <a:lnTo>
                    <a:pt x="13" y="1535"/>
                  </a:lnTo>
                  <a:lnTo>
                    <a:pt x="0" y="1571"/>
                  </a:lnTo>
                  <a:close/>
                </a:path>
              </a:pathLst>
            </a:custGeom>
            <a:solidFill>
              <a:srgbClr val="000000"/>
            </a:solidFill>
            <a:ln w="9525">
              <a:noFill/>
              <a:round/>
              <a:headEnd/>
              <a:tailEnd/>
            </a:ln>
          </p:spPr>
          <p:txBody>
            <a:bodyPr/>
            <a:lstStyle/>
            <a:p>
              <a:endParaRPr lang="en-US"/>
            </a:p>
          </p:txBody>
        </p:sp>
        <p:sp>
          <p:nvSpPr>
            <p:cNvPr id="16415" name="Freeform 513"/>
            <p:cNvSpPr>
              <a:spLocks/>
            </p:cNvSpPr>
            <p:nvPr/>
          </p:nvSpPr>
          <p:spPr bwMode="auto">
            <a:xfrm>
              <a:off x="1488" y="1488"/>
              <a:ext cx="648" cy="492"/>
            </a:xfrm>
            <a:custGeom>
              <a:avLst/>
              <a:gdLst>
                <a:gd name="T0" fmla="*/ 546 w 648"/>
                <a:gd name="T1" fmla="*/ 0 h 492"/>
                <a:gd name="T2" fmla="*/ 405 w 648"/>
                <a:gd name="T3" fmla="*/ 36 h 492"/>
                <a:gd name="T4" fmla="*/ 264 w 648"/>
                <a:gd name="T5" fmla="*/ 66 h 492"/>
                <a:gd name="T6" fmla="*/ 99 w 648"/>
                <a:gd name="T7" fmla="*/ 90 h 492"/>
                <a:gd name="T8" fmla="*/ 0 w 648"/>
                <a:gd name="T9" fmla="*/ 93 h 492"/>
                <a:gd name="T10" fmla="*/ 147 w 648"/>
                <a:gd name="T11" fmla="*/ 492 h 492"/>
                <a:gd name="T12" fmla="*/ 360 w 648"/>
                <a:gd name="T13" fmla="*/ 414 h 492"/>
                <a:gd name="T14" fmla="*/ 648 w 648"/>
                <a:gd name="T15" fmla="*/ 273 h 492"/>
                <a:gd name="T16" fmla="*/ 624 w 648"/>
                <a:gd name="T17" fmla="*/ 168 h 492"/>
                <a:gd name="T18" fmla="*/ 612 w 648"/>
                <a:gd name="T19" fmla="*/ 123 h 492"/>
                <a:gd name="T20" fmla="*/ 588 w 648"/>
                <a:gd name="T21" fmla="*/ 63 h 492"/>
                <a:gd name="T22" fmla="*/ 546 w 648"/>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492"/>
                <a:gd name="T38" fmla="*/ 648 w 648"/>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492">
                  <a:moveTo>
                    <a:pt x="546" y="0"/>
                  </a:moveTo>
                  <a:lnTo>
                    <a:pt x="405" y="36"/>
                  </a:lnTo>
                  <a:lnTo>
                    <a:pt x="264" y="66"/>
                  </a:lnTo>
                  <a:lnTo>
                    <a:pt x="99" y="90"/>
                  </a:lnTo>
                  <a:lnTo>
                    <a:pt x="0" y="93"/>
                  </a:lnTo>
                  <a:lnTo>
                    <a:pt x="147" y="492"/>
                  </a:lnTo>
                  <a:lnTo>
                    <a:pt x="360" y="414"/>
                  </a:lnTo>
                  <a:lnTo>
                    <a:pt x="648" y="273"/>
                  </a:lnTo>
                  <a:lnTo>
                    <a:pt x="624" y="168"/>
                  </a:lnTo>
                  <a:lnTo>
                    <a:pt x="612" y="123"/>
                  </a:lnTo>
                  <a:lnTo>
                    <a:pt x="588" y="63"/>
                  </a:lnTo>
                  <a:lnTo>
                    <a:pt x="546"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6416" name="Freeform 514"/>
            <p:cNvSpPr>
              <a:spLocks/>
            </p:cNvSpPr>
            <p:nvPr/>
          </p:nvSpPr>
          <p:spPr bwMode="auto">
            <a:xfrm>
              <a:off x="2049" y="1278"/>
              <a:ext cx="597" cy="477"/>
            </a:xfrm>
            <a:custGeom>
              <a:avLst/>
              <a:gdLst>
                <a:gd name="T0" fmla="*/ 465 w 597"/>
                <a:gd name="T1" fmla="*/ 0 h 477"/>
                <a:gd name="T2" fmla="*/ 249 w 597"/>
                <a:gd name="T3" fmla="*/ 105 h 477"/>
                <a:gd name="T4" fmla="*/ 0 w 597"/>
                <a:gd name="T5" fmla="*/ 207 h 477"/>
                <a:gd name="T6" fmla="*/ 27 w 597"/>
                <a:gd name="T7" fmla="*/ 258 h 477"/>
                <a:gd name="T8" fmla="*/ 57 w 597"/>
                <a:gd name="T9" fmla="*/ 315 h 477"/>
                <a:gd name="T10" fmla="*/ 75 w 597"/>
                <a:gd name="T11" fmla="*/ 384 h 477"/>
                <a:gd name="T12" fmla="*/ 99 w 597"/>
                <a:gd name="T13" fmla="*/ 477 h 477"/>
                <a:gd name="T14" fmla="*/ 366 w 597"/>
                <a:gd name="T15" fmla="*/ 348 h 477"/>
                <a:gd name="T16" fmla="*/ 597 w 597"/>
                <a:gd name="T17" fmla="*/ 219 h 477"/>
                <a:gd name="T18" fmla="*/ 567 w 597"/>
                <a:gd name="T19" fmla="*/ 120 h 477"/>
                <a:gd name="T20" fmla="*/ 519 w 597"/>
                <a:gd name="T21" fmla="*/ 54 h 477"/>
                <a:gd name="T22" fmla="*/ 465 w 597"/>
                <a:gd name="T23" fmla="*/ 0 h 4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97"/>
                <a:gd name="T37" fmla="*/ 0 h 477"/>
                <a:gd name="T38" fmla="*/ 597 w 597"/>
                <a:gd name="T39" fmla="*/ 477 h 4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97" h="477">
                  <a:moveTo>
                    <a:pt x="465" y="0"/>
                  </a:moveTo>
                  <a:lnTo>
                    <a:pt x="249" y="105"/>
                  </a:lnTo>
                  <a:lnTo>
                    <a:pt x="0" y="207"/>
                  </a:lnTo>
                  <a:lnTo>
                    <a:pt x="27" y="258"/>
                  </a:lnTo>
                  <a:lnTo>
                    <a:pt x="57" y="315"/>
                  </a:lnTo>
                  <a:lnTo>
                    <a:pt x="75" y="384"/>
                  </a:lnTo>
                  <a:lnTo>
                    <a:pt x="99" y="477"/>
                  </a:lnTo>
                  <a:lnTo>
                    <a:pt x="366" y="348"/>
                  </a:lnTo>
                  <a:lnTo>
                    <a:pt x="597" y="219"/>
                  </a:lnTo>
                  <a:lnTo>
                    <a:pt x="567" y="120"/>
                  </a:lnTo>
                  <a:lnTo>
                    <a:pt x="519" y="54"/>
                  </a:lnTo>
                  <a:lnTo>
                    <a:pt x="4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17" name="Freeform 515"/>
            <p:cNvSpPr>
              <a:spLocks/>
            </p:cNvSpPr>
            <p:nvPr/>
          </p:nvSpPr>
          <p:spPr bwMode="auto">
            <a:xfrm>
              <a:off x="2526" y="1005"/>
              <a:ext cx="585" cy="486"/>
            </a:xfrm>
            <a:custGeom>
              <a:avLst/>
              <a:gdLst>
                <a:gd name="T0" fmla="*/ 447 w 585"/>
                <a:gd name="T1" fmla="*/ 0 h 486"/>
                <a:gd name="T2" fmla="*/ 261 w 585"/>
                <a:gd name="T3" fmla="*/ 120 h 486"/>
                <a:gd name="T4" fmla="*/ 0 w 585"/>
                <a:gd name="T5" fmla="*/ 264 h 486"/>
                <a:gd name="T6" fmla="*/ 48 w 585"/>
                <a:gd name="T7" fmla="*/ 318 h 486"/>
                <a:gd name="T8" fmla="*/ 93 w 585"/>
                <a:gd name="T9" fmla="*/ 384 h 486"/>
                <a:gd name="T10" fmla="*/ 132 w 585"/>
                <a:gd name="T11" fmla="*/ 486 h 486"/>
                <a:gd name="T12" fmla="*/ 363 w 585"/>
                <a:gd name="T13" fmla="*/ 348 h 486"/>
                <a:gd name="T14" fmla="*/ 585 w 585"/>
                <a:gd name="T15" fmla="*/ 210 h 486"/>
                <a:gd name="T16" fmla="*/ 528 w 585"/>
                <a:gd name="T17" fmla="*/ 102 h 486"/>
                <a:gd name="T18" fmla="*/ 486 w 585"/>
                <a:gd name="T19" fmla="*/ 51 h 486"/>
                <a:gd name="T20" fmla="*/ 447 w 585"/>
                <a:gd name="T21" fmla="*/ 0 h 4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5"/>
                <a:gd name="T34" fmla="*/ 0 h 486"/>
                <a:gd name="T35" fmla="*/ 585 w 585"/>
                <a:gd name="T36" fmla="*/ 486 h 4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5" h="486">
                  <a:moveTo>
                    <a:pt x="447" y="0"/>
                  </a:moveTo>
                  <a:lnTo>
                    <a:pt x="261" y="120"/>
                  </a:lnTo>
                  <a:lnTo>
                    <a:pt x="0" y="264"/>
                  </a:lnTo>
                  <a:lnTo>
                    <a:pt x="48" y="318"/>
                  </a:lnTo>
                  <a:lnTo>
                    <a:pt x="93" y="384"/>
                  </a:lnTo>
                  <a:lnTo>
                    <a:pt x="132" y="486"/>
                  </a:lnTo>
                  <a:lnTo>
                    <a:pt x="363" y="348"/>
                  </a:lnTo>
                  <a:lnTo>
                    <a:pt x="585" y="210"/>
                  </a:lnTo>
                  <a:lnTo>
                    <a:pt x="528" y="102"/>
                  </a:lnTo>
                  <a:lnTo>
                    <a:pt x="486" y="51"/>
                  </a:lnTo>
                  <a:lnTo>
                    <a:pt x="447"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6418" name="Freeform 516"/>
            <p:cNvSpPr>
              <a:spLocks/>
            </p:cNvSpPr>
            <p:nvPr/>
          </p:nvSpPr>
          <p:spPr bwMode="auto">
            <a:xfrm>
              <a:off x="2988" y="723"/>
              <a:ext cx="531" cy="483"/>
            </a:xfrm>
            <a:custGeom>
              <a:avLst/>
              <a:gdLst>
                <a:gd name="T0" fmla="*/ 372 w 531"/>
                <a:gd name="T1" fmla="*/ 0 h 483"/>
                <a:gd name="T2" fmla="*/ 198 w 531"/>
                <a:gd name="T3" fmla="*/ 132 h 483"/>
                <a:gd name="T4" fmla="*/ 0 w 531"/>
                <a:gd name="T5" fmla="*/ 273 h 483"/>
                <a:gd name="T6" fmla="*/ 33 w 531"/>
                <a:gd name="T7" fmla="*/ 321 h 483"/>
                <a:gd name="T8" fmla="*/ 78 w 531"/>
                <a:gd name="T9" fmla="*/ 381 h 483"/>
                <a:gd name="T10" fmla="*/ 108 w 531"/>
                <a:gd name="T11" fmla="*/ 423 h 483"/>
                <a:gd name="T12" fmla="*/ 135 w 531"/>
                <a:gd name="T13" fmla="*/ 483 h 483"/>
                <a:gd name="T14" fmla="*/ 351 w 531"/>
                <a:gd name="T15" fmla="*/ 345 h 483"/>
                <a:gd name="T16" fmla="*/ 531 w 531"/>
                <a:gd name="T17" fmla="*/ 234 h 483"/>
                <a:gd name="T18" fmla="*/ 468 w 531"/>
                <a:gd name="T19" fmla="*/ 111 h 483"/>
                <a:gd name="T20" fmla="*/ 435 w 531"/>
                <a:gd name="T21" fmla="*/ 54 h 483"/>
                <a:gd name="T22" fmla="*/ 372 w 531"/>
                <a:gd name="T23" fmla="*/ 0 h 4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483"/>
                <a:gd name="T38" fmla="*/ 531 w 531"/>
                <a:gd name="T39" fmla="*/ 483 h 4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483">
                  <a:moveTo>
                    <a:pt x="372" y="0"/>
                  </a:moveTo>
                  <a:lnTo>
                    <a:pt x="198" y="132"/>
                  </a:lnTo>
                  <a:lnTo>
                    <a:pt x="0" y="273"/>
                  </a:lnTo>
                  <a:lnTo>
                    <a:pt x="33" y="321"/>
                  </a:lnTo>
                  <a:lnTo>
                    <a:pt x="78" y="381"/>
                  </a:lnTo>
                  <a:lnTo>
                    <a:pt x="108" y="423"/>
                  </a:lnTo>
                  <a:lnTo>
                    <a:pt x="135" y="483"/>
                  </a:lnTo>
                  <a:lnTo>
                    <a:pt x="351" y="345"/>
                  </a:lnTo>
                  <a:lnTo>
                    <a:pt x="531" y="234"/>
                  </a:lnTo>
                  <a:lnTo>
                    <a:pt x="468" y="111"/>
                  </a:lnTo>
                  <a:lnTo>
                    <a:pt x="435" y="54"/>
                  </a:lnTo>
                  <a:lnTo>
                    <a:pt x="372"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19" name="Freeform 517"/>
            <p:cNvSpPr>
              <a:spLocks/>
            </p:cNvSpPr>
            <p:nvPr/>
          </p:nvSpPr>
          <p:spPr bwMode="auto">
            <a:xfrm>
              <a:off x="3369" y="363"/>
              <a:ext cx="417" cy="585"/>
            </a:xfrm>
            <a:custGeom>
              <a:avLst/>
              <a:gdLst>
                <a:gd name="T0" fmla="*/ 363 w 417"/>
                <a:gd name="T1" fmla="*/ 0 h 585"/>
                <a:gd name="T2" fmla="*/ 207 w 417"/>
                <a:gd name="T3" fmla="*/ 171 h 585"/>
                <a:gd name="T4" fmla="*/ 0 w 417"/>
                <a:gd name="T5" fmla="*/ 345 h 585"/>
                <a:gd name="T6" fmla="*/ 57 w 417"/>
                <a:gd name="T7" fmla="*/ 393 h 585"/>
                <a:gd name="T8" fmla="*/ 99 w 417"/>
                <a:gd name="T9" fmla="*/ 462 h 585"/>
                <a:gd name="T10" fmla="*/ 162 w 417"/>
                <a:gd name="T11" fmla="*/ 585 h 585"/>
                <a:gd name="T12" fmla="*/ 369 w 417"/>
                <a:gd name="T13" fmla="*/ 447 h 585"/>
                <a:gd name="T14" fmla="*/ 417 w 417"/>
                <a:gd name="T15" fmla="*/ 402 h 585"/>
                <a:gd name="T16" fmla="*/ 363 w 417"/>
                <a:gd name="T17" fmla="*/ 0 h 5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7"/>
                <a:gd name="T28" fmla="*/ 0 h 585"/>
                <a:gd name="T29" fmla="*/ 417 w 417"/>
                <a:gd name="T30" fmla="*/ 585 h 5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7" h="585">
                  <a:moveTo>
                    <a:pt x="363" y="0"/>
                  </a:moveTo>
                  <a:lnTo>
                    <a:pt x="207" y="171"/>
                  </a:lnTo>
                  <a:lnTo>
                    <a:pt x="0" y="345"/>
                  </a:lnTo>
                  <a:lnTo>
                    <a:pt x="57" y="393"/>
                  </a:lnTo>
                  <a:lnTo>
                    <a:pt x="99" y="462"/>
                  </a:lnTo>
                  <a:lnTo>
                    <a:pt x="162" y="585"/>
                  </a:lnTo>
                  <a:lnTo>
                    <a:pt x="369" y="447"/>
                  </a:lnTo>
                  <a:lnTo>
                    <a:pt x="417" y="402"/>
                  </a:lnTo>
                  <a:lnTo>
                    <a:pt x="36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20" name="Freeform 518"/>
            <p:cNvSpPr>
              <a:spLocks/>
            </p:cNvSpPr>
            <p:nvPr/>
          </p:nvSpPr>
          <p:spPr bwMode="auto">
            <a:xfrm>
              <a:off x="1644" y="1896"/>
              <a:ext cx="444" cy="450"/>
            </a:xfrm>
            <a:custGeom>
              <a:avLst/>
              <a:gdLst>
                <a:gd name="T0" fmla="*/ 273 w 444"/>
                <a:gd name="T1" fmla="*/ 0 h 450"/>
                <a:gd name="T2" fmla="*/ 0 w 444"/>
                <a:gd name="T3" fmla="*/ 102 h 450"/>
                <a:gd name="T4" fmla="*/ 114 w 444"/>
                <a:gd name="T5" fmla="*/ 450 h 450"/>
                <a:gd name="T6" fmla="*/ 276 w 444"/>
                <a:gd name="T7" fmla="*/ 387 h 450"/>
                <a:gd name="T8" fmla="*/ 444 w 444"/>
                <a:gd name="T9" fmla="*/ 303 h 450"/>
                <a:gd name="T10" fmla="*/ 390 w 444"/>
                <a:gd name="T11" fmla="*/ 138 h 450"/>
                <a:gd name="T12" fmla="*/ 333 w 444"/>
                <a:gd name="T13" fmla="*/ 57 h 450"/>
                <a:gd name="T14" fmla="*/ 273 w 444"/>
                <a:gd name="T15" fmla="*/ 0 h 450"/>
                <a:gd name="T16" fmla="*/ 0 60000 65536"/>
                <a:gd name="T17" fmla="*/ 0 60000 65536"/>
                <a:gd name="T18" fmla="*/ 0 60000 65536"/>
                <a:gd name="T19" fmla="*/ 0 60000 65536"/>
                <a:gd name="T20" fmla="*/ 0 60000 65536"/>
                <a:gd name="T21" fmla="*/ 0 60000 65536"/>
                <a:gd name="T22" fmla="*/ 0 60000 65536"/>
                <a:gd name="T23" fmla="*/ 0 60000 65536"/>
                <a:gd name="T24" fmla="*/ 0 w 444"/>
                <a:gd name="T25" fmla="*/ 0 h 450"/>
                <a:gd name="T26" fmla="*/ 444 w 444"/>
                <a:gd name="T27" fmla="*/ 450 h 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4" h="450">
                  <a:moveTo>
                    <a:pt x="273" y="0"/>
                  </a:moveTo>
                  <a:lnTo>
                    <a:pt x="0" y="102"/>
                  </a:lnTo>
                  <a:lnTo>
                    <a:pt x="114" y="450"/>
                  </a:lnTo>
                  <a:lnTo>
                    <a:pt x="276" y="387"/>
                  </a:lnTo>
                  <a:lnTo>
                    <a:pt x="444" y="303"/>
                  </a:lnTo>
                  <a:lnTo>
                    <a:pt x="390" y="138"/>
                  </a:lnTo>
                  <a:lnTo>
                    <a:pt x="333" y="57"/>
                  </a:lnTo>
                  <a:lnTo>
                    <a:pt x="273"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6421" name="Freeform 519"/>
            <p:cNvSpPr>
              <a:spLocks/>
            </p:cNvSpPr>
            <p:nvPr/>
          </p:nvSpPr>
          <p:spPr bwMode="auto">
            <a:xfrm>
              <a:off x="1929" y="1677"/>
              <a:ext cx="579" cy="507"/>
            </a:xfrm>
            <a:custGeom>
              <a:avLst/>
              <a:gdLst>
                <a:gd name="T0" fmla="*/ 435 w 579"/>
                <a:gd name="T1" fmla="*/ 0 h 507"/>
                <a:gd name="T2" fmla="*/ 225 w 579"/>
                <a:gd name="T3" fmla="*/ 99 h 507"/>
                <a:gd name="T4" fmla="*/ 0 w 579"/>
                <a:gd name="T5" fmla="*/ 210 h 507"/>
                <a:gd name="T6" fmla="*/ 63 w 579"/>
                <a:gd name="T7" fmla="*/ 276 h 507"/>
                <a:gd name="T8" fmla="*/ 120 w 579"/>
                <a:gd name="T9" fmla="*/ 360 h 507"/>
                <a:gd name="T10" fmla="*/ 141 w 579"/>
                <a:gd name="T11" fmla="*/ 429 h 507"/>
                <a:gd name="T12" fmla="*/ 174 w 579"/>
                <a:gd name="T13" fmla="*/ 507 h 507"/>
                <a:gd name="T14" fmla="*/ 390 w 579"/>
                <a:gd name="T15" fmla="*/ 390 h 507"/>
                <a:gd name="T16" fmla="*/ 579 w 579"/>
                <a:gd name="T17" fmla="*/ 279 h 507"/>
                <a:gd name="T18" fmla="*/ 540 w 579"/>
                <a:gd name="T19" fmla="*/ 165 h 507"/>
                <a:gd name="T20" fmla="*/ 495 w 579"/>
                <a:gd name="T21" fmla="*/ 87 h 507"/>
                <a:gd name="T22" fmla="*/ 435 w 579"/>
                <a:gd name="T23" fmla="*/ 0 h 5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9"/>
                <a:gd name="T37" fmla="*/ 0 h 507"/>
                <a:gd name="T38" fmla="*/ 579 w 579"/>
                <a:gd name="T39" fmla="*/ 507 h 5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9" h="507">
                  <a:moveTo>
                    <a:pt x="435" y="0"/>
                  </a:moveTo>
                  <a:lnTo>
                    <a:pt x="225" y="99"/>
                  </a:lnTo>
                  <a:lnTo>
                    <a:pt x="0" y="210"/>
                  </a:lnTo>
                  <a:lnTo>
                    <a:pt x="63" y="276"/>
                  </a:lnTo>
                  <a:lnTo>
                    <a:pt x="120" y="360"/>
                  </a:lnTo>
                  <a:lnTo>
                    <a:pt x="141" y="429"/>
                  </a:lnTo>
                  <a:lnTo>
                    <a:pt x="174" y="507"/>
                  </a:lnTo>
                  <a:lnTo>
                    <a:pt x="390" y="390"/>
                  </a:lnTo>
                  <a:lnTo>
                    <a:pt x="579" y="279"/>
                  </a:lnTo>
                  <a:lnTo>
                    <a:pt x="540" y="165"/>
                  </a:lnTo>
                  <a:lnTo>
                    <a:pt x="495" y="87"/>
                  </a:lnTo>
                  <a:lnTo>
                    <a:pt x="435"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6422" name="Freeform 520"/>
            <p:cNvSpPr>
              <a:spLocks/>
            </p:cNvSpPr>
            <p:nvPr/>
          </p:nvSpPr>
          <p:spPr bwMode="auto">
            <a:xfrm>
              <a:off x="2379" y="1404"/>
              <a:ext cx="630" cy="546"/>
            </a:xfrm>
            <a:custGeom>
              <a:avLst/>
              <a:gdLst>
                <a:gd name="T0" fmla="*/ 459 w 630"/>
                <a:gd name="T1" fmla="*/ 0 h 546"/>
                <a:gd name="T2" fmla="*/ 219 w 630"/>
                <a:gd name="T3" fmla="*/ 144 h 546"/>
                <a:gd name="T4" fmla="*/ 0 w 630"/>
                <a:gd name="T5" fmla="*/ 264 h 546"/>
                <a:gd name="T6" fmla="*/ 57 w 630"/>
                <a:gd name="T7" fmla="*/ 363 h 546"/>
                <a:gd name="T8" fmla="*/ 102 w 630"/>
                <a:gd name="T9" fmla="*/ 441 h 546"/>
                <a:gd name="T10" fmla="*/ 141 w 630"/>
                <a:gd name="T11" fmla="*/ 546 h 546"/>
                <a:gd name="T12" fmla="*/ 411 w 630"/>
                <a:gd name="T13" fmla="*/ 393 h 546"/>
                <a:gd name="T14" fmla="*/ 630 w 630"/>
                <a:gd name="T15" fmla="*/ 243 h 546"/>
                <a:gd name="T16" fmla="*/ 591 w 630"/>
                <a:gd name="T17" fmla="*/ 156 h 546"/>
                <a:gd name="T18" fmla="*/ 555 w 630"/>
                <a:gd name="T19" fmla="*/ 102 h 546"/>
                <a:gd name="T20" fmla="*/ 519 w 630"/>
                <a:gd name="T21" fmla="*/ 51 h 546"/>
                <a:gd name="T22" fmla="*/ 459 w 630"/>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0"/>
                <a:gd name="T37" fmla="*/ 0 h 546"/>
                <a:gd name="T38" fmla="*/ 630 w 630"/>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0" h="546">
                  <a:moveTo>
                    <a:pt x="459" y="0"/>
                  </a:moveTo>
                  <a:lnTo>
                    <a:pt x="219" y="144"/>
                  </a:lnTo>
                  <a:lnTo>
                    <a:pt x="0" y="264"/>
                  </a:lnTo>
                  <a:lnTo>
                    <a:pt x="57" y="363"/>
                  </a:lnTo>
                  <a:lnTo>
                    <a:pt x="102" y="441"/>
                  </a:lnTo>
                  <a:lnTo>
                    <a:pt x="141" y="546"/>
                  </a:lnTo>
                  <a:lnTo>
                    <a:pt x="411" y="393"/>
                  </a:lnTo>
                  <a:lnTo>
                    <a:pt x="630" y="243"/>
                  </a:lnTo>
                  <a:lnTo>
                    <a:pt x="591" y="156"/>
                  </a:lnTo>
                  <a:lnTo>
                    <a:pt x="555" y="102"/>
                  </a:lnTo>
                  <a:lnTo>
                    <a:pt x="519" y="51"/>
                  </a:lnTo>
                  <a:lnTo>
                    <a:pt x="45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23" name="Freeform 521"/>
            <p:cNvSpPr>
              <a:spLocks/>
            </p:cNvSpPr>
            <p:nvPr/>
          </p:nvSpPr>
          <p:spPr bwMode="auto">
            <a:xfrm>
              <a:off x="2850" y="1146"/>
              <a:ext cx="567" cy="492"/>
            </a:xfrm>
            <a:custGeom>
              <a:avLst/>
              <a:gdLst>
                <a:gd name="T0" fmla="*/ 396 w 567"/>
                <a:gd name="T1" fmla="*/ 0 h 492"/>
                <a:gd name="T2" fmla="*/ 210 w 567"/>
                <a:gd name="T3" fmla="*/ 126 h 492"/>
                <a:gd name="T4" fmla="*/ 108 w 567"/>
                <a:gd name="T5" fmla="*/ 186 h 492"/>
                <a:gd name="T6" fmla="*/ 0 w 567"/>
                <a:gd name="T7" fmla="*/ 252 h 492"/>
                <a:gd name="T8" fmla="*/ 57 w 567"/>
                <a:gd name="T9" fmla="*/ 312 h 492"/>
                <a:gd name="T10" fmla="*/ 108 w 567"/>
                <a:gd name="T11" fmla="*/ 378 h 492"/>
                <a:gd name="T12" fmla="*/ 171 w 567"/>
                <a:gd name="T13" fmla="*/ 492 h 492"/>
                <a:gd name="T14" fmla="*/ 387 w 567"/>
                <a:gd name="T15" fmla="*/ 354 h 492"/>
                <a:gd name="T16" fmla="*/ 567 w 567"/>
                <a:gd name="T17" fmla="*/ 243 h 492"/>
                <a:gd name="T18" fmla="*/ 534 w 567"/>
                <a:gd name="T19" fmla="*/ 162 h 492"/>
                <a:gd name="T20" fmla="*/ 504 w 567"/>
                <a:gd name="T21" fmla="*/ 114 h 492"/>
                <a:gd name="T22" fmla="*/ 447 w 567"/>
                <a:gd name="T23" fmla="*/ 42 h 492"/>
                <a:gd name="T24" fmla="*/ 396 w 567"/>
                <a:gd name="T25" fmla="*/ 0 h 4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7"/>
                <a:gd name="T40" fmla="*/ 0 h 492"/>
                <a:gd name="T41" fmla="*/ 567 w 567"/>
                <a:gd name="T42" fmla="*/ 492 h 4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7" h="492">
                  <a:moveTo>
                    <a:pt x="396" y="0"/>
                  </a:moveTo>
                  <a:lnTo>
                    <a:pt x="210" y="126"/>
                  </a:lnTo>
                  <a:lnTo>
                    <a:pt x="108" y="186"/>
                  </a:lnTo>
                  <a:lnTo>
                    <a:pt x="0" y="252"/>
                  </a:lnTo>
                  <a:lnTo>
                    <a:pt x="57" y="312"/>
                  </a:lnTo>
                  <a:lnTo>
                    <a:pt x="108" y="378"/>
                  </a:lnTo>
                  <a:lnTo>
                    <a:pt x="171" y="492"/>
                  </a:lnTo>
                  <a:lnTo>
                    <a:pt x="387" y="354"/>
                  </a:lnTo>
                  <a:lnTo>
                    <a:pt x="567" y="243"/>
                  </a:lnTo>
                  <a:lnTo>
                    <a:pt x="534" y="162"/>
                  </a:lnTo>
                  <a:lnTo>
                    <a:pt x="504" y="114"/>
                  </a:lnTo>
                  <a:lnTo>
                    <a:pt x="447" y="42"/>
                  </a:lnTo>
                  <a:lnTo>
                    <a:pt x="39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24" name="Freeform 522"/>
            <p:cNvSpPr>
              <a:spLocks/>
            </p:cNvSpPr>
            <p:nvPr/>
          </p:nvSpPr>
          <p:spPr bwMode="auto">
            <a:xfrm>
              <a:off x="3258" y="798"/>
              <a:ext cx="570" cy="582"/>
            </a:xfrm>
            <a:custGeom>
              <a:avLst/>
              <a:gdLst>
                <a:gd name="T0" fmla="*/ 534 w 570"/>
                <a:gd name="T1" fmla="*/ 0 h 582"/>
                <a:gd name="T2" fmla="*/ 222 w 570"/>
                <a:gd name="T3" fmla="*/ 210 h 582"/>
                <a:gd name="T4" fmla="*/ 0 w 570"/>
                <a:gd name="T5" fmla="*/ 342 h 582"/>
                <a:gd name="T6" fmla="*/ 42 w 570"/>
                <a:gd name="T7" fmla="*/ 384 h 582"/>
                <a:gd name="T8" fmla="*/ 87 w 570"/>
                <a:gd name="T9" fmla="*/ 438 h 582"/>
                <a:gd name="T10" fmla="*/ 129 w 570"/>
                <a:gd name="T11" fmla="*/ 492 h 582"/>
                <a:gd name="T12" fmla="*/ 165 w 570"/>
                <a:gd name="T13" fmla="*/ 582 h 582"/>
                <a:gd name="T14" fmla="*/ 372 w 570"/>
                <a:gd name="T15" fmla="*/ 438 h 582"/>
                <a:gd name="T16" fmla="*/ 570 w 570"/>
                <a:gd name="T17" fmla="*/ 294 h 582"/>
                <a:gd name="T18" fmla="*/ 534 w 570"/>
                <a:gd name="T19" fmla="*/ 0 h 5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0"/>
                <a:gd name="T31" fmla="*/ 0 h 582"/>
                <a:gd name="T32" fmla="*/ 570 w 570"/>
                <a:gd name="T33" fmla="*/ 582 h 5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0" h="582">
                  <a:moveTo>
                    <a:pt x="534" y="0"/>
                  </a:moveTo>
                  <a:lnTo>
                    <a:pt x="222" y="210"/>
                  </a:lnTo>
                  <a:lnTo>
                    <a:pt x="0" y="342"/>
                  </a:lnTo>
                  <a:lnTo>
                    <a:pt x="42" y="384"/>
                  </a:lnTo>
                  <a:lnTo>
                    <a:pt x="87" y="438"/>
                  </a:lnTo>
                  <a:lnTo>
                    <a:pt x="129" y="492"/>
                  </a:lnTo>
                  <a:lnTo>
                    <a:pt x="165" y="582"/>
                  </a:lnTo>
                  <a:lnTo>
                    <a:pt x="372" y="438"/>
                  </a:lnTo>
                  <a:lnTo>
                    <a:pt x="570" y="294"/>
                  </a:lnTo>
                  <a:lnTo>
                    <a:pt x="534"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25" name="Freeform 523"/>
            <p:cNvSpPr>
              <a:spLocks/>
            </p:cNvSpPr>
            <p:nvPr/>
          </p:nvSpPr>
          <p:spPr bwMode="auto">
            <a:xfrm>
              <a:off x="1758" y="2136"/>
              <a:ext cx="669" cy="561"/>
            </a:xfrm>
            <a:custGeom>
              <a:avLst/>
              <a:gdLst>
                <a:gd name="T0" fmla="*/ 474 w 669"/>
                <a:gd name="T1" fmla="*/ 0 h 561"/>
                <a:gd name="T2" fmla="*/ 243 w 669"/>
                <a:gd name="T3" fmla="*/ 120 h 561"/>
                <a:gd name="T4" fmla="*/ 0 w 669"/>
                <a:gd name="T5" fmla="*/ 231 h 561"/>
                <a:gd name="T6" fmla="*/ 102 w 669"/>
                <a:gd name="T7" fmla="*/ 561 h 561"/>
                <a:gd name="T8" fmla="*/ 330 w 669"/>
                <a:gd name="T9" fmla="*/ 459 h 561"/>
                <a:gd name="T10" fmla="*/ 669 w 669"/>
                <a:gd name="T11" fmla="*/ 291 h 561"/>
                <a:gd name="T12" fmla="*/ 633 w 669"/>
                <a:gd name="T13" fmla="*/ 186 h 561"/>
                <a:gd name="T14" fmla="*/ 597 w 669"/>
                <a:gd name="T15" fmla="*/ 132 h 561"/>
                <a:gd name="T16" fmla="*/ 549 w 669"/>
                <a:gd name="T17" fmla="*/ 60 h 561"/>
                <a:gd name="T18" fmla="*/ 474 w 669"/>
                <a:gd name="T19" fmla="*/ 0 h 5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69"/>
                <a:gd name="T31" fmla="*/ 0 h 561"/>
                <a:gd name="T32" fmla="*/ 669 w 669"/>
                <a:gd name="T33" fmla="*/ 561 h 56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69" h="561">
                  <a:moveTo>
                    <a:pt x="474" y="0"/>
                  </a:moveTo>
                  <a:lnTo>
                    <a:pt x="243" y="120"/>
                  </a:lnTo>
                  <a:lnTo>
                    <a:pt x="0" y="231"/>
                  </a:lnTo>
                  <a:lnTo>
                    <a:pt x="102" y="561"/>
                  </a:lnTo>
                  <a:lnTo>
                    <a:pt x="330" y="459"/>
                  </a:lnTo>
                  <a:lnTo>
                    <a:pt x="669" y="291"/>
                  </a:lnTo>
                  <a:lnTo>
                    <a:pt x="633" y="186"/>
                  </a:lnTo>
                  <a:lnTo>
                    <a:pt x="597" y="132"/>
                  </a:lnTo>
                  <a:lnTo>
                    <a:pt x="549" y="60"/>
                  </a:lnTo>
                  <a:lnTo>
                    <a:pt x="474"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6426" name="Freeform 524"/>
            <p:cNvSpPr>
              <a:spLocks/>
            </p:cNvSpPr>
            <p:nvPr/>
          </p:nvSpPr>
          <p:spPr bwMode="auto">
            <a:xfrm>
              <a:off x="2247" y="1842"/>
              <a:ext cx="669" cy="579"/>
            </a:xfrm>
            <a:custGeom>
              <a:avLst/>
              <a:gdLst>
                <a:gd name="T0" fmla="*/ 489 w 669"/>
                <a:gd name="T1" fmla="*/ 0 h 579"/>
                <a:gd name="T2" fmla="*/ 216 w 669"/>
                <a:gd name="T3" fmla="*/ 162 h 579"/>
                <a:gd name="T4" fmla="*/ 0 w 669"/>
                <a:gd name="T5" fmla="*/ 291 h 579"/>
                <a:gd name="T6" fmla="*/ 72 w 669"/>
                <a:gd name="T7" fmla="*/ 354 h 579"/>
                <a:gd name="T8" fmla="*/ 135 w 669"/>
                <a:gd name="T9" fmla="*/ 444 h 579"/>
                <a:gd name="T10" fmla="*/ 195 w 669"/>
                <a:gd name="T11" fmla="*/ 579 h 579"/>
                <a:gd name="T12" fmla="*/ 387 w 669"/>
                <a:gd name="T13" fmla="*/ 471 h 579"/>
                <a:gd name="T14" fmla="*/ 669 w 669"/>
                <a:gd name="T15" fmla="*/ 276 h 579"/>
                <a:gd name="T16" fmla="*/ 645 w 669"/>
                <a:gd name="T17" fmla="*/ 201 h 579"/>
                <a:gd name="T18" fmla="*/ 618 w 669"/>
                <a:gd name="T19" fmla="*/ 150 h 579"/>
                <a:gd name="T20" fmla="*/ 591 w 669"/>
                <a:gd name="T21" fmla="*/ 108 h 579"/>
                <a:gd name="T22" fmla="*/ 543 w 669"/>
                <a:gd name="T23" fmla="*/ 54 h 579"/>
                <a:gd name="T24" fmla="*/ 489 w 669"/>
                <a:gd name="T25" fmla="*/ 0 h 5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69"/>
                <a:gd name="T40" fmla="*/ 0 h 579"/>
                <a:gd name="T41" fmla="*/ 669 w 669"/>
                <a:gd name="T42" fmla="*/ 579 h 5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69" h="579">
                  <a:moveTo>
                    <a:pt x="489" y="0"/>
                  </a:moveTo>
                  <a:lnTo>
                    <a:pt x="216" y="162"/>
                  </a:lnTo>
                  <a:lnTo>
                    <a:pt x="0" y="291"/>
                  </a:lnTo>
                  <a:lnTo>
                    <a:pt x="72" y="354"/>
                  </a:lnTo>
                  <a:lnTo>
                    <a:pt x="135" y="444"/>
                  </a:lnTo>
                  <a:lnTo>
                    <a:pt x="195" y="579"/>
                  </a:lnTo>
                  <a:lnTo>
                    <a:pt x="387" y="471"/>
                  </a:lnTo>
                  <a:lnTo>
                    <a:pt x="669" y="276"/>
                  </a:lnTo>
                  <a:lnTo>
                    <a:pt x="645" y="201"/>
                  </a:lnTo>
                  <a:lnTo>
                    <a:pt x="618" y="150"/>
                  </a:lnTo>
                  <a:lnTo>
                    <a:pt x="591" y="108"/>
                  </a:lnTo>
                  <a:lnTo>
                    <a:pt x="543" y="54"/>
                  </a:lnTo>
                  <a:lnTo>
                    <a:pt x="48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27" name="Freeform 525"/>
            <p:cNvSpPr>
              <a:spLocks/>
            </p:cNvSpPr>
            <p:nvPr/>
          </p:nvSpPr>
          <p:spPr bwMode="auto">
            <a:xfrm>
              <a:off x="2742" y="1533"/>
              <a:ext cx="654" cy="582"/>
            </a:xfrm>
            <a:custGeom>
              <a:avLst/>
              <a:gdLst>
                <a:gd name="T0" fmla="*/ 480 w 654"/>
                <a:gd name="T1" fmla="*/ 0 h 582"/>
                <a:gd name="T2" fmla="*/ 249 w 654"/>
                <a:gd name="T3" fmla="*/ 150 h 582"/>
                <a:gd name="T4" fmla="*/ 0 w 654"/>
                <a:gd name="T5" fmla="*/ 300 h 582"/>
                <a:gd name="T6" fmla="*/ 66 w 654"/>
                <a:gd name="T7" fmla="*/ 372 h 582"/>
                <a:gd name="T8" fmla="*/ 120 w 654"/>
                <a:gd name="T9" fmla="*/ 435 h 582"/>
                <a:gd name="T10" fmla="*/ 189 w 654"/>
                <a:gd name="T11" fmla="*/ 582 h 582"/>
                <a:gd name="T12" fmla="*/ 360 w 654"/>
                <a:gd name="T13" fmla="*/ 471 h 582"/>
                <a:gd name="T14" fmla="*/ 654 w 654"/>
                <a:gd name="T15" fmla="*/ 246 h 582"/>
                <a:gd name="T16" fmla="*/ 606 w 654"/>
                <a:gd name="T17" fmla="*/ 153 h 582"/>
                <a:gd name="T18" fmla="*/ 543 w 654"/>
                <a:gd name="T19" fmla="*/ 54 h 582"/>
                <a:gd name="T20" fmla="*/ 480 w 654"/>
                <a:gd name="T21" fmla="*/ 0 h 5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4"/>
                <a:gd name="T34" fmla="*/ 0 h 582"/>
                <a:gd name="T35" fmla="*/ 654 w 654"/>
                <a:gd name="T36" fmla="*/ 582 h 5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4" h="582">
                  <a:moveTo>
                    <a:pt x="480" y="0"/>
                  </a:moveTo>
                  <a:lnTo>
                    <a:pt x="249" y="150"/>
                  </a:lnTo>
                  <a:lnTo>
                    <a:pt x="0" y="300"/>
                  </a:lnTo>
                  <a:lnTo>
                    <a:pt x="66" y="372"/>
                  </a:lnTo>
                  <a:lnTo>
                    <a:pt x="120" y="435"/>
                  </a:lnTo>
                  <a:lnTo>
                    <a:pt x="189" y="582"/>
                  </a:lnTo>
                  <a:lnTo>
                    <a:pt x="360" y="471"/>
                  </a:lnTo>
                  <a:lnTo>
                    <a:pt x="654" y="246"/>
                  </a:lnTo>
                  <a:lnTo>
                    <a:pt x="606" y="153"/>
                  </a:lnTo>
                  <a:lnTo>
                    <a:pt x="543" y="54"/>
                  </a:lnTo>
                  <a:lnTo>
                    <a:pt x="480"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6428" name="Freeform 526"/>
            <p:cNvSpPr>
              <a:spLocks/>
            </p:cNvSpPr>
            <p:nvPr/>
          </p:nvSpPr>
          <p:spPr bwMode="auto">
            <a:xfrm>
              <a:off x="3234" y="1239"/>
              <a:ext cx="555" cy="537"/>
            </a:xfrm>
            <a:custGeom>
              <a:avLst/>
              <a:gdLst>
                <a:gd name="T0" fmla="*/ 423 w 555"/>
                <a:gd name="T1" fmla="*/ 0 h 537"/>
                <a:gd name="T2" fmla="*/ 219 w 555"/>
                <a:gd name="T3" fmla="*/ 144 h 537"/>
                <a:gd name="T4" fmla="*/ 0 w 555"/>
                <a:gd name="T5" fmla="*/ 285 h 537"/>
                <a:gd name="T6" fmla="*/ 66 w 555"/>
                <a:gd name="T7" fmla="*/ 354 h 537"/>
                <a:gd name="T8" fmla="*/ 132 w 555"/>
                <a:gd name="T9" fmla="*/ 447 h 537"/>
                <a:gd name="T10" fmla="*/ 177 w 555"/>
                <a:gd name="T11" fmla="*/ 537 h 537"/>
                <a:gd name="T12" fmla="*/ 312 w 555"/>
                <a:gd name="T13" fmla="*/ 444 h 537"/>
                <a:gd name="T14" fmla="*/ 555 w 555"/>
                <a:gd name="T15" fmla="*/ 240 h 537"/>
                <a:gd name="T16" fmla="*/ 525 w 555"/>
                <a:gd name="T17" fmla="*/ 135 h 537"/>
                <a:gd name="T18" fmla="*/ 504 w 555"/>
                <a:gd name="T19" fmla="*/ 75 h 537"/>
                <a:gd name="T20" fmla="*/ 459 w 555"/>
                <a:gd name="T21" fmla="*/ 36 h 537"/>
                <a:gd name="T22" fmla="*/ 423 w 555"/>
                <a:gd name="T23" fmla="*/ 0 h 5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5"/>
                <a:gd name="T37" fmla="*/ 0 h 537"/>
                <a:gd name="T38" fmla="*/ 555 w 555"/>
                <a:gd name="T39" fmla="*/ 537 h 5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5" h="537">
                  <a:moveTo>
                    <a:pt x="423" y="0"/>
                  </a:moveTo>
                  <a:lnTo>
                    <a:pt x="219" y="144"/>
                  </a:lnTo>
                  <a:lnTo>
                    <a:pt x="0" y="285"/>
                  </a:lnTo>
                  <a:lnTo>
                    <a:pt x="66" y="354"/>
                  </a:lnTo>
                  <a:lnTo>
                    <a:pt x="132" y="447"/>
                  </a:lnTo>
                  <a:lnTo>
                    <a:pt x="177" y="537"/>
                  </a:lnTo>
                  <a:lnTo>
                    <a:pt x="312" y="444"/>
                  </a:lnTo>
                  <a:lnTo>
                    <a:pt x="555" y="240"/>
                  </a:lnTo>
                  <a:lnTo>
                    <a:pt x="525" y="135"/>
                  </a:lnTo>
                  <a:lnTo>
                    <a:pt x="504" y="75"/>
                  </a:lnTo>
                  <a:lnTo>
                    <a:pt x="459" y="36"/>
                  </a:lnTo>
                  <a:lnTo>
                    <a:pt x="42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29" name="Freeform 527"/>
            <p:cNvSpPr>
              <a:spLocks/>
            </p:cNvSpPr>
            <p:nvPr/>
          </p:nvSpPr>
          <p:spPr bwMode="auto">
            <a:xfrm>
              <a:off x="3675" y="1107"/>
              <a:ext cx="204" cy="366"/>
            </a:xfrm>
            <a:custGeom>
              <a:avLst/>
              <a:gdLst>
                <a:gd name="T0" fmla="*/ 165 w 204"/>
                <a:gd name="T1" fmla="*/ 0 h 366"/>
                <a:gd name="T2" fmla="*/ 0 w 204"/>
                <a:gd name="T3" fmla="*/ 123 h 366"/>
                <a:gd name="T4" fmla="*/ 36 w 204"/>
                <a:gd name="T5" fmla="*/ 174 h 366"/>
                <a:gd name="T6" fmla="*/ 75 w 204"/>
                <a:gd name="T7" fmla="*/ 216 h 366"/>
                <a:gd name="T8" fmla="*/ 120 w 204"/>
                <a:gd name="T9" fmla="*/ 366 h 366"/>
                <a:gd name="T10" fmla="*/ 204 w 204"/>
                <a:gd name="T11" fmla="*/ 318 h 366"/>
                <a:gd name="T12" fmla="*/ 165 w 204"/>
                <a:gd name="T13" fmla="*/ 0 h 366"/>
                <a:gd name="T14" fmla="*/ 0 60000 65536"/>
                <a:gd name="T15" fmla="*/ 0 60000 65536"/>
                <a:gd name="T16" fmla="*/ 0 60000 65536"/>
                <a:gd name="T17" fmla="*/ 0 60000 65536"/>
                <a:gd name="T18" fmla="*/ 0 60000 65536"/>
                <a:gd name="T19" fmla="*/ 0 60000 65536"/>
                <a:gd name="T20" fmla="*/ 0 60000 65536"/>
                <a:gd name="T21" fmla="*/ 0 w 204"/>
                <a:gd name="T22" fmla="*/ 0 h 366"/>
                <a:gd name="T23" fmla="*/ 204 w 204"/>
                <a:gd name="T24" fmla="*/ 366 h 3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4" h="366">
                  <a:moveTo>
                    <a:pt x="165" y="0"/>
                  </a:moveTo>
                  <a:lnTo>
                    <a:pt x="0" y="123"/>
                  </a:lnTo>
                  <a:lnTo>
                    <a:pt x="36" y="174"/>
                  </a:lnTo>
                  <a:lnTo>
                    <a:pt x="75" y="216"/>
                  </a:lnTo>
                  <a:lnTo>
                    <a:pt x="120" y="366"/>
                  </a:lnTo>
                  <a:lnTo>
                    <a:pt x="204" y="318"/>
                  </a:lnTo>
                  <a:lnTo>
                    <a:pt x="1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30" name="Freeform 528"/>
            <p:cNvSpPr>
              <a:spLocks/>
            </p:cNvSpPr>
            <p:nvPr/>
          </p:nvSpPr>
          <p:spPr bwMode="auto">
            <a:xfrm>
              <a:off x="1866" y="2505"/>
              <a:ext cx="642" cy="537"/>
            </a:xfrm>
            <a:custGeom>
              <a:avLst/>
              <a:gdLst>
                <a:gd name="T0" fmla="*/ 450 w 642"/>
                <a:gd name="T1" fmla="*/ 0 h 537"/>
                <a:gd name="T2" fmla="*/ 222 w 642"/>
                <a:gd name="T3" fmla="*/ 111 h 537"/>
                <a:gd name="T4" fmla="*/ 0 w 642"/>
                <a:gd name="T5" fmla="*/ 207 h 537"/>
                <a:gd name="T6" fmla="*/ 84 w 642"/>
                <a:gd name="T7" fmla="*/ 537 h 537"/>
                <a:gd name="T8" fmla="*/ 213 w 642"/>
                <a:gd name="T9" fmla="*/ 489 h 537"/>
                <a:gd name="T10" fmla="*/ 366 w 642"/>
                <a:gd name="T11" fmla="*/ 423 h 537"/>
                <a:gd name="T12" fmla="*/ 510 w 642"/>
                <a:gd name="T13" fmla="*/ 351 h 537"/>
                <a:gd name="T14" fmla="*/ 642 w 642"/>
                <a:gd name="T15" fmla="*/ 285 h 537"/>
                <a:gd name="T16" fmla="*/ 579 w 642"/>
                <a:gd name="T17" fmla="*/ 141 h 537"/>
                <a:gd name="T18" fmla="*/ 522 w 642"/>
                <a:gd name="T19" fmla="*/ 69 h 537"/>
                <a:gd name="T20" fmla="*/ 450 w 642"/>
                <a:gd name="T21" fmla="*/ 0 h 5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2"/>
                <a:gd name="T34" fmla="*/ 0 h 537"/>
                <a:gd name="T35" fmla="*/ 642 w 642"/>
                <a:gd name="T36" fmla="*/ 537 h 5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2" h="537">
                  <a:moveTo>
                    <a:pt x="450" y="0"/>
                  </a:moveTo>
                  <a:lnTo>
                    <a:pt x="222" y="111"/>
                  </a:lnTo>
                  <a:lnTo>
                    <a:pt x="0" y="207"/>
                  </a:lnTo>
                  <a:lnTo>
                    <a:pt x="84" y="537"/>
                  </a:lnTo>
                  <a:lnTo>
                    <a:pt x="213" y="489"/>
                  </a:lnTo>
                  <a:lnTo>
                    <a:pt x="366" y="423"/>
                  </a:lnTo>
                  <a:lnTo>
                    <a:pt x="510" y="351"/>
                  </a:lnTo>
                  <a:lnTo>
                    <a:pt x="642" y="285"/>
                  </a:lnTo>
                  <a:lnTo>
                    <a:pt x="579" y="141"/>
                  </a:lnTo>
                  <a:lnTo>
                    <a:pt x="522" y="69"/>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31" name="Freeform 529"/>
            <p:cNvSpPr>
              <a:spLocks/>
            </p:cNvSpPr>
            <p:nvPr/>
          </p:nvSpPr>
          <p:spPr bwMode="auto">
            <a:xfrm>
              <a:off x="2331" y="2238"/>
              <a:ext cx="606" cy="549"/>
            </a:xfrm>
            <a:custGeom>
              <a:avLst/>
              <a:gdLst>
                <a:gd name="T0" fmla="*/ 438 w 606"/>
                <a:gd name="T1" fmla="*/ 0 h 549"/>
                <a:gd name="T2" fmla="*/ 246 w 606"/>
                <a:gd name="T3" fmla="*/ 126 h 549"/>
                <a:gd name="T4" fmla="*/ 0 w 606"/>
                <a:gd name="T5" fmla="*/ 261 h 549"/>
                <a:gd name="T6" fmla="*/ 57 w 606"/>
                <a:gd name="T7" fmla="*/ 324 h 549"/>
                <a:gd name="T8" fmla="*/ 105 w 606"/>
                <a:gd name="T9" fmla="*/ 384 h 549"/>
                <a:gd name="T10" fmla="*/ 153 w 606"/>
                <a:gd name="T11" fmla="*/ 465 h 549"/>
                <a:gd name="T12" fmla="*/ 183 w 606"/>
                <a:gd name="T13" fmla="*/ 549 h 549"/>
                <a:gd name="T14" fmla="*/ 411 w 606"/>
                <a:gd name="T15" fmla="*/ 420 h 549"/>
                <a:gd name="T16" fmla="*/ 606 w 606"/>
                <a:gd name="T17" fmla="*/ 294 h 549"/>
                <a:gd name="T18" fmla="*/ 540 w 606"/>
                <a:gd name="T19" fmla="*/ 147 h 549"/>
                <a:gd name="T20" fmla="*/ 489 w 606"/>
                <a:gd name="T21" fmla="*/ 63 h 549"/>
                <a:gd name="T22" fmla="*/ 438 w 606"/>
                <a:gd name="T23" fmla="*/ 0 h 5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6"/>
                <a:gd name="T37" fmla="*/ 0 h 549"/>
                <a:gd name="T38" fmla="*/ 606 w 606"/>
                <a:gd name="T39" fmla="*/ 549 h 5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6" h="549">
                  <a:moveTo>
                    <a:pt x="438" y="0"/>
                  </a:moveTo>
                  <a:lnTo>
                    <a:pt x="246" y="126"/>
                  </a:lnTo>
                  <a:lnTo>
                    <a:pt x="0" y="261"/>
                  </a:lnTo>
                  <a:lnTo>
                    <a:pt x="57" y="324"/>
                  </a:lnTo>
                  <a:lnTo>
                    <a:pt x="105" y="384"/>
                  </a:lnTo>
                  <a:lnTo>
                    <a:pt x="153" y="465"/>
                  </a:lnTo>
                  <a:lnTo>
                    <a:pt x="183" y="549"/>
                  </a:lnTo>
                  <a:lnTo>
                    <a:pt x="411" y="420"/>
                  </a:lnTo>
                  <a:lnTo>
                    <a:pt x="606" y="294"/>
                  </a:lnTo>
                  <a:lnTo>
                    <a:pt x="540" y="147"/>
                  </a:lnTo>
                  <a:lnTo>
                    <a:pt x="489" y="63"/>
                  </a:lnTo>
                  <a:lnTo>
                    <a:pt x="438"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6432" name="Freeform 530"/>
            <p:cNvSpPr>
              <a:spLocks/>
            </p:cNvSpPr>
            <p:nvPr/>
          </p:nvSpPr>
          <p:spPr bwMode="auto">
            <a:xfrm>
              <a:off x="2775" y="1926"/>
              <a:ext cx="645" cy="597"/>
            </a:xfrm>
            <a:custGeom>
              <a:avLst/>
              <a:gdLst>
                <a:gd name="T0" fmla="*/ 453 w 645"/>
                <a:gd name="T1" fmla="*/ 0 h 597"/>
                <a:gd name="T2" fmla="*/ 231 w 645"/>
                <a:gd name="T3" fmla="*/ 153 h 597"/>
                <a:gd name="T4" fmla="*/ 0 w 645"/>
                <a:gd name="T5" fmla="*/ 306 h 597"/>
                <a:gd name="T6" fmla="*/ 48 w 645"/>
                <a:gd name="T7" fmla="*/ 369 h 597"/>
                <a:gd name="T8" fmla="*/ 93 w 645"/>
                <a:gd name="T9" fmla="*/ 432 h 597"/>
                <a:gd name="T10" fmla="*/ 132 w 645"/>
                <a:gd name="T11" fmla="*/ 507 h 597"/>
                <a:gd name="T12" fmla="*/ 171 w 645"/>
                <a:gd name="T13" fmla="*/ 597 h 597"/>
                <a:gd name="T14" fmla="*/ 411 w 645"/>
                <a:gd name="T15" fmla="*/ 411 h 597"/>
                <a:gd name="T16" fmla="*/ 645 w 645"/>
                <a:gd name="T17" fmla="*/ 216 h 597"/>
                <a:gd name="T18" fmla="*/ 618 w 645"/>
                <a:gd name="T19" fmla="*/ 153 h 597"/>
                <a:gd name="T20" fmla="*/ 567 w 645"/>
                <a:gd name="T21" fmla="*/ 90 h 597"/>
                <a:gd name="T22" fmla="*/ 516 w 645"/>
                <a:gd name="T23" fmla="*/ 39 h 597"/>
                <a:gd name="T24" fmla="*/ 453 w 645"/>
                <a:gd name="T25" fmla="*/ 0 h 5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5"/>
                <a:gd name="T40" fmla="*/ 0 h 597"/>
                <a:gd name="T41" fmla="*/ 645 w 645"/>
                <a:gd name="T42" fmla="*/ 597 h 5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5" h="597">
                  <a:moveTo>
                    <a:pt x="453" y="0"/>
                  </a:moveTo>
                  <a:lnTo>
                    <a:pt x="231" y="153"/>
                  </a:lnTo>
                  <a:lnTo>
                    <a:pt x="0" y="306"/>
                  </a:lnTo>
                  <a:lnTo>
                    <a:pt x="48" y="369"/>
                  </a:lnTo>
                  <a:lnTo>
                    <a:pt x="93" y="432"/>
                  </a:lnTo>
                  <a:lnTo>
                    <a:pt x="132" y="507"/>
                  </a:lnTo>
                  <a:lnTo>
                    <a:pt x="171" y="597"/>
                  </a:lnTo>
                  <a:lnTo>
                    <a:pt x="411" y="411"/>
                  </a:lnTo>
                  <a:lnTo>
                    <a:pt x="645" y="216"/>
                  </a:lnTo>
                  <a:lnTo>
                    <a:pt x="618" y="153"/>
                  </a:lnTo>
                  <a:lnTo>
                    <a:pt x="567" y="90"/>
                  </a:lnTo>
                  <a:lnTo>
                    <a:pt x="516" y="39"/>
                  </a:lnTo>
                  <a:lnTo>
                    <a:pt x="45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33" name="Freeform 531"/>
            <p:cNvSpPr>
              <a:spLocks/>
            </p:cNvSpPr>
            <p:nvPr/>
          </p:nvSpPr>
          <p:spPr bwMode="auto">
            <a:xfrm>
              <a:off x="3240" y="1590"/>
              <a:ext cx="567" cy="546"/>
            </a:xfrm>
            <a:custGeom>
              <a:avLst/>
              <a:gdLst>
                <a:gd name="T0" fmla="*/ 441 w 567"/>
                <a:gd name="T1" fmla="*/ 0 h 546"/>
                <a:gd name="T2" fmla="*/ 237 w 567"/>
                <a:gd name="T3" fmla="*/ 150 h 546"/>
                <a:gd name="T4" fmla="*/ 0 w 567"/>
                <a:gd name="T5" fmla="*/ 330 h 546"/>
                <a:gd name="T6" fmla="*/ 54 w 567"/>
                <a:gd name="T7" fmla="*/ 366 h 546"/>
                <a:gd name="T8" fmla="*/ 117 w 567"/>
                <a:gd name="T9" fmla="*/ 429 h 546"/>
                <a:gd name="T10" fmla="*/ 168 w 567"/>
                <a:gd name="T11" fmla="*/ 492 h 546"/>
                <a:gd name="T12" fmla="*/ 192 w 567"/>
                <a:gd name="T13" fmla="*/ 546 h 546"/>
                <a:gd name="T14" fmla="*/ 369 w 567"/>
                <a:gd name="T15" fmla="*/ 396 h 546"/>
                <a:gd name="T16" fmla="*/ 567 w 567"/>
                <a:gd name="T17" fmla="*/ 204 h 546"/>
                <a:gd name="T18" fmla="*/ 531 w 567"/>
                <a:gd name="T19" fmla="*/ 111 h 546"/>
                <a:gd name="T20" fmla="*/ 483 w 567"/>
                <a:gd name="T21" fmla="*/ 39 h 546"/>
                <a:gd name="T22" fmla="*/ 441 w 567"/>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67"/>
                <a:gd name="T37" fmla="*/ 0 h 546"/>
                <a:gd name="T38" fmla="*/ 567 w 567"/>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67" h="546">
                  <a:moveTo>
                    <a:pt x="441" y="0"/>
                  </a:moveTo>
                  <a:lnTo>
                    <a:pt x="237" y="150"/>
                  </a:lnTo>
                  <a:lnTo>
                    <a:pt x="0" y="330"/>
                  </a:lnTo>
                  <a:lnTo>
                    <a:pt x="54" y="366"/>
                  </a:lnTo>
                  <a:lnTo>
                    <a:pt x="117" y="429"/>
                  </a:lnTo>
                  <a:lnTo>
                    <a:pt x="168" y="492"/>
                  </a:lnTo>
                  <a:lnTo>
                    <a:pt x="192" y="546"/>
                  </a:lnTo>
                  <a:lnTo>
                    <a:pt x="369" y="396"/>
                  </a:lnTo>
                  <a:lnTo>
                    <a:pt x="567" y="204"/>
                  </a:lnTo>
                  <a:lnTo>
                    <a:pt x="531" y="111"/>
                  </a:lnTo>
                  <a:lnTo>
                    <a:pt x="483" y="39"/>
                  </a:lnTo>
                  <a:lnTo>
                    <a:pt x="44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34" name="Freeform 532"/>
            <p:cNvSpPr>
              <a:spLocks/>
            </p:cNvSpPr>
            <p:nvPr/>
          </p:nvSpPr>
          <p:spPr bwMode="auto">
            <a:xfrm>
              <a:off x="3684" y="1434"/>
              <a:ext cx="234" cy="345"/>
            </a:xfrm>
            <a:custGeom>
              <a:avLst/>
              <a:gdLst>
                <a:gd name="T0" fmla="*/ 198 w 234"/>
                <a:gd name="T1" fmla="*/ 0 h 345"/>
                <a:gd name="T2" fmla="*/ 111 w 234"/>
                <a:gd name="T3" fmla="*/ 54 h 345"/>
                <a:gd name="T4" fmla="*/ 0 w 234"/>
                <a:gd name="T5" fmla="*/ 153 h 345"/>
                <a:gd name="T6" fmla="*/ 45 w 234"/>
                <a:gd name="T7" fmla="*/ 192 h 345"/>
                <a:gd name="T8" fmla="*/ 75 w 234"/>
                <a:gd name="T9" fmla="*/ 234 h 345"/>
                <a:gd name="T10" fmla="*/ 129 w 234"/>
                <a:gd name="T11" fmla="*/ 345 h 345"/>
                <a:gd name="T12" fmla="*/ 234 w 234"/>
                <a:gd name="T13" fmla="*/ 252 h 345"/>
                <a:gd name="T14" fmla="*/ 198 w 234"/>
                <a:gd name="T15" fmla="*/ 0 h 345"/>
                <a:gd name="T16" fmla="*/ 0 60000 65536"/>
                <a:gd name="T17" fmla="*/ 0 60000 65536"/>
                <a:gd name="T18" fmla="*/ 0 60000 65536"/>
                <a:gd name="T19" fmla="*/ 0 60000 65536"/>
                <a:gd name="T20" fmla="*/ 0 60000 65536"/>
                <a:gd name="T21" fmla="*/ 0 60000 65536"/>
                <a:gd name="T22" fmla="*/ 0 60000 65536"/>
                <a:gd name="T23" fmla="*/ 0 60000 65536"/>
                <a:gd name="T24" fmla="*/ 0 w 234"/>
                <a:gd name="T25" fmla="*/ 0 h 345"/>
                <a:gd name="T26" fmla="*/ 234 w 234"/>
                <a:gd name="T27" fmla="*/ 345 h 3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4" h="345">
                  <a:moveTo>
                    <a:pt x="198" y="0"/>
                  </a:moveTo>
                  <a:lnTo>
                    <a:pt x="111" y="54"/>
                  </a:lnTo>
                  <a:lnTo>
                    <a:pt x="0" y="153"/>
                  </a:lnTo>
                  <a:lnTo>
                    <a:pt x="45" y="192"/>
                  </a:lnTo>
                  <a:lnTo>
                    <a:pt x="75" y="234"/>
                  </a:lnTo>
                  <a:lnTo>
                    <a:pt x="129" y="345"/>
                  </a:lnTo>
                  <a:lnTo>
                    <a:pt x="234" y="252"/>
                  </a:lnTo>
                  <a:lnTo>
                    <a:pt x="19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35" name="Freeform 533"/>
            <p:cNvSpPr>
              <a:spLocks/>
            </p:cNvSpPr>
            <p:nvPr/>
          </p:nvSpPr>
          <p:spPr bwMode="auto">
            <a:xfrm>
              <a:off x="1956" y="2859"/>
              <a:ext cx="624" cy="555"/>
            </a:xfrm>
            <a:custGeom>
              <a:avLst/>
              <a:gdLst>
                <a:gd name="T0" fmla="*/ 447 w 624"/>
                <a:gd name="T1" fmla="*/ 0 h 555"/>
                <a:gd name="T2" fmla="*/ 222 w 624"/>
                <a:gd name="T3" fmla="*/ 117 h 555"/>
                <a:gd name="T4" fmla="*/ 0 w 624"/>
                <a:gd name="T5" fmla="*/ 198 h 555"/>
                <a:gd name="T6" fmla="*/ 60 w 624"/>
                <a:gd name="T7" fmla="*/ 555 h 555"/>
                <a:gd name="T8" fmla="*/ 213 w 624"/>
                <a:gd name="T9" fmla="*/ 489 h 555"/>
                <a:gd name="T10" fmla="*/ 369 w 624"/>
                <a:gd name="T11" fmla="*/ 408 h 555"/>
                <a:gd name="T12" fmla="*/ 489 w 624"/>
                <a:gd name="T13" fmla="*/ 342 h 555"/>
                <a:gd name="T14" fmla="*/ 624 w 624"/>
                <a:gd name="T15" fmla="*/ 267 h 555"/>
                <a:gd name="T16" fmla="*/ 591 w 624"/>
                <a:gd name="T17" fmla="*/ 162 h 555"/>
                <a:gd name="T18" fmla="*/ 546 w 624"/>
                <a:gd name="T19" fmla="*/ 84 h 555"/>
                <a:gd name="T20" fmla="*/ 495 w 624"/>
                <a:gd name="T21" fmla="*/ 39 h 555"/>
                <a:gd name="T22" fmla="*/ 447 w 624"/>
                <a:gd name="T23" fmla="*/ 0 h 5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4"/>
                <a:gd name="T37" fmla="*/ 0 h 555"/>
                <a:gd name="T38" fmla="*/ 624 w 624"/>
                <a:gd name="T39" fmla="*/ 555 h 5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4" h="555">
                  <a:moveTo>
                    <a:pt x="447" y="0"/>
                  </a:moveTo>
                  <a:lnTo>
                    <a:pt x="222" y="117"/>
                  </a:lnTo>
                  <a:lnTo>
                    <a:pt x="0" y="198"/>
                  </a:lnTo>
                  <a:lnTo>
                    <a:pt x="60" y="555"/>
                  </a:lnTo>
                  <a:lnTo>
                    <a:pt x="213" y="489"/>
                  </a:lnTo>
                  <a:lnTo>
                    <a:pt x="369" y="408"/>
                  </a:lnTo>
                  <a:lnTo>
                    <a:pt x="489" y="342"/>
                  </a:lnTo>
                  <a:lnTo>
                    <a:pt x="624" y="267"/>
                  </a:lnTo>
                  <a:lnTo>
                    <a:pt x="591" y="162"/>
                  </a:lnTo>
                  <a:lnTo>
                    <a:pt x="546" y="84"/>
                  </a:lnTo>
                  <a:lnTo>
                    <a:pt x="495" y="39"/>
                  </a:lnTo>
                  <a:lnTo>
                    <a:pt x="447"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6436" name="Freeform 534"/>
            <p:cNvSpPr>
              <a:spLocks/>
            </p:cNvSpPr>
            <p:nvPr/>
          </p:nvSpPr>
          <p:spPr bwMode="auto">
            <a:xfrm>
              <a:off x="2418" y="2595"/>
              <a:ext cx="576" cy="525"/>
            </a:xfrm>
            <a:custGeom>
              <a:avLst/>
              <a:gdLst>
                <a:gd name="T0" fmla="*/ 450 w 576"/>
                <a:gd name="T1" fmla="*/ 0 h 525"/>
                <a:gd name="T2" fmla="*/ 255 w 576"/>
                <a:gd name="T3" fmla="*/ 120 h 525"/>
                <a:gd name="T4" fmla="*/ 0 w 576"/>
                <a:gd name="T5" fmla="*/ 264 h 525"/>
                <a:gd name="T6" fmla="*/ 66 w 576"/>
                <a:gd name="T7" fmla="*/ 318 h 525"/>
                <a:gd name="T8" fmla="*/ 114 w 576"/>
                <a:gd name="T9" fmla="*/ 378 h 525"/>
                <a:gd name="T10" fmla="*/ 150 w 576"/>
                <a:gd name="T11" fmla="*/ 456 h 525"/>
                <a:gd name="T12" fmla="*/ 171 w 576"/>
                <a:gd name="T13" fmla="*/ 525 h 525"/>
                <a:gd name="T14" fmla="*/ 387 w 576"/>
                <a:gd name="T15" fmla="*/ 369 h 525"/>
                <a:gd name="T16" fmla="*/ 576 w 576"/>
                <a:gd name="T17" fmla="*/ 228 h 525"/>
                <a:gd name="T18" fmla="*/ 549 w 576"/>
                <a:gd name="T19" fmla="*/ 141 h 525"/>
                <a:gd name="T20" fmla="*/ 498 w 576"/>
                <a:gd name="T21" fmla="*/ 57 h 525"/>
                <a:gd name="T22" fmla="*/ 450 w 576"/>
                <a:gd name="T23" fmla="*/ 0 h 5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6"/>
                <a:gd name="T37" fmla="*/ 0 h 525"/>
                <a:gd name="T38" fmla="*/ 576 w 576"/>
                <a:gd name="T39" fmla="*/ 525 h 5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6" h="525">
                  <a:moveTo>
                    <a:pt x="450" y="0"/>
                  </a:moveTo>
                  <a:lnTo>
                    <a:pt x="255" y="120"/>
                  </a:lnTo>
                  <a:lnTo>
                    <a:pt x="0" y="264"/>
                  </a:lnTo>
                  <a:lnTo>
                    <a:pt x="66" y="318"/>
                  </a:lnTo>
                  <a:lnTo>
                    <a:pt x="114" y="378"/>
                  </a:lnTo>
                  <a:lnTo>
                    <a:pt x="150" y="456"/>
                  </a:lnTo>
                  <a:lnTo>
                    <a:pt x="171" y="525"/>
                  </a:lnTo>
                  <a:lnTo>
                    <a:pt x="387" y="369"/>
                  </a:lnTo>
                  <a:lnTo>
                    <a:pt x="576" y="228"/>
                  </a:lnTo>
                  <a:lnTo>
                    <a:pt x="549" y="141"/>
                  </a:lnTo>
                  <a:lnTo>
                    <a:pt x="498" y="57"/>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37" name="Freeform 535"/>
            <p:cNvSpPr>
              <a:spLocks/>
            </p:cNvSpPr>
            <p:nvPr/>
          </p:nvSpPr>
          <p:spPr bwMode="auto">
            <a:xfrm>
              <a:off x="2880" y="2301"/>
              <a:ext cx="522" cy="519"/>
            </a:xfrm>
            <a:custGeom>
              <a:avLst/>
              <a:gdLst>
                <a:gd name="T0" fmla="*/ 375 w 522"/>
                <a:gd name="T1" fmla="*/ 0 h 519"/>
                <a:gd name="T2" fmla="*/ 219 w 522"/>
                <a:gd name="T3" fmla="*/ 120 h 519"/>
                <a:gd name="T4" fmla="*/ 0 w 522"/>
                <a:gd name="T5" fmla="*/ 285 h 519"/>
                <a:gd name="T6" fmla="*/ 33 w 522"/>
                <a:gd name="T7" fmla="*/ 330 h 519"/>
                <a:gd name="T8" fmla="*/ 84 w 522"/>
                <a:gd name="T9" fmla="*/ 393 h 519"/>
                <a:gd name="T10" fmla="*/ 108 w 522"/>
                <a:gd name="T11" fmla="*/ 453 h 519"/>
                <a:gd name="T12" fmla="*/ 126 w 522"/>
                <a:gd name="T13" fmla="*/ 519 h 519"/>
                <a:gd name="T14" fmla="*/ 330 w 522"/>
                <a:gd name="T15" fmla="*/ 354 h 519"/>
                <a:gd name="T16" fmla="*/ 522 w 522"/>
                <a:gd name="T17" fmla="*/ 183 h 519"/>
                <a:gd name="T18" fmla="*/ 489 w 522"/>
                <a:gd name="T19" fmla="*/ 120 h 519"/>
                <a:gd name="T20" fmla="*/ 468 w 522"/>
                <a:gd name="T21" fmla="*/ 84 h 519"/>
                <a:gd name="T22" fmla="*/ 444 w 522"/>
                <a:gd name="T23" fmla="*/ 54 h 519"/>
                <a:gd name="T24" fmla="*/ 375 w 522"/>
                <a:gd name="T25" fmla="*/ 0 h 5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2"/>
                <a:gd name="T40" fmla="*/ 0 h 519"/>
                <a:gd name="T41" fmla="*/ 522 w 522"/>
                <a:gd name="T42" fmla="*/ 519 h 5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2" h="519">
                  <a:moveTo>
                    <a:pt x="375" y="0"/>
                  </a:moveTo>
                  <a:lnTo>
                    <a:pt x="219" y="120"/>
                  </a:lnTo>
                  <a:lnTo>
                    <a:pt x="0" y="285"/>
                  </a:lnTo>
                  <a:lnTo>
                    <a:pt x="33" y="330"/>
                  </a:lnTo>
                  <a:lnTo>
                    <a:pt x="84" y="393"/>
                  </a:lnTo>
                  <a:lnTo>
                    <a:pt x="108" y="453"/>
                  </a:lnTo>
                  <a:lnTo>
                    <a:pt x="126" y="519"/>
                  </a:lnTo>
                  <a:lnTo>
                    <a:pt x="330" y="354"/>
                  </a:lnTo>
                  <a:lnTo>
                    <a:pt x="522" y="183"/>
                  </a:lnTo>
                  <a:lnTo>
                    <a:pt x="489" y="120"/>
                  </a:lnTo>
                  <a:lnTo>
                    <a:pt x="468" y="84"/>
                  </a:lnTo>
                  <a:lnTo>
                    <a:pt x="444" y="54"/>
                  </a:lnTo>
                  <a:lnTo>
                    <a:pt x="375"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6438" name="Freeform 536"/>
            <p:cNvSpPr>
              <a:spLocks/>
            </p:cNvSpPr>
            <p:nvPr/>
          </p:nvSpPr>
          <p:spPr bwMode="auto">
            <a:xfrm>
              <a:off x="3258" y="1959"/>
              <a:ext cx="519" cy="510"/>
            </a:xfrm>
            <a:custGeom>
              <a:avLst/>
              <a:gdLst>
                <a:gd name="T0" fmla="*/ 399 w 519"/>
                <a:gd name="T1" fmla="*/ 0 h 510"/>
                <a:gd name="T2" fmla="*/ 237 w 519"/>
                <a:gd name="T3" fmla="*/ 153 h 510"/>
                <a:gd name="T4" fmla="*/ 0 w 519"/>
                <a:gd name="T5" fmla="*/ 333 h 510"/>
                <a:gd name="T6" fmla="*/ 54 w 519"/>
                <a:gd name="T7" fmla="*/ 369 h 510"/>
                <a:gd name="T8" fmla="*/ 87 w 519"/>
                <a:gd name="T9" fmla="*/ 402 h 510"/>
                <a:gd name="T10" fmla="*/ 111 w 519"/>
                <a:gd name="T11" fmla="*/ 441 h 510"/>
                <a:gd name="T12" fmla="*/ 147 w 519"/>
                <a:gd name="T13" fmla="*/ 510 h 510"/>
                <a:gd name="T14" fmla="*/ 333 w 519"/>
                <a:gd name="T15" fmla="*/ 342 h 510"/>
                <a:gd name="T16" fmla="*/ 519 w 519"/>
                <a:gd name="T17" fmla="*/ 156 h 510"/>
                <a:gd name="T18" fmla="*/ 498 w 519"/>
                <a:gd name="T19" fmla="*/ 84 h 510"/>
                <a:gd name="T20" fmla="*/ 453 w 519"/>
                <a:gd name="T21" fmla="*/ 42 h 510"/>
                <a:gd name="T22" fmla="*/ 399 w 519"/>
                <a:gd name="T23" fmla="*/ 0 h 5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19"/>
                <a:gd name="T37" fmla="*/ 0 h 510"/>
                <a:gd name="T38" fmla="*/ 519 w 519"/>
                <a:gd name="T39" fmla="*/ 510 h 5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19" h="510">
                  <a:moveTo>
                    <a:pt x="399" y="0"/>
                  </a:moveTo>
                  <a:lnTo>
                    <a:pt x="237" y="153"/>
                  </a:lnTo>
                  <a:lnTo>
                    <a:pt x="0" y="333"/>
                  </a:lnTo>
                  <a:lnTo>
                    <a:pt x="54" y="369"/>
                  </a:lnTo>
                  <a:lnTo>
                    <a:pt x="87" y="402"/>
                  </a:lnTo>
                  <a:lnTo>
                    <a:pt x="111" y="441"/>
                  </a:lnTo>
                  <a:lnTo>
                    <a:pt x="147" y="510"/>
                  </a:lnTo>
                  <a:lnTo>
                    <a:pt x="333" y="342"/>
                  </a:lnTo>
                  <a:lnTo>
                    <a:pt x="519" y="156"/>
                  </a:lnTo>
                  <a:lnTo>
                    <a:pt x="498" y="84"/>
                  </a:lnTo>
                  <a:lnTo>
                    <a:pt x="453" y="42"/>
                  </a:lnTo>
                  <a:lnTo>
                    <a:pt x="39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39" name="Freeform 537"/>
            <p:cNvSpPr>
              <a:spLocks/>
            </p:cNvSpPr>
            <p:nvPr/>
          </p:nvSpPr>
          <p:spPr bwMode="auto">
            <a:xfrm>
              <a:off x="3663" y="1707"/>
              <a:ext cx="276" cy="399"/>
            </a:xfrm>
            <a:custGeom>
              <a:avLst/>
              <a:gdLst>
                <a:gd name="T0" fmla="*/ 246 w 276"/>
                <a:gd name="T1" fmla="*/ 0 h 399"/>
                <a:gd name="T2" fmla="*/ 117 w 276"/>
                <a:gd name="T3" fmla="*/ 132 h 399"/>
                <a:gd name="T4" fmla="*/ 60 w 276"/>
                <a:gd name="T5" fmla="*/ 183 h 399"/>
                <a:gd name="T6" fmla="*/ 0 w 276"/>
                <a:gd name="T7" fmla="*/ 243 h 399"/>
                <a:gd name="T8" fmla="*/ 54 w 276"/>
                <a:gd name="T9" fmla="*/ 285 h 399"/>
                <a:gd name="T10" fmla="*/ 87 w 276"/>
                <a:gd name="T11" fmla="*/ 315 h 399"/>
                <a:gd name="T12" fmla="*/ 123 w 276"/>
                <a:gd name="T13" fmla="*/ 399 h 399"/>
                <a:gd name="T14" fmla="*/ 276 w 276"/>
                <a:gd name="T15" fmla="*/ 255 h 399"/>
                <a:gd name="T16" fmla="*/ 246 w 276"/>
                <a:gd name="T17" fmla="*/ 0 h 3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6"/>
                <a:gd name="T28" fmla="*/ 0 h 399"/>
                <a:gd name="T29" fmla="*/ 276 w 276"/>
                <a:gd name="T30" fmla="*/ 399 h 3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6" h="399">
                  <a:moveTo>
                    <a:pt x="246" y="0"/>
                  </a:moveTo>
                  <a:lnTo>
                    <a:pt x="117" y="132"/>
                  </a:lnTo>
                  <a:lnTo>
                    <a:pt x="60" y="183"/>
                  </a:lnTo>
                  <a:lnTo>
                    <a:pt x="0" y="243"/>
                  </a:lnTo>
                  <a:lnTo>
                    <a:pt x="54" y="285"/>
                  </a:lnTo>
                  <a:lnTo>
                    <a:pt x="87" y="315"/>
                  </a:lnTo>
                  <a:lnTo>
                    <a:pt x="123" y="399"/>
                  </a:lnTo>
                  <a:lnTo>
                    <a:pt x="276" y="255"/>
                  </a:lnTo>
                  <a:lnTo>
                    <a:pt x="24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40" name="Freeform 538"/>
            <p:cNvSpPr>
              <a:spLocks/>
            </p:cNvSpPr>
            <p:nvPr/>
          </p:nvSpPr>
          <p:spPr bwMode="auto">
            <a:xfrm>
              <a:off x="2016" y="3261"/>
              <a:ext cx="483" cy="492"/>
            </a:xfrm>
            <a:custGeom>
              <a:avLst/>
              <a:gdLst>
                <a:gd name="T0" fmla="*/ 366 w 483"/>
                <a:gd name="T1" fmla="*/ 0 h 492"/>
                <a:gd name="T2" fmla="*/ 204 w 483"/>
                <a:gd name="T3" fmla="*/ 78 h 492"/>
                <a:gd name="T4" fmla="*/ 0 w 483"/>
                <a:gd name="T5" fmla="*/ 171 h 492"/>
                <a:gd name="T6" fmla="*/ 18 w 483"/>
                <a:gd name="T7" fmla="*/ 492 h 492"/>
                <a:gd name="T8" fmla="*/ 168 w 483"/>
                <a:gd name="T9" fmla="*/ 396 h 492"/>
                <a:gd name="T10" fmla="*/ 297 w 483"/>
                <a:gd name="T11" fmla="*/ 303 h 492"/>
                <a:gd name="T12" fmla="*/ 393 w 483"/>
                <a:gd name="T13" fmla="*/ 231 h 492"/>
                <a:gd name="T14" fmla="*/ 483 w 483"/>
                <a:gd name="T15" fmla="*/ 168 h 492"/>
                <a:gd name="T16" fmla="*/ 450 w 483"/>
                <a:gd name="T17" fmla="*/ 108 h 492"/>
                <a:gd name="T18" fmla="*/ 432 w 483"/>
                <a:gd name="T19" fmla="*/ 84 h 492"/>
                <a:gd name="T20" fmla="*/ 405 w 483"/>
                <a:gd name="T21" fmla="*/ 45 h 492"/>
                <a:gd name="T22" fmla="*/ 366 w 483"/>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3"/>
                <a:gd name="T37" fmla="*/ 0 h 492"/>
                <a:gd name="T38" fmla="*/ 483 w 483"/>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3" h="492">
                  <a:moveTo>
                    <a:pt x="366" y="0"/>
                  </a:moveTo>
                  <a:lnTo>
                    <a:pt x="204" y="78"/>
                  </a:lnTo>
                  <a:lnTo>
                    <a:pt x="0" y="171"/>
                  </a:lnTo>
                  <a:lnTo>
                    <a:pt x="18" y="492"/>
                  </a:lnTo>
                  <a:lnTo>
                    <a:pt x="168" y="396"/>
                  </a:lnTo>
                  <a:lnTo>
                    <a:pt x="297" y="303"/>
                  </a:lnTo>
                  <a:lnTo>
                    <a:pt x="393" y="231"/>
                  </a:lnTo>
                  <a:lnTo>
                    <a:pt x="483" y="168"/>
                  </a:lnTo>
                  <a:lnTo>
                    <a:pt x="450" y="108"/>
                  </a:lnTo>
                  <a:lnTo>
                    <a:pt x="432" y="84"/>
                  </a:lnTo>
                  <a:lnTo>
                    <a:pt x="405" y="45"/>
                  </a:lnTo>
                  <a:lnTo>
                    <a:pt x="36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41" name="Freeform 539"/>
            <p:cNvSpPr>
              <a:spLocks/>
            </p:cNvSpPr>
            <p:nvPr/>
          </p:nvSpPr>
          <p:spPr bwMode="auto">
            <a:xfrm>
              <a:off x="2388" y="2985"/>
              <a:ext cx="504" cy="441"/>
            </a:xfrm>
            <a:custGeom>
              <a:avLst/>
              <a:gdLst>
                <a:gd name="T0" fmla="*/ 411 w 504"/>
                <a:gd name="T1" fmla="*/ 0 h 441"/>
                <a:gd name="T2" fmla="*/ 255 w 504"/>
                <a:gd name="T3" fmla="*/ 114 h 441"/>
                <a:gd name="T4" fmla="*/ 0 w 504"/>
                <a:gd name="T5" fmla="*/ 270 h 441"/>
                <a:gd name="T6" fmla="*/ 42 w 504"/>
                <a:gd name="T7" fmla="*/ 312 h 441"/>
                <a:gd name="T8" fmla="*/ 66 w 504"/>
                <a:gd name="T9" fmla="*/ 348 h 441"/>
                <a:gd name="T10" fmla="*/ 87 w 504"/>
                <a:gd name="T11" fmla="*/ 375 h 441"/>
                <a:gd name="T12" fmla="*/ 111 w 504"/>
                <a:gd name="T13" fmla="*/ 441 h 441"/>
                <a:gd name="T14" fmla="*/ 318 w 504"/>
                <a:gd name="T15" fmla="*/ 306 h 441"/>
                <a:gd name="T16" fmla="*/ 504 w 504"/>
                <a:gd name="T17" fmla="*/ 147 h 441"/>
                <a:gd name="T18" fmla="*/ 471 w 504"/>
                <a:gd name="T19" fmla="*/ 87 h 441"/>
                <a:gd name="T20" fmla="*/ 450 w 504"/>
                <a:gd name="T21" fmla="*/ 51 h 441"/>
                <a:gd name="T22" fmla="*/ 411 w 504"/>
                <a:gd name="T23" fmla="*/ 0 h 4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4"/>
                <a:gd name="T37" fmla="*/ 0 h 441"/>
                <a:gd name="T38" fmla="*/ 504 w 504"/>
                <a:gd name="T39" fmla="*/ 441 h 4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4" h="441">
                  <a:moveTo>
                    <a:pt x="411" y="0"/>
                  </a:moveTo>
                  <a:lnTo>
                    <a:pt x="255" y="114"/>
                  </a:lnTo>
                  <a:lnTo>
                    <a:pt x="0" y="270"/>
                  </a:lnTo>
                  <a:lnTo>
                    <a:pt x="42" y="312"/>
                  </a:lnTo>
                  <a:lnTo>
                    <a:pt x="66" y="348"/>
                  </a:lnTo>
                  <a:lnTo>
                    <a:pt x="87" y="375"/>
                  </a:lnTo>
                  <a:lnTo>
                    <a:pt x="111" y="441"/>
                  </a:lnTo>
                  <a:lnTo>
                    <a:pt x="318" y="306"/>
                  </a:lnTo>
                  <a:lnTo>
                    <a:pt x="504" y="147"/>
                  </a:lnTo>
                  <a:lnTo>
                    <a:pt x="471" y="87"/>
                  </a:lnTo>
                  <a:lnTo>
                    <a:pt x="450" y="51"/>
                  </a:lnTo>
                  <a:lnTo>
                    <a:pt x="41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42" name="Freeform 540"/>
            <p:cNvSpPr>
              <a:spLocks/>
            </p:cNvSpPr>
            <p:nvPr/>
          </p:nvSpPr>
          <p:spPr bwMode="auto">
            <a:xfrm>
              <a:off x="2805" y="2694"/>
              <a:ext cx="492" cy="441"/>
            </a:xfrm>
            <a:custGeom>
              <a:avLst/>
              <a:gdLst>
                <a:gd name="T0" fmla="*/ 375 w 492"/>
                <a:gd name="T1" fmla="*/ 0 h 441"/>
                <a:gd name="T2" fmla="*/ 219 w 492"/>
                <a:gd name="T3" fmla="*/ 120 h 441"/>
                <a:gd name="T4" fmla="*/ 0 w 492"/>
                <a:gd name="T5" fmla="*/ 285 h 441"/>
                <a:gd name="T6" fmla="*/ 33 w 492"/>
                <a:gd name="T7" fmla="*/ 330 h 441"/>
                <a:gd name="T8" fmla="*/ 63 w 492"/>
                <a:gd name="T9" fmla="*/ 366 h 441"/>
                <a:gd name="T10" fmla="*/ 78 w 492"/>
                <a:gd name="T11" fmla="*/ 390 h 441"/>
                <a:gd name="T12" fmla="*/ 99 w 492"/>
                <a:gd name="T13" fmla="*/ 441 h 441"/>
                <a:gd name="T14" fmla="*/ 288 w 492"/>
                <a:gd name="T15" fmla="*/ 300 h 441"/>
                <a:gd name="T16" fmla="*/ 492 w 492"/>
                <a:gd name="T17" fmla="*/ 123 h 441"/>
                <a:gd name="T18" fmla="*/ 459 w 492"/>
                <a:gd name="T19" fmla="*/ 69 h 441"/>
                <a:gd name="T20" fmla="*/ 441 w 492"/>
                <a:gd name="T21" fmla="*/ 45 h 441"/>
                <a:gd name="T22" fmla="*/ 417 w 492"/>
                <a:gd name="T23" fmla="*/ 30 h 441"/>
                <a:gd name="T24" fmla="*/ 375 w 492"/>
                <a:gd name="T25" fmla="*/ 0 h 4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2"/>
                <a:gd name="T40" fmla="*/ 0 h 441"/>
                <a:gd name="T41" fmla="*/ 492 w 492"/>
                <a:gd name="T42" fmla="*/ 441 h 4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2" h="441">
                  <a:moveTo>
                    <a:pt x="375" y="0"/>
                  </a:moveTo>
                  <a:lnTo>
                    <a:pt x="219" y="120"/>
                  </a:lnTo>
                  <a:lnTo>
                    <a:pt x="0" y="285"/>
                  </a:lnTo>
                  <a:lnTo>
                    <a:pt x="33" y="330"/>
                  </a:lnTo>
                  <a:lnTo>
                    <a:pt x="63" y="366"/>
                  </a:lnTo>
                  <a:lnTo>
                    <a:pt x="78" y="390"/>
                  </a:lnTo>
                  <a:lnTo>
                    <a:pt x="99" y="441"/>
                  </a:lnTo>
                  <a:lnTo>
                    <a:pt x="288" y="300"/>
                  </a:lnTo>
                  <a:lnTo>
                    <a:pt x="492" y="123"/>
                  </a:lnTo>
                  <a:lnTo>
                    <a:pt x="459" y="69"/>
                  </a:lnTo>
                  <a:lnTo>
                    <a:pt x="441" y="45"/>
                  </a:lnTo>
                  <a:lnTo>
                    <a:pt x="417" y="30"/>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43" name="Freeform 541"/>
            <p:cNvSpPr>
              <a:spLocks/>
            </p:cNvSpPr>
            <p:nvPr/>
          </p:nvSpPr>
          <p:spPr bwMode="auto">
            <a:xfrm>
              <a:off x="3189" y="2343"/>
              <a:ext cx="507" cy="465"/>
            </a:xfrm>
            <a:custGeom>
              <a:avLst/>
              <a:gdLst>
                <a:gd name="T0" fmla="*/ 375 w 507"/>
                <a:gd name="T1" fmla="*/ 0 h 465"/>
                <a:gd name="T2" fmla="*/ 219 w 507"/>
                <a:gd name="T3" fmla="*/ 147 h 465"/>
                <a:gd name="T4" fmla="*/ 90 w 507"/>
                <a:gd name="T5" fmla="*/ 264 h 465"/>
                <a:gd name="T6" fmla="*/ 0 w 507"/>
                <a:gd name="T7" fmla="*/ 339 h 465"/>
                <a:gd name="T8" fmla="*/ 45 w 507"/>
                <a:gd name="T9" fmla="*/ 375 h 465"/>
                <a:gd name="T10" fmla="*/ 75 w 507"/>
                <a:gd name="T11" fmla="*/ 399 h 465"/>
                <a:gd name="T12" fmla="*/ 96 w 507"/>
                <a:gd name="T13" fmla="*/ 423 h 465"/>
                <a:gd name="T14" fmla="*/ 114 w 507"/>
                <a:gd name="T15" fmla="*/ 465 h 465"/>
                <a:gd name="T16" fmla="*/ 306 w 507"/>
                <a:gd name="T17" fmla="*/ 309 h 465"/>
                <a:gd name="T18" fmla="*/ 507 w 507"/>
                <a:gd name="T19" fmla="*/ 129 h 465"/>
                <a:gd name="T20" fmla="*/ 465 w 507"/>
                <a:gd name="T21" fmla="*/ 63 h 465"/>
                <a:gd name="T22" fmla="*/ 423 w 507"/>
                <a:gd name="T23" fmla="*/ 24 h 465"/>
                <a:gd name="T24" fmla="*/ 375 w 507"/>
                <a:gd name="T25" fmla="*/ 0 h 4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7"/>
                <a:gd name="T40" fmla="*/ 0 h 465"/>
                <a:gd name="T41" fmla="*/ 507 w 507"/>
                <a:gd name="T42" fmla="*/ 465 h 4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7" h="465">
                  <a:moveTo>
                    <a:pt x="375" y="0"/>
                  </a:moveTo>
                  <a:lnTo>
                    <a:pt x="219" y="147"/>
                  </a:lnTo>
                  <a:lnTo>
                    <a:pt x="90" y="264"/>
                  </a:lnTo>
                  <a:lnTo>
                    <a:pt x="0" y="339"/>
                  </a:lnTo>
                  <a:lnTo>
                    <a:pt x="45" y="375"/>
                  </a:lnTo>
                  <a:lnTo>
                    <a:pt x="75" y="399"/>
                  </a:lnTo>
                  <a:lnTo>
                    <a:pt x="96" y="423"/>
                  </a:lnTo>
                  <a:lnTo>
                    <a:pt x="114" y="465"/>
                  </a:lnTo>
                  <a:lnTo>
                    <a:pt x="306" y="309"/>
                  </a:lnTo>
                  <a:lnTo>
                    <a:pt x="507" y="129"/>
                  </a:lnTo>
                  <a:lnTo>
                    <a:pt x="465" y="63"/>
                  </a:lnTo>
                  <a:lnTo>
                    <a:pt x="423" y="24"/>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44" name="Freeform 542"/>
            <p:cNvSpPr>
              <a:spLocks/>
            </p:cNvSpPr>
            <p:nvPr/>
          </p:nvSpPr>
          <p:spPr bwMode="auto">
            <a:xfrm>
              <a:off x="3570" y="1968"/>
              <a:ext cx="387" cy="507"/>
            </a:xfrm>
            <a:custGeom>
              <a:avLst/>
              <a:gdLst>
                <a:gd name="T0" fmla="*/ 378 w 387"/>
                <a:gd name="T1" fmla="*/ 0 h 507"/>
                <a:gd name="T2" fmla="*/ 240 w 387"/>
                <a:gd name="T3" fmla="*/ 132 h 507"/>
                <a:gd name="T4" fmla="*/ 132 w 387"/>
                <a:gd name="T5" fmla="*/ 240 h 507"/>
                <a:gd name="T6" fmla="*/ 0 w 387"/>
                <a:gd name="T7" fmla="*/ 369 h 507"/>
                <a:gd name="T8" fmla="*/ 63 w 387"/>
                <a:gd name="T9" fmla="*/ 405 h 507"/>
                <a:gd name="T10" fmla="*/ 99 w 387"/>
                <a:gd name="T11" fmla="*/ 435 h 507"/>
                <a:gd name="T12" fmla="*/ 132 w 387"/>
                <a:gd name="T13" fmla="*/ 507 h 507"/>
                <a:gd name="T14" fmla="*/ 387 w 387"/>
                <a:gd name="T15" fmla="*/ 249 h 507"/>
                <a:gd name="T16" fmla="*/ 378 w 387"/>
                <a:gd name="T17" fmla="*/ 0 h 5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507"/>
                <a:gd name="T29" fmla="*/ 387 w 387"/>
                <a:gd name="T30" fmla="*/ 507 h 5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507">
                  <a:moveTo>
                    <a:pt x="378" y="0"/>
                  </a:moveTo>
                  <a:lnTo>
                    <a:pt x="240" y="132"/>
                  </a:lnTo>
                  <a:lnTo>
                    <a:pt x="132" y="240"/>
                  </a:lnTo>
                  <a:lnTo>
                    <a:pt x="0" y="369"/>
                  </a:lnTo>
                  <a:lnTo>
                    <a:pt x="63" y="405"/>
                  </a:lnTo>
                  <a:lnTo>
                    <a:pt x="99" y="435"/>
                  </a:lnTo>
                  <a:lnTo>
                    <a:pt x="132" y="507"/>
                  </a:lnTo>
                  <a:lnTo>
                    <a:pt x="387" y="249"/>
                  </a:lnTo>
                  <a:lnTo>
                    <a:pt x="37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6445" name="Freeform 543"/>
            <p:cNvSpPr>
              <a:spLocks/>
            </p:cNvSpPr>
            <p:nvPr/>
          </p:nvSpPr>
          <p:spPr bwMode="auto">
            <a:xfrm>
              <a:off x="1676" y="3350"/>
              <a:ext cx="340" cy="394"/>
            </a:xfrm>
            <a:custGeom>
              <a:avLst/>
              <a:gdLst>
                <a:gd name="T0" fmla="*/ 340 w 340"/>
                <a:gd name="T1" fmla="*/ 394 h 394"/>
                <a:gd name="T2" fmla="*/ 8 w 340"/>
                <a:gd name="T3" fmla="*/ 236 h 394"/>
                <a:gd name="T4" fmla="*/ 4 w 340"/>
                <a:gd name="T5" fmla="*/ 114 h 394"/>
                <a:gd name="T6" fmla="*/ 0 w 340"/>
                <a:gd name="T7" fmla="*/ 0 h 394"/>
                <a:gd name="T8" fmla="*/ 90 w 340"/>
                <a:gd name="T9" fmla="*/ 14 h 394"/>
                <a:gd name="T10" fmla="*/ 150 w 340"/>
                <a:gd name="T11" fmla="*/ 28 h 394"/>
                <a:gd name="T12" fmla="*/ 258 w 340"/>
                <a:gd name="T13" fmla="*/ 52 h 394"/>
                <a:gd name="T14" fmla="*/ 326 w 340"/>
                <a:gd name="T15" fmla="*/ 72 h 394"/>
                <a:gd name="T16" fmla="*/ 338 w 340"/>
                <a:gd name="T17" fmla="*/ 180 h 394"/>
                <a:gd name="T18" fmla="*/ 340 w 340"/>
                <a:gd name="T19" fmla="*/ 248 h 394"/>
                <a:gd name="T20" fmla="*/ 340 w 340"/>
                <a:gd name="T21" fmla="*/ 316 h 394"/>
                <a:gd name="T22" fmla="*/ 340 w 340"/>
                <a:gd name="T23" fmla="*/ 394 h 3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0"/>
                <a:gd name="T37" fmla="*/ 0 h 394"/>
                <a:gd name="T38" fmla="*/ 340 w 340"/>
                <a:gd name="T39" fmla="*/ 394 h 39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0" h="394">
                  <a:moveTo>
                    <a:pt x="340" y="394"/>
                  </a:moveTo>
                  <a:lnTo>
                    <a:pt x="8" y="236"/>
                  </a:lnTo>
                  <a:lnTo>
                    <a:pt x="4" y="114"/>
                  </a:lnTo>
                  <a:lnTo>
                    <a:pt x="0" y="0"/>
                  </a:lnTo>
                  <a:lnTo>
                    <a:pt x="90" y="14"/>
                  </a:lnTo>
                  <a:lnTo>
                    <a:pt x="150" y="28"/>
                  </a:lnTo>
                  <a:lnTo>
                    <a:pt x="258" y="52"/>
                  </a:lnTo>
                  <a:lnTo>
                    <a:pt x="326" y="72"/>
                  </a:lnTo>
                  <a:lnTo>
                    <a:pt x="338" y="180"/>
                  </a:lnTo>
                  <a:lnTo>
                    <a:pt x="340" y="248"/>
                  </a:lnTo>
                  <a:lnTo>
                    <a:pt x="340" y="316"/>
                  </a:lnTo>
                  <a:lnTo>
                    <a:pt x="340"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446" name="Freeform 544"/>
            <p:cNvSpPr>
              <a:spLocks/>
            </p:cNvSpPr>
            <p:nvPr/>
          </p:nvSpPr>
          <p:spPr bwMode="auto">
            <a:xfrm>
              <a:off x="1626" y="3012"/>
              <a:ext cx="372" cy="394"/>
            </a:xfrm>
            <a:custGeom>
              <a:avLst/>
              <a:gdLst>
                <a:gd name="T0" fmla="*/ 372 w 372"/>
                <a:gd name="T1" fmla="*/ 394 h 394"/>
                <a:gd name="T2" fmla="*/ 190 w 372"/>
                <a:gd name="T3" fmla="*/ 348 h 394"/>
                <a:gd name="T4" fmla="*/ 40 w 372"/>
                <a:gd name="T5" fmla="*/ 318 h 394"/>
                <a:gd name="T6" fmla="*/ 0 w 372"/>
                <a:gd name="T7" fmla="*/ 0 h 394"/>
                <a:gd name="T8" fmla="*/ 76 w 372"/>
                <a:gd name="T9" fmla="*/ 10 h 394"/>
                <a:gd name="T10" fmla="*/ 198 w 372"/>
                <a:gd name="T11" fmla="*/ 22 h 394"/>
                <a:gd name="T12" fmla="*/ 308 w 372"/>
                <a:gd name="T13" fmla="*/ 38 h 394"/>
                <a:gd name="T14" fmla="*/ 340 w 372"/>
                <a:gd name="T15" fmla="*/ 202 h 394"/>
                <a:gd name="T16" fmla="*/ 372 w 372"/>
                <a:gd name="T17" fmla="*/ 394 h 3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2"/>
                <a:gd name="T28" fmla="*/ 0 h 394"/>
                <a:gd name="T29" fmla="*/ 372 w 372"/>
                <a:gd name="T30" fmla="*/ 394 h 3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2" h="394">
                  <a:moveTo>
                    <a:pt x="372" y="394"/>
                  </a:moveTo>
                  <a:lnTo>
                    <a:pt x="190" y="348"/>
                  </a:lnTo>
                  <a:lnTo>
                    <a:pt x="40" y="318"/>
                  </a:lnTo>
                  <a:lnTo>
                    <a:pt x="0" y="0"/>
                  </a:lnTo>
                  <a:lnTo>
                    <a:pt x="76" y="10"/>
                  </a:lnTo>
                  <a:lnTo>
                    <a:pt x="198" y="22"/>
                  </a:lnTo>
                  <a:lnTo>
                    <a:pt x="308" y="38"/>
                  </a:lnTo>
                  <a:lnTo>
                    <a:pt x="340" y="202"/>
                  </a:lnTo>
                  <a:lnTo>
                    <a:pt x="372"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447" name="Freeform 545"/>
            <p:cNvSpPr>
              <a:spLocks/>
            </p:cNvSpPr>
            <p:nvPr/>
          </p:nvSpPr>
          <p:spPr bwMode="auto">
            <a:xfrm>
              <a:off x="1554" y="2698"/>
              <a:ext cx="374" cy="340"/>
            </a:xfrm>
            <a:custGeom>
              <a:avLst/>
              <a:gdLst>
                <a:gd name="T0" fmla="*/ 374 w 374"/>
                <a:gd name="T1" fmla="*/ 340 h 340"/>
                <a:gd name="T2" fmla="*/ 240 w 374"/>
                <a:gd name="T3" fmla="*/ 324 h 340"/>
                <a:gd name="T4" fmla="*/ 68 w 374"/>
                <a:gd name="T5" fmla="*/ 302 h 340"/>
                <a:gd name="T6" fmla="*/ 0 w 374"/>
                <a:gd name="T7" fmla="*/ 0 h 340"/>
                <a:gd name="T8" fmla="*/ 90 w 374"/>
                <a:gd name="T9" fmla="*/ 2 h 340"/>
                <a:gd name="T10" fmla="*/ 174 w 374"/>
                <a:gd name="T11" fmla="*/ 0 h 340"/>
                <a:gd name="T12" fmla="*/ 296 w 374"/>
                <a:gd name="T13" fmla="*/ 14 h 340"/>
                <a:gd name="T14" fmla="*/ 312 w 374"/>
                <a:gd name="T15" fmla="*/ 90 h 340"/>
                <a:gd name="T16" fmla="*/ 354 w 374"/>
                <a:gd name="T17" fmla="*/ 246 h 340"/>
                <a:gd name="T18" fmla="*/ 374 w 374"/>
                <a:gd name="T19" fmla="*/ 340 h 3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340"/>
                <a:gd name="T32" fmla="*/ 374 w 374"/>
                <a:gd name="T33" fmla="*/ 340 h 3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340">
                  <a:moveTo>
                    <a:pt x="374" y="340"/>
                  </a:moveTo>
                  <a:lnTo>
                    <a:pt x="240" y="324"/>
                  </a:lnTo>
                  <a:lnTo>
                    <a:pt x="68" y="302"/>
                  </a:lnTo>
                  <a:lnTo>
                    <a:pt x="0" y="0"/>
                  </a:lnTo>
                  <a:lnTo>
                    <a:pt x="90" y="2"/>
                  </a:lnTo>
                  <a:lnTo>
                    <a:pt x="174" y="0"/>
                  </a:lnTo>
                  <a:lnTo>
                    <a:pt x="296" y="14"/>
                  </a:lnTo>
                  <a:lnTo>
                    <a:pt x="312" y="90"/>
                  </a:lnTo>
                  <a:lnTo>
                    <a:pt x="354" y="246"/>
                  </a:lnTo>
                  <a:lnTo>
                    <a:pt x="374" y="340"/>
                  </a:lnTo>
                  <a:close/>
                </a:path>
              </a:pathLst>
            </a:custGeom>
            <a:gradFill rotWithShape="0">
              <a:gsLst>
                <a:gs pos="0">
                  <a:srgbClr val="CFB2AD"/>
                </a:gs>
                <a:gs pos="100000">
                  <a:srgbClr val="A85656"/>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448" name="Freeform 546"/>
            <p:cNvSpPr>
              <a:spLocks/>
            </p:cNvSpPr>
            <p:nvPr/>
          </p:nvSpPr>
          <p:spPr bwMode="auto">
            <a:xfrm>
              <a:off x="1460" y="2366"/>
              <a:ext cx="388" cy="334"/>
            </a:xfrm>
            <a:custGeom>
              <a:avLst/>
              <a:gdLst>
                <a:gd name="T0" fmla="*/ 388 w 388"/>
                <a:gd name="T1" fmla="*/ 334 h 334"/>
                <a:gd name="T2" fmla="*/ 258 w 388"/>
                <a:gd name="T3" fmla="*/ 320 h 334"/>
                <a:gd name="T4" fmla="*/ 90 w 388"/>
                <a:gd name="T5" fmla="*/ 324 h 334"/>
                <a:gd name="T6" fmla="*/ 0 w 388"/>
                <a:gd name="T7" fmla="*/ 2 h 334"/>
                <a:gd name="T8" fmla="*/ 82 w 388"/>
                <a:gd name="T9" fmla="*/ 2 h 334"/>
                <a:gd name="T10" fmla="*/ 172 w 388"/>
                <a:gd name="T11" fmla="*/ 0 h 334"/>
                <a:gd name="T12" fmla="*/ 288 w 388"/>
                <a:gd name="T13" fmla="*/ 6 h 334"/>
                <a:gd name="T14" fmla="*/ 308 w 388"/>
                <a:gd name="T15" fmla="*/ 80 h 334"/>
                <a:gd name="T16" fmla="*/ 350 w 388"/>
                <a:gd name="T17" fmla="*/ 212 h 334"/>
                <a:gd name="T18" fmla="*/ 388 w 388"/>
                <a:gd name="T19" fmla="*/ 334 h 3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8"/>
                <a:gd name="T31" fmla="*/ 0 h 334"/>
                <a:gd name="T32" fmla="*/ 388 w 388"/>
                <a:gd name="T33" fmla="*/ 334 h 3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8" h="334">
                  <a:moveTo>
                    <a:pt x="388" y="334"/>
                  </a:moveTo>
                  <a:lnTo>
                    <a:pt x="258" y="320"/>
                  </a:lnTo>
                  <a:lnTo>
                    <a:pt x="90" y="324"/>
                  </a:lnTo>
                  <a:lnTo>
                    <a:pt x="0" y="2"/>
                  </a:lnTo>
                  <a:lnTo>
                    <a:pt x="82" y="2"/>
                  </a:lnTo>
                  <a:lnTo>
                    <a:pt x="172" y="0"/>
                  </a:lnTo>
                  <a:lnTo>
                    <a:pt x="288" y="6"/>
                  </a:lnTo>
                  <a:lnTo>
                    <a:pt x="308" y="80"/>
                  </a:lnTo>
                  <a:lnTo>
                    <a:pt x="350" y="212"/>
                  </a:lnTo>
                  <a:lnTo>
                    <a:pt x="388" y="334"/>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449" name="Freeform 547"/>
            <p:cNvSpPr>
              <a:spLocks/>
            </p:cNvSpPr>
            <p:nvPr/>
          </p:nvSpPr>
          <p:spPr bwMode="auto">
            <a:xfrm>
              <a:off x="1344" y="1998"/>
              <a:ext cx="398" cy="358"/>
            </a:xfrm>
            <a:custGeom>
              <a:avLst/>
              <a:gdLst>
                <a:gd name="T0" fmla="*/ 398 w 398"/>
                <a:gd name="T1" fmla="*/ 358 h 358"/>
                <a:gd name="T2" fmla="*/ 272 w 398"/>
                <a:gd name="T3" fmla="*/ 358 h 358"/>
                <a:gd name="T4" fmla="*/ 108 w 398"/>
                <a:gd name="T5" fmla="*/ 356 h 358"/>
                <a:gd name="T6" fmla="*/ 64 w 398"/>
                <a:gd name="T7" fmla="*/ 204 h 358"/>
                <a:gd name="T8" fmla="*/ 0 w 398"/>
                <a:gd name="T9" fmla="*/ 28 h 358"/>
                <a:gd name="T10" fmla="*/ 90 w 398"/>
                <a:gd name="T11" fmla="*/ 24 h 358"/>
                <a:gd name="T12" fmla="*/ 144 w 398"/>
                <a:gd name="T13" fmla="*/ 22 h 358"/>
                <a:gd name="T14" fmla="*/ 212 w 398"/>
                <a:gd name="T15" fmla="*/ 16 h 358"/>
                <a:gd name="T16" fmla="*/ 286 w 398"/>
                <a:gd name="T17" fmla="*/ 0 h 358"/>
                <a:gd name="T18" fmla="*/ 314 w 398"/>
                <a:gd name="T19" fmla="*/ 94 h 358"/>
                <a:gd name="T20" fmla="*/ 356 w 398"/>
                <a:gd name="T21" fmla="*/ 228 h 358"/>
                <a:gd name="T22" fmla="*/ 398 w 398"/>
                <a:gd name="T23" fmla="*/ 358 h 3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8"/>
                <a:gd name="T37" fmla="*/ 0 h 358"/>
                <a:gd name="T38" fmla="*/ 398 w 398"/>
                <a:gd name="T39" fmla="*/ 358 h 3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8" h="358">
                  <a:moveTo>
                    <a:pt x="398" y="358"/>
                  </a:moveTo>
                  <a:lnTo>
                    <a:pt x="272" y="358"/>
                  </a:lnTo>
                  <a:lnTo>
                    <a:pt x="108" y="356"/>
                  </a:lnTo>
                  <a:lnTo>
                    <a:pt x="64" y="204"/>
                  </a:lnTo>
                  <a:lnTo>
                    <a:pt x="0" y="28"/>
                  </a:lnTo>
                  <a:lnTo>
                    <a:pt x="90" y="24"/>
                  </a:lnTo>
                  <a:lnTo>
                    <a:pt x="144" y="22"/>
                  </a:lnTo>
                  <a:lnTo>
                    <a:pt x="212" y="16"/>
                  </a:lnTo>
                  <a:lnTo>
                    <a:pt x="286" y="0"/>
                  </a:lnTo>
                  <a:lnTo>
                    <a:pt x="314" y="94"/>
                  </a:lnTo>
                  <a:lnTo>
                    <a:pt x="356" y="228"/>
                  </a:lnTo>
                  <a:lnTo>
                    <a:pt x="398" y="358"/>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450" name="Freeform 548"/>
            <p:cNvSpPr>
              <a:spLocks/>
            </p:cNvSpPr>
            <p:nvPr/>
          </p:nvSpPr>
          <p:spPr bwMode="auto">
            <a:xfrm>
              <a:off x="1144" y="1522"/>
              <a:ext cx="482" cy="492"/>
            </a:xfrm>
            <a:custGeom>
              <a:avLst/>
              <a:gdLst>
                <a:gd name="T0" fmla="*/ 482 w 482"/>
                <a:gd name="T1" fmla="*/ 468 h 492"/>
                <a:gd name="T2" fmla="*/ 364 w 482"/>
                <a:gd name="T3" fmla="*/ 492 h 492"/>
                <a:gd name="T4" fmla="*/ 198 w 482"/>
                <a:gd name="T5" fmla="*/ 492 h 492"/>
                <a:gd name="T6" fmla="*/ 126 w 482"/>
                <a:gd name="T7" fmla="*/ 292 h 492"/>
                <a:gd name="T8" fmla="*/ 0 w 482"/>
                <a:gd name="T9" fmla="*/ 0 h 492"/>
                <a:gd name="T10" fmla="*/ 122 w 482"/>
                <a:gd name="T11" fmla="*/ 22 h 492"/>
                <a:gd name="T12" fmla="*/ 196 w 482"/>
                <a:gd name="T13" fmla="*/ 34 h 492"/>
                <a:gd name="T14" fmla="*/ 276 w 482"/>
                <a:gd name="T15" fmla="*/ 48 h 492"/>
                <a:gd name="T16" fmla="*/ 328 w 482"/>
                <a:gd name="T17" fmla="*/ 62 h 492"/>
                <a:gd name="T18" fmla="*/ 380 w 482"/>
                <a:gd name="T19" fmla="*/ 198 h 492"/>
                <a:gd name="T20" fmla="*/ 432 w 482"/>
                <a:gd name="T21" fmla="*/ 330 h 492"/>
                <a:gd name="T22" fmla="*/ 482 w 482"/>
                <a:gd name="T23" fmla="*/ 468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2"/>
                <a:gd name="T37" fmla="*/ 0 h 492"/>
                <a:gd name="T38" fmla="*/ 482 w 482"/>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2" h="492">
                  <a:moveTo>
                    <a:pt x="482" y="468"/>
                  </a:moveTo>
                  <a:lnTo>
                    <a:pt x="364" y="492"/>
                  </a:lnTo>
                  <a:lnTo>
                    <a:pt x="198" y="492"/>
                  </a:lnTo>
                  <a:lnTo>
                    <a:pt x="126" y="292"/>
                  </a:lnTo>
                  <a:lnTo>
                    <a:pt x="0" y="0"/>
                  </a:lnTo>
                  <a:lnTo>
                    <a:pt x="122" y="22"/>
                  </a:lnTo>
                  <a:lnTo>
                    <a:pt x="196" y="34"/>
                  </a:lnTo>
                  <a:lnTo>
                    <a:pt x="276" y="48"/>
                  </a:lnTo>
                  <a:lnTo>
                    <a:pt x="328" y="62"/>
                  </a:lnTo>
                  <a:lnTo>
                    <a:pt x="380" y="198"/>
                  </a:lnTo>
                  <a:lnTo>
                    <a:pt x="432" y="330"/>
                  </a:lnTo>
                  <a:lnTo>
                    <a:pt x="482" y="468"/>
                  </a:lnTo>
                  <a:close/>
                </a:path>
              </a:pathLst>
            </a:custGeom>
            <a:gradFill rotWithShape="0">
              <a:gsLst>
                <a:gs pos="0">
                  <a:srgbClr val="E8D9D6"/>
                </a:gs>
                <a:gs pos="100000">
                  <a:srgbClr val="CA989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451" name="Freeform 549"/>
            <p:cNvSpPr>
              <a:spLocks/>
            </p:cNvSpPr>
            <p:nvPr/>
          </p:nvSpPr>
          <p:spPr bwMode="auto">
            <a:xfrm>
              <a:off x="1167" y="1344"/>
              <a:ext cx="837" cy="231"/>
            </a:xfrm>
            <a:custGeom>
              <a:avLst/>
              <a:gdLst>
                <a:gd name="T0" fmla="*/ 0 w 837"/>
                <a:gd name="T1" fmla="*/ 171 h 231"/>
                <a:gd name="T2" fmla="*/ 297 w 837"/>
                <a:gd name="T3" fmla="*/ 231 h 231"/>
                <a:gd name="T4" fmla="*/ 561 w 837"/>
                <a:gd name="T5" fmla="*/ 204 h 231"/>
                <a:gd name="T6" fmla="*/ 837 w 837"/>
                <a:gd name="T7" fmla="*/ 138 h 231"/>
                <a:gd name="T8" fmla="*/ 738 w 837"/>
                <a:gd name="T9" fmla="*/ 75 h 231"/>
                <a:gd name="T10" fmla="*/ 618 w 837"/>
                <a:gd name="T11" fmla="*/ 27 h 231"/>
                <a:gd name="T12" fmla="*/ 513 w 837"/>
                <a:gd name="T13" fmla="*/ 0 h 231"/>
                <a:gd name="T14" fmla="*/ 390 w 837"/>
                <a:gd name="T15" fmla="*/ 45 h 231"/>
                <a:gd name="T16" fmla="*/ 0 w 837"/>
                <a:gd name="T17" fmla="*/ 171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37"/>
                <a:gd name="T28" fmla="*/ 0 h 231"/>
                <a:gd name="T29" fmla="*/ 837 w 837"/>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37" h="231">
                  <a:moveTo>
                    <a:pt x="0" y="171"/>
                  </a:moveTo>
                  <a:lnTo>
                    <a:pt x="297" y="231"/>
                  </a:lnTo>
                  <a:lnTo>
                    <a:pt x="561" y="204"/>
                  </a:lnTo>
                  <a:lnTo>
                    <a:pt x="837" y="138"/>
                  </a:lnTo>
                  <a:lnTo>
                    <a:pt x="738" y="75"/>
                  </a:lnTo>
                  <a:lnTo>
                    <a:pt x="618" y="27"/>
                  </a:lnTo>
                  <a:lnTo>
                    <a:pt x="513" y="0"/>
                  </a:lnTo>
                  <a:lnTo>
                    <a:pt x="390" y="45"/>
                  </a:lnTo>
                  <a:lnTo>
                    <a:pt x="0" y="171"/>
                  </a:lnTo>
                  <a:close/>
                </a:path>
              </a:pathLst>
            </a:custGeom>
            <a:gradFill rotWithShape="0">
              <a:gsLst>
                <a:gs pos="0">
                  <a:srgbClr val="C58D8D"/>
                </a:gs>
                <a:gs pos="100000">
                  <a:srgbClr val="8F5A59"/>
                </a:gs>
              </a:gsLst>
              <a:lin ang="0" scaled="1"/>
            </a:gradFill>
            <a:ln w="12700" cap="flat" cmpd="sng">
              <a:noFill/>
              <a:prstDash val="solid"/>
              <a:round/>
              <a:headEnd type="none" w="sm" len="sm"/>
              <a:tailEnd type="none" w="sm" len="sm"/>
            </a:ln>
          </p:spPr>
          <p:txBody>
            <a:bodyPr wrap="none" anchor="ctr"/>
            <a:lstStyle/>
            <a:p>
              <a:endParaRPr lang="en-US"/>
            </a:p>
          </p:txBody>
        </p:sp>
        <p:sp>
          <p:nvSpPr>
            <p:cNvPr id="16452" name="Freeform 550"/>
            <p:cNvSpPr>
              <a:spLocks/>
            </p:cNvSpPr>
            <p:nvPr/>
          </p:nvSpPr>
          <p:spPr bwMode="auto">
            <a:xfrm>
              <a:off x="1707" y="1128"/>
              <a:ext cx="780" cy="345"/>
            </a:xfrm>
            <a:custGeom>
              <a:avLst/>
              <a:gdLst>
                <a:gd name="T0" fmla="*/ 0 w 780"/>
                <a:gd name="T1" fmla="*/ 207 h 345"/>
                <a:gd name="T2" fmla="*/ 165 w 780"/>
                <a:gd name="T3" fmla="*/ 261 h 345"/>
                <a:gd name="T4" fmla="*/ 318 w 780"/>
                <a:gd name="T5" fmla="*/ 345 h 345"/>
                <a:gd name="T6" fmla="*/ 552 w 780"/>
                <a:gd name="T7" fmla="*/ 255 h 345"/>
                <a:gd name="T8" fmla="*/ 780 w 780"/>
                <a:gd name="T9" fmla="*/ 144 h 345"/>
                <a:gd name="T10" fmla="*/ 705 w 780"/>
                <a:gd name="T11" fmla="*/ 69 h 345"/>
                <a:gd name="T12" fmla="*/ 618 w 780"/>
                <a:gd name="T13" fmla="*/ 30 h 345"/>
                <a:gd name="T14" fmla="*/ 498 w 780"/>
                <a:gd name="T15" fmla="*/ 0 h 345"/>
                <a:gd name="T16" fmla="*/ 384 w 780"/>
                <a:gd name="T17" fmla="*/ 51 h 345"/>
                <a:gd name="T18" fmla="*/ 0 w 780"/>
                <a:gd name="T19" fmla="*/ 207 h 3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0"/>
                <a:gd name="T31" fmla="*/ 0 h 345"/>
                <a:gd name="T32" fmla="*/ 780 w 780"/>
                <a:gd name="T33" fmla="*/ 345 h 3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0" h="345">
                  <a:moveTo>
                    <a:pt x="0" y="207"/>
                  </a:moveTo>
                  <a:lnTo>
                    <a:pt x="165" y="261"/>
                  </a:lnTo>
                  <a:lnTo>
                    <a:pt x="318" y="345"/>
                  </a:lnTo>
                  <a:lnTo>
                    <a:pt x="552" y="255"/>
                  </a:lnTo>
                  <a:lnTo>
                    <a:pt x="780" y="144"/>
                  </a:lnTo>
                  <a:lnTo>
                    <a:pt x="705" y="69"/>
                  </a:lnTo>
                  <a:lnTo>
                    <a:pt x="618" y="30"/>
                  </a:lnTo>
                  <a:lnTo>
                    <a:pt x="498" y="0"/>
                  </a:lnTo>
                  <a:lnTo>
                    <a:pt x="384" y="51"/>
                  </a:lnTo>
                  <a:lnTo>
                    <a:pt x="0" y="207"/>
                  </a:lnTo>
                  <a:close/>
                </a:path>
              </a:pathLst>
            </a:custGeom>
            <a:gradFill rotWithShape="0">
              <a:gsLst>
                <a:gs pos="0">
                  <a:srgbClr val="CA9898"/>
                </a:gs>
                <a:gs pos="100000">
                  <a:srgbClr val="A46F6E"/>
                </a:gs>
              </a:gsLst>
              <a:lin ang="0" scaled="1"/>
            </a:gradFill>
            <a:ln w="12700" cap="flat" cmpd="sng">
              <a:noFill/>
              <a:prstDash val="solid"/>
              <a:round/>
              <a:headEnd type="none" w="sm" len="sm"/>
              <a:tailEnd type="none" w="sm" len="sm"/>
            </a:ln>
          </p:spPr>
          <p:txBody>
            <a:bodyPr wrap="none" anchor="ctr"/>
            <a:lstStyle/>
            <a:p>
              <a:endParaRPr lang="en-US"/>
            </a:p>
          </p:txBody>
        </p:sp>
        <p:sp>
          <p:nvSpPr>
            <p:cNvPr id="16453" name="Freeform 551"/>
            <p:cNvSpPr>
              <a:spLocks/>
            </p:cNvSpPr>
            <p:nvPr/>
          </p:nvSpPr>
          <p:spPr bwMode="auto">
            <a:xfrm>
              <a:off x="2232" y="900"/>
              <a:ext cx="729" cy="363"/>
            </a:xfrm>
            <a:custGeom>
              <a:avLst/>
              <a:gdLst>
                <a:gd name="T0" fmla="*/ 0 w 729"/>
                <a:gd name="T1" fmla="*/ 219 h 363"/>
                <a:gd name="T2" fmla="*/ 141 w 729"/>
                <a:gd name="T3" fmla="*/ 258 h 363"/>
                <a:gd name="T4" fmla="*/ 204 w 729"/>
                <a:gd name="T5" fmla="*/ 300 h 363"/>
                <a:gd name="T6" fmla="*/ 279 w 729"/>
                <a:gd name="T7" fmla="*/ 363 h 363"/>
                <a:gd name="T8" fmla="*/ 507 w 729"/>
                <a:gd name="T9" fmla="*/ 228 h 363"/>
                <a:gd name="T10" fmla="*/ 729 w 729"/>
                <a:gd name="T11" fmla="*/ 96 h 363"/>
                <a:gd name="T12" fmla="*/ 621 w 729"/>
                <a:gd name="T13" fmla="*/ 54 h 363"/>
                <a:gd name="T14" fmla="*/ 531 w 729"/>
                <a:gd name="T15" fmla="*/ 18 h 363"/>
                <a:gd name="T16" fmla="*/ 441 w 729"/>
                <a:gd name="T17" fmla="*/ 0 h 363"/>
                <a:gd name="T18" fmla="*/ 309 w 729"/>
                <a:gd name="T19" fmla="*/ 72 h 363"/>
                <a:gd name="T20" fmla="*/ 0 w 729"/>
                <a:gd name="T21" fmla="*/ 219 h 3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9"/>
                <a:gd name="T34" fmla="*/ 0 h 363"/>
                <a:gd name="T35" fmla="*/ 729 w 729"/>
                <a:gd name="T36" fmla="*/ 363 h 3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9" h="363">
                  <a:moveTo>
                    <a:pt x="0" y="219"/>
                  </a:moveTo>
                  <a:lnTo>
                    <a:pt x="141" y="258"/>
                  </a:lnTo>
                  <a:lnTo>
                    <a:pt x="204" y="300"/>
                  </a:lnTo>
                  <a:lnTo>
                    <a:pt x="279" y="363"/>
                  </a:lnTo>
                  <a:lnTo>
                    <a:pt x="507" y="228"/>
                  </a:lnTo>
                  <a:lnTo>
                    <a:pt x="729" y="96"/>
                  </a:lnTo>
                  <a:lnTo>
                    <a:pt x="621" y="54"/>
                  </a:lnTo>
                  <a:lnTo>
                    <a:pt x="531" y="18"/>
                  </a:lnTo>
                  <a:lnTo>
                    <a:pt x="441" y="0"/>
                  </a:lnTo>
                  <a:lnTo>
                    <a:pt x="309" y="72"/>
                  </a:lnTo>
                  <a:lnTo>
                    <a:pt x="0" y="219"/>
                  </a:lnTo>
                  <a:close/>
                </a:path>
              </a:pathLst>
            </a:custGeom>
            <a:gradFill rotWithShape="0">
              <a:gsLst>
                <a:gs pos="0">
                  <a:srgbClr val="D2A6A6"/>
                </a:gs>
                <a:gs pos="100000">
                  <a:srgbClr val="AE7F7E"/>
                </a:gs>
              </a:gsLst>
              <a:lin ang="2700000" scaled="1"/>
            </a:gradFill>
            <a:ln w="12700" cap="flat" cmpd="sng">
              <a:noFill/>
              <a:prstDash val="solid"/>
              <a:round/>
              <a:headEnd type="none" w="sm" len="sm"/>
              <a:tailEnd type="none" w="sm" len="sm"/>
            </a:ln>
          </p:spPr>
          <p:txBody>
            <a:bodyPr wrap="none" anchor="ctr"/>
            <a:lstStyle/>
            <a:p>
              <a:endParaRPr lang="en-US"/>
            </a:p>
          </p:txBody>
        </p:sp>
        <p:sp>
          <p:nvSpPr>
            <p:cNvPr id="16454" name="Freeform 552"/>
            <p:cNvSpPr>
              <a:spLocks/>
            </p:cNvSpPr>
            <p:nvPr/>
          </p:nvSpPr>
          <p:spPr bwMode="auto">
            <a:xfrm>
              <a:off x="2691" y="642"/>
              <a:ext cx="648" cy="339"/>
            </a:xfrm>
            <a:custGeom>
              <a:avLst/>
              <a:gdLst>
                <a:gd name="T0" fmla="*/ 0 w 648"/>
                <a:gd name="T1" fmla="*/ 246 h 339"/>
                <a:gd name="T2" fmla="*/ 99 w 648"/>
                <a:gd name="T3" fmla="*/ 270 h 339"/>
                <a:gd name="T4" fmla="*/ 183 w 648"/>
                <a:gd name="T5" fmla="*/ 309 h 339"/>
                <a:gd name="T6" fmla="*/ 279 w 648"/>
                <a:gd name="T7" fmla="*/ 339 h 339"/>
                <a:gd name="T8" fmla="*/ 456 w 648"/>
                <a:gd name="T9" fmla="*/ 210 h 339"/>
                <a:gd name="T10" fmla="*/ 648 w 648"/>
                <a:gd name="T11" fmla="*/ 69 h 339"/>
                <a:gd name="T12" fmla="*/ 573 w 648"/>
                <a:gd name="T13" fmla="*/ 45 h 339"/>
                <a:gd name="T14" fmla="*/ 465 w 648"/>
                <a:gd name="T15" fmla="*/ 15 h 339"/>
                <a:gd name="T16" fmla="*/ 372 w 648"/>
                <a:gd name="T17" fmla="*/ 0 h 339"/>
                <a:gd name="T18" fmla="*/ 291 w 648"/>
                <a:gd name="T19" fmla="*/ 72 h 339"/>
                <a:gd name="T20" fmla="*/ 171 w 648"/>
                <a:gd name="T21" fmla="*/ 144 h 339"/>
                <a:gd name="T22" fmla="*/ 0 w 648"/>
                <a:gd name="T23" fmla="*/ 246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339"/>
                <a:gd name="T38" fmla="*/ 648 w 648"/>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339">
                  <a:moveTo>
                    <a:pt x="0" y="246"/>
                  </a:moveTo>
                  <a:lnTo>
                    <a:pt x="99" y="270"/>
                  </a:lnTo>
                  <a:lnTo>
                    <a:pt x="183" y="309"/>
                  </a:lnTo>
                  <a:lnTo>
                    <a:pt x="279" y="339"/>
                  </a:lnTo>
                  <a:lnTo>
                    <a:pt x="456" y="210"/>
                  </a:lnTo>
                  <a:lnTo>
                    <a:pt x="648" y="69"/>
                  </a:lnTo>
                  <a:lnTo>
                    <a:pt x="573" y="45"/>
                  </a:lnTo>
                  <a:lnTo>
                    <a:pt x="465" y="15"/>
                  </a:lnTo>
                  <a:lnTo>
                    <a:pt x="372" y="0"/>
                  </a:lnTo>
                  <a:lnTo>
                    <a:pt x="291" y="72"/>
                  </a:lnTo>
                  <a:lnTo>
                    <a:pt x="171" y="144"/>
                  </a:lnTo>
                  <a:lnTo>
                    <a:pt x="0" y="246"/>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sp>
          <p:nvSpPr>
            <p:cNvPr id="16455" name="Freeform 553"/>
            <p:cNvSpPr>
              <a:spLocks/>
            </p:cNvSpPr>
            <p:nvPr/>
          </p:nvSpPr>
          <p:spPr bwMode="auto">
            <a:xfrm>
              <a:off x="3090" y="330"/>
              <a:ext cx="633" cy="366"/>
            </a:xfrm>
            <a:custGeom>
              <a:avLst/>
              <a:gdLst>
                <a:gd name="T0" fmla="*/ 0 w 633"/>
                <a:gd name="T1" fmla="*/ 297 h 366"/>
                <a:gd name="T2" fmla="*/ 90 w 633"/>
                <a:gd name="T3" fmla="*/ 315 h 366"/>
                <a:gd name="T4" fmla="*/ 198 w 633"/>
                <a:gd name="T5" fmla="*/ 345 h 366"/>
                <a:gd name="T6" fmla="*/ 264 w 633"/>
                <a:gd name="T7" fmla="*/ 366 h 366"/>
                <a:gd name="T8" fmla="*/ 438 w 633"/>
                <a:gd name="T9" fmla="*/ 216 h 366"/>
                <a:gd name="T10" fmla="*/ 633 w 633"/>
                <a:gd name="T11" fmla="*/ 0 h 366"/>
                <a:gd name="T12" fmla="*/ 537 w 633"/>
                <a:gd name="T13" fmla="*/ 15 h 366"/>
                <a:gd name="T14" fmla="*/ 450 w 633"/>
                <a:gd name="T15" fmla="*/ 30 h 366"/>
                <a:gd name="T16" fmla="*/ 345 w 633"/>
                <a:gd name="T17" fmla="*/ 48 h 366"/>
                <a:gd name="T18" fmla="*/ 234 w 633"/>
                <a:gd name="T19" fmla="*/ 69 h 366"/>
                <a:gd name="T20" fmla="*/ 162 w 633"/>
                <a:gd name="T21" fmla="*/ 150 h 366"/>
                <a:gd name="T22" fmla="*/ 0 w 633"/>
                <a:gd name="T23" fmla="*/ 297 h 36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3"/>
                <a:gd name="T37" fmla="*/ 0 h 366"/>
                <a:gd name="T38" fmla="*/ 633 w 633"/>
                <a:gd name="T39" fmla="*/ 366 h 36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3" h="366">
                  <a:moveTo>
                    <a:pt x="0" y="297"/>
                  </a:moveTo>
                  <a:lnTo>
                    <a:pt x="90" y="315"/>
                  </a:lnTo>
                  <a:lnTo>
                    <a:pt x="198" y="345"/>
                  </a:lnTo>
                  <a:lnTo>
                    <a:pt x="264" y="366"/>
                  </a:lnTo>
                  <a:lnTo>
                    <a:pt x="438" y="216"/>
                  </a:lnTo>
                  <a:lnTo>
                    <a:pt x="633" y="0"/>
                  </a:lnTo>
                  <a:lnTo>
                    <a:pt x="537" y="15"/>
                  </a:lnTo>
                  <a:lnTo>
                    <a:pt x="450" y="30"/>
                  </a:lnTo>
                  <a:lnTo>
                    <a:pt x="345" y="48"/>
                  </a:lnTo>
                  <a:lnTo>
                    <a:pt x="234" y="69"/>
                  </a:lnTo>
                  <a:lnTo>
                    <a:pt x="162" y="150"/>
                  </a:lnTo>
                  <a:lnTo>
                    <a:pt x="0" y="297"/>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grpSp>
      <p:sp>
        <p:nvSpPr>
          <p:cNvPr id="16403" name="Text Box 554"/>
          <p:cNvSpPr txBox="1">
            <a:spLocks noChangeArrowheads="1"/>
          </p:cNvSpPr>
          <p:nvPr/>
        </p:nvSpPr>
        <p:spPr bwMode="auto">
          <a:xfrm>
            <a:off x="5867400" y="838200"/>
            <a:ext cx="1276350" cy="641350"/>
          </a:xfrm>
          <a:prstGeom prst="rect">
            <a:avLst/>
          </a:prstGeom>
          <a:noFill/>
          <a:ln w="9525">
            <a:noFill/>
            <a:miter lim="800000"/>
            <a:headEnd/>
            <a:tailEnd/>
          </a:ln>
        </p:spPr>
        <p:txBody>
          <a:bodyPr wrap="none">
            <a:spAutoFit/>
          </a:bodyPr>
          <a:lstStyle/>
          <a:p>
            <a:pPr algn="ctr"/>
            <a:r>
              <a:rPr lang="en-US" altLang="en-US" b="1">
                <a:solidFill>
                  <a:schemeClr val="bg1"/>
                </a:solidFill>
              </a:rPr>
              <a:t>Corporate</a:t>
            </a:r>
          </a:p>
          <a:p>
            <a:pPr algn="ctr"/>
            <a:r>
              <a:rPr lang="en-US" altLang="en-US" b="1">
                <a:solidFill>
                  <a:schemeClr val="bg1"/>
                </a:solidFill>
              </a:rPr>
              <a:t>Site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08618"/>
                                        </p:tgtEl>
                                        <p:attrNameLst>
                                          <p:attrName>style.visibility</p:attrName>
                                        </p:attrNameLst>
                                      </p:cBhvr>
                                      <p:to>
                                        <p:strVal val="visible"/>
                                      </p:to>
                                    </p:set>
                                    <p:animEffect transition="in" filter="wipe(up)">
                                      <p:cBhvr>
                                        <p:cTn id="7" dur="500"/>
                                        <p:tgtEl>
                                          <p:spTgt spid="308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6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Slide Number Placeholder 4"/>
          <p:cNvSpPr>
            <a:spLocks noGrp="1"/>
          </p:cNvSpPr>
          <p:nvPr>
            <p:ph type="sldNum" sz="quarter" idx="10"/>
          </p:nvPr>
        </p:nvSpPr>
        <p:spPr/>
        <p:txBody>
          <a:bodyPr/>
          <a:lstStyle/>
          <a:p>
            <a:pPr>
              <a:defRPr/>
            </a:pPr>
            <a:r>
              <a:rPr lang="en-US" dirty="0"/>
              <a:t>-</a:t>
            </a:r>
            <a:fld id="{4F1F8B7D-1E00-48C5-AD9D-C3F2DA1D4B59}" type="slidenum">
              <a:rPr lang="ar-SA"/>
              <a:pPr>
                <a:defRPr/>
              </a:pPr>
              <a:t>15</a:t>
            </a:fld>
            <a:r>
              <a:rPr lang="en-US" dirty="0"/>
              <a:t>-</a:t>
            </a:r>
            <a:endParaRPr lang="en-US" sz="800" dirty="0">
              <a:effectLst>
                <a:outerShdw blurRad="38100" dist="38100" dir="2700000" algn="tl">
                  <a:srgbClr val="FFFFFF"/>
                </a:outerShdw>
              </a:effectLst>
            </a:endParaRPr>
          </a:p>
        </p:txBody>
      </p:sp>
      <p:grpSp>
        <p:nvGrpSpPr>
          <p:cNvPr id="17411" name="Group 222"/>
          <p:cNvGrpSpPr>
            <a:grpSpLocks/>
          </p:cNvGrpSpPr>
          <p:nvPr/>
        </p:nvGrpSpPr>
        <p:grpSpPr bwMode="auto">
          <a:xfrm>
            <a:off x="5638800" y="3429000"/>
            <a:ext cx="2514600" cy="942975"/>
            <a:chOff x="2371" y="3356"/>
            <a:chExt cx="1152" cy="594"/>
          </a:xfrm>
        </p:grpSpPr>
        <p:grpSp>
          <p:nvGrpSpPr>
            <p:cNvPr id="18130" name="Group 223"/>
            <p:cNvGrpSpPr>
              <a:grpSpLocks/>
            </p:cNvGrpSpPr>
            <p:nvPr/>
          </p:nvGrpSpPr>
          <p:grpSpPr bwMode="auto">
            <a:xfrm>
              <a:off x="2371" y="3356"/>
              <a:ext cx="1152" cy="594"/>
              <a:chOff x="1584" y="699"/>
              <a:chExt cx="2224" cy="1098"/>
            </a:xfrm>
          </p:grpSpPr>
          <p:sp>
            <p:nvSpPr>
              <p:cNvPr id="18132" name="Freeform 224"/>
              <p:cNvSpPr>
                <a:spLocks/>
              </p:cNvSpPr>
              <p:nvPr/>
            </p:nvSpPr>
            <p:spPr bwMode="auto">
              <a:xfrm>
                <a:off x="1588" y="1419"/>
                <a:ext cx="2172" cy="378"/>
              </a:xfrm>
              <a:custGeom>
                <a:avLst/>
                <a:gdLst>
                  <a:gd name="T0" fmla="*/ 0 w 2172"/>
                  <a:gd name="T1" fmla="*/ 60 h 378"/>
                  <a:gd name="T2" fmla="*/ 66 w 2172"/>
                  <a:gd name="T3" fmla="*/ 0 h 378"/>
                  <a:gd name="T4" fmla="*/ 135 w 2172"/>
                  <a:gd name="T5" fmla="*/ 21 h 378"/>
                  <a:gd name="T6" fmla="*/ 162 w 2172"/>
                  <a:gd name="T7" fmla="*/ 21 h 378"/>
                  <a:gd name="T8" fmla="*/ 2118 w 2172"/>
                  <a:gd name="T9" fmla="*/ 93 h 378"/>
                  <a:gd name="T10" fmla="*/ 2172 w 2172"/>
                  <a:gd name="T11" fmla="*/ 144 h 378"/>
                  <a:gd name="T12" fmla="*/ 2115 w 2172"/>
                  <a:gd name="T13" fmla="*/ 177 h 378"/>
                  <a:gd name="T14" fmla="*/ 2073 w 2172"/>
                  <a:gd name="T15" fmla="*/ 204 h 378"/>
                  <a:gd name="T16" fmla="*/ 2034 w 2172"/>
                  <a:gd name="T17" fmla="*/ 225 h 378"/>
                  <a:gd name="T18" fmla="*/ 1944 w 2172"/>
                  <a:gd name="T19" fmla="*/ 282 h 378"/>
                  <a:gd name="T20" fmla="*/ 1824 w 2172"/>
                  <a:gd name="T21" fmla="*/ 306 h 378"/>
                  <a:gd name="T22" fmla="*/ 1659 w 2172"/>
                  <a:gd name="T23" fmla="*/ 315 h 378"/>
                  <a:gd name="T24" fmla="*/ 1590 w 2172"/>
                  <a:gd name="T25" fmla="*/ 306 h 378"/>
                  <a:gd name="T26" fmla="*/ 1521 w 2172"/>
                  <a:gd name="T27" fmla="*/ 279 h 378"/>
                  <a:gd name="T28" fmla="*/ 1338 w 2172"/>
                  <a:gd name="T29" fmla="*/ 312 h 378"/>
                  <a:gd name="T30" fmla="*/ 1242 w 2172"/>
                  <a:gd name="T31" fmla="*/ 261 h 378"/>
                  <a:gd name="T32" fmla="*/ 1179 w 2172"/>
                  <a:gd name="T33" fmla="*/ 315 h 378"/>
                  <a:gd name="T34" fmla="*/ 1068 w 2172"/>
                  <a:gd name="T35" fmla="*/ 321 h 378"/>
                  <a:gd name="T36" fmla="*/ 924 w 2172"/>
                  <a:gd name="T37" fmla="*/ 333 h 378"/>
                  <a:gd name="T38" fmla="*/ 831 w 2172"/>
                  <a:gd name="T39" fmla="*/ 342 h 378"/>
                  <a:gd name="T40" fmla="*/ 795 w 2172"/>
                  <a:gd name="T41" fmla="*/ 360 h 378"/>
                  <a:gd name="T42" fmla="*/ 717 w 2172"/>
                  <a:gd name="T43" fmla="*/ 378 h 378"/>
                  <a:gd name="T44" fmla="*/ 633 w 2172"/>
                  <a:gd name="T45" fmla="*/ 375 h 378"/>
                  <a:gd name="T46" fmla="*/ 561 w 2172"/>
                  <a:gd name="T47" fmla="*/ 354 h 378"/>
                  <a:gd name="T48" fmla="*/ 498 w 2172"/>
                  <a:gd name="T49" fmla="*/ 303 h 378"/>
                  <a:gd name="T50" fmla="*/ 438 w 2172"/>
                  <a:gd name="T51" fmla="*/ 282 h 378"/>
                  <a:gd name="T52" fmla="*/ 336 w 2172"/>
                  <a:gd name="T53" fmla="*/ 222 h 378"/>
                  <a:gd name="T54" fmla="*/ 276 w 2172"/>
                  <a:gd name="T55" fmla="*/ 114 h 378"/>
                  <a:gd name="T56" fmla="*/ 222 w 2172"/>
                  <a:gd name="T57" fmla="*/ 153 h 378"/>
                  <a:gd name="T58" fmla="*/ 120 w 2172"/>
                  <a:gd name="T59" fmla="*/ 144 h 378"/>
                  <a:gd name="T60" fmla="*/ 81 w 2172"/>
                  <a:gd name="T61" fmla="*/ 117 h 378"/>
                  <a:gd name="T62" fmla="*/ 0 w 2172"/>
                  <a:gd name="T63" fmla="*/ 60 h 3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72"/>
                  <a:gd name="T97" fmla="*/ 0 h 378"/>
                  <a:gd name="T98" fmla="*/ 2172 w 2172"/>
                  <a:gd name="T99" fmla="*/ 378 h 3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72" h="378">
                    <a:moveTo>
                      <a:pt x="0" y="60"/>
                    </a:moveTo>
                    <a:cubicBezTo>
                      <a:pt x="18" y="48"/>
                      <a:pt x="44" y="6"/>
                      <a:pt x="66" y="0"/>
                    </a:cubicBezTo>
                    <a:cubicBezTo>
                      <a:pt x="104" y="3"/>
                      <a:pt x="105" y="11"/>
                      <a:pt x="135" y="21"/>
                    </a:cubicBezTo>
                    <a:cubicBezTo>
                      <a:pt x="144" y="35"/>
                      <a:pt x="150" y="29"/>
                      <a:pt x="162" y="21"/>
                    </a:cubicBezTo>
                    <a:cubicBezTo>
                      <a:pt x="492" y="33"/>
                      <a:pt x="1783" y="72"/>
                      <a:pt x="2118" y="93"/>
                    </a:cubicBezTo>
                    <a:cubicBezTo>
                      <a:pt x="2161" y="97"/>
                      <a:pt x="2162" y="105"/>
                      <a:pt x="2172" y="144"/>
                    </a:cubicBezTo>
                    <a:cubicBezTo>
                      <a:pt x="2166" y="162"/>
                      <a:pt x="2133" y="171"/>
                      <a:pt x="2115" y="177"/>
                    </a:cubicBezTo>
                    <a:cubicBezTo>
                      <a:pt x="2103" y="189"/>
                      <a:pt x="2089" y="199"/>
                      <a:pt x="2073" y="204"/>
                    </a:cubicBezTo>
                    <a:cubicBezTo>
                      <a:pt x="2045" y="225"/>
                      <a:pt x="2059" y="220"/>
                      <a:pt x="2034" y="225"/>
                    </a:cubicBezTo>
                    <a:cubicBezTo>
                      <a:pt x="2008" y="242"/>
                      <a:pt x="1974" y="279"/>
                      <a:pt x="1944" y="282"/>
                    </a:cubicBezTo>
                    <a:cubicBezTo>
                      <a:pt x="1904" y="295"/>
                      <a:pt x="1865" y="298"/>
                      <a:pt x="1824" y="306"/>
                    </a:cubicBezTo>
                    <a:cubicBezTo>
                      <a:pt x="1781" y="335"/>
                      <a:pt x="1709" y="303"/>
                      <a:pt x="1659" y="315"/>
                    </a:cubicBezTo>
                    <a:cubicBezTo>
                      <a:pt x="1598" y="309"/>
                      <a:pt x="1621" y="314"/>
                      <a:pt x="1590" y="306"/>
                    </a:cubicBezTo>
                    <a:cubicBezTo>
                      <a:pt x="1558" y="286"/>
                      <a:pt x="1557" y="291"/>
                      <a:pt x="1521" y="279"/>
                    </a:cubicBezTo>
                    <a:cubicBezTo>
                      <a:pt x="1500" y="342"/>
                      <a:pt x="1389" y="310"/>
                      <a:pt x="1338" y="312"/>
                    </a:cubicBezTo>
                    <a:cubicBezTo>
                      <a:pt x="1292" y="309"/>
                      <a:pt x="1269" y="265"/>
                      <a:pt x="1242" y="261"/>
                    </a:cubicBezTo>
                    <a:cubicBezTo>
                      <a:pt x="1216" y="265"/>
                      <a:pt x="1202" y="304"/>
                      <a:pt x="1179" y="315"/>
                    </a:cubicBezTo>
                    <a:cubicBezTo>
                      <a:pt x="1148" y="330"/>
                      <a:pt x="1102" y="311"/>
                      <a:pt x="1068" y="321"/>
                    </a:cubicBezTo>
                    <a:cubicBezTo>
                      <a:pt x="1023" y="334"/>
                      <a:pt x="968" y="331"/>
                      <a:pt x="924" y="333"/>
                    </a:cubicBezTo>
                    <a:cubicBezTo>
                      <a:pt x="893" y="335"/>
                      <a:pt x="862" y="338"/>
                      <a:pt x="831" y="342"/>
                    </a:cubicBezTo>
                    <a:cubicBezTo>
                      <a:pt x="818" y="346"/>
                      <a:pt x="807" y="355"/>
                      <a:pt x="795" y="360"/>
                    </a:cubicBezTo>
                    <a:cubicBezTo>
                      <a:pt x="770" y="371"/>
                      <a:pt x="745" y="375"/>
                      <a:pt x="717" y="378"/>
                    </a:cubicBezTo>
                    <a:cubicBezTo>
                      <a:pt x="689" y="377"/>
                      <a:pt x="661" y="377"/>
                      <a:pt x="633" y="375"/>
                    </a:cubicBezTo>
                    <a:cubicBezTo>
                      <a:pt x="609" y="374"/>
                      <a:pt x="585" y="359"/>
                      <a:pt x="561" y="354"/>
                    </a:cubicBezTo>
                    <a:cubicBezTo>
                      <a:pt x="539" y="342"/>
                      <a:pt x="518" y="315"/>
                      <a:pt x="498" y="303"/>
                    </a:cubicBezTo>
                    <a:cubicBezTo>
                      <a:pt x="473" y="278"/>
                      <a:pt x="493" y="286"/>
                      <a:pt x="438" y="282"/>
                    </a:cubicBezTo>
                    <a:cubicBezTo>
                      <a:pt x="414" y="264"/>
                      <a:pt x="363" y="250"/>
                      <a:pt x="336" y="222"/>
                    </a:cubicBezTo>
                    <a:cubicBezTo>
                      <a:pt x="309" y="194"/>
                      <a:pt x="291" y="126"/>
                      <a:pt x="276" y="114"/>
                    </a:cubicBezTo>
                    <a:cubicBezTo>
                      <a:pt x="257" y="103"/>
                      <a:pt x="248" y="148"/>
                      <a:pt x="222" y="153"/>
                    </a:cubicBezTo>
                    <a:cubicBezTo>
                      <a:pt x="183" y="151"/>
                      <a:pt x="155" y="151"/>
                      <a:pt x="120" y="144"/>
                    </a:cubicBezTo>
                    <a:cubicBezTo>
                      <a:pt x="104" y="136"/>
                      <a:pt x="98" y="121"/>
                      <a:pt x="81" y="117"/>
                    </a:cubicBezTo>
                    <a:cubicBezTo>
                      <a:pt x="61" y="103"/>
                      <a:pt x="2" y="79"/>
                      <a:pt x="0" y="60"/>
                    </a:cubicBezTo>
                    <a:close/>
                  </a:path>
                </a:pathLst>
              </a:custGeom>
              <a:solidFill>
                <a:srgbClr val="2C5CFF"/>
              </a:solidFill>
              <a:ln w="12700" cap="flat" cmpd="sng">
                <a:noFill/>
                <a:prstDash val="solid"/>
                <a:round/>
                <a:headEnd type="none" w="sm" len="sm"/>
                <a:tailEnd type="none" w="sm" len="sm"/>
              </a:ln>
            </p:spPr>
            <p:txBody>
              <a:bodyPr wrap="none" anchor="ctr"/>
              <a:lstStyle/>
              <a:p>
                <a:endParaRPr lang="en-US"/>
              </a:p>
            </p:txBody>
          </p:sp>
          <p:sp>
            <p:nvSpPr>
              <p:cNvPr id="18133" name="Freeform 225"/>
              <p:cNvSpPr>
                <a:spLocks/>
              </p:cNvSpPr>
              <p:nvPr/>
            </p:nvSpPr>
            <p:spPr bwMode="auto">
              <a:xfrm>
                <a:off x="1584" y="699"/>
                <a:ext cx="2109" cy="789"/>
              </a:xfrm>
              <a:custGeom>
                <a:avLst/>
                <a:gdLst>
                  <a:gd name="T0" fmla="*/ 18 w 2109"/>
                  <a:gd name="T1" fmla="*/ 789 h 789"/>
                  <a:gd name="T2" fmla="*/ 24 w 2109"/>
                  <a:gd name="T3" fmla="*/ 702 h 789"/>
                  <a:gd name="T4" fmla="*/ 51 w 2109"/>
                  <a:gd name="T5" fmla="*/ 693 h 789"/>
                  <a:gd name="T6" fmla="*/ 18 w 2109"/>
                  <a:gd name="T7" fmla="*/ 660 h 789"/>
                  <a:gd name="T8" fmla="*/ 0 w 2109"/>
                  <a:gd name="T9" fmla="*/ 594 h 789"/>
                  <a:gd name="T10" fmla="*/ 36 w 2109"/>
                  <a:gd name="T11" fmla="*/ 507 h 789"/>
                  <a:gd name="T12" fmla="*/ 105 w 2109"/>
                  <a:gd name="T13" fmla="*/ 480 h 789"/>
                  <a:gd name="T14" fmla="*/ 153 w 2109"/>
                  <a:gd name="T15" fmla="*/ 474 h 789"/>
                  <a:gd name="T16" fmla="*/ 249 w 2109"/>
                  <a:gd name="T17" fmla="*/ 402 h 789"/>
                  <a:gd name="T18" fmla="*/ 228 w 2109"/>
                  <a:gd name="T19" fmla="*/ 375 h 789"/>
                  <a:gd name="T20" fmla="*/ 267 w 2109"/>
                  <a:gd name="T21" fmla="*/ 339 h 789"/>
                  <a:gd name="T22" fmla="*/ 288 w 2109"/>
                  <a:gd name="T23" fmla="*/ 237 h 789"/>
                  <a:gd name="T24" fmla="*/ 342 w 2109"/>
                  <a:gd name="T25" fmla="*/ 147 h 789"/>
                  <a:gd name="T26" fmla="*/ 408 w 2109"/>
                  <a:gd name="T27" fmla="*/ 102 h 789"/>
                  <a:gd name="T28" fmla="*/ 459 w 2109"/>
                  <a:gd name="T29" fmla="*/ 105 h 789"/>
                  <a:gd name="T30" fmla="*/ 513 w 2109"/>
                  <a:gd name="T31" fmla="*/ 129 h 789"/>
                  <a:gd name="T32" fmla="*/ 576 w 2109"/>
                  <a:gd name="T33" fmla="*/ 156 h 789"/>
                  <a:gd name="T34" fmla="*/ 600 w 2109"/>
                  <a:gd name="T35" fmla="*/ 123 h 789"/>
                  <a:gd name="T36" fmla="*/ 642 w 2109"/>
                  <a:gd name="T37" fmla="*/ 84 h 789"/>
                  <a:gd name="T38" fmla="*/ 780 w 2109"/>
                  <a:gd name="T39" fmla="*/ 24 h 789"/>
                  <a:gd name="T40" fmla="*/ 846 w 2109"/>
                  <a:gd name="T41" fmla="*/ 27 h 789"/>
                  <a:gd name="T42" fmla="*/ 897 w 2109"/>
                  <a:gd name="T43" fmla="*/ 0 h 789"/>
                  <a:gd name="T44" fmla="*/ 1023 w 2109"/>
                  <a:gd name="T45" fmla="*/ 3 h 789"/>
                  <a:gd name="T46" fmla="*/ 1167 w 2109"/>
                  <a:gd name="T47" fmla="*/ 42 h 789"/>
                  <a:gd name="T48" fmla="*/ 1218 w 2109"/>
                  <a:gd name="T49" fmla="*/ 99 h 789"/>
                  <a:gd name="T50" fmla="*/ 1317 w 2109"/>
                  <a:gd name="T51" fmla="*/ 48 h 789"/>
                  <a:gd name="T52" fmla="*/ 1377 w 2109"/>
                  <a:gd name="T53" fmla="*/ 36 h 789"/>
                  <a:gd name="T54" fmla="*/ 1551 w 2109"/>
                  <a:gd name="T55" fmla="*/ 33 h 789"/>
                  <a:gd name="T56" fmla="*/ 1644 w 2109"/>
                  <a:gd name="T57" fmla="*/ 51 h 789"/>
                  <a:gd name="T58" fmla="*/ 1659 w 2109"/>
                  <a:gd name="T59" fmla="*/ 78 h 789"/>
                  <a:gd name="T60" fmla="*/ 1776 w 2109"/>
                  <a:gd name="T61" fmla="*/ 60 h 789"/>
                  <a:gd name="T62" fmla="*/ 1851 w 2109"/>
                  <a:gd name="T63" fmla="*/ 81 h 789"/>
                  <a:gd name="T64" fmla="*/ 1908 w 2109"/>
                  <a:gd name="T65" fmla="*/ 102 h 789"/>
                  <a:gd name="T66" fmla="*/ 1938 w 2109"/>
                  <a:gd name="T67" fmla="*/ 204 h 789"/>
                  <a:gd name="T68" fmla="*/ 1941 w 2109"/>
                  <a:gd name="T69" fmla="*/ 261 h 789"/>
                  <a:gd name="T70" fmla="*/ 2055 w 2109"/>
                  <a:gd name="T71" fmla="*/ 267 h 789"/>
                  <a:gd name="T72" fmla="*/ 2106 w 2109"/>
                  <a:gd name="T73" fmla="*/ 336 h 789"/>
                  <a:gd name="T74" fmla="*/ 2073 w 2109"/>
                  <a:gd name="T75" fmla="*/ 465 h 789"/>
                  <a:gd name="T76" fmla="*/ 2109 w 2109"/>
                  <a:gd name="T77" fmla="*/ 498 h 789"/>
                  <a:gd name="T78" fmla="*/ 2106 w 2109"/>
                  <a:gd name="T79" fmla="*/ 543 h 789"/>
                  <a:gd name="T80" fmla="*/ 2067 w 2109"/>
                  <a:gd name="T81" fmla="*/ 612 h 789"/>
                  <a:gd name="T82" fmla="*/ 2040 w 2109"/>
                  <a:gd name="T83" fmla="*/ 627 h 789"/>
                  <a:gd name="T84" fmla="*/ 1980 w 2109"/>
                  <a:gd name="T85" fmla="*/ 657 h 789"/>
                  <a:gd name="T86" fmla="*/ 1938 w 2109"/>
                  <a:gd name="T87" fmla="*/ 663 h 789"/>
                  <a:gd name="T88" fmla="*/ 18 w 2109"/>
                  <a:gd name="T89" fmla="*/ 789 h 78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09"/>
                  <a:gd name="T136" fmla="*/ 0 h 789"/>
                  <a:gd name="T137" fmla="*/ 2109 w 2109"/>
                  <a:gd name="T138" fmla="*/ 789 h 78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09" h="789">
                    <a:moveTo>
                      <a:pt x="18" y="789"/>
                    </a:moveTo>
                    <a:cubicBezTo>
                      <a:pt x="19" y="760"/>
                      <a:pt x="0" y="719"/>
                      <a:pt x="24" y="702"/>
                    </a:cubicBezTo>
                    <a:cubicBezTo>
                      <a:pt x="32" y="696"/>
                      <a:pt x="51" y="693"/>
                      <a:pt x="51" y="693"/>
                    </a:cubicBezTo>
                    <a:cubicBezTo>
                      <a:pt x="38" y="683"/>
                      <a:pt x="30" y="672"/>
                      <a:pt x="18" y="660"/>
                    </a:cubicBezTo>
                    <a:cubicBezTo>
                      <a:pt x="12" y="638"/>
                      <a:pt x="4" y="617"/>
                      <a:pt x="0" y="594"/>
                    </a:cubicBezTo>
                    <a:cubicBezTo>
                      <a:pt x="5" y="541"/>
                      <a:pt x="2" y="541"/>
                      <a:pt x="36" y="507"/>
                    </a:cubicBezTo>
                    <a:cubicBezTo>
                      <a:pt x="54" y="488"/>
                      <a:pt x="86" y="485"/>
                      <a:pt x="105" y="480"/>
                    </a:cubicBezTo>
                    <a:cubicBezTo>
                      <a:pt x="121" y="478"/>
                      <a:pt x="153" y="474"/>
                      <a:pt x="153" y="474"/>
                    </a:cubicBezTo>
                    <a:cubicBezTo>
                      <a:pt x="177" y="461"/>
                      <a:pt x="236" y="418"/>
                      <a:pt x="249" y="402"/>
                    </a:cubicBezTo>
                    <a:cubicBezTo>
                      <a:pt x="235" y="380"/>
                      <a:pt x="242" y="389"/>
                      <a:pt x="228" y="375"/>
                    </a:cubicBezTo>
                    <a:cubicBezTo>
                      <a:pt x="216" y="339"/>
                      <a:pt x="238" y="342"/>
                      <a:pt x="267" y="339"/>
                    </a:cubicBezTo>
                    <a:cubicBezTo>
                      <a:pt x="297" y="331"/>
                      <a:pt x="286" y="258"/>
                      <a:pt x="288" y="237"/>
                    </a:cubicBezTo>
                    <a:cubicBezTo>
                      <a:pt x="292" y="197"/>
                      <a:pt x="315" y="174"/>
                      <a:pt x="342" y="147"/>
                    </a:cubicBezTo>
                    <a:cubicBezTo>
                      <a:pt x="362" y="125"/>
                      <a:pt x="389" y="109"/>
                      <a:pt x="408" y="102"/>
                    </a:cubicBezTo>
                    <a:cubicBezTo>
                      <a:pt x="425" y="103"/>
                      <a:pt x="442" y="102"/>
                      <a:pt x="459" y="105"/>
                    </a:cubicBezTo>
                    <a:cubicBezTo>
                      <a:pt x="476" y="108"/>
                      <a:pt x="496" y="124"/>
                      <a:pt x="513" y="129"/>
                    </a:cubicBezTo>
                    <a:cubicBezTo>
                      <a:pt x="532" y="137"/>
                      <a:pt x="562" y="157"/>
                      <a:pt x="576" y="156"/>
                    </a:cubicBezTo>
                    <a:cubicBezTo>
                      <a:pt x="583" y="157"/>
                      <a:pt x="599" y="124"/>
                      <a:pt x="600" y="123"/>
                    </a:cubicBezTo>
                    <a:cubicBezTo>
                      <a:pt x="611" y="106"/>
                      <a:pt x="625" y="97"/>
                      <a:pt x="642" y="84"/>
                    </a:cubicBezTo>
                    <a:cubicBezTo>
                      <a:pt x="682" y="53"/>
                      <a:pt x="731" y="36"/>
                      <a:pt x="780" y="24"/>
                    </a:cubicBezTo>
                    <a:cubicBezTo>
                      <a:pt x="802" y="25"/>
                      <a:pt x="824" y="27"/>
                      <a:pt x="846" y="27"/>
                    </a:cubicBezTo>
                    <a:cubicBezTo>
                      <a:pt x="854" y="27"/>
                      <a:pt x="879" y="6"/>
                      <a:pt x="897" y="0"/>
                    </a:cubicBezTo>
                    <a:cubicBezTo>
                      <a:pt x="939" y="1"/>
                      <a:pt x="981" y="0"/>
                      <a:pt x="1023" y="3"/>
                    </a:cubicBezTo>
                    <a:cubicBezTo>
                      <a:pt x="1068" y="10"/>
                      <a:pt x="1135" y="26"/>
                      <a:pt x="1167" y="42"/>
                    </a:cubicBezTo>
                    <a:cubicBezTo>
                      <a:pt x="1188" y="49"/>
                      <a:pt x="1211" y="78"/>
                      <a:pt x="1218" y="99"/>
                    </a:cubicBezTo>
                    <a:cubicBezTo>
                      <a:pt x="1239" y="68"/>
                      <a:pt x="1281" y="53"/>
                      <a:pt x="1317" y="48"/>
                    </a:cubicBezTo>
                    <a:cubicBezTo>
                      <a:pt x="1339" y="41"/>
                      <a:pt x="1353" y="38"/>
                      <a:pt x="1377" y="36"/>
                    </a:cubicBezTo>
                    <a:cubicBezTo>
                      <a:pt x="1436" y="21"/>
                      <a:pt x="1479" y="32"/>
                      <a:pt x="1551" y="33"/>
                    </a:cubicBezTo>
                    <a:cubicBezTo>
                      <a:pt x="1585" y="35"/>
                      <a:pt x="1613" y="41"/>
                      <a:pt x="1644" y="51"/>
                    </a:cubicBezTo>
                    <a:cubicBezTo>
                      <a:pt x="1658" y="72"/>
                      <a:pt x="1654" y="62"/>
                      <a:pt x="1659" y="78"/>
                    </a:cubicBezTo>
                    <a:cubicBezTo>
                      <a:pt x="1697" y="73"/>
                      <a:pt x="1739" y="72"/>
                      <a:pt x="1776" y="60"/>
                    </a:cubicBezTo>
                    <a:cubicBezTo>
                      <a:pt x="1808" y="60"/>
                      <a:pt x="1829" y="74"/>
                      <a:pt x="1851" y="81"/>
                    </a:cubicBezTo>
                    <a:cubicBezTo>
                      <a:pt x="1868" y="89"/>
                      <a:pt x="1890" y="96"/>
                      <a:pt x="1908" y="102"/>
                    </a:cubicBezTo>
                    <a:cubicBezTo>
                      <a:pt x="1931" y="125"/>
                      <a:pt x="1934" y="173"/>
                      <a:pt x="1938" y="204"/>
                    </a:cubicBezTo>
                    <a:cubicBezTo>
                      <a:pt x="1939" y="223"/>
                      <a:pt x="1925" y="250"/>
                      <a:pt x="1941" y="261"/>
                    </a:cubicBezTo>
                    <a:cubicBezTo>
                      <a:pt x="1973" y="282"/>
                      <a:pt x="2017" y="263"/>
                      <a:pt x="2055" y="267"/>
                    </a:cubicBezTo>
                    <a:cubicBezTo>
                      <a:pt x="2082" y="279"/>
                      <a:pt x="2103" y="303"/>
                      <a:pt x="2106" y="336"/>
                    </a:cubicBezTo>
                    <a:cubicBezTo>
                      <a:pt x="2104" y="382"/>
                      <a:pt x="2099" y="426"/>
                      <a:pt x="2073" y="465"/>
                    </a:cubicBezTo>
                    <a:cubicBezTo>
                      <a:pt x="2074" y="492"/>
                      <a:pt x="2104" y="485"/>
                      <a:pt x="2109" y="498"/>
                    </a:cubicBezTo>
                    <a:cubicBezTo>
                      <a:pt x="2108" y="513"/>
                      <a:pt x="2108" y="528"/>
                      <a:pt x="2106" y="543"/>
                    </a:cubicBezTo>
                    <a:cubicBezTo>
                      <a:pt x="2099" y="562"/>
                      <a:pt x="2078" y="598"/>
                      <a:pt x="2067" y="612"/>
                    </a:cubicBezTo>
                    <a:cubicBezTo>
                      <a:pt x="2064" y="622"/>
                      <a:pt x="2048" y="623"/>
                      <a:pt x="2040" y="627"/>
                    </a:cubicBezTo>
                    <a:cubicBezTo>
                      <a:pt x="2020" y="636"/>
                      <a:pt x="2001" y="652"/>
                      <a:pt x="1980" y="657"/>
                    </a:cubicBezTo>
                    <a:cubicBezTo>
                      <a:pt x="1966" y="660"/>
                      <a:pt x="1952" y="660"/>
                      <a:pt x="1938" y="663"/>
                    </a:cubicBezTo>
                    <a:cubicBezTo>
                      <a:pt x="1611" y="685"/>
                      <a:pt x="337" y="782"/>
                      <a:pt x="18" y="789"/>
                    </a:cubicBezTo>
                    <a:close/>
                  </a:path>
                </a:pathLst>
              </a:custGeom>
              <a:solidFill>
                <a:srgbClr val="3232A6"/>
              </a:solidFill>
              <a:ln w="12700" cap="flat" cmpd="sng">
                <a:noFill/>
                <a:prstDash val="solid"/>
                <a:round/>
                <a:headEnd type="none" w="sm" len="sm"/>
                <a:tailEnd type="none" w="sm" len="sm"/>
              </a:ln>
            </p:spPr>
            <p:txBody>
              <a:bodyPr wrap="none" anchor="ctr"/>
              <a:lstStyle/>
              <a:p>
                <a:endParaRPr lang="en-US"/>
              </a:p>
            </p:txBody>
          </p:sp>
          <p:sp>
            <p:nvSpPr>
              <p:cNvPr id="18134" name="Freeform 226"/>
              <p:cNvSpPr>
                <a:spLocks/>
              </p:cNvSpPr>
              <p:nvPr/>
            </p:nvSpPr>
            <p:spPr bwMode="auto">
              <a:xfrm>
                <a:off x="1584" y="720"/>
                <a:ext cx="2109" cy="789"/>
              </a:xfrm>
              <a:custGeom>
                <a:avLst/>
                <a:gdLst>
                  <a:gd name="T0" fmla="*/ 18 w 2109"/>
                  <a:gd name="T1" fmla="*/ 789 h 789"/>
                  <a:gd name="T2" fmla="*/ 24 w 2109"/>
                  <a:gd name="T3" fmla="*/ 702 h 789"/>
                  <a:gd name="T4" fmla="*/ 51 w 2109"/>
                  <a:gd name="T5" fmla="*/ 693 h 789"/>
                  <a:gd name="T6" fmla="*/ 18 w 2109"/>
                  <a:gd name="T7" fmla="*/ 660 h 789"/>
                  <a:gd name="T8" fmla="*/ 0 w 2109"/>
                  <a:gd name="T9" fmla="*/ 594 h 789"/>
                  <a:gd name="T10" fmla="*/ 36 w 2109"/>
                  <a:gd name="T11" fmla="*/ 507 h 789"/>
                  <a:gd name="T12" fmla="*/ 105 w 2109"/>
                  <a:gd name="T13" fmla="*/ 480 h 789"/>
                  <a:gd name="T14" fmla="*/ 153 w 2109"/>
                  <a:gd name="T15" fmla="*/ 474 h 789"/>
                  <a:gd name="T16" fmla="*/ 249 w 2109"/>
                  <a:gd name="T17" fmla="*/ 402 h 789"/>
                  <a:gd name="T18" fmla="*/ 228 w 2109"/>
                  <a:gd name="T19" fmla="*/ 375 h 789"/>
                  <a:gd name="T20" fmla="*/ 267 w 2109"/>
                  <a:gd name="T21" fmla="*/ 339 h 789"/>
                  <a:gd name="T22" fmla="*/ 288 w 2109"/>
                  <a:gd name="T23" fmla="*/ 237 h 789"/>
                  <a:gd name="T24" fmla="*/ 342 w 2109"/>
                  <a:gd name="T25" fmla="*/ 147 h 789"/>
                  <a:gd name="T26" fmla="*/ 408 w 2109"/>
                  <a:gd name="T27" fmla="*/ 102 h 789"/>
                  <a:gd name="T28" fmla="*/ 459 w 2109"/>
                  <a:gd name="T29" fmla="*/ 105 h 789"/>
                  <a:gd name="T30" fmla="*/ 513 w 2109"/>
                  <a:gd name="T31" fmla="*/ 129 h 789"/>
                  <a:gd name="T32" fmla="*/ 576 w 2109"/>
                  <a:gd name="T33" fmla="*/ 156 h 789"/>
                  <a:gd name="T34" fmla="*/ 600 w 2109"/>
                  <a:gd name="T35" fmla="*/ 123 h 789"/>
                  <a:gd name="T36" fmla="*/ 642 w 2109"/>
                  <a:gd name="T37" fmla="*/ 84 h 789"/>
                  <a:gd name="T38" fmla="*/ 780 w 2109"/>
                  <a:gd name="T39" fmla="*/ 24 h 789"/>
                  <a:gd name="T40" fmla="*/ 846 w 2109"/>
                  <a:gd name="T41" fmla="*/ 27 h 789"/>
                  <a:gd name="T42" fmla="*/ 897 w 2109"/>
                  <a:gd name="T43" fmla="*/ 0 h 789"/>
                  <a:gd name="T44" fmla="*/ 1023 w 2109"/>
                  <a:gd name="T45" fmla="*/ 3 h 789"/>
                  <a:gd name="T46" fmla="*/ 1167 w 2109"/>
                  <a:gd name="T47" fmla="*/ 42 h 789"/>
                  <a:gd name="T48" fmla="*/ 1218 w 2109"/>
                  <a:gd name="T49" fmla="*/ 99 h 789"/>
                  <a:gd name="T50" fmla="*/ 1317 w 2109"/>
                  <a:gd name="T51" fmla="*/ 48 h 789"/>
                  <a:gd name="T52" fmla="*/ 1377 w 2109"/>
                  <a:gd name="T53" fmla="*/ 36 h 789"/>
                  <a:gd name="T54" fmla="*/ 1551 w 2109"/>
                  <a:gd name="T55" fmla="*/ 33 h 789"/>
                  <a:gd name="T56" fmla="*/ 1644 w 2109"/>
                  <a:gd name="T57" fmla="*/ 51 h 789"/>
                  <a:gd name="T58" fmla="*/ 1659 w 2109"/>
                  <a:gd name="T59" fmla="*/ 78 h 789"/>
                  <a:gd name="T60" fmla="*/ 1776 w 2109"/>
                  <a:gd name="T61" fmla="*/ 60 h 789"/>
                  <a:gd name="T62" fmla="*/ 1851 w 2109"/>
                  <a:gd name="T63" fmla="*/ 81 h 789"/>
                  <a:gd name="T64" fmla="*/ 1908 w 2109"/>
                  <a:gd name="T65" fmla="*/ 102 h 789"/>
                  <a:gd name="T66" fmla="*/ 1938 w 2109"/>
                  <a:gd name="T67" fmla="*/ 204 h 789"/>
                  <a:gd name="T68" fmla="*/ 1941 w 2109"/>
                  <a:gd name="T69" fmla="*/ 261 h 789"/>
                  <a:gd name="T70" fmla="*/ 2055 w 2109"/>
                  <a:gd name="T71" fmla="*/ 267 h 789"/>
                  <a:gd name="T72" fmla="*/ 2106 w 2109"/>
                  <a:gd name="T73" fmla="*/ 336 h 789"/>
                  <a:gd name="T74" fmla="*/ 2073 w 2109"/>
                  <a:gd name="T75" fmla="*/ 465 h 789"/>
                  <a:gd name="T76" fmla="*/ 2109 w 2109"/>
                  <a:gd name="T77" fmla="*/ 498 h 789"/>
                  <a:gd name="T78" fmla="*/ 2106 w 2109"/>
                  <a:gd name="T79" fmla="*/ 543 h 789"/>
                  <a:gd name="T80" fmla="*/ 2067 w 2109"/>
                  <a:gd name="T81" fmla="*/ 612 h 789"/>
                  <a:gd name="T82" fmla="*/ 2040 w 2109"/>
                  <a:gd name="T83" fmla="*/ 627 h 789"/>
                  <a:gd name="T84" fmla="*/ 1980 w 2109"/>
                  <a:gd name="T85" fmla="*/ 657 h 789"/>
                  <a:gd name="T86" fmla="*/ 1938 w 2109"/>
                  <a:gd name="T87" fmla="*/ 663 h 789"/>
                  <a:gd name="T88" fmla="*/ 18 w 2109"/>
                  <a:gd name="T89" fmla="*/ 789 h 78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09"/>
                  <a:gd name="T136" fmla="*/ 0 h 789"/>
                  <a:gd name="T137" fmla="*/ 2109 w 2109"/>
                  <a:gd name="T138" fmla="*/ 789 h 78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09" h="789">
                    <a:moveTo>
                      <a:pt x="18" y="789"/>
                    </a:moveTo>
                    <a:cubicBezTo>
                      <a:pt x="19" y="760"/>
                      <a:pt x="0" y="719"/>
                      <a:pt x="24" y="702"/>
                    </a:cubicBezTo>
                    <a:cubicBezTo>
                      <a:pt x="32" y="696"/>
                      <a:pt x="51" y="693"/>
                      <a:pt x="51" y="693"/>
                    </a:cubicBezTo>
                    <a:cubicBezTo>
                      <a:pt x="38" y="683"/>
                      <a:pt x="30" y="672"/>
                      <a:pt x="18" y="660"/>
                    </a:cubicBezTo>
                    <a:cubicBezTo>
                      <a:pt x="12" y="638"/>
                      <a:pt x="4" y="617"/>
                      <a:pt x="0" y="594"/>
                    </a:cubicBezTo>
                    <a:cubicBezTo>
                      <a:pt x="5" y="541"/>
                      <a:pt x="2" y="541"/>
                      <a:pt x="36" y="507"/>
                    </a:cubicBezTo>
                    <a:cubicBezTo>
                      <a:pt x="54" y="488"/>
                      <a:pt x="86" y="485"/>
                      <a:pt x="105" y="480"/>
                    </a:cubicBezTo>
                    <a:cubicBezTo>
                      <a:pt x="121" y="478"/>
                      <a:pt x="153" y="474"/>
                      <a:pt x="153" y="474"/>
                    </a:cubicBezTo>
                    <a:cubicBezTo>
                      <a:pt x="177" y="461"/>
                      <a:pt x="236" y="418"/>
                      <a:pt x="249" y="402"/>
                    </a:cubicBezTo>
                    <a:cubicBezTo>
                      <a:pt x="235" y="380"/>
                      <a:pt x="242" y="389"/>
                      <a:pt x="228" y="375"/>
                    </a:cubicBezTo>
                    <a:cubicBezTo>
                      <a:pt x="216" y="339"/>
                      <a:pt x="238" y="342"/>
                      <a:pt x="267" y="339"/>
                    </a:cubicBezTo>
                    <a:cubicBezTo>
                      <a:pt x="297" y="331"/>
                      <a:pt x="286" y="258"/>
                      <a:pt x="288" y="237"/>
                    </a:cubicBezTo>
                    <a:cubicBezTo>
                      <a:pt x="292" y="197"/>
                      <a:pt x="315" y="174"/>
                      <a:pt x="342" y="147"/>
                    </a:cubicBezTo>
                    <a:cubicBezTo>
                      <a:pt x="362" y="125"/>
                      <a:pt x="389" y="109"/>
                      <a:pt x="408" y="102"/>
                    </a:cubicBezTo>
                    <a:cubicBezTo>
                      <a:pt x="425" y="103"/>
                      <a:pt x="442" y="102"/>
                      <a:pt x="459" y="105"/>
                    </a:cubicBezTo>
                    <a:cubicBezTo>
                      <a:pt x="476" y="108"/>
                      <a:pt x="496" y="124"/>
                      <a:pt x="513" y="129"/>
                    </a:cubicBezTo>
                    <a:cubicBezTo>
                      <a:pt x="532" y="137"/>
                      <a:pt x="562" y="157"/>
                      <a:pt x="576" y="156"/>
                    </a:cubicBezTo>
                    <a:cubicBezTo>
                      <a:pt x="583" y="157"/>
                      <a:pt x="599" y="124"/>
                      <a:pt x="600" y="123"/>
                    </a:cubicBezTo>
                    <a:cubicBezTo>
                      <a:pt x="611" y="106"/>
                      <a:pt x="625" y="97"/>
                      <a:pt x="642" y="84"/>
                    </a:cubicBezTo>
                    <a:cubicBezTo>
                      <a:pt x="682" y="53"/>
                      <a:pt x="731" y="36"/>
                      <a:pt x="780" y="24"/>
                    </a:cubicBezTo>
                    <a:cubicBezTo>
                      <a:pt x="802" y="25"/>
                      <a:pt x="824" y="27"/>
                      <a:pt x="846" y="27"/>
                    </a:cubicBezTo>
                    <a:cubicBezTo>
                      <a:pt x="854" y="27"/>
                      <a:pt x="879" y="6"/>
                      <a:pt x="897" y="0"/>
                    </a:cubicBezTo>
                    <a:cubicBezTo>
                      <a:pt x="939" y="1"/>
                      <a:pt x="981" y="0"/>
                      <a:pt x="1023" y="3"/>
                    </a:cubicBezTo>
                    <a:cubicBezTo>
                      <a:pt x="1068" y="10"/>
                      <a:pt x="1135" y="26"/>
                      <a:pt x="1167" y="42"/>
                    </a:cubicBezTo>
                    <a:cubicBezTo>
                      <a:pt x="1188" y="49"/>
                      <a:pt x="1211" y="78"/>
                      <a:pt x="1218" y="99"/>
                    </a:cubicBezTo>
                    <a:cubicBezTo>
                      <a:pt x="1239" y="68"/>
                      <a:pt x="1281" y="53"/>
                      <a:pt x="1317" y="48"/>
                    </a:cubicBezTo>
                    <a:cubicBezTo>
                      <a:pt x="1339" y="41"/>
                      <a:pt x="1353" y="38"/>
                      <a:pt x="1377" y="36"/>
                    </a:cubicBezTo>
                    <a:cubicBezTo>
                      <a:pt x="1436" y="21"/>
                      <a:pt x="1479" y="32"/>
                      <a:pt x="1551" y="33"/>
                    </a:cubicBezTo>
                    <a:cubicBezTo>
                      <a:pt x="1585" y="35"/>
                      <a:pt x="1613" y="41"/>
                      <a:pt x="1644" y="51"/>
                    </a:cubicBezTo>
                    <a:cubicBezTo>
                      <a:pt x="1658" y="72"/>
                      <a:pt x="1654" y="62"/>
                      <a:pt x="1659" y="78"/>
                    </a:cubicBezTo>
                    <a:cubicBezTo>
                      <a:pt x="1697" y="73"/>
                      <a:pt x="1739" y="72"/>
                      <a:pt x="1776" y="60"/>
                    </a:cubicBezTo>
                    <a:cubicBezTo>
                      <a:pt x="1808" y="60"/>
                      <a:pt x="1829" y="74"/>
                      <a:pt x="1851" y="81"/>
                    </a:cubicBezTo>
                    <a:cubicBezTo>
                      <a:pt x="1868" y="89"/>
                      <a:pt x="1890" y="96"/>
                      <a:pt x="1908" y="102"/>
                    </a:cubicBezTo>
                    <a:cubicBezTo>
                      <a:pt x="1931" y="125"/>
                      <a:pt x="1934" y="173"/>
                      <a:pt x="1938" y="204"/>
                    </a:cubicBezTo>
                    <a:cubicBezTo>
                      <a:pt x="1939" y="223"/>
                      <a:pt x="1925" y="250"/>
                      <a:pt x="1941" y="261"/>
                    </a:cubicBezTo>
                    <a:cubicBezTo>
                      <a:pt x="1973" y="282"/>
                      <a:pt x="2017" y="263"/>
                      <a:pt x="2055" y="267"/>
                    </a:cubicBezTo>
                    <a:cubicBezTo>
                      <a:pt x="2082" y="279"/>
                      <a:pt x="2103" y="303"/>
                      <a:pt x="2106" y="336"/>
                    </a:cubicBezTo>
                    <a:cubicBezTo>
                      <a:pt x="2104" y="382"/>
                      <a:pt x="2099" y="426"/>
                      <a:pt x="2073" y="465"/>
                    </a:cubicBezTo>
                    <a:cubicBezTo>
                      <a:pt x="2074" y="492"/>
                      <a:pt x="2104" y="485"/>
                      <a:pt x="2109" y="498"/>
                    </a:cubicBezTo>
                    <a:cubicBezTo>
                      <a:pt x="2108" y="513"/>
                      <a:pt x="2108" y="528"/>
                      <a:pt x="2106" y="543"/>
                    </a:cubicBezTo>
                    <a:cubicBezTo>
                      <a:pt x="2099" y="562"/>
                      <a:pt x="2078" y="598"/>
                      <a:pt x="2067" y="612"/>
                    </a:cubicBezTo>
                    <a:cubicBezTo>
                      <a:pt x="2064" y="622"/>
                      <a:pt x="2048" y="623"/>
                      <a:pt x="2040" y="627"/>
                    </a:cubicBezTo>
                    <a:cubicBezTo>
                      <a:pt x="2020" y="636"/>
                      <a:pt x="2001" y="652"/>
                      <a:pt x="1980" y="657"/>
                    </a:cubicBezTo>
                    <a:cubicBezTo>
                      <a:pt x="1966" y="660"/>
                      <a:pt x="1952" y="660"/>
                      <a:pt x="1938" y="663"/>
                    </a:cubicBezTo>
                    <a:cubicBezTo>
                      <a:pt x="1611" y="685"/>
                      <a:pt x="337" y="782"/>
                      <a:pt x="18" y="789"/>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135" name="Freeform 227"/>
              <p:cNvSpPr>
                <a:spLocks/>
              </p:cNvSpPr>
              <p:nvPr/>
            </p:nvSpPr>
            <p:spPr bwMode="auto">
              <a:xfrm>
                <a:off x="1824" y="1232"/>
                <a:ext cx="976" cy="416"/>
              </a:xfrm>
              <a:custGeom>
                <a:avLst/>
                <a:gdLst>
                  <a:gd name="T0" fmla="*/ 31 w 976"/>
                  <a:gd name="T1" fmla="*/ 288 h 416"/>
                  <a:gd name="T2" fmla="*/ 10 w 976"/>
                  <a:gd name="T3" fmla="*/ 255 h 416"/>
                  <a:gd name="T4" fmla="*/ 7 w 976"/>
                  <a:gd name="T5" fmla="*/ 210 h 416"/>
                  <a:gd name="T6" fmla="*/ 100 w 976"/>
                  <a:gd name="T7" fmla="*/ 171 h 416"/>
                  <a:gd name="T8" fmla="*/ 130 w 976"/>
                  <a:gd name="T9" fmla="*/ 135 h 416"/>
                  <a:gd name="T10" fmla="*/ 148 w 976"/>
                  <a:gd name="T11" fmla="*/ 84 h 416"/>
                  <a:gd name="T12" fmla="*/ 196 w 976"/>
                  <a:gd name="T13" fmla="*/ 30 h 416"/>
                  <a:gd name="T14" fmla="*/ 229 w 976"/>
                  <a:gd name="T15" fmla="*/ 21 h 416"/>
                  <a:gd name="T16" fmla="*/ 334 w 976"/>
                  <a:gd name="T17" fmla="*/ 63 h 416"/>
                  <a:gd name="T18" fmla="*/ 442 w 976"/>
                  <a:gd name="T19" fmla="*/ 54 h 416"/>
                  <a:gd name="T20" fmla="*/ 478 w 976"/>
                  <a:gd name="T21" fmla="*/ 33 h 416"/>
                  <a:gd name="T22" fmla="*/ 553 w 976"/>
                  <a:gd name="T23" fmla="*/ 0 h 416"/>
                  <a:gd name="T24" fmla="*/ 589 w 976"/>
                  <a:gd name="T25" fmla="*/ 30 h 416"/>
                  <a:gd name="T26" fmla="*/ 685 w 976"/>
                  <a:gd name="T27" fmla="*/ 81 h 416"/>
                  <a:gd name="T28" fmla="*/ 724 w 976"/>
                  <a:gd name="T29" fmla="*/ 159 h 416"/>
                  <a:gd name="T30" fmla="*/ 769 w 976"/>
                  <a:gd name="T31" fmla="*/ 132 h 416"/>
                  <a:gd name="T32" fmla="*/ 829 w 976"/>
                  <a:gd name="T33" fmla="*/ 144 h 416"/>
                  <a:gd name="T34" fmla="*/ 871 w 976"/>
                  <a:gd name="T35" fmla="*/ 156 h 416"/>
                  <a:gd name="T36" fmla="*/ 898 w 976"/>
                  <a:gd name="T37" fmla="*/ 198 h 416"/>
                  <a:gd name="T38" fmla="*/ 922 w 976"/>
                  <a:gd name="T39" fmla="*/ 231 h 416"/>
                  <a:gd name="T40" fmla="*/ 949 w 976"/>
                  <a:gd name="T41" fmla="*/ 240 h 416"/>
                  <a:gd name="T42" fmla="*/ 958 w 976"/>
                  <a:gd name="T43" fmla="*/ 291 h 416"/>
                  <a:gd name="T44" fmla="*/ 973 w 976"/>
                  <a:gd name="T45" fmla="*/ 327 h 416"/>
                  <a:gd name="T46" fmla="*/ 970 w 976"/>
                  <a:gd name="T47" fmla="*/ 414 h 416"/>
                  <a:gd name="T48" fmla="*/ 55 w 976"/>
                  <a:gd name="T49" fmla="*/ 339 h 41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76"/>
                  <a:gd name="T76" fmla="*/ 0 h 416"/>
                  <a:gd name="T77" fmla="*/ 976 w 976"/>
                  <a:gd name="T78" fmla="*/ 416 h 41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76" h="416">
                    <a:moveTo>
                      <a:pt x="31" y="288"/>
                    </a:moveTo>
                    <a:cubicBezTo>
                      <a:pt x="23" y="277"/>
                      <a:pt x="16" y="267"/>
                      <a:pt x="10" y="255"/>
                    </a:cubicBezTo>
                    <a:cubicBezTo>
                      <a:pt x="7" y="240"/>
                      <a:pt x="0" y="225"/>
                      <a:pt x="7" y="210"/>
                    </a:cubicBezTo>
                    <a:cubicBezTo>
                      <a:pt x="20" y="180"/>
                      <a:pt x="75" y="173"/>
                      <a:pt x="100" y="171"/>
                    </a:cubicBezTo>
                    <a:cubicBezTo>
                      <a:pt x="120" y="159"/>
                      <a:pt x="122" y="149"/>
                      <a:pt x="130" y="135"/>
                    </a:cubicBezTo>
                    <a:cubicBezTo>
                      <a:pt x="132" y="106"/>
                      <a:pt x="127" y="98"/>
                      <a:pt x="148" y="84"/>
                    </a:cubicBezTo>
                    <a:cubicBezTo>
                      <a:pt x="158" y="63"/>
                      <a:pt x="174" y="41"/>
                      <a:pt x="196" y="30"/>
                    </a:cubicBezTo>
                    <a:cubicBezTo>
                      <a:pt x="206" y="25"/>
                      <a:pt x="229" y="21"/>
                      <a:pt x="229" y="21"/>
                    </a:cubicBezTo>
                    <a:cubicBezTo>
                      <a:pt x="252" y="27"/>
                      <a:pt x="299" y="58"/>
                      <a:pt x="334" y="63"/>
                    </a:cubicBezTo>
                    <a:cubicBezTo>
                      <a:pt x="366" y="84"/>
                      <a:pt x="410" y="70"/>
                      <a:pt x="442" y="54"/>
                    </a:cubicBezTo>
                    <a:cubicBezTo>
                      <a:pt x="451" y="40"/>
                      <a:pt x="462" y="38"/>
                      <a:pt x="478" y="33"/>
                    </a:cubicBezTo>
                    <a:cubicBezTo>
                      <a:pt x="504" y="24"/>
                      <a:pt x="525" y="7"/>
                      <a:pt x="553" y="0"/>
                    </a:cubicBezTo>
                    <a:cubicBezTo>
                      <a:pt x="567" y="9"/>
                      <a:pt x="572" y="24"/>
                      <a:pt x="589" y="30"/>
                    </a:cubicBezTo>
                    <a:cubicBezTo>
                      <a:pt x="646" y="22"/>
                      <a:pt x="641" y="66"/>
                      <a:pt x="685" y="81"/>
                    </a:cubicBezTo>
                    <a:cubicBezTo>
                      <a:pt x="710" y="100"/>
                      <a:pt x="702" y="152"/>
                      <a:pt x="724" y="159"/>
                    </a:cubicBezTo>
                    <a:cubicBezTo>
                      <a:pt x="738" y="167"/>
                      <a:pt x="752" y="134"/>
                      <a:pt x="769" y="132"/>
                    </a:cubicBezTo>
                    <a:cubicBezTo>
                      <a:pt x="788" y="145"/>
                      <a:pt x="805" y="142"/>
                      <a:pt x="829" y="144"/>
                    </a:cubicBezTo>
                    <a:cubicBezTo>
                      <a:pt x="843" y="149"/>
                      <a:pt x="857" y="152"/>
                      <a:pt x="871" y="156"/>
                    </a:cubicBezTo>
                    <a:cubicBezTo>
                      <a:pt x="875" y="185"/>
                      <a:pt x="876" y="183"/>
                      <a:pt x="898" y="198"/>
                    </a:cubicBezTo>
                    <a:cubicBezTo>
                      <a:pt x="902" y="211"/>
                      <a:pt x="909" y="225"/>
                      <a:pt x="922" y="231"/>
                    </a:cubicBezTo>
                    <a:cubicBezTo>
                      <a:pt x="930" y="238"/>
                      <a:pt x="943" y="230"/>
                      <a:pt x="949" y="240"/>
                    </a:cubicBezTo>
                    <a:cubicBezTo>
                      <a:pt x="963" y="262"/>
                      <a:pt x="952" y="242"/>
                      <a:pt x="958" y="291"/>
                    </a:cubicBezTo>
                    <a:cubicBezTo>
                      <a:pt x="962" y="305"/>
                      <a:pt x="971" y="307"/>
                      <a:pt x="973" y="327"/>
                    </a:cubicBezTo>
                    <a:cubicBezTo>
                      <a:pt x="972" y="356"/>
                      <a:pt x="976" y="386"/>
                      <a:pt x="970" y="414"/>
                    </a:cubicBezTo>
                    <a:cubicBezTo>
                      <a:pt x="817" y="416"/>
                      <a:pt x="207" y="351"/>
                      <a:pt x="55" y="339"/>
                    </a:cubicBezTo>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136" name="Freeform 228"/>
              <p:cNvSpPr>
                <a:spLocks/>
              </p:cNvSpPr>
              <p:nvPr/>
            </p:nvSpPr>
            <p:spPr bwMode="auto">
              <a:xfrm>
                <a:off x="2592" y="1184"/>
                <a:ext cx="1169" cy="449"/>
              </a:xfrm>
              <a:custGeom>
                <a:avLst/>
                <a:gdLst>
                  <a:gd name="T0" fmla="*/ 0 w 1169"/>
                  <a:gd name="T1" fmla="*/ 423 h 449"/>
                  <a:gd name="T2" fmla="*/ 48 w 1169"/>
                  <a:gd name="T3" fmla="*/ 327 h 449"/>
                  <a:gd name="T4" fmla="*/ 63 w 1169"/>
                  <a:gd name="T5" fmla="*/ 324 h 449"/>
                  <a:gd name="T6" fmla="*/ 99 w 1169"/>
                  <a:gd name="T7" fmla="*/ 276 h 449"/>
                  <a:gd name="T8" fmla="*/ 123 w 1169"/>
                  <a:gd name="T9" fmla="*/ 249 h 449"/>
                  <a:gd name="T10" fmla="*/ 162 w 1169"/>
                  <a:gd name="T11" fmla="*/ 216 h 449"/>
                  <a:gd name="T12" fmla="*/ 225 w 1169"/>
                  <a:gd name="T13" fmla="*/ 201 h 449"/>
                  <a:gd name="T14" fmla="*/ 309 w 1169"/>
                  <a:gd name="T15" fmla="*/ 201 h 449"/>
                  <a:gd name="T16" fmla="*/ 276 w 1169"/>
                  <a:gd name="T17" fmla="*/ 171 h 449"/>
                  <a:gd name="T18" fmla="*/ 330 w 1169"/>
                  <a:gd name="T19" fmla="*/ 117 h 449"/>
                  <a:gd name="T20" fmla="*/ 372 w 1169"/>
                  <a:gd name="T21" fmla="*/ 108 h 449"/>
                  <a:gd name="T22" fmla="*/ 402 w 1169"/>
                  <a:gd name="T23" fmla="*/ 102 h 449"/>
                  <a:gd name="T24" fmla="*/ 444 w 1169"/>
                  <a:gd name="T25" fmla="*/ 138 h 449"/>
                  <a:gd name="T26" fmla="*/ 462 w 1169"/>
                  <a:gd name="T27" fmla="*/ 141 h 449"/>
                  <a:gd name="T28" fmla="*/ 525 w 1169"/>
                  <a:gd name="T29" fmla="*/ 174 h 449"/>
                  <a:gd name="T30" fmla="*/ 612 w 1169"/>
                  <a:gd name="T31" fmla="*/ 120 h 449"/>
                  <a:gd name="T32" fmla="*/ 597 w 1169"/>
                  <a:gd name="T33" fmla="*/ 93 h 449"/>
                  <a:gd name="T34" fmla="*/ 648 w 1169"/>
                  <a:gd name="T35" fmla="*/ 60 h 449"/>
                  <a:gd name="T36" fmla="*/ 768 w 1169"/>
                  <a:gd name="T37" fmla="*/ 0 h 449"/>
                  <a:gd name="T38" fmla="*/ 903 w 1169"/>
                  <a:gd name="T39" fmla="*/ 15 h 449"/>
                  <a:gd name="T40" fmla="*/ 924 w 1169"/>
                  <a:gd name="T41" fmla="*/ 24 h 449"/>
                  <a:gd name="T42" fmla="*/ 927 w 1169"/>
                  <a:gd name="T43" fmla="*/ 15 h 449"/>
                  <a:gd name="T44" fmla="*/ 936 w 1169"/>
                  <a:gd name="T45" fmla="*/ 12 h 449"/>
                  <a:gd name="T46" fmla="*/ 978 w 1169"/>
                  <a:gd name="T47" fmla="*/ 99 h 449"/>
                  <a:gd name="T48" fmla="*/ 1032 w 1169"/>
                  <a:gd name="T49" fmla="*/ 165 h 449"/>
                  <a:gd name="T50" fmla="*/ 1086 w 1169"/>
                  <a:gd name="T51" fmla="*/ 186 h 449"/>
                  <a:gd name="T52" fmla="*/ 1161 w 1169"/>
                  <a:gd name="T53" fmla="*/ 255 h 449"/>
                  <a:gd name="T54" fmla="*/ 1143 w 1169"/>
                  <a:gd name="T55" fmla="*/ 288 h 449"/>
                  <a:gd name="T56" fmla="*/ 1167 w 1169"/>
                  <a:gd name="T57" fmla="*/ 393 h 449"/>
                  <a:gd name="T58" fmla="*/ 1074 w 1169"/>
                  <a:gd name="T59" fmla="*/ 441 h 449"/>
                  <a:gd name="T60" fmla="*/ 0 w 1169"/>
                  <a:gd name="T61" fmla="*/ 423 h 4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169"/>
                  <a:gd name="T94" fmla="*/ 0 h 449"/>
                  <a:gd name="T95" fmla="*/ 1169 w 1169"/>
                  <a:gd name="T96" fmla="*/ 449 h 44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169" h="449">
                    <a:moveTo>
                      <a:pt x="0" y="423"/>
                    </a:moveTo>
                    <a:cubicBezTo>
                      <a:pt x="16" y="391"/>
                      <a:pt x="28" y="357"/>
                      <a:pt x="48" y="327"/>
                    </a:cubicBezTo>
                    <a:cubicBezTo>
                      <a:pt x="83" y="275"/>
                      <a:pt x="45" y="379"/>
                      <a:pt x="63" y="324"/>
                    </a:cubicBezTo>
                    <a:cubicBezTo>
                      <a:pt x="68" y="272"/>
                      <a:pt x="67" y="297"/>
                      <a:pt x="99" y="276"/>
                    </a:cubicBezTo>
                    <a:cubicBezTo>
                      <a:pt x="109" y="264"/>
                      <a:pt x="112" y="259"/>
                      <a:pt x="123" y="249"/>
                    </a:cubicBezTo>
                    <a:cubicBezTo>
                      <a:pt x="137" y="239"/>
                      <a:pt x="150" y="228"/>
                      <a:pt x="162" y="216"/>
                    </a:cubicBezTo>
                    <a:cubicBezTo>
                      <a:pt x="121" y="188"/>
                      <a:pt x="114" y="197"/>
                      <a:pt x="225" y="201"/>
                    </a:cubicBezTo>
                    <a:cubicBezTo>
                      <a:pt x="257" y="209"/>
                      <a:pt x="252" y="209"/>
                      <a:pt x="309" y="201"/>
                    </a:cubicBezTo>
                    <a:cubicBezTo>
                      <a:pt x="317" y="196"/>
                      <a:pt x="272" y="185"/>
                      <a:pt x="276" y="171"/>
                    </a:cubicBezTo>
                    <a:cubicBezTo>
                      <a:pt x="276" y="110"/>
                      <a:pt x="281" y="122"/>
                      <a:pt x="330" y="117"/>
                    </a:cubicBezTo>
                    <a:cubicBezTo>
                      <a:pt x="345" y="115"/>
                      <a:pt x="358" y="113"/>
                      <a:pt x="372" y="108"/>
                    </a:cubicBezTo>
                    <a:cubicBezTo>
                      <a:pt x="381" y="101"/>
                      <a:pt x="389" y="91"/>
                      <a:pt x="402" y="102"/>
                    </a:cubicBezTo>
                    <a:cubicBezTo>
                      <a:pt x="431" y="126"/>
                      <a:pt x="410" y="132"/>
                      <a:pt x="444" y="138"/>
                    </a:cubicBezTo>
                    <a:cubicBezTo>
                      <a:pt x="450" y="139"/>
                      <a:pt x="456" y="140"/>
                      <a:pt x="462" y="141"/>
                    </a:cubicBezTo>
                    <a:cubicBezTo>
                      <a:pt x="476" y="147"/>
                      <a:pt x="500" y="177"/>
                      <a:pt x="525" y="174"/>
                    </a:cubicBezTo>
                    <a:cubicBezTo>
                      <a:pt x="560" y="170"/>
                      <a:pt x="595" y="153"/>
                      <a:pt x="612" y="120"/>
                    </a:cubicBezTo>
                    <a:cubicBezTo>
                      <a:pt x="608" y="106"/>
                      <a:pt x="601" y="106"/>
                      <a:pt x="597" y="93"/>
                    </a:cubicBezTo>
                    <a:cubicBezTo>
                      <a:pt x="602" y="62"/>
                      <a:pt x="622" y="69"/>
                      <a:pt x="648" y="60"/>
                    </a:cubicBezTo>
                    <a:cubicBezTo>
                      <a:pt x="685" y="23"/>
                      <a:pt x="715" y="5"/>
                      <a:pt x="768" y="0"/>
                    </a:cubicBezTo>
                    <a:cubicBezTo>
                      <a:pt x="826" y="2"/>
                      <a:pt x="852" y="10"/>
                      <a:pt x="903" y="15"/>
                    </a:cubicBezTo>
                    <a:cubicBezTo>
                      <a:pt x="910" y="18"/>
                      <a:pt x="917" y="27"/>
                      <a:pt x="924" y="24"/>
                    </a:cubicBezTo>
                    <a:cubicBezTo>
                      <a:pt x="927" y="23"/>
                      <a:pt x="924" y="16"/>
                      <a:pt x="927" y="15"/>
                    </a:cubicBezTo>
                    <a:cubicBezTo>
                      <a:pt x="930" y="14"/>
                      <a:pt x="933" y="13"/>
                      <a:pt x="936" y="12"/>
                    </a:cubicBezTo>
                    <a:cubicBezTo>
                      <a:pt x="959" y="35"/>
                      <a:pt x="970" y="68"/>
                      <a:pt x="978" y="99"/>
                    </a:cubicBezTo>
                    <a:cubicBezTo>
                      <a:pt x="982" y="152"/>
                      <a:pt x="985" y="151"/>
                      <a:pt x="1032" y="165"/>
                    </a:cubicBezTo>
                    <a:cubicBezTo>
                      <a:pt x="1050" y="179"/>
                      <a:pt x="1065" y="171"/>
                      <a:pt x="1086" y="186"/>
                    </a:cubicBezTo>
                    <a:cubicBezTo>
                      <a:pt x="1105" y="214"/>
                      <a:pt x="1139" y="228"/>
                      <a:pt x="1161" y="255"/>
                    </a:cubicBezTo>
                    <a:cubicBezTo>
                      <a:pt x="1169" y="286"/>
                      <a:pt x="1169" y="271"/>
                      <a:pt x="1143" y="288"/>
                    </a:cubicBezTo>
                    <a:cubicBezTo>
                      <a:pt x="1131" y="324"/>
                      <a:pt x="1151" y="361"/>
                      <a:pt x="1167" y="393"/>
                    </a:cubicBezTo>
                    <a:cubicBezTo>
                      <a:pt x="1161" y="449"/>
                      <a:pt x="1133" y="439"/>
                      <a:pt x="1074" y="441"/>
                    </a:cubicBezTo>
                    <a:cubicBezTo>
                      <a:pt x="880" y="446"/>
                      <a:pt x="171" y="442"/>
                      <a:pt x="0" y="423"/>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137" name="Freeform 229"/>
              <p:cNvSpPr>
                <a:spLocks/>
              </p:cNvSpPr>
              <p:nvPr/>
            </p:nvSpPr>
            <p:spPr bwMode="auto">
              <a:xfrm>
                <a:off x="1584" y="1344"/>
                <a:ext cx="2224" cy="453"/>
              </a:xfrm>
              <a:custGeom>
                <a:avLst/>
                <a:gdLst>
                  <a:gd name="T0" fmla="*/ 118 w 2224"/>
                  <a:gd name="T1" fmla="*/ 75 h 453"/>
                  <a:gd name="T2" fmla="*/ 214 w 2224"/>
                  <a:gd name="T3" fmla="*/ 96 h 453"/>
                  <a:gd name="T4" fmla="*/ 322 w 2224"/>
                  <a:gd name="T5" fmla="*/ 18 h 453"/>
                  <a:gd name="T6" fmla="*/ 367 w 2224"/>
                  <a:gd name="T7" fmla="*/ 84 h 453"/>
                  <a:gd name="T8" fmla="*/ 520 w 2224"/>
                  <a:gd name="T9" fmla="*/ 93 h 453"/>
                  <a:gd name="T10" fmla="*/ 574 w 2224"/>
                  <a:gd name="T11" fmla="*/ 153 h 453"/>
                  <a:gd name="T12" fmla="*/ 721 w 2224"/>
                  <a:gd name="T13" fmla="*/ 159 h 453"/>
                  <a:gd name="T14" fmla="*/ 817 w 2224"/>
                  <a:gd name="T15" fmla="*/ 126 h 453"/>
                  <a:gd name="T16" fmla="*/ 958 w 2224"/>
                  <a:gd name="T17" fmla="*/ 207 h 453"/>
                  <a:gd name="T18" fmla="*/ 1231 w 2224"/>
                  <a:gd name="T19" fmla="*/ 255 h 453"/>
                  <a:gd name="T20" fmla="*/ 1318 w 2224"/>
                  <a:gd name="T21" fmla="*/ 213 h 453"/>
                  <a:gd name="T22" fmla="*/ 1384 w 2224"/>
                  <a:gd name="T23" fmla="*/ 219 h 453"/>
                  <a:gd name="T24" fmla="*/ 1459 w 2224"/>
                  <a:gd name="T25" fmla="*/ 192 h 453"/>
                  <a:gd name="T26" fmla="*/ 1495 w 2224"/>
                  <a:gd name="T27" fmla="*/ 144 h 453"/>
                  <a:gd name="T28" fmla="*/ 1600 w 2224"/>
                  <a:gd name="T29" fmla="*/ 102 h 453"/>
                  <a:gd name="T30" fmla="*/ 1714 w 2224"/>
                  <a:gd name="T31" fmla="*/ 165 h 453"/>
                  <a:gd name="T32" fmla="*/ 1786 w 2224"/>
                  <a:gd name="T33" fmla="*/ 147 h 453"/>
                  <a:gd name="T34" fmla="*/ 1801 w 2224"/>
                  <a:gd name="T35" fmla="*/ 45 h 453"/>
                  <a:gd name="T36" fmla="*/ 1864 w 2224"/>
                  <a:gd name="T37" fmla="*/ 42 h 453"/>
                  <a:gd name="T38" fmla="*/ 1954 w 2224"/>
                  <a:gd name="T39" fmla="*/ 153 h 453"/>
                  <a:gd name="T40" fmla="*/ 2170 w 2224"/>
                  <a:gd name="T41" fmla="*/ 168 h 453"/>
                  <a:gd name="T42" fmla="*/ 2167 w 2224"/>
                  <a:gd name="T43" fmla="*/ 252 h 453"/>
                  <a:gd name="T44" fmla="*/ 2086 w 2224"/>
                  <a:gd name="T45" fmla="*/ 300 h 453"/>
                  <a:gd name="T46" fmla="*/ 1876 w 2224"/>
                  <a:gd name="T47" fmla="*/ 381 h 453"/>
                  <a:gd name="T48" fmla="*/ 1642 w 2224"/>
                  <a:gd name="T49" fmla="*/ 381 h 453"/>
                  <a:gd name="T50" fmla="*/ 1390 w 2224"/>
                  <a:gd name="T51" fmla="*/ 387 h 453"/>
                  <a:gd name="T52" fmla="*/ 1231 w 2224"/>
                  <a:gd name="T53" fmla="*/ 390 h 453"/>
                  <a:gd name="T54" fmla="*/ 976 w 2224"/>
                  <a:gd name="T55" fmla="*/ 408 h 453"/>
                  <a:gd name="T56" fmla="*/ 847 w 2224"/>
                  <a:gd name="T57" fmla="*/ 435 h 453"/>
                  <a:gd name="T58" fmla="*/ 685 w 2224"/>
                  <a:gd name="T59" fmla="*/ 450 h 453"/>
                  <a:gd name="T60" fmla="*/ 550 w 2224"/>
                  <a:gd name="T61" fmla="*/ 378 h 453"/>
                  <a:gd name="T62" fmla="*/ 388 w 2224"/>
                  <a:gd name="T63" fmla="*/ 297 h 453"/>
                  <a:gd name="T64" fmla="*/ 274 w 2224"/>
                  <a:gd name="T65" fmla="*/ 228 h 453"/>
                  <a:gd name="T66" fmla="*/ 133 w 2224"/>
                  <a:gd name="T67" fmla="*/ 192 h 453"/>
                  <a:gd name="T68" fmla="*/ 10 w 2224"/>
                  <a:gd name="T69" fmla="*/ 180 h 453"/>
                  <a:gd name="T70" fmla="*/ 52 w 2224"/>
                  <a:gd name="T71" fmla="*/ 135 h 45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224"/>
                  <a:gd name="T109" fmla="*/ 0 h 453"/>
                  <a:gd name="T110" fmla="*/ 2224 w 2224"/>
                  <a:gd name="T111" fmla="*/ 453 h 45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224" h="453">
                    <a:moveTo>
                      <a:pt x="52" y="135"/>
                    </a:moveTo>
                    <a:cubicBezTo>
                      <a:pt x="70" y="123"/>
                      <a:pt x="96" y="81"/>
                      <a:pt x="118" y="75"/>
                    </a:cubicBezTo>
                    <a:cubicBezTo>
                      <a:pt x="156" y="78"/>
                      <a:pt x="157" y="86"/>
                      <a:pt x="187" y="96"/>
                    </a:cubicBezTo>
                    <a:cubicBezTo>
                      <a:pt x="196" y="110"/>
                      <a:pt x="202" y="104"/>
                      <a:pt x="214" y="96"/>
                    </a:cubicBezTo>
                    <a:cubicBezTo>
                      <a:pt x="224" y="81"/>
                      <a:pt x="224" y="58"/>
                      <a:pt x="235" y="45"/>
                    </a:cubicBezTo>
                    <a:cubicBezTo>
                      <a:pt x="249" y="27"/>
                      <a:pt x="301" y="20"/>
                      <a:pt x="322" y="18"/>
                    </a:cubicBezTo>
                    <a:cubicBezTo>
                      <a:pt x="344" y="11"/>
                      <a:pt x="361" y="0"/>
                      <a:pt x="370" y="0"/>
                    </a:cubicBezTo>
                    <a:cubicBezTo>
                      <a:pt x="377" y="11"/>
                      <a:pt x="348" y="72"/>
                      <a:pt x="367" y="84"/>
                    </a:cubicBezTo>
                    <a:cubicBezTo>
                      <a:pt x="414" y="81"/>
                      <a:pt x="448" y="79"/>
                      <a:pt x="484" y="72"/>
                    </a:cubicBezTo>
                    <a:cubicBezTo>
                      <a:pt x="509" y="73"/>
                      <a:pt x="517" y="83"/>
                      <a:pt x="520" y="93"/>
                    </a:cubicBezTo>
                    <a:cubicBezTo>
                      <a:pt x="524" y="108"/>
                      <a:pt x="501" y="121"/>
                      <a:pt x="505" y="135"/>
                    </a:cubicBezTo>
                    <a:cubicBezTo>
                      <a:pt x="508" y="144"/>
                      <a:pt x="564" y="151"/>
                      <a:pt x="574" y="153"/>
                    </a:cubicBezTo>
                    <a:cubicBezTo>
                      <a:pt x="598" y="155"/>
                      <a:pt x="628" y="146"/>
                      <a:pt x="652" y="147"/>
                    </a:cubicBezTo>
                    <a:cubicBezTo>
                      <a:pt x="672" y="140"/>
                      <a:pt x="703" y="163"/>
                      <a:pt x="721" y="159"/>
                    </a:cubicBezTo>
                    <a:cubicBezTo>
                      <a:pt x="733" y="160"/>
                      <a:pt x="745" y="165"/>
                      <a:pt x="757" y="165"/>
                    </a:cubicBezTo>
                    <a:cubicBezTo>
                      <a:pt x="778" y="165"/>
                      <a:pt x="797" y="130"/>
                      <a:pt x="817" y="126"/>
                    </a:cubicBezTo>
                    <a:cubicBezTo>
                      <a:pt x="886" y="99"/>
                      <a:pt x="853" y="77"/>
                      <a:pt x="904" y="60"/>
                    </a:cubicBezTo>
                    <a:cubicBezTo>
                      <a:pt x="929" y="66"/>
                      <a:pt x="964" y="117"/>
                      <a:pt x="958" y="207"/>
                    </a:cubicBezTo>
                    <a:cubicBezTo>
                      <a:pt x="1054" y="63"/>
                      <a:pt x="1057" y="250"/>
                      <a:pt x="1198" y="180"/>
                    </a:cubicBezTo>
                    <a:cubicBezTo>
                      <a:pt x="1242" y="195"/>
                      <a:pt x="1216" y="246"/>
                      <a:pt x="1231" y="255"/>
                    </a:cubicBezTo>
                    <a:cubicBezTo>
                      <a:pt x="1249" y="244"/>
                      <a:pt x="1267" y="236"/>
                      <a:pt x="1288" y="231"/>
                    </a:cubicBezTo>
                    <a:cubicBezTo>
                      <a:pt x="1298" y="223"/>
                      <a:pt x="1308" y="220"/>
                      <a:pt x="1318" y="213"/>
                    </a:cubicBezTo>
                    <a:cubicBezTo>
                      <a:pt x="1328" y="198"/>
                      <a:pt x="1343" y="177"/>
                      <a:pt x="1360" y="171"/>
                    </a:cubicBezTo>
                    <a:cubicBezTo>
                      <a:pt x="1371" y="187"/>
                      <a:pt x="1367" y="208"/>
                      <a:pt x="1384" y="219"/>
                    </a:cubicBezTo>
                    <a:cubicBezTo>
                      <a:pt x="1401" y="218"/>
                      <a:pt x="1418" y="219"/>
                      <a:pt x="1435" y="216"/>
                    </a:cubicBezTo>
                    <a:cubicBezTo>
                      <a:pt x="1447" y="214"/>
                      <a:pt x="1446" y="195"/>
                      <a:pt x="1459" y="192"/>
                    </a:cubicBezTo>
                    <a:cubicBezTo>
                      <a:pt x="1470" y="190"/>
                      <a:pt x="1481" y="190"/>
                      <a:pt x="1492" y="189"/>
                    </a:cubicBezTo>
                    <a:cubicBezTo>
                      <a:pt x="1493" y="174"/>
                      <a:pt x="1497" y="159"/>
                      <a:pt x="1495" y="144"/>
                    </a:cubicBezTo>
                    <a:cubicBezTo>
                      <a:pt x="1506" y="129"/>
                      <a:pt x="1543" y="106"/>
                      <a:pt x="1561" y="99"/>
                    </a:cubicBezTo>
                    <a:cubicBezTo>
                      <a:pt x="1574" y="100"/>
                      <a:pt x="1587" y="99"/>
                      <a:pt x="1600" y="102"/>
                    </a:cubicBezTo>
                    <a:cubicBezTo>
                      <a:pt x="1614" y="106"/>
                      <a:pt x="1620" y="133"/>
                      <a:pt x="1633" y="141"/>
                    </a:cubicBezTo>
                    <a:cubicBezTo>
                      <a:pt x="1656" y="154"/>
                      <a:pt x="1687" y="161"/>
                      <a:pt x="1714" y="165"/>
                    </a:cubicBezTo>
                    <a:cubicBezTo>
                      <a:pt x="1733" y="164"/>
                      <a:pt x="1752" y="165"/>
                      <a:pt x="1771" y="162"/>
                    </a:cubicBezTo>
                    <a:cubicBezTo>
                      <a:pt x="1781" y="161"/>
                      <a:pt x="1780" y="152"/>
                      <a:pt x="1786" y="147"/>
                    </a:cubicBezTo>
                    <a:cubicBezTo>
                      <a:pt x="1791" y="142"/>
                      <a:pt x="1804" y="135"/>
                      <a:pt x="1804" y="135"/>
                    </a:cubicBezTo>
                    <a:cubicBezTo>
                      <a:pt x="1803" y="105"/>
                      <a:pt x="1801" y="75"/>
                      <a:pt x="1801" y="45"/>
                    </a:cubicBezTo>
                    <a:cubicBezTo>
                      <a:pt x="1801" y="37"/>
                      <a:pt x="1798" y="26"/>
                      <a:pt x="1804" y="21"/>
                    </a:cubicBezTo>
                    <a:cubicBezTo>
                      <a:pt x="1804" y="21"/>
                      <a:pt x="1854" y="34"/>
                      <a:pt x="1864" y="42"/>
                    </a:cubicBezTo>
                    <a:cubicBezTo>
                      <a:pt x="1883" y="57"/>
                      <a:pt x="1916" y="91"/>
                      <a:pt x="1924" y="114"/>
                    </a:cubicBezTo>
                    <a:cubicBezTo>
                      <a:pt x="1929" y="130"/>
                      <a:pt x="1939" y="144"/>
                      <a:pt x="1954" y="153"/>
                    </a:cubicBezTo>
                    <a:cubicBezTo>
                      <a:pt x="1975" y="166"/>
                      <a:pt x="1994" y="163"/>
                      <a:pt x="2020" y="165"/>
                    </a:cubicBezTo>
                    <a:cubicBezTo>
                      <a:pt x="2062" y="193"/>
                      <a:pt x="2170" y="168"/>
                      <a:pt x="2170" y="168"/>
                    </a:cubicBezTo>
                    <a:cubicBezTo>
                      <a:pt x="2213" y="172"/>
                      <a:pt x="2214" y="180"/>
                      <a:pt x="2224" y="219"/>
                    </a:cubicBezTo>
                    <a:cubicBezTo>
                      <a:pt x="2218" y="237"/>
                      <a:pt x="2185" y="246"/>
                      <a:pt x="2167" y="252"/>
                    </a:cubicBezTo>
                    <a:cubicBezTo>
                      <a:pt x="2155" y="264"/>
                      <a:pt x="2141" y="274"/>
                      <a:pt x="2125" y="279"/>
                    </a:cubicBezTo>
                    <a:cubicBezTo>
                      <a:pt x="2097" y="300"/>
                      <a:pt x="2111" y="295"/>
                      <a:pt x="2086" y="300"/>
                    </a:cubicBezTo>
                    <a:cubicBezTo>
                      <a:pt x="2060" y="317"/>
                      <a:pt x="2026" y="354"/>
                      <a:pt x="1996" y="357"/>
                    </a:cubicBezTo>
                    <a:cubicBezTo>
                      <a:pt x="1956" y="370"/>
                      <a:pt x="1917" y="373"/>
                      <a:pt x="1876" y="381"/>
                    </a:cubicBezTo>
                    <a:cubicBezTo>
                      <a:pt x="1833" y="410"/>
                      <a:pt x="1761" y="378"/>
                      <a:pt x="1711" y="390"/>
                    </a:cubicBezTo>
                    <a:cubicBezTo>
                      <a:pt x="1650" y="384"/>
                      <a:pt x="1673" y="389"/>
                      <a:pt x="1642" y="381"/>
                    </a:cubicBezTo>
                    <a:cubicBezTo>
                      <a:pt x="1610" y="361"/>
                      <a:pt x="1609" y="366"/>
                      <a:pt x="1573" y="354"/>
                    </a:cubicBezTo>
                    <a:cubicBezTo>
                      <a:pt x="1552" y="417"/>
                      <a:pt x="1441" y="385"/>
                      <a:pt x="1390" y="387"/>
                    </a:cubicBezTo>
                    <a:cubicBezTo>
                      <a:pt x="1344" y="384"/>
                      <a:pt x="1321" y="340"/>
                      <a:pt x="1294" y="336"/>
                    </a:cubicBezTo>
                    <a:cubicBezTo>
                      <a:pt x="1268" y="340"/>
                      <a:pt x="1254" y="379"/>
                      <a:pt x="1231" y="390"/>
                    </a:cubicBezTo>
                    <a:cubicBezTo>
                      <a:pt x="1200" y="405"/>
                      <a:pt x="1154" y="386"/>
                      <a:pt x="1120" y="396"/>
                    </a:cubicBezTo>
                    <a:cubicBezTo>
                      <a:pt x="1075" y="409"/>
                      <a:pt x="1020" y="406"/>
                      <a:pt x="976" y="408"/>
                    </a:cubicBezTo>
                    <a:cubicBezTo>
                      <a:pt x="945" y="410"/>
                      <a:pt x="914" y="413"/>
                      <a:pt x="883" y="417"/>
                    </a:cubicBezTo>
                    <a:cubicBezTo>
                      <a:pt x="870" y="421"/>
                      <a:pt x="859" y="430"/>
                      <a:pt x="847" y="435"/>
                    </a:cubicBezTo>
                    <a:cubicBezTo>
                      <a:pt x="822" y="446"/>
                      <a:pt x="797" y="450"/>
                      <a:pt x="769" y="453"/>
                    </a:cubicBezTo>
                    <a:cubicBezTo>
                      <a:pt x="741" y="452"/>
                      <a:pt x="713" y="452"/>
                      <a:pt x="685" y="450"/>
                    </a:cubicBezTo>
                    <a:cubicBezTo>
                      <a:pt x="661" y="449"/>
                      <a:pt x="637" y="434"/>
                      <a:pt x="613" y="429"/>
                    </a:cubicBezTo>
                    <a:cubicBezTo>
                      <a:pt x="591" y="417"/>
                      <a:pt x="570" y="390"/>
                      <a:pt x="550" y="378"/>
                    </a:cubicBezTo>
                    <a:cubicBezTo>
                      <a:pt x="525" y="353"/>
                      <a:pt x="545" y="361"/>
                      <a:pt x="490" y="357"/>
                    </a:cubicBezTo>
                    <a:cubicBezTo>
                      <a:pt x="466" y="339"/>
                      <a:pt x="415" y="325"/>
                      <a:pt x="388" y="297"/>
                    </a:cubicBezTo>
                    <a:cubicBezTo>
                      <a:pt x="361" y="269"/>
                      <a:pt x="343" y="201"/>
                      <a:pt x="328" y="189"/>
                    </a:cubicBezTo>
                    <a:cubicBezTo>
                      <a:pt x="309" y="178"/>
                      <a:pt x="300" y="223"/>
                      <a:pt x="274" y="228"/>
                    </a:cubicBezTo>
                    <a:cubicBezTo>
                      <a:pt x="235" y="226"/>
                      <a:pt x="207" y="226"/>
                      <a:pt x="172" y="219"/>
                    </a:cubicBezTo>
                    <a:cubicBezTo>
                      <a:pt x="156" y="211"/>
                      <a:pt x="150" y="196"/>
                      <a:pt x="133" y="192"/>
                    </a:cubicBezTo>
                    <a:cubicBezTo>
                      <a:pt x="98" y="199"/>
                      <a:pt x="76" y="197"/>
                      <a:pt x="37" y="195"/>
                    </a:cubicBezTo>
                    <a:cubicBezTo>
                      <a:pt x="25" y="192"/>
                      <a:pt x="15" y="192"/>
                      <a:pt x="10" y="180"/>
                    </a:cubicBezTo>
                    <a:cubicBezTo>
                      <a:pt x="5" y="172"/>
                      <a:pt x="0" y="154"/>
                      <a:pt x="7" y="147"/>
                    </a:cubicBezTo>
                    <a:cubicBezTo>
                      <a:pt x="12" y="140"/>
                      <a:pt x="41" y="131"/>
                      <a:pt x="52" y="135"/>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138" name="Freeform 230"/>
              <p:cNvSpPr>
                <a:spLocks/>
              </p:cNvSpPr>
              <p:nvPr/>
            </p:nvSpPr>
            <p:spPr bwMode="auto">
              <a:xfrm>
                <a:off x="1968" y="1136"/>
                <a:ext cx="415" cy="295"/>
              </a:xfrm>
              <a:custGeom>
                <a:avLst/>
                <a:gdLst>
                  <a:gd name="T0" fmla="*/ 73 w 415"/>
                  <a:gd name="T1" fmla="*/ 247 h 295"/>
                  <a:gd name="T2" fmla="*/ 13 w 415"/>
                  <a:gd name="T3" fmla="*/ 193 h 295"/>
                  <a:gd name="T4" fmla="*/ 58 w 415"/>
                  <a:gd name="T5" fmla="*/ 154 h 295"/>
                  <a:gd name="T6" fmla="*/ 82 w 415"/>
                  <a:gd name="T7" fmla="*/ 124 h 295"/>
                  <a:gd name="T8" fmla="*/ 163 w 415"/>
                  <a:gd name="T9" fmla="*/ 43 h 295"/>
                  <a:gd name="T10" fmla="*/ 196 w 415"/>
                  <a:gd name="T11" fmla="*/ 10 h 295"/>
                  <a:gd name="T12" fmla="*/ 235 w 415"/>
                  <a:gd name="T13" fmla="*/ 106 h 295"/>
                  <a:gd name="T14" fmla="*/ 349 w 415"/>
                  <a:gd name="T15" fmla="*/ 157 h 295"/>
                  <a:gd name="T16" fmla="*/ 397 w 415"/>
                  <a:gd name="T17" fmla="*/ 211 h 295"/>
                  <a:gd name="T18" fmla="*/ 241 w 415"/>
                  <a:gd name="T19" fmla="*/ 244 h 295"/>
                  <a:gd name="T20" fmla="*/ 145 w 415"/>
                  <a:gd name="T21" fmla="*/ 256 h 295"/>
                  <a:gd name="T22" fmla="*/ 73 w 415"/>
                  <a:gd name="T23" fmla="*/ 247 h 2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5"/>
                  <a:gd name="T37" fmla="*/ 0 h 295"/>
                  <a:gd name="T38" fmla="*/ 415 w 415"/>
                  <a:gd name="T39" fmla="*/ 295 h 2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5" h="295">
                    <a:moveTo>
                      <a:pt x="73" y="247"/>
                    </a:moveTo>
                    <a:cubicBezTo>
                      <a:pt x="51" y="237"/>
                      <a:pt x="15" y="208"/>
                      <a:pt x="13" y="193"/>
                    </a:cubicBezTo>
                    <a:cubicBezTo>
                      <a:pt x="0" y="154"/>
                      <a:pt x="23" y="158"/>
                      <a:pt x="58" y="154"/>
                    </a:cubicBezTo>
                    <a:cubicBezTo>
                      <a:pt x="65" y="143"/>
                      <a:pt x="73" y="133"/>
                      <a:pt x="82" y="124"/>
                    </a:cubicBezTo>
                    <a:cubicBezTo>
                      <a:pt x="93" y="92"/>
                      <a:pt x="133" y="56"/>
                      <a:pt x="163" y="43"/>
                    </a:cubicBezTo>
                    <a:cubicBezTo>
                      <a:pt x="182" y="24"/>
                      <a:pt x="184" y="0"/>
                      <a:pt x="196" y="10"/>
                    </a:cubicBezTo>
                    <a:cubicBezTo>
                      <a:pt x="228" y="31"/>
                      <a:pt x="209" y="80"/>
                      <a:pt x="235" y="106"/>
                    </a:cubicBezTo>
                    <a:cubicBezTo>
                      <a:pt x="265" y="136"/>
                      <a:pt x="311" y="142"/>
                      <a:pt x="349" y="157"/>
                    </a:cubicBezTo>
                    <a:cubicBezTo>
                      <a:pt x="376" y="175"/>
                      <a:pt x="415" y="197"/>
                      <a:pt x="397" y="211"/>
                    </a:cubicBezTo>
                    <a:cubicBezTo>
                      <a:pt x="409" y="295"/>
                      <a:pt x="363" y="246"/>
                      <a:pt x="241" y="244"/>
                    </a:cubicBezTo>
                    <a:cubicBezTo>
                      <a:pt x="199" y="251"/>
                      <a:pt x="173" y="255"/>
                      <a:pt x="145" y="256"/>
                    </a:cubicBezTo>
                    <a:cubicBezTo>
                      <a:pt x="118" y="254"/>
                      <a:pt x="99" y="250"/>
                      <a:pt x="73" y="247"/>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139" name="Freeform 231"/>
              <p:cNvSpPr>
                <a:spLocks/>
              </p:cNvSpPr>
              <p:nvPr/>
            </p:nvSpPr>
            <p:spPr bwMode="auto">
              <a:xfrm>
                <a:off x="2476" y="1104"/>
                <a:ext cx="905" cy="292"/>
              </a:xfrm>
              <a:custGeom>
                <a:avLst/>
                <a:gdLst>
                  <a:gd name="T0" fmla="*/ 71 w 905"/>
                  <a:gd name="T1" fmla="*/ 278 h 292"/>
                  <a:gd name="T2" fmla="*/ 173 w 905"/>
                  <a:gd name="T3" fmla="*/ 278 h 292"/>
                  <a:gd name="T4" fmla="*/ 287 w 905"/>
                  <a:gd name="T5" fmla="*/ 266 h 292"/>
                  <a:gd name="T6" fmla="*/ 314 w 905"/>
                  <a:gd name="T7" fmla="*/ 290 h 292"/>
                  <a:gd name="T8" fmla="*/ 410 w 905"/>
                  <a:gd name="T9" fmla="*/ 281 h 292"/>
                  <a:gd name="T10" fmla="*/ 461 w 905"/>
                  <a:gd name="T11" fmla="*/ 239 h 292"/>
                  <a:gd name="T12" fmla="*/ 503 w 905"/>
                  <a:gd name="T13" fmla="*/ 236 h 292"/>
                  <a:gd name="T14" fmla="*/ 704 w 905"/>
                  <a:gd name="T15" fmla="*/ 227 h 292"/>
                  <a:gd name="T16" fmla="*/ 761 w 905"/>
                  <a:gd name="T17" fmla="*/ 197 h 292"/>
                  <a:gd name="T18" fmla="*/ 785 w 905"/>
                  <a:gd name="T19" fmla="*/ 158 h 292"/>
                  <a:gd name="T20" fmla="*/ 905 w 905"/>
                  <a:gd name="T21" fmla="*/ 104 h 292"/>
                  <a:gd name="T22" fmla="*/ 833 w 905"/>
                  <a:gd name="T23" fmla="*/ 32 h 292"/>
                  <a:gd name="T24" fmla="*/ 779 w 905"/>
                  <a:gd name="T25" fmla="*/ 11 h 292"/>
                  <a:gd name="T26" fmla="*/ 737 w 905"/>
                  <a:gd name="T27" fmla="*/ 8 h 292"/>
                  <a:gd name="T28" fmla="*/ 698 w 905"/>
                  <a:gd name="T29" fmla="*/ 35 h 292"/>
                  <a:gd name="T30" fmla="*/ 641 w 905"/>
                  <a:gd name="T31" fmla="*/ 50 h 292"/>
                  <a:gd name="T32" fmla="*/ 566 w 905"/>
                  <a:gd name="T33" fmla="*/ 41 h 292"/>
                  <a:gd name="T34" fmla="*/ 536 w 905"/>
                  <a:gd name="T35" fmla="*/ 26 h 292"/>
                  <a:gd name="T36" fmla="*/ 473 w 905"/>
                  <a:gd name="T37" fmla="*/ 17 h 292"/>
                  <a:gd name="T38" fmla="*/ 440 w 905"/>
                  <a:gd name="T39" fmla="*/ 14 h 292"/>
                  <a:gd name="T40" fmla="*/ 428 w 905"/>
                  <a:gd name="T41" fmla="*/ 62 h 292"/>
                  <a:gd name="T42" fmla="*/ 392 w 905"/>
                  <a:gd name="T43" fmla="*/ 65 h 292"/>
                  <a:gd name="T44" fmla="*/ 350 w 905"/>
                  <a:gd name="T45" fmla="*/ 83 h 292"/>
                  <a:gd name="T46" fmla="*/ 332 w 905"/>
                  <a:gd name="T47" fmla="*/ 92 h 292"/>
                  <a:gd name="T48" fmla="*/ 302 w 905"/>
                  <a:gd name="T49" fmla="*/ 116 h 292"/>
                  <a:gd name="T50" fmla="*/ 254 w 905"/>
                  <a:gd name="T51" fmla="*/ 188 h 292"/>
                  <a:gd name="T52" fmla="*/ 188 w 905"/>
                  <a:gd name="T53" fmla="*/ 170 h 292"/>
                  <a:gd name="T54" fmla="*/ 104 w 905"/>
                  <a:gd name="T55" fmla="*/ 194 h 292"/>
                  <a:gd name="T56" fmla="*/ 8 w 905"/>
                  <a:gd name="T57" fmla="*/ 203 h 292"/>
                  <a:gd name="T58" fmla="*/ 23 w 905"/>
                  <a:gd name="T59" fmla="*/ 281 h 292"/>
                  <a:gd name="T60" fmla="*/ 71 w 905"/>
                  <a:gd name="T61" fmla="*/ 278 h 29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05"/>
                  <a:gd name="T94" fmla="*/ 0 h 292"/>
                  <a:gd name="T95" fmla="*/ 905 w 905"/>
                  <a:gd name="T96" fmla="*/ 292 h 29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05" h="292">
                    <a:moveTo>
                      <a:pt x="71" y="278"/>
                    </a:moveTo>
                    <a:cubicBezTo>
                      <a:pt x="111" y="288"/>
                      <a:pt x="91" y="284"/>
                      <a:pt x="173" y="278"/>
                    </a:cubicBezTo>
                    <a:cubicBezTo>
                      <a:pt x="211" y="275"/>
                      <a:pt x="287" y="266"/>
                      <a:pt x="287" y="266"/>
                    </a:cubicBezTo>
                    <a:cubicBezTo>
                      <a:pt x="306" y="260"/>
                      <a:pt x="291" y="278"/>
                      <a:pt x="314" y="290"/>
                    </a:cubicBezTo>
                    <a:cubicBezTo>
                      <a:pt x="333" y="289"/>
                      <a:pt x="388" y="292"/>
                      <a:pt x="410" y="281"/>
                    </a:cubicBezTo>
                    <a:cubicBezTo>
                      <a:pt x="429" y="271"/>
                      <a:pt x="437" y="243"/>
                      <a:pt x="461" y="239"/>
                    </a:cubicBezTo>
                    <a:cubicBezTo>
                      <a:pt x="475" y="237"/>
                      <a:pt x="489" y="237"/>
                      <a:pt x="503" y="236"/>
                    </a:cubicBezTo>
                    <a:cubicBezTo>
                      <a:pt x="567" y="225"/>
                      <a:pt x="641" y="229"/>
                      <a:pt x="704" y="227"/>
                    </a:cubicBezTo>
                    <a:cubicBezTo>
                      <a:pt x="725" y="222"/>
                      <a:pt x="742" y="207"/>
                      <a:pt x="761" y="197"/>
                    </a:cubicBezTo>
                    <a:cubicBezTo>
                      <a:pt x="769" y="185"/>
                      <a:pt x="778" y="168"/>
                      <a:pt x="785" y="158"/>
                    </a:cubicBezTo>
                    <a:cubicBezTo>
                      <a:pt x="813" y="121"/>
                      <a:pt x="863" y="111"/>
                      <a:pt x="905" y="104"/>
                    </a:cubicBezTo>
                    <a:cubicBezTo>
                      <a:pt x="900" y="49"/>
                      <a:pt x="887" y="40"/>
                      <a:pt x="833" y="32"/>
                    </a:cubicBezTo>
                    <a:cubicBezTo>
                      <a:pt x="815" y="26"/>
                      <a:pt x="798" y="16"/>
                      <a:pt x="779" y="11"/>
                    </a:cubicBezTo>
                    <a:cubicBezTo>
                      <a:pt x="763" y="1"/>
                      <a:pt x="766" y="0"/>
                      <a:pt x="737" y="8"/>
                    </a:cubicBezTo>
                    <a:cubicBezTo>
                      <a:pt x="731" y="10"/>
                      <a:pt x="707" y="31"/>
                      <a:pt x="698" y="35"/>
                    </a:cubicBezTo>
                    <a:cubicBezTo>
                      <a:pt x="680" y="44"/>
                      <a:pt x="661" y="47"/>
                      <a:pt x="641" y="50"/>
                    </a:cubicBezTo>
                    <a:cubicBezTo>
                      <a:pt x="614" y="48"/>
                      <a:pt x="591" y="48"/>
                      <a:pt x="566" y="41"/>
                    </a:cubicBezTo>
                    <a:cubicBezTo>
                      <a:pt x="555" y="38"/>
                      <a:pt x="547" y="30"/>
                      <a:pt x="536" y="26"/>
                    </a:cubicBezTo>
                    <a:cubicBezTo>
                      <a:pt x="510" y="16"/>
                      <a:pt x="509" y="19"/>
                      <a:pt x="473" y="17"/>
                    </a:cubicBezTo>
                    <a:cubicBezTo>
                      <a:pt x="459" y="14"/>
                      <a:pt x="454" y="10"/>
                      <a:pt x="440" y="14"/>
                    </a:cubicBezTo>
                    <a:cubicBezTo>
                      <a:pt x="436" y="25"/>
                      <a:pt x="430" y="61"/>
                      <a:pt x="428" y="62"/>
                    </a:cubicBezTo>
                    <a:cubicBezTo>
                      <a:pt x="417" y="67"/>
                      <a:pt x="404" y="64"/>
                      <a:pt x="392" y="65"/>
                    </a:cubicBezTo>
                    <a:cubicBezTo>
                      <a:pt x="376" y="69"/>
                      <a:pt x="366" y="79"/>
                      <a:pt x="350" y="83"/>
                    </a:cubicBezTo>
                    <a:cubicBezTo>
                      <a:pt x="344" y="87"/>
                      <a:pt x="337" y="88"/>
                      <a:pt x="332" y="92"/>
                    </a:cubicBezTo>
                    <a:cubicBezTo>
                      <a:pt x="299" y="119"/>
                      <a:pt x="324" y="109"/>
                      <a:pt x="302" y="116"/>
                    </a:cubicBezTo>
                    <a:cubicBezTo>
                      <a:pt x="256" y="186"/>
                      <a:pt x="344" y="195"/>
                      <a:pt x="254" y="188"/>
                    </a:cubicBezTo>
                    <a:cubicBezTo>
                      <a:pt x="232" y="184"/>
                      <a:pt x="210" y="176"/>
                      <a:pt x="188" y="170"/>
                    </a:cubicBezTo>
                    <a:cubicBezTo>
                      <a:pt x="137" y="174"/>
                      <a:pt x="143" y="186"/>
                      <a:pt x="104" y="194"/>
                    </a:cubicBezTo>
                    <a:cubicBezTo>
                      <a:pt x="73" y="200"/>
                      <a:pt x="40" y="200"/>
                      <a:pt x="8" y="203"/>
                    </a:cubicBezTo>
                    <a:cubicBezTo>
                      <a:pt x="9" y="226"/>
                      <a:pt x="0" y="266"/>
                      <a:pt x="23" y="281"/>
                    </a:cubicBezTo>
                    <a:cubicBezTo>
                      <a:pt x="55" y="277"/>
                      <a:pt x="39" y="278"/>
                      <a:pt x="71" y="278"/>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grpSp>
        <p:sp>
          <p:nvSpPr>
            <p:cNvPr id="18131" name="Rectangle 232"/>
            <p:cNvSpPr>
              <a:spLocks noChangeArrowheads="1"/>
            </p:cNvSpPr>
            <p:nvPr/>
          </p:nvSpPr>
          <p:spPr bwMode="auto">
            <a:xfrm>
              <a:off x="2658" y="3392"/>
              <a:ext cx="85" cy="231"/>
            </a:xfrm>
            <a:prstGeom prst="rect">
              <a:avLst/>
            </a:prstGeom>
            <a:noFill/>
            <a:ln w="9525">
              <a:noFill/>
              <a:miter lim="800000"/>
              <a:headEnd/>
              <a:tailEnd/>
            </a:ln>
          </p:spPr>
          <p:txBody>
            <a:bodyPr wrap="none">
              <a:spAutoFit/>
            </a:bodyPr>
            <a:lstStyle/>
            <a:p>
              <a:endParaRPr lang="en-US" altLang="en-US" b="1">
                <a:latin typeface="Times New Roman" pitchFamily="18" charset="0"/>
              </a:endParaRPr>
            </a:p>
          </p:txBody>
        </p:sp>
      </p:grpSp>
      <p:sp>
        <p:nvSpPr>
          <p:cNvPr id="17412" name="Rectangle 2"/>
          <p:cNvSpPr>
            <a:spLocks noGrp="1" noChangeArrowheads="1"/>
          </p:cNvSpPr>
          <p:nvPr>
            <p:ph type="title"/>
          </p:nvPr>
        </p:nvSpPr>
        <p:spPr/>
        <p:txBody>
          <a:bodyPr/>
          <a:lstStyle/>
          <a:p>
            <a:r>
              <a:rPr lang="en-US" smtClean="0"/>
              <a:t>Types of VPNs</a:t>
            </a:r>
          </a:p>
        </p:txBody>
      </p:sp>
      <p:sp>
        <p:nvSpPr>
          <p:cNvPr id="309251" name="Rectangle 3"/>
          <p:cNvSpPr>
            <a:spLocks noGrp="1" noChangeArrowheads="1"/>
          </p:cNvSpPr>
          <p:nvPr>
            <p:ph type="body" sz="half" idx="1"/>
          </p:nvPr>
        </p:nvSpPr>
        <p:spPr>
          <a:xfrm>
            <a:off x="304800" y="1370013"/>
            <a:ext cx="4491038" cy="4114800"/>
          </a:xfrm>
        </p:spPr>
        <p:txBody>
          <a:bodyPr/>
          <a:lstStyle/>
          <a:p>
            <a:pPr>
              <a:defRPr/>
            </a:pPr>
            <a:r>
              <a:rPr lang="en-US" sz="2400" dirty="0" smtClean="0">
                <a:solidFill>
                  <a:schemeClr val="folHlink"/>
                </a:solidFill>
              </a:rPr>
              <a:t>Remote Access VPN</a:t>
            </a:r>
          </a:p>
          <a:p>
            <a:pPr>
              <a:defRPr/>
            </a:pPr>
            <a:r>
              <a:rPr lang="en-US" sz="2400" dirty="0" smtClean="0">
                <a:solidFill>
                  <a:schemeClr val="folHlink"/>
                </a:solidFill>
              </a:rPr>
              <a:t>Site-to-Site VPN</a:t>
            </a:r>
          </a:p>
          <a:p>
            <a:pPr lvl="1">
              <a:defRPr/>
            </a:pPr>
            <a:r>
              <a:rPr lang="en-US" sz="2400" dirty="0" smtClean="0">
                <a:solidFill>
                  <a:schemeClr val="accent1"/>
                </a:solidFill>
              </a:rPr>
              <a:t>Extranet VPN</a:t>
            </a:r>
          </a:p>
          <a:p>
            <a:pPr marL="401638" lvl="2" indent="-109538">
              <a:defRPr/>
            </a:pPr>
            <a:r>
              <a:rPr lang="en-US" sz="2800" dirty="0" smtClean="0"/>
              <a:t>Provides business partners access to critical information (Fin, sales tools, etc)</a:t>
            </a:r>
          </a:p>
          <a:p>
            <a:pPr marL="401638" lvl="2" indent="-109538">
              <a:defRPr/>
            </a:pPr>
            <a:r>
              <a:rPr lang="en-US" sz="2800" dirty="0" smtClean="0"/>
              <a:t>Reduces transaction and operational costs</a:t>
            </a:r>
          </a:p>
          <a:p>
            <a:pPr lvl="2">
              <a:defRPr/>
            </a:pPr>
            <a:endParaRPr lang="en-US" sz="2000" dirty="0" smtClean="0"/>
          </a:p>
        </p:txBody>
      </p:sp>
      <p:grpSp>
        <p:nvGrpSpPr>
          <p:cNvPr id="17414" name="Group 5"/>
          <p:cNvGrpSpPr>
            <a:grpSpLocks/>
          </p:cNvGrpSpPr>
          <p:nvPr/>
        </p:nvGrpSpPr>
        <p:grpSpPr bwMode="auto">
          <a:xfrm>
            <a:off x="5884863" y="1566863"/>
            <a:ext cx="1387475" cy="819150"/>
            <a:chOff x="3659" y="1323"/>
            <a:chExt cx="874" cy="516"/>
          </a:xfrm>
        </p:grpSpPr>
        <p:sp>
          <p:nvSpPr>
            <p:cNvPr id="18124" name="Line 6"/>
            <p:cNvSpPr>
              <a:spLocks noChangeShapeType="1"/>
            </p:cNvSpPr>
            <p:nvPr/>
          </p:nvSpPr>
          <p:spPr bwMode="auto">
            <a:xfrm rot="877658">
              <a:off x="4217" y="1670"/>
              <a:ext cx="229" cy="169"/>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8125" name="Line 7"/>
            <p:cNvSpPr>
              <a:spLocks noChangeShapeType="1"/>
            </p:cNvSpPr>
            <p:nvPr/>
          </p:nvSpPr>
          <p:spPr bwMode="auto">
            <a:xfrm rot="877658">
              <a:off x="4341" y="1400"/>
              <a:ext cx="192" cy="144"/>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8126" name="Line 8"/>
            <p:cNvSpPr>
              <a:spLocks noChangeShapeType="1"/>
            </p:cNvSpPr>
            <p:nvPr/>
          </p:nvSpPr>
          <p:spPr bwMode="auto">
            <a:xfrm rot="877658" flipV="1">
              <a:off x="4216" y="1323"/>
              <a:ext cx="240" cy="118"/>
            </a:xfrm>
            <a:prstGeom prst="line">
              <a:avLst/>
            </a:prstGeom>
            <a:noFill/>
            <a:ln w="28575">
              <a:solidFill>
                <a:schemeClr val="tx1"/>
              </a:solidFill>
              <a:round/>
              <a:headEnd/>
              <a:tailEnd/>
            </a:ln>
          </p:spPr>
          <p:txBody>
            <a:bodyPr wrap="none" anchor="ctr"/>
            <a:lstStyle/>
            <a:p>
              <a:endParaRPr lang="en-US"/>
            </a:p>
          </p:txBody>
        </p:sp>
        <p:sp>
          <p:nvSpPr>
            <p:cNvPr id="18127" name="Line 9"/>
            <p:cNvSpPr>
              <a:spLocks noChangeShapeType="1"/>
            </p:cNvSpPr>
            <p:nvPr/>
          </p:nvSpPr>
          <p:spPr bwMode="auto">
            <a:xfrm rot="1038176" flipV="1">
              <a:off x="3958" y="1487"/>
              <a:ext cx="518" cy="323"/>
            </a:xfrm>
            <a:prstGeom prst="line">
              <a:avLst/>
            </a:prstGeom>
            <a:noFill/>
            <a:ln w="28575">
              <a:solidFill>
                <a:schemeClr val="tx1"/>
              </a:solidFill>
              <a:round/>
              <a:headEnd/>
              <a:tailEnd/>
            </a:ln>
          </p:spPr>
          <p:txBody>
            <a:bodyPr wrap="none" anchor="ctr"/>
            <a:lstStyle/>
            <a:p>
              <a:endParaRPr lang="en-US"/>
            </a:p>
          </p:txBody>
        </p:sp>
        <p:sp>
          <p:nvSpPr>
            <p:cNvPr id="18128" name="Freeform 10"/>
            <p:cNvSpPr>
              <a:spLocks noChangeArrowheads="1"/>
            </p:cNvSpPr>
            <p:nvPr/>
          </p:nvSpPr>
          <p:spPr bwMode="auto">
            <a:xfrm rot="877658">
              <a:off x="3754" y="1551"/>
              <a:ext cx="201" cy="147"/>
            </a:xfrm>
            <a:custGeom>
              <a:avLst/>
              <a:gdLst>
                <a:gd name="T0" fmla="*/ 0 w 228"/>
                <a:gd name="T1" fmla="*/ 0 h 180"/>
                <a:gd name="T2" fmla="*/ 84 w 228"/>
                <a:gd name="T3" fmla="*/ 35 h 180"/>
                <a:gd name="T4" fmla="*/ 0 60000 65536"/>
                <a:gd name="T5" fmla="*/ 0 60000 65536"/>
                <a:gd name="T6" fmla="*/ 0 w 228"/>
                <a:gd name="T7" fmla="*/ 0 h 180"/>
                <a:gd name="T8" fmla="*/ 228 w 228"/>
                <a:gd name="T9" fmla="*/ 180 h 180"/>
              </a:gdLst>
              <a:ahLst/>
              <a:cxnLst>
                <a:cxn ang="T4">
                  <a:pos x="T0" y="T1"/>
                </a:cxn>
                <a:cxn ang="T5">
                  <a:pos x="T2" y="T3"/>
                </a:cxn>
              </a:cxnLst>
              <a:rect l="T6" t="T7" r="T8" b="T9"/>
              <a:pathLst>
                <a:path w="228" h="180">
                  <a:moveTo>
                    <a:pt x="0" y="0"/>
                  </a:moveTo>
                  <a:lnTo>
                    <a:pt x="228" y="180"/>
                  </a:lnTo>
                </a:path>
              </a:pathLst>
            </a:custGeom>
            <a:noFill/>
            <a:ln w="25400" cap="flat" cmpd="sng">
              <a:solidFill>
                <a:schemeClr val="tx1"/>
              </a:solidFill>
              <a:prstDash val="solid"/>
              <a:round/>
              <a:headEnd type="none" w="sm" len="sm"/>
              <a:tailEnd type="none" w="sm" len="sm"/>
            </a:ln>
          </p:spPr>
          <p:txBody>
            <a:bodyPr wrap="none" anchor="ctr"/>
            <a:lstStyle/>
            <a:p>
              <a:endParaRPr lang="en-US"/>
            </a:p>
          </p:txBody>
        </p:sp>
        <p:sp>
          <p:nvSpPr>
            <p:cNvPr id="18129" name="Line 11"/>
            <p:cNvSpPr>
              <a:spLocks noChangeShapeType="1"/>
            </p:cNvSpPr>
            <p:nvPr/>
          </p:nvSpPr>
          <p:spPr bwMode="auto">
            <a:xfrm rot="877658" flipV="1">
              <a:off x="3659" y="1476"/>
              <a:ext cx="241" cy="118"/>
            </a:xfrm>
            <a:prstGeom prst="line">
              <a:avLst/>
            </a:prstGeom>
            <a:noFill/>
            <a:ln w="28575">
              <a:solidFill>
                <a:schemeClr val="tx1"/>
              </a:solidFill>
              <a:round/>
              <a:headEnd/>
              <a:tailEnd/>
            </a:ln>
          </p:spPr>
          <p:txBody>
            <a:bodyPr wrap="none" anchor="ctr"/>
            <a:lstStyle/>
            <a:p>
              <a:endParaRPr lang="en-US"/>
            </a:p>
          </p:txBody>
        </p:sp>
      </p:grpSp>
      <p:grpSp>
        <p:nvGrpSpPr>
          <p:cNvPr id="17415" name="Group 12"/>
          <p:cNvGrpSpPr>
            <a:grpSpLocks/>
          </p:cNvGrpSpPr>
          <p:nvPr/>
        </p:nvGrpSpPr>
        <p:grpSpPr bwMode="auto">
          <a:xfrm rot="-245528">
            <a:off x="5943600" y="1447800"/>
            <a:ext cx="238125" cy="309563"/>
            <a:chOff x="2202" y="666"/>
            <a:chExt cx="2001" cy="2601"/>
          </a:xfrm>
        </p:grpSpPr>
        <p:sp>
          <p:nvSpPr>
            <p:cNvPr id="18097" name="Freeform 13"/>
            <p:cNvSpPr>
              <a:spLocks/>
            </p:cNvSpPr>
            <p:nvPr/>
          </p:nvSpPr>
          <p:spPr bwMode="auto">
            <a:xfrm>
              <a:off x="2236" y="871"/>
              <a:ext cx="692" cy="2345"/>
            </a:xfrm>
            <a:custGeom>
              <a:avLst/>
              <a:gdLst>
                <a:gd name="T0" fmla="*/ 692 w 692"/>
                <a:gd name="T1" fmla="*/ 2345 h 2345"/>
                <a:gd name="T2" fmla="*/ 116 w 692"/>
                <a:gd name="T3" fmla="*/ 2009 h 2345"/>
                <a:gd name="T4" fmla="*/ 116 w 692"/>
                <a:gd name="T5" fmla="*/ 1385 h 2345"/>
                <a:gd name="T6" fmla="*/ 164 w 692"/>
                <a:gd name="T7" fmla="*/ 1193 h 2345"/>
                <a:gd name="T8" fmla="*/ 0 w 692"/>
                <a:gd name="T9" fmla="*/ 0 h 2345"/>
                <a:gd name="T10" fmla="*/ 673 w 692"/>
                <a:gd name="T11" fmla="*/ 222 h 2345"/>
                <a:gd name="T12" fmla="*/ 692 w 692"/>
                <a:gd name="T13" fmla="*/ 2345 h 2345"/>
                <a:gd name="T14" fmla="*/ 0 60000 65536"/>
                <a:gd name="T15" fmla="*/ 0 60000 65536"/>
                <a:gd name="T16" fmla="*/ 0 60000 65536"/>
                <a:gd name="T17" fmla="*/ 0 60000 65536"/>
                <a:gd name="T18" fmla="*/ 0 60000 65536"/>
                <a:gd name="T19" fmla="*/ 0 60000 65536"/>
                <a:gd name="T20" fmla="*/ 0 60000 65536"/>
                <a:gd name="T21" fmla="*/ 0 w 692"/>
                <a:gd name="T22" fmla="*/ 0 h 2345"/>
                <a:gd name="T23" fmla="*/ 692 w 692"/>
                <a:gd name="T24" fmla="*/ 2345 h 23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2" h="2345">
                  <a:moveTo>
                    <a:pt x="692" y="2345"/>
                  </a:moveTo>
                  <a:lnTo>
                    <a:pt x="116" y="2009"/>
                  </a:lnTo>
                  <a:lnTo>
                    <a:pt x="116" y="1385"/>
                  </a:lnTo>
                  <a:lnTo>
                    <a:pt x="164" y="1193"/>
                  </a:lnTo>
                  <a:lnTo>
                    <a:pt x="0" y="0"/>
                  </a:lnTo>
                  <a:lnTo>
                    <a:pt x="673" y="222"/>
                  </a:lnTo>
                  <a:lnTo>
                    <a:pt x="692" y="2345"/>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098" name="Freeform 14"/>
            <p:cNvSpPr>
              <a:spLocks/>
            </p:cNvSpPr>
            <p:nvPr/>
          </p:nvSpPr>
          <p:spPr bwMode="auto">
            <a:xfrm>
              <a:off x="2928" y="768"/>
              <a:ext cx="1248" cy="2448"/>
            </a:xfrm>
            <a:custGeom>
              <a:avLst/>
              <a:gdLst>
                <a:gd name="T0" fmla="*/ 0 w 1248"/>
                <a:gd name="T1" fmla="*/ 336 h 2448"/>
                <a:gd name="T2" fmla="*/ 0 w 1248"/>
                <a:gd name="T3" fmla="*/ 2448 h 2448"/>
                <a:gd name="T4" fmla="*/ 1200 w 1248"/>
                <a:gd name="T5" fmla="*/ 1968 h 2448"/>
                <a:gd name="T6" fmla="*/ 1008 w 1248"/>
                <a:gd name="T7" fmla="*/ 1008 h 2448"/>
                <a:gd name="T8" fmla="*/ 1248 w 1248"/>
                <a:gd name="T9" fmla="*/ 0 h 2448"/>
                <a:gd name="T10" fmla="*/ 0 w 1248"/>
                <a:gd name="T11" fmla="*/ 336 h 2448"/>
                <a:gd name="T12" fmla="*/ 0 60000 65536"/>
                <a:gd name="T13" fmla="*/ 0 60000 65536"/>
                <a:gd name="T14" fmla="*/ 0 60000 65536"/>
                <a:gd name="T15" fmla="*/ 0 60000 65536"/>
                <a:gd name="T16" fmla="*/ 0 60000 65536"/>
                <a:gd name="T17" fmla="*/ 0 60000 65536"/>
                <a:gd name="T18" fmla="*/ 0 w 1248"/>
                <a:gd name="T19" fmla="*/ 0 h 2448"/>
                <a:gd name="T20" fmla="*/ 1248 w 1248"/>
                <a:gd name="T21" fmla="*/ 2448 h 2448"/>
              </a:gdLst>
              <a:ahLst/>
              <a:cxnLst>
                <a:cxn ang="T12">
                  <a:pos x="T0" y="T1"/>
                </a:cxn>
                <a:cxn ang="T13">
                  <a:pos x="T2" y="T3"/>
                </a:cxn>
                <a:cxn ang="T14">
                  <a:pos x="T4" y="T5"/>
                </a:cxn>
                <a:cxn ang="T15">
                  <a:pos x="T6" y="T7"/>
                </a:cxn>
                <a:cxn ang="T16">
                  <a:pos x="T8" y="T9"/>
                </a:cxn>
                <a:cxn ang="T17">
                  <a:pos x="T10" y="T11"/>
                </a:cxn>
              </a:cxnLst>
              <a:rect l="T18" t="T19" r="T20" b="T21"/>
              <a:pathLst>
                <a:path w="1248" h="2448">
                  <a:moveTo>
                    <a:pt x="0" y="336"/>
                  </a:moveTo>
                  <a:lnTo>
                    <a:pt x="0" y="2448"/>
                  </a:lnTo>
                  <a:lnTo>
                    <a:pt x="1200" y="1968"/>
                  </a:lnTo>
                  <a:lnTo>
                    <a:pt x="1008" y="1008"/>
                  </a:lnTo>
                  <a:lnTo>
                    <a:pt x="1248" y="0"/>
                  </a:lnTo>
                  <a:lnTo>
                    <a:pt x="0" y="336"/>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099" name="Freeform 15"/>
            <p:cNvSpPr>
              <a:spLocks/>
            </p:cNvSpPr>
            <p:nvPr/>
          </p:nvSpPr>
          <p:spPr bwMode="auto">
            <a:xfrm>
              <a:off x="2326" y="2051"/>
              <a:ext cx="603" cy="1216"/>
            </a:xfrm>
            <a:custGeom>
              <a:avLst/>
              <a:gdLst>
                <a:gd name="T0" fmla="*/ 1 w 1204"/>
                <a:gd name="T1" fmla="*/ 1 h 2432"/>
                <a:gd name="T2" fmla="*/ 1 w 1204"/>
                <a:gd name="T3" fmla="*/ 0 h 2432"/>
                <a:gd name="T4" fmla="*/ 0 w 1204"/>
                <a:gd name="T5" fmla="*/ 7 h 2432"/>
                <a:gd name="T6" fmla="*/ 5 w 1204"/>
                <a:gd name="T7" fmla="*/ 10 h 2432"/>
                <a:gd name="T8" fmla="*/ 5 w 1204"/>
                <a:gd name="T9" fmla="*/ 9 h 2432"/>
                <a:gd name="T10" fmla="*/ 5 w 1204"/>
                <a:gd name="T11" fmla="*/ 9 h 2432"/>
                <a:gd name="T12" fmla="*/ 5 w 1204"/>
                <a:gd name="T13" fmla="*/ 10 h 2432"/>
                <a:gd name="T14" fmla="*/ 1 w 1204"/>
                <a:gd name="T15" fmla="*/ 6 h 2432"/>
                <a:gd name="T16" fmla="*/ 1 w 1204"/>
                <a:gd name="T17" fmla="*/ 1 h 2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04"/>
                <a:gd name="T28" fmla="*/ 0 h 2432"/>
                <a:gd name="T29" fmla="*/ 1204 w 1204"/>
                <a:gd name="T30" fmla="*/ 2432 h 24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04" h="2432">
                  <a:moveTo>
                    <a:pt x="162" y="3"/>
                  </a:moveTo>
                  <a:lnTo>
                    <a:pt x="104" y="0"/>
                  </a:lnTo>
                  <a:lnTo>
                    <a:pt x="0" y="1669"/>
                  </a:lnTo>
                  <a:lnTo>
                    <a:pt x="1193" y="2432"/>
                  </a:lnTo>
                  <a:lnTo>
                    <a:pt x="1204" y="2292"/>
                  </a:lnTo>
                  <a:lnTo>
                    <a:pt x="1146" y="2286"/>
                  </a:lnTo>
                  <a:lnTo>
                    <a:pt x="1143" y="2328"/>
                  </a:lnTo>
                  <a:lnTo>
                    <a:pt x="58" y="1633"/>
                  </a:lnTo>
                  <a:lnTo>
                    <a:pt x="162" y="3"/>
                  </a:lnTo>
                  <a:close/>
                </a:path>
              </a:pathLst>
            </a:custGeom>
            <a:solidFill>
              <a:srgbClr val="000000"/>
            </a:solidFill>
            <a:ln w="9525">
              <a:noFill/>
              <a:round/>
              <a:headEnd/>
              <a:tailEnd/>
            </a:ln>
          </p:spPr>
          <p:txBody>
            <a:bodyPr/>
            <a:lstStyle/>
            <a:p>
              <a:endParaRPr lang="en-US"/>
            </a:p>
          </p:txBody>
        </p:sp>
        <p:sp>
          <p:nvSpPr>
            <p:cNvPr id="18100" name="Freeform 16"/>
            <p:cNvSpPr>
              <a:spLocks/>
            </p:cNvSpPr>
            <p:nvPr/>
          </p:nvSpPr>
          <p:spPr bwMode="auto">
            <a:xfrm>
              <a:off x="2202" y="858"/>
              <a:ext cx="206" cy="1196"/>
            </a:xfrm>
            <a:custGeom>
              <a:avLst/>
              <a:gdLst>
                <a:gd name="T0" fmla="*/ 0 w 410"/>
                <a:gd name="T1" fmla="*/ 0 h 2391"/>
                <a:gd name="T2" fmla="*/ 2 w 410"/>
                <a:gd name="T3" fmla="*/ 10 h 2391"/>
                <a:gd name="T4" fmla="*/ 2 w 410"/>
                <a:gd name="T5" fmla="*/ 10 h 2391"/>
                <a:gd name="T6" fmla="*/ 2 w 410"/>
                <a:gd name="T7" fmla="*/ 10 h 2391"/>
                <a:gd name="T8" fmla="*/ 1 w 410"/>
                <a:gd name="T9" fmla="*/ 1 h 2391"/>
                <a:gd name="T10" fmla="*/ 0 w 410"/>
                <a:gd name="T11" fmla="*/ 0 h 2391"/>
                <a:gd name="T12" fmla="*/ 0 60000 65536"/>
                <a:gd name="T13" fmla="*/ 0 60000 65536"/>
                <a:gd name="T14" fmla="*/ 0 60000 65536"/>
                <a:gd name="T15" fmla="*/ 0 60000 65536"/>
                <a:gd name="T16" fmla="*/ 0 60000 65536"/>
                <a:gd name="T17" fmla="*/ 0 60000 65536"/>
                <a:gd name="T18" fmla="*/ 0 w 410"/>
                <a:gd name="T19" fmla="*/ 0 h 2391"/>
                <a:gd name="T20" fmla="*/ 410 w 410"/>
                <a:gd name="T21" fmla="*/ 2391 h 2391"/>
              </a:gdLst>
              <a:ahLst/>
              <a:cxnLst>
                <a:cxn ang="T12">
                  <a:pos x="T0" y="T1"/>
                </a:cxn>
                <a:cxn ang="T13">
                  <a:pos x="T2" y="T3"/>
                </a:cxn>
                <a:cxn ang="T14">
                  <a:pos x="T4" y="T5"/>
                </a:cxn>
                <a:cxn ang="T15">
                  <a:pos x="T6" y="T7"/>
                </a:cxn>
                <a:cxn ang="T16">
                  <a:pos x="T8" y="T9"/>
                </a:cxn>
                <a:cxn ang="T17">
                  <a:pos x="T10" y="T11"/>
                </a:cxn>
              </a:cxnLst>
              <a:rect l="T18" t="T19" r="T20" b="T21"/>
              <a:pathLst>
                <a:path w="410" h="2391">
                  <a:moveTo>
                    <a:pt x="0" y="0"/>
                  </a:moveTo>
                  <a:lnTo>
                    <a:pt x="352" y="2391"/>
                  </a:lnTo>
                  <a:lnTo>
                    <a:pt x="410" y="2389"/>
                  </a:lnTo>
                  <a:lnTo>
                    <a:pt x="410" y="2385"/>
                  </a:lnTo>
                  <a:lnTo>
                    <a:pt x="69" y="81"/>
                  </a:lnTo>
                  <a:lnTo>
                    <a:pt x="0" y="0"/>
                  </a:lnTo>
                  <a:close/>
                </a:path>
              </a:pathLst>
            </a:custGeom>
            <a:solidFill>
              <a:srgbClr val="000000"/>
            </a:solidFill>
            <a:ln w="9525">
              <a:noFill/>
              <a:round/>
              <a:headEnd/>
              <a:tailEnd/>
            </a:ln>
          </p:spPr>
          <p:txBody>
            <a:bodyPr/>
            <a:lstStyle/>
            <a:p>
              <a:endParaRPr lang="en-US"/>
            </a:p>
          </p:txBody>
        </p:sp>
        <p:sp>
          <p:nvSpPr>
            <p:cNvPr id="18101" name="Freeform 17"/>
            <p:cNvSpPr>
              <a:spLocks/>
            </p:cNvSpPr>
            <p:nvPr/>
          </p:nvSpPr>
          <p:spPr bwMode="auto">
            <a:xfrm>
              <a:off x="2916" y="751"/>
              <a:ext cx="1287" cy="2503"/>
            </a:xfrm>
            <a:custGeom>
              <a:avLst/>
              <a:gdLst>
                <a:gd name="T0" fmla="*/ 1 w 2574"/>
                <a:gd name="T1" fmla="*/ 20 h 5006"/>
                <a:gd name="T2" fmla="*/ 1 w 2574"/>
                <a:gd name="T3" fmla="*/ 20 h 5006"/>
                <a:gd name="T4" fmla="*/ 10 w 2574"/>
                <a:gd name="T5" fmla="*/ 16 h 5006"/>
                <a:gd name="T6" fmla="*/ 9 w 2574"/>
                <a:gd name="T7" fmla="*/ 9 h 5006"/>
                <a:gd name="T8" fmla="*/ 10 w 2574"/>
                <a:gd name="T9" fmla="*/ 0 h 5006"/>
                <a:gd name="T10" fmla="*/ 0 w 2574"/>
                <a:gd name="T11" fmla="*/ 3 h 5006"/>
                <a:gd name="T12" fmla="*/ 1 w 2574"/>
                <a:gd name="T13" fmla="*/ 3 h 5006"/>
                <a:gd name="T14" fmla="*/ 10 w 2574"/>
                <a:gd name="T15" fmla="*/ 1 h 5006"/>
                <a:gd name="T16" fmla="*/ 8 w 2574"/>
                <a:gd name="T17" fmla="*/ 9 h 5006"/>
                <a:gd name="T18" fmla="*/ 10 w 2574"/>
                <a:gd name="T19" fmla="*/ 16 h 5006"/>
                <a:gd name="T20" fmla="*/ 1 w 2574"/>
                <a:gd name="T21" fmla="*/ 20 h 50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74"/>
                <a:gd name="T34" fmla="*/ 0 h 5006"/>
                <a:gd name="T35" fmla="*/ 2574 w 2574"/>
                <a:gd name="T36" fmla="*/ 5006 h 50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74" h="5006">
                  <a:moveTo>
                    <a:pt x="18" y="4944"/>
                  </a:moveTo>
                  <a:lnTo>
                    <a:pt x="36" y="5006"/>
                  </a:lnTo>
                  <a:lnTo>
                    <a:pt x="2394" y="4015"/>
                  </a:lnTo>
                  <a:lnTo>
                    <a:pt x="2098" y="2069"/>
                  </a:lnTo>
                  <a:lnTo>
                    <a:pt x="2574" y="0"/>
                  </a:lnTo>
                  <a:lnTo>
                    <a:pt x="0" y="620"/>
                  </a:lnTo>
                  <a:lnTo>
                    <a:pt x="56" y="675"/>
                  </a:lnTo>
                  <a:lnTo>
                    <a:pt x="2498" y="85"/>
                  </a:lnTo>
                  <a:lnTo>
                    <a:pt x="2040" y="2075"/>
                  </a:lnTo>
                  <a:lnTo>
                    <a:pt x="2330" y="3973"/>
                  </a:lnTo>
                  <a:lnTo>
                    <a:pt x="18" y="4944"/>
                  </a:lnTo>
                  <a:close/>
                </a:path>
              </a:pathLst>
            </a:custGeom>
            <a:solidFill>
              <a:srgbClr val="000000"/>
            </a:solidFill>
            <a:ln w="9525">
              <a:noFill/>
              <a:round/>
              <a:headEnd/>
              <a:tailEnd/>
            </a:ln>
          </p:spPr>
          <p:txBody>
            <a:bodyPr/>
            <a:lstStyle/>
            <a:p>
              <a:endParaRPr lang="en-US"/>
            </a:p>
          </p:txBody>
        </p:sp>
        <p:sp>
          <p:nvSpPr>
            <p:cNvPr id="18102" name="Freeform 18"/>
            <p:cNvSpPr>
              <a:spLocks/>
            </p:cNvSpPr>
            <p:nvPr/>
          </p:nvSpPr>
          <p:spPr bwMode="auto">
            <a:xfrm>
              <a:off x="2916" y="1061"/>
              <a:ext cx="29" cy="2200"/>
            </a:xfrm>
            <a:custGeom>
              <a:avLst/>
              <a:gdLst>
                <a:gd name="T0" fmla="*/ 1 w 58"/>
                <a:gd name="T1" fmla="*/ 0 h 4401"/>
                <a:gd name="T2" fmla="*/ 0 w 58"/>
                <a:gd name="T3" fmla="*/ 17 h 4401"/>
                <a:gd name="T4" fmla="*/ 1 w 58"/>
                <a:gd name="T5" fmla="*/ 17 h 4401"/>
                <a:gd name="T6" fmla="*/ 1 w 58"/>
                <a:gd name="T7" fmla="*/ 16 h 4401"/>
                <a:gd name="T8" fmla="*/ 1 w 58"/>
                <a:gd name="T9" fmla="*/ 0 h 4401"/>
                <a:gd name="T10" fmla="*/ 1 w 58"/>
                <a:gd name="T11" fmla="*/ 0 h 4401"/>
                <a:gd name="T12" fmla="*/ 0 60000 65536"/>
                <a:gd name="T13" fmla="*/ 0 60000 65536"/>
                <a:gd name="T14" fmla="*/ 0 60000 65536"/>
                <a:gd name="T15" fmla="*/ 0 60000 65536"/>
                <a:gd name="T16" fmla="*/ 0 60000 65536"/>
                <a:gd name="T17" fmla="*/ 0 60000 65536"/>
                <a:gd name="T18" fmla="*/ 0 w 58"/>
                <a:gd name="T19" fmla="*/ 0 h 4401"/>
                <a:gd name="T20" fmla="*/ 58 w 58"/>
                <a:gd name="T21" fmla="*/ 4401 h 4401"/>
              </a:gdLst>
              <a:ahLst/>
              <a:cxnLst>
                <a:cxn ang="T12">
                  <a:pos x="T0" y="T1"/>
                </a:cxn>
                <a:cxn ang="T13">
                  <a:pos x="T2" y="T3"/>
                </a:cxn>
                <a:cxn ang="T14">
                  <a:pos x="T4" y="T5"/>
                </a:cxn>
                <a:cxn ang="T15">
                  <a:pos x="T6" y="T7"/>
                </a:cxn>
                <a:cxn ang="T16">
                  <a:pos x="T8" y="T9"/>
                </a:cxn>
                <a:cxn ang="T17">
                  <a:pos x="T10" y="T11"/>
                </a:cxn>
              </a:cxnLst>
              <a:rect l="T18" t="T19" r="T20" b="T21"/>
              <a:pathLst>
                <a:path w="58" h="4401">
                  <a:moveTo>
                    <a:pt x="2" y="0"/>
                  </a:moveTo>
                  <a:lnTo>
                    <a:pt x="0" y="4401"/>
                  </a:lnTo>
                  <a:lnTo>
                    <a:pt x="38" y="4386"/>
                  </a:lnTo>
                  <a:lnTo>
                    <a:pt x="58" y="4310"/>
                  </a:lnTo>
                  <a:lnTo>
                    <a:pt x="58" y="55"/>
                  </a:lnTo>
                  <a:lnTo>
                    <a:pt x="2" y="0"/>
                  </a:lnTo>
                  <a:close/>
                </a:path>
              </a:pathLst>
            </a:custGeom>
            <a:solidFill>
              <a:srgbClr val="000000"/>
            </a:solidFill>
            <a:ln w="9525">
              <a:noFill/>
              <a:round/>
              <a:headEnd/>
              <a:tailEnd/>
            </a:ln>
          </p:spPr>
          <p:txBody>
            <a:bodyPr/>
            <a:lstStyle/>
            <a:p>
              <a:endParaRPr lang="en-US"/>
            </a:p>
          </p:txBody>
        </p:sp>
        <p:sp>
          <p:nvSpPr>
            <p:cNvPr id="18103" name="Freeform 19"/>
            <p:cNvSpPr>
              <a:spLocks/>
            </p:cNvSpPr>
            <p:nvPr/>
          </p:nvSpPr>
          <p:spPr bwMode="auto">
            <a:xfrm>
              <a:off x="2205" y="666"/>
              <a:ext cx="1982" cy="425"/>
            </a:xfrm>
            <a:custGeom>
              <a:avLst/>
              <a:gdLst>
                <a:gd name="T0" fmla="*/ 0 w 3964"/>
                <a:gd name="T1" fmla="*/ 1 h 851"/>
                <a:gd name="T2" fmla="*/ 1 w 3964"/>
                <a:gd name="T3" fmla="*/ 1 h 851"/>
                <a:gd name="T4" fmla="*/ 12 w 3964"/>
                <a:gd name="T5" fmla="*/ 0 h 851"/>
                <a:gd name="T6" fmla="*/ 15 w 3964"/>
                <a:gd name="T7" fmla="*/ 0 h 851"/>
                <a:gd name="T8" fmla="*/ 6 w 3964"/>
                <a:gd name="T9" fmla="*/ 3 h 851"/>
                <a:gd name="T10" fmla="*/ 6 w 3964"/>
                <a:gd name="T11" fmla="*/ 3 h 851"/>
                <a:gd name="T12" fmla="*/ 16 w 3964"/>
                <a:gd name="T13" fmla="*/ 0 h 851"/>
                <a:gd name="T14" fmla="*/ 16 w 3964"/>
                <a:gd name="T15" fmla="*/ 0 h 851"/>
                <a:gd name="T16" fmla="*/ 12 w 3964"/>
                <a:gd name="T17" fmla="*/ 0 h 851"/>
                <a:gd name="T18" fmla="*/ 0 w 3964"/>
                <a:gd name="T19" fmla="*/ 1 h 8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64"/>
                <a:gd name="T31" fmla="*/ 0 h 851"/>
                <a:gd name="T32" fmla="*/ 3964 w 3964"/>
                <a:gd name="T33" fmla="*/ 851 h 8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64" h="851">
                  <a:moveTo>
                    <a:pt x="0" y="378"/>
                  </a:moveTo>
                  <a:lnTo>
                    <a:pt x="5" y="444"/>
                  </a:lnTo>
                  <a:lnTo>
                    <a:pt x="2899" y="65"/>
                  </a:lnTo>
                  <a:lnTo>
                    <a:pt x="3796" y="220"/>
                  </a:lnTo>
                  <a:lnTo>
                    <a:pt x="1446" y="786"/>
                  </a:lnTo>
                  <a:lnTo>
                    <a:pt x="1452" y="851"/>
                  </a:lnTo>
                  <a:lnTo>
                    <a:pt x="3964" y="246"/>
                  </a:lnTo>
                  <a:lnTo>
                    <a:pt x="3961" y="181"/>
                  </a:lnTo>
                  <a:lnTo>
                    <a:pt x="2899" y="0"/>
                  </a:lnTo>
                  <a:lnTo>
                    <a:pt x="0" y="378"/>
                  </a:lnTo>
                  <a:close/>
                </a:path>
              </a:pathLst>
            </a:custGeom>
            <a:solidFill>
              <a:srgbClr val="000000"/>
            </a:solidFill>
            <a:ln w="9525">
              <a:noFill/>
              <a:round/>
              <a:headEnd/>
              <a:tailEnd/>
            </a:ln>
          </p:spPr>
          <p:txBody>
            <a:bodyPr/>
            <a:lstStyle/>
            <a:p>
              <a:endParaRPr lang="en-US"/>
            </a:p>
          </p:txBody>
        </p:sp>
        <p:sp>
          <p:nvSpPr>
            <p:cNvPr id="18104" name="Freeform 20"/>
            <p:cNvSpPr>
              <a:spLocks/>
            </p:cNvSpPr>
            <p:nvPr/>
          </p:nvSpPr>
          <p:spPr bwMode="auto">
            <a:xfrm>
              <a:off x="2204" y="855"/>
              <a:ext cx="727" cy="236"/>
            </a:xfrm>
            <a:custGeom>
              <a:avLst/>
              <a:gdLst>
                <a:gd name="T0" fmla="*/ 5 w 1455"/>
                <a:gd name="T1" fmla="*/ 1 h 473"/>
                <a:gd name="T2" fmla="*/ 0 w 1455"/>
                <a:gd name="T3" fmla="*/ 0 h 473"/>
                <a:gd name="T4" fmla="*/ 0 w 1455"/>
                <a:gd name="T5" fmla="*/ 0 h 473"/>
                <a:gd name="T6" fmla="*/ 0 w 1455"/>
                <a:gd name="T7" fmla="*/ 0 h 473"/>
                <a:gd name="T8" fmla="*/ 5 w 1455"/>
                <a:gd name="T9" fmla="*/ 1 h 473"/>
                <a:gd name="T10" fmla="*/ 5 w 1455"/>
                <a:gd name="T11" fmla="*/ 1 h 473"/>
                <a:gd name="T12" fmla="*/ 0 60000 65536"/>
                <a:gd name="T13" fmla="*/ 0 60000 65536"/>
                <a:gd name="T14" fmla="*/ 0 60000 65536"/>
                <a:gd name="T15" fmla="*/ 0 60000 65536"/>
                <a:gd name="T16" fmla="*/ 0 60000 65536"/>
                <a:gd name="T17" fmla="*/ 0 60000 65536"/>
                <a:gd name="T18" fmla="*/ 0 w 1455"/>
                <a:gd name="T19" fmla="*/ 0 h 473"/>
                <a:gd name="T20" fmla="*/ 1455 w 1455"/>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455" h="473">
                  <a:moveTo>
                    <a:pt x="1449" y="408"/>
                  </a:moveTo>
                  <a:lnTo>
                    <a:pt x="164" y="44"/>
                  </a:lnTo>
                  <a:lnTo>
                    <a:pt x="3" y="0"/>
                  </a:lnTo>
                  <a:lnTo>
                    <a:pt x="0" y="64"/>
                  </a:lnTo>
                  <a:lnTo>
                    <a:pt x="1455" y="473"/>
                  </a:lnTo>
                  <a:lnTo>
                    <a:pt x="1449" y="408"/>
                  </a:lnTo>
                  <a:close/>
                </a:path>
              </a:pathLst>
            </a:custGeom>
            <a:solidFill>
              <a:srgbClr val="000000"/>
            </a:solidFill>
            <a:ln w="9525">
              <a:noFill/>
              <a:round/>
              <a:headEnd/>
              <a:tailEnd/>
            </a:ln>
          </p:spPr>
          <p:txBody>
            <a:bodyPr/>
            <a:lstStyle/>
            <a:p>
              <a:endParaRPr lang="en-US"/>
            </a:p>
          </p:txBody>
        </p:sp>
        <p:sp>
          <p:nvSpPr>
            <p:cNvPr id="18105" name="Freeform 21"/>
            <p:cNvSpPr>
              <a:spLocks/>
            </p:cNvSpPr>
            <p:nvPr/>
          </p:nvSpPr>
          <p:spPr bwMode="auto">
            <a:xfrm>
              <a:off x="2300" y="1199"/>
              <a:ext cx="1779" cy="324"/>
            </a:xfrm>
            <a:custGeom>
              <a:avLst/>
              <a:gdLst>
                <a:gd name="T0" fmla="*/ 1 w 3556"/>
                <a:gd name="T1" fmla="*/ 1 h 647"/>
                <a:gd name="T2" fmla="*/ 0 w 3556"/>
                <a:gd name="T3" fmla="*/ 1 h 647"/>
                <a:gd name="T4" fmla="*/ 5 w 3556"/>
                <a:gd name="T5" fmla="*/ 3 h 647"/>
                <a:gd name="T6" fmla="*/ 14 w 3556"/>
                <a:gd name="T7" fmla="*/ 1 h 647"/>
                <a:gd name="T8" fmla="*/ 14 w 3556"/>
                <a:gd name="T9" fmla="*/ 0 h 647"/>
                <a:gd name="T10" fmla="*/ 5 w 3556"/>
                <a:gd name="T11" fmla="*/ 3 h 647"/>
                <a:gd name="T12" fmla="*/ 1 w 3556"/>
                <a:gd name="T13" fmla="*/ 1 h 647"/>
                <a:gd name="T14" fmla="*/ 0 60000 65536"/>
                <a:gd name="T15" fmla="*/ 0 60000 65536"/>
                <a:gd name="T16" fmla="*/ 0 60000 65536"/>
                <a:gd name="T17" fmla="*/ 0 60000 65536"/>
                <a:gd name="T18" fmla="*/ 0 60000 65536"/>
                <a:gd name="T19" fmla="*/ 0 60000 65536"/>
                <a:gd name="T20" fmla="*/ 0 60000 65536"/>
                <a:gd name="T21" fmla="*/ 0 w 3556"/>
                <a:gd name="T22" fmla="*/ 0 h 647"/>
                <a:gd name="T23" fmla="*/ 3556 w 3556"/>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6" h="647">
                  <a:moveTo>
                    <a:pt x="8" y="184"/>
                  </a:moveTo>
                  <a:lnTo>
                    <a:pt x="0" y="223"/>
                  </a:lnTo>
                  <a:lnTo>
                    <a:pt x="1247" y="647"/>
                  </a:lnTo>
                  <a:lnTo>
                    <a:pt x="3556" y="42"/>
                  </a:lnTo>
                  <a:lnTo>
                    <a:pt x="3551" y="0"/>
                  </a:lnTo>
                  <a:lnTo>
                    <a:pt x="1245" y="605"/>
                  </a:lnTo>
                  <a:lnTo>
                    <a:pt x="8" y="184"/>
                  </a:lnTo>
                  <a:close/>
                </a:path>
              </a:pathLst>
            </a:custGeom>
            <a:solidFill>
              <a:srgbClr val="000000"/>
            </a:solidFill>
            <a:ln w="9525">
              <a:noFill/>
              <a:round/>
              <a:headEnd/>
              <a:tailEnd/>
            </a:ln>
          </p:spPr>
          <p:txBody>
            <a:bodyPr/>
            <a:lstStyle/>
            <a:p>
              <a:endParaRPr lang="en-US"/>
            </a:p>
          </p:txBody>
        </p:sp>
        <p:sp>
          <p:nvSpPr>
            <p:cNvPr id="18106" name="Freeform 22"/>
            <p:cNvSpPr>
              <a:spLocks/>
            </p:cNvSpPr>
            <p:nvPr/>
          </p:nvSpPr>
          <p:spPr bwMode="auto">
            <a:xfrm>
              <a:off x="2334" y="1477"/>
              <a:ext cx="1690" cy="355"/>
            </a:xfrm>
            <a:custGeom>
              <a:avLst/>
              <a:gdLst>
                <a:gd name="T0" fmla="*/ 1 w 3380"/>
                <a:gd name="T1" fmla="*/ 1 h 709"/>
                <a:gd name="T2" fmla="*/ 0 w 3380"/>
                <a:gd name="T3" fmla="*/ 2 h 709"/>
                <a:gd name="T4" fmla="*/ 5 w 3380"/>
                <a:gd name="T5" fmla="*/ 3 h 709"/>
                <a:gd name="T6" fmla="*/ 13 w 3380"/>
                <a:gd name="T7" fmla="*/ 1 h 709"/>
                <a:gd name="T8" fmla="*/ 13 w 3380"/>
                <a:gd name="T9" fmla="*/ 0 h 709"/>
                <a:gd name="T10" fmla="*/ 5 w 3380"/>
                <a:gd name="T11" fmla="*/ 3 h 709"/>
                <a:gd name="T12" fmla="*/ 1 w 3380"/>
                <a:gd name="T13" fmla="*/ 1 h 709"/>
                <a:gd name="T14" fmla="*/ 0 60000 65536"/>
                <a:gd name="T15" fmla="*/ 0 60000 65536"/>
                <a:gd name="T16" fmla="*/ 0 60000 65536"/>
                <a:gd name="T17" fmla="*/ 0 60000 65536"/>
                <a:gd name="T18" fmla="*/ 0 60000 65536"/>
                <a:gd name="T19" fmla="*/ 0 60000 65536"/>
                <a:gd name="T20" fmla="*/ 0 60000 65536"/>
                <a:gd name="T21" fmla="*/ 0 w 3380"/>
                <a:gd name="T22" fmla="*/ 0 h 709"/>
                <a:gd name="T23" fmla="*/ 3380 w 3380"/>
                <a:gd name="T24" fmla="*/ 709 h 7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80" h="709">
                  <a:moveTo>
                    <a:pt x="11" y="228"/>
                  </a:moveTo>
                  <a:lnTo>
                    <a:pt x="0" y="267"/>
                  </a:lnTo>
                  <a:lnTo>
                    <a:pt x="1182" y="709"/>
                  </a:lnTo>
                  <a:lnTo>
                    <a:pt x="3380" y="42"/>
                  </a:lnTo>
                  <a:lnTo>
                    <a:pt x="3371" y="0"/>
                  </a:lnTo>
                  <a:lnTo>
                    <a:pt x="1182" y="666"/>
                  </a:lnTo>
                  <a:lnTo>
                    <a:pt x="11" y="228"/>
                  </a:lnTo>
                  <a:close/>
                </a:path>
              </a:pathLst>
            </a:custGeom>
            <a:solidFill>
              <a:srgbClr val="000000"/>
            </a:solidFill>
            <a:ln w="9525">
              <a:noFill/>
              <a:round/>
              <a:headEnd/>
              <a:tailEnd/>
            </a:ln>
          </p:spPr>
          <p:txBody>
            <a:bodyPr/>
            <a:lstStyle/>
            <a:p>
              <a:endParaRPr lang="en-US"/>
            </a:p>
          </p:txBody>
        </p:sp>
        <p:sp>
          <p:nvSpPr>
            <p:cNvPr id="18107" name="Freeform 23"/>
            <p:cNvSpPr>
              <a:spLocks/>
            </p:cNvSpPr>
            <p:nvPr/>
          </p:nvSpPr>
          <p:spPr bwMode="auto">
            <a:xfrm>
              <a:off x="2389" y="2201"/>
              <a:ext cx="1620" cy="363"/>
            </a:xfrm>
            <a:custGeom>
              <a:avLst/>
              <a:gdLst>
                <a:gd name="T0" fmla="*/ 1 w 3239"/>
                <a:gd name="T1" fmla="*/ 1 h 725"/>
                <a:gd name="T2" fmla="*/ 0 w 3239"/>
                <a:gd name="T3" fmla="*/ 1 h 725"/>
                <a:gd name="T4" fmla="*/ 5 w 3239"/>
                <a:gd name="T5" fmla="*/ 3 h 725"/>
                <a:gd name="T6" fmla="*/ 13 w 3239"/>
                <a:gd name="T7" fmla="*/ 1 h 725"/>
                <a:gd name="T8" fmla="*/ 13 w 3239"/>
                <a:gd name="T9" fmla="*/ 0 h 725"/>
                <a:gd name="T10" fmla="*/ 5 w 3239"/>
                <a:gd name="T11" fmla="*/ 3 h 725"/>
                <a:gd name="T12" fmla="*/ 1 w 3239"/>
                <a:gd name="T13" fmla="*/ 1 h 725"/>
                <a:gd name="T14" fmla="*/ 0 60000 65536"/>
                <a:gd name="T15" fmla="*/ 0 60000 65536"/>
                <a:gd name="T16" fmla="*/ 0 60000 65536"/>
                <a:gd name="T17" fmla="*/ 0 60000 65536"/>
                <a:gd name="T18" fmla="*/ 0 60000 65536"/>
                <a:gd name="T19" fmla="*/ 0 60000 65536"/>
                <a:gd name="T20" fmla="*/ 0 60000 65536"/>
                <a:gd name="T21" fmla="*/ 0 w 3239"/>
                <a:gd name="T22" fmla="*/ 0 h 725"/>
                <a:gd name="T23" fmla="*/ 3239 w 3239"/>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5">
                  <a:moveTo>
                    <a:pt x="14" y="113"/>
                  </a:moveTo>
                  <a:lnTo>
                    <a:pt x="0" y="152"/>
                  </a:lnTo>
                  <a:lnTo>
                    <a:pt x="1075" y="725"/>
                  </a:lnTo>
                  <a:lnTo>
                    <a:pt x="3239" y="39"/>
                  </a:lnTo>
                  <a:lnTo>
                    <a:pt x="3231" y="0"/>
                  </a:lnTo>
                  <a:lnTo>
                    <a:pt x="1084" y="683"/>
                  </a:lnTo>
                  <a:lnTo>
                    <a:pt x="14" y="113"/>
                  </a:lnTo>
                  <a:close/>
                </a:path>
              </a:pathLst>
            </a:custGeom>
            <a:solidFill>
              <a:srgbClr val="000000"/>
            </a:solidFill>
            <a:ln w="9525">
              <a:noFill/>
              <a:round/>
              <a:headEnd/>
              <a:tailEnd/>
            </a:ln>
          </p:spPr>
          <p:txBody>
            <a:bodyPr/>
            <a:lstStyle/>
            <a:p>
              <a:endParaRPr lang="en-US"/>
            </a:p>
          </p:txBody>
        </p:sp>
        <p:sp>
          <p:nvSpPr>
            <p:cNvPr id="18108" name="Freeform 24"/>
            <p:cNvSpPr>
              <a:spLocks/>
            </p:cNvSpPr>
            <p:nvPr/>
          </p:nvSpPr>
          <p:spPr bwMode="auto">
            <a:xfrm>
              <a:off x="2297" y="1174"/>
              <a:ext cx="1779" cy="324"/>
            </a:xfrm>
            <a:custGeom>
              <a:avLst/>
              <a:gdLst>
                <a:gd name="T0" fmla="*/ 0 w 3559"/>
                <a:gd name="T1" fmla="*/ 1 h 647"/>
                <a:gd name="T2" fmla="*/ 0 w 3559"/>
                <a:gd name="T3" fmla="*/ 1 h 647"/>
                <a:gd name="T4" fmla="*/ 4 w 3559"/>
                <a:gd name="T5" fmla="*/ 3 h 647"/>
                <a:gd name="T6" fmla="*/ 13 w 3559"/>
                <a:gd name="T7" fmla="*/ 1 h 647"/>
                <a:gd name="T8" fmla="*/ 13 w 3559"/>
                <a:gd name="T9" fmla="*/ 0 h 647"/>
                <a:gd name="T10" fmla="*/ 4 w 3559"/>
                <a:gd name="T11" fmla="*/ 3 h 647"/>
                <a:gd name="T12" fmla="*/ 0 w 3559"/>
                <a:gd name="T13" fmla="*/ 1 h 647"/>
                <a:gd name="T14" fmla="*/ 0 60000 65536"/>
                <a:gd name="T15" fmla="*/ 0 60000 65536"/>
                <a:gd name="T16" fmla="*/ 0 60000 65536"/>
                <a:gd name="T17" fmla="*/ 0 60000 65536"/>
                <a:gd name="T18" fmla="*/ 0 60000 65536"/>
                <a:gd name="T19" fmla="*/ 0 60000 65536"/>
                <a:gd name="T20" fmla="*/ 0 60000 65536"/>
                <a:gd name="T21" fmla="*/ 0 w 3559"/>
                <a:gd name="T22" fmla="*/ 0 h 647"/>
                <a:gd name="T23" fmla="*/ 3559 w 3559"/>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9" h="647">
                  <a:moveTo>
                    <a:pt x="9" y="183"/>
                  </a:moveTo>
                  <a:lnTo>
                    <a:pt x="0" y="222"/>
                  </a:lnTo>
                  <a:lnTo>
                    <a:pt x="1250" y="647"/>
                  </a:lnTo>
                  <a:lnTo>
                    <a:pt x="3559" y="43"/>
                  </a:lnTo>
                  <a:lnTo>
                    <a:pt x="3553" y="0"/>
                  </a:lnTo>
                  <a:lnTo>
                    <a:pt x="1247" y="605"/>
                  </a:lnTo>
                  <a:lnTo>
                    <a:pt x="9" y="183"/>
                  </a:lnTo>
                  <a:close/>
                </a:path>
              </a:pathLst>
            </a:custGeom>
            <a:solidFill>
              <a:srgbClr val="DEFF73"/>
            </a:solidFill>
            <a:ln w="9525">
              <a:noFill/>
              <a:round/>
              <a:headEnd/>
              <a:tailEnd/>
            </a:ln>
          </p:spPr>
          <p:txBody>
            <a:bodyPr/>
            <a:lstStyle/>
            <a:p>
              <a:endParaRPr lang="en-US"/>
            </a:p>
          </p:txBody>
        </p:sp>
        <p:sp>
          <p:nvSpPr>
            <p:cNvPr id="18109" name="Freeform 25"/>
            <p:cNvSpPr>
              <a:spLocks/>
            </p:cNvSpPr>
            <p:nvPr/>
          </p:nvSpPr>
          <p:spPr bwMode="auto">
            <a:xfrm>
              <a:off x="2331" y="1451"/>
              <a:ext cx="1690" cy="355"/>
            </a:xfrm>
            <a:custGeom>
              <a:avLst/>
              <a:gdLst>
                <a:gd name="T0" fmla="*/ 1 w 3379"/>
                <a:gd name="T1" fmla="*/ 1 h 710"/>
                <a:gd name="T2" fmla="*/ 0 w 3379"/>
                <a:gd name="T3" fmla="*/ 2 h 710"/>
                <a:gd name="T4" fmla="*/ 5 w 3379"/>
                <a:gd name="T5" fmla="*/ 3 h 710"/>
                <a:gd name="T6" fmla="*/ 14 w 3379"/>
                <a:gd name="T7" fmla="*/ 1 h 710"/>
                <a:gd name="T8" fmla="*/ 14 w 3379"/>
                <a:gd name="T9" fmla="*/ 0 h 710"/>
                <a:gd name="T10" fmla="*/ 5 w 3379"/>
                <a:gd name="T11" fmla="*/ 3 h 710"/>
                <a:gd name="T12" fmla="*/ 1 w 3379"/>
                <a:gd name="T13" fmla="*/ 1 h 710"/>
                <a:gd name="T14" fmla="*/ 0 60000 65536"/>
                <a:gd name="T15" fmla="*/ 0 60000 65536"/>
                <a:gd name="T16" fmla="*/ 0 60000 65536"/>
                <a:gd name="T17" fmla="*/ 0 60000 65536"/>
                <a:gd name="T18" fmla="*/ 0 60000 65536"/>
                <a:gd name="T19" fmla="*/ 0 60000 65536"/>
                <a:gd name="T20" fmla="*/ 0 60000 65536"/>
                <a:gd name="T21" fmla="*/ 0 w 3379"/>
                <a:gd name="T22" fmla="*/ 0 h 710"/>
                <a:gd name="T23" fmla="*/ 3379 w 3379"/>
                <a:gd name="T24" fmla="*/ 710 h 7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9" h="710">
                  <a:moveTo>
                    <a:pt x="11" y="229"/>
                  </a:moveTo>
                  <a:lnTo>
                    <a:pt x="0" y="268"/>
                  </a:lnTo>
                  <a:lnTo>
                    <a:pt x="1181" y="710"/>
                  </a:lnTo>
                  <a:lnTo>
                    <a:pt x="3379" y="43"/>
                  </a:lnTo>
                  <a:lnTo>
                    <a:pt x="3370" y="0"/>
                  </a:lnTo>
                  <a:lnTo>
                    <a:pt x="1181" y="667"/>
                  </a:lnTo>
                  <a:lnTo>
                    <a:pt x="11" y="229"/>
                  </a:lnTo>
                  <a:close/>
                </a:path>
              </a:pathLst>
            </a:custGeom>
            <a:solidFill>
              <a:srgbClr val="DEFF73"/>
            </a:solidFill>
            <a:ln w="9525">
              <a:noFill/>
              <a:round/>
              <a:headEnd/>
              <a:tailEnd/>
            </a:ln>
          </p:spPr>
          <p:txBody>
            <a:bodyPr/>
            <a:lstStyle/>
            <a:p>
              <a:endParaRPr lang="en-US"/>
            </a:p>
          </p:txBody>
        </p:sp>
        <p:sp>
          <p:nvSpPr>
            <p:cNvPr id="18110" name="Freeform 26"/>
            <p:cNvSpPr>
              <a:spLocks/>
            </p:cNvSpPr>
            <p:nvPr/>
          </p:nvSpPr>
          <p:spPr bwMode="auto">
            <a:xfrm>
              <a:off x="2386" y="2175"/>
              <a:ext cx="1620" cy="363"/>
            </a:xfrm>
            <a:custGeom>
              <a:avLst/>
              <a:gdLst>
                <a:gd name="T0" fmla="*/ 1 w 3239"/>
                <a:gd name="T1" fmla="*/ 0 h 727"/>
                <a:gd name="T2" fmla="*/ 0 w 3239"/>
                <a:gd name="T3" fmla="*/ 0 h 727"/>
                <a:gd name="T4" fmla="*/ 5 w 3239"/>
                <a:gd name="T5" fmla="*/ 2 h 727"/>
                <a:gd name="T6" fmla="*/ 13 w 3239"/>
                <a:gd name="T7" fmla="*/ 0 h 727"/>
                <a:gd name="T8" fmla="*/ 13 w 3239"/>
                <a:gd name="T9" fmla="*/ 0 h 727"/>
                <a:gd name="T10" fmla="*/ 5 w 3239"/>
                <a:gd name="T11" fmla="*/ 2 h 727"/>
                <a:gd name="T12" fmla="*/ 1 w 3239"/>
                <a:gd name="T13" fmla="*/ 0 h 727"/>
                <a:gd name="T14" fmla="*/ 0 60000 65536"/>
                <a:gd name="T15" fmla="*/ 0 60000 65536"/>
                <a:gd name="T16" fmla="*/ 0 60000 65536"/>
                <a:gd name="T17" fmla="*/ 0 60000 65536"/>
                <a:gd name="T18" fmla="*/ 0 60000 65536"/>
                <a:gd name="T19" fmla="*/ 0 60000 65536"/>
                <a:gd name="T20" fmla="*/ 0 60000 65536"/>
                <a:gd name="T21" fmla="*/ 0 w 3239"/>
                <a:gd name="T22" fmla="*/ 0 h 727"/>
                <a:gd name="T23" fmla="*/ 3239 w 3239"/>
                <a:gd name="T24" fmla="*/ 727 h 7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7">
                  <a:moveTo>
                    <a:pt x="14" y="114"/>
                  </a:moveTo>
                  <a:lnTo>
                    <a:pt x="0" y="153"/>
                  </a:lnTo>
                  <a:lnTo>
                    <a:pt x="1076" y="727"/>
                  </a:lnTo>
                  <a:lnTo>
                    <a:pt x="3239" y="39"/>
                  </a:lnTo>
                  <a:lnTo>
                    <a:pt x="3230" y="0"/>
                  </a:lnTo>
                  <a:lnTo>
                    <a:pt x="1085" y="685"/>
                  </a:lnTo>
                  <a:lnTo>
                    <a:pt x="14" y="114"/>
                  </a:lnTo>
                  <a:close/>
                </a:path>
              </a:pathLst>
            </a:custGeom>
            <a:solidFill>
              <a:srgbClr val="DEFF73"/>
            </a:solidFill>
            <a:ln w="9525">
              <a:noFill/>
              <a:round/>
              <a:headEnd/>
              <a:tailEnd/>
            </a:ln>
          </p:spPr>
          <p:txBody>
            <a:bodyPr/>
            <a:lstStyle/>
            <a:p>
              <a:endParaRPr lang="en-US"/>
            </a:p>
          </p:txBody>
        </p:sp>
        <p:sp>
          <p:nvSpPr>
            <p:cNvPr id="18111" name="Freeform 27"/>
            <p:cNvSpPr>
              <a:spLocks/>
            </p:cNvSpPr>
            <p:nvPr/>
          </p:nvSpPr>
          <p:spPr bwMode="auto">
            <a:xfrm>
              <a:off x="2315" y="1005"/>
              <a:ext cx="496" cy="331"/>
            </a:xfrm>
            <a:custGeom>
              <a:avLst/>
              <a:gdLst>
                <a:gd name="T0" fmla="*/ 0 w 993"/>
                <a:gd name="T1" fmla="*/ 0 h 664"/>
                <a:gd name="T2" fmla="*/ 0 w 993"/>
                <a:gd name="T3" fmla="*/ 1 h 664"/>
                <a:gd name="T4" fmla="*/ 3 w 993"/>
                <a:gd name="T5" fmla="*/ 2 h 664"/>
                <a:gd name="T6" fmla="*/ 3 w 993"/>
                <a:gd name="T7" fmla="*/ 1 h 664"/>
                <a:gd name="T8" fmla="*/ 0 w 993"/>
                <a:gd name="T9" fmla="*/ 0 h 664"/>
                <a:gd name="T10" fmla="*/ 0 w 993"/>
                <a:gd name="T11" fmla="*/ 0 h 664"/>
                <a:gd name="T12" fmla="*/ 0 w 993"/>
                <a:gd name="T13" fmla="*/ 0 h 664"/>
                <a:gd name="T14" fmla="*/ 0 60000 65536"/>
                <a:gd name="T15" fmla="*/ 0 60000 65536"/>
                <a:gd name="T16" fmla="*/ 0 60000 65536"/>
                <a:gd name="T17" fmla="*/ 0 60000 65536"/>
                <a:gd name="T18" fmla="*/ 0 60000 65536"/>
                <a:gd name="T19" fmla="*/ 0 60000 65536"/>
                <a:gd name="T20" fmla="*/ 0 60000 65536"/>
                <a:gd name="T21" fmla="*/ 0 w 993"/>
                <a:gd name="T22" fmla="*/ 0 h 664"/>
                <a:gd name="T23" fmla="*/ 993 w 993"/>
                <a:gd name="T24" fmla="*/ 664 h 6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3" h="664">
                  <a:moveTo>
                    <a:pt x="0" y="47"/>
                  </a:moveTo>
                  <a:lnTo>
                    <a:pt x="44" y="339"/>
                  </a:lnTo>
                  <a:lnTo>
                    <a:pt x="990" y="664"/>
                  </a:lnTo>
                  <a:lnTo>
                    <a:pt x="993" y="372"/>
                  </a:lnTo>
                  <a:lnTo>
                    <a:pt x="0" y="0"/>
                  </a:lnTo>
                  <a:lnTo>
                    <a:pt x="0" y="47"/>
                  </a:lnTo>
                  <a:close/>
                </a:path>
              </a:pathLst>
            </a:custGeom>
            <a:solidFill>
              <a:srgbClr val="99FFFB"/>
            </a:solidFill>
            <a:ln w="9525">
              <a:noFill/>
              <a:round/>
              <a:headEnd/>
              <a:tailEnd/>
            </a:ln>
          </p:spPr>
          <p:txBody>
            <a:bodyPr/>
            <a:lstStyle/>
            <a:p>
              <a:endParaRPr lang="en-US"/>
            </a:p>
          </p:txBody>
        </p:sp>
        <p:sp>
          <p:nvSpPr>
            <p:cNvPr id="18112" name="Freeform 28"/>
            <p:cNvSpPr>
              <a:spLocks/>
            </p:cNvSpPr>
            <p:nvPr/>
          </p:nvSpPr>
          <p:spPr bwMode="auto">
            <a:xfrm>
              <a:off x="2305" y="1027"/>
              <a:ext cx="516" cy="322"/>
            </a:xfrm>
            <a:custGeom>
              <a:avLst/>
              <a:gdLst>
                <a:gd name="T0" fmla="*/ 1 w 1030"/>
                <a:gd name="T1" fmla="*/ 0 h 644"/>
                <a:gd name="T2" fmla="*/ 0 w 1030"/>
                <a:gd name="T3" fmla="*/ 1 h 644"/>
                <a:gd name="T4" fmla="*/ 1 w 1030"/>
                <a:gd name="T5" fmla="*/ 2 h 644"/>
                <a:gd name="T6" fmla="*/ 5 w 1030"/>
                <a:gd name="T7" fmla="*/ 3 h 644"/>
                <a:gd name="T8" fmla="*/ 5 w 1030"/>
                <a:gd name="T9" fmla="*/ 2 h 644"/>
                <a:gd name="T10" fmla="*/ 4 w 1030"/>
                <a:gd name="T11" fmla="*/ 2 h 644"/>
                <a:gd name="T12" fmla="*/ 4 w 1030"/>
                <a:gd name="T13" fmla="*/ 3 h 644"/>
                <a:gd name="T14" fmla="*/ 1 w 1030"/>
                <a:gd name="T15" fmla="*/ 2 h 644"/>
                <a:gd name="T16" fmla="*/ 1 w 1030"/>
                <a:gd name="T17" fmla="*/ 0 h 6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0"/>
                <a:gd name="T28" fmla="*/ 0 h 644"/>
                <a:gd name="T29" fmla="*/ 1030 w 1030"/>
                <a:gd name="T30" fmla="*/ 644 h 6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0" h="644">
                  <a:moveTo>
                    <a:pt x="37" y="0"/>
                  </a:moveTo>
                  <a:lnTo>
                    <a:pt x="0" y="3"/>
                  </a:lnTo>
                  <a:lnTo>
                    <a:pt x="45" y="308"/>
                  </a:lnTo>
                  <a:lnTo>
                    <a:pt x="1026" y="644"/>
                  </a:lnTo>
                  <a:lnTo>
                    <a:pt x="1030" y="313"/>
                  </a:lnTo>
                  <a:lnTo>
                    <a:pt x="993" y="339"/>
                  </a:lnTo>
                  <a:lnTo>
                    <a:pt x="991" y="592"/>
                  </a:lnTo>
                  <a:lnTo>
                    <a:pt x="79" y="279"/>
                  </a:lnTo>
                  <a:lnTo>
                    <a:pt x="37" y="0"/>
                  </a:lnTo>
                  <a:close/>
                </a:path>
              </a:pathLst>
            </a:custGeom>
            <a:solidFill>
              <a:srgbClr val="000000"/>
            </a:solidFill>
            <a:ln w="9525">
              <a:noFill/>
              <a:round/>
              <a:headEnd/>
              <a:tailEnd/>
            </a:ln>
          </p:spPr>
          <p:txBody>
            <a:bodyPr/>
            <a:lstStyle/>
            <a:p>
              <a:endParaRPr lang="en-US"/>
            </a:p>
          </p:txBody>
        </p:sp>
        <p:sp>
          <p:nvSpPr>
            <p:cNvPr id="18113" name="Freeform 29"/>
            <p:cNvSpPr>
              <a:spLocks/>
            </p:cNvSpPr>
            <p:nvPr/>
          </p:nvSpPr>
          <p:spPr bwMode="auto">
            <a:xfrm>
              <a:off x="2305" y="991"/>
              <a:ext cx="516" cy="206"/>
            </a:xfrm>
            <a:custGeom>
              <a:avLst/>
              <a:gdLst>
                <a:gd name="T0" fmla="*/ 5 w 1030"/>
                <a:gd name="T1" fmla="*/ 2 h 412"/>
                <a:gd name="T2" fmla="*/ 1 w 1030"/>
                <a:gd name="T3" fmla="*/ 0 h 412"/>
                <a:gd name="T4" fmla="*/ 0 w 1030"/>
                <a:gd name="T5" fmla="*/ 1 h 412"/>
                <a:gd name="T6" fmla="*/ 0 w 1030"/>
                <a:gd name="T7" fmla="*/ 1 h 412"/>
                <a:gd name="T8" fmla="*/ 1 w 1030"/>
                <a:gd name="T9" fmla="*/ 1 h 412"/>
                <a:gd name="T10" fmla="*/ 1 w 1030"/>
                <a:gd name="T11" fmla="*/ 1 h 412"/>
                <a:gd name="T12" fmla="*/ 4 w 1030"/>
                <a:gd name="T13" fmla="*/ 2 h 412"/>
                <a:gd name="T14" fmla="*/ 5 w 1030"/>
                <a:gd name="T15" fmla="*/ 2 h 412"/>
                <a:gd name="T16" fmla="*/ 0 60000 65536"/>
                <a:gd name="T17" fmla="*/ 0 60000 65536"/>
                <a:gd name="T18" fmla="*/ 0 60000 65536"/>
                <a:gd name="T19" fmla="*/ 0 60000 65536"/>
                <a:gd name="T20" fmla="*/ 0 60000 65536"/>
                <a:gd name="T21" fmla="*/ 0 60000 65536"/>
                <a:gd name="T22" fmla="*/ 0 60000 65536"/>
                <a:gd name="T23" fmla="*/ 0 60000 65536"/>
                <a:gd name="T24" fmla="*/ 0 w 1030"/>
                <a:gd name="T25" fmla="*/ 0 h 412"/>
                <a:gd name="T26" fmla="*/ 1030 w 1030"/>
                <a:gd name="T27" fmla="*/ 412 h 4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0" h="412">
                  <a:moveTo>
                    <a:pt x="1030" y="386"/>
                  </a:moveTo>
                  <a:lnTo>
                    <a:pt x="1" y="0"/>
                  </a:lnTo>
                  <a:lnTo>
                    <a:pt x="0" y="74"/>
                  </a:lnTo>
                  <a:lnTo>
                    <a:pt x="0" y="76"/>
                  </a:lnTo>
                  <a:lnTo>
                    <a:pt x="37" y="73"/>
                  </a:lnTo>
                  <a:lnTo>
                    <a:pt x="37" y="55"/>
                  </a:lnTo>
                  <a:lnTo>
                    <a:pt x="993" y="412"/>
                  </a:lnTo>
                  <a:lnTo>
                    <a:pt x="1030" y="386"/>
                  </a:lnTo>
                  <a:close/>
                </a:path>
              </a:pathLst>
            </a:custGeom>
            <a:solidFill>
              <a:srgbClr val="000000"/>
            </a:solidFill>
            <a:ln w="9525">
              <a:noFill/>
              <a:round/>
              <a:headEnd/>
              <a:tailEnd/>
            </a:ln>
          </p:spPr>
          <p:txBody>
            <a:bodyPr/>
            <a:lstStyle/>
            <a:p>
              <a:endParaRPr lang="en-US"/>
            </a:p>
          </p:txBody>
        </p:sp>
        <p:sp>
          <p:nvSpPr>
            <p:cNvPr id="18114" name="Freeform 30"/>
            <p:cNvSpPr>
              <a:spLocks/>
            </p:cNvSpPr>
            <p:nvPr/>
          </p:nvSpPr>
          <p:spPr bwMode="auto">
            <a:xfrm>
              <a:off x="2340" y="1403"/>
              <a:ext cx="502" cy="270"/>
            </a:xfrm>
            <a:custGeom>
              <a:avLst/>
              <a:gdLst>
                <a:gd name="T0" fmla="*/ 0 w 1005"/>
                <a:gd name="T1" fmla="*/ 0 h 540"/>
                <a:gd name="T2" fmla="*/ 0 w 1005"/>
                <a:gd name="T3" fmla="*/ 1 h 540"/>
                <a:gd name="T4" fmla="*/ 3 w 1005"/>
                <a:gd name="T5" fmla="*/ 2 h 540"/>
                <a:gd name="T6" fmla="*/ 3 w 1005"/>
                <a:gd name="T7" fmla="*/ 1 h 540"/>
                <a:gd name="T8" fmla="*/ 0 w 1005"/>
                <a:gd name="T9" fmla="*/ 0 h 540"/>
                <a:gd name="T10" fmla="*/ 0 w 1005"/>
                <a:gd name="T11" fmla="*/ 0 h 540"/>
                <a:gd name="T12" fmla="*/ 0 w 1005"/>
                <a:gd name="T13" fmla="*/ 0 h 540"/>
                <a:gd name="T14" fmla="*/ 0 60000 65536"/>
                <a:gd name="T15" fmla="*/ 0 60000 65536"/>
                <a:gd name="T16" fmla="*/ 0 60000 65536"/>
                <a:gd name="T17" fmla="*/ 0 60000 65536"/>
                <a:gd name="T18" fmla="*/ 0 60000 65536"/>
                <a:gd name="T19" fmla="*/ 0 60000 65536"/>
                <a:gd name="T20" fmla="*/ 0 60000 65536"/>
                <a:gd name="T21" fmla="*/ 0 w 1005"/>
                <a:gd name="T22" fmla="*/ 0 h 540"/>
                <a:gd name="T23" fmla="*/ 1005 w 1005"/>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5" h="540">
                  <a:moveTo>
                    <a:pt x="34" y="0"/>
                  </a:moveTo>
                  <a:lnTo>
                    <a:pt x="94" y="245"/>
                  </a:lnTo>
                  <a:lnTo>
                    <a:pt x="1005" y="540"/>
                  </a:lnTo>
                  <a:lnTo>
                    <a:pt x="993" y="317"/>
                  </a:lnTo>
                  <a:lnTo>
                    <a:pt x="0" y="0"/>
                  </a:lnTo>
                  <a:lnTo>
                    <a:pt x="34" y="0"/>
                  </a:lnTo>
                  <a:close/>
                </a:path>
              </a:pathLst>
            </a:custGeom>
            <a:solidFill>
              <a:srgbClr val="99FFFB"/>
            </a:solidFill>
            <a:ln w="9525">
              <a:noFill/>
              <a:round/>
              <a:headEnd/>
              <a:tailEnd/>
            </a:ln>
          </p:spPr>
          <p:txBody>
            <a:bodyPr/>
            <a:lstStyle/>
            <a:p>
              <a:endParaRPr lang="en-US"/>
            </a:p>
          </p:txBody>
        </p:sp>
        <p:sp>
          <p:nvSpPr>
            <p:cNvPr id="18115" name="Freeform 31"/>
            <p:cNvSpPr>
              <a:spLocks/>
            </p:cNvSpPr>
            <p:nvPr/>
          </p:nvSpPr>
          <p:spPr bwMode="auto">
            <a:xfrm>
              <a:off x="2348" y="1401"/>
              <a:ext cx="504" cy="285"/>
            </a:xfrm>
            <a:custGeom>
              <a:avLst/>
              <a:gdLst>
                <a:gd name="T0" fmla="*/ 1 w 1008"/>
                <a:gd name="T1" fmla="*/ 0 h 571"/>
                <a:gd name="T2" fmla="*/ 0 w 1008"/>
                <a:gd name="T3" fmla="*/ 0 h 571"/>
                <a:gd name="T4" fmla="*/ 1 w 1008"/>
                <a:gd name="T5" fmla="*/ 1 h 571"/>
                <a:gd name="T6" fmla="*/ 4 w 1008"/>
                <a:gd name="T7" fmla="*/ 2 h 571"/>
                <a:gd name="T8" fmla="*/ 4 w 1008"/>
                <a:gd name="T9" fmla="*/ 1 h 571"/>
                <a:gd name="T10" fmla="*/ 4 w 1008"/>
                <a:gd name="T11" fmla="*/ 1 h 571"/>
                <a:gd name="T12" fmla="*/ 4 w 1008"/>
                <a:gd name="T13" fmla="*/ 2 h 571"/>
                <a:gd name="T14" fmla="*/ 1 w 1008"/>
                <a:gd name="T15" fmla="*/ 0 h 571"/>
                <a:gd name="T16" fmla="*/ 1 w 1008"/>
                <a:gd name="T17" fmla="*/ 0 h 5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8"/>
                <a:gd name="T28" fmla="*/ 0 h 571"/>
                <a:gd name="T29" fmla="*/ 1008 w 1008"/>
                <a:gd name="T30" fmla="*/ 571 h 5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8" h="571">
                  <a:moveTo>
                    <a:pt x="35" y="0"/>
                  </a:moveTo>
                  <a:lnTo>
                    <a:pt x="0" y="10"/>
                  </a:lnTo>
                  <a:lnTo>
                    <a:pt x="62" y="264"/>
                  </a:lnTo>
                  <a:lnTo>
                    <a:pt x="1008" y="571"/>
                  </a:lnTo>
                  <a:lnTo>
                    <a:pt x="996" y="307"/>
                  </a:lnTo>
                  <a:lnTo>
                    <a:pt x="958" y="336"/>
                  </a:lnTo>
                  <a:lnTo>
                    <a:pt x="970" y="519"/>
                  </a:lnTo>
                  <a:lnTo>
                    <a:pt x="94" y="235"/>
                  </a:lnTo>
                  <a:lnTo>
                    <a:pt x="35" y="0"/>
                  </a:lnTo>
                  <a:close/>
                </a:path>
              </a:pathLst>
            </a:custGeom>
            <a:solidFill>
              <a:srgbClr val="000000"/>
            </a:solidFill>
            <a:ln w="9525">
              <a:noFill/>
              <a:round/>
              <a:headEnd/>
              <a:tailEnd/>
            </a:ln>
          </p:spPr>
          <p:txBody>
            <a:bodyPr/>
            <a:lstStyle/>
            <a:p>
              <a:endParaRPr lang="en-US"/>
            </a:p>
          </p:txBody>
        </p:sp>
        <p:sp>
          <p:nvSpPr>
            <p:cNvPr id="18116" name="Freeform 32"/>
            <p:cNvSpPr>
              <a:spLocks/>
            </p:cNvSpPr>
            <p:nvPr/>
          </p:nvSpPr>
          <p:spPr bwMode="auto">
            <a:xfrm>
              <a:off x="2338" y="1393"/>
              <a:ext cx="508" cy="176"/>
            </a:xfrm>
            <a:custGeom>
              <a:avLst/>
              <a:gdLst>
                <a:gd name="T0" fmla="*/ 4 w 1016"/>
                <a:gd name="T1" fmla="*/ 2 h 350"/>
                <a:gd name="T2" fmla="*/ 1 w 1016"/>
                <a:gd name="T3" fmla="*/ 0 h 350"/>
                <a:gd name="T4" fmla="*/ 1 w 1016"/>
                <a:gd name="T5" fmla="*/ 1 h 350"/>
                <a:gd name="T6" fmla="*/ 0 w 1016"/>
                <a:gd name="T7" fmla="*/ 1 h 350"/>
                <a:gd name="T8" fmla="*/ 4 w 1016"/>
                <a:gd name="T9" fmla="*/ 2 h 350"/>
                <a:gd name="T10" fmla="*/ 4 w 1016"/>
                <a:gd name="T11" fmla="*/ 2 h 350"/>
                <a:gd name="T12" fmla="*/ 0 60000 65536"/>
                <a:gd name="T13" fmla="*/ 0 60000 65536"/>
                <a:gd name="T14" fmla="*/ 0 60000 65536"/>
                <a:gd name="T15" fmla="*/ 0 60000 65536"/>
                <a:gd name="T16" fmla="*/ 0 60000 65536"/>
                <a:gd name="T17" fmla="*/ 0 60000 65536"/>
                <a:gd name="T18" fmla="*/ 0 w 1016"/>
                <a:gd name="T19" fmla="*/ 0 h 350"/>
                <a:gd name="T20" fmla="*/ 1016 w 1016"/>
                <a:gd name="T21" fmla="*/ 350 h 350"/>
              </a:gdLst>
              <a:ahLst/>
              <a:cxnLst>
                <a:cxn ang="T12">
                  <a:pos x="T0" y="T1"/>
                </a:cxn>
                <a:cxn ang="T13">
                  <a:pos x="T2" y="T3"/>
                </a:cxn>
                <a:cxn ang="T14">
                  <a:pos x="T4" y="T5"/>
                </a:cxn>
                <a:cxn ang="T15">
                  <a:pos x="T6" y="T7"/>
                </a:cxn>
                <a:cxn ang="T16">
                  <a:pos x="T8" y="T9"/>
                </a:cxn>
                <a:cxn ang="T17">
                  <a:pos x="T10" y="T11"/>
                </a:cxn>
              </a:cxnLst>
              <a:rect l="T18" t="T19" r="T20" b="T21"/>
              <a:pathLst>
                <a:path w="1016" h="350">
                  <a:moveTo>
                    <a:pt x="1016" y="321"/>
                  </a:moveTo>
                  <a:lnTo>
                    <a:pt x="9" y="0"/>
                  </a:lnTo>
                  <a:lnTo>
                    <a:pt x="4" y="19"/>
                  </a:lnTo>
                  <a:lnTo>
                    <a:pt x="0" y="39"/>
                  </a:lnTo>
                  <a:lnTo>
                    <a:pt x="978" y="350"/>
                  </a:lnTo>
                  <a:lnTo>
                    <a:pt x="1016" y="321"/>
                  </a:lnTo>
                  <a:close/>
                </a:path>
              </a:pathLst>
            </a:custGeom>
            <a:solidFill>
              <a:srgbClr val="000000"/>
            </a:solidFill>
            <a:ln w="9525">
              <a:noFill/>
              <a:round/>
              <a:headEnd/>
              <a:tailEnd/>
            </a:ln>
          </p:spPr>
          <p:txBody>
            <a:bodyPr/>
            <a:lstStyle/>
            <a:p>
              <a:endParaRPr lang="en-US"/>
            </a:p>
          </p:txBody>
        </p:sp>
        <p:sp>
          <p:nvSpPr>
            <p:cNvPr id="18117" name="Freeform 33"/>
            <p:cNvSpPr>
              <a:spLocks/>
            </p:cNvSpPr>
            <p:nvPr/>
          </p:nvSpPr>
          <p:spPr bwMode="auto">
            <a:xfrm>
              <a:off x="2370" y="1429"/>
              <a:ext cx="443" cy="148"/>
            </a:xfrm>
            <a:custGeom>
              <a:avLst/>
              <a:gdLst>
                <a:gd name="T0" fmla="*/ 1 w 885"/>
                <a:gd name="T1" fmla="*/ 1 h 296"/>
                <a:gd name="T2" fmla="*/ 0 w 885"/>
                <a:gd name="T3" fmla="*/ 0 h 296"/>
                <a:gd name="T4" fmla="*/ 4 w 885"/>
                <a:gd name="T5" fmla="*/ 1 h 296"/>
                <a:gd name="T6" fmla="*/ 1 w 885"/>
                <a:gd name="T7" fmla="*/ 1 h 296"/>
                <a:gd name="T8" fmla="*/ 1 w 885"/>
                <a:gd name="T9" fmla="*/ 1 h 296"/>
                <a:gd name="T10" fmla="*/ 0 60000 65536"/>
                <a:gd name="T11" fmla="*/ 0 60000 65536"/>
                <a:gd name="T12" fmla="*/ 0 60000 65536"/>
                <a:gd name="T13" fmla="*/ 0 60000 65536"/>
                <a:gd name="T14" fmla="*/ 0 60000 65536"/>
                <a:gd name="T15" fmla="*/ 0 w 885"/>
                <a:gd name="T16" fmla="*/ 0 h 296"/>
                <a:gd name="T17" fmla="*/ 885 w 885"/>
                <a:gd name="T18" fmla="*/ 296 h 296"/>
              </a:gdLst>
              <a:ahLst/>
              <a:cxnLst>
                <a:cxn ang="T10">
                  <a:pos x="T0" y="T1"/>
                </a:cxn>
                <a:cxn ang="T11">
                  <a:pos x="T2" y="T3"/>
                </a:cxn>
                <a:cxn ang="T12">
                  <a:pos x="T4" y="T5"/>
                </a:cxn>
                <a:cxn ang="T13">
                  <a:pos x="T6" y="T7"/>
                </a:cxn>
                <a:cxn ang="T14">
                  <a:pos x="T8" y="T9"/>
                </a:cxn>
              </a:cxnLst>
              <a:rect l="T15" t="T16" r="T17" b="T18"/>
              <a:pathLst>
                <a:path w="885" h="296">
                  <a:moveTo>
                    <a:pt x="50" y="115"/>
                  </a:moveTo>
                  <a:lnTo>
                    <a:pt x="0" y="0"/>
                  </a:lnTo>
                  <a:lnTo>
                    <a:pt x="885" y="296"/>
                  </a:lnTo>
                  <a:lnTo>
                    <a:pt x="50" y="115"/>
                  </a:lnTo>
                  <a:close/>
                </a:path>
              </a:pathLst>
            </a:custGeom>
            <a:solidFill>
              <a:srgbClr val="99FFFB"/>
            </a:solidFill>
            <a:ln w="9525">
              <a:noFill/>
              <a:round/>
              <a:headEnd/>
              <a:tailEnd/>
            </a:ln>
          </p:spPr>
          <p:txBody>
            <a:bodyPr/>
            <a:lstStyle/>
            <a:p>
              <a:endParaRPr lang="en-US"/>
            </a:p>
          </p:txBody>
        </p:sp>
        <p:sp>
          <p:nvSpPr>
            <p:cNvPr id="18118" name="Freeform 34"/>
            <p:cNvSpPr>
              <a:spLocks/>
            </p:cNvSpPr>
            <p:nvPr/>
          </p:nvSpPr>
          <p:spPr bwMode="auto">
            <a:xfrm>
              <a:off x="2468" y="2490"/>
              <a:ext cx="343" cy="194"/>
            </a:xfrm>
            <a:custGeom>
              <a:avLst/>
              <a:gdLst>
                <a:gd name="T0" fmla="*/ 0 w 687"/>
                <a:gd name="T1" fmla="*/ 0 h 386"/>
                <a:gd name="T2" fmla="*/ 0 w 687"/>
                <a:gd name="T3" fmla="*/ 1 h 386"/>
                <a:gd name="T4" fmla="*/ 2 w 687"/>
                <a:gd name="T5" fmla="*/ 2 h 386"/>
                <a:gd name="T6" fmla="*/ 2 w 687"/>
                <a:gd name="T7" fmla="*/ 2 h 386"/>
                <a:gd name="T8" fmla="*/ 0 w 687"/>
                <a:gd name="T9" fmla="*/ 0 h 386"/>
                <a:gd name="T10" fmla="*/ 0 60000 65536"/>
                <a:gd name="T11" fmla="*/ 0 60000 65536"/>
                <a:gd name="T12" fmla="*/ 0 60000 65536"/>
                <a:gd name="T13" fmla="*/ 0 60000 65536"/>
                <a:gd name="T14" fmla="*/ 0 60000 65536"/>
                <a:gd name="T15" fmla="*/ 0 w 687"/>
                <a:gd name="T16" fmla="*/ 0 h 386"/>
                <a:gd name="T17" fmla="*/ 687 w 687"/>
                <a:gd name="T18" fmla="*/ 386 h 386"/>
              </a:gdLst>
              <a:ahLst/>
              <a:cxnLst>
                <a:cxn ang="T10">
                  <a:pos x="T0" y="T1"/>
                </a:cxn>
                <a:cxn ang="T11">
                  <a:pos x="T2" y="T3"/>
                </a:cxn>
                <a:cxn ang="T12">
                  <a:pos x="T4" y="T5"/>
                </a:cxn>
                <a:cxn ang="T13">
                  <a:pos x="T6" y="T7"/>
                </a:cxn>
                <a:cxn ang="T14">
                  <a:pos x="T8" y="T9"/>
                </a:cxn>
              </a:cxnLst>
              <a:rect l="T15" t="T16" r="T17" b="T18"/>
              <a:pathLst>
                <a:path w="687" h="386">
                  <a:moveTo>
                    <a:pt x="24" y="0"/>
                  </a:moveTo>
                  <a:lnTo>
                    <a:pt x="0" y="58"/>
                  </a:lnTo>
                  <a:lnTo>
                    <a:pt x="664" y="386"/>
                  </a:lnTo>
                  <a:lnTo>
                    <a:pt x="687" y="327"/>
                  </a:lnTo>
                  <a:lnTo>
                    <a:pt x="24" y="0"/>
                  </a:lnTo>
                  <a:close/>
                </a:path>
              </a:pathLst>
            </a:custGeom>
            <a:solidFill>
              <a:srgbClr val="000000"/>
            </a:solidFill>
            <a:ln w="9525">
              <a:noFill/>
              <a:round/>
              <a:headEnd/>
              <a:tailEnd/>
            </a:ln>
          </p:spPr>
          <p:txBody>
            <a:bodyPr/>
            <a:lstStyle/>
            <a:p>
              <a:endParaRPr lang="en-US"/>
            </a:p>
          </p:txBody>
        </p:sp>
        <p:sp>
          <p:nvSpPr>
            <p:cNvPr id="18119" name="Freeform 35"/>
            <p:cNvSpPr>
              <a:spLocks/>
            </p:cNvSpPr>
            <p:nvPr/>
          </p:nvSpPr>
          <p:spPr bwMode="auto">
            <a:xfrm>
              <a:off x="2463" y="2566"/>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8120" name="Freeform 36"/>
            <p:cNvSpPr>
              <a:spLocks/>
            </p:cNvSpPr>
            <p:nvPr/>
          </p:nvSpPr>
          <p:spPr bwMode="auto">
            <a:xfrm>
              <a:off x="2442" y="2641"/>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8121" name="Freeform 37"/>
            <p:cNvSpPr>
              <a:spLocks/>
            </p:cNvSpPr>
            <p:nvPr/>
          </p:nvSpPr>
          <p:spPr bwMode="auto">
            <a:xfrm>
              <a:off x="2437" y="2718"/>
              <a:ext cx="350" cy="221"/>
            </a:xfrm>
            <a:custGeom>
              <a:avLst/>
              <a:gdLst>
                <a:gd name="T0" fmla="*/ 1 w 699"/>
                <a:gd name="T1" fmla="*/ 0 h 441"/>
                <a:gd name="T2" fmla="*/ 0 w 699"/>
                <a:gd name="T3" fmla="*/ 1 h 441"/>
                <a:gd name="T4" fmla="*/ 3 w 699"/>
                <a:gd name="T5" fmla="*/ 2 h 441"/>
                <a:gd name="T6" fmla="*/ 3 w 699"/>
                <a:gd name="T7" fmla="*/ 2 h 441"/>
                <a:gd name="T8" fmla="*/ 1 w 699"/>
                <a:gd name="T9" fmla="*/ 0 h 441"/>
                <a:gd name="T10" fmla="*/ 0 60000 65536"/>
                <a:gd name="T11" fmla="*/ 0 60000 65536"/>
                <a:gd name="T12" fmla="*/ 0 60000 65536"/>
                <a:gd name="T13" fmla="*/ 0 60000 65536"/>
                <a:gd name="T14" fmla="*/ 0 60000 65536"/>
                <a:gd name="T15" fmla="*/ 0 w 699"/>
                <a:gd name="T16" fmla="*/ 0 h 441"/>
                <a:gd name="T17" fmla="*/ 699 w 699"/>
                <a:gd name="T18" fmla="*/ 441 h 441"/>
              </a:gdLst>
              <a:ahLst/>
              <a:cxnLst>
                <a:cxn ang="T10">
                  <a:pos x="T0" y="T1"/>
                </a:cxn>
                <a:cxn ang="T11">
                  <a:pos x="T2" y="T3"/>
                </a:cxn>
                <a:cxn ang="T12">
                  <a:pos x="T4" y="T5"/>
                </a:cxn>
                <a:cxn ang="T13">
                  <a:pos x="T6" y="T7"/>
                </a:cxn>
                <a:cxn ang="T14">
                  <a:pos x="T8" y="T9"/>
                </a:cxn>
              </a:cxnLst>
              <a:rect l="T15" t="T16" r="T17" b="T18"/>
              <a:pathLst>
                <a:path w="699" h="441">
                  <a:moveTo>
                    <a:pt x="27" y="0"/>
                  </a:moveTo>
                  <a:lnTo>
                    <a:pt x="0" y="58"/>
                  </a:lnTo>
                  <a:lnTo>
                    <a:pt x="673" y="441"/>
                  </a:lnTo>
                  <a:lnTo>
                    <a:pt x="699" y="383"/>
                  </a:lnTo>
                  <a:lnTo>
                    <a:pt x="27" y="0"/>
                  </a:lnTo>
                  <a:close/>
                </a:path>
              </a:pathLst>
            </a:custGeom>
            <a:solidFill>
              <a:srgbClr val="000000"/>
            </a:solidFill>
            <a:ln w="9525">
              <a:noFill/>
              <a:round/>
              <a:headEnd/>
              <a:tailEnd/>
            </a:ln>
          </p:spPr>
          <p:txBody>
            <a:bodyPr/>
            <a:lstStyle/>
            <a:p>
              <a:endParaRPr lang="en-US"/>
            </a:p>
          </p:txBody>
        </p:sp>
        <p:sp>
          <p:nvSpPr>
            <p:cNvPr id="18122" name="Freeform 38"/>
            <p:cNvSpPr>
              <a:spLocks/>
            </p:cNvSpPr>
            <p:nvPr/>
          </p:nvSpPr>
          <p:spPr bwMode="auto">
            <a:xfrm>
              <a:off x="2934" y="770"/>
              <a:ext cx="1059" cy="264"/>
            </a:xfrm>
            <a:custGeom>
              <a:avLst/>
              <a:gdLst>
                <a:gd name="T0" fmla="*/ 0 w 2119"/>
                <a:gd name="T1" fmla="*/ 2 h 528"/>
                <a:gd name="T2" fmla="*/ 0 w 2119"/>
                <a:gd name="T3" fmla="*/ 2 h 528"/>
                <a:gd name="T4" fmla="*/ 8 w 2119"/>
                <a:gd name="T5" fmla="*/ 1 h 528"/>
                <a:gd name="T6" fmla="*/ 8 w 2119"/>
                <a:gd name="T7" fmla="*/ 0 h 528"/>
                <a:gd name="T8" fmla="*/ 0 w 2119"/>
                <a:gd name="T9" fmla="*/ 2 h 528"/>
                <a:gd name="T10" fmla="*/ 0 60000 65536"/>
                <a:gd name="T11" fmla="*/ 0 60000 65536"/>
                <a:gd name="T12" fmla="*/ 0 60000 65536"/>
                <a:gd name="T13" fmla="*/ 0 60000 65536"/>
                <a:gd name="T14" fmla="*/ 0 60000 65536"/>
                <a:gd name="T15" fmla="*/ 0 w 2119"/>
                <a:gd name="T16" fmla="*/ 0 h 528"/>
                <a:gd name="T17" fmla="*/ 2119 w 2119"/>
                <a:gd name="T18" fmla="*/ 528 h 528"/>
              </a:gdLst>
              <a:ahLst/>
              <a:cxnLst>
                <a:cxn ang="T10">
                  <a:pos x="T0" y="T1"/>
                </a:cxn>
                <a:cxn ang="T11">
                  <a:pos x="T2" y="T3"/>
                </a:cxn>
                <a:cxn ang="T12">
                  <a:pos x="T4" y="T5"/>
                </a:cxn>
                <a:cxn ang="T13">
                  <a:pos x="T6" y="T7"/>
                </a:cxn>
                <a:cxn ang="T14">
                  <a:pos x="T8" y="T9"/>
                </a:cxn>
              </a:cxnLst>
              <a:rect l="T15" t="T16" r="T17" b="T18"/>
              <a:pathLst>
                <a:path w="2119" h="528">
                  <a:moveTo>
                    <a:pt x="0" y="486"/>
                  </a:moveTo>
                  <a:lnTo>
                    <a:pt x="6" y="528"/>
                  </a:lnTo>
                  <a:lnTo>
                    <a:pt x="2119" y="42"/>
                  </a:lnTo>
                  <a:lnTo>
                    <a:pt x="2114" y="0"/>
                  </a:lnTo>
                  <a:lnTo>
                    <a:pt x="0" y="486"/>
                  </a:lnTo>
                  <a:close/>
                </a:path>
              </a:pathLst>
            </a:custGeom>
            <a:solidFill>
              <a:srgbClr val="DEFF73"/>
            </a:solidFill>
            <a:ln w="9525">
              <a:noFill/>
              <a:round/>
              <a:headEnd/>
              <a:tailEnd/>
            </a:ln>
          </p:spPr>
          <p:txBody>
            <a:bodyPr/>
            <a:lstStyle/>
            <a:p>
              <a:endParaRPr lang="en-US"/>
            </a:p>
          </p:txBody>
        </p:sp>
        <p:sp>
          <p:nvSpPr>
            <p:cNvPr id="18123" name="Freeform 39"/>
            <p:cNvSpPr>
              <a:spLocks/>
            </p:cNvSpPr>
            <p:nvPr/>
          </p:nvSpPr>
          <p:spPr bwMode="auto">
            <a:xfrm>
              <a:off x="2256" y="672"/>
              <a:ext cx="1872" cy="384"/>
            </a:xfrm>
            <a:custGeom>
              <a:avLst/>
              <a:gdLst>
                <a:gd name="T0" fmla="*/ 1872 w 1872"/>
                <a:gd name="T1" fmla="*/ 96 h 384"/>
                <a:gd name="T2" fmla="*/ 672 w 1872"/>
                <a:gd name="T3" fmla="*/ 384 h 384"/>
                <a:gd name="T4" fmla="*/ 0 w 1872"/>
                <a:gd name="T5" fmla="*/ 192 h 384"/>
                <a:gd name="T6" fmla="*/ 1392 w 1872"/>
                <a:gd name="T7" fmla="*/ 0 h 384"/>
                <a:gd name="T8" fmla="*/ 1872 w 1872"/>
                <a:gd name="T9" fmla="*/ 96 h 384"/>
                <a:gd name="T10" fmla="*/ 0 60000 65536"/>
                <a:gd name="T11" fmla="*/ 0 60000 65536"/>
                <a:gd name="T12" fmla="*/ 0 60000 65536"/>
                <a:gd name="T13" fmla="*/ 0 60000 65536"/>
                <a:gd name="T14" fmla="*/ 0 60000 65536"/>
                <a:gd name="T15" fmla="*/ 0 w 1872"/>
                <a:gd name="T16" fmla="*/ 0 h 384"/>
                <a:gd name="T17" fmla="*/ 1872 w 1872"/>
                <a:gd name="T18" fmla="*/ 384 h 384"/>
              </a:gdLst>
              <a:ahLst/>
              <a:cxnLst>
                <a:cxn ang="T10">
                  <a:pos x="T0" y="T1"/>
                </a:cxn>
                <a:cxn ang="T11">
                  <a:pos x="T2" y="T3"/>
                </a:cxn>
                <a:cxn ang="T12">
                  <a:pos x="T4" y="T5"/>
                </a:cxn>
                <a:cxn ang="T13">
                  <a:pos x="T6" y="T7"/>
                </a:cxn>
                <a:cxn ang="T14">
                  <a:pos x="T8" y="T9"/>
                </a:cxn>
              </a:cxnLst>
              <a:rect l="T15" t="T16" r="T17" b="T18"/>
              <a:pathLst>
                <a:path w="1872" h="384">
                  <a:moveTo>
                    <a:pt x="1872" y="96"/>
                  </a:moveTo>
                  <a:lnTo>
                    <a:pt x="672" y="384"/>
                  </a:lnTo>
                  <a:lnTo>
                    <a:pt x="0" y="192"/>
                  </a:lnTo>
                  <a:lnTo>
                    <a:pt x="1392" y="0"/>
                  </a:lnTo>
                  <a:lnTo>
                    <a:pt x="1872" y="96"/>
                  </a:lnTo>
                  <a:close/>
                </a:path>
              </a:pathLst>
            </a:custGeom>
            <a:gradFill rotWithShape="0">
              <a:gsLst>
                <a:gs pos="0">
                  <a:srgbClr val="BEE761"/>
                </a:gs>
                <a:gs pos="100000">
                  <a:srgbClr val="44D6FE"/>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416" name="Group 40"/>
          <p:cNvGrpSpPr>
            <a:grpSpLocks/>
          </p:cNvGrpSpPr>
          <p:nvPr/>
        </p:nvGrpSpPr>
        <p:grpSpPr bwMode="auto">
          <a:xfrm rot="-245528">
            <a:off x="5791200" y="1600200"/>
            <a:ext cx="238125" cy="309563"/>
            <a:chOff x="2202" y="666"/>
            <a:chExt cx="2001" cy="2601"/>
          </a:xfrm>
        </p:grpSpPr>
        <p:sp>
          <p:nvSpPr>
            <p:cNvPr id="18070" name="Freeform 41"/>
            <p:cNvSpPr>
              <a:spLocks/>
            </p:cNvSpPr>
            <p:nvPr/>
          </p:nvSpPr>
          <p:spPr bwMode="auto">
            <a:xfrm>
              <a:off x="2236" y="871"/>
              <a:ext cx="692" cy="2345"/>
            </a:xfrm>
            <a:custGeom>
              <a:avLst/>
              <a:gdLst>
                <a:gd name="T0" fmla="*/ 692 w 692"/>
                <a:gd name="T1" fmla="*/ 2345 h 2345"/>
                <a:gd name="T2" fmla="*/ 116 w 692"/>
                <a:gd name="T3" fmla="*/ 2009 h 2345"/>
                <a:gd name="T4" fmla="*/ 116 w 692"/>
                <a:gd name="T5" fmla="*/ 1385 h 2345"/>
                <a:gd name="T6" fmla="*/ 164 w 692"/>
                <a:gd name="T7" fmla="*/ 1193 h 2345"/>
                <a:gd name="T8" fmla="*/ 0 w 692"/>
                <a:gd name="T9" fmla="*/ 0 h 2345"/>
                <a:gd name="T10" fmla="*/ 673 w 692"/>
                <a:gd name="T11" fmla="*/ 222 h 2345"/>
                <a:gd name="T12" fmla="*/ 692 w 692"/>
                <a:gd name="T13" fmla="*/ 2345 h 2345"/>
                <a:gd name="T14" fmla="*/ 0 60000 65536"/>
                <a:gd name="T15" fmla="*/ 0 60000 65536"/>
                <a:gd name="T16" fmla="*/ 0 60000 65536"/>
                <a:gd name="T17" fmla="*/ 0 60000 65536"/>
                <a:gd name="T18" fmla="*/ 0 60000 65536"/>
                <a:gd name="T19" fmla="*/ 0 60000 65536"/>
                <a:gd name="T20" fmla="*/ 0 60000 65536"/>
                <a:gd name="T21" fmla="*/ 0 w 692"/>
                <a:gd name="T22" fmla="*/ 0 h 2345"/>
                <a:gd name="T23" fmla="*/ 692 w 692"/>
                <a:gd name="T24" fmla="*/ 2345 h 23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2" h="2345">
                  <a:moveTo>
                    <a:pt x="692" y="2345"/>
                  </a:moveTo>
                  <a:lnTo>
                    <a:pt x="116" y="2009"/>
                  </a:lnTo>
                  <a:lnTo>
                    <a:pt x="116" y="1385"/>
                  </a:lnTo>
                  <a:lnTo>
                    <a:pt x="164" y="1193"/>
                  </a:lnTo>
                  <a:lnTo>
                    <a:pt x="0" y="0"/>
                  </a:lnTo>
                  <a:lnTo>
                    <a:pt x="673" y="222"/>
                  </a:lnTo>
                  <a:lnTo>
                    <a:pt x="692" y="2345"/>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071" name="Freeform 42"/>
            <p:cNvSpPr>
              <a:spLocks/>
            </p:cNvSpPr>
            <p:nvPr/>
          </p:nvSpPr>
          <p:spPr bwMode="auto">
            <a:xfrm>
              <a:off x="2928" y="768"/>
              <a:ext cx="1248" cy="2448"/>
            </a:xfrm>
            <a:custGeom>
              <a:avLst/>
              <a:gdLst>
                <a:gd name="T0" fmla="*/ 0 w 1248"/>
                <a:gd name="T1" fmla="*/ 336 h 2448"/>
                <a:gd name="T2" fmla="*/ 0 w 1248"/>
                <a:gd name="T3" fmla="*/ 2448 h 2448"/>
                <a:gd name="T4" fmla="*/ 1200 w 1248"/>
                <a:gd name="T5" fmla="*/ 1968 h 2448"/>
                <a:gd name="T6" fmla="*/ 1008 w 1248"/>
                <a:gd name="T7" fmla="*/ 1008 h 2448"/>
                <a:gd name="T8" fmla="*/ 1248 w 1248"/>
                <a:gd name="T9" fmla="*/ 0 h 2448"/>
                <a:gd name="T10" fmla="*/ 0 w 1248"/>
                <a:gd name="T11" fmla="*/ 336 h 2448"/>
                <a:gd name="T12" fmla="*/ 0 60000 65536"/>
                <a:gd name="T13" fmla="*/ 0 60000 65536"/>
                <a:gd name="T14" fmla="*/ 0 60000 65536"/>
                <a:gd name="T15" fmla="*/ 0 60000 65536"/>
                <a:gd name="T16" fmla="*/ 0 60000 65536"/>
                <a:gd name="T17" fmla="*/ 0 60000 65536"/>
                <a:gd name="T18" fmla="*/ 0 w 1248"/>
                <a:gd name="T19" fmla="*/ 0 h 2448"/>
                <a:gd name="T20" fmla="*/ 1248 w 1248"/>
                <a:gd name="T21" fmla="*/ 2448 h 2448"/>
              </a:gdLst>
              <a:ahLst/>
              <a:cxnLst>
                <a:cxn ang="T12">
                  <a:pos x="T0" y="T1"/>
                </a:cxn>
                <a:cxn ang="T13">
                  <a:pos x="T2" y="T3"/>
                </a:cxn>
                <a:cxn ang="T14">
                  <a:pos x="T4" y="T5"/>
                </a:cxn>
                <a:cxn ang="T15">
                  <a:pos x="T6" y="T7"/>
                </a:cxn>
                <a:cxn ang="T16">
                  <a:pos x="T8" y="T9"/>
                </a:cxn>
                <a:cxn ang="T17">
                  <a:pos x="T10" y="T11"/>
                </a:cxn>
              </a:cxnLst>
              <a:rect l="T18" t="T19" r="T20" b="T21"/>
              <a:pathLst>
                <a:path w="1248" h="2448">
                  <a:moveTo>
                    <a:pt x="0" y="336"/>
                  </a:moveTo>
                  <a:lnTo>
                    <a:pt x="0" y="2448"/>
                  </a:lnTo>
                  <a:lnTo>
                    <a:pt x="1200" y="1968"/>
                  </a:lnTo>
                  <a:lnTo>
                    <a:pt x="1008" y="1008"/>
                  </a:lnTo>
                  <a:lnTo>
                    <a:pt x="1248" y="0"/>
                  </a:lnTo>
                  <a:lnTo>
                    <a:pt x="0" y="336"/>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072" name="Freeform 43"/>
            <p:cNvSpPr>
              <a:spLocks/>
            </p:cNvSpPr>
            <p:nvPr/>
          </p:nvSpPr>
          <p:spPr bwMode="auto">
            <a:xfrm>
              <a:off x="2326" y="2051"/>
              <a:ext cx="603" cy="1216"/>
            </a:xfrm>
            <a:custGeom>
              <a:avLst/>
              <a:gdLst>
                <a:gd name="T0" fmla="*/ 1 w 1204"/>
                <a:gd name="T1" fmla="*/ 1 h 2432"/>
                <a:gd name="T2" fmla="*/ 1 w 1204"/>
                <a:gd name="T3" fmla="*/ 0 h 2432"/>
                <a:gd name="T4" fmla="*/ 0 w 1204"/>
                <a:gd name="T5" fmla="*/ 7 h 2432"/>
                <a:gd name="T6" fmla="*/ 5 w 1204"/>
                <a:gd name="T7" fmla="*/ 10 h 2432"/>
                <a:gd name="T8" fmla="*/ 5 w 1204"/>
                <a:gd name="T9" fmla="*/ 9 h 2432"/>
                <a:gd name="T10" fmla="*/ 5 w 1204"/>
                <a:gd name="T11" fmla="*/ 9 h 2432"/>
                <a:gd name="T12" fmla="*/ 5 w 1204"/>
                <a:gd name="T13" fmla="*/ 10 h 2432"/>
                <a:gd name="T14" fmla="*/ 1 w 1204"/>
                <a:gd name="T15" fmla="*/ 6 h 2432"/>
                <a:gd name="T16" fmla="*/ 1 w 1204"/>
                <a:gd name="T17" fmla="*/ 1 h 2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04"/>
                <a:gd name="T28" fmla="*/ 0 h 2432"/>
                <a:gd name="T29" fmla="*/ 1204 w 1204"/>
                <a:gd name="T30" fmla="*/ 2432 h 24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04" h="2432">
                  <a:moveTo>
                    <a:pt x="162" y="3"/>
                  </a:moveTo>
                  <a:lnTo>
                    <a:pt x="104" y="0"/>
                  </a:lnTo>
                  <a:lnTo>
                    <a:pt x="0" y="1669"/>
                  </a:lnTo>
                  <a:lnTo>
                    <a:pt x="1193" y="2432"/>
                  </a:lnTo>
                  <a:lnTo>
                    <a:pt x="1204" y="2292"/>
                  </a:lnTo>
                  <a:lnTo>
                    <a:pt x="1146" y="2286"/>
                  </a:lnTo>
                  <a:lnTo>
                    <a:pt x="1143" y="2328"/>
                  </a:lnTo>
                  <a:lnTo>
                    <a:pt x="58" y="1633"/>
                  </a:lnTo>
                  <a:lnTo>
                    <a:pt x="162" y="3"/>
                  </a:lnTo>
                  <a:close/>
                </a:path>
              </a:pathLst>
            </a:custGeom>
            <a:solidFill>
              <a:srgbClr val="000000"/>
            </a:solidFill>
            <a:ln w="9525">
              <a:noFill/>
              <a:round/>
              <a:headEnd/>
              <a:tailEnd/>
            </a:ln>
          </p:spPr>
          <p:txBody>
            <a:bodyPr/>
            <a:lstStyle/>
            <a:p>
              <a:endParaRPr lang="en-US"/>
            </a:p>
          </p:txBody>
        </p:sp>
        <p:sp>
          <p:nvSpPr>
            <p:cNvPr id="18073" name="Freeform 44"/>
            <p:cNvSpPr>
              <a:spLocks/>
            </p:cNvSpPr>
            <p:nvPr/>
          </p:nvSpPr>
          <p:spPr bwMode="auto">
            <a:xfrm>
              <a:off x="2202" y="858"/>
              <a:ext cx="206" cy="1196"/>
            </a:xfrm>
            <a:custGeom>
              <a:avLst/>
              <a:gdLst>
                <a:gd name="T0" fmla="*/ 0 w 410"/>
                <a:gd name="T1" fmla="*/ 0 h 2391"/>
                <a:gd name="T2" fmla="*/ 2 w 410"/>
                <a:gd name="T3" fmla="*/ 10 h 2391"/>
                <a:gd name="T4" fmla="*/ 2 w 410"/>
                <a:gd name="T5" fmla="*/ 10 h 2391"/>
                <a:gd name="T6" fmla="*/ 2 w 410"/>
                <a:gd name="T7" fmla="*/ 10 h 2391"/>
                <a:gd name="T8" fmla="*/ 1 w 410"/>
                <a:gd name="T9" fmla="*/ 1 h 2391"/>
                <a:gd name="T10" fmla="*/ 0 w 410"/>
                <a:gd name="T11" fmla="*/ 0 h 2391"/>
                <a:gd name="T12" fmla="*/ 0 60000 65536"/>
                <a:gd name="T13" fmla="*/ 0 60000 65536"/>
                <a:gd name="T14" fmla="*/ 0 60000 65536"/>
                <a:gd name="T15" fmla="*/ 0 60000 65536"/>
                <a:gd name="T16" fmla="*/ 0 60000 65536"/>
                <a:gd name="T17" fmla="*/ 0 60000 65536"/>
                <a:gd name="T18" fmla="*/ 0 w 410"/>
                <a:gd name="T19" fmla="*/ 0 h 2391"/>
                <a:gd name="T20" fmla="*/ 410 w 410"/>
                <a:gd name="T21" fmla="*/ 2391 h 2391"/>
              </a:gdLst>
              <a:ahLst/>
              <a:cxnLst>
                <a:cxn ang="T12">
                  <a:pos x="T0" y="T1"/>
                </a:cxn>
                <a:cxn ang="T13">
                  <a:pos x="T2" y="T3"/>
                </a:cxn>
                <a:cxn ang="T14">
                  <a:pos x="T4" y="T5"/>
                </a:cxn>
                <a:cxn ang="T15">
                  <a:pos x="T6" y="T7"/>
                </a:cxn>
                <a:cxn ang="T16">
                  <a:pos x="T8" y="T9"/>
                </a:cxn>
                <a:cxn ang="T17">
                  <a:pos x="T10" y="T11"/>
                </a:cxn>
              </a:cxnLst>
              <a:rect l="T18" t="T19" r="T20" b="T21"/>
              <a:pathLst>
                <a:path w="410" h="2391">
                  <a:moveTo>
                    <a:pt x="0" y="0"/>
                  </a:moveTo>
                  <a:lnTo>
                    <a:pt x="352" y="2391"/>
                  </a:lnTo>
                  <a:lnTo>
                    <a:pt x="410" y="2389"/>
                  </a:lnTo>
                  <a:lnTo>
                    <a:pt x="410" y="2385"/>
                  </a:lnTo>
                  <a:lnTo>
                    <a:pt x="69" y="81"/>
                  </a:lnTo>
                  <a:lnTo>
                    <a:pt x="0" y="0"/>
                  </a:lnTo>
                  <a:close/>
                </a:path>
              </a:pathLst>
            </a:custGeom>
            <a:solidFill>
              <a:srgbClr val="000000"/>
            </a:solidFill>
            <a:ln w="9525">
              <a:noFill/>
              <a:round/>
              <a:headEnd/>
              <a:tailEnd/>
            </a:ln>
          </p:spPr>
          <p:txBody>
            <a:bodyPr/>
            <a:lstStyle/>
            <a:p>
              <a:endParaRPr lang="en-US"/>
            </a:p>
          </p:txBody>
        </p:sp>
        <p:sp>
          <p:nvSpPr>
            <p:cNvPr id="18074" name="Freeform 45"/>
            <p:cNvSpPr>
              <a:spLocks/>
            </p:cNvSpPr>
            <p:nvPr/>
          </p:nvSpPr>
          <p:spPr bwMode="auto">
            <a:xfrm>
              <a:off x="2916" y="751"/>
              <a:ext cx="1287" cy="2503"/>
            </a:xfrm>
            <a:custGeom>
              <a:avLst/>
              <a:gdLst>
                <a:gd name="T0" fmla="*/ 1 w 2574"/>
                <a:gd name="T1" fmla="*/ 20 h 5006"/>
                <a:gd name="T2" fmla="*/ 1 w 2574"/>
                <a:gd name="T3" fmla="*/ 20 h 5006"/>
                <a:gd name="T4" fmla="*/ 10 w 2574"/>
                <a:gd name="T5" fmla="*/ 16 h 5006"/>
                <a:gd name="T6" fmla="*/ 9 w 2574"/>
                <a:gd name="T7" fmla="*/ 9 h 5006"/>
                <a:gd name="T8" fmla="*/ 10 w 2574"/>
                <a:gd name="T9" fmla="*/ 0 h 5006"/>
                <a:gd name="T10" fmla="*/ 0 w 2574"/>
                <a:gd name="T11" fmla="*/ 3 h 5006"/>
                <a:gd name="T12" fmla="*/ 1 w 2574"/>
                <a:gd name="T13" fmla="*/ 3 h 5006"/>
                <a:gd name="T14" fmla="*/ 10 w 2574"/>
                <a:gd name="T15" fmla="*/ 1 h 5006"/>
                <a:gd name="T16" fmla="*/ 8 w 2574"/>
                <a:gd name="T17" fmla="*/ 9 h 5006"/>
                <a:gd name="T18" fmla="*/ 10 w 2574"/>
                <a:gd name="T19" fmla="*/ 16 h 5006"/>
                <a:gd name="T20" fmla="*/ 1 w 2574"/>
                <a:gd name="T21" fmla="*/ 20 h 50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74"/>
                <a:gd name="T34" fmla="*/ 0 h 5006"/>
                <a:gd name="T35" fmla="*/ 2574 w 2574"/>
                <a:gd name="T36" fmla="*/ 5006 h 50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74" h="5006">
                  <a:moveTo>
                    <a:pt x="18" y="4944"/>
                  </a:moveTo>
                  <a:lnTo>
                    <a:pt x="36" y="5006"/>
                  </a:lnTo>
                  <a:lnTo>
                    <a:pt x="2394" y="4015"/>
                  </a:lnTo>
                  <a:lnTo>
                    <a:pt x="2098" y="2069"/>
                  </a:lnTo>
                  <a:lnTo>
                    <a:pt x="2574" y="0"/>
                  </a:lnTo>
                  <a:lnTo>
                    <a:pt x="0" y="620"/>
                  </a:lnTo>
                  <a:lnTo>
                    <a:pt x="56" y="675"/>
                  </a:lnTo>
                  <a:lnTo>
                    <a:pt x="2498" y="85"/>
                  </a:lnTo>
                  <a:lnTo>
                    <a:pt x="2040" y="2075"/>
                  </a:lnTo>
                  <a:lnTo>
                    <a:pt x="2330" y="3973"/>
                  </a:lnTo>
                  <a:lnTo>
                    <a:pt x="18" y="4944"/>
                  </a:lnTo>
                  <a:close/>
                </a:path>
              </a:pathLst>
            </a:custGeom>
            <a:solidFill>
              <a:srgbClr val="000000"/>
            </a:solidFill>
            <a:ln w="9525">
              <a:noFill/>
              <a:round/>
              <a:headEnd/>
              <a:tailEnd/>
            </a:ln>
          </p:spPr>
          <p:txBody>
            <a:bodyPr/>
            <a:lstStyle/>
            <a:p>
              <a:endParaRPr lang="en-US"/>
            </a:p>
          </p:txBody>
        </p:sp>
        <p:sp>
          <p:nvSpPr>
            <p:cNvPr id="18075" name="Freeform 46"/>
            <p:cNvSpPr>
              <a:spLocks/>
            </p:cNvSpPr>
            <p:nvPr/>
          </p:nvSpPr>
          <p:spPr bwMode="auto">
            <a:xfrm>
              <a:off x="2916" y="1061"/>
              <a:ext cx="29" cy="2200"/>
            </a:xfrm>
            <a:custGeom>
              <a:avLst/>
              <a:gdLst>
                <a:gd name="T0" fmla="*/ 1 w 58"/>
                <a:gd name="T1" fmla="*/ 0 h 4401"/>
                <a:gd name="T2" fmla="*/ 0 w 58"/>
                <a:gd name="T3" fmla="*/ 17 h 4401"/>
                <a:gd name="T4" fmla="*/ 1 w 58"/>
                <a:gd name="T5" fmla="*/ 17 h 4401"/>
                <a:gd name="T6" fmla="*/ 1 w 58"/>
                <a:gd name="T7" fmla="*/ 16 h 4401"/>
                <a:gd name="T8" fmla="*/ 1 w 58"/>
                <a:gd name="T9" fmla="*/ 0 h 4401"/>
                <a:gd name="T10" fmla="*/ 1 w 58"/>
                <a:gd name="T11" fmla="*/ 0 h 4401"/>
                <a:gd name="T12" fmla="*/ 0 60000 65536"/>
                <a:gd name="T13" fmla="*/ 0 60000 65536"/>
                <a:gd name="T14" fmla="*/ 0 60000 65536"/>
                <a:gd name="T15" fmla="*/ 0 60000 65536"/>
                <a:gd name="T16" fmla="*/ 0 60000 65536"/>
                <a:gd name="T17" fmla="*/ 0 60000 65536"/>
                <a:gd name="T18" fmla="*/ 0 w 58"/>
                <a:gd name="T19" fmla="*/ 0 h 4401"/>
                <a:gd name="T20" fmla="*/ 58 w 58"/>
                <a:gd name="T21" fmla="*/ 4401 h 4401"/>
              </a:gdLst>
              <a:ahLst/>
              <a:cxnLst>
                <a:cxn ang="T12">
                  <a:pos x="T0" y="T1"/>
                </a:cxn>
                <a:cxn ang="T13">
                  <a:pos x="T2" y="T3"/>
                </a:cxn>
                <a:cxn ang="T14">
                  <a:pos x="T4" y="T5"/>
                </a:cxn>
                <a:cxn ang="T15">
                  <a:pos x="T6" y="T7"/>
                </a:cxn>
                <a:cxn ang="T16">
                  <a:pos x="T8" y="T9"/>
                </a:cxn>
                <a:cxn ang="T17">
                  <a:pos x="T10" y="T11"/>
                </a:cxn>
              </a:cxnLst>
              <a:rect l="T18" t="T19" r="T20" b="T21"/>
              <a:pathLst>
                <a:path w="58" h="4401">
                  <a:moveTo>
                    <a:pt x="2" y="0"/>
                  </a:moveTo>
                  <a:lnTo>
                    <a:pt x="0" y="4401"/>
                  </a:lnTo>
                  <a:lnTo>
                    <a:pt x="38" y="4386"/>
                  </a:lnTo>
                  <a:lnTo>
                    <a:pt x="58" y="4310"/>
                  </a:lnTo>
                  <a:lnTo>
                    <a:pt x="58" y="55"/>
                  </a:lnTo>
                  <a:lnTo>
                    <a:pt x="2" y="0"/>
                  </a:lnTo>
                  <a:close/>
                </a:path>
              </a:pathLst>
            </a:custGeom>
            <a:solidFill>
              <a:srgbClr val="000000"/>
            </a:solidFill>
            <a:ln w="9525">
              <a:noFill/>
              <a:round/>
              <a:headEnd/>
              <a:tailEnd/>
            </a:ln>
          </p:spPr>
          <p:txBody>
            <a:bodyPr/>
            <a:lstStyle/>
            <a:p>
              <a:endParaRPr lang="en-US"/>
            </a:p>
          </p:txBody>
        </p:sp>
        <p:sp>
          <p:nvSpPr>
            <p:cNvPr id="18076" name="Freeform 47"/>
            <p:cNvSpPr>
              <a:spLocks/>
            </p:cNvSpPr>
            <p:nvPr/>
          </p:nvSpPr>
          <p:spPr bwMode="auto">
            <a:xfrm>
              <a:off x="2205" y="666"/>
              <a:ext cx="1982" cy="425"/>
            </a:xfrm>
            <a:custGeom>
              <a:avLst/>
              <a:gdLst>
                <a:gd name="T0" fmla="*/ 0 w 3964"/>
                <a:gd name="T1" fmla="*/ 1 h 851"/>
                <a:gd name="T2" fmla="*/ 1 w 3964"/>
                <a:gd name="T3" fmla="*/ 1 h 851"/>
                <a:gd name="T4" fmla="*/ 12 w 3964"/>
                <a:gd name="T5" fmla="*/ 0 h 851"/>
                <a:gd name="T6" fmla="*/ 15 w 3964"/>
                <a:gd name="T7" fmla="*/ 0 h 851"/>
                <a:gd name="T8" fmla="*/ 6 w 3964"/>
                <a:gd name="T9" fmla="*/ 3 h 851"/>
                <a:gd name="T10" fmla="*/ 6 w 3964"/>
                <a:gd name="T11" fmla="*/ 3 h 851"/>
                <a:gd name="T12" fmla="*/ 16 w 3964"/>
                <a:gd name="T13" fmla="*/ 0 h 851"/>
                <a:gd name="T14" fmla="*/ 16 w 3964"/>
                <a:gd name="T15" fmla="*/ 0 h 851"/>
                <a:gd name="T16" fmla="*/ 12 w 3964"/>
                <a:gd name="T17" fmla="*/ 0 h 851"/>
                <a:gd name="T18" fmla="*/ 0 w 3964"/>
                <a:gd name="T19" fmla="*/ 1 h 8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64"/>
                <a:gd name="T31" fmla="*/ 0 h 851"/>
                <a:gd name="T32" fmla="*/ 3964 w 3964"/>
                <a:gd name="T33" fmla="*/ 851 h 8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64" h="851">
                  <a:moveTo>
                    <a:pt x="0" y="378"/>
                  </a:moveTo>
                  <a:lnTo>
                    <a:pt x="5" y="444"/>
                  </a:lnTo>
                  <a:lnTo>
                    <a:pt x="2899" y="65"/>
                  </a:lnTo>
                  <a:lnTo>
                    <a:pt x="3796" y="220"/>
                  </a:lnTo>
                  <a:lnTo>
                    <a:pt x="1446" y="786"/>
                  </a:lnTo>
                  <a:lnTo>
                    <a:pt x="1452" y="851"/>
                  </a:lnTo>
                  <a:lnTo>
                    <a:pt x="3964" y="246"/>
                  </a:lnTo>
                  <a:lnTo>
                    <a:pt x="3961" y="181"/>
                  </a:lnTo>
                  <a:lnTo>
                    <a:pt x="2899" y="0"/>
                  </a:lnTo>
                  <a:lnTo>
                    <a:pt x="0" y="378"/>
                  </a:lnTo>
                  <a:close/>
                </a:path>
              </a:pathLst>
            </a:custGeom>
            <a:solidFill>
              <a:srgbClr val="000000"/>
            </a:solidFill>
            <a:ln w="9525">
              <a:noFill/>
              <a:round/>
              <a:headEnd/>
              <a:tailEnd/>
            </a:ln>
          </p:spPr>
          <p:txBody>
            <a:bodyPr/>
            <a:lstStyle/>
            <a:p>
              <a:endParaRPr lang="en-US"/>
            </a:p>
          </p:txBody>
        </p:sp>
        <p:sp>
          <p:nvSpPr>
            <p:cNvPr id="18077" name="Freeform 48"/>
            <p:cNvSpPr>
              <a:spLocks/>
            </p:cNvSpPr>
            <p:nvPr/>
          </p:nvSpPr>
          <p:spPr bwMode="auto">
            <a:xfrm>
              <a:off x="2204" y="855"/>
              <a:ext cx="727" cy="236"/>
            </a:xfrm>
            <a:custGeom>
              <a:avLst/>
              <a:gdLst>
                <a:gd name="T0" fmla="*/ 5 w 1455"/>
                <a:gd name="T1" fmla="*/ 1 h 473"/>
                <a:gd name="T2" fmla="*/ 0 w 1455"/>
                <a:gd name="T3" fmla="*/ 0 h 473"/>
                <a:gd name="T4" fmla="*/ 0 w 1455"/>
                <a:gd name="T5" fmla="*/ 0 h 473"/>
                <a:gd name="T6" fmla="*/ 0 w 1455"/>
                <a:gd name="T7" fmla="*/ 0 h 473"/>
                <a:gd name="T8" fmla="*/ 5 w 1455"/>
                <a:gd name="T9" fmla="*/ 1 h 473"/>
                <a:gd name="T10" fmla="*/ 5 w 1455"/>
                <a:gd name="T11" fmla="*/ 1 h 473"/>
                <a:gd name="T12" fmla="*/ 0 60000 65536"/>
                <a:gd name="T13" fmla="*/ 0 60000 65536"/>
                <a:gd name="T14" fmla="*/ 0 60000 65536"/>
                <a:gd name="T15" fmla="*/ 0 60000 65536"/>
                <a:gd name="T16" fmla="*/ 0 60000 65536"/>
                <a:gd name="T17" fmla="*/ 0 60000 65536"/>
                <a:gd name="T18" fmla="*/ 0 w 1455"/>
                <a:gd name="T19" fmla="*/ 0 h 473"/>
                <a:gd name="T20" fmla="*/ 1455 w 1455"/>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455" h="473">
                  <a:moveTo>
                    <a:pt x="1449" y="408"/>
                  </a:moveTo>
                  <a:lnTo>
                    <a:pt x="164" y="44"/>
                  </a:lnTo>
                  <a:lnTo>
                    <a:pt x="3" y="0"/>
                  </a:lnTo>
                  <a:lnTo>
                    <a:pt x="0" y="64"/>
                  </a:lnTo>
                  <a:lnTo>
                    <a:pt x="1455" y="473"/>
                  </a:lnTo>
                  <a:lnTo>
                    <a:pt x="1449" y="408"/>
                  </a:lnTo>
                  <a:close/>
                </a:path>
              </a:pathLst>
            </a:custGeom>
            <a:solidFill>
              <a:srgbClr val="000000"/>
            </a:solidFill>
            <a:ln w="9525">
              <a:noFill/>
              <a:round/>
              <a:headEnd/>
              <a:tailEnd/>
            </a:ln>
          </p:spPr>
          <p:txBody>
            <a:bodyPr/>
            <a:lstStyle/>
            <a:p>
              <a:endParaRPr lang="en-US"/>
            </a:p>
          </p:txBody>
        </p:sp>
        <p:sp>
          <p:nvSpPr>
            <p:cNvPr id="18078" name="Freeform 49"/>
            <p:cNvSpPr>
              <a:spLocks/>
            </p:cNvSpPr>
            <p:nvPr/>
          </p:nvSpPr>
          <p:spPr bwMode="auto">
            <a:xfrm>
              <a:off x="2300" y="1199"/>
              <a:ext cx="1779" cy="324"/>
            </a:xfrm>
            <a:custGeom>
              <a:avLst/>
              <a:gdLst>
                <a:gd name="T0" fmla="*/ 1 w 3556"/>
                <a:gd name="T1" fmla="*/ 1 h 647"/>
                <a:gd name="T2" fmla="*/ 0 w 3556"/>
                <a:gd name="T3" fmla="*/ 1 h 647"/>
                <a:gd name="T4" fmla="*/ 5 w 3556"/>
                <a:gd name="T5" fmla="*/ 3 h 647"/>
                <a:gd name="T6" fmla="*/ 14 w 3556"/>
                <a:gd name="T7" fmla="*/ 1 h 647"/>
                <a:gd name="T8" fmla="*/ 14 w 3556"/>
                <a:gd name="T9" fmla="*/ 0 h 647"/>
                <a:gd name="T10" fmla="*/ 5 w 3556"/>
                <a:gd name="T11" fmla="*/ 3 h 647"/>
                <a:gd name="T12" fmla="*/ 1 w 3556"/>
                <a:gd name="T13" fmla="*/ 1 h 647"/>
                <a:gd name="T14" fmla="*/ 0 60000 65536"/>
                <a:gd name="T15" fmla="*/ 0 60000 65536"/>
                <a:gd name="T16" fmla="*/ 0 60000 65536"/>
                <a:gd name="T17" fmla="*/ 0 60000 65536"/>
                <a:gd name="T18" fmla="*/ 0 60000 65536"/>
                <a:gd name="T19" fmla="*/ 0 60000 65536"/>
                <a:gd name="T20" fmla="*/ 0 60000 65536"/>
                <a:gd name="T21" fmla="*/ 0 w 3556"/>
                <a:gd name="T22" fmla="*/ 0 h 647"/>
                <a:gd name="T23" fmla="*/ 3556 w 3556"/>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6" h="647">
                  <a:moveTo>
                    <a:pt x="8" y="184"/>
                  </a:moveTo>
                  <a:lnTo>
                    <a:pt x="0" y="223"/>
                  </a:lnTo>
                  <a:lnTo>
                    <a:pt x="1247" y="647"/>
                  </a:lnTo>
                  <a:lnTo>
                    <a:pt x="3556" y="42"/>
                  </a:lnTo>
                  <a:lnTo>
                    <a:pt x="3551" y="0"/>
                  </a:lnTo>
                  <a:lnTo>
                    <a:pt x="1245" y="605"/>
                  </a:lnTo>
                  <a:lnTo>
                    <a:pt x="8" y="184"/>
                  </a:lnTo>
                  <a:close/>
                </a:path>
              </a:pathLst>
            </a:custGeom>
            <a:solidFill>
              <a:srgbClr val="000000"/>
            </a:solidFill>
            <a:ln w="9525">
              <a:noFill/>
              <a:round/>
              <a:headEnd/>
              <a:tailEnd/>
            </a:ln>
          </p:spPr>
          <p:txBody>
            <a:bodyPr/>
            <a:lstStyle/>
            <a:p>
              <a:endParaRPr lang="en-US"/>
            </a:p>
          </p:txBody>
        </p:sp>
        <p:sp>
          <p:nvSpPr>
            <p:cNvPr id="18079" name="Freeform 50"/>
            <p:cNvSpPr>
              <a:spLocks/>
            </p:cNvSpPr>
            <p:nvPr/>
          </p:nvSpPr>
          <p:spPr bwMode="auto">
            <a:xfrm>
              <a:off x="2334" y="1477"/>
              <a:ext cx="1690" cy="355"/>
            </a:xfrm>
            <a:custGeom>
              <a:avLst/>
              <a:gdLst>
                <a:gd name="T0" fmla="*/ 1 w 3380"/>
                <a:gd name="T1" fmla="*/ 1 h 709"/>
                <a:gd name="T2" fmla="*/ 0 w 3380"/>
                <a:gd name="T3" fmla="*/ 2 h 709"/>
                <a:gd name="T4" fmla="*/ 5 w 3380"/>
                <a:gd name="T5" fmla="*/ 3 h 709"/>
                <a:gd name="T6" fmla="*/ 13 w 3380"/>
                <a:gd name="T7" fmla="*/ 1 h 709"/>
                <a:gd name="T8" fmla="*/ 13 w 3380"/>
                <a:gd name="T9" fmla="*/ 0 h 709"/>
                <a:gd name="T10" fmla="*/ 5 w 3380"/>
                <a:gd name="T11" fmla="*/ 3 h 709"/>
                <a:gd name="T12" fmla="*/ 1 w 3380"/>
                <a:gd name="T13" fmla="*/ 1 h 709"/>
                <a:gd name="T14" fmla="*/ 0 60000 65536"/>
                <a:gd name="T15" fmla="*/ 0 60000 65536"/>
                <a:gd name="T16" fmla="*/ 0 60000 65536"/>
                <a:gd name="T17" fmla="*/ 0 60000 65536"/>
                <a:gd name="T18" fmla="*/ 0 60000 65536"/>
                <a:gd name="T19" fmla="*/ 0 60000 65536"/>
                <a:gd name="T20" fmla="*/ 0 60000 65536"/>
                <a:gd name="T21" fmla="*/ 0 w 3380"/>
                <a:gd name="T22" fmla="*/ 0 h 709"/>
                <a:gd name="T23" fmla="*/ 3380 w 3380"/>
                <a:gd name="T24" fmla="*/ 709 h 7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80" h="709">
                  <a:moveTo>
                    <a:pt x="11" y="228"/>
                  </a:moveTo>
                  <a:lnTo>
                    <a:pt x="0" y="267"/>
                  </a:lnTo>
                  <a:lnTo>
                    <a:pt x="1182" y="709"/>
                  </a:lnTo>
                  <a:lnTo>
                    <a:pt x="3380" y="42"/>
                  </a:lnTo>
                  <a:lnTo>
                    <a:pt x="3371" y="0"/>
                  </a:lnTo>
                  <a:lnTo>
                    <a:pt x="1182" y="666"/>
                  </a:lnTo>
                  <a:lnTo>
                    <a:pt x="11" y="228"/>
                  </a:lnTo>
                  <a:close/>
                </a:path>
              </a:pathLst>
            </a:custGeom>
            <a:solidFill>
              <a:srgbClr val="000000"/>
            </a:solidFill>
            <a:ln w="9525">
              <a:noFill/>
              <a:round/>
              <a:headEnd/>
              <a:tailEnd/>
            </a:ln>
          </p:spPr>
          <p:txBody>
            <a:bodyPr/>
            <a:lstStyle/>
            <a:p>
              <a:endParaRPr lang="en-US"/>
            </a:p>
          </p:txBody>
        </p:sp>
        <p:sp>
          <p:nvSpPr>
            <p:cNvPr id="18080" name="Freeform 51"/>
            <p:cNvSpPr>
              <a:spLocks/>
            </p:cNvSpPr>
            <p:nvPr/>
          </p:nvSpPr>
          <p:spPr bwMode="auto">
            <a:xfrm>
              <a:off x="2389" y="2201"/>
              <a:ext cx="1620" cy="363"/>
            </a:xfrm>
            <a:custGeom>
              <a:avLst/>
              <a:gdLst>
                <a:gd name="T0" fmla="*/ 1 w 3239"/>
                <a:gd name="T1" fmla="*/ 1 h 725"/>
                <a:gd name="T2" fmla="*/ 0 w 3239"/>
                <a:gd name="T3" fmla="*/ 1 h 725"/>
                <a:gd name="T4" fmla="*/ 5 w 3239"/>
                <a:gd name="T5" fmla="*/ 3 h 725"/>
                <a:gd name="T6" fmla="*/ 13 w 3239"/>
                <a:gd name="T7" fmla="*/ 1 h 725"/>
                <a:gd name="T8" fmla="*/ 13 w 3239"/>
                <a:gd name="T9" fmla="*/ 0 h 725"/>
                <a:gd name="T10" fmla="*/ 5 w 3239"/>
                <a:gd name="T11" fmla="*/ 3 h 725"/>
                <a:gd name="T12" fmla="*/ 1 w 3239"/>
                <a:gd name="T13" fmla="*/ 1 h 725"/>
                <a:gd name="T14" fmla="*/ 0 60000 65536"/>
                <a:gd name="T15" fmla="*/ 0 60000 65536"/>
                <a:gd name="T16" fmla="*/ 0 60000 65536"/>
                <a:gd name="T17" fmla="*/ 0 60000 65536"/>
                <a:gd name="T18" fmla="*/ 0 60000 65536"/>
                <a:gd name="T19" fmla="*/ 0 60000 65536"/>
                <a:gd name="T20" fmla="*/ 0 60000 65536"/>
                <a:gd name="T21" fmla="*/ 0 w 3239"/>
                <a:gd name="T22" fmla="*/ 0 h 725"/>
                <a:gd name="T23" fmla="*/ 3239 w 3239"/>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5">
                  <a:moveTo>
                    <a:pt x="14" y="113"/>
                  </a:moveTo>
                  <a:lnTo>
                    <a:pt x="0" y="152"/>
                  </a:lnTo>
                  <a:lnTo>
                    <a:pt x="1075" y="725"/>
                  </a:lnTo>
                  <a:lnTo>
                    <a:pt x="3239" y="39"/>
                  </a:lnTo>
                  <a:lnTo>
                    <a:pt x="3231" y="0"/>
                  </a:lnTo>
                  <a:lnTo>
                    <a:pt x="1084" y="683"/>
                  </a:lnTo>
                  <a:lnTo>
                    <a:pt x="14" y="113"/>
                  </a:lnTo>
                  <a:close/>
                </a:path>
              </a:pathLst>
            </a:custGeom>
            <a:solidFill>
              <a:srgbClr val="000000"/>
            </a:solidFill>
            <a:ln w="9525">
              <a:noFill/>
              <a:round/>
              <a:headEnd/>
              <a:tailEnd/>
            </a:ln>
          </p:spPr>
          <p:txBody>
            <a:bodyPr/>
            <a:lstStyle/>
            <a:p>
              <a:endParaRPr lang="en-US"/>
            </a:p>
          </p:txBody>
        </p:sp>
        <p:sp>
          <p:nvSpPr>
            <p:cNvPr id="18081" name="Freeform 52"/>
            <p:cNvSpPr>
              <a:spLocks/>
            </p:cNvSpPr>
            <p:nvPr/>
          </p:nvSpPr>
          <p:spPr bwMode="auto">
            <a:xfrm>
              <a:off x="2297" y="1174"/>
              <a:ext cx="1779" cy="324"/>
            </a:xfrm>
            <a:custGeom>
              <a:avLst/>
              <a:gdLst>
                <a:gd name="T0" fmla="*/ 0 w 3559"/>
                <a:gd name="T1" fmla="*/ 1 h 647"/>
                <a:gd name="T2" fmla="*/ 0 w 3559"/>
                <a:gd name="T3" fmla="*/ 1 h 647"/>
                <a:gd name="T4" fmla="*/ 4 w 3559"/>
                <a:gd name="T5" fmla="*/ 3 h 647"/>
                <a:gd name="T6" fmla="*/ 13 w 3559"/>
                <a:gd name="T7" fmla="*/ 1 h 647"/>
                <a:gd name="T8" fmla="*/ 13 w 3559"/>
                <a:gd name="T9" fmla="*/ 0 h 647"/>
                <a:gd name="T10" fmla="*/ 4 w 3559"/>
                <a:gd name="T11" fmla="*/ 3 h 647"/>
                <a:gd name="T12" fmla="*/ 0 w 3559"/>
                <a:gd name="T13" fmla="*/ 1 h 647"/>
                <a:gd name="T14" fmla="*/ 0 60000 65536"/>
                <a:gd name="T15" fmla="*/ 0 60000 65536"/>
                <a:gd name="T16" fmla="*/ 0 60000 65536"/>
                <a:gd name="T17" fmla="*/ 0 60000 65536"/>
                <a:gd name="T18" fmla="*/ 0 60000 65536"/>
                <a:gd name="T19" fmla="*/ 0 60000 65536"/>
                <a:gd name="T20" fmla="*/ 0 60000 65536"/>
                <a:gd name="T21" fmla="*/ 0 w 3559"/>
                <a:gd name="T22" fmla="*/ 0 h 647"/>
                <a:gd name="T23" fmla="*/ 3559 w 3559"/>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9" h="647">
                  <a:moveTo>
                    <a:pt x="9" y="183"/>
                  </a:moveTo>
                  <a:lnTo>
                    <a:pt x="0" y="222"/>
                  </a:lnTo>
                  <a:lnTo>
                    <a:pt x="1250" y="647"/>
                  </a:lnTo>
                  <a:lnTo>
                    <a:pt x="3559" y="43"/>
                  </a:lnTo>
                  <a:lnTo>
                    <a:pt x="3553" y="0"/>
                  </a:lnTo>
                  <a:lnTo>
                    <a:pt x="1247" y="605"/>
                  </a:lnTo>
                  <a:lnTo>
                    <a:pt x="9" y="183"/>
                  </a:lnTo>
                  <a:close/>
                </a:path>
              </a:pathLst>
            </a:custGeom>
            <a:solidFill>
              <a:srgbClr val="DEFF73"/>
            </a:solidFill>
            <a:ln w="9525">
              <a:noFill/>
              <a:round/>
              <a:headEnd/>
              <a:tailEnd/>
            </a:ln>
          </p:spPr>
          <p:txBody>
            <a:bodyPr/>
            <a:lstStyle/>
            <a:p>
              <a:endParaRPr lang="en-US"/>
            </a:p>
          </p:txBody>
        </p:sp>
        <p:sp>
          <p:nvSpPr>
            <p:cNvPr id="18082" name="Freeform 53"/>
            <p:cNvSpPr>
              <a:spLocks/>
            </p:cNvSpPr>
            <p:nvPr/>
          </p:nvSpPr>
          <p:spPr bwMode="auto">
            <a:xfrm>
              <a:off x="2331" y="1451"/>
              <a:ext cx="1690" cy="355"/>
            </a:xfrm>
            <a:custGeom>
              <a:avLst/>
              <a:gdLst>
                <a:gd name="T0" fmla="*/ 1 w 3379"/>
                <a:gd name="T1" fmla="*/ 1 h 710"/>
                <a:gd name="T2" fmla="*/ 0 w 3379"/>
                <a:gd name="T3" fmla="*/ 2 h 710"/>
                <a:gd name="T4" fmla="*/ 5 w 3379"/>
                <a:gd name="T5" fmla="*/ 3 h 710"/>
                <a:gd name="T6" fmla="*/ 14 w 3379"/>
                <a:gd name="T7" fmla="*/ 1 h 710"/>
                <a:gd name="T8" fmla="*/ 14 w 3379"/>
                <a:gd name="T9" fmla="*/ 0 h 710"/>
                <a:gd name="T10" fmla="*/ 5 w 3379"/>
                <a:gd name="T11" fmla="*/ 3 h 710"/>
                <a:gd name="T12" fmla="*/ 1 w 3379"/>
                <a:gd name="T13" fmla="*/ 1 h 710"/>
                <a:gd name="T14" fmla="*/ 0 60000 65536"/>
                <a:gd name="T15" fmla="*/ 0 60000 65536"/>
                <a:gd name="T16" fmla="*/ 0 60000 65536"/>
                <a:gd name="T17" fmla="*/ 0 60000 65536"/>
                <a:gd name="T18" fmla="*/ 0 60000 65536"/>
                <a:gd name="T19" fmla="*/ 0 60000 65536"/>
                <a:gd name="T20" fmla="*/ 0 60000 65536"/>
                <a:gd name="T21" fmla="*/ 0 w 3379"/>
                <a:gd name="T22" fmla="*/ 0 h 710"/>
                <a:gd name="T23" fmla="*/ 3379 w 3379"/>
                <a:gd name="T24" fmla="*/ 710 h 7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9" h="710">
                  <a:moveTo>
                    <a:pt x="11" y="229"/>
                  </a:moveTo>
                  <a:lnTo>
                    <a:pt x="0" y="268"/>
                  </a:lnTo>
                  <a:lnTo>
                    <a:pt x="1181" y="710"/>
                  </a:lnTo>
                  <a:lnTo>
                    <a:pt x="3379" y="43"/>
                  </a:lnTo>
                  <a:lnTo>
                    <a:pt x="3370" y="0"/>
                  </a:lnTo>
                  <a:lnTo>
                    <a:pt x="1181" y="667"/>
                  </a:lnTo>
                  <a:lnTo>
                    <a:pt x="11" y="229"/>
                  </a:lnTo>
                  <a:close/>
                </a:path>
              </a:pathLst>
            </a:custGeom>
            <a:solidFill>
              <a:srgbClr val="DEFF73"/>
            </a:solidFill>
            <a:ln w="9525">
              <a:noFill/>
              <a:round/>
              <a:headEnd/>
              <a:tailEnd/>
            </a:ln>
          </p:spPr>
          <p:txBody>
            <a:bodyPr/>
            <a:lstStyle/>
            <a:p>
              <a:endParaRPr lang="en-US"/>
            </a:p>
          </p:txBody>
        </p:sp>
        <p:sp>
          <p:nvSpPr>
            <p:cNvPr id="18083" name="Freeform 54"/>
            <p:cNvSpPr>
              <a:spLocks/>
            </p:cNvSpPr>
            <p:nvPr/>
          </p:nvSpPr>
          <p:spPr bwMode="auto">
            <a:xfrm>
              <a:off x="2386" y="2175"/>
              <a:ext cx="1620" cy="363"/>
            </a:xfrm>
            <a:custGeom>
              <a:avLst/>
              <a:gdLst>
                <a:gd name="T0" fmla="*/ 1 w 3239"/>
                <a:gd name="T1" fmla="*/ 0 h 727"/>
                <a:gd name="T2" fmla="*/ 0 w 3239"/>
                <a:gd name="T3" fmla="*/ 0 h 727"/>
                <a:gd name="T4" fmla="*/ 5 w 3239"/>
                <a:gd name="T5" fmla="*/ 2 h 727"/>
                <a:gd name="T6" fmla="*/ 13 w 3239"/>
                <a:gd name="T7" fmla="*/ 0 h 727"/>
                <a:gd name="T8" fmla="*/ 13 w 3239"/>
                <a:gd name="T9" fmla="*/ 0 h 727"/>
                <a:gd name="T10" fmla="*/ 5 w 3239"/>
                <a:gd name="T11" fmla="*/ 2 h 727"/>
                <a:gd name="T12" fmla="*/ 1 w 3239"/>
                <a:gd name="T13" fmla="*/ 0 h 727"/>
                <a:gd name="T14" fmla="*/ 0 60000 65536"/>
                <a:gd name="T15" fmla="*/ 0 60000 65536"/>
                <a:gd name="T16" fmla="*/ 0 60000 65536"/>
                <a:gd name="T17" fmla="*/ 0 60000 65536"/>
                <a:gd name="T18" fmla="*/ 0 60000 65536"/>
                <a:gd name="T19" fmla="*/ 0 60000 65536"/>
                <a:gd name="T20" fmla="*/ 0 60000 65536"/>
                <a:gd name="T21" fmla="*/ 0 w 3239"/>
                <a:gd name="T22" fmla="*/ 0 h 727"/>
                <a:gd name="T23" fmla="*/ 3239 w 3239"/>
                <a:gd name="T24" fmla="*/ 727 h 7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7">
                  <a:moveTo>
                    <a:pt x="14" y="114"/>
                  </a:moveTo>
                  <a:lnTo>
                    <a:pt x="0" y="153"/>
                  </a:lnTo>
                  <a:lnTo>
                    <a:pt x="1076" y="727"/>
                  </a:lnTo>
                  <a:lnTo>
                    <a:pt x="3239" y="39"/>
                  </a:lnTo>
                  <a:lnTo>
                    <a:pt x="3230" y="0"/>
                  </a:lnTo>
                  <a:lnTo>
                    <a:pt x="1085" y="685"/>
                  </a:lnTo>
                  <a:lnTo>
                    <a:pt x="14" y="114"/>
                  </a:lnTo>
                  <a:close/>
                </a:path>
              </a:pathLst>
            </a:custGeom>
            <a:solidFill>
              <a:srgbClr val="DEFF73"/>
            </a:solidFill>
            <a:ln w="9525">
              <a:noFill/>
              <a:round/>
              <a:headEnd/>
              <a:tailEnd/>
            </a:ln>
          </p:spPr>
          <p:txBody>
            <a:bodyPr/>
            <a:lstStyle/>
            <a:p>
              <a:endParaRPr lang="en-US"/>
            </a:p>
          </p:txBody>
        </p:sp>
        <p:sp>
          <p:nvSpPr>
            <p:cNvPr id="18084" name="Freeform 55"/>
            <p:cNvSpPr>
              <a:spLocks/>
            </p:cNvSpPr>
            <p:nvPr/>
          </p:nvSpPr>
          <p:spPr bwMode="auto">
            <a:xfrm>
              <a:off x="2315" y="1005"/>
              <a:ext cx="496" cy="331"/>
            </a:xfrm>
            <a:custGeom>
              <a:avLst/>
              <a:gdLst>
                <a:gd name="T0" fmla="*/ 0 w 993"/>
                <a:gd name="T1" fmla="*/ 0 h 664"/>
                <a:gd name="T2" fmla="*/ 0 w 993"/>
                <a:gd name="T3" fmla="*/ 1 h 664"/>
                <a:gd name="T4" fmla="*/ 3 w 993"/>
                <a:gd name="T5" fmla="*/ 2 h 664"/>
                <a:gd name="T6" fmla="*/ 3 w 993"/>
                <a:gd name="T7" fmla="*/ 1 h 664"/>
                <a:gd name="T8" fmla="*/ 0 w 993"/>
                <a:gd name="T9" fmla="*/ 0 h 664"/>
                <a:gd name="T10" fmla="*/ 0 w 993"/>
                <a:gd name="T11" fmla="*/ 0 h 664"/>
                <a:gd name="T12" fmla="*/ 0 w 993"/>
                <a:gd name="T13" fmla="*/ 0 h 664"/>
                <a:gd name="T14" fmla="*/ 0 60000 65536"/>
                <a:gd name="T15" fmla="*/ 0 60000 65536"/>
                <a:gd name="T16" fmla="*/ 0 60000 65536"/>
                <a:gd name="T17" fmla="*/ 0 60000 65536"/>
                <a:gd name="T18" fmla="*/ 0 60000 65536"/>
                <a:gd name="T19" fmla="*/ 0 60000 65536"/>
                <a:gd name="T20" fmla="*/ 0 60000 65536"/>
                <a:gd name="T21" fmla="*/ 0 w 993"/>
                <a:gd name="T22" fmla="*/ 0 h 664"/>
                <a:gd name="T23" fmla="*/ 993 w 993"/>
                <a:gd name="T24" fmla="*/ 664 h 6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3" h="664">
                  <a:moveTo>
                    <a:pt x="0" y="47"/>
                  </a:moveTo>
                  <a:lnTo>
                    <a:pt x="44" y="339"/>
                  </a:lnTo>
                  <a:lnTo>
                    <a:pt x="990" y="664"/>
                  </a:lnTo>
                  <a:lnTo>
                    <a:pt x="993" y="372"/>
                  </a:lnTo>
                  <a:lnTo>
                    <a:pt x="0" y="0"/>
                  </a:lnTo>
                  <a:lnTo>
                    <a:pt x="0" y="47"/>
                  </a:lnTo>
                  <a:close/>
                </a:path>
              </a:pathLst>
            </a:custGeom>
            <a:solidFill>
              <a:srgbClr val="99FFFB"/>
            </a:solidFill>
            <a:ln w="9525">
              <a:noFill/>
              <a:round/>
              <a:headEnd/>
              <a:tailEnd/>
            </a:ln>
          </p:spPr>
          <p:txBody>
            <a:bodyPr/>
            <a:lstStyle/>
            <a:p>
              <a:endParaRPr lang="en-US"/>
            </a:p>
          </p:txBody>
        </p:sp>
        <p:sp>
          <p:nvSpPr>
            <p:cNvPr id="18085" name="Freeform 56"/>
            <p:cNvSpPr>
              <a:spLocks/>
            </p:cNvSpPr>
            <p:nvPr/>
          </p:nvSpPr>
          <p:spPr bwMode="auto">
            <a:xfrm>
              <a:off x="2305" y="1027"/>
              <a:ext cx="516" cy="322"/>
            </a:xfrm>
            <a:custGeom>
              <a:avLst/>
              <a:gdLst>
                <a:gd name="T0" fmla="*/ 1 w 1030"/>
                <a:gd name="T1" fmla="*/ 0 h 644"/>
                <a:gd name="T2" fmla="*/ 0 w 1030"/>
                <a:gd name="T3" fmla="*/ 1 h 644"/>
                <a:gd name="T4" fmla="*/ 1 w 1030"/>
                <a:gd name="T5" fmla="*/ 2 h 644"/>
                <a:gd name="T6" fmla="*/ 5 w 1030"/>
                <a:gd name="T7" fmla="*/ 3 h 644"/>
                <a:gd name="T8" fmla="*/ 5 w 1030"/>
                <a:gd name="T9" fmla="*/ 2 h 644"/>
                <a:gd name="T10" fmla="*/ 4 w 1030"/>
                <a:gd name="T11" fmla="*/ 2 h 644"/>
                <a:gd name="T12" fmla="*/ 4 w 1030"/>
                <a:gd name="T13" fmla="*/ 3 h 644"/>
                <a:gd name="T14" fmla="*/ 1 w 1030"/>
                <a:gd name="T15" fmla="*/ 2 h 644"/>
                <a:gd name="T16" fmla="*/ 1 w 1030"/>
                <a:gd name="T17" fmla="*/ 0 h 6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0"/>
                <a:gd name="T28" fmla="*/ 0 h 644"/>
                <a:gd name="T29" fmla="*/ 1030 w 1030"/>
                <a:gd name="T30" fmla="*/ 644 h 6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0" h="644">
                  <a:moveTo>
                    <a:pt x="37" y="0"/>
                  </a:moveTo>
                  <a:lnTo>
                    <a:pt x="0" y="3"/>
                  </a:lnTo>
                  <a:lnTo>
                    <a:pt x="45" y="308"/>
                  </a:lnTo>
                  <a:lnTo>
                    <a:pt x="1026" y="644"/>
                  </a:lnTo>
                  <a:lnTo>
                    <a:pt x="1030" y="313"/>
                  </a:lnTo>
                  <a:lnTo>
                    <a:pt x="993" y="339"/>
                  </a:lnTo>
                  <a:lnTo>
                    <a:pt x="991" y="592"/>
                  </a:lnTo>
                  <a:lnTo>
                    <a:pt x="79" y="279"/>
                  </a:lnTo>
                  <a:lnTo>
                    <a:pt x="37" y="0"/>
                  </a:lnTo>
                  <a:close/>
                </a:path>
              </a:pathLst>
            </a:custGeom>
            <a:solidFill>
              <a:srgbClr val="000000"/>
            </a:solidFill>
            <a:ln w="9525">
              <a:noFill/>
              <a:round/>
              <a:headEnd/>
              <a:tailEnd/>
            </a:ln>
          </p:spPr>
          <p:txBody>
            <a:bodyPr/>
            <a:lstStyle/>
            <a:p>
              <a:endParaRPr lang="en-US"/>
            </a:p>
          </p:txBody>
        </p:sp>
        <p:sp>
          <p:nvSpPr>
            <p:cNvPr id="18086" name="Freeform 57"/>
            <p:cNvSpPr>
              <a:spLocks/>
            </p:cNvSpPr>
            <p:nvPr/>
          </p:nvSpPr>
          <p:spPr bwMode="auto">
            <a:xfrm>
              <a:off x="2305" y="991"/>
              <a:ext cx="516" cy="206"/>
            </a:xfrm>
            <a:custGeom>
              <a:avLst/>
              <a:gdLst>
                <a:gd name="T0" fmla="*/ 5 w 1030"/>
                <a:gd name="T1" fmla="*/ 2 h 412"/>
                <a:gd name="T2" fmla="*/ 1 w 1030"/>
                <a:gd name="T3" fmla="*/ 0 h 412"/>
                <a:gd name="T4" fmla="*/ 0 w 1030"/>
                <a:gd name="T5" fmla="*/ 1 h 412"/>
                <a:gd name="T6" fmla="*/ 0 w 1030"/>
                <a:gd name="T7" fmla="*/ 1 h 412"/>
                <a:gd name="T8" fmla="*/ 1 w 1030"/>
                <a:gd name="T9" fmla="*/ 1 h 412"/>
                <a:gd name="T10" fmla="*/ 1 w 1030"/>
                <a:gd name="T11" fmla="*/ 1 h 412"/>
                <a:gd name="T12" fmla="*/ 4 w 1030"/>
                <a:gd name="T13" fmla="*/ 2 h 412"/>
                <a:gd name="T14" fmla="*/ 5 w 1030"/>
                <a:gd name="T15" fmla="*/ 2 h 412"/>
                <a:gd name="T16" fmla="*/ 0 60000 65536"/>
                <a:gd name="T17" fmla="*/ 0 60000 65536"/>
                <a:gd name="T18" fmla="*/ 0 60000 65536"/>
                <a:gd name="T19" fmla="*/ 0 60000 65536"/>
                <a:gd name="T20" fmla="*/ 0 60000 65536"/>
                <a:gd name="T21" fmla="*/ 0 60000 65536"/>
                <a:gd name="T22" fmla="*/ 0 60000 65536"/>
                <a:gd name="T23" fmla="*/ 0 60000 65536"/>
                <a:gd name="T24" fmla="*/ 0 w 1030"/>
                <a:gd name="T25" fmla="*/ 0 h 412"/>
                <a:gd name="T26" fmla="*/ 1030 w 1030"/>
                <a:gd name="T27" fmla="*/ 412 h 4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0" h="412">
                  <a:moveTo>
                    <a:pt x="1030" y="386"/>
                  </a:moveTo>
                  <a:lnTo>
                    <a:pt x="1" y="0"/>
                  </a:lnTo>
                  <a:lnTo>
                    <a:pt x="0" y="74"/>
                  </a:lnTo>
                  <a:lnTo>
                    <a:pt x="0" y="76"/>
                  </a:lnTo>
                  <a:lnTo>
                    <a:pt x="37" y="73"/>
                  </a:lnTo>
                  <a:lnTo>
                    <a:pt x="37" y="55"/>
                  </a:lnTo>
                  <a:lnTo>
                    <a:pt x="993" y="412"/>
                  </a:lnTo>
                  <a:lnTo>
                    <a:pt x="1030" y="386"/>
                  </a:lnTo>
                  <a:close/>
                </a:path>
              </a:pathLst>
            </a:custGeom>
            <a:solidFill>
              <a:srgbClr val="000000"/>
            </a:solidFill>
            <a:ln w="9525">
              <a:noFill/>
              <a:round/>
              <a:headEnd/>
              <a:tailEnd/>
            </a:ln>
          </p:spPr>
          <p:txBody>
            <a:bodyPr/>
            <a:lstStyle/>
            <a:p>
              <a:endParaRPr lang="en-US"/>
            </a:p>
          </p:txBody>
        </p:sp>
        <p:sp>
          <p:nvSpPr>
            <p:cNvPr id="18087" name="Freeform 58"/>
            <p:cNvSpPr>
              <a:spLocks/>
            </p:cNvSpPr>
            <p:nvPr/>
          </p:nvSpPr>
          <p:spPr bwMode="auto">
            <a:xfrm>
              <a:off x="2340" y="1403"/>
              <a:ext cx="502" cy="270"/>
            </a:xfrm>
            <a:custGeom>
              <a:avLst/>
              <a:gdLst>
                <a:gd name="T0" fmla="*/ 0 w 1005"/>
                <a:gd name="T1" fmla="*/ 0 h 540"/>
                <a:gd name="T2" fmla="*/ 0 w 1005"/>
                <a:gd name="T3" fmla="*/ 1 h 540"/>
                <a:gd name="T4" fmla="*/ 3 w 1005"/>
                <a:gd name="T5" fmla="*/ 2 h 540"/>
                <a:gd name="T6" fmla="*/ 3 w 1005"/>
                <a:gd name="T7" fmla="*/ 1 h 540"/>
                <a:gd name="T8" fmla="*/ 0 w 1005"/>
                <a:gd name="T9" fmla="*/ 0 h 540"/>
                <a:gd name="T10" fmla="*/ 0 w 1005"/>
                <a:gd name="T11" fmla="*/ 0 h 540"/>
                <a:gd name="T12" fmla="*/ 0 w 1005"/>
                <a:gd name="T13" fmla="*/ 0 h 540"/>
                <a:gd name="T14" fmla="*/ 0 60000 65536"/>
                <a:gd name="T15" fmla="*/ 0 60000 65536"/>
                <a:gd name="T16" fmla="*/ 0 60000 65536"/>
                <a:gd name="T17" fmla="*/ 0 60000 65536"/>
                <a:gd name="T18" fmla="*/ 0 60000 65536"/>
                <a:gd name="T19" fmla="*/ 0 60000 65536"/>
                <a:gd name="T20" fmla="*/ 0 60000 65536"/>
                <a:gd name="T21" fmla="*/ 0 w 1005"/>
                <a:gd name="T22" fmla="*/ 0 h 540"/>
                <a:gd name="T23" fmla="*/ 1005 w 1005"/>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5" h="540">
                  <a:moveTo>
                    <a:pt x="34" y="0"/>
                  </a:moveTo>
                  <a:lnTo>
                    <a:pt x="94" y="245"/>
                  </a:lnTo>
                  <a:lnTo>
                    <a:pt x="1005" y="540"/>
                  </a:lnTo>
                  <a:lnTo>
                    <a:pt x="993" y="317"/>
                  </a:lnTo>
                  <a:lnTo>
                    <a:pt x="0" y="0"/>
                  </a:lnTo>
                  <a:lnTo>
                    <a:pt x="34" y="0"/>
                  </a:lnTo>
                  <a:close/>
                </a:path>
              </a:pathLst>
            </a:custGeom>
            <a:solidFill>
              <a:srgbClr val="99FFFB"/>
            </a:solidFill>
            <a:ln w="9525">
              <a:noFill/>
              <a:round/>
              <a:headEnd/>
              <a:tailEnd/>
            </a:ln>
          </p:spPr>
          <p:txBody>
            <a:bodyPr/>
            <a:lstStyle/>
            <a:p>
              <a:endParaRPr lang="en-US"/>
            </a:p>
          </p:txBody>
        </p:sp>
        <p:sp>
          <p:nvSpPr>
            <p:cNvPr id="18088" name="Freeform 59"/>
            <p:cNvSpPr>
              <a:spLocks/>
            </p:cNvSpPr>
            <p:nvPr/>
          </p:nvSpPr>
          <p:spPr bwMode="auto">
            <a:xfrm>
              <a:off x="2348" y="1401"/>
              <a:ext cx="504" cy="285"/>
            </a:xfrm>
            <a:custGeom>
              <a:avLst/>
              <a:gdLst>
                <a:gd name="T0" fmla="*/ 1 w 1008"/>
                <a:gd name="T1" fmla="*/ 0 h 571"/>
                <a:gd name="T2" fmla="*/ 0 w 1008"/>
                <a:gd name="T3" fmla="*/ 0 h 571"/>
                <a:gd name="T4" fmla="*/ 1 w 1008"/>
                <a:gd name="T5" fmla="*/ 1 h 571"/>
                <a:gd name="T6" fmla="*/ 4 w 1008"/>
                <a:gd name="T7" fmla="*/ 2 h 571"/>
                <a:gd name="T8" fmla="*/ 4 w 1008"/>
                <a:gd name="T9" fmla="*/ 1 h 571"/>
                <a:gd name="T10" fmla="*/ 4 w 1008"/>
                <a:gd name="T11" fmla="*/ 1 h 571"/>
                <a:gd name="T12" fmla="*/ 4 w 1008"/>
                <a:gd name="T13" fmla="*/ 2 h 571"/>
                <a:gd name="T14" fmla="*/ 1 w 1008"/>
                <a:gd name="T15" fmla="*/ 0 h 571"/>
                <a:gd name="T16" fmla="*/ 1 w 1008"/>
                <a:gd name="T17" fmla="*/ 0 h 5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8"/>
                <a:gd name="T28" fmla="*/ 0 h 571"/>
                <a:gd name="T29" fmla="*/ 1008 w 1008"/>
                <a:gd name="T30" fmla="*/ 571 h 5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8" h="571">
                  <a:moveTo>
                    <a:pt x="35" y="0"/>
                  </a:moveTo>
                  <a:lnTo>
                    <a:pt x="0" y="10"/>
                  </a:lnTo>
                  <a:lnTo>
                    <a:pt x="62" y="264"/>
                  </a:lnTo>
                  <a:lnTo>
                    <a:pt x="1008" y="571"/>
                  </a:lnTo>
                  <a:lnTo>
                    <a:pt x="996" y="307"/>
                  </a:lnTo>
                  <a:lnTo>
                    <a:pt x="958" y="336"/>
                  </a:lnTo>
                  <a:lnTo>
                    <a:pt x="970" y="519"/>
                  </a:lnTo>
                  <a:lnTo>
                    <a:pt x="94" y="235"/>
                  </a:lnTo>
                  <a:lnTo>
                    <a:pt x="35" y="0"/>
                  </a:lnTo>
                  <a:close/>
                </a:path>
              </a:pathLst>
            </a:custGeom>
            <a:solidFill>
              <a:srgbClr val="000000"/>
            </a:solidFill>
            <a:ln w="9525">
              <a:noFill/>
              <a:round/>
              <a:headEnd/>
              <a:tailEnd/>
            </a:ln>
          </p:spPr>
          <p:txBody>
            <a:bodyPr/>
            <a:lstStyle/>
            <a:p>
              <a:endParaRPr lang="en-US"/>
            </a:p>
          </p:txBody>
        </p:sp>
        <p:sp>
          <p:nvSpPr>
            <p:cNvPr id="18089" name="Freeform 60"/>
            <p:cNvSpPr>
              <a:spLocks/>
            </p:cNvSpPr>
            <p:nvPr/>
          </p:nvSpPr>
          <p:spPr bwMode="auto">
            <a:xfrm>
              <a:off x="2338" y="1393"/>
              <a:ext cx="508" cy="176"/>
            </a:xfrm>
            <a:custGeom>
              <a:avLst/>
              <a:gdLst>
                <a:gd name="T0" fmla="*/ 4 w 1016"/>
                <a:gd name="T1" fmla="*/ 2 h 350"/>
                <a:gd name="T2" fmla="*/ 1 w 1016"/>
                <a:gd name="T3" fmla="*/ 0 h 350"/>
                <a:gd name="T4" fmla="*/ 1 w 1016"/>
                <a:gd name="T5" fmla="*/ 1 h 350"/>
                <a:gd name="T6" fmla="*/ 0 w 1016"/>
                <a:gd name="T7" fmla="*/ 1 h 350"/>
                <a:gd name="T8" fmla="*/ 4 w 1016"/>
                <a:gd name="T9" fmla="*/ 2 h 350"/>
                <a:gd name="T10" fmla="*/ 4 w 1016"/>
                <a:gd name="T11" fmla="*/ 2 h 350"/>
                <a:gd name="T12" fmla="*/ 0 60000 65536"/>
                <a:gd name="T13" fmla="*/ 0 60000 65536"/>
                <a:gd name="T14" fmla="*/ 0 60000 65536"/>
                <a:gd name="T15" fmla="*/ 0 60000 65536"/>
                <a:gd name="T16" fmla="*/ 0 60000 65536"/>
                <a:gd name="T17" fmla="*/ 0 60000 65536"/>
                <a:gd name="T18" fmla="*/ 0 w 1016"/>
                <a:gd name="T19" fmla="*/ 0 h 350"/>
                <a:gd name="T20" fmla="*/ 1016 w 1016"/>
                <a:gd name="T21" fmla="*/ 350 h 350"/>
              </a:gdLst>
              <a:ahLst/>
              <a:cxnLst>
                <a:cxn ang="T12">
                  <a:pos x="T0" y="T1"/>
                </a:cxn>
                <a:cxn ang="T13">
                  <a:pos x="T2" y="T3"/>
                </a:cxn>
                <a:cxn ang="T14">
                  <a:pos x="T4" y="T5"/>
                </a:cxn>
                <a:cxn ang="T15">
                  <a:pos x="T6" y="T7"/>
                </a:cxn>
                <a:cxn ang="T16">
                  <a:pos x="T8" y="T9"/>
                </a:cxn>
                <a:cxn ang="T17">
                  <a:pos x="T10" y="T11"/>
                </a:cxn>
              </a:cxnLst>
              <a:rect l="T18" t="T19" r="T20" b="T21"/>
              <a:pathLst>
                <a:path w="1016" h="350">
                  <a:moveTo>
                    <a:pt x="1016" y="321"/>
                  </a:moveTo>
                  <a:lnTo>
                    <a:pt x="9" y="0"/>
                  </a:lnTo>
                  <a:lnTo>
                    <a:pt x="4" y="19"/>
                  </a:lnTo>
                  <a:lnTo>
                    <a:pt x="0" y="39"/>
                  </a:lnTo>
                  <a:lnTo>
                    <a:pt x="978" y="350"/>
                  </a:lnTo>
                  <a:lnTo>
                    <a:pt x="1016" y="321"/>
                  </a:lnTo>
                  <a:close/>
                </a:path>
              </a:pathLst>
            </a:custGeom>
            <a:solidFill>
              <a:srgbClr val="000000"/>
            </a:solidFill>
            <a:ln w="9525">
              <a:noFill/>
              <a:round/>
              <a:headEnd/>
              <a:tailEnd/>
            </a:ln>
          </p:spPr>
          <p:txBody>
            <a:bodyPr/>
            <a:lstStyle/>
            <a:p>
              <a:endParaRPr lang="en-US"/>
            </a:p>
          </p:txBody>
        </p:sp>
        <p:sp>
          <p:nvSpPr>
            <p:cNvPr id="18090" name="Freeform 61"/>
            <p:cNvSpPr>
              <a:spLocks/>
            </p:cNvSpPr>
            <p:nvPr/>
          </p:nvSpPr>
          <p:spPr bwMode="auto">
            <a:xfrm>
              <a:off x="2370" y="1429"/>
              <a:ext cx="443" cy="148"/>
            </a:xfrm>
            <a:custGeom>
              <a:avLst/>
              <a:gdLst>
                <a:gd name="T0" fmla="*/ 1 w 885"/>
                <a:gd name="T1" fmla="*/ 1 h 296"/>
                <a:gd name="T2" fmla="*/ 0 w 885"/>
                <a:gd name="T3" fmla="*/ 0 h 296"/>
                <a:gd name="T4" fmla="*/ 4 w 885"/>
                <a:gd name="T5" fmla="*/ 1 h 296"/>
                <a:gd name="T6" fmla="*/ 1 w 885"/>
                <a:gd name="T7" fmla="*/ 1 h 296"/>
                <a:gd name="T8" fmla="*/ 1 w 885"/>
                <a:gd name="T9" fmla="*/ 1 h 296"/>
                <a:gd name="T10" fmla="*/ 0 60000 65536"/>
                <a:gd name="T11" fmla="*/ 0 60000 65536"/>
                <a:gd name="T12" fmla="*/ 0 60000 65536"/>
                <a:gd name="T13" fmla="*/ 0 60000 65536"/>
                <a:gd name="T14" fmla="*/ 0 60000 65536"/>
                <a:gd name="T15" fmla="*/ 0 w 885"/>
                <a:gd name="T16" fmla="*/ 0 h 296"/>
                <a:gd name="T17" fmla="*/ 885 w 885"/>
                <a:gd name="T18" fmla="*/ 296 h 296"/>
              </a:gdLst>
              <a:ahLst/>
              <a:cxnLst>
                <a:cxn ang="T10">
                  <a:pos x="T0" y="T1"/>
                </a:cxn>
                <a:cxn ang="T11">
                  <a:pos x="T2" y="T3"/>
                </a:cxn>
                <a:cxn ang="T12">
                  <a:pos x="T4" y="T5"/>
                </a:cxn>
                <a:cxn ang="T13">
                  <a:pos x="T6" y="T7"/>
                </a:cxn>
                <a:cxn ang="T14">
                  <a:pos x="T8" y="T9"/>
                </a:cxn>
              </a:cxnLst>
              <a:rect l="T15" t="T16" r="T17" b="T18"/>
              <a:pathLst>
                <a:path w="885" h="296">
                  <a:moveTo>
                    <a:pt x="50" y="115"/>
                  </a:moveTo>
                  <a:lnTo>
                    <a:pt x="0" y="0"/>
                  </a:lnTo>
                  <a:lnTo>
                    <a:pt x="885" y="296"/>
                  </a:lnTo>
                  <a:lnTo>
                    <a:pt x="50" y="115"/>
                  </a:lnTo>
                  <a:close/>
                </a:path>
              </a:pathLst>
            </a:custGeom>
            <a:solidFill>
              <a:srgbClr val="99FFFB"/>
            </a:solidFill>
            <a:ln w="9525">
              <a:noFill/>
              <a:round/>
              <a:headEnd/>
              <a:tailEnd/>
            </a:ln>
          </p:spPr>
          <p:txBody>
            <a:bodyPr/>
            <a:lstStyle/>
            <a:p>
              <a:endParaRPr lang="en-US"/>
            </a:p>
          </p:txBody>
        </p:sp>
        <p:sp>
          <p:nvSpPr>
            <p:cNvPr id="18091" name="Freeform 62"/>
            <p:cNvSpPr>
              <a:spLocks/>
            </p:cNvSpPr>
            <p:nvPr/>
          </p:nvSpPr>
          <p:spPr bwMode="auto">
            <a:xfrm>
              <a:off x="2468" y="2490"/>
              <a:ext cx="343" cy="194"/>
            </a:xfrm>
            <a:custGeom>
              <a:avLst/>
              <a:gdLst>
                <a:gd name="T0" fmla="*/ 0 w 687"/>
                <a:gd name="T1" fmla="*/ 0 h 386"/>
                <a:gd name="T2" fmla="*/ 0 w 687"/>
                <a:gd name="T3" fmla="*/ 1 h 386"/>
                <a:gd name="T4" fmla="*/ 2 w 687"/>
                <a:gd name="T5" fmla="*/ 2 h 386"/>
                <a:gd name="T6" fmla="*/ 2 w 687"/>
                <a:gd name="T7" fmla="*/ 2 h 386"/>
                <a:gd name="T8" fmla="*/ 0 w 687"/>
                <a:gd name="T9" fmla="*/ 0 h 386"/>
                <a:gd name="T10" fmla="*/ 0 60000 65536"/>
                <a:gd name="T11" fmla="*/ 0 60000 65536"/>
                <a:gd name="T12" fmla="*/ 0 60000 65536"/>
                <a:gd name="T13" fmla="*/ 0 60000 65536"/>
                <a:gd name="T14" fmla="*/ 0 60000 65536"/>
                <a:gd name="T15" fmla="*/ 0 w 687"/>
                <a:gd name="T16" fmla="*/ 0 h 386"/>
                <a:gd name="T17" fmla="*/ 687 w 687"/>
                <a:gd name="T18" fmla="*/ 386 h 386"/>
              </a:gdLst>
              <a:ahLst/>
              <a:cxnLst>
                <a:cxn ang="T10">
                  <a:pos x="T0" y="T1"/>
                </a:cxn>
                <a:cxn ang="T11">
                  <a:pos x="T2" y="T3"/>
                </a:cxn>
                <a:cxn ang="T12">
                  <a:pos x="T4" y="T5"/>
                </a:cxn>
                <a:cxn ang="T13">
                  <a:pos x="T6" y="T7"/>
                </a:cxn>
                <a:cxn ang="T14">
                  <a:pos x="T8" y="T9"/>
                </a:cxn>
              </a:cxnLst>
              <a:rect l="T15" t="T16" r="T17" b="T18"/>
              <a:pathLst>
                <a:path w="687" h="386">
                  <a:moveTo>
                    <a:pt x="24" y="0"/>
                  </a:moveTo>
                  <a:lnTo>
                    <a:pt x="0" y="58"/>
                  </a:lnTo>
                  <a:lnTo>
                    <a:pt x="664" y="386"/>
                  </a:lnTo>
                  <a:lnTo>
                    <a:pt x="687" y="327"/>
                  </a:lnTo>
                  <a:lnTo>
                    <a:pt x="24" y="0"/>
                  </a:lnTo>
                  <a:close/>
                </a:path>
              </a:pathLst>
            </a:custGeom>
            <a:solidFill>
              <a:srgbClr val="000000"/>
            </a:solidFill>
            <a:ln w="9525">
              <a:noFill/>
              <a:round/>
              <a:headEnd/>
              <a:tailEnd/>
            </a:ln>
          </p:spPr>
          <p:txBody>
            <a:bodyPr/>
            <a:lstStyle/>
            <a:p>
              <a:endParaRPr lang="en-US"/>
            </a:p>
          </p:txBody>
        </p:sp>
        <p:sp>
          <p:nvSpPr>
            <p:cNvPr id="18092" name="Freeform 63"/>
            <p:cNvSpPr>
              <a:spLocks/>
            </p:cNvSpPr>
            <p:nvPr/>
          </p:nvSpPr>
          <p:spPr bwMode="auto">
            <a:xfrm>
              <a:off x="2463" y="2566"/>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8093" name="Freeform 64"/>
            <p:cNvSpPr>
              <a:spLocks/>
            </p:cNvSpPr>
            <p:nvPr/>
          </p:nvSpPr>
          <p:spPr bwMode="auto">
            <a:xfrm>
              <a:off x="2442" y="2641"/>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8094" name="Freeform 65"/>
            <p:cNvSpPr>
              <a:spLocks/>
            </p:cNvSpPr>
            <p:nvPr/>
          </p:nvSpPr>
          <p:spPr bwMode="auto">
            <a:xfrm>
              <a:off x="2437" y="2718"/>
              <a:ext cx="350" cy="221"/>
            </a:xfrm>
            <a:custGeom>
              <a:avLst/>
              <a:gdLst>
                <a:gd name="T0" fmla="*/ 1 w 699"/>
                <a:gd name="T1" fmla="*/ 0 h 441"/>
                <a:gd name="T2" fmla="*/ 0 w 699"/>
                <a:gd name="T3" fmla="*/ 1 h 441"/>
                <a:gd name="T4" fmla="*/ 3 w 699"/>
                <a:gd name="T5" fmla="*/ 2 h 441"/>
                <a:gd name="T6" fmla="*/ 3 w 699"/>
                <a:gd name="T7" fmla="*/ 2 h 441"/>
                <a:gd name="T8" fmla="*/ 1 w 699"/>
                <a:gd name="T9" fmla="*/ 0 h 441"/>
                <a:gd name="T10" fmla="*/ 0 60000 65536"/>
                <a:gd name="T11" fmla="*/ 0 60000 65536"/>
                <a:gd name="T12" fmla="*/ 0 60000 65536"/>
                <a:gd name="T13" fmla="*/ 0 60000 65536"/>
                <a:gd name="T14" fmla="*/ 0 60000 65536"/>
                <a:gd name="T15" fmla="*/ 0 w 699"/>
                <a:gd name="T16" fmla="*/ 0 h 441"/>
                <a:gd name="T17" fmla="*/ 699 w 699"/>
                <a:gd name="T18" fmla="*/ 441 h 441"/>
              </a:gdLst>
              <a:ahLst/>
              <a:cxnLst>
                <a:cxn ang="T10">
                  <a:pos x="T0" y="T1"/>
                </a:cxn>
                <a:cxn ang="T11">
                  <a:pos x="T2" y="T3"/>
                </a:cxn>
                <a:cxn ang="T12">
                  <a:pos x="T4" y="T5"/>
                </a:cxn>
                <a:cxn ang="T13">
                  <a:pos x="T6" y="T7"/>
                </a:cxn>
                <a:cxn ang="T14">
                  <a:pos x="T8" y="T9"/>
                </a:cxn>
              </a:cxnLst>
              <a:rect l="T15" t="T16" r="T17" b="T18"/>
              <a:pathLst>
                <a:path w="699" h="441">
                  <a:moveTo>
                    <a:pt x="27" y="0"/>
                  </a:moveTo>
                  <a:lnTo>
                    <a:pt x="0" y="58"/>
                  </a:lnTo>
                  <a:lnTo>
                    <a:pt x="673" y="441"/>
                  </a:lnTo>
                  <a:lnTo>
                    <a:pt x="699" y="383"/>
                  </a:lnTo>
                  <a:lnTo>
                    <a:pt x="27" y="0"/>
                  </a:lnTo>
                  <a:close/>
                </a:path>
              </a:pathLst>
            </a:custGeom>
            <a:solidFill>
              <a:srgbClr val="000000"/>
            </a:solidFill>
            <a:ln w="9525">
              <a:noFill/>
              <a:round/>
              <a:headEnd/>
              <a:tailEnd/>
            </a:ln>
          </p:spPr>
          <p:txBody>
            <a:bodyPr/>
            <a:lstStyle/>
            <a:p>
              <a:endParaRPr lang="en-US"/>
            </a:p>
          </p:txBody>
        </p:sp>
        <p:sp>
          <p:nvSpPr>
            <p:cNvPr id="18095" name="Freeform 66"/>
            <p:cNvSpPr>
              <a:spLocks/>
            </p:cNvSpPr>
            <p:nvPr/>
          </p:nvSpPr>
          <p:spPr bwMode="auto">
            <a:xfrm>
              <a:off x="2934" y="770"/>
              <a:ext cx="1059" cy="264"/>
            </a:xfrm>
            <a:custGeom>
              <a:avLst/>
              <a:gdLst>
                <a:gd name="T0" fmla="*/ 0 w 2119"/>
                <a:gd name="T1" fmla="*/ 2 h 528"/>
                <a:gd name="T2" fmla="*/ 0 w 2119"/>
                <a:gd name="T3" fmla="*/ 2 h 528"/>
                <a:gd name="T4" fmla="*/ 8 w 2119"/>
                <a:gd name="T5" fmla="*/ 1 h 528"/>
                <a:gd name="T6" fmla="*/ 8 w 2119"/>
                <a:gd name="T7" fmla="*/ 0 h 528"/>
                <a:gd name="T8" fmla="*/ 0 w 2119"/>
                <a:gd name="T9" fmla="*/ 2 h 528"/>
                <a:gd name="T10" fmla="*/ 0 60000 65536"/>
                <a:gd name="T11" fmla="*/ 0 60000 65536"/>
                <a:gd name="T12" fmla="*/ 0 60000 65536"/>
                <a:gd name="T13" fmla="*/ 0 60000 65536"/>
                <a:gd name="T14" fmla="*/ 0 60000 65536"/>
                <a:gd name="T15" fmla="*/ 0 w 2119"/>
                <a:gd name="T16" fmla="*/ 0 h 528"/>
                <a:gd name="T17" fmla="*/ 2119 w 2119"/>
                <a:gd name="T18" fmla="*/ 528 h 528"/>
              </a:gdLst>
              <a:ahLst/>
              <a:cxnLst>
                <a:cxn ang="T10">
                  <a:pos x="T0" y="T1"/>
                </a:cxn>
                <a:cxn ang="T11">
                  <a:pos x="T2" y="T3"/>
                </a:cxn>
                <a:cxn ang="T12">
                  <a:pos x="T4" y="T5"/>
                </a:cxn>
                <a:cxn ang="T13">
                  <a:pos x="T6" y="T7"/>
                </a:cxn>
                <a:cxn ang="T14">
                  <a:pos x="T8" y="T9"/>
                </a:cxn>
              </a:cxnLst>
              <a:rect l="T15" t="T16" r="T17" b="T18"/>
              <a:pathLst>
                <a:path w="2119" h="528">
                  <a:moveTo>
                    <a:pt x="0" y="486"/>
                  </a:moveTo>
                  <a:lnTo>
                    <a:pt x="6" y="528"/>
                  </a:lnTo>
                  <a:lnTo>
                    <a:pt x="2119" y="42"/>
                  </a:lnTo>
                  <a:lnTo>
                    <a:pt x="2114" y="0"/>
                  </a:lnTo>
                  <a:lnTo>
                    <a:pt x="0" y="486"/>
                  </a:lnTo>
                  <a:close/>
                </a:path>
              </a:pathLst>
            </a:custGeom>
            <a:solidFill>
              <a:srgbClr val="DEFF73"/>
            </a:solidFill>
            <a:ln w="9525">
              <a:noFill/>
              <a:round/>
              <a:headEnd/>
              <a:tailEnd/>
            </a:ln>
          </p:spPr>
          <p:txBody>
            <a:bodyPr/>
            <a:lstStyle/>
            <a:p>
              <a:endParaRPr lang="en-US"/>
            </a:p>
          </p:txBody>
        </p:sp>
        <p:sp>
          <p:nvSpPr>
            <p:cNvPr id="18096" name="Freeform 67"/>
            <p:cNvSpPr>
              <a:spLocks/>
            </p:cNvSpPr>
            <p:nvPr/>
          </p:nvSpPr>
          <p:spPr bwMode="auto">
            <a:xfrm>
              <a:off x="2256" y="672"/>
              <a:ext cx="1872" cy="384"/>
            </a:xfrm>
            <a:custGeom>
              <a:avLst/>
              <a:gdLst>
                <a:gd name="T0" fmla="*/ 1872 w 1872"/>
                <a:gd name="T1" fmla="*/ 96 h 384"/>
                <a:gd name="T2" fmla="*/ 672 w 1872"/>
                <a:gd name="T3" fmla="*/ 384 h 384"/>
                <a:gd name="T4" fmla="*/ 0 w 1872"/>
                <a:gd name="T5" fmla="*/ 192 h 384"/>
                <a:gd name="T6" fmla="*/ 1392 w 1872"/>
                <a:gd name="T7" fmla="*/ 0 h 384"/>
                <a:gd name="T8" fmla="*/ 1872 w 1872"/>
                <a:gd name="T9" fmla="*/ 96 h 384"/>
                <a:gd name="T10" fmla="*/ 0 60000 65536"/>
                <a:gd name="T11" fmla="*/ 0 60000 65536"/>
                <a:gd name="T12" fmla="*/ 0 60000 65536"/>
                <a:gd name="T13" fmla="*/ 0 60000 65536"/>
                <a:gd name="T14" fmla="*/ 0 60000 65536"/>
                <a:gd name="T15" fmla="*/ 0 w 1872"/>
                <a:gd name="T16" fmla="*/ 0 h 384"/>
                <a:gd name="T17" fmla="*/ 1872 w 1872"/>
                <a:gd name="T18" fmla="*/ 384 h 384"/>
              </a:gdLst>
              <a:ahLst/>
              <a:cxnLst>
                <a:cxn ang="T10">
                  <a:pos x="T0" y="T1"/>
                </a:cxn>
                <a:cxn ang="T11">
                  <a:pos x="T2" y="T3"/>
                </a:cxn>
                <a:cxn ang="T12">
                  <a:pos x="T4" y="T5"/>
                </a:cxn>
                <a:cxn ang="T13">
                  <a:pos x="T6" y="T7"/>
                </a:cxn>
                <a:cxn ang="T14">
                  <a:pos x="T8" y="T9"/>
                </a:cxn>
              </a:cxnLst>
              <a:rect l="T15" t="T16" r="T17" b="T18"/>
              <a:pathLst>
                <a:path w="1872" h="384">
                  <a:moveTo>
                    <a:pt x="1872" y="96"/>
                  </a:moveTo>
                  <a:lnTo>
                    <a:pt x="672" y="384"/>
                  </a:lnTo>
                  <a:lnTo>
                    <a:pt x="0" y="192"/>
                  </a:lnTo>
                  <a:lnTo>
                    <a:pt x="1392" y="0"/>
                  </a:lnTo>
                  <a:lnTo>
                    <a:pt x="1872" y="96"/>
                  </a:lnTo>
                  <a:close/>
                </a:path>
              </a:pathLst>
            </a:custGeom>
            <a:gradFill rotWithShape="0">
              <a:gsLst>
                <a:gs pos="0">
                  <a:srgbClr val="BEE761"/>
                </a:gs>
                <a:gs pos="100000">
                  <a:srgbClr val="44D6FE"/>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417" name="Group 68"/>
          <p:cNvGrpSpPr>
            <a:grpSpLocks/>
          </p:cNvGrpSpPr>
          <p:nvPr/>
        </p:nvGrpSpPr>
        <p:grpSpPr bwMode="auto">
          <a:xfrm rot="-245528">
            <a:off x="6553200" y="1143000"/>
            <a:ext cx="606425" cy="479425"/>
            <a:chOff x="2469" y="453"/>
            <a:chExt cx="382" cy="302"/>
          </a:xfrm>
        </p:grpSpPr>
        <p:grpSp>
          <p:nvGrpSpPr>
            <p:cNvPr id="17950" name="Group 69"/>
            <p:cNvGrpSpPr>
              <a:grpSpLocks/>
            </p:cNvGrpSpPr>
            <p:nvPr/>
          </p:nvGrpSpPr>
          <p:grpSpPr bwMode="auto">
            <a:xfrm>
              <a:off x="2592" y="453"/>
              <a:ext cx="163" cy="144"/>
              <a:chOff x="1824" y="844"/>
              <a:chExt cx="2035" cy="1803"/>
            </a:xfrm>
          </p:grpSpPr>
          <p:sp>
            <p:nvSpPr>
              <p:cNvPr id="18041" name="Freeform 70"/>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042" name="Freeform 71"/>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043" name="Freeform 72"/>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8044" name="Freeform 73"/>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8045" name="Freeform 74"/>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8046" name="Freeform 75"/>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8047" name="Freeform 76"/>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8048" name="Freeform 77"/>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8049" name="Freeform 78"/>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8050" name="Freeform 79"/>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8051" name="Freeform 80"/>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8052" name="Freeform 81"/>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8053" name="Freeform 82"/>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8054" name="Freeform 83"/>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8055" name="Freeform 84"/>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8056" name="Freeform 85"/>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8057" name="Freeform 86"/>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8058" name="Freeform 87"/>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8059" name="Freeform 88"/>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060" name="Freeform 89"/>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061" name="Freeform 90"/>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8062" name="Freeform 91"/>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063" name="Freeform 92"/>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064" name="Freeform 93"/>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065" name="Freeform 94"/>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066" name="Freeform 95"/>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067" name="Freeform 96"/>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068" name="Freeform 97"/>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069" name="Freeform 98"/>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951" name="Group 99"/>
            <p:cNvGrpSpPr>
              <a:grpSpLocks/>
            </p:cNvGrpSpPr>
            <p:nvPr/>
          </p:nvGrpSpPr>
          <p:grpSpPr bwMode="auto">
            <a:xfrm>
              <a:off x="2688" y="549"/>
              <a:ext cx="163" cy="144"/>
              <a:chOff x="1824" y="844"/>
              <a:chExt cx="2035" cy="1803"/>
            </a:xfrm>
          </p:grpSpPr>
          <p:sp>
            <p:nvSpPr>
              <p:cNvPr id="18012" name="Freeform 100"/>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013" name="Freeform 101"/>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014" name="Freeform 102"/>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8015" name="Freeform 103"/>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8016" name="Freeform 104"/>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8017" name="Freeform 105"/>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8018" name="Freeform 106"/>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8019" name="Freeform 107"/>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8020" name="Freeform 108"/>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8021" name="Freeform 109"/>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8022" name="Freeform 110"/>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8023" name="Freeform 111"/>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8024" name="Freeform 112"/>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8025" name="Freeform 113"/>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8026" name="Freeform 114"/>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8027" name="Freeform 115"/>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8028" name="Freeform 116"/>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8029" name="Freeform 117"/>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8030" name="Freeform 118"/>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031" name="Freeform 119"/>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032" name="Freeform 120"/>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8033" name="Freeform 121"/>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034" name="Freeform 122"/>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035" name="Freeform 123"/>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036" name="Freeform 124"/>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037" name="Freeform 125"/>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038" name="Freeform 126"/>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039" name="Freeform 127"/>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040" name="Freeform 128"/>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952" name="Group 129"/>
            <p:cNvGrpSpPr>
              <a:grpSpLocks/>
            </p:cNvGrpSpPr>
            <p:nvPr/>
          </p:nvGrpSpPr>
          <p:grpSpPr bwMode="auto">
            <a:xfrm>
              <a:off x="2561" y="611"/>
              <a:ext cx="163" cy="144"/>
              <a:chOff x="1824" y="844"/>
              <a:chExt cx="2035" cy="1803"/>
            </a:xfrm>
          </p:grpSpPr>
          <p:sp>
            <p:nvSpPr>
              <p:cNvPr id="17983" name="Freeform 130"/>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984" name="Freeform 131"/>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985" name="Freeform 132"/>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7986" name="Freeform 133"/>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7987" name="Freeform 134"/>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7988" name="Freeform 135"/>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7989" name="Freeform 136"/>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7990" name="Freeform 137"/>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7991" name="Freeform 138"/>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7992" name="Freeform 139"/>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7993" name="Freeform 140"/>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7994" name="Freeform 141"/>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7995" name="Freeform 142"/>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7996" name="Freeform 143"/>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7997" name="Freeform 144"/>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7998" name="Freeform 145"/>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7999" name="Freeform 146"/>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8000" name="Freeform 147"/>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8001" name="Freeform 148"/>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002" name="Freeform 149"/>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003" name="Freeform 150"/>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8004" name="Freeform 151"/>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005" name="Freeform 152"/>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006" name="Freeform 153"/>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007" name="Freeform 154"/>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008" name="Freeform 155"/>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009" name="Freeform 156"/>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010" name="Freeform 157"/>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011" name="Freeform 158"/>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953" name="Group 159"/>
            <p:cNvGrpSpPr>
              <a:grpSpLocks/>
            </p:cNvGrpSpPr>
            <p:nvPr/>
          </p:nvGrpSpPr>
          <p:grpSpPr bwMode="auto">
            <a:xfrm>
              <a:off x="2469" y="536"/>
              <a:ext cx="163" cy="144"/>
              <a:chOff x="1824" y="844"/>
              <a:chExt cx="2035" cy="1803"/>
            </a:xfrm>
          </p:grpSpPr>
          <p:sp>
            <p:nvSpPr>
              <p:cNvPr id="17954" name="Freeform 160"/>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955" name="Freeform 161"/>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956" name="Freeform 162"/>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7957" name="Freeform 163"/>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7958" name="Freeform 164"/>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7959" name="Freeform 165"/>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7960" name="Freeform 166"/>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7961" name="Freeform 167"/>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7962" name="Freeform 168"/>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7963" name="Freeform 169"/>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7964" name="Freeform 170"/>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7965" name="Freeform 171"/>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7966" name="Freeform 172"/>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7967" name="Freeform 173"/>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7968" name="Freeform 174"/>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7969" name="Freeform 175"/>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7970" name="Freeform 176"/>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7971" name="Freeform 177"/>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7972" name="Freeform 178"/>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973" name="Freeform 179"/>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974" name="Freeform 180"/>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7975" name="Freeform 181"/>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976" name="Freeform 182"/>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977" name="Freeform 183"/>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978" name="Freeform 184"/>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979" name="Freeform 185"/>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980" name="Freeform 186"/>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981" name="Freeform 187"/>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982" name="Freeform 188"/>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sp>
        <p:nvSpPr>
          <p:cNvPr id="17418" name="Text Box 189"/>
          <p:cNvSpPr txBox="1">
            <a:spLocks noChangeArrowheads="1"/>
          </p:cNvSpPr>
          <p:nvPr/>
        </p:nvSpPr>
        <p:spPr bwMode="auto">
          <a:xfrm>
            <a:off x="7523163" y="1320800"/>
            <a:ext cx="1276350" cy="641350"/>
          </a:xfrm>
          <a:prstGeom prst="rect">
            <a:avLst/>
          </a:prstGeom>
          <a:noFill/>
          <a:ln w="9525">
            <a:noFill/>
            <a:miter lim="800000"/>
            <a:headEnd/>
            <a:tailEnd/>
          </a:ln>
        </p:spPr>
        <p:txBody>
          <a:bodyPr wrap="none">
            <a:spAutoFit/>
          </a:bodyPr>
          <a:lstStyle/>
          <a:p>
            <a:pPr algn="ctr"/>
            <a:r>
              <a:rPr lang="en-US" altLang="en-US" b="1">
                <a:solidFill>
                  <a:schemeClr val="bg1"/>
                </a:solidFill>
              </a:rPr>
              <a:t>Corporate</a:t>
            </a:r>
          </a:p>
          <a:p>
            <a:pPr algn="ctr"/>
            <a:r>
              <a:rPr lang="en-US" altLang="en-US" b="1">
                <a:solidFill>
                  <a:schemeClr val="bg1"/>
                </a:solidFill>
              </a:rPr>
              <a:t>Site</a:t>
            </a:r>
          </a:p>
        </p:txBody>
      </p:sp>
      <p:sp>
        <p:nvSpPr>
          <p:cNvPr id="309842" name="Rectangle 594"/>
          <p:cNvSpPr>
            <a:spLocks noChangeArrowheads="1"/>
          </p:cNvSpPr>
          <p:nvPr/>
        </p:nvSpPr>
        <p:spPr bwMode="auto">
          <a:xfrm rot="2404265">
            <a:off x="6064250" y="2290763"/>
            <a:ext cx="103188" cy="3127375"/>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18900000" scaled="1"/>
          </a:gradFill>
          <a:ln w="9525">
            <a:noFill/>
            <a:miter lim="800000"/>
            <a:headEnd/>
            <a:tailEnd/>
          </a:ln>
          <a:effectLst/>
        </p:spPr>
        <p:txBody>
          <a:bodyPr wrap="none" anchor="ctr"/>
          <a:lstStyle/>
          <a:p>
            <a:pPr>
              <a:defRPr/>
            </a:pPr>
            <a:endParaRPr lang="en-US"/>
          </a:p>
        </p:txBody>
      </p:sp>
      <p:sp>
        <p:nvSpPr>
          <p:cNvPr id="309843" name="Rectangle 595"/>
          <p:cNvSpPr>
            <a:spLocks noChangeArrowheads="1"/>
          </p:cNvSpPr>
          <p:nvPr/>
        </p:nvSpPr>
        <p:spPr bwMode="auto">
          <a:xfrm rot="262029">
            <a:off x="7086600" y="2514600"/>
            <a:ext cx="152400" cy="2590800"/>
          </a:xfrm>
          <a:prstGeom prst="rect">
            <a:avLst/>
          </a:prstGeom>
          <a:gradFill rotWithShape="0">
            <a:gsLst>
              <a:gs pos="0">
                <a:schemeClr val="accent1"/>
              </a:gs>
              <a:gs pos="100000">
                <a:schemeClr val="accent1">
                  <a:gamma/>
                  <a:shade val="46275"/>
                  <a:invGamma/>
                </a:schemeClr>
              </a:gs>
            </a:gsLst>
            <a:lin ang="5400000" scaled="1"/>
          </a:gradFill>
          <a:ln w="9525">
            <a:noFill/>
            <a:miter lim="800000"/>
            <a:headEnd/>
            <a:tailEnd/>
          </a:ln>
          <a:effectLst/>
        </p:spPr>
        <p:txBody>
          <a:bodyPr wrap="none" anchor="ctr"/>
          <a:lstStyle/>
          <a:p>
            <a:pPr>
              <a:defRPr/>
            </a:pPr>
            <a:endParaRPr lang="en-US"/>
          </a:p>
        </p:txBody>
      </p:sp>
      <p:grpSp>
        <p:nvGrpSpPr>
          <p:cNvPr id="17421" name="Group 193"/>
          <p:cNvGrpSpPr>
            <a:grpSpLocks/>
          </p:cNvGrpSpPr>
          <p:nvPr/>
        </p:nvGrpSpPr>
        <p:grpSpPr bwMode="auto">
          <a:xfrm flipV="1">
            <a:off x="3733800" y="5181600"/>
            <a:ext cx="1387475" cy="819150"/>
            <a:chOff x="3659" y="1323"/>
            <a:chExt cx="874" cy="516"/>
          </a:xfrm>
        </p:grpSpPr>
        <p:sp>
          <p:nvSpPr>
            <p:cNvPr id="17944" name="Line 194"/>
            <p:cNvSpPr>
              <a:spLocks noChangeShapeType="1"/>
            </p:cNvSpPr>
            <p:nvPr/>
          </p:nvSpPr>
          <p:spPr bwMode="auto">
            <a:xfrm rot="877658">
              <a:off x="4217" y="1670"/>
              <a:ext cx="229" cy="169"/>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7945" name="Line 195"/>
            <p:cNvSpPr>
              <a:spLocks noChangeShapeType="1"/>
            </p:cNvSpPr>
            <p:nvPr/>
          </p:nvSpPr>
          <p:spPr bwMode="auto">
            <a:xfrm rot="877658">
              <a:off x="4341" y="1400"/>
              <a:ext cx="192" cy="144"/>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7946" name="Line 196"/>
            <p:cNvSpPr>
              <a:spLocks noChangeShapeType="1"/>
            </p:cNvSpPr>
            <p:nvPr/>
          </p:nvSpPr>
          <p:spPr bwMode="auto">
            <a:xfrm rot="877658" flipV="1">
              <a:off x="4216" y="1323"/>
              <a:ext cx="240" cy="118"/>
            </a:xfrm>
            <a:prstGeom prst="line">
              <a:avLst/>
            </a:prstGeom>
            <a:noFill/>
            <a:ln w="28575">
              <a:solidFill>
                <a:schemeClr val="tx1"/>
              </a:solidFill>
              <a:round/>
              <a:headEnd/>
              <a:tailEnd/>
            </a:ln>
          </p:spPr>
          <p:txBody>
            <a:bodyPr wrap="none" anchor="ctr"/>
            <a:lstStyle/>
            <a:p>
              <a:endParaRPr lang="en-US"/>
            </a:p>
          </p:txBody>
        </p:sp>
        <p:sp>
          <p:nvSpPr>
            <p:cNvPr id="17947" name="Line 197"/>
            <p:cNvSpPr>
              <a:spLocks noChangeShapeType="1"/>
            </p:cNvSpPr>
            <p:nvPr/>
          </p:nvSpPr>
          <p:spPr bwMode="auto">
            <a:xfrm rot="1038176" flipV="1">
              <a:off x="3958" y="1487"/>
              <a:ext cx="518" cy="323"/>
            </a:xfrm>
            <a:prstGeom prst="line">
              <a:avLst/>
            </a:prstGeom>
            <a:noFill/>
            <a:ln w="28575">
              <a:solidFill>
                <a:schemeClr val="tx1"/>
              </a:solidFill>
              <a:round/>
              <a:headEnd/>
              <a:tailEnd/>
            </a:ln>
          </p:spPr>
          <p:txBody>
            <a:bodyPr wrap="none" anchor="ctr"/>
            <a:lstStyle/>
            <a:p>
              <a:endParaRPr lang="en-US"/>
            </a:p>
          </p:txBody>
        </p:sp>
        <p:sp>
          <p:nvSpPr>
            <p:cNvPr id="17948" name="Freeform 198"/>
            <p:cNvSpPr>
              <a:spLocks noChangeArrowheads="1"/>
            </p:cNvSpPr>
            <p:nvPr/>
          </p:nvSpPr>
          <p:spPr bwMode="auto">
            <a:xfrm rot="877658">
              <a:off x="3754" y="1551"/>
              <a:ext cx="201" cy="147"/>
            </a:xfrm>
            <a:custGeom>
              <a:avLst/>
              <a:gdLst>
                <a:gd name="T0" fmla="*/ 0 w 228"/>
                <a:gd name="T1" fmla="*/ 0 h 180"/>
                <a:gd name="T2" fmla="*/ 84 w 228"/>
                <a:gd name="T3" fmla="*/ 35 h 180"/>
                <a:gd name="T4" fmla="*/ 0 60000 65536"/>
                <a:gd name="T5" fmla="*/ 0 60000 65536"/>
                <a:gd name="T6" fmla="*/ 0 w 228"/>
                <a:gd name="T7" fmla="*/ 0 h 180"/>
                <a:gd name="T8" fmla="*/ 228 w 228"/>
                <a:gd name="T9" fmla="*/ 180 h 180"/>
              </a:gdLst>
              <a:ahLst/>
              <a:cxnLst>
                <a:cxn ang="T4">
                  <a:pos x="T0" y="T1"/>
                </a:cxn>
                <a:cxn ang="T5">
                  <a:pos x="T2" y="T3"/>
                </a:cxn>
              </a:cxnLst>
              <a:rect l="T6" t="T7" r="T8" b="T9"/>
              <a:pathLst>
                <a:path w="228" h="180">
                  <a:moveTo>
                    <a:pt x="0" y="0"/>
                  </a:moveTo>
                  <a:lnTo>
                    <a:pt x="228" y="180"/>
                  </a:lnTo>
                </a:path>
              </a:pathLst>
            </a:custGeom>
            <a:noFill/>
            <a:ln w="25400" cap="flat" cmpd="sng">
              <a:solidFill>
                <a:schemeClr val="tx1"/>
              </a:solidFill>
              <a:prstDash val="solid"/>
              <a:round/>
              <a:headEnd type="none" w="sm" len="sm"/>
              <a:tailEnd type="none" w="sm" len="sm"/>
            </a:ln>
          </p:spPr>
          <p:txBody>
            <a:bodyPr wrap="none" anchor="ctr"/>
            <a:lstStyle/>
            <a:p>
              <a:endParaRPr lang="en-US"/>
            </a:p>
          </p:txBody>
        </p:sp>
        <p:sp>
          <p:nvSpPr>
            <p:cNvPr id="17949" name="Line 199"/>
            <p:cNvSpPr>
              <a:spLocks noChangeShapeType="1"/>
            </p:cNvSpPr>
            <p:nvPr/>
          </p:nvSpPr>
          <p:spPr bwMode="auto">
            <a:xfrm rot="877658" flipV="1">
              <a:off x="3659" y="1476"/>
              <a:ext cx="241" cy="118"/>
            </a:xfrm>
            <a:prstGeom prst="line">
              <a:avLst/>
            </a:prstGeom>
            <a:noFill/>
            <a:ln w="28575">
              <a:solidFill>
                <a:schemeClr val="tx1"/>
              </a:solidFill>
              <a:round/>
              <a:headEnd/>
              <a:tailEnd/>
            </a:ln>
          </p:spPr>
          <p:txBody>
            <a:bodyPr wrap="none" anchor="ctr"/>
            <a:lstStyle/>
            <a:p>
              <a:endParaRPr lang="en-US"/>
            </a:p>
          </p:txBody>
        </p:sp>
      </p:grpSp>
      <p:sp>
        <p:nvSpPr>
          <p:cNvPr id="17422" name="Line 210"/>
          <p:cNvSpPr>
            <a:spLocks noChangeShapeType="1"/>
          </p:cNvSpPr>
          <p:nvPr/>
        </p:nvSpPr>
        <p:spPr bwMode="auto">
          <a:xfrm rot="2074961" flipH="1" flipV="1">
            <a:off x="6927850" y="5248275"/>
            <a:ext cx="257175" cy="35560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7423" name="Line 211"/>
          <p:cNvSpPr>
            <a:spLocks noChangeShapeType="1"/>
          </p:cNvSpPr>
          <p:nvPr/>
        </p:nvSpPr>
        <p:spPr bwMode="auto">
          <a:xfrm rot="2074961" flipH="1" flipV="1">
            <a:off x="6629400" y="5715000"/>
            <a:ext cx="179388" cy="26035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7424" name="Line 212"/>
          <p:cNvSpPr>
            <a:spLocks noChangeShapeType="1"/>
          </p:cNvSpPr>
          <p:nvPr/>
        </p:nvSpPr>
        <p:spPr bwMode="auto">
          <a:xfrm rot="2074961" flipH="1">
            <a:off x="6546850" y="5910263"/>
            <a:ext cx="311150" cy="200025"/>
          </a:xfrm>
          <a:prstGeom prst="line">
            <a:avLst/>
          </a:prstGeom>
          <a:noFill/>
          <a:ln w="28575">
            <a:solidFill>
              <a:schemeClr val="tx1"/>
            </a:solidFill>
            <a:round/>
            <a:headEnd/>
            <a:tailEnd/>
          </a:ln>
        </p:spPr>
        <p:txBody>
          <a:bodyPr wrap="none" anchor="ctr"/>
          <a:lstStyle/>
          <a:p>
            <a:endParaRPr lang="en-US"/>
          </a:p>
        </p:txBody>
      </p:sp>
      <p:sp>
        <p:nvSpPr>
          <p:cNvPr id="17425" name="Line 213"/>
          <p:cNvSpPr>
            <a:spLocks noChangeShapeType="1"/>
          </p:cNvSpPr>
          <p:nvPr/>
        </p:nvSpPr>
        <p:spPr bwMode="auto">
          <a:xfrm rot="2235479" flipH="1">
            <a:off x="6786563" y="5427663"/>
            <a:ext cx="711200" cy="523875"/>
          </a:xfrm>
          <a:prstGeom prst="line">
            <a:avLst/>
          </a:prstGeom>
          <a:noFill/>
          <a:ln w="28575">
            <a:solidFill>
              <a:schemeClr val="tx1"/>
            </a:solidFill>
            <a:round/>
            <a:headEnd/>
            <a:tailEnd/>
          </a:ln>
        </p:spPr>
        <p:txBody>
          <a:bodyPr wrap="none" anchor="ctr"/>
          <a:lstStyle/>
          <a:p>
            <a:endParaRPr lang="en-US"/>
          </a:p>
        </p:txBody>
      </p:sp>
      <p:sp>
        <p:nvSpPr>
          <p:cNvPr id="17426" name="Freeform 214"/>
          <p:cNvSpPr>
            <a:spLocks noChangeArrowheads="1"/>
          </p:cNvSpPr>
          <p:nvPr/>
        </p:nvSpPr>
        <p:spPr bwMode="auto">
          <a:xfrm rot="2074961" flipH="1" flipV="1">
            <a:off x="7466013" y="5735638"/>
            <a:ext cx="222250" cy="279400"/>
          </a:xfrm>
          <a:custGeom>
            <a:avLst/>
            <a:gdLst>
              <a:gd name="T0" fmla="*/ 0 w 228"/>
              <a:gd name="T1" fmla="*/ 0 h 180"/>
              <a:gd name="T2" fmla="*/ 2147483647 w 228"/>
              <a:gd name="T3" fmla="*/ 2147483647 h 180"/>
              <a:gd name="T4" fmla="*/ 0 60000 65536"/>
              <a:gd name="T5" fmla="*/ 0 60000 65536"/>
              <a:gd name="T6" fmla="*/ 0 w 228"/>
              <a:gd name="T7" fmla="*/ 0 h 180"/>
              <a:gd name="T8" fmla="*/ 228 w 228"/>
              <a:gd name="T9" fmla="*/ 180 h 180"/>
            </a:gdLst>
            <a:ahLst/>
            <a:cxnLst>
              <a:cxn ang="T4">
                <a:pos x="T0" y="T1"/>
              </a:cxn>
              <a:cxn ang="T5">
                <a:pos x="T2" y="T3"/>
              </a:cxn>
            </a:cxnLst>
            <a:rect l="T6" t="T7" r="T8" b="T9"/>
            <a:pathLst>
              <a:path w="228" h="180">
                <a:moveTo>
                  <a:pt x="0" y="0"/>
                </a:moveTo>
                <a:lnTo>
                  <a:pt x="228" y="180"/>
                </a:lnTo>
              </a:path>
            </a:pathLst>
          </a:custGeom>
          <a:noFill/>
          <a:ln w="25400" cap="flat" cmpd="sng">
            <a:solidFill>
              <a:schemeClr val="tx1"/>
            </a:solidFill>
            <a:prstDash val="solid"/>
            <a:round/>
            <a:headEnd type="none" w="sm" len="sm"/>
            <a:tailEnd type="none" w="sm" len="sm"/>
          </a:ln>
        </p:spPr>
        <p:txBody>
          <a:bodyPr wrap="none" anchor="ctr"/>
          <a:lstStyle/>
          <a:p>
            <a:endParaRPr lang="en-US"/>
          </a:p>
        </p:txBody>
      </p:sp>
      <p:sp>
        <p:nvSpPr>
          <p:cNvPr id="17427" name="Line 215"/>
          <p:cNvSpPr>
            <a:spLocks noChangeShapeType="1"/>
          </p:cNvSpPr>
          <p:nvPr/>
        </p:nvSpPr>
        <p:spPr bwMode="auto">
          <a:xfrm rot="2074961" flipH="1">
            <a:off x="7391400" y="5943600"/>
            <a:ext cx="341313" cy="206375"/>
          </a:xfrm>
          <a:prstGeom prst="line">
            <a:avLst/>
          </a:prstGeom>
          <a:noFill/>
          <a:ln w="28575">
            <a:solidFill>
              <a:schemeClr val="tx1"/>
            </a:solidFill>
            <a:round/>
            <a:headEnd/>
            <a:tailEnd/>
          </a:ln>
        </p:spPr>
        <p:txBody>
          <a:bodyPr wrap="none" anchor="ctr"/>
          <a:lstStyle/>
          <a:p>
            <a:endParaRPr lang="en-US"/>
          </a:p>
        </p:txBody>
      </p:sp>
      <p:sp>
        <p:nvSpPr>
          <p:cNvPr id="309481" name="Text Box 233"/>
          <p:cNvSpPr txBox="1">
            <a:spLocks noChangeArrowheads="1"/>
          </p:cNvSpPr>
          <p:nvPr/>
        </p:nvSpPr>
        <p:spPr bwMode="auto">
          <a:xfrm>
            <a:off x="6248400" y="3733800"/>
            <a:ext cx="1071563" cy="396875"/>
          </a:xfrm>
          <a:prstGeom prst="rect">
            <a:avLst/>
          </a:prstGeom>
          <a:noFill/>
          <a:ln w="9525">
            <a:noFill/>
            <a:miter lim="800000"/>
            <a:headEnd/>
            <a:tailEnd/>
          </a:ln>
          <a:effectLst/>
        </p:spPr>
        <p:txBody>
          <a:bodyPr wrap="none">
            <a:spAutoFit/>
          </a:bodyPr>
          <a:lstStyle/>
          <a:p>
            <a:pPr algn="ctr">
              <a:defRPr/>
            </a:pPr>
            <a:r>
              <a:rPr lang="en-US" sz="2000" b="1">
                <a:effectLst>
                  <a:outerShdw blurRad="38100" dist="38100" dir="2700000" algn="tl">
                    <a:srgbClr val="FFFFFF"/>
                  </a:outerShdw>
                </a:effectLst>
                <a:latin typeface="Times New Roman" pitchFamily="18" charset="0"/>
              </a:rPr>
              <a:t>Internet</a:t>
            </a:r>
          </a:p>
        </p:txBody>
      </p:sp>
      <p:grpSp>
        <p:nvGrpSpPr>
          <p:cNvPr id="17429" name="Group 234"/>
          <p:cNvGrpSpPr>
            <a:grpSpLocks/>
          </p:cNvGrpSpPr>
          <p:nvPr/>
        </p:nvGrpSpPr>
        <p:grpSpPr bwMode="auto">
          <a:xfrm rot="-245528">
            <a:off x="3352800" y="5715000"/>
            <a:ext cx="606425" cy="479425"/>
            <a:chOff x="2469" y="453"/>
            <a:chExt cx="382" cy="302"/>
          </a:xfrm>
        </p:grpSpPr>
        <p:grpSp>
          <p:nvGrpSpPr>
            <p:cNvPr id="17824" name="Group 235"/>
            <p:cNvGrpSpPr>
              <a:grpSpLocks/>
            </p:cNvGrpSpPr>
            <p:nvPr/>
          </p:nvGrpSpPr>
          <p:grpSpPr bwMode="auto">
            <a:xfrm>
              <a:off x="2592" y="453"/>
              <a:ext cx="163" cy="144"/>
              <a:chOff x="1824" y="844"/>
              <a:chExt cx="2035" cy="1803"/>
            </a:xfrm>
          </p:grpSpPr>
          <p:sp>
            <p:nvSpPr>
              <p:cNvPr id="17915" name="Freeform 236"/>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916" name="Freeform 237"/>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917" name="Freeform 238"/>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7918" name="Freeform 239"/>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7919" name="Freeform 240"/>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7920" name="Freeform 241"/>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7921" name="Freeform 242"/>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7922" name="Freeform 243"/>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7923" name="Freeform 244"/>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7924" name="Freeform 245"/>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7925" name="Freeform 246"/>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7926" name="Freeform 247"/>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7927" name="Freeform 248"/>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7928" name="Freeform 249"/>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7929" name="Freeform 250"/>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7930" name="Freeform 251"/>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7931" name="Freeform 252"/>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7932" name="Freeform 253"/>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7933" name="Freeform 254"/>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934" name="Freeform 255"/>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935" name="Freeform 256"/>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7936" name="Freeform 257"/>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937" name="Freeform 258"/>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938" name="Freeform 259"/>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939" name="Freeform 260"/>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940" name="Freeform 261"/>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941" name="Freeform 262"/>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942" name="Freeform 263"/>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943" name="Freeform 264"/>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825" name="Group 265"/>
            <p:cNvGrpSpPr>
              <a:grpSpLocks/>
            </p:cNvGrpSpPr>
            <p:nvPr/>
          </p:nvGrpSpPr>
          <p:grpSpPr bwMode="auto">
            <a:xfrm>
              <a:off x="2688" y="549"/>
              <a:ext cx="163" cy="144"/>
              <a:chOff x="1824" y="844"/>
              <a:chExt cx="2035" cy="1803"/>
            </a:xfrm>
          </p:grpSpPr>
          <p:sp>
            <p:nvSpPr>
              <p:cNvPr id="17886" name="Freeform 266"/>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887" name="Freeform 267"/>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888" name="Freeform 268"/>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7889" name="Freeform 269"/>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7890" name="Freeform 270"/>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7891" name="Freeform 271"/>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7892" name="Freeform 272"/>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7893" name="Freeform 273"/>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7894" name="Freeform 274"/>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7895" name="Freeform 275"/>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7896" name="Freeform 276"/>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7897" name="Freeform 277"/>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7898" name="Freeform 278"/>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7899" name="Freeform 279"/>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7900" name="Freeform 280"/>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7901" name="Freeform 281"/>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7902" name="Freeform 282"/>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7903" name="Freeform 283"/>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7904" name="Freeform 284"/>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905" name="Freeform 285"/>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906" name="Freeform 286"/>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7907" name="Freeform 287"/>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908" name="Freeform 288"/>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909" name="Freeform 289"/>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910" name="Freeform 290"/>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911" name="Freeform 291"/>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912" name="Freeform 292"/>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913" name="Freeform 293"/>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914" name="Freeform 294"/>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826" name="Group 295"/>
            <p:cNvGrpSpPr>
              <a:grpSpLocks/>
            </p:cNvGrpSpPr>
            <p:nvPr/>
          </p:nvGrpSpPr>
          <p:grpSpPr bwMode="auto">
            <a:xfrm>
              <a:off x="2561" y="611"/>
              <a:ext cx="163" cy="144"/>
              <a:chOff x="1824" y="844"/>
              <a:chExt cx="2035" cy="1803"/>
            </a:xfrm>
          </p:grpSpPr>
          <p:sp>
            <p:nvSpPr>
              <p:cNvPr id="17857" name="Freeform 296"/>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858" name="Freeform 297"/>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859" name="Freeform 298"/>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7860" name="Freeform 299"/>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7861" name="Freeform 300"/>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7862" name="Freeform 301"/>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7863" name="Freeform 302"/>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7864" name="Freeform 303"/>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7865" name="Freeform 304"/>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7866" name="Freeform 305"/>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7867" name="Freeform 306"/>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7868" name="Freeform 307"/>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7869" name="Freeform 308"/>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7870" name="Freeform 309"/>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7871" name="Freeform 310"/>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7872" name="Freeform 311"/>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7873" name="Freeform 312"/>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7874" name="Freeform 313"/>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7875" name="Freeform 314"/>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876" name="Freeform 315"/>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877" name="Freeform 316"/>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7878" name="Freeform 317"/>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879" name="Freeform 318"/>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880" name="Freeform 319"/>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881" name="Freeform 320"/>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882" name="Freeform 321"/>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883" name="Freeform 322"/>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884" name="Freeform 323"/>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885" name="Freeform 324"/>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827" name="Group 325"/>
            <p:cNvGrpSpPr>
              <a:grpSpLocks/>
            </p:cNvGrpSpPr>
            <p:nvPr/>
          </p:nvGrpSpPr>
          <p:grpSpPr bwMode="auto">
            <a:xfrm>
              <a:off x="2469" y="536"/>
              <a:ext cx="163" cy="144"/>
              <a:chOff x="1824" y="844"/>
              <a:chExt cx="2035" cy="1803"/>
            </a:xfrm>
          </p:grpSpPr>
          <p:sp>
            <p:nvSpPr>
              <p:cNvPr id="17828" name="Freeform 326"/>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829" name="Freeform 327"/>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830" name="Freeform 328"/>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7831" name="Freeform 329"/>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7832" name="Freeform 330"/>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7833" name="Freeform 331"/>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7834" name="Freeform 332"/>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7835" name="Freeform 333"/>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7836" name="Freeform 334"/>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7837" name="Freeform 335"/>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7838" name="Freeform 336"/>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7839" name="Freeform 337"/>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7840" name="Freeform 338"/>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7841" name="Freeform 339"/>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7842" name="Freeform 340"/>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7843" name="Freeform 341"/>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7844" name="Freeform 342"/>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7845" name="Freeform 343"/>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7846" name="Freeform 344"/>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847" name="Freeform 345"/>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848" name="Freeform 346"/>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7849" name="Freeform 347"/>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850" name="Freeform 348"/>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851" name="Freeform 349"/>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852" name="Freeform 350"/>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853" name="Freeform 351"/>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854" name="Freeform 352"/>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855" name="Freeform 353"/>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856" name="Freeform 354"/>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grpSp>
        <p:nvGrpSpPr>
          <p:cNvPr id="17430" name="Group 355"/>
          <p:cNvGrpSpPr>
            <a:grpSpLocks/>
          </p:cNvGrpSpPr>
          <p:nvPr/>
        </p:nvGrpSpPr>
        <p:grpSpPr bwMode="auto">
          <a:xfrm rot="-245528">
            <a:off x="7391400" y="6096000"/>
            <a:ext cx="606425" cy="479425"/>
            <a:chOff x="2469" y="453"/>
            <a:chExt cx="382" cy="302"/>
          </a:xfrm>
        </p:grpSpPr>
        <p:grpSp>
          <p:nvGrpSpPr>
            <p:cNvPr id="17704" name="Group 356"/>
            <p:cNvGrpSpPr>
              <a:grpSpLocks/>
            </p:cNvGrpSpPr>
            <p:nvPr/>
          </p:nvGrpSpPr>
          <p:grpSpPr bwMode="auto">
            <a:xfrm>
              <a:off x="2592" y="453"/>
              <a:ext cx="163" cy="144"/>
              <a:chOff x="1824" y="844"/>
              <a:chExt cx="2035" cy="1803"/>
            </a:xfrm>
          </p:grpSpPr>
          <p:sp>
            <p:nvSpPr>
              <p:cNvPr id="17795" name="Freeform 357"/>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96" name="Freeform 358"/>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797" name="Freeform 359"/>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7798" name="Freeform 360"/>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7799" name="Freeform 361"/>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7800" name="Freeform 362"/>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7801" name="Freeform 363"/>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7802" name="Freeform 364"/>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7803" name="Freeform 365"/>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7804" name="Freeform 366"/>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7805" name="Freeform 367"/>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7806" name="Freeform 368"/>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7807" name="Freeform 369"/>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7808" name="Freeform 370"/>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7809" name="Freeform 371"/>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7810" name="Freeform 372"/>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7811" name="Freeform 373"/>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7812" name="Freeform 374"/>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7813" name="Freeform 375"/>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814" name="Freeform 376"/>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815" name="Freeform 377"/>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7816" name="Freeform 378"/>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817" name="Freeform 379"/>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818" name="Freeform 380"/>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819" name="Freeform 381"/>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820" name="Freeform 382"/>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821" name="Freeform 383"/>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822" name="Freeform 384"/>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823" name="Freeform 385"/>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705" name="Group 386"/>
            <p:cNvGrpSpPr>
              <a:grpSpLocks/>
            </p:cNvGrpSpPr>
            <p:nvPr/>
          </p:nvGrpSpPr>
          <p:grpSpPr bwMode="auto">
            <a:xfrm>
              <a:off x="2688" y="549"/>
              <a:ext cx="163" cy="144"/>
              <a:chOff x="1824" y="844"/>
              <a:chExt cx="2035" cy="1803"/>
            </a:xfrm>
          </p:grpSpPr>
          <p:sp>
            <p:nvSpPr>
              <p:cNvPr id="17766" name="Freeform 387"/>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67" name="Freeform 388"/>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768" name="Freeform 389"/>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7769" name="Freeform 390"/>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7770" name="Freeform 391"/>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7771" name="Freeform 392"/>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7772" name="Freeform 393"/>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7773" name="Freeform 394"/>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7774" name="Freeform 395"/>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7775" name="Freeform 396"/>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7776" name="Freeform 397"/>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7777" name="Freeform 398"/>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7778" name="Freeform 399"/>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7779" name="Freeform 400"/>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7780" name="Freeform 401"/>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7781" name="Freeform 402"/>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7782" name="Freeform 403"/>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7783" name="Freeform 404"/>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7784" name="Freeform 405"/>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785" name="Freeform 406"/>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786" name="Freeform 407"/>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7787" name="Freeform 408"/>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88" name="Freeform 409"/>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89" name="Freeform 410"/>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90" name="Freeform 411"/>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791" name="Freeform 412"/>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792" name="Freeform 413"/>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793" name="Freeform 414"/>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794" name="Freeform 415"/>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706" name="Group 416"/>
            <p:cNvGrpSpPr>
              <a:grpSpLocks/>
            </p:cNvGrpSpPr>
            <p:nvPr/>
          </p:nvGrpSpPr>
          <p:grpSpPr bwMode="auto">
            <a:xfrm>
              <a:off x="2561" y="611"/>
              <a:ext cx="163" cy="144"/>
              <a:chOff x="1824" y="844"/>
              <a:chExt cx="2035" cy="1803"/>
            </a:xfrm>
          </p:grpSpPr>
          <p:sp>
            <p:nvSpPr>
              <p:cNvPr id="17737" name="Freeform 417"/>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38" name="Freeform 418"/>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739" name="Freeform 419"/>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7740" name="Freeform 420"/>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7741" name="Freeform 421"/>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7742" name="Freeform 422"/>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7743" name="Freeform 423"/>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7744" name="Freeform 424"/>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7745" name="Freeform 425"/>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7746" name="Freeform 426"/>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7747" name="Freeform 427"/>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7748" name="Freeform 428"/>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7749" name="Freeform 429"/>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7750" name="Freeform 430"/>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7751" name="Freeform 431"/>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7752" name="Freeform 432"/>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7753" name="Freeform 433"/>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7754" name="Freeform 434"/>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7755" name="Freeform 435"/>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756" name="Freeform 436"/>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757" name="Freeform 437"/>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7758" name="Freeform 438"/>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59" name="Freeform 439"/>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60" name="Freeform 440"/>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61" name="Freeform 441"/>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762" name="Freeform 442"/>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763" name="Freeform 443"/>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764" name="Freeform 444"/>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765" name="Freeform 445"/>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707" name="Group 446"/>
            <p:cNvGrpSpPr>
              <a:grpSpLocks/>
            </p:cNvGrpSpPr>
            <p:nvPr/>
          </p:nvGrpSpPr>
          <p:grpSpPr bwMode="auto">
            <a:xfrm>
              <a:off x="2469" y="536"/>
              <a:ext cx="163" cy="144"/>
              <a:chOff x="1824" y="844"/>
              <a:chExt cx="2035" cy="1803"/>
            </a:xfrm>
          </p:grpSpPr>
          <p:sp>
            <p:nvSpPr>
              <p:cNvPr id="17708" name="Freeform 447"/>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09" name="Freeform 448"/>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710" name="Freeform 449"/>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7711" name="Freeform 450"/>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7712" name="Freeform 451"/>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7713" name="Freeform 452"/>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7714" name="Freeform 453"/>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7715" name="Freeform 454"/>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7716" name="Freeform 455"/>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7717" name="Freeform 456"/>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7718" name="Freeform 457"/>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7719" name="Freeform 458"/>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7720" name="Freeform 459"/>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7721" name="Freeform 460"/>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7722" name="Freeform 461"/>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7723" name="Freeform 462"/>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7724" name="Freeform 463"/>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7725" name="Freeform 464"/>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7726" name="Freeform 465"/>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727" name="Freeform 466"/>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728" name="Freeform 467"/>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7729" name="Freeform 468"/>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30" name="Freeform 469"/>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31" name="Freeform 470"/>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7732" name="Freeform 471"/>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7733" name="Freeform 472"/>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7734" name="Freeform 473"/>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735" name="Freeform 474"/>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7736" name="Freeform 475"/>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grpSp>
        <p:nvGrpSpPr>
          <p:cNvPr id="17431" name="Group 476"/>
          <p:cNvGrpSpPr>
            <a:grpSpLocks/>
          </p:cNvGrpSpPr>
          <p:nvPr/>
        </p:nvGrpSpPr>
        <p:grpSpPr bwMode="auto">
          <a:xfrm rot="-245528">
            <a:off x="6781800" y="6019800"/>
            <a:ext cx="238125" cy="309563"/>
            <a:chOff x="2202" y="666"/>
            <a:chExt cx="2001" cy="2601"/>
          </a:xfrm>
        </p:grpSpPr>
        <p:sp>
          <p:nvSpPr>
            <p:cNvPr id="17677" name="Freeform 477"/>
            <p:cNvSpPr>
              <a:spLocks/>
            </p:cNvSpPr>
            <p:nvPr/>
          </p:nvSpPr>
          <p:spPr bwMode="auto">
            <a:xfrm>
              <a:off x="2236" y="871"/>
              <a:ext cx="692" cy="2345"/>
            </a:xfrm>
            <a:custGeom>
              <a:avLst/>
              <a:gdLst>
                <a:gd name="T0" fmla="*/ 692 w 692"/>
                <a:gd name="T1" fmla="*/ 2345 h 2345"/>
                <a:gd name="T2" fmla="*/ 116 w 692"/>
                <a:gd name="T3" fmla="*/ 2009 h 2345"/>
                <a:gd name="T4" fmla="*/ 116 w 692"/>
                <a:gd name="T5" fmla="*/ 1385 h 2345"/>
                <a:gd name="T6" fmla="*/ 164 w 692"/>
                <a:gd name="T7" fmla="*/ 1193 h 2345"/>
                <a:gd name="T8" fmla="*/ 0 w 692"/>
                <a:gd name="T9" fmla="*/ 0 h 2345"/>
                <a:gd name="T10" fmla="*/ 673 w 692"/>
                <a:gd name="T11" fmla="*/ 222 h 2345"/>
                <a:gd name="T12" fmla="*/ 692 w 692"/>
                <a:gd name="T13" fmla="*/ 2345 h 2345"/>
                <a:gd name="T14" fmla="*/ 0 60000 65536"/>
                <a:gd name="T15" fmla="*/ 0 60000 65536"/>
                <a:gd name="T16" fmla="*/ 0 60000 65536"/>
                <a:gd name="T17" fmla="*/ 0 60000 65536"/>
                <a:gd name="T18" fmla="*/ 0 60000 65536"/>
                <a:gd name="T19" fmla="*/ 0 60000 65536"/>
                <a:gd name="T20" fmla="*/ 0 60000 65536"/>
                <a:gd name="T21" fmla="*/ 0 w 692"/>
                <a:gd name="T22" fmla="*/ 0 h 2345"/>
                <a:gd name="T23" fmla="*/ 692 w 692"/>
                <a:gd name="T24" fmla="*/ 2345 h 23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2" h="2345">
                  <a:moveTo>
                    <a:pt x="692" y="2345"/>
                  </a:moveTo>
                  <a:lnTo>
                    <a:pt x="116" y="2009"/>
                  </a:lnTo>
                  <a:lnTo>
                    <a:pt x="116" y="1385"/>
                  </a:lnTo>
                  <a:lnTo>
                    <a:pt x="164" y="1193"/>
                  </a:lnTo>
                  <a:lnTo>
                    <a:pt x="0" y="0"/>
                  </a:lnTo>
                  <a:lnTo>
                    <a:pt x="673" y="222"/>
                  </a:lnTo>
                  <a:lnTo>
                    <a:pt x="692" y="2345"/>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7678" name="Freeform 478"/>
            <p:cNvSpPr>
              <a:spLocks/>
            </p:cNvSpPr>
            <p:nvPr/>
          </p:nvSpPr>
          <p:spPr bwMode="auto">
            <a:xfrm>
              <a:off x="2928" y="768"/>
              <a:ext cx="1248" cy="2448"/>
            </a:xfrm>
            <a:custGeom>
              <a:avLst/>
              <a:gdLst>
                <a:gd name="T0" fmla="*/ 0 w 1248"/>
                <a:gd name="T1" fmla="*/ 336 h 2448"/>
                <a:gd name="T2" fmla="*/ 0 w 1248"/>
                <a:gd name="T3" fmla="*/ 2448 h 2448"/>
                <a:gd name="T4" fmla="*/ 1200 w 1248"/>
                <a:gd name="T5" fmla="*/ 1968 h 2448"/>
                <a:gd name="T6" fmla="*/ 1008 w 1248"/>
                <a:gd name="T7" fmla="*/ 1008 h 2448"/>
                <a:gd name="T8" fmla="*/ 1248 w 1248"/>
                <a:gd name="T9" fmla="*/ 0 h 2448"/>
                <a:gd name="T10" fmla="*/ 0 w 1248"/>
                <a:gd name="T11" fmla="*/ 336 h 2448"/>
                <a:gd name="T12" fmla="*/ 0 60000 65536"/>
                <a:gd name="T13" fmla="*/ 0 60000 65536"/>
                <a:gd name="T14" fmla="*/ 0 60000 65536"/>
                <a:gd name="T15" fmla="*/ 0 60000 65536"/>
                <a:gd name="T16" fmla="*/ 0 60000 65536"/>
                <a:gd name="T17" fmla="*/ 0 60000 65536"/>
                <a:gd name="T18" fmla="*/ 0 w 1248"/>
                <a:gd name="T19" fmla="*/ 0 h 2448"/>
                <a:gd name="T20" fmla="*/ 1248 w 1248"/>
                <a:gd name="T21" fmla="*/ 2448 h 2448"/>
              </a:gdLst>
              <a:ahLst/>
              <a:cxnLst>
                <a:cxn ang="T12">
                  <a:pos x="T0" y="T1"/>
                </a:cxn>
                <a:cxn ang="T13">
                  <a:pos x="T2" y="T3"/>
                </a:cxn>
                <a:cxn ang="T14">
                  <a:pos x="T4" y="T5"/>
                </a:cxn>
                <a:cxn ang="T15">
                  <a:pos x="T6" y="T7"/>
                </a:cxn>
                <a:cxn ang="T16">
                  <a:pos x="T8" y="T9"/>
                </a:cxn>
                <a:cxn ang="T17">
                  <a:pos x="T10" y="T11"/>
                </a:cxn>
              </a:cxnLst>
              <a:rect l="T18" t="T19" r="T20" b="T21"/>
              <a:pathLst>
                <a:path w="1248" h="2448">
                  <a:moveTo>
                    <a:pt x="0" y="336"/>
                  </a:moveTo>
                  <a:lnTo>
                    <a:pt x="0" y="2448"/>
                  </a:lnTo>
                  <a:lnTo>
                    <a:pt x="1200" y="1968"/>
                  </a:lnTo>
                  <a:lnTo>
                    <a:pt x="1008" y="1008"/>
                  </a:lnTo>
                  <a:lnTo>
                    <a:pt x="1248" y="0"/>
                  </a:lnTo>
                  <a:lnTo>
                    <a:pt x="0" y="336"/>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7679" name="Freeform 479"/>
            <p:cNvSpPr>
              <a:spLocks/>
            </p:cNvSpPr>
            <p:nvPr/>
          </p:nvSpPr>
          <p:spPr bwMode="auto">
            <a:xfrm>
              <a:off x="2326" y="2051"/>
              <a:ext cx="603" cy="1216"/>
            </a:xfrm>
            <a:custGeom>
              <a:avLst/>
              <a:gdLst>
                <a:gd name="T0" fmla="*/ 1 w 1204"/>
                <a:gd name="T1" fmla="*/ 1 h 2432"/>
                <a:gd name="T2" fmla="*/ 1 w 1204"/>
                <a:gd name="T3" fmla="*/ 0 h 2432"/>
                <a:gd name="T4" fmla="*/ 0 w 1204"/>
                <a:gd name="T5" fmla="*/ 7 h 2432"/>
                <a:gd name="T6" fmla="*/ 5 w 1204"/>
                <a:gd name="T7" fmla="*/ 10 h 2432"/>
                <a:gd name="T8" fmla="*/ 5 w 1204"/>
                <a:gd name="T9" fmla="*/ 9 h 2432"/>
                <a:gd name="T10" fmla="*/ 5 w 1204"/>
                <a:gd name="T11" fmla="*/ 9 h 2432"/>
                <a:gd name="T12" fmla="*/ 5 w 1204"/>
                <a:gd name="T13" fmla="*/ 10 h 2432"/>
                <a:gd name="T14" fmla="*/ 1 w 1204"/>
                <a:gd name="T15" fmla="*/ 6 h 2432"/>
                <a:gd name="T16" fmla="*/ 1 w 1204"/>
                <a:gd name="T17" fmla="*/ 1 h 2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04"/>
                <a:gd name="T28" fmla="*/ 0 h 2432"/>
                <a:gd name="T29" fmla="*/ 1204 w 1204"/>
                <a:gd name="T30" fmla="*/ 2432 h 24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04" h="2432">
                  <a:moveTo>
                    <a:pt x="162" y="3"/>
                  </a:moveTo>
                  <a:lnTo>
                    <a:pt x="104" y="0"/>
                  </a:lnTo>
                  <a:lnTo>
                    <a:pt x="0" y="1669"/>
                  </a:lnTo>
                  <a:lnTo>
                    <a:pt x="1193" y="2432"/>
                  </a:lnTo>
                  <a:lnTo>
                    <a:pt x="1204" y="2292"/>
                  </a:lnTo>
                  <a:lnTo>
                    <a:pt x="1146" y="2286"/>
                  </a:lnTo>
                  <a:lnTo>
                    <a:pt x="1143" y="2328"/>
                  </a:lnTo>
                  <a:lnTo>
                    <a:pt x="58" y="1633"/>
                  </a:lnTo>
                  <a:lnTo>
                    <a:pt x="162" y="3"/>
                  </a:lnTo>
                  <a:close/>
                </a:path>
              </a:pathLst>
            </a:custGeom>
            <a:solidFill>
              <a:srgbClr val="000000"/>
            </a:solidFill>
            <a:ln w="9525">
              <a:noFill/>
              <a:round/>
              <a:headEnd/>
              <a:tailEnd/>
            </a:ln>
          </p:spPr>
          <p:txBody>
            <a:bodyPr/>
            <a:lstStyle/>
            <a:p>
              <a:endParaRPr lang="en-US"/>
            </a:p>
          </p:txBody>
        </p:sp>
        <p:sp>
          <p:nvSpPr>
            <p:cNvPr id="17680" name="Freeform 480"/>
            <p:cNvSpPr>
              <a:spLocks/>
            </p:cNvSpPr>
            <p:nvPr/>
          </p:nvSpPr>
          <p:spPr bwMode="auto">
            <a:xfrm>
              <a:off x="2202" y="858"/>
              <a:ext cx="206" cy="1196"/>
            </a:xfrm>
            <a:custGeom>
              <a:avLst/>
              <a:gdLst>
                <a:gd name="T0" fmla="*/ 0 w 410"/>
                <a:gd name="T1" fmla="*/ 0 h 2391"/>
                <a:gd name="T2" fmla="*/ 2 w 410"/>
                <a:gd name="T3" fmla="*/ 10 h 2391"/>
                <a:gd name="T4" fmla="*/ 2 w 410"/>
                <a:gd name="T5" fmla="*/ 10 h 2391"/>
                <a:gd name="T6" fmla="*/ 2 w 410"/>
                <a:gd name="T7" fmla="*/ 10 h 2391"/>
                <a:gd name="T8" fmla="*/ 1 w 410"/>
                <a:gd name="T9" fmla="*/ 1 h 2391"/>
                <a:gd name="T10" fmla="*/ 0 w 410"/>
                <a:gd name="T11" fmla="*/ 0 h 2391"/>
                <a:gd name="T12" fmla="*/ 0 60000 65536"/>
                <a:gd name="T13" fmla="*/ 0 60000 65536"/>
                <a:gd name="T14" fmla="*/ 0 60000 65536"/>
                <a:gd name="T15" fmla="*/ 0 60000 65536"/>
                <a:gd name="T16" fmla="*/ 0 60000 65536"/>
                <a:gd name="T17" fmla="*/ 0 60000 65536"/>
                <a:gd name="T18" fmla="*/ 0 w 410"/>
                <a:gd name="T19" fmla="*/ 0 h 2391"/>
                <a:gd name="T20" fmla="*/ 410 w 410"/>
                <a:gd name="T21" fmla="*/ 2391 h 2391"/>
              </a:gdLst>
              <a:ahLst/>
              <a:cxnLst>
                <a:cxn ang="T12">
                  <a:pos x="T0" y="T1"/>
                </a:cxn>
                <a:cxn ang="T13">
                  <a:pos x="T2" y="T3"/>
                </a:cxn>
                <a:cxn ang="T14">
                  <a:pos x="T4" y="T5"/>
                </a:cxn>
                <a:cxn ang="T15">
                  <a:pos x="T6" y="T7"/>
                </a:cxn>
                <a:cxn ang="T16">
                  <a:pos x="T8" y="T9"/>
                </a:cxn>
                <a:cxn ang="T17">
                  <a:pos x="T10" y="T11"/>
                </a:cxn>
              </a:cxnLst>
              <a:rect l="T18" t="T19" r="T20" b="T21"/>
              <a:pathLst>
                <a:path w="410" h="2391">
                  <a:moveTo>
                    <a:pt x="0" y="0"/>
                  </a:moveTo>
                  <a:lnTo>
                    <a:pt x="352" y="2391"/>
                  </a:lnTo>
                  <a:lnTo>
                    <a:pt x="410" y="2389"/>
                  </a:lnTo>
                  <a:lnTo>
                    <a:pt x="410" y="2385"/>
                  </a:lnTo>
                  <a:lnTo>
                    <a:pt x="69" y="81"/>
                  </a:lnTo>
                  <a:lnTo>
                    <a:pt x="0" y="0"/>
                  </a:lnTo>
                  <a:close/>
                </a:path>
              </a:pathLst>
            </a:custGeom>
            <a:solidFill>
              <a:srgbClr val="000000"/>
            </a:solidFill>
            <a:ln w="9525">
              <a:noFill/>
              <a:round/>
              <a:headEnd/>
              <a:tailEnd/>
            </a:ln>
          </p:spPr>
          <p:txBody>
            <a:bodyPr/>
            <a:lstStyle/>
            <a:p>
              <a:endParaRPr lang="en-US"/>
            </a:p>
          </p:txBody>
        </p:sp>
        <p:sp>
          <p:nvSpPr>
            <p:cNvPr id="17681" name="Freeform 481"/>
            <p:cNvSpPr>
              <a:spLocks/>
            </p:cNvSpPr>
            <p:nvPr/>
          </p:nvSpPr>
          <p:spPr bwMode="auto">
            <a:xfrm>
              <a:off x="2916" y="751"/>
              <a:ext cx="1287" cy="2503"/>
            </a:xfrm>
            <a:custGeom>
              <a:avLst/>
              <a:gdLst>
                <a:gd name="T0" fmla="*/ 1 w 2574"/>
                <a:gd name="T1" fmla="*/ 20 h 5006"/>
                <a:gd name="T2" fmla="*/ 1 w 2574"/>
                <a:gd name="T3" fmla="*/ 20 h 5006"/>
                <a:gd name="T4" fmla="*/ 10 w 2574"/>
                <a:gd name="T5" fmla="*/ 16 h 5006"/>
                <a:gd name="T6" fmla="*/ 9 w 2574"/>
                <a:gd name="T7" fmla="*/ 9 h 5006"/>
                <a:gd name="T8" fmla="*/ 10 w 2574"/>
                <a:gd name="T9" fmla="*/ 0 h 5006"/>
                <a:gd name="T10" fmla="*/ 0 w 2574"/>
                <a:gd name="T11" fmla="*/ 3 h 5006"/>
                <a:gd name="T12" fmla="*/ 1 w 2574"/>
                <a:gd name="T13" fmla="*/ 3 h 5006"/>
                <a:gd name="T14" fmla="*/ 10 w 2574"/>
                <a:gd name="T15" fmla="*/ 1 h 5006"/>
                <a:gd name="T16" fmla="*/ 8 w 2574"/>
                <a:gd name="T17" fmla="*/ 9 h 5006"/>
                <a:gd name="T18" fmla="*/ 10 w 2574"/>
                <a:gd name="T19" fmla="*/ 16 h 5006"/>
                <a:gd name="T20" fmla="*/ 1 w 2574"/>
                <a:gd name="T21" fmla="*/ 20 h 50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74"/>
                <a:gd name="T34" fmla="*/ 0 h 5006"/>
                <a:gd name="T35" fmla="*/ 2574 w 2574"/>
                <a:gd name="T36" fmla="*/ 5006 h 50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74" h="5006">
                  <a:moveTo>
                    <a:pt x="18" y="4944"/>
                  </a:moveTo>
                  <a:lnTo>
                    <a:pt x="36" y="5006"/>
                  </a:lnTo>
                  <a:lnTo>
                    <a:pt x="2394" y="4015"/>
                  </a:lnTo>
                  <a:lnTo>
                    <a:pt x="2098" y="2069"/>
                  </a:lnTo>
                  <a:lnTo>
                    <a:pt x="2574" y="0"/>
                  </a:lnTo>
                  <a:lnTo>
                    <a:pt x="0" y="620"/>
                  </a:lnTo>
                  <a:lnTo>
                    <a:pt x="56" y="675"/>
                  </a:lnTo>
                  <a:lnTo>
                    <a:pt x="2498" y="85"/>
                  </a:lnTo>
                  <a:lnTo>
                    <a:pt x="2040" y="2075"/>
                  </a:lnTo>
                  <a:lnTo>
                    <a:pt x="2330" y="3973"/>
                  </a:lnTo>
                  <a:lnTo>
                    <a:pt x="18" y="4944"/>
                  </a:lnTo>
                  <a:close/>
                </a:path>
              </a:pathLst>
            </a:custGeom>
            <a:solidFill>
              <a:srgbClr val="000000"/>
            </a:solidFill>
            <a:ln w="9525">
              <a:noFill/>
              <a:round/>
              <a:headEnd/>
              <a:tailEnd/>
            </a:ln>
          </p:spPr>
          <p:txBody>
            <a:bodyPr/>
            <a:lstStyle/>
            <a:p>
              <a:endParaRPr lang="en-US"/>
            </a:p>
          </p:txBody>
        </p:sp>
        <p:sp>
          <p:nvSpPr>
            <p:cNvPr id="17682" name="Freeform 482"/>
            <p:cNvSpPr>
              <a:spLocks/>
            </p:cNvSpPr>
            <p:nvPr/>
          </p:nvSpPr>
          <p:spPr bwMode="auto">
            <a:xfrm>
              <a:off x="2916" y="1061"/>
              <a:ext cx="29" cy="2200"/>
            </a:xfrm>
            <a:custGeom>
              <a:avLst/>
              <a:gdLst>
                <a:gd name="T0" fmla="*/ 1 w 58"/>
                <a:gd name="T1" fmla="*/ 0 h 4401"/>
                <a:gd name="T2" fmla="*/ 0 w 58"/>
                <a:gd name="T3" fmla="*/ 17 h 4401"/>
                <a:gd name="T4" fmla="*/ 1 w 58"/>
                <a:gd name="T5" fmla="*/ 17 h 4401"/>
                <a:gd name="T6" fmla="*/ 1 w 58"/>
                <a:gd name="T7" fmla="*/ 16 h 4401"/>
                <a:gd name="T8" fmla="*/ 1 w 58"/>
                <a:gd name="T9" fmla="*/ 0 h 4401"/>
                <a:gd name="T10" fmla="*/ 1 w 58"/>
                <a:gd name="T11" fmla="*/ 0 h 4401"/>
                <a:gd name="T12" fmla="*/ 0 60000 65536"/>
                <a:gd name="T13" fmla="*/ 0 60000 65536"/>
                <a:gd name="T14" fmla="*/ 0 60000 65536"/>
                <a:gd name="T15" fmla="*/ 0 60000 65536"/>
                <a:gd name="T16" fmla="*/ 0 60000 65536"/>
                <a:gd name="T17" fmla="*/ 0 60000 65536"/>
                <a:gd name="T18" fmla="*/ 0 w 58"/>
                <a:gd name="T19" fmla="*/ 0 h 4401"/>
                <a:gd name="T20" fmla="*/ 58 w 58"/>
                <a:gd name="T21" fmla="*/ 4401 h 4401"/>
              </a:gdLst>
              <a:ahLst/>
              <a:cxnLst>
                <a:cxn ang="T12">
                  <a:pos x="T0" y="T1"/>
                </a:cxn>
                <a:cxn ang="T13">
                  <a:pos x="T2" y="T3"/>
                </a:cxn>
                <a:cxn ang="T14">
                  <a:pos x="T4" y="T5"/>
                </a:cxn>
                <a:cxn ang="T15">
                  <a:pos x="T6" y="T7"/>
                </a:cxn>
                <a:cxn ang="T16">
                  <a:pos x="T8" y="T9"/>
                </a:cxn>
                <a:cxn ang="T17">
                  <a:pos x="T10" y="T11"/>
                </a:cxn>
              </a:cxnLst>
              <a:rect l="T18" t="T19" r="T20" b="T21"/>
              <a:pathLst>
                <a:path w="58" h="4401">
                  <a:moveTo>
                    <a:pt x="2" y="0"/>
                  </a:moveTo>
                  <a:lnTo>
                    <a:pt x="0" y="4401"/>
                  </a:lnTo>
                  <a:lnTo>
                    <a:pt x="38" y="4386"/>
                  </a:lnTo>
                  <a:lnTo>
                    <a:pt x="58" y="4310"/>
                  </a:lnTo>
                  <a:lnTo>
                    <a:pt x="58" y="55"/>
                  </a:lnTo>
                  <a:lnTo>
                    <a:pt x="2" y="0"/>
                  </a:lnTo>
                  <a:close/>
                </a:path>
              </a:pathLst>
            </a:custGeom>
            <a:solidFill>
              <a:srgbClr val="000000"/>
            </a:solidFill>
            <a:ln w="9525">
              <a:noFill/>
              <a:round/>
              <a:headEnd/>
              <a:tailEnd/>
            </a:ln>
          </p:spPr>
          <p:txBody>
            <a:bodyPr/>
            <a:lstStyle/>
            <a:p>
              <a:endParaRPr lang="en-US"/>
            </a:p>
          </p:txBody>
        </p:sp>
        <p:sp>
          <p:nvSpPr>
            <p:cNvPr id="17683" name="Freeform 483"/>
            <p:cNvSpPr>
              <a:spLocks/>
            </p:cNvSpPr>
            <p:nvPr/>
          </p:nvSpPr>
          <p:spPr bwMode="auto">
            <a:xfrm>
              <a:off x="2205" y="666"/>
              <a:ext cx="1982" cy="425"/>
            </a:xfrm>
            <a:custGeom>
              <a:avLst/>
              <a:gdLst>
                <a:gd name="T0" fmla="*/ 0 w 3964"/>
                <a:gd name="T1" fmla="*/ 1 h 851"/>
                <a:gd name="T2" fmla="*/ 1 w 3964"/>
                <a:gd name="T3" fmla="*/ 1 h 851"/>
                <a:gd name="T4" fmla="*/ 12 w 3964"/>
                <a:gd name="T5" fmla="*/ 0 h 851"/>
                <a:gd name="T6" fmla="*/ 15 w 3964"/>
                <a:gd name="T7" fmla="*/ 0 h 851"/>
                <a:gd name="T8" fmla="*/ 6 w 3964"/>
                <a:gd name="T9" fmla="*/ 3 h 851"/>
                <a:gd name="T10" fmla="*/ 6 w 3964"/>
                <a:gd name="T11" fmla="*/ 3 h 851"/>
                <a:gd name="T12" fmla="*/ 16 w 3964"/>
                <a:gd name="T13" fmla="*/ 0 h 851"/>
                <a:gd name="T14" fmla="*/ 16 w 3964"/>
                <a:gd name="T15" fmla="*/ 0 h 851"/>
                <a:gd name="T16" fmla="*/ 12 w 3964"/>
                <a:gd name="T17" fmla="*/ 0 h 851"/>
                <a:gd name="T18" fmla="*/ 0 w 3964"/>
                <a:gd name="T19" fmla="*/ 1 h 8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64"/>
                <a:gd name="T31" fmla="*/ 0 h 851"/>
                <a:gd name="T32" fmla="*/ 3964 w 3964"/>
                <a:gd name="T33" fmla="*/ 851 h 8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64" h="851">
                  <a:moveTo>
                    <a:pt x="0" y="378"/>
                  </a:moveTo>
                  <a:lnTo>
                    <a:pt x="5" y="444"/>
                  </a:lnTo>
                  <a:lnTo>
                    <a:pt x="2899" y="65"/>
                  </a:lnTo>
                  <a:lnTo>
                    <a:pt x="3796" y="220"/>
                  </a:lnTo>
                  <a:lnTo>
                    <a:pt x="1446" y="786"/>
                  </a:lnTo>
                  <a:lnTo>
                    <a:pt x="1452" y="851"/>
                  </a:lnTo>
                  <a:lnTo>
                    <a:pt x="3964" y="246"/>
                  </a:lnTo>
                  <a:lnTo>
                    <a:pt x="3961" y="181"/>
                  </a:lnTo>
                  <a:lnTo>
                    <a:pt x="2899" y="0"/>
                  </a:lnTo>
                  <a:lnTo>
                    <a:pt x="0" y="378"/>
                  </a:lnTo>
                  <a:close/>
                </a:path>
              </a:pathLst>
            </a:custGeom>
            <a:solidFill>
              <a:srgbClr val="000000"/>
            </a:solidFill>
            <a:ln w="9525">
              <a:noFill/>
              <a:round/>
              <a:headEnd/>
              <a:tailEnd/>
            </a:ln>
          </p:spPr>
          <p:txBody>
            <a:bodyPr/>
            <a:lstStyle/>
            <a:p>
              <a:endParaRPr lang="en-US"/>
            </a:p>
          </p:txBody>
        </p:sp>
        <p:sp>
          <p:nvSpPr>
            <p:cNvPr id="17684" name="Freeform 484"/>
            <p:cNvSpPr>
              <a:spLocks/>
            </p:cNvSpPr>
            <p:nvPr/>
          </p:nvSpPr>
          <p:spPr bwMode="auto">
            <a:xfrm>
              <a:off x="2204" y="855"/>
              <a:ext cx="727" cy="236"/>
            </a:xfrm>
            <a:custGeom>
              <a:avLst/>
              <a:gdLst>
                <a:gd name="T0" fmla="*/ 5 w 1455"/>
                <a:gd name="T1" fmla="*/ 1 h 473"/>
                <a:gd name="T2" fmla="*/ 0 w 1455"/>
                <a:gd name="T3" fmla="*/ 0 h 473"/>
                <a:gd name="T4" fmla="*/ 0 w 1455"/>
                <a:gd name="T5" fmla="*/ 0 h 473"/>
                <a:gd name="T6" fmla="*/ 0 w 1455"/>
                <a:gd name="T7" fmla="*/ 0 h 473"/>
                <a:gd name="T8" fmla="*/ 5 w 1455"/>
                <a:gd name="T9" fmla="*/ 1 h 473"/>
                <a:gd name="T10" fmla="*/ 5 w 1455"/>
                <a:gd name="T11" fmla="*/ 1 h 473"/>
                <a:gd name="T12" fmla="*/ 0 60000 65536"/>
                <a:gd name="T13" fmla="*/ 0 60000 65536"/>
                <a:gd name="T14" fmla="*/ 0 60000 65536"/>
                <a:gd name="T15" fmla="*/ 0 60000 65536"/>
                <a:gd name="T16" fmla="*/ 0 60000 65536"/>
                <a:gd name="T17" fmla="*/ 0 60000 65536"/>
                <a:gd name="T18" fmla="*/ 0 w 1455"/>
                <a:gd name="T19" fmla="*/ 0 h 473"/>
                <a:gd name="T20" fmla="*/ 1455 w 1455"/>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455" h="473">
                  <a:moveTo>
                    <a:pt x="1449" y="408"/>
                  </a:moveTo>
                  <a:lnTo>
                    <a:pt x="164" y="44"/>
                  </a:lnTo>
                  <a:lnTo>
                    <a:pt x="3" y="0"/>
                  </a:lnTo>
                  <a:lnTo>
                    <a:pt x="0" y="64"/>
                  </a:lnTo>
                  <a:lnTo>
                    <a:pt x="1455" y="473"/>
                  </a:lnTo>
                  <a:lnTo>
                    <a:pt x="1449" y="408"/>
                  </a:lnTo>
                  <a:close/>
                </a:path>
              </a:pathLst>
            </a:custGeom>
            <a:solidFill>
              <a:srgbClr val="000000"/>
            </a:solidFill>
            <a:ln w="9525">
              <a:noFill/>
              <a:round/>
              <a:headEnd/>
              <a:tailEnd/>
            </a:ln>
          </p:spPr>
          <p:txBody>
            <a:bodyPr/>
            <a:lstStyle/>
            <a:p>
              <a:endParaRPr lang="en-US"/>
            </a:p>
          </p:txBody>
        </p:sp>
        <p:sp>
          <p:nvSpPr>
            <p:cNvPr id="17685" name="Freeform 485"/>
            <p:cNvSpPr>
              <a:spLocks/>
            </p:cNvSpPr>
            <p:nvPr/>
          </p:nvSpPr>
          <p:spPr bwMode="auto">
            <a:xfrm>
              <a:off x="2300" y="1199"/>
              <a:ext cx="1779" cy="324"/>
            </a:xfrm>
            <a:custGeom>
              <a:avLst/>
              <a:gdLst>
                <a:gd name="T0" fmla="*/ 1 w 3556"/>
                <a:gd name="T1" fmla="*/ 1 h 647"/>
                <a:gd name="T2" fmla="*/ 0 w 3556"/>
                <a:gd name="T3" fmla="*/ 1 h 647"/>
                <a:gd name="T4" fmla="*/ 5 w 3556"/>
                <a:gd name="T5" fmla="*/ 3 h 647"/>
                <a:gd name="T6" fmla="*/ 14 w 3556"/>
                <a:gd name="T7" fmla="*/ 1 h 647"/>
                <a:gd name="T8" fmla="*/ 14 w 3556"/>
                <a:gd name="T9" fmla="*/ 0 h 647"/>
                <a:gd name="T10" fmla="*/ 5 w 3556"/>
                <a:gd name="T11" fmla="*/ 3 h 647"/>
                <a:gd name="T12" fmla="*/ 1 w 3556"/>
                <a:gd name="T13" fmla="*/ 1 h 647"/>
                <a:gd name="T14" fmla="*/ 0 60000 65536"/>
                <a:gd name="T15" fmla="*/ 0 60000 65536"/>
                <a:gd name="T16" fmla="*/ 0 60000 65536"/>
                <a:gd name="T17" fmla="*/ 0 60000 65536"/>
                <a:gd name="T18" fmla="*/ 0 60000 65536"/>
                <a:gd name="T19" fmla="*/ 0 60000 65536"/>
                <a:gd name="T20" fmla="*/ 0 60000 65536"/>
                <a:gd name="T21" fmla="*/ 0 w 3556"/>
                <a:gd name="T22" fmla="*/ 0 h 647"/>
                <a:gd name="T23" fmla="*/ 3556 w 3556"/>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6" h="647">
                  <a:moveTo>
                    <a:pt x="8" y="184"/>
                  </a:moveTo>
                  <a:lnTo>
                    <a:pt x="0" y="223"/>
                  </a:lnTo>
                  <a:lnTo>
                    <a:pt x="1247" y="647"/>
                  </a:lnTo>
                  <a:lnTo>
                    <a:pt x="3556" y="42"/>
                  </a:lnTo>
                  <a:lnTo>
                    <a:pt x="3551" y="0"/>
                  </a:lnTo>
                  <a:lnTo>
                    <a:pt x="1245" y="605"/>
                  </a:lnTo>
                  <a:lnTo>
                    <a:pt x="8" y="184"/>
                  </a:lnTo>
                  <a:close/>
                </a:path>
              </a:pathLst>
            </a:custGeom>
            <a:solidFill>
              <a:srgbClr val="000000"/>
            </a:solidFill>
            <a:ln w="9525">
              <a:noFill/>
              <a:round/>
              <a:headEnd/>
              <a:tailEnd/>
            </a:ln>
          </p:spPr>
          <p:txBody>
            <a:bodyPr/>
            <a:lstStyle/>
            <a:p>
              <a:endParaRPr lang="en-US"/>
            </a:p>
          </p:txBody>
        </p:sp>
        <p:sp>
          <p:nvSpPr>
            <p:cNvPr id="17686" name="Freeform 486"/>
            <p:cNvSpPr>
              <a:spLocks/>
            </p:cNvSpPr>
            <p:nvPr/>
          </p:nvSpPr>
          <p:spPr bwMode="auto">
            <a:xfrm>
              <a:off x="2334" y="1477"/>
              <a:ext cx="1690" cy="355"/>
            </a:xfrm>
            <a:custGeom>
              <a:avLst/>
              <a:gdLst>
                <a:gd name="T0" fmla="*/ 1 w 3380"/>
                <a:gd name="T1" fmla="*/ 1 h 709"/>
                <a:gd name="T2" fmla="*/ 0 w 3380"/>
                <a:gd name="T3" fmla="*/ 2 h 709"/>
                <a:gd name="T4" fmla="*/ 5 w 3380"/>
                <a:gd name="T5" fmla="*/ 3 h 709"/>
                <a:gd name="T6" fmla="*/ 13 w 3380"/>
                <a:gd name="T7" fmla="*/ 1 h 709"/>
                <a:gd name="T8" fmla="*/ 13 w 3380"/>
                <a:gd name="T9" fmla="*/ 0 h 709"/>
                <a:gd name="T10" fmla="*/ 5 w 3380"/>
                <a:gd name="T11" fmla="*/ 3 h 709"/>
                <a:gd name="T12" fmla="*/ 1 w 3380"/>
                <a:gd name="T13" fmla="*/ 1 h 709"/>
                <a:gd name="T14" fmla="*/ 0 60000 65536"/>
                <a:gd name="T15" fmla="*/ 0 60000 65536"/>
                <a:gd name="T16" fmla="*/ 0 60000 65536"/>
                <a:gd name="T17" fmla="*/ 0 60000 65536"/>
                <a:gd name="T18" fmla="*/ 0 60000 65536"/>
                <a:gd name="T19" fmla="*/ 0 60000 65536"/>
                <a:gd name="T20" fmla="*/ 0 60000 65536"/>
                <a:gd name="T21" fmla="*/ 0 w 3380"/>
                <a:gd name="T22" fmla="*/ 0 h 709"/>
                <a:gd name="T23" fmla="*/ 3380 w 3380"/>
                <a:gd name="T24" fmla="*/ 709 h 7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80" h="709">
                  <a:moveTo>
                    <a:pt x="11" y="228"/>
                  </a:moveTo>
                  <a:lnTo>
                    <a:pt x="0" y="267"/>
                  </a:lnTo>
                  <a:lnTo>
                    <a:pt x="1182" y="709"/>
                  </a:lnTo>
                  <a:lnTo>
                    <a:pt x="3380" y="42"/>
                  </a:lnTo>
                  <a:lnTo>
                    <a:pt x="3371" y="0"/>
                  </a:lnTo>
                  <a:lnTo>
                    <a:pt x="1182" y="666"/>
                  </a:lnTo>
                  <a:lnTo>
                    <a:pt x="11" y="228"/>
                  </a:lnTo>
                  <a:close/>
                </a:path>
              </a:pathLst>
            </a:custGeom>
            <a:solidFill>
              <a:srgbClr val="000000"/>
            </a:solidFill>
            <a:ln w="9525">
              <a:noFill/>
              <a:round/>
              <a:headEnd/>
              <a:tailEnd/>
            </a:ln>
          </p:spPr>
          <p:txBody>
            <a:bodyPr/>
            <a:lstStyle/>
            <a:p>
              <a:endParaRPr lang="en-US"/>
            </a:p>
          </p:txBody>
        </p:sp>
        <p:sp>
          <p:nvSpPr>
            <p:cNvPr id="17687" name="Freeform 487"/>
            <p:cNvSpPr>
              <a:spLocks/>
            </p:cNvSpPr>
            <p:nvPr/>
          </p:nvSpPr>
          <p:spPr bwMode="auto">
            <a:xfrm>
              <a:off x="2389" y="2201"/>
              <a:ext cx="1620" cy="363"/>
            </a:xfrm>
            <a:custGeom>
              <a:avLst/>
              <a:gdLst>
                <a:gd name="T0" fmla="*/ 1 w 3239"/>
                <a:gd name="T1" fmla="*/ 1 h 725"/>
                <a:gd name="T2" fmla="*/ 0 w 3239"/>
                <a:gd name="T3" fmla="*/ 1 h 725"/>
                <a:gd name="T4" fmla="*/ 5 w 3239"/>
                <a:gd name="T5" fmla="*/ 3 h 725"/>
                <a:gd name="T6" fmla="*/ 13 w 3239"/>
                <a:gd name="T7" fmla="*/ 1 h 725"/>
                <a:gd name="T8" fmla="*/ 13 w 3239"/>
                <a:gd name="T9" fmla="*/ 0 h 725"/>
                <a:gd name="T10" fmla="*/ 5 w 3239"/>
                <a:gd name="T11" fmla="*/ 3 h 725"/>
                <a:gd name="T12" fmla="*/ 1 w 3239"/>
                <a:gd name="T13" fmla="*/ 1 h 725"/>
                <a:gd name="T14" fmla="*/ 0 60000 65536"/>
                <a:gd name="T15" fmla="*/ 0 60000 65536"/>
                <a:gd name="T16" fmla="*/ 0 60000 65536"/>
                <a:gd name="T17" fmla="*/ 0 60000 65536"/>
                <a:gd name="T18" fmla="*/ 0 60000 65536"/>
                <a:gd name="T19" fmla="*/ 0 60000 65536"/>
                <a:gd name="T20" fmla="*/ 0 60000 65536"/>
                <a:gd name="T21" fmla="*/ 0 w 3239"/>
                <a:gd name="T22" fmla="*/ 0 h 725"/>
                <a:gd name="T23" fmla="*/ 3239 w 3239"/>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5">
                  <a:moveTo>
                    <a:pt x="14" y="113"/>
                  </a:moveTo>
                  <a:lnTo>
                    <a:pt x="0" y="152"/>
                  </a:lnTo>
                  <a:lnTo>
                    <a:pt x="1075" y="725"/>
                  </a:lnTo>
                  <a:lnTo>
                    <a:pt x="3239" y="39"/>
                  </a:lnTo>
                  <a:lnTo>
                    <a:pt x="3231" y="0"/>
                  </a:lnTo>
                  <a:lnTo>
                    <a:pt x="1084" y="683"/>
                  </a:lnTo>
                  <a:lnTo>
                    <a:pt x="14" y="113"/>
                  </a:lnTo>
                  <a:close/>
                </a:path>
              </a:pathLst>
            </a:custGeom>
            <a:solidFill>
              <a:srgbClr val="000000"/>
            </a:solidFill>
            <a:ln w="9525">
              <a:noFill/>
              <a:round/>
              <a:headEnd/>
              <a:tailEnd/>
            </a:ln>
          </p:spPr>
          <p:txBody>
            <a:bodyPr/>
            <a:lstStyle/>
            <a:p>
              <a:endParaRPr lang="en-US"/>
            </a:p>
          </p:txBody>
        </p:sp>
        <p:sp>
          <p:nvSpPr>
            <p:cNvPr id="17688" name="Freeform 488"/>
            <p:cNvSpPr>
              <a:spLocks/>
            </p:cNvSpPr>
            <p:nvPr/>
          </p:nvSpPr>
          <p:spPr bwMode="auto">
            <a:xfrm>
              <a:off x="2297" y="1174"/>
              <a:ext cx="1779" cy="324"/>
            </a:xfrm>
            <a:custGeom>
              <a:avLst/>
              <a:gdLst>
                <a:gd name="T0" fmla="*/ 0 w 3559"/>
                <a:gd name="T1" fmla="*/ 1 h 647"/>
                <a:gd name="T2" fmla="*/ 0 w 3559"/>
                <a:gd name="T3" fmla="*/ 1 h 647"/>
                <a:gd name="T4" fmla="*/ 4 w 3559"/>
                <a:gd name="T5" fmla="*/ 3 h 647"/>
                <a:gd name="T6" fmla="*/ 13 w 3559"/>
                <a:gd name="T7" fmla="*/ 1 h 647"/>
                <a:gd name="T8" fmla="*/ 13 w 3559"/>
                <a:gd name="T9" fmla="*/ 0 h 647"/>
                <a:gd name="T10" fmla="*/ 4 w 3559"/>
                <a:gd name="T11" fmla="*/ 3 h 647"/>
                <a:gd name="T12" fmla="*/ 0 w 3559"/>
                <a:gd name="T13" fmla="*/ 1 h 647"/>
                <a:gd name="T14" fmla="*/ 0 60000 65536"/>
                <a:gd name="T15" fmla="*/ 0 60000 65536"/>
                <a:gd name="T16" fmla="*/ 0 60000 65536"/>
                <a:gd name="T17" fmla="*/ 0 60000 65536"/>
                <a:gd name="T18" fmla="*/ 0 60000 65536"/>
                <a:gd name="T19" fmla="*/ 0 60000 65536"/>
                <a:gd name="T20" fmla="*/ 0 60000 65536"/>
                <a:gd name="T21" fmla="*/ 0 w 3559"/>
                <a:gd name="T22" fmla="*/ 0 h 647"/>
                <a:gd name="T23" fmla="*/ 3559 w 3559"/>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9" h="647">
                  <a:moveTo>
                    <a:pt x="9" y="183"/>
                  </a:moveTo>
                  <a:lnTo>
                    <a:pt x="0" y="222"/>
                  </a:lnTo>
                  <a:lnTo>
                    <a:pt x="1250" y="647"/>
                  </a:lnTo>
                  <a:lnTo>
                    <a:pt x="3559" y="43"/>
                  </a:lnTo>
                  <a:lnTo>
                    <a:pt x="3553" y="0"/>
                  </a:lnTo>
                  <a:lnTo>
                    <a:pt x="1247" y="605"/>
                  </a:lnTo>
                  <a:lnTo>
                    <a:pt x="9" y="183"/>
                  </a:lnTo>
                  <a:close/>
                </a:path>
              </a:pathLst>
            </a:custGeom>
            <a:solidFill>
              <a:srgbClr val="DEFF73"/>
            </a:solidFill>
            <a:ln w="9525">
              <a:noFill/>
              <a:round/>
              <a:headEnd/>
              <a:tailEnd/>
            </a:ln>
          </p:spPr>
          <p:txBody>
            <a:bodyPr/>
            <a:lstStyle/>
            <a:p>
              <a:endParaRPr lang="en-US"/>
            </a:p>
          </p:txBody>
        </p:sp>
        <p:sp>
          <p:nvSpPr>
            <p:cNvPr id="17689" name="Freeform 489"/>
            <p:cNvSpPr>
              <a:spLocks/>
            </p:cNvSpPr>
            <p:nvPr/>
          </p:nvSpPr>
          <p:spPr bwMode="auto">
            <a:xfrm>
              <a:off x="2331" y="1451"/>
              <a:ext cx="1690" cy="355"/>
            </a:xfrm>
            <a:custGeom>
              <a:avLst/>
              <a:gdLst>
                <a:gd name="T0" fmla="*/ 1 w 3379"/>
                <a:gd name="T1" fmla="*/ 1 h 710"/>
                <a:gd name="T2" fmla="*/ 0 w 3379"/>
                <a:gd name="T3" fmla="*/ 2 h 710"/>
                <a:gd name="T4" fmla="*/ 5 w 3379"/>
                <a:gd name="T5" fmla="*/ 3 h 710"/>
                <a:gd name="T6" fmla="*/ 14 w 3379"/>
                <a:gd name="T7" fmla="*/ 1 h 710"/>
                <a:gd name="T8" fmla="*/ 14 w 3379"/>
                <a:gd name="T9" fmla="*/ 0 h 710"/>
                <a:gd name="T10" fmla="*/ 5 w 3379"/>
                <a:gd name="T11" fmla="*/ 3 h 710"/>
                <a:gd name="T12" fmla="*/ 1 w 3379"/>
                <a:gd name="T13" fmla="*/ 1 h 710"/>
                <a:gd name="T14" fmla="*/ 0 60000 65536"/>
                <a:gd name="T15" fmla="*/ 0 60000 65536"/>
                <a:gd name="T16" fmla="*/ 0 60000 65536"/>
                <a:gd name="T17" fmla="*/ 0 60000 65536"/>
                <a:gd name="T18" fmla="*/ 0 60000 65536"/>
                <a:gd name="T19" fmla="*/ 0 60000 65536"/>
                <a:gd name="T20" fmla="*/ 0 60000 65536"/>
                <a:gd name="T21" fmla="*/ 0 w 3379"/>
                <a:gd name="T22" fmla="*/ 0 h 710"/>
                <a:gd name="T23" fmla="*/ 3379 w 3379"/>
                <a:gd name="T24" fmla="*/ 710 h 7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9" h="710">
                  <a:moveTo>
                    <a:pt x="11" y="229"/>
                  </a:moveTo>
                  <a:lnTo>
                    <a:pt x="0" y="268"/>
                  </a:lnTo>
                  <a:lnTo>
                    <a:pt x="1181" y="710"/>
                  </a:lnTo>
                  <a:lnTo>
                    <a:pt x="3379" y="43"/>
                  </a:lnTo>
                  <a:lnTo>
                    <a:pt x="3370" y="0"/>
                  </a:lnTo>
                  <a:lnTo>
                    <a:pt x="1181" y="667"/>
                  </a:lnTo>
                  <a:lnTo>
                    <a:pt x="11" y="229"/>
                  </a:lnTo>
                  <a:close/>
                </a:path>
              </a:pathLst>
            </a:custGeom>
            <a:solidFill>
              <a:srgbClr val="DEFF73"/>
            </a:solidFill>
            <a:ln w="9525">
              <a:noFill/>
              <a:round/>
              <a:headEnd/>
              <a:tailEnd/>
            </a:ln>
          </p:spPr>
          <p:txBody>
            <a:bodyPr/>
            <a:lstStyle/>
            <a:p>
              <a:endParaRPr lang="en-US"/>
            </a:p>
          </p:txBody>
        </p:sp>
        <p:sp>
          <p:nvSpPr>
            <p:cNvPr id="17690" name="Freeform 490"/>
            <p:cNvSpPr>
              <a:spLocks/>
            </p:cNvSpPr>
            <p:nvPr/>
          </p:nvSpPr>
          <p:spPr bwMode="auto">
            <a:xfrm>
              <a:off x="2386" y="2175"/>
              <a:ext cx="1620" cy="363"/>
            </a:xfrm>
            <a:custGeom>
              <a:avLst/>
              <a:gdLst>
                <a:gd name="T0" fmla="*/ 1 w 3239"/>
                <a:gd name="T1" fmla="*/ 0 h 727"/>
                <a:gd name="T2" fmla="*/ 0 w 3239"/>
                <a:gd name="T3" fmla="*/ 0 h 727"/>
                <a:gd name="T4" fmla="*/ 5 w 3239"/>
                <a:gd name="T5" fmla="*/ 2 h 727"/>
                <a:gd name="T6" fmla="*/ 13 w 3239"/>
                <a:gd name="T7" fmla="*/ 0 h 727"/>
                <a:gd name="T8" fmla="*/ 13 w 3239"/>
                <a:gd name="T9" fmla="*/ 0 h 727"/>
                <a:gd name="T10" fmla="*/ 5 w 3239"/>
                <a:gd name="T11" fmla="*/ 2 h 727"/>
                <a:gd name="T12" fmla="*/ 1 w 3239"/>
                <a:gd name="T13" fmla="*/ 0 h 727"/>
                <a:gd name="T14" fmla="*/ 0 60000 65536"/>
                <a:gd name="T15" fmla="*/ 0 60000 65536"/>
                <a:gd name="T16" fmla="*/ 0 60000 65536"/>
                <a:gd name="T17" fmla="*/ 0 60000 65536"/>
                <a:gd name="T18" fmla="*/ 0 60000 65536"/>
                <a:gd name="T19" fmla="*/ 0 60000 65536"/>
                <a:gd name="T20" fmla="*/ 0 60000 65536"/>
                <a:gd name="T21" fmla="*/ 0 w 3239"/>
                <a:gd name="T22" fmla="*/ 0 h 727"/>
                <a:gd name="T23" fmla="*/ 3239 w 3239"/>
                <a:gd name="T24" fmla="*/ 727 h 7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7">
                  <a:moveTo>
                    <a:pt x="14" y="114"/>
                  </a:moveTo>
                  <a:lnTo>
                    <a:pt x="0" y="153"/>
                  </a:lnTo>
                  <a:lnTo>
                    <a:pt x="1076" y="727"/>
                  </a:lnTo>
                  <a:lnTo>
                    <a:pt x="3239" y="39"/>
                  </a:lnTo>
                  <a:lnTo>
                    <a:pt x="3230" y="0"/>
                  </a:lnTo>
                  <a:lnTo>
                    <a:pt x="1085" y="685"/>
                  </a:lnTo>
                  <a:lnTo>
                    <a:pt x="14" y="114"/>
                  </a:lnTo>
                  <a:close/>
                </a:path>
              </a:pathLst>
            </a:custGeom>
            <a:solidFill>
              <a:srgbClr val="DEFF73"/>
            </a:solidFill>
            <a:ln w="9525">
              <a:noFill/>
              <a:round/>
              <a:headEnd/>
              <a:tailEnd/>
            </a:ln>
          </p:spPr>
          <p:txBody>
            <a:bodyPr/>
            <a:lstStyle/>
            <a:p>
              <a:endParaRPr lang="en-US"/>
            </a:p>
          </p:txBody>
        </p:sp>
        <p:sp>
          <p:nvSpPr>
            <p:cNvPr id="17691" name="Freeform 491"/>
            <p:cNvSpPr>
              <a:spLocks/>
            </p:cNvSpPr>
            <p:nvPr/>
          </p:nvSpPr>
          <p:spPr bwMode="auto">
            <a:xfrm>
              <a:off x="2315" y="1005"/>
              <a:ext cx="496" cy="331"/>
            </a:xfrm>
            <a:custGeom>
              <a:avLst/>
              <a:gdLst>
                <a:gd name="T0" fmla="*/ 0 w 993"/>
                <a:gd name="T1" fmla="*/ 0 h 664"/>
                <a:gd name="T2" fmla="*/ 0 w 993"/>
                <a:gd name="T3" fmla="*/ 1 h 664"/>
                <a:gd name="T4" fmla="*/ 3 w 993"/>
                <a:gd name="T5" fmla="*/ 2 h 664"/>
                <a:gd name="T6" fmla="*/ 3 w 993"/>
                <a:gd name="T7" fmla="*/ 1 h 664"/>
                <a:gd name="T8" fmla="*/ 0 w 993"/>
                <a:gd name="T9" fmla="*/ 0 h 664"/>
                <a:gd name="T10" fmla="*/ 0 w 993"/>
                <a:gd name="T11" fmla="*/ 0 h 664"/>
                <a:gd name="T12" fmla="*/ 0 w 993"/>
                <a:gd name="T13" fmla="*/ 0 h 664"/>
                <a:gd name="T14" fmla="*/ 0 60000 65536"/>
                <a:gd name="T15" fmla="*/ 0 60000 65536"/>
                <a:gd name="T16" fmla="*/ 0 60000 65536"/>
                <a:gd name="T17" fmla="*/ 0 60000 65536"/>
                <a:gd name="T18" fmla="*/ 0 60000 65536"/>
                <a:gd name="T19" fmla="*/ 0 60000 65536"/>
                <a:gd name="T20" fmla="*/ 0 60000 65536"/>
                <a:gd name="T21" fmla="*/ 0 w 993"/>
                <a:gd name="T22" fmla="*/ 0 h 664"/>
                <a:gd name="T23" fmla="*/ 993 w 993"/>
                <a:gd name="T24" fmla="*/ 664 h 6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3" h="664">
                  <a:moveTo>
                    <a:pt x="0" y="47"/>
                  </a:moveTo>
                  <a:lnTo>
                    <a:pt x="44" y="339"/>
                  </a:lnTo>
                  <a:lnTo>
                    <a:pt x="990" y="664"/>
                  </a:lnTo>
                  <a:lnTo>
                    <a:pt x="993" y="372"/>
                  </a:lnTo>
                  <a:lnTo>
                    <a:pt x="0" y="0"/>
                  </a:lnTo>
                  <a:lnTo>
                    <a:pt x="0" y="47"/>
                  </a:lnTo>
                  <a:close/>
                </a:path>
              </a:pathLst>
            </a:custGeom>
            <a:solidFill>
              <a:srgbClr val="99FFFB"/>
            </a:solidFill>
            <a:ln w="9525">
              <a:noFill/>
              <a:round/>
              <a:headEnd/>
              <a:tailEnd/>
            </a:ln>
          </p:spPr>
          <p:txBody>
            <a:bodyPr/>
            <a:lstStyle/>
            <a:p>
              <a:endParaRPr lang="en-US"/>
            </a:p>
          </p:txBody>
        </p:sp>
        <p:sp>
          <p:nvSpPr>
            <p:cNvPr id="17692" name="Freeform 492"/>
            <p:cNvSpPr>
              <a:spLocks/>
            </p:cNvSpPr>
            <p:nvPr/>
          </p:nvSpPr>
          <p:spPr bwMode="auto">
            <a:xfrm>
              <a:off x="2305" y="1027"/>
              <a:ext cx="516" cy="322"/>
            </a:xfrm>
            <a:custGeom>
              <a:avLst/>
              <a:gdLst>
                <a:gd name="T0" fmla="*/ 1 w 1030"/>
                <a:gd name="T1" fmla="*/ 0 h 644"/>
                <a:gd name="T2" fmla="*/ 0 w 1030"/>
                <a:gd name="T3" fmla="*/ 1 h 644"/>
                <a:gd name="T4" fmla="*/ 1 w 1030"/>
                <a:gd name="T5" fmla="*/ 2 h 644"/>
                <a:gd name="T6" fmla="*/ 5 w 1030"/>
                <a:gd name="T7" fmla="*/ 3 h 644"/>
                <a:gd name="T8" fmla="*/ 5 w 1030"/>
                <a:gd name="T9" fmla="*/ 2 h 644"/>
                <a:gd name="T10" fmla="*/ 4 w 1030"/>
                <a:gd name="T11" fmla="*/ 2 h 644"/>
                <a:gd name="T12" fmla="*/ 4 w 1030"/>
                <a:gd name="T13" fmla="*/ 3 h 644"/>
                <a:gd name="T14" fmla="*/ 1 w 1030"/>
                <a:gd name="T15" fmla="*/ 2 h 644"/>
                <a:gd name="T16" fmla="*/ 1 w 1030"/>
                <a:gd name="T17" fmla="*/ 0 h 6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0"/>
                <a:gd name="T28" fmla="*/ 0 h 644"/>
                <a:gd name="T29" fmla="*/ 1030 w 1030"/>
                <a:gd name="T30" fmla="*/ 644 h 6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0" h="644">
                  <a:moveTo>
                    <a:pt x="37" y="0"/>
                  </a:moveTo>
                  <a:lnTo>
                    <a:pt x="0" y="3"/>
                  </a:lnTo>
                  <a:lnTo>
                    <a:pt x="45" y="308"/>
                  </a:lnTo>
                  <a:lnTo>
                    <a:pt x="1026" y="644"/>
                  </a:lnTo>
                  <a:lnTo>
                    <a:pt x="1030" y="313"/>
                  </a:lnTo>
                  <a:lnTo>
                    <a:pt x="993" y="339"/>
                  </a:lnTo>
                  <a:lnTo>
                    <a:pt x="991" y="592"/>
                  </a:lnTo>
                  <a:lnTo>
                    <a:pt x="79" y="279"/>
                  </a:lnTo>
                  <a:lnTo>
                    <a:pt x="37" y="0"/>
                  </a:lnTo>
                  <a:close/>
                </a:path>
              </a:pathLst>
            </a:custGeom>
            <a:solidFill>
              <a:srgbClr val="000000"/>
            </a:solidFill>
            <a:ln w="9525">
              <a:noFill/>
              <a:round/>
              <a:headEnd/>
              <a:tailEnd/>
            </a:ln>
          </p:spPr>
          <p:txBody>
            <a:bodyPr/>
            <a:lstStyle/>
            <a:p>
              <a:endParaRPr lang="en-US"/>
            </a:p>
          </p:txBody>
        </p:sp>
        <p:sp>
          <p:nvSpPr>
            <p:cNvPr id="17693" name="Freeform 493"/>
            <p:cNvSpPr>
              <a:spLocks/>
            </p:cNvSpPr>
            <p:nvPr/>
          </p:nvSpPr>
          <p:spPr bwMode="auto">
            <a:xfrm>
              <a:off x="2305" y="991"/>
              <a:ext cx="516" cy="206"/>
            </a:xfrm>
            <a:custGeom>
              <a:avLst/>
              <a:gdLst>
                <a:gd name="T0" fmla="*/ 5 w 1030"/>
                <a:gd name="T1" fmla="*/ 2 h 412"/>
                <a:gd name="T2" fmla="*/ 1 w 1030"/>
                <a:gd name="T3" fmla="*/ 0 h 412"/>
                <a:gd name="T4" fmla="*/ 0 w 1030"/>
                <a:gd name="T5" fmla="*/ 1 h 412"/>
                <a:gd name="T6" fmla="*/ 0 w 1030"/>
                <a:gd name="T7" fmla="*/ 1 h 412"/>
                <a:gd name="T8" fmla="*/ 1 w 1030"/>
                <a:gd name="T9" fmla="*/ 1 h 412"/>
                <a:gd name="T10" fmla="*/ 1 w 1030"/>
                <a:gd name="T11" fmla="*/ 1 h 412"/>
                <a:gd name="T12" fmla="*/ 4 w 1030"/>
                <a:gd name="T13" fmla="*/ 2 h 412"/>
                <a:gd name="T14" fmla="*/ 5 w 1030"/>
                <a:gd name="T15" fmla="*/ 2 h 412"/>
                <a:gd name="T16" fmla="*/ 0 60000 65536"/>
                <a:gd name="T17" fmla="*/ 0 60000 65536"/>
                <a:gd name="T18" fmla="*/ 0 60000 65536"/>
                <a:gd name="T19" fmla="*/ 0 60000 65536"/>
                <a:gd name="T20" fmla="*/ 0 60000 65536"/>
                <a:gd name="T21" fmla="*/ 0 60000 65536"/>
                <a:gd name="T22" fmla="*/ 0 60000 65536"/>
                <a:gd name="T23" fmla="*/ 0 60000 65536"/>
                <a:gd name="T24" fmla="*/ 0 w 1030"/>
                <a:gd name="T25" fmla="*/ 0 h 412"/>
                <a:gd name="T26" fmla="*/ 1030 w 1030"/>
                <a:gd name="T27" fmla="*/ 412 h 4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0" h="412">
                  <a:moveTo>
                    <a:pt x="1030" y="386"/>
                  </a:moveTo>
                  <a:lnTo>
                    <a:pt x="1" y="0"/>
                  </a:lnTo>
                  <a:lnTo>
                    <a:pt x="0" y="74"/>
                  </a:lnTo>
                  <a:lnTo>
                    <a:pt x="0" y="76"/>
                  </a:lnTo>
                  <a:lnTo>
                    <a:pt x="37" y="73"/>
                  </a:lnTo>
                  <a:lnTo>
                    <a:pt x="37" y="55"/>
                  </a:lnTo>
                  <a:lnTo>
                    <a:pt x="993" y="412"/>
                  </a:lnTo>
                  <a:lnTo>
                    <a:pt x="1030" y="386"/>
                  </a:lnTo>
                  <a:close/>
                </a:path>
              </a:pathLst>
            </a:custGeom>
            <a:solidFill>
              <a:srgbClr val="000000"/>
            </a:solidFill>
            <a:ln w="9525">
              <a:noFill/>
              <a:round/>
              <a:headEnd/>
              <a:tailEnd/>
            </a:ln>
          </p:spPr>
          <p:txBody>
            <a:bodyPr/>
            <a:lstStyle/>
            <a:p>
              <a:endParaRPr lang="en-US"/>
            </a:p>
          </p:txBody>
        </p:sp>
        <p:sp>
          <p:nvSpPr>
            <p:cNvPr id="17694" name="Freeform 494"/>
            <p:cNvSpPr>
              <a:spLocks/>
            </p:cNvSpPr>
            <p:nvPr/>
          </p:nvSpPr>
          <p:spPr bwMode="auto">
            <a:xfrm>
              <a:off x="2340" y="1403"/>
              <a:ext cx="502" cy="270"/>
            </a:xfrm>
            <a:custGeom>
              <a:avLst/>
              <a:gdLst>
                <a:gd name="T0" fmla="*/ 0 w 1005"/>
                <a:gd name="T1" fmla="*/ 0 h 540"/>
                <a:gd name="T2" fmla="*/ 0 w 1005"/>
                <a:gd name="T3" fmla="*/ 1 h 540"/>
                <a:gd name="T4" fmla="*/ 3 w 1005"/>
                <a:gd name="T5" fmla="*/ 2 h 540"/>
                <a:gd name="T6" fmla="*/ 3 w 1005"/>
                <a:gd name="T7" fmla="*/ 1 h 540"/>
                <a:gd name="T8" fmla="*/ 0 w 1005"/>
                <a:gd name="T9" fmla="*/ 0 h 540"/>
                <a:gd name="T10" fmla="*/ 0 w 1005"/>
                <a:gd name="T11" fmla="*/ 0 h 540"/>
                <a:gd name="T12" fmla="*/ 0 w 1005"/>
                <a:gd name="T13" fmla="*/ 0 h 540"/>
                <a:gd name="T14" fmla="*/ 0 60000 65536"/>
                <a:gd name="T15" fmla="*/ 0 60000 65536"/>
                <a:gd name="T16" fmla="*/ 0 60000 65536"/>
                <a:gd name="T17" fmla="*/ 0 60000 65536"/>
                <a:gd name="T18" fmla="*/ 0 60000 65536"/>
                <a:gd name="T19" fmla="*/ 0 60000 65536"/>
                <a:gd name="T20" fmla="*/ 0 60000 65536"/>
                <a:gd name="T21" fmla="*/ 0 w 1005"/>
                <a:gd name="T22" fmla="*/ 0 h 540"/>
                <a:gd name="T23" fmla="*/ 1005 w 1005"/>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5" h="540">
                  <a:moveTo>
                    <a:pt x="34" y="0"/>
                  </a:moveTo>
                  <a:lnTo>
                    <a:pt x="94" y="245"/>
                  </a:lnTo>
                  <a:lnTo>
                    <a:pt x="1005" y="540"/>
                  </a:lnTo>
                  <a:lnTo>
                    <a:pt x="993" y="317"/>
                  </a:lnTo>
                  <a:lnTo>
                    <a:pt x="0" y="0"/>
                  </a:lnTo>
                  <a:lnTo>
                    <a:pt x="34" y="0"/>
                  </a:lnTo>
                  <a:close/>
                </a:path>
              </a:pathLst>
            </a:custGeom>
            <a:solidFill>
              <a:srgbClr val="99FFFB"/>
            </a:solidFill>
            <a:ln w="9525">
              <a:noFill/>
              <a:round/>
              <a:headEnd/>
              <a:tailEnd/>
            </a:ln>
          </p:spPr>
          <p:txBody>
            <a:bodyPr/>
            <a:lstStyle/>
            <a:p>
              <a:endParaRPr lang="en-US"/>
            </a:p>
          </p:txBody>
        </p:sp>
        <p:sp>
          <p:nvSpPr>
            <p:cNvPr id="17695" name="Freeform 495"/>
            <p:cNvSpPr>
              <a:spLocks/>
            </p:cNvSpPr>
            <p:nvPr/>
          </p:nvSpPr>
          <p:spPr bwMode="auto">
            <a:xfrm>
              <a:off x="2348" y="1401"/>
              <a:ext cx="504" cy="285"/>
            </a:xfrm>
            <a:custGeom>
              <a:avLst/>
              <a:gdLst>
                <a:gd name="T0" fmla="*/ 1 w 1008"/>
                <a:gd name="T1" fmla="*/ 0 h 571"/>
                <a:gd name="T2" fmla="*/ 0 w 1008"/>
                <a:gd name="T3" fmla="*/ 0 h 571"/>
                <a:gd name="T4" fmla="*/ 1 w 1008"/>
                <a:gd name="T5" fmla="*/ 1 h 571"/>
                <a:gd name="T6" fmla="*/ 4 w 1008"/>
                <a:gd name="T7" fmla="*/ 2 h 571"/>
                <a:gd name="T8" fmla="*/ 4 w 1008"/>
                <a:gd name="T9" fmla="*/ 1 h 571"/>
                <a:gd name="T10" fmla="*/ 4 w 1008"/>
                <a:gd name="T11" fmla="*/ 1 h 571"/>
                <a:gd name="T12" fmla="*/ 4 w 1008"/>
                <a:gd name="T13" fmla="*/ 2 h 571"/>
                <a:gd name="T14" fmla="*/ 1 w 1008"/>
                <a:gd name="T15" fmla="*/ 0 h 571"/>
                <a:gd name="T16" fmla="*/ 1 w 1008"/>
                <a:gd name="T17" fmla="*/ 0 h 5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8"/>
                <a:gd name="T28" fmla="*/ 0 h 571"/>
                <a:gd name="T29" fmla="*/ 1008 w 1008"/>
                <a:gd name="T30" fmla="*/ 571 h 5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8" h="571">
                  <a:moveTo>
                    <a:pt x="35" y="0"/>
                  </a:moveTo>
                  <a:lnTo>
                    <a:pt x="0" y="10"/>
                  </a:lnTo>
                  <a:lnTo>
                    <a:pt x="62" y="264"/>
                  </a:lnTo>
                  <a:lnTo>
                    <a:pt x="1008" y="571"/>
                  </a:lnTo>
                  <a:lnTo>
                    <a:pt x="996" y="307"/>
                  </a:lnTo>
                  <a:lnTo>
                    <a:pt x="958" y="336"/>
                  </a:lnTo>
                  <a:lnTo>
                    <a:pt x="970" y="519"/>
                  </a:lnTo>
                  <a:lnTo>
                    <a:pt x="94" y="235"/>
                  </a:lnTo>
                  <a:lnTo>
                    <a:pt x="35" y="0"/>
                  </a:lnTo>
                  <a:close/>
                </a:path>
              </a:pathLst>
            </a:custGeom>
            <a:solidFill>
              <a:srgbClr val="000000"/>
            </a:solidFill>
            <a:ln w="9525">
              <a:noFill/>
              <a:round/>
              <a:headEnd/>
              <a:tailEnd/>
            </a:ln>
          </p:spPr>
          <p:txBody>
            <a:bodyPr/>
            <a:lstStyle/>
            <a:p>
              <a:endParaRPr lang="en-US"/>
            </a:p>
          </p:txBody>
        </p:sp>
        <p:sp>
          <p:nvSpPr>
            <p:cNvPr id="17696" name="Freeform 496"/>
            <p:cNvSpPr>
              <a:spLocks/>
            </p:cNvSpPr>
            <p:nvPr/>
          </p:nvSpPr>
          <p:spPr bwMode="auto">
            <a:xfrm>
              <a:off x="2338" y="1393"/>
              <a:ext cx="508" cy="176"/>
            </a:xfrm>
            <a:custGeom>
              <a:avLst/>
              <a:gdLst>
                <a:gd name="T0" fmla="*/ 4 w 1016"/>
                <a:gd name="T1" fmla="*/ 2 h 350"/>
                <a:gd name="T2" fmla="*/ 1 w 1016"/>
                <a:gd name="T3" fmla="*/ 0 h 350"/>
                <a:gd name="T4" fmla="*/ 1 w 1016"/>
                <a:gd name="T5" fmla="*/ 1 h 350"/>
                <a:gd name="T6" fmla="*/ 0 w 1016"/>
                <a:gd name="T7" fmla="*/ 1 h 350"/>
                <a:gd name="T8" fmla="*/ 4 w 1016"/>
                <a:gd name="T9" fmla="*/ 2 h 350"/>
                <a:gd name="T10" fmla="*/ 4 w 1016"/>
                <a:gd name="T11" fmla="*/ 2 h 350"/>
                <a:gd name="T12" fmla="*/ 0 60000 65536"/>
                <a:gd name="T13" fmla="*/ 0 60000 65536"/>
                <a:gd name="T14" fmla="*/ 0 60000 65536"/>
                <a:gd name="T15" fmla="*/ 0 60000 65536"/>
                <a:gd name="T16" fmla="*/ 0 60000 65536"/>
                <a:gd name="T17" fmla="*/ 0 60000 65536"/>
                <a:gd name="T18" fmla="*/ 0 w 1016"/>
                <a:gd name="T19" fmla="*/ 0 h 350"/>
                <a:gd name="T20" fmla="*/ 1016 w 1016"/>
                <a:gd name="T21" fmla="*/ 350 h 350"/>
              </a:gdLst>
              <a:ahLst/>
              <a:cxnLst>
                <a:cxn ang="T12">
                  <a:pos x="T0" y="T1"/>
                </a:cxn>
                <a:cxn ang="T13">
                  <a:pos x="T2" y="T3"/>
                </a:cxn>
                <a:cxn ang="T14">
                  <a:pos x="T4" y="T5"/>
                </a:cxn>
                <a:cxn ang="T15">
                  <a:pos x="T6" y="T7"/>
                </a:cxn>
                <a:cxn ang="T16">
                  <a:pos x="T8" y="T9"/>
                </a:cxn>
                <a:cxn ang="T17">
                  <a:pos x="T10" y="T11"/>
                </a:cxn>
              </a:cxnLst>
              <a:rect l="T18" t="T19" r="T20" b="T21"/>
              <a:pathLst>
                <a:path w="1016" h="350">
                  <a:moveTo>
                    <a:pt x="1016" y="321"/>
                  </a:moveTo>
                  <a:lnTo>
                    <a:pt x="9" y="0"/>
                  </a:lnTo>
                  <a:lnTo>
                    <a:pt x="4" y="19"/>
                  </a:lnTo>
                  <a:lnTo>
                    <a:pt x="0" y="39"/>
                  </a:lnTo>
                  <a:lnTo>
                    <a:pt x="978" y="350"/>
                  </a:lnTo>
                  <a:lnTo>
                    <a:pt x="1016" y="321"/>
                  </a:lnTo>
                  <a:close/>
                </a:path>
              </a:pathLst>
            </a:custGeom>
            <a:solidFill>
              <a:srgbClr val="000000"/>
            </a:solidFill>
            <a:ln w="9525">
              <a:noFill/>
              <a:round/>
              <a:headEnd/>
              <a:tailEnd/>
            </a:ln>
          </p:spPr>
          <p:txBody>
            <a:bodyPr/>
            <a:lstStyle/>
            <a:p>
              <a:endParaRPr lang="en-US"/>
            </a:p>
          </p:txBody>
        </p:sp>
        <p:sp>
          <p:nvSpPr>
            <p:cNvPr id="17697" name="Freeform 497"/>
            <p:cNvSpPr>
              <a:spLocks/>
            </p:cNvSpPr>
            <p:nvPr/>
          </p:nvSpPr>
          <p:spPr bwMode="auto">
            <a:xfrm>
              <a:off x="2370" y="1429"/>
              <a:ext cx="443" cy="148"/>
            </a:xfrm>
            <a:custGeom>
              <a:avLst/>
              <a:gdLst>
                <a:gd name="T0" fmla="*/ 1 w 885"/>
                <a:gd name="T1" fmla="*/ 1 h 296"/>
                <a:gd name="T2" fmla="*/ 0 w 885"/>
                <a:gd name="T3" fmla="*/ 0 h 296"/>
                <a:gd name="T4" fmla="*/ 4 w 885"/>
                <a:gd name="T5" fmla="*/ 1 h 296"/>
                <a:gd name="T6" fmla="*/ 1 w 885"/>
                <a:gd name="T7" fmla="*/ 1 h 296"/>
                <a:gd name="T8" fmla="*/ 1 w 885"/>
                <a:gd name="T9" fmla="*/ 1 h 296"/>
                <a:gd name="T10" fmla="*/ 0 60000 65536"/>
                <a:gd name="T11" fmla="*/ 0 60000 65536"/>
                <a:gd name="T12" fmla="*/ 0 60000 65536"/>
                <a:gd name="T13" fmla="*/ 0 60000 65536"/>
                <a:gd name="T14" fmla="*/ 0 60000 65536"/>
                <a:gd name="T15" fmla="*/ 0 w 885"/>
                <a:gd name="T16" fmla="*/ 0 h 296"/>
                <a:gd name="T17" fmla="*/ 885 w 885"/>
                <a:gd name="T18" fmla="*/ 296 h 296"/>
              </a:gdLst>
              <a:ahLst/>
              <a:cxnLst>
                <a:cxn ang="T10">
                  <a:pos x="T0" y="T1"/>
                </a:cxn>
                <a:cxn ang="T11">
                  <a:pos x="T2" y="T3"/>
                </a:cxn>
                <a:cxn ang="T12">
                  <a:pos x="T4" y="T5"/>
                </a:cxn>
                <a:cxn ang="T13">
                  <a:pos x="T6" y="T7"/>
                </a:cxn>
                <a:cxn ang="T14">
                  <a:pos x="T8" y="T9"/>
                </a:cxn>
              </a:cxnLst>
              <a:rect l="T15" t="T16" r="T17" b="T18"/>
              <a:pathLst>
                <a:path w="885" h="296">
                  <a:moveTo>
                    <a:pt x="50" y="115"/>
                  </a:moveTo>
                  <a:lnTo>
                    <a:pt x="0" y="0"/>
                  </a:lnTo>
                  <a:lnTo>
                    <a:pt x="885" y="296"/>
                  </a:lnTo>
                  <a:lnTo>
                    <a:pt x="50" y="115"/>
                  </a:lnTo>
                  <a:close/>
                </a:path>
              </a:pathLst>
            </a:custGeom>
            <a:solidFill>
              <a:srgbClr val="99FFFB"/>
            </a:solidFill>
            <a:ln w="9525">
              <a:noFill/>
              <a:round/>
              <a:headEnd/>
              <a:tailEnd/>
            </a:ln>
          </p:spPr>
          <p:txBody>
            <a:bodyPr/>
            <a:lstStyle/>
            <a:p>
              <a:endParaRPr lang="en-US"/>
            </a:p>
          </p:txBody>
        </p:sp>
        <p:sp>
          <p:nvSpPr>
            <p:cNvPr id="17698" name="Freeform 498"/>
            <p:cNvSpPr>
              <a:spLocks/>
            </p:cNvSpPr>
            <p:nvPr/>
          </p:nvSpPr>
          <p:spPr bwMode="auto">
            <a:xfrm>
              <a:off x="2468" y="2490"/>
              <a:ext cx="343" cy="194"/>
            </a:xfrm>
            <a:custGeom>
              <a:avLst/>
              <a:gdLst>
                <a:gd name="T0" fmla="*/ 0 w 687"/>
                <a:gd name="T1" fmla="*/ 0 h 386"/>
                <a:gd name="T2" fmla="*/ 0 w 687"/>
                <a:gd name="T3" fmla="*/ 1 h 386"/>
                <a:gd name="T4" fmla="*/ 2 w 687"/>
                <a:gd name="T5" fmla="*/ 2 h 386"/>
                <a:gd name="T6" fmla="*/ 2 w 687"/>
                <a:gd name="T7" fmla="*/ 2 h 386"/>
                <a:gd name="T8" fmla="*/ 0 w 687"/>
                <a:gd name="T9" fmla="*/ 0 h 386"/>
                <a:gd name="T10" fmla="*/ 0 60000 65536"/>
                <a:gd name="T11" fmla="*/ 0 60000 65536"/>
                <a:gd name="T12" fmla="*/ 0 60000 65536"/>
                <a:gd name="T13" fmla="*/ 0 60000 65536"/>
                <a:gd name="T14" fmla="*/ 0 60000 65536"/>
                <a:gd name="T15" fmla="*/ 0 w 687"/>
                <a:gd name="T16" fmla="*/ 0 h 386"/>
                <a:gd name="T17" fmla="*/ 687 w 687"/>
                <a:gd name="T18" fmla="*/ 386 h 386"/>
              </a:gdLst>
              <a:ahLst/>
              <a:cxnLst>
                <a:cxn ang="T10">
                  <a:pos x="T0" y="T1"/>
                </a:cxn>
                <a:cxn ang="T11">
                  <a:pos x="T2" y="T3"/>
                </a:cxn>
                <a:cxn ang="T12">
                  <a:pos x="T4" y="T5"/>
                </a:cxn>
                <a:cxn ang="T13">
                  <a:pos x="T6" y="T7"/>
                </a:cxn>
                <a:cxn ang="T14">
                  <a:pos x="T8" y="T9"/>
                </a:cxn>
              </a:cxnLst>
              <a:rect l="T15" t="T16" r="T17" b="T18"/>
              <a:pathLst>
                <a:path w="687" h="386">
                  <a:moveTo>
                    <a:pt x="24" y="0"/>
                  </a:moveTo>
                  <a:lnTo>
                    <a:pt x="0" y="58"/>
                  </a:lnTo>
                  <a:lnTo>
                    <a:pt x="664" y="386"/>
                  </a:lnTo>
                  <a:lnTo>
                    <a:pt x="687" y="327"/>
                  </a:lnTo>
                  <a:lnTo>
                    <a:pt x="24" y="0"/>
                  </a:lnTo>
                  <a:close/>
                </a:path>
              </a:pathLst>
            </a:custGeom>
            <a:solidFill>
              <a:srgbClr val="000000"/>
            </a:solidFill>
            <a:ln w="9525">
              <a:noFill/>
              <a:round/>
              <a:headEnd/>
              <a:tailEnd/>
            </a:ln>
          </p:spPr>
          <p:txBody>
            <a:bodyPr/>
            <a:lstStyle/>
            <a:p>
              <a:endParaRPr lang="en-US"/>
            </a:p>
          </p:txBody>
        </p:sp>
        <p:sp>
          <p:nvSpPr>
            <p:cNvPr id="17699" name="Freeform 499"/>
            <p:cNvSpPr>
              <a:spLocks/>
            </p:cNvSpPr>
            <p:nvPr/>
          </p:nvSpPr>
          <p:spPr bwMode="auto">
            <a:xfrm>
              <a:off x="2463" y="2566"/>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7700" name="Freeform 500"/>
            <p:cNvSpPr>
              <a:spLocks/>
            </p:cNvSpPr>
            <p:nvPr/>
          </p:nvSpPr>
          <p:spPr bwMode="auto">
            <a:xfrm>
              <a:off x="2442" y="2641"/>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7701" name="Freeform 501"/>
            <p:cNvSpPr>
              <a:spLocks/>
            </p:cNvSpPr>
            <p:nvPr/>
          </p:nvSpPr>
          <p:spPr bwMode="auto">
            <a:xfrm>
              <a:off x="2437" y="2718"/>
              <a:ext cx="350" cy="221"/>
            </a:xfrm>
            <a:custGeom>
              <a:avLst/>
              <a:gdLst>
                <a:gd name="T0" fmla="*/ 1 w 699"/>
                <a:gd name="T1" fmla="*/ 0 h 441"/>
                <a:gd name="T2" fmla="*/ 0 w 699"/>
                <a:gd name="T3" fmla="*/ 1 h 441"/>
                <a:gd name="T4" fmla="*/ 3 w 699"/>
                <a:gd name="T5" fmla="*/ 2 h 441"/>
                <a:gd name="T6" fmla="*/ 3 w 699"/>
                <a:gd name="T7" fmla="*/ 2 h 441"/>
                <a:gd name="T8" fmla="*/ 1 w 699"/>
                <a:gd name="T9" fmla="*/ 0 h 441"/>
                <a:gd name="T10" fmla="*/ 0 60000 65536"/>
                <a:gd name="T11" fmla="*/ 0 60000 65536"/>
                <a:gd name="T12" fmla="*/ 0 60000 65536"/>
                <a:gd name="T13" fmla="*/ 0 60000 65536"/>
                <a:gd name="T14" fmla="*/ 0 60000 65536"/>
                <a:gd name="T15" fmla="*/ 0 w 699"/>
                <a:gd name="T16" fmla="*/ 0 h 441"/>
                <a:gd name="T17" fmla="*/ 699 w 699"/>
                <a:gd name="T18" fmla="*/ 441 h 441"/>
              </a:gdLst>
              <a:ahLst/>
              <a:cxnLst>
                <a:cxn ang="T10">
                  <a:pos x="T0" y="T1"/>
                </a:cxn>
                <a:cxn ang="T11">
                  <a:pos x="T2" y="T3"/>
                </a:cxn>
                <a:cxn ang="T12">
                  <a:pos x="T4" y="T5"/>
                </a:cxn>
                <a:cxn ang="T13">
                  <a:pos x="T6" y="T7"/>
                </a:cxn>
                <a:cxn ang="T14">
                  <a:pos x="T8" y="T9"/>
                </a:cxn>
              </a:cxnLst>
              <a:rect l="T15" t="T16" r="T17" b="T18"/>
              <a:pathLst>
                <a:path w="699" h="441">
                  <a:moveTo>
                    <a:pt x="27" y="0"/>
                  </a:moveTo>
                  <a:lnTo>
                    <a:pt x="0" y="58"/>
                  </a:lnTo>
                  <a:lnTo>
                    <a:pt x="673" y="441"/>
                  </a:lnTo>
                  <a:lnTo>
                    <a:pt x="699" y="383"/>
                  </a:lnTo>
                  <a:lnTo>
                    <a:pt x="27" y="0"/>
                  </a:lnTo>
                  <a:close/>
                </a:path>
              </a:pathLst>
            </a:custGeom>
            <a:solidFill>
              <a:srgbClr val="000000"/>
            </a:solidFill>
            <a:ln w="9525">
              <a:noFill/>
              <a:round/>
              <a:headEnd/>
              <a:tailEnd/>
            </a:ln>
          </p:spPr>
          <p:txBody>
            <a:bodyPr/>
            <a:lstStyle/>
            <a:p>
              <a:endParaRPr lang="en-US"/>
            </a:p>
          </p:txBody>
        </p:sp>
        <p:sp>
          <p:nvSpPr>
            <p:cNvPr id="17702" name="Freeform 502"/>
            <p:cNvSpPr>
              <a:spLocks/>
            </p:cNvSpPr>
            <p:nvPr/>
          </p:nvSpPr>
          <p:spPr bwMode="auto">
            <a:xfrm>
              <a:off x="2934" y="770"/>
              <a:ext cx="1059" cy="264"/>
            </a:xfrm>
            <a:custGeom>
              <a:avLst/>
              <a:gdLst>
                <a:gd name="T0" fmla="*/ 0 w 2119"/>
                <a:gd name="T1" fmla="*/ 2 h 528"/>
                <a:gd name="T2" fmla="*/ 0 w 2119"/>
                <a:gd name="T3" fmla="*/ 2 h 528"/>
                <a:gd name="T4" fmla="*/ 8 w 2119"/>
                <a:gd name="T5" fmla="*/ 1 h 528"/>
                <a:gd name="T6" fmla="*/ 8 w 2119"/>
                <a:gd name="T7" fmla="*/ 0 h 528"/>
                <a:gd name="T8" fmla="*/ 0 w 2119"/>
                <a:gd name="T9" fmla="*/ 2 h 528"/>
                <a:gd name="T10" fmla="*/ 0 60000 65536"/>
                <a:gd name="T11" fmla="*/ 0 60000 65536"/>
                <a:gd name="T12" fmla="*/ 0 60000 65536"/>
                <a:gd name="T13" fmla="*/ 0 60000 65536"/>
                <a:gd name="T14" fmla="*/ 0 60000 65536"/>
                <a:gd name="T15" fmla="*/ 0 w 2119"/>
                <a:gd name="T16" fmla="*/ 0 h 528"/>
                <a:gd name="T17" fmla="*/ 2119 w 2119"/>
                <a:gd name="T18" fmla="*/ 528 h 528"/>
              </a:gdLst>
              <a:ahLst/>
              <a:cxnLst>
                <a:cxn ang="T10">
                  <a:pos x="T0" y="T1"/>
                </a:cxn>
                <a:cxn ang="T11">
                  <a:pos x="T2" y="T3"/>
                </a:cxn>
                <a:cxn ang="T12">
                  <a:pos x="T4" y="T5"/>
                </a:cxn>
                <a:cxn ang="T13">
                  <a:pos x="T6" y="T7"/>
                </a:cxn>
                <a:cxn ang="T14">
                  <a:pos x="T8" y="T9"/>
                </a:cxn>
              </a:cxnLst>
              <a:rect l="T15" t="T16" r="T17" b="T18"/>
              <a:pathLst>
                <a:path w="2119" h="528">
                  <a:moveTo>
                    <a:pt x="0" y="486"/>
                  </a:moveTo>
                  <a:lnTo>
                    <a:pt x="6" y="528"/>
                  </a:lnTo>
                  <a:lnTo>
                    <a:pt x="2119" y="42"/>
                  </a:lnTo>
                  <a:lnTo>
                    <a:pt x="2114" y="0"/>
                  </a:lnTo>
                  <a:lnTo>
                    <a:pt x="0" y="486"/>
                  </a:lnTo>
                  <a:close/>
                </a:path>
              </a:pathLst>
            </a:custGeom>
            <a:solidFill>
              <a:srgbClr val="DEFF73"/>
            </a:solidFill>
            <a:ln w="9525">
              <a:noFill/>
              <a:round/>
              <a:headEnd/>
              <a:tailEnd/>
            </a:ln>
          </p:spPr>
          <p:txBody>
            <a:bodyPr/>
            <a:lstStyle/>
            <a:p>
              <a:endParaRPr lang="en-US"/>
            </a:p>
          </p:txBody>
        </p:sp>
        <p:sp>
          <p:nvSpPr>
            <p:cNvPr id="17703" name="Freeform 503"/>
            <p:cNvSpPr>
              <a:spLocks/>
            </p:cNvSpPr>
            <p:nvPr/>
          </p:nvSpPr>
          <p:spPr bwMode="auto">
            <a:xfrm>
              <a:off x="2256" y="672"/>
              <a:ext cx="1872" cy="384"/>
            </a:xfrm>
            <a:custGeom>
              <a:avLst/>
              <a:gdLst>
                <a:gd name="T0" fmla="*/ 1872 w 1872"/>
                <a:gd name="T1" fmla="*/ 96 h 384"/>
                <a:gd name="T2" fmla="*/ 672 w 1872"/>
                <a:gd name="T3" fmla="*/ 384 h 384"/>
                <a:gd name="T4" fmla="*/ 0 w 1872"/>
                <a:gd name="T5" fmla="*/ 192 h 384"/>
                <a:gd name="T6" fmla="*/ 1392 w 1872"/>
                <a:gd name="T7" fmla="*/ 0 h 384"/>
                <a:gd name="T8" fmla="*/ 1872 w 1872"/>
                <a:gd name="T9" fmla="*/ 96 h 384"/>
                <a:gd name="T10" fmla="*/ 0 60000 65536"/>
                <a:gd name="T11" fmla="*/ 0 60000 65536"/>
                <a:gd name="T12" fmla="*/ 0 60000 65536"/>
                <a:gd name="T13" fmla="*/ 0 60000 65536"/>
                <a:gd name="T14" fmla="*/ 0 60000 65536"/>
                <a:gd name="T15" fmla="*/ 0 w 1872"/>
                <a:gd name="T16" fmla="*/ 0 h 384"/>
                <a:gd name="T17" fmla="*/ 1872 w 1872"/>
                <a:gd name="T18" fmla="*/ 384 h 384"/>
              </a:gdLst>
              <a:ahLst/>
              <a:cxnLst>
                <a:cxn ang="T10">
                  <a:pos x="T0" y="T1"/>
                </a:cxn>
                <a:cxn ang="T11">
                  <a:pos x="T2" y="T3"/>
                </a:cxn>
                <a:cxn ang="T12">
                  <a:pos x="T4" y="T5"/>
                </a:cxn>
                <a:cxn ang="T13">
                  <a:pos x="T6" y="T7"/>
                </a:cxn>
                <a:cxn ang="T14">
                  <a:pos x="T8" y="T9"/>
                </a:cxn>
              </a:cxnLst>
              <a:rect l="T15" t="T16" r="T17" b="T18"/>
              <a:pathLst>
                <a:path w="1872" h="384">
                  <a:moveTo>
                    <a:pt x="1872" y="96"/>
                  </a:moveTo>
                  <a:lnTo>
                    <a:pt x="672" y="384"/>
                  </a:lnTo>
                  <a:lnTo>
                    <a:pt x="0" y="192"/>
                  </a:lnTo>
                  <a:lnTo>
                    <a:pt x="1392" y="0"/>
                  </a:lnTo>
                  <a:lnTo>
                    <a:pt x="1872" y="96"/>
                  </a:lnTo>
                  <a:close/>
                </a:path>
              </a:pathLst>
            </a:custGeom>
            <a:gradFill rotWithShape="0">
              <a:gsLst>
                <a:gs pos="0">
                  <a:srgbClr val="BEE761"/>
                </a:gs>
                <a:gs pos="100000">
                  <a:srgbClr val="44D6FE"/>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432" name="Group 504"/>
          <p:cNvGrpSpPr>
            <a:grpSpLocks/>
          </p:cNvGrpSpPr>
          <p:nvPr/>
        </p:nvGrpSpPr>
        <p:grpSpPr bwMode="auto">
          <a:xfrm rot="-245528">
            <a:off x="6477000" y="6019800"/>
            <a:ext cx="238125" cy="309563"/>
            <a:chOff x="2202" y="666"/>
            <a:chExt cx="2001" cy="2601"/>
          </a:xfrm>
        </p:grpSpPr>
        <p:sp>
          <p:nvSpPr>
            <p:cNvPr id="17650" name="Freeform 505"/>
            <p:cNvSpPr>
              <a:spLocks/>
            </p:cNvSpPr>
            <p:nvPr/>
          </p:nvSpPr>
          <p:spPr bwMode="auto">
            <a:xfrm>
              <a:off x="2236" y="871"/>
              <a:ext cx="692" cy="2345"/>
            </a:xfrm>
            <a:custGeom>
              <a:avLst/>
              <a:gdLst>
                <a:gd name="T0" fmla="*/ 692 w 692"/>
                <a:gd name="T1" fmla="*/ 2345 h 2345"/>
                <a:gd name="T2" fmla="*/ 116 w 692"/>
                <a:gd name="T3" fmla="*/ 2009 h 2345"/>
                <a:gd name="T4" fmla="*/ 116 w 692"/>
                <a:gd name="T5" fmla="*/ 1385 h 2345"/>
                <a:gd name="T6" fmla="*/ 164 w 692"/>
                <a:gd name="T7" fmla="*/ 1193 h 2345"/>
                <a:gd name="T8" fmla="*/ 0 w 692"/>
                <a:gd name="T9" fmla="*/ 0 h 2345"/>
                <a:gd name="T10" fmla="*/ 673 w 692"/>
                <a:gd name="T11" fmla="*/ 222 h 2345"/>
                <a:gd name="T12" fmla="*/ 692 w 692"/>
                <a:gd name="T13" fmla="*/ 2345 h 2345"/>
                <a:gd name="T14" fmla="*/ 0 60000 65536"/>
                <a:gd name="T15" fmla="*/ 0 60000 65536"/>
                <a:gd name="T16" fmla="*/ 0 60000 65536"/>
                <a:gd name="T17" fmla="*/ 0 60000 65536"/>
                <a:gd name="T18" fmla="*/ 0 60000 65536"/>
                <a:gd name="T19" fmla="*/ 0 60000 65536"/>
                <a:gd name="T20" fmla="*/ 0 60000 65536"/>
                <a:gd name="T21" fmla="*/ 0 w 692"/>
                <a:gd name="T22" fmla="*/ 0 h 2345"/>
                <a:gd name="T23" fmla="*/ 692 w 692"/>
                <a:gd name="T24" fmla="*/ 2345 h 23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2" h="2345">
                  <a:moveTo>
                    <a:pt x="692" y="2345"/>
                  </a:moveTo>
                  <a:lnTo>
                    <a:pt x="116" y="2009"/>
                  </a:lnTo>
                  <a:lnTo>
                    <a:pt x="116" y="1385"/>
                  </a:lnTo>
                  <a:lnTo>
                    <a:pt x="164" y="1193"/>
                  </a:lnTo>
                  <a:lnTo>
                    <a:pt x="0" y="0"/>
                  </a:lnTo>
                  <a:lnTo>
                    <a:pt x="673" y="222"/>
                  </a:lnTo>
                  <a:lnTo>
                    <a:pt x="692" y="2345"/>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7651" name="Freeform 506"/>
            <p:cNvSpPr>
              <a:spLocks/>
            </p:cNvSpPr>
            <p:nvPr/>
          </p:nvSpPr>
          <p:spPr bwMode="auto">
            <a:xfrm>
              <a:off x="2928" y="768"/>
              <a:ext cx="1248" cy="2448"/>
            </a:xfrm>
            <a:custGeom>
              <a:avLst/>
              <a:gdLst>
                <a:gd name="T0" fmla="*/ 0 w 1248"/>
                <a:gd name="T1" fmla="*/ 336 h 2448"/>
                <a:gd name="T2" fmla="*/ 0 w 1248"/>
                <a:gd name="T3" fmla="*/ 2448 h 2448"/>
                <a:gd name="T4" fmla="*/ 1200 w 1248"/>
                <a:gd name="T5" fmla="*/ 1968 h 2448"/>
                <a:gd name="T6" fmla="*/ 1008 w 1248"/>
                <a:gd name="T7" fmla="*/ 1008 h 2448"/>
                <a:gd name="T8" fmla="*/ 1248 w 1248"/>
                <a:gd name="T9" fmla="*/ 0 h 2448"/>
                <a:gd name="T10" fmla="*/ 0 w 1248"/>
                <a:gd name="T11" fmla="*/ 336 h 2448"/>
                <a:gd name="T12" fmla="*/ 0 60000 65536"/>
                <a:gd name="T13" fmla="*/ 0 60000 65536"/>
                <a:gd name="T14" fmla="*/ 0 60000 65536"/>
                <a:gd name="T15" fmla="*/ 0 60000 65536"/>
                <a:gd name="T16" fmla="*/ 0 60000 65536"/>
                <a:gd name="T17" fmla="*/ 0 60000 65536"/>
                <a:gd name="T18" fmla="*/ 0 w 1248"/>
                <a:gd name="T19" fmla="*/ 0 h 2448"/>
                <a:gd name="T20" fmla="*/ 1248 w 1248"/>
                <a:gd name="T21" fmla="*/ 2448 h 2448"/>
              </a:gdLst>
              <a:ahLst/>
              <a:cxnLst>
                <a:cxn ang="T12">
                  <a:pos x="T0" y="T1"/>
                </a:cxn>
                <a:cxn ang="T13">
                  <a:pos x="T2" y="T3"/>
                </a:cxn>
                <a:cxn ang="T14">
                  <a:pos x="T4" y="T5"/>
                </a:cxn>
                <a:cxn ang="T15">
                  <a:pos x="T6" y="T7"/>
                </a:cxn>
                <a:cxn ang="T16">
                  <a:pos x="T8" y="T9"/>
                </a:cxn>
                <a:cxn ang="T17">
                  <a:pos x="T10" y="T11"/>
                </a:cxn>
              </a:cxnLst>
              <a:rect l="T18" t="T19" r="T20" b="T21"/>
              <a:pathLst>
                <a:path w="1248" h="2448">
                  <a:moveTo>
                    <a:pt x="0" y="336"/>
                  </a:moveTo>
                  <a:lnTo>
                    <a:pt x="0" y="2448"/>
                  </a:lnTo>
                  <a:lnTo>
                    <a:pt x="1200" y="1968"/>
                  </a:lnTo>
                  <a:lnTo>
                    <a:pt x="1008" y="1008"/>
                  </a:lnTo>
                  <a:lnTo>
                    <a:pt x="1248" y="0"/>
                  </a:lnTo>
                  <a:lnTo>
                    <a:pt x="0" y="336"/>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7652" name="Freeform 507"/>
            <p:cNvSpPr>
              <a:spLocks/>
            </p:cNvSpPr>
            <p:nvPr/>
          </p:nvSpPr>
          <p:spPr bwMode="auto">
            <a:xfrm>
              <a:off x="2326" y="2051"/>
              <a:ext cx="603" cy="1216"/>
            </a:xfrm>
            <a:custGeom>
              <a:avLst/>
              <a:gdLst>
                <a:gd name="T0" fmla="*/ 1 w 1204"/>
                <a:gd name="T1" fmla="*/ 1 h 2432"/>
                <a:gd name="T2" fmla="*/ 1 w 1204"/>
                <a:gd name="T3" fmla="*/ 0 h 2432"/>
                <a:gd name="T4" fmla="*/ 0 w 1204"/>
                <a:gd name="T5" fmla="*/ 7 h 2432"/>
                <a:gd name="T6" fmla="*/ 5 w 1204"/>
                <a:gd name="T7" fmla="*/ 10 h 2432"/>
                <a:gd name="T8" fmla="*/ 5 w 1204"/>
                <a:gd name="T9" fmla="*/ 9 h 2432"/>
                <a:gd name="T10" fmla="*/ 5 w 1204"/>
                <a:gd name="T11" fmla="*/ 9 h 2432"/>
                <a:gd name="T12" fmla="*/ 5 w 1204"/>
                <a:gd name="T13" fmla="*/ 10 h 2432"/>
                <a:gd name="T14" fmla="*/ 1 w 1204"/>
                <a:gd name="T15" fmla="*/ 6 h 2432"/>
                <a:gd name="T16" fmla="*/ 1 w 1204"/>
                <a:gd name="T17" fmla="*/ 1 h 2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04"/>
                <a:gd name="T28" fmla="*/ 0 h 2432"/>
                <a:gd name="T29" fmla="*/ 1204 w 1204"/>
                <a:gd name="T30" fmla="*/ 2432 h 24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04" h="2432">
                  <a:moveTo>
                    <a:pt x="162" y="3"/>
                  </a:moveTo>
                  <a:lnTo>
                    <a:pt x="104" y="0"/>
                  </a:lnTo>
                  <a:lnTo>
                    <a:pt x="0" y="1669"/>
                  </a:lnTo>
                  <a:lnTo>
                    <a:pt x="1193" y="2432"/>
                  </a:lnTo>
                  <a:lnTo>
                    <a:pt x="1204" y="2292"/>
                  </a:lnTo>
                  <a:lnTo>
                    <a:pt x="1146" y="2286"/>
                  </a:lnTo>
                  <a:lnTo>
                    <a:pt x="1143" y="2328"/>
                  </a:lnTo>
                  <a:lnTo>
                    <a:pt x="58" y="1633"/>
                  </a:lnTo>
                  <a:lnTo>
                    <a:pt x="162" y="3"/>
                  </a:lnTo>
                  <a:close/>
                </a:path>
              </a:pathLst>
            </a:custGeom>
            <a:solidFill>
              <a:srgbClr val="000000"/>
            </a:solidFill>
            <a:ln w="9525">
              <a:noFill/>
              <a:round/>
              <a:headEnd/>
              <a:tailEnd/>
            </a:ln>
          </p:spPr>
          <p:txBody>
            <a:bodyPr/>
            <a:lstStyle/>
            <a:p>
              <a:endParaRPr lang="en-US"/>
            </a:p>
          </p:txBody>
        </p:sp>
        <p:sp>
          <p:nvSpPr>
            <p:cNvPr id="17653" name="Freeform 508"/>
            <p:cNvSpPr>
              <a:spLocks/>
            </p:cNvSpPr>
            <p:nvPr/>
          </p:nvSpPr>
          <p:spPr bwMode="auto">
            <a:xfrm>
              <a:off x="2202" y="858"/>
              <a:ext cx="206" cy="1196"/>
            </a:xfrm>
            <a:custGeom>
              <a:avLst/>
              <a:gdLst>
                <a:gd name="T0" fmla="*/ 0 w 410"/>
                <a:gd name="T1" fmla="*/ 0 h 2391"/>
                <a:gd name="T2" fmla="*/ 2 w 410"/>
                <a:gd name="T3" fmla="*/ 10 h 2391"/>
                <a:gd name="T4" fmla="*/ 2 w 410"/>
                <a:gd name="T5" fmla="*/ 10 h 2391"/>
                <a:gd name="T6" fmla="*/ 2 w 410"/>
                <a:gd name="T7" fmla="*/ 10 h 2391"/>
                <a:gd name="T8" fmla="*/ 1 w 410"/>
                <a:gd name="T9" fmla="*/ 1 h 2391"/>
                <a:gd name="T10" fmla="*/ 0 w 410"/>
                <a:gd name="T11" fmla="*/ 0 h 2391"/>
                <a:gd name="T12" fmla="*/ 0 60000 65536"/>
                <a:gd name="T13" fmla="*/ 0 60000 65536"/>
                <a:gd name="T14" fmla="*/ 0 60000 65536"/>
                <a:gd name="T15" fmla="*/ 0 60000 65536"/>
                <a:gd name="T16" fmla="*/ 0 60000 65536"/>
                <a:gd name="T17" fmla="*/ 0 60000 65536"/>
                <a:gd name="T18" fmla="*/ 0 w 410"/>
                <a:gd name="T19" fmla="*/ 0 h 2391"/>
                <a:gd name="T20" fmla="*/ 410 w 410"/>
                <a:gd name="T21" fmla="*/ 2391 h 2391"/>
              </a:gdLst>
              <a:ahLst/>
              <a:cxnLst>
                <a:cxn ang="T12">
                  <a:pos x="T0" y="T1"/>
                </a:cxn>
                <a:cxn ang="T13">
                  <a:pos x="T2" y="T3"/>
                </a:cxn>
                <a:cxn ang="T14">
                  <a:pos x="T4" y="T5"/>
                </a:cxn>
                <a:cxn ang="T15">
                  <a:pos x="T6" y="T7"/>
                </a:cxn>
                <a:cxn ang="T16">
                  <a:pos x="T8" y="T9"/>
                </a:cxn>
                <a:cxn ang="T17">
                  <a:pos x="T10" y="T11"/>
                </a:cxn>
              </a:cxnLst>
              <a:rect l="T18" t="T19" r="T20" b="T21"/>
              <a:pathLst>
                <a:path w="410" h="2391">
                  <a:moveTo>
                    <a:pt x="0" y="0"/>
                  </a:moveTo>
                  <a:lnTo>
                    <a:pt x="352" y="2391"/>
                  </a:lnTo>
                  <a:lnTo>
                    <a:pt x="410" y="2389"/>
                  </a:lnTo>
                  <a:lnTo>
                    <a:pt x="410" y="2385"/>
                  </a:lnTo>
                  <a:lnTo>
                    <a:pt x="69" y="81"/>
                  </a:lnTo>
                  <a:lnTo>
                    <a:pt x="0" y="0"/>
                  </a:lnTo>
                  <a:close/>
                </a:path>
              </a:pathLst>
            </a:custGeom>
            <a:solidFill>
              <a:srgbClr val="000000"/>
            </a:solidFill>
            <a:ln w="9525">
              <a:noFill/>
              <a:round/>
              <a:headEnd/>
              <a:tailEnd/>
            </a:ln>
          </p:spPr>
          <p:txBody>
            <a:bodyPr/>
            <a:lstStyle/>
            <a:p>
              <a:endParaRPr lang="en-US"/>
            </a:p>
          </p:txBody>
        </p:sp>
        <p:sp>
          <p:nvSpPr>
            <p:cNvPr id="17654" name="Freeform 509"/>
            <p:cNvSpPr>
              <a:spLocks/>
            </p:cNvSpPr>
            <p:nvPr/>
          </p:nvSpPr>
          <p:spPr bwMode="auto">
            <a:xfrm>
              <a:off x="2916" y="751"/>
              <a:ext cx="1287" cy="2503"/>
            </a:xfrm>
            <a:custGeom>
              <a:avLst/>
              <a:gdLst>
                <a:gd name="T0" fmla="*/ 1 w 2574"/>
                <a:gd name="T1" fmla="*/ 20 h 5006"/>
                <a:gd name="T2" fmla="*/ 1 w 2574"/>
                <a:gd name="T3" fmla="*/ 20 h 5006"/>
                <a:gd name="T4" fmla="*/ 10 w 2574"/>
                <a:gd name="T5" fmla="*/ 16 h 5006"/>
                <a:gd name="T6" fmla="*/ 9 w 2574"/>
                <a:gd name="T7" fmla="*/ 9 h 5006"/>
                <a:gd name="T8" fmla="*/ 10 w 2574"/>
                <a:gd name="T9" fmla="*/ 0 h 5006"/>
                <a:gd name="T10" fmla="*/ 0 w 2574"/>
                <a:gd name="T11" fmla="*/ 3 h 5006"/>
                <a:gd name="T12" fmla="*/ 1 w 2574"/>
                <a:gd name="T13" fmla="*/ 3 h 5006"/>
                <a:gd name="T14" fmla="*/ 10 w 2574"/>
                <a:gd name="T15" fmla="*/ 1 h 5006"/>
                <a:gd name="T16" fmla="*/ 8 w 2574"/>
                <a:gd name="T17" fmla="*/ 9 h 5006"/>
                <a:gd name="T18" fmla="*/ 10 w 2574"/>
                <a:gd name="T19" fmla="*/ 16 h 5006"/>
                <a:gd name="T20" fmla="*/ 1 w 2574"/>
                <a:gd name="T21" fmla="*/ 20 h 50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74"/>
                <a:gd name="T34" fmla="*/ 0 h 5006"/>
                <a:gd name="T35" fmla="*/ 2574 w 2574"/>
                <a:gd name="T36" fmla="*/ 5006 h 50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74" h="5006">
                  <a:moveTo>
                    <a:pt x="18" y="4944"/>
                  </a:moveTo>
                  <a:lnTo>
                    <a:pt x="36" y="5006"/>
                  </a:lnTo>
                  <a:lnTo>
                    <a:pt x="2394" y="4015"/>
                  </a:lnTo>
                  <a:lnTo>
                    <a:pt x="2098" y="2069"/>
                  </a:lnTo>
                  <a:lnTo>
                    <a:pt x="2574" y="0"/>
                  </a:lnTo>
                  <a:lnTo>
                    <a:pt x="0" y="620"/>
                  </a:lnTo>
                  <a:lnTo>
                    <a:pt x="56" y="675"/>
                  </a:lnTo>
                  <a:lnTo>
                    <a:pt x="2498" y="85"/>
                  </a:lnTo>
                  <a:lnTo>
                    <a:pt x="2040" y="2075"/>
                  </a:lnTo>
                  <a:lnTo>
                    <a:pt x="2330" y="3973"/>
                  </a:lnTo>
                  <a:lnTo>
                    <a:pt x="18" y="4944"/>
                  </a:lnTo>
                  <a:close/>
                </a:path>
              </a:pathLst>
            </a:custGeom>
            <a:solidFill>
              <a:srgbClr val="000000"/>
            </a:solidFill>
            <a:ln w="9525">
              <a:noFill/>
              <a:round/>
              <a:headEnd/>
              <a:tailEnd/>
            </a:ln>
          </p:spPr>
          <p:txBody>
            <a:bodyPr/>
            <a:lstStyle/>
            <a:p>
              <a:endParaRPr lang="en-US"/>
            </a:p>
          </p:txBody>
        </p:sp>
        <p:sp>
          <p:nvSpPr>
            <p:cNvPr id="17655" name="Freeform 510"/>
            <p:cNvSpPr>
              <a:spLocks/>
            </p:cNvSpPr>
            <p:nvPr/>
          </p:nvSpPr>
          <p:spPr bwMode="auto">
            <a:xfrm>
              <a:off x="2916" y="1061"/>
              <a:ext cx="29" cy="2200"/>
            </a:xfrm>
            <a:custGeom>
              <a:avLst/>
              <a:gdLst>
                <a:gd name="T0" fmla="*/ 1 w 58"/>
                <a:gd name="T1" fmla="*/ 0 h 4401"/>
                <a:gd name="T2" fmla="*/ 0 w 58"/>
                <a:gd name="T3" fmla="*/ 17 h 4401"/>
                <a:gd name="T4" fmla="*/ 1 w 58"/>
                <a:gd name="T5" fmla="*/ 17 h 4401"/>
                <a:gd name="T6" fmla="*/ 1 w 58"/>
                <a:gd name="T7" fmla="*/ 16 h 4401"/>
                <a:gd name="T8" fmla="*/ 1 w 58"/>
                <a:gd name="T9" fmla="*/ 0 h 4401"/>
                <a:gd name="T10" fmla="*/ 1 w 58"/>
                <a:gd name="T11" fmla="*/ 0 h 4401"/>
                <a:gd name="T12" fmla="*/ 0 60000 65536"/>
                <a:gd name="T13" fmla="*/ 0 60000 65536"/>
                <a:gd name="T14" fmla="*/ 0 60000 65536"/>
                <a:gd name="T15" fmla="*/ 0 60000 65536"/>
                <a:gd name="T16" fmla="*/ 0 60000 65536"/>
                <a:gd name="T17" fmla="*/ 0 60000 65536"/>
                <a:gd name="T18" fmla="*/ 0 w 58"/>
                <a:gd name="T19" fmla="*/ 0 h 4401"/>
                <a:gd name="T20" fmla="*/ 58 w 58"/>
                <a:gd name="T21" fmla="*/ 4401 h 4401"/>
              </a:gdLst>
              <a:ahLst/>
              <a:cxnLst>
                <a:cxn ang="T12">
                  <a:pos x="T0" y="T1"/>
                </a:cxn>
                <a:cxn ang="T13">
                  <a:pos x="T2" y="T3"/>
                </a:cxn>
                <a:cxn ang="T14">
                  <a:pos x="T4" y="T5"/>
                </a:cxn>
                <a:cxn ang="T15">
                  <a:pos x="T6" y="T7"/>
                </a:cxn>
                <a:cxn ang="T16">
                  <a:pos x="T8" y="T9"/>
                </a:cxn>
                <a:cxn ang="T17">
                  <a:pos x="T10" y="T11"/>
                </a:cxn>
              </a:cxnLst>
              <a:rect l="T18" t="T19" r="T20" b="T21"/>
              <a:pathLst>
                <a:path w="58" h="4401">
                  <a:moveTo>
                    <a:pt x="2" y="0"/>
                  </a:moveTo>
                  <a:lnTo>
                    <a:pt x="0" y="4401"/>
                  </a:lnTo>
                  <a:lnTo>
                    <a:pt x="38" y="4386"/>
                  </a:lnTo>
                  <a:lnTo>
                    <a:pt x="58" y="4310"/>
                  </a:lnTo>
                  <a:lnTo>
                    <a:pt x="58" y="55"/>
                  </a:lnTo>
                  <a:lnTo>
                    <a:pt x="2" y="0"/>
                  </a:lnTo>
                  <a:close/>
                </a:path>
              </a:pathLst>
            </a:custGeom>
            <a:solidFill>
              <a:srgbClr val="000000"/>
            </a:solidFill>
            <a:ln w="9525">
              <a:noFill/>
              <a:round/>
              <a:headEnd/>
              <a:tailEnd/>
            </a:ln>
          </p:spPr>
          <p:txBody>
            <a:bodyPr/>
            <a:lstStyle/>
            <a:p>
              <a:endParaRPr lang="en-US"/>
            </a:p>
          </p:txBody>
        </p:sp>
        <p:sp>
          <p:nvSpPr>
            <p:cNvPr id="17656" name="Freeform 511"/>
            <p:cNvSpPr>
              <a:spLocks/>
            </p:cNvSpPr>
            <p:nvPr/>
          </p:nvSpPr>
          <p:spPr bwMode="auto">
            <a:xfrm>
              <a:off x="2205" y="666"/>
              <a:ext cx="1982" cy="425"/>
            </a:xfrm>
            <a:custGeom>
              <a:avLst/>
              <a:gdLst>
                <a:gd name="T0" fmla="*/ 0 w 3964"/>
                <a:gd name="T1" fmla="*/ 1 h 851"/>
                <a:gd name="T2" fmla="*/ 1 w 3964"/>
                <a:gd name="T3" fmla="*/ 1 h 851"/>
                <a:gd name="T4" fmla="*/ 12 w 3964"/>
                <a:gd name="T5" fmla="*/ 0 h 851"/>
                <a:gd name="T6" fmla="*/ 15 w 3964"/>
                <a:gd name="T7" fmla="*/ 0 h 851"/>
                <a:gd name="T8" fmla="*/ 6 w 3964"/>
                <a:gd name="T9" fmla="*/ 3 h 851"/>
                <a:gd name="T10" fmla="*/ 6 w 3964"/>
                <a:gd name="T11" fmla="*/ 3 h 851"/>
                <a:gd name="T12" fmla="*/ 16 w 3964"/>
                <a:gd name="T13" fmla="*/ 0 h 851"/>
                <a:gd name="T14" fmla="*/ 16 w 3964"/>
                <a:gd name="T15" fmla="*/ 0 h 851"/>
                <a:gd name="T16" fmla="*/ 12 w 3964"/>
                <a:gd name="T17" fmla="*/ 0 h 851"/>
                <a:gd name="T18" fmla="*/ 0 w 3964"/>
                <a:gd name="T19" fmla="*/ 1 h 8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64"/>
                <a:gd name="T31" fmla="*/ 0 h 851"/>
                <a:gd name="T32" fmla="*/ 3964 w 3964"/>
                <a:gd name="T33" fmla="*/ 851 h 8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64" h="851">
                  <a:moveTo>
                    <a:pt x="0" y="378"/>
                  </a:moveTo>
                  <a:lnTo>
                    <a:pt x="5" y="444"/>
                  </a:lnTo>
                  <a:lnTo>
                    <a:pt x="2899" y="65"/>
                  </a:lnTo>
                  <a:lnTo>
                    <a:pt x="3796" y="220"/>
                  </a:lnTo>
                  <a:lnTo>
                    <a:pt x="1446" y="786"/>
                  </a:lnTo>
                  <a:lnTo>
                    <a:pt x="1452" y="851"/>
                  </a:lnTo>
                  <a:lnTo>
                    <a:pt x="3964" y="246"/>
                  </a:lnTo>
                  <a:lnTo>
                    <a:pt x="3961" y="181"/>
                  </a:lnTo>
                  <a:lnTo>
                    <a:pt x="2899" y="0"/>
                  </a:lnTo>
                  <a:lnTo>
                    <a:pt x="0" y="378"/>
                  </a:lnTo>
                  <a:close/>
                </a:path>
              </a:pathLst>
            </a:custGeom>
            <a:solidFill>
              <a:srgbClr val="000000"/>
            </a:solidFill>
            <a:ln w="9525">
              <a:noFill/>
              <a:round/>
              <a:headEnd/>
              <a:tailEnd/>
            </a:ln>
          </p:spPr>
          <p:txBody>
            <a:bodyPr/>
            <a:lstStyle/>
            <a:p>
              <a:endParaRPr lang="en-US"/>
            </a:p>
          </p:txBody>
        </p:sp>
        <p:sp>
          <p:nvSpPr>
            <p:cNvPr id="17657" name="Freeform 512"/>
            <p:cNvSpPr>
              <a:spLocks/>
            </p:cNvSpPr>
            <p:nvPr/>
          </p:nvSpPr>
          <p:spPr bwMode="auto">
            <a:xfrm>
              <a:off x="2204" y="855"/>
              <a:ext cx="727" cy="236"/>
            </a:xfrm>
            <a:custGeom>
              <a:avLst/>
              <a:gdLst>
                <a:gd name="T0" fmla="*/ 5 w 1455"/>
                <a:gd name="T1" fmla="*/ 1 h 473"/>
                <a:gd name="T2" fmla="*/ 0 w 1455"/>
                <a:gd name="T3" fmla="*/ 0 h 473"/>
                <a:gd name="T4" fmla="*/ 0 w 1455"/>
                <a:gd name="T5" fmla="*/ 0 h 473"/>
                <a:gd name="T6" fmla="*/ 0 w 1455"/>
                <a:gd name="T7" fmla="*/ 0 h 473"/>
                <a:gd name="T8" fmla="*/ 5 w 1455"/>
                <a:gd name="T9" fmla="*/ 1 h 473"/>
                <a:gd name="T10" fmla="*/ 5 w 1455"/>
                <a:gd name="T11" fmla="*/ 1 h 473"/>
                <a:gd name="T12" fmla="*/ 0 60000 65536"/>
                <a:gd name="T13" fmla="*/ 0 60000 65536"/>
                <a:gd name="T14" fmla="*/ 0 60000 65536"/>
                <a:gd name="T15" fmla="*/ 0 60000 65536"/>
                <a:gd name="T16" fmla="*/ 0 60000 65536"/>
                <a:gd name="T17" fmla="*/ 0 60000 65536"/>
                <a:gd name="T18" fmla="*/ 0 w 1455"/>
                <a:gd name="T19" fmla="*/ 0 h 473"/>
                <a:gd name="T20" fmla="*/ 1455 w 1455"/>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455" h="473">
                  <a:moveTo>
                    <a:pt x="1449" y="408"/>
                  </a:moveTo>
                  <a:lnTo>
                    <a:pt x="164" y="44"/>
                  </a:lnTo>
                  <a:lnTo>
                    <a:pt x="3" y="0"/>
                  </a:lnTo>
                  <a:lnTo>
                    <a:pt x="0" y="64"/>
                  </a:lnTo>
                  <a:lnTo>
                    <a:pt x="1455" y="473"/>
                  </a:lnTo>
                  <a:lnTo>
                    <a:pt x="1449" y="408"/>
                  </a:lnTo>
                  <a:close/>
                </a:path>
              </a:pathLst>
            </a:custGeom>
            <a:solidFill>
              <a:srgbClr val="000000"/>
            </a:solidFill>
            <a:ln w="9525">
              <a:noFill/>
              <a:round/>
              <a:headEnd/>
              <a:tailEnd/>
            </a:ln>
          </p:spPr>
          <p:txBody>
            <a:bodyPr/>
            <a:lstStyle/>
            <a:p>
              <a:endParaRPr lang="en-US"/>
            </a:p>
          </p:txBody>
        </p:sp>
        <p:sp>
          <p:nvSpPr>
            <p:cNvPr id="17658" name="Freeform 513"/>
            <p:cNvSpPr>
              <a:spLocks/>
            </p:cNvSpPr>
            <p:nvPr/>
          </p:nvSpPr>
          <p:spPr bwMode="auto">
            <a:xfrm>
              <a:off x="2300" y="1199"/>
              <a:ext cx="1779" cy="324"/>
            </a:xfrm>
            <a:custGeom>
              <a:avLst/>
              <a:gdLst>
                <a:gd name="T0" fmla="*/ 1 w 3556"/>
                <a:gd name="T1" fmla="*/ 1 h 647"/>
                <a:gd name="T2" fmla="*/ 0 w 3556"/>
                <a:gd name="T3" fmla="*/ 1 h 647"/>
                <a:gd name="T4" fmla="*/ 5 w 3556"/>
                <a:gd name="T5" fmla="*/ 3 h 647"/>
                <a:gd name="T6" fmla="*/ 14 w 3556"/>
                <a:gd name="T7" fmla="*/ 1 h 647"/>
                <a:gd name="T8" fmla="*/ 14 w 3556"/>
                <a:gd name="T9" fmla="*/ 0 h 647"/>
                <a:gd name="T10" fmla="*/ 5 w 3556"/>
                <a:gd name="T11" fmla="*/ 3 h 647"/>
                <a:gd name="T12" fmla="*/ 1 w 3556"/>
                <a:gd name="T13" fmla="*/ 1 h 647"/>
                <a:gd name="T14" fmla="*/ 0 60000 65536"/>
                <a:gd name="T15" fmla="*/ 0 60000 65536"/>
                <a:gd name="T16" fmla="*/ 0 60000 65536"/>
                <a:gd name="T17" fmla="*/ 0 60000 65536"/>
                <a:gd name="T18" fmla="*/ 0 60000 65536"/>
                <a:gd name="T19" fmla="*/ 0 60000 65536"/>
                <a:gd name="T20" fmla="*/ 0 60000 65536"/>
                <a:gd name="T21" fmla="*/ 0 w 3556"/>
                <a:gd name="T22" fmla="*/ 0 h 647"/>
                <a:gd name="T23" fmla="*/ 3556 w 3556"/>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6" h="647">
                  <a:moveTo>
                    <a:pt x="8" y="184"/>
                  </a:moveTo>
                  <a:lnTo>
                    <a:pt x="0" y="223"/>
                  </a:lnTo>
                  <a:lnTo>
                    <a:pt x="1247" y="647"/>
                  </a:lnTo>
                  <a:lnTo>
                    <a:pt x="3556" y="42"/>
                  </a:lnTo>
                  <a:lnTo>
                    <a:pt x="3551" y="0"/>
                  </a:lnTo>
                  <a:lnTo>
                    <a:pt x="1245" y="605"/>
                  </a:lnTo>
                  <a:lnTo>
                    <a:pt x="8" y="184"/>
                  </a:lnTo>
                  <a:close/>
                </a:path>
              </a:pathLst>
            </a:custGeom>
            <a:solidFill>
              <a:srgbClr val="000000"/>
            </a:solidFill>
            <a:ln w="9525">
              <a:noFill/>
              <a:round/>
              <a:headEnd/>
              <a:tailEnd/>
            </a:ln>
          </p:spPr>
          <p:txBody>
            <a:bodyPr/>
            <a:lstStyle/>
            <a:p>
              <a:endParaRPr lang="en-US"/>
            </a:p>
          </p:txBody>
        </p:sp>
        <p:sp>
          <p:nvSpPr>
            <p:cNvPr id="17659" name="Freeform 514"/>
            <p:cNvSpPr>
              <a:spLocks/>
            </p:cNvSpPr>
            <p:nvPr/>
          </p:nvSpPr>
          <p:spPr bwMode="auto">
            <a:xfrm>
              <a:off x="2334" y="1477"/>
              <a:ext cx="1690" cy="355"/>
            </a:xfrm>
            <a:custGeom>
              <a:avLst/>
              <a:gdLst>
                <a:gd name="T0" fmla="*/ 1 w 3380"/>
                <a:gd name="T1" fmla="*/ 1 h 709"/>
                <a:gd name="T2" fmla="*/ 0 w 3380"/>
                <a:gd name="T3" fmla="*/ 2 h 709"/>
                <a:gd name="T4" fmla="*/ 5 w 3380"/>
                <a:gd name="T5" fmla="*/ 3 h 709"/>
                <a:gd name="T6" fmla="*/ 13 w 3380"/>
                <a:gd name="T7" fmla="*/ 1 h 709"/>
                <a:gd name="T8" fmla="*/ 13 w 3380"/>
                <a:gd name="T9" fmla="*/ 0 h 709"/>
                <a:gd name="T10" fmla="*/ 5 w 3380"/>
                <a:gd name="T11" fmla="*/ 3 h 709"/>
                <a:gd name="T12" fmla="*/ 1 w 3380"/>
                <a:gd name="T13" fmla="*/ 1 h 709"/>
                <a:gd name="T14" fmla="*/ 0 60000 65536"/>
                <a:gd name="T15" fmla="*/ 0 60000 65536"/>
                <a:gd name="T16" fmla="*/ 0 60000 65536"/>
                <a:gd name="T17" fmla="*/ 0 60000 65536"/>
                <a:gd name="T18" fmla="*/ 0 60000 65536"/>
                <a:gd name="T19" fmla="*/ 0 60000 65536"/>
                <a:gd name="T20" fmla="*/ 0 60000 65536"/>
                <a:gd name="T21" fmla="*/ 0 w 3380"/>
                <a:gd name="T22" fmla="*/ 0 h 709"/>
                <a:gd name="T23" fmla="*/ 3380 w 3380"/>
                <a:gd name="T24" fmla="*/ 709 h 7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80" h="709">
                  <a:moveTo>
                    <a:pt x="11" y="228"/>
                  </a:moveTo>
                  <a:lnTo>
                    <a:pt x="0" y="267"/>
                  </a:lnTo>
                  <a:lnTo>
                    <a:pt x="1182" y="709"/>
                  </a:lnTo>
                  <a:lnTo>
                    <a:pt x="3380" y="42"/>
                  </a:lnTo>
                  <a:lnTo>
                    <a:pt x="3371" y="0"/>
                  </a:lnTo>
                  <a:lnTo>
                    <a:pt x="1182" y="666"/>
                  </a:lnTo>
                  <a:lnTo>
                    <a:pt x="11" y="228"/>
                  </a:lnTo>
                  <a:close/>
                </a:path>
              </a:pathLst>
            </a:custGeom>
            <a:solidFill>
              <a:srgbClr val="000000"/>
            </a:solidFill>
            <a:ln w="9525">
              <a:noFill/>
              <a:round/>
              <a:headEnd/>
              <a:tailEnd/>
            </a:ln>
          </p:spPr>
          <p:txBody>
            <a:bodyPr/>
            <a:lstStyle/>
            <a:p>
              <a:endParaRPr lang="en-US"/>
            </a:p>
          </p:txBody>
        </p:sp>
        <p:sp>
          <p:nvSpPr>
            <p:cNvPr id="17660" name="Freeform 515"/>
            <p:cNvSpPr>
              <a:spLocks/>
            </p:cNvSpPr>
            <p:nvPr/>
          </p:nvSpPr>
          <p:spPr bwMode="auto">
            <a:xfrm>
              <a:off x="2389" y="2201"/>
              <a:ext cx="1620" cy="363"/>
            </a:xfrm>
            <a:custGeom>
              <a:avLst/>
              <a:gdLst>
                <a:gd name="T0" fmla="*/ 1 w 3239"/>
                <a:gd name="T1" fmla="*/ 1 h 725"/>
                <a:gd name="T2" fmla="*/ 0 w 3239"/>
                <a:gd name="T3" fmla="*/ 1 h 725"/>
                <a:gd name="T4" fmla="*/ 5 w 3239"/>
                <a:gd name="T5" fmla="*/ 3 h 725"/>
                <a:gd name="T6" fmla="*/ 13 w 3239"/>
                <a:gd name="T7" fmla="*/ 1 h 725"/>
                <a:gd name="T8" fmla="*/ 13 w 3239"/>
                <a:gd name="T9" fmla="*/ 0 h 725"/>
                <a:gd name="T10" fmla="*/ 5 w 3239"/>
                <a:gd name="T11" fmla="*/ 3 h 725"/>
                <a:gd name="T12" fmla="*/ 1 w 3239"/>
                <a:gd name="T13" fmla="*/ 1 h 725"/>
                <a:gd name="T14" fmla="*/ 0 60000 65536"/>
                <a:gd name="T15" fmla="*/ 0 60000 65536"/>
                <a:gd name="T16" fmla="*/ 0 60000 65536"/>
                <a:gd name="T17" fmla="*/ 0 60000 65536"/>
                <a:gd name="T18" fmla="*/ 0 60000 65536"/>
                <a:gd name="T19" fmla="*/ 0 60000 65536"/>
                <a:gd name="T20" fmla="*/ 0 60000 65536"/>
                <a:gd name="T21" fmla="*/ 0 w 3239"/>
                <a:gd name="T22" fmla="*/ 0 h 725"/>
                <a:gd name="T23" fmla="*/ 3239 w 3239"/>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5">
                  <a:moveTo>
                    <a:pt x="14" y="113"/>
                  </a:moveTo>
                  <a:lnTo>
                    <a:pt x="0" y="152"/>
                  </a:lnTo>
                  <a:lnTo>
                    <a:pt x="1075" y="725"/>
                  </a:lnTo>
                  <a:lnTo>
                    <a:pt x="3239" y="39"/>
                  </a:lnTo>
                  <a:lnTo>
                    <a:pt x="3231" y="0"/>
                  </a:lnTo>
                  <a:lnTo>
                    <a:pt x="1084" y="683"/>
                  </a:lnTo>
                  <a:lnTo>
                    <a:pt x="14" y="113"/>
                  </a:lnTo>
                  <a:close/>
                </a:path>
              </a:pathLst>
            </a:custGeom>
            <a:solidFill>
              <a:srgbClr val="000000"/>
            </a:solidFill>
            <a:ln w="9525">
              <a:noFill/>
              <a:round/>
              <a:headEnd/>
              <a:tailEnd/>
            </a:ln>
          </p:spPr>
          <p:txBody>
            <a:bodyPr/>
            <a:lstStyle/>
            <a:p>
              <a:endParaRPr lang="en-US"/>
            </a:p>
          </p:txBody>
        </p:sp>
        <p:sp>
          <p:nvSpPr>
            <p:cNvPr id="17661" name="Freeform 516"/>
            <p:cNvSpPr>
              <a:spLocks/>
            </p:cNvSpPr>
            <p:nvPr/>
          </p:nvSpPr>
          <p:spPr bwMode="auto">
            <a:xfrm>
              <a:off x="2297" y="1174"/>
              <a:ext cx="1779" cy="324"/>
            </a:xfrm>
            <a:custGeom>
              <a:avLst/>
              <a:gdLst>
                <a:gd name="T0" fmla="*/ 0 w 3559"/>
                <a:gd name="T1" fmla="*/ 1 h 647"/>
                <a:gd name="T2" fmla="*/ 0 w 3559"/>
                <a:gd name="T3" fmla="*/ 1 h 647"/>
                <a:gd name="T4" fmla="*/ 4 w 3559"/>
                <a:gd name="T5" fmla="*/ 3 h 647"/>
                <a:gd name="T6" fmla="*/ 13 w 3559"/>
                <a:gd name="T7" fmla="*/ 1 h 647"/>
                <a:gd name="T8" fmla="*/ 13 w 3559"/>
                <a:gd name="T9" fmla="*/ 0 h 647"/>
                <a:gd name="T10" fmla="*/ 4 w 3559"/>
                <a:gd name="T11" fmla="*/ 3 h 647"/>
                <a:gd name="T12" fmla="*/ 0 w 3559"/>
                <a:gd name="T13" fmla="*/ 1 h 647"/>
                <a:gd name="T14" fmla="*/ 0 60000 65536"/>
                <a:gd name="T15" fmla="*/ 0 60000 65536"/>
                <a:gd name="T16" fmla="*/ 0 60000 65536"/>
                <a:gd name="T17" fmla="*/ 0 60000 65536"/>
                <a:gd name="T18" fmla="*/ 0 60000 65536"/>
                <a:gd name="T19" fmla="*/ 0 60000 65536"/>
                <a:gd name="T20" fmla="*/ 0 60000 65536"/>
                <a:gd name="T21" fmla="*/ 0 w 3559"/>
                <a:gd name="T22" fmla="*/ 0 h 647"/>
                <a:gd name="T23" fmla="*/ 3559 w 3559"/>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9" h="647">
                  <a:moveTo>
                    <a:pt x="9" y="183"/>
                  </a:moveTo>
                  <a:lnTo>
                    <a:pt x="0" y="222"/>
                  </a:lnTo>
                  <a:lnTo>
                    <a:pt x="1250" y="647"/>
                  </a:lnTo>
                  <a:lnTo>
                    <a:pt x="3559" y="43"/>
                  </a:lnTo>
                  <a:lnTo>
                    <a:pt x="3553" y="0"/>
                  </a:lnTo>
                  <a:lnTo>
                    <a:pt x="1247" y="605"/>
                  </a:lnTo>
                  <a:lnTo>
                    <a:pt x="9" y="183"/>
                  </a:lnTo>
                  <a:close/>
                </a:path>
              </a:pathLst>
            </a:custGeom>
            <a:solidFill>
              <a:srgbClr val="DEFF73"/>
            </a:solidFill>
            <a:ln w="9525">
              <a:noFill/>
              <a:round/>
              <a:headEnd/>
              <a:tailEnd/>
            </a:ln>
          </p:spPr>
          <p:txBody>
            <a:bodyPr/>
            <a:lstStyle/>
            <a:p>
              <a:endParaRPr lang="en-US"/>
            </a:p>
          </p:txBody>
        </p:sp>
        <p:sp>
          <p:nvSpPr>
            <p:cNvPr id="17662" name="Freeform 517"/>
            <p:cNvSpPr>
              <a:spLocks/>
            </p:cNvSpPr>
            <p:nvPr/>
          </p:nvSpPr>
          <p:spPr bwMode="auto">
            <a:xfrm>
              <a:off x="2331" y="1451"/>
              <a:ext cx="1690" cy="355"/>
            </a:xfrm>
            <a:custGeom>
              <a:avLst/>
              <a:gdLst>
                <a:gd name="T0" fmla="*/ 1 w 3379"/>
                <a:gd name="T1" fmla="*/ 1 h 710"/>
                <a:gd name="T2" fmla="*/ 0 w 3379"/>
                <a:gd name="T3" fmla="*/ 2 h 710"/>
                <a:gd name="T4" fmla="*/ 5 w 3379"/>
                <a:gd name="T5" fmla="*/ 3 h 710"/>
                <a:gd name="T6" fmla="*/ 14 w 3379"/>
                <a:gd name="T7" fmla="*/ 1 h 710"/>
                <a:gd name="T8" fmla="*/ 14 w 3379"/>
                <a:gd name="T9" fmla="*/ 0 h 710"/>
                <a:gd name="T10" fmla="*/ 5 w 3379"/>
                <a:gd name="T11" fmla="*/ 3 h 710"/>
                <a:gd name="T12" fmla="*/ 1 w 3379"/>
                <a:gd name="T13" fmla="*/ 1 h 710"/>
                <a:gd name="T14" fmla="*/ 0 60000 65536"/>
                <a:gd name="T15" fmla="*/ 0 60000 65536"/>
                <a:gd name="T16" fmla="*/ 0 60000 65536"/>
                <a:gd name="T17" fmla="*/ 0 60000 65536"/>
                <a:gd name="T18" fmla="*/ 0 60000 65536"/>
                <a:gd name="T19" fmla="*/ 0 60000 65536"/>
                <a:gd name="T20" fmla="*/ 0 60000 65536"/>
                <a:gd name="T21" fmla="*/ 0 w 3379"/>
                <a:gd name="T22" fmla="*/ 0 h 710"/>
                <a:gd name="T23" fmla="*/ 3379 w 3379"/>
                <a:gd name="T24" fmla="*/ 710 h 7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9" h="710">
                  <a:moveTo>
                    <a:pt x="11" y="229"/>
                  </a:moveTo>
                  <a:lnTo>
                    <a:pt x="0" y="268"/>
                  </a:lnTo>
                  <a:lnTo>
                    <a:pt x="1181" y="710"/>
                  </a:lnTo>
                  <a:lnTo>
                    <a:pt x="3379" y="43"/>
                  </a:lnTo>
                  <a:lnTo>
                    <a:pt x="3370" y="0"/>
                  </a:lnTo>
                  <a:lnTo>
                    <a:pt x="1181" y="667"/>
                  </a:lnTo>
                  <a:lnTo>
                    <a:pt x="11" y="229"/>
                  </a:lnTo>
                  <a:close/>
                </a:path>
              </a:pathLst>
            </a:custGeom>
            <a:solidFill>
              <a:srgbClr val="DEFF73"/>
            </a:solidFill>
            <a:ln w="9525">
              <a:noFill/>
              <a:round/>
              <a:headEnd/>
              <a:tailEnd/>
            </a:ln>
          </p:spPr>
          <p:txBody>
            <a:bodyPr/>
            <a:lstStyle/>
            <a:p>
              <a:endParaRPr lang="en-US"/>
            </a:p>
          </p:txBody>
        </p:sp>
        <p:sp>
          <p:nvSpPr>
            <p:cNvPr id="17663" name="Freeform 518"/>
            <p:cNvSpPr>
              <a:spLocks/>
            </p:cNvSpPr>
            <p:nvPr/>
          </p:nvSpPr>
          <p:spPr bwMode="auto">
            <a:xfrm>
              <a:off x="2386" y="2175"/>
              <a:ext cx="1620" cy="363"/>
            </a:xfrm>
            <a:custGeom>
              <a:avLst/>
              <a:gdLst>
                <a:gd name="T0" fmla="*/ 1 w 3239"/>
                <a:gd name="T1" fmla="*/ 0 h 727"/>
                <a:gd name="T2" fmla="*/ 0 w 3239"/>
                <a:gd name="T3" fmla="*/ 0 h 727"/>
                <a:gd name="T4" fmla="*/ 5 w 3239"/>
                <a:gd name="T5" fmla="*/ 2 h 727"/>
                <a:gd name="T6" fmla="*/ 13 w 3239"/>
                <a:gd name="T7" fmla="*/ 0 h 727"/>
                <a:gd name="T8" fmla="*/ 13 w 3239"/>
                <a:gd name="T9" fmla="*/ 0 h 727"/>
                <a:gd name="T10" fmla="*/ 5 w 3239"/>
                <a:gd name="T11" fmla="*/ 2 h 727"/>
                <a:gd name="T12" fmla="*/ 1 w 3239"/>
                <a:gd name="T13" fmla="*/ 0 h 727"/>
                <a:gd name="T14" fmla="*/ 0 60000 65536"/>
                <a:gd name="T15" fmla="*/ 0 60000 65536"/>
                <a:gd name="T16" fmla="*/ 0 60000 65536"/>
                <a:gd name="T17" fmla="*/ 0 60000 65536"/>
                <a:gd name="T18" fmla="*/ 0 60000 65536"/>
                <a:gd name="T19" fmla="*/ 0 60000 65536"/>
                <a:gd name="T20" fmla="*/ 0 60000 65536"/>
                <a:gd name="T21" fmla="*/ 0 w 3239"/>
                <a:gd name="T22" fmla="*/ 0 h 727"/>
                <a:gd name="T23" fmla="*/ 3239 w 3239"/>
                <a:gd name="T24" fmla="*/ 727 h 7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7">
                  <a:moveTo>
                    <a:pt x="14" y="114"/>
                  </a:moveTo>
                  <a:lnTo>
                    <a:pt x="0" y="153"/>
                  </a:lnTo>
                  <a:lnTo>
                    <a:pt x="1076" y="727"/>
                  </a:lnTo>
                  <a:lnTo>
                    <a:pt x="3239" y="39"/>
                  </a:lnTo>
                  <a:lnTo>
                    <a:pt x="3230" y="0"/>
                  </a:lnTo>
                  <a:lnTo>
                    <a:pt x="1085" y="685"/>
                  </a:lnTo>
                  <a:lnTo>
                    <a:pt x="14" y="114"/>
                  </a:lnTo>
                  <a:close/>
                </a:path>
              </a:pathLst>
            </a:custGeom>
            <a:solidFill>
              <a:srgbClr val="DEFF73"/>
            </a:solidFill>
            <a:ln w="9525">
              <a:noFill/>
              <a:round/>
              <a:headEnd/>
              <a:tailEnd/>
            </a:ln>
          </p:spPr>
          <p:txBody>
            <a:bodyPr/>
            <a:lstStyle/>
            <a:p>
              <a:endParaRPr lang="en-US"/>
            </a:p>
          </p:txBody>
        </p:sp>
        <p:sp>
          <p:nvSpPr>
            <p:cNvPr id="17664" name="Freeform 519"/>
            <p:cNvSpPr>
              <a:spLocks/>
            </p:cNvSpPr>
            <p:nvPr/>
          </p:nvSpPr>
          <p:spPr bwMode="auto">
            <a:xfrm>
              <a:off x="2315" y="1005"/>
              <a:ext cx="496" cy="331"/>
            </a:xfrm>
            <a:custGeom>
              <a:avLst/>
              <a:gdLst>
                <a:gd name="T0" fmla="*/ 0 w 993"/>
                <a:gd name="T1" fmla="*/ 0 h 664"/>
                <a:gd name="T2" fmla="*/ 0 w 993"/>
                <a:gd name="T3" fmla="*/ 1 h 664"/>
                <a:gd name="T4" fmla="*/ 3 w 993"/>
                <a:gd name="T5" fmla="*/ 2 h 664"/>
                <a:gd name="T6" fmla="*/ 3 w 993"/>
                <a:gd name="T7" fmla="*/ 1 h 664"/>
                <a:gd name="T8" fmla="*/ 0 w 993"/>
                <a:gd name="T9" fmla="*/ 0 h 664"/>
                <a:gd name="T10" fmla="*/ 0 w 993"/>
                <a:gd name="T11" fmla="*/ 0 h 664"/>
                <a:gd name="T12" fmla="*/ 0 w 993"/>
                <a:gd name="T13" fmla="*/ 0 h 664"/>
                <a:gd name="T14" fmla="*/ 0 60000 65536"/>
                <a:gd name="T15" fmla="*/ 0 60000 65536"/>
                <a:gd name="T16" fmla="*/ 0 60000 65536"/>
                <a:gd name="T17" fmla="*/ 0 60000 65536"/>
                <a:gd name="T18" fmla="*/ 0 60000 65536"/>
                <a:gd name="T19" fmla="*/ 0 60000 65536"/>
                <a:gd name="T20" fmla="*/ 0 60000 65536"/>
                <a:gd name="T21" fmla="*/ 0 w 993"/>
                <a:gd name="T22" fmla="*/ 0 h 664"/>
                <a:gd name="T23" fmla="*/ 993 w 993"/>
                <a:gd name="T24" fmla="*/ 664 h 6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3" h="664">
                  <a:moveTo>
                    <a:pt x="0" y="47"/>
                  </a:moveTo>
                  <a:lnTo>
                    <a:pt x="44" y="339"/>
                  </a:lnTo>
                  <a:lnTo>
                    <a:pt x="990" y="664"/>
                  </a:lnTo>
                  <a:lnTo>
                    <a:pt x="993" y="372"/>
                  </a:lnTo>
                  <a:lnTo>
                    <a:pt x="0" y="0"/>
                  </a:lnTo>
                  <a:lnTo>
                    <a:pt x="0" y="47"/>
                  </a:lnTo>
                  <a:close/>
                </a:path>
              </a:pathLst>
            </a:custGeom>
            <a:solidFill>
              <a:srgbClr val="99FFFB"/>
            </a:solidFill>
            <a:ln w="9525">
              <a:noFill/>
              <a:round/>
              <a:headEnd/>
              <a:tailEnd/>
            </a:ln>
          </p:spPr>
          <p:txBody>
            <a:bodyPr/>
            <a:lstStyle/>
            <a:p>
              <a:endParaRPr lang="en-US"/>
            </a:p>
          </p:txBody>
        </p:sp>
        <p:sp>
          <p:nvSpPr>
            <p:cNvPr id="17665" name="Freeform 520"/>
            <p:cNvSpPr>
              <a:spLocks/>
            </p:cNvSpPr>
            <p:nvPr/>
          </p:nvSpPr>
          <p:spPr bwMode="auto">
            <a:xfrm>
              <a:off x="2305" y="1027"/>
              <a:ext cx="516" cy="322"/>
            </a:xfrm>
            <a:custGeom>
              <a:avLst/>
              <a:gdLst>
                <a:gd name="T0" fmla="*/ 1 w 1030"/>
                <a:gd name="T1" fmla="*/ 0 h 644"/>
                <a:gd name="T2" fmla="*/ 0 w 1030"/>
                <a:gd name="T3" fmla="*/ 1 h 644"/>
                <a:gd name="T4" fmla="*/ 1 w 1030"/>
                <a:gd name="T5" fmla="*/ 2 h 644"/>
                <a:gd name="T6" fmla="*/ 5 w 1030"/>
                <a:gd name="T7" fmla="*/ 3 h 644"/>
                <a:gd name="T8" fmla="*/ 5 w 1030"/>
                <a:gd name="T9" fmla="*/ 2 h 644"/>
                <a:gd name="T10" fmla="*/ 4 w 1030"/>
                <a:gd name="T11" fmla="*/ 2 h 644"/>
                <a:gd name="T12" fmla="*/ 4 w 1030"/>
                <a:gd name="T13" fmla="*/ 3 h 644"/>
                <a:gd name="T14" fmla="*/ 1 w 1030"/>
                <a:gd name="T15" fmla="*/ 2 h 644"/>
                <a:gd name="T16" fmla="*/ 1 w 1030"/>
                <a:gd name="T17" fmla="*/ 0 h 6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0"/>
                <a:gd name="T28" fmla="*/ 0 h 644"/>
                <a:gd name="T29" fmla="*/ 1030 w 1030"/>
                <a:gd name="T30" fmla="*/ 644 h 6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0" h="644">
                  <a:moveTo>
                    <a:pt x="37" y="0"/>
                  </a:moveTo>
                  <a:lnTo>
                    <a:pt x="0" y="3"/>
                  </a:lnTo>
                  <a:lnTo>
                    <a:pt x="45" y="308"/>
                  </a:lnTo>
                  <a:lnTo>
                    <a:pt x="1026" y="644"/>
                  </a:lnTo>
                  <a:lnTo>
                    <a:pt x="1030" y="313"/>
                  </a:lnTo>
                  <a:lnTo>
                    <a:pt x="993" y="339"/>
                  </a:lnTo>
                  <a:lnTo>
                    <a:pt x="991" y="592"/>
                  </a:lnTo>
                  <a:lnTo>
                    <a:pt x="79" y="279"/>
                  </a:lnTo>
                  <a:lnTo>
                    <a:pt x="37" y="0"/>
                  </a:lnTo>
                  <a:close/>
                </a:path>
              </a:pathLst>
            </a:custGeom>
            <a:solidFill>
              <a:srgbClr val="000000"/>
            </a:solidFill>
            <a:ln w="9525">
              <a:noFill/>
              <a:round/>
              <a:headEnd/>
              <a:tailEnd/>
            </a:ln>
          </p:spPr>
          <p:txBody>
            <a:bodyPr/>
            <a:lstStyle/>
            <a:p>
              <a:endParaRPr lang="en-US"/>
            </a:p>
          </p:txBody>
        </p:sp>
        <p:sp>
          <p:nvSpPr>
            <p:cNvPr id="17666" name="Freeform 521"/>
            <p:cNvSpPr>
              <a:spLocks/>
            </p:cNvSpPr>
            <p:nvPr/>
          </p:nvSpPr>
          <p:spPr bwMode="auto">
            <a:xfrm>
              <a:off x="2305" y="991"/>
              <a:ext cx="516" cy="206"/>
            </a:xfrm>
            <a:custGeom>
              <a:avLst/>
              <a:gdLst>
                <a:gd name="T0" fmla="*/ 5 w 1030"/>
                <a:gd name="T1" fmla="*/ 2 h 412"/>
                <a:gd name="T2" fmla="*/ 1 w 1030"/>
                <a:gd name="T3" fmla="*/ 0 h 412"/>
                <a:gd name="T4" fmla="*/ 0 w 1030"/>
                <a:gd name="T5" fmla="*/ 1 h 412"/>
                <a:gd name="T6" fmla="*/ 0 w 1030"/>
                <a:gd name="T7" fmla="*/ 1 h 412"/>
                <a:gd name="T8" fmla="*/ 1 w 1030"/>
                <a:gd name="T9" fmla="*/ 1 h 412"/>
                <a:gd name="T10" fmla="*/ 1 w 1030"/>
                <a:gd name="T11" fmla="*/ 1 h 412"/>
                <a:gd name="T12" fmla="*/ 4 w 1030"/>
                <a:gd name="T13" fmla="*/ 2 h 412"/>
                <a:gd name="T14" fmla="*/ 5 w 1030"/>
                <a:gd name="T15" fmla="*/ 2 h 412"/>
                <a:gd name="T16" fmla="*/ 0 60000 65536"/>
                <a:gd name="T17" fmla="*/ 0 60000 65536"/>
                <a:gd name="T18" fmla="*/ 0 60000 65536"/>
                <a:gd name="T19" fmla="*/ 0 60000 65536"/>
                <a:gd name="T20" fmla="*/ 0 60000 65536"/>
                <a:gd name="T21" fmla="*/ 0 60000 65536"/>
                <a:gd name="T22" fmla="*/ 0 60000 65536"/>
                <a:gd name="T23" fmla="*/ 0 60000 65536"/>
                <a:gd name="T24" fmla="*/ 0 w 1030"/>
                <a:gd name="T25" fmla="*/ 0 h 412"/>
                <a:gd name="T26" fmla="*/ 1030 w 1030"/>
                <a:gd name="T27" fmla="*/ 412 h 4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0" h="412">
                  <a:moveTo>
                    <a:pt x="1030" y="386"/>
                  </a:moveTo>
                  <a:lnTo>
                    <a:pt x="1" y="0"/>
                  </a:lnTo>
                  <a:lnTo>
                    <a:pt x="0" y="74"/>
                  </a:lnTo>
                  <a:lnTo>
                    <a:pt x="0" y="76"/>
                  </a:lnTo>
                  <a:lnTo>
                    <a:pt x="37" y="73"/>
                  </a:lnTo>
                  <a:lnTo>
                    <a:pt x="37" y="55"/>
                  </a:lnTo>
                  <a:lnTo>
                    <a:pt x="993" y="412"/>
                  </a:lnTo>
                  <a:lnTo>
                    <a:pt x="1030" y="386"/>
                  </a:lnTo>
                  <a:close/>
                </a:path>
              </a:pathLst>
            </a:custGeom>
            <a:solidFill>
              <a:srgbClr val="000000"/>
            </a:solidFill>
            <a:ln w="9525">
              <a:noFill/>
              <a:round/>
              <a:headEnd/>
              <a:tailEnd/>
            </a:ln>
          </p:spPr>
          <p:txBody>
            <a:bodyPr/>
            <a:lstStyle/>
            <a:p>
              <a:endParaRPr lang="en-US"/>
            </a:p>
          </p:txBody>
        </p:sp>
        <p:sp>
          <p:nvSpPr>
            <p:cNvPr id="17667" name="Freeform 522"/>
            <p:cNvSpPr>
              <a:spLocks/>
            </p:cNvSpPr>
            <p:nvPr/>
          </p:nvSpPr>
          <p:spPr bwMode="auto">
            <a:xfrm>
              <a:off x="2340" y="1403"/>
              <a:ext cx="502" cy="270"/>
            </a:xfrm>
            <a:custGeom>
              <a:avLst/>
              <a:gdLst>
                <a:gd name="T0" fmla="*/ 0 w 1005"/>
                <a:gd name="T1" fmla="*/ 0 h 540"/>
                <a:gd name="T2" fmla="*/ 0 w 1005"/>
                <a:gd name="T3" fmla="*/ 1 h 540"/>
                <a:gd name="T4" fmla="*/ 3 w 1005"/>
                <a:gd name="T5" fmla="*/ 2 h 540"/>
                <a:gd name="T6" fmla="*/ 3 w 1005"/>
                <a:gd name="T7" fmla="*/ 1 h 540"/>
                <a:gd name="T8" fmla="*/ 0 w 1005"/>
                <a:gd name="T9" fmla="*/ 0 h 540"/>
                <a:gd name="T10" fmla="*/ 0 w 1005"/>
                <a:gd name="T11" fmla="*/ 0 h 540"/>
                <a:gd name="T12" fmla="*/ 0 w 1005"/>
                <a:gd name="T13" fmla="*/ 0 h 540"/>
                <a:gd name="T14" fmla="*/ 0 60000 65536"/>
                <a:gd name="T15" fmla="*/ 0 60000 65536"/>
                <a:gd name="T16" fmla="*/ 0 60000 65536"/>
                <a:gd name="T17" fmla="*/ 0 60000 65536"/>
                <a:gd name="T18" fmla="*/ 0 60000 65536"/>
                <a:gd name="T19" fmla="*/ 0 60000 65536"/>
                <a:gd name="T20" fmla="*/ 0 60000 65536"/>
                <a:gd name="T21" fmla="*/ 0 w 1005"/>
                <a:gd name="T22" fmla="*/ 0 h 540"/>
                <a:gd name="T23" fmla="*/ 1005 w 1005"/>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5" h="540">
                  <a:moveTo>
                    <a:pt x="34" y="0"/>
                  </a:moveTo>
                  <a:lnTo>
                    <a:pt x="94" y="245"/>
                  </a:lnTo>
                  <a:lnTo>
                    <a:pt x="1005" y="540"/>
                  </a:lnTo>
                  <a:lnTo>
                    <a:pt x="993" y="317"/>
                  </a:lnTo>
                  <a:lnTo>
                    <a:pt x="0" y="0"/>
                  </a:lnTo>
                  <a:lnTo>
                    <a:pt x="34" y="0"/>
                  </a:lnTo>
                  <a:close/>
                </a:path>
              </a:pathLst>
            </a:custGeom>
            <a:solidFill>
              <a:srgbClr val="99FFFB"/>
            </a:solidFill>
            <a:ln w="9525">
              <a:noFill/>
              <a:round/>
              <a:headEnd/>
              <a:tailEnd/>
            </a:ln>
          </p:spPr>
          <p:txBody>
            <a:bodyPr/>
            <a:lstStyle/>
            <a:p>
              <a:endParaRPr lang="en-US"/>
            </a:p>
          </p:txBody>
        </p:sp>
        <p:sp>
          <p:nvSpPr>
            <p:cNvPr id="17668" name="Freeform 523"/>
            <p:cNvSpPr>
              <a:spLocks/>
            </p:cNvSpPr>
            <p:nvPr/>
          </p:nvSpPr>
          <p:spPr bwMode="auto">
            <a:xfrm>
              <a:off x="2348" y="1401"/>
              <a:ext cx="504" cy="285"/>
            </a:xfrm>
            <a:custGeom>
              <a:avLst/>
              <a:gdLst>
                <a:gd name="T0" fmla="*/ 1 w 1008"/>
                <a:gd name="T1" fmla="*/ 0 h 571"/>
                <a:gd name="T2" fmla="*/ 0 w 1008"/>
                <a:gd name="T3" fmla="*/ 0 h 571"/>
                <a:gd name="T4" fmla="*/ 1 w 1008"/>
                <a:gd name="T5" fmla="*/ 1 h 571"/>
                <a:gd name="T6" fmla="*/ 4 w 1008"/>
                <a:gd name="T7" fmla="*/ 2 h 571"/>
                <a:gd name="T8" fmla="*/ 4 w 1008"/>
                <a:gd name="T9" fmla="*/ 1 h 571"/>
                <a:gd name="T10" fmla="*/ 4 w 1008"/>
                <a:gd name="T11" fmla="*/ 1 h 571"/>
                <a:gd name="T12" fmla="*/ 4 w 1008"/>
                <a:gd name="T13" fmla="*/ 2 h 571"/>
                <a:gd name="T14" fmla="*/ 1 w 1008"/>
                <a:gd name="T15" fmla="*/ 0 h 571"/>
                <a:gd name="T16" fmla="*/ 1 w 1008"/>
                <a:gd name="T17" fmla="*/ 0 h 5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8"/>
                <a:gd name="T28" fmla="*/ 0 h 571"/>
                <a:gd name="T29" fmla="*/ 1008 w 1008"/>
                <a:gd name="T30" fmla="*/ 571 h 5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8" h="571">
                  <a:moveTo>
                    <a:pt x="35" y="0"/>
                  </a:moveTo>
                  <a:lnTo>
                    <a:pt x="0" y="10"/>
                  </a:lnTo>
                  <a:lnTo>
                    <a:pt x="62" y="264"/>
                  </a:lnTo>
                  <a:lnTo>
                    <a:pt x="1008" y="571"/>
                  </a:lnTo>
                  <a:lnTo>
                    <a:pt x="996" y="307"/>
                  </a:lnTo>
                  <a:lnTo>
                    <a:pt x="958" y="336"/>
                  </a:lnTo>
                  <a:lnTo>
                    <a:pt x="970" y="519"/>
                  </a:lnTo>
                  <a:lnTo>
                    <a:pt x="94" y="235"/>
                  </a:lnTo>
                  <a:lnTo>
                    <a:pt x="35" y="0"/>
                  </a:lnTo>
                  <a:close/>
                </a:path>
              </a:pathLst>
            </a:custGeom>
            <a:solidFill>
              <a:srgbClr val="000000"/>
            </a:solidFill>
            <a:ln w="9525">
              <a:noFill/>
              <a:round/>
              <a:headEnd/>
              <a:tailEnd/>
            </a:ln>
          </p:spPr>
          <p:txBody>
            <a:bodyPr/>
            <a:lstStyle/>
            <a:p>
              <a:endParaRPr lang="en-US"/>
            </a:p>
          </p:txBody>
        </p:sp>
        <p:sp>
          <p:nvSpPr>
            <p:cNvPr id="17669" name="Freeform 524"/>
            <p:cNvSpPr>
              <a:spLocks/>
            </p:cNvSpPr>
            <p:nvPr/>
          </p:nvSpPr>
          <p:spPr bwMode="auto">
            <a:xfrm>
              <a:off x="2338" y="1393"/>
              <a:ext cx="508" cy="176"/>
            </a:xfrm>
            <a:custGeom>
              <a:avLst/>
              <a:gdLst>
                <a:gd name="T0" fmla="*/ 4 w 1016"/>
                <a:gd name="T1" fmla="*/ 2 h 350"/>
                <a:gd name="T2" fmla="*/ 1 w 1016"/>
                <a:gd name="T3" fmla="*/ 0 h 350"/>
                <a:gd name="T4" fmla="*/ 1 w 1016"/>
                <a:gd name="T5" fmla="*/ 1 h 350"/>
                <a:gd name="T6" fmla="*/ 0 w 1016"/>
                <a:gd name="T7" fmla="*/ 1 h 350"/>
                <a:gd name="T8" fmla="*/ 4 w 1016"/>
                <a:gd name="T9" fmla="*/ 2 h 350"/>
                <a:gd name="T10" fmla="*/ 4 w 1016"/>
                <a:gd name="T11" fmla="*/ 2 h 350"/>
                <a:gd name="T12" fmla="*/ 0 60000 65536"/>
                <a:gd name="T13" fmla="*/ 0 60000 65536"/>
                <a:gd name="T14" fmla="*/ 0 60000 65536"/>
                <a:gd name="T15" fmla="*/ 0 60000 65536"/>
                <a:gd name="T16" fmla="*/ 0 60000 65536"/>
                <a:gd name="T17" fmla="*/ 0 60000 65536"/>
                <a:gd name="T18" fmla="*/ 0 w 1016"/>
                <a:gd name="T19" fmla="*/ 0 h 350"/>
                <a:gd name="T20" fmla="*/ 1016 w 1016"/>
                <a:gd name="T21" fmla="*/ 350 h 350"/>
              </a:gdLst>
              <a:ahLst/>
              <a:cxnLst>
                <a:cxn ang="T12">
                  <a:pos x="T0" y="T1"/>
                </a:cxn>
                <a:cxn ang="T13">
                  <a:pos x="T2" y="T3"/>
                </a:cxn>
                <a:cxn ang="T14">
                  <a:pos x="T4" y="T5"/>
                </a:cxn>
                <a:cxn ang="T15">
                  <a:pos x="T6" y="T7"/>
                </a:cxn>
                <a:cxn ang="T16">
                  <a:pos x="T8" y="T9"/>
                </a:cxn>
                <a:cxn ang="T17">
                  <a:pos x="T10" y="T11"/>
                </a:cxn>
              </a:cxnLst>
              <a:rect l="T18" t="T19" r="T20" b="T21"/>
              <a:pathLst>
                <a:path w="1016" h="350">
                  <a:moveTo>
                    <a:pt x="1016" y="321"/>
                  </a:moveTo>
                  <a:lnTo>
                    <a:pt x="9" y="0"/>
                  </a:lnTo>
                  <a:lnTo>
                    <a:pt x="4" y="19"/>
                  </a:lnTo>
                  <a:lnTo>
                    <a:pt x="0" y="39"/>
                  </a:lnTo>
                  <a:lnTo>
                    <a:pt x="978" y="350"/>
                  </a:lnTo>
                  <a:lnTo>
                    <a:pt x="1016" y="321"/>
                  </a:lnTo>
                  <a:close/>
                </a:path>
              </a:pathLst>
            </a:custGeom>
            <a:solidFill>
              <a:srgbClr val="000000"/>
            </a:solidFill>
            <a:ln w="9525">
              <a:noFill/>
              <a:round/>
              <a:headEnd/>
              <a:tailEnd/>
            </a:ln>
          </p:spPr>
          <p:txBody>
            <a:bodyPr/>
            <a:lstStyle/>
            <a:p>
              <a:endParaRPr lang="en-US"/>
            </a:p>
          </p:txBody>
        </p:sp>
        <p:sp>
          <p:nvSpPr>
            <p:cNvPr id="17670" name="Freeform 525"/>
            <p:cNvSpPr>
              <a:spLocks/>
            </p:cNvSpPr>
            <p:nvPr/>
          </p:nvSpPr>
          <p:spPr bwMode="auto">
            <a:xfrm>
              <a:off x="2370" y="1429"/>
              <a:ext cx="443" cy="148"/>
            </a:xfrm>
            <a:custGeom>
              <a:avLst/>
              <a:gdLst>
                <a:gd name="T0" fmla="*/ 1 w 885"/>
                <a:gd name="T1" fmla="*/ 1 h 296"/>
                <a:gd name="T2" fmla="*/ 0 w 885"/>
                <a:gd name="T3" fmla="*/ 0 h 296"/>
                <a:gd name="T4" fmla="*/ 4 w 885"/>
                <a:gd name="T5" fmla="*/ 1 h 296"/>
                <a:gd name="T6" fmla="*/ 1 w 885"/>
                <a:gd name="T7" fmla="*/ 1 h 296"/>
                <a:gd name="T8" fmla="*/ 1 w 885"/>
                <a:gd name="T9" fmla="*/ 1 h 296"/>
                <a:gd name="T10" fmla="*/ 0 60000 65536"/>
                <a:gd name="T11" fmla="*/ 0 60000 65536"/>
                <a:gd name="T12" fmla="*/ 0 60000 65536"/>
                <a:gd name="T13" fmla="*/ 0 60000 65536"/>
                <a:gd name="T14" fmla="*/ 0 60000 65536"/>
                <a:gd name="T15" fmla="*/ 0 w 885"/>
                <a:gd name="T16" fmla="*/ 0 h 296"/>
                <a:gd name="T17" fmla="*/ 885 w 885"/>
                <a:gd name="T18" fmla="*/ 296 h 296"/>
              </a:gdLst>
              <a:ahLst/>
              <a:cxnLst>
                <a:cxn ang="T10">
                  <a:pos x="T0" y="T1"/>
                </a:cxn>
                <a:cxn ang="T11">
                  <a:pos x="T2" y="T3"/>
                </a:cxn>
                <a:cxn ang="T12">
                  <a:pos x="T4" y="T5"/>
                </a:cxn>
                <a:cxn ang="T13">
                  <a:pos x="T6" y="T7"/>
                </a:cxn>
                <a:cxn ang="T14">
                  <a:pos x="T8" y="T9"/>
                </a:cxn>
              </a:cxnLst>
              <a:rect l="T15" t="T16" r="T17" b="T18"/>
              <a:pathLst>
                <a:path w="885" h="296">
                  <a:moveTo>
                    <a:pt x="50" y="115"/>
                  </a:moveTo>
                  <a:lnTo>
                    <a:pt x="0" y="0"/>
                  </a:lnTo>
                  <a:lnTo>
                    <a:pt x="885" y="296"/>
                  </a:lnTo>
                  <a:lnTo>
                    <a:pt x="50" y="115"/>
                  </a:lnTo>
                  <a:close/>
                </a:path>
              </a:pathLst>
            </a:custGeom>
            <a:solidFill>
              <a:srgbClr val="99FFFB"/>
            </a:solidFill>
            <a:ln w="9525">
              <a:noFill/>
              <a:round/>
              <a:headEnd/>
              <a:tailEnd/>
            </a:ln>
          </p:spPr>
          <p:txBody>
            <a:bodyPr/>
            <a:lstStyle/>
            <a:p>
              <a:endParaRPr lang="en-US"/>
            </a:p>
          </p:txBody>
        </p:sp>
        <p:sp>
          <p:nvSpPr>
            <p:cNvPr id="17671" name="Freeform 526"/>
            <p:cNvSpPr>
              <a:spLocks/>
            </p:cNvSpPr>
            <p:nvPr/>
          </p:nvSpPr>
          <p:spPr bwMode="auto">
            <a:xfrm>
              <a:off x="2468" y="2490"/>
              <a:ext cx="343" cy="194"/>
            </a:xfrm>
            <a:custGeom>
              <a:avLst/>
              <a:gdLst>
                <a:gd name="T0" fmla="*/ 0 w 687"/>
                <a:gd name="T1" fmla="*/ 0 h 386"/>
                <a:gd name="T2" fmla="*/ 0 w 687"/>
                <a:gd name="T3" fmla="*/ 1 h 386"/>
                <a:gd name="T4" fmla="*/ 2 w 687"/>
                <a:gd name="T5" fmla="*/ 2 h 386"/>
                <a:gd name="T6" fmla="*/ 2 w 687"/>
                <a:gd name="T7" fmla="*/ 2 h 386"/>
                <a:gd name="T8" fmla="*/ 0 w 687"/>
                <a:gd name="T9" fmla="*/ 0 h 386"/>
                <a:gd name="T10" fmla="*/ 0 60000 65536"/>
                <a:gd name="T11" fmla="*/ 0 60000 65536"/>
                <a:gd name="T12" fmla="*/ 0 60000 65536"/>
                <a:gd name="T13" fmla="*/ 0 60000 65536"/>
                <a:gd name="T14" fmla="*/ 0 60000 65536"/>
                <a:gd name="T15" fmla="*/ 0 w 687"/>
                <a:gd name="T16" fmla="*/ 0 h 386"/>
                <a:gd name="T17" fmla="*/ 687 w 687"/>
                <a:gd name="T18" fmla="*/ 386 h 386"/>
              </a:gdLst>
              <a:ahLst/>
              <a:cxnLst>
                <a:cxn ang="T10">
                  <a:pos x="T0" y="T1"/>
                </a:cxn>
                <a:cxn ang="T11">
                  <a:pos x="T2" y="T3"/>
                </a:cxn>
                <a:cxn ang="T12">
                  <a:pos x="T4" y="T5"/>
                </a:cxn>
                <a:cxn ang="T13">
                  <a:pos x="T6" y="T7"/>
                </a:cxn>
                <a:cxn ang="T14">
                  <a:pos x="T8" y="T9"/>
                </a:cxn>
              </a:cxnLst>
              <a:rect l="T15" t="T16" r="T17" b="T18"/>
              <a:pathLst>
                <a:path w="687" h="386">
                  <a:moveTo>
                    <a:pt x="24" y="0"/>
                  </a:moveTo>
                  <a:lnTo>
                    <a:pt x="0" y="58"/>
                  </a:lnTo>
                  <a:lnTo>
                    <a:pt x="664" y="386"/>
                  </a:lnTo>
                  <a:lnTo>
                    <a:pt x="687" y="327"/>
                  </a:lnTo>
                  <a:lnTo>
                    <a:pt x="24" y="0"/>
                  </a:lnTo>
                  <a:close/>
                </a:path>
              </a:pathLst>
            </a:custGeom>
            <a:solidFill>
              <a:srgbClr val="000000"/>
            </a:solidFill>
            <a:ln w="9525">
              <a:noFill/>
              <a:round/>
              <a:headEnd/>
              <a:tailEnd/>
            </a:ln>
          </p:spPr>
          <p:txBody>
            <a:bodyPr/>
            <a:lstStyle/>
            <a:p>
              <a:endParaRPr lang="en-US"/>
            </a:p>
          </p:txBody>
        </p:sp>
        <p:sp>
          <p:nvSpPr>
            <p:cNvPr id="17672" name="Freeform 527"/>
            <p:cNvSpPr>
              <a:spLocks/>
            </p:cNvSpPr>
            <p:nvPr/>
          </p:nvSpPr>
          <p:spPr bwMode="auto">
            <a:xfrm>
              <a:off x="2463" y="2566"/>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7673" name="Freeform 528"/>
            <p:cNvSpPr>
              <a:spLocks/>
            </p:cNvSpPr>
            <p:nvPr/>
          </p:nvSpPr>
          <p:spPr bwMode="auto">
            <a:xfrm>
              <a:off x="2442" y="2641"/>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7674" name="Freeform 529"/>
            <p:cNvSpPr>
              <a:spLocks/>
            </p:cNvSpPr>
            <p:nvPr/>
          </p:nvSpPr>
          <p:spPr bwMode="auto">
            <a:xfrm>
              <a:off x="2437" y="2718"/>
              <a:ext cx="350" cy="221"/>
            </a:xfrm>
            <a:custGeom>
              <a:avLst/>
              <a:gdLst>
                <a:gd name="T0" fmla="*/ 1 w 699"/>
                <a:gd name="T1" fmla="*/ 0 h 441"/>
                <a:gd name="T2" fmla="*/ 0 w 699"/>
                <a:gd name="T3" fmla="*/ 1 h 441"/>
                <a:gd name="T4" fmla="*/ 3 w 699"/>
                <a:gd name="T5" fmla="*/ 2 h 441"/>
                <a:gd name="T6" fmla="*/ 3 w 699"/>
                <a:gd name="T7" fmla="*/ 2 h 441"/>
                <a:gd name="T8" fmla="*/ 1 w 699"/>
                <a:gd name="T9" fmla="*/ 0 h 441"/>
                <a:gd name="T10" fmla="*/ 0 60000 65536"/>
                <a:gd name="T11" fmla="*/ 0 60000 65536"/>
                <a:gd name="T12" fmla="*/ 0 60000 65536"/>
                <a:gd name="T13" fmla="*/ 0 60000 65536"/>
                <a:gd name="T14" fmla="*/ 0 60000 65536"/>
                <a:gd name="T15" fmla="*/ 0 w 699"/>
                <a:gd name="T16" fmla="*/ 0 h 441"/>
                <a:gd name="T17" fmla="*/ 699 w 699"/>
                <a:gd name="T18" fmla="*/ 441 h 441"/>
              </a:gdLst>
              <a:ahLst/>
              <a:cxnLst>
                <a:cxn ang="T10">
                  <a:pos x="T0" y="T1"/>
                </a:cxn>
                <a:cxn ang="T11">
                  <a:pos x="T2" y="T3"/>
                </a:cxn>
                <a:cxn ang="T12">
                  <a:pos x="T4" y="T5"/>
                </a:cxn>
                <a:cxn ang="T13">
                  <a:pos x="T6" y="T7"/>
                </a:cxn>
                <a:cxn ang="T14">
                  <a:pos x="T8" y="T9"/>
                </a:cxn>
              </a:cxnLst>
              <a:rect l="T15" t="T16" r="T17" b="T18"/>
              <a:pathLst>
                <a:path w="699" h="441">
                  <a:moveTo>
                    <a:pt x="27" y="0"/>
                  </a:moveTo>
                  <a:lnTo>
                    <a:pt x="0" y="58"/>
                  </a:lnTo>
                  <a:lnTo>
                    <a:pt x="673" y="441"/>
                  </a:lnTo>
                  <a:lnTo>
                    <a:pt x="699" y="383"/>
                  </a:lnTo>
                  <a:lnTo>
                    <a:pt x="27" y="0"/>
                  </a:lnTo>
                  <a:close/>
                </a:path>
              </a:pathLst>
            </a:custGeom>
            <a:solidFill>
              <a:srgbClr val="000000"/>
            </a:solidFill>
            <a:ln w="9525">
              <a:noFill/>
              <a:round/>
              <a:headEnd/>
              <a:tailEnd/>
            </a:ln>
          </p:spPr>
          <p:txBody>
            <a:bodyPr/>
            <a:lstStyle/>
            <a:p>
              <a:endParaRPr lang="en-US"/>
            </a:p>
          </p:txBody>
        </p:sp>
        <p:sp>
          <p:nvSpPr>
            <p:cNvPr id="17675" name="Freeform 530"/>
            <p:cNvSpPr>
              <a:spLocks/>
            </p:cNvSpPr>
            <p:nvPr/>
          </p:nvSpPr>
          <p:spPr bwMode="auto">
            <a:xfrm>
              <a:off x="2934" y="770"/>
              <a:ext cx="1059" cy="264"/>
            </a:xfrm>
            <a:custGeom>
              <a:avLst/>
              <a:gdLst>
                <a:gd name="T0" fmla="*/ 0 w 2119"/>
                <a:gd name="T1" fmla="*/ 2 h 528"/>
                <a:gd name="T2" fmla="*/ 0 w 2119"/>
                <a:gd name="T3" fmla="*/ 2 h 528"/>
                <a:gd name="T4" fmla="*/ 8 w 2119"/>
                <a:gd name="T5" fmla="*/ 1 h 528"/>
                <a:gd name="T6" fmla="*/ 8 w 2119"/>
                <a:gd name="T7" fmla="*/ 0 h 528"/>
                <a:gd name="T8" fmla="*/ 0 w 2119"/>
                <a:gd name="T9" fmla="*/ 2 h 528"/>
                <a:gd name="T10" fmla="*/ 0 60000 65536"/>
                <a:gd name="T11" fmla="*/ 0 60000 65536"/>
                <a:gd name="T12" fmla="*/ 0 60000 65536"/>
                <a:gd name="T13" fmla="*/ 0 60000 65536"/>
                <a:gd name="T14" fmla="*/ 0 60000 65536"/>
                <a:gd name="T15" fmla="*/ 0 w 2119"/>
                <a:gd name="T16" fmla="*/ 0 h 528"/>
                <a:gd name="T17" fmla="*/ 2119 w 2119"/>
                <a:gd name="T18" fmla="*/ 528 h 528"/>
              </a:gdLst>
              <a:ahLst/>
              <a:cxnLst>
                <a:cxn ang="T10">
                  <a:pos x="T0" y="T1"/>
                </a:cxn>
                <a:cxn ang="T11">
                  <a:pos x="T2" y="T3"/>
                </a:cxn>
                <a:cxn ang="T12">
                  <a:pos x="T4" y="T5"/>
                </a:cxn>
                <a:cxn ang="T13">
                  <a:pos x="T6" y="T7"/>
                </a:cxn>
                <a:cxn ang="T14">
                  <a:pos x="T8" y="T9"/>
                </a:cxn>
              </a:cxnLst>
              <a:rect l="T15" t="T16" r="T17" b="T18"/>
              <a:pathLst>
                <a:path w="2119" h="528">
                  <a:moveTo>
                    <a:pt x="0" y="486"/>
                  </a:moveTo>
                  <a:lnTo>
                    <a:pt x="6" y="528"/>
                  </a:lnTo>
                  <a:lnTo>
                    <a:pt x="2119" y="42"/>
                  </a:lnTo>
                  <a:lnTo>
                    <a:pt x="2114" y="0"/>
                  </a:lnTo>
                  <a:lnTo>
                    <a:pt x="0" y="486"/>
                  </a:lnTo>
                  <a:close/>
                </a:path>
              </a:pathLst>
            </a:custGeom>
            <a:solidFill>
              <a:srgbClr val="DEFF73"/>
            </a:solidFill>
            <a:ln w="9525">
              <a:noFill/>
              <a:round/>
              <a:headEnd/>
              <a:tailEnd/>
            </a:ln>
          </p:spPr>
          <p:txBody>
            <a:bodyPr/>
            <a:lstStyle/>
            <a:p>
              <a:endParaRPr lang="en-US"/>
            </a:p>
          </p:txBody>
        </p:sp>
        <p:sp>
          <p:nvSpPr>
            <p:cNvPr id="17676" name="Freeform 531"/>
            <p:cNvSpPr>
              <a:spLocks/>
            </p:cNvSpPr>
            <p:nvPr/>
          </p:nvSpPr>
          <p:spPr bwMode="auto">
            <a:xfrm>
              <a:off x="2256" y="672"/>
              <a:ext cx="1872" cy="384"/>
            </a:xfrm>
            <a:custGeom>
              <a:avLst/>
              <a:gdLst>
                <a:gd name="T0" fmla="*/ 1872 w 1872"/>
                <a:gd name="T1" fmla="*/ 96 h 384"/>
                <a:gd name="T2" fmla="*/ 672 w 1872"/>
                <a:gd name="T3" fmla="*/ 384 h 384"/>
                <a:gd name="T4" fmla="*/ 0 w 1872"/>
                <a:gd name="T5" fmla="*/ 192 h 384"/>
                <a:gd name="T6" fmla="*/ 1392 w 1872"/>
                <a:gd name="T7" fmla="*/ 0 h 384"/>
                <a:gd name="T8" fmla="*/ 1872 w 1872"/>
                <a:gd name="T9" fmla="*/ 96 h 384"/>
                <a:gd name="T10" fmla="*/ 0 60000 65536"/>
                <a:gd name="T11" fmla="*/ 0 60000 65536"/>
                <a:gd name="T12" fmla="*/ 0 60000 65536"/>
                <a:gd name="T13" fmla="*/ 0 60000 65536"/>
                <a:gd name="T14" fmla="*/ 0 60000 65536"/>
                <a:gd name="T15" fmla="*/ 0 w 1872"/>
                <a:gd name="T16" fmla="*/ 0 h 384"/>
                <a:gd name="T17" fmla="*/ 1872 w 1872"/>
                <a:gd name="T18" fmla="*/ 384 h 384"/>
              </a:gdLst>
              <a:ahLst/>
              <a:cxnLst>
                <a:cxn ang="T10">
                  <a:pos x="T0" y="T1"/>
                </a:cxn>
                <a:cxn ang="T11">
                  <a:pos x="T2" y="T3"/>
                </a:cxn>
                <a:cxn ang="T12">
                  <a:pos x="T4" y="T5"/>
                </a:cxn>
                <a:cxn ang="T13">
                  <a:pos x="T6" y="T7"/>
                </a:cxn>
                <a:cxn ang="T14">
                  <a:pos x="T8" y="T9"/>
                </a:cxn>
              </a:cxnLst>
              <a:rect l="T15" t="T16" r="T17" b="T18"/>
              <a:pathLst>
                <a:path w="1872" h="384">
                  <a:moveTo>
                    <a:pt x="1872" y="96"/>
                  </a:moveTo>
                  <a:lnTo>
                    <a:pt x="672" y="384"/>
                  </a:lnTo>
                  <a:lnTo>
                    <a:pt x="0" y="192"/>
                  </a:lnTo>
                  <a:lnTo>
                    <a:pt x="1392" y="0"/>
                  </a:lnTo>
                  <a:lnTo>
                    <a:pt x="1872" y="96"/>
                  </a:lnTo>
                  <a:close/>
                </a:path>
              </a:pathLst>
            </a:custGeom>
            <a:gradFill rotWithShape="0">
              <a:gsLst>
                <a:gs pos="0">
                  <a:srgbClr val="BEE761"/>
                </a:gs>
                <a:gs pos="100000">
                  <a:srgbClr val="44D6FE"/>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433" name="Group 532"/>
          <p:cNvGrpSpPr>
            <a:grpSpLocks/>
          </p:cNvGrpSpPr>
          <p:nvPr/>
        </p:nvGrpSpPr>
        <p:grpSpPr bwMode="auto">
          <a:xfrm rot="-245528">
            <a:off x="4724400" y="5943600"/>
            <a:ext cx="238125" cy="309563"/>
            <a:chOff x="2202" y="666"/>
            <a:chExt cx="2001" cy="2601"/>
          </a:xfrm>
        </p:grpSpPr>
        <p:sp>
          <p:nvSpPr>
            <p:cNvPr id="17623" name="Freeform 533"/>
            <p:cNvSpPr>
              <a:spLocks/>
            </p:cNvSpPr>
            <p:nvPr/>
          </p:nvSpPr>
          <p:spPr bwMode="auto">
            <a:xfrm>
              <a:off x="2236" y="871"/>
              <a:ext cx="692" cy="2345"/>
            </a:xfrm>
            <a:custGeom>
              <a:avLst/>
              <a:gdLst>
                <a:gd name="T0" fmla="*/ 692 w 692"/>
                <a:gd name="T1" fmla="*/ 2345 h 2345"/>
                <a:gd name="T2" fmla="*/ 116 w 692"/>
                <a:gd name="T3" fmla="*/ 2009 h 2345"/>
                <a:gd name="T4" fmla="*/ 116 w 692"/>
                <a:gd name="T5" fmla="*/ 1385 h 2345"/>
                <a:gd name="T6" fmla="*/ 164 w 692"/>
                <a:gd name="T7" fmla="*/ 1193 h 2345"/>
                <a:gd name="T8" fmla="*/ 0 w 692"/>
                <a:gd name="T9" fmla="*/ 0 h 2345"/>
                <a:gd name="T10" fmla="*/ 673 w 692"/>
                <a:gd name="T11" fmla="*/ 222 h 2345"/>
                <a:gd name="T12" fmla="*/ 692 w 692"/>
                <a:gd name="T13" fmla="*/ 2345 h 2345"/>
                <a:gd name="T14" fmla="*/ 0 60000 65536"/>
                <a:gd name="T15" fmla="*/ 0 60000 65536"/>
                <a:gd name="T16" fmla="*/ 0 60000 65536"/>
                <a:gd name="T17" fmla="*/ 0 60000 65536"/>
                <a:gd name="T18" fmla="*/ 0 60000 65536"/>
                <a:gd name="T19" fmla="*/ 0 60000 65536"/>
                <a:gd name="T20" fmla="*/ 0 60000 65536"/>
                <a:gd name="T21" fmla="*/ 0 w 692"/>
                <a:gd name="T22" fmla="*/ 0 h 2345"/>
                <a:gd name="T23" fmla="*/ 692 w 692"/>
                <a:gd name="T24" fmla="*/ 2345 h 23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2" h="2345">
                  <a:moveTo>
                    <a:pt x="692" y="2345"/>
                  </a:moveTo>
                  <a:lnTo>
                    <a:pt x="116" y="2009"/>
                  </a:lnTo>
                  <a:lnTo>
                    <a:pt x="116" y="1385"/>
                  </a:lnTo>
                  <a:lnTo>
                    <a:pt x="164" y="1193"/>
                  </a:lnTo>
                  <a:lnTo>
                    <a:pt x="0" y="0"/>
                  </a:lnTo>
                  <a:lnTo>
                    <a:pt x="673" y="222"/>
                  </a:lnTo>
                  <a:lnTo>
                    <a:pt x="692" y="2345"/>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7624" name="Freeform 534"/>
            <p:cNvSpPr>
              <a:spLocks/>
            </p:cNvSpPr>
            <p:nvPr/>
          </p:nvSpPr>
          <p:spPr bwMode="auto">
            <a:xfrm>
              <a:off x="2928" y="768"/>
              <a:ext cx="1248" cy="2448"/>
            </a:xfrm>
            <a:custGeom>
              <a:avLst/>
              <a:gdLst>
                <a:gd name="T0" fmla="*/ 0 w 1248"/>
                <a:gd name="T1" fmla="*/ 336 h 2448"/>
                <a:gd name="T2" fmla="*/ 0 w 1248"/>
                <a:gd name="T3" fmla="*/ 2448 h 2448"/>
                <a:gd name="T4" fmla="*/ 1200 w 1248"/>
                <a:gd name="T5" fmla="*/ 1968 h 2448"/>
                <a:gd name="T6" fmla="*/ 1008 w 1248"/>
                <a:gd name="T7" fmla="*/ 1008 h 2448"/>
                <a:gd name="T8" fmla="*/ 1248 w 1248"/>
                <a:gd name="T9" fmla="*/ 0 h 2448"/>
                <a:gd name="T10" fmla="*/ 0 w 1248"/>
                <a:gd name="T11" fmla="*/ 336 h 2448"/>
                <a:gd name="T12" fmla="*/ 0 60000 65536"/>
                <a:gd name="T13" fmla="*/ 0 60000 65536"/>
                <a:gd name="T14" fmla="*/ 0 60000 65536"/>
                <a:gd name="T15" fmla="*/ 0 60000 65536"/>
                <a:gd name="T16" fmla="*/ 0 60000 65536"/>
                <a:gd name="T17" fmla="*/ 0 60000 65536"/>
                <a:gd name="T18" fmla="*/ 0 w 1248"/>
                <a:gd name="T19" fmla="*/ 0 h 2448"/>
                <a:gd name="T20" fmla="*/ 1248 w 1248"/>
                <a:gd name="T21" fmla="*/ 2448 h 2448"/>
              </a:gdLst>
              <a:ahLst/>
              <a:cxnLst>
                <a:cxn ang="T12">
                  <a:pos x="T0" y="T1"/>
                </a:cxn>
                <a:cxn ang="T13">
                  <a:pos x="T2" y="T3"/>
                </a:cxn>
                <a:cxn ang="T14">
                  <a:pos x="T4" y="T5"/>
                </a:cxn>
                <a:cxn ang="T15">
                  <a:pos x="T6" y="T7"/>
                </a:cxn>
                <a:cxn ang="T16">
                  <a:pos x="T8" y="T9"/>
                </a:cxn>
                <a:cxn ang="T17">
                  <a:pos x="T10" y="T11"/>
                </a:cxn>
              </a:cxnLst>
              <a:rect l="T18" t="T19" r="T20" b="T21"/>
              <a:pathLst>
                <a:path w="1248" h="2448">
                  <a:moveTo>
                    <a:pt x="0" y="336"/>
                  </a:moveTo>
                  <a:lnTo>
                    <a:pt x="0" y="2448"/>
                  </a:lnTo>
                  <a:lnTo>
                    <a:pt x="1200" y="1968"/>
                  </a:lnTo>
                  <a:lnTo>
                    <a:pt x="1008" y="1008"/>
                  </a:lnTo>
                  <a:lnTo>
                    <a:pt x="1248" y="0"/>
                  </a:lnTo>
                  <a:lnTo>
                    <a:pt x="0" y="336"/>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7625" name="Freeform 535"/>
            <p:cNvSpPr>
              <a:spLocks/>
            </p:cNvSpPr>
            <p:nvPr/>
          </p:nvSpPr>
          <p:spPr bwMode="auto">
            <a:xfrm>
              <a:off x="2326" y="2051"/>
              <a:ext cx="603" cy="1216"/>
            </a:xfrm>
            <a:custGeom>
              <a:avLst/>
              <a:gdLst>
                <a:gd name="T0" fmla="*/ 1 w 1204"/>
                <a:gd name="T1" fmla="*/ 1 h 2432"/>
                <a:gd name="T2" fmla="*/ 1 w 1204"/>
                <a:gd name="T3" fmla="*/ 0 h 2432"/>
                <a:gd name="T4" fmla="*/ 0 w 1204"/>
                <a:gd name="T5" fmla="*/ 7 h 2432"/>
                <a:gd name="T6" fmla="*/ 5 w 1204"/>
                <a:gd name="T7" fmla="*/ 10 h 2432"/>
                <a:gd name="T8" fmla="*/ 5 w 1204"/>
                <a:gd name="T9" fmla="*/ 9 h 2432"/>
                <a:gd name="T10" fmla="*/ 5 w 1204"/>
                <a:gd name="T11" fmla="*/ 9 h 2432"/>
                <a:gd name="T12" fmla="*/ 5 w 1204"/>
                <a:gd name="T13" fmla="*/ 10 h 2432"/>
                <a:gd name="T14" fmla="*/ 1 w 1204"/>
                <a:gd name="T15" fmla="*/ 6 h 2432"/>
                <a:gd name="T16" fmla="*/ 1 w 1204"/>
                <a:gd name="T17" fmla="*/ 1 h 2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04"/>
                <a:gd name="T28" fmla="*/ 0 h 2432"/>
                <a:gd name="T29" fmla="*/ 1204 w 1204"/>
                <a:gd name="T30" fmla="*/ 2432 h 24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04" h="2432">
                  <a:moveTo>
                    <a:pt x="162" y="3"/>
                  </a:moveTo>
                  <a:lnTo>
                    <a:pt x="104" y="0"/>
                  </a:lnTo>
                  <a:lnTo>
                    <a:pt x="0" y="1669"/>
                  </a:lnTo>
                  <a:lnTo>
                    <a:pt x="1193" y="2432"/>
                  </a:lnTo>
                  <a:lnTo>
                    <a:pt x="1204" y="2292"/>
                  </a:lnTo>
                  <a:lnTo>
                    <a:pt x="1146" y="2286"/>
                  </a:lnTo>
                  <a:lnTo>
                    <a:pt x="1143" y="2328"/>
                  </a:lnTo>
                  <a:lnTo>
                    <a:pt x="58" y="1633"/>
                  </a:lnTo>
                  <a:lnTo>
                    <a:pt x="162" y="3"/>
                  </a:lnTo>
                  <a:close/>
                </a:path>
              </a:pathLst>
            </a:custGeom>
            <a:solidFill>
              <a:srgbClr val="000000"/>
            </a:solidFill>
            <a:ln w="9525">
              <a:noFill/>
              <a:round/>
              <a:headEnd/>
              <a:tailEnd/>
            </a:ln>
          </p:spPr>
          <p:txBody>
            <a:bodyPr/>
            <a:lstStyle/>
            <a:p>
              <a:endParaRPr lang="en-US"/>
            </a:p>
          </p:txBody>
        </p:sp>
        <p:sp>
          <p:nvSpPr>
            <p:cNvPr id="17626" name="Freeform 536"/>
            <p:cNvSpPr>
              <a:spLocks/>
            </p:cNvSpPr>
            <p:nvPr/>
          </p:nvSpPr>
          <p:spPr bwMode="auto">
            <a:xfrm>
              <a:off x="2202" y="858"/>
              <a:ext cx="206" cy="1196"/>
            </a:xfrm>
            <a:custGeom>
              <a:avLst/>
              <a:gdLst>
                <a:gd name="T0" fmla="*/ 0 w 410"/>
                <a:gd name="T1" fmla="*/ 0 h 2391"/>
                <a:gd name="T2" fmla="*/ 2 w 410"/>
                <a:gd name="T3" fmla="*/ 10 h 2391"/>
                <a:gd name="T4" fmla="*/ 2 w 410"/>
                <a:gd name="T5" fmla="*/ 10 h 2391"/>
                <a:gd name="T6" fmla="*/ 2 w 410"/>
                <a:gd name="T7" fmla="*/ 10 h 2391"/>
                <a:gd name="T8" fmla="*/ 1 w 410"/>
                <a:gd name="T9" fmla="*/ 1 h 2391"/>
                <a:gd name="T10" fmla="*/ 0 w 410"/>
                <a:gd name="T11" fmla="*/ 0 h 2391"/>
                <a:gd name="T12" fmla="*/ 0 60000 65536"/>
                <a:gd name="T13" fmla="*/ 0 60000 65536"/>
                <a:gd name="T14" fmla="*/ 0 60000 65536"/>
                <a:gd name="T15" fmla="*/ 0 60000 65536"/>
                <a:gd name="T16" fmla="*/ 0 60000 65536"/>
                <a:gd name="T17" fmla="*/ 0 60000 65536"/>
                <a:gd name="T18" fmla="*/ 0 w 410"/>
                <a:gd name="T19" fmla="*/ 0 h 2391"/>
                <a:gd name="T20" fmla="*/ 410 w 410"/>
                <a:gd name="T21" fmla="*/ 2391 h 2391"/>
              </a:gdLst>
              <a:ahLst/>
              <a:cxnLst>
                <a:cxn ang="T12">
                  <a:pos x="T0" y="T1"/>
                </a:cxn>
                <a:cxn ang="T13">
                  <a:pos x="T2" y="T3"/>
                </a:cxn>
                <a:cxn ang="T14">
                  <a:pos x="T4" y="T5"/>
                </a:cxn>
                <a:cxn ang="T15">
                  <a:pos x="T6" y="T7"/>
                </a:cxn>
                <a:cxn ang="T16">
                  <a:pos x="T8" y="T9"/>
                </a:cxn>
                <a:cxn ang="T17">
                  <a:pos x="T10" y="T11"/>
                </a:cxn>
              </a:cxnLst>
              <a:rect l="T18" t="T19" r="T20" b="T21"/>
              <a:pathLst>
                <a:path w="410" h="2391">
                  <a:moveTo>
                    <a:pt x="0" y="0"/>
                  </a:moveTo>
                  <a:lnTo>
                    <a:pt x="352" y="2391"/>
                  </a:lnTo>
                  <a:lnTo>
                    <a:pt x="410" y="2389"/>
                  </a:lnTo>
                  <a:lnTo>
                    <a:pt x="410" y="2385"/>
                  </a:lnTo>
                  <a:lnTo>
                    <a:pt x="69" y="81"/>
                  </a:lnTo>
                  <a:lnTo>
                    <a:pt x="0" y="0"/>
                  </a:lnTo>
                  <a:close/>
                </a:path>
              </a:pathLst>
            </a:custGeom>
            <a:solidFill>
              <a:srgbClr val="000000"/>
            </a:solidFill>
            <a:ln w="9525">
              <a:noFill/>
              <a:round/>
              <a:headEnd/>
              <a:tailEnd/>
            </a:ln>
          </p:spPr>
          <p:txBody>
            <a:bodyPr/>
            <a:lstStyle/>
            <a:p>
              <a:endParaRPr lang="en-US"/>
            </a:p>
          </p:txBody>
        </p:sp>
        <p:sp>
          <p:nvSpPr>
            <p:cNvPr id="17627" name="Freeform 537"/>
            <p:cNvSpPr>
              <a:spLocks/>
            </p:cNvSpPr>
            <p:nvPr/>
          </p:nvSpPr>
          <p:spPr bwMode="auto">
            <a:xfrm>
              <a:off x="2916" y="751"/>
              <a:ext cx="1287" cy="2503"/>
            </a:xfrm>
            <a:custGeom>
              <a:avLst/>
              <a:gdLst>
                <a:gd name="T0" fmla="*/ 1 w 2574"/>
                <a:gd name="T1" fmla="*/ 20 h 5006"/>
                <a:gd name="T2" fmla="*/ 1 w 2574"/>
                <a:gd name="T3" fmla="*/ 20 h 5006"/>
                <a:gd name="T4" fmla="*/ 10 w 2574"/>
                <a:gd name="T5" fmla="*/ 16 h 5006"/>
                <a:gd name="T6" fmla="*/ 9 w 2574"/>
                <a:gd name="T7" fmla="*/ 9 h 5006"/>
                <a:gd name="T8" fmla="*/ 10 w 2574"/>
                <a:gd name="T9" fmla="*/ 0 h 5006"/>
                <a:gd name="T10" fmla="*/ 0 w 2574"/>
                <a:gd name="T11" fmla="*/ 3 h 5006"/>
                <a:gd name="T12" fmla="*/ 1 w 2574"/>
                <a:gd name="T13" fmla="*/ 3 h 5006"/>
                <a:gd name="T14" fmla="*/ 10 w 2574"/>
                <a:gd name="T15" fmla="*/ 1 h 5006"/>
                <a:gd name="T16" fmla="*/ 8 w 2574"/>
                <a:gd name="T17" fmla="*/ 9 h 5006"/>
                <a:gd name="T18" fmla="*/ 10 w 2574"/>
                <a:gd name="T19" fmla="*/ 16 h 5006"/>
                <a:gd name="T20" fmla="*/ 1 w 2574"/>
                <a:gd name="T21" fmla="*/ 20 h 50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74"/>
                <a:gd name="T34" fmla="*/ 0 h 5006"/>
                <a:gd name="T35" fmla="*/ 2574 w 2574"/>
                <a:gd name="T36" fmla="*/ 5006 h 50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74" h="5006">
                  <a:moveTo>
                    <a:pt x="18" y="4944"/>
                  </a:moveTo>
                  <a:lnTo>
                    <a:pt x="36" y="5006"/>
                  </a:lnTo>
                  <a:lnTo>
                    <a:pt x="2394" y="4015"/>
                  </a:lnTo>
                  <a:lnTo>
                    <a:pt x="2098" y="2069"/>
                  </a:lnTo>
                  <a:lnTo>
                    <a:pt x="2574" y="0"/>
                  </a:lnTo>
                  <a:lnTo>
                    <a:pt x="0" y="620"/>
                  </a:lnTo>
                  <a:lnTo>
                    <a:pt x="56" y="675"/>
                  </a:lnTo>
                  <a:lnTo>
                    <a:pt x="2498" y="85"/>
                  </a:lnTo>
                  <a:lnTo>
                    <a:pt x="2040" y="2075"/>
                  </a:lnTo>
                  <a:lnTo>
                    <a:pt x="2330" y="3973"/>
                  </a:lnTo>
                  <a:lnTo>
                    <a:pt x="18" y="4944"/>
                  </a:lnTo>
                  <a:close/>
                </a:path>
              </a:pathLst>
            </a:custGeom>
            <a:solidFill>
              <a:srgbClr val="000000"/>
            </a:solidFill>
            <a:ln w="9525">
              <a:noFill/>
              <a:round/>
              <a:headEnd/>
              <a:tailEnd/>
            </a:ln>
          </p:spPr>
          <p:txBody>
            <a:bodyPr/>
            <a:lstStyle/>
            <a:p>
              <a:endParaRPr lang="en-US"/>
            </a:p>
          </p:txBody>
        </p:sp>
        <p:sp>
          <p:nvSpPr>
            <p:cNvPr id="17628" name="Freeform 538"/>
            <p:cNvSpPr>
              <a:spLocks/>
            </p:cNvSpPr>
            <p:nvPr/>
          </p:nvSpPr>
          <p:spPr bwMode="auto">
            <a:xfrm>
              <a:off x="2916" y="1061"/>
              <a:ext cx="29" cy="2200"/>
            </a:xfrm>
            <a:custGeom>
              <a:avLst/>
              <a:gdLst>
                <a:gd name="T0" fmla="*/ 1 w 58"/>
                <a:gd name="T1" fmla="*/ 0 h 4401"/>
                <a:gd name="T2" fmla="*/ 0 w 58"/>
                <a:gd name="T3" fmla="*/ 17 h 4401"/>
                <a:gd name="T4" fmla="*/ 1 w 58"/>
                <a:gd name="T5" fmla="*/ 17 h 4401"/>
                <a:gd name="T6" fmla="*/ 1 w 58"/>
                <a:gd name="T7" fmla="*/ 16 h 4401"/>
                <a:gd name="T8" fmla="*/ 1 w 58"/>
                <a:gd name="T9" fmla="*/ 0 h 4401"/>
                <a:gd name="T10" fmla="*/ 1 w 58"/>
                <a:gd name="T11" fmla="*/ 0 h 4401"/>
                <a:gd name="T12" fmla="*/ 0 60000 65536"/>
                <a:gd name="T13" fmla="*/ 0 60000 65536"/>
                <a:gd name="T14" fmla="*/ 0 60000 65536"/>
                <a:gd name="T15" fmla="*/ 0 60000 65536"/>
                <a:gd name="T16" fmla="*/ 0 60000 65536"/>
                <a:gd name="T17" fmla="*/ 0 60000 65536"/>
                <a:gd name="T18" fmla="*/ 0 w 58"/>
                <a:gd name="T19" fmla="*/ 0 h 4401"/>
                <a:gd name="T20" fmla="*/ 58 w 58"/>
                <a:gd name="T21" fmla="*/ 4401 h 4401"/>
              </a:gdLst>
              <a:ahLst/>
              <a:cxnLst>
                <a:cxn ang="T12">
                  <a:pos x="T0" y="T1"/>
                </a:cxn>
                <a:cxn ang="T13">
                  <a:pos x="T2" y="T3"/>
                </a:cxn>
                <a:cxn ang="T14">
                  <a:pos x="T4" y="T5"/>
                </a:cxn>
                <a:cxn ang="T15">
                  <a:pos x="T6" y="T7"/>
                </a:cxn>
                <a:cxn ang="T16">
                  <a:pos x="T8" y="T9"/>
                </a:cxn>
                <a:cxn ang="T17">
                  <a:pos x="T10" y="T11"/>
                </a:cxn>
              </a:cxnLst>
              <a:rect l="T18" t="T19" r="T20" b="T21"/>
              <a:pathLst>
                <a:path w="58" h="4401">
                  <a:moveTo>
                    <a:pt x="2" y="0"/>
                  </a:moveTo>
                  <a:lnTo>
                    <a:pt x="0" y="4401"/>
                  </a:lnTo>
                  <a:lnTo>
                    <a:pt x="38" y="4386"/>
                  </a:lnTo>
                  <a:lnTo>
                    <a:pt x="58" y="4310"/>
                  </a:lnTo>
                  <a:lnTo>
                    <a:pt x="58" y="55"/>
                  </a:lnTo>
                  <a:lnTo>
                    <a:pt x="2" y="0"/>
                  </a:lnTo>
                  <a:close/>
                </a:path>
              </a:pathLst>
            </a:custGeom>
            <a:solidFill>
              <a:srgbClr val="000000"/>
            </a:solidFill>
            <a:ln w="9525">
              <a:noFill/>
              <a:round/>
              <a:headEnd/>
              <a:tailEnd/>
            </a:ln>
          </p:spPr>
          <p:txBody>
            <a:bodyPr/>
            <a:lstStyle/>
            <a:p>
              <a:endParaRPr lang="en-US"/>
            </a:p>
          </p:txBody>
        </p:sp>
        <p:sp>
          <p:nvSpPr>
            <p:cNvPr id="17629" name="Freeform 539"/>
            <p:cNvSpPr>
              <a:spLocks/>
            </p:cNvSpPr>
            <p:nvPr/>
          </p:nvSpPr>
          <p:spPr bwMode="auto">
            <a:xfrm>
              <a:off x="2205" y="666"/>
              <a:ext cx="1982" cy="425"/>
            </a:xfrm>
            <a:custGeom>
              <a:avLst/>
              <a:gdLst>
                <a:gd name="T0" fmla="*/ 0 w 3964"/>
                <a:gd name="T1" fmla="*/ 1 h 851"/>
                <a:gd name="T2" fmla="*/ 1 w 3964"/>
                <a:gd name="T3" fmla="*/ 1 h 851"/>
                <a:gd name="T4" fmla="*/ 12 w 3964"/>
                <a:gd name="T5" fmla="*/ 0 h 851"/>
                <a:gd name="T6" fmla="*/ 15 w 3964"/>
                <a:gd name="T7" fmla="*/ 0 h 851"/>
                <a:gd name="T8" fmla="*/ 6 w 3964"/>
                <a:gd name="T9" fmla="*/ 3 h 851"/>
                <a:gd name="T10" fmla="*/ 6 w 3964"/>
                <a:gd name="T11" fmla="*/ 3 h 851"/>
                <a:gd name="T12" fmla="*/ 16 w 3964"/>
                <a:gd name="T13" fmla="*/ 0 h 851"/>
                <a:gd name="T14" fmla="*/ 16 w 3964"/>
                <a:gd name="T15" fmla="*/ 0 h 851"/>
                <a:gd name="T16" fmla="*/ 12 w 3964"/>
                <a:gd name="T17" fmla="*/ 0 h 851"/>
                <a:gd name="T18" fmla="*/ 0 w 3964"/>
                <a:gd name="T19" fmla="*/ 1 h 8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64"/>
                <a:gd name="T31" fmla="*/ 0 h 851"/>
                <a:gd name="T32" fmla="*/ 3964 w 3964"/>
                <a:gd name="T33" fmla="*/ 851 h 8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64" h="851">
                  <a:moveTo>
                    <a:pt x="0" y="378"/>
                  </a:moveTo>
                  <a:lnTo>
                    <a:pt x="5" y="444"/>
                  </a:lnTo>
                  <a:lnTo>
                    <a:pt x="2899" y="65"/>
                  </a:lnTo>
                  <a:lnTo>
                    <a:pt x="3796" y="220"/>
                  </a:lnTo>
                  <a:lnTo>
                    <a:pt x="1446" y="786"/>
                  </a:lnTo>
                  <a:lnTo>
                    <a:pt x="1452" y="851"/>
                  </a:lnTo>
                  <a:lnTo>
                    <a:pt x="3964" y="246"/>
                  </a:lnTo>
                  <a:lnTo>
                    <a:pt x="3961" y="181"/>
                  </a:lnTo>
                  <a:lnTo>
                    <a:pt x="2899" y="0"/>
                  </a:lnTo>
                  <a:lnTo>
                    <a:pt x="0" y="378"/>
                  </a:lnTo>
                  <a:close/>
                </a:path>
              </a:pathLst>
            </a:custGeom>
            <a:solidFill>
              <a:srgbClr val="000000"/>
            </a:solidFill>
            <a:ln w="9525">
              <a:noFill/>
              <a:round/>
              <a:headEnd/>
              <a:tailEnd/>
            </a:ln>
          </p:spPr>
          <p:txBody>
            <a:bodyPr/>
            <a:lstStyle/>
            <a:p>
              <a:endParaRPr lang="en-US"/>
            </a:p>
          </p:txBody>
        </p:sp>
        <p:sp>
          <p:nvSpPr>
            <p:cNvPr id="17630" name="Freeform 540"/>
            <p:cNvSpPr>
              <a:spLocks/>
            </p:cNvSpPr>
            <p:nvPr/>
          </p:nvSpPr>
          <p:spPr bwMode="auto">
            <a:xfrm>
              <a:off x="2204" y="855"/>
              <a:ext cx="727" cy="236"/>
            </a:xfrm>
            <a:custGeom>
              <a:avLst/>
              <a:gdLst>
                <a:gd name="T0" fmla="*/ 5 w 1455"/>
                <a:gd name="T1" fmla="*/ 1 h 473"/>
                <a:gd name="T2" fmla="*/ 0 w 1455"/>
                <a:gd name="T3" fmla="*/ 0 h 473"/>
                <a:gd name="T4" fmla="*/ 0 w 1455"/>
                <a:gd name="T5" fmla="*/ 0 h 473"/>
                <a:gd name="T6" fmla="*/ 0 w 1455"/>
                <a:gd name="T7" fmla="*/ 0 h 473"/>
                <a:gd name="T8" fmla="*/ 5 w 1455"/>
                <a:gd name="T9" fmla="*/ 1 h 473"/>
                <a:gd name="T10" fmla="*/ 5 w 1455"/>
                <a:gd name="T11" fmla="*/ 1 h 473"/>
                <a:gd name="T12" fmla="*/ 0 60000 65536"/>
                <a:gd name="T13" fmla="*/ 0 60000 65536"/>
                <a:gd name="T14" fmla="*/ 0 60000 65536"/>
                <a:gd name="T15" fmla="*/ 0 60000 65536"/>
                <a:gd name="T16" fmla="*/ 0 60000 65536"/>
                <a:gd name="T17" fmla="*/ 0 60000 65536"/>
                <a:gd name="T18" fmla="*/ 0 w 1455"/>
                <a:gd name="T19" fmla="*/ 0 h 473"/>
                <a:gd name="T20" fmla="*/ 1455 w 1455"/>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455" h="473">
                  <a:moveTo>
                    <a:pt x="1449" y="408"/>
                  </a:moveTo>
                  <a:lnTo>
                    <a:pt x="164" y="44"/>
                  </a:lnTo>
                  <a:lnTo>
                    <a:pt x="3" y="0"/>
                  </a:lnTo>
                  <a:lnTo>
                    <a:pt x="0" y="64"/>
                  </a:lnTo>
                  <a:lnTo>
                    <a:pt x="1455" y="473"/>
                  </a:lnTo>
                  <a:lnTo>
                    <a:pt x="1449" y="408"/>
                  </a:lnTo>
                  <a:close/>
                </a:path>
              </a:pathLst>
            </a:custGeom>
            <a:solidFill>
              <a:srgbClr val="000000"/>
            </a:solidFill>
            <a:ln w="9525">
              <a:noFill/>
              <a:round/>
              <a:headEnd/>
              <a:tailEnd/>
            </a:ln>
          </p:spPr>
          <p:txBody>
            <a:bodyPr/>
            <a:lstStyle/>
            <a:p>
              <a:endParaRPr lang="en-US"/>
            </a:p>
          </p:txBody>
        </p:sp>
        <p:sp>
          <p:nvSpPr>
            <p:cNvPr id="17631" name="Freeform 541"/>
            <p:cNvSpPr>
              <a:spLocks/>
            </p:cNvSpPr>
            <p:nvPr/>
          </p:nvSpPr>
          <p:spPr bwMode="auto">
            <a:xfrm>
              <a:off x="2300" y="1199"/>
              <a:ext cx="1779" cy="324"/>
            </a:xfrm>
            <a:custGeom>
              <a:avLst/>
              <a:gdLst>
                <a:gd name="T0" fmla="*/ 1 w 3556"/>
                <a:gd name="T1" fmla="*/ 1 h 647"/>
                <a:gd name="T2" fmla="*/ 0 w 3556"/>
                <a:gd name="T3" fmla="*/ 1 h 647"/>
                <a:gd name="T4" fmla="*/ 5 w 3556"/>
                <a:gd name="T5" fmla="*/ 3 h 647"/>
                <a:gd name="T6" fmla="*/ 14 w 3556"/>
                <a:gd name="T7" fmla="*/ 1 h 647"/>
                <a:gd name="T8" fmla="*/ 14 w 3556"/>
                <a:gd name="T9" fmla="*/ 0 h 647"/>
                <a:gd name="T10" fmla="*/ 5 w 3556"/>
                <a:gd name="T11" fmla="*/ 3 h 647"/>
                <a:gd name="T12" fmla="*/ 1 w 3556"/>
                <a:gd name="T13" fmla="*/ 1 h 647"/>
                <a:gd name="T14" fmla="*/ 0 60000 65536"/>
                <a:gd name="T15" fmla="*/ 0 60000 65536"/>
                <a:gd name="T16" fmla="*/ 0 60000 65536"/>
                <a:gd name="T17" fmla="*/ 0 60000 65536"/>
                <a:gd name="T18" fmla="*/ 0 60000 65536"/>
                <a:gd name="T19" fmla="*/ 0 60000 65536"/>
                <a:gd name="T20" fmla="*/ 0 60000 65536"/>
                <a:gd name="T21" fmla="*/ 0 w 3556"/>
                <a:gd name="T22" fmla="*/ 0 h 647"/>
                <a:gd name="T23" fmla="*/ 3556 w 3556"/>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6" h="647">
                  <a:moveTo>
                    <a:pt x="8" y="184"/>
                  </a:moveTo>
                  <a:lnTo>
                    <a:pt x="0" y="223"/>
                  </a:lnTo>
                  <a:lnTo>
                    <a:pt x="1247" y="647"/>
                  </a:lnTo>
                  <a:lnTo>
                    <a:pt x="3556" y="42"/>
                  </a:lnTo>
                  <a:lnTo>
                    <a:pt x="3551" y="0"/>
                  </a:lnTo>
                  <a:lnTo>
                    <a:pt x="1245" y="605"/>
                  </a:lnTo>
                  <a:lnTo>
                    <a:pt x="8" y="184"/>
                  </a:lnTo>
                  <a:close/>
                </a:path>
              </a:pathLst>
            </a:custGeom>
            <a:solidFill>
              <a:srgbClr val="000000"/>
            </a:solidFill>
            <a:ln w="9525">
              <a:noFill/>
              <a:round/>
              <a:headEnd/>
              <a:tailEnd/>
            </a:ln>
          </p:spPr>
          <p:txBody>
            <a:bodyPr/>
            <a:lstStyle/>
            <a:p>
              <a:endParaRPr lang="en-US"/>
            </a:p>
          </p:txBody>
        </p:sp>
        <p:sp>
          <p:nvSpPr>
            <p:cNvPr id="17632" name="Freeform 542"/>
            <p:cNvSpPr>
              <a:spLocks/>
            </p:cNvSpPr>
            <p:nvPr/>
          </p:nvSpPr>
          <p:spPr bwMode="auto">
            <a:xfrm>
              <a:off x="2334" y="1477"/>
              <a:ext cx="1690" cy="355"/>
            </a:xfrm>
            <a:custGeom>
              <a:avLst/>
              <a:gdLst>
                <a:gd name="T0" fmla="*/ 1 w 3380"/>
                <a:gd name="T1" fmla="*/ 1 h 709"/>
                <a:gd name="T2" fmla="*/ 0 w 3380"/>
                <a:gd name="T3" fmla="*/ 2 h 709"/>
                <a:gd name="T4" fmla="*/ 5 w 3380"/>
                <a:gd name="T5" fmla="*/ 3 h 709"/>
                <a:gd name="T6" fmla="*/ 13 w 3380"/>
                <a:gd name="T7" fmla="*/ 1 h 709"/>
                <a:gd name="T8" fmla="*/ 13 w 3380"/>
                <a:gd name="T9" fmla="*/ 0 h 709"/>
                <a:gd name="T10" fmla="*/ 5 w 3380"/>
                <a:gd name="T11" fmla="*/ 3 h 709"/>
                <a:gd name="T12" fmla="*/ 1 w 3380"/>
                <a:gd name="T13" fmla="*/ 1 h 709"/>
                <a:gd name="T14" fmla="*/ 0 60000 65536"/>
                <a:gd name="T15" fmla="*/ 0 60000 65536"/>
                <a:gd name="T16" fmla="*/ 0 60000 65536"/>
                <a:gd name="T17" fmla="*/ 0 60000 65536"/>
                <a:gd name="T18" fmla="*/ 0 60000 65536"/>
                <a:gd name="T19" fmla="*/ 0 60000 65536"/>
                <a:gd name="T20" fmla="*/ 0 60000 65536"/>
                <a:gd name="T21" fmla="*/ 0 w 3380"/>
                <a:gd name="T22" fmla="*/ 0 h 709"/>
                <a:gd name="T23" fmla="*/ 3380 w 3380"/>
                <a:gd name="T24" fmla="*/ 709 h 7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80" h="709">
                  <a:moveTo>
                    <a:pt x="11" y="228"/>
                  </a:moveTo>
                  <a:lnTo>
                    <a:pt x="0" y="267"/>
                  </a:lnTo>
                  <a:lnTo>
                    <a:pt x="1182" y="709"/>
                  </a:lnTo>
                  <a:lnTo>
                    <a:pt x="3380" y="42"/>
                  </a:lnTo>
                  <a:lnTo>
                    <a:pt x="3371" y="0"/>
                  </a:lnTo>
                  <a:lnTo>
                    <a:pt x="1182" y="666"/>
                  </a:lnTo>
                  <a:lnTo>
                    <a:pt x="11" y="228"/>
                  </a:lnTo>
                  <a:close/>
                </a:path>
              </a:pathLst>
            </a:custGeom>
            <a:solidFill>
              <a:srgbClr val="000000"/>
            </a:solidFill>
            <a:ln w="9525">
              <a:noFill/>
              <a:round/>
              <a:headEnd/>
              <a:tailEnd/>
            </a:ln>
          </p:spPr>
          <p:txBody>
            <a:bodyPr/>
            <a:lstStyle/>
            <a:p>
              <a:endParaRPr lang="en-US"/>
            </a:p>
          </p:txBody>
        </p:sp>
        <p:sp>
          <p:nvSpPr>
            <p:cNvPr id="17633" name="Freeform 543"/>
            <p:cNvSpPr>
              <a:spLocks/>
            </p:cNvSpPr>
            <p:nvPr/>
          </p:nvSpPr>
          <p:spPr bwMode="auto">
            <a:xfrm>
              <a:off x="2389" y="2201"/>
              <a:ext cx="1620" cy="363"/>
            </a:xfrm>
            <a:custGeom>
              <a:avLst/>
              <a:gdLst>
                <a:gd name="T0" fmla="*/ 1 w 3239"/>
                <a:gd name="T1" fmla="*/ 1 h 725"/>
                <a:gd name="T2" fmla="*/ 0 w 3239"/>
                <a:gd name="T3" fmla="*/ 1 h 725"/>
                <a:gd name="T4" fmla="*/ 5 w 3239"/>
                <a:gd name="T5" fmla="*/ 3 h 725"/>
                <a:gd name="T6" fmla="*/ 13 w 3239"/>
                <a:gd name="T7" fmla="*/ 1 h 725"/>
                <a:gd name="T8" fmla="*/ 13 w 3239"/>
                <a:gd name="T9" fmla="*/ 0 h 725"/>
                <a:gd name="T10" fmla="*/ 5 w 3239"/>
                <a:gd name="T11" fmla="*/ 3 h 725"/>
                <a:gd name="T12" fmla="*/ 1 w 3239"/>
                <a:gd name="T13" fmla="*/ 1 h 725"/>
                <a:gd name="T14" fmla="*/ 0 60000 65536"/>
                <a:gd name="T15" fmla="*/ 0 60000 65536"/>
                <a:gd name="T16" fmla="*/ 0 60000 65536"/>
                <a:gd name="T17" fmla="*/ 0 60000 65536"/>
                <a:gd name="T18" fmla="*/ 0 60000 65536"/>
                <a:gd name="T19" fmla="*/ 0 60000 65536"/>
                <a:gd name="T20" fmla="*/ 0 60000 65536"/>
                <a:gd name="T21" fmla="*/ 0 w 3239"/>
                <a:gd name="T22" fmla="*/ 0 h 725"/>
                <a:gd name="T23" fmla="*/ 3239 w 3239"/>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5">
                  <a:moveTo>
                    <a:pt x="14" y="113"/>
                  </a:moveTo>
                  <a:lnTo>
                    <a:pt x="0" y="152"/>
                  </a:lnTo>
                  <a:lnTo>
                    <a:pt x="1075" y="725"/>
                  </a:lnTo>
                  <a:lnTo>
                    <a:pt x="3239" y="39"/>
                  </a:lnTo>
                  <a:lnTo>
                    <a:pt x="3231" y="0"/>
                  </a:lnTo>
                  <a:lnTo>
                    <a:pt x="1084" y="683"/>
                  </a:lnTo>
                  <a:lnTo>
                    <a:pt x="14" y="113"/>
                  </a:lnTo>
                  <a:close/>
                </a:path>
              </a:pathLst>
            </a:custGeom>
            <a:solidFill>
              <a:srgbClr val="000000"/>
            </a:solidFill>
            <a:ln w="9525">
              <a:noFill/>
              <a:round/>
              <a:headEnd/>
              <a:tailEnd/>
            </a:ln>
          </p:spPr>
          <p:txBody>
            <a:bodyPr/>
            <a:lstStyle/>
            <a:p>
              <a:endParaRPr lang="en-US"/>
            </a:p>
          </p:txBody>
        </p:sp>
        <p:sp>
          <p:nvSpPr>
            <p:cNvPr id="17634" name="Freeform 544"/>
            <p:cNvSpPr>
              <a:spLocks/>
            </p:cNvSpPr>
            <p:nvPr/>
          </p:nvSpPr>
          <p:spPr bwMode="auto">
            <a:xfrm>
              <a:off x="2297" y="1174"/>
              <a:ext cx="1779" cy="324"/>
            </a:xfrm>
            <a:custGeom>
              <a:avLst/>
              <a:gdLst>
                <a:gd name="T0" fmla="*/ 0 w 3559"/>
                <a:gd name="T1" fmla="*/ 1 h 647"/>
                <a:gd name="T2" fmla="*/ 0 w 3559"/>
                <a:gd name="T3" fmla="*/ 1 h 647"/>
                <a:gd name="T4" fmla="*/ 4 w 3559"/>
                <a:gd name="T5" fmla="*/ 3 h 647"/>
                <a:gd name="T6" fmla="*/ 13 w 3559"/>
                <a:gd name="T7" fmla="*/ 1 h 647"/>
                <a:gd name="T8" fmla="*/ 13 w 3559"/>
                <a:gd name="T9" fmla="*/ 0 h 647"/>
                <a:gd name="T10" fmla="*/ 4 w 3559"/>
                <a:gd name="T11" fmla="*/ 3 h 647"/>
                <a:gd name="T12" fmla="*/ 0 w 3559"/>
                <a:gd name="T13" fmla="*/ 1 h 647"/>
                <a:gd name="T14" fmla="*/ 0 60000 65536"/>
                <a:gd name="T15" fmla="*/ 0 60000 65536"/>
                <a:gd name="T16" fmla="*/ 0 60000 65536"/>
                <a:gd name="T17" fmla="*/ 0 60000 65536"/>
                <a:gd name="T18" fmla="*/ 0 60000 65536"/>
                <a:gd name="T19" fmla="*/ 0 60000 65536"/>
                <a:gd name="T20" fmla="*/ 0 60000 65536"/>
                <a:gd name="T21" fmla="*/ 0 w 3559"/>
                <a:gd name="T22" fmla="*/ 0 h 647"/>
                <a:gd name="T23" fmla="*/ 3559 w 3559"/>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9" h="647">
                  <a:moveTo>
                    <a:pt x="9" y="183"/>
                  </a:moveTo>
                  <a:lnTo>
                    <a:pt x="0" y="222"/>
                  </a:lnTo>
                  <a:lnTo>
                    <a:pt x="1250" y="647"/>
                  </a:lnTo>
                  <a:lnTo>
                    <a:pt x="3559" y="43"/>
                  </a:lnTo>
                  <a:lnTo>
                    <a:pt x="3553" y="0"/>
                  </a:lnTo>
                  <a:lnTo>
                    <a:pt x="1247" y="605"/>
                  </a:lnTo>
                  <a:lnTo>
                    <a:pt x="9" y="183"/>
                  </a:lnTo>
                  <a:close/>
                </a:path>
              </a:pathLst>
            </a:custGeom>
            <a:solidFill>
              <a:srgbClr val="DEFF73"/>
            </a:solidFill>
            <a:ln w="9525">
              <a:noFill/>
              <a:round/>
              <a:headEnd/>
              <a:tailEnd/>
            </a:ln>
          </p:spPr>
          <p:txBody>
            <a:bodyPr/>
            <a:lstStyle/>
            <a:p>
              <a:endParaRPr lang="en-US"/>
            </a:p>
          </p:txBody>
        </p:sp>
        <p:sp>
          <p:nvSpPr>
            <p:cNvPr id="17635" name="Freeform 545"/>
            <p:cNvSpPr>
              <a:spLocks/>
            </p:cNvSpPr>
            <p:nvPr/>
          </p:nvSpPr>
          <p:spPr bwMode="auto">
            <a:xfrm>
              <a:off x="2331" y="1451"/>
              <a:ext cx="1690" cy="355"/>
            </a:xfrm>
            <a:custGeom>
              <a:avLst/>
              <a:gdLst>
                <a:gd name="T0" fmla="*/ 1 w 3379"/>
                <a:gd name="T1" fmla="*/ 1 h 710"/>
                <a:gd name="T2" fmla="*/ 0 w 3379"/>
                <a:gd name="T3" fmla="*/ 2 h 710"/>
                <a:gd name="T4" fmla="*/ 5 w 3379"/>
                <a:gd name="T5" fmla="*/ 3 h 710"/>
                <a:gd name="T6" fmla="*/ 14 w 3379"/>
                <a:gd name="T7" fmla="*/ 1 h 710"/>
                <a:gd name="T8" fmla="*/ 14 w 3379"/>
                <a:gd name="T9" fmla="*/ 0 h 710"/>
                <a:gd name="T10" fmla="*/ 5 w 3379"/>
                <a:gd name="T11" fmla="*/ 3 h 710"/>
                <a:gd name="T12" fmla="*/ 1 w 3379"/>
                <a:gd name="T13" fmla="*/ 1 h 710"/>
                <a:gd name="T14" fmla="*/ 0 60000 65536"/>
                <a:gd name="T15" fmla="*/ 0 60000 65536"/>
                <a:gd name="T16" fmla="*/ 0 60000 65536"/>
                <a:gd name="T17" fmla="*/ 0 60000 65536"/>
                <a:gd name="T18" fmla="*/ 0 60000 65536"/>
                <a:gd name="T19" fmla="*/ 0 60000 65536"/>
                <a:gd name="T20" fmla="*/ 0 60000 65536"/>
                <a:gd name="T21" fmla="*/ 0 w 3379"/>
                <a:gd name="T22" fmla="*/ 0 h 710"/>
                <a:gd name="T23" fmla="*/ 3379 w 3379"/>
                <a:gd name="T24" fmla="*/ 710 h 7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9" h="710">
                  <a:moveTo>
                    <a:pt x="11" y="229"/>
                  </a:moveTo>
                  <a:lnTo>
                    <a:pt x="0" y="268"/>
                  </a:lnTo>
                  <a:lnTo>
                    <a:pt x="1181" y="710"/>
                  </a:lnTo>
                  <a:lnTo>
                    <a:pt x="3379" y="43"/>
                  </a:lnTo>
                  <a:lnTo>
                    <a:pt x="3370" y="0"/>
                  </a:lnTo>
                  <a:lnTo>
                    <a:pt x="1181" y="667"/>
                  </a:lnTo>
                  <a:lnTo>
                    <a:pt x="11" y="229"/>
                  </a:lnTo>
                  <a:close/>
                </a:path>
              </a:pathLst>
            </a:custGeom>
            <a:solidFill>
              <a:srgbClr val="DEFF73"/>
            </a:solidFill>
            <a:ln w="9525">
              <a:noFill/>
              <a:round/>
              <a:headEnd/>
              <a:tailEnd/>
            </a:ln>
          </p:spPr>
          <p:txBody>
            <a:bodyPr/>
            <a:lstStyle/>
            <a:p>
              <a:endParaRPr lang="en-US"/>
            </a:p>
          </p:txBody>
        </p:sp>
        <p:sp>
          <p:nvSpPr>
            <p:cNvPr id="17636" name="Freeform 546"/>
            <p:cNvSpPr>
              <a:spLocks/>
            </p:cNvSpPr>
            <p:nvPr/>
          </p:nvSpPr>
          <p:spPr bwMode="auto">
            <a:xfrm>
              <a:off x="2386" y="2175"/>
              <a:ext cx="1620" cy="363"/>
            </a:xfrm>
            <a:custGeom>
              <a:avLst/>
              <a:gdLst>
                <a:gd name="T0" fmla="*/ 1 w 3239"/>
                <a:gd name="T1" fmla="*/ 0 h 727"/>
                <a:gd name="T2" fmla="*/ 0 w 3239"/>
                <a:gd name="T3" fmla="*/ 0 h 727"/>
                <a:gd name="T4" fmla="*/ 5 w 3239"/>
                <a:gd name="T5" fmla="*/ 2 h 727"/>
                <a:gd name="T6" fmla="*/ 13 w 3239"/>
                <a:gd name="T7" fmla="*/ 0 h 727"/>
                <a:gd name="T8" fmla="*/ 13 w 3239"/>
                <a:gd name="T9" fmla="*/ 0 h 727"/>
                <a:gd name="T10" fmla="*/ 5 w 3239"/>
                <a:gd name="T11" fmla="*/ 2 h 727"/>
                <a:gd name="T12" fmla="*/ 1 w 3239"/>
                <a:gd name="T13" fmla="*/ 0 h 727"/>
                <a:gd name="T14" fmla="*/ 0 60000 65536"/>
                <a:gd name="T15" fmla="*/ 0 60000 65536"/>
                <a:gd name="T16" fmla="*/ 0 60000 65536"/>
                <a:gd name="T17" fmla="*/ 0 60000 65536"/>
                <a:gd name="T18" fmla="*/ 0 60000 65536"/>
                <a:gd name="T19" fmla="*/ 0 60000 65536"/>
                <a:gd name="T20" fmla="*/ 0 60000 65536"/>
                <a:gd name="T21" fmla="*/ 0 w 3239"/>
                <a:gd name="T22" fmla="*/ 0 h 727"/>
                <a:gd name="T23" fmla="*/ 3239 w 3239"/>
                <a:gd name="T24" fmla="*/ 727 h 7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7">
                  <a:moveTo>
                    <a:pt x="14" y="114"/>
                  </a:moveTo>
                  <a:lnTo>
                    <a:pt x="0" y="153"/>
                  </a:lnTo>
                  <a:lnTo>
                    <a:pt x="1076" y="727"/>
                  </a:lnTo>
                  <a:lnTo>
                    <a:pt x="3239" y="39"/>
                  </a:lnTo>
                  <a:lnTo>
                    <a:pt x="3230" y="0"/>
                  </a:lnTo>
                  <a:lnTo>
                    <a:pt x="1085" y="685"/>
                  </a:lnTo>
                  <a:lnTo>
                    <a:pt x="14" y="114"/>
                  </a:lnTo>
                  <a:close/>
                </a:path>
              </a:pathLst>
            </a:custGeom>
            <a:solidFill>
              <a:srgbClr val="DEFF73"/>
            </a:solidFill>
            <a:ln w="9525">
              <a:noFill/>
              <a:round/>
              <a:headEnd/>
              <a:tailEnd/>
            </a:ln>
          </p:spPr>
          <p:txBody>
            <a:bodyPr/>
            <a:lstStyle/>
            <a:p>
              <a:endParaRPr lang="en-US"/>
            </a:p>
          </p:txBody>
        </p:sp>
        <p:sp>
          <p:nvSpPr>
            <p:cNvPr id="17637" name="Freeform 547"/>
            <p:cNvSpPr>
              <a:spLocks/>
            </p:cNvSpPr>
            <p:nvPr/>
          </p:nvSpPr>
          <p:spPr bwMode="auto">
            <a:xfrm>
              <a:off x="2315" y="1005"/>
              <a:ext cx="496" cy="331"/>
            </a:xfrm>
            <a:custGeom>
              <a:avLst/>
              <a:gdLst>
                <a:gd name="T0" fmla="*/ 0 w 993"/>
                <a:gd name="T1" fmla="*/ 0 h 664"/>
                <a:gd name="T2" fmla="*/ 0 w 993"/>
                <a:gd name="T3" fmla="*/ 1 h 664"/>
                <a:gd name="T4" fmla="*/ 3 w 993"/>
                <a:gd name="T5" fmla="*/ 2 h 664"/>
                <a:gd name="T6" fmla="*/ 3 w 993"/>
                <a:gd name="T7" fmla="*/ 1 h 664"/>
                <a:gd name="T8" fmla="*/ 0 w 993"/>
                <a:gd name="T9" fmla="*/ 0 h 664"/>
                <a:gd name="T10" fmla="*/ 0 w 993"/>
                <a:gd name="T11" fmla="*/ 0 h 664"/>
                <a:gd name="T12" fmla="*/ 0 w 993"/>
                <a:gd name="T13" fmla="*/ 0 h 664"/>
                <a:gd name="T14" fmla="*/ 0 60000 65536"/>
                <a:gd name="T15" fmla="*/ 0 60000 65536"/>
                <a:gd name="T16" fmla="*/ 0 60000 65536"/>
                <a:gd name="T17" fmla="*/ 0 60000 65536"/>
                <a:gd name="T18" fmla="*/ 0 60000 65536"/>
                <a:gd name="T19" fmla="*/ 0 60000 65536"/>
                <a:gd name="T20" fmla="*/ 0 60000 65536"/>
                <a:gd name="T21" fmla="*/ 0 w 993"/>
                <a:gd name="T22" fmla="*/ 0 h 664"/>
                <a:gd name="T23" fmla="*/ 993 w 993"/>
                <a:gd name="T24" fmla="*/ 664 h 6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3" h="664">
                  <a:moveTo>
                    <a:pt x="0" y="47"/>
                  </a:moveTo>
                  <a:lnTo>
                    <a:pt x="44" y="339"/>
                  </a:lnTo>
                  <a:lnTo>
                    <a:pt x="990" y="664"/>
                  </a:lnTo>
                  <a:lnTo>
                    <a:pt x="993" y="372"/>
                  </a:lnTo>
                  <a:lnTo>
                    <a:pt x="0" y="0"/>
                  </a:lnTo>
                  <a:lnTo>
                    <a:pt x="0" y="47"/>
                  </a:lnTo>
                  <a:close/>
                </a:path>
              </a:pathLst>
            </a:custGeom>
            <a:solidFill>
              <a:srgbClr val="99FFFB"/>
            </a:solidFill>
            <a:ln w="9525">
              <a:noFill/>
              <a:round/>
              <a:headEnd/>
              <a:tailEnd/>
            </a:ln>
          </p:spPr>
          <p:txBody>
            <a:bodyPr/>
            <a:lstStyle/>
            <a:p>
              <a:endParaRPr lang="en-US"/>
            </a:p>
          </p:txBody>
        </p:sp>
        <p:sp>
          <p:nvSpPr>
            <p:cNvPr id="17638" name="Freeform 548"/>
            <p:cNvSpPr>
              <a:spLocks/>
            </p:cNvSpPr>
            <p:nvPr/>
          </p:nvSpPr>
          <p:spPr bwMode="auto">
            <a:xfrm>
              <a:off x="2305" y="1027"/>
              <a:ext cx="516" cy="322"/>
            </a:xfrm>
            <a:custGeom>
              <a:avLst/>
              <a:gdLst>
                <a:gd name="T0" fmla="*/ 1 w 1030"/>
                <a:gd name="T1" fmla="*/ 0 h 644"/>
                <a:gd name="T2" fmla="*/ 0 w 1030"/>
                <a:gd name="T3" fmla="*/ 1 h 644"/>
                <a:gd name="T4" fmla="*/ 1 w 1030"/>
                <a:gd name="T5" fmla="*/ 2 h 644"/>
                <a:gd name="T6" fmla="*/ 5 w 1030"/>
                <a:gd name="T7" fmla="*/ 3 h 644"/>
                <a:gd name="T8" fmla="*/ 5 w 1030"/>
                <a:gd name="T9" fmla="*/ 2 h 644"/>
                <a:gd name="T10" fmla="*/ 4 w 1030"/>
                <a:gd name="T11" fmla="*/ 2 h 644"/>
                <a:gd name="T12" fmla="*/ 4 w 1030"/>
                <a:gd name="T13" fmla="*/ 3 h 644"/>
                <a:gd name="T14" fmla="*/ 1 w 1030"/>
                <a:gd name="T15" fmla="*/ 2 h 644"/>
                <a:gd name="T16" fmla="*/ 1 w 1030"/>
                <a:gd name="T17" fmla="*/ 0 h 6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0"/>
                <a:gd name="T28" fmla="*/ 0 h 644"/>
                <a:gd name="T29" fmla="*/ 1030 w 1030"/>
                <a:gd name="T30" fmla="*/ 644 h 6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0" h="644">
                  <a:moveTo>
                    <a:pt x="37" y="0"/>
                  </a:moveTo>
                  <a:lnTo>
                    <a:pt x="0" y="3"/>
                  </a:lnTo>
                  <a:lnTo>
                    <a:pt x="45" y="308"/>
                  </a:lnTo>
                  <a:lnTo>
                    <a:pt x="1026" y="644"/>
                  </a:lnTo>
                  <a:lnTo>
                    <a:pt x="1030" y="313"/>
                  </a:lnTo>
                  <a:lnTo>
                    <a:pt x="993" y="339"/>
                  </a:lnTo>
                  <a:lnTo>
                    <a:pt x="991" y="592"/>
                  </a:lnTo>
                  <a:lnTo>
                    <a:pt x="79" y="279"/>
                  </a:lnTo>
                  <a:lnTo>
                    <a:pt x="37" y="0"/>
                  </a:lnTo>
                  <a:close/>
                </a:path>
              </a:pathLst>
            </a:custGeom>
            <a:solidFill>
              <a:srgbClr val="000000"/>
            </a:solidFill>
            <a:ln w="9525">
              <a:noFill/>
              <a:round/>
              <a:headEnd/>
              <a:tailEnd/>
            </a:ln>
          </p:spPr>
          <p:txBody>
            <a:bodyPr/>
            <a:lstStyle/>
            <a:p>
              <a:endParaRPr lang="en-US"/>
            </a:p>
          </p:txBody>
        </p:sp>
        <p:sp>
          <p:nvSpPr>
            <p:cNvPr id="17639" name="Freeform 549"/>
            <p:cNvSpPr>
              <a:spLocks/>
            </p:cNvSpPr>
            <p:nvPr/>
          </p:nvSpPr>
          <p:spPr bwMode="auto">
            <a:xfrm>
              <a:off x="2305" y="991"/>
              <a:ext cx="516" cy="206"/>
            </a:xfrm>
            <a:custGeom>
              <a:avLst/>
              <a:gdLst>
                <a:gd name="T0" fmla="*/ 5 w 1030"/>
                <a:gd name="T1" fmla="*/ 2 h 412"/>
                <a:gd name="T2" fmla="*/ 1 w 1030"/>
                <a:gd name="T3" fmla="*/ 0 h 412"/>
                <a:gd name="T4" fmla="*/ 0 w 1030"/>
                <a:gd name="T5" fmla="*/ 1 h 412"/>
                <a:gd name="T6" fmla="*/ 0 w 1030"/>
                <a:gd name="T7" fmla="*/ 1 h 412"/>
                <a:gd name="T8" fmla="*/ 1 w 1030"/>
                <a:gd name="T9" fmla="*/ 1 h 412"/>
                <a:gd name="T10" fmla="*/ 1 w 1030"/>
                <a:gd name="T11" fmla="*/ 1 h 412"/>
                <a:gd name="T12" fmla="*/ 4 w 1030"/>
                <a:gd name="T13" fmla="*/ 2 h 412"/>
                <a:gd name="T14" fmla="*/ 5 w 1030"/>
                <a:gd name="T15" fmla="*/ 2 h 412"/>
                <a:gd name="T16" fmla="*/ 0 60000 65536"/>
                <a:gd name="T17" fmla="*/ 0 60000 65536"/>
                <a:gd name="T18" fmla="*/ 0 60000 65536"/>
                <a:gd name="T19" fmla="*/ 0 60000 65536"/>
                <a:gd name="T20" fmla="*/ 0 60000 65536"/>
                <a:gd name="T21" fmla="*/ 0 60000 65536"/>
                <a:gd name="T22" fmla="*/ 0 60000 65536"/>
                <a:gd name="T23" fmla="*/ 0 60000 65536"/>
                <a:gd name="T24" fmla="*/ 0 w 1030"/>
                <a:gd name="T25" fmla="*/ 0 h 412"/>
                <a:gd name="T26" fmla="*/ 1030 w 1030"/>
                <a:gd name="T27" fmla="*/ 412 h 4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0" h="412">
                  <a:moveTo>
                    <a:pt x="1030" y="386"/>
                  </a:moveTo>
                  <a:lnTo>
                    <a:pt x="1" y="0"/>
                  </a:lnTo>
                  <a:lnTo>
                    <a:pt x="0" y="74"/>
                  </a:lnTo>
                  <a:lnTo>
                    <a:pt x="0" y="76"/>
                  </a:lnTo>
                  <a:lnTo>
                    <a:pt x="37" y="73"/>
                  </a:lnTo>
                  <a:lnTo>
                    <a:pt x="37" y="55"/>
                  </a:lnTo>
                  <a:lnTo>
                    <a:pt x="993" y="412"/>
                  </a:lnTo>
                  <a:lnTo>
                    <a:pt x="1030" y="386"/>
                  </a:lnTo>
                  <a:close/>
                </a:path>
              </a:pathLst>
            </a:custGeom>
            <a:solidFill>
              <a:srgbClr val="000000"/>
            </a:solidFill>
            <a:ln w="9525">
              <a:noFill/>
              <a:round/>
              <a:headEnd/>
              <a:tailEnd/>
            </a:ln>
          </p:spPr>
          <p:txBody>
            <a:bodyPr/>
            <a:lstStyle/>
            <a:p>
              <a:endParaRPr lang="en-US"/>
            </a:p>
          </p:txBody>
        </p:sp>
        <p:sp>
          <p:nvSpPr>
            <p:cNvPr id="17640" name="Freeform 550"/>
            <p:cNvSpPr>
              <a:spLocks/>
            </p:cNvSpPr>
            <p:nvPr/>
          </p:nvSpPr>
          <p:spPr bwMode="auto">
            <a:xfrm>
              <a:off x="2340" y="1403"/>
              <a:ext cx="502" cy="270"/>
            </a:xfrm>
            <a:custGeom>
              <a:avLst/>
              <a:gdLst>
                <a:gd name="T0" fmla="*/ 0 w 1005"/>
                <a:gd name="T1" fmla="*/ 0 h 540"/>
                <a:gd name="T2" fmla="*/ 0 w 1005"/>
                <a:gd name="T3" fmla="*/ 1 h 540"/>
                <a:gd name="T4" fmla="*/ 3 w 1005"/>
                <a:gd name="T5" fmla="*/ 2 h 540"/>
                <a:gd name="T6" fmla="*/ 3 w 1005"/>
                <a:gd name="T7" fmla="*/ 1 h 540"/>
                <a:gd name="T8" fmla="*/ 0 w 1005"/>
                <a:gd name="T9" fmla="*/ 0 h 540"/>
                <a:gd name="T10" fmla="*/ 0 w 1005"/>
                <a:gd name="T11" fmla="*/ 0 h 540"/>
                <a:gd name="T12" fmla="*/ 0 w 1005"/>
                <a:gd name="T13" fmla="*/ 0 h 540"/>
                <a:gd name="T14" fmla="*/ 0 60000 65536"/>
                <a:gd name="T15" fmla="*/ 0 60000 65536"/>
                <a:gd name="T16" fmla="*/ 0 60000 65536"/>
                <a:gd name="T17" fmla="*/ 0 60000 65536"/>
                <a:gd name="T18" fmla="*/ 0 60000 65536"/>
                <a:gd name="T19" fmla="*/ 0 60000 65536"/>
                <a:gd name="T20" fmla="*/ 0 60000 65536"/>
                <a:gd name="T21" fmla="*/ 0 w 1005"/>
                <a:gd name="T22" fmla="*/ 0 h 540"/>
                <a:gd name="T23" fmla="*/ 1005 w 1005"/>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5" h="540">
                  <a:moveTo>
                    <a:pt x="34" y="0"/>
                  </a:moveTo>
                  <a:lnTo>
                    <a:pt x="94" y="245"/>
                  </a:lnTo>
                  <a:lnTo>
                    <a:pt x="1005" y="540"/>
                  </a:lnTo>
                  <a:lnTo>
                    <a:pt x="993" y="317"/>
                  </a:lnTo>
                  <a:lnTo>
                    <a:pt x="0" y="0"/>
                  </a:lnTo>
                  <a:lnTo>
                    <a:pt x="34" y="0"/>
                  </a:lnTo>
                  <a:close/>
                </a:path>
              </a:pathLst>
            </a:custGeom>
            <a:solidFill>
              <a:srgbClr val="99FFFB"/>
            </a:solidFill>
            <a:ln w="9525">
              <a:noFill/>
              <a:round/>
              <a:headEnd/>
              <a:tailEnd/>
            </a:ln>
          </p:spPr>
          <p:txBody>
            <a:bodyPr/>
            <a:lstStyle/>
            <a:p>
              <a:endParaRPr lang="en-US"/>
            </a:p>
          </p:txBody>
        </p:sp>
        <p:sp>
          <p:nvSpPr>
            <p:cNvPr id="17641" name="Freeform 551"/>
            <p:cNvSpPr>
              <a:spLocks/>
            </p:cNvSpPr>
            <p:nvPr/>
          </p:nvSpPr>
          <p:spPr bwMode="auto">
            <a:xfrm>
              <a:off x="2348" y="1401"/>
              <a:ext cx="504" cy="285"/>
            </a:xfrm>
            <a:custGeom>
              <a:avLst/>
              <a:gdLst>
                <a:gd name="T0" fmla="*/ 1 w 1008"/>
                <a:gd name="T1" fmla="*/ 0 h 571"/>
                <a:gd name="T2" fmla="*/ 0 w 1008"/>
                <a:gd name="T3" fmla="*/ 0 h 571"/>
                <a:gd name="T4" fmla="*/ 1 w 1008"/>
                <a:gd name="T5" fmla="*/ 1 h 571"/>
                <a:gd name="T6" fmla="*/ 4 w 1008"/>
                <a:gd name="T7" fmla="*/ 2 h 571"/>
                <a:gd name="T8" fmla="*/ 4 w 1008"/>
                <a:gd name="T9" fmla="*/ 1 h 571"/>
                <a:gd name="T10" fmla="*/ 4 w 1008"/>
                <a:gd name="T11" fmla="*/ 1 h 571"/>
                <a:gd name="T12" fmla="*/ 4 w 1008"/>
                <a:gd name="T13" fmla="*/ 2 h 571"/>
                <a:gd name="T14" fmla="*/ 1 w 1008"/>
                <a:gd name="T15" fmla="*/ 0 h 571"/>
                <a:gd name="T16" fmla="*/ 1 w 1008"/>
                <a:gd name="T17" fmla="*/ 0 h 5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8"/>
                <a:gd name="T28" fmla="*/ 0 h 571"/>
                <a:gd name="T29" fmla="*/ 1008 w 1008"/>
                <a:gd name="T30" fmla="*/ 571 h 5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8" h="571">
                  <a:moveTo>
                    <a:pt x="35" y="0"/>
                  </a:moveTo>
                  <a:lnTo>
                    <a:pt x="0" y="10"/>
                  </a:lnTo>
                  <a:lnTo>
                    <a:pt x="62" y="264"/>
                  </a:lnTo>
                  <a:lnTo>
                    <a:pt x="1008" y="571"/>
                  </a:lnTo>
                  <a:lnTo>
                    <a:pt x="996" y="307"/>
                  </a:lnTo>
                  <a:lnTo>
                    <a:pt x="958" y="336"/>
                  </a:lnTo>
                  <a:lnTo>
                    <a:pt x="970" y="519"/>
                  </a:lnTo>
                  <a:lnTo>
                    <a:pt x="94" y="235"/>
                  </a:lnTo>
                  <a:lnTo>
                    <a:pt x="35" y="0"/>
                  </a:lnTo>
                  <a:close/>
                </a:path>
              </a:pathLst>
            </a:custGeom>
            <a:solidFill>
              <a:srgbClr val="000000"/>
            </a:solidFill>
            <a:ln w="9525">
              <a:noFill/>
              <a:round/>
              <a:headEnd/>
              <a:tailEnd/>
            </a:ln>
          </p:spPr>
          <p:txBody>
            <a:bodyPr/>
            <a:lstStyle/>
            <a:p>
              <a:endParaRPr lang="en-US"/>
            </a:p>
          </p:txBody>
        </p:sp>
        <p:sp>
          <p:nvSpPr>
            <p:cNvPr id="17642" name="Freeform 552"/>
            <p:cNvSpPr>
              <a:spLocks/>
            </p:cNvSpPr>
            <p:nvPr/>
          </p:nvSpPr>
          <p:spPr bwMode="auto">
            <a:xfrm>
              <a:off x="2338" y="1393"/>
              <a:ext cx="508" cy="176"/>
            </a:xfrm>
            <a:custGeom>
              <a:avLst/>
              <a:gdLst>
                <a:gd name="T0" fmla="*/ 4 w 1016"/>
                <a:gd name="T1" fmla="*/ 2 h 350"/>
                <a:gd name="T2" fmla="*/ 1 w 1016"/>
                <a:gd name="T3" fmla="*/ 0 h 350"/>
                <a:gd name="T4" fmla="*/ 1 w 1016"/>
                <a:gd name="T5" fmla="*/ 1 h 350"/>
                <a:gd name="T6" fmla="*/ 0 w 1016"/>
                <a:gd name="T7" fmla="*/ 1 h 350"/>
                <a:gd name="T8" fmla="*/ 4 w 1016"/>
                <a:gd name="T9" fmla="*/ 2 h 350"/>
                <a:gd name="T10" fmla="*/ 4 w 1016"/>
                <a:gd name="T11" fmla="*/ 2 h 350"/>
                <a:gd name="T12" fmla="*/ 0 60000 65536"/>
                <a:gd name="T13" fmla="*/ 0 60000 65536"/>
                <a:gd name="T14" fmla="*/ 0 60000 65536"/>
                <a:gd name="T15" fmla="*/ 0 60000 65536"/>
                <a:gd name="T16" fmla="*/ 0 60000 65536"/>
                <a:gd name="T17" fmla="*/ 0 60000 65536"/>
                <a:gd name="T18" fmla="*/ 0 w 1016"/>
                <a:gd name="T19" fmla="*/ 0 h 350"/>
                <a:gd name="T20" fmla="*/ 1016 w 1016"/>
                <a:gd name="T21" fmla="*/ 350 h 350"/>
              </a:gdLst>
              <a:ahLst/>
              <a:cxnLst>
                <a:cxn ang="T12">
                  <a:pos x="T0" y="T1"/>
                </a:cxn>
                <a:cxn ang="T13">
                  <a:pos x="T2" y="T3"/>
                </a:cxn>
                <a:cxn ang="T14">
                  <a:pos x="T4" y="T5"/>
                </a:cxn>
                <a:cxn ang="T15">
                  <a:pos x="T6" y="T7"/>
                </a:cxn>
                <a:cxn ang="T16">
                  <a:pos x="T8" y="T9"/>
                </a:cxn>
                <a:cxn ang="T17">
                  <a:pos x="T10" y="T11"/>
                </a:cxn>
              </a:cxnLst>
              <a:rect l="T18" t="T19" r="T20" b="T21"/>
              <a:pathLst>
                <a:path w="1016" h="350">
                  <a:moveTo>
                    <a:pt x="1016" y="321"/>
                  </a:moveTo>
                  <a:lnTo>
                    <a:pt x="9" y="0"/>
                  </a:lnTo>
                  <a:lnTo>
                    <a:pt x="4" y="19"/>
                  </a:lnTo>
                  <a:lnTo>
                    <a:pt x="0" y="39"/>
                  </a:lnTo>
                  <a:lnTo>
                    <a:pt x="978" y="350"/>
                  </a:lnTo>
                  <a:lnTo>
                    <a:pt x="1016" y="321"/>
                  </a:lnTo>
                  <a:close/>
                </a:path>
              </a:pathLst>
            </a:custGeom>
            <a:solidFill>
              <a:srgbClr val="000000"/>
            </a:solidFill>
            <a:ln w="9525">
              <a:noFill/>
              <a:round/>
              <a:headEnd/>
              <a:tailEnd/>
            </a:ln>
          </p:spPr>
          <p:txBody>
            <a:bodyPr/>
            <a:lstStyle/>
            <a:p>
              <a:endParaRPr lang="en-US"/>
            </a:p>
          </p:txBody>
        </p:sp>
        <p:sp>
          <p:nvSpPr>
            <p:cNvPr id="17643" name="Freeform 553"/>
            <p:cNvSpPr>
              <a:spLocks/>
            </p:cNvSpPr>
            <p:nvPr/>
          </p:nvSpPr>
          <p:spPr bwMode="auto">
            <a:xfrm>
              <a:off x="2370" y="1429"/>
              <a:ext cx="443" cy="148"/>
            </a:xfrm>
            <a:custGeom>
              <a:avLst/>
              <a:gdLst>
                <a:gd name="T0" fmla="*/ 1 w 885"/>
                <a:gd name="T1" fmla="*/ 1 h 296"/>
                <a:gd name="T2" fmla="*/ 0 w 885"/>
                <a:gd name="T3" fmla="*/ 0 h 296"/>
                <a:gd name="T4" fmla="*/ 4 w 885"/>
                <a:gd name="T5" fmla="*/ 1 h 296"/>
                <a:gd name="T6" fmla="*/ 1 w 885"/>
                <a:gd name="T7" fmla="*/ 1 h 296"/>
                <a:gd name="T8" fmla="*/ 1 w 885"/>
                <a:gd name="T9" fmla="*/ 1 h 296"/>
                <a:gd name="T10" fmla="*/ 0 60000 65536"/>
                <a:gd name="T11" fmla="*/ 0 60000 65536"/>
                <a:gd name="T12" fmla="*/ 0 60000 65536"/>
                <a:gd name="T13" fmla="*/ 0 60000 65536"/>
                <a:gd name="T14" fmla="*/ 0 60000 65536"/>
                <a:gd name="T15" fmla="*/ 0 w 885"/>
                <a:gd name="T16" fmla="*/ 0 h 296"/>
                <a:gd name="T17" fmla="*/ 885 w 885"/>
                <a:gd name="T18" fmla="*/ 296 h 296"/>
              </a:gdLst>
              <a:ahLst/>
              <a:cxnLst>
                <a:cxn ang="T10">
                  <a:pos x="T0" y="T1"/>
                </a:cxn>
                <a:cxn ang="T11">
                  <a:pos x="T2" y="T3"/>
                </a:cxn>
                <a:cxn ang="T12">
                  <a:pos x="T4" y="T5"/>
                </a:cxn>
                <a:cxn ang="T13">
                  <a:pos x="T6" y="T7"/>
                </a:cxn>
                <a:cxn ang="T14">
                  <a:pos x="T8" y="T9"/>
                </a:cxn>
              </a:cxnLst>
              <a:rect l="T15" t="T16" r="T17" b="T18"/>
              <a:pathLst>
                <a:path w="885" h="296">
                  <a:moveTo>
                    <a:pt x="50" y="115"/>
                  </a:moveTo>
                  <a:lnTo>
                    <a:pt x="0" y="0"/>
                  </a:lnTo>
                  <a:lnTo>
                    <a:pt x="885" y="296"/>
                  </a:lnTo>
                  <a:lnTo>
                    <a:pt x="50" y="115"/>
                  </a:lnTo>
                  <a:close/>
                </a:path>
              </a:pathLst>
            </a:custGeom>
            <a:solidFill>
              <a:srgbClr val="99FFFB"/>
            </a:solidFill>
            <a:ln w="9525">
              <a:noFill/>
              <a:round/>
              <a:headEnd/>
              <a:tailEnd/>
            </a:ln>
          </p:spPr>
          <p:txBody>
            <a:bodyPr/>
            <a:lstStyle/>
            <a:p>
              <a:endParaRPr lang="en-US"/>
            </a:p>
          </p:txBody>
        </p:sp>
        <p:sp>
          <p:nvSpPr>
            <p:cNvPr id="17644" name="Freeform 554"/>
            <p:cNvSpPr>
              <a:spLocks/>
            </p:cNvSpPr>
            <p:nvPr/>
          </p:nvSpPr>
          <p:spPr bwMode="auto">
            <a:xfrm>
              <a:off x="2468" y="2490"/>
              <a:ext cx="343" cy="194"/>
            </a:xfrm>
            <a:custGeom>
              <a:avLst/>
              <a:gdLst>
                <a:gd name="T0" fmla="*/ 0 w 687"/>
                <a:gd name="T1" fmla="*/ 0 h 386"/>
                <a:gd name="T2" fmla="*/ 0 w 687"/>
                <a:gd name="T3" fmla="*/ 1 h 386"/>
                <a:gd name="T4" fmla="*/ 2 w 687"/>
                <a:gd name="T5" fmla="*/ 2 h 386"/>
                <a:gd name="T6" fmla="*/ 2 w 687"/>
                <a:gd name="T7" fmla="*/ 2 h 386"/>
                <a:gd name="T8" fmla="*/ 0 w 687"/>
                <a:gd name="T9" fmla="*/ 0 h 386"/>
                <a:gd name="T10" fmla="*/ 0 60000 65536"/>
                <a:gd name="T11" fmla="*/ 0 60000 65536"/>
                <a:gd name="T12" fmla="*/ 0 60000 65536"/>
                <a:gd name="T13" fmla="*/ 0 60000 65536"/>
                <a:gd name="T14" fmla="*/ 0 60000 65536"/>
                <a:gd name="T15" fmla="*/ 0 w 687"/>
                <a:gd name="T16" fmla="*/ 0 h 386"/>
                <a:gd name="T17" fmla="*/ 687 w 687"/>
                <a:gd name="T18" fmla="*/ 386 h 386"/>
              </a:gdLst>
              <a:ahLst/>
              <a:cxnLst>
                <a:cxn ang="T10">
                  <a:pos x="T0" y="T1"/>
                </a:cxn>
                <a:cxn ang="T11">
                  <a:pos x="T2" y="T3"/>
                </a:cxn>
                <a:cxn ang="T12">
                  <a:pos x="T4" y="T5"/>
                </a:cxn>
                <a:cxn ang="T13">
                  <a:pos x="T6" y="T7"/>
                </a:cxn>
                <a:cxn ang="T14">
                  <a:pos x="T8" y="T9"/>
                </a:cxn>
              </a:cxnLst>
              <a:rect l="T15" t="T16" r="T17" b="T18"/>
              <a:pathLst>
                <a:path w="687" h="386">
                  <a:moveTo>
                    <a:pt x="24" y="0"/>
                  </a:moveTo>
                  <a:lnTo>
                    <a:pt x="0" y="58"/>
                  </a:lnTo>
                  <a:lnTo>
                    <a:pt x="664" y="386"/>
                  </a:lnTo>
                  <a:lnTo>
                    <a:pt x="687" y="327"/>
                  </a:lnTo>
                  <a:lnTo>
                    <a:pt x="24" y="0"/>
                  </a:lnTo>
                  <a:close/>
                </a:path>
              </a:pathLst>
            </a:custGeom>
            <a:solidFill>
              <a:srgbClr val="000000"/>
            </a:solidFill>
            <a:ln w="9525">
              <a:noFill/>
              <a:round/>
              <a:headEnd/>
              <a:tailEnd/>
            </a:ln>
          </p:spPr>
          <p:txBody>
            <a:bodyPr/>
            <a:lstStyle/>
            <a:p>
              <a:endParaRPr lang="en-US"/>
            </a:p>
          </p:txBody>
        </p:sp>
        <p:sp>
          <p:nvSpPr>
            <p:cNvPr id="17645" name="Freeform 555"/>
            <p:cNvSpPr>
              <a:spLocks/>
            </p:cNvSpPr>
            <p:nvPr/>
          </p:nvSpPr>
          <p:spPr bwMode="auto">
            <a:xfrm>
              <a:off x="2463" y="2566"/>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7646" name="Freeform 556"/>
            <p:cNvSpPr>
              <a:spLocks/>
            </p:cNvSpPr>
            <p:nvPr/>
          </p:nvSpPr>
          <p:spPr bwMode="auto">
            <a:xfrm>
              <a:off x="2442" y="2641"/>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7647" name="Freeform 557"/>
            <p:cNvSpPr>
              <a:spLocks/>
            </p:cNvSpPr>
            <p:nvPr/>
          </p:nvSpPr>
          <p:spPr bwMode="auto">
            <a:xfrm>
              <a:off x="2437" y="2718"/>
              <a:ext cx="350" cy="221"/>
            </a:xfrm>
            <a:custGeom>
              <a:avLst/>
              <a:gdLst>
                <a:gd name="T0" fmla="*/ 1 w 699"/>
                <a:gd name="T1" fmla="*/ 0 h 441"/>
                <a:gd name="T2" fmla="*/ 0 w 699"/>
                <a:gd name="T3" fmla="*/ 1 h 441"/>
                <a:gd name="T4" fmla="*/ 3 w 699"/>
                <a:gd name="T5" fmla="*/ 2 h 441"/>
                <a:gd name="T6" fmla="*/ 3 w 699"/>
                <a:gd name="T7" fmla="*/ 2 h 441"/>
                <a:gd name="T8" fmla="*/ 1 w 699"/>
                <a:gd name="T9" fmla="*/ 0 h 441"/>
                <a:gd name="T10" fmla="*/ 0 60000 65536"/>
                <a:gd name="T11" fmla="*/ 0 60000 65536"/>
                <a:gd name="T12" fmla="*/ 0 60000 65536"/>
                <a:gd name="T13" fmla="*/ 0 60000 65536"/>
                <a:gd name="T14" fmla="*/ 0 60000 65536"/>
                <a:gd name="T15" fmla="*/ 0 w 699"/>
                <a:gd name="T16" fmla="*/ 0 h 441"/>
                <a:gd name="T17" fmla="*/ 699 w 699"/>
                <a:gd name="T18" fmla="*/ 441 h 441"/>
              </a:gdLst>
              <a:ahLst/>
              <a:cxnLst>
                <a:cxn ang="T10">
                  <a:pos x="T0" y="T1"/>
                </a:cxn>
                <a:cxn ang="T11">
                  <a:pos x="T2" y="T3"/>
                </a:cxn>
                <a:cxn ang="T12">
                  <a:pos x="T4" y="T5"/>
                </a:cxn>
                <a:cxn ang="T13">
                  <a:pos x="T6" y="T7"/>
                </a:cxn>
                <a:cxn ang="T14">
                  <a:pos x="T8" y="T9"/>
                </a:cxn>
              </a:cxnLst>
              <a:rect l="T15" t="T16" r="T17" b="T18"/>
              <a:pathLst>
                <a:path w="699" h="441">
                  <a:moveTo>
                    <a:pt x="27" y="0"/>
                  </a:moveTo>
                  <a:lnTo>
                    <a:pt x="0" y="58"/>
                  </a:lnTo>
                  <a:lnTo>
                    <a:pt x="673" y="441"/>
                  </a:lnTo>
                  <a:lnTo>
                    <a:pt x="699" y="383"/>
                  </a:lnTo>
                  <a:lnTo>
                    <a:pt x="27" y="0"/>
                  </a:lnTo>
                  <a:close/>
                </a:path>
              </a:pathLst>
            </a:custGeom>
            <a:solidFill>
              <a:srgbClr val="000000"/>
            </a:solidFill>
            <a:ln w="9525">
              <a:noFill/>
              <a:round/>
              <a:headEnd/>
              <a:tailEnd/>
            </a:ln>
          </p:spPr>
          <p:txBody>
            <a:bodyPr/>
            <a:lstStyle/>
            <a:p>
              <a:endParaRPr lang="en-US"/>
            </a:p>
          </p:txBody>
        </p:sp>
        <p:sp>
          <p:nvSpPr>
            <p:cNvPr id="17648" name="Freeform 558"/>
            <p:cNvSpPr>
              <a:spLocks/>
            </p:cNvSpPr>
            <p:nvPr/>
          </p:nvSpPr>
          <p:spPr bwMode="auto">
            <a:xfrm>
              <a:off x="2934" y="770"/>
              <a:ext cx="1059" cy="264"/>
            </a:xfrm>
            <a:custGeom>
              <a:avLst/>
              <a:gdLst>
                <a:gd name="T0" fmla="*/ 0 w 2119"/>
                <a:gd name="T1" fmla="*/ 2 h 528"/>
                <a:gd name="T2" fmla="*/ 0 w 2119"/>
                <a:gd name="T3" fmla="*/ 2 h 528"/>
                <a:gd name="T4" fmla="*/ 8 w 2119"/>
                <a:gd name="T5" fmla="*/ 1 h 528"/>
                <a:gd name="T6" fmla="*/ 8 w 2119"/>
                <a:gd name="T7" fmla="*/ 0 h 528"/>
                <a:gd name="T8" fmla="*/ 0 w 2119"/>
                <a:gd name="T9" fmla="*/ 2 h 528"/>
                <a:gd name="T10" fmla="*/ 0 60000 65536"/>
                <a:gd name="T11" fmla="*/ 0 60000 65536"/>
                <a:gd name="T12" fmla="*/ 0 60000 65536"/>
                <a:gd name="T13" fmla="*/ 0 60000 65536"/>
                <a:gd name="T14" fmla="*/ 0 60000 65536"/>
                <a:gd name="T15" fmla="*/ 0 w 2119"/>
                <a:gd name="T16" fmla="*/ 0 h 528"/>
                <a:gd name="T17" fmla="*/ 2119 w 2119"/>
                <a:gd name="T18" fmla="*/ 528 h 528"/>
              </a:gdLst>
              <a:ahLst/>
              <a:cxnLst>
                <a:cxn ang="T10">
                  <a:pos x="T0" y="T1"/>
                </a:cxn>
                <a:cxn ang="T11">
                  <a:pos x="T2" y="T3"/>
                </a:cxn>
                <a:cxn ang="T12">
                  <a:pos x="T4" y="T5"/>
                </a:cxn>
                <a:cxn ang="T13">
                  <a:pos x="T6" y="T7"/>
                </a:cxn>
                <a:cxn ang="T14">
                  <a:pos x="T8" y="T9"/>
                </a:cxn>
              </a:cxnLst>
              <a:rect l="T15" t="T16" r="T17" b="T18"/>
              <a:pathLst>
                <a:path w="2119" h="528">
                  <a:moveTo>
                    <a:pt x="0" y="486"/>
                  </a:moveTo>
                  <a:lnTo>
                    <a:pt x="6" y="528"/>
                  </a:lnTo>
                  <a:lnTo>
                    <a:pt x="2119" y="42"/>
                  </a:lnTo>
                  <a:lnTo>
                    <a:pt x="2114" y="0"/>
                  </a:lnTo>
                  <a:lnTo>
                    <a:pt x="0" y="486"/>
                  </a:lnTo>
                  <a:close/>
                </a:path>
              </a:pathLst>
            </a:custGeom>
            <a:solidFill>
              <a:srgbClr val="DEFF73"/>
            </a:solidFill>
            <a:ln w="9525">
              <a:noFill/>
              <a:round/>
              <a:headEnd/>
              <a:tailEnd/>
            </a:ln>
          </p:spPr>
          <p:txBody>
            <a:bodyPr/>
            <a:lstStyle/>
            <a:p>
              <a:endParaRPr lang="en-US"/>
            </a:p>
          </p:txBody>
        </p:sp>
        <p:sp>
          <p:nvSpPr>
            <p:cNvPr id="17649" name="Freeform 559"/>
            <p:cNvSpPr>
              <a:spLocks/>
            </p:cNvSpPr>
            <p:nvPr/>
          </p:nvSpPr>
          <p:spPr bwMode="auto">
            <a:xfrm>
              <a:off x="2256" y="672"/>
              <a:ext cx="1872" cy="384"/>
            </a:xfrm>
            <a:custGeom>
              <a:avLst/>
              <a:gdLst>
                <a:gd name="T0" fmla="*/ 1872 w 1872"/>
                <a:gd name="T1" fmla="*/ 96 h 384"/>
                <a:gd name="T2" fmla="*/ 672 w 1872"/>
                <a:gd name="T3" fmla="*/ 384 h 384"/>
                <a:gd name="T4" fmla="*/ 0 w 1872"/>
                <a:gd name="T5" fmla="*/ 192 h 384"/>
                <a:gd name="T6" fmla="*/ 1392 w 1872"/>
                <a:gd name="T7" fmla="*/ 0 h 384"/>
                <a:gd name="T8" fmla="*/ 1872 w 1872"/>
                <a:gd name="T9" fmla="*/ 96 h 384"/>
                <a:gd name="T10" fmla="*/ 0 60000 65536"/>
                <a:gd name="T11" fmla="*/ 0 60000 65536"/>
                <a:gd name="T12" fmla="*/ 0 60000 65536"/>
                <a:gd name="T13" fmla="*/ 0 60000 65536"/>
                <a:gd name="T14" fmla="*/ 0 60000 65536"/>
                <a:gd name="T15" fmla="*/ 0 w 1872"/>
                <a:gd name="T16" fmla="*/ 0 h 384"/>
                <a:gd name="T17" fmla="*/ 1872 w 1872"/>
                <a:gd name="T18" fmla="*/ 384 h 384"/>
              </a:gdLst>
              <a:ahLst/>
              <a:cxnLst>
                <a:cxn ang="T10">
                  <a:pos x="T0" y="T1"/>
                </a:cxn>
                <a:cxn ang="T11">
                  <a:pos x="T2" y="T3"/>
                </a:cxn>
                <a:cxn ang="T12">
                  <a:pos x="T4" y="T5"/>
                </a:cxn>
                <a:cxn ang="T13">
                  <a:pos x="T6" y="T7"/>
                </a:cxn>
                <a:cxn ang="T14">
                  <a:pos x="T8" y="T9"/>
                </a:cxn>
              </a:cxnLst>
              <a:rect l="T15" t="T16" r="T17" b="T18"/>
              <a:pathLst>
                <a:path w="1872" h="384">
                  <a:moveTo>
                    <a:pt x="1872" y="96"/>
                  </a:moveTo>
                  <a:lnTo>
                    <a:pt x="672" y="384"/>
                  </a:lnTo>
                  <a:lnTo>
                    <a:pt x="0" y="192"/>
                  </a:lnTo>
                  <a:lnTo>
                    <a:pt x="1392" y="0"/>
                  </a:lnTo>
                  <a:lnTo>
                    <a:pt x="1872" y="96"/>
                  </a:lnTo>
                  <a:close/>
                </a:path>
              </a:pathLst>
            </a:custGeom>
            <a:gradFill rotWithShape="0">
              <a:gsLst>
                <a:gs pos="0">
                  <a:srgbClr val="BEE761"/>
                </a:gs>
                <a:gs pos="100000">
                  <a:srgbClr val="44D6FE"/>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434" name="Group 560"/>
          <p:cNvGrpSpPr>
            <a:grpSpLocks/>
          </p:cNvGrpSpPr>
          <p:nvPr/>
        </p:nvGrpSpPr>
        <p:grpSpPr bwMode="auto">
          <a:xfrm rot="-245528">
            <a:off x="4572000" y="5943600"/>
            <a:ext cx="238125" cy="309563"/>
            <a:chOff x="2202" y="666"/>
            <a:chExt cx="2001" cy="2601"/>
          </a:xfrm>
        </p:grpSpPr>
        <p:sp>
          <p:nvSpPr>
            <p:cNvPr id="17596" name="Freeform 561"/>
            <p:cNvSpPr>
              <a:spLocks/>
            </p:cNvSpPr>
            <p:nvPr/>
          </p:nvSpPr>
          <p:spPr bwMode="auto">
            <a:xfrm>
              <a:off x="2236" y="871"/>
              <a:ext cx="692" cy="2345"/>
            </a:xfrm>
            <a:custGeom>
              <a:avLst/>
              <a:gdLst>
                <a:gd name="T0" fmla="*/ 692 w 692"/>
                <a:gd name="T1" fmla="*/ 2345 h 2345"/>
                <a:gd name="T2" fmla="*/ 116 w 692"/>
                <a:gd name="T3" fmla="*/ 2009 h 2345"/>
                <a:gd name="T4" fmla="*/ 116 w 692"/>
                <a:gd name="T5" fmla="*/ 1385 h 2345"/>
                <a:gd name="T6" fmla="*/ 164 w 692"/>
                <a:gd name="T7" fmla="*/ 1193 h 2345"/>
                <a:gd name="T8" fmla="*/ 0 w 692"/>
                <a:gd name="T9" fmla="*/ 0 h 2345"/>
                <a:gd name="T10" fmla="*/ 673 w 692"/>
                <a:gd name="T11" fmla="*/ 222 h 2345"/>
                <a:gd name="T12" fmla="*/ 692 w 692"/>
                <a:gd name="T13" fmla="*/ 2345 h 2345"/>
                <a:gd name="T14" fmla="*/ 0 60000 65536"/>
                <a:gd name="T15" fmla="*/ 0 60000 65536"/>
                <a:gd name="T16" fmla="*/ 0 60000 65536"/>
                <a:gd name="T17" fmla="*/ 0 60000 65536"/>
                <a:gd name="T18" fmla="*/ 0 60000 65536"/>
                <a:gd name="T19" fmla="*/ 0 60000 65536"/>
                <a:gd name="T20" fmla="*/ 0 60000 65536"/>
                <a:gd name="T21" fmla="*/ 0 w 692"/>
                <a:gd name="T22" fmla="*/ 0 h 2345"/>
                <a:gd name="T23" fmla="*/ 692 w 692"/>
                <a:gd name="T24" fmla="*/ 2345 h 23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2" h="2345">
                  <a:moveTo>
                    <a:pt x="692" y="2345"/>
                  </a:moveTo>
                  <a:lnTo>
                    <a:pt x="116" y="2009"/>
                  </a:lnTo>
                  <a:lnTo>
                    <a:pt x="116" y="1385"/>
                  </a:lnTo>
                  <a:lnTo>
                    <a:pt x="164" y="1193"/>
                  </a:lnTo>
                  <a:lnTo>
                    <a:pt x="0" y="0"/>
                  </a:lnTo>
                  <a:lnTo>
                    <a:pt x="673" y="222"/>
                  </a:lnTo>
                  <a:lnTo>
                    <a:pt x="692" y="2345"/>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7597" name="Freeform 562"/>
            <p:cNvSpPr>
              <a:spLocks/>
            </p:cNvSpPr>
            <p:nvPr/>
          </p:nvSpPr>
          <p:spPr bwMode="auto">
            <a:xfrm>
              <a:off x="2928" y="768"/>
              <a:ext cx="1248" cy="2448"/>
            </a:xfrm>
            <a:custGeom>
              <a:avLst/>
              <a:gdLst>
                <a:gd name="T0" fmla="*/ 0 w 1248"/>
                <a:gd name="T1" fmla="*/ 336 h 2448"/>
                <a:gd name="T2" fmla="*/ 0 w 1248"/>
                <a:gd name="T3" fmla="*/ 2448 h 2448"/>
                <a:gd name="T4" fmla="*/ 1200 w 1248"/>
                <a:gd name="T5" fmla="*/ 1968 h 2448"/>
                <a:gd name="T6" fmla="*/ 1008 w 1248"/>
                <a:gd name="T7" fmla="*/ 1008 h 2448"/>
                <a:gd name="T8" fmla="*/ 1248 w 1248"/>
                <a:gd name="T9" fmla="*/ 0 h 2448"/>
                <a:gd name="T10" fmla="*/ 0 w 1248"/>
                <a:gd name="T11" fmla="*/ 336 h 2448"/>
                <a:gd name="T12" fmla="*/ 0 60000 65536"/>
                <a:gd name="T13" fmla="*/ 0 60000 65536"/>
                <a:gd name="T14" fmla="*/ 0 60000 65536"/>
                <a:gd name="T15" fmla="*/ 0 60000 65536"/>
                <a:gd name="T16" fmla="*/ 0 60000 65536"/>
                <a:gd name="T17" fmla="*/ 0 60000 65536"/>
                <a:gd name="T18" fmla="*/ 0 w 1248"/>
                <a:gd name="T19" fmla="*/ 0 h 2448"/>
                <a:gd name="T20" fmla="*/ 1248 w 1248"/>
                <a:gd name="T21" fmla="*/ 2448 h 2448"/>
              </a:gdLst>
              <a:ahLst/>
              <a:cxnLst>
                <a:cxn ang="T12">
                  <a:pos x="T0" y="T1"/>
                </a:cxn>
                <a:cxn ang="T13">
                  <a:pos x="T2" y="T3"/>
                </a:cxn>
                <a:cxn ang="T14">
                  <a:pos x="T4" y="T5"/>
                </a:cxn>
                <a:cxn ang="T15">
                  <a:pos x="T6" y="T7"/>
                </a:cxn>
                <a:cxn ang="T16">
                  <a:pos x="T8" y="T9"/>
                </a:cxn>
                <a:cxn ang="T17">
                  <a:pos x="T10" y="T11"/>
                </a:cxn>
              </a:cxnLst>
              <a:rect l="T18" t="T19" r="T20" b="T21"/>
              <a:pathLst>
                <a:path w="1248" h="2448">
                  <a:moveTo>
                    <a:pt x="0" y="336"/>
                  </a:moveTo>
                  <a:lnTo>
                    <a:pt x="0" y="2448"/>
                  </a:lnTo>
                  <a:lnTo>
                    <a:pt x="1200" y="1968"/>
                  </a:lnTo>
                  <a:lnTo>
                    <a:pt x="1008" y="1008"/>
                  </a:lnTo>
                  <a:lnTo>
                    <a:pt x="1248" y="0"/>
                  </a:lnTo>
                  <a:lnTo>
                    <a:pt x="0" y="336"/>
                  </a:lnTo>
                  <a:close/>
                </a:path>
              </a:pathLst>
            </a:custGeom>
            <a:gradFill rotWithShape="0">
              <a:gsLst>
                <a:gs pos="0">
                  <a:srgbClr val="44D6FE"/>
                </a:gs>
                <a:gs pos="100000">
                  <a:srgbClr val="E2DE37"/>
                </a:gs>
              </a:gsLst>
              <a:lin ang="5400000" scaled="1"/>
            </a:gradFill>
            <a:ln w="12700" cap="flat" cmpd="sng">
              <a:noFill/>
              <a:prstDash val="solid"/>
              <a:round/>
              <a:headEnd type="none" w="sm" len="sm"/>
              <a:tailEnd type="none" w="sm" len="sm"/>
            </a:ln>
          </p:spPr>
          <p:txBody>
            <a:bodyPr wrap="none" anchor="ctr"/>
            <a:lstStyle/>
            <a:p>
              <a:endParaRPr lang="en-US"/>
            </a:p>
          </p:txBody>
        </p:sp>
        <p:sp>
          <p:nvSpPr>
            <p:cNvPr id="17598" name="Freeform 563"/>
            <p:cNvSpPr>
              <a:spLocks/>
            </p:cNvSpPr>
            <p:nvPr/>
          </p:nvSpPr>
          <p:spPr bwMode="auto">
            <a:xfrm>
              <a:off x="2326" y="2051"/>
              <a:ext cx="603" cy="1216"/>
            </a:xfrm>
            <a:custGeom>
              <a:avLst/>
              <a:gdLst>
                <a:gd name="T0" fmla="*/ 1 w 1204"/>
                <a:gd name="T1" fmla="*/ 1 h 2432"/>
                <a:gd name="T2" fmla="*/ 1 w 1204"/>
                <a:gd name="T3" fmla="*/ 0 h 2432"/>
                <a:gd name="T4" fmla="*/ 0 w 1204"/>
                <a:gd name="T5" fmla="*/ 7 h 2432"/>
                <a:gd name="T6" fmla="*/ 5 w 1204"/>
                <a:gd name="T7" fmla="*/ 10 h 2432"/>
                <a:gd name="T8" fmla="*/ 5 w 1204"/>
                <a:gd name="T9" fmla="*/ 9 h 2432"/>
                <a:gd name="T10" fmla="*/ 5 w 1204"/>
                <a:gd name="T11" fmla="*/ 9 h 2432"/>
                <a:gd name="T12" fmla="*/ 5 w 1204"/>
                <a:gd name="T13" fmla="*/ 10 h 2432"/>
                <a:gd name="T14" fmla="*/ 1 w 1204"/>
                <a:gd name="T15" fmla="*/ 6 h 2432"/>
                <a:gd name="T16" fmla="*/ 1 w 1204"/>
                <a:gd name="T17" fmla="*/ 1 h 24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04"/>
                <a:gd name="T28" fmla="*/ 0 h 2432"/>
                <a:gd name="T29" fmla="*/ 1204 w 1204"/>
                <a:gd name="T30" fmla="*/ 2432 h 24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04" h="2432">
                  <a:moveTo>
                    <a:pt x="162" y="3"/>
                  </a:moveTo>
                  <a:lnTo>
                    <a:pt x="104" y="0"/>
                  </a:lnTo>
                  <a:lnTo>
                    <a:pt x="0" y="1669"/>
                  </a:lnTo>
                  <a:lnTo>
                    <a:pt x="1193" y="2432"/>
                  </a:lnTo>
                  <a:lnTo>
                    <a:pt x="1204" y="2292"/>
                  </a:lnTo>
                  <a:lnTo>
                    <a:pt x="1146" y="2286"/>
                  </a:lnTo>
                  <a:lnTo>
                    <a:pt x="1143" y="2328"/>
                  </a:lnTo>
                  <a:lnTo>
                    <a:pt x="58" y="1633"/>
                  </a:lnTo>
                  <a:lnTo>
                    <a:pt x="162" y="3"/>
                  </a:lnTo>
                  <a:close/>
                </a:path>
              </a:pathLst>
            </a:custGeom>
            <a:solidFill>
              <a:srgbClr val="000000"/>
            </a:solidFill>
            <a:ln w="9525">
              <a:noFill/>
              <a:round/>
              <a:headEnd/>
              <a:tailEnd/>
            </a:ln>
          </p:spPr>
          <p:txBody>
            <a:bodyPr/>
            <a:lstStyle/>
            <a:p>
              <a:endParaRPr lang="en-US"/>
            </a:p>
          </p:txBody>
        </p:sp>
        <p:sp>
          <p:nvSpPr>
            <p:cNvPr id="17599" name="Freeform 564"/>
            <p:cNvSpPr>
              <a:spLocks/>
            </p:cNvSpPr>
            <p:nvPr/>
          </p:nvSpPr>
          <p:spPr bwMode="auto">
            <a:xfrm>
              <a:off x="2202" y="858"/>
              <a:ext cx="206" cy="1196"/>
            </a:xfrm>
            <a:custGeom>
              <a:avLst/>
              <a:gdLst>
                <a:gd name="T0" fmla="*/ 0 w 410"/>
                <a:gd name="T1" fmla="*/ 0 h 2391"/>
                <a:gd name="T2" fmla="*/ 2 w 410"/>
                <a:gd name="T3" fmla="*/ 10 h 2391"/>
                <a:gd name="T4" fmla="*/ 2 w 410"/>
                <a:gd name="T5" fmla="*/ 10 h 2391"/>
                <a:gd name="T6" fmla="*/ 2 w 410"/>
                <a:gd name="T7" fmla="*/ 10 h 2391"/>
                <a:gd name="T8" fmla="*/ 1 w 410"/>
                <a:gd name="T9" fmla="*/ 1 h 2391"/>
                <a:gd name="T10" fmla="*/ 0 w 410"/>
                <a:gd name="T11" fmla="*/ 0 h 2391"/>
                <a:gd name="T12" fmla="*/ 0 60000 65536"/>
                <a:gd name="T13" fmla="*/ 0 60000 65536"/>
                <a:gd name="T14" fmla="*/ 0 60000 65536"/>
                <a:gd name="T15" fmla="*/ 0 60000 65536"/>
                <a:gd name="T16" fmla="*/ 0 60000 65536"/>
                <a:gd name="T17" fmla="*/ 0 60000 65536"/>
                <a:gd name="T18" fmla="*/ 0 w 410"/>
                <a:gd name="T19" fmla="*/ 0 h 2391"/>
                <a:gd name="T20" fmla="*/ 410 w 410"/>
                <a:gd name="T21" fmla="*/ 2391 h 2391"/>
              </a:gdLst>
              <a:ahLst/>
              <a:cxnLst>
                <a:cxn ang="T12">
                  <a:pos x="T0" y="T1"/>
                </a:cxn>
                <a:cxn ang="T13">
                  <a:pos x="T2" y="T3"/>
                </a:cxn>
                <a:cxn ang="T14">
                  <a:pos x="T4" y="T5"/>
                </a:cxn>
                <a:cxn ang="T15">
                  <a:pos x="T6" y="T7"/>
                </a:cxn>
                <a:cxn ang="T16">
                  <a:pos x="T8" y="T9"/>
                </a:cxn>
                <a:cxn ang="T17">
                  <a:pos x="T10" y="T11"/>
                </a:cxn>
              </a:cxnLst>
              <a:rect l="T18" t="T19" r="T20" b="T21"/>
              <a:pathLst>
                <a:path w="410" h="2391">
                  <a:moveTo>
                    <a:pt x="0" y="0"/>
                  </a:moveTo>
                  <a:lnTo>
                    <a:pt x="352" y="2391"/>
                  </a:lnTo>
                  <a:lnTo>
                    <a:pt x="410" y="2389"/>
                  </a:lnTo>
                  <a:lnTo>
                    <a:pt x="410" y="2385"/>
                  </a:lnTo>
                  <a:lnTo>
                    <a:pt x="69" y="81"/>
                  </a:lnTo>
                  <a:lnTo>
                    <a:pt x="0" y="0"/>
                  </a:lnTo>
                  <a:close/>
                </a:path>
              </a:pathLst>
            </a:custGeom>
            <a:solidFill>
              <a:srgbClr val="000000"/>
            </a:solidFill>
            <a:ln w="9525">
              <a:noFill/>
              <a:round/>
              <a:headEnd/>
              <a:tailEnd/>
            </a:ln>
          </p:spPr>
          <p:txBody>
            <a:bodyPr/>
            <a:lstStyle/>
            <a:p>
              <a:endParaRPr lang="en-US"/>
            </a:p>
          </p:txBody>
        </p:sp>
        <p:sp>
          <p:nvSpPr>
            <p:cNvPr id="17600" name="Freeform 565"/>
            <p:cNvSpPr>
              <a:spLocks/>
            </p:cNvSpPr>
            <p:nvPr/>
          </p:nvSpPr>
          <p:spPr bwMode="auto">
            <a:xfrm>
              <a:off x="2916" y="751"/>
              <a:ext cx="1287" cy="2503"/>
            </a:xfrm>
            <a:custGeom>
              <a:avLst/>
              <a:gdLst>
                <a:gd name="T0" fmla="*/ 1 w 2574"/>
                <a:gd name="T1" fmla="*/ 20 h 5006"/>
                <a:gd name="T2" fmla="*/ 1 w 2574"/>
                <a:gd name="T3" fmla="*/ 20 h 5006"/>
                <a:gd name="T4" fmla="*/ 10 w 2574"/>
                <a:gd name="T5" fmla="*/ 16 h 5006"/>
                <a:gd name="T6" fmla="*/ 9 w 2574"/>
                <a:gd name="T7" fmla="*/ 9 h 5006"/>
                <a:gd name="T8" fmla="*/ 10 w 2574"/>
                <a:gd name="T9" fmla="*/ 0 h 5006"/>
                <a:gd name="T10" fmla="*/ 0 w 2574"/>
                <a:gd name="T11" fmla="*/ 3 h 5006"/>
                <a:gd name="T12" fmla="*/ 1 w 2574"/>
                <a:gd name="T13" fmla="*/ 3 h 5006"/>
                <a:gd name="T14" fmla="*/ 10 w 2574"/>
                <a:gd name="T15" fmla="*/ 1 h 5006"/>
                <a:gd name="T16" fmla="*/ 8 w 2574"/>
                <a:gd name="T17" fmla="*/ 9 h 5006"/>
                <a:gd name="T18" fmla="*/ 10 w 2574"/>
                <a:gd name="T19" fmla="*/ 16 h 5006"/>
                <a:gd name="T20" fmla="*/ 1 w 2574"/>
                <a:gd name="T21" fmla="*/ 20 h 50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74"/>
                <a:gd name="T34" fmla="*/ 0 h 5006"/>
                <a:gd name="T35" fmla="*/ 2574 w 2574"/>
                <a:gd name="T36" fmla="*/ 5006 h 50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74" h="5006">
                  <a:moveTo>
                    <a:pt x="18" y="4944"/>
                  </a:moveTo>
                  <a:lnTo>
                    <a:pt x="36" y="5006"/>
                  </a:lnTo>
                  <a:lnTo>
                    <a:pt x="2394" y="4015"/>
                  </a:lnTo>
                  <a:lnTo>
                    <a:pt x="2098" y="2069"/>
                  </a:lnTo>
                  <a:lnTo>
                    <a:pt x="2574" y="0"/>
                  </a:lnTo>
                  <a:lnTo>
                    <a:pt x="0" y="620"/>
                  </a:lnTo>
                  <a:lnTo>
                    <a:pt x="56" y="675"/>
                  </a:lnTo>
                  <a:lnTo>
                    <a:pt x="2498" y="85"/>
                  </a:lnTo>
                  <a:lnTo>
                    <a:pt x="2040" y="2075"/>
                  </a:lnTo>
                  <a:lnTo>
                    <a:pt x="2330" y="3973"/>
                  </a:lnTo>
                  <a:lnTo>
                    <a:pt x="18" y="4944"/>
                  </a:lnTo>
                  <a:close/>
                </a:path>
              </a:pathLst>
            </a:custGeom>
            <a:solidFill>
              <a:srgbClr val="000000"/>
            </a:solidFill>
            <a:ln w="9525">
              <a:noFill/>
              <a:round/>
              <a:headEnd/>
              <a:tailEnd/>
            </a:ln>
          </p:spPr>
          <p:txBody>
            <a:bodyPr/>
            <a:lstStyle/>
            <a:p>
              <a:endParaRPr lang="en-US"/>
            </a:p>
          </p:txBody>
        </p:sp>
        <p:sp>
          <p:nvSpPr>
            <p:cNvPr id="17601" name="Freeform 566"/>
            <p:cNvSpPr>
              <a:spLocks/>
            </p:cNvSpPr>
            <p:nvPr/>
          </p:nvSpPr>
          <p:spPr bwMode="auto">
            <a:xfrm>
              <a:off x="2916" y="1061"/>
              <a:ext cx="29" cy="2200"/>
            </a:xfrm>
            <a:custGeom>
              <a:avLst/>
              <a:gdLst>
                <a:gd name="T0" fmla="*/ 1 w 58"/>
                <a:gd name="T1" fmla="*/ 0 h 4401"/>
                <a:gd name="T2" fmla="*/ 0 w 58"/>
                <a:gd name="T3" fmla="*/ 17 h 4401"/>
                <a:gd name="T4" fmla="*/ 1 w 58"/>
                <a:gd name="T5" fmla="*/ 17 h 4401"/>
                <a:gd name="T6" fmla="*/ 1 w 58"/>
                <a:gd name="T7" fmla="*/ 16 h 4401"/>
                <a:gd name="T8" fmla="*/ 1 w 58"/>
                <a:gd name="T9" fmla="*/ 0 h 4401"/>
                <a:gd name="T10" fmla="*/ 1 w 58"/>
                <a:gd name="T11" fmla="*/ 0 h 4401"/>
                <a:gd name="T12" fmla="*/ 0 60000 65536"/>
                <a:gd name="T13" fmla="*/ 0 60000 65536"/>
                <a:gd name="T14" fmla="*/ 0 60000 65536"/>
                <a:gd name="T15" fmla="*/ 0 60000 65536"/>
                <a:gd name="T16" fmla="*/ 0 60000 65536"/>
                <a:gd name="T17" fmla="*/ 0 60000 65536"/>
                <a:gd name="T18" fmla="*/ 0 w 58"/>
                <a:gd name="T19" fmla="*/ 0 h 4401"/>
                <a:gd name="T20" fmla="*/ 58 w 58"/>
                <a:gd name="T21" fmla="*/ 4401 h 4401"/>
              </a:gdLst>
              <a:ahLst/>
              <a:cxnLst>
                <a:cxn ang="T12">
                  <a:pos x="T0" y="T1"/>
                </a:cxn>
                <a:cxn ang="T13">
                  <a:pos x="T2" y="T3"/>
                </a:cxn>
                <a:cxn ang="T14">
                  <a:pos x="T4" y="T5"/>
                </a:cxn>
                <a:cxn ang="T15">
                  <a:pos x="T6" y="T7"/>
                </a:cxn>
                <a:cxn ang="T16">
                  <a:pos x="T8" y="T9"/>
                </a:cxn>
                <a:cxn ang="T17">
                  <a:pos x="T10" y="T11"/>
                </a:cxn>
              </a:cxnLst>
              <a:rect l="T18" t="T19" r="T20" b="T21"/>
              <a:pathLst>
                <a:path w="58" h="4401">
                  <a:moveTo>
                    <a:pt x="2" y="0"/>
                  </a:moveTo>
                  <a:lnTo>
                    <a:pt x="0" y="4401"/>
                  </a:lnTo>
                  <a:lnTo>
                    <a:pt x="38" y="4386"/>
                  </a:lnTo>
                  <a:lnTo>
                    <a:pt x="58" y="4310"/>
                  </a:lnTo>
                  <a:lnTo>
                    <a:pt x="58" y="55"/>
                  </a:lnTo>
                  <a:lnTo>
                    <a:pt x="2" y="0"/>
                  </a:lnTo>
                  <a:close/>
                </a:path>
              </a:pathLst>
            </a:custGeom>
            <a:solidFill>
              <a:srgbClr val="000000"/>
            </a:solidFill>
            <a:ln w="9525">
              <a:noFill/>
              <a:round/>
              <a:headEnd/>
              <a:tailEnd/>
            </a:ln>
          </p:spPr>
          <p:txBody>
            <a:bodyPr/>
            <a:lstStyle/>
            <a:p>
              <a:endParaRPr lang="en-US"/>
            </a:p>
          </p:txBody>
        </p:sp>
        <p:sp>
          <p:nvSpPr>
            <p:cNvPr id="17602" name="Freeform 567"/>
            <p:cNvSpPr>
              <a:spLocks/>
            </p:cNvSpPr>
            <p:nvPr/>
          </p:nvSpPr>
          <p:spPr bwMode="auto">
            <a:xfrm>
              <a:off x="2205" y="666"/>
              <a:ext cx="1982" cy="425"/>
            </a:xfrm>
            <a:custGeom>
              <a:avLst/>
              <a:gdLst>
                <a:gd name="T0" fmla="*/ 0 w 3964"/>
                <a:gd name="T1" fmla="*/ 1 h 851"/>
                <a:gd name="T2" fmla="*/ 1 w 3964"/>
                <a:gd name="T3" fmla="*/ 1 h 851"/>
                <a:gd name="T4" fmla="*/ 12 w 3964"/>
                <a:gd name="T5" fmla="*/ 0 h 851"/>
                <a:gd name="T6" fmla="*/ 15 w 3964"/>
                <a:gd name="T7" fmla="*/ 0 h 851"/>
                <a:gd name="T8" fmla="*/ 6 w 3964"/>
                <a:gd name="T9" fmla="*/ 3 h 851"/>
                <a:gd name="T10" fmla="*/ 6 w 3964"/>
                <a:gd name="T11" fmla="*/ 3 h 851"/>
                <a:gd name="T12" fmla="*/ 16 w 3964"/>
                <a:gd name="T13" fmla="*/ 0 h 851"/>
                <a:gd name="T14" fmla="*/ 16 w 3964"/>
                <a:gd name="T15" fmla="*/ 0 h 851"/>
                <a:gd name="T16" fmla="*/ 12 w 3964"/>
                <a:gd name="T17" fmla="*/ 0 h 851"/>
                <a:gd name="T18" fmla="*/ 0 w 3964"/>
                <a:gd name="T19" fmla="*/ 1 h 85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64"/>
                <a:gd name="T31" fmla="*/ 0 h 851"/>
                <a:gd name="T32" fmla="*/ 3964 w 3964"/>
                <a:gd name="T33" fmla="*/ 851 h 85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64" h="851">
                  <a:moveTo>
                    <a:pt x="0" y="378"/>
                  </a:moveTo>
                  <a:lnTo>
                    <a:pt x="5" y="444"/>
                  </a:lnTo>
                  <a:lnTo>
                    <a:pt x="2899" y="65"/>
                  </a:lnTo>
                  <a:lnTo>
                    <a:pt x="3796" y="220"/>
                  </a:lnTo>
                  <a:lnTo>
                    <a:pt x="1446" y="786"/>
                  </a:lnTo>
                  <a:lnTo>
                    <a:pt x="1452" y="851"/>
                  </a:lnTo>
                  <a:lnTo>
                    <a:pt x="3964" y="246"/>
                  </a:lnTo>
                  <a:lnTo>
                    <a:pt x="3961" y="181"/>
                  </a:lnTo>
                  <a:lnTo>
                    <a:pt x="2899" y="0"/>
                  </a:lnTo>
                  <a:lnTo>
                    <a:pt x="0" y="378"/>
                  </a:lnTo>
                  <a:close/>
                </a:path>
              </a:pathLst>
            </a:custGeom>
            <a:solidFill>
              <a:srgbClr val="000000"/>
            </a:solidFill>
            <a:ln w="9525">
              <a:noFill/>
              <a:round/>
              <a:headEnd/>
              <a:tailEnd/>
            </a:ln>
          </p:spPr>
          <p:txBody>
            <a:bodyPr/>
            <a:lstStyle/>
            <a:p>
              <a:endParaRPr lang="en-US"/>
            </a:p>
          </p:txBody>
        </p:sp>
        <p:sp>
          <p:nvSpPr>
            <p:cNvPr id="17603" name="Freeform 568"/>
            <p:cNvSpPr>
              <a:spLocks/>
            </p:cNvSpPr>
            <p:nvPr/>
          </p:nvSpPr>
          <p:spPr bwMode="auto">
            <a:xfrm>
              <a:off x="2204" y="855"/>
              <a:ext cx="727" cy="236"/>
            </a:xfrm>
            <a:custGeom>
              <a:avLst/>
              <a:gdLst>
                <a:gd name="T0" fmla="*/ 5 w 1455"/>
                <a:gd name="T1" fmla="*/ 1 h 473"/>
                <a:gd name="T2" fmla="*/ 0 w 1455"/>
                <a:gd name="T3" fmla="*/ 0 h 473"/>
                <a:gd name="T4" fmla="*/ 0 w 1455"/>
                <a:gd name="T5" fmla="*/ 0 h 473"/>
                <a:gd name="T6" fmla="*/ 0 w 1455"/>
                <a:gd name="T7" fmla="*/ 0 h 473"/>
                <a:gd name="T8" fmla="*/ 5 w 1455"/>
                <a:gd name="T9" fmla="*/ 1 h 473"/>
                <a:gd name="T10" fmla="*/ 5 w 1455"/>
                <a:gd name="T11" fmla="*/ 1 h 473"/>
                <a:gd name="T12" fmla="*/ 0 60000 65536"/>
                <a:gd name="T13" fmla="*/ 0 60000 65536"/>
                <a:gd name="T14" fmla="*/ 0 60000 65536"/>
                <a:gd name="T15" fmla="*/ 0 60000 65536"/>
                <a:gd name="T16" fmla="*/ 0 60000 65536"/>
                <a:gd name="T17" fmla="*/ 0 60000 65536"/>
                <a:gd name="T18" fmla="*/ 0 w 1455"/>
                <a:gd name="T19" fmla="*/ 0 h 473"/>
                <a:gd name="T20" fmla="*/ 1455 w 1455"/>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455" h="473">
                  <a:moveTo>
                    <a:pt x="1449" y="408"/>
                  </a:moveTo>
                  <a:lnTo>
                    <a:pt x="164" y="44"/>
                  </a:lnTo>
                  <a:lnTo>
                    <a:pt x="3" y="0"/>
                  </a:lnTo>
                  <a:lnTo>
                    <a:pt x="0" y="64"/>
                  </a:lnTo>
                  <a:lnTo>
                    <a:pt x="1455" y="473"/>
                  </a:lnTo>
                  <a:lnTo>
                    <a:pt x="1449" y="408"/>
                  </a:lnTo>
                  <a:close/>
                </a:path>
              </a:pathLst>
            </a:custGeom>
            <a:solidFill>
              <a:srgbClr val="000000"/>
            </a:solidFill>
            <a:ln w="9525">
              <a:noFill/>
              <a:round/>
              <a:headEnd/>
              <a:tailEnd/>
            </a:ln>
          </p:spPr>
          <p:txBody>
            <a:bodyPr/>
            <a:lstStyle/>
            <a:p>
              <a:endParaRPr lang="en-US"/>
            </a:p>
          </p:txBody>
        </p:sp>
        <p:sp>
          <p:nvSpPr>
            <p:cNvPr id="17604" name="Freeform 569"/>
            <p:cNvSpPr>
              <a:spLocks/>
            </p:cNvSpPr>
            <p:nvPr/>
          </p:nvSpPr>
          <p:spPr bwMode="auto">
            <a:xfrm>
              <a:off x="2300" y="1199"/>
              <a:ext cx="1779" cy="324"/>
            </a:xfrm>
            <a:custGeom>
              <a:avLst/>
              <a:gdLst>
                <a:gd name="T0" fmla="*/ 1 w 3556"/>
                <a:gd name="T1" fmla="*/ 1 h 647"/>
                <a:gd name="T2" fmla="*/ 0 w 3556"/>
                <a:gd name="T3" fmla="*/ 1 h 647"/>
                <a:gd name="T4" fmla="*/ 5 w 3556"/>
                <a:gd name="T5" fmla="*/ 3 h 647"/>
                <a:gd name="T6" fmla="*/ 14 w 3556"/>
                <a:gd name="T7" fmla="*/ 1 h 647"/>
                <a:gd name="T8" fmla="*/ 14 w 3556"/>
                <a:gd name="T9" fmla="*/ 0 h 647"/>
                <a:gd name="T10" fmla="*/ 5 w 3556"/>
                <a:gd name="T11" fmla="*/ 3 h 647"/>
                <a:gd name="T12" fmla="*/ 1 w 3556"/>
                <a:gd name="T13" fmla="*/ 1 h 647"/>
                <a:gd name="T14" fmla="*/ 0 60000 65536"/>
                <a:gd name="T15" fmla="*/ 0 60000 65536"/>
                <a:gd name="T16" fmla="*/ 0 60000 65536"/>
                <a:gd name="T17" fmla="*/ 0 60000 65536"/>
                <a:gd name="T18" fmla="*/ 0 60000 65536"/>
                <a:gd name="T19" fmla="*/ 0 60000 65536"/>
                <a:gd name="T20" fmla="*/ 0 60000 65536"/>
                <a:gd name="T21" fmla="*/ 0 w 3556"/>
                <a:gd name="T22" fmla="*/ 0 h 647"/>
                <a:gd name="T23" fmla="*/ 3556 w 3556"/>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6" h="647">
                  <a:moveTo>
                    <a:pt x="8" y="184"/>
                  </a:moveTo>
                  <a:lnTo>
                    <a:pt x="0" y="223"/>
                  </a:lnTo>
                  <a:lnTo>
                    <a:pt x="1247" y="647"/>
                  </a:lnTo>
                  <a:lnTo>
                    <a:pt x="3556" y="42"/>
                  </a:lnTo>
                  <a:lnTo>
                    <a:pt x="3551" y="0"/>
                  </a:lnTo>
                  <a:lnTo>
                    <a:pt x="1245" y="605"/>
                  </a:lnTo>
                  <a:lnTo>
                    <a:pt x="8" y="184"/>
                  </a:lnTo>
                  <a:close/>
                </a:path>
              </a:pathLst>
            </a:custGeom>
            <a:solidFill>
              <a:srgbClr val="000000"/>
            </a:solidFill>
            <a:ln w="9525">
              <a:noFill/>
              <a:round/>
              <a:headEnd/>
              <a:tailEnd/>
            </a:ln>
          </p:spPr>
          <p:txBody>
            <a:bodyPr/>
            <a:lstStyle/>
            <a:p>
              <a:endParaRPr lang="en-US"/>
            </a:p>
          </p:txBody>
        </p:sp>
        <p:sp>
          <p:nvSpPr>
            <p:cNvPr id="17605" name="Freeform 570"/>
            <p:cNvSpPr>
              <a:spLocks/>
            </p:cNvSpPr>
            <p:nvPr/>
          </p:nvSpPr>
          <p:spPr bwMode="auto">
            <a:xfrm>
              <a:off x="2334" y="1477"/>
              <a:ext cx="1690" cy="355"/>
            </a:xfrm>
            <a:custGeom>
              <a:avLst/>
              <a:gdLst>
                <a:gd name="T0" fmla="*/ 1 w 3380"/>
                <a:gd name="T1" fmla="*/ 1 h 709"/>
                <a:gd name="T2" fmla="*/ 0 w 3380"/>
                <a:gd name="T3" fmla="*/ 2 h 709"/>
                <a:gd name="T4" fmla="*/ 5 w 3380"/>
                <a:gd name="T5" fmla="*/ 3 h 709"/>
                <a:gd name="T6" fmla="*/ 13 w 3380"/>
                <a:gd name="T7" fmla="*/ 1 h 709"/>
                <a:gd name="T8" fmla="*/ 13 w 3380"/>
                <a:gd name="T9" fmla="*/ 0 h 709"/>
                <a:gd name="T10" fmla="*/ 5 w 3380"/>
                <a:gd name="T11" fmla="*/ 3 h 709"/>
                <a:gd name="T12" fmla="*/ 1 w 3380"/>
                <a:gd name="T13" fmla="*/ 1 h 709"/>
                <a:gd name="T14" fmla="*/ 0 60000 65536"/>
                <a:gd name="T15" fmla="*/ 0 60000 65536"/>
                <a:gd name="T16" fmla="*/ 0 60000 65536"/>
                <a:gd name="T17" fmla="*/ 0 60000 65536"/>
                <a:gd name="T18" fmla="*/ 0 60000 65536"/>
                <a:gd name="T19" fmla="*/ 0 60000 65536"/>
                <a:gd name="T20" fmla="*/ 0 60000 65536"/>
                <a:gd name="T21" fmla="*/ 0 w 3380"/>
                <a:gd name="T22" fmla="*/ 0 h 709"/>
                <a:gd name="T23" fmla="*/ 3380 w 3380"/>
                <a:gd name="T24" fmla="*/ 709 h 7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80" h="709">
                  <a:moveTo>
                    <a:pt x="11" y="228"/>
                  </a:moveTo>
                  <a:lnTo>
                    <a:pt x="0" y="267"/>
                  </a:lnTo>
                  <a:lnTo>
                    <a:pt x="1182" y="709"/>
                  </a:lnTo>
                  <a:lnTo>
                    <a:pt x="3380" y="42"/>
                  </a:lnTo>
                  <a:lnTo>
                    <a:pt x="3371" y="0"/>
                  </a:lnTo>
                  <a:lnTo>
                    <a:pt x="1182" y="666"/>
                  </a:lnTo>
                  <a:lnTo>
                    <a:pt x="11" y="228"/>
                  </a:lnTo>
                  <a:close/>
                </a:path>
              </a:pathLst>
            </a:custGeom>
            <a:solidFill>
              <a:srgbClr val="000000"/>
            </a:solidFill>
            <a:ln w="9525">
              <a:noFill/>
              <a:round/>
              <a:headEnd/>
              <a:tailEnd/>
            </a:ln>
          </p:spPr>
          <p:txBody>
            <a:bodyPr/>
            <a:lstStyle/>
            <a:p>
              <a:endParaRPr lang="en-US"/>
            </a:p>
          </p:txBody>
        </p:sp>
        <p:sp>
          <p:nvSpPr>
            <p:cNvPr id="17606" name="Freeform 571"/>
            <p:cNvSpPr>
              <a:spLocks/>
            </p:cNvSpPr>
            <p:nvPr/>
          </p:nvSpPr>
          <p:spPr bwMode="auto">
            <a:xfrm>
              <a:off x="2389" y="2201"/>
              <a:ext cx="1620" cy="363"/>
            </a:xfrm>
            <a:custGeom>
              <a:avLst/>
              <a:gdLst>
                <a:gd name="T0" fmla="*/ 1 w 3239"/>
                <a:gd name="T1" fmla="*/ 1 h 725"/>
                <a:gd name="T2" fmla="*/ 0 w 3239"/>
                <a:gd name="T3" fmla="*/ 1 h 725"/>
                <a:gd name="T4" fmla="*/ 5 w 3239"/>
                <a:gd name="T5" fmla="*/ 3 h 725"/>
                <a:gd name="T6" fmla="*/ 13 w 3239"/>
                <a:gd name="T7" fmla="*/ 1 h 725"/>
                <a:gd name="T8" fmla="*/ 13 w 3239"/>
                <a:gd name="T9" fmla="*/ 0 h 725"/>
                <a:gd name="T10" fmla="*/ 5 w 3239"/>
                <a:gd name="T11" fmla="*/ 3 h 725"/>
                <a:gd name="T12" fmla="*/ 1 w 3239"/>
                <a:gd name="T13" fmla="*/ 1 h 725"/>
                <a:gd name="T14" fmla="*/ 0 60000 65536"/>
                <a:gd name="T15" fmla="*/ 0 60000 65536"/>
                <a:gd name="T16" fmla="*/ 0 60000 65536"/>
                <a:gd name="T17" fmla="*/ 0 60000 65536"/>
                <a:gd name="T18" fmla="*/ 0 60000 65536"/>
                <a:gd name="T19" fmla="*/ 0 60000 65536"/>
                <a:gd name="T20" fmla="*/ 0 60000 65536"/>
                <a:gd name="T21" fmla="*/ 0 w 3239"/>
                <a:gd name="T22" fmla="*/ 0 h 725"/>
                <a:gd name="T23" fmla="*/ 3239 w 3239"/>
                <a:gd name="T24" fmla="*/ 725 h 7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5">
                  <a:moveTo>
                    <a:pt x="14" y="113"/>
                  </a:moveTo>
                  <a:lnTo>
                    <a:pt x="0" y="152"/>
                  </a:lnTo>
                  <a:lnTo>
                    <a:pt x="1075" y="725"/>
                  </a:lnTo>
                  <a:lnTo>
                    <a:pt x="3239" y="39"/>
                  </a:lnTo>
                  <a:lnTo>
                    <a:pt x="3231" y="0"/>
                  </a:lnTo>
                  <a:lnTo>
                    <a:pt x="1084" y="683"/>
                  </a:lnTo>
                  <a:lnTo>
                    <a:pt x="14" y="113"/>
                  </a:lnTo>
                  <a:close/>
                </a:path>
              </a:pathLst>
            </a:custGeom>
            <a:solidFill>
              <a:srgbClr val="000000"/>
            </a:solidFill>
            <a:ln w="9525">
              <a:noFill/>
              <a:round/>
              <a:headEnd/>
              <a:tailEnd/>
            </a:ln>
          </p:spPr>
          <p:txBody>
            <a:bodyPr/>
            <a:lstStyle/>
            <a:p>
              <a:endParaRPr lang="en-US"/>
            </a:p>
          </p:txBody>
        </p:sp>
        <p:sp>
          <p:nvSpPr>
            <p:cNvPr id="17607" name="Freeform 572"/>
            <p:cNvSpPr>
              <a:spLocks/>
            </p:cNvSpPr>
            <p:nvPr/>
          </p:nvSpPr>
          <p:spPr bwMode="auto">
            <a:xfrm>
              <a:off x="2297" y="1174"/>
              <a:ext cx="1779" cy="324"/>
            </a:xfrm>
            <a:custGeom>
              <a:avLst/>
              <a:gdLst>
                <a:gd name="T0" fmla="*/ 0 w 3559"/>
                <a:gd name="T1" fmla="*/ 1 h 647"/>
                <a:gd name="T2" fmla="*/ 0 w 3559"/>
                <a:gd name="T3" fmla="*/ 1 h 647"/>
                <a:gd name="T4" fmla="*/ 4 w 3559"/>
                <a:gd name="T5" fmla="*/ 3 h 647"/>
                <a:gd name="T6" fmla="*/ 13 w 3559"/>
                <a:gd name="T7" fmla="*/ 1 h 647"/>
                <a:gd name="T8" fmla="*/ 13 w 3559"/>
                <a:gd name="T9" fmla="*/ 0 h 647"/>
                <a:gd name="T10" fmla="*/ 4 w 3559"/>
                <a:gd name="T11" fmla="*/ 3 h 647"/>
                <a:gd name="T12" fmla="*/ 0 w 3559"/>
                <a:gd name="T13" fmla="*/ 1 h 647"/>
                <a:gd name="T14" fmla="*/ 0 60000 65536"/>
                <a:gd name="T15" fmla="*/ 0 60000 65536"/>
                <a:gd name="T16" fmla="*/ 0 60000 65536"/>
                <a:gd name="T17" fmla="*/ 0 60000 65536"/>
                <a:gd name="T18" fmla="*/ 0 60000 65536"/>
                <a:gd name="T19" fmla="*/ 0 60000 65536"/>
                <a:gd name="T20" fmla="*/ 0 60000 65536"/>
                <a:gd name="T21" fmla="*/ 0 w 3559"/>
                <a:gd name="T22" fmla="*/ 0 h 647"/>
                <a:gd name="T23" fmla="*/ 3559 w 3559"/>
                <a:gd name="T24" fmla="*/ 647 h 6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59" h="647">
                  <a:moveTo>
                    <a:pt x="9" y="183"/>
                  </a:moveTo>
                  <a:lnTo>
                    <a:pt x="0" y="222"/>
                  </a:lnTo>
                  <a:lnTo>
                    <a:pt x="1250" y="647"/>
                  </a:lnTo>
                  <a:lnTo>
                    <a:pt x="3559" y="43"/>
                  </a:lnTo>
                  <a:lnTo>
                    <a:pt x="3553" y="0"/>
                  </a:lnTo>
                  <a:lnTo>
                    <a:pt x="1247" y="605"/>
                  </a:lnTo>
                  <a:lnTo>
                    <a:pt x="9" y="183"/>
                  </a:lnTo>
                  <a:close/>
                </a:path>
              </a:pathLst>
            </a:custGeom>
            <a:solidFill>
              <a:srgbClr val="DEFF73"/>
            </a:solidFill>
            <a:ln w="9525">
              <a:noFill/>
              <a:round/>
              <a:headEnd/>
              <a:tailEnd/>
            </a:ln>
          </p:spPr>
          <p:txBody>
            <a:bodyPr/>
            <a:lstStyle/>
            <a:p>
              <a:endParaRPr lang="en-US"/>
            </a:p>
          </p:txBody>
        </p:sp>
        <p:sp>
          <p:nvSpPr>
            <p:cNvPr id="17608" name="Freeform 573"/>
            <p:cNvSpPr>
              <a:spLocks/>
            </p:cNvSpPr>
            <p:nvPr/>
          </p:nvSpPr>
          <p:spPr bwMode="auto">
            <a:xfrm>
              <a:off x="2331" y="1451"/>
              <a:ext cx="1690" cy="355"/>
            </a:xfrm>
            <a:custGeom>
              <a:avLst/>
              <a:gdLst>
                <a:gd name="T0" fmla="*/ 1 w 3379"/>
                <a:gd name="T1" fmla="*/ 1 h 710"/>
                <a:gd name="T2" fmla="*/ 0 w 3379"/>
                <a:gd name="T3" fmla="*/ 2 h 710"/>
                <a:gd name="T4" fmla="*/ 5 w 3379"/>
                <a:gd name="T5" fmla="*/ 3 h 710"/>
                <a:gd name="T6" fmla="*/ 14 w 3379"/>
                <a:gd name="T7" fmla="*/ 1 h 710"/>
                <a:gd name="T8" fmla="*/ 14 w 3379"/>
                <a:gd name="T9" fmla="*/ 0 h 710"/>
                <a:gd name="T10" fmla="*/ 5 w 3379"/>
                <a:gd name="T11" fmla="*/ 3 h 710"/>
                <a:gd name="T12" fmla="*/ 1 w 3379"/>
                <a:gd name="T13" fmla="*/ 1 h 710"/>
                <a:gd name="T14" fmla="*/ 0 60000 65536"/>
                <a:gd name="T15" fmla="*/ 0 60000 65536"/>
                <a:gd name="T16" fmla="*/ 0 60000 65536"/>
                <a:gd name="T17" fmla="*/ 0 60000 65536"/>
                <a:gd name="T18" fmla="*/ 0 60000 65536"/>
                <a:gd name="T19" fmla="*/ 0 60000 65536"/>
                <a:gd name="T20" fmla="*/ 0 60000 65536"/>
                <a:gd name="T21" fmla="*/ 0 w 3379"/>
                <a:gd name="T22" fmla="*/ 0 h 710"/>
                <a:gd name="T23" fmla="*/ 3379 w 3379"/>
                <a:gd name="T24" fmla="*/ 710 h 7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79" h="710">
                  <a:moveTo>
                    <a:pt x="11" y="229"/>
                  </a:moveTo>
                  <a:lnTo>
                    <a:pt x="0" y="268"/>
                  </a:lnTo>
                  <a:lnTo>
                    <a:pt x="1181" y="710"/>
                  </a:lnTo>
                  <a:lnTo>
                    <a:pt x="3379" y="43"/>
                  </a:lnTo>
                  <a:lnTo>
                    <a:pt x="3370" y="0"/>
                  </a:lnTo>
                  <a:lnTo>
                    <a:pt x="1181" y="667"/>
                  </a:lnTo>
                  <a:lnTo>
                    <a:pt x="11" y="229"/>
                  </a:lnTo>
                  <a:close/>
                </a:path>
              </a:pathLst>
            </a:custGeom>
            <a:solidFill>
              <a:srgbClr val="DEFF73"/>
            </a:solidFill>
            <a:ln w="9525">
              <a:noFill/>
              <a:round/>
              <a:headEnd/>
              <a:tailEnd/>
            </a:ln>
          </p:spPr>
          <p:txBody>
            <a:bodyPr/>
            <a:lstStyle/>
            <a:p>
              <a:endParaRPr lang="en-US"/>
            </a:p>
          </p:txBody>
        </p:sp>
        <p:sp>
          <p:nvSpPr>
            <p:cNvPr id="17609" name="Freeform 574"/>
            <p:cNvSpPr>
              <a:spLocks/>
            </p:cNvSpPr>
            <p:nvPr/>
          </p:nvSpPr>
          <p:spPr bwMode="auto">
            <a:xfrm>
              <a:off x="2386" y="2175"/>
              <a:ext cx="1620" cy="363"/>
            </a:xfrm>
            <a:custGeom>
              <a:avLst/>
              <a:gdLst>
                <a:gd name="T0" fmla="*/ 1 w 3239"/>
                <a:gd name="T1" fmla="*/ 0 h 727"/>
                <a:gd name="T2" fmla="*/ 0 w 3239"/>
                <a:gd name="T3" fmla="*/ 0 h 727"/>
                <a:gd name="T4" fmla="*/ 5 w 3239"/>
                <a:gd name="T5" fmla="*/ 2 h 727"/>
                <a:gd name="T6" fmla="*/ 13 w 3239"/>
                <a:gd name="T7" fmla="*/ 0 h 727"/>
                <a:gd name="T8" fmla="*/ 13 w 3239"/>
                <a:gd name="T9" fmla="*/ 0 h 727"/>
                <a:gd name="T10" fmla="*/ 5 w 3239"/>
                <a:gd name="T11" fmla="*/ 2 h 727"/>
                <a:gd name="T12" fmla="*/ 1 w 3239"/>
                <a:gd name="T13" fmla="*/ 0 h 727"/>
                <a:gd name="T14" fmla="*/ 0 60000 65536"/>
                <a:gd name="T15" fmla="*/ 0 60000 65536"/>
                <a:gd name="T16" fmla="*/ 0 60000 65536"/>
                <a:gd name="T17" fmla="*/ 0 60000 65536"/>
                <a:gd name="T18" fmla="*/ 0 60000 65536"/>
                <a:gd name="T19" fmla="*/ 0 60000 65536"/>
                <a:gd name="T20" fmla="*/ 0 60000 65536"/>
                <a:gd name="T21" fmla="*/ 0 w 3239"/>
                <a:gd name="T22" fmla="*/ 0 h 727"/>
                <a:gd name="T23" fmla="*/ 3239 w 3239"/>
                <a:gd name="T24" fmla="*/ 727 h 7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39" h="727">
                  <a:moveTo>
                    <a:pt x="14" y="114"/>
                  </a:moveTo>
                  <a:lnTo>
                    <a:pt x="0" y="153"/>
                  </a:lnTo>
                  <a:lnTo>
                    <a:pt x="1076" y="727"/>
                  </a:lnTo>
                  <a:lnTo>
                    <a:pt x="3239" y="39"/>
                  </a:lnTo>
                  <a:lnTo>
                    <a:pt x="3230" y="0"/>
                  </a:lnTo>
                  <a:lnTo>
                    <a:pt x="1085" y="685"/>
                  </a:lnTo>
                  <a:lnTo>
                    <a:pt x="14" y="114"/>
                  </a:lnTo>
                  <a:close/>
                </a:path>
              </a:pathLst>
            </a:custGeom>
            <a:solidFill>
              <a:srgbClr val="DEFF73"/>
            </a:solidFill>
            <a:ln w="9525">
              <a:noFill/>
              <a:round/>
              <a:headEnd/>
              <a:tailEnd/>
            </a:ln>
          </p:spPr>
          <p:txBody>
            <a:bodyPr/>
            <a:lstStyle/>
            <a:p>
              <a:endParaRPr lang="en-US"/>
            </a:p>
          </p:txBody>
        </p:sp>
        <p:sp>
          <p:nvSpPr>
            <p:cNvPr id="17610" name="Freeform 575"/>
            <p:cNvSpPr>
              <a:spLocks/>
            </p:cNvSpPr>
            <p:nvPr/>
          </p:nvSpPr>
          <p:spPr bwMode="auto">
            <a:xfrm>
              <a:off x="2315" y="1005"/>
              <a:ext cx="496" cy="331"/>
            </a:xfrm>
            <a:custGeom>
              <a:avLst/>
              <a:gdLst>
                <a:gd name="T0" fmla="*/ 0 w 993"/>
                <a:gd name="T1" fmla="*/ 0 h 664"/>
                <a:gd name="T2" fmla="*/ 0 w 993"/>
                <a:gd name="T3" fmla="*/ 1 h 664"/>
                <a:gd name="T4" fmla="*/ 3 w 993"/>
                <a:gd name="T5" fmla="*/ 2 h 664"/>
                <a:gd name="T6" fmla="*/ 3 w 993"/>
                <a:gd name="T7" fmla="*/ 1 h 664"/>
                <a:gd name="T8" fmla="*/ 0 w 993"/>
                <a:gd name="T9" fmla="*/ 0 h 664"/>
                <a:gd name="T10" fmla="*/ 0 w 993"/>
                <a:gd name="T11" fmla="*/ 0 h 664"/>
                <a:gd name="T12" fmla="*/ 0 w 993"/>
                <a:gd name="T13" fmla="*/ 0 h 664"/>
                <a:gd name="T14" fmla="*/ 0 60000 65536"/>
                <a:gd name="T15" fmla="*/ 0 60000 65536"/>
                <a:gd name="T16" fmla="*/ 0 60000 65536"/>
                <a:gd name="T17" fmla="*/ 0 60000 65536"/>
                <a:gd name="T18" fmla="*/ 0 60000 65536"/>
                <a:gd name="T19" fmla="*/ 0 60000 65536"/>
                <a:gd name="T20" fmla="*/ 0 60000 65536"/>
                <a:gd name="T21" fmla="*/ 0 w 993"/>
                <a:gd name="T22" fmla="*/ 0 h 664"/>
                <a:gd name="T23" fmla="*/ 993 w 993"/>
                <a:gd name="T24" fmla="*/ 664 h 6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3" h="664">
                  <a:moveTo>
                    <a:pt x="0" y="47"/>
                  </a:moveTo>
                  <a:lnTo>
                    <a:pt x="44" y="339"/>
                  </a:lnTo>
                  <a:lnTo>
                    <a:pt x="990" y="664"/>
                  </a:lnTo>
                  <a:lnTo>
                    <a:pt x="993" y="372"/>
                  </a:lnTo>
                  <a:lnTo>
                    <a:pt x="0" y="0"/>
                  </a:lnTo>
                  <a:lnTo>
                    <a:pt x="0" y="47"/>
                  </a:lnTo>
                  <a:close/>
                </a:path>
              </a:pathLst>
            </a:custGeom>
            <a:solidFill>
              <a:srgbClr val="99FFFB"/>
            </a:solidFill>
            <a:ln w="9525">
              <a:noFill/>
              <a:round/>
              <a:headEnd/>
              <a:tailEnd/>
            </a:ln>
          </p:spPr>
          <p:txBody>
            <a:bodyPr/>
            <a:lstStyle/>
            <a:p>
              <a:endParaRPr lang="en-US"/>
            </a:p>
          </p:txBody>
        </p:sp>
        <p:sp>
          <p:nvSpPr>
            <p:cNvPr id="17611" name="Freeform 576"/>
            <p:cNvSpPr>
              <a:spLocks/>
            </p:cNvSpPr>
            <p:nvPr/>
          </p:nvSpPr>
          <p:spPr bwMode="auto">
            <a:xfrm>
              <a:off x="2305" y="1027"/>
              <a:ext cx="516" cy="322"/>
            </a:xfrm>
            <a:custGeom>
              <a:avLst/>
              <a:gdLst>
                <a:gd name="T0" fmla="*/ 1 w 1030"/>
                <a:gd name="T1" fmla="*/ 0 h 644"/>
                <a:gd name="T2" fmla="*/ 0 w 1030"/>
                <a:gd name="T3" fmla="*/ 1 h 644"/>
                <a:gd name="T4" fmla="*/ 1 w 1030"/>
                <a:gd name="T5" fmla="*/ 2 h 644"/>
                <a:gd name="T6" fmla="*/ 5 w 1030"/>
                <a:gd name="T7" fmla="*/ 3 h 644"/>
                <a:gd name="T8" fmla="*/ 5 w 1030"/>
                <a:gd name="T9" fmla="*/ 2 h 644"/>
                <a:gd name="T10" fmla="*/ 4 w 1030"/>
                <a:gd name="T11" fmla="*/ 2 h 644"/>
                <a:gd name="T12" fmla="*/ 4 w 1030"/>
                <a:gd name="T13" fmla="*/ 3 h 644"/>
                <a:gd name="T14" fmla="*/ 1 w 1030"/>
                <a:gd name="T15" fmla="*/ 2 h 644"/>
                <a:gd name="T16" fmla="*/ 1 w 1030"/>
                <a:gd name="T17" fmla="*/ 0 h 6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0"/>
                <a:gd name="T28" fmla="*/ 0 h 644"/>
                <a:gd name="T29" fmla="*/ 1030 w 1030"/>
                <a:gd name="T30" fmla="*/ 644 h 6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0" h="644">
                  <a:moveTo>
                    <a:pt x="37" y="0"/>
                  </a:moveTo>
                  <a:lnTo>
                    <a:pt x="0" y="3"/>
                  </a:lnTo>
                  <a:lnTo>
                    <a:pt x="45" y="308"/>
                  </a:lnTo>
                  <a:lnTo>
                    <a:pt x="1026" y="644"/>
                  </a:lnTo>
                  <a:lnTo>
                    <a:pt x="1030" y="313"/>
                  </a:lnTo>
                  <a:lnTo>
                    <a:pt x="993" y="339"/>
                  </a:lnTo>
                  <a:lnTo>
                    <a:pt x="991" y="592"/>
                  </a:lnTo>
                  <a:lnTo>
                    <a:pt x="79" y="279"/>
                  </a:lnTo>
                  <a:lnTo>
                    <a:pt x="37" y="0"/>
                  </a:lnTo>
                  <a:close/>
                </a:path>
              </a:pathLst>
            </a:custGeom>
            <a:solidFill>
              <a:srgbClr val="000000"/>
            </a:solidFill>
            <a:ln w="9525">
              <a:noFill/>
              <a:round/>
              <a:headEnd/>
              <a:tailEnd/>
            </a:ln>
          </p:spPr>
          <p:txBody>
            <a:bodyPr/>
            <a:lstStyle/>
            <a:p>
              <a:endParaRPr lang="en-US"/>
            </a:p>
          </p:txBody>
        </p:sp>
        <p:sp>
          <p:nvSpPr>
            <p:cNvPr id="17612" name="Freeform 577"/>
            <p:cNvSpPr>
              <a:spLocks/>
            </p:cNvSpPr>
            <p:nvPr/>
          </p:nvSpPr>
          <p:spPr bwMode="auto">
            <a:xfrm>
              <a:off x="2305" y="991"/>
              <a:ext cx="516" cy="206"/>
            </a:xfrm>
            <a:custGeom>
              <a:avLst/>
              <a:gdLst>
                <a:gd name="T0" fmla="*/ 5 w 1030"/>
                <a:gd name="T1" fmla="*/ 2 h 412"/>
                <a:gd name="T2" fmla="*/ 1 w 1030"/>
                <a:gd name="T3" fmla="*/ 0 h 412"/>
                <a:gd name="T4" fmla="*/ 0 w 1030"/>
                <a:gd name="T5" fmla="*/ 1 h 412"/>
                <a:gd name="T6" fmla="*/ 0 w 1030"/>
                <a:gd name="T7" fmla="*/ 1 h 412"/>
                <a:gd name="T8" fmla="*/ 1 w 1030"/>
                <a:gd name="T9" fmla="*/ 1 h 412"/>
                <a:gd name="T10" fmla="*/ 1 w 1030"/>
                <a:gd name="T11" fmla="*/ 1 h 412"/>
                <a:gd name="T12" fmla="*/ 4 w 1030"/>
                <a:gd name="T13" fmla="*/ 2 h 412"/>
                <a:gd name="T14" fmla="*/ 5 w 1030"/>
                <a:gd name="T15" fmla="*/ 2 h 412"/>
                <a:gd name="T16" fmla="*/ 0 60000 65536"/>
                <a:gd name="T17" fmla="*/ 0 60000 65536"/>
                <a:gd name="T18" fmla="*/ 0 60000 65536"/>
                <a:gd name="T19" fmla="*/ 0 60000 65536"/>
                <a:gd name="T20" fmla="*/ 0 60000 65536"/>
                <a:gd name="T21" fmla="*/ 0 60000 65536"/>
                <a:gd name="T22" fmla="*/ 0 60000 65536"/>
                <a:gd name="T23" fmla="*/ 0 60000 65536"/>
                <a:gd name="T24" fmla="*/ 0 w 1030"/>
                <a:gd name="T25" fmla="*/ 0 h 412"/>
                <a:gd name="T26" fmla="*/ 1030 w 1030"/>
                <a:gd name="T27" fmla="*/ 412 h 4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30" h="412">
                  <a:moveTo>
                    <a:pt x="1030" y="386"/>
                  </a:moveTo>
                  <a:lnTo>
                    <a:pt x="1" y="0"/>
                  </a:lnTo>
                  <a:lnTo>
                    <a:pt x="0" y="74"/>
                  </a:lnTo>
                  <a:lnTo>
                    <a:pt x="0" y="76"/>
                  </a:lnTo>
                  <a:lnTo>
                    <a:pt x="37" y="73"/>
                  </a:lnTo>
                  <a:lnTo>
                    <a:pt x="37" y="55"/>
                  </a:lnTo>
                  <a:lnTo>
                    <a:pt x="993" y="412"/>
                  </a:lnTo>
                  <a:lnTo>
                    <a:pt x="1030" y="386"/>
                  </a:lnTo>
                  <a:close/>
                </a:path>
              </a:pathLst>
            </a:custGeom>
            <a:solidFill>
              <a:srgbClr val="000000"/>
            </a:solidFill>
            <a:ln w="9525">
              <a:noFill/>
              <a:round/>
              <a:headEnd/>
              <a:tailEnd/>
            </a:ln>
          </p:spPr>
          <p:txBody>
            <a:bodyPr/>
            <a:lstStyle/>
            <a:p>
              <a:endParaRPr lang="en-US"/>
            </a:p>
          </p:txBody>
        </p:sp>
        <p:sp>
          <p:nvSpPr>
            <p:cNvPr id="17613" name="Freeform 578"/>
            <p:cNvSpPr>
              <a:spLocks/>
            </p:cNvSpPr>
            <p:nvPr/>
          </p:nvSpPr>
          <p:spPr bwMode="auto">
            <a:xfrm>
              <a:off x="2340" y="1403"/>
              <a:ext cx="502" cy="270"/>
            </a:xfrm>
            <a:custGeom>
              <a:avLst/>
              <a:gdLst>
                <a:gd name="T0" fmla="*/ 0 w 1005"/>
                <a:gd name="T1" fmla="*/ 0 h 540"/>
                <a:gd name="T2" fmla="*/ 0 w 1005"/>
                <a:gd name="T3" fmla="*/ 1 h 540"/>
                <a:gd name="T4" fmla="*/ 3 w 1005"/>
                <a:gd name="T5" fmla="*/ 2 h 540"/>
                <a:gd name="T6" fmla="*/ 3 w 1005"/>
                <a:gd name="T7" fmla="*/ 1 h 540"/>
                <a:gd name="T8" fmla="*/ 0 w 1005"/>
                <a:gd name="T9" fmla="*/ 0 h 540"/>
                <a:gd name="T10" fmla="*/ 0 w 1005"/>
                <a:gd name="T11" fmla="*/ 0 h 540"/>
                <a:gd name="T12" fmla="*/ 0 w 1005"/>
                <a:gd name="T13" fmla="*/ 0 h 540"/>
                <a:gd name="T14" fmla="*/ 0 60000 65536"/>
                <a:gd name="T15" fmla="*/ 0 60000 65536"/>
                <a:gd name="T16" fmla="*/ 0 60000 65536"/>
                <a:gd name="T17" fmla="*/ 0 60000 65536"/>
                <a:gd name="T18" fmla="*/ 0 60000 65536"/>
                <a:gd name="T19" fmla="*/ 0 60000 65536"/>
                <a:gd name="T20" fmla="*/ 0 60000 65536"/>
                <a:gd name="T21" fmla="*/ 0 w 1005"/>
                <a:gd name="T22" fmla="*/ 0 h 540"/>
                <a:gd name="T23" fmla="*/ 1005 w 1005"/>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5" h="540">
                  <a:moveTo>
                    <a:pt x="34" y="0"/>
                  </a:moveTo>
                  <a:lnTo>
                    <a:pt x="94" y="245"/>
                  </a:lnTo>
                  <a:lnTo>
                    <a:pt x="1005" y="540"/>
                  </a:lnTo>
                  <a:lnTo>
                    <a:pt x="993" y="317"/>
                  </a:lnTo>
                  <a:lnTo>
                    <a:pt x="0" y="0"/>
                  </a:lnTo>
                  <a:lnTo>
                    <a:pt x="34" y="0"/>
                  </a:lnTo>
                  <a:close/>
                </a:path>
              </a:pathLst>
            </a:custGeom>
            <a:solidFill>
              <a:srgbClr val="99FFFB"/>
            </a:solidFill>
            <a:ln w="9525">
              <a:noFill/>
              <a:round/>
              <a:headEnd/>
              <a:tailEnd/>
            </a:ln>
          </p:spPr>
          <p:txBody>
            <a:bodyPr/>
            <a:lstStyle/>
            <a:p>
              <a:endParaRPr lang="en-US"/>
            </a:p>
          </p:txBody>
        </p:sp>
        <p:sp>
          <p:nvSpPr>
            <p:cNvPr id="17614" name="Freeform 579"/>
            <p:cNvSpPr>
              <a:spLocks/>
            </p:cNvSpPr>
            <p:nvPr/>
          </p:nvSpPr>
          <p:spPr bwMode="auto">
            <a:xfrm>
              <a:off x="2348" y="1401"/>
              <a:ext cx="504" cy="285"/>
            </a:xfrm>
            <a:custGeom>
              <a:avLst/>
              <a:gdLst>
                <a:gd name="T0" fmla="*/ 1 w 1008"/>
                <a:gd name="T1" fmla="*/ 0 h 571"/>
                <a:gd name="T2" fmla="*/ 0 w 1008"/>
                <a:gd name="T3" fmla="*/ 0 h 571"/>
                <a:gd name="T4" fmla="*/ 1 w 1008"/>
                <a:gd name="T5" fmla="*/ 1 h 571"/>
                <a:gd name="T6" fmla="*/ 4 w 1008"/>
                <a:gd name="T7" fmla="*/ 2 h 571"/>
                <a:gd name="T8" fmla="*/ 4 w 1008"/>
                <a:gd name="T9" fmla="*/ 1 h 571"/>
                <a:gd name="T10" fmla="*/ 4 w 1008"/>
                <a:gd name="T11" fmla="*/ 1 h 571"/>
                <a:gd name="T12" fmla="*/ 4 w 1008"/>
                <a:gd name="T13" fmla="*/ 2 h 571"/>
                <a:gd name="T14" fmla="*/ 1 w 1008"/>
                <a:gd name="T15" fmla="*/ 0 h 571"/>
                <a:gd name="T16" fmla="*/ 1 w 1008"/>
                <a:gd name="T17" fmla="*/ 0 h 5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08"/>
                <a:gd name="T28" fmla="*/ 0 h 571"/>
                <a:gd name="T29" fmla="*/ 1008 w 1008"/>
                <a:gd name="T30" fmla="*/ 571 h 57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08" h="571">
                  <a:moveTo>
                    <a:pt x="35" y="0"/>
                  </a:moveTo>
                  <a:lnTo>
                    <a:pt x="0" y="10"/>
                  </a:lnTo>
                  <a:lnTo>
                    <a:pt x="62" y="264"/>
                  </a:lnTo>
                  <a:lnTo>
                    <a:pt x="1008" y="571"/>
                  </a:lnTo>
                  <a:lnTo>
                    <a:pt x="996" y="307"/>
                  </a:lnTo>
                  <a:lnTo>
                    <a:pt x="958" y="336"/>
                  </a:lnTo>
                  <a:lnTo>
                    <a:pt x="970" y="519"/>
                  </a:lnTo>
                  <a:lnTo>
                    <a:pt x="94" y="235"/>
                  </a:lnTo>
                  <a:lnTo>
                    <a:pt x="35" y="0"/>
                  </a:lnTo>
                  <a:close/>
                </a:path>
              </a:pathLst>
            </a:custGeom>
            <a:solidFill>
              <a:srgbClr val="000000"/>
            </a:solidFill>
            <a:ln w="9525">
              <a:noFill/>
              <a:round/>
              <a:headEnd/>
              <a:tailEnd/>
            </a:ln>
          </p:spPr>
          <p:txBody>
            <a:bodyPr/>
            <a:lstStyle/>
            <a:p>
              <a:endParaRPr lang="en-US"/>
            </a:p>
          </p:txBody>
        </p:sp>
        <p:sp>
          <p:nvSpPr>
            <p:cNvPr id="17615" name="Freeform 580"/>
            <p:cNvSpPr>
              <a:spLocks/>
            </p:cNvSpPr>
            <p:nvPr/>
          </p:nvSpPr>
          <p:spPr bwMode="auto">
            <a:xfrm>
              <a:off x="2338" y="1393"/>
              <a:ext cx="508" cy="176"/>
            </a:xfrm>
            <a:custGeom>
              <a:avLst/>
              <a:gdLst>
                <a:gd name="T0" fmla="*/ 4 w 1016"/>
                <a:gd name="T1" fmla="*/ 2 h 350"/>
                <a:gd name="T2" fmla="*/ 1 w 1016"/>
                <a:gd name="T3" fmla="*/ 0 h 350"/>
                <a:gd name="T4" fmla="*/ 1 w 1016"/>
                <a:gd name="T5" fmla="*/ 1 h 350"/>
                <a:gd name="T6" fmla="*/ 0 w 1016"/>
                <a:gd name="T7" fmla="*/ 1 h 350"/>
                <a:gd name="T8" fmla="*/ 4 w 1016"/>
                <a:gd name="T9" fmla="*/ 2 h 350"/>
                <a:gd name="T10" fmla="*/ 4 w 1016"/>
                <a:gd name="T11" fmla="*/ 2 h 350"/>
                <a:gd name="T12" fmla="*/ 0 60000 65536"/>
                <a:gd name="T13" fmla="*/ 0 60000 65536"/>
                <a:gd name="T14" fmla="*/ 0 60000 65536"/>
                <a:gd name="T15" fmla="*/ 0 60000 65536"/>
                <a:gd name="T16" fmla="*/ 0 60000 65536"/>
                <a:gd name="T17" fmla="*/ 0 60000 65536"/>
                <a:gd name="T18" fmla="*/ 0 w 1016"/>
                <a:gd name="T19" fmla="*/ 0 h 350"/>
                <a:gd name="T20" fmla="*/ 1016 w 1016"/>
                <a:gd name="T21" fmla="*/ 350 h 350"/>
              </a:gdLst>
              <a:ahLst/>
              <a:cxnLst>
                <a:cxn ang="T12">
                  <a:pos x="T0" y="T1"/>
                </a:cxn>
                <a:cxn ang="T13">
                  <a:pos x="T2" y="T3"/>
                </a:cxn>
                <a:cxn ang="T14">
                  <a:pos x="T4" y="T5"/>
                </a:cxn>
                <a:cxn ang="T15">
                  <a:pos x="T6" y="T7"/>
                </a:cxn>
                <a:cxn ang="T16">
                  <a:pos x="T8" y="T9"/>
                </a:cxn>
                <a:cxn ang="T17">
                  <a:pos x="T10" y="T11"/>
                </a:cxn>
              </a:cxnLst>
              <a:rect l="T18" t="T19" r="T20" b="T21"/>
              <a:pathLst>
                <a:path w="1016" h="350">
                  <a:moveTo>
                    <a:pt x="1016" y="321"/>
                  </a:moveTo>
                  <a:lnTo>
                    <a:pt x="9" y="0"/>
                  </a:lnTo>
                  <a:lnTo>
                    <a:pt x="4" y="19"/>
                  </a:lnTo>
                  <a:lnTo>
                    <a:pt x="0" y="39"/>
                  </a:lnTo>
                  <a:lnTo>
                    <a:pt x="978" y="350"/>
                  </a:lnTo>
                  <a:lnTo>
                    <a:pt x="1016" y="321"/>
                  </a:lnTo>
                  <a:close/>
                </a:path>
              </a:pathLst>
            </a:custGeom>
            <a:solidFill>
              <a:srgbClr val="000000"/>
            </a:solidFill>
            <a:ln w="9525">
              <a:noFill/>
              <a:round/>
              <a:headEnd/>
              <a:tailEnd/>
            </a:ln>
          </p:spPr>
          <p:txBody>
            <a:bodyPr/>
            <a:lstStyle/>
            <a:p>
              <a:endParaRPr lang="en-US"/>
            </a:p>
          </p:txBody>
        </p:sp>
        <p:sp>
          <p:nvSpPr>
            <p:cNvPr id="17616" name="Freeform 581"/>
            <p:cNvSpPr>
              <a:spLocks/>
            </p:cNvSpPr>
            <p:nvPr/>
          </p:nvSpPr>
          <p:spPr bwMode="auto">
            <a:xfrm>
              <a:off x="2370" y="1429"/>
              <a:ext cx="443" cy="148"/>
            </a:xfrm>
            <a:custGeom>
              <a:avLst/>
              <a:gdLst>
                <a:gd name="T0" fmla="*/ 1 w 885"/>
                <a:gd name="T1" fmla="*/ 1 h 296"/>
                <a:gd name="T2" fmla="*/ 0 w 885"/>
                <a:gd name="T3" fmla="*/ 0 h 296"/>
                <a:gd name="T4" fmla="*/ 4 w 885"/>
                <a:gd name="T5" fmla="*/ 1 h 296"/>
                <a:gd name="T6" fmla="*/ 1 w 885"/>
                <a:gd name="T7" fmla="*/ 1 h 296"/>
                <a:gd name="T8" fmla="*/ 1 w 885"/>
                <a:gd name="T9" fmla="*/ 1 h 296"/>
                <a:gd name="T10" fmla="*/ 0 60000 65536"/>
                <a:gd name="T11" fmla="*/ 0 60000 65536"/>
                <a:gd name="T12" fmla="*/ 0 60000 65536"/>
                <a:gd name="T13" fmla="*/ 0 60000 65536"/>
                <a:gd name="T14" fmla="*/ 0 60000 65536"/>
                <a:gd name="T15" fmla="*/ 0 w 885"/>
                <a:gd name="T16" fmla="*/ 0 h 296"/>
                <a:gd name="T17" fmla="*/ 885 w 885"/>
                <a:gd name="T18" fmla="*/ 296 h 296"/>
              </a:gdLst>
              <a:ahLst/>
              <a:cxnLst>
                <a:cxn ang="T10">
                  <a:pos x="T0" y="T1"/>
                </a:cxn>
                <a:cxn ang="T11">
                  <a:pos x="T2" y="T3"/>
                </a:cxn>
                <a:cxn ang="T12">
                  <a:pos x="T4" y="T5"/>
                </a:cxn>
                <a:cxn ang="T13">
                  <a:pos x="T6" y="T7"/>
                </a:cxn>
                <a:cxn ang="T14">
                  <a:pos x="T8" y="T9"/>
                </a:cxn>
              </a:cxnLst>
              <a:rect l="T15" t="T16" r="T17" b="T18"/>
              <a:pathLst>
                <a:path w="885" h="296">
                  <a:moveTo>
                    <a:pt x="50" y="115"/>
                  </a:moveTo>
                  <a:lnTo>
                    <a:pt x="0" y="0"/>
                  </a:lnTo>
                  <a:lnTo>
                    <a:pt x="885" y="296"/>
                  </a:lnTo>
                  <a:lnTo>
                    <a:pt x="50" y="115"/>
                  </a:lnTo>
                  <a:close/>
                </a:path>
              </a:pathLst>
            </a:custGeom>
            <a:solidFill>
              <a:srgbClr val="99FFFB"/>
            </a:solidFill>
            <a:ln w="9525">
              <a:noFill/>
              <a:round/>
              <a:headEnd/>
              <a:tailEnd/>
            </a:ln>
          </p:spPr>
          <p:txBody>
            <a:bodyPr/>
            <a:lstStyle/>
            <a:p>
              <a:endParaRPr lang="en-US"/>
            </a:p>
          </p:txBody>
        </p:sp>
        <p:sp>
          <p:nvSpPr>
            <p:cNvPr id="17617" name="Freeform 582"/>
            <p:cNvSpPr>
              <a:spLocks/>
            </p:cNvSpPr>
            <p:nvPr/>
          </p:nvSpPr>
          <p:spPr bwMode="auto">
            <a:xfrm>
              <a:off x="2468" y="2490"/>
              <a:ext cx="343" cy="194"/>
            </a:xfrm>
            <a:custGeom>
              <a:avLst/>
              <a:gdLst>
                <a:gd name="T0" fmla="*/ 0 w 687"/>
                <a:gd name="T1" fmla="*/ 0 h 386"/>
                <a:gd name="T2" fmla="*/ 0 w 687"/>
                <a:gd name="T3" fmla="*/ 1 h 386"/>
                <a:gd name="T4" fmla="*/ 2 w 687"/>
                <a:gd name="T5" fmla="*/ 2 h 386"/>
                <a:gd name="T6" fmla="*/ 2 w 687"/>
                <a:gd name="T7" fmla="*/ 2 h 386"/>
                <a:gd name="T8" fmla="*/ 0 w 687"/>
                <a:gd name="T9" fmla="*/ 0 h 386"/>
                <a:gd name="T10" fmla="*/ 0 60000 65536"/>
                <a:gd name="T11" fmla="*/ 0 60000 65536"/>
                <a:gd name="T12" fmla="*/ 0 60000 65536"/>
                <a:gd name="T13" fmla="*/ 0 60000 65536"/>
                <a:gd name="T14" fmla="*/ 0 60000 65536"/>
                <a:gd name="T15" fmla="*/ 0 w 687"/>
                <a:gd name="T16" fmla="*/ 0 h 386"/>
                <a:gd name="T17" fmla="*/ 687 w 687"/>
                <a:gd name="T18" fmla="*/ 386 h 386"/>
              </a:gdLst>
              <a:ahLst/>
              <a:cxnLst>
                <a:cxn ang="T10">
                  <a:pos x="T0" y="T1"/>
                </a:cxn>
                <a:cxn ang="T11">
                  <a:pos x="T2" y="T3"/>
                </a:cxn>
                <a:cxn ang="T12">
                  <a:pos x="T4" y="T5"/>
                </a:cxn>
                <a:cxn ang="T13">
                  <a:pos x="T6" y="T7"/>
                </a:cxn>
                <a:cxn ang="T14">
                  <a:pos x="T8" y="T9"/>
                </a:cxn>
              </a:cxnLst>
              <a:rect l="T15" t="T16" r="T17" b="T18"/>
              <a:pathLst>
                <a:path w="687" h="386">
                  <a:moveTo>
                    <a:pt x="24" y="0"/>
                  </a:moveTo>
                  <a:lnTo>
                    <a:pt x="0" y="58"/>
                  </a:lnTo>
                  <a:lnTo>
                    <a:pt x="664" y="386"/>
                  </a:lnTo>
                  <a:lnTo>
                    <a:pt x="687" y="327"/>
                  </a:lnTo>
                  <a:lnTo>
                    <a:pt x="24" y="0"/>
                  </a:lnTo>
                  <a:close/>
                </a:path>
              </a:pathLst>
            </a:custGeom>
            <a:solidFill>
              <a:srgbClr val="000000"/>
            </a:solidFill>
            <a:ln w="9525">
              <a:noFill/>
              <a:round/>
              <a:headEnd/>
              <a:tailEnd/>
            </a:ln>
          </p:spPr>
          <p:txBody>
            <a:bodyPr/>
            <a:lstStyle/>
            <a:p>
              <a:endParaRPr lang="en-US"/>
            </a:p>
          </p:txBody>
        </p:sp>
        <p:sp>
          <p:nvSpPr>
            <p:cNvPr id="17618" name="Freeform 583"/>
            <p:cNvSpPr>
              <a:spLocks/>
            </p:cNvSpPr>
            <p:nvPr/>
          </p:nvSpPr>
          <p:spPr bwMode="auto">
            <a:xfrm>
              <a:off x="2463" y="2566"/>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7619" name="Freeform 584"/>
            <p:cNvSpPr>
              <a:spLocks/>
            </p:cNvSpPr>
            <p:nvPr/>
          </p:nvSpPr>
          <p:spPr bwMode="auto">
            <a:xfrm>
              <a:off x="2442" y="2641"/>
              <a:ext cx="344" cy="194"/>
            </a:xfrm>
            <a:custGeom>
              <a:avLst/>
              <a:gdLst>
                <a:gd name="T0" fmla="*/ 1 w 687"/>
                <a:gd name="T1" fmla="*/ 0 h 388"/>
                <a:gd name="T2" fmla="*/ 0 w 687"/>
                <a:gd name="T3" fmla="*/ 1 h 388"/>
                <a:gd name="T4" fmla="*/ 3 w 687"/>
                <a:gd name="T5" fmla="*/ 2 h 388"/>
                <a:gd name="T6" fmla="*/ 3 w 687"/>
                <a:gd name="T7" fmla="*/ 2 h 388"/>
                <a:gd name="T8" fmla="*/ 1 w 687"/>
                <a:gd name="T9" fmla="*/ 0 h 388"/>
                <a:gd name="T10" fmla="*/ 0 60000 65536"/>
                <a:gd name="T11" fmla="*/ 0 60000 65536"/>
                <a:gd name="T12" fmla="*/ 0 60000 65536"/>
                <a:gd name="T13" fmla="*/ 0 60000 65536"/>
                <a:gd name="T14" fmla="*/ 0 60000 65536"/>
                <a:gd name="T15" fmla="*/ 0 w 687"/>
                <a:gd name="T16" fmla="*/ 0 h 388"/>
                <a:gd name="T17" fmla="*/ 687 w 687"/>
                <a:gd name="T18" fmla="*/ 388 h 388"/>
              </a:gdLst>
              <a:ahLst/>
              <a:cxnLst>
                <a:cxn ang="T10">
                  <a:pos x="T0" y="T1"/>
                </a:cxn>
                <a:cxn ang="T11">
                  <a:pos x="T2" y="T3"/>
                </a:cxn>
                <a:cxn ang="T12">
                  <a:pos x="T4" y="T5"/>
                </a:cxn>
                <a:cxn ang="T13">
                  <a:pos x="T6" y="T7"/>
                </a:cxn>
                <a:cxn ang="T14">
                  <a:pos x="T8" y="T9"/>
                </a:cxn>
              </a:cxnLst>
              <a:rect l="T15" t="T16" r="T17" b="T18"/>
              <a:pathLst>
                <a:path w="687" h="388">
                  <a:moveTo>
                    <a:pt x="23" y="0"/>
                  </a:moveTo>
                  <a:lnTo>
                    <a:pt x="0" y="59"/>
                  </a:lnTo>
                  <a:lnTo>
                    <a:pt x="663" y="388"/>
                  </a:lnTo>
                  <a:lnTo>
                    <a:pt x="687" y="330"/>
                  </a:lnTo>
                  <a:lnTo>
                    <a:pt x="23" y="0"/>
                  </a:lnTo>
                  <a:close/>
                </a:path>
              </a:pathLst>
            </a:custGeom>
            <a:solidFill>
              <a:srgbClr val="000000"/>
            </a:solidFill>
            <a:ln w="9525">
              <a:noFill/>
              <a:round/>
              <a:headEnd/>
              <a:tailEnd/>
            </a:ln>
          </p:spPr>
          <p:txBody>
            <a:bodyPr/>
            <a:lstStyle/>
            <a:p>
              <a:endParaRPr lang="en-US"/>
            </a:p>
          </p:txBody>
        </p:sp>
        <p:sp>
          <p:nvSpPr>
            <p:cNvPr id="17620" name="Freeform 585"/>
            <p:cNvSpPr>
              <a:spLocks/>
            </p:cNvSpPr>
            <p:nvPr/>
          </p:nvSpPr>
          <p:spPr bwMode="auto">
            <a:xfrm>
              <a:off x="2437" y="2718"/>
              <a:ext cx="350" cy="221"/>
            </a:xfrm>
            <a:custGeom>
              <a:avLst/>
              <a:gdLst>
                <a:gd name="T0" fmla="*/ 1 w 699"/>
                <a:gd name="T1" fmla="*/ 0 h 441"/>
                <a:gd name="T2" fmla="*/ 0 w 699"/>
                <a:gd name="T3" fmla="*/ 1 h 441"/>
                <a:gd name="T4" fmla="*/ 3 w 699"/>
                <a:gd name="T5" fmla="*/ 2 h 441"/>
                <a:gd name="T6" fmla="*/ 3 w 699"/>
                <a:gd name="T7" fmla="*/ 2 h 441"/>
                <a:gd name="T8" fmla="*/ 1 w 699"/>
                <a:gd name="T9" fmla="*/ 0 h 441"/>
                <a:gd name="T10" fmla="*/ 0 60000 65536"/>
                <a:gd name="T11" fmla="*/ 0 60000 65536"/>
                <a:gd name="T12" fmla="*/ 0 60000 65536"/>
                <a:gd name="T13" fmla="*/ 0 60000 65536"/>
                <a:gd name="T14" fmla="*/ 0 60000 65536"/>
                <a:gd name="T15" fmla="*/ 0 w 699"/>
                <a:gd name="T16" fmla="*/ 0 h 441"/>
                <a:gd name="T17" fmla="*/ 699 w 699"/>
                <a:gd name="T18" fmla="*/ 441 h 441"/>
              </a:gdLst>
              <a:ahLst/>
              <a:cxnLst>
                <a:cxn ang="T10">
                  <a:pos x="T0" y="T1"/>
                </a:cxn>
                <a:cxn ang="T11">
                  <a:pos x="T2" y="T3"/>
                </a:cxn>
                <a:cxn ang="T12">
                  <a:pos x="T4" y="T5"/>
                </a:cxn>
                <a:cxn ang="T13">
                  <a:pos x="T6" y="T7"/>
                </a:cxn>
                <a:cxn ang="T14">
                  <a:pos x="T8" y="T9"/>
                </a:cxn>
              </a:cxnLst>
              <a:rect l="T15" t="T16" r="T17" b="T18"/>
              <a:pathLst>
                <a:path w="699" h="441">
                  <a:moveTo>
                    <a:pt x="27" y="0"/>
                  </a:moveTo>
                  <a:lnTo>
                    <a:pt x="0" y="58"/>
                  </a:lnTo>
                  <a:lnTo>
                    <a:pt x="673" y="441"/>
                  </a:lnTo>
                  <a:lnTo>
                    <a:pt x="699" y="383"/>
                  </a:lnTo>
                  <a:lnTo>
                    <a:pt x="27" y="0"/>
                  </a:lnTo>
                  <a:close/>
                </a:path>
              </a:pathLst>
            </a:custGeom>
            <a:solidFill>
              <a:srgbClr val="000000"/>
            </a:solidFill>
            <a:ln w="9525">
              <a:noFill/>
              <a:round/>
              <a:headEnd/>
              <a:tailEnd/>
            </a:ln>
          </p:spPr>
          <p:txBody>
            <a:bodyPr/>
            <a:lstStyle/>
            <a:p>
              <a:endParaRPr lang="en-US"/>
            </a:p>
          </p:txBody>
        </p:sp>
        <p:sp>
          <p:nvSpPr>
            <p:cNvPr id="17621" name="Freeform 586"/>
            <p:cNvSpPr>
              <a:spLocks/>
            </p:cNvSpPr>
            <p:nvPr/>
          </p:nvSpPr>
          <p:spPr bwMode="auto">
            <a:xfrm>
              <a:off x="2934" y="770"/>
              <a:ext cx="1059" cy="264"/>
            </a:xfrm>
            <a:custGeom>
              <a:avLst/>
              <a:gdLst>
                <a:gd name="T0" fmla="*/ 0 w 2119"/>
                <a:gd name="T1" fmla="*/ 2 h 528"/>
                <a:gd name="T2" fmla="*/ 0 w 2119"/>
                <a:gd name="T3" fmla="*/ 2 h 528"/>
                <a:gd name="T4" fmla="*/ 8 w 2119"/>
                <a:gd name="T5" fmla="*/ 1 h 528"/>
                <a:gd name="T6" fmla="*/ 8 w 2119"/>
                <a:gd name="T7" fmla="*/ 0 h 528"/>
                <a:gd name="T8" fmla="*/ 0 w 2119"/>
                <a:gd name="T9" fmla="*/ 2 h 528"/>
                <a:gd name="T10" fmla="*/ 0 60000 65536"/>
                <a:gd name="T11" fmla="*/ 0 60000 65536"/>
                <a:gd name="T12" fmla="*/ 0 60000 65536"/>
                <a:gd name="T13" fmla="*/ 0 60000 65536"/>
                <a:gd name="T14" fmla="*/ 0 60000 65536"/>
                <a:gd name="T15" fmla="*/ 0 w 2119"/>
                <a:gd name="T16" fmla="*/ 0 h 528"/>
                <a:gd name="T17" fmla="*/ 2119 w 2119"/>
                <a:gd name="T18" fmla="*/ 528 h 528"/>
              </a:gdLst>
              <a:ahLst/>
              <a:cxnLst>
                <a:cxn ang="T10">
                  <a:pos x="T0" y="T1"/>
                </a:cxn>
                <a:cxn ang="T11">
                  <a:pos x="T2" y="T3"/>
                </a:cxn>
                <a:cxn ang="T12">
                  <a:pos x="T4" y="T5"/>
                </a:cxn>
                <a:cxn ang="T13">
                  <a:pos x="T6" y="T7"/>
                </a:cxn>
                <a:cxn ang="T14">
                  <a:pos x="T8" y="T9"/>
                </a:cxn>
              </a:cxnLst>
              <a:rect l="T15" t="T16" r="T17" b="T18"/>
              <a:pathLst>
                <a:path w="2119" h="528">
                  <a:moveTo>
                    <a:pt x="0" y="486"/>
                  </a:moveTo>
                  <a:lnTo>
                    <a:pt x="6" y="528"/>
                  </a:lnTo>
                  <a:lnTo>
                    <a:pt x="2119" y="42"/>
                  </a:lnTo>
                  <a:lnTo>
                    <a:pt x="2114" y="0"/>
                  </a:lnTo>
                  <a:lnTo>
                    <a:pt x="0" y="486"/>
                  </a:lnTo>
                  <a:close/>
                </a:path>
              </a:pathLst>
            </a:custGeom>
            <a:solidFill>
              <a:srgbClr val="DEFF73"/>
            </a:solidFill>
            <a:ln w="9525">
              <a:noFill/>
              <a:round/>
              <a:headEnd/>
              <a:tailEnd/>
            </a:ln>
          </p:spPr>
          <p:txBody>
            <a:bodyPr/>
            <a:lstStyle/>
            <a:p>
              <a:endParaRPr lang="en-US"/>
            </a:p>
          </p:txBody>
        </p:sp>
        <p:sp>
          <p:nvSpPr>
            <p:cNvPr id="17622" name="Freeform 587"/>
            <p:cNvSpPr>
              <a:spLocks/>
            </p:cNvSpPr>
            <p:nvPr/>
          </p:nvSpPr>
          <p:spPr bwMode="auto">
            <a:xfrm>
              <a:off x="2256" y="672"/>
              <a:ext cx="1872" cy="384"/>
            </a:xfrm>
            <a:custGeom>
              <a:avLst/>
              <a:gdLst>
                <a:gd name="T0" fmla="*/ 1872 w 1872"/>
                <a:gd name="T1" fmla="*/ 96 h 384"/>
                <a:gd name="T2" fmla="*/ 672 w 1872"/>
                <a:gd name="T3" fmla="*/ 384 h 384"/>
                <a:gd name="T4" fmla="*/ 0 w 1872"/>
                <a:gd name="T5" fmla="*/ 192 h 384"/>
                <a:gd name="T6" fmla="*/ 1392 w 1872"/>
                <a:gd name="T7" fmla="*/ 0 h 384"/>
                <a:gd name="T8" fmla="*/ 1872 w 1872"/>
                <a:gd name="T9" fmla="*/ 96 h 384"/>
                <a:gd name="T10" fmla="*/ 0 60000 65536"/>
                <a:gd name="T11" fmla="*/ 0 60000 65536"/>
                <a:gd name="T12" fmla="*/ 0 60000 65536"/>
                <a:gd name="T13" fmla="*/ 0 60000 65536"/>
                <a:gd name="T14" fmla="*/ 0 60000 65536"/>
                <a:gd name="T15" fmla="*/ 0 w 1872"/>
                <a:gd name="T16" fmla="*/ 0 h 384"/>
                <a:gd name="T17" fmla="*/ 1872 w 1872"/>
                <a:gd name="T18" fmla="*/ 384 h 384"/>
              </a:gdLst>
              <a:ahLst/>
              <a:cxnLst>
                <a:cxn ang="T10">
                  <a:pos x="T0" y="T1"/>
                </a:cxn>
                <a:cxn ang="T11">
                  <a:pos x="T2" y="T3"/>
                </a:cxn>
                <a:cxn ang="T12">
                  <a:pos x="T4" y="T5"/>
                </a:cxn>
                <a:cxn ang="T13">
                  <a:pos x="T6" y="T7"/>
                </a:cxn>
                <a:cxn ang="T14">
                  <a:pos x="T8" y="T9"/>
                </a:cxn>
              </a:cxnLst>
              <a:rect l="T15" t="T16" r="T17" b="T18"/>
              <a:pathLst>
                <a:path w="1872" h="384">
                  <a:moveTo>
                    <a:pt x="1872" y="96"/>
                  </a:moveTo>
                  <a:lnTo>
                    <a:pt x="672" y="384"/>
                  </a:lnTo>
                  <a:lnTo>
                    <a:pt x="0" y="192"/>
                  </a:lnTo>
                  <a:lnTo>
                    <a:pt x="1392" y="0"/>
                  </a:lnTo>
                  <a:lnTo>
                    <a:pt x="1872" y="96"/>
                  </a:lnTo>
                  <a:close/>
                </a:path>
              </a:pathLst>
            </a:custGeom>
            <a:gradFill rotWithShape="0">
              <a:gsLst>
                <a:gs pos="0">
                  <a:srgbClr val="BEE761"/>
                </a:gs>
                <a:gs pos="100000">
                  <a:srgbClr val="44D6FE"/>
                </a:gs>
              </a:gsLst>
              <a:lin ang="0" scaled="1"/>
            </a:gradFill>
            <a:ln w="12700" cap="flat" cmpd="sng">
              <a:noFill/>
              <a:prstDash val="solid"/>
              <a:round/>
              <a:headEnd type="none" w="sm" len="sm"/>
              <a:tailEnd type="none" w="sm" len="sm"/>
            </a:ln>
          </p:spPr>
          <p:txBody>
            <a:bodyPr wrap="none" anchor="ctr"/>
            <a:lstStyle/>
            <a:p>
              <a:endParaRPr lang="en-US"/>
            </a:p>
          </p:txBody>
        </p:sp>
      </p:grpSp>
      <p:sp>
        <p:nvSpPr>
          <p:cNvPr id="17435" name="Text Box 596"/>
          <p:cNvSpPr txBox="1">
            <a:spLocks noChangeArrowheads="1"/>
          </p:cNvSpPr>
          <p:nvPr/>
        </p:nvSpPr>
        <p:spPr bwMode="auto">
          <a:xfrm>
            <a:off x="1955800" y="5257800"/>
            <a:ext cx="1301750" cy="366713"/>
          </a:xfrm>
          <a:prstGeom prst="rect">
            <a:avLst/>
          </a:prstGeom>
          <a:noFill/>
          <a:ln w="9525">
            <a:noFill/>
            <a:miter lim="800000"/>
            <a:headEnd/>
            <a:tailEnd/>
          </a:ln>
        </p:spPr>
        <p:txBody>
          <a:bodyPr wrap="none">
            <a:spAutoFit/>
          </a:bodyPr>
          <a:lstStyle/>
          <a:p>
            <a:pPr algn="ctr"/>
            <a:r>
              <a:rPr lang="en-US" altLang="en-US" b="1">
                <a:solidFill>
                  <a:schemeClr val="bg1"/>
                </a:solidFill>
              </a:rPr>
              <a:t>Partner #1</a:t>
            </a:r>
          </a:p>
        </p:txBody>
      </p:sp>
      <p:sp>
        <p:nvSpPr>
          <p:cNvPr id="17436" name="Text Box 597"/>
          <p:cNvSpPr txBox="1">
            <a:spLocks noChangeArrowheads="1"/>
          </p:cNvSpPr>
          <p:nvPr/>
        </p:nvSpPr>
        <p:spPr bwMode="auto">
          <a:xfrm>
            <a:off x="7594600" y="4876800"/>
            <a:ext cx="1301750" cy="366713"/>
          </a:xfrm>
          <a:prstGeom prst="rect">
            <a:avLst/>
          </a:prstGeom>
          <a:noFill/>
          <a:ln w="9525">
            <a:noFill/>
            <a:miter lim="800000"/>
            <a:headEnd/>
            <a:tailEnd/>
          </a:ln>
        </p:spPr>
        <p:txBody>
          <a:bodyPr wrap="none">
            <a:spAutoFit/>
          </a:bodyPr>
          <a:lstStyle/>
          <a:p>
            <a:pPr algn="ctr"/>
            <a:r>
              <a:rPr lang="en-US" altLang="en-US" b="1">
                <a:solidFill>
                  <a:schemeClr val="bg1"/>
                </a:solidFill>
              </a:rPr>
              <a:t>Partner #2</a:t>
            </a:r>
          </a:p>
        </p:txBody>
      </p:sp>
      <p:grpSp>
        <p:nvGrpSpPr>
          <p:cNvPr id="17437" name="Group 598"/>
          <p:cNvGrpSpPr>
            <a:grpSpLocks/>
          </p:cNvGrpSpPr>
          <p:nvPr/>
        </p:nvGrpSpPr>
        <p:grpSpPr bwMode="auto">
          <a:xfrm rot="19425538" flipH="1">
            <a:off x="6858000" y="1905000"/>
            <a:ext cx="576263" cy="1277938"/>
            <a:chOff x="1125" y="288"/>
            <a:chExt cx="2859" cy="3498"/>
          </a:xfrm>
        </p:grpSpPr>
        <p:sp>
          <p:nvSpPr>
            <p:cNvPr id="17544" name="Freeform 599"/>
            <p:cNvSpPr>
              <a:spLocks/>
            </p:cNvSpPr>
            <p:nvPr/>
          </p:nvSpPr>
          <p:spPr bwMode="auto">
            <a:xfrm>
              <a:off x="1151" y="288"/>
              <a:ext cx="2833" cy="3456"/>
            </a:xfrm>
            <a:custGeom>
              <a:avLst/>
              <a:gdLst>
                <a:gd name="T0" fmla="*/ 865 w 2833"/>
                <a:gd name="T1" fmla="*/ 3456 h 3456"/>
                <a:gd name="T2" fmla="*/ 529 w 2833"/>
                <a:gd name="T3" fmla="*/ 3312 h 3456"/>
                <a:gd name="T4" fmla="*/ 452 w 2833"/>
                <a:gd name="T5" fmla="*/ 2646 h 3456"/>
                <a:gd name="T6" fmla="*/ 343 w 2833"/>
                <a:gd name="T7" fmla="*/ 2154 h 3456"/>
                <a:gd name="T8" fmla="*/ 180 w 2833"/>
                <a:gd name="T9" fmla="*/ 1717 h 3456"/>
                <a:gd name="T10" fmla="*/ 0 w 2833"/>
                <a:gd name="T11" fmla="*/ 1241 h 3456"/>
                <a:gd name="T12" fmla="*/ 567 w 2833"/>
                <a:gd name="T13" fmla="*/ 1035 h 3456"/>
                <a:gd name="T14" fmla="*/ 1027 w 2833"/>
                <a:gd name="T15" fmla="*/ 854 h 3456"/>
                <a:gd name="T16" fmla="*/ 1405 w 2833"/>
                <a:gd name="T17" fmla="*/ 657 h 3456"/>
                <a:gd name="T18" fmla="*/ 1717 w 2833"/>
                <a:gd name="T19" fmla="*/ 485 h 3456"/>
                <a:gd name="T20" fmla="*/ 1964 w 2833"/>
                <a:gd name="T21" fmla="*/ 312 h 3456"/>
                <a:gd name="T22" fmla="*/ 2161 w 2833"/>
                <a:gd name="T23" fmla="*/ 96 h 3456"/>
                <a:gd name="T24" fmla="*/ 2593 w 2833"/>
                <a:gd name="T25" fmla="*/ 0 h 3456"/>
                <a:gd name="T26" fmla="*/ 2833 w 2833"/>
                <a:gd name="T27" fmla="*/ 1920 h 3456"/>
                <a:gd name="T28" fmla="*/ 2178 w 2833"/>
                <a:gd name="T29" fmla="*/ 2531 h 3456"/>
                <a:gd name="T30" fmla="*/ 1726 w 2833"/>
                <a:gd name="T31" fmla="*/ 2892 h 3456"/>
                <a:gd name="T32" fmla="*/ 865 w 2833"/>
                <a:gd name="T33" fmla="*/ 3456 h 34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33"/>
                <a:gd name="T52" fmla="*/ 0 h 3456"/>
                <a:gd name="T53" fmla="*/ 2833 w 2833"/>
                <a:gd name="T54" fmla="*/ 3456 h 34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33" h="3456">
                  <a:moveTo>
                    <a:pt x="865" y="3456"/>
                  </a:moveTo>
                  <a:lnTo>
                    <a:pt x="529" y="3312"/>
                  </a:lnTo>
                  <a:lnTo>
                    <a:pt x="452" y="2646"/>
                  </a:lnTo>
                  <a:lnTo>
                    <a:pt x="343" y="2154"/>
                  </a:lnTo>
                  <a:lnTo>
                    <a:pt x="180" y="1717"/>
                  </a:lnTo>
                  <a:lnTo>
                    <a:pt x="0" y="1241"/>
                  </a:lnTo>
                  <a:lnTo>
                    <a:pt x="567" y="1035"/>
                  </a:lnTo>
                  <a:lnTo>
                    <a:pt x="1027" y="854"/>
                  </a:lnTo>
                  <a:lnTo>
                    <a:pt x="1405" y="657"/>
                  </a:lnTo>
                  <a:lnTo>
                    <a:pt x="1717" y="485"/>
                  </a:lnTo>
                  <a:lnTo>
                    <a:pt x="1964" y="312"/>
                  </a:lnTo>
                  <a:lnTo>
                    <a:pt x="2161" y="96"/>
                  </a:lnTo>
                  <a:lnTo>
                    <a:pt x="2593" y="0"/>
                  </a:lnTo>
                  <a:lnTo>
                    <a:pt x="2833" y="1920"/>
                  </a:lnTo>
                  <a:lnTo>
                    <a:pt x="2178" y="2531"/>
                  </a:lnTo>
                  <a:lnTo>
                    <a:pt x="1726" y="2892"/>
                  </a:lnTo>
                  <a:lnTo>
                    <a:pt x="865" y="3456"/>
                  </a:lnTo>
                  <a:close/>
                </a:path>
              </a:pathLst>
            </a:custGeom>
            <a:solidFill>
              <a:srgbClr val="4D4D4D"/>
            </a:solidFill>
            <a:ln w="12700" cap="flat" cmpd="sng">
              <a:noFill/>
              <a:prstDash val="solid"/>
              <a:round/>
              <a:headEnd type="none" w="sm" len="sm"/>
              <a:tailEnd type="none" w="sm" len="sm"/>
            </a:ln>
          </p:spPr>
          <p:txBody>
            <a:bodyPr wrap="none" anchor="ctr"/>
            <a:lstStyle/>
            <a:p>
              <a:endParaRPr lang="en-US"/>
            </a:p>
          </p:txBody>
        </p:sp>
        <p:sp>
          <p:nvSpPr>
            <p:cNvPr id="17545" name="Freeform 600"/>
            <p:cNvSpPr>
              <a:spLocks/>
            </p:cNvSpPr>
            <p:nvPr/>
          </p:nvSpPr>
          <p:spPr bwMode="auto">
            <a:xfrm>
              <a:off x="1125" y="1508"/>
              <a:ext cx="32" cy="43"/>
            </a:xfrm>
            <a:custGeom>
              <a:avLst/>
              <a:gdLst>
                <a:gd name="T0" fmla="*/ 1 w 63"/>
                <a:gd name="T1" fmla="*/ 0 h 43"/>
                <a:gd name="T2" fmla="*/ 1 w 63"/>
                <a:gd name="T3" fmla="*/ 0 h 43"/>
                <a:gd name="T4" fmla="*/ 0 w 63"/>
                <a:gd name="T5" fmla="*/ 20 h 43"/>
                <a:gd name="T6" fmla="*/ 1 w 63"/>
                <a:gd name="T7" fmla="*/ 43 h 43"/>
                <a:gd name="T8" fmla="*/ 1 w 63"/>
                <a:gd name="T9" fmla="*/ 37 h 43"/>
                <a:gd name="T10" fmla="*/ 1 w 63"/>
                <a:gd name="T11" fmla="*/ 30 h 43"/>
                <a:gd name="T12" fmla="*/ 1 w 63"/>
                <a:gd name="T13" fmla="*/ 7 h 43"/>
                <a:gd name="T14" fmla="*/ 1 w 63"/>
                <a:gd name="T15" fmla="*/ 14 h 43"/>
                <a:gd name="T16" fmla="*/ 1 w 63"/>
                <a:gd name="T17" fmla="*/ 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
                <a:gd name="T28" fmla="*/ 0 h 43"/>
                <a:gd name="T29" fmla="*/ 63 w 63"/>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 h="43">
                  <a:moveTo>
                    <a:pt x="23" y="0"/>
                  </a:moveTo>
                  <a:lnTo>
                    <a:pt x="23" y="0"/>
                  </a:lnTo>
                  <a:lnTo>
                    <a:pt x="0" y="20"/>
                  </a:lnTo>
                  <a:lnTo>
                    <a:pt x="21" y="43"/>
                  </a:lnTo>
                  <a:lnTo>
                    <a:pt x="42" y="37"/>
                  </a:lnTo>
                  <a:lnTo>
                    <a:pt x="63" y="30"/>
                  </a:lnTo>
                  <a:lnTo>
                    <a:pt x="42" y="7"/>
                  </a:lnTo>
                  <a:lnTo>
                    <a:pt x="21" y="14"/>
                  </a:lnTo>
                  <a:lnTo>
                    <a:pt x="23" y="0"/>
                  </a:lnTo>
                  <a:close/>
                </a:path>
              </a:pathLst>
            </a:custGeom>
            <a:solidFill>
              <a:srgbClr val="000000"/>
            </a:solidFill>
            <a:ln w="9525">
              <a:noFill/>
              <a:round/>
              <a:headEnd/>
              <a:tailEnd/>
            </a:ln>
          </p:spPr>
          <p:txBody>
            <a:bodyPr/>
            <a:lstStyle/>
            <a:p>
              <a:endParaRPr lang="en-US"/>
            </a:p>
          </p:txBody>
        </p:sp>
        <p:sp>
          <p:nvSpPr>
            <p:cNvPr id="17546" name="Freeform 601"/>
            <p:cNvSpPr>
              <a:spLocks/>
            </p:cNvSpPr>
            <p:nvPr/>
          </p:nvSpPr>
          <p:spPr bwMode="auto">
            <a:xfrm>
              <a:off x="1135" y="1538"/>
              <a:ext cx="897" cy="2248"/>
            </a:xfrm>
            <a:custGeom>
              <a:avLst/>
              <a:gdLst>
                <a:gd name="T0" fmla="*/ 0 w 1793"/>
                <a:gd name="T1" fmla="*/ 13 h 2248"/>
                <a:gd name="T2" fmla="*/ 3 w 1793"/>
                <a:gd name="T3" fmla="*/ 686 h 2248"/>
                <a:gd name="T4" fmla="*/ 1 w 1793"/>
                <a:gd name="T5" fmla="*/ 89 h 2248"/>
                <a:gd name="T6" fmla="*/ 1 w 1793"/>
                <a:gd name="T7" fmla="*/ 177 h 2248"/>
                <a:gd name="T8" fmla="*/ 1 w 1793"/>
                <a:gd name="T9" fmla="*/ 312 h 2248"/>
                <a:gd name="T10" fmla="*/ 2 w 1793"/>
                <a:gd name="T11" fmla="*/ 475 h 2248"/>
                <a:gd name="T12" fmla="*/ 3 w 1793"/>
                <a:gd name="T13" fmla="*/ 671 h 2248"/>
                <a:gd name="T14" fmla="*/ 3 w 1793"/>
                <a:gd name="T15" fmla="*/ 867 h 2248"/>
                <a:gd name="T16" fmla="*/ 3 w 1793"/>
                <a:gd name="T17" fmla="*/ 1075 h 2248"/>
                <a:gd name="T18" fmla="*/ 4 w 1793"/>
                <a:gd name="T19" fmla="*/ 1328 h 2248"/>
                <a:gd name="T20" fmla="*/ 4 w 1793"/>
                <a:gd name="T21" fmla="*/ 1566 h 2248"/>
                <a:gd name="T22" fmla="*/ 5 w 1793"/>
                <a:gd name="T23" fmla="*/ 1808 h 2248"/>
                <a:gd name="T24" fmla="*/ 5 w 1793"/>
                <a:gd name="T25" fmla="*/ 2059 h 2248"/>
                <a:gd name="T26" fmla="*/ 8 w 1793"/>
                <a:gd name="T27" fmla="*/ 2248 h 2248"/>
                <a:gd name="T28" fmla="*/ 7 w 1793"/>
                <a:gd name="T29" fmla="*/ 2211 h 2248"/>
                <a:gd name="T30" fmla="*/ 5 w 1793"/>
                <a:gd name="T31" fmla="*/ 2041 h 2248"/>
                <a:gd name="T32" fmla="*/ 5 w 1793"/>
                <a:gd name="T33" fmla="*/ 1806 h 2248"/>
                <a:gd name="T34" fmla="*/ 4 w 1793"/>
                <a:gd name="T35" fmla="*/ 1559 h 2248"/>
                <a:gd name="T36" fmla="*/ 4 w 1793"/>
                <a:gd name="T37" fmla="*/ 1315 h 2248"/>
                <a:gd name="T38" fmla="*/ 4 w 1793"/>
                <a:gd name="T39" fmla="*/ 1098 h 2248"/>
                <a:gd name="T40" fmla="*/ 3 w 1793"/>
                <a:gd name="T41" fmla="*/ 858 h 2248"/>
                <a:gd name="T42" fmla="*/ 3 w 1793"/>
                <a:gd name="T43" fmla="*/ 641 h 2248"/>
                <a:gd name="T44" fmla="*/ 2 w 1793"/>
                <a:gd name="T45" fmla="*/ 464 h 2248"/>
                <a:gd name="T46" fmla="*/ 2 w 1793"/>
                <a:gd name="T47" fmla="*/ 301 h 2248"/>
                <a:gd name="T48" fmla="*/ 1 w 1793"/>
                <a:gd name="T49" fmla="*/ 166 h 2248"/>
                <a:gd name="T50" fmla="*/ 1 w 1793"/>
                <a:gd name="T51" fmla="*/ 52 h 2248"/>
                <a:gd name="T52" fmla="*/ 1 w 1793"/>
                <a:gd name="T53" fmla="*/ 0 h 2248"/>
                <a:gd name="T54" fmla="*/ 1 w 1793"/>
                <a:gd name="T55" fmla="*/ 7 h 2248"/>
                <a:gd name="T56" fmla="*/ 0 w 1793"/>
                <a:gd name="T57" fmla="*/ 13 h 22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93"/>
                <a:gd name="T88" fmla="*/ 0 h 2248"/>
                <a:gd name="T89" fmla="*/ 1793 w 1793"/>
                <a:gd name="T90" fmla="*/ 2248 h 224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93" h="2248">
                  <a:moveTo>
                    <a:pt x="0" y="13"/>
                  </a:moveTo>
                  <a:lnTo>
                    <a:pt x="625" y="686"/>
                  </a:lnTo>
                  <a:lnTo>
                    <a:pt x="69" y="89"/>
                  </a:lnTo>
                  <a:lnTo>
                    <a:pt x="145" y="177"/>
                  </a:lnTo>
                  <a:lnTo>
                    <a:pt x="255" y="312"/>
                  </a:lnTo>
                  <a:lnTo>
                    <a:pt x="380" y="475"/>
                  </a:lnTo>
                  <a:lnTo>
                    <a:pt x="519" y="671"/>
                  </a:lnTo>
                  <a:lnTo>
                    <a:pt x="646" y="867"/>
                  </a:lnTo>
                  <a:lnTo>
                    <a:pt x="764" y="1075"/>
                  </a:lnTo>
                  <a:lnTo>
                    <a:pt x="882" y="1328"/>
                  </a:lnTo>
                  <a:lnTo>
                    <a:pt x="970" y="1566"/>
                  </a:lnTo>
                  <a:lnTo>
                    <a:pt x="1030" y="1808"/>
                  </a:lnTo>
                  <a:lnTo>
                    <a:pt x="1053" y="2059"/>
                  </a:lnTo>
                  <a:lnTo>
                    <a:pt x="1793" y="2248"/>
                  </a:lnTo>
                  <a:lnTo>
                    <a:pt x="1769" y="2211"/>
                  </a:lnTo>
                  <a:lnTo>
                    <a:pt x="1104" y="2041"/>
                  </a:lnTo>
                  <a:lnTo>
                    <a:pt x="1080" y="1806"/>
                  </a:lnTo>
                  <a:lnTo>
                    <a:pt x="1021" y="1559"/>
                  </a:lnTo>
                  <a:lnTo>
                    <a:pt x="932" y="1315"/>
                  </a:lnTo>
                  <a:lnTo>
                    <a:pt x="826" y="1098"/>
                  </a:lnTo>
                  <a:lnTo>
                    <a:pt x="693" y="858"/>
                  </a:lnTo>
                  <a:lnTo>
                    <a:pt x="554" y="641"/>
                  </a:lnTo>
                  <a:lnTo>
                    <a:pt x="426" y="464"/>
                  </a:lnTo>
                  <a:lnTo>
                    <a:pt x="301" y="301"/>
                  </a:lnTo>
                  <a:lnTo>
                    <a:pt x="191" y="166"/>
                  </a:lnTo>
                  <a:lnTo>
                    <a:pt x="92" y="52"/>
                  </a:lnTo>
                  <a:lnTo>
                    <a:pt x="44" y="0"/>
                  </a:lnTo>
                  <a:lnTo>
                    <a:pt x="21" y="7"/>
                  </a:lnTo>
                  <a:lnTo>
                    <a:pt x="0" y="13"/>
                  </a:lnTo>
                  <a:close/>
                </a:path>
              </a:pathLst>
            </a:custGeom>
            <a:solidFill>
              <a:srgbClr val="000000"/>
            </a:solidFill>
            <a:ln w="9525">
              <a:noFill/>
              <a:round/>
              <a:headEnd/>
              <a:tailEnd/>
            </a:ln>
          </p:spPr>
          <p:txBody>
            <a:bodyPr/>
            <a:lstStyle/>
            <a:p>
              <a:endParaRPr lang="en-US"/>
            </a:p>
          </p:txBody>
        </p:sp>
        <p:sp>
          <p:nvSpPr>
            <p:cNvPr id="17547" name="Freeform 602"/>
            <p:cNvSpPr>
              <a:spLocks/>
            </p:cNvSpPr>
            <p:nvPr/>
          </p:nvSpPr>
          <p:spPr bwMode="auto">
            <a:xfrm>
              <a:off x="1133" y="295"/>
              <a:ext cx="2604" cy="1241"/>
            </a:xfrm>
            <a:custGeom>
              <a:avLst/>
              <a:gdLst>
                <a:gd name="T0" fmla="*/ 21 w 5206"/>
                <a:gd name="T1" fmla="*/ 29 h 1241"/>
                <a:gd name="T2" fmla="*/ 21 w 5206"/>
                <a:gd name="T3" fmla="*/ 0 h 1241"/>
                <a:gd name="T4" fmla="*/ 18 w 5206"/>
                <a:gd name="T5" fmla="*/ 89 h 1241"/>
                <a:gd name="T6" fmla="*/ 16 w 5206"/>
                <a:gd name="T7" fmla="*/ 255 h 1241"/>
                <a:gd name="T8" fmla="*/ 15 w 5206"/>
                <a:gd name="T9" fmla="*/ 410 h 1241"/>
                <a:gd name="T10" fmla="*/ 13 w 5206"/>
                <a:gd name="T11" fmla="*/ 542 h 1241"/>
                <a:gd name="T12" fmla="*/ 11 w 5206"/>
                <a:gd name="T13" fmla="*/ 682 h 1241"/>
                <a:gd name="T14" fmla="*/ 9 w 5206"/>
                <a:gd name="T15" fmla="*/ 800 h 1241"/>
                <a:gd name="T16" fmla="*/ 7 w 5206"/>
                <a:gd name="T17" fmla="*/ 902 h 1241"/>
                <a:gd name="T18" fmla="*/ 6 w 5206"/>
                <a:gd name="T19" fmla="*/ 994 h 1241"/>
                <a:gd name="T20" fmla="*/ 4 w 5206"/>
                <a:gd name="T21" fmla="*/ 1076 h 1241"/>
                <a:gd name="T22" fmla="*/ 3 w 5206"/>
                <a:gd name="T23" fmla="*/ 1132 h 1241"/>
                <a:gd name="T24" fmla="*/ 1 w 5206"/>
                <a:gd name="T25" fmla="*/ 1177 h 1241"/>
                <a:gd name="T26" fmla="*/ 1 w 5206"/>
                <a:gd name="T27" fmla="*/ 1201 h 1241"/>
                <a:gd name="T28" fmla="*/ 0 w 5206"/>
                <a:gd name="T29" fmla="*/ 1213 h 1241"/>
                <a:gd name="T30" fmla="*/ 1 w 5206"/>
                <a:gd name="T31" fmla="*/ 1227 h 1241"/>
                <a:gd name="T32" fmla="*/ 1 w 5206"/>
                <a:gd name="T33" fmla="*/ 1241 h 1241"/>
                <a:gd name="T34" fmla="*/ 1 w 5206"/>
                <a:gd name="T35" fmla="*/ 1236 h 1241"/>
                <a:gd name="T36" fmla="*/ 1 w 5206"/>
                <a:gd name="T37" fmla="*/ 1203 h 1241"/>
                <a:gd name="T38" fmla="*/ 3 w 5206"/>
                <a:gd name="T39" fmla="*/ 1158 h 1241"/>
                <a:gd name="T40" fmla="*/ 4 w 5206"/>
                <a:gd name="T41" fmla="*/ 1093 h 1241"/>
                <a:gd name="T42" fmla="*/ 6 w 5206"/>
                <a:gd name="T43" fmla="*/ 1020 h 1241"/>
                <a:gd name="T44" fmla="*/ 7 w 5206"/>
                <a:gd name="T45" fmla="*/ 928 h 1241"/>
                <a:gd name="T46" fmla="*/ 9 w 5206"/>
                <a:gd name="T47" fmla="*/ 819 h 1241"/>
                <a:gd name="T48" fmla="*/ 11 w 5206"/>
                <a:gd name="T49" fmla="*/ 701 h 1241"/>
                <a:gd name="T50" fmla="*/ 13 w 5206"/>
                <a:gd name="T51" fmla="*/ 579 h 1241"/>
                <a:gd name="T52" fmla="*/ 15 w 5206"/>
                <a:gd name="T53" fmla="*/ 427 h 1241"/>
                <a:gd name="T54" fmla="*/ 16 w 5206"/>
                <a:gd name="T55" fmla="*/ 278 h 1241"/>
                <a:gd name="T56" fmla="*/ 18 w 5206"/>
                <a:gd name="T57" fmla="*/ 118 h 1241"/>
                <a:gd name="T58" fmla="*/ 21 w 5206"/>
                <a:gd name="T59" fmla="*/ 29 h 124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206"/>
                <a:gd name="T91" fmla="*/ 0 h 1241"/>
                <a:gd name="T92" fmla="*/ 5206 w 5206"/>
                <a:gd name="T93" fmla="*/ 1241 h 124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206" h="1241">
                  <a:moveTo>
                    <a:pt x="5206" y="29"/>
                  </a:moveTo>
                  <a:lnTo>
                    <a:pt x="5199" y="0"/>
                  </a:lnTo>
                  <a:lnTo>
                    <a:pt x="4369" y="89"/>
                  </a:lnTo>
                  <a:lnTo>
                    <a:pt x="4037" y="255"/>
                  </a:lnTo>
                  <a:lnTo>
                    <a:pt x="3632" y="410"/>
                  </a:lnTo>
                  <a:lnTo>
                    <a:pt x="3223" y="542"/>
                  </a:lnTo>
                  <a:lnTo>
                    <a:pt x="2711" y="682"/>
                  </a:lnTo>
                  <a:lnTo>
                    <a:pt x="2219" y="800"/>
                  </a:lnTo>
                  <a:lnTo>
                    <a:pt x="1754" y="902"/>
                  </a:lnTo>
                  <a:lnTo>
                    <a:pt x="1295" y="994"/>
                  </a:lnTo>
                  <a:lnTo>
                    <a:pt x="853" y="1076"/>
                  </a:lnTo>
                  <a:lnTo>
                    <a:pt x="521" y="1132"/>
                  </a:lnTo>
                  <a:lnTo>
                    <a:pt x="243" y="1177"/>
                  </a:lnTo>
                  <a:lnTo>
                    <a:pt x="96" y="1201"/>
                  </a:lnTo>
                  <a:lnTo>
                    <a:pt x="0" y="1213"/>
                  </a:lnTo>
                  <a:lnTo>
                    <a:pt x="4" y="1227"/>
                  </a:lnTo>
                  <a:lnTo>
                    <a:pt x="8" y="1241"/>
                  </a:lnTo>
                  <a:lnTo>
                    <a:pt x="42" y="1236"/>
                  </a:lnTo>
                  <a:lnTo>
                    <a:pt x="255" y="1203"/>
                  </a:lnTo>
                  <a:lnTo>
                    <a:pt x="533" y="1158"/>
                  </a:lnTo>
                  <a:lnTo>
                    <a:pt x="915" y="1093"/>
                  </a:lnTo>
                  <a:lnTo>
                    <a:pt x="1310" y="1020"/>
                  </a:lnTo>
                  <a:lnTo>
                    <a:pt x="1769" y="928"/>
                  </a:lnTo>
                  <a:lnTo>
                    <a:pt x="2273" y="819"/>
                  </a:lnTo>
                  <a:lnTo>
                    <a:pt x="2761" y="701"/>
                  </a:lnTo>
                  <a:lnTo>
                    <a:pt x="3199" y="579"/>
                  </a:lnTo>
                  <a:lnTo>
                    <a:pt x="3678" y="427"/>
                  </a:lnTo>
                  <a:lnTo>
                    <a:pt x="4064" y="278"/>
                  </a:lnTo>
                  <a:lnTo>
                    <a:pt x="4388" y="118"/>
                  </a:lnTo>
                  <a:lnTo>
                    <a:pt x="5206" y="29"/>
                  </a:lnTo>
                  <a:close/>
                </a:path>
              </a:pathLst>
            </a:custGeom>
            <a:solidFill>
              <a:srgbClr val="000000"/>
            </a:solidFill>
            <a:ln w="9525">
              <a:noFill/>
              <a:round/>
              <a:headEnd/>
              <a:tailEnd/>
            </a:ln>
          </p:spPr>
          <p:txBody>
            <a:bodyPr/>
            <a:lstStyle/>
            <a:p>
              <a:endParaRPr lang="en-US"/>
            </a:p>
          </p:txBody>
        </p:sp>
        <p:sp>
          <p:nvSpPr>
            <p:cNvPr id="17548" name="Freeform 603"/>
            <p:cNvSpPr>
              <a:spLocks/>
            </p:cNvSpPr>
            <p:nvPr/>
          </p:nvSpPr>
          <p:spPr bwMode="auto">
            <a:xfrm>
              <a:off x="1133" y="1508"/>
              <a:ext cx="365" cy="88"/>
            </a:xfrm>
            <a:custGeom>
              <a:avLst/>
              <a:gdLst>
                <a:gd name="T0" fmla="*/ 0 w 1177"/>
                <a:gd name="T1" fmla="*/ 0 h 150"/>
                <a:gd name="T2" fmla="*/ 0 w 1177"/>
                <a:gd name="T3" fmla="*/ 0 h 150"/>
                <a:gd name="T4" fmla="*/ 0 w 1177"/>
                <a:gd name="T5" fmla="*/ 1 h 150"/>
                <a:gd name="T6" fmla="*/ 0 w 1177"/>
                <a:gd name="T7" fmla="*/ 1 h 150"/>
                <a:gd name="T8" fmla="*/ 0 w 1177"/>
                <a:gd name="T9" fmla="*/ 2 h 150"/>
                <a:gd name="T10" fmla="*/ 0 w 1177"/>
                <a:gd name="T11" fmla="*/ 2 h 150"/>
                <a:gd name="T12" fmla="*/ 0 w 1177"/>
                <a:gd name="T13" fmla="*/ 1 h 150"/>
                <a:gd name="T14" fmla="*/ 0 w 1177"/>
                <a:gd name="T15" fmla="*/ 0 h 150"/>
                <a:gd name="T16" fmla="*/ 0 w 1177"/>
                <a:gd name="T17" fmla="*/ 1 h 150"/>
                <a:gd name="T18" fmla="*/ 0 w 1177"/>
                <a:gd name="T19" fmla="*/ 0 h 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77"/>
                <a:gd name="T31" fmla="*/ 0 h 150"/>
                <a:gd name="T32" fmla="*/ 1177 w 1177"/>
                <a:gd name="T33" fmla="*/ 150 h 1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77" h="150">
                  <a:moveTo>
                    <a:pt x="0" y="0"/>
                  </a:moveTo>
                  <a:lnTo>
                    <a:pt x="0" y="0"/>
                  </a:lnTo>
                  <a:lnTo>
                    <a:pt x="2" y="28"/>
                  </a:lnTo>
                  <a:lnTo>
                    <a:pt x="681" y="79"/>
                  </a:lnTo>
                  <a:lnTo>
                    <a:pt x="1177" y="150"/>
                  </a:lnTo>
                  <a:lnTo>
                    <a:pt x="1177" y="121"/>
                  </a:lnTo>
                  <a:lnTo>
                    <a:pt x="700" y="51"/>
                  </a:lnTo>
                  <a:lnTo>
                    <a:pt x="6" y="0"/>
                  </a:lnTo>
                  <a:lnTo>
                    <a:pt x="4" y="14"/>
                  </a:lnTo>
                  <a:lnTo>
                    <a:pt x="0" y="0"/>
                  </a:lnTo>
                  <a:close/>
                </a:path>
              </a:pathLst>
            </a:custGeom>
            <a:solidFill>
              <a:srgbClr val="000000"/>
            </a:solidFill>
            <a:ln w="9525">
              <a:noFill/>
              <a:round/>
              <a:headEnd/>
              <a:tailEnd/>
            </a:ln>
          </p:spPr>
          <p:txBody>
            <a:bodyPr/>
            <a:lstStyle/>
            <a:p>
              <a:endParaRPr lang="en-US"/>
            </a:p>
          </p:txBody>
        </p:sp>
        <p:sp>
          <p:nvSpPr>
            <p:cNvPr id="17549" name="Freeform 604"/>
            <p:cNvSpPr>
              <a:spLocks/>
            </p:cNvSpPr>
            <p:nvPr/>
          </p:nvSpPr>
          <p:spPr bwMode="auto">
            <a:xfrm>
              <a:off x="3722" y="308"/>
              <a:ext cx="259" cy="1907"/>
            </a:xfrm>
            <a:custGeom>
              <a:avLst/>
              <a:gdLst>
                <a:gd name="T0" fmla="*/ 2 w 518"/>
                <a:gd name="T1" fmla="*/ 1907 h 1907"/>
                <a:gd name="T2" fmla="*/ 2 w 518"/>
                <a:gd name="T3" fmla="*/ 1907 h 1907"/>
                <a:gd name="T4" fmla="*/ 2 w 518"/>
                <a:gd name="T5" fmla="*/ 1862 h 1907"/>
                <a:gd name="T6" fmla="*/ 2 w 518"/>
                <a:gd name="T7" fmla="*/ 1750 h 1907"/>
                <a:gd name="T8" fmla="*/ 2 w 518"/>
                <a:gd name="T9" fmla="*/ 1594 h 1907"/>
                <a:gd name="T10" fmla="*/ 2 w 518"/>
                <a:gd name="T11" fmla="*/ 1396 h 1907"/>
                <a:gd name="T12" fmla="*/ 1 w 518"/>
                <a:gd name="T13" fmla="*/ 1175 h 1907"/>
                <a:gd name="T14" fmla="*/ 1 w 518"/>
                <a:gd name="T15" fmla="*/ 940 h 1907"/>
                <a:gd name="T16" fmla="*/ 1 w 518"/>
                <a:gd name="T17" fmla="*/ 707 h 1907"/>
                <a:gd name="T18" fmla="*/ 1 w 518"/>
                <a:gd name="T19" fmla="*/ 487 h 1907"/>
                <a:gd name="T20" fmla="*/ 1 w 518"/>
                <a:gd name="T21" fmla="*/ 294 h 1907"/>
                <a:gd name="T22" fmla="*/ 1 w 518"/>
                <a:gd name="T23" fmla="*/ 139 h 1907"/>
                <a:gd name="T24" fmla="*/ 1 w 518"/>
                <a:gd name="T25" fmla="*/ 37 h 1907"/>
                <a:gd name="T26" fmla="*/ 1 w 518"/>
                <a:gd name="T27" fmla="*/ 0 h 1907"/>
                <a:gd name="T28" fmla="*/ 1 w 518"/>
                <a:gd name="T29" fmla="*/ 2 h 1907"/>
                <a:gd name="T30" fmla="*/ 0 w 518"/>
                <a:gd name="T31" fmla="*/ 3 h 1907"/>
                <a:gd name="T32" fmla="*/ 1 w 518"/>
                <a:gd name="T33" fmla="*/ 40 h 1907"/>
                <a:gd name="T34" fmla="*/ 1 w 518"/>
                <a:gd name="T35" fmla="*/ 142 h 1907"/>
                <a:gd name="T36" fmla="*/ 1 w 518"/>
                <a:gd name="T37" fmla="*/ 296 h 1907"/>
                <a:gd name="T38" fmla="*/ 1 w 518"/>
                <a:gd name="T39" fmla="*/ 489 h 1907"/>
                <a:gd name="T40" fmla="*/ 1 w 518"/>
                <a:gd name="T41" fmla="*/ 709 h 1907"/>
                <a:gd name="T42" fmla="*/ 1 w 518"/>
                <a:gd name="T43" fmla="*/ 942 h 1907"/>
                <a:gd name="T44" fmla="*/ 1 w 518"/>
                <a:gd name="T45" fmla="*/ 1177 h 1907"/>
                <a:gd name="T46" fmla="*/ 1 w 518"/>
                <a:gd name="T47" fmla="*/ 1399 h 1907"/>
                <a:gd name="T48" fmla="*/ 2 w 518"/>
                <a:gd name="T49" fmla="*/ 1596 h 1907"/>
                <a:gd name="T50" fmla="*/ 2 w 518"/>
                <a:gd name="T51" fmla="*/ 1757 h 1907"/>
                <a:gd name="T52" fmla="*/ 2 w 518"/>
                <a:gd name="T53" fmla="*/ 1862 h 1907"/>
                <a:gd name="T54" fmla="*/ 2 w 518"/>
                <a:gd name="T55" fmla="*/ 1907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18"/>
                <a:gd name="T85" fmla="*/ 0 h 1907"/>
                <a:gd name="T86" fmla="*/ 518 w 518"/>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18" h="1907">
                  <a:moveTo>
                    <a:pt x="464" y="1907"/>
                  </a:moveTo>
                  <a:lnTo>
                    <a:pt x="514" y="1907"/>
                  </a:lnTo>
                  <a:lnTo>
                    <a:pt x="518" y="1862"/>
                  </a:lnTo>
                  <a:lnTo>
                    <a:pt x="502" y="1750"/>
                  </a:lnTo>
                  <a:lnTo>
                    <a:pt x="469" y="1594"/>
                  </a:lnTo>
                  <a:lnTo>
                    <a:pt x="423" y="1396"/>
                  </a:lnTo>
                  <a:lnTo>
                    <a:pt x="369" y="1175"/>
                  </a:lnTo>
                  <a:lnTo>
                    <a:pt x="307" y="940"/>
                  </a:lnTo>
                  <a:lnTo>
                    <a:pt x="245" y="707"/>
                  </a:lnTo>
                  <a:lnTo>
                    <a:pt x="186" y="487"/>
                  </a:lnTo>
                  <a:lnTo>
                    <a:pt x="132" y="294"/>
                  </a:lnTo>
                  <a:lnTo>
                    <a:pt x="89" y="139"/>
                  </a:lnTo>
                  <a:lnTo>
                    <a:pt x="60" y="37"/>
                  </a:lnTo>
                  <a:lnTo>
                    <a:pt x="51" y="0"/>
                  </a:lnTo>
                  <a:lnTo>
                    <a:pt x="25" y="2"/>
                  </a:lnTo>
                  <a:lnTo>
                    <a:pt x="0" y="3"/>
                  </a:lnTo>
                  <a:lnTo>
                    <a:pt x="10" y="40"/>
                  </a:lnTo>
                  <a:lnTo>
                    <a:pt x="39" y="142"/>
                  </a:lnTo>
                  <a:lnTo>
                    <a:pt x="81" y="296"/>
                  </a:lnTo>
                  <a:lnTo>
                    <a:pt x="135" y="489"/>
                  </a:lnTo>
                  <a:lnTo>
                    <a:pt x="195" y="709"/>
                  </a:lnTo>
                  <a:lnTo>
                    <a:pt x="257" y="942"/>
                  </a:lnTo>
                  <a:lnTo>
                    <a:pt x="319" y="1177"/>
                  </a:lnTo>
                  <a:lnTo>
                    <a:pt x="373" y="1399"/>
                  </a:lnTo>
                  <a:lnTo>
                    <a:pt x="419" y="1596"/>
                  </a:lnTo>
                  <a:lnTo>
                    <a:pt x="452" y="1757"/>
                  </a:lnTo>
                  <a:lnTo>
                    <a:pt x="467" y="1862"/>
                  </a:lnTo>
                  <a:lnTo>
                    <a:pt x="464" y="1907"/>
                  </a:lnTo>
                  <a:close/>
                </a:path>
              </a:pathLst>
            </a:custGeom>
            <a:solidFill>
              <a:srgbClr val="000000"/>
            </a:solidFill>
            <a:ln w="9525">
              <a:noFill/>
              <a:round/>
              <a:headEnd/>
              <a:tailEnd/>
            </a:ln>
          </p:spPr>
          <p:txBody>
            <a:bodyPr/>
            <a:lstStyle/>
            <a:p>
              <a:endParaRPr lang="en-US"/>
            </a:p>
          </p:txBody>
        </p:sp>
        <p:sp>
          <p:nvSpPr>
            <p:cNvPr id="17550" name="Freeform 605"/>
            <p:cNvSpPr>
              <a:spLocks/>
            </p:cNvSpPr>
            <p:nvPr/>
          </p:nvSpPr>
          <p:spPr bwMode="auto">
            <a:xfrm>
              <a:off x="3722" y="299"/>
              <a:ext cx="25" cy="26"/>
            </a:xfrm>
            <a:custGeom>
              <a:avLst/>
              <a:gdLst>
                <a:gd name="T0" fmla="*/ 0 w 51"/>
                <a:gd name="T1" fmla="*/ 11 h 26"/>
                <a:gd name="T2" fmla="*/ 0 w 51"/>
                <a:gd name="T3" fmla="*/ 21 h 26"/>
                <a:gd name="T4" fmla="*/ 0 w 51"/>
                <a:gd name="T5" fmla="*/ 26 h 26"/>
                <a:gd name="T6" fmla="*/ 0 w 51"/>
                <a:gd name="T7" fmla="*/ 15 h 26"/>
                <a:gd name="T8" fmla="*/ 0 w 51"/>
                <a:gd name="T9" fmla="*/ 4 h 26"/>
                <a:gd name="T10" fmla="*/ 0 w 51"/>
                <a:gd name="T11" fmla="*/ 0 h 26"/>
                <a:gd name="T12" fmla="*/ 0 w 51"/>
                <a:gd name="T13" fmla="*/ 12 h 26"/>
                <a:gd name="T14" fmla="*/ 0 w 51"/>
                <a:gd name="T15" fmla="*/ 12 h 26"/>
                <a:gd name="T16" fmla="*/ 0 w 51"/>
                <a:gd name="T17" fmla="*/ 11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26"/>
                <a:gd name="T29" fmla="*/ 51 w 51"/>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26">
                  <a:moveTo>
                    <a:pt x="25" y="11"/>
                  </a:moveTo>
                  <a:lnTo>
                    <a:pt x="10" y="21"/>
                  </a:lnTo>
                  <a:lnTo>
                    <a:pt x="20" y="26"/>
                  </a:lnTo>
                  <a:lnTo>
                    <a:pt x="35" y="15"/>
                  </a:lnTo>
                  <a:lnTo>
                    <a:pt x="51" y="4"/>
                  </a:lnTo>
                  <a:lnTo>
                    <a:pt x="41" y="0"/>
                  </a:lnTo>
                  <a:lnTo>
                    <a:pt x="0" y="12"/>
                  </a:lnTo>
                  <a:lnTo>
                    <a:pt x="25" y="11"/>
                  </a:lnTo>
                  <a:close/>
                </a:path>
              </a:pathLst>
            </a:custGeom>
            <a:solidFill>
              <a:srgbClr val="000000"/>
            </a:solidFill>
            <a:ln w="9525">
              <a:noFill/>
              <a:round/>
              <a:headEnd/>
              <a:tailEnd/>
            </a:ln>
          </p:spPr>
          <p:txBody>
            <a:bodyPr/>
            <a:lstStyle/>
            <a:p>
              <a:endParaRPr lang="en-US"/>
            </a:p>
          </p:txBody>
        </p:sp>
        <p:sp>
          <p:nvSpPr>
            <p:cNvPr id="17551" name="Freeform 606"/>
            <p:cNvSpPr>
              <a:spLocks/>
            </p:cNvSpPr>
            <p:nvPr/>
          </p:nvSpPr>
          <p:spPr bwMode="auto">
            <a:xfrm>
              <a:off x="3727" y="303"/>
              <a:ext cx="25" cy="11"/>
            </a:xfrm>
            <a:custGeom>
              <a:avLst/>
              <a:gdLst>
                <a:gd name="T0" fmla="*/ 1 w 50"/>
                <a:gd name="T1" fmla="*/ 11 h 11"/>
                <a:gd name="T2" fmla="*/ 0 w 50"/>
                <a:gd name="T3" fmla="*/ 10 h 11"/>
                <a:gd name="T4" fmla="*/ 1 w 50"/>
                <a:gd name="T5" fmla="*/ 4 h 11"/>
                <a:gd name="T6" fmla="*/ 1 w 50"/>
                <a:gd name="T7" fmla="*/ 0 h 11"/>
                <a:gd name="T8" fmla="*/ 1 w 50"/>
                <a:gd name="T9" fmla="*/ 11 h 11"/>
                <a:gd name="T10" fmla="*/ 0 60000 65536"/>
                <a:gd name="T11" fmla="*/ 0 60000 65536"/>
                <a:gd name="T12" fmla="*/ 0 60000 65536"/>
                <a:gd name="T13" fmla="*/ 0 60000 65536"/>
                <a:gd name="T14" fmla="*/ 0 60000 65536"/>
                <a:gd name="T15" fmla="*/ 0 w 50"/>
                <a:gd name="T16" fmla="*/ 0 h 11"/>
                <a:gd name="T17" fmla="*/ 50 w 50"/>
                <a:gd name="T18" fmla="*/ 11 h 11"/>
              </a:gdLst>
              <a:ahLst/>
              <a:cxnLst>
                <a:cxn ang="T10">
                  <a:pos x="T0" y="T1"/>
                </a:cxn>
                <a:cxn ang="T11">
                  <a:pos x="T2" y="T3"/>
                </a:cxn>
                <a:cxn ang="T12">
                  <a:pos x="T4" y="T5"/>
                </a:cxn>
                <a:cxn ang="T13">
                  <a:pos x="T6" y="T7"/>
                </a:cxn>
                <a:cxn ang="T14">
                  <a:pos x="T8" y="T9"/>
                </a:cxn>
              </a:cxnLst>
              <a:rect l="T15" t="T16" r="T17" b="T18"/>
              <a:pathLst>
                <a:path w="50" h="11">
                  <a:moveTo>
                    <a:pt x="25" y="11"/>
                  </a:moveTo>
                  <a:lnTo>
                    <a:pt x="0" y="10"/>
                  </a:lnTo>
                  <a:lnTo>
                    <a:pt x="50" y="4"/>
                  </a:lnTo>
                  <a:lnTo>
                    <a:pt x="41" y="0"/>
                  </a:lnTo>
                  <a:lnTo>
                    <a:pt x="25" y="11"/>
                  </a:lnTo>
                  <a:close/>
                </a:path>
              </a:pathLst>
            </a:custGeom>
            <a:solidFill>
              <a:srgbClr val="000000"/>
            </a:solidFill>
            <a:ln w="9525">
              <a:noFill/>
              <a:round/>
              <a:headEnd/>
              <a:tailEnd/>
            </a:ln>
          </p:spPr>
          <p:txBody>
            <a:bodyPr/>
            <a:lstStyle/>
            <a:p>
              <a:endParaRPr lang="en-US"/>
            </a:p>
          </p:txBody>
        </p:sp>
        <p:sp>
          <p:nvSpPr>
            <p:cNvPr id="17552" name="Freeform 607"/>
            <p:cNvSpPr>
              <a:spLocks/>
            </p:cNvSpPr>
            <p:nvPr/>
          </p:nvSpPr>
          <p:spPr bwMode="auto">
            <a:xfrm>
              <a:off x="1478" y="307"/>
              <a:ext cx="2274" cy="1281"/>
            </a:xfrm>
            <a:custGeom>
              <a:avLst/>
              <a:gdLst>
                <a:gd name="T0" fmla="*/ 18 w 4548"/>
                <a:gd name="T1" fmla="*/ 6 h 1281"/>
                <a:gd name="T2" fmla="*/ 18 w 4548"/>
                <a:gd name="T3" fmla="*/ 17 h 1281"/>
                <a:gd name="T4" fmla="*/ 18 w 4548"/>
                <a:gd name="T5" fmla="*/ 38 h 1281"/>
                <a:gd name="T6" fmla="*/ 18 w 4548"/>
                <a:gd name="T7" fmla="*/ 68 h 1281"/>
                <a:gd name="T8" fmla="*/ 18 w 4548"/>
                <a:gd name="T9" fmla="*/ 112 h 1281"/>
                <a:gd name="T10" fmla="*/ 17 w 4548"/>
                <a:gd name="T11" fmla="*/ 164 h 1281"/>
                <a:gd name="T12" fmla="*/ 17 w 4548"/>
                <a:gd name="T13" fmla="*/ 231 h 1281"/>
                <a:gd name="T14" fmla="*/ 15 w 4548"/>
                <a:gd name="T15" fmla="*/ 306 h 1281"/>
                <a:gd name="T16" fmla="*/ 15 w 4548"/>
                <a:gd name="T17" fmla="*/ 398 h 1281"/>
                <a:gd name="T18" fmla="*/ 14 w 4548"/>
                <a:gd name="T19" fmla="*/ 501 h 1281"/>
                <a:gd name="T20" fmla="*/ 12 w 4548"/>
                <a:gd name="T21" fmla="*/ 632 h 1281"/>
                <a:gd name="T22" fmla="*/ 11 w 4548"/>
                <a:gd name="T23" fmla="*/ 746 h 1281"/>
                <a:gd name="T24" fmla="*/ 9 w 4548"/>
                <a:gd name="T25" fmla="*/ 862 h 1281"/>
                <a:gd name="T26" fmla="*/ 8 w 4548"/>
                <a:gd name="T27" fmla="*/ 975 h 1281"/>
                <a:gd name="T28" fmla="*/ 6 w 4548"/>
                <a:gd name="T29" fmla="*/ 1056 h 1281"/>
                <a:gd name="T30" fmla="*/ 5 w 4548"/>
                <a:gd name="T31" fmla="*/ 1120 h 1281"/>
                <a:gd name="T32" fmla="*/ 5 w 4548"/>
                <a:gd name="T33" fmla="*/ 1165 h 1281"/>
                <a:gd name="T34" fmla="*/ 3 w 4548"/>
                <a:gd name="T35" fmla="*/ 1202 h 1281"/>
                <a:gd name="T36" fmla="*/ 2 w 4548"/>
                <a:gd name="T37" fmla="*/ 1227 h 1281"/>
                <a:gd name="T38" fmla="*/ 1 w 4548"/>
                <a:gd name="T39" fmla="*/ 1242 h 1281"/>
                <a:gd name="T40" fmla="*/ 1 w 4548"/>
                <a:gd name="T41" fmla="*/ 1250 h 1281"/>
                <a:gd name="T42" fmla="*/ 1 w 4548"/>
                <a:gd name="T43" fmla="*/ 1253 h 1281"/>
                <a:gd name="T44" fmla="*/ 1 w 4548"/>
                <a:gd name="T45" fmla="*/ 1253 h 1281"/>
                <a:gd name="T46" fmla="*/ 1 w 4548"/>
                <a:gd name="T47" fmla="*/ 1252 h 1281"/>
                <a:gd name="T48" fmla="*/ 1 w 4548"/>
                <a:gd name="T49" fmla="*/ 1266 h 1281"/>
                <a:gd name="T50" fmla="*/ 0 w 4548"/>
                <a:gd name="T51" fmla="*/ 1280 h 1281"/>
                <a:gd name="T52" fmla="*/ 1 w 4548"/>
                <a:gd name="T53" fmla="*/ 1281 h 1281"/>
                <a:gd name="T54" fmla="*/ 1 w 4548"/>
                <a:gd name="T55" fmla="*/ 1281 h 1281"/>
                <a:gd name="T56" fmla="*/ 1 w 4548"/>
                <a:gd name="T57" fmla="*/ 1278 h 1281"/>
                <a:gd name="T58" fmla="*/ 1 w 4548"/>
                <a:gd name="T59" fmla="*/ 1270 h 1281"/>
                <a:gd name="T60" fmla="*/ 2 w 4548"/>
                <a:gd name="T61" fmla="*/ 1255 h 1281"/>
                <a:gd name="T62" fmla="*/ 3 w 4548"/>
                <a:gd name="T63" fmla="*/ 1230 h 1281"/>
                <a:gd name="T64" fmla="*/ 4 w 4548"/>
                <a:gd name="T65" fmla="*/ 1197 h 1281"/>
                <a:gd name="T66" fmla="*/ 5 w 4548"/>
                <a:gd name="T67" fmla="*/ 1144 h 1281"/>
                <a:gd name="T68" fmla="*/ 7 w 4548"/>
                <a:gd name="T69" fmla="*/ 1078 h 1281"/>
                <a:gd name="T70" fmla="*/ 8 w 4548"/>
                <a:gd name="T71" fmla="*/ 994 h 1281"/>
                <a:gd name="T72" fmla="*/ 9 w 4548"/>
                <a:gd name="T73" fmla="*/ 903 h 1281"/>
                <a:gd name="T74" fmla="*/ 11 w 4548"/>
                <a:gd name="T75" fmla="*/ 769 h 1281"/>
                <a:gd name="T76" fmla="*/ 13 w 4548"/>
                <a:gd name="T77" fmla="*/ 625 h 1281"/>
                <a:gd name="T78" fmla="*/ 14 w 4548"/>
                <a:gd name="T79" fmla="*/ 525 h 1281"/>
                <a:gd name="T80" fmla="*/ 15 w 4548"/>
                <a:gd name="T81" fmla="*/ 422 h 1281"/>
                <a:gd name="T82" fmla="*/ 16 w 4548"/>
                <a:gd name="T83" fmla="*/ 334 h 1281"/>
                <a:gd name="T84" fmla="*/ 17 w 4548"/>
                <a:gd name="T85" fmla="*/ 252 h 1281"/>
                <a:gd name="T86" fmla="*/ 17 w 4548"/>
                <a:gd name="T87" fmla="*/ 186 h 1281"/>
                <a:gd name="T88" fmla="*/ 18 w 4548"/>
                <a:gd name="T89" fmla="*/ 130 h 1281"/>
                <a:gd name="T90" fmla="*/ 18 w 4548"/>
                <a:gd name="T91" fmla="*/ 85 h 1281"/>
                <a:gd name="T92" fmla="*/ 18 w 4548"/>
                <a:gd name="T93" fmla="*/ 49 h 1281"/>
                <a:gd name="T94" fmla="*/ 18 w 4548"/>
                <a:gd name="T95" fmla="*/ 23 h 1281"/>
                <a:gd name="T96" fmla="*/ 18 w 4548"/>
                <a:gd name="T97" fmla="*/ 0 h 1281"/>
                <a:gd name="T98" fmla="*/ 18 w 4548"/>
                <a:gd name="T99" fmla="*/ 6 h 12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548"/>
                <a:gd name="T151" fmla="*/ 0 h 1281"/>
                <a:gd name="T152" fmla="*/ 4548 w 4548"/>
                <a:gd name="T153" fmla="*/ 1281 h 12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548" h="1281">
                  <a:moveTo>
                    <a:pt x="4498" y="6"/>
                  </a:moveTo>
                  <a:lnTo>
                    <a:pt x="4496" y="17"/>
                  </a:lnTo>
                  <a:lnTo>
                    <a:pt x="4479" y="38"/>
                  </a:lnTo>
                  <a:lnTo>
                    <a:pt x="4438" y="68"/>
                  </a:lnTo>
                  <a:lnTo>
                    <a:pt x="4369" y="112"/>
                  </a:lnTo>
                  <a:lnTo>
                    <a:pt x="4270" y="164"/>
                  </a:lnTo>
                  <a:lnTo>
                    <a:pt x="4133" y="231"/>
                  </a:lnTo>
                  <a:lnTo>
                    <a:pt x="3964" y="306"/>
                  </a:lnTo>
                  <a:lnTo>
                    <a:pt x="3736" y="398"/>
                  </a:lnTo>
                  <a:lnTo>
                    <a:pt x="3466" y="501"/>
                  </a:lnTo>
                  <a:lnTo>
                    <a:pt x="3099" y="632"/>
                  </a:lnTo>
                  <a:lnTo>
                    <a:pt x="2763" y="746"/>
                  </a:lnTo>
                  <a:lnTo>
                    <a:pt x="2389" y="862"/>
                  </a:lnTo>
                  <a:lnTo>
                    <a:pt x="1976" y="975"/>
                  </a:lnTo>
                  <a:lnTo>
                    <a:pt x="1627" y="1056"/>
                  </a:lnTo>
                  <a:lnTo>
                    <a:pt x="1310" y="1120"/>
                  </a:lnTo>
                  <a:lnTo>
                    <a:pt x="1050" y="1165"/>
                  </a:lnTo>
                  <a:lnTo>
                    <a:pt x="768" y="1202"/>
                  </a:lnTo>
                  <a:lnTo>
                    <a:pt x="538" y="1227"/>
                  </a:lnTo>
                  <a:lnTo>
                    <a:pt x="353" y="1242"/>
                  </a:lnTo>
                  <a:lnTo>
                    <a:pt x="204" y="1250"/>
                  </a:lnTo>
                  <a:lnTo>
                    <a:pt x="94" y="1253"/>
                  </a:lnTo>
                  <a:lnTo>
                    <a:pt x="27" y="1253"/>
                  </a:lnTo>
                  <a:lnTo>
                    <a:pt x="4" y="1252"/>
                  </a:lnTo>
                  <a:lnTo>
                    <a:pt x="2" y="1266"/>
                  </a:lnTo>
                  <a:lnTo>
                    <a:pt x="0" y="1280"/>
                  </a:lnTo>
                  <a:lnTo>
                    <a:pt x="25" y="1281"/>
                  </a:lnTo>
                  <a:lnTo>
                    <a:pt x="94" y="1281"/>
                  </a:lnTo>
                  <a:lnTo>
                    <a:pt x="204" y="1278"/>
                  </a:lnTo>
                  <a:lnTo>
                    <a:pt x="361" y="1270"/>
                  </a:lnTo>
                  <a:lnTo>
                    <a:pt x="554" y="1255"/>
                  </a:lnTo>
                  <a:lnTo>
                    <a:pt x="776" y="1230"/>
                  </a:lnTo>
                  <a:lnTo>
                    <a:pt x="1015" y="1197"/>
                  </a:lnTo>
                  <a:lnTo>
                    <a:pt x="1341" y="1144"/>
                  </a:lnTo>
                  <a:lnTo>
                    <a:pt x="1669" y="1078"/>
                  </a:lnTo>
                  <a:lnTo>
                    <a:pt x="2022" y="994"/>
                  </a:lnTo>
                  <a:lnTo>
                    <a:pt x="2358" y="903"/>
                  </a:lnTo>
                  <a:lnTo>
                    <a:pt x="2786" y="769"/>
                  </a:lnTo>
                  <a:lnTo>
                    <a:pt x="3211" y="625"/>
                  </a:lnTo>
                  <a:lnTo>
                    <a:pt x="3493" y="525"/>
                  </a:lnTo>
                  <a:lnTo>
                    <a:pt x="3763" y="422"/>
                  </a:lnTo>
                  <a:lnTo>
                    <a:pt x="3979" y="334"/>
                  </a:lnTo>
                  <a:lnTo>
                    <a:pt x="4164" y="252"/>
                  </a:lnTo>
                  <a:lnTo>
                    <a:pt x="4301" y="186"/>
                  </a:lnTo>
                  <a:lnTo>
                    <a:pt x="4407" y="130"/>
                  </a:lnTo>
                  <a:lnTo>
                    <a:pt x="4477" y="85"/>
                  </a:lnTo>
                  <a:lnTo>
                    <a:pt x="4525" y="49"/>
                  </a:lnTo>
                  <a:lnTo>
                    <a:pt x="4546" y="23"/>
                  </a:lnTo>
                  <a:lnTo>
                    <a:pt x="4548" y="0"/>
                  </a:lnTo>
                  <a:lnTo>
                    <a:pt x="4498" y="6"/>
                  </a:lnTo>
                  <a:close/>
                </a:path>
              </a:pathLst>
            </a:custGeom>
            <a:solidFill>
              <a:srgbClr val="000000"/>
            </a:solidFill>
            <a:ln w="9525">
              <a:noFill/>
              <a:round/>
              <a:headEnd/>
              <a:tailEnd/>
            </a:ln>
          </p:spPr>
          <p:txBody>
            <a:bodyPr/>
            <a:lstStyle/>
            <a:p>
              <a:endParaRPr lang="en-US"/>
            </a:p>
          </p:txBody>
        </p:sp>
        <p:sp>
          <p:nvSpPr>
            <p:cNvPr id="17553" name="Freeform 608"/>
            <p:cNvSpPr>
              <a:spLocks/>
            </p:cNvSpPr>
            <p:nvPr/>
          </p:nvSpPr>
          <p:spPr bwMode="auto">
            <a:xfrm>
              <a:off x="1460" y="1558"/>
              <a:ext cx="581" cy="2221"/>
            </a:xfrm>
            <a:custGeom>
              <a:avLst/>
              <a:gdLst>
                <a:gd name="T0" fmla="*/ 0 w 1164"/>
                <a:gd name="T1" fmla="*/ 1 h 2221"/>
                <a:gd name="T2" fmla="*/ 0 w 1164"/>
                <a:gd name="T3" fmla="*/ 0 h 2221"/>
                <a:gd name="T4" fmla="*/ 0 w 1164"/>
                <a:gd name="T5" fmla="*/ 52 h 2221"/>
                <a:gd name="T6" fmla="*/ 0 w 1164"/>
                <a:gd name="T7" fmla="*/ 140 h 2221"/>
                <a:gd name="T8" fmla="*/ 0 w 1164"/>
                <a:gd name="T9" fmla="*/ 275 h 2221"/>
                <a:gd name="T10" fmla="*/ 1 w 1164"/>
                <a:gd name="T11" fmla="*/ 465 h 2221"/>
                <a:gd name="T12" fmla="*/ 1 w 1164"/>
                <a:gd name="T13" fmla="*/ 653 h 2221"/>
                <a:gd name="T14" fmla="*/ 2 w 1164"/>
                <a:gd name="T15" fmla="*/ 877 h 2221"/>
                <a:gd name="T16" fmla="*/ 2 w 1164"/>
                <a:gd name="T17" fmla="*/ 1128 h 2221"/>
                <a:gd name="T18" fmla="*/ 3 w 1164"/>
                <a:gd name="T19" fmla="*/ 1337 h 2221"/>
                <a:gd name="T20" fmla="*/ 3 w 1164"/>
                <a:gd name="T21" fmla="*/ 1604 h 2221"/>
                <a:gd name="T22" fmla="*/ 4 w 1164"/>
                <a:gd name="T23" fmla="*/ 1829 h 2221"/>
                <a:gd name="T24" fmla="*/ 4 w 1164"/>
                <a:gd name="T25" fmla="*/ 2033 h 2221"/>
                <a:gd name="T26" fmla="*/ 4 w 1164"/>
                <a:gd name="T27" fmla="*/ 2209 h 2221"/>
                <a:gd name="T28" fmla="*/ 4 w 1164"/>
                <a:gd name="T29" fmla="*/ 2221 h 2221"/>
                <a:gd name="T30" fmla="*/ 4 w 1164"/>
                <a:gd name="T31" fmla="*/ 2185 h 2221"/>
                <a:gd name="T32" fmla="*/ 4 w 1164"/>
                <a:gd name="T33" fmla="*/ 2031 h 2221"/>
                <a:gd name="T34" fmla="*/ 4 w 1164"/>
                <a:gd name="T35" fmla="*/ 1823 h 2221"/>
                <a:gd name="T36" fmla="*/ 4 w 1164"/>
                <a:gd name="T37" fmla="*/ 1591 h 2221"/>
                <a:gd name="T38" fmla="*/ 3 w 1164"/>
                <a:gd name="T39" fmla="*/ 1378 h 2221"/>
                <a:gd name="T40" fmla="*/ 3 w 1164"/>
                <a:gd name="T41" fmla="*/ 1098 h 2221"/>
                <a:gd name="T42" fmla="*/ 2 w 1164"/>
                <a:gd name="T43" fmla="*/ 869 h 2221"/>
                <a:gd name="T44" fmla="*/ 2 w 1164"/>
                <a:gd name="T45" fmla="*/ 644 h 2221"/>
                <a:gd name="T46" fmla="*/ 1 w 1164"/>
                <a:gd name="T47" fmla="*/ 421 h 2221"/>
                <a:gd name="T48" fmla="*/ 0 w 1164"/>
                <a:gd name="T49" fmla="*/ 264 h 2221"/>
                <a:gd name="T50" fmla="*/ 0 w 1164"/>
                <a:gd name="T51" fmla="*/ 129 h 2221"/>
                <a:gd name="T52" fmla="*/ 0 w 1164"/>
                <a:gd name="T53" fmla="*/ 41 h 2221"/>
                <a:gd name="T54" fmla="*/ 0 w 1164"/>
                <a:gd name="T55" fmla="*/ 9 h 2221"/>
                <a:gd name="T56" fmla="*/ 0 w 1164"/>
                <a:gd name="T57" fmla="*/ 15 h 2221"/>
                <a:gd name="T58" fmla="*/ 0 w 1164"/>
                <a:gd name="T59" fmla="*/ 1 h 22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64"/>
                <a:gd name="T91" fmla="*/ 0 h 2221"/>
                <a:gd name="T92" fmla="*/ 1164 w 1164"/>
                <a:gd name="T93" fmla="*/ 2221 h 22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64" h="2221">
                  <a:moveTo>
                    <a:pt x="41" y="1"/>
                  </a:moveTo>
                  <a:lnTo>
                    <a:pt x="0" y="0"/>
                  </a:lnTo>
                  <a:lnTo>
                    <a:pt x="41" y="52"/>
                  </a:lnTo>
                  <a:lnTo>
                    <a:pt x="106" y="140"/>
                  </a:lnTo>
                  <a:lnTo>
                    <a:pt x="205" y="275"/>
                  </a:lnTo>
                  <a:lnTo>
                    <a:pt x="340" y="465"/>
                  </a:lnTo>
                  <a:lnTo>
                    <a:pt x="465" y="653"/>
                  </a:lnTo>
                  <a:lnTo>
                    <a:pt x="610" y="877"/>
                  </a:lnTo>
                  <a:lnTo>
                    <a:pt x="757" y="1128"/>
                  </a:lnTo>
                  <a:lnTo>
                    <a:pt x="870" y="1337"/>
                  </a:lnTo>
                  <a:lnTo>
                    <a:pt x="990" y="1604"/>
                  </a:lnTo>
                  <a:lnTo>
                    <a:pt x="1071" y="1829"/>
                  </a:lnTo>
                  <a:lnTo>
                    <a:pt x="1114" y="2033"/>
                  </a:lnTo>
                  <a:lnTo>
                    <a:pt x="1108" y="2209"/>
                  </a:lnTo>
                  <a:lnTo>
                    <a:pt x="1145" y="2221"/>
                  </a:lnTo>
                  <a:lnTo>
                    <a:pt x="1158" y="2185"/>
                  </a:lnTo>
                  <a:lnTo>
                    <a:pt x="1164" y="2031"/>
                  </a:lnTo>
                  <a:lnTo>
                    <a:pt x="1121" y="1823"/>
                  </a:lnTo>
                  <a:lnTo>
                    <a:pt x="1040" y="1591"/>
                  </a:lnTo>
                  <a:lnTo>
                    <a:pt x="940" y="1378"/>
                  </a:lnTo>
                  <a:lnTo>
                    <a:pt x="791" y="1098"/>
                  </a:lnTo>
                  <a:lnTo>
                    <a:pt x="656" y="869"/>
                  </a:lnTo>
                  <a:lnTo>
                    <a:pt x="512" y="644"/>
                  </a:lnTo>
                  <a:lnTo>
                    <a:pt x="363" y="421"/>
                  </a:lnTo>
                  <a:lnTo>
                    <a:pt x="251" y="264"/>
                  </a:lnTo>
                  <a:lnTo>
                    <a:pt x="153" y="129"/>
                  </a:lnTo>
                  <a:lnTo>
                    <a:pt x="87" y="41"/>
                  </a:lnTo>
                  <a:lnTo>
                    <a:pt x="62" y="9"/>
                  </a:lnTo>
                  <a:lnTo>
                    <a:pt x="39" y="15"/>
                  </a:lnTo>
                  <a:lnTo>
                    <a:pt x="41" y="1"/>
                  </a:lnTo>
                  <a:close/>
                </a:path>
              </a:pathLst>
            </a:custGeom>
            <a:solidFill>
              <a:srgbClr val="000000"/>
            </a:solidFill>
            <a:ln w="9525">
              <a:noFill/>
              <a:round/>
              <a:headEnd/>
              <a:tailEnd/>
            </a:ln>
          </p:spPr>
          <p:txBody>
            <a:bodyPr/>
            <a:lstStyle/>
            <a:p>
              <a:endParaRPr lang="en-US"/>
            </a:p>
          </p:txBody>
        </p:sp>
        <p:sp>
          <p:nvSpPr>
            <p:cNvPr id="17554" name="Freeform 609"/>
            <p:cNvSpPr>
              <a:spLocks/>
            </p:cNvSpPr>
            <p:nvPr/>
          </p:nvSpPr>
          <p:spPr bwMode="auto">
            <a:xfrm>
              <a:off x="2032" y="2208"/>
              <a:ext cx="1947" cy="1571"/>
            </a:xfrm>
            <a:custGeom>
              <a:avLst/>
              <a:gdLst>
                <a:gd name="T0" fmla="*/ 0 w 3894"/>
                <a:gd name="T1" fmla="*/ 1571 h 1571"/>
                <a:gd name="T2" fmla="*/ 1 w 3894"/>
                <a:gd name="T3" fmla="*/ 1554 h 1571"/>
                <a:gd name="T4" fmla="*/ 1 w 3894"/>
                <a:gd name="T5" fmla="*/ 1505 h 1571"/>
                <a:gd name="T6" fmla="*/ 2 w 3894"/>
                <a:gd name="T7" fmla="*/ 1428 h 1571"/>
                <a:gd name="T8" fmla="*/ 4 w 3894"/>
                <a:gd name="T9" fmla="*/ 1269 h 1571"/>
                <a:gd name="T10" fmla="*/ 5 w 3894"/>
                <a:gd name="T11" fmla="*/ 1201 h 1571"/>
                <a:gd name="T12" fmla="*/ 6 w 3894"/>
                <a:gd name="T13" fmla="*/ 1060 h 1571"/>
                <a:gd name="T14" fmla="*/ 8 w 3894"/>
                <a:gd name="T15" fmla="*/ 903 h 1571"/>
                <a:gd name="T16" fmla="*/ 9 w 3894"/>
                <a:gd name="T17" fmla="*/ 735 h 1571"/>
                <a:gd name="T18" fmla="*/ 11 w 3894"/>
                <a:gd name="T19" fmla="*/ 562 h 1571"/>
                <a:gd name="T20" fmla="*/ 13 w 3894"/>
                <a:gd name="T21" fmla="*/ 377 h 1571"/>
                <a:gd name="T22" fmla="*/ 14 w 3894"/>
                <a:gd name="T23" fmla="*/ 196 h 1571"/>
                <a:gd name="T24" fmla="*/ 15 w 3894"/>
                <a:gd name="T25" fmla="*/ 13 h 1571"/>
                <a:gd name="T26" fmla="*/ 15 w 3894"/>
                <a:gd name="T27" fmla="*/ 7 h 1571"/>
                <a:gd name="T28" fmla="*/ 15 w 3894"/>
                <a:gd name="T29" fmla="*/ 0 h 1571"/>
                <a:gd name="T30" fmla="*/ 14 w 3894"/>
                <a:gd name="T31" fmla="*/ 174 h 1571"/>
                <a:gd name="T32" fmla="*/ 13 w 3894"/>
                <a:gd name="T33" fmla="*/ 356 h 1571"/>
                <a:gd name="T34" fmla="*/ 11 w 3894"/>
                <a:gd name="T35" fmla="*/ 532 h 1571"/>
                <a:gd name="T36" fmla="*/ 9 w 3894"/>
                <a:gd name="T37" fmla="*/ 711 h 1571"/>
                <a:gd name="T38" fmla="*/ 8 w 3894"/>
                <a:gd name="T39" fmla="*/ 879 h 1571"/>
                <a:gd name="T40" fmla="*/ 6 w 3894"/>
                <a:gd name="T41" fmla="*/ 1036 h 1571"/>
                <a:gd name="T42" fmla="*/ 5 w 3894"/>
                <a:gd name="T43" fmla="*/ 1177 h 1571"/>
                <a:gd name="T44" fmla="*/ 3 w 3894"/>
                <a:gd name="T45" fmla="*/ 1356 h 1571"/>
                <a:gd name="T46" fmla="*/ 2 w 3894"/>
                <a:gd name="T47" fmla="*/ 1404 h 1571"/>
                <a:gd name="T48" fmla="*/ 1 w 3894"/>
                <a:gd name="T49" fmla="*/ 1481 h 1571"/>
                <a:gd name="T50" fmla="*/ 1 w 3894"/>
                <a:gd name="T51" fmla="*/ 1530 h 1571"/>
                <a:gd name="T52" fmla="*/ 1 w 3894"/>
                <a:gd name="T53" fmla="*/ 1535 h 1571"/>
                <a:gd name="T54" fmla="*/ 0 w 3894"/>
                <a:gd name="T55" fmla="*/ 1571 h 15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894"/>
                <a:gd name="T85" fmla="*/ 0 h 1571"/>
                <a:gd name="T86" fmla="*/ 3894 w 3894"/>
                <a:gd name="T87" fmla="*/ 1571 h 15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894" h="1571">
                  <a:moveTo>
                    <a:pt x="0" y="1571"/>
                  </a:moveTo>
                  <a:lnTo>
                    <a:pt x="52" y="1554"/>
                  </a:lnTo>
                  <a:lnTo>
                    <a:pt x="196" y="1505"/>
                  </a:lnTo>
                  <a:lnTo>
                    <a:pt x="422" y="1428"/>
                  </a:lnTo>
                  <a:lnTo>
                    <a:pt x="872" y="1269"/>
                  </a:lnTo>
                  <a:lnTo>
                    <a:pt x="1061" y="1201"/>
                  </a:lnTo>
                  <a:lnTo>
                    <a:pt x="1447" y="1060"/>
                  </a:lnTo>
                  <a:lnTo>
                    <a:pt x="1860" y="903"/>
                  </a:lnTo>
                  <a:lnTo>
                    <a:pt x="2288" y="735"/>
                  </a:lnTo>
                  <a:lnTo>
                    <a:pt x="2709" y="562"/>
                  </a:lnTo>
                  <a:lnTo>
                    <a:pt x="3137" y="377"/>
                  </a:lnTo>
                  <a:lnTo>
                    <a:pt x="3529" y="196"/>
                  </a:lnTo>
                  <a:lnTo>
                    <a:pt x="3892" y="13"/>
                  </a:lnTo>
                  <a:lnTo>
                    <a:pt x="3894" y="7"/>
                  </a:lnTo>
                  <a:lnTo>
                    <a:pt x="3845" y="0"/>
                  </a:lnTo>
                  <a:lnTo>
                    <a:pt x="3498" y="174"/>
                  </a:lnTo>
                  <a:lnTo>
                    <a:pt x="3106" y="356"/>
                  </a:lnTo>
                  <a:lnTo>
                    <a:pt x="2701" y="532"/>
                  </a:lnTo>
                  <a:lnTo>
                    <a:pt x="2261" y="711"/>
                  </a:lnTo>
                  <a:lnTo>
                    <a:pt x="1833" y="879"/>
                  </a:lnTo>
                  <a:lnTo>
                    <a:pt x="1420" y="1036"/>
                  </a:lnTo>
                  <a:lnTo>
                    <a:pt x="1034" y="1177"/>
                  </a:lnTo>
                  <a:lnTo>
                    <a:pt x="532" y="1356"/>
                  </a:lnTo>
                  <a:lnTo>
                    <a:pt x="399" y="1404"/>
                  </a:lnTo>
                  <a:lnTo>
                    <a:pt x="173" y="1481"/>
                  </a:lnTo>
                  <a:lnTo>
                    <a:pt x="28" y="1530"/>
                  </a:lnTo>
                  <a:lnTo>
                    <a:pt x="13" y="1535"/>
                  </a:lnTo>
                  <a:lnTo>
                    <a:pt x="0" y="1571"/>
                  </a:lnTo>
                  <a:close/>
                </a:path>
              </a:pathLst>
            </a:custGeom>
            <a:solidFill>
              <a:srgbClr val="000000"/>
            </a:solidFill>
            <a:ln w="9525">
              <a:noFill/>
              <a:round/>
              <a:headEnd/>
              <a:tailEnd/>
            </a:ln>
          </p:spPr>
          <p:txBody>
            <a:bodyPr/>
            <a:lstStyle/>
            <a:p>
              <a:endParaRPr lang="en-US"/>
            </a:p>
          </p:txBody>
        </p:sp>
        <p:sp>
          <p:nvSpPr>
            <p:cNvPr id="17555" name="Freeform 610"/>
            <p:cNvSpPr>
              <a:spLocks/>
            </p:cNvSpPr>
            <p:nvPr/>
          </p:nvSpPr>
          <p:spPr bwMode="auto">
            <a:xfrm>
              <a:off x="1488" y="1488"/>
              <a:ext cx="648" cy="492"/>
            </a:xfrm>
            <a:custGeom>
              <a:avLst/>
              <a:gdLst>
                <a:gd name="T0" fmla="*/ 546 w 648"/>
                <a:gd name="T1" fmla="*/ 0 h 492"/>
                <a:gd name="T2" fmla="*/ 405 w 648"/>
                <a:gd name="T3" fmla="*/ 36 h 492"/>
                <a:gd name="T4" fmla="*/ 264 w 648"/>
                <a:gd name="T5" fmla="*/ 66 h 492"/>
                <a:gd name="T6" fmla="*/ 99 w 648"/>
                <a:gd name="T7" fmla="*/ 90 h 492"/>
                <a:gd name="T8" fmla="*/ 0 w 648"/>
                <a:gd name="T9" fmla="*/ 93 h 492"/>
                <a:gd name="T10" fmla="*/ 147 w 648"/>
                <a:gd name="T11" fmla="*/ 492 h 492"/>
                <a:gd name="T12" fmla="*/ 360 w 648"/>
                <a:gd name="T13" fmla="*/ 414 h 492"/>
                <a:gd name="T14" fmla="*/ 648 w 648"/>
                <a:gd name="T15" fmla="*/ 273 h 492"/>
                <a:gd name="T16" fmla="*/ 624 w 648"/>
                <a:gd name="T17" fmla="*/ 168 h 492"/>
                <a:gd name="T18" fmla="*/ 612 w 648"/>
                <a:gd name="T19" fmla="*/ 123 h 492"/>
                <a:gd name="T20" fmla="*/ 588 w 648"/>
                <a:gd name="T21" fmla="*/ 63 h 492"/>
                <a:gd name="T22" fmla="*/ 546 w 648"/>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492"/>
                <a:gd name="T38" fmla="*/ 648 w 648"/>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492">
                  <a:moveTo>
                    <a:pt x="546" y="0"/>
                  </a:moveTo>
                  <a:lnTo>
                    <a:pt x="405" y="36"/>
                  </a:lnTo>
                  <a:lnTo>
                    <a:pt x="264" y="66"/>
                  </a:lnTo>
                  <a:lnTo>
                    <a:pt x="99" y="90"/>
                  </a:lnTo>
                  <a:lnTo>
                    <a:pt x="0" y="93"/>
                  </a:lnTo>
                  <a:lnTo>
                    <a:pt x="147" y="492"/>
                  </a:lnTo>
                  <a:lnTo>
                    <a:pt x="360" y="414"/>
                  </a:lnTo>
                  <a:lnTo>
                    <a:pt x="648" y="273"/>
                  </a:lnTo>
                  <a:lnTo>
                    <a:pt x="624" y="168"/>
                  </a:lnTo>
                  <a:lnTo>
                    <a:pt x="612" y="123"/>
                  </a:lnTo>
                  <a:lnTo>
                    <a:pt x="588" y="63"/>
                  </a:lnTo>
                  <a:lnTo>
                    <a:pt x="546"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556" name="Freeform 611"/>
            <p:cNvSpPr>
              <a:spLocks/>
            </p:cNvSpPr>
            <p:nvPr/>
          </p:nvSpPr>
          <p:spPr bwMode="auto">
            <a:xfrm>
              <a:off x="2049" y="1278"/>
              <a:ext cx="597" cy="477"/>
            </a:xfrm>
            <a:custGeom>
              <a:avLst/>
              <a:gdLst>
                <a:gd name="T0" fmla="*/ 465 w 597"/>
                <a:gd name="T1" fmla="*/ 0 h 477"/>
                <a:gd name="T2" fmla="*/ 249 w 597"/>
                <a:gd name="T3" fmla="*/ 105 h 477"/>
                <a:gd name="T4" fmla="*/ 0 w 597"/>
                <a:gd name="T5" fmla="*/ 207 h 477"/>
                <a:gd name="T6" fmla="*/ 27 w 597"/>
                <a:gd name="T7" fmla="*/ 258 h 477"/>
                <a:gd name="T8" fmla="*/ 57 w 597"/>
                <a:gd name="T9" fmla="*/ 315 h 477"/>
                <a:gd name="T10" fmla="*/ 75 w 597"/>
                <a:gd name="T11" fmla="*/ 384 h 477"/>
                <a:gd name="T12" fmla="*/ 99 w 597"/>
                <a:gd name="T13" fmla="*/ 477 h 477"/>
                <a:gd name="T14" fmla="*/ 366 w 597"/>
                <a:gd name="T15" fmla="*/ 348 h 477"/>
                <a:gd name="T16" fmla="*/ 597 w 597"/>
                <a:gd name="T17" fmla="*/ 219 h 477"/>
                <a:gd name="T18" fmla="*/ 567 w 597"/>
                <a:gd name="T19" fmla="*/ 120 h 477"/>
                <a:gd name="T20" fmla="*/ 519 w 597"/>
                <a:gd name="T21" fmla="*/ 54 h 477"/>
                <a:gd name="T22" fmla="*/ 465 w 597"/>
                <a:gd name="T23" fmla="*/ 0 h 4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97"/>
                <a:gd name="T37" fmla="*/ 0 h 477"/>
                <a:gd name="T38" fmla="*/ 597 w 597"/>
                <a:gd name="T39" fmla="*/ 477 h 4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97" h="477">
                  <a:moveTo>
                    <a:pt x="465" y="0"/>
                  </a:moveTo>
                  <a:lnTo>
                    <a:pt x="249" y="105"/>
                  </a:lnTo>
                  <a:lnTo>
                    <a:pt x="0" y="207"/>
                  </a:lnTo>
                  <a:lnTo>
                    <a:pt x="27" y="258"/>
                  </a:lnTo>
                  <a:lnTo>
                    <a:pt x="57" y="315"/>
                  </a:lnTo>
                  <a:lnTo>
                    <a:pt x="75" y="384"/>
                  </a:lnTo>
                  <a:lnTo>
                    <a:pt x="99" y="477"/>
                  </a:lnTo>
                  <a:lnTo>
                    <a:pt x="366" y="348"/>
                  </a:lnTo>
                  <a:lnTo>
                    <a:pt x="597" y="219"/>
                  </a:lnTo>
                  <a:lnTo>
                    <a:pt x="567" y="120"/>
                  </a:lnTo>
                  <a:lnTo>
                    <a:pt x="519" y="54"/>
                  </a:lnTo>
                  <a:lnTo>
                    <a:pt x="4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57" name="Freeform 612"/>
            <p:cNvSpPr>
              <a:spLocks/>
            </p:cNvSpPr>
            <p:nvPr/>
          </p:nvSpPr>
          <p:spPr bwMode="auto">
            <a:xfrm>
              <a:off x="2526" y="1005"/>
              <a:ext cx="585" cy="486"/>
            </a:xfrm>
            <a:custGeom>
              <a:avLst/>
              <a:gdLst>
                <a:gd name="T0" fmla="*/ 447 w 585"/>
                <a:gd name="T1" fmla="*/ 0 h 486"/>
                <a:gd name="T2" fmla="*/ 261 w 585"/>
                <a:gd name="T3" fmla="*/ 120 h 486"/>
                <a:gd name="T4" fmla="*/ 0 w 585"/>
                <a:gd name="T5" fmla="*/ 264 h 486"/>
                <a:gd name="T6" fmla="*/ 48 w 585"/>
                <a:gd name="T7" fmla="*/ 318 h 486"/>
                <a:gd name="T8" fmla="*/ 93 w 585"/>
                <a:gd name="T9" fmla="*/ 384 h 486"/>
                <a:gd name="T10" fmla="*/ 132 w 585"/>
                <a:gd name="T11" fmla="*/ 486 h 486"/>
                <a:gd name="T12" fmla="*/ 363 w 585"/>
                <a:gd name="T13" fmla="*/ 348 h 486"/>
                <a:gd name="T14" fmla="*/ 585 w 585"/>
                <a:gd name="T15" fmla="*/ 210 h 486"/>
                <a:gd name="T16" fmla="*/ 528 w 585"/>
                <a:gd name="T17" fmla="*/ 102 h 486"/>
                <a:gd name="T18" fmla="*/ 486 w 585"/>
                <a:gd name="T19" fmla="*/ 51 h 486"/>
                <a:gd name="T20" fmla="*/ 447 w 585"/>
                <a:gd name="T21" fmla="*/ 0 h 4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5"/>
                <a:gd name="T34" fmla="*/ 0 h 486"/>
                <a:gd name="T35" fmla="*/ 585 w 585"/>
                <a:gd name="T36" fmla="*/ 486 h 4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5" h="486">
                  <a:moveTo>
                    <a:pt x="447" y="0"/>
                  </a:moveTo>
                  <a:lnTo>
                    <a:pt x="261" y="120"/>
                  </a:lnTo>
                  <a:lnTo>
                    <a:pt x="0" y="264"/>
                  </a:lnTo>
                  <a:lnTo>
                    <a:pt x="48" y="318"/>
                  </a:lnTo>
                  <a:lnTo>
                    <a:pt x="93" y="384"/>
                  </a:lnTo>
                  <a:lnTo>
                    <a:pt x="132" y="486"/>
                  </a:lnTo>
                  <a:lnTo>
                    <a:pt x="363" y="348"/>
                  </a:lnTo>
                  <a:lnTo>
                    <a:pt x="585" y="210"/>
                  </a:lnTo>
                  <a:lnTo>
                    <a:pt x="528" y="102"/>
                  </a:lnTo>
                  <a:lnTo>
                    <a:pt x="486" y="51"/>
                  </a:lnTo>
                  <a:lnTo>
                    <a:pt x="447"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7558" name="Freeform 613"/>
            <p:cNvSpPr>
              <a:spLocks/>
            </p:cNvSpPr>
            <p:nvPr/>
          </p:nvSpPr>
          <p:spPr bwMode="auto">
            <a:xfrm>
              <a:off x="2988" y="723"/>
              <a:ext cx="531" cy="483"/>
            </a:xfrm>
            <a:custGeom>
              <a:avLst/>
              <a:gdLst>
                <a:gd name="T0" fmla="*/ 372 w 531"/>
                <a:gd name="T1" fmla="*/ 0 h 483"/>
                <a:gd name="T2" fmla="*/ 198 w 531"/>
                <a:gd name="T3" fmla="*/ 132 h 483"/>
                <a:gd name="T4" fmla="*/ 0 w 531"/>
                <a:gd name="T5" fmla="*/ 273 h 483"/>
                <a:gd name="T6" fmla="*/ 33 w 531"/>
                <a:gd name="T7" fmla="*/ 321 h 483"/>
                <a:gd name="T8" fmla="*/ 78 w 531"/>
                <a:gd name="T9" fmla="*/ 381 h 483"/>
                <a:gd name="T10" fmla="*/ 108 w 531"/>
                <a:gd name="T11" fmla="*/ 423 h 483"/>
                <a:gd name="T12" fmla="*/ 135 w 531"/>
                <a:gd name="T13" fmla="*/ 483 h 483"/>
                <a:gd name="T14" fmla="*/ 351 w 531"/>
                <a:gd name="T15" fmla="*/ 345 h 483"/>
                <a:gd name="T16" fmla="*/ 531 w 531"/>
                <a:gd name="T17" fmla="*/ 234 h 483"/>
                <a:gd name="T18" fmla="*/ 468 w 531"/>
                <a:gd name="T19" fmla="*/ 111 h 483"/>
                <a:gd name="T20" fmla="*/ 435 w 531"/>
                <a:gd name="T21" fmla="*/ 54 h 483"/>
                <a:gd name="T22" fmla="*/ 372 w 531"/>
                <a:gd name="T23" fmla="*/ 0 h 4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483"/>
                <a:gd name="T38" fmla="*/ 531 w 531"/>
                <a:gd name="T39" fmla="*/ 483 h 4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483">
                  <a:moveTo>
                    <a:pt x="372" y="0"/>
                  </a:moveTo>
                  <a:lnTo>
                    <a:pt x="198" y="132"/>
                  </a:lnTo>
                  <a:lnTo>
                    <a:pt x="0" y="273"/>
                  </a:lnTo>
                  <a:lnTo>
                    <a:pt x="33" y="321"/>
                  </a:lnTo>
                  <a:lnTo>
                    <a:pt x="78" y="381"/>
                  </a:lnTo>
                  <a:lnTo>
                    <a:pt x="108" y="423"/>
                  </a:lnTo>
                  <a:lnTo>
                    <a:pt x="135" y="483"/>
                  </a:lnTo>
                  <a:lnTo>
                    <a:pt x="351" y="345"/>
                  </a:lnTo>
                  <a:lnTo>
                    <a:pt x="531" y="234"/>
                  </a:lnTo>
                  <a:lnTo>
                    <a:pt x="468" y="111"/>
                  </a:lnTo>
                  <a:lnTo>
                    <a:pt x="435" y="54"/>
                  </a:lnTo>
                  <a:lnTo>
                    <a:pt x="372"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59" name="Freeform 614"/>
            <p:cNvSpPr>
              <a:spLocks/>
            </p:cNvSpPr>
            <p:nvPr/>
          </p:nvSpPr>
          <p:spPr bwMode="auto">
            <a:xfrm>
              <a:off x="3369" y="363"/>
              <a:ext cx="417" cy="585"/>
            </a:xfrm>
            <a:custGeom>
              <a:avLst/>
              <a:gdLst>
                <a:gd name="T0" fmla="*/ 363 w 417"/>
                <a:gd name="T1" fmla="*/ 0 h 585"/>
                <a:gd name="T2" fmla="*/ 207 w 417"/>
                <a:gd name="T3" fmla="*/ 171 h 585"/>
                <a:gd name="T4" fmla="*/ 0 w 417"/>
                <a:gd name="T5" fmla="*/ 345 h 585"/>
                <a:gd name="T6" fmla="*/ 57 w 417"/>
                <a:gd name="T7" fmla="*/ 393 h 585"/>
                <a:gd name="T8" fmla="*/ 99 w 417"/>
                <a:gd name="T9" fmla="*/ 462 h 585"/>
                <a:gd name="T10" fmla="*/ 162 w 417"/>
                <a:gd name="T11" fmla="*/ 585 h 585"/>
                <a:gd name="T12" fmla="*/ 369 w 417"/>
                <a:gd name="T13" fmla="*/ 447 h 585"/>
                <a:gd name="T14" fmla="*/ 417 w 417"/>
                <a:gd name="T15" fmla="*/ 402 h 585"/>
                <a:gd name="T16" fmla="*/ 363 w 417"/>
                <a:gd name="T17" fmla="*/ 0 h 5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7"/>
                <a:gd name="T28" fmla="*/ 0 h 585"/>
                <a:gd name="T29" fmla="*/ 417 w 417"/>
                <a:gd name="T30" fmla="*/ 585 h 5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7" h="585">
                  <a:moveTo>
                    <a:pt x="363" y="0"/>
                  </a:moveTo>
                  <a:lnTo>
                    <a:pt x="207" y="171"/>
                  </a:lnTo>
                  <a:lnTo>
                    <a:pt x="0" y="345"/>
                  </a:lnTo>
                  <a:lnTo>
                    <a:pt x="57" y="393"/>
                  </a:lnTo>
                  <a:lnTo>
                    <a:pt x="99" y="462"/>
                  </a:lnTo>
                  <a:lnTo>
                    <a:pt x="162" y="585"/>
                  </a:lnTo>
                  <a:lnTo>
                    <a:pt x="369" y="447"/>
                  </a:lnTo>
                  <a:lnTo>
                    <a:pt x="417" y="402"/>
                  </a:lnTo>
                  <a:lnTo>
                    <a:pt x="36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60" name="Freeform 615"/>
            <p:cNvSpPr>
              <a:spLocks/>
            </p:cNvSpPr>
            <p:nvPr/>
          </p:nvSpPr>
          <p:spPr bwMode="auto">
            <a:xfrm>
              <a:off x="1644" y="1896"/>
              <a:ext cx="444" cy="450"/>
            </a:xfrm>
            <a:custGeom>
              <a:avLst/>
              <a:gdLst>
                <a:gd name="T0" fmla="*/ 273 w 444"/>
                <a:gd name="T1" fmla="*/ 0 h 450"/>
                <a:gd name="T2" fmla="*/ 0 w 444"/>
                <a:gd name="T3" fmla="*/ 102 h 450"/>
                <a:gd name="T4" fmla="*/ 114 w 444"/>
                <a:gd name="T5" fmla="*/ 450 h 450"/>
                <a:gd name="T6" fmla="*/ 276 w 444"/>
                <a:gd name="T7" fmla="*/ 387 h 450"/>
                <a:gd name="T8" fmla="*/ 444 w 444"/>
                <a:gd name="T9" fmla="*/ 303 h 450"/>
                <a:gd name="T10" fmla="*/ 390 w 444"/>
                <a:gd name="T11" fmla="*/ 138 h 450"/>
                <a:gd name="T12" fmla="*/ 333 w 444"/>
                <a:gd name="T13" fmla="*/ 57 h 450"/>
                <a:gd name="T14" fmla="*/ 273 w 444"/>
                <a:gd name="T15" fmla="*/ 0 h 450"/>
                <a:gd name="T16" fmla="*/ 0 60000 65536"/>
                <a:gd name="T17" fmla="*/ 0 60000 65536"/>
                <a:gd name="T18" fmla="*/ 0 60000 65536"/>
                <a:gd name="T19" fmla="*/ 0 60000 65536"/>
                <a:gd name="T20" fmla="*/ 0 60000 65536"/>
                <a:gd name="T21" fmla="*/ 0 60000 65536"/>
                <a:gd name="T22" fmla="*/ 0 60000 65536"/>
                <a:gd name="T23" fmla="*/ 0 60000 65536"/>
                <a:gd name="T24" fmla="*/ 0 w 444"/>
                <a:gd name="T25" fmla="*/ 0 h 450"/>
                <a:gd name="T26" fmla="*/ 444 w 444"/>
                <a:gd name="T27" fmla="*/ 450 h 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4" h="450">
                  <a:moveTo>
                    <a:pt x="273" y="0"/>
                  </a:moveTo>
                  <a:lnTo>
                    <a:pt x="0" y="102"/>
                  </a:lnTo>
                  <a:lnTo>
                    <a:pt x="114" y="450"/>
                  </a:lnTo>
                  <a:lnTo>
                    <a:pt x="276" y="387"/>
                  </a:lnTo>
                  <a:lnTo>
                    <a:pt x="444" y="303"/>
                  </a:lnTo>
                  <a:lnTo>
                    <a:pt x="390" y="138"/>
                  </a:lnTo>
                  <a:lnTo>
                    <a:pt x="333" y="57"/>
                  </a:lnTo>
                  <a:lnTo>
                    <a:pt x="273"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561" name="Freeform 616"/>
            <p:cNvSpPr>
              <a:spLocks/>
            </p:cNvSpPr>
            <p:nvPr/>
          </p:nvSpPr>
          <p:spPr bwMode="auto">
            <a:xfrm>
              <a:off x="1929" y="1677"/>
              <a:ext cx="579" cy="507"/>
            </a:xfrm>
            <a:custGeom>
              <a:avLst/>
              <a:gdLst>
                <a:gd name="T0" fmla="*/ 435 w 579"/>
                <a:gd name="T1" fmla="*/ 0 h 507"/>
                <a:gd name="T2" fmla="*/ 225 w 579"/>
                <a:gd name="T3" fmla="*/ 99 h 507"/>
                <a:gd name="T4" fmla="*/ 0 w 579"/>
                <a:gd name="T5" fmla="*/ 210 h 507"/>
                <a:gd name="T6" fmla="*/ 63 w 579"/>
                <a:gd name="T7" fmla="*/ 276 h 507"/>
                <a:gd name="T8" fmla="*/ 120 w 579"/>
                <a:gd name="T9" fmla="*/ 360 h 507"/>
                <a:gd name="T10" fmla="*/ 141 w 579"/>
                <a:gd name="T11" fmla="*/ 429 h 507"/>
                <a:gd name="T12" fmla="*/ 174 w 579"/>
                <a:gd name="T13" fmla="*/ 507 h 507"/>
                <a:gd name="T14" fmla="*/ 390 w 579"/>
                <a:gd name="T15" fmla="*/ 390 h 507"/>
                <a:gd name="T16" fmla="*/ 579 w 579"/>
                <a:gd name="T17" fmla="*/ 279 h 507"/>
                <a:gd name="T18" fmla="*/ 540 w 579"/>
                <a:gd name="T19" fmla="*/ 165 h 507"/>
                <a:gd name="T20" fmla="*/ 495 w 579"/>
                <a:gd name="T21" fmla="*/ 87 h 507"/>
                <a:gd name="T22" fmla="*/ 435 w 579"/>
                <a:gd name="T23" fmla="*/ 0 h 5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9"/>
                <a:gd name="T37" fmla="*/ 0 h 507"/>
                <a:gd name="T38" fmla="*/ 579 w 579"/>
                <a:gd name="T39" fmla="*/ 507 h 5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9" h="507">
                  <a:moveTo>
                    <a:pt x="435" y="0"/>
                  </a:moveTo>
                  <a:lnTo>
                    <a:pt x="225" y="99"/>
                  </a:lnTo>
                  <a:lnTo>
                    <a:pt x="0" y="210"/>
                  </a:lnTo>
                  <a:lnTo>
                    <a:pt x="63" y="276"/>
                  </a:lnTo>
                  <a:lnTo>
                    <a:pt x="120" y="360"/>
                  </a:lnTo>
                  <a:lnTo>
                    <a:pt x="141" y="429"/>
                  </a:lnTo>
                  <a:lnTo>
                    <a:pt x="174" y="507"/>
                  </a:lnTo>
                  <a:lnTo>
                    <a:pt x="390" y="390"/>
                  </a:lnTo>
                  <a:lnTo>
                    <a:pt x="579" y="279"/>
                  </a:lnTo>
                  <a:lnTo>
                    <a:pt x="540" y="165"/>
                  </a:lnTo>
                  <a:lnTo>
                    <a:pt x="495" y="87"/>
                  </a:lnTo>
                  <a:lnTo>
                    <a:pt x="435"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562" name="Freeform 617"/>
            <p:cNvSpPr>
              <a:spLocks/>
            </p:cNvSpPr>
            <p:nvPr/>
          </p:nvSpPr>
          <p:spPr bwMode="auto">
            <a:xfrm>
              <a:off x="2379" y="1404"/>
              <a:ext cx="630" cy="546"/>
            </a:xfrm>
            <a:custGeom>
              <a:avLst/>
              <a:gdLst>
                <a:gd name="T0" fmla="*/ 459 w 630"/>
                <a:gd name="T1" fmla="*/ 0 h 546"/>
                <a:gd name="T2" fmla="*/ 219 w 630"/>
                <a:gd name="T3" fmla="*/ 144 h 546"/>
                <a:gd name="T4" fmla="*/ 0 w 630"/>
                <a:gd name="T5" fmla="*/ 264 h 546"/>
                <a:gd name="T6" fmla="*/ 57 w 630"/>
                <a:gd name="T7" fmla="*/ 363 h 546"/>
                <a:gd name="T8" fmla="*/ 102 w 630"/>
                <a:gd name="T9" fmla="*/ 441 h 546"/>
                <a:gd name="T10" fmla="*/ 141 w 630"/>
                <a:gd name="T11" fmla="*/ 546 h 546"/>
                <a:gd name="T12" fmla="*/ 411 w 630"/>
                <a:gd name="T13" fmla="*/ 393 h 546"/>
                <a:gd name="T14" fmla="*/ 630 w 630"/>
                <a:gd name="T15" fmla="*/ 243 h 546"/>
                <a:gd name="T16" fmla="*/ 591 w 630"/>
                <a:gd name="T17" fmla="*/ 156 h 546"/>
                <a:gd name="T18" fmla="*/ 555 w 630"/>
                <a:gd name="T19" fmla="*/ 102 h 546"/>
                <a:gd name="T20" fmla="*/ 519 w 630"/>
                <a:gd name="T21" fmla="*/ 51 h 546"/>
                <a:gd name="T22" fmla="*/ 459 w 630"/>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0"/>
                <a:gd name="T37" fmla="*/ 0 h 546"/>
                <a:gd name="T38" fmla="*/ 630 w 630"/>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0" h="546">
                  <a:moveTo>
                    <a:pt x="459" y="0"/>
                  </a:moveTo>
                  <a:lnTo>
                    <a:pt x="219" y="144"/>
                  </a:lnTo>
                  <a:lnTo>
                    <a:pt x="0" y="264"/>
                  </a:lnTo>
                  <a:lnTo>
                    <a:pt x="57" y="363"/>
                  </a:lnTo>
                  <a:lnTo>
                    <a:pt x="102" y="441"/>
                  </a:lnTo>
                  <a:lnTo>
                    <a:pt x="141" y="546"/>
                  </a:lnTo>
                  <a:lnTo>
                    <a:pt x="411" y="393"/>
                  </a:lnTo>
                  <a:lnTo>
                    <a:pt x="630" y="243"/>
                  </a:lnTo>
                  <a:lnTo>
                    <a:pt x="591" y="156"/>
                  </a:lnTo>
                  <a:lnTo>
                    <a:pt x="555" y="102"/>
                  </a:lnTo>
                  <a:lnTo>
                    <a:pt x="519" y="51"/>
                  </a:lnTo>
                  <a:lnTo>
                    <a:pt x="45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63" name="Freeform 618"/>
            <p:cNvSpPr>
              <a:spLocks/>
            </p:cNvSpPr>
            <p:nvPr/>
          </p:nvSpPr>
          <p:spPr bwMode="auto">
            <a:xfrm>
              <a:off x="2850" y="1146"/>
              <a:ext cx="567" cy="492"/>
            </a:xfrm>
            <a:custGeom>
              <a:avLst/>
              <a:gdLst>
                <a:gd name="T0" fmla="*/ 396 w 567"/>
                <a:gd name="T1" fmla="*/ 0 h 492"/>
                <a:gd name="T2" fmla="*/ 210 w 567"/>
                <a:gd name="T3" fmla="*/ 126 h 492"/>
                <a:gd name="T4" fmla="*/ 108 w 567"/>
                <a:gd name="T5" fmla="*/ 186 h 492"/>
                <a:gd name="T6" fmla="*/ 0 w 567"/>
                <a:gd name="T7" fmla="*/ 252 h 492"/>
                <a:gd name="T8" fmla="*/ 57 w 567"/>
                <a:gd name="T9" fmla="*/ 312 h 492"/>
                <a:gd name="T10" fmla="*/ 108 w 567"/>
                <a:gd name="T11" fmla="*/ 378 h 492"/>
                <a:gd name="T12" fmla="*/ 171 w 567"/>
                <a:gd name="T13" fmla="*/ 492 h 492"/>
                <a:gd name="T14" fmla="*/ 387 w 567"/>
                <a:gd name="T15" fmla="*/ 354 h 492"/>
                <a:gd name="T16" fmla="*/ 567 w 567"/>
                <a:gd name="T17" fmla="*/ 243 h 492"/>
                <a:gd name="T18" fmla="*/ 534 w 567"/>
                <a:gd name="T19" fmla="*/ 162 h 492"/>
                <a:gd name="T20" fmla="*/ 504 w 567"/>
                <a:gd name="T21" fmla="*/ 114 h 492"/>
                <a:gd name="T22" fmla="*/ 447 w 567"/>
                <a:gd name="T23" fmla="*/ 42 h 492"/>
                <a:gd name="T24" fmla="*/ 396 w 567"/>
                <a:gd name="T25" fmla="*/ 0 h 4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7"/>
                <a:gd name="T40" fmla="*/ 0 h 492"/>
                <a:gd name="T41" fmla="*/ 567 w 567"/>
                <a:gd name="T42" fmla="*/ 492 h 4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7" h="492">
                  <a:moveTo>
                    <a:pt x="396" y="0"/>
                  </a:moveTo>
                  <a:lnTo>
                    <a:pt x="210" y="126"/>
                  </a:lnTo>
                  <a:lnTo>
                    <a:pt x="108" y="186"/>
                  </a:lnTo>
                  <a:lnTo>
                    <a:pt x="0" y="252"/>
                  </a:lnTo>
                  <a:lnTo>
                    <a:pt x="57" y="312"/>
                  </a:lnTo>
                  <a:lnTo>
                    <a:pt x="108" y="378"/>
                  </a:lnTo>
                  <a:lnTo>
                    <a:pt x="171" y="492"/>
                  </a:lnTo>
                  <a:lnTo>
                    <a:pt x="387" y="354"/>
                  </a:lnTo>
                  <a:lnTo>
                    <a:pt x="567" y="243"/>
                  </a:lnTo>
                  <a:lnTo>
                    <a:pt x="534" y="162"/>
                  </a:lnTo>
                  <a:lnTo>
                    <a:pt x="504" y="114"/>
                  </a:lnTo>
                  <a:lnTo>
                    <a:pt x="447" y="42"/>
                  </a:lnTo>
                  <a:lnTo>
                    <a:pt x="39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64" name="Freeform 619"/>
            <p:cNvSpPr>
              <a:spLocks/>
            </p:cNvSpPr>
            <p:nvPr/>
          </p:nvSpPr>
          <p:spPr bwMode="auto">
            <a:xfrm>
              <a:off x="3258" y="798"/>
              <a:ext cx="570" cy="582"/>
            </a:xfrm>
            <a:custGeom>
              <a:avLst/>
              <a:gdLst>
                <a:gd name="T0" fmla="*/ 534 w 570"/>
                <a:gd name="T1" fmla="*/ 0 h 582"/>
                <a:gd name="T2" fmla="*/ 222 w 570"/>
                <a:gd name="T3" fmla="*/ 210 h 582"/>
                <a:gd name="T4" fmla="*/ 0 w 570"/>
                <a:gd name="T5" fmla="*/ 342 h 582"/>
                <a:gd name="T6" fmla="*/ 42 w 570"/>
                <a:gd name="T7" fmla="*/ 384 h 582"/>
                <a:gd name="T8" fmla="*/ 87 w 570"/>
                <a:gd name="T9" fmla="*/ 438 h 582"/>
                <a:gd name="T10" fmla="*/ 129 w 570"/>
                <a:gd name="T11" fmla="*/ 492 h 582"/>
                <a:gd name="T12" fmla="*/ 165 w 570"/>
                <a:gd name="T13" fmla="*/ 582 h 582"/>
                <a:gd name="T14" fmla="*/ 372 w 570"/>
                <a:gd name="T15" fmla="*/ 438 h 582"/>
                <a:gd name="T16" fmla="*/ 570 w 570"/>
                <a:gd name="T17" fmla="*/ 294 h 582"/>
                <a:gd name="T18" fmla="*/ 534 w 570"/>
                <a:gd name="T19" fmla="*/ 0 h 5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0"/>
                <a:gd name="T31" fmla="*/ 0 h 582"/>
                <a:gd name="T32" fmla="*/ 570 w 570"/>
                <a:gd name="T33" fmla="*/ 582 h 5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0" h="582">
                  <a:moveTo>
                    <a:pt x="534" y="0"/>
                  </a:moveTo>
                  <a:lnTo>
                    <a:pt x="222" y="210"/>
                  </a:lnTo>
                  <a:lnTo>
                    <a:pt x="0" y="342"/>
                  </a:lnTo>
                  <a:lnTo>
                    <a:pt x="42" y="384"/>
                  </a:lnTo>
                  <a:lnTo>
                    <a:pt x="87" y="438"/>
                  </a:lnTo>
                  <a:lnTo>
                    <a:pt x="129" y="492"/>
                  </a:lnTo>
                  <a:lnTo>
                    <a:pt x="165" y="582"/>
                  </a:lnTo>
                  <a:lnTo>
                    <a:pt x="372" y="438"/>
                  </a:lnTo>
                  <a:lnTo>
                    <a:pt x="570" y="294"/>
                  </a:lnTo>
                  <a:lnTo>
                    <a:pt x="534"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65" name="Freeform 620"/>
            <p:cNvSpPr>
              <a:spLocks/>
            </p:cNvSpPr>
            <p:nvPr/>
          </p:nvSpPr>
          <p:spPr bwMode="auto">
            <a:xfrm>
              <a:off x="1758" y="2136"/>
              <a:ext cx="669" cy="561"/>
            </a:xfrm>
            <a:custGeom>
              <a:avLst/>
              <a:gdLst>
                <a:gd name="T0" fmla="*/ 474 w 669"/>
                <a:gd name="T1" fmla="*/ 0 h 561"/>
                <a:gd name="T2" fmla="*/ 243 w 669"/>
                <a:gd name="T3" fmla="*/ 120 h 561"/>
                <a:gd name="T4" fmla="*/ 0 w 669"/>
                <a:gd name="T5" fmla="*/ 231 h 561"/>
                <a:gd name="T6" fmla="*/ 102 w 669"/>
                <a:gd name="T7" fmla="*/ 561 h 561"/>
                <a:gd name="T8" fmla="*/ 330 w 669"/>
                <a:gd name="T9" fmla="*/ 459 h 561"/>
                <a:gd name="T10" fmla="*/ 669 w 669"/>
                <a:gd name="T11" fmla="*/ 291 h 561"/>
                <a:gd name="T12" fmla="*/ 633 w 669"/>
                <a:gd name="T13" fmla="*/ 186 h 561"/>
                <a:gd name="T14" fmla="*/ 597 w 669"/>
                <a:gd name="T15" fmla="*/ 132 h 561"/>
                <a:gd name="T16" fmla="*/ 549 w 669"/>
                <a:gd name="T17" fmla="*/ 60 h 561"/>
                <a:gd name="T18" fmla="*/ 474 w 669"/>
                <a:gd name="T19" fmla="*/ 0 h 5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69"/>
                <a:gd name="T31" fmla="*/ 0 h 561"/>
                <a:gd name="T32" fmla="*/ 669 w 669"/>
                <a:gd name="T33" fmla="*/ 561 h 56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69" h="561">
                  <a:moveTo>
                    <a:pt x="474" y="0"/>
                  </a:moveTo>
                  <a:lnTo>
                    <a:pt x="243" y="120"/>
                  </a:lnTo>
                  <a:lnTo>
                    <a:pt x="0" y="231"/>
                  </a:lnTo>
                  <a:lnTo>
                    <a:pt x="102" y="561"/>
                  </a:lnTo>
                  <a:lnTo>
                    <a:pt x="330" y="459"/>
                  </a:lnTo>
                  <a:lnTo>
                    <a:pt x="669" y="291"/>
                  </a:lnTo>
                  <a:lnTo>
                    <a:pt x="633" y="186"/>
                  </a:lnTo>
                  <a:lnTo>
                    <a:pt x="597" y="132"/>
                  </a:lnTo>
                  <a:lnTo>
                    <a:pt x="549" y="60"/>
                  </a:lnTo>
                  <a:lnTo>
                    <a:pt x="474"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566" name="Freeform 621"/>
            <p:cNvSpPr>
              <a:spLocks/>
            </p:cNvSpPr>
            <p:nvPr/>
          </p:nvSpPr>
          <p:spPr bwMode="auto">
            <a:xfrm>
              <a:off x="2247" y="1842"/>
              <a:ext cx="669" cy="579"/>
            </a:xfrm>
            <a:custGeom>
              <a:avLst/>
              <a:gdLst>
                <a:gd name="T0" fmla="*/ 489 w 669"/>
                <a:gd name="T1" fmla="*/ 0 h 579"/>
                <a:gd name="T2" fmla="*/ 216 w 669"/>
                <a:gd name="T3" fmla="*/ 162 h 579"/>
                <a:gd name="T4" fmla="*/ 0 w 669"/>
                <a:gd name="T5" fmla="*/ 291 h 579"/>
                <a:gd name="T6" fmla="*/ 72 w 669"/>
                <a:gd name="T7" fmla="*/ 354 h 579"/>
                <a:gd name="T8" fmla="*/ 135 w 669"/>
                <a:gd name="T9" fmla="*/ 444 h 579"/>
                <a:gd name="T10" fmla="*/ 195 w 669"/>
                <a:gd name="T11" fmla="*/ 579 h 579"/>
                <a:gd name="T12" fmla="*/ 387 w 669"/>
                <a:gd name="T13" fmla="*/ 471 h 579"/>
                <a:gd name="T14" fmla="*/ 669 w 669"/>
                <a:gd name="T15" fmla="*/ 276 h 579"/>
                <a:gd name="T16" fmla="*/ 645 w 669"/>
                <a:gd name="T17" fmla="*/ 201 h 579"/>
                <a:gd name="T18" fmla="*/ 618 w 669"/>
                <a:gd name="T19" fmla="*/ 150 h 579"/>
                <a:gd name="T20" fmla="*/ 591 w 669"/>
                <a:gd name="T21" fmla="*/ 108 h 579"/>
                <a:gd name="T22" fmla="*/ 543 w 669"/>
                <a:gd name="T23" fmla="*/ 54 h 579"/>
                <a:gd name="T24" fmla="*/ 489 w 669"/>
                <a:gd name="T25" fmla="*/ 0 h 5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69"/>
                <a:gd name="T40" fmla="*/ 0 h 579"/>
                <a:gd name="T41" fmla="*/ 669 w 669"/>
                <a:gd name="T42" fmla="*/ 579 h 5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69" h="579">
                  <a:moveTo>
                    <a:pt x="489" y="0"/>
                  </a:moveTo>
                  <a:lnTo>
                    <a:pt x="216" y="162"/>
                  </a:lnTo>
                  <a:lnTo>
                    <a:pt x="0" y="291"/>
                  </a:lnTo>
                  <a:lnTo>
                    <a:pt x="72" y="354"/>
                  </a:lnTo>
                  <a:lnTo>
                    <a:pt x="135" y="444"/>
                  </a:lnTo>
                  <a:lnTo>
                    <a:pt x="195" y="579"/>
                  </a:lnTo>
                  <a:lnTo>
                    <a:pt x="387" y="471"/>
                  </a:lnTo>
                  <a:lnTo>
                    <a:pt x="669" y="276"/>
                  </a:lnTo>
                  <a:lnTo>
                    <a:pt x="645" y="201"/>
                  </a:lnTo>
                  <a:lnTo>
                    <a:pt x="618" y="150"/>
                  </a:lnTo>
                  <a:lnTo>
                    <a:pt x="591" y="108"/>
                  </a:lnTo>
                  <a:lnTo>
                    <a:pt x="543" y="54"/>
                  </a:lnTo>
                  <a:lnTo>
                    <a:pt x="48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67" name="Freeform 622"/>
            <p:cNvSpPr>
              <a:spLocks/>
            </p:cNvSpPr>
            <p:nvPr/>
          </p:nvSpPr>
          <p:spPr bwMode="auto">
            <a:xfrm>
              <a:off x="2742" y="1533"/>
              <a:ext cx="654" cy="582"/>
            </a:xfrm>
            <a:custGeom>
              <a:avLst/>
              <a:gdLst>
                <a:gd name="T0" fmla="*/ 480 w 654"/>
                <a:gd name="T1" fmla="*/ 0 h 582"/>
                <a:gd name="T2" fmla="*/ 249 w 654"/>
                <a:gd name="T3" fmla="*/ 150 h 582"/>
                <a:gd name="T4" fmla="*/ 0 w 654"/>
                <a:gd name="T5" fmla="*/ 300 h 582"/>
                <a:gd name="T6" fmla="*/ 66 w 654"/>
                <a:gd name="T7" fmla="*/ 372 h 582"/>
                <a:gd name="T8" fmla="*/ 120 w 654"/>
                <a:gd name="T9" fmla="*/ 435 h 582"/>
                <a:gd name="T10" fmla="*/ 189 w 654"/>
                <a:gd name="T11" fmla="*/ 582 h 582"/>
                <a:gd name="T12" fmla="*/ 360 w 654"/>
                <a:gd name="T13" fmla="*/ 471 h 582"/>
                <a:gd name="T14" fmla="*/ 654 w 654"/>
                <a:gd name="T15" fmla="*/ 246 h 582"/>
                <a:gd name="T16" fmla="*/ 606 w 654"/>
                <a:gd name="T17" fmla="*/ 153 h 582"/>
                <a:gd name="T18" fmla="*/ 543 w 654"/>
                <a:gd name="T19" fmla="*/ 54 h 582"/>
                <a:gd name="T20" fmla="*/ 480 w 654"/>
                <a:gd name="T21" fmla="*/ 0 h 5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4"/>
                <a:gd name="T34" fmla="*/ 0 h 582"/>
                <a:gd name="T35" fmla="*/ 654 w 654"/>
                <a:gd name="T36" fmla="*/ 582 h 5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4" h="582">
                  <a:moveTo>
                    <a:pt x="480" y="0"/>
                  </a:moveTo>
                  <a:lnTo>
                    <a:pt x="249" y="150"/>
                  </a:lnTo>
                  <a:lnTo>
                    <a:pt x="0" y="300"/>
                  </a:lnTo>
                  <a:lnTo>
                    <a:pt x="66" y="372"/>
                  </a:lnTo>
                  <a:lnTo>
                    <a:pt x="120" y="435"/>
                  </a:lnTo>
                  <a:lnTo>
                    <a:pt x="189" y="582"/>
                  </a:lnTo>
                  <a:lnTo>
                    <a:pt x="360" y="471"/>
                  </a:lnTo>
                  <a:lnTo>
                    <a:pt x="654" y="246"/>
                  </a:lnTo>
                  <a:lnTo>
                    <a:pt x="606" y="153"/>
                  </a:lnTo>
                  <a:lnTo>
                    <a:pt x="543" y="54"/>
                  </a:lnTo>
                  <a:lnTo>
                    <a:pt x="480"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7568" name="Freeform 623"/>
            <p:cNvSpPr>
              <a:spLocks/>
            </p:cNvSpPr>
            <p:nvPr/>
          </p:nvSpPr>
          <p:spPr bwMode="auto">
            <a:xfrm>
              <a:off x="3234" y="1239"/>
              <a:ext cx="555" cy="537"/>
            </a:xfrm>
            <a:custGeom>
              <a:avLst/>
              <a:gdLst>
                <a:gd name="T0" fmla="*/ 423 w 555"/>
                <a:gd name="T1" fmla="*/ 0 h 537"/>
                <a:gd name="T2" fmla="*/ 219 w 555"/>
                <a:gd name="T3" fmla="*/ 144 h 537"/>
                <a:gd name="T4" fmla="*/ 0 w 555"/>
                <a:gd name="T5" fmla="*/ 285 h 537"/>
                <a:gd name="T6" fmla="*/ 66 w 555"/>
                <a:gd name="T7" fmla="*/ 354 h 537"/>
                <a:gd name="T8" fmla="*/ 132 w 555"/>
                <a:gd name="T9" fmla="*/ 447 h 537"/>
                <a:gd name="T10" fmla="*/ 177 w 555"/>
                <a:gd name="T11" fmla="*/ 537 h 537"/>
                <a:gd name="T12" fmla="*/ 312 w 555"/>
                <a:gd name="T13" fmla="*/ 444 h 537"/>
                <a:gd name="T14" fmla="*/ 555 w 555"/>
                <a:gd name="T15" fmla="*/ 240 h 537"/>
                <a:gd name="T16" fmla="*/ 525 w 555"/>
                <a:gd name="T17" fmla="*/ 135 h 537"/>
                <a:gd name="T18" fmla="*/ 504 w 555"/>
                <a:gd name="T19" fmla="*/ 75 h 537"/>
                <a:gd name="T20" fmla="*/ 459 w 555"/>
                <a:gd name="T21" fmla="*/ 36 h 537"/>
                <a:gd name="T22" fmla="*/ 423 w 555"/>
                <a:gd name="T23" fmla="*/ 0 h 5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5"/>
                <a:gd name="T37" fmla="*/ 0 h 537"/>
                <a:gd name="T38" fmla="*/ 555 w 555"/>
                <a:gd name="T39" fmla="*/ 537 h 5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5" h="537">
                  <a:moveTo>
                    <a:pt x="423" y="0"/>
                  </a:moveTo>
                  <a:lnTo>
                    <a:pt x="219" y="144"/>
                  </a:lnTo>
                  <a:lnTo>
                    <a:pt x="0" y="285"/>
                  </a:lnTo>
                  <a:lnTo>
                    <a:pt x="66" y="354"/>
                  </a:lnTo>
                  <a:lnTo>
                    <a:pt x="132" y="447"/>
                  </a:lnTo>
                  <a:lnTo>
                    <a:pt x="177" y="537"/>
                  </a:lnTo>
                  <a:lnTo>
                    <a:pt x="312" y="444"/>
                  </a:lnTo>
                  <a:lnTo>
                    <a:pt x="555" y="240"/>
                  </a:lnTo>
                  <a:lnTo>
                    <a:pt x="525" y="135"/>
                  </a:lnTo>
                  <a:lnTo>
                    <a:pt x="504" y="75"/>
                  </a:lnTo>
                  <a:lnTo>
                    <a:pt x="459" y="36"/>
                  </a:lnTo>
                  <a:lnTo>
                    <a:pt x="42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69" name="Freeform 624"/>
            <p:cNvSpPr>
              <a:spLocks/>
            </p:cNvSpPr>
            <p:nvPr/>
          </p:nvSpPr>
          <p:spPr bwMode="auto">
            <a:xfrm>
              <a:off x="3675" y="1107"/>
              <a:ext cx="204" cy="366"/>
            </a:xfrm>
            <a:custGeom>
              <a:avLst/>
              <a:gdLst>
                <a:gd name="T0" fmla="*/ 165 w 204"/>
                <a:gd name="T1" fmla="*/ 0 h 366"/>
                <a:gd name="T2" fmla="*/ 0 w 204"/>
                <a:gd name="T3" fmla="*/ 123 h 366"/>
                <a:gd name="T4" fmla="*/ 36 w 204"/>
                <a:gd name="T5" fmla="*/ 174 h 366"/>
                <a:gd name="T6" fmla="*/ 75 w 204"/>
                <a:gd name="T7" fmla="*/ 216 h 366"/>
                <a:gd name="T8" fmla="*/ 120 w 204"/>
                <a:gd name="T9" fmla="*/ 366 h 366"/>
                <a:gd name="T10" fmla="*/ 204 w 204"/>
                <a:gd name="T11" fmla="*/ 318 h 366"/>
                <a:gd name="T12" fmla="*/ 165 w 204"/>
                <a:gd name="T13" fmla="*/ 0 h 366"/>
                <a:gd name="T14" fmla="*/ 0 60000 65536"/>
                <a:gd name="T15" fmla="*/ 0 60000 65536"/>
                <a:gd name="T16" fmla="*/ 0 60000 65536"/>
                <a:gd name="T17" fmla="*/ 0 60000 65536"/>
                <a:gd name="T18" fmla="*/ 0 60000 65536"/>
                <a:gd name="T19" fmla="*/ 0 60000 65536"/>
                <a:gd name="T20" fmla="*/ 0 60000 65536"/>
                <a:gd name="T21" fmla="*/ 0 w 204"/>
                <a:gd name="T22" fmla="*/ 0 h 366"/>
                <a:gd name="T23" fmla="*/ 204 w 204"/>
                <a:gd name="T24" fmla="*/ 366 h 3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4" h="366">
                  <a:moveTo>
                    <a:pt x="165" y="0"/>
                  </a:moveTo>
                  <a:lnTo>
                    <a:pt x="0" y="123"/>
                  </a:lnTo>
                  <a:lnTo>
                    <a:pt x="36" y="174"/>
                  </a:lnTo>
                  <a:lnTo>
                    <a:pt x="75" y="216"/>
                  </a:lnTo>
                  <a:lnTo>
                    <a:pt x="120" y="366"/>
                  </a:lnTo>
                  <a:lnTo>
                    <a:pt x="204" y="318"/>
                  </a:lnTo>
                  <a:lnTo>
                    <a:pt x="1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70" name="Freeform 625"/>
            <p:cNvSpPr>
              <a:spLocks/>
            </p:cNvSpPr>
            <p:nvPr/>
          </p:nvSpPr>
          <p:spPr bwMode="auto">
            <a:xfrm>
              <a:off x="1866" y="2505"/>
              <a:ext cx="642" cy="537"/>
            </a:xfrm>
            <a:custGeom>
              <a:avLst/>
              <a:gdLst>
                <a:gd name="T0" fmla="*/ 450 w 642"/>
                <a:gd name="T1" fmla="*/ 0 h 537"/>
                <a:gd name="T2" fmla="*/ 222 w 642"/>
                <a:gd name="T3" fmla="*/ 111 h 537"/>
                <a:gd name="T4" fmla="*/ 0 w 642"/>
                <a:gd name="T5" fmla="*/ 207 h 537"/>
                <a:gd name="T6" fmla="*/ 84 w 642"/>
                <a:gd name="T7" fmla="*/ 537 h 537"/>
                <a:gd name="T8" fmla="*/ 213 w 642"/>
                <a:gd name="T9" fmla="*/ 489 h 537"/>
                <a:gd name="T10" fmla="*/ 366 w 642"/>
                <a:gd name="T11" fmla="*/ 423 h 537"/>
                <a:gd name="T12" fmla="*/ 510 w 642"/>
                <a:gd name="T13" fmla="*/ 351 h 537"/>
                <a:gd name="T14" fmla="*/ 642 w 642"/>
                <a:gd name="T15" fmla="*/ 285 h 537"/>
                <a:gd name="T16" fmla="*/ 579 w 642"/>
                <a:gd name="T17" fmla="*/ 141 h 537"/>
                <a:gd name="T18" fmla="*/ 522 w 642"/>
                <a:gd name="T19" fmla="*/ 69 h 537"/>
                <a:gd name="T20" fmla="*/ 450 w 642"/>
                <a:gd name="T21" fmla="*/ 0 h 5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2"/>
                <a:gd name="T34" fmla="*/ 0 h 537"/>
                <a:gd name="T35" fmla="*/ 642 w 642"/>
                <a:gd name="T36" fmla="*/ 537 h 5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2" h="537">
                  <a:moveTo>
                    <a:pt x="450" y="0"/>
                  </a:moveTo>
                  <a:lnTo>
                    <a:pt x="222" y="111"/>
                  </a:lnTo>
                  <a:lnTo>
                    <a:pt x="0" y="207"/>
                  </a:lnTo>
                  <a:lnTo>
                    <a:pt x="84" y="537"/>
                  </a:lnTo>
                  <a:lnTo>
                    <a:pt x="213" y="489"/>
                  </a:lnTo>
                  <a:lnTo>
                    <a:pt x="366" y="423"/>
                  </a:lnTo>
                  <a:lnTo>
                    <a:pt x="510" y="351"/>
                  </a:lnTo>
                  <a:lnTo>
                    <a:pt x="642" y="285"/>
                  </a:lnTo>
                  <a:lnTo>
                    <a:pt x="579" y="141"/>
                  </a:lnTo>
                  <a:lnTo>
                    <a:pt x="522" y="69"/>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71" name="Freeform 626"/>
            <p:cNvSpPr>
              <a:spLocks/>
            </p:cNvSpPr>
            <p:nvPr/>
          </p:nvSpPr>
          <p:spPr bwMode="auto">
            <a:xfrm>
              <a:off x="2331" y="2238"/>
              <a:ext cx="606" cy="549"/>
            </a:xfrm>
            <a:custGeom>
              <a:avLst/>
              <a:gdLst>
                <a:gd name="T0" fmla="*/ 438 w 606"/>
                <a:gd name="T1" fmla="*/ 0 h 549"/>
                <a:gd name="T2" fmla="*/ 246 w 606"/>
                <a:gd name="T3" fmla="*/ 126 h 549"/>
                <a:gd name="T4" fmla="*/ 0 w 606"/>
                <a:gd name="T5" fmla="*/ 261 h 549"/>
                <a:gd name="T6" fmla="*/ 57 w 606"/>
                <a:gd name="T7" fmla="*/ 324 h 549"/>
                <a:gd name="T8" fmla="*/ 105 w 606"/>
                <a:gd name="T9" fmla="*/ 384 h 549"/>
                <a:gd name="T10" fmla="*/ 153 w 606"/>
                <a:gd name="T11" fmla="*/ 465 h 549"/>
                <a:gd name="T12" fmla="*/ 183 w 606"/>
                <a:gd name="T13" fmla="*/ 549 h 549"/>
                <a:gd name="T14" fmla="*/ 411 w 606"/>
                <a:gd name="T15" fmla="*/ 420 h 549"/>
                <a:gd name="T16" fmla="*/ 606 w 606"/>
                <a:gd name="T17" fmla="*/ 294 h 549"/>
                <a:gd name="T18" fmla="*/ 540 w 606"/>
                <a:gd name="T19" fmla="*/ 147 h 549"/>
                <a:gd name="T20" fmla="*/ 489 w 606"/>
                <a:gd name="T21" fmla="*/ 63 h 549"/>
                <a:gd name="T22" fmla="*/ 438 w 606"/>
                <a:gd name="T23" fmla="*/ 0 h 5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6"/>
                <a:gd name="T37" fmla="*/ 0 h 549"/>
                <a:gd name="T38" fmla="*/ 606 w 606"/>
                <a:gd name="T39" fmla="*/ 549 h 5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6" h="549">
                  <a:moveTo>
                    <a:pt x="438" y="0"/>
                  </a:moveTo>
                  <a:lnTo>
                    <a:pt x="246" y="126"/>
                  </a:lnTo>
                  <a:lnTo>
                    <a:pt x="0" y="261"/>
                  </a:lnTo>
                  <a:lnTo>
                    <a:pt x="57" y="324"/>
                  </a:lnTo>
                  <a:lnTo>
                    <a:pt x="105" y="384"/>
                  </a:lnTo>
                  <a:lnTo>
                    <a:pt x="153" y="465"/>
                  </a:lnTo>
                  <a:lnTo>
                    <a:pt x="183" y="549"/>
                  </a:lnTo>
                  <a:lnTo>
                    <a:pt x="411" y="420"/>
                  </a:lnTo>
                  <a:lnTo>
                    <a:pt x="606" y="294"/>
                  </a:lnTo>
                  <a:lnTo>
                    <a:pt x="540" y="147"/>
                  </a:lnTo>
                  <a:lnTo>
                    <a:pt x="489" y="63"/>
                  </a:lnTo>
                  <a:lnTo>
                    <a:pt x="438"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7572" name="Freeform 627"/>
            <p:cNvSpPr>
              <a:spLocks/>
            </p:cNvSpPr>
            <p:nvPr/>
          </p:nvSpPr>
          <p:spPr bwMode="auto">
            <a:xfrm>
              <a:off x="2775" y="1926"/>
              <a:ext cx="645" cy="597"/>
            </a:xfrm>
            <a:custGeom>
              <a:avLst/>
              <a:gdLst>
                <a:gd name="T0" fmla="*/ 453 w 645"/>
                <a:gd name="T1" fmla="*/ 0 h 597"/>
                <a:gd name="T2" fmla="*/ 231 w 645"/>
                <a:gd name="T3" fmla="*/ 153 h 597"/>
                <a:gd name="T4" fmla="*/ 0 w 645"/>
                <a:gd name="T5" fmla="*/ 306 h 597"/>
                <a:gd name="T6" fmla="*/ 48 w 645"/>
                <a:gd name="T7" fmla="*/ 369 h 597"/>
                <a:gd name="T8" fmla="*/ 93 w 645"/>
                <a:gd name="T9" fmla="*/ 432 h 597"/>
                <a:gd name="T10" fmla="*/ 132 w 645"/>
                <a:gd name="T11" fmla="*/ 507 h 597"/>
                <a:gd name="T12" fmla="*/ 171 w 645"/>
                <a:gd name="T13" fmla="*/ 597 h 597"/>
                <a:gd name="T14" fmla="*/ 411 w 645"/>
                <a:gd name="T15" fmla="*/ 411 h 597"/>
                <a:gd name="T16" fmla="*/ 645 w 645"/>
                <a:gd name="T17" fmla="*/ 216 h 597"/>
                <a:gd name="T18" fmla="*/ 618 w 645"/>
                <a:gd name="T19" fmla="*/ 153 h 597"/>
                <a:gd name="T20" fmla="*/ 567 w 645"/>
                <a:gd name="T21" fmla="*/ 90 h 597"/>
                <a:gd name="T22" fmla="*/ 516 w 645"/>
                <a:gd name="T23" fmla="*/ 39 h 597"/>
                <a:gd name="T24" fmla="*/ 453 w 645"/>
                <a:gd name="T25" fmla="*/ 0 h 5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5"/>
                <a:gd name="T40" fmla="*/ 0 h 597"/>
                <a:gd name="T41" fmla="*/ 645 w 645"/>
                <a:gd name="T42" fmla="*/ 597 h 5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5" h="597">
                  <a:moveTo>
                    <a:pt x="453" y="0"/>
                  </a:moveTo>
                  <a:lnTo>
                    <a:pt x="231" y="153"/>
                  </a:lnTo>
                  <a:lnTo>
                    <a:pt x="0" y="306"/>
                  </a:lnTo>
                  <a:lnTo>
                    <a:pt x="48" y="369"/>
                  </a:lnTo>
                  <a:lnTo>
                    <a:pt x="93" y="432"/>
                  </a:lnTo>
                  <a:lnTo>
                    <a:pt x="132" y="507"/>
                  </a:lnTo>
                  <a:lnTo>
                    <a:pt x="171" y="597"/>
                  </a:lnTo>
                  <a:lnTo>
                    <a:pt x="411" y="411"/>
                  </a:lnTo>
                  <a:lnTo>
                    <a:pt x="645" y="216"/>
                  </a:lnTo>
                  <a:lnTo>
                    <a:pt x="618" y="153"/>
                  </a:lnTo>
                  <a:lnTo>
                    <a:pt x="567" y="90"/>
                  </a:lnTo>
                  <a:lnTo>
                    <a:pt x="516" y="39"/>
                  </a:lnTo>
                  <a:lnTo>
                    <a:pt x="45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73" name="Freeform 628"/>
            <p:cNvSpPr>
              <a:spLocks/>
            </p:cNvSpPr>
            <p:nvPr/>
          </p:nvSpPr>
          <p:spPr bwMode="auto">
            <a:xfrm>
              <a:off x="3240" y="1590"/>
              <a:ext cx="567" cy="546"/>
            </a:xfrm>
            <a:custGeom>
              <a:avLst/>
              <a:gdLst>
                <a:gd name="T0" fmla="*/ 441 w 567"/>
                <a:gd name="T1" fmla="*/ 0 h 546"/>
                <a:gd name="T2" fmla="*/ 237 w 567"/>
                <a:gd name="T3" fmla="*/ 150 h 546"/>
                <a:gd name="T4" fmla="*/ 0 w 567"/>
                <a:gd name="T5" fmla="*/ 330 h 546"/>
                <a:gd name="T6" fmla="*/ 54 w 567"/>
                <a:gd name="T7" fmla="*/ 366 h 546"/>
                <a:gd name="T8" fmla="*/ 117 w 567"/>
                <a:gd name="T9" fmla="*/ 429 h 546"/>
                <a:gd name="T10" fmla="*/ 168 w 567"/>
                <a:gd name="T11" fmla="*/ 492 h 546"/>
                <a:gd name="T12" fmla="*/ 192 w 567"/>
                <a:gd name="T13" fmla="*/ 546 h 546"/>
                <a:gd name="T14" fmla="*/ 369 w 567"/>
                <a:gd name="T15" fmla="*/ 396 h 546"/>
                <a:gd name="T16" fmla="*/ 567 w 567"/>
                <a:gd name="T17" fmla="*/ 204 h 546"/>
                <a:gd name="T18" fmla="*/ 531 w 567"/>
                <a:gd name="T19" fmla="*/ 111 h 546"/>
                <a:gd name="T20" fmla="*/ 483 w 567"/>
                <a:gd name="T21" fmla="*/ 39 h 546"/>
                <a:gd name="T22" fmla="*/ 441 w 567"/>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67"/>
                <a:gd name="T37" fmla="*/ 0 h 546"/>
                <a:gd name="T38" fmla="*/ 567 w 567"/>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67" h="546">
                  <a:moveTo>
                    <a:pt x="441" y="0"/>
                  </a:moveTo>
                  <a:lnTo>
                    <a:pt x="237" y="150"/>
                  </a:lnTo>
                  <a:lnTo>
                    <a:pt x="0" y="330"/>
                  </a:lnTo>
                  <a:lnTo>
                    <a:pt x="54" y="366"/>
                  </a:lnTo>
                  <a:lnTo>
                    <a:pt x="117" y="429"/>
                  </a:lnTo>
                  <a:lnTo>
                    <a:pt x="168" y="492"/>
                  </a:lnTo>
                  <a:lnTo>
                    <a:pt x="192" y="546"/>
                  </a:lnTo>
                  <a:lnTo>
                    <a:pt x="369" y="396"/>
                  </a:lnTo>
                  <a:lnTo>
                    <a:pt x="567" y="204"/>
                  </a:lnTo>
                  <a:lnTo>
                    <a:pt x="531" y="111"/>
                  </a:lnTo>
                  <a:lnTo>
                    <a:pt x="483" y="39"/>
                  </a:lnTo>
                  <a:lnTo>
                    <a:pt x="44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74" name="Freeform 629"/>
            <p:cNvSpPr>
              <a:spLocks/>
            </p:cNvSpPr>
            <p:nvPr/>
          </p:nvSpPr>
          <p:spPr bwMode="auto">
            <a:xfrm>
              <a:off x="3684" y="1434"/>
              <a:ext cx="234" cy="345"/>
            </a:xfrm>
            <a:custGeom>
              <a:avLst/>
              <a:gdLst>
                <a:gd name="T0" fmla="*/ 198 w 234"/>
                <a:gd name="T1" fmla="*/ 0 h 345"/>
                <a:gd name="T2" fmla="*/ 111 w 234"/>
                <a:gd name="T3" fmla="*/ 54 h 345"/>
                <a:gd name="T4" fmla="*/ 0 w 234"/>
                <a:gd name="T5" fmla="*/ 153 h 345"/>
                <a:gd name="T6" fmla="*/ 45 w 234"/>
                <a:gd name="T7" fmla="*/ 192 h 345"/>
                <a:gd name="T8" fmla="*/ 75 w 234"/>
                <a:gd name="T9" fmla="*/ 234 h 345"/>
                <a:gd name="T10" fmla="*/ 129 w 234"/>
                <a:gd name="T11" fmla="*/ 345 h 345"/>
                <a:gd name="T12" fmla="*/ 234 w 234"/>
                <a:gd name="T13" fmla="*/ 252 h 345"/>
                <a:gd name="T14" fmla="*/ 198 w 234"/>
                <a:gd name="T15" fmla="*/ 0 h 345"/>
                <a:gd name="T16" fmla="*/ 0 60000 65536"/>
                <a:gd name="T17" fmla="*/ 0 60000 65536"/>
                <a:gd name="T18" fmla="*/ 0 60000 65536"/>
                <a:gd name="T19" fmla="*/ 0 60000 65536"/>
                <a:gd name="T20" fmla="*/ 0 60000 65536"/>
                <a:gd name="T21" fmla="*/ 0 60000 65536"/>
                <a:gd name="T22" fmla="*/ 0 60000 65536"/>
                <a:gd name="T23" fmla="*/ 0 60000 65536"/>
                <a:gd name="T24" fmla="*/ 0 w 234"/>
                <a:gd name="T25" fmla="*/ 0 h 345"/>
                <a:gd name="T26" fmla="*/ 234 w 234"/>
                <a:gd name="T27" fmla="*/ 345 h 3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4" h="345">
                  <a:moveTo>
                    <a:pt x="198" y="0"/>
                  </a:moveTo>
                  <a:lnTo>
                    <a:pt x="111" y="54"/>
                  </a:lnTo>
                  <a:lnTo>
                    <a:pt x="0" y="153"/>
                  </a:lnTo>
                  <a:lnTo>
                    <a:pt x="45" y="192"/>
                  </a:lnTo>
                  <a:lnTo>
                    <a:pt x="75" y="234"/>
                  </a:lnTo>
                  <a:lnTo>
                    <a:pt x="129" y="345"/>
                  </a:lnTo>
                  <a:lnTo>
                    <a:pt x="234" y="252"/>
                  </a:lnTo>
                  <a:lnTo>
                    <a:pt x="19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75" name="Freeform 630"/>
            <p:cNvSpPr>
              <a:spLocks/>
            </p:cNvSpPr>
            <p:nvPr/>
          </p:nvSpPr>
          <p:spPr bwMode="auto">
            <a:xfrm>
              <a:off x="1956" y="2859"/>
              <a:ext cx="624" cy="555"/>
            </a:xfrm>
            <a:custGeom>
              <a:avLst/>
              <a:gdLst>
                <a:gd name="T0" fmla="*/ 447 w 624"/>
                <a:gd name="T1" fmla="*/ 0 h 555"/>
                <a:gd name="T2" fmla="*/ 222 w 624"/>
                <a:gd name="T3" fmla="*/ 117 h 555"/>
                <a:gd name="T4" fmla="*/ 0 w 624"/>
                <a:gd name="T5" fmla="*/ 198 h 555"/>
                <a:gd name="T6" fmla="*/ 60 w 624"/>
                <a:gd name="T7" fmla="*/ 555 h 555"/>
                <a:gd name="T8" fmla="*/ 213 w 624"/>
                <a:gd name="T9" fmla="*/ 489 h 555"/>
                <a:gd name="T10" fmla="*/ 369 w 624"/>
                <a:gd name="T11" fmla="*/ 408 h 555"/>
                <a:gd name="T12" fmla="*/ 489 w 624"/>
                <a:gd name="T13" fmla="*/ 342 h 555"/>
                <a:gd name="T14" fmla="*/ 624 w 624"/>
                <a:gd name="T15" fmla="*/ 267 h 555"/>
                <a:gd name="T16" fmla="*/ 591 w 624"/>
                <a:gd name="T17" fmla="*/ 162 h 555"/>
                <a:gd name="T18" fmla="*/ 546 w 624"/>
                <a:gd name="T19" fmla="*/ 84 h 555"/>
                <a:gd name="T20" fmla="*/ 495 w 624"/>
                <a:gd name="T21" fmla="*/ 39 h 555"/>
                <a:gd name="T22" fmla="*/ 447 w 624"/>
                <a:gd name="T23" fmla="*/ 0 h 5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4"/>
                <a:gd name="T37" fmla="*/ 0 h 555"/>
                <a:gd name="T38" fmla="*/ 624 w 624"/>
                <a:gd name="T39" fmla="*/ 555 h 5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4" h="555">
                  <a:moveTo>
                    <a:pt x="447" y="0"/>
                  </a:moveTo>
                  <a:lnTo>
                    <a:pt x="222" y="117"/>
                  </a:lnTo>
                  <a:lnTo>
                    <a:pt x="0" y="198"/>
                  </a:lnTo>
                  <a:lnTo>
                    <a:pt x="60" y="555"/>
                  </a:lnTo>
                  <a:lnTo>
                    <a:pt x="213" y="489"/>
                  </a:lnTo>
                  <a:lnTo>
                    <a:pt x="369" y="408"/>
                  </a:lnTo>
                  <a:lnTo>
                    <a:pt x="489" y="342"/>
                  </a:lnTo>
                  <a:lnTo>
                    <a:pt x="624" y="267"/>
                  </a:lnTo>
                  <a:lnTo>
                    <a:pt x="591" y="162"/>
                  </a:lnTo>
                  <a:lnTo>
                    <a:pt x="546" y="84"/>
                  </a:lnTo>
                  <a:lnTo>
                    <a:pt x="495" y="39"/>
                  </a:lnTo>
                  <a:lnTo>
                    <a:pt x="447"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576" name="Freeform 631"/>
            <p:cNvSpPr>
              <a:spLocks/>
            </p:cNvSpPr>
            <p:nvPr/>
          </p:nvSpPr>
          <p:spPr bwMode="auto">
            <a:xfrm>
              <a:off x="2418" y="2595"/>
              <a:ext cx="576" cy="525"/>
            </a:xfrm>
            <a:custGeom>
              <a:avLst/>
              <a:gdLst>
                <a:gd name="T0" fmla="*/ 450 w 576"/>
                <a:gd name="T1" fmla="*/ 0 h 525"/>
                <a:gd name="T2" fmla="*/ 255 w 576"/>
                <a:gd name="T3" fmla="*/ 120 h 525"/>
                <a:gd name="T4" fmla="*/ 0 w 576"/>
                <a:gd name="T5" fmla="*/ 264 h 525"/>
                <a:gd name="T6" fmla="*/ 66 w 576"/>
                <a:gd name="T7" fmla="*/ 318 h 525"/>
                <a:gd name="T8" fmla="*/ 114 w 576"/>
                <a:gd name="T9" fmla="*/ 378 h 525"/>
                <a:gd name="T10" fmla="*/ 150 w 576"/>
                <a:gd name="T11" fmla="*/ 456 h 525"/>
                <a:gd name="T12" fmla="*/ 171 w 576"/>
                <a:gd name="T13" fmla="*/ 525 h 525"/>
                <a:gd name="T14" fmla="*/ 387 w 576"/>
                <a:gd name="T15" fmla="*/ 369 h 525"/>
                <a:gd name="T16" fmla="*/ 576 w 576"/>
                <a:gd name="T17" fmla="*/ 228 h 525"/>
                <a:gd name="T18" fmla="*/ 549 w 576"/>
                <a:gd name="T19" fmla="*/ 141 h 525"/>
                <a:gd name="T20" fmla="*/ 498 w 576"/>
                <a:gd name="T21" fmla="*/ 57 h 525"/>
                <a:gd name="T22" fmla="*/ 450 w 576"/>
                <a:gd name="T23" fmla="*/ 0 h 5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6"/>
                <a:gd name="T37" fmla="*/ 0 h 525"/>
                <a:gd name="T38" fmla="*/ 576 w 576"/>
                <a:gd name="T39" fmla="*/ 525 h 5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6" h="525">
                  <a:moveTo>
                    <a:pt x="450" y="0"/>
                  </a:moveTo>
                  <a:lnTo>
                    <a:pt x="255" y="120"/>
                  </a:lnTo>
                  <a:lnTo>
                    <a:pt x="0" y="264"/>
                  </a:lnTo>
                  <a:lnTo>
                    <a:pt x="66" y="318"/>
                  </a:lnTo>
                  <a:lnTo>
                    <a:pt x="114" y="378"/>
                  </a:lnTo>
                  <a:lnTo>
                    <a:pt x="150" y="456"/>
                  </a:lnTo>
                  <a:lnTo>
                    <a:pt x="171" y="525"/>
                  </a:lnTo>
                  <a:lnTo>
                    <a:pt x="387" y="369"/>
                  </a:lnTo>
                  <a:lnTo>
                    <a:pt x="576" y="228"/>
                  </a:lnTo>
                  <a:lnTo>
                    <a:pt x="549" y="141"/>
                  </a:lnTo>
                  <a:lnTo>
                    <a:pt x="498" y="57"/>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77" name="Freeform 632"/>
            <p:cNvSpPr>
              <a:spLocks/>
            </p:cNvSpPr>
            <p:nvPr/>
          </p:nvSpPr>
          <p:spPr bwMode="auto">
            <a:xfrm>
              <a:off x="2880" y="2301"/>
              <a:ext cx="522" cy="519"/>
            </a:xfrm>
            <a:custGeom>
              <a:avLst/>
              <a:gdLst>
                <a:gd name="T0" fmla="*/ 375 w 522"/>
                <a:gd name="T1" fmla="*/ 0 h 519"/>
                <a:gd name="T2" fmla="*/ 219 w 522"/>
                <a:gd name="T3" fmla="*/ 120 h 519"/>
                <a:gd name="T4" fmla="*/ 0 w 522"/>
                <a:gd name="T5" fmla="*/ 285 h 519"/>
                <a:gd name="T6" fmla="*/ 33 w 522"/>
                <a:gd name="T7" fmla="*/ 330 h 519"/>
                <a:gd name="T8" fmla="*/ 84 w 522"/>
                <a:gd name="T9" fmla="*/ 393 h 519"/>
                <a:gd name="T10" fmla="*/ 108 w 522"/>
                <a:gd name="T11" fmla="*/ 453 h 519"/>
                <a:gd name="T12" fmla="*/ 126 w 522"/>
                <a:gd name="T13" fmla="*/ 519 h 519"/>
                <a:gd name="T14" fmla="*/ 330 w 522"/>
                <a:gd name="T15" fmla="*/ 354 h 519"/>
                <a:gd name="T16" fmla="*/ 522 w 522"/>
                <a:gd name="T17" fmla="*/ 183 h 519"/>
                <a:gd name="T18" fmla="*/ 489 w 522"/>
                <a:gd name="T19" fmla="*/ 120 h 519"/>
                <a:gd name="T20" fmla="*/ 468 w 522"/>
                <a:gd name="T21" fmla="*/ 84 h 519"/>
                <a:gd name="T22" fmla="*/ 444 w 522"/>
                <a:gd name="T23" fmla="*/ 54 h 519"/>
                <a:gd name="T24" fmla="*/ 375 w 522"/>
                <a:gd name="T25" fmla="*/ 0 h 5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2"/>
                <a:gd name="T40" fmla="*/ 0 h 519"/>
                <a:gd name="T41" fmla="*/ 522 w 522"/>
                <a:gd name="T42" fmla="*/ 519 h 5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2" h="519">
                  <a:moveTo>
                    <a:pt x="375" y="0"/>
                  </a:moveTo>
                  <a:lnTo>
                    <a:pt x="219" y="120"/>
                  </a:lnTo>
                  <a:lnTo>
                    <a:pt x="0" y="285"/>
                  </a:lnTo>
                  <a:lnTo>
                    <a:pt x="33" y="330"/>
                  </a:lnTo>
                  <a:lnTo>
                    <a:pt x="84" y="393"/>
                  </a:lnTo>
                  <a:lnTo>
                    <a:pt x="108" y="453"/>
                  </a:lnTo>
                  <a:lnTo>
                    <a:pt x="126" y="519"/>
                  </a:lnTo>
                  <a:lnTo>
                    <a:pt x="330" y="354"/>
                  </a:lnTo>
                  <a:lnTo>
                    <a:pt x="522" y="183"/>
                  </a:lnTo>
                  <a:lnTo>
                    <a:pt x="489" y="120"/>
                  </a:lnTo>
                  <a:lnTo>
                    <a:pt x="468" y="84"/>
                  </a:lnTo>
                  <a:lnTo>
                    <a:pt x="444" y="54"/>
                  </a:lnTo>
                  <a:lnTo>
                    <a:pt x="375"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7578" name="Freeform 633"/>
            <p:cNvSpPr>
              <a:spLocks/>
            </p:cNvSpPr>
            <p:nvPr/>
          </p:nvSpPr>
          <p:spPr bwMode="auto">
            <a:xfrm>
              <a:off x="3258" y="1959"/>
              <a:ext cx="519" cy="510"/>
            </a:xfrm>
            <a:custGeom>
              <a:avLst/>
              <a:gdLst>
                <a:gd name="T0" fmla="*/ 399 w 519"/>
                <a:gd name="T1" fmla="*/ 0 h 510"/>
                <a:gd name="T2" fmla="*/ 237 w 519"/>
                <a:gd name="T3" fmla="*/ 153 h 510"/>
                <a:gd name="T4" fmla="*/ 0 w 519"/>
                <a:gd name="T5" fmla="*/ 333 h 510"/>
                <a:gd name="T6" fmla="*/ 54 w 519"/>
                <a:gd name="T7" fmla="*/ 369 h 510"/>
                <a:gd name="T8" fmla="*/ 87 w 519"/>
                <a:gd name="T9" fmla="*/ 402 h 510"/>
                <a:gd name="T10" fmla="*/ 111 w 519"/>
                <a:gd name="T11" fmla="*/ 441 h 510"/>
                <a:gd name="T12" fmla="*/ 147 w 519"/>
                <a:gd name="T13" fmla="*/ 510 h 510"/>
                <a:gd name="T14" fmla="*/ 333 w 519"/>
                <a:gd name="T15" fmla="*/ 342 h 510"/>
                <a:gd name="T16" fmla="*/ 519 w 519"/>
                <a:gd name="T17" fmla="*/ 156 h 510"/>
                <a:gd name="T18" fmla="*/ 498 w 519"/>
                <a:gd name="T19" fmla="*/ 84 h 510"/>
                <a:gd name="T20" fmla="*/ 453 w 519"/>
                <a:gd name="T21" fmla="*/ 42 h 510"/>
                <a:gd name="T22" fmla="*/ 399 w 519"/>
                <a:gd name="T23" fmla="*/ 0 h 5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19"/>
                <a:gd name="T37" fmla="*/ 0 h 510"/>
                <a:gd name="T38" fmla="*/ 519 w 519"/>
                <a:gd name="T39" fmla="*/ 510 h 5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19" h="510">
                  <a:moveTo>
                    <a:pt x="399" y="0"/>
                  </a:moveTo>
                  <a:lnTo>
                    <a:pt x="237" y="153"/>
                  </a:lnTo>
                  <a:lnTo>
                    <a:pt x="0" y="333"/>
                  </a:lnTo>
                  <a:lnTo>
                    <a:pt x="54" y="369"/>
                  </a:lnTo>
                  <a:lnTo>
                    <a:pt x="87" y="402"/>
                  </a:lnTo>
                  <a:lnTo>
                    <a:pt x="111" y="441"/>
                  </a:lnTo>
                  <a:lnTo>
                    <a:pt x="147" y="510"/>
                  </a:lnTo>
                  <a:lnTo>
                    <a:pt x="333" y="342"/>
                  </a:lnTo>
                  <a:lnTo>
                    <a:pt x="519" y="156"/>
                  </a:lnTo>
                  <a:lnTo>
                    <a:pt x="498" y="84"/>
                  </a:lnTo>
                  <a:lnTo>
                    <a:pt x="453" y="42"/>
                  </a:lnTo>
                  <a:lnTo>
                    <a:pt x="39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79" name="Freeform 634"/>
            <p:cNvSpPr>
              <a:spLocks/>
            </p:cNvSpPr>
            <p:nvPr/>
          </p:nvSpPr>
          <p:spPr bwMode="auto">
            <a:xfrm>
              <a:off x="3663" y="1707"/>
              <a:ext cx="276" cy="399"/>
            </a:xfrm>
            <a:custGeom>
              <a:avLst/>
              <a:gdLst>
                <a:gd name="T0" fmla="*/ 246 w 276"/>
                <a:gd name="T1" fmla="*/ 0 h 399"/>
                <a:gd name="T2" fmla="*/ 117 w 276"/>
                <a:gd name="T3" fmla="*/ 132 h 399"/>
                <a:gd name="T4" fmla="*/ 60 w 276"/>
                <a:gd name="T5" fmla="*/ 183 h 399"/>
                <a:gd name="T6" fmla="*/ 0 w 276"/>
                <a:gd name="T7" fmla="*/ 243 h 399"/>
                <a:gd name="T8" fmla="*/ 54 w 276"/>
                <a:gd name="T9" fmla="*/ 285 h 399"/>
                <a:gd name="T10" fmla="*/ 87 w 276"/>
                <a:gd name="T11" fmla="*/ 315 h 399"/>
                <a:gd name="T12" fmla="*/ 123 w 276"/>
                <a:gd name="T13" fmla="*/ 399 h 399"/>
                <a:gd name="T14" fmla="*/ 276 w 276"/>
                <a:gd name="T15" fmla="*/ 255 h 399"/>
                <a:gd name="T16" fmla="*/ 246 w 276"/>
                <a:gd name="T17" fmla="*/ 0 h 3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6"/>
                <a:gd name="T28" fmla="*/ 0 h 399"/>
                <a:gd name="T29" fmla="*/ 276 w 276"/>
                <a:gd name="T30" fmla="*/ 399 h 3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6" h="399">
                  <a:moveTo>
                    <a:pt x="246" y="0"/>
                  </a:moveTo>
                  <a:lnTo>
                    <a:pt x="117" y="132"/>
                  </a:lnTo>
                  <a:lnTo>
                    <a:pt x="60" y="183"/>
                  </a:lnTo>
                  <a:lnTo>
                    <a:pt x="0" y="243"/>
                  </a:lnTo>
                  <a:lnTo>
                    <a:pt x="54" y="285"/>
                  </a:lnTo>
                  <a:lnTo>
                    <a:pt x="87" y="315"/>
                  </a:lnTo>
                  <a:lnTo>
                    <a:pt x="123" y="399"/>
                  </a:lnTo>
                  <a:lnTo>
                    <a:pt x="276" y="255"/>
                  </a:lnTo>
                  <a:lnTo>
                    <a:pt x="24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80" name="Freeform 635"/>
            <p:cNvSpPr>
              <a:spLocks/>
            </p:cNvSpPr>
            <p:nvPr/>
          </p:nvSpPr>
          <p:spPr bwMode="auto">
            <a:xfrm>
              <a:off x="2016" y="3261"/>
              <a:ext cx="483" cy="492"/>
            </a:xfrm>
            <a:custGeom>
              <a:avLst/>
              <a:gdLst>
                <a:gd name="T0" fmla="*/ 366 w 483"/>
                <a:gd name="T1" fmla="*/ 0 h 492"/>
                <a:gd name="T2" fmla="*/ 204 w 483"/>
                <a:gd name="T3" fmla="*/ 78 h 492"/>
                <a:gd name="T4" fmla="*/ 0 w 483"/>
                <a:gd name="T5" fmla="*/ 171 h 492"/>
                <a:gd name="T6" fmla="*/ 18 w 483"/>
                <a:gd name="T7" fmla="*/ 492 h 492"/>
                <a:gd name="T8" fmla="*/ 168 w 483"/>
                <a:gd name="T9" fmla="*/ 396 h 492"/>
                <a:gd name="T10" fmla="*/ 297 w 483"/>
                <a:gd name="T11" fmla="*/ 303 h 492"/>
                <a:gd name="T12" fmla="*/ 393 w 483"/>
                <a:gd name="T13" fmla="*/ 231 h 492"/>
                <a:gd name="T14" fmla="*/ 483 w 483"/>
                <a:gd name="T15" fmla="*/ 168 h 492"/>
                <a:gd name="T16" fmla="*/ 450 w 483"/>
                <a:gd name="T17" fmla="*/ 108 h 492"/>
                <a:gd name="T18" fmla="*/ 432 w 483"/>
                <a:gd name="T19" fmla="*/ 84 h 492"/>
                <a:gd name="T20" fmla="*/ 405 w 483"/>
                <a:gd name="T21" fmla="*/ 45 h 492"/>
                <a:gd name="T22" fmla="*/ 366 w 483"/>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3"/>
                <a:gd name="T37" fmla="*/ 0 h 492"/>
                <a:gd name="T38" fmla="*/ 483 w 483"/>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3" h="492">
                  <a:moveTo>
                    <a:pt x="366" y="0"/>
                  </a:moveTo>
                  <a:lnTo>
                    <a:pt x="204" y="78"/>
                  </a:lnTo>
                  <a:lnTo>
                    <a:pt x="0" y="171"/>
                  </a:lnTo>
                  <a:lnTo>
                    <a:pt x="18" y="492"/>
                  </a:lnTo>
                  <a:lnTo>
                    <a:pt x="168" y="396"/>
                  </a:lnTo>
                  <a:lnTo>
                    <a:pt x="297" y="303"/>
                  </a:lnTo>
                  <a:lnTo>
                    <a:pt x="393" y="231"/>
                  </a:lnTo>
                  <a:lnTo>
                    <a:pt x="483" y="168"/>
                  </a:lnTo>
                  <a:lnTo>
                    <a:pt x="450" y="108"/>
                  </a:lnTo>
                  <a:lnTo>
                    <a:pt x="432" y="84"/>
                  </a:lnTo>
                  <a:lnTo>
                    <a:pt x="405" y="45"/>
                  </a:lnTo>
                  <a:lnTo>
                    <a:pt x="36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81" name="Freeform 636"/>
            <p:cNvSpPr>
              <a:spLocks/>
            </p:cNvSpPr>
            <p:nvPr/>
          </p:nvSpPr>
          <p:spPr bwMode="auto">
            <a:xfrm>
              <a:off x="2388" y="2985"/>
              <a:ext cx="504" cy="441"/>
            </a:xfrm>
            <a:custGeom>
              <a:avLst/>
              <a:gdLst>
                <a:gd name="T0" fmla="*/ 411 w 504"/>
                <a:gd name="T1" fmla="*/ 0 h 441"/>
                <a:gd name="T2" fmla="*/ 255 w 504"/>
                <a:gd name="T3" fmla="*/ 114 h 441"/>
                <a:gd name="T4" fmla="*/ 0 w 504"/>
                <a:gd name="T5" fmla="*/ 270 h 441"/>
                <a:gd name="T6" fmla="*/ 42 w 504"/>
                <a:gd name="T7" fmla="*/ 312 h 441"/>
                <a:gd name="T8" fmla="*/ 66 w 504"/>
                <a:gd name="T9" fmla="*/ 348 h 441"/>
                <a:gd name="T10" fmla="*/ 87 w 504"/>
                <a:gd name="T11" fmla="*/ 375 h 441"/>
                <a:gd name="T12" fmla="*/ 111 w 504"/>
                <a:gd name="T13" fmla="*/ 441 h 441"/>
                <a:gd name="T14" fmla="*/ 318 w 504"/>
                <a:gd name="T15" fmla="*/ 306 h 441"/>
                <a:gd name="T16" fmla="*/ 504 w 504"/>
                <a:gd name="T17" fmla="*/ 147 h 441"/>
                <a:gd name="T18" fmla="*/ 471 w 504"/>
                <a:gd name="T19" fmla="*/ 87 h 441"/>
                <a:gd name="T20" fmla="*/ 450 w 504"/>
                <a:gd name="T21" fmla="*/ 51 h 441"/>
                <a:gd name="T22" fmla="*/ 411 w 504"/>
                <a:gd name="T23" fmla="*/ 0 h 4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4"/>
                <a:gd name="T37" fmla="*/ 0 h 441"/>
                <a:gd name="T38" fmla="*/ 504 w 504"/>
                <a:gd name="T39" fmla="*/ 441 h 4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4" h="441">
                  <a:moveTo>
                    <a:pt x="411" y="0"/>
                  </a:moveTo>
                  <a:lnTo>
                    <a:pt x="255" y="114"/>
                  </a:lnTo>
                  <a:lnTo>
                    <a:pt x="0" y="270"/>
                  </a:lnTo>
                  <a:lnTo>
                    <a:pt x="42" y="312"/>
                  </a:lnTo>
                  <a:lnTo>
                    <a:pt x="66" y="348"/>
                  </a:lnTo>
                  <a:lnTo>
                    <a:pt x="87" y="375"/>
                  </a:lnTo>
                  <a:lnTo>
                    <a:pt x="111" y="441"/>
                  </a:lnTo>
                  <a:lnTo>
                    <a:pt x="318" y="306"/>
                  </a:lnTo>
                  <a:lnTo>
                    <a:pt x="504" y="147"/>
                  </a:lnTo>
                  <a:lnTo>
                    <a:pt x="471" y="87"/>
                  </a:lnTo>
                  <a:lnTo>
                    <a:pt x="450" y="51"/>
                  </a:lnTo>
                  <a:lnTo>
                    <a:pt x="41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82" name="Freeform 637"/>
            <p:cNvSpPr>
              <a:spLocks/>
            </p:cNvSpPr>
            <p:nvPr/>
          </p:nvSpPr>
          <p:spPr bwMode="auto">
            <a:xfrm>
              <a:off x="2805" y="2694"/>
              <a:ext cx="492" cy="441"/>
            </a:xfrm>
            <a:custGeom>
              <a:avLst/>
              <a:gdLst>
                <a:gd name="T0" fmla="*/ 375 w 492"/>
                <a:gd name="T1" fmla="*/ 0 h 441"/>
                <a:gd name="T2" fmla="*/ 219 w 492"/>
                <a:gd name="T3" fmla="*/ 120 h 441"/>
                <a:gd name="T4" fmla="*/ 0 w 492"/>
                <a:gd name="T5" fmla="*/ 285 h 441"/>
                <a:gd name="T6" fmla="*/ 33 w 492"/>
                <a:gd name="T7" fmla="*/ 330 h 441"/>
                <a:gd name="T8" fmla="*/ 63 w 492"/>
                <a:gd name="T9" fmla="*/ 366 h 441"/>
                <a:gd name="T10" fmla="*/ 78 w 492"/>
                <a:gd name="T11" fmla="*/ 390 h 441"/>
                <a:gd name="T12" fmla="*/ 99 w 492"/>
                <a:gd name="T13" fmla="*/ 441 h 441"/>
                <a:gd name="T14" fmla="*/ 288 w 492"/>
                <a:gd name="T15" fmla="*/ 300 h 441"/>
                <a:gd name="T16" fmla="*/ 492 w 492"/>
                <a:gd name="T17" fmla="*/ 123 h 441"/>
                <a:gd name="T18" fmla="*/ 459 w 492"/>
                <a:gd name="T19" fmla="*/ 69 h 441"/>
                <a:gd name="T20" fmla="*/ 441 w 492"/>
                <a:gd name="T21" fmla="*/ 45 h 441"/>
                <a:gd name="T22" fmla="*/ 417 w 492"/>
                <a:gd name="T23" fmla="*/ 30 h 441"/>
                <a:gd name="T24" fmla="*/ 375 w 492"/>
                <a:gd name="T25" fmla="*/ 0 h 4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2"/>
                <a:gd name="T40" fmla="*/ 0 h 441"/>
                <a:gd name="T41" fmla="*/ 492 w 492"/>
                <a:gd name="T42" fmla="*/ 441 h 4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2" h="441">
                  <a:moveTo>
                    <a:pt x="375" y="0"/>
                  </a:moveTo>
                  <a:lnTo>
                    <a:pt x="219" y="120"/>
                  </a:lnTo>
                  <a:lnTo>
                    <a:pt x="0" y="285"/>
                  </a:lnTo>
                  <a:lnTo>
                    <a:pt x="33" y="330"/>
                  </a:lnTo>
                  <a:lnTo>
                    <a:pt x="63" y="366"/>
                  </a:lnTo>
                  <a:lnTo>
                    <a:pt x="78" y="390"/>
                  </a:lnTo>
                  <a:lnTo>
                    <a:pt x="99" y="441"/>
                  </a:lnTo>
                  <a:lnTo>
                    <a:pt x="288" y="300"/>
                  </a:lnTo>
                  <a:lnTo>
                    <a:pt x="492" y="123"/>
                  </a:lnTo>
                  <a:lnTo>
                    <a:pt x="459" y="69"/>
                  </a:lnTo>
                  <a:lnTo>
                    <a:pt x="441" y="45"/>
                  </a:lnTo>
                  <a:lnTo>
                    <a:pt x="417" y="30"/>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83" name="Freeform 638"/>
            <p:cNvSpPr>
              <a:spLocks/>
            </p:cNvSpPr>
            <p:nvPr/>
          </p:nvSpPr>
          <p:spPr bwMode="auto">
            <a:xfrm>
              <a:off x="3189" y="2343"/>
              <a:ext cx="507" cy="465"/>
            </a:xfrm>
            <a:custGeom>
              <a:avLst/>
              <a:gdLst>
                <a:gd name="T0" fmla="*/ 375 w 507"/>
                <a:gd name="T1" fmla="*/ 0 h 465"/>
                <a:gd name="T2" fmla="*/ 219 w 507"/>
                <a:gd name="T3" fmla="*/ 147 h 465"/>
                <a:gd name="T4" fmla="*/ 90 w 507"/>
                <a:gd name="T5" fmla="*/ 264 h 465"/>
                <a:gd name="T6" fmla="*/ 0 w 507"/>
                <a:gd name="T7" fmla="*/ 339 h 465"/>
                <a:gd name="T8" fmla="*/ 45 w 507"/>
                <a:gd name="T9" fmla="*/ 375 h 465"/>
                <a:gd name="T10" fmla="*/ 75 w 507"/>
                <a:gd name="T11" fmla="*/ 399 h 465"/>
                <a:gd name="T12" fmla="*/ 96 w 507"/>
                <a:gd name="T13" fmla="*/ 423 h 465"/>
                <a:gd name="T14" fmla="*/ 114 w 507"/>
                <a:gd name="T15" fmla="*/ 465 h 465"/>
                <a:gd name="T16" fmla="*/ 306 w 507"/>
                <a:gd name="T17" fmla="*/ 309 h 465"/>
                <a:gd name="T18" fmla="*/ 507 w 507"/>
                <a:gd name="T19" fmla="*/ 129 h 465"/>
                <a:gd name="T20" fmla="*/ 465 w 507"/>
                <a:gd name="T21" fmla="*/ 63 h 465"/>
                <a:gd name="T22" fmla="*/ 423 w 507"/>
                <a:gd name="T23" fmla="*/ 24 h 465"/>
                <a:gd name="T24" fmla="*/ 375 w 507"/>
                <a:gd name="T25" fmla="*/ 0 h 4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7"/>
                <a:gd name="T40" fmla="*/ 0 h 465"/>
                <a:gd name="T41" fmla="*/ 507 w 507"/>
                <a:gd name="T42" fmla="*/ 465 h 4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7" h="465">
                  <a:moveTo>
                    <a:pt x="375" y="0"/>
                  </a:moveTo>
                  <a:lnTo>
                    <a:pt x="219" y="147"/>
                  </a:lnTo>
                  <a:lnTo>
                    <a:pt x="90" y="264"/>
                  </a:lnTo>
                  <a:lnTo>
                    <a:pt x="0" y="339"/>
                  </a:lnTo>
                  <a:lnTo>
                    <a:pt x="45" y="375"/>
                  </a:lnTo>
                  <a:lnTo>
                    <a:pt x="75" y="399"/>
                  </a:lnTo>
                  <a:lnTo>
                    <a:pt x="96" y="423"/>
                  </a:lnTo>
                  <a:lnTo>
                    <a:pt x="114" y="465"/>
                  </a:lnTo>
                  <a:lnTo>
                    <a:pt x="306" y="309"/>
                  </a:lnTo>
                  <a:lnTo>
                    <a:pt x="507" y="129"/>
                  </a:lnTo>
                  <a:lnTo>
                    <a:pt x="465" y="63"/>
                  </a:lnTo>
                  <a:lnTo>
                    <a:pt x="423" y="24"/>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84" name="Freeform 639"/>
            <p:cNvSpPr>
              <a:spLocks/>
            </p:cNvSpPr>
            <p:nvPr/>
          </p:nvSpPr>
          <p:spPr bwMode="auto">
            <a:xfrm>
              <a:off x="3570" y="1968"/>
              <a:ext cx="387" cy="507"/>
            </a:xfrm>
            <a:custGeom>
              <a:avLst/>
              <a:gdLst>
                <a:gd name="T0" fmla="*/ 378 w 387"/>
                <a:gd name="T1" fmla="*/ 0 h 507"/>
                <a:gd name="T2" fmla="*/ 240 w 387"/>
                <a:gd name="T3" fmla="*/ 132 h 507"/>
                <a:gd name="T4" fmla="*/ 132 w 387"/>
                <a:gd name="T5" fmla="*/ 240 h 507"/>
                <a:gd name="T6" fmla="*/ 0 w 387"/>
                <a:gd name="T7" fmla="*/ 369 h 507"/>
                <a:gd name="T8" fmla="*/ 63 w 387"/>
                <a:gd name="T9" fmla="*/ 405 h 507"/>
                <a:gd name="T10" fmla="*/ 99 w 387"/>
                <a:gd name="T11" fmla="*/ 435 h 507"/>
                <a:gd name="T12" fmla="*/ 132 w 387"/>
                <a:gd name="T13" fmla="*/ 507 h 507"/>
                <a:gd name="T14" fmla="*/ 387 w 387"/>
                <a:gd name="T15" fmla="*/ 249 h 507"/>
                <a:gd name="T16" fmla="*/ 378 w 387"/>
                <a:gd name="T17" fmla="*/ 0 h 5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507"/>
                <a:gd name="T29" fmla="*/ 387 w 387"/>
                <a:gd name="T30" fmla="*/ 507 h 5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507">
                  <a:moveTo>
                    <a:pt x="378" y="0"/>
                  </a:moveTo>
                  <a:lnTo>
                    <a:pt x="240" y="132"/>
                  </a:lnTo>
                  <a:lnTo>
                    <a:pt x="132" y="240"/>
                  </a:lnTo>
                  <a:lnTo>
                    <a:pt x="0" y="369"/>
                  </a:lnTo>
                  <a:lnTo>
                    <a:pt x="63" y="405"/>
                  </a:lnTo>
                  <a:lnTo>
                    <a:pt x="99" y="435"/>
                  </a:lnTo>
                  <a:lnTo>
                    <a:pt x="132" y="507"/>
                  </a:lnTo>
                  <a:lnTo>
                    <a:pt x="387" y="249"/>
                  </a:lnTo>
                  <a:lnTo>
                    <a:pt x="37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85" name="Freeform 640"/>
            <p:cNvSpPr>
              <a:spLocks/>
            </p:cNvSpPr>
            <p:nvPr/>
          </p:nvSpPr>
          <p:spPr bwMode="auto">
            <a:xfrm>
              <a:off x="1676" y="3350"/>
              <a:ext cx="340" cy="394"/>
            </a:xfrm>
            <a:custGeom>
              <a:avLst/>
              <a:gdLst>
                <a:gd name="T0" fmla="*/ 340 w 340"/>
                <a:gd name="T1" fmla="*/ 394 h 394"/>
                <a:gd name="T2" fmla="*/ 8 w 340"/>
                <a:gd name="T3" fmla="*/ 236 h 394"/>
                <a:gd name="T4" fmla="*/ 4 w 340"/>
                <a:gd name="T5" fmla="*/ 114 h 394"/>
                <a:gd name="T6" fmla="*/ 0 w 340"/>
                <a:gd name="T7" fmla="*/ 0 h 394"/>
                <a:gd name="T8" fmla="*/ 90 w 340"/>
                <a:gd name="T9" fmla="*/ 14 h 394"/>
                <a:gd name="T10" fmla="*/ 150 w 340"/>
                <a:gd name="T11" fmla="*/ 28 h 394"/>
                <a:gd name="T12" fmla="*/ 258 w 340"/>
                <a:gd name="T13" fmla="*/ 52 h 394"/>
                <a:gd name="T14" fmla="*/ 326 w 340"/>
                <a:gd name="T15" fmla="*/ 72 h 394"/>
                <a:gd name="T16" fmla="*/ 338 w 340"/>
                <a:gd name="T17" fmla="*/ 180 h 394"/>
                <a:gd name="T18" fmla="*/ 340 w 340"/>
                <a:gd name="T19" fmla="*/ 248 h 394"/>
                <a:gd name="T20" fmla="*/ 340 w 340"/>
                <a:gd name="T21" fmla="*/ 316 h 394"/>
                <a:gd name="T22" fmla="*/ 340 w 340"/>
                <a:gd name="T23" fmla="*/ 394 h 3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0"/>
                <a:gd name="T37" fmla="*/ 0 h 394"/>
                <a:gd name="T38" fmla="*/ 340 w 340"/>
                <a:gd name="T39" fmla="*/ 394 h 39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0" h="394">
                  <a:moveTo>
                    <a:pt x="340" y="394"/>
                  </a:moveTo>
                  <a:lnTo>
                    <a:pt x="8" y="236"/>
                  </a:lnTo>
                  <a:lnTo>
                    <a:pt x="4" y="114"/>
                  </a:lnTo>
                  <a:lnTo>
                    <a:pt x="0" y="0"/>
                  </a:lnTo>
                  <a:lnTo>
                    <a:pt x="90" y="14"/>
                  </a:lnTo>
                  <a:lnTo>
                    <a:pt x="150" y="28"/>
                  </a:lnTo>
                  <a:lnTo>
                    <a:pt x="258" y="52"/>
                  </a:lnTo>
                  <a:lnTo>
                    <a:pt x="326" y="72"/>
                  </a:lnTo>
                  <a:lnTo>
                    <a:pt x="338" y="180"/>
                  </a:lnTo>
                  <a:lnTo>
                    <a:pt x="340" y="248"/>
                  </a:lnTo>
                  <a:lnTo>
                    <a:pt x="340" y="316"/>
                  </a:lnTo>
                  <a:lnTo>
                    <a:pt x="340"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86" name="Freeform 641"/>
            <p:cNvSpPr>
              <a:spLocks/>
            </p:cNvSpPr>
            <p:nvPr/>
          </p:nvSpPr>
          <p:spPr bwMode="auto">
            <a:xfrm>
              <a:off x="1626" y="3012"/>
              <a:ext cx="372" cy="394"/>
            </a:xfrm>
            <a:custGeom>
              <a:avLst/>
              <a:gdLst>
                <a:gd name="T0" fmla="*/ 372 w 372"/>
                <a:gd name="T1" fmla="*/ 394 h 394"/>
                <a:gd name="T2" fmla="*/ 190 w 372"/>
                <a:gd name="T3" fmla="*/ 348 h 394"/>
                <a:gd name="T4" fmla="*/ 40 w 372"/>
                <a:gd name="T5" fmla="*/ 318 h 394"/>
                <a:gd name="T6" fmla="*/ 0 w 372"/>
                <a:gd name="T7" fmla="*/ 0 h 394"/>
                <a:gd name="T8" fmla="*/ 76 w 372"/>
                <a:gd name="T9" fmla="*/ 10 h 394"/>
                <a:gd name="T10" fmla="*/ 198 w 372"/>
                <a:gd name="T11" fmla="*/ 22 h 394"/>
                <a:gd name="T12" fmla="*/ 308 w 372"/>
                <a:gd name="T13" fmla="*/ 38 h 394"/>
                <a:gd name="T14" fmla="*/ 340 w 372"/>
                <a:gd name="T15" fmla="*/ 202 h 394"/>
                <a:gd name="T16" fmla="*/ 372 w 372"/>
                <a:gd name="T17" fmla="*/ 394 h 3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2"/>
                <a:gd name="T28" fmla="*/ 0 h 394"/>
                <a:gd name="T29" fmla="*/ 372 w 372"/>
                <a:gd name="T30" fmla="*/ 394 h 3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2" h="394">
                  <a:moveTo>
                    <a:pt x="372" y="394"/>
                  </a:moveTo>
                  <a:lnTo>
                    <a:pt x="190" y="348"/>
                  </a:lnTo>
                  <a:lnTo>
                    <a:pt x="40" y="318"/>
                  </a:lnTo>
                  <a:lnTo>
                    <a:pt x="0" y="0"/>
                  </a:lnTo>
                  <a:lnTo>
                    <a:pt x="76" y="10"/>
                  </a:lnTo>
                  <a:lnTo>
                    <a:pt x="198" y="22"/>
                  </a:lnTo>
                  <a:lnTo>
                    <a:pt x="308" y="38"/>
                  </a:lnTo>
                  <a:lnTo>
                    <a:pt x="340" y="202"/>
                  </a:lnTo>
                  <a:lnTo>
                    <a:pt x="372"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87" name="Freeform 642"/>
            <p:cNvSpPr>
              <a:spLocks/>
            </p:cNvSpPr>
            <p:nvPr/>
          </p:nvSpPr>
          <p:spPr bwMode="auto">
            <a:xfrm>
              <a:off x="1554" y="2698"/>
              <a:ext cx="374" cy="340"/>
            </a:xfrm>
            <a:custGeom>
              <a:avLst/>
              <a:gdLst>
                <a:gd name="T0" fmla="*/ 374 w 374"/>
                <a:gd name="T1" fmla="*/ 340 h 340"/>
                <a:gd name="T2" fmla="*/ 240 w 374"/>
                <a:gd name="T3" fmla="*/ 324 h 340"/>
                <a:gd name="T4" fmla="*/ 68 w 374"/>
                <a:gd name="T5" fmla="*/ 302 h 340"/>
                <a:gd name="T6" fmla="*/ 0 w 374"/>
                <a:gd name="T7" fmla="*/ 0 h 340"/>
                <a:gd name="T8" fmla="*/ 90 w 374"/>
                <a:gd name="T9" fmla="*/ 2 h 340"/>
                <a:gd name="T10" fmla="*/ 174 w 374"/>
                <a:gd name="T11" fmla="*/ 0 h 340"/>
                <a:gd name="T12" fmla="*/ 296 w 374"/>
                <a:gd name="T13" fmla="*/ 14 h 340"/>
                <a:gd name="T14" fmla="*/ 312 w 374"/>
                <a:gd name="T15" fmla="*/ 90 h 340"/>
                <a:gd name="T16" fmla="*/ 354 w 374"/>
                <a:gd name="T17" fmla="*/ 246 h 340"/>
                <a:gd name="T18" fmla="*/ 374 w 374"/>
                <a:gd name="T19" fmla="*/ 340 h 3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340"/>
                <a:gd name="T32" fmla="*/ 374 w 374"/>
                <a:gd name="T33" fmla="*/ 340 h 3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340">
                  <a:moveTo>
                    <a:pt x="374" y="340"/>
                  </a:moveTo>
                  <a:lnTo>
                    <a:pt x="240" y="324"/>
                  </a:lnTo>
                  <a:lnTo>
                    <a:pt x="68" y="302"/>
                  </a:lnTo>
                  <a:lnTo>
                    <a:pt x="0" y="0"/>
                  </a:lnTo>
                  <a:lnTo>
                    <a:pt x="90" y="2"/>
                  </a:lnTo>
                  <a:lnTo>
                    <a:pt x="174" y="0"/>
                  </a:lnTo>
                  <a:lnTo>
                    <a:pt x="296" y="14"/>
                  </a:lnTo>
                  <a:lnTo>
                    <a:pt x="312" y="90"/>
                  </a:lnTo>
                  <a:lnTo>
                    <a:pt x="354" y="246"/>
                  </a:lnTo>
                  <a:lnTo>
                    <a:pt x="374" y="340"/>
                  </a:lnTo>
                  <a:close/>
                </a:path>
              </a:pathLst>
            </a:custGeom>
            <a:gradFill rotWithShape="0">
              <a:gsLst>
                <a:gs pos="0">
                  <a:srgbClr val="CFB2AD"/>
                </a:gs>
                <a:gs pos="100000">
                  <a:srgbClr val="A85656"/>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88" name="Freeform 643"/>
            <p:cNvSpPr>
              <a:spLocks/>
            </p:cNvSpPr>
            <p:nvPr/>
          </p:nvSpPr>
          <p:spPr bwMode="auto">
            <a:xfrm>
              <a:off x="1460" y="2366"/>
              <a:ext cx="388" cy="334"/>
            </a:xfrm>
            <a:custGeom>
              <a:avLst/>
              <a:gdLst>
                <a:gd name="T0" fmla="*/ 388 w 388"/>
                <a:gd name="T1" fmla="*/ 334 h 334"/>
                <a:gd name="T2" fmla="*/ 258 w 388"/>
                <a:gd name="T3" fmla="*/ 320 h 334"/>
                <a:gd name="T4" fmla="*/ 90 w 388"/>
                <a:gd name="T5" fmla="*/ 324 h 334"/>
                <a:gd name="T6" fmla="*/ 0 w 388"/>
                <a:gd name="T7" fmla="*/ 2 h 334"/>
                <a:gd name="T8" fmla="*/ 82 w 388"/>
                <a:gd name="T9" fmla="*/ 2 h 334"/>
                <a:gd name="T10" fmla="*/ 172 w 388"/>
                <a:gd name="T11" fmla="*/ 0 h 334"/>
                <a:gd name="T12" fmla="*/ 288 w 388"/>
                <a:gd name="T13" fmla="*/ 6 h 334"/>
                <a:gd name="T14" fmla="*/ 308 w 388"/>
                <a:gd name="T15" fmla="*/ 80 h 334"/>
                <a:gd name="T16" fmla="*/ 350 w 388"/>
                <a:gd name="T17" fmla="*/ 212 h 334"/>
                <a:gd name="T18" fmla="*/ 388 w 388"/>
                <a:gd name="T19" fmla="*/ 334 h 3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8"/>
                <a:gd name="T31" fmla="*/ 0 h 334"/>
                <a:gd name="T32" fmla="*/ 388 w 388"/>
                <a:gd name="T33" fmla="*/ 334 h 3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8" h="334">
                  <a:moveTo>
                    <a:pt x="388" y="334"/>
                  </a:moveTo>
                  <a:lnTo>
                    <a:pt x="258" y="320"/>
                  </a:lnTo>
                  <a:lnTo>
                    <a:pt x="90" y="324"/>
                  </a:lnTo>
                  <a:lnTo>
                    <a:pt x="0" y="2"/>
                  </a:lnTo>
                  <a:lnTo>
                    <a:pt x="82" y="2"/>
                  </a:lnTo>
                  <a:lnTo>
                    <a:pt x="172" y="0"/>
                  </a:lnTo>
                  <a:lnTo>
                    <a:pt x="288" y="6"/>
                  </a:lnTo>
                  <a:lnTo>
                    <a:pt x="308" y="80"/>
                  </a:lnTo>
                  <a:lnTo>
                    <a:pt x="350" y="212"/>
                  </a:lnTo>
                  <a:lnTo>
                    <a:pt x="388" y="334"/>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89" name="Freeform 644"/>
            <p:cNvSpPr>
              <a:spLocks/>
            </p:cNvSpPr>
            <p:nvPr/>
          </p:nvSpPr>
          <p:spPr bwMode="auto">
            <a:xfrm>
              <a:off x="1344" y="1998"/>
              <a:ext cx="398" cy="358"/>
            </a:xfrm>
            <a:custGeom>
              <a:avLst/>
              <a:gdLst>
                <a:gd name="T0" fmla="*/ 398 w 398"/>
                <a:gd name="T1" fmla="*/ 358 h 358"/>
                <a:gd name="T2" fmla="*/ 272 w 398"/>
                <a:gd name="T3" fmla="*/ 358 h 358"/>
                <a:gd name="T4" fmla="*/ 108 w 398"/>
                <a:gd name="T5" fmla="*/ 356 h 358"/>
                <a:gd name="T6" fmla="*/ 64 w 398"/>
                <a:gd name="T7" fmla="*/ 204 h 358"/>
                <a:gd name="T8" fmla="*/ 0 w 398"/>
                <a:gd name="T9" fmla="*/ 28 h 358"/>
                <a:gd name="T10" fmla="*/ 90 w 398"/>
                <a:gd name="T11" fmla="*/ 24 h 358"/>
                <a:gd name="T12" fmla="*/ 144 w 398"/>
                <a:gd name="T13" fmla="*/ 22 h 358"/>
                <a:gd name="T14" fmla="*/ 212 w 398"/>
                <a:gd name="T15" fmla="*/ 16 h 358"/>
                <a:gd name="T16" fmla="*/ 286 w 398"/>
                <a:gd name="T17" fmla="*/ 0 h 358"/>
                <a:gd name="T18" fmla="*/ 314 w 398"/>
                <a:gd name="T19" fmla="*/ 94 h 358"/>
                <a:gd name="T20" fmla="*/ 356 w 398"/>
                <a:gd name="T21" fmla="*/ 228 h 358"/>
                <a:gd name="T22" fmla="*/ 398 w 398"/>
                <a:gd name="T23" fmla="*/ 358 h 3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8"/>
                <a:gd name="T37" fmla="*/ 0 h 358"/>
                <a:gd name="T38" fmla="*/ 398 w 398"/>
                <a:gd name="T39" fmla="*/ 358 h 3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8" h="358">
                  <a:moveTo>
                    <a:pt x="398" y="358"/>
                  </a:moveTo>
                  <a:lnTo>
                    <a:pt x="272" y="358"/>
                  </a:lnTo>
                  <a:lnTo>
                    <a:pt x="108" y="356"/>
                  </a:lnTo>
                  <a:lnTo>
                    <a:pt x="64" y="204"/>
                  </a:lnTo>
                  <a:lnTo>
                    <a:pt x="0" y="28"/>
                  </a:lnTo>
                  <a:lnTo>
                    <a:pt x="90" y="24"/>
                  </a:lnTo>
                  <a:lnTo>
                    <a:pt x="144" y="22"/>
                  </a:lnTo>
                  <a:lnTo>
                    <a:pt x="212" y="16"/>
                  </a:lnTo>
                  <a:lnTo>
                    <a:pt x="286" y="0"/>
                  </a:lnTo>
                  <a:lnTo>
                    <a:pt x="314" y="94"/>
                  </a:lnTo>
                  <a:lnTo>
                    <a:pt x="356" y="228"/>
                  </a:lnTo>
                  <a:lnTo>
                    <a:pt x="398" y="358"/>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90" name="Freeform 645"/>
            <p:cNvSpPr>
              <a:spLocks/>
            </p:cNvSpPr>
            <p:nvPr/>
          </p:nvSpPr>
          <p:spPr bwMode="auto">
            <a:xfrm>
              <a:off x="1144" y="1522"/>
              <a:ext cx="482" cy="492"/>
            </a:xfrm>
            <a:custGeom>
              <a:avLst/>
              <a:gdLst>
                <a:gd name="T0" fmla="*/ 482 w 482"/>
                <a:gd name="T1" fmla="*/ 468 h 492"/>
                <a:gd name="T2" fmla="*/ 364 w 482"/>
                <a:gd name="T3" fmla="*/ 492 h 492"/>
                <a:gd name="T4" fmla="*/ 198 w 482"/>
                <a:gd name="T5" fmla="*/ 492 h 492"/>
                <a:gd name="T6" fmla="*/ 126 w 482"/>
                <a:gd name="T7" fmla="*/ 292 h 492"/>
                <a:gd name="T8" fmla="*/ 0 w 482"/>
                <a:gd name="T9" fmla="*/ 0 h 492"/>
                <a:gd name="T10" fmla="*/ 122 w 482"/>
                <a:gd name="T11" fmla="*/ 22 h 492"/>
                <a:gd name="T12" fmla="*/ 196 w 482"/>
                <a:gd name="T13" fmla="*/ 34 h 492"/>
                <a:gd name="T14" fmla="*/ 276 w 482"/>
                <a:gd name="T15" fmla="*/ 48 h 492"/>
                <a:gd name="T16" fmla="*/ 328 w 482"/>
                <a:gd name="T17" fmla="*/ 62 h 492"/>
                <a:gd name="T18" fmla="*/ 380 w 482"/>
                <a:gd name="T19" fmla="*/ 198 h 492"/>
                <a:gd name="T20" fmla="*/ 432 w 482"/>
                <a:gd name="T21" fmla="*/ 330 h 492"/>
                <a:gd name="T22" fmla="*/ 482 w 482"/>
                <a:gd name="T23" fmla="*/ 468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2"/>
                <a:gd name="T37" fmla="*/ 0 h 492"/>
                <a:gd name="T38" fmla="*/ 482 w 482"/>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2" h="492">
                  <a:moveTo>
                    <a:pt x="482" y="468"/>
                  </a:moveTo>
                  <a:lnTo>
                    <a:pt x="364" y="492"/>
                  </a:lnTo>
                  <a:lnTo>
                    <a:pt x="198" y="492"/>
                  </a:lnTo>
                  <a:lnTo>
                    <a:pt x="126" y="292"/>
                  </a:lnTo>
                  <a:lnTo>
                    <a:pt x="0" y="0"/>
                  </a:lnTo>
                  <a:lnTo>
                    <a:pt x="122" y="22"/>
                  </a:lnTo>
                  <a:lnTo>
                    <a:pt x="196" y="34"/>
                  </a:lnTo>
                  <a:lnTo>
                    <a:pt x="276" y="48"/>
                  </a:lnTo>
                  <a:lnTo>
                    <a:pt x="328" y="62"/>
                  </a:lnTo>
                  <a:lnTo>
                    <a:pt x="380" y="198"/>
                  </a:lnTo>
                  <a:lnTo>
                    <a:pt x="432" y="330"/>
                  </a:lnTo>
                  <a:lnTo>
                    <a:pt x="482" y="468"/>
                  </a:lnTo>
                  <a:close/>
                </a:path>
              </a:pathLst>
            </a:custGeom>
            <a:gradFill rotWithShape="0">
              <a:gsLst>
                <a:gs pos="0">
                  <a:srgbClr val="E8D9D6"/>
                </a:gs>
                <a:gs pos="100000">
                  <a:srgbClr val="CA989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91" name="Freeform 646"/>
            <p:cNvSpPr>
              <a:spLocks/>
            </p:cNvSpPr>
            <p:nvPr/>
          </p:nvSpPr>
          <p:spPr bwMode="auto">
            <a:xfrm>
              <a:off x="1167" y="1344"/>
              <a:ext cx="837" cy="231"/>
            </a:xfrm>
            <a:custGeom>
              <a:avLst/>
              <a:gdLst>
                <a:gd name="T0" fmla="*/ 0 w 837"/>
                <a:gd name="T1" fmla="*/ 171 h 231"/>
                <a:gd name="T2" fmla="*/ 297 w 837"/>
                <a:gd name="T3" fmla="*/ 231 h 231"/>
                <a:gd name="T4" fmla="*/ 561 w 837"/>
                <a:gd name="T5" fmla="*/ 204 h 231"/>
                <a:gd name="T6" fmla="*/ 837 w 837"/>
                <a:gd name="T7" fmla="*/ 138 h 231"/>
                <a:gd name="T8" fmla="*/ 738 w 837"/>
                <a:gd name="T9" fmla="*/ 75 h 231"/>
                <a:gd name="T10" fmla="*/ 618 w 837"/>
                <a:gd name="T11" fmla="*/ 27 h 231"/>
                <a:gd name="T12" fmla="*/ 513 w 837"/>
                <a:gd name="T13" fmla="*/ 0 h 231"/>
                <a:gd name="T14" fmla="*/ 390 w 837"/>
                <a:gd name="T15" fmla="*/ 45 h 231"/>
                <a:gd name="T16" fmla="*/ 0 w 837"/>
                <a:gd name="T17" fmla="*/ 171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37"/>
                <a:gd name="T28" fmla="*/ 0 h 231"/>
                <a:gd name="T29" fmla="*/ 837 w 837"/>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37" h="231">
                  <a:moveTo>
                    <a:pt x="0" y="171"/>
                  </a:moveTo>
                  <a:lnTo>
                    <a:pt x="297" y="231"/>
                  </a:lnTo>
                  <a:lnTo>
                    <a:pt x="561" y="204"/>
                  </a:lnTo>
                  <a:lnTo>
                    <a:pt x="837" y="138"/>
                  </a:lnTo>
                  <a:lnTo>
                    <a:pt x="738" y="75"/>
                  </a:lnTo>
                  <a:lnTo>
                    <a:pt x="618" y="27"/>
                  </a:lnTo>
                  <a:lnTo>
                    <a:pt x="513" y="0"/>
                  </a:lnTo>
                  <a:lnTo>
                    <a:pt x="390" y="45"/>
                  </a:lnTo>
                  <a:lnTo>
                    <a:pt x="0" y="171"/>
                  </a:lnTo>
                  <a:close/>
                </a:path>
              </a:pathLst>
            </a:custGeom>
            <a:gradFill rotWithShape="0">
              <a:gsLst>
                <a:gs pos="0">
                  <a:srgbClr val="C58D8D"/>
                </a:gs>
                <a:gs pos="100000">
                  <a:srgbClr val="8F5A59"/>
                </a:gs>
              </a:gsLst>
              <a:lin ang="0" scaled="1"/>
            </a:gradFill>
            <a:ln w="12700" cap="flat" cmpd="sng">
              <a:noFill/>
              <a:prstDash val="solid"/>
              <a:round/>
              <a:headEnd type="none" w="sm" len="sm"/>
              <a:tailEnd type="none" w="sm" len="sm"/>
            </a:ln>
          </p:spPr>
          <p:txBody>
            <a:bodyPr wrap="none" anchor="ctr"/>
            <a:lstStyle/>
            <a:p>
              <a:endParaRPr lang="en-US"/>
            </a:p>
          </p:txBody>
        </p:sp>
        <p:sp>
          <p:nvSpPr>
            <p:cNvPr id="17592" name="Freeform 647"/>
            <p:cNvSpPr>
              <a:spLocks/>
            </p:cNvSpPr>
            <p:nvPr/>
          </p:nvSpPr>
          <p:spPr bwMode="auto">
            <a:xfrm>
              <a:off x="1707" y="1128"/>
              <a:ext cx="780" cy="345"/>
            </a:xfrm>
            <a:custGeom>
              <a:avLst/>
              <a:gdLst>
                <a:gd name="T0" fmla="*/ 0 w 780"/>
                <a:gd name="T1" fmla="*/ 207 h 345"/>
                <a:gd name="T2" fmla="*/ 165 w 780"/>
                <a:gd name="T3" fmla="*/ 261 h 345"/>
                <a:gd name="T4" fmla="*/ 318 w 780"/>
                <a:gd name="T5" fmla="*/ 345 h 345"/>
                <a:gd name="T6" fmla="*/ 552 w 780"/>
                <a:gd name="T7" fmla="*/ 255 h 345"/>
                <a:gd name="T8" fmla="*/ 780 w 780"/>
                <a:gd name="T9" fmla="*/ 144 h 345"/>
                <a:gd name="T10" fmla="*/ 705 w 780"/>
                <a:gd name="T11" fmla="*/ 69 h 345"/>
                <a:gd name="T12" fmla="*/ 618 w 780"/>
                <a:gd name="T13" fmla="*/ 30 h 345"/>
                <a:gd name="T14" fmla="*/ 498 w 780"/>
                <a:gd name="T15" fmla="*/ 0 h 345"/>
                <a:gd name="T16" fmla="*/ 384 w 780"/>
                <a:gd name="T17" fmla="*/ 51 h 345"/>
                <a:gd name="T18" fmla="*/ 0 w 780"/>
                <a:gd name="T19" fmla="*/ 207 h 3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0"/>
                <a:gd name="T31" fmla="*/ 0 h 345"/>
                <a:gd name="T32" fmla="*/ 780 w 780"/>
                <a:gd name="T33" fmla="*/ 345 h 3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0" h="345">
                  <a:moveTo>
                    <a:pt x="0" y="207"/>
                  </a:moveTo>
                  <a:lnTo>
                    <a:pt x="165" y="261"/>
                  </a:lnTo>
                  <a:lnTo>
                    <a:pt x="318" y="345"/>
                  </a:lnTo>
                  <a:lnTo>
                    <a:pt x="552" y="255"/>
                  </a:lnTo>
                  <a:lnTo>
                    <a:pt x="780" y="144"/>
                  </a:lnTo>
                  <a:lnTo>
                    <a:pt x="705" y="69"/>
                  </a:lnTo>
                  <a:lnTo>
                    <a:pt x="618" y="30"/>
                  </a:lnTo>
                  <a:lnTo>
                    <a:pt x="498" y="0"/>
                  </a:lnTo>
                  <a:lnTo>
                    <a:pt x="384" y="51"/>
                  </a:lnTo>
                  <a:lnTo>
                    <a:pt x="0" y="207"/>
                  </a:lnTo>
                  <a:close/>
                </a:path>
              </a:pathLst>
            </a:custGeom>
            <a:gradFill rotWithShape="0">
              <a:gsLst>
                <a:gs pos="0">
                  <a:srgbClr val="CA9898"/>
                </a:gs>
                <a:gs pos="100000">
                  <a:srgbClr val="A46F6E"/>
                </a:gs>
              </a:gsLst>
              <a:lin ang="0" scaled="1"/>
            </a:gradFill>
            <a:ln w="12700" cap="flat" cmpd="sng">
              <a:noFill/>
              <a:prstDash val="solid"/>
              <a:round/>
              <a:headEnd type="none" w="sm" len="sm"/>
              <a:tailEnd type="none" w="sm" len="sm"/>
            </a:ln>
          </p:spPr>
          <p:txBody>
            <a:bodyPr wrap="none" anchor="ctr"/>
            <a:lstStyle/>
            <a:p>
              <a:endParaRPr lang="en-US"/>
            </a:p>
          </p:txBody>
        </p:sp>
        <p:sp>
          <p:nvSpPr>
            <p:cNvPr id="17593" name="Freeform 648"/>
            <p:cNvSpPr>
              <a:spLocks/>
            </p:cNvSpPr>
            <p:nvPr/>
          </p:nvSpPr>
          <p:spPr bwMode="auto">
            <a:xfrm>
              <a:off x="2232" y="900"/>
              <a:ext cx="729" cy="363"/>
            </a:xfrm>
            <a:custGeom>
              <a:avLst/>
              <a:gdLst>
                <a:gd name="T0" fmla="*/ 0 w 729"/>
                <a:gd name="T1" fmla="*/ 219 h 363"/>
                <a:gd name="T2" fmla="*/ 141 w 729"/>
                <a:gd name="T3" fmla="*/ 258 h 363"/>
                <a:gd name="T4" fmla="*/ 204 w 729"/>
                <a:gd name="T5" fmla="*/ 300 h 363"/>
                <a:gd name="T6" fmla="*/ 279 w 729"/>
                <a:gd name="T7" fmla="*/ 363 h 363"/>
                <a:gd name="T8" fmla="*/ 507 w 729"/>
                <a:gd name="T9" fmla="*/ 228 h 363"/>
                <a:gd name="T10" fmla="*/ 729 w 729"/>
                <a:gd name="T11" fmla="*/ 96 h 363"/>
                <a:gd name="T12" fmla="*/ 621 w 729"/>
                <a:gd name="T13" fmla="*/ 54 h 363"/>
                <a:gd name="T14" fmla="*/ 531 w 729"/>
                <a:gd name="T15" fmla="*/ 18 h 363"/>
                <a:gd name="T16" fmla="*/ 441 w 729"/>
                <a:gd name="T17" fmla="*/ 0 h 363"/>
                <a:gd name="T18" fmla="*/ 309 w 729"/>
                <a:gd name="T19" fmla="*/ 72 h 363"/>
                <a:gd name="T20" fmla="*/ 0 w 729"/>
                <a:gd name="T21" fmla="*/ 219 h 3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9"/>
                <a:gd name="T34" fmla="*/ 0 h 363"/>
                <a:gd name="T35" fmla="*/ 729 w 729"/>
                <a:gd name="T36" fmla="*/ 363 h 3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9" h="363">
                  <a:moveTo>
                    <a:pt x="0" y="219"/>
                  </a:moveTo>
                  <a:lnTo>
                    <a:pt x="141" y="258"/>
                  </a:lnTo>
                  <a:lnTo>
                    <a:pt x="204" y="300"/>
                  </a:lnTo>
                  <a:lnTo>
                    <a:pt x="279" y="363"/>
                  </a:lnTo>
                  <a:lnTo>
                    <a:pt x="507" y="228"/>
                  </a:lnTo>
                  <a:lnTo>
                    <a:pt x="729" y="96"/>
                  </a:lnTo>
                  <a:lnTo>
                    <a:pt x="621" y="54"/>
                  </a:lnTo>
                  <a:lnTo>
                    <a:pt x="531" y="18"/>
                  </a:lnTo>
                  <a:lnTo>
                    <a:pt x="441" y="0"/>
                  </a:lnTo>
                  <a:lnTo>
                    <a:pt x="309" y="72"/>
                  </a:lnTo>
                  <a:lnTo>
                    <a:pt x="0" y="219"/>
                  </a:lnTo>
                  <a:close/>
                </a:path>
              </a:pathLst>
            </a:custGeom>
            <a:gradFill rotWithShape="0">
              <a:gsLst>
                <a:gs pos="0">
                  <a:srgbClr val="D2A6A6"/>
                </a:gs>
                <a:gs pos="100000">
                  <a:srgbClr val="AE7F7E"/>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94" name="Freeform 649"/>
            <p:cNvSpPr>
              <a:spLocks/>
            </p:cNvSpPr>
            <p:nvPr/>
          </p:nvSpPr>
          <p:spPr bwMode="auto">
            <a:xfrm>
              <a:off x="2691" y="642"/>
              <a:ext cx="648" cy="339"/>
            </a:xfrm>
            <a:custGeom>
              <a:avLst/>
              <a:gdLst>
                <a:gd name="T0" fmla="*/ 0 w 648"/>
                <a:gd name="T1" fmla="*/ 246 h 339"/>
                <a:gd name="T2" fmla="*/ 99 w 648"/>
                <a:gd name="T3" fmla="*/ 270 h 339"/>
                <a:gd name="T4" fmla="*/ 183 w 648"/>
                <a:gd name="T5" fmla="*/ 309 h 339"/>
                <a:gd name="T6" fmla="*/ 279 w 648"/>
                <a:gd name="T7" fmla="*/ 339 h 339"/>
                <a:gd name="T8" fmla="*/ 456 w 648"/>
                <a:gd name="T9" fmla="*/ 210 h 339"/>
                <a:gd name="T10" fmla="*/ 648 w 648"/>
                <a:gd name="T11" fmla="*/ 69 h 339"/>
                <a:gd name="T12" fmla="*/ 573 w 648"/>
                <a:gd name="T13" fmla="*/ 45 h 339"/>
                <a:gd name="T14" fmla="*/ 465 w 648"/>
                <a:gd name="T15" fmla="*/ 15 h 339"/>
                <a:gd name="T16" fmla="*/ 372 w 648"/>
                <a:gd name="T17" fmla="*/ 0 h 339"/>
                <a:gd name="T18" fmla="*/ 291 w 648"/>
                <a:gd name="T19" fmla="*/ 72 h 339"/>
                <a:gd name="T20" fmla="*/ 171 w 648"/>
                <a:gd name="T21" fmla="*/ 144 h 339"/>
                <a:gd name="T22" fmla="*/ 0 w 648"/>
                <a:gd name="T23" fmla="*/ 246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339"/>
                <a:gd name="T38" fmla="*/ 648 w 648"/>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339">
                  <a:moveTo>
                    <a:pt x="0" y="246"/>
                  </a:moveTo>
                  <a:lnTo>
                    <a:pt x="99" y="270"/>
                  </a:lnTo>
                  <a:lnTo>
                    <a:pt x="183" y="309"/>
                  </a:lnTo>
                  <a:lnTo>
                    <a:pt x="279" y="339"/>
                  </a:lnTo>
                  <a:lnTo>
                    <a:pt x="456" y="210"/>
                  </a:lnTo>
                  <a:lnTo>
                    <a:pt x="648" y="69"/>
                  </a:lnTo>
                  <a:lnTo>
                    <a:pt x="573" y="45"/>
                  </a:lnTo>
                  <a:lnTo>
                    <a:pt x="465" y="15"/>
                  </a:lnTo>
                  <a:lnTo>
                    <a:pt x="372" y="0"/>
                  </a:lnTo>
                  <a:lnTo>
                    <a:pt x="291" y="72"/>
                  </a:lnTo>
                  <a:lnTo>
                    <a:pt x="171" y="144"/>
                  </a:lnTo>
                  <a:lnTo>
                    <a:pt x="0" y="246"/>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sp>
          <p:nvSpPr>
            <p:cNvPr id="17595" name="Freeform 650"/>
            <p:cNvSpPr>
              <a:spLocks/>
            </p:cNvSpPr>
            <p:nvPr/>
          </p:nvSpPr>
          <p:spPr bwMode="auto">
            <a:xfrm>
              <a:off x="3090" y="330"/>
              <a:ext cx="633" cy="366"/>
            </a:xfrm>
            <a:custGeom>
              <a:avLst/>
              <a:gdLst>
                <a:gd name="T0" fmla="*/ 0 w 633"/>
                <a:gd name="T1" fmla="*/ 297 h 366"/>
                <a:gd name="T2" fmla="*/ 90 w 633"/>
                <a:gd name="T3" fmla="*/ 315 h 366"/>
                <a:gd name="T4" fmla="*/ 198 w 633"/>
                <a:gd name="T5" fmla="*/ 345 h 366"/>
                <a:gd name="T6" fmla="*/ 264 w 633"/>
                <a:gd name="T7" fmla="*/ 366 h 366"/>
                <a:gd name="T8" fmla="*/ 438 w 633"/>
                <a:gd name="T9" fmla="*/ 216 h 366"/>
                <a:gd name="T10" fmla="*/ 633 w 633"/>
                <a:gd name="T11" fmla="*/ 0 h 366"/>
                <a:gd name="T12" fmla="*/ 537 w 633"/>
                <a:gd name="T13" fmla="*/ 15 h 366"/>
                <a:gd name="T14" fmla="*/ 450 w 633"/>
                <a:gd name="T15" fmla="*/ 30 h 366"/>
                <a:gd name="T16" fmla="*/ 345 w 633"/>
                <a:gd name="T17" fmla="*/ 48 h 366"/>
                <a:gd name="T18" fmla="*/ 234 w 633"/>
                <a:gd name="T19" fmla="*/ 69 h 366"/>
                <a:gd name="T20" fmla="*/ 162 w 633"/>
                <a:gd name="T21" fmla="*/ 150 h 366"/>
                <a:gd name="T22" fmla="*/ 0 w 633"/>
                <a:gd name="T23" fmla="*/ 297 h 36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3"/>
                <a:gd name="T37" fmla="*/ 0 h 366"/>
                <a:gd name="T38" fmla="*/ 633 w 633"/>
                <a:gd name="T39" fmla="*/ 366 h 36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3" h="366">
                  <a:moveTo>
                    <a:pt x="0" y="297"/>
                  </a:moveTo>
                  <a:lnTo>
                    <a:pt x="90" y="315"/>
                  </a:lnTo>
                  <a:lnTo>
                    <a:pt x="198" y="345"/>
                  </a:lnTo>
                  <a:lnTo>
                    <a:pt x="264" y="366"/>
                  </a:lnTo>
                  <a:lnTo>
                    <a:pt x="438" y="216"/>
                  </a:lnTo>
                  <a:lnTo>
                    <a:pt x="633" y="0"/>
                  </a:lnTo>
                  <a:lnTo>
                    <a:pt x="537" y="15"/>
                  </a:lnTo>
                  <a:lnTo>
                    <a:pt x="450" y="30"/>
                  </a:lnTo>
                  <a:lnTo>
                    <a:pt x="345" y="48"/>
                  </a:lnTo>
                  <a:lnTo>
                    <a:pt x="234" y="69"/>
                  </a:lnTo>
                  <a:lnTo>
                    <a:pt x="162" y="150"/>
                  </a:lnTo>
                  <a:lnTo>
                    <a:pt x="0" y="297"/>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438" name="Group 651"/>
          <p:cNvGrpSpPr>
            <a:grpSpLocks/>
          </p:cNvGrpSpPr>
          <p:nvPr/>
        </p:nvGrpSpPr>
        <p:grpSpPr bwMode="auto">
          <a:xfrm rot="19363526" flipH="1">
            <a:off x="6705600" y="4284663"/>
            <a:ext cx="576263" cy="1277937"/>
            <a:chOff x="1125" y="288"/>
            <a:chExt cx="2859" cy="3498"/>
          </a:xfrm>
        </p:grpSpPr>
        <p:sp>
          <p:nvSpPr>
            <p:cNvPr id="17492" name="Freeform 652"/>
            <p:cNvSpPr>
              <a:spLocks/>
            </p:cNvSpPr>
            <p:nvPr/>
          </p:nvSpPr>
          <p:spPr bwMode="auto">
            <a:xfrm>
              <a:off x="1151" y="288"/>
              <a:ext cx="2833" cy="3456"/>
            </a:xfrm>
            <a:custGeom>
              <a:avLst/>
              <a:gdLst>
                <a:gd name="T0" fmla="*/ 865 w 2833"/>
                <a:gd name="T1" fmla="*/ 3456 h 3456"/>
                <a:gd name="T2" fmla="*/ 529 w 2833"/>
                <a:gd name="T3" fmla="*/ 3312 h 3456"/>
                <a:gd name="T4" fmla="*/ 452 w 2833"/>
                <a:gd name="T5" fmla="*/ 2646 h 3456"/>
                <a:gd name="T6" fmla="*/ 343 w 2833"/>
                <a:gd name="T7" fmla="*/ 2154 h 3456"/>
                <a:gd name="T8" fmla="*/ 180 w 2833"/>
                <a:gd name="T9" fmla="*/ 1717 h 3456"/>
                <a:gd name="T10" fmla="*/ 0 w 2833"/>
                <a:gd name="T11" fmla="*/ 1241 h 3456"/>
                <a:gd name="T12" fmla="*/ 567 w 2833"/>
                <a:gd name="T13" fmla="*/ 1035 h 3456"/>
                <a:gd name="T14" fmla="*/ 1027 w 2833"/>
                <a:gd name="T15" fmla="*/ 854 h 3456"/>
                <a:gd name="T16" fmla="*/ 1405 w 2833"/>
                <a:gd name="T17" fmla="*/ 657 h 3456"/>
                <a:gd name="T18" fmla="*/ 1717 w 2833"/>
                <a:gd name="T19" fmla="*/ 485 h 3456"/>
                <a:gd name="T20" fmla="*/ 1964 w 2833"/>
                <a:gd name="T21" fmla="*/ 312 h 3456"/>
                <a:gd name="T22" fmla="*/ 2161 w 2833"/>
                <a:gd name="T23" fmla="*/ 96 h 3456"/>
                <a:gd name="T24" fmla="*/ 2593 w 2833"/>
                <a:gd name="T25" fmla="*/ 0 h 3456"/>
                <a:gd name="T26" fmla="*/ 2833 w 2833"/>
                <a:gd name="T27" fmla="*/ 1920 h 3456"/>
                <a:gd name="T28" fmla="*/ 2178 w 2833"/>
                <a:gd name="T29" fmla="*/ 2531 h 3456"/>
                <a:gd name="T30" fmla="*/ 1726 w 2833"/>
                <a:gd name="T31" fmla="*/ 2892 h 3456"/>
                <a:gd name="T32" fmla="*/ 865 w 2833"/>
                <a:gd name="T33" fmla="*/ 3456 h 34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33"/>
                <a:gd name="T52" fmla="*/ 0 h 3456"/>
                <a:gd name="T53" fmla="*/ 2833 w 2833"/>
                <a:gd name="T54" fmla="*/ 3456 h 34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33" h="3456">
                  <a:moveTo>
                    <a:pt x="865" y="3456"/>
                  </a:moveTo>
                  <a:lnTo>
                    <a:pt x="529" y="3312"/>
                  </a:lnTo>
                  <a:lnTo>
                    <a:pt x="452" y="2646"/>
                  </a:lnTo>
                  <a:lnTo>
                    <a:pt x="343" y="2154"/>
                  </a:lnTo>
                  <a:lnTo>
                    <a:pt x="180" y="1717"/>
                  </a:lnTo>
                  <a:lnTo>
                    <a:pt x="0" y="1241"/>
                  </a:lnTo>
                  <a:lnTo>
                    <a:pt x="567" y="1035"/>
                  </a:lnTo>
                  <a:lnTo>
                    <a:pt x="1027" y="854"/>
                  </a:lnTo>
                  <a:lnTo>
                    <a:pt x="1405" y="657"/>
                  </a:lnTo>
                  <a:lnTo>
                    <a:pt x="1717" y="485"/>
                  </a:lnTo>
                  <a:lnTo>
                    <a:pt x="1964" y="312"/>
                  </a:lnTo>
                  <a:lnTo>
                    <a:pt x="2161" y="96"/>
                  </a:lnTo>
                  <a:lnTo>
                    <a:pt x="2593" y="0"/>
                  </a:lnTo>
                  <a:lnTo>
                    <a:pt x="2833" y="1920"/>
                  </a:lnTo>
                  <a:lnTo>
                    <a:pt x="2178" y="2531"/>
                  </a:lnTo>
                  <a:lnTo>
                    <a:pt x="1726" y="2892"/>
                  </a:lnTo>
                  <a:lnTo>
                    <a:pt x="865" y="3456"/>
                  </a:lnTo>
                  <a:close/>
                </a:path>
              </a:pathLst>
            </a:custGeom>
            <a:solidFill>
              <a:srgbClr val="4D4D4D"/>
            </a:solidFill>
            <a:ln w="12700" cap="flat" cmpd="sng">
              <a:noFill/>
              <a:prstDash val="solid"/>
              <a:round/>
              <a:headEnd type="none" w="sm" len="sm"/>
              <a:tailEnd type="none" w="sm" len="sm"/>
            </a:ln>
          </p:spPr>
          <p:txBody>
            <a:bodyPr wrap="none" anchor="ctr"/>
            <a:lstStyle/>
            <a:p>
              <a:endParaRPr lang="en-US"/>
            </a:p>
          </p:txBody>
        </p:sp>
        <p:sp>
          <p:nvSpPr>
            <p:cNvPr id="17493" name="Freeform 653"/>
            <p:cNvSpPr>
              <a:spLocks/>
            </p:cNvSpPr>
            <p:nvPr/>
          </p:nvSpPr>
          <p:spPr bwMode="auto">
            <a:xfrm>
              <a:off x="1125" y="1508"/>
              <a:ext cx="32" cy="43"/>
            </a:xfrm>
            <a:custGeom>
              <a:avLst/>
              <a:gdLst>
                <a:gd name="T0" fmla="*/ 1 w 63"/>
                <a:gd name="T1" fmla="*/ 0 h 43"/>
                <a:gd name="T2" fmla="*/ 1 w 63"/>
                <a:gd name="T3" fmla="*/ 0 h 43"/>
                <a:gd name="T4" fmla="*/ 0 w 63"/>
                <a:gd name="T5" fmla="*/ 20 h 43"/>
                <a:gd name="T6" fmla="*/ 1 w 63"/>
                <a:gd name="T7" fmla="*/ 43 h 43"/>
                <a:gd name="T8" fmla="*/ 1 w 63"/>
                <a:gd name="T9" fmla="*/ 37 h 43"/>
                <a:gd name="T10" fmla="*/ 1 w 63"/>
                <a:gd name="T11" fmla="*/ 30 h 43"/>
                <a:gd name="T12" fmla="*/ 1 w 63"/>
                <a:gd name="T13" fmla="*/ 7 h 43"/>
                <a:gd name="T14" fmla="*/ 1 w 63"/>
                <a:gd name="T15" fmla="*/ 14 h 43"/>
                <a:gd name="T16" fmla="*/ 1 w 63"/>
                <a:gd name="T17" fmla="*/ 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
                <a:gd name="T28" fmla="*/ 0 h 43"/>
                <a:gd name="T29" fmla="*/ 63 w 63"/>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 h="43">
                  <a:moveTo>
                    <a:pt x="23" y="0"/>
                  </a:moveTo>
                  <a:lnTo>
                    <a:pt x="23" y="0"/>
                  </a:lnTo>
                  <a:lnTo>
                    <a:pt x="0" y="20"/>
                  </a:lnTo>
                  <a:lnTo>
                    <a:pt x="21" y="43"/>
                  </a:lnTo>
                  <a:lnTo>
                    <a:pt x="42" y="37"/>
                  </a:lnTo>
                  <a:lnTo>
                    <a:pt x="63" y="30"/>
                  </a:lnTo>
                  <a:lnTo>
                    <a:pt x="42" y="7"/>
                  </a:lnTo>
                  <a:lnTo>
                    <a:pt x="21" y="14"/>
                  </a:lnTo>
                  <a:lnTo>
                    <a:pt x="23" y="0"/>
                  </a:lnTo>
                  <a:close/>
                </a:path>
              </a:pathLst>
            </a:custGeom>
            <a:solidFill>
              <a:srgbClr val="000000"/>
            </a:solidFill>
            <a:ln w="9525">
              <a:noFill/>
              <a:round/>
              <a:headEnd/>
              <a:tailEnd/>
            </a:ln>
          </p:spPr>
          <p:txBody>
            <a:bodyPr/>
            <a:lstStyle/>
            <a:p>
              <a:endParaRPr lang="en-US"/>
            </a:p>
          </p:txBody>
        </p:sp>
        <p:sp>
          <p:nvSpPr>
            <p:cNvPr id="17494" name="Freeform 654"/>
            <p:cNvSpPr>
              <a:spLocks/>
            </p:cNvSpPr>
            <p:nvPr/>
          </p:nvSpPr>
          <p:spPr bwMode="auto">
            <a:xfrm>
              <a:off x="1135" y="1538"/>
              <a:ext cx="897" cy="2248"/>
            </a:xfrm>
            <a:custGeom>
              <a:avLst/>
              <a:gdLst>
                <a:gd name="T0" fmla="*/ 0 w 1793"/>
                <a:gd name="T1" fmla="*/ 13 h 2248"/>
                <a:gd name="T2" fmla="*/ 3 w 1793"/>
                <a:gd name="T3" fmla="*/ 686 h 2248"/>
                <a:gd name="T4" fmla="*/ 1 w 1793"/>
                <a:gd name="T5" fmla="*/ 89 h 2248"/>
                <a:gd name="T6" fmla="*/ 1 w 1793"/>
                <a:gd name="T7" fmla="*/ 177 h 2248"/>
                <a:gd name="T8" fmla="*/ 1 w 1793"/>
                <a:gd name="T9" fmla="*/ 312 h 2248"/>
                <a:gd name="T10" fmla="*/ 2 w 1793"/>
                <a:gd name="T11" fmla="*/ 475 h 2248"/>
                <a:gd name="T12" fmla="*/ 3 w 1793"/>
                <a:gd name="T13" fmla="*/ 671 h 2248"/>
                <a:gd name="T14" fmla="*/ 3 w 1793"/>
                <a:gd name="T15" fmla="*/ 867 h 2248"/>
                <a:gd name="T16" fmla="*/ 3 w 1793"/>
                <a:gd name="T17" fmla="*/ 1075 h 2248"/>
                <a:gd name="T18" fmla="*/ 4 w 1793"/>
                <a:gd name="T19" fmla="*/ 1328 h 2248"/>
                <a:gd name="T20" fmla="*/ 4 w 1793"/>
                <a:gd name="T21" fmla="*/ 1566 h 2248"/>
                <a:gd name="T22" fmla="*/ 5 w 1793"/>
                <a:gd name="T23" fmla="*/ 1808 h 2248"/>
                <a:gd name="T24" fmla="*/ 5 w 1793"/>
                <a:gd name="T25" fmla="*/ 2059 h 2248"/>
                <a:gd name="T26" fmla="*/ 8 w 1793"/>
                <a:gd name="T27" fmla="*/ 2248 h 2248"/>
                <a:gd name="T28" fmla="*/ 7 w 1793"/>
                <a:gd name="T29" fmla="*/ 2211 h 2248"/>
                <a:gd name="T30" fmla="*/ 5 w 1793"/>
                <a:gd name="T31" fmla="*/ 2041 h 2248"/>
                <a:gd name="T32" fmla="*/ 5 w 1793"/>
                <a:gd name="T33" fmla="*/ 1806 h 2248"/>
                <a:gd name="T34" fmla="*/ 4 w 1793"/>
                <a:gd name="T35" fmla="*/ 1559 h 2248"/>
                <a:gd name="T36" fmla="*/ 4 w 1793"/>
                <a:gd name="T37" fmla="*/ 1315 h 2248"/>
                <a:gd name="T38" fmla="*/ 4 w 1793"/>
                <a:gd name="T39" fmla="*/ 1098 h 2248"/>
                <a:gd name="T40" fmla="*/ 3 w 1793"/>
                <a:gd name="T41" fmla="*/ 858 h 2248"/>
                <a:gd name="T42" fmla="*/ 3 w 1793"/>
                <a:gd name="T43" fmla="*/ 641 h 2248"/>
                <a:gd name="T44" fmla="*/ 2 w 1793"/>
                <a:gd name="T45" fmla="*/ 464 h 2248"/>
                <a:gd name="T46" fmla="*/ 2 w 1793"/>
                <a:gd name="T47" fmla="*/ 301 h 2248"/>
                <a:gd name="T48" fmla="*/ 1 w 1793"/>
                <a:gd name="T49" fmla="*/ 166 h 2248"/>
                <a:gd name="T50" fmla="*/ 1 w 1793"/>
                <a:gd name="T51" fmla="*/ 52 h 2248"/>
                <a:gd name="T52" fmla="*/ 1 w 1793"/>
                <a:gd name="T53" fmla="*/ 0 h 2248"/>
                <a:gd name="T54" fmla="*/ 1 w 1793"/>
                <a:gd name="T55" fmla="*/ 7 h 2248"/>
                <a:gd name="T56" fmla="*/ 0 w 1793"/>
                <a:gd name="T57" fmla="*/ 13 h 22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93"/>
                <a:gd name="T88" fmla="*/ 0 h 2248"/>
                <a:gd name="T89" fmla="*/ 1793 w 1793"/>
                <a:gd name="T90" fmla="*/ 2248 h 224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93" h="2248">
                  <a:moveTo>
                    <a:pt x="0" y="13"/>
                  </a:moveTo>
                  <a:lnTo>
                    <a:pt x="625" y="686"/>
                  </a:lnTo>
                  <a:lnTo>
                    <a:pt x="69" y="89"/>
                  </a:lnTo>
                  <a:lnTo>
                    <a:pt x="145" y="177"/>
                  </a:lnTo>
                  <a:lnTo>
                    <a:pt x="255" y="312"/>
                  </a:lnTo>
                  <a:lnTo>
                    <a:pt x="380" y="475"/>
                  </a:lnTo>
                  <a:lnTo>
                    <a:pt x="519" y="671"/>
                  </a:lnTo>
                  <a:lnTo>
                    <a:pt x="646" y="867"/>
                  </a:lnTo>
                  <a:lnTo>
                    <a:pt x="764" y="1075"/>
                  </a:lnTo>
                  <a:lnTo>
                    <a:pt x="882" y="1328"/>
                  </a:lnTo>
                  <a:lnTo>
                    <a:pt x="970" y="1566"/>
                  </a:lnTo>
                  <a:lnTo>
                    <a:pt x="1030" y="1808"/>
                  </a:lnTo>
                  <a:lnTo>
                    <a:pt x="1053" y="2059"/>
                  </a:lnTo>
                  <a:lnTo>
                    <a:pt x="1793" y="2248"/>
                  </a:lnTo>
                  <a:lnTo>
                    <a:pt x="1769" y="2211"/>
                  </a:lnTo>
                  <a:lnTo>
                    <a:pt x="1104" y="2041"/>
                  </a:lnTo>
                  <a:lnTo>
                    <a:pt x="1080" y="1806"/>
                  </a:lnTo>
                  <a:lnTo>
                    <a:pt x="1021" y="1559"/>
                  </a:lnTo>
                  <a:lnTo>
                    <a:pt x="932" y="1315"/>
                  </a:lnTo>
                  <a:lnTo>
                    <a:pt x="826" y="1098"/>
                  </a:lnTo>
                  <a:lnTo>
                    <a:pt x="693" y="858"/>
                  </a:lnTo>
                  <a:lnTo>
                    <a:pt x="554" y="641"/>
                  </a:lnTo>
                  <a:lnTo>
                    <a:pt x="426" y="464"/>
                  </a:lnTo>
                  <a:lnTo>
                    <a:pt x="301" y="301"/>
                  </a:lnTo>
                  <a:lnTo>
                    <a:pt x="191" y="166"/>
                  </a:lnTo>
                  <a:lnTo>
                    <a:pt x="92" y="52"/>
                  </a:lnTo>
                  <a:lnTo>
                    <a:pt x="44" y="0"/>
                  </a:lnTo>
                  <a:lnTo>
                    <a:pt x="21" y="7"/>
                  </a:lnTo>
                  <a:lnTo>
                    <a:pt x="0" y="13"/>
                  </a:lnTo>
                  <a:close/>
                </a:path>
              </a:pathLst>
            </a:custGeom>
            <a:solidFill>
              <a:srgbClr val="000000"/>
            </a:solidFill>
            <a:ln w="9525">
              <a:noFill/>
              <a:round/>
              <a:headEnd/>
              <a:tailEnd/>
            </a:ln>
          </p:spPr>
          <p:txBody>
            <a:bodyPr/>
            <a:lstStyle/>
            <a:p>
              <a:endParaRPr lang="en-US"/>
            </a:p>
          </p:txBody>
        </p:sp>
        <p:sp>
          <p:nvSpPr>
            <p:cNvPr id="17495" name="Freeform 655"/>
            <p:cNvSpPr>
              <a:spLocks/>
            </p:cNvSpPr>
            <p:nvPr/>
          </p:nvSpPr>
          <p:spPr bwMode="auto">
            <a:xfrm>
              <a:off x="1133" y="295"/>
              <a:ext cx="2604" cy="1241"/>
            </a:xfrm>
            <a:custGeom>
              <a:avLst/>
              <a:gdLst>
                <a:gd name="T0" fmla="*/ 21 w 5206"/>
                <a:gd name="T1" fmla="*/ 29 h 1241"/>
                <a:gd name="T2" fmla="*/ 21 w 5206"/>
                <a:gd name="T3" fmla="*/ 0 h 1241"/>
                <a:gd name="T4" fmla="*/ 18 w 5206"/>
                <a:gd name="T5" fmla="*/ 89 h 1241"/>
                <a:gd name="T6" fmla="*/ 16 w 5206"/>
                <a:gd name="T7" fmla="*/ 255 h 1241"/>
                <a:gd name="T8" fmla="*/ 15 w 5206"/>
                <a:gd name="T9" fmla="*/ 410 h 1241"/>
                <a:gd name="T10" fmla="*/ 13 w 5206"/>
                <a:gd name="T11" fmla="*/ 542 h 1241"/>
                <a:gd name="T12" fmla="*/ 11 w 5206"/>
                <a:gd name="T13" fmla="*/ 682 h 1241"/>
                <a:gd name="T14" fmla="*/ 9 w 5206"/>
                <a:gd name="T15" fmla="*/ 800 h 1241"/>
                <a:gd name="T16" fmla="*/ 7 w 5206"/>
                <a:gd name="T17" fmla="*/ 902 h 1241"/>
                <a:gd name="T18" fmla="*/ 6 w 5206"/>
                <a:gd name="T19" fmla="*/ 994 h 1241"/>
                <a:gd name="T20" fmla="*/ 4 w 5206"/>
                <a:gd name="T21" fmla="*/ 1076 h 1241"/>
                <a:gd name="T22" fmla="*/ 3 w 5206"/>
                <a:gd name="T23" fmla="*/ 1132 h 1241"/>
                <a:gd name="T24" fmla="*/ 1 w 5206"/>
                <a:gd name="T25" fmla="*/ 1177 h 1241"/>
                <a:gd name="T26" fmla="*/ 1 w 5206"/>
                <a:gd name="T27" fmla="*/ 1201 h 1241"/>
                <a:gd name="T28" fmla="*/ 0 w 5206"/>
                <a:gd name="T29" fmla="*/ 1213 h 1241"/>
                <a:gd name="T30" fmla="*/ 1 w 5206"/>
                <a:gd name="T31" fmla="*/ 1227 h 1241"/>
                <a:gd name="T32" fmla="*/ 1 w 5206"/>
                <a:gd name="T33" fmla="*/ 1241 h 1241"/>
                <a:gd name="T34" fmla="*/ 1 w 5206"/>
                <a:gd name="T35" fmla="*/ 1236 h 1241"/>
                <a:gd name="T36" fmla="*/ 1 w 5206"/>
                <a:gd name="T37" fmla="*/ 1203 h 1241"/>
                <a:gd name="T38" fmla="*/ 3 w 5206"/>
                <a:gd name="T39" fmla="*/ 1158 h 1241"/>
                <a:gd name="T40" fmla="*/ 4 w 5206"/>
                <a:gd name="T41" fmla="*/ 1093 h 1241"/>
                <a:gd name="T42" fmla="*/ 6 w 5206"/>
                <a:gd name="T43" fmla="*/ 1020 h 1241"/>
                <a:gd name="T44" fmla="*/ 7 w 5206"/>
                <a:gd name="T45" fmla="*/ 928 h 1241"/>
                <a:gd name="T46" fmla="*/ 9 w 5206"/>
                <a:gd name="T47" fmla="*/ 819 h 1241"/>
                <a:gd name="T48" fmla="*/ 11 w 5206"/>
                <a:gd name="T49" fmla="*/ 701 h 1241"/>
                <a:gd name="T50" fmla="*/ 13 w 5206"/>
                <a:gd name="T51" fmla="*/ 579 h 1241"/>
                <a:gd name="T52" fmla="*/ 15 w 5206"/>
                <a:gd name="T53" fmla="*/ 427 h 1241"/>
                <a:gd name="T54" fmla="*/ 16 w 5206"/>
                <a:gd name="T55" fmla="*/ 278 h 1241"/>
                <a:gd name="T56" fmla="*/ 18 w 5206"/>
                <a:gd name="T57" fmla="*/ 118 h 1241"/>
                <a:gd name="T58" fmla="*/ 21 w 5206"/>
                <a:gd name="T59" fmla="*/ 29 h 124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206"/>
                <a:gd name="T91" fmla="*/ 0 h 1241"/>
                <a:gd name="T92" fmla="*/ 5206 w 5206"/>
                <a:gd name="T93" fmla="*/ 1241 h 124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206" h="1241">
                  <a:moveTo>
                    <a:pt x="5206" y="29"/>
                  </a:moveTo>
                  <a:lnTo>
                    <a:pt x="5199" y="0"/>
                  </a:lnTo>
                  <a:lnTo>
                    <a:pt x="4369" y="89"/>
                  </a:lnTo>
                  <a:lnTo>
                    <a:pt x="4037" y="255"/>
                  </a:lnTo>
                  <a:lnTo>
                    <a:pt x="3632" y="410"/>
                  </a:lnTo>
                  <a:lnTo>
                    <a:pt x="3223" y="542"/>
                  </a:lnTo>
                  <a:lnTo>
                    <a:pt x="2711" y="682"/>
                  </a:lnTo>
                  <a:lnTo>
                    <a:pt x="2219" y="800"/>
                  </a:lnTo>
                  <a:lnTo>
                    <a:pt x="1754" y="902"/>
                  </a:lnTo>
                  <a:lnTo>
                    <a:pt x="1295" y="994"/>
                  </a:lnTo>
                  <a:lnTo>
                    <a:pt x="853" y="1076"/>
                  </a:lnTo>
                  <a:lnTo>
                    <a:pt x="521" y="1132"/>
                  </a:lnTo>
                  <a:lnTo>
                    <a:pt x="243" y="1177"/>
                  </a:lnTo>
                  <a:lnTo>
                    <a:pt x="96" y="1201"/>
                  </a:lnTo>
                  <a:lnTo>
                    <a:pt x="0" y="1213"/>
                  </a:lnTo>
                  <a:lnTo>
                    <a:pt x="4" y="1227"/>
                  </a:lnTo>
                  <a:lnTo>
                    <a:pt x="8" y="1241"/>
                  </a:lnTo>
                  <a:lnTo>
                    <a:pt x="42" y="1236"/>
                  </a:lnTo>
                  <a:lnTo>
                    <a:pt x="255" y="1203"/>
                  </a:lnTo>
                  <a:lnTo>
                    <a:pt x="533" y="1158"/>
                  </a:lnTo>
                  <a:lnTo>
                    <a:pt x="915" y="1093"/>
                  </a:lnTo>
                  <a:lnTo>
                    <a:pt x="1310" y="1020"/>
                  </a:lnTo>
                  <a:lnTo>
                    <a:pt x="1769" y="928"/>
                  </a:lnTo>
                  <a:lnTo>
                    <a:pt x="2273" y="819"/>
                  </a:lnTo>
                  <a:lnTo>
                    <a:pt x="2761" y="701"/>
                  </a:lnTo>
                  <a:lnTo>
                    <a:pt x="3199" y="579"/>
                  </a:lnTo>
                  <a:lnTo>
                    <a:pt x="3678" y="427"/>
                  </a:lnTo>
                  <a:lnTo>
                    <a:pt x="4064" y="278"/>
                  </a:lnTo>
                  <a:lnTo>
                    <a:pt x="4388" y="118"/>
                  </a:lnTo>
                  <a:lnTo>
                    <a:pt x="5206" y="29"/>
                  </a:lnTo>
                  <a:close/>
                </a:path>
              </a:pathLst>
            </a:custGeom>
            <a:solidFill>
              <a:srgbClr val="000000"/>
            </a:solidFill>
            <a:ln w="9525">
              <a:noFill/>
              <a:round/>
              <a:headEnd/>
              <a:tailEnd/>
            </a:ln>
          </p:spPr>
          <p:txBody>
            <a:bodyPr/>
            <a:lstStyle/>
            <a:p>
              <a:endParaRPr lang="en-US"/>
            </a:p>
          </p:txBody>
        </p:sp>
        <p:sp>
          <p:nvSpPr>
            <p:cNvPr id="17496" name="Freeform 656"/>
            <p:cNvSpPr>
              <a:spLocks/>
            </p:cNvSpPr>
            <p:nvPr/>
          </p:nvSpPr>
          <p:spPr bwMode="auto">
            <a:xfrm>
              <a:off x="1133" y="1508"/>
              <a:ext cx="365" cy="88"/>
            </a:xfrm>
            <a:custGeom>
              <a:avLst/>
              <a:gdLst>
                <a:gd name="T0" fmla="*/ 0 w 1177"/>
                <a:gd name="T1" fmla="*/ 0 h 150"/>
                <a:gd name="T2" fmla="*/ 0 w 1177"/>
                <a:gd name="T3" fmla="*/ 0 h 150"/>
                <a:gd name="T4" fmla="*/ 0 w 1177"/>
                <a:gd name="T5" fmla="*/ 1 h 150"/>
                <a:gd name="T6" fmla="*/ 0 w 1177"/>
                <a:gd name="T7" fmla="*/ 1 h 150"/>
                <a:gd name="T8" fmla="*/ 0 w 1177"/>
                <a:gd name="T9" fmla="*/ 2 h 150"/>
                <a:gd name="T10" fmla="*/ 0 w 1177"/>
                <a:gd name="T11" fmla="*/ 2 h 150"/>
                <a:gd name="T12" fmla="*/ 0 w 1177"/>
                <a:gd name="T13" fmla="*/ 1 h 150"/>
                <a:gd name="T14" fmla="*/ 0 w 1177"/>
                <a:gd name="T15" fmla="*/ 0 h 150"/>
                <a:gd name="T16" fmla="*/ 0 w 1177"/>
                <a:gd name="T17" fmla="*/ 1 h 150"/>
                <a:gd name="T18" fmla="*/ 0 w 1177"/>
                <a:gd name="T19" fmla="*/ 0 h 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77"/>
                <a:gd name="T31" fmla="*/ 0 h 150"/>
                <a:gd name="T32" fmla="*/ 1177 w 1177"/>
                <a:gd name="T33" fmla="*/ 150 h 1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77" h="150">
                  <a:moveTo>
                    <a:pt x="0" y="0"/>
                  </a:moveTo>
                  <a:lnTo>
                    <a:pt x="0" y="0"/>
                  </a:lnTo>
                  <a:lnTo>
                    <a:pt x="2" y="28"/>
                  </a:lnTo>
                  <a:lnTo>
                    <a:pt x="681" y="79"/>
                  </a:lnTo>
                  <a:lnTo>
                    <a:pt x="1177" y="150"/>
                  </a:lnTo>
                  <a:lnTo>
                    <a:pt x="1177" y="121"/>
                  </a:lnTo>
                  <a:lnTo>
                    <a:pt x="700" y="51"/>
                  </a:lnTo>
                  <a:lnTo>
                    <a:pt x="6" y="0"/>
                  </a:lnTo>
                  <a:lnTo>
                    <a:pt x="4" y="14"/>
                  </a:lnTo>
                  <a:lnTo>
                    <a:pt x="0" y="0"/>
                  </a:lnTo>
                  <a:close/>
                </a:path>
              </a:pathLst>
            </a:custGeom>
            <a:solidFill>
              <a:srgbClr val="000000"/>
            </a:solidFill>
            <a:ln w="9525">
              <a:noFill/>
              <a:round/>
              <a:headEnd/>
              <a:tailEnd/>
            </a:ln>
          </p:spPr>
          <p:txBody>
            <a:bodyPr/>
            <a:lstStyle/>
            <a:p>
              <a:endParaRPr lang="en-US"/>
            </a:p>
          </p:txBody>
        </p:sp>
        <p:sp>
          <p:nvSpPr>
            <p:cNvPr id="17497" name="Freeform 657"/>
            <p:cNvSpPr>
              <a:spLocks/>
            </p:cNvSpPr>
            <p:nvPr/>
          </p:nvSpPr>
          <p:spPr bwMode="auto">
            <a:xfrm>
              <a:off x="3722" y="308"/>
              <a:ext cx="259" cy="1907"/>
            </a:xfrm>
            <a:custGeom>
              <a:avLst/>
              <a:gdLst>
                <a:gd name="T0" fmla="*/ 2 w 518"/>
                <a:gd name="T1" fmla="*/ 1907 h 1907"/>
                <a:gd name="T2" fmla="*/ 2 w 518"/>
                <a:gd name="T3" fmla="*/ 1907 h 1907"/>
                <a:gd name="T4" fmla="*/ 2 w 518"/>
                <a:gd name="T5" fmla="*/ 1862 h 1907"/>
                <a:gd name="T6" fmla="*/ 2 w 518"/>
                <a:gd name="T7" fmla="*/ 1750 h 1907"/>
                <a:gd name="T8" fmla="*/ 2 w 518"/>
                <a:gd name="T9" fmla="*/ 1594 h 1907"/>
                <a:gd name="T10" fmla="*/ 2 w 518"/>
                <a:gd name="T11" fmla="*/ 1396 h 1907"/>
                <a:gd name="T12" fmla="*/ 1 w 518"/>
                <a:gd name="T13" fmla="*/ 1175 h 1907"/>
                <a:gd name="T14" fmla="*/ 1 w 518"/>
                <a:gd name="T15" fmla="*/ 940 h 1907"/>
                <a:gd name="T16" fmla="*/ 1 w 518"/>
                <a:gd name="T17" fmla="*/ 707 h 1907"/>
                <a:gd name="T18" fmla="*/ 1 w 518"/>
                <a:gd name="T19" fmla="*/ 487 h 1907"/>
                <a:gd name="T20" fmla="*/ 1 w 518"/>
                <a:gd name="T21" fmla="*/ 294 h 1907"/>
                <a:gd name="T22" fmla="*/ 1 w 518"/>
                <a:gd name="T23" fmla="*/ 139 h 1907"/>
                <a:gd name="T24" fmla="*/ 1 w 518"/>
                <a:gd name="T25" fmla="*/ 37 h 1907"/>
                <a:gd name="T26" fmla="*/ 1 w 518"/>
                <a:gd name="T27" fmla="*/ 0 h 1907"/>
                <a:gd name="T28" fmla="*/ 1 w 518"/>
                <a:gd name="T29" fmla="*/ 2 h 1907"/>
                <a:gd name="T30" fmla="*/ 0 w 518"/>
                <a:gd name="T31" fmla="*/ 3 h 1907"/>
                <a:gd name="T32" fmla="*/ 1 w 518"/>
                <a:gd name="T33" fmla="*/ 40 h 1907"/>
                <a:gd name="T34" fmla="*/ 1 w 518"/>
                <a:gd name="T35" fmla="*/ 142 h 1907"/>
                <a:gd name="T36" fmla="*/ 1 w 518"/>
                <a:gd name="T37" fmla="*/ 296 h 1907"/>
                <a:gd name="T38" fmla="*/ 1 w 518"/>
                <a:gd name="T39" fmla="*/ 489 h 1907"/>
                <a:gd name="T40" fmla="*/ 1 w 518"/>
                <a:gd name="T41" fmla="*/ 709 h 1907"/>
                <a:gd name="T42" fmla="*/ 1 w 518"/>
                <a:gd name="T43" fmla="*/ 942 h 1907"/>
                <a:gd name="T44" fmla="*/ 1 w 518"/>
                <a:gd name="T45" fmla="*/ 1177 h 1907"/>
                <a:gd name="T46" fmla="*/ 1 w 518"/>
                <a:gd name="T47" fmla="*/ 1399 h 1907"/>
                <a:gd name="T48" fmla="*/ 2 w 518"/>
                <a:gd name="T49" fmla="*/ 1596 h 1907"/>
                <a:gd name="T50" fmla="*/ 2 w 518"/>
                <a:gd name="T51" fmla="*/ 1757 h 1907"/>
                <a:gd name="T52" fmla="*/ 2 w 518"/>
                <a:gd name="T53" fmla="*/ 1862 h 1907"/>
                <a:gd name="T54" fmla="*/ 2 w 518"/>
                <a:gd name="T55" fmla="*/ 1907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18"/>
                <a:gd name="T85" fmla="*/ 0 h 1907"/>
                <a:gd name="T86" fmla="*/ 518 w 518"/>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18" h="1907">
                  <a:moveTo>
                    <a:pt x="464" y="1907"/>
                  </a:moveTo>
                  <a:lnTo>
                    <a:pt x="514" y="1907"/>
                  </a:lnTo>
                  <a:lnTo>
                    <a:pt x="518" y="1862"/>
                  </a:lnTo>
                  <a:lnTo>
                    <a:pt x="502" y="1750"/>
                  </a:lnTo>
                  <a:lnTo>
                    <a:pt x="469" y="1594"/>
                  </a:lnTo>
                  <a:lnTo>
                    <a:pt x="423" y="1396"/>
                  </a:lnTo>
                  <a:lnTo>
                    <a:pt x="369" y="1175"/>
                  </a:lnTo>
                  <a:lnTo>
                    <a:pt x="307" y="940"/>
                  </a:lnTo>
                  <a:lnTo>
                    <a:pt x="245" y="707"/>
                  </a:lnTo>
                  <a:lnTo>
                    <a:pt x="186" y="487"/>
                  </a:lnTo>
                  <a:lnTo>
                    <a:pt x="132" y="294"/>
                  </a:lnTo>
                  <a:lnTo>
                    <a:pt x="89" y="139"/>
                  </a:lnTo>
                  <a:lnTo>
                    <a:pt x="60" y="37"/>
                  </a:lnTo>
                  <a:lnTo>
                    <a:pt x="51" y="0"/>
                  </a:lnTo>
                  <a:lnTo>
                    <a:pt x="25" y="2"/>
                  </a:lnTo>
                  <a:lnTo>
                    <a:pt x="0" y="3"/>
                  </a:lnTo>
                  <a:lnTo>
                    <a:pt x="10" y="40"/>
                  </a:lnTo>
                  <a:lnTo>
                    <a:pt x="39" y="142"/>
                  </a:lnTo>
                  <a:lnTo>
                    <a:pt x="81" y="296"/>
                  </a:lnTo>
                  <a:lnTo>
                    <a:pt x="135" y="489"/>
                  </a:lnTo>
                  <a:lnTo>
                    <a:pt x="195" y="709"/>
                  </a:lnTo>
                  <a:lnTo>
                    <a:pt x="257" y="942"/>
                  </a:lnTo>
                  <a:lnTo>
                    <a:pt x="319" y="1177"/>
                  </a:lnTo>
                  <a:lnTo>
                    <a:pt x="373" y="1399"/>
                  </a:lnTo>
                  <a:lnTo>
                    <a:pt x="419" y="1596"/>
                  </a:lnTo>
                  <a:lnTo>
                    <a:pt x="452" y="1757"/>
                  </a:lnTo>
                  <a:lnTo>
                    <a:pt x="467" y="1862"/>
                  </a:lnTo>
                  <a:lnTo>
                    <a:pt x="464" y="1907"/>
                  </a:lnTo>
                  <a:close/>
                </a:path>
              </a:pathLst>
            </a:custGeom>
            <a:solidFill>
              <a:srgbClr val="000000"/>
            </a:solidFill>
            <a:ln w="9525">
              <a:noFill/>
              <a:round/>
              <a:headEnd/>
              <a:tailEnd/>
            </a:ln>
          </p:spPr>
          <p:txBody>
            <a:bodyPr/>
            <a:lstStyle/>
            <a:p>
              <a:endParaRPr lang="en-US"/>
            </a:p>
          </p:txBody>
        </p:sp>
        <p:sp>
          <p:nvSpPr>
            <p:cNvPr id="17498" name="Freeform 658"/>
            <p:cNvSpPr>
              <a:spLocks/>
            </p:cNvSpPr>
            <p:nvPr/>
          </p:nvSpPr>
          <p:spPr bwMode="auto">
            <a:xfrm>
              <a:off x="3722" y="299"/>
              <a:ext cx="25" cy="26"/>
            </a:xfrm>
            <a:custGeom>
              <a:avLst/>
              <a:gdLst>
                <a:gd name="T0" fmla="*/ 0 w 51"/>
                <a:gd name="T1" fmla="*/ 11 h 26"/>
                <a:gd name="T2" fmla="*/ 0 w 51"/>
                <a:gd name="T3" fmla="*/ 21 h 26"/>
                <a:gd name="T4" fmla="*/ 0 w 51"/>
                <a:gd name="T5" fmla="*/ 26 h 26"/>
                <a:gd name="T6" fmla="*/ 0 w 51"/>
                <a:gd name="T7" fmla="*/ 15 h 26"/>
                <a:gd name="T8" fmla="*/ 0 w 51"/>
                <a:gd name="T9" fmla="*/ 4 h 26"/>
                <a:gd name="T10" fmla="*/ 0 w 51"/>
                <a:gd name="T11" fmla="*/ 0 h 26"/>
                <a:gd name="T12" fmla="*/ 0 w 51"/>
                <a:gd name="T13" fmla="*/ 12 h 26"/>
                <a:gd name="T14" fmla="*/ 0 w 51"/>
                <a:gd name="T15" fmla="*/ 12 h 26"/>
                <a:gd name="T16" fmla="*/ 0 w 51"/>
                <a:gd name="T17" fmla="*/ 11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26"/>
                <a:gd name="T29" fmla="*/ 51 w 51"/>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26">
                  <a:moveTo>
                    <a:pt x="25" y="11"/>
                  </a:moveTo>
                  <a:lnTo>
                    <a:pt x="10" y="21"/>
                  </a:lnTo>
                  <a:lnTo>
                    <a:pt x="20" y="26"/>
                  </a:lnTo>
                  <a:lnTo>
                    <a:pt x="35" y="15"/>
                  </a:lnTo>
                  <a:lnTo>
                    <a:pt x="51" y="4"/>
                  </a:lnTo>
                  <a:lnTo>
                    <a:pt x="41" y="0"/>
                  </a:lnTo>
                  <a:lnTo>
                    <a:pt x="0" y="12"/>
                  </a:lnTo>
                  <a:lnTo>
                    <a:pt x="25" y="11"/>
                  </a:lnTo>
                  <a:close/>
                </a:path>
              </a:pathLst>
            </a:custGeom>
            <a:solidFill>
              <a:srgbClr val="000000"/>
            </a:solidFill>
            <a:ln w="9525">
              <a:noFill/>
              <a:round/>
              <a:headEnd/>
              <a:tailEnd/>
            </a:ln>
          </p:spPr>
          <p:txBody>
            <a:bodyPr/>
            <a:lstStyle/>
            <a:p>
              <a:endParaRPr lang="en-US"/>
            </a:p>
          </p:txBody>
        </p:sp>
        <p:sp>
          <p:nvSpPr>
            <p:cNvPr id="17499" name="Freeform 659"/>
            <p:cNvSpPr>
              <a:spLocks/>
            </p:cNvSpPr>
            <p:nvPr/>
          </p:nvSpPr>
          <p:spPr bwMode="auto">
            <a:xfrm>
              <a:off x="3727" y="303"/>
              <a:ext cx="25" cy="11"/>
            </a:xfrm>
            <a:custGeom>
              <a:avLst/>
              <a:gdLst>
                <a:gd name="T0" fmla="*/ 1 w 50"/>
                <a:gd name="T1" fmla="*/ 11 h 11"/>
                <a:gd name="T2" fmla="*/ 0 w 50"/>
                <a:gd name="T3" fmla="*/ 10 h 11"/>
                <a:gd name="T4" fmla="*/ 1 w 50"/>
                <a:gd name="T5" fmla="*/ 4 h 11"/>
                <a:gd name="T6" fmla="*/ 1 w 50"/>
                <a:gd name="T7" fmla="*/ 0 h 11"/>
                <a:gd name="T8" fmla="*/ 1 w 50"/>
                <a:gd name="T9" fmla="*/ 11 h 11"/>
                <a:gd name="T10" fmla="*/ 0 60000 65536"/>
                <a:gd name="T11" fmla="*/ 0 60000 65536"/>
                <a:gd name="T12" fmla="*/ 0 60000 65536"/>
                <a:gd name="T13" fmla="*/ 0 60000 65536"/>
                <a:gd name="T14" fmla="*/ 0 60000 65536"/>
                <a:gd name="T15" fmla="*/ 0 w 50"/>
                <a:gd name="T16" fmla="*/ 0 h 11"/>
                <a:gd name="T17" fmla="*/ 50 w 50"/>
                <a:gd name="T18" fmla="*/ 11 h 11"/>
              </a:gdLst>
              <a:ahLst/>
              <a:cxnLst>
                <a:cxn ang="T10">
                  <a:pos x="T0" y="T1"/>
                </a:cxn>
                <a:cxn ang="T11">
                  <a:pos x="T2" y="T3"/>
                </a:cxn>
                <a:cxn ang="T12">
                  <a:pos x="T4" y="T5"/>
                </a:cxn>
                <a:cxn ang="T13">
                  <a:pos x="T6" y="T7"/>
                </a:cxn>
                <a:cxn ang="T14">
                  <a:pos x="T8" y="T9"/>
                </a:cxn>
              </a:cxnLst>
              <a:rect l="T15" t="T16" r="T17" b="T18"/>
              <a:pathLst>
                <a:path w="50" h="11">
                  <a:moveTo>
                    <a:pt x="25" y="11"/>
                  </a:moveTo>
                  <a:lnTo>
                    <a:pt x="0" y="10"/>
                  </a:lnTo>
                  <a:lnTo>
                    <a:pt x="50" y="4"/>
                  </a:lnTo>
                  <a:lnTo>
                    <a:pt x="41" y="0"/>
                  </a:lnTo>
                  <a:lnTo>
                    <a:pt x="25" y="11"/>
                  </a:lnTo>
                  <a:close/>
                </a:path>
              </a:pathLst>
            </a:custGeom>
            <a:solidFill>
              <a:srgbClr val="000000"/>
            </a:solidFill>
            <a:ln w="9525">
              <a:noFill/>
              <a:round/>
              <a:headEnd/>
              <a:tailEnd/>
            </a:ln>
          </p:spPr>
          <p:txBody>
            <a:bodyPr/>
            <a:lstStyle/>
            <a:p>
              <a:endParaRPr lang="en-US"/>
            </a:p>
          </p:txBody>
        </p:sp>
        <p:sp>
          <p:nvSpPr>
            <p:cNvPr id="17500" name="Freeform 660"/>
            <p:cNvSpPr>
              <a:spLocks/>
            </p:cNvSpPr>
            <p:nvPr/>
          </p:nvSpPr>
          <p:spPr bwMode="auto">
            <a:xfrm>
              <a:off x="1478" y="307"/>
              <a:ext cx="2274" cy="1281"/>
            </a:xfrm>
            <a:custGeom>
              <a:avLst/>
              <a:gdLst>
                <a:gd name="T0" fmla="*/ 18 w 4548"/>
                <a:gd name="T1" fmla="*/ 6 h 1281"/>
                <a:gd name="T2" fmla="*/ 18 w 4548"/>
                <a:gd name="T3" fmla="*/ 17 h 1281"/>
                <a:gd name="T4" fmla="*/ 18 w 4548"/>
                <a:gd name="T5" fmla="*/ 38 h 1281"/>
                <a:gd name="T6" fmla="*/ 18 w 4548"/>
                <a:gd name="T7" fmla="*/ 68 h 1281"/>
                <a:gd name="T8" fmla="*/ 18 w 4548"/>
                <a:gd name="T9" fmla="*/ 112 h 1281"/>
                <a:gd name="T10" fmla="*/ 17 w 4548"/>
                <a:gd name="T11" fmla="*/ 164 h 1281"/>
                <a:gd name="T12" fmla="*/ 17 w 4548"/>
                <a:gd name="T13" fmla="*/ 231 h 1281"/>
                <a:gd name="T14" fmla="*/ 15 w 4548"/>
                <a:gd name="T15" fmla="*/ 306 h 1281"/>
                <a:gd name="T16" fmla="*/ 15 w 4548"/>
                <a:gd name="T17" fmla="*/ 398 h 1281"/>
                <a:gd name="T18" fmla="*/ 14 w 4548"/>
                <a:gd name="T19" fmla="*/ 501 h 1281"/>
                <a:gd name="T20" fmla="*/ 12 w 4548"/>
                <a:gd name="T21" fmla="*/ 632 h 1281"/>
                <a:gd name="T22" fmla="*/ 11 w 4548"/>
                <a:gd name="T23" fmla="*/ 746 h 1281"/>
                <a:gd name="T24" fmla="*/ 9 w 4548"/>
                <a:gd name="T25" fmla="*/ 862 h 1281"/>
                <a:gd name="T26" fmla="*/ 8 w 4548"/>
                <a:gd name="T27" fmla="*/ 975 h 1281"/>
                <a:gd name="T28" fmla="*/ 6 w 4548"/>
                <a:gd name="T29" fmla="*/ 1056 h 1281"/>
                <a:gd name="T30" fmla="*/ 5 w 4548"/>
                <a:gd name="T31" fmla="*/ 1120 h 1281"/>
                <a:gd name="T32" fmla="*/ 5 w 4548"/>
                <a:gd name="T33" fmla="*/ 1165 h 1281"/>
                <a:gd name="T34" fmla="*/ 3 w 4548"/>
                <a:gd name="T35" fmla="*/ 1202 h 1281"/>
                <a:gd name="T36" fmla="*/ 2 w 4548"/>
                <a:gd name="T37" fmla="*/ 1227 h 1281"/>
                <a:gd name="T38" fmla="*/ 1 w 4548"/>
                <a:gd name="T39" fmla="*/ 1242 h 1281"/>
                <a:gd name="T40" fmla="*/ 1 w 4548"/>
                <a:gd name="T41" fmla="*/ 1250 h 1281"/>
                <a:gd name="T42" fmla="*/ 1 w 4548"/>
                <a:gd name="T43" fmla="*/ 1253 h 1281"/>
                <a:gd name="T44" fmla="*/ 1 w 4548"/>
                <a:gd name="T45" fmla="*/ 1253 h 1281"/>
                <a:gd name="T46" fmla="*/ 1 w 4548"/>
                <a:gd name="T47" fmla="*/ 1252 h 1281"/>
                <a:gd name="T48" fmla="*/ 1 w 4548"/>
                <a:gd name="T49" fmla="*/ 1266 h 1281"/>
                <a:gd name="T50" fmla="*/ 0 w 4548"/>
                <a:gd name="T51" fmla="*/ 1280 h 1281"/>
                <a:gd name="T52" fmla="*/ 1 w 4548"/>
                <a:gd name="T53" fmla="*/ 1281 h 1281"/>
                <a:gd name="T54" fmla="*/ 1 w 4548"/>
                <a:gd name="T55" fmla="*/ 1281 h 1281"/>
                <a:gd name="T56" fmla="*/ 1 w 4548"/>
                <a:gd name="T57" fmla="*/ 1278 h 1281"/>
                <a:gd name="T58" fmla="*/ 1 w 4548"/>
                <a:gd name="T59" fmla="*/ 1270 h 1281"/>
                <a:gd name="T60" fmla="*/ 2 w 4548"/>
                <a:gd name="T61" fmla="*/ 1255 h 1281"/>
                <a:gd name="T62" fmla="*/ 3 w 4548"/>
                <a:gd name="T63" fmla="*/ 1230 h 1281"/>
                <a:gd name="T64" fmla="*/ 4 w 4548"/>
                <a:gd name="T65" fmla="*/ 1197 h 1281"/>
                <a:gd name="T66" fmla="*/ 5 w 4548"/>
                <a:gd name="T67" fmla="*/ 1144 h 1281"/>
                <a:gd name="T68" fmla="*/ 7 w 4548"/>
                <a:gd name="T69" fmla="*/ 1078 h 1281"/>
                <a:gd name="T70" fmla="*/ 8 w 4548"/>
                <a:gd name="T71" fmla="*/ 994 h 1281"/>
                <a:gd name="T72" fmla="*/ 9 w 4548"/>
                <a:gd name="T73" fmla="*/ 903 h 1281"/>
                <a:gd name="T74" fmla="*/ 11 w 4548"/>
                <a:gd name="T75" fmla="*/ 769 h 1281"/>
                <a:gd name="T76" fmla="*/ 13 w 4548"/>
                <a:gd name="T77" fmla="*/ 625 h 1281"/>
                <a:gd name="T78" fmla="*/ 14 w 4548"/>
                <a:gd name="T79" fmla="*/ 525 h 1281"/>
                <a:gd name="T80" fmla="*/ 15 w 4548"/>
                <a:gd name="T81" fmla="*/ 422 h 1281"/>
                <a:gd name="T82" fmla="*/ 16 w 4548"/>
                <a:gd name="T83" fmla="*/ 334 h 1281"/>
                <a:gd name="T84" fmla="*/ 17 w 4548"/>
                <a:gd name="T85" fmla="*/ 252 h 1281"/>
                <a:gd name="T86" fmla="*/ 17 w 4548"/>
                <a:gd name="T87" fmla="*/ 186 h 1281"/>
                <a:gd name="T88" fmla="*/ 18 w 4548"/>
                <a:gd name="T89" fmla="*/ 130 h 1281"/>
                <a:gd name="T90" fmla="*/ 18 w 4548"/>
                <a:gd name="T91" fmla="*/ 85 h 1281"/>
                <a:gd name="T92" fmla="*/ 18 w 4548"/>
                <a:gd name="T93" fmla="*/ 49 h 1281"/>
                <a:gd name="T94" fmla="*/ 18 w 4548"/>
                <a:gd name="T95" fmla="*/ 23 h 1281"/>
                <a:gd name="T96" fmla="*/ 18 w 4548"/>
                <a:gd name="T97" fmla="*/ 0 h 1281"/>
                <a:gd name="T98" fmla="*/ 18 w 4548"/>
                <a:gd name="T99" fmla="*/ 6 h 12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548"/>
                <a:gd name="T151" fmla="*/ 0 h 1281"/>
                <a:gd name="T152" fmla="*/ 4548 w 4548"/>
                <a:gd name="T153" fmla="*/ 1281 h 12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548" h="1281">
                  <a:moveTo>
                    <a:pt x="4498" y="6"/>
                  </a:moveTo>
                  <a:lnTo>
                    <a:pt x="4496" y="17"/>
                  </a:lnTo>
                  <a:lnTo>
                    <a:pt x="4479" y="38"/>
                  </a:lnTo>
                  <a:lnTo>
                    <a:pt x="4438" y="68"/>
                  </a:lnTo>
                  <a:lnTo>
                    <a:pt x="4369" y="112"/>
                  </a:lnTo>
                  <a:lnTo>
                    <a:pt x="4270" y="164"/>
                  </a:lnTo>
                  <a:lnTo>
                    <a:pt x="4133" y="231"/>
                  </a:lnTo>
                  <a:lnTo>
                    <a:pt x="3964" y="306"/>
                  </a:lnTo>
                  <a:lnTo>
                    <a:pt x="3736" y="398"/>
                  </a:lnTo>
                  <a:lnTo>
                    <a:pt x="3466" y="501"/>
                  </a:lnTo>
                  <a:lnTo>
                    <a:pt x="3099" y="632"/>
                  </a:lnTo>
                  <a:lnTo>
                    <a:pt x="2763" y="746"/>
                  </a:lnTo>
                  <a:lnTo>
                    <a:pt x="2389" y="862"/>
                  </a:lnTo>
                  <a:lnTo>
                    <a:pt x="1976" y="975"/>
                  </a:lnTo>
                  <a:lnTo>
                    <a:pt x="1627" y="1056"/>
                  </a:lnTo>
                  <a:lnTo>
                    <a:pt x="1310" y="1120"/>
                  </a:lnTo>
                  <a:lnTo>
                    <a:pt x="1050" y="1165"/>
                  </a:lnTo>
                  <a:lnTo>
                    <a:pt x="768" y="1202"/>
                  </a:lnTo>
                  <a:lnTo>
                    <a:pt x="538" y="1227"/>
                  </a:lnTo>
                  <a:lnTo>
                    <a:pt x="353" y="1242"/>
                  </a:lnTo>
                  <a:lnTo>
                    <a:pt x="204" y="1250"/>
                  </a:lnTo>
                  <a:lnTo>
                    <a:pt x="94" y="1253"/>
                  </a:lnTo>
                  <a:lnTo>
                    <a:pt x="27" y="1253"/>
                  </a:lnTo>
                  <a:lnTo>
                    <a:pt x="4" y="1252"/>
                  </a:lnTo>
                  <a:lnTo>
                    <a:pt x="2" y="1266"/>
                  </a:lnTo>
                  <a:lnTo>
                    <a:pt x="0" y="1280"/>
                  </a:lnTo>
                  <a:lnTo>
                    <a:pt x="25" y="1281"/>
                  </a:lnTo>
                  <a:lnTo>
                    <a:pt x="94" y="1281"/>
                  </a:lnTo>
                  <a:lnTo>
                    <a:pt x="204" y="1278"/>
                  </a:lnTo>
                  <a:lnTo>
                    <a:pt x="361" y="1270"/>
                  </a:lnTo>
                  <a:lnTo>
                    <a:pt x="554" y="1255"/>
                  </a:lnTo>
                  <a:lnTo>
                    <a:pt x="776" y="1230"/>
                  </a:lnTo>
                  <a:lnTo>
                    <a:pt x="1015" y="1197"/>
                  </a:lnTo>
                  <a:lnTo>
                    <a:pt x="1341" y="1144"/>
                  </a:lnTo>
                  <a:lnTo>
                    <a:pt x="1669" y="1078"/>
                  </a:lnTo>
                  <a:lnTo>
                    <a:pt x="2022" y="994"/>
                  </a:lnTo>
                  <a:lnTo>
                    <a:pt x="2358" y="903"/>
                  </a:lnTo>
                  <a:lnTo>
                    <a:pt x="2786" y="769"/>
                  </a:lnTo>
                  <a:lnTo>
                    <a:pt x="3211" y="625"/>
                  </a:lnTo>
                  <a:lnTo>
                    <a:pt x="3493" y="525"/>
                  </a:lnTo>
                  <a:lnTo>
                    <a:pt x="3763" y="422"/>
                  </a:lnTo>
                  <a:lnTo>
                    <a:pt x="3979" y="334"/>
                  </a:lnTo>
                  <a:lnTo>
                    <a:pt x="4164" y="252"/>
                  </a:lnTo>
                  <a:lnTo>
                    <a:pt x="4301" y="186"/>
                  </a:lnTo>
                  <a:lnTo>
                    <a:pt x="4407" y="130"/>
                  </a:lnTo>
                  <a:lnTo>
                    <a:pt x="4477" y="85"/>
                  </a:lnTo>
                  <a:lnTo>
                    <a:pt x="4525" y="49"/>
                  </a:lnTo>
                  <a:lnTo>
                    <a:pt x="4546" y="23"/>
                  </a:lnTo>
                  <a:lnTo>
                    <a:pt x="4548" y="0"/>
                  </a:lnTo>
                  <a:lnTo>
                    <a:pt x="4498" y="6"/>
                  </a:lnTo>
                  <a:close/>
                </a:path>
              </a:pathLst>
            </a:custGeom>
            <a:solidFill>
              <a:srgbClr val="000000"/>
            </a:solidFill>
            <a:ln w="9525">
              <a:noFill/>
              <a:round/>
              <a:headEnd/>
              <a:tailEnd/>
            </a:ln>
          </p:spPr>
          <p:txBody>
            <a:bodyPr/>
            <a:lstStyle/>
            <a:p>
              <a:endParaRPr lang="en-US"/>
            </a:p>
          </p:txBody>
        </p:sp>
        <p:sp>
          <p:nvSpPr>
            <p:cNvPr id="17501" name="Freeform 661"/>
            <p:cNvSpPr>
              <a:spLocks/>
            </p:cNvSpPr>
            <p:nvPr/>
          </p:nvSpPr>
          <p:spPr bwMode="auto">
            <a:xfrm>
              <a:off x="1460" y="1558"/>
              <a:ext cx="581" cy="2221"/>
            </a:xfrm>
            <a:custGeom>
              <a:avLst/>
              <a:gdLst>
                <a:gd name="T0" fmla="*/ 0 w 1164"/>
                <a:gd name="T1" fmla="*/ 1 h 2221"/>
                <a:gd name="T2" fmla="*/ 0 w 1164"/>
                <a:gd name="T3" fmla="*/ 0 h 2221"/>
                <a:gd name="T4" fmla="*/ 0 w 1164"/>
                <a:gd name="T5" fmla="*/ 52 h 2221"/>
                <a:gd name="T6" fmla="*/ 0 w 1164"/>
                <a:gd name="T7" fmla="*/ 140 h 2221"/>
                <a:gd name="T8" fmla="*/ 0 w 1164"/>
                <a:gd name="T9" fmla="*/ 275 h 2221"/>
                <a:gd name="T10" fmla="*/ 1 w 1164"/>
                <a:gd name="T11" fmla="*/ 465 h 2221"/>
                <a:gd name="T12" fmla="*/ 1 w 1164"/>
                <a:gd name="T13" fmla="*/ 653 h 2221"/>
                <a:gd name="T14" fmla="*/ 2 w 1164"/>
                <a:gd name="T15" fmla="*/ 877 h 2221"/>
                <a:gd name="T16" fmla="*/ 2 w 1164"/>
                <a:gd name="T17" fmla="*/ 1128 h 2221"/>
                <a:gd name="T18" fmla="*/ 3 w 1164"/>
                <a:gd name="T19" fmla="*/ 1337 h 2221"/>
                <a:gd name="T20" fmla="*/ 3 w 1164"/>
                <a:gd name="T21" fmla="*/ 1604 h 2221"/>
                <a:gd name="T22" fmla="*/ 4 w 1164"/>
                <a:gd name="T23" fmla="*/ 1829 h 2221"/>
                <a:gd name="T24" fmla="*/ 4 w 1164"/>
                <a:gd name="T25" fmla="*/ 2033 h 2221"/>
                <a:gd name="T26" fmla="*/ 4 w 1164"/>
                <a:gd name="T27" fmla="*/ 2209 h 2221"/>
                <a:gd name="T28" fmla="*/ 4 w 1164"/>
                <a:gd name="T29" fmla="*/ 2221 h 2221"/>
                <a:gd name="T30" fmla="*/ 4 w 1164"/>
                <a:gd name="T31" fmla="*/ 2185 h 2221"/>
                <a:gd name="T32" fmla="*/ 4 w 1164"/>
                <a:gd name="T33" fmla="*/ 2031 h 2221"/>
                <a:gd name="T34" fmla="*/ 4 w 1164"/>
                <a:gd name="T35" fmla="*/ 1823 h 2221"/>
                <a:gd name="T36" fmla="*/ 4 w 1164"/>
                <a:gd name="T37" fmla="*/ 1591 h 2221"/>
                <a:gd name="T38" fmla="*/ 3 w 1164"/>
                <a:gd name="T39" fmla="*/ 1378 h 2221"/>
                <a:gd name="T40" fmla="*/ 3 w 1164"/>
                <a:gd name="T41" fmla="*/ 1098 h 2221"/>
                <a:gd name="T42" fmla="*/ 2 w 1164"/>
                <a:gd name="T43" fmla="*/ 869 h 2221"/>
                <a:gd name="T44" fmla="*/ 2 w 1164"/>
                <a:gd name="T45" fmla="*/ 644 h 2221"/>
                <a:gd name="T46" fmla="*/ 1 w 1164"/>
                <a:gd name="T47" fmla="*/ 421 h 2221"/>
                <a:gd name="T48" fmla="*/ 0 w 1164"/>
                <a:gd name="T49" fmla="*/ 264 h 2221"/>
                <a:gd name="T50" fmla="*/ 0 w 1164"/>
                <a:gd name="T51" fmla="*/ 129 h 2221"/>
                <a:gd name="T52" fmla="*/ 0 w 1164"/>
                <a:gd name="T53" fmla="*/ 41 h 2221"/>
                <a:gd name="T54" fmla="*/ 0 w 1164"/>
                <a:gd name="T55" fmla="*/ 9 h 2221"/>
                <a:gd name="T56" fmla="*/ 0 w 1164"/>
                <a:gd name="T57" fmla="*/ 15 h 2221"/>
                <a:gd name="T58" fmla="*/ 0 w 1164"/>
                <a:gd name="T59" fmla="*/ 1 h 22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64"/>
                <a:gd name="T91" fmla="*/ 0 h 2221"/>
                <a:gd name="T92" fmla="*/ 1164 w 1164"/>
                <a:gd name="T93" fmla="*/ 2221 h 22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64" h="2221">
                  <a:moveTo>
                    <a:pt x="41" y="1"/>
                  </a:moveTo>
                  <a:lnTo>
                    <a:pt x="0" y="0"/>
                  </a:lnTo>
                  <a:lnTo>
                    <a:pt x="41" y="52"/>
                  </a:lnTo>
                  <a:lnTo>
                    <a:pt x="106" y="140"/>
                  </a:lnTo>
                  <a:lnTo>
                    <a:pt x="205" y="275"/>
                  </a:lnTo>
                  <a:lnTo>
                    <a:pt x="340" y="465"/>
                  </a:lnTo>
                  <a:lnTo>
                    <a:pt x="465" y="653"/>
                  </a:lnTo>
                  <a:lnTo>
                    <a:pt x="610" y="877"/>
                  </a:lnTo>
                  <a:lnTo>
                    <a:pt x="757" y="1128"/>
                  </a:lnTo>
                  <a:lnTo>
                    <a:pt x="870" y="1337"/>
                  </a:lnTo>
                  <a:lnTo>
                    <a:pt x="990" y="1604"/>
                  </a:lnTo>
                  <a:lnTo>
                    <a:pt x="1071" y="1829"/>
                  </a:lnTo>
                  <a:lnTo>
                    <a:pt x="1114" y="2033"/>
                  </a:lnTo>
                  <a:lnTo>
                    <a:pt x="1108" y="2209"/>
                  </a:lnTo>
                  <a:lnTo>
                    <a:pt x="1145" y="2221"/>
                  </a:lnTo>
                  <a:lnTo>
                    <a:pt x="1158" y="2185"/>
                  </a:lnTo>
                  <a:lnTo>
                    <a:pt x="1164" y="2031"/>
                  </a:lnTo>
                  <a:lnTo>
                    <a:pt x="1121" y="1823"/>
                  </a:lnTo>
                  <a:lnTo>
                    <a:pt x="1040" y="1591"/>
                  </a:lnTo>
                  <a:lnTo>
                    <a:pt x="940" y="1378"/>
                  </a:lnTo>
                  <a:lnTo>
                    <a:pt x="791" y="1098"/>
                  </a:lnTo>
                  <a:lnTo>
                    <a:pt x="656" y="869"/>
                  </a:lnTo>
                  <a:lnTo>
                    <a:pt x="512" y="644"/>
                  </a:lnTo>
                  <a:lnTo>
                    <a:pt x="363" y="421"/>
                  </a:lnTo>
                  <a:lnTo>
                    <a:pt x="251" y="264"/>
                  </a:lnTo>
                  <a:lnTo>
                    <a:pt x="153" y="129"/>
                  </a:lnTo>
                  <a:lnTo>
                    <a:pt x="87" y="41"/>
                  </a:lnTo>
                  <a:lnTo>
                    <a:pt x="62" y="9"/>
                  </a:lnTo>
                  <a:lnTo>
                    <a:pt x="39" y="15"/>
                  </a:lnTo>
                  <a:lnTo>
                    <a:pt x="41" y="1"/>
                  </a:lnTo>
                  <a:close/>
                </a:path>
              </a:pathLst>
            </a:custGeom>
            <a:solidFill>
              <a:srgbClr val="000000"/>
            </a:solidFill>
            <a:ln w="9525">
              <a:noFill/>
              <a:round/>
              <a:headEnd/>
              <a:tailEnd/>
            </a:ln>
          </p:spPr>
          <p:txBody>
            <a:bodyPr/>
            <a:lstStyle/>
            <a:p>
              <a:endParaRPr lang="en-US"/>
            </a:p>
          </p:txBody>
        </p:sp>
        <p:sp>
          <p:nvSpPr>
            <p:cNvPr id="17502" name="Freeform 662"/>
            <p:cNvSpPr>
              <a:spLocks/>
            </p:cNvSpPr>
            <p:nvPr/>
          </p:nvSpPr>
          <p:spPr bwMode="auto">
            <a:xfrm>
              <a:off x="2032" y="2208"/>
              <a:ext cx="1947" cy="1571"/>
            </a:xfrm>
            <a:custGeom>
              <a:avLst/>
              <a:gdLst>
                <a:gd name="T0" fmla="*/ 0 w 3894"/>
                <a:gd name="T1" fmla="*/ 1571 h 1571"/>
                <a:gd name="T2" fmla="*/ 1 w 3894"/>
                <a:gd name="T3" fmla="*/ 1554 h 1571"/>
                <a:gd name="T4" fmla="*/ 1 w 3894"/>
                <a:gd name="T5" fmla="*/ 1505 h 1571"/>
                <a:gd name="T6" fmla="*/ 2 w 3894"/>
                <a:gd name="T7" fmla="*/ 1428 h 1571"/>
                <a:gd name="T8" fmla="*/ 4 w 3894"/>
                <a:gd name="T9" fmla="*/ 1269 h 1571"/>
                <a:gd name="T10" fmla="*/ 5 w 3894"/>
                <a:gd name="T11" fmla="*/ 1201 h 1571"/>
                <a:gd name="T12" fmla="*/ 6 w 3894"/>
                <a:gd name="T13" fmla="*/ 1060 h 1571"/>
                <a:gd name="T14" fmla="*/ 8 w 3894"/>
                <a:gd name="T15" fmla="*/ 903 h 1571"/>
                <a:gd name="T16" fmla="*/ 9 w 3894"/>
                <a:gd name="T17" fmla="*/ 735 h 1571"/>
                <a:gd name="T18" fmla="*/ 11 w 3894"/>
                <a:gd name="T19" fmla="*/ 562 h 1571"/>
                <a:gd name="T20" fmla="*/ 13 w 3894"/>
                <a:gd name="T21" fmla="*/ 377 h 1571"/>
                <a:gd name="T22" fmla="*/ 14 w 3894"/>
                <a:gd name="T23" fmla="*/ 196 h 1571"/>
                <a:gd name="T24" fmla="*/ 15 w 3894"/>
                <a:gd name="T25" fmla="*/ 13 h 1571"/>
                <a:gd name="T26" fmla="*/ 15 w 3894"/>
                <a:gd name="T27" fmla="*/ 7 h 1571"/>
                <a:gd name="T28" fmla="*/ 15 w 3894"/>
                <a:gd name="T29" fmla="*/ 0 h 1571"/>
                <a:gd name="T30" fmla="*/ 14 w 3894"/>
                <a:gd name="T31" fmla="*/ 174 h 1571"/>
                <a:gd name="T32" fmla="*/ 13 w 3894"/>
                <a:gd name="T33" fmla="*/ 356 h 1571"/>
                <a:gd name="T34" fmla="*/ 11 w 3894"/>
                <a:gd name="T35" fmla="*/ 532 h 1571"/>
                <a:gd name="T36" fmla="*/ 9 w 3894"/>
                <a:gd name="T37" fmla="*/ 711 h 1571"/>
                <a:gd name="T38" fmla="*/ 8 w 3894"/>
                <a:gd name="T39" fmla="*/ 879 h 1571"/>
                <a:gd name="T40" fmla="*/ 6 w 3894"/>
                <a:gd name="T41" fmla="*/ 1036 h 1571"/>
                <a:gd name="T42" fmla="*/ 5 w 3894"/>
                <a:gd name="T43" fmla="*/ 1177 h 1571"/>
                <a:gd name="T44" fmla="*/ 3 w 3894"/>
                <a:gd name="T45" fmla="*/ 1356 h 1571"/>
                <a:gd name="T46" fmla="*/ 2 w 3894"/>
                <a:gd name="T47" fmla="*/ 1404 h 1571"/>
                <a:gd name="T48" fmla="*/ 1 w 3894"/>
                <a:gd name="T49" fmla="*/ 1481 h 1571"/>
                <a:gd name="T50" fmla="*/ 1 w 3894"/>
                <a:gd name="T51" fmla="*/ 1530 h 1571"/>
                <a:gd name="T52" fmla="*/ 1 w 3894"/>
                <a:gd name="T53" fmla="*/ 1535 h 1571"/>
                <a:gd name="T54" fmla="*/ 0 w 3894"/>
                <a:gd name="T55" fmla="*/ 1571 h 15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894"/>
                <a:gd name="T85" fmla="*/ 0 h 1571"/>
                <a:gd name="T86" fmla="*/ 3894 w 3894"/>
                <a:gd name="T87" fmla="*/ 1571 h 15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894" h="1571">
                  <a:moveTo>
                    <a:pt x="0" y="1571"/>
                  </a:moveTo>
                  <a:lnTo>
                    <a:pt x="52" y="1554"/>
                  </a:lnTo>
                  <a:lnTo>
                    <a:pt x="196" y="1505"/>
                  </a:lnTo>
                  <a:lnTo>
                    <a:pt x="422" y="1428"/>
                  </a:lnTo>
                  <a:lnTo>
                    <a:pt x="872" y="1269"/>
                  </a:lnTo>
                  <a:lnTo>
                    <a:pt x="1061" y="1201"/>
                  </a:lnTo>
                  <a:lnTo>
                    <a:pt x="1447" y="1060"/>
                  </a:lnTo>
                  <a:lnTo>
                    <a:pt x="1860" y="903"/>
                  </a:lnTo>
                  <a:lnTo>
                    <a:pt x="2288" y="735"/>
                  </a:lnTo>
                  <a:lnTo>
                    <a:pt x="2709" y="562"/>
                  </a:lnTo>
                  <a:lnTo>
                    <a:pt x="3137" y="377"/>
                  </a:lnTo>
                  <a:lnTo>
                    <a:pt x="3529" y="196"/>
                  </a:lnTo>
                  <a:lnTo>
                    <a:pt x="3892" y="13"/>
                  </a:lnTo>
                  <a:lnTo>
                    <a:pt x="3894" y="7"/>
                  </a:lnTo>
                  <a:lnTo>
                    <a:pt x="3845" y="0"/>
                  </a:lnTo>
                  <a:lnTo>
                    <a:pt x="3498" y="174"/>
                  </a:lnTo>
                  <a:lnTo>
                    <a:pt x="3106" y="356"/>
                  </a:lnTo>
                  <a:lnTo>
                    <a:pt x="2701" y="532"/>
                  </a:lnTo>
                  <a:lnTo>
                    <a:pt x="2261" y="711"/>
                  </a:lnTo>
                  <a:lnTo>
                    <a:pt x="1833" y="879"/>
                  </a:lnTo>
                  <a:lnTo>
                    <a:pt x="1420" y="1036"/>
                  </a:lnTo>
                  <a:lnTo>
                    <a:pt x="1034" y="1177"/>
                  </a:lnTo>
                  <a:lnTo>
                    <a:pt x="532" y="1356"/>
                  </a:lnTo>
                  <a:lnTo>
                    <a:pt x="399" y="1404"/>
                  </a:lnTo>
                  <a:lnTo>
                    <a:pt x="173" y="1481"/>
                  </a:lnTo>
                  <a:lnTo>
                    <a:pt x="28" y="1530"/>
                  </a:lnTo>
                  <a:lnTo>
                    <a:pt x="13" y="1535"/>
                  </a:lnTo>
                  <a:lnTo>
                    <a:pt x="0" y="1571"/>
                  </a:lnTo>
                  <a:close/>
                </a:path>
              </a:pathLst>
            </a:custGeom>
            <a:solidFill>
              <a:srgbClr val="000000"/>
            </a:solidFill>
            <a:ln w="9525">
              <a:noFill/>
              <a:round/>
              <a:headEnd/>
              <a:tailEnd/>
            </a:ln>
          </p:spPr>
          <p:txBody>
            <a:bodyPr/>
            <a:lstStyle/>
            <a:p>
              <a:endParaRPr lang="en-US"/>
            </a:p>
          </p:txBody>
        </p:sp>
        <p:sp>
          <p:nvSpPr>
            <p:cNvPr id="17503" name="Freeform 663"/>
            <p:cNvSpPr>
              <a:spLocks/>
            </p:cNvSpPr>
            <p:nvPr/>
          </p:nvSpPr>
          <p:spPr bwMode="auto">
            <a:xfrm>
              <a:off x="1488" y="1488"/>
              <a:ext cx="648" cy="492"/>
            </a:xfrm>
            <a:custGeom>
              <a:avLst/>
              <a:gdLst>
                <a:gd name="T0" fmla="*/ 546 w 648"/>
                <a:gd name="T1" fmla="*/ 0 h 492"/>
                <a:gd name="T2" fmla="*/ 405 w 648"/>
                <a:gd name="T3" fmla="*/ 36 h 492"/>
                <a:gd name="T4" fmla="*/ 264 w 648"/>
                <a:gd name="T5" fmla="*/ 66 h 492"/>
                <a:gd name="T6" fmla="*/ 99 w 648"/>
                <a:gd name="T7" fmla="*/ 90 h 492"/>
                <a:gd name="T8" fmla="*/ 0 w 648"/>
                <a:gd name="T9" fmla="*/ 93 h 492"/>
                <a:gd name="T10" fmla="*/ 147 w 648"/>
                <a:gd name="T11" fmla="*/ 492 h 492"/>
                <a:gd name="T12" fmla="*/ 360 w 648"/>
                <a:gd name="T13" fmla="*/ 414 h 492"/>
                <a:gd name="T14" fmla="*/ 648 w 648"/>
                <a:gd name="T15" fmla="*/ 273 h 492"/>
                <a:gd name="T16" fmla="*/ 624 w 648"/>
                <a:gd name="T17" fmla="*/ 168 h 492"/>
                <a:gd name="T18" fmla="*/ 612 w 648"/>
                <a:gd name="T19" fmla="*/ 123 h 492"/>
                <a:gd name="T20" fmla="*/ 588 w 648"/>
                <a:gd name="T21" fmla="*/ 63 h 492"/>
                <a:gd name="T22" fmla="*/ 546 w 648"/>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492"/>
                <a:gd name="T38" fmla="*/ 648 w 648"/>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492">
                  <a:moveTo>
                    <a:pt x="546" y="0"/>
                  </a:moveTo>
                  <a:lnTo>
                    <a:pt x="405" y="36"/>
                  </a:lnTo>
                  <a:lnTo>
                    <a:pt x="264" y="66"/>
                  </a:lnTo>
                  <a:lnTo>
                    <a:pt x="99" y="90"/>
                  </a:lnTo>
                  <a:lnTo>
                    <a:pt x="0" y="93"/>
                  </a:lnTo>
                  <a:lnTo>
                    <a:pt x="147" y="492"/>
                  </a:lnTo>
                  <a:lnTo>
                    <a:pt x="360" y="414"/>
                  </a:lnTo>
                  <a:lnTo>
                    <a:pt x="648" y="273"/>
                  </a:lnTo>
                  <a:lnTo>
                    <a:pt x="624" y="168"/>
                  </a:lnTo>
                  <a:lnTo>
                    <a:pt x="612" y="123"/>
                  </a:lnTo>
                  <a:lnTo>
                    <a:pt x="588" y="63"/>
                  </a:lnTo>
                  <a:lnTo>
                    <a:pt x="546"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504" name="Freeform 664"/>
            <p:cNvSpPr>
              <a:spLocks/>
            </p:cNvSpPr>
            <p:nvPr/>
          </p:nvSpPr>
          <p:spPr bwMode="auto">
            <a:xfrm>
              <a:off x="2049" y="1278"/>
              <a:ext cx="597" cy="477"/>
            </a:xfrm>
            <a:custGeom>
              <a:avLst/>
              <a:gdLst>
                <a:gd name="T0" fmla="*/ 465 w 597"/>
                <a:gd name="T1" fmla="*/ 0 h 477"/>
                <a:gd name="T2" fmla="*/ 249 w 597"/>
                <a:gd name="T3" fmla="*/ 105 h 477"/>
                <a:gd name="T4" fmla="*/ 0 w 597"/>
                <a:gd name="T5" fmla="*/ 207 h 477"/>
                <a:gd name="T6" fmla="*/ 27 w 597"/>
                <a:gd name="T7" fmla="*/ 258 h 477"/>
                <a:gd name="T8" fmla="*/ 57 w 597"/>
                <a:gd name="T9" fmla="*/ 315 h 477"/>
                <a:gd name="T10" fmla="*/ 75 w 597"/>
                <a:gd name="T11" fmla="*/ 384 h 477"/>
                <a:gd name="T12" fmla="*/ 99 w 597"/>
                <a:gd name="T13" fmla="*/ 477 h 477"/>
                <a:gd name="T14" fmla="*/ 366 w 597"/>
                <a:gd name="T15" fmla="*/ 348 h 477"/>
                <a:gd name="T16" fmla="*/ 597 w 597"/>
                <a:gd name="T17" fmla="*/ 219 h 477"/>
                <a:gd name="T18" fmla="*/ 567 w 597"/>
                <a:gd name="T19" fmla="*/ 120 h 477"/>
                <a:gd name="T20" fmla="*/ 519 w 597"/>
                <a:gd name="T21" fmla="*/ 54 h 477"/>
                <a:gd name="T22" fmla="*/ 465 w 597"/>
                <a:gd name="T23" fmla="*/ 0 h 4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97"/>
                <a:gd name="T37" fmla="*/ 0 h 477"/>
                <a:gd name="T38" fmla="*/ 597 w 597"/>
                <a:gd name="T39" fmla="*/ 477 h 4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97" h="477">
                  <a:moveTo>
                    <a:pt x="465" y="0"/>
                  </a:moveTo>
                  <a:lnTo>
                    <a:pt x="249" y="105"/>
                  </a:lnTo>
                  <a:lnTo>
                    <a:pt x="0" y="207"/>
                  </a:lnTo>
                  <a:lnTo>
                    <a:pt x="27" y="258"/>
                  </a:lnTo>
                  <a:lnTo>
                    <a:pt x="57" y="315"/>
                  </a:lnTo>
                  <a:lnTo>
                    <a:pt x="75" y="384"/>
                  </a:lnTo>
                  <a:lnTo>
                    <a:pt x="99" y="477"/>
                  </a:lnTo>
                  <a:lnTo>
                    <a:pt x="366" y="348"/>
                  </a:lnTo>
                  <a:lnTo>
                    <a:pt x="597" y="219"/>
                  </a:lnTo>
                  <a:lnTo>
                    <a:pt x="567" y="120"/>
                  </a:lnTo>
                  <a:lnTo>
                    <a:pt x="519" y="54"/>
                  </a:lnTo>
                  <a:lnTo>
                    <a:pt x="4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05" name="Freeform 665"/>
            <p:cNvSpPr>
              <a:spLocks/>
            </p:cNvSpPr>
            <p:nvPr/>
          </p:nvSpPr>
          <p:spPr bwMode="auto">
            <a:xfrm>
              <a:off x="2526" y="1005"/>
              <a:ext cx="585" cy="486"/>
            </a:xfrm>
            <a:custGeom>
              <a:avLst/>
              <a:gdLst>
                <a:gd name="T0" fmla="*/ 447 w 585"/>
                <a:gd name="T1" fmla="*/ 0 h 486"/>
                <a:gd name="T2" fmla="*/ 261 w 585"/>
                <a:gd name="T3" fmla="*/ 120 h 486"/>
                <a:gd name="T4" fmla="*/ 0 w 585"/>
                <a:gd name="T5" fmla="*/ 264 h 486"/>
                <a:gd name="T6" fmla="*/ 48 w 585"/>
                <a:gd name="T7" fmla="*/ 318 h 486"/>
                <a:gd name="T8" fmla="*/ 93 w 585"/>
                <a:gd name="T9" fmla="*/ 384 h 486"/>
                <a:gd name="T10" fmla="*/ 132 w 585"/>
                <a:gd name="T11" fmla="*/ 486 h 486"/>
                <a:gd name="T12" fmla="*/ 363 w 585"/>
                <a:gd name="T13" fmla="*/ 348 h 486"/>
                <a:gd name="T14" fmla="*/ 585 w 585"/>
                <a:gd name="T15" fmla="*/ 210 h 486"/>
                <a:gd name="T16" fmla="*/ 528 w 585"/>
                <a:gd name="T17" fmla="*/ 102 h 486"/>
                <a:gd name="T18" fmla="*/ 486 w 585"/>
                <a:gd name="T19" fmla="*/ 51 h 486"/>
                <a:gd name="T20" fmla="*/ 447 w 585"/>
                <a:gd name="T21" fmla="*/ 0 h 4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5"/>
                <a:gd name="T34" fmla="*/ 0 h 486"/>
                <a:gd name="T35" fmla="*/ 585 w 585"/>
                <a:gd name="T36" fmla="*/ 486 h 4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5" h="486">
                  <a:moveTo>
                    <a:pt x="447" y="0"/>
                  </a:moveTo>
                  <a:lnTo>
                    <a:pt x="261" y="120"/>
                  </a:lnTo>
                  <a:lnTo>
                    <a:pt x="0" y="264"/>
                  </a:lnTo>
                  <a:lnTo>
                    <a:pt x="48" y="318"/>
                  </a:lnTo>
                  <a:lnTo>
                    <a:pt x="93" y="384"/>
                  </a:lnTo>
                  <a:lnTo>
                    <a:pt x="132" y="486"/>
                  </a:lnTo>
                  <a:lnTo>
                    <a:pt x="363" y="348"/>
                  </a:lnTo>
                  <a:lnTo>
                    <a:pt x="585" y="210"/>
                  </a:lnTo>
                  <a:lnTo>
                    <a:pt x="528" y="102"/>
                  </a:lnTo>
                  <a:lnTo>
                    <a:pt x="486" y="51"/>
                  </a:lnTo>
                  <a:lnTo>
                    <a:pt x="447"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7506" name="Freeform 666"/>
            <p:cNvSpPr>
              <a:spLocks/>
            </p:cNvSpPr>
            <p:nvPr/>
          </p:nvSpPr>
          <p:spPr bwMode="auto">
            <a:xfrm>
              <a:off x="2988" y="723"/>
              <a:ext cx="531" cy="483"/>
            </a:xfrm>
            <a:custGeom>
              <a:avLst/>
              <a:gdLst>
                <a:gd name="T0" fmla="*/ 372 w 531"/>
                <a:gd name="T1" fmla="*/ 0 h 483"/>
                <a:gd name="T2" fmla="*/ 198 w 531"/>
                <a:gd name="T3" fmla="*/ 132 h 483"/>
                <a:gd name="T4" fmla="*/ 0 w 531"/>
                <a:gd name="T5" fmla="*/ 273 h 483"/>
                <a:gd name="T6" fmla="*/ 33 w 531"/>
                <a:gd name="T7" fmla="*/ 321 h 483"/>
                <a:gd name="T8" fmla="*/ 78 w 531"/>
                <a:gd name="T9" fmla="*/ 381 h 483"/>
                <a:gd name="T10" fmla="*/ 108 w 531"/>
                <a:gd name="T11" fmla="*/ 423 h 483"/>
                <a:gd name="T12" fmla="*/ 135 w 531"/>
                <a:gd name="T13" fmla="*/ 483 h 483"/>
                <a:gd name="T14" fmla="*/ 351 w 531"/>
                <a:gd name="T15" fmla="*/ 345 h 483"/>
                <a:gd name="T16" fmla="*/ 531 w 531"/>
                <a:gd name="T17" fmla="*/ 234 h 483"/>
                <a:gd name="T18" fmla="*/ 468 w 531"/>
                <a:gd name="T19" fmla="*/ 111 h 483"/>
                <a:gd name="T20" fmla="*/ 435 w 531"/>
                <a:gd name="T21" fmla="*/ 54 h 483"/>
                <a:gd name="T22" fmla="*/ 372 w 531"/>
                <a:gd name="T23" fmla="*/ 0 h 4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483"/>
                <a:gd name="T38" fmla="*/ 531 w 531"/>
                <a:gd name="T39" fmla="*/ 483 h 4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483">
                  <a:moveTo>
                    <a:pt x="372" y="0"/>
                  </a:moveTo>
                  <a:lnTo>
                    <a:pt x="198" y="132"/>
                  </a:lnTo>
                  <a:lnTo>
                    <a:pt x="0" y="273"/>
                  </a:lnTo>
                  <a:lnTo>
                    <a:pt x="33" y="321"/>
                  </a:lnTo>
                  <a:lnTo>
                    <a:pt x="78" y="381"/>
                  </a:lnTo>
                  <a:lnTo>
                    <a:pt x="108" y="423"/>
                  </a:lnTo>
                  <a:lnTo>
                    <a:pt x="135" y="483"/>
                  </a:lnTo>
                  <a:lnTo>
                    <a:pt x="351" y="345"/>
                  </a:lnTo>
                  <a:lnTo>
                    <a:pt x="531" y="234"/>
                  </a:lnTo>
                  <a:lnTo>
                    <a:pt x="468" y="111"/>
                  </a:lnTo>
                  <a:lnTo>
                    <a:pt x="435" y="54"/>
                  </a:lnTo>
                  <a:lnTo>
                    <a:pt x="372"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07" name="Freeform 667"/>
            <p:cNvSpPr>
              <a:spLocks/>
            </p:cNvSpPr>
            <p:nvPr/>
          </p:nvSpPr>
          <p:spPr bwMode="auto">
            <a:xfrm>
              <a:off x="3369" y="363"/>
              <a:ext cx="417" cy="585"/>
            </a:xfrm>
            <a:custGeom>
              <a:avLst/>
              <a:gdLst>
                <a:gd name="T0" fmla="*/ 363 w 417"/>
                <a:gd name="T1" fmla="*/ 0 h 585"/>
                <a:gd name="T2" fmla="*/ 207 w 417"/>
                <a:gd name="T3" fmla="*/ 171 h 585"/>
                <a:gd name="T4" fmla="*/ 0 w 417"/>
                <a:gd name="T5" fmla="*/ 345 h 585"/>
                <a:gd name="T6" fmla="*/ 57 w 417"/>
                <a:gd name="T7" fmla="*/ 393 h 585"/>
                <a:gd name="T8" fmla="*/ 99 w 417"/>
                <a:gd name="T9" fmla="*/ 462 h 585"/>
                <a:gd name="T10" fmla="*/ 162 w 417"/>
                <a:gd name="T11" fmla="*/ 585 h 585"/>
                <a:gd name="T12" fmla="*/ 369 w 417"/>
                <a:gd name="T13" fmla="*/ 447 h 585"/>
                <a:gd name="T14" fmla="*/ 417 w 417"/>
                <a:gd name="T15" fmla="*/ 402 h 585"/>
                <a:gd name="T16" fmla="*/ 363 w 417"/>
                <a:gd name="T17" fmla="*/ 0 h 5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7"/>
                <a:gd name="T28" fmla="*/ 0 h 585"/>
                <a:gd name="T29" fmla="*/ 417 w 417"/>
                <a:gd name="T30" fmla="*/ 585 h 5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7" h="585">
                  <a:moveTo>
                    <a:pt x="363" y="0"/>
                  </a:moveTo>
                  <a:lnTo>
                    <a:pt x="207" y="171"/>
                  </a:lnTo>
                  <a:lnTo>
                    <a:pt x="0" y="345"/>
                  </a:lnTo>
                  <a:lnTo>
                    <a:pt x="57" y="393"/>
                  </a:lnTo>
                  <a:lnTo>
                    <a:pt x="99" y="462"/>
                  </a:lnTo>
                  <a:lnTo>
                    <a:pt x="162" y="585"/>
                  </a:lnTo>
                  <a:lnTo>
                    <a:pt x="369" y="447"/>
                  </a:lnTo>
                  <a:lnTo>
                    <a:pt x="417" y="402"/>
                  </a:lnTo>
                  <a:lnTo>
                    <a:pt x="36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08" name="Freeform 668"/>
            <p:cNvSpPr>
              <a:spLocks/>
            </p:cNvSpPr>
            <p:nvPr/>
          </p:nvSpPr>
          <p:spPr bwMode="auto">
            <a:xfrm>
              <a:off x="1644" y="1896"/>
              <a:ext cx="444" cy="450"/>
            </a:xfrm>
            <a:custGeom>
              <a:avLst/>
              <a:gdLst>
                <a:gd name="T0" fmla="*/ 273 w 444"/>
                <a:gd name="T1" fmla="*/ 0 h 450"/>
                <a:gd name="T2" fmla="*/ 0 w 444"/>
                <a:gd name="T3" fmla="*/ 102 h 450"/>
                <a:gd name="T4" fmla="*/ 114 w 444"/>
                <a:gd name="T5" fmla="*/ 450 h 450"/>
                <a:gd name="T6" fmla="*/ 276 w 444"/>
                <a:gd name="T7" fmla="*/ 387 h 450"/>
                <a:gd name="T8" fmla="*/ 444 w 444"/>
                <a:gd name="T9" fmla="*/ 303 h 450"/>
                <a:gd name="T10" fmla="*/ 390 w 444"/>
                <a:gd name="T11" fmla="*/ 138 h 450"/>
                <a:gd name="T12" fmla="*/ 333 w 444"/>
                <a:gd name="T13" fmla="*/ 57 h 450"/>
                <a:gd name="T14" fmla="*/ 273 w 444"/>
                <a:gd name="T15" fmla="*/ 0 h 450"/>
                <a:gd name="T16" fmla="*/ 0 60000 65536"/>
                <a:gd name="T17" fmla="*/ 0 60000 65536"/>
                <a:gd name="T18" fmla="*/ 0 60000 65536"/>
                <a:gd name="T19" fmla="*/ 0 60000 65536"/>
                <a:gd name="T20" fmla="*/ 0 60000 65536"/>
                <a:gd name="T21" fmla="*/ 0 60000 65536"/>
                <a:gd name="T22" fmla="*/ 0 60000 65536"/>
                <a:gd name="T23" fmla="*/ 0 60000 65536"/>
                <a:gd name="T24" fmla="*/ 0 w 444"/>
                <a:gd name="T25" fmla="*/ 0 h 450"/>
                <a:gd name="T26" fmla="*/ 444 w 444"/>
                <a:gd name="T27" fmla="*/ 450 h 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4" h="450">
                  <a:moveTo>
                    <a:pt x="273" y="0"/>
                  </a:moveTo>
                  <a:lnTo>
                    <a:pt x="0" y="102"/>
                  </a:lnTo>
                  <a:lnTo>
                    <a:pt x="114" y="450"/>
                  </a:lnTo>
                  <a:lnTo>
                    <a:pt x="276" y="387"/>
                  </a:lnTo>
                  <a:lnTo>
                    <a:pt x="444" y="303"/>
                  </a:lnTo>
                  <a:lnTo>
                    <a:pt x="390" y="138"/>
                  </a:lnTo>
                  <a:lnTo>
                    <a:pt x="333" y="57"/>
                  </a:lnTo>
                  <a:lnTo>
                    <a:pt x="273"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509" name="Freeform 669"/>
            <p:cNvSpPr>
              <a:spLocks/>
            </p:cNvSpPr>
            <p:nvPr/>
          </p:nvSpPr>
          <p:spPr bwMode="auto">
            <a:xfrm>
              <a:off x="1929" y="1677"/>
              <a:ext cx="579" cy="507"/>
            </a:xfrm>
            <a:custGeom>
              <a:avLst/>
              <a:gdLst>
                <a:gd name="T0" fmla="*/ 435 w 579"/>
                <a:gd name="T1" fmla="*/ 0 h 507"/>
                <a:gd name="T2" fmla="*/ 225 w 579"/>
                <a:gd name="T3" fmla="*/ 99 h 507"/>
                <a:gd name="T4" fmla="*/ 0 w 579"/>
                <a:gd name="T5" fmla="*/ 210 h 507"/>
                <a:gd name="T6" fmla="*/ 63 w 579"/>
                <a:gd name="T7" fmla="*/ 276 h 507"/>
                <a:gd name="T8" fmla="*/ 120 w 579"/>
                <a:gd name="T9" fmla="*/ 360 h 507"/>
                <a:gd name="T10" fmla="*/ 141 w 579"/>
                <a:gd name="T11" fmla="*/ 429 h 507"/>
                <a:gd name="T12" fmla="*/ 174 w 579"/>
                <a:gd name="T13" fmla="*/ 507 h 507"/>
                <a:gd name="T14" fmla="*/ 390 w 579"/>
                <a:gd name="T15" fmla="*/ 390 h 507"/>
                <a:gd name="T16" fmla="*/ 579 w 579"/>
                <a:gd name="T17" fmla="*/ 279 h 507"/>
                <a:gd name="T18" fmla="*/ 540 w 579"/>
                <a:gd name="T19" fmla="*/ 165 h 507"/>
                <a:gd name="T20" fmla="*/ 495 w 579"/>
                <a:gd name="T21" fmla="*/ 87 h 507"/>
                <a:gd name="T22" fmla="*/ 435 w 579"/>
                <a:gd name="T23" fmla="*/ 0 h 5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9"/>
                <a:gd name="T37" fmla="*/ 0 h 507"/>
                <a:gd name="T38" fmla="*/ 579 w 579"/>
                <a:gd name="T39" fmla="*/ 507 h 5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9" h="507">
                  <a:moveTo>
                    <a:pt x="435" y="0"/>
                  </a:moveTo>
                  <a:lnTo>
                    <a:pt x="225" y="99"/>
                  </a:lnTo>
                  <a:lnTo>
                    <a:pt x="0" y="210"/>
                  </a:lnTo>
                  <a:lnTo>
                    <a:pt x="63" y="276"/>
                  </a:lnTo>
                  <a:lnTo>
                    <a:pt x="120" y="360"/>
                  </a:lnTo>
                  <a:lnTo>
                    <a:pt x="141" y="429"/>
                  </a:lnTo>
                  <a:lnTo>
                    <a:pt x="174" y="507"/>
                  </a:lnTo>
                  <a:lnTo>
                    <a:pt x="390" y="390"/>
                  </a:lnTo>
                  <a:lnTo>
                    <a:pt x="579" y="279"/>
                  </a:lnTo>
                  <a:lnTo>
                    <a:pt x="540" y="165"/>
                  </a:lnTo>
                  <a:lnTo>
                    <a:pt x="495" y="87"/>
                  </a:lnTo>
                  <a:lnTo>
                    <a:pt x="435"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510" name="Freeform 670"/>
            <p:cNvSpPr>
              <a:spLocks/>
            </p:cNvSpPr>
            <p:nvPr/>
          </p:nvSpPr>
          <p:spPr bwMode="auto">
            <a:xfrm>
              <a:off x="2379" y="1404"/>
              <a:ext cx="630" cy="546"/>
            </a:xfrm>
            <a:custGeom>
              <a:avLst/>
              <a:gdLst>
                <a:gd name="T0" fmla="*/ 459 w 630"/>
                <a:gd name="T1" fmla="*/ 0 h 546"/>
                <a:gd name="T2" fmla="*/ 219 w 630"/>
                <a:gd name="T3" fmla="*/ 144 h 546"/>
                <a:gd name="T4" fmla="*/ 0 w 630"/>
                <a:gd name="T5" fmla="*/ 264 h 546"/>
                <a:gd name="T6" fmla="*/ 57 w 630"/>
                <a:gd name="T7" fmla="*/ 363 h 546"/>
                <a:gd name="T8" fmla="*/ 102 w 630"/>
                <a:gd name="T9" fmla="*/ 441 h 546"/>
                <a:gd name="T10" fmla="*/ 141 w 630"/>
                <a:gd name="T11" fmla="*/ 546 h 546"/>
                <a:gd name="T12" fmla="*/ 411 w 630"/>
                <a:gd name="T13" fmla="*/ 393 h 546"/>
                <a:gd name="T14" fmla="*/ 630 w 630"/>
                <a:gd name="T15" fmla="*/ 243 h 546"/>
                <a:gd name="T16" fmla="*/ 591 w 630"/>
                <a:gd name="T17" fmla="*/ 156 h 546"/>
                <a:gd name="T18" fmla="*/ 555 w 630"/>
                <a:gd name="T19" fmla="*/ 102 h 546"/>
                <a:gd name="T20" fmla="*/ 519 w 630"/>
                <a:gd name="T21" fmla="*/ 51 h 546"/>
                <a:gd name="T22" fmla="*/ 459 w 630"/>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0"/>
                <a:gd name="T37" fmla="*/ 0 h 546"/>
                <a:gd name="T38" fmla="*/ 630 w 630"/>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0" h="546">
                  <a:moveTo>
                    <a:pt x="459" y="0"/>
                  </a:moveTo>
                  <a:lnTo>
                    <a:pt x="219" y="144"/>
                  </a:lnTo>
                  <a:lnTo>
                    <a:pt x="0" y="264"/>
                  </a:lnTo>
                  <a:lnTo>
                    <a:pt x="57" y="363"/>
                  </a:lnTo>
                  <a:lnTo>
                    <a:pt x="102" y="441"/>
                  </a:lnTo>
                  <a:lnTo>
                    <a:pt x="141" y="546"/>
                  </a:lnTo>
                  <a:lnTo>
                    <a:pt x="411" y="393"/>
                  </a:lnTo>
                  <a:lnTo>
                    <a:pt x="630" y="243"/>
                  </a:lnTo>
                  <a:lnTo>
                    <a:pt x="591" y="156"/>
                  </a:lnTo>
                  <a:lnTo>
                    <a:pt x="555" y="102"/>
                  </a:lnTo>
                  <a:lnTo>
                    <a:pt x="519" y="51"/>
                  </a:lnTo>
                  <a:lnTo>
                    <a:pt x="45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11" name="Freeform 671"/>
            <p:cNvSpPr>
              <a:spLocks/>
            </p:cNvSpPr>
            <p:nvPr/>
          </p:nvSpPr>
          <p:spPr bwMode="auto">
            <a:xfrm>
              <a:off x="2850" y="1146"/>
              <a:ext cx="567" cy="492"/>
            </a:xfrm>
            <a:custGeom>
              <a:avLst/>
              <a:gdLst>
                <a:gd name="T0" fmla="*/ 396 w 567"/>
                <a:gd name="T1" fmla="*/ 0 h 492"/>
                <a:gd name="T2" fmla="*/ 210 w 567"/>
                <a:gd name="T3" fmla="*/ 126 h 492"/>
                <a:gd name="T4" fmla="*/ 108 w 567"/>
                <a:gd name="T5" fmla="*/ 186 h 492"/>
                <a:gd name="T6" fmla="*/ 0 w 567"/>
                <a:gd name="T7" fmla="*/ 252 h 492"/>
                <a:gd name="T8" fmla="*/ 57 w 567"/>
                <a:gd name="T9" fmla="*/ 312 h 492"/>
                <a:gd name="T10" fmla="*/ 108 w 567"/>
                <a:gd name="T11" fmla="*/ 378 h 492"/>
                <a:gd name="T12" fmla="*/ 171 w 567"/>
                <a:gd name="T13" fmla="*/ 492 h 492"/>
                <a:gd name="T14" fmla="*/ 387 w 567"/>
                <a:gd name="T15" fmla="*/ 354 h 492"/>
                <a:gd name="T16" fmla="*/ 567 w 567"/>
                <a:gd name="T17" fmla="*/ 243 h 492"/>
                <a:gd name="T18" fmla="*/ 534 w 567"/>
                <a:gd name="T19" fmla="*/ 162 h 492"/>
                <a:gd name="T20" fmla="*/ 504 w 567"/>
                <a:gd name="T21" fmla="*/ 114 h 492"/>
                <a:gd name="T22" fmla="*/ 447 w 567"/>
                <a:gd name="T23" fmla="*/ 42 h 492"/>
                <a:gd name="T24" fmla="*/ 396 w 567"/>
                <a:gd name="T25" fmla="*/ 0 h 4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7"/>
                <a:gd name="T40" fmla="*/ 0 h 492"/>
                <a:gd name="T41" fmla="*/ 567 w 567"/>
                <a:gd name="T42" fmla="*/ 492 h 4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7" h="492">
                  <a:moveTo>
                    <a:pt x="396" y="0"/>
                  </a:moveTo>
                  <a:lnTo>
                    <a:pt x="210" y="126"/>
                  </a:lnTo>
                  <a:lnTo>
                    <a:pt x="108" y="186"/>
                  </a:lnTo>
                  <a:lnTo>
                    <a:pt x="0" y="252"/>
                  </a:lnTo>
                  <a:lnTo>
                    <a:pt x="57" y="312"/>
                  </a:lnTo>
                  <a:lnTo>
                    <a:pt x="108" y="378"/>
                  </a:lnTo>
                  <a:lnTo>
                    <a:pt x="171" y="492"/>
                  </a:lnTo>
                  <a:lnTo>
                    <a:pt x="387" y="354"/>
                  </a:lnTo>
                  <a:lnTo>
                    <a:pt x="567" y="243"/>
                  </a:lnTo>
                  <a:lnTo>
                    <a:pt x="534" y="162"/>
                  </a:lnTo>
                  <a:lnTo>
                    <a:pt x="504" y="114"/>
                  </a:lnTo>
                  <a:lnTo>
                    <a:pt x="447" y="42"/>
                  </a:lnTo>
                  <a:lnTo>
                    <a:pt x="39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12" name="Freeform 672"/>
            <p:cNvSpPr>
              <a:spLocks/>
            </p:cNvSpPr>
            <p:nvPr/>
          </p:nvSpPr>
          <p:spPr bwMode="auto">
            <a:xfrm>
              <a:off x="3258" y="798"/>
              <a:ext cx="570" cy="582"/>
            </a:xfrm>
            <a:custGeom>
              <a:avLst/>
              <a:gdLst>
                <a:gd name="T0" fmla="*/ 534 w 570"/>
                <a:gd name="T1" fmla="*/ 0 h 582"/>
                <a:gd name="T2" fmla="*/ 222 w 570"/>
                <a:gd name="T3" fmla="*/ 210 h 582"/>
                <a:gd name="T4" fmla="*/ 0 w 570"/>
                <a:gd name="T5" fmla="*/ 342 h 582"/>
                <a:gd name="T6" fmla="*/ 42 w 570"/>
                <a:gd name="T7" fmla="*/ 384 h 582"/>
                <a:gd name="T8" fmla="*/ 87 w 570"/>
                <a:gd name="T9" fmla="*/ 438 h 582"/>
                <a:gd name="T10" fmla="*/ 129 w 570"/>
                <a:gd name="T11" fmla="*/ 492 h 582"/>
                <a:gd name="T12" fmla="*/ 165 w 570"/>
                <a:gd name="T13" fmla="*/ 582 h 582"/>
                <a:gd name="T14" fmla="*/ 372 w 570"/>
                <a:gd name="T15" fmla="*/ 438 h 582"/>
                <a:gd name="T16" fmla="*/ 570 w 570"/>
                <a:gd name="T17" fmla="*/ 294 h 582"/>
                <a:gd name="T18" fmla="*/ 534 w 570"/>
                <a:gd name="T19" fmla="*/ 0 h 5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0"/>
                <a:gd name="T31" fmla="*/ 0 h 582"/>
                <a:gd name="T32" fmla="*/ 570 w 570"/>
                <a:gd name="T33" fmla="*/ 582 h 5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0" h="582">
                  <a:moveTo>
                    <a:pt x="534" y="0"/>
                  </a:moveTo>
                  <a:lnTo>
                    <a:pt x="222" y="210"/>
                  </a:lnTo>
                  <a:lnTo>
                    <a:pt x="0" y="342"/>
                  </a:lnTo>
                  <a:lnTo>
                    <a:pt x="42" y="384"/>
                  </a:lnTo>
                  <a:lnTo>
                    <a:pt x="87" y="438"/>
                  </a:lnTo>
                  <a:lnTo>
                    <a:pt x="129" y="492"/>
                  </a:lnTo>
                  <a:lnTo>
                    <a:pt x="165" y="582"/>
                  </a:lnTo>
                  <a:lnTo>
                    <a:pt x="372" y="438"/>
                  </a:lnTo>
                  <a:lnTo>
                    <a:pt x="570" y="294"/>
                  </a:lnTo>
                  <a:lnTo>
                    <a:pt x="534"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13" name="Freeform 673"/>
            <p:cNvSpPr>
              <a:spLocks/>
            </p:cNvSpPr>
            <p:nvPr/>
          </p:nvSpPr>
          <p:spPr bwMode="auto">
            <a:xfrm>
              <a:off x="1758" y="2136"/>
              <a:ext cx="669" cy="561"/>
            </a:xfrm>
            <a:custGeom>
              <a:avLst/>
              <a:gdLst>
                <a:gd name="T0" fmla="*/ 474 w 669"/>
                <a:gd name="T1" fmla="*/ 0 h 561"/>
                <a:gd name="T2" fmla="*/ 243 w 669"/>
                <a:gd name="T3" fmla="*/ 120 h 561"/>
                <a:gd name="T4" fmla="*/ 0 w 669"/>
                <a:gd name="T5" fmla="*/ 231 h 561"/>
                <a:gd name="T6" fmla="*/ 102 w 669"/>
                <a:gd name="T7" fmla="*/ 561 h 561"/>
                <a:gd name="T8" fmla="*/ 330 w 669"/>
                <a:gd name="T9" fmla="*/ 459 h 561"/>
                <a:gd name="T10" fmla="*/ 669 w 669"/>
                <a:gd name="T11" fmla="*/ 291 h 561"/>
                <a:gd name="T12" fmla="*/ 633 w 669"/>
                <a:gd name="T13" fmla="*/ 186 h 561"/>
                <a:gd name="T14" fmla="*/ 597 w 669"/>
                <a:gd name="T15" fmla="*/ 132 h 561"/>
                <a:gd name="T16" fmla="*/ 549 w 669"/>
                <a:gd name="T17" fmla="*/ 60 h 561"/>
                <a:gd name="T18" fmla="*/ 474 w 669"/>
                <a:gd name="T19" fmla="*/ 0 h 5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69"/>
                <a:gd name="T31" fmla="*/ 0 h 561"/>
                <a:gd name="T32" fmla="*/ 669 w 669"/>
                <a:gd name="T33" fmla="*/ 561 h 56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69" h="561">
                  <a:moveTo>
                    <a:pt x="474" y="0"/>
                  </a:moveTo>
                  <a:lnTo>
                    <a:pt x="243" y="120"/>
                  </a:lnTo>
                  <a:lnTo>
                    <a:pt x="0" y="231"/>
                  </a:lnTo>
                  <a:lnTo>
                    <a:pt x="102" y="561"/>
                  </a:lnTo>
                  <a:lnTo>
                    <a:pt x="330" y="459"/>
                  </a:lnTo>
                  <a:lnTo>
                    <a:pt x="669" y="291"/>
                  </a:lnTo>
                  <a:lnTo>
                    <a:pt x="633" y="186"/>
                  </a:lnTo>
                  <a:lnTo>
                    <a:pt x="597" y="132"/>
                  </a:lnTo>
                  <a:lnTo>
                    <a:pt x="549" y="60"/>
                  </a:lnTo>
                  <a:lnTo>
                    <a:pt x="474"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514" name="Freeform 674"/>
            <p:cNvSpPr>
              <a:spLocks/>
            </p:cNvSpPr>
            <p:nvPr/>
          </p:nvSpPr>
          <p:spPr bwMode="auto">
            <a:xfrm>
              <a:off x="2247" y="1842"/>
              <a:ext cx="669" cy="579"/>
            </a:xfrm>
            <a:custGeom>
              <a:avLst/>
              <a:gdLst>
                <a:gd name="T0" fmla="*/ 489 w 669"/>
                <a:gd name="T1" fmla="*/ 0 h 579"/>
                <a:gd name="T2" fmla="*/ 216 w 669"/>
                <a:gd name="T3" fmla="*/ 162 h 579"/>
                <a:gd name="T4" fmla="*/ 0 w 669"/>
                <a:gd name="T5" fmla="*/ 291 h 579"/>
                <a:gd name="T6" fmla="*/ 72 w 669"/>
                <a:gd name="T7" fmla="*/ 354 h 579"/>
                <a:gd name="T8" fmla="*/ 135 w 669"/>
                <a:gd name="T9" fmla="*/ 444 h 579"/>
                <a:gd name="T10" fmla="*/ 195 w 669"/>
                <a:gd name="T11" fmla="*/ 579 h 579"/>
                <a:gd name="T12" fmla="*/ 387 w 669"/>
                <a:gd name="T13" fmla="*/ 471 h 579"/>
                <a:gd name="T14" fmla="*/ 669 w 669"/>
                <a:gd name="T15" fmla="*/ 276 h 579"/>
                <a:gd name="T16" fmla="*/ 645 w 669"/>
                <a:gd name="T17" fmla="*/ 201 h 579"/>
                <a:gd name="T18" fmla="*/ 618 w 669"/>
                <a:gd name="T19" fmla="*/ 150 h 579"/>
                <a:gd name="T20" fmla="*/ 591 w 669"/>
                <a:gd name="T21" fmla="*/ 108 h 579"/>
                <a:gd name="T22" fmla="*/ 543 w 669"/>
                <a:gd name="T23" fmla="*/ 54 h 579"/>
                <a:gd name="T24" fmla="*/ 489 w 669"/>
                <a:gd name="T25" fmla="*/ 0 h 5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69"/>
                <a:gd name="T40" fmla="*/ 0 h 579"/>
                <a:gd name="T41" fmla="*/ 669 w 669"/>
                <a:gd name="T42" fmla="*/ 579 h 5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69" h="579">
                  <a:moveTo>
                    <a:pt x="489" y="0"/>
                  </a:moveTo>
                  <a:lnTo>
                    <a:pt x="216" y="162"/>
                  </a:lnTo>
                  <a:lnTo>
                    <a:pt x="0" y="291"/>
                  </a:lnTo>
                  <a:lnTo>
                    <a:pt x="72" y="354"/>
                  </a:lnTo>
                  <a:lnTo>
                    <a:pt x="135" y="444"/>
                  </a:lnTo>
                  <a:lnTo>
                    <a:pt x="195" y="579"/>
                  </a:lnTo>
                  <a:lnTo>
                    <a:pt x="387" y="471"/>
                  </a:lnTo>
                  <a:lnTo>
                    <a:pt x="669" y="276"/>
                  </a:lnTo>
                  <a:lnTo>
                    <a:pt x="645" y="201"/>
                  </a:lnTo>
                  <a:lnTo>
                    <a:pt x="618" y="150"/>
                  </a:lnTo>
                  <a:lnTo>
                    <a:pt x="591" y="108"/>
                  </a:lnTo>
                  <a:lnTo>
                    <a:pt x="543" y="54"/>
                  </a:lnTo>
                  <a:lnTo>
                    <a:pt x="48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15" name="Freeform 675"/>
            <p:cNvSpPr>
              <a:spLocks/>
            </p:cNvSpPr>
            <p:nvPr/>
          </p:nvSpPr>
          <p:spPr bwMode="auto">
            <a:xfrm>
              <a:off x="2742" y="1533"/>
              <a:ext cx="654" cy="582"/>
            </a:xfrm>
            <a:custGeom>
              <a:avLst/>
              <a:gdLst>
                <a:gd name="T0" fmla="*/ 480 w 654"/>
                <a:gd name="T1" fmla="*/ 0 h 582"/>
                <a:gd name="T2" fmla="*/ 249 w 654"/>
                <a:gd name="T3" fmla="*/ 150 h 582"/>
                <a:gd name="T4" fmla="*/ 0 w 654"/>
                <a:gd name="T5" fmla="*/ 300 h 582"/>
                <a:gd name="T6" fmla="*/ 66 w 654"/>
                <a:gd name="T7" fmla="*/ 372 h 582"/>
                <a:gd name="T8" fmla="*/ 120 w 654"/>
                <a:gd name="T9" fmla="*/ 435 h 582"/>
                <a:gd name="T10" fmla="*/ 189 w 654"/>
                <a:gd name="T11" fmla="*/ 582 h 582"/>
                <a:gd name="T12" fmla="*/ 360 w 654"/>
                <a:gd name="T13" fmla="*/ 471 h 582"/>
                <a:gd name="T14" fmla="*/ 654 w 654"/>
                <a:gd name="T15" fmla="*/ 246 h 582"/>
                <a:gd name="T16" fmla="*/ 606 w 654"/>
                <a:gd name="T17" fmla="*/ 153 h 582"/>
                <a:gd name="T18" fmla="*/ 543 w 654"/>
                <a:gd name="T19" fmla="*/ 54 h 582"/>
                <a:gd name="T20" fmla="*/ 480 w 654"/>
                <a:gd name="T21" fmla="*/ 0 h 5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4"/>
                <a:gd name="T34" fmla="*/ 0 h 582"/>
                <a:gd name="T35" fmla="*/ 654 w 654"/>
                <a:gd name="T36" fmla="*/ 582 h 5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4" h="582">
                  <a:moveTo>
                    <a:pt x="480" y="0"/>
                  </a:moveTo>
                  <a:lnTo>
                    <a:pt x="249" y="150"/>
                  </a:lnTo>
                  <a:lnTo>
                    <a:pt x="0" y="300"/>
                  </a:lnTo>
                  <a:lnTo>
                    <a:pt x="66" y="372"/>
                  </a:lnTo>
                  <a:lnTo>
                    <a:pt x="120" y="435"/>
                  </a:lnTo>
                  <a:lnTo>
                    <a:pt x="189" y="582"/>
                  </a:lnTo>
                  <a:lnTo>
                    <a:pt x="360" y="471"/>
                  </a:lnTo>
                  <a:lnTo>
                    <a:pt x="654" y="246"/>
                  </a:lnTo>
                  <a:lnTo>
                    <a:pt x="606" y="153"/>
                  </a:lnTo>
                  <a:lnTo>
                    <a:pt x="543" y="54"/>
                  </a:lnTo>
                  <a:lnTo>
                    <a:pt x="480"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7516" name="Freeform 676"/>
            <p:cNvSpPr>
              <a:spLocks/>
            </p:cNvSpPr>
            <p:nvPr/>
          </p:nvSpPr>
          <p:spPr bwMode="auto">
            <a:xfrm>
              <a:off x="3234" y="1239"/>
              <a:ext cx="555" cy="537"/>
            </a:xfrm>
            <a:custGeom>
              <a:avLst/>
              <a:gdLst>
                <a:gd name="T0" fmla="*/ 423 w 555"/>
                <a:gd name="T1" fmla="*/ 0 h 537"/>
                <a:gd name="T2" fmla="*/ 219 w 555"/>
                <a:gd name="T3" fmla="*/ 144 h 537"/>
                <a:gd name="T4" fmla="*/ 0 w 555"/>
                <a:gd name="T5" fmla="*/ 285 h 537"/>
                <a:gd name="T6" fmla="*/ 66 w 555"/>
                <a:gd name="T7" fmla="*/ 354 h 537"/>
                <a:gd name="T8" fmla="*/ 132 w 555"/>
                <a:gd name="T9" fmla="*/ 447 h 537"/>
                <a:gd name="T10" fmla="*/ 177 w 555"/>
                <a:gd name="T11" fmla="*/ 537 h 537"/>
                <a:gd name="T12" fmla="*/ 312 w 555"/>
                <a:gd name="T13" fmla="*/ 444 h 537"/>
                <a:gd name="T14" fmla="*/ 555 w 555"/>
                <a:gd name="T15" fmla="*/ 240 h 537"/>
                <a:gd name="T16" fmla="*/ 525 w 555"/>
                <a:gd name="T17" fmla="*/ 135 h 537"/>
                <a:gd name="T18" fmla="*/ 504 w 555"/>
                <a:gd name="T19" fmla="*/ 75 h 537"/>
                <a:gd name="T20" fmla="*/ 459 w 555"/>
                <a:gd name="T21" fmla="*/ 36 h 537"/>
                <a:gd name="T22" fmla="*/ 423 w 555"/>
                <a:gd name="T23" fmla="*/ 0 h 5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5"/>
                <a:gd name="T37" fmla="*/ 0 h 537"/>
                <a:gd name="T38" fmla="*/ 555 w 555"/>
                <a:gd name="T39" fmla="*/ 537 h 5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5" h="537">
                  <a:moveTo>
                    <a:pt x="423" y="0"/>
                  </a:moveTo>
                  <a:lnTo>
                    <a:pt x="219" y="144"/>
                  </a:lnTo>
                  <a:lnTo>
                    <a:pt x="0" y="285"/>
                  </a:lnTo>
                  <a:lnTo>
                    <a:pt x="66" y="354"/>
                  </a:lnTo>
                  <a:lnTo>
                    <a:pt x="132" y="447"/>
                  </a:lnTo>
                  <a:lnTo>
                    <a:pt x="177" y="537"/>
                  </a:lnTo>
                  <a:lnTo>
                    <a:pt x="312" y="444"/>
                  </a:lnTo>
                  <a:lnTo>
                    <a:pt x="555" y="240"/>
                  </a:lnTo>
                  <a:lnTo>
                    <a:pt x="525" y="135"/>
                  </a:lnTo>
                  <a:lnTo>
                    <a:pt x="504" y="75"/>
                  </a:lnTo>
                  <a:lnTo>
                    <a:pt x="459" y="36"/>
                  </a:lnTo>
                  <a:lnTo>
                    <a:pt x="42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17" name="Freeform 677"/>
            <p:cNvSpPr>
              <a:spLocks/>
            </p:cNvSpPr>
            <p:nvPr/>
          </p:nvSpPr>
          <p:spPr bwMode="auto">
            <a:xfrm>
              <a:off x="3675" y="1107"/>
              <a:ext cx="204" cy="366"/>
            </a:xfrm>
            <a:custGeom>
              <a:avLst/>
              <a:gdLst>
                <a:gd name="T0" fmla="*/ 165 w 204"/>
                <a:gd name="T1" fmla="*/ 0 h 366"/>
                <a:gd name="T2" fmla="*/ 0 w 204"/>
                <a:gd name="T3" fmla="*/ 123 h 366"/>
                <a:gd name="T4" fmla="*/ 36 w 204"/>
                <a:gd name="T5" fmla="*/ 174 h 366"/>
                <a:gd name="T6" fmla="*/ 75 w 204"/>
                <a:gd name="T7" fmla="*/ 216 h 366"/>
                <a:gd name="T8" fmla="*/ 120 w 204"/>
                <a:gd name="T9" fmla="*/ 366 h 366"/>
                <a:gd name="T10" fmla="*/ 204 w 204"/>
                <a:gd name="T11" fmla="*/ 318 h 366"/>
                <a:gd name="T12" fmla="*/ 165 w 204"/>
                <a:gd name="T13" fmla="*/ 0 h 366"/>
                <a:gd name="T14" fmla="*/ 0 60000 65536"/>
                <a:gd name="T15" fmla="*/ 0 60000 65536"/>
                <a:gd name="T16" fmla="*/ 0 60000 65536"/>
                <a:gd name="T17" fmla="*/ 0 60000 65536"/>
                <a:gd name="T18" fmla="*/ 0 60000 65536"/>
                <a:gd name="T19" fmla="*/ 0 60000 65536"/>
                <a:gd name="T20" fmla="*/ 0 60000 65536"/>
                <a:gd name="T21" fmla="*/ 0 w 204"/>
                <a:gd name="T22" fmla="*/ 0 h 366"/>
                <a:gd name="T23" fmla="*/ 204 w 204"/>
                <a:gd name="T24" fmla="*/ 366 h 3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4" h="366">
                  <a:moveTo>
                    <a:pt x="165" y="0"/>
                  </a:moveTo>
                  <a:lnTo>
                    <a:pt x="0" y="123"/>
                  </a:lnTo>
                  <a:lnTo>
                    <a:pt x="36" y="174"/>
                  </a:lnTo>
                  <a:lnTo>
                    <a:pt x="75" y="216"/>
                  </a:lnTo>
                  <a:lnTo>
                    <a:pt x="120" y="366"/>
                  </a:lnTo>
                  <a:lnTo>
                    <a:pt x="204" y="318"/>
                  </a:lnTo>
                  <a:lnTo>
                    <a:pt x="1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18" name="Freeform 678"/>
            <p:cNvSpPr>
              <a:spLocks/>
            </p:cNvSpPr>
            <p:nvPr/>
          </p:nvSpPr>
          <p:spPr bwMode="auto">
            <a:xfrm>
              <a:off x="1866" y="2505"/>
              <a:ext cx="642" cy="537"/>
            </a:xfrm>
            <a:custGeom>
              <a:avLst/>
              <a:gdLst>
                <a:gd name="T0" fmla="*/ 450 w 642"/>
                <a:gd name="T1" fmla="*/ 0 h 537"/>
                <a:gd name="T2" fmla="*/ 222 w 642"/>
                <a:gd name="T3" fmla="*/ 111 h 537"/>
                <a:gd name="T4" fmla="*/ 0 w 642"/>
                <a:gd name="T5" fmla="*/ 207 h 537"/>
                <a:gd name="T6" fmla="*/ 84 w 642"/>
                <a:gd name="T7" fmla="*/ 537 h 537"/>
                <a:gd name="T8" fmla="*/ 213 w 642"/>
                <a:gd name="T9" fmla="*/ 489 h 537"/>
                <a:gd name="T10" fmla="*/ 366 w 642"/>
                <a:gd name="T11" fmla="*/ 423 h 537"/>
                <a:gd name="T12" fmla="*/ 510 w 642"/>
                <a:gd name="T13" fmla="*/ 351 h 537"/>
                <a:gd name="T14" fmla="*/ 642 w 642"/>
                <a:gd name="T15" fmla="*/ 285 h 537"/>
                <a:gd name="T16" fmla="*/ 579 w 642"/>
                <a:gd name="T17" fmla="*/ 141 h 537"/>
                <a:gd name="T18" fmla="*/ 522 w 642"/>
                <a:gd name="T19" fmla="*/ 69 h 537"/>
                <a:gd name="T20" fmla="*/ 450 w 642"/>
                <a:gd name="T21" fmla="*/ 0 h 5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2"/>
                <a:gd name="T34" fmla="*/ 0 h 537"/>
                <a:gd name="T35" fmla="*/ 642 w 642"/>
                <a:gd name="T36" fmla="*/ 537 h 5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2" h="537">
                  <a:moveTo>
                    <a:pt x="450" y="0"/>
                  </a:moveTo>
                  <a:lnTo>
                    <a:pt x="222" y="111"/>
                  </a:lnTo>
                  <a:lnTo>
                    <a:pt x="0" y="207"/>
                  </a:lnTo>
                  <a:lnTo>
                    <a:pt x="84" y="537"/>
                  </a:lnTo>
                  <a:lnTo>
                    <a:pt x="213" y="489"/>
                  </a:lnTo>
                  <a:lnTo>
                    <a:pt x="366" y="423"/>
                  </a:lnTo>
                  <a:lnTo>
                    <a:pt x="510" y="351"/>
                  </a:lnTo>
                  <a:lnTo>
                    <a:pt x="642" y="285"/>
                  </a:lnTo>
                  <a:lnTo>
                    <a:pt x="579" y="141"/>
                  </a:lnTo>
                  <a:lnTo>
                    <a:pt x="522" y="69"/>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19" name="Freeform 679"/>
            <p:cNvSpPr>
              <a:spLocks/>
            </p:cNvSpPr>
            <p:nvPr/>
          </p:nvSpPr>
          <p:spPr bwMode="auto">
            <a:xfrm>
              <a:off x="2331" y="2238"/>
              <a:ext cx="606" cy="549"/>
            </a:xfrm>
            <a:custGeom>
              <a:avLst/>
              <a:gdLst>
                <a:gd name="T0" fmla="*/ 438 w 606"/>
                <a:gd name="T1" fmla="*/ 0 h 549"/>
                <a:gd name="T2" fmla="*/ 246 w 606"/>
                <a:gd name="T3" fmla="*/ 126 h 549"/>
                <a:gd name="T4" fmla="*/ 0 w 606"/>
                <a:gd name="T5" fmla="*/ 261 h 549"/>
                <a:gd name="T6" fmla="*/ 57 w 606"/>
                <a:gd name="T7" fmla="*/ 324 h 549"/>
                <a:gd name="T8" fmla="*/ 105 w 606"/>
                <a:gd name="T9" fmla="*/ 384 h 549"/>
                <a:gd name="T10" fmla="*/ 153 w 606"/>
                <a:gd name="T11" fmla="*/ 465 h 549"/>
                <a:gd name="T12" fmla="*/ 183 w 606"/>
                <a:gd name="T13" fmla="*/ 549 h 549"/>
                <a:gd name="T14" fmla="*/ 411 w 606"/>
                <a:gd name="T15" fmla="*/ 420 h 549"/>
                <a:gd name="T16" fmla="*/ 606 w 606"/>
                <a:gd name="T17" fmla="*/ 294 h 549"/>
                <a:gd name="T18" fmla="*/ 540 w 606"/>
                <a:gd name="T19" fmla="*/ 147 h 549"/>
                <a:gd name="T20" fmla="*/ 489 w 606"/>
                <a:gd name="T21" fmla="*/ 63 h 549"/>
                <a:gd name="T22" fmla="*/ 438 w 606"/>
                <a:gd name="T23" fmla="*/ 0 h 5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6"/>
                <a:gd name="T37" fmla="*/ 0 h 549"/>
                <a:gd name="T38" fmla="*/ 606 w 606"/>
                <a:gd name="T39" fmla="*/ 549 h 5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6" h="549">
                  <a:moveTo>
                    <a:pt x="438" y="0"/>
                  </a:moveTo>
                  <a:lnTo>
                    <a:pt x="246" y="126"/>
                  </a:lnTo>
                  <a:lnTo>
                    <a:pt x="0" y="261"/>
                  </a:lnTo>
                  <a:lnTo>
                    <a:pt x="57" y="324"/>
                  </a:lnTo>
                  <a:lnTo>
                    <a:pt x="105" y="384"/>
                  </a:lnTo>
                  <a:lnTo>
                    <a:pt x="153" y="465"/>
                  </a:lnTo>
                  <a:lnTo>
                    <a:pt x="183" y="549"/>
                  </a:lnTo>
                  <a:lnTo>
                    <a:pt x="411" y="420"/>
                  </a:lnTo>
                  <a:lnTo>
                    <a:pt x="606" y="294"/>
                  </a:lnTo>
                  <a:lnTo>
                    <a:pt x="540" y="147"/>
                  </a:lnTo>
                  <a:lnTo>
                    <a:pt x="489" y="63"/>
                  </a:lnTo>
                  <a:lnTo>
                    <a:pt x="438"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7520" name="Freeform 680"/>
            <p:cNvSpPr>
              <a:spLocks/>
            </p:cNvSpPr>
            <p:nvPr/>
          </p:nvSpPr>
          <p:spPr bwMode="auto">
            <a:xfrm>
              <a:off x="2775" y="1926"/>
              <a:ext cx="645" cy="597"/>
            </a:xfrm>
            <a:custGeom>
              <a:avLst/>
              <a:gdLst>
                <a:gd name="T0" fmla="*/ 453 w 645"/>
                <a:gd name="T1" fmla="*/ 0 h 597"/>
                <a:gd name="T2" fmla="*/ 231 w 645"/>
                <a:gd name="T3" fmla="*/ 153 h 597"/>
                <a:gd name="T4" fmla="*/ 0 w 645"/>
                <a:gd name="T5" fmla="*/ 306 h 597"/>
                <a:gd name="T6" fmla="*/ 48 w 645"/>
                <a:gd name="T7" fmla="*/ 369 h 597"/>
                <a:gd name="T8" fmla="*/ 93 w 645"/>
                <a:gd name="T9" fmla="*/ 432 h 597"/>
                <a:gd name="T10" fmla="*/ 132 w 645"/>
                <a:gd name="T11" fmla="*/ 507 h 597"/>
                <a:gd name="T12" fmla="*/ 171 w 645"/>
                <a:gd name="T13" fmla="*/ 597 h 597"/>
                <a:gd name="T14" fmla="*/ 411 w 645"/>
                <a:gd name="T15" fmla="*/ 411 h 597"/>
                <a:gd name="T16" fmla="*/ 645 w 645"/>
                <a:gd name="T17" fmla="*/ 216 h 597"/>
                <a:gd name="T18" fmla="*/ 618 w 645"/>
                <a:gd name="T19" fmla="*/ 153 h 597"/>
                <a:gd name="T20" fmla="*/ 567 w 645"/>
                <a:gd name="T21" fmla="*/ 90 h 597"/>
                <a:gd name="T22" fmla="*/ 516 w 645"/>
                <a:gd name="T23" fmla="*/ 39 h 597"/>
                <a:gd name="T24" fmla="*/ 453 w 645"/>
                <a:gd name="T25" fmla="*/ 0 h 5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5"/>
                <a:gd name="T40" fmla="*/ 0 h 597"/>
                <a:gd name="T41" fmla="*/ 645 w 645"/>
                <a:gd name="T42" fmla="*/ 597 h 5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5" h="597">
                  <a:moveTo>
                    <a:pt x="453" y="0"/>
                  </a:moveTo>
                  <a:lnTo>
                    <a:pt x="231" y="153"/>
                  </a:lnTo>
                  <a:lnTo>
                    <a:pt x="0" y="306"/>
                  </a:lnTo>
                  <a:lnTo>
                    <a:pt x="48" y="369"/>
                  </a:lnTo>
                  <a:lnTo>
                    <a:pt x="93" y="432"/>
                  </a:lnTo>
                  <a:lnTo>
                    <a:pt x="132" y="507"/>
                  </a:lnTo>
                  <a:lnTo>
                    <a:pt x="171" y="597"/>
                  </a:lnTo>
                  <a:lnTo>
                    <a:pt x="411" y="411"/>
                  </a:lnTo>
                  <a:lnTo>
                    <a:pt x="645" y="216"/>
                  </a:lnTo>
                  <a:lnTo>
                    <a:pt x="618" y="153"/>
                  </a:lnTo>
                  <a:lnTo>
                    <a:pt x="567" y="90"/>
                  </a:lnTo>
                  <a:lnTo>
                    <a:pt x="516" y="39"/>
                  </a:lnTo>
                  <a:lnTo>
                    <a:pt x="45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21" name="Freeform 681"/>
            <p:cNvSpPr>
              <a:spLocks/>
            </p:cNvSpPr>
            <p:nvPr/>
          </p:nvSpPr>
          <p:spPr bwMode="auto">
            <a:xfrm>
              <a:off x="3240" y="1590"/>
              <a:ext cx="567" cy="546"/>
            </a:xfrm>
            <a:custGeom>
              <a:avLst/>
              <a:gdLst>
                <a:gd name="T0" fmla="*/ 441 w 567"/>
                <a:gd name="T1" fmla="*/ 0 h 546"/>
                <a:gd name="T2" fmla="*/ 237 w 567"/>
                <a:gd name="T3" fmla="*/ 150 h 546"/>
                <a:gd name="T4" fmla="*/ 0 w 567"/>
                <a:gd name="T5" fmla="*/ 330 h 546"/>
                <a:gd name="T6" fmla="*/ 54 w 567"/>
                <a:gd name="T7" fmla="*/ 366 h 546"/>
                <a:gd name="T8" fmla="*/ 117 w 567"/>
                <a:gd name="T9" fmla="*/ 429 h 546"/>
                <a:gd name="T10" fmla="*/ 168 w 567"/>
                <a:gd name="T11" fmla="*/ 492 h 546"/>
                <a:gd name="T12" fmla="*/ 192 w 567"/>
                <a:gd name="T13" fmla="*/ 546 h 546"/>
                <a:gd name="T14" fmla="*/ 369 w 567"/>
                <a:gd name="T15" fmla="*/ 396 h 546"/>
                <a:gd name="T16" fmla="*/ 567 w 567"/>
                <a:gd name="T17" fmla="*/ 204 h 546"/>
                <a:gd name="T18" fmla="*/ 531 w 567"/>
                <a:gd name="T19" fmla="*/ 111 h 546"/>
                <a:gd name="T20" fmla="*/ 483 w 567"/>
                <a:gd name="T21" fmla="*/ 39 h 546"/>
                <a:gd name="T22" fmla="*/ 441 w 567"/>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67"/>
                <a:gd name="T37" fmla="*/ 0 h 546"/>
                <a:gd name="T38" fmla="*/ 567 w 567"/>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67" h="546">
                  <a:moveTo>
                    <a:pt x="441" y="0"/>
                  </a:moveTo>
                  <a:lnTo>
                    <a:pt x="237" y="150"/>
                  </a:lnTo>
                  <a:lnTo>
                    <a:pt x="0" y="330"/>
                  </a:lnTo>
                  <a:lnTo>
                    <a:pt x="54" y="366"/>
                  </a:lnTo>
                  <a:lnTo>
                    <a:pt x="117" y="429"/>
                  </a:lnTo>
                  <a:lnTo>
                    <a:pt x="168" y="492"/>
                  </a:lnTo>
                  <a:lnTo>
                    <a:pt x="192" y="546"/>
                  </a:lnTo>
                  <a:lnTo>
                    <a:pt x="369" y="396"/>
                  </a:lnTo>
                  <a:lnTo>
                    <a:pt x="567" y="204"/>
                  </a:lnTo>
                  <a:lnTo>
                    <a:pt x="531" y="111"/>
                  </a:lnTo>
                  <a:lnTo>
                    <a:pt x="483" y="39"/>
                  </a:lnTo>
                  <a:lnTo>
                    <a:pt x="44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22" name="Freeform 682"/>
            <p:cNvSpPr>
              <a:spLocks/>
            </p:cNvSpPr>
            <p:nvPr/>
          </p:nvSpPr>
          <p:spPr bwMode="auto">
            <a:xfrm>
              <a:off x="3684" y="1434"/>
              <a:ext cx="234" cy="345"/>
            </a:xfrm>
            <a:custGeom>
              <a:avLst/>
              <a:gdLst>
                <a:gd name="T0" fmla="*/ 198 w 234"/>
                <a:gd name="T1" fmla="*/ 0 h 345"/>
                <a:gd name="T2" fmla="*/ 111 w 234"/>
                <a:gd name="T3" fmla="*/ 54 h 345"/>
                <a:gd name="T4" fmla="*/ 0 w 234"/>
                <a:gd name="T5" fmla="*/ 153 h 345"/>
                <a:gd name="T6" fmla="*/ 45 w 234"/>
                <a:gd name="T7" fmla="*/ 192 h 345"/>
                <a:gd name="T8" fmla="*/ 75 w 234"/>
                <a:gd name="T9" fmla="*/ 234 h 345"/>
                <a:gd name="T10" fmla="*/ 129 w 234"/>
                <a:gd name="T11" fmla="*/ 345 h 345"/>
                <a:gd name="T12" fmla="*/ 234 w 234"/>
                <a:gd name="T13" fmla="*/ 252 h 345"/>
                <a:gd name="T14" fmla="*/ 198 w 234"/>
                <a:gd name="T15" fmla="*/ 0 h 345"/>
                <a:gd name="T16" fmla="*/ 0 60000 65536"/>
                <a:gd name="T17" fmla="*/ 0 60000 65536"/>
                <a:gd name="T18" fmla="*/ 0 60000 65536"/>
                <a:gd name="T19" fmla="*/ 0 60000 65536"/>
                <a:gd name="T20" fmla="*/ 0 60000 65536"/>
                <a:gd name="T21" fmla="*/ 0 60000 65536"/>
                <a:gd name="T22" fmla="*/ 0 60000 65536"/>
                <a:gd name="T23" fmla="*/ 0 60000 65536"/>
                <a:gd name="T24" fmla="*/ 0 w 234"/>
                <a:gd name="T25" fmla="*/ 0 h 345"/>
                <a:gd name="T26" fmla="*/ 234 w 234"/>
                <a:gd name="T27" fmla="*/ 345 h 3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4" h="345">
                  <a:moveTo>
                    <a:pt x="198" y="0"/>
                  </a:moveTo>
                  <a:lnTo>
                    <a:pt x="111" y="54"/>
                  </a:lnTo>
                  <a:lnTo>
                    <a:pt x="0" y="153"/>
                  </a:lnTo>
                  <a:lnTo>
                    <a:pt x="45" y="192"/>
                  </a:lnTo>
                  <a:lnTo>
                    <a:pt x="75" y="234"/>
                  </a:lnTo>
                  <a:lnTo>
                    <a:pt x="129" y="345"/>
                  </a:lnTo>
                  <a:lnTo>
                    <a:pt x="234" y="252"/>
                  </a:lnTo>
                  <a:lnTo>
                    <a:pt x="19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23" name="Freeform 683"/>
            <p:cNvSpPr>
              <a:spLocks/>
            </p:cNvSpPr>
            <p:nvPr/>
          </p:nvSpPr>
          <p:spPr bwMode="auto">
            <a:xfrm>
              <a:off x="1956" y="2859"/>
              <a:ext cx="624" cy="555"/>
            </a:xfrm>
            <a:custGeom>
              <a:avLst/>
              <a:gdLst>
                <a:gd name="T0" fmla="*/ 447 w 624"/>
                <a:gd name="T1" fmla="*/ 0 h 555"/>
                <a:gd name="T2" fmla="*/ 222 w 624"/>
                <a:gd name="T3" fmla="*/ 117 h 555"/>
                <a:gd name="T4" fmla="*/ 0 w 624"/>
                <a:gd name="T5" fmla="*/ 198 h 555"/>
                <a:gd name="T6" fmla="*/ 60 w 624"/>
                <a:gd name="T7" fmla="*/ 555 h 555"/>
                <a:gd name="T8" fmla="*/ 213 w 624"/>
                <a:gd name="T9" fmla="*/ 489 h 555"/>
                <a:gd name="T10" fmla="*/ 369 w 624"/>
                <a:gd name="T11" fmla="*/ 408 h 555"/>
                <a:gd name="T12" fmla="*/ 489 w 624"/>
                <a:gd name="T13" fmla="*/ 342 h 555"/>
                <a:gd name="T14" fmla="*/ 624 w 624"/>
                <a:gd name="T15" fmla="*/ 267 h 555"/>
                <a:gd name="T16" fmla="*/ 591 w 624"/>
                <a:gd name="T17" fmla="*/ 162 h 555"/>
                <a:gd name="T18" fmla="*/ 546 w 624"/>
                <a:gd name="T19" fmla="*/ 84 h 555"/>
                <a:gd name="T20" fmla="*/ 495 w 624"/>
                <a:gd name="T21" fmla="*/ 39 h 555"/>
                <a:gd name="T22" fmla="*/ 447 w 624"/>
                <a:gd name="T23" fmla="*/ 0 h 5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4"/>
                <a:gd name="T37" fmla="*/ 0 h 555"/>
                <a:gd name="T38" fmla="*/ 624 w 624"/>
                <a:gd name="T39" fmla="*/ 555 h 5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4" h="555">
                  <a:moveTo>
                    <a:pt x="447" y="0"/>
                  </a:moveTo>
                  <a:lnTo>
                    <a:pt x="222" y="117"/>
                  </a:lnTo>
                  <a:lnTo>
                    <a:pt x="0" y="198"/>
                  </a:lnTo>
                  <a:lnTo>
                    <a:pt x="60" y="555"/>
                  </a:lnTo>
                  <a:lnTo>
                    <a:pt x="213" y="489"/>
                  </a:lnTo>
                  <a:lnTo>
                    <a:pt x="369" y="408"/>
                  </a:lnTo>
                  <a:lnTo>
                    <a:pt x="489" y="342"/>
                  </a:lnTo>
                  <a:lnTo>
                    <a:pt x="624" y="267"/>
                  </a:lnTo>
                  <a:lnTo>
                    <a:pt x="591" y="162"/>
                  </a:lnTo>
                  <a:lnTo>
                    <a:pt x="546" y="84"/>
                  </a:lnTo>
                  <a:lnTo>
                    <a:pt x="495" y="39"/>
                  </a:lnTo>
                  <a:lnTo>
                    <a:pt x="447"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524" name="Freeform 684"/>
            <p:cNvSpPr>
              <a:spLocks/>
            </p:cNvSpPr>
            <p:nvPr/>
          </p:nvSpPr>
          <p:spPr bwMode="auto">
            <a:xfrm>
              <a:off x="2418" y="2595"/>
              <a:ext cx="576" cy="525"/>
            </a:xfrm>
            <a:custGeom>
              <a:avLst/>
              <a:gdLst>
                <a:gd name="T0" fmla="*/ 450 w 576"/>
                <a:gd name="T1" fmla="*/ 0 h 525"/>
                <a:gd name="T2" fmla="*/ 255 w 576"/>
                <a:gd name="T3" fmla="*/ 120 h 525"/>
                <a:gd name="T4" fmla="*/ 0 w 576"/>
                <a:gd name="T5" fmla="*/ 264 h 525"/>
                <a:gd name="T6" fmla="*/ 66 w 576"/>
                <a:gd name="T7" fmla="*/ 318 h 525"/>
                <a:gd name="T8" fmla="*/ 114 w 576"/>
                <a:gd name="T9" fmla="*/ 378 h 525"/>
                <a:gd name="T10" fmla="*/ 150 w 576"/>
                <a:gd name="T11" fmla="*/ 456 h 525"/>
                <a:gd name="T12" fmla="*/ 171 w 576"/>
                <a:gd name="T13" fmla="*/ 525 h 525"/>
                <a:gd name="T14" fmla="*/ 387 w 576"/>
                <a:gd name="T15" fmla="*/ 369 h 525"/>
                <a:gd name="T16" fmla="*/ 576 w 576"/>
                <a:gd name="T17" fmla="*/ 228 h 525"/>
                <a:gd name="T18" fmla="*/ 549 w 576"/>
                <a:gd name="T19" fmla="*/ 141 h 525"/>
                <a:gd name="T20" fmla="*/ 498 w 576"/>
                <a:gd name="T21" fmla="*/ 57 h 525"/>
                <a:gd name="T22" fmla="*/ 450 w 576"/>
                <a:gd name="T23" fmla="*/ 0 h 5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6"/>
                <a:gd name="T37" fmla="*/ 0 h 525"/>
                <a:gd name="T38" fmla="*/ 576 w 576"/>
                <a:gd name="T39" fmla="*/ 525 h 5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6" h="525">
                  <a:moveTo>
                    <a:pt x="450" y="0"/>
                  </a:moveTo>
                  <a:lnTo>
                    <a:pt x="255" y="120"/>
                  </a:lnTo>
                  <a:lnTo>
                    <a:pt x="0" y="264"/>
                  </a:lnTo>
                  <a:lnTo>
                    <a:pt x="66" y="318"/>
                  </a:lnTo>
                  <a:lnTo>
                    <a:pt x="114" y="378"/>
                  </a:lnTo>
                  <a:lnTo>
                    <a:pt x="150" y="456"/>
                  </a:lnTo>
                  <a:lnTo>
                    <a:pt x="171" y="525"/>
                  </a:lnTo>
                  <a:lnTo>
                    <a:pt x="387" y="369"/>
                  </a:lnTo>
                  <a:lnTo>
                    <a:pt x="576" y="228"/>
                  </a:lnTo>
                  <a:lnTo>
                    <a:pt x="549" y="141"/>
                  </a:lnTo>
                  <a:lnTo>
                    <a:pt x="498" y="57"/>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25" name="Freeform 685"/>
            <p:cNvSpPr>
              <a:spLocks/>
            </p:cNvSpPr>
            <p:nvPr/>
          </p:nvSpPr>
          <p:spPr bwMode="auto">
            <a:xfrm>
              <a:off x="2880" y="2301"/>
              <a:ext cx="522" cy="519"/>
            </a:xfrm>
            <a:custGeom>
              <a:avLst/>
              <a:gdLst>
                <a:gd name="T0" fmla="*/ 375 w 522"/>
                <a:gd name="T1" fmla="*/ 0 h 519"/>
                <a:gd name="T2" fmla="*/ 219 w 522"/>
                <a:gd name="T3" fmla="*/ 120 h 519"/>
                <a:gd name="T4" fmla="*/ 0 w 522"/>
                <a:gd name="T5" fmla="*/ 285 h 519"/>
                <a:gd name="T6" fmla="*/ 33 w 522"/>
                <a:gd name="T7" fmla="*/ 330 h 519"/>
                <a:gd name="T8" fmla="*/ 84 w 522"/>
                <a:gd name="T9" fmla="*/ 393 h 519"/>
                <a:gd name="T10" fmla="*/ 108 w 522"/>
                <a:gd name="T11" fmla="*/ 453 h 519"/>
                <a:gd name="T12" fmla="*/ 126 w 522"/>
                <a:gd name="T13" fmla="*/ 519 h 519"/>
                <a:gd name="T14" fmla="*/ 330 w 522"/>
                <a:gd name="T15" fmla="*/ 354 h 519"/>
                <a:gd name="T16" fmla="*/ 522 w 522"/>
                <a:gd name="T17" fmla="*/ 183 h 519"/>
                <a:gd name="T18" fmla="*/ 489 w 522"/>
                <a:gd name="T19" fmla="*/ 120 h 519"/>
                <a:gd name="T20" fmla="*/ 468 w 522"/>
                <a:gd name="T21" fmla="*/ 84 h 519"/>
                <a:gd name="T22" fmla="*/ 444 w 522"/>
                <a:gd name="T23" fmla="*/ 54 h 519"/>
                <a:gd name="T24" fmla="*/ 375 w 522"/>
                <a:gd name="T25" fmla="*/ 0 h 5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2"/>
                <a:gd name="T40" fmla="*/ 0 h 519"/>
                <a:gd name="T41" fmla="*/ 522 w 522"/>
                <a:gd name="T42" fmla="*/ 519 h 5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2" h="519">
                  <a:moveTo>
                    <a:pt x="375" y="0"/>
                  </a:moveTo>
                  <a:lnTo>
                    <a:pt x="219" y="120"/>
                  </a:lnTo>
                  <a:lnTo>
                    <a:pt x="0" y="285"/>
                  </a:lnTo>
                  <a:lnTo>
                    <a:pt x="33" y="330"/>
                  </a:lnTo>
                  <a:lnTo>
                    <a:pt x="84" y="393"/>
                  </a:lnTo>
                  <a:lnTo>
                    <a:pt x="108" y="453"/>
                  </a:lnTo>
                  <a:lnTo>
                    <a:pt x="126" y="519"/>
                  </a:lnTo>
                  <a:lnTo>
                    <a:pt x="330" y="354"/>
                  </a:lnTo>
                  <a:lnTo>
                    <a:pt x="522" y="183"/>
                  </a:lnTo>
                  <a:lnTo>
                    <a:pt x="489" y="120"/>
                  </a:lnTo>
                  <a:lnTo>
                    <a:pt x="468" y="84"/>
                  </a:lnTo>
                  <a:lnTo>
                    <a:pt x="444" y="54"/>
                  </a:lnTo>
                  <a:lnTo>
                    <a:pt x="375"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7526" name="Freeform 686"/>
            <p:cNvSpPr>
              <a:spLocks/>
            </p:cNvSpPr>
            <p:nvPr/>
          </p:nvSpPr>
          <p:spPr bwMode="auto">
            <a:xfrm>
              <a:off x="3258" y="1959"/>
              <a:ext cx="519" cy="510"/>
            </a:xfrm>
            <a:custGeom>
              <a:avLst/>
              <a:gdLst>
                <a:gd name="T0" fmla="*/ 399 w 519"/>
                <a:gd name="T1" fmla="*/ 0 h 510"/>
                <a:gd name="T2" fmla="*/ 237 w 519"/>
                <a:gd name="T3" fmla="*/ 153 h 510"/>
                <a:gd name="T4" fmla="*/ 0 w 519"/>
                <a:gd name="T5" fmla="*/ 333 h 510"/>
                <a:gd name="T6" fmla="*/ 54 w 519"/>
                <a:gd name="T7" fmla="*/ 369 h 510"/>
                <a:gd name="T8" fmla="*/ 87 w 519"/>
                <a:gd name="T9" fmla="*/ 402 h 510"/>
                <a:gd name="T10" fmla="*/ 111 w 519"/>
                <a:gd name="T11" fmla="*/ 441 h 510"/>
                <a:gd name="T12" fmla="*/ 147 w 519"/>
                <a:gd name="T13" fmla="*/ 510 h 510"/>
                <a:gd name="T14" fmla="*/ 333 w 519"/>
                <a:gd name="T15" fmla="*/ 342 h 510"/>
                <a:gd name="T16" fmla="*/ 519 w 519"/>
                <a:gd name="T17" fmla="*/ 156 h 510"/>
                <a:gd name="T18" fmla="*/ 498 w 519"/>
                <a:gd name="T19" fmla="*/ 84 h 510"/>
                <a:gd name="T20" fmla="*/ 453 w 519"/>
                <a:gd name="T21" fmla="*/ 42 h 510"/>
                <a:gd name="T22" fmla="*/ 399 w 519"/>
                <a:gd name="T23" fmla="*/ 0 h 5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19"/>
                <a:gd name="T37" fmla="*/ 0 h 510"/>
                <a:gd name="T38" fmla="*/ 519 w 519"/>
                <a:gd name="T39" fmla="*/ 510 h 5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19" h="510">
                  <a:moveTo>
                    <a:pt x="399" y="0"/>
                  </a:moveTo>
                  <a:lnTo>
                    <a:pt x="237" y="153"/>
                  </a:lnTo>
                  <a:lnTo>
                    <a:pt x="0" y="333"/>
                  </a:lnTo>
                  <a:lnTo>
                    <a:pt x="54" y="369"/>
                  </a:lnTo>
                  <a:lnTo>
                    <a:pt x="87" y="402"/>
                  </a:lnTo>
                  <a:lnTo>
                    <a:pt x="111" y="441"/>
                  </a:lnTo>
                  <a:lnTo>
                    <a:pt x="147" y="510"/>
                  </a:lnTo>
                  <a:lnTo>
                    <a:pt x="333" y="342"/>
                  </a:lnTo>
                  <a:lnTo>
                    <a:pt x="519" y="156"/>
                  </a:lnTo>
                  <a:lnTo>
                    <a:pt x="498" y="84"/>
                  </a:lnTo>
                  <a:lnTo>
                    <a:pt x="453" y="42"/>
                  </a:lnTo>
                  <a:lnTo>
                    <a:pt x="39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27" name="Freeform 687"/>
            <p:cNvSpPr>
              <a:spLocks/>
            </p:cNvSpPr>
            <p:nvPr/>
          </p:nvSpPr>
          <p:spPr bwMode="auto">
            <a:xfrm>
              <a:off x="3663" y="1707"/>
              <a:ext cx="276" cy="399"/>
            </a:xfrm>
            <a:custGeom>
              <a:avLst/>
              <a:gdLst>
                <a:gd name="T0" fmla="*/ 246 w 276"/>
                <a:gd name="T1" fmla="*/ 0 h 399"/>
                <a:gd name="T2" fmla="*/ 117 w 276"/>
                <a:gd name="T3" fmla="*/ 132 h 399"/>
                <a:gd name="T4" fmla="*/ 60 w 276"/>
                <a:gd name="T5" fmla="*/ 183 h 399"/>
                <a:gd name="T6" fmla="*/ 0 w 276"/>
                <a:gd name="T7" fmla="*/ 243 h 399"/>
                <a:gd name="T8" fmla="*/ 54 w 276"/>
                <a:gd name="T9" fmla="*/ 285 h 399"/>
                <a:gd name="T10" fmla="*/ 87 w 276"/>
                <a:gd name="T11" fmla="*/ 315 h 399"/>
                <a:gd name="T12" fmla="*/ 123 w 276"/>
                <a:gd name="T13" fmla="*/ 399 h 399"/>
                <a:gd name="T14" fmla="*/ 276 w 276"/>
                <a:gd name="T15" fmla="*/ 255 h 399"/>
                <a:gd name="T16" fmla="*/ 246 w 276"/>
                <a:gd name="T17" fmla="*/ 0 h 3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6"/>
                <a:gd name="T28" fmla="*/ 0 h 399"/>
                <a:gd name="T29" fmla="*/ 276 w 276"/>
                <a:gd name="T30" fmla="*/ 399 h 3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6" h="399">
                  <a:moveTo>
                    <a:pt x="246" y="0"/>
                  </a:moveTo>
                  <a:lnTo>
                    <a:pt x="117" y="132"/>
                  </a:lnTo>
                  <a:lnTo>
                    <a:pt x="60" y="183"/>
                  </a:lnTo>
                  <a:lnTo>
                    <a:pt x="0" y="243"/>
                  </a:lnTo>
                  <a:lnTo>
                    <a:pt x="54" y="285"/>
                  </a:lnTo>
                  <a:lnTo>
                    <a:pt x="87" y="315"/>
                  </a:lnTo>
                  <a:lnTo>
                    <a:pt x="123" y="399"/>
                  </a:lnTo>
                  <a:lnTo>
                    <a:pt x="276" y="255"/>
                  </a:lnTo>
                  <a:lnTo>
                    <a:pt x="24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28" name="Freeform 688"/>
            <p:cNvSpPr>
              <a:spLocks/>
            </p:cNvSpPr>
            <p:nvPr/>
          </p:nvSpPr>
          <p:spPr bwMode="auto">
            <a:xfrm>
              <a:off x="2016" y="3261"/>
              <a:ext cx="483" cy="492"/>
            </a:xfrm>
            <a:custGeom>
              <a:avLst/>
              <a:gdLst>
                <a:gd name="T0" fmla="*/ 366 w 483"/>
                <a:gd name="T1" fmla="*/ 0 h 492"/>
                <a:gd name="T2" fmla="*/ 204 w 483"/>
                <a:gd name="T3" fmla="*/ 78 h 492"/>
                <a:gd name="T4" fmla="*/ 0 w 483"/>
                <a:gd name="T5" fmla="*/ 171 h 492"/>
                <a:gd name="T6" fmla="*/ 18 w 483"/>
                <a:gd name="T7" fmla="*/ 492 h 492"/>
                <a:gd name="T8" fmla="*/ 168 w 483"/>
                <a:gd name="T9" fmla="*/ 396 h 492"/>
                <a:gd name="T10" fmla="*/ 297 w 483"/>
                <a:gd name="T11" fmla="*/ 303 h 492"/>
                <a:gd name="T12" fmla="*/ 393 w 483"/>
                <a:gd name="T13" fmla="*/ 231 h 492"/>
                <a:gd name="T14" fmla="*/ 483 w 483"/>
                <a:gd name="T15" fmla="*/ 168 h 492"/>
                <a:gd name="T16" fmla="*/ 450 w 483"/>
                <a:gd name="T17" fmla="*/ 108 h 492"/>
                <a:gd name="T18" fmla="*/ 432 w 483"/>
                <a:gd name="T19" fmla="*/ 84 h 492"/>
                <a:gd name="T20" fmla="*/ 405 w 483"/>
                <a:gd name="T21" fmla="*/ 45 h 492"/>
                <a:gd name="T22" fmla="*/ 366 w 483"/>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3"/>
                <a:gd name="T37" fmla="*/ 0 h 492"/>
                <a:gd name="T38" fmla="*/ 483 w 483"/>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3" h="492">
                  <a:moveTo>
                    <a:pt x="366" y="0"/>
                  </a:moveTo>
                  <a:lnTo>
                    <a:pt x="204" y="78"/>
                  </a:lnTo>
                  <a:lnTo>
                    <a:pt x="0" y="171"/>
                  </a:lnTo>
                  <a:lnTo>
                    <a:pt x="18" y="492"/>
                  </a:lnTo>
                  <a:lnTo>
                    <a:pt x="168" y="396"/>
                  </a:lnTo>
                  <a:lnTo>
                    <a:pt x="297" y="303"/>
                  </a:lnTo>
                  <a:lnTo>
                    <a:pt x="393" y="231"/>
                  </a:lnTo>
                  <a:lnTo>
                    <a:pt x="483" y="168"/>
                  </a:lnTo>
                  <a:lnTo>
                    <a:pt x="450" y="108"/>
                  </a:lnTo>
                  <a:lnTo>
                    <a:pt x="432" y="84"/>
                  </a:lnTo>
                  <a:lnTo>
                    <a:pt x="405" y="45"/>
                  </a:lnTo>
                  <a:lnTo>
                    <a:pt x="36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29" name="Freeform 689"/>
            <p:cNvSpPr>
              <a:spLocks/>
            </p:cNvSpPr>
            <p:nvPr/>
          </p:nvSpPr>
          <p:spPr bwMode="auto">
            <a:xfrm>
              <a:off x="2388" y="2985"/>
              <a:ext cx="504" cy="441"/>
            </a:xfrm>
            <a:custGeom>
              <a:avLst/>
              <a:gdLst>
                <a:gd name="T0" fmla="*/ 411 w 504"/>
                <a:gd name="T1" fmla="*/ 0 h 441"/>
                <a:gd name="T2" fmla="*/ 255 w 504"/>
                <a:gd name="T3" fmla="*/ 114 h 441"/>
                <a:gd name="T4" fmla="*/ 0 w 504"/>
                <a:gd name="T5" fmla="*/ 270 h 441"/>
                <a:gd name="T6" fmla="*/ 42 w 504"/>
                <a:gd name="T7" fmla="*/ 312 h 441"/>
                <a:gd name="T8" fmla="*/ 66 w 504"/>
                <a:gd name="T9" fmla="*/ 348 h 441"/>
                <a:gd name="T10" fmla="*/ 87 w 504"/>
                <a:gd name="T11" fmla="*/ 375 h 441"/>
                <a:gd name="T12" fmla="*/ 111 w 504"/>
                <a:gd name="T13" fmla="*/ 441 h 441"/>
                <a:gd name="T14" fmla="*/ 318 w 504"/>
                <a:gd name="T15" fmla="*/ 306 h 441"/>
                <a:gd name="T16" fmla="*/ 504 w 504"/>
                <a:gd name="T17" fmla="*/ 147 h 441"/>
                <a:gd name="T18" fmla="*/ 471 w 504"/>
                <a:gd name="T19" fmla="*/ 87 h 441"/>
                <a:gd name="T20" fmla="*/ 450 w 504"/>
                <a:gd name="T21" fmla="*/ 51 h 441"/>
                <a:gd name="T22" fmla="*/ 411 w 504"/>
                <a:gd name="T23" fmla="*/ 0 h 4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4"/>
                <a:gd name="T37" fmla="*/ 0 h 441"/>
                <a:gd name="T38" fmla="*/ 504 w 504"/>
                <a:gd name="T39" fmla="*/ 441 h 4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4" h="441">
                  <a:moveTo>
                    <a:pt x="411" y="0"/>
                  </a:moveTo>
                  <a:lnTo>
                    <a:pt x="255" y="114"/>
                  </a:lnTo>
                  <a:lnTo>
                    <a:pt x="0" y="270"/>
                  </a:lnTo>
                  <a:lnTo>
                    <a:pt x="42" y="312"/>
                  </a:lnTo>
                  <a:lnTo>
                    <a:pt x="66" y="348"/>
                  </a:lnTo>
                  <a:lnTo>
                    <a:pt x="87" y="375"/>
                  </a:lnTo>
                  <a:lnTo>
                    <a:pt x="111" y="441"/>
                  </a:lnTo>
                  <a:lnTo>
                    <a:pt x="318" y="306"/>
                  </a:lnTo>
                  <a:lnTo>
                    <a:pt x="504" y="147"/>
                  </a:lnTo>
                  <a:lnTo>
                    <a:pt x="471" y="87"/>
                  </a:lnTo>
                  <a:lnTo>
                    <a:pt x="450" y="51"/>
                  </a:lnTo>
                  <a:lnTo>
                    <a:pt x="41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30" name="Freeform 690"/>
            <p:cNvSpPr>
              <a:spLocks/>
            </p:cNvSpPr>
            <p:nvPr/>
          </p:nvSpPr>
          <p:spPr bwMode="auto">
            <a:xfrm>
              <a:off x="2805" y="2694"/>
              <a:ext cx="492" cy="441"/>
            </a:xfrm>
            <a:custGeom>
              <a:avLst/>
              <a:gdLst>
                <a:gd name="T0" fmla="*/ 375 w 492"/>
                <a:gd name="T1" fmla="*/ 0 h 441"/>
                <a:gd name="T2" fmla="*/ 219 w 492"/>
                <a:gd name="T3" fmla="*/ 120 h 441"/>
                <a:gd name="T4" fmla="*/ 0 w 492"/>
                <a:gd name="T5" fmla="*/ 285 h 441"/>
                <a:gd name="T6" fmla="*/ 33 w 492"/>
                <a:gd name="T7" fmla="*/ 330 h 441"/>
                <a:gd name="T8" fmla="*/ 63 w 492"/>
                <a:gd name="T9" fmla="*/ 366 h 441"/>
                <a:gd name="T10" fmla="*/ 78 w 492"/>
                <a:gd name="T11" fmla="*/ 390 h 441"/>
                <a:gd name="T12" fmla="*/ 99 w 492"/>
                <a:gd name="T13" fmla="*/ 441 h 441"/>
                <a:gd name="T14" fmla="*/ 288 w 492"/>
                <a:gd name="T15" fmla="*/ 300 h 441"/>
                <a:gd name="T16" fmla="*/ 492 w 492"/>
                <a:gd name="T17" fmla="*/ 123 h 441"/>
                <a:gd name="T18" fmla="*/ 459 w 492"/>
                <a:gd name="T19" fmla="*/ 69 h 441"/>
                <a:gd name="T20" fmla="*/ 441 w 492"/>
                <a:gd name="T21" fmla="*/ 45 h 441"/>
                <a:gd name="T22" fmla="*/ 417 w 492"/>
                <a:gd name="T23" fmla="*/ 30 h 441"/>
                <a:gd name="T24" fmla="*/ 375 w 492"/>
                <a:gd name="T25" fmla="*/ 0 h 4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2"/>
                <a:gd name="T40" fmla="*/ 0 h 441"/>
                <a:gd name="T41" fmla="*/ 492 w 492"/>
                <a:gd name="T42" fmla="*/ 441 h 4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2" h="441">
                  <a:moveTo>
                    <a:pt x="375" y="0"/>
                  </a:moveTo>
                  <a:lnTo>
                    <a:pt x="219" y="120"/>
                  </a:lnTo>
                  <a:lnTo>
                    <a:pt x="0" y="285"/>
                  </a:lnTo>
                  <a:lnTo>
                    <a:pt x="33" y="330"/>
                  </a:lnTo>
                  <a:lnTo>
                    <a:pt x="63" y="366"/>
                  </a:lnTo>
                  <a:lnTo>
                    <a:pt x="78" y="390"/>
                  </a:lnTo>
                  <a:lnTo>
                    <a:pt x="99" y="441"/>
                  </a:lnTo>
                  <a:lnTo>
                    <a:pt x="288" y="300"/>
                  </a:lnTo>
                  <a:lnTo>
                    <a:pt x="492" y="123"/>
                  </a:lnTo>
                  <a:lnTo>
                    <a:pt x="459" y="69"/>
                  </a:lnTo>
                  <a:lnTo>
                    <a:pt x="441" y="45"/>
                  </a:lnTo>
                  <a:lnTo>
                    <a:pt x="417" y="30"/>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31" name="Freeform 691"/>
            <p:cNvSpPr>
              <a:spLocks/>
            </p:cNvSpPr>
            <p:nvPr/>
          </p:nvSpPr>
          <p:spPr bwMode="auto">
            <a:xfrm>
              <a:off x="3189" y="2343"/>
              <a:ext cx="507" cy="465"/>
            </a:xfrm>
            <a:custGeom>
              <a:avLst/>
              <a:gdLst>
                <a:gd name="T0" fmla="*/ 375 w 507"/>
                <a:gd name="T1" fmla="*/ 0 h 465"/>
                <a:gd name="T2" fmla="*/ 219 w 507"/>
                <a:gd name="T3" fmla="*/ 147 h 465"/>
                <a:gd name="T4" fmla="*/ 90 w 507"/>
                <a:gd name="T5" fmla="*/ 264 h 465"/>
                <a:gd name="T6" fmla="*/ 0 w 507"/>
                <a:gd name="T7" fmla="*/ 339 h 465"/>
                <a:gd name="T8" fmla="*/ 45 w 507"/>
                <a:gd name="T9" fmla="*/ 375 h 465"/>
                <a:gd name="T10" fmla="*/ 75 w 507"/>
                <a:gd name="T11" fmla="*/ 399 h 465"/>
                <a:gd name="T12" fmla="*/ 96 w 507"/>
                <a:gd name="T13" fmla="*/ 423 h 465"/>
                <a:gd name="T14" fmla="*/ 114 w 507"/>
                <a:gd name="T15" fmla="*/ 465 h 465"/>
                <a:gd name="T16" fmla="*/ 306 w 507"/>
                <a:gd name="T17" fmla="*/ 309 h 465"/>
                <a:gd name="T18" fmla="*/ 507 w 507"/>
                <a:gd name="T19" fmla="*/ 129 h 465"/>
                <a:gd name="T20" fmla="*/ 465 w 507"/>
                <a:gd name="T21" fmla="*/ 63 h 465"/>
                <a:gd name="T22" fmla="*/ 423 w 507"/>
                <a:gd name="T23" fmla="*/ 24 h 465"/>
                <a:gd name="T24" fmla="*/ 375 w 507"/>
                <a:gd name="T25" fmla="*/ 0 h 4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7"/>
                <a:gd name="T40" fmla="*/ 0 h 465"/>
                <a:gd name="T41" fmla="*/ 507 w 507"/>
                <a:gd name="T42" fmla="*/ 465 h 4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7" h="465">
                  <a:moveTo>
                    <a:pt x="375" y="0"/>
                  </a:moveTo>
                  <a:lnTo>
                    <a:pt x="219" y="147"/>
                  </a:lnTo>
                  <a:lnTo>
                    <a:pt x="90" y="264"/>
                  </a:lnTo>
                  <a:lnTo>
                    <a:pt x="0" y="339"/>
                  </a:lnTo>
                  <a:lnTo>
                    <a:pt x="45" y="375"/>
                  </a:lnTo>
                  <a:lnTo>
                    <a:pt x="75" y="399"/>
                  </a:lnTo>
                  <a:lnTo>
                    <a:pt x="96" y="423"/>
                  </a:lnTo>
                  <a:lnTo>
                    <a:pt x="114" y="465"/>
                  </a:lnTo>
                  <a:lnTo>
                    <a:pt x="306" y="309"/>
                  </a:lnTo>
                  <a:lnTo>
                    <a:pt x="507" y="129"/>
                  </a:lnTo>
                  <a:lnTo>
                    <a:pt x="465" y="63"/>
                  </a:lnTo>
                  <a:lnTo>
                    <a:pt x="423" y="24"/>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32" name="Freeform 692"/>
            <p:cNvSpPr>
              <a:spLocks/>
            </p:cNvSpPr>
            <p:nvPr/>
          </p:nvSpPr>
          <p:spPr bwMode="auto">
            <a:xfrm>
              <a:off x="3570" y="1968"/>
              <a:ext cx="387" cy="507"/>
            </a:xfrm>
            <a:custGeom>
              <a:avLst/>
              <a:gdLst>
                <a:gd name="T0" fmla="*/ 378 w 387"/>
                <a:gd name="T1" fmla="*/ 0 h 507"/>
                <a:gd name="T2" fmla="*/ 240 w 387"/>
                <a:gd name="T3" fmla="*/ 132 h 507"/>
                <a:gd name="T4" fmla="*/ 132 w 387"/>
                <a:gd name="T5" fmla="*/ 240 h 507"/>
                <a:gd name="T6" fmla="*/ 0 w 387"/>
                <a:gd name="T7" fmla="*/ 369 h 507"/>
                <a:gd name="T8" fmla="*/ 63 w 387"/>
                <a:gd name="T9" fmla="*/ 405 h 507"/>
                <a:gd name="T10" fmla="*/ 99 w 387"/>
                <a:gd name="T11" fmla="*/ 435 h 507"/>
                <a:gd name="T12" fmla="*/ 132 w 387"/>
                <a:gd name="T13" fmla="*/ 507 h 507"/>
                <a:gd name="T14" fmla="*/ 387 w 387"/>
                <a:gd name="T15" fmla="*/ 249 h 507"/>
                <a:gd name="T16" fmla="*/ 378 w 387"/>
                <a:gd name="T17" fmla="*/ 0 h 5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507"/>
                <a:gd name="T29" fmla="*/ 387 w 387"/>
                <a:gd name="T30" fmla="*/ 507 h 5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507">
                  <a:moveTo>
                    <a:pt x="378" y="0"/>
                  </a:moveTo>
                  <a:lnTo>
                    <a:pt x="240" y="132"/>
                  </a:lnTo>
                  <a:lnTo>
                    <a:pt x="132" y="240"/>
                  </a:lnTo>
                  <a:lnTo>
                    <a:pt x="0" y="369"/>
                  </a:lnTo>
                  <a:lnTo>
                    <a:pt x="63" y="405"/>
                  </a:lnTo>
                  <a:lnTo>
                    <a:pt x="99" y="435"/>
                  </a:lnTo>
                  <a:lnTo>
                    <a:pt x="132" y="507"/>
                  </a:lnTo>
                  <a:lnTo>
                    <a:pt x="387" y="249"/>
                  </a:lnTo>
                  <a:lnTo>
                    <a:pt x="37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533" name="Freeform 693"/>
            <p:cNvSpPr>
              <a:spLocks/>
            </p:cNvSpPr>
            <p:nvPr/>
          </p:nvSpPr>
          <p:spPr bwMode="auto">
            <a:xfrm>
              <a:off x="1676" y="3350"/>
              <a:ext cx="340" cy="394"/>
            </a:xfrm>
            <a:custGeom>
              <a:avLst/>
              <a:gdLst>
                <a:gd name="T0" fmla="*/ 340 w 340"/>
                <a:gd name="T1" fmla="*/ 394 h 394"/>
                <a:gd name="T2" fmla="*/ 8 w 340"/>
                <a:gd name="T3" fmla="*/ 236 h 394"/>
                <a:gd name="T4" fmla="*/ 4 w 340"/>
                <a:gd name="T5" fmla="*/ 114 h 394"/>
                <a:gd name="T6" fmla="*/ 0 w 340"/>
                <a:gd name="T7" fmla="*/ 0 h 394"/>
                <a:gd name="T8" fmla="*/ 90 w 340"/>
                <a:gd name="T9" fmla="*/ 14 h 394"/>
                <a:gd name="T10" fmla="*/ 150 w 340"/>
                <a:gd name="T11" fmla="*/ 28 h 394"/>
                <a:gd name="T12" fmla="*/ 258 w 340"/>
                <a:gd name="T13" fmla="*/ 52 h 394"/>
                <a:gd name="T14" fmla="*/ 326 w 340"/>
                <a:gd name="T15" fmla="*/ 72 h 394"/>
                <a:gd name="T16" fmla="*/ 338 w 340"/>
                <a:gd name="T17" fmla="*/ 180 h 394"/>
                <a:gd name="T18" fmla="*/ 340 w 340"/>
                <a:gd name="T19" fmla="*/ 248 h 394"/>
                <a:gd name="T20" fmla="*/ 340 w 340"/>
                <a:gd name="T21" fmla="*/ 316 h 394"/>
                <a:gd name="T22" fmla="*/ 340 w 340"/>
                <a:gd name="T23" fmla="*/ 394 h 3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0"/>
                <a:gd name="T37" fmla="*/ 0 h 394"/>
                <a:gd name="T38" fmla="*/ 340 w 340"/>
                <a:gd name="T39" fmla="*/ 394 h 39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0" h="394">
                  <a:moveTo>
                    <a:pt x="340" y="394"/>
                  </a:moveTo>
                  <a:lnTo>
                    <a:pt x="8" y="236"/>
                  </a:lnTo>
                  <a:lnTo>
                    <a:pt x="4" y="114"/>
                  </a:lnTo>
                  <a:lnTo>
                    <a:pt x="0" y="0"/>
                  </a:lnTo>
                  <a:lnTo>
                    <a:pt x="90" y="14"/>
                  </a:lnTo>
                  <a:lnTo>
                    <a:pt x="150" y="28"/>
                  </a:lnTo>
                  <a:lnTo>
                    <a:pt x="258" y="52"/>
                  </a:lnTo>
                  <a:lnTo>
                    <a:pt x="326" y="72"/>
                  </a:lnTo>
                  <a:lnTo>
                    <a:pt x="338" y="180"/>
                  </a:lnTo>
                  <a:lnTo>
                    <a:pt x="340" y="248"/>
                  </a:lnTo>
                  <a:lnTo>
                    <a:pt x="340" y="316"/>
                  </a:lnTo>
                  <a:lnTo>
                    <a:pt x="340"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34" name="Freeform 694"/>
            <p:cNvSpPr>
              <a:spLocks/>
            </p:cNvSpPr>
            <p:nvPr/>
          </p:nvSpPr>
          <p:spPr bwMode="auto">
            <a:xfrm>
              <a:off x="1626" y="3012"/>
              <a:ext cx="372" cy="394"/>
            </a:xfrm>
            <a:custGeom>
              <a:avLst/>
              <a:gdLst>
                <a:gd name="T0" fmla="*/ 372 w 372"/>
                <a:gd name="T1" fmla="*/ 394 h 394"/>
                <a:gd name="T2" fmla="*/ 190 w 372"/>
                <a:gd name="T3" fmla="*/ 348 h 394"/>
                <a:gd name="T4" fmla="*/ 40 w 372"/>
                <a:gd name="T5" fmla="*/ 318 h 394"/>
                <a:gd name="T6" fmla="*/ 0 w 372"/>
                <a:gd name="T7" fmla="*/ 0 h 394"/>
                <a:gd name="T8" fmla="*/ 76 w 372"/>
                <a:gd name="T9" fmla="*/ 10 h 394"/>
                <a:gd name="T10" fmla="*/ 198 w 372"/>
                <a:gd name="T11" fmla="*/ 22 h 394"/>
                <a:gd name="T12" fmla="*/ 308 w 372"/>
                <a:gd name="T13" fmla="*/ 38 h 394"/>
                <a:gd name="T14" fmla="*/ 340 w 372"/>
                <a:gd name="T15" fmla="*/ 202 h 394"/>
                <a:gd name="T16" fmla="*/ 372 w 372"/>
                <a:gd name="T17" fmla="*/ 394 h 3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2"/>
                <a:gd name="T28" fmla="*/ 0 h 394"/>
                <a:gd name="T29" fmla="*/ 372 w 372"/>
                <a:gd name="T30" fmla="*/ 394 h 3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2" h="394">
                  <a:moveTo>
                    <a:pt x="372" y="394"/>
                  </a:moveTo>
                  <a:lnTo>
                    <a:pt x="190" y="348"/>
                  </a:lnTo>
                  <a:lnTo>
                    <a:pt x="40" y="318"/>
                  </a:lnTo>
                  <a:lnTo>
                    <a:pt x="0" y="0"/>
                  </a:lnTo>
                  <a:lnTo>
                    <a:pt x="76" y="10"/>
                  </a:lnTo>
                  <a:lnTo>
                    <a:pt x="198" y="22"/>
                  </a:lnTo>
                  <a:lnTo>
                    <a:pt x="308" y="38"/>
                  </a:lnTo>
                  <a:lnTo>
                    <a:pt x="340" y="202"/>
                  </a:lnTo>
                  <a:lnTo>
                    <a:pt x="372"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35" name="Freeform 695"/>
            <p:cNvSpPr>
              <a:spLocks/>
            </p:cNvSpPr>
            <p:nvPr/>
          </p:nvSpPr>
          <p:spPr bwMode="auto">
            <a:xfrm>
              <a:off x="1554" y="2698"/>
              <a:ext cx="374" cy="340"/>
            </a:xfrm>
            <a:custGeom>
              <a:avLst/>
              <a:gdLst>
                <a:gd name="T0" fmla="*/ 374 w 374"/>
                <a:gd name="T1" fmla="*/ 340 h 340"/>
                <a:gd name="T2" fmla="*/ 240 w 374"/>
                <a:gd name="T3" fmla="*/ 324 h 340"/>
                <a:gd name="T4" fmla="*/ 68 w 374"/>
                <a:gd name="T5" fmla="*/ 302 h 340"/>
                <a:gd name="T6" fmla="*/ 0 w 374"/>
                <a:gd name="T7" fmla="*/ 0 h 340"/>
                <a:gd name="T8" fmla="*/ 90 w 374"/>
                <a:gd name="T9" fmla="*/ 2 h 340"/>
                <a:gd name="T10" fmla="*/ 174 w 374"/>
                <a:gd name="T11" fmla="*/ 0 h 340"/>
                <a:gd name="T12" fmla="*/ 296 w 374"/>
                <a:gd name="T13" fmla="*/ 14 h 340"/>
                <a:gd name="T14" fmla="*/ 312 w 374"/>
                <a:gd name="T15" fmla="*/ 90 h 340"/>
                <a:gd name="T16" fmla="*/ 354 w 374"/>
                <a:gd name="T17" fmla="*/ 246 h 340"/>
                <a:gd name="T18" fmla="*/ 374 w 374"/>
                <a:gd name="T19" fmla="*/ 340 h 3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340"/>
                <a:gd name="T32" fmla="*/ 374 w 374"/>
                <a:gd name="T33" fmla="*/ 340 h 3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340">
                  <a:moveTo>
                    <a:pt x="374" y="340"/>
                  </a:moveTo>
                  <a:lnTo>
                    <a:pt x="240" y="324"/>
                  </a:lnTo>
                  <a:lnTo>
                    <a:pt x="68" y="302"/>
                  </a:lnTo>
                  <a:lnTo>
                    <a:pt x="0" y="0"/>
                  </a:lnTo>
                  <a:lnTo>
                    <a:pt x="90" y="2"/>
                  </a:lnTo>
                  <a:lnTo>
                    <a:pt x="174" y="0"/>
                  </a:lnTo>
                  <a:lnTo>
                    <a:pt x="296" y="14"/>
                  </a:lnTo>
                  <a:lnTo>
                    <a:pt x="312" y="90"/>
                  </a:lnTo>
                  <a:lnTo>
                    <a:pt x="354" y="246"/>
                  </a:lnTo>
                  <a:lnTo>
                    <a:pt x="374" y="340"/>
                  </a:lnTo>
                  <a:close/>
                </a:path>
              </a:pathLst>
            </a:custGeom>
            <a:gradFill rotWithShape="0">
              <a:gsLst>
                <a:gs pos="0">
                  <a:srgbClr val="CFB2AD"/>
                </a:gs>
                <a:gs pos="100000">
                  <a:srgbClr val="A85656"/>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36" name="Freeform 696"/>
            <p:cNvSpPr>
              <a:spLocks/>
            </p:cNvSpPr>
            <p:nvPr/>
          </p:nvSpPr>
          <p:spPr bwMode="auto">
            <a:xfrm>
              <a:off x="1460" y="2366"/>
              <a:ext cx="388" cy="334"/>
            </a:xfrm>
            <a:custGeom>
              <a:avLst/>
              <a:gdLst>
                <a:gd name="T0" fmla="*/ 388 w 388"/>
                <a:gd name="T1" fmla="*/ 334 h 334"/>
                <a:gd name="T2" fmla="*/ 258 w 388"/>
                <a:gd name="T3" fmla="*/ 320 h 334"/>
                <a:gd name="T4" fmla="*/ 90 w 388"/>
                <a:gd name="T5" fmla="*/ 324 h 334"/>
                <a:gd name="T6" fmla="*/ 0 w 388"/>
                <a:gd name="T7" fmla="*/ 2 h 334"/>
                <a:gd name="T8" fmla="*/ 82 w 388"/>
                <a:gd name="T9" fmla="*/ 2 h 334"/>
                <a:gd name="T10" fmla="*/ 172 w 388"/>
                <a:gd name="T11" fmla="*/ 0 h 334"/>
                <a:gd name="T12" fmla="*/ 288 w 388"/>
                <a:gd name="T13" fmla="*/ 6 h 334"/>
                <a:gd name="T14" fmla="*/ 308 w 388"/>
                <a:gd name="T15" fmla="*/ 80 h 334"/>
                <a:gd name="T16" fmla="*/ 350 w 388"/>
                <a:gd name="T17" fmla="*/ 212 h 334"/>
                <a:gd name="T18" fmla="*/ 388 w 388"/>
                <a:gd name="T19" fmla="*/ 334 h 3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8"/>
                <a:gd name="T31" fmla="*/ 0 h 334"/>
                <a:gd name="T32" fmla="*/ 388 w 388"/>
                <a:gd name="T33" fmla="*/ 334 h 3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8" h="334">
                  <a:moveTo>
                    <a:pt x="388" y="334"/>
                  </a:moveTo>
                  <a:lnTo>
                    <a:pt x="258" y="320"/>
                  </a:lnTo>
                  <a:lnTo>
                    <a:pt x="90" y="324"/>
                  </a:lnTo>
                  <a:lnTo>
                    <a:pt x="0" y="2"/>
                  </a:lnTo>
                  <a:lnTo>
                    <a:pt x="82" y="2"/>
                  </a:lnTo>
                  <a:lnTo>
                    <a:pt x="172" y="0"/>
                  </a:lnTo>
                  <a:lnTo>
                    <a:pt x="288" y="6"/>
                  </a:lnTo>
                  <a:lnTo>
                    <a:pt x="308" y="80"/>
                  </a:lnTo>
                  <a:lnTo>
                    <a:pt x="350" y="212"/>
                  </a:lnTo>
                  <a:lnTo>
                    <a:pt x="388" y="334"/>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37" name="Freeform 697"/>
            <p:cNvSpPr>
              <a:spLocks/>
            </p:cNvSpPr>
            <p:nvPr/>
          </p:nvSpPr>
          <p:spPr bwMode="auto">
            <a:xfrm>
              <a:off x="1344" y="1998"/>
              <a:ext cx="398" cy="358"/>
            </a:xfrm>
            <a:custGeom>
              <a:avLst/>
              <a:gdLst>
                <a:gd name="T0" fmla="*/ 398 w 398"/>
                <a:gd name="T1" fmla="*/ 358 h 358"/>
                <a:gd name="T2" fmla="*/ 272 w 398"/>
                <a:gd name="T3" fmla="*/ 358 h 358"/>
                <a:gd name="T4" fmla="*/ 108 w 398"/>
                <a:gd name="T5" fmla="*/ 356 h 358"/>
                <a:gd name="T6" fmla="*/ 64 w 398"/>
                <a:gd name="T7" fmla="*/ 204 h 358"/>
                <a:gd name="T8" fmla="*/ 0 w 398"/>
                <a:gd name="T9" fmla="*/ 28 h 358"/>
                <a:gd name="T10" fmla="*/ 90 w 398"/>
                <a:gd name="T11" fmla="*/ 24 h 358"/>
                <a:gd name="T12" fmla="*/ 144 w 398"/>
                <a:gd name="T13" fmla="*/ 22 h 358"/>
                <a:gd name="T14" fmla="*/ 212 w 398"/>
                <a:gd name="T15" fmla="*/ 16 h 358"/>
                <a:gd name="T16" fmla="*/ 286 w 398"/>
                <a:gd name="T17" fmla="*/ 0 h 358"/>
                <a:gd name="T18" fmla="*/ 314 w 398"/>
                <a:gd name="T19" fmla="*/ 94 h 358"/>
                <a:gd name="T20" fmla="*/ 356 w 398"/>
                <a:gd name="T21" fmla="*/ 228 h 358"/>
                <a:gd name="T22" fmla="*/ 398 w 398"/>
                <a:gd name="T23" fmla="*/ 358 h 3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8"/>
                <a:gd name="T37" fmla="*/ 0 h 358"/>
                <a:gd name="T38" fmla="*/ 398 w 398"/>
                <a:gd name="T39" fmla="*/ 358 h 3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8" h="358">
                  <a:moveTo>
                    <a:pt x="398" y="358"/>
                  </a:moveTo>
                  <a:lnTo>
                    <a:pt x="272" y="358"/>
                  </a:lnTo>
                  <a:lnTo>
                    <a:pt x="108" y="356"/>
                  </a:lnTo>
                  <a:lnTo>
                    <a:pt x="64" y="204"/>
                  </a:lnTo>
                  <a:lnTo>
                    <a:pt x="0" y="28"/>
                  </a:lnTo>
                  <a:lnTo>
                    <a:pt x="90" y="24"/>
                  </a:lnTo>
                  <a:lnTo>
                    <a:pt x="144" y="22"/>
                  </a:lnTo>
                  <a:lnTo>
                    <a:pt x="212" y="16"/>
                  </a:lnTo>
                  <a:lnTo>
                    <a:pt x="286" y="0"/>
                  </a:lnTo>
                  <a:lnTo>
                    <a:pt x="314" y="94"/>
                  </a:lnTo>
                  <a:lnTo>
                    <a:pt x="356" y="228"/>
                  </a:lnTo>
                  <a:lnTo>
                    <a:pt x="398" y="358"/>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38" name="Freeform 698"/>
            <p:cNvSpPr>
              <a:spLocks/>
            </p:cNvSpPr>
            <p:nvPr/>
          </p:nvSpPr>
          <p:spPr bwMode="auto">
            <a:xfrm>
              <a:off x="1144" y="1522"/>
              <a:ext cx="482" cy="492"/>
            </a:xfrm>
            <a:custGeom>
              <a:avLst/>
              <a:gdLst>
                <a:gd name="T0" fmla="*/ 482 w 482"/>
                <a:gd name="T1" fmla="*/ 468 h 492"/>
                <a:gd name="T2" fmla="*/ 364 w 482"/>
                <a:gd name="T3" fmla="*/ 492 h 492"/>
                <a:gd name="T4" fmla="*/ 198 w 482"/>
                <a:gd name="T5" fmla="*/ 492 h 492"/>
                <a:gd name="T6" fmla="*/ 126 w 482"/>
                <a:gd name="T7" fmla="*/ 292 h 492"/>
                <a:gd name="T8" fmla="*/ 0 w 482"/>
                <a:gd name="T9" fmla="*/ 0 h 492"/>
                <a:gd name="T10" fmla="*/ 122 w 482"/>
                <a:gd name="T11" fmla="*/ 22 h 492"/>
                <a:gd name="T12" fmla="*/ 196 w 482"/>
                <a:gd name="T13" fmla="*/ 34 h 492"/>
                <a:gd name="T14" fmla="*/ 276 w 482"/>
                <a:gd name="T15" fmla="*/ 48 h 492"/>
                <a:gd name="T16" fmla="*/ 328 w 482"/>
                <a:gd name="T17" fmla="*/ 62 h 492"/>
                <a:gd name="T18" fmla="*/ 380 w 482"/>
                <a:gd name="T19" fmla="*/ 198 h 492"/>
                <a:gd name="T20" fmla="*/ 432 w 482"/>
                <a:gd name="T21" fmla="*/ 330 h 492"/>
                <a:gd name="T22" fmla="*/ 482 w 482"/>
                <a:gd name="T23" fmla="*/ 468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2"/>
                <a:gd name="T37" fmla="*/ 0 h 492"/>
                <a:gd name="T38" fmla="*/ 482 w 482"/>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2" h="492">
                  <a:moveTo>
                    <a:pt x="482" y="468"/>
                  </a:moveTo>
                  <a:lnTo>
                    <a:pt x="364" y="492"/>
                  </a:lnTo>
                  <a:lnTo>
                    <a:pt x="198" y="492"/>
                  </a:lnTo>
                  <a:lnTo>
                    <a:pt x="126" y="292"/>
                  </a:lnTo>
                  <a:lnTo>
                    <a:pt x="0" y="0"/>
                  </a:lnTo>
                  <a:lnTo>
                    <a:pt x="122" y="22"/>
                  </a:lnTo>
                  <a:lnTo>
                    <a:pt x="196" y="34"/>
                  </a:lnTo>
                  <a:lnTo>
                    <a:pt x="276" y="48"/>
                  </a:lnTo>
                  <a:lnTo>
                    <a:pt x="328" y="62"/>
                  </a:lnTo>
                  <a:lnTo>
                    <a:pt x="380" y="198"/>
                  </a:lnTo>
                  <a:lnTo>
                    <a:pt x="432" y="330"/>
                  </a:lnTo>
                  <a:lnTo>
                    <a:pt x="482" y="468"/>
                  </a:lnTo>
                  <a:close/>
                </a:path>
              </a:pathLst>
            </a:custGeom>
            <a:gradFill rotWithShape="0">
              <a:gsLst>
                <a:gs pos="0">
                  <a:srgbClr val="E8D9D6"/>
                </a:gs>
                <a:gs pos="100000">
                  <a:srgbClr val="CA989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39" name="Freeform 699"/>
            <p:cNvSpPr>
              <a:spLocks/>
            </p:cNvSpPr>
            <p:nvPr/>
          </p:nvSpPr>
          <p:spPr bwMode="auto">
            <a:xfrm>
              <a:off x="1167" y="1344"/>
              <a:ext cx="837" cy="231"/>
            </a:xfrm>
            <a:custGeom>
              <a:avLst/>
              <a:gdLst>
                <a:gd name="T0" fmla="*/ 0 w 837"/>
                <a:gd name="T1" fmla="*/ 171 h 231"/>
                <a:gd name="T2" fmla="*/ 297 w 837"/>
                <a:gd name="T3" fmla="*/ 231 h 231"/>
                <a:gd name="T4" fmla="*/ 561 w 837"/>
                <a:gd name="T5" fmla="*/ 204 h 231"/>
                <a:gd name="T6" fmla="*/ 837 w 837"/>
                <a:gd name="T7" fmla="*/ 138 h 231"/>
                <a:gd name="T8" fmla="*/ 738 w 837"/>
                <a:gd name="T9" fmla="*/ 75 h 231"/>
                <a:gd name="T10" fmla="*/ 618 w 837"/>
                <a:gd name="T11" fmla="*/ 27 h 231"/>
                <a:gd name="T12" fmla="*/ 513 w 837"/>
                <a:gd name="T13" fmla="*/ 0 h 231"/>
                <a:gd name="T14" fmla="*/ 390 w 837"/>
                <a:gd name="T15" fmla="*/ 45 h 231"/>
                <a:gd name="T16" fmla="*/ 0 w 837"/>
                <a:gd name="T17" fmla="*/ 171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37"/>
                <a:gd name="T28" fmla="*/ 0 h 231"/>
                <a:gd name="T29" fmla="*/ 837 w 837"/>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37" h="231">
                  <a:moveTo>
                    <a:pt x="0" y="171"/>
                  </a:moveTo>
                  <a:lnTo>
                    <a:pt x="297" y="231"/>
                  </a:lnTo>
                  <a:lnTo>
                    <a:pt x="561" y="204"/>
                  </a:lnTo>
                  <a:lnTo>
                    <a:pt x="837" y="138"/>
                  </a:lnTo>
                  <a:lnTo>
                    <a:pt x="738" y="75"/>
                  </a:lnTo>
                  <a:lnTo>
                    <a:pt x="618" y="27"/>
                  </a:lnTo>
                  <a:lnTo>
                    <a:pt x="513" y="0"/>
                  </a:lnTo>
                  <a:lnTo>
                    <a:pt x="390" y="45"/>
                  </a:lnTo>
                  <a:lnTo>
                    <a:pt x="0" y="171"/>
                  </a:lnTo>
                  <a:close/>
                </a:path>
              </a:pathLst>
            </a:custGeom>
            <a:gradFill rotWithShape="0">
              <a:gsLst>
                <a:gs pos="0">
                  <a:srgbClr val="C58D8D"/>
                </a:gs>
                <a:gs pos="100000">
                  <a:srgbClr val="8F5A59"/>
                </a:gs>
              </a:gsLst>
              <a:lin ang="0" scaled="1"/>
            </a:gradFill>
            <a:ln w="12700" cap="flat" cmpd="sng">
              <a:noFill/>
              <a:prstDash val="solid"/>
              <a:round/>
              <a:headEnd type="none" w="sm" len="sm"/>
              <a:tailEnd type="none" w="sm" len="sm"/>
            </a:ln>
          </p:spPr>
          <p:txBody>
            <a:bodyPr wrap="none" anchor="ctr"/>
            <a:lstStyle/>
            <a:p>
              <a:endParaRPr lang="en-US"/>
            </a:p>
          </p:txBody>
        </p:sp>
        <p:sp>
          <p:nvSpPr>
            <p:cNvPr id="17540" name="Freeform 700"/>
            <p:cNvSpPr>
              <a:spLocks/>
            </p:cNvSpPr>
            <p:nvPr/>
          </p:nvSpPr>
          <p:spPr bwMode="auto">
            <a:xfrm>
              <a:off x="1707" y="1128"/>
              <a:ext cx="780" cy="345"/>
            </a:xfrm>
            <a:custGeom>
              <a:avLst/>
              <a:gdLst>
                <a:gd name="T0" fmla="*/ 0 w 780"/>
                <a:gd name="T1" fmla="*/ 207 h 345"/>
                <a:gd name="T2" fmla="*/ 165 w 780"/>
                <a:gd name="T3" fmla="*/ 261 h 345"/>
                <a:gd name="T4" fmla="*/ 318 w 780"/>
                <a:gd name="T5" fmla="*/ 345 h 345"/>
                <a:gd name="T6" fmla="*/ 552 w 780"/>
                <a:gd name="T7" fmla="*/ 255 h 345"/>
                <a:gd name="T8" fmla="*/ 780 w 780"/>
                <a:gd name="T9" fmla="*/ 144 h 345"/>
                <a:gd name="T10" fmla="*/ 705 w 780"/>
                <a:gd name="T11" fmla="*/ 69 h 345"/>
                <a:gd name="T12" fmla="*/ 618 w 780"/>
                <a:gd name="T13" fmla="*/ 30 h 345"/>
                <a:gd name="T14" fmla="*/ 498 w 780"/>
                <a:gd name="T15" fmla="*/ 0 h 345"/>
                <a:gd name="T16" fmla="*/ 384 w 780"/>
                <a:gd name="T17" fmla="*/ 51 h 345"/>
                <a:gd name="T18" fmla="*/ 0 w 780"/>
                <a:gd name="T19" fmla="*/ 207 h 3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0"/>
                <a:gd name="T31" fmla="*/ 0 h 345"/>
                <a:gd name="T32" fmla="*/ 780 w 780"/>
                <a:gd name="T33" fmla="*/ 345 h 3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0" h="345">
                  <a:moveTo>
                    <a:pt x="0" y="207"/>
                  </a:moveTo>
                  <a:lnTo>
                    <a:pt x="165" y="261"/>
                  </a:lnTo>
                  <a:lnTo>
                    <a:pt x="318" y="345"/>
                  </a:lnTo>
                  <a:lnTo>
                    <a:pt x="552" y="255"/>
                  </a:lnTo>
                  <a:lnTo>
                    <a:pt x="780" y="144"/>
                  </a:lnTo>
                  <a:lnTo>
                    <a:pt x="705" y="69"/>
                  </a:lnTo>
                  <a:lnTo>
                    <a:pt x="618" y="30"/>
                  </a:lnTo>
                  <a:lnTo>
                    <a:pt x="498" y="0"/>
                  </a:lnTo>
                  <a:lnTo>
                    <a:pt x="384" y="51"/>
                  </a:lnTo>
                  <a:lnTo>
                    <a:pt x="0" y="207"/>
                  </a:lnTo>
                  <a:close/>
                </a:path>
              </a:pathLst>
            </a:custGeom>
            <a:gradFill rotWithShape="0">
              <a:gsLst>
                <a:gs pos="0">
                  <a:srgbClr val="CA9898"/>
                </a:gs>
                <a:gs pos="100000">
                  <a:srgbClr val="A46F6E"/>
                </a:gs>
              </a:gsLst>
              <a:lin ang="0" scaled="1"/>
            </a:gradFill>
            <a:ln w="12700" cap="flat" cmpd="sng">
              <a:noFill/>
              <a:prstDash val="solid"/>
              <a:round/>
              <a:headEnd type="none" w="sm" len="sm"/>
              <a:tailEnd type="none" w="sm" len="sm"/>
            </a:ln>
          </p:spPr>
          <p:txBody>
            <a:bodyPr wrap="none" anchor="ctr"/>
            <a:lstStyle/>
            <a:p>
              <a:endParaRPr lang="en-US"/>
            </a:p>
          </p:txBody>
        </p:sp>
        <p:sp>
          <p:nvSpPr>
            <p:cNvPr id="17541" name="Freeform 701"/>
            <p:cNvSpPr>
              <a:spLocks/>
            </p:cNvSpPr>
            <p:nvPr/>
          </p:nvSpPr>
          <p:spPr bwMode="auto">
            <a:xfrm>
              <a:off x="2232" y="900"/>
              <a:ext cx="729" cy="363"/>
            </a:xfrm>
            <a:custGeom>
              <a:avLst/>
              <a:gdLst>
                <a:gd name="T0" fmla="*/ 0 w 729"/>
                <a:gd name="T1" fmla="*/ 219 h 363"/>
                <a:gd name="T2" fmla="*/ 141 w 729"/>
                <a:gd name="T3" fmla="*/ 258 h 363"/>
                <a:gd name="T4" fmla="*/ 204 w 729"/>
                <a:gd name="T5" fmla="*/ 300 h 363"/>
                <a:gd name="T6" fmla="*/ 279 w 729"/>
                <a:gd name="T7" fmla="*/ 363 h 363"/>
                <a:gd name="T8" fmla="*/ 507 w 729"/>
                <a:gd name="T9" fmla="*/ 228 h 363"/>
                <a:gd name="T10" fmla="*/ 729 w 729"/>
                <a:gd name="T11" fmla="*/ 96 h 363"/>
                <a:gd name="T12" fmla="*/ 621 w 729"/>
                <a:gd name="T13" fmla="*/ 54 h 363"/>
                <a:gd name="T14" fmla="*/ 531 w 729"/>
                <a:gd name="T15" fmla="*/ 18 h 363"/>
                <a:gd name="T16" fmla="*/ 441 w 729"/>
                <a:gd name="T17" fmla="*/ 0 h 363"/>
                <a:gd name="T18" fmla="*/ 309 w 729"/>
                <a:gd name="T19" fmla="*/ 72 h 363"/>
                <a:gd name="T20" fmla="*/ 0 w 729"/>
                <a:gd name="T21" fmla="*/ 219 h 3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9"/>
                <a:gd name="T34" fmla="*/ 0 h 363"/>
                <a:gd name="T35" fmla="*/ 729 w 729"/>
                <a:gd name="T36" fmla="*/ 363 h 3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9" h="363">
                  <a:moveTo>
                    <a:pt x="0" y="219"/>
                  </a:moveTo>
                  <a:lnTo>
                    <a:pt x="141" y="258"/>
                  </a:lnTo>
                  <a:lnTo>
                    <a:pt x="204" y="300"/>
                  </a:lnTo>
                  <a:lnTo>
                    <a:pt x="279" y="363"/>
                  </a:lnTo>
                  <a:lnTo>
                    <a:pt x="507" y="228"/>
                  </a:lnTo>
                  <a:lnTo>
                    <a:pt x="729" y="96"/>
                  </a:lnTo>
                  <a:lnTo>
                    <a:pt x="621" y="54"/>
                  </a:lnTo>
                  <a:lnTo>
                    <a:pt x="531" y="18"/>
                  </a:lnTo>
                  <a:lnTo>
                    <a:pt x="441" y="0"/>
                  </a:lnTo>
                  <a:lnTo>
                    <a:pt x="309" y="72"/>
                  </a:lnTo>
                  <a:lnTo>
                    <a:pt x="0" y="219"/>
                  </a:lnTo>
                  <a:close/>
                </a:path>
              </a:pathLst>
            </a:custGeom>
            <a:gradFill rotWithShape="0">
              <a:gsLst>
                <a:gs pos="0">
                  <a:srgbClr val="D2A6A6"/>
                </a:gs>
                <a:gs pos="100000">
                  <a:srgbClr val="AE7F7E"/>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542" name="Freeform 702"/>
            <p:cNvSpPr>
              <a:spLocks/>
            </p:cNvSpPr>
            <p:nvPr/>
          </p:nvSpPr>
          <p:spPr bwMode="auto">
            <a:xfrm>
              <a:off x="2691" y="642"/>
              <a:ext cx="648" cy="339"/>
            </a:xfrm>
            <a:custGeom>
              <a:avLst/>
              <a:gdLst>
                <a:gd name="T0" fmla="*/ 0 w 648"/>
                <a:gd name="T1" fmla="*/ 246 h 339"/>
                <a:gd name="T2" fmla="*/ 99 w 648"/>
                <a:gd name="T3" fmla="*/ 270 h 339"/>
                <a:gd name="T4" fmla="*/ 183 w 648"/>
                <a:gd name="T5" fmla="*/ 309 h 339"/>
                <a:gd name="T6" fmla="*/ 279 w 648"/>
                <a:gd name="T7" fmla="*/ 339 h 339"/>
                <a:gd name="T8" fmla="*/ 456 w 648"/>
                <a:gd name="T9" fmla="*/ 210 h 339"/>
                <a:gd name="T10" fmla="*/ 648 w 648"/>
                <a:gd name="T11" fmla="*/ 69 h 339"/>
                <a:gd name="T12" fmla="*/ 573 w 648"/>
                <a:gd name="T13" fmla="*/ 45 h 339"/>
                <a:gd name="T14" fmla="*/ 465 w 648"/>
                <a:gd name="T15" fmla="*/ 15 h 339"/>
                <a:gd name="T16" fmla="*/ 372 w 648"/>
                <a:gd name="T17" fmla="*/ 0 h 339"/>
                <a:gd name="T18" fmla="*/ 291 w 648"/>
                <a:gd name="T19" fmla="*/ 72 h 339"/>
                <a:gd name="T20" fmla="*/ 171 w 648"/>
                <a:gd name="T21" fmla="*/ 144 h 339"/>
                <a:gd name="T22" fmla="*/ 0 w 648"/>
                <a:gd name="T23" fmla="*/ 246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339"/>
                <a:gd name="T38" fmla="*/ 648 w 648"/>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339">
                  <a:moveTo>
                    <a:pt x="0" y="246"/>
                  </a:moveTo>
                  <a:lnTo>
                    <a:pt x="99" y="270"/>
                  </a:lnTo>
                  <a:lnTo>
                    <a:pt x="183" y="309"/>
                  </a:lnTo>
                  <a:lnTo>
                    <a:pt x="279" y="339"/>
                  </a:lnTo>
                  <a:lnTo>
                    <a:pt x="456" y="210"/>
                  </a:lnTo>
                  <a:lnTo>
                    <a:pt x="648" y="69"/>
                  </a:lnTo>
                  <a:lnTo>
                    <a:pt x="573" y="45"/>
                  </a:lnTo>
                  <a:lnTo>
                    <a:pt x="465" y="15"/>
                  </a:lnTo>
                  <a:lnTo>
                    <a:pt x="372" y="0"/>
                  </a:lnTo>
                  <a:lnTo>
                    <a:pt x="291" y="72"/>
                  </a:lnTo>
                  <a:lnTo>
                    <a:pt x="171" y="144"/>
                  </a:lnTo>
                  <a:lnTo>
                    <a:pt x="0" y="246"/>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sp>
          <p:nvSpPr>
            <p:cNvPr id="17543" name="Freeform 703"/>
            <p:cNvSpPr>
              <a:spLocks/>
            </p:cNvSpPr>
            <p:nvPr/>
          </p:nvSpPr>
          <p:spPr bwMode="auto">
            <a:xfrm>
              <a:off x="3090" y="330"/>
              <a:ext cx="633" cy="366"/>
            </a:xfrm>
            <a:custGeom>
              <a:avLst/>
              <a:gdLst>
                <a:gd name="T0" fmla="*/ 0 w 633"/>
                <a:gd name="T1" fmla="*/ 297 h 366"/>
                <a:gd name="T2" fmla="*/ 90 w 633"/>
                <a:gd name="T3" fmla="*/ 315 h 366"/>
                <a:gd name="T4" fmla="*/ 198 w 633"/>
                <a:gd name="T5" fmla="*/ 345 h 366"/>
                <a:gd name="T6" fmla="*/ 264 w 633"/>
                <a:gd name="T7" fmla="*/ 366 h 366"/>
                <a:gd name="T8" fmla="*/ 438 w 633"/>
                <a:gd name="T9" fmla="*/ 216 h 366"/>
                <a:gd name="T10" fmla="*/ 633 w 633"/>
                <a:gd name="T11" fmla="*/ 0 h 366"/>
                <a:gd name="T12" fmla="*/ 537 w 633"/>
                <a:gd name="T13" fmla="*/ 15 h 366"/>
                <a:gd name="T14" fmla="*/ 450 w 633"/>
                <a:gd name="T15" fmla="*/ 30 h 366"/>
                <a:gd name="T16" fmla="*/ 345 w 633"/>
                <a:gd name="T17" fmla="*/ 48 h 366"/>
                <a:gd name="T18" fmla="*/ 234 w 633"/>
                <a:gd name="T19" fmla="*/ 69 h 366"/>
                <a:gd name="T20" fmla="*/ 162 w 633"/>
                <a:gd name="T21" fmla="*/ 150 h 366"/>
                <a:gd name="T22" fmla="*/ 0 w 633"/>
                <a:gd name="T23" fmla="*/ 297 h 36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3"/>
                <a:gd name="T37" fmla="*/ 0 h 366"/>
                <a:gd name="T38" fmla="*/ 633 w 633"/>
                <a:gd name="T39" fmla="*/ 366 h 36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3" h="366">
                  <a:moveTo>
                    <a:pt x="0" y="297"/>
                  </a:moveTo>
                  <a:lnTo>
                    <a:pt x="90" y="315"/>
                  </a:lnTo>
                  <a:lnTo>
                    <a:pt x="198" y="345"/>
                  </a:lnTo>
                  <a:lnTo>
                    <a:pt x="264" y="366"/>
                  </a:lnTo>
                  <a:lnTo>
                    <a:pt x="438" y="216"/>
                  </a:lnTo>
                  <a:lnTo>
                    <a:pt x="633" y="0"/>
                  </a:lnTo>
                  <a:lnTo>
                    <a:pt x="537" y="15"/>
                  </a:lnTo>
                  <a:lnTo>
                    <a:pt x="450" y="30"/>
                  </a:lnTo>
                  <a:lnTo>
                    <a:pt x="345" y="48"/>
                  </a:lnTo>
                  <a:lnTo>
                    <a:pt x="234" y="69"/>
                  </a:lnTo>
                  <a:lnTo>
                    <a:pt x="162" y="150"/>
                  </a:lnTo>
                  <a:lnTo>
                    <a:pt x="0" y="297"/>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7439" name="Group 704"/>
          <p:cNvGrpSpPr>
            <a:grpSpLocks/>
          </p:cNvGrpSpPr>
          <p:nvPr/>
        </p:nvGrpSpPr>
        <p:grpSpPr bwMode="auto">
          <a:xfrm rot="19881006" flipH="1">
            <a:off x="4724400" y="4267200"/>
            <a:ext cx="576263" cy="1277938"/>
            <a:chOff x="1125" y="288"/>
            <a:chExt cx="2859" cy="3498"/>
          </a:xfrm>
        </p:grpSpPr>
        <p:sp>
          <p:nvSpPr>
            <p:cNvPr id="17440" name="Freeform 705"/>
            <p:cNvSpPr>
              <a:spLocks/>
            </p:cNvSpPr>
            <p:nvPr/>
          </p:nvSpPr>
          <p:spPr bwMode="auto">
            <a:xfrm>
              <a:off x="1151" y="288"/>
              <a:ext cx="2833" cy="3456"/>
            </a:xfrm>
            <a:custGeom>
              <a:avLst/>
              <a:gdLst>
                <a:gd name="T0" fmla="*/ 865 w 2833"/>
                <a:gd name="T1" fmla="*/ 3456 h 3456"/>
                <a:gd name="T2" fmla="*/ 529 w 2833"/>
                <a:gd name="T3" fmla="*/ 3312 h 3456"/>
                <a:gd name="T4" fmla="*/ 452 w 2833"/>
                <a:gd name="T5" fmla="*/ 2646 h 3456"/>
                <a:gd name="T6" fmla="*/ 343 w 2833"/>
                <a:gd name="T7" fmla="*/ 2154 h 3456"/>
                <a:gd name="T8" fmla="*/ 180 w 2833"/>
                <a:gd name="T9" fmla="*/ 1717 h 3456"/>
                <a:gd name="T10" fmla="*/ 0 w 2833"/>
                <a:gd name="T11" fmla="*/ 1241 h 3456"/>
                <a:gd name="T12" fmla="*/ 567 w 2833"/>
                <a:gd name="T13" fmla="*/ 1035 h 3456"/>
                <a:gd name="T14" fmla="*/ 1027 w 2833"/>
                <a:gd name="T15" fmla="*/ 854 h 3456"/>
                <a:gd name="T16" fmla="*/ 1405 w 2833"/>
                <a:gd name="T17" fmla="*/ 657 h 3456"/>
                <a:gd name="T18" fmla="*/ 1717 w 2833"/>
                <a:gd name="T19" fmla="*/ 485 h 3456"/>
                <a:gd name="T20" fmla="*/ 1964 w 2833"/>
                <a:gd name="T21" fmla="*/ 312 h 3456"/>
                <a:gd name="T22" fmla="*/ 2161 w 2833"/>
                <a:gd name="T23" fmla="*/ 96 h 3456"/>
                <a:gd name="T24" fmla="*/ 2593 w 2833"/>
                <a:gd name="T25" fmla="*/ 0 h 3456"/>
                <a:gd name="T26" fmla="*/ 2833 w 2833"/>
                <a:gd name="T27" fmla="*/ 1920 h 3456"/>
                <a:gd name="T28" fmla="*/ 2178 w 2833"/>
                <a:gd name="T29" fmla="*/ 2531 h 3456"/>
                <a:gd name="T30" fmla="*/ 1726 w 2833"/>
                <a:gd name="T31" fmla="*/ 2892 h 3456"/>
                <a:gd name="T32" fmla="*/ 865 w 2833"/>
                <a:gd name="T33" fmla="*/ 3456 h 34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33"/>
                <a:gd name="T52" fmla="*/ 0 h 3456"/>
                <a:gd name="T53" fmla="*/ 2833 w 2833"/>
                <a:gd name="T54" fmla="*/ 3456 h 34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33" h="3456">
                  <a:moveTo>
                    <a:pt x="865" y="3456"/>
                  </a:moveTo>
                  <a:lnTo>
                    <a:pt x="529" y="3312"/>
                  </a:lnTo>
                  <a:lnTo>
                    <a:pt x="452" y="2646"/>
                  </a:lnTo>
                  <a:lnTo>
                    <a:pt x="343" y="2154"/>
                  </a:lnTo>
                  <a:lnTo>
                    <a:pt x="180" y="1717"/>
                  </a:lnTo>
                  <a:lnTo>
                    <a:pt x="0" y="1241"/>
                  </a:lnTo>
                  <a:lnTo>
                    <a:pt x="567" y="1035"/>
                  </a:lnTo>
                  <a:lnTo>
                    <a:pt x="1027" y="854"/>
                  </a:lnTo>
                  <a:lnTo>
                    <a:pt x="1405" y="657"/>
                  </a:lnTo>
                  <a:lnTo>
                    <a:pt x="1717" y="485"/>
                  </a:lnTo>
                  <a:lnTo>
                    <a:pt x="1964" y="312"/>
                  </a:lnTo>
                  <a:lnTo>
                    <a:pt x="2161" y="96"/>
                  </a:lnTo>
                  <a:lnTo>
                    <a:pt x="2593" y="0"/>
                  </a:lnTo>
                  <a:lnTo>
                    <a:pt x="2833" y="1920"/>
                  </a:lnTo>
                  <a:lnTo>
                    <a:pt x="2178" y="2531"/>
                  </a:lnTo>
                  <a:lnTo>
                    <a:pt x="1726" y="2892"/>
                  </a:lnTo>
                  <a:lnTo>
                    <a:pt x="865" y="3456"/>
                  </a:lnTo>
                  <a:close/>
                </a:path>
              </a:pathLst>
            </a:custGeom>
            <a:solidFill>
              <a:srgbClr val="4D4D4D"/>
            </a:solidFill>
            <a:ln w="12700" cap="flat" cmpd="sng">
              <a:noFill/>
              <a:prstDash val="solid"/>
              <a:round/>
              <a:headEnd type="none" w="sm" len="sm"/>
              <a:tailEnd type="none" w="sm" len="sm"/>
            </a:ln>
          </p:spPr>
          <p:txBody>
            <a:bodyPr wrap="none" anchor="ctr"/>
            <a:lstStyle/>
            <a:p>
              <a:endParaRPr lang="en-US"/>
            </a:p>
          </p:txBody>
        </p:sp>
        <p:sp>
          <p:nvSpPr>
            <p:cNvPr id="17441" name="Freeform 706"/>
            <p:cNvSpPr>
              <a:spLocks/>
            </p:cNvSpPr>
            <p:nvPr/>
          </p:nvSpPr>
          <p:spPr bwMode="auto">
            <a:xfrm>
              <a:off x="1125" y="1508"/>
              <a:ext cx="32" cy="43"/>
            </a:xfrm>
            <a:custGeom>
              <a:avLst/>
              <a:gdLst>
                <a:gd name="T0" fmla="*/ 1 w 63"/>
                <a:gd name="T1" fmla="*/ 0 h 43"/>
                <a:gd name="T2" fmla="*/ 1 w 63"/>
                <a:gd name="T3" fmla="*/ 0 h 43"/>
                <a:gd name="T4" fmla="*/ 0 w 63"/>
                <a:gd name="T5" fmla="*/ 20 h 43"/>
                <a:gd name="T6" fmla="*/ 1 w 63"/>
                <a:gd name="T7" fmla="*/ 43 h 43"/>
                <a:gd name="T8" fmla="*/ 1 w 63"/>
                <a:gd name="T9" fmla="*/ 37 h 43"/>
                <a:gd name="T10" fmla="*/ 1 w 63"/>
                <a:gd name="T11" fmla="*/ 30 h 43"/>
                <a:gd name="T12" fmla="*/ 1 w 63"/>
                <a:gd name="T13" fmla="*/ 7 h 43"/>
                <a:gd name="T14" fmla="*/ 1 w 63"/>
                <a:gd name="T15" fmla="*/ 14 h 43"/>
                <a:gd name="T16" fmla="*/ 1 w 63"/>
                <a:gd name="T17" fmla="*/ 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
                <a:gd name="T28" fmla="*/ 0 h 43"/>
                <a:gd name="T29" fmla="*/ 63 w 63"/>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 h="43">
                  <a:moveTo>
                    <a:pt x="23" y="0"/>
                  </a:moveTo>
                  <a:lnTo>
                    <a:pt x="23" y="0"/>
                  </a:lnTo>
                  <a:lnTo>
                    <a:pt x="0" y="20"/>
                  </a:lnTo>
                  <a:lnTo>
                    <a:pt x="21" y="43"/>
                  </a:lnTo>
                  <a:lnTo>
                    <a:pt x="42" y="37"/>
                  </a:lnTo>
                  <a:lnTo>
                    <a:pt x="63" y="30"/>
                  </a:lnTo>
                  <a:lnTo>
                    <a:pt x="42" y="7"/>
                  </a:lnTo>
                  <a:lnTo>
                    <a:pt x="21" y="14"/>
                  </a:lnTo>
                  <a:lnTo>
                    <a:pt x="23" y="0"/>
                  </a:lnTo>
                  <a:close/>
                </a:path>
              </a:pathLst>
            </a:custGeom>
            <a:solidFill>
              <a:srgbClr val="000000"/>
            </a:solidFill>
            <a:ln w="9525">
              <a:noFill/>
              <a:round/>
              <a:headEnd/>
              <a:tailEnd/>
            </a:ln>
          </p:spPr>
          <p:txBody>
            <a:bodyPr/>
            <a:lstStyle/>
            <a:p>
              <a:endParaRPr lang="en-US"/>
            </a:p>
          </p:txBody>
        </p:sp>
        <p:sp>
          <p:nvSpPr>
            <p:cNvPr id="17442" name="Freeform 707"/>
            <p:cNvSpPr>
              <a:spLocks/>
            </p:cNvSpPr>
            <p:nvPr/>
          </p:nvSpPr>
          <p:spPr bwMode="auto">
            <a:xfrm>
              <a:off x="1135" y="1538"/>
              <a:ext cx="897" cy="2248"/>
            </a:xfrm>
            <a:custGeom>
              <a:avLst/>
              <a:gdLst>
                <a:gd name="T0" fmla="*/ 0 w 1793"/>
                <a:gd name="T1" fmla="*/ 13 h 2248"/>
                <a:gd name="T2" fmla="*/ 3 w 1793"/>
                <a:gd name="T3" fmla="*/ 686 h 2248"/>
                <a:gd name="T4" fmla="*/ 1 w 1793"/>
                <a:gd name="T5" fmla="*/ 89 h 2248"/>
                <a:gd name="T6" fmla="*/ 1 w 1793"/>
                <a:gd name="T7" fmla="*/ 177 h 2248"/>
                <a:gd name="T8" fmla="*/ 1 w 1793"/>
                <a:gd name="T9" fmla="*/ 312 h 2248"/>
                <a:gd name="T10" fmla="*/ 2 w 1793"/>
                <a:gd name="T11" fmla="*/ 475 h 2248"/>
                <a:gd name="T12" fmla="*/ 3 w 1793"/>
                <a:gd name="T13" fmla="*/ 671 h 2248"/>
                <a:gd name="T14" fmla="*/ 3 w 1793"/>
                <a:gd name="T15" fmla="*/ 867 h 2248"/>
                <a:gd name="T16" fmla="*/ 3 w 1793"/>
                <a:gd name="T17" fmla="*/ 1075 h 2248"/>
                <a:gd name="T18" fmla="*/ 4 w 1793"/>
                <a:gd name="T19" fmla="*/ 1328 h 2248"/>
                <a:gd name="T20" fmla="*/ 4 w 1793"/>
                <a:gd name="T21" fmla="*/ 1566 h 2248"/>
                <a:gd name="T22" fmla="*/ 5 w 1793"/>
                <a:gd name="T23" fmla="*/ 1808 h 2248"/>
                <a:gd name="T24" fmla="*/ 5 w 1793"/>
                <a:gd name="T25" fmla="*/ 2059 h 2248"/>
                <a:gd name="T26" fmla="*/ 8 w 1793"/>
                <a:gd name="T27" fmla="*/ 2248 h 2248"/>
                <a:gd name="T28" fmla="*/ 7 w 1793"/>
                <a:gd name="T29" fmla="*/ 2211 h 2248"/>
                <a:gd name="T30" fmla="*/ 5 w 1793"/>
                <a:gd name="T31" fmla="*/ 2041 h 2248"/>
                <a:gd name="T32" fmla="*/ 5 w 1793"/>
                <a:gd name="T33" fmla="*/ 1806 h 2248"/>
                <a:gd name="T34" fmla="*/ 4 w 1793"/>
                <a:gd name="T35" fmla="*/ 1559 h 2248"/>
                <a:gd name="T36" fmla="*/ 4 w 1793"/>
                <a:gd name="T37" fmla="*/ 1315 h 2248"/>
                <a:gd name="T38" fmla="*/ 4 w 1793"/>
                <a:gd name="T39" fmla="*/ 1098 h 2248"/>
                <a:gd name="T40" fmla="*/ 3 w 1793"/>
                <a:gd name="T41" fmla="*/ 858 h 2248"/>
                <a:gd name="T42" fmla="*/ 3 w 1793"/>
                <a:gd name="T43" fmla="*/ 641 h 2248"/>
                <a:gd name="T44" fmla="*/ 2 w 1793"/>
                <a:gd name="T45" fmla="*/ 464 h 2248"/>
                <a:gd name="T46" fmla="*/ 2 w 1793"/>
                <a:gd name="T47" fmla="*/ 301 h 2248"/>
                <a:gd name="T48" fmla="*/ 1 w 1793"/>
                <a:gd name="T49" fmla="*/ 166 h 2248"/>
                <a:gd name="T50" fmla="*/ 1 w 1793"/>
                <a:gd name="T51" fmla="*/ 52 h 2248"/>
                <a:gd name="T52" fmla="*/ 1 w 1793"/>
                <a:gd name="T53" fmla="*/ 0 h 2248"/>
                <a:gd name="T54" fmla="*/ 1 w 1793"/>
                <a:gd name="T55" fmla="*/ 7 h 2248"/>
                <a:gd name="T56" fmla="*/ 0 w 1793"/>
                <a:gd name="T57" fmla="*/ 13 h 22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93"/>
                <a:gd name="T88" fmla="*/ 0 h 2248"/>
                <a:gd name="T89" fmla="*/ 1793 w 1793"/>
                <a:gd name="T90" fmla="*/ 2248 h 224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93" h="2248">
                  <a:moveTo>
                    <a:pt x="0" y="13"/>
                  </a:moveTo>
                  <a:lnTo>
                    <a:pt x="625" y="686"/>
                  </a:lnTo>
                  <a:lnTo>
                    <a:pt x="69" y="89"/>
                  </a:lnTo>
                  <a:lnTo>
                    <a:pt x="145" y="177"/>
                  </a:lnTo>
                  <a:lnTo>
                    <a:pt x="255" y="312"/>
                  </a:lnTo>
                  <a:lnTo>
                    <a:pt x="380" y="475"/>
                  </a:lnTo>
                  <a:lnTo>
                    <a:pt x="519" y="671"/>
                  </a:lnTo>
                  <a:lnTo>
                    <a:pt x="646" y="867"/>
                  </a:lnTo>
                  <a:lnTo>
                    <a:pt x="764" y="1075"/>
                  </a:lnTo>
                  <a:lnTo>
                    <a:pt x="882" y="1328"/>
                  </a:lnTo>
                  <a:lnTo>
                    <a:pt x="970" y="1566"/>
                  </a:lnTo>
                  <a:lnTo>
                    <a:pt x="1030" y="1808"/>
                  </a:lnTo>
                  <a:lnTo>
                    <a:pt x="1053" y="2059"/>
                  </a:lnTo>
                  <a:lnTo>
                    <a:pt x="1793" y="2248"/>
                  </a:lnTo>
                  <a:lnTo>
                    <a:pt x="1769" y="2211"/>
                  </a:lnTo>
                  <a:lnTo>
                    <a:pt x="1104" y="2041"/>
                  </a:lnTo>
                  <a:lnTo>
                    <a:pt x="1080" y="1806"/>
                  </a:lnTo>
                  <a:lnTo>
                    <a:pt x="1021" y="1559"/>
                  </a:lnTo>
                  <a:lnTo>
                    <a:pt x="932" y="1315"/>
                  </a:lnTo>
                  <a:lnTo>
                    <a:pt x="826" y="1098"/>
                  </a:lnTo>
                  <a:lnTo>
                    <a:pt x="693" y="858"/>
                  </a:lnTo>
                  <a:lnTo>
                    <a:pt x="554" y="641"/>
                  </a:lnTo>
                  <a:lnTo>
                    <a:pt x="426" y="464"/>
                  </a:lnTo>
                  <a:lnTo>
                    <a:pt x="301" y="301"/>
                  </a:lnTo>
                  <a:lnTo>
                    <a:pt x="191" y="166"/>
                  </a:lnTo>
                  <a:lnTo>
                    <a:pt x="92" y="52"/>
                  </a:lnTo>
                  <a:lnTo>
                    <a:pt x="44" y="0"/>
                  </a:lnTo>
                  <a:lnTo>
                    <a:pt x="21" y="7"/>
                  </a:lnTo>
                  <a:lnTo>
                    <a:pt x="0" y="13"/>
                  </a:lnTo>
                  <a:close/>
                </a:path>
              </a:pathLst>
            </a:custGeom>
            <a:solidFill>
              <a:srgbClr val="000000"/>
            </a:solidFill>
            <a:ln w="9525">
              <a:noFill/>
              <a:round/>
              <a:headEnd/>
              <a:tailEnd/>
            </a:ln>
          </p:spPr>
          <p:txBody>
            <a:bodyPr/>
            <a:lstStyle/>
            <a:p>
              <a:endParaRPr lang="en-US"/>
            </a:p>
          </p:txBody>
        </p:sp>
        <p:sp>
          <p:nvSpPr>
            <p:cNvPr id="17443" name="Freeform 708"/>
            <p:cNvSpPr>
              <a:spLocks/>
            </p:cNvSpPr>
            <p:nvPr/>
          </p:nvSpPr>
          <p:spPr bwMode="auto">
            <a:xfrm>
              <a:off x="1133" y="295"/>
              <a:ext cx="2604" cy="1241"/>
            </a:xfrm>
            <a:custGeom>
              <a:avLst/>
              <a:gdLst>
                <a:gd name="T0" fmla="*/ 21 w 5206"/>
                <a:gd name="T1" fmla="*/ 29 h 1241"/>
                <a:gd name="T2" fmla="*/ 21 w 5206"/>
                <a:gd name="T3" fmla="*/ 0 h 1241"/>
                <a:gd name="T4" fmla="*/ 18 w 5206"/>
                <a:gd name="T5" fmla="*/ 89 h 1241"/>
                <a:gd name="T6" fmla="*/ 16 w 5206"/>
                <a:gd name="T7" fmla="*/ 255 h 1241"/>
                <a:gd name="T8" fmla="*/ 15 w 5206"/>
                <a:gd name="T9" fmla="*/ 410 h 1241"/>
                <a:gd name="T10" fmla="*/ 13 w 5206"/>
                <a:gd name="T11" fmla="*/ 542 h 1241"/>
                <a:gd name="T12" fmla="*/ 11 w 5206"/>
                <a:gd name="T13" fmla="*/ 682 h 1241"/>
                <a:gd name="T14" fmla="*/ 9 w 5206"/>
                <a:gd name="T15" fmla="*/ 800 h 1241"/>
                <a:gd name="T16" fmla="*/ 7 w 5206"/>
                <a:gd name="T17" fmla="*/ 902 h 1241"/>
                <a:gd name="T18" fmla="*/ 6 w 5206"/>
                <a:gd name="T19" fmla="*/ 994 h 1241"/>
                <a:gd name="T20" fmla="*/ 4 w 5206"/>
                <a:gd name="T21" fmla="*/ 1076 h 1241"/>
                <a:gd name="T22" fmla="*/ 3 w 5206"/>
                <a:gd name="T23" fmla="*/ 1132 h 1241"/>
                <a:gd name="T24" fmla="*/ 1 w 5206"/>
                <a:gd name="T25" fmla="*/ 1177 h 1241"/>
                <a:gd name="T26" fmla="*/ 1 w 5206"/>
                <a:gd name="T27" fmla="*/ 1201 h 1241"/>
                <a:gd name="T28" fmla="*/ 0 w 5206"/>
                <a:gd name="T29" fmla="*/ 1213 h 1241"/>
                <a:gd name="T30" fmla="*/ 1 w 5206"/>
                <a:gd name="T31" fmla="*/ 1227 h 1241"/>
                <a:gd name="T32" fmla="*/ 1 w 5206"/>
                <a:gd name="T33" fmla="*/ 1241 h 1241"/>
                <a:gd name="T34" fmla="*/ 1 w 5206"/>
                <a:gd name="T35" fmla="*/ 1236 h 1241"/>
                <a:gd name="T36" fmla="*/ 1 w 5206"/>
                <a:gd name="T37" fmla="*/ 1203 h 1241"/>
                <a:gd name="T38" fmla="*/ 3 w 5206"/>
                <a:gd name="T39" fmla="*/ 1158 h 1241"/>
                <a:gd name="T40" fmla="*/ 4 w 5206"/>
                <a:gd name="T41" fmla="*/ 1093 h 1241"/>
                <a:gd name="T42" fmla="*/ 6 w 5206"/>
                <a:gd name="T43" fmla="*/ 1020 h 1241"/>
                <a:gd name="T44" fmla="*/ 7 w 5206"/>
                <a:gd name="T45" fmla="*/ 928 h 1241"/>
                <a:gd name="T46" fmla="*/ 9 w 5206"/>
                <a:gd name="T47" fmla="*/ 819 h 1241"/>
                <a:gd name="T48" fmla="*/ 11 w 5206"/>
                <a:gd name="T49" fmla="*/ 701 h 1241"/>
                <a:gd name="T50" fmla="*/ 13 w 5206"/>
                <a:gd name="T51" fmla="*/ 579 h 1241"/>
                <a:gd name="T52" fmla="*/ 15 w 5206"/>
                <a:gd name="T53" fmla="*/ 427 h 1241"/>
                <a:gd name="T54" fmla="*/ 16 w 5206"/>
                <a:gd name="T55" fmla="*/ 278 h 1241"/>
                <a:gd name="T56" fmla="*/ 18 w 5206"/>
                <a:gd name="T57" fmla="*/ 118 h 1241"/>
                <a:gd name="T58" fmla="*/ 21 w 5206"/>
                <a:gd name="T59" fmla="*/ 29 h 124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206"/>
                <a:gd name="T91" fmla="*/ 0 h 1241"/>
                <a:gd name="T92" fmla="*/ 5206 w 5206"/>
                <a:gd name="T93" fmla="*/ 1241 h 124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206" h="1241">
                  <a:moveTo>
                    <a:pt x="5206" y="29"/>
                  </a:moveTo>
                  <a:lnTo>
                    <a:pt x="5199" y="0"/>
                  </a:lnTo>
                  <a:lnTo>
                    <a:pt x="4369" y="89"/>
                  </a:lnTo>
                  <a:lnTo>
                    <a:pt x="4037" y="255"/>
                  </a:lnTo>
                  <a:lnTo>
                    <a:pt x="3632" y="410"/>
                  </a:lnTo>
                  <a:lnTo>
                    <a:pt x="3223" y="542"/>
                  </a:lnTo>
                  <a:lnTo>
                    <a:pt x="2711" y="682"/>
                  </a:lnTo>
                  <a:lnTo>
                    <a:pt x="2219" y="800"/>
                  </a:lnTo>
                  <a:lnTo>
                    <a:pt x="1754" y="902"/>
                  </a:lnTo>
                  <a:lnTo>
                    <a:pt x="1295" y="994"/>
                  </a:lnTo>
                  <a:lnTo>
                    <a:pt x="853" y="1076"/>
                  </a:lnTo>
                  <a:lnTo>
                    <a:pt x="521" y="1132"/>
                  </a:lnTo>
                  <a:lnTo>
                    <a:pt x="243" y="1177"/>
                  </a:lnTo>
                  <a:lnTo>
                    <a:pt x="96" y="1201"/>
                  </a:lnTo>
                  <a:lnTo>
                    <a:pt x="0" y="1213"/>
                  </a:lnTo>
                  <a:lnTo>
                    <a:pt x="4" y="1227"/>
                  </a:lnTo>
                  <a:lnTo>
                    <a:pt x="8" y="1241"/>
                  </a:lnTo>
                  <a:lnTo>
                    <a:pt x="42" y="1236"/>
                  </a:lnTo>
                  <a:lnTo>
                    <a:pt x="255" y="1203"/>
                  </a:lnTo>
                  <a:lnTo>
                    <a:pt x="533" y="1158"/>
                  </a:lnTo>
                  <a:lnTo>
                    <a:pt x="915" y="1093"/>
                  </a:lnTo>
                  <a:lnTo>
                    <a:pt x="1310" y="1020"/>
                  </a:lnTo>
                  <a:lnTo>
                    <a:pt x="1769" y="928"/>
                  </a:lnTo>
                  <a:lnTo>
                    <a:pt x="2273" y="819"/>
                  </a:lnTo>
                  <a:lnTo>
                    <a:pt x="2761" y="701"/>
                  </a:lnTo>
                  <a:lnTo>
                    <a:pt x="3199" y="579"/>
                  </a:lnTo>
                  <a:lnTo>
                    <a:pt x="3678" y="427"/>
                  </a:lnTo>
                  <a:lnTo>
                    <a:pt x="4064" y="278"/>
                  </a:lnTo>
                  <a:lnTo>
                    <a:pt x="4388" y="118"/>
                  </a:lnTo>
                  <a:lnTo>
                    <a:pt x="5206" y="29"/>
                  </a:lnTo>
                  <a:close/>
                </a:path>
              </a:pathLst>
            </a:custGeom>
            <a:solidFill>
              <a:srgbClr val="000000"/>
            </a:solidFill>
            <a:ln w="9525">
              <a:noFill/>
              <a:round/>
              <a:headEnd/>
              <a:tailEnd/>
            </a:ln>
          </p:spPr>
          <p:txBody>
            <a:bodyPr/>
            <a:lstStyle/>
            <a:p>
              <a:endParaRPr lang="en-US"/>
            </a:p>
          </p:txBody>
        </p:sp>
        <p:sp>
          <p:nvSpPr>
            <p:cNvPr id="17444" name="Freeform 709"/>
            <p:cNvSpPr>
              <a:spLocks/>
            </p:cNvSpPr>
            <p:nvPr/>
          </p:nvSpPr>
          <p:spPr bwMode="auto">
            <a:xfrm>
              <a:off x="1133" y="1508"/>
              <a:ext cx="365" cy="88"/>
            </a:xfrm>
            <a:custGeom>
              <a:avLst/>
              <a:gdLst>
                <a:gd name="T0" fmla="*/ 0 w 1177"/>
                <a:gd name="T1" fmla="*/ 0 h 150"/>
                <a:gd name="T2" fmla="*/ 0 w 1177"/>
                <a:gd name="T3" fmla="*/ 0 h 150"/>
                <a:gd name="T4" fmla="*/ 0 w 1177"/>
                <a:gd name="T5" fmla="*/ 1 h 150"/>
                <a:gd name="T6" fmla="*/ 0 w 1177"/>
                <a:gd name="T7" fmla="*/ 1 h 150"/>
                <a:gd name="T8" fmla="*/ 0 w 1177"/>
                <a:gd name="T9" fmla="*/ 2 h 150"/>
                <a:gd name="T10" fmla="*/ 0 w 1177"/>
                <a:gd name="T11" fmla="*/ 2 h 150"/>
                <a:gd name="T12" fmla="*/ 0 w 1177"/>
                <a:gd name="T13" fmla="*/ 1 h 150"/>
                <a:gd name="T14" fmla="*/ 0 w 1177"/>
                <a:gd name="T15" fmla="*/ 0 h 150"/>
                <a:gd name="T16" fmla="*/ 0 w 1177"/>
                <a:gd name="T17" fmla="*/ 1 h 150"/>
                <a:gd name="T18" fmla="*/ 0 w 1177"/>
                <a:gd name="T19" fmla="*/ 0 h 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77"/>
                <a:gd name="T31" fmla="*/ 0 h 150"/>
                <a:gd name="T32" fmla="*/ 1177 w 1177"/>
                <a:gd name="T33" fmla="*/ 150 h 1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77" h="150">
                  <a:moveTo>
                    <a:pt x="0" y="0"/>
                  </a:moveTo>
                  <a:lnTo>
                    <a:pt x="0" y="0"/>
                  </a:lnTo>
                  <a:lnTo>
                    <a:pt x="2" y="28"/>
                  </a:lnTo>
                  <a:lnTo>
                    <a:pt x="681" y="79"/>
                  </a:lnTo>
                  <a:lnTo>
                    <a:pt x="1177" y="150"/>
                  </a:lnTo>
                  <a:lnTo>
                    <a:pt x="1177" y="121"/>
                  </a:lnTo>
                  <a:lnTo>
                    <a:pt x="700" y="51"/>
                  </a:lnTo>
                  <a:lnTo>
                    <a:pt x="6" y="0"/>
                  </a:lnTo>
                  <a:lnTo>
                    <a:pt x="4" y="14"/>
                  </a:lnTo>
                  <a:lnTo>
                    <a:pt x="0" y="0"/>
                  </a:lnTo>
                  <a:close/>
                </a:path>
              </a:pathLst>
            </a:custGeom>
            <a:solidFill>
              <a:srgbClr val="000000"/>
            </a:solidFill>
            <a:ln w="9525">
              <a:noFill/>
              <a:round/>
              <a:headEnd/>
              <a:tailEnd/>
            </a:ln>
          </p:spPr>
          <p:txBody>
            <a:bodyPr/>
            <a:lstStyle/>
            <a:p>
              <a:endParaRPr lang="en-US"/>
            </a:p>
          </p:txBody>
        </p:sp>
        <p:sp>
          <p:nvSpPr>
            <p:cNvPr id="17445" name="Freeform 710"/>
            <p:cNvSpPr>
              <a:spLocks/>
            </p:cNvSpPr>
            <p:nvPr/>
          </p:nvSpPr>
          <p:spPr bwMode="auto">
            <a:xfrm>
              <a:off x="3722" y="308"/>
              <a:ext cx="259" cy="1907"/>
            </a:xfrm>
            <a:custGeom>
              <a:avLst/>
              <a:gdLst>
                <a:gd name="T0" fmla="*/ 2 w 518"/>
                <a:gd name="T1" fmla="*/ 1907 h 1907"/>
                <a:gd name="T2" fmla="*/ 2 w 518"/>
                <a:gd name="T3" fmla="*/ 1907 h 1907"/>
                <a:gd name="T4" fmla="*/ 2 w 518"/>
                <a:gd name="T5" fmla="*/ 1862 h 1907"/>
                <a:gd name="T6" fmla="*/ 2 w 518"/>
                <a:gd name="T7" fmla="*/ 1750 h 1907"/>
                <a:gd name="T8" fmla="*/ 2 w 518"/>
                <a:gd name="T9" fmla="*/ 1594 h 1907"/>
                <a:gd name="T10" fmla="*/ 2 w 518"/>
                <a:gd name="T11" fmla="*/ 1396 h 1907"/>
                <a:gd name="T12" fmla="*/ 1 w 518"/>
                <a:gd name="T13" fmla="*/ 1175 h 1907"/>
                <a:gd name="T14" fmla="*/ 1 w 518"/>
                <a:gd name="T15" fmla="*/ 940 h 1907"/>
                <a:gd name="T16" fmla="*/ 1 w 518"/>
                <a:gd name="T17" fmla="*/ 707 h 1907"/>
                <a:gd name="T18" fmla="*/ 1 w 518"/>
                <a:gd name="T19" fmla="*/ 487 h 1907"/>
                <a:gd name="T20" fmla="*/ 1 w 518"/>
                <a:gd name="T21" fmla="*/ 294 h 1907"/>
                <a:gd name="T22" fmla="*/ 1 w 518"/>
                <a:gd name="T23" fmla="*/ 139 h 1907"/>
                <a:gd name="T24" fmla="*/ 1 w 518"/>
                <a:gd name="T25" fmla="*/ 37 h 1907"/>
                <a:gd name="T26" fmla="*/ 1 w 518"/>
                <a:gd name="T27" fmla="*/ 0 h 1907"/>
                <a:gd name="T28" fmla="*/ 1 w 518"/>
                <a:gd name="T29" fmla="*/ 2 h 1907"/>
                <a:gd name="T30" fmla="*/ 0 w 518"/>
                <a:gd name="T31" fmla="*/ 3 h 1907"/>
                <a:gd name="T32" fmla="*/ 1 w 518"/>
                <a:gd name="T33" fmla="*/ 40 h 1907"/>
                <a:gd name="T34" fmla="*/ 1 w 518"/>
                <a:gd name="T35" fmla="*/ 142 h 1907"/>
                <a:gd name="T36" fmla="*/ 1 w 518"/>
                <a:gd name="T37" fmla="*/ 296 h 1907"/>
                <a:gd name="T38" fmla="*/ 1 w 518"/>
                <a:gd name="T39" fmla="*/ 489 h 1907"/>
                <a:gd name="T40" fmla="*/ 1 w 518"/>
                <a:gd name="T41" fmla="*/ 709 h 1907"/>
                <a:gd name="T42" fmla="*/ 1 w 518"/>
                <a:gd name="T43" fmla="*/ 942 h 1907"/>
                <a:gd name="T44" fmla="*/ 1 w 518"/>
                <a:gd name="T45" fmla="*/ 1177 h 1907"/>
                <a:gd name="T46" fmla="*/ 1 w 518"/>
                <a:gd name="T47" fmla="*/ 1399 h 1907"/>
                <a:gd name="T48" fmla="*/ 2 w 518"/>
                <a:gd name="T49" fmla="*/ 1596 h 1907"/>
                <a:gd name="T50" fmla="*/ 2 w 518"/>
                <a:gd name="T51" fmla="*/ 1757 h 1907"/>
                <a:gd name="T52" fmla="*/ 2 w 518"/>
                <a:gd name="T53" fmla="*/ 1862 h 1907"/>
                <a:gd name="T54" fmla="*/ 2 w 518"/>
                <a:gd name="T55" fmla="*/ 1907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18"/>
                <a:gd name="T85" fmla="*/ 0 h 1907"/>
                <a:gd name="T86" fmla="*/ 518 w 518"/>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18" h="1907">
                  <a:moveTo>
                    <a:pt x="464" y="1907"/>
                  </a:moveTo>
                  <a:lnTo>
                    <a:pt x="514" y="1907"/>
                  </a:lnTo>
                  <a:lnTo>
                    <a:pt x="518" y="1862"/>
                  </a:lnTo>
                  <a:lnTo>
                    <a:pt x="502" y="1750"/>
                  </a:lnTo>
                  <a:lnTo>
                    <a:pt x="469" y="1594"/>
                  </a:lnTo>
                  <a:lnTo>
                    <a:pt x="423" y="1396"/>
                  </a:lnTo>
                  <a:lnTo>
                    <a:pt x="369" y="1175"/>
                  </a:lnTo>
                  <a:lnTo>
                    <a:pt x="307" y="940"/>
                  </a:lnTo>
                  <a:lnTo>
                    <a:pt x="245" y="707"/>
                  </a:lnTo>
                  <a:lnTo>
                    <a:pt x="186" y="487"/>
                  </a:lnTo>
                  <a:lnTo>
                    <a:pt x="132" y="294"/>
                  </a:lnTo>
                  <a:lnTo>
                    <a:pt x="89" y="139"/>
                  </a:lnTo>
                  <a:lnTo>
                    <a:pt x="60" y="37"/>
                  </a:lnTo>
                  <a:lnTo>
                    <a:pt x="51" y="0"/>
                  </a:lnTo>
                  <a:lnTo>
                    <a:pt x="25" y="2"/>
                  </a:lnTo>
                  <a:lnTo>
                    <a:pt x="0" y="3"/>
                  </a:lnTo>
                  <a:lnTo>
                    <a:pt x="10" y="40"/>
                  </a:lnTo>
                  <a:lnTo>
                    <a:pt x="39" y="142"/>
                  </a:lnTo>
                  <a:lnTo>
                    <a:pt x="81" y="296"/>
                  </a:lnTo>
                  <a:lnTo>
                    <a:pt x="135" y="489"/>
                  </a:lnTo>
                  <a:lnTo>
                    <a:pt x="195" y="709"/>
                  </a:lnTo>
                  <a:lnTo>
                    <a:pt x="257" y="942"/>
                  </a:lnTo>
                  <a:lnTo>
                    <a:pt x="319" y="1177"/>
                  </a:lnTo>
                  <a:lnTo>
                    <a:pt x="373" y="1399"/>
                  </a:lnTo>
                  <a:lnTo>
                    <a:pt x="419" y="1596"/>
                  </a:lnTo>
                  <a:lnTo>
                    <a:pt x="452" y="1757"/>
                  </a:lnTo>
                  <a:lnTo>
                    <a:pt x="467" y="1862"/>
                  </a:lnTo>
                  <a:lnTo>
                    <a:pt x="464" y="1907"/>
                  </a:lnTo>
                  <a:close/>
                </a:path>
              </a:pathLst>
            </a:custGeom>
            <a:solidFill>
              <a:srgbClr val="000000"/>
            </a:solidFill>
            <a:ln w="9525">
              <a:noFill/>
              <a:round/>
              <a:headEnd/>
              <a:tailEnd/>
            </a:ln>
          </p:spPr>
          <p:txBody>
            <a:bodyPr/>
            <a:lstStyle/>
            <a:p>
              <a:endParaRPr lang="en-US"/>
            </a:p>
          </p:txBody>
        </p:sp>
        <p:sp>
          <p:nvSpPr>
            <p:cNvPr id="17446" name="Freeform 711"/>
            <p:cNvSpPr>
              <a:spLocks/>
            </p:cNvSpPr>
            <p:nvPr/>
          </p:nvSpPr>
          <p:spPr bwMode="auto">
            <a:xfrm>
              <a:off x="3722" y="299"/>
              <a:ext cx="25" cy="26"/>
            </a:xfrm>
            <a:custGeom>
              <a:avLst/>
              <a:gdLst>
                <a:gd name="T0" fmla="*/ 0 w 51"/>
                <a:gd name="T1" fmla="*/ 11 h 26"/>
                <a:gd name="T2" fmla="*/ 0 w 51"/>
                <a:gd name="T3" fmla="*/ 21 h 26"/>
                <a:gd name="T4" fmla="*/ 0 w 51"/>
                <a:gd name="T5" fmla="*/ 26 h 26"/>
                <a:gd name="T6" fmla="*/ 0 w 51"/>
                <a:gd name="T7" fmla="*/ 15 h 26"/>
                <a:gd name="T8" fmla="*/ 0 w 51"/>
                <a:gd name="T9" fmla="*/ 4 h 26"/>
                <a:gd name="T10" fmla="*/ 0 w 51"/>
                <a:gd name="T11" fmla="*/ 0 h 26"/>
                <a:gd name="T12" fmla="*/ 0 w 51"/>
                <a:gd name="T13" fmla="*/ 12 h 26"/>
                <a:gd name="T14" fmla="*/ 0 w 51"/>
                <a:gd name="T15" fmla="*/ 12 h 26"/>
                <a:gd name="T16" fmla="*/ 0 w 51"/>
                <a:gd name="T17" fmla="*/ 11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26"/>
                <a:gd name="T29" fmla="*/ 51 w 51"/>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26">
                  <a:moveTo>
                    <a:pt x="25" y="11"/>
                  </a:moveTo>
                  <a:lnTo>
                    <a:pt x="10" y="21"/>
                  </a:lnTo>
                  <a:lnTo>
                    <a:pt x="20" y="26"/>
                  </a:lnTo>
                  <a:lnTo>
                    <a:pt x="35" y="15"/>
                  </a:lnTo>
                  <a:lnTo>
                    <a:pt x="51" y="4"/>
                  </a:lnTo>
                  <a:lnTo>
                    <a:pt x="41" y="0"/>
                  </a:lnTo>
                  <a:lnTo>
                    <a:pt x="0" y="12"/>
                  </a:lnTo>
                  <a:lnTo>
                    <a:pt x="25" y="11"/>
                  </a:lnTo>
                  <a:close/>
                </a:path>
              </a:pathLst>
            </a:custGeom>
            <a:solidFill>
              <a:srgbClr val="000000"/>
            </a:solidFill>
            <a:ln w="9525">
              <a:noFill/>
              <a:round/>
              <a:headEnd/>
              <a:tailEnd/>
            </a:ln>
          </p:spPr>
          <p:txBody>
            <a:bodyPr/>
            <a:lstStyle/>
            <a:p>
              <a:endParaRPr lang="en-US"/>
            </a:p>
          </p:txBody>
        </p:sp>
        <p:sp>
          <p:nvSpPr>
            <p:cNvPr id="17447" name="Freeform 712"/>
            <p:cNvSpPr>
              <a:spLocks/>
            </p:cNvSpPr>
            <p:nvPr/>
          </p:nvSpPr>
          <p:spPr bwMode="auto">
            <a:xfrm>
              <a:off x="3727" y="303"/>
              <a:ext cx="25" cy="11"/>
            </a:xfrm>
            <a:custGeom>
              <a:avLst/>
              <a:gdLst>
                <a:gd name="T0" fmla="*/ 1 w 50"/>
                <a:gd name="T1" fmla="*/ 11 h 11"/>
                <a:gd name="T2" fmla="*/ 0 w 50"/>
                <a:gd name="T3" fmla="*/ 10 h 11"/>
                <a:gd name="T4" fmla="*/ 1 w 50"/>
                <a:gd name="T5" fmla="*/ 4 h 11"/>
                <a:gd name="T6" fmla="*/ 1 w 50"/>
                <a:gd name="T7" fmla="*/ 0 h 11"/>
                <a:gd name="T8" fmla="*/ 1 w 50"/>
                <a:gd name="T9" fmla="*/ 11 h 11"/>
                <a:gd name="T10" fmla="*/ 0 60000 65536"/>
                <a:gd name="T11" fmla="*/ 0 60000 65536"/>
                <a:gd name="T12" fmla="*/ 0 60000 65536"/>
                <a:gd name="T13" fmla="*/ 0 60000 65536"/>
                <a:gd name="T14" fmla="*/ 0 60000 65536"/>
                <a:gd name="T15" fmla="*/ 0 w 50"/>
                <a:gd name="T16" fmla="*/ 0 h 11"/>
                <a:gd name="T17" fmla="*/ 50 w 50"/>
                <a:gd name="T18" fmla="*/ 11 h 11"/>
              </a:gdLst>
              <a:ahLst/>
              <a:cxnLst>
                <a:cxn ang="T10">
                  <a:pos x="T0" y="T1"/>
                </a:cxn>
                <a:cxn ang="T11">
                  <a:pos x="T2" y="T3"/>
                </a:cxn>
                <a:cxn ang="T12">
                  <a:pos x="T4" y="T5"/>
                </a:cxn>
                <a:cxn ang="T13">
                  <a:pos x="T6" y="T7"/>
                </a:cxn>
                <a:cxn ang="T14">
                  <a:pos x="T8" y="T9"/>
                </a:cxn>
              </a:cxnLst>
              <a:rect l="T15" t="T16" r="T17" b="T18"/>
              <a:pathLst>
                <a:path w="50" h="11">
                  <a:moveTo>
                    <a:pt x="25" y="11"/>
                  </a:moveTo>
                  <a:lnTo>
                    <a:pt x="0" y="10"/>
                  </a:lnTo>
                  <a:lnTo>
                    <a:pt x="50" y="4"/>
                  </a:lnTo>
                  <a:lnTo>
                    <a:pt x="41" y="0"/>
                  </a:lnTo>
                  <a:lnTo>
                    <a:pt x="25" y="11"/>
                  </a:lnTo>
                  <a:close/>
                </a:path>
              </a:pathLst>
            </a:custGeom>
            <a:solidFill>
              <a:srgbClr val="000000"/>
            </a:solidFill>
            <a:ln w="9525">
              <a:noFill/>
              <a:round/>
              <a:headEnd/>
              <a:tailEnd/>
            </a:ln>
          </p:spPr>
          <p:txBody>
            <a:bodyPr/>
            <a:lstStyle/>
            <a:p>
              <a:endParaRPr lang="en-US"/>
            </a:p>
          </p:txBody>
        </p:sp>
        <p:sp>
          <p:nvSpPr>
            <p:cNvPr id="17448" name="Freeform 713"/>
            <p:cNvSpPr>
              <a:spLocks/>
            </p:cNvSpPr>
            <p:nvPr/>
          </p:nvSpPr>
          <p:spPr bwMode="auto">
            <a:xfrm>
              <a:off x="1478" y="307"/>
              <a:ext cx="2274" cy="1281"/>
            </a:xfrm>
            <a:custGeom>
              <a:avLst/>
              <a:gdLst>
                <a:gd name="T0" fmla="*/ 18 w 4548"/>
                <a:gd name="T1" fmla="*/ 6 h 1281"/>
                <a:gd name="T2" fmla="*/ 18 w 4548"/>
                <a:gd name="T3" fmla="*/ 17 h 1281"/>
                <a:gd name="T4" fmla="*/ 18 w 4548"/>
                <a:gd name="T5" fmla="*/ 38 h 1281"/>
                <a:gd name="T6" fmla="*/ 18 w 4548"/>
                <a:gd name="T7" fmla="*/ 68 h 1281"/>
                <a:gd name="T8" fmla="*/ 18 w 4548"/>
                <a:gd name="T9" fmla="*/ 112 h 1281"/>
                <a:gd name="T10" fmla="*/ 17 w 4548"/>
                <a:gd name="T11" fmla="*/ 164 h 1281"/>
                <a:gd name="T12" fmla="*/ 17 w 4548"/>
                <a:gd name="T13" fmla="*/ 231 h 1281"/>
                <a:gd name="T14" fmla="*/ 15 w 4548"/>
                <a:gd name="T15" fmla="*/ 306 h 1281"/>
                <a:gd name="T16" fmla="*/ 15 w 4548"/>
                <a:gd name="T17" fmla="*/ 398 h 1281"/>
                <a:gd name="T18" fmla="*/ 14 w 4548"/>
                <a:gd name="T19" fmla="*/ 501 h 1281"/>
                <a:gd name="T20" fmla="*/ 12 w 4548"/>
                <a:gd name="T21" fmla="*/ 632 h 1281"/>
                <a:gd name="T22" fmla="*/ 11 w 4548"/>
                <a:gd name="T23" fmla="*/ 746 h 1281"/>
                <a:gd name="T24" fmla="*/ 9 w 4548"/>
                <a:gd name="T25" fmla="*/ 862 h 1281"/>
                <a:gd name="T26" fmla="*/ 8 w 4548"/>
                <a:gd name="T27" fmla="*/ 975 h 1281"/>
                <a:gd name="T28" fmla="*/ 6 w 4548"/>
                <a:gd name="T29" fmla="*/ 1056 h 1281"/>
                <a:gd name="T30" fmla="*/ 5 w 4548"/>
                <a:gd name="T31" fmla="*/ 1120 h 1281"/>
                <a:gd name="T32" fmla="*/ 5 w 4548"/>
                <a:gd name="T33" fmla="*/ 1165 h 1281"/>
                <a:gd name="T34" fmla="*/ 3 w 4548"/>
                <a:gd name="T35" fmla="*/ 1202 h 1281"/>
                <a:gd name="T36" fmla="*/ 2 w 4548"/>
                <a:gd name="T37" fmla="*/ 1227 h 1281"/>
                <a:gd name="T38" fmla="*/ 1 w 4548"/>
                <a:gd name="T39" fmla="*/ 1242 h 1281"/>
                <a:gd name="T40" fmla="*/ 1 w 4548"/>
                <a:gd name="T41" fmla="*/ 1250 h 1281"/>
                <a:gd name="T42" fmla="*/ 1 w 4548"/>
                <a:gd name="T43" fmla="*/ 1253 h 1281"/>
                <a:gd name="T44" fmla="*/ 1 w 4548"/>
                <a:gd name="T45" fmla="*/ 1253 h 1281"/>
                <a:gd name="T46" fmla="*/ 1 w 4548"/>
                <a:gd name="T47" fmla="*/ 1252 h 1281"/>
                <a:gd name="T48" fmla="*/ 1 w 4548"/>
                <a:gd name="T49" fmla="*/ 1266 h 1281"/>
                <a:gd name="T50" fmla="*/ 0 w 4548"/>
                <a:gd name="T51" fmla="*/ 1280 h 1281"/>
                <a:gd name="T52" fmla="*/ 1 w 4548"/>
                <a:gd name="T53" fmla="*/ 1281 h 1281"/>
                <a:gd name="T54" fmla="*/ 1 w 4548"/>
                <a:gd name="T55" fmla="*/ 1281 h 1281"/>
                <a:gd name="T56" fmla="*/ 1 w 4548"/>
                <a:gd name="T57" fmla="*/ 1278 h 1281"/>
                <a:gd name="T58" fmla="*/ 1 w 4548"/>
                <a:gd name="T59" fmla="*/ 1270 h 1281"/>
                <a:gd name="T60" fmla="*/ 2 w 4548"/>
                <a:gd name="T61" fmla="*/ 1255 h 1281"/>
                <a:gd name="T62" fmla="*/ 3 w 4548"/>
                <a:gd name="T63" fmla="*/ 1230 h 1281"/>
                <a:gd name="T64" fmla="*/ 4 w 4548"/>
                <a:gd name="T65" fmla="*/ 1197 h 1281"/>
                <a:gd name="T66" fmla="*/ 5 w 4548"/>
                <a:gd name="T67" fmla="*/ 1144 h 1281"/>
                <a:gd name="T68" fmla="*/ 7 w 4548"/>
                <a:gd name="T69" fmla="*/ 1078 h 1281"/>
                <a:gd name="T70" fmla="*/ 8 w 4548"/>
                <a:gd name="T71" fmla="*/ 994 h 1281"/>
                <a:gd name="T72" fmla="*/ 9 w 4548"/>
                <a:gd name="T73" fmla="*/ 903 h 1281"/>
                <a:gd name="T74" fmla="*/ 11 w 4548"/>
                <a:gd name="T75" fmla="*/ 769 h 1281"/>
                <a:gd name="T76" fmla="*/ 13 w 4548"/>
                <a:gd name="T77" fmla="*/ 625 h 1281"/>
                <a:gd name="T78" fmla="*/ 14 w 4548"/>
                <a:gd name="T79" fmla="*/ 525 h 1281"/>
                <a:gd name="T80" fmla="*/ 15 w 4548"/>
                <a:gd name="T81" fmla="*/ 422 h 1281"/>
                <a:gd name="T82" fmla="*/ 16 w 4548"/>
                <a:gd name="T83" fmla="*/ 334 h 1281"/>
                <a:gd name="T84" fmla="*/ 17 w 4548"/>
                <a:gd name="T85" fmla="*/ 252 h 1281"/>
                <a:gd name="T86" fmla="*/ 17 w 4548"/>
                <a:gd name="T87" fmla="*/ 186 h 1281"/>
                <a:gd name="T88" fmla="*/ 18 w 4548"/>
                <a:gd name="T89" fmla="*/ 130 h 1281"/>
                <a:gd name="T90" fmla="*/ 18 w 4548"/>
                <a:gd name="T91" fmla="*/ 85 h 1281"/>
                <a:gd name="T92" fmla="*/ 18 w 4548"/>
                <a:gd name="T93" fmla="*/ 49 h 1281"/>
                <a:gd name="T94" fmla="*/ 18 w 4548"/>
                <a:gd name="T95" fmla="*/ 23 h 1281"/>
                <a:gd name="T96" fmla="*/ 18 w 4548"/>
                <a:gd name="T97" fmla="*/ 0 h 1281"/>
                <a:gd name="T98" fmla="*/ 18 w 4548"/>
                <a:gd name="T99" fmla="*/ 6 h 12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548"/>
                <a:gd name="T151" fmla="*/ 0 h 1281"/>
                <a:gd name="T152" fmla="*/ 4548 w 4548"/>
                <a:gd name="T153" fmla="*/ 1281 h 12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548" h="1281">
                  <a:moveTo>
                    <a:pt x="4498" y="6"/>
                  </a:moveTo>
                  <a:lnTo>
                    <a:pt x="4496" y="17"/>
                  </a:lnTo>
                  <a:lnTo>
                    <a:pt x="4479" y="38"/>
                  </a:lnTo>
                  <a:lnTo>
                    <a:pt x="4438" y="68"/>
                  </a:lnTo>
                  <a:lnTo>
                    <a:pt x="4369" y="112"/>
                  </a:lnTo>
                  <a:lnTo>
                    <a:pt x="4270" y="164"/>
                  </a:lnTo>
                  <a:lnTo>
                    <a:pt x="4133" y="231"/>
                  </a:lnTo>
                  <a:lnTo>
                    <a:pt x="3964" y="306"/>
                  </a:lnTo>
                  <a:lnTo>
                    <a:pt x="3736" y="398"/>
                  </a:lnTo>
                  <a:lnTo>
                    <a:pt x="3466" y="501"/>
                  </a:lnTo>
                  <a:lnTo>
                    <a:pt x="3099" y="632"/>
                  </a:lnTo>
                  <a:lnTo>
                    <a:pt x="2763" y="746"/>
                  </a:lnTo>
                  <a:lnTo>
                    <a:pt x="2389" y="862"/>
                  </a:lnTo>
                  <a:lnTo>
                    <a:pt x="1976" y="975"/>
                  </a:lnTo>
                  <a:lnTo>
                    <a:pt x="1627" y="1056"/>
                  </a:lnTo>
                  <a:lnTo>
                    <a:pt x="1310" y="1120"/>
                  </a:lnTo>
                  <a:lnTo>
                    <a:pt x="1050" y="1165"/>
                  </a:lnTo>
                  <a:lnTo>
                    <a:pt x="768" y="1202"/>
                  </a:lnTo>
                  <a:lnTo>
                    <a:pt x="538" y="1227"/>
                  </a:lnTo>
                  <a:lnTo>
                    <a:pt x="353" y="1242"/>
                  </a:lnTo>
                  <a:lnTo>
                    <a:pt x="204" y="1250"/>
                  </a:lnTo>
                  <a:lnTo>
                    <a:pt x="94" y="1253"/>
                  </a:lnTo>
                  <a:lnTo>
                    <a:pt x="27" y="1253"/>
                  </a:lnTo>
                  <a:lnTo>
                    <a:pt x="4" y="1252"/>
                  </a:lnTo>
                  <a:lnTo>
                    <a:pt x="2" y="1266"/>
                  </a:lnTo>
                  <a:lnTo>
                    <a:pt x="0" y="1280"/>
                  </a:lnTo>
                  <a:lnTo>
                    <a:pt x="25" y="1281"/>
                  </a:lnTo>
                  <a:lnTo>
                    <a:pt x="94" y="1281"/>
                  </a:lnTo>
                  <a:lnTo>
                    <a:pt x="204" y="1278"/>
                  </a:lnTo>
                  <a:lnTo>
                    <a:pt x="361" y="1270"/>
                  </a:lnTo>
                  <a:lnTo>
                    <a:pt x="554" y="1255"/>
                  </a:lnTo>
                  <a:lnTo>
                    <a:pt x="776" y="1230"/>
                  </a:lnTo>
                  <a:lnTo>
                    <a:pt x="1015" y="1197"/>
                  </a:lnTo>
                  <a:lnTo>
                    <a:pt x="1341" y="1144"/>
                  </a:lnTo>
                  <a:lnTo>
                    <a:pt x="1669" y="1078"/>
                  </a:lnTo>
                  <a:lnTo>
                    <a:pt x="2022" y="994"/>
                  </a:lnTo>
                  <a:lnTo>
                    <a:pt x="2358" y="903"/>
                  </a:lnTo>
                  <a:lnTo>
                    <a:pt x="2786" y="769"/>
                  </a:lnTo>
                  <a:lnTo>
                    <a:pt x="3211" y="625"/>
                  </a:lnTo>
                  <a:lnTo>
                    <a:pt x="3493" y="525"/>
                  </a:lnTo>
                  <a:lnTo>
                    <a:pt x="3763" y="422"/>
                  </a:lnTo>
                  <a:lnTo>
                    <a:pt x="3979" y="334"/>
                  </a:lnTo>
                  <a:lnTo>
                    <a:pt x="4164" y="252"/>
                  </a:lnTo>
                  <a:lnTo>
                    <a:pt x="4301" y="186"/>
                  </a:lnTo>
                  <a:lnTo>
                    <a:pt x="4407" y="130"/>
                  </a:lnTo>
                  <a:lnTo>
                    <a:pt x="4477" y="85"/>
                  </a:lnTo>
                  <a:lnTo>
                    <a:pt x="4525" y="49"/>
                  </a:lnTo>
                  <a:lnTo>
                    <a:pt x="4546" y="23"/>
                  </a:lnTo>
                  <a:lnTo>
                    <a:pt x="4548" y="0"/>
                  </a:lnTo>
                  <a:lnTo>
                    <a:pt x="4498" y="6"/>
                  </a:lnTo>
                  <a:close/>
                </a:path>
              </a:pathLst>
            </a:custGeom>
            <a:solidFill>
              <a:srgbClr val="000000"/>
            </a:solidFill>
            <a:ln w="9525">
              <a:noFill/>
              <a:round/>
              <a:headEnd/>
              <a:tailEnd/>
            </a:ln>
          </p:spPr>
          <p:txBody>
            <a:bodyPr/>
            <a:lstStyle/>
            <a:p>
              <a:endParaRPr lang="en-US"/>
            </a:p>
          </p:txBody>
        </p:sp>
        <p:sp>
          <p:nvSpPr>
            <p:cNvPr id="17449" name="Freeform 714"/>
            <p:cNvSpPr>
              <a:spLocks/>
            </p:cNvSpPr>
            <p:nvPr/>
          </p:nvSpPr>
          <p:spPr bwMode="auto">
            <a:xfrm>
              <a:off x="1460" y="1558"/>
              <a:ext cx="581" cy="2221"/>
            </a:xfrm>
            <a:custGeom>
              <a:avLst/>
              <a:gdLst>
                <a:gd name="T0" fmla="*/ 0 w 1164"/>
                <a:gd name="T1" fmla="*/ 1 h 2221"/>
                <a:gd name="T2" fmla="*/ 0 w 1164"/>
                <a:gd name="T3" fmla="*/ 0 h 2221"/>
                <a:gd name="T4" fmla="*/ 0 w 1164"/>
                <a:gd name="T5" fmla="*/ 52 h 2221"/>
                <a:gd name="T6" fmla="*/ 0 w 1164"/>
                <a:gd name="T7" fmla="*/ 140 h 2221"/>
                <a:gd name="T8" fmla="*/ 0 w 1164"/>
                <a:gd name="T9" fmla="*/ 275 h 2221"/>
                <a:gd name="T10" fmla="*/ 1 w 1164"/>
                <a:gd name="T11" fmla="*/ 465 h 2221"/>
                <a:gd name="T12" fmla="*/ 1 w 1164"/>
                <a:gd name="T13" fmla="*/ 653 h 2221"/>
                <a:gd name="T14" fmla="*/ 2 w 1164"/>
                <a:gd name="T15" fmla="*/ 877 h 2221"/>
                <a:gd name="T16" fmla="*/ 2 w 1164"/>
                <a:gd name="T17" fmla="*/ 1128 h 2221"/>
                <a:gd name="T18" fmla="*/ 3 w 1164"/>
                <a:gd name="T19" fmla="*/ 1337 h 2221"/>
                <a:gd name="T20" fmla="*/ 3 w 1164"/>
                <a:gd name="T21" fmla="*/ 1604 h 2221"/>
                <a:gd name="T22" fmla="*/ 4 w 1164"/>
                <a:gd name="T23" fmla="*/ 1829 h 2221"/>
                <a:gd name="T24" fmla="*/ 4 w 1164"/>
                <a:gd name="T25" fmla="*/ 2033 h 2221"/>
                <a:gd name="T26" fmla="*/ 4 w 1164"/>
                <a:gd name="T27" fmla="*/ 2209 h 2221"/>
                <a:gd name="T28" fmla="*/ 4 w 1164"/>
                <a:gd name="T29" fmla="*/ 2221 h 2221"/>
                <a:gd name="T30" fmla="*/ 4 w 1164"/>
                <a:gd name="T31" fmla="*/ 2185 h 2221"/>
                <a:gd name="T32" fmla="*/ 4 w 1164"/>
                <a:gd name="T33" fmla="*/ 2031 h 2221"/>
                <a:gd name="T34" fmla="*/ 4 w 1164"/>
                <a:gd name="T35" fmla="*/ 1823 h 2221"/>
                <a:gd name="T36" fmla="*/ 4 w 1164"/>
                <a:gd name="T37" fmla="*/ 1591 h 2221"/>
                <a:gd name="T38" fmla="*/ 3 w 1164"/>
                <a:gd name="T39" fmla="*/ 1378 h 2221"/>
                <a:gd name="T40" fmla="*/ 3 w 1164"/>
                <a:gd name="T41" fmla="*/ 1098 h 2221"/>
                <a:gd name="T42" fmla="*/ 2 w 1164"/>
                <a:gd name="T43" fmla="*/ 869 h 2221"/>
                <a:gd name="T44" fmla="*/ 2 w 1164"/>
                <a:gd name="T45" fmla="*/ 644 h 2221"/>
                <a:gd name="T46" fmla="*/ 1 w 1164"/>
                <a:gd name="T47" fmla="*/ 421 h 2221"/>
                <a:gd name="T48" fmla="*/ 0 w 1164"/>
                <a:gd name="T49" fmla="*/ 264 h 2221"/>
                <a:gd name="T50" fmla="*/ 0 w 1164"/>
                <a:gd name="T51" fmla="*/ 129 h 2221"/>
                <a:gd name="T52" fmla="*/ 0 w 1164"/>
                <a:gd name="T53" fmla="*/ 41 h 2221"/>
                <a:gd name="T54" fmla="*/ 0 w 1164"/>
                <a:gd name="T55" fmla="*/ 9 h 2221"/>
                <a:gd name="T56" fmla="*/ 0 w 1164"/>
                <a:gd name="T57" fmla="*/ 15 h 2221"/>
                <a:gd name="T58" fmla="*/ 0 w 1164"/>
                <a:gd name="T59" fmla="*/ 1 h 22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64"/>
                <a:gd name="T91" fmla="*/ 0 h 2221"/>
                <a:gd name="T92" fmla="*/ 1164 w 1164"/>
                <a:gd name="T93" fmla="*/ 2221 h 22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64" h="2221">
                  <a:moveTo>
                    <a:pt x="41" y="1"/>
                  </a:moveTo>
                  <a:lnTo>
                    <a:pt x="0" y="0"/>
                  </a:lnTo>
                  <a:lnTo>
                    <a:pt x="41" y="52"/>
                  </a:lnTo>
                  <a:lnTo>
                    <a:pt x="106" y="140"/>
                  </a:lnTo>
                  <a:lnTo>
                    <a:pt x="205" y="275"/>
                  </a:lnTo>
                  <a:lnTo>
                    <a:pt x="340" y="465"/>
                  </a:lnTo>
                  <a:lnTo>
                    <a:pt x="465" y="653"/>
                  </a:lnTo>
                  <a:lnTo>
                    <a:pt x="610" y="877"/>
                  </a:lnTo>
                  <a:lnTo>
                    <a:pt x="757" y="1128"/>
                  </a:lnTo>
                  <a:lnTo>
                    <a:pt x="870" y="1337"/>
                  </a:lnTo>
                  <a:lnTo>
                    <a:pt x="990" y="1604"/>
                  </a:lnTo>
                  <a:lnTo>
                    <a:pt x="1071" y="1829"/>
                  </a:lnTo>
                  <a:lnTo>
                    <a:pt x="1114" y="2033"/>
                  </a:lnTo>
                  <a:lnTo>
                    <a:pt x="1108" y="2209"/>
                  </a:lnTo>
                  <a:lnTo>
                    <a:pt x="1145" y="2221"/>
                  </a:lnTo>
                  <a:lnTo>
                    <a:pt x="1158" y="2185"/>
                  </a:lnTo>
                  <a:lnTo>
                    <a:pt x="1164" y="2031"/>
                  </a:lnTo>
                  <a:lnTo>
                    <a:pt x="1121" y="1823"/>
                  </a:lnTo>
                  <a:lnTo>
                    <a:pt x="1040" y="1591"/>
                  </a:lnTo>
                  <a:lnTo>
                    <a:pt x="940" y="1378"/>
                  </a:lnTo>
                  <a:lnTo>
                    <a:pt x="791" y="1098"/>
                  </a:lnTo>
                  <a:lnTo>
                    <a:pt x="656" y="869"/>
                  </a:lnTo>
                  <a:lnTo>
                    <a:pt x="512" y="644"/>
                  </a:lnTo>
                  <a:lnTo>
                    <a:pt x="363" y="421"/>
                  </a:lnTo>
                  <a:lnTo>
                    <a:pt x="251" y="264"/>
                  </a:lnTo>
                  <a:lnTo>
                    <a:pt x="153" y="129"/>
                  </a:lnTo>
                  <a:lnTo>
                    <a:pt x="87" y="41"/>
                  </a:lnTo>
                  <a:lnTo>
                    <a:pt x="62" y="9"/>
                  </a:lnTo>
                  <a:lnTo>
                    <a:pt x="39" y="15"/>
                  </a:lnTo>
                  <a:lnTo>
                    <a:pt x="41" y="1"/>
                  </a:lnTo>
                  <a:close/>
                </a:path>
              </a:pathLst>
            </a:custGeom>
            <a:solidFill>
              <a:srgbClr val="000000"/>
            </a:solidFill>
            <a:ln w="9525">
              <a:noFill/>
              <a:round/>
              <a:headEnd/>
              <a:tailEnd/>
            </a:ln>
          </p:spPr>
          <p:txBody>
            <a:bodyPr/>
            <a:lstStyle/>
            <a:p>
              <a:endParaRPr lang="en-US"/>
            </a:p>
          </p:txBody>
        </p:sp>
        <p:sp>
          <p:nvSpPr>
            <p:cNvPr id="17450" name="Freeform 715"/>
            <p:cNvSpPr>
              <a:spLocks/>
            </p:cNvSpPr>
            <p:nvPr/>
          </p:nvSpPr>
          <p:spPr bwMode="auto">
            <a:xfrm>
              <a:off x="2032" y="2208"/>
              <a:ext cx="1947" cy="1571"/>
            </a:xfrm>
            <a:custGeom>
              <a:avLst/>
              <a:gdLst>
                <a:gd name="T0" fmla="*/ 0 w 3894"/>
                <a:gd name="T1" fmla="*/ 1571 h 1571"/>
                <a:gd name="T2" fmla="*/ 1 w 3894"/>
                <a:gd name="T3" fmla="*/ 1554 h 1571"/>
                <a:gd name="T4" fmla="*/ 1 w 3894"/>
                <a:gd name="T5" fmla="*/ 1505 h 1571"/>
                <a:gd name="T6" fmla="*/ 2 w 3894"/>
                <a:gd name="T7" fmla="*/ 1428 h 1571"/>
                <a:gd name="T8" fmla="*/ 4 w 3894"/>
                <a:gd name="T9" fmla="*/ 1269 h 1571"/>
                <a:gd name="T10" fmla="*/ 5 w 3894"/>
                <a:gd name="T11" fmla="*/ 1201 h 1571"/>
                <a:gd name="T12" fmla="*/ 6 w 3894"/>
                <a:gd name="T13" fmla="*/ 1060 h 1571"/>
                <a:gd name="T14" fmla="*/ 8 w 3894"/>
                <a:gd name="T15" fmla="*/ 903 h 1571"/>
                <a:gd name="T16" fmla="*/ 9 w 3894"/>
                <a:gd name="T17" fmla="*/ 735 h 1571"/>
                <a:gd name="T18" fmla="*/ 11 w 3894"/>
                <a:gd name="T19" fmla="*/ 562 h 1571"/>
                <a:gd name="T20" fmla="*/ 13 w 3894"/>
                <a:gd name="T21" fmla="*/ 377 h 1571"/>
                <a:gd name="T22" fmla="*/ 14 w 3894"/>
                <a:gd name="T23" fmla="*/ 196 h 1571"/>
                <a:gd name="T24" fmla="*/ 15 w 3894"/>
                <a:gd name="T25" fmla="*/ 13 h 1571"/>
                <a:gd name="T26" fmla="*/ 15 w 3894"/>
                <a:gd name="T27" fmla="*/ 7 h 1571"/>
                <a:gd name="T28" fmla="*/ 15 w 3894"/>
                <a:gd name="T29" fmla="*/ 0 h 1571"/>
                <a:gd name="T30" fmla="*/ 14 w 3894"/>
                <a:gd name="T31" fmla="*/ 174 h 1571"/>
                <a:gd name="T32" fmla="*/ 13 w 3894"/>
                <a:gd name="T33" fmla="*/ 356 h 1571"/>
                <a:gd name="T34" fmla="*/ 11 w 3894"/>
                <a:gd name="T35" fmla="*/ 532 h 1571"/>
                <a:gd name="T36" fmla="*/ 9 w 3894"/>
                <a:gd name="T37" fmla="*/ 711 h 1571"/>
                <a:gd name="T38" fmla="*/ 8 w 3894"/>
                <a:gd name="T39" fmla="*/ 879 h 1571"/>
                <a:gd name="T40" fmla="*/ 6 w 3894"/>
                <a:gd name="T41" fmla="*/ 1036 h 1571"/>
                <a:gd name="T42" fmla="*/ 5 w 3894"/>
                <a:gd name="T43" fmla="*/ 1177 h 1571"/>
                <a:gd name="T44" fmla="*/ 3 w 3894"/>
                <a:gd name="T45" fmla="*/ 1356 h 1571"/>
                <a:gd name="T46" fmla="*/ 2 w 3894"/>
                <a:gd name="T47" fmla="*/ 1404 h 1571"/>
                <a:gd name="T48" fmla="*/ 1 w 3894"/>
                <a:gd name="T49" fmla="*/ 1481 h 1571"/>
                <a:gd name="T50" fmla="*/ 1 w 3894"/>
                <a:gd name="T51" fmla="*/ 1530 h 1571"/>
                <a:gd name="T52" fmla="*/ 1 w 3894"/>
                <a:gd name="T53" fmla="*/ 1535 h 1571"/>
                <a:gd name="T54" fmla="*/ 0 w 3894"/>
                <a:gd name="T55" fmla="*/ 1571 h 15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894"/>
                <a:gd name="T85" fmla="*/ 0 h 1571"/>
                <a:gd name="T86" fmla="*/ 3894 w 3894"/>
                <a:gd name="T87" fmla="*/ 1571 h 15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894" h="1571">
                  <a:moveTo>
                    <a:pt x="0" y="1571"/>
                  </a:moveTo>
                  <a:lnTo>
                    <a:pt x="52" y="1554"/>
                  </a:lnTo>
                  <a:lnTo>
                    <a:pt x="196" y="1505"/>
                  </a:lnTo>
                  <a:lnTo>
                    <a:pt x="422" y="1428"/>
                  </a:lnTo>
                  <a:lnTo>
                    <a:pt x="872" y="1269"/>
                  </a:lnTo>
                  <a:lnTo>
                    <a:pt x="1061" y="1201"/>
                  </a:lnTo>
                  <a:lnTo>
                    <a:pt x="1447" y="1060"/>
                  </a:lnTo>
                  <a:lnTo>
                    <a:pt x="1860" y="903"/>
                  </a:lnTo>
                  <a:lnTo>
                    <a:pt x="2288" y="735"/>
                  </a:lnTo>
                  <a:lnTo>
                    <a:pt x="2709" y="562"/>
                  </a:lnTo>
                  <a:lnTo>
                    <a:pt x="3137" y="377"/>
                  </a:lnTo>
                  <a:lnTo>
                    <a:pt x="3529" y="196"/>
                  </a:lnTo>
                  <a:lnTo>
                    <a:pt x="3892" y="13"/>
                  </a:lnTo>
                  <a:lnTo>
                    <a:pt x="3894" y="7"/>
                  </a:lnTo>
                  <a:lnTo>
                    <a:pt x="3845" y="0"/>
                  </a:lnTo>
                  <a:lnTo>
                    <a:pt x="3498" y="174"/>
                  </a:lnTo>
                  <a:lnTo>
                    <a:pt x="3106" y="356"/>
                  </a:lnTo>
                  <a:lnTo>
                    <a:pt x="2701" y="532"/>
                  </a:lnTo>
                  <a:lnTo>
                    <a:pt x="2261" y="711"/>
                  </a:lnTo>
                  <a:lnTo>
                    <a:pt x="1833" y="879"/>
                  </a:lnTo>
                  <a:lnTo>
                    <a:pt x="1420" y="1036"/>
                  </a:lnTo>
                  <a:lnTo>
                    <a:pt x="1034" y="1177"/>
                  </a:lnTo>
                  <a:lnTo>
                    <a:pt x="532" y="1356"/>
                  </a:lnTo>
                  <a:lnTo>
                    <a:pt x="399" y="1404"/>
                  </a:lnTo>
                  <a:lnTo>
                    <a:pt x="173" y="1481"/>
                  </a:lnTo>
                  <a:lnTo>
                    <a:pt x="28" y="1530"/>
                  </a:lnTo>
                  <a:lnTo>
                    <a:pt x="13" y="1535"/>
                  </a:lnTo>
                  <a:lnTo>
                    <a:pt x="0" y="1571"/>
                  </a:lnTo>
                  <a:close/>
                </a:path>
              </a:pathLst>
            </a:custGeom>
            <a:solidFill>
              <a:srgbClr val="000000"/>
            </a:solidFill>
            <a:ln w="9525">
              <a:noFill/>
              <a:round/>
              <a:headEnd/>
              <a:tailEnd/>
            </a:ln>
          </p:spPr>
          <p:txBody>
            <a:bodyPr/>
            <a:lstStyle/>
            <a:p>
              <a:endParaRPr lang="en-US"/>
            </a:p>
          </p:txBody>
        </p:sp>
        <p:sp>
          <p:nvSpPr>
            <p:cNvPr id="17451" name="Freeform 716"/>
            <p:cNvSpPr>
              <a:spLocks/>
            </p:cNvSpPr>
            <p:nvPr/>
          </p:nvSpPr>
          <p:spPr bwMode="auto">
            <a:xfrm>
              <a:off x="1488" y="1488"/>
              <a:ext cx="648" cy="492"/>
            </a:xfrm>
            <a:custGeom>
              <a:avLst/>
              <a:gdLst>
                <a:gd name="T0" fmla="*/ 546 w 648"/>
                <a:gd name="T1" fmla="*/ 0 h 492"/>
                <a:gd name="T2" fmla="*/ 405 w 648"/>
                <a:gd name="T3" fmla="*/ 36 h 492"/>
                <a:gd name="T4" fmla="*/ 264 w 648"/>
                <a:gd name="T5" fmla="*/ 66 h 492"/>
                <a:gd name="T6" fmla="*/ 99 w 648"/>
                <a:gd name="T7" fmla="*/ 90 h 492"/>
                <a:gd name="T8" fmla="*/ 0 w 648"/>
                <a:gd name="T9" fmla="*/ 93 h 492"/>
                <a:gd name="T10" fmla="*/ 147 w 648"/>
                <a:gd name="T11" fmla="*/ 492 h 492"/>
                <a:gd name="T12" fmla="*/ 360 w 648"/>
                <a:gd name="T13" fmla="*/ 414 h 492"/>
                <a:gd name="T14" fmla="*/ 648 w 648"/>
                <a:gd name="T15" fmla="*/ 273 h 492"/>
                <a:gd name="T16" fmla="*/ 624 w 648"/>
                <a:gd name="T17" fmla="*/ 168 h 492"/>
                <a:gd name="T18" fmla="*/ 612 w 648"/>
                <a:gd name="T19" fmla="*/ 123 h 492"/>
                <a:gd name="T20" fmla="*/ 588 w 648"/>
                <a:gd name="T21" fmla="*/ 63 h 492"/>
                <a:gd name="T22" fmla="*/ 546 w 648"/>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492"/>
                <a:gd name="T38" fmla="*/ 648 w 648"/>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492">
                  <a:moveTo>
                    <a:pt x="546" y="0"/>
                  </a:moveTo>
                  <a:lnTo>
                    <a:pt x="405" y="36"/>
                  </a:lnTo>
                  <a:lnTo>
                    <a:pt x="264" y="66"/>
                  </a:lnTo>
                  <a:lnTo>
                    <a:pt x="99" y="90"/>
                  </a:lnTo>
                  <a:lnTo>
                    <a:pt x="0" y="93"/>
                  </a:lnTo>
                  <a:lnTo>
                    <a:pt x="147" y="492"/>
                  </a:lnTo>
                  <a:lnTo>
                    <a:pt x="360" y="414"/>
                  </a:lnTo>
                  <a:lnTo>
                    <a:pt x="648" y="273"/>
                  </a:lnTo>
                  <a:lnTo>
                    <a:pt x="624" y="168"/>
                  </a:lnTo>
                  <a:lnTo>
                    <a:pt x="612" y="123"/>
                  </a:lnTo>
                  <a:lnTo>
                    <a:pt x="588" y="63"/>
                  </a:lnTo>
                  <a:lnTo>
                    <a:pt x="546"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452" name="Freeform 717"/>
            <p:cNvSpPr>
              <a:spLocks/>
            </p:cNvSpPr>
            <p:nvPr/>
          </p:nvSpPr>
          <p:spPr bwMode="auto">
            <a:xfrm>
              <a:off x="2049" y="1278"/>
              <a:ext cx="597" cy="477"/>
            </a:xfrm>
            <a:custGeom>
              <a:avLst/>
              <a:gdLst>
                <a:gd name="T0" fmla="*/ 465 w 597"/>
                <a:gd name="T1" fmla="*/ 0 h 477"/>
                <a:gd name="T2" fmla="*/ 249 w 597"/>
                <a:gd name="T3" fmla="*/ 105 h 477"/>
                <a:gd name="T4" fmla="*/ 0 w 597"/>
                <a:gd name="T5" fmla="*/ 207 h 477"/>
                <a:gd name="T6" fmla="*/ 27 w 597"/>
                <a:gd name="T7" fmla="*/ 258 h 477"/>
                <a:gd name="T8" fmla="*/ 57 w 597"/>
                <a:gd name="T9" fmla="*/ 315 h 477"/>
                <a:gd name="T10" fmla="*/ 75 w 597"/>
                <a:gd name="T11" fmla="*/ 384 h 477"/>
                <a:gd name="T12" fmla="*/ 99 w 597"/>
                <a:gd name="T13" fmla="*/ 477 h 477"/>
                <a:gd name="T14" fmla="*/ 366 w 597"/>
                <a:gd name="T15" fmla="*/ 348 h 477"/>
                <a:gd name="T16" fmla="*/ 597 w 597"/>
                <a:gd name="T17" fmla="*/ 219 h 477"/>
                <a:gd name="T18" fmla="*/ 567 w 597"/>
                <a:gd name="T19" fmla="*/ 120 h 477"/>
                <a:gd name="T20" fmla="*/ 519 w 597"/>
                <a:gd name="T21" fmla="*/ 54 h 477"/>
                <a:gd name="T22" fmla="*/ 465 w 597"/>
                <a:gd name="T23" fmla="*/ 0 h 4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97"/>
                <a:gd name="T37" fmla="*/ 0 h 477"/>
                <a:gd name="T38" fmla="*/ 597 w 597"/>
                <a:gd name="T39" fmla="*/ 477 h 4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97" h="477">
                  <a:moveTo>
                    <a:pt x="465" y="0"/>
                  </a:moveTo>
                  <a:lnTo>
                    <a:pt x="249" y="105"/>
                  </a:lnTo>
                  <a:lnTo>
                    <a:pt x="0" y="207"/>
                  </a:lnTo>
                  <a:lnTo>
                    <a:pt x="27" y="258"/>
                  </a:lnTo>
                  <a:lnTo>
                    <a:pt x="57" y="315"/>
                  </a:lnTo>
                  <a:lnTo>
                    <a:pt x="75" y="384"/>
                  </a:lnTo>
                  <a:lnTo>
                    <a:pt x="99" y="477"/>
                  </a:lnTo>
                  <a:lnTo>
                    <a:pt x="366" y="348"/>
                  </a:lnTo>
                  <a:lnTo>
                    <a:pt x="597" y="219"/>
                  </a:lnTo>
                  <a:lnTo>
                    <a:pt x="567" y="120"/>
                  </a:lnTo>
                  <a:lnTo>
                    <a:pt x="519" y="54"/>
                  </a:lnTo>
                  <a:lnTo>
                    <a:pt x="4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53" name="Freeform 718"/>
            <p:cNvSpPr>
              <a:spLocks/>
            </p:cNvSpPr>
            <p:nvPr/>
          </p:nvSpPr>
          <p:spPr bwMode="auto">
            <a:xfrm>
              <a:off x="2526" y="1005"/>
              <a:ext cx="585" cy="486"/>
            </a:xfrm>
            <a:custGeom>
              <a:avLst/>
              <a:gdLst>
                <a:gd name="T0" fmla="*/ 447 w 585"/>
                <a:gd name="T1" fmla="*/ 0 h 486"/>
                <a:gd name="T2" fmla="*/ 261 w 585"/>
                <a:gd name="T3" fmla="*/ 120 h 486"/>
                <a:gd name="T4" fmla="*/ 0 w 585"/>
                <a:gd name="T5" fmla="*/ 264 h 486"/>
                <a:gd name="T6" fmla="*/ 48 w 585"/>
                <a:gd name="T7" fmla="*/ 318 h 486"/>
                <a:gd name="T8" fmla="*/ 93 w 585"/>
                <a:gd name="T9" fmla="*/ 384 h 486"/>
                <a:gd name="T10" fmla="*/ 132 w 585"/>
                <a:gd name="T11" fmla="*/ 486 h 486"/>
                <a:gd name="T12" fmla="*/ 363 w 585"/>
                <a:gd name="T13" fmla="*/ 348 h 486"/>
                <a:gd name="T14" fmla="*/ 585 w 585"/>
                <a:gd name="T15" fmla="*/ 210 h 486"/>
                <a:gd name="T16" fmla="*/ 528 w 585"/>
                <a:gd name="T17" fmla="*/ 102 h 486"/>
                <a:gd name="T18" fmla="*/ 486 w 585"/>
                <a:gd name="T19" fmla="*/ 51 h 486"/>
                <a:gd name="T20" fmla="*/ 447 w 585"/>
                <a:gd name="T21" fmla="*/ 0 h 4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5"/>
                <a:gd name="T34" fmla="*/ 0 h 486"/>
                <a:gd name="T35" fmla="*/ 585 w 585"/>
                <a:gd name="T36" fmla="*/ 486 h 4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5" h="486">
                  <a:moveTo>
                    <a:pt x="447" y="0"/>
                  </a:moveTo>
                  <a:lnTo>
                    <a:pt x="261" y="120"/>
                  </a:lnTo>
                  <a:lnTo>
                    <a:pt x="0" y="264"/>
                  </a:lnTo>
                  <a:lnTo>
                    <a:pt x="48" y="318"/>
                  </a:lnTo>
                  <a:lnTo>
                    <a:pt x="93" y="384"/>
                  </a:lnTo>
                  <a:lnTo>
                    <a:pt x="132" y="486"/>
                  </a:lnTo>
                  <a:lnTo>
                    <a:pt x="363" y="348"/>
                  </a:lnTo>
                  <a:lnTo>
                    <a:pt x="585" y="210"/>
                  </a:lnTo>
                  <a:lnTo>
                    <a:pt x="528" y="102"/>
                  </a:lnTo>
                  <a:lnTo>
                    <a:pt x="486" y="51"/>
                  </a:lnTo>
                  <a:lnTo>
                    <a:pt x="447"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7454" name="Freeform 719"/>
            <p:cNvSpPr>
              <a:spLocks/>
            </p:cNvSpPr>
            <p:nvPr/>
          </p:nvSpPr>
          <p:spPr bwMode="auto">
            <a:xfrm>
              <a:off x="2988" y="723"/>
              <a:ext cx="531" cy="483"/>
            </a:xfrm>
            <a:custGeom>
              <a:avLst/>
              <a:gdLst>
                <a:gd name="T0" fmla="*/ 372 w 531"/>
                <a:gd name="T1" fmla="*/ 0 h 483"/>
                <a:gd name="T2" fmla="*/ 198 w 531"/>
                <a:gd name="T3" fmla="*/ 132 h 483"/>
                <a:gd name="T4" fmla="*/ 0 w 531"/>
                <a:gd name="T5" fmla="*/ 273 h 483"/>
                <a:gd name="T6" fmla="*/ 33 w 531"/>
                <a:gd name="T7" fmla="*/ 321 h 483"/>
                <a:gd name="T8" fmla="*/ 78 w 531"/>
                <a:gd name="T9" fmla="*/ 381 h 483"/>
                <a:gd name="T10" fmla="*/ 108 w 531"/>
                <a:gd name="T11" fmla="*/ 423 h 483"/>
                <a:gd name="T12" fmla="*/ 135 w 531"/>
                <a:gd name="T13" fmla="*/ 483 h 483"/>
                <a:gd name="T14" fmla="*/ 351 w 531"/>
                <a:gd name="T15" fmla="*/ 345 h 483"/>
                <a:gd name="T16" fmla="*/ 531 w 531"/>
                <a:gd name="T17" fmla="*/ 234 h 483"/>
                <a:gd name="T18" fmla="*/ 468 w 531"/>
                <a:gd name="T19" fmla="*/ 111 h 483"/>
                <a:gd name="T20" fmla="*/ 435 w 531"/>
                <a:gd name="T21" fmla="*/ 54 h 483"/>
                <a:gd name="T22" fmla="*/ 372 w 531"/>
                <a:gd name="T23" fmla="*/ 0 h 4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483"/>
                <a:gd name="T38" fmla="*/ 531 w 531"/>
                <a:gd name="T39" fmla="*/ 483 h 4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483">
                  <a:moveTo>
                    <a:pt x="372" y="0"/>
                  </a:moveTo>
                  <a:lnTo>
                    <a:pt x="198" y="132"/>
                  </a:lnTo>
                  <a:lnTo>
                    <a:pt x="0" y="273"/>
                  </a:lnTo>
                  <a:lnTo>
                    <a:pt x="33" y="321"/>
                  </a:lnTo>
                  <a:lnTo>
                    <a:pt x="78" y="381"/>
                  </a:lnTo>
                  <a:lnTo>
                    <a:pt x="108" y="423"/>
                  </a:lnTo>
                  <a:lnTo>
                    <a:pt x="135" y="483"/>
                  </a:lnTo>
                  <a:lnTo>
                    <a:pt x="351" y="345"/>
                  </a:lnTo>
                  <a:lnTo>
                    <a:pt x="531" y="234"/>
                  </a:lnTo>
                  <a:lnTo>
                    <a:pt x="468" y="111"/>
                  </a:lnTo>
                  <a:lnTo>
                    <a:pt x="435" y="54"/>
                  </a:lnTo>
                  <a:lnTo>
                    <a:pt x="372"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55" name="Freeform 720"/>
            <p:cNvSpPr>
              <a:spLocks/>
            </p:cNvSpPr>
            <p:nvPr/>
          </p:nvSpPr>
          <p:spPr bwMode="auto">
            <a:xfrm>
              <a:off x="3369" y="363"/>
              <a:ext cx="417" cy="585"/>
            </a:xfrm>
            <a:custGeom>
              <a:avLst/>
              <a:gdLst>
                <a:gd name="T0" fmla="*/ 363 w 417"/>
                <a:gd name="T1" fmla="*/ 0 h 585"/>
                <a:gd name="T2" fmla="*/ 207 w 417"/>
                <a:gd name="T3" fmla="*/ 171 h 585"/>
                <a:gd name="T4" fmla="*/ 0 w 417"/>
                <a:gd name="T5" fmla="*/ 345 h 585"/>
                <a:gd name="T6" fmla="*/ 57 w 417"/>
                <a:gd name="T7" fmla="*/ 393 h 585"/>
                <a:gd name="T8" fmla="*/ 99 w 417"/>
                <a:gd name="T9" fmla="*/ 462 h 585"/>
                <a:gd name="T10" fmla="*/ 162 w 417"/>
                <a:gd name="T11" fmla="*/ 585 h 585"/>
                <a:gd name="T12" fmla="*/ 369 w 417"/>
                <a:gd name="T13" fmla="*/ 447 h 585"/>
                <a:gd name="T14" fmla="*/ 417 w 417"/>
                <a:gd name="T15" fmla="*/ 402 h 585"/>
                <a:gd name="T16" fmla="*/ 363 w 417"/>
                <a:gd name="T17" fmla="*/ 0 h 5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7"/>
                <a:gd name="T28" fmla="*/ 0 h 585"/>
                <a:gd name="T29" fmla="*/ 417 w 417"/>
                <a:gd name="T30" fmla="*/ 585 h 5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7" h="585">
                  <a:moveTo>
                    <a:pt x="363" y="0"/>
                  </a:moveTo>
                  <a:lnTo>
                    <a:pt x="207" y="171"/>
                  </a:lnTo>
                  <a:lnTo>
                    <a:pt x="0" y="345"/>
                  </a:lnTo>
                  <a:lnTo>
                    <a:pt x="57" y="393"/>
                  </a:lnTo>
                  <a:lnTo>
                    <a:pt x="99" y="462"/>
                  </a:lnTo>
                  <a:lnTo>
                    <a:pt x="162" y="585"/>
                  </a:lnTo>
                  <a:lnTo>
                    <a:pt x="369" y="447"/>
                  </a:lnTo>
                  <a:lnTo>
                    <a:pt x="417" y="402"/>
                  </a:lnTo>
                  <a:lnTo>
                    <a:pt x="36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56" name="Freeform 721"/>
            <p:cNvSpPr>
              <a:spLocks/>
            </p:cNvSpPr>
            <p:nvPr/>
          </p:nvSpPr>
          <p:spPr bwMode="auto">
            <a:xfrm>
              <a:off x="1644" y="1896"/>
              <a:ext cx="444" cy="450"/>
            </a:xfrm>
            <a:custGeom>
              <a:avLst/>
              <a:gdLst>
                <a:gd name="T0" fmla="*/ 273 w 444"/>
                <a:gd name="T1" fmla="*/ 0 h 450"/>
                <a:gd name="T2" fmla="*/ 0 w 444"/>
                <a:gd name="T3" fmla="*/ 102 h 450"/>
                <a:gd name="T4" fmla="*/ 114 w 444"/>
                <a:gd name="T5" fmla="*/ 450 h 450"/>
                <a:gd name="T6" fmla="*/ 276 w 444"/>
                <a:gd name="T7" fmla="*/ 387 h 450"/>
                <a:gd name="T8" fmla="*/ 444 w 444"/>
                <a:gd name="T9" fmla="*/ 303 h 450"/>
                <a:gd name="T10" fmla="*/ 390 w 444"/>
                <a:gd name="T11" fmla="*/ 138 h 450"/>
                <a:gd name="T12" fmla="*/ 333 w 444"/>
                <a:gd name="T13" fmla="*/ 57 h 450"/>
                <a:gd name="T14" fmla="*/ 273 w 444"/>
                <a:gd name="T15" fmla="*/ 0 h 450"/>
                <a:gd name="T16" fmla="*/ 0 60000 65536"/>
                <a:gd name="T17" fmla="*/ 0 60000 65536"/>
                <a:gd name="T18" fmla="*/ 0 60000 65536"/>
                <a:gd name="T19" fmla="*/ 0 60000 65536"/>
                <a:gd name="T20" fmla="*/ 0 60000 65536"/>
                <a:gd name="T21" fmla="*/ 0 60000 65536"/>
                <a:gd name="T22" fmla="*/ 0 60000 65536"/>
                <a:gd name="T23" fmla="*/ 0 60000 65536"/>
                <a:gd name="T24" fmla="*/ 0 w 444"/>
                <a:gd name="T25" fmla="*/ 0 h 450"/>
                <a:gd name="T26" fmla="*/ 444 w 444"/>
                <a:gd name="T27" fmla="*/ 450 h 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4" h="450">
                  <a:moveTo>
                    <a:pt x="273" y="0"/>
                  </a:moveTo>
                  <a:lnTo>
                    <a:pt x="0" y="102"/>
                  </a:lnTo>
                  <a:lnTo>
                    <a:pt x="114" y="450"/>
                  </a:lnTo>
                  <a:lnTo>
                    <a:pt x="276" y="387"/>
                  </a:lnTo>
                  <a:lnTo>
                    <a:pt x="444" y="303"/>
                  </a:lnTo>
                  <a:lnTo>
                    <a:pt x="390" y="138"/>
                  </a:lnTo>
                  <a:lnTo>
                    <a:pt x="333" y="57"/>
                  </a:lnTo>
                  <a:lnTo>
                    <a:pt x="273"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457" name="Freeform 722"/>
            <p:cNvSpPr>
              <a:spLocks/>
            </p:cNvSpPr>
            <p:nvPr/>
          </p:nvSpPr>
          <p:spPr bwMode="auto">
            <a:xfrm>
              <a:off x="1929" y="1677"/>
              <a:ext cx="579" cy="507"/>
            </a:xfrm>
            <a:custGeom>
              <a:avLst/>
              <a:gdLst>
                <a:gd name="T0" fmla="*/ 435 w 579"/>
                <a:gd name="T1" fmla="*/ 0 h 507"/>
                <a:gd name="T2" fmla="*/ 225 w 579"/>
                <a:gd name="T3" fmla="*/ 99 h 507"/>
                <a:gd name="T4" fmla="*/ 0 w 579"/>
                <a:gd name="T5" fmla="*/ 210 h 507"/>
                <a:gd name="T6" fmla="*/ 63 w 579"/>
                <a:gd name="T7" fmla="*/ 276 h 507"/>
                <a:gd name="T8" fmla="*/ 120 w 579"/>
                <a:gd name="T9" fmla="*/ 360 h 507"/>
                <a:gd name="T10" fmla="*/ 141 w 579"/>
                <a:gd name="T11" fmla="*/ 429 h 507"/>
                <a:gd name="T12" fmla="*/ 174 w 579"/>
                <a:gd name="T13" fmla="*/ 507 h 507"/>
                <a:gd name="T14" fmla="*/ 390 w 579"/>
                <a:gd name="T15" fmla="*/ 390 h 507"/>
                <a:gd name="T16" fmla="*/ 579 w 579"/>
                <a:gd name="T17" fmla="*/ 279 h 507"/>
                <a:gd name="T18" fmla="*/ 540 w 579"/>
                <a:gd name="T19" fmla="*/ 165 h 507"/>
                <a:gd name="T20" fmla="*/ 495 w 579"/>
                <a:gd name="T21" fmla="*/ 87 h 507"/>
                <a:gd name="T22" fmla="*/ 435 w 579"/>
                <a:gd name="T23" fmla="*/ 0 h 5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9"/>
                <a:gd name="T37" fmla="*/ 0 h 507"/>
                <a:gd name="T38" fmla="*/ 579 w 579"/>
                <a:gd name="T39" fmla="*/ 507 h 5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9" h="507">
                  <a:moveTo>
                    <a:pt x="435" y="0"/>
                  </a:moveTo>
                  <a:lnTo>
                    <a:pt x="225" y="99"/>
                  </a:lnTo>
                  <a:lnTo>
                    <a:pt x="0" y="210"/>
                  </a:lnTo>
                  <a:lnTo>
                    <a:pt x="63" y="276"/>
                  </a:lnTo>
                  <a:lnTo>
                    <a:pt x="120" y="360"/>
                  </a:lnTo>
                  <a:lnTo>
                    <a:pt x="141" y="429"/>
                  </a:lnTo>
                  <a:lnTo>
                    <a:pt x="174" y="507"/>
                  </a:lnTo>
                  <a:lnTo>
                    <a:pt x="390" y="390"/>
                  </a:lnTo>
                  <a:lnTo>
                    <a:pt x="579" y="279"/>
                  </a:lnTo>
                  <a:lnTo>
                    <a:pt x="540" y="165"/>
                  </a:lnTo>
                  <a:lnTo>
                    <a:pt x="495" y="87"/>
                  </a:lnTo>
                  <a:lnTo>
                    <a:pt x="435"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458" name="Freeform 723"/>
            <p:cNvSpPr>
              <a:spLocks/>
            </p:cNvSpPr>
            <p:nvPr/>
          </p:nvSpPr>
          <p:spPr bwMode="auto">
            <a:xfrm>
              <a:off x="2379" y="1404"/>
              <a:ext cx="630" cy="546"/>
            </a:xfrm>
            <a:custGeom>
              <a:avLst/>
              <a:gdLst>
                <a:gd name="T0" fmla="*/ 459 w 630"/>
                <a:gd name="T1" fmla="*/ 0 h 546"/>
                <a:gd name="T2" fmla="*/ 219 w 630"/>
                <a:gd name="T3" fmla="*/ 144 h 546"/>
                <a:gd name="T4" fmla="*/ 0 w 630"/>
                <a:gd name="T5" fmla="*/ 264 h 546"/>
                <a:gd name="T6" fmla="*/ 57 w 630"/>
                <a:gd name="T7" fmla="*/ 363 h 546"/>
                <a:gd name="T8" fmla="*/ 102 w 630"/>
                <a:gd name="T9" fmla="*/ 441 h 546"/>
                <a:gd name="T10" fmla="*/ 141 w 630"/>
                <a:gd name="T11" fmla="*/ 546 h 546"/>
                <a:gd name="T12" fmla="*/ 411 w 630"/>
                <a:gd name="T13" fmla="*/ 393 h 546"/>
                <a:gd name="T14" fmla="*/ 630 w 630"/>
                <a:gd name="T15" fmla="*/ 243 h 546"/>
                <a:gd name="T16" fmla="*/ 591 w 630"/>
                <a:gd name="T17" fmla="*/ 156 h 546"/>
                <a:gd name="T18" fmla="*/ 555 w 630"/>
                <a:gd name="T19" fmla="*/ 102 h 546"/>
                <a:gd name="T20" fmla="*/ 519 w 630"/>
                <a:gd name="T21" fmla="*/ 51 h 546"/>
                <a:gd name="T22" fmla="*/ 459 w 630"/>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0"/>
                <a:gd name="T37" fmla="*/ 0 h 546"/>
                <a:gd name="T38" fmla="*/ 630 w 630"/>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0" h="546">
                  <a:moveTo>
                    <a:pt x="459" y="0"/>
                  </a:moveTo>
                  <a:lnTo>
                    <a:pt x="219" y="144"/>
                  </a:lnTo>
                  <a:lnTo>
                    <a:pt x="0" y="264"/>
                  </a:lnTo>
                  <a:lnTo>
                    <a:pt x="57" y="363"/>
                  </a:lnTo>
                  <a:lnTo>
                    <a:pt x="102" y="441"/>
                  </a:lnTo>
                  <a:lnTo>
                    <a:pt x="141" y="546"/>
                  </a:lnTo>
                  <a:lnTo>
                    <a:pt x="411" y="393"/>
                  </a:lnTo>
                  <a:lnTo>
                    <a:pt x="630" y="243"/>
                  </a:lnTo>
                  <a:lnTo>
                    <a:pt x="591" y="156"/>
                  </a:lnTo>
                  <a:lnTo>
                    <a:pt x="555" y="102"/>
                  </a:lnTo>
                  <a:lnTo>
                    <a:pt x="519" y="51"/>
                  </a:lnTo>
                  <a:lnTo>
                    <a:pt x="45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59" name="Freeform 724"/>
            <p:cNvSpPr>
              <a:spLocks/>
            </p:cNvSpPr>
            <p:nvPr/>
          </p:nvSpPr>
          <p:spPr bwMode="auto">
            <a:xfrm>
              <a:off x="2850" y="1146"/>
              <a:ext cx="567" cy="492"/>
            </a:xfrm>
            <a:custGeom>
              <a:avLst/>
              <a:gdLst>
                <a:gd name="T0" fmla="*/ 396 w 567"/>
                <a:gd name="T1" fmla="*/ 0 h 492"/>
                <a:gd name="T2" fmla="*/ 210 w 567"/>
                <a:gd name="T3" fmla="*/ 126 h 492"/>
                <a:gd name="T4" fmla="*/ 108 w 567"/>
                <a:gd name="T5" fmla="*/ 186 h 492"/>
                <a:gd name="T6" fmla="*/ 0 w 567"/>
                <a:gd name="T7" fmla="*/ 252 h 492"/>
                <a:gd name="T8" fmla="*/ 57 w 567"/>
                <a:gd name="T9" fmla="*/ 312 h 492"/>
                <a:gd name="T10" fmla="*/ 108 w 567"/>
                <a:gd name="T11" fmla="*/ 378 h 492"/>
                <a:gd name="T12" fmla="*/ 171 w 567"/>
                <a:gd name="T13" fmla="*/ 492 h 492"/>
                <a:gd name="T14" fmla="*/ 387 w 567"/>
                <a:gd name="T15" fmla="*/ 354 h 492"/>
                <a:gd name="T16" fmla="*/ 567 w 567"/>
                <a:gd name="T17" fmla="*/ 243 h 492"/>
                <a:gd name="T18" fmla="*/ 534 w 567"/>
                <a:gd name="T19" fmla="*/ 162 h 492"/>
                <a:gd name="T20" fmla="*/ 504 w 567"/>
                <a:gd name="T21" fmla="*/ 114 h 492"/>
                <a:gd name="T22" fmla="*/ 447 w 567"/>
                <a:gd name="T23" fmla="*/ 42 h 492"/>
                <a:gd name="T24" fmla="*/ 396 w 567"/>
                <a:gd name="T25" fmla="*/ 0 h 4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7"/>
                <a:gd name="T40" fmla="*/ 0 h 492"/>
                <a:gd name="T41" fmla="*/ 567 w 567"/>
                <a:gd name="T42" fmla="*/ 492 h 4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7" h="492">
                  <a:moveTo>
                    <a:pt x="396" y="0"/>
                  </a:moveTo>
                  <a:lnTo>
                    <a:pt x="210" y="126"/>
                  </a:lnTo>
                  <a:lnTo>
                    <a:pt x="108" y="186"/>
                  </a:lnTo>
                  <a:lnTo>
                    <a:pt x="0" y="252"/>
                  </a:lnTo>
                  <a:lnTo>
                    <a:pt x="57" y="312"/>
                  </a:lnTo>
                  <a:lnTo>
                    <a:pt x="108" y="378"/>
                  </a:lnTo>
                  <a:lnTo>
                    <a:pt x="171" y="492"/>
                  </a:lnTo>
                  <a:lnTo>
                    <a:pt x="387" y="354"/>
                  </a:lnTo>
                  <a:lnTo>
                    <a:pt x="567" y="243"/>
                  </a:lnTo>
                  <a:lnTo>
                    <a:pt x="534" y="162"/>
                  </a:lnTo>
                  <a:lnTo>
                    <a:pt x="504" y="114"/>
                  </a:lnTo>
                  <a:lnTo>
                    <a:pt x="447" y="42"/>
                  </a:lnTo>
                  <a:lnTo>
                    <a:pt x="39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60" name="Freeform 725"/>
            <p:cNvSpPr>
              <a:spLocks/>
            </p:cNvSpPr>
            <p:nvPr/>
          </p:nvSpPr>
          <p:spPr bwMode="auto">
            <a:xfrm>
              <a:off x="3258" y="798"/>
              <a:ext cx="570" cy="582"/>
            </a:xfrm>
            <a:custGeom>
              <a:avLst/>
              <a:gdLst>
                <a:gd name="T0" fmla="*/ 534 w 570"/>
                <a:gd name="T1" fmla="*/ 0 h 582"/>
                <a:gd name="T2" fmla="*/ 222 w 570"/>
                <a:gd name="T3" fmla="*/ 210 h 582"/>
                <a:gd name="T4" fmla="*/ 0 w 570"/>
                <a:gd name="T5" fmla="*/ 342 h 582"/>
                <a:gd name="T6" fmla="*/ 42 w 570"/>
                <a:gd name="T7" fmla="*/ 384 h 582"/>
                <a:gd name="T8" fmla="*/ 87 w 570"/>
                <a:gd name="T9" fmla="*/ 438 h 582"/>
                <a:gd name="T10" fmla="*/ 129 w 570"/>
                <a:gd name="T11" fmla="*/ 492 h 582"/>
                <a:gd name="T12" fmla="*/ 165 w 570"/>
                <a:gd name="T13" fmla="*/ 582 h 582"/>
                <a:gd name="T14" fmla="*/ 372 w 570"/>
                <a:gd name="T15" fmla="*/ 438 h 582"/>
                <a:gd name="T16" fmla="*/ 570 w 570"/>
                <a:gd name="T17" fmla="*/ 294 h 582"/>
                <a:gd name="T18" fmla="*/ 534 w 570"/>
                <a:gd name="T19" fmla="*/ 0 h 5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0"/>
                <a:gd name="T31" fmla="*/ 0 h 582"/>
                <a:gd name="T32" fmla="*/ 570 w 570"/>
                <a:gd name="T33" fmla="*/ 582 h 5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0" h="582">
                  <a:moveTo>
                    <a:pt x="534" y="0"/>
                  </a:moveTo>
                  <a:lnTo>
                    <a:pt x="222" y="210"/>
                  </a:lnTo>
                  <a:lnTo>
                    <a:pt x="0" y="342"/>
                  </a:lnTo>
                  <a:lnTo>
                    <a:pt x="42" y="384"/>
                  </a:lnTo>
                  <a:lnTo>
                    <a:pt x="87" y="438"/>
                  </a:lnTo>
                  <a:lnTo>
                    <a:pt x="129" y="492"/>
                  </a:lnTo>
                  <a:lnTo>
                    <a:pt x="165" y="582"/>
                  </a:lnTo>
                  <a:lnTo>
                    <a:pt x="372" y="438"/>
                  </a:lnTo>
                  <a:lnTo>
                    <a:pt x="570" y="294"/>
                  </a:lnTo>
                  <a:lnTo>
                    <a:pt x="534"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61" name="Freeform 726"/>
            <p:cNvSpPr>
              <a:spLocks/>
            </p:cNvSpPr>
            <p:nvPr/>
          </p:nvSpPr>
          <p:spPr bwMode="auto">
            <a:xfrm>
              <a:off x="1758" y="2136"/>
              <a:ext cx="669" cy="561"/>
            </a:xfrm>
            <a:custGeom>
              <a:avLst/>
              <a:gdLst>
                <a:gd name="T0" fmla="*/ 474 w 669"/>
                <a:gd name="T1" fmla="*/ 0 h 561"/>
                <a:gd name="T2" fmla="*/ 243 w 669"/>
                <a:gd name="T3" fmla="*/ 120 h 561"/>
                <a:gd name="T4" fmla="*/ 0 w 669"/>
                <a:gd name="T5" fmla="*/ 231 h 561"/>
                <a:gd name="T6" fmla="*/ 102 w 669"/>
                <a:gd name="T7" fmla="*/ 561 h 561"/>
                <a:gd name="T8" fmla="*/ 330 w 669"/>
                <a:gd name="T9" fmla="*/ 459 h 561"/>
                <a:gd name="T10" fmla="*/ 669 w 669"/>
                <a:gd name="T11" fmla="*/ 291 h 561"/>
                <a:gd name="T12" fmla="*/ 633 w 669"/>
                <a:gd name="T13" fmla="*/ 186 h 561"/>
                <a:gd name="T14" fmla="*/ 597 w 669"/>
                <a:gd name="T15" fmla="*/ 132 h 561"/>
                <a:gd name="T16" fmla="*/ 549 w 669"/>
                <a:gd name="T17" fmla="*/ 60 h 561"/>
                <a:gd name="T18" fmla="*/ 474 w 669"/>
                <a:gd name="T19" fmla="*/ 0 h 5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69"/>
                <a:gd name="T31" fmla="*/ 0 h 561"/>
                <a:gd name="T32" fmla="*/ 669 w 669"/>
                <a:gd name="T33" fmla="*/ 561 h 56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69" h="561">
                  <a:moveTo>
                    <a:pt x="474" y="0"/>
                  </a:moveTo>
                  <a:lnTo>
                    <a:pt x="243" y="120"/>
                  </a:lnTo>
                  <a:lnTo>
                    <a:pt x="0" y="231"/>
                  </a:lnTo>
                  <a:lnTo>
                    <a:pt x="102" y="561"/>
                  </a:lnTo>
                  <a:lnTo>
                    <a:pt x="330" y="459"/>
                  </a:lnTo>
                  <a:lnTo>
                    <a:pt x="669" y="291"/>
                  </a:lnTo>
                  <a:lnTo>
                    <a:pt x="633" y="186"/>
                  </a:lnTo>
                  <a:lnTo>
                    <a:pt x="597" y="132"/>
                  </a:lnTo>
                  <a:lnTo>
                    <a:pt x="549" y="60"/>
                  </a:lnTo>
                  <a:lnTo>
                    <a:pt x="474"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462" name="Freeform 727"/>
            <p:cNvSpPr>
              <a:spLocks/>
            </p:cNvSpPr>
            <p:nvPr/>
          </p:nvSpPr>
          <p:spPr bwMode="auto">
            <a:xfrm>
              <a:off x="2247" y="1842"/>
              <a:ext cx="669" cy="579"/>
            </a:xfrm>
            <a:custGeom>
              <a:avLst/>
              <a:gdLst>
                <a:gd name="T0" fmla="*/ 489 w 669"/>
                <a:gd name="T1" fmla="*/ 0 h 579"/>
                <a:gd name="T2" fmla="*/ 216 w 669"/>
                <a:gd name="T3" fmla="*/ 162 h 579"/>
                <a:gd name="T4" fmla="*/ 0 w 669"/>
                <a:gd name="T5" fmla="*/ 291 h 579"/>
                <a:gd name="T6" fmla="*/ 72 w 669"/>
                <a:gd name="T7" fmla="*/ 354 h 579"/>
                <a:gd name="T8" fmla="*/ 135 w 669"/>
                <a:gd name="T9" fmla="*/ 444 h 579"/>
                <a:gd name="T10" fmla="*/ 195 w 669"/>
                <a:gd name="T11" fmla="*/ 579 h 579"/>
                <a:gd name="T12" fmla="*/ 387 w 669"/>
                <a:gd name="T13" fmla="*/ 471 h 579"/>
                <a:gd name="T14" fmla="*/ 669 w 669"/>
                <a:gd name="T15" fmla="*/ 276 h 579"/>
                <a:gd name="T16" fmla="*/ 645 w 669"/>
                <a:gd name="T17" fmla="*/ 201 h 579"/>
                <a:gd name="T18" fmla="*/ 618 w 669"/>
                <a:gd name="T19" fmla="*/ 150 h 579"/>
                <a:gd name="T20" fmla="*/ 591 w 669"/>
                <a:gd name="T21" fmla="*/ 108 h 579"/>
                <a:gd name="T22" fmla="*/ 543 w 669"/>
                <a:gd name="T23" fmla="*/ 54 h 579"/>
                <a:gd name="T24" fmla="*/ 489 w 669"/>
                <a:gd name="T25" fmla="*/ 0 h 5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69"/>
                <a:gd name="T40" fmla="*/ 0 h 579"/>
                <a:gd name="T41" fmla="*/ 669 w 669"/>
                <a:gd name="T42" fmla="*/ 579 h 5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69" h="579">
                  <a:moveTo>
                    <a:pt x="489" y="0"/>
                  </a:moveTo>
                  <a:lnTo>
                    <a:pt x="216" y="162"/>
                  </a:lnTo>
                  <a:lnTo>
                    <a:pt x="0" y="291"/>
                  </a:lnTo>
                  <a:lnTo>
                    <a:pt x="72" y="354"/>
                  </a:lnTo>
                  <a:lnTo>
                    <a:pt x="135" y="444"/>
                  </a:lnTo>
                  <a:lnTo>
                    <a:pt x="195" y="579"/>
                  </a:lnTo>
                  <a:lnTo>
                    <a:pt x="387" y="471"/>
                  </a:lnTo>
                  <a:lnTo>
                    <a:pt x="669" y="276"/>
                  </a:lnTo>
                  <a:lnTo>
                    <a:pt x="645" y="201"/>
                  </a:lnTo>
                  <a:lnTo>
                    <a:pt x="618" y="150"/>
                  </a:lnTo>
                  <a:lnTo>
                    <a:pt x="591" y="108"/>
                  </a:lnTo>
                  <a:lnTo>
                    <a:pt x="543" y="54"/>
                  </a:lnTo>
                  <a:lnTo>
                    <a:pt x="48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63" name="Freeform 728"/>
            <p:cNvSpPr>
              <a:spLocks/>
            </p:cNvSpPr>
            <p:nvPr/>
          </p:nvSpPr>
          <p:spPr bwMode="auto">
            <a:xfrm>
              <a:off x="2742" y="1533"/>
              <a:ext cx="654" cy="582"/>
            </a:xfrm>
            <a:custGeom>
              <a:avLst/>
              <a:gdLst>
                <a:gd name="T0" fmla="*/ 480 w 654"/>
                <a:gd name="T1" fmla="*/ 0 h 582"/>
                <a:gd name="T2" fmla="*/ 249 w 654"/>
                <a:gd name="T3" fmla="*/ 150 h 582"/>
                <a:gd name="T4" fmla="*/ 0 w 654"/>
                <a:gd name="T5" fmla="*/ 300 h 582"/>
                <a:gd name="T6" fmla="*/ 66 w 654"/>
                <a:gd name="T7" fmla="*/ 372 h 582"/>
                <a:gd name="T8" fmla="*/ 120 w 654"/>
                <a:gd name="T9" fmla="*/ 435 h 582"/>
                <a:gd name="T10" fmla="*/ 189 w 654"/>
                <a:gd name="T11" fmla="*/ 582 h 582"/>
                <a:gd name="T12" fmla="*/ 360 w 654"/>
                <a:gd name="T13" fmla="*/ 471 h 582"/>
                <a:gd name="T14" fmla="*/ 654 w 654"/>
                <a:gd name="T15" fmla="*/ 246 h 582"/>
                <a:gd name="T16" fmla="*/ 606 w 654"/>
                <a:gd name="T17" fmla="*/ 153 h 582"/>
                <a:gd name="T18" fmla="*/ 543 w 654"/>
                <a:gd name="T19" fmla="*/ 54 h 582"/>
                <a:gd name="T20" fmla="*/ 480 w 654"/>
                <a:gd name="T21" fmla="*/ 0 h 5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4"/>
                <a:gd name="T34" fmla="*/ 0 h 582"/>
                <a:gd name="T35" fmla="*/ 654 w 654"/>
                <a:gd name="T36" fmla="*/ 582 h 5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4" h="582">
                  <a:moveTo>
                    <a:pt x="480" y="0"/>
                  </a:moveTo>
                  <a:lnTo>
                    <a:pt x="249" y="150"/>
                  </a:lnTo>
                  <a:lnTo>
                    <a:pt x="0" y="300"/>
                  </a:lnTo>
                  <a:lnTo>
                    <a:pt x="66" y="372"/>
                  </a:lnTo>
                  <a:lnTo>
                    <a:pt x="120" y="435"/>
                  </a:lnTo>
                  <a:lnTo>
                    <a:pt x="189" y="582"/>
                  </a:lnTo>
                  <a:lnTo>
                    <a:pt x="360" y="471"/>
                  </a:lnTo>
                  <a:lnTo>
                    <a:pt x="654" y="246"/>
                  </a:lnTo>
                  <a:lnTo>
                    <a:pt x="606" y="153"/>
                  </a:lnTo>
                  <a:lnTo>
                    <a:pt x="543" y="54"/>
                  </a:lnTo>
                  <a:lnTo>
                    <a:pt x="480"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7464" name="Freeform 729"/>
            <p:cNvSpPr>
              <a:spLocks/>
            </p:cNvSpPr>
            <p:nvPr/>
          </p:nvSpPr>
          <p:spPr bwMode="auto">
            <a:xfrm>
              <a:off x="3234" y="1239"/>
              <a:ext cx="555" cy="537"/>
            </a:xfrm>
            <a:custGeom>
              <a:avLst/>
              <a:gdLst>
                <a:gd name="T0" fmla="*/ 423 w 555"/>
                <a:gd name="T1" fmla="*/ 0 h 537"/>
                <a:gd name="T2" fmla="*/ 219 w 555"/>
                <a:gd name="T3" fmla="*/ 144 h 537"/>
                <a:gd name="T4" fmla="*/ 0 w 555"/>
                <a:gd name="T5" fmla="*/ 285 h 537"/>
                <a:gd name="T6" fmla="*/ 66 w 555"/>
                <a:gd name="T7" fmla="*/ 354 h 537"/>
                <a:gd name="T8" fmla="*/ 132 w 555"/>
                <a:gd name="T9" fmla="*/ 447 h 537"/>
                <a:gd name="T10" fmla="*/ 177 w 555"/>
                <a:gd name="T11" fmla="*/ 537 h 537"/>
                <a:gd name="T12" fmla="*/ 312 w 555"/>
                <a:gd name="T13" fmla="*/ 444 h 537"/>
                <a:gd name="T14" fmla="*/ 555 w 555"/>
                <a:gd name="T15" fmla="*/ 240 h 537"/>
                <a:gd name="T16" fmla="*/ 525 w 555"/>
                <a:gd name="T17" fmla="*/ 135 h 537"/>
                <a:gd name="T18" fmla="*/ 504 w 555"/>
                <a:gd name="T19" fmla="*/ 75 h 537"/>
                <a:gd name="T20" fmla="*/ 459 w 555"/>
                <a:gd name="T21" fmla="*/ 36 h 537"/>
                <a:gd name="T22" fmla="*/ 423 w 555"/>
                <a:gd name="T23" fmla="*/ 0 h 5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5"/>
                <a:gd name="T37" fmla="*/ 0 h 537"/>
                <a:gd name="T38" fmla="*/ 555 w 555"/>
                <a:gd name="T39" fmla="*/ 537 h 5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5" h="537">
                  <a:moveTo>
                    <a:pt x="423" y="0"/>
                  </a:moveTo>
                  <a:lnTo>
                    <a:pt x="219" y="144"/>
                  </a:lnTo>
                  <a:lnTo>
                    <a:pt x="0" y="285"/>
                  </a:lnTo>
                  <a:lnTo>
                    <a:pt x="66" y="354"/>
                  </a:lnTo>
                  <a:lnTo>
                    <a:pt x="132" y="447"/>
                  </a:lnTo>
                  <a:lnTo>
                    <a:pt x="177" y="537"/>
                  </a:lnTo>
                  <a:lnTo>
                    <a:pt x="312" y="444"/>
                  </a:lnTo>
                  <a:lnTo>
                    <a:pt x="555" y="240"/>
                  </a:lnTo>
                  <a:lnTo>
                    <a:pt x="525" y="135"/>
                  </a:lnTo>
                  <a:lnTo>
                    <a:pt x="504" y="75"/>
                  </a:lnTo>
                  <a:lnTo>
                    <a:pt x="459" y="36"/>
                  </a:lnTo>
                  <a:lnTo>
                    <a:pt x="42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65" name="Freeform 730"/>
            <p:cNvSpPr>
              <a:spLocks/>
            </p:cNvSpPr>
            <p:nvPr/>
          </p:nvSpPr>
          <p:spPr bwMode="auto">
            <a:xfrm>
              <a:off x="3675" y="1107"/>
              <a:ext cx="204" cy="366"/>
            </a:xfrm>
            <a:custGeom>
              <a:avLst/>
              <a:gdLst>
                <a:gd name="T0" fmla="*/ 165 w 204"/>
                <a:gd name="T1" fmla="*/ 0 h 366"/>
                <a:gd name="T2" fmla="*/ 0 w 204"/>
                <a:gd name="T3" fmla="*/ 123 h 366"/>
                <a:gd name="T4" fmla="*/ 36 w 204"/>
                <a:gd name="T5" fmla="*/ 174 h 366"/>
                <a:gd name="T6" fmla="*/ 75 w 204"/>
                <a:gd name="T7" fmla="*/ 216 h 366"/>
                <a:gd name="T8" fmla="*/ 120 w 204"/>
                <a:gd name="T9" fmla="*/ 366 h 366"/>
                <a:gd name="T10" fmla="*/ 204 w 204"/>
                <a:gd name="T11" fmla="*/ 318 h 366"/>
                <a:gd name="T12" fmla="*/ 165 w 204"/>
                <a:gd name="T13" fmla="*/ 0 h 366"/>
                <a:gd name="T14" fmla="*/ 0 60000 65536"/>
                <a:gd name="T15" fmla="*/ 0 60000 65536"/>
                <a:gd name="T16" fmla="*/ 0 60000 65536"/>
                <a:gd name="T17" fmla="*/ 0 60000 65536"/>
                <a:gd name="T18" fmla="*/ 0 60000 65536"/>
                <a:gd name="T19" fmla="*/ 0 60000 65536"/>
                <a:gd name="T20" fmla="*/ 0 60000 65536"/>
                <a:gd name="T21" fmla="*/ 0 w 204"/>
                <a:gd name="T22" fmla="*/ 0 h 366"/>
                <a:gd name="T23" fmla="*/ 204 w 204"/>
                <a:gd name="T24" fmla="*/ 366 h 3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4" h="366">
                  <a:moveTo>
                    <a:pt x="165" y="0"/>
                  </a:moveTo>
                  <a:lnTo>
                    <a:pt x="0" y="123"/>
                  </a:lnTo>
                  <a:lnTo>
                    <a:pt x="36" y="174"/>
                  </a:lnTo>
                  <a:lnTo>
                    <a:pt x="75" y="216"/>
                  </a:lnTo>
                  <a:lnTo>
                    <a:pt x="120" y="366"/>
                  </a:lnTo>
                  <a:lnTo>
                    <a:pt x="204" y="318"/>
                  </a:lnTo>
                  <a:lnTo>
                    <a:pt x="1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66" name="Freeform 731"/>
            <p:cNvSpPr>
              <a:spLocks/>
            </p:cNvSpPr>
            <p:nvPr/>
          </p:nvSpPr>
          <p:spPr bwMode="auto">
            <a:xfrm>
              <a:off x="1866" y="2505"/>
              <a:ext cx="642" cy="537"/>
            </a:xfrm>
            <a:custGeom>
              <a:avLst/>
              <a:gdLst>
                <a:gd name="T0" fmla="*/ 450 w 642"/>
                <a:gd name="T1" fmla="*/ 0 h 537"/>
                <a:gd name="T2" fmla="*/ 222 w 642"/>
                <a:gd name="T3" fmla="*/ 111 h 537"/>
                <a:gd name="T4" fmla="*/ 0 w 642"/>
                <a:gd name="T5" fmla="*/ 207 h 537"/>
                <a:gd name="T6" fmla="*/ 84 w 642"/>
                <a:gd name="T7" fmla="*/ 537 h 537"/>
                <a:gd name="T8" fmla="*/ 213 w 642"/>
                <a:gd name="T9" fmla="*/ 489 h 537"/>
                <a:gd name="T10" fmla="*/ 366 w 642"/>
                <a:gd name="T11" fmla="*/ 423 h 537"/>
                <a:gd name="T12" fmla="*/ 510 w 642"/>
                <a:gd name="T13" fmla="*/ 351 h 537"/>
                <a:gd name="T14" fmla="*/ 642 w 642"/>
                <a:gd name="T15" fmla="*/ 285 h 537"/>
                <a:gd name="T16" fmla="*/ 579 w 642"/>
                <a:gd name="T17" fmla="*/ 141 h 537"/>
                <a:gd name="T18" fmla="*/ 522 w 642"/>
                <a:gd name="T19" fmla="*/ 69 h 537"/>
                <a:gd name="T20" fmla="*/ 450 w 642"/>
                <a:gd name="T21" fmla="*/ 0 h 5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2"/>
                <a:gd name="T34" fmla="*/ 0 h 537"/>
                <a:gd name="T35" fmla="*/ 642 w 642"/>
                <a:gd name="T36" fmla="*/ 537 h 5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2" h="537">
                  <a:moveTo>
                    <a:pt x="450" y="0"/>
                  </a:moveTo>
                  <a:lnTo>
                    <a:pt x="222" y="111"/>
                  </a:lnTo>
                  <a:lnTo>
                    <a:pt x="0" y="207"/>
                  </a:lnTo>
                  <a:lnTo>
                    <a:pt x="84" y="537"/>
                  </a:lnTo>
                  <a:lnTo>
                    <a:pt x="213" y="489"/>
                  </a:lnTo>
                  <a:lnTo>
                    <a:pt x="366" y="423"/>
                  </a:lnTo>
                  <a:lnTo>
                    <a:pt x="510" y="351"/>
                  </a:lnTo>
                  <a:lnTo>
                    <a:pt x="642" y="285"/>
                  </a:lnTo>
                  <a:lnTo>
                    <a:pt x="579" y="141"/>
                  </a:lnTo>
                  <a:lnTo>
                    <a:pt x="522" y="69"/>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67" name="Freeform 732"/>
            <p:cNvSpPr>
              <a:spLocks/>
            </p:cNvSpPr>
            <p:nvPr/>
          </p:nvSpPr>
          <p:spPr bwMode="auto">
            <a:xfrm>
              <a:off x="2331" y="2238"/>
              <a:ext cx="606" cy="549"/>
            </a:xfrm>
            <a:custGeom>
              <a:avLst/>
              <a:gdLst>
                <a:gd name="T0" fmla="*/ 438 w 606"/>
                <a:gd name="T1" fmla="*/ 0 h 549"/>
                <a:gd name="T2" fmla="*/ 246 w 606"/>
                <a:gd name="T3" fmla="*/ 126 h 549"/>
                <a:gd name="T4" fmla="*/ 0 w 606"/>
                <a:gd name="T5" fmla="*/ 261 h 549"/>
                <a:gd name="T6" fmla="*/ 57 w 606"/>
                <a:gd name="T7" fmla="*/ 324 h 549"/>
                <a:gd name="T8" fmla="*/ 105 w 606"/>
                <a:gd name="T9" fmla="*/ 384 h 549"/>
                <a:gd name="T10" fmla="*/ 153 w 606"/>
                <a:gd name="T11" fmla="*/ 465 h 549"/>
                <a:gd name="T12" fmla="*/ 183 w 606"/>
                <a:gd name="T13" fmla="*/ 549 h 549"/>
                <a:gd name="T14" fmla="*/ 411 w 606"/>
                <a:gd name="T15" fmla="*/ 420 h 549"/>
                <a:gd name="T16" fmla="*/ 606 w 606"/>
                <a:gd name="T17" fmla="*/ 294 h 549"/>
                <a:gd name="T18" fmla="*/ 540 w 606"/>
                <a:gd name="T19" fmla="*/ 147 h 549"/>
                <a:gd name="T20" fmla="*/ 489 w 606"/>
                <a:gd name="T21" fmla="*/ 63 h 549"/>
                <a:gd name="T22" fmla="*/ 438 w 606"/>
                <a:gd name="T23" fmla="*/ 0 h 5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6"/>
                <a:gd name="T37" fmla="*/ 0 h 549"/>
                <a:gd name="T38" fmla="*/ 606 w 606"/>
                <a:gd name="T39" fmla="*/ 549 h 5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6" h="549">
                  <a:moveTo>
                    <a:pt x="438" y="0"/>
                  </a:moveTo>
                  <a:lnTo>
                    <a:pt x="246" y="126"/>
                  </a:lnTo>
                  <a:lnTo>
                    <a:pt x="0" y="261"/>
                  </a:lnTo>
                  <a:lnTo>
                    <a:pt x="57" y="324"/>
                  </a:lnTo>
                  <a:lnTo>
                    <a:pt x="105" y="384"/>
                  </a:lnTo>
                  <a:lnTo>
                    <a:pt x="153" y="465"/>
                  </a:lnTo>
                  <a:lnTo>
                    <a:pt x="183" y="549"/>
                  </a:lnTo>
                  <a:lnTo>
                    <a:pt x="411" y="420"/>
                  </a:lnTo>
                  <a:lnTo>
                    <a:pt x="606" y="294"/>
                  </a:lnTo>
                  <a:lnTo>
                    <a:pt x="540" y="147"/>
                  </a:lnTo>
                  <a:lnTo>
                    <a:pt x="489" y="63"/>
                  </a:lnTo>
                  <a:lnTo>
                    <a:pt x="438"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7468" name="Freeform 733"/>
            <p:cNvSpPr>
              <a:spLocks/>
            </p:cNvSpPr>
            <p:nvPr/>
          </p:nvSpPr>
          <p:spPr bwMode="auto">
            <a:xfrm>
              <a:off x="2775" y="1926"/>
              <a:ext cx="645" cy="597"/>
            </a:xfrm>
            <a:custGeom>
              <a:avLst/>
              <a:gdLst>
                <a:gd name="T0" fmla="*/ 453 w 645"/>
                <a:gd name="T1" fmla="*/ 0 h 597"/>
                <a:gd name="T2" fmla="*/ 231 w 645"/>
                <a:gd name="T3" fmla="*/ 153 h 597"/>
                <a:gd name="T4" fmla="*/ 0 w 645"/>
                <a:gd name="T5" fmla="*/ 306 h 597"/>
                <a:gd name="T6" fmla="*/ 48 w 645"/>
                <a:gd name="T7" fmla="*/ 369 h 597"/>
                <a:gd name="T8" fmla="*/ 93 w 645"/>
                <a:gd name="T9" fmla="*/ 432 h 597"/>
                <a:gd name="T10" fmla="*/ 132 w 645"/>
                <a:gd name="T11" fmla="*/ 507 h 597"/>
                <a:gd name="T12" fmla="*/ 171 w 645"/>
                <a:gd name="T13" fmla="*/ 597 h 597"/>
                <a:gd name="T14" fmla="*/ 411 w 645"/>
                <a:gd name="T15" fmla="*/ 411 h 597"/>
                <a:gd name="T16" fmla="*/ 645 w 645"/>
                <a:gd name="T17" fmla="*/ 216 h 597"/>
                <a:gd name="T18" fmla="*/ 618 w 645"/>
                <a:gd name="T19" fmla="*/ 153 h 597"/>
                <a:gd name="T20" fmla="*/ 567 w 645"/>
                <a:gd name="T21" fmla="*/ 90 h 597"/>
                <a:gd name="T22" fmla="*/ 516 w 645"/>
                <a:gd name="T23" fmla="*/ 39 h 597"/>
                <a:gd name="T24" fmla="*/ 453 w 645"/>
                <a:gd name="T25" fmla="*/ 0 h 5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5"/>
                <a:gd name="T40" fmla="*/ 0 h 597"/>
                <a:gd name="T41" fmla="*/ 645 w 645"/>
                <a:gd name="T42" fmla="*/ 597 h 5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5" h="597">
                  <a:moveTo>
                    <a:pt x="453" y="0"/>
                  </a:moveTo>
                  <a:lnTo>
                    <a:pt x="231" y="153"/>
                  </a:lnTo>
                  <a:lnTo>
                    <a:pt x="0" y="306"/>
                  </a:lnTo>
                  <a:lnTo>
                    <a:pt x="48" y="369"/>
                  </a:lnTo>
                  <a:lnTo>
                    <a:pt x="93" y="432"/>
                  </a:lnTo>
                  <a:lnTo>
                    <a:pt x="132" y="507"/>
                  </a:lnTo>
                  <a:lnTo>
                    <a:pt x="171" y="597"/>
                  </a:lnTo>
                  <a:lnTo>
                    <a:pt x="411" y="411"/>
                  </a:lnTo>
                  <a:lnTo>
                    <a:pt x="645" y="216"/>
                  </a:lnTo>
                  <a:lnTo>
                    <a:pt x="618" y="153"/>
                  </a:lnTo>
                  <a:lnTo>
                    <a:pt x="567" y="90"/>
                  </a:lnTo>
                  <a:lnTo>
                    <a:pt x="516" y="39"/>
                  </a:lnTo>
                  <a:lnTo>
                    <a:pt x="45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69" name="Freeform 734"/>
            <p:cNvSpPr>
              <a:spLocks/>
            </p:cNvSpPr>
            <p:nvPr/>
          </p:nvSpPr>
          <p:spPr bwMode="auto">
            <a:xfrm>
              <a:off x="3240" y="1590"/>
              <a:ext cx="567" cy="546"/>
            </a:xfrm>
            <a:custGeom>
              <a:avLst/>
              <a:gdLst>
                <a:gd name="T0" fmla="*/ 441 w 567"/>
                <a:gd name="T1" fmla="*/ 0 h 546"/>
                <a:gd name="T2" fmla="*/ 237 w 567"/>
                <a:gd name="T3" fmla="*/ 150 h 546"/>
                <a:gd name="T4" fmla="*/ 0 w 567"/>
                <a:gd name="T5" fmla="*/ 330 h 546"/>
                <a:gd name="T6" fmla="*/ 54 w 567"/>
                <a:gd name="T7" fmla="*/ 366 h 546"/>
                <a:gd name="T8" fmla="*/ 117 w 567"/>
                <a:gd name="T9" fmla="*/ 429 h 546"/>
                <a:gd name="T10" fmla="*/ 168 w 567"/>
                <a:gd name="T11" fmla="*/ 492 h 546"/>
                <a:gd name="T12" fmla="*/ 192 w 567"/>
                <a:gd name="T13" fmla="*/ 546 h 546"/>
                <a:gd name="T14" fmla="*/ 369 w 567"/>
                <a:gd name="T15" fmla="*/ 396 h 546"/>
                <a:gd name="T16" fmla="*/ 567 w 567"/>
                <a:gd name="T17" fmla="*/ 204 h 546"/>
                <a:gd name="T18" fmla="*/ 531 w 567"/>
                <a:gd name="T19" fmla="*/ 111 h 546"/>
                <a:gd name="T20" fmla="*/ 483 w 567"/>
                <a:gd name="T21" fmla="*/ 39 h 546"/>
                <a:gd name="T22" fmla="*/ 441 w 567"/>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67"/>
                <a:gd name="T37" fmla="*/ 0 h 546"/>
                <a:gd name="T38" fmla="*/ 567 w 567"/>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67" h="546">
                  <a:moveTo>
                    <a:pt x="441" y="0"/>
                  </a:moveTo>
                  <a:lnTo>
                    <a:pt x="237" y="150"/>
                  </a:lnTo>
                  <a:lnTo>
                    <a:pt x="0" y="330"/>
                  </a:lnTo>
                  <a:lnTo>
                    <a:pt x="54" y="366"/>
                  </a:lnTo>
                  <a:lnTo>
                    <a:pt x="117" y="429"/>
                  </a:lnTo>
                  <a:lnTo>
                    <a:pt x="168" y="492"/>
                  </a:lnTo>
                  <a:lnTo>
                    <a:pt x="192" y="546"/>
                  </a:lnTo>
                  <a:lnTo>
                    <a:pt x="369" y="396"/>
                  </a:lnTo>
                  <a:lnTo>
                    <a:pt x="567" y="204"/>
                  </a:lnTo>
                  <a:lnTo>
                    <a:pt x="531" y="111"/>
                  </a:lnTo>
                  <a:lnTo>
                    <a:pt x="483" y="39"/>
                  </a:lnTo>
                  <a:lnTo>
                    <a:pt x="44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70" name="Freeform 735"/>
            <p:cNvSpPr>
              <a:spLocks/>
            </p:cNvSpPr>
            <p:nvPr/>
          </p:nvSpPr>
          <p:spPr bwMode="auto">
            <a:xfrm>
              <a:off x="3684" y="1434"/>
              <a:ext cx="234" cy="345"/>
            </a:xfrm>
            <a:custGeom>
              <a:avLst/>
              <a:gdLst>
                <a:gd name="T0" fmla="*/ 198 w 234"/>
                <a:gd name="T1" fmla="*/ 0 h 345"/>
                <a:gd name="T2" fmla="*/ 111 w 234"/>
                <a:gd name="T3" fmla="*/ 54 h 345"/>
                <a:gd name="T4" fmla="*/ 0 w 234"/>
                <a:gd name="T5" fmla="*/ 153 h 345"/>
                <a:gd name="T6" fmla="*/ 45 w 234"/>
                <a:gd name="T7" fmla="*/ 192 h 345"/>
                <a:gd name="T8" fmla="*/ 75 w 234"/>
                <a:gd name="T9" fmla="*/ 234 h 345"/>
                <a:gd name="T10" fmla="*/ 129 w 234"/>
                <a:gd name="T11" fmla="*/ 345 h 345"/>
                <a:gd name="T12" fmla="*/ 234 w 234"/>
                <a:gd name="T13" fmla="*/ 252 h 345"/>
                <a:gd name="T14" fmla="*/ 198 w 234"/>
                <a:gd name="T15" fmla="*/ 0 h 345"/>
                <a:gd name="T16" fmla="*/ 0 60000 65536"/>
                <a:gd name="T17" fmla="*/ 0 60000 65536"/>
                <a:gd name="T18" fmla="*/ 0 60000 65536"/>
                <a:gd name="T19" fmla="*/ 0 60000 65536"/>
                <a:gd name="T20" fmla="*/ 0 60000 65536"/>
                <a:gd name="T21" fmla="*/ 0 60000 65536"/>
                <a:gd name="T22" fmla="*/ 0 60000 65536"/>
                <a:gd name="T23" fmla="*/ 0 60000 65536"/>
                <a:gd name="T24" fmla="*/ 0 w 234"/>
                <a:gd name="T25" fmla="*/ 0 h 345"/>
                <a:gd name="T26" fmla="*/ 234 w 234"/>
                <a:gd name="T27" fmla="*/ 345 h 3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4" h="345">
                  <a:moveTo>
                    <a:pt x="198" y="0"/>
                  </a:moveTo>
                  <a:lnTo>
                    <a:pt x="111" y="54"/>
                  </a:lnTo>
                  <a:lnTo>
                    <a:pt x="0" y="153"/>
                  </a:lnTo>
                  <a:lnTo>
                    <a:pt x="45" y="192"/>
                  </a:lnTo>
                  <a:lnTo>
                    <a:pt x="75" y="234"/>
                  </a:lnTo>
                  <a:lnTo>
                    <a:pt x="129" y="345"/>
                  </a:lnTo>
                  <a:lnTo>
                    <a:pt x="234" y="252"/>
                  </a:lnTo>
                  <a:lnTo>
                    <a:pt x="19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71" name="Freeform 736"/>
            <p:cNvSpPr>
              <a:spLocks/>
            </p:cNvSpPr>
            <p:nvPr/>
          </p:nvSpPr>
          <p:spPr bwMode="auto">
            <a:xfrm>
              <a:off x="1956" y="2859"/>
              <a:ext cx="624" cy="555"/>
            </a:xfrm>
            <a:custGeom>
              <a:avLst/>
              <a:gdLst>
                <a:gd name="T0" fmla="*/ 447 w 624"/>
                <a:gd name="T1" fmla="*/ 0 h 555"/>
                <a:gd name="T2" fmla="*/ 222 w 624"/>
                <a:gd name="T3" fmla="*/ 117 h 555"/>
                <a:gd name="T4" fmla="*/ 0 w 624"/>
                <a:gd name="T5" fmla="*/ 198 h 555"/>
                <a:gd name="T6" fmla="*/ 60 w 624"/>
                <a:gd name="T7" fmla="*/ 555 h 555"/>
                <a:gd name="T8" fmla="*/ 213 w 624"/>
                <a:gd name="T9" fmla="*/ 489 h 555"/>
                <a:gd name="T10" fmla="*/ 369 w 624"/>
                <a:gd name="T11" fmla="*/ 408 h 555"/>
                <a:gd name="T12" fmla="*/ 489 w 624"/>
                <a:gd name="T13" fmla="*/ 342 h 555"/>
                <a:gd name="T14" fmla="*/ 624 w 624"/>
                <a:gd name="T15" fmla="*/ 267 h 555"/>
                <a:gd name="T16" fmla="*/ 591 w 624"/>
                <a:gd name="T17" fmla="*/ 162 h 555"/>
                <a:gd name="T18" fmla="*/ 546 w 624"/>
                <a:gd name="T19" fmla="*/ 84 h 555"/>
                <a:gd name="T20" fmla="*/ 495 w 624"/>
                <a:gd name="T21" fmla="*/ 39 h 555"/>
                <a:gd name="T22" fmla="*/ 447 w 624"/>
                <a:gd name="T23" fmla="*/ 0 h 5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4"/>
                <a:gd name="T37" fmla="*/ 0 h 555"/>
                <a:gd name="T38" fmla="*/ 624 w 624"/>
                <a:gd name="T39" fmla="*/ 555 h 5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4" h="555">
                  <a:moveTo>
                    <a:pt x="447" y="0"/>
                  </a:moveTo>
                  <a:lnTo>
                    <a:pt x="222" y="117"/>
                  </a:lnTo>
                  <a:lnTo>
                    <a:pt x="0" y="198"/>
                  </a:lnTo>
                  <a:lnTo>
                    <a:pt x="60" y="555"/>
                  </a:lnTo>
                  <a:lnTo>
                    <a:pt x="213" y="489"/>
                  </a:lnTo>
                  <a:lnTo>
                    <a:pt x="369" y="408"/>
                  </a:lnTo>
                  <a:lnTo>
                    <a:pt x="489" y="342"/>
                  </a:lnTo>
                  <a:lnTo>
                    <a:pt x="624" y="267"/>
                  </a:lnTo>
                  <a:lnTo>
                    <a:pt x="591" y="162"/>
                  </a:lnTo>
                  <a:lnTo>
                    <a:pt x="546" y="84"/>
                  </a:lnTo>
                  <a:lnTo>
                    <a:pt x="495" y="39"/>
                  </a:lnTo>
                  <a:lnTo>
                    <a:pt x="447"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7472" name="Freeform 737"/>
            <p:cNvSpPr>
              <a:spLocks/>
            </p:cNvSpPr>
            <p:nvPr/>
          </p:nvSpPr>
          <p:spPr bwMode="auto">
            <a:xfrm>
              <a:off x="2418" y="2595"/>
              <a:ext cx="576" cy="525"/>
            </a:xfrm>
            <a:custGeom>
              <a:avLst/>
              <a:gdLst>
                <a:gd name="T0" fmla="*/ 450 w 576"/>
                <a:gd name="T1" fmla="*/ 0 h 525"/>
                <a:gd name="T2" fmla="*/ 255 w 576"/>
                <a:gd name="T3" fmla="*/ 120 h 525"/>
                <a:gd name="T4" fmla="*/ 0 w 576"/>
                <a:gd name="T5" fmla="*/ 264 h 525"/>
                <a:gd name="T6" fmla="*/ 66 w 576"/>
                <a:gd name="T7" fmla="*/ 318 h 525"/>
                <a:gd name="T8" fmla="*/ 114 w 576"/>
                <a:gd name="T9" fmla="*/ 378 h 525"/>
                <a:gd name="T10" fmla="*/ 150 w 576"/>
                <a:gd name="T11" fmla="*/ 456 h 525"/>
                <a:gd name="T12" fmla="*/ 171 w 576"/>
                <a:gd name="T13" fmla="*/ 525 h 525"/>
                <a:gd name="T14" fmla="*/ 387 w 576"/>
                <a:gd name="T15" fmla="*/ 369 h 525"/>
                <a:gd name="T16" fmla="*/ 576 w 576"/>
                <a:gd name="T17" fmla="*/ 228 h 525"/>
                <a:gd name="T18" fmla="*/ 549 w 576"/>
                <a:gd name="T19" fmla="*/ 141 h 525"/>
                <a:gd name="T20" fmla="*/ 498 w 576"/>
                <a:gd name="T21" fmla="*/ 57 h 525"/>
                <a:gd name="T22" fmla="*/ 450 w 576"/>
                <a:gd name="T23" fmla="*/ 0 h 5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6"/>
                <a:gd name="T37" fmla="*/ 0 h 525"/>
                <a:gd name="T38" fmla="*/ 576 w 576"/>
                <a:gd name="T39" fmla="*/ 525 h 5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6" h="525">
                  <a:moveTo>
                    <a:pt x="450" y="0"/>
                  </a:moveTo>
                  <a:lnTo>
                    <a:pt x="255" y="120"/>
                  </a:lnTo>
                  <a:lnTo>
                    <a:pt x="0" y="264"/>
                  </a:lnTo>
                  <a:lnTo>
                    <a:pt x="66" y="318"/>
                  </a:lnTo>
                  <a:lnTo>
                    <a:pt x="114" y="378"/>
                  </a:lnTo>
                  <a:lnTo>
                    <a:pt x="150" y="456"/>
                  </a:lnTo>
                  <a:lnTo>
                    <a:pt x="171" y="525"/>
                  </a:lnTo>
                  <a:lnTo>
                    <a:pt x="387" y="369"/>
                  </a:lnTo>
                  <a:lnTo>
                    <a:pt x="576" y="228"/>
                  </a:lnTo>
                  <a:lnTo>
                    <a:pt x="549" y="141"/>
                  </a:lnTo>
                  <a:lnTo>
                    <a:pt x="498" y="57"/>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73" name="Freeform 738"/>
            <p:cNvSpPr>
              <a:spLocks/>
            </p:cNvSpPr>
            <p:nvPr/>
          </p:nvSpPr>
          <p:spPr bwMode="auto">
            <a:xfrm>
              <a:off x="2880" y="2301"/>
              <a:ext cx="522" cy="519"/>
            </a:xfrm>
            <a:custGeom>
              <a:avLst/>
              <a:gdLst>
                <a:gd name="T0" fmla="*/ 375 w 522"/>
                <a:gd name="T1" fmla="*/ 0 h 519"/>
                <a:gd name="T2" fmla="*/ 219 w 522"/>
                <a:gd name="T3" fmla="*/ 120 h 519"/>
                <a:gd name="T4" fmla="*/ 0 w 522"/>
                <a:gd name="T5" fmla="*/ 285 h 519"/>
                <a:gd name="T6" fmla="*/ 33 w 522"/>
                <a:gd name="T7" fmla="*/ 330 h 519"/>
                <a:gd name="T8" fmla="*/ 84 w 522"/>
                <a:gd name="T9" fmla="*/ 393 h 519"/>
                <a:gd name="T10" fmla="*/ 108 w 522"/>
                <a:gd name="T11" fmla="*/ 453 h 519"/>
                <a:gd name="T12" fmla="*/ 126 w 522"/>
                <a:gd name="T13" fmla="*/ 519 h 519"/>
                <a:gd name="T14" fmla="*/ 330 w 522"/>
                <a:gd name="T15" fmla="*/ 354 h 519"/>
                <a:gd name="T16" fmla="*/ 522 w 522"/>
                <a:gd name="T17" fmla="*/ 183 h 519"/>
                <a:gd name="T18" fmla="*/ 489 w 522"/>
                <a:gd name="T19" fmla="*/ 120 h 519"/>
                <a:gd name="T20" fmla="*/ 468 w 522"/>
                <a:gd name="T21" fmla="*/ 84 h 519"/>
                <a:gd name="T22" fmla="*/ 444 w 522"/>
                <a:gd name="T23" fmla="*/ 54 h 519"/>
                <a:gd name="T24" fmla="*/ 375 w 522"/>
                <a:gd name="T25" fmla="*/ 0 h 5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2"/>
                <a:gd name="T40" fmla="*/ 0 h 519"/>
                <a:gd name="T41" fmla="*/ 522 w 522"/>
                <a:gd name="T42" fmla="*/ 519 h 5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2" h="519">
                  <a:moveTo>
                    <a:pt x="375" y="0"/>
                  </a:moveTo>
                  <a:lnTo>
                    <a:pt x="219" y="120"/>
                  </a:lnTo>
                  <a:lnTo>
                    <a:pt x="0" y="285"/>
                  </a:lnTo>
                  <a:lnTo>
                    <a:pt x="33" y="330"/>
                  </a:lnTo>
                  <a:lnTo>
                    <a:pt x="84" y="393"/>
                  </a:lnTo>
                  <a:lnTo>
                    <a:pt x="108" y="453"/>
                  </a:lnTo>
                  <a:lnTo>
                    <a:pt x="126" y="519"/>
                  </a:lnTo>
                  <a:lnTo>
                    <a:pt x="330" y="354"/>
                  </a:lnTo>
                  <a:lnTo>
                    <a:pt x="522" y="183"/>
                  </a:lnTo>
                  <a:lnTo>
                    <a:pt x="489" y="120"/>
                  </a:lnTo>
                  <a:lnTo>
                    <a:pt x="468" y="84"/>
                  </a:lnTo>
                  <a:lnTo>
                    <a:pt x="444" y="54"/>
                  </a:lnTo>
                  <a:lnTo>
                    <a:pt x="375"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7474" name="Freeform 739"/>
            <p:cNvSpPr>
              <a:spLocks/>
            </p:cNvSpPr>
            <p:nvPr/>
          </p:nvSpPr>
          <p:spPr bwMode="auto">
            <a:xfrm>
              <a:off x="3258" y="1959"/>
              <a:ext cx="519" cy="510"/>
            </a:xfrm>
            <a:custGeom>
              <a:avLst/>
              <a:gdLst>
                <a:gd name="T0" fmla="*/ 399 w 519"/>
                <a:gd name="T1" fmla="*/ 0 h 510"/>
                <a:gd name="T2" fmla="*/ 237 w 519"/>
                <a:gd name="T3" fmla="*/ 153 h 510"/>
                <a:gd name="T4" fmla="*/ 0 w 519"/>
                <a:gd name="T5" fmla="*/ 333 h 510"/>
                <a:gd name="T6" fmla="*/ 54 w 519"/>
                <a:gd name="T7" fmla="*/ 369 h 510"/>
                <a:gd name="T8" fmla="*/ 87 w 519"/>
                <a:gd name="T9" fmla="*/ 402 h 510"/>
                <a:gd name="T10" fmla="*/ 111 w 519"/>
                <a:gd name="T11" fmla="*/ 441 h 510"/>
                <a:gd name="T12" fmla="*/ 147 w 519"/>
                <a:gd name="T13" fmla="*/ 510 h 510"/>
                <a:gd name="T14" fmla="*/ 333 w 519"/>
                <a:gd name="T15" fmla="*/ 342 h 510"/>
                <a:gd name="T16" fmla="*/ 519 w 519"/>
                <a:gd name="T17" fmla="*/ 156 h 510"/>
                <a:gd name="T18" fmla="*/ 498 w 519"/>
                <a:gd name="T19" fmla="*/ 84 h 510"/>
                <a:gd name="T20" fmla="*/ 453 w 519"/>
                <a:gd name="T21" fmla="*/ 42 h 510"/>
                <a:gd name="T22" fmla="*/ 399 w 519"/>
                <a:gd name="T23" fmla="*/ 0 h 5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19"/>
                <a:gd name="T37" fmla="*/ 0 h 510"/>
                <a:gd name="T38" fmla="*/ 519 w 519"/>
                <a:gd name="T39" fmla="*/ 510 h 5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19" h="510">
                  <a:moveTo>
                    <a:pt x="399" y="0"/>
                  </a:moveTo>
                  <a:lnTo>
                    <a:pt x="237" y="153"/>
                  </a:lnTo>
                  <a:lnTo>
                    <a:pt x="0" y="333"/>
                  </a:lnTo>
                  <a:lnTo>
                    <a:pt x="54" y="369"/>
                  </a:lnTo>
                  <a:lnTo>
                    <a:pt x="87" y="402"/>
                  </a:lnTo>
                  <a:lnTo>
                    <a:pt x="111" y="441"/>
                  </a:lnTo>
                  <a:lnTo>
                    <a:pt x="147" y="510"/>
                  </a:lnTo>
                  <a:lnTo>
                    <a:pt x="333" y="342"/>
                  </a:lnTo>
                  <a:lnTo>
                    <a:pt x="519" y="156"/>
                  </a:lnTo>
                  <a:lnTo>
                    <a:pt x="498" y="84"/>
                  </a:lnTo>
                  <a:lnTo>
                    <a:pt x="453" y="42"/>
                  </a:lnTo>
                  <a:lnTo>
                    <a:pt x="39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75" name="Freeform 740"/>
            <p:cNvSpPr>
              <a:spLocks/>
            </p:cNvSpPr>
            <p:nvPr/>
          </p:nvSpPr>
          <p:spPr bwMode="auto">
            <a:xfrm>
              <a:off x="3663" y="1707"/>
              <a:ext cx="276" cy="399"/>
            </a:xfrm>
            <a:custGeom>
              <a:avLst/>
              <a:gdLst>
                <a:gd name="T0" fmla="*/ 246 w 276"/>
                <a:gd name="T1" fmla="*/ 0 h 399"/>
                <a:gd name="T2" fmla="*/ 117 w 276"/>
                <a:gd name="T3" fmla="*/ 132 h 399"/>
                <a:gd name="T4" fmla="*/ 60 w 276"/>
                <a:gd name="T5" fmla="*/ 183 h 399"/>
                <a:gd name="T6" fmla="*/ 0 w 276"/>
                <a:gd name="T7" fmla="*/ 243 h 399"/>
                <a:gd name="T8" fmla="*/ 54 w 276"/>
                <a:gd name="T9" fmla="*/ 285 h 399"/>
                <a:gd name="T10" fmla="*/ 87 w 276"/>
                <a:gd name="T11" fmla="*/ 315 h 399"/>
                <a:gd name="T12" fmla="*/ 123 w 276"/>
                <a:gd name="T13" fmla="*/ 399 h 399"/>
                <a:gd name="T14" fmla="*/ 276 w 276"/>
                <a:gd name="T15" fmla="*/ 255 h 399"/>
                <a:gd name="T16" fmla="*/ 246 w 276"/>
                <a:gd name="T17" fmla="*/ 0 h 3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6"/>
                <a:gd name="T28" fmla="*/ 0 h 399"/>
                <a:gd name="T29" fmla="*/ 276 w 276"/>
                <a:gd name="T30" fmla="*/ 399 h 3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6" h="399">
                  <a:moveTo>
                    <a:pt x="246" y="0"/>
                  </a:moveTo>
                  <a:lnTo>
                    <a:pt x="117" y="132"/>
                  </a:lnTo>
                  <a:lnTo>
                    <a:pt x="60" y="183"/>
                  </a:lnTo>
                  <a:lnTo>
                    <a:pt x="0" y="243"/>
                  </a:lnTo>
                  <a:lnTo>
                    <a:pt x="54" y="285"/>
                  </a:lnTo>
                  <a:lnTo>
                    <a:pt x="87" y="315"/>
                  </a:lnTo>
                  <a:lnTo>
                    <a:pt x="123" y="399"/>
                  </a:lnTo>
                  <a:lnTo>
                    <a:pt x="276" y="255"/>
                  </a:lnTo>
                  <a:lnTo>
                    <a:pt x="24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76" name="Freeform 741"/>
            <p:cNvSpPr>
              <a:spLocks/>
            </p:cNvSpPr>
            <p:nvPr/>
          </p:nvSpPr>
          <p:spPr bwMode="auto">
            <a:xfrm>
              <a:off x="2016" y="3261"/>
              <a:ext cx="483" cy="492"/>
            </a:xfrm>
            <a:custGeom>
              <a:avLst/>
              <a:gdLst>
                <a:gd name="T0" fmla="*/ 366 w 483"/>
                <a:gd name="T1" fmla="*/ 0 h 492"/>
                <a:gd name="T2" fmla="*/ 204 w 483"/>
                <a:gd name="T3" fmla="*/ 78 h 492"/>
                <a:gd name="T4" fmla="*/ 0 w 483"/>
                <a:gd name="T5" fmla="*/ 171 h 492"/>
                <a:gd name="T6" fmla="*/ 18 w 483"/>
                <a:gd name="T7" fmla="*/ 492 h 492"/>
                <a:gd name="T8" fmla="*/ 168 w 483"/>
                <a:gd name="T9" fmla="*/ 396 h 492"/>
                <a:gd name="T10" fmla="*/ 297 w 483"/>
                <a:gd name="T11" fmla="*/ 303 h 492"/>
                <a:gd name="T12" fmla="*/ 393 w 483"/>
                <a:gd name="T13" fmla="*/ 231 h 492"/>
                <a:gd name="T14" fmla="*/ 483 w 483"/>
                <a:gd name="T15" fmla="*/ 168 h 492"/>
                <a:gd name="T16" fmla="*/ 450 w 483"/>
                <a:gd name="T17" fmla="*/ 108 h 492"/>
                <a:gd name="T18" fmla="*/ 432 w 483"/>
                <a:gd name="T19" fmla="*/ 84 h 492"/>
                <a:gd name="T20" fmla="*/ 405 w 483"/>
                <a:gd name="T21" fmla="*/ 45 h 492"/>
                <a:gd name="T22" fmla="*/ 366 w 483"/>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3"/>
                <a:gd name="T37" fmla="*/ 0 h 492"/>
                <a:gd name="T38" fmla="*/ 483 w 483"/>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3" h="492">
                  <a:moveTo>
                    <a:pt x="366" y="0"/>
                  </a:moveTo>
                  <a:lnTo>
                    <a:pt x="204" y="78"/>
                  </a:lnTo>
                  <a:lnTo>
                    <a:pt x="0" y="171"/>
                  </a:lnTo>
                  <a:lnTo>
                    <a:pt x="18" y="492"/>
                  </a:lnTo>
                  <a:lnTo>
                    <a:pt x="168" y="396"/>
                  </a:lnTo>
                  <a:lnTo>
                    <a:pt x="297" y="303"/>
                  </a:lnTo>
                  <a:lnTo>
                    <a:pt x="393" y="231"/>
                  </a:lnTo>
                  <a:lnTo>
                    <a:pt x="483" y="168"/>
                  </a:lnTo>
                  <a:lnTo>
                    <a:pt x="450" y="108"/>
                  </a:lnTo>
                  <a:lnTo>
                    <a:pt x="432" y="84"/>
                  </a:lnTo>
                  <a:lnTo>
                    <a:pt x="405" y="45"/>
                  </a:lnTo>
                  <a:lnTo>
                    <a:pt x="36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77" name="Freeform 742"/>
            <p:cNvSpPr>
              <a:spLocks/>
            </p:cNvSpPr>
            <p:nvPr/>
          </p:nvSpPr>
          <p:spPr bwMode="auto">
            <a:xfrm>
              <a:off x="2388" y="2985"/>
              <a:ext cx="504" cy="441"/>
            </a:xfrm>
            <a:custGeom>
              <a:avLst/>
              <a:gdLst>
                <a:gd name="T0" fmla="*/ 411 w 504"/>
                <a:gd name="T1" fmla="*/ 0 h 441"/>
                <a:gd name="T2" fmla="*/ 255 w 504"/>
                <a:gd name="T3" fmla="*/ 114 h 441"/>
                <a:gd name="T4" fmla="*/ 0 w 504"/>
                <a:gd name="T5" fmla="*/ 270 h 441"/>
                <a:gd name="T6" fmla="*/ 42 w 504"/>
                <a:gd name="T7" fmla="*/ 312 h 441"/>
                <a:gd name="T8" fmla="*/ 66 w 504"/>
                <a:gd name="T9" fmla="*/ 348 h 441"/>
                <a:gd name="T10" fmla="*/ 87 w 504"/>
                <a:gd name="T11" fmla="*/ 375 h 441"/>
                <a:gd name="T12" fmla="*/ 111 w 504"/>
                <a:gd name="T13" fmla="*/ 441 h 441"/>
                <a:gd name="T14" fmla="*/ 318 w 504"/>
                <a:gd name="T15" fmla="*/ 306 h 441"/>
                <a:gd name="T16" fmla="*/ 504 w 504"/>
                <a:gd name="T17" fmla="*/ 147 h 441"/>
                <a:gd name="T18" fmla="*/ 471 w 504"/>
                <a:gd name="T19" fmla="*/ 87 h 441"/>
                <a:gd name="T20" fmla="*/ 450 w 504"/>
                <a:gd name="T21" fmla="*/ 51 h 441"/>
                <a:gd name="T22" fmla="*/ 411 w 504"/>
                <a:gd name="T23" fmla="*/ 0 h 4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4"/>
                <a:gd name="T37" fmla="*/ 0 h 441"/>
                <a:gd name="T38" fmla="*/ 504 w 504"/>
                <a:gd name="T39" fmla="*/ 441 h 4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4" h="441">
                  <a:moveTo>
                    <a:pt x="411" y="0"/>
                  </a:moveTo>
                  <a:lnTo>
                    <a:pt x="255" y="114"/>
                  </a:lnTo>
                  <a:lnTo>
                    <a:pt x="0" y="270"/>
                  </a:lnTo>
                  <a:lnTo>
                    <a:pt x="42" y="312"/>
                  </a:lnTo>
                  <a:lnTo>
                    <a:pt x="66" y="348"/>
                  </a:lnTo>
                  <a:lnTo>
                    <a:pt x="87" y="375"/>
                  </a:lnTo>
                  <a:lnTo>
                    <a:pt x="111" y="441"/>
                  </a:lnTo>
                  <a:lnTo>
                    <a:pt x="318" y="306"/>
                  </a:lnTo>
                  <a:lnTo>
                    <a:pt x="504" y="147"/>
                  </a:lnTo>
                  <a:lnTo>
                    <a:pt x="471" y="87"/>
                  </a:lnTo>
                  <a:lnTo>
                    <a:pt x="450" y="51"/>
                  </a:lnTo>
                  <a:lnTo>
                    <a:pt x="41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78" name="Freeform 743"/>
            <p:cNvSpPr>
              <a:spLocks/>
            </p:cNvSpPr>
            <p:nvPr/>
          </p:nvSpPr>
          <p:spPr bwMode="auto">
            <a:xfrm>
              <a:off x="2805" y="2694"/>
              <a:ext cx="492" cy="441"/>
            </a:xfrm>
            <a:custGeom>
              <a:avLst/>
              <a:gdLst>
                <a:gd name="T0" fmla="*/ 375 w 492"/>
                <a:gd name="T1" fmla="*/ 0 h 441"/>
                <a:gd name="T2" fmla="*/ 219 w 492"/>
                <a:gd name="T3" fmla="*/ 120 h 441"/>
                <a:gd name="T4" fmla="*/ 0 w 492"/>
                <a:gd name="T5" fmla="*/ 285 h 441"/>
                <a:gd name="T6" fmla="*/ 33 w 492"/>
                <a:gd name="T7" fmla="*/ 330 h 441"/>
                <a:gd name="T8" fmla="*/ 63 w 492"/>
                <a:gd name="T9" fmla="*/ 366 h 441"/>
                <a:gd name="T10" fmla="*/ 78 w 492"/>
                <a:gd name="T11" fmla="*/ 390 h 441"/>
                <a:gd name="T12" fmla="*/ 99 w 492"/>
                <a:gd name="T13" fmla="*/ 441 h 441"/>
                <a:gd name="T14" fmla="*/ 288 w 492"/>
                <a:gd name="T15" fmla="*/ 300 h 441"/>
                <a:gd name="T16" fmla="*/ 492 w 492"/>
                <a:gd name="T17" fmla="*/ 123 h 441"/>
                <a:gd name="T18" fmla="*/ 459 w 492"/>
                <a:gd name="T19" fmla="*/ 69 h 441"/>
                <a:gd name="T20" fmla="*/ 441 w 492"/>
                <a:gd name="T21" fmla="*/ 45 h 441"/>
                <a:gd name="T22" fmla="*/ 417 w 492"/>
                <a:gd name="T23" fmla="*/ 30 h 441"/>
                <a:gd name="T24" fmla="*/ 375 w 492"/>
                <a:gd name="T25" fmla="*/ 0 h 4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2"/>
                <a:gd name="T40" fmla="*/ 0 h 441"/>
                <a:gd name="T41" fmla="*/ 492 w 492"/>
                <a:gd name="T42" fmla="*/ 441 h 4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2" h="441">
                  <a:moveTo>
                    <a:pt x="375" y="0"/>
                  </a:moveTo>
                  <a:lnTo>
                    <a:pt x="219" y="120"/>
                  </a:lnTo>
                  <a:lnTo>
                    <a:pt x="0" y="285"/>
                  </a:lnTo>
                  <a:lnTo>
                    <a:pt x="33" y="330"/>
                  </a:lnTo>
                  <a:lnTo>
                    <a:pt x="63" y="366"/>
                  </a:lnTo>
                  <a:lnTo>
                    <a:pt x="78" y="390"/>
                  </a:lnTo>
                  <a:lnTo>
                    <a:pt x="99" y="441"/>
                  </a:lnTo>
                  <a:lnTo>
                    <a:pt x="288" y="300"/>
                  </a:lnTo>
                  <a:lnTo>
                    <a:pt x="492" y="123"/>
                  </a:lnTo>
                  <a:lnTo>
                    <a:pt x="459" y="69"/>
                  </a:lnTo>
                  <a:lnTo>
                    <a:pt x="441" y="45"/>
                  </a:lnTo>
                  <a:lnTo>
                    <a:pt x="417" y="30"/>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79" name="Freeform 744"/>
            <p:cNvSpPr>
              <a:spLocks/>
            </p:cNvSpPr>
            <p:nvPr/>
          </p:nvSpPr>
          <p:spPr bwMode="auto">
            <a:xfrm>
              <a:off x="3189" y="2343"/>
              <a:ext cx="507" cy="465"/>
            </a:xfrm>
            <a:custGeom>
              <a:avLst/>
              <a:gdLst>
                <a:gd name="T0" fmla="*/ 375 w 507"/>
                <a:gd name="T1" fmla="*/ 0 h 465"/>
                <a:gd name="T2" fmla="*/ 219 w 507"/>
                <a:gd name="T3" fmla="*/ 147 h 465"/>
                <a:gd name="T4" fmla="*/ 90 w 507"/>
                <a:gd name="T5" fmla="*/ 264 h 465"/>
                <a:gd name="T6" fmla="*/ 0 w 507"/>
                <a:gd name="T7" fmla="*/ 339 h 465"/>
                <a:gd name="T8" fmla="*/ 45 w 507"/>
                <a:gd name="T9" fmla="*/ 375 h 465"/>
                <a:gd name="T10" fmla="*/ 75 w 507"/>
                <a:gd name="T11" fmla="*/ 399 h 465"/>
                <a:gd name="T12" fmla="*/ 96 w 507"/>
                <a:gd name="T13" fmla="*/ 423 h 465"/>
                <a:gd name="T14" fmla="*/ 114 w 507"/>
                <a:gd name="T15" fmla="*/ 465 h 465"/>
                <a:gd name="T16" fmla="*/ 306 w 507"/>
                <a:gd name="T17" fmla="*/ 309 h 465"/>
                <a:gd name="T18" fmla="*/ 507 w 507"/>
                <a:gd name="T19" fmla="*/ 129 h 465"/>
                <a:gd name="T20" fmla="*/ 465 w 507"/>
                <a:gd name="T21" fmla="*/ 63 h 465"/>
                <a:gd name="T22" fmla="*/ 423 w 507"/>
                <a:gd name="T23" fmla="*/ 24 h 465"/>
                <a:gd name="T24" fmla="*/ 375 w 507"/>
                <a:gd name="T25" fmla="*/ 0 h 4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7"/>
                <a:gd name="T40" fmla="*/ 0 h 465"/>
                <a:gd name="T41" fmla="*/ 507 w 507"/>
                <a:gd name="T42" fmla="*/ 465 h 4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7" h="465">
                  <a:moveTo>
                    <a:pt x="375" y="0"/>
                  </a:moveTo>
                  <a:lnTo>
                    <a:pt x="219" y="147"/>
                  </a:lnTo>
                  <a:lnTo>
                    <a:pt x="90" y="264"/>
                  </a:lnTo>
                  <a:lnTo>
                    <a:pt x="0" y="339"/>
                  </a:lnTo>
                  <a:lnTo>
                    <a:pt x="45" y="375"/>
                  </a:lnTo>
                  <a:lnTo>
                    <a:pt x="75" y="399"/>
                  </a:lnTo>
                  <a:lnTo>
                    <a:pt x="96" y="423"/>
                  </a:lnTo>
                  <a:lnTo>
                    <a:pt x="114" y="465"/>
                  </a:lnTo>
                  <a:lnTo>
                    <a:pt x="306" y="309"/>
                  </a:lnTo>
                  <a:lnTo>
                    <a:pt x="507" y="129"/>
                  </a:lnTo>
                  <a:lnTo>
                    <a:pt x="465" y="63"/>
                  </a:lnTo>
                  <a:lnTo>
                    <a:pt x="423" y="24"/>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80" name="Freeform 745"/>
            <p:cNvSpPr>
              <a:spLocks/>
            </p:cNvSpPr>
            <p:nvPr/>
          </p:nvSpPr>
          <p:spPr bwMode="auto">
            <a:xfrm>
              <a:off x="3570" y="1968"/>
              <a:ext cx="387" cy="507"/>
            </a:xfrm>
            <a:custGeom>
              <a:avLst/>
              <a:gdLst>
                <a:gd name="T0" fmla="*/ 378 w 387"/>
                <a:gd name="T1" fmla="*/ 0 h 507"/>
                <a:gd name="T2" fmla="*/ 240 w 387"/>
                <a:gd name="T3" fmla="*/ 132 h 507"/>
                <a:gd name="T4" fmla="*/ 132 w 387"/>
                <a:gd name="T5" fmla="*/ 240 h 507"/>
                <a:gd name="T6" fmla="*/ 0 w 387"/>
                <a:gd name="T7" fmla="*/ 369 h 507"/>
                <a:gd name="T8" fmla="*/ 63 w 387"/>
                <a:gd name="T9" fmla="*/ 405 h 507"/>
                <a:gd name="T10" fmla="*/ 99 w 387"/>
                <a:gd name="T11" fmla="*/ 435 h 507"/>
                <a:gd name="T12" fmla="*/ 132 w 387"/>
                <a:gd name="T13" fmla="*/ 507 h 507"/>
                <a:gd name="T14" fmla="*/ 387 w 387"/>
                <a:gd name="T15" fmla="*/ 249 h 507"/>
                <a:gd name="T16" fmla="*/ 378 w 387"/>
                <a:gd name="T17" fmla="*/ 0 h 5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507"/>
                <a:gd name="T29" fmla="*/ 387 w 387"/>
                <a:gd name="T30" fmla="*/ 507 h 5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507">
                  <a:moveTo>
                    <a:pt x="378" y="0"/>
                  </a:moveTo>
                  <a:lnTo>
                    <a:pt x="240" y="132"/>
                  </a:lnTo>
                  <a:lnTo>
                    <a:pt x="132" y="240"/>
                  </a:lnTo>
                  <a:lnTo>
                    <a:pt x="0" y="369"/>
                  </a:lnTo>
                  <a:lnTo>
                    <a:pt x="63" y="405"/>
                  </a:lnTo>
                  <a:lnTo>
                    <a:pt x="99" y="435"/>
                  </a:lnTo>
                  <a:lnTo>
                    <a:pt x="132" y="507"/>
                  </a:lnTo>
                  <a:lnTo>
                    <a:pt x="387" y="249"/>
                  </a:lnTo>
                  <a:lnTo>
                    <a:pt x="37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7481" name="Freeform 746"/>
            <p:cNvSpPr>
              <a:spLocks/>
            </p:cNvSpPr>
            <p:nvPr/>
          </p:nvSpPr>
          <p:spPr bwMode="auto">
            <a:xfrm>
              <a:off x="1676" y="3350"/>
              <a:ext cx="340" cy="394"/>
            </a:xfrm>
            <a:custGeom>
              <a:avLst/>
              <a:gdLst>
                <a:gd name="T0" fmla="*/ 340 w 340"/>
                <a:gd name="T1" fmla="*/ 394 h 394"/>
                <a:gd name="T2" fmla="*/ 8 w 340"/>
                <a:gd name="T3" fmla="*/ 236 h 394"/>
                <a:gd name="T4" fmla="*/ 4 w 340"/>
                <a:gd name="T5" fmla="*/ 114 h 394"/>
                <a:gd name="T6" fmla="*/ 0 w 340"/>
                <a:gd name="T7" fmla="*/ 0 h 394"/>
                <a:gd name="T8" fmla="*/ 90 w 340"/>
                <a:gd name="T9" fmla="*/ 14 h 394"/>
                <a:gd name="T10" fmla="*/ 150 w 340"/>
                <a:gd name="T11" fmla="*/ 28 h 394"/>
                <a:gd name="T12" fmla="*/ 258 w 340"/>
                <a:gd name="T13" fmla="*/ 52 h 394"/>
                <a:gd name="T14" fmla="*/ 326 w 340"/>
                <a:gd name="T15" fmla="*/ 72 h 394"/>
                <a:gd name="T16" fmla="*/ 338 w 340"/>
                <a:gd name="T17" fmla="*/ 180 h 394"/>
                <a:gd name="T18" fmla="*/ 340 w 340"/>
                <a:gd name="T19" fmla="*/ 248 h 394"/>
                <a:gd name="T20" fmla="*/ 340 w 340"/>
                <a:gd name="T21" fmla="*/ 316 h 394"/>
                <a:gd name="T22" fmla="*/ 340 w 340"/>
                <a:gd name="T23" fmla="*/ 394 h 3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0"/>
                <a:gd name="T37" fmla="*/ 0 h 394"/>
                <a:gd name="T38" fmla="*/ 340 w 340"/>
                <a:gd name="T39" fmla="*/ 394 h 39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0" h="394">
                  <a:moveTo>
                    <a:pt x="340" y="394"/>
                  </a:moveTo>
                  <a:lnTo>
                    <a:pt x="8" y="236"/>
                  </a:lnTo>
                  <a:lnTo>
                    <a:pt x="4" y="114"/>
                  </a:lnTo>
                  <a:lnTo>
                    <a:pt x="0" y="0"/>
                  </a:lnTo>
                  <a:lnTo>
                    <a:pt x="90" y="14"/>
                  </a:lnTo>
                  <a:lnTo>
                    <a:pt x="150" y="28"/>
                  </a:lnTo>
                  <a:lnTo>
                    <a:pt x="258" y="52"/>
                  </a:lnTo>
                  <a:lnTo>
                    <a:pt x="326" y="72"/>
                  </a:lnTo>
                  <a:lnTo>
                    <a:pt x="338" y="180"/>
                  </a:lnTo>
                  <a:lnTo>
                    <a:pt x="340" y="248"/>
                  </a:lnTo>
                  <a:lnTo>
                    <a:pt x="340" y="316"/>
                  </a:lnTo>
                  <a:lnTo>
                    <a:pt x="340"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482" name="Freeform 747"/>
            <p:cNvSpPr>
              <a:spLocks/>
            </p:cNvSpPr>
            <p:nvPr/>
          </p:nvSpPr>
          <p:spPr bwMode="auto">
            <a:xfrm>
              <a:off x="1626" y="3012"/>
              <a:ext cx="372" cy="394"/>
            </a:xfrm>
            <a:custGeom>
              <a:avLst/>
              <a:gdLst>
                <a:gd name="T0" fmla="*/ 372 w 372"/>
                <a:gd name="T1" fmla="*/ 394 h 394"/>
                <a:gd name="T2" fmla="*/ 190 w 372"/>
                <a:gd name="T3" fmla="*/ 348 h 394"/>
                <a:gd name="T4" fmla="*/ 40 w 372"/>
                <a:gd name="T5" fmla="*/ 318 h 394"/>
                <a:gd name="T6" fmla="*/ 0 w 372"/>
                <a:gd name="T7" fmla="*/ 0 h 394"/>
                <a:gd name="T8" fmla="*/ 76 w 372"/>
                <a:gd name="T9" fmla="*/ 10 h 394"/>
                <a:gd name="T10" fmla="*/ 198 w 372"/>
                <a:gd name="T11" fmla="*/ 22 h 394"/>
                <a:gd name="T12" fmla="*/ 308 w 372"/>
                <a:gd name="T13" fmla="*/ 38 h 394"/>
                <a:gd name="T14" fmla="*/ 340 w 372"/>
                <a:gd name="T15" fmla="*/ 202 h 394"/>
                <a:gd name="T16" fmla="*/ 372 w 372"/>
                <a:gd name="T17" fmla="*/ 394 h 3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2"/>
                <a:gd name="T28" fmla="*/ 0 h 394"/>
                <a:gd name="T29" fmla="*/ 372 w 372"/>
                <a:gd name="T30" fmla="*/ 394 h 3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2" h="394">
                  <a:moveTo>
                    <a:pt x="372" y="394"/>
                  </a:moveTo>
                  <a:lnTo>
                    <a:pt x="190" y="348"/>
                  </a:lnTo>
                  <a:lnTo>
                    <a:pt x="40" y="318"/>
                  </a:lnTo>
                  <a:lnTo>
                    <a:pt x="0" y="0"/>
                  </a:lnTo>
                  <a:lnTo>
                    <a:pt x="76" y="10"/>
                  </a:lnTo>
                  <a:lnTo>
                    <a:pt x="198" y="22"/>
                  </a:lnTo>
                  <a:lnTo>
                    <a:pt x="308" y="38"/>
                  </a:lnTo>
                  <a:lnTo>
                    <a:pt x="340" y="202"/>
                  </a:lnTo>
                  <a:lnTo>
                    <a:pt x="372"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483" name="Freeform 748"/>
            <p:cNvSpPr>
              <a:spLocks/>
            </p:cNvSpPr>
            <p:nvPr/>
          </p:nvSpPr>
          <p:spPr bwMode="auto">
            <a:xfrm>
              <a:off x="1554" y="2698"/>
              <a:ext cx="374" cy="340"/>
            </a:xfrm>
            <a:custGeom>
              <a:avLst/>
              <a:gdLst>
                <a:gd name="T0" fmla="*/ 374 w 374"/>
                <a:gd name="T1" fmla="*/ 340 h 340"/>
                <a:gd name="T2" fmla="*/ 240 w 374"/>
                <a:gd name="T3" fmla="*/ 324 h 340"/>
                <a:gd name="T4" fmla="*/ 68 w 374"/>
                <a:gd name="T5" fmla="*/ 302 h 340"/>
                <a:gd name="T6" fmla="*/ 0 w 374"/>
                <a:gd name="T7" fmla="*/ 0 h 340"/>
                <a:gd name="T8" fmla="*/ 90 w 374"/>
                <a:gd name="T9" fmla="*/ 2 h 340"/>
                <a:gd name="T10" fmla="*/ 174 w 374"/>
                <a:gd name="T11" fmla="*/ 0 h 340"/>
                <a:gd name="T12" fmla="*/ 296 w 374"/>
                <a:gd name="T13" fmla="*/ 14 h 340"/>
                <a:gd name="T14" fmla="*/ 312 w 374"/>
                <a:gd name="T15" fmla="*/ 90 h 340"/>
                <a:gd name="T16" fmla="*/ 354 w 374"/>
                <a:gd name="T17" fmla="*/ 246 h 340"/>
                <a:gd name="T18" fmla="*/ 374 w 374"/>
                <a:gd name="T19" fmla="*/ 340 h 3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340"/>
                <a:gd name="T32" fmla="*/ 374 w 374"/>
                <a:gd name="T33" fmla="*/ 340 h 3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340">
                  <a:moveTo>
                    <a:pt x="374" y="340"/>
                  </a:moveTo>
                  <a:lnTo>
                    <a:pt x="240" y="324"/>
                  </a:lnTo>
                  <a:lnTo>
                    <a:pt x="68" y="302"/>
                  </a:lnTo>
                  <a:lnTo>
                    <a:pt x="0" y="0"/>
                  </a:lnTo>
                  <a:lnTo>
                    <a:pt x="90" y="2"/>
                  </a:lnTo>
                  <a:lnTo>
                    <a:pt x="174" y="0"/>
                  </a:lnTo>
                  <a:lnTo>
                    <a:pt x="296" y="14"/>
                  </a:lnTo>
                  <a:lnTo>
                    <a:pt x="312" y="90"/>
                  </a:lnTo>
                  <a:lnTo>
                    <a:pt x="354" y="246"/>
                  </a:lnTo>
                  <a:lnTo>
                    <a:pt x="374" y="340"/>
                  </a:lnTo>
                  <a:close/>
                </a:path>
              </a:pathLst>
            </a:custGeom>
            <a:gradFill rotWithShape="0">
              <a:gsLst>
                <a:gs pos="0">
                  <a:srgbClr val="CFB2AD"/>
                </a:gs>
                <a:gs pos="100000">
                  <a:srgbClr val="A85656"/>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484" name="Freeform 749"/>
            <p:cNvSpPr>
              <a:spLocks/>
            </p:cNvSpPr>
            <p:nvPr/>
          </p:nvSpPr>
          <p:spPr bwMode="auto">
            <a:xfrm>
              <a:off x="1460" y="2366"/>
              <a:ext cx="388" cy="334"/>
            </a:xfrm>
            <a:custGeom>
              <a:avLst/>
              <a:gdLst>
                <a:gd name="T0" fmla="*/ 388 w 388"/>
                <a:gd name="T1" fmla="*/ 334 h 334"/>
                <a:gd name="T2" fmla="*/ 258 w 388"/>
                <a:gd name="T3" fmla="*/ 320 h 334"/>
                <a:gd name="T4" fmla="*/ 90 w 388"/>
                <a:gd name="T5" fmla="*/ 324 h 334"/>
                <a:gd name="T6" fmla="*/ 0 w 388"/>
                <a:gd name="T7" fmla="*/ 2 h 334"/>
                <a:gd name="T8" fmla="*/ 82 w 388"/>
                <a:gd name="T9" fmla="*/ 2 h 334"/>
                <a:gd name="T10" fmla="*/ 172 w 388"/>
                <a:gd name="T11" fmla="*/ 0 h 334"/>
                <a:gd name="T12" fmla="*/ 288 w 388"/>
                <a:gd name="T13" fmla="*/ 6 h 334"/>
                <a:gd name="T14" fmla="*/ 308 w 388"/>
                <a:gd name="T15" fmla="*/ 80 h 334"/>
                <a:gd name="T16" fmla="*/ 350 w 388"/>
                <a:gd name="T17" fmla="*/ 212 h 334"/>
                <a:gd name="T18" fmla="*/ 388 w 388"/>
                <a:gd name="T19" fmla="*/ 334 h 3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8"/>
                <a:gd name="T31" fmla="*/ 0 h 334"/>
                <a:gd name="T32" fmla="*/ 388 w 388"/>
                <a:gd name="T33" fmla="*/ 334 h 3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8" h="334">
                  <a:moveTo>
                    <a:pt x="388" y="334"/>
                  </a:moveTo>
                  <a:lnTo>
                    <a:pt x="258" y="320"/>
                  </a:lnTo>
                  <a:lnTo>
                    <a:pt x="90" y="324"/>
                  </a:lnTo>
                  <a:lnTo>
                    <a:pt x="0" y="2"/>
                  </a:lnTo>
                  <a:lnTo>
                    <a:pt x="82" y="2"/>
                  </a:lnTo>
                  <a:lnTo>
                    <a:pt x="172" y="0"/>
                  </a:lnTo>
                  <a:lnTo>
                    <a:pt x="288" y="6"/>
                  </a:lnTo>
                  <a:lnTo>
                    <a:pt x="308" y="80"/>
                  </a:lnTo>
                  <a:lnTo>
                    <a:pt x="350" y="212"/>
                  </a:lnTo>
                  <a:lnTo>
                    <a:pt x="388" y="334"/>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485" name="Freeform 750"/>
            <p:cNvSpPr>
              <a:spLocks/>
            </p:cNvSpPr>
            <p:nvPr/>
          </p:nvSpPr>
          <p:spPr bwMode="auto">
            <a:xfrm>
              <a:off x="1344" y="1998"/>
              <a:ext cx="398" cy="358"/>
            </a:xfrm>
            <a:custGeom>
              <a:avLst/>
              <a:gdLst>
                <a:gd name="T0" fmla="*/ 398 w 398"/>
                <a:gd name="T1" fmla="*/ 358 h 358"/>
                <a:gd name="T2" fmla="*/ 272 w 398"/>
                <a:gd name="T3" fmla="*/ 358 h 358"/>
                <a:gd name="T4" fmla="*/ 108 w 398"/>
                <a:gd name="T5" fmla="*/ 356 h 358"/>
                <a:gd name="T6" fmla="*/ 64 w 398"/>
                <a:gd name="T7" fmla="*/ 204 h 358"/>
                <a:gd name="T8" fmla="*/ 0 w 398"/>
                <a:gd name="T9" fmla="*/ 28 h 358"/>
                <a:gd name="T10" fmla="*/ 90 w 398"/>
                <a:gd name="T11" fmla="*/ 24 h 358"/>
                <a:gd name="T12" fmla="*/ 144 w 398"/>
                <a:gd name="T13" fmla="*/ 22 h 358"/>
                <a:gd name="T14" fmla="*/ 212 w 398"/>
                <a:gd name="T15" fmla="*/ 16 h 358"/>
                <a:gd name="T16" fmla="*/ 286 w 398"/>
                <a:gd name="T17" fmla="*/ 0 h 358"/>
                <a:gd name="T18" fmla="*/ 314 w 398"/>
                <a:gd name="T19" fmla="*/ 94 h 358"/>
                <a:gd name="T20" fmla="*/ 356 w 398"/>
                <a:gd name="T21" fmla="*/ 228 h 358"/>
                <a:gd name="T22" fmla="*/ 398 w 398"/>
                <a:gd name="T23" fmla="*/ 358 h 3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8"/>
                <a:gd name="T37" fmla="*/ 0 h 358"/>
                <a:gd name="T38" fmla="*/ 398 w 398"/>
                <a:gd name="T39" fmla="*/ 358 h 3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8" h="358">
                  <a:moveTo>
                    <a:pt x="398" y="358"/>
                  </a:moveTo>
                  <a:lnTo>
                    <a:pt x="272" y="358"/>
                  </a:lnTo>
                  <a:lnTo>
                    <a:pt x="108" y="356"/>
                  </a:lnTo>
                  <a:lnTo>
                    <a:pt x="64" y="204"/>
                  </a:lnTo>
                  <a:lnTo>
                    <a:pt x="0" y="28"/>
                  </a:lnTo>
                  <a:lnTo>
                    <a:pt x="90" y="24"/>
                  </a:lnTo>
                  <a:lnTo>
                    <a:pt x="144" y="22"/>
                  </a:lnTo>
                  <a:lnTo>
                    <a:pt x="212" y="16"/>
                  </a:lnTo>
                  <a:lnTo>
                    <a:pt x="286" y="0"/>
                  </a:lnTo>
                  <a:lnTo>
                    <a:pt x="314" y="94"/>
                  </a:lnTo>
                  <a:lnTo>
                    <a:pt x="356" y="228"/>
                  </a:lnTo>
                  <a:lnTo>
                    <a:pt x="398" y="358"/>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486" name="Freeform 751"/>
            <p:cNvSpPr>
              <a:spLocks/>
            </p:cNvSpPr>
            <p:nvPr/>
          </p:nvSpPr>
          <p:spPr bwMode="auto">
            <a:xfrm>
              <a:off x="1144" y="1522"/>
              <a:ext cx="482" cy="492"/>
            </a:xfrm>
            <a:custGeom>
              <a:avLst/>
              <a:gdLst>
                <a:gd name="T0" fmla="*/ 482 w 482"/>
                <a:gd name="T1" fmla="*/ 468 h 492"/>
                <a:gd name="T2" fmla="*/ 364 w 482"/>
                <a:gd name="T3" fmla="*/ 492 h 492"/>
                <a:gd name="T4" fmla="*/ 198 w 482"/>
                <a:gd name="T5" fmla="*/ 492 h 492"/>
                <a:gd name="T6" fmla="*/ 126 w 482"/>
                <a:gd name="T7" fmla="*/ 292 h 492"/>
                <a:gd name="T8" fmla="*/ 0 w 482"/>
                <a:gd name="T9" fmla="*/ 0 h 492"/>
                <a:gd name="T10" fmla="*/ 122 w 482"/>
                <a:gd name="T11" fmla="*/ 22 h 492"/>
                <a:gd name="T12" fmla="*/ 196 w 482"/>
                <a:gd name="T13" fmla="*/ 34 h 492"/>
                <a:gd name="T14" fmla="*/ 276 w 482"/>
                <a:gd name="T15" fmla="*/ 48 h 492"/>
                <a:gd name="T16" fmla="*/ 328 w 482"/>
                <a:gd name="T17" fmla="*/ 62 h 492"/>
                <a:gd name="T18" fmla="*/ 380 w 482"/>
                <a:gd name="T19" fmla="*/ 198 h 492"/>
                <a:gd name="T20" fmla="*/ 432 w 482"/>
                <a:gd name="T21" fmla="*/ 330 h 492"/>
                <a:gd name="T22" fmla="*/ 482 w 482"/>
                <a:gd name="T23" fmla="*/ 468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2"/>
                <a:gd name="T37" fmla="*/ 0 h 492"/>
                <a:gd name="T38" fmla="*/ 482 w 482"/>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2" h="492">
                  <a:moveTo>
                    <a:pt x="482" y="468"/>
                  </a:moveTo>
                  <a:lnTo>
                    <a:pt x="364" y="492"/>
                  </a:lnTo>
                  <a:lnTo>
                    <a:pt x="198" y="492"/>
                  </a:lnTo>
                  <a:lnTo>
                    <a:pt x="126" y="292"/>
                  </a:lnTo>
                  <a:lnTo>
                    <a:pt x="0" y="0"/>
                  </a:lnTo>
                  <a:lnTo>
                    <a:pt x="122" y="22"/>
                  </a:lnTo>
                  <a:lnTo>
                    <a:pt x="196" y="34"/>
                  </a:lnTo>
                  <a:lnTo>
                    <a:pt x="276" y="48"/>
                  </a:lnTo>
                  <a:lnTo>
                    <a:pt x="328" y="62"/>
                  </a:lnTo>
                  <a:lnTo>
                    <a:pt x="380" y="198"/>
                  </a:lnTo>
                  <a:lnTo>
                    <a:pt x="432" y="330"/>
                  </a:lnTo>
                  <a:lnTo>
                    <a:pt x="482" y="468"/>
                  </a:lnTo>
                  <a:close/>
                </a:path>
              </a:pathLst>
            </a:custGeom>
            <a:gradFill rotWithShape="0">
              <a:gsLst>
                <a:gs pos="0">
                  <a:srgbClr val="E8D9D6"/>
                </a:gs>
                <a:gs pos="100000">
                  <a:srgbClr val="CA989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487" name="Freeform 752"/>
            <p:cNvSpPr>
              <a:spLocks/>
            </p:cNvSpPr>
            <p:nvPr/>
          </p:nvSpPr>
          <p:spPr bwMode="auto">
            <a:xfrm>
              <a:off x="1167" y="1344"/>
              <a:ext cx="837" cy="231"/>
            </a:xfrm>
            <a:custGeom>
              <a:avLst/>
              <a:gdLst>
                <a:gd name="T0" fmla="*/ 0 w 837"/>
                <a:gd name="T1" fmla="*/ 171 h 231"/>
                <a:gd name="T2" fmla="*/ 297 w 837"/>
                <a:gd name="T3" fmla="*/ 231 h 231"/>
                <a:gd name="T4" fmla="*/ 561 w 837"/>
                <a:gd name="T5" fmla="*/ 204 h 231"/>
                <a:gd name="T6" fmla="*/ 837 w 837"/>
                <a:gd name="T7" fmla="*/ 138 h 231"/>
                <a:gd name="T8" fmla="*/ 738 w 837"/>
                <a:gd name="T9" fmla="*/ 75 h 231"/>
                <a:gd name="T10" fmla="*/ 618 w 837"/>
                <a:gd name="T11" fmla="*/ 27 h 231"/>
                <a:gd name="T12" fmla="*/ 513 w 837"/>
                <a:gd name="T13" fmla="*/ 0 h 231"/>
                <a:gd name="T14" fmla="*/ 390 w 837"/>
                <a:gd name="T15" fmla="*/ 45 h 231"/>
                <a:gd name="T16" fmla="*/ 0 w 837"/>
                <a:gd name="T17" fmla="*/ 171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37"/>
                <a:gd name="T28" fmla="*/ 0 h 231"/>
                <a:gd name="T29" fmla="*/ 837 w 837"/>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37" h="231">
                  <a:moveTo>
                    <a:pt x="0" y="171"/>
                  </a:moveTo>
                  <a:lnTo>
                    <a:pt x="297" y="231"/>
                  </a:lnTo>
                  <a:lnTo>
                    <a:pt x="561" y="204"/>
                  </a:lnTo>
                  <a:lnTo>
                    <a:pt x="837" y="138"/>
                  </a:lnTo>
                  <a:lnTo>
                    <a:pt x="738" y="75"/>
                  </a:lnTo>
                  <a:lnTo>
                    <a:pt x="618" y="27"/>
                  </a:lnTo>
                  <a:lnTo>
                    <a:pt x="513" y="0"/>
                  </a:lnTo>
                  <a:lnTo>
                    <a:pt x="390" y="45"/>
                  </a:lnTo>
                  <a:lnTo>
                    <a:pt x="0" y="171"/>
                  </a:lnTo>
                  <a:close/>
                </a:path>
              </a:pathLst>
            </a:custGeom>
            <a:gradFill rotWithShape="0">
              <a:gsLst>
                <a:gs pos="0">
                  <a:srgbClr val="C58D8D"/>
                </a:gs>
                <a:gs pos="100000">
                  <a:srgbClr val="8F5A59"/>
                </a:gs>
              </a:gsLst>
              <a:lin ang="0" scaled="1"/>
            </a:gradFill>
            <a:ln w="12700" cap="flat" cmpd="sng">
              <a:noFill/>
              <a:prstDash val="solid"/>
              <a:round/>
              <a:headEnd type="none" w="sm" len="sm"/>
              <a:tailEnd type="none" w="sm" len="sm"/>
            </a:ln>
          </p:spPr>
          <p:txBody>
            <a:bodyPr wrap="none" anchor="ctr"/>
            <a:lstStyle/>
            <a:p>
              <a:endParaRPr lang="en-US"/>
            </a:p>
          </p:txBody>
        </p:sp>
        <p:sp>
          <p:nvSpPr>
            <p:cNvPr id="17488" name="Freeform 753"/>
            <p:cNvSpPr>
              <a:spLocks/>
            </p:cNvSpPr>
            <p:nvPr/>
          </p:nvSpPr>
          <p:spPr bwMode="auto">
            <a:xfrm>
              <a:off x="1707" y="1128"/>
              <a:ext cx="780" cy="345"/>
            </a:xfrm>
            <a:custGeom>
              <a:avLst/>
              <a:gdLst>
                <a:gd name="T0" fmla="*/ 0 w 780"/>
                <a:gd name="T1" fmla="*/ 207 h 345"/>
                <a:gd name="T2" fmla="*/ 165 w 780"/>
                <a:gd name="T3" fmla="*/ 261 h 345"/>
                <a:gd name="T4" fmla="*/ 318 w 780"/>
                <a:gd name="T5" fmla="*/ 345 h 345"/>
                <a:gd name="T6" fmla="*/ 552 w 780"/>
                <a:gd name="T7" fmla="*/ 255 h 345"/>
                <a:gd name="T8" fmla="*/ 780 w 780"/>
                <a:gd name="T9" fmla="*/ 144 h 345"/>
                <a:gd name="T10" fmla="*/ 705 w 780"/>
                <a:gd name="T11" fmla="*/ 69 h 345"/>
                <a:gd name="T12" fmla="*/ 618 w 780"/>
                <a:gd name="T13" fmla="*/ 30 h 345"/>
                <a:gd name="T14" fmla="*/ 498 w 780"/>
                <a:gd name="T15" fmla="*/ 0 h 345"/>
                <a:gd name="T16" fmla="*/ 384 w 780"/>
                <a:gd name="T17" fmla="*/ 51 h 345"/>
                <a:gd name="T18" fmla="*/ 0 w 780"/>
                <a:gd name="T19" fmla="*/ 207 h 3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0"/>
                <a:gd name="T31" fmla="*/ 0 h 345"/>
                <a:gd name="T32" fmla="*/ 780 w 780"/>
                <a:gd name="T33" fmla="*/ 345 h 3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0" h="345">
                  <a:moveTo>
                    <a:pt x="0" y="207"/>
                  </a:moveTo>
                  <a:lnTo>
                    <a:pt x="165" y="261"/>
                  </a:lnTo>
                  <a:lnTo>
                    <a:pt x="318" y="345"/>
                  </a:lnTo>
                  <a:lnTo>
                    <a:pt x="552" y="255"/>
                  </a:lnTo>
                  <a:lnTo>
                    <a:pt x="780" y="144"/>
                  </a:lnTo>
                  <a:lnTo>
                    <a:pt x="705" y="69"/>
                  </a:lnTo>
                  <a:lnTo>
                    <a:pt x="618" y="30"/>
                  </a:lnTo>
                  <a:lnTo>
                    <a:pt x="498" y="0"/>
                  </a:lnTo>
                  <a:lnTo>
                    <a:pt x="384" y="51"/>
                  </a:lnTo>
                  <a:lnTo>
                    <a:pt x="0" y="207"/>
                  </a:lnTo>
                  <a:close/>
                </a:path>
              </a:pathLst>
            </a:custGeom>
            <a:gradFill rotWithShape="0">
              <a:gsLst>
                <a:gs pos="0">
                  <a:srgbClr val="CA9898"/>
                </a:gs>
                <a:gs pos="100000">
                  <a:srgbClr val="A46F6E"/>
                </a:gs>
              </a:gsLst>
              <a:lin ang="0" scaled="1"/>
            </a:gradFill>
            <a:ln w="12700" cap="flat" cmpd="sng">
              <a:noFill/>
              <a:prstDash val="solid"/>
              <a:round/>
              <a:headEnd type="none" w="sm" len="sm"/>
              <a:tailEnd type="none" w="sm" len="sm"/>
            </a:ln>
          </p:spPr>
          <p:txBody>
            <a:bodyPr wrap="none" anchor="ctr"/>
            <a:lstStyle/>
            <a:p>
              <a:endParaRPr lang="en-US"/>
            </a:p>
          </p:txBody>
        </p:sp>
        <p:sp>
          <p:nvSpPr>
            <p:cNvPr id="17489" name="Freeform 754"/>
            <p:cNvSpPr>
              <a:spLocks/>
            </p:cNvSpPr>
            <p:nvPr/>
          </p:nvSpPr>
          <p:spPr bwMode="auto">
            <a:xfrm>
              <a:off x="2232" y="900"/>
              <a:ext cx="729" cy="363"/>
            </a:xfrm>
            <a:custGeom>
              <a:avLst/>
              <a:gdLst>
                <a:gd name="T0" fmla="*/ 0 w 729"/>
                <a:gd name="T1" fmla="*/ 219 h 363"/>
                <a:gd name="T2" fmla="*/ 141 w 729"/>
                <a:gd name="T3" fmla="*/ 258 h 363"/>
                <a:gd name="T4" fmla="*/ 204 w 729"/>
                <a:gd name="T5" fmla="*/ 300 h 363"/>
                <a:gd name="T6" fmla="*/ 279 w 729"/>
                <a:gd name="T7" fmla="*/ 363 h 363"/>
                <a:gd name="T8" fmla="*/ 507 w 729"/>
                <a:gd name="T9" fmla="*/ 228 h 363"/>
                <a:gd name="T10" fmla="*/ 729 w 729"/>
                <a:gd name="T11" fmla="*/ 96 h 363"/>
                <a:gd name="T12" fmla="*/ 621 w 729"/>
                <a:gd name="T13" fmla="*/ 54 h 363"/>
                <a:gd name="T14" fmla="*/ 531 w 729"/>
                <a:gd name="T15" fmla="*/ 18 h 363"/>
                <a:gd name="T16" fmla="*/ 441 w 729"/>
                <a:gd name="T17" fmla="*/ 0 h 363"/>
                <a:gd name="T18" fmla="*/ 309 w 729"/>
                <a:gd name="T19" fmla="*/ 72 h 363"/>
                <a:gd name="T20" fmla="*/ 0 w 729"/>
                <a:gd name="T21" fmla="*/ 219 h 3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9"/>
                <a:gd name="T34" fmla="*/ 0 h 363"/>
                <a:gd name="T35" fmla="*/ 729 w 729"/>
                <a:gd name="T36" fmla="*/ 363 h 3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9" h="363">
                  <a:moveTo>
                    <a:pt x="0" y="219"/>
                  </a:moveTo>
                  <a:lnTo>
                    <a:pt x="141" y="258"/>
                  </a:lnTo>
                  <a:lnTo>
                    <a:pt x="204" y="300"/>
                  </a:lnTo>
                  <a:lnTo>
                    <a:pt x="279" y="363"/>
                  </a:lnTo>
                  <a:lnTo>
                    <a:pt x="507" y="228"/>
                  </a:lnTo>
                  <a:lnTo>
                    <a:pt x="729" y="96"/>
                  </a:lnTo>
                  <a:lnTo>
                    <a:pt x="621" y="54"/>
                  </a:lnTo>
                  <a:lnTo>
                    <a:pt x="531" y="18"/>
                  </a:lnTo>
                  <a:lnTo>
                    <a:pt x="441" y="0"/>
                  </a:lnTo>
                  <a:lnTo>
                    <a:pt x="309" y="72"/>
                  </a:lnTo>
                  <a:lnTo>
                    <a:pt x="0" y="219"/>
                  </a:lnTo>
                  <a:close/>
                </a:path>
              </a:pathLst>
            </a:custGeom>
            <a:gradFill rotWithShape="0">
              <a:gsLst>
                <a:gs pos="0">
                  <a:srgbClr val="D2A6A6"/>
                </a:gs>
                <a:gs pos="100000">
                  <a:srgbClr val="AE7F7E"/>
                </a:gs>
              </a:gsLst>
              <a:lin ang="2700000" scaled="1"/>
            </a:gradFill>
            <a:ln w="12700" cap="flat" cmpd="sng">
              <a:noFill/>
              <a:prstDash val="solid"/>
              <a:round/>
              <a:headEnd type="none" w="sm" len="sm"/>
              <a:tailEnd type="none" w="sm" len="sm"/>
            </a:ln>
          </p:spPr>
          <p:txBody>
            <a:bodyPr wrap="none" anchor="ctr"/>
            <a:lstStyle/>
            <a:p>
              <a:endParaRPr lang="en-US"/>
            </a:p>
          </p:txBody>
        </p:sp>
        <p:sp>
          <p:nvSpPr>
            <p:cNvPr id="17490" name="Freeform 755"/>
            <p:cNvSpPr>
              <a:spLocks/>
            </p:cNvSpPr>
            <p:nvPr/>
          </p:nvSpPr>
          <p:spPr bwMode="auto">
            <a:xfrm>
              <a:off x="2691" y="642"/>
              <a:ext cx="648" cy="339"/>
            </a:xfrm>
            <a:custGeom>
              <a:avLst/>
              <a:gdLst>
                <a:gd name="T0" fmla="*/ 0 w 648"/>
                <a:gd name="T1" fmla="*/ 246 h 339"/>
                <a:gd name="T2" fmla="*/ 99 w 648"/>
                <a:gd name="T3" fmla="*/ 270 h 339"/>
                <a:gd name="T4" fmla="*/ 183 w 648"/>
                <a:gd name="T5" fmla="*/ 309 h 339"/>
                <a:gd name="T6" fmla="*/ 279 w 648"/>
                <a:gd name="T7" fmla="*/ 339 h 339"/>
                <a:gd name="T8" fmla="*/ 456 w 648"/>
                <a:gd name="T9" fmla="*/ 210 h 339"/>
                <a:gd name="T10" fmla="*/ 648 w 648"/>
                <a:gd name="T11" fmla="*/ 69 h 339"/>
                <a:gd name="T12" fmla="*/ 573 w 648"/>
                <a:gd name="T13" fmla="*/ 45 h 339"/>
                <a:gd name="T14" fmla="*/ 465 w 648"/>
                <a:gd name="T15" fmla="*/ 15 h 339"/>
                <a:gd name="T16" fmla="*/ 372 w 648"/>
                <a:gd name="T17" fmla="*/ 0 h 339"/>
                <a:gd name="T18" fmla="*/ 291 w 648"/>
                <a:gd name="T19" fmla="*/ 72 h 339"/>
                <a:gd name="T20" fmla="*/ 171 w 648"/>
                <a:gd name="T21" fmla="*/ 144 h 339"/>
                <a:gd name="T22" fmla="*/ 0 w 648"/>
                <a:gd name="T23" fmla="*/ 246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339"/>
                <a:gd name="T38" fmla="*/ 648 w 648"/>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339">
                  <a:moveTo>
                    <a:pt x="0" y="246"/>
                  </a:moveTo>
                  <a:lnTo>
                    <a:pt x="99" y="270"/>
                  </a:lnTo>
                  <a:lnTo>
                    <a:pt x="183" y="309"/>
                  </a:lnTo>
                  <a:lnTo>
                    <a:pt x="279" y="339"/>
                  </a:lnTo>
                  <a:lnTo>
                    <a:pt x="456" y="210"/>
                  </a:lnTo>
                  <a:lnTo>
                    <a:pt x="648" y="69"/>
                  </a:lnTo>
                  <a:lnTo>
                    <a:pt x="573" y="45"/>
                  </a:lnTo>
                  <a:lnTo>
                    <a:pt x="465" y="15"/>
                  </a:lnTo>
                  <a:lnTo>
                    <a:pt x="372" y="0"/>
                  </a:lnTo>
                  <a:lnTo>
                    <a:pt x="291" y="72"/>
                  </a:lnTo>
                  <a:lnTo>
                    <a:pt x="171" y="144"/>
                  </a:lnTo>
                  <a:lnTo>
                    <a:pt x="0" y="246"/>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sp>
          <p:nvSpPr>
            <p:cNvPr id="17491" name="Freeform 756"/>
            <p:cNvSpPr>
              <a:spLocks/>
            </p:cNvSpPr>
            <p:nvPr/>
          </p:nvSpPr>
          <p:spPr bwMode="auto">
            <a:xfrm>
              <a:off x="3090" y="330"/>
              <a:ext cx="633" cy="366"/>
            </a:xfrm>
            <a:custGeom>
              <a:avLst/>
              <a:gdLst>
                <a:gd name="T0" fmla="*/ 0 w 633"/>
                <a:gd name="T1" fmla="*/ 297 h 366"/>
                <a:gd name="T2" fmla="*/ 90 w 633"/>
                <a:gd name="T3" fmla="*/ 315 h 366"/>
                <a:gd name="T4" fmla="*/ 198 w 633"/>
                <a:gd name="T5" fmla="*/ 345 h 366"/>
                <a:gd name="T6" fmla="*/ 264 w 633"/>
                <a:gd name="T7" fmla="*/ 366 h 366"/>
                <a:gd name="T8" fmla="*/ 438 w 633"/>
                <a:gd name="T9" fmla="*/ 216 h 366"/>
                <a:gd name="T10" fmla="*/ 633 w 633"/>
                <a:gd name="T11" fmla="*/ 0 h 366"/>
                <a:gd name="T12" fmla="*/ 537 w 633"/>
                <a:gd name="T13" fmla="*/ 15 h 366"/>
                <a:gd name="T14" fmla="*/ 450 w 633"/>
                <a:gd name="T15" fmla="*/ 30 h 366"/>
                <a:gd name="T16" fmla="*/ 345 w 633"/>
                <a:gd name="T17" fmla="*/ 48 h 366"/>
                <a:gd name="T18" fmla="*/ 234 w 633"/>
                <a:gd name="T19" fmla="*/ 69 h 366"/>
                <a:gd name="T20" fmla="*/ 162 w 633"/>
                <a:gd name="T21" fmla="*/ 150 h 366"/>
                <a:gd name="T22" fmla="*/ 0 w 633"/>
                <a:gd name="T23" fmla="*/ 297 h 36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3"/>
                <a:gd name="T37" fmla="*/ 0 h 366"/>
                <a:gd name="T38" fmla="*/ 633 w 633"/>
                <a:gd name="T39" fmla="*/ 366 h 36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3" h="366">
                  <a:moveTo>
                    <a:pt x="0" y="297"/>
                  </a:moveTo>
                  <a:lnTo>
                    <a:pt x="90" y="315"/>
                  </a:lnTo>
                  <a:lnTo>
                    <a:pt x="198" y="345"/>
                  </a:lnTo>
                  <a:lnTo>
                    <a:pt x="264" y="366"/>
                  </a:lnTo>
                  <a:lnTo>
                    <a:pt x="438" y="216"/>
                  </a:lnTo>
                  <a:lnTo>
                    <a:pt x="633" y="0"/>
                  </a:lnTo>
                  <a:lnTo>
                    <a:pt x="537" y="15"/>
                  </a:lnTo>
                  <a:lnTo>
                    <a:pt x="450" y="30"/>
                  </a:lnTo>
                  <a:lnTo>
                    <a:pt x="345" y="48"/>
                  </a:lnTo>
                  <a:lnTo>
                    <a:pt x="234" y="69"/>
                  </a:lnTo>
                  <a:lnTo>
                    <a:pt x="162" y="150"/>
                  </a:lnTo>
                  <a:lnTo>
                    <a:pt x="0" y="297"/>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1000"/>
                                  </p:stCondLst>
                                  <p:childTnLst>
                                    <p:set>
                                      <p:cBhvr>
                                        <p:cTn id="6" dur="1" fill="hold">
                                          <p:stCondLst>
                                            <p:cond delay="0"/>
                                          </p:stCondLst>
                                        </p:cTn>
                                        <p:tgtEl>
                                          <p:spTgt spid="309842"/>
                                        </p:tgtEl>
                                        <p:attrNameLst>
                                          <p:attrName>style.visibility</p:attrName>
                                        </p:attrNameLst>
                                      </p:cBhvr>
                                      <p:to>
                                        <p:strVal val="visible"/>
                                      </p:to>
                                    </p:set>
                                    <p:animEffect transition="in" filter="wipe(up)">
                                      <p:cBhvr>
                                        <p:cTn id="7" dur="500"/>
                                        <p:tgtEl>
                                          <p:spTgt spid="309842"/>
                                        </p:tgtEl>
                                      </p:cBhvr>
                                    </p:animEffect>
                                  </p:childTnLst>
                                </p:cTn>
                              </p:par>
                            </p:childTnLst>
                          </p:cTn>
                        </p:par>
                        <p:par>
                          <p:cTn id="8" fill="hold" nodeType="afterGroup">
                            <p:stCondLst>
                              <p:cond delay="1500"/>
                            </p:stCondLst>
                            <p:childTnLst>
                              <p:par>
                                <p:cTn id="9" presetID="22" presetClass="entr" presetSubtype="1" fill="hold" grpId="0" nodeType="afterEffect">
                                  <p:stCondLst>
                                    <p:cond delay="0"/>
                                  </p:stCondLst>
                                  <p:childTnLst>
                                    <p:set>
                                      <p:cBhvr>
                                        <p:cTn id="10" dur="1" fill="hold">
                                          <p:stCondLst>
                                            <p:cond delay="0"/>
                                          </p:stCondLst>
                                        </p:cTn>
                                        <p:tgtEl>
                                          <p:spTgt spid="309843"/>
                                        </p:tgtEl>
                                        <p:attrNameLst>
                                          <p:attrName>style.visibility</p:attrName>
                                        </p:attrNameLst>
                                      </p:cBhvr>
                                      <p:to>
                                        <p:strVal val="visible"/>
                                      </p:to>
                                    </p:set>
                                    <p:animEffect transition="in" filter="wipe(up)">
                                      <p:cBhvr>
                                        <p:cTn id="11" dur="500"/>
                                        <p:tgtEl>
                                          <p:spTgt spid="309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842" grpId="0" animBg="1"/>
      <p:bldP spid="3098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Slide Number Placeholder 4"/>
          <p:cNvSpPr>
            <a:spLocks noGrp="1"/>
          </p:cNvSpPr>
          <p:nvPr>
            <p:ph type="sldNum" sz="quarter" idx="10"/>
          </p:nvPr>
        </p:nvSpPr>
        <p:spPr/>
        <p:txBody>
          <a:bodyPr/>
          <a:lstStyle/>
          <a:p>
            <a:pPr>
              <a:defRPr/>
            </a:pPr>
            <a:r>
              <a:rPr lang="en-US" dirty="0"/>
              <a:t>-</a:t>
            </a:r>
            <a:fld id="{709B7A2F-DF47-4D5D-990B-EBEA7854128D}" type="slidenum">
              <a:rPr lang="ar-SA"/>
              <a:pPr>
                <a:defRPr/>
              </a:pPr>
              <a:t>16</a:t>
            </a:fld>
            <a:r>
              <a:rPr lang="en-US" dirty="0"/>
              <a:t>-</a:t>
            </a:r>
            <a:endParaRPr lang="en-US" sz="800" dirty="0">
              <a:effectLst>
                <a:outerShdw blurRad="38100" dist="38100" dir="2700000" algn="tl">
                  <a:srgbClr val="FFFFFF"/>
                </a:outerShdw>
              </a:effectLst>
            </a:endParaRPr>
          </a:p>
        </p:txBody>
      </p:sp>
      <p:sp>
        <p:nvSpPr>
          <p:cNvPr id="18435" name="Rectangle 2"/>
          <p:cNvSpPr>
            <a:spLocks noGrp="1" noChangeArrowheads="1"/>
          </p:cNvSpPr>
          <p:nvPr>
            <p:ph type="title"/>
          </p:nvPr>
        </p:nvSpPr>
        <p:spPr/>
        <p:txBody>
          <a:bodyPr/>
          <a:lstStyle/>
          <a:p>
            <a:r>
              <a:rPr lang="en-US" smtClean="0"/>
              <a:t>Types of VPNs</a:t>
            </a:r>
          </a:p>
        </p:txBody>
      </p:sp>
      <p:sp>
        <p:nvSpPr>
          <p:cNvPr id="310275" name="Rectangle 3"/>
          <p:cNvSpPr>
            <a:spLocks noGrp="1" noChangeArrowheads="1"/>
          </p:cNvSpPr>
          <p:nvPr>
            <p:ph type="body" sz="half" idx="1"/>
          </p:nvPr>
        </p:nvSpPr>
        <p:spPr>
          <a:xfrm>
            <a:off x="304800" y="1370013"/>
            <a:ext cx="5257800" cy="4114800"/>
          </a:xfrm>
        </p:spPr>
        <p:txBody>
          <a:bodyPr/>
          <a:lstStyle/>
          <a:p>
            <a:pPr>
              <a:defRPr/>
            </a:pPr>
            <a:r>
              <a:rPr lang="en-US" sz="2800" dirty="0" smtClean="0">
                <a:solidFill>
                  <a:schemeClr val="folHlink"/>
                </a:solidFill>
              </a:rPr>
              <a:t>Remote Access VPN</a:t>
            </a:r>
          </a:p>
          <a:p>
            <a:pPr>
              <a:defRPr/>
            </a:pPr>
            <a:r>
              <a:rPr lang="en-US" sz="2800" dirty="0" smtClean="0">
                <a:solidFill>
                  <a:schemeClr val="folHlink"/>
                </a:solidFill>
              </a:rPr>
              <a:t>Site-to-Site VPN</a:t>
            </a:r>
          </a:p>
          <a:p>
            <a:pPr lvl="1">
              <a:defRPr/>
            </a:pPr>
            <a:r>
              <a:rPr lang="en-US" dirty="0" smtClean="0">
                <a:solidFill>
                  <a:schemeClr val="folHlink"/>
                </a:solidFill>
              </a:rPr>
              <a:t>Extranet VPN</a:t>
            </a:r>
          </a:p>
          <a:p>
            <a:pPr lvl="1">
              <a:defRPr/>
            </a:pPr>
            <a:r>
              <a:rPr lang="en-US" dirty="0" smtClean="0">
                <a:solidFill>
                  <a:schemeClr val="accent1"/>
                </a:solidFill>
              </a:rPr>
              <a:t>Intranet VPN:</a:t>
            </a:r>
          </a:p>
          <a:p>
            <a:pPr>
              <a:buFont typeface="Wingdings" pitchFamily="2" charset="2"/>
              <a:buNone/>
              <a:defRPr/>
            </a:pPr>
            <a:r>
              <a:rPr lang="en-CA" sz="2800" dirty="0" smtClean="0"/>
              <a:t>        Links corporate headquarters, remote offices, and branch offices over a shared infrastructure using dedicated connections.</a:t>
            </a:r>
            <a:endParaRPr lang="en-US" sz="2000" dirty="0" smtClean="0"/>
          </a:p>
          <a:p>
            <a:pPr>
              <a:buFont typeface="Wingdings" pitchFamily="2" charset="2"/>
              <a:buNone/>
              <a:defRPr/>
            </a:pPr>
            <a:endParaRPr lang="en-US" sz="1800" dirty="0" smtClean="0">
              <a:solidFill>
                <a:schemeClr val="bg1"/>
              </a:solidFill>
            </a:endParaRPr>
          </a:p>
        </p:txBody>
      </p:sp>
      <p:sp>
        <p:nvSpPr>
          <p:cNvPr id="18437" name="Line 5"/>
          <p:cNvSpPr>
            <a:spLocks noChangeShapeType="1"/>
          </p:cNvSpPr>
          <p:nvPr/>
        </p:nvSpPr>
        <p:spPr bwMode="auto">
          <a:xfrm flipH="1">
            <a:off x="7010400" y="2514600"/>
            <a:ext cx="0" cy="2057400"/>
          </a:xfrm>
          <a:prstGeom prst="line">
            <a:avLst/>
          </a:prstGeom>
          <a:noFill/>
          <a:ln w="28575">
            <a:solidFill>
              <a:schemeClr val="accent1"/>
            </a:solidFill>
            <a:round/>
            <a:headEnd/>
            <a:tailEnd/>
          </a:ln>
        </p:spPr>
        <p:txBody>
          <a:bodyPr wrap="none" anchor="ctr"/>
          <a:lstStyle/>
          <a:p>
            <a:endParaRPr lang="en-US"/>
          </a:p>
        </p:txBody>
      </p:sp>
      <p:sp>
        <p:nvSpPr>
          <p:cNvPr id="18438" name="Line 6"/>
          <p:cNvSpPr>
            <a:spLocks noChangeShapeType="1"/>
          </p:cNvSpPr>
          <p:nvPr/>
        </p:nvSpPr>
        <p:spPr bwMode="auto">
          <a:xfrm>
            <a:off x="6629400" y="2514600"/>
            <a:ext cx="381000" cy="0"/>
          </a:xfrm>
          <a:prstGeom prst="line">
            <a:avLst/>
          </a:prstGeom>
          <a:noFill/>
          <a:ln w="28575">
            <a:solidFill>
              <a:schemeClr val="accent1"/>
            </a:solidFill>
            <a:round/>
            <a:headEnd/>
            <a:tailEnd/>
          </a:ln>
        </p:spPr>
        <p:txBody>
          <a:bodyPr wrap="none" anchor="ctr"/>
          <a:lstStyle/>
          <a:p>
            <a:endParaRPr lang="en-US"/>
          </a:p>
        </p:txBody>
      </p:sp>
      <p:sp>
        <p:nvSpPr>
          <p:cNvPr id="18439" name="Line 7"/>
          <p:cNvSpPr>
            <a:spLocks noChangeShapeType="1"/>
          </p:cNvSpPr>
          <p:nvPr/>
        </p:nvSpPr>
        <p:spPr bwMode="auto">
          <a:xfrm flipV="1">
            <a:off x="7010400" y="3505200"/>
            <a:ext cx="457200" cy="0"/>
          </a:xfrm>
          <a:prstGeom prst="line">
            <a:avLst/>
          </a:prstGeom>
          <a:noFill/>
          <a:ln w="28575">
            <a:solidFill>
              <a:schemeClr val="accent1"/>
            </a:solidFill>
            <a:round/>
            <a:headEnd/>
            <a:tailEnd/>
          </a:ln>
        </p:spPr>
        <p:txBody>
          <a:bodyPr wrap="none" anchor="ctr"/>
          <a:lstStyle/>
          <a:p>
            <a:endParaRPr lang="en-US"/>
          </a:p>
        </p:txBody>
      </p:sp>
      <p:grpSp>
        <p:nvGrpSpPr>
          <p:cNvPr id="18440" name="Group 8"/>
          <p:cNvGrpSpPr>
            <a:grpSpLocks/>
          </p:cNvGrpSpPr>
          <p:nvPr/>
        </p:nvGrpSpPr>
        <p:grpSpPr bwMode="auto">
          <a:xfrm>
            <a:off x="7372350" y="2705100"/>
            <a:ext cx="576263" cy="1277938"/>
            <a:chOff x="1125" y="288"/>
            <a:chExt cx="2859" cy="3498"/>
          </a:xfrm>
        </p:grpSpPr>
        <p:sp>
          <p:nvSpPr>
            <p:cNvPr id="18638" name="Freeform 9"/>
            <p:cNvSpPr>
              <a:spLocks/>
            </p:cNvSpPr>
            <p:nvPr/>
          </p:nvSpPr>
          <p:spPr bwMode="auto">
            <a:xfrm>
              <a:off x="1151" y="288"/>
              <a:ext cx="2833" cy="3456"/>
            </a:xfrm>
            <a:custGeom>
              <a:avLst/>
              <a:gdLst>
                <a:gd name="T0" fmla="*/ 865 w 2833"/>
                <a:gd name="T1" fmla="*/ 3456 h 3456"/>
                <a:gd name="T2" fmla="*/ 529 w 2833"/>
                <a:gd name="T3" fmla="*/ 3312 h 3456"/>
                <a:gd name="T4" fmla="*/ 452 w 2833"/>
                <a:gd name="T5" fmla="*/ 2646 h 3456"/>
                <a:gd name="T6" fmla="*/ 343 w 2833"/>
                <a:gd name="T7" fmla="*/ 2154 h 3456"/>
                <a:gd name="T8" fmla="*/ 180 w 2833"/>
                <a:gd name="T9" fmla="*/ 1717 h 3456"/>
                <a:gd name="T10" fmla="*/ 0 w 2833"/>
                <a:gd name="T11" fmla="*/ 1241 h 3456"/>
                <a:gd name="T12" fmla="*/ 567 w 2833"/>
                <a:gd name="T13" fmla="*/ 1035 h 3456"/>
                <a:gd name="T14" fmla="*/ 1027 w 2833"/>
                <a:gd name="T15" fmla="*/ 854 h 3456"/>
                <a:gd name="T16" fmla="*/ 1405 w 2833"/>
                <a:gd name="T17" fmla="*/ 657 h 3456"/>
                <a:gd name="T18" fmla="*/ 1717 w 2833"/>
                <a:gd name="T19" fmla="*/ 485 h 3456"/>
                <a:gd name="T20" fmla="*/ 1964 w 2833"/>
                <a:gd name="T21" fmla="*/ 312 h 3456"/>
                <a:gd name="T22" fmla="*/ 2161 w 2833"/>
                <a:gd name="T23" fmla="*/ 96 h 3456"/>
                <a:gd name="T24" fmla="*/ 2593 w 2833"/>
                <a:gd name="T25" fmla="*/ 0 h 3456"/>
                <a:gd name="T26" fmla="*/ 2833 w 2833"/>
                <a:gd name="T27" fmla="*/ 1920 h 3456"/>
                <a:gd name="T28" fmla="*/ 2178 w 2833"/>
                <a:gd name="T29" fmla="*/ 2531 h 3456"/>
                <a:gd name="T30" fmla="*/ 1726 w 2833"/>
                <a:gd name="T31" fmla="*/ 2892 h 3456"/>
                <a:gd name="T32" fmla="*/ 865 w 2833"/>
                <a:gd name="T33" fmla="*/ 3456 h 34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33"/>
                <a:gd name="T52" fmla="*/ 0 h 3456"/>
                <a:gd name="T53" fmla="*/ 2833 w 2833"/>
                <a:gd name="T54" fmla="*/ 3456 h 34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33" h="3456">
                  <a:moveTo>
                    <a:pt x="865" y="3456"/>
                  </a:moveTo>
                  <a:lnTo>
                    <a:pt x="529" y="3312"/>
                  </a:lnTo>
                  <a:lnTo>
                    <a:pt x="452" y="2646"/>
                  </a:lnTo>
                  <a:lnTo>
                    <a:pt x="343" y="2154"/>
                  </a:lnTo>
                  <a:lnTo>
                    <a:pt x="180" y="1717"/>
                  </a:lnTo>
                  <a:lnTo>
                    <a:pt x="0" y="1241"/>
                  </a:lnTo>
                  <a:lnTo>
                    <a:pt x="567" y="1035"/>
                  </a:lnTo>
                  <a:lnTo>
                    <a:pt x="1027" y="854"/>
                  </a:lnTo>
                  <a:lnTo>
                    <a:pt x="1405" y="657"/>
                  </a:lnTo>
                  <a:lnTo>
                    <a:pt x="1717" y="485"/>
                  </a:lnTo>
                  <a:lnTo>
                    <a:pt x="1964" y="312"/>
                  </a:lnTo>
                  <a:lnTo>
                    <a:pt x="2161" y="96"/>
                  </a:lnTo>
                  <a:lnTo>
                    <a:pt x="2593" y="0"/>
                  </a:lnTo>
                  <a:lnTo>
                    <a:pt x="2833" y="1920"/>
                  </a:lnTo>
                  <a:lnTo>
                    <a:pt x="2178" y="2531"/>
                  </a:lnTo>
                  <a:lnTo>
                    <a:pt x="1726" y="2892"/>
                  </a:lnTo>
                  <a:lnTo>
                    <a:pt x="865" y="3456"/>
                  </a:lnTo>
                  <a:close/>
                </a:path>
              </a:pathLst>
            </a:custGeom>
            <a:solidFill>
              <a:srgbClr val="4D4D4D"/>
            </a:solidFill>
            <a:ln w="12700" cap="flat" cmpd="sng">
              <a:noFill/>
              <a:prstDash val="solid"/>
              <a:round/>
              <a:headEnd type="none" w="sm" len="sm"/>
              <a:tailEnd type="none" w="sm" len="sm"/>
            </a:ln>
          </p:spPr>
          <p:txBody>
            <a:bodyPr wrap="none" anchor="ctr"/>
            <a:lstStyle/>
            <a:p>
              <a:endParaRPr lang="en-US"/>
            </a:p>
          </p:txBody>
        </p:sp>
        <p:sp>
          <p:nvSpPr>
            <p:cNvPr id="18639" name="Freeform 10"/>
            <p:cNvSpPr>
              <a:spLocks/>
            </p:cNvSpPr>
            <p:nvPr/>
          </p:nvSpPr>
          <p:spPr bwMode="auto">
            <a:xfrm>
              <a:off x="1125" y="1508"/>
              <a:ext cx="32" cy="43"/>
            </a:xfrm>
            <a:custGeom>
              <a:avLst/>
              <a:gdLst>
                <a:gd name="T0" fmla="*/ 1 w 63"/>
                <a:gd name="T1" fmla="*/ 0 h 43"/>
                <a:gd name="T2" fmla="*/ 1 w 63"/>
                <a:gd name="T3" fmla="*/ 0 h 43"/>
                <a:gd name="T4" fmla="*/ 0 w 63"/>
                <a:gd name="T5" fmla="*/ 20 h 43"/>
                <a:gd name="T6" fmla="*/ 1 w 63"/>
                <a:gd name="T7" fmla="*/ 43 h 43"/>
                <a:gd name="T8" fmla="*/ 1 w 63"/>
                <a:gd name="T9" fmla="*/ 37 h 43"/>
                <a:gd name="T10" fmla="*/ 1 w 63"/>
                <a:gd name="T11" fmla="*/ 30 h 43"/>
                <a:gd name="T12" fmla="*/ 1 w 63"/>
                <a:gd name="T13" fmla="*/ 7 h 43"/>
                <a:gd name="T14" fmla="*/ 1 w 63"/>
                <a:gd name="T15" fmla="*/ 14 h 43"/>
                <a:gd name="T16" fmla="*/ 1 w 63"/>
                <a:gd name="T17" fmla="*/ 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
                <a:gd name="T28" fmla="*/ 0 h 43"/>
                <a:gd name="T29" fmla="*/ 63 w 63"/>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 h="43">
                  <a:moveTo>
                    <a:pt x="23" y="0"/>
                  </a:moveTo>
                  <a:lnTo>
                    <a:pt x="23" y="0"/>
                  </a:lnTo>
                  <a:lnTo>
                    <a:pt x="0" y="20"/>
                  </a:lnTo>
                  <a:lnTo>
                    <a:pt x="21" y="43"/>
                  </a:lnTo>
                  <a:lnTo>
                    <a:pt x="42" y="37"/>
                  </a:lnTo>
                  <a:lnTo>
                    <a:pt x="63" y="30"/>
                  </a:lnTo>
                  <a:lnTo>
                    <a:pt x="42" y="7"/>
                  </a:lnTo>
                  <a:lnTo>
                    <a:pt x="21" y="14"/>
                  </a:lnTo>
                  <a:lnTo>
                    <a:pt x="23" y="0"/>
                  </a:lnTo>
                  <a:close/>
                </a:path>
              </a:pathLst>
            </a:custGeom>
            <a:solidFill>
              <a:srgbClr val="000000"/>
            </a:solidFill>
            <a:ln w="9525">
              <a:noFill/>
              <a:round/>
              <a:headEnd/>
              <a:tailEnd/>
            </a:ln>
          </p:spPr>
          <p:txBody>
            <a:bodyPr/>
            <a:lstStyle/>
            <a:p>
              <a:endParaRPr lang="en-US"/>
            </a:p>
          </p:txBody>
        </p:sp>
        <p:sp>
          <p:nvSpPr>
            <p:cNvPr id="18640" name="Freeform 11"/>
            <p:cNvSpPr>
              <a:spLocks/>
            </p:cNvSpPr>
            <p:nvPr/>
          </p:nvSpPr>
          <p:spPr bwMode="auto">
            <a:xfrm>
              <a:off x="1135" y="1538"/>
              <a:ext cx="897" cy="2248"/>
            </a:xfrm>
            <a:custGeom>
              <a:avLst/>
              <a:gdLst>
                <a:gd name="T0" fmla="*/ 0 w 1793"/>
                <a:gd name="T1" fmla="*/ 13 h 2248"/>
                <a:gd name="T2" fmla="*/ 3 w 1793"/>
                <a:gd name="T3" fmla="*/ 686 h 2248"/>
                <a:gd name="T4" fmla="*/ 1 w 1793"/>
                <a:gd name="T5" fmla="*/ 89 h 2248"/>
                <a:gd name="T6" fmla="*/ 1 w 1793"/>
                <a:gd name="T7" fmla="*/ 177 h 2248"/>
                <a:gd name="T8" fmla="*/ 1 w 1793"/>
                <a:gd name="T9" fmla="*/ 312 h 2248"/>
                <a:gd name="T10" fmla="*/ 2 w 1793"/>
                <a:gd name="T11" fmla="*/ 475 h 2248"/>
                <a:gd name="T12" fmla="*/ 3 w 1793"/>
                <a:gd name="T13" fmla="*/ 671 h 2248"/>
                <a:gd name="T14" fmla="*/ 3 w 1793"/>
                <a:gd name="T15" fmla="*/ 867 h 2248"/>
                <a:gd name="T16" fmla="*/ 3 w 1793"/>
                <a:gd name="T17" fmla="*/ 1075 h 2248"/>
                <a:gd name="T18" fmla="*/ 4 w 1793"/>
                <a:gd name="T19" fmla="*/ 1328 h 2248"/>
                <a:gd name="T20" fmla="*/ 4 w 1793"/>
                <a:gd name="T21" fmla="*/ 1566 h 2248"/>
                <a:gd name="T22" fmla="*/ 5 w 1793"/>
                <a:gd name="T23" fmla="*/ 1808 h 2248"/>
                <a:gd name="T24" fmla="*/ 5 w 1793"/>
                <a:gd name="T25" fmla="*/ 2059 h 2248"/>
                <a:gd name="T26" fmla="*/ 8 w 1793"/>
                <a:gd name="T27" fmla="*/ 2248 h 2248"/>
                <a:gd name="T28" fmla="*/ 7 w 1793"/>
                <a:gd name="T29" fmla="*/ 2211 h 2248"/>
                <a:gd name="T30" fmla="*/ 5 w 1793"/>
                <a:gd name="T31" fmla="*/ 2041 h 2248"/>
                <a:gd name="T32" fmla="*/ 5 w 1793"/>
                <a:gd name="T33" fmla="*/ 1806 h 2248"/>
                <a:gd name="T34" fmla="*/ 4 w 1793"/>
                <a:gd name="T35" fmla="*/ 1559 h 2248"/>
                <a:gd name="T36" fmla="*/ 4 w 1793"/>
                <a:gd name="T37" fmla="*/ 1315 h 2248"/>
                <a:gd name="T38" fmla="*/ 4 w 1793"/>
                <a:gd name="T39" fmla="*/ 1098 h 2248"/>
                <a:gd name="T40" fmla="*/ 3 w 1793"/>
                <a:gd name="T41" fmla="*/ 858 h 2248"/>
                <a:gd name="T42" fmla="*/ 3 w 1793"/>
                <a:gd name="T43" fmla="*/ 641 h 2248"/>
                <a:gd name="T44" fmla="*/ 2 w 1793"/>
                <a:gd name="T45" fmla="*/ 464 h 2248"/>
                <a:gd name="T46" fmla="*/ 2 w 1793"/>
                <a:gd name="T47" fmla="*/ 301 h 2248"/>
                <a:gd name="T48" fmla="*/ 1 w 1793"/>
                <a:gd name="T49" fmla="*/ 166 h 2248"/>
                <a:gd name="T50" fmla="*/ 1 w 1793"/>
                <a:gd name="T51" fmla="*/ 52 h 2248"/>
                <a:gd name="T52" fmla="*/ 1 w 1793"/>
                <a:gd name="T53" fmla="*/ 0 h 2248"/>
                <a:gd name="T54" fmla="*/ 1 w 1793"/>
                <a:gd name="T55" fmla="*/ 7 h 2248"/>
                <a:gd name="T56" fmla="*/ 0 w 1793"/>
                <a:gd name="T57" fmla="*/ 13 h 22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93"/>
                <a:gd name="T88" fmla="*/ 0 h 2248"/>
                <a:gd name="T89" fmla="*/ 1793 w 1793"/>
                <a:gd name="T90" fmla="*/ 2248 h 224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93" h="2248">
                  <a:moveTo>
                    <a:pt x="0" y="13"/>
                  </a:moveTo>
                  <a:lnTo>
                    <a:pt x="625" y="686"/>
                  </a:lnTo>
                  <a:lnTo>
                    <a:pt x="69" y="89"/>
                  </a:lnTo>
                  <a:lnTo>
                    <a:pt x="145" y="177"/>
                  </a:lnTo>
                  <a:lnTo>
                    <a:pt x="255" y="312"/>
                  </a:lnTo>
                  <a:lnTo>
                    <a:pt x="380" y="475"/>
                  </a:lnTo>
                  <a:lnTo>
                    <a:pt x="519" y="671"/>
                  </a:lnTo>
                  <a:lnTo>
                    <a:pt x="646" y="867"/>
                  </a:lnTo>
                  <a:lnTo>
                    <a:pt x="764" y="1075"/>
                  </a:lnTo>
                  <a:lnTo>
                    <a:pt x="882" y="1328"/>
                  </a:lnTo>
                  <a:lnTo>
                    <a:pt x="970" y="1566"/>
                  </a:lnTo>
                  <a:lnTo>
                    <a:pt x="1030" y="1808"/>
                  </a:lnTo>
                  <a:lnTo>
                    <a:pt x="1053" y="2059"/>
                  </a:lnTo>
                  <a:lnTo>
                    <a:pt x="1793" y="2248"/>
                  </a:lnTo>
                  <a:lnTo>
                    <a:pt x="1769" y="2211"/>
                  </a:lnTo>
                  <a:lnTo>
                    <a:pt x="1104" y="2041"/>
                  </a:lnTo>
                  <a:lnTo>
                    <a:pt x="1080" y="1806"/>
                  </a:lnTo>
                  <a:lnTo>
                    <a:pt x="1021" y="1559"/>
                  </a:lnTo>
                  <a:lnTo>
                    <a:pt x="932" y="1315"/>
                  </a:lnTo>
                  <a:lnTo>
                    <a:pt x="826" y="1098"/>
                  </a:lnTo>
                  <a:lnTo>
                    <a:pt x="693" y="858"/>
                  </a:lnTo>
                  <a:lnTo>
                    <a:pt x="554" y="641"/>
                  </a:lnTo>
                  <a:lnTo>
                    <a:pt x="426" y="464"/>
                  </a:lnTo>
                  <a:lnTo>
                    <a:pt x="301" y="301"/>
                  </a:lnTo>
                  <a:lnTo>
                    <a:pt x="191" y="166"/>
                  </a:lnTo>
                  <a:lnTo>
                    <a:pt x="92" y="52"/>
                  </a:lnTo>
                  <a:lnTo>
                    <a:pt x="44" y="0"/>
                  </a:lnTo>
                  <a:lnTo>
                    <a:pt x="21" y="7"/>
                  </a:lnTo>
                  <a:lnTo>
                    <a:pt x="0" y="13"/>
                  </a:lnTo>
                  <a:close/>
                </a:path>
              </a:pathLst>
            </a:custGeom>
            <a:solidFill>
              <a:srgbClr val="000000"/>
            </a:solidFill>
            <a:ln w="9525">
              <a:noFill/>
              <a:round/>
              <a:headEnd/>
              <a:tailEnd/>
            </a:ln>
          </p:spPr>
          <p:txBody>
            <a:bodyPr/>
            <a:lstStyle/>
            <a:p>
              <a:endParaRPr lang="en-US"/>
            </a:p>
          </p:txBody>
        </p:sp>
        <p:sp>
          <p:nvSpPr>
            <p:cNvPr id="18641" name="Freeform 12"/>
            <p:cNvSpPr>
              <a:spLocks/>
            </p:cNvSpPr>
            <p:nvPr/>
          </p:nvSpPr>
          <p:spPr bwMode="auto">
            <a:xfrm>
              <a:off x="1133" y="295"/>
              <a:ext cx="2604" cy="1241"/>
            </a:xfrm>
            <a:custGeom>
              <a:avLst/>
              <a:gdLst>
                <a:gd name="T0" fmla="*/ 21 w 5206"/>
                <a:gd name="T1" fmla="*/ 29 h 1241"/>
                <a:gd name="T2" fmla="*/ 21 w 5206"/>
                <a:gd name="T3" fmla="*/ 0 h 1241"/>
                <a:gd name="T4" fmla="*/ 18 w 5206"/>
                <a:gd name="T5" fmla="*/ 89 h 1241"/>
                <a:gd name="T6" fmla="*/ 16 w 5206"/>
                <a:gd name="T7" fmla="*/ 255 h 1241"/>
                <a:gd name="T8" fmla="*/ 15 w 5206"/>
                <a:gd name="T9" fmla="*/ 410 h 1241"/>
                <a:gd name="T10" fmla="*/ 13 w 5206"/>
                <a:gd name="T11" fmla="*/ 542 h 1241"/>
                <a:gd name="T12" fmla="*/ 11 w 5206"/>
                <a:gd name="T13" fmla="*/ 682 h 1241"/>
                <a:gd name="T14" fmla="*/ 9 w 5206"/>
                <a:gd name="T15" fmla="*/ 800 h 1241"/>
                <a:gd name="T16" fmla="*/ 7 w 5206"/>
                <a:gd name="T17" fmla="*/ 902 h 1241"/>
                <a:gd name="T18" fmla="*/ 6 w 5206"/>
                <a:gd name="T19" fmla="*/ 994 h 1241"/>
                <a:gd name="T20" fmla="*/ 4 w 5206"/>
                <a:gd name="T21" fmla="*/ 1076 h 1241"/>
                <a:gd name="T22" fmla="*/ 3 w 5206"/>
                <a:gd name="T23" fmla="*/ 1132 h 1241"/>
                <a:gd name="T24" fmla="*/ 1 w 5206"/>
                <a:gd name="T25" fmla="*/ 1177 h 1241"/>
                <a:gd name="T26" fmla="*/ 1 w 5206"/>
                <a:gd name="T27" fmla="*/ 1201 h 1241"/>
                <a:gd name="T28" fmla="*/ 0 w 5206"/>
                <a:gd name="T29" fmla="*/ 1213 h 1241"/>
                <a:gd name="T30" fmla="*/ 1 w 5206"/>
                <a:gd name="T31" fmla="*/ 1227 h 1241"/>
                <a:gd name="T32" fmla="*/ 1 w 5206"/>
                <a:gd name="T33" fmla="*/ 1241 h 1241"/>
                <a:gd name="T34" fmla="*/ 1 w 5206"/>
                <a:gd name="T35" fmla="*/ 1236 h 1241"/>
                <a:gd name="T36" fmla="*/ 1 w 5206"/>
                <a:gd name="T37" fmla="*/ 1203 h 1241"/>
                <a:gd name="T38" fmla="*/ 3 w 5206"/>
                <a:gd name="T39" fmla="*/ 1158 h 1241"/>
                <a:gd name="T40" fmla="*/ 4 w 5206"/>
                <a:gd name="T41" fmla="*/ 1093 h 1241"/>
                <a:gd name="T42" fmla="*/ 6 w 5206"/>
                <a:gd name="T43" fmla="*/ 1020 h 1241"/>
                <a:gd name="T44" fmla="*/ 7 w 5206"/>
                <a:gd name="T45" fmla="*/ 928 h 1241"/>
                <a:gd name="T46" fmla="*/ 9 w 5206"/>
                <a:gd name="T47" fmla="*/ 819 h 1241"/>
                <a:gd name="T48" fmla="*/ 11 w 5206"/>
                <a:gd name="T49" fmla="*/ 701 h 1241"/>
                <a:gd name="T50" fmla="*/ 13 w 5206"/>
                <a:gd name="T51" fmla="*/ 579 h 1241"/>
                <a:gd name="T52" fmla="*/ 15 w 5206"/>
                <a:gd name="T53" fmla="*/ 427 h 1241"/>
                <a:gd name="T54" fmla="*/ 16 w 5206"/>
                <a:gd name="T55" fmla="*/ 278 h 1241"/>
                <a:gd name="T56" fmla="*/ 18 w 5206"/>
                <a:gd name="T57" fmla="*/ 118 h 1241"/>
                <a:gd name="T58" fmla="*/ 21 w 5206"/>
                <a:gd name="T59" fmla="*/ 29 h 124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206"/>
                <a:gd name="T91" fmla="*/ 0 h 1241"/>
                <a:gd name="T92" fmla="*/ 5206 w 5206"/>
                <a:gd name="T93" fmla="*/ 1241 h 124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206" h="1241">
                  <a:moveTo>
                    <a:pt x="5206" y="29"/>
                  </a:moveTo>
                  <a:lnTo>
                    <a:pt x="5199" y="0"/>
                  </a:lnTo>
                  <a:lnTo>
                    <a:pt x="4369" y="89"/>
                  </a:lnTo>
                  <a:lnTo>
                    <a:pt x="4037" y="255"/>
                  </a:lnTo>
                  <a:lnTo>
                    <a:pt x="3632" y="410"/>
                  </a:lnTo>
                  <a:lnTo>
                    <a:pt x="3223" y="542"/>
                  </a:lnTo>
                  <a:lnTo>
                    <a:pt x="2711" y="682"/>
                  </a:lnTo>
                  <a:lnTo>
                    <a:pt x="2219" y="800"/>
                  </a:lnTo>
                  <a:lnTo>
                    <a:pt x="1754" y="902"/>
                  </a:lnTo>
                  <a:lnTo>
                    <a:pt x="1295" y="994"/>
                  </a:lnTo>
                  <a:lnTo>
                    <a:pt x="853" y="1076"/>
                  </a:lnTo>
                  <a:lnTo>
                    <a:pt x="521" y="1132"/>
                  </a:lnTo>
                  <a:lnTo>
                    <a:pt x="243" y="1177"/>
                  </a:lnTo>
                  <a:lnTo>
                    <a:pt x="96" y="1201"/>
                  </a:lnTo>
                  <a:lnTo>
                    <a:pt x="0" y="1213"/>
                  </a:lnTo>
                  <a:lnTo>
                    <a:pt x="4" y="1227"/>
                  </a:lnTo>
                  <a:lnTo>
                    <a:pt x="8" y="1241"/>
                  </a:lnTo>
                  <a:lnTo>
                    <a:pt x="42" y="1236"/>
                  </a:lnTo>
                  <a:lnTo>
                    <a:pt x="255" y="1203"/>
                  </a:lnTo>
                  <a:lnTo>
                    <a:pt x="533" y="1158"/>
                  </a:lnTo>
                  <a:lnTo>
                    <a:pt x="915" y="1093"/>
                  </a:lnTo>
                  <a:lnTo>
                    <a:pt x="1310" y="1020"/>
                  </a:lnTo>
                  <a:lnTo>
                    <a:pt x="1769" y="928"/>
                  </a:lnTo>
                  <a:lnTo>
                    <a:pt x="2273" y="819"/>
                  </a:lnTo>
                  <a:lnTo>
                    <a:pt x="2761" y="701"/>
                  </a:lnTo>
                  <a:lnTo>
                    <a:pt x="3199" y="579"/>
                  </a:lnTo>
                  <a:lnTo>
                    <a:pt x="3678" y="427"/>
                  </a:lnTo>
                  <a:lnTo>
                    <a:pt x="4064" y="278"/>
                  </a:lnTo>
                  <a:lnTo>
                    <a:pt x="4388" y="118"/>
                  </a:lnTo>
                  <a:lnTo>
                    <a:pt x="5206" y="29"/>
                  </a:lnTo>
                  <a:close/>
                </a:path>
              </a:pathLst>
            </a:custGeom>
            <a:solidFill>
              <a:srgbClr val="000000"/>
            </a:solidFill>
            <a:ln w="9525">
              <a:noFill/>
              <a:round/>
              <a:headEnd/>
              <a:tailEnd/>
            </a:ln>
          </p:spPr>
          <p:txBody>
            <a:bodyPr/>
            <a:lstStyle/>
            <a:p>
              <a:endParaRPr lang="en-US"/>
            </a:p>
          </p:txBody>
        </p:sp>
        <p:sp>
          <p:nvSpPr>
            <p:cNvPr id="18642" name="Freeform 13"/>
            <p:cNvSpPr>
              <a:spLocks/>
            </p:cNvSpPr>
            <p:nvPr/>
          </p:nvSpPr>
          <p:spPr bwMode="auto">
            <a:xfrm>
              <a:off x="1133" y="1508"/>
              <a:ext cx="365" cy="88"/>
            </a:xfrm>
            <a:custGeom>
              <a:avLst/>
              <a:gdLst>
                <a:gd name="T0" fmla="*/ 0 w 1177"/>
                <a:gd name="T1" fmla="*/ 0 h 150"/>
                <a:gd name="T2" fmla="*/ 0 w 1177"/>
                <a:gd name="T3" fmla="*/ 0 h 150"/>
                <a:gd name="T4" fmla="*/ 0 w 1177"/>
                <a:gd name="T5" fmla="*/ 1 h 150"/>
                <a:gd name="T6" fmla="*/ 0 w 1177"/>
                <a:gd name="T7" fmla="*/ 1 h 150"/>
                <a:gd name="T8" fmla="*/ 0 w 1177"/>
                <a:gd name="T9" fmla="*/ 2 h 150"/>
                <a:gd name="T10" fmla="*/ 0 w 1177"/>
                <a:gd name="T11" fmla="*/ 2 h 150"/>
                <a:gd name="T12" fmla="*/ 0 w 1177"/>
                <a:gd name="T13" fmla="*/ 1 h 150"/>
                <a:gd name="T14" fmla="*/ 0 w 1177"/>
                <a:gd name="T15" fmla="*/ 0 h 150"/>
                <a:gd name="T16" fmla="*/ 0 w 1177"/>
                <a:gd name="T17" fmla="*/ 1 h 150"/>
                <a:gd name="T18" fmla="*/ 0 w 1177"/>
                <a:gd name="T19" fmla="*/ 0 h 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77"/>
                <a:gd name="T31" fmla="*/ 0 h 150"/>
                <a:gd name="T32" fmla="*/ 1177 w 1177"/>
                <a:gd name="T33" fmla="*/ 150 h 1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77" h="150">
                  <a:moveTo>
                    <a:pt x="0" y="0"/>
                  </a:moveTo>
                  <a:lnTo>
                    <a:pt x="0" y="0"/>
                  </a:lnTo>
                  <a:lnTo>
                    <a:pt x="2" y="28"/>
                  </a:lnTo>
                  <a:lnTo>
                    <a:pt x="681" y="79"/>
                  </a:lnTo>
                  <a:lnTo>
                    <a:pt x="1177" y="150"/>
                  </a:lnTo>
                  <a:lnTo>
                    <a:pt x="1177" y="121"/>
                  </a:lnTo>
                  <a:lnTo>
                    <a:pt x="700" y="51"/>
                  </a:lnTo>
                  <a:lnTo>
                    <a:pt x="6" y="0"/>
                  </a:lnTo>
                  <a:lnTo>
                    <a:pt x="4" y="14"/>
                  </a:lnTo>
                  <a:lnTo>
                    <a:pt x="0" y="0"/>
                  </a:lnTo>
                  <a:close/>
                </a:path>
              </a:pathLst>
            </a:custGeom>
            <a:solidFill>
              <a:srgbClr val="000000"/>
            </a:solidFill>
            <a:ln w="9525">
              <a:noFill/>
              <a:round/>
              <a:headEnd/>
              <a:tailEnd/>
            </a:ln>
          </p:spPr>
          <p:txBody>
            <a:bodyPr/>
            <a:lstStyle/>
            <a:p>
              <a:endParaRPr lang="en-US"/>
            </a:p>
          </p:txBody>
        </p:sp>
        <p:sp>
          <p:nvSpPr>
            <p:cNvPr id="18643" name="Freeform 14"/>
            <p:cNvSpPr>
              <a:spLocks/>
            </p:cNvSpPr>
            <p:nvPr/>
          </p:nvSpPr>
          <p:spPr bwMode="auto">
            <a:xfrm>
              <a:off x="3722" y="308"/>
              <a:ext cx="259" cy="1907"/>
            </a:xfrm>
            <a:custGeom>
              <a:avLst/>
              <a:gdLst>
                <a:gd name="T0" fmla="*/ 2 w 518"/>
                <a:gd name="T1" fmla="*/ 1907 h 1907"/>
                <a:gd name="T2" fmla="*/ 2 w 518"/>
                <a:gd name="T3" fmla="*/ 1907 h 1907"/>
                <a:gd name="T4" fmla="*/ 2 w 518"/>
                <a:gd name="T5" fmla="*/ 1862 h 1907"/>
                <a:gd name="T6" fmla="*/ 2 w 518"/>
                <a:gd name="T7" fmla="*/ 1750 h 1907"/>
                <a:gd name="T8" fmla="*/ 2 w 518"/>
                <a:gd name="T9" fmla="*/ 1594 h 1907"/>
                <a:gd name="T10" fmla="*/ 2 w 518"/>
                <a:gd name="T11" fmla="*/ 1396 h 1907"/>
                <a:gd name="T12" fmla="*/ 1 w 518"/>
                <a:gd name="T13" fmla="*/ 1175 h 1907"/>
                <a:gd name="T14" fmla="*/ 1 w 518"/>
                <a:gd name="T15" fmla="*/ 940 h 1907"/>
                <a:gd name="T16" fmla="*/ 1 w 518"/>
                <a:gd name="T17" fmla="*/ 707 h 1907"/>
                <a:gd name="T18" fmla="*/ 1 w 518"/>
                <a:gd name="T19" fmla="*/ 487 h 1907"/>
                <a:gd name="T20" fmla="*/ 1 w 518"/>
                <a:gd name="T21" fmla="*/ 294 h 1907"/>
                <a:gd name="T22" fmla="*/ 1 w 518"/>
                <a:gd name="T23" fmla="*/ 139 h 1907"/>
                <a:gd name="T24" fmla="*/ 1 w 518"/>
                <a:gd name="T25" fmla="*/ 37 h 1907"/>
                <a:gd name="T26" fmla="*/ 1 w 518"/>
                <a:gd name="T27" fmla="*/ 0 h 1907"/>
                <a:gd name="T28" fmla="*/ 1 w 518"/>
                <a:gd name="T29" fmla="*/ 2 h 1907"/>
                <a:gd name="T30" fmla="*/ 0 w 518"/>
                <a:gd name="T31" fmla="*/ 3 h 1907"/>
                <a:gd name="T32" fmla="*/ 1 w 518"/>
                <a:gd name="T33" fmla="*/ 40 h 1907"/>
                <a:gd name="T34" fmla="*/ 1 w 518"/>
                <a:gd name="T35" fmla="*/ 142 h 1907"/>
                <a:gd name="T36" fmla="*/ 1 w 518"/>
                <a:gd name="T37" fmla="*/ 296 h 1907"/>
                <a:gd name="T38" fmla="*/ 1 w 518"/>
                <a:gd name="T39" fmla="*/ 489 h 1907"/>
                <a:gd name="T40" fmla="*/ 1 w 518"/>
                <a:gd name="T41" fmla="*/ 709 h 1907"/>
                <a:gd name="T42" fmla="*/ 1 w 518"/>
                <a:gd name="T43" fmla="*/ 942 h 1907"/>
                <a:gd name="T44" fmla="*/ 1 w 518"/>
                <a:gd name="T45" fmla="*/ 1177 h 1907"/>
                <a:gd name="T46" fmla="*/ 1 w 518"/>
                <a:gd name="T47" fmla="*/ 1399 h 1907"/>
                <a:gd name="T48" fmla="*/ 2 w 518"/>
                <a:gd name="T49" fmla="*/ 1596 h 1907"/>
                <a:gd name="T50" fmla="*/ 2 w 518"/>
                <a:gd name="T51" fmla="*/ 1757 h 1907"/>
                <a:gd name="T52" fmla="*/ 2 w 518"/>
                <a:gd name="T53" fmla="*/ 1862 h 1907"/>
                <a:gd name="T54" fmla="*/ 2 w 518"/>
                <a:gd name="T55" fmla="*/ 1907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18"/>
                <a:gd name="T85" fmla="*/ 0 h 1907"/>
                <a:gd name="T86" fmla="*/ 518 w 518"/>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18" h="1907">
                  <a:moveTo>
                    <a:pt x="464" y="1907"/>
                  </a:moveTo>
                  <a:lnTo>
                    <a:pt x="514" y="1907"/>
                  </a:lnTo>
                  <a:lnTo>
                    <a:pt x="518" y="1862"/>
                  </a:lnTo>
                  <a:lnTo>
                    <a:pt x="502" y="1750"/>
                  </a:lnTo>
                  <a:lnTo>
                    <a:pt x="469" y="1594"/>
                  </a:lnTo>
                  <a:lnTo>
                    <a:pt x="423" y="1396"/>
                  </a:lnTo>
                  <a:lnTo>
                    <a:pt x="369" y="1175"/>
                  </a:lnTo>
                  <a:lnTo>
                    <a:pt x="307" y="940"/>
                  </a:lnTo>
                  <a:lnTo>
                    <a:pt x="245" y="707"/>
                  </a:lnTo>
                  <a:lnTo>
                    <a:pt x="186" y="487"/>
                  </a:lnTo>
                  <a:lnTo>
                    <a:pt x="132" y="294"/>
                  </a:lnTo>
                  <a:lnTo>
                    <a:pt x="89" y="139"/>
                  </a:lnTo>
                  <a:lnTo>
                    <a:pt x="60" y="37"/>
                  </a:lnTo>
                  <a:lnTo>
                    <a:pt x="51" y="0"/>
                  </a:lnTo>
                  <a:lnTo>
                    <a:pt x="25" y="2"/>
                  </a:lnTo>
                  <a:lnTo>
                    <a:pt x="0" y="3"/>
                  </a:lnTo>
                  <a:lnTo>
                    <a:pt x="10" y="40"/>
                  </a:lnTo>
                  <a:lnTo>
                    <a:pt x="39" y="142"/>
                  </a:lnTo>
                  <a:lnTo>
                    <a:pt x="81" y="296"/>
                  </a:lnTo>
                  <a:lnTo>
                    <a:pt x="135" y="489"/>
                  </a:lnTo>
                  <a:lnTo>
                    <a:pt x="195" y="709"/>
                  </a:lnTo>
                  <a:lnTo>
                    <a:pt x="257" y="942"/>
                  </a:lnTo>
                  <a:lnTo>
                    <a:pt x="319" y="1177"/>
                  </a:lnTo>
                  <a:lnTo>
                    <a:pt x="373" y="1399"/>
                  </a:lnTo>
                  <a:lnTo>
                    <a:pt x="419" y="1596"/>
                  </a:lnTo>
                  <a:lnTo>
                    <a:pt x="452" y="1757"/>
                  </a:lnTo>
                  <a:lnTo>
                    <a:pt x="467" y="1862"/>
                  </a:lnTo>
                  <a:lnTo>
                    <a:pt x="464" y="1907"/>
                  </a:lnTo>
                  <a:close/>
                </a:path>
              </a:pathLst>
            </a:custGeom>
            <a:solidFill>
              <a:srgbClr val="000000"/>
            </a:solidFill>
            <a:ln w="9525">
              <a:noFill/>
              <a:round/>
              <a:headEnd/>
              <a:tailEnd/>
            </a:ln>
          </p:spPr>
          <p:txBody>
            <a:bodyPr/>
            <a:lstStyle/>
            <a:p>
              <a:endParaRPr lang="en-US"/>
            </a:p>
          </p:txBody>
        </p:sp>
        <p:sp>
          <p:nvSpPr>
            <p:cNvPr id="18644" name="Freeform 15"/>
            <p:cNvSpPr>
              <a:spLocks/>
            </p:cNvSpPr>
            <p:nvPr/>
          </p:nvSpPr>
          <p:spPr bwMode="auto">
            <a:xfrm>
              <a:off x="3722" y="299"/>
              <a:ext cx="25" cy="26"/>
            </a:xfrm>
            <a:custGeom>
              <a:avLst/>
              <a:gdLst>
                <a:gd name="T0" fmla="*/ 0 w 51"/>
                <a:gd name="T1" fmla="*/ 11 h 26"/>
                <a:gd name="T2" fmla="*/ 0 w 51"/>
                <a:gd name="T3" fmla="*/ 21 h 26"/>
                <a:gd name="T4" fmla="*/ 0 w 51"/>
                <a:gd name="T5" fmla="*/ 26 h 26"/>
                <a:gd name="T6" fmla="*/ 0 w 51"/>
                <a:gd name="T7" fmla="*/ 15 h 26"/>
                <a:gd name="T8" fmla="*/ 0 w 51"/>
                <a:gd name="T9" fmla="*/ 4 h 26"/>
                <a:gd name="T10" fmla="*/ 0 w 51"/>
                <a:gd name="T11" fmla="*/ 0 h 26"/>
                <a:gd name="T12" fmla="*/ 0 w 51"/>
                <a:gd name="T13" fmla="*/ 12 h 26"/>
                <a:gd name="T14" fmla="*/ 0 w 51"/>
                <a:gd name="T15" fmla="*/ 12 h 26"/>
                <a:gd name="T16" fmla="*/ 0 w 51"/>
                <a:gd name="T17" fmla="*/ 11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26"/>
                <a:gd name="T29" fmla="*/ 51 w 51"/>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26">
                  <a:moveTo>
                    <a:pt x="25" y="11"/>
                  </a:moveTo>
                  <a:lnTo>
                    <a:pt x="10" y="21"/>
                  </a:lnTo>
                  <a:lnTo>
                    <a:pt x="20" y="26"/>
                  </a:lnTo>
                  <a:lnTo>
                    <a:pt x="35" y="15"/>
                  </a:lnTo>
                  <a:lnTo>
                    <a:pt x="51" y="4"/>
                  </a:lnTo>
                  <a:lnTo>
                    <a:pt x="41" y="0"/>
                  </a:lnTo>
                  <a:lnTo>
                    <a:pt x="0" y="12"/>
                  </a:lnTo>
                  <a:lnTo>
                    <a:pt x="25" y="11"/>
                  </a:lnTo>
                  <a:close/>
                </a:path>
              </a:pathLst>
            </a:custGeom>
            <a:solidFill>
              <a:srgbClr val="000000"/>
            </a:solidFill>
            <a:ln w="9525">
              <a:noFill/>
              <a:round/>
              <a:headEnd/>
              <a:tailEnd/>
            </a:ln>
          </p:spPr>
          <p:txBody>
            <a:bodyPr/>
            <a:lstStyle/>
            <a:p>
              <a:endParaRPr lang="en-US"/>
            </a:p>
          </p:txBody>
        </p:sp>
        <p:sp>
          <p:nvSpPr>
            <p:cNvPr id="18645" name="Freeform 16"/>
            <p:cNvSpPr>
              <a:spLocks/>
            </p:cNvSpPr>
            <p:nvPr/>
          </p:nvSpPr>
          <p:spPr bwMode="auto">
            <a:xfrm>
              <a:off x="3727" y="303"/>
              <a:ext cx="25" cy="11"/>
            </a:xfrm>
            <a:custGeom>
              <a:avLst/>
              <a:gdLst>
                <a:gd name="T0" fmla="*/ 1 w 50"/>
                <a:gd name="T1" fmla="*/ 11 h 11"/>
                <a:gd name="T2" fmla="*/ 0 w 50"/>
                <a:gd name="T3" fmla="*/ 10 h 11"/>
                <a:gd name="T4" fmla="*/ 1 w 50"/>
                <a:gd name="T5" fmla="*/ 4 h 11"/>
                <a:gd name="T6" fmla="*/ 1 w 50"/>
                <a:gd name="T7" fmla="*/ 0 h 11"/>
                <a:gd name="T8" fmla="*/ 1 w 50"/>
                <a:gd name="T9" fmla="*/ 11 h 11"/>
                <a:gd name="T10" fmla="*/ 0 60000 65536"/>
                <a:gd name="T11" fmla="*/ 0 60000 65536"/>
                <a:gd name="T12" fmla="*/ 0 60000 65536"/>
                <a:gd name="T13" fmla="*/ 0 60000 65536"/>
                <a:gd name="T14" fmla="*/ 0 60000 65536"/>
                <a:gd name="T15" fmla="*/ 0 w 50"/>
                <a:gd name="T16" fmla="*/ 0 h 11"/>
                <a:gd name="T17" fmla="*/ 50 w 50"/>
                <a:gd name="T18" fmla="*/ 11 h 11"/>
              </a:gdLst>
              <a:ahLst/>
              <a:cxnLst>
                <a:cxn ang="T10">
                  <a:pos x="T0" y="T1"/>
                </a:cxn>
                <a:cxn ang="T11">
                  <a:pos x="T2" y="T3"/>
                </a:cxn>
                <a:cxn ang="T12">
                  <a:pos x="T4" y="T5"/>
                </a:cxn>
                <a:cxn ang="T13">
                  <a:pos x="T6" y="T7"/>
                </a:cxn>
                <a:cxn ang="T14">
                  <a:pos x="T8" y="T9"/>
                </a:cxn>
              </a:cxnLst>
              <a:rect l="T15" t="T16" r="T17" b="T18"/>
              <a:pathLst>
                <a:path w="50" h="11">
                  <a:moveTo>
                    <a:pt x="25" y="11"/>
                  </a:moveTo>
                  <a:lnTo>
                    <a:pt x="0" y="10"/>
                  </a:lnTo>
                  <a:lnTo>
                    <a:pt x="50" y="4"/>
                  </a:lnTo>
                  <a:lnTo>
                    <a:pt x="41" y="0"/>
                  </a:lnTo>
                  <a:lnTo>
                    <a:pt x="25" y="11"/>
                  </a:lnTo>
                  <a:close/>
                </a:path>
              </a:pathLst>
            </a:custGeom>
            <a:solidFill>
              <a:srgbClr val="000000"/>
            </a:solidFill>
            <a:ln w="9525">
              <a:noFill/>
              <a:round/>
              <a:headEnd/>
              <a:tailEnd/>
            </a:ln>
          </p:spPr>
          <p:txBody>
            <a:bodyPr/>
            <a:lstStyle/>
            <a:p>
              <a:endParaRPr lang="en-US"/>
            </a:p>
          </p:txBody>
        </p:sp>
        <p:sp>
          <p:nvSpPr>
            <p:cNvPr id="18646" name="Freeform 17"/>
            <p:cNvSpPr>
              <a:spLocks/>
            </p:cNvSpPr>
            <p:nvPr/>
          </p:nvSpPr>
          <p:spPr bwMode="auto">
            <a:xfrm>
              <a:off x="1478" y="307"/>
              <a:ext cx="2274" cy="1281"/>
            </a:xfrm>
            <a:custGeom>
              <a:avLst/>
              <a:gdLst>
                <a:gd name="T0" fmla="*/ 18 w 4548"/>
                <a:gd name="T1" fmla="*/ 6 h 1281"/>
                <a:gd name="T2" fmla="*/ 18 w 4548"/>
                <a:gd name="T3" fmla="*/ 17 h 1281"/>
                <a:gd name="T4" fmla="*/ 18 w 4548"/>
                <a:gd name="T5" fmla="*/ 38 h 1281"/>
                <a:gd name="T6" fmla="*/ 18 w 4548"/>
                <a:gd name="T7" fmla="*/ 68 h 1281"/>
                <a:gd name="T8" fmla="*/ 18 w 4548"/>
                <a:gd name="T9" fmla="*/ 112 h 1281"/>
                <a:gd name="T10" fmla="*/ 17 w 4548"/>
                <a:gd name="T11" fmla="*/ 164 h 1281"/>
                <a:gd name="T12" fmla="*/ 17 w 4548"/>
                <a:gd name="T13" fmla="*/ 231 h 1281"/>
                <a:gd name="T14" fmla="*/ 15 w 4548"/>
                <a:gd name="T15" fmla="*/ 306 h 1281"/>
                <a:gd name="T16" fmla="*/ 15 w 4548"/>
                <a:gd name="T17" fmla="*/ 398 h 1281"/>
                <a:gd name="T18" fmla="*/ 14 w 4548"/>
                <a:gd name="T19" fmla="*/ 501 h 1281"/>
                <a:gd name="T20" fmla="*/ 12 w 4548"/>
                <a:gd name="T21" fmla="*/ 632 h 1281"/>
                <a:gd name="T22" fmla="*/ 11 w 4548"/>
                <a:gd name="T23" fmla="*/ 746 h 1281"/>
                <a:gd name="T24" fmla="*/ 9 w 4548"/>
                <a:gd name="T25" fmla="*/ 862 h 1281"/>
                <a:gd name="T26" fmla="*/ 8 w 4548"/>
                <a:gd name="T27" fmla="*/ 975 h 1281"/>
                <a:gd name="T28" fmla="*/ 6 w 4548"/>
                <a:gd name="T29" fmla="*/ 1056 h 1281"/>
                <a:gd name="T30" fmla="*/ 5 w 4548"/>
                <a:gd name="T31" fmla="*/ 1120 h 1281"/>
                <a:gd name="T32" fmla="*/ 5 w 4548"/>
                <a:gd name="T33" fmla="*/ 1165 h 1281"/>
                <a:gd name="T34" fmla="*/ 3 w 4548"/>
                <a:gd name="T35" fmla="*/ 1202 h 1281"/>
                <a:gd name="T36" fmla="*/ 2 w 4548"/>
                <a:gd name="T37" fmla="*/ 1227 h 1281"/>
                <a:gd name="T38" fmla="*/ 1 w 4548"/>
                <a:gd name="T39" fmla="*/ 1242 h 1281"/>
                <a:gd name="T40" fmla="*/ 1 w 4548"/>
                <a:gd name="T41" fmla="*/ 1250 h 1281"/>
                <a:gd name="T42" fmla="*/ 1 w 4548"/>
                <a:gd name="T43" fmla="*/ 1253 h 1281"/>
                <a:gd name="T44" fmla="*/ 1 w 4548"/>
                <a:gd name="T45" fmla="*/ 1253 h 1281"/>
                <a:gd name="T46" fmla="*/ 1 w 4548"/>
                <a:gd name="T47" fmla="*/ 1252 h 1281"/>
                <a:gd name="T48" fmla="*/ 1 w 4548"/>
                <a:gd name="T49" fmla="*/ 1266 h 1281"/>
                <a:gd name="T50" fmla="*/ 0 w 4548"/>
                <a:gd name="T51" fmla="*/ 1280 h 1281"/>
                <a:gd name="T52" fmla="*/ 1 w 4548"/>
                <a:gd name="T53" fmla="*/ 1281 h 1281"/>
                <a:gd name="T54" fmla="*/ 1 w 4548"/>
                <a:gd name="T55" fmla="*/ 1281 h 1281"/>
                <a:gd name="T56" fmla="*/ 1 w 4548"/>
                <a:gd name="T57" fmla="*/ 1278 h 1281"/>
                <a:gd name="T58" fmla="*/ 1 w 4548"/>
                <a:gd name="T59" fmla="*/ 1270 h 1281"/>
                <a:gd name="T60" fmla="*/ 2 w 4548"/>
                <a:gd name="T61" fmla="*/ 1255 h 1281"/>
                <a:gd name="T62" fmla="*/ 3 w 4548"/>
                <a:gd name="T63" fmla="*/ 1230 h 1281"/>
                <a:gd name="T64" fmla="*/ 4 w 4548"/>
                <a:gd name="T65" fmla="*/ 1197 h 1281"/>
                <a:gd name="T66" fmla="*/ 5 w 4548"/>
                <a:gd name="T67" fmla="*/ 1144 h 1281"/>
                <a:gd name="T68" fmla="*/ 7 w 4548"/>
                <a:gd name="T69" fmla="*/ 1078 h 1281"/>
                <a:gd name="T70" fmla="*/ 8 w 4548"/>
                <a:gd name="T71" fmla="*/ 994 h 1281"/>
                <a:gd name="T72" fmla="*/ 9 w 4548"/>
                <a:gd name="T73" fmla="*/ 903 h 1281"/>
                <a:gd name="T74" fmla="*/ 11 w 4548"/>
                <a:gd name="T75" fmla="*/ 769 h 1281"/>
                <a:gd name="T76" fmla="*/ 13 w 4548"/>
                <a:gd name="T77" fmla="*/ 625 h 1281"/>
                <a:gd name="T78" fmla="*/ 14 w 4548"/>
                <a:gd name="T79" fmla="*/ 525 h 1281"/>
                <a:gd name="T80" fmla="*/ 15 w 4548"/>
                <a:gd name="T81" fmla="*/ 422 h 1281"/>
                <a:gd name="T82" fmla="*/ 16 w 4548"/>
                <a:gd name="T83" fmla="*/ 334 h 1281"/>
                <a:gd name="T84" fmla="*/ 17 w 4548"/>
                <a:gd name="T85" fmla="*/ 252 h 1281"/>
                <a:gd name="T86" fmla="*/ 17 w 4548"/>
                <a:gd name="T87" fmla="*/ 186 h 1281"/>
                <a:gd name="T88" fmla="*/ 18 w 4548"/>
                <a:gd name="T89" fmla="*/ 130 h 1281"/>
                <a:gd name="T90" fmla="*/ 18 w 4548"/>
                <a:gd name="T91" fmla="*/ 85 h 1281"/>
                <a:gd name="T92" fmla="*/ 18 w 4548"/>
                <a:gd name="T93" fmla="*/ 49 h 1281"/>
                <a:gd name="T94" fmla="*/ 18 w 4548"/>
                <a:gd name="T95" fmla="*/ 23 h 1281"/>
                <a:gd name="T96" fmla="*/ 18 w 4548"/>
                <a:gd name="T97" fmla="*/ 0 h 1281"/>
                <a:gd name="T98" fmla="*/ 18 w 4548"/>
                <a:gd name="T99" fmla="*/ 6 h 12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548"/>
                <a:gd name="T151" fmla="*/ 0 h 1281"/>
                <a:gd name="T152" fmla="*/ 4548 w 4548"/>
                <a:gd name="T153" fmla="*/ 1281 h 12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548" h="1281">
                  <a:moveTo>
                    <a:pt x="4498" y="6"/>
                  </a:moveTo>
                  <a:lnTo>
                    <a:pt x="4496" y="17"/>
                  </a:lnTo>
                  <a:lnTo>
                    <a:pt x="4479" y="38"/>
                  </a:lnTo>
                  <a:lnTo>
                    <a:pt x="4438" y="68"/>
                  </a:lnTo>
                  <a:lnTo>
                    <a:pt x="4369" y="112"/>
                  </a:lnTo>
                  <a:lnTo>
                    <a:pt x="4270" y="164"/>
                  </a:lnTo>
                  <a:lnTo>
                    <a:pt x="4133" y="231"/>
                  </a:lnTo>
                  <a:lnTo>
                    <a:pt x="3964" y="306"/>
                  </a:lnTo>
                  <a:lnTo>
                    <a:pt x="3736" y="398"/>
                  </a:lnTo>
                  <a:lnTo>
                    <a:pt x="3466" y="501"/>
                  </a:lnTo>
                  <a:lnTo>
                    <a:pt x="3099" y="632"/>
                  </a:lnTo>
                  <a:lnTo>
                    <a:pt x="2763" y="746"/>
                  </a:lnTo>
                  <a:lnTo>
                    <a:pt x="2389" y="862"/>
                  </a:lnTo>
                  <a:lnTo>
                    <a:pt x="1976" y="975"/>
                  </a:lnTo>
                  <a:lnTo>
                    <a:pt x="1627" y="1056"/>
                  </a:lnTo>
                  <a:lnTo>
                    <a:pt x="1310" y="1120"/>
                  </a:lnTo>
                  <a:lnTo>
                    <a:pt x="1050" y="1165"/>
                  </a:lnTo>
                  <a:lnTo>
                    <a:pt x="768" y="1202"/>
                  </a:lnTo>
                  <a:lnTo>
                    <a:pt x="538" y="1227"/>
                  </a:lnTo>
                  <a:lnTo>
                    <a:pt x="353" y="1242"/>
                  </a:lnTo>
                  <a:lnTo>
                    <a:pt x="204" y="1250"/>
                  </a:lnTo>
                  <a:lnTo>
                    <a:pt x="94" y="1253"/>
                  </a:lnTo>
                  <a:lnTo>
                    <a:pt x="27" y="1253"/>
                  </a:lnTo>
                  <a:lnTo>
                    <a:pt x="4" y="1252"/>
                  </a:lnTo>
                  <a:lnTo>
                    <a:pt x="2" y="1266"/>
                  </a:lnTo>
                  <a:lnTo>
                    <a:pt x="0" y="1280"/>
                  </a:lnTo>
                  <a:lnTo>
                    <a:pt x="25" y="1281"/>
                  </a:lnTo>
                  <a:lnTo>
                    <a:pt x="94" y="1281"/>
                  </a:lnTo>
                  <a:lnTo>
                    <a:pt x="204" y="1278"/>
                  </a:lnTo>
                  <a:lnTo>
                    <a:pt x="361" y="1270"/>
                  </a:lnTo>
                  <a:lnTo>
                    <a:pt x="554" y="1255"/>
                  </a:lnTo>
                  <a:lnTo>
                    <a:pt x="776" y="1230"/>
                  </a:lnTo>
                  <a:lnTo>
                    <a:pt x="1015" y="1197"/>
                  </a:lnTo>
                  <a:lnTo>
                    <a:pt x="1341" y="1144"/>
                  </a:lnTo>
                  <a:lnTo>
                    <a:pt x="1669" y="1078"/>
                  </a:lnTo>
                  <a:lnTo>
                    <a:pt x="2022" y="994"/>
                  </a:lnTo>
                  <a:lnTo>
                    <a:pt x="2358" y="903"/>
                  </a:lnTo>
                  <a:lnTo>
                    <a:pt x="2786" y="769"/>
                  </a:lnTo>
                  <a:lnTo>
                    <a:pt x="3211" y="625"/>
                  </a:lnTo>
                  <a:lnTo>
                    <a:pt x="3493" y="525"/>
                  </a:lnTo>
                  <a:lnTo>
                    <a:pt x="3763" y="422"/>
                  </a:lnTo>
                  <a:lnTo>
                    <a:pt x="3979" y="334"/>
                  </a:lnTo>
                  <a:lnTo>
                    <a:pt x="4164" y="252"/>
                  </a:lnTo>
                  <a:lnTo>
                    <a:pt x="4301" y="186"/>
                  </a:lnTo>
                  <a:lnTo>
                    <a:pt x="4407" y="130"/>
                  </a:lnTo>
                  <a:lnTo>
                    <a:pt x="4477" y="85"/>
                  </a:lnTo>
                  <a:lnTo>
                    <a:pt x="4525" y="49"/>
                  </a:lnTo>
                  <a:lnTo>
                    <a:pt x="4546" y="23"/>
                  </a:lnTo>
                  <a:lnTo>
                    <a:pt x="4548" y="0"/>
                  </a:lnTo>
                  <a:lnTo>
                    <a:pt x="4498" y="6"/>
                  </a:lnTo>
                  <a:close/>
                </a:path>
              </a:pathLst>
            </a:custGeom>
            <a:solidFill>
              <a:srgbClr val="000000"/>
            </a:solidFill>
            <a:ln w="9525">
              <a:noFill/>
              <a:round/>
              <a:headEnd/>
              <a:tailEnd/>
            </a:ln>
          </p:spPr>
          <p:txBody>
            <a:bodyPr/>
            <a:lstStyle/>
            <a:p>
              <a:endParaRPr lang="en-US"/>
            </a:p>
          </p:txBody>
        </p:sp>
        <p:sp>
          <p:nvSpPr>
            <p:cNvPr id="18647" name="Freeform 18"/>
            <p:cNvSpPr>
              <a:spLocks/>
            </p:cNvSpPr>
            <p:nvPr/>
          </p:nvSpPr>
          <p:spPr bwMode="auto">
            <a:xfrm>
              <a:off x="1460" y="1558"/>
              <a:ext cx="581" cy="2221"/>
            </a:xfrm>
            <a:custGeom>
              <a:avLst/>
              <a:gdLst>
                <a:gd name="T0" fmla="*/ 0 w 1164"/>
                <a:gd name="T1" fmla="*/ 1 h 2221"/>
                <a:gd name="T2" fmla="*/ 0 w 1164"/>
                <a:gd name="T3" fmla="*/ 0 h 2221"/>
                <a:gd name="T4" fmla="*/ 0 w 1164"/>
                <a:gd name="T5" fmla="*/ 52 h 2221"/>
                <a:gd name="T6" fmla="*/ 0 w 1164"/>
                <a:gd name="T7" fmla="*/ 140 h 2221"/>
                <a:gd name="T8" fmla="*/ 0 w 1164"/>
                <a:gd name="T9" fmla="*/ 275 h 2221"/>
                <a:gd name="T10" fmla="*/ 1 w 1164"/>
                <a:gd name="T11" fmla="*/ 465 h 2221"/>
                <a:gd name="T12" fmla="*/ 1 w 1164"/>
                <a:gd name="T13" fmla="*/ 653 h 2221"/>
                <a:gd name="T14" fmla="*/ 2 w 1164"/>
                <a:gd name="T15" fmla="*/ 877 h 2221"/>
                <a:gd name="T16" fmla="*/ 2 w 1164"/>
                <a:gd name="T17" fmla="*/ 1128 h 2221"/>
                <a:gd name="T18" fmla="*/ 3 w 1164"/>
                <a:gd name="T19" fmla="*/ 1337 h 2221"/>
                <a:gd name="T20" fmla="*/ 3 w 1164"/>
                <a:gd name="T21" fmla="*/ 1604 h 2221"/>
                <a:gd name="T22" fmla="*/ 4 w 1164"/>
                <a:gd name="T23" fmla="*/ 1829 h 2221"/>
                <a:gd name="T24" fmla="*/ 4 w 1164"/>
                <a:gd name="T25" fmla="*/ 2033 h 2221"/>
                <a:gd name="T26" fmla="*/ 4 w 1164"/>
                <a:gd name="T27" fmla="*/ 2209 h 2221"/>
                <a:gd name="T28" fmla="*/ 4 w 1164"/>
                <a:gd name="T29" fmla="*/ 2221 h 2221"/>
                <a:gd name="T30" fmla="*/ 4 w 1164"/>
                <a:gd name="T31" fmla="*/ 2185 h 2221"/>
                <a:gd name="T32" fmla="*/ 4 w 1164"/>
                <a:gd name="T33" fmla="*/ 2031 h 2221"/>
                <a:gd name="T34" fmla="*/ 4 w 1164"/>
                <a:gd name="T35" fmla="*/ 1823 h 2221"/>
                <a:gd name="T36" fmla="*/ 4 w 1164"/>
                <a:gd name="T37" fmla="*/ 1591 h 2221"/>
                <a:gd name="T38" fmla="*/ 3 w 1164"/>
                <a:gd name="T39" fmla="*/ 1378 h 2221"/>
                <a:gd name="T40" fmla="*/ 3 w 1164"/>
                <a:gd name="T41" fmla="*/ 1098 h 2221"/>
                <a:gd name="T42" fmla="*/ 2 w 1164"/>
                <a:gd name="T43" fmla="*/ 869 h 2221"/>
                <a:gd name="T44" fmla="*/ 2 w 1164"/>
                <a:gd name="T45" fmla="*/ 644 h 2221"/>
                <a:gd name="T46" fmla="*/ 1 w 1164"/>
                <a:gd name="T47" fmla="*/ 421 h 2221"/>
                <a:gd name="T48" fmla="*/ 0 w 1164"/>
                <a:gd name="T49" fmla="*/ 264 h 2221"/>
                <a:gd name="T50" fmla="*/ 0 w 1164"/>
                <a:gd name="T51" fmla="*/ 129 h 2221"/>
                <a:gd name="T52" fmla="*/ 0 w 1164"/>
                <a:gd name="T53" fmla="*/ 41 h 2221"/>
                <a:gd name="T54" fmla="*/ 0 w 1164"/>
                <a:gd name="T55" fmla="*/ 9 h 2221"/>
                <a:gd name="T56" fmla="*/ 0 w 1164"/>
                <a:gd name="T57" fmla="*/ 15 h 2221"/>
                <a:gd name="T58" fmla="*/ 0 w 1164"/>
                <a:gd name="T59" fmla="*/ 1 h 22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64"/>
                <a:gd name="T91" fmla="*/ 0 h 2221"/>
                <a:gd name="T92" fmla="*/ 1164 w 1164"/>
                <a:gd name="T93" fmla="*/ 2221 h 22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64" h="2221">
                  <a:moveTo>
                    <a:pt x="41" y="1"/>
                  </a:moveTo>
                  <a:lnTo>
                    <a:pt x="0" y="0"/>
                  </a:lnTo>
                  <a:lnTo>
                    <a:pt x="41" y="52"/>
                  </a:lnTo>
                  <a:lnTo>
                    <a:pt x="106" y="140"/>
                  </a:lnTo>
                  <a:lnTo>
                    <a:pt x="205" y="275"/>
                  </a:lnTo>
                  <a:lnTo>
                    <a:pt x="340" y="465"/>
                  </a:lnTo>
                  <a:lnTo>
                    <a:pt x="465" y="653"/>
                  </a:lnTo>
                  <a:lnTo>
                    <a:pt x="610" y="877"/>
                  </a:lnTo>
                  <a:lnTo>
                    <a:pt x="757" y="1128"/>
                  </a:lnTo>
                  <a:lnTo>
                    <a:pt x="870" y="1337"/>
                  </a:lnTo>
                  <a:lnTo>
                    <a:pt x="990" y="1604"/>
                  </a:lnTo>
                  <a:lnTo>
                    <a:pt x="1071" y="1829"/>
                  </a:lnTo>
                  <a:lnTo>
                    <a:pt x="1114" y="2033"/>
                  </a:lnTo>
                  <a:lnTo>
                    <a:pt x="1108" y="2209"/>
                  </a:lnTo>
                  <a:lnTo>
                    <a:pt x="1145" y="2221"/>
                  </a:lnTo>
                  <a:lnTo>
                    <a:pt x="1158" y="2185"/>
                  </a:lnTo>
                  <a:lnTo>
                    <a:pt x="1164" y="2031"/>
                  </a:lnTo>
                  <a:lnTo>
                    <a:pt x="1121" y="1823"/>
                  </a:lnTo>
                  <a:lnTo>
                    <a:pt x="1040" y="1591"/>
                  </a:lnTo>
                  <a:lnTo>
                    <a:pt x="940" y="1378"/>
                  </a:lnTo>
                  <a:lnTo>
                    <a:pt x="791" y="1098"/>
                  </a:lnTo>
                  <a:lnTo>
                    <a:pt x="656" y="869"/>
                  </a:lnTo>
                  <a:lnTo>
                    <a:pt x="512" y="644"/>
                  </a:lnTo>
                  <a:lnTo>
                    <a:pt x="363" y="421"/>
                  </a:lnTo>
                  <a:lnTo>
                    <a:pt x="251" y="264"/>
                  </a:lnTo>
                  <a:lnTo>
                    <a:pt x="153" y="129"/>
                  </a:lnTo>
                  <a:lnTo>
                    <a:pt x="87" y="41"/>
                  </a:lnTo>
                  <a:lnTo>
                    <a:pt x="62" y="9"/>
                  </a:lnTo>
                  <a:lnTo>
                    <a:pt x="39" y="15"/>
                  </a:lnTo>
                  <a:lnTo>
                    <a:pt x="41" y="1"/>
                  </a:lnTo>
                  <a:close/>
                </a:path>
              </a:pathLst>
            </a:custGeom>
            <a:solidFill>
              <a:srgbClr val="000000"/>
            </a:solidFill>
            <a:ln w="9525">
              <a:noFill/>
              <a:round/>
              <a:headEnd/>
              <a:tailEnd/>
            </a:ln>
          </p:spPr>
          <p:txBody>
            <a:bodyPr/>
            <a:lstStyle/>
            <a:p>
              <a:endParaRPr lang="en-US"/>
            </a:p>
          </p:txBody>
        </p:sp>
        <p:sp>
          <p:nvSpPr>
            <p:cNvPr id="18648" name="Freeform 19"/>
            <p:cNvSpPr>
              <a:spLocks/>
            </p:cNvSpPr>
            <p:nvPr/>
          </p:nvSpPr>
          <p:spPr bwMode="auto">
            <a:xfrm>
              <a:off x="2032" y="2208"/>
              <a:ext cx="1947" cy="1571"/>
            </a:xfrm>
            <a:custGeom>
              <a:avLst/>
              <a:gdLst>
                <a:gd name="T0" fmla="*/ 0 w 3894"/>
                <a:gd name="T1" fmla="*/ 1571 h 1571"/>
                <a:gd name="T2" fmla="*/ 1 w 3894"/>
                <a:gd name="T3" fmla="*/ 1554 h 1571"/>
                <a:gd name="T4" fmla="*/ 1 w 3894"/>
                <a:gd name="T5" fmla="*/ 1505 h 1571"/>
                <a:gd name="T6" fmla="*/ 2 w 3894"/>
                <a:gd name="T7" fmla="*/ 1428 h 1571"/>
                <a:gd name="T8" fmla="*/ 4 w 3894"/>
                <a:gd name="T9" fmla="*/ 1269 h 1571"/>
                <a:gd name="T10" fmla="*/ 5 w 3894"/>
                <a:gd name="T11" fmla="*/ 1201 h 1571"/>
                <a:gd name="T12" fmla="*/ 6 w 3894"/>
                <a:gd name="T13" fmla="*/ 1060 h 1571"/>
                <a:gd name="T14" fmla="*/ 8 w 3894"/>
                <a:gd name="T15" fmla="*/ 903 h 1571"/>
                <a:gd name="T16" fmla="*/ 9 w 3894"/>
                <a:gd name="T17" fmla="*/ 735 h 1571"/>
                <a:gd name="T18" fmla="*/ 11 w 3894"/>
                <a:gd name="T19" fmla="*/ 562 h 1571"/>
                <a:gd name="T20" fmla="*/ 13 w 3894"/>
                <a:gd name="T21" fmla="*/ 377 h 1571"/>
                <a:gd name="T22" fmla="*/ 14 w 3894"/>
                <a:gd name="T23" fmla="*/ 196 h 1571"/>
                <a:gd name="T24" fmla="*/ 15 w 3894"/>
                <a:gd name="T25" fmla="*/ 13 h 1571"/>
                <a:gd name="T26" fmla="*/ 15 w 3894"/>
                <a:gd name="T27" fmla="*/ 7 h 1571"/>
                <a:gd name="T28" fmla="*/ 15 w 3894"/>
                <a:gd name="T29" fmla="*/ 0 h 1571"/>
                <a:gd name="T30" fmla="*/ 14 w 3894"/>
                <a:gd name="T31" fmla="*/ 174 h 1571"/>
                <a:gd name="T32" fmla="*/ 13 w 3894"/>
                <a:gd name="T33" fmla="*/ 356 h 1571"/>
                <a:gd name="T34" fmla="*/ 11 w 3894"/>
                <a:gd name="T35" fmla="*/ 532 h 1571"/>
                <a:gd name="T36" fmla="*/ 9 w 3894"/>
                <a:gd name="T37" fmla="*/ 711 h 1571"/>
                <a:gd name="T38" fmla="*/ 8 w 3894"/>
                <a:gd name="T39" fmla="*/ 879 h 1571"/>
                <a:gd name="T40" fmla="*/ 6 w 3894"/>
                <a:gd name="T41" fmla="*/ 1036 h 1571"/>
                <a:gd name="T42" fmla="*/ 5 w 3894"/>
                <a:gd name="T43" fmla="*/ 1177 h 1571"/>
                <a:gd name="T44" fmla="*/ 3 w 3894"/>
                <a:gd name="T45" fmla="*/ 1356 h 1571"/>
                <a:gd name="T46" fmla="*/ 2 w 3894"/>
                <a:gd name="T47" fmla="*/ 1404 h 1571"/>
                <a:gd name="T48" fmla="*/ 1 w 3894"/>
                <a:gd name="T49" fmla="*/ 1481 h 1571"/>
                <a:gd name="T50" fmla="*/ 1 w 3894"/>
                <a:gd name="T51" fmla="*/ 1530 h 1571"/>
                <a:gd name="T52" fmla="*/ 1 w 3894"/>
                <a:gd name="T53" fmla="*/ 1535 h 1571"/>
                <a:gd name="T54" fmla="*/ 0 w 3894"/>
                <a:gd name="T55" fmla="*/ 1571 h 15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894"/>
                <a:gd name="T85" fmla="*/ 0 h 1571"/>
                <a:gd name="T86" fmla="*/ 3894 w 3894"/>
                <a:gd name="T87" fmla="*/ 1571 h 15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894" h="1571">
                  <a:moveTo>
                    <a:pt x="0" y="1571"/>
                  </a:moveTo>
                  <a:lnTo>
                    <a:pt x="52" y="1554"/>
                  </a:lnTo>
                  <a:lnTo>
                    <a:pt x="196" y="1505"/>
                  </a:lnTo>
                  <a:lnTo>
                    <a:pt x="422" y="1428"/>
                  </a:lnTo>
                  <a:lnTo>
                    <a:pt x="872" y="1269"/>
                  </a:lnTo>
                  <a:lnTo>
                    <a:pt x="1061" y="1201"/>
                  </a:lnTo>
                  <a:lnTo>
                    <a:pt x="1447" y="1060"/>
                  </a:lnTo>
                  <a:lnTo>
                    <a:pt x="1860" y="903"/>
                  </a:lnTo>
                  <a:lnTo>
                    <a:pt x="2288" y="735"/>
                  </a:lnTo>
                  <a:lnTo>
                    <a:pt x="2709" y="562"/>
                  </a:lnTo>
                  <a:lnTo>
                    <a:pt x="3137" y="377"/>
                  </a:lnTo>
                  <a:lnTo>
                    <a:pt x="3529" y="196"/>
                  </a:lnTo>
                  <a:lnTo>
                    <a:pt x="3892" y="13"/>
                  </a:lnTo>
                  <a:lnTo>
                    <a:pt x="3894" y="7"/>
                  </a:lnTo>
                  <a:lnTo>
                    <a:pt x="3845" y="0"/>
                  </a:lnTo>
                  <a:lnTo>
                    <a:pt x="3498" y="174"/>
                  </a:lnTo>
                  <a:lnTo>
                    <a:pt x="3106" y="356"/>
                  </a:lnTo>
                  <a:lnTo>
                    <a:pt x="2701" y="532"/>
                  </a:lnTo>
                  <a:lnTo>
                    <a:pt x="2261" y="711"/>
                  </a:lnTo>
                  <a:lnTo>
                    <a:pt x="1833" y="879"/>
                  </a:lnTo>
                  <a:lnTo>
                    <a:pt x="1420" y="1036"/>
                  </a:lnTo>
                  <a:lnTo>
                    <a:pt x="1034" y="1177"/>
                  </a:lnTo>
                  <a:lnTo>
                    <a:pt x="532" y="1356"/>
                  </a:lnTo>
                  <a:lnTo>
                    <a:pt x="399" y="1404"/>
                  </a:lnTo>
                  <a:lnTo>
                    <a:pt x="173" y="1481"/>
                  </a:lnTo>
                  <a:lnTo>
                    <a:pt x="28" y="1530"/>
                  </a:lnTo>
                  <a:lnTo>
                    <a:pt x="13" y="1535"/>
                  </a:lnTo>
                  <a:lnTo>
                    <a:pt x="0" y="1571"/>
                  </a:lnTo>
                  <a:close/>
                </a:path>
              </a:pathLst>
            </a:custGeom>
            <a:solidFill>
              <a:srgbClr val="000000"/>
            </a:solidFill>
            <a:ln w="9525">
              <a:noFill/>
              <a:round/>
              <a:headEnd/>
              <a:tailEnd/>
            </a:ln>
          </p:spPr>
          <p:txBody>
            <a:bodyPr/>
            <a:lstStyle/>
            <a:p>
              <a:endParaRPr lang="en-US"/>
            </a:p>
          </p:txBody>
        </p:sp>
        <p:sp>
          <p:nvSpPr>
            <p:cNvPr id="18649" name="Freeform 20"/>
            <p:cNvSpPr>
              <a:spLocks/>
            </p:cNvSpPr>
            <p:nvPr/>
          </p:nvSpPr>
          <p:spPr bwMode="auto">
            <a:xfrm>
              <a:off x="1488" y="1488"/>
              <a:ext cx="648" cy="492"/>
            </a:xfrm>
            <a:custGeom>
              <a:avLst/>
              <a:gdLst>
                <a:gd name="T0" fmla="*/ 546 w 648"/>
                <a:gd name="T1" fmla="*/ 0 h 492"/>
                <a:gd name="T2" fmla="*/ 405 w 648"/>
                <a:gd name="T3" fmla="*/ 36 h 492"/>
                <a:gd name="T4" fmla="*/ 264 w 648"/>
                <a:gd name="T5" fmla="*/ 66 h 492"/>
                <a:gd name="T6" fmla="*/ 99 w 648"/>
                <a:gd name="T7" fmla="*/ 90 h 492"/>
                <a:gd name="T8" fmla="*/ 0 w 648"/>
                <a:gd name="T9" fmla="*/ 93 h 492"/>
                <a:gd name="T10" fmla="*/ 147 w 648"/>
                <a:gd name="T11" fmla="*/ 492 h 492"/>
                <a:gd name="T12" fmla="*/ 360 w 648"/>
                <a:gd name="T13" fmla="*/ 414 h 492"/>
                <a:gd name="T14" fmla="*/ 648 w 648"/>
                <a:gd name="T15" fmla="*/ 273 h 492"/>
                <a:gd name="T16" fmla="*/ 624 w 648"/>
                <a:gd name="T17" fmla="*/ 168 h 492"/>
                <a:gd name="T18" fmla="*/ 612 w 648"/>
                <a:gd name="T19" fmla="*/ 123 h 492"/>
                <a:gd name="T20" fmla="*/ 588 w 648"/>
                <a:gd name="T21" fmla="*/ 63 h 492"/>
                <a:gd name="T22" fmla="*/ 546 w 648"/>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492"/>
                <a:gd name="T38" fmla="*/ 648 w 648"/>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492">
                  <a:moveTo>
                    <a:pt x="546" y="0"/>
                  </a:moveTo>
                  <a:lnTo>
                    <a:pt x="405" y="36"/>
                  </a:lnTo>
                  <a:lnTo>
                    <a:pt x="264" y="66"/>
                  </a:lnTo>
                  <a:lnTo>
                    <a:pt x="99" y="90"/>
                  </a:lnTo>
                  <a:lnTo>
                    <a:pt x="0" y="93"/>
                  </a:lnTo>
                  <a:lnTo>
                    <a:pt x="147" y="492"/>
                  </a:lnTo>
                  <a:lnTo>
                    <a:pt x="360" y="414"/>
                  </a:lnTo>
                  <a:lnTo>
                    <a:pt x="648" y="273"/>
                  </a:lnTo>
                  <a:lnTo>
                    <a:pt x="624" y="168"/>
                  </a:lnTo>
                  <a:lnTo>
                    <a:pt x="612" y="123"/>
                  </a:lnTo>
                  <a:lnTo>
                    <a:pt x="588" y="63"/>
                  </a:lnTo>
                  <a:lnTo>
                    <a:pt x="546"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8650" name="Freeform 21"/>
            <p:cNvSpPr>
              <a:spLocks/>
            </p:cNvSpPr>
            <p:nvPr/>
          </p:nvSpPr>
          <p:spPr bwMode="auto">
            <a:xfrm>
              <a:off x="2049" y="1278"/>
              <a:ext cx="597" cy="477"/>
            </a:xfrm>
            <a:custGeom>
              <a:avLst/>
              <a:gdLst>
                <a:gd name="T0" fmla="*/ 465 w 597"/>
                <a:gd name="T1" fmla="*/ 0 h 477"/>
                <a:gd name="T2" fmla="*/ 249 w 597"/>
                <a:gd name="T3" fmla="*/ 105 h 477"/>
                <a:gd name="T4" fmla="*/ 0 w 597"/>
                <a:gd name="T5" fmla="*/ 207 h 477"/>
                <a:gd name="T6" fmla="*/ 27 w 597"/>
                <a:gd name="T7" fmla="*/ 258 h 477"/>
                <a:gd name="T8" fmla="*/ 57 w 597"/>
                <a:gd name="T9" fmla="*/ 315 h 477"/>
                <a:gd name="T10" fmla="*/ 75 w 597"/>
                <a:gd name="T11" fmla="*/ 384 h 477"/>
                <a:gd name="T12" fmla="*/ 99 w 597"/>
                <a:gd name="T13" fmla="*/ 477 h 477"/>
                <a:gd name="T14" fmla="*/ 366 w 597"/>
                <a:gd name="T15" fmla="*/ 348 h 477"/>
                <a:gd name="T16" fmla="*/ 597 w 597"/>
                <a:gd name="T17" fmla="*/ 219 h 477"/>
                <a:gd name="T18" fmla="*/ 567 w 597"/>
                <a:gd name="T19" fmla="*/ 120 h 477"/>
                <a:gd name="T20" fmla="*/ 519 w 597"/>
                <a:gd name="T21" fmla="*/ 54 h 477"/>
                <a:gd name="T22" fmla="*/ 465 w 597"/>
                <a:gd name="T23" fmla="*/ 0 h 4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97"/>
                <a:gd name="T37" fmla="*/ 0 h 477"/>
                <a:gd name="T38" fmla="*/ 597 w 597"/>
                <a:gd name="T39" fmla="*/ 477 h 4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97" h="477">
                  <a:moveTo>
                    <a:pt x="465" y="0"/>
                  </a:moveTo>
                  <a:lnTo>
                    <a:pt x="249" y="105"/>
                  </a:lnTo>
                  <a:lnTo>
                    <a:pt x="0" y="207"/>
                  </a:lnTo>
                  <a:lnTo>
                    <a:pt x="27" y="258"/>
                  </a:lnTo>
                  <a:lnTo>
                    <a:pt x="57" y="315"/>
                  </a:lnTo>
                  <a:lnTo>
                    <a:pt x="75" y="384"/>
                  </a:lnTo>
                  <a:lnTo>
                    <a:pt x="99" y="477"/>
                  </a:lnTo>
                  <a:lnTo>
                    <a:pt x="366" y="348"/>
                  </a:lnTo>
                  <a:lnTo>
                    <a:pt x="597" y="219"/>
                  </a:lnTo>
                  <a:lnTo>
                    <a:pt x="567" y="120"/>
                  </a:lnTo>
                  <a:lnTo>
                    <a:pt x="519" y="54"/>
                  </a:lnTo>
                  <a:lnTo>
                    <a:pt x="4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51" name="Freeform 22"/>
            <p:cNvSpPr>
              <a:spLocks/>
            </p:cNvSpPr>
            <p:nvPr/>
          </p:nvSpPr>
          <p:spPr bwMode="auto">
            <a:xfrm>
              <a:off x="2526" y="1005"/>
              <a:ext cx="585" cy="486"/>
            </a:xfrm>
            <a:custGeom>
              <a:avLst/>
              <a:gdLst>
                <a:gd name="T0" fmla="*/ 447 w 585"/>
                <a:gd name="T1" fmla="*/ 0 h 486"/>
                <a:gd name="T2" fmla="*/ 261 w 585"/>
                <a:gd name="T3" fmla="*/ 120 h 486"/>
                <a:gd name="T4" fmla="*/ 0 w 585"/>
                <a:gd name="T5" fmla="*/ 264 h 486"/>
                <a:gd name="T6" fmla="*/ 48 w 585"/>
                <a:gd name="T7" fmla="*/ 318 h 486"/>
                <a:gd name="T8" fmla="*/ 93 w 585"/>
                <a:gd name="T9" fmla="*/ 384 h 486"/>
                <a:gd name="T10" fmla="*/ 132 w 585"/>
                <a:gd name="T11" fmla="*/ 486 h 486"/>
                <a:gd name="T12" fmla="*/ 363 w 585"/>
                <a:gd name="T13" fmla="*/ 348 h 486"/>
                <a:gd name="T14" fmla="*/ 585 w 585"/>
                <a:gd name="T15" fmla="*/ 210 h 486"/>
                <a:gd name="T16" fmla="*/ 528 w 585"/>
                <a:gd name="T17" fmla="*/ 102 h 486"/>
                <a:gd name="T18" fmla="*/ 486 w 585"/>
                <a:gd name="T19" fmla="*/ 51 h 486"/>
                <a:gd name="T20" fmla="*/ 447 w 585"/>
                <a:gd name="T21" fmla="*/ 0 h 4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5"/>
                <a:gd name="T34" fmla="*/ 0 h 486"/>
                <a:gd name="T35" fmla="*/ 585 w 585"/>
                <a:gd name="T36" fmla="*/ 486 h 4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5" h="486">
                  <a:moveTo>
                    <a:pt x="447" y="0"/>
                  </a:moveTo>
                  <a:lnTo>
                    <a:pt x="261" y="120"/>
                  </a:lnTo>
                  <a:lnTo>
                    <a:pt x="0" y="264"/>
                  </a:lnTo>
                  <a:lnTo>
                    <a:pt x="48" y="318"/>
                  </a:lnTo>
                  <a:lnTo>
                    <a:pt x="93" y="384"/>
                  </a:lnTo>
                  <a:lnTo>
                    <a:pt x="132" y="486"/>
                  </a:lnTo>
                  <a:lnTo>
                    <a:pt x="363" y="348"/>
                  </a:lnTo>
                  <a:lnTo>
                    <a:pt x="585" y="210"/>
                  </a:lnTo>
                  <a:lnTo>
                    <a:pt x="528" y="102"/>
                  </a:lnTo>
                  <a:lnTo>
                    <a:pt x="486" y="51"/>
                  </a:lnTo>
                  <a:lnTo>
                    <a:pt x="447"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8652" name="Freeform 23"/>
            <p:cNvSpPr>
              <a:spLocks/>
            </p:cNvSpPr>
            <p:nvPr/>
          </p:nvSpPr>
          <p:spPr bwMode="auto">
            <a:xfrm>
              <a:off x="2988" y="723"/>
              <a:ext cx="531" cy="483"/>
            </a:xfrm>
            <a:custGeom>
              <a:avLst/>
              <a:gdLst>
                <a:gd name="T0" fmla="*/ 372 w 531"/>
                <a:gd name="T1" fmla="*/ 0 h 483"/>
                <a:gd name="T2" fmla="*/ 198 w 531"/>
                <a:gd name="T3" fmla="*/ 132 h 483"/>
                <a:gd name="T4" fmla="*/ 0 w 531"/>
                <a:gd name="T5" fmla="*/ 273 h 483"/>
                <a:gd name="T6" fmla="*/ 33 w 531"/>
                <a:gd name="T7" fmla="*/ 321 h 483"/>
                <a:gd name="T8" fmla="*/ 78 w 531"/>
                <a:gd name="T9" fmla="*/ 381 h 483"/>
                <a:gd name="T10" fmla="*/ 108 w 531"/>
                <a:gd name="T11" fmla="*/ 423 h 483"/>
                <a:gd name="T12" fmla="*/ 135 w 531"/>
                <a:gd name="T13" fmla="*/ 483 h 483"/>
                <a:gd name="T14" fmla="*/ 351 w 531"/>
                <a:gd name="T15" fmla="*/ 345 h 483"/>
                <a:gd name="T16" fmla="*/ 531 w 531"/>
                <a:gd name="T17" fmla="*/ 234 h 483"/>
                <a:gd name="T18" fmla="*/ 468 w 531"/>
                <a:gd name="T19" fmla="*/ 111 h 483"/>
                <a:gd name="T20" fmla="*/ 435 w 531"/>
                <a:gd name="T21" fmla="*/ 54 h 483"/>
                <a:gd name="T22" fmla="*/ 372 w 531"/>
                <a:gd name="T23" fmla="*/ 0 h 4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483"/>
                <a:gd name="T38" fmla="*/ 531 w 531"/>
                <a:gd name="T39" fmla="*/ 483 h 4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483">
                  <a:moveTo>
                    <a:pt x="372" y="0"/>
                  </a:moveTo>
                  <a:lnTo>
                    <a:pt x="198" y="132"/>
                  </a:lnTo>
                  <a:lnTo>
                    <a:pt x="0" y="273"/>
                  </a:lnTo>
                  <a:lnTo>
                    <a:pt x="33" y="321"/>
                  </a:lnTo>
                  <a:lnTo>
                    <a:pt x="78" y="381"/>
                  </a:lnTo>
                  <a:lnTo>
                    <a:pt x="108" y="423"/>
                  </a:lnTo>
                  <a:lnTo>
                    <a:pt x="135" y="483"/>
                  </a:lnTo>
                  <a:lnTo>
                    <a:pt x="351" y="345"/>
                  </a:lnTo>
                  <a:lnTo>
                    <a:pt x="531" y="234"/>
                  </a:lnTo>
                  <a:lnTo>
                    <a:pt x="468" y="111"/>
                  </a:lnTo>
                  <a:lnTo>
                    <a:pt x="435" y="54"/>
                  </a:lnTo>
                  <a:lnTo>
                    <a:pt x="372"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53" name="Freeform 24"/>
            <p:cNvSpPr>
              <a:spLocks/>
            </p:cNvSpPr>
            <p:nvPr/>
          </p:nvSpPr>
          <p:spPr bwMode="auto">
            <a:xfrm>
              <a:off x="3369" y="363"/>
              <a:ext cx="417" cy="585"/>
            </a:xfrm>
            <a:custGeom>
              <a:avLst/>
              <a:gdLst>
                <a:gd name="T0" fmla="*/ 363 w 417"/>
                <a:gd name="T1" fmla="*/ 0 h 585"/>
                <a:gd name="T2" fmla="*/ 207 w 417"/>
                <a:gd name="T3" fmla="*/ 171 h 585"/>
                <a:gd name="T4" fmla="*/ 0 w 417"/>
                <a:gd name="T5" fmla="*/ 345 h 585"/>
                <a:gd name="T6" fmla="*/ 57 w 417"/>
                <a:gd name="T7" fmla="*/ 393 h 585"/>
                <a:gd name="T8" fmla="*/ 99 w 417"/>
                <a:gd name="T9" fmla="*/ 462 h 585"/>
                <a:gd name="T10" fmla="*/ 162 w 417"/>
                <a:gd name="T11" fmla="*/ 585 h 585"/>
                <a:gd name="T12" fmla="*/ 369 w 417"/>
                <a:gd name="T13" fmla="*/ 447 h 585"/>
                <a:gd name="T14" fmla="*/ 417 w 417"/>
                <a:gd name="T15" fmla="*/ 402 h 585"/>
                <a:gd name="T16" fmla="*/ 363 w 417"/>
                <a:gd name="T17" fmla="*/ 0 h 5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7"/>
                <a:gd name="T28" fmla="*/ 0 h 585"/>
                <a:gd name="T29" fmla="*/ 417 w 417"/>
                <a:gd name="T30" fmla="*/ 585 h 5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7" h="585">
                  <a:moveTo>
                    <a:pt x="363" y="0"/>
                  </a:moveTo>
                  <a:lnTo>
                    <a:pt x="207" y="171"/>
                  </a:lnTo>
                  <a:lnTo>
                    <a:pt x="0" y="345"/>
                  </a:lnTo>
                  <a:lnTo>
                    <a:pt x="57" y="393"/>
                  </a:lnTo>
                  <a:lnTo>
                    <a:pt x="99" y="462"/>
                  </a:lnTo>
                  <a:lnTo>
                    <a:pt x="162" y="585"/>
                  </a:lnTo>
                  <a:lnTo>
                    <a:pt x="369" y="447"/>
                  </a:lnTo>
                  <a:lnTo>
                    <a:pt x="417" y="402"/>
                  </a:lnTo>
                  <a:lnTo>
                    <a:pt x="36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54" name="Freeform 25"/>
            <p:cNvSpPr>
              <a:spLocks/>
            </p:cNvSpPr>
            <p:nvPr/>
          </p:nvSpPr>
          <p:spPr bwMode="auto">
            <a:xfrm>
              <a:off x="1644" y="1896"/>
              <a:ext cx="444" cy="450"/>
            </a:xfrm>
            <a:custGeom>
              <a:avLst/>
              <a:gdLst>
                <a:gd name="T0" fmla="*/ 273 w 444"/>
                <a:gd name="T1" fmla="*/ 0 h 450"/>
                <a:gd name="T2" fmla="*/ 0 w 444"/>
                <a:gd name="T3" fmla="*/ 102 h 450"/>
                <a:gd name="T4" fmla="*/ 114 w 444"/>
                <a:gd name="T5" fmla="*/ 450 h 450"/>
                <a:gd name="T6" fmla="*/ 276 w 444"/>
                <a:gd name="T7" fmla="*/ 387 h 450"/>
                <a:gd name="T8" fmla="*/ 444 w 444"/>
                <a:gd name="T9" fmla="*/ 303 h 450"/>
                <a:gd name="T10" fmla="*/ 390 w 444"/>
                <a:gd name="T11" fmla="*/ 138 h 450"/>
                <a:gd name="T12" fmla="*/ 333 w 444"/>
                <a:gd name="T13" fmla="*/ 57 h 450"/>
                <a:gd name="T14" fmla="*/ 273 w 444"/>
                <a:gd name="T15" fmla="*/ 0 h 450"/>
                <a:gd name="T16" fmla="*/ 0 60000 65536"/>
                <a:gd name="T17" fmla="*/ 0 60000 65536"/>
                <a:gd name="T18" fmla="*/ 0 60000 65536"/>
                <a:gd name="T19" fmla="*/ 0 60000 65536"/>
                <a:gd name="T20" fmla="*/ 0 60000 65536"/>
                <a:gd name="T21" fmla="*/ 0 60000 65536"/>
                <a:gd name="T22" fmla="*/ 0 60000 65536"/>
                <a:gd name="T23" fmla="*/ 0 60000 65536"/>
                <a:gd name="T24" fmla="*/ 0 w 444"/>
                <a:gd name="T25" fmla="*/ 0 h 450"/>
                <a:gd name="T26" fmla="*/ 444 w 444"/>
                <a:gd name="T27" fmla="*/ 450 h 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4" h="450">
                  <a:moveTo>
                    <a:pt x="273" y="0"/>
                  </a:moveTo>
                  <a:lnTo>
                    <a:pt x="0" y="102"/>
                  </a:lnTo>
                  <a:lnTo>
                    <a:pt x="114" y="450"/>
                  </a:lnTo>
                  <a:lnTo>
                    <a:pt x="276" y="387"/>
                  </a:lnTo>
                  <a:lnTo>
                    <a:pt x="444" y="303"/>
                  </a:lnTo>
                  <a:lnTo>
                    <a:pt x="390" y="138"/>
                  </a:lnTo>
                  <a:lnTo>
                    <a:pt x="333" y="57"/>
                  </a:lnTo>
                  <a:lnTo>
                    <a:pt x="273"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8655" name="Freeform 26"/>
            <p:cNvSpPr>
              <a:spLocks/>
            </p:cNvSpPr>
            <p:nvPr/>
          </p:nvSpPr>
          <p:spPr bwMode="auto">
            <a:xfrm>
              <a:off x="1929" y="1677"/>
              <a:ext cx="579" cy="507"/>
            </a:xfrm>
            <a:custGeom>
              <a:avLst/>
              <a:gdLst>
                <a:gd name="T0" fmla="*/ 435 w 579"/>
                <a:gd name="T1" fmla="*/ 0 h 507"/>
                <a:gd name="T2" fmla="*/ 225 w 579"/>
                <a:gd name="T3" fmla="*/ 99 h 507"/>
                <a:gd name="T4" fmla="*/ 0 w 579"/>
                <a:gd name="T5" fmla="*/ 210 h 507"/>
                <a:gd name="T6" fmla="*/ 63 w 579"/>
                <a:gd name="T7" fmla="*/ 276 h 507"/>
                <a:gd name="T8" fmla="*/ 120 w 579"/>
                <a:gd name="T9" fmla="*/ 360 h 507"/>
                <a:gd name="T10" fmla="*/ 141 w 579"/>
                <a:gd name="T11" fmla="*/ 429 h 507"/>
                <a:gd name="T12" fmla="*/ 174 w 579"/>
                <a:gd name="T13" fmla="*/ 507 h 507"/>
                <a:gd name="T14" fmla="*/ 390 w 579"/>
                <a:gd name="T15" fmla="*/ 390 h 507"/>
                <a:gd name="T16" fmla="*/ 579 w 579"/>
                <a:gd name="T17" fmla="*/ 279 h 507"/>
                <a:gd name="T18" fmla="*/ 540 w 579"/>
                <a:gd name="T19" fmla="*/ 165 h 507"/>
                <a:gd name="T20" fmla="*/ 495 w 579"/>
                <a:gd name="T21" fmla="*/ 87 h 507"/>
                <a:gd name="T22" fmla="*/ 435 w 579"/>
                <a:gd name="T23" fmla="*/ 0 h 5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9"/>
                <a:gd name="T37" fmla="*/ 0 h 507"/>
                <a:gd name="T38" fmla="*/ 579 w 579"/>
                <a:gd name="T39" fmla="*/ 507 h 5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9" h="507">
                  <a:moveTo>
                    <a:pt x="435" y="0"/>
                  </a:moveTo>
                  <a:lnTo>
                    <a:pt x="225" y="99"/>
                  </a:lnTo>
                  <a:lnTo>
                    <a:pt x="0" y="210"/>
                  </a:lnTo>
                  <a:lnTo>
                    <a:pt x="63" y="276"/>
                  </a:lnTo>
                  <a:lnTo>
                    <a:pt x="120" y="360"/>
                  </a:lnTo>
                  <a:lnTo>
                    <a:pt x="141" y="429"/>
                  </a:lnTo>
                  <a:lnTo>
                    <a:pt x="174" y="507"/>
                  </a:lnTo>
                  <a:lnTo>
                    <a:pt x="390" y="390"/>
                  </a:lnTo>
                  <a:lnTo>
                    <a:pt x="579" y="279"/>
                  </a:lnTo>
                  <a:lnTo>
                    <a:pt x="540" y="165"/>
                  </a:lnTo>
                  <a:lnTo>
                    <a:pt x="495" y="87"/>
                  </a:lnTo>
                  <a:lnTo>
                    <a:pt x="435"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8656" name="Freeform 27"/>
            <p:cNvSpPr>
              <a:spLocks/>
            </p:cNvSpPr>
            <p:nvPr/>
          </p:nvSpPr>
          <p:spPr bwMode="auto">
            <a:xfrm>
              <a:off x="2379" y="1404"/>
              <a:ext cx="630" cy="546"/>
            </a:xfrm>
            <a:custGeom>
              <a:avLst/>
              <a:gdLst>
                <a:gd name="T0" fmla="*/ 459 w 630"/>
                <a:gd name="T1" fmla="*/ 0 h 546"/>
                <a:gd name="T2" fmla="*/ 219 w 630"/>
                <a:gd name="T3" fmla="*/ 144 h 546"/>
                <a:gd name="T4" fmla="*/ 0 w 630"/>
                <a:gd name="T5" fmla="*/ 264 h 546"/>
                <a:gd name="T6" fmla="*/ 57 w 630"/>
                <a:gd name="T7" fmla="*/ 363 h 546"/>
                <a:gd name="T8" fmla="*/ 102 w 630"/>
                <a:gd name="T9" fmla="*/ 441 h 546"/>
                <a:gd name="T10" fmla="*/ 141 w 630"/>
                <a:gd name="T11" fmla="*/ 546 h 546"/>
                <a:gd name="T12" fmla="*/ 411 w 630"/>
                <a:gd name="T13" fmla="*/ 393 h 546"/>
                <a:gd name="T14" fmla="*/ 630 w 630"/>
                <a:gd name="T15" fmla="*/ 243 h 546"/>
                <a:gd name="T16" fmla="*/ 591 w 630"/>
                <a:gd name="T17" fmla="*/ 156 h 546"/>
                <a:gd name="T18" fmla="*/ 555 w 630"/>
                <a:gd name="T19" fmla="*/ 102 h 546"/>
                <a:gd name="T20" fmla="*/ 519 w 630"/>
                <a:gd name="T21" fmla="*/ 51 h 546"/>
                <a:gd name="T22" fmla="*/ 459 w 630"/>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0"/>
                <a:gd name="T37" fmla="*/ 0 h 546"/>
                <a:gd name="T38" fmla="*/ 630 w 630"/>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0" h="546">
                  <a:moveTo>
                    <a:pt x="459" y="0"/>
                  </a:moveTo>
                  <a:lnTo>
                    <a:pt x="219" y="144"/>
                  </a:lnTo>
                  <a:lnTo>
                    <a:pt x="0" y="264"/>
                  </a:lnTo>
                  <a:lnTo>
                    <a:pt x="57" y="363"/>
                  </a:lnTo>
                  <a:lnTo>
                    <a:pt x="102" y="441"/>
                  </a:lnTo>
                  <a:lnTo>
                    <a:pt x="141" y="546"/>
                  </a:lnTo>
                  <a:lnTo>
                    <a:pt x="411" y="393"/>
                  </a:lnTo>
                  <a:lnTo>
                    <a:pt x="630" y="243"/>
                  </a:lnTo>
                  <a:lnTo>
                    <a:pt x="591" y="156"/>
                  </a:lnTo>
                  <a:lnTo>
                    <a:pt x="555" y="102"/>
                  </a:lnTo>
                  <a:lnTo>
                    <a:pt x="519" y="51"/>
                  </a:lnTo>
                  <a:lnTo>
                    <a:pt x="45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57" name="Freeform 28"/>
            <p:cNvSpPr>
              <a:spLocks/>
            </p:cNvSpPr>
            <p:nvPr/>
          </p:nvSpPr>
          <p:spPr bwMode="auto">
            <a:xfrm>
              <a:off x="2850" y="1146"/>
              <a:ext cx="567" cy="492"/>
            </a:xfrm>
            <a:custGeom>
              <a:avLst/>
              <a:gdLst>
                <a:gd name="T0" fmla="*/ 396 w 567"/>
                <a:gd name="T1" fmla="*/ 0 h 492"/>
                <a:gd name="T2" fmla="*/ 210 w 567"/>
                <a:gd name="T3" fmla="*/ 126 h 492"/>
                <a:gd name="T4" fmla="*/ 108 w 567"/>
                <a:gd name="T5" fmla="*/ 186 h 492"/>
                <a:gd name="T6" fmla="*/ 0 w 567"/>
                <a:gd name="T7" fmla="*/ 252 h 492"/>
                <a:gd name="T8" fmla="*/ 57 w 567"/>
                <a:gd name="T9" fmla="*/ 312 h 492"/>
                <a:gd name="T10" fmla="*/ 108 w 567"/>
                <a:gd name="T11" fmla="*/ 378 h 492"/>
                <a:gd name="T12" fmla="*/ 171 w 567"/>
                <a:gd name="T13" fmla="*/ 492 h 492"/>
                <a:gd name="T14" fmla="*/ 387 w 567"/>
                <a:gd name="T15" fmla="*/ 354 h 492"/>
                <a:gd name="T16" fmla="*/ 567 w 567"/>
                <a:gd name="T17" fmla="*/ 243 h 492"/>
                <a:gd name="T18" fmla="*/ 534 w 567"/>
                <a:gd name="T19" fmla="*/ 162 h 492"/>
                <a:gd name="T20" fmla="*/ 504 w 567"/>
                <a:gd name="T21" fmla="*/ 114 h 492"/>
                <a:gd name="T22" fmla="*/ 447 w 567"/>
                <a:gd name="T23" fmla="*/ 42 h 492"/>
                <a:gd name="T24" fmla="*/ 396 w 567"/>
                <a:gd name="T25" fmla="*/ 0 h 4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7"/>
                <a:gd name="T40" fmla="*/ 0 h 492"/>
                <a:gd name="T41" fmla="*/ 567 w 567"/>
                <a:gd name="T42" fmla="*/ 492 h 4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7" h="492">
                  <a:moveTo>
                    <a:pt x="396" y="0"/>
                  </a:moveTo>
                  <a:lnTo>
                    <a:pt x="210" y="126"/>
                  </a:lnTo>
                  <a:lnTo>
                    <a:pt x="108" y="186"/>
                  </a:lnTo>
                  <a:lnTo>
                    <a:pt x="0" y="252"/>
                  </a:lnTo>
                  <a:lnTo>
                    <a:pt x="57" y="312"/>
                  </a:lnTo>
                  <a:lnTo>
                    <a:pt x="108" y="378"/>
                  </a:lnTo>
                  <a:lnTo>
                    <a:pt x="171" y="492"/>
                  </a:lnTo>
                  <a:lnTo>
                    <a:pt x="387" y="354"/>
                  </a:lnTo>
                  <a:lnTo>
                    <a:pt x="567" y="243"/>
                  </a:lnTo>
                  <a:lnTo>
                    <a:pt x="534" y="162"/>
                  </a:lnTo>
                  <a:lnTo>
                    <a:pt x="504" y="114"/>
                  </a:lnTo>
                  <a:lnTo>
                    <a:pt x="447" y="42"/>
                  </a:lnTo>
                  <a:lnTo>
                    <a:pt x="39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58" name="Freeform 29"/>
            <p:cNvSpPr>
              <a:spLocks/>
            </p:cNvSpPr>
            <p:nvPr/>
          </p:nvSpPr>
          <p:spPr bwMode="auto">
            <a:xfrm>
              <a:off x="3258" y="798"/>
              <a:ext cx="570" cy="582"/>
            </a:xfrm>
            <a:custGeom>
              <a:avLst/>
              <a:gdLst>
                <a:gd name="T0" fmla="*/ 534 w 570"/>
                <a:gd name="T1" fmla="*/ 0 h 582"/>
                <a:gd name="T2" fmla="*/ 222 w 570"/>
                <a:gd name="T3" fmla="*/ 210 h 582"/>
                <a:gd name="T4" fmla="*/ 0 w 570"/>
                <a:gd name="T5" fmla="*/ 342 h 582"/>
                <a:gd name="T6" fmla="*/ 42 w 570"/>
                <a:gd name="T7" fmla="*/ 384 h 582"/>
                <a:gd name="T8" fmla="*/ 87 w 570"/>
                <a:gd name="T9" fmla="*/ 438 h 582"/>
                <a:gd name="T10" fmla="*/ 129 w 570"/>
                <a:gd name="T11" fmla="*/ 492 h 582"/>
                <a:gd name="T12" fmla="*/ 165 w 570"/>
                <a:gd name="T13" fmla="*/ 582 h 582"/>
                <a:gd name="T14" fmla="*/ 372 w 570"/>
                <a:gd name="T15" fmla="*/ 438 h 582"/>
                <a:gd name="T16" fmla="*/ 570 w 570"/>
                <a:gd name="T17" fmla="*/ 294 h 582"/>
                <a:gd name="T18" fmla="*/ 534 w 570"/>
                <a:gd name="T19" fmla="*/ 0 h 5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0"/>
                <a:gd name="T31" fmla="*/ 0 h 582"/>
                <a:gd name="T32" fmla="*/ 570 w 570"/>
                <a:gd name="T33" fmla="*/ 582 h 5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0" h="582">
                  <a:moveTo>
                    <a:pt x="534" y="0"/>
                  </a:moveTo>
                  <a:lnTo>
                    <a:pt x="222" y="210"/>
                  </a:lnTo>
                  <a:lnTo>
                    <a:pt x="0" y="342"/>
                  </a:lnTo>
                  <a:lnTo>
                    <a:pt x="42" y="384"/>
                  </a:lnTo>
                  <a:lnTo>
                    <a:pt x="87" y="438"/>
                  </a:lnTo>
                  <a:lnTo>
                    <a:pt x="129" y="492"/>
                  </a:lnTo>
                  <a:lnTo>
                    <a:pt x="165" y="582"/>
                  </a:lnTo>
                  <a:lnTo>
                    <a:pt x="372" y="438"/>
                  </a:lnTo>
                  <a:lnTo>
                    <a:pt x="570" y="294"/>
                  </a:lnTo>
                  <a:lnTo>
                    <a:pt x="534"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59" name="Freeform 30"/>
            <p:cNvSpPr>
              <a:spLocks/>
            </p:cNvSpPr>
            <p:nvPr/>
          </p:nvSpPr>
          <p:spPr bwMode="auto">
            <a:xfrm>
              <a:off x="1758" y="2136"/>
              <a:ext cx="669" cy="561"/>
            </a:xfrm>
            <a:custGeom>
              <a:avLst/>
              <a:gdLst>
                <a:gd name="T0" fmla="*/ 474 w 669"/>
                <a:gd name="T1" fmla="*/ 0 h 561"/>
                <a:gd name="T2" fmla="*/ 243 w 669"/>
                <a:gd name="T3" fmla="*/ 120 h 561"/>
                <a:gd name="T4" fmla="*/ 0 w 669"/>
                <a:gd name="T5" fmla="*/ 231 h 561"/>
                <a:gd name="T6" fmla="*/ 102 w 669"/>
                <a:gd name="T7" fmla="*/ 561 h 561"/>
                <a:gd name="T8" fmla="*/ 330 w 669"/>
                <a:gd name="T9" fmla="*/ 459 h 561"/>
                <a:gd name="T10" fmla="*/ 669 w 669"/>
                <a:gd name="T11" fmla="*/ 291 h 561"/>
                <a:gd name="T12" fmla="*/ 633 w 669"/>
                <a:gd name="T13" fmla="*/ 186 h 561"/>
                <a:gd name="T14" fmla="*/ 597 w 669"/>
                <a:gd name="T15" fmla="*/ 132 h 561"/>
                <a:gd name="T16" fmla="*/ 549 w 669"/>
                <a:gd name="T17" fmla="*/ 60 h 561"/>
                <a:gd name="T18" fmla="*/ 474 w 669"/>
                <a:gd name="T19" fmla="*/ 0 h 5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69"/>
                <a:gd name="T31" fmla="*/ 0 h 561"/>
                <a:gd name="T32" fmla="*/ 669 w 669"/>
                <a:gd name="T33" fmla="*/ 561 h 56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69" h="561">
                  <a:moveTo>
                    <a:pt x="474" y="0"/>
                  </a:moveTo>
                  <a:lnTo>
                    <a:pt x="243" y="120"/>
                  </a:lnTo>
                  <a:lnTo>
                    <a:pt x="0" y="231"/>
                  </a:lnTo>
                  <a:lnTo>
                    <a:pt x="102" y="561"/>
                  </a:lnTo>
                  <a:lnTo>
                    <a:pt x="330" y="459"/>
                  </a:lnTo>
                  <a:lnTo>
                    <a:pt x="669" y="291"/>
                  </a:lnTo>
                  <a:lnTo>
                    <a:pt x="633" y="186"/>
                  </a:lnTo>
                  <a:lnTo>
                    <a:pt x="597" y="132"/>
                  </a:lnTo>
                  <a:lnTo>
                    <a:pt x="549" y="60"/>
                  </a:lnTo>
                  <a:lnTo>
                    <a:pt x="474"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8660" name="Freeform 31"/>
            <p:cNvSpPr>
              <a:spLocks/>
            </p:cNvSpPr>
            <p:nvPr/>
          </p:nvSpPr>
          <p:spPr bwMode="auto">
            <a:xfrm>
              <a:off x="2247" y="1842"/>
              <a:ext cx="669" cy="579"/>
            </a:xfrm>
            <a:custGeom>
              <a:avLst/>
              <a:gdLst>
                <a:gd name="T0" fmla="*/ 489 w 669"/>
                <a:gd name="T1" fmla="*/ 0 h 579"/>
                <a:gd name="T2" fmla="*/ 216 w 669"/>
                <a:gd name="T3" fmla="*/ 162 h 579"/>
                <a:gd name="T4" fmla="*/ 0 w 669"/>
                <a:gd name="T5" fmla="*/ 291 h 579"/>
                <a:gd name="T6" fmla="*/ 72 w 669"/>
                <a:gd name="T7" fmla="*/ 354 h 579"/>
                <a:gd name="T8" fmla="*/ 135 w 669"/>
                <a:gd name="T9" fmla="*/ 444 h 579"/>
                <a:gd name="T10" fmla="*/ 195 w 669"/>
                <a:gd name="T11" fmla="*/ 579 h 579"/>
                <a:gd name="T12" fmla="*/ 387 w 669"/>
                <a:gd name="T13" fmla="*/ 471 h 579"/>
                <a:gd name="T14" fmla="*/ 669 w 669"/>
                <a:gd name="T15" fmla="*/ 276 h 579"/>
                <a:gd name="T16" fmla="*/ 645 w 669"/>
                <a:gd name="T17" fmla="*/ 201 h 579"/>
                <a:gd name="T18" fmla="*/ 618 w 669"/>
                <a:gd name="T19" fmla="*/ 150 h 579"/>
                <a:gd name="T20" fmla="*/ 591 w 669"/>
                <a:gd name="T21" fmla="*/ 108 h 579"/>
                <a:gd name="T22" fmla="*/ 543 w 669"/>
                <a:gd name="T23" fmla="*/ 54 h 579"/>
                <a:gd name="T24" fmla="*/ 489 w 669"/>
                <a:gd name="T25" fmla="*/ 0 h 5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69"/>
                <a:gd name="T40" fmla="*/ 0 h 579"/>
                <a:gd name="T41" fmla="*/ 669 w 669"/>
                <a:gd name="T42" fmla="*/ 579 h 5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69" h="579">
                  <a:moveTo>
                    <a:pt x="489" y="0"/>
                  </a:moveTo>
                  <a:lnTo>
                    <a:pt x="216" y="162"/>
                  </a:lnTo>
                  <a:lnTo>
                    <a:pt x="0" y="291"/>
                  </a:lnTo>
                  <a:lnTo>
                    <a:pt x="72" y="354"/>
                  </a:lnTo>
                  <a:lnTo>
                    <a:pt x="135" y="444"/>
                  </a:lnTo>
                  <a:lnTo>
                    <a:pt x="195" y="579"/>
                  </a:lnTo>
                  <a:lnTo>
                    <a:pt x="387" y="471"/>
                  </a:lnTo>
                  <a:lnTo>
                    <a:pt x="669" y="276"/>
                  </a:lnTo>
                  <a:lnTo>
                    <a:pt x="645" y="201"/>
                  </a:lnTo>
                  <a:lnTo>
                    <a:pt x="618" y="150"/>
                  </a:lnTo>
                  <a:lnTo>
                    <a:pt x="591" y="108"/>
                  </a:lnTo>
                  <a:lnTo>
                    <a:pt x="543" y="54"/>
                  </a:lnTo>
                  <a:lnTo>
                    <a:pt x="48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61" name="Freeform 32"/>
            <p:cNvSpPr>
              <a:spLocks/>
            </p:cNvSpPr>
            <p:nvPr/>
          </p:nvSpPr>
          <p:spPr bwMode="auto">
            <a:xfrm>
              <a:off x="2742" y="1533"/>
              <a:ext cx="654" cy="582"/>
            </a:xfrm>
            <a:custGeom>
              <a:avLst/>
              <a:gdLst>
                <a:gd name="T0" fmla="*/ 480 w 654"/>
                <a:gd name="T1" fmla="*/ 0 h 582"/>
                <a:gd name="T2" fmla="*/ 249 w 654"/>
                <a:gd name="T3" fmla="*/ 150 h 582"/>
                <a:gd name="T4" fmla="*/ 0 w 654"/>
                <a:gd name="T5" fmla="*/ 300 h 582"/>
                <a:gd name="T6" fmla="*/ 66 w 654"/>
                <a:gd name="T7" fmla="*/ 372 h 582"/>
                <a:gd name="T8" fmla="*/ 120 w 654"/>
                <a:gd name="T9" fmla="*/ 435 h 582"/>
                <a:gd name="T10" fmla="*/ 189 w 654"/>
                <a:gd name="T11" fmla="*/ 582 h 582"/>
                <a:gd name="T12" fmla="*/ 360 w 654"/>
                <a:gd name="T13" fmla="*/ 471 h 582"/>
                <a:gd name="T14" fmla="*/ 654 w 654"/>
                <a:gd name="T15" fmla="*/ 246 h 582"/>
                <a:gd name="T16" fmla="*/ 606 w 654"/>
                <a:gd name="T17" fmla="*/ 153 h 582"/>
                <a:gd name="T18" fmla="*/ 543 w 654"/>
                <a:gd name="T19" fmla="*/ 54 h 582"/>
                <a:gd name="T20" fmla="*/ 480 w 654"/>
                <a:gd name="T21" fmla="*/ 0 h 5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4"/>
                <a:gd name="T34" fmla="*/ 0 h 582"/>
                <a:gd name="T35" fmla="*/ 654 w 654"/>
                <a:gd name="T36" fmla="*/ 582 h 5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4" h="582">
                  <a:moveTo>
                    <a:pt x="480" y="0"/>
                  </a:moveTo>
                  <a:lnTo>
                    <a:pt x="249" y="150"/>
                  </a:lnTo>
                  <a:lnTo>
                    <a:pt x="0" y="300"/>
                  </a:lnTo>
                  <a:lnTo>
                    <a:pt x="66" y="372"/>
                  </a:lnTo>
                  <a:lnTo>
                    <a:pt x="120" y="435"/>
                  </a:lnTo>
                  <a:lnTo>
                    <a:pt x="189" y="582"/>
                  </a:lnTo>
                  <a:lnTo>
                    <a:pt x="360" y="471"/>
                  </a:lnTo>
                  <a:lnTo>
                    <a:pt x="654" y="246"/>
                  </a:lnTo>
                  <a:lnTo>
                    <a:pt x="606" y="153"/>
                  </a:lnTo>
                  <a:lnTo>
                    <a:pt x="543" y="54"/>
                  </a:lnTo>
                  <a:lnTo>
                    <a:pt x="480"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8662" name="Freeform 33"/>
            <p:cNvSpPr>
              <a:spLocks/>
            </p:cNvSpPr>
            <p:nvPr/>
          </p:nvSpPr>
          <p:spPr bwMode="auto">
            <a:xfrm>
              <a:off x="3234" y="1239"/>
              <a:ext cx="555" cy="537"/>
            </a:xfrm>
            <a:custGeom>
              <a:avLst/>
              <a:gdLst>
                <a:gd name="T0" fmla="*/ 423 w 555"/>
                <a:gd name="T1" fmla="*/ 0 h 537"/>
                <a:gd name="T2" fmla="*/ 219 w 555"/>
                <a:gd name="T3" fmla="*/ 144 h 537"/>
                <a:gd name="T4" fmla="*/ 0 w 555"/>
                <a:gd name="T5" fmla="*/ 285 h 537"/>
                <a:gd name="T6" fmla="*/ 66 w 555"/>
                <a:gd name="T7" fmla="*/ 354 h 537"/>
                <a:gd name="T8" fmla="*/ 132 w 555"/>
                <a:gd name="T9" fmla="*/ 447 h 537"/>
                <a:gd name="T10" fmla="*/ 177 w 555"/>
                <a:gd name="T11" fmla="*/ 537 h 537"/>
                <a:gd name="T12" fmla="*/ 312 w 555"/>
                <a:gd name="T13" fmla="*/ 444 h 537"/>
                <a:gd name="T14" fmla="*/ 555 w 555"/>
                <a:gd name="T15" fmla="*/ 240 h 537"/>
                <a:gd name="T16" fmla="*/ 525 w 555"/>
                <a:gd name="T17" fmla="*/ 135 h 537"/>
                <a:gd name="T18" fmla="*/ 504 w 555"/>
                <a:gd name="T19" fmla="*/ 75 h 537"/>
                <a:gd name="T20" fmla="*/ 459 w 555"/>
                <a:gd name="T21" fmla="*/ 36 h 537"/>
                <a:gd name="T22" fmla="*/ 423 w 555"/>
                <a:gd name="T23" fmla="*/ 0 h 5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5"/>
                <a:gd name="T37" fmla="*/ 0 h 537"/>
                <a:gd name="T38" fmla="*/ 555 w 555"/>
                <a:gd name="T39" fmla="*/ 537 h 5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5" h="537">
                  <a:moveTo>
                    <a:pt x="423" y="0"/>
                  </a:moveTo>
                  <a:lnTo>
                    <a:pt x="219" y="144"/>
                  </a:lnTo>
                  <a:lnTo>
                    <a:pt x="0" y="285"/>
                  </a:lnTo>
                  <a:lnTo>
                    <a:pt x="66" y="354"/>
                  </a:lnTo>
                  <a:lnTo>
                    <a:pt x="132" y="447"/>
                  </a:lnTo>
                  <a:lnTo>
                    <a:pt x="177" y="537"/>
                  </a:lnTo>
                  <a:lnTo>
                    <a:pt x="312" y="444"/>
                  </a:lnTo>
                  <a:lnTo>
                    <a:pt x="555" y="240"/>
                  </a:lnTo>
                  <a:lnTo>
                    <a:pt x="525" y="135"/>
                  </a:lnTo>
                  <a:lnTo>
                    <a:pt x="504" y="75"/>
                  </a:lnTo>
                  <a:lnTo>
                    <a:pt x="459" y="36"/>
                  </a:lnTo>
                  <a:lnTo>
                    <a:pt x="42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63" name="Freeform 34"/>
            <p:cNvSpPr>
              <a:spLocks/>
            </p:cNvSpPr>
            <p:nvPr/>
          </p:nvSpPr>
          <p:spPr bwMode="auto">
            <a:xfrm>
              <a:off x="3675" y="1107"/>
              <a:ext cx="204" cy="366"/>
            </a:xfrm>
            <a:custGeom>
              <a:avLst/>
              <a:gdLst>
                <a:gd name="T0" fmla="*/ 165 w 204"/>
                <a:gd name="T1" fmla="*/ 0 h 366"/>
                <a:gd name="T2" fmla="*/ 0 w 204"/>
                <a:gd name="T3" fmla="*/ 123 h 366"/>
                <a:gd name="T4" fmla="*/ 36 w 204"/>
                <a:gd name="T5" fmla="*/ 174 h 366"/>
                <a:gd name="T6" fmla="*/ 75 w 204"/>
                <a:gd name="T7" fmla="*/ 216 h 366"/>
                <a:gd name="T8" fmla="*/ 120 w 204"/>
                <a:gd name="T9" fmla="*/ 366 h 366"/>
                <a:gd name="T10" fmla="*/ 204 w 204"/>
                <a:gd name="T11" fmla="*/ 318 h 366"/>
                <a:gd name="T12" fmla="*/ 165 w 204"/>
                <a:gd name="T13" fmla="*/ 0 h 366"/>
                <a:gd name="T14" fmla="*/ 0 60000 65536"/>
                <a:gd name="T15" fmla="*/ 0 60000 65536"/>
                <a:gd name="T16" fmla="*/ 0 60000 65536"/>
                <a:gd name="T17" fmla="*/ 0 60000 65536"/>
                <a:gd name="T18" fmla="*/ 0 60000 65536"/>
                <a:gd name="T19" fmla="*/ 0 60000 65536"/>
                <a:gd name="T20" fmla="*/ 0 60000 65536"/>
                <a:gd name="T21" fmla="*/ 0 w 204"/>
                <a:gd name="T22" fmla="*/ 0 h 366"/>
                <a:gd name="T23" fmla="*/ 204 w 204"/>
                <a:gd name="T24" fmla="*/ 366 h 3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4" h="366">
                  <a:moveTo>
                    <a:pt x="165" y="0"/>
                  </a:moveTo>
                  <a:lnTo>
                    <a:pt x="0" y="123"/>
                  </a:lnTo>
                  <a:lnTo>
                    <a:pt x="36" y="174"/>
                  </a:lnTo>
                  <a:lnTo>
                    <a:pt x="75" y="216"/>
                  </a:lnTo>
                  <a:lnTo>
                    <a:pt x="120" y="366"/>
                  </a:lnTo>
                  <a:lnTo>
                    <a:pt x="204" y="318"/>
                  </a:lnTo>
                  <a:lnTo>
                    <a:pt x="1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64" name="Freeform 35"/>
            <p:cNvSpPr>
              <a:spLocks/>
            </p:cNvSpPr>
            <p:nvPr/>
          </p:nvSpPr>
          <p:spPr bwMode="auto">
            <a:xfrm>
              <a:off x="1866" y="2505"/>
              <a:ext cx="642" cy="537"/>
            </a:xfrm>
            <a:custGeom>
              <a:avLst/>
              <a:gdLst>
                <a:gd name="T0" fmla="*/ 450 w 642"/>
                <a:gd name="T1" fmla="*/ 0 h 537"/>
                <a:gd name="T2" fmla="*/ 222 w 642"/>
                <a:gd name="T3" fmla="*/ 111 h 537"/>
                <a:gd name="T4" fmla="*/ 0 w 642"/>
                <a:gd name="T5" fmla="*/ 207 h 537"/>
                <a:gd name="T6" fmla="*/ 84 w 642"/>
                <a:gd name="T7" fmla="*/ 537 h 537"/>
                <a:gd name="T8" fmla="*/ 213 w 642"/>
                <a:gd name="T9" fmla="*/ 489 h 537"/>
                <a:gd name="T10" fmla="*/ 366 w 642"/>
                <a:gd name="T11" fmla="*/ 423 h 537"/>
                <a:gd name="T12" fmla="*/ 510 w 642"/>
                <a:gd name="T13" fmla="*/ 351 h 537"/>
                <a:gd name="T14" fmla="*/ 642 w 642"/>
                <a:gd name="T15" fmla="*/ 285 h 537"/>
                <a:gd name="T16" fmla="*/ 579 w 642"/>
                <a:gd name="T17" fmla="*/ 141 h 537"/>
                <a:gd name="T18" fmla="*/ 522 w 642"/>
                <a:gd name="T19" fmla="*/ 69 h 537"/>
                <a:gd name="T20" fmla="*/ 450 w 642"/>
                <a:gd name="T21" fmla="*/ 0 h 5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2"/>
                <a:gd name="T34" fmla="*/ 0 h 537"/>
                <a:gd name="T35" fmla="*/ 642 w 642"/>
                <a:gd name="T36" fmla="*/ 537 h 5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2" h="537">
                  <a:moveTo>
                    <a:pt x="450" y="0"/>
                  </a:moveTo>
                  <a:lnTo>
                    <a:pt x="222" y="111"/>
                  </a:lnTo>
                  <a:lnTo>
                    <a:pt x="0" y="207"/>
                  </a:lnTo>
                  <a:lnTo>
                    <a:pt x="84" y="537"/>
                  </a:lnTo>
                  <a:lnTo>
                    <a:pt x="213" y="489"/>
                  </a:lnTo>
                  <a:lnTo>
                    <a:pt x="366" y="423"/>
                  </a:lnTo>
                  <a:lnTo>
                    <a:pt x="510" y="351"/>
                  </a:lnTo>
                  <a:lnTo>
                    <a:pt x="642" y="285"/>
                  </a:lnTo>
                  <a:lnTo>
                    <a:pt x="579" y="141"/>
                  </a:lnTo>
                  <a:lnTo>
                    <a:pt x="522" y="69"/>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65" name="Freeform 36"/>
            <p:cNvSpPr>
              <a:spLocks/>
            </p:cNvSpPr>
            <p:nvPr/>
          </p:nvSpPr>
          <p:spPr bwMode="auto">
            <a:xfrm>
              <a:off x="2331" y="2238"/>
              <a:ext cx="606" cy="549"/>
            </a:xfrm>
            <a:custGeom>
              <a:avLst/>
              <a:gdLst>
                <a:gd name="T0" fmla="*/ 438 w 606"/>
                <a:gd name="T1" fmla="*/ 0 h 549"/>
                <a:gd name="T2" fmla="*/ 246 w 606"/>
                <a:gd name="T3" fmla="*/ 126 h 549"/>
                <a:gd name="T4" fmla="*/ 0 w 606"/>
                <a:gd name="T5" fmla="*/ 261 h 549"/>
                <a:gd name="T6" fmla="*/ 57 w 606"/>
                <a:gd name="T7" fmla="*/ 324 h 549"/>
                <a:gd name="T8" fmla="*/ 105 w 606"/>
                <a:gd name="T9" fmla="*/ 384 h 549"/>
                <a:gd name="T10" fmla="*/ 153 w 606"/>
                <a:gd name="T11" fmla="*/ 465 h 549"/>
                <a:gd name="T12" fmla="*/ 183 w 606"/>
                <a:gd name="T13" fmla="*/ 549 h 549"/>
                <a:gd name="T14" fmla="*/ 411 w 606"/>
                <a:gd name="T15" fmla="*/ 420 h 549"/>
                <a:gd name="T16" fmla="*/ 606 w 606"/>
                <a:gd name="T17" fmla="*/ 294 h 549"/>
                <a:gd name="T18" fmla="*/ 540 w 606"/>
                <a:gd name="T19" fmla="*/ 147 h 549"/>
                <a:gd name="T20" fmla="*/ 489 w 606"/>
                <a:gd name="T21" fmla="*/ 63 h 549"/>
                <a:gd name="T22" fmla="*/ 438 w 606"/>
                <a:gd name="T23" fmla="*/ 0 h 5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6"/>
                <a:gd name="T37" fmla="*/ 0 h 549"/>
                <a:gd name="T38" fmla="*/ 606 w 606"/>
                <a:gd name="T39" fmla="*/ 549 h 5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6" h="549">
                  <a:moveTo>
                    <a:pt x="438" y="0"/>
                  </a:moveTo>
                  <a:lnTo>
                    <a:pt x="246" y="126"/>
                  </a:lnTo>
                  <a:lnTo>
                    <a:pt x="0" y="261"/>
                  </a:lnTo>
                  <a:lnTo>
                    <a:pt x="57" y="324"/>
                  </a:lnTo>
                  <a:lnTo>
                    <a:pt x="105" y="384"/>
                  </a:lnTo>
                  <a:lnTo>
                    <a:pt x="153" y="465"/>
                  </a:lnTo>
                  <a:lnTo>
                    <a:pt x="183" y="549"/>
                  </a:lnTo>
                  <a:lnTo>
                    <a:pt x="411" y="420"/>
                  </a:lnTo>
                  <a:lnTo>
                    <a:pt x="606" y="294"/>
                  </a:lnTo>
                  <a:lnTo>
                    <a:pt x="540" y="147"/>
                  </a:lnTo>
                  <a:lnTo>
                    <a:pt x="489" y="63"/>
                  </a:lnTo>
                  <a:lnTo>
                    <a:pt x="438"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8666" name="Freeform 37"/>
            <p:cNvSpPr>
              <a:spLocks/>
            </p:cNvSpPr>
            <p:nvPr/>
          </p:nvSpPr>
          <p:spPr bwMode="auto">
            <a:xfrm>
              <a:off x="2775" y="1926"/>
              <a:ext cx="645" cy="597"/>
            </a:xfrm>
            <a:custGeom>
              <a:avLst/>
              <a:gdLst>
                <a:gd name="T0" fmla="*/ 453 w 645"/>
                <a:gd name="T1" fmla="*/ 0 h 597"/>
                <a:gd name="T2" fmla="*/ 231 w 645"/>
                <a:gd name="T3" fmla="*/ 153 h 597"/>
                <a:gd name="T4" fmla="*/ 0 w 645"/>
                <a:gd name="T5" fmla="*/ 306 h 597"/>
                <a:gd name="T6" fmla="*/ 48 w 645"/>
                <a:gd name="T7" fmla="*/ 369 h 597"/>
                <a:gd name="T8" fmla="*/ 93 w 645"/>
                <a:gd name="T9" fmla="*/ 432 h 597"/>
                <a:gd name="T10" fmla="*/ 132 w 645"/>
                <a:gd name="T11" fmla="*/ 507 h 597"/>
                <a:gd name="T12" fmla="*/ 171 w 645"/>
                <a:gd name="T13" fmla="*/ 597 h 597"/>
                <a:gd name="T14" fmla="*/ 411 w 645"/>
                <a:gd name="T15" fmla="*/ 411 h 597"/>
                <a:gd name="T16" fmla="*/ 645 w 645"/>
                <a:gd name="T17" fmla="*/ 216 h 597"/>
                <a:gd name="T18" fmla="*/ 618 w 645"/>
                <a:gd name="T19" fmla="*/ 153 h 597"/>
                <a:gd name="T20" fmla="*/ 567 w 645"/>
                <a:gd name="T21" fmla="*/ 90 h 597"/>
                <a:gd name="T22" fmla="*/ 516 w 645"/>
                <a:gd name="T23" fmla="*/ 39 h 597"/>
                <a:gd name="T24" fmla="*/ 453 w 645"/>
                <a:gd name="T25" fmla="*/ 0 h 5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5"/>
                <a:gd name="T40" fmla="*/ 0 h 597"/>
                <a:gd name="T41" fmla="*/ 645 w 645"/>
                <a:gd name="T42" fmla="*/ 597 h 5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5" h="597">
                  <a:moveTo>
                    <a:pt x="453" y="0"/>
                  </a:moveTo>
                  <a:lnTo>
                    <a:pt x="231" y="153"/>
                  </a:lnTo>
                  <a:lnTo>
                    <a:pt x="0" y="306"/>
                  </a:lnTo>
                  <a:lnTo>
                    <a:pt x="48" y="369"/>
                  </a:lnTo>
                  <a:lnTo>
                    <a:pt x="93" y="432"/>
                  </a:lnTo>
                  <a:lnTo>
                    <a:pt x="132" y="507"/>
                  </a:lnTo>
                  <a:lnTo>
                    <a:pt x="171" y="597"/>
                  </a:lnTo>
                  <a:lnTo>
                    <a:pt x="411" y="411"/>
                  </a:lnTo>
                  <a:lnTo>
                    <a:pt x="645" y="216"/>
                  </a:lnTo>
                  <a:lnTo>
                    <a:pt x="618" y="153"/>
                  </a:lnTo>
                  <a:lnTo>
                    <a:pt x="567" y="90"/>
                  </a:lnTo>
                  <a:lnTo>
                    <a:pt x="516" y="39"/>
                  </a:lnTo>
                  <a:lnTo>
                    <a:pt x="45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67" name="Freeform 38"/>
            <p:cNvSpPr>
              <a:spLocks/>
            </p:cNvSpPr>
            <p:nvPr/>
          </p:nvSpPr>
          <p:spPr bwMode="auto">
            <a:xfrm>
              <a:off x="3240" y="1590"/>
              <a:ext cx="567" cy="546"/>
            </a:xfrm>
            <a:custGeom>
              <a:avLst/>
              <a:gdLst>
                <a:gd name="T0" fmla="*/ 441 w 567"/>
                <a:gd name="T1" fmla="*/ 0 h 546"/>
                <a:gd name="T2" fmla="*/ 237 w 567"/>
                <a:gd name="T3" fmla="*/ 150 h 546"/>
                <a:gd name="T4" fmla="*/ 0 w 567"/>
                <a:gd name="T5" fmla="*/ 330 h 546"/>
                <a:gd name="T6" fmla="*/ 54 w 567"/>
                <a:gd name="T7" fmla="*/ 366 h 546"/>
                <a:gd name="T8" fmla="*/ 117 w 567"/>
                <a:gd name="T9" fmla="*/ 429 h 546"/>
                <a:gd name="T10" fmla="*/ 168 w 567"/>
                <a:gd name="T11" fmla="*/ 492 h 546"/>
                <a:gd name="T12" fmla="*/ 192 w 567"/>
                <a:gd name="T13" fmla="*/ 546 h 546"/>
                <a:gd name="T14" fmla="*/ 369 w 567"/>
                <a:gd name="T15" fmla="*/ 396 h 546"/>
                <a:gd name="T16" fmla="*/ 567 w 567"/>
                <a:gd name="T17" fmla="*/ 204 h 546"/>
                <a:gd name="T18" fmla="*/ 531 w 567"/>
                <a:gd name="T19" fmla="*/ 111 h 546"/>
                <a:gd name="T20" fmla="*/ 483 w 567"/>
                <a:gd name="T21" fmla="*/ 39 h 546"/>
                <a:gd name="T22" fmla="*/ 441 w 567"/>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67"/>
                <a:gd name="T37" fmla="*/ 0 h 546"/>
                <a:gd name="T38" fmla="*/ 567 w 567"/>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67" h="546">
                  <a:moveTo>
                    <a:pt x="441" y="0"/>
                  </a:moveTo>
                  <a:lnTo>
                    <a:pt x="237" y="150"/>
                  </a:lnTo>
                  <a:lnTo>
                    <a:pt x="0" y="330"/>
                  </a:lnTo>
                  <a:lnTo>
                    <a:pt x="54" y="366"/>
                  </a:lnTo>
                  <a:lnTo>
                    <a:pt x="117" y="429"/>
                  </a:lnTo>
                  <a:lnTo>
                    <a:pt x="168" y="492"/>
                  </a:lnTo>
                  <a:lnTo>
                    <a:pt x="192" y="546"/>
                  </a:lnTo>
                  <a:lnTo>
                    <a:pt x="369" y="396"/>
                  </a:lnTo>
                  <a:lnTo>
                    <a:pt x="567" y="204"/>
                  </a:lnTo>
                  <a:lnTo>
                    <a:pt x="531" y="111"/>
                  </a:lnTo>
                  <a:lnTo>
                    <a:pt x="483" y="39"/>
                  </a:lnTo>
                  <a:lnTo>
                    <a:pt x="44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68" name="Freeform 39"/>
            <p:cNvSpPr>
              <a:spLocks/>
            </p:cNvSpPr>
            <p:nvPr/>
          </p:nvSpPr>
          <p:spPr bwMode="auto">
            <a:xfrm>
              <a:off x="3684" y="1434"/>
              <a:ext cx="234" cy="345"/>
            </a:xfrm>
            <a:custGeom>
              <a:avLst/>
              <a:gdLst>
                <a:gd name="T0" fmla="*/ 198 w 234"/>
                <a:gd name="T1" fmla="*/ 0 h 345"/>
                <a:gd name="T2" fmla="*/ 111 w 234"/>
                <a:gd name="T3" fmla="*/ 54 h 345"/>
                <a:gd name="T4" fmla="*/ 0 w 234"/>
                <a:gd name="T5" fmla="*/ 153 h 345"/>
                <a:gd name="T6" fmla="*/ 45 w 234"/>
                <a:gd name="T7" fmla="*/ 192 h 345"/>
                <a:gd name="T8" fmla="*/ 75 w 234"/>
                <a:gd name="T9" fmla="*/ 234 h 345"/>
                <a:gd name="T10" fmla="*/ 129 w 234"/>
                <a:gd name="T11" fmla="*/ 345 h 345"/>
                <a:gd name="T12" fmla="*/ 234 w 234"/>
                <a:gd name="T13" fmla="*/ 252 h 345"/>
                <a:gd name="T14" fmla="*/ 198 w 234"/>
                <a:gd name="T15" fmla="*/ 0 h 345"/>
                <a:gd name="T16" fmla="*/ 0 60000 65536"/>
                <a:gd name="T17" fmla="*/ 0 60000 65536"/>
                <a:gd name="T18" fmla="*/ 0 60000 65536"/>
                <a:gd name="T19" fmla="*/ 0 60000 65536"/>
                <a:gd name="T20" fmla="*/ 0 60000 65536"/>
                <a:gd name="T21" fmla="*/ 0 60000 65536"/>
                <a:gd name="T22" fmla="*/ 0 60000 65536"/>
                <a:gd name="T23" fmla="*/ 0 60000 65536"/>
                <a:gd name="T24" fmla="*/ 0 w 234"/>
                <a:gd name="T25" fmla="*/ 0 h 345"/>
                <a:gd name="T26" fmla="*/ 234 w 234"/>
                <a:gd name="T27" fmla="*/ 345 h 3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4" h="345">
                  <a:moveTo>
                    <a:pt x="198" y="0"/>
                  </a:moveTo>
                  <a:lnTo>
                    <a:pt x="111" y="54"/>
                  </a:lnTo>
                  <a:lnTo>
                    <a:pt x="0" y="153"/>
                  </a:lnTo>
                  <a:lnTo>
                    <a:pt x="45" y="192"/>
                  </a:lnTo>
                  <a:lnTo>
                    <a:pt x="75" y="234"/>
                  </a:lnTo>
                  <a:lnTo>
                    <a:pt x="129" y="345"/>
                  </a:lnTo>
                  <a:lnTo>
                    <a:pt x="234" y="252"/>
                  </a:lnTo>
                  <a:lnTo>
                    <a:pt x="19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69" name="Freeform 40"/>
            <p:cNvSpPr>
              <a:spLocks/>
            </p:cNvSpPr>
            <p:nvPr/>
          </p:nvSpPr>
          <p:spPr bwMode="auto">
            <a:xfrm>
              <a:off x="1956" y="2859"/>
              <a:ext cx="624" cy="555"/>
            </a:xfrm>
            <a:custGeom>
              <a:avLst/>
              <a:gdLst>
                <a:gd name="T0" fmla="*/ 447 w 624"/>
                <a:gd name="T1" fmla="*/ 0 h 555"/>
                <a:gd name="T2" fmla="*/ 222 w 624"/>
                <a:gd name="T3" fmla="*/ 117 h 555"/>
                <a:gd name="T4" fmla="*/ 0 w 624"/>
                <a:gd name="T5" fmla="*/ 198 h 555"/>
                <a:gd name="T6" fmla="*/ 60 w 624"/>
                <a:gd name="T7" fmla="*/ 555 h 555"/>
                <a:gd name="T8" fmla="*/ 213 w 624"/>
                <a:gd name="T9" fmla="*/ 489 h 555"/>
                <a:gd name="T10" fmla="*/ 369 w 624"/>
                <a:gd name="T11" fmla="*/ 408 h 555"/>
                <a:gd name="T12" fmla="*/ 489 w 624"/>
                <a:gd name="T13" fmla="*/ 342 h 555"/>
                <a:gd name="T14" fmla="*/ 624 w 624"/>
                <a:gd name="T15" fmla="*/ 267 h 555"/>
                <a:gd name="T16" fmla="*/ 591 w 624"/>
                <a:gd name="T17" fmla="*/ 162 h 555"/>
                <a:gd name="T18" fmla="*/ 546 w 624"/>
                <a:gd name="T19" fmla="*/ 84 h 555"/>
                <a:gd name="T20" fmla="*/ 495 w 624"/>
                <a:gd name="T21" fmla="*/ 39 h 555"/>
                <a:gd name="T22" fmla="*/ 447 w 624"/>
                <a:gd name="T23" fmla="*/ 0 h 5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4"/>
                <a:gd name="T37" fmla="*/ 0 h 555"/>
                <a:gd name="T38" fmla="*/ 624 w 624"/>
                <a:gd name="T39" fmla="*/ 555 h 5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4" h="555">
                  <a:moveTo>
                    <a:pt x="447" y="0"/>
                  </a:moveTo>
                  <a:lnTo>
                    <a:pt x="222" y="117"/>
                  </a:lnTo>
                  <a:lnTo>
                    <a:pt x="0" y="198"/>
                  </a:lnTo>
                  <a:lnTo>
                    <a:pt x="60" y="555"/>
                  </a:lnTo>
                  <a:lnTo>
                    <a:pt x="213" y="489"/>
                  </a:lnTo>
                  <a:lnTo>
                    <a:pt x="369" y="408"/>
                  </a:lnTo>
                  <a:lnTo>
                    <a:pt x="489" y="342"/>
                  </a:lnTo>
                  <a:lnTo>
                    <a:pt x="624" y="267"/>
                  </a:lnTo>
                  <a:lnTo>
                    <a:pt x="591" y="162"/>
                  </a:lnTo>
                  <a:lnTo>
                    <a:pt x="546" y="84"/>
                  </a:lnTo>
                  <a:lnTo>
                    <a:pt x="495" y="39"/>
                  </a:lnTo>
                  <a:lnTo>
                    <a:pt x="447"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18670" name="Freeform 41"/>
            <p:cNvSpPr>
              <a:spLocks/>
            </p:cNvSpPr>
            <p:nvPr/>
          </p:nvSpPr>
          <p:spPr bwMode="auto">
            <a:xfrm>
              <a:off x="2418" y="2595"/>
              <a:ext cx="576" cy="525"/>
            </a:xfrm>
            <a:custGeom>
              <a:avLst/>
              <a:gdLst>
                <a:gd name="T0" fmla="*/ 450 w 576"/>
                <a:gd name="T1" fmla="*/ 0 h 525"/>
                <a:gd name="T2" fmla="*/ 255 w 576"/>
                <a:gd name="T3" fmla="*/ 120 h 525"/>
                <a:gd name="T4" fmla="*/ 0 w 576"/>
                <a:gd name="T5" fmla="*/ 264 h 525"/>
                <a:gd name="T6" fmla="*/ 66 w 576"/>
                <a:gd name="T7" fmla="*/ 318 h 525"/>
                <a:gd name="T8" fmla="*/ 114 w 576"/>
                <a:gd name="T9" fmla="*/ 378 h 525"/>
                <a:gd name="T10" fmla="*/ 150 w 576"/>
                <a:gd name="T11" fmla="*/ 456 h 525"/>
                <a:gd name="T12" fmla="*/ 171 w 576"/>
                <a:gd name="T13" fmla="*/ 525 h 525"/>
                <a:gd name="T14" fmla="*/ 387 w 576"/>
                <a:gd name="T15" fmla="*/ 369 h 525"/>
                <a:gd name="T16" fmla="*/ 576 w 576"/>
                <a:gd name="T17" fmla="*/ 228 h 525"/>
                <a:gd name="T18" fmla="*/ 549 w 576"/>
                <a:gd name="T19" fmla="*/ 141 h 525"/>
                <a:gd name="T20" fmla="*/ 498 w 576"/>
                <a:gd name="T21" fmla="*/ 57 h 525"/>
                <a:gd name="T22" fmla="*/ 450 w 576"/>
                <a:gd name="T23" fmla="*/ 0 h 5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6"/>
                <a:gd name="T37" fmla="*/ 0 h 525"/>
                <a:gd name="T38" fmla="*/ 576 w 576"/>
                <a:gd name="T39" fmla="*/ 525 h 5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6" h="525">
                  <a:moveTo>
                    <a:pt x="450" y="0"/>
                  </a:moveTo>
                  <a:lnTo>
                    <a:pt x="255" y="120"/>
                  </a:lnTo>
                  <a:lnTo>
                    <a:pt x="0" y="264"/>
                  </a:lnTo>
                  <a:lnTo>
                    <a:pt x="66" y="318"/>
                  </a:lnTo>
                  <a:lnTo>
                    <a:pt x="114" y="378"/>
                  </a:lnTo>
                  <a:lnTo>
                    <a:pt x="150" y="456"/>
                  </a:lnTo>
                  <a:lnTo>
                    <a:pt x="171" y="525"/>
                  </a:lnTo>
                  <a:lnTo>
                    <a:pt x="387" y="369"/>
                  </a:lnTo>
                  <a:lnTo>
                    <a:pt x="576" y="228"/>
                  </a:lnTo>
                  <a:lnTo>
                    <a:pt x="549" y="141"/>
                  </a:lnTo>
                  <a:lnTo>
                    <a:pt x="498" y="57"/>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71" name="Freeform 42"/>
            <p:cNvSpPr>
              <a:spLocks/>
            </p:cNvSpPr>
            <p:nvPr/>
          </p:nvSpPr>
          <p:spPr bwMode="auto">
            <a:xfrm>
              <a:off x="2880" y="2301"/>
              <a:ext cx="522" cy="519"/>
            </a:xfrm>
            <a:custGeom>
              <a:avLst/>
              <a:gdLst>
                <a:gd name="T0" fmla="*/ 375 w 522"/>
                <a:gd name="T1" fmla="*/ 0 h 519"/>
                <a:gd name="T2" fmla="*/ 219 w 522"/>
                <a:gd name="T3" fmla="*/ 120 h 519"/>
                <a:gd name="T4" fmla="*/ 0 w 522"/>
                <a:gd name="T5" fmla="*/ 285 h 519"/>
                <a:gd name="T6" fmla="*/ 33 w 522"/>
                <a:gd name="T7" fmla="*/ 330 h 519"/>
                <a:gd name="T8" fmla="*/ 84 w 522"/>
                <a:gd name="T9" fmla="*/ 393 h 519"/>
                <a:gd name="T10" fmla="*/ 108 w 522"/>
                <a:gd name="T11" fmla="*/ 453 h 519"/>
                <a:gd name="T12" fmla="*/ 126 w 522"/>
                <a:gd name="T13" fmla="*/ 519 h 519"/>
                <a:gd name="T14" fmla="*/ 330 w 522"/>
                <a:gd name="T15" fmla="*/ 354 h 519"/>
                <a:gd name="T16" fmla="*/ 522 w 522"/>
                <a:gd name="T17" fmla="*/ 183 h 519"/>
                <a:gd name="T18" fmla="*/ 489 w 522"/>
                <a:gd name="T19" fmla="*/ 120 h 519"/>
                <a:gd name="T20" fmla="*/ 468 w 522"/>
                <a:gd name="T21" fmla="*/ 84 h 519"/>
                <a:gd name="T22" fmla="*/ 444 w 522"/>
                <a:gd name="T23" fmla="*/ 54 h 519"/>
                <a:gd name="T24" fmla="*/ 375 w 522"/>
                <a:gd name="T25" fmla="*/ 0 h 5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2"/>
                <a:gd name="T40" fmla="*/ 0 h 519"/>
                <a:gd name="T41" fmla="*/ 522 w 522"/>
                <a:gd name="T42" fmla="*/ 519 h 5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2" h="519">
                  <a:moveTo>
                    <a:pt x="375" y="0"/>
                  </a:moveTo>
                  <a:lnTo>
                    <a:pt x="219" y="120"/>
                  </a:lnTo>
                  <a:lnTo>
                    <a:pt x="0" y="285"/>
                  </a:lnTo>
                  <a:lnTo>
                    <a:pt x="33" y="330"/>
                  </a:lnTo>
                  <a:lnTo>
                    <a:pt x="84" y="393"/>
                  </a:lnTo>
                  <a:lnTo>
                    <a:pt x="108" y="453"/>
                  </a:lnTo>
                  <a:lnTo>
                    <a:pt x="126" y="519"/>
                  </a:lnTo>
                  <a:lnTo>
                    <a:pt x="330" y="354"/>
                  </a:lnTo>
                  <a:lnTo>
                    <a:pt x="522" y="183"/>
                  </a:lnTo>
                  <a:lnTo>
                    <a:pt x="489" y="120"/>
                  </a:lnTo>
                  <a:lnTo>
                    <a:pt x="468" y="84"/>
                  </a:lnTo>
                  <a:lnTo>
                    <a:pt x="444" y="54"/>
                  </a:lnTo>
                  <a:lnTo>
                    <a:pt x="375"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18672" name="Freeform 43"/>
            <p:cNvSpPr>
              <a:spLocks/>
            </p:cNvSpPr>
            <p:nvPr/>
          </p:nvSpPr>
          <p:spPr bwMode="auto">
            <a:xfrm>
              <a:off x="3258" y="1959"/>
              <a:ext cx="519" cy="510"/>
            </a:xfrm>
            <a:custGeom>
              <a:avLst/>
              <a:gdLst>
                <a:gd name="T0" fmla="*/ 399 w 519"/>
                <a:gd name="T1" fmla="*/ 0 h 510"/>
                <a:gd name="T2" fmla="*/ 237 w 519"/>
                <a:gd name="T3" fmla="*/ 153 h 510"/>
                <a:gd name="T4" fmla="*/ 0 w 519"/>
                <a:gd name="T5" fmla="*/ 333 h 510"/>
                <a:gd name="T6" fmla="*/ 54 w 519"/>
                <a:gd name="T7" fmla="*/ 369 h 510"/>
                <a:gd name="T8" fmla="*/ 87 w 519"/>
                <a:gd name="T9" fmla="*/ 402 h 510"/>
                <a:gd name="T10" fmla="*/ 111 w 519"/>
                <a:gd name="T11" fmla="*/ 441 h 510"/>
                <a:gd name="T12" fmla="*/ 147 w 519"/>
                <a:gd name="T13" fmla="*/ 510 h 510"/>
                <a:gd name="T14" fmla="*/ 333 w 519"/>
                <a:gd name="T15" fmla="*/ 342 h 510"/>
                <a:gd name="T16" fmla="*/ 519 w 519"/>
                <a:gd name="T17" fmla="*/ 156 h 510"/>
                <a:gd name="T18" fmla="*/ 498 w 519"/>
                <a:gd name="T19" fmla="*/ 84 h 510"/>
                <a:gd name="T20" fmla="*/ 453 w 519"/>
                <a:gd name="T21" fmla="*/ 42 h 510"/>
                <a:gd name="T22" fmla="*/ 399 w 519"/>
                <a:gd name="T23" fmla="*/ 0 h 5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19"/>
                <a:gd name="T37" fmla="*/ 0 h 510"/>
                <a:gd name="T38" fmla="*/ 519 w 519"/>
                <a:gd name="T39" fmla="*/ 510 h 5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19" h="510">
                  <a:moveTo>
                    <a:pt x="399" y="0"/>
                  </a:moveTo>
                  <a:lnTo>
                    <a:pt x="237" y="153"/>
                  </a:lnTo>
                  <a:lnTo>
                    <a:pt x="0" y="333"/>
                  </a:lnTo>
                  <a:lnTo>
                    <a:pt x="54" y="369"/>
                  </a:lnTo>
                  <a:lnTo>
                    <a:pt x="87" y="402"/>
                  </a:lnTo>
                  <a:lnTo>
                    <a:pt x="111" y="441"/>
                  </a:lnTo>
                  <a:lnTo>
                    <a:pt x="147" y="510"/>
                  </a:lnTo>
                  <a:lnTo>
                    <a:pt x="333" y="342"/>
                  </a:lnTo>
                  <a:lnTo>
                    <a:pt x="519" y="156"/>
                  </a:lnTo>
                  <a:lnTo>
                    <a:pt x="498" y="84"/>
                  </a:lnTo>
                  <a:lnTo>
                    <a:pt x="453" y="42"/>
                  </a:lnTo>
                  <a:lnTo>
                    <a:pt x="39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73" name="Freeform 44"/>
            <p:cNvSpPr>
              <a:spLocks/>
            </p:cNvSpPr>
            <p:nvPr/>
          </p:nvSpPr>
          <p:spPr bwMode="auto">
            <a:xfrm>
              <a:off x="3663" y="1707"/>
              <a:ext cx="276" cy="399"/>
            </a:xfrm>
            <a:custGeom>
              <a:avLst/>
              <a:gdLst>
                <a:gd name="T0" fmla="*/ 246 w 276"/>
                <a:gd name="T1" fmla="*/ 0 h 399"/>
                <a:gd name="T2" fmla="*/ 117 w 276"/>
                <a:gd name="T3" fmla="*/ 132 h 399"/>
                <a:gd name="T4" fmla="*/ 60 w 276"/>
                <a:gd name="T5" fmla="*/ 183 h 399"/>
                <a:gd name="T6" fmla="*/ 0 w 276"/>
                <a:gd name="T7" fmla="*/ 243 h 399"/>
                <a:gd name="T8" fmla="*/ 54 w 276"/>
                <a:gd name="T9" fmla="*/ 285 h 399"/>
                <a:gd name="T10" fmla="*/ 87 w 276"/>
                <a:gd name="T11" fmla="*/ 315 h 399"/>
                <a:gd name="T12" fmla="*/ 123 w 276"/>
                <a:gd name="T13" fmla="*/ 399 h 399"/>
                <a:gd name="T14" fmla="*/ 276 w 276"/>
                <a:gd name="T15" fmla="*/ 255 h 399"/>
                <a:gd name="T16" fmla="*/ 246 w 276"/>
                <a:gd name="T17" fmla="*/ 0 h 3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6"/>
                <a:gd name="T28" fmla="*/ 0 h 399"/>
                <a:gd name="T29" fmla="*/ 276 w 276"/>
                <a:gd name="T30" fmla="*/ 399 h 3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6" h="399">
                  <a:moveTo>
                    <a:pt x="246" y="0"/>
                  </a:moveTo>
                  <a:lnTo>
                    <a:pt x="117" y="132"/>
                  </a:lnTo>
                  <a:lnTo>
                    <a:pt x="60" y="183"/>
                  </a:lnTo>
                  <a:lnTo>
                    <a:pt x="0" y="243"/>
                  </a:lnTo>
                  <a:lnTo>
                    <a:pt x="54" y="285"/>
                  </a:lnTo>
                  <a:lnTo>
                    <a:pt x="87" y="315"/>
                  </a:lnTo>
                  <a:lnTo>
                    <a:pt x="123" y="399"/>
                  </a:lnTo>
                  <a:lnTo>
                    <a:pt x="276" y="255"/>
                  </a:lnTo>
                  <a:lnTo>
                    <a:pt x="24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74" name="Freeform 45"/>
            <p:cNvSpPr>
              <a:spLocks/>
            </p:cNvSpPr>
            <p:nvPr/>
          </p:nvSpPr>
          <p:spPr bwMode="auto">
            <a:xfrm>
              <a:off x="2016" y="3261"/>
              <a:ext cx="483" cy="492"/>
            </a:xfrm>
            <a:custGeom>
              <a:avLst/>
              <a:gdLst>
                <a:gd name="T0" fmla="*/ 366 w 483"/>
                <a:gd name="T1" fmla="*/ 0 h 492"/>
                <a:gd name="T2" fmla="*/ 204 w 483"/>
                <a:gd name="T3" fmla="*/ 78 h 492"/>
                <a:gd name="T4" fmla="*/ 0 w 483"/>
                <a:gd name="T5" fmla="*/ 171 h 492"/>
                <a:gd name="T6" fmla="*/ 18 w 483"/>
                <a:gd name="T7" fmla="*/ 492 h 492"/>
                <a:gd name="T8" fmla="*/ 168 w 483"/>
                <a:gd name="T9" fmla="*/ 396 h 492"/>
                <a:gd name="T10" fmla="*/ 297 w 483"/>
                <a:gd name="T11" fmla="*/ 303 h 492"/>
                <a:gd name="T12" fmla="*/ 393 w 483"/>
                <a:gd name="T13" fmla="*/ 231 h 492"/>
                <a:gd name="T14" fmla="*/ 483 w 483"/>
                <a:gd name="T15" fmla="*/ 168 h 492"/>
                <a:gd name="T16" fmla="*/ 450 w 483"/>
                <a:gd name="T17" fmla="*/ 108 h 492"/>
                <a:gd name="T18" fmla="*/ 432 w 483"/>
                <a:gd name="T19" fmla="*/ 84 h 492"/>
                <a:gd name="T20" fmla="*/ 405 w 483"/>
                <a:gd name="T21" fmla="*/ 45 h 492"/>
                <a:gd name="T22" fmla="*/ 366 w 483"/>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3"/>
                <a:gd name="T37" fmla="*/ 0 h 492"/>
                <a:gd name="T38" fmla="*/ 483 w 483"/>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3" h="492">
                  <a:moveTo>
                    <a:pt x="366" y="0"/>
                  </a:moveTo>
                  <a:lnTo>
                    <a:pt x="204" y="78"/>
                  </a:lnTo>
                  <a:lnTo>
                    <a:pt x="0" y="171"/>
                  </a:lnTo>
                  <a:lnTo>
                    <a:pt x="18" y="492"/>
                  </a:lnTo>
                  <a:lnTo>
                    <a:pt x="168" y="396"/>
                  </a:lnTo>
                  <a:lnTo>
                    <a:pt x="297" y="303"/>
                  </a:lnTo>
                  <a:lnTo>
                    <a:pt x="393" y="231"/>
                  </a:lnTo>
                  <a:lnTo>
                    <a:pt x="483" y="168"/>
                  </a:lnTo>
                  <a:lnTo>
                    <a:pt x="450" y="108"/>
                  </a:lnTo>
                  <a:lnTo>
                    <a:pt x="432" y="84"/>
                  </a:lnTo>
                  <a:lnTo>
                    <a:pt x="405" y="45"/>
                  </a:lnTo>
                  <a:lnTo>
                    <a:pt x="36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75" name="Freeform 46"/>
            <p:cNvSpPr>
              <a:spLocks/>
            </p:cNvSpPr>
            <p:nvPr/>
          </p:nvSpPr>
          <p:spPr bwMode="auto">
            <a:xfrm>
              <a:off x="2388" y="2985"/>
              <a:ext cx="504" cy="441"/>
            </a:xfrm>
            <a:custGeom>
              <a:avLst/>
              <a:gdLst>
                <a:gd name="T0" fmla="*/ 411 w 504"/>
                <a:gd name="T1" fmla="*/ 0 h 441"/>
                <a:gd name="T2" fmla="*/ 255 w 504"/>
                <a:gd name="T3" fmla="*/ 114 h 441"/>
                <a:gd name="T4" fmla="*/ 0 w 504"/>
                <a:gd name="T5" fmla="*/ 270 h 441"/>
                <a:gd name="T6" fmla="*/ 42 w 504"/>
                <a:gd name="T7" fmla="*/ 312 h 441"/>
                <a:gd name="T8" fmla="*/ 66 w 504"/>
                <a:gd name="T9" fmla="*/ 348 h 441"/>
                <a:gd name="T10" fmla="*/ 87 w 504"/>
                <a:gd name="T11" fmla="*/ 375 h 441"/>
                <a:gd name="T12" fmla="*/ 111 w 504"/>
                <a:gd name="T13" fmla="*/ 441 h 441"/>
                <a:gd name="T14" fmla="*/ 318 w 504"/>
                <a:gd name="T15" fmla="*/ 306 h 441"/>
                <a:gd name="T16" fmla="*/ 504 w 504"/>
                <a:gd name="T17" fmla="*/ 147 h 441"/>
                <a:gd name="T18" fmla="*/ 471 w 504"/>
                <a:gd name="T19" fmla="*/ 87 h 441"/>
                <a:gd name="T20" fmla="*/ 450 w 504"/>
                <a:gd name="T21" fmla="*/ 51 h 441"/>
                <a:gd name="T22" fmla="*/ 411 w 504"/>
                <a:gd name="T23" fmla="*/ 0 h 4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4"/>
                <a:gd name="T37" fmla="*/ 0 h 441"/>
                <a:gd name="T38" fmla="*/ 504 w 504"/>
                <a:gd name="T39" fmla="*/ 441 h 4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4" h="441">
                  <a:moveTo>
                    <a:pt x="411" y="0"/>
                  </a:moveTo>
                  <a:lnTo>
                    <a:pt x="255" y="114"/>
                  </a:lnTo>
                  <a:lnTo>
                    <a:pt x="0" y="270"/>
                  </a:lnTo>
                  <a:lnTo>
                    <a:pt x="42" y="312"/>
                  </a:lnTo>
                  <a:lnTo>
                    <a:pt x="66" y="348"/>
                  </a:lnTo>
                  <a:lnTo>
                    <a:pt x="87" y="375"/>
                  </a:lnTo>
                  <a:lnTo>
                    <a:pt x="111" y="441"/>
                  </a:lnTo>
                  <a:lnTo>
                    <a:pt x="318" y="306"/>
                  </a:lnTo>
                  <a:lnTo>
                    <a:pt x="504" y="147"/>
                  </a:lnTo>
                  <a:lnTo>
                    <a:pt x="471" y="87"/>
                  </a:lnTo>
                  <a:lnTo>
                    <a:pt x="450" y="51"/>
                  </a:lnTo>
                  <a:lnTo>
                    <a:pt x="41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76" name="Freeform 47"/>
            <p:cNvSpPr>
              <a:spLocks/>
            </p:cNvSpPr>
            <p:nvPr/>
          </p:nvSpPr>
          <p:spPr bwMode="auto">
            <a:xfrm>
              <a:off x="2805" y="2694"/>
              <a:ext cx="492" cy="441"/>
            </a:xfrm>
            <a:custGeom>
              <a:avLst/>
              <a:gdLst>
                <a:gd name="T0" fmla="*/ 375 w 492"/>
                <a:gd name="T1" fmla="*/ 0 h 441"/>
                <a:gd name="T2" fmla="*/ 219 w 492"/>
                <a:gd name="T3" fmla="*/ 120 h 441"/>
                <a:gd name="T4" fmla="*/ 0 w 492"/>
                <a:gd name="T5" fmla="*/ 285 h 441"/>
                <a:gd name="T6" fmla="*/ 33 w 492"/>
                <a:gd name="T7" fmla="*/ 330 h 441"/>
                <a:gd name="T8" fmla="*/ 63 w 492"/>
                <a:gd name="T9" fmla="*/ 366 h 441"/>
                <a:gd name="T10" fmla="*/ 78 w 492"/>
                <a:gd name="T11" fmla="*/ 390 h 441"/>
                <a:gd name="T12" fmla="*/ 99 w 492"/>
                <a:gd name="T13" fmla="*/ 441 h 441"/>
                <a:gd name="T14" fmla="*/ 288 w 492"/>
                <a:gd name="T15" fmla="*/ 300 h 441"/>
                <a:gd name="T16" fmla="*/ 492 w 492"/>
                <a:gd name="T17" fmla="*/ 123 h 441"/>
                <a:gd name="T18" fmla="*/ 459 w 492"/>
                <a:gd name="T19" fmla="*/ 69 h 441"/>
                <a:gd name="T20" fmla="*/ 441 w 492"/>
                <a:gd name="T21" fmla="*/ 45 h 441"/>
                <a:gd name="T22" fmla="*/ 417 w 492"/>
                <a:gd name="T23" fmla="*/ 30 h 441"/>
                <a:gd name="T24" fmla="*/ 375 w 492"/>
                <a:gd name="T25" fmla="*/ 0 h 4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2"/>
                <a:gd name="T40" fmla="*/ 0 h 441"/>
                <a:gd name="T41" fmla="*/ 492 w 492"/>
                <a:gd name="T42" fmla="*/ 441 h 4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2" h="441">
                  <a:moveTo>
                    <a:pt x="375" y="0"/>
                  </a:moveTo>
                  <a:lnTo>
                    <a:pt x="219" y="120"/>
                  </a:lnTo>
                  <a:lnTo>
                    <a:pt x="0" y="285"/>
                  </a:lnTo>
                  <a:lnTo>
                    <a:pt x="33" y="330"/>
                  </a:lnTo>
                  <a:lnTo>
                    <a:pt x="63" y="366"/>
                  </a:lnTo>
                  <a:lnTo>
                    <a:pt x="78" y="390"/>
                  </a:lnTo>
                  <a:lnTo>
                    <a:pt x="99" y="441"/>
                  </a:lnTo>
                  <a:lnTo>
                    <a:pt x="288" y="300"/>
                  </a:lnTo>
                  <a:lnTo>
                    <a:pt x="492" y="123"/>
                  </a:lnTo>
                  <a:lnTo>
                    <a:pt x="459" y="69"/>
                  </a:lnTo>
                  <a:lnTo>
                    <a:pt x="441" y="45"/>
                  </a:lnTo>
                  <a:lnTo>
                    <a:pt x="417" y="30"/>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77" name="Freeform 48"/>
            <p:cNvSpPr>
              <a:spLocks/>
            </p:cNvSpPr>
            <p:nvPr/>
          </p:nvSpPr>
          <p:spPr bwMode="auto">
            <a:xfrm>
              <a:off x="3189" y="2343"/>
              <a:ext cx="507" cy="465"/>
            </a:xfrm>
            <a:custGeom>
              <a:avLst/>
              <a:gdLst>
                <a:gd name="T0" fmla="*/ 375 w 507"/>
                <a:gd name="T1" fmla="*/ 0 h 465"/>
                <a:gd name="T2" fmla="*/ 219 w 507"/>
                <a:gd name="T3" fmla="*/ 147 h 465"/>
                <a:gd name="T4" fmla="*/ 90 w 507"/>
                <a:gd name="T5" fmla="*/ 264 h 465"/>
                <a:gd name="T6" fmla="*/ 0 w 507"/>
                <a:gd name="T7" fmla="*/ 339 h 465"/>
                <a:gd name="T8" fmla="*/ 45 w 507"/>
                <a:gd name="T9" fmla="*/ 375 h 465"/>
                <a:gd name="T10" fmla="*/ 75 w 507"/>
                <a:gd name="T11" fmla="*/ 399 h 465"/>
                <a:gd name="T12" fmla="*/ 96 w 507"/>
                <a:gd name="T13" fmla="*/ 423 h 465"/>
                <a:gd name="T14" fmla="*/ 114 w 507"/>
                <a:gd name="T15" fmla="*/ 465 h 465"/>
                <a:gd name="T16" fmla="*/ 306 w 507"/>
                <a:gd name="T17" fmla="*/ 309 h 465"/>
                <a:gd name="T18" fmla="*/ 507 w 507"/>
                <a:gd name="T19" fmla="*/ 129 h 465"/>
                <a:gd name="T20" fmla="*/ 465 w 507"/>
                <a:gd name="T21" fmla="*/ 63 h 465"/>
                <a:gd name="T22" fmla="*/ 423 w 507"/>
                <a:gd name="T23" fmla="*/ 24 h 465"/>
                <a:gd name="T24" fmla="*/ 375 w 507"/>
                <a:gd name="T25" fmla="*/ 0 h 4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7"/>
                <a:gd name="T40" fmla="*/ 0 h 465"/>
                <a:gd name="T41" fmla="*/ 507 w 507"/>
                <a:gd name="T42" fmla="*/ 465 h 4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7" h="465">
                  <a:moveTo>
                    <a:pt x="375" y="0"/>
                  </a:moveTo>
                  <a:lnTo>
                    <a:pt x="219" y="147"/>
                  </a:lnTo>
                  <a:lnTo>
                    <a:pt x="90" y="264"/>
                  </a:lnTo>
                  <a:lnTo>
                    <a:pt x="0" y="339"/>
                  </a:lnTo>
                  <a:lnTo>
                    <a:pt x="45" y="375"/>
                  </a:lnTo>
                  <a:lnTo>
                    <a:pt x="75" y="399"/>
                  </a:lnTo>
                  <a:lnTo>
                    <a:pt x="96" y="423"/>
                  </a:lnTo>
                  <a:lnTo>
                    <a:pt x="114" y="465"/>
                  </a:lnTo>
                  <a:lnTo>
                    <a:pt x="306" y="309"/>
                  </a:lnTo>
                  <a:lnTo>
                    <a:pt x="507" y="129"/>
                  </a:lnTo>
                  <a:lnTo>
                    <a:pt x="465" y="63"/>
                  </a:lnTo>
                  <a:lnTo>
                    <a:pt x="423" y="24"/>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78" name="Freeform 49"/>
            <p:cNvSpPr>
              <a:spLocks/>
            </p:cNvSpPr>
            <p:nvPr/>
          </p:nvSpPr>
          <p:spPr bwMode="auto">
            <a:xfrm>
              <a:off x="3570" y="1968"/>
              <a:ext cx="387" cy="507"/>
            </a:xfrm>
            <a:custGeom>
              <a:avLst/>
              <a:gdLst>
                <a:gd name="T0" fmla="*/ 378 w 387"/>
                <a:gd name="T1" fmla="*/ 0 h 507"/>
                <a:gd name="T2" fmla="*/ 240 w 387"/>
                <a:gd name="T3" fmla="*/ 132 h 507"/>
                <a:gd name="T4" fmla="*/ 132 w 387"/>
                <a:gd name="T5" fmla="*/ 240 h 507"/>
                <a:gd name="T6" fmla="*/ 0 w 387"/>
                <a:gd name="T7" fmla="*/ 369 h 507"/>
                <a:gd name="T8" fmla="*/ 63 w 387"/>
                <a:gd name="T9" fmla="*/ 405 h 507"/>
                <a:gd name="T10" fmla="*/ 99 w 387"/>
                <a:gd name="T11" fmla="*/ 435 h 507"/>
                <a:gd name="T12" fmla="*/ 132 w 387"/>
                <a:gd name="T13" fmla="*/ 507 h 507"/>
                <a:gd name="T14" fmla="*/ 387 w 387"/>
                <a:gd name="T15" fmla="*/ 249 h 507"/>
                <a:gd name="T16" fmla="*/ 378 w 387"/>
                <a:gd name="T17" fmla="*/ 0 h 5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507"/>
                <a:gd name="T29" fmla="*/ 387 w 387"/>
                <a:gd name="T30" fmla="*/ 507 h 5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507">
                  <a:moveTo>
                    <a:pt x="378" y="0"/>
                  </a:moveTo>
                  <a:lnTo>
                    <a:pt x="240" y="132"/>
                  </a:lnTo>
                  <a:lnTo>
                    <a:pt x="132" y="240"/>
                  </a:lnTo>
                  <a:lnTo>
                    <a:pt x="0" y="369"/>
                  </a:lnTo>
                  <a:lnTo>
                    <a:pt x="63" y="405"/>
                  </a:lnTo>
                  <a:lnTo>
                    <a:pt x="99" y="435"/>
                  </a:lnTo>
                  <a:lnTo>
                    <a:pt x="132" y="507"/>
                  </a:lnTo>
                  <a:lnTo>
                    <a:pt x="387" y="249"/>
                  </a:lnTo>
                  <a:lnTo>
                    <a:pt x="37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18679" name="Freeform 50"/>
            <p:cNvSpPr>
              <a:spLocks/>
            </p:cNvSpPr>
            <p:nvPr/>
          </p:nvSpPr>
          <p:spPr bwMode="auto">
            <a:xfrm>
              <a:off x="1676" y="3350"/>
              <a:ext cx="340" cy="394"/>
            </a:xfrm>
            <a:custGeom>
              <a:avLst/>
              <a:gdLst>
                <a:gd name="T0" fmla="*/ 340 w 340"/>
                <a:gd name="T1" fmla="*/ 394 h 394"/>
                <a:gd name="T2" fmla="*/ 8 w 340"/>
                <a:gd name="T3" fmla="*/ 236 h 394"/>
                <a:gd name="T4" fmla="*/ 4 w 340"/>
                <a:gd name="T5" fmla="*/ 114 h 394"/>
                <a:gd name="T6" fmla="*/ 0 w 340"/>
                <a:gd name="T7" fmla="*/ 0 h 394"/>
                <a:gd name="T8" fmla="*/ 90 w 340"/>
                <a:gd name="T9" fmla="*/ 14 h 394"/>
                <a:gd name="T10" fmla="*/ 150 w 340"/>
                <a:gd name="T11" fmla="*/ 28 h 394"/>
                <a:gd name="T12" fmla="*/ 258 w 340"/>
                <a:gd name="T13" fmla="*/ 52 h 394"/>
                <a:gd name="T14" fmla="*/ 326 w 340"/>
                <a:gd name="T15" fmla="*/ 72 h 394"/>
                <a:gd name="T16" fmla="*/ 338 w 340"/>
                <a:gd name="T17" fmla="*/ 180 h 394"/>
                <a:gd name="T18" fmla="*/ 340 w 340"/>
                <a:gd name="T19" fmla="*/ 248 h 394"/>
                <a:gd name="T20" fmla="*/ 340 w 340"/>
                <a:gd name="T21" fmla="*/ 316 h 394"/>
                <a:gd name="T22" fmla="*/ 340 w 340"/>
                <a:gd name="T23" fmla="*/ 394 h 3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0"/>
                <a:gd name="T37" fmla="*/ 0 h 394"/>
                <a:gd name="T38" fmla="*/ 340 w 340"/>
                <a:gd name="T39" fmla="*/ 394 h 39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0" h="394">
                  <a:moveTo>
                    <a:pt x="340" y="394"/>
                  </a:moveTo>
                  <a:lnTo>
                    <a:pt x="8" y="236"/>
                  </a:lnTo>
                  <a:lnTo>
                    <a:pt x="4" y="114"/>
                  </a:lnTo>
                  <a:lnTo>
                    <a:pt x="0" y="0"/>
                  </a:lnTo>
                  <a:lnTo>
                    <a:pt x="90" y="14"/>
                  </a:lnTo>
                  <a:lnTo>
                    <a:pt x="150" y="28"/>
                  </a:lnTo>
                  <a:lnTo>
                    <a:pt x="258" y="52"/>
                  </a:lnTo>
                  <a:lnTo>
                    <a:pt x="326" y="72"/>
                  </a:lnTo>
                  <a:lnTo>
                    <a:pt x="338" y="180"/>
                  </a:lnTo>
                  <a:lnTo>
                    <a:pt x="340" y="248"/>
                  </a:lnTo>
                  <a:lnTo>
                    <a:pt x="340" y="316"/>
                  </a:lnTo>
                  <a:lnTo>
                    <a:pt x="340"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8680" name="Freeform 51"/>
            <p:cNvSpPr>
              <a:spLocks/>
            </p:cNvSpPr>
            <p:nvPr/>
          </p:nvSpPr>
          <p:spPr bwMode="auto">
            <a:xfrm>
              <a:off x="1626" y="3012"/>
              <a:ext cx="372" cy="394"/>
            </a:xfrm>
            <a:custGeom>
              <a:avLst/>
              <a:gdLst>
                <a:gd name="T0" fmla="*/ 372 w 372"/>
                <a:gd name="T1" fmla="*/ 394 h 394"/>
                <a:gd name="T2" fmla="*/ 190 w 372"/>
                <a:gd name="T3" fmla="*/ 348 h 394"/>
                <a:gd name="T4" fmla="*/ 40 w 372"/>
                <a:gd name="T5" fmla="*/ 318 h 394"/>
                <a:gd name="T6" fmla="*/ 0 w 372"/>
                <a:gd name="T7" fmla="*/ 0 h 394"/>
                <a:gd name="T8" fmla="*/ 76 w 372"/>
                <a:gd name="T9" fmla="*/ 10 h 394"/>
                <a:gd name="T10" fmla="*/ 198 w 372"/>
                <a:gd name="T11" fmla="*/ 22 h 394"/>
                <a:gd name="T12" fmla="*/ 308 w 372"/>
                <a:gd name="T13" fmla="*/ 38 h 394"/>
                <a:gd name="T14" fmla="*/ 340 w 372"/>
                <a:gd name="T15" fmla="*/ 202 h 394"/>
                <a:gd name="T16" fmla="*/ 372 w 372"/>
                <a:gd name="T17" fmla="*/ 394 h 3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2"/>
                <a:gd name="T28" fmla="*/ 0 h 394"/>
                <a:gd name="T29" fmla="*/ 372 w 372"/>
                <a:gd name="T30" fmla="*/ 394 h 3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2" h="394">
                  <a:moveTo>
                    <a:pt x="372" y="394"/>
                  </a:moveTo>
                  <a:lnTo>
                    <a:pt x="190" y="348"/>
                  </a:lnTo>
                  <a:lnTo>
                    <a:pt x="40" y="318"/>
                  </a:lnTo>
                  <a:lnTo>
                    <a:pt x="0" y="0"/>
                  </a:lnTo>
                  <a:lnTo>
                    <a:pt x="76" y="10"/>
                  </a:lnTo>
                  <a:lnTo>
                    <a:pt x="198" y="22"/>
                  </a:lnTo>
                  <a:lnTo>
                    <a:pt x="308" y="38"/>
                  </a:lnTo>
                  <a:lnTo>
                    <a:pt x="340" y="202"/>
                  </a:lnTo>
                  <a:lnTo>
                    <a:pt x="372"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18681" name="Freeform 52"/>
            <p:cNvSpPr>
              <a:spLocks/>
            </p:cNvSpPr>
            <p:nvPr/>
          </p:nvSpPr>
          <p:spPr bwMode="auto">
            <a:xfrm>
              <a:off x="1554" y="2698"/>
              <a:ext cx="374" cy="340"/>
            </a:xfrm>
            <a:custGeom>
              <a:avLst/>
              <a:gdLst>
                <a:gd name="T0" fmla="*/ 374 w 374"/>
                <a:gd name="T1" fmla="*/ 340 h 340"/>
                <a:gd name="T2" fmla="*/ 240 w 374"/>
                <a:gd name="T3" fmla="*/ 324 h 340"/>
                <a:gd name="T4" fmla="*/ 68 w 374"/>
                <a:gd name="T5" fmla="*/ 302 h 340"/>
                <a:gd name="T6" fmla="*/ 0 w 374"/>
                <a:gd name="T7" fmla="*/ 0 h 340"/>
                <a:gd name="T8" fmla="*/ 90 w 374"/>
                <a:gd name="T9" fmla="*/ 2 h 340"/>
                <a:gd name="T10" fmla="*/ 174 w 374"/>
                <a:gd name="T11" fmla="*/ 0 h 340"/>
                <a:gd name="T12" fmla="*/ 296 w 374"/>
                <a:gd name="T13" fmla="*/ 14 h 340"/>
                <a:gd name="T14" fmla="*/ 312 w 374"/>
                <a:gd name="T15" fmla="*/ 90 h 340"/>
                <a:gd name="T16" fmla="*/ 354 w 374"/>
                <a:gd name="T17" fmla="*/ 246 h 340"/>
                <a:gd name="T18" fmla="*/ 374 w 374"/>
                <a:gd name="T19" fmla="*/ 340 h 3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340"/>
                <a:gd name="T32" fmla="*/ 374 w 374"/>
                <a:gd name="T33" fmla="*/ 340 h 3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340">
                  <a:moveTo>
                    <a:pt x="374" y="340"/>
                  </a:moveTo>
                  <a:lnTo>
                    <a:pt x="240" y="324"/>
                  </a:lnTo>
                  <a:lnTo>
                    <a:pt x="68" y="302"/>
                  </a:lnTo>
                  <a:lnTo>
                    <a:pt x="0" y="0"/>
                  </a:lnTo>
                  <a:lnTo>
                    <a:pt x="90" y="2"/>
                  </a:lnTo>
                  <a:lnTo>
                    <a:pt x="174" y="0"/>
                  </a:lnTo>
                  <a:lnTo>
                    <a:pt x="296" y="14"/>
                  </a:lnTo>
                  <a:lnTo>
                    <a:pt x="312" y="90"/>
                  </a:lnTo>
                  <a:lnTo>
                    <a:pt x="354" y="246"/>
                  </a:lnTo>
                  <a:lnTo>
                    <a:pt x="374" y="340"/>
                  </a:lnTo>
                  <a:close/>
                </a:path>
              </a:pathLst>
            </a:custGeom>
            <a:gradFill rotWithShape="0">
              <a:gsLst>
                <a:gs pos="0">
                  <a:srgbClr val="CFB2AD"/>
                </a:gs>
                <a:gs pos="100000">
                  <a:srgbClr val="A85656"/>
                </a:gs>
              </a:gsLst>
              <a:lin ang="2700000" scaled="1"/>
            </a:gradFill>
            <a:ln w="12700" cap="flat" cmpd="sng">
              <a:noFill/>
              <a:prstDash val="solid"/>
              <a:round/>
              <a:headEnd type="none" w="sm" len="sm"/>
              <a:tailEnd type="none" w="sm" len="sm"/>
            </a:ln>
          </p:spPr>
          <p:txBody>
            <a:bodyPr wrap="none" anchor="ctr"/>
            <a:lstStyle/>
            <a:p>
              <a:endParaRPr lang="en-US"/>
            </a:p>
          </p:txBody>
        </p:sp>
        <p:sp>
          <p:nvSpPr>
            <p:cNvPr id="18682" name="Freeform 53"/>
            <p:cNvSpPr>
              <a:spLocks/>
            </p:cNvSpPr>
            <p:nvPr/>
          </p:nvSpPr>
          <p:spPr bwMode="auto">
            <a:xfrm>
              <a:off x="1460" y="2366"/>
              <a:ext cx="388" cy="334"/>
            </a:xfrm>
            <a:custGeom>
              <a:avLst/>
              <a:gdLst>
                <a:gd name="T0" fmla="*/ 388 w 388"/>
                <a:gd name="T1" fmla="*/ 334 h 334"/>
                <a:gd name="T2" fmla="*/ 258 w 388"/>
                <a:gd name="T3" fmla="*/ 320 h 334"/>
                <a:gd name="T4" fmla="*/ 90 w 388"/>
                <a:gd name="T5" fmla="*/ 324 h 334"/>
                <a:gd name="T6" fmla="*/ 0 w 388"/>
                <a:gd name="T7" fmla="*/ 2 h 334"/>
                <a:gd name="T8" fmla="*/ 82 w 388"/>
                <a:gd name="T9" fmla="*/ 2 h 334"/>
                <a:gd name="T10" fmla="*/ 172 w 388"/>
                <a:gd name="T11" fmla="*/ 0 h 334"/>
                <a:gd name="T12" fmla="*/ 288 w 388"/>
                <a:gd name="T13" fmla="*/ 6 h 334"/>
                <a:gd name="T14" fmla="*/ 308 w 388"/>
                <a:gd name="T15" fmla="*/ 80 h 334"/>
                <a:gd name="T16" fmla="*/ 350 w 388"/>
                <a:gd name="T17" fmla="*/ 212 h 334"/>
                <a:gd name="T18" fmla="*/ 388 w 388"/>
                <a:gd name="T19" fmla="*/ 334 h 3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8"/>
                <a:gd name="T31" fmla="*/ 0 h 334"/>
                <a:gd name="T32" fmla="*/ 388 w 388"/>
                <a:gd name="T33" fmla="*/ 334 h 3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8" h="334">
                  <a:moveTo>
                    <a:pt x="388" y="334"/>
                  </a:moveTo>
                  <a:lnTo>
                    <a:pt x="258" y="320"/>
                  </a:lnTo>
                  <a:lnTo>
                    <a:pt x="90" y="324"/>
                  </a:lnTo>
                  <a:lnTo>
                    <a:pt x="0" y="2"/>
                  </a:lnTo>
                  <a:lnTo>
                    <a:pt x="82" y="2"/>
                  </a:lnTo>
                  <a:lnTo>
                    <a:pt x="172" y="0"/>
                  </a:lnTo>
                  <a:lnTo>
                    <a:pt x="288" y="6"/>
                  </a:lnTo>
                  <a:lnTo>
                    <a:pt x="308" y="80"/>
                  </a:lnTo>
                  <a:lnTo>
                    <a:pt x="350" y="212"/>
                  </a:lnTo>
                  <a:lnTo>
                    <a:pt x="388" y="334"/>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8683" name="Freeform 54"/>
            <p:cNvSpPr>
              <a:spLocks/>
            </p:cNvSpPr>
            <p:nvPr/>
          </p:nvSpPr>
          <p:spPr bwMode="auto">
            <a:xfrm>
              <a:off x="1344" y="1998"/>
              <a:ext cx="398" cy="358"/>
            </a:xfrm>
            <a:custGeom>
              <a:avLst/>
              <a:gdLst>
                <a:gd name="T0" fmla="*/ 398 w 398"/>
                <a:gd name="T1" fmla="*/ 358 h 358"/>
                <a:gd name="T2" fmla="*/ 272 w 398"/>
                <a:gd name="T3" fmla="*/ 358 h 358"/>
                <a:gd name="T4" fmla="*/ 108 w 398"/>
                <a:gd name="T5" fmla="*/ 356 h 358"/>
                <a:gd name="T6" fmla="*/ 64 w 398"/>
                <a:gd name="T7" fmla="*/ 204 h 358"/>
                <a:gd name="T8" fmla="*/ 0 w 398"/>
                <a:gd name="T9" fmla="*/ 28 h 358"/>
                <a:gd name="T10" fmla="*/ 90 w 398"/>
                <a:gd name="T11" fmla="*/ 24 h 358"/>
                <a:gd name="T12" fmla="*/ 144 w 398"/>
                <a:gd name="T13" fmla="*/ 22 h 358"/>
                <a:gd name="T14" fmla="*/ 212 w 398"/>
                <a:gd name="T15" fmla="*/ 16 h 358"/>
                <a:gd name="T16" fmla="*/ 286 w 398"/>
                <a:gd name="T17" fmla="*/ 0 h 358"/>
                <a:gd name="T18" fmla="*/ 314 w 398"/>
                <a:gd name="T19" fmla="*/ 94 h 358"/>
                <a:gd name="T20" fmla="*/ 356 w 398"/>
                <a:gd name="T21" fmla="*/ 228 h 358"/>
                <a:gd name="T22" fmla="*/ 398 w 398"/>
                <a:gd name="T23" fmla="*/ 358 h 3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8"/>
                <a:gd name="T37" fmla="*/ 0 h 358"/>
                <a:gd name="T38" fmla="*/ 398 w 398"/>
                <a:gd name="T39" fmla="*/ 358 h 3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8" h="358">
                  <a:moveTo>
                    <a:pt x="398" y="358"/>
                  </a:moveTo>
                  <a:lnTo>
                    <a:pt x="272" y="358"/>
                  </a:lnTo>
                  <a:lnTo>
                    <a:pt x="108" y="356"/>
                  </a:lnTo>
                  <a:lnTo>
                    <a:pt x="64" y="204"/>
                  </a:lnTo>
                  <a:lnTo>
                    <a:pt x="0" y="28"/>
                  </a:lnTo>
                  <a:lnTo>
                    <a:pt x="90" y="24"/>
                  </a:lnTo>
                  <a:lnTo>
                    <a:pt x="144" y="22"/>
                  </a:lnTo>
                  <a:lnTo>
                    <a:pt x="212" y="16"/>
                  </a:lnTo>
                  <a:lnTo>
                    <a:pt x="286" y="0"/>
                  </a:lnTo>
                  <a:lnTo>
                    <a:pt x="314" y="94"/>
                  </a:lnTo>
                  <a:lnTo>
                    <a:pt x="356" y="228"/>
                  </a:lnTo>
                  <a:lnTo>
                    <a:pt x="398" y="358"/>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8684" name="Freeform 55"/>
            <p:cNvSpPr>
              <a:spLocks/>
            </p:cNvSpPr>
            <p:nvPr/>
          </p:nvSpPr>
          <p:spPr bwMode="auto">
            <a:xfrm>
              <a:off x="1144" y="1522"/>
              <a:ext cx="482" cy="492"/>
            </a:xfrm>
            <a:custGeom>
              <a:avLst/>
              <a:gdLst>
                <a:gd name="T0" fmla="*/ 482 w 482"/>
                <a:gd name="T1" fmla="*/ 468 h 492"/>
                <a:gd name="T2" fmla="*/ 364 w 482"/>
                <a:gd name="T3" fmla="*/ 492 h 492"/>
                <a:gd name="T4" fmla="*/ 198 w 482"/>
                <a:gd name="T5" fmla="*/ 492 h 492"/>
                <a:gd name="T6" fmla="*/ 126 w 482"/>
                <a:gd name="T7" fmla="*/ 292 h 492"/>
                <a:gd name="T8" fmla="*/ 0 w 482"/>
                <a:gd name="T9" fmla="*/ 0 h 492"/>
                <a:gd name="T10" fmla="*/ 122 w 482"/>
                <a:gd name="T11" fmla="*/ 22 h 492"/>
                <a:gd name="T12" fmla="*/ 196 w 482"/>
                <a:gd name="T13" fmla="*/ 34 h 492"/>
                <a:gd name="T14" fmla="*/ 276 w 482"/>
                <a:gd name="T15" fmla="*/ 48 h 492"/>
                <a:gd name="T16" fmla="*/ 328 w 482"/>
                <a:gd name="T17" fmla="*/ 62 h 492"/>
                <a:gd name="T18" fmla="*/ 380 w 482"/>
                <a:gd name="T19" fmla="*/ 198 h 492"/>
                <a:gd name="T20" fmla="*/ 432 w 482"/>
                <a:gd name="T21" fmla="*/ 330 h 492"/>
                <a:gd name="T22" fmla="*/ 482 w 482"/>
                <a:gd name="T23" fmla="*/ 468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2"/>
                <a:gd name="T37" fmla="*/ 0 h 492"/>
                <a:gd name="T38" fmla="*/ 482 w 482"/>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2" h="492">
                  <a:moveTo>
                    <a:pt x="482" y="468"/>
                  </a:moveTo>
                  <a:lnTo>
                    <a:pt x="364" y="492"/>
                  </a:lnTo>
                  <a:lnTo>
                    <a:pt x="198" y="492"/>
                  </a:lnTo>
                  <a:lnTo>
                    <a:pt x="126" y="292"/>
                  </a:lnTo>
                  <a:lnTo>
                    <a:pt x="0" y="0"/>
                  </a:lnTo>
                  <a:lnTo>
                    <a:pt x="122" y="22"/>
                  </a:lnTo>
                  <a:lnTo>
                    <a:pt x="196" y="34"/>
                  </a:lnTo>
                  <a:lnTo>
                    <a:pt x="276" y="48"/>
                  </a:lnTo>
                  <a:lnTo>
                    <a:pt x="328" y="62"/>
                  </a:lnTo>
                  <a:lnTo>
                    <a:pt x="380" y="198"/>
                  </a:lnTo>
                  <a:lnTo>
                    <a:pt x="432" y="330"/>
                  </a:lnTo>
                  <a:lnTo>
                    <a:pt x="482" y="468"/>
                  </a:lnTo>
                  <a:close/>
                </a:path>
              </a:pathLst>
            </a:custGeom>
            <a:gradFill rotWithShape="0">
              <a:gsLst>
                <a:gs pos="0">
                  <a:srgbClr val="E8D9D6"/>
                </a:gs>
                <a:gs pos="100000">
                  <a:srgbClr val="CA9898"/>
                </a:gs>
              </a:gsLst>
              <a:lin ang="2700000" scaled="1"/>
            </a:gradFill>
            <a:ln w="12700" cap="flat" cmpd="sng">
              <a:noFill/>
              <a:prstDash val="solid"/>
              <a:round/>
              <a:headEnd type="none" w="sm" len="sm"/>
              <a:tailEnd type="none" w="sm" len="sm"/>
            </a:ln>
          </p:spPr>
          <p:txBody>
            <a:bodyPr wrap="none" anchor="ctr"/>
            <a:lstStyle/>
            <a:p>
              <a:endParaRPr lang="en-US"/>
            </a:p>
          </p:txBody>
        </p:sp>
        <p:sp>
          <p:nvSpPr>
            <p:cNvPr id="18685" name="Freeform 56"/>
            <p:cNvSpPr>
              <a:spLocks/>
            </p:cNvSpPr>
            <p:nvPr/>
          </p:nvSpPr>
          <p:spPr bwMode="auto">
            <a:xfrm>
              <a:off x="1167" y="1344"/>
              <a:ext cx="837" cy="231"/>
            </a:xfrm>
            <a:custGeom>
              <a:avLst/>
              <a:gdLst>
                <a:gd name="T0" fmla="*/ 0 w 837"/>
                <a:gd name="T1" fmla="*/ 171 h 231"/>
                <a:gd name="T2" fmla="*/ 297 w 837"/>
                <a:gd name="T3" fmla="*/ 231 h 231"/>
                <a:gd name="T4" fmla="*/ 561 w 837"/>
                <a:gd name="T5" fmla="*/ 204 h 231"/>
                <a:gd name="T6" fmla="*/ 837 w 837"/>
                <a:gd name="T7" fmla="*/ 138 h 231"/>
                <a:gd name="T8" fmla="*/ 738 w 837"/>
                <a:gd name="T9" fmla="*/ 75 h 231"/>
                <a:gd name="T10" fmla="*/ 618 w 837"/>
                <a:gd name="T11" fmla="*/ 27 h 231"/>
                <a:gd name="T12" fmla="*/ 513 w 837"/>
                <a:gd name="T13" fmla="*/ 0 h 231"/>
                <a:gd name="T14" fmla="*/ 390 w 837"/>
                <a:gd name="T15" fmla="*/ 45 h 231"/>
                <a:gd name="T16" fmla="*/ 0 w 837"/>
                <a:gd name="T17" fmla="*/ 171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37"/>
                <a:gd name="T28" fmla="*/ 0 h 231"/>
                <a:gd name="T29" fmla="*/ 837 w 837"/>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37" h="231">
                  <a:moveTo>
                    <a:pt x="0" y="171"/>
                  </a:moveTo>
                  <a:lnTo>
                    <a:pt x="297" y="231"/>
                  </a:lnTo>
                  <a:lnTo>
                    <a:pt x="561" y="204"/>
                  </a:lnTo>
                  <a:lnTo>
                    <a:pt x="837" y="138"/>
                  </a:lnTo>
                  <a:lnTo>
                    <a:pt x="738" y="75"/>
                  </a:lnTo>
                  <a:lnTo>
                    <a:pt x="618" y="27"/>
                  </a:lnTo>
                  <a:lnTo>
                    <a:pt x="513" y="0"/>
                  </a:lnTo>
                  <a:lnTo>
                    <a:pt x="390" y="45"/>
                  </a:lnTo>
                  <a:lnTo>
                    <a:pt x="0" y="171"/>
                  </a:lnTo>
                  <a:close/>
                </a:path>
              </a:pathLst>
            </a:custGeom>
            <a:gradFill rotWithShape="0">
              <a:gsLst>
                <a:gs pos="0">
                  <a:srgbClr val="C58D8D"/>
                </a:gs>
                <a:gs pos="100000">
                  <a:srgbClr val="8F5A59"/>
                </a:gs>
              </a:gsLst>
              <a:lin ang="0" scaled="1"/>
            </a:gradFill>
            <a:ln w="12700" cap="flat" cmpd="sng">
              <a:noFill/>
              <a:prstDash val="solid"/>
              <a:round/>
              <a:headEnd type="none" w="sm" len="sm"/>
              <a:tailEnd type="none" w="sm" len="sm"/>
            </a:ln>
          </p:spPr>
          <p:txBody>
            <a:bodyPr wrap="none" anchor="ctr"/>
            <a:lstStyle/>
            <a:p>
              <a:endParaRPr lang="en-US"/>
            </a:p>
          </p:txBody>
        </p:sp>
        <p:sp>
          <p:nvSpPr>
            <p:cNvPr id="18686" name="Freeform 57"/>
            <p:cNvSpPr>
              <a:spLocks/>
            </p:cNvSpPr>
            <p:nvPr/>
          </p:nvSpPr>
          <p:spPr bwMode="auto">
            <a:xfrm>
              <a:off x="1707" y="1128"/>
              <a:ext cx="780" cy="345"/>
            </a:xfrm>
            <a:custGeom>
              <a:avLst/>
              <a:gdLst>
                <a:gd name="T0" fmla="*/ 0 w 780"/>
                <a:gd name="T1" fmla="*/ 207 h 345"/>
                <a:gd name="T2" fmla="*/ 165 w 780"/>
                <a:gd name="T3" fmla="*/ 261 h 345"/>
                <a:gd name="T4" fmla="*/ 318 w 780"/>
                <a:gd name="T5" fmla="*/ 345 h 345"/>
                <a:gd name="T6" fmla="*/ 552 w 780"/>
                <a:gd name="T7" fmla="*/ 255 h 345"/>
                <a:gd name="T8" fmla="*/ 780 w 780"/>
                <a:gd name="T9" fmla="*/ 144 h 345"/>
                <a:gd name="T10" fmla="*/ 705 w 780"/>
                <a:gd name="T11" fmla="*/ 69 h 345"/>
                <a:gd name="T12" fmla="*/ 618 w 780"/>
                <a:gd name="T13" fmla="*/ 30 h 345"/>
                <a:gd name="T14" fmla="*/ 498 w 780"/>
                <a:gd name="T15" fmla="*/ 0 h 345"/>
                <a:gd name="T16" fmla="*/ 384 w 780"/>
                <a:gd name="T17" fmla="*/ 51 h 345"/>
                <a:gd name="T18" fmla="*/ 0 w 780"/>
                <a:gd name="T19" fmla="*/ 207 h 3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0"/>
                <a:gd name="T31" fmla="*/ 0 h 345"/>
                <a:gd name="T32" fmla="*/ 780 w 780"/>
                <a:gd name="T33" fmla="*/ 345 h 3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0" h="345">
                  <a:moveTo>
                    <a:pt x="0" y="207"/>
                  </a:moveTo>
                  <a:lnTo>
                    <a:pt x="165" y="261"/>
                  </a:lnTo>
                  <a:lnTo>
                    <a:pt x="318" y="345"/>
                  </a:lnTo>
                  <a:lnTo>
                    <a:pt x="552" y="255"/>
                  </a:lnTo>
                  <a:lnTo>
                    <a:pt x="780" y="144"/>
                  </a:lnTo>
                  <a:lnTo>
                    <a:pt x="705" y="69"/>
                  </a:lnTo>
                  <a:lnTo>
                    <a:pt x="618" y="30"/>
                  </a:lnTo>
                  <a:lnTo>
                    <a:pt x="498" y="0"/>
                  </a:lnTo>
                  <a:lnTo>
                    <a:pt x="384" y="51"/>
                  </a:lnTo>
                  <a:lnTo>
                    <a:pt x="0" y="207"/>
                  </a:lnTo>
                  <a:close/>
                </a:path>
              </a:pathLst>
            </a:custGeom>
            <a:gradFill rotWithShape="0">
              <a:gsLst>
                <a:gs pos="0">
                  <a:srgbClr val="CA9898"/>
                </a:gs>
                <a:gs pos="100000">
                  <a:srgbClr val="A46F6E"/>
                </a:gs>
              </a:gsLst>
              <a:lin ang="0" scaled="1"/>
            </a:gradFill>
            <a:ln w="12700" cap="flat" cmpd="sng">
              <a:noFill/>
              <a:prstDash val="solid"/>
              <a:round/>
              <a:headEnd type="none" w="sm" len="sm"/>
              <a:tailEnd type="none" w="sm" len="sm"/>
            </a:ln>
          </p:spPr>
          <p:txBody>
            <a:bodyPr wrap="none" anchor="ctr"/>
            <a:lstStyle/>
            <a:p>
              <a:endParaRPr lang="en-US"/>
            </a:p>
          </p:txBody>
        </p:sp>
        <p:sp>
          <p:nvSpPr>
            <p:cNvPr id="18687" name="Freeform 58"/>
            <p:cNvSpPr>
              <a:spLocks/>
            </p:cNvSpPr>
            <p:nvPr/>
          </p:nvSpPr>
          <p:spPr bwMode="auto">
            <a:xfrm>
              <a:off x="2232" y="900"/>
              <a:ext cx="729" cy="363"/>
            </a:xfrm>
            <a:custGeom>
              <a:avLst/>
              <a:gdLst>
                <a:gd name="T0" fmla="*/ 0 w 729"/>
                <a:gd name="T1" fmla="*/ 219 h 363"/>
                <a:gd name="T2" fmla="*/ 141 w 729"/>
                <a:gd name="T3" fmla="*/ 258 h 363"/>
                <a:gd name="T4" fmla="*/ 204 w 729"/>
                <a:gd name="T5" fmla="*/ 300 h 363"/>
                <a:gd name="T6" fmla="*/ 279 w 729"/>
                <a:gd name="T7" fmla="*/ 363 h 363"/>
                <a:gd name="T8" fmla="*/ 507 w 729"/>
                <a:gd name="T9" fmla="*/ 228 h 363"/>
                <a:gd name="T10" fmla="*/ 729 w 729"/>
                <a:gd name="T11" fmla="*/ 96 h 363"/>
                <a:gd name="T12" fmla="*/ 621 w 729"/>
                <a:gd name="T13" fmla="*/ 54 h 363"/>
                <a:gd name="T14" fmla="*/ 531 w 729"/>
                <a:gd name="T15" fmla="*/ 18 h 363"/>
                <a:gd name="T16" fmla="*/ 441 w 729"/>
                <a:gd name="T17" fmla="*/ 0 h 363"/>
                <a:gd name="T18" fmla="*/ 309 w 729"/>
                <a:gd name="T19" fmla="*/ 72 h 363"/>
                <a:gd name="T20" fmla="*/ 0 w 729"/>
                <a:gd name="T21" fmla="*/ 219 h 3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9"/>
                <a:gd name="T34" fmla="*/ 0 h 363"/>
                <a:gd name="T35" fmla="*/ 729 w 729"/>
                <a:gd name="T36" fmla="*/ 363 h 3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9" h="363">
                  <a:moveTo>
                    <a:pt x="0" y="219"/>
                  </a:moveTo>
                  <a:lnTo>
                    <a:pt x="141" y="258"/>
                  </a:lnTo>
                  <a:lnTo>
                    <a:pt x="204" y="300"/>
                  </a:lnTo>
                  <a:lnTo>
                    <a:pt x="279" y="363"/>
                  </a:lnTo>
                  <a:lnTo>
                    <a:pt x="507" y="228"/>
                  </a:lnTo>
                  <a:lnTo>
                    <a:pt x="729" y="96"/>
                  </a:lnTo>
                  <a:lnTo>
                    <a:pt x="621" y="54"/>
                  </a:lnTo>
                  <a:lnTo>
                    <a:pt x="531" y="18"/>
                  </a:lnTo>
                  <a:lnTo>
                    <a:pt x="441" y="0"/>
                  </a:lnTo>
                  <a:lnTo>
                    <a:pt x="309" y="72"/>
                  </a:lnTo>
                  <a:lnTo>
                    <a:pt x="0" y="219"/>
                  </a:lnTo>
                  <a:close/>
                </a:path>
              </a:pathLst>
            </a:custGeom>
            <a:gradFill rotWithShape="0">
              <a:gsLst>
                <a:gs pos="0">
                  <a:srgbClr val="D2A6A6"/>
                </a:gs>
                <a:gs pos="100000">
                  <a:srgbClr val="AE7F7E"/>
                </a:gs>
              </a:gsLst>
              <a:lin ang="2700000" scaled="1"/>
            </a:gradFill>
            <a:ln w="12700" cap="flat" cmpd="sng">
              <a:noFill/>
              <a:prstDash val="solid"/>
              <a:round/>
              <a:headEnd type="none" w="sm" len="sm"/>
              <a:tailEnd type="none" w="sm" len="sm"/>
            </a:ln>
          </p:spPr>
          <p:txBody>
            <a:bodyPr wrap="none" anchor="ctr"/>
            <a:lstStyle/>
            <a:p>
              <a:endParaRPr lang="en-US"/>
            </a:p>
          </p:txBody>
        </p:sp>
        <p:sp>
          <p:nvSpPr>
            <p:cNvPr id="18688" name="Freeform 59"/>
            <p:cNvSpPr>
              <a:spLocks/>
            </p:cNvSpPr>
            <p:nvPr/>
          </p:nvSpPr>
          <p:spPr bwMode="auto">
            <a:xfrm>
              <a:off x="2691" y="642"/>
              <a:ext cx="648" cy="339"/>
            </a:xfrm>
            <a:custGeom>
              <a:avLst/>
              <a:gdLst>
                <a:gd name="T0" fmla="*/ 0 w 648"/>
                <a:gd name="T1" fmla="*/ 246 h 339"/>
                <a:gd name="T2" fmla="*/ 99 w 648"/>
                <a:gd name="T3" fmla="*/ 270 h 339"/>
                <a:gd name="T4" fmla="*/ 183 w 648"/>
                <a:gd name="T5" fmla="*/ 309 h 339"/>
                <a:gd name="T6" fmla="*/ 279 w 648"/>
                <a:gd name="T7" fmla="*/ 339 h 339"/>
                <a:gd name="T8" fmla="*/ 456 w 648"/>
                <a:gd name="T9" fmla="*/ 210 h 339"/>
                <a:gd name="T10" fmla="*/ 648 w 648"/>
                <a:gd name="T11" fmla="*/ 69 h 339"/>
                <a:gd name="T12" fmla="*/ 573 w 648"/>
                <a:gd name="T13" fmla="*/ 45 h 339"/>
                <a:gd name="T14" fmla="*/ 465 w 648"/>
                <a:gd name="T15" fmla="*/ 15 h 339"/>
                <a:gd name="T16" fmla="*/ 372 w 648"/>
                <a:gd name="T17" fmla="*/ 0 h 339"/>
                <a:gd name="T18" fmla="*/ 291 w 648"/>
                <a:gd name="T19" fmla="*/ 72 h 339"/>
                <a:gd name="T20" fmla="*/ 171 w 648"/>
                <a:gd name="T21" fmla="*/ 144 h 339"/>
                <a:gd name="T22" fmla="*/ 0 w 648"/>
                <a:gd name="T23" fmla="*/ 246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339"/>
                <a:gd name="T38" fmla="*/ 648 w 648"/>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339">
                  <a:moveTo>
                    <a:pt x="0" y="246"/>
                  </a:moveTo>
                  <a:lnTo>
                    <a:pt x="99" y="270"/>
                  </a:lnTo>
                  <a:lnTo>
                    <a:pt x="183" y="309"/>
                  </a:lnTo>
                  <a:lnTo>
                    <a:pt x="279" y="339"/>
                  </a:lnTo>
                  <a:lnTo>
                    <a:pt x="456" y="210"/>
                  </a:lnTo>
                  <a:lnTo>
                    <a:pt x="648" y="69"/>
                  </a:lnTo>
                  <a:lnTo>
                    <a:pt x="573" y="45"/>
                  </a:lnTo>
                  <a:lnTo>
                    <a:pt x="465" y="15"/>
                  </a:lnTo>
                  <a:lnTo>
                    <a:pt x="372" y="0"/>
                  </a:lnTo>
                  <a:lnTo>
                    <a:pt x="291" y="72"/>
                  </a:lnTo>
                  <a:lnTo>
                    <a:pt x="171" y="144"/>
                  </a:lnTo>
                  <a:lnTo>
                    <a:pt x="0" y="246"/>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sp>
          <p:nvSpPr>
            <p:cNvPr id="18689" name="Freeform 60"/>
            <p:cNvSpPr>
              <a:spLocks/>
            </p:cNvSpPr>
            <p:nvPr/>
          </p:nvSpPr>
          <p:spPr bwMode="auto">
            <a:xfrm>
              <a:off x="3090" y="330"/>
              <a:ext cx="633" cy="366"/>
            </a:xfrm>
            <a:custGeom>
              <a:avLst/>
              <a:gdLst>
                <a:gd name="T0" fmla="*/ 0 w 633"/>
                <a:gd name="T1" fmla="*/ 297 h 366"/>
                <a:gd name="T2" fmla="*/ 90 w 633"/>
                <a:gd name="T3" fmla="*/ 315 h 366"/>
                <a:gd name="T4" fmla="*/ 198 w 633"/>
                <a:gd name="T5" fmla="*/ 345 h 366"/>
                <a:gd name="T6" fmla="*/ 264 w 633"/>
                <a:gd name="T7" fmla="*/ 366 h 366"/>
                <a:gd name="T8" fmla="*/ 438 w 633"/>
                <a:gd name="T9" fmla="*/ 216 h 366"/>
                <a:gd name="T10" fmla="*/ 633 w 633"/>
                <a:gd name="T11" fmla="*/ 0 h 366"/>
                <a:gd name="T12" fmla="*/ 537 w 633"/>
                <a:gd name="T13" fmla="*/ 15 h 366"/>
                <a:gd name="T14" fmla="*/ 450 w 633"/>
                <a:gd name="T15" fmla="*/ 30 h 366"/>
                <a:gd name="T16" fmla="*/ 345 w 633"/>
                <a:gd name="T17" fmla="*/ 48 h 366"/>
                <a:gd name="T18" fmla="*/ 234 w 633"/>
                <a:gd name="T19" fmla="*/ 69 h 366"/>
                <a:gd name="T20" fmla="*/ 162 w 633"/>
                <a:gd name="T21" fmla="*/ 150 h 366"/>
                <a:gd name="T22" fmla="*/ 0 w 633"/>
                <a:gd name="T23" fmla="*/ 297 h 36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3"/>
                <a:gd name="T37" fmla="*/ 0 h 366"/>
                <a:gd name="T38" fmla="*/ 633 w 633"/>
                <a:gd name="T39" fmla="*/ 366 h 36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3" h="366">
                  <a:moveTo>
                    <a:pt x="0" y="297"/>
                  </a:moveTo>
                  <a:lnTo>
                    <a:pt x="90" y="315"/>
                  </a:lnTo>
                  <a:lnTo>
                    <a:pt x="198" y="345"/>
                  </a:lnTo>
                  <a:lnTo>
                    <a:pt x="264" y="366"/>
                  </a:lnTo>
                  <a:lnTo>
                    <a:pt x="438" y="216"/>
                  </a:lnTo>
                  <a:lnTo>
                    <a:pt x="633" y="0"/>
                  </a:lnTo>
                  <a:lnTo>
                    <a:pt x="537" y="15"/>
                  </a:lnTo>
                  <a:lnTo>
                    <a:pt x="450" y="30"/>
                  </a:lnTo>
                  <a:lnTo>
                    <a:pt x="345" y="48"/>
                  </a:lnTo>
                  <a:lnTo>
                    <a:pt x="234" y="69"/>
                  </a:lnTo>
                  <a:lnTo>
                    <a:pt x="162" y="150"/>
                  </a:lnTo>
                  <a:lnTo>
                    <a:pt x="0" y="297"/>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8441" name="Group 61"/>
          <p:cNvGrpSpPr>
            <a:grpSpLocks/>
          </p:cNvGrpSpPr>
          <p:nvPr/>
        </p:nvGrpSpPr>
        <p:grpSpPr bwMode="auto">
          <a:xfrm>
            <a:off x="7535863" y="3162300"/>
            <a:ext cx="1447800" cy="714375"/>
            <a:chOff x="1584" y="699"/>
            <a:chExt cx="2224" cy="1098"/>
          </a:xfrm>
        </p:grpSpPr>
        <p:sp>
          <p:nvSpPr>
            <p:cNvPr id="18630" name="Freeform 62"/>
            <p:cNvSpPr>
              <a:spLocks/>
            </p:cNvSpPr>
            <p:nvPr/>
          </p:nvSpPr>
          <p:spPr bwMode="auto">
            <a:xfrm>
              <a:off x="1588" y="1419"/>
              <a:ext cx="2172" cy="378"/>
            </a:xfrm>
            <a:custGeom>
              <a:avLst/>
              <a:gdLst>
                <a:gd name="T0" fmla="*/ 0 w 2172"/>
                <a:gd name="T1" fmla="*/ 60 h 378"/>
                <a:gd name="T2" fmla="*/ 66 w 2172"/>
                <a:gd name="T3" fmla="*/ 0 h 378"/>
                <a:gd name="T4" fmla="*/ 135 w 2172"/>
                <a:gd name="T5" fmla="*/ 21 h 378"/>
                <a:gd name="T6" fmla="*/ 162 w 2172"/>
                <a:gd name="T7" fmla="*/ 21 h 378"/>
                <a:gd name="T8" fmla="*/ 2118 w 2172"/>
                <a:gd name="T9" fmla="*/ 93 h 378"/>
                <a:gd name="T10" fmla="*/ 2172 w 2172"/>
                <a:gd name="T11" fmla="*/ 144 h 378"/>
                <a:gd name="T12" fmla="*/ 2115 w 2172"/>
                <a:gd name="T13" fmla="*/ 177 h 378"/>
                <a:gd name="T14" fmla="*/ 2073 w 2172"/>
                <a:gd name="T15" fmla="*/ 204 h 378"/>
                <a:gd name="T16" fmla="*/ 2034 w 2172"/>
                <a:gd name="T17" fmla="*/ 225 h 378"/>
                <a:gd name="T18" fmla="*/ 1944 w 2172"/>
                <a:gd name="T19" fmla="*/ 282 h 378"/>
                <a:gd name="T20" fmla="*/ 1824 w 2172"/>
                <a:gd name="T21" fmla="*/ 306 h 378"/>
                <a:gd name="T22" fmla="*/ 1659 w 2172"/>
                <a:gd name="T23" fmla="*/ 315 h 378"/>
                <a:gd name="T24" fmla="*/ 1590 w 2172"/>
                <a:gd name="T25" fmla="*/ 306 h 378"/>
                <a:gd name="T26" fmla="*/ 1521 w 2172"/>
                <a:gd name="T27" fmla="*/ 279 h 378"/>
                <a:gd name="T28" fmla="*/ 1338 w 2172"/>
                <a:gd name="T29" fmla="*/ 312 h 378"/>
                <a:gd name="T30" fmla="*/ 1242 w 2172"/>
                <a:gd name="T31" fmla="*/ 261 h 378"/>
                <a:gd name="T32" fmla="*/ 1179 w 2172"/>
                <a:gd name="T33" fmla="*/ 315 h 378"/>
                <a:gd name="T34" fmla="*/ 1068 w 2172"/>
                <a:gd name="T35" fmla="*/ 321 h 378"/>
                <a:gd name="T36" fmla="*/ 924 w 2172"/>
                <a:gd name="T37" fmla="*/ 333 h 378"/>
                <a:gd name="T38" fmla="*/ 831 w 2172"/>
                <a:gd name="T39" fmla="*/ 342 h 378"/>
                <a:gd name="T40" fmla="*/ 795 w 2172"/>
                <a:gd name="T41" fmla="*/ 360 h 378"/>
                <a:gd name="T42" fmla="*/ 717 w 2172"/>
                <a:gd name="T43" fmla="*/ 378 h 378"/>
                <a:gd name="T44" fmla="*/ 633 w 2172"/>
                <a:gd name="T45" fmla="*/ 375 h 378"/>
                <a:gd name="T46" fmla="*/ 561 w 2172"/>
                <a:gd name="T47" fmla="*/ 354 h 378"/>
                <a:gd name="T48" fmla="*/ 498 w 2172"/>
                <a:gd name="T49" fmla="*/ 303 h 378"/>
                <a:gd name="T50" fmla="*/ 438 w 2172"/>
                <a:gd name="T51" fmla="*/ 282 h 378"/>
                <a:gd name="T52" fmla="*/ 336 w 2172"/>
                <a:gd name="T53" fmla="*/ 222 h 378"/>
                <a:gd name="T54" fmla="*/ 276 w 2172"/>
                <a:gd name="T55" fmla="*/ 114 h 378"/>
                <a:gd name="T56" fmla="*/ 222 w 2172"/>
                <a:gd name="T57" fmla="*/ 153 h 378"/>
                <a:gd name="T58" fmla="*/ 120 w 2172"/>
                <a:gd name="T59" fmla="*/ 144 h 378"/>
                <a:gd name="T60" fmla="*/ 81 w 2172"/>
                <a:gd name="T61" fmla="*/ 117 h 378"/>
                <a:gd name="T62" fmla="*/ 0 w 2172"/>
                <a:gd name="T63" fmla="*/ 60 h 3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72"/>
                <a:gd name="T97" fmla="*/ 0 h 378"/>
                <a:gd name="T98" fmla="*/ 2172 w 2172"/>
                <a:gd name="T99" fmla="*/ 378 h 3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72" h="378">
                  <a:moveTo>
                    <a:pt x="0" y="60"/>
                  </a:moveTo>
                  <a:cubicBezTo>
                    <a:pt x="18" y="48"/>
                    <a:pt x="44" y="6"/>
                    <a:pt x="66" y="0"/>
                  </a:cubicBezTo>
                  <a:cubicBezTo>
                    <a:pt x="104" y="3"/>
                    <a:pt x="105" y="11"/>
                    <a:pt x="135" y="21"/>
                  </a:cubicBezTo>
                  <a:cubicBezTo>
                    <a:pt x="144" y="35"/>
                    <a:pt x="150" y="29"/>
                    <a:pt x="162" y="21"/>
                  </a:cubicBezTo>
                  <a:cubicBezTo>
                    <a:pt x="492" y="33"/>
                    <a:pt x="1783" y="72"/>
                    <a:pt x="2118" y="93"/>
                  </a:cubicBezTo>
                  <a:cubicBezTo>
                    <a:pt x="2161" y="97"/>
                    <a:pt x="2162" y="105"/>
                    <a:pt x="2172" y="144"/>
                  </a:cubicBezTo>
                  <a:cubicBezTo>
                    <a:pt x="2166" y="162"/>
                    <a:pt x="2133" y="171"/>
                    <a:pt x="2115" y="177"/>
                  </a:cubicBezTo>
                  <a:cubicBezTo>
                    <a:pt x="2103" y="189"/>
                    <a:pt x="2089" y="199"/>
                    <a:pt x="2073" y="204"/>
                  </a:cubicBezTo>
                  <a:cubicBezTo>
                    <a:pt x="2045" y="225"/>
                    <a:pt x="2059" y="220"/>
                    <a:pt x="2034" y="225"/>
                  </a:cubicBezTo>
                  <a:cubicBezTo>
                    <a:pt x="2008" y="242"/>
                    <a:pt x="1974" y="279"/>
                    <a:pt x="1944" y="282"/>
                  </a:cubicBezTo>
                  <a:cubicBezTo>
                    <a:pt x="1904" y="295"/>
                    <a:pt x="1865" y="298"/>
                    <a:pt x="1824" y="306"/>
                  </a:cubicBezTo>
                  <a:cubicBezTo>
                    <a:pt x="1781" y="335"/>
                    <a:pt x="1709" y="303"/>
                    <a:pt x="1659" y="315"/>
                  </a:cubicBezTo>
                  <a:cubicBezTo>
                    <a:pt x="1598" y="309"/>
                    <a:pt x="1621" y="314"/>
                    <a:pt x="1590" y="306"/>
                  </a:cubicBezTo>
                  <a:cubicBezTo>
                    <a:pt x="1558" y="286"/>
                    <a:pt x="1557" y="291"/>
                    <a:pt x="1521" y="279"/>
                  </a:cubicBezTo>
                  <a:cubicBezTo>
                    <a:pt x="1500" y="342"/>
                    <a:pt x="1389" y="310"/>
                    <a:pt x="1338" y="312"/>
                  </a:cubicBezTo>
                  <a:cubicBezTo>
                    <a:pt x="1292" y="309"/>
                    <a:pt x="1269" y="265"/>
                    <a:pt x="1242" y="261"/>
                  </a:cubicBezTo>
                  <a:cubicBezTo>
                    <a:pt x="1216" y="265"/>
                    <a:pt x="1202" y="304"/>
                    <a:pt x="1179" y="315"/>
                  </a:cubicBezTo>
                  <a:cubicBezTo>
                    <a:pt x="1148" y="330"/>
                    <a:pt x="1102" y="311"/>
                    <a:pt x="1068" y="321"/>
                  </a:cubicBezTo>
                  <a:cubicBezTo>
                    <a:pt x="1023" y="334"/>
                    <a:pt x="968" y="331"/>
                    <a:pt x="924" y="333"/>
                  </a:cubicBezTo>
                  <a:cubicBezTo>
                    <a:pt x="893" y="335"/>
                    <a:pt x="862" y="338"/>
                    <a:pt x="831" y="342"/>
                  </a:cubicBezTo>
                  <a:cubicBezTo>
                    <a:pt x="818" y="346"/>
                    <a:pt x="807" y="355"/>
                    <a:pt x="795" y="360"/>
                  </a:cubicBezTo>
                  <a:cubicBezTo>
                    <a:pt x="770" y="371"/>
                    <a:pt x="745" y="375"/>
                    <a:pt x="717" y="378"/>
                  </a:cubicBezTo>
                  <a:cubicBezTo>
                    <a:pt x="689" y="377"/>
                    <a:pt x="661" y="377"/>
                    <a:pt x="633" y="375"/>
                  </a:cubicBezTo>
                  <a:cubicBezTo>
                    <a:pt x="609" y="374"/>
                    <a:pt x="585" y="359"/>
                    <a:pt x="561" y="354"/>
                  </a:cubicBezTo>
                  <a:cubicBezTo>
                    <a:pt x="539" y="342"/>
                    <a:pt x="518" y="315"/>
                    <a:pt x="498" y="303"/>
                  </a:cubicBezTo>
                  <a:cubicBezTo>
                    <a:pt x="473" y="278"/>
                    <a:pt x="493" y="286"/>
                    <a:pt x="438" y="282"/>
                  </a:cubicBezTo>
                  <a:cubicBezTo>
                    <a:pt x="414" y="264"/>
                    <a:pt x="363" y="250"/>
                    <a:pt x="336" y="222"/>
                  </a:cubicBezTo>
                  <a:cubicBezTo>
                    <a:pt x="309" y="194"/>
                    <a:pt x="291" y="126"/>
                    <a:pt x="276" y="114"/>
                  </a:cubicBezTo>
                  <a:cubicBezTo>
                    <a:pt x="257" y="103"/>
                    <a:pt x="248" y="148"/>
                    <a:pt x="222" y="153"/>
                  </a:cubicBezTo>
                  <a:cubicBezTo>
                    <a:pt x="183" y="151"/>
                    <a:pt x="155" y="151"/>
                    <a:pt x="120" y="144"/>
                  </a:cubicBezTo>
                  <a:cubicBezTo>
                    <a:pt x="104" y="136"/>
                    <a:pt x="98" y="121"/>
                    <a:pt x="81" y="117"/>
                  </a:cubicBezTo>
                  <a:cubicBezTo>
                    <a:pt x="61" y="103"/>
                    <a:pt x="2" y="79"/>
                    <a:pt x="0" y="60"/>
                  </a:cubicBezTo>
                  <a:close/>
                </a:path>
              </a:pathLst>
            </a:custGeom>
            <a:solidFill>
              <a:srgbClr val="2C5CFF"/>
            </a:solidFill>
            <a:ln w="12700" cap="flat" cmpd="sng">
              <a:noFill/>
              <a:prstDash val="solid"/>
              <a:round/>
              <a:headEnd type="none" w="sm" len="sm"/>
              <a:tailEnd type="none" w="sm" len="sm"/>
            </a:ln>
          </p:spPr>
          <p:txBody>
            <a:bodyPr wrap="none" anchor="ctr"/>
            <a:lstStyle/>
            <a:p>
              <a:endParaRPr lang="en-US"/>
            </a:p>
          </p:txBody>
        </p:sp>
        <p:sp>
          <p:nvSpPr>
            <p:cNvPr id="18631" name="Freeform 63"/>
            <p:cNvSpPr>
              <a:spLocks/>
            </p:cNvSpPr>
            <p:nvPr/>
          </p:nvSpPr>
          <p:spPr bwMode="auto">
            <a:xfrm>
              <a:off x="1584" y="699"/>
              <a:ext cx="2109" cy="789"/>
            </a:xfrm>
            <a:custGeom>
              <a:avLst/>
              <a:gdLst>
                <a:gd name="T0" fmla="*/ 18 w 2109"/>
                <a:gd name="T1" fmla="*/ 789 h 789"/>
                <a:gd name="T2" fmla="*/ 24 w 2109"/>
                <a:gd name="T3" fmla="*/ 702 h 789"/>
                <a:gd name="T4" fmla="*/ 51 w 2109"/>
                <a:gd name="T5" fmla="*/ 693 h 789"/>
                <a:gd name="T6" fmla="*/ 18 w 2109"/>
                <a:gd name="T7" fmla="*/ 660 h 789"/>
                <a:gd name="T8" fmla="*/ 0 w 2109"/>
                <a:gd name="T9" fmla="*/ 594 h 789"/>
                <a:gd name="T10" fmla="*/ 36 w 2109"/>
                <a:gd name="T11" fmla="*/ 507 h 789"/>
                <a:gd name="T12" fmla="*/ 105 w 2109"/>
                <a:gd name="T13" fmla="*/ 480 h 789"/>
                <a:gd name="T14" fmla="*/ 153 w 2109"/>
                <a:gd name="T15" fmla="*/ 474 h 789"/>
                <a:gd name="T16" fmla="*/ 249 w 2109"/>
                <a:gd name="T17" fmla="*/ 402 h 789"/>
                <a:gd name="T18" fmla="*/ 228 w 2109"/>
                <a:gd name="T19" fmla="*/ 375 h 789"/>
                <a:gd name="T20" fmla="*/ 267 w 2109"/>
                <a:gd name="T21" fmla="*/ 339 h 789"/>
                <a:gd name="T22" fmla="*/ 288 w 2109"/>
                <a:gd name="T23" fmla="*/ 237 h 789"/>
                <a:gd name="T24" fmla="*/ 342 w 2109"/>
                <a:gd name="T25" fmla="*/ 147 h 789"/>
                <a:gd name="T26" fmla="*/ 408 w 2109"/>
                <a:gd name="T27" fmla="*/ 102 h 789"/>
                <a:gd name="T28" fmla="*/ 459 w 2109"/>
                <a:gd name="T29" fmla="*/ 105 h 789"/>
                <a:gd name="T30" fmla="*/ 513 w 2109"/>
                <a:gd name="T31" fmla="*/ 129 h 789"/>
                <a:gd name="T32" fmla="*/ 576 w 2109"/>
                <a:gd name="T33" fmla="*/ 156 h 789"/>
                <a:gd name="T34" fmla="*/ 600 w 2109"/>
                <a:gd name="T35" fmla="*/ 123 h 789"/>
                <a:gd name="T36" fmla="*/ 642 w 2109"/>
                <a:gd name="T37" fmla="*/ 84 h 789"/>
                <a:gd name="T38" fmla="*/ 780 w 2109"/>
                <a:gd name="T39" fmla="*/ 24 h 789"/>
                <a:gd name="T40" fmla="*/ 846 w 2109"/>
                <a:gd name="T41" fmla="*/ 27 h 789"/>
                <a:gd name="T42" fmla="*/ 897 w 2109"/>
                <a:gd name="T43" fmla="*/ 0 h 789"/>
                <a:gd name="T44" fmla="*/ 1023 w 2109"/>
                <a:gd name="T45" fmla="*/ 3 h 789"/>
                <a:gd name="T46" fmla="*/ 1167 w 2109"/>
                <a:gd name="T47" fmla="*/ 42 h 789"/>
                <a:gd name="T48" fmla="*/ 1218 w 2109"/>
                <a:gd name="T49" fmla="*/ 99 h 789"/>
                <a:gd name="T50" fmla="*/ 1317 w 2109"/>
                <a:gd name="T51" fmla="*/ 48 h 789"/>
                <a:gd name="T52" fmla="*/ 1377 w 2109"/>
                <a:gd name="T53" fmla="*/ 36 h 789"/>
                <a:gd name="T54" fmla="*/ 1551 w 2109"/>
                <a:gd name="T55" fmla="*/ 33 h 789"/>
                <a:gd name="T56" fmla="*/ 1644 w 2109"/>
                <a:gd name="T57" fmla="*/ 51 h 789"/>
                <a:gd name="T58" fmla="*/ 1659 w 2109"/>
                <a:gd name="T59" fmla="*/ 78 h 789"/>
                <a:gd name="T60" fmla="*/ 1776 w 2109"/>
                <a:gd name="T61" fmla="*/ 60 h 789"/>
                <a:gd name="T62" fmla="*/ 1851 w 2109"/>
                <a:gd name="T63" fmla="*/ 81 h 789"/>
                <a:gd name="T64" fmla="*/ 1908 w 2109"/>
                <a:gd name="T65" fmla="*/ 102 h 789"/>
                <a:gd name="T66" fmla="*/ 1938 w 2109"/>
                <a:gd name="T67" fmla="*/ 204 h 789"/>
                <a:gd name="T68" fmla="*/ 1941 w 2109"/>
                <a:gd name="T69" fmla="*/ 261 h 789"/>
                <a:gd name="T70" fmla="*/ 2055 w 2109"/>
                <a:gd name="T71" fmla="*/ 267 h 789"/>
                <a:gd name="T72" fmla="*/ 2106 w 2109"/>
                <a:gd name="T73" fmla="*/ 336 h 789"/>
                <a:gd name="T74" fmla="*/ 2073 w 2109"/>
                <a:gd name="T75" fmla="*/ 465 h 789"/>
                <a:gd name="T76" fmla="*/ 2109 w 2109"/>
                <a:gd name="T77" fmla="*/ 498 h 789"/>
                <a:gd name="T78" fmla="*/ 2106 w 2109"/>
                <a:gd name="T79" fmla="*/ 543 h 789"/>
                <a:gd name="T80" fmla="*/ 2067 w 2109"/>
                <a:gd name="T81" fmla="*/ 612 h 789"/>
                <a:gd name="T82" fmla="*/ 2040 w 2109"/>
                <a:gd name="T83" fmla="*/ 627 h 789"/>
                <a:gd name="T84" fmla="*/ 1980 w 2109"/>
                <a:gd name="T85" fmla="*/ 657 h 789"/>
                <a:gd name="T86" fmla="*/ 1938 w 2109"/>
                <a:gd name="T87" fmla="*/ 663 h 789"/>
                <a:gd name="T88" fmla="*/ 18 w 2109"/>
                <a:gd name="T89" fmla="*/ 789 h 78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09"/>
                <a:gd name="T136" fmla="*/ 0 h 789"/>
                <a:gd name="T137" fmla="*/ 2109 w 2109"/>
                <a:gd name="T138" fmla="*/ 789 h 78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09" h="789">
                  <a:moveTo>
                    <a:pt x="18" y="789"/>
                  </a:moveTo>
                  <a:cubicBezTo>
                    <a:pt x="19" y="760"/>
                    <a:pt x="0" y="719"/>
                    <a:pt x="24" y="702"/>
                  </a:cubicBezTo>
                  <a:cubicBezTo>
                    <a:pt x="32" y="696"/>
                    <a:pt x="51" y="693"/>
                    <a:pt x="51" y="693"/>
                  </a:cubicBezTo>
                  <a:cubicBezTo>
                    <a:pt x="38" y="683"/>
                    <a:pt x="30" y="672"/>
                    <a:pt x="18" y="660"/>
                  </a:cubicBezTo>
                  <a:cubicBezTo>
                    <a:pt x="12" y="638"/>
                    <a:pt x="4" y="617"/>
                    <a:pt x="0" y="594"/>
                  </a:cubicBezTo>
                  <a:cubicBezTo>
                    <a:pt x="5" y="541"/>
                    <a:pt x="2" y="541"/>
                    <a:pt x="36" y="507"/>
                  </a:cubicBezTo>
                  <a:cubicBezTo>
                    <a:pt x="54" y="488"/>
                    <a:pt x="86" y="485"/>
                    <a:pt x="105" y="480"/>
                  </a:cubicBezTo>
                  <a:cubicBezTo>
                    <a:pt x="121" y="478"/>
                    <a:pt x="153" y="474"/>
                    <a:pt x="153" y="474"/>
                  </a:cubicBezTo>
                  <a:cubicBezTo>
                    <a:pt x="177" y="461"/>
                    <a:pt x="236" y="418"/>
                    <a:pt x="249" y="402"/>
                  </a:cubicBezTo>
                  <a:cubicBezTo>
                    <a:pt x="235" y="380"/>
                    <a:pt x="242" y="389"/>
                    <a:pt x="228" y="375"/>
                  </a:cubicBezTo>
                  <a:cubicBezTo>
                    <a:pt x="216" y="339"/>
                    <a:pt x="238" y="342"/>
                    <a:pt x="267" y="339"/>
                  </a:cubicBezTo>
                  <a:cubicBezTo>
                    <a:pt x="297" y="331"/>
                    <a:pt x="286" y="258"/>
                    <a:pt x="288" y="237"/>
                  </a:cubicBezTo>
                  <a:cubicBezTo>
                    <a:pt x="292" y="197"/>
                    <a:pt x="315" y="174"/>
                    <a:pt x="342" y="147"/>
                  </a:cubicBezTo>
                  <a:cubicBezTo>
                    <a:pt x="362" y="125"/>
                    <a:pt x="389" y="109"/>
                    <a:pt x="408" y="102"/>
                  </a:cubicBezTo>
                  <a:cubicBezTo>
                    <a:pt x="425" y="103"/>
                    <a:pt x="442" y="102"/>
                    <a:pt x="459" y="105"/>
                  </a:cubicBezTo>
                  <a:cubicBezTo>
                    <a:pt x="476" y="108"/>
                    <a:pt x="496" y="124"/>
                    <a:pt x="513" y="129"/>
                  </a:cubicBezTo>
                  <a:cubicBezTo>
                    <a:pt x="532" y="137"/>
                    <a:pt x="562" y="157"/>
                    <a:pt x="576" y="156"/>
                  </a:cubicBezTo>
                  <a:cubicBezTo>
                    <a:pt x="583" y="157"/>
                    <a:pt x="599" y="124"/>
                    <a:pt x="600" y="123"/>
                  </a:cubicBezTo>
                  <a:cubicBezTo>
                    <a:pt x="611" y="106"/>
                    <a:pt x="625" y="97"/>
                    <a:pt x="642" y="84"/>
                  </a:cubicBezTo>
                  <a:cubicBezTo>
                    <a:pt x="682" y="53"/>
                    <a:pt x="731" y="36"/>
                    <a:pt x="780" y="24"/>
                  </a:cubicBezTo>
                  <a:cubicBezTo>
                    <a:pt x="802" y="25"/>
                    <a:pt x="824" y="27"/>
                    <a:pt x="846" y="27"/>
                  </a:cubicBezTo>
                  <a:cubicBezTo>
                    <a:pt x="854" y="27"/>
                    <a:pt x="879" y="6"/>
                    <a:pt x="897" y="0"/>
                  </a:cubicBezTo>
                  <a:cubicBezTo>
                    <a:pt x="939" y="1"/>
                    <a:pt x="981" y="0"/>
                    <a:pt x="1023" y="3"/>
                  </a:cubicBezTo>
                  <a:cubicBezTo>
                    <a:pt x="1068" y="10"/>
                    <a:pt x="1135" y="26"/>
                    <a:pt x="1167" y="42"/>
                  </a:cubicBezTo>
                  <a:cubicBezTo>
                    <a:pt x="1188" y="49"/>
                    <a:pt x="1211" y="78"/>
                    <a:pt x="1218" y="99"/>
                  </a:cubicBezTo>
                  <a:cubicBezTo>
                    <a:pt x="1239" y="68"/>
                    <a:pt x="1281" y="53"/>
                    <a:pt x="1317" y="48"/>
                  </a:cubicBezTo>
                  <a:cubicBezTo>
                    <a:pt x="1339" y="41"/>
                    <a:pt x="1353" y="38"/>
                    <a:pt x="1377" y="36"/>
                  </a:cubicBezTo>
                  <a:cubicBezTo>
                    <a:pt x="1436" y="21"/>
                    <a:pt x="1479" y="32"/>
                    <a:pt x="1551" y="33"/>
                  </a:cubicBezTo>
                  <a:cubicBezTo>
                    <a:pt x="1585" y="35"/>
                    <a:pt x="1613" y="41"/>
                    <a:pt x="1644" y="51"/>
                  </a:cubicBezTo>
                  <a:cubicBezTo>
                    <a:pt x="1658" y="72"/>
                    <a:pt x="1654" y="62"/>
                    <a:pt x="1659" y="78"/>
                  </a:cubicBezTo>
                  <a:cubicBezTo>
                    <a:pt x="1697" y="73"/>
                    <a:pt x="1739" y="72"/>
                    <a:pt x="1776" y="60"/>
                  </a:cubicBezTo>
                  <a:cubicBezTo>
                    <a:pt x="1808" y="60"/>
                    <a:pt x="1829" y="74"/>
                    <a:pt x="1851" y="81"/>
                  </a:cubicBezTo>
                  <a:cubicBezTo>
                    <a:pt x="1868" y="89"/>
                    <a:pt x="1890" y="96"/>
                    <a:pt x="1908" y="102"/>
                  </a:cubicBezTo>
                  <a:cubicBezTo>
                    <a:pt x="1931" y="125"/>
                    <a:pt x="1934" y="173"/>
                    <a:pt x="1938" y="204"/>
                  </a:cubicBezTo>
                  <a:cubicBezTo>
                    <a:pt x="1939" y="223"/>
                    <a:pt x="1925" y="250"/>
                    <a:pt x="1941" y="261"/>
                  </a:cubicBezTo>
                  <a:cubicBezTo>
                    <a:pt x="1973" y="282"/>
                    <a:pt x="2017" y="263"/>
                    <a:pt x="2055" y="267"/>
                  </a:cubicBezTo>
                  <a:cubicBezTo>
                    <a:pt x="2082" y="279"/>
                    <a:pt x="2103" y="303"/>
                    <a:pt x="2106" y="336"/>
                  </a:cubicBezTo>
                  <a:cubicBezTo>
                    <a:pt x="2104" y="382"/>
                    <a:pt x="2099" y="426"/>
                    <a:pt x="2073" y="465"/>
                  </a:cubicBezTo>
                  <a:cubicBezTo>
                    <a:pt x="2074" y="492"/>
                    <a:pt x="2104" y="485"/>
                    <a:pt x="2109" y="498"/>
                  </a:cubicBezTo>
                  <a:cubicBezTo>
                    <a:pt x="2108" y="513"/>
                    <a:pt x="2108" y="528"/>
                    <a:pt x="2106" y="543"/>
                  </a:cubicBezTo>
                  <a:cubicBezTo>
                    <a:pt x="2099" y="562"/>
                    <a:pt x="2078" y="598"/>
                    <a:pt x="2067" y="612"/>
                  </a:cubicBezTo>
                  <a:cubicBezTo>
                    <a:pt x="2064" y="622"/>
                    <a:pt x="2048" y="623"/>
                    <a:pt x="2040" y="627"/>
                  </a:cubicBezTo>
                  <a:cubicBezTo>
                    <a:pt x="2020" y="636"/>
                    <a:pt x="2001" y="652"/>
                    <a:pt x="1980" y="657"/>
                  </a:cubicBezTo>
                  <a:cubicBezTo>
                    <a:pt x="1966" y="660"/>
                    <a:pt x="1952" y="660"/>
                    <a:pt x="1938" y="663"/>
                  </a:cubicBezTo>
                  <a:cubicBezTo>
                    <a:pt x="1611" y="685"/>
                    <a:pt x="337" y="782"/>
                    <a:pt x="18" y="789"/>
                  </a:cubicBezTo>
                  <a:close/>
                </a:path>
              </a:pathLst>
            </a:custGeom>
            <a:solidFill>
              <a:srgbClr val="3232A6"/>
            </a:solidFill>
            <a:ln w="12700" cap="flat" cmpd="sng">
              <a:noFill/>
              <a:prstDash val="solid"/>
              <a:round/>
              <a:headEnd type="none" w="sm" len="sm"/>
              <a:tailEnd type="none" w="sm" len="sm"/>
            </a:ln>
          </p:spPr>
          <p:txBody>
            <a:bodyPr wrap="none" anchor="ctr"/>
            <a:lstStyle/>
            <a:p>
              <a:endParaRPr lang="en-US"/>
            </a:p>
          </p:txBody>
        </p:sp>
        <p:sp>
          <p:nvSpPr>
            <p:cNvPr id="18632" name="Freeform 64"/>
            <p:cNvSpPr>
              <a:spLocks/>
            </p:cNvSpPr>
            <p:nvPr/>
          </p:nvSpPr>
          <p:spPr bwMode="auto">
            <a:xfrm>
              <a:off x="1584" y="720"/>
              <a:ext cx="2109" cy="789"/>
            </a:xfrm>
            <a:custGeom>
              <a:avLst/>
              <a:gdLst>
                <a:gd name="T0" fmla="*/ 18 w 2109"/>
                <a:gd name="T1" fmla="*/ 789 h 789"/>
                <a:gd name="T2" fmla="*/ 24 w 2109"/>
                <a:gd name="T3" fmla="*/ 702 h 789"/>
                <a:gd name="T4" fmla="*/ 51 w 2109"/>
                <a:gd name="T5" fmla="*/ 693 h 789"/>
                <a:gd name="T6" fmla="*/ 18 w 2109"/>
                <a:gd name="T7" fmla="*/ 660 h 789"/>
                <a:gd name="T8" fmla="*/ 0 w 2109"/>
                <a:gd name="T9" fmla="*/ 594 h 789"/>
                <a:gd name="T10" fmla="*/ 36 w 2109"/>
                <a:gd name="T11" fmla="*/ 507 h 789"/>
                <a:gd name="T12" fmla="*/ 105 w 2109"/>
                <a:gd name="T13" fmla="*/ 480 h 789"/>
                <a:gd name="T14" fmla="*/ 153 w 2109"/>
                <a:gd name="T15" fmla="*/ 474 h 789"/>
                <a:gd name="T16" fmla="*/ 249 w 2109"/>
                <a:gd name="T17" fmla="*/ 402 h 789"/>
                <a:gd name="T18" fmla="*/ 228 w 2109"/>
                <a:gd name="T19" fmla="*/ 375 h 789"/>
                <a:gd name="T20" fmla="*/ 267 w 2109"/>
                <a:gd name="T21" fmla="*/ 339 h 789"/>
                <a:gd name="T22" fmla="*/ 288 w 2109"/>
                <a:gd name="T23" fmla="*/ 237 h 789"/>
                <a:gd name="T24" fmla="*/ 342 w 2109"/>
                <a:gd name="T25" fmla="*/ 147 h 789"/>
                <a:gd name="T26" fmla="*/ 408 w 2109"/>
                <a:gd name="T27" fmla="*/ 102 h 789"/>
                <a:gd name="T28" fmla="*/ 459 w 2109"/>
                <a:gd name="T29" fmla="*/ 105 h 789"/>
                <a:gd name="T30" fmla="*/ 513 w 2109"/>
                <a:gd name="T31" fmla="*/ 129 h 789"/>
                <a:gd name="T32" fmla="*/ 576 w 2109"/>
                <a:gd name="T33" fmla="*/ 156 h 789"/>
                <a:gd name="T34" fmla="*/ 600 w 2109"/>
                <a:gd name="T35" fmla="*/ 123 h 789"/>
                <a:gd name="T36" fmla="*/ 642 w 2109"/>
                <a:gd name="T37" fmla="*/ 84 h 789"/>
                <a:gd name="T38" fmla="*/ 780 w 2109"/>
                <a:gd name="T39" fmla="*/ 24 h 789"/>
                <a:gd name="T40" fmla="*/ 846 w 2109"/>
                <a:gd name="T41" fmla="*/ 27 h 789"/>
                <a:gd name="T42" fmla="*/ 897 w 2109"/>
                <a:gd name="T43" fmla="*/ 0 h 789"/>
                <a:gd name="T44" fmla="*/ 1023 w 2109"/>
                <a:gd name="T45" fmla="*/ 3 h 789"/>
                <a:gd name="T46" fmla="*/ 1167 w 2109"/>
                <a:gd name="T47" fmla="*/ 42 h 789"/>
                <a:gd name="T48" fmla="*/ 1218 w 2109"/>
                <a:gd name="T49" fmla="*/ 99 h 789"/>
                <a:gd name="T50" fmla="*/ 1317 w 2109"/>
                <a:gd name="T51" fmla="*/ 48 h 789"/>
                <a:gd name="T52" fmla="*/ 1377 w 2109"/>
                <a:gd name="T53" fmla="*/ 36 h 789"/>
                <a:gd name="T54" fmla="*/ 1551 w 2109"/>
                <a:gd name="T55" fmla="*/ 33 h 789"/>
                <a:gd name="T56" fmla="*/ 1644 w 2109"/>
                <a:gd name="T57" fmla="*/ 51 h 789"/>
                <a:gd name="T58" fmla="*/ 1659 w 2109"/>
                <a:gd name="T59" fmla="*/ 78 h 789"/>
                <a:gd name="T60" fmla="*/ 1776 w 2109"/>
                <a:gd name="T61" fmla="*/ 60 h 789"/>
                <a:gd name="T62" fmla="*/ 1851 w 2109"/>
                <a:gd name="T63" fmla="*/ 81 h 789"/>
                <a:gd name="T64" fmla="*/ 1908 w 2109"/>
                <a:gd name="T65" fmla="*/ 102 h 789"/>
                <a:gd name="T66" fmla="*/ 1938 w 2109"/>
                <a:gd name="T67" fmla="*/ 204 h 789"/>
                <a:gd name="T68" fmla="*/ 1941 w 2109"/>
                <a:gd name="T69" fmla="*/ 261 h 789"/>
                <a:gd name="T70" fmla="*/ 2055 w 2109"/>
                <a:gd name="T71" fmla="*/ 267 h 789"/>
                <a:gd name="T72" fmla="*/ 2106 w 2109"/>
                <a:gd name="T73" fmla="*/ 336 h 789"/>
                <a:gd name="T74" fmla="*/ 2073 w 2109"/>
                <a:gd name="T75" fmla="*/ 465 h 789"/>
                <a:gd name="T76" fmla="*/ 2109 w 2109"/>
                <a:gd name="T77" fmla="*/ 498 h 789"/>
                <a:gd name="T78" fmla="*/ 2106 w 2109"/>
                <a:gd name="T79" fmla="*/ 543 h 789"/>
                <a:gd name="T80" fmla="*/ 2067 w 2109"/>
                <a:gd name="T81" fmla="*/ 612 h 789"/>
                <a:gd name="T82" fmla="*/ 2040 w 2109"/>
                <a:gd name="T83" fmla="*/ 627 h 789"/>
                <a:gd name="T84" fmla="*/ 1980 w 2109"/>
                <a:gd name="T85" fmla="*/ 657 h 789"/>
                <a:gd name="T86" fmla="*/ 1938 w 2109"/>
                <a:gd name="T87" fmla="*/ 663 h 789"/>
                <a:gd name="T88" fmla="*/ 18 w 2109"/>
                <a:gd name="T89" fmla="*/ 789 h 78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109"/>
                <a:gd name="T136" fmla="*/ 0 h 789"/>
                <a:gd name="T137" fmla="*/ 2109 w 2109"/>
                <a:gd name="T138" fmla="*/ 789 h 78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109" h="789">
                  <a:moveTo>
                    <a:pt x="18" y="789"/>
                  </a:moveTo>
                  <a:cubicBezTo>
                    <a:pt x="19" y="760"/>
                    <a:pt x="0" y="719"/>
                    <a:pt x="24" y="702"/>
                  </a:cubicBezTo>
                  <a:cubicBezTo>
                    <a:pt x="32" y="696"/>
                    <a:pt x="51" y="693"/>
                    <a:pt x="51" y="693"/>
                  </a:cubicBezTo>
                  <a:cubicBezTo>
                    <a:pt x="38" y="683"/>
                    <a:pt x="30" y="672"/>
                    <a:pt x="18" y="660"/>
                  </a:cubicBezTo>
                  <a:cubicBezTo>
                    <a:pt x="12" y="638"/>
                    <a:pt x="4" y="617"/>
                    <a:pt x="0" y="594"/>
                  </a:cubicBezTo>
                  <a:cubicBezTo>
                    <a:pt x="5" y="541"/>
                    <a:pt x="2" y="541"/>
                    <a:pt x="36" y="507"/>
                  </a:cubicBezTo>
                  <a:cubicBezTo>
                    <a:pt x="54" y="488"/>
                    <a:pt x="86" y="485"/>
                    <a:pt x="105" y="480"/>
                  </a:cubicBezTo>
                  <a:cubicBezTo>
                    <a:pt x="121" y="478"/>
                    <a:pt x="153" y="474"/>
                    <a:pt x="153" y="474"/>
                  </a:cubicBezTo>
                  <a:cubicBezTo>
                    <a:pt x="177" y="461"/>
                    <a:pt x="236" y="418"/>
                    <a:pt x="249" y="402"/>
                  </a:cubicBezTo>
                  <a:cubicBezTo>
                    <a:pt x="235" y="380"/>
                    <a:pt x="242" y="389"/>
                    <a:pt x="228" y="375"/>
                  </a:cubicBezTo>
                  <a:cubicBezTo>
                    <a:pt x="216" y="339"/>
                    <a:pt x="238" y="342"/>
                    <a:pt x="267" y="339"/>
                  </a:cubicBezTo>
                  <a:cubicBezTo>
                    <a:pt x="297" y="331"/>
                    <a:pt x="286" y="258"/>
                    <a:pt x="288" y="237"/>
                  </a:cubicBezTo>
                  <a:cubicBezTo>
                    <a:pt x="292" y="197"/>
                    <a:pt x="315" y="174"/>
                    <a:pt x="342" y="147"/>
                  </a:cubicBezTo>
                  <a:cubicBezTo>
                    <a:pt x="362" y="125"/>
                    <a:pt x="389" y="109"/>
                    <a:pt x="408" y="102"/>
                  </a:cubicBezTo>
                  <a:cubicBezTo>
                    <a:pt x="425" y="103"/>
                    <a:pt x="442" y="102"/>
                    <a:pt x="459" y="105"/>
                  </a:cubicBezTo>
                  <a:cubicBezTo>
                    <a:pt x="476" y="108"/>
                    <a:pt x="496" y="124"/>
                    <a:pt x="513" y="129"/>
                  </a:cubicBezTo>
                  <a:cubicBezTo>
                    <a:pt x="532" y="137"/>
                    <a:pt x="562" y="157"/>
                    <a:pt x="576" y="156"/>
                  </a:cubicBezTo>
                  <a:cubicBezTo>
                    <a:pt x="583" y="157"/>
                    <a:pt x="599" y="124"/>
                    <a:pt x="600" y="123"/>
                  </a:cubicBezTo>
                  <a:cubicBezTo>
                    <a:pt x="611" y="106"/>
                    <a:pt x="625" y="97"/>
                    <a:pt x="642" y="84"/>
                  </a:cubicBezTo>
                  <a:cubicBezTo>
                    <a:pt x="682" y="53"/>
                    <a:pt x="731" y="36"/>
                    <a:pt x="780" y="24"/>
                  </a:cubicBezTo>
                  <a:cubicBezTo>
                    <a:pt x="802" y="25"/>
                    <a:pt x="824" y="27"/>
                    <a:pt x="846" y="27"/>
                  </a:cubicBezTo>
                  <a:cubicBezTo>
                    <a:pt x="854" y="27"/>
                    <a:pt x="879" y="6"/>
                    <a:pt x="897" y="0"/>
                  </a:cubicBezTo>
                  <a:cubicBezTo>
                    <a:pt x="939" y="1"/>
                    <a:pt x="981" y="0"/>
                    <a:pt x="1023" y="3"/>
                  </a:cubicBezTo>
                  <a:cubicBezTo>
                    <a:pt x="1068" y="10"/>
                    <a:pt x="1135" y="26"/>
                    <a:pt x="1167" y="42"/>
                  </a:cubicBezTo>
                  <a:cubicBezTo>
                    <a:pt x="1188" y="49"/>
                    <a:pt x="1211" y="78"/>
                    <a:pt x="1218" y="99"/>
                  </a:cubicBezTo>
                  <a:cubicBezTo>
                    <a:pt x="1239" y="68"/>
                    <a:pt x="1281" y="53"/>
                    <a:pt x="1317" y="48"/>
                  </a:cubicBezTo>
                  <a:cubicBezTo>
                    <a:pt x="1339" y="41"/>
                    <a:pt x="1353" y="38"/>
                    <a:pt x="1377" y="36"/>
                  </a:cubicBezTo>
                  <a:cubicBezTo>
                    <a:pt x="1436" y="21"/>
                    <a:pt x="1479" y="32"/>
                    <a:pt x="1551" y="33"/>
                  </a:cubicBezTo>
                  <a:cubicBezTo>
                    <a:pt x="1585" y="35"/>
                    <a:pt x="1613" y="41"/>
                    <a:pt x="1644" y="51"/>
                  </a:cubicBezTo>
                  <a:cubicBezTo>
                    <a:pt x="1658" y="72"/>
                    <a:pt x="1654" y="62"/>
                    <a:pt x="1659" y="78"/>
                  </a:cubicBezTo>
                  <a:cubicBezTo>
                    <a:pt x="1697" y="73"/>
                    <a:pt x="1739" y="72"/>
                    <a:pt x="1776" y="60"/>
                  </a:cubicBezTo>
                  <a:cubicBezTo>
                    <a:pt x="1808" y="60"/>
                    <a:pt x="1829" y="74"/>
                    <a:pt x="1851" y="81"/>
                  </a:cubicBezTo>
                  <a:cubicBezTo>
                    <a:pt x="1868" y="89"/>
                    <a:pt x="1890" y="96"/>
                    <a:pt x="1908" y="102"/>
                  </a:cubicBezTo>
                  <a:cubicBezTo>
                    <a:pt x="1931" y="125"/>
                    <a:pt x="1934" y="173"/>
                    <a:pt x="1938" y="204"/>
                  </a:cubicBezTo>
                  <a:cubicBezTo>
                    <a:pt x="1939" y="223"/>
                    <a:pt x="1925" y="250"/>
                    <a:pt x="1941" y="261"/>
                  </a:cubicBezTo>
                  <a:cubicBezTo>
                    <a:pt x="1973" y="282"/>
                    <a:pt x="2017" y="263"/>
                    <a:pt x="2055" y="267"/>
                  </a:cubicBezTo>
                  <a:cubicBezTo>
                    <a:pt x="2082" y="279"/>
                    <a:pt x="2103" y="303"/>
                    <a:pt x="2106" y="336"/>
                  </a:cubicBezTo>
                  <a:cubicBezTo>
                    <a:pt x="2104" y="382"/>
                    <a:pt x="2099" y="426"/>
                    <a:pt x="2073" y="465"/>
                  </a:cubicBezTo>
                  <a:cubicBezTo>
                    <a:pt x="2074" y="492"/>
                    <a:pt x="2104" y="485"/>
                    <a:pt x="2109" y="498"/>
                  </a:cubicBezTo>
                  <a:cubicBezTo>
                    <a:pt x="2108" y="513"/>
                    <a:pt x="2108" y="528"/>
                    <a:pt x="2106" y="543"/>
                  </a:cubicBezTo>
                  <a:cubicBezTo>
                    <a:pt x="2099" y="562"/>
                    <a:pt x="2078" y="598"/>
                    <a:pt x="2067" y="612"/>
                  </a:cubicBezTo>
                  <a:cubicBezTo>
                    <a:pt x="2064" y="622"/>
                    <a:pt x="2048" y="623"/>
                    <a:pt x="2040" y="627"/>
                  </a:cubicBezTo>
                  <a:cubicBezTo>
                    <a:pt x="2020" y="636"/>
                    <a:pt x="2001" y="652"/>
                    <a:pt x="1980" y="657"/>
                  </a:cubicBezTo>
                  <a:cubicBezTo>
                    <a:pt x="1966" y="660"/>
                    <a:pt x="1952" y="660"/>
                    <a:pt x="1938" y="663"/>
                  </a:cubicBezTo>
                  <a:cubicBezTo>
                    <a:pt x="1611" y="685"/>
                    <a:pt x="337" y="782"/>
                    <a:pt x="18" y="789"/>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633" name="Freeform 65"/>
            <p:cNvSpPr>
              <a:spLocks/>
            </p:cNvSpPr>
            <p:nvPr/>
          </p:nvSpPr>
          <p:spPr bwMode="auto">
            <a:xfrm>
              <a:off x="1824" y="1232"/>
              <a:ext cx="976" cy="416"/>
            </a:xfrm>
            <a:custGeom>
              <a:avLst/>
              <a:gdLst>
                <a:gd name="T0" fmla="*/ 31 w 976"/>
                <a:gd name="T1" fmla="*/ 288 h 416"/>
                <a:gd name="T2" fmla="*/ 10 w 976"/>
                <a:gd name="T3" fmla="*/ 255 h 416"/>
                <a:gd name="T4" fmla="*/ 7 w 976"/>
                <a:gd name="T5" fmla="*/ 210 h 416"/>
                <a:gd name="T6" fmla="*/ 100 w 976"/>
                <a:gd name="T7" fmla="*/ 171 h 416"/>
                <a:gd name="T8" fmla="*/ 130 w 976"/>
                <a:gd name="T9" fmla="*/ 135 h 416"/>
                <a:gd name="T10" fmla="*/ 148 w 976"/>
                <a:gd name="T11" fmla="*/ 84 h 416"/>
                <a:gd name="T12" fmla="*/ 196 w 976"/>
                <a:gd name="T13" fmla="*/ 30 h 416"/>
                <a:gd name="T14" fmla="*/ 229 w 976"/>
                <a:gd name="T15" fmla="*/ 21 h 416"/>
                <a:gd name="T16" fmla="*/ 334 w 976"/>
                <a:gd name="T17" fmla="*/ 63 h 416"/>
                <a:gd name="T18" fmla="*/ 442 w 976"/>
                <a:gd name="T19" fmla="*/ 54 h 416"/>
                <a:gd name="T20" fmla="*/ 478 w 976"/>
                <a:gd name="T21" fmla="*/ 33 h 416"/>
                <a:gd name="T22" fmla="*/ 553 w 976"/>
                <a:gd name="T23" fmla="*/ 0 h 416"/>
                <a:gd name="T24" fmla="*/ 589 w 976"/>
                <a:gd name="T25" fmla="*/ 30 h 416"/>
                <a:gd name="T26" fmla="*/ 685 w 976"/>
                <a:gd name="T27" fmla="*/ 81 h 416"/>
                <a:gd name="T28" fmla="*/ 724 w 976"/>
                <a:gd name="T29" fmla="*/ 159 h 416"/>
                <a:gd name="T30" fmla="*/ 769 w 976"/>
                <a:gd name="T31" fmla="*/ 132 h 416"/>
                <a:gd name="T32" fmla="*/ 829 w 976"/>
                <a:gd name="T33" fmla="*/ 144 h 416"/>
                <a:gd name="T34" fmla="*/ 871 w 976"/>
                <a:gd name="T35" fmla="*/ 156 h 416"/>
                <a:gd name="T36" fmla="*/ 898 w 976"/>
                <a:gd name="T37" fmla="*/ 198 h 416"/>
                <a:gd name="T38" fmla="*/ 922 w 976"/>
                <a:gd name="T39" fmla="*/ 231 h 416"/>
                <a:gd name="T40" fmla="*/ 949 w 976"/>
                <a:gd name="T41" fmla="*/ 240 h 416"/>
                <a:gd name="T42" fmla="*/ 958 w 976"/>
                <a:gd name="T43" fmla="*/ 291 h 416"/>
                <a:gd name="T44" fmla="*/ 973 w 976"/>
                <a:gd name="T45" fmla="*/ 327 h 416"/>
                <a:gd name="T46" fmla="*/ 970 w 976"/>
                <a:gd name="T47" fmla="*/ 414 h 416"/>
                <a:gd name="T48" fmla="*/ 55 w 976"/>
                <a:gd name="T49" fmla="*/ 339 h 41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76"/>
                <a:gd name="T76" fmla="*/ 0 h 416"/>
                <a:gd name="T77" fmla="*/ 976 w 976"/>
                <a:gd name="T78" fmla="*/ 416 h 41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76" h="416">
                  <a:moveTo>
                    <a:pt x="31" y="288"/>
                  </a:moveTo>
                  <a:cubicBezTo>
                    <a:pt x="23" y="277"/>
                    <a:pt x="16" y="267"/>
                    <a:pt x="10" y="255"/>
                  </a:cubicBezTo>
                  <a:cubicBezTo>
                    <a:pt x="7" y="240"/>
                    <a:pt x="0" y="225"/>
                    <a:pt x="7" y="210"/>
                  </a:cubicBezTo>
                  <a:cubicBezTo>
                    <a:pt x="20" y="180"/>
                    <a:pt x="75" y="173"/>
                    <a:pt x="100" y="171"/>
                  </a:cubicBezTo>
                  <a:cubicBezTo>
                    <a:pt x="120" y="159"/>
                    <a:pt x="122" y="149"/>
                    <a:pt x="130" y="135"/>
                  </a:cubicBezTo>
                  <a:cubicBezTo>
                    <a:pt x="132" y="106"/>
                    <a:pt x="127" y="98"/>
                    <a:pt x="148" y="84"/>
                  </a:cubicBezTo>
                  <a:cubicBezTo>
                    <a:pt x="158" y="63"/>
                    <a:pt x="174" y="41"/>
                    <a:pt x="196" y="30"/>
                  </a:cubicBezTo>
                  <a:cubicBezTo>
                    <a:pt x="206" y="25"/>
                    <a:pt x="229" y="21"/>
                    <a:pt x="229" y="21"/>
                  </a:cubicBezTo>
                  <a:cubicBezTo>
                    <a:pt x="252" y="27"/>
                    <a:pt x="299" y="58"/>
                    <a:pt x="334" y="63"/>
                  </a:cubicBezTo>
                  <a:cubicBezTo>
                    <a:pt x="366" y="84"/>
                    <a:pt x="410" y="70"/>
                    <a:pt x="442" y="54"/>
                  </a:cubicBezTo>
                  <a:cubicBezTo>
                    <a:pt x="451" y="40"/>
                    <a:pt x="462" y="38"/>
                    <a:pt x="478" y="33"/>
                  </a:cubicBezTo>
                  <a:cubicBezTo>
                    <a:pt x="504" y="24"/>
                    <a:pt x="525" y="7"/>
                    <a:pt x="553" y="0"/>
                  </a:cubicBezTo>
                  <a:cubicBezTo>
                    <a:pt x="567" y="9"/>
                    <a:pt x="572" y="24"/>
                    <a:pt x="589" y="30"/>
                  </a:cubicBezTo>
                  <a:cubicBezTo>
                    <a:pt x="646" y="22"/>
                    <a:pt x="641" y="66"/>
                    <a:pt x="685" y="81"/>
                  </a:cubicBezTo>
                  <a:cubicBezTo>
                    <a:pt x="710" y="100"/>
                    <a:pt x="702" y="152"/>
                    <a:pt x="724" y="159"/>
                  </a:cubicBezTo>
                  <a:cubicBezTo>
                    <a:pt x="738" y="167"/>
                    <a:pt x="752" y="134"/>
                    <a:pt x="769" y="132"/>
                  </a:cubicBezTo>
                  <a:cubicBezTo>
                    <a:pt x="788" y="145"/>
                    <a:pt x="805" y="142"/>
                    <a:pt x="829" y="144"/>
                  </a:cubicBezTo>
                  <a:cubicBezTo>
                    <a:pt x="843" y="149"/>
                    <a:pt x="857" y="152"/>
                    <a:pt x="871" y="156"/>
                  </a:cubicBezTo>
                  <a:cubicBezTo>
                    <a:pt x="875" y="185"/>
                    <a:pt x="876" y="183"/>
                    <a:pt x="898" y="198"/>
                  </a:cubicBezTo>
                  <a:cubicBezTo>
                    <a:pt x="902" y="211"/>
                    <a:pt x="909" y="225"/>
                    <a:pt x="922" y="231"/>
                  </a:cubicBezTo>
                  <a:cubicBezTo>
                    <a:pt x="930" y="238"/>
                    <a:pt x="943" y="230"/>
                    <a:pt x="949" y="240"/>
                  </a:cubicBezTo>
                  <a:cubicBezTo>
                    <a:pt x="963" y="262"/>
                    <a:pt x="952" y="242"/>
                    <a:pt x="958" y="291"/>
                  </a:cubicBezTo>
                  <a:cubicBezTo>
                    <a:pt x="962" y="305"/>
                    <a:pt x="971" y="307"/>
                    <a:pt x="973" y="327"/>
                  </a:cubicBezTo>
                  <a:cubicBezTo>
                    <a:pt x="972" y="356"/>
                    <a:pt x="976" y="386"/>
                    <a:pt x="970" y="414"/>
                  </a:cubicBezTo>
                  <a:cubicBezTo>
                    <a:pt x="817" y="416"/>
                    <a:pt x="207" y="351"/>
                    <a:pt x="55" y="339"/>
                  </a:cubicBezTo>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634" name="Freeform 66"/>
            <p:cNvSpPr>
              <a:spLocks/>
            </p:cNvSpPr>
            <p:nvPr/>
          </p:nvSpPr>
          <p:spPr bwMode="auto">
            <a:xfrm>
              <a:off x="2592" y="1184"/>
              <a:ext cx="1169" cy="449"/>
            </a:xfrm>
            <a:custGeom>
              <a:avLst/>
              <a:gdLst>
                <a:gd name="T0" fmla="*/ 0 w 1169"/>
                <a:gd name="T1" fmla="*/ 423 h 449"/>
                <a:gd name="T2" fmla="*/ 48 w 1169"/>
                <a:gd name="T3" fmla="*/ 327 h 449"/>
                <a:gd name="T4" fmla="*/ 63 w 1169"/>
                <a:gd name="T5" fmla="*/ 324 h 449"/>
                <a:gd name="T6" fmla="*/ 99 w 1169"/>
                <a:gd name="T7" fmla="*/ 276 h 449"/>
                <a:gd name="T8" fmla="*/ 123 w 1169"/>
                <a:gd name="T9" fmla="*/ 249 h 449"/>
                <a:gd name="T10" fmla="*/ 162 w 1169"/>
                <a:gd name="T11" fmla="*/ 216 h 449"/>
                <a:gd name="T12" fmla="*/ 225 w 1169"/>
                <a:gd name="T13" fmla="*/ 201 h 449"/>
                <a:gd name="T14" fmla="*/ 309 w 1169"/>
                <a:gd name="T15" fmla="*/ 201 h 449"/>
                <a:gd name="T16" fmla="*/ 276 w 1169"/>
                <a:gd name="T17" fmla="*/ 171 h 449"/>
                <a:gd name="T18" fmla="*/ 330 w 1169"/>
                <a:gd name="T19" fmla="*/ 117 h 449"/>
                <a:gd name="T20" fmla="*/ 372 w 1169"/>
                <a:gd name="T21" fmla="*/ 108 h 449"/>
                <a:gd name="T22" fmla="*/ 402 w 1169"/>
                <a:gd name="T23" fmla="*/ 102 h 449"/>
                <a:gd name="T24" fmla="*/ 444 w 1169"/>
                <a:gd name="T25" fmla="*/ 138 h 449"/>
                <a:gd name="T26" fmla="*/ 462 w 1169"/>
                <a:gd name="T27" fmla="*/ 141 h 449"/>
                <a:gd name="T28" fmla="*/ 525 w 1169"/>
                <a:gd name="T29" fmla="*/ 174 h 449"/>
                <a:gd name="T30" fmla="*/ 612 w 1169"/>
                <a:gd name="T31" fmla="*/ 120 h 449"/>
                <a:gd name="T32" fmla="*/ 597 w 1169"/>
                <a:gd name="T33" fmla="*/ 93 h 449"/>
                <a:gd name="T34" fmla="*/ 648 w 1169"/>
                <a:gd name="T35" fmla="*/ 60 h 449"/>
                <a:gd name="T36" fmla="*/ 768 w 1169"/>
                <a:gd name="T37" fmla="*/ 0 h 449"/>
                <a:gd name="T38" fmla="*/ 903 w 1169"/>
                <a:gd name="T39" fmla="*/ 15 h 449"/>
                <a:gd name="T40" fmla="*/ 924 w 1169"/>
                <a:gd name="T41" fmla="*/ 24 h 449"/>
                <a:gd name="T42" fmla="*/ 927 w 1169"/>
                <a:gd name="T43" fmla="*/ 15 h 449"/>
                <a:gd name="T44" fmla="*/ 936 w 1169"/>
                <a:gd name="T45" fmla="*/ 12 h 449"/>
                <a:gd name="T46" fmla="*/ 978 w 1169"/>
                <a:gd name="T47" fmla="*/ 99 h 449"/>
                <a:gd name="T48" fmla="*/ 1032 w 1169"/>
                <a:gd name="T49" fmla="*/ 165 h 449"/>
                <a:gd name="T50" fmla="*/ 1086 w 1169"/>
                <a:gd name="T51" fmla="*/ 186 h 449"/>
                <a:gd name="T52" fmla="*/ 1161 w 1169"/>
                <a:gd name="T53" fmla="*/ 255 h 449"/>
                <a:gd name="T54" fmla="*/ 1143 w 1169"/>
                <a:gd name="T55" fmla="*/ 288 h 449"/>
                <a:gd name="T56" fmla="*/ 1167 w 1169"/>
                <a:gd name="T57" fmla="*/ 393 h 449"/>
                <a:gd name="T58" fmla="*/ 1074 w 1169"/>
                <a:gd name="T59" fmla="*/ 441 h 449"/>
                <a:gd name="T60" fmla="*/ 0 w 1169"/>
                <a:gd name="T61" fmla="*/ 423 h 44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169"/>
                <a:gd name="T94" fmla="*/ 0 h 449"/>
                <a:gd name="T95" fmla="*/ 1169 w 1169"/>
                <a:gd name="T96" fmla="*/ 449 h 44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169" h="449">
                  <a:moveTo>
                    <a:pt x="0" y="423"/>
                  </a:moveTo>
                  <a:cubicBezTo>
                    <a:pt x="16" y="391"/>
                    <a:pt x="28" y="357"/>
                    <a:pt x="48" y="327"/>
                  </a:cubicBezTo>
                  <a:cubicBezTo>
                    <a:pt x="83" y="275"/>
                    <a:pt x="45" y="379"/>
                    <a:pt x="63" y="324"/>
                  </a:cubicBezTo>
                  <a:cubicBezTo>
                    <a:pt x="68" y="272"/>
                    <a:pt x="67" y="297"/>
                    <a:pt x="99" y="276"/>
                  </a:cubicBezTo>
                  <a:cubicBezTo>
                    <a:pt x="109" y="264"/>
                    <a:pt x="112" y="259"/>
                    <a:pt x="123" y="249"/>
                  </a:cubicBezTo>
                  <a:cubicBezTo>
                    <a:pt x="137" y="239"/>
                    <a:pt x="150" y="228"/>
                    <a:pt x="162" y="216"/>
                  </a:cubicBezTo>
                  <a:cubicBezTo>
                    <a:pt x="121" y="188"/>
                    <a:pt x="114" y="197"/>
                    <a:pt x="225" y="201"/>
                  </a:cubicBezTo>
                  <a:cubicBezTo>
                    <a:pt x="257" y="209"/>
                    <a:pt x="252" y="209"/>
                    <a:pt x="309" y="201"/>
                  </a:cubicBezTo>
                  <a:cubicBezTo>
                    <a:pt x="317" y="196"/>
                    <a:pt x="272" y="185"/>
                    <a:pt x="276" y="171"/>
                  </a:cubicBezTo>
                  <a:cubicBezTo>
                    <a:pt x="276" y="110"/>
                    <a:pt x="281" y="122"/>
                    <a:pt x="330" y="117"/>
                  </a:cubicBezTo>
                  <a:cubicBezTo>
                    <a:pt x="345" y="115"/>
                    <a:pt x="358" y="113"/>
                    <a:pt x="372" y="108"/>
                  </a:cubicBezTo>
                  <a:cubicBezTo>
                    <a:pt x="381" y="101"/>
                    <a:pt x="389" y="91"/>
                    <a:pt x="402" y="102"/>
                  </a:cubicBezTo>
                  <a:cubicBezTo>
                    <a:pt x="431" y="126"/>
                    <a:pt x="410" y="132"/>
                    <a:pt x="444" y="138"/>
                  </a:cubicBezTo>
                  <a:cubicBezTo>
                    <a:pt x="450" y="139"/>
                    <a:pt x="456" y="140"/>
                    <a:pt x="462" y="141"/>
                  </a:cubicBezTo>
                  <a:cubicBezTo>
                    <a:pt x="476" y="147"/>
                    <a:pt x="500" y="177"/>
                    <a:pt x="525" y="174"/>
                  </a:cubicBezTo>
                  <a:cubicBezTo>
                    <a:pt x="560" y="170"/>
                    <a:pt x="595" y="153"/>
                    <a:pt x="612" y="120"/>
                  </a:cubicBezTo>
                  <a:cubicBezTo>
                    <a:pt x="608" y="106"/>
                    <a:pt x="601" y="106"/>
                    <a:pt x="597" y="93"/>
                  </a:cubicBezTo>
                  <a:cubicBezTo>
                    <a:pt x="602" y="62"/>
                    <a:pt x="622" y="69"/>
                    <a:pt x="648" y="60"/>
                  </a:cubicBezTo>
                  <a:cubicBezTo>
                    <a:pt x="685" y="23"/>
                    <a:pt x="715" y="5"/>
                    <a:pt x="768" y="0"/>
                  </a:cubicBezTo>
                  <a:cubicBezTo>
                    <a:pt x="826" y="2"/>
                    <a:pt x="852" y="10"/>
                    <a:pt x="903" y="15"/>
                  </a:cubicBezTo>
                  <a:cubicBezTo>
                    <a:pt x="910" y="18"/>
                    <a:pt x="917" y="27"/>
                    <a:pt x="924" y="24"/>
                  </a:cubicBezTo>
                  <a:cubicBezTo>
                    <a:pt x="927" y="23"/>
                    <a:pt x="924" y="16"/>
                    <a:pt x="927" y="15"/>
                  </a:cubicBezTo>
                  <a:cubicBezTo>
                    <a:pt x="930" y="14"/>
                    <a:pt x="933" y="13"/>
                    <a:pt x="936" y="12"/>
                  </a:cubicBezTo>
                  <a:cubicBezTo>
                    <a:pt x="959" y="35"/>
                    <a:pt x="970" y="68"/>
                    <a:pt x="978" y="99"/>
                  </a:cubicBezTo>
                  <a:cubicBezTo>
                    <a:pt x="982" y="152"/>
                    <a:pt x="985" y="151"/>
                    <a:pt x="1032" y="165"/>
                  </a:cubicBezTo>
                  <a:cubicBezTo>
                    <a:pt x="1050" y="179"/>
                    <a:pt x="1065" y="171"/>
                    <a:pt x="1086" y="186"/>
                  </a:cubicBezTo>
                  <a:cubicBezTo>
                    <a:pt x="1105" y="214"/>
                    <a:pt x="1139" y="228"/>
                    <a:pt x="1161" y="255"/>
                  </a:cubicBezTo>
                  <a:cubicBezTo>
                    <a:pt x="1169" y="286"/>
                    <a:pt x="1169" y="271"/>
                    <a:pt x="1143" y="288"/>
                  </a:cubicBezTo>
                  <a:cubicBezTo>
                    <a:pt x="1131" y="324"/>
                    <a:pt x="1151" y="361"/>
                    <a:pt x="1167" y="393"/>
                  </a:cubicBezTo>
                  <a:cubicBezTo>
                    <a:pt x="1161" y="449"/>
                    <a:pt x="1133" y="439"/>
                    <a:pt x="1074" y="441"/>
                  </a:cubicBezTo>
                  <a:cubicBezTo>
                    <a:pt x="880" y="446"/>
                    <a:pt x="171" y="442"/>
                    <a:pt x="0" y="423"/>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635" name="Freeform 67"/>
            <p:cNvSpPr>
              <a:spLocks/>
            </p:cNvSpPr>
            <p:nvPr/>
          </p:nvSpPr>
          <p:spPr bwMode="auto">
            <a:xfrm>
              <a:off x="1584" y="1344"/>
              <a:ext cx="2224" cy="453"/>
            </a:xfrm>
            <a:custGeom>
              <a:avLst/>
              <a:gdLst>
                <a:gd name="T0" fmla="*/ 118 w 2224"/>
                <a:gd name="T1" fmla="*/ 75 h 453"/>
                <a:gd name="T2" fmla="*/ 214 w 2224"/>
                <a:gd name="T3" fmla="*/ 96 h 453"/>
                <a:gd name="T4" fmla="*/ 322 w 2224"/>
                <a:gd name="T5" fmla="*/ 18 h 453"/>
                <a:gd name="T6" fmla="*/ 367 w 2224"/>
                <a:gd name="T7" fmla="*/ 84 h 453"/>
                <a:gd name="T8" fmla="*/ 520 w 2224"/>
                <a:gd name="T9" fmla="*/ 93 h 453"/>
                <a:gd name="T10" fmla="*/ 574 w 2224"/>
                <a:gd name="T11" fmla="*/ 153 h 453"/>
                <a:gd name="T12" fmla="*/ 721 w 2224"/>
                <a:gd name="T13" fmla="*/ 159 h 453"/>
                <a:gd name="T14" fmla="*/ 817 w 2224"/>
                <a:gd name="T15" fmla="*/ 126 h 453"/>
                <a:gd name="T16" fmla="*/ 958 w 2224"/>
                <a:gd name="T17" fmla="*/ 207 h 453"/>
                <a:gd name="T18" fmla="*/ 1231 w 2224"/>
                <a:gd name="T19" fmla="*/ 255 h 453"/>
                <a:gd name="T20" fmla="*/ 1318 w 2224"/>
                <a:gd name="T21" fmla="*/ 213 h 453"/>
                <a:gd name="T22" fmla="*/ 1384 w 2224"/>
                <a:gd name="T23" fmla="*/ 219 h 453"/>
                <a:gd name="T24" fmla="*/ 1459 w 2224"/>
                <a:gd name="T25" fmla="*/ 192 h 453"/>
                <a:gd name="T26" fmla="*/ 1495 w 2224"/>
                <a:gd name="T27" fmla="*/ 144 h 453"/>
                <a:gd name="T28" fmla="*/ 1600 w 2224"/>
                <a:gd name="T29" fmla="*/ 102 h 453"/>
                <a:gd name="T30" fmla="*/ 1714 w 2224"/>
                <a:gd name="T31" fmla="*/ 165 h 453"/>
                <a:gd name="T32" fmla="*/ 1786 w 2224"/>
                <a:gd name="T33" fmla="*/ 147 h 453"/>
                <a:gd name="T34" fmla="*/ 1801 w 2224"/>
                <a:gd name="T35" fmla="*/ 45 h 453"/>
                <a:gd name="T36" fmla="*/ 1864 w 2224"/>
                <a:gd name="T37" fmla="*/ 42 h 453"/>
                <a:gd name="T38" fmla="*/ 1954 w 2224"/>
                <a:gd name="T39" fmla="*/ 153 h 453"/>
                <a:gd name="T40" fmla="*/ 2170 w 2224"/>
                <a:gd name="T41" fmla="*/ 168 h 453"/>
                <a:gd name="T42" fmla="*/ 2167 w 2224"/>
                <a:gd name="T43" fmla="*/ 252 h 453"/>
                <a:gd name="T44" fmla="*/ 2086 w 2224"/>
                <a:gd name="T45" fmla="*/ 300 h 453"/>
                <a:gd name="T46" fmla="*/ 1876 w 2224"/>
                <a:gd name="T47" fmla="*/ 381 h 453"/>
                <a:gd name="T48" fmla="*/ 1642 w 2224"/>
                <a:gd name="T49" fmla="*/ 381 h 453"/>
                <a:gd name="T50" fmla="*/ 1390 w 2224"/>
                <a:gd name="T51" fmla="*/ 387 h 453"/>
                <a:gd name="T52" fmla="*/ 1231 w 2224"/>
                <a:gd name="T53" fmla="*/ 390 h 453"/>
                <a:gd name="T54" fmla="*/ 976 w 2224"/>
                <a:gd name="T55" fmla="*/ 408 h 453"/>
                <a:gd name="T56" fmla="*/ 847 w 2224"/>
                <a:gd name="T57" fmla="*/ 435 h 453"/>
                <a:gd name="T58" fmla="*/ 685 w 2224"/>
                <a:gd name="T59" fmla="*/ 450 h 453"/>
                <a:gd name="T60" fmla="*/ 550 w 2224"/>
                <a:gd name="T61" fmla="*/ 378 h 453"/>
                <a:gd name="T62" fmla="*/ 388 w 2224"/>
                <a:gd name="T63" fmla="*/ 297 h 453"/>
                <a:gd name="T64" fmla="*/ 274 w 2224"/>
                <a:gd name="T65" fmla="*/ 228 h 453"/>
                <a:gd name="T66" fmla="*/ 133 w 2224"/>
                <a:gd name="T67" fmla="*/ 192 h 453"/>
                <a:gd name="T68" fmla="*/ 10 w 2224"/>
                <a:gd name="T69" fmla="*/ 180 h 453"/>
                <a:gd name="T70" fmla="*/ 52 w 2224"/>
                <a:gd name="T71" fmla="*/ 135 h 45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224"/>
                <a:gd name="T109" fmla="*/ 0 h 453"/>
                <a:gd name="T110" fmla="*/ 2224 w 2224"/>
                <a:gd name="T111" fmla="*/ 453 h 45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224" h="453">
                  <a:moveTo>
                    <a:pt x="52" y="135"/>
                  </a:moveTo>
                  <a:cubicBezTo>
                    <a:pt x="70" y="123"/>
                    <a:pt x="96" y="81"/>
                    <a:pt x="118" y="75"/>
                  </a:cubicBezTo>
                  <a:cubicBezTo>
                    <a:pt x="156" y="78"/>
                    <a:pt x="157" y="86"/>
                    <a:pt x="187" y="96"/>
                  </a:cubicBezTo>
                  <a:cubicBezTo>
                    <a:pt x="196" y="110"/>
                    <a:pt x="202" y="104"/>
                    <a:pt x="214" y="96"/>
                  </a:cubicBezTo>
                  <a:cubicBezTo>
                    <a:pt x="224" y="81"/>
                    <a:pt x="224" y="58"/>
                    <a:pt x="235" y="45"/>
                  </a:cubicBezTo>
                  <a:cubicBezTo>
                    <a:pt x="249" y="27"/>
                    <a:pt x="301" y="20"/>
                    <a:pt x="322" y="18"/>
                  </a:cubicBezTo>
                  <a:cubicBezTo>
                    <a:pt x="344" y="11"/>
                    <a:pt x="361" y="0"/>
                    <a:pt x="370" y="0"/>
                  </a:cubicBezTo>
                  <a:cubicBezTo>
                    <a:pt x="377" y="11"/>
                    <a:pt x="348" y="72"/>
                    <a:pt x="367" y="84"/>
                  </a:cubicBezTo>
                  <a:cubicBezTo>
                    <a:pt x="414" y="81"/>
                    <a:pt x="448" y="79"/>
                    <a:pt x="484" y="72"/>
                  </a:cubicBezTo>
                  <a:cubicBezTo>
                    <a:pt x="509" y="73"/>
                    <a:pt x="517" y="83"/>
                    <a:pt x="520" y="93"/>
                  </a:cubicBezTo>
                  <a:cubicBezTo>
                    <a:pt x="524" y="108"/>
                    <a:pt x="501" y="121"/>
                    <a:pt x="505" y="135"/>
                  </a:cubicBezTo>
                  <a:cubicBezTo>
                    <a:pt x="508" y="144"/>
                    <a:pt x="564" y="151"/>
                    <a:pt x="574" y="153"/>
                  </a:cubicBezTo>
                  <a:cubicBezTo>
                    <a:pt x="598" y="155"/>
                    <a:pt x="628" y="146"/>
                    <a:pt x="652" y="147"/>
                  </a:cubicBezTo>
                  <a:cubicBezTo>
                    <a:pt x="672" y="140"/>
                    <a:pt x="703" y="163"/>
                    <a:pt x="721" y="159"/>
                  </a:cubicBezTo>
                  <a:cubicBezTo>
                    <a:pt x="733" y="160"/>
                    <a:pt x="745" y="165"/>
                    <a:pt x="757" y="165"/>
                  </a:cubicBezTo>
                  <a:cubicBezTo>
                    <a:pt x="778" y="165"/>
                    <a:pt x="797" y="130"/>
                    <a:pt x="817" y="126"/>
                  </a:cubicBezTo>
                  <a:cubicBezTo>
                    <a:pt x="886" y="99"/>
                    <a:pt x="853" y="77"/>
                    <a:pt x="904" y="60"/>
                  </a:cubicBezTo>
                  <a:cubicBezTo>
                    <a:pt x="929" y="66"/>
                    <a:pt x="964" y="117"/>
                    <a:pt x="958" y="207"/>
                  </a:cubicBezTo>
                  <a:cubicBezTo>
                    <a:pt x="1054" y="63"/>
                    <a:pt x="1057" y="250"/>
                    <a:pt x="1198" y="180"/>
                  </a:cubicBezTo>
                  <a:cubicBezTo>
                    <a:pt x="1242" y="195"/>
                    <a:pt x="1216" y="246"/>
                    <a:pt x="1231" y="255"/>
                  </a:cubicBezTo>
                  <a:cubicBezTo>
                    <a:pt x="1249" y="244"/>
                    <a:pt x="1267" y="236"/>
                    <a:pt x="1288" y="231"/>
                  </a:cubicBezTo>
                  <a:cubicBezTo>
                    <a:pt x="1298" y="223"/>
                    <a:pt x="1308" y="220"/>
                    <a:pt x="1318" y="213"/>
                  </a:cubicBezTo>
                  <a:cubicBezTo>
                    <a:pt x="1328" y="198"/>
                    <a:pt x="1343" y="177"/>
                    <a:pt x="1360" y="171"/>
                  </a:cubicBezTo>
                  <a:cubicBezTo>
                    <a:pt x="1371" y="187"/>
                    <a:pt x="1367" y="208"/>
                    <a:pt x="1384" y="219"/>
                  </a:cubicBezTo>
                  <a:cubicBezTo>
                    <a:pt x="1401" y="218"/>
                    <a:pt x="1418" y="219"/>
                    <a:pt x="1435" y="216"/>
                  </a:cubicBezTo>
                  <a:cubicBezTo>
                    <a:pt x="1447" y="214"/>
                    <a:pt x="1446" y="195"/>
                    <a:pt x="1459" y="192"/>
                  </a:cubicBezTo>
                  <a:cubicBezTo>
                    <a:pt x="1470" y="190"/>
                    <a:pt x="1481" y="190"/>
                    <a:pt x="1492" y="189"/>
                  </a:cubicBezTo>
                  <a:cubicBezTo>
                    <a:pt x="1493" y="174"/>
                    <a:pt x="1497" y="159"/>
                    <a:pt x="1495" y="144"/>
                  </a:cubicBezTo>
                  <a:cubicBezTo>
                    <a:pt x="1506" y="129"/>
                    <a:pt x="1543" y="106"/>
                    <a:pt x="1561" y="99"/>
                  </a:cubicBezTo>
                  <a:cubicBezTo>
                    <a:pt x="1574" y="100"/>
                    <a:pt x="1587" y="99"/>
                    <a:pt x="1600" y="102"/>
                  </a:cubicBezTo>
                  <a:cubicBezTo>
                    <a:pt x="1614" y="106"/>
                    <a:pt x="1620" y="133"/>
                    <a:pt x="1633" y="141"/>
                  </a:cubicBezTo>
                  <a:cubicBezTo>
                    <a:pt x="1656" y="154"/>
                    <a:pt x="1687" y="161"/>
                    <a:pt x="1714" y="165"/>
                  </a:cubicBezTo>
                  <a:cubicBezTo>
                    <a:pt x="1733" y="164"/>
                    <a:pt x="1752" y="165"/>
                    <a:pt x="1771" y="162"/>
                  </a:cubicBezTo>
                  <a:cubicBezTo>
                    <a:pt x="1781" y="161"/>
                    <a:pt x="1780" y="152"/>
                    <a:pt x="1786" y="147"/>
                  </a:cubicBezTo>
                  <a:cubicBezTo>
                    <a:pt x="1791" y="142"/>
                    <a:pt x="1804" y="135"/>
                    <a:pt x="1804" y="135"/>
                  </a:cubicBezTo>
                  <a:cubicBezTo>
                    <a:pt x="1803" y="105"/>
                    <a:pt x="1801" y="75"/>
                    <a:pt x="1801" y="45"/>
                  </a:cubicBezTo>
                  <a:cubicBezTo>
                    <a:pt x="1801" y="37"/>
                    <a:pt x="1798" y="26"/>
                    <a:pt x="1804" y="21"/>
                  </a:cubicBezTo>
                  <a:cubicBezTo>
                    <a:pt x="1804" y="21"/>
                    <a:pt x="1854" y="34"/>
                    <a:pt x="1864" y="42"/>
                  </a:cubicBezTo>
                  <a:cubicBezTo>
                    <a:pt x="1883" y="57"/>
                    <a:pt x="1916" y="91"/>
                    <a:pt x="1924" y="114"/>
                  </a:cubicBezTo>
                  <a:cubicBezTo>
                    <a:pt x="1929" y="130"/>
                    <a:pt x="1939" y="144"/>
                    <a:pt x="1954" y="153"/>
                  </a:cubicBezTo>
                  <a:cubicBezTo>
                    <a:pt x="1975" y="166"/>
                    <a:pt x="1994" y="163"/>
                    <a:pt x="2020" y="165"/>
                  </a:cubicBezTo>
                  <a:cubicBezTo>
                    <a:pt x="2062" y="193"/>
                    <a:pt x="2170" y="168"/>
                    <a:pt x="2170" y="168"/>
                  </a:cubicBezTo>
                  <a:cubicBezTo>
                    <a:pt x="2213" y="172"/>
                    <a:pt x="2214" y="180"/>
                    <a:pt x="2224" y="219"/>
                  </a:cubicBezTo>
                  <a:cubicBezTo>
                    <a:pt x="2218" y="237"/>
                    <a:pt x="2185" y="246"/>
                    <a:pt x="2167" y="252"/>
                  </a:cubicBezTo>
                  <a:cubicBezTo>
                    <a:pt x="2155" y="264"/>
                    <a:pt x="2141" y="274"/>
                    <a:pt x="2125" y="279"/>
                  </a:cubicBezTo>
                  <a:cubicBezTo>
                    <a:pt x="2097" y="300"/>
                    <a:pt x="2111" y="295"/>
                    <a:pt x="2086" y="300"/>
                  </a:cubicBezTo>
                  <a:cubicBezTo>
                    <a:pt x="2060" y="317"/>
                    <a:pt x="2026" y="354"/>
                    <a:pt x="1996" y="357"/>
                  </a:cubicBezTo>
                  <a:cubicBezTo>
                    <a:pt x="1956" y="370"/>
                    <a:pt x="1917" y="373"/>
                    <a:pt x="1876" y="381"/>
                  </a:cubicBezTo>
                  <a:cubicBezTo>
                    <a:pt x="1833" y="410"/>
                    <a:pt x="1761" y="378"/>
                    <a:pt x="1711" y="390"/>
                  </a:cubicBezTo>
                  <a:cubicBezTo>
                    <a:pt x="1650" y="384"/>
                    <a:pt x="1673" y="389"/>
                    <a:pt x="1642" y="381"/>
                  </a:cubicBezTo>
                  <a:cubicBezTo>
                    <a:pt x="1610" y="361"/>
                    <a:pt x="1609" y="366"/>
                    <a:pt x="1573" y="354"/>
                  </a:cubicBezTo>
                  <a:cubicBezTo>
                    <a:pt x="1552" y="417"/>
                    <a:pt x="1441" y="385"/>
                    <a:pt x="1390" y="387"/>
                  </a:cubicBezTo>
                  <a:cubicBezTo>
                    <a:pt x="1344" y="384"/>
                    <a:pt x="1321" y="340"/>
                    <a:pt x="1294" y="336"/>
                  </a:cubicBezTo>
                  <a:cubicBezTo>
                    <a:pt x="1268" y="340"/>
                    <a:pt x="1254" y="379"/>
                    <a:pt x="1231" y="390"/>
                  </a:cubicBezTo>
                  <a:cubicBezTo>
                    <a:pt x="1200" y="405"/>
                    <a:pt x="1154" y="386"/>
                    <a:pt x="1120" y="396"/>
                  </a:cubicBezTo>
                  <a:cubicBezTo>
                    <a:pt x="1075" y="409"/>
                    <a:pt x="1020" y="406"/>
                    <a:pt x="976" y="408"/>
                  </a:cubicBezTo>
                  <a:cubicBezTo>
                    <a:pt x="945" y="410"/>
                    <a:pt x="914" y="413"/>
                    <a:pt x="883" y="417"/>
                  </a:cubicBezTo>
                  <a:cubicBezTo>
                    <a:pt x="870" y="421"/>
                    <a:pt x="859" y="430"/>
                    <a:pt x="847" y="435"/>
                  </a:cubicBezTo>
                  <a:cubicBezTo>
                    <a:pt x="822" y="446"/>
                    <a:pt x="797" y="450"/>
                    <a:pt x="769" y="453"/>
                  </a:cubicBezTo>
                  <a:cubicBezTo>
                    <a:pt x="741" y="452"/>
                    <a:pt x="713" y="452"/>
                    <a:pt x="685" y="450"/>
                  </a:cubicBezTo>
                  <a:cubicBezTo>
                    <a:pt x="661" y="449"/>
                    <a:pt x="637" y="434"/>
                    <a:pt x="613" y="429"/>
                  </a:cubicBezTo>
                  <a:cubicBezTo>
                    <a:pt x="591" y="417"/>
                    <a:pt x="570" y="390"/>
                    <a:pt x="550" y="378"/>
                  </a:cubicBezTo>
                  <a:cubicBezTo>
                    <a:pt x="525" y="353"/>
                    <a:pt x="545" y="361"/>
                    <a:pt x="490" y="357"/>
                  </a:cubicBezTo>
                  <a:cubicBezTo>
                    <a:pt x="466" y="339"/>
                    <a:pt x="415" y="325"/>
                    <a:pt x="388" y="297"/>
                  </a:cubicBezTo>
                  <a:cubicBezTo>
                    <a:pt x="361" y="269"/>
                    <a:pt x="343" y="201"/>
                    <a:pt x="328" y="189"/>
                  </a:cubicBezTo>
                  <a:cubicBezTo>
                    <a:pt x="309" y="178"/>
                    <a:pt x="300" y="223"/>
                    <a:pt x="274" y="228"/>
                  </a:cubicBezTo>
                  <a:cubicBezTo>
                    <a:pt x="235" y="226"/>
                    <a:pt x="207" y="226"/>
                    <a:pt x="172" y="219"/>
                  </a:cubicBezTo>
                  <a:cubicBezTo>
                    <a:pt x="156" y="211"/>
                    <a:pt x="150" y="196"/>
                    <a:pt x="133" y="192"/>
                  </a:cubicBezTo>
                  <a:cubicBezTo>
                    <a:pt x="98" y="199"/>
                    <a:pt x="76" y="197"/>
                    <a:pt x="37" y="195"/>
                  </a:cubicBezTo>
                  <a:cubicBezTo>
                    <a:pt x="25" y="192"/>
                    <a:pt x="15" y="192"/>
                    <a:pt x="10" y="180"/>
                  </a:cubicBezTo>
                  <a:cubicBezTo>
                    <a:pt x="5" y="172"/>
                    <a:pt x="0" y="154"/>
                    <a:pt x="7" y="147"/>
                  </a:cubicBezTo>
                  <a:cubicBezTo>
                    <a:pt x="12" y="140"/>
                    <a:pt x="41" y="131"/>
                    <a:pt x="52" y="135"/>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636" name="Freeform 68"/>
            <p:cNvSpPr>
              <a:spLocks/>
            </p:cNvSpPr>
            <p:nvPr/>
          </p:nvSpPr>
          <p:spPr bwMode="auto">
            <a:xfrm>
              <a:off x="1968" y="1136"/>
              <a:ext cx="415" cy="295"/>
            </a:xfrm>
            <a:custGeom>
              <a:avLst/>
              <a:gdLst>
                <a:gd name="T0" fmla="*/ 73 w 415"/>
                <a:gd name="T1" fmla="*/ 247 h 295"/>
                <a:gd name="T2" fmla="*/ 13 w 415"/>
                <a:gd name="T3" fmla="*/ 193 h 295"/>
                <a:gd name="T4" fmla="*/ 58 w 415"/>
                <a:gd name="T5" fmla="*/ 154 h 295"/>
                <a:gd name="T6" fmla="*/ 82 w 415"/>
                <a:gd name="T7" fmla="*/ 124 h 295"/>
                <a:gd name="T8" fmla="*/ 163 w 415"/>
                <a:gd name="T9" fmla="*/ 43 h 295"/>
                <a:gd name="T10" fmla="*/ 196 w 415"/>
                <a:gd name="T11" fmla="*/ 10 h 295"/>
                <a:gd name="T12" fmla="*/ 235 w 415"/>
                <a:gd name="T13" fmla="*/ 106 h 295"/>
                <a:gd name="T14" fmla="*/ 349 w 415"/>
                <a:gd name="T15" fmla="*/ 157 h 295"/>
                <a:gd name="T16" fmla="*/ 397 w 415"/>
                <a:gd name="T17" fmla="*/ 211 h 295"/>
                <a:gd name="T18" fmla="*/ 241 w 415"/>
                <a:gd name="T19" fmla="*/ 244 h 295"/>
                <a:gd name="T20" fmla="*/ 145 w 415"/>
                <a:gd name="T21" fmla="*/ 256 h 295"/>
                <a:gd name="T22" fmla="*/ 73 w 415"/>
                <a:gd name="T23" fmla="*/ 247 h 29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5"/>
                <a:gd name="T37" fmla="*/ 0 h 295"/>
                <a:gd name="T38" fmla="*/ 415 w 415"/>
                <a:gd name="T39" fmla="*/ 295 h 29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5" h="295">
                  <a:moveTo>
                    <a:pt x="73" y="247"/>
                  </a:moveTo>
                  <a:cubicBezTo>
                    <a:pt x="51" y="237"/>
                    <a:pt x="15" y="208"/>
                    <a:pt x="13" y="193"/>
                  </a:cubicBezTo>
                  <a:cubicBezTo>
                    <a:pt x="0" y="154"/>
                    <a:pt x="23" y="158"/>
                    <a:pt x="58" y="154"/>
                  </a:cubicBezTo>
                  <a:cubicBezTo>
                    <a:pt x="65" y="143"/>
                    <a:pt x="73" y="133"/>
                    <a:pt x="82" y="124"/>
                  </a:cubicBezTo>
                  <a:cubicBezTo>
                    <a:pt x="93" y="92"/>
                    <a:pt x="133" y="56"/>
                    <a:pt x="163" y="43"/>
                  </a:cubicBezTo>
                  <a:cubicBezTo>
                    <a:pt x="182" y="24"/>
                    <a:pt x="184" y="0"/>
                    <a:pt x="196" y="10"/>
                  </a:cubicBezTo>
                  <a:cubicBezTo>
                    <a:pt x="228" y="31"/>
                    <a:pt x="209" y="80"/>
                    <a:pt x="235" y="106"/>
                  </a:cubicBezTo>
                  <a:cubicBezTo>
                    <a:pt x="265" y="136"/>
                    <a:pt x="311" y="142"/>
                    <a:pt x="349" y="157"/>
                  </a:cubicBezTo>
                  <a:cubicBezTo>
                    <a:pt x="376" y="175"/>
                    <a:pt x="415" y="197"/>
                    <a:pt x="397" y="211"/>
                  </a:cubicBezTo>
                  <a:cubicBezTo>
                    <a:pt x="409" y="295"/>
                    <a:pt x="363" y="246"/>
                    <a:pt x="241" y="244"/>
                  </a:cubicBezTo>
                  <a:cubicBezTo>
                    <a:pt x="199" y="251"/>
                    <a:pt x="173" y="255"/>
                    <a:pt x="145" y="256"/>
                  </a:cubicBezTo>
                  <a:cubicBezTo>
                    <a:pt x="118" y="254"/>
                    <a:pt x="99" y="250"/>
                    <a:pt x="73" y="247"/>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sp>
          <p:nvSpPr>
            <p:cNvPr id="18637" name="Freeform 69"/>
            <p:cNvSpPr>
              <a:spLocks/>
            </p:cNvSpPr>
            <p:nvPr/>
          </p:nvSpPr>
          <p:spPr bwMode="auto">
            <a:xfrm>
              <a:off x="2476" y="1104"/>
              <a:ext cx="905" cy="292"/>
            </a:xfrm>
            <a:custGeom>
              <a:avLst/>
              <a:gdLst>
                <a:gd name="T0" fmla="*/ 71 w 905"/>
                <a:gd name="T1" fmla="*/ 278 h 292"/>
                <a:gd name="T2" fmla="*/ 173 w 905"/>
                <a:gd name="T3" fmla="*/ 278 h 292"/>
                <a:gd name="T4" fmla="*/ 287 w 905"/>
                <a:gd name="T5" fmla="*/ 266 h 292"/>
                <a:gd name="T6" fmla="*/ 314 w 905"/>
                <a:gd name="T7" fmla="*/ 290 h 292"/>
                <a:gd name="T8" fmla="*/ 410 w 905"/>
                <a:gd name="T9" fmla="*/ 281 h 292"/>
                <a:gd name="T10" fmla="*/ 461 w 905"/>
                <a:gd name="T11" fmla="*/ 239 h 292"/>
                <a:gd name="T12" fmla="*/ 503 w 905"/>
                <a:gd name="T13" fmla="*/ 236 h 292"/>
                <a:gd name="T14" fmla="*/ 704 w 905"/>
                <a:gd name="T15" fmla="*/ 227 h 292"/>
                <a:gd name="T16" fmla="*/ 761 w 905"/>
                <a:gd name="T17" fmla="*/ 197 h 292"/>
                <a:gd name="T18" fmla="*/ 785 w 905"/>
                <a:gd name="T19" fmla="*/ 158 h 292"/>
                <a:gd name="T20" fmla="*/ 905 w 905"/>
                <a:gd name="T21" fmla="*/ 104 h 292"/>
                <a:gd name="T22" fmla="*/ 833 w 905"/>
                <a:gd name="T23" fmla="*/ 32 h 292"/>
                <a:gd name="T24" fmla="*/ 779 w 905"/>
                <a:gd name="T25" fmla="*/ 11 h 292"/>
                <a:gd name="T26" fmla="*/ 737 w 905"/>
                <a:gd name="T27" fmla="*/ 8 h 292"/>
                <a:gd name="T28" fmla="*/ 698 w 905"/>
                <a:gd name="T29" fmla="*/ 35 h 292"/>
                <a:gd name="T30" fmla="*/ 641 w 905"/>
                <a:gd name="T31" fmla="*/ 50 h 292"/>
                <a:gd name="T32" fmla="*/ 566 w 905"/>
                <a:gd name="T33" fmla="*/ 41 h 292"/>
                <a:gd name="T34" fmla="*/ 536 w 905"/>
                <a:gd name="T35" fmla="*/ 26 h 292"/>
                <a:gd name="T36" fmla="*/ 473 w 905"/>
                <a:gd name="T37" fmla="*/ 17 h 292"/>
                <a:gd name="T38" fmla="*/ 440 w 905"/>
                <a:gd name="T39" fmla="*/ 14 h 292"/>
                <a:gd name="T40" fmla="*/ 428 w 905"/>
                <a:gd name="T41" fmla="*/ 62 h 292"/>
                <a:gd name="T42" fmla="*/ 392 w 905"/>
                <a:gd name="T43" fmla="*/ 65 h 292"/>
                <a:gd name="T44" fmla="*/ 350 w 905"/>
                <a:gd name="T45" fmla="*/ 83 h 292"/>
                <a:gd name="T46" fmla="*/ 332 w 905"/>
                <a:gd name="T47" fmla="*/ 92 h 292"/>
                <a:gd name="T48" fmla="*/ 302 w 905"/>
                <a:gd name="T49" fmla="*/ 116 h 292"/>
                <a:gd name="T50" fmla="*/ 254 w 905"/>
                <a:gd name="T51" fmla="*/ 188 h 292"/>
                <a:gd name="T52" fmla="*/ 188 w 905"/>
                <a:gd name="T53" fmla="*/ 170 h 292"/>
                <a:gd name="T54" fmla="*/ 104 w 905"/>
                <a:gd name="T55" fmla="*/ 194 h 292"/>
                <a:gd name="T56" fmla="*/ 8 w 905"/>
                <a:gd name="T57" fmla="*/ 203 h 292"/>
                <a:gd name="T58" fmla="*/ 23 w 905"/>
                <a:gd name="T59" fmla="*/ 281 h 292"/>
                <a:gd name="T60" fmla="*/ 71 w 905"/>
                <a:gd name="T61" fmla="*/ 278 h 29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05"/>
                <a:gd name="T94" fmla="*/ 0 h 292"/>
                <a:gd name="T95" fmla="*/ 905 w 905"/>
                <a:gd name="T96" fmla="*/ 292 h 29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05" h="292">
                  <a:moveTo>
                    <a:pt x="71" y="278"/>
                  </a:moveTo>
                  <a:cubicBezTo>
                    <a:pt x="111" y="288"/>
                    <a:pt x="91" y="284"/>
                    <a:pt x="173" y="278"/>
                  </a:cubicBezTo>
                  <a:cubicBezTo>
                    <a:pt x="211" y="275"/>
                    <a:pt x="287" y="266"/>
                    <a:pt x="287" y="266"/>
                  </a:cubicBezTo>
                  <a:cubicBezTo>
                    <a:pt x="306" y="260"/>
                    <a:pt x="291" y="278"/>
                    <a:pt x="314" y="290"/>
                  </a:cubicBezTo>
                  <a:cubicBezTo>
                    <a:pt x="333" y="289"/>
                    <a:pt x="388" y="292"/>
                    <a:pt x="410" y="281"/>
                  </a:cubicBezTo>
                  <a:cubicBezTo>
                    <a:pt x="429" y="271"/>
                    <a:pt x="437" y="243"/>
                    <a:pt x="461" y="239"/>
                  </a:cubicBezTo>
                  <a:cubicBezTo>
                    <a:pt x="475" y="237"/>
                    <a:pt x="489" y="237"/>
                    <a:pt x="503" y="236"/>
                  </a:cubicBezTo>
                  <a:cubicBezTo>
                    <a:pt x="567" y="225"/>
                    <a:pt x="641" y="229"/>
                    <a:pt x="704" y="227"/>
                  </a:cubicBezTo>
                  <a:cubicBezTo>
                    <a:pt x="725" y="222"/>
                    <a:pt x="742" y="207"/>
                    <a:pt x="761" y="197"/>
                  </a:cubicBezTo>
                  <a:cubicBezTo>
                    <a:pt x="769" y="185"/>
                    <a:pt x="778" y="168"/>
                    <a:pt x="785" y="158"/>
                  </a:cubicBezTo>
                  <a:cubicBezTo>
                    <a:pt x="813" y="121"/>
                    <a:pt x="863" y="111"/>
                    <a:pt x="905" y="104"/>
                  </a:cubicBezTo>
                  <a:cubicBezTo>
                    <a:pt x="900" y="49"/>
                    <a:pt x="887" y="40"/>
                    <a:pt x="833" y="32"/>
                  </a:cubicBezTo>
                  <a:cubicBezTo>
                    <a:pt x="815" y="26"/>
                    <a:pt x="798" y="16"/>
                    <a:pt x="779" y="11"/>
                  </a:cubicBezTo>
                  <a:cubicBezTo>
                    <a:pt x="763" y="1"/>
                    <a:pt x="766" y="0"/>
                    <a:pt x="737" y="8"/>
                  </a:cubicBezTo>
                  <a:cubicBezTo>
                    <a:pt x="731" y="10"/>
                    <a:pt x="707" y="31"/>
                    <a:pt x="698" y="35"/>
                  </a:cubicBezTo>
                  <a:cubicBezTo>
                    <a:pt x="680" y="44"/>
                    <a:pt x="661" y="47"/>
                    <a:pt x="641" y="50"/>
                  </a:cubicBezTo>
                  <a:cubicBezTo>
                    <a:pt x="614" y="48"/>
                    <a:pt x="591" y="48"/>
                    <a:pt x="566" y="41"/>
                  </a:cubicBezTo>
                  <a:cubicBezTo>
                    <a:pt x="555" y="38"/>
                    <a:pt x="547" y="30"/>
                    <a:pt x="536" y="26"/>
                  </a:cubicBezTo>
                  <a:cubicBezTo>
                    <a:pt x="510" y="16"/>
                    <a:pt x="509" y="19"/>
                    <a:pt x="473" y="17"/>
                  </a:cubicBezTo>
                  <a:cubicBezTo>
                    <a:pt x="459" y="14"/>
                    <a:pt x="454" y="10"/>
                    <a:pt x="440" y="14"/>
                  </a:cubicBezTo>
                  <a:cubicBezTo>
                    <a:pt x="436" y="25"/>
                    <a:pt x="430" y="61"/>
                    <a:pt x="428" y="62"/>
                  </a:cubicBezTo>
                  <a:cubicBezTo>
                    <a:pt x="417" y="67"/>
                    <a:pt x="404" y="64"/>
                    <a:pt x="392" y="65"/>
                  </a:cubicBezTo>
                  <a:cubicBezTo>
                    <a:pt x="376" y="69"/>
                    <a:pt x="366" y="79"/>
                    <a:pt x="350" y="83"/>
                  </a:cubicBezTo>
                  <a:cubicBezTo>
                    <a:pt x="344" y="87"/>
                    <a:pt x="337" y="88"/>
                    <a:pt x="332" y="92"/>
                  </a:cubicBezTo>
                  <a:cubicBezTo>
                    <a:pt x="299" y="119"/>
                    <a:pt x="324" y="109"/>
                    <a:pt x="302" y="116"/>
                  </a:cubicBezTo>
                  <a:cubicBezTo>
                    <a:pt x="256" y="186"/>
                    <a:pt x="344" y="195"/>
                    <a:pt x="254" y="188"/>
                  </a:cubicBezTo>
                  <a:cubicBezTo>
                    <a:pt x="232" y="184"/>
                    <a:pt x="210" y="176"/>
                    <a:pt x="188" y="170"/>
                  </a:cubicBezTo>
                  <a:cubicBezTo>
                    <a:pt x="137" y="174"/>
                    <a:pt x="143" y="186"/>
                    <a:pt x="104" y="194"/>
                  </a:cubicBezTo>
                  <a:cubicBezTo>
                    <a:pt x="73" y="200"/>
                    <a:pt x="40" y="200"/>
                    <a:pt x="8" y="203"/>
                  </a:cubicBezTo>
                  <a:cubicBezTo>
                    <a:pt x="9" y="226"/>
                    <a:pt x="0" y="266"/>
                    <a:pt x="23" y="281"/>
                  </a:cubicBezTo>
                  <a:cubicBezTo>
                    <a:pt x="55" y="277"/>
                    <a:pt x="39" y="278"/>
                    <a:pt x="71" y="278"/>
                  </a:cubicBezTo>
                  <a:close/>
                </a:path>
              </a:pathLst>
            </a:custGeom>
            <a:gradFill rotWithShape="0">
              <a:gsLst>
                <a:gs pos="0">
                  <a:srgbClr val="FBFCFF"/>
                </a:gs>
                <a:gs pos="100000">
                  <a:srgbClr val="2C5CFF"/>
                </a:gs>
              </a:gsLst>
              <a:lin ang="5400000" scaled="1"/>
            </a:gradFill>
            <a:ln w="12700" cap="flat" cmpd="sng">
              <a:noFill/>
              <a:prstDash val="solid"/>
              <a:round/>
              <a:headEnd type="none" w="sm" len="sm"/>
              <a:tailEnd type="none" w="sm" len="sm"/>
            </a:ln>
          </p:spPr>
          <p:txBody>
            <a:bodyPr wrap="none" anchor="ctr"/>
            <a:lstStyle/>
            <a:p>
              <a:endParaRPr lang="en-US"/>
            </a:p>
          </p:txBody>
        </p:sp>
      </p:grpSp>
      <p:sp>
        <p:nvSpPr>
          <p:cNvPr id="310342" name="Rectangle 70"/>
          <p:cNvSpPr>
            <a:spLocks noChangeArrowheads="1"/>
          </p:cNvSpPr>
          <p:nvPr/>
        </p:nvSpPr>
        <p:spPr bwMode="auto">
          <a:xfrm>
            <a:off x="7908925" y="3330575"/>
            <a:ext cx="833438" cy="304800"/>
          </a:xfrm>
          <a:prstGeom prst="rect">
            <a:avLst/>
          </a:prstGeom>
          <a:noFill/>
          <a:ln w="9525">
            <a:noFill/>
            <a:miter lim="800000"/>
            <a:headEnd/>
            <a:tailEnd/>
          </a:ln>
          <a:effectLst/>
        </p:spPr>
        <p:txBody>
          <a:bodyPr wrap="none" lIns="92075" tIns="46038" rIns="92075" bIns="46038">
            <a:spAutoFit/>
          </a:bodyPr>
          <a:lstStyle/>
          <a:p>
            <a:pPr>
              <a:defRPr/>
            </a:pPr>
            <a:r>
              <a:rPr lang="en-US" sz="1400" b="1">
                <a:effectLst>
                  <a:outerShdw blurRad="38100" dist="38100" dir="2700000" algn="tl">
                    <a:srgbClr val="FFFFFF"/>
                  </a:outerShdw>
                </a:effectLst>
              </a:rPr>
              <a:t>Internet</a:t>
            </a:r>
          </a:p>
        </p:txBody>
      </p:sp>
      <p:sp>
        <p:nvSpPr>
          <p:cNvPr id="18443" name="Rectangle 71"/>
          <p:cNvSpPr>
            <a:spLocks noChangeArrowheads="1"/>
          </p:cNvSpPr>
          <p:nvPr/>
        </p:nvSpPr>
        <p:spPr bwMode="auto">
          <a:xfrm>
            <a:off x="5486400" y="3048000"/>
            <a:ext cx="914400" cy="530225"/>
          </a:xfrm>
          <a:prstGeom prst="rect">
            <a:avLst/>
          </a:prstGeom>
          <a:noFill/>
          <a:ln w="9525">
            <a:noFill/>
            <a:miter lim="800000"/>
            <a:headEnd/>
            <a:tailEnd/>
          </a:ln>
        </p:spPr>
        <p:txBody>
          <a:bodyPr lIns="106362" tIns="52388" rIns="106362" bIns="52388">
            <a:spAutoFit/>
          </a:bodyPr>
          <a:lstStyle/>
          <a:p>
            <a:pPr algn="ctr" defTabSz="1208088"/>
            <a:r>
              <a:rPr lang="en-US" altLang="en-US" sz="1400" i="1">
                <a:solidFill>
                  <a:schemeClr val="bg1"/>
                </a:solidFill>
              </a:rPr>
              <a:t>LAN clients</a:t>
            </a:r>
          </a:p>
        </p:txBody>
      </p:sp>
      <p:sp>
        <p:nvSpPr>
          <p:cNvPr id="18444" name="Rectangle 72"/>
          <p:cNvSpPr>
            <a:spLocks noChangeArrowheads="1"/>
          </p:cNvSpPr>
          <p:nvPr/>
        </p:nvSpPr>
        <p:spPr bwMode="auto">
          <a:xfrm>
            <a:off x="5867400" y="1828800"/>
            <a:ext cx="1143000" cy="530225"/>
          </a:xfrm>
          <a:prstGeom prst="rect">
            <a:avLst/>
          </a:prstGeom>
          <a:noFill/>
          <a:ln w="9525">
            <a:noFill/>
            <a:miter lim="800000"/>
            <a:headEnd/>
            <a:tailEnd/>
          </a:ln>
        </p:spPr>
        <p:txBody>
          <a:bodyPr lIns="106362" tIns="52388" rIns="106362" bIns="52388">
            <a:spAutoFit/>
          </a:bodyPr>
          <a:lstStyle/>
          <a:p>
            <a:pPr algn="ctr" defTabSz="1208088"/>
            <a:r>
              <a:rPr lang="en-US" altLang="en-US" sz="1400" i="1">
                <a:solidFill>
                  <a:schemeClr val="bg1"/>
                </a:solidFill>
              </a:rPr>
              <a:t>Database Server</a:t>
            </a:r>
          </a:p>
        </p:txBody>
      </p:sp>
      <p:sp>
        <p:nvSpPr>
          <p:cNvPr id="18445" name="Line 87"/>
          <p:cNvSpPr>
            <a:spLocks noChangeShapeType="1"/>
          </p:cNvSpPr>
          <p:nvPr/>
        </p:nvSpPr>
        <p:spPr bwMode="auto">
          <a:xfrm>
            <a:off x="6629400" y="3657600"/>
            <a:ext cx="381000" cy="0"/>
          </a:xfrm>
          <a:prstGeom prst="line">
            <a:avLst/>
          </a:prstGeom>
          <a:noFill/>
          <a:ln w="28575">
            <a:solidFill>
              <a:schemeClr val="accent1"/>
            </a:solidFill>
            <a:round/>
            <a:headEnd/>
            <a:tailEnd/>
          </a:ln>
        </p:spPr>
        <p:txBody>
          <a:bodyPr wrap="none" anchor="ctr"/>
          <a:lstStyle/>
          <a:p>
            <a:endParaRPr lang="en-US"/>
          </a:p>
        </p:txBody>
      </p:sp>
      <p:grpSp>
        <p:nvGrpSpPr>
          <p:cNvPr id="18446" name="Group 88"/>
          <p:cNvGrpSpPr>
            <a:grpSpLocks/>
          </p:cNvGrpSpPr>
          <p:nvPr/>
        </p:nvGrpSpPr>
        <p:grpSpPr bwMode="auto">
          <a:xfrm>
            <a:off x="6019800" y="3352800"/>
            <a:ext cx="814388" cy="638175"/>
            <a:chOff x="3602" y="2194"/>
            <a:chExt cx="465" cy="364"/>
          </a:xfrm>
        </p:grpSpPr>
        <p:grpSp>
          <p:nvGrpSpPr>
            <p:cNvPr id="18510" name="Group 89"/>
            <p:cNvGrpSpPr>
              <a:grpSpLocks/>
            </p:cNvGrpSpPr>
            <p:nvPr/>
          </p:nvGrpSpPr>
          <p:grpSpPr bwMode="auto">
            <a:xfrm>
              <a:off x="3888" y="2298"/>
              <a:ext cx="179" cy="158"/>
              <a:chOff x="1824" y="844"/>
              <a:chExt cx="2035" cy="1803"/>
            </a:xfrm>
          </p:grpSpPr>
          <p:sp>
            <p:nvSpPr>
              <p:cNvPr id="18601" name="Freeform 90"/>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602" name="Freeform 91"/>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603" name="Freeform 92"/>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8604" name="Freeform 93"/>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8605" name="Freeform 94"/>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8606" name="Freeform 95"/>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8607" name="Freeform 96"/>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8608" name="Freeform 97"/>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8609" name="Freeform 98"/>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8610" name="Freeform 99"/>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8611" name="Freeform 100"/>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8612" name="Freeform 101"/>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8613" name="Freeform 102"/>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8614" name="Freeform 103"/>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8615" name="Freeform 104"/>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8616" name="Freeform 105"/>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8617" name="Freeform 106"/>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8618" name="Freeform 107"/>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8619" name="Freeform 108"/>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620" name="Freeform 109"/>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621" name="Freeform 110"/>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8622" name="Freeform 111"/>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623" name="Freeform 112"/>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624" name="Freeform 113"/>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625" name="Freeform 114"/>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626" name="Freeform 115"/>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627" name="Freeform 116"/>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628" name="Freeform 117"/>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629" name="Freeform 118"/>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8511" name="Group 119"/>
            <p:cNvGrpSpPr>
              <a:grpSpLocks/>
            </p:cNvGrpSpPr>
            <p:nvPr/>
          </p:nvGrpSpPr>
          <p:grpSpPr bwMode="auto">
            <a:xfrm>
              <a:off x="3744" y="2400"/>
              <a:ext cx="179" cy="158"/>
              <a:chOff x="1824" y="844"/>
              <a:chExt cx="2035" cy="1803"/>
            </a:xfrm>
          </p:grpSpPr>
          <p:sp>
            <p:nvSpPr>
              <p:cNvPr id="18572" name="Freeform 120"/>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573" name="Freeform 121"/>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574" name="Freeform 122"/>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8575" name="Freeform 123"/>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8576" name="Freeform 124"/>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8577" name="Freeform 125"/>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8578" name="Freeform 126"/>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8579" name="Freeform 127"/>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8580" name="Freeform 128"/>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8581" name="Freeform 129"/>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8582" name="Freeform 130"/>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8583" name="Freeform 131"/>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8584" name="Freeform 132"/>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8585" name="Freeform 133"/>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8586" name="Freeform 134"/>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8587" name="Freeform 135"/>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8588" name="Freeform 136"/>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8589" name="Freeform 137"/>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8590" name="Freeform 138"/>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591" name="Freeform 139"/>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592" name="Freeform 140"/>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8593" name="Freeform 141"/>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594" name="Freeform 142"/>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595" name="Freeform 143"/>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596" name="Freeform 144"/>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597" name="Freeform 145"/>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598" name="Freeform 146"/>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599" name="Freeform 147"/>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600" name="Freeform 148"/>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8512" name="Group 149"/>
            <p:cNvGrpSpPr>
              <a:grpSpLocks/>
            </p:cNvGrpSpPr>
            <p:nvPr/>
          </p:nvGrpSpPr>
          <p:grpSpPr bwMode="auto">
            <a:xfrm>
              <a:off x="3602" y="2298"/>
              <a:ext cx="179" cy="158"/>
              <a:chOff x="1824" y="844"/>
              <a:chExt cx="2035" cy="1803"/>
            </a:xfrm>
          </p:grpSpPr>
          <p:sp>
            <p:nvSpPr>
              <p:cNvPr id="18543" name="Freeform 150"/>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544" name="Freeform 151"/>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545" name="Freeform 152"/>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8546" name="Freeform 153"/>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8547" name="Freeform 154"/>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8548" name="Freeform 155"/>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8549" name="Freeform 156"/>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8550" name="Freeform 157"/>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8551" name="Freeform 158"/>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8552" name="Freeform 159"/>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8553" name="Freeform 160"/>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8554" name="Freeform 161"/>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8555" name="Freeform 162"/>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8556" name="Freeform 163"/>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8557" name="Freeform 164"/>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8558" name="Freeform 165"/>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8559" name="Freeform 166"/>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8560" name="Freeform 167"/>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8561" name="Freeform 168"/>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562" name="Freeform 169"/>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563" name="Freeform 170"/>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8564" name="Freeform 171"/>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565" name="Freeform 172"/>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566" name="Freeform 173"/>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567" name="Freeform 174"/>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568" name="Freeform 175"/>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569" name="Freeform 176"/>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570" name="Freeform 177"/>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571" name="Freeform 178"/>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18513" name="Group 179"/>
            <p:cNvGrpSpPr>
              <a:grpSpLocks/>
            </p:cNvGrpSpPr>
            <p:nvPr/>
          </p:nvGrpSpPr>
          <p:grpSpPr bwMode="auto">
            <a:xfrm>
              <a:off x="3757" y="2194"/>
              <a:ext cx="179" cy="158"/>
              <a:chOff x="1824" y="844"/>
              <a:chExt cx="2035" cy="1803"/>
            </a:xfrm>
          </p:grpSpPr>
          <p:sp>
            <p:nvSpPr>
              <p:cNvPr id="18514" name="Freeform 180"/>
              <p:cNvSpPr>
                <a:spLocks/>
              </p:cNvSpPr>
              <p:nvPr/>
            </p:nvSpPr>
            <p:spPr bwMode="auto">
              <a:xfrm>
                <a:off x="2936" y="2172"/>
                <a:ext cx="380" cy="292"/>
              </a:xfrm>
              <a:custGeom>
                <a:avLst/>
                <a:gdLst>
                  <a:gd name="T0" fmla="*/ 12 w 380"/>
                  <a:gd name="T1" fmla="*/ 112 h 292"/>
                  <a:gd name="T2" fmla="*/ 0 w 380"/>
                  <a:gd name="T3" fmla="*/ 292 h 292"/>
                  <a:gd name="T4" fmla="*/ 376 w 380"/>
                  <a:gd name="T5" fmla="*/ 164 h 292"/>
                  <a:gd name="T6" fmla="*/ 380 w 380"/>
                  <a:gd name="T7" fmla="*/ 0 h 292"/>
                  <a:gd name="T8" fmla="*/ 12 w 380"/>
                  <a:gd name="T9" fmla="*/ 112 h 292"/>
                  <a:gd name="T10" fmla="*/ 0 60000 65536"/>
                  <a:gd name="T11" fmla="*/ 0 60000 65536"/>
                  <a:gd name="T12" fmla="*/ 0 60000 65536"/>
                  <a:gd name="T13" fmla="*/ 0 60000 65536"/>
                  <a:gd name="T14" fmla="*/ 0 60000 65536"/>
                  <a:gd name="T15" fmla="*/ 0 w 380"/>
                  <a:gd name="T16" fmla="*/ 0 h 292"/>
                  <a:gd name="T17" fmla="*/ 380 w 380"/>
                  <a:gd name="T18" fmla="*/ 292 h 292"/>
                </a:gdLst>
                <a:ahLst/>
                <a:cxnLst>
                  <a:cxn ang="T10">
                    <a:pos x="T0" y="T1"/>
                  </a:cxn>
                  <a:cxn ang="T11">
                    <a:pos x="T2" y="T3"/>
                  </a:cxn>
                  <a:cxn ang="T12">
                    <a:pos x="T4" y="T5"/>
                  </a:cxn>
                  <a:cxn ang="T13">
                    <a:pos x="T6" y="T7"/>
                  </a:cxn>
                  <a:cxn ang="T14">
                    <a:pos x="T8" y="T9"/>
                  </a:cxn>
                </a:cxnLst>
                <a:rect l="T15" t="T16" r="T17" b="T18"/>
                <a:pathLst>
                  <a:path w="380" h="292">
                    <a:moveTo>
                      <a:pt x="12" y="112"/>
                    </a:moveTo>
                    <a:lnTo>
                      <a:pt x="0" y="292"/>
                    </a:lnTo>
                    <a:lnTo>
                      <a:pt x="376" y="164"/>
                    </a:lnTo>
                    <a:lnTo>
                      <a:pt x="380" y="0"/>
                    </a:lnTo>
                    <a:lnTo>
                      <a:pt x="12" y="112"/>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515" name="Freeform 181"/>
              <p:cNvSpPr>
                <a:spLocks/>
              </p:cNvSpPr>
              <p:nvPr/>
            </p:nvSpPr>
            <p:spPr bwMode="auto">
              <a:xfrm>
                <a:off x="1948" y="1084"/>
                <a:ext cx="1400" cy="1204"/>
              </a:xfrm>
              <a:custGeom>
                <a:avLst/>
                <a:gdLst>
                  <a:gd name="T0" fmla="*/ 1148 w 1400"/>
                  <a:gd name="T1" fmla="*/ 1204 h 1204"/>
                  <a:gd name="T2" fmla="*/ 1400 w 1400"/>
                  <a:gd name="T3" fmla="*/ 36 h 1204"/>
                  <a:gd name="T4" fmla="*/ 0 w 1400"/>
                  <a:gd name="T5" fmla="*/ 0 h 1204"/>
                  <a:gd name="T6" fmla="*/ 188 w 1400"/>
                  <a:gd name="T7" fmla="*/ 1060 h 1204"/>
                  <a:gd name="T8" fmla="*/ 1148 w 1400"/>
                  <a:gd name="T9" fmla="*/ 1204 h 1204"/>
                  <a:gd name="T10" fmla="*/ 0 60000 65536"/>
                  <a:gd name="T11" fmla="*/ 0 60000 65536"/>
                  <a:gd name="T12" fmla="*/ 0 60000 65536"/>
                  <a:gd name="T13" fmla="*/ 0 60000 65536"/>
                  <a:gd name="T14" fmla="*/ 0 60000 65536"/>
                  <a:gd name="T15" fmla="*/ 0 w 1400"/>
                  <a:gd name="T16" fmla="*/ 0 h 1204"/>
                  <a:gd name="T17" fmla="*/ 1400 w 1400"/>
                  <a:gd name="T18" fmla="*/ 1204 h 1204"/>
                </a:gdLst>
                <a:ahLst/>
                <a:cxnLst>
                  <a:cxn ang="T10">
                    <a:pos x="T0" y="T1"/>
                  </a:cxn>
                  <a:cxn ang="T11">
                    <a:pos x="T2" y="T3"/>
                  </a:cxn>
                  <a:cxn ang="T12">
                    <a:pos x="T4" y="T5"/>
                  </a:cxn>
                  <a:cxn ang="T13">
                    <a:pos x="T6" y="T7"/>
                  </a:cxn>
                  <a:cxn ang="T14">
                    <a:pos x="T8" y="T9"/>
                  </a:cxn>
                </a:cxnLst>
                <a:rect l="T15" t="T16" r="T17" b="T18"/>
                <a:pathLst>
                  <a:path w="1400" h="1204">
                    <a:moveTo>
                      <a:pt x="1148" y="1204"/>
                    </a:moveTo>
                    <a:lnTo>
                      <a:pt x="1400" y="36"/>
                    </a:lnTo>
                    <a:lnTo>
                      <a:pt x="0" y="0"/>
                    </a:lnTo>
                    <a:lnTo>
                      <a:pt x="188" y="1060"/>
                    </a:lnTo>
                    <a:lnTo>
                      <a:pt x="1148" y="1204"/>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516" name="Freeform 182"/>
              <p:cNvSpPr>
                <a:spLocks/>
              </p:cNvSpPr>
              <p:nvPr/>
            </p:nvSpPr>
            <p:spPr bwMode="auto">
              <a:xfrm>
                <a:off x="1835" y="2375"/>
                <a:ext cx="756" cy="269"/>
              </a:xfrm>
              <a:custGeom>
                <a:avLst/>
                <a:gdLst>
                  <a:gd name="T0" fmla="*/ 0 w 2268"/>
                  <a:gd name="T1" fmla="*/ 0 h 540"/>
                  <a:gd name="T2" fmla="*/ 0 w 2268"/>
                  <a:gd name="T3" fmla="*/ 0 h 540"/>
                  <a:gd name="T4" fmla="*/ 0 w 2268"/>
                  <a:gd name="T5" fmla="*/ 0 h 540"/>
                  <a:gd name="T6" fmla="*/ 0 w 2268"/>
                  <a:gd name="T7" fmla="*/ 2 h 540"/>
                  <a:gd name="T8" fmla="*/ 0 w 2268"/>
                  <a:gd name="T9" fmla="*/ 1 h 540"/>
                  <a:gd name="T10" fmla="*/ 0 w 2268"/>
                  <a:gd name="T11" fmla="*/ 0 h 540"/>
                  <a:gd name="T12" fmla="*/ 0 w 2268"/>
                  <a:gd name="T13" fmla="*/ 0 h 540"/>
                  <a:gd name="T14" fmla="*/ 0 60000 65536"/>
                  <a:gd name="T15" fmla="*/ 0 60000 65536"/>
                  <a:gd name="T16" fmla="*/ 0 60000 65536"/>
                  <a:gd name="T17" fmla="*/ 0 60000 65536"/>
                  <a:gd name="T18" fmla="*/ 0 60000 65536"/>
                  <a:gd name="T19" fmla="*/ 0 60000 65536"/>
                  <a:gd name="T20" fmla="*/ 0 60000 65536"/>
                  <a:gd name="T21" fmla="*/ 0 w 2268"/>
                  <a:gd name="T22" fmla="*/ 0 h 540"/>
                  <a:gd name="T23" fmla="*/ 2268 w 2268"/>
                  <a:gd name="T24" fmla="*/ 540 h 5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8" h="540">
                    <a:moveTo>
                      <a:pt x="57" y="0"/>
                    </a:moveTo>
                    <a:lnTo>
                      <a:pt x="19" y="0"/>
                    </a:lnTo>
                    <a:lnTo>
                      <a:pt x="0" y="173"/>
                    </a:lnTo>
                    <a:lnTo>
                      <a:pt x="2268" y="540"/>
                    </a:lnTo>
                    <a:lnTo>
                      <a:pt x="2231" y="504"/>
                    </a:lnTo>
                    <a:lnTo>
                      <a:pt x="38" y="151"/>
                    </a:lnTo>
                    <a:lnTo>
                      <a:pt x="57" y="0"/>
                    </a:lnTo>
                    <a:close/>
                  </a:path>
                </a:pathLst>
              </a:custGeom>
              <a:solidFill>
                <a:srgbClr val="000000"/>
              </a:solidFill>
              <a:ln w="9525">
                <a:noFill/>
                <a:round/>
                <a:headEnd/>
                <a:tailEnd/>
              </a:ln>
            </p:spPr>
            <p:txBody>
              <a:bodyPr/>
              <a:lstStyle/>
              <a:p>
                <a:endParaRPr lang="en-US"/>
              </a:p>
            </p:txBody>
          </p:sp>
          <p:sp>
            <p:nvSpPr>
              <p:cNvPr id="18517" name="Freeform 183"/>
              <p:cNvSpPr>
                <a:spLocks/>
              </p:cNvSpPr>
              <p:nvPr/>
            </p:nvSpPr>
            <p:spPr bwMode="auto">
              <a:xfrm>
                <a:off x="1842" y="2366"/>
                <a:ext cx="750" cy="278"/>
              </a:xfrm>
              <a:custGeom>
                <a:avLst/>
                <a:gdLst>
                  <a:gd name="T0" fmla="*/ 0 w 2251"/>
                  <a:gd name="T1" fmla="*/ 2 h 556"/>
                  <a:gd name="T2" fmla="*/ 0 w 2251"/>
                  <a:gd name="T3" fmla="*/ 1 h 556"/>
                  <a:gd name="T4" fmla="*/ 0 w 2251"/>
                  <a:gd name="T5" fmla="*/ 0 h 556"/>
                  <a:gd name="T6" fmla="*/ 0 w 2251"/>
                  <a:gd name="T7" fmla="*/ 1 h 556"/>
                  <a:gd name="T8" fmla="*/ 0 w 2251"/>
                  <a:gd name="T9" fmla="*/ 1 h 556"/>
                  <a:gd name="T10" fmla="*/ 0 w 2251"/>
                  <a:gd name="T11" fmla="*/ 1 h 556"/>
                  <a:gd name="T12" fmla="*/ 0 w 2251"/>
                  <a:gd name="T13" fmla="*/ 2 h 556"/>
                  <a:gd name="T14" fmla="*/ 0 w 2251"/>
                  <a:gd name="T15" fmla="*/ 2 h 556"/>
                  <a:gd name="T16" fmla="*/ 0 60000 65536"/>
                  <a:gd name="T17" fmla="*/ 0 60000 65536"/>
                  <a:gd name="T18" fmla="*/ 0 60000 65536"/>
                  <a:gd name="T19" fmla="*/ 0 60000 65536"/>
                  <a:gd name="T20" fmla="*/ 0 60000 65536"/>
                  <a:gd name="T21" fmla="*/ 0 60000 65536"/>
                  <a:gd name="T22" fmla="*/ 0 60000 65536"/>
                  <a:gd name="T23" fmla="*/ 0 60000 65536"/>
                  <a:gd name="T24" fmla="*/ 0 w 2251"/>
                  <a:gd name="T25" fmla="*/ 0 h 556"/>
                  <a:gd name="T26" fmla="*/ 2251 w 2251"/>
                  <a:gd name="T27" fmla="*/ 556 h 5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51" h="556">
                    <a:moveTo>
                      <a:pt x="2249" y="556"/>
                    </a:moveTo>
                    <a:lnTo>
                      <a:pt x="2251" y="351"/>
                    </a:lnTo>
                    <a:lnTo>
                      <a:pt x="3" y="0"/>
                    </a:lnTo>
                    <a:lnTo>
                      <a:pt x="0" y="16"/>
                    </a:lnTo>
                    <a:lnTo>
                      <a:pt x="35" y="33"/>
                    </a:lnTo>
                    <a:lnTo>
                      <a:pt x="2212" y="373"/>
                    </a:lnTo>
                    <a:lnTo>
                      <a:pt x="2212" y="520"/>
                    </a:lnTo>
                    <a:lnTo>
                      <a:pt x="2249" y="556"/>
                    </a:lnTo>
                    <a:close/>
                  </a:path>
                </a:pathLst>
              </a:custGeom>
              <a:solidFill>
                <a:srgbClr val="000000"/>
              </a:solidFill>
              <a:ln w="9525">
                <a:noFill/>
                <a:round/>
                <a:headEnd/>
                <a:tailEnd/>
              </a:ln>
            </p:spPr>
            <p:txBody>
              <a:bodyPr/>
              <a:lstStyle/>
              <a:p>
                <a:endParaRPr lang="en-US"/>
              </a:p>
            </p:txBody>
          </p:sp>
          <p:sp>
            <p:nvSpPr>
              <p:cNvPr id="18518" name="Freeform 184"/>
              <p:cNvSpPr>
                <a:spLocks/>
              </p:cNvSpPr>
              <p:nvPr/>
            </p:nvSpPr>
            <p:spPr bwMode="auto">
              <a:xfrm>
                <a:off x="2921" y="2313"/>
                <a:ext cx="477" cy="241"/>
              </a:xfrm>
              <a:custGeom>
                <a:avLst/>
                <a:gdLst>
                  <a:gd name="T0" fmla="*/ 0 w 477"/>
                  <a:gd name="T1" fmla="*/ 219 h 241"/>
                  <a:gd name="T2" fmla="*/ 2 w 477"/>
                  <a:gd name="T3" fmla="*/ 241 h 241"/>
                  <a:gd name="T4" fmla="*/ 477 w 477"/>
                  <a:gd name="T5" fmla="*/ 177 h 241"/>
                  <a:gd name="T6" fmla="*/ 460 w 477"/>
                  <a:gd name="T7" fmla="*/ 0 h 241"/>
                  <a:gd name="T8" fmla="*/ 442 w 477"/>
                  <a:gd name="T9" fmla="*/ 18 h 241"/>
                  <a:gd name="T10" fmla="*/ 454 w 477"/>
                  <a:gd name="T11" fmla="*/ 157 h 241"/>
                  <a:gd name="T12" fmla="*/ 0 w 477"/>
                  <a:gd name="T13" fmla="*/ 219 h 241"/>
                  <a:gd name="T14" fmla="*/ 0 60000 65536"/>
                  <a:gd name="T15" fmla="*/ 0 60000 65536"/>
                  <a:gd name="T16" fmla="*/ 0 60000 65536"/>
                  <a:gd name="T17" fmla="*/ 0 60000 65536"/>
                  <a:gd name="T18" fmla="*/ 0 60000 65536"/>
                  <a:gd name="T19" fmla="*/ 0 60000 65536"/>
                  <a:gd name="T20" fmla="*/ 0 60000 65536"/>
                  <a:gd name="T21" fmla="*/ 0 w 477"/>
                  <a:gd name="T22" fmla="*/ 0 h 241"/>
                  <a:gd name="T23" fmla="*/ 477 w 477"/>
                  <a:gd name="T24" fmla="*/ 241 h 2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7" h="241">
                    <a:moveTo>
                      <a:pt x="0" y="219"/>
                    </a:moveTo>
                    <a:lnTo>
                      <a:pt x="2" y="241"/>
                    </a:lnTo>
                    <a:lnTo>
                      <a:pt x="477" y="177"/>
                    </a:lnTo>
                    <a:lnTo>
                      <a:pt x="460" y="0"/>
                    </a:lnTo>
                    <a:lnTo>
                      <a:pt x="442" y="18"/>
                    </a:lnTo>
                    <a:lnTo>
                      <a:pt x="454" y="157"/>
                    </a:lnTo>
                    <a:lnTo>
                      <a:pt x="0" y="219"/>
                    </a:lnTo>
                    <a:close/>
                  </a:path>
                </a:pathLst>
              </a:custGeom>
              <a:solidFill>
                <a:srgbClr val="000000"/>
              </a:solidFill>
              <a:ln w="9525">
                <a:noFill/>
                <a:round/>
                <a:headEnd/>
                <a:tailEnd/>
              </a:ln>
            </p:spPr>
            <p:txBody>
              <a:bodyPr/>
              <a:lstStyle/>
              <a:p>
                <a:endParaRPr lang="en-US"/>
              </a:p>
            </p:txBody>
          </p:sp>
          <p:sp>
            <p:nvSpPr>
              <p:cNvPr id="18519" name="Freeform 185"/>
              <p:cNvSpPr>
                <a:spLocks/>
              </p:cNvSpPr>
              <p:nvPr/>
            </p:nvSpPr>
            <p:spPr bwMode="auto">
              <a:xfrm>
                <a:off x="2928" y="2304"/>
                <a:ext cx="458" cy="254"/>
              </a:xfrm>
              <a:custGeom>
                <a:avLst/>
                <a:gdLst>
                  <a:gd name="T0" fmla="*/ 0 w 1374"/>
                  <a:gd name="T1" fmla="*/ 0 h 509"/>
                  <a:gd name="T2" fmla="*/ 0 w 1374"/>
                  <a:gd name="T3" fmla="*/ 1 h 509"/>
                  <a:gd name="T4" fmla="*/ 0 w 1374"/>
                  <a:gd name="T5" fmla="*/ 1 h 509"/>
                  <a:gd name="T6" fmla="*/ 0 w 1374"/>
                  <a:gd name="T7" fmla="*/ 1 h 509"/>
                  <a:gd name="T8" fmla="*/ 0 w 1374"/>
                  <a:gd name="T9" fmla="*/ 1 h 509"/>
                  <a:gd name="T10" fmla="*/ 0 w 1374"/>
                  <a:gd name="T11" fmla="*/ 0 h 509"/>
                  <a:gd name="T12" fmla="*/ 0 w 1374"/>
                  <a:gd name="T13" fmla="*/ 0 h 509"/>
                  <a:gd name="T14" fmla="*/ 0 60000 65536"/>
                  <a:gd name="T15" fmla="*/ 0 60000 65536"/>
                  <a:gd name="T16" fmla="*/ 0 60000 65536"/>
                  <a:gd name="T17" fmla="*/ 0 60000 65536"/>
                  <a:gd name="T18" fmla="*/ 0 60000 65536"/>
                  <a:gd name="T19" fmla="*/ 0 60000 65536"/>
                  <a:gd name="T20" fmla="*/ 0 60000 65536"/>
                  <a:gd name="T21" fmla="*/ 0 w 1374"/>
                  <a:gd name="T22" fmla="*/ 0 h 509"/>
                  <a:gd name="T23" fmla="*/ 1374 w 1374"/>
                  <a:gd name="T24" fmla="*/ 509 h 50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4" h="509">
                    <a:moveTo>
                      <a:pt x="1374" y="0"/>
                    </a:moveTo>
                    <a:lnTo>
                      <a:pt x="44" y="319"/>
                    </a:lnTo>
                    <a:lnTo>
                      <a:pt x="0" y="502"/>
                    </a:lnTo>
                    <a:lnTo>
                      <a:pt x="59" y="509"/>
                    </a:lnTo>
                    <a:lnTo>
                      <a:pt x="94" y="354"/>
                    </a:lnTo>
                    <a:lnTo>
                      <a:pt x="1324" y="58"/>
                    </a:lnTo>
                    <a:lnTo>
                      <a:pt x="1374" y="0"/>
                    </a:lnTo>
                    <a:close/>
                  </a:path>
                </a:pathLst>
              </a:custGeom>
              <a:solidFill>
                <a:srgbClr val="000000"/>
              </a:solidFill>
              <a:ln w="9525">
                <a:noFill/>
                <a:round/>
                <a:headEnd/>
                <a:tailEnd/>
              </a:ln>
            </p:spPr>
            <p:txBody>
              <a:bodyPr/>
              <a:lstStyle/>
              <a:p>
                <a:endParaRPr lang="en-US"/>
              </a:p>
            </p:txBody>
          </p:sp>
          <p:sp>
            <p:nvSpPr>
              <p:cNvPr id="18520" name="Freeform 186"/>
              <p:cNvSpPr>
                <a:spLocks/>
              </p:cNvSpPr>
              <p:nvPr/>
            </p:nvSpPr>
            <p:spPr bwMode="auto">
              <a:xfrm>
                <a:off x="2376" y="2207"/>
                <a:ext cx="593" cy="195"/>
              </a:xfrm>
              <a:custGeom>
                <a:avLst/>
                <a:gdLst>
                  <a:gd name="T0" fmla="*/ 0 w 1781"/>
                  <a:gd name="T1" fmla="*/ 0 h 487"/>
                  <a:gd name="T2" fmla="*/ 0 w 1781"/>
                  <a:gd name="T3" fmla="*/ 0 h 487"/>
                  <a:gd name="T4" fmla="*/ 0 w 1781"/>
                  <a:gd name="T5" fmla="*/ 0 h 487"/>
                  <a:gd name="T6" fmla="*/ 0 w 1781"/>
                  <a:gd name="T7" fmla="*/ 0 h 487"/>
                  <a:gd name="T8" fmla="*/ 0 w 1781"/>
                  <a:gd name="T9" fmla="*/ 0 h 487"/>
                  <a:gd name="T10" fmla="*/ 0 w 1781"/>
                  <a:gd name="T11" fmla="*/ 0 h 487"/>
                  <a:gd name="T12" fmla="*/ 0 w 1781"/>
                  <a:gd name="T13" fmla="*/ 0 h 487"/>
                  <a:gd name="T14" fmla="*/ 0 w 1781"/>
                  <a:gd name="T15" fmla="*/ 0 h 487"/>
                  <a:gd name="T16" fmla="*/ 0 w 1781"/>
                  <a:gd name="T17" fmla="*/ 0 h 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1"/>
                  <a:gd name="T28" fmla="*/ 0 h 487"/>
                  <a:gd name="T29" fmla="*/ 1781 w 1781"/>
                  <a:gd name="T30" fmla="*/ 487 h 48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1" h="487">
                    <a:moveTo>
                      <a:pt x="87" y="3"/>
                    </a:moveTo>
                    <a:lnTo>
                      <a:pt x="28" y="0"/>
                    </a:lnTo>
                    <a:lnTo>
                      <a:pt x="0" y="243"/>
                    </a:lnTo>
                    <a:lnTo>
                      <a:pt x="1703" y="487"/>
                    </a:lnTo>
                    <a:lnTo>
                      <a:pt x="1781" y="146"/>
                    </a:lnTo>
                    <a:lnTo>
                      <a:pt x="1713" y="184"/>
                    </a:lnTo>
                    <a:lnTo>
                      <a:pt x="1656" y="436"/>
                    </a:lnTo>
                    <a:lnTo>
                      <a:pt x="62" y="208"/>
                    </a:lnTo>
                    <a:lnTo>
                      <a:pt x="87" y="3"/>
                    </a:lnTo>
                    <a:close/>
                  </a:path>
                </a:pathLst>
              </a:custGeom>
              <a:solidFill>
                <a:srgbClr val="000000"/>
              </a:solidFill>
              <a:ln w="9525">
                <a:noFill/>
                <a:round/>
                <a:headEnd/>
                <a:tailEnd/>
              </a:ln>
            </p:spPr>
            <p:txBody>
              <a:bodyPr/>
              <a:lstStyle/>
              <a:p>
                <a:endParaRPr lang="en-US"/>
              </a:p>
            </p:txBody>
          </p:sp>
          <p:sp>
            <p:nvSpPr>
              <p:cNvPr id="18521" name="Freeform 187"/>
              <p:cNvSpPr>
                <a:spLocks/>
              </p:cNvSpPr>
              <p:nvPr/>
            </p:nvSpPr>
            <p:spPr bwMode="auto">
              <a:xfrm>
                <a:off x="3112" y="937"/>
                <a:ext cx="747" cy="1378"/>
              </a:xfrm>
              <a:custGeom>
                <a:avLst/>
                <a:gdLst>
                  <a:gd name="T0" fmla="*/ 0 w 747"/>
                  <a:gd name="T1" fmla="*/ 1358 h 1378"/>
                  <a:gd name="T2" fmla="*/ 8 w 747"/>
                  <a:gd name="T3" fmla="*/ 1378 h 1378"/>
                  <a:gd name="T4" fmla="*/ 346 w 747"/>
                  <a:gd name="T5" fmla="*/ 1211 h 1378"/>
                  <a:gd name="T6" fmla="*/ 747 w 747"/>
                  <a:gd name="T7" fmla="*/ 14 h 1378"/>
                  <a:gd name="T8" fmla="*/ 735 w 747"/>
                  <a:gd name="T9" fmla="*/ 0 h 1378"/>
                  <a:gd name="T10" fmla="*/ 240 w 747"/>
                  <a:gd name="T11" fmla="*/ 187 h 1378"/>
                  <a:gd name="T12" fmla="*/ 248 w 747"/>
                  <a:gd name="T13" fmla="*/ 191 h 1378"/>
                  <a:gd name="T14" fmla="*/ 722 w 747"/>
                  <a:gd name="T15" fmla="*/ 27 h 1378"/>
                  <a:gd name="T16" fmla="*/ 331 w 747"/>
                  <a:gd name="T17" fmla="*/ 1195 h 1378"/>
                  <a:gd name="T18" fmla="*/ 0 w 747"/>
                  <a:gd name="T19" fmla="*/ 1358 h 13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47"/>
                  <a:gd name="T31" fmla="*/ 0 h 1378"/>
                  <a:gd name="T32" fmla="*/ 747 w 747"/>
                  <a:gd name="T33" fmla="*/ 1378 h 137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47" h="1378">
                    <a:moveTo>
                      <a:pt x="0" y="1358"/>
                    </a:moveTo>
                    <a:lnTo>
                      <a:pt x="8" y="1378"/>
                    </a:lnTo>
                    <a:lnTo>
                      <a:pt x="346" y="1211"/>
                    </a:lnTo>
                    <a:lnTo>
                      <a:pt x="747" y="14"/>
                    </a:lnTo>
                    <a:lnTo>
                      <a:pt x="735" y="0"/>
                    </a:lnTo>
                    <a:lnTo>
                      <a:pt x="240" y="187"/>
                    </a:lnTo>
                    <a:lnTo>
                      <a:pt x="248" y="191"/>
                    </a:lnTo>
                    <a:lnTo>
                      <a:pt x="722" y="27"/>
                    </a:lnTo>
                    <a:lnTo>
                      <a:pt x="331" y="1195"/>
                    </a:lnTo>
                    <a:lnTo>
                      <a:pt x="0" y="1358"/>
                    </a:lnTo>
                    <a:close/>
                  </a:path>
                </a:pathLst>
              </a:custGeom>
              <a:solidFill>
                <a:srgbClr val="000000"/>
              </a:solidFill>
              <a:ln w="9525">
                <a:noFill/>
                <a:round/>
                <a:headEnd/>
                <a:tailEnd/>
              </a:ln>
            </p:spPr>
            <p:txBody>
              <a:bodyPr/>
              <a:lstStyle/>
              <a:p>
                <a:endParaRPr lang="en-US"/>
              </a:p>
            </p:txBody>
          </p:sp>
          <p:sp>
            <p:nvSpPr>
              <p:cNvPr id="18522" name="Freeform 188"/>
              <p:cNvSpPr>
                <a:spLocks/>
              </p:cNvSpPr>
              <p:nvPr/>
            </p:nvSpPr>
            <p:spPr bwMode="auto">
              <a:xfrm>
                <a:off x="1938" y="1063"/>
                <a:ext cx="1436" cy="1094"/>
              </a:xfrm>
              <a:custGeom>
                <a:avLst/>
                <a:gdLst>
                  <a:gd name="T0" fmla="*/ 0 w 4308"/>
                  <a:gd name="T1" fmla="*/ 9 h 2188"/>
                  <a:gd name="T2" fmla="*/ 0 w 4308"/>
                  <a:gd name="T3" fmla="*/ 9 h 2188"/>
                  <a:gd name="T4" fmla="*/ 0 w 4308"/>
                  <a:gd name="T5" fmla="*/ 1 h 2188"/>
                  <a:gd name="T6" fmla="*/ 1 w 4308"/>
                  <a:gd name="T7" fmla="*/ 1 h 2188"/>
                  <a:gd name="T8" fmla="*/ 1 w 4308"/>
                  <a:gd name="T9" fmla="*/ 1 h 2188"/>
                  <a:gd name="T10" fmla="*/ 0 w 4308"/>
                  <a:gd name="T11" fmla="*/ 0 h 2188"/>
                  <a:gd name="T12" fmla="*/ 0 w 4308"/>
                  <a:gd name="T13" fmla="*/ 9 h 2188"/>
                  <a:gd name="T14" fmla="*/ 0 60000 65536"/>
                  <a:gd name="T15" fmla="*/ 0 60000 65536"/>
                  <a:gd name="T16" fmla="*/ 0 60000 65536"/>
                  <a:gd name="T17" fmla="*/ 0 60000 65536"/>
                  <a:gd name="T18" fmla="*/ 0 60000 65536"/>
                  <a:gd name="T19" fmla="*/ 0 60000 65536"/>
                  <a:gd name="T20" fmla="*/ 0 60000 65536"/>
                  <a:gd name="T21" fmla="*/ 0 w 4308"/>
                  <a:gd name="T22" fmla="*/ 0 h 2188"/>
                  <a:gd name="T23" fmla="*/ 4308 w 4308"/>
                  <a:gd name="T24" fmla="*/ 2188 h 21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08" h="2188">
                    <a:moveTo>
                      <a:pt x="559" y="2188"/>
                    </a:moveTo>
                    <a:lnTo>
                      <a:pt x="618" y="2181"/>
                    </a:lnTo>
                    <a:lnTo>
                      <a:pt x="71" y="44"/>
                    </a:lnTo>
                    <a:lnTo>
                      <a:pt x="4234" y="137"/>
                    </a:lnTo>
                    <a:lnTo>
                      <a:pt x="4308" y="93"/>
                    </a:lnTo>
                    <a:lnTo>
                      <a:pt x="0" y="0"/>
                    </a:lnTo>
                    <a:lnTo>
                      <a:pt x="559" y="2188"/>
                    </a:lnTo>
                    <a:close/>
                  </a:path>
                </a:pathLst>
              </a:custGeom>
              <a:solidFill>
                <a:srgbClr val="000000"/>
              </a:solidFill>
              <a:ln w="9525">
                <a:noFill/>
                <a:round/>
                <a:headEnd/>
                <a:tailEnd/>
              </a:ln>
            </p:spPr>
            <p:txBody>
              <a:bodyPr/>
              <a:lstStyle/>
              <a:p>
                <a:endParaRPr lang="en-US"/>
              </a:p>
            </p:txBody>
          </p:sp>
          <p:sp>
            <p:nvSpPr>
              <p:cNvPr id="18523" name="Freeform 189"/>
              <p:cNvSpPr>
                <a:spLocks/>
              </p:cNvSpPr>
              <p:nvPr/>
            </p:nvSpPr>
            <p:spPr bwMode="auto">
              <a:xfrm>
                <a:off x="2125" y="1109"/>
                <a:ext cx="1249" cy="1208"/>
              </a:xfrm>
              <a:custGeom>
                <a:avLst/>
                <a:gdLst>
                  <a:gd name="T0" fmla="*/ 1 w 3749"/>
                  <a:gd name="T1" fmla="*/ 1 h 2414"/>
                  <a:gd name="T2" fmla="*/ 0 w 3749"/>
                  <a:gd name="T3" fmla="*/ 10 h 2414"/>
                  <a:gd name="T4" fmla="*/ 0 w 3749"/>
                  <a:gd name="T5" fmla="*/ 9 h 2414"/>
                  <a:gd name="T6" fmla="*/ 0 w 3749"/>
                  <a:gd name="T7" fmla="*/ 9 h 2414"/>
                  <a:gd name="T8" fmla="*/ 0 w 3749"/>
                  <a:gd name="T9" fmla="*/ 9 h 2414"/>
                  <a:gd name="T10" fmla="*/ 0 w 3749"/>
                  <a:gd name="T11" fmla="*/ 10 h 2414"/>
                  <a:gd name="T12" fmla="*/ 1 w 3749"/>
                  <a:gd name="T13" fmla="*/ 0 h 2414"/>
                  <a:gd name="T14" fmla="*/ 1 w 3749"/>
                  <a:gd name="T15" fmla="*/ 1 h 2414"/>
                  <a:gd name="T16" fmla="*/ 0 60000 65536"/>
                  <a:gd name="T17" fmla="*/ 0 60000 65536"/>
                  <a:gd name="T18" fmla="*/ 0 60000 65536"/>
                  <a:gd name="T19" fmla="*/ 0 60000 65536"/>
                  <a:gd name="T20" fmla="*/ 0 60000 65536"/>
                  <a:gd name="T21" fmla="*/ 0 60000 65536"/>
                  <a:gd name="T22" fmla="*/ 0 60000 65536"/>
                  <a:gd name="T23" fmla="*/ 0 60000 65536"/>
                  <a:gd name="T24" fmla="*/ 0 w 3749"/>
                  <a:gd name="T25" fmla="*/ 0 h 2414"/>
                  <a:gd name="T26" fmla="*/ 3749 w 3749"/>
                  <a:gd name="T27" fmla="*/ 2414 h 24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49" h="2414">
                    <a:moveTo>
                      <a:pt x="3675" y="44"/>
                    </a:moveTo>
                    <a:lnTo>
                      <a:pt x="2951" y="2366"/>
                    </a:lnTo>
                    <a:lnTo>
                      <a:pt x="54" y="2072"/>
                    </a:lnTo>
                    <a:lnTo>
                      <a:pt x="0" y="2095"/>
                    </a:lnTo>
                    <a:lnTo>
                      <a:pt x="4" y="2112"/>
                    </a:lnTo>
                    <a:lnTo>
                      <a:pt x="2998" y="2414"/>
                    </a:lnTo>
                    <a:lnTo>
                      <a:pt x="3749" y="0"/>
                    </a:lnTo>
                    <a:lnTo>
                      <a:pt x="3675" y="44"/>
                    </a:lnTo>
                    <a:close/>
                  </a:path>
                </a:pathLst>
              </a:custGeom>
              <a:solidFill>
                <a:srgbClr val="000000"/>
              </a:solidFill>
              <a:ln w="9525">
                <a:noFill/>
                <a:round/>
                <a:headEnd/>
                <a:tailEnd/>
              </a:ln>
            </p:spPr>
            <p:txBody>
              <a:bodyPr/>
              <a:lstStyle/>
              <a:p>
                <a:endParaRPr lang="en-US"/>
              </a:p>
            </p:txBody>
          </p:sp>
          <p:sp>
            <p:nvSpPr>
              <p:cNvPr id="18524" name="Freeform 190"/>
              <p:cNvSpPr>
                <a:spLocks/>
              </p:cNvSpPr>
              <p:nvPr/>
            </p:nvSpPr>
            <p:spPr bwMode="auto">
              <a:xfrm>
                <a:off x="2033" y="1198"/>
                <a:ext cx="1204" cy="871"/>
              </a:xfrm>
              <a:custGeom>
                <a:avLst/>
                <a:gdLst>
                  <a:gd name="T0" fmla="*/ 200 w 1204"/>
                  <a:gd name="T1" fmla="*/ 871 h 871"/>
                  <a:gd name="T2" fmla="*/ 219 w 1204"/>
                  <a:gd name="T3" fmla="*/ 867 h 871"/>
                  <a:gd name="T4" fmla="*/ 23 w 1204"/>
                  <a:gd name="T5" fmla="*/ 27 h 871"/>
                  <a:gd name="T6" fmla="*/ 179 w 1204"/>
                  <a:gd name="T7" fmla="*/ 26 h 871"/>
                  <a:gd name="T8" fmla="*/ 1179 w 1204"/>
                  <a:gd name="T9" fmla="*/ 53 h 871"/>
                  <a:gd name="T10" fmla="*/ 1204 w 1204"/>
                  <a:gd name="T11" fmla="*/ 31 h 871"/>
                  <a:gd name="T12" fmla="*/ 179 w 1204"/>
                  <a:gd name="T13" fmla="*/ 10 h 871"/>
                  <a:gd name="T14" fmla="*/ 12 w 1204"/>
                  <a:gd name="T15" fmla="*/ 0 h 871"/>
                  <a:gd name="T16" fmla="*/ 0 w 1204"/>
                  <a:gd name="T17" fmla="*/ 13 h 871"/>
                  <a:gd name="T18" fmla="*/ 200 w 1204"/>
                  <a:gd name="T19" fmla="*/ 871 h 8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04"/>
                  <a:gd name="T31" fmla="*/ 0 h 871"/>
                  <a:gd name="T32" fmla="*/ 1204 w 1204"/>
                  <a:gd name="T33" fmla="*/ 871 h 8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04" h="871">
                    <a:moveTo>
                      <a:pt x="200" y="871"/>
                    </a:moveTo>
                    <a:lnTo>
                      <a:pt x="219" y="867"/>
                    </a:lnTo>
                    <a:lnTo>
                      <a:pt x="23" y="27"/>
                    </a:lnTo>
                    <a:lnTo>
                      <a:pt x="179" y="26"/>
                    </a:lnTo>
                    <a:lnTo>
                      <a:pt x="1179" y="53"/>
                    </a:lnTo>
                    <a:lnTo>
                      <a:pt x="1204" y="31"/>
                    </a:lnTo>
                    <a:lnTo>
                      <a:pt x="179" y="10"/>
                    </a:lnTo>
                    <a:lnTo>
                      <a:pt x="12" y="0"/>
                    </a:lnTo>
                    <a:lnTo>
                      <a:pt x="0" y="13"/>
                    </a:lnTo>
                    <a:lnTo>
                      <a:pt x="200" y="871"/>
                    </a:lnTo>
                    <a:close/>
                  </a:path>
                </a:pathLst>
              </a:custGeom>
              <a:solidFill>
                <a:srgbClr val="000000"/>
              </a:solidFill>
              <a:ln w="9525">
                <a:noFill/>
                <a:round/>
                <a:headEnd/>
                <a:tailEnd/>
              </a:ln>
            </p:spPr>
            <p:txBody>
              <a:bodyPr/>
              <a:lstStyle/>
              <a:p>
                <a:endParaRPr lang="en-US"/>
              </a:p>
            </p:txBody>
          </p:sp>
          <p:sp>
            <p:nvSpPr>
              <p:cNvPr id="18525" name="Freeform 191"/>
              <p:cNvSpPr>
                <a:spLocks/>
              </p:cNvSpPr>
              <p:nvPr/>
            </p:nvSpPr>
            <p:spPr bwMode="auto">
              <a:xfrm>
                <a:off x="2233" y="1229"/>
                <a:ext cx="1004" cy="970"/>
              </a:xfrm>
              <a:custGeom>
                <a:avLst/>
                <a:gdLst>
                  <a:gd name="T0" fmla="*/ 0 w 3010"/>
                  <a:gd name="T1" fmla="*/ 1 h 1940"/>
                  <a:gd name="T2" fmla="*/ 0 w 3010"/>
                  <a:gd name="T3" fmla="*/ 8 h 1940"/>
                  <a:gd name="T4" fmla="*/ 0 w 3010"/>
                  <a:gd name="T5" fmla="*/ 7 h 1940"/>
                  <a:gd name="T6" fmla="*/ 0 w 3010"/>
                  <a:gd name="T7" fmla="*/ 7 h 1940"/>
                  <a:gd name="T8" fmla="*/ 0 w 3010"/>
                  <a:gd name="T9" fmla="*/ 7 h 1940"/>
                  <a:gd name="T10" fmla="*/ 0 w 3010"/>
                  <a:gd name="T11" fmla="*/ 8 h 1940"/>
                  <a:gd name="T12" fmla="*/ 0 w 3010"/>
                  <a:gd name="T13" fmla="*/ 0 h 1940"/>
                  <a:gd name="T14" fmla="*/ 0 w 3010"/>
                  <a:gd name="T15" fmla="*/ 1 h 1940"/>
                  <a:gd name="T16" fmla="*/ 0 60000 65536"/>
                  <a:gd name="T17" fmla="*/ 0 60000 65536"/>
                  <a:gd name="T18" fmla="*/ 0 60000 65536"/>
                  <a:gd name="T19" fmla="*/ 0 60000 65536"/>
                  <a:gd name="T20" fmla="*/ 0 60000 65536"/>
                  <a:gd name="T21" fmla="*/ 0 60000 65536"/>
                  <a:gd name="T22" fmla="*/ 0 60000 65536"/>
                  <a:gd name="T23" fmla="*/ 0 60000 65536"/>
                  <a:gd name="T24" fmla="*/ 0 w 3010"/>
                  <a:gd name="T25" fmla="*/ 0 h 1940"/>
                  <a:gd name="T26" fmla="*/ 3010 w 3010"/>
                  <a:gd name="T27" fmla="*/ 1940 h 19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10" h="1940">
                    <a:moveTo>
                      <a:pt x="2936" y="44"/>
                    </a:moveTo>
                    <a:lnTo>
                      <a:pt x="2360" y="1891"/>
                    </a:lnTo>
                    <a:lnTo>
                      <a:pt x="50" y="1655"/>
                    </a:lnTo>
                    <a:lnTo>
                      <a:pt x="0" y="1680"/>
                    </a:lnTo>
                    <a:lnTo>
                      <a:pt x="6" y="1697"/>
                    </a:lnTo>
                    <a:lnTo>
                      <a:pt x="2407" y="1940"/>
                    </a:lnTo>
                    <a:lnTo>
                      <a:pt x="3010" y="0"/>
                    </a:lnTo>
                    <a:lnTo>
                      <a:pt x="2936" y="44"/>
                    </a:lnTo>
                    <a:close/>
                  </a:path>
                </a:pathLst>
              </a:custGeom>
              <a:solidFill>
                <a:srgbClr val="000000"/>
              </a:solidFill>
              <a:ln w="9525">
                <a:noFill/>
                <a:round/>
                <a:headEnd/>
                <a:tailEnd/>
              </a:ln>
            </p:spPr>
            <p:txBody>
              <a:bodyPr/>
              <a:lstStyle/>
              <a:p>
                <a:endParaRPr lang="en-US"/>
              </a:p>
            </p:txBody>
          </p:sp>
          <p:sp>
            <p:nvSpPr>
              <p:cNvPr id="18526" name="Freeform 192"/>
              <p:cNvSpPr>
                <a:spLocks/>
              </p:cNvSpPr>
              <p:nvPr/>
            </p:nvSpPr>
            <p:spPr bwMode="auto">
              <a:xfrm>
                <a:off x="1948" y="844"/>
                <a:ext cx="1910" cy="252"/>
              </a:xfrm>
              <a:custGeom>
                <a:avLst/>
                <a:gdLst>
                  <a:gd name="T0" fmla="*/ 0 w 5728"/>
                  <a:gd name="T1" fmla="*/ 2 h 503"/>
                  <a:gd name="T2" fmla="*/ 0 w 5728"/>
                  <a:gd name="T3" fmla="*/ 2 h 503"/>
                  <a:gd name="T4" fmla="*/ 0 w 5728"/>
                  <a:gd name="T5" fmla="*/ 1 h 503"/>
                  <a:gd name="T6" fmla="*/ 1 w 5728"/>
                  <a:gd name="T7" fmla="*/ 1 h 503"/>
                  <a:gd name="T8" fmla="*/ 1 w 5728"/>
                  <a:gd name="T9" fmla="*/ 2 h 503"/>
                  <a:gd name="T10" fmla="*/ 1 w 5728"/>
                  <a:gd name="T11" fmla="*/ 2 h 503"/>
                  <a:gd name="T12" fmla="*/ 1 w 5728"/>
                  <a:gd name="T13" fmla="*/ 1 h 503"/>
                  <a:gd name="T14" fmla="*/ 1 w 5728"/>
                  <a:gd name="T15" fmla="*/ 1 h 503"/>
                  <a:gd name="T16" fmla="*/ 0 w 5728"/>
                  <a:gd name="T17" fmla="*/ 0 h 503"/>
                  <a:gd name="T18" fmla="*/ 0 w 5728"/>
                  <a:gd name="T19" fmla="*/ 2 h 50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28"/>
                  <a:gd name="T31" fmla="*/ 0 h 503"/>
                  <a:gd name="T32" fmla="*/ 5728 w 5728"/>
                  <a:gd name="T33" fmla="*/ 503 h 50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28" h="503">
                    <a:moveTo>
                      <a:pt x="0" y="439"/>
                    </a:moveTo>
                    <a:lnTo>
                      <a:pt x="11" y="481"/>
                    </a:lnTo>
                    <a:lnTo>
                      <a:pt x="2307" y="45"/>
                    </a:lnTo>
                    <a:lnTo>
                      <a:pt x="5648" y="227"/>
                    </a:lnTo>
                    <a:lnTo>
                      <a:pt x="5401" y="463"/>
                    </a:lnTo>
                    <a:lnTo>
                      <a:pt x="5436" y="503"/>
                    </a:lnTo>
                    <a:lnTo>
                      <a:pt x="5728" y="220"/>
                    </a:lnTo>
                    <a:lnTo>
                      <a:pt x="5706" y="185"/>
                    </a:lnTo>
                    <a:lnTo>
                      <a:pt x="2307" y="0"/>
                    </a:lnTo>
                    <a:lnTo>
                      <a:pt x="0" y="439"/>
                    </a:lnTo>
                    <a:close/>
                  </a:path>
                </a:pathLst>
              </a:custGeom>
              <a:solidFill>
                <a:srgbClr val="000000"/>
              </a:solidFill>
              <a:ln w="9525">
                <a:noFill/>
                <a:round/>
                <a:headEnd/>
                <a:tailEnd/>
              </a:ln>
            </p:spPr>
            <p:txBody>
              <a:bodyPr/>
              <a:lstStyle/>
              <a:p>
                <a:endParaRPr lang="en-US"/>
              </a:p>
            </p:txBody>
          </p:sp>
          <p:sp>
            <p:nvSpPr>
              <p:cNvPr id="18527" name="Freeform 193"/>
              <p:cNvSpPr>
                <a:spLocks/>
              </p:cNvSpPr>
              <p:nvPr/>
            </p:nvSpPr>
            <p:spPr bwMode="auto">
              <a:xfrm>
                <a:off x="3117" y="1193"/>
                <a:ext cx="302" cy="1084"/>
              </a:xfrm>
              <a:custGeom>
                <a:avLst/>
                <a:gdLst>
                  <a:gd name="T0" fmla="*/ 0 w 905"/>
                  <a:gd name="T1" fmla="*/ 9 h 2168"/>
                  <a:gd name="T2" fmla="*/ 0 w 905"/>
                  <a:gd name="T3" fmla="*/ 0 h 2168"/>
                  <a:gd name="T4" fmla="*/ 0 w 905"/>
                  <a:gd name="T5" fmla="*/ 0 h 2168"/>
                  <a:gd name="T6" fmla="*/ 0 w 905"/>
                  <a:gd name="T7" fmla="*/ 1 h 2168"/>
                  <a:gd name="T8" fmla="*/ 0 w 905"/>
                  <a:gd name="T9" fmla="*/ 1 h 2168"/>
                  <a:gd name="T10" fmla="*/ 0 w 905"/>
                  <a:gd name="T11" fmla="*/ 1 h 2168"/>
                  <a:gd name="T12" fmla="*/ 0 w 905"/>
                  <a:gd name="T13" fmla="*/ 1 h 2168"/>
                  <a:gd name="T14" fmla="*/ 0 w 905"/>
                  <a:gd name="T15" fmla="*/ 1 h 2168"/>
                  <a:gd name="T16" fmla="*/ 0 w 905"/>
                  <a:gd name="T17" fmla="*/ 1 h 2168"/>
                  <a:gd name="T18" fmla="*/ 0 w 905"/>
                  <a:gd name="T19" fmla="*/ 1 h 2168"/>
                  <a:gd name="T20" fmla="*/ 0 w 905"/>
                  <a:gd name="T21" fmla="*/ 1 h 2168"/>
                  <a:gd name="T22" fmla="*/ 0 w 905"/>
                  <a:gd name="T23" fmla="*/ 1 h 2168"/>
                  <a:gd name="T24" fmla="*/ 0 w 905"/>
                  <a:gd name="T25" fmla="*/ 1 h 2168"/>
                  <a:gd name="T26" fmla="*/ 0 w 905"/>
                  <a:gd name="T27" fmla="*/ 1 h 2168"/>
                  <a:gd name="T28" fmla="*/ 0 w 905"/>
                  <a:gd name="T29" fmla="*/ 1 h 2168"/>
                  <a:gd name="T30" fmla="*/ 0 w 905"/>
                  <a:gd name="T31" fmla="*/ 1 h 2168"/>
                  <a:gd name="T32" fmla="*/ 0 w 905"/>
                  <a:gd name="T33" fmla="*/ 1 h 2168"/>
                  <a:gd name="T34" fmla="*/ 0 w 905"/>
                  <a:gd name="T35" fmla="*/ 2 h 2168"/>
                  <a:gd name="T36" fmla="*/ 0 w 905"/>
                  <a:gd name="T37" fmla="*/ 3 h 2168"/>
                  <a:gd name="T38" fmla="*/ 0 w 905"/>
                  <a:gd name="T39" fmla="*/ 4 h 2168"/>
                  <a:gd name="T40" fmla="*/ 0 w 905"/>
                  <a:gd name="T41" fmla="*/ 5 h 2168"/>
                  <a:gd name="T42" fmla="*/ 0 w 905"/>
                  <a:gd name="T43" fmla="*/ 6 h 2168"/>
                  <a:gd name="T44" fmla="*/ 0 w 905"/>
                  <a:gd name="T45" fmla="*/ 7 h 2168"/>
                  <a:gd name="T46" fmla="*/ 0 w 905"/>
                  <a:gd name="T47" fmla="*/ 7 h 2168"/>
                  <a:gd name="T48" fmla="*/ 0 w 905"/>
                  <a:gd name="T49" fmla="*/ 8 h 2168"/>
                  <a:gd name="T50" fmla="*/ 0 w 905"/>
                  <a:gd name="T51" fmla="*/ 9 h 2168"/>
                  <a:gd name="T52" fmla="*/ 0 w 905"/>
                  <a:gd name="T53" fmla="*/ 9 h 2168"/>
                  <a:gd name="T54" fmla="*/ 0 w 905"/>
                  <a:gd name="T55" fmla="*/ 9 h 2168"/>
                  <a:gd name="T56" fmla="*/ 0 w 905"/>
                  <a:gd name="T57" fmla="*/ 9 h 2168"/>
                  <a:gd name="T58" fmla="*/ 0 w 905"/>
                  <a:gd name="T59" fmla="*/ 9 h 216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05"/>
                  <a:gd name="T91" fmla="*/ 0 h 2168"/>
                  <a:gd name="T92" fmla="*/ 905 w 905"/>
                  <a:gd name="T93" fmla="*/ 2168 h 216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05" h="2168">
                    <a:moveTo>
                      <a:pt x="0" y="2168"/>
                    </a:moveTo>
                    <a:lnTo>
                      <a:pt x="710" y="0"/>
                    </a:lnTo>
                    <a:lnTo>
                      <a:pt x="713" y="1"/>
                    </a:lnTo>
                    <a:lnTo>
                      <a:pt x="726" y="4"/>
                    </a:lnTo>
                    <a:lnTo>
                      <a:pt x="744" y="9"/>
                    </a:lnTo>
                    <a:lnTo>
                      <a:pt x="766" y="15"/>
                    </a:lnTo>
                    <a:lnTo>
                      <a:pt x="791" y="22"/>
                    </a:lnTo>
                    <a:lnTo>
                      <a:pt x="818" y="30"/>
                    </a:lnTo>
                    <a:lnTo>
                      <a:pt x="843" y="37"/>
                    </a:lnTo>
                    <a:lnTo>
                      <a:pt x="866" y="46"/>
                    </a:lnTo>
                    <a:lnTo>
                      <a:pt x="884" y="54"/>
                    </a:lnTo>
                    <a:lnTo>
                      <a:pt x="899" y="60"/>
                    </a:lnTo>
                    <a:lnTo>
                      <a:pt x="905" y="67"/>
                    </a:lnTo>
                    <a:lnTo>
                      <a:pt x="902" y="72"/>
                    </a:lnTo>
                    <a:lnTo>
                      <a:pt x="809" y="154"/>
                    </a:lnTo>
                    <a:lnTo>
                      <a:pt x="710" y="295"/>
                    </a:lnTo>
                    <a:lnTo>
                      <a:pt x="610" y="481"/>
                    </a:lnTo>
                    <a:lnTo>
                      <a:pt x="510" y="703"/>
                    </a:lnTo>
                    <a:lnTo>
                      <a:pt x="411" y="943"/>
                    </a:lnTo>
                    <a:lnTo>
                      <a:pt x="317" y="1193"/>
                    </a:lnTo>
                    <a:lnTo>
                      <a:pt x="230" y="1439"/>
                    </a:lnTo>
                    <a:lnTo>
                      <a:pt x="154" y="1667"/>
                    </a:lnTo>
                    <a:lnTo>
                      <a:pt x="90" y="1867"/>
                    </a:lnTo>
                    <a:lnTo>
                      <a:pt x="41" y="2025"/>
                    </a:lnTo>
                    <a:lnTo>
                      <a:pt x="10" y="2130"/>
                    </a:lnTo>
                    <a:lnTo>
                      <a:pt x="0" y="2168"/>
                    </a:lnTo>
                    <a:close/>
                  </a:path>
                </a:pathLst>
              </a:custGeom>
              <a:solidFill>
                <a:srgbClr val="000000"/>
              </a:solidFill>
              <a:ln w="9525">
                <a:noFill/>
                <a:round/>
                <a:headEnd/>
                <a:tailEnd/>
              </a:ln>
            </p:spPr>
            <p:txBody>
              <a:bodyPr/>
              <a:lstStyle/>
              <a:p>
                <a:endParaRPr lang="en-US"/>
              </a:p>
            </p:txBody>
          </p:sp>
          <p:sp>
            <p:nvSpPr>
              <p:cNvPr id="18528" name="Freeform 194"/>
              <p:cNvSpPr>
                <a:spLocks/>
              </p:cNvSpPr>
              <p:nvPr/>
            </p:nvSpPr>
            <p:spPr bwMode="auto">
              <a:xfrm>
                <a:off x="3108" y="1191"/>
                <a:ext cx="255" cy="1088"/>
              </a:xfrm>
              <a:custGeom>
                <a:avLst/>
                <a:gdLst>
                  <a:gd name="T0" fmla="*/ 0 w 766"/>
                  <a:gd name="T1" fmla="*/ 8 h 2177"/>
                  <a:gd name="T2" fmla="*/ 0 w 766"/>
                  <a:gd name="T3" fmla="*/ 8 h 2177"/>
                  <a:gd name="T4" fmla="*/ 0 w 766"/>
                  <a:gd name="T5" fmla="*/ 0 h 2177"/>
                  <a:gd name="T6" fmla="*/ 0 w 766"/>
                  <a:gd name="T7" fmla="*/ 0 h 2177"/>
                  <a:gd name="T8" fmla="*/ 0 w 766"/>
                  <a:gd name="T9" fmla="*/ 0 h 2177"/>
                  <a:gd name="T10" fmla="*/ 0 w 766"/>
                  <a:gd name="T11" fmla="*/ 8 h 2177"/>
                  <a:gd name="T12" fmla="*/ 0 60000 65536"/>
                  <a:gd name="T13" fmla="*/ 0 60000 65536"/>
                  <a:gd name="T14" fmla="*/ 0 60000 65536"/>
                  <a:gd name="T15" fmla="*/ 0 60000 65536"/>
                  <a:gd name="T16" fmla="*/ 0 60000 65536"/>
                  <a:gd name="T17" fmla="*/ 0 60000 65536"/>
                  <a:gd name="T18" fmla="*/ 0 w 766"/>
                  <a:gd name="T19" fmla="*/ 0 h 2177"/>
                  <a:gd name="T20" fmla="*/ 766 w 766"/>
                  <a:gd name="T21" fmla="*/ 2177 h 2177"/>
                </a:gdLst>
                <a:ahLst/>
                <a:cxnLst>
                  <a:cxn ang="T12">
                    <a:pos x="T0" y="T1"/>
                  </a:cxn>
                  <a:cxn ang="T13">
                    <a:pos x="T2" y="T3"/>
                  </a:cxn>
                  <a:cxn ang="T14">
                    <a:pos x="T4" y="T5"/>
                  </a:cxn>
                  <a:cxn ang="T15">
                    <a:pos x="T6" y="T7"/>
                  </a:cxn>
                  <a:cxn ang="T16">
                    <a:pos x="T8" y="T9"/>
                  </a:cxn>
                  <a:cxn ang="T17">
                    <a:pos x="T10" y="T11"/>
                  </a:cxn>
                </a:cxnLst>
                <a:rect l="T18" t="T19" r="T20" b="T21"/>
                <a:pathLst>
                  <a:path w="766" h="2177">
                    <a:moveTo>
                      <a:pt x="0" y="2168"/>
                    </a:moveTo>
                    <a:lnTo>
                      <a:pt x="56" y="2177"/>
                    </a:lnTo>
                    <a:lnTo>
                      <a:pt x="766" y="9"/>
                    </a:lnTo>
                    <a:lnTo>
                      <a:pt x="738" y="5"/>
                    </a:lnTo>
                    <a:lnTo>
                      <a:pt x="710" y="0"/>
                    </a:lnTo>
                    <a:lnTo>
                      <a:pt x="0" y="2168"/>
                    </a:lnTo>
                    <a:close/>
                  </a:path>
                </a:pathLst>
              </a:custGeom>
              <a:solidFill>
                <a:srgbClr val="000000"/>
              </a:solidFill>
              <a:ln w="9525">
                <a:noFill/>
                <a:round/>
                <a:headEnd/>
                <a:tailEnd/>
              </a:ln>
            </p:spPr>
            <p:txBody>
              <a:bodyPr/>
              <a:lstStyle/>
              <a:p>
                <a:endParaRPr lang="en-US"/>
              </a:p>
            </p:txBody>
          </p:sp>
          <p:sp>
            <p:nvSpPr>
              <p:cNvPr id="18529" name="Freeform 195"/>
              <p:cNvSpPr>
                <a:spLocks/>
              </p:cNvSpPr>
              <p:nvPr/>
            </p:nvSpPr>
            <p:spPr bwMode="auto">
              <a:xfrm>
                <a:off x="3107" y="1222"/>
                <a:ext cx="321" cy="1057"/>
              </a:xfrm>
              <a:custGeom>
                <a:avLst/>
                <a:gdLst>
                  <a:gd name="T0" fmla="*/ 0 w 961"/>
                  <a:gd name="T1" fmla="*/ 0 h 2115"/>
                  <a:gd name="T2" fmla="*/ 0 w 961"/>
                  <a:gd name="T3" fmla="*/ 0 h 2115"/>
                  <a:gd name="T4" fmla="*/ 0 w 961"/>
                  <a:gd name="T5" fmla="*/ 0 h 2115"/>
                  <a:gd name="T6" fmla="*/ 0 w 961"/>
                  <a:gd name="T7" fmla="*/ 0 h 2115"/>
                  <a:gd name="T8" fmla="*/ 0 w 961"/>
                  <a:gd name="T9" fmla="*/ 1 h 2115"/>
                  <a:gd name="T10" fmla="*/ 0 w 961"/>
                  <a:gd name="T11" fmla="*/ 2 h 2115"/>
                  <a:gd name="T12" fmla="*/ 0 w 961"/>
                  <a:gd name="T13" fmla="*/ 3 h 2115"/>
                  <a:gd name="T14" fmla="*/ 0 w 961"/>
                  <a:gd name="T15" fmla="*/ 4 h 2115"/>
                  <a:gd name="T16" fmla="*/ 0 w 961"/>
                  <a:gd name="T17" fmla="*/ 5 h 2115"/>
                  <a:gd name="T18" fmla="*/ 0 w 961"/>
                  <a:gd name="T19" fmla="*/ 6 h 2115"/>
                  <a:gd name="T20" fmla="*/ 0 w 961"/>
                  <a:gd name="T21" fmla="*/ 7 h 2115"/>
                  <a:gd name="T22" fmla="*/ 0 w 961"/>
                  <a:gd name="T23" fmla="*/ 7 h 2115"/>
                  <a:gd name="T24" fmla="*/ 0 w 961"/>
                  <a:gd name="T25" fmla="*/ 8 h 2115"/>
                  <a:gd name="T26" fmla="*/ 0 w 961"/>
                  <a:gd name="T27" fmla="*/ 8 h 2115"/>
                  <a:gd name="T28" fmla="*/ 0 w 961"/>
                  <a:gd name="T29" fmla="*/ 8 h 2115"/>
                  <a:gd name="T30" fmla="*/ 0 w 961"/>
                  <a:gd name="T31" fmla="*/ 8 h 2115"/>
                  <a:gd name="T32" fmla="*/ 0 w 961"/>
                  <a:gd name="T33" fmla="*/ 8 h 2115"/>
                  <a:gd name="T34" fmla="*/ 0 w 961"/>
                  <a:gd name="T35" fmla="*/ 7 h 2115"/>
                  <a:gd name="T36" fmla="*/ 0 w 961"/>
                  <a:gd name="T37" fmla="*/ 6 h 2115"/>
                  <a:gd name="T38" fmla="*/ 0 w 961"/>
                  <a:gd name="T39" fmla="*/ 6 h 2115"/>
                  <a:gd name="T40" fmla="*/ 0 w 961"/>
                  <a:gd name="T41" fmla="*/ 5 h 2115"/>
                  <a:gd name="T42" fmla="*/ 0 w 961"/>
                  <a:gd name="T43" fmla="*/ 4 h 2115"/>
                  <a:gd name="T44" fmla="*/ 0 w 961"/>
                  <a:gd name="T45" fmla="*/ 3 h 2115"/>
                  <a:gd name="T46" fmla="*/ 0 w 961"/>
                  <a:gd name="T47" fmla="*/ 2 h 2115"/>
                  <a:gd name="T48" fmla="*/ 0 w 961"/>
                  <a:gd name="T49" fmla="*/ 1 h 2115"/>
                  <a:gd name="T50" fmla="*/ 0 w 961"/>
                  <a:gd name="T51" fmla="*/ 0 h 2115"/>
                  <a:gd name="T52" fmla="*/ 0 w 961"/>
                  <a:gd name="T53" fmla="*/ 0 h 2115"/>
                  <a:gd name="T54" fmla="*/ 0 w 961"/>
                  <a:gd name="T55" fmla="*/ 0 h 2115"/>
                  <a:gd name="T56" fmla="*/ 0 w 961"/>
                  <a:gd name="T57" fmla="*/ 0 h 2115"/>
                  <a:gd name="T58" fmla="*/ 0 w 961"/>
                  <a:gd name="T59" fmla="*/ 0 h 2115"/>
                  <a:gd name="T60" fmla="*/ 0 w 961"/>
                  <a:gd name="T61" fmla="*/ 0 h 21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961"/>
                  <a:gd name="T94" fmla="*/ 0 h 2115"/>
                  <a:gd name="T95" fmla="*/ 961 w 961"/>
                  <a:gd name="T96" fmla="*/ 2115 h 21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961" h="2115">
                    <a:moveTo>
                      <a:pt x="908" y="0"/>
                    </a:moveTo>
                    <a:lnTo>
                      <a:pt x="905" y="3"/>
                    </a:lnTo>
                    <a:lnTo>
                      <a:pt x="814" y="85"/>
                    </a:lnTo>
                    <a:lnTo>
                      <a:pt x="718" y="221"/>
                    </a:lnTo>
                    <a:lnTo>
                      <a:pt x="607" y="428"/>
                    </a:lnTo>
                    <a:lnTo>
                      <a:pt x="516" y="629"/>
                    </a:lnTo>
                    <a:lnTo>
                      <a:pt x="413" y="881"/>
                    </a:lnTo>
                    <a:lnTo>
                      <a:pt x="324" y="1114"/>
                    </a:lnTo>
                    <a:lnTo>
                      <a:pt x="232" y="1377"/>
                    </a:lnTo>
                    <a:lnTo>
                      <a:pt x="156" y="1606"/>
                    </a:lnTo>
                    <a:lnTo>
                      <a:pt x="64" y="1895"/>
                    </a:lnTo>
                    <a:lnTo>
                      <a:pt x="41" y="1964"/>
                    </a:lnTo>
                    <a:lnTo>
                      <a:pt x="10" y="2069"/>
                    </a:lnTo>
                    <a:lnTo>
                      <a:pt x="0" y="2106"/>
                    </a:lnTo>
                    <a:lnTo>
                      <a:pt x="30" y="2111"/>
                    </a:lnTo>
                    <a:lnTo>
                      <a:pt x="59" y="2115"/>
                    </a:lnTo>
                    <a:lnTo>
                      <a:pt x="69" y="2078"/>
                    </a:lnTo>
                    <a:lnTo>
                      <a:pt x="100" y="1973"/>
                    </a:lnTo>
                    <a:lnTo>
                      <a:pt x="176" y="1725"/>
                    </a:lnTo>
                    <a:lnTo>
                      <a:pt x="212" y="1615"/>
                    </a:lnTo>
                    <a:lnTo>
                      <a:pt x="288" y="1386"/>
                    </a:lnTo>
                    <a:lnTo>
                      <a:pt x="369" y="1158"/>
                    </a:lnTo>
                    <a:lnTo>
                      <a:pt x="469" y="892"/>
                    </a:lnTo>
                    <a:lnTo>
                      <a:pt x="563" y="662"/>
                    </a:lnTo>
                    <a:lnTo>
                      <a:pt x="672" y="421"/>
                    </a:lnTo>
                    <a:lnTo>
                      <a:pt x="762" y="254"/>
                    </a:lnTo>
                    <a:lnTo>
                      <a:pt x="864" y="110"/>
                    </a:lnTo>
                    <a:lnTo>
                      <a:pt x="954" y="29"/>
                    </a:lnTo>
                    <a:lnTo>
                      <a:pt x="958" y="24"/>
                    </a:lnTo>
                    <a:lnTo>
                      <a:pt x="961" y="20"/>
                    </a:lnTo>
                    <a:lnTo>
                      <a:pt x="908" y="0"/>
                    </a:lnTo>
                    <a:close/>
                  </a:path>
                </a:pathLst>
              </a:custGeom>
              <a:solidFill>
                <a:srgbClr val="000000"/>
              </a:solidFill>
              <a:ln w="9525">
                <a:noFill/>
                <a:round/>
                <a:headEnd/>
                <a:tailEnd/>
              </a:ln>
            </p:spPr>
            <p:txBody>
              <a:bodyPr/>
              <a:lstStyle/>
              <a:p>
                <a:endParaRPr lang="en-US"/>
              </a:p>
            </p:txBody>
          </p:sp>
          <p:sp>
            <p:nvSpPr>
              <p:cNvPr id="18530" name="Freeform 196"/>
              <p:cNvSpPr>
                <a:spLocks/>
              </p:cNvSpPr>
              <p:nvPr/>
            </p:nvSpPr>
            <p:spPr bwMode="auto">
              <a:xfrm>
                <a:off x="2585" y="2384"/>
                <a:ext cx="476" cy="263"/>
              </a:xfrm>
              <a:custGeom>
                <a:avLst/>
                <a:gdLst>
                  <a:gd name="T0" fmla="*/ 0 w 1428"/>
                  <a:gd name="T1" fmla="*/ 2 h 526"/>
                  <a:gd name="T2" fmla="*/ 0 w 1428"/>
                  <a:gd name="T3" fmla="*/ 2 h 526"/>
                  <a:gd name="T4" fmla="*/ 0 w 1428"/>
                  <a:gd name="T5" fmla="*/ 2 h 526"/>
                  <a:gd name="T6" fmla="*/ 0 w 1428"/>
                  <a:gd name="T7" fmla="*/ 0 h 526"/>
                  <a:gd name="T8" fmla="*/ 0 w 1428"/>
                  <a:gd name="T9" fmla="*/ 1 h 526"/>
                  <a:gd name="T10" fmla="*/ 0 w 1428"/>
                  <a:gd name="T11" fmla="*/ 1 h 526"/>
                  <a:gd name="T12" fmla="*/ 0 w 1428"/>
                  <a:gd name="T13" fmla="*/ 2 h 526"/>
                  <a:gd name="T14" fmla="*/ 0 60000 65536"/>
                  <a:gd name="T15" fmla="*/ 0 60000 65536"/>
                  <a:gd name="T16" fmla="*/ 0 60000 65536"/>
                  <a:gd name="T17" fmla="*/ 0 60000 65536"/>
                  <a:gd name="T18" fmla="*/ 0 60000 65536"/>
                  <a:gd name="T19" fmla="*/ 0 60000 65536"/>
                  <a:gd name="T20" fmla="*/ 0 60000 65536"/>
                  <a:gd name="T21" fmla="*/ 0 w 1428"/>
                  <a:gd name="T22" fmla="*/ 0 h 526"/>
                  <a:gd name="T23" fmla="*/ 1428 w 1428"/>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28" h="526">
                    <a:moveTo>
                      <a:pt x="0" y="482"/>
                    </a:moveTo>
                    <a:lnTo>
                      <a:pt x="6" y="526"/>
                    </a:lnTo>
                    <a:lnTo>
                      <a:pt x="1428" y="399"/>
                    </a:lnTo>
                    <a:lnTo>
                      <a:pt x="1344" y="0"/>
                    </a:lnTo>
                    <a:lnTo>
                      <a:pt x="1294" y="58"/>
                    </a:lnTo>
                    <a:lnTo>
                      <a:pt x="1360" y="359"/>
                    </a:lnTo>
                    <a:lnTo>
                      <a:pt x="0" y="482"/>
                    </a:lnTo>
                    <a:close/>
                  </a:path>
                </a:pathLst>
              </a:custGeom>
              <a:solidFill>
                <a:srgbClr val="000000"/>
              </a:solidFill>
              <a:ln w="9525">
                <a:noFill/>
                <a:round/>
                <a:headEnd/>
                <a:tailEnd/>
              </a:ln>
            </p:spPr>
            <p:txBody>
              <a:bodyPr/>
              <a:lstStyle/>
              <a:p>
                <a:endParaRPr lang="en-US"/>
              </a:p>
            </p:txBody>
          </p:sp>
          <p:sp>
            <p:nvSpPr>
              <p:cNvPr id="18531" name="Freeform 197"/>
              <p:cNvSpPr>
                <a:spLocks/>
              </p:cNvSpPr>
              <p:nvPr/>
            </p:nvSpPr>
            <p:spPr bwMode="auto">
              <a:xfrm>
                <a:off x="2576" y="2384"/>
                <a:ext cx="457" cy="253"/>
              </a:xfrm>
              <a:custGeom>
                <a:avLst/>
                <a:gdLst>
                  <a:gd name="T0" fmla="*/ 0 w 1371"/>
                  <a:gd name="T1" fmla="*/ 0 h 507"/>
                  <a:gd name="T2" fmla="*/ 0 w 1371"/>
                  <a:gd name="T3" fmla="*/ 1 h 507"/>
                  <a:gd name="T4" fmla="*/ 0 w 1371"/>
                  <a:gd name="T5" fmla="*/ 1 h 507"/>
                  <a:gd name="T6" fmla="*/ 0 w 1371"/>
                  <a:gd name="T7" fmla="*/ 1 h 507"/>
                  <a:gd name="T8" fmla="*/ 0 w 1371"/>
                  <a:gd name="T9" fmla="*/ 1 h 507"/>
                  <a:gd name="T10" fmla="*/ 0 w 1371"/>
                  <a:gd name="T11" fmla="*/ 0 h 507"/>
                  <a:gd name="T12" fmla="*/ 0 w 1371"/>
                  <a:gd name="T13" fmla="*/ 0 h 507"/>
                  <a:gd name="T14" fmla="*/ 0 60000 65536"/>
                  <a:gd name="T15" fmla="*/ 0 60000 65536"/>
                  <a:gd name="T16" fmla="*/ 0 60000 65536"/>
                  <a:gd name="T17" fmla="*/ 0 60000 65536"/>
                  <a:gd name="T18" fmla="*/ 0 60000 65536"/>
                  <a:gd name="T19" fmla="*/ 0 60000 65536"/>
                  <a:gd name="T20" fmla="*/ 0 60000 65536"/>
                  <a:gd name="T21" fmla="*/ 0 w 1371"/>
                  <a:gd name="T22" fmla="*/ 0 h 507"/>
                  <a:gd name="T23" fmla="*/ 1371 w 1371"/>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71" h="507">
                    <a:moveTo>
                      <a:pt x="1371" y="0"/>
                    </a:moveTo>
                    <a:lnTo>
                      <a:pt x="44" y="317"/>
                    </a:lnTo>
                    <a:lnTo>
                      <a:pt x="0" y="501"/>
                    </a:lnTo>
                    <a:lnTo>
                      <a:pt x="59" y="507"/>
                    </a:lnTo>
                    <a:lnTo>
                      <a:pt x="94" y="353"/>
                    </a:lnTo>
                    <a:lnTo>
                      <a:pt x="1321" y="58"/>
                    </a:lnTo>
                    <a:lnTo>
                      <a:pt x="1371" y="0"/>
                    </a:lnTo>
                    <a:close/>
                  </a:path>
                </a:pathLst>
              </a:custGeom>
              <a:solidFill>
                <a:srgbClr val="000000"/>
              </a:solidFill>
              <a:ln w="9525">
                <a:noFill/>
                <a:round/>
                <a:headEnd/>
                <a:tailEnd/>
              </a:ln>
            </p:spPr>
            <p:txBody>
              <a:bodyPr/>
              <a:lstStyle/>
              <a:p>
                <a:endParaRPr lang="en-US"/>
              </a:p>
            </p:txBody>
          </p:sp>
          <p:sp>
            <p:nvSpPr>
              <p:cNvPr id="18532" name="Freeform 198"/>
              <p:cNvSpPr>
                <a:spLocks/>
              </p:cNvSpPr>
              <p:nvPr/>
            </p:nvSpPr>
            <p:spPr bwMode="auto">
              <a:xfrm>
                <a:off x="3116" y="960"/>
                <a:ext cx="724" cy="1340"/>
              </a:xfrm>
              <a:custGeom>
                <a:avLst/>
                <a:gdLst>
                  <a:gd name="T0" fmla="*/ 724 w 724"/>
                  <a:gd name="T1" fmla="*/ 0 h 1340"/>
                  <a:gd name="T2" fmla="*/ 552 w 724"/>
                  <a:gd name="T3" fmla="*/ 56 h 1340"/>
                  <a:gd name="T4" fmla="*/ 252 w 724"/>
                  <a:gd name="T5" fmla="*/ 168 h 1340"/>
                  <a:gd name="T6" fmla="*/ 0 w 724"/>
                  <a:gd name="T7" fmla="*/ 1340 h 1340"/>
                  <a:gd name="T8" fmla="*/ 328 w 724"/>
                  <a:gd name="T9" fmla="*/ 1176 h 1340"/>
                  <a:gd name="T10" fmla="*/ 724 w 724"/>
                  <a:gd name="T11" fmla="*/ 0 h 1340"/>
                  <a:gd name="T12" fmla="*/ 0 60000 65536"/>
                  <a:gd name="T13" fmla="*/ 0 60000 65536"/>
                  <a:gd name="T14" fmla="*/ 0 60000 65536"/>
                  <a:gd name="T15" fmla="*/ 0 60000 65536"/>
                  <a:gd name="T16" fmla="*/ 0 60000 65536"/>
                  <a:gd name="T17" fmla="*/ 0 60000 65536"/>
                  <a:gd name="T18" fmla="*/ 0 w 724"/>
                  <a:gd name="T19" fmla="*/ 0 h 1340"/>
                  <a:gd name="T20" fmla="*/ 724 w 724"/>
                  <a:gd name="T21" fmla="*/ 1340 h 1340"/>
                </a:gdLst>
                <a:ahLst/>
                <a:cxnLst>
                  <a:cxn ang="T12">
                    <a:pos x="T0" y="T1"/>
                  </a:cxn>
                  <a:cxn ang="T13">
                    <a:pos x="T2" y="T3"/>
                  </a:cxn>
                  <a:cxn ang="T14">
                    <a:pos x="T4" y="T5"/>
                  </a:cxn>
                  <a:cxn ang="T15">
                    <a:pos x="T6" y="T7"/>
                  </a:cxn>
                  <a:cxn ang="T16">
                    <a:pos x="T8" y="T9"/>
                  </a:cxn>
                  <a:cxn ang="T17">
                    <a:pos x="T10" y="T11"/>
                  </a:cxn>
                </a:cxnLst>
                <a:rect l="T18" t="T19" r="T20" b="T21"/>
                <a:pathLst>
                  <a:path w="724" h="1340">
                    <a:moveTo>
                      <a:pt x="724" y="0"/>
                    </a:moveTo>
                    <a:lnTo>
                      <a:pt x="552" y="56"/>
                    </a:lnTo>
                    <a:lnTo>
                      <a:pt x="252" y="168"/>
                    </a:lnTo>
                    <a:lnTo>
                      <a:pt x="0" y="1340"/>
                    </a:lnTo>
                    <a:lnTo>
                      <a:pt x="328" y="1176"/>
                    </a:lnTo>
                    <a:lnTo>
                      <a:pt x="724" y="0"/>
                    </a:lnTo>
                    <a:close/>
                  </a:path>
                </a:pathLst>
              </a:custGeom>
              <a:gradFill rotWithShape="0">
                <a:gsLst>
                  <a:gs pos="0">
                    <a:srgbClr val="091B06"/>
                  </a:gs>
                  <a:gs pos="100000">
                    <a:srgbClr val="51F237"/>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533" name="Freeform 199"/>
              <p:cNvSpPr>
                <a:spLocks/>
              </p:cNvSpPr>
              <p:nvPr/>
            </p:nvSpPr>
            <p:spPr bwMode="auto">
              <a:xfrm>
                <a:off x="1980" y="864"/>
                <a:ext cx="1832" cy="240"/>
              </a:xfrm>
              <a:custGeom>
                <a:avLst/>
                <a:gdLst>
                  <a:gd name="T0" fmla="*/ 0 w 1832"/>
                  <a:gd name="T1" fmla="*/ 204 h 240"/>
                  <a:gd name="T2" fmla="*/ 1396 w 1832"/>
                  <a:gd name="T3" fmla="*/ 240 h 240"/>
                  <a:gd name="T4" fmla="*/ 1832 w 1832"/>
                  <a:gd name="T5" fmla="*/ 88 h 240"/>
                  <a:gd name="T6" fmla="*/ 756 w 1832"/>
                  <a:gd name="T7" fmla="*/ 0 h 240"/>
                  <a:gd name="T8" fmla="*/ 0 w 1832"/>
                  <a:gd name="T9" fmla="*/ 204 h 240"/>
                  <a:gd name="T10" fmla="*/ 0 60000 65536"/>
                  <a:gd name="T11" fmla="*/ 0 60000 65536"/>
                  <a:gd name="T12" fmla="*/ 0 60000 65536"/>
                  <a:gd name="T13" fmla="*/ 0 60000 65536"/>
                  <a:gd name="T14" fmla="*/ 0 60000 65536"/>
                  <a:gd name="T15" fmla="*/ 0 w 1832"/>
                  <a:gd name="T16" fmla="*/ 0 h 240"/>
                  <a:gd name="T17" fmla="*/ 1832 w 1832"/>
                  <a:gd name="T18" fmla="*/ 240 h 240"/>
                </a:gdLst>
                <a:ahLst/>
                <a:cxnLst>
                  <a:cxn ang="T10">
                    <a:pos x="T0" y="T1"/>
                  </a:cxn>
                  <a:cxn ang="T11">
                    <a:pos x="T2" y="T3"/>
                  </a:cxn>
                  <a:cxn ang="T12">
                    <a:pos x="T4" y="T5"/>
                  </a:cxn>
                  <a:cxn ang="T13">
                    <a:pos x="T6" y="T7"/>
                  </a:cxn>
                  <a:cxn ang="T14">
                    <a:pos x="T8" y="T9"/>
                  </a:cxn>
                </a:cxnLst>
                <a:rect l="T15" t="T16" r="T17" b="T18"/>
                <a:pathLst>
                  <a:path w="1832" h="240">
                    <a:moveTo>
                      <a:pt x="0" y="204"/>
                    </a:moveTo>
                    <a:lnTo>
                      <a:pt x="1396" y="240"/>
                    </a:lnTo>
                    <a:lnTo>
                      <a:pt x="1832" y="88"/>
                    </a:lnTo>
                    <a:lnTo>
                      <a:pt x="756" y="0"/>
                    </a:lnTo>
                    <a:lnTo>
                      <a:pt x="0" y="204"/>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534" name="Freeform 200"/>
              <p:cNvSpPr>
                <a:spLocks/>
              </p:cNvSpPr>
              <p:nvPr/>
            </p:nvSpPr>
            <p:spPr bwMode="auto">
              <a:xfrm>
                <a:off x="2060" y="1216"/>
                <a:ext cx="1156" cy="962"/>
              </a:xfrm>
              <a:custGeom>
                <a:avLst/>
                <a:gdLst>
                  <a:gd name="T0" fmla="*/ 196 w 1156"/>
                  <a:gd name="T1" fmla="*/ 848 h 962"/>
                  <a:gd name="T2" fmla="*/ 952 w 1156"/>
                  <a:gd name="T3" fmla="*/ 962 h 962"/>
                  <a:gd name="T4" fmla="*/ 1156 w 1156"/>
                  <a:gd name="T5" fmla="*/ 32 h 962"/>
                  <a:gd name="T6" fmla="*/ 0 w 1156"/>
                  <a:gd name="T7" fmla="*/ 0 h 962"/>
                  <a:gd name="T8" fmla="*/ 196 w 1156"/>
                  <a:gd name="T9" fmla="*/ 848 h 962"/>
                  <a:gd name="T10" fmla="*/ 0 60000 65536"/>
                  <a:gd name="T11" fmla="*/ 0 60000 65536"/>
                  <a:gd name="T12" fmla="*/ 0 60000 65536"/>
                  <a:gd name="T13" fmla="*/ 0 60000 65536"/>
                  <a:gd name="T14" fmla="*/ 0 60000 65536"/>
                  <a:gd name="T15" fmla="*/ 0 w 1156"/>
                  <a:gd name="T16" fmla="*/ 0 h 962"/>
                  <a:gd name="T17" fmla="*/ 1156 w 1156"/>
                  <a:gd name="T18" fmla="*/ 962 h 962"/>
                </a:gdLst>
                <a:ahLst/>
                <a:cxnLst>
                  <a:cxn ang="T10">
                    <a:pos x="T0" y="T1"/>
                  </a:cxn>
                  <a:cxn ang="T11">
                    <a:pos x="T2" y="T3"/>
                  </a:cxn>
                  <a:cxn ang="T12">
                    <a:pos x="T4" y="T5"/>
                  </a:cxn>
                  <a:cxn ang="T13">
                    <a:pos x="T6" y="T7"/>
                  </a:cxn>
                  <a:cxn ang="T14">
                    <a:pos x="T8" y="T9"/>
                  </a:cxn>
                </a:cxnLst>
                <a:rect l="T15" t="T16" r="T17" b="T18"/>
                <a:pathLst>
                  <a:path w="1156" h="962">
                    <a:moveTo>
                      <a:pt x="196" y="848"/>
                    </a:moveTo>
                    <a:lnTo>
                      <a:pt x="952" y="962"/>
                    </a:lnTo>
                    <a:lnTo>
                      <a:pt x="1156" y="32"/>
                    </a:lnTo>
                    <a:lnTo>
                      <a:pt x="0" y="0"/>
                    </a:lnTo>
                    <a:lnTo>
                      <a:pt x="196" y="848"/>
                    </a:lnTo>
                    <a:close/>
                  </a:path>
                </a:pathLst>
              </a:custGeom>
              <a:gradFill rotWithShape="0">
                <a:gsLst>
                  <a:gs pos="0">
                    <a:srgbClr val="51F237"/>
                  </a:gs>
                  <a:gs pos="100000">
                    <a:srgbClr val="CBFBC3"/>
                  </a:gs>
                </a:gsLst>
                <a:path path="rect">
                  <a:fillToRect l="50000" t="50000" r="50000" b="50000"/>
                </a:path>
              </a:gradFill>
              <a:ln w="12700" cap="flat" cmpd="sng">
                <a:noFill/>
                <a:prstDash val="solid"/>
                <a:round/>
                <a:headEnd type="none" w="sm" len="sm"/>
                <a:tailEnd type="none" w="sm" len="sm"/>
              </a:ln>
            </p:spPr>
            <p:txBody>
              <a:bodyPr wrap="none" anchor="ctr"/>
              <a:lstStyle/>
              <a:p>
                <a:endParaRPr lang="en-US"/>
              </a:p>
            </p:txBody>
          </p:sp>
          <p:sp>
            <p:nvSpPr>
              <p:cNvPr id="18535" name="Freeform 201"/>
              <p:cNvSpPr>
                <a:spLocks/>
              </p:cNvSpPr>
              <p:nvPr/>
            </p:nvSpPr>
            <p:spPr bwMode="auto">
              <a:xfrm>
                <a:off x="1852" y="2380"/>
                <a:ext cx="732" cy="252"/>
              </a:xfrm>
              <a:custGeom>
                <a:avLst/>
                <a:gdLst>
                  <a:gd name="T0" fmla="*/ 0 w 732"/>
                  <a:gd name="T1" fmla="*/ 0 h 252"/>
                  <a:gd name="T2" fmla="*/ 0 w 732"/>
                  <a:gd name="T3" fmla="*/ 76 h 252"/>
                  <a:gd name="T4" fmla="*/ 728 w 732"/>
                  <a:gd name="T5" fmla="*/ 252 h 252"/>
                  <a:gd name="T6" fmla="*/ 732 w 732"/>
                  <a:gd name="T7" fmla="*/ 172 h 252"/>
                  <a:gd name="T8" fmla="*/ 0 w 732"/>
                  <a:gd name="T9" fmla="*/ 0 h 252"/>
                  <a:gd name="T10" fmla="*/ 0 60000 65536"/>
                  <a:gd name="T11" fmla="*/ 0 60000 65536"/>
                  <a:gd name="T12" fmla="*/ 0 60000 65536"/>
                  <a:gd name="T13" fmla="*/ 0 60000 65536"/>
                  <a:gd name="T14" fmla="*/ 0 60000 65536"/>
                  <a:gd name="T15" fmla="*/ 0 w 732"/>
                  <a:gd name="T16" fmla="*/ 0 h 252"/>
                  <a:gd name="T17" fmla="*/ 732 w 732"/>
                  <a:gd name="T18" fmla="*/ 252 h 252"/>
                </a:gdLst>
                <a:ahLst/>
                <a:cxnLst>
                  <a:cxn ang="T10">
                    <a:pos x="T0" y="T1"/>
                  </a:cxn>
                  <a:cxn ang="T11">
                    <a:pos x="T2" y="T3"/>
                  </a:cxn>
                  <a:cxn ang="T12">
                    <a:pos x="T4" y="T5"/>
                  </a:cxn>
                  <a:cxn ang="T13">
                    <a:pos x="T6" y="T7"/>
                  </a:cxn>
                  <a:cxn ang="T14">
                    <a:pos x="T8" y="T9"/>
                  </a:cxn>
                </a:cxnLst>
                <a:rect l="T15" t="T16" r="T17" b="T18"/>
                <a:pathLst>
                  <a:path w="732" h="252">
                    <a:moveTo>
                      <a:pt x="0" y="0"/>
                    </a:moveTo>
                    <a:lnTo>
                      <a:pt x="0" y="76"/>
                    </a:lnTo>
                    <a:lnTo>
                      <a:pt x="728" y="252"/>
                    </a:lnTo>
                    <a:lnTo>
                      <a:pt x="732" y="172"/>
                    </a:lnTo>
                    <a:lnTo>
                      <a:pt x="0"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536" name="Freeform 202"/>
              <p:cNvSpPr>
                <a:spLocks/>
              </p:cNvSpPr>
              <p:nvPr/>
            </p:nvSpPr>
            <p:spPr bwMode="auto">
              <a:xfrm>
                <a:off x="2396" y="2204"/>
                <a:ext cx="584" cy="212"/>
              </a:xfrm>
              <a:custGeom>
                <a:avLst/>
                <a:gdLst>
                  <a:gd name="T0" fmla="*/ 4 w 584"/>
                  <a:gd name="T1" fmla="*/ 76 h 212"/>
                  <a:gd name="T2" fmla="*/ 0 w 584"/>
                  <a:gd name="T3" fmla="*/ 0 h 212"/>
                  <a:gd name="T4" fmla="*/ 584 w 584"/>
                  <a:gd name="T5" fmla="*/ 76 h 212"/>
                  <a:gd name="T6" fmla="*/ 576 w 584"/>
                  <a:gd name="T7" fmla="*/ 212 h 212"/>
                  <a:gd name="T8" fmla="*/ 4 w 584"/>
                  <a:gd name="T9" fmla="*/ 76 h 212"/>
                  <a:gd name="T10" fmla="*/ 0 60000 65536"/>
                  <a:gd name="T11" fmla="*/ 0 60000 65536"/>
                  <a:gd name="T12" fmla="*/ 0 60000 65536"/>
                  <a:gd name="T13" fmla="*/ 0 60000 65536"/>
                  <a:gd name="T14" fmla="*/ 0 60000 65536"/>
                  <a:gd name="T15" fmla="*/ 0 w 584"/>
                  <a:gd name="T16" fmla="*/ 0 h 212"/>
                  <a:gd name="T17" fmla="*/ 584 w 584"/>
                  <a:gd name="T18" fmla="*/ 212 h 212"/>
                </a:gdLst>
                <a:ahLst/>
                <a:cxnLst>
                  <a:cxn ang="T10">
                    <a:pos x="T0" y="T1"/>
                  </a:cxn>
                  <a:cxn ang="T11">
                    <a:pos x="T2" y="T3"/>
                  </a:cxn>
                  <a:cxn ang="T12">
                    <a:pos x="T4" y="T5"/>
                  </a:cxn>
                  <a:cxn ang="T13">
                    <a:pos x="T6" y="T7"/>
                  </a:cxn>
                  <a:cxn ang="T14">
                    <a:pos x="T8" y="T9"/>
                  </a:cxn>
                </a:cxnLst>
                <a:rect l="T15" t="T16" r="T17" b="T18"/>
                <a:pathLst>
                  <a:path w="584" h="212">
                    <a:moveTo>
                      <a:pt x="4" y="76"/>
                    </a:moveTo>
                    <a:lnTo>
                      <a:pt x="0" y="0"/>
                    </a:lnTo>
                    <a:lnTo>
                      <a:pt x="584" y="76"/>
                    </a:lnTo>
                    <a:lnTo>
                      <a:pt x="576" y="212"/>
                    </a:lnTo>
                    <a:lnTo>
                      <a:pt x="4" y="76"/>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537" name="Freeform 203"/>
              <p:cNvSpPr>
                <a:spLocks/>
              </p:cNvSpPr>
              <p:nvPr/>
            </p:nvSpPr>
            <p:spPr bwMode="auto">
              <a:xfrm>
                <a:off x="2592" y="2412"/>
                <a:ext cx="456" cy="228"/>
              </a:xfrm>
              <a:custGeom>
                <a:avLst/>
                <a:gdLst>
                  <a:gd name="T0" fmla="*/ 8 w 456"/>
                  <a:gd name="T1" fmla="*/ 148 h 228"/>
                  <a:gd name="T2" fmla="*/ 0 w 456"/>
                  <a:gd name="T3" fmla="*/ 228 h 228"/>
                  <a:gd name="T4" fmla="*/ 456 w 456"/>
                  <a:gd name="T5" fmla="*/ 160 h 228"/>
                  <a:gd name="T6" fmla="*/ 436 w 456"/>
                  <a:gd name="T7" fmla="*/ 24 h 228"/>
                  <a:gd name="T8" fmla="*/ 424 w 456"/>
                  <a:gd name="T9" fmla="*/ 0 h 228"/>
                  <a:gd name="T10" fmla="*/ 8 w 456"/>
                  <a:gd name="T11" fmla="*/ 148 h 228"/>
                  <a:gd name="T12" fmla="*/ 0 60000 65536"/>
                  <a:gd name="T13" fmla="*/ 0 60000 65536"/>
                  <a:gd name="T14" fmla="*/ 0 60000 65536"/>
                  <a:gd name="T15" fmla="*/ 0 60000 65536"/>
                  <a:gd name="T16" fmla="*/ 0 60000 65536"/>
                  <a:gd name="T17" fmla="*/ 0 60000 65536"/>
                  <a:gd name="T18" fmla="*/ 0 w 456"/>
                  <a:gd name="T19" fmla="*/ 0 h 228"/>
                  <a:gd name="T20" fmla="*/ 456 w 456"/>
                  <a:gd name="T21" fmla="*/ 228 h 228"/>
                </a:gdLst>
                <a:ahLst/>
                <a:cxnLst>
                  <a:cxn ang="T12">
                    <a:pos x="T0" y="T1"/>
                  </a:cxn>
                  <a:cxn ang="T13">
                    <a:pos x="T2" y="T3"/>
                  </a:cxn>
                  <a:cxn ang="T14">
                    <a:pos x="T4" y="T5"/>
                  </a:cxn>
                  <a:cxn ang="T15">
                    <a:pos x="T6" y="T7"/>
                  </a:cxn>
                  <a:cxn ang="T16">
                    <a:pos x="T8" y="T9"/>
                  </a:cxn>
                  <a:cxn ang="T17">
                    <a:pos x="T10" y="T11"/>
                  </a:cxn>
                </a:cxnLst>
                <a:rect l="T18" t="T19" r="T20" b="T21"/>
                <a:pathLst>
                  <a:path w="456" h="228">
                    <a:moveTo>
                      <a:pt x="8" y="148"/>
                    </a:moveTo>
                    <a:lnTo>
                      <a:pt x="0" y="228"/>
                    </a:lnTo>
                    <a:lnTo>
                      <a:pt x="456" y="160"/>
                    </a:lnTo>
                    <a:lnTo>
                      <a:pt x="436" y="24"/>
                    </a:lnTo>
                    <a:lnTo>
                      <a:pt x="424" y="0"/>
                    </a:lnTo>
                    <a:lnTo>
                      <a:pt x="8" y="148"/>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sp>
            <p:nvSpPr>
              <p:cNvPr id="18538" name="Freeform 204"/>
              <p:cNvSpPr>
                <a:spLocks/>
              </p:cNvSpPr>
              <p:nvPr/>
            </p:nvSpPr>
            <p:spPr bwMode="auto">
              <a:xfrm>
                <a:off x="2976" y="2304"/>
                <a:ext cx="380" cy="140"/>
              </a:xfrm>
              <a:custGeom>
                <a:avLst/>
                <a:gdLst>
                  <a:gd name="T0" fmla="*/ 0 w 380"/>
                  <a:gd name="T1" fmla="*/ 96 h 140"/>
                  <a:gd name="T2" fmla="*/ 36 w 380"/>
                  <a:gd name="T3" fmla="*/ 140 h 140"/>
                  <a:gd name="T4" fmla="*/ 380 w 380"/>
                  <a:gd name="T5" fmla="*/ 16 h 140"/>
                  <a:gd name="T6" fmla="*/ 336 w 380"/>
                  <a:gd name="T7" fmla="*/ 0 h 140"/>
                  <a:gd name="T8" fmla="*/ 0 w 380"/>
                  <a:gd name="T9" fmla="*/ 96 h 140"/>
                  <a:gd name="T10" fmla="*/ 0 60000 65536"/>
                  <a:gd name="T11" fmla="*/ 0 60000 65536"/>
                  <a:gd name="T12" fmla="*/ 0 60000 65536"/>
                  <a:gd name="T13" fmla="*/ 0 60000 65536"/>
                  <a:gd name="T14" fmla="*/ 0 60000 65536"/>
                  <a:gd name="T15" fmla="*/ 0 w 380"/>
                  <a:gd name="T16" fmla="*/ 0 h 140"/>
                  <a:gd name="T17" fmla="*/ 380 w 380"/>
                  <a:gd name="T18" fmla="*/ 140 h 140"/>
                </a:gdLst>
                <a:ahLst/>
                <a:cxnLst>
                  <a:cxn ang="T10">
                    <a:pos x="T0" y="T1"/>
                  </a:cxn>
                  <a:cxn ang="T11">
                    <a:pos x="T2" y="T3"/>
                  </a:cxn>
                  <a:cxn ang="T12">
                    <a:pos x="T4" y="T5"/>
                  </a:cxn>
                  <a:cxn ang="T13">
                    <a:pos x="T6" y="T7"/>
                  </a:cxn>
                  <a:cxn ang="T14">
                    <a:pos x="T8" y="T9"/>
                  </a:cxn>
                </a:cxnLst>
                <a:rect l="T15" t="T16" r="T17" b="T18"/>
                <a:pathLst>
                  <a:path w="380" h="140">
                    <a:moveTo>
                      <a:pt x="0" y="96"/>
                    </a:moveTo>
                    <a:lnTo>
                      <a:pt x="36" y="140"/>
                    </a:lnTo>
                    <a:lnTo>
                      <a:pt x="380" y="16"/>
                    </a:lnTo>
                    <a:lnTo>
                      <a:pt x="336" y="0"/>
                    </a:lnTo>
                    <a:lnTo>
                      <a:pt x="0" y="96"/>
                    </a:lnTo>
                    <a:close/>
                  </a:path>
                </a:pathLst>
              </a:custGeom>
              <a:gradFill rotWithShape="0">
                <a:gsLst>
                  <a:gs pos="0">
                    <a:srgbClr val="A8F99B"/>
                  </a:gs>
                  <a:gs pos="100000">
                    <a:srgbClr val="FFFFFF"/>
                  </a:gs>
                </a:gsLst>
                <a:lin ang="0" scaled="1"/>
              </a:gradFill>
              <a:ln w="12700" cap="flat" cmpd="sng">
                <a:noFill/>
                <a:prstDash val="solid"/>
                <a:round/>
                <a:headEnd type="none" w="sm" len="sm"/>
                <a:tailEnd type="none" w="sm" len="sm"/>
              </a:ln>
            </p:spPr>
            <p:txBody>
              <a:bodyPr wrap="none" anchor="ctr"/>
              <a:lstStyle/>
              <a:p>
                <a:endParaRPr lang="en-US"/>
              </a:p>
            </p:txBody>
          </p:sp>
          <p:sp>
            <p:nvSpPr>
              <p:cNvPr id="18539" name="Freeform 205"/>
              <p:cNvSpPr>
                <a:spLocks/>
              </p:cNvSpPr>
              <p:nvPr/>
            </p:nvSpPr>
            <p:spPr bwMode="auto">
              <a:xfrm>
                <a:off x="1856" y="2256"/>
                <a:ext cx="1168" cy="288"/>
              </a:xfrm>
              <a:custGeom>
                <a:avLst/>
                <a:gdLst>
                  <a:gd name="T0" fmla="*/ 0 w 1168"/>
                  <a:gd name="T1" fmla="*/ 116 h 288"/>
                  <a:gd name="T2" fmla="*/ 448 w 1168"/>
                  <a:gd name="T3" fmla="*/ 0 h 288"/>
                  <a:gd name="T4" fmla="*/ 1168 w 1168"/>
                  <a:gd name="T5" fmla="*/ 144 h 288"/>
                  <a:gd name="T6" fmla="*/ 736 w 1168"/>
                  <a:gd name="T7" fmla="*/ 288 h 288"/>
                  <a:gd name="T8" fmla="*/ 0 w 1168"/>
                  <a:gd name="T9" fmla="*/ 116 h 288"/>
                  <a:gd name="T10" fmla="*/ 0 60000 65536"/>
                  <a:gd name="T11" fmla="*/ 0 60000 65536"/>
                  <a:gd name="T12" fmla="*/ 0 60000 65536"/>
                  <a:gd name="T13" fmla="*/ 0 60000 65536"/>
                  <a:gd name="T14" fmla="*/ 0 60000 65536"/>
                  <a:gd name="T15" fmla="*/ 0 w 1168"/>
                  <a:gd name="T16" fmla="*/ 0 h 288"/>
                  <a:gd name="T17" fmla="*/ 1168 w 1168"/>
                  <a:gd name="T18" fmla="*/ 288 h 288"/>
                </a:gdLst>
                <a:ahLst/>
                <a:cxnLst>
                  <a:cxn ang="T10">
                    <a:pos x="T0" y="T1"/>
                  </a:cxn>
                  <a:cxn ang="T11">
                    <a:pos x="T2" y="T3"/>
                  </a:cxn>
                  <a:cxn ang="T12">
                    <a:pos x="T4" y="T5"/>
                  </a:cxn>
                  <a:cxn ang="T13">
                    <a:pos x="T6" y="T7"/>
                  </a:cxn>
                  <a:cxn ang="T14">
                    <a:pos x="T8" y="T9"/>
                  </a:cxn>
                </a:cxnLst>
                <a:rect l="T15" t="T16" r="T17" b="T18"/>
                <a:pathLst>
                  <a:path w="1168" h="288">
                    <a:moveTo>
                      <a:pt x="0" y="116"/>
                    </a:moveTo>
                    <a:lnTo>
                      <a:pt x="448" y="0"/>
                    </a:lnTo>
                    <a:lnTo>
                      <a:pt x="1168" y="144"/>
                    </a:lnTo>
                    <a:lnTo>
                      <a:pt x="736" y="288"/>
                    </a:lnTo>
                    <a:lnTo>
                      <a:pt x="0" y="116"/>
                    </a:lnTo>
                    <a:close/>
                  </a:path>
                </a:pathLst>
              </a:custGeom>
              <a:gradFill rotWithShape="0">
                <a:gsLst>
                  <a:gs pos="0">
                    <a:srgbClr val="FFFFFF"/>
                  </a:gs>
                  <a:gs pos="100000">
                    <a:srgbClr val="A8F99B"/>
                  </a:gs>
                </a:gsLst>
                <a:lin ang="18900000" scaled="1"/>
              </a:gradFill>
              <a:ln w="12700" cap="flat" cmpd="sng">
                <a:noFill/>
                <a:prstDash val="solid"/>
                <a:round/>
                <a:headEnd type="none" w="sm" len="sm"/>
                <a:tailEnd type="none" w="sm" len="sm"/>
              </a:ln>
            </p:spPr>
            <p:txBody>
              <a:bodyPr wrap="none" anchor="ctr"/>
              <a:lstStyle/>
              <a:p>
                <a:endParaRPr lang="en-US"/>
              </a:p>
            </p:txBody>
          </p:sp>
          <p:sp>
            <p:nvSpPr>
              <p:cNvPr id="18540" name="Freeform 206"/>
              <p:cNvSpPr>
                <a:spLocks/>
              </p:cNvSpPr>
              <p:nvPr/>
            </p:nvSpPr>
            <p:spPr bwMode="auto">
              <a:xfrm>
                <a:off x="1824" y="2240"/>
                <a:ext cx="1168" cy="172"/>
              </a:xfrm>
              <a:custGeom>
                <a:avLst/>
                <a:gdLst>
                  <a:gd name="T0" fmla="*/ 0 w 1168"/>
                  <a:gd name="T1" fmla="*/ 132 h 172"/>
                  <a:gd name="T2" fmla="*/ 484 w 1168"/>
                  <a:gd name="T3" fmla="*/ 0 h 172"/>
                  <a:gd name="T4" fmla="*/ 1168 w 1168"/>
                  <a:gd name="T5" fmla="*/ 156 h 172"/>
                  <a:gd name="T6" fmla="*/ 1164 w 1168"/>
                  <a:gd name="T7" fmla="*/ 172 h 172"/>
                  <a:gd name="T8" fmla="*/ 464 w 1168"/>
                  <a:gd name="T9" fmla="*/ 16 h 172"/>
                  <a:gd name="T10" fmla="*/ 24 w 1168"/>
                  <a:gd name="T11" fmla="*/ 144 h 172"/>
                  <a:gd name="T12" fmla="*/ 0 w 1168"/>
                  <a:gd name="T13" fmla="*/ 132 h 172"/>
                  <a:gd name="T14" fmla="*/ 0 60000 65536"/>
                  <a:gd name="T15" fmla="*/ 0 60000 65536"/>
                  <a:gd name="T16" fmla="*/ 0 60000 65536"/>
                  <a:gd name="T17" fmla="*/ 0 60000 65536"/>
                  <a:gd name="T18" fmla="*/ 0 60000 65536"/>
                  <a:gd name="T19" fmla="*/ 0 60000 65536"/>
                  <a:gd name="T20" fmla="*/ 0 60000 65536"/>
                  <a:gd name="T21" fmla="*/ 0 w 1168"/>
                  <a:gd name="T22" fmla="*/ 0 h 172"/>
                  <a:gd name="T23" fmla="*/ 1168 w 1168"/>
                  <a:gd name="T24" fmla="*/ 172 h 1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68" h="172">
                    <a:moveTo>
                      <a:pt x="0" y="132"/>
                    </a:moveTo>
                    <a:cubicBezTo>
                      <a:pt x="489" y="3"/>
                      <a:pt x="316" y="32"/>
                      <a:pt x="484" y="0"/>
                    </a:cubicBezTo>
                    <a:cubicBezTo>
                      <a:pt x="842" y="80"/>
                      <a:pt x="1055" y="127"/>
                      <a:pt x="1168" y="156"/>
                    </a:cubicBezTo>
                    <a:lnTo>
                      <a:pt x="1164" y="172"/>
                    </a:lnTo>
                    <a:lnTo>
                      <a:pt x="464" y="16"/>
                    </a:lnTo>
                    <a:lnTo>
                      <a:pt x="24" y="144"/>
                    </a:lnTo>
                    <a:lnTo>
                      <a:pt x="0" y="132"/>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541" name="Freeform 207"/>
              <p:cNvSpPr>
                <a:spLocks/>
              </p:cNvSpPr>
              <p:nvPr/>
            </p:nvSpPr>
            <p:spPr bwMode="auto">
              <a:xfrm>
                <a:off x="2970" y="2286"/>
                <a:ext cx="402" cy="114"/>
              </a:xfrm>
              <a:custGeom>
                <a:avLst/>
                <a:gdLst>
                  <a:gd name="T0" fmla="*/ 6 w 402"/>
                  <a:gd name="T1" fmla="*/ 114 h 114"/>
                  <a:gd name="T2" fmla="*/ 342 w 402"/>
                  <a:gd name="T3" fmla="*/ 18 h 114"/>
                  <a:gd name="T4" fmla="*/ 384 w 402"/>
                  <a:gd name="T5" fmla="*/ 33 h 114"/>
                  <a:gd name="T6" fmla="*/ 402 w 402"/>
                  <a:gd name="T7" fmla="*/ 24 h 114"/>
                  <a:gd name="T8" fmla="*/ 339 w 402"/>
                  <a:gd name="T9" fmla="*/ 0 h 114"/>
                  <a:gd name="T10" fmla="*/ 0 w 402"/>
                  <a:gd name="T11" fmla="*/ 102 h 114"/>
                  <a:gd name="T12" fmla="*/ 6 w 402"/>
                  <a:gd name="T13" fmla="*/ 114 h 114"/>
                  <a:gd name="T14" fmla="*/ 0 60000 65536"/>
                  <a:gd name="T15" fmla="*/ 0 60000 65536"/>
                  <a:gd name="T16" fmla="*/ 0 60000 65536"/>
                  <a:gd name="T17" fmla="*/ 0 60000 65536"/>
                  <a:gd name="T18" fmla="*/ 0 60000 65536"/>
                  <a:gd name="T19" fmla="*/ 0 60000 65536"/>
                  <a:gd name="T20" fmla="*/ 0 60000 65536"/>
                  <a:gd name="T21" fmla="*/ 0 w 402"/>
                  <a:gd name="T22" fmla="*/ 0 h 114"/>
                  <a:gd name="T23" fmla="*/ 402 w 402"/>
                  <a:gd name="T24" fmla="*/ 114 h 1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2" h="114">
                    <a:moveTo>
                      <a:pt x="6" y="114"/>
                    </a:moveTo>
                    <a:lnTo>
                      <a:pt x="342" y="18"/>
                    </a:lnTo>
                    <a:lnTo>
                      <a:pt x="384" y="33"/>
                    </a:lnTo>
                    <a:lnTo>
                      <a:pt x="402" y="24"/>
                    </a:lnTo>
                    <a:lnTo>
                      <a:pt x="339" y="0"/>
                    </a:lnTo>
                    <a:lnTo>
                      <a:pt x="0" y="102"/>
                    </a:lnTo>
                    <a:lnTo>
                      <a:pt x="6" y="114"/>
                    </a:lnTo>
                    <a:close/>
                  </a:path>
                </a:pathLst>
              </a:custGeom>
              <a:solidFill>
                <a:srgbClr val="091B06"/>
              </a:solidFill>
              <a:ln w="12700" cap="flat" cmpd="sng">
                <a:noFill/>
                <a:prstDash val="solid"/>
                <a:round/>
                <a:headEnd type="none" w="sm" len="sm"/>
                <a:tailEnd type="none" w="sm" len="sm"/>
              </a:ln>
            </p:spPr>
            <p:txBody>
              <a:bodyPr wrap="none" anchor="ctr"/>
              <a:lstStyle/>
              <a:p>
                <a:endParaRPr lang="en-US"/>
              </a:p>
            </p:txBody>
          </p:sp>
          <p:sp>
            <p:nvSpPr>
              <p:cNvPr id="18542" name="Freeform 208"/>
              <p:cNvSpPr>
                <a:spLocks/>
              </p:cNvSpPr>
              <p:nvPr/>
            </p:nvSpPr>
            <p:spPr bwMode="auto">
              <a:xfrm>
                <a:off x="3024" y="2328"/>
                <a:ext cx="354" cy="192"/>
              </a:xfrm>
              <a:custGeom>
                <a:avLst/>
                <a:gdLst>
                  <a:gd name="T0" fmla="*/ 336 w 354"/>
                  <a:gd name="T1" fmla="*/ 0 h 192"/>
                  <a:gd name="T2" fmla="*/ 354 w 354"/>
                  <a:gd name="T3" fmla="*/ 150 h 192"/>
                  <a:gd name="T4" fmla="*/ 24 w 354"/>
                  <a:gd name="T5" fmla="*/ 192 h 192"/>
                  <a:gd name="T6" fmla="*/ 0 w 354"/>
                  <a:gd name="T7" fmla="*/ 120 h 192"/>
                  <a:gd name="T8" fmla="*/ 336 w 354"/>
                  <a:gd name="T9" fmla="*/ 0 h 192"/>
                  <a:gd name="T10" fmla="*/ 0 60000 65536"/>
                  <a:gd name="T11" fmla="*/ 0 60000 65536"/>
                  <a:gd name="T12" fmla="*/ 0 60000 65536"/>
                  <a:gd name="T13" fmla="*/ 0 60000 65536"/>
                  <a:gd name="T14" fmla="*/ 0 60000 65536"/>
                  <a:gd name="T15" fmla="*/ 0 w 354"/>
                  <a:gd name="T16" fmla="*/ 0 h 192"/>
                  <a:gd name="T17" fmla="*/ 354 w 354"/>
                  <a:gd name="T18" fmla="*/ 192 h 192"/>
                </a:gdLst>
                <a:ahLst/>
                <a:cxnLst>
                  <a:cxn ang="T10">
                    <a:pos x="T0" y="T1"/>
                  </a:cxn>
                  <a:cxn ang="T11">
                    <a:pos x="T2" y="T3"/>
                  </a:cxn>
                  <a:cxn ang="T12">
                    <a:pos x="T4" y="T5"/>
                  </a:cxn>
                  <a:cxn ang="T13">
                    <a:pos x="T6" y="T7"/>
                  </a:cxn>
                  <a:cxn ang="T14">
                    <a:pos x="T8" y="T9"/>
                  </a:cxn>
                </a:cxnLst>
                <a:rect l="T15" t="T16" r="T17" b="T18"/>
                <a:pathLst>
                  <a:path w="354" h="192">
                    <a:moveTo>
                      <a:pt x="336" y="0"/>
                    </a:moveTo>
                    <a:lnTo>
                      <a:pt x="354" y="150"/>
                    </a:lnTo>
                    <a:lnTo>
                      <a:pt x="24" y="192"/>
                    </a:lnTo>
                    <a:lnTo>
                      <a:pt x="0" y="120"/>
                    </a:lnTo>
                    <a:lnTo>
                      <a:pt x="336" y="0"/>
                    </a:lnTo>
                    <a:close/>
                  </a:path>
                </a:pathLst>
              </a:custGeom>
              <a:gradFill rotWithShape="0">
                <a:gsLst>
                  <a:gs pos="0">
                    <a:srgbClr val="51F237"/>
                  </a:gs>
                  <a:gs pos="100000">
                    <a:srgbClr val="091B06"/>
                  </a:gs>
                </a:gsLst>
                <a:lin ang="0" scaled="1"/>
              </a:gradFill>
              <a:ln w="12700" cap="flat" cmpd="sng">
                <a:noFill/>
                <a:prstDash val="solid"/>
                <a:round/>
                <a:headEnd type="none" w="sm" len="sm"/>
                <a:tailEnd type="none" w="sm" len="sm"/>
              </a:ln>
            </p:spPr>
            <p:txBody>
              <a:bodyPr wrap="none" anchor="ctr"/>
              <a:lstStyle/>
              <a:p>
                <a:endParaRPr lang="en-US"/>
              </a:p>
            </p:txBody>
          </p:sp>
        </p:grpSp>
      </p:grpSp>
      <p:sp>
        <p:nvSpPr>
          <p:cNvPr id="18447" name="Line 209"/>
          <p:cNvSpPr>
            <a:spLocks noChangeShapeType="1"/>
          </p:cNvSpPr>
          <p:nvPr/>
        </p:nvSpPr>
        <p:spPr bwMode="auto">
          <a:xfrm>
            <a:off x="6629400" y="4572000"/>
            <a:ext cx="381000" cy="0"/>
          </a:xfrm>
          <a:prstGeom prst="line">
            <a:avLst/>
          </a:prstGeom>
          <a:noFill/>
          <a:ln w="28575">
            <a:solidFill>
              <a:schemeClr val="accent1"/>
            </a:solidFill>
            <a:round/>
            <a:headEnd/>
            <a:tailEnd/>
          </a:ln>
        </p:spPr>
        <p:txBody>
          <a:bodyPr wrap="none" anchor="ctr"/>
          <a:lstStyle/>
          <a:p>
            <a:endParaRPr lang="en-US"/>
          </a:p>
        </p:txBody>
      </p:sp>
      <p:sp>
        <p:nvSpPr>
          <p:cNvPr id="18448" name="Rectangle 253"/>
          <p:cNvSpPr>
            <a:spLocks noChangeArrowheads="1"/>
          </p:cNvSpPr>
          <p:nvPr/>
        </p:nvSpPr>
        <p:spPr bwMode="auto">
          <a:xfrm>
            <a:off x="5562600" y="5029200"/>
            <a:ext cx="1524000" cy="530225"/>
          </a:xfrm>
          <a:prstGeom prst="rect">
            <a:avLst/>
          </a:prstGeom>
          <a:noFill/>
          <a:ln w="9525">
            <a:noFill/>
            <a:miter lim="800000"/>
            <a:headEnd/>
            <a:tailEnd/>
          </a:ln>
        </p:spPr>
        <p:txBody>
          <a:bodyPr lIns="106362" tIns="52388" rIns="106362" bIns="52388">
            <a:spAutoFit/>
          </a:bodyPr>
          <a:lstStyle/>
          <a:p>
            <a:pPr algn="ctr" defTabSz="1208088"/>
            <a:r>
              <a:rPr lang="en-US" altLang="en-US" sz="1400" i="1">
                <a:solidFill>
                  <a:schemeClr val="bg1"/>
                </a:solidFill>
              </a:rPr>
              <a:t>LAN clients with sensitive data</a:t>
            </a:r>
          </a:p>
        </p:txBody>
      </p:sp>
      <p:grpSp>
        <p:nvGrpSpPr>
          <p:cNvPr id="9" name="Group 257"/>
          <p:cNvGrpSpPr>
            <a:grpSpLocks/>
          </p:cNvGrpSpPr>
          <p:nvPr/>
        </p:nvGrpSpPr>
        <p:grpSpPr bwMode="auto">
          <a:xfrm>
            <a:off x="6553200" y="2438400"/>
            <a:ext cx="533400" cy="2209800"/>
            <a:chOff x="4128" y="1536"/>
            <a:chExt cx="336" cy="1392"/>
          </a:xfrm>
        </p:grpSpPr>
        <p:sp>
          <p:nvSpPr>
            <p:cNvPr id="310526" name="Rectangle 254"/>
            <p:cNvSpPr>
              <a:spLocks noChangeArrowheads="1"/>
            </p:cNvSpPr>
            <p:nvPr/>
          </p:nvSpPr>
          <p:spPr bwMode="auto">
            <a:xfrm>
              <a:off x="4128" y="1536"/>
              <a:ext cx="288" cy="96"/>
            </a:xfrm>
            <a:prstGeom prst="rect">
              <a:avLst/>
            </a:prstGeom>
            <a:gradFill rotWithShape="0">
              <a:gsLst>
                <a:gs pos="0">
                  <a:schemeClr val="accent1">
                    <a:gamma/>
                    <a:shade val="46275"/>
                    <a:invGamma/>
                  </a:schemeClr>
                </a:gs>
                <a:gs pos="100000">
                  <a:schemeClr val="accent1"/>
                </a:gs>
              </a:gsLst>
              <a:lin ang="0" scaled="1"/>
            </a:gradFill>
            <a:ln w="9525">
              <a:noFill/>
              <a:miter lim="800000"/>
              <a:headEnd/>
              <a:tailEnd/>
            </a:ln>
            <a:effectLst/>
          </p:spPr>
          <p:txBody>
            <a:bodyPr wrap="none" anchor="ctr"/>
            <a:lstStyle/>
            <a:p>
              <a:pPr>
                <a:defRPr/>
              </a:pPr>
              <a:endParaRPr lang="en-US"/>
            </a:p>
          </p:txBody>
        </p:sp>
        <p:sp>
          <p:nvSpPr>
            <p:cNvPr id="310527" name="Rectangle 255"/>
            <p:cNvSpPr>
              <a:spLocks noChangeArrowheads="1"/>
            </p:cNvSpPr>
            <p:nvPr/>
          </p:nvSpPr>
          <p:spPr bwMode="auto">
            <a:xfrm>
              <a:off x="4368" y="1536"/>
              <a:ext cx="96" cy="1344"/>
            </a:xfrm>
            <a:prstGeom prst="rect">
              <a:avLst/>
            </a:prstGeom>
            <a:gradFill rotWithShape="0">
              <a:gsLst>
                <a:gs pos="0">
                  <a:schemeClr val="accent1"/>
                </a:gs>
                <a:gs pos="100000">
                  <a:schemeClr val="accent1">
                    <a:gamma/>
                    <a:shade val="46275"/>
                    <a:invGamma/>
                  </a:schemeClr>
                </a:gs>
              </a:gsLst>
              <a:lin ang="5400000" scaled="1"/>
            </a:gradFill>
            <a:ln w="9525">
              <a:noFill/>
              <a:miter lim="800000"/>
              <a:headEnd/>
              <a:tailEnd/>
            </a:ln>
            <a:effectLst/>
          </p:spPr>
          <p:txBody>
            <a:bodyPr wrap="none" anchor="ctr"/>
            <a:lstStyle/>
            <a:p>
              <a:pPr>
                <a:defRPr/>
              </a:pPr>
              <a:endParaRPr lang="en-US"/>
            </a:p>
          </p:txBody>
        </p:sp>
        <p:sp>
          <p:nvSpPr>
            <p:cNvPr id="310528" name="Rectangle 256"/>
            <p:cNvSpPr>
              <a:spLocks noChangeArrowheads="1"/>
            </p:cNvSpPr>
            <p:nvPr/>
          </p:nvSpPr>
          <p:spPr bwMode="auto">
            <a:xfrm>
              <a:off x="4176" y="2832"/>
              <a:ext cx="288" cy="96"/>
            </a:xfrm>
            <a:prstGeom prst="rect">
              <a:avLst/>
            </a:prstGeom>
            <a:gradFill rotWithShape="0">
              <a:gsLst>
                <a:gs pos="0">
                  <a:schemeClr val="accent1"/>
                </a:gs>
                <a:gs pos="100000">
                  <a:schemeClr val="accent1">
                    <a:gamma/>
                    <a:shade val="46275"/>
                    <a:invGamma/>
                  </a:schemeClr>
                </a:gs>
              </a:gsLst>
              <a:lin ang="0" scaled="1"/>
            </a:gradFill>
            <a:ln w="9525">
              <a:noFill/>
              <a:miter lim="800000"/>
              <a:headEnd/>
              <a:tailEnd/>
            </a:ln>
            <a:effectLst/>
          </p:spPr>
          <p:txBody>
            <a:bodyPr wrap="none" anchor="ctr"/>
            <a:lstStyle/>
            <a:p>
              <a:pPr>
                <a:defRPr/>
              </a:pPr>
              <a:endParaRPr lang="en-US"/>
            </a:p>
          </p:txBody>
        </p:sp>
      </p:grpSp>
      <p:grpSp>
        <p:nvGrpSpPr>
          <p:cNvPr id="18450" name="Group 210"/>
          <p:cNvGrpSpPr>
            <a:grpSpLocks/>
          </p:cNvGrpSpPr>
          <p:nvPr/>
        </p:nvGrpSpPr>
        <p:grpSpPr bwMode="auto">
          <a:xfrm>
            <a:off x="6019800" y="4191000"/>
            <a:ext cx="815975" cy="838200"/>
            <a:chOff x="3710" y="2592"/>
            <a:chExt cx="514" cy="528"/>
          </a:xfrm>
        </p:grpSpPr>
        <p:grpSp>
          <p:nvGrpSpPr>
            <p:cNvPr id="18465" name="Group 211"/>
            <p:cNvGrpSpPr>
              <a:grpSpLocks/>
            </p:cNvGrpSpPr>
            <p:nvPr/>
          </p:nvGrpSpPr>
          <p:grpSpPr bwMode="auto">
            <a:xfrm>
              <a:off x="3936" y="2592"/>
              <a:ext cx="274" cy="288"/>
              <a:chOff x="384" y="2400"/>
              <a:chExt cx="335" cy="352"/>
            </a:xfrm>
          </p:grpSpPr>
          <p:grpSp>
            <p:nvGrpSpPr>
              <p:cNvPr id="18494" name="Group 212"/>
              <p:cNvGrpSpPr>
                <a:grpSpLocks/>
              </p:cNvGrpSpPr>
              <p:nvPr/>
            </p:nvGrpSpPr>
            <p:grpSpPr bwMode="auto">
              <a:xfrm>
                <a:off x="384" y="2519"/>
                <a:ext cx="335" cy="233"/>
                <a:chOff x="648" y="384"/>
                <a:chExt cx="326" cy="227"/>
              </a:xfrm>
            </p:grpSpPr>
            <p:sp>
              <p:nvSpPr>
                <p:cNvPr id="18496" name="Freeform 213"/>
                <p:cNvSpPr>
                  <a:spLocks/>
                </p:cNvSpPr>
                <p:nvPr/>
              </p:nvSpPr>
              <p:spPr bwMode="auto">
                <a:xfrm>
                  <a:off x="648" y="448"/>
                  <a:ext cx="55" cy="98"/>
                </a:xfrm>
                <a:custGeom>
                  <a:avLst/>
                  <a:gdLst>
                    <a:gd name="T0" fmla="*/ 0 w 55"/>
                    <a:gd name="T1" fmla="*/ 0 h 98"/>
                    <a:gd name="T2" fmla="*/ 2 w 55"/>
                    <a:gd name="T3" fmla="*/ 61 h 98"/>
                    <a:gd name="T4" fmla="*/ 54 w 55"/>
                    <a:gd name="T5" fmla="*/ 98 h 98"/>
                    <a:gd name="T6" fmla="*/ 55 w 55"/>
                    <a:gd name="T7" fmla="*/ 35 h 98"/>
                    <a:gd name="T8" fmla="*/ 0 w 55"/>
                    <a:gd name="T9" fmla="*/ 0 h 98"/>
                    <a:gd name="T10" fmla="*/ 0 60000 65536"/>
                    <a:gd name="T11" fmla="*/ 0 60000 65536"/>
                    <a:gd name="T12" fmla="*/ 0 60000 65536"/>
                    <a:gd name="T13" fmla="*/ 0 60000 65536"/>
                    <a:gd name="T14" fmla="*/ 0 60000 65536"/>
                    <a:gd name="T15" fmla="*/ 0 w 55"/>
                    <a:gd name="T16" fmla="*/ 0 h 98"/>
                    <a:gd name="T17" fmla="*/ 55 w 55"/>
                    <a:gd name="T18" fmla="*/ 98 h 98"/>
                  </a:gdLst>
                  <a:ahLst/>
                  <a:cxnLst>
                    <a:cxn ang="T10">
                      <a:pos x="T0" y="T1"/>
                    </a:cxn>
                    <a:cxn ang="T11">
                      <a:pos x="T2" y="T3"/>
                    </a:cxn>
                    <a:cxn ang="T12">
                      <a:pos x="T4" y="T5"/>
                    </a:cxn>
                    <a:cxn ang="T13">
                      <a:pos x="T6" y="T7"/>
                    </a:cxn>
                    <a:cxn ang="T14">
                      <a:pos x="T8" y="T9"/>
                    </a:cxn>
                  </a:cxnLst>
                  <a:rect l="T15" t="T16" r="T17" b="T18"/>
                  <a:pathLst>
                    <a:path w="55" h="98">
                      <a:moveTo>
                        <a:pt x="0" y="0"/>
                      </a:moveTo>
                      <a:lnTo>
                        <a:pt x="2" y="61"/>
                      </a:lnTo>
                      <a:lnTo>
                        <a:pt x="54" y="98"/>
                      </a:lnTo>
                      <a:lnTo>
                        <a:pt x="55" y="35"/>
                      </a:lnTo>
                      <a:lnTo>
                        <a:pt x="0" y="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97" name="Freeform 214"/>
                <p:cNvSpPr>
                  <a:spLocks/>
                </p:cNvSpPr>
                <p:nvPr/>
              </p:nvSpPr>
              <p:spPr bwMode="auto">
                <a:xfrm>
                  <a:off x="703" y="483"/>
                  <a:ext cx="54" cy="96"/>
                </a:xfrm>
                <a:custGeom>
                  <a:avLst/>
                  <a:gdLst>
                    <a:gd name="T0" fmla="*/ 0 w 54"/>
                    <a:gd name="T1" fmla="*/ 0 h 96"/>
                    <a:gd name="T2" fmla="*/ 1 w 54"/>
                    <a:gd name="T3" fmla="*/ 63 h 96"/>
                    <a:gd name="T4" fmla="*/ 53 w 54"/>
                    <a:gd name="T5" fmla="*/ 96 h 96"/>
                    <a:gd name="T6" fmla="*/ 54 w 54"/>
                    <a:gd name="T7" fmla="*/ 35 h 96"/>
                    <a:gd name="T8" fmla="*/ 0 w 54"/>
                    <a:gd name="T9" fmla="*/ 0 h 96"/>
                    <a:gd name="T10" fmla="*/ 0 60000 65536"/>
                    <a:gd name="T11" fmla="*/ 0 60000 65536"/>
                    <a:gd name="T12" fmla="*/ 0 60000 65536"/>
                    <a:gd name="T13" fmla="*/ 0 60000 65536"/>
                    <a:gd name="T14" fmla="*/ 0 60000 65536"/>
                    <a:gd name="T15" fmla="*/ 0 w 54"/>
                    <a:gd name="T16" fmla="*/ 0 h 96"/>
                    <a:gd name="T17" fmla="*/ 54 w 54"/>
                    <a:gd name="T18" fmla="*/ 96 h 96"/>
                  </a:gdLst>
                  <a:ahLst/>
                  <a:cxnLst>
                    <a:cxn ang="T10">
                      <a:pos x="T0" y="T1"/>
                    </a:cxn>
                    <a:cxn ang="T11">
                      <a:pos x="T2" y="T3"/>
                    </a:cxn>
                    <a:cxn ang="T12">
                      <a:pos x="T4" y="T5"/>
                    </a:cxn>
                    <a:cxn ang="T13">
                      <a:pos x="T6" y="T7"/>
                    </a:cxn>
                    <a:cxn ang="T14">
                      <a:pos x="T8" y="T9"/>
                    </a:cxn>
                  </a:cxnLst>
                  <a:rect l="T15" t="T16" r="T17" b="T18"/>
                  <a:pathLst>
                    <a:path w="54" h="96">
                      <a:moveTo>
                        <a:pt x="0" y="0"/>
                      </a:moveTo>
                      <a:lnTo>
                        <a:pt x="1" y="63"/>
                      </a:lnTo>
                      <a:lnTo>
                        <a:pt x="53" y="96"/>
                      </a:lnTo>
                      <a:lnTo>
                        <a:pt x="54" y="35"/>
                      </a:lnTo>
                      <a:lnTo>
                        <a:pt x="0" y="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98" name="Freeform 215"/>
                <p:cNvSpPr>
                  <a:spLocks/>
                </p:cNvSpPr>
                <p:nvPr/>
              </p:nvSpPr>
              <p:spPr bwMode="auto">
                <a:xfrm>
                  <a:off x="757" y="518"/>
                  <a:ext cx="55" cy="93"/>
                </a:xfrm>
                <a:custGeom>
                  <a:avLst/>
                  <a:gdLst>
                    <a:gd name="T0" fmla="*/ 0 w 55"/>
                    <a:gd name="T1" fmla="*/ 0 h 93"/>
                    <a:gd name="T2" fmla="*/ 1 w 55"/>
                    <a:gd name="T3" fmla="*/ 60 h 93"/>
                    <a:gd name="T4" fmla="*/ 55 w 55"/>
                    <a:gd name="T5" fmla="*/ 93 h 93"/>
                    <a:gd name="T6" fmla="*/ 55 w 55"/>
                    <a:gd name="T7" fmla="*/ 35 h 93"/>
                    <a:gd name="T8" fmla="*/ 0 w 55"/>
                    <a:gd name="T9" fmla="*/ 0 h 93"/>
                    <a:gd name="T10" fmla="*/ 0 60000 65536"/>
                    <a:gd name="T11" fmla="*/ 0 60000 65536"/>
                    <a:gd name="T12" fmla="*/ 0 60000 65536"/>
                    <a:gd name="T13" fmla="*/ 0 60000 65536"/>
                    <a:gd name="T14" fmla="*/ 0 60000 65536"/>
                    <a:gd name="T15" fmla="*/ 0 w 55"/>
                    <a:gd name="T16" fmla="*/ 0 h 93"/>
                    <a:gd name="T17" fmla="*/ 55 w 55"/>
                    <a:gd name="T18" fmla="*/ 93 h 93"/>
                  </a:gdLst>
                  <a:ahLst/>
                  <a:cxnLst>
                    <a:cxn ang="T10">
                      <a:pos x="T0" y="T1"/>
                    </a:cxn>
                    <a:cxn ang="T11">
                      <a:pos x="T2" y="T3"/>
                    </a:cxn>
                    <a:cxn ang="T12">
                      <a:pos x="T4" y="T5"/>
                    </a:cxn>
                    <a:cxn ang="T13">
                      <a:pos x="T6" y="T7"/>
                    </a:cxn>
                    <a:cxn ang="T14">
                      <a:pos x="T8" y="T9"/>
                    </a:cxn>
                  </a:cxnLst>
                  <a:rect l="T15" t="T16" r="T17" b="T18"/>
                  <a:pathLst>
                    <a:path w="55" h="93">
                      <a:moveTo>
                        <a:pt x="0" y="0"/>
                      </a:moveTo>
                      <a:lnTo>
                        <a:pt x="1" y="60"/>
                      </a:lnTo>
                      <a:lnTo>
                        <a:pt x="55" y="93"/>
                      </a:lnTo>
                      <a:lnTo>
                        <a:pt x="55" y="35"/>
                      </a:lnTo>
                      <a:lnTo>
                        <a:pt x="0" y="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99" name="Freeform 216"/>
                <p:cNvSpPr>
                  <a:spLocks/>
                </p:cNvSpPr>
                <p:nvPr/>
              </p:nvSpPr>
              <p:spPr bwMode="auto">
                <a:xfrm>
                  <a:off x="809" y="503"/>
                  <a:ext cx="88" cy="108"/>
                </a:xfrm>
                <a:custGeom>
                  <a:avLst/>
                  <a:gdLst>
                    <a:gd name="T0" fmla="*/ 3 w 88"/>
                    <a:gd name="T1" fmla="*/ 108 h 108"/>
                    <a:gd name="T2" fmla="*/ 87 w 88"/>
                    <a:gd name="T3" fmla="*/ 63 h 108"/>
                    <a:gd name="T4" fmla="*/ 88 w 88"/>
                    <a:gd name="T5" fmla="*/ 0 h 108"/>
                    <a:gd name="T6" fmla="*/ 0 w 88"/>
                    <a:gd name="T7" fmla="*/ 46 h 108"/>
                    <a:gd name="T8" fmla="*/ 3 w 88"/>
                    <a:gd name="T9" fmla="*/ 108 h 108"/>
                    <a:gd name="T10" fmla="*/ 0 60000 65536"/>
                    <a:gd name="T11" fmla="*/ 0 60000 65536"/>
                    <a:gd name="T12" fmla="*/ 0 60000 65536"/>
                    <a:gd name="T13" fmla="*/ 0 60000 65536"/>
                    <a:gd name="T14" fmla="*/ 0 60000 65536"/>
                    <a:gd name="T15" fmla="*/ 0 w 88"/>
                    <a:gd name="T16" fmla="*/ 0 h 108"/>
                    <a:gd name="T17" fmla="*/ 88 w 88"/>
                    <a:gd name="T18" fmla="*/ 108 h 108"/>
                  </a:gdLst>
                  <a:ahLst/>
                  <a:cxnLst>
                    <a:cxn ang="T10">
                      <a:pos x="T0" y="T1"/>
                    </a:cxn>
                    <a:cxn ang="T11">
                      <a:pos x="T2" y="T3"/>
                    </a:cxn>
                    <a:cxn ang="T12">
                      <a:pos x="T4" y="T5"/>
                    </a:cxn>
                    <a:cxn ang="T13">
                      <a:pos x="T6" y="T7"/>
                    </a:cxn>
                    <a:cxn ang="T14">
                      <a:pos x="T8" y="T9"/>
                    </a:cxn>
                  </a:cxnLst>
                  <a:rect l="T15" t="T16" r="T17" b="T18"/>
                  <a:pathLst>
                    <a:path w="88" h="108">
                      <a:moveTo>
                        <a:pt x="3" y="108"/>
                      </a:moveTo>
                      <a:lnTo>
                        <a:pt x="87" y="63"/>
                      </a:lnTo>
                      <a:lnTo>
                        <a:pt x="88" y="0"/>
                      </a:lnTo>
                      <a:lnTo>
                        <a:pt x="0" y="46"/>
                      </a:lnTo>
                      <a:lnTo>
                        <a:pt x="3" y="108"/>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500" name="Freeform 217"/>
                <p:cNvSpPr>
                  <a:spLocks/>
                </p:cNvSpPr>
                <p:nvPr/>
              </p:nvSpPr>
              <p:spPr bwMode="auto">
                <a:xfrm>
                  <a:off x="897" y="464"/>
                  <a:ext cx="77" cy="100"/>
                </a:xfrm>
                <a:custGeom>
                  <a:avLst/>
                  <a:gdLst>
                    <a:gd name="T0" fmla="*/ 0 w 77"/>
                    <a:gd name="T1" fmla="*/ 100 h 100"/>
                    <a:gd name="T2" fmla="*/ 77 w 77"/>
                    <a:gd name="T3" fmla="*/ 63 h 100"/>
                    <a:gd name="T4" fmla="*/ 77 w 77"/>
                    <a:gd name="T5" fmla="*/ 0 h 100"/>
                    <a:gd name="T6" fmla="*/ 0 w 77"/>
                    <a:gd name="T7" fmla="*/ 39 h 100"/>
                    <a:gd name="T8" fmla="*/ 0 w 77"/>
                    <a:gd name="T9" fmla="*/ 100 h 100"/>
                    <a:gd name="T10" fmla="*/ 0 60000 65536"/>
                    <a:gd name="T11" fmla="*/ 0 60000 65536"/>
                    <a:gd name="T12" fmla="*/ 0 60000 65536"/>
                    <a:gd name="T13" fmla="*/ 0 60000 65536"/>
                    <a:gd name="T14" fmla="*/ 0 60000 65536"/>
                    <a:gd name="T15" fmla="*/ 0 w 77"/>
                    <a:gd name="T16" fmla="*/ 0 h 100"/>
                    <a:gd name="T17" fmla="*/ 77 w 77"/>
                    <a:gd name="T18" fmla="*/ 100 h 100"/>
                  </a:gdLst>
                  <a:ahLst/>
                  <a:cxnLst>
                    <a:cxn ang="T10">
                      <a:pos x="T0" y="T1"/>
                    </a:cxn>
                    <a:cxn ang="T11">
                      <a:pos x="T2" y="T3"/>
                    </a:cxn>
                    <a:cxn ang="T12">
                      <a:pos x="T4" y="T5"/>
                    </a:cxn>
                    <a:cxn ang="T13">
                      <a:pos x="T6" y="T7"/>
                    </a:cxn>
                    <a:cxn ang="T14">
                      <a:pos x="T8" y="T9"/>
                    </a:cxn>
                  </a:cxnLst>
                  <a:rect l="T15" t="T16" r="T17" b="T18"/>
                  <a:pathLst>
                    <a:path w="77" h="100">
                      <a:moveTo>
                        <a:pt x="0" y="100"/>
                      </a:moveTo>
                      <a:lnTo>
                        <a:pt x="77" y="63"/>
                      </a:lnTo>
                      <a:lnTo>
                        <a:pt x="77" y="0"/>
                      </a:lnTo>
                      <a:lnTo>
                        <a:pt x="0" y="39"/>
                      </a:lnTo>
                      <a:lnTo>
                        <a:pt x="0" y="10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501" name="Freeform 218"/>
                <p:cNvSpPr>
                  <a:spLocks/>
                </p:cNvSpPr>
                <p:nvPr/>
              </p:nvSpPr>
              <p:spPr bwMode="auto">
                <a:xfrm>
                  <a:off x="755" y="479"/>
                  <a:ext cx="139" cy="70"/>
                </a:xfrm>
                <a:custGeom>
                  <a:avLst/>
                  <a:gdLst>
                    <a:gd name="T0" fmla="*/ 54 w 139"/>
                    <a:gd name="T1" fmla="*/ 70 h 70"/>
                    <a:gd name="T2" fmla="*/ 0 w 139"/>
                    <a:gd name="T3" fmla="*/ 39 h 70"/>
                    <a:gd name="T4" fmla="*/ 84 w 139"/>
                    <a:gd name="T5" fmla="*/ 0 h 70"/>
                    <a:gd name="T6" fmla="*/ 139 w 139"/>
                    <a:gd name="T7" fmla="*/ 27 h 70"/>
                    <a:gd name="T8" fmla="*/ 54 w 139"/>
                    <a:gd name="T9" fmla="*/ 70 h 70"/>
                    <a:gd name="T10" fmla="*/ 0 60000 65536"/>
                    <a:gd name="T11" fmla="*/ 0 60000 65536"/>
                    <a:gd name="T12" fmla="*/ 0 60000 65536"/>
                    <a:gd name="T13" fmla="*/ 0 60000 65536"/>
                    <a:gd name="T14" fmla="*/ 0 60000 65536"/>
                    <a:gd name="T15" fmla="*/ 0 w 139"/>
                    <a:gd name="T16" fmla="*/ 0 h 70"/>
                    <a:gd name="T17" fmla="*/ 139 w 139"/>
                    <a:gd name="T18" fmla="*/ 70 h 70"/>
                  </a:gdLst>
                  <a:ahLst/>
                  <a:cxnLst>
                    <a:cxn ang="T10">
                      <a:pos x="T0" y="T1"/>
                    </a:cxn>
                    <a:cxn ang="T11">
                      <a:pos x="T2" y="T3"/>
                    </a:cxn>
                    <a:cxn ang="T12">
                      <a:pos x="T4" y="T5"/>
                    </a:cxn>
                    <a:cxn ang="T13">
                      <a:pos x="T6" y="T7"/>
                    </a:cxn>
                    <a:cxn ang="T14">
                      <a:pos x="T8" y="T9"/>
                    </a:cxn>
                  </a:cxnLst>
                  <a:rect l="T15" t="T16" r="T17" b="T18"/>
                  <a:pathLst>
                    <a:path w="139" h="70">
                      <a:moveTo>
                        <a:pt x="54" y="70"/>
                      </a:moveTo>
                      <a:lnTo>
                        <a:pt x="0" y="39"/>
                      </a:lnTo>
                      <a:lnTo>
                        <a:pt x="84" y="0"/>
                      </a:lnTo>
                      <a:lnTo>
                        <a:pt x="139" y="27"/>
                      </a:lnTo>
                      <a:lnTo>
                        <a:pt x="54" y="7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502" name="Freeform 219"/>
                <p:cNvSpPr>
                  <a:spLocks/>
                </p:cNvSpPr>
                <p:nvPr/>
              </p:nvSpPr>
              <p:spPr bwMode="auto">
                <a:xfrm>
                  <a:off x="837" y="437"/>
                  <a:ext cx="135" cy="67"/>
                </a:xfrm>
                <a:custGeom>
                  <a:avLst/>
                  <a:gdLst>
                    <a:gd name="T0" fmla="*/ 53 w 135"/>
                    <a:gd name="T1" fmla="*/ 67 h 67"/>
                    <a:gd name="T2" fmla="*/ 0 w 135"/>
                    <a:gd name="T3" fmla="*/ 43 h 67"/>
                    <a:gd name="T4" fmla="*/ 87 w 135"/>
                    <a:gd name="T5" fmla="*/ 0 h 67"/>
                    <a:gd name="T6" fmla="*/ 135 w 135"/>
                    <a:gd name="T7" fmla="*/ 27 h 67"/>
                    <a:gd name="T8" fmla="*/ 53 w 135"/>
                    <a:gd name="T9" fmla="*/ 67 h 67"/>
                    <a:gd name="T10" fmla="*/ 0 60000 65536"/>
                    <a:gd name="T11" fmla="*/ 0 60000 65536"/>
                    <a:gd name="T12" fmla="*/ 0 60000 65536"/>
                    <a:gd name="T13" fmla="*/ 0 60000 65536"/>
                    <a:gd name="T14" fmla="*/ 0 60000 65536"/>
                    <a:gd name="T15" fmla="*/ 0 w 135"/>
                    <a:gd name="T16" fmla="*/ 0 h 67"/>
                    <a:gd name="T17" fmla="*/ 135 w 135"/>
                    <a:gd name="T18" fmla="*/ 67 h 67"/>
                  </a:gdLst>
                  <a:ahLst/>
                  <a:cxnLst>
                    <a:cxn ang="T10">
                      <a:pos x="T0" y="T1"/>
                    </a:cxn>
                    <a:cxn ang="T11">
                      <a:pos x="T2" y="T3"/>
                    </a:cxn>
                    <a:cxn ang="T12">
                      <a:pos x="T4" y="T5"/>
                    </a:cxn>
                    <a:cxn ang="T13">
                      <a:pos x="T6" y="T7"/>
                    </a:cxn>
                    <a:cxn ang="T14">
                      <a:pos x="T8" y="T9"/>
                    </a:cxn>
                  </a:cxnLst>
                  <a:rect l="T15" t="T16" r="T17" b="T18"/>
                  <a:pathLst>
                    <a:path w="135" h="67">
                      <a:moveTo>
                        <a:pt x="53" y="67"/>
                      </a:moveTo>
                      <a:lnTo>
                        <a:pt x="0" y="43"/>
                      </a:lnTo>
                      <a:lnTo>
                        <a:pt x="87" y="0"/>
                      </a:lnTo>
                      <a:lnTo>
                        <a:pt x="135" y="27"/>
                      </a:lnTo>
                      <a:lnTo>
                        <a:pt x="53" y="67"/>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503" name="Freeform 220"/>
                <p:cNvSpPr>
                  <a:spLocks/>
                </p:cNvSpPr>
                <p:nvPr/>
              </p:nvSpPr>
              <p:spPr bwMode="auto">
                <a:xfrm>
                  <a:off x="708" y="451"/>
                  <a:ext cx="138" cy="65"/>
                </a:xfrm>
                <a:custGeom>
                  <a:avLst/>
                  <a:gdLst>
                    <a:gd name="T0" fmla="*/ 50 w 138"/>
                    <a:gd name="T1" fmla="*/ 65 h 65"/>
                    <a:gd name="T2" fmla="*/ 0 w 138"/>
                    <a:gd name="T3" fmla="*/ 34 h 65"/>
                    <a:gd name="T4" fmla="*/ 83 w 138"/>
                    <a:gd name="T5" fmla="*/ 0 h 65"/>
                    <a:gd name="T6" fmla="*/ 138 w 138"/>
                    <a:gd name="T7" fmla="*/ 27 h 65"/>
                    <a:gd name="T8" fmla="*/ 50 w 138"/>
                    <a:gd name="T9" fmla="*/ 65 h 65"/>
                    <a:gd name="T10" fmla="*/ 0 60000 65536"/>
                    <a:gd name="T11" fmla="*/ 0 60000 65536"/>
                    <a:gd name="T12" fmla="*/ 0 60000 65536"/>
                    <a:gd name="T13" fmla="*/ 0 60000 65536"/>
                    <a:gd name="T14" fmla="*/ 0 60000 65536"/>
                    <a:gd name="T15" fmla="*/ 0 w 138"/>
                    <a:gd name="T16" fmla="*/ 0 h 65"/>
                    <a:gd name="T17" fmla="*/ 138 w 138"/>
                    <a:gd name="T18" fmla="*/ 65 h 65"/>
                  </a:gdLst>
                  <a:ahLst/>
                  <a:cxnLst>
                    <a:cxn ang="T10">
                      <a:pos x="T0" y="T1"/>
                    </a:cxn>
                    <a:cxn ang="T11">
                      <a:pos x="T2" y="T3"/>
                    </a:cxn>
                    <a:cxn ang="T12">
                      <a:pos x="T4" y="T5"/>
                    </a:cxn>
                    <a:cxn ang="T13">
                      <a:pos x="T6" y="T7"/>
                    </a:cxn>
                    <a:cxn ang="T14">
                      <a:pos x="T8" y="T9"/>
                    </a:cxn>
                  </a:cxnLst>
                  <a:rect l="T15" t="T16" r="T17" b="T18"/>
                  <a:pathLst>
                    <a:path w="138" h="65">
                      <a:moveTo>
                        <a:pt x="50" y="65"/>
                      </a:moveTo>
                      <a:lnTo>
                        <a:pt x="0" y="34"/>
                      </a:lnTo>
                      <a:lnTo>
                        <a:pt x="83" y="0"/>
                      </a:lnTo>
                      <a:lnTo>
                        <a:pt x="138" y="27"/>
                      </a:lnTo>
                      <a:lnTo>
                        <a:pt x="50" y="65"/>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504" name="Freeform 221"/>
                <p:cNvSpPr>
                  <a:spLocks/>
                </p:cNvSpPr>
                <p:nvPr/>
              </p:nvSpPr>
              <p:spPr bwMode="auto">
                <a:xfrm>
                  <a:off x="786" y="408"/>
                  <a:ext cx="138" cy="71"/>
                </a:xfrm>
                <a:custGeom>
                  <a:avLst/>
                  <a:gdLst>
                    <a:gd name="T0" fmla="*/ 50 w 138"/>
                    <a:gd name="T1" fmla="*/ 71 h 71"/>
                    <a:gd name="T2" fmla="*/ 0 w 138"/>
                    <a:gd name="T3" fmla="*/ 44 h 71"/>
                    <a:gd name="T4" fmla="*/ 75 w 138"/>
                    <a:gd name="T5" fmla="*/ 0 h 71"/>
                    <a:gd name="T6" fmla="*/ 138 w 138"/>
                    <a:gd name="T7" fmla="*/ 28 h 71"/>
                    <a:gd name="T8" fmla="*/ 50 w 138"/>
                    <a:gd name="T9" fmla="*/ 71 h 71"/>
                    <a:gd name="T10" fmla="*/ 0 60000 65536"/>
                    <a:gd name="T11" fmla="*/ 0 60000 65536"/>
                    <a:gd name="T12" fmla="*/ 0 60000 65536"/>
                    <a:gd name="T13" fmla="*/ 0 60000 65536"/>
                    <a:gd name="T14" fmla="*/ 0 60000 65536"/>
                    <a:gd name="T15" fmla="*/ 0 w 138"/>
                    <a:gd name="T16" fmla="*/ 0 h 71"/>
                    <a:gd name="T17" fmla="*/ 138 w 138"/>
                    <a:gd name="T18" fmla="*/ 71 h 71"/>
                  </a:gdLst>
                  <a:ahLst/>
                  <a:cxnLst>
                    <a:cxn ang="T10">
                      <a:pos x="T0" y="T1"/>
                    </a:cxn>
                    <a:cxn ang="T11">
                      <a:pos x="T2" y="T3"/>
                    </a:cxn>
                    <a:cxn ang="T12">
                      <a:pos x="T4" y="T5"/>
                    </a:cxn>
                    <a:cxn ang="T13">
                      <a:pos x="T6" y="T7"/>
                    </a:cxn>
                    <a:cxn ang="T14">
                      <a:pos x="T8" y="T9"/>
                    </a:cxn>
                  </a:cxnLst>
                  <a:rect l="T15" t="T16" r="T17" b="T18"/>
                  <a:pathLst>
                    <a:path w="138" h="71">
                      <a:moveTo>
                        <a:pt x="50" y="71"/>
                      </a:moveTo>
                      <a:lnTo>
                        <a:pt x="0" y="44"/>
                      </a:lnTo>
                      <a:lnTo>
                        <a:pt x="75" y="0"/>
                      </a:lnTo>
                      <a:lnTo>
                        <a:pt x="138" y="28"/>
                      </a:lnTo>
                      <a:lnTo>
                        <a:pt x="50" y="71"/>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505" name="Freeform 222"/>
                <p:cNvSpPr>
                  <a:spLocks/>
                </p:cNvSpPr>
                <p:nvPr/>
              </p:nvSpPr>
              <p:spPr bwMode="auto">
                <a:xfrm>
                  <a:off x="650" y="417"/>
                  <a:ext cx="136" cy="68"/>
                </a:xfrm>
                <a:custGeom>
                  <a:avLst/>
                  <a:gdLst>
                    <a:gd name="T0" fmla="*/ 57 w 136"/>
                    <a:gd name="T1" fmla="*/ 68 h 68"/>
                    <a:gd name="T2" fmla="*/ 0 w 136"/>
                    <a:gd name="T3" fmla="*/ 35 h 68"/>
                    <a:gd name="T4" fmla="*/ 87 w 136"/>
                    <a:gd name="T5" fmla="*/ 0 h 68"/>
                    <a:gd name="T6" fmla="*/ 136 w 136"/>
                    <a:gd name="T7" fmla="*/ 35 h 68"/>
                    <a:gd name="T8" fmla="*/ 57 w 136"/>
                    <a:gd name="T9" fmla="*/ 68 h 68"/>
                    <a:gd name="T10" fmla="*/ 0 60000 65536"/>
                    <a:gd name="T11" fmla="*/ 0 60000 65536"/>
                    <a:gd name="T12" fmla="*/ 0 60000 65536"/>
                    <a:gd name="T13" fmla="*/ 0 60000 65536"/>
                    <a:gd name="T14" fmla="*/ 0 60000 65536"/>
                    <a:gd name="T15" fmla="*/ 0 w 136"/>
                    <a:gd name="T16" fmla="*/ 0 h 68"/>
                    <a:gd name="T17" fmla="*/ 136 w 136"/>
                    <a:gd name="T18" fmla="*/ 68 h 68"/>
                  </a:gdLst>
                  <a:ahLst/>
                  <a:cxnLst>
                    <a:cxn ang="T10">
                      <a:pos x="T0" y="T1"/>
                    </a:cxn>
                    <a:cxn ang="T11">
                      <a:pos x="T2" y="T3"/>
                    </a:cxn>
                    <a:cxn ang="T12">
                      <a:pos x="T4" y="T5"/>
                    </a:cxn>
                    <a:cxn ang="T13">
                      <a:pos x="T6" y="T7"/>
                    </a:cxn>
                    <a:cxn ang="T14">
                      <a:pos x="T8" y="T9"/>
                    </a:cxn>
                  </a:cxnLst>
                  <a:rect l="T15" t="T16" r="T17" b="T18"/>
                  <a:pathLst>
                    <a:path w="136" h="68">
                      <a:moveTo>
                        <a:pt x="57" y="68"/>
                      </a:moveTo>
                      <a:lnTo>
                        <a:pt x="0" y="35"/>
                      </a:lnTo>
                      <a:lnTo>
                        <a:pt x="87" y="0"/>
                      </a:lnTo>
                      <a:lnTo>
                        <a:pt x="136" y="35"/>
                      </a:lnTo>
                      <a:lnTo>
                        <a:pt x="57" y="68"/>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506" name="Freeform 223"/>
                <p:cNvSpPr>
                  <a:spLocks/>
                </p:cNvSpPr>
                <p:nvPr/>
              </p:nvSpPr>
              <p:spPr bwMode="auto">
                <a:xfrm>
                  <a:off x="734" y="384"/>
                  <a:ext cx="130" cy="66"/>
                </a:xfrm>
                <a:custGeom>
                  <a:avLst/>
                  <a:gdLst>
                    <a:gd name="T0" fmla="*/ 51 w 130"/>
                    <a:gd name="T1" fmla="*/ 66 h 66"/>
                    <a:gd name="T2" fmla="*/ 0 w 130"/>
                    <a:gd name="T3" fmla="*/ 35 h 66"/>
                    <a:gd name="T4" fmla="*/ 85 w 130"/>
                    <a:gd name="T5" fmla="*/ 0 h 66"/>
                    <a:gd name="T6" fmla="*/ 130 w 130"/>
                    <a:gd name="T7" fmla="*/ 29 h 66"/>
                    <a:gd name="T8" fmla="*/ 51 w 130"/>
                    <a:gd name="T9" fmla="*/ 66 h 66"/>
                    <a:gd name="T10" fmla="*/ 0 60000 65536"/>
                    <a:gd name="T11" fmla="*/ 0 60000 65536"/>
                    <a:gd name="T12" fmla="*/ 0 60000 65536"/>
                    <a:gd name="T13" fmla="*/ 0 60000 65536"/>
                    <a:gd name="T14" fmla="*/ 0 60000 65536"/>
                    <a:gd name="T15" fmla="*/ 0 w 130"/>
                    <a:gd name="T16" fmla="*/ 0 h 66"/>
                    <a:gd name="T17" fmla="*/ 130 w 130"/>
                    <a:gd name="T18" fmla="*/ 66 h 66"/>
                  </a:gdLst>
                  <a:ahLst/>
                  <a:cxnLst>
                    <a:cxn ang="T10">
                      <a:pos x="T0" y="T1"/>
                    </a:cxn>
                    <a:cxn ang="T11">
                      <a:pos x="T2" y="T3"/>
                    </a:cxn>
                    <a:cxn ang="T12">
                      <a:pos x="T4" y="T5"/>
                    </a:cxn>
                    <a:cxn ang="T13">
                      <a:pos x="T6" y="T7"/>
                    </a:cxn>
                    <a:cxn ang="T14">
                      <a:pos x="T8" y="T9"/>
                    </a:cxn>
                  </a:cxnLst>
                  <a:rect l="T15" t="T16" r="T17" b="T18"/>
                  <a:pathLst>
                    <a:path w="130" h="66">
                      <a:moveTo>
                        <a:pt x="51" y="66"/>
                      </a:moveTo>
                      <a:lnTo>
                        <a:pt x="0" y="35"/>
                      </a:lnTo>
                      <a:lnTo>
                        <a:pt x="85" y="0"/>
                      </a:lnTo>
                      <a:lnTo>
                        <a:pt x="130" y="29"/>
                      </a:lnTo>
                      <a:lnTo>
                        <a:pt x="51" y="66"/>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grpSp>
          <p:pic>
            <p:nvPicPr>
              <p:cNvPr id="18495" name="Picture 224" descr="Graphic1"/>
              <p:cNvPicPr>
                <a:picLocks noChangeAspect="1" noChangeArrowheads="1"/>
              </p:cNvPicPr>
              <p:nvPr/>
            </p:nvPicPr>
            <p:blipFill>
              <a:blip r:embed="rId2" cstate="print"/>
              <a:srcRect/>
              <a:stretch>
                <a:fillRect/>
              </a:stretch>
            </p:blipFill>
            <p:spPr bwMode="auto">
              <a:xfrm>
                <a:off x="432" y="2400"/>
                <a:ext cx="262" cy="232"/>
              </a:xfrm>
              <a:prstGeom prst="rect">
                <a:avLst/>
              </a:prstGeom>
              <a:noFill/>
              <a:ln w="9525">
                <a:noFill/>
                <a:miter lim="800000"/>
                <a:headEnd/>
                <a:tailEnd/>
              </a:ln>
            </p:spPr>
          </p:pic>
        </p:grpSp>
        <p:grpSp>
          <p:nvGrpSpPr>
            <p:cNvPr id="18466" name="Group 225"/>
            <p:cNvGrpSpPr>
              <a:grpSpLocks/>
            </p:cNvGrpSpPr>
            <p:nvPr/>
          </p:nvGrpSpPr>
          <p:grpSpPr bwMode="auto">
            <a:xfrm>
              <a:off x="3950" y="2832"/>
              <a:ext cx="274" cy="288"/>
              <a:chOff x="384" y="2400"/>
              <a:chExt cx="335" cy="352"/>
            </a:xfrm>
          </p:grpSpPr>
          <p:grpSp>
            <p:nvGrpSpPr>
              <p:cNvPr id="18481" name="Group 226"/>
              <p:cNvGrpSpPr>
                <a:grpSpLocks/>
              </p:cNvGrpSpPr>
              <p:nvPr/>
            </p:nvGrpSpPr>
            <p:grpSpPr bwMode="auto">
              <a:xfrm>
                <a:off x="384" y="2519"/>
                <a:ext cx="335" cy="233"/>
                <a:chOff x="648" y="384"/>
                <a:chExt cx="326" cy="227"/>
              </a:xfrm>
            </p:grpSpPr>
            <p:sp>
              <p:nvSpPr>
                <p:cNvPr id="18483" name="Freeform 227"/>
                <p:cNvSpPr>
                  <a:spLocks/>
                </p:cNvSpPr>
                <p:nvPr/>
              </p:nvSpPr>
              <p:spPr bwMode="auto">
                <a:xfrm>
                  <a:off x="648" y="448"/>
                  <a:ext cx="55" cy="98"/>
                </a:xfrm>
                <a:custGeom>
                  <a:avLst/>
                  <a:gdLst>
                    <a:gd name="T0" fmla="*/ 0 w 55"/>
                    <a:gd name="T1" fmla="*/ 0 h 98"/>
                    <a:gd name="T2" fmla="*/ 2 w 55"/>
                    <a:gd name="T3" fmla="*/ 61 h 98"/>
                    <a:gd name="T4" fmla="*/ 54 w 55"/>
                    <a:gd name="T5" fmla="*/ 98 h 98"/>
                    <a:gd name="T6" fmla="*/ 55 w 55"/>
                    <a:gd name="T7" fmla="*/ 35 h 98"/>
                    <a:gd name="T8" fmla="*/ 0 w 55"/>
                    <a:gd name="T9" fmla="*/ 0 h 98"/>
                    <a:gd name="T10" fmla="*/ 0 60000 65536"/>
                    <a:gd name="T11" fmla="*/ 0 60000 65536"/>
                    <a:gd name="T12" fmla="*/ 0 60000 65536"/>
                    <a:gd name="T13" fmla="*/ 0 60000 65536"/>
                    <a:gd name="T14" fmla="*/ 0 60000 65536"/>
                    <a:gd name="T15" fmla="*/ 0 w 55"/>
                    <a:gd name="T16" fmla="*/ 0 h 98"/>
                    <a:gd name="T17" fmla="*/ 55 w 55"/>
                    <a:gd name="T18" fmla="*/ 98 h 98"/>
                  </a:gdLst>
                  <a:ahLst/>
                  <a:cxnLst>
                    <a:cxn ang="T10">
                      <a:pos x="T0" y="T1"/>
                    </a:cxn>
                    <a:cxn ang="T11">
                      <a:pos x="T2" y="T3"/>
                    </a:cxn>
                    <a:cxn ang="T12">
                      <a:pos x="T4" y="T5"/>
                    </a:cxn>
                    <a:cxn ang="T13">
                      <a:pos x="T6" y="T7"/>
                    </a:cxn>
                    <a:cxn ang="T14">
                      <a:pos x="T8" y="T9"/>
                    </a:cxn>
                  </a:cxnLst>
                  <a:rect l="T15" t="T16" r="T17" b="T18"/>
                  <a:pathLst>
                    <a:path w="55" h="98">
                      <a:moveTo>
                        <a:pt x="0" y="0"/>
                      </a:moveTo>
                      <a:lnTo>
                        <a:pt x="2" y="61"/>
                      </a:lnTo>
                      <a:lnTo>
                        <a:pt x="54" y="98"/>
                      </a:lnTo>
                      <a:lnTo>
                        <a:pt x="55" y="35"/>
                      </a:lnTo>
                      <a:lnTo>
                        <a:pt x="0" y="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84" name="Freeform 228"/>
                <p:cNvSpPr>
                  <a:spLocks/>
                </p:cNvSpPr>
                <p:nvPr/>
              </p:nvSpPr>
              <p:spPr bwMode="auto">
                <a:xfrm>
                  <a:off x="703" y="483"/>
                  <a:ext cx="54" cy="96"/>
                </a:xfrm>
                <a:custGeom>
                  <a:avLst/>
                  <a:gdLst>
                    <a:gd name="T0" fmla="*/ 0 w 54"/>
                    <a:gd name="T1" fmla="*/ 0 h 96"/>
                    <a:gd name="T2" fmla="*/ 1 w 54"/>
                    <a:gd name="T3" fmla="*/ 63 h 96"/>
                    <a:gd name="T4" fmla="*/ 53 w 54"/>
                    <a:gd name="T5" fmla="*/ 96 h 96"/>
                    <a:gd name="T6" fmla="*/ 54 w 54"/>
                    <a:gd name="T7" fmla="*/ 35 h 96"/>
                    <a:gd name="T8" fmla="*/ 0 w 54"/>
                    <a:gd name="T9" fmla="*/ 0 h 96"/>
                    <a:gd name="T10" fmla="*/ 0 60000 65536"/>
                    <a:gd name="T11" fmla="*/ 0 60000 65536"/>
                    <a:gd name="T12" fmla="*/ 0 60000 65536"/>
                    <a:gd name="T13" fmla="*/ 0 60000 65536"/>
                    <a:gd name="T14" fmla="*/ 0 60000 65536"/>
                    <a:gd name="T15" fmla="*/ 0 w 54"/>
                    <a:gd name="T16" fmla="*/ 0 h 96"/>
                    <a:gd name="T17" fmla="*/ 54 w 54"/>
                    <a:gd name="T18" fmla="*/ 96 h 96"/>
                  </a:gdLst>
                  <a:ahLst/>
                  <a:cxnLst>
                    <a:cxn ang="T10">
                      <a:pos x="T0" y="T1"/>
                    </a:cxn>
                    <a:cxn ang="T11">
                      <a:pos x="T2" y="T3"/>
                    </a:cxn>
                    <a:cxn ang="T12">
                      <a:pos x="T4" y="T5"/>
                    </a:cxn>
                    <a:cxn ang="T13">
                      <a:pos x="T6" y="T7"/>
                    </a:cxn>
                    <a:cxn ang="T14">
                      <a:pos x="T8" y="T9"/>
                    </a:cxn>
                  </a:cxnLst>
                  <a:rect l="T15" t="T16" r="T17" b="T18"/>
                  <a:pathLst>
                    <a:path w="54" h="96">
                      <a:moveTo>
                        <a:pt x="0" y="0"/>
                      </a:moveTo>
                      <a:lnTo>
                        <a:pt x="1" y="63"/>
                      </a:lnTo>
                      <a:lnTo>
                        <a:pt x="53" y="96"/>
                      </a:lnTo>
                      <a:lnTo>
                        <a:pt x="54" y="35"/>
                      </a:lnTo>
                      <a:lnTo>
                        <a:pt x="0" y="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85" name="Freeform 229"/>
                <p:cNvSpPr>
                  <a:spLocks/>
                </p:cNvSpPr>
                <p:nvPr/>
              </p:nvSpPr>
              <p:spPr bwMode="auto">
                <a:xfrm>
                  <a:off x="757" y="518"/>
                  <a:ext cx="55" cy="93"/>
                </a:xfrm>
                <a:custGeom>
                  <a:avLst/>
                  <a:gdLst>
                    <a:gd name="T0" fmla="*/ 0 w 55"/>
                    <a:gd name="T1" fmla="*/ 0 h 93"/>
                    <a:gd name="T2" fmla="*/ 1 w 55"/>
                    <a:gd name="T3" fmla="*/ 60 h 93"/>
                    <a:gd name="T4" fmla="*/ 55 w 55"/>
                    <a:gd name="T5" fmla="*/ 93 h 93"/>
                    <a:gd name="T6" fmla="*/ 55 w 55"/>
                    <a:gd name="T7" fmla="*/ 35 h 93"/>
                    <a:gd name="T8" fmla="*/ 0 w 55"/>
                    <a:gd name="T9" fmla="*/ 0 h 93"/>
                    <a:gd name="T10" fmla="*/ 0 60000 65536"/>
                    <a:gd name="T11" fmla="*/ 0 60000 65536"/>
                    <a:gd name="T12" fmla="*/ 0 60000 65536"/>
                    <a:gd name="T13" fmla="*/ 0 60000 65536"/>
                    <a:gd name="T14" fmla="*/ 0 60000 65536"/>
                    <a:gd name="T15" fmla="*/ 0 w 55"/>
                    <a:gd name="T16" fmla="*/ 0 h 93"/>
                    <a:gd name="T17" fmla="*/ 55 w 55"/>
                    <a:gd name="T18" fmla="*/ 93 h 93"/>
                  </a:gdLst>
                  <a:ahLst/>
                  <a:cxnLst>
                    <a:cxn ang="T10">
                      <a:pos x="T0" y="T1"/>
                    </a:cxn>
                    <a:cxn ang="T11">
                      <a:pos x="T2" y="T3"/>
                    </a:cxn>
                    <a:cxn ang="T12">
                      <a:pos x="T4" y="T5"/>
                    </a:cxn>
                    <a:cxn ang="T13">
                      <a:pos x="T6" y="T7"/>
                    </a:cxn>
                    <a:cxn ang="T14">
                      <a:pos x="T8" y="T9"/>
                    </a:cxn>
                  </a:cxnLst>
                  <a:rect l="T15" t="T16" r="T17" b="T18"/>
                  <a:pathLst>
                    <a:path w="55" h="93">
                      <a:moveTo>
                        <a:pt x="0" y="0"/>
                      </a:moveTo>
                      <a:lnTo>
                        <a:pt x="1" y="60"/>
                      </a:lnTo>
                      <a:lnTo>
                        <a:pt x="55" y="93"/>
                      </a:lnTo>
                      <a:lnTo>
                        <a:pt x="55" y="35"/>
                      </a:lnTo>
                      <a:lnTo>
                        <a:pt x="0" y="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86" name="Freeform 230"/>
                <p:cNvSpPr>
                  <a:spLocks/>
                </p:cNvSpPr>
                <p:nvPr/>
              </p:nvSpPr>
              <p:spPr bwMode="auto">
                <a:xfrm>
                  <a:off x="809" y="503"/>
                  <a:ext cx="88" cy="108"/>
                </a:xfrm>
                <a:custGeom>
                  <a:avLst/>
                  <a:gdLst>
                    <a:gd name="T0" fmla="*/ 3 w 88"/>
                    <a:gd name="T1" fmla="*/ 108 h 108"/>
                    <a:gd name="T2" fmla="*/ 87 w 88"/>
                    <a:gd name="T3" fmla="*/ 63 h 108"/>
                    <a:gd name="T4" fmla="*/ 88 w 88"/>
                    <a:gd name="T5" fmla="*/ 0 h 108"/>
                    <a:gd name="T6" fmla="*/ 0 w 88"/>
                    <a:gd name="T7" fmla="*/ 46 h 108"/>
                    <a:gd name="T8" fmla="*/ 3 w 88"/>
                    <a:gd name="T9" fmla="*/ 108 h 108"/>
                    <a:gd name="T10" fmla="*/ 0 60000 65536"/>
                    <a:gd name="T11" fmla="*/ 0 60000 65536"/>
                    <a:gd name="T12" fmla="*/ 0 60000 65536"/>
                    <a:gd name="T13" fmla="*/ 0 60000 65536"/>
                    <a:gd name="T14" fmla="*/ 0 60000 65536"/>
                    <a:gd name="T15" fmla="*/ 0 w 88"/>
                    <a:gd name="T16" fmla="*/ 0 h 108"/>
                    <a:gd name="T17" fmla="*/ 88 w 88"/>
                    <a:gd name="T18" fmla="*/ 108 h 108"/>
                  </a:gdLst>
                  <a:ahLst/>
                  <a:cxnLst>
                    <a:cxn ang="T10">
                      <a:pos x="T0" y="T1"/>
                    </a:cxn>
                    <a:cxn ang="T11">
                      <a:pos x="T2" y="T3"/>
                    </a:cxn>
                    <a:cxn ang="T12">
                      <a:pos x="T4" y="T5"/>
                    </a:cxn>
                    <a:cxn ang="T13">
                      <a:pos x="T6" y="T7"/>
                    </a:cxn>
                    <a:cxn ang="T14">
                      <a:pos x="T8" y="T9"/>
                    </a:cxn>
                  </a:cxnLst>
                  <a:rect l="T15" t="T16" r="T17" b="T18"/>
                  <a:pathLst>
                    <a:path w="88" h="108">
                      <a:moveTo>
                        <a:pt x="3" y="108"/>
                      </a:moveTo>
                      <a:lnTo>
                        <a:pt x="87" y="63"/>
                      </a:lnTo>
                      <a:lnTo>
                        <a:pt x="88" y="0"/>
                      </a:lnTo>
                      <a:lnTo>
                        <a:pt x="0" y="46"/>
                      </a:lnTo>
                      <a:lnTo>
                        <a:pt x="3" y="108"/>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87" name="Freeform 231"/>
                <p:cNvSpPr>
                  <a:spLocks/>
                </p:cNvSpPr>
                <p:nvPr/>
              </p:nvSpPr>
              <p:spPr bwMode="auto">
                <a:xfrm>
                  <a:off x="897" y="464"/>
                  <a:ext cx="77" cy="100"/>
                </a:xfrm>
                <a:custGeom>
                  <a:avLst/>
                  <a:gdLst>
                    <a:gd name="T0" fmla="*/ 0 w 77"/>
                    <a:gd name="T1" fmla="*/ 100 h 100"/>
                    <a:gd name="T2" fmla="*/ 77 w 77"/>
                    <a:gd name="T3" fmla="*/ 63 h 100"/>
                    <a:gd name="T4" fmla="*/ 77 w 77"/>
                    <a:gd name="T5" fmla="*/ 0 h 100"/>
                    <a:gd name="T6" fmla="*/ 0 w 77"/>
                    <a:gd name="T7" fmla="*/ 39 h 100"/>
                    <a:gd name="T8" fmla="*/ 0 w 77"/>
                    <a:gd name="T9" fmla="*/ 100 h 100"/>
                    <a:gd name="T10" fmla="*/ 0 60000 65536"/>
                    <a:gd name="T11" fmla="*/ 0 60000 65536"/>
                    <a:gd name="T12" fmla="*/ 0 60000 65536"/>
                    <a:gd name="T13" fmla="*/ 0 60000 65536"/>
                    <a:gd name="T14" fmla="*/ 0 60000 65536"/>
                    <a:gd name="T15" fmla="*/ 0 w 77"/>
                    <a:gd name="T16" fmla="*/ 0 h 100"/>
                    <a:gd name="T17" fmla="*/ 77 w 77"/>
                    <a:gd name="T18" fmla="*/ 100 h 100"/>
                  </a:gdLst>
                  <a:ahLst/>
                  <a:cxnLst>
                    <a:cxn ang="T10">
                      <a:pos x="T0" y="T1"/>
                    </a:cxn>
                    <a:cxn ang="T11">
                      <a:pos x="T2" y="T3"/>
                    </a:cxn>
                    <a:cxn ang="T12">
                      <a:pos x="T4" y="T5"/>
                    </a:cxn>
                    <a:cxn ang="T13">
                      <a:pos x="T6" y="T7"/>
                    </a:cxn>
                    <a:cxn ang="T14">
                      <a:pos x="T8" y="T9"/>
                    </a:cxn>
                  </a:cxnLst>
                  <a:rect l="T15" t="T16" r="T17" b="T18"/>
                  <a:pathLst>
                    <a:path w="77" h="100">
                      <a:moveTo>
                        <a:pt x="0" y="100"/>
                      </a:moveTo>
                      <a:lnTo>
                        <a:pt x="77" y="63"/>
                      </a:lnTo>
                      <a:lnTo>
                        <a:pt x="77" y="0"/>
                      </a:lnTo>
                      <a:lnTo>
                        <a:pt x="0" y="39"/>
                      </a:lnTo>
                      <a:lnTo>
                        <a:pt x="0" y="10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88" name="Freeform 232"/>
                <p:cNvSpPr>
                  <a:spLocks/>
                </p:cNvSpPr>
                <p:nvPr/>
              </p:nvSpPr>
              <p:spPr bwMode="auto">
                <a:xfrm>
                  <a:off x="755" y="479"/>
                  <a:ext cx="139" cy="70"/>
                </a:xfrm>
                <a:custGeom>
                  <a:avLst/>
                  <a:gdLst>
                    <a:gd name="T0" fmla="*/ 54 w 139"/>
                    <a:gd name="T1" fmla="*/ 70 h 70"/>
                    <a:gd name="T2" fmla="*/ 0 w 139"/>
                    <a:gd name="T3" fmla="*/ 39 h 70"/>
                    <a:gd name="T4" fmla="*/ 84 w 139"/>
                    <a:gd name="T5" fmla="*/ 0 h 70"/>
                    <a:gd name="T6" fmla="*/ 139 w 139"/>
                    <a:gd name="T7" fmla="*/ 27 h 70"/>
                    <a:gd name="T8" fmla="*/ 54 w 139"/>
                    <a:gd name="T9" fmla="*/ 70 h 70"/>
                    <a:gd name="T10" fmla="*/ 0 60000 65536"/>
                    <a:gd name="T11" fmla="*/ 0 60000 65536"/>
                    <a:gd name="T12" fmla="*/ 0 60000 65536"/>
                    <a:gd name="T13" fmla="*/ 0 60000 65536"/>
                    <a:gd name="T14" fmla="*/ 0 60000 65536"/>
                    <a:gd name="T15" fmla="*/ 0 w 139"/>
                    <a:gd name="T16" fmla="*/ 0 h 70"/>
                    <a:gd name="T17" fmla="*/ 139 w 139"/>
                    <a:gd name="T18" fmla="*/ 70 h 70"/>
                  </a:gdLst>
                  <a:ahLst/>
                  <a:cxnLst>
                    <a:cxn ang="T10">
                      <a:pos x="T0" y="T1"/>
                    </a:cxn>
                    <a:cxn ang="T11">
                      <a:pos x="T2" y="T3"/>
                    </a:cxn>
                    <a:cxn ang="T12">
                      <a:pos x="T4" y="T5"/>
                    </a:cxn>
                    <a:cxn ang="T13">
                      <a:pos x="T6" y="T7"/>
                    </a:cxn>
                    <a:cxn ang="T14">
                      <a:pos x="T8" y="T9"/>
                    </a:cxn>
                  </a:cxnLst>
                  <a:rect l="T15" t="T16" r="T17" b="T18"/>
                  <a:pathLst>
                    <a:path w="139" h="70">
                      <a:moveTo>
                        <a:pt x="54" y="70"/>
                      </a:moveTo>
                      <a:lnTo>
                        <a:pt x="0" y="39"/>
                      </a:lnTo>
                      <a:lnTo>
                        <a:pt x="84" y="0"/>
                      </a:lnTo>
                      <a:lnTo>
                        <a:pt x="139" y="27"/>
                      </a:lnTo>
                      <a:lnTo>
                        <a:pt x="54" y="7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89" name="Freeform 233"/>
                <p:cNvSpPr>
                  <a:spLocks/>
                </p:cNvSpPr>
                <p:nvPr/>
              </p:nvSpPr>
              <p:spPr bwMode="auto">
                <a:xfrm>
                  <a:off x="837" y="437"/>
                  <a:ext cx="135" cy="67"/>
                </a:xfrm>
                <a:custGeom>
                  <a:avLst/>
                  <a:gdLst>
                    <a:gd name="T0" fmla="*/ 53 w 135"/>
                    <a:gd name="T1" fmla="*/ 67 h 67"/>
                    <a:gd name="T2" fmla="*/ 0 w 135"/>
                    <a:gd name="T3" fmla="*/ 43 h 67"/>
                    <a:gd name="T4" fmla="*/ 87 w 135"/>
                    <a:gd name="T5" fmla="*/ 0 h 67"/>
                    <a:gd name="T6" fmla="*/ 135 w 135"/>
                    <a:gd name="T7" fmla="*/ 27 h 67"/>
                    <a:gd name="T8" fmla="*/ 53 w 135"/>
                    <a:gd name="T9" fmla="*/ 67 h 67"/>
                    <a:gd name="T10" fmla="*/ 0 60000 65536"/>
                    <a:gd name="T11" fmla="*/ 0 60000 65536"/>
                    <a:gd name="T12" fmla="*/ 0 60000 65536"/>
                    <a:gd name="T13" fmla="*/ 0 60000 65536"/>
                    <a:gd name="T14" fmla="*/ 0 60000 65536"/>
                    <a:gd name="T15" fmla="*/ 0 w 135"/>
                    <a:gd name="T16" fmla="*/ 0 h 67"/>
                    <a:gd name="T17" fmla="*/ 135 w 135"/>
                    <a:gd name="T18" fmla="*/ 67 h 67"/>
                  </a:gdLst>
                  <a:ahLst/>
                  <a:cxnLst>
                    <a:cxn ang="T10">
                      <a:pos x="T0" y="T1"/>
                    </a:cxn>
                    <a:cxn ang="T11">
                      <a:pos x="T2" y="T3"/>
                    </a:cxn>
                    <a:cxn ang="T12">
                      <a:pos x="T4" y="T5"/>
                    </a:cxn>
                    <a:cxn ang="T13">
                      <a:pos x="T6" y="T7"/>
                    </a:cxn>
                    <a:cxn ang="T14">
                      <a:pos x="T8" y="T9"/>
                    </a:cxn>
                  </a:cxnLst>
                  <a:rect l="T15" t="T16" r="T17" b="T18"/>
                  <a:pathLst>
                    <a:path w="135" h="67">
                      <a:moveTo>
                        <a:pt x="53" y="67"/>
                      </a:moveTo>
                      <a:lnTo>
                        <a:pt x="0" y="43"/>
                      </a:lnTo>
                      <a:lnTo>
                        <a:pt x="87" y="0"/>
                      </a:lnTo>
                      <a:lnTo>
                        <a:pt x="135" y="27"/>
                      </a:lnTo>
                      <a:lnTo>
                        <a:pt x="53" y="67"/>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90" name="Freeform 234"/>
                <p:cNvSpPr>
                  <a:spLocks/>
                </p:cNvSpPr>
                <p:nvPr/>
              </p:nvSpPr>
              <p:spPr bwMode="auto">
                <a:xfrm>
                  <a:off x="708" y="451"/>
                  <a:ext cx="138" cy="65"/>
                </a:xfrm>
                <a:custGeom>
                  <a:avLst/>
                  <a:gdLst>
                    <a:gd name="T0" fmla="*/ 50 w 138"/>
                    <a:gd name="T1" fmla="*/ 65 h 65"/>
                    <a:gd name="T2" fmla="*/ 0 w 138"/>
                    <a:gd name="T3" fmla="*/ 34 h 65"/>
                    <a:gd name="T4" fmla="*/ 83 w 138"/>
                    <a:gd name="T5" fmla="*/ 0 h 65"/>
                    <a:gd name="T6" fmla="*/ 138 w 138"/>
                    <a:gd name="T7" fmla="*/ 27 h 65"/>
                    <a:gd name="T8" fmla="*/ 50 w 138"/>
                    <a:gd name="T9" fmla="*/ 65 h 65"/>
                    <a:gd name="T10" fmla="*/ 0 60000 65536"/>
                    <a:gd name="T11" fmla="*/ 0 60000 65536"/>
                    <a:gd name="T12" fmla="*/ 0 60000 65536"/>
                    <a:gd name="T13" fmla="*/ 0 60000 65536"/>
                    <a:gd name="T14" fmla="*/ 0 60000 65536"/>
                    <a:gd name="T15" fmla="*/ 0 w 138"/>
                    <a:gd name="T16" fmla="*/ 0 h 65"/>
                    <a:gd name="T17" fmla="*/ 138 w 138"/>
                    <a:gd name="T18" fmla="*/ 65 h 65"/>
                  </a:gdLst>
                  <a:ahLst/>
                  <a:cxnLst>
                    <a:cxn ang="T10">
                      <a:pos x="T0" y="T1"/>
                    </a:cxn>
                    <a:cxn ang="T11">
                      <a:pos x="T2" y="T3"/>
                    </a:cxn>
                    <a:cxn ang="T12">
                      <a:pos x="T4" y="T5"/>
                    </a:cxn>
                    <a:cxn ang="T13">
                      <a:pos x="T6" y="T7"/>
                    </a:cxn>
                    <a:cxn ang="T14">
                      <a:pos x="T8" y="T9"/>
                    </a:cxn>
                  </a:cxnLst>
                  <a:rect l="T15" t="T16" r="T17" b="T18"/>
                  <a:pathLst>
                    <a:path w="138" h="65">
                      <a:moveTo>
                        <a:pt x="50" y="65"/>
                      </a:moveTo>
                      <a:lnTo>
                        <a:pt x="0" y="34"/>
                      </a:lnTo>
                      <a:lnTo>
                        <a:pt x="83" y="0"/>
                      </a:lnTo>
                      <a:lnTo>
                        <a:pt x="138" y="27"/>
                      </a:lnTo>
                      <a:lnTo>
                        <a:pt x="50" y="65"/>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91" name="Freeform 235"/>
                <p:cNvSpPr>
                  <a:spLocks/>
                </p:cNvSpPr>
                <p:nvPr/>
              </p:nvSpPr>
              <p:spPr bwMode="auto">
                <a:xfrm>
                  <a:off x="786" y="408"/>
                  <a:ext cx="138" cy="71"/>
                </a:xfrm>
                <a:custGeom>
                  <a:avLst/>
                  <a:gdLst>
                    <a:gd name="T0" fmla="*/ 50 w 138"/>
                    <a:gd name="T1" fmla="*/ 71 h 71"/>
                    <a:gd name="T2" fmla="*/ 0 w 138"/>
                    <a:gd name="T3" fmla="*/ 44 h 71"/>
                    <a:gd name="T4" fmla="*/ 75 w 138"/>
                    <a:gd name="T5" fmla="*/ 0 h 71"/>
                    <a:gd name="T6" fmla="*/ 138 w 138"/>
                    <a:gd name="T7" fmla="*/ 28 h 71"/>
                    <a:gd name="T8" fmla="*/ 50 w 138"/>
                    <a:gd name="T9" fmla="*/ 71 h 71"/>
                    <a:gd name="T10" fmla="*/ 0 60000 65536"/>
                    <a:gd name="T11" fmla="*/ 0 60000 65536"/>
                    <a:gd name="T12" fmla="*/ 0 60000 65536"/>
                    <a:gd name="T13" fmla="*/ 0 60000 65536"/>
                    <a:gd name="T14" fmla="*/ 0 60000 65536"/>
                    <a:gd name="T15" fmla="*/ 0 w 138"/>
                    <a:gd name="T16" fmla="*/ 0 h 71"/>
                    <a:gd name="T17" fmla="*/ 138 w 138"/>
                    <a:gd name="T18" fmla="*/ 71 h 71"/>
                  </a:gdLst>
                  <a:ahLst/>
                  <a:cxnLst>
                    <a:cxn ang="T10">
                      <a:pos x="T0" y="T1"/>
                    </a:cxn>
                    <a:cxn ang="T11">
                      <a:pos x="T2" y="T3"/>
                    </a:cxn>
                    <a:cxn ang="T12">
                      <a:pos x="T4" y="T5"/>
                    </a:cxn>
                    <a:cxn ang="T13">
                      <a:pos x="T6" y="T7"/>
                    </a:cxn>
                    <a:cxn ang="T14">
                      <a:pos x="T8" y="T9"/>
                    </a:cxn>
                  </a:cxnLst>
                  <a:rect l="T15" t="T16" r="T17" b="T18"/>
                  <a:pathLst>
                    <a:path w="138" h="71">
                      <a:moveTo>
                        <a:pt x="50" y="71"/>
                      </a:moveTo>
                      <a:lnTo>
                        <a:pt x="0" y="44"/>
                      </a:lnTo>
                      <a:lnTo>
                        <a:pt x="75" y="0"/>
                      </a:lnTo>
                      <a:lnTo>
                        <a:pt x="138" y="28"/>
                      </a:lnTo>
                      <a:lnTo>
                        <a:pt x="50" y="71"/>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92" name="Freeform 236"/>
                <p:cNvSpPr>
                  <a:spLocks/>
                </p:cNvSpPr>
                <p:nvPr/>
              </p:nvSpPr>
              <p:spPr bwMode="auto">
                <a:xfrm>
                  <a:off x="650" y="417"/>
                  <a:ext cx="136" cy="68"/>
                </a:xfrm>
                <a:custGeom>
                  <a:avLst/>
                  <a:gdLst>
                    <a:gd name="T0" fmla="*/ 57 w 136"/>
                    <a:gd name="T1" fmla="*/ 68 h 68"/>
                    <a:gd name="T2" fmla="*/ 0 w 136"/>
                    <a:gd name="T3" fmla="*/ 35 h 68"/>
                    <a:gd name="T4" fmla="*/ 87 w 136"/>
                    <a:gd name="T5" fmla="*/ 0 h 68"/>
                    <a:gd name="T6" fmla="*/ 136 w 136"/>
                    <a:gd name="T7" fmla="*/ 35 h 68"/>
                    <a:gd name="T8" fmla="*/ 57 w 136"/>
                    <a:gd name="T9" fmla="*/ 68 h 68"/>
                    <a:gd name="T10" fmla="*/ 0 60000 65536"/>
                    <a:gd name="T11" fmla="*/ 0 60000 65536"/>
                    <a:gd name="T12" fmla="*/ 0 60000 65536"/>
                    <a:gd name="T13" fmla="*/ 0 60000 65536"/>
                    <a:gd name="T14" fmla="*/ 0 60000 65536"/>
                    <a:gd name="T15" fmla="*/ 0 w 136"/>
                    <a:gd name="T16" fmla="*/ 0 h 68"/>
                    <a:gd name="T17" fmla="*/ 136 w 136"/>
                    <a:gd name="T18" fmla="*/ 68 h 68"/>
                  </a:gdLst>
                  <a:ahLst/>
                  <a:cxnLst>
                    <a:cxn ang="T10">
                      <a:pos x="T0" y="T1"/>
                    </a:cxn>
                    <a:cxn ang="T11">
                      <a:pos x="T2" y="T3"/>
                    </a:cxn>
                    <a:cxn ang="T12">
                      <a:pos x="T4" y="T5"/>
                    </a:cxn>
                    <a:cxn ang="T13">
                      <a:pos x="T6" y="T7"/>
                    </a:cxn>
                    <a:cxn ang="T14">
                      <a:pos x="T8" y="T9"/>
                    </a:cxn>
                  </a:cxnLst>
                  <a:rect l="T15" t="T16" r="T17" b="T18"/>
                  <a:pathLst>
                    <a:path w="136" h="68">
                      <a:moveTo>
                        <a:pt x="57" y="68"/>
                      </a:moveTo>
                      <a:lnTo>
                        <a:pt x="0" y="35"/>
                      </a:lnTo>
                      <a:lnTo>
                        <a:pt x="87" y="0"/>
                      </a:lnTo>
                      <a:lnTo>
                        <a:pt x="136" y="35"/>
                      </a:lnTo>
                      <a:lnTo>
                        <a:pt x="57" y="68"/>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93" name="Freeform 237"/>
                <p:cNvSpPr>
                  <a:spLocks/>
                </p:cNvSpPr>
                <p:nvPr/>
              </p:nvSpPr>
              <p:spPr bwMode="auto">
                <a:xfrm>
                  <a:off x="734" y="384"/>
                  <a:ext cx="130" cy="66"/>
                </a:xfrm>
                <a:custGeom>
                  <a:avLst/>
                  <a:gdLst>
                    <a:gd name="T0" fmla="*/ 51 w 130"/>
                    <a:gd name="T1" fmla="*/ 66 h 66"/>
                    <a:gd name="T2" fmla="*/ 0 w 130"/>
                    <a:gd name="T3" fmla="*/ 35 h 66"/>
                    <a:gd name="T4" fmla="*/ 85 w 130"/>
                    <a:gd name="T5" fmla="*/ 0 h 66"/>
                    <a:gd name="T6" fmla="*/ 130 w 130"/>
                    <a:gd name="T7" fmla="*/ 29 h 66"/>
                    <a:gd name="T8" fmla="*/ 51 w 130"/>
                    <a:gd name="T9" fmla="*/ 66 h 66"/>
                    <a:gd name="T10" fmla="*/ 0 60000 65536"/>
                    <a:gd name="T11" fmla="*/ 0 60000 65536"/>
                    <a:gd name="T12" fmla="*/ 0 60000 65536"/>
                    <a:gd name="T13" fmla="*/ 0 60000 65536"/>
                    <a:gd name="T14" fmla="*/ 0 60000 65536"/>
                    <a:gd name="T15" fmla="*/ 0 w 130"/>
                    <a:gd name="T16" fmla="*/ 0 h 66"/>
                    <a:gd name="T17" fmla="*/ 130 w 130"/>
                    <a:gd name="T18" fmla="*/ 66 h 66"/>
                  </a:gdLst>
                  <a:ahLst/>
                  <a:cxnLst>
                    <a:cxn ang="T10">
                      <a:pos x="T0" y="T1"/>
                    </a:cxn>
                    <a:cxn ang="T11">
                      <a:pos x="T2" y="T3"/>
                    </a:cxn>
                    <a:cxn ang="T12">
                      <a:pos x="T4" y="T5"/>
                    </a:cxn>
                    <a:cxn ang="T13">
                      <a:pos x="T6" y="T7"/>
                    </a:cxn>
                    <a:cxn ang="T14">
                      <a:pos x="T8" y="T9"/>
                    </a:cxn>
                  </a:cxnLst>
                  <a:rect l="T15" t="T16" r="T17" b="T18"/>
                  <a:pathLst>
                    <a:path w="130" h="66">
                      <a:moveTo>
                        <a:pt x="51" y="66"/>
                      </a:moveTo>
                      <a:lnTo>
                        <a:pt x="0" y="35"/>
                      </a:lnTo>
                      <a:lnTo>
                        <a:pt x="85" y="0"/>
                      </a:lnTo>
                      <a:lnTo>
                        <a:pt x="130" y="29"/>
                      </a:lnTo>
                      <a:lnTo>
                        <a:pt x="51" y="66"/>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grpSp>
          <p:pic>
            <p:nvPicPr>
              <p:cNvPr id="18482" name="Picture 238" descr="Graphic1"/>
              <p:cNvPicPr>
                <a:picLocks noChangeAspect="1" noChangeArrowheads="1"/>
              </p:cNvPicPr>
              <p:nvPr/>
            </p:nvPicPr>
            <p:blipFill>
              <a:blip r:embed="rId2" cstate="print"/>
              <a:srcRect/>
              <a:stretch>
                <a:fillRect/>
              </a:stretch>
            </p:blipFill>
            <p:spPr bwMode="auto">
              <a:xfrm>
                <a:off x="432" y="2400"/>
                <a:ext cx="262" cy="232"/>
              </a:xfrm>
              <a:prstGeom prst="rect">
                <a:avLst/>
              </a:prstGeom>
              <a:noFill/>
              <a:ln w="9525">
                <a:noFill/>
                <a:miter lim="800000"/>
                <a:headEnd/>
                <a:tailEnd/>
              </a:ln>
            </p:spPr>
          </p:pic>
        </p:grpSp>
        <p:grpSp>
          <p:nvGrpSpPr>
            <p:cNvPr id="18467" name="Group 239"/>
            <p:cNvGrpSpPr>
              <a:grpSpLocks/>
            </p:cNvGrpSpPr>
            <p:nvPr/>
          </p:nvGrpSpPr>
          <p:grpSpPr bwMode="auto">
            <a:xfrm>
              <a:off x="3710" y="2736"/>
              <a:ext cx="274" cy="288"/>
              <a:chOff x="384" y="2400"/>
              <a:chExt cx="335" cy="352"/>
            </a:xfrm>
          </p:grpSpPr>
          <p:grpSp>
            <p:nvGrpSpPr>
              <p:cNvPr id="18468" name="Group 240"/>
              <p:cNvGrpSpPr>
                <a:grpSpLocks/>
              </p:cNvGrpSpPr>
              <p:nvPr/>
            </p:nvGrpSpPr>
            <p:grpSpPr bwMode="auto">
              <a:xfrm>
                <a:off x="384" y="2519"/>
                <a:ext cx="335" cy="233"/>
                <a:chOff x="648" y="384"/>
                <a:chExt cx="326" cy="227"/>
              </a:xfrm>
            </p:grpSpPr>
            <p:sp>
              <p:nvSpPr>
                <p:cNvPr id="18470" name="Freeform 241"/>
                <p:cNvSpPr>
                  <a:spLocks/>
                </p:cNvSpPr>
                <p:nvPr/>
              </p:nvSpPr>
              <p:spPr bwMode="auto">
                <a:xfrm>
                  <a:off x="648" y="448"/>
                  <a:ext cx="55" cy="98"/>
                </a:xfrm>
                <a:custGeom>
                  <a:avLst/>
                  <a:gdLst>
                    <a:gd name="T0" fmla="*/ 0 w 55"/>
                    <a:gd name="T1" fmla="*/ 0 h 98"/>
                    <a:gd name="T2" fmla="*/ 2 w 55"/>
                    <a:gd name="T3" fmla="*/ 61 h 98"/>
                    <a:gd name="T4" fmla="*/ 54 w 55"/>
                    <a:gd name="T5" fmla="*/ 98 h 98"/>
                    <a:gd name="T6" fmla="*/ 55 w 55"/>
                    <a:gd name="T7" fmla="*/ 35 h 98"/>
                    <a:gd name="T8" fmla="*/ 0 w 55"/>
                    <a:gd name="T9" fmla="*/ 0 h 98"/>
                    <a:gd name="T10" fmla="*/ 0 60000 65536"/>
                    <a:gd name="T11" fmla="*/ 0 60000 65536"/>
                    <a:gd name="T12" fmla="*/ 0 60000 65536"/>
                    <a:gd name="T13" fmla="*/ 0 60000 65536"/>
                    <a:gd name="T14" fmla="*/ 0 60000 65536"/>
                    <a:gd name="T15" fmla="*/ 0 w 55"/>
                    <a:gd name="T16" fmla="*/ 0 h 98"/>
                    <a:gd name="T17" fmla="*/ 55 w 55"/>
                    <a:gd name="T18" fmla="*/ 98 h 98"/>
                  </a:gdLst>
                  <a:ahLst/>
                  <a:cxnLst>
                    <a:cxn ang="T10">
                      <a:pos x="T0" y="T1"/>
                    </a:cxn>
                    <a:cxn ang="T11">
                      <a:pos x="T2" y="T3"/>
                    </a:cxn>
                    <a:cxn ang="T12">
                      <a:pos x="T4" y="T5"/>
                    </a:cxn>
                    <a:cxn ang="T13">
                      <a:pos x="T6" y="T7"/>
                    </a:cxn>
                    <a:cxn ang="T14">
                      <a:pos x="T8" y="T9"/>
                    </a:cxn>
                  </a:cxnLst>
                  <a:rect l="T15" t="T16" r="T17" b="T18"/>
                  <a:pathLst>
                    <a:path w="55" h="98">
                      <a:moveTo>
                        <a:pt x="0" y="0"/>
                      </a:moveTo>
                      <a:lnTo>
                        <a:pt x="2" y="61"/>
                      </a:lnTo>
                      <a:lnTo>
                        <a:pt x="54" y="98"/>
                      </a:lnTo>
                      <a:lnTo>
                        <a:pt x="55" y="35"/>
                      </a:lnTo>
                      <a:lnTo>
                        <a:pt x="0" y="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71" name="Freeform 242"/>
                <p:cNvSpPr>
                  <a:spLocks/>
                </p:cNvSpPr>
                <p:nvPr/>
              </p:nvSpPr>
              <p:spPr bwMode="auto">
                <a:xfrm>
                  <a:off x="703" y="483"/>
                  <a:ext cx="54" cy="96"/>
                </a:xfrm>
                <a:custGeom>
                  <a:avLst/>
                  <a:gdLst>
                    <a:gd name="T0" fmla="*/ 0 w 54"/>
                    <a:gd name="T1" fmla="*/ 0 h 96"/>
                    <a:gd name="T2" fmla="*/ 1 w 54"/>
                    <a:gd name="T3" fmla="*/ 63 h 96"/>
                    <a:gd name="T4" fmla="*/ 53 w 54"/>
                    <a:gd name="T5" fmla="*/ 96 h 96"/>
                    <a:gd name="T6" fmla="*/ 54 w 54"/>
                    <a:gd name="T7" fmla="*/ 35 h 96"/>
                    <a:gd name="T8" fmla="*/ 0 w 54"/>
                    <a:gd name="T9" fmla="*/ 0 h 96"/>
                    <a:gd name="T10" fmla="*/ 0 60000 65536"/>
                    <a:gd name="T11" fmla="*/ 0 60000 65536"/>
                    <a:gd name="T12" fmla="*/ 0 60000 65536"/>
                    <a:gd name="T13" fmla="*/ 0 60000 65536"/>
                    <a:gd name="T14" fmla="*/ 0 60000 65536"/>
                    <a:gd name="T15" fmla="*/ 0 w 54"/>
                    <a:gd name="T16" fmla="*/ 0 h 96"/>
                    <a:gd name="T17" fmla="*/ 54 w 54"/>
                    <a:gd name="T18" fmla="*/ 96 h 96"/>
                  </a:gdLst>
                  <a:ahLst/>
                  <a:cxnLst>
                    <a:cxn ang="T10">
                      <a:pos x="T0" y="T1"/>
                    </a:cxn>
                    <a:cxn ang="T11">
                      <a:pos x="T2" y="T3"/>
                    </a:cxn>
                    <a:cxn ang="T12">
                      <a:pos x="T4" y="T5"/>
                    </a:cxn>
                    <a:cxn ang="T13">
                      <a:pos x="T6" y="T7"/>
                    </a:cxn>
                    <a:cxn ang="T14">
                      <a:pos x="T8" y="T9"/>
                    </a:cxn>
                  </a:cxnLst>
                  <a:rect l="T15" t="T16" r="T17" b="T18"/>
                  <a:pathLst>
                    <a:path w="54" h="96">
                      <a:moveTo>
                        <a:pt x="0" y="0"/>
                      </a:moveTo>
                      <a:lnTo>
                        <a:pt x="1" y="63"/>
                      </a:lnTo>
                      <a:lnTo>
                        <a:pt x="53" y="96"/>
                      </a:lnTo>
                      <a:lnTo>
                        <a:pt x="54" y="35"/>
                      </a:lnTo>
                      <a:lnTo>
                        <a:pt x="0" y="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72" name="Freeform 243"/>
                <p:cNvSpPr>
                  <a:spLocks/>
                </p:cNvSpPr>
                <p:nvPr/>
              </p:nvSpPr>
              <p:spPr bwMode="auto">
                <a:xfrm>
                  <a:off x="757" y="518"/>
                  <a:ext cx="55" cy="93"/>
                </a:xfrm>
                <a:custGeom>
                  <a:avLst/>
                  <a:gdLst>
                    <a:gd name="T0" fmla="*/ 0 w 55"/>
                    <a:gd name="T1" fmla="*/ 0 h 93"/>
                    <a:gd name="T2" fmla="*/ 1 w 55"/>
                    <a:gd name="T3" fmla="*/ 60 h 93"/>
                    <a:gd name="T4" fmla="*/ 55 w 55"/>
                    <a:gd name="T5" fmla="*/ 93 h 93"/>
                    <a:gd name="T6" fmla="*/ 55 w 55"/>
                    <a:gd name="T7" fmla="*/ 35 h 93"/>
                    <a:gd name="T8" fmla="*/ 0 w 55"/>
                    <a:gd name="T9" fmla="*/ 0 h 93"/>
                    <a:gd name="T10" fmla="*/ 0 60000 65536"/>
                    <a:gd name="T11" fmla="*/ 0 60000 65536"/>
                    <a:gd name="T12" fmla="*/ 0 60000 65536"/>
                    <a:gd name="T13" fmla="*/ 0 60000 65536"/>
                    <a:gd name="T14" fmla="*/ 0 60000 65536"/>
                    <a:gd name="T15" fmla="*/ 0 w 55"/>
                    <a:gd name="T16" fmla="*/ 0 h 93"/>
                    <a:gd name="T17" fmla="*/ 55 w 55"/>
                    <a:gd name="T18" fmla="*/ 93 h 93"/>
                  </a:gdLst>
                  <a:ahLst/>
                  <a:cxnLst>
                    <a:cxn ang="T10">
                      <a:pos x="T0" y="T1"/>
                    </a:cxn>
                    <a:cxn ang="T11">
                      <a:pos x="T2" y="T3"/>
                    </a:cxn>
                    <a:cxn ang="T12">
                      <a:pos x="T4" y="T5"/>
                    </a:cxn>
                    <a:cxn ang="T13">
                      <a:pos x="T6" y="T7"/>
                    </a:cxn>
                    <a:cxn ang="T14">
                      <a:pos x="T8" y="T9"/>
                    </a:cxn>
                  </a:cxnLst>
                  <a:rect l="T15" t="T16" r="T17" b="T18"/>
                  <a:pathLst>
                    <a:path w="55" h="93">
                      <a:moveTo>
                        <a:pt x="0" y="0"/>
                      </a:moveTo>
                      <a:lnTo>
                        <a:pt x="1" y="60"/>
                      </a:lnTo>
                      <a:lnTo>
                        <a:pt x="55" y="93"/>
                      </a:lnTo>
                      <a:lnTo>
                        <a:pt x="55" y="35"/>
                      </a:lnTo>
                      <a:lnTo>
                        <a:pt x="0" y="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73" name="Freeform 244"/>
                <p:cNvSpPr>
                  <a:spLocks/>
                </p:cNvSpPr>
                <p:nvPr/>
              </p:nvSpPr>
              <p:spPr bwMode="auto">
                <a:xfrm>
                  <a:off x="809" y="503"/>
                  <a:ext cx="88" cy="108"/>
                </a:xfrm>
                <a:custGeom>
                  <a:avLst/>
                  <a:gdLst>
                    <a:gd name="T0" fmla="*/ 3 w 88"/>
                    <a:gd name="T1" fmla="*/ 108 h 108"/>
                    <a:gd name="T2" fmla="*/ 87 w 88"/>
                    <a:gd name="T3" fmla="*/ 63 h 108"/>
                    <a:gd name="T4" fmla="*/ 88 w 88"/>
                    <a:gd name="T5" fmla="*/ 0 h 108"/>
                    <a:gd name="T6" fmla="*/ 0 w 88"/>
                    <a:gd name="T7" fmla="*/ 46 h 108"/>
                    <a:gd name="T8" fmla="*/ 3 w 88"/>
                    <a:gd name="T9" fmla="*/ 108 h 108"/>
                    <a:gd name="T10" fmla="*/ 0 60000 65536"/>
                    <a:gd name="T11" fmla="*/ 0 60000 65536"/>
                    <a:gd name="T12" fmla="*/ 0 60000 65536"/>
                    <a:gd name="T13" fmla="*/ 0 60000 65536"/>
                    <a:gd name="T14" fmla="*/ 0 60000 65536"/>
                    <a:gd name="T15" fmla="*/ 0 w 88"/>
                    <a:gd name="T16" fmla="*/ 0 h 108"/>
                    <a:gd name="T17" fmla="*/ 88 w 88"/>
                    <a:gd name="T18" fmla="*/ 108 h 108"/>
                  </a:gdLst>
                  <a:ahLst/>
                  <a:cxnLst>
                    <a:cxn ang="T10">
                      <a:pos x="T0" y="T1"/>
                    </a:cxn>
                    <a:cxn ang="T11">
                      <a:pos x="T2" y="T3"/>
                    </a:cxn>
                    <a:cxn ang="T12">
                      <a:pos x="T4" y="T5"/>
                    </a:cxn>
                    <a:cxn ang="T13">
                      <a:pos x="T6" y="T7"/>
                    </a:cxn>
                    <a:cxn ang="T14">
                      <a:pos x="T8" y="T9"/>
                    </a:cxn>
                  </a:cxnLst>
                  <a:rect l="T15" t="T16" r="T17" b="T18"/>
                  <a:pathLst>
                    <a:path w="88" h="108">
                      <a:moveTo>
                        <a:pt x="3" y="108"/>
                      </a:moveTo>
                      <a:lnTo>
                        <a:pt x="87" y="63"/>
                      </a:lnTo>
                      <a:lnTo>
                        <a:pt x="88" y="0"/>
                      </a:lnTo>
                      <a:lnTo>
                        <a:pt x="0" y="46"/>
                      </a:lnTo>
                      <a:lnTo>
                        <a:pt x="3" y="108"/>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74" name="Freeform 245"/>
                <p:cNvSpPr>
                  <a:spLocks/>
                </p:cNvSpPr>
                <p:nvPr/>
              </p:nvSpPr>
              <p:spPr bwMode="auto">
                <a:xfrm>
                  <a:off x="897" y="464"/>
                  <a:ext cx="77" cy="100"/>
                </a:xfrm>
                <a:custGeom>
                  <a:avLst/>
                  <a:gdLst>
                    <a:gd name="T0" fmla="*/ 0 w 77"/>
                    <a:gd name="T1" fmla="*/ 100 h 100"/>
                    <a:gd name="T2" fmla="*/ 77 w 77"/>
                    <a:gd name="T3" fmla="*/ 63 h 100"/>
                    <a:gd name="T4" fmla="*/ 77 w 77"/>
                    <a:gd name="T5" fmla="*/ 0 h 100"/>
                    <a:gd name="T6" fmla="*/ 0 w 77"/>
                    <a:gd name="T7" fmla="*/ 39 h 100"/>
                    <a:gd name="T8" fmla="*/ 0 w 77"/>
                    <a:gd name="T9" fmla="*/ 100 h 100"/>
                    <a:gd name="T10" fmla="*/ 0 60000 65536"/>
                    <a:gd name="T11" fmla="*/ 0 60000 65536"/>
                    <a:gd name="T12" fmla="*/ 0 60000 65536"/>
                    <a:gd name="T13" fmla="*/ 0 60000 65536"/>
                    <a:gd name="T14" fmla="*/ 0 60000 65536"/>
                    <a:gd name="T15" fmla="*/ 0 w 77"/>
                    <a:gd name="T16" fmla="*/ 0 h 100"/>
                    <a:gd name="T17" fmla="*/ 77 w 77"/>
                    <a:gd name="T18" fmla="*/ 100 h 100"/>
                  </a:gdLst>
                  <a:ahLst/>
                  <a:cxnLst>
                    <a:cxn ang="T10">
                      <a:pos x="T0" y="T1"/>
                    </a:cxn>
                    <a:cxn ang="T11">
                      <a:pos x="T2" y="T3"/>
                    </a:cxn>
                    <a:cxn ang="T12">
                      <a:pos x="T4" y="T5"/>
                    </a:cxn>
                    <a:cxn ang="T13">
                      <a:pos x="T6" y="T7"/>
                    </a:cxn>
                    <a:cxn ang="T14">
                      <a:pos x="T8" y="T9"/>
                    </a:cxn>
                  </a:cxnLst>
                  <a:rect l="T15" t="T16" r="T17" b="T18"/>
                  <a:pathLst>
                    <a:path w="77" h="100">
                      <a:moveTo>
                        <a:pt x="0" y="100"/>
                      </a:moveTo>
                      <a:lnTo>
                        <a:pt x="77" y="63"/>
                      </a:lnTo>
                      <a:lnTo>
                        <a:pt x="77" y="0"/>
                      </a:lnTo>
                      <a:lnTo>
                        <a:pt x="0" y="39"/>
                      </a:lnTo>
                      <a:lnTo>
                        <a:pt x="0" y="10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75" name="Freeform 246"/>
                <p:cNvSpPr>
                  <a:spLocks/>
                </p:cNvSpPr>
                <p:nvPr/>
              </p:nvSpPr>
              <p:spPr bwMode="auto">
                <a:xfrm>
                  <a:off x="755" y="479"/>
                  <a:ext cx="139" cy="70"/>
                </a:xfrm>
                <a:custGeom>
                  <a:avLst/>
                  <a:gdLst>
                    <a:gd name="T0" fmla="*/ 54 w 139"/>
                    <a:gd name="T1" fmla="*/ 70 h 70"/>
                    <a:gd name="T2" fmla="*/ 0 w 139"/>
                    <a:gd name="T3" fmla="*/ 39 h 70"/>
                    <a:gd name="T4" fmla="*/ 84 w 139"/>
                    <a:gd name="T5" fmla="*/ 0 h 70"/>
                    <a:gd name="T6" fmla="*/ 139 w 139"/>
                    <a:gd name="T7" fmla="*/ 27 h 70"/>
                    <a:gd name="T8" fmla="*/ 54 w 139"/>
                    <a:gd name="T9" fmla="*/ 70 h 70"/>
                    <a:gd name="T10" fmla="*/ 0 60000 65536"/>
                    <a:gd name="T11" fmla="*/ 0 60000 65536"/>
                    <a:gd name="T12" fmla="*/ 0 60000 65536"/>
                    <a:gd name="T13" fmla="*/ 0 60000 65536"/>
                    <a:gd name="T14" fmla="*/ 0 60000 65536"/>
                    <a:gd name="T15" fmla="*/ 0 w 139"/>
                    <a:gd name="T16" fmla="*/ 0 h 70"/>
                    <a:gd name="T17" fmla="*/ 139 w 139"/>
                    <a:gd name="T18" fmla="*/ 70 h 70"/>
                  </a:gdLst>
                  <a:ahLst/>
                  <a:cxnLst>
                    <a:cxn ang="T10">
                      <a:pos x="T0" y="T1"/>
                    </a:cxn>
                    <a:cxn ang="T11">
                      <a:pos x="T2" y="T3"/>
                    </a:cxn>
                    <a:cxn ang="T12">
                      <a:pos x="T4" y="T5"/>
                    </a:cxn>
                    <a:cxn ang="T13">
                      <a:pos x="T6" y="T7"/>
                    </a:cxn>
                    <a:cxn ang="T14">
                      <a:pos x="T8" y="T9"/>
                    </a:cxn>
                  </a:cxnLst>
                  <a:rect l="T15" t="T16" r="T17" b="T18"/>
                  <a:pathLst>
                    <a:path w="139" h="70">
                      <a:moveTo>
                        <a:pt x="54" y="70"/>
                      </a:moveTo>
                      <a:lnTo>
                        <a:pt x="0" y="39"/>
                      </a:lnTo>
                      <a:lnTo>
                        <a:pt x="84" y="0"/>
                      </a:lnTo>
                      <a:lnTo>
                        <a:pt x="139" y="27"/>
                      </a:lnTo>
                      <a:lnTo>
                        <a:pt x="54" y="7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76" name="Freeform 247"/>
                <p:cNvSpPr>
                  <a:spLocks/>
                </p:cNvSpPr>
                <p:nvPr/>
              </p:nvSpPr>
              <p:spPr bwMode="auto">
                <a:xfrm>
                  <a:off x="837" y="437"/>
                  <a:ext cx="135" cy="67"/>
                </a:xfrm>
                <a:custGeom>
                  <a:avLst/>
                  <a:gdLst>
                    <a:gd name="T0" fmla="*/ 53 w 135"/>
                    <a:gd name="T1" fmla="*/ 67 h 67"/>
                    <a:gd name="T2" fmla="*/ 0 w 135"/>
                    <a:gd name="T3" fmla="*/ 43 h 67"/>
                    <a:gd name="T4" fmla="*/ 87 w 135"/>
                    <a:gd name="T5" fmla="*/ 0 h 67"/>
                    <a:gd name="T6" fmla="*/ 135 w 135"/>
                    <a:gd name="T7" fmla="*/ 27 h 67"/>
                    <a:gd name="T8" fmla="*/ 53 w 135"/>
                    <a:gd name="T9" fmla="*/ 67 h 67"/>
                    <a:gd name="T10" fmla="*/ 0 60000 65536"/>
                    <a:gd name="T11" fmla="*/ 0 60000 65536"/>
                    <a:gd name="T12" fmla="*/ 0 60000 65536"/>
                    <a:gd name="T13" fmla="*/ 0 60000 65536"/>
                    <a:gd name="T14" fmla="*/ 0 60000 65536"/>
                    <a:gd name="T15" fmla="*/ 0 w 135"/>
                    <a:gd name="T16" fmla="*/ 0 h 67"/>
                    <a:gd name="T17" fmla="*/ 135 w 135"/>
                    <a:gd name="T18" fmla="*/ 67 h 67"/>
                  </a:gdLst>
                  <a:ahLst/>
                  <a:cxnLst>
                    <a:cxn ang="T10">
                      <a:pos x="T0" y="T1"/>
                    </a:cxn>
                    <a:cxn ang="T11">
                      <a:pos x="T2" y="T3"/>
                    </a:cxn>
                    <a:cxn ang="T12">
                      <a:pos x="T4" y="T5"/>
                    </a:cxn>
                    <a:cxn ang="T13">
                      <a:pos x="T6" y="T7"/>
                    </a:cxn>
                    <a:cxn ang="T14">
                      <a:pos x="T8" y="T9"/>
                    </a:cxn>
                  </a:cxnLst>
                  <a:rect l="T15" t="T16" r="T17" b="T18"/>
                  <a:pathLst>
                    <a:path w="135" h="67">
                      <a:moveTo>
                        <a:pt x="53" y="67"/>
                      </a:moveTo>
                      <a:lnTo>
                        <a:pt x="0" y="43"/>
                      </a:lnTo>
                      <a:lnTo>
                        <a:pt x="87" y="0"/>
                      </a:lnTo>
                      <a:lnTo>
                        <a:pt x="135" y="27"/>
                      </a:lnTo>
                      <a:lnTo>
                        <a:pt x="53" y="67"/>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77" name="Freeform 248"/>
                <p:cNvSpPr>
                  <a:spLocks/>
                </p:cNvSpPr>
                <p:nvPr/>
              </p:nvSpPr>
              <p:spPr bwMode="auto">
                <a:xfrm>
                  <a:off x="708" y="451"/>
                  <a:ext cx="138" cy="65"/>
                </a:xfrm>
                <a:custGeom>
                  <a:avLst/>
                  <a:gdLst>
                    <a:gd name="T0" fmla="*/ 50 w 138"/>
                    <a:gd name="T1" fmla="*/ 65 h 65"/>
                    <a:gd name="T2" fmla="*/ 0 w 138"/>
                    <a:gd name="T3" fmla="*/ 34 h 65"/>
                    <a:gd name="T4" fmla="*/ 83 w 138"/>
                    <a:gd name="T5" fmla="*/ 0 h 65"/>
                    <a:gd name="T6" fmla="*/ 138 w 138"/>
                    <a:gd name="T7" fmla="*/ 27 h 65"/>
                    <a:gd name="T8" fmla="*/ 50 w 138"/>
                    <a:gd name="T9" fmla="*/ 65 h 65"/>
                    <a:gd name="T10" fmla="*/ 0 60000 65536"/>
                    <a:gd name="T11" fmla="*/ 0 60000 65536"/>
                    <a:gd name="T12" fmla="*/ 0 60000 65536"/>
                    <a:gd name="T13" fmla="*/ 0 60000 65536"/>
                    <a:gd name="T14" fmla="*/ 0 60000 65536"/>
                    <a:gd name="T15" fmla="*/ 0 w 138"/>
                    <a:gd name="T16" fmla="*/ 0 h 65"/>
                    <a:gd name="T17" fmla="*/ 138 w 138"/>
                    <a:gd name="T18" fmla="*/ 65 h 65"/>
                  </a:gdLst>
                  <a:ahLst/>
                  <a:cxnLst>
                    <a:cxn ang="T10">
                      <a:pos x="T0" y="T1"/>
                    </a:cxn>
                    <a:cxn ang="T11">
                      <a:pos x="T2" y="T3"/>
                    </a:cxn>
                    <a:cxn ang="T12">
                      <a:pos x="T4" y="T5"/>
                    </a:cxn>
                    <a:cxn ang="T13">
                      <a:pos x="T6" y="T7"/>
                    </a:cxn>
                    <a:cxn ang="T14">
                      <a:pos x="T8" y="T9"/>
                    </a:cxn>
                  </a:cxnLst>
                  <a:rect l="T15" t="T16" r="T17" b="T18"/>
                  <a:pathLst>
                    <a:path w="138" h="65">
                      <a:moveTo>
                        <a:pt x="50" y="65"/>
                      </a:moveTo>
                      <a:lnTo>
                        <a:pt x="0" y="34"/>
                      </a:lnTo>
                      <a:lnTo>
                        <a:pt x="83" y="0"/>
                      </a:lnTo>
                      <a:lnTo>
                        <a:pt x="138" y="27"/>
                      </a:lnTo>
                      <a:lnTo>
                        <a:pt x="50" y="65"/>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78" name="Freeform 249"/>
                <p:cNvSpPr>
                  <a:spLocks/>
                </p:cNvSpPr>
                <p:nvPr/>
              </p:nvSpPr>
              <p:spPr bwMode="auto">
                <a:xfrm>
                  <a:off x="786" y="408"/>
                  <a:ext cx="138" cy="71"/>
                </a:xfrm>
                <a:custGeom>
                  <a:avLst/>
                  <a:gdLst>
                    <a:gd name="T0" fmla="*/ 50 w 138"/>
                    <a:gd name="T1" fmla="*/ 71 h 71"/>
                    <a:gd name="T2" fmla="*/ 0 w 138"/>
                    <a:gd name="T3" fmla="*/ 44 h 71"/>
                    <a:gd name="T4" fmla="*/ 75 w 138"/>
                    <a:gd name="T5" fmla="*/ 0 h 71"/>
                    <a:gd name="T6" fmla="*/ 138 w 138"/>
                    <a:gd name="T7" fmla="*/ 28 h 71"/>
                    <a:gd name="T8" fmla="*/ 50 w 138"/>
                    <a:gd name="T9" fmla="*/ 71 h 71"/>
                    <a:gd name="T10" fmla="*/ 0 60000 65536"/>
                    <a:gd name="T11" fmla="*/ 0 60000 65536"/>
                    <a:gd name="T12" fmla="*/ 0 60000 65536"/>
                    <a:gd name="T13" fmla="*/ 0 60000 65536"/>
                    <a:gd name="T14" fmla="*/ 0 60000 65536"/>
                    <a:gd name="T15" fmla="*/ 0 w 138"/>
                    <a:gd name="T16" fmla="*/ 0 h 71"/>
                    <a:gd name="T17" fmla="*/ 138 w 138"/>
                    <a:gd name="T18" fmla="*/ 71 h 71"/>
                  </a:gdLst>
                  <a:ahLst/>
                  <a:cxnLst>
                    <a:cxn ang="T10">
                      <a:pos x="T0" y="T1"/>
                    </a:cxn>
                    <a:cxn ang="T11">
                      <a:pos x="T2" y="T3"/>
                    </a:cxn>
                    <a:cxn ang="T12">
                      <a:pos x="T4" y="T5"/>
                    </a:cxn>
                    <a:cxn ang="T13">
                      <a:pos x="T6" y="T7"/>
                    </a:cxn>
                    <a:cxn ang="T14">
                      <a:pos x="T8" y="T9"/>
                    </a:cxn>
                  </a:cxnLst>
                  <a:rect l="T15" t="T16" r="T17" b="T18"/>
                  <a:pathLst>
                    <a:path w="138" h="71">
                      <a:moveTo>
                        <a:pt x="50" y="71"/>
                      </a:moveTo>
                      <a:lnTo>
                        <a:pt x="0" y="44"/>
                      </a:lnTo>
                      <a:lnTo>
                        <a:pt x="75" y="0"/>
                      </a:lnTo>
                      <a:lnTo>
                        <a:pt x="138" y="28"/>
                      </a:lnTo>
                      <a:lnTo>
                        <a:pt x="50" y="71"/>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79" name="Freeform 250"/>
                <p:cNvSpPr>
                  <a:spLocks/>
                </p:cNvSpPr>
                <p:nvPr/>
              </p:nvSpPr>
              <p:spPr bwMode="auto">
                <a:xfrm>
                  <a:off x="650" y="417"/>
                  <a:ext cx="136" cy="68"/>
                </a:xfrm>
                <a:custGeom>
                  <a:avLst/>
                  <a:gdLst>
                    <a:gd name="T0" fmla="*/ 57 w 136"/>
                    <a:gd name="T1" fmla="*/ 68 h 68"/>
                    <a:gd name="T2" fmla="*/ 0 w 136"/>
                    <a:gd name="T3" fmla="*/ 35 h 68"/>
                    <a:gd name="T4" fmla="*/ 87 w 136"/>
                    <a:gd name="T5" fmla="*/ 0 h 68"/>
                    <a:gd name="T6" fmla="*/ 136 w 136"/>
                    <a:gd name="T7" fmla="*/ 35 h 68"/>
                    <a:gd name="T8" fmla="*/ 57 w 136"/>
                    <a:gd name="T9" fmla="*/ 68 h 68"/>
                    <a:gd name="T10" fmla="*/ 0 60000 65536"/>
                    <a:gd name="T11" fmla="*/ 0 60000 65536"/>
                    <a:gd name="T12" fmla="*/ 0 60000 65536"/>
                    <a:gd name="T13" fmla="*/ 0 60000 65536"/>
                    <a:gd name="T14" fmla="*/ 0 60000 65536"/>
                    <a:gd name="T15" fmla="*/ 0 w 136"/>
                    <a:gd name="T16" fmla="*/ 0 h 68"/>
                    <a:gd name="T17" fmla="*/ 136 w 136"/>
                    <a:gd name="T18" fmla="*/ 68 h 68"/>
                  </a:gdLst>
                  <a:ahLst/>
                  <a:cxnLst>
                    <a:cxn ang="T10">
                      <a:pos x="T0" y="T1"/>
                    </a:cxn>
                    <a:cxn ang="T11">
                      <a:pos x="T2" y="T3"/>
                    </a:cxn>
                    <a:cxn ang="T12">
                      <a:pos x="T4" y="T5"/>
                    </a:cxn>
                    <a:cxn ang="T13">
                      <a:pos x="T6" y="T7"/>
                    </a:cxn>
                    <a:cxn ang="T14">
                      <a:pos x="T8" y="T9"/>
                    </a:cxn>
                  </a:cxnLst>
                  <a:rect l="T15" t="T16" r="T17" b="T18"/>
                  <a:pathLst>
                    <a:path w="136" h="68">
                      <a:moveTo>
                        <a:pt x="57" y="68"/>
                      </a:moveTo>
                      <a:lnTo>
                        <a:pt x="0" y="35"/>
                      </a:lnTo>
                      <a:lnTo>
                        <a:pt x="87" y="0"/>
                      </a:lnTo>
                      <a:lnTo>
                        <a:pt x="136" y="35"/>
                      </a:lnTo>
                      <a:lnTo>
                        <a:pt x="57" y="68"/>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80" name="Freeform 251"/>
                <p:cNvSpPr>
                  <a:spLocks/>
                </p:cNvSpPr>
                <p:nvPr/>
              </p:nvSpPr>
              <p:spPr bwMode="auto">
                <a:xfrm>
                  <a:off x="734" y="384"/>
                  <a:ext cx="130" cy="66"/>
                </a:xfrm>
                <a:custGeom>
                  <a:avLst/>
                  <a:gdLst>
                    <a:gd name="T0" fmla="*/ 51 w 130"/>
                    <a:gd name="T1" fmla="*/ 66 h 66"/>
                    <a:gd name="T2" fmla="*/ 0 w 130"/>
                    <a:gd name="T3" fmla="*/ 35 h 66"/>
                    <a:gd name="T4" fmla="*/ 85 w 130"/>
                    <a:gd name="T5" fmla="*/ 0 h 66"/>
                    <a:gd name="T6" fmla="*/ 130 w 130"/>
                    <a:gd name="T7" fmla="*/ 29 h 66"/>
                    <a:gd name="T8" fmla="*/ 51 w 130"/>
                    <a:gd name="T9" fmla="*/ 66 h 66"/>
                    <a:gd name="T10" fmla="*/ 0 60000 65536"/>
                    <a:gd name="T11" fmla="*/ 0 60000 65536"/>
                    <a:gd name="T12" fmla="*/ 0 60000 65536"/>
                    <a:gd name="T13" fmla="*/ 0 60000 65536"/>
                    <a:gd name="T14" fmla="*/ 0 60000 65536"/>
                    <a:gd name="T15" fmla="*/ 0 w 130"/>
                    <a:gd name="T16" fmla="*/ 0 h 66"/>
                    <a:gd name="T17" fmla="*/ 130 w 130"/>
                    <a:gd name="T18" fmla="*/ 66 h 66"/>
                  </a:gdLst>
                  <a:ahLst/>
                  <a:cxnLst>
                    <a:cxn ang="T10">
                      <a:pos x="T0" y="T1"/>
                    </a:cxn>
                    <a:cxn ang="T11">
                      <a:pos x="T2" y="T3"/>
                    </a:cxn>
                    <a:cxn ang="T12">
                      <a:pos x="T4" y="T5"/>
                    </a:cxn>
                    <a:cxn ang="T13">
                      <a:pos x="T6" y="T7"/>
                    </a:cxn>
                    <a:cxn ang="T14">
                      <a:pos x="T8" y="T9"/>
                    </a:cxn>
                  </a:cxnLst>
                  <a:rect l="T15" t="T16" r="T17" b="T18"/>
                  <a:pathLst>
                    <a:path w="130" h="66">
                      <a:moveTo>
                        <a:pt x="51" y="66"/>
                      </a:moveTo>
                      <a:lnTo>
                        <a:pt x="0" y="35"/>
                      </a:lnTo>
                      <a:lnTo>
                        <a:pt x="85" y="0"/>
                      </a:lnTo>
                      <a:lnTo>
                        <a:pt x="130" y="29"/>
                      </a:lnTo>
                      <a:lnTo>
                        <a:pt x="51" y="66"/>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grpSp>
          <p:pic>
            <p:nvPicPr>
              <p:cNvPr id="18469" name="Picture 252" descr="Graphic1"/>
              <p:cNvPicPr>
                <a:picLocks noChangeAspect="1" noChangeArrowheads="1"/>
              </p:cNvPicPr>
              <p:nvPr/>
            </p:nvPicPr>
            <p:blipFill>
              <a:blip r:embed="rId2" cstate="print"/>
              <a:srcRect/>
              <a:stretch>
                <a:fillRect/>
              </a:stretch>
            </p:blipFill>
            <p:spPr bwMode="auto">
              <a:xfrm>
                <a:off x="432" y="2400"/>
                <a:ext cx="262" cy="232"/>
              </a:xfrm>
              <a:prstGeom prst="rect">
                <a:avLst/>
              </a:prstGeom>
              <a:noFill/>
              <a:ln w="9525">
                <a:noFill/>
                <a:miter lim="800000"/>
                <a:headEnd/>
                <a:tailEnd/>
              </a:ln>
            </p:spPr>
          </p:pic>
        </p:grpSp>
      </p:grpSp>
      <p:grpSp>
        <p:nvGrpSpPr>
          <p:cNvPr id="18451" name="Group 73"/>
          <p:cNvGrpSpPr>
            <a:grpSpLocks/>
          </p:cNvGrpSpPr>
          <p:nvPr/>
        </p:nvGrpSpPr>
        <p:grpSpPr bwMode="auto">
          <a:xfrm>
            <a:off x="6172200" y="2362200"/>
            <a:ext cx="593725" cy="685800"/>
            <a:chOff x="4682" y="1152"/>
            <a:chExt cx="717" cy="829"/>
          </a:xfrm>
        </p:grpSpPr>
        <p:grpSp>
          <p:nvGrpSpPr>
            <p:cNvPr id="18452" name="Group 74"/>
            <p:cNvGrpSpPr>
              <a:grpSpLocks/>
            </p:cNvGrpSpPr>
            <p:nvPr/>
          </p:nvGrpSpPr>
          <p:grpSpPr bwMode="auto">
            <a:xfrm>
              <a:off x="4682" y="1482"/>
              <a:ext cx="717" cy="499"/>
              <a:chOff x="648" y="384"/>
              <a:chExt cx="326" cy="227"/>
            </a:xfrm>
          </p:grpSpPr>
          <p:sp>
            <p:nvSpPr>
              <p:cNvPr id="18454" name="Freeform 75"/>
              <p:cNvSpPr>
                <a:spLocks/>
              </p:cNvSpPr>
              <p:nvPr/>
            </p:nvSpPr>
            <p:spPr bwMode="auto">
              <a:xfrm>
                <a:off x="648" y="448"/>
                <a:ext cx="55" cy="98"/>
              </a:xfrm>
              <a:custGeom>
                <a:avLst/>
                <a:gdLst>
                  <a:gd name="T0" fmla="*/ 0 w 55"/>
                  <a:gd name="T1" fmla="*/ 0 h 98"/>
                  <a:gd name="T2" fmla="*/ 2 w 55"/>
                  <a:gd name="T3" fmla="*/ 61 h 98"/>
                  <a:gd name="T4" fmla="*/ 54 w 55"/>
                  <a:gd name="T5" fmla="*/ 98 h 98"/>
                  <a:gd name="T6" fmla="*/ 55 w 55"/>
                  <a:gd name="T7" fmla="*/ 35 h 98"/>
                  <a:gd name="T8" fmla="*/ 0 w 55"/>
                  <a:gd name="T9" fmla="*/ 0 h 98"/>
                  <a:gd name="T10" fmla="*/ 0 60000 65536"/>
                  <a:gd name="T11" fmla="*/ 0 60000 65536"/>
                  <a:gd name="T12" fmla="*/ 0 60000 65536"/>
                  <a:gd name="T13" fmla="*/ 0 60000 65536"/>
                  <a:gd name="T14" fmla="*/ 0 60000 65536"/>
                  <a:gd name="T15" fmla="*/ 0 w 55"/>
                  <a:gd name="T16" fmla="*/ 0 h 98"/>
                  <a:gd name="T17" fmla="*/ 55 w 55"/>
                  <a:gd name="T18" fmla="*/ 98 h 98"/>
                </a:gdLst>
                <a:ahLst/>
                <a:cxnLst>
                  <a:cxn ang="T10">
                    <a:pos x="T0" y="T1"/>
                  </a:cxn>
                  <a:cxn ang="T11">
                    <a:pos x="T2" y="T3"/>
                  </a:cxn>
                  <a:cxn ang="T12">
                    <a:pos x="T4" y="T5"/>
                  </a:cxn>
                  <a:cxn ang="T13">
                    <a:pos x="T6" y="T7"/>
                  </a:cxn>
                  <a:cxn ang="T14">
                    <a:pos x="T8" y="T9"/>
                  </a:cxn>
                </a:cxnLst>
                <a:rect l="T15" t="T16" r="T17" b="T18"/>
                <a:pathLst>
                  <a:path w="55" h="98">
                    <a:moveTo>
                      <a:pt x="0" y="0"/>
                    </a:moveTo>
                    <a:lnTo>
                      <a:pt x="2" y="61"/>
                    </a:lnTo>
                    <a:lnTo>
                      <a:pt x="54" y="98"/>
                    </a:lnTo>
                    <a:lnTo>
                      <a:pt x="55" y="35"/>
                    </a:lnTo>
                    <a:lnTo>
                      <a:pt x="0" y="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55" name="Freeform 76"/>
              <p:cNvSpPr>
                <a:spLocks/>
              </p:cNvSpPr>
              <p:nvPr/>
            </p:nvSpPr>
            <p:spPr bwMode="auto">
              <a:xfrm>
                <a:off x="703" y="483"/>
                <a:ext cx="54" cy="96"/>
              </a:xfrm>
              <a:custGeom>
                <a:avLst/>
                <a:gdLst>
                  <a:gd name="T0" fmla="*/ 0 w 54"/>
                  <a:gd name="T1" fmla="*/ 0 h 96"/>
                  <a:gd name="T2" fmla="*/ 1 w 54"/>
                  <a:gd name="T3" fmla="*/ 63 h 96"/>
                  <a:gd name="T4" fmla="*/ 53 w 54"/>
                  <a:gd name="T5" fmla="*/ 96 h 96"/>
                  <a:gd name="T6" fmla="*/ 54 w 54"/>
                  <a:gd name="T7" fmla="*/ 35 h 96"/>
                  <a:gd name="T8" fmla="*/ 0 w 54"/>
                  <a:gd name="T9" fmla="*/ 0 h 96"/>
                  <a:gd name="T10" fmla="*/ 0 60000 65536"/>
                  <a:gd name="T11" fmla="*/ 0 60000 65536"/>
                  <a:gd name="T12" fmla="*/ 0 60000 65536"/>
                  <a:gd name="T13" fmla="*/ 0 60000 65536"/>
                  <a:gd name="T14" fmla="*/ 0 60000 65536"/>
                  <a:gd name="T15" fmla="*/ 0 w 54"/>
                  <a:gd name="T16" fmla="*/ 0 h 96"/>
                  <a:gd name="T17" fmla="*/ 54 w 54"/>
                  <a:gd name="T18" fmla="*/ 96 h 96"/>
                </a:gdLst>
                <a:ahLst/>
                <a:cxnLst>
                  <a:cxn ang="T10">
                    <a:pos x="T0" y="T1"/>
                  </a:cxn>
                  <a:cxn ang="T11">
                    <a:pos x="T2" y="T3"/>
                  </a:cxn>
                  <a:cxn ang="T12">
                    <a:pos x="T4" y="T5"/>
                  </a:cxn>
                  <a:cxn ang="T13">
                    <a:pos x="T6" y="T7"/>
                  </a:cxn>
                  <a:cxn ang="T14">
                    <a:pos x="T8" y="T9"/>
                  </a:cxn>
                </a:cxnLst>
                <a:rect l="T15" t="T16" r="T17" b="T18"/>
                <a:pathLst>
                  <a:path w="54" h="96">
                    <a:moveTo>
                      <a:pt x="0" y="0"/>
                    </a:moveTo>
                    <a:lnTo>
                      <a:pt x="1" y="63"/>
                    </a:lnTo>
                    <a:lnTo>
                      <a:pt x="53" y="96"/>
                    </a:lnTo>
                    <a:lnTo>
                      <a:pt x="54" y="35"/>
                    </a:lnTo>
                    <a:lnTo>
                      <a:pt x="0" y="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56" name="Freeform 77"/>
              <p:cNvSpPr>
                <a:spLocks/>
              </p:cNvSpPr>
              <p:nvPr/>
            </p:nvSpPr>
            <p:spPr bwMode="auto">
              <a:xfrm>
                <a:off x="757" y="518"/>
                <a:ext cx="55" cy="93"/>
              </a:xfrm>
              <a:custGeom>
                <a:avLst/>
                <a:gdLst>
                  <a:gd name="T0" fmla="*/ 0 w 55"/>
                  <a:gd name="T1" fmla="*/ 0 h 93"/>
                  <a:gd name="T2" fmla="*/ 1 w 55"/>
                  <a:gd name="T3" fmla="*/ 60 h 93"/>
                  <a:gd name="T4" fmla="*/ 55 w 55"/>
                  <a:gd name="T5" fmla="*/ 93 h 93"/>
                  <a:gd name="T6" fmla="*/ 55 w 55"/>
                  <a:gd name="T7" fmla="*/ 35 h 93"/>
                  <a:gd name="T8" fmla="*/ 0 w 55"/>
                  <a:gd name="T9" fmla="*/ 0 h 93"/>
                  <a:gd name="T10" fmla="*/ 0 60000 65536"/>
                  <a:gd name="T11" fmla="*/ 0 60000 65536"/>
                  <a:gd name="T12" fmla="*/ 0 60000 65536"/>
                  <a:gd name="T13" fmla="*/ 0 60000 65536"/>
                  <a:gd name="T14" fmla="*/ 0 60000 65536"/>
                  <a:gd name="T15" fmla="*/ 0 w 55"/>
                  <a:gd name="T16" fmla="*/ 0 h 93"/>
                  <a:gd name="T17" fmla="*/ 55 w 55"/>
                  <a:gd name="T18" fmla="*/ 93 h 93"/>
                </a:gdLst>
                <a:ahLst/>
                <a:cxnLst>
                  <a:cxn ang="T10">
                    <a:pos x="T0" y="T1"/>
                  </a:cxn>
                  <a:cxn ang="T11">
                    <a:pos x="T2" y="T3"/>
                  </a:cxn>
                  <a:cxn ang="T12">
                    <a:pos x="T4" y="T5"/>
                  </a:cxn>
                  <a:cxn ang="T13">
                    <a:pos x="T6" y="T7"/>
                  </a:cxn>
                  <a:cxn ang="T14">
                    <a:pos x="T8" y="T9"/>
                  </a:cxn>
                </a:cxnLst>
                <a:rect l="T15" t="T16" r="T17" b="T18"/>
                <a:pathLst>
                  <a:path w="55" h="93">
                    <a:moveTo>
                      <a:pt x="0" y="0"/>
                    </a:moveTo>
                    <a:lnTo>
                      <a:pt x="1" y="60"/>
                    </a:lnTo>
                    <a:lnTo>
                      <a:pt x="55" y="93"/>
                    </a:lnTo>
                    <a:lnTo>
                      <a:pt x="55" y="35"/>
                    </a:lnTo>
                    <a:lnTo>
                      <a:pt x="0" y="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57" name="Freeform 78"/>
              <p:cNvSpPr>
                <a:spLocks/>
              </p:cNvSpPr>
              <p:nvPr/>
            </p:nvSpPr>
            <p:spPr bwMode="auto">
              <a:xfrm>
                <a:off x="809" y="503"/>
                <a:ext cx="88" cy="108"/>
              </a:xfrm>
              <a:custGeom>
                <a:avLst/>
                <a:gdLst>
                  <a:gd name="T0" fmla="*/ 3 w 88"/>
                  <a:gd name="T1" fmla="*/ 108 h 108"/>
                  <a:gd name="T2" fmla="*/ 87 w 88"/>
                  <a:gd name="T3" fmla="*/ 63 h 108"/>
                  <a:gd name="T4" fmla="*/ 88 w 88"/>
                  <a:gd name="T5" fmla="*/ 0 h 108"/>
                  <a:gd name="T6" fmla="*/ 0 w 88"/>
                  <a:gd name="T7" fmla="*/ 46 h 108"/>
                  <a:gd name="T8" fmla="*/ 3 w 88"/>
                  <a:gd name="T9" fmla="*/ 108 h 108"/>
                  <a:gd name="T10" fmla="*/ 0 60000 65536"/>
                  <a:gd name="T11" fmla="*/ 0 60000 65536"/>
                  <a:gd name="T12" fmla="*/ 0 60000 65536"/>
                  <a:gd name="T13" fmla="*/ 0 60000 65536"/>
                  <a:gd name="T14" fmla="*/ 0 60000 65536"/>
                  <a:gd name="T15" fmla="*/ 0 w 88"/>
                  <a:gd name="T16" fmla="*/ 0 h 108"/>
                  <a:gd name="T17" fmla="*/ 88 w 88"/>
                  <a:gd name="T18" fmla="*/ 108 h 108"/>
                </a:gdLst>
                <a:ahLst/>
                <a:cxnLst>
                  <a:cxn ang="T10">
                    <a:pos x="T0" y="T1"/>
                  </a:cxn>
                  <a:cxn ang="T11">
                    <a:pos x="T2" y="T3"/>
                  </a:cxn>
                  <a:cxn ang="T12">
                    <a:pos x="T4" y="T5"/>
                  </a:cxn>
                  <a:cxn ang="T13">
                    <a:pos x="T6" y="T7"/>
                  </a:cxn>
                  <a:cxn ang="T14">
                    <a:pos x="T8" y="T9"/>
                  </a:cxn>
                </a:cxnLst>
                <a:rect l="T15" t="T16" r="T17" b="T18"/>
                <a:pathLst>
                  <a:path w="88" h="108">
                    <a:moveTo>
                      <a:pt x="3" y="108"/>
                    </a:moveTo>
                    <a:lnTo>
                      <a:pt x="87" y="63"/>
                    </a:lnTo>
                    <a:lnTo>
                      <a:pt x="88" y="0"/>
                    </a:lnTo>
                    <a:lnTo>
                      <a:pt x="0" y="46"/>
                    </a:lnTo>
                    <a:lnTo>
                      <a:pt x="3" y="108"/>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58" name="Freeform 79"/>
              <p:cNvSpPr>
                <a:spLocks/>
              </p:cNvSpPr>
              <p:nvPr/>
            </p:nvSpPr>
            <p:spPr bwMode="auto">
              <a:xfrm>
                <a:off x="897" y="464"/>
                <a:ext cx="77" cy="100"/>
              </a:xfrm>
              <a:custGeom>
                <a:avLst/>
                <a:gdLst>
                  <a:gd name="T0" fmla="*/ 0 w 77"/>
                  <a:gd name="T1" fmla="*/ 100 h 100"/>
                  <a:gd name="T2" fmla="*/ 77 w 77"/>
                  <a:gd name="T3" fmla="*/ 63 h 100"/>
                  <a:gd name="T4" fmla="*/ 77 w 77"/>
                  <a:gd name="T5" fmla="*/ 0 h 100"/>
                  <a:gd name="T6" fmla="*/ 0 w 77"/>
                  <a:gd name="T7" fmla="*/ 39 h 100"/>
                  <a:gd name="T8" fmla="*/ 0 w 77"/>
                  <a:gd name="T9" fmla="*/ 100 h 100"/>
                  <a:gd name="T10" fmla="*/ 0 60000 65536"/>
                  <a:gd name="T11" fmla="*/ 0 60000 65536"/>
                  <a:gd name="T12" fmla="*/ 0 60000 65536"/>
                  <a:gd name="T13" fmla="*/ 0 60000 65536"/>
                  <a:gd name="T14" fmla="*/ 0 60000 65536"/>
                  <a:gd name="T15" fmla="*/ 0 w 77"/>
                  <a:gd name="T16" fmla="*/ 0 h 100"/>
                  <a:gd name="T17" fmla="*/ 77 w 77"/>
                  <a:gd name="T18" fmla="*/ 100 h 100"/>
                </a:gdLst>
                <a:ahLst/>
                <a:cxnLst>
                  <a:cxn ang="T10">
                    <a:pos x="T0" y="T1"/>
                  </a:cxn>
                  <a:cxn ang="T11">
                    <a:pos x="T2" y="T3"/>
                  </a:cxn>
                  <a:cxn ang="T12">
                    <a:pos x="T4" y="T5"/>
                  </a:cxn>
                  <a:cxn ang="T13">
                    <a:pos x="T6" y="T7"/>
                  </a:cxn>
                  <a:cxn ang="T14">
                    <a:pos x="T8" y="T9"/>
                  </a:cxn>
                </a:cxnLst>
                <a:rect l="T15" t="T16" r="T17" b="T18"/>
                <a:pathLst>
                  <a:path w="77" h="100">
                    <a:moveTo>
                      <a:pt x="0" y="100"/>
                    </a:moveTo>
                    <a:lnTo>
                      <a:pt x="77" y="63"/>
                    </a:lnTo>
                    <a:lnTo>
                      <a:pt x="77" y="0"/>
                    </a:lnTo>
                    <a:lnTo>
                      <a:pt x="0" y="39"/>
                    </a:lnTo>
                    <a:lnTo>
                      <a:pt x="0" y="10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59" name="Freeform 80"/>
              <p:cNvSpPr>
                <a:spLocks/>
              </p:cNvSpPr>
              <p:nvPr/>
            </p:nvSpPr>
            <p:spPr bwMode="auto">
              <a:xfrm>
                <a:off x="755" y="479"/>
                <a:ext cx="139" cy="70"/>
              </a:xfrm>
              <a:custGeom>
                <a:avLst/>
                <a:gdLst>
                  <a:gd name="T0" fmla="*/ 54 w 139"/>
                  <a:gd name="T1" fmla="*/ 70 h 70"/>
                  <a:gd name="T2" fmla="*/ 0 w 139"/>
                  <a:gd name="T3" fmla="*/ 39 h 70"/>
                  <a:gd name="T4" fmla="*/ 84 w 139"/>
                  <a:gd name="T5" fmla="*/ 0 h 70"/>
                  <a:gd name="T6" fmla="*/ 139 w 139"/>
                  <a:gd name="T7" fmla="*/ 27 h 70"/>
                  <a:gd name="T8" fmla="*/ 54 w 139"/>
                  <a:gd name="T9" fmla="*/ 70 h 70"/>
                  <a:gd name="T10" fmla="*/ 0 60000 65536"/>
                  <a:gd name="T11" fmla="*/ 0 60000 65536"/>
                  <a:gd name="T12" fmla="*/ 0 60000 65536"/>
                  <a:gd name="T13" fmla="*/ 0 60000 65536"/>
                  <a:gd name="T14" fmla="*/ 0 60000 65536"/>
                  <a:gd name="T15" fmla="*/ 0 w 139"/>
                  <a:gd name="T16" fmla="*/ 0 h 70"/>
                  <a:gd name="T17" fmla="*/ 139 w 139"/>
                  <a:gd name="T18" fmla="*/ 70 h 70"/>
                </a:gdLst>
                <a:ahLst/>
                <a:cxnLst>
                  <a:cxn ang="T10">
                    <a:pos x="T0" y="T1"/>
                  </a:cxn>
                  <a:cxn ang="T11">
                    <a:pos x="T2" y="T3"/>
                  </a:cxn>
                  <a:cxn ang="T12">
                    <a:pos x="T4" y="T5"/>
                  </a:cxn>
                  <a:cxn ang="T13">
                    <a:pos x="T6" y="T7"/>
                  </a:cxn>
                  <a:cxn ang="T14">
                    <a:pos x="T8" y="T9"/>
                  </a:cxn>
                </a:cxnLst>
                <a:rect l="T15" t="T16" r="T17" b="T18"/>
                <a:pathLst>
                  <a:path w="139" h="70">
                    <a:moveTo>
                      <a:pt x="54" y="70"/>
                    </a:moveTo>
                    <a:lnTo>
                      <a:pt x="0" y="39"/>
                    </a:lnTo>
                    <a:lnTo>
                      <a:pt x="84" y="0"/>
                    </a:lnTo>
                    <a:lnTo>
                      <a:pt x="139" y="27"/>
                    </a:lnTo>
                    <a:lnTo>
                      <a:pt x="54" y="70"/>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60" name="Freeform 81"/>
              <p:cNvSpPr>
                <a:spLocks/>
              </p:cNvSpPr>
              <p:nvPr/>
            </p:nvSpPr>
            <p:spPr bwMode="auto">
              <a:xfrm>
                <a:off x="837" y="437"/>
                <a:ext cx="135" cy="67"/>
              </a:xfrm>
              <a:custGeom>
                <a:avLst/>
                <a:gdLst>
                  <a:gd name="T0" fmla="*/ 53 w 135"/>
                  <a:gd name="T1" fmla="*/ 67 h 67"/>
                  <a:gd name="T2" fmla="*/ 0 w 135"/>
                  <a:gd name="T3" fmla="*/ 43 h 67"/>
                  <a:gd name="T4" fmla="*/ 87 w 135"/>
                  <a:gd name="T5" fmla="*/ 0 h 67"/>
                  <a:gd name="T6" fmla="*/ 135 w 135"/>
                  <a:gd name="T7" fmla="*/ 27 h 67"/>
                  <a:gd name="T8" fmla="*/ 53 w 135"/>
                  <a:gd name="T9" fmla="*/ 67 h 67"/>
                  <a:gd name="T10" fmla="*/ 0 60000 65536"/>
                  <a:gd name="T11" fmla="*/ 0 60000 65536"/>
                  <a:gd name="T12" fmla="*/ 0 60000 65536"/>
                  <a:gd name="T13" fmla="*/ 0 60000 65536"/>
                  <a:gd name="T14" fmla="*/ 0 60000 65536"/>
                  <a:gd name="T15" fmla="*/ 0 w 135"/>
                  <a:gd name="T16" fmla="*/ 0 h 67"/>
                  <a:gd name="T17" fmla="*/ 135 w 135"/>
                  <a:gd name="T18" fmla="*/ 67 h 67"/>
                </a:gdLst>
                <a:ahLst/>
                <a:cxnLst>
                  <a:cxn ang="T10">
                    <a:pos x="T0" y="T1"/>
                  </a:cxn>
                  <a:cxn ang="T11">
                    <a:pos x="T2" y="T3"/>
                  </a:cxn>
                  <a:cxn ang="T12">
                    <a:pos x="T4" y="T5"/>
                  </a:cxn>
                  <a:cxn ang="T13">
                    <a:pos x="T6" y="T7"/>
                  </a:cxn>
                  <a:cxn ang="T14">
                    <a:pos x="T8" y="T9"/>
                  </a:cxn>
                </a:cxnLst>
                <a:rect l="T15" t="T16" r="T17" b="T18"/>
                <a:pathLst>
                  <a:path w="135" h="67">
                    <a:moveTo>
                      <a:pt x="53" y="67"/>
                    </a:moveTo>
                    <a:lnTo>
                      <a:pt x="0" y="43"/>
                    </a:lnTo>
                    <a:lnTo>
                      <a:pt x="87" y="0"/>
                    </a:lnTo>
                    <a:lnTo>
                      <a:pt x="135" y="27"/>
                    </a:lnTo>
                    <a:lnTo>
                      <a:pt x="53" y="67"/>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61" name="Freeform 82"/>
              <p:cNvSpPr>
                <a:spLocks/>
              </p:cNvSpPr>
              <p:nvPr/>
            </p:nvSpPr>
            <p:spPr bwMode="auto">
              <a:xfrm>
                <a:off x="708" y="451"/>
                <a:ext cx="138" cy="65"/>
              </a:xfrm>
              <a:custGeom>
                <a:avLst/>
                <a:gdLst>
                  <a:gd name="T0" fmla="*/ 50 w 138"/>
                  <a:gd name="T1" fmla="*/ 65 h 65"/>
                  <a:gd name="T2" fmla="*/ 0 w 138"/>
                  <a:gd name="T3" fmla="*/ 34 h 65"/>
                  <a:gd name="T4" fmla="*/ 83 w 138"/>
                  <a:gd name="T5" fmla="*/ 0 h 65"/>
                  <a:gd name="T6" fmla="*/ 138 w 138"/>
                  <a:gd name="T7" fmla="*/ 27 h 65"/>
                  <a:gd name="T8" fmla="*/ 50 w 138"/>
                  <a:gd name="T9" fmla="*/ 65 h 65"/>
                  <a:gd name="T10" fmla="*/ 0 60000 65536"/>
                  <a:gd name="T11" fmla="*/ 0 60000 65536"/>
                  <a:gd name="T12" fmla="*/ 0 60000 65536"/>
                  <a:gd name="T13" fmla="*/ 0 60000 65536"/>
                  <a:gd name="T14" fmla="*/ 0 60000 65536"/>
                  <a:gd name="T15" fmla="*/ 0 w 138"/>
                  <a:gd name="T16" fmla="*/ 0 h 65"/>
                  <a:gd name="T17" fmla="*/ 138 w 138"/>
                  <a:gd name="T18" fmla="*/ 65 h 65"/>
                </a:gdLst>
                <a:ahLst/>
                <a:cxnLst>
                  <a:cxn ang="T10">
                    <a:pos x="T0" y="T1"/>
                  </a:cxn>
                  <a:cxn ang="T11">
                    <a:pos x="T2" y="T3"/>
                  </a:cxn>
                  <a:cxn ang="T12">
                    <a:pos x="T4" y="T5"/>
                  </a:cxn>
                  <a:cxn ang="T13">
                    <a:pos x="T6" y="T7"/>
                  </a:cxn>
                  <a:cxn ang="T14">
                    <a:pos x="T8" y="T9"/>
                  </a:cxn>
                </a:cxnLst>
                <a:rect l="T15" t="T16" r="T17" b="T18"/>
                <a:pathLst>
                  <a:path w="138" h="65">
                    <a:moveTo>
                      <a:pt x="50" y="65"/>
                    </a:moveTo>
                    <a:lnTo>
                      <a:pt x="0" y="34"/>
                    </a:lnTo>
                    <a:lnTo>
                      <a:pt x="83" y="0"/>
                    </a:lnTo>
                    <a:lnTo>
                      <a:pt x="138" y="27"/>
                    </a:lnTo>
                    <a:lnTo>
                      <a:pt x="50" y="65"/>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62" name="Freeform 83"/>
              <p:cNvSpPr>
                <a:spLocks/>
              </p:cNvSpPr>
              <p:nvPr/>
            </p:nvSpPr>
            <p:spPr bwMode="auto">
              <a:xfrm>
                <a:off x="786" y="408"/>
                <a:ext cx="138" cy="71"/>
              </a:xfrm>
              <a:custGeom>
                <a:avLst/>
                <a:gdLst>
                  <a:gd name="T0" fmla="*/ 50 w 138"/>
                  <a:gd name="T1" fmla="*/ 71 h 71"/>
                  <a:gd name="T2" fmla="*/ 0 w 138"/>
                  <a:gd name="T3" fmla="*/ 44 h 71"/>
                  <a:gd name="T4" fmla="*/ 75 w 138"/>
                  <a:gd name="T5" fmla="*/ 0 h 71"/>
                  <a:gd name="T6" fmla="*/ 138 w 138"/>
                  <a:gd name="T7" fmla="*/ 28 h 71"/>
                  <a:gd name="T8" fmla="*/ 50 w 138"/>
                  <a:gd name="T9" fmla="*/ 71 h 71"/>
                  <a:gd name="T10" fmla="*/ 0 60000 65536"/>
                  <a:gd name="T11" fmla="*/ 0 60000 65536"/>
                  <a:gd name="T12" fmla="*/ 0 60000 65536"/>
                  <a:gd name="T13" fmla="*/ 0 60000 65536"/>
                  <a:gd name="T14" fmla="*/ 0 60000 65536"/>
                  <a:gd name="T15" fmla="*/ 0 w 138"/>
                  <a:gd name="T16" fmla="*/ 0 h 71"/>
                  <a:gd name="T17" fmla="*/ 138 w 138"/>
                  <a:gd name="T18" fmla="*/ 71 h 71"/>
                </a:gdLst>
                <a:ahLst/>
                <a:cxnLst>
                  <a:cxn ang="T10">
                    <a:pos x="T0" y="T1"/>
                  </a:cxn>
                  <a:cxn ang="T11">
                    <a:pos x="T2" y="T3"/>
                  </a:cxn>
                  <a:cxn ang="T12">
                    <a:pos x="T4" y="T5"/>
                  </a:cxn>
                  <a:cxn ang="T13">
                    <a:pos x="T6" y="T7"/>
                  </a:cxn>
                  <a:cxn ang="T14">
                    <a:pos x="T8" y="T9"/>
                  </a:cxn>
                </a:cxnLst>
                <a:rect l="T15" t="T16" r="T17" b="T18"/>
                <a:pathLst>
                  <a:path w="138" h="71">
                    <a:moveTo>
                      <a:pt x="50" y="71"/>
                    </a:moveTo>
                    <a:lnTo>
                      <a:pt x="0" y="44"/>
                    </a:lnTo>
                    <a:lnTo>
                      <a:pt x="75" y="0"/>
                    </a:lnTo>
                    <a:lnTo>
                      <a:pt x="138" y="28"/>
                    </a:lnTo>
                    <a:lnTo>
                      <a:pt x="50" y="71"/>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63" name="Freeform 84"/>
              <p:cNvSpPr>
                <a:spLocks/>
              </p:cNvSpPr>
              <p:nvPr/>
            </p:nvSpPr>
            <p:spPr bwMode="auto">
              <a:xfrm>
                <a:off x="650" y="417"/>
                <a:ext cx="136" cy="68"/>
              </a:xfrm>
              <a:custGeom>
                <a:avLst/>
                <a:gdLst>
                  <a:gd name="T0" fmla="*/ 57 w 136"/>
                  <a:gd name="T1" fmla="*/ 68 h 68"/>
                  <a:gd name="T2" fmla="*/ 0 w 136"/>
                  <a:gd name="T3" fmla="*/ 35 h 68"/>
                  <a:gd name="T4" fmla="*/ 87 w 136"/>
                  <a:gd name="T5" fmla="*/ 0 h 68"/>
                  <a:gd name="T6" fmla="*/ 136 w 136"/>
                  <a:gd name="T7" fmla="*/ 35 h 68"/>
                  <a:gd name="T8" fmla="*/ 57 w 136"/>
                  <a:gd name="T9" fmla="*/ 68 h 68"/>
                  <a:gd name="T10" fmla="*/ 0 60000 65536"/>
                  <a:gd name="T11" fmla="*/ 0 60000 65536"/>
                  <a:gd name="T12" fmla="*/ 0 60000 65536"/>
                  <a:gd name="T13" fmla="*/ 0 60000 65536"/>
                  <a:gd name="T14" fmla="*/ 0 60000 65536"/>
                  <a:gd name="T15" fmla="*/ 0 w 136"/>
                  <a:gd name="T16" fmla="*/ 0 h 68"/>
                  <a:gd name="T17" fmla="*/ 136 w 136"/>
                  <a:gd name="T18" fmla="*/ 68 h 68"/>
                </a:gdLst>
                <a:ahLst/>
                <a:cxnLst>
                  <a:cxn ang="T10">
                    <a:pos x="T0" y="T1"/>
                  </a:cxn>
                  <a:cxn ang="T11">
                    <a:pos x="T2" y="T3"/>
                  </a:cxn>
                  <a:cxn ang="T12">
                    <a:pos x="T4" y="T5"/>
                  </a:cxn>
                  <a:cxn ang="T13">
                    <a:pos x="T6" y="T7"/>
                  </a:cxn>
                  <a:cxn ang="T14">
                    <a:pos x="T8" y="T9"/>
                  </a:cxn>
                </a:cxnLst>
                <a:rect l="T15" t="T16" r="T17" b="T18"/>
                <a:pathLst>
                  <a:path w="136" h="68">
                    <a:moveTo>
                      <a:pt x="57" y="68"/>
                    </a:moveTo>
                    <a:lnTo>
                      <a:pt x="0" y="35"/>
                    </a:lnTo>
                    <a:lnTo>
                      <a:pt x="87" y="0"/>
                    </a:lnTo>
                    <a:lnTo>
                      <a:pt x="136" y="35"/>
                    </a:lnTo>
                    <a:lnTo>
                      <a:pt x="57" y="68"/>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sp>
            <p:nvSpPr>
              <p:cNvPr id="18464" name="Freeform 85"/>
              <p:cNvSpPr>
                <a:spLocks/>
              </p:cNvSpPr>
              <p:nvPr/>
            </p:nvSpPr>
            <p:spPr bwMode="auto">
              <a:xfrm>
                <a:off x="734" y="384"/>
                <a:ext cx="130" cy="66"/>
              </a:xfrm>
              <a:custGeom>
                <a:avLst/>
                <a:gdLst>
                  <a:gd name="T0" fmla="*/ 51 w 130"/>
                  <a:gd name="T1" fmla="*/ 66 h 66"/>
                  <a:gd name="T2" fmla="*/ 0 w 130"/>
                  <a:gd name="T3" fmla="*/ 35 h 66"/>
                  <a:gd name="T4" fmla="*/ 85 w 130"/>
                  <a:gd name="T5" fmla="*/ 0 h 66"/>
                  <a:gd name="T6" fmla="*/ 130 w 130"/>
                  <a:gd name="T7" fmla="*/ 29 h 66"/>
                  <a:gd name="T8" fmla="*/ 51 w 130"/>
                  <a:gd name="T9" fmla="*/ 66 h 66"/>
                  <a:gd name="T10" fmla="*/ 0 60000 65536"/>
                  <a:gd name="T11" fmla="*/ 0 60000 65536"/>
                  <a:gd name="T12" fmla="*/ 0 60000 65536"/>
                  <a:gd name="T13" fmla="*/ 0 60000 65536"/>
                  <a:gd name="T14" fmla="*/ 0 60000 65536"/>
                  <a:gd name="T15" fmla="*/ 0 w 130"/>
                  <a:gd name="T16" fmla="*/ 0 h 66"/>
                  <a:gd name="T17" fmla="*/ 130 w 130"/>
                  <a:gd name="T18" fmla="*/ 66 h 66"/>
                </a:gdLst>
                <a:ahLst/>
                <a:cxnLst>
                  <a:cxn ang="T10">
                    <a:pos x="T0" y="T1"/>
                  </a:cxn>
                  <a:cxn ang="T11">
                    <a:pos x="T2" y="T3"/>
                  </a:cxn>
                  <a:cxn ang="T12">
                    <a:pos x="T4" y="T5"/>
                  </a:cxn>
                  <a:cxn ang="T13">
                    <a:pos x="T6" y="T7"/>
                  </a:cxn>
                  <a:cxn ang="T14">
                    <a:pos x="T8" y="T9"/>
                  </a:cxn>
                </a:cxnLst>
                <a:rect l="T15" t="T16" r="T17" b="T18"/>
                <a:pathLst>
                  <a:path w="130" h="66">
                    <a:moveTo>
                      <a:pt x="51" y="66"/>
                    </a:moveTo>
                    <a:lnTo>
                      <a:pt x="0" y="35"/>
                    </a:lnTo>
                    <a:lnTo>
                      <a:pt x="85" y="0"/>
                    </a:lnTo>
                    <a:lnTo>
                      <a:pt x="130" y="29"/>
                    </a:lnTo>
                    <a:lnTo>
                      <a:pt x="51" y="66"/>
                    </a:lnTo>
                    <a:close/>
                  </a:path>
                </a:pathLst>
              </a:custGeom>
              <a:gradFill rotWithShape="0">
                <a:gsLst>
                  <a:gs pos="0">
                    <a:srgbClr val="B97777"/>
                  </a:gs>
                  <a:gs pos="50000">
                    <a:srgbClr val="D2A6A8"/>
                  </a:gs>
                  <a:gs pos="100000">
                    <a:srgbClr val="B97777"/>
                  </a:gs>
                </a:gsLst>
                <a:lin ang="0" scaled="1"/>
              </a:gradFill>
              <a:ln w="3175" cap="flat" cmpd="sng">
                <a:solidFill>
                  <a:schemeClr val="tx1"/>
                </a:solidFill>
                <a:prstDash val="solid"/>
                <a:round/>
                <a:headEnd type="none" w="sm" len="sm"/>
                <a:tailEnd type="none" w="sm" len="sm"/>
              </a:ln>
            </p:spPr>
            <p:txBody>
              <a:bodyPr wrap="none" anchor="ctr"/>
              <a:lstStyle/>
              <a:p>
                <a:endParaRPr lang="en-US"/>
              </a:p>
            </p:txBody>
          </p:sp>
        </p:grpSp>
        <p:sp>
          <p:nvSpPr>
            <p:cNvPr id="18453" name="Picture 86" descr="Graphic1"/>
            <p:cNvSpPr>
              <a:spLocks noChangeAspect="1" noChangeArrowheads="1"/>
            </p:cNvSpPr>
            <p:nvPr/>
          </p:nvSpPr>
          <p:spPr bwMode="auto">
            <a:xfrm>
              <a:off x="4814" y="1152"/>
              <a:ext cx="457" cy="594"/>
            </a:xfrm>
            <a:prstGeom prst="rect">
              <a:avLst/>
            </a:prstGeom>
            <a:noFill/>
            <a:ln w="9525">
              <a:noFill/>
              <a:miter lim="800000"/>
              <a:headEnd/>
              <a:tailEnd/>
            </a:ln>
          </p:spPr>
          <p:txBody>
            <a:bodyPr/>
            <a:lstStyle/>
            <a:p>
              <a:endParaRPr lang="en-US"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smtClean="0"/>
              <a:t>VPN Topology: How it works</a:t>
            </a:r>
          </a:p>
        </p:txBody>
      </p:sp>
      <p:sp>
        <p:nvSpPr>
          <p:cNvPr id="13315" name="Rectangle 3"/>
          <p:cNvSpPr>
            <a:spLocks noGrp="1" noChangeArrowheads="1"/>
          </p:cNvSpPr>
          <p:nvPr>
            <p:ph type="body" idx="1"/>
          </p:nvPr>
        </p:nvSpPr>
        <p:spPr/>
        <p:txBody>
          <a:bodyPr/>
          <a:lstStyle/>
          <a:p>
            <a:pPr>
              <a:lnSpc>
                <a:spcPct val="90000"/>
              </a:lnSpc>
              <a:defRPr/>
            </a:pPr>
            <a:r>
              <a:rPr lang="en-US" sz="3600" dirty="0" smtClean="0"/>
              <a:t>Operates at layer 2 or 3 of OSI model</a:t>
            </a:r>
          </a:p>
          <a:p>
            <a:pPr lvl="1">
              <a:lnSpc>
                <a:spcPct val="90000"/>
              </a:lnSpc>
              <a:defRPr/>
            </a:pPr>
            <a:r>
              <a:rPr lang="en-US" sz="3200" dirty="0" smtClean="0"/>
              <a:t>Layer 2 frame – Ethernet</a:t>
            </a:r>
          </a:p>
          <a:p>
            <a:pPr lvl="1">
              <a:lnSpc>
                <a:spcPct val="90000"/>
              </a:lnSpc>
              <a:defRPr/>
            </a:pPr>
            <a:r>
              <a:rPr lang="en-US" sz="3200" dirty="0" smtClean="0"/>
              <a:t>Layer 3 packet – IP</a:t>
            </a:r>
          </a:p>
          <a:p>
            <a:pPr>
              <a:lnSpc>
                <a:spcPct val="90000"/>
              </a:lnSpc>
              <a:buFont typeface="Wingdings" pitchFamily="2" charset="2"/>
              <a:buNone/>
              <a:defRPr/>
            </a:pPr>
            <a:endParaRPr lang="en-US" sz="36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smtClean="0"/>
              <a:t>VPN Components: Protocols</a:t>
            </a:r>
          </a:p>
        </p:txBody>
      </p:sp>
      <p:sp>
        <p:nvSpPr>
          <p:cNvPr id="22531" name="Rectangle 3"/>
          <p:cNvSpPr>
            <a:spLocks noGrp="1" noChangeArrowheads="1"/>
          </p:cNvSpPr>
          <p:nvPr>
            <p:ph type="body" idx="1"/>
          </p:nvPr>
        </p:nvSpPr>
        <p:spPr>
          <a:xfrm>
            <a:off x="762000" y="1905000"/>
            <a:ext cx="7772400" cy="4191000"/>
          </a:xfrm>
        </p:spPr>
        <p:txBody>
          <a:bodyPr/>
          <a:lstStyle/>
          <a:p>
            <a:pPr>
              <a:defRPr/>
            </a:pPr>
            <a:r>
              <a:rPr lang="en-US" dirty="0" smtClean="0"/>
              <a:t>IP Security (IPSec)</a:t>
            </a:r>
          </a:p>
          <a:p>
            <a:pPr lvl="1">
              <a:defRPr/>
            </a:pPr>
            <a:r>
              <a:rPr lang="en-US" dirty="0" smtClean="0"/>
              <a:t>Transport mode</a:t>
            </a:r>
          </a:p>
          <a:p>
            <a:pPr lvl="1">
              <a:defRPr/>
            </a:pPr>
            <a:r>
              <a:rPr lang="en-US" dirty="0" smtClean="0"/>
              <a:t>Tunnel mode</a:t>
            </a:r>
          </a:p>
          <a:p>
            <a:pPr>
              <a:defRPr/>
            </a:pPr>
            <a:r>
              <a:rPr lang="en-US" dirty="0" smtClean="0"/>
              <a:t>Point-to-Point Tunneling Protocol (PPTP)</a:t>
            </a:r>
          </a:p>
          <a:p>
            <a:pPr lvl="1">
              <a:defRPr/>
            </a:pPr>
            <a:r>
              <a:rPr lang="en-US" dirty="0" smtClean="0"/>
              <a:t>Uses PPP (Point-to-Point Protocol)</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smtClean="0"/>
              <a:t>VPN Components: Protocols </a:t>
            </a:r>
          </a:p>
        </p:txBody>
      </p:sp>
      <p:sp>
        <p:nvSpPr>
          <p:cNvPr id="30723" name="Rectangle 3"/>
          <p:cNvSpPr>
            <a:spLocks noGrp="1" noChangeArrowheads="1"/>
          </p:cNvSpPr>
          <p:nvPr>
            <p:ph type="body" idx="1"/>
          </p:nvPr>
        </p:nvSpPr>
        <p:spPr/>
        <p:txBody>
          <a:bodyPr/>
          <a:lstStyle/>
          <a:p>
            <a:pPr>
              <a:defRPr/>
            </a:pPr>
            <a:r>
              <a:rPr lang="en-US" dirty="0" smtClean="0"/>
              <a:t>Layer 2 Tunneling Protocol (L2TP)</a:t>
            </a:r>
          </a:p>
          <a:p>
            <a:pPr lvl="1">
              <a:defRPr/>
            </a:pPr>
            <a:r>
              <a:rPr lang="en-US" dirty="0" smtClean="0"/>
              <a:t>Exists at the data link layer of OSI</a:t>
            </a:r>
          </a:p>
          <a:p>
            <a:pPr lvl="1">
              <a:defRPr/>
            </a:pPr>
            <a:r>
              <a:rPr lang="en-US" dirty="0" smtClean="0"/>
              <a:t>Composed from PPTP and L2F (Layer 2 Forwarding)</a:t>
            </a:r>
          </a:p>
          <a:p>
            <a:pPr lvl="1">
              <a:defRPr/>
            </a:pPr>
            <a:r>
              <a:rPr lang="en-US" dirty="0" smtClean="0"/>
              <a:t>Compulsory tunneling method</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Slide Number Placeholder 3"/>
          <p:cNvSpPr>
            <a:spLocks noGrp="1"/>
          </p:cNvSpPr>
          <p:nvPr>
            <p:ph type="sldNum" sz="quarter" idx="10"/>
          </p:nvPr>
        </p:nvSpPr>
        <p:spPr/>
        <p:txBody>
          <a:bodyPr/>
          <a:lstStyle/>
          <a:p>
            <a:pPr>
              <a:defRPr/>
            </a:pPr>
            <a:r>
              <a:rPr lang="en-US"/>
              <a:t>-</a:t>
            </a:r>
            <a:fld id="{DD9D8A76-4D1C-457A-9BAF-88CEBFEDECFD}" type="slidenum">
              <a:rPr lang="ar-SA"/>
              <a:pPr>
                <a:defRPr/>
              </a:pPr>
              <a:t>20</a:t>
            </a:fld>
            <a:r>
              <a:rPr lang="en-US"/>
              <a:t>-</a:t>
            </a:r>
            <a:endParaRPr lang="en-US" sz="800">
              <a:effectLst>
                <a:outerShdw blurRad="38100" dist="38100" dir="2700000" algn="tl">
                  <a:srgbClr val="FFFFFF"/>
                </a:outerShdw>
              </a:effectLst>
            </a:endParaRPr>
          </a:p>
        </p:txBody>
      </p:sp>
      <p:sp>
        <p:nvSpPr>
          <p:cNvPr id="22531" name="Rectangle 2"/>
          <p:cNvSpPr>
            <a:spLocks noGrp="1" noChangeArrowheads="1"/>
          </p:cNvSpPr>
          <p:nvPr>
            <p:ph type="title"/>
          </p:nvPr>
        </p:nvSpPr>
        <p:spPr/>
        <p:txBody>
          <a:bodyPr/>
          <a:lstStyle/>
          <a:p>
            <a:pPr algn="ctr"/>
            <a:r>
              <a:rPr lang="en-US" smtClean="0"/>
              <a:t>Point-to-Point Tunneling Protocol (PPTP)</a:t>
            </a:r>
          </a:p>
        </p:txBody>
      </p:sp>
      <p:sp>
        <p:nvSpPr>
          <p:cNvPr id="265219" name="Rectangle 3"/>
          <p:cNvSpPr>
            <a:spLocks noGrp="1" noChangeArrowheads="1"/>
          </p:cNvSpPr>
          <p:nvPr>
            <p:ph type="body" idx="1"/>
          </p:nvPr>
        </p:nvSpPr>
        <p:spPr>
          <a:xfrm>
            <a:off x="985838" y="1370013"/>
            <a:ext cx="7777162" cy="2211387"/>
          </a:xfrm>
        </p:spPr>
        <p:txBody>
          <a:bodyPr/>
          <a:lstStyle/>
          <a:p>
            <a:pPr algn="just">
              <a:lnSpc>
                <a:spcPct val="90000"/>
              </a:lnSpc>
              <a:defRPr/>
            </a:pPr>
            <a:r>
              <a:rPr lang="en-US" sz="2800" dirty="0" smtClean="0"/>
              <a:t>Layer 2 remote access VPN distributed with Windows product family</a:t>
            </a:r>
          </a:p>
          <a:p>
            <a:pPr lvl="1" algn="just">
              <a:lnSpc>
                <a:spcPct val="90000"/>
              </a:lnSpc>
              <a:defRPr/>
            </a:pPr>
            <a:r>
              <a:rPr lang="en-US" sz="2400" dirty="0" smtClean="0"/>
              <a:t>Based on Point-to-Point Protocol (PPP)</a:t>
            </a:r>
          </a:p>
          <a:p>
            <a:pPr algn="just">
              <a:lnSpc>
                <a:spcPct val="90000"/>
              </a:lnSpc>
              <a:defRPr/>
            </a:pPr>
            <a:endParaRPr lang="en-US" sz="2800" dirty="0" smtClean="0"/>
          </a:p>
          <a:p>
            <a:pPr algn="just">
              <a:lnSpc>
                <a:spcPct val="90000"/>
              </a:lnSpc>
              <a:defRPr/>
            </a:pPr>
            <a:r>
              <a:rPr lang="en-US" sz="2800" dirty="0" smtClean="0"/>
              <a:t>Uses proprietary authentication and encryption</a:t>
            </a:r>
          </a:p>
          <a:p>
            <a:pPr algn="just">
              <a:lnSpc>
                <a:spcPct val="90000"/>
              </a:lnSpc>
              <a:defRPr/>
            </a:pPr>
            <a:r>
              <a:rPr lang="en-US" sz="2800" dirty="0" smtClean="0"/>
              <a:t>Limited user management and scalability</a:t>
            </a:r>
          </a:p>
          <a:p>
            <a:pPr algn="just">
              <a:lnSpc>
                <a:spcPct val="90000"/>
              </a:lnSpc>
              <a:defRPr/>
            </a:pPr>
            <a:endParaRPr lang="en-US" sz="2800" dirty="0" smtClean="0"/>
          </a:p>
          <a:p>
            <a:pPr algn="just">
              <a:lnSpc>
                <a:spcPct val="90000"/>
              </a:lnSpc>
              <a:buFont typeface="Wingdings" pitchFamily="2" charset="2"/>
              <a:buNone/>
              <a:defRPr/>
            </a:pPr>
            <a:endParaRPr lang="en-US" sz="2800" dirty="0" smtClean="0"/>
          </a:p>
          <a:p>
            <a:pPr algn="just">
              <a:lnSpc>
                <a:spcPct val="90000"/>
              </a:lnSpc>
              <a:buFont typeface="Wingdings" pitchFamily="2" charset="2"/>
              <a:buNone/>
              <a:defRPr/>
            </a:pPr>
            <a:endParaRPr lang="en-US" dirty="0" smtClean="0"/>
          </a:p>
        </p:txBody>
      </p:sp>
      <p:pic>
        <p:nvPicPr>
          <p:cNvPr id="22533" name="Picture 5"/>
          <p:cNvPicPr>
            <a:picLocks noChangeArrowheads="1"/>
          </p:cNvPicPr>
          <p:nvPr/>
        </p:nvPicPr>
        <p:blipFill>
          <a:blip r:embed="rId2" cstate="print"/>
          <a:srcRect/>
          <a:stretch>
            <a:fillRect/>
          </a:stretch>
        </p:blipFill>
        <p:spPr bwMode="auto">
          <a:xfrm>
            <a:off x="7162800" y="5643563"/>
            <a:ext cx="669925" cy="604837"/>
          </a:xfrm>
          <a:prstGeom prst="rect">
            <a:avLst/>
          </a:prstGeom>
          <a:noFill/>
          <a:ln w="9525">
            <a:noFill/>
            <a:miter lim="800000"/>
            <a:headEnd/>
            <a:tailEnd/>
          </a:ln>
        </p:spPr>
      </p:pic>
      <p:pic>
        <p:nvPicPr>
          <p:cNvPr id="22534" name="Picture 6"/>
          <p:cNvPicPr>
            <a:picLocks noChangeArrowheads="1"/>
          </p:cNvPicPr>
          <p:nvPr/>
        </p:nvPicPr>
        <p:blipFill>
          <a:blip r:embed="rId2" cstate="print"/>
          <a:srcRect/>
          <a:stretch>
            <a:fillRect/>
          </a:stretch>
        </p:blipFill>
        <p:spPr bwMode="auto">
          <a:xfrm>
            <a:off x="7086600" y="4881563"/>
            <a:ext cx="669925" cy="604837"/>
          </a:xfrm>
          <a:prstGeom prst="rect">
            <a:avLst/>
          </a:prstGeom>
          <a:noFill/>
          <a:ln w="9525">
            <a:noFill/>
            <a:miter lim="800000"/>
            <a:headEnd/>
            <a:tailEnd/>
          </a:ln>
        </p:spPr>
      </p:pic>
      <p:pic>
        <p:nvPicPr>
          <p:cNvPr id="22535" name="Picture 7"/>
          <p:cNvPicPr>
            <a:picLocks noChangeArrowheads="1"/>
          </p:cNvPicPr>
          <p:nvPr/>
        </p:nvPicPr>
        <p:blipFill>
          <a:blip r:embed="rId2" cstate="print"/>
          <a:srcRect/>
          <a:stretch>
            <a:fillRect/>
          </a:stretch>
        </p:blipFill>
        <p:spPr bwMode="auto">
          <a:xfrm>
            <a:off x="7162800" y="4195763"/>
            <a:ext cx="669925" cy="604837"/>
          </a:xfrm>
          <a:prstGeom prst="rect">
            <a:avLst/>
          </a:prstGeom>
          <a:noFill/>
          <a:ln w="9525">
            <a:noFill/>
            <a:miter lim="800000"/>
            <a:headEnd/>
            <a:tailEnd/>
          </a:ln>
        </p:spPr>
      </p:pic>
      <p:pic>
        <p:nvPicPr>
          <p:cNvPr id="22536" name="Picture 12" descr="Graphic1"/>
          <p:cNvPicPr>
            <a:picLocks noChangeAspect="1" noChangeArrowheads="1"/>
          </p:cNvPicPr>
          <p:nvPr/>
        </p:nvPicPr>
        <p:blipFill>
          <a:blip r:embed="rId3" cstate="print"/>
          <a:srcRect/>
          <a:stretch>
            <a:fillRect/>
          </a:stretch>
        </p:blipFill>
        <p:spPr bwMode="auto">
          <a:xfrm>
            <a:off x="1295400" y="4343400"/>
            <a:ext cx="392113" cy="346075"/>
          </a:xfrm>
          <a:prstGeom prst="rect">
            <a:avLst/>
          </a:prstGeom>
          <a:noFill/>
          <a:ln w="28575">
            <a:noFill/>
            <a:miter lim="800000"/>
            <a:headEnd/>
            <a:tailEnd/>
          </a:ln>
        </p:spPr>
      </p:pic>
      <p:grpSp>
        <p:nvGrpSpPr>
          <p:cNvPr id="22537" name="Group 9"/>
          <p:cNvGrpSpPr>
            <a:grpSpLocks/>
          </p:cNvGrpSpPr>
          <p:nvPr/>
        </p:nvGrpSpPr>
        <p:grpSpPr bwMode="auto">
          <a:xfrm>
            <a:off x="3886200" y="4419600"/>
            <a:ext cx="1576388" cy="1520825"/>
            <a:chOff x="1104" y="1186"/>
            <a:chExt cx="654" cy="400"/>
          </a:xfrm>
        </p:grpSpPr>
        <p:pic>
          <p:nvPicPr>
            <p:cNvPr id="22658" name="Picture 10"/>
            <p:cNvPicPr>
              <a:picLocks noChangeArrowheads="1"/>
            </p:cNvPicPr>
            <p:nvPr/>
          </p:nvPicPr>
          <p:blipFill>
            <a:blip r:embed="rId4" cstate="print"/>
            <a:srcRect/>
            <a:stretch>
              <a:fillRect/>
            </a:stretch>
          </p:blipFill>
          <p:spPr bwMode="auto">
            <a:xfrm>
              <a:off x="1104" y="1186"/>
              <a:ext cx="654" cy="400"/>
            </a:xfrm>
            <a:prstGeom prst="rect">
              <a:avLst/>
            </a:prstGeom>
            <a:noFill/>
            <a:ln w="9525">
              <a:noFill/>
              <a:miter lim="800000"/>
              <a:headEnd/>
              <a:tailEnd/>
            </a:ln>
          </p:spPr>
        </p:pic>
        <p:sp>
          <p:nvSpPr>
            <p:cNvPr id="22659" name="Rectangle 11"/>
            <p:cNvSpPr>
              <a:spLocks noChangeArrowheads="1"/>
            </p:cNvSpPr>
            <p:nvPr/>
          </p:nvSpPr>
          <p:spPr bwMode="auto">
            <a:xfrm>
              <a:off x="1255" y="1336"/>
              <a:ext cx="386" cy="88"/>
            </a:xfrm>
            <a:prstGeom prst="rect">
              <a:avLst/>
            </a:prstGeom>
            <a:noFill/>
            <a:ln w="9525">
              <a:noFill/>
              <a:miter lim="800000"/>
              <a:headEnd/>
              <a:tailEnd/>
            </a:ln>
          </p:spPr>
          <p:txBody>
            <a:bodyPr wrap="none" lIns="92075" tIns="46038" rIns="92075" bIns="46038">
              <a:spAutoFit/>
            </a:bodyPr>
            <a:lstStyle/>
            <a:p>
              <a:r>
                <a:rPr lang="en-US" altLang="en-US" sz="1600" b="1"/>
                <a:t>Internet</a:t>
              </a:r>
            </a:p>
          </p:txBody>
        </p:sp>
      </p:grpSp>
      <p:sp>
        <p:nvSpPr>
          <p:cNvPr id="22538" name="Line 13"/>
          <p:cNvSpPr>
            <a:spLocks noChangeShapeType="1"/>
          </p:cNvSpPr>
          <p:nvPr/>
        </p:nvSpPr>
        <p:spPr bwMode="auto">
          <a:xfrm flipV="1">
            <a:off x="3429000" y="5257800"/>
            <a:ext cx="2514600" cy="304800"/>
          </a:xfrm>
          <a:prstGeom prst="line">
            <a:avLst/>
          </a:prstGeom>
          <a:noFill/>
          <a:ln w="9525">
            <a:solidFill>
              <a:schemeClr val="tx1"/>
            </a:solidFill>
            <a:round/>
            <a:headEnd/>
            <a:tailEnd/>
          </a:ln>
        </p:spPr>
        <p:txBody>
          <a:bodyPr/>
          <a:lstStyle/>
          <a:p>
            <a:endParaRPr lang="en-US"/>
          </a:p>
        </p:txBody>
      </p:sp>
      <p:sp>
        <p:nvSpPr>
          <p:cNvPr id="22539" name="Line 15"/>
          <p:cNvSpPr>
            <a:spLocks noChangeShapeType="1"/>
          </p:cNvSpPr>
          <p:nvPr/>
        </p:nvSpPr>
        <p:spPr bwMode="auto">
          <a:xfrm>
            <a:off x="1600200" y="4648200"/>
            <a:ext cx="1524000" cy="990600"/>
          </a:xfrm>
          <a:prstGeom prst="line">
            <a:avLst/>
          </a:prstGeom>
          <a:noFill/>
          <a:ln w="12700">
            <a:solidFill>
              <a:schemeClr val="tx1"/>
            </a:solidFill>
            <a:round/>
            <a:headEnd/>
            <a:tailEnd/>
          </a:ln>
        </p:spPr>
        <p:txBody>
          <a:bodyPr/>
          <a:lstStyle/>
          <a:p>
            <a:endParaRPr lang="en-US"/>
          </a:p>
        </p:txBody>
      </p:sp>
      <p:sp>
        <p:nvSpPr>
          <p:cNvPr id="22540" name="Line 16"/>
          <p:cNvSpPr>
            <a:spLocks noChangeShapeType="1"/>
          </p:cNvSpPr>
          <p:nvPr/>
        </p:nvSpPr>
        <p:spPr bwMode="auto">
          <a:xfrm>
            <a:off x="6858000" y="4500563"/>
            <a:ext cx="0" cy="1524000"/>
          </a:xfrm>
          <a:prstGeom prst="line">
            <a:avLst/>
          </a:prstGeom>
          <a:noFill/>
          <a:ln w="9525">
            <a:solidFill>
              <a:schemeClr val="accent1"/>
            </a:solidFill>
            <a:round/>
            <a:headEnd/>
            <a:tailEnd/>
          </a:ln>
        </p:spPr>
        <p:txBody>
          <a:bodyPr/>
          <a:lstStyle/>
          <a:p>
            <a:endParaRPr lang="en-US"/>
          </a:p>
        </p:txBody>
      </p:sp>
      <p:sp>
        <p:nvSpPr>
          <p:cNvPr id="22541" name="Line 17"/>
          <p:cNvSpPr>
            <a:spLocks noChangeShapeType="1"/>
          </p:cNvSpPr>
          <p:nvPr/>
        </p:nvSpPr>
        <p:spPr bwMode="auto">
          <a:xfrm>
            <a:off x="6858000" y="4500563"/>
            <a:ext cx="304800" cy="0"/>
          </a:xfrm>
          <a:prstGeom prst="line">
            <a:avLst/>
          </a:prstGeom>
          <a:noFill/>
          <a:ln w="9525">
            <a:solidFill>
              <a:schemeClr val="accent1"/>
            </a:solidFill>
            <a:round/>
            <a:headEnd/>
            <a:tailEnd/>
          </a:ln>
        </p:spPr>
        <p:txBody>
          <a:bodyPr/>
          <a:lstStyle/>
          <a:p>
            <a:endParaRPr lang="en-US"/>
          </a:p>
        </p:txBody>
      </p:sp>
      <p:sp>
        <p:nvSpPr>
          <p:cNvPr id="22542" name="Line 19"/>
          <p:cNvSpPr>
            <a:spLocks noChangeShapeType="1"/>
          </p:cNvSpPr>
          <p:nvPr/>
        </p:nvSpPr>
        <p:spPr bwMode="auto">
          <a:xfrm>
            <a:off x="6858000" y="5186363"/>
            <a:ext cx="304800" cy="0"/>
          </a:xfrm>
          <a:prstGeom prst="line">
            <a:avLst/>
          </a:prstGeom>
          <a:noFill/>
          <a:ln w="9525">
            <a:solidFill>
              <a:schemeClr val="accent1"/>
            </a:solidFill>
            <a:round/>
            <a:headEnd/>
            <a:tailEnd/>
          </a:ln>
        </p:spPr>
        <p:txBody>
          <a:bodyPr/>
          <a:lstStyle/>
          <a:p>
            <a:endParaRPr lang="en-US"/>
          </a:p>
        </p:txBody>
      </p:sp>
      <p:sp>
        <p:nvSpPr>
          <p:cNvPr id="22543" name="Line 20"/>
          <p:cNvSpPr>
            <a:spLocks noChangeShapeType="1"/>
          </p:cNvSpPr>
          <p:nvPr/>
        </p:nvSpPr>
        <p:spPr bwMode="auto">
          <a:xfrm>
            <a:off x="6858000" y="6024563"/>
            <a:ext cx="304800" cy="0"/>
          </a:xfrm>
          <a:prstGeom prst="line">
            <a:avLst/>
          </a:prstGeom>
          <a:noFill/>
          <a:ln w="9525">
            <a:solidFill>
              <a:schemeClr val="accent1"/>
            </a:solidFill>
            <a:round/>
            <a:headEnd/>
            <a:tailEnd/>
          </a:ln>
        </p:spPr>
        <p:txBody>
          <a:bodyPr/>
          <a:lstStyle/>
          <a:p>
            <a:endParaRPr lang="en-US"/>
          </a:p>
        </p:txBody>
      </p:sp>
      <p:sp>
        <p:nvSpPr>
          <p:cNvPr id="22544" name="Line 21"/>
          <p:cNvSpPr>
            <a:spLocks noChangeShapeType="1"/>
          </p:cNvSpPr>
          <p:nvPr/>
        </p:nvSpPr>
        <p:spPr bwMode="auto">
          <a:xfrm flipH="1">
            <a:off x="6400800" y="5181600"/>
            <a:ext cx="457200" cy="0"/>
          </a:xfrm>
          <a:prstGeom prst="line">
            <a:avLst/>
          </a:prstGeom>
          <a:noFill/>
          <a:ln w="9525">
            <a:solidFill>
              <a:schemeClr val="accent1"/>
            </a:solidFill>
            <a:round/>
            <a:headEnd/>
            <a:tailEnd/>
          </a:ln>
        </p:spPr>
        <p:txBody>
          <a:bodyPr/>
          <a:lstStyle/>
          <a:p>
            <a:endParaRPr lang="en-US"/>
          </a:p>
        </p:txBody>
      </p:sp>
      <p:sp>
        <p:nvSpPr>
          <p:cNvPr id="22545" name="Text Box 22"/>
          <p:cNvSpPr txBox="1">
            <a:spLocks noChangeArrowheads="1"/>
          </p:cNvSpPr>
          <p:nvPr/>
        </p:nvSpPr>
        <p:spPr bwMode="auto">
          <a:xfrm>
            <a:off x="533400" y="3886200"/>
            <a:ext cx="1890713" cy="304800"/>
          </a:xfrm>
          <a:prstGeom prst="rect">
            <a:avLst/>
          </a:prstGeom>
          <a:noFill/>
          <a:ln w="9525">
            <a:noFill/>
            <a:miter lim="800000"/>
            <a:headEnd/>
            <a:tailEnd/>
          </a:ln>
        </p:spPr>
        <p:txBody>
          <a:bodyPr wrap="none">
            <a:spAutoFit/>
          </a:bodyPr>
          <a:lstStyle/>
          <a:p>
            <a:pPr algn="ctr"/>
            <a:r>
              <a:rPr lang="en-US" altLang="en-US" sz="1400" b="1">
                <a:solidFill>
                  <a:schemeClr val="bg1"/>
                </a:solidFill>
              </a:rPr>
              <a:t>Remote PPTP Client</a:t>
            </a:r>
          </a:p>
        </p:txBody>
      </p:sp>
      <p:sp>
        <p:nvSpPr>
          <p:cNvPr id="22546" name="Text Box 23"/>
          <p:cNvSpPr txBox="1">
            <a:spLocks noChangeArrowheads="1"/>
          </p:cNvSpPr>
          <p:nvPr/>
        </p:nvSpPr>
        <p:spPr bwMode="auto">
          <a:xfrm>
            <a:off x="2163763" y="6096000"/>
            <a:ext cx="1841500" cy="517525"/>
          </a:xfrm>
          <a:prstGeom prst="rect">
            <a:avLst/>
          </a:prstGeom>
          <a:noFill/>
          <a:ln w="9525">
            <a:noFill/>
            <a:miter lim="800000"/>
            <a:headEnd/>
            <a:tailEnd/>
          </a:ln>
        </p:spPr>
        <p:txBody>
          <a:bodyPr wrap="none">
            <a:spAutoFit/>
          </a:bodyPr>
          <a:lstStyle/>
          <a:p>
            <a:pPr algn="ctr"/>
            <a:r>
              <a:rPr lang="en-US" altLang="en-US" sz="1400" b="1">
                <a:solidFill>
                  <a:schemeClr val="bg1"/>
                </a:solidFill>
              </a:rPr>
              <a:t>ISP Remote Access</a:t>
            </a:r>
          </a:p>
          <a:p>
            <a:pPr algn="ctr"/>
            <a:r>
              <a:rPr lang="en-US" altLang="en-US" sz="1400" b="1">
                <a:solidFill>
                  <a:schemeClr val="bg1"/>
                </a:solidFill>
              </a:rPr>
              <a:t>Switch</a:t>
            </a:r>
          </a:p>
        </p:txBody>
      </p:sp>
      <p:sp>
        <p:nvSpPr>
          <p:cNvPr id="22547" name="Text Box 24"/>
          <p:cNvSpPr txBox="1">
            <a:spLocks noChangeArrowheads="1"/>
          </p:cNvSpPr>
          <p:nvPr/>
        </p:nvSpPr>
        <p:spPr bwMode="auto">
          <a:xfrm>
            <a:off x="5029200" y="4114800"/>
            <a:ext cx="1677988" cy="304800"/>
          </a:xfrm>
          <a:prstGeom prst="rect">
            <a:avLst/>
          </a:prstGeom>
          <a:noFill/>
          <a:ln w="9525">
            <a:noFill/>
            <a:miter lim="800000"/>
            <a:headEnd/>
            <a:tailEnd/>
          </a:ln>
        </p:spPr>
        <p:txBody>
          <a:bodyPr wrap="none">
            <a:spAutoFit/>
          </a:bodyPr>
          <a:lstStyle/>
          <a:p>
            <a:pPr algn="ctr"/>
            <a:r>
              <a:rPr lang="en-US" altLang="en-US" sz="1400" b="1">
                <a:solidFill>
                  <a:schemeClr val="bg1"/>
                </a:solidFill>
              </a:rPr>
              <a:t>PPTP RAS Server</a:t>
            </a:r>
          </a:p>
        </p:txBody>
      </p:sp>
      <p:sp>
        <p:nvSpPr>
          <p:cNvPr id="22548" name="Text Box 25"/>
          <p:cNvSpPr txBox="1">
            <a:spLocks noChangeArrowheads="1"/>
          </p:cNvSpPr>
          <p:nvPr/>
        </p:nvSpPr>
        <p:spPr bwMode="auto">
          <a:xfrm>
            <a:off x="6991350" y="3738563"/>
            <a:ext cx="1781175" cy="304800"/>
          </a:xfrm>
          <a:prstGeom prst="rect">
            <a:avLst/>
          </a:prstGeom>
          <a:noFill/>
          <a:ln w="9525">
            <a:noFill/>
            <a:miter lim="800000"/>
            <a:headEnd/>
            <a:tailEnd/>
          </a:ln>
        </p:spPr>
        <p:txBody>
          <a:bodyPr wrap="none">
            <a:spAutoFit/>
          </a:bodyPr>
          <a:lstStyle/>
          <a:p>
            <a:pPr algn="ctr"/>
            <a:r>
              <a:rPr lang="en-US" altLang="en-US" sz="1400" b="1">
                <a:solidFill>
                  <a:schemeClr val="bg1"/>
                </a:solidFill>
              </a:rPr>
              <a:t>Corporate Network</a:t>
            </a:r>
          </a:p>
        </p:txBody>
      </p:sp>
      <p:sp>
        <p:nvSpPr>
          <p:cNvPr id="265257" name="Freeform 41"/>
          <p:cNvSpPr>
            <a:spLocks/>
          </p:cNvSpPr>
          <p:nvPr/>
        </p:nvSpPr>
        <p:spPr bwMode="auto">
          <a:xfrm rot="-352637">
            <a:off x="1609725" y="4559300"/>
            <a:ext cx="1447800" cy="1143000"/>
          </a:xfrm>
          <a:custGeom>
            <a:avLst/>
            <a:gdLst/>
            <a:ahLst/>
            <a:cxnLst>
              <a:cxn ang="0">
                <a:pos x="1032" y="1256"/>
              </a:cxn>
              <a:cxn ang="0">
                <a:pos x="980" y="1316"/>
              </a:cxn>
              <a:cxn ang="0">
                <a:pos x="0" y="20"/>
              </a:cxn>
              <a:cxn ang="0">
                <a:pos x="56" y="0"/>
              </a:cxn>
              <a:cxn ang="0">
                <a:pos x="1032" y="1256"/>
              </a:cxn>
            </a:cxnLst>
            <a:rect l="0" t="0" r="r" b="b"/>
            <a:pathLst>
              <a:path w="1032" h="1316">
                <a:moveTo>
                  <a:pt x="1032" y="1256"/>
                </a:moveTo>
                <a:lnTo>
                  <a:pt x="980" y="1316"/>
                </a:lnTo>
                <a:lnTo>
                  <a:pt x="0" y="20"/>
                </a:lnTo>
                <a:lnTo>
                  <a:pt x="56" y="0"/>
                </a:lnTo>
                <a:lnTo>
                  <a:pt x="1032" y="1256"/>
                </a:lnTo>
                <a:close/>
              </a:path>
            </a:pathLst>
          </a:custGeom>
          <a:gradFill rotWithShape="0">
            <a:gsLst>
              <a:gs pos="0">
                <a:schemeClr val="accent1"/>
              </a:gs>
              <a:gs pos="100000">
                <a:schemeClr val="accent1">
                  <a:gamma/>
                  <a:shade val="46275"/>
                  <a:invGamma/>
                </a:schemeClr>
              </a:gs>
            </a:gsLst>
            <a:lin ang="2700000" scaled="1"/>
          </a:gradFill>
          <a:ln w="9525" cap="flat" cmpd="sng">
            <a:noFill/>
            <a:prstDash val="solid"/>
            <a:round/>
            <a:headEnd/>
            <a:tailEnd/>
          </a:ln>
          <a:effectLst/>
        </p:spPr>
        <p:txBody>
          <a:bodyPr wrap="none" anchor="ctr"/>
          <a:lstStyle/>
          <a:p>
            <a:pPr>
              <a:defRPr/>
            </a:pPr>
            <a:endParaRPr lang="en-US"/>
          </a:p>
        </p:txBody>
      </p:sp>
      <p:sp>
        <p:nvSpPr>
          <p:cNvPr id="265258" name="Freeform 42"/>
          <p:cNvSpPr>
            <a:spLocks/>
          </p:cNvSpPr>
          <p:nvPr/>
        </p:nvSpPr>
        <p:spPr bwMode="auto">
          <a:xfrm rot="821698" flipH="1">
            <a:off x="3267075" y="4883150"/>
            <a:ext cx="2974975" cy="1106488"/>
          </a:xfrm>
          <a:custGeom>
            <a:avLst/>
            <a:gdLst/>
            <a:ahLst/>
            <a:cxnLst>
              <a:cxn ang="0">
                <a:pos x="1032" y="1256"/>
              </a:cxn>
              <a:cxn ang="0">
                <a:pos x="980" y="1316"/>
              </a:cxn>
              <a:cxn ang="0">
                <a:pos x="0" y="20"/>
              </a:cxn>
              <a:cxn ang="0">
                <a:pos x="56" y="0"/>
              </a:cxn>
              <a:cxn ang="0">
                <a:pos x="1032" y="1256"/>
              </a:cxn>
            </a:cxnLst>
            <a:rect l="0" t="0" r="r" b="b"/>
            <a:pathLst>
              <a:path w="1032" h="1316">
                <a:moveTo>
                  <a:pt x="1032" y="1256"/>
                </a:moveTo>
                <a:lnTo>
                  <a:pt x="980" y="1316"/>
                </a:lnTo>
                <a:lnTo>
                  <a:pt x="0" y="20"/>
                </a:lnTo>
                <a:lnTo>
                  <a:pt x="56" y="0"/>
                </a:lnTo>
                <a:lnTo>
                  <a:pt x="1032" y="1256"/>
                </a:lnTo>
                <a:close/>
              </a:path>
            </a:pathLst>
          </a:custGeom>
          <a:gradFill rotWithShape="0">
            <a:gsLst>
              <a:gs pos="0">
                <a:schemeClr val="accent1">
                  <a:gamma/>
                  <a:shade val="46275"/>
                  <a:invGamma/>
                </a:schemeClr>
              </a:gs>
              <a:gs pos="100000">
                <a:schemeClr val="accent1"/>
              </a:gs>
            </a:gsLst>
            <a:lin ang="18900000" scaled="1"/>
          </a:gradFill>
          <a:ln w="9525" cap="flat" cmpd="sng">
            <a:noFill/>
            <a:prstDash val="solid"/>
            <a:round/>
            <a:headEnd/>
            <a:tailEnd/>
          </a:ln>
          <a:effectLst/>
        </p:spPr>
        <p:txBody>
          <a:bodyPr wrap="none" anchor="ctr"/>
          <a:lstStyle/>
          <a:p>
            <a:pPr>
              <a:defRPr/>
            </a:pPr>
            <a:endParaRPr lang="en-US"/>
          </a:p>
        </p:txBody>
      </p:sp>
      <p:sp>
        <p:nvSpPr>
          <p:cNvPr id="265259" name="Rectangle 43"/>
          <p:cNvSpPr>
            <a:spLocks noChangeArrowheads="1"/>
          </p:cNvSpPr>
          <p:nvPr/>
        </p:nvSpPr>
        <p:spPr bwMode="auto">
          <a:xfrm rot="474785">
            <a:off x="1597025" y="4826000"/>
            <a:ext cx="4724400" cy="76200"/>
          </a:xfrm>
          <a:prstGeom prst="rect">
            <a:avLst/>
          </a:prstGeom>
          <a:gradFill rotWithShape="0">
            <a:gsLst>
              <a:gs pos="0">
                <a:schemeClr val="accent1"/>
              </a:gs>
              <a:gs pos="100000">
                <a:schemeClr val="accent1">
                  <a:gamma/>
                  <a:shade val="46275"/>
                  <a:invGamma/>
                </a:schemeClr>
              </a:gs>
            </a:gsLst>
            <a:lin ang="0" scaled="1"/>
          </a:gradFill>
          <a:ln w="9525">
            <a:noFill/>
            <a:miter lim="800000"/>
            <a:headEnd/>
            <a:tailEnd/>
          </a:ln>
          <a:effectLst/>
        </p:spPr>
        <p:txBody>
          <a:bodyPr wrap="none" anchor="ctr"/>
          <a:lstStyle/>
          <a:p>
            <a:pPr>
              <a:defRPr/>
            </a:pPr>
            <a:endParaRPr lang="en-US"/>
          </a:p>
        </p:txBody>
      </p:sp>
      <p:grpSp>
        <p:nvGrpSpPr>
          <p:cNvPr id="22552" name="Group 44"/>
          <p:cNvGrpSpPr>
            <a:grpSpLocks/>
          </p:cNvGrpSpPr>
          <p:nvPr/>
        </p:nvGrpSpPr>
        <p:grpSpPr bwMode="auto">
          <a:xfrm>
            <a:off x="2971800" y="4876800"/>
            <a:ext cx="514350" cy="1143000"/>
            <a:chOff x="1125" y="288"/>
            <a:chExt cx="2859" cy="3498"/>
          </a:xfrm>
        </p:grpSpPr>
        <p:sp>
          <p:nvSpPr>
            <p:cNvPr id="22606" name="Freeform 45"/>
            <p:cNvSpPr>
              <a:spLocks/>
            </p:cNvSpPr>
            <p:nvPr/>
          </p:nvSpPr>
          <p:spPr bwMode="auto">
            <a:xfrm>
              <a:off x="1151" y="288"/>
              <a:ext cx="2833" cy="3456"/>
            </a:xfrm>
            <a:custGeom>
              <a:avLst/>
              <a:gdLst>
                <a:gd name="T0" fmla="*/ 865 w 2833"/>
                <a:gd name="T1" fmla="*/ 3456 h 3456"/>
                <a:gd name="T2" fmla="*/ 529 w 2833"/>
                <a:gd name="T3" fmla="*/ 3312 h 3456"/>
                <a:gd name="T4" fmla="*/ 452 w 2833"/>
                <a:gd name="T5" fmla="*/ 2646 h 3456"/>
                <a:gd name="T6" fmla="*/ 343 w 2833"/>
                <a:gd name="T7" fmla="*/ 2154 h 3456"/>
                <a:gd name="T8" fmla="*/ 180 w 2833"/>
                <a:gd name="T9" fmla="*/ 1717 h 3456"/>
                <a:gd name="T10" fmla="*/ 0 w 2833"/>
                <a:gd name="T11" fmla="*/ 1241 h 3456"/>
                <a:gd name="T12" fmla="*/ 567 w 2833"/>
                <a:gd name="T13" fmla="*/ 1035 h 3456"/>
                <a:gd name="T14" fmla="*/ 1027 w 2833"/>
                <a:gd name="T15" fmla="*/ 854 h 3456"/>
                <a:gd name="T16" fmla="*/ 1405 w 2833"/>
                <a:gd name="T17" fmla="*/ 657 h 3456"/>
                <a:gd name="T18" fmla="*/ 1717 w 2833"/>
                <a:gd name="T19" fmla="*/ 485 h 3456"/>
                <a:gd name="T20" fmla="*/ 1964 w 2833"/>
                <a:gd name="T21" fmla="*/ 312 h 3456"/>
                <a:gd name="T22" fmla="*/ 2161 w 2833"/>
                <a:gd name="T23" fmla="*/ 96 h 3456"/>
                <a:gd name="T24" fmla="*/ 2593 w 2833"/>
                <a:gd name="T25" fmla="*/ 0 h 3456"/>
                <a:gd name="T26" fmla="*/ 2833 w 2833"/>
                <a:gd name="T27" fmla="*/ 1920 h 3456"/>
                <a:gd name="T28" fmla="*/ 2178 w 2833"/>
                <a:gd name="T29" fmla="*/ 2531 h 3456"/>
                <a:gd name="T30" fmla="*/ 1726 w 2833"/>
                <a:gd name="T31" fmla="*/ 2892 h 3456"/>
                <a:gd name="T32" fmla="*/ 865 w 2833"/>
                <a:gd name="T33" fmla="*/ 3456 h 34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33"/>
                <a:gd name="T52" fmla="*/ 0 h 3456"/>
                <a:gd name="T53" fmla="*/ 2833 w 2833"/>
                <a:gd name="T54" fmla="*/ 3456 h 34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33" h="3456">
                  <a:moveTo>
                    <a:pt x="865" y="3456"/>
                  </a:moveTo>
                  <a:lnTo>
                    <a:pt x="529" y="3312"/>
                  </a:lnTo>
                  <a:lnTo>
                    <a:pt x="452" y="2646"/>
                  </a:lnTo>
                  <a:lnTo>
                    <a:pt x="343" y="2154"/>
                  </a:lnTo>
                  <a:lnTo>
                    <a:pt x="180" y="1717"/>
                  </a:lnTo>
                  <a:lnTo>
                    <a:pt x="0" y="1241"/>
                  </a:lnTo>
                  <a:lnTo>
                    <a:pt x="567" y="1035"/>
                  </a:lnTo>
                  <a:lnTo>
                    <a:pt x="1027" y="854"/>
                  </a:lnTo>
                  <a:lnTo>
                    <a:pt x="1405" y="657"/>
                  </a:lnTo>
                  <a:lnTo>
                    <a:pt x="1717" y="485"/>
                  </a:lnTo>
                  <a:lnTo>
                    <a:pt x="1964" y="312"/>
                  </a:lnTo>
                  <a:lnTo>
                    <a:pt x="2161" y="96"/>
                  </a:lnTo>
                  <a:lnTo>
                    <a:pt x="2593" y="0"/>
                  </a:lnTo>
                  <a:lnTo>
                    <a:pt x="2833" y="1920"/>
                  </a:lnTo>
                  <a:lnTo>
                    <a:pt x="2178" y="2531"/>
                  </a:lnTo>
                  <a:lnTo>
                    <a:pt x="1726" y="2892"/>
                  </a:lnTo>
                  <a:lnTo>
                    <a:pt x="865" y="3456"/>
                  </a:lnTo>
                  <a:close/>
                </a:path>
              </a:pathLst>
            </a:custGeom>
            <a:solidFill>
              <a:srgbClr val="4D4D4D"/>
            </a:solidFill>
            <a:ln w="12700" cap="flat" cmpd="sng">
              <a:noFill/>
              <a:prstDash val="solid"/>
              <a:round/>
              <a:headEnd type="none" w="sm" len="sm"/>
              <a:tailEnd type="none" w="sm" len="sm"/>
            </a:ln>
          </p:spPr>
          <p:txBody>
            <a:bodyPr wrap="none" anchor="ctr"/>
            <a:lstStyle/>
            <a:p>
              <a:endParaRPr lang="en-US"/>
            </a:p>
          </p:txBody>
        </p:sp>
        <p:sp>
          <p:nvSpPr>
            <p:cNvPr id="22607" name="Freeform 46"/>
            <p:cNvSpPr>
              <a:spLocks/>
            </p:cNvSpPr>
            <p:nvPr/>
          </p:nvSpPr>
          <p:spPr bwMode="auto">
            <a:xfrm>
              <a:off x="1125" y="1508"/>
              <a:ext cx="32" cy="43"/>
            </a:xfrm>
            <a:custGeom>
              <a:avLst/>
              <a:gdLst>
                <a:gd name="T0" fmla="*/ 1 w 63"/>
                <a:gd name="T1" fmla="*/ 0 h 43"/>
                <a:gd name="T2" fmla="*/ 1 w 63"/>
                <a:gd name="T3" fmla="*/ 0 h 43"/>
                <a:gd name="T4" fmla="*/ 0 w 63"/>
                <a:gd name="T5" fmla="*/ 20 h 43"/>
                <a:gd name="T6" fmla="*/ 1 w 63"/>
                <a:gd name="T7" fmla="*/ 43 h 43"/>
                <a:gd name="T8" fmla="*/ 1 w 63"/>
                <a:gd name="T9" fmla="*/ 37 h 43"/>
                <a:gd name="T10" fmla="*/ 1 w 63"/>
                <a:gd name="T11" fmla="*/ 30 h 43"/>
                <a:gd name="T12" fmla="*/ 1 w 63"/>
                <a:gd name="T13" fmla="*/ 7 h 43"/>
                <a:gd name="T14" fmla="*/ 1 w 63"/>
                <a:gd name="T15" fmla="*/ 14 h 43"/>
                <a:gd name="T16" fmla="*/ 1 w 63"/>
                <a:gd name="T17" fmla="*/ 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
                <a:gd name="T28" fmla="*/ 0 h 43"/>
                <a:gd name="T29" fmla="*/ 63 w 63"/>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 h="43">
                  <a:moveTo>
                    <a:pt x="23" y="0"/>
                  </a:moveTo>
                  <a:lnTo>
                    <a:pt x="23" y="0"/>
                  </a:lnTo>
                  <a:lnTo>
                    <a:pt x="0" y="20"/>
                  </a:lnTo>
                  <a:lnTo>
                    <a:pt x="21" y="43"/>
                  </a:lnTo>
                  <a:lnTo>
                    <a:pt x="42" y="37"/>
                  </a:lnTo>
                  <a:lnTo>
                    <a:pt x="63" y="30"/>
                  </a:lnTo>
                  <a:lnTo>
                    <a:pt x="42" y="7"/>
                  </a:lnTo>
                  <a:lnTo>
                    <a:pt x="21" y="14"/>
                  </a:lnTo>
                  <a:lnTo>
                    <a:pt x="23" y="0"/>
                  </a:lnTo>
                  <a:close/>
                </a:path>
              </a:pathLst>
            </a:custGeom>
            <a:solidFill>
              <a:srgbClr val="000000"/>
            </a:solidFill>
            <a:ln w="9525">
              <a:noFill/>
              <a:round/>
              <a:headEnd/>
              <a:tailEnd/>
            </a:ln>
          </p:spPr>
          <p:txBody>
            <a:bodyPr/>
            <a:lstStyle/>
            <a:p>
              <a:endParaRPr lang="en-US"/>
            </a:p>
          </p:txBody>
        </p:sp>
        <p:sp>
          <p:nvSpPr>
            <p:cNvPr id="22608" name="Freeform 47"/>
            <p:cNvSpPr>
              <a:spLocks/>
            </p:cNvSpPr>
            <p:nvPr/>
          </p:nvSpPr>
          <p:spPr bwMode="auto">
            <a:xfrm>
              <a:off x="1135" y="1538"/>
              <a:ext cx="897" cy="2248"/>
            </a:xfrm>
            <a:custGeom>
              <a:avLst/>
              <a:gdLst>
                <a:gd name="T0" fmla="*/ 0 w 1793"/>
                <a:gd name="T1" fmla="*/ 13 h 2248"/>
                <a:gd name="T2" fmla="*/ 3 w 1793"/>
                <a:gd name="T3" fmla="*/ 686 h 2248"/>
                <a:gd name="T4" fmla="*/ 1 w 1793"/>
                <a:gd name="T5" fmla="*/ 89 h 2248"/>
                <a:gd name="T6" fmla="*/ 1 w 1793"/>
                <a:gd name="T7" fmla="*/ 177 h 2248"/>
                <a:gd name="T8" fmla="*/ 1 w 1793"/>
                <a:gd name="T9" fmla="*/ 312 h 2248"/>
                <a:gd name="T10" fmla="*/ 2 w 1793"/>
                <a:gd name="T11" fmla="*/ 475 h 2248"/>
                <a:gd name="T12" fmla="*/ 3 w 1793"/>
                <a:gd name="T13" fmla="*/ 671 h 2248"/>
                <a:gd name="T14" fmla="*/ 3 w 1793"/>
                <a:gd name="T15" fmla="*/ 867 h 2248"/>
                <a:gd name="T16" fmla="*/ 3 w 1793"/>
                <a:gd name="T17" fmla="*/ 1075 h 2248"/>
                <a:gd name="T18" fmla="*/ 4 w 1793"/>
                <a:gd name="T19" fmla="*/ 1328 h 2248"/>
                <a:gd name="T20" fmla="*/ 4 w 1793"/>
                <a:gd name="T21" fmla="*/ 1566 h 2248"/>
                <a:gd name="T22" fmla="*/ 5 w 1793"/>
                <a:gd name="T23" fmla="*/ 1808 h 2248"/>
                <a:gd name="T24" fmla="*/ 5 w 1793"/>
                <a:gd name="T25" fmla="*/ 2059 h 2248"/>
                <a:gd name="T26" fmla="*/ 8 w 1793"/>
                <a:gd name="T27" fmla="*/ 2248 h 2248"/>
                <a:gd name="T28" fmla="*/ 7 w 1793"/>
                <a:gd name="T29" fmla="*/ 2211 h 2248"/>
                <a:gd name="T30" fmla="*/ 5 w 1793"/>
                <a:gd name="T31" fmla="*/ 2041 h 2248"/>
                <a:gd name="T32" fmla="*/ 5 w 1793"/>
                <a:gd name="T33" fmla="*/ 1806 h 2248"/>
                <a:gd name="T34" fmla="*/ 4 w 1793"/>
                <a:gd name="T35" fmla="*/ 1559 h 2248"/>
                <a:gd name="T36" fmla="*/ 4 w 1793"/>
                <a:gd name="T37" fmla="*/ 1315 h 2248"/>
                <a:gd name="T38" fmla="*/ 4 w 1793"/>
                <a:gd name="T39" fmla="*/ 1098 h 2248"/>
                <a:gd name="T40" fmla="*/ 3 w 1793"/>
                <a:gd name="T41" fmla="*/ 858 h 2248"/>
                <a:gd name="T42" fmla="*/ 3 w 1793"/>
                <a:gd name="T43" fmla="*/ 641 h 2248"/>
                <a:gd name="T44" fmla="*/ 2 w 1793"/>
                <a:gd name="T45" fmla="*/ 464 h 2248"/>
                <a:gd name="T46" fmla="*/ 2 w 1793"/>
                <a:gd name="T47" fmla="*/ 301 h 2248"/>
                <a:gd name="T48" fmla="*/ 1 w 1793"/>
                <a:gd name="T49" fmla="*/ 166 h 2248"/>
                <a:gd name="T50" fmla="*/ 1 w 1793"/>
                <a:gd name="T51" fmla="*/ 52 h 2248"/>
                <a:gd name="T52" fmla="*/ 1 w 1793"/>
                <a:gd name="T53" fmla="*/ 0 h 2248"/>
                <a:gd name="T54" fmla="*/ 1 w 1793"/>
                <a:gd name="T55" fmla="*/ 7 h 2248"/>
                <a:gd name="T56" fmla="*/ 0 w 1793"/>
                <a:gd name="T57" fmla="*/ 13 h 22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93"/>
                <a:gd name="T88" fmla="*/ 0 h 2248"/>
                <a:gd name="T89" fmla="*/ 1793 w 1793"/>
                <a:gd name="T90" fmla="*/ 2248 h 224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93" h="2248">
                  <a:moveTo>
                    <a:pt x="0" y="13"/>
                  </a:moveTo>
                  <a:lnTo>
                    <a:pt x="625" y="686"/>
                  </a:lnTo>
                  <a:lnTo>
                    <a:pt x="69" y="89"/>
                  </a:lnTo>
                  <a:lnTo>
                    <a:pt x="145" y="177"/>
                  </a:lnTo>
                  <a:lnTo>
                    <a:pt x="255" y="312"/>
                  </a:lnTo>
                  <a:lnTo>
                    <a:pt x="380" y="475"/>
                  </a:lnTo>
                  <a:lnTo>
                    <a:pt x="519" y="671"/>
                  </a:lnTo>
                  <a:lnTo>
                    <a:pt x="646" y="867"/>
                  </a:lnTo>
                  <a:lnTo>
                    <a:pt x="764" y="1075"/>
                  </a:lnTo>
                  <a:lnTo>
                    <a:pt x="882" y="1328"/>
                  </a:lnTo>
                  <a:lnTo>
                    <a:pt x="970" y="1566"/>
                  </a:lnTo>
                  <a:lnTo>
                    <a:pt x="1030" y="1808"/>
                  </a:lnTo>
                  <a:lnTo>
                    <a:pt x="1053" y="2059"/>
                  </a:lnTo>
                  <a:lnTo>
                    <a:pt x="1793" y="2248"/>
                  </a:lnTo>
                  <a:lnTo>
                    <a:pt x="1769" y="2211"/>
                  </a:lnTo>
                  <a:lnTo>
                    <a:pt x="1104" y="2041"/>
                  </a:lnTo>
                  <a:lnTo>
                    <a:pt x="1080" y="1806"/>
                  </a:lnTo>
                  <a:lnTo>
                    <a:pt x="1021" y="1559"/>
                  </a:lnTo>
                  <a:lnTo>
                    <a:pt x="932" y="1315"/>
                  </a:lnTo>
                  <a:lnTo>
                    <a:pt x="826" y="1098"/>
                  </a:lnTo>
                  <a:lnTo>
                    <a:pt x="693" y="858"/>
                  </a:lnTo>
                  <a:lnTo>
                    <a:pt x="554" y="641"/>
                  </a:lnTo>
                  <a:lnTo>
                    <a:pt x="426" y="464"/>
                  </a:lnTo>
                  <a:lnTo>
                    <a:pt x="301" y="301"/>
                  </a:lnTo>
                  <a:lnTo>
                    <a:pt x="191" y="166"/>
                  </a:lnTo>
                  <a:lnTo>
                    <a:pt x="92" y="52"/>
                  </a:lnTo>
                  <a:lnTo>
                    <a:pt x="44" y="0"/>
                  </a:lnTo>
                  <a:lnTo>
                    <a:pt x="21" y="7"/>
                  </a:lnTo>
                  <a:lnTo>
                    <a:pt x="0" y="13"/>
                  </a:lnTo>
                  <a:close/>
                </a:path>
              </a:pathLst>
            </a:custGeom>
            <a:solidFill>
              <a:srgbClr val="000000"/>
            </a:solidFill>
            <a:ln w="9525">
              <a:noFill/>
              <a:round/>
              <a:headEnd/>
              <a:tailEnd/>
            </a:ln>
          </p:spPr>
          <p:txBody>
            <a:bodyPr/>
            <a:lstStyle/>
            <a:p>
              <a:endParaRPr lang="en-US"/>
            </a:p>
          </p:txBody>
        </p:sp>
        <p:sp>
          <p:nvSpPr>
            <p:cNvPr id="22609" name="Freeform 48"/>
            <p:cNvSpPr>
              <a:spLocks/>
            </p:cNvSpPr>
            <p:nvPr/>
          </p:nvSpPr>
          <p:spPr bwMode="auto">
            <a:xfrm>
              <a:off x="1133" y="295"/>
              <a:ext cx="2604" cy="1241"/>
            </a:xfrm>
            <a:custGeom>
              <a:avLst/>
              <a:gdLst>
                <a:gd name="T0" fmla="*/ 21 w 5206"/>
                <a:gd name="T1" fmla="*/ 29 h 1241"/>
                <a:gd name="T2" fmla="*/ 21 w 5206"/>
                <a:gd name="T3" fmla="*/ 0 h 1241"/>
                <a:gd name="T4" fmla="*/ 18 w 5206"/>
                <a:gd name="T5" fmla="*/ 89 h 1241"/>
                <a:gd name="T6" fmla="*/ 16 w 5206"/>
                <a:gd name="T7" fmla="*/ 255 h 1241"/>
                <a:gd name="T8" fmla="*/ 15 w 5206"/>
                <a:gd name="T9" fmla="*/ 410 h 1241"/>
                <a:gd name="T10" fmla="*/ 13 w 5206"/>
                <a:gd name="T11" fmla="*/ 542 h 1241"/>
                <a:gd name="T12" fmla="*/ 11 w 5206"/>
                <a:gd name="T13" fmla="*/ 682 h 1241"/>
                <a:gd name="T14" fmla="*/ 9 w 5206"/>
                <a:gd name="T15" fmla="*/ 800 h 1241"/>
                <a:gd name="T16" fmla="*/ 7 w 5206"/>
                <a:gd name="T17" fmla="*/ 902 h 1241"/>
                <a:gd name="T18" fmla="*/ 6 w 5206"/>
                <a:gd name="T19" fmla="*/ 994 h 1241"/>
                <a:gd name="T20" fmla="*/ 4 w 5206"/>
                <a:gd name="T21" fmla="*/ 1076 h 1241"/>
                <a:gd name="T22" fmla="*/ 3 w 5206"/>
                <a:gd name="T23" fmla="*/ 1132 h 1241"/>
                <a:gd name="T24" fmla="*/ 1 w 5206"/>
                <a:gd name="T25" fmla="*/ 1177 h 1241"/>
                <a:gd name="T26" fmla="*/ 1 w 5206"/>
                <a:gd name="T27" fmla="*/ 1201 h 1241"/>
                <a:gd name="T28" fmla="*/ 0 w 5206"/>
                <a:gd name="T29" fmla="*/ 1213 h 1241"/>
                <a:gd name="T30" fmla="*/ 1 w 5206"/>
                <a:gd name="T31" fmla="*/ 1227 h 1241"/>
                <a:gd name="T32" fmla="*/ 1 w 5206"/>
                <a:gd name="T33" fmla="*/ 1241 h 1241"/>
                <a:gd name="T34" fmla="*/ 1 w 5206"/>
                <a:gd name="T35" fmla="*/ 1236 h 1241"/>
                <a:gd name="T36" fmla="*/ 1 w 5206"/>
                <a:gd name="T37" fmla="*/ 1203 h 1241"/>
                <a:gd name="T38" fmla="*/ 3 w 5206"/>
                <a:gd name="T39" fmla="*/ 1158 h 1241"/>
                <a:gd name="T40" fmla="*/ 4 w 5206"/>
                <a:gd name="T41" fmla="*/ 1093 h 1241"/>
                <a:gd name="T42" fmla="*/ 6 w 5206"/>
                <a:gd name="T43" fmla="*/ 1020 h 1241"/>
                <a:gd name="T44" fmla="*/ 7 w 5206"/>
                <a:gd name="T45" fmla="*/ 928 h 1241"/>
                <a:gd name="T46" fmla="*/ 9 w 5206"/>
                <a:gd name="T47" fmla="*/ 819 h 1241"/>
                <a:gd name="T48" fmla="*/ 11 w 5206"/>
                <a:gd name="T49" fmla="*/ 701 h 1241"/>
                <a:gd name="T50" fmla="*/ 13 w 5206"/>
                <a:gd name="T51" fmla="*/ 579 h 1241"/>
                <a:gd name="T52" fmla="*/ 15 w 5206"/>
                <a:gd name="T53" fmla="*/ 427 h 1241"/>
                <a:gd name="T54" fmla="*/ 16 w 5206"/>
                <a:gd name="T55" fmla="*/ 278 h 1241"/>
                <a:gd name="T56" fmla="*/ 18 w 5206"/>
                <a:gd name="T57" fmla="*/ 118 h 1241"/>
                <a:gd name="T58" fmla="*/ 21 w 5206"/>
                <a:gd name="T59" fmla="*/ 29 h 124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206"/>
                <a:gd name="T91" fmla="*/ 0 h 1241"/>
                <a:gd name="T92" fmla="*/ 5206 w 5206"/>
                <a:gd name="T93" fmla="*/ 1241 h 124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206" h="1241">
                  <a:moveTo>
                    <a:pt x="5206" y="29"/>
                  </a:moveTo>
                  <a:lnTo>
                    <a:pt x="5199" y="0"/>
                  </a:lnTo>
                  <a:lnTo>
                    <a:pt x="4369" y="89"/>
                  </a:lnTo>
                  <a:lnTo>
                    <a:pt x="4037" y="255"/>
                  </a:lnTo>
                  <a:lnTo>
                    <a:pt x="3632" y="410"/>
                  </a:lnTo>
                  <a:lnTo>
                    <a:pt x="3223" y="542"/>
                  </a:lnTo>
                  <a:lnTo>
                    <a:pt x="2711" y="682"/>
                  </a:lnTo>
                  <a:lnTo>
                    <a:pt x="2219" y="800"/>
                  </a:lnTo>
                  <a:lnTo>
                    <a:pt x="1754" y="902"/>
                  </a:lnTo>
                  <a:lnTo>
                    <a:pt x="1295" y="994"/>
                  </a:lnTo>
                  <a:lnTo>
                    <a:pt x="853" y="1076"/>
                  </a:lnTo>
                  <a:lnTo>
                    <a:pt x="521" y="1132"/>
                  </a:lnTo>
                  <a:lnTo>
                    <a:pt x="243" y="1177"/>
                  </a:lnTo>
                  <a:lnTo>
                    <a:pt x="96" y="1201"/>
                  </a:lnTo>
                  <a:lnTo>
                    <a:pt x="0" y="1213"/>
                  </a:lnTo>
                  <a:lnTo>
                    <a:pt x="4" y="1227"/>
                  </a:lnTo>
                  <a:lnTo>
                    <a:pt x="8" y="1241"/>
                  </a:lnTo>
                  <a:lnTo>
                    <a:pt x="42" y="1236"/>
                  </a:lnTo>
                  <a:lnTo>
                    <a:pt x="255" y="1203"/>
                  </a:lnTo>
                  <a:lnTo>
                    <a:pt x="533" y="1158"/>
                  </a:lnTo>
                  <a:lnTo>
                    <a:pt x="915" y="1093"/>
                  </a:lnTo>
                  <a:lnTo>
                    <a:pt x="1310" y="1020"/>
                  </a:lnTo>
                  <a:lnTo>
                    <a:pt x="1769" y="928"/>
                  </a:lnTo>
                  <a:lnTo>
                    <a:pt x="2273" y="819"/>
                  </a:lnTo>
                  <a:lnTo>
                    <a:pt x="2761" y="701"/>
                  </a:lnTo>
                  <a:lnTo>
                    <a:pt x="3199" y="579"/>
                  </a:lnTo>
                  <a:lnTo>
                    <a:pt x="3678" y="427"/>
                  </a:lnTo>
                  <a:lnTo>
                    <a:pt x="4064" y="278"/>
                  </a:lnTo>
                  <a:lnTo>
                    <a:pt x="4388" y="118"/>
                  </a:lnTo>
                  <a:lnTo>
                    <a:pt x="5206" y="29"/>
                  </a:lnTo>
                  <a:close/>
                </a:path>
              </a:pathLst>
            </a:custGeom>
            <a:solidFill>
              <a:srgbClr val="000000"/>
            </a:solidFill>
            <a:ln w="9525">
              <a:noFill/>
              <a:round/>
              <a:headEnd/>
              <a:tailEnd/>
            </a:ln>
          </p:spPr>
          <p:txBody>
            <a:bodyPr/>
            <a:lstStyle/>
            <a:p>
              <a:endParaRPr lang="en-US"/>
            </a:p>
          </p:txBody>
        </p:sp>
        <p:sp>
          <p:nvSpPr>
            <p:cNvPr id="22610" name="Freeform 49"/>
            <p:cNvSpPr>
              <a:spLocks/>
            </p:cNvSpPr>
            <p:nvPr/>
          </p:nvSpPr>
          <p:spPr bwMode="auto">
            <a:xfrm>
              <a:off x="1133" y="1508"/>
              <a:ext cx="365" cy="88"/>
            </a:xfrm>
            <a:custGeom>
              <a:avLst/>
              <a:gdLst>
                <a:gd name="T0" fmla="*/ 0 w 1177"/>
                <a:gd name="T1" fmla="*/ 0 h 150"/>
                <a:gd name="T2" fmla="*/ 0 w 1177"/>
                <a:gd name="T3" fmla="*/ 0 h 150"/>
                <a:gd name="T4" fmla="*/ 0 w 1177"/>
                <a:gd name="T5" fmla="*/ 1 h 150"/>
                <a:gd name="T6" fmla="*/ 0 w 1177"/>
                <a:gd name="T7" fmla="*/ 1 h 150"/>
                <a:gd name="T8" fmla="*/ 0 w 1177"/>
                <a:gd name="T9" fmla="*/ 2 h 150"/>
                <a:gd name="T10" fmla="*/ 0 w 1177"/>
                <a:gd name="T11" fmla="*/ 2 h 150"/>
                <a:gd name="T12" fmla="*/ 0 w 1177"/>
                <a:gd name="T13" fmla="*/ 1 h 150"/>
                <a:gd name="T14" fmla="*/ 0 w 1177"/>
                <a:gd name="T15" fmla="*/ 0 h 150"/>
                <a:gd name="T16" fmla="*/ 0 w 1177"/>
                <a:gd name="T17" fmla="*/ 1 h 150"/>
                <a:gd name="T18" fmla="*/ 0 w 1177"/>
                <a:gd name="T19" fmla="*/ 0 h 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77"/>
                <a:gd name="T31" fmla="*/ 0 h 150"/>
                <a:gd name="T32" fmla="*/ 1177 w 1177"/>
                <a:gd name="T33" fmla="*/ 150 h 1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77" h="150">
                  <a:moveTo>
                    <a:pt x="0" y="0"/>
                  </a:moveTo>
                  <a:lnTo>
                    <a:pt x="0" y="0"/>
                  </a:lnTo>
                  <a:lnTo>
                    <a:pt x="2" y="28"/>
                  </a:lnTo>
                  <a:lnTo>
                    <a:pt x="681" y="79"/>
                  </a:lnTo>
                  <a:lnTo>
                    <a:pt x="1177" y="150"/>
                  </a:lnTo>
                  <a:lnTo>
                    <a:pt x="1177" y="121"/>
                  </a:lnTo>
                  <a:lnTo>
                    <a:pt x="700" y="51"/>
                  </a:lnTo>
                  <a:lnTo>
                    <a:pt x="6" y="0"/>
                  </a:lnTo>
                  <a:lnTo>
                    <a:pt x="4" y="14"/>
                  </a:lnTo>
                  <a:lnTo>
                    <a:pt x="0" y="0"/>
                  </a:lnTo>
                  <a:close/>
                </a:path>
              </a:pathLst>
            </a:custGeom>
            <a:solidFill>
              <a:srgbClr val="000000"/>
            </a:solidFill>
            <a:ln w="9525">
              <a:noFill/>
              <a:round/>
              <a:headEnd/>
              <a:tailEnd/>
            </a:ln>
          </p:spPr>
          <p:txBody>
            <a:bodyPr/>
            <a:lstStyle/>
            <a:p>
              <a:endParaRPr lang="en-US"/>
            </a:p>
          </p:txBody>
        </p:sp>
        <p:sp>
          <p:nvSpPr>
            <p:cNvPr id="22611" name="Freeform 50"/>
            <p:cNvSpPr>
              <a:spLocks/>
            </p:cNvSpPr>
            <p:nvPr/>
          </p:nvSpPr>
          <p:spPr bwMode="auto">
            <a:xfrm>
              <a:off x="3722" y="308"/>
              <a:ext cx="259" cy="1907"/>
            </a:xfrm>
            <a:custGeom>
              <a:avLst/>
              <a:gdLst>
                <a:gd name="T0" fmla="*/ 2 w 518"/>
                <a:gd name="T1" fmla="*/ 1907 h 1907"/>
                <a:gd name="T2" fmla="*/ 2 w 518"/>
                <a:gd name="T3" fmla="*/ 1907 h 1907"/>
                <a:gd name="T4" fmla="*/ 2 w 518"/>
                <a:gd name="T5" fmla="*/ 1862 h 1907"/>
                <a:gd name="T6" fmla="*/ 2 w 518"/>
                <a:gd name="T7" fmla="*/ 1750 h 1907"/>
                <a:gd name="T8" fmla="*/ 2 w 518"/>
                <a:gd name="T9" fmla="*/ 1594 h 1907"/>
                <a:gd name="T10" fmla="*/ 2 w 518"/>
                <a:gd name="T11" fmla="*/ 1396 h 1907"/>
                <a:gd name="T12" fmla="*/ 1 w 518"/>
                <a:gd name="T13" fmla="*/ 1175 h 1907"/>
                <a:gd name="T14" fmla="*/ 1 w 518"/>
                <a:gd name="T15" fmla="*/ 940 h 1907"/>
                <a:gd name="T16" fmla="*/ 1 w 518"/>
                <a:gd name="T17" fmla="*/ 707 h 1907"/>
                <a:gd name="T18" fmla="*/ 1 w 518"/>
                <a:gd name="T19" fmla="*/ 487 h 1907"/>
                <a:gd name="T20" fmla="*/ 1 w 518"/>
                <a:gd name="T21" fmla="*/ 294 h 1907"/>
                <a:gd name="T22" fmla="*/ 1 w 518"/>
                <a:gd name="T23" fmla="*/ 139 h 1907"/>
                <a:gd name="T24" fmla="*/ 1 w 518"/>
                <a:gd name="T25" fmla="*/ 37 h 1907"/>
                <a:gd name="T26" fmla="*/ 1 w 518"/>
                <a:gd name="T27" fmla="*/ 0 h 1907"/>
                <a:gd name="T28" fmla="*/ 1 w 518"/>
                <a:gd name="T29" fmla="*/ 2 h 1907"/>
                <a:gd name="T30" fmla="*/ 0 w 518"/>
                <a:gd name="T31" fmla="*/ 3 h 1907"/>
                <a:gd name="T32" fmla="*/ 1 w 518"/>
                <a:gd name="T33" fmla="*/ 40 h 1907"/>
                <a:gd name="T34" fmla="*/ 1 w 518"/>
                <a:gd name="T35" fmla="*/ 142 h 1907"/>
                <a:gd name="T36" fmla="*/ 1 w 518"/>
                <a:gd name="T37" fmla="*/ 296 h 1907"/>
                <a:gd name="T38" fmla="*/ 1 w 518"/>
                <a:gd name="T39" fmla="*/ 489 h 1907"/>
                <a:gd name="T40" fmla="*/ 1 w 518"/>
                <a:gd name="T41" fmla="*/ 709 h 1907"/>
                <a:gd name="T42" fmla="*/ 1 w 518"/>
                <a:gd name="T43" fmla="*/ 942 h 1907"/>
                <a:gd name="T44" fmla="*/ 1 w 518"/>
                <a:gd name="T45" fmla="*/ 1177 h 1907"/>
                <a:gd name="T46" fmla="*/ 1 w 518"/>
                <a:gd name="T47" fmla="*/ 1399 h 1907"/>
                <a:gd name="T48" fmla="*/ 2 w 518"/>
                <a:gd name="T49" fmla="*/ 1596 h 1907"/>
                <a:gd name="T50" fmla="*/ 2 w 518"/>
                <a:gd name="T51" fmla="*/ 1757 h 1907"/>
                <a:gd name="T52" fmla="*/ 2 w 518"/>
                <a:gd name="T53" fmla="*/ 1862 h 1907"/>
                <a:gd name="T54" fmla="*/ 2 w 518"/>
                <a:gd name="T55" fmla="*/ 1907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18"/>
                <a:gd name="T85" fmla="*/ 0 h 1907"/>
                <a:gd name="T86" fmla="*/ 518 w 518"/>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18" h="1907">
                  <a:moveTo>
                    <a:pt x="464" y="1907"/>
                  </a:moveTo>
                  <a:lnTo>
                    <a:pt x="514" y="1907"/>
                  </a:lnTo>
                  <a:lnTo>
                    <a:pt x="518" y="1862"/>
                  </a:lnTo>
                  <a:lnTo>
                    <a:pt x="502" y="1750"/>
                  </a:lnTo>
                  <a:lnTo>
                    <a:pt x="469" y="1594"/>
                  </a:lnTo>
                  <a:lnTo>
                    <a:pt x="423" y="1396"/>
                  </a:lnTo>
                  <a:lnTo>
                    <a:pt x="369" y="1175"/>
                  </a:lnTo>
                  <a:lnTo>
                    <a:pt x="307" y="940"/>
                  </a:lnTo>
                  <a:lnTo>
                    <a:pt x="245" y="707"/>
                  </a:lnTo>
                  <a:lnTo>
                    <a:pt x="186" y="487"/>
                  </a:lnTo>
                  <a:lnTo>
                    <a:pt x="132" y="294"/>
                  </a:lnTo>
                  <a:lnTo>
                    <a:pt x="89" y="139"/>
                  </a:lnTo>
                  <a:lnTo>
                    <a:pt x="60" y="37"/>
                  </a:lnTo>
                  <a:lnTo>
                    <a:pt x="51" y="0"/>
                  </a:lnTo>
                  <a:lnTo>
                    <a:pt x="25" y="2"/>
                  </a:lnTo>
                  <a:lnTo>
                    <a:pt x="0" y="3"/>
                  </a:lnTo>
                  <a:lnTo>
                    <a:pt x="10" y="40"/>
                  </a:lnTo>
                  <a:lnTo>
                    <a:pt x="39" y="142"/>
                  </a:lnTo>
                  <a:lnTo>
                    <a:pt x="81" y="296"/>
                  </a:lnTo>
                  <a:lnTo>
                    <a:pt x="135" y="489"/>
                  </a:lnTo>
                  <a:lnTo>
                    <a:pt x="195" y="709"/>
                  </a:lnTo>
                  <a:lnTo>
                    <a:pt x="257" y="942"/>
                  </a:lnTo>
                  <a:lnTo>
                    <a:pt x="319" y="1177"/>
                  </a:lnTo>
                  <a:lnTo>
                    <a:pt x="373" y="1399"/>
                  </a:lnTo>
                  <a:lnTo>
                    <a:pt x="419" y="1596"/>
                  </a:lnTo>
                  <a:lnTo>
                    <a:pt x="452" y="1757"/>
                  </a:lnTo>
                  <a:lnTo>
                    <a:pt x="467" y="1862"/>
                  </a:lnTo>
                  <a:lnTo>
                    <a:pt x="464" y="1907"/>
                  </a:lnTo>
                  <a:close/>
                </a:path>
              </a:pathLst>
            </a:custGeom>
            <a:solidFill>
              <a:srgbClr val="000000"/>
            </a:solidFill>
            <a:ln w="9525">
              <a:noFill/>
              <a:round/>
              <a:headEnd/>
              <a:tailEnd/>
            </a:ln>
          </p:spPr>
          <p:txBody>
            <a:bodyPr/>
            <a:lstStyle/>
            <a:p>
              <a:endParaRPr lang="en-US"/>
            </a:p>
          </p:txBody>
        </p:sp>
        <p:sp>
          <p:nvSpPr>
            <p:cNvPr id="22612" name="Freeform 51"/>
            <p:cNvSpPr>
              <a:spLocks/>
            </p:cNvSpPr>
            <p:nvPr/>
          </p:nvSpPr>
          <p:spPr bwMode="auto">
            <a:xfrm>
              <a:off x="3722" y="299"/>
              <a:ext cx="25" cy="26"/>
            </a:xfrm>
            <a:custGeom>
              <a:avLst/>
              <a:gdLst>
                <a:gd name="T0" fmla="*/ 0 w 51"/>
                <a:gd name="T1" fmla="*/ 11 h 26"/>
                <a:gd name="T2" fmla="*/ 0 w 51"/>
                <a:gd name="T3" fmla="*/ 21 h 26"/>
                <a:gd name="T4" fmla="*/ 0 w 51"/>
                <a:gd name="T5" fmla="*/ 26 h 26"/>
                <a:gd name="T6" fmla="*/ 0 w 51"/>
                <a:gd name="T7" fmla="*/ 15 h 26"/>
                <a:gd name="T8" fmla="*/ 0 w 51"/>
                <a:gd name="T9" fmla="*/ 4 h 26"/>
                <a:gd name="T10" fmla="*/ 0 w 51"/>
                <a:gd name="T11" fmla="*/ 0 h 26"/>
                <a:gd name="T12" fmla="*/ 0 w 51"/>
                <a:gd name="T13" fmla="*/ 12 h 26"/>
                <a:gd name="T14" fmla="*/ 0 w 51"/>
                <a:gd name="T15" fmla="*/ 12 h 26"/>
                <a:gd name="T16" fmla="*/ 0 w 51"/>
                <a:gd name="T17" fmla="*/ 11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26"/>
                <a:gd name="T29" fmla="*/ 51 w 51"/>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26">
                  <a:moveTo>
                    <a:pt x="25" y="11"/>
                  </a:moveTo>
                  <a:lnTo>
                    <a:pt x="10" y="21"/>
                  </a:lnTo>
                  <a:lnTo>
                    <a:pt x="20" y="26"/>
                  </a:lnTo>
                  <a:lnTo>
                    <a:pt x="35" y="15"/>
                  </a:lnTo>
                  <a:lnTo>
                    <a:pt x="51" y="4"/>
                  </a:lnTo>
                  <a:lnTo>
                    <a:pt x="41" y="0"/>
                  </a:lnTo>
                  <a:lnTo>
                    <a:pt x="0" y="12"/>
                  </a:lnTo>
                  <a:lnTo>
                    <a:pt x="25" y="11"/>
                  </a:lnTo>
                  <a:close/>
                </a:path>
              </a:pathLst>
            </a:custGeom>
            <a:solidFill>
              <a:srgbClr val="000000"/>
            </a:solidFill>
            <a:ln w="9525">
              <a:noFill/>
              <a:round/>
              <a:headEnd/>
              <a:tailEnd/>
            </a:ln>
          </p:spPr>
          <p:txBody>
            <a:bodyPr/>
            <a:lstStyle/>
            <a:p>
              <a:endParaRPr lang="en-US"/>
            </a:p>
          </p:txBody>
        </p:sp>
        <p:sp>
          <p:nvSpPr>
            <p:cNvPr id="22613" name="Freeform 52"/>
            <p:cNvSpPr>
              <a:spLocks/>
            </p:cNvSpPr>
            <p:nvPr/>
          </p:nvSpPr>
          <p:spPr bwMode="auto">
            <a:xfrm>
              <a:off x="3727" y="303"/>
              <a:ext cx="25" cy="11"/>
            </a:xfrm>
            <a:custGeom>
              <a:avLst/>
              <a:gdLst>
                <a:gd name="T0" fmla="*/ 1 w 50"/>
                <a:gd name="T1" fmla="*/ 11 h 11"/>
                <a:gd name="T2" fmla="*/ 0 w 50"/>
                <a:gd name="T3" fmla="*/ 10 h 11"/>
                <a:gd name="T4" fmla="*/ 1 w 50"/>
                <a:gd name="T5" fmla="*/ 4 h 11"/>
                <a:gd name="T6" fmla="*/ 1 w 50"/>
                <a:gd name="T7" fmla="*/ 0 h 11"/>
                <a:gd name="T8" fmla="*/ 1 w 50"/>
                <a:gd name="T9" fmla="*/ 11 h 11"/>
                <a:gd name="T10" fmla="*/ 0 60000 65536"/>
                <a:gd name="T11" fmla="*/ 0 60000 65536"/>
                <a:gd name="T12" fmla="*/ 0 60000 65536"/>
                <a:gd name="T13" fmla="*/ 0 60000 65536"/>
                <a:gd name="T14" fmla="*/ 0 60000 65536"/>
                <a:gd name="T15" fmla="*/ 0 w 50"/>
                <a:gd name="T16" fmla="*/ 0 h 11"/>
                <a:gd name="T17" fmla="*/ 50 w 50"/>
                <a:gd name="T18" fmla="*/ 11 h 11"/>
              </a:gdLst>
              <a:ahLst/>
              <a:cxnLst>
                <a:cxn ang="T10">
                  <a:pos x="T0" y="T1"/>
                </a:cxn>
                <a:cxn ang="T11">
                  <a:pos x="T2" y="T3"/>
                </a:cxn>
                <a:cxn ang="T12">
                  <a:pos x="T4" y="T5"/>
                </a:cxn>
                <a:cxn ang="T13">
                  <a:pos x="T6" y="T7"/>
                </a:cxn>
                <a:cxn ang="T14">
                  <a:pos x="T8" y="T9"/>
                </a:cxn>
              </a:cxnLst>
              <a:rect l="T15" t="T16" r="T17" b="T18"/>
              <a:pathLst>
                <a:path w="50" h="11">
                  <a:moveTo>
                    <a:pt x="25" y="11"/>
                  </a:moveTo>
                  <a:lnTo>
                    <a:pt x="0" y="10"/>
                  </a:lnTo>
                  <a:lnTo>
                    <a:pt x="50" y="4"/>
                  </a:lnTo>
                  <a:lnTo>
                    <a:pt x="41" y="0"/>
                  </a:lnTo>
                  <a:lnTo>
                    <a:pt x="25" y="11"/>
                  </a:lnTo>
                  <a:close/>
                </a:path>
              </a:pathLst>
            </a:custGeom>
            <a:solidFill>
              <a:srgbClr val="000000"/>
            </a:solidFill>
            <a:ln w="9525">
              <a:noFill/>
              <a:round/>
              <a:headEnd/>
              <a:tailEnd/>
            </a:ln>
          </p:spPr>
          <p:txBody>
            <a:bodyPr/>
            <a:lstStyle/>
            <a:p>
              <a:endParaRPr lang="en-US"/>
            </a:p>
          </p:txBody>
        </p:sp>
        <p:sp>
          <p:nvSpPr>
            <p:cNvPr id="22614" name="Freeform 53"/>
            <p:cNvSpPr>
              <a:spLocks/>
            </p:cNvSpPr>
            <p:nvPr/>
          </p:nvSpPr>
          <p:spPr bwMode="auto">
            <a:xfrm>
              <a:off x="1478" y="307"/>
              <a:ext cx="2274" cy="1281"/>
            </a:xfrm>
            <a:custGeom>
              <a:avLst/>
              <a:gdLst>
                <a:gd name="T0" fmla="*/ 18 w 4548"/>
                <a:gd name="T1" fmla="*/ 6 h 1281"/>
                <a:gd name="T2" fmla="*/ 18 w 4548"/>
                <a:gd name="T3" fmla="*/ 17 h 1281"/>
                <a:gd name="T4" fmla="*/ 18 w 4548"/>
                <a:gd name="T5" fmla="*/ 38 h 1281"/>
                <a:gd name="T6" fmla="*/ 18 w 4548"/>
                <a:gd name="T7" fmla="*/ 68 h 1281"/>
                <a:gd name="T8" fmla="*/ 18 w 4548"/>
                <a:gd name="T9" fmla="*/ 112 h 1281"/>
                <a:gd name="T10" fmla="*/ 17 w 4548"/>
                <a:gd name="T11" fmla="*/ 164 h 1281"/>
                <a:gd name="T12" fmla="*/ 17 w 4548"/>
                <a:gd name="T13" fmla="*/ 231 h 1281"/>
                <a:gd name="T14" fmla="*/ 15 w 4548"/>
                <a:gd name="T15" fmla="*/ 306 h 1281"/>
                <a:gd name="T16" fmla="*/ 15 w 4548"/>
                <a:gd name="T17" fmla="*/ 398 h 1281"/>
                <a:gd name="T18" fmla="*/ 14 w 4548"/>
                <a:gd name="T19" fmla="*/ 501 h 1281"/>
                <a:gd name="T20" fmla="*/ 12 w 4548"/>
                <a:gd name="T21" fmla="*/ 632 h 1281"/>
                <a:gd name="T22" fmla="*/ 11 w 4548"/>
                <a:gd name="T23" fmla="*/ 746 h 1281"/>
                <a:gd name="T24" fmla="*/ 9 w 4548"/>
                <a:gd name="T25" fmla="*/ 862 h 1281"/>
                <a:gd name="T26" fmla="*/ 8 w 4548"/>
                <a:gd name="T27" fmla="*/ 975 h 1281"/>
                <a:gd name="T28" fmla="*/ 6 w 4548"/>
                <a:gd name="T29" fmla="*/ 1056 h 1281"/>
                <a:gd name="T30" fmla="*/ 5 w 4548"/>
                <a:gd name="T31" fmla="*/ 1120 h 1281"/>
                <a:gd name="T32" fmla="*/ 5 w 4548"/>
                <a:gd name="T33" fmla="*/ 1165 h 1281"/>
                <a:gd name="T34" fmla="*/ 3 w 4548"/>
                <a:gd name="T35" fmla="*/ 1202 h 1281"/>
                <a:gd name="T36" fmla="*/ 2 w 4548"/>
                <a:gd name="T37" fmla="*/ 1227 h 1281"/>
                <a:gd name="T38" fmla="*/ 1 w 4548"/>
                <a:gd name="T39" fmla="*/ 1242 h 1281"/>
                <a:gd name="T40" fmla="*/ 1 w 4548"/>
                <a:gd name="T41" fmla="*/ 1250 h 1281"/>
                <a:gd name="T42" fmla="*/ 1 w 4548"/>
                <a:gd name="T43" fmla="*/ 1253 h 1281"/>
                <a:gd name="T44" fmla="*/ 1 w 4548"/>
                <a:gd name="T45" fmla="*/ 1253 h 1281"/>
                <a:gd name="T46" fmla="*/ 1 w 4548"/>
                <a:gd name="T47" fmla="*/ 1252 h 1281"/>
                <a:gd name="T48" fmla="*/ 1 w 4548"/>
                <a:gd name="T49" fmla="*/ 1266 h 1281"/>
                <a:gd name="T50" fmla="*/ 0 w 4548"/>
                <a:gd name="T51" fmla="*/ 1280 h 1281"/>
                <a:gd name="T52" fmla="*/ 1 w 4548"/>
                <a:gd name="T53" fmla="*/ 1281 h 1281"/>
                <a:gd name="T54" fmla="*/ 1 w 4548"/>
                <a:gd name="T55" fmla="*/ 1281 h 1281"/>
                <a:gd name="T56" fmla="*/ 1 w 4548"/>
                <a:gd name="T57" fmla="*/ 1278 h 1281"/>
                <a:gd name="T58" fmla="*/ 1 w 4548"/>
                <a:gd name="T59" fmla="*/ 1270 h 1281"/>
                <a:gd name="T60" fmla="*/ 2 w 4548"/>
                <a:gd name="T61" fmla="*/ 1255 h 1281"/>
                <a:gd name="T62" fmla="*/ 3 w 4548"/>
                <a:gd name="T63" fmla="*/ 1230 h 1281"/>
                <a:gd name="T64" fmla="*/ 4 w 4548"/>
                <a:gd name="T65" fmla="*/ 1197 h 1281"/>
                <a:gd name="T66" fmla="*/ 5 w 4548"/>
                <a:gd name="T67" fmla="*/ 1144 h 1281"/>
                <a:gd name="T68" fmla="*/ 7 w 4548"/>
                <a:gd name="T69" fmla="*/ 1078 h 1281"/>
                <a:gd name="T70" fmla="*/ 8 w 4548"/>
                <a:gd name="T71" fmla="*/ 994 h 1281"/>
                <a:gd name="T72" fmla="*/ 9 w 4548"/>
                <a:gd name="T73" fmla="*/ 903 h 1281"/>
                <a:gd name="T74" fmla="*/ 11 w 4548"/>
                <a:gd name="T75" fmla="*/ 769 h 1281"/>
                <a:gd name="T76" fmla="*/ 13 w 4548"/>
                <a:gd name="T77" fmla="*/ 625 h 1281"/>
                <a:gd name="T78" fmla="*/ 14 w 4548"/>
                <a:gd name="T79" fmla="*/ 525 h 1281"/>
                <a:gd name="T80" fmla="*/ 15 w 4548"/>
                <a:gd name="T81" fmla="*/ 422 h 1281"/>
                <a:gd name="T82" fmla="*/ 16 w 4548"/>
                <a:gd name="T83" fmla="*/ 334 h 1281"/>
                <a:gd name="T84" fmla="*/ 17 w 4548"/>
                <a:gd name="T85" fmla="*/ 252 h 1281"/>
                <a:gd name="T86" fmla="*/ 17 w 4548"/>
                <a:gd name="T87" fmla="*/ 186 h 1281"/>
                <a:gd name="T88" fmla="*/ 18 w 4548"/>
                <a:gd name="T89" fmla="*/ 130 h 1281"/>
                <a:gd name="T90" fmla="*/ 18 w 4548"/>
                <a:gd name="T91" fmla="*/ 85 h 1281"/>
                <a:gd name="T92" fmla="*/ 18 w 4548"/>
                <a:gd name="T93" fmla="*/ 49 h 1281"/>
                <a:gd name="T94" fmla="*/ 18 w 4548"/>
                <a:gd name="T95" fmla="*/ 23 h 1281"/>
                <a:gd name="T96" fmla="*/ 18 w 4548"/>
                <a:gd name="T97" fmla="*/ 0 h 1281"/>
                <a:gd name="T98" fmla="*/ 18 w 4548"/>
                <a:gd name="T99" fmla="*/ 6 h 12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548"/>
                <a:gd name="T151" fmla="*/ 0 h 1281"/>
                <a:gd name="T152" fmla="*/ 4548 w 4548"/>
                <a:gd name="T153" fmla="*/ 1281 h 12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548" h="1281">
                  <a:moveTo>
                    <a:pt x="4498" y="6"/>
                  </a:moveTo>
                  <a:lnTo>
                    <a:pt x="4496" y="17"/>
                  </a:lnTo>
                  <a:lnTo>
                    <a:pt x="4479" y="38"/>
                  </a:lnTo>
                  <a:lnTo>
                    <a:pt x="4438" y="68"/>
                  </a:lnTo>
                  <a:lnTo>
                    <a:pt x="4369" y="112"/>
                  </a:lnTo>
                  <a:lnTo>
                    <a:pt x="4270" y="164"/>
                  </a:lnTo>
                  <a:lnTo>
                    <a:pt x="4133" y="231"/>
                  </a:lnTo>
                  <a:lnTo>
                    <a:pt x="3964" y="306"/>
                  </a:lnTo>
                  <a:lnTo>
                    <a:pt x="3736" y="398"/>
                  </a:lnTo>
                  <a:lnTo>
                    <a:pt x="3466" y="501"/>
                  </a:lnTo>
                  <a:lnTo>
                    <a:pt x="3099" y="632"/>
                  </a:lnTo>
                  <a:lnTo>
                    <a:pt x="2763" y="746"/>
                  </a:lnTo>
                  <a:lnTo>
                    <a:pt x="2389" y="862"/>
                  </a:lnTo>
                  <a:lnTo>
                    <a:pt x="1976" y="975"/>
                  </a:lnTo>
                  <a:lnTo>
                    <a:pt x="1627" y="1056"/>
                  </a:lnTo>
                  <a:lnTo>
                    <a:pt x="1310" y="1120"/>
                  </a:lnTo>
                  <a:lnTo>
                    <a:pt x="1050" y="1165"/>
                  </a:lnTo>
                  <a:lnTo>
                    <a:pt x="768" y="1202"/>
                  </a:lnTo>
                  <a:lnTo>
                    <a:pt x="538" y="1227"/>
                  </a:lnTo>
                  <a:lnTo>
                    <a:pt x="353" y="1242"/>
                  </a:lnTo>
                  <a:lnTo>
                    <a:pt x="204" y="1250"/>
                  </a:lnTo>
                  <a:lnTo>
                    <a:pt x="94" y="1253"/>
                  </a:lnTo>
                  <a:lnTo>
                    <a:pt x="27" y="1253"/>
                  </a:lnTo>
                  <a:lnTo>
                    <a:pt x="4" y="1252"/>
                  </a:lnTo>
                  <a:lnTo>
                    <a:pt x="2" y="1266"/>
                  </a:lnTo>
                  <a:lnTo>
                    <a:pt x="0" y="1280"/>
                  </a:lnTo>
                  <a:lnTo>
                    <a:pt x="25" y="1281"/>
                  </a:lnTo>
                  <a:lnTo>
                    <a:pt x="94" y="1281"/>
                  </a:lnTo>
                  <a:lnTo>
                    <a:pt x="204" y="1278"/>
                  </a:lnTo>
                  <a:lnTo>
                    <a:pt x="361" y="1270"/>
                  </a:lnTo>
                  <a:lnTo>
                    <a:pt x="554" y="1255"/>
                  </a:lnTo>
                  <a:lnTo>
                    <a:pt x="776" y="1230"/>
                  </a:lnTo>
                  <a:lnTo>
                    <a:pt x="1015" y="1197"/>
                  </a:lnTo>
                  <a:lnTo>
                    <a:pt x="1341" y="1144"/>
                  </a:lnTo>
                  <a:lnTo>
                    <a:pt x="1669" y="1078"/>
                  </a:lnTo>
                  <a:lnTo>
                    <a:pt x="2022" y="994"/>
                  </a:lnTo>
                  <a:lnTo>
                    <a:pt x="2358" y="903"/>
                  </a:lnTo>
                  <a:lnTo>
                    <a:pt x="2786" y="769"/>
                  </a:lnTo>
                  <a:lnTo>
                    <a:pt x="3211" y="625"/>
                  </a:lnTo>
                  <a:lnTo>
                    <a:pt x="3493" y="525"/>
                  </a:lnTo>
                  <a:lnTo>
                    <a:pt x="3763" y="422"/>
                  </a:lnTo>
                  <a:lnTo>
                    <a:pt x="3979" y="334"/>
                  </a:lnTo>
                  <a:lnTo>
                    <a:pt x="4164" y="252"/>
                  </a:lnTo>
                  <a:lnTo>
                    <a:pt x="4301" y="186"/>
                  </a:lnTo>
                  <a:lnTo>
                    <a:pt x="4407" y="130"/>
                  </a:lnTo>
                  <a:lnTo>
                    <a:pt x="4477" y="85"/>
                  </a:lnTo>
                  <a:lnTo>
                    <a:pt x="4525" y="49"/>
                  </a:lnTo>
                  <a:lnTo>
                    <a:pt x="4546" y="23"/>
                  </a:lnTo>
                  <a:lnTo>
                    <a:pt x="4548" y="0"/>
                  </a:lnTo>
                  <a:lnTo>
                    <a:pt x="4498" y="6"/>
                  </a:lnTo>
                  <a:close/>
                </a:path>
              </a:pathLst>
            </a:custGeom>
            <a:solidFill>
              <a:srgbClr val="000000"/>
            </a:solidFill>
            <a:ln w="9525">
              <a:noFill/>
              <a:round/>
              <a:headEnd/>
              <a:tailEnd/>
            </a:ln>
          </p:spPr>
          <p:txBody>
            <a:bodyPr/>
            <a:lstStyle/>
            <a:p>
              <a:endParaRPr lang="en-US"/>
            </a:p>
          </p:txBody>
        </p:sp>
        <p:sp>
          <p:nvSpPr>
            <p:cNvPr id="22615" name="Freeform 54"/>
            <p:cNvSpPr>
              <a:spLocks/>
            </p:cNvSpPr>
            <p:nvPr/>
          </p:nvSpPr>
          <p:spPr bwMode="auto">
            <a:xfrm>
              <a:off x="1460" y="1558"/>
              <a:ext cx="581" cy="2221"/>
            </a:xfrm>
            <a:custGeom>
              <a:avLst/>
              <a:gdLst>
                <a:gd name="T0" fmla="*/ 0 w 1164"/>
                <a:gd name="T1" fmla="*/ 1 h 2221"/>
                <a:gd name="T2" fmla="*/ 0 w 1164"/>
                <a:gd name="T3" fmla="*/ 0 h 2221"/>
                <a:gd name="T4" fmla="*/ 0 w 1164"/>
                <a:gd name="T5" fmla="*/ 52 h 2221"/>
                <a:gd name="T6" fmla="*/ 0 w 1164"/>
                <a:gd name="T7" fmla="*/ 140 h 2221"/>
                <a:gd name="T8" fmla="*/ 0 w 1164"/>
                <a:gd name="T9" fmla="*/ 275 h 2221"/>
                <a:gd name="T10" fmla="*/ 1 w 1164"/>
                <a:gd name="T11" fmla="*/ 465 h 2221"/>
                <a:gd name="T12" fmla="*/ 1 w 1164"/>
                <a:gd name="T13" fmla="*/ 653 h 2221"/>
                <a:gd name="T14" fmla="*/ 2 w 1164"/>
                <a:gd name="T15" fmla="*/ 877 h 2221"/>
                <a:gd name="T16" fmla="*/ 2 w 1164"/>
                <a:gd name="T17" fmla="*/ 1128 h 2221"/>
                <a:gd name="T18" fmla="*/ 3 w 1164"/>
                <a:gd name="T19" fmla="*/ 1337 h 2221"/>
                <a:gd name="T20" fmla="*/ 3 w 1164"/>
                <a:gd name="T21" fmla="*/ 1604 h 2221"/>
                <a:gd name="T22" fmla="*/ 4 w 1164"/>
                <a:gd name="T23" fmla="*/ 1829 h 2221"/>
                <a:gd name="T24" fmla="*/ 4 w 1164"/>
                <a:gd name="T25" fmla="*/ 2033 h 2221"/>
                <a:gd name="T26" fmla="*/ 4 w 1164"/>
                <a:gd name="T27" fmla="*/ 2209 h 2221"/>
                <a:gd name="T28" fmla="*/ 4 w 1164"/>
                <a:gd name="T29" fmla="*/ 2221 h 2221"/>
                <a:gd name="T30" fmla="*/ 4 w 1164"/>
                <a:gd name="T31" fmla="*/ 2185 h 2221"/>
                <a:gd name="T32" fmla="*/ 4 w 1164"/>
                <a:gd name="T33" fmla="*/ 2031 h 2221"/>
                <a:gd name="T34" fmla="*/ 4 w 1164"/>
                <a:gd name="T35" fmla="*/ 1823 h 2221"/>
                <a:gd name="T36" fmla="*/ 4 w 1164"/>
                <a:gd name="T37" fmla="*/ 1591 h 2221"/>
                <a:gd name="T38" fmla="*/ 3 w 1164"/>
                <a:gd name="T39" fmla="*/ 1378 h 2221"/>
                <a:gd name="T40" fmla="*/ 3 w 1164"/>
                <a:gd name="T41" fmla="*/ 1098 h 2221"/>
                <a:gd name="T42" fmla="*/ 2 w 1164"/>
                <a:gd name="T43" fmla="*/ 869 h 2221"/>
                <a:gd name="T44" fmla="*/ 2 w 1164"/>
                <a:gd name="T45" fmla="*/ 644 h 2221"/>
                <a:gd name="T46" fmla="*/ 1 w 1164"/>
                <a:gd name="T47" fmla="*/ 421 h 2221"/>
                <a:gd name="T48" fmla="*/ 0 w 1164"/>
                <a:gd name="T49" fmla="*/ 264 h 2221"/>
                <a:gd name="T50" fmla="*/ 0 w 1164"/>
                <a:gd name="T51" fmla="*/ 129 h 2221"/>
                <a:gd name="T52" fmla="*/ 0 w 1164"/>
                <a:gd name="T53" fmla="*/ 41 h 2221"/>
                <a:gd name="T54" fmla="*/ 0 w 1164"/>
                <a:gd name="T55" fmla="*/ 9 h 2221"/>
                <a:gd name="T56" fmla="*/ 0 w 1164"/>
                <a:gd name="T57" fmla="*/ 15 h 2221"/>
                <a:gd name="T58" fmla="*/ 0 w 1164"/>
                <a:gd name="T59" fmla="*/ 1 h 22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64"/>
                <a:gd name="T91" fmla="*/ 0 h 2221"/>
                <a:gd name="T92" fmla="*/ 1164 w 1164"/>
                <a:gd name="T93" fmla="*/ 2221 h 22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64" h="2221">
                  <a:moveTo>
                    <a:pt x="41" y="1"/>
                  </a:moveTo>
                  <a:lnTo>
                    <a:pt x="0" y="0"/>
                  </a:lnTo>
                  <a:lnTo>
                    <a:pt x="41" y="52"/>
                  </a:lnTo>
                  <a:lnTo>
                    <a:pt x="106" y="140"/>
                  </a:lnTo>
                  <a:lnTo>
                    <a:pt x="205" y="275"/>
                  </a:lnTo>
                  <a:lnTo>
                    <a:pt x="340" y="465"/>
                  </a:lnTo>
                  <a:lnTo>
                    <a:pt x="465" y="653"/>
                  </a:lnTo>
                  <a:lnTo>
                    <a:pt x="610" y="877"/>
                  </a:lnTo>
                  <a:lnTo>
                    <a:pt x="757" y="1128"/>
                  </a:lnTo>
                  <a:lnTo>
                    <a:pt x="870" y="1337"/>
                  </a:lnTo>
                  <a:lnTo>
                    <a:pt x="990" y="1604"/>
                  </a:lnTo>
                  <a:lnTo>
                    <a:pt x="1071" y="1829"/>
                  </a:lnTo>
                  <a:lnTo>
                    <a:pt x="1114" y="2033"/>
                  </a:lnTo>
                  <a:lnTo>
                    <a:pt x="1108" y="2209"/>
                  </a:lnTo>
                  <a:lnTo>
                    <a:pt x="1145" y="2221"/>
                  </a:lnTo>
                  <a:lnTo>
                    <a:pt x="1158" y="2185"/>
                  </a:lnTo>
                  <a:lnTo>
                    <a:pt x="1164" y="2031"/>
                  </a:lnTo>
                  <a:lnTo>
                    <a:pt x="1121" y="1823"/>
                  </a:lnTo>
                  <a:lnTo>
                    <a:pt x="1040" y="1591"/>
                  </a:lnTo>
                  <a:lnTo>
                    <a:pt x="940" y="1378"/>
                  </a:lnTo>
                  <a:lnTo>
                    <a:pt x="791" y="1098"/>
                  </a:lnTo>
                  <a:lnTo>
                    <a:pt x="656" y="869"/>
                  </a:lnTo>
                  <a:lnTo>
                    <a:pt x="512" y="644"/>
                  </a:lnTo>
                  <a:lnTo>
                    <a:pt x="363" y="421"/>
                  </a:lnTo>
                  <a:lnTo>
                    <a:pt x="251" y="264"/>
                  </a:lnTo>
                  <a:lnTo>
                    <a:pt x="153" y="129"/>
                  </a:lnTo>
                  <a:lnTo>
                    <a:pt x="87" y="41"/>
                  </a:lnTo>
                  <a:lnTo>
                    <a:pt x="62" y="9"/>
                  </a:lnTo>
                  <a:lnTo>
                    <a:pt x="39" y="15"/>
                  </a:lnTo>
                  <a:lnTo>
                    <a:pt x="41" y="1"/>
                  </a:lnTo>
                  <a:close/>
                </a:path>
              </a:pathLst>
            </a:custGeom>
            <a:solidFill>
              <a:srgbClr val="000000"/>
            </a:solidFill>
            <a:ln w="9525">
              <a:noFill/>
              <a:round/>
              <a:headEnd/>
              <a:tailEnd/>
            </a:ln>
          </p:spPr>
          <p:txBody>
            <a:bodyPr/>
            <a:lstStyle/>
            <a:p>
              <a:endParaRPr lang="en-US"/>
            </a:p>
          </p:txBody>
        </p:sp>
        <p:sp>
          <p:nvSpPr>
            <p:cNvPr id="22616" name="Freeform 55"/>
            <p:cNvSpPr>
              <a:spLocks/>
            </p:cNvSpPr>
            <p:nvPr/>
          </p:nvSpPr>
          <p:spPr bwMode="auto">
            <a:xfrm>
              <a:off x="2032" y="2208"/>
              <a:ext cx="1947" cy="1571"/>
            </a:xfrm>
            <a:custGeom>
              <a:avLst/>
              <a:gdLst>
                <a:gd name="T0" fmla="*/ 0 w 3894"/>
                <a:gd name="T1" fmla="*/ 1571 h 1571"/>
                <a:gd name="T2" fmla="*/ 1 w 3894"/>
                <a:gd name="T3" fmla="*/ 1554 h 1571"/>
                <a:gd name="T4" fmla="*/ 1 w 3894"/>
                <a:gd name="T5" fmla="*/ 1505 h 1571"/>
                <a:gd name="T6" fmla="*/ 2 w 3894"/>
                <a:gd name="T7" fmla="*/ 1428 h 1571"/>
                <a:gd name="T8" fmla="*/ 4 w 3894"/>
                <a:gd name="T9" fmla="*/ 1269 h 1571"/>
                <a:gd name="T10" fmla="*/ 5 w 3894"/>
                <a:gd name="T11" fmla="*/ 1201 h 1571"/>
                <a:gd name="T12" fmla="*/ 6 w 3894"/>
                <a:gd name="T13" fmla="*/ 1060 h 1571"/>
                <a:gd name="T14" fmla="*/ 8 w 3894"/>
                <a:gd name="T15" fmla="*/ 903 h 1571"/>
                <a:gd name="T16" fmla="*/ 9 w 3894"/>
                <a:gd name="T17" fmla="*/ 735 h 1571"/>
                <a:gd name="T18" fmla="*/ 11 w 3894"/>
                <a:gd name="T19" fmla="*/ 562 h 1571"/>
                <a:gd name="T20" fmla="*/ 13 w 3894"/>
                <a:gd name="T21" fmla="*/ 377 h 1571"/>
                <a:gd name="T22" fmla="*/ 14 w 3894"/>
                <a:gd name="T23" fmla="*/ 196 h 1571"/>
                <a:gd name="T24" fmla="*/ 15 w 3894"/>
                <a:gd name="T25" fmla="*/ 13 h 1571"/>
                <a:gd name="T26" fmla="*/ 15 w 3894"/>
                <a:gd name="T27" fmla="*/ 7 h 1571"/>
                <a:gd name="T28" fmla="*/ 15 w 3894"/>
                <a:gd name="T29" fmla="*/ 0 h 1571"/>
                <a:gd name="T30" fmla="*/ 14 w 3894"/>
                <a:gd name="T31" fmla="*/ 174 h 1571"/>
                <a:gd name="T32" fmla="*/ 13 w 3894"/>
                <a:gd name="T33" fmla="*/ 356 h 1571"/>
                <a:gd name="T34" fmla="*/ 11 w 3894"/>
                <a:gd name="T35" fmla="*/ 532 h 1571"/>
                <a:gd name="T36" fmla="*/ 9 w 3894"/>
                <a:gd name="T37" fmla="*/ 711 h 1571"/>
                <a:gd name="T38" fmla="*/ 8 w 3894"/>
                <a:gd name="T39" fmla="*/ 879 h 1571"/>
                <a:gd name="T40" fmla="*/ 6 w 3894"/>
                <a:gd name="T41" fmla="*/ 1036 h 1571"/>
                <a:gd name="T42" fmla="*/ 5 w 3894"/>
                <a:gd name="T43" fmla="*/ 1177 h 1571"/>
                <a:gd name="T44" fmla="*/ 3 w 3894"/>
                <a:gd name="T45" fmla="*/ 1356 h 1571"/>
                <a:gd name="T46" fmla="*/ 2 w 3894"/>
                <a:gd name="T47" fmla="*/ 1404 h 1571"/>
                <a:gd name="T48" fmla="*/ 1 w 3894"/>
                <a:gd name="T49" fmla="*/ 1481 h 1571"/>
                <a:gd name="T50" fmla="*/ 1 w 3894"/>
                <a:gd name="T51" fmla="*/ 1530 h 1571"/>
                <a:gd name="T52" fmla="*/ 1 w 3894"/>
                <a:gd name="T53" fmla="*/ 1535 h 1571"/>
                <a:gd name="T54" fmla="*/ 0 w 3894"/>
                <a:gd name="T55" fmla="*/ 1571 h 15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894"/>
                <a:gd name="T85" fmla="*/ 0 h 1571"/>
                <a:gd name="T86" fmla="*/ 3894 w 3894"/>
                <a:gd name="T87" fmla="*/ 1571 h 15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894" h="1571">
                  <a:moveTo>
                    <a:pt x="0" y="1571"/>
                  </a:moveTo>
                  <a:lnTo>
                    <a:pt x="52" y="1554"/>
                  </a:lnTo>
                  <a:lnTo>
                    <a:pt x="196" y="1505"/>
                  </a:lnTo>
                  <a:lnTo>
                    <a:pt x="422" y="1428"/>
                  </a:lnTo>
                  <a:lnTo>
                    <a:pt x="872" y="1269"/>
                  </a:lnTo>
                  <a:lnTo>
                    <a:pt x="1061" y="1201"/>
                  </a:lnTo>
                  <a:lnTo>
                    <a:pt x="1447" y="1060"/>
                  </a:lnTo>
                  <a:lnTo>
                    <a:pt x="1860" y="903"/>
                  </a:lnTo>
                  <a:lnTo>
                    <a:pt x="2288" y="735"/>
                  </a:lnTo>
                  <a:lnTo>
                    <a:pt x="2709" y="562"/>
                  </a:lnTo>
                  <a:lnTo>
                    <a:pt x="3137" y="377"/>
                  </a:lnTo>
                  <a:lnTo>
                    <a:pt x="3529" y="196"/>
                  </a:lnTo>
                  <a:lnTo>
                    <a:pt x="3892" y="13"/>
                  </a:lnTo>
                  <a:lnTo>
                    <a:pt x="3894" y="7"/>
                  </a:lnTo>
                  <a:lnTo>
                    <a:pt x="3845" y="0"/>
                  </a:lnTo>
                  <a:lnTo>
                    <a:pt x="3498" y="174"/>
                  </a:lnTo>
                  <a:lnTo>
                    <a:pt x="3106" y="356"/>
                  </a:lnTo>
                  <a:lnTo>
                    <a:pt x="2701" y="532"/>
                  </a:lnTo>
                  <a:lnTo>
                    <a:pt x="2261" y="711"/>
                  </a:lnTo>
                  <a:lnTo>
                    <a:pt x="1833" y="879"/>
                  </a:lnTo>
                  <a:lnTo>
                    <a:pt x="1420" y="1036"/>
                  </a:lnTo>
                  <a:lnTo>
                    <a:pt x="1034" y="1177"/>
                  </a:lnTo>
                  <a:lnTo>
                    <a:pt x="532" y="1356"/>
                  </a:lnTo>
                  <a:lnTo>
                    <a:pt x="399" y="1404"/>
                  </a:lnTo>
                  <a:lnTo>
                    <a:pt x="173" y="1481"/>
                  </a:lnTo>
                  <a:lnTo>
                    <a:pt x="28" y="1530"/>
                  </a:lnTo>
                  <a:lnTo>
                    <a:pt x="13" y="1535"/>
                  </a:lnTo>
                  <a:lnTo>
                    <a:pt x="0" y="1571"/>
                  </a:lnTo>
                  <a:close/>
                </a:path>
              </a:pathLst>
            </a:custGeom>
            <a:solidFill>
              <a:srgbClr val="000000"/>
            </a:solidFill>
            <a:ln w="9525">
              <a:noFill/>
              <a:round/>
              <a:headEnd/>
              <a:tailEnd/>
            </a:ln>
          </p:spPr>
          <p:txBody>
            <a:bodyPr/>
            <a:lstStyle/>
            <a:p>
              <a:endParaRPr lang="en-US"/>
            </a:p>
          </p:txBody>
        </p:sp>
        <p:sp>
          <p:nvSpPr>
            <p:cNvPr id="22617" name="Freeform 56"/>
            <p:cNvSpPr>
              <a:spLocks/>
            </p:cNvSpPr>
            <p:nvPr/>
          </p:nvSpPr>
          <p:spPr bwMode="auto">
            <a:xfrm>
              <a:off x="1488" y="1488"/>
              <a:ext cx="648" cy="492"/>
            </a:xfrm>
            <a:custGeom>
              <a:avLst/>
              <a:gdLst>
                <a:gd name="T0" fmla="*/ 546 w 648"/>
                <a:gd name="T1" fmla="*/ 0 h 492"/>
                <a:gd name="T2" fmla="*/ 405 w 648"/>
                <a:gd name="T3" fmla="*/ 36 h 492"/>
                <a:gd name="T4" fmla="*/ 264 w 648"/>
                <a:gd name="T5" fmla="*/ 66 h 492"/>
                <a:gd name="T6" fmla="*/ 99 w 648"/>
                <a:gd name="T7" fmla="*/ 90 h 492"/>
                <a:gd name="T8" fmla="*/ 0 w 648"/>
                <a:gd name="T9" fmla="*/ 93 h 492"/>
                <a:gd name="T10" fmla="*/ 147 w 648"/>
                <a:gd name="T11" fmla="*/ 492 h 492"/>
                <a:gd name="T12" fmla="*/ 360 w 648"/>
                <a:gd name="T13" fmla="*/ 414 h 492"/>
                <a:gd name="T14" fmla="*/ 648 w 648"/>
                <a:gd name="T15" fmla="*/ 273 h 492"/>
                <a:gd name="T16" fmla="*/ 624 w 648"/>
                <a:gd name="T17" fmla="*/ 168 h 492"/>
                <a:gd name="T18" fmla="*/ 612 w 648"/>
                <a:gd name="T19" fmla="*/ 123 h 492"/>
                <a:gd name="T20" fmla="*/ 588 w 648"/>
                <a:gd name="T21" fmla="*/ 63 h 492"/>
                <a:gd name="T22" fmla="*/ 546 w 648"/>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492"/>
                <a:gd name="T38" fmla="*/ 648 w 648"/>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492">
                  <a:moveTo>
                    <a:pt x="546" y="0"/>
                  </a:moveTo>
                  <a:lnTo>
                    <a:pt x="405" y="36"/>
                  </a:lnTo>
                  <a:lnTo>
                    <a:pt x="264" y="66"/>
                  </a:lnTo>
                  <a:lnTo>
                    <a:pt x="99" y="90"/>
                  </a:lnTo>
                  <a:lnTo>
                    <a:pt x="0" y="93"/>
                  </a:lnTo>
                  <a:lnTo>
                    <a:pt x="147" y="492"/>
                  </a:lnTo>
                  <a:lnTo>
                    <a:pt x="360" y="414"/>
                  </a:lnTo>
                  <a:lnTo>
                    <a:pt x="648" y="273"/>
                  </a:lnTo>
                  <a:lnTo>
                    <a:pt x="624" y="168"/>
                  </a:lnTo>
                  <a:lnTo>
                    <a:pt x="612" y="123"/>
                  </a:lnTo>
                  <a:lnTo>
                    <a:pt x="588" y="63"/>
                  </a:lnTo>
                  <a:lnTo>
                    <a:pt x="546"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22618" name="Freeform 57"/>
            <p:cNvSpPr>
              <a:spLocks/>
            </p:cNvSpPr>
            <p:nvPr/>
          </p:nvSpPr>
          <p:spPr bwMode="auto">
            <a:xfrm>
              <a:off x="2049" y="1278"/>
              <a:ext cx="597" cy="477"/>
            </a:xfrm>
            <a:custGeom>
              <a:avLst/>
              <a:gdLst>
                <a:gd name="T0" fmla="*/ 465 w 597"/>
                <a:gd name="T1" fmla="*/ 0 h 477"/>
                <a:gd name="T2" fmla="*/ 249 w 597"/>
                <a:gd name="T3" fmla="*/ 105 h 477"/>
                <a:gd name="T4" fmla="*/ 0 w 597"/>
                <a:gd name="T5" fmla="*/ 207 h 477"/>
                <a:gd name="T6" fmla="*/ 27 w 597"/>
                <a:gd name="T7" fmla="*/ 258 h 477"/>
                <a:gd name="T8" fmla="*/ 57 w 597"/>
                <a:gd name="T9" fmla="*/ 315 h 477"/>
                <a:gd name="T10" fmla="*/ 75 w 597"/>
                <a:gd name="T11" fmla="*/ 384 h 477"/>
                <a:gd name="T12" fmla="*/ 99 w 597"/>
                <a:gd name="T13" fmla="*/ 477 h 477"/>
                <a:gd name="T14" fmla="*/ 366 w 597"/>
                <a:gd name="T15" fmla="*/ 348 h 477"/>
                <a:gd name="T16" fmla="*/ 597 w 597"/>
                <a:gd name="T17" fmla="*/ 219 h 477"/>
                <a:gd name="T18" fmla="*/ 567 w 597"/>
                <a:gd name="T19" fmla="*/ 120 h 477"/>
                <a:gd name="T20" fmla="*/ 519 w 597"/>
                <a:gd name="T21" fmla="*/ 54 h 477"/>
                <a:gd name="T22" fmla="*/ 465 w 597"/>
                <a:gd name="T23" fmla="*/ 0 h 4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97"/>
                <a:gd name="T37" fmla="*/ 0 h 477"/>
                <a:gd name="T38" fmla="*/ 597 w 597"/>
                <a:gd name="T39" fmla="*/ 477 h 4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97" h="477">
                  <a:moveTo>
                    <a:pt x="465" y="0"/>
                  </a:moveTo>
                  <a:lnTo>
                    <a:pt x="249" y="105"/>
                  </a:lnTo>
                  <a:lnTo>
                    <a:pt x="0" y="207"/>
                  </a:lnTo>
                  <a:lnTo>
                    <a:pt x="27" y="258"/>
                  </a:lnTo>
                  <a:lnTo>
                    <a:pt x="57" y="315"/>
                  </a:lnTo>
                  <a:lnTo>
                    <a:pt x="75" y="384"/>
                  </a:lnTo>
                  <a:lnTo>
                    <a:pt x="99" y="477"/>
                  </a:lnTo>
                  <a:lnTo>
                    <a:pt x="366" y="348"/>
                  </a:lnTo>
                  <a:lnTo>
                    <a:pt x="597" y="219"/>
                  </a:lnTo>
                  <a:lnTo>
                    <a:pt x="567" y="120"/>
                  </a:lnTo>
                  <a:lnTo>
                    <a:pt x="519" y="54"/>
                  </a:lnTo>
                  <a:lnTo>
                    <a:pt x="4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19" name="Freeform 58"/>
            <p:cNvSpPr>
              <a:spLocks/>
            </p:cNvSpPr>
            <p:nvPr/>
          </p:nvSpPr>
          <p:spPr bwMode="auto">
            <a:xfrm>
              <a:off x="2526" y="1005"/>
              <a:ext cx="585" cy="486"/>
            </a:xfrm>
            <a:custGeom>
              <a:avLst/>
              <a:gdLst>
                <a:gd name="T0" fmla="*/ 447 w 585"/>
                <a:gd name="T1" fmla="*/ 0 h 486"/>
                <a:gd name="T2" fmla="*/ 261 w 585"/>
                <a:gd name="T3" fmla="*/ 120 h 486"/>
                <a:gd name="T4" fmla="*/ 0 w 585"/>
                <a:gd name="T5" fmla="*/ 264 h 486"/>
                <a:gd name="T6" fmla="*/ 48 w 585"/>
                <a:gd name="T7" fmla="*/ 318 h 486"/>
                <a:gd name="T8" fmla="*/ 93 w 585"/>
                <a:gd name="T9" fmla="*/ 384 h 486"/>
                <a:gd name="T10" fmla="*/ 132 w 585"/>
                <a:gd name="T11" fmla="*/ 486 h 486"/>
                <a:gd name="T12" fmla="*/ 363 w 585"/>
                <a:gd name="T13" fmla="*/ 348 h 486"/>
                <a:gd name="T14" fmla="*/ 585 w 585"/>
                <a:gd name="T15" fmla="*/ 210 h 486"/>
                <a:gd name="T16" fmla="*/ 528 w 585"/>
                <a:gd name="T17" fmla="*/ 102 h 486"/>
                <a:gd name="T18" fmla="*/ 486 w 585"/>
                <a:gd name="T19" fmla="*/ 51 h 486"/>
                <a:gd name="T20" fmla="*/ 447 w 585"/>
                <a:gd name="T21" fmla="*/ 0 h 4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5"/>
                <a:gd name="T34" fmla="*/ 0 h 486"/>
                <a:gd name="T35" fmla="*/ 585 w 585"/>
                <a:gd name="T36" fmla="*/ 486 h 4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5" h="486">
                  <a:moveTo>
                    <a:pt x="447" y="0"/>
                  </a:moveTo>
                  <a:lnTo>
                    <a:pt x="261" y="120"/>
                  </a:lnTo>
                  <a:lnTo>
                    <a:pt x="0" y="264"/>
                  </a:lnTo>
                  <a:lnTo>
                    <a:pt x="48" y="318"/>
                  </a:lnTo>
                  <a:lnTo>
                    <a:pt x="93" y="384"/>
                  </a:lnTo>
                  <a:lnTo>
                    <a:pt x="132" y="486"/>
                  </a:lnTo>
                  <a:lnTo>
                    <a:pt x="363" y="348"/>
                  </a:lnTo>
                  <a:lnTo>
                    <a:pt x="585" y="210"/>
                  </a:lnTo>
                  <a:lnTo>
                    <a:pt x="528" y="102"/>
                  </a:lnTo>
                  <a:lnTo>
                    <a:pt x="486" y="51"/>
                  </a:lnTo>
                  <a:lnTo>
                    <a:pt x="447"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22620" name="Freeform 59"/>
            <p:cNvSpPr>
              <a:spLocks/>
            </p:cNvSpPr>
            <p:nvPr/>
          </p:nvSpPr>
          <p:spPr bwMode="auto">
            <a:xfrm>
              <a:off x="2988" y="723"/>
              <a:ext cx="531" cy="483"/>
            </a:xfrm>
            <a:custGeom>
              <a:avLst/>
              <a:gdLst>
                <a:gd name="T0" fmla="*/ 372 w 531"/>
                <a:gd name="T1" fmla="*/ 0 h 483"/>
                <a:gd name="T2" fmla="*/ 198 w 531"/>
                <a:gd name="T3" fmla="*/ 132 h 483"/>
                <a:gd name="T4" fmla="*/ 0 w 531"/>
                <a:gd name="T5" fmla="*/ 273 h 483"/>
                <a:gd name="T6" fmla="*/ 33 w 531"/>
                <a:gd name="T7" fmla="*/ 321 h 483"/>
                <a:gd name="T8" fmla="*/ 78 w 531"/>
                <a:gd name="T9" fmla="*/ 381 h 483"/>
                <a:gd name="T10" fmla="*/ 108 w 531"/>
                <a:gd name="T11" fmla="*/ 423 h 483"/>
                <a:gd name="T12" fmla="*/ 135 w 531"/>
                <a:gd name="T13" fmla="*/ 483 h 483"/>
                <a:gd name="T14" fmla="*/ 351 w 531"/>
                <a:gd name="T15" fmla="*/ 345 h 483"/>
                <a:gd name="T16" fmla="*/ 531 w 531"/>
                <a:gd name="T17" fmla="*/ 234 h 483"/>
                <a:gd name="T18" fmla="*/ 468 w 531"/>
                <a:gd name="T19" fmla="*/ 111 h 483"/>
                <a:gd name="T20" fmla="*/ 435 w 531"/>
                <a:gd name="T21" fmla="*/ 54 h 483"/>
                <a:gd name="T22" fmla="*/ 372 w 531"/>
                <a:gd name="T23" fmla="*/ 0 h 4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483"/>
                <a:gd name="T38" fmla="*/ 531 w 531"/>
                <a:gd name="T39" fmla="*/ 483 h 4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483">
                  <a:moveTo>
                    <a:pt x="372" y="0"/>
                  </a:moveTo>
                  <a:lnTo>
                    <a:pt x="198" y="132"/>
                  </a:lnTo>
                  <a:lnTo>
                    <a:pt x="0" y="273"/>
                  </a:lnTo>
                  <a:lnTo>
                    <a:pt x="33" y="321"/>
                  </a:lnTo>
                  <a:lnTo>
                    <a:pt x="78" y="381"/>
                  </a:lnTo>
                  <a:lnTo>
                    <a:pt x="108" y="423"/>
                  </a:lnTo>
                  <a:lnTo>
                    <a:pt x="135" y="483"/>
                  </a:lnTo>
                  <a:lnTo>
                    <a:pt x="351" y="345"/>
                  </a:lnTo>
                  <a:lnTo>
                    <a:pt x="531" y="234"/>
                  </a:lnTo>
                  <a:lnTo>
                    <a:pt x="468" y="111"/>
                  </a:lnTo>
                  <a:lnTo>
                    <a:pt x="435" y="54"/>
                  </a:lnTo>
                  <a:lnTo>
                    <a:pt x="372"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21" name="Freeform 60"/>
            <p:cNvSpPr>
              <a:spLocks/>
            </p:cNvSpPr>
            <p:nvPr/>
          </p:nvSpPr>
          <p:spPr bwMode="auto">
            <a:xfrm>
              <a:off x="3369" y="363"/>
              <a:ext cx="417" cy="585"/>
            </a:xfrm>
            <a:custGeom>
              <a:avLst/>
              <a:gdLst>
                <a:gd name="T0" fmla="*/ 363 w 417"/>
                <a:gd name="T1" fmla="*/ 0 h 585"/>
                <a:gd name="T2" fmla="*/ 207 w 417"/>
                <a:gd name="T3" fmla="*/ 171 h 585"/>
                <a:gd name="T4" fmla="*/ 0 w 417"/>
                <a:gd name="T5" fmla="*/ 345 h 585"/>
                <a:gd name="T6" fmla="*/ 57 w 417"/>
                <a:gd name="T7" fmla="*/ 393 h 585"/>
                <a:gd name="T8" fmla="*/ 99 w 417"/>
                <a:gd name="T9" fmla="*/ 462 h 585"/>
                <a:gd name="T10" fmla="*/ 162 w 417"/>
                <a:gd name="T11" fmla="*/ 585 h 585"/>
                <a:gd name="T12" fmla="*/ 369 w 417"/>
                <a:gd name="T13" fmla="*/ 447 h 585"/>
                <a:gd name="T14" fmla="*/ 417 w 417"/>
                <a:gd name="T15" fmla="*/ 402 h 585"/>
                <a:gd name="T16" fmla="*/ 363 w 417"/>
                <a:gd name="T17" fmla="*/ 0 h 5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7"/>
                <a:gd name="T28" fmla="*/ 0 h 585"/>
                <a:gd name="T29" fmla="*/ 417 w 417"/>
                <a:gd name="T30" fmla="*/ 585 h 5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7" h="585">
                  <a:moveTo>
                    <a:pt x="363" y="0"/>
                  </a:moveTo>
                  <a:lnTo>
                    <a:pt x="207" y="171"/>
                  </a:lnTo>
                  <a:lnTo>
                    <a:pt x="0" y="345"/>
                  </a:lnTo>
                  <a:lnTo>
                    <a:pt x="57" y="393"/>
                  </a:lnTo>
                  <a:lnTo>
                    <a:pt x="99" y="462"/>
                  </a:lnTo>
                  <a:lnTo>
                    <a:pt x="162" y="585"/>
                  </a:lnTo>
                  <a:lnTo>
                    <a:pt x="369" y="447"/>
                  </a:lnTo>
                  <a:lnTo>
                    <a:pt x="417" y="402"/>
                  </a:lnTo>
                  <a:lnTo>
                    <a:pt x="36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22" name="Freeform 61"/>
            <p:cNvSpPr>
              <a:spLocks/>
            </p:cNvSpPr>
            <p:nvPr/>
          </p:nvSpPr>
          <p:spPr bwMode="auto">
            <a:xfrm>
              <a:off x="1644" y="1896"/>
              <a:ext cx="444" cy="450"/>
            </a:xfrm>
            <a:custGeom>
              <a:avLst/>
              <a:gdLst>
                <a:gd name="T0" fmla="*/ 273 w 444"/>
                <a:gd name="T1" fmla="*/ 0 h 450"/>
                <a:gd name="T2" fmla="*/ 0 w 444"/>
                <a:gd name="T3" fmla="*/ 102 h 450"/>
                <a:gd name="T4" fmla="*/ 114 w 444"/>
                <a:gd name="T5" fmla="*/ 450 h 450"/>
                <a:gd name="T6" fmla="*/ 276 w 444"/>
                <a:gd name="T7" fmla="*/ 387 h 450"/>
                <a:gd name="T8" fmla="*/ 444 w 444"/>
                <a:gd name="T9" fmla="*/ 303 h 450"/>
                <a:gd name="T10" fmla="*/ 390 w 444"/>
                <a:gd name="T11" fmla="*/ 138 h 450"/>
                <a:gd name="T12" fmla="*/ 333 w 444"/>
                <a:gd name="T13" fmla="*/ 57 h 450"/>
                <a:gd name="T14" fmla="*/ 273 w 444"/>
                <a:gd name="T15" fmla="*/ 0 h 450"/>
                <a:gd name="T16" fmla="*/ 0 60000 65536"/>
                <a:gd name="T17" fmla="*/ 0 60000 65536"/>
                <a:gd name="T18" fmla="*/ 0 60000 65536"/>
                <a:gd name="T19" fmla="*/ 0 60000 65536"/>
                <a:gd name="T20" fmla="*/ 0 60000 65536"/>
                <a:gd name="T21" fmla="*/ 0 60000 65536"/>
                <a:gd name="T22" fmla="*/ 0 60000 65536"/>
                <a:gd name="T23" fmla="*/ 0 60000 65536"/>
                <a:gd name="T24" fmla="*/ 0 w 444"/>
                <a:gd name="T25" fmla="*/ 0 h 450"/>
                <a:gd name="T26" fmla="*/ 444 w 444"/>
                <a:gd name="T27" fmla="*/ 450 h 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4" h="450">
                  <a:moveTo>
                    <a:pt x="273" y="0"/>
                  </a:moveTo>
                  <a:lnTo>
                    <a:pt x="0" y="102"/>
                  </a:lnTo>
                  <a:lnTo>
                    <a:pt x="114" y="450"/>
                  </a:lnTo>
                  <a:lnTo>
                    <a:pt x="276" y="387"/>
                  </a:lnTo>
                  <a:lnTo>
                    <a:pt x="444" y="303"/>
                  </a:lnTo>
                  <a:lnTo>
                    <a:pt x="390" y="138"/>
                  </a:lnTo>
                  <a:lnTo>
                    <a:pt x="333" y="57"/>
                  </a:lnTo>
                  <a:lnTo>
                    <a:pt x="273"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22623" name="Freeform 62"/>
            <p:cNvSpPr>
              <a:spLocks/>
            </p:cNvSpPr>
            <p:nvPr/>
          </p:nvSpPr>
          <p:spPr bwMode="auto">
            <a:xfrm>
              <a:off x="1929" y="1677"/>
              <a:ext cx="579" cy="507"/>
            </a:xfrm>
            <a:custGeom>
              <a:avLst/>
              <a:gdLst>
                <a:gd name="T0" fmla="*/ 435 w 579"/>
                <a:gd name="T1" fmla="*/ 0 h 507"/>
                <a:gd name="T2" fmla="*/ 225 w 579"/>
                <a:gd name="T3" fmla="*/ 99 h 507"/>
                <a:gd name="T4" fmla="*/ 0 w 579"/>
                <a:gd name="T5" fmla="*/ 210 h 507"/>
                <a:gd name="T6" fmla="*/ 63 w 579"/>
                <a:gd name="T7" fmla="*/ 276 h 507"/>
                <a:gd name="T8" fmla="*/ 120 w 579"/>
                <a:gd name="T9" fmla="*/ 360 h 507"/>
                <a:gd name="T10" fmla="*/ 141 w 579"/>
                <a:gd name="T11" fmla="*/ 429 h 507"/>
                <a:gd name="T12" fmla="*/ 174 w 579"/>
                <a:gd name="T13" fmla="*/ 507 h 507"/>
                <a:gd name="T14" fmla="*/ 390 w 579"/>
                <a:gd name="T15" fmla="*/ 390 h 507"/>
                <a:gd name="T16" fmla="*/ 579 w 579"/>
                <a:gd name="T17" fmla="*/ 279 h 507"/>
                <a:gd name="T18" fmla="*/ 540 w 579"/>
                <a:gd name="T19" fmla="*/ 165 h 507"/>
                <a:gd name="T20" fmla="*/ 495 w 579"/>
                <a:gd name="T21" fmla="*/ 87 h 507"/>
                <a:gd name="T22" fmla="*/ 435 w 579"/>
                <a:gd name="T23" fmla="*/ 0 h 5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9"/>
                <a:gd name="T37" fmla="*/ 0 h 507"/>
                <a:gd name="T38" fmla="*/ 579 w 579"/>
                <a:gd name="T39" fmla="*/ 507 h 5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9" h="507">
                  <a:moveTo>
                    <a:pt x="435" y="0"/>
                  </a:moveTo>
                  <a:lnTo>
                    <a:pt x="225" y="99"/>
                  </a:lnTo>
                  <a:lnTo>
                    <a:pt x="0" y="210"/>
                  </a:lnTo>
                  <a:lnTo>
                    <a:pt x="63" y="276"/>
                  </a:lnTo>
                  <a:lnTo>
                    <a:pt x="120" y="360"/>
                  </a:lnTo>
                  <a:lnTo>
                    <a:pt x="141" y="429"/>
                  </a:lnTo>
                  <a:lnTo>
                    <a:pt x="174" y="507"/>
                  </a:lnTo>
                  <a:lnTo>
                    <a:pt x="390" y="390"/>
                  </a:lnTo>
                  <a:lnTo>
                    <a:pt x="579" y="279"/>
                  </a:lnTo>
                  <a:lnTo>
                    <a:pt x="540" y="165"/>
                  </a:lnTo>
                  <a:lnTo>
                    <a:pt x="495" y="87"/>
                  </a:lnTo>
                  <a:lnTo>
                    <a:pt x="435"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22624" name="Freeform 63"/>
            <p:cNvSpPr>
              <a:spLocks/>
            </p:cNvSpPr>
            <p:nvPr/>
          </p:nvSpPr>
          <p:spPr bwMode="auto">
            <a:xfrm>
              <a:off x="2379" y="1404"/>
              <a:ext cx="630" cy="546"/>
            </a:xfrm>
            <a:custGeom>
              <a:avLst/>
              <a:gdLst>
                <a:gd name="T0" fmla="*/ 459 w 630"/>
                <a:gd name="T1" fmla="*/ 0 h 546"/>
                <a:gd name="T2" fmla="*/ 219 w 630"/>
                <a:gd name="T3" fmla="*/ 144 h 546"/>
                <a:gd name="T4" fmla="*/ 0 w 630"/>
                <a:gd name="T5" fmla="*/ 264 h 546"/>
                <a:gd name="T6" fmla="*/ 57 w 630"/>
                <a:gd name="T7" fmla="*/ 363 h 546"/>
                <a:gd name="T8" fmla="*/ 102 w 630"/>
                <a:gd name="T9" fmla="*/ 441 h 546"/>
                <a:gd name="T10" fmla="*/ 141 w 630"/>
                <a:gd name="T11" fmla="*/ 546 h 546"/>
                <a:gd name="T12" fmla="*/ 411 w 630"/>
                <a:gd name="T13" fmla="*/ 393 h 546"/>
                <a:gd name="T14" fmla="*/ 630 w 630"/>
                <a:gd name="T15" fmla="*/ 243 h 546"/>
                <a:gd name="T16" fmla="*/ 591 w 630"/>
                <a:gd name="T17" fmla="*/ 156 h 546"/>
                <a:gd name="T18" fmla="*/ 555 w 630"/>
                <a:gd name="T19" fmla="*/ 102 h 546"/>
                <a:gd name="T20" fmla="*/ 519 w 630"/>
                <a:gd name="T21" fmla="*/ 51 h 546"/>
                <a:gd name="T22" fmla="*/ 459 w 630"/>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0"/>
                <a:gd name="T37" fmla="*/ 0 h 546"/>
                <a:gd name="T38" fmla="*/ 630 w 630"/>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0" h="546">
                  <a:moveTo>
                    <a:pt x="459" y="0"/>
                  </a:moveTo>
                  <a:lnTo>
                    <a:pt x="219" y="144"/>
                  </a:lnTo>
                  <a:lnTo>
                    <a:pt x="0" y="264"/>
                  </a:lnTo>
                  <a:lnTo>
                    <a:pt x="57" y="363"/>
                  </a:lnTo>
                  <a:lnTo>
                    <a:pt x="102" y="441"/>
                  </a:lnTo>
                  <a:lnTo>
                    <a:pt x="141" y="546"/>
                  </a:lnTo>
                  <a:lnTo>
                    <a:pt x="411" y="393"/>
                  </a:lnTo>
                  <a:lnTo>
                    <a:pt x="630" y="243"/>
                  </a:lnTo>
                  <a:lnTo>
                    <a:pt x="591" y="156"/>
                  </a:lnTo>
                  <a:lnTo>
                    <a:pt x="555" y="102"/>
                  </a:lnTo>
                  <a:lnTo>
                    <a:pt x="519" y="51"/>
                  </a:lnTo>
                  <a:lnTo>
                    <a:pt x="45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25" name="Freeform 64"/>
            <p:cNvSpPr>
              <a:spLocks/>
            </p:cNvSpPr>
            <p:nvPr/>
          </p:nvSpPr>
          <p:spPr bwMode="auto">
            <a:xfrm>
              <a:off x="2850" y="1146"/>
              <a:ext cx="567" cy="492"/>
            </a:xfrm>
            <a:custGeom>
              <a:avLst/>
              <a:gdLst>
                <a:gd name="T0" fmla="*/ 396 w 567"/>
                <a:gd name="T1" fmla="*/ 0 h 492"/>
                <a:gd name="T2" fmla="*/ 210 w 567"/>
                <a:gd name="T3" fmla="*/ 126 h 492"/>
                <a:gd name="T4" fmla="*/ 108 w 567"/>
                <a:gd name="T5" fmla="*/ 186 h 492"/>
                <a:gd name="T6" fmla="*/ 0 w 567"/>
                <a:gd name="T7" fmla="*/ 252 h 492"/>
                <a:gd name="T8" fmla="*/ 57 w 567"/>
                <a:gd name="T9" fmla="*/ 312 h 492"/>
                <a:gd name="T10" fmla="*/ 108 w 567"/>
                <a:gd name="T11" fmla="*/ 378 h 492"/>
                <a:gd name="T12" fmla="*/ 171 w 567"/>
                <a:gd name="T13" fmla="*/ 492 h 492"/>
                <a:gd name="T14" fmla="*/ 387 w 567"/>
                <a:gd name="T15" fmla="*/ 354 h 492"/>
                <a:gd name="T16" fmla="*/ 567 w 567"/>
                <a:gd name="T17" fmla="*/ 243 h 492"/>
                <a:gd name="T18" fmla="*/ 534 w 567"/>
                <a:gd name="T19" fmla="*/ 162 h 492"/>
                <a:gd name="T20" fmla="*/ 504 w 567"/>
                <a:gd name="T21" fmla="*/ 114 h 492"/>
                <a:gd name="T22" fmla="*/ 447 w 567"/>
                <a:gd name="T23" fmla="*/ 42 h 492"/>
                <a:gd name="T24" fmla="*/ 396 w 567"/>
                <a:gd name="T25" fmla="*/ 0 h 4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7"/>
                <a:gd name="T40" fmla="*/ 0 h 492"/>
                <a:gd name="T41" fmla="*/ 567 w 567"/>
                <a:gd name="T42" fmla="*/ 492 h 4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7" h="492">
                  <a:moveTo>
                    <a:pt x="396" y="0"/>
                  </a:moveTo>
                  <a:lnTo>
                    <a:pt x="210" y="126"/>
                  </a:lnTo>
                  <a:lnTo>
                    <a:pt x="108" y="186"/>
                  </a:lnTo>
                  <a:lnTo>
                    <a:pt x="0" y="252"/>
                  </a:lnTo>
                  <a:lnTo>
                    <a:pt x="57" y="312"/>
                  </a:lnTo>
                  <a:lnTo>
                    <a:pt x="108" y="378"/>
                  </a:lnTo>
                  <a:lnTo>
                    <a:pt x="171" y="492"/>
                  </a:lnTo>
                  <a:lnTo>
                    <a:pt x="387" y="354"/>
                  </a:lnTo>
                  <a:lnTo>
                    <a:pt x="567" y="243"/>
                  </a:lnTo>
                  <a:lnTo>
                    <a:pt x="534" y="162"/>
                  </a:lnTo>
                  <a:lnTo>
                    <a:pt x="504" y="114"/>
                  </a:lnTo>
                  <a:lnTo>
                    <a:pt x="447" y="42"/>
                  </a:lnTo>
                  <a:lnTo>
                    <a:pt x="39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26" name="Freeform 65"/>
            <p:cNvSpPr>
              <a:spLocks/>
            </p:cNvSpPr>
            <p:nvPr/>
          </p:nvSpPr>
          <p:spPr bwMode="auto">
            <a:xfrm>
              <a:off x="3258" y="798"/>
              <a:ext cx="570" cy="582"/>
            </a:xfrm>
            <a:custGeom>
              <a:avLst/>
              <a:gdLst>
                <a:gd name="T0" fmla="*/ 534 w 570"/>
                <a:gd name="T1" fmla="*/ 0 h 582"/>
                <a:gd name="T2" fmla="*/ 222 w 570"/>
                <a:gd name="T3" fmla="*/ 210 h 582"/>
                <a:gd name="T4" fmla="*/ 0 w 570"/>
                <a:gd name="T5" fmla="*/ 342 h 582"/>
                <a:gd name="T6" fmla="*/ 42 w 570"/>
                <a:gd name="T7" fmla="*/ 384 h 582"/>
                <a:gd name="T8" fmla="*/ 87 w 570"/>
                <a:gd name="T9" fmla="*/ 438 h 582"/>
                <a:gd name="T10" fmla="*/ 129 w 570"/>
                <a:gd name="T11" fmla="*/ 492 h 582"/>
                <a:gd name="T12" fmla="*/ 165 w 570"/>
                <a:gd name="T13" fmla="*/ 582 h 582"/>
                <a:gd name="T14" fmla="*/ 372 w 570"/>
                <a:gd name="T15" fmla="*/ 438 h 582"/>
                <a:gd name="T16" fmla="*/ 570 w 570"/>
                <a:gd name="T17" fmla="*/ 294 h 582"/>
                <a:gd name="T18" fmla="*/ 534 w 570"/>
                <a:gd name="T19" fmla="*/ 0 h 5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0"/>
                <a:gd name="T31" fmla="*/ 0 h 582"/>
                <a:gd name="T32" fmla="*/ 570 w 570"/>
                <a:gd name="T33" fmla="*/ 582 h 5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0" h="582">
                  <a:moveTo>
                    <a:pt x="534" y="0"/>
                  </a:moveTo>
                  <a:lnTo>
                    <a:pt x="222" y="210"/>
                  </a:lnTo>
                  <a:lnTo>
                    <a:pt x="0" y="342"/>
                  </a:lnTo>
                  <a:lnTo>
                    <a:pt x="42" y="384"/>
                  </a:lnTo>
                  <a:lnTo>
                    <a:pt x="87" y="438"/>
                  </a:lnTo>
                  <a:lnTo>
                    <a:pt x="129" y="492"/>
                  </a:lnTo>
                  <a:lnTo>
                    <a:pt x="165" y="582"/>
                  </a:lnTo>
                  <a:lnTo>
                    <a:pt x="372" y="438"/>
                  </a:lnTo>
                  <a:lnTo>
                    <a:pt x="570" y="294"/>
                  </a:lnTo>
                  <a:lnTo>
                    <a:pt x="534"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27" name="Freeform 66"/>
            <p:cNvSpPr>
              <a:spLocks/>
            </p:cNvSpPr>
            <p:nvPr/>
          </p:nvSpPr>
          <p:spPr bwMode="auto">
            <a:xfrm>
              <a:off x="1758" y="2136"/>
              <a:ext cx="669" cy="561"/>
            </a:xfrm>
            <a:custGeom>
              <a:avLst/>
              <a:gdLst>
                <a:gd name="T0" fmla="*/ 474 w 669"/>
                <a:gd name="T1" fmla="*/ 0 h 561"/>
                <a:gd name="T2" fmla="*/ 243 w 669"/>
                <a:gd name="T3" fmla="*/ 120 h 561"/>
                <a:gd name="T4" fmla="*/ 0 w 669"/>
                <a:gd name="T5" fmla="*/ 231 h 561"/>
                <a:gd name="T6" fmla="*/ 102 w 669"/>
                <a:gd name="T7" fmla="*/ 561 h 561"/>
                <a:gd name="T8" fmla="*/ 330 w 669"/>
                <a:gd name="T9" fmla="*/ 459 h 561"/>
                <a:gd name="T10" fmla="*/ 669 w 669"/>
                <a:gd name="T11" fmla="*/ 291 h 561"/>
                <a:gd name="T12" fmla="*/ 633 w 669"/>
                <a:gd name="T13" fmla="*/ 186 h 561"/>
                <a:gd name="T14" fmla="*/ 597 w 669"/>
                <a:gd name="T15" fmla="*/ 132 h 561"/>
                <a:gd name="T16" fmla="*/ 549 w 669"/>
                <a:gd name="T17" fmla="*/ 60 h 561"/>
                <a:gd name="T18" fmla="*/ 474 w 669"/>
                <a:gd name="T19" fmla="*/ 0 h 5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69"/>
                <a:gd name="T31" fmla="*/ 0 h 561"/>
                <a:gd name="T32" fmla="*/ 669 w 669"/>
                <a:gd name="T33" fmla="*/ 561 h 56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69" h="561">
                  <a:moveTo>
                    <a:pt x="474" y="0"/>
                  </a:moveTo>
                  <a:lnTo>
                    <a:pt x="243" y="120"/>
                  </a:lnTo>
                  <a:lnTo>
                    <a:pt x="0" y="231"/>
                  </a:lnTo>
                  <a:lnTo>
                    <a:pt x="102" y="561"/>
                  </a:lnTo>
                  <a:lnTo>
                    <a:pt x="330" y="459"/>
                  </a:lnTo>
                  <a:lnTo>
                    <a:pt x="669" y="291"/>
                  </a:lnTo>
                  <a:lnTo>
                    <a:pt x="633" y="186"/>
                  </a:lnTo>
                  <a:lnTo>
                    <a:pt x="597" y="132"/>
                  </a:lnTo>
                  <a:lnTo>
                    <a:pt x="549" y="60"/>
                  </a:lnTo>
                  <a:lnTo>
                    <a:pt x="474"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22628" name="Freeform 67"/>
            <p:cNvSpPr>
              <a:spLocks/>
            </p:cNvSpPr>
            <p:nvPr/>
          </p:nvSpPr>
          <p:spPr bwMode="auto">
            <a:xfrm>
              <a:off x="2247" y="1842"/>
              <a:ext cx="669" cy="579"/>
            </a:xfrm>
            <a:custGeom>
              <a:avLst/>
              <a:gdLst>
                <a:gd name="T0" fmla="*/ 489 w 669"/>
                <a:gd name="T1" fmla="*/ 0 h 579"/>
                <a:gd name="T2" fmla="*/ 216 w 669"/>
                <a:gd name="T3" fmla="*/ 162 h 579"/>
                <a:gd name="T4" fmla="*/ 0 w 669"/>
                <a:gd name="T5" fmla="*/ 291 h 579"/>
                <a:gd name="T6" fmla="*/ 72 w 669"/>
                <a:gd name="T7" fmla="*/ 354 h 579"/>
                <a:gd name="T8" fmla="*/ 135 w 669"/>
                <a:gd name="T9" fmla="*/ 444 h 579"/>
                <a:gd name="T10" fmla="*/ 195 w 669"/>
                <a:gd name="T11" fmla="*/ 579 h 579"/>
                <a:gd name="T12" fmla="*/ 387 w 669"/>
                <a:gd name="T13" fmla="*/ 471 h 579"/>
                <a:gd name="T14" fmla="*/ 669 w 669"/>
                <a:gd name="T15" fmla="*/ 276 h 579"/>
                <a:gd name="T16" fmla="*/ 645 w 669"/>
                <a:gd name="T17" fmla="*/ 201 h 579"/>
                <a:gd name="T18" fmla="*/ 618 w 669"/>
                <a:gd name="T19" fmla="*/ 150 h 579"/>
                <a:gd name="T20" fmla="*/ 591 w 669"/>
                <a:gd name="T21" fmla="*/ 108 h 579"/>
                <a:gd name="T22" fmla="*/ 543 w 669"/>
                <a:gd name="T23" fmla="*/ 54 h 579"/>
                <a:gd name="T24" fmla="*/ 489 w 669"/>
                <a:gd name="T25" fmla="*/ 0 h 5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69"/>
                <a:gd name="T40" fmla="*/ 0 h 579"/>
                <a:gd name="T41" fmla="*/ 669 w 669"/>
                <a:gd name="T42" fmla="*/ 579 h 5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69" h="579">
                  <a:moveTo>
                    <a:pt x="489" y="0"/>
                  </a:moveTo>
                  <a:lnTo>
                    <a:pt x="216" y="162"/>
                  </a:lnTo>
                  <a:lnTo>
                    <a:pt x="0" y="291"/>
                  </a:lnTo>
                  <a:lnTo>
                    <a:pt x="72" y="354"/>
                  </a:lnTo>
                  <a:lnTo>
                    <a:pt x="135" y="444"/>
                  </a:lnTo>
                  <a:lnTo>
                    <a:pt x="195" y="579"/>
                  </a:lnTo>
                  <a:lnTo>
                    <a:pt x="387" y="471"/>
                  </a:lnTo>
                  <a:lnTo>
                    <a:pt x="669" y="276"/>
                  </a:lnTo>
                  <a:lnTo>
                    <a:pt x="645" y="201"/>
                  </a:lnTo>
                  <a:lnTo>
                    <a:pt x="618" y="150"/>
                  </a:lnTo>
                  <a:lnTo>
                    <a:pt x="591" y="108"/>
                  </a:lnTo>
                  <a:lnTo>
                    <a:pt x="543" y="54"/>
                  </a:lnTo>
                  <a:lnTo>
                    <a:pt x="48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29" name="Freeform 68"/>
            <p:cNvSpPr>
              <a:spLocks/>
            </p:cNvSpPr>
            <p:nvPr/>
          </p:nvSpPr>
          <p:spPr bwMode="auto">
            <a:xfrm>
              <a:off x="2742" y="1533"/>
              <a:ext cx="654" cy="582"/>
            </a:xfrm>
            <a:custGeom>
              <a:avLst/>
              <a:gdLst>
                <a:gd name="T0" fmla="*/ 480 w 654"/>
                <a:gd name="T1" fmla="*/ 0 h 582"/>
                <a:gd name="T2" fmla="*/ 249 w 654"/>
                <a:gd name="T3" fmla="*/ 150 h 582"/>
                <a:gd name="T4" fmla="*/ 0 w 654"/>
                <a:gd name="T5" fmla="*/ 300 h 582"/>
                <a:gd name="T6" fmla="*/ 66 w 654"/>
                <a:gd name="T7" fmla="*/ 372 h 582"/>
                <a:gd name="T8" fmla="*/ 120 w 654"/>
                <a:gd name="T9" fmla="*/ 435 h 582"/>
                <a:gd name="T10" fmla="*/ 189 w 654"/>
                <a:gd name="T11" fmla="*/ 582 h 582"/>
                <a:gd name="T12" fmla="*/ 360 w 654"/>
                <a:gd name="T13" fmla="*/ 471 h 582"/>
                <a:gd name="T14" fmla="*/ 654 w 654"/>
                <a:gd name="T15" fmla="*/ 246 h 582"/>
                <a:gd name="T16" fmla="*/ 606 w 654"/>
                <a:gd name="T17" fmla="*/ 153 h 582"/>
                <a:gd name="T18" fmla="*/ 543 w 654"/>
                <a:gd name="T19" fmla="*/ 54 h 582"/>
                <a:gd name="T20" fmla="*/ 480 w 654"/>
                <a:gd name="T21" fmla="*/ 0 h 5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4"/>
                <a:gd name="T34" fmla="*/ 0 h 582"/>
                <a:gd name="T35" fmla="*/ 654 w 654"/>
                <a:gd name="T36" fmla="*/ 582 h 5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4" h="582">
                  <a:moveTo>
                    <a:pt x="480" y="0"/>
                  </a:moveTo>
                  <a:lnTo>
                    <a:pt x="249" y="150"/>
                  </a:lnTo>
                  <a:lnTo>
                    <a:pt x="0" y="300"/>
                  </a:lnTo>
                  <a:lnTo>
                    <a:pt x="66" y="372"/>
                  </a:lnTo>
                  <a:lnTo>
                    <a:pt x="120" y="435"/>
                  </a:lnTo>
                  <a:lnTo>
                    <a:pt x="189" y="582"/>
                  </a:lnTo>
                  <a:lnTo>
                    <a:pt x="360" y="471"/>
                  </a:lnTo>
                  <a:lnTo>
                    <a:pt x="654" y="246"/>
                  </a:lnTo>
                  <a:lnTo>
                    <a:pt x="606" y="153"/>
                  </a:lnTo>
                  <a:lnTo>
                    <a:pt x="543" y="54"/>
                  </a:lnTo>
                  <a:lnTo>
                    <a:pt x="480"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22630" name="Freeform 69"/>
            <p:cNvSpPr>
              <a:spLocks/>
            </p:cNvSpPr>
            <p:nvPr/>
          </p:nvSpPr>
          <p:spPr bwMode="auto">
            <a:xfrm>
              <a:off x="3234" y="1239"/>
              <a:ext cx="555" cy="537"/>
            </a:xfrm>
            <a:custGeom>
              <a:avLst/>
              <a:gdLst>
                <a:gd name="T0" fmla="*/ 423 w 555"/>
                <a:gd name="T1" fmla="*/ 0 h 537"/>
                <a:gd name="T2" fmla="*/ 219 w 555"/>
                <a:gd name="T3" fmla="*/ 144 h 537"/>
                <a:gd name="T4" fmla="*/ 0 w 555"/>
                <a:gd name="T5" fmla="*/ 285 h 537"/>
                <a:gd name="T6" fmla="*/ 66 w 555"/>
                <a:gd name="T7" fmla="*/ 354 h 537"/>
                <a:gd name="T8" fmla="*/ 132 w 555"/>
                <a:gd name="T9" fmla="*/ 447 h 537"/>
                <a:gd name="T10" fmla="*/ 177 w 555"/>
                <a:gd name="T11" fmla="*/ 537 h 537"/>
                <a:gd name="T12" fmla="*/ 312 w 555"/>
                <a:gd name="T13" fmla="*/ 444 h 537"/>
                <a:gd name="T14" fmla="*/ 555 w 555"/>
                <a:gd name="T15" fmla="*/ 240 h 537"/>
                <a:gd name="T16" fmla="*/ 525 w 555"/>
                <a:gd name="T17" fmla="*/ 135 h 537"/>
                <a:gd name="T18" fmla="*/ 504 w 555"/>
                <a:gd name="T19" fmla="*/ 75 h 537"/>
                <a:gd name="T20" fmla="*/ 459 w 555"/>
                <a:gd name="T21" fmla="*/ 36 h 537"/>
                <a:gd name="T22" fmla="*/ 423 w 555"/>
                <a:gd name="T23" fmla="*/ 0 h 5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5"/>
                <a:gd name="T37" fmla="*/ 0 h 537"/>
                <a:gd name="T38" fmla="*/ 555 w 555"/>
                <a:gd name="T39" fmla="*/ 537 h 5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5" h="537">
                  <a:moveTo>
                    <a:pt x="423" y="0"/>
                  </a:moveTo>
                  <a:lnTo>
                    <a:pt x="219" y="144"/>
                  </a:lnTo>
                  <a:lnTo>
                    <a:pt x="0" y="285"/>
                  </a:lnTo>
                  <a:lnTo>
                    <a:pt x="66" y="354"/>
                  </a:lnTo>
                  <a:lnTo>
                    <a:pt x="132" y="447"/>
                  </a:lnTo>
                  <a:lnTo>
                    <a:pt x="177" y="537"/>
                  </a:lnTo>
                  <a:lnTo>
                    <a:pt x="312" y="444"/>
                  </a:lnTo>
                  <a:lnTo>
                    <a:pt x="555" y="240"/>
                  </a:lnTo>
                  <a:lnTo>
                    <a:pt x="525" y="135"/>
                  </a:lnTo>
                  <a:lnTo>
                    <a:pt x="504" y="75"/>
                  </a:lnTo>
                  <a:lnTo>
                    <a:pt x="459" y="36"/>
                  </a:lnTo>
                  <a:lnTo>
                    <a:pt x="42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31" name="Freeform 70"/>
            <p:cNvSpPr>
              <a:spLocks/>
            </p:cNvSpPr>
            <p:nvPr/>
          </p:nvSpPr>
          <p:spPr bwMode="auto">
            <a:xfrm>
              <a:off x="3675" y="1107"/>
              <a:ext cx="204" cy="366"/>
            </a:xfrm>
            <a:custGeom>
              <a:avLst/>
              <a:gdLst>
                <a:gd name="T0" fmla="*/ 165 w 204"/>
                <a:gd name="T1" fmla="*/ 0 h 366"/>
                <a:gd name="T2" fmla="*/ 0 w 204"/>
                <a:gd name="T3" fmla="*/ 123 h 366"/>
                <a:gd name="T4" fmla="*/ 36 w 204"/>
                <a:gd name="T5" fmla="*/ 174 h 366"/>
                <a:gd name="T6" fmla="*/ 75 w 204"/>
                <a:gd name="T7" fmla="*/ 216 h 366"/>
                <a:gd name="T8" fmla="*/ 120 w 204"/>
                <a:gd name="T9" fmla="*/ 366 h 366"/>
                <a:gd name="T10" fmla="*/ 204 w 204"/>
                <a:gd name="T11" fmla="*/ 318 h 366"/>
                <a:gd name="T12" fmla="*/ 165 w 204"/>
                <a:gd name="T13" fmla="*/ 0 h 366"/>
                <a:gd name="T14" fmla="*/ 0 60000 65536"/>
                <a:gd name="T15" fmla="*/ 0 60000 65536"/>
                <a:gd name="T16" fmla="*/ 0 60000 65536"/>
                <a:gd name="T17" fmla="*/ 0 60000 65536"/>
                <a:gd name="T18" fmla="*/ 0 60000 65536"/>
                <a:gd name="T19" fmla="*/ 0 60000 65536"/>
                <a:gd name="T20" fmla="*/ 0 60000 65536"/>
                <a:gd name="T21" fmla="*/ 0 w 204"/>
                <a:gd name="T22" fmla="*/ 0 h 366"/>
                <a:gd name="T23" fmla="*/ 204 w 204"/>
                <a:gd name="T24" fmla="*/ 366 h 3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4" h="366">
                  <a:moveTo>
                    <a:pt x="165" y="0"/>
                  </a:moveTo>
                  <a:lnTo>
                    <a:pt x="0" y="123"/>
                  </a:lnTo>
                  <a:lnTo>
                    <a:pt x="36" y="174"/>
                  </a:lnTo>
                  <a:lnTo>
                    <a:pt x="75" y="216"/>
                  </a:lnTo>
                  <a:lnTo>
                    <a:pt x="120" y="366"/>
                  </a:lnTo>
                  <a:lnTo>
                    <a:pt x="204" y="318"/>
                  </a:lnTo>
                  <a:lnTo>
                    <a:pt x="1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32" name="Freeform 71"/>
            <p:cNvSpPr>
              <a:spLocks/>
            </p:cNvSpPr>
            <p:nvPr/>
          </p:nvSpPr>
          <p:spPr bwMode="auto">
            <a:xfrm>
              <a:off x="1866" y="2505"/>
              <a:ext cx="642" cy="537"/>
            </a:xfrm>
            <a:custGeom>
              <a:avLst/>
              <a:gdLst>
                <a:gd name="T0" fmla="*/ 450 w 642"/>
                <a:gd name="T1" fmla="*/ 0 h 537"/>
                <a:gd name="T2" fmla="*/ 222 w 642"/>
                <a:gd name="T3" fmla="*/ 111 h 537"/>
                <a:gd name="T4" fmla="*/ 0 w 642"/>
                <a:gd name="T5" fmla="*/ 207 h 537"/>
                <a:gd name="T6" fmla="*/ 84 w 642"/>
                <a:gd name="T7" fmla="*/ 537 h 537"/>
                <a:gd name="T8" fmla="*/ 213 w 642"/>
                <a:gd name="T9" fmla="*/ 489 h 537"/>
                <a:gd name="T10" fmla="*/ 366 w 642"/>
                <a:gd name="T11" fmla="*/ 423 h 537"/>
                <a:gd name="T12" fmla="*/ 510 w 642"/>
                <a:gd name="T13" fmla="*/ 351 h 537"/>
                <a:gd name="T14" fmla="*/ 642 w 642"/>
                <a:gd name="T15" fmla="*/ 285 h 537"/>
                <a:gd name="T16" fmla="*/ 579 w 642"/>
                <a:gd name="T17" fmla="*/ 141 h 537"/>
                <a:gd name="T18" fmla="*/ 522 w 642"/>
                <a:gd name="T19" fmla="*/ 69 h 537"/>
                <a:gd name="T20" fmla="*/ 450 w 642"/>
                <a:gd name="T21" fmla="*/ 0 h 5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2"/>
                <a:gd name="T34" fmla="*/ 0 h 537"/>
                <a:gd name="T35" fmla="*/ 642 w 642"/>
                <a:gd name="T36" fmla="*/ 537 h 5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2" h="537">
                  <a:moveTo>
                    <a:pt x="450" y="0"/>
                  </a:moveTo>
                  <a:lnTo>
                    <a:pt x="222" y="111"/>
                  </a:lnTo>
                  <a:lnTo>
                    <a:pt x="0" y="207"/>
                  </a:lnTo>
                  <a:lnTo>
                    <a:pt x="84" y="537"/>
                  </a:lnTo>
                  <a:lnTo>
                    <a:pt x="213" y="489"/>
                  </a:lnTo>
                  <a:lnTo>
                    <a:pt x="366" y="423"/>
                  </a:lnTo>
                  <a:lnTo>
                    <a:pt x="510" y="351"/>
                  </a:lnTo>
                  <a:lnTo>
                    <a:pt x="642" y="285"/>
                  </a:lnTo>
                  <a:lnTo>
                    <a:pt x="579" y="141"/>
                  </a:lnTo>
                  <a:lnTo>
                    <a:pt x="522" y="69"/>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33" name="Freeform 72"/>
            <p:cNvSpPr>
              <a:spLocks/>
            </p:cNvSpPr>
            <p:nvPr/>
          </p:nvSpPr>
          <p:spPr bwMode="auto">
            <a:xfrm>
              <a:off x="2331" y="2238"/>
              <a:ext cx="606" cy="549"/>
            </a:xfrm>
            <a:custGeom>
              <a:avLst/>
              <a:gdLst>
                <a:gd name="T0" fmla="*/ 438 w 606"/>
                <a:gd name="T1" fmla="*/ 0 h 549"/>
                <a:gd name="T2" fmla="*/ 246 w 606"/>
                <a:gd name="T3" fmla="*/ 126 h 549"/>
                <a:gd name="T4" fmla="*/ 0 w 606"/>
                <a:gd name="T5" fmla="*/ 261 h 549"/>
                <a:gd name="T6" fmla="*/ 57 w 606"/>
                <a:gd name="T7" fmla="*/ 324 h 549"/>
                <a:gd name="T8" fmla="*/ 105 w 606"/>
                <a:gd name="T9" fmla="*/ 384 h 549"/>
                <a:gd name="T10" fmla="*/ 153 w 606"/>
                <a:gd name="T11" fmla="*/ 465 h 549"/>
                <a:gd name="T12" fmla="*/ 183 w 606"/>
                <a:gd name="T13" fmla="*/ 549 h 549"/>
                <a:gd name="T14" fmla="*/ 411 w 606"/>
                <a:gd name="T15" fmla="*/ 420 h 549"/>
                <a:gd name="T16" fmla="*/ 606 w 606"/>
                <a:gd name="T17" fmla="*/ 294 h 549"/>
                <a:gd name="T18" fmla="*/ 540 w 606"/>
                <a:gd name="T19" fmla="*/ 147 h 549"/>
                <a:gd name="T20" fmla="*/ 489 w 606"/>
                <a:gd name="T21" fmla="*/ 63 h 549"/>
                <a:gd name="T22" fmla="*/ 438 w 606"/>
                <a:gd name="T23" fmla="*/ 0 h 5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6"/>
                <a:gd name="T37" fmla="*/ 0 h 549"/>
                <a:gd name="T38" fmla="*/ 606 w 606"/>
                <a:gd name="T39" fmla="*/ 549 h 5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6" h="549">
                  <a:moveTo>
                    <a:pt x="438" y="0"/>
                  </a:moveTo>
                  <a:lnTo>
                    <a:pt x="246" y="126"/>
                  </a:lnTo>
                  <a:lnTo>
                    <a:pt x="0" y="261"/>
                  </a:lnTo>
                  <a:lnTo>
                    <a:pt x="57" y="324"/>
                  </a:lnTo>
                  <a:lnTo>
                    <a:pt x="105" y="384"/>
                  </a:lnTo>
                  <a:lnTo>
                    <a:pt x="153" y="465"/>
                  </a:lnTo>
                  <a:lnTo>
                    <a:pt x="183" y="549"/>
                  </a:lnTo>
                  <a:lnTo>
                    <a:pt x="411" y="420"/>
                  </a:lnTo>
                  <a:lnTo>
                    <a:pt x="606" y="294"/>
                  </a:lnTo>
                  <a:lnTo>
                    <a:pt x="540" y="147"/>
                  </a:lnTo>
                  <a:lnTo>
                    <a:pt x="489" y="63"/>
                  </a:lnTo>
                  <a:lnTo>
                    <a:pt x="438"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22634" name="Freeform 73"/>
            <p:cNvSpPr>
              <a:spLocks/>
            </p:cNvSpPr>
            <p:nvPr/>
          </p:nvSpPr>
          <p:spPr bwMode="auto">
            <a:xfrm>
              <a:off x="2775" y="1926"/>
              <a:ext cx="645" cy="597"/>
            </a:xfrm>
            <a:custGeom>
              <a:avLst/>
              <a:gdLst>
                <a:gd name="T0" fmla="*/ 453 w 645"/>
                <a:gd name="T1" fmla="*/ 0 h 597"/>
                <a:gd name="T2" fmla="*/ 231 w 645"/>
                <a:gd name="T3" fmla="*/ 153 h 597"/>
                <a:gd name="T4" fmla="*/ 0 w 645"/>
                <a:gd name="T5" fmla="*/ 306 h 597"/>
                <a:gd name="T6" fmla="*/ 48 w 645"/>
                <a:gd name="T7" fmla="*/ 369 h 597"/>
                <a:gd name="T8" fmla="*/ 93 w 645"/>
                <a:gd name="T9" fmla="*/ 432 h 597"/>
                <a:gd name="T10" fmla="*/ 132 w 645"/>
                <a:gd name="T11" fmla="*/ 507 h 597"/>
                <a:gd name="T12" fmla="*/ 171 w 645"/>
                <a:gd name="T13" fmla="*/ 597 h 597"/>
                <a:gd name="T14" fmla="*/ 411 w 645"/>
                <a:gd name="T15" fmla="*/ 411 h 597"/>
                <a:gd name="T16" fmla="*/ 645 w 645"/>
                <a:gd name="T17" fmla="*/ 216 h 597"/>
                <a:gd name="T18" fmla="*/ 618 w 645"/>
                <a:gd name="T19" fmla="*/ 153 h 597"/>
                <a:gd name="T20" fmla="*/ 567 w 645"/>
                <a:gd name="T21" fmla="*/ 90 h 597"/>
                <a:gd name="T22" fmla="*/ 516 w 645"/>
                <a:gd name="T23" fmla="*/ 39 h 597"/>
                <a:gd name="T24" fmla="*/ 453 w 645"/>
                <a:gd name="T25" fmla="*/ 0 h 5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5"/>
                <a:gd name="T40" fmla="*/ 0 h 597"/>
                <a:gd name="T41" fmla="*/ 645 w 645"/>
                <a:gd name="T42" fmla="*/ 597 h 5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5" h="597">
                  <a:moveTo>
                    <a:pt x="453" y="0"/>
                  </a:moveTo>
                  <a:lnTo>
                    <a:pt x="231" y="153"/>
                  </a:lnTo>
                  <a:lnTo>
                    <a:pt x="0" y="306"/>
                  </a:lnTo>
                  <a:lnTo>
                    <a:pt x="48" y="369"/>
                  </a:lnTo>
                  <a:lnTo>
                    <a:pt x="93" y="432"/>
                  </a:lnTo>
                  <a:lnTo>
                    <a:pt x="132" y="507"/>
                  </a:lnTo>
                  <a:lnTo>
                    <a:pt x="171" y="597"/>
                  </a:lnTo>
                  <a:lnTo>
                    <a:pt x="411" y="411"/>
                  </a:lnTo>
                  <a:lnTo>
                    <a:pt x="645" y="216"/>
                  </a:lnTo>
                  <a:lnTo>
                    <a:pt x="618" y="153"/>
                  </a:lnTo>
                  <a:lnTo>
                    <a:pt x="567" y="90"/>
                  </a:lnTo>
                  <a:lnTo>
                    <a:pt x="516" y="39"/>
                  </a:lnTo>
                  <a:lnTo>
                    <a:pt x="45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35" name="Freeform 74"/>
            <p:cNvSpPr>
              <a:spLocks/>
            </p:cNvSpPr>
            <p:nvPr/>
          </p:nvSpPr>
          <p:spPr bwMode="auto">
            <a:xfrm>
              <a:off x="3240" y="1590"/>
              <a:ext cx="567" cy="546"/>
            </a:xfrm>
            <a:custGeom>
              <a:avLst/>
              <a:gdLst>
                <a:gd name="T0" fmla="*/ 441 w 567"/>
                <a:gd name="T1" fmla="*/ 0 h 546"/>
                <a:gd name="T2" fmla="*/ 237 w 567"/>
                <a:gd name="T3" fmla="*/ 150 h 546"/>
                <a:gd name="T4" fmla="*/ 0 w 567"/>
                <a:gd name="T5" fmla="*/ 330 h 546"/>
                <a:gd name="T6" fmla="*/ 54 w 567"/>
                <a:gd name="T7" fmla="*/ 366 h 546"/>
                <a:gd name="T8" fmla="*/ 117 w 567"/>
                <a:gd name="T9" fmla="*/ 429 h 546"/>
                <a:gd name="T10" fmla="*/ 168 w 567"/>
                <a:gd name="T11" fmla="*/ 492 h 546"/>
                <a:gd name="T12" fmla="*/ 192 w 567"/>
                <a:gd name="T13" fmla="*/ 546 h 546"/>
                <a:gd name="T14" fmla="*/ 369 w 567"/>
                <a:gd name="T15" fmla="*/ 396 h 546"/>
                <a:gd name="T16" fmla="*/ 567 w 567"/>
                <a:gd name="T17" fmla="*/ 204 h 546"/>
                <a:gd name="T18" fmla="*/ 531 w 567"/>
                <a:gd name="T19" fmla="*/ 111 h 546"/>
                <a:gd name="T20" fmla="*/ 483 w 567"/>
                <a:gd name="T21" fmla="*/ 39 h 546"/>
                <a:gd name="T22" fmla="*/ 441 w 567"/>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67"/>
                <a:gd name="T37" fmla="*/ 0 h 546"/>
                <a:gd name="T38" fmla="*/ 567 w 567"/>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67" h="546">
                  <a:moveTo>
                    <a:pt x="441" y="0"/>
                  </a:moveTo>
                  <a:lnTo>
                    <a:pt x="237" y="150"/>
                  </a:lnTo>
                  <a:lnTo>
                    <a:pt x="0" y="330"/>
                  </a:lnTo>
                  <a:lnTo>
                    <a:pt x="54" y="366"/>
                  </a:lnTo>
                  <a:lnTo>
                    <a:pt x="117" y="429"/>
                  </a:lnTo>
                  <a:lnTo>
                    <a:pt x="168" y="492"/>
                  </a:lnTo>
                  <a:lnTo>
                    <a:pt x="192" y="546"/>
                  </a:lnTo>
                  <a:lnTo>
                    <a:pt x="369" y="396"/>
                  </a:lnTo>
                  <a:lnTo>
                    <a:pt x="567" y="204"/>
                  </a:lnTo>
                  <a:lnTo>
                    <a:pt x="531" y="111"/>
                  </a:lnTo>
                  <a:lnTo>
                    <a:pt x="483" y="39"/>
                  </a:lnTo>
                  <a:lnTo>
                    <a:pt x="44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36" name="Freeform 75"/>
            <p:cNvSpPr>
              <a:spLocks/>
            </p:cNvSpPr>
            <p:nvPr/>
          </p:nvSpPr>
          <p:spPr bwMode="auto">
            <a:xfrm>
              <a:off x="3684" y="1434"/>
              <a:ext cx="234" cy="345"/>
            </a:xfrm>
            <a:custGeom>
              <a:avLst/>
              <a:gdLst>
                <a:gd name="T0" fmla="*/ 198 w 234"/>
                <a:gd name="T1" fmla="*/ 0 h 345"/>
                <a:gd name="T2" fmla="*/ 111 w 234"/>
                <a:gd name="T3" fmla="*/ 54 h 345"/>
                <a:gd name="T4" fmla="*/ 0 w 234"/>
                <a:gd name="T5" fmla="*/ 153 h 345"/>
                <a:gd name="T6" fmla="*/ 45 w 234"/>
                <a:gd name="T7" fmla="*/ 192 h 345"/>
                <a:gd name="T8" fmla="*/ 75 w 234"/>
                <a:gd name="T9" fmla="*/ 234 h 345"/>
                <a:gd name="T10" fmla="*/ 129 w 234"/>
                <a:gd name="T11" fmla="*/ 345 h 345"/>
                <a:gd name="T12" fmla="*/ 234 w 234"/>
                <a:gd name="T13" fmla="*/ 252 h 345"/>
                <a:gd name="T14" fmla="*/ 198 w 234"/>
                <a:gd name="T15" fmla="*/ 0 h 345"/>
                <a:gd name="T16" fmla="*/ 0 60000 65536"/>
                <a:gd name="T17" fmla="*/ 0 60000 65536"/>
                <a:gd name="T18" fmla="*/ 0 60000 65536"/>
                <a:gd name="T19" fmla="*/ 0 60000 65536"/>
                <a:gd name="T20" fmla="*/ 0 60000 65536"/>
                <a:gd name="T21" fmla="*/ 0 60000 65536"/>
                <a:gd name="T22" fmla="*/ 0 60000 65536"/>
                <a:gd name="T23" fmla="*/ 0 60000 65536"/>
                <a:gd name="T24" fmla="*/ 0 w 234"/>
                <a:gd name="T25" fmla="*/ 0 h 345"/>
                <a:gd name="T26" fmla="*/ 234 w 234"/>
                <a:gd name="T27" fmla="*/ 345 h 3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4" h="345">
                  <a:moveTo>
                    <a:pt x="198" y="0"/>
                  </a:moveTo>
                  <a:lnTo>
                    <a:pt x="111" y="54"/>
                  </a:lnTo>
                  <a:lnTo>
                    <a:pt x="0" y="153"/>
                  </a:lnTo>
                  <a:lnTo>
                    <a:pt x="45" y="192"/>
                  </a:lnTo>
                  <a:lnTo>
                    <a:pt x="75" y="234"/>
                  </a:lnTo>
                  <a:lnTo>
                    <a:pt x="129" y="345"/>
                  </a:lnTo>
                  <a:lnTo>
                    <a:pt x="234" y="252"/>
                  </a:lnTo>
                  <a:lnTo>
                    <a:pt x="19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37" name="Freeform 76"/>
            <p:cNvSpPr>
              <a:spLocks/>
            </p:cNvSpPr>
            <p:nvPr/>
          </p:nvSpPr>
          <p:spPr bwMode="auto">
            <a:xfrm>
              <a:off x="1956" y="2859"/>
              <a:ext cx="624" cy="555"/>
            </a:xfrm>
            <a:custGeom>
              <a:avLst/>
              <a:gdLst>
                <a:gd name="T0" fmla="*/ 447 w 624"/>
                <a:gd name="T1" fmla="*/ 0 h 555"/>
                <a:gd name="T2" fmla="*/ 222 w 624"/>
                <a:gd name="T3" fmla="*/ 117 h 555"/>
                <a:gd name="T4" fmla="*/ 0 w 624"/>
                <a:gd name="T5" fmla="*/ 198 h 555"/>
                <a:gd name="T6" fmla="*/ 60 w 624"/>
                <a:gd name="T7" fmla="*/ 555 h 555"/>
                <a:gd name="T8" fmla="*/ 213 w 624"/>
                <a:gd name="T9" fmla="*/ 489 h 555"/>
                <a:gd name="T10" fmla="*/ 369 w 624"/>
                <a:gd name="T11" fmla="*/ 408 h 555"/>
                <a:gd name="T12" fmla="*/ 489 w 624"/>
                <a:gd name="T13" fmla="*/ 342 h 555"/>
                <a:gd name="T14" fmla="*/ 624 w 624"/>
                <a:gd name="T15" fmla="*/ 267 h 555"/>
                <a:gd name="T16" fmla="*/ 591 w 624"/>
                <a:gd name="T17" fmla="*/ 162 h 555"/>
                <a:gd name="T18" fmla="*/ 546 w 624"/>
                <a:gd name="T19" fmla="*/ 84 h 555"/>
                <a:gd name="T20" fmla="*/ 495 w 624"/>
                <a:gd name="T21" fmla="*/ 39 h 555"/>
                <a:gd name="T22" fmla="*/ 447 w 624"/>
                <a:gd name="T23" fmla="*/ 0 h 5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4"/>
                <a:gd name="T37" fmla="*/ 0 h 555"/>
                <a:gd name="T38" fmla="*/ 624 w 624"/>
                <a:gd name="T39" fmla="*/ 555 h 5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4" h="555">
                  <a:moveTo>
                    <a:pt x="447" y="0"/>
                  </a:moveTo>
                  <a:lnTo>
                    <a:pt x="222" y="117"/>
                  </a:lnTo>
                  <a:lnTo>
                    <a:pt x="0" y="198"/>
                  </a:lnTo>
                  <a:lnTo>
                    <a:pt x="60" y="555"/>
                  </a:lnTo>
                  <a:lnTo>
                    <a:pt x="213" y="489"/>
                  </a:lnTo>
                  <a:lnTo>
                    <a:pt x="369" y="408"/>
                  </a:lnTo>
                  <a:lnTo>
                    <a:pt x="489" y="342"/>
                  </a:lnTo>
                  <a:lnTo>
                    <a:pt x="624" y="267"/>
                  </a:lnTo>
                  <a:lnTo>
                    <a:pt x="591" y="162"/>
                  </a:lnTo>
                  <a:lnTo>
                    <a:pt x="546" y="84"/>
                  </a:lnTo>
                  <a:lnTo>
                    <a:pt x="495" y="39"/>
                  </a:lnTo>
                  <a:lnTo>
                    <a:pt x="447"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22638" name="Freeform 77"/>
            <p:cNvSpPr>
              <a:spLocks/>
            </p:cNvSpPr>
            <p:nvPr/>
          </p:nvSpPr>
          <p:spPr bwMode="auto">
            <a:xfrm>
              <a:off x="2418" y="2595"/>
              <a:ext cx="576" cy="525"/>
            </a:xfrm>
            <a:custGeom>
              <a:avLst/>
              <a:gdLst>
                <a:gd name="T0" fmla="*/ 450 w 576"/>
                <a:gd name="T1" fmla="*/ 0 h 525"/>
                <a:gd name="T2" fmla="*/ 255 w 576"/>
                <a:gd name="T3" fmla="*/ 120 h 525"/>
                <a:gd name="T4" fmla="*/ 0 w 576"/>
                <a:gd name="T5" fmla="*/ 264 h 525"/>
                <a:gd name="T6" fmla="*/ 66 w 576"/>
                <a:gd name="T7" fmla="*/ 318 h 525"/>
                <a:gd name="T8" fmla="*/ 114 w 576"/>
                <a:gd name="T9" fmla="*/ 378 h 525"/>
                <a:gd name="T10" fmla="*/ 150 w 576"/>
                <a:gd name="T11" fmla="*/ 456 h 525"/>
                <a:gd name="T12" fmla="*/ 171 w 576"/>
                <a:gd name="T13" fmla="*/ 525 h 525"/>
                <a:gd name="T14" fmla="*/ 387 w 576"/>
                <a:gd name="T15" fmla="*/ 369 h 525"/>
                <a:gd name="T16" fmla="*/ 576 w 576"/>
                <a:gd name="T17" fmla="*/ 228 h 525"/>
                <a:gd name="T18" fmla="*/ 549 w 576"/>
                <a:gd name="T19" fmla="*/ 141 h 525"/>
                <a:gd name="T20" fmla="*/ 498 w 576"/>
                <a:gd name="T21" fmla="*/ 57 h 525"/>
                <a:gd name="T22" fmla="*/ 450 w 576"/>
                <a:gd name="T23" fmla="*/ 0 h 5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6"/>
                <a:gd name="T37" fmla="*/ 0 h 525"/>
                <a:gd name="T38" fmla="*/ 576 w 576"/>
                <a:gd name="T39" fmla="*/ 525 h 5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6" h="525">
                  <a:moveTo>
                    <a:pt x="450" y="0"/>
                  </a:moveTo>
                  <a:lnTo>
                    <a:pt x="255" y="120"/>
                  </a:lnTo>
                  <a:lnTo>
                    <a:pt x="0" y="264"/>
                  </a:lnTo>
                  <a:lnTo>
                    <a:pt x="66" y="318"/>
                  </a:lnTo>
                  <a:lnTo>
                    <a:pt x="114" y="378"/>
                  </a:lnTo>
                  <a:lnTo>
                    <a:pt x="150" y="456"/>
                  </a:lnTo>
                  <a:lnTo>
                    <a:pt x="171" y="525"/>
                  </a:lnTo>
                  <a:lnTo>
                    <a:pt x="387" y="369"/>
                  </a:lnTo>
                  <a:lnTo>
                    <a:pt x="576" y="228"/>
                  </a:lnTo>
                  <a:lnTo>
                    <a:pt x="549" y="141"/>
                  </a:lnTo>
                  <a:lnTo>
                    <a:pt x="498" y="57"/>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39" name="Freeform 78"/>
            <p:cNvSpPr>
              <a:spLocks/>
            </p:cNvSpPr>
            <p:nvPr/>
          </p:nvSpPr>
          <p:spPr bwMode="auto">
            <a:xfrm>
              <a:off x="2880" y="2301"/>
              <a:ext cx="522" cy="519"/>
            </a:xfrm>
            <a:custGeom>
              <a:avLst/>
              <a:gdLst>
                <a:gd name="T0" fmla="*/ 375 w 522"/>
                <a:gd name="T1" fmla="*/ 0 h 519"/>
                <a:gd name="T2" fmla="*/ 219 w 522"/>
                <a:gd name="T3" fmla="*/ 120 h 519"/>
                <a:gd name="T4" fmla="*/ 0 w 522"/>
                <a:gd name="T5" fmla="*/ 285 h 519"/>
                <a:gd name="T6" fmla="*/ 33 w 522"/>
                <a:gd name="T7" fmla="*/ 330 h 519"/>
                <a:gd name="T8" fmla="*/ 84 w 522"/>
                <a:gd name="T9" fmla="*/ 393 h 519"/>
                <a:gd name="T10" fmla="*/ 108 w 522"/>
                <a:gd name="T11" fmla="*/ 453 h 519"/>
                <a:gd name="T12" fmla="*/ 126 w 522"/>
                <a:gd name="T13" fmla="*/ 519 h 519"/>
                <a:gd name="T14" fmla="*/ 330 w 522"/>
                <a:gd name="T15" fmla="*/ 354 h 519"/>
                <a:gd name="T16" fmla="*/ 522 w 522"/>
                <a:gd name="T17" fmla="*/ 183 h 519"/>
                <a:gd name="T18" fmla="*/ 489 w 522"/>
                <a:gd name="T19" fmla="*/ 120 h 519"/>
                <a:gd name="T20" fmla="*/ 468 w 522"/>
                <a:gd name="T21" fmla="*/ 84 h 519"/>
                <a:gd name="T22" fmla="*/ 444 w 522"/>
                <a:gd name="T23" fmla="*/ 54 h 519"/>
                <a:gd name="T24" fmla="*/ 375 w 522"/>
                <a:gd name="T25" fmla="*/ 0 h 5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2"/>
                <a:gd name="T40" fmla="*/ 0 h 519"/>
                <a:gd name="T41" fmla="*/ 522 w 522"/>
                <a:gd name="T42" fmla="*/ 519 h 5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2" h="519">
                  <a:moveTo>
                    <a:pt x="375" y="0"/>
                  </a:moveTo>
                  <a:lnTo>
                    <a:pt x="219" y="120"/>
                  </a:lnTo>
                  <a:lnTo>
                    <a:pt x="0" y="285"/>
                  </a:lnTo>
                  <a:lnTo>
                    <a:pt x="33" y="330"/>
                  </a:lnTo>
                  <a:lnTo>
                    <a:pt x="84" y="393"/>
                  </a:lnTo>
                  <a:lnTo>
                    <a:pt x="108" y="453"/>
                  </a:lnTo>
                  <a:lnTo>
                    <a:pt x="126" y="519"/>
                  </a:lnTo>
                  <a:lnTo>
                    <a:pt x="330" y="354"/>
                  </a:lnTo>
                  <a:lnTo>
                    <a:pt x="522" y="183"/>
                  </a:lnTo>
                  <a:lnTo>
                    <a:pt x="489" y="120"/>
                  </a:lnTo>
                  <a:lnTo>
                    <a:pt x="468" y="84"/>
                  </a:lnTo>
                  <a:lnTo>
                    <a:pt x="444" y="54"/>
                  </a:lnTo>
                  <a:lnTo>
                    <a:pt x="375"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22640" name="Freeform 79"/>
            <p:cNvSpPr>
              <a:spLocks/>
            </p:cNvSpPr>
            <p:nvPr/>
          </p:nvSpPr>
          <p:spPr bwMode="auto">
            <a:xfrm>
              <a:off x="3258" y="1959"/>
              <a:ext cx="519" cy="510"/>
            </a:xfrm>
            <a:custGeom>
              <a:avLst/>
              <a:gdLst>
                <a:gd name="T0" fmla="*/ 399 w 519"/>
                <a:gd name="T1" fmla="*/ 0 h 510"/>
                <a:gd name="T2" fmla="*/ 237 w 519"/>
                <a:gd name="T3" fmla="*/ 153 h 510"/>
                <a:gd name="T4" fmla="*/ 0 w 519"/>
                <a:gd name="T5" fmla="*/ 333 h 510"/>
                <a:gd name="T6" fmla="*/ 54 w 519"/>
                <a:gd name="T7" fmla="*/ 369 h 510"/>
                <a:gd name="T8" fmla="*/ 87 w 519"/>
                <a:gd name="T9" fmla="*/ 402 h 510"/>
                <a:gd name="T10" fmla="*/ 111 w 519"/>
                <a:gd name="T11" fmla="*/ 441 h 510"/>
                <a:gd name="T12" fmla="*/ 147 w 519"/>
                <a:gd name="T13" fmla="*/ 510 h 510"/>
                <a:gd name="T14" fmla="*/ 333 w 519"/>
                <a:gd name="T15" fmla="*/ 342 h 510"/>
                <a:gd name="T16" fmla="*/ 519 w 519"/>
                <a:gd name="T17" fmla="*/ 156 h 510"/>
                <a:gd name="T18" fmla="*/ 498 w 519"/>
                <a:gd name="T19" fmla="*/ 84 h 510"/>
                <a:gd name="T20" fmla="*/ 453 w 519"/>
                <a:gd name="T21" fmla="*/ 42 h 510"/>
                <a:gd name="T22" fmla="*/ 399 w 519"/>
                <a:gd name="T23" fmla="*/ 0 h 5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19"/>
                <a:gd name="T37" fmla="*/ 0 h 510"/>
                <a:gd name="T38" fmla="*/ 519 w 519"/>
                <a:gd name="T39" fmla="*/ 510 h 5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19" h="510">
                  <a:moveTo>
                    <a:pt x="399" y="0"/>
                  </a:moveTo>
                  <a:lnTo>
                    <a:pt x="237" y="153"/>
                  </a:lnTo>
                  <a:lnTo>
                    <a:pt x="0" y="333"/>
                  </a:lnTo>
                  <a:lnTo>
                    <a:pt x="54" y="369"/>
                  </a:lnTo>
                  <a:lnTo>
                    <a:pt x="87" y="402"/>
                  </a:lnTo>
                  <a:lnTo>
                    <a:pt x="111" y="441"/>
                  </a:lnTo>
                  <a:lnTo>
                    <a:pt x="147" y="510"/>
                  </a:lnTo>
                  <a:lnTo>
                    <a:pt x="333" y="342"/>
                  </a:lnTo>
                  <a:lnTo>
                    <a:pt x="519" y="156"/>
                  </a:lnTo>
                  <a:lnTo>
                    <a:pt x="498" y="84"/>
                  </a:lnTo>
                  <a:lnTo>
                    <a:pt x="453" y="42"/>
                  </a:lnTo>
                  <a:lnTo>
                    <a:pt x="39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41" name="Freeform 80"/>
            <p:cNvSpPr>
              <a:spLocks/>
            </p:cNvSpPr>
            <p:nvPr/>
          </p:nvSpPr>
          <p:spPr bwMode="auto">
            <a:xfrm>
              <a:off x="3663" y="1707"/>
              <a:ext cx="276" cy="399"/>
            </a:xfrm>
            <a:custGeom>
              <a:avLst/>
              <a:gdLst>
                <a:gd name="T0" fmla="*/ 246 w 276"/>
                <a:gd name="T1" fmla="*/ 0 h 399"/>
                <a:gd name="T2" fmla="*/ 117 w 276"/>
                <a:gd name="T3" fmla="*/ 132 h 399"/>
                <a:gd name="T4" fmla="*/ 60 w 276"/>
                <a:gd name="T5" fmla="*/ 183 h 399"/>
                <a:gd name="T6" fmla="*/ 0 w 276"/>
                <a:gd name="T7" fmla="*/ 243 h 399"/>
                <a:gd name="T8" fmla="*/ 54 w 276"/>
                <a:gd name="T9" fmla="*/ 285 h 399"/>
                <a:gd name="T10" fmla="*/ 87 w 276"/>
                <a:gd name="T11" fmla="*/ 315 h 399"/>
                <a:gd name="T12" fmla="*/ 123 w 276"/>
                <a:gd name="T13" fmla="*/ 399 h 399"/>
                <a:gd name="T14" fmla="*/ 276 w 276"/>
                <a:gd name="T15" fmla="*/ 255 h 399"/>
                <a:gd name="T16" fmla="*/ 246 w 276"/>
                <a:gd name="T17" fmla="*/ 0 h 3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6"/>
                <a:gd name="T28" fmla="*/ 0 h 399"/>
                <a:gd name="T29" fmla="*/ 276 w 276"/>
                <a:gd name="T30" fmla="*/ 399 h 3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6" h="399">
                  <a:moveTo>
                    <a:pt x="246" y="0"/>
                  </a:moveTo>
                  <a:lnTo>
                    <a:pt x="117" y="132"/>
                  </a:lnTo>
                  <a:lnTo>
                    <a:pt x="60" y="183"/>
                  </a:lnTo>
                  <a:lnTo>
                    <a:pt x="0" y="243"/>
                  </a:lnTo>
                  <a:lnTo>
                    <a:pt x="54" y="285"/>
                  </a:lnTo>
                  <a:lnTo>
                    <a:pt x="87" y="315"/>
                  </a:lnTo>
                  <a:lnTo>
                    <a:pt x="123" y="399"/>
                  </a:lnTo>
                  <a:lnTo>
                    <a:pt x="276" y="255"/>
                  </a:lnTo>
                  <a:lnTo>
                    <a:pt x="24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42" name="Freeform 81"/>
            <p:cNvSpPr>
              <a:spLocks/>
            </p:cNvSpPr>
            <p:nvPr/>
          </p:nvSpPr>
          <p:spPr bwMode="auto">
            <a:xfrm>
              <a:off x="2016" y="3261"/>
              <a:ext cx="483" cy="492"/>
            </a:xfrm>
            <a:custGeom>
              <a:avLst/>
              <a:gdLst>
                <a:gd name="T0" fmla="*/ 366 w 483"/>
                <a:gd name="T1" fmla="*/ 0 h 492"/>
                <a:gd name="T2" fmla="*/ 204 w 483"/>
                <a:gd name="T3" fmla="*/ 78 h 492"/>
                <a:gd name="T4" fmla="*/ 0 w 483"/>
                <a:gd name="T5" fmla="*/ 171 h 492"/>
                <a:gd name="T6" fmla="*/ 18 w 483"/>
                <a:gd name="T7" fmla="*/ 492 h 492"/>
                <a:gd name="T8" fmla="*/ 168 w 483"/>
                <a:gd name="T9" fmla="*/ 396 h 492"/>
                <a:gd name="T10" fmla="*/ 297 w 483"/>
                <a:gd name="T11" fmla="*/ 303 h 492"/>
                <a:gd name="T12" fmla="*/ 393 w 483"/>
                <a:gd name="T13" fmla="*/ 231 h 492"/>
                <a:gd name="T14" fmla="*/ 483 w 483"/>
                <a:gd name="T15" fmla="*/ 168 h 492"/>
                <a:gd name="T16" fmla="*/ 450 w 483"/>
                <a:gd name="T17" fmla="*/ 108 h 492"/>
                <a:gd name="T18" fmla="*/ 432 w 483"/>
                <a:gd name="T19" fmla="*/ 84 h 492"/>
                <a:gd name="T20" fmla="*/ 405 w 483"/>
                <a:gd name="T21" fmla="*/ 45 h 492"/>
                <a:gd name="T22" fmla="*/ 366 w 483"/>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3"/>
                <a:gd name="T37" fmla="*/ 0 h 492"/>
                <a:gd name="T38" fmla="*/ 483 w 483"/>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3" h="492">
                  <a:moveTo>
                    <a:pt x="366" y="0"/>
                  </a:moveTo>
                  <a:lnTo>
                    <a:pt x="204" y="78"/>
                  </a:lnTo>
                  <a:lnTo>
                    <a:pt x="0" y="171"/>
                  </a:lnTo>
                  <a:lnTo>
                    <a:pt x="18" y="492"/>
                  </a:lnTo>
                  <a:lnTo>
                    <a:pt x="168" y="396"/>
                  </a:lnTo>
                  <a:lnTo>
                    <a:pt x="297" y="303"/>
                  </a:lnTo>
                  <a:lnTo>
                    <a:pt x="393" y="231"/>
                  </a:lnTo>
                  <a:lnTo>
                    <a:pt x="483" y="168"/>
                  </a:lnTo>
                  <a:lnTo>
                    <a:pt x="450" y="108"/>
                  </a:lnTo>
                  <a:lnTo>
                    <a:pt x="432" y="84"/>
                  </a:lnTo>
                  <a:lnTo>
                    <a:pt x="405" y="45"/>
                  </a:lnTo>
                  <a:lnTo>
                    <a:pt x="36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43" name="Freeform 82"/>
            <p:cNvSpPr>
              <a:spLocks/>
            </p:cNvSpPr>
            <p:nvPr/>
          </p:nvSpPr>
          <p:spPr bwMode="auto">
            <a:xfrm>
              <a:off x="2388" y="2985"/>
              <a:ext cx="504" cy="441"/>
            </a:xfrm>
            <a:custGeom>
              <a:avLst/>
              <a:gdLst>
                <a:gd name="T0" fmla="*/ 411 w 504"/>
                <a:gd name="T1" fmla="*/ 0 h 441"/>
                <a:gd name="T2" fmla="*/ 255 w 504"/>
                <a:gd name="T3" fmla="*/ 114 h 441"/>
                <a:gd name="T4" fmla="*/ 0 w 504"/>
                <a:gd name="T5" fmla="*/ 270 h 441"/>
                <a:gd name="T6" fmla="*/ 42 w 504"/>
                <a:gd name="T7" fmla="*/ 312 h 441"/>
                <a:gd name="T8" fmla="*/ 66 w 504"/>
                <a:gd name="T9" fmla="*/ 348 h 441"/>
                <a:gd name="T10" fmla="*/ 87 w 504"/>
                <a:gd name="T11" fmla="*/ 375 h 441"/>
                <a:gd name="T12" fmla="*/ 111 w 504"/>
                <a:gd name="T13" fmla="*/ 441 h 441"/>
                <a:gd name="T14" fmla="*/ 318 w 504"/>
                <a:gd name="T15" fmla="*/ 306 h 441"/>
                <a:gd name="T16" fmla="*/ 504 w 504"/>
                <a:gd name="T17" fmla="*/ 147 h 441"/>
                <a:gd name="T18" fmla="*/ 471 w 504"/>
                <a:gd name="T19" fmla="*/ 87 h 441"/>
                <a:gd name="T20" fmla="*/ 450 w 504"/>
                <a:gd name="T21" fmla="*/ 51 h 441"/>
                <a:gd name="T22" fmla="*/ 411 w 504"/>
                <a:gd name="T23" fmla="*/ 0 h 4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4"/>
                <a:gd name="T37" fmla="*/ 0 h 441"/>
                <a:gd name="T38" fmla="*/ 504 w 504"/>
                <a:gd name="T39" fmla="*/ 441 h 4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4" h="441">
                  <a:moveTo>
                    <a:pt x="411" y="0"/>
                  </a:moveTo>
                  <a:lnTo>
                    <a:pt x="255" y="114"/>
                  </a:lnTo>
                  <a:lnTo>
                    <a:pt x="0" y="270"/>
                  </a:lnTo>
                  <a:lnTo>
                    <a:pt x="42" y="312"/>
                  </a:lnTo>
                  <a:lnTo>
                    <a:pt x="66" y="348"/>
                  </a:lnTo>
                  <a:lnTo>
                    <a:pt x="87" y="375"/>
                  </a:lnTo>
                  <a:lnTo>
                    <a:pt x="111" y="441"/>
                  </a:lnTo>
                  <a:lnTo>
                    <a:pt x="318" y="306"/>
                  </a:lnTo>
                  <a:lnTo>
                    <a:pt x="504" y="147"/>
                  </a:lnTo>
                  <a:lnTo>
                    <a:pt x="471" y="87"/>
                  </a:lnTo>
                  <a:lnTo>
                    <a:pt x="450" y="51"/>
                  </a:lnTo>
                  <a:lnTo>
                    <a:pt x="41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44" name="Freeform 83"/>
            <p:cNvSpPr>
              <a:spLocks/>
            </p:cNvSpPr>
            <p:nvPr/>
          </p:nvSpPr>
          <p:spPr bwMode="auto">
            <a:xfrm>
              <a:off x="2805" y="2694"/>
              <a:ext cx="492" cy="441"/>
            </a:xfrm>
            <a:custGeom>
              <a:avLst/>
              <a:gdLst>
                <a:gd name="T0" fmla="*/ 375 w 492"/>
                <a:gd name="T1" fmla="*/ 0 h 441"/>
                <a:gd name="T2" fmla="*/ 219 w 492"/>
                <a:gd name="T3" fmla="*/ 120 h 441"/>
                <a:gd name="T4" fmla="*/ 0 w 492"/>
                <a:gd name="T5" fmla="*/ 285 h 441"/>
                <a:gd name="T6" fmla="*/ 33 w 492"/>
                <a:gd name="T7" fmla="*/ 330 h 441"/>
                <a:gd name="T8" fmla="*/ 63 w 492"/>
                <a:gd name="T9" fmla="*/ 366 h 441"/>
                <a:gd name="T10" fmla="*/ 78 w 492"/>
                <a:gd name="T11" fmla="*/ 390 h 441"/>
                <a:gd name="T12" fmla="*/ 99 w 492"/>
                <a:gd name="T13" fmla="*/ 441 h 441"/>
                <a:gd name="T14" fmla="*/ 288 w 492"/>
                <a:gd name="T15" fmla="*/ 300 h 441"/>
                <a:gd name="T16" fmla="*/ 492 w 492"/>
                <a:gd name="T17" fmla="*/ 123 h 441"/>
                <a:gd name="T18" fmla="*/ 459 w 492"/>
                <a:gd name="T19" fmla="*/ 69 h 441"/>
                <a:gd name="T20" fmla="*/ 441 w 492"/>
                <a:gd name="T21" fmla="*/ 45 h 441"/>
                <a:gd name="T22" fmla="*/ 417 w 492"/>
                <a:gd name="T23" fmla="*/ 30 h 441"/>
                <a:gd name="T24" fmla="*/ 375 w 492"/>
                <a:gd name="T25" fmla="*/ 0 h 4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2"/>
                <a:gd name="T40" fmla="*/ 0 h 441"/>
                <a:gd name="T41" fmla="*/ 492 w 492"/>
                <a:gd name="T42" fmla="*/ 441 h 4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2" h="441">
                  <a:moveTo>
                    <a:pt x="375" y="0"/>
                  </a:moveTo>
                  <a:lnTo>
                    <a:pt x="219" y="120"/>
                  </a:lnTo>
                  <a:lnTo>
                    <a:pt x="0" y="285"/>
                  </a:lnTo>
                  <a:lnTo>
                    <a:pt x="33" y="330"/>
                  </a:lnTo>
                  <a:lnTo>
                    <a:pt x="63" y="366"/>
                  </a:lnTo>
                  <a:lnTo>
                    <a:pt x="78" y="390"/>
                  </a:lnTo>
                  <a:lnTo>
                    <a:pt x="99" y="441"/>
                  </a:lnTo>
                  <a:lnTo>
                    <a:pt x="288" y="300"/>
                  </a:lnTo>
                  <a:lnTo>
                    <a:pt x="492" y="123"/>
                  </a:lnTo>
                  <a:lnTo>
                    <a:pt x="459" y="69"/>
                  </a:lnTo>
                  <a:lnTo>
                    <a:pt x="441" y="45"/>
                  </a:lnTo>
                  <a:lnTo>
                    <a:pt x="417" y="30"/>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45" name="Freeform 84"/>
            <p:cNvSpPr>
              <a:spLocks/>
            </p:cNvSpPr>
            <p:nvPr/>
          </p:nvSpPr>
          <p:spPr bwMode="auto">
            <a:xfrm>
              <a:off x="3189" y="2343"/>
              <a:ext cx="507" cy="465"/>
            </a:xfrm>
            <a:custGeom>
              <a:avLst/>
              <a:gdLst>
                <a:gd name="T0" fmla="*/ 375 w 507"/>
                <a:gd name="T1" fmla="*/ 0 h 465"/>
                <a:gd name="T2" fmla="*/ 219 w 507"/>
                <a:gd name="T3" fmla="*/ 147 h 465"/>
                <a:gd name="T4" fmla="*/ 90 w 507"/>
                <a:gd name="T5" fmla="*/ 264 h 465"/>
                <a:gd name="T6" fmla="*/ 0 w 507"/>
                <a:gd name="T7" fmla="*/ 339 h 465"/>
                <a:gd name="T8" fmla="*/ 45 w 507"/>
                <a:gd name="T9" fmla="*/ 375 h 465"/>
                <a:gd name="T10" fmla="*/ 75 w 507"/>
                <a:gd name="T11" fmla="*/ 399 h 465"/>
                <a:gd name="T12" fmla="*/ 96 w 507"/>
                <a:gd name="T13" fmla="*/ 423 h 465"/>
                <a:gd name="T14" fmla="*/ 114 w 507"/>
                <a:gd name="T15" fmla="*/ 465 h 465"/>
                <a:gd name="T16" fmla="*/ 306 w 507"/>
                <a:gd name="T17" fmla="*/ 309 h 465"/>
                <a:gd name="T18" fmla="*/ 507 w 507"/>
                <a:gd name="T19" fmla="*/ 129 h 465"/>
                <a:gd name="T20" fmla="*/ 465 w 507"/>
                <a:gd name="T21" fmla="*/ 63 h 465"/>
                <a:gd name="T22" fmla="*/ 423 w 507"/>
                <a:gd name="T23" fmla="*/ 24 h 465"/>
                <a:gd name="T24" fmla="*/ 375 w 507"/>
                <a:gd name="T25" fmla="*/ 0 h 4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7"/>
                <a:gd name="T40" fmla="*/ 0 h 465"/>
                <a:gd name="T41" fmla="*/ 507 w 507"/>
                <a:gd name="T42" fmla="*/ 465 h 4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7" h="465">
                  <a:moveTo>
                    <a:pt x="375" y="0"/>
                  </a:moveTo>
                  <a:lnTo>
                    <a:pt x="219" y="147"/>
                  </a:lnTo>
                  <a:lnTo>
                    <a:pt x="90" y="264"/>
                  </a:lnTo>
                  <a:lnTo>
                    <a:pt x="0" y="339"/>
                  </a:lnTo>
                  <a:lnTo>
                    <a:pt x="45" y="375"/>
                  </a:lnTo>
                  <a:lnTo>
                    <a:pt x="75" y="399"/>
                  </a:lnTo>
                  <a:lnTo>
                    <a:pt x="96" y="423"/>
                  </a:lnTo>
                  <a:lnTo>
                    <a:pt x="114" y="465"/>
                  </a:lnTo>
                  <a:lnTo>
                    <a:pt x="306" y="309"/>
                  </a:lnTo>
                  <a:lnTo>
                    <a:pt x="507" y="129"/>
                  </a:lnTo>
                  <a:lnTo>
                    <a:pt x="465" y="63"/>
                  </a:lnTo>
                  <a:lnTo>
                    <a:pt x="423" y="24"/>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46" name="Freeform 85"/>
            <p:cNvSpPr>
              <a:spLocks/>
            </p:cNvSpPr>
            <p:nvPr/>
          </p:nvSpPr>
          <p:spPr bwMode="auto">
            <a:xfrm>
              <a:off x="3570" y="1968"/>
              <a:ext cx="387" cy="507"/>
            </a:xfrm>
            <a:custGeom>
              <a:avLst/>
              <a:gdLst>
                <a:gd name="T0" fmla="*/ 378 w 387"/>
                <a:gd name="T1" fmla="*/ 0 h 507"/>
                <a:gd name="T2" fmla="*/ 240 w 387"/>
                <a:gd name="T3" fmla="*/ 132 h 507"/>
                <a:gd name="T4" fmla="*/ 132 w 387"/>
                <a:gd name="T5" fmla="*/ 240 h 507"/>
                <a:gd name="T6" fmla="*/ 0 w 387"/>
                <a:gd name="T7" fmla="*/ 369 h 507"/>
                <a:gd name="T8" fmla="*/ 63 w 387"/>
                <a:gd name="T9" fmla="*/ 405 h 507"/>
                <a:gd name="T10" fmla="*/ 99 w 387"/>
                <a:gd name="T11" fmla="*/ 435 h 507"/>
                <a:gd name="T12" fmla="*/ 132 w 387"/>
                <a:gd name="T13" fmla="*/ 507 h 507"/>
                <a:gd name="T14" fmla="*/ 387 w 387"/>
                <a:gd name="T15" fmla="*/ 249 h 507"/>
                <a:gd name="T16" fmla="*/ 378 w 387"/>
                <a:gd name="T17" fmla="*/ 0 h 5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507"/>
                <a:gd name="T29" fmla="*/ 387 w 387"/>
                <a:gd name="T30" fmla="*/ 507 h 5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507">
                  <a:moveTo>
                    <a:pt x="378" y="0"/>
                  </a:moveTo>
                  <a:lnTo>
                    <a:pt x="240" y="132"/>
                  </a:lnTo>
                  <a:lnTo>
                    <a:pt x="132" y="240"/>
                  </a:lnTo>
                  <a:lnTo>
                    <a:pt x="0" y="369"/>
                  </a:lnTo>
                  <a:lnTo>
                    <a:pt x="63" y="405"/>
                  </a:lnTo>
                  <a:lnTo>
                    <a:pt x="99" y="435"/>
                  </a:lnTo>
                  <a:lnTo>
                    <a:pt x="132" y="507"/>
                  </a:lnTo>
                  <a:lnTo>
                    <a:pt x="387" y="249"/>
                  </a:lnTo>
                  <a:lnTo>
                    <a:pt x="37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647" name="Freeform 86"/>
            <p:cNvSpPr>
              <a:spLocks/>
            </p:cNvSpPr>
            <p:nvPr/>
          </p:nvSpPr>
          <p:spPr bwMode="auto">
            <a:xfrm>
              <a:off x="1676" y="3350"/>
              <a:ext cx="340" cy="394"/>
            </a:xfrm>
            <a:custGeom>
              <a:avLst/>
              <a:gdLst>
                <a:gd name="T0" fmla="*/ 340 w 340"/>
                <a:gd name="T1" fmla="*/ 394 h 394"/>
                <a:gd name="T2" fmla="*/ 8 w 340"/>
                <a:gd name="T3" fmla="*/ 236 h 394"/>
                <a:gd name="T4" fmla="*/ 4 w 340"/>
                <a:gd name="T5" fmla="*/ 114 h 394"/>
                <a:gd name="T6" fmla="*/ 0 w 340"/>
                <a:gd name="T7" fmla="*/ 0 h 394"/>
                <a:gd name="T8" fmla="*/ 90 w 340"/>
                <a:gd name="T9" fmla="*/ 14 h 394"/>
                <a:gd name="T10" fmla="*/ 150 w 340"/>
                <a:gd name="T11" fmla="*/ 28 h 394"/>
                <a:gd name="T12" fmla="*/ 258 w 340"/>
                <a:gd name="T13" fmla="*/ 52 h 394"/>
                <a:gd name="T14" fmla="*/ 326 w 340"/>
                <a:gd name="T15" fmla="*/ 72 h 394"/>
                <a:gd name="T16" fmla="*/ 338 w 340"/>
                <a:gd name="T17" fmla="*/ 180 h 394"/>
                <a:gd name="T18" fmla="*/ 340 w 340"/>
                <a:gd name="T19" fmla="*/ 248 h 394"/>
                <a:gd name="T20" fmla="*/ 340 w 340"/>
                <a:gd name="T21" fmla="*/ 316 h 394"/>
                <a:gd name="T22" fmla="*/ 340 w 340"/>
                <a:gd name="T23" fmla="*/ 394 h 3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0"/>
                <a:gd name="T37" fmla="*/ 0 h 394"/>
                <a:gd name="T38" fmla="*/ 340 w 340"/>
                <a:gd name="T39" fmla="*/ 394 h 39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0" h="394">
                  <a:moveTo>
                    <a:pt x="340" y="394"/>
                  </a:moveTo>
                  <a:lnTo>
                    <a:pt x="8" y="236"/>
                  </a:lnTo>
                  <a:lnTo>
                    <a:pt x="4" y="114"/>
                  </a:lnTo>
                  <a:lnTo>
                    <a:pt x="0" y="0"/>
                  </a:lnTo>
                  <a:lnTo>
                    <a:pt x="90" y="14"/>
                  </a:lnTo>
                  <a:lnTo>
                    <a:pt x="150" y="28"/>
                  </a:lnTo>
                  <a:lnTo>
                    <a:pt x="258" y="52"/>
                  </a:lnTo>
                  <a:lnTo>
                    <a:pt x="326" y="72"/>
                  </a:lnTo>
                  <a:lnTo>
                    <a:pt x="338" y="180"/>
                  </a:lnTo>
                  <a:lnTo>
                    <a:pt x="340" y="248"/>
                  </a:lnTo>
                  <a:lnTo>
                    <a:pt x="340" y="316"/>
                  </a:lnTo>
                  <a:lnTo>
                    <a:pt x="340"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648" name="Freeform 87"/>
            <p:cNvSpPr>
              <a:spLocks/>
            </p:cNvSpPr>
            <p:nvPr/>
          </p:nvSpPr>
          <p:spPr bwMode="auto">
            <a:xfrm>
              <a:off x="1626" y="3012"/>
              <a:ext cx="372" cy="394"/>
            </a:xfrm>
            <a:custGeom>
              <a:avLst/>
              <a:gdLst>
                <a:gd name="T0" fmla="*/ 372 w 372"/>
                <a:gd name="T1" fmla="*/ 394 h 394"/>
                <a:gd name="T2" fmla="*/ 190 w 372"/>
                <a:gd name="T3" fmla="*/ 348 h 394"/>
                <a:gd name="T4" fmla="*/ 40 w 372"/>
                <a:gd name="T5" fmla="*/ 318 h 394"/>
                <a:gd name="T6" fmla="*/ 0 w 372"/>
                <a:gd name="T7" fmla="*/ 0 h 394"/>
                <a:gd name="T8" fmla="*/ 76 w 372"/>
                <a:gd name="T9" fmla="*/ 10 h 394"/>
                <a:gd name="T10" fmla="*/ 198 w 372"/>
                <a:gd name="T11" fmla="*/ 22 h 394"/>
                <a:gd name="T12" fmla="*/ 308 w 372"/>
                <a:gd name="T13" fmla="*/ 38 h 394"/>
                <a:gd name="T14" fmla="*/ 340 w 372"/>
                <a:gd name="T15" fmla="*/ 202 h 394"/>
                <a:gd name="T16" fmla="*/ 372 w 372"/>
                <a:gd name="T17" fmla="*/ 394 h 3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2"/>
                <a:gd name="T28" fmla="*/ 0 h 394"/>
                <a:gd name="T29" fmla="*/ 372 w 372"/>
                <a:gd name="T30" fmla="*/ 394 h 3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2" h="394">
                  <a:moveTo>
                    <a:pt x="372" y="394"/>
                  </a:moveTo>
                  <a:lnTo>
                    <a:pt x="190" y="348"/>
                  </a:lnTo>
                  <a:lnTo>
                    <a:pt x="40" y="318"/>
                  </a:lnTo>
                  <a:lnTo>
                    <a:pt x="0" y="0"/>
                  </a:lnTo>
                  <a:lnTo>
                    <a:pt x="76" y="10"/>
                  </a:lnTo>
                  <a:lnTo>
                    <a:pt x="198" y="22"/>
                  </a:lnTo>
                  <a:lnTo>
                    <a:pt x="308" y="38"/>
                  </a:lnTo>
                  <a:lnTo>
                    <a:pt x="340" y="202"/>
                  </a:lnTo>
                  <a:lnTo>
                    <a:pt x="372"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649" name="Freeform 88"/>
            <p:cNvSpPr>
              <a:spLocks/>
            </p:cNvSpPr>
            <p:nvPr/>
          </p:nvSpPr>
          <p:spPr bwMode="auto">
            <a:xfrm>
              <a:off x="1554" y="2698"/>
              <a:ext cx="374" cy="340"/>
            </a:xfrm>
            <a:custGeom>
              <a:avLst/>
              <a:gdLst>
                <a:gd name="T0" fmla="*/ 374 w 374"/>
                <a:gd name="T1" fmla="*/ 340 h 340"/>
                <a:gd name="T2" fmla="*/ 240 w 374"/>
                <a:gd name="T3" fmla="*/ 324 h 340"/>
                <a:gd name="T4" fmla="*/ 68 w 374"/>
                <a:gd name="T5" fmla="*/ 302 h 340"/>
                <a:gd name="T6" fmla="*/ 0 w 374"/>
                <a:gd name="T7" fmla="*/ 0 h 340"/>
                <a:gd name="T8" fmla="*/ 90 w 374"/>
                <a:gd name="T9" fmla="*/ 2 h 340"/>
                <a:gd name="T10" fmla="*/ 174 w 374"/>
                <a:gd name="T11" fmla="*/ 0 h 340"/>
                <a:gd name="T12" fmla="*/ 296 w 374"/>
                <a:gd name="T13" fmla="*/ 14 h 340"/>
                <a:gd name="T14" fmla="*/ 312 w 374"/>
                <a:gd name="T15" fmla="*/ 90 h 340"/>
                <a:gd name="T16" fmla="*/ 354 w 374"/>
                <a:gd name="T17" fmla="*/ 246 h 340"/>
                <a:gd name="T18" fmla="*/ 374 w 374"/>
                <a:gd name="T19" fmla="*/ 340 h 3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340"/>
                <a:gd name="T32" fmla="*/ 374 w 374"/>
                <a:gd name="T33" fmla="*/ 340 h 3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340">
                  <a:moveTo>
                    <a:pt x="374" y="340"/>
                  </a:moveTo>
                  <a:lnTo>
                    <a:pt x="240" y="324"/>
                  </a:lnTo>
                  <a:lnTo>
                    <a:pt x="68" y="302"/>
                  </a:lnTo>
                  <a:lnTo>
                    <a:pt x="0" y="0"/>
                  </a:lnTo>
                  <a:lnTo>
                    <a:pt x="90" y="2"/>
                  </a:lnTo>
                  <a:lnTo>
                    <a:pt x="174" y="0"/>
                  </a:lnTo>
                  <a:lnTo>
                    <a:pt x="296" y="14"/>
                  </a:lnTo>
                  <a:lnTo>
                    <a:pt x="312" y="90"/>
                  </a:lnTo>
                  <a:lnTo>
                    <a:pt x="354" y="246"/>
                  </a:lnTo>
                  <a:lnTo>
                    <a:pt x="374" y="340"/>
                  </a:lnTo>
                  <a:close/>
                </a:path>
              </a:pathLst>
            </a:custGeom>
            <a:gradFill rotWithShape="0">
              <a:gsLst>
                <a:gs pos="0">
                  <a:srgbClr val="CFB2AD"/>
                </a:gs>
                <a:gs pos="100000">
                  <a:srgbClr val="A85656"/>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650" name="Freeform 89"/>
            <p:cNvSpPr>
              <a:spLocks/>
            </p:cNvSpPr>
            <p:nvPr/>
          </p:nvSpPr>
          <p:spPr bwMode="auto">
            <a:xfrm>
              <a:off x="1460" y="2366"/>
              <a:ext cx="388" cy="334"/>
            </a:xfrm>
            <a:custGeom>
              <a:avLst/>
              <a:gdLst>
                <a:gd name="T0" fmla="*/ 388 w 388"/>
                <a:gd name="T1" fmla="*/ 334 h 334"/>
                <a:gd name="T2" fmla="*/ 258 w 388"/>
                <a:gd name="T3" fmla="*/ 320 h 334"/>
                <a:gd name="T4" fmla="*/ 90 w 388"/>
                <a:gd name="T5" fmla="*/ 324 h 334"/>
                <a:gd name="T6" fmla="*/ 0 w 388"/>
                <a:gd name="T7" fmla="*/ 2 h 334"/>
                <a:gd name="T8" fmla="*/ 82 w 388"/>
                <a:gd name="T9" fmla="*/ 2 h 334"/>
                <a:gd name="T10" fmla="*/ 172 w 388"/>
                <a:gd name="T11" fmla="*/ 0 h 334"/>
                <a:gd name="T12" fmla="*/ 288 w 388"/>
                <a:gd name="T13" fmla="*/ 6 h 334"/>
                <a:gd name="T14" fmla="*/ 308 w 388"/>
                <a:gd name="T15" fmla="*/ 80 h 334"/>
                <a:gd name="T16" fmla="*/ 350 w 388"/>
                <a:gd name="T17" fmla="*/ 212 h 334"/>
                <a:gd name="T18" fmla="*/ 388 w 388"/>
                <a:gd name="T19" fmla="*/ 334 h 3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8"/>
                <a:gd name="T31" fmla="*/ 0 h 334"/>
                <a:gd name="T32" fmla="*/ 388 w 388"/>
                <a:gd name="T33" fmla="*/ 334 h 3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8" h="334">
                  <a:moveTo>
                    <a:pt x="388" y="334"/>
                  </a:moveTo>
                  <a:lnTo>
                    <a:pt x="258" y="320"/>
                  </a:lnTo>
                  <a:lnTo>
                    <a:pt x="90" y="324"/>
                  </a:lnTo>
                  <a:lnTo>
                    <a:pt x="0" y="2"/>
                  </a:lnTo>
                  <a:lnTo>
                    <a:pt x="82" y="2"/>
                  </a:lnTo>
                  <a:lnTo>
                    <a:pt x="172" y="0"/>
                  </a:lnTo>
                  <a:lnTo>
                    <a:pt x="288" y="6"/>
                  </a:lnTo>
                  <a:lnTo>
                    <a:pt x="308" y="80"/>
                  </a:lnTo>
                  <a:lnTo>
                    <a:pt x="350" y="212"/>
                  </a:lnTo>
                  <a:lnTo>
                    <a:pt x="388" y="334"/>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651" name="Freeform 90"/>
            <p:cNvSpPr>
              <a:spLocks/>
            </p:cNvSpPr>
            <p:nvPr/>
          </p:nvSpPr>
          <p:spPr bwMode="auto">
            <a:xfrm>
              <a:off x="1344" y="1998"/>
              <a:ext cx="398" cy="358"/>
            </a:xfrm>
            <a:custGeom>
              <a:avLst/>
              <a:gdLst>
                <a:gd name="T0" fmla="*/ 398 w 398"/>
                <a:gd name="T1" fmla="*/ 358 h 358"/>
                <a:gd name="T2" fmla="*/ 272 w 398"/>
                <a:gd name="T3" fmla="*/ 358 h 358"/>
                <a:gd name="T4" fmla="*/ 108 w 398"/>
                <a:gd name="T5" fmla="*/ 356 h 358"/>
                <a:gd name="T6" fmla="*/ 64 w 398"/>
                <a:gd name="T7" fmla="*/ 204 h 358"/>
                <a:gd name="T8" fmla="*/ 0 w 398"/>
                <a:gd name="T9" fmla="*/ 28 h 358"/>
                <a:gd name="T10" fmla="*/ 90 w 398"/>
                <a:gd name="T11" fmla="*/ 24 h 358"/>
                <a:gd name="T12" fmla="*/ 144 w 398"/>
                <a:gd name="T13" fmla="*/ 22 h 358"/>
                <a:gd name="T14" fmla="*/ 212 w 398"/>
                <a:gd name="T15" fmla="*/ 16 h 358"/>
                <a:gd name="T16" fmla="*/ 286 w 398"/>
                <a:gd name="T17" fmla="*/ 0 h 358"/>
                <a:gd name="T18" fmla="*/ 314 w 398"/>
                <a:gd name="T19" fmla="*/ 94 h 358"/>
                <a:gd name="T20" fmla="*/ 356 w 398"/>
                <a:gd name="T21" fmla="*/ 228 h 358"/>
                <a:gd name="T22" fmla="*/ 398 w 398"/>
                <a:gd name="T23" fmla="*/ 358 h 3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8"/>
                <a:gd name="T37" fmla="*/ 0 h 358"/>
                <a:gd name="T38" fmla="*/ 398 w 398"/>
                <a:gd name="T39" fmla="*/ 358 h 3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8" h="358">
                  <a:moveTo>
                    <a:pt x="398" y="358"/>
                  </a:moveTo>
                  <a:lnTo>
                    <a:pt x="272" y="358"/>
                  </a:lnTo>
                  <a:lnTo>
                    <a:pt x="108" y="356"/>
                  </a:lnTo>
                  <a:lnTo>
                    <a:pt x="64" y="204"/>
                  </a:lnTo>
                  <a:lnTo>
                    <a:pt x="0" y="28"/>
                  </a:lnTo>
                  <a:lnTo>
                    <a:pt x="90" y="24"/>
                  </a:lnTo>
                  <a:lnTo>
                    <a:pt x="144" y="22"/>
                  </a:lnTo>
                  <a:lnTo>
                    <a:pt x="212" y="16"/>
                  </a:lnTo>
                  <a:lnTo>
                    <a:pt x="286" y="0"/>
                  </a:lnTo>
                  <a:lnTo>
                    <a:pt x="314" y="94"/>
                  </a:lnTo>
                  <a:lnTo>
                    <a:pt x="356" y="228"/>
                  </a:lnTo>
                  <a:lnTo>
                    <a:pt x="398" y="358"/>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652" name="Freeform 91"/>
            <p:cNvSpPr>
              <a:spLocks/>
            </p:cNvSpPr>
            <p:nvPr/>
          </p:nvSpPr>
          <p:spPr bwMode="auto">
            <a:xfrm>
              <a:off x="1144" y="1522"/>
              <a:ext cx="482" cy="492"/>
            </a:xfrm>
            <a:custGeom>
              <a:avLst/>
              <a:gdLst>
                <a:gd name="T0" fmla="*/ 482 w 482"/>
                <a:gd name="T1" fmla="*/ 468 h 492"/>
                <a:gd name="T2" fmla="*/ 364 w 482"/>
                <a:gd name="T3" fmla="*/ 492 h 492"/>
                <a:gd name="T4" fmla="*/ 198 w 482"/>
                <a:gd name="T5" fmla="*/ 492 h 492"/>
                <a:gd name="T6" fmla="*/ 126 w 482"/>
                <a:gd name="T7" fmla="*/ 292 h 492"/>
                <a:gd name="T8" fmla="*/ 0 w 482"/>
                <a:gd name="T9" fmla="*/ 0 h 492"/>
                <a:gd name="T10" fmla="*/ 122 w 482"/>
                <a:gd name="T11" fmla="*/ 22 h 492"/>
                <a:gd name="T12" fmla="*/ 196 w 482"/>
                <a:gd name="T13" fmla="*/ 34 h 492"/>
                <a:gd name="T14" fmla="*/ 276 w 482"/>
                <a:gd name="T15" fmla="*/ 48 h 492"/>
                <a:gd name="T16" fmla="*/ 328 w 482"/>
                <a:gd name="T17" fmla="*/ 62 h 492"/>
                <a:gd name="T18" fmla="*/ 380 w 482"/>
                <a:gd name="T19" fmla="*/ 198 h 492"/>
                <a:gd name="T20" fmla="*/ 432 w 482"/>
                <a:gd name="T21" fmla="*/ 330 h 492"/>
                <a:gd name="T22" fmla="*/ 482 w 482"/>
                <a:gd name="T23" fmla="*/ 468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2"/>
                <a:gd name="T37" fmla="*/ 0 h 492"/>
                <a:gd name="T38" fmla="*/ 482 w 482"/>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2" h="492">
                  <a:moveTo>
                    <a:pt x="482" y="468"/>
                  </a:moveTo>
                  <a:lnTo>
                    <a:pt x="364" y="492"/>
                  </a:lnTo>
                  <a:lnTo>
                    <a:pt x="198" y="492"/>
                  </a:lnTo>
                  <a:lnTo>
                    <a:pt x="126" y="292"/>
                  </a:lnTo>
                  <a:lnTo>
                    <a:pt x="0" y="0"/>
                  </a:lnTo>
                  <a:lnTo>
                    <a:pt x="122" y="22"/>
                  </a:lnTo>
                  <a:lnTo>
                    <a:pt x="196" y="34"/>
                  </a:lnTo>
                  <a:lnTo>
                    <a:pt x="276" y="48"/>
                  </a:lnTo>
                  <a:lnTo>
                    <a:pt x="328" y="62"/>
                  </a:lnTo>
                  <a:lnTo>
                    <a:pt x="380" y="198"/>
                  </a:lnTo>
                  <a:lnTo>
                    <a:pt x="432" y="330"/>
                  </a:lnTo>
                  <a:lnTo>
                    <a:pt x="482" y="468"/>
                  </a:lnTo>
                  <a:close/>
                </a:path>
              </a:pathLst>
            </a:custGeom>
            <a:gradFill rotWithShape="0">
              <a:gsLst>
                <a:gs pos="0">
                  <a:srgbClr val="E8D9D6"/>
                </a:gs>
                <a:gs pos="100000">
                  <a:srgbClr val="CA9898"/>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653" name="Freeform 92"/>
            <p:cNvSpPr>
              <a:spLocks/>
            </p:cNvSpPr>
            <p:nvPr/>
          </p:nvSpPr>
          <p:spPr bwMode="auto">
            <a:xfrm>
              <a:off x="1167" y="1344"/>
              <a:ext cx="837" cy="231"/>
            </a:xfrm>
            <a:custGeom>
              <a:avLst/>
              <a:gdLst>
                <a:gd name="T0" fmla="*/ 0 w 837"/>
                <a:gd name="T1" fmla="*/ 171 h 231"/>
                <a:gd name="T2" fmla="*/ 297 w 837"/>
                <a:gd name="T3" fmla="*/ 231 h 231"/>
                <a:gd name="T4" fmla="*/ 561 w 837"/>
                <a:gd name="T5" fmla="*/ 204 h 231"/>
                <a:gd name="T6" fmla="*/ 837 w 837"/>
                <a:gd name="T7" fmla="*/ 138 h 231"/>
                <a:gd name="T8" fmla="*/ 738 w 837"/>
                <a:gd name="T9" fmla="*/ 75 h 231"/>
                <a:gd name="T10" fmla="*/ 618 w 837"/>
                <a:gd name="T11" fmla="*/ 27 h 231"/>
                <a:gd name="T12" fmla="*/ 513 w 837"/>
                <a:gd name="T13" fmla="*/ 0 h 231"/>
                <a:gd name="T14" fmla="*/ 390 w 837"/>
                <a:gd name="T15" fmla="*/ 45 h 231"/>
                <a:gd name="T16" fmla="*/ 0 w 837"/>
                <a:gd name="T17" fmla="*/ 171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37"/>
                <a:gd name="T28" fmla="*/ 0 h 231"/>
                <a:gd name="T29" fmla="*/ 837 w 837"/>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37" h="231">
                  <a:moveTo>
                    <a:pt x="0" y="171"/>
                  </a:moveTo>
                  <a:lnTo>
                    <a:pt x="297" y="231"/>
                  </a:lnTo>
                  <a:lnTo>
                    <a:pt x="561" y="204"/>
                  </a:lnTo>
                  <a:lnTo>
                    <a:pt x="837" y="138"/>
                  </a:lnTo>
                  <a:lnTo>
                    <a:pt x="738" y="75"/>
                  </a:lnTo>
                  <a:lnTo>
                    <a:pt x="618" y="27"/>
                  </a:lnTo>
                  <a:lnTo>
                    <a:pt x="513" y="0"/>
                  </a:lnTo>
                  <a:lnTo>
                    <a:pt x="390" y="45"/>
                  </a:lnTo>
                  <a:lnTo>
                    <a:pt x="0" y="171"/>
                  </a:lnTo>
                  <a:close/>
                </a:path>
              </a:pathLst>
            </a:custGeom>
            <a:gradFill rotWithShape="0">
              <a:gsLst>
                <a:gs pos="0">
                  <a:srgbClr val="C58D8D"/>
                </a:gs>
                <a:gs pos="100000">
                  <a:srgbClr val="8F5A59"/>
                </a:gs>
              </a:gsLst>
              <a:lin ang="0" scaled="1"/>
            </a:gradFill>
            <a:ln w="12700" cap="flat" cmpd="sng">
              <a:noFill/>
              <a:prstDash val="solid"/>
              <a:round/>
              <a:headEnd type="none" w="sm" len="sm"/>
              <a:tailEnd type="none" w="sm" len="sm"/>
            </a:ln>
          </p:spPr>
          <p:txBody>
            <a:bodyPr wrap="none" anchor="ctr"/>
            <a:lstStyle/>
            <a:p>
              <a:endParaRPr lang="en-US"/>
            </a:p>
          </p:txBody>
        </p:sp>
        <p:sp>
          <p:nvSpPr>
            <p:cNvPr id="22654" name="Freeform 93"/>
            <p:cNvSpPr>
              <a:spLocks/>
            </p:cNvSpPr>
            <p:nvPr/>
          </p:nvSpPr>
          <p:spPr bwMode="auto">
            <a:xfrm>
              <a:off x="1707" y="1128"/>
              <a:ext cx="780" cy="345"/>
            </a:xfrm>
            <a:custGeom>
              <a:avLst/>
              <a:gdLst>
                <a:gd name="T0" fmla="*/ 0 w 780"/>
                <a:gd name="T1" fmla="*/ 207 h 345"/>
                <a:gd name="T2" fmla="*/ 165 w 780"/>
                <a:gd name="T3" fmla="*/ 261 h 345"/>
                <a:gd name="T4" fmla="*/ 318 w 780"/>
                <a:gd name="T5" fmla="*/ 345 h 345"/>
                <a:gd name="T6" fmla="*/ 552 w 780"/>
                <a:gd name="T7" fmla="*/ 255 h 345"/>
                <a:gd name="T8" fmla="*/ 780 w 780"/>
                <a:gd name="T9" fmla="*/ 144 h 345"/>
                <a:gd name="T10" fmla="*/ 705 w 780"/>
                <a:gd name="T11" fmla="*/ 69 h 345"/>
                <a:gd name="T12" fmla="*/ 618 w 780"/>
                <a:gd name="T13" fmla="*/ 30 h 345"/>
                <a:gd name="T14" fmla="*/ 498 w 780"/>
                <a:gd name="T15" fmla="*/ 0 h 345"/>
                <a:gd name="T16" fmla="*/ 384 w 780"/>
                <a:gd name="T17" fmla="*/ 51 h 345"/>
                <a:gd name="T18" fmla="*/ 0 w 780"/>
                <a:gd name="T19" fmla="*/ 207 h 3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0"/>
                <a:gd name="T31" fmla="*/ 0 h 345"/>
                <a:gd name="T32" fmla="*/ 780 w 780"/>
                <a:gd name="T33" fmla="*/ 345 h 3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0" h="345">
                  <a:moveTo>
                    <a:pt x="0" y="207"/>
                  </a:moveTo>
                  <a:lnTo>
                    <a:pt x="165" y="261"/>
                  </a:lnTo>
                  <a:lnTo>
                    <a:pt x="318" y="345"/>
                  </a:lnTo>
                  <a:lnTo>
                    <a:pt x="552" y="255"/>
                  </a:lnTo>
                  <a:lnTo>
                    <a:pt x="780" y="144"/>
                  </a:lnTo>
                  <a:lnTo>
                    <a:pt x="705" y="69"/>
                  </a:lnTo>
                  <a:lnTo>
                    <a:pt x="618" y="30"/>
                  </a:lnTo>
                  <a:lnTo>
                    <a:pt x="498" y="0"/>
                  </a:lnTo>
                  <a:lnTo>
                    <a:pt x="384" y="51"/>
                  </a:lnTo>
                  <a:lnTo>
                    <a:pt x="0" y="207"/>
                  </a:lnTo>
                  <a:close/>
                </a:path>
              </a:pathLst>
            </a:custGeom>
            <a:gradFill rotWithShape="0">
              <a:gsLst>
                <a:gs pos="0">
                  <a:srgbClr val="CA9898"/>
                </a:gs>
                <a:gs pos="100000">
                  <a:srgbClr val="A46F6E"/>
                </a:gs>
              </a:gsLst>
              <a:lin ang="0" scaled="1"/>
            </a:gradFill>
            <a:ln w="12700" cap="flat" cmpd="sng">
              <a:noFill/>
              <a:prstDash val="solid"/>
              <a:round/>
              <a:headEnd type="none" w="sm" len="sm"/>
              <a:tailEnd type="none" w="sm" len="sm"/>
            </a:ln>
          </p:spPr>
          <p:txBody>
            <a:bodyPr wrap="none" anchor="ctr"/>
            <a:lstStyle/>
            <a:p>
              <a:endParaRPr lang="en-US"/>
            </a:p>
          </p:txBody>
        </p:sp>
        <p:sp>
          <p:nvSpPr>
            <p:cNvPr id="22655" name="Freeform 94"/>
            <p:cNvSpPr>
              <a:spLocks/>
            </p:cNvSpPr>
            <p:nvPr/>
          </p:nvSpPr>
          <p:spPr bwMode="auto">
            <a:xfrm>
              <a:off x="2232" y="900"/>
              <a:ext cx="729" cy="363"/>
            </a:xfrm>
            <a:custGeom>
              <a:avLst/>
              <a:gdLst>
                <a:gd name="T0" fmla="*/ 0 w 729"/>
                <a:gd name="T1" fmla="*/ 219 h 363"/>
                <a:gd name="T2" fmla="*/ 141 w 729"/>
                <a:gd name="T3" fmla="*/ 258 h 363"/>
                <a:gd name="T4" fmla="*/ 204 w 729"/>
                <a:gd name="T5" fmla="*/ 300 h 363"/>
                <a:gd name="T6" fmla="*/ 279 w 729"/>
                <a:gd name="T7" fmla="*/ 363 h 363"/>
                <a:gd name="T8" fmla="*/ 507 w 729"/>
                <a:gd name="T9" fmla="*/ 228 h 363"/>
                <a:gd name="T10" fmla="*/ 729 w 729"/>
                <a:gd name="T11" fmla="*/ 96 h 363"/>
                <a:gd name="T12" fmla="*/ 621 w 729"/>
                <a:gd name="T13" fmla="*/ 54 h 363"/>
                <a:gd name="T14" fmla="*/ 531 w 729"/>
                <a:gd name="T15" fmla="*/ 18 h 363"/>
                <a:gd name="T16" fmla="*/ 441 w 729"/>
                <a:gd name="T17" fmla="*/ 0 h 363"/>
                <a:gd name="T18" fmla="*/ 309 w 729"/>
                <a:gd name="T19" fmla="*/ 72 h 363"/>
                <a:gd name="T20" fmla="*/ 0 w 729"/>
                <a:gd name="T21" fmla="*/ 219 h 3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9"/>
                <a:gd name="T34" fmla="*/ 0 h 363"/>
                <a:gd name="T35" fmla="*/ 729 w 729"/>
                <a:gd name="T36" fmla="*/ 363 h 3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9" h="363">
                  <a:moveTo>
                    <a:pt x="0" y="219"/>
                  </a:moveTo>
                  <a:lnTo>
                    <a:pt x="141" y="258"/>
                  </a:lnTo>
                  <a:lnTo>
                    <a:pt x="204" y="300"/>
                  </a:lnTo>
                  <a:lnTo>
                    <a:pt x="279" y="363"/>
                  </a:lnTo>
                  <a:lnTo>
                    <a:pt x="507" y="228"/>
                  </a:lnTo>
                  <a:lnTo>
                    <a:pt x="729" y="96"/>
                  </a:lnTo>
                  <a:lnTo>
                    <a:pt x="621" y="54"/>
                  </a:lnTo>
                  <a:lnTo>
                    <a:pt x="531" y="18"/>
                  </a:lnTo>
                  <a:lnTo>
                    <a:pt x="441" y="0"/>
                  </a:lnTo>
                  <a:lnTo>
                    <a:pt x="309" y="72"/>
                  </a:lnTo>
                  <a:lnTo>
                    <a:pt x="0" y="219"/>
                  </a:lnTo>
                  <a:close/>
                </a:path>
              </a:pathLst>
            </a:custGeom>
            <a:gradFill rotWithShape="0">
              <a:gsLst>
                <a:gs pos="0">
                  <a:srgbClr val="D2A6A6"/>
                </a:gs>
                <a:gs pos="100000">
                  <a:srgbClr val="AE7F7E"/>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656" name="Freeform 95"/>
            <p:cNvSpPr>
              <a:spLocks/>
            </p:cNvSpPr>
            <p:nvPr/>
          </p:nvSpPr>
          <p:spPr bwMode="auto">
            <a:xfrm>
              <a:off x="2691" y="642"/>
              <a:ext cx="648" cy="339"/>
            </a:xfrm>
            <a:custGeom>
              <a:avLst/>
              <a:gdLst>
                <a:gd name="T0" fmla="*/ 0 w 648"/>
                <a:gd name="T1" fmla="*/ 246 h 339"/>
                <a:gd name="T2" fmla="*/ 99 w 648"/>
                <a:gd name="T3" fmla="*/ 270 h 339"/>
                <a:gd name="T4" fmla="*/ 183 w 648"/>
                <a:gd name="T5" fmla="*/ 309 h 339"/>
                <a:gd name="T6" fmla="*/ 279 w 648"/>
                <a:gd name="T7" fmla="*/ 339 h 339"/>
                <a:gd name="T8" fmla="*/ 456 w 648"/>
                <a:gd name="T9" fmla="*/ 210 h 339"/>
                <a:gd name="T10" fmla="*/ 648 w 648"/>
                <a:gd name="T11" fmla="*/ 69 h 339"/>
                <a:gd name="T12" fmla="*/ 573 w 648"/>
                <a:gd name="T13" fmla="*/ 45 h 339"/>
                <a:gd name="T14" fmla="*/ 465 w 648"/>
                <a:gd name="T15" fmla="*/ 15 h 339"/>
                <a:gd name="T16" fmla="*/ 372 w 648"/>
                <a:gd name="T17" fmla="*/ 0 h 339"/>
                <a:gd name="T18" fmla="*/ 291 w 648"/>
                <a:gd name="T19" fmla="*/ 72 h 339"/>
                <a:gd name="T20" fmla="*/ 171 w 648"/>
                <a:gd name="T21" fmla="*/ 144 h 339"/>
                <a:gd name="T22" fmla="*/ 0 w 648"/>
                <a:gd name="T23" fmla="*/ 246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339"/>
                <a:gd name="T38" fmla="*/ 648 w 648"/>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339">
                  <a:moveTo>
                    <a:pt x="0" y="246"/>
                  </a:moveTo>
                  <a:lnTo>
                    <a:pt x="99" y="270"/>
                  </a:lnTo>
                  <a:lnTo>
                    <a:pt x="183" y="309"/>
                  </a:lnTo>
                  <a:lnTo>
                    <a:pt x="279" y="339"/>
                  </a:lnTo>
                  <a:lnTo>
                    <a:pt x="456" y="210"/>
                  </a:lnTo>
                  <a:lnTo>
                    <a:pt x="648" y="69"/>
                  </a:lnTo>
                  <a:lnTo>
                    <a:pt x="573" y="45"/>
                  </a:lnTo>
                  <a:lnTo>
                    <a:pt x="465" y="15"/>
                  </a:lnTo>
                  <a:lnTo>
                    <a:pt x="372" y="0"/>
                  </a:lnTo>
                  <a:lnTo>
                    <a:pt x="291" y="72"/>
                  </a:lnTo>
                  <a:lnTo>
                    <a:pt x="171" y="144"/>
                  </a:lnTo>
                  <a:lnTo>
                    <a:pt x="0" y="246"/>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sp>
          <p:nvSpPr>
            <p:cNvPr id="22657" name="Freeform 96"/>
            <p:cNvSpPr>
              <a:spLocks/>
            </p:cNvSpPr>
            <p:nvPr/>
          </p:nvSpPr>
          <p:spPr bwMode="auto">
            <a:xfrm>
              <a:off x="3090" y="330"/>
              <a:ext cx="633" cy="366"/>
            </a:xfrm>
            <a:custGeom>
              <a:avLst/>
              <a:gdLst>
                <a:gd name="T0" fmla="*/ 0 w 633"/>
                <a:gd name="T1" fmla="*/ 297 h 366"/>
                <a:gd name="T2" fmla="*/ 90 w 633"/>
                <a:gd name="T3" fmla="*/ 315 h 366"/>
                <a:gd name="T4" fmla="*/ 198 w 633"/>
                <a:gd name="T5" fmla="*/ 345 h 366"/>
                <a:gd name="T6" fmla="*/ 264 w 633"/>
                <a:gd name="T7" fmla="*/ 366 h 366"/>
                <a:gd name="T8" fmla="*/ 438 w 633"/>
                <a:gd name="T9" fmla="*/ 216 h 366"/>
                <a:gd name="T10" fmla="*/ 633 w 633"/>
                <a:gd name="T11" fmla="*/ 0 h 366"/>
                <a:gd name="T12" fmla="*/ 537 w 633"/>
                <a:gd name="T13" fmla="*/ 15 h 366"/>
                <a:gd name="T14" fmla="*/ 450 w 633"/>
                <a:gd name="T15" fmla="*/ 30 h 366"/>
                <a:gd name="T16" fmla="*/ 345 w 633"/>
                <a:gd name="T17" fmla="*/ 48 h 366"/>
                <a:gd name="T18" fmla="*/ 234 w 633"/>
                <a:gd name="T19" fmla="*/ 69 h 366"/>
                <a:gd name="T20" fmla="*/ 162 w 633"/>
                <a:gd name="T21" fmla="*/ 150 h 366"/>
                <a:gd name="T22" fmla="*/ 0 w 633"/>
                <a:gd name="T23" fmla="*/ 297 h 36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3"/>
                <a:gd name="T37" fmla="*/ 0 h 366"/>
                <a:gd name="T38" fmla="*/ 633 w 633"/>
                <a:gd name="T39" fmla="*/ 366 h 36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3" h="366">
                  <a:moveTo>
                    <a:pt x="0" y="297"/>
                  </a:moveTo>
                  <a:lnTo>
                    <a:pt x="90" y="315"/>
                  </a:lnTo>
                  <a:lnTo>
                    <a:pt x="198" y="345"/>
                  </a:lnTo>
                  <a:lnTo>
                    <a:pt x="264" y="366"/>
                  </a:lnTo>
                  <a:lnTo>
                    <a:pt x="438" y="216"/>
                  </a:lnTo>
                  <a:lnTo>
                    <a:pt x="633" y="0"/>
                  </a:lnTo>
                  <a:lnTo>
                    <a:pt x="537" y="15"/>
                  </a:lnTo>
                  <a:lnTo>
                    <a:pt x="450" y="30"/>
                  </a:lnTo>
                  <a:lnTo>
                    <a:pt x="345" y="48"/>
                  </a:lnTo>
                  <a:lnTo>
                    <a:pt x="234" y="69"/>
                  </a:lnTo>
                  <a:lnTo>
                    <a:pt x="162" y="150"/>
                  </a:lnTo>
                  <a:lnTo>
                    <a:pt x="0" y="297"/>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grpSp>
      <p:grpSp>
        <p:nvGrpSpPr>
          <p:cNvPr id="22553" name="Group 97"/>
          <p:cNvGrpSpPr>
            <a:grpSpLocks/>
          </p:cNvGrpSpPr>
          <p:nvPr/>
        </p:nvGrpSpPr>
        <p:grpSpPr bwMode="auto">
          <a:xfrm flipH="1">
            <a:off x="6019800" y="4419600"/>
            <a:ext cx="576263" cy="1277938"/>
            <a:chOff x="1125" y="288"/>
            <a:chExt cx="2859" cy="3498"/>
          </a:xfrm>
        </p:grpSpPr>
        <p:sp>
          <p:nvSpPr>
            <p:cNvPr id="22554" name="Freeform 98"/>
            <p:cNvSpPr>
              <a:spLocks/>
            </p:cNvSpPr>
            <p:nvPr/>
          </p:nvSpPr>
          <p:spPr bwMode="auto">
            <a:xfrm>
              <a:off x="1151" y="288"/>
              <a:ext cx="2833" cy="3456"/>
            </a:xfrm>
            <a:custGeom>
              <a:avLst/>
              <a:gdLst>
                <a:gd name="T0" fmla="*/ 865 w 2833"/>
                <a:gd name="T1" fmla="*/ 3456 h 3456"/>
                <a:gd name="T2" fmla="*/ 529 w 2833"/>
                <a:gd name="T3" fmla="*/ 3312 h 3456"/>
                <a:gd name="T4" fmla="*/ 452 w 2833"/>
                <a:gd name="T5" fmla="*/ 2646 h 3456"/>
                <a:gd name="T6" fmla="*/ 343 w 2833"/>
                <a:gd name="T7" fmla="*/ 2154 h 3456"/>
                <a:gd name="T8" fmla="*/ 180 w 2833"/>
                <a:gd name="T9" fmla="*/ 1717 h 3456"/>
                <a:gd name="T10" fmla="*/ 0 w 2833"/>
                <a:gd name="T11" fmla="*/ 1241 h 3456"/>
                <a:gd name="T12" fmla="*/ 567 w 2833"/>
                <a:gd name="T13" fmla="*/ 1035 h 3456"/>
                <a:gd name="T14" fmla="*/ 1027 w 2833"/>
                <a:gd name="T15" fmla="*/ 854 h 3456"/>
                <a:gd name="T16" fmla="*/ 1405 w 2833"/>
                <a:gd name="T17" fmla="*/ 657 h 3456"/>
                <a:gd name="T18" fmla="*/ 1717 w 2833"/>
                <a:gd name="T19" fmla="*/ 485 h 3456"/>
                <a:gd name="T20" fmla="*/ 1964 w 2833"/>
                <a:gd name="T21" fmla="*/ 312 h 3456"/>
                <a:gd name="T22" fmla="*/ 2161 w 2833"/>
                <a:gd name="T23" fmla="*/ 96 h 3456"/>
                <a:gd name="T24" fmla="*/ 2593 w 2833"/>
                <a:gd name="T25" fmla="*/ 0 h 3456"/>
                <a:gd name="T26" fmla="*/ 2833 w 2833"/>
                <a:gd name="T27" fmla="*/ 1920 h 3456"/>
                <a:gd name="T28" fmla="*/ 2178 w 2833"/>
                <a:gd name="T29" fmla="*/ 2531 h 3456"/>
                <a:gd name="T30" fmla="*/ 1726 w 2833"/>
                <a:gd name="T31" fmla="*/ 2892 h 3456"/>
                <a:gd name="T32" fmla="*/ 865 w 2833"/>
                <a:gd name="T33" fmla="*/ 3456 h 34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833"/>
                <a:gd name="T52" fmla="*/ 0 h 3456"/>
                <a:gd name="T53" fmla="*/ 2833 w 2833"/>
                <a:gd name="T54" fmla="*/ 3456 h 34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833" h="3456">
                  <a:moveTo>
                    <a:pt x="865" y="3456"/>
                  </a:moveTo>
                  <a:lnTo>
                    <a:pt x="529" y="3312"/>
                  </a:lnTo>
                  <a:lnTo>
                    <a:pt x="452" y="2646"/>
                  </a:lnTo>
                  <a:lnTo>
                    <a:pt x="343" y="2154"/>
                  </a:lnTo>
                  <a:lnTo>
                    <a:pt x="180" y="1717"/>
                  </a:lnTo>
                  <a:lnTo>
                    <a:pt x="0" y="1241"/>
                  </a:lnTo>
                  <a:lnTo>
                    <a:pt x="567" y="1035"/>
                  </a:lnTo>
                  <a:lnTo>
                    <a:pt x="1027" y="854"/>
                  </a:lnTo>
                  <a:lnTo>
                    <a:pt x="1405" y="657"/>
                  </a:lnTo>
                  <a:lnTo>
                    <a:pt x="1717" y="485"/>
                  </a:lnTo>
                  <a:lnTo>
                    <a:pt x="1964" y="312"/>
                  </a:lnTo>
                  <a:lnTo>
                    <a:pt x="2161" y="96"/>
                  </a:lnTo>
                  <a:lnTo>
                    <a:pt x="2593" y="0"/>
                  </a:lnTo>
                  <a:lnTo>
                    <a:pt x="2833" y="1920"/>
                  </a:lnTo>
                  <a:lnTo>
                    <a:pt x="2178" y="2531"/>
                  </a:lnTo>
                  <a:lnTo>
                    <a:pt x="1726" y="2892"/>
                  </a:lnTo>
                  <a:lnTo>
                    <a:pt x="865" y="3456"/>
                  </a:lnTo>
                  <a:close/>
                </a:path>
              </a:pathLst>
            </a:custGeom>
            <a:solidFill>
              <a:srgbClr val="4D4D4D"/>
            </a:solidFill>
            <a:ln w="12700" cap="flat" cmpd="sng">
              <a:noFill/>
              <a:prstDash val="solid"/>
              <a:round/>
              <a:headEnd type="none" w="sm" len="sm"/>
              <a:tailEnd type="none" w="sm" len="sm"/>
            </a:ln>
          </p:spPr>
          <p:txBody>
            <a:bodyPr wrap="none" anchor="ctr"/>
            <a:lstStyle/>
            <a:p>
              <a:endParaRPr lang="en-US"/>
            </a:p>
          </p:txBody>
        </p:sp>
        <p:sp>
          <p:nvSpPr>
            <p:cNvPr id="22555" name="Freeform 99"/>
            <p:cNvSpPr>
              <a:spLocks/>
            </p:cNvSpPr>
            <p:nvPr/>
          </p:nvSpPr>
          <p:spPr bwMode="auto">
            <a:xfrm>
              <a:off x="1125" y="1508"/>
              <a:ext cx="32" cy="43"/>
            </a:xfrm>
            <a:custGeom>
              <a:avLst/>
              <a:gdLst>
                <a:gd name="T0" fmla="*/ 1 w 63"/>
                <a:gd name="T1" fmla="*/ 0 h 43"/>
                <a:gd name="T2" fmla="*/ 1 w 63"/>
                <a:gd name="T3" fmla="*/ 0 h 43"/>
                <a:gd name="T4" fmla="*/ 0 w 63"/>
                <a:gd name="T5" fmla="*/ 20 h 43"/>
                <a:gd name="T6" fmla="*/ 1 w 63"/>
                <a:gd name="T7" fmla="*/ 43 h 43"/>
                <a:gd name="T8" fmla="*/ 1 w 63"/>
                <a:gd name="T9" fmla="*/ 37 h 43"/>
                <a:gd name="T10" fmla="*/ 1 w 63"/>
                <a:gd name="T11" fmla="*/ 30 h 43"/>
                <a:gd name="T12" fmla="*/ 1 w 63"/>
                <a:gd name="T13" fmla="*/ 7 h 43"/>
                <a:gd name="T14" fmla="*/ 1 w 63"/>
                <a:gd name="T15" fmla="*/ 14 h 43"/>
                <a:gd name="T16" fmla="*/ 1 w 63"/>
                <a:gd name="T17" fmla="*/ 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
                <a:gd name="T28" fmla="*/ 0 h 43"/>
                <a:gd name="T29" fmla="*/ 63 w 63"/>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 h="43">
                  <a:moveTo>
                    <a:pt x="23" y="0"/>
                  </a:moveTo>
                  <a:lnTo>
                    <a:pt x="23" y="0"/>
                  </a:lnTo>
                  <a:lnTo>
                    <a:pt x="0" y="20"/>
                  </a:lnTo>
                  <a:lnTo>
                    <a:pt x="21" y="43"/>
                  </a:lnTo>
                  <a:lnTo>
                    <a:pt x="42" y="37"/>
                  </a:lnTo>
                  <a:lnTo>
                    <a:pt x="63" y="30"/>
                  </a:lnTo>
                  <a:lnTo>
                    <a:pt x="42" y="7"/>
                  </a:lnTo>
                  <a:lnTo>
                    <a:pt x="21" y="14"/>
                  </a:lnTo>
                  <a:lnTo>
                    <a:pt x="23" y="0"/>
                  </a:lnTo>
                  <a:close/>
                </a:path>
              </a:pathLst>
            </a:custGeom>
            <a:solidFill>
              <a:srgbClr val="000000"/>
            </a:solidFill>
            <a:ln w="9525">
              <a:noFill/>
              <a:round/>
              <a:headEnd/>
              <a:tailEnd/>
            </a:ln>
          </p:spPr>
          <p:txBody>
            <a:bodyPr/>
            <a:lstStyle/>
            <a:p>
              <a:endParaRPr lang="en-US"/>
            </a:p>
          </p:txBody>
        </p:sp>
        <p:sp>
          <p:nvSpPr>
            <p:cNvPr id="22556" name="Freeform 100"/>
            <p:cNvSpPr>
              <a:spLocks/>
            </p:cNvSpPr>
            <p:nvPr/>
          </p:nvSpPr>
          <p:spPr bwMode="auto">
            <a:xfrm>
              <a:off x="1135" y="1538"/>
              <a:ext cx="897" cy="2248"/>
            </a:xfrm>
            <a:custGeom>
              <a:avLst/>
              <a:gdLst>
                <a:gd name="T0" fmla="*/ 0 w 1793"/>
                <a:gd name="T1" fmla="*/ 13 h 2248"/>
                <a:gd name="T2" fmla="*/ 3 w 1793"/>
                <a:gd name="T3" fmla="*/ 686 h 2248"/>
                <a:gd name="T4" fmla="*/ 1 w 1793"/>
                <a:gd name="T5" fmla="*/ 89 h 2248"/>
                <a:gd name="T6" fmla="*/ 1 w 1793"/>
                <a:gd name="T7" fmla="*/ 177 h 2248"/>
                <a:gd name="T8" fmla="*/ 1 w 1793"/>
                <a:gd name="T9" fmla="*/ 312 h 2248"/>
                <a:gd name="T10" fmla="*/ 2 w 1793"/>
                <a:gd name="T11" fmla="*/ 475 h 2248"/>
                <a:gd name="T12" fmla="*/ 3 w 1793"/>
                <a:gd name="T13" fmla="*/ 671 h 2248"/>
                <a:gd name="T14" fmla="*/ 3 w 1793"/>
                <a:gd name="T15" fmla="*/ 867 h 2248"/>
                <a:gd name="T16" fmla="*/ 3 w 1793"/>
                <a:gd name="T17" fmla="*/ 1075 h 2248"/>
                <a:gd name="T18" fmla="*/ 4 w 1793"/>
                <a:gd name="T19" fmla="*/ 1328 h 2248"/>
                <a:gd name="T20" fmla="*/ 4 w 1793"/>
                <a:gd name="T21" fmla="*/ 1566 h 2248"/>
                <a:gd name="T22" fmla="*/ 5 w 1793"/>
                <a:gd name="T23" fmla="*/ 1808 h 2248"/>
                <a:gd name="T24" fmla="*/ 5 w 1793"/>
                <a:gd name="T25" fmla="*/ 2059 h 2248"/>
                <a:gd name="T26" fmla="*/ 8 w 1793"/>
                <a:gd name="T27" fmla="*/ 2248 h 2248"/>
                <a:gd name="T28" fmla="*/ 7 w 1793"/>
                <a:gd name="T29" fmla="*/ 2211 h 2248"/>
                <a:gd name="T30" fmla="*/ 5 w 1793"/>
                <a:gd name="T31" fmla="*/ 2041 h 2248"/>
                <a:gd name="T32" fmla="*/ 5 w 1793"/>
                <a:gd name="T33" fmla="*/ 1806 h 2248"/>
                <a:gd name="T34" fmla="*/ 4 w 1793"/>
                <a:gd name="T35" fmla="*/ 1559 h 2248"/>
                <a:gd name="T36" fmla="*/ 4 w 1793"/>
                <a:gd name="T37" fmla="*/ 1315 h 2248"/>
                <a:gd name="T38" fmla="*/ 4 w 1793"/>
                <a:gd name="T39" fmla="*/ 1098 h 2248"/>
                <a:gd name="T40" fmla="*/ 3 w 1793"/>
                <a:gd name="T41" fmla="*/ 858 h 2248"/>
                <a:gd name="T42" fmla="*/ 3 w 1793"/>
                <a:gd name="T43" fmla="*/ 641 h 2248"/>
                <a:gd name="T44" fmla="*/ 2 w 1793"/>
                <a:gd name="T45" fmla="*/ 464 h 2248"/>
                <a:gd name="T46" fmla="*/ 2 w 1793"/>
                <a:gd name="T47" fmla="*/ 301 h 2248"/>
                <a:gd name="T48" fmla="*/ 1 w 1793"/>
                <a:gd name="T49" fmla="*/ 166 h 2248"/>
                <a:gd name="T50" fmla="*/ 1 w 1793"/>
                <a:gd name="T51" fmla="*/ 52 h 2248"/>
                <a:gd name="T52" fmla="*/ 1 w 1793"/>
                <a:gd name="T53" fmla="*/ 0 h 2248"/>
                <a:gd name="T54" fmla="*/ 1 w 1793"/>
                <a:gd name="T55" fmla="*/ 7 h 2248"/>
                <a:gd name="T56" fmla="*/ 0 w 1793"/>
                <a:gd name="T57" fmla="*/ 13 h 224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93"/>
                <a:gd name="T88" fmla="*/ 0 h 2248"/>
                <a:gd name="T89" fmla="*/ 1793 w 1793"/>
                <a:gd name="T90" fmla="*/ 2248 h 224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93" h="2248">
                  <a:moveTo>
                    <a:pt x="0" y="13"/>
                  </a:moveTo>
                  <a:lnTo>
                    <a:pt x="625" y="686"/>
                  </a:lnTo>
                  <a:lnTo>
                    <a:pt x="69" y="89"/>
                  </a:lnTo>
                  <a:lnTo>
                    <a:pt x="145" y="177"/>
                  </a:lnTo>
                  <a:lnTo>
                    <a:pt x="255" y="312"/>
                  </a:lnTo>
                  <a:lnTo>
                    <a:pt x="380" y="475"/>
                  </a:lnTo>
                  <a:lnTo>
                    <a:pt x="519" y="671"/>
                  </a:lnTo>
                  <a:lnTo>
                    <a:pt x="646" y="867"/>
                  </a:lnTo>
                  <a:lnTo>
                    <a:pt x="764" y="1075"/>
                  </a:lnTo>
                  <a:lnTo>
                    <a:pt x="882" y="1328"/>
                  </a:lnTo>
                  <a:lnTo>
                    <a:pt x="970" y="1566"/>
                  </a:lnTo>
                  <a:lnTo>
                    <a:pt x="1030" y="1808"/>
                  </a:lnTo>
                  <a:lnTo>
                    <a:pt x="1053" y="2059"/>
                  </a:lnTo>
                  <a:lnTo>
                    <a:pt x="1793" y="2248"/>
                  </a:lnTo>
                  <a:lnTo>
                    <a:pt x="1769" y="2211"/>
                  </a:lnTo>
                  <a:lnTo>
                    <a:pt x="1104" y="2041"/>
                  </a:lnTo>
                  <a:lnTo>
                    <a:pt x="1080" y="1806"/>
                  </a:lnTo>
                  <a:lnTo>
                    <a:pt x="1021" y="1559"/>
                  </a:lnTo>
                  <a:lnTo>
                    <a:pt x="932" y="1315"/>
                  </a:lnTo>
                  <a:lnTo>
                    <a:pt x="826" y="1098"/>
                  </a:lnTo>
                  <a:lnTo>
                    <a:pt x="693" y="858"/>
                  </a:lnTo>
                  <a:lnTo>
                    <a:pt x="554" y="641"/>
                  </a:lnTo>
                  <a:lnTo>
                    <a:pt x="426" y="464"/>
                  </a:lnTo>
                  <a:lnTo>
                    <a:pt x="301" y="301"/>
                  </a:lnTo>
                  <a:lnTo>
                    <a:pt x="191" y="166"/>
                  </a:lnTo>
                  <a:lnTo>
                    <a:pt x="92" y="52"/>
                  </a:lnTo>
                  <a:lnTo>
                    <a:pt x="44" y="0"/>
                  </a:lnTo>
                  <a:lnTo>
                    <a:pt x="21" y="7"/>
                  </a:lnTo>
                  <a:lnTo>
                    <a:pt x="0" y="13"/>
                  </a:lnTo>
                  <a:close/>
                </a:path>
              </a:pathLst>
            </a:custGeom>
            <a:solidFill>
              <a:srgbClr val="000000"/>
            </a:solidFill>
            <a:ln w="9525">
              <a:noFill/>
              <a:round/>
              <a:headEnd/>
              <a:tailEnd/>
            </a:ln>
          </p:spPr>
          <p:txBody>
            <a:bodyPr/>
            <a:lstStyle/>
            <a:p>
              <a:endParaRPr lang="en-US"/>
            </a:p>
          </p:txBody>
        </p:sp>
        <p:sp>
          <p:nvSpPr>
            <p:cNvPr id="22557" name="Freeform 101"/>
            <p:cNvSpPr>
              <a:spLocks/>
            </p:cNvSpPr>
            <p:nvPr/>
          </p:nvSpPr>
          <p:spPr bwMode="auto">
            <a:xfrm>
              <a:off x="1133" y="295"/>
              <a:ext cx="2604" cy="1241"/>
            </a:xfrm>
            <a:custGeom>
              <a:avLst/>
              <a:gdLst>
                <a:gd name="T0" fmla="*/ 21 w 5206"/>
                <a:gd name="T1" fmla="*/ 29 h 1241"/>
                <a:gd name="T2" fmla="*/ 21 w 5206"/>
                <a:gd name="T3" fmla="*/ 0 h 1241"/>
                <a:gd name="T4" fmla="*/ 18 w 5206"/>
                <a:gd name="T5" fmla="*/ 89 h 1241"/>
                <a:gd name="T6" fmla="*/ 16 w 5206"/>
                <a:gd name="T7" fmla="*/ 255 h 1241"/>
                <a:gd name="T8" fmla="*/ 15 w 5206"/>
                <a:gd name="T9" fmla="*/ 410 h 1241"/>
                <a:gd name="T10" fmla="*/ 13 w 5206"/>
                <a:gd name="T11" fmla="*/ 542 h 1241"/>
                <a:gd name="T12" fmla="*/ 11 w 5206"/>
                <a:gd name="T13" fmla="*/ 682 h 1241"/>
                <a:gd name="T14" fmla="*/ 9 w 5206"/>
                <a:gd name="T15" fmla="*/ 800 h 1241"/>
                <a:gd name="T16" fmla="*/ 7 w 5206"/>
                <a:gd name="T17" fmla="*/ 902 h 1241"/>
                <a:gd name="T18" fmla="*/ 6 w 5206"/>
                <a:gd name="T19" fmla="*/ 994 h 1241"/>
                <a:gd name="T20" fmla="*/ 4 w 5206"/>
                <a:gd name="T21" fmla="*/ 1076 h 1241"/>
                <a:gd name="T22" fmla="*/ 3 w 5206"/>
                <a:gd name="T23" fmla="*/ 1132 h 1241"/>
                <a:gd name="T24" fmla="*/ 1 w 5206"/>
                <a:gd name="T25" fmla="*/ 1177 h 1241"/>
                <a:gd name="T26" fmla="*/ 1 w 5206"/>
                <a:gd name="T27" fmla="*/ 1201 h 1241"/>
                <a:gd name="T28" fmla="*/ 0 w 5206"/>
                <a:gd name="T29" fmla="*/ 1213 h 1241"/>
                <a:gd name="T30" fmla="*/ 1 w 5206"/>
                <a:gd name="T31" fmla="*/ 1227 h 1241"/>
                <a:gd name="T32" fmla="*/ 1 w 5206"/>
                <a:gd name="T33" fmla="*/ 1241 h 1241"/>
                <a:gd name="T34" fmla="*/ 1 w 5206"/>
                <a:gd name="T35" fmla="*/ 1236 h 1241"/>
                <a:gd name="T36" fmla="*/ 1 w 5206"/>
                <a:gd name="T37" fmla="*/ 1203 h 1241"/>
                <a:gd name="T38" fmla="*/ 3 w 5206"/>
                <a:gd name="T39" fmla="*/ 1158 h 1241"/>
                <a:gd name="T40" fmla="*/ 4 w 5206"/>
                <a:gd name="T41" fmla="*/ 1093 h 1241"/>
                <a:gd name="T42" fmla="*/ 6 w 5206"/>
                <a:gd name="T43" fmla="*/ 1020 h 1241"/>
                <a:gd name="T44" fmla="*/ 7 w 5206"/>
                <a:gd name="T45" fmla="*/ 928 h 1241"/>
                <a:gd name="T46" fmla="*/ 9 w 5206"/>
                <a:gd name="T47" fmla="*/ 819 h 1241"/>
                <a:gd name="T48" fmla="*/ 11 w 5206"/>
                <a:gd name="T49" fmla="*/ 701 h 1241"/>
                <a:gd name="T50" fmla="*/ 13 w 5206"/>
                <a:gd name="T51" fmla="*/ 579 h 1241"/>
                <a:gd name="T52" fmla="*/ 15 w 5206"/>
                <a:gd name="T53" fmla="*/ 427 h 1241"/>
                <a:gd name="T54" fmla="*/ 16 w 5206"/>
                <a:gd name="T55" fmla="*/ 278 h 1241"/>
                <a:gd name="T56" fmla="*/ 18 w 5206"/>
                <a:gd name="T57" fmla="*/ 118 h 1241"/>
                <a:gd name="T58" fmla="*/ 21 w 5206"/>
                <a:gd name="T59" fmla="*/ 29 h 124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206"/>
                <a:gd name="T91" fmla="*/ 0 h 1241"/>
                <a:gd name="T92" fmla="*/ 5206 w 5206"/>
                <a:gd name="T93" fmla="*/ 1241 h 124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206" h="1241">
                  <a:moveTo>
                    <a:pt x="5206" y="29"/>
                  </a:moveTo>
                  <a:lnTo>
                    <a:pt x="5199" y="0"/>
                  </a:lnTo>
                  <a:lnTo>
                    <a:pt x="4369" y="89"/>
                  </a:lnTo>
                  <a:lnTo>
                    <a:pt x="4037" y="255"/>
                  </a:lnTo>
                  <a:lnTo>
                    <a:pt x="3632" y="410"/>
                  </a:lnTo>
                  <a:lnTo>
                    <a:pt x="3223" y="542"/>
                  </a:lnTo>
                  <a:lnTo>
                    <a:pt x="2711" y="682"/>
                  </a:lnTo>
                  <a:lnTo>
                    <a:pt x="2219" y="800"/>
                  </a:lnTo>
                  <a:lnTo>
                    <a:pt x="1754" y="902"/>
                  </a:lnTo>
                  <a:lnTo>
                    <a:pt x="1295" y="994"/>
                  </a:lnTo>
                  <a:lnTo>
                    <a:pt x="853" y="1076"/>
                  </a:lnTo>
                  <a:lnTo>
                    <a:pt x="521" y="1132"/>
                  </a:lnTo>
                  <a:lnTo>
                    <a:pt x="243" y="1177"/>
                  </a:lnTo>
                  <a:lnTo>
                    <a:pt x="96" y="1201"/>
                  </a:lnTo>
                  <a:lnTo>
                    <a:pt x="0" y="1213"/>
                  </a:lnTo>
                  <a:lnTo>
                    <a:pt x="4" y="1227"/>
                  </a:lnTo>
                  <a:lnTo>
                    <a:pt x="8" y="1241"/>
                  </a:lnTo>
                  <a:lnTo>
                    <a:pt x="42" y="1236"/>
                  </a:lnTo>
                  <a:lnTo>
                    <a:pt x="255" y="1203"/>
                  </a:lnTo>
                  <a:lnTo>
                    <a:pt x="533" y="1158"/>
                  </a:lnTo>
                  <a:lnTo>
                    <a:pt x="915" y="1093"/>
                  </a:lnTo>
                  <a:lnTo>
                    <a:pt x="1310" y="1020"/>
                  </a:lnTo>
                  <a:lnTo>
                    <a:pt x="1769" y="928"/>
                  </a:lnTo>
                  <a:lnTo>
                    <a:pt x="2273" y="819"/>
                  </a:lnTo>
                  <a:lnTo>
                    <a:pt x="2761" y="701"/>
                  </a:lnTo>
                  <a:lnTo>
                    <a:pt x="3199" y="579"/>
                  </a:lnTo>
                  <a:lnTo>
                    <a:pt x="3678" y="427"/>
                  </a:lnTo>
                  <a:lnTo>
                    <a:pt x="4064" y="278"/>
                  </a:lnTo>
                  <a:lnTo>
                    <a:pt x="4388" y="118"/>
                  </a:lnTo>
                  <a:lnTo>
                    <a:pt x="5206" y="29"/>
                  </a:lnTo>
                  <a:close/>
                </a:path>
              </a:pathLst>
            </a:custGeom>
            <a:solidFill>
              <a:srgbClr val="000000"/>
            </a:solidFill>
            <a:ln w="9525">
              <a:noFill/>
              <a:round/>
              <a:headEnd/>
              <a:tailEnd/>
            </a:ln>
          </p:spPr>
          <p:txBody>
            <a:bodyPr/>
            <a:lstStyle/>
            <a:p>
              <a:endParaRPr lang="en-US"/>
            </a:p>
          </p:txBody>
        </p:sp>
        <p:sp>
          <p:nvSpPr>
            <p:cNvPr id="22558" name="Freeform 102"/>
            <p:cNvSpPr>
              <a:spLocks/>
            </p:cNvSpPr>
            <p:nvPr/>
          </p:nvSpPr>
          <p:spPr bwMode="auto">
            <a:xfrm>
              <a:off x="1133" y="1508"/>
              <a:ext cx="365" cy="88"/>
            </a:xfrm>
            <a:custGeom>
              <a:avLst/>
              <a:gdLst>
                <a:gd name="T0" fmla="*/ 0 w 1177"/>
                <a:gd name="T1" fmla="*/ 0 h 150"/>
                <a:gd name="T2" fmla="*/ 0 w 1177"/>
                <a:gd name="T3" fmla="*/ 0 h 150"/>
                <a:gd name="T4" fmla="*/ 0 w 1177"/>
                <a:gd name="T5" fmla="*/ 1 h 150"/>
                <a:gd name="T6" fmla="*/ 0 w 1177"/>
                <a:gd name="T7" fmla="*/ 1 h 150"/>
                <a:gd name="T8" fmla="*/ 0 w 1177"/>
                <a:gd name="T9" fmla="*/ 2 h 150"/>
                <a:gd name="T10" fmla="*/ 0 w 1177"/>
                <a:gd name="T11" fmla="*/ 2 h 150"/>
                <a:gd name="T12" fmla="*/ 0 w 1177"/>
                <a:gd name="T13" fmla="*/ 1 h 150"/>
                <a:gd name="T14" fmla="*/ 0 w 1177"/>
                <a:gd name="T15" fmla="*/ 0 h 150"/>
                <a:gd name="T16" fmla="*/ 0 w 1177"/>
                <a:gd name="T17" fmla="*/ 1 h 150"/>
                <a:gd name="T18" fmla="*/ 0 w 1177"/>
                <a:gd name="T19" fmla="*/ 0 h 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77"/>
                <a:gd name="T31" fmla="*/ 0 h 150"/>
                <a:gd name="T32" fmla="*/ 1177 w 1177"/>
                <a:gd name="T33" fmla="*/ 150 h 1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77" h="150">
                  <a:moveTo>
                    <a:pt x="0" y="0"/>
                  </a:moveTo>
                  <a:lnTo>
                    <a:pt x="0" y="0"/>
                  </a:lnTo>
                  <a:lnTo>
                    <a:pt x="2" y="28"/>
                  </a:lnTo>
                  <a:lnTo>
                    <a:pt x="681" y="79"/>
                  </a:lnTo>
                  <a:lnTo>
                    <a:pt x="1177" y="150"/>
                  </a:lnTo>
                  <a:lnTo>
                    <a:pt x="1177" y="121"/>
                  </a:lnTo>
                  <a:lnTo>
                    <a:pt x="700" y="51"/>
                  </a:lnTo>
                  <a:lnTo>
                    <a:pt x="6" y="0"/>
                  </a:lnTo>
                  <a:lnTo>
                    <a:pt x="4" y="14"/>
                  </a:lnTo>
                  <a:lnTo>
                    <a:pt x="0" y="0"/>
                  </a:lnTo>
                  <a:close/>
                </a:path>
              </a:pathLst>
            </a:custGeom>
            <a:solidFill>
              <a:srgbClr val="000000"/>
            </a:solidFill>
            <a:ln w="9525">
              <a:noFill/>
              <a:round/>
              <a:headEnd/>
              <a:tailEnd/>
            </a:ln>
          </p:spPr>
          <p:txBody>
            <a:bodyPr/>
            <a:lstStyle/>
            <a:p>
              <a:endParaRPr lang="en-US"/>
            </a:p>
          </p:txBody>
        </p:sp>
        <p:sp>
          <p:nvSpPr>
            <p:cNvPr id="22559" name="Freeform 103"/>
            <p:cNvSpPr>
              <a:spLocks/>
            </p:cNvSpPr>
            <p:nvPr/>
          </p:nvSpPr>
          <p:spPr bwMode="auto">
            <a:xfrm>
              <a:off x="3722" y="308"/>
              <a:ext cx="259" cy="1907"/>
            </a:xfrm>
            <a:custGeom>
              <a:avLst/>
              <a:gdLst>
                <a:gd name="T0" fmla="*/ 2 w 518"/>
                <a:gd name="T1" fmla="*/ 1907 h 1907"/>
                <a:gd name="T2" fmla="*/ 2 w 518"/>
                <a:gd name="T3" fmla="*/ 1907 h 1907"/>
                <a:gd name="T4" fmla="*/ 2 w 518"/>
                <a:gd name="T5" fmla="*/ 1862 h 1907"/>
                <a:gd name="T6" fmla="*/ 2 w 518"/>
                <a:gd name="T7" fmla="*/ 1750 h 1907"/>
                <a:gd name="T8" fmla="*/ 2 w 518"/>
                <a:gd name="T9" fmla="*/ 1594 h 1907"/>
                <a:gd name="T10" fmla="*/ 2 w 518"/>
                <a:gd name="T11" fmla="*/ 1396 h 1907"/>
                <a:gd name="T12" fmla="*/ 1 w 518"/>
                <a:gd name="T13" fmla="*/ 1175 h 1907"/>
                <a:gd name="T14" fmla="*/ 1 w 518"/>
                <a:gd name="T15" fmla="*/ 940 h 1907"/>
                <a:gd name="T16" fmla="*/ 1 w 518"/>
                <a:gd name="T17" fmla="*/ 707 h 1907"/>
                <a:gd name="T18" fmla="*/ 1 w 518"/>
                <a:gd name="T19" fmla="*/ 487 h 1907"/>
                <a:gd name="T20" fmla="*/ 1 w 518"/>
                <a:gd name="T21" fmla="*/ 294 h 1907"/>
                <a:gd name="T22" fmla="*/ 1 w 518"/>
                <a:gd name="T23" fmla="*/ 139 h 1907"/>
                <a:gd name="T24" fmla="*/ 1 w 518"/>
                <a:gd name="T25" fmla="*/ 37 h 1907"/>
                <a:gd name="T26" fmla="*/ 1 w 518"/>
                <a:gd name="T27" fmla="*/ 0 h 1907"/>
                <a:gd name="T28" fmla="*/ 1 w 518"/>
                <a:gd name="T29" fmla="*/ 2 h 1907"/>
                <a:gd name="T30" fmla="*/ 0 w 518"/>
                <a:gd name="T31" fmla="*/ 3 h 1907"/>
                <a:gd name="T32" fmla="*/ 1 w 518"/>
                <a:gd name="T33" fmla="*/ 40 h 1907"/>
                <a:gd name="T34" fmla="*/ 1 w 518"/>
                <a:gd name="T35" fmla="*/ 142 h 1907"/>
                <a:gd name="T36" fmla="*/ 1 w 518"/>
                <a:gd name="T37" fmla="*/ 296 h 1907"/>
                <a:gd name="T38" fmla="*/ 1 w 518"/>
                <a:gd name="T39" fmla="*/ 489 h 1907"/>
                <a:gd name="T40" fmla="*/ 1 w 518"/>
                <a:gd name="T41" fmla="*/ 709 h 1907"/>
                <a:gd name="T42" fmla="*/ 1 w 518"/>
                <a:gd name="T43" fmla="*/ 942 h 1907"/>
                <a:gd name="T44" fmla="*/ 1 w 518"/>
                <a:gd name="T45" fmla="*/ 1177 h 1907"/>
                <a:gd name="T46" fmla="*/ 1 w 518"/>
                <a:gd name="T47" fmla="*/ 1399 h 1907"/>
                <a:gd name="T48" fmla="*/ 2 w 518"/>
                <a:gd name="T49" fmla="*/ 1596 h 1907"/>
                <a:gd name="T50" fmla="*/ 2 w 518"/>
                <a:gd name="T51" fmla="*/ 1757 h 1907"/>
                <a:gd name="T52" fmla="*/ 2 w 518"/>
                <a:gd name="T53" fmla="*/ 1862 h 1907"/>
                <a:gd name="T54" fmla="*/ 2 w 518"/>
                <a:gd name="T55" fmla="*/ 1907 h 19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18"/>
                <a:gd name="T85" fmla="*/ 0 h 1907"/>
                <a:gd name="T86" fmla="*/ 518 w 518"/>
                <a:gd name="T87" fmla="*/ 1907 h 19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18" h="1907">
                  <a:moveTo>
                    <a:pt x="464" y="1907"/>
                  </a:moveTo>
                  <a:lnTo>
                    <a:pt x="514" y="1907"/>
                  </a:lnTo>
                  <a:lnTo>
                    <a:pt x="518" y="1862"/>
                  </a:lnTo>
                  <a:lnTo>
                    <a:pt x="502" y="1750"/>
                  </a:lnTo>
                  <a:lnTo>
                    <a:pt x="469" y="1594"/>
                  </a:lnTo>
                  <a:lnTo>
                    <a:pt x="423" y="1396"/>
                  </a:lnTo>
                  <a:lnTo>
                    <a:pt x="369" y="1175"/>
                  </a:lnTo>
                  <a:lnTo>
                    <a:pt x="307" y="940"/>
                  </a:lnTo>
                  <a:lnTo>
                    <a:pt x="245" y="707"/>
                  </a:lnTo>
                  <a:lnTo>
                    <a:pt x="186" y="487"/>
                  </a:lnTo>
                  <a:lnTo>
                    <a:pt x="132" y="294"/>
                  </a:lnTo>
                  <a:lnTo>
                    <a:pt x="89" y="139"/>
                  </a:lnTo>
                  <a:lnTo>
                    <a:pt x="60" y="37"/>
                  </a:lnTo>
                  <a:lnTo>
                    <a:pt x="51" y="0"/>
                  </a:lnTo>
                  <a:lnTo>
                    <a:pt x="25" y="2"/>
                  </a:lnTo>
                  <a:lnTo>
                    <a:pt x="0" y="3"/>
                  </a:lnTo>
                  <a:lnTo>
                    <a:pt x="10" y="40"/>
                  </a:lnTo>
                  <a:lnTo>
                    <a:pt x="39" y="142"/>
                  </a:lnTo>
                  <a:lnTo>
                    <a:pt x="81" y="296"/>
                  </a:lnTo>
                  <a:lnTo>
                    <a:pt x="135" y="489"/>
                  </a:lnTo>
                  <a:lnTo>
                    <a:pt x="195" y="709"/>
                  </a:lnTo>
                  <a:lnTo>
                    <a:pt x="257" y="942"/>
                  </a:lnTo>
                  <a:lnTo>
                    <a:pt x="319" y="1177"/>
                  </a:lnTo>
                  <a:lnTo>
                    <a:pt x="373" y="1399"/>
                  </a:lnTo>
                  <a:lnTo>
                    <a:pt x="419" y="1596"/>
                  </a:lnTo>
                  <a:lnTo>
                    <a:pt x="452" y="1757"/>
                  </a:lnTo>
                  <a:lnTo>
                    <a:pt x="467" y="1862"/>
                  </a:lnTo>
                  <a:lnTo>
                    <a:pt x="464" y="1907"/>
                  </a:lnTo>
                  <a:close/>
                </a:path>
              </a:pathLst>
            </a:custGeom>
            <a:solidFill>
              <a:srgbClr val="000000"/>
            </a:solidFill>
            <a:ln w="9525">
              <a:noFill/>
              <a:round/>
              <a:headEnd/>
              <a:tailEnd/>
            </a:ln>
          </p:spPr>
          <p:txBody>
            <a:bodyPr/>
            <a:lstStyle/>
            <a:p>
              <a:endParaRPr lang="en-US"/>
            </a:p>
          </p:txBody>
        </p:sp>
        <p:sp>
          <p:nvSpPr>
            <p:cNvPr id="22560" name="Freeform 104"/>
            <p:cNvSpPr>
              <a:spLocks/>
            </p:cNvSpPr>
            <p:nvPr/>
          </p:nvSpPr>
          <p:spPr bwMode="auto">
            <a:xfrm>
              <a:off x="3722" y="299"/>
              <a:ext cx="25" cy="26"/>
            </a:xfrm>
            <a:custGeom>
              <a:avLst/>
              <a:gdLst>
                <a:gd name="T0" fmla="*/ 0 w 51"/>
                <a:gd name="T1" fmla="*/ 11 h 26"/>
                <a:gd name="T2" fmla="*/ 0 w 51"/>
                <a:gd name="T3" fmla="*/ 21 h 26"/>
                <a:gd name="T4" fmla="*/ 0 w 51"/>
                <a:gd name="T5" fmla="*/ 26 h 26"/>
                <a:gd name="T6" fmla="*/ 0 w 51"/>
                <a:gd name="T7" fmla="*/ 15 h 26"/>
                <a:gd name="T8" fmla="*/ 0 w 51"/>
                <a:gd name="T9" fmla="*/ 4 h 26"/>
                <a:gd name="T10" fmla="*/ 0 w 51"/>
                <a:gd name="T11" fmla="*/ 0 h 26"/>
                <a:gd name="T12" fmla="*/ 0 w 51"/>
                <a:gd name="T13" fmla="*/ 12 h 26"/>
                <a:gd name="T14" fmla="*/ 0 w 51"/>
                <a:gd name="T15" fmla="*/ 12 h 26"/>
                <a:gd name="T16" fmla="*/ 0 w 51"/>
                <a:gd name="T17" fmla="*/ 11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26"/>
                <a:gd name="T29" fmla="*/ 51 w 51"/>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26">
                  <a:moveTo>
                    <a:pt x="25" y="11"/>
                  </a:moveTo>
                  <a:lnTo>
                    <a:pt x="10" y="21"/>
                  </a:lnTo>
                  <a:lnTo>
                    <a:pt x="20" y="26"/>
                  </a:lnTo>
                  <a:lnTo>
                    <a:pt x="35" y="15"/>
                  </a:lnTo>
                  <a:lnTo>
                    <a:pt x="51" y="4"/>
                  </a:lnTo>
                  <a:lnTo>
                    <a:pt x="41" y="0"/>
                  </a:lnTo>
                  <a:lnTo>
                    <a:pt x="0" y="12"/>
                  </a:lnTo>
                  <a:lnTo>
                    <a:pt x="25" y="11"/>
                  </a:lnTo>
                  <a:close/>
                </a:path>
              </a:pathLst>
            </a:custGeom>
            <a:solidFill>
              <a:srgbClr val="000000"/>
            </a:solidFill>
            <a:ln w="9525">
              <a:noFill/>
              <a:round/>
              <a:headEnd/>
              <a:tailEnd/>
            </a:ln>
          </p:spPr>
          <p:txBody>
            <a:bodyPr/>
            <a:lstStyle/>
            <a:p>
              <a:endParaRPr lang="en-US"/>
            </a:p>
          </p:txBody>
        </p:sp>
        <p:sp>
          <p:nvSpPr>
            <p:cNvPr id="22561" name="Freeform 105"/>
            <p:cNvSpPr>
              <a:spLocks/>
            </p:cNvSpPr>
            <p:nvPr/>
          </p:nvSpPr>
          <p:spPr bwMode="auto">
            <a:xfrm>
              <a:off x="3727" y="303"/>
              <a:ext cx="25" cy="11"/>
            </a:xfrm>
            <a:custGeom>
              <a:avLst/>
              <a:gdLst>
                <a:gd name="T0" fmla="*/ 1 w 50"/>
                <a:gd name="T1" fmla="*/ 11 h 11"/>
                <a:gd name="T2" fmla="*/ 0 w 50"/>
                <a:gd name="T3" fmla="*/ 10 h 11"/>
                <a:gd name="T4" fmla="*/ 1 w 50"/>
                <a:gd name="T5" fmla="*/ 4 h 11"/>
                <a:gd name="T6" fmla="*/ 1 w 50"/>
                <a:gd name="T7" fmla="*/ 0 h 11"/>
                <a:gd name="T8" fmla="*/ 1 w 50"/>
                <a:gd name="T9" fmla="*/ 11 h 11"/>
                <a:gd name="T10" fmla="*/ 0 60000 65536"/>
                <a:gd name="T11" fmla="*/ 0 60000 65536"/>
                <a:gd name="T12" fmla="*/ 0 60000 65536"/>
                <a:gd name="T13" fmla="*/ 0 60000 65536"/>
                <a:gd name="T14" fmla="*/ 0 60000 65536"/>
                <a:gd name="T15" fmla="*/ 0 w 50"/>
                <a:gd name="T16" fmla="*/ 0 h 11"/>
                <a:gd name="T17" fmla="*/ 50 w 50"/>
                <a:gd name="T18" fmla="*/ 11 h 11"/>
              </a:gdLst>
              <a:ahLst/>
              <a:cxnLst>
                <a:cxn ang="T10">
                  <a:pos x="T0" y="T1"/>
                </a:cxn>
                <a:cxn ang="T11">
                  <a:pos x="T2" y="T3"/>
                </a:cxn>
                <a:cxn ang="T12">
                  <a:pos x="T4" y="T5"/>
                </a:cxn>
                <a:cxn ang="T13">
                  <a:pos x="T6" y="T7"/>
                </a:cxn>
                <a:cxn ang="T14">
                  <a:pos x="T8" y="T9"/>
                </a:cxn>
              </a:cxnLst>
              <a:rect l="T15" t="T16" r="T17" b="T18"/>
              <a:pathLst>
                <a:path w="50" h="11">
                  <a:moveTo>
                    <a:pt x="25" y="11"/>
                  </a:moveTo>
                  <a:lnTo>
                    <a:pt x="0" y="10"/>
                  </a:lnTo>
                  <a:lnTo>
                    <a:pt x="50" y="4"/>
                  </a:lnTo>
                  <a:lnTo>
                    <a:pt x="41" y="0"/>
                  </a:lnTo>
                  <a:lnTo>
                    <a:pt x="25" y="11"/>
                  </a:lnTo>
                  <a:close/>
                </a:path>
              </a:pathLst>
            </a:custGeom>
            <a:solidFill>
              <a:srgbClr val="000000"/>
            </a:solidFill>
            <a:ln w="9525">
              <a:noFill/>
              <a:round/>
              <a:headEnd/>
              <a:tailEnd/>
            </a:ln>
          </p:spPr>
          <p:txBody>
            <a:bodyPr/>
            <a:lstStyle/>
            <a:p>
              <a:endParaRPr lang="en-US"/>
            </a:p>
          </p:txBody>
        </p:sp>
        <p:sp>
          <p:nvSpPr>
            <p:cNvPr id="22562" name="Freeform 106"/>
            <p:cNvSpPr>
              <a:spLocks/>
            </p:cNvSpPr>
            <p:nvPr/>
          </p:nvSpPr>
          <p:spPr bwMode="auto">
            <a:xfrm>
              <a:off x="1478" y="307"/>
              <a:ext cx="2274" cy="1281"/>
            </a:xfrm>
            <a:custGeom>
              <a:avLst/>
              <a:gdLst>
                <a:gd name="T0" fmla="*/ 18 w 4548"/>
                <a:gd name="T1" fmla="*/ 6 h 1281"/>
                <a:gd name="T2" fmla="*/ 18 w 4548"/>
                <a:gd name="T3" fmla="*/ 17 h 1281"/>
                <a:gd name="T4" fmla="*/ 18 w 4548"/>
                <a:gd name="T5" fmla="*/ 38 h 1281"/>
                <a:gd name="T6" fmla="*/ 18 w 4548"/>
                <a:gd name="T7" fmla="*/ 68 h 1281"/>
                <a:gd name="T8" fmla="*/ 18 w 4548"/>
                <a:gd name="T9" fmla="*/ 112 h 1281"/>
                <a:gd name="T10" fmla="*/ 17 w 4548"/>
                <a:gd name="T11" fmla="*/ 164 h 1281"/>
                <a:gd name="T12" fmla="*/ 17 w 4548"/>
                <a:gd name="T13" fmla="*/ 231 h 1281"/>
                <a:gd name="T14" fmla="*/ 15 w 4548"/>
                <a:gd name="T15" fmla="*/ 306 h 1281"/>
                <a:gd name="T16" fmla="*/ 15 w 4548"/>
                <a:gd name="T17" fmla="*/ 398 h 1281"/>
                <a:gd name="T18" fmla="*/ 14 w 4548"/>
                <a:gd name="T19" fmla="*/ 501 h 1281"/>
                <a:gd name="T20" fmla="*/ 12 w 4548"/>
                <a:gd name="T21" fmla="*/ 632 h 1281"/>
                <a:gd name="T22" fmla="*/ 11 w 4548"/>
                <a:gd name="T23" fmla="*/ 746 h 1281"/>
                <a:gd name="T24" fmla="*/ 9 w 4548"/>
                <a:gd name="T25" fmla="*/ 862 h 1281"/>
                <a:gd name="T26" fmla="*/ 8 w 4548"/>
                <a:gd name="T27" fmla="*/ 975 h 1281"/>
                <a:gd name="T28" fmla="*/ 6 w 4548"/>
                <a:gd name="T29" fmla="*/ 1056 h 1281"/>
                <a:gd name="T30" fmla="*/ 5 w 4548"/>
                <a:gd name="T31" fmla="*/ 1120 h 1281"/>
                <a:gd name="T32" fmla="*/ 5 w 4548"/>
                <a:gd name="T33" fmla="*/ 1165 h 1281"/>
                <a:gd name="T34" fmla="*/ 3 w 4548"/>
                <a:gd name="T35" fmla="*/ 1202 h 1281"/>
                <a:gd name="T36" fmla="*/ 2 w 4548"/>
                <a:gd name="T37" fmla="*/ 1227 h 1281"/>
                <a:gd name="T38" fmla="*/ 1 w 4548"/>
                <a:gd name="T39" fmla="*/ 1242 h 1281"/>
                <a:gd name="T40" fmla="*/ 1 w 4548"/>
                <a:gd name="T41" fmla="*/ 1250 h 1281"/>
                <a:gd name="T42" fmla="*/ 1 w 4548"/>
                <a:gd name="T43" fmla="*/ 1253 h 1281"/>
                <a:gd name="T44" fmla="*/ 1 w 4548"/>
                <a:gd name="T45" fmla="*/ 1253 h 1281"/>
                <a:gd name="T46" fmla="*/ 1 w 4548"/>
                <a:gd name="T47" fmla="*/ 1252 h 1281"/>
                <a:gd name="T48" fmla="*/ 1 w 4548"/>
                <a:gd name="T49" fmla="*/ 1266 h 1281"/>
                <a:gd name="T50" fmla="*/ 0 w 4548"/>
                <a:gd name="T51" fmla="*/ 1280 h 1281"/>
                <a:gd name="T52" fmla="*/ 1 w 4548"/>
                <a:gd name="T53" fmla="*/ 1281 h 1281"/>
                <a:gd name="T54" fmla="*/ 1 w 4548"/>
                <a:gd name="T55" fmla="*/ 1281 h 1281"/>
                <a:gd name="T56" fmla="*/ 1 w 4548"/>
                <a:gd name="T57" fmla="*/ 1278 h 1281"/>
                <a:gd name="T58" fmla="*/ 1 w 4548"/>
                <a:gd name="T59" fmla="*/ 1270 h 1281"/>
                <a:gd name="T60" fmla="*/ 2 w 4548"/>
                <a:gd name="T61" fmla="*/ 1255 h 1281"/>
                <a:gd name="T62" fmla="*/ 3 w 4548"/>
                <a:gd name="T63" fmla="*/ 1230 h 1281"/>
                <a:gd name="T64" fmla="*/ 4 w 4548"/>
                <a:gd name="T65" fmla="*/ 1197 h 1281"/>
                <a:gd name="T66" fmla="*/ 5 w 4548"/>
                <a:gd name="T67" fmla="*/ 1144 h 1281"/>
                <a:gd name="T68" fmla="*/ 7 w 4548"/>
                <a:gd name="T69" fmla="*/ 1078 h 1281"/>
                <a:gd name="T70" fmla="*/ 8 w 4548"/>
                <a:gd name="T71" fmla="*/ 994 h 1281"/>
                <a:gd name="T72" fmla="*/ 9 w 4548"/>
                <a:gd name="T73" fmla="*/ 903 h 1281"/>
                <a:gd name="T74" fmla="*/ 11 w 4548"/>
                <a:gd name="T75" fmla="*/ 769 h 1281"/>
                <a:gd name="T76" fmla="*/ 13 w 4548"/>
                <a:gd name="T77" fmla="*/ 625 h 1281"/>
                <a:gd name="T78" fmla="*/ 14 w 4548"/>
                <a:gd name="T79" fmla="*/ 525 h 1281"/>
                <a:gd name="T80" fmla="*/ 15 w 4548"/>
                <a:gd name="T81" fmla="*/ 422 h 1281"/>
                <a:gd name="T82" fmla="*/ 16 w 4548"/>
                <a:gd name="T83" fmla="*/ 334 h 1281"/>
                <a:gd name="T84" fmla="*/ 17 w 4548"/>
                <a:gd name="T85" fmla="*/ 252 h 1281"/>
                <a:gd name="T86" fmla="*/ 17 w 4548"/>
                <a:gd name="T87" fmla="*/ 186 h 1281"/>
                <a:gd name="T88" fmla="*/ 18 w 4548"/>
                <a:gd name="T89" fmla="*/ 130 h 1281"/>
                <a:gd name="T90" fmla="*/ 18 w 4548"/>
                <a:gd name="T91" fmla="*/ 85 h 1281"/>
                <a:gd name="T92" fmla="*/ 18 w 4548"/>
                <a:gd name="T93" fmla="*/ 49 h 1281"/>
                <a:gd name="T94" fmla="*/ 18 w 4548"/>
                <a:gd name="T95" fmla="*/ 23 h 1281"/>
                <a:gd name="T96" fmla="*/ 18 w 4548"/>
                <a:gd name="T97" fmla="*/ 0 h 1281"/>
                <a:gd name="T98" fmla="*/ 18 w 4548"/>
                <a:gd name="T99" fmla="*/ 6 h 12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548"/>
                <a:gd name="T151" fmla="*/ 0 h 1281"/>
                <a:gd name="T152" fmla="*/ 4548 w 4548"/>
                <a:gd name="T153" fmla="*/ 1281 h 12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548" h="1281">
                  <a:moveTo>
                    <a:pt x="4498" y="6"/>
                  </a:moveTo>
                  <a:lnTo>
                    <a:pt x="4496" y="17"/>
                  </a:lnTo>
                  <a:lnTo>
                    <a:pt x="4479" y="38"/>
                  </a:lnTo>
                  <a:lnTo>
                    <a:pt x="4438" y="68"/>
                  </a:lnTo>
                  <a:lnTo>
                    <a:pt x="4369" y="112"/>
                  </a:lnTo>
                  <a:lnTo>
                    <a:pt x="4270" y="164"/>
                  </a:lnTo>
                  <a:lnTo>
                    <a:pt x="4133" y="231"/>
                  </a:lnTo>
                  <a:lnTo>
                    <a:pt x="3964" y="306"/>
                  </a:lnTo>
                  <a:lnTo>
                    <a:pt x="3736" y="398"/>
                  </a:lnTo>
                  <a:lnTo>
                    <a:pt x="3466" y="501"/>
                  </a:lnTo>
                  <a:lnTo>
                    <a:pt x="3099" y="632"/>
                  </a:lnTo>
                  <a:lnTo>
                    <a:pt x="2763" y="746"/>
                  </a:lnTo>
                  <a:lnTo>
                    <a:pt x="2389" y="862"/>
                  </a:lnTo>
                  <a:lnTo>
                    <a:pt x="1976" y="975"/>
                  </a:lnTo>
                  <a:lnTo>
                    <a:pt x="1627" y="1056"/>
                  </a:lnTo>
                  <a:lnTo>
                    <a:pt x="1310" y="1120"/>
                  </a:lnTo>
                  <a:lnTo>
                    <a:pt x="1050" y="1165"/>
                  </a:lnTo>
                  <a:lnTo>
                    <a:pt x="768" y="1202"/>
                  </a:lnTo>
                  <a:lnTo>
                    <a:pt x="538" y="1227"/>
                  </a:lnTo>
                  <a:lnTo>
                    <a:pt x="353" y="1242"/>
                  </a:lnTo>
                  <a:lnTo>
                    <a:pt x="204" y="1250"/>
                  </a:lnTo>
                  <a:lnTo>
                    <a:pt x="94" y="1253"/>
                  </a:lnTo>
                  <a:lnTo>
                    <a:pt x="27" y="1253"/>
                  </a:lnTo>
                  <a:lnTo>
                    <a:pt x="4" y="1252"/>
                  </a:lnTo>
                  <a:lnTo>
                    <a:pt x="2" y="1266"/>
                  </a:lnTo>
                  <a:lnTo>
                    <a:pt x="0" y="1280"/>
                  </a:lnTo>
                  <a:lnTo>
                    <a:pt x="25" y="1281"/>
                  </a:lnTo>
                  <a:lnTo>
                    <a:pt x="94" y="1281"/>
                  </a:lnTo>
                  <a:lnTo>
                    <a:pt x="204" y="1278"/>
                  </a:lnTo>
                  <a:lnTo>
                    <a:pt x="361" y="1270"/>
                  </a:lnTo>
                  <a:lnTo>
                    <a:pt x="554" y="1255"/>
                  </a:lnTo>
                  <a:lnTo>
                    <a:pt x="776" y="1230"/>
                  </a:lnTo>
                  <a:lnTo>
                    <a:pt x="1015" y="1197"/>
                  </a:lnTo>
                  <a:lnTo>
                    <a:pt x="1341" y="1144"/>
                  </a:lnTo>
                  <a:lnTo>
                    <a:pt x="1669" y="1078"/>
                  </a:lnTo>
                  <a:lnTo>
                    <a:pt x="2022" y="994"/>
                  </a:lnTo>
                  <a:lnTo>
                    <a:pt x="2358" y="903"/>
                  </a:lnTo>
                  <a:lnTo>
                    <a:pt x="2786" y="769"/>
                  </a:lnTo>
                  <a:lnTo>
                    <a:pt x="3211" y="625"/>
                  </a:lnTo>
                  <a:lnTo>
                    <a:pt x="3493" y="525"/>
                  </a:lnTo>
                  <a:lnTo>
                    <a:pt x="3763" y="422"/>
                  </a:lnTo>
                  <a:lnTo>
                    <a:pt x="3979" y="334"/>
                  </a:lnTo>
                  <a:lnTo>
                    <a:pt x="4164" y="252"/>
                  </a:lnTo>
                  <a:lnTo>
                    <a:pt x="4301" y="186"/>
                  </a:lnTo>
                  <a:lnTo>
                    <a:pt x="4407" y="130"/>
                  </a:lnTo>
                  <a:lnTo>
                    <a:pt x="4477" y="85"/>
                  </a:lnTo>
                  <a:lnTo>
                    <a:pt x="4525" y="49"/>
                  </a:lnTo>
                  <a:lnTo>
                    <a:pt x="4546" y="23"/>
                  </a:lnTo>
                  <a:lnTo>
                    <a:pt x="4548" y="0"/>
                  </a:lnTo>
                  <a:lnTo>
                    <a:pt x="4498" y="6"/>
                  </a:lnTo>
                  <a:close/>
                </a:path>
              </a:pathLst>
            </a:custGeom>
            <a:solidFill>
              <a:srgbClr val="000000"/>
            </a:solidFill>
            <a:ln w="9525">
              <a:noFill/>
              <a:round/>
              <a:headEnd/>
              <a:tailEnd/>
            </a:ln>
          </p:spPr>
          <p:txBody>
            <a:bodyPr/>
            <a:lstStyle/>
            <a:p>
              <a:endParaRPr lang="en-US"/>
            </a:p>
          </p:txBody>
        </p:sp>
        <p:sp>
          <p:nvSpPr>
            <p:cNvPr id="22563" name="Freeform 107"/>
            <p:cNvSpPr>
              <a:spLocks/>
            </p:cNvSpPr>
            <p:nvPr/>
          </p:nvSpPr>
          <p:spPr bwMode="auto">
            <a:xfrm>
              <a:off x="1460" y="1558"/>
              <a:ext cx="581" cy="2221"/>
            </a:xfrm>
            <a:custGeom>
              <a:avLst/>
              <a:gdLst>
                <a:gd name="T0" fmla="*/ 0 w 1164"/>
                <a:gd name="T1" fmla="*/ 1 h 2221"/>
                <a:gd name="T2" fmla="*/ 0 w 1164"/>
                <a:gd name="T3" fmla="*/ 0 h 2221"/>
                <a:gd name="T4" fmla="*/ 0 w 1164"/>
                <a:gd name="T5" fmla="*/ 52 h 2221"/>
                <a:gd name="T6" fmla="*/ 0 w 1164"/>
                <a:gd name="T7" fmla="*/ 140 h 2221"/>
                <a:gd name="T8" fmla="*/ 0 w 1164"/>
                <a:gd name="T9" fmla="*/ 275 h 2221"/>
                <a:gd name="T10" fmla="*/ 1 w 1164"/>
                <a:gd name="T11" fmla="*/ 465 h 2221"/>
                <a:gd name="T12" fmla="*/ 1 w 1164"/>
                <a:gd name="T13" fmla="*/ 653 h 2221"/>
                <a:gd name="T14" fmla="*/ 2 w 1164"/>
                <a:gd name="T15" fmla="*/ 877 h 2221"/>
                <a:gd name="T16" fmla="*/ 2 w 1164"/>
                <a:gd name="T17" fmla="*/ 1128 h 2221"/>
                <a:gd name="T18" fmla="*/ 3 w 1164"/>
                <a:gd name="T19" fmla="*/ 1337 h 2221"/>
                <a:gd name="T20" fmla="*/ 3 w 1164"/>
                <a:gd name="T21" fmla="*/ 1604 h 2221"/>
                <a:gd name="T22" fmla="*/ 4 w 1164"/>
                <a:gd name="T23" fmla="*/ 1829 h 2221"/>
                <a:gd name="T24" fmla="*/ 4 w 1164"/>
                <a:gd name="T25" fmla="*/ 2033 h 2221"/>
                <a:gd name="T26" fmla="*/ 4 w 1164"/>
                <a:gd name="T27" fmla="*/ 2209 h 2221"/>
                <a:gd name="T28" fmla="*/ 4 w 1164"/>
                <a:gd name="T29" fmla="*/ 2221 h 2221"/>
                <a:gd name="T30" fmla="*/ 4 w 1164"/>
                <a:gd name="T31" fmla="*/ 2185 h 2221"/>
                <a:gd name="T32" fmla="*/ 4 w 1164"/>
                <a:gd name="T33" fmla="*/ 2031 h 2221"/>
                <a:gd name="T34" fmla="*/ 4 w 1164"/>
                <a:gd name="T35" fmla="*/ 1823 h 2221"/>
                <a:gd name="T36" fmla="*/ 4 w 1164"/>
                <a:gd name="T37" fmla="*/ 1591 h 2221"/>
                <a:gd name="T38" fmla="*/ 3 w 1164"/>
                <a:gd name="T39" fmla="*/ 1378 h 2221"/>
                <a:gd name="T40" fmla="*/ 3 w 1164"/>
                <a:gd name="T41" fmla="*/ 1098 h 2221"/>
                <a:gd name="T42" fmla="*/ 2 w 1164"/>
                <a:gd name="T43" fmla="*/ 869 h 2221"/>
                <a:gd name="T44" fmla="*/ 2 w 1164"/>
                <a:gd name="T45" fmla="*/ 644 h 2221"/>
                <a:gd name="T46" fmla="*/ 1 w 1164"/>
                <a:gd name="T47" fmla="*/ 421 h 2221"/>
                <a:gd name="T48" fmla="*/ 0 w 1164"/>
                <a:gd name="T49" fmla="*/ 264 h 2221"/>
                <a:gd name="T50" fmla="*/ 0 w 1164"/>
                <a:gd name="T51" fmla="*/ 129 h 2221"/>
                <a:gd name="T52" fmla="*/ 0 w 1164"/>
                <a:gd name="T53" fmla="*/ 41 h 2221"/>
                <a:gd name="T54" fmla="*/ 0 w 1164"/>
                <a:gd name="T55" fmla="*/ 9 h 2221"/>
                <a:gd name="T56" fmla="*/ 0 w 1164"/>
                <a:gd name="T57" fmla="*/ 15 h 2221"/>
                <a:gd name="T58" fmla="*/ 0 w 1164"/>
                <a:gd name="T59" fmla="*/ 1 h 222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64"/>
                <a:gd name="T91" fmla="*/ 0 h 2221"/>
                <a:gd name="T92" fmla="*/ 1164 w 1164"/>
                <a:gd name="T93" fmla="*/ 2221 h 222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64" h="2221">
                  <a:moveTo>
                    <a:pt x="41" y="1"/>
                  </a:moveTo>
                  <a:lnTo>
                    <a:pt x="0" y="0"/>
                  </a:lnTo>
                  <a:lnTo>
                    <a:pt x="41" y="52"/>
                  </a:lnTo>
                  <a:lnTo>
                    <a:pt x="106" y="140"/>
                  </a:lnTo>
                  <a:lnTo>
                    <a:pt x="205" y="275"/>
                  </a:lnTo>
                  <a:lnTo>
                    <a:pt x="340" y="465"/>
                  </a:lnTo>
                  <a:lnTo>
                    <a:pt x="465" y="653"/>
                  </a:lnTo>
                  <a:lnTo>
                    <a:pt x="610" y="877"/>
                  </a:lnTo>
                  <a:lnTo>
                    <a:pt x="757" y="1128"/>
                  </a:lnTo>
                  <a:lnTo>
                    <a:pt x="870" y="1337"/>
                  </a:lnTo>
                  <a:lnTo>
                    <a:pt x="990" y="1604"/>
                  </a:lnTo>
                  <a:lnTo>
                    <a:pt x="1071" y="1829"/>
                  </a:lnTo>
                  <a:lnTo>
                    <a:pt x="1114" y="2033"/>
                  </a:lnTo>
                  <a:lnTo>
                    <a:pt x="1108" y="2209"/>
                  </a:lnTo>
                  <a:lnTo>
                    <a:pt x="1145" y="2221"/>
                  </a:lnTo>
                  <a:lnTo>
                    <a:pt x="1158" y="2185"/>
                  </a:lnTo>
                  <a:lnTo>
                    <a:pt x="1164" y="2031"/>
                  </a:lnTo>
                  <a:lnTo>
                    <a:pt x="1121" y="1823"/>
                  </a:lnTo>
                  <a:lnTo>
                    <a:pt x="1040" y="1591"/>
                  </a:lnTo>
                  <a:lnTo>
                    <a:pt x="940" y="1378"/>
                  </a:lnTo>
                  <a:lnTo>
                    <a:pt x="791" y="1098"/>
                  </a:lnTo>
                  <a:lnTo>
                    <a:pt x="656" y="869"/>
                  </a:lnTo>
                  <a:lnTo>
                    <a:pt x="512" y="644"/>
                  </a:lnTo>
                  <a:lnTo>
                    <a:pt x="363" y="421"/>
                  </a:lnTo>
                  <a:lnTo>
                    <a:pt x="251" y="264"/>
                  </a:lnTo>
                  <a:lnTo>
                    <a:pt x="153" y="129"/>
                  </a:lnTo>
                  <a:lnTo>
                    <a:pt x="87" y="41"/>
                  </a:lnTo>
                  <a:lnTo>
                    <a:pt x="62" y="9"/>
                  </a:lnTo>
                  <a:lnTo>
                    <a:pt x="39" y="15"/>
                  </a:lnTo>
                  <a:lnTo>
                    <a:pt x="41" y="1"/>
                  </a:lnTo>
                  <a:close/>
                </a:path>
              </a:pathLst>
            </a:custGeom>
            <a:solidFill>
              <a:srgbClr val="000000"/>
            </a:solidFill>
            <a:ln w="9525">
              <a:noFill/>
              <a:round/>
              <a:headEnd/>
              <a:tailEnd/>
            </a:ln>
          </p:spPr>
          <p:txBody>
            <a:bodyPr/>
            <a:lstStyle/>
            <a:p>
              <a:endParaRPr lang="en-US"/>
            </a:p>
          </p:txBody>
        </p:sp>
        <p:sp>
          <p:nvSpPr>
            <p:cNvPr id="22564" name="Freeform 108"/>
            <p:cNvSpPr>
              <a:spLocks/>
            </p:cNvSpPr>
            <p:nvPr/>
          </p:nvSpPr>
          <p:spPr bwMode="auto">
            <a:xfrm>
              <a:off x="2032" y="2208"/>
              <a:ext cx="1947" cy="1571"/>
            </a:xfrm>
            <a:custGeom>
              <a:avLst/>
              <a:gdLst>
                <a:gd name="T0" fmla="*/ 0 w 3894"/>
                <a:gd name="T1" fmla="*/ 1571 h 1571"/>
                <a:gd name="T2" fmla="*/ 1 w 3894"/>
                <a:gd name="T3" fmla="*/ 1554 h 1571"/>
                <a:gd name="T4" fmla="*/ 1 w 3894"/>
                <a:gd name="T5" fmla="*/ 1505 h 1571"/>
                <a:gd name="T6" fmla="*/ 2 w 3894"/>
                <a:gd name="T7" fmla="*/ 1428 h 1571"/>
                <a:gd name="T8" fmla="*/ 4 w 3894"/>
                <a:gd name="T9" fmla="*/ 1269 h 1571"/>
                <a:gd name="T10" fmla="*/ 5 w 3894"/>
                <a:gd name="T11" fmla="*/ 1201 h 1571"/>
                <a:gd name="T12" fmla="*/ 6 w 3894"/>
                <a:gd name="T13" fmla="*/ 1060 h 1571"/>
                <a:gd name="T14" fmla="*/ 8 w 3894"/>
                <a:gd name="T15" fmla="*/ 903 h 1571"/>
                <a:gd name="T16" fmla="*/ 9 w 3894"/>
                <a:gd name="T17" fmla="*/ 735 h 1571"/>
                <a:gd name="T18" fmla="*/ 11 w 3894"/>
                <a:gd name="T19" fmla="*/ 562 h 1571"/>
                <a:gd name="T20" fmla="*/ 13 w 3894"/>
                <a:gd name="T21" fmla="*/ 377 h 1571"/>
                <a:gd name="T22" fmla="*/ 14 w 3894"/>
                <a:gd name="T23" fmla="*/ 196 h 1571"/>
                <a:gd name="T24" fmla="*/ 15 w 3894"/>
                <a:gd name="T25" fmla="*/ 13 h 1571"/>
                <a:gd name="T26" fmla="*/ 15 w 3894"/>
                <a:gd name="T27" fmla="*/ 7 h 1571"/>
                <a:gd name="T28" fmla="*/ 15 w 3894"/>
                <a:gd name="T29" fmla="*/ 0 h 1571"/>
                <a:gd name="T30" fmla="*/ 14 w 3894"/>
                <a:gd name="T31" fmla="*/ 174 h 1571"/>
                <a:gd name="T32" fmla="*/ 13 w 3894"/>
                <a:gd name="T33" fmla="*/ 356 h 1571"/>
                <a:gd name="T34" fmla="*/ 11 w 3894"/>
                <a:gd name="T35" fmla="*/ 532 h 1571"/>
                <a:gd name="T36" fmla="*/ 9 w 3894"/>
                <a:gd name="T37" fmla="*/ 711 h 1571"/>
                <a:gd name="T38" fmla="*/ 8 w 3894"/>
                <a:gd name="T39" fmla="*/ 879 h 1571"/>
                <a:gd name="T40" fmla="*/ 6 w 3894"/>
                <a:gd name="T41" fmla="*/ 1036 h 1571"/>
                <a:gd name="T42" fmla="*/ 5 w 3894"/>
                <a:gd name="T43" fmla="*/ 1177 h 1571"/>
                <a:gd name="T44" fmla="*/ 3 w 3894"/>
                <a:gd name="T45" fmla="*/ 1356 h 1571"/>
                <a:gd name="T46" fmla="*/ 2 w 3894"/>
                <a:gd name="T47" fmla="*/ 1404 h 1571"/>
                <a:gd name="T48" fmla="*/ 1 w 3894"/>
                <a:gd name="T49" fmla="*/ 1481 h 1571"/>
                <a:gd name="T50" fmla="*/ 1 w 3894"/>
                <a:gd name="T51" fmla="*/ 1530 h 1571"/>
                <a:gd name="T52" fmla="*/ 1 w 3894"/>
                <a:gd name="T53" fmla="*/ 1535 h 1571"/>
                <a:gd name="T54" fmla="*/ 0 w 3894"/>
                <a:gd name="T55" fmla="*/ 1571 h 157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894"/>
                <a:gd name="T85" fmla="*/ 0 h 1571"/>
                <a:gd name="T86" fmla="*/ 3894 w 3894"/>
                <a:gd name="T87" fmla="*/ 1571 h 157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894" h="1571">
                  <a:moveTo>
                    <a:pt x="0" y="1571"/>
                  </a:moveTo>
                  <a:lnTo>
                    <a:pt x="52" y="1554"/>
                  </a:lnTo>
                  <a:lnTo>
                    <a:pt x="196" y="1505"/>
                  </a:lnTo>
                  <a:lnTo>
                    <a:pt x="422" y="1428"/>
                  </a:lnTo>
                  <a:lnTo>
                    <a:pt x="872" y="1269"/>
                  </a:lnTo>
                  <a:lnTo>
                    <a:pt x="1061" y="1201"/>
                  </a:lnTo>
                  <a:lnTo>
                    <a:pt x="1447" y="1060"/>
                  </a:lnTo>
                  <a:lnTo>
                    <a:pt x="1860" y="903"/>
                  </a:lnTo>
                  <a:lnTo>
                    <a:pt x="2288" y="735"/>
                  </a:lnTo>
                  <a:lnTo>
                    <a:pt x="2709" y="562"/>
                  </a:lnTo>
                  <a:lnTo>
                    <a:pt x="3137" y="377"/>
                  </a:lnTo>
                  <a:lnTo>
                    <a:pt x="3529" y="196"/>
                  </a:lnTo>
                  <a:lnTo>
                    <a:pt x="3892" y="13"/>
                  </a:lnTo>
                  <a:lnTo>
                    <a:pt x="3894" y="7"/>
                  </a:lnTo>
                  <a:lnTo>
                    <a:pt x="3845" y="0"/>
                  </a:lnTo>
                  <a:lnTo>
                    <a:pt x="3498" y="174"/>
                  </a:lnTo>
                  <a:lnTo>
                    <a:pt x="3106" y="356"/>
                  </a:lnTo>
                  <a:lnTo>
                    <a:pt x="2701" y="532"/>
                  </a:lnTo>
                  <a:lnTo>
                    <a:pt x="2261" y="711"/>
                  </a:lnTo>
                  <a:lnTo>
                    <a:pt x="1833" y="879"/>
                  </a:lnTo>
                  <a:lnTo>
                    <a:pt x="1420" y="1036"/>
                  </a:lnTo>
                  <a:lnTo>
                    <a:pt x="1034" y="1177"/>
                  </a:lnTo>
                  <a:lnTo>
                    <a:pt x="532" y="1356"/>
                  </a:lnTo>
                  <a:lnTo>
                    <a:pt x="399" y="1404"/>
                  </a:lnTo>
                  <a:lnTo>
                    <a:pt x="173" y="1481"/>
                  </a:lnTo>
                  <a:lnTo>
                    <a:pt x="28" y="1530"/>
                  </a:lnTo>
                  <a:lnTo>
                    <a:pt x="13" y="1535"/>
                  </a:lnTo>
                  <a:lnTo>
                    <a:pt x="0" y="1571"/>
                  </a:lnTo>
                  <a:close/>
                </a:path>
              </a:pathLst>
            </a:custGeom>
            <a:solidFill>
              <a:srgbClr val="000000"/>
            </a:solidFill>
            <a:ln w="9525">
              <a:noFill/>
              <a:round/>
              <a:headEnd/>
              <a:tailEnd/>
            </a:ln>
          </p:spPr>
          <p:txBody>
            <a:bodyPr/>
            <a:lstStyle/>
            <a:p>
              <a:endParaRPr lang="en-US"/>
            </a:p>
          </p:txBody>
        </p:sp>
        <p:sp>
          <p:nvSpPr>
            <p:cNvPr id="22565" name="Freeform 109"/>
            <p:cNvSpPr>
              <a:spLocks/>
            </p:cNvSpPr>
            <p:nvPr/>
          </p:nvSpPr>
          <p:spPr bwMode="auto">
            <a:xfrm>
              <a:off x="1488" y="1488"/>
              <a:ext cx="648" cy="492"/>
            </a:xfrm>
            <a:custGeom>
              <a:avLst/>
              <a:gdLst>
                <a:gd name="T0" fmla="*/ 546 w 648"/>
                <a:gd name="T1" fmla="*/ 0 h 492"/>
                <a:gd name="T2" fmla="*/ 405 w 648"/>
                <a:gd name="T3" fmla="*/ 36 h 492"/>
                <a:gd name="T4" fmla="*/ 264 w 648"/>
                <a:gd name="T5" fmla="*/ 66 h 492"/>
                <a:gd name="T6" fmla="*/ 99 w 648"/>
                <a:gd name="T7" fmla="*/ 90 h 492"/>
                <a:gd name="T8" fmla="*/ 0 w 648"/>
                <a:gd name="T9" fmla="*/ 93 h 492"/>
                <a:gd name="T10" fmla="*/ 147 w 648"/>
                <a:gd name="T11" fmla="*/ 492 h 492"/>
                <a:gd name="T12" fmla="*/ 360 w 648"/>
                <a:gd name="T13" fmla="*/ 414 h 492"/>
                <a:gd name="T14" fmla="*/ 648 w 648"/>
                <a:gd name="T15" fmla="*/ 273 h 492"/>
                <a:gd name="T16" fmla="*/ 624 w 648"/>
                <a:gd name="T17" fmla="*/ 168 h 492"/>
                <a:gd name="T18" fmla="*/ 612 w 648"/>
                <a:gd name="T19" fmla="*/ 123 h 492"/>
                <a:gd name="T20" fmla="*/ 588 w 648"/>
                <a:gd name="T21" fmla="*/ 63 h 492"/>
                <a:gd name="T22" fmla="*/ 546 w 648"/>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492"/>
                <a:gd name="T38" fmla="*/ 648 w 648"/>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492">
                  <a:moveTo>
                    <a:pt x="546" y="0"/>
                  </a:moveTo>
                  <a:lnTo>
                    <a:pt x="405" y="36"/>
                  </a:lnTo>
                  <a:lnTo>
                    <a:pt x="264" y="66"/>
                  </a:lnTo>
                  <a:lnTo>
                    <a:pt x="99" y="90"/>
                  </a:lnTo>
                  <a:lnTo>
                    <a:pt x="0" y="93"/>
                  </a:lnTo>
                  <a:lnTo>
                    <a:pt x="147" y="492"/>
                  </a:lnTo>
                  <a:lnTo>
                    <a:pt x="360" y="414"/>
                  </a:lnTo>
                  <a:lnTo>
                    <a:pt x="648" y="273"/>
                  </a:lnTo>
                  <a:lnTo>
                    <a:pt x="624" y="168"/>
                  </a:lnTo>
                  <a:lnTo>
                    <a:pt x="612" y="123"/>
                  </a:lnTo>
                  <a:lnTo>
                    <a:pt x="588" y="63"/>
                  </a:lnTo>
                  <a:lnTo>
                    <a:pt x="546"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22566" name="Freeform 110"/>
            <p:cNvSpPr>
              <a:spLocks/>
            </p:cNvSpPr>
            <p:nvPr/>
          </p:nvSpPr>
          <p:spPr bwMode="auto">
            <a:xfrm>
              <a:off x="2049" y="1278"/>
              <a:ext cx="597" cy="477"/>
            </a:xfrm>
            <a:custGeom>
              <a:avLst/>
              <a:gdLst>
                <a:gd name="T0" fmla="*/ 465 w 597"/>
                <a:gd name="T1" fmla="*/ 0 h 477"/>
                <a:gd name="T2" fmla="*/ 249 w 597"/>
                <a:gd name="T3" fmla="*/ 105 h 477"/>
                <a:gd name="T4" fmla="*/ 0 w 597"/>
                <a:gd name="T5" fmla="*/ 207 h 477"/>
                <a:gd name="T6" fmla="*/ 27 w 597"/>
                <a:gd name="T7" fmla="*/ 258 h 477"/>
                <a:gd name="T8" fmla="*/ 57 w 597"/>
                <a:gd name="T9" fmla="*/ 315 h 477"/>
                <a:gd name="T10" fmla="*/ 75 w 597"/>
                <a:gd name="T11" fmla="*/ 384 h 477"/>
                <a:gd name="T12" fmla="*/ 99 w 597"/>
                <a:gd name="T13" fmla="*/ 477 h 477"/>
                <a:gd name="T14" fmla="*/ 366 w 597"/>
                <a:gd name="T15" fmla="*/ 348 h 477"/>
                <a:gd name="T16" fmla="*/ 597 w 597"/>
                <a:gd name="T17" fmla="*/ 219 h 477"/>
                <a:gd name="T18" fmla="*/ 567 w 597"/>
                <a:gd name="T19" fmla="*/ 120 h 477"/>
                <a:gd name="T20" fmla="*/ 519 w 597"/>
                <a:gd name="T21" fmla="*/ 54 h 477"/>
                <a:gd name="T22" fmla="*/ 465 w 597"/>
                <a:gd name="T23" fmla="*/ 0 h 4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97"/>
                <a:gd name="T37" fmla="*/ 0 h 477"/>
                <a:gd name="T38" fmla="*/ 597 w 597"/>
                <a:gd name="T39" fmla="*/ 477 h 4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97" h="477">
                  <a:moveTo>
                    <a:pt x="465" y="0"/>
                  </a:moveTo>
                  <a:lnTo>
                    <a:pt x="249" y="105"/>
                  </a:lnTo>
                  <a:lnTo>
                    <a:pt x="0" y="207"/>
                  </a:lnTo>
                  <a:lnTo>
                    <a:pt x="27" y="258"/>
                  </a:lnTo>
                  <a:lnTo>
                    <a:pt x="57" y="315"/>
                  </a:lnTo>
                  <a:lnTo>
                    <a:pt x="75" y="384"/>
                  </a:lnTo>
                  <a:lnTo>
                    <a:pt x="99" y="477"/>
                  </a:lnTo>
                  <a:lnTo>
                    <a:pt x="366" y="348"/>
                  </a:lnTo>
                  <a:lnTo>
                    <a:pt x="597" y="219"/>
                  </a:lnTo>
                  <a:lnTo>
                    <a:pt x="567" y="120"/>
                  </a:lnTo>
                  <a:lnTo>
                    <a:pt x="519" y="54"/>
                  </a:lnTo>
                  <a:lnTo>
                    <a:pt x="4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67" name="Freeform 111"/>
            <p:cNvSpPr>
              <a:spLocks/>
            </p:cNvSpPr>
            <p:nvPr/>
          </p:nvSpPr>
          <p:spPr bwMode="auto">
            <a:xfrm>
              <a:off x="2526" y="1005"/>
              <a:ext cx="585" cy="486"/>
            </a:xfrm>
            <a:custGeom>
              <a:avLst/>
              <a:gdLst>
                <a:gd name="T0" fmla="*/ 447 w 585"/>
                <a:gd name="T1" fmla="*/ 0 h 486"/>
                <a:gd name="T2" fmla="*/ 261 w 585"/>
                <a:gd name="T3" fmla="*/ 120 h 486"/>
                <a:gd name="T4" fmla="*/ 0 w 585"/>
                <a:gd name="T5" fmla="*/ 264 h 486"/>
                <a:gd name="T6" fmla="*/ 48 w 585"/>
                <a:gd name="T7" fmla="*/ 318 h 486"/>
                <a:gd name="T8" fmla="*/ 93 w 585"/>
                <a:gd name="T9" fmla="*/ 384 h 486"/>
                <a:gd name="T10" fmla="*/ 132 w 585"/>
                <a:gd name="T11" fmla="*/ 486 h 486"/>
                <a:gd name="T12" fmla="*/ 363 w 585"/>
                <a:gd name="T13" fmla="*/ 348 h 486"/>
                <a:gd name="T14" fmla="*/ 585 w 585"/>
                <a:gd name="T15" fmla="*/ 210 h 486"/>
                <a:gd name="T16" fmla="*/ 528 w 585"/>
                <a:gd name="T17" fmla="*/ 102 h 486"/>
                <a:gd name="T18" fmla="*/ 486 w 585"/>
                <a:gd name="T19" fmla="*/ 51 h 486"/>
                <a:gd name="T20" fmla="*/ 447 w 585"/>
                <a:gd name="T21" fmla="*/ 0 h 4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5"/>
                <a:gd name="T34" fmla="*/ 0 h 486"/>
                <a:gd name="T35" fmla="*/ 585 w 585"/>
                <a:gd name="T36" fmla="*/ 486 h 4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5" h="486">
                  <a:moveTo>
                    <a:pt x="447" y="0"/>
                  </a:moveTo>
                  <a:lnTo>
                    <a:pt x="261" y="120"/>
                  </a:lnTo>
                  <a:lnTo>
                    <a:pt x="0" y="264"/>
                  </a:lnTo>
                  <a:lnTo>
                    <a:pt x="48" y="318"/>
                  </a:lnTo>
                  <a:lnTo>
                    <a:pt x="93" y="384"/>
                  </a:lnTo>
                  <a:lnTo>
                    <a:pt x="132" y="486"/>
                  </a:lnTo>
                  <a:lnTo>
                    <a:pt x="363" y="348"/>
                  </a:lnTo>
                  <a:lnTo>
                    <a:pt x="585" y="210"/>
                  </a:lnTo>
                  <a:lnTo>
                    <a:pt x="528" y="102"/>
                  </a:lnTo>
                  <a:lnTo>
                    <a:pt x="486" y="51"/>
                  </a:lnTo>
                  <a:lnTo>
                    <a:pt x="447"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22568" name="Freeform 112"/>
            <p:cNvSpPr>
              <a:spLocks/>
            </p:cNvSpPr>
            <p:nvPr/>
          </p:nvSpPr>
          <p:spPr bwMode="auto">
            <a:xfrm>
              <a:off x="2988" y="723"/>
              <a:ext cx="531" cy="483"/>
            </a:xfrm>
            <a:custGeom>
              <a:avLst/>
              <a:gdLst>
                <a:gd name="T0" fmla="*/ 372 w 531"/>
                <a:gd name="T1" fmla="*/ 0 h 483"/>
                <a:gd name="T2" fmla="*/ 198 w 531"/>
                <a:gd name="T3" fmla="*/ 132 h 483"/>
                <a:gd name="T4" fmla="*/ 0 w 531"/>
                <a:gd name="T5" fmla="*/ 273 h 483"/>
                <a:gd name="T6" fmla="*/ 33 w 531"/>
                <a:gd name="T7" fmla="*/ 321 h 483"/>
                <a:gd name="T8" fmla="*/ 78 w 531"/>
                <a:gd name="T9" fmla="*/ 381 h 483"/>
                <a:gd name="T10" fmla="*/ 108 w 531"/>
                <a:gd name="T11" fmla="*/ 423 h 483"/>
                <a:gd name="T12" fmla="*/ 135 w 531"/>
                <a:gd name="T13" fmla="*/ 483 h 483"/>
                <a:gd name="T14" fmla="*/ 351 w 531"/>
                <a:gd name="T15" fmla="*/ 345 h 483"/>
                <a:gd name="T16" fmla="*/ 531 w 531"/>
                <a:gd name="T17" fmla="*/ 234 h 483"/>
                <a:gd name="T18" fmla="*/ 468 w 531"/>
                <a:gd name="T19" fmla="*/ 111 h 483"/>
                <a:gd name="T20" fmla="*/ 435 w 531"/>
                <a:gd name="T21" fmla="*/ 54 h 483"/>
                <a:gd name="T22" fmla="*/ 372 w 531"/>
                <a:gd name="T23" fmla="*/ 0 h 4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1"/>
                <a:gd name="T37" fmla="*/ 0 h 483"/>
                <a:gd name="T38" fmla="*/ 531 w 531"/>
                <a:gd name="T39" fmla="*/ 483 h 4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1" h="483">
                  <a:moveTo>
                    <a:pt x="372" y="0"/>
                  </a:moveTo>
                  <a:lnTo>
                    <a:pt x="198" y="132"/>
                  </a:lnTo>
                  <a:lnTo>
                    <a:pt x="0" y="273"/>
                  </a:lnTo>
                  <a:lnTo>
                    <a:pt x="33" y="321"/>
                  </a:lnTo>
                  <a:lnTo>
                    <a:pt x="78" y="381"/>
                  </a:lnTo>
                  <a:lnTo>
                    <a:pt x="108" y="423"/>
                  </a:lnTo>
                  <a:lnTo>
                    <a:pt x="135" y="483"/>
                  </a:lnTo>
                  <a:lnTo>
                    <a:pt x="351" y="345"/>
                  </a:lnTo>
                  <a:lnTo>
                    <a:pt x="531" y="234"/>
                  </a:lnTo>
                  <a:lnTo>
                    <a:pt x="468" y="111"/>
                  </a:lnTo>
                  <a:lnTo>
                    <a:pt x="435" y="54"/>
                  </a:lnTo>
                  <a:lnTo>
                    <a:pt x="372"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69" name="Freeform 113"/>
            <p:cNvSpPr>
              <a:spLocks/>
            </p:cNvSpPr>
            <p:nvPr/>
          </p:nvSpPr>
          <p:spPr bwMode="auto">
            <a:xfrm>
              <a:off x="3369" y="363"/>
              <a:ext cx="417" cy="585"/>
            </a:xfrm>
            <a:custGeom>
              <a:avLst/>
              <a:gdLst>
                <a:gd name="T0" fmla="*/ 363 w 417"/>
                <a:gd name="T1" fmla="*/ 0 h 585"/>
                <a:gd name="T2" fmla="*/ 207 w 417"/>
                <a:gd name="T3" fmla="*/ 171 h 585"/>
                <a:gd name="T4" fmla="*/ 0 w 417"/>
                <a:gd name="T5" fmla="*/ 345 h 585"/>
                <a:gd name="T6" fmla="*/ 57 w 417"/>
                <a:gd name="T7" fmla="*/ 393 h 585"/>
                <a:gd name="T8" fmla="*/ 99 w 417"/>
                <a:gd name="T9" fmla="*/ 462 h 585"/>
                <a:gd name="T10" fmla="*/ 162 w 417"/>
                <a:gd name="T11" fmla="*/ 585 h 585"/>
                <a:gd name="T12" fmla="*/ 369 w 417"/>
                <a:gd name="T13" fmla="*/ 447 h 585"/>
                <a:gd name="T14" fmla="*/ 417 w 417"/>
                <a:gd name="T15" fmla="*/ 402 h 585"/>
                <a:gd name="T16" fmla="*/ 363 w 417"/>
                <a:gd name="T17" fmla="*/ 0 h 5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7"/>
                <a:gd name="T28" fmla="*/ 0 h 585"/>
                <a:gd name="T29" fmla="*/ 417 w 417"/>
                <a:gd name="T30" fmla="*/ 585 h 5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7" h="585">
                  <a:moveTo>
                    <a:pt x="363" y="0"/>
                  </a:moveTo>
                  <a:lnTo>
                    <a:pt x="207" y="171"/>
                  </a:lnTo>
                  <a:lnTo>
                    <a:pt x="0" y="345"/>
                  </a:lnTo>
                  <a:lnTo>
                    <a:pt x="57" y="393"/>
                  </a:lnTo>
                  <a:lnTo>
                    <a:pt x="99" y="462"/>
                  </a:lnTo>
                  <a:lnTo>
                    <a:pt x="162" y="585"/>
                  </a:lnTo>
                  <a:lnTo>
                    <a:pt x="369" y="447"/>
                  </a:lnTo>
                  <a:lnTo>
                    <a:pt x="417" y="402"/>
                  </a:lnTo>
                  <a:lnTo>
                    <a:pt x="36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70" name="Freeform 114"/>
            <p:cNvSpPr>
              <a:spLocks/>
            </p:cNvSpPr>
            <p:nvPr/>
          </p:nvSpPr>
          <p:spPr bwMode="auto">
            <a:xfrm>
              <a:off x="1644" y="1896"/>
              <a:ext cx="444" cy="450"/>
            </a:xfrm>
            <a:custGeom>
              <a:avLst/>
              <a:gdLst>
                <a:gd name="T0" fmla="*/ 273 w 444"/>
                <a:gd name="T1" fmla="*/ 0 h 450"/>
                <a:gd name="T2" fmla="*/ 0 w 444"/>
                <a:gd name="T3" fmla="*/ 102 h 450"/>
                <a:gd name="T4" fmla="*/ 114 w 444"/>
                <a:gd name="T5" fmla="*/ 450 h 450"/>
                <a:gd name="T6" fmla="*/ 276 w 444"/>
                <a:gd name="T7" fmla="*/ 387 h 450"/>
                <a:gd name="T8" fmla="*/ 444 w 444"/>
                <a:gd name="T9" fmla="*/ 303 h 450"/>
                <a:gd name="T10" fmla="*/ 390 w 444"/>
                <a:gd name="T11" fmla="*/ 138 h 450"/>
                <a:gd name="T12" fmla="*/ 333 w 444"/>
                <a:gd name="T13" fmla="*/ 57 h 450"/>
                <a:gd name="T14" fmla="*/ 273 w 444"/>
                <a:gd name="T15" fmla="*/ 0 h 450"/>
                <a:gd name="T16" fmla="*/ 0 60000 65536"/>
                <a:gd name="T17" fmla="*/ 0 60000 65536"/>
                <a:gd name="T18" fmla="*/ 0 60000 65536"/>
                <a:gd name="T19" fmla="*/ 0 60000 65536"/>
                <a:gd name="T20" fmla="*/ 0 60000 65536"/>
                <a:gd name="T21" fmla="*/ 0 60000 65536"/>
                <a:gd name="T22" fmla="*/ 0 60000 65536"/>
                <a:gd name="T23" fmla="*/ 0 60000 65536"/>
                <a:gd name="T24" fmla="*/ 0 w 444"/>
                <a:gd name="T25" fmla="*/ 0 h 450"/>
                <a:gd name="T26" fmla="*/ 444 w 444"/>
                <a:gd name="T27" fmla="*/ 450 h 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4" h="450">
                  <a:moveTo>
                    <a:pt x="273" y="0"/>
                  </a:moveTo>
                  <a:lnTo>
                    <a:pt x="0" y="102"/>
                  </a:lnTo>
                  <a:lnTo>
                    <a:pt x="114" y="450"/>
                  </a:lnTo>
                  <a:lnTo>
                    <a:pt x="276" y="387"/>
                  </a:lnTo>
                  <a:lnTo>
                    <a:pt x="444" y="303"/>
                  </a:lnTo>
                  <a:lnTo>
                    <a:pt x="390" y="138"/>
                  </a:lnTo>
                  <a:lnTo>
                    <a:pt x="333" y="57"/>
                  </a:lnTo>
                  <a:lnTo>
                    <a:pt x="273"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22571" name="Freeform 115"/>
            <p:cNvSpPr>
              <a:spLocks/>
            </p:cNvSpPr>
            <p:nvPr/>
          </p:nvSpPr>
          <p:spPr bwMode="auto">
            <a:xfrm>
              <a:off x="1929" y="1677"/>
              <a:ext cx="579" cy="507"/>
            </a:xfrm>
            <a:custGeom>
              <a:avLst/>
              <a:gdLst>
                <a:gd name="T0" fmla="*/ 435 w 579"/>
                <a:gd name="T1" fmla="*/ 0 h 507"/>
                <a:gd name="T2" fmla="*/ 225 w 579"/>
                <a:gd name="T3" fmla="*/ 99 h 507"/>
                <a:gd name="T4" fmla="*/ 0 w 579"/>
                <a:gd name="T5" fmla="*/ 210 h 507"/>
                <a:gd name="T6" fmla="*/ 63 w 579"/>
                <a:gd name="T7" fmla="*/ 276 h 507"/>
                <a:gd name="T8" fmla="*/ 120 w 579"/>
                <a:gd name="T9" fmla="*/ 360 h 507"/>
                <a:gd name="T10" fmla="*/ 141 w 579"/>
                <a:gd name="T11" fmla="*/ 429 h 507"/>
                <a:gd name="T12" fmla="*/ 174 w 579"/>
                <a:gd name="T13" fmla="*/ 507 h 507"/>
                <a:gd name="T14" fmla="*/ 390 w 579"/>
                <a:gd name="T15" fmla="*/ 390 h 507"/>
                <a:gd name="T16" fmla="*/ 579 w 579"/>
                <a:gd name="T17" fmla="*/ 279 h 507"/>
                <a:gd name="T18" fmla="*/ 540 w 579"/>
                <a:gd name="T19" fmla="*/ 165 h 507"/>
                <a:gd name="T20" fmla="*/ 495 w 579"/>
                <a:gd name="T21" fmla="*/ 87 h 507"/>
                <a:gd name="T22" fmla="*/ 435 w 579"/>
                <a:gd name="T23" fmla="*/ 0 h 5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9"/>
                <a:gd name="T37" fmla="*/ 0 h 507"/>
                <a:gd name="T38" fmla="*/ 579 w 579"/>
                <a:gd name="T39" fmla="*/ 507 h 5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9" h="507">
                  <a:moveTo>
                    <a:pt x="435" y="0"/>
                  </a:moveTo>
                  <a:lnTo>
                    <a:pt x="225" y="99"/>
                  </a:lnTo>
                  <a:lnTo>
                    <a:pt x="0" y="210"/>
                  </a:lnTo>
                  <a:lnTo>
                    <a:pt x="63" y="276"/>
                  </a:lnTo>
                  <a:lnTo>
                    <a:pt x="120" y="360"/>
                  </a:lnTo>
                  <a:lnTo>
                    <a:pt x="141" y="429"/>
                  </a:lnTo>
                  <a:lnTo>
                    <a:pt x="174" y="507"/>
                  </a:lnTo>
                  <a:lnTo>
                    <a:pt x="390" y="390"/>
                  </a:lnTo>
                  <a:lnTo>
                    <a:pt x="579" y="279"/>
                  </a:lnTo>
                  <a:lnTo>
                    <a:pt x="540" y="165"/>
                  </a:lnTo>
                  <a:lnTo>
                    <a:pt x="495" y="87"/>
                  </a:lnTo>
                  <a:lnTo>
                    <a:pt x="435"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22572" name="Freeform 116"/>
            <p:cNvSpPr>
              <a:spLocks/>
            </p:cNvSpPr>
            <p:nvPr/>
          </p:nvSpPr>
          <p:spPr bwMode="auto">
            <a:xfrm>
              <a:off x="2379" y="1404"/>
              <a:ext cx="630" cy="546"/>
            </a:xfrm>
            <a:custGeom>
              <a:avLst/>
              <a:gdLst>
                <a:gd name="T0" fmla="*/ 459 w 630"/>
                <a:gd name="T1" fmla="*/ 0 h 546"/>
                <a:gd name="T2" fmla="*/ 219 w 630"/>
                <a:gd name="T3" fmla="*/ 144 h 546"/>
                <a:gd name="T4" fmla="*/ 0 w 630"/>
                <a:gd name="T5" fmla="*/ 264 h 546"/>
                <a:gd name="T6" fmla="*/ 57 w 630"/>
                <a:gd name="T7" fmla="*/ 363 h 546"/>
                <a:gd name="T8" fmla="*/ 102 w 630"/>
                <a:gd name="T9" fmla="*/ 441 h 546"/>
                <a:gd name="T10" fmla="*/ 141 w 630"/>
                <a:gd name="T11" fmla="*/ 546 h 546"/>
                <a:gd name="T12" fmla="*/ 411 w 630"/>
                <a:gd name="T13" fmla="*/ 393 h 546"/>
                <a:gd name="T14" fmla="*/ 630 w 630"/>
                <a:gd name="T15" fmla="*/ 243 h 546"/>
                <a:gd name="T16" fmla="*/ 591 w 630"/>
                <a:gd name="T17" fmla="*/ 156 h 546"/>
                <a:gd name="T18" fmla="*/ 555 w 630"/>
                <a:gd name="T19" fmla="*/ 102 h 546"/>
                <a:gd name="T20" fmla="*/ 519 w 630"/>
                <a:gd name="T21" fmla="*/ 51 h 546"/>
                <a:gd name="T22" fmla="*/ 459 w 630"/>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0"/>
                <a:gd name="T37" fmla="*/ 0 h 546"/>
                <a:gd name="T38" fmla="*/ 630 w 630"/>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0" h="546">
                  <a:moveTo>
                    <a:pt x="459" y="0"/>
                  </a:moveTo>
                  <a:lnTo>
                    <a:pt x="219" y="144"/>
                  </a:lnTo>
                  <a:lnTo>
                    <a:pt x="0" y="264"/>
                  </a:lnTo>
                  <a:lnTo>
                    <a:pt x="57" y="363"/>
                  </a:lnTo>
                  <a:lnTo>
                    <a:pt x="102" y="441"/>
                  </a:lnTo>
                  <a:lnTo>
                    <a:pt x="141" y="546"/>
                  </a:lnTo>
                  <a:lnTo>
                    <a:pt x="411" y="393"/>
                  </a:lnTo>
                  <a:lnTo>
                    <a:pt x="630" y="243"/>
                  </a:lnTo>
                  <a:lnTo>
                    <a:pt x="591" y="156"/>
                  </a:lnTo>
                  <a:lnTo>
                    <a:pt x="555" y="102"/>
                  </a:lnTo>
                  <a:lnTo>
                    <a:pt x="519" y="51"/>
                  </a:lnTo>
                  <a:lnTo>
                    <a:pt x="45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73" name="Freeform 117"/>
            <p:cNvSpPr>
              <a:spLocks/>
            </p:cNvSpPr>
            <p:nvPr/>
          </p:nvSpPr>
          <p:spPr bwMode="auto">
            <a:xfrm>
              <a:off x="2850" y="1146"/>
              <a:ext cx="567" cy="492"/>
            </a:xfrm>
            <a:custGeom>
              <a:avLst/>
              <a:gdLst>
                <a:gd name="T0" fmla="*/ 396 w 567"/>
                <a:gd name="T1" fmla="*/ 0 h 492"/>
                <a:gd name="T2" fmla="*/ 210 w 567"/>
                <a:gd name="T3" fmla="*/ 126 h 492"/>
                <a:gd name="T4" fmla="*/ 108 w 567"/>
                <a:gd name="T5" fmla="*/ 186 h 492"/>
                <a:gd name="T6" fmla="*/ 0 w 567"/>
                <a:gd name="T7" fmla="*/ 252 h 492"/>
                <a:gd name="T8" fmla="*/ 57 w 567"/>
                <a:gd name="T9" fmla="*/ 312 h 492"/>
                <a:gd name="T10" fmla="*/ 108 w 567"/>
                <a:gd name="T11" fmla="*/ 378 h 492"/>
                <a:gd name="T12" fmla="*/ 171 w 567"/>
                <a:gd name="T13" fmla="*/ 492 h 492"/>
                <a:gd name="T14" fmla="*/ 387 w 567"/>
                <a:gd name="T15" fmla="*/ 354 h 492"/>
                <a:gd name="T16" fmla="*/ 567 w 567"/>
                <a:gd name="T17" fmla="*/ 243 h 492"/>
                <a:gd name="T18" fmla="*/ 534 w 567"/>
                <a:gd name="T19" fmla="*/ 162 h 492"/>
                <a:gd name="T20" fmla="*/ 504 w 567"/>
                <a:gd name="T21" fmla="*/ 114 h 492"/>
                <a:gd name="T22" fmla="*/ 447 w 567"/>
                <a:gd name="T23" fmla="*/ 42 h 492"/>
                <a:gd name="T24" fmla="*/ 396 w 567"/>
                <a:gd name="T25" fmla="*/ 0 h 4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7"/>
                <a:gd name="T40" fmla="*/ 0 h 492"/>
                <a:gd name="T41" fmla="*/ 567 w 567"/>
                <a:gd name="T42" fmla="*/ 492 h 4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7" h="492">
                  <a:moveTo>
                    <a:pt x="396" y="0"/>
                  </a:moveTo>
                  <a:lnTo>
                    <a:pt x="210" y="126"/>
                  </a:lnTo>
                  <a:lnTo>
                    <a:pt x="108" y="186"/>
                  </a:lnTo>
                  <a:lnTo>
                    <a:pt x="0" y="252"/>
                  </a:lnTo>
                  <a:lnTo>
                    <a:pt x="57" y="312"/>
                  </a:lnTo>
                  <a:lnTo>
                    <a:pt x="108" y="378"/>
                  </a:lnTo>
                  <a:lnTo>
                    <a:pt x="171" y="492"/>
                  </a:lnTo>
                  <a:lnTo>
                    <a:pt x="387" y="354"/>
                  </a:lnTo>
                  <a:lnTo>
                    <a:pt x="567" y="243"/>
                  </a:lnTo>
                  <a:lnTo>
                    <a:pt x="534" y="162"/>
                  </a:lnTo>
                  <a:lnTo>
                    <a:pt x="504" y="114"/>
                  </a:lnTo>
                  <a:lnTo>
                    <a:pt x="447" y="42"/>
                  </a:lnTo>
                  <a:lnTo>
                    <a:pt x="39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74" name="Freeform 118"/>
            <p:cNvSpPr>
              <a:spLocks/>
            </p:cNvSpPr>
            <p:nvPr/>
          </p:nvSpPr>
          <p:spPr bwMode="auto">
            <a:xfrm>
              <a:off x="3258" y="798"/>
              <a:ext cx="570" cy="582"/>
            </a:xfrm>
            <a:custGeom>
              <a:avLst/>
              <a:gdLst>
                <a:gd name="T0" fmla="*/ 534 w 570"/>
                <a:gd name="T1" fmla="*/ 0 h 582"/>
                <a:gd name="T2" fmla="*/ 222 w 570"/>
                <a:gd name="T3" fmla="*/ 210 h 582"/>
                <a:gd name="T4" fmla="*/ 0 w 570"/>
                <a:gd name="T5" fmla="*/ 342 h 582"/>
                <a:gd name="T6" fmla="*/ 42 w 570"/>
                <a:gd name="T7" fmla="*/ 384 h 582"/>
                <a:gd name="T8" fmla="*/ 87 w 570"/>
                <a:gd name="T9" fmla="*/ 438 h 582"/>
                <a:gd name="T10" fmla="*/ 129 w 570"/>
                <a:gd name="T11" fmla="*/ 492 h 582"/>
                <a:gd name="T12" fmla="*/ 165 w 570"/>
                <a:gd name="T13" fmla="*/ 582 h 582"/>
                <a:gd name="T14" fmla="*/ 372 w 570"/>
                <a:gd name="T15" fmla="*/ 438 h 582"/>
                <a:gd name="T16" fmla="*/ 570 w 570"/>
                <a:gd name="T17" fmla="*/ 294 h 582"/>
                <a:gd name="T18" fmla="*/ 534 w 570"/>
                <a:gd name="T19" fmla="*/ 0 h 5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0"/>
                <a:gd name="T31" fmla="*/ 0 h 582"/>
                <a:gd name="T32" fmla="*/ 570 w 570"/>
                <a:gd name="T33" fmla="*/ 582 h 5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0" h="582">
                  <a:moveTo>
                    <a:pt x="534" y="0"/>
                  </a:moveTo>
                  <a:lnTo>
                    <a:pt x="222" y="210"/>
                  </a:lnTo>
                  <a:lnTo>
                    <a:pt x="0" y="342"/>
                  </a:lnTo>
                  <a:lnTo>
                    <a:pt x="42" y="384"/>
                  </a:lnTo>
                  <a:lnTo>
                    <a:pt x="87" y="438"/>
                  </a:lnTo>
                  <a:lnTo>
                    <a:pt x="129" y="492"/>
                  </a:lnTo>
                  <a:lnTo>
                    <a:pt x="165" y="582"/>
                  </a:lnTo>
                  <a:lnTo>
                    <a:pt x="372" y="438"/>
                  </a:lnTo>
                  <a:lnTo>
                    <a:pt x="570" y="294"/>
                  </a:lnTo>
                  <a:lnTo>
                    <a:pt x="534"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75" name="Freeform 119"/>
            <p:cNvSpPr>
              <a:spLocks/>
            </p:cNvSpPr>
            <p:nvPr/>
          </p:nvSpPr>
          <p:spPr bwMode="auto">
            <a:xfrm>
              <a:off x="1758" y="2136"/>
              <a:ext cx="669" cy="561"/>
            </a:xfrm>
            <a:custGeom>
              <a:avLst/>
              <a:gdLst>
                <a:gd name="T0" fmla="*/ 474 w 669"/>
                <a:gd name="T1" fmla="*/ 0 h 561"/>
                <a:gd name="T2" fmla="*/ 243 w 669"/>
                <a:gd name="T3" fmla="*/ 120 h 561"/>
                <a:gd name="T4" fmla="*/ 0 w 669"/>
                <a:gd name="T5" fmla="*/ 231 h 561"/>
                <a:gd name="T6" fmla="*/ 102 w 669"/>
                <a:gd name="T7" fmla="*/ 561 h 561"/>
                <a:gd name="T8" fmla="*/ 330 w 669"/>
                <a:gd name="T9" fmla="*/ 459 h 561"/>
                <a:gd name="T10" fmla="*/ 669 w 669"/>
                <a:gd name="T11" fmla="*/ 291 h 561"/>
                <a:gd name="T12" fmla="*/ 633 w 669"/>
                <a:gd name="T13" fmla="*/ 186 h 561"/>
                <a:gd name="T14" fmla="*/ 597 w 669"/>
                <a:gd name="T15" fmla="*/ 132 h 561"/>
                <a:gd name="T16" fmla="*/ 549 w 669"/>
                <a:gd name="T17" fmla="*/ 60 h 561"/>
                <a:gd name="T18" fmla="*/ 474 w 669"/>
                <a:gd name="T19" fmla="*/ 0 h 5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69"/>
                <a:gd name="T31" fmla="*/ 0 h 561"/>
                <a:gd name="T32" fmla="*/ 669 w 669"/>
                <a:gd name="T33" fmla="*/ 561 h 56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69" h="561">
                  <a:moveTo>
                    <a:pt x="474" y="0"/>
                  </a:moveTo>
                  <a:lnTo>
                    <a:pt x="243" y="120"/>
                  </a:lnTo>
                  <a:lnTo>
                    <a:pt x="0" y="231"/>
                  </a:lnTo>
                  <a:lnTo>
                    <a:pt x="102" y="561"/>
                  </a:lnTo>
                  <a:lnTo>
                    <a:pt x="330" y="459"/>
                  </a:lnTo>
                  <a:lnTo>
                    <a:pt x="669" y="291"/>
                  </a:lnTo>
                  <a:lnTo>
                    <a:pt x="633" y="186"/>
                  </a:lnTo>
                  <a:lnTo>
                    <a:pt x="597" y="132"/>
                  </a:lnTo>
                  <a:lnTo>
                    <a:pt x="549" y="60"/>
                  </a:lnTo>
                  <a:lnTo>
                    <a:pt x="474"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22576" name="Freeform 120"/>
            <p:cNvSpPr>
              <a:spLocks/>
            </p:cNvSpPr>
            <p:nvPr/>
          </p:nvSpPr>
          <p:spPr bwMode="auto">
            <a:xfrm>
              <a:off x="2247" y="1842"/>
              <a:ext cx="669" cy="579"/>
            </a:xfrm>
            <a:custGeom>
              <a:avLst/>
              <a:gdLst>
                <a:gd name="T0" fmla="*/ 489 w 669"/>
                <a:gd name="T1" fmla="*/ 0 h 579"/>
                <a:gd name="T2" fmla="*/ 216 w 669"/>
                <a:gd name="T3" fmla="*/ 162 h 579"/>
                <a:gd name="T4" fmla="*/ 0 w 669"/>
                <a:gd name="T5" fmla="*/ 291 h 579"/>
                <a:gd name="T6" fmla="*/ 72 w 669"/>
                <a:gd name="T7" fmla="*/ 354 h 579"/>
                <a:gd name="T8" fmla="*/ 135 w 669"/>
                <a:gd name="T9" fmla="*/ 444 h 579"/>
                <a:gd name="T10" fmla="*/ 195 w 669"/>
                <a:gd name="T11" fmla="*/ 579 h 579"/>
                <a:gd name="T12" fmla="*/ 387 w 669"/>
                <a:gd name="T13" fmla="*/ 471 h 579"/>
                <a:gd name="T14" fmla="*/ 669 w 669"/>
                <a:gd name="T15" fmla="*/ 276 h 579"/>
                <a:gd name="T16" fmla="*/ 645 w 669"/>
                <a:gd name="T17" fmla="*/ 201 h 579"/>
                <a:gd name="T18" fmla="*/ 618 w 669"/>
                <a:gd name="T19" fmla="*/ 150 h 579"/>
                <a:gd name="T20" fmla="*/ 591 w 669"/>
                <a:gd name="T21" fmla="*/ 108 h 579"/>
                <a:gd name="T22" fmla="*/ 543 w 669"/>
                <a:gd name="T23" fmla="*/ 54 h 579"/>
                <a:gd name="T24" fmla="*/ 489 w 669"/>
                <a:gd name="T25" fmla="*/ 0 h 5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69"/>
                <a:gd name="T40" fmla="*/ 0 h 579"/>
                <a:gd name="T41" fmla="*/ 669 w 669"/>
                <a:gd name="T42" fmla="*/ 579 h 5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69" h="579">
                  <a:moveTo>
                    <a:pt x="489" y="0"/>
                  </a:moveTo>
                  <a:lnTo>
                    <a:pt x="216" y="162"/>
                  </a:lnTo>
                  <a:lnTo>
                    <a:pt x="0" y="291"/>
                  </a:lnTo>
                  <a:lnTo>
                    <a:pt x="72" y="354"/>
                  </a:lnTo>
                  <a:lnTo>
                    <a:pt x="135" y="444"/>
                  </a:lnTo>
                  <a:lnTo>
                    <a:pt x="195" y="579"/>
                  </a:lnTo>
                  <a:lnTo>
                    <a:pt x="387" y="471"/>
                  </a:lnTo>
                  <a:lnTo>
                    <a:pt x="669" y="276"/>
                  </a:lnTo>
                  <a:lnTo>
                    <a:pt x="645" y="201"/>
                  </a:lnTo>
                  <a:lnTo>
                    <a:pt x="618" y="150"/>
                  </a:lnTo>
                  <a:lnTo>
                    <a:pt x="591" y="108"/>
                  </a:lnTo>
                  <a:lnTo>
                    <a:pt x="543" y="54"/>
                  </a:lnTo>
                  <a:lnTo>
                    <a:pt x="48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77" name="Freeform 121"/>
            <p:cNvSpPr>
              <a:spLocks/>
            </p:cNvSpPr>
            <p:nvPr/>
          </p:nvSpPr>
          <p:spPr bwMode="auto">
            <a:xfrm>
              <a:off x="2742" y="1533"/>
              <a:ext cx="654" cy="582"/>
            </a:xfrm>
            <a:custGeom>
              <a:avLst/>
              <a:gdLst>
                <a:gd name="T0" fmla="*/ 480 w 654"/>
                <a:gd name="T1" fmla="*/ 0 h 582"/>
                <a:gd name="T2" fmla="*/ 249 w 654"/>
                <a:gd name="T3" fmla="*/ 150 h 582"/>
                <a:gd name="T4" fmla="*/ 0 w 654"/>
                <a:gd name="T5" fmla="*/ 300 h 582"/>
                <a:gd name="T6" fmla="*/ 66 w 654"/>
                <a:gd name="T7" fmla="*/ 372 h 582"/>
                <a:gd name="T8" fmla="*/ 120 w 654"/>
                <a:gd name="T9" fmla="*/ 435 h 582"/>
                <a:gd name="T10" fmla="*/ 189 w 654"/>
                <a:gd name="T11" fmla="*/ 582 h 582"/>
                <a:gd name="T12" fmla="*/ 360 w 654"/>
                <a:gd name="T13" fmla="*/ 471 h 582"/>
                <a:gd name="T14" fmla="*/ 654 w 654"/>
                <a:gd name="T15" fmla="*/ 246 h 582"/>
                <a:gd name="T16" fmla="*/ 606 w 654"/>
                <a:gd name="T17" fmla="*/ 153 h 582"/>
                <a:gd name="T18" fmla="*/ 543 w 654"/>
                <a:gd name="T19" fmla="*/ 54 h 582"/>
                <a:gd name="T20" fmla="*/ 480 w 654"/>
                <a:gd name="T21" fmla="*/ 0 h 58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4"/>
                <a:gd name="T34" fmla="*/ 0 h 582"/>
                <a:gd name="T35" fmla="*/ 654 w 654"/>
                <a:gd name="T36" fmla="*/ 582 h 58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4" h="582">
                  <a:moveTo>
                    <a:pt x="480" y="0"/>
                  </a:moveTo>
                  <a:lnTo>
                    <a:pt x="249" y="150"/>
                  </a:lnTo>
                  <a:lnTo>
                    <a:pt x="0" y="300"/>
                  </a:lnTo>
                  <a:lnTo>
                    <a:pt x="66" y="372"/>
                  </a:lnTo>
                  <a:lnTo>
                    <a:pt x="120" y="435"/>
                  </a:lnTo>
                  <a:lnTo>
                    <a:pt x="189" y="582"/>
                  </a:lnTo>
                  <a:lnTo>
                    <a:pt x="360" y="471"/>
                  </a:lnTo>
                  <a:lnTo>
                    <a:pt x="654" y="246"/>
                  </a:lnTo>
                  <a:lnTo>
                    <a:pt x="606" y="153"/>
                  </a:lnTo>
                  <a:lnTo>
                    <a:pt x="543" y="54"/>
                  </a:lnTo>
                  <a:lnTo>
                    <a:pt x="480"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22578" name="Freeform 122"/>
            <p:cNvSpPr>
              <a:spLocks/>
            </p:cNvSpPr>
            <p:nvPr/>
          </p:nvSpPr>
          <p:spPr bwMode="auto">
            <a:xfrm>
              <a:off x="3234" y="1239"/>
              <a:ext cx="555" cy="537"/>
            </a:xfrm>
            <a:custGeom>
              <a:avLst/>
              <a:gdLst>
                <a:gd name="T0" fmla="*/ 423 w 555"/>
                <a:gd name="T1" fmla="*/ 0 h 537"/>
                <a:gd name="T2" fmla="*/ 219 w 555"/>
                <a:gd name="T3" fmla="*/ 144 h 537"/>
                <a:gd name="T4" fmla="*/ 0 w 555"/>
                <a:gd name="T5" fmla="*/ 285 h 537"/>
                <a:gd name="T6" fmla="*/ 66 w 555"/>
                <a:gd name="T7" fmla="*/ 354 h 537"/>
                <a:gd name="T8" fmla="*/ 132 w 555"/>
                <a:gd name="T9" fmla="*/ 447 h 537"/>
                <a:gd name="T10" fmla="*/ 177 w 555"/>
                <a:gd name="T11" fmla="*/ 537 h 537"/>
                <a:gd name="T12" fmla="*/ 312 w 555"/>
                <a:gd name="T13" fmla="*/ 444 h 537"/>
                <a:gd name="T14" fmla="*/ 555 w 555"/>
                <a:gd name="T15" fmla="*/ 240 h 537"/>
                <a:gd name="T16" fmla="*/ 525 w 555"/>
                <a:gd name="T17" fmla="*/ 135 h 537"/>
                <a:gd name="T18" fmla="*/ 504 w 555"/>
                <a:gd name="T19" fmla="*/ 75 h 537"/>
                <a:gd name="T20" fmla="*/ 459 w 555"/>
                <a:gd name="T21" fmla="*/ 36 h 537"/>
                <a:gd name="T22" fmla="*/ 423 w 555"/>
                <a:gd name="T23" fmla="*/ 0 h 5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5"/>
                <a:gd name="T37" fmla="*/ 0 h 537"/>
                <a:gd name="T38" fmla="*/ 555 w 555"/>
                <a:gd name="T39" fmla="*/ 537 h 53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5" h="537">
                  <a:moveTo>
                    <a:pt x="423" y="0"/>
                  </a:moveTo>
                  <a:lnTo>
                    <a:pt x="219" y="144"/>
                  </a:lnTo>
                  <a:lnTo>
                    <a:pt x="0" y="285"/>
                  </a:lnTo>
                  <a:lnTo>
                    <a:pt x="66" y="354"/>
                  </a:lnTo>
                  <a:lnTo>
                    <a:pt x="132" y="447"/>
                  </a:lnTo>
                  <a:lnTo>
                    <a:pt x="177" y="537"/>
                  </a:lnTo>
                  <a:lnTo>
                    <a:pt x="312" y="444"/>
                  </a:lnTo>
                  <a:lnTo>
                    <a:pt x="555" y="240"/>
                  </a:lnTo>
                  <a:lnTo>
                    <a:pt x="525" y="135"/>
                  </a:lnTo>
                  <a:lnTo>
                    <a:pt x="504" y="75"/>
                  </a:lnTo>
                  <a:lnTo>
                    <a:pt x="459" y="36"/>
                  </a:lnTo>
                  <a:lnTo>
                    <a:pt x="42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79" name="Freeform 123"/>
            <p:cNvSpPr>
              <a:spLocks/>
            </p:cNvSpPr>
            <p:nvPr/>
          </p:nvSpPr>
          <p:spPr bwMode="auto">
            <a:xfrm>
              <a:off x="3675" y="1107"/>
              <a:ext cx="204" cy="366"/>
            </a:xfrm>
            <a:custGeom>
              <a:avLst/>
              <a:gdLst>
                <a:gd name="T0" fmla="*/ 165 w 204"/>
                <a:gd name="T1" fmla="*/ 0 h 366"/>
                <a:gd name="T2" fmla="*/ 0 w 204"/>
                <a:gd name="T3" fmla="*/ 123 h 366"/>
                <a:gd name="T4" fmla="*/ 36 w 204"/>
                <a:gd name="T5" fmla="*/ 174 h 366"/>
                <a:gd name="T6" fmla="*/ 75 w 204"/>
                <a:gd name="T7" fmla="*/ 216 h 366"/>
                <a:gd name="T8" fmla="*/ 120 w 204"/>
                <a:gd name="T9" fmla="*/ 366 h 366"/>
                <a:gd name="T10" fmla="*/ 204 w 204"/>
                <a:gd name="T11" fmla="*/ 318 h 366"/>
                <a:gd name="T12" fmla="*/ 165 w 204"/>
                <a:gd name="T13" fmla="*/ 0 h 366"/>
                <a:gd name="T14" fmla="*/ 0 60000 65536"/>
                <a:gd name="T15" fmla="*/ 0 60000 65536"/>
                <a:gd name="T16" fmla="*/ 0 60000 65536"/>
                <a:gd name="T17" fmla="*/ 0 60000 65536"/>
                <a:gd name="T18" fmla="*/ 0 60000 65536"/>
                <a:gd name="T19" fmla="*/ 0 60000 65536"/>
                <a:gd name="T20" fmla="*/ 0 60000 65536"/>
                <a:gd name="T21" fmla="*/ 0 w 204"/>
                <a:gd name="T22" fmla="*/ 0 h 366"/>
                <a:gd name="T23" fmla="*/ 204 w 204"/>
                <a:gd name="T24" fmla="*/ 366 h 3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4" h="366">
                  <a:moveTo>
                    <a:pt x="165" y="0"/>
                  </a:moveTo>
                  <a:lnTo>
                    <a:pt x="0" y="123"/>
                  </a:lnTo>
                  <a:lnTo>
                    <a:pt x="36" y="174"/>
                  </a:lnTo>
                  <a:lnTo>
                    <a:pt x="75" y="216"/>
                  </a:lnTo>
                  <a:lnTo>
                    <a:pt x="120" y="366"/>
                  </a:lnTo>
                  <a:lnTo>
                    <a:pt x="204" y="318"/>
                  </a:lnTo>
                  <a:lnTo>
                    <a:pt x="16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80" name="Freeform 124"/>
            <p:cNvSpPr>
              <a:spLocks/>
            </p:cNvSpPr>
            <p:nvPr/>
          </p:nvSpPr>
          <p:spPr bwMode="auto">
            <a:xfrm>
              <a:off x="1866" y="2505"/>
              <a:ext cx="642" cy="537"/>
            </a:xfrm>
            <a:custGeom>
              <a:avLst/>
              <a:gdLst>
                <a:gd name="T0" fmla="*/ 450 w 642"/>
                <a:gd name="T1" fmla="*/ 0 h 537"/>
                <a:gd name="T2" fmla="*/ 222 w 642"/>
                <a:gd name="T3" fmla="*/ 111 h 537"/>
                <a:gd name="T4" fmla="*/ 0 w 642"/>
                <a:gd name="T5" fmla="*/ 207 h 537"/>
                <a:gd name="T6" fmla="*/ 84 w 642"/>
                <a:gd name="T7" fmla="*/ 537 h 537"/>
                <a:gd name="T8" fmla="*/ 213 w 642"/>
                <a:gd name="T9" fmla="*/ 489 h 537"/>
                <a:gd name="T10" fmla="*/ 366 w 642"/>
                <a:gd name="T11" fmla="*/ 423 h 537"/>
                <a:gd name="T12" fmla="*/ 510 w 642"/>
                <a:gd name="T13" fmla="*/ 351 h 537"/>
                <a:gd name="T14" fmla="*/ 642 w 642"/>
                <a:gd name="T15" fmla="*/ 285 h 537"/>
                <a:gd name="T16" fmla="*/ 579 w 642"/>
                <a:gd name="T17" fmla="*/ 141 h 537"/>
                <a:gd name="T18" fmla="*/ 522 w 642"/>
                <a:gd name="T19" fmla="*/ 69 h 537"/>
                <a:gd name="T20" fmla="*/ 450 w 642"/>
                <a:gd name="T21" fmla="*/ 0 h 5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2"/>
                <a:gd name="T34" fmla="*/ 0 h 537"/>
                <a:gd name="T35" fmla="*/ 642 w 642"/>
                <a:gd name="T36" fmla="*/ 537 h 5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2" h="537">
                  <a:moveTo>
                    <a:pt x="450" y="0"/>
                  </a:moveTo>
                  <a:lnTo>
                    <a:pt x="222" y="111"/>
                  </a:lnTo>
                  <a:lnTo>
                    <a:pt x="0" y="207"/>
                  </a:lnTo>
                  <a:lnTo>
                    <a:pt x="84" y="537"/>
                  </a:lnTo>
                  <a:lnTo>
                    <a:pt x="213" y="489"/>
                  </a:lnTo>
                  <a:lnTo>
                    <a:pt x="366" y="423"/>
                  </a:lnTo>
                  <a:lnTo>
                    <a:pt x="510" y="351"/>
                  </a:lnTo>
                  <a:lnTo>
                    <a:pt x="642" y="285"/>
                  </a:lnTo>
                  <a:lnTo>
                    <a:pt x="579" y="141"/>
                  </a:lnTo>
                  <a:lnTo>
                    <a:pt x="522" y="69"/>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81" name="Freeform 125"/>
            <p:cNvSpPr>
              <a:spLocks/>
            </p:cNvSpPr>
            <p:nvPr/>
          </p:nvSpPr>
          <p:spPr bwMode="auto">
            <a:xfrm>
              <a:off x="2331" y="2238"/>
              <a:ext cx="606" cy="549"/>
            </a:xfrm>
            <a:custGeom>
              <a:avLst/>
              <a:gdLst>
                <a:gd name="T0" fmla="*/ 438 w 606"/>
                <a:gd name="T1" fmla="*/ 0 h 549"/>
                <a:gd name="T2" fmla="*/ 246 w 606"/>
                <a:gd name="T3" fmla="*/ 126 h 549"/>
                <a:gd name="T4" fmla="*/ 0 w 606"/>
                <a:gd name="T5" fmla="*/ 261 h 549"/>
                <a:gd name="T6" fmla="*/ 57 w 606"/>
                <a:gd name="T7" fmla="*/ 324 h 549"/>
                <a:gd name="T8" fmla="*/ 105 w 606"/>
                <a:gd name="T9" fmla="*/ 384 h 549"/>
                <a:gd name="T10" fmla="*/ 153 w 606"/>
                <a:gd name="T11" fmla="*/ 465 h 549"/>
                <a:gd name="T12" fmla="*/ 183 w 606"/>
                <a:gd name="T13" fmla="*/ 549 h 549"/>
                <a:gd name="T14" fmla="*/ 411 w 606"/>
                <a:gd name="T15" fmla="*/ 420 h 549"/>
                <a:gd name="T16" fmla="*/ 606 w 606"/>
                <a:gd name="T17" fmla="*/ 294 h 549"/>
                <a:gd name="T18" fmla="*/ 540 w 606"/>
                <a:gd name="T19" fmla="*/ 147 h 549"/>
                <a:gd name="T20" fmla="*/ 489 w 606"/>
                <a:gd name="T21" fmla="*/ 63 h 549"/>
                <a:gd name="T22" fmla="*/ 438 w 606"/>
                <a:gd name="T23" fmla="*/ 0 h 5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6"/>
                <a:gd name="T37" fmla="*/ 0 h 549"/>
                <a:gd name="T38" fmla="*/ 606 w 606"/>
                <a:gd name="T39" fmla="*/ 549 h 5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6" h="549">
                  <a:moveTo>
                    <a:pt x="438" y="0"/>
                  </a:moveTo>
                  <a:lnTo>
                    <a:pt x="246" y="126"/>
                  </a:lnTo>
                  <a:lnTo>
                    <a:pt x="0" y="261"/>
                  </a:lnTo>
                  <a:lnTo>
                    <a:pt x="57" y="324"/>
                  </a:lnTo>
                  <a:lnTo>
                    <a:pt x="105" y="384"/>
                  </a:lnTo>
                  <a:lnTo>
                    <a:pt x="153" y="465"/>
                  </a:lnTo>
                  <a:lnTo>
                    <a:pt x="183" y="549"/>
                  </a:lnTo>
                  <a:lnTo>
                    <a:pt x="411" y="420"/>
                  </a:lnTo>
                  <a:lnTo>
                    <a:pt x="606" y="294"/>
                  </a:lnTo>
                  <a:lnTo>
                    <a:pt x="540" y="147"/>
                  </a:lnTo>
                  <a:lnTo>
                    <a:pt x="489" y="63"/>
                  </a:lnTo>
                  <a:lnTo>
                    <a:pt x="438"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22582" name="Freeform 126"/>
            <p:cNvSpPr>
              <a:spLocks/>
            </p:cNvSpPr>
            <p:nvPr/>
          </p:nvSpPr>
          <p:spPr bwMode="auto">
            <a:xfrm>
              <a:off x="2775" y="1926"/>
              <a:ext cx="645" cy="597"/>
            </a:xfrm>
            <a:custGeom>
              <a:avLst/>
              <a:gdLst>
                <a:gd name="T0" fmla="*/ 453 w 645"/>
                <a:gd name="T1" fmla="*/ 0 h 597"/>
                <a:gd name="T2" fmla="*/ 231 w 645"/>
                <a:gd name="T3" fmla="*/ 153 h 597"/>
                <a:gd name="T4" fmla="*/ 0 w 645"/>
                <a:gd name="T5" fmla="*/ 306 h 597"/>
                <a:gd name="T6" fmla="*/ 48 w 645"/>
                <a:gd name="T7" fmla="*/ 369 h 597"/>
                <a:gd name="T8" fmla="*/ 93 w 645"/>
                <a:gd name="T9" fmla="*/ 432 h 597"/>
                <a:gd name="T10" fmla="*/ 132 w 645"/>
                <a:gd name="T11" fmla="*/ 507 h 597"/>
                <a:gd name="T12" fmla="*/ 171 w 645"/>
                <a:gd name="T13" fmla="*/ 597 h 597"/>
                <a:gd name="T14" fmla="*/ 411 w 645"/>
                <a:gd name="T15" fmla="*/ 411 h 597"/>
                <a:gd name="T16" fmla="*/ 645 w 645"/>
                <a:gd name="T17" fmla="*/ 216 h 597"/>
                <a:gd name="T18" fmla="*/ 618 w 645"/>
                <a:gd name="T19" fmla="*/ 153 h 597"/>
                <a:gd name="T20" fmla="*/ 567 w 645"/>
                <a:gd name="T21" fmla="*/ 90 h 597"/>
                <a:gd name="T22" fmla="*/ 516 w 645"/>
                <a:gd name="T23" fmla="*/ 39 h 597"/>
                <a:gd name="T24" fmla="*/ 453 w 645"/>
                <a:gd name="T25" fmla="*/ 0 h 59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5"/>
                <a:gd name="T40" fmla="*/ 0 h 597"/>
                <a:gd name="T41" fmla="*/ 645 w 645"/>
                <a:gd name="T42" fmla="*/ 597 h 59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5" h="597">
                  <a:moveTo>
                    <a:pt x="453" y="0"/>
                  </a:moveTo>
                  <a:lnTo>
                    <a:pt x="231" y="153"/>
                  </a:lnTo>
                  <a:lnTo>
                    <a:pt x="0" y="306"/>
                  </a:lnTo>
                  <a:lnTo>
                    <a:pt x="48" y="369"/>
                  </a:lnTo>
                  <a:lnTo>
                    <a:pt x="93" y="432"/>
                  </a:lnTo>
                  <a:lnTo>
                    <a:pt x="132" y="507"/>
                  </a:lnTo>
                  <a:lnTo>
                    <a:pt x="171" y="597"/>
                  </a:lnTo>
                  <a:lnTo>
                    <a:pt x="411" y="411"/>
                  </a:lnTo>
                  <a:lnTo>
                    <a:pt x="645" y="216"/>
                  </a:lnTo>
                  <a:lnTo>
                    <a:pt x="618" y="153"/>
                  </a:lnTo>
                  <a:lnTo>
                    <a:pt x="567" y="90"/>
                  </a:lnTo>
                  <a:lnTo>
                    <a:pt x="516" y="39"/>
                  </a:lnTo>
                  <a:lnTo>
                    <a:pt x="453"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83" name="Freeform 127"/>
            <p:cNvSpPr>
              <a:spLocks/>
            </p:cNvSpPr>
            <p:nvPr/>
          </p:nvSpPr>
          <p:spPr bwMode="auto">
            <a:xfrm>
              <a:off x="3240" y="1590"/>
              <a:ext cx="567" cy="546"/>
            </a:xfrm>
            <a:custGeom>
              <a:avLst/>
              <a:gdLst>
                <a:gd name="T0" fmla="*/ 441 w 567"/>
                <a:gd name="T1" fmla="*/ 0 h 546"/>
                <a:gd name="T2" fmla="*/ 237 w 567"/>
                <a:gd name="T3" fmla="*/ 150 h 546"/>
                <a:gd name="T4" fmla="*/ 0 w 567"/>
                <a:gd name="T5" fmla="*/ 330 h 546"/>
                <a:gd name="T6" fmla="*/ 54 w 567"/>
                <a:gd name="T7" fmla="*/ 366 h 546"/>
                <a:gd name="T8" fmla="*/ 117 w 567"/>
                <a:gd name="T9" fmla="*/ 429 h 546"/>
                <a:gd name="T10" fmla="*/ 168 w 567"/>
                <a:gd name="T11" fmla="*/ 492 h 546"/>
                <a:gd name="T12" fmla="*/ 192 w 567"/>
                <a:gd name="T13" fmla="*/ 546 h 546"/>
                <a:gd name="T14" fmla="*/ 369 w 567"/>
                <a:gd name="T15" fmla="*/ 396 h 546"/>
                <a:gd name="T16" fmla="*/ 567 w 567"/>
                <a:gd name="T17" fmla="*/ 204 h 546"/>
                <a:gd name="T18" fmla="*/ 531 w 567"/>
                <a:gd name="T19" fmla="*/ 111 h 546"/>
                <a:gd name="T20" fmla="*/ 483 w 567"/>
                <a:gd name="T21" fmla="*/ 39 h 546"/>
                <a:gd name="T22" fmla="*/ 441 w 567"/>
                <a:gd name="T23" fmla="*/ 0 h 5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67"/>
                <a:gd name="T37" fmla="*/ 0 h 546"/>
                <a:gd name="T38" fmla="*/ 567 w 567"/>
                <a:gd name="T39" fmla="*/ 546 h 5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67" h="546">
                  <a:moveTo>
                    <a:pt x="441" y="0"/>
                  </a:moveTo>
                  <a:lnTo>
                    <a:pt x="237" y="150"/>
                  </a:lnTo>
                  <a:lnTo>
                    <a:pt x="0" y="330"/>
                  </a:lnTo>
                  <a:lnTo>
                    <a:pt x="54" y="366"/>
                  </a:lnTo>
                  <a:lnTo>
                    <a:pt x="117" y="429"/>
                  </a:lnTo>
                  <a:lnTo>
                    <a:pt x="168" y="492"/>
                  </a:lnTo>
                  <a:lnTo>
                    <a:pt x="192" y="546"/>
                  </a:lnTo>
                  <a:lnTo>
                    <a:pt x="369" y="396"/>
                  </a:lnTo>
                  <a:lnTo>
                    <a:pt x="567" y="204"/>
                  </a:lnTo>
                  <a:lnTo>
                    <a:pt x="531" y="111"/>
                  </a:lnTo>
                  <a:lnTo>
                    <a:pt x="483" y="39"/>
                  </a:lnTo>
                  <a:lnTo>
                    <a:pt x="44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84" name="Freeform 128"/>
            <p:cNvSpPr>
              <a:spLocks/>
            </p:cNvSpPr>
            <p:nvPr/>
          </p:nvSpPr>
          <p:spPr bwMode="auto">
            <a:xfrm>
              <a:off x="3684" y="1434"/>
              <a:ext cx="234" cy="345"/>
            </a:xfrm>
            <a:custGeom>
              <a:avLst/>
              <a:gdLst>
                <a:gd name="T0" fmla="*/ 198 w 234"/>
                <a:gd name="T1" fmla="*/ 0 h 345"/>
                <a:gd name="T2" fmla="*/ 111 w 234"/>
                <a:gd name="T3" fmla="*/ 54 h 345"/>
                <a:gd name="T4" fmla="*/ 0 w 234"/>
                <a:gd name="T5" fmla="*/ 153 h 345"/>
                <a:gd name="T6" fmla="*/ 45 w 234"/>
                <a:gd name="T7" fmla="*/ 192 h 345"/>
                <a:gd name="T8" fmla="*/ 75 w 234"/>
                <a:gd name="T9" fmla="*/ 234 h 345"/>
                <a:gd name="T10" fmla="*/ 129 w 234"/>
                <a:gd name="T11" fmla="*/ 345 h 345"/>
                <a:gd name="T12" fmla="*/ 234 w 234"/>
                <a:gd name="T13" fmla="*/ 252 h 345"/>
                <a:gd name="T14" fmla="*/ 198 w 234"/>
                <a:gd name="T15" fmla="*/ 0 h 345"/>
                <a:gd name="T16" fmla="*/ 0 60000 65536"/>
                <a:gd name="T17" fmla="*/ 0 60000 65536"/>
                <a:gd name="T18" fmla="*/ 0 60000 65536"/>
                <a:gd name="T19" fmla="*/ 0 60000 65536"/>
                <a:gd name="T20" fmla="*/ 0 60000 65536"/>
                <a:gd name="T21" fmla="*/ 0 60000 65536"/>
                <a:gd name="T22" fmla="*/ 0 60000 65536"/>
                <a:gd name="T23" fmla="*/ 0 60000 65536"/>
                <a:gd name="T24" fmla="*/ 0 w 234"/>
                <a:gd name="T25" fmla="*/ 0 h 345"/>
                <a:gd name="T26" fmla="*/ 234 w 234"/>
                <a:gd name="T27" fmla="*/ 345 h 3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4" h="345">
                  <a:moveTo>
                    <a:pt x="198" y="0"/>
                  </a:moveTo>
                  <a:lnTo>
                    <a:pt x="111" y="54"/>
                  </a:lnTo>
                  <a:lnTo>
                    <a:pt x="0" y="153"/>
                  </a:lnTo>
                  <a:lnTo>
                    <a:pt x="45" y="192"/>
                  </a:lnTo>
                  <a:lnTo>
                    <a:pt x="75" y="234"/>
                  </a:lnTo>
                  <a:lnTo>
                    <a:pt x="129" y="345"/>
                  </a:lnTo>
                  <a:lnTo>
                    <a:pt x="234" y="252"/>
                  </a:lnTo>
                  <a:lnTo>
                    <a:pt x="19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85" name="Freeform 129"/>
            <p:cNvSpPr>
              <a:spLocks/>
            </p:cNvSpPr>
            <p:nvPr/>
          </p:nvSpPr>
          <p:spPr bwMode="auto">
            <a:xfrm>
              <a:off x="1956" y="2859"/>
              <a:ext cx="624" cy="555"/>
            </a:xfrm>
            <a:custGeom>
              <a:avLst/>
              <a:gdLst>
                <a:gd name="T0" fmla="*/ 447 w 624"/>
                <a:gd name="T1" fmla="*/ 0 h 555"/>
                <a:gd name="T2" fmla="*/ 222 w 624"/>
                <a:gd name="T3" fmla="*/ 117 h 555"/>
                <a:gd name="T4" fmla="*/ 0 w 624"/>
                <a:gd name="T5" fmla="*/ 198 h 555"/>
                <a:gd name="T6" fmla="*/ 60 w 624"/>
                <a:gd name="T7" fmla="*/ 555 h 555"/>
                <a:gd name="T8" fmla="*/ 213 w 624"/>
                <a:gd name="T9" fmla="*/ 489 h 555"/>
                <a:gd name="T10" fmla="*/ 369 w 624"/>
                <a:gd name="T11" fmla="*/ 408 h 555"/>
                <a:gd name="T12" fmla="*/ 489 w 624"/>
                <a:gd name="T13" fmla="*/ 342 h 555"/>
                <a:gd name="T14" fmla="*/ 624 w 624"/>
                <a:gd name="T15" fmla="*/ 267 h 555"/>
                <a:gd name="T16" fmla="*/ 591 w 624"/>
                <a:gd name="T17" fmla="*/ 162 h 555"/>
                <a:gd name="T18" fmla="*/ 546 w 624"/>
                <a:gd name="T19" fmla="*/ 84 h 555"/>
                <a:gd name="T20" fmla="*/ 495 w 624"/>
                <a:gd name="T21" fmla="*/ 39 h 555"/>
                <a:gd name="T22" fmla="*/ 447 w 624"/>
                <a:gd name="T23" fmla="*/ 0 h 5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4"/>
                <a:gd name="T37" fmla="*/ 0 h 555"/>
                <a:gd name="T38" fmla="*/ 624 w 624"/>
                <a:gd name="T39" fmla="*/ 555 h 5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4" h="555">
                  <a:moveTo>
                    <a:pt x="447" y="0"/>
                  </a:moveTo>
                  <a:lnTo>
                    <a:pt x="222" y="117"/>
                  </a:lnTo>
                  <a:lnTo>
                    <a:pt x="0" y="198"/>
                  </a:lnTo>
                  <a:lnTo>
                    <a:pt x="60" y="555"/>
                  </a:lnTo>
                  <a:lnTo>
                    <a:pt x="213" y="489"/>
                  </a:lnTo>
                  <a:lnTo>
                    <a:pt x="369" y="408"/>
                  </a:lnTo>
                  <a:lnTo>
                    <a:pt x="489" y="342"/>
                  </a:lnTo>
                  <a:lnTo>
                    <a:pt x="624" y="267"/>
                  </a:lnTo>
                  <a:lnTo>
                    <a:pt x="591" y="162"/>
                  </a:lnTo>
                  <a:lnTo>
                    <a:pt x="546" y="84"/>
                  </a:lnTo>
                  <a:lnTo>
                    <a:pt x="495" y="39"/>
                  </a:lnTo>
                  <a:lnTo>
                    <a:pt x="447" y="0"/>
                  </a:lnTo>
                  <a:close/>
                </a:path>
              </a:pathLst>
            </a:custGeom>
            <a:gradFill rotWithShape="0">
              <a:gsLst>
                <a:gs pos="0">
                  <a:srgbClr val="B97777"/>
                </a:gs>
                <a:gs pos="50000">
                  <a:srgbClr val="D2A6A8"/>
                </a:gs>
                <a:gs pos="100000">
                  <a:srgbClr val="B97777"/>
                </a:gs>
              </a:gsLst>
              <a:lin ang="0" scaled="1"/>
            </a:gradFill>
            <a:ln w="12700" cap="flat" cmpd="sng">
              <a:noFill/>
              <a:prstDash val="solid"/>
              <a:round/>
              <a:headEnd type="none" w="sm" len="sm"/>
              <a:tailEnd type="none" w="sm" len="sm"/>
            </a:ln>
          </p:spPr>
          <p:txBody>
            <a:bodyPr wrap="none" anchor="ctr"/>
            <a:lstStyle/>
            <a:p>
              <a:endParaRPr lang="en-US"/>
            </a:p>
          </p:txBody>
        </p:sp>
        <p:sp>
          <p:nvSpPr>
            <p:cNvPr id="22586" name="Freeform 130"/>
            <p:cNvSpPr>
              <a:spLocks/>
            </p:cNvSpPr>
            <p:nvPr/>
          </p:nvSpPr>
          <p:spPr bwMode="auto">
            <a:xfrm>
              <a:off x="2418" y="2595"/>
              <a:ext cx="576" cy="525"/>
            </a:xfrm>
            <a:custGeom>
              <a:avLst/>
              <a:gdLst>
                <a:gd name="T0" fmla="*/ 450 w 576"/>
                <a:gd name="T1" fmla="*/ 0 h 525"/>
                <a:gd name="T2" fmla="*/ 255 w 576"/>
                <a:gd name="T3" fmla="*/ 120 h 525"/>
                <a:gd name="T4" fmla="*/ 0 w 576"/>
                <a:gd name="T5" fmla="*/ 264 h 525"/>
                <a:gd name="T6" fmla="*/ 66 w 576"/>
                <a:gd name="T7" fmla="*/ 318 h 525"/>
                <a:gd name="T8" fmla="*/ 114 w 576"/>
                <a:gd name="T9" fmla="*/ 378 h 525"/>
                <a:gd name="T10" fmla="*/ 150 w 576"/>
                <a:gd name="T11" fmla="*/ 456 h 525"/>
                <a:gd name="T12" fmla="*/ 171 w 576"/>
                <a:gd name="T13" fmla="*/ 525 h 525"/>
                <a:gd name="T14" fmla="*/ 387 w 576"/>
                <a:gd name="T15" fmla="*/ 369 h 525"/>
                <a:gd name="T16" fmla="*/ 576 w 576"/>
                <a:gd name="T17" fmla="*/ 228 h 525"/>
                <a:gd name="T18" fmla="*/ 549 w 576"/>
                <a:gd name="T19" fmla="*/ 141 h 525"/>
                <a:gd name="T20" fmla="*/ 498 w 576"/>
                <a:gd name="T21" fmla="*/ 57 h 525"/>
                <a:gd name="T22" fmla="*/ 450 w 576"/>
                <a:gd name="T23" fmla="*/ 0 h 5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76"/>
                <a:gd name="T37" fmla="*/ 0 h 525"/>
                <a:gd name="T38" fmla="*/ 576 w 576"/>
                <a:gd name="T39" fmla="*/ 525 h 5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76" h="525">
                  <a:moveTo>
                    <a:pt x="450" y="0"/>
                  </a:moveTo>
                  <a:lnTo>
                    <a:pt x="255" y="120"/>
                  </a:lnTo>
                  <a:lnTo>
                    <a:pt x="0" y="264"/>
                  </a:lnTo>
                  <a:lnTo>
                    <a:pt x="66" y="318"/>
                  </a:lnTo>
                  <a:lnTo>
                    <a:pt x="114" y="378"/>
                  </a:lnTo>
                  <a:lnTo>
                    <a:pt x="150" y="456"/>
                  </a:lnTo>
                  <a:lnTo>
                    <a:pt x="171" y="525"/>
                  </a:lnTo>
                  <a:lnTo>
                    <a:pt x="387" y="369"/>
                  </a:lnTo>
                  <a:lnTo>
                    <a:pt x="576" y="228"/>
                  </a:lnTo>
                  <a:lnTo>
                    <a:pt x="549" y="141"/>
                  </a:lnTo>
                  <a:lnTo>
                    <a:pt x="498" y="57"/>
                  </a:lnTo>
                  <a:lnTo>
                    <a:pt x="450"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87" name="Freeform 131"/>
            <p:cNvSpPr>
              <a:spLocks/>
            </p:cNvSpPr>
            <p:nvPr/>
          </p:nvSpPr>
          <p:spPr bwMode="auto">
            <a:xfrm>
              <a:off x="2880" y="2301"/>
              <a:ext cx="522" cy="519"/>
            </a:xfrm>
            <a:custGeom>
              <a:avLst/>
              <a:gdLst>
                <a:gd name="T0" fmla="*/ 375 w 522"/>
                <a:gd name="T1" fmla="*/ 0 h 519"/>
                <a:gd name="T2" fmla="*/ 219 w 522"/>
                <a:gd name="T3" fmla="*/ 120 h 519"/>
                <a:gd name="T4" fmla="*/ 0 w 522"/>
                <a:gd name="T5" fmla="*/ 285 h 519"/>
                <a:gd name="T6" fmla="*/ 33 w 522"/>
                <a:gd name="T7" fmla="*/ 330 h 519"/>
                <a:gd name="T8" fmla="*/ 84 w 522"/>
                <a:gd name="T9" fmla="*/ 393 h 519"/>
                <a:gd name="T10" fmla="*/ 108 w 522"/>
                <a:gd name="T11" fmla="*/ 453 h 519"/>
                <a:gd name="T12" fmla="*/ 126 w 522"/>
                <a:gd name="T13" fmla="*/ 519 h 519"/>
                <a:gd name="T14" fmla="*/ 330 w 522"/>
                <a:gd name="T15" fmla="*/ 354 h 519"/>
                <a:gd name="T16" fmla="*/ 522 w 522"/>
                <a:gd name="T17" fmla="*/ 183 h 519"/>
                <a:gd name="T18" fmla="*/ 489 w 522"/>
                <a:gd name="T19" fmla="*/ 120 h 519"/>
                <a:gd name="T20" fmla="*/ 468 w 522"/>
                <a:gd name="T21" fmla="*/ 84 h 519"/>
                <a:gd name="T22" fmla="*/ 444 w 522"/>
                <a:gd name="T23" fmla="*/ 54 h 519"/>
                <a:gd name="T24" fmla="*/ 375 w 522"/>
                <a:gd name="T25" fmla="*/ 0 h 51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2"/>
                <a:gd name="T40" fmla="*/ 0 h 519"/>
                <a:gd name="T41" fmla="*/ 522 w 522"/>
                <a:gd name="T42" fmla="*/ 519 h 51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2" h="519">
                  <a:moveTo>
                    <a:pt x="375" y="0"/>
                  </a:moveTo>
                  <a:lnTo>
                    <a:pt x="219" y="120"/>
                  </a:lnTo>
                  <a:lnTo>
                    <a:pt x="0" y="285"/>
                  </a:lnTo>
                  <a:lnTo>
                    <a:pt x="33" y="330"/>
                  </a:lnTo>
                  <a:lnTo>
                    <a:pt x="84" y="393"/>
                  </a:lnTo>
                  <a:lnTo>
                    <a:pt x="108" y="453"/>
                  </a:lnTo>
                  <a:lnTo>
                    <a:pt x="126" y="519"/>
                  </a:lnTo>
                  <a:lnTo>
                    <a:pt x="330" y="354"/>
                  </a:lnTo>
                  <a:lnTo>
                    <a:pt x="522" y="183"/>
                  </a:lnTo>
                  <a:lnTo>
                    <a:pt x="489" y="120"/>
                  </a:lnTo>
                  <a:lnTo>
                    <a:pt x="468" y="84"/>
                  </a:lnTo>
                  <a:lnTo>
                    <a:pt x="444" y="54"/>
                  </a:lnTo>
                  <a:lnTo>
                    <a:pt x="375" y="0"/>
                  </a:lnTo>
                  <a:close/>
                </a:path>
              </a:pathLst>
            </a:custGeom>
            <a:gradFill rotWithShape="0">
              <a:gsLst>
                <a:gs pos="0">
                  <a:srgbClr val="B26868"/>
                </a:gs>
                <a:gs pos="50000">
                  <a:srgbClr val="CD9D9F"/>
                </a:gs>
                <a:gs pos="100000">
                  <a:srgbClr val="B26868"/>
                </a:gs>
              </a:gsLst>
              <a:lin ang="0" scaled="1"/>
            </a:gradFill>
            <a:ln w="12700" cap="flat" cmpd="sng">
              <a:noFill/>
              <a:prstDash val="solid"/>
              <a:round/>
              <a:headEnd type="none" w="sm" len="sm"/>
              <a:tailEnd type="none" w="sm" len="sm"/>
            </a:ln>
          </p:spPr>
          <p:txBody>
            <a:bodyPr wrap="none" anchor="ctr"/>
            <a:lstStyle/>
            <a:p>
              <a:endParaRPr lang="en-US"/>
            </a:p>
          </p:txBody>
        </p:sp>
        <p:sp>
          <p:nvSpPr>
            <p:cNvPr id="22588" name="Freeform 132"/>
            <p:cNvSpPr>
              <a:spLocks/>
            </p:cNvSpPr>
            <p:nvPr/>
          </p:nvSpPr>
          <p:spPr bwMode="auto">
            <a:xfrm>
              <a:off x="3258" y="1959"/>
              <a:ext cx="519" cy="510"/>
            </a:xfrm>
            <a:custGeom>
              <a:avLst/>
              <a:gdLst>
                <a:gd name="T0" fmla="*/ 399 w 519"/>
                <a:gd name="T1" fmla="*/ 0 h 510"/>
                <a:gd name="T2" fmla="*/ 237 w 519"/>
                <a:gd name="T3" fmla="*/ 153 h 510"/>
                <a:gd name="T4" fmla="*/ 0 w 519"/>
                <a:gd name="T5" fmla="*/ 333 h 510"/>
                <a:gd name="T6" fmla="*/ 54 w 519"/>
                <a:gd name="T7" fmla="*/ 369 h 510"/>
                <a:gd name="T8" fmla="*/ 87 w 519"/>
                <a:gd name="T9" fmla="*/ 402 h 510"/>
                <a:gd name="T10" fmla="*/ 111 w 519"/>
                <a:gd name="T11" fmla="*/ 441 h 510"/>
                <a:gd name="T12" fmla="*/ 147 w 519"/>
                <a:gd name="T13" fmla="*/ 510 h 510"/>
                <a:gd name="T14" fmla="*/ 333 w 519"/>
                <a:gd name="T15" fmla="*/ 342 h 510"/>
                <a:gd name="T16" fmla="*/ 519 w 519"/>
                <a:gd name="T17" fmla="*/ 156 h 510"/>
                <a:gd name="T18" fmla="*/ 498 w 519"/>
                <a:gd name="T19" fmla="*/ 84 h 510"/>
                <a:gd name="T20" fmla="*/ 453 w 519"/>
                <a:gd name="T21" fmla="*/ 42 h 510"/>
                <a:gd name="T22" fmla="*/ 399 w 519"/>
                <a:gd name="T23" fmla="*/ 0 h 5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19"/>
                <a:gd name="T37" fmla="*/ 0 h 510"/>
                <a:gd name="T38" fmla="*/ 519 w 519"/>
                <a:gd name="T39" fmla="*/ 510 h 5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19" h="510">
                  <a:moveTo>
                    <a:pt x="399" y="0"/>
                  </a:moveTo>
                  <a:lnTo>
                    <a:pt x="237" y="153"/>
                  </a:lnTo>
                  <a:lnTo>
                    <a:pt x="0" y="333"/>
                  </a:lnTo>
                  <a:lnTo>
                    <a:pt x="54" y="369"/>
                  </a:lnTo>
                  <a:lnTo>
                    <a:pt x="87" y="402"/>
                  </a:lnTo>
                  <a:lnTo>
                    <a:pt x="111" y="441"/>
                  </a:lnTo>
                  <a:lnTo>
                    <a:pt x="147" y="510"/>
                  </a:lnTo>
                  <a:lnTo>
                    <a:pt x="333" y="342"/>
                  </a:lnTo>
                  <a:lnTo>
                    <a:pt x="519" y="156"/>
                  </a:lnTo>
                  <a:lnTo>
                    <a:pt x="498" y="84"/>
                  </a:lnTo>
                  <a:lnTo>
                    <a:pt x="453" y="42"/>
                  </a:lnTo>
                  <a:lnTo>
                    <a:pt x="399"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89" name="Freeform 133"/>
            <p:cNvSpPr>
              <a:spLocks/>
            </p:cNvSpPr>
            <p:nvPr/>
          </p:nvSpPr>
          <p:spPr bwMode="auto">
            <a:xfrm>
              <a:off x="3663" y="1707"/>
              <a:ext cx="276" cy="399"/>
            </a:xfrm>
            <a:custGeom>
              <a:avLst/>
              <a:gdLst>
                <a:gd name="T0" fmla="*/ 246 w 276"/>
                <a:gd name="T1" fmla="*/ 0 h 399"/>
                <a:gd name="T2" fmla="*/ 117 w 276"/>
                <a:gd name="T3" fmla="*/ 132 h 399"/>
                <a:gd name="T4" fmla="*/ 60 w 276"/>
                <a:gd name="T5" fmla="*/ 183 h 399"/>
                <a:gd name="T6" fmla="*/ 0 w 276"/>
                <a:gd name="T7" fmla="*/ 243 h 399"/>
                <a:gd name="T8" fmla="*/ 54 w 276"/>
                <a:gd name="T9" fmla="*/ 285 h 399"/>
                <a:gd name="T10" fmla="*/ 87 w 276"/>
                <a:gd name="T11" fmla="*/ 315 h 399"/>
                <a:gd name="T12" fmla="*/ 123 w 276"/>
                <a:gd name="T13" fmla="*/ 399 h 399"/>
                <a:gd name="T14" fmla="*/ 276 w 276"/>
                <a:gd name="T15" fmla="*/ 255 h 399"/>
                <a:gd name="T16" fmla="*/ 246 w 276"/>
                <a:gd name="T17" fmla="*/ 0 h 3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6"/>
                <a:gd name="T28" fmla="*/ 0 h 399"/>
                <a:gd name="T29" fmla="*/ 276 w 276"/>
                <a:gd name="T30" fmla="*/ 399 h 3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6" h="399">
                  <a:moveTo>
                    <a:pt x="246" y="0"/>
                  </a:moveTo>
                  <a:lnTo>
                    <a:pt x="117" y="132"/>
                  </a:lnTo>
                  <a:lnTo>
                    <a:pt x="60" y="183"/>
                  </a:lnTo>
                  <a:lnTo>
                    <a:pt x="0" y="243"/>
                  </a:lnTo>
                  <a:lnTo>
                    <a:pt x="54" y="285"/>
                  </a:lnTo>
                  <a:lnTo>
                    <a:pt x="87" y="315"/>
                  </a:lnTo>
                  <a:lnTo>
                    <a:pt x="123" y="399"/>
                  </a:lnTo>
                  <a:lnTo>
                    <a:pt x="276" y="255"/>
                  </a:lnTo>
                  <a:lnTo>
                    <a:pt x="24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90" name="Freeform 134"/>
            <p:cNvSpPr>
              <a:spLocks/>
            </p:cNvSpPr>
            <p:nvPr/>
          </p:nvSpPr>
          <p:spPr bwMode="auto">
            <a:xfrm>
              <a:off x="2016" y="3261"/>
              <a:ext cx="483" cy="492"/>
            </a:xfrm>
            <a:custGeom>
              <a:avLst/>
              <a:gdLst>
                <a:gd name="T0" fmla="*/ 366 w 483"/>
                <a:gd name="T1" fmla="*/ 0 h 492"/>
                <a:gd name="T2" fmla="*/ 204 w 483"/>
                <a:gd name="T3" fmla="*/ 78 h 492"/>
                <a:gd name="T4" fmla="*/ 0 w 483"/>
                <a:gd name="T5" fmla="*/ 171 h 492"/>
                <a:gd name="T6" fmla="*/ 18 w 483"/>
                <a:gd name="T7" fmla="*/ 492 h 492"/>
                <a:gd name="T8" fmla="*/ 168 w 483"/>
                <a:gd name="T9" fmla="*/ 396 h 492"/>
                <a:gd name="T10" fmla="*/ 297 w 483"/>
                <a:gd name="T11" fmla="*/ 303 h 492"/>
                <a:gd name="T12" fmla="*/ 393 w 483"/>
                <a:gd name="T13" fmla="*/ 231 h 492"/>
                <a:gd name="T14" fmla="*/ 483 w 483"/>
                <a:gd name="T15" fmla="*/ 168 h 492"/>
                <a:gd name="T16" fmla="*/ 450 w 483"/>
                <a:gd name="T17" fmla="*/ 108 h 492"/>
                <a:gd name="T18" fmla="*/ 432 w 483"/>
                <a:gd name="T19" fmla="*/ 84 h 492"/>
                <a:gd name="T20" fmla="*/ 405 w 483"/>
                <a:gd name="T21" fmla="*/ 45 h 492"/>
                <a:gd name="T22" fmla="*/ 366 w 483"/>
                <a:gd name="T23" fmla="*/ 0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3"/>
                <a:gd name="T37" fmla="*/ 0 h 492"/>
                <a:gd name="T38" fmla="*/ 483 w 483"/>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3" h="492">
                  <a:moveTo>
                    <a:pt x="366" y="0"/>
                  </a:moveTo>
                  <a:lnTo>
                    <a:pt x="204" y="78"/>
                  </a:lnTo>
                  <a:lnTo>
                    <a:pt x="0" y="171"/>
                  </a:lnTo>
                  <a:lnTo>
                    <a:pt x="18" y="492"/>
                  </a:lnTo>
                  <a:lnTo>
                    <a:pt x="168" y="396"/>
                  </a:lnTo>
                  <a:lnTo>
                    <a:pt x="297" y="303"/>
                  </a:lnTo>
                  <a:lnTo>
                    <a:pt x="393" y="231"/>
                  </a:lnTo>
                  <a:lnTo>
                    <a:pt x="483" y="168"/>
                  </a:lnTo>
                  <a:lnTo>
                    <a:pt x="450" y="108"/>
                  </a:lnTo>
                  <a:lnTo>
                    <a:pt x="432" y="84"/>
                  </a:lnTo>
                  <a:lnTo>
                    <a:pt x="405" y="45"/>
                  </a:lnTo>
                  <a:lnTo>
                    <a:pt x="366"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91" name="Freeform 135"/>
            <p:cNvSpPr>
              <a:spLocks/>
            </p:cNvSpPr>
            <p:nvPr/>
          </p:nvSpPr>
          <p:spPr bwMode="auto">
            <a:xfrm>
              <a:off x="2388" y="2985"/>
              <a:ext cx="504" cy="441"/>
            </a:xfrm>
            <a:custGeom>
              <a:avLst/>
              <a:gdLst>
                <a:gd name="T0" fmla="*/ 411 w 504"/>
                <a:gd name="T1" fmla="*/ 0 h 441"/>
                <a:gd name="T2" fmla="*/ 255 w 504"/>
                <a:gd name="T3" fmla="*/ 114 h 441"/>
                <a:gd name="T4" fmla="*/ 0 w 504"/>
                <a:gd name="T5" fmla="*/ 270 h 441"/>
                <a:gd name="T6" fmla="*/ 42 w 504"/>
                <a:gd name="T7" fmla="*/ 312 h 441"/>
                <a:gd name="T8" fmla="*/ 66 w 504"/>
                <a:gd name="T9" fmla="*/ 348 h 441"/>
                <a:gd name="T10" fmla="*/ 87 w 504"/>
                <a:gd name="T11" fmla="*/ 375 h 441"/>
                <a:gd name="T12" fmla="*/ 111 w 504"/>
                <a:gd name="T13" fmla="*/ 441 h 441"/>
                <a:gd name="T14" fmla="*/ 318 w 504"/>
                <a:gd name="T15" fmla="*/ 306 h 441"/>
                <a:gd name="T16" fmla="*/ 504 w 504"/>
                <a:gd name="T17" fmla="*/ 147 h 441"/>
                <a:gd name="T18" fmla="*/ 471 w 504"/>
                <a:gd name="T19" fmla="*/ 87 h 441"/>
                <a:gd name="T20" fmla="*/ 450 w 504"/>
                <a:gd name="T21" fmla="*/ 51 h 441"/>
                <a:gd name="T22" fmla="*/ 411 w 504"/>
                <a:gd name="T23" fmla="*/ 0 h 4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4"/>
                <a:gd name="T37" fmla="*/ 0 h 441"/>
                <a:gd name="T38" fmla="*/ 504 w 504"/>
                <a:gd name="T39" fmla="*/ 441 h 4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4" h="441">
                  <a:moveTo>
                    <a:pt x="411" y="0"/>
                  </a:moveTo>
                  <a:lnTo>
                    <a:pt x="255" y="114"/>
                  </a:lnTo>
                  <a:lnTo>
                    <a:pt x="0" y="270"/>
                  </a:lnTo>
                  <a:lnTo>
                    <a:pt x="42" y="312"/>
                  </a:lnTo>
                  <a:lnTo>
                    <a:pt x="66" y="348"/>
                  </a:lnTo>
                  <a:lnTo>
                    <a:pt x="87" y="375"/>
                  </a:lnTo>
                  <a:lnTo>
                    <a:pt x="111" y="441"/>
                  </a:lnTo>
                  <a:lnTo>
                    <a:pt x="318" y="306"/>
                  </a:lnTo>
                  <a:lnTo>
                    <a:pt x="504" y="147"/>
                  </a:lnTo>
                  <a:lnTo>
                    <a:pt x="471" y="87"/>
                  </a:lnTo>
                  <a:lnTo>
                    <a:pt x="450" y="51"/>
                  </a:lnTo>
                  <a:lnTo>
                    <a:pt x="411"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92" name="Freeform 136"/>
            <p:cNvSpPr>
              <a:spLocks/>
            </p:cNvSpPr>
            <p:nvPr/>
          </p:nvSpPr>
          <p:spPr bwMode="auto">
            <a:xfrm>
              <a:off x="2805" y="2694"/>
              <a:ext cx="492" cy="441"/>
            </a:xfrm>
            <a:custGeom>
              <a:avLst/>
              <a:gdLst>
                <a:gd name="T0" fmla="*/ 375 w 492"/>
                <a:gd name="T1" fmla="*/ 0 h 441"/>
                <a:gd name="T2" fmla="*/ 219 w 492"/>
                <a:gd name="T3" fmla="*/ 120 h 441"/>
                <a:gd name="T4" fmla="*/ 0 w 492"/>
                <a:gd name="T5" fmla="*/ 285 h 441"/>
                <a:gd name="T6" fmla="*/ 33 w 492"/>
                <a:gd name="T7" fmla="*/ 330 h 441"/>
                <a:gd name="T8" fmla="*/ 63 w 492"/>
                <a:gd name="T9" fmla="*/ 366 h 441"/>
                <a:gd name="T10" fmla="*/ 78 w 492"/>
                <a:gd name="T11" fmla="*/ 390 h 441"/>
                <a:gd name="T12" fmla="*/ 99 w 492"/>
                <a:gd name="T13" fmla="*/ 441 h 441"/>
                <a:gd name="T14" fmla="*/ 288 w 492"/>
                <a:gd name="T15" fmla="*/ 300 h 441"/>
                <a:gd name="T16" fmla="*/ 492 w 492"/>
                <a:gd name="T17" fmla="*/ 123 h 441"/>
                <a:gd name="T18" fmla="*/ 459 w 492"/>
                <a:gd name="T19" fmla="*/ 69 h 441"/>
                <a:gd name="T20" fmla="*/ 441 w 492"/>
                <a:gd name="T21" fmla="*/ 45 h 441"/>
                <a:gd name="T22" fmla="*/ 417 w 492"/>
                <a:gd name="T23" fmla="*/ 30 h 441"/>
                <a:gd name="T24" fmla="*/ 375 w 492"/>
                <a:gd name="T25" fmla="*/ 0 h 4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2"/>
                <a:gd name="T40" fmla="*/ 0 h 441"/>
                <a:gd name="T41" fmla="*/ 492 w 492"/>
                <a:gd name="T42" fmla="*/ 441 h 4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2" h="441">
                  <a:moveTo>
                    <a:pt x="375" y="0"/>
                  </a:moveTo>
                  <a:lnTo>
                    <a:pt x="219" y="120"/>
                  </a:lnTo>
                  <a:lnTo>
                    <a:pt x="0" y="285"/>
                  </a:lnTo>
                  <a:lnTo>
                    <a:pt x="33" y="330"/>
                  </a:lnTo>
                  <a:lnTo>
                    <a:pt x="63" y="366"/>
                  </a:lnTo>
                  <a:lnTo>
                    <a:pt x="78" y="390"/>
                  </a:lnTo>
                  <a:lnTo>
                    <a:pt x="99" y="441"/>
                  </a:lnTo>
                  <a:lnTo>
                    <a:pt x="288" y="300"/>
                  </a:lnTo>
                  <a:lnTo>
                    <a:pt x="492" y="123"/>
                  </a:lnTo>
                  <a:lnTo>
                    <a:pt x="459" y="69"/>
                  </a:lnTo>
                  <a:lnTo>
                    <a:pt x="441" y="45"/>
                  </a:lnTo>
                  <a:lnTo>
                    <a:pt x="417" y="30"/>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93" name="Freeform 137"/>
            <p:cNvSpPr>
              <a:spLocks/>
            </p:cNvSpPr>
            <p:nvPr/>
          </p:nvSpPr>
          <p:spPr bwMode="auto">
            <a:xfrm>
              <a:off x="3189" y="2343"/>
              <a:ext cx="507" cy="465"/>
            </a:xfrm>
            <a:custGeom>
              <a:avLst/>
              <a:gdLst>
                <a:gd name="T0" fmla="*/ 375 w 507"/>
                <a:gd name="T1" fmla="*/ 0 h 465"/>
                <a:gd name="T2" fmla="*/ 219 w 507"/>
                <a:gd name="T3" fmla="*/ 147 h 465"/>
                <a:gd name="T4" fmla="*/ 90 w 507"/>
                <a:gd name="T5" fmla="*/ 264 h 465"/>
                <a:gd name="T6" fmla="*/ 0 w 507"/>
                <a:gd name="T7" fmla="*/ 339 h 465"/>
                <a:gd name="T8" fmla="*/ 45 w 507"/>
                <a:gd name="T9" fmla="*/ 375 h 465"/>
                <a:gd name="T10" fmla="*/ 75 w 507"/>
                <a:gd name="T11" fmla="*/ 399 h 465"/>
                <a:gd name="T12" fmla="*/ 96 w 507"/>
                <a:gd name="T13" fmla="*/ 423 h 465"/>
                <a:gd name="T14" fmla="*/ 114 w 507"/>
                <a:gd name="T15" fmla="*/ 465 h 465"/>
                <a:gd name="T16" fmla="*/ 306 w 507"/>
                <a:gd name="T17" fmla="*/ 309 h 465"/>
                <a:gd name="T18" fmla="*/ 507 w 507"/>
                <a:gd name="T19" fmla="*/ 129 h 465"/>
                <a:gd name="T20" fmla="*/ 465 w 507"/>
                <a:gd name="T21" fmla="*/ 63 h 465"/>
                <a:gd name="T22" fmla="*/ 423 w 507"/>
                <a:gd name="T23" fmla="*/ 24 h 465"/>
                <a:gd name="T24" fmla="*/ 375 w 507"/>
                <a:gd name="T25" fmla="*/ 0 h 4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7"/>
                <a:gd name="T40" fmla="*/ 0 h 465"/>
                <a:gd name="T41" fmla="*/ 507 w 507"/>
                <a:gd name="T42" fmla="*/ 465 h 4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7" h="465">
                  <a:moveTo>
                    <a:pt x="375" y="0"/>
                  </a:moveTo>
                  <a:lnTo>
                    <a:pt x="219" y="147"/>
                  </a:lnTo>
                  <a:lnTo>
                    <a:pt x="90" y="264"/>
                  </a:lnTo>
                  <a:lnTo>
                    <a:pt x="0" y="339"/>
                  </a:lnTo>
                  <a:lnTo>
                    <a:pt x="45" y="375"/>
                  </a:lnTo>
                  <a:lnTo>
                    <a:pt x="75" y="399"/>
                  </a:lnTo>
                  <a:lnTo>
                    <a:pt x="96" y="423"/>
                  </a:lnTo>
                  <a:lnTo>
                    <a:pt x="114" y="465"/>
                  </a:lnTo>
                  <a:lnTo>
                    <a:pt x="306" y="309"/>
                  </a:lnTo>
                  <a:lnTo>
                    <a:pt x="507" y="129"/>
                  </a:lnTo>
                  <a:lnTo>
                    <a:pt x="465" y="63"/>
                  </a:lnTo>
                  <a:lnTo>
                    <a:pt x="423" y="24"/>
                  </a:lnTo>
                  <a:lnTo>
                    <a:pt x="375"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94" name="Freeform 138"/>
            <p:cNvSpPr>
              <a:spLocks/>
            </p:cNvSpPr>
            <p:nvPr/>
          </p:nvSpPr>
          <p:spPr bwMode="auto">
            <a:xfrm>
              <a:off x="3570" y="1968"/>
              <a:ext cx="387" cy="507"/>
            </a:xfrm>
            <a:custGeom>
              <a:avLst/>
              <a:gdLst>
                <a:gd name="T0" fmla="*/ 378 w 387"/>
                <a:gd name="T1" fmla="*/ 0 h 507"/>
                <a:gd name="T2" fmla="*/ 240 w 387"/>
                <a:gd name="T3" fmla="*/ 132 h 507"/>
                <a:gd name="T4" fmla="*/ 132 w 387"/>
                <a:gd name="T5" fmla="*/ 240 h 507"/>
                <a:gd name="T6" fmla="*/ 0 w 387"/>
                <a:gd name="T7" fmla="*/ 369 h 507"/>
                <a:gd name="T8" fmla="*/ 63 w 387"/>
                <a:gd name="T9" fmla="*/ 405 h 507"/>
                <a:gd name="T10" fmla="*/ 99 w 387"/>
                <a:gd name="T11" fmla="*/ 435 h 507"/>
                <a:gd name="T12" fmla="*/ 132 w 387"/>
                <a:gd name="T13" fmla="*/ 507 h 507"/>
                <a:gd name="T14" fmla="*/ 387 w 387"/>
                <a:gd name="T15" fmla="*/ 249 h 507"/>
                <a:gd name="T16" fmla="*/ 378 w 387"/>
                <a:gd name="T17" fmla="*/ 0 h 50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507"/>
                <a:gd name="T29" fmla="*/ 387 w 387"/>
                <a:gd name="T30" fmla="*/ 507 h 50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507">
                  <a:moveTo>
                    <a:pt x="378" y="0"/>
                  </a:moveTo>
                  <a:lnTo>
                    <a:pt x="240" y="132"/>
                  </a:lnTo>
                  <a:lnTo>
                    <a:pt x="132" y="240"/>
                  </a:lnTo>
                  <a:lnTo>
                    <a:pt x="0" y="369"/>
                  </a:lnTo>
                  <a:lnTo>
                    <a:pt x="63" y="405"/>
                  </a:lnTo>
                  <a:lnTo>
                    <a:pt x="99" y="435"/>
                  </a:lnTo>
                  <a:lnTo>
                    <a:pt x="132" y="507"/>
                  </a:lnTo>
                  <a:lnTo>
                    <a:pt x="387" y="249"/>
                  </a:lnTo>
                  <a:lnTo>
                    <a:pt x="378" y="0"/>
                  </a:lnTo>
                  <a:close/>
                </a:path>
              </a:pathLst>
            </a:custGeom>
            <a:gradFill rotWithShape="0">
              <a:gsLst>
                <a:gs pos="0">
                  <a:srgbClr val="A95959"/>
                </a:gs>
                <a:gs pos="50000">
                  <a:srgbClr val="C58D90"/>
                </a:gs>
                <a:gs pos="100000">
                  <a:srgbClr val="A95959"/>
                </a:gs>
              </a:gsLst>
              <a:lin ang="0" scaled="1"/>
            </a:gradFill>
            <a:ln w="12700" cap="flat" cmpd="sng">
              <a:noFill/>
              <a:prstDash val="solid"/>
              <a:round/>
              <a:headEnd type="none" w="sm" len="sm"/>
              <a:tailEnd type="none" w="sm" len="sm"/>
            </a:ln>
          </p:spPr>
          <p:txBody>
            <a:bodyPr wrap="none" anchor="ctr"/>
            <a:lstStyle/>
            <a:p>
              <a:endParaRPr lang="en-US"/>
            </a:p>
          </p:txBody>
        </p:sp>
        <p:sp>
          <p:nvSpPr>
            <p:cNvPr id="22595" name="Freeform 139"/>
            <p:cNvSpPr>
              <a:spLocks/>
            </p:cNvSpPr>
            <p:nvPr/>
          </p:nvSpPr>
          <p:spPr bwMode="auto">
            <a:xfrm>
              <a:off x="1676" y="3350"/>
              <a:ext cx="340" cy="394"/>
            </a:xfrm>
            <a:custGeom>
              <a:avLst/>
              <a:gdLst>
                <a:gd name="T0" fmla="*/ 340 w 340"/>
                <a:gd name="T1" fmla="*/ 394 h 394"/>
                <a:gd name="T2" fmla="*/ 8 w 340"/>
                <a:gd name="T3" fmla="*/ 236 h 394"/>
                <a:gd name="T4" fmla="*/ 4 w 340"/>
                <a:gd name="T5" fmla="*/ 114 h 394"/>
                <a:gd name="T6" fmla="*/ 0 w 340"/>
                <a:gd name="T7" fmla="*/ 0 h 394"/>
                <a:gd name="T8" fmla="*/ 90 w 340"/>
                <a:gd name="T9" fmla="*/ 14 h 394"/>
                <a:gd name="T10" fmla="*/ 150 w 340"/>
                <a:gd name="T11" fmla="*/ 28 h 394"/>
                <a:gd name="T12" fmla="*/ 258 w 340"/>
                <a:gd name="T13" fmla="*/ 52 h 394"/>
                <a:gd name="T14" fmla="*/ 326 w 340"/>
                <a:gd name="T15" fmla="*/ 72 h 394"/>
                <a:gd name="T16" fmla="*/ 338 w 340"/>
                <a:gd name="T17" fmla="*/ 180 h 394"/>
                <a:gd name="T18" fmla="*/ 340 w 340"/>
                <a:gd name="T19" fmla="*/ 248 h 394"/>
                <a:gd name="T20" fmla="*/ 340 w 340"/>
                <a:gd name="T21" fmla="*/ 316 h 394"/>
                <a:gd name="T22" fmla="*/ 340 w 340"/>
                <a:gd name="T23" fmla="*/ 394 h 39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0"/>
                <a:gd name="T37" fmla="*/ 0 h 394"/>
                <a:gd name="T38" fmla="*/ 340 w 340"/>
                <a:gd name="T39" fmla="*/ 394 h 39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0" h="394">
                  <a:moveTo>
                    <a:pt x="340" y="394"/>
                  </a:moveTo>
                  <a:lnTo>
                    <a:pt x="8" y="236"/>
                  </a:lnTo>
                  <a:lnTo>
                    <a:pt x="4" y="114"/>
                  </a:lnTo>
                  <a:lnTo>
                    <a:pt x="0" y="0"/>
                  </a:lnTo>
                  <a:lnTo>
                    <a:pt x="90" y="14"/>
                  </a:lnTo>
                  <a:lnTo>
                    <a:pt x="150" y="28"/>
                  </a:lnTo>
                  <a:lnTo>
                    <a:pt x="258" y="52"/>
                  </a:lnTo>
                  <a:lnTo>
                    <a:pt x="326" y="72"/>
                  </a:lnTo>
                  <a:lnTo>
                    <a:pt x="338" y="180"/>
                  </a:lnTo>
                  <a:lnTo>
                    <a:pt x="340" y="248"/>
                  </a:lnTo>
                  <a:lnTo>
                    <a:pt x="340" y="316"/>
                  </a:lnTo>
                  <a:lnTo>
                    <a:pt x="340"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596" name="Freeform 140"/>
            <p:cNvSpPr>
              <a:spLocks/>
            </p:cNvSpPr>
            <p:nvPr/>
          </p:nvSpPr>
          <p:spPr bwMode="auto">
            <a:xfrm>
              <a:off x="1626" y="3012"/>
              <a:ext cx="372" cy="394"/>
            </a:xfrm>
            <a:custGeom>
              <a:avLst/>
              <a:gdLst>
                <a:gd name="T0" fmla="*/ 372 w 372"/>
                <a:gd name="T1" fmla="*/ 394 h 394"/>
                <a:gd name="T2" fmla="*/ 190 w 372"/>
                <a:gd name="T3" fmla="*/ 348 h 394"/>
                <a:gd name="T4" fmla="*/ 40 w 372"/>
                <a:gd name="T5" fmla="*/ 318 h 394"/>
                <a:gd name="T6" fmla="*/ 0 w 372"/>
                <a:gd name="T7" fmla="*/ 0 h 394"/>
                <a:gd name="T8" fmla="*/ 76 w 372"/>
                <a:gd name="T9" fmla="*/ 10 h 394"/>
                <a:gd name="T10" fmla="*/ 198 w 372"/>
                <a:gd name="T11" fmla="*/ 22 h 394"/>
                <a:gd name="T12" fmla="*/ 308 w 372"/>
                <a:gd name="T13" fmla="*/ 38 h 394"/>
                <a:gd name="T14" fmla="*/ 340 w 372"/>
                <a:gd name="T15" fmla="*/ 202 h 394"/>
                <a:gd name="T16" fmla="*/ 372 w 372"/>
                <a:gd name="T17" fmla="*/ 394 h 3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72"/>
                <a:gd name="T28" fmla="*/ 0 h 394"/>
                <a:gd name="T29" fmla="*/ 372 w 372"/>
                <a:gd name="T30" fmla="*/ 394 h 3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72" h="394">
                  <a:moveTo>
                    <a:pt x="372" y="394"/>
                  </a:moveTo>
                  <a:lnTo>
                    <a:pt x="190" y="348"/>
                  </a:lnTo>
                  <a:lnTo>
                    <a:pt x="40" y="318"/>
                  </a:lnTo>
                  <a:lnTo>
                    <a:pt x="0" y="0"/>
                  </a:lnTo>
                  <a:lnTo>
                    <a:pt x="76" y="10"/>
                  </a:lnTo>
                  <a:lnTo>
                    <a:pt x="198" y="22"/>
                  </a:lnTo>
                  <a:lnTo>
                    <a:pt x="308" y="38"/>
                  </a:lnTo>
                  <a:lnTo>
                    <a:pt x="340" y="202"/>
                  </a:lnTo>
                  <a:lnTo>
                    <a:pt x="372" y="394"/>
                  </a:lnTo>
                  <a:close/>
                </a:path>
              </a:pathLst>
            </a:custGeom>
            <a:gradFill rotWithShape="0">
              <a:gsLst>
                <a:gs pos="0">
                  <a:srgbClr val="B68982"/>
                </a:gs>
                <a:gs pos="100000">
                  <a:srgbClr val="A15353"/>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597" name="Freeform 141"/>
            <p:cNvSpPr>
              <a:spLocks/>
            </p:cNvSpPr>
            <p:nvPr/>
          </p:nvSpPr>
          <p:spPr bwMode="auto">
            <a:xfrm>
              <a:off x="1554" y="2698"/>
              <a:ext cx="374" cy="340"/>
            </a:xfrm>
            <a:custGeom>
              <a:avLst/>
              <a:gdLst>
                <a:gd name="T0" fmla="*/ 374 w 374"/>
                <a:gd name="T1" fmla="*/ 340 h 340"/>
                <a:gd name="T2" fmla="*/ 240 w 374"/>
                <a:gd name="T3" fmla="*/ 324 h 340"/>
                <a:gd name="T4" fmla="*/ 68 w 374"/>
                <a:gd name="T5" fmla="*/ 302 h 340"/>
                <a:gd name="T6" fmla="*/ 0 w 374"/>
                <a:gd name="T7" fmla="*/ 0 h 340"/>
                <a:gd name="T8" fmla="*/ 90 w 374"/>
                <a:gd name="T9" fmla="*/ 2 h 340"/>
                <a:gd name="T10" fmla="*/ 174 w 374"/>
                <a:gd name="T11" fmla="*/ 0 h 340"/>
                <a:gd name="T12" fmla="*/ 296 w 374"/>
                <a:gd name="T13" fmla="*/ 14 h 340"/>
                <a:gd name="T14" fmla="*/ 312 w 374"/>
                <a:gd name="T15" fmla="*/ 90 h 340"/>
                <a:gd name="T16" fmla="*/ 354 w 374"/>
                <a:gd name="T17" fmla="*/ 246 h 340"/>
                <a:gd name="T18" fmla="*/ 374 w 374"/>
                <a:gd name="T19" fmla="*/ 340 h 3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
                <a:gd name="T31" fmla="*/ 0 h 340"/>
                <a:gd name="T32" fmla="*/ 374 w 374"/>
                <a:gd name="T33" fmla="*/ 340 h 3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 h="340">
                  <a:moveTo>
                    <a:pt x="374" y="340"/>
                  </a:moveTo>
                  <a:lnTo>
                    <a:pt x="240" y="324"/>
                  </a:lnTo>
                  <a:lnTo>
                    <a:pt x="68" y="302"/>
                  </a:lnTo>
                  <a:lnTo>
                    <a:pt x="0" y="0"/>
                  </a:lnTo>
                  <a:lnTo>
                    <a:pt x="90" y="2"/>
                  </a:lnTo>
                  <a:lnTo>
                    <a:pt x="174" y="0"/>
                  </a:lnTo>
                  <a:lnTo>
                    <a:pt x="296" y="14"/>
                  </a:lnTo>
                  <a:lnTo>
                    <a:pt x="312" y="90"/>
                  </a:lnTo>
                  <a:lnTo>
                    <a:pt x="354" y="246"/>
                  </a:lnTo>
                  <a:lnTo>
                    <a:pt x="374" y="340"/>
                  </a:lnTo>
                  <a:close/>
                </a:path>
              </a:pathLst>
            </a:custGeom>
            <a:gradFill rotWithShape="0">
              <a:gsLst>
                <a:gs pos="0">
                  <a:srgbClr val="CFB2AD"/>
                </a:gs>
                <a:gs pos="100000">
                  <a:srgbClr val="A85656"/>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598" name="Freeform 142"/>
            <p:cNvSpPr>
              <a:spLocks/>
            </p:cNvSpPr>
            <p:nvPr/>
          </p:nvSpPr>
          <p:spPr bwMode="auto">
            <a:xfrm>
              <a:off x="1460" y="2366"/>
              <a:ext cx="388" cy="334"/>
            </a:xfrm>
            <a:custGeom>
              <a:avLst/>
              <a:gdLst>
                <a:gd name="T0" fmla="*/ 388 w 388"/>
                <a:gd name="T1" fmla="*/ 334 h 334"/>
                <a:gd name="T2" fmla="*/ 258 w 388"/>
                <a:gd name="T3" fmla="*/ 320 h 334"/>
                <a:gd name="T4" fmla="*/ 90 w 388"/>
                <a:gd name="T5" fmla="*/ 324 h 334"/>
                <a:gd name="T6" fmla="*/ 0 w 388"/>
                <a:gd name="T7" fmla="*/ 2 h 334"/>
                <a:gd name="T8" fmla="*/ 82 w 388"/>
                <a:gd name="T9" fmla="*/ 2 h 334"/>
                <a:gd name="T10" fmla="*/ 172 w 388"/>
                <a:gd name="T11" fmla="*/ 0 h 334"/>
                <a:gd name="T12" fmla="*/ 288 w 388"/>
                <a:gd name="T13" fmla="*/ 6 h 334"/>
                <a:gd name="T14" fmla="*/ 308 w 388"/>
                <a:gd name="T15" fmla="*/ 80 h 334"/>
                <a:gd name="T16" fmla="*/ 350 w 388"/>
                <a:gd name="T17" fmla="*/ 212 h 334"/>
                <a:gd name="T18" fmla="*/ 388 w 388"/>
                <a:gd name="T19" fmla="*/ 334 h 3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8"/>
                <a:gd name="T31" fmla="*/ 0 h 334"/>
                <a:gd name="T32" fmla="*/ 388 w 388"/>
                <a:gd name="T33" fmla="*/ 334 h 3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8" h="334">
                  <a:moveTo>
                    <a:pt x="388" y="334"/>
                  </a:moveTo>
                  <a:lnTo>
                    <a:pt x="258" y="320"/>
                  </a:lnTo>
                  <a:lnTo>
                    <a:pt x="90" y="324"/>
                  </a:lnTo>
                  <a:lnTo>
                    <a:pt x="0" y="2"/>
                  </a:lnTo>
                  <a:lnTo>
                    <a:pt x="82" y="2"/>
                  </a:lnTo>
                  <a:lnTo>
                    <a:pt x="172" y="0"/>
                  </a:lnTo>
                  <a:lnTo>
                    <a:pt x="288" y="6"/>
                  </a:lnTo>
                  <a:lnTo>
                    <a:pt x="308" y="80"/>
                  </a:lnTo>
                  <a:lnTo>
                    <a:pt x="350" y="212"/>
                  </a:lnTo>
                  <a:lnTo>
                    <a:pt x="388" y="334"/>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599" name="Freeform 143"/>
            <p:cNvSpPr>
              <a:spLocks/>
            </p:cNvSpPr>
            <p:nvPr/>
          </p:nvSpPr>
          <p:spPr bwMode="auto">
            <a:xfrm>
              <a:off x="1344" y="1998"/>
              <a:ext cx="398" cy="358"/>
            </a:xfrm>
            <a:custGeom>
              <a:avLst/>
              <a:gdLst>
                <a:gd name="T0" fmla="*/ 398 w 398"/>
                <a:gd name="T1" fmla="*/ 358 h 358"/>
                <a:gd name="T2" fmla="*/ 272 w 398"/>
                <a:gd name="T3" fmla="*/ 358 h 358"/>
                <a:gd name="T4" fmla="*/ 108 w 398"/>
                <a:gd name="T5" fmla="*/ 356 h 358"/>
                <a:gd name="T6" fmla="*/ 64 w 398"/>
                <a:gd name="T7" fmla="*/ 204 h 358"/>
                <a:gd name="T8" fmla="*/ 0 w 398"/>
                <a:gd name="T9" fmla="*/ 28 h 358"/>
                <a:gd name="T10" fmla="*/ 90 w 398"/>
                <a:gd name="T11" fmla="*/ 24 h 358"/>
                <a:gd name="T12" fmla="*/ 144 w 398"/>
                <a:gd name="T13" fmla="*/ 22 h 358"/>
                <a:gd name="T14" fmla="*/ 212 w 398"/>
                <a:gd name="T15" fmla="*/ 16 h 358"/>
                <a:gd name="T16" fmla="*/ 286 w 398"/>
                <a:gd name="T17" fmla="*/ 0 h 358"/>
                <a:gd name="T18" fmla="*/ 314 w 398"/>
                <a:gd name="T19" fmla="*/ 94 h 358"/>
                <a:gd name="T20" fmla="*/ 356 w 398"/>
                <a:gd name="T21" fmla="*/ 228 h 358"/>
                <a:gd name="T22" fmla="*/ 398 w 398"/>
                <a:gd name="T23" fmla="*/ 358 h 3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8"/>
                <a:gd name="T37" fmla="*/ 0 h 358"/>
                <a:gd name="T38" fmla="*/ 398 w 398"/>
                <a:gd name="T39" fmla="*/ 358 h 3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8" h="358">
                  <a:moveTo>
                    <a:pt x="398" y="358"/>
                  </a:moveTo>
                  <a:lnTo>
                    <a:pt x="272" y="358"/>
                  </a:lnTo>
                  <a:lnTo>
                    <a:pt x="108" y="356"/>
                  </a:lnTo>
                  <a:lnTo>
                    <a:pt x="64" y="204"/>
                  </a:lnTo>
                  <a:lnTo>
                    <a:pt x="0" y="28"/>
                  </a:lnTo>
                  <a:lnTo>
                    <a:pt x="90" y="24"/>
                  </a:lnTo>
                  <a:lnTo>
                    <a:pt x="144" y="22"/>
                  </a:lnTo>
                  <a:lnTo>
                    <a:pt x="212" y="16"/>
                  </a:lnTo>
                  <a:lnTo>
                    <a:pt x="286" y="0"/>
                  </a:lnTo>
                  <a:lnTo>
                    <a:pt x="314" y="94"/>
                  </a:lnTo>
                  <a:lnTo>
                    <a:pt x="356" y="228"/>
                  </a:lnTo>
                  <a:lnTo>
                    <a:pt x="398" y="358"/>
                  </a:lnTo>
                  <a:close/>
                </a:path>
              </a:pathLst>
            </a:custGeom>
            <a:gradFill rotWithShape="0">
              <a:gsLst>
                <a:gs pos="0">
                  <a:srgbClr val="DBC5C1"/>
                </a:gs>
                <a:gs pos="100000">
                  <a:srgbClr val="B26868"/>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600" name="Freeform 144"/>
            <p:cNvSpPr>
              <a:spLocks/>
            </p:cNvSpPr>
            <p:nvPr/>
          </p:nvSpPr>
          <p:spPr bwMode="auto">
            <a:xfrm>
              <a:off x="1144" y="1522"/>
              <a:ext cx="482" cy="492"/>
            </a:xfrm>
            <a:custGeom>
              <a:avLst/>
              <a:gdLst>
                <a:gd name="T0" fmla="*/ 482 w 482"/>
                <a:gd name="T1" fmla="*/ 468 h 492"/>
                <a:gd name="T2" fmla="*/ 364 w 482"/>
                <a:gd name="T3" fmla="*/ 492 h 492"/>
                <a:gd name="T4" fmla="*/ 198 w 482"/>
                <a:gd name="T5" fmla="*/ 492 h 492"/>
                <a:gd name="T6" fmla="*/ 126 w 482"/>
                <a:gd name="T7" fmla="*/ 292 h 492"/>
                <a:gd name="T8" fmla="*/ 0 w 482"/>
                <a:gd name="T9" fmla="*/ 0 h 492"/>
                <a:gd name="T10" fmla="*/ 122 w 482"/>
                <a:gd name="T11" fmla="*/ 22 h 492"/>
                <a:gd name="T12" fmla="*/ 196 w 482"/>
                <a:gd name="T13" fmla="*/ 34 h 492"/>
                <a:gd name="T14" fmla="*/ 276 w 482"/>
                <a:gd name="T15" fmla="*/ 48 h 492"/>
                <a:gd name="T16" fmla="*/ 328 w 482"/>
                <a:gd name="T17" fmla="*/ 62 h 492"/>
                <a:gd name="T18" fmla="*/ 380 w 482"/>
                <a:gd name="T19" fmla="*/ 198 h 492"/>
                <a:gd name="T20" fmla="*/ 432 w 482"/>
                <a:gd name="T21" fmla="*/ 330 h 492"/>
                <a:gd name="T22" fmla="*/ 482 w 482"/>
                <a:gd name="T23" fmla="*/ 468 h 4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2"/>
                <a:gd name="T37" fmla="*/ 0 h 492"/>
                <a:gd name="T38" fmla="*/ 482 w 482"/>
                <a:gd name="T39" fmla="*/ 492 h 49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2" h="492">
                  <a:moveTo>
                    <a:pt x="482" y="468"/>
                  </a:moveTo>
                  <a:lnTo>
                    <a:pt x="364" y="492"/>
                  </a:lnTo>
                  <a:lnTo>
                    <a:pt x="198" y="492"/>
                  </a:lnTo>
                  <a:lnTo>
                    <a:pt x="126" y="292"/>
                  </a:lnTo>
                  <a:lnTo>
                    <a:pt x="0" y="0"/>
                  </a:lnTo>
                  <a:lnTo>
                    <a:pt x="122" y="22"/>
                  </a:lnTo>
                  <a:lnTo>
                    <a:pt x="196" y="34"/>
                  </a:lnTo>
                  <a:lnTo>
                    <a:pt x="276" y="48"/>
                  </a:lnTo>
                  <a:lnTo>
                    <a:pt x="328" y="62"/>
                  </a:lnTo>
                  <a:lnTo>
                    <a:pt x="380" y="198"/>
                  </a:lnTo>
                  <a:lnTo>
                    <a:pt x="432" y="330"/>
                  </a:lnTo>
                  <a:lnTo>
                    <a:pt x="482" y="468"/>
                  </a:lnTo>
                  <a:close/>
                </a:path>
              </a:pathLst>
            </a:custGeom>
            <a:gradFill rotWithShape="0">
              <a:gsLst>
                <a:gs pos="0">
                  <a:srgbClr val="E8D9D6"/>
                </a:gs>
                <a:gs pos="100000">
                  <a:srgbClr val="CA9898"/>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601" name="Freeform 145"/>
            <p:cNvSpPr>
              <a:spLocks/>
            </p:cNvSpPr>
            <p:nvPr/>
          </p:nvSpPr>
          <p:spPr bwMode="auto">
            <a:xfrm>
              <a:off x="1167" y="1344"/>
              <a:ext cx="837" cy="231"/>
            </a:xfrm>
            <a:custGeom>
              <a:avLst/>
              <a:gdLst>
                <a:gd name="T0" fmla="*/ 0 w 837"/>
                <a:gd name="T1" fmla="*/ 171 h 231"/>
                <a:gd name="T2" fmla="*/ 297 w 837"/>
                <a:gd name="T3" fmla="*/ 231 h 231"/>
                <a:gd name="T4" fmla="*/ 561 w 837"/>
                <a:gd name="T5" fmla="*/ 204 h 231"/>
                <a:gd name="T6" fmla="*/ 837 w 837"/>
                <a:gd name="T7" fmla="*/ 138 h 231"/>
                <a:gd name="T8" fmla="*/ 738 w 837"/>
                <a:gd name="T9" fmla="*/ 75 h 231"/>
                <a:gd name="T10" fmla="*/ 618 w 837"/>
                <a:gd name="T11" fmla="*/ 27 h 231"/>
                <a:gd name="T12" fmla="*/ 513 w 837"/>
                <a:gd name="T13" fmla="*/ 0 h 231"/>
                <a:gd name="T14" fmla="*/ 390 w 837"/>
                <a:gd name="T15" fmla="*/ 45 h 231"/>
                <a:gd name="T16" fmla="*/ 0 w 837"/>
                <a:gd name="T17" fmla="*/ 171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37"/>
                <a:gd name="T28" fmla="*/ 0 h 231"/>
                <a:gd name="T29" fmla="*/ 837 w 837"/>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37" h="231">
                  <a:moveTo>
                    <a:pt x="0" y="171"/>
                  </a:moveTo>
                  <a:lnTo>
                    <a:pt x="297" y="231"/>
                  </a:lnTo>
                  <a:lnTo>
                    <a:pt x="561" y="204"/>
                  </a:lnTo>
                  <a:lnTo>
                    <a:pt x="837" y="138"/>
                  </a:lnTo>
                  <a:lnTo>
                    <a:pt x="738" y="75"/>
                  </a:lnTo>
                  <a:lnTo>
                    <a:pt x="618" y="27"/>
                  </a:lnTo>
                  <a:lnTo>
                    <a:pt x="513" y="0"/>
                  </a:lnTo>
                  <a:lnTo>
                    <a:pt x="390" y="45"/>
                  </a:lnTo>
                  <a:lnTo>
                    <a:pt x="0" y="171"/>
                  </a:lnTo>
                  <a:close/>
                </a:path>
              </a:pathLst>
            </a:custGeom>
            <a:gradFill rotWithShape="0">
              <a:gsLst>
                <a:gs pos="0">
                  <a:srgbClr val="C58D8D"/>
                </a:gs>
                <a:gs pos="100000">
                  <a:srgbClr val="8F5A59"/>
                </a:gs>
              </a:gsLst>
              <a:lin ang="0" scaled="1"/>
            </a:gradFill>
            <a:ln w="12700" cap="flat" cmpd="sng">
              <a:noFill/>
              <a:prstDash val="solid"/>
              <a:round/>
              <a:headEnd type="none" w="sm" len="sm"/>
              <a:tailEnd type="none" w="sm" len="sm"/>
            </a:ln>
          </p:spPr>
          <p:txBody>
            <a:bodyPr wrap="none" anchor="ctr"/>
            <a:lstStyle/>
            <a:p>
              <a:endParaRPr lang="en-US"/>
            </a:p>
          </p:txBody>
        </p:sp>
        <p:sp>
          <p:nvSpPr>
            <p:cNvPr id="22602" name="Freeform 146"/>
            <p:cNvSpPr>
              <a:spLocks/>
            </p:cNvSpPr>
            <p:nvPr/>
          </p:nvSpPr>
          <p:spPr bwMode="auto">
            <a:xfrm>
              <a:off x="1707" y="1128"/>
              <a:ext cx="780" cy="345"/>
            </a:xfrm>
            <a:custGeom>
              <a:avLst/>
              <a:gdLst>
                <a:gd name="T0" fmla="*/ 0 w 780"/>
                <a:gd name="T1" fmla="*/ 207 h 345"/>
                <a:gd name="T2" fmla="*/ 165 w 780"/>
                <a:gd name="T3" fmla="*/ 261 h 345"/>
                <a:gd name="T4" fmla="*/ 318 w 780"/>
                <a:gd name="T5" fmla="*/ 345 h 345"/>
                <a:gd name="T6" fmla="*/ 552 w 780"/>
                <a:gd name="T7" fmla="*/ 255 h 345"/>
                <a:gd name="T8" fmla="*/ 780 w 780"/>
                <a:gd name="T9" fmla="*/ 144 h 345"/>
                <a:gd name="T10" fmla="*/ 705 w 780"/>
                <a:gd name="T11" fmla="*/ 69 h 345"/>
                <a:gd name="T12" fmla="*/ 618 w 780"/>
                <a:gd name="T13" fmla="*/ 30 h 345"/>
                <a:gd name="T14" fmla="*/ 498 w 780"/>
                <a:gd name="T15" fmla="*/ 0 h 345"/>
                <a:gd name="T16" fmla="*/ 384 w 780"/>
                <a:gd name="T17" fmla="*/ 51 h 345"/>
                <a:gd name="T18" fmla="*/ 0 w 780"/>
                <a:gd name="T19" fmla="*/ 207 h 3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80"/>
                <a:gd name="T31" fmla="*/ 0 h 345"/>
                <a:gd name="T32" fmla="*/ 780 w 780"/>
                <a:gd name="T33" fmla="*/ 345 h 3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80" h="345">
                  <a:moveTo>
                    <a:pt x="0" y="207"/>
                  </a:moveTo>
                  <a:lnTo>
                    <a:pt x="165" y="261"/>
                  </a:lnTo>
                  <a:lnTo>
                    <a:pt x="318" y="345"/>
                  </a:lnTo>
                  <a:lnTo>
                    <a:pt x="552" y="255"/>
                  </a:lnTo>
                  <a:lnTo>
                    <a:pt x="780" y="144"/>
                  </a:lnTo>
                  <a:lnTo>
                    <a:pt x="705" y="69"/>
                  </a:lnTo>
                  <a:lnTo>
                    <a:pt x="618" y="30"/>
                  </a:lnTo>
                  <a:lnTo>
                    <a:pt x="498" y="0"/>
                  </a:lnTo>
                  <a:lnTo>
                    <a:pt x="384" y="51"/>
                  </a:lnTo>
                  <a:lnTo>
                    <a:pt x="0" y="207"/>
                  </a:lnTo>
                  <a:close/>
                </a:path>
              </a:pathLst>
            </a:custGeom>
            <a:gradFill rotWithShape="0">
              <a:gsLst>
                <a:gs pos="0">
                  <a:srgbClr val="CA9898"/>
                </a:gs>
                <a:gs pos="100000">
                  <a:srgbClr val="A46F6E"/>
                </a:gs>
              </a:gsLst>
              <a:lin ang="0" scaled="1"/>
            </a:gradFill>
            <a:ln w="12700" cap="flat" cmpd="sng">
              <a:noFill/>
              <a:prstDash val="solid"/>
              <a:round/>
              <a:headEnd type="none" w="sm" len="sm"/>
              <a:tailEnd type="none" w="sm" len="sm"/>
            </a:ln>
          </p:spPr>
          <p:txBody>
            <a:bodyPr wrap="none" anchor="ctr"/>
            <a:lstStyle/>
            <a:p>
              <a:endParaRPr lang="en-US"/>
            </a:p>
          </p:txBody>
        </p:sp>
        <p:sp>
          <p:nvSpPr>
            <p:cNvPr id="22603" name="Freeform 147"/>
            <p:cNvSpPr>
              <a:spLocks/>
            </p:cNvSpPr>
            <p:nvPr/>
          </p:nvSpPr>
          <p:spPr bwMode="auto">
            <a:xfrm>
              <a:off x="2232" y="900"/>
              <a:ext cx="729" cy="363"/>
            </a:xfrm>
            <a:custGeom>
              <a:avLst/>
              <a:gdLst>
                <a:gd name="T0" fmla="*/ 0 w 729"/>
                <a:gd name="T1" fmla="*/ 219 h 363"/>
                <a:gd name="T2" fmla="*/ 141 w 729"/>
                <a:gd name="T3" fmla="*/ 258 h 363"/>
                <a:gd name="T4" fmla="*/ 204 w 729"/>
                <a:gd name="T5" fmla="*/ 300 h 363"/>
                <a:gd name="T6" fmla="*/ 279 w 729"/>
                <a:gd name="T7" fmla="*/ 363 h 363"/>
                <a:gd name="T8" fmla="*/ 507 w 729"/>
                <a:gd name="T9" fmla="*/ 228 h 363"/>
                <a:gd name="T10" fmla="*/ 729 w 729"/>
                <a:gd name="T11" fmla="*/ 96 h 363"/>
                <a:gd name="T12" fmla="*/ 621 w 729"/>
                <a:gd name="T13" fmla="*/ 54 h 363"/>
                <a:gd name="T14" fmla="*/ 531 w 729"/>
                <a:gd name="T15" fmla="*/ 18 h 363"/>
                <a:gd name="T16" fmla="*/ 441 w 729"/>
                <a:gd name="T17" fmla="*/ 0 h 363"/>
                <a:gd name="T18" fmla="*/ 309 w 729"/>
                <a:gd name="T19" fmla="*/ 72 h 363"/>
                <a:gd name="T20" fmla="*/ 0 w 729"/>
                <a:gd name="T21" fmla="*/ 219 h 3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29"/>
                <a:gd name="T34" fmla="*/ 0 h 363"/>
                <a:gd name="T35" fmla="*/ 729 w 729"/>
                <a:gd name="T36" fmla="*/ 363 h 3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29" h="363">
                  <a:moveTo>
                    <a:pt x="0" y="219"/>
                  </a:moveTo>
                  <a:lnTo>
                    <a:pt x="141" y="258"/>
                  </a:lnTo>
                  <a:lnTo>
                    <a:pt x="204" y="300"/>
                  </a:lnTo>
                  <a:lnTo>
                    <a:pt x="279" y="363"/>
                  </a:lnTo>
                  <a:lnTo>
                    <a:pt x="507" y="228"/>
                  </a:lnTo>
                  <a:lnTo>
                    <a:pt x="729" y="96"/>
                  </a:lnTo>
                  <a:lnTo>
                    <a:pt x="621" y="54"/>
                  </a:lnTo>
                  <a:lnTo>
                    <a:pt x="531" y="18"/>
                  </a:lnTo>
                  <a:lnTo>
                    <a:pt x="441" y="0"/>
                  </a:lnTo>
                  <a:lnTo>
                    <a:pt x="309" y="72"/>
                  </a:lnTo>
                  <a:lnTo>
                    <a:pt x="0" y="219"/>
                  </a:lnTo>
                  <a:close/>
                </a:path>
              </a:pathLst>
            </a:custGeom>
            <a:gradFill rotWithShape="0">
              <a:gsLst>
                <a:gs pos="0">
                  <a:srgbClr val="D2A6A6"/>
                </a:gs>
                <a:gs pos="100000">
                  <a:srgbClr val="AE7F7E"/>
                </a:gs>
              </a:gsLst>
              <a:lin ang="2700000" scaled="1"/>
            </a:gradFill>
            <a:ln w="12700" cap="flat" cmpd="sng">
              <a:noFill/>
              <a:prstDash val="solid"/>
              <a:round/>
              <a:headEnd type="none" w="sm" len="sm"/>
              <a:tailEnd type="none" w="sm" len="sm"/>
            </a:ln>
          </p:spPr>
          <p:txBody>
            <a:bodyPr wrap="none" anchor="ctr"/>
            <a:lstStyle/>
            <a:p>
              <a:endParaRPr lang="en-US"/>
            </a:p>
          </p:txBody>
        </p:sp>
        <p:sp>
          <p:nvSpPr>
            <p:cNvPr id="22604" name="Freeform 148"/>
            <p:cNvSpPr>
              <a:spLocks/>
            </p:cNvSpPr>
            <p:nvPr/>
          </p:nvSpPr>
          <p:spPr bwMode="auto">
            <a:xfrm>
              <a:off x="2691" y="642"/>
              <a:ext cx="648" cy="339"/>
            </a:xfrm>
            <a:custGeom>
              <a:avLst/>
              <a:gdLst>
                <a:gd name="T0" fmla="*/ 0 w 648"/>
                <a:gd name="T1" fmla="*/ 246 h 339"/>
                <a:gd name="T2" fmla="*/ 99 w 648"/>
                <a:gd name="T3" fmla="*/ 270 h 339"/>
                <a:gd name="T4" fmla="*/ 183 w 648"/>
                <a:gd name="T5" fmla="*/ 309 h 339"/>
                <a:gd name="T6" fmla="*/ 279 w 648"/>
                <a:gd name="T7" fmla="*/ 339 h 339"/>
                <a:gd name="T8" fmla="*/ 456 w 648"/>
                <a:gd name="T9" fmla="*/ 210 h 339"/>
                <a:gd name="T10" fmla="*/ 648 w 648"/>
                <a:gd name="T11" fmla="*/ 69 h 339"/>
                <a:gd name="T12" fmla="*/ 573 w 648"/>
                <a:gd name="T13" fmla="*/ 45 h 339"/>
                <a:gd name="T14" fmla="*/ 465 w 648"/>
                <a:gd name="T15" fmla="*/ 15 h 339"/>
                <a:gd name="T16" fmla="*/ 372 w 648"/>
                <a:gd name="T17" fmla="*/ 0 h 339"/>
                <a:gd name="T18" fmla="*/ 291 w 648"/>
                <a:gd name="T19" fmla="*/ 72 h 339"/>
                <a:gd name="T20" fmla="*/ 171 w 648"/>
                <a:gd name="T21" fmla="*/ 144 h 339"/>
                <a:gd name="T22" fmla="*/ 0 w 648"/>
                <a:gd name="T23" fmla="*/ 246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8"/>
                <a:gd name="T37" fmla="*/ 0 h 339"/>
                <a:gd name="T38" fmla="*/ 648 w 648"/>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8" h="339">
                  <a:moveTo>
                    <a:pt x="0" y="246"/>
                  </a:moveTo>
                  <a:lnTo>
                    <a:pt x="99" y="270"/>
                  </a:lnTo>
                  <a:lnTo>
                    <a:pt x="183" y="309"/>
                  </a:lnTo>
                  <a:lnTo>
                    <a:pt x="279" y="339"/>
                  </a:lnTo>
                  <a:lnTo>
                    <a:pt x="456" y="210"/>
                  </a:lnTo>
                  <a:lnTo>
                    <a:pt x="648" y="69"/>
                  </a:lnTo>
                  <a:lnTo>
                    <a:pt x="573" y="45"/>
                  </a:lnTo>
                  <a:lnTo>
                    <a:pt x="465" y="15"/>
                  </a:lnTo>
                  <a:lnTo>
                    <a:pt x="372" y="0"/>
                  </a:lnTo>
                  <a:lnTo>
                    <a:pt x="291" y="72"/>
                  </a:lnTo>
                  <a:lnTo>
                    <a:pt x="171" y="144"/>
                  </a:lnTo>
                  <a:lnTo>
                    <a:pt x="0" y="246"/>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sp>
          <p:nvSpPr>
            <p:cNvPr id="22605" name="Freeform 149"/>
            <p:cNvSpPr>
              <a:spLocks/>
            </p:cNvSpPr>
            <p:nvPr/>
          </p:nvSpPr>
          <p:spPr bwMode="auto">
            <a:xfrm>
              <a:off x="3090" y="330"/>
              <a:ext cx="633" cy="366"/>
            </a:xfrm>
            <a:custGeom>
              <a:avLst/>
              <a:gdLst>
                <a:gd name="T0" fmla="*/ 0 w 633"/>
                <a:gd name="T1" fmla="*/ 297 h 366"/>
                <a:gd name="T2" fmla="*/ 90 w 633"/>
                <a:gd name="T3" fmla="*/ 315 h 366"/>
                <a:gd name="T4" fmla="*/ 198 w 633"/>
                <a:gd name="T5" fmla="*/ 345 h 366"/>
                <a:gd name="T6" fmla="*/ 264 w 633"/>
                <a:gd name="T7" fmla="*/ 366 h 366"/>
                <a:gd name="T8" fmla="*/ 438 w 633"/>
                <a:gd name="T9" fmla="*/ 216 h 366"/>
                <a:gd name="T10" fmla="*/ 633 w 633"/>
                <a:gd name="T11" fmla="*/ 0 h 366"/>
                <a:gd name="T12" fmla="*/ 537 w 633"/>
                <a:gd name="T13" fmla="*/ 15 h 366"/>
                <a:gd name="T14" fmla="*/ 450 w 633"/>
                <a:gd name="T15" fmla="*/ 30 h 366"/>
                <a:gd name="T16" fmla="*/ 345 w 633"/>
                <a:gd name="T17" fmla="*/ 48 h 366"/>
                <a:gd name="T18" fmla="*/ 234 w 633"/>
                <a:gd name="T19" fmla="*/ 69 h 366"/>
                <a:gd name="T20" fmla="*/ 162 w 633"/>
                <a:gd name="T21" fmla="*/ 150 h 366"/>
                <a:gd name="T22" fmla="*/ 0 w 633"/>
                <a:gd name="T23" fmla="*/ 297 h 36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33"/>
                <a:gd name="T37" fmla="*/ 0 h 366"/>
                <a:gd name="T38" fmla="*/ 633 w 633"/>
                <a:gd name="T39" fmla="*/ 366 h 36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33" h="366">
                  <a:moveTo>
                    <a:pt x="0" y="297"/>
                  </a:moveTo>
                  <a:lnTo>
                    <a:pt x="90" y="315"/>
                  </a:lnTo>
                  <a:lnTo>
                    <a:pt x="198" y="345"/>
                  </a:lnTo>
                  <a:lnTo>
                    <a:pt x="264" y="366"/>
                  </a:lnTo>
                  <a:lnTo>
                    <a:pt x="438" y="216"/>
                  </a:lnTo>
                  <a:lnTo>
                    <a:pt x="633" y="0"/>
                  </a:lnTo>
                  <a:lnTo>
                    <a:pt x="537" y="15"/>
                  </a:lnTo>
                  <a:lnTo>
                    <a:pt x="450" y="30"/>
                  </a:lnTo>
                  <a:lnTo>
                    <a:pt x="345" y="48"/>
                  </a:lnTo>
                  <a:lnTo>
                    <a:pt x="234" y="69"/>
                  </a:lnTo>
                  <a:lnTo>
                    <a:pt x="162" y="150"/>
                  </a:lnTo>
                  <a:lnTo>
                    <a:pt x="0" y="297"/>
                  </a:lnTo>
                  <a:close/>
                </a:path>
              </a:pathLst>
            </a:custGeom>
            <a:gradFill rotWithShape="0">
              <a:gsLst>
                <a:gs pos="0">
                  <a:srgbClr val="DEBEBE"/>
                </a:gs>
                <a:gs pos="100000">
                  <a:srgbClr val="BE9998"/>
                </a:gs>
              </a:gsLst>
              <a:lin ang="0" scaled="1"/>
            </a:gradFill>
            <a:ln w="12700" cap="flat" cmpd="sng">
              <a:noFill/>
              <a:prstDash val="solid"/>
              <a:round/>
              <a:headEnd type="none" w="sm" len="sm"/>
              <a:tailEnd type="none" w="sm" len="sm"/>
            </a:ln>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5259"/>
                                        </p:tgtEl>
                                        <p:attrNameLst>
                                          <p:attrName>style.visibility</p:attrName>
                                        </p:attrNameLst>
                                      </p:cBhvr>
                                      <p:to>
                                        <p:strVal val="visible"/>
                                      </p:to>
                                    </p:set>
                                    <p:animEffect transition="in" filter="wipe(left)">
                                      <p:cBhvr>
                                        <p:cTn id="7" dur="500"/>
                                        <p:tgtEl>
                                          <p:spTgt spid="265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5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mtClean="0"/>
              <a:t>PPP</a:t>
            </a:r>
          </a:p>
        </p:txBody>
      </p:sp>
      <p:sp>
        <p:nvSpPr>
          <p:cNvPr id="13315" name="Rectangle 3"/>
          <p:cNvSpPr>
            <a:spLocks noGrp="1" noChangeArrowheads="1"/>
          </p:cNvSpPr>
          <p:nvPr>
            <p:ph type="body" idx="1"/>
          </p:nvPr>
        </p:nvSpPr>
        <p:spPr>
          <a:xfrm>
            <a:off x="762000" y="1370013"/>
            <a:ext cx="7996238" cy="4114800"/>
          </a:xfrm>
        </p:spPr>
        <p:txBody>
          <a:bodyPr/>
          <a:lstStyle/>
          <a:p>
            <a:pPr eaLnBrk="1" hangingPunct="1">
              <a:defRPr/>
            </a:pPr>
            <a:r>
              <a:rPr lang="en-US" i="1" dirty="0" smtClean="0"/>
              <a:t>Point-to-Point Protocol (PPP)</a:t>
            </a:r>
          </a:p>
          <a:p>
            <a:pPr lvl="1" eaLnBrk="1" hangingPunct="1">
              <a:defRPr/>
            </a:pPr>
            <a:r>
              <a:rPr lang="en-US" dirty="0" smtClean="0"/>
              <a:t>PPP was created for dialing into a local RAS (Remote Access server)</a:t>
            </a:r>
          </a:p>
          <a:p>
            <a:pPr lvl="1" eaLnBrk="1" hangingPunct="1">
              <a:defRPr/>
            </a:pPr>
            <a:r>
              <a:rPr lang="en-US" dirty="0" smtClean="0"/>
              <a:t>But the site’s RAS may be far away</a:t>
            </a:r>
          </a:p>
          <a:p>
            <a:pPr lvl="1" eaLnBrk="1" hangingPunct="1">
              <a:defRPr/>
            </a:pPr>
            <a:r>
              <a:rPr lang="en-US" dirty="0" smtClean="0"/>
              <a:t>Long-distance calls are expensive</a:t>
            </a:r>
          </a:p>
        </p:txBody>
      </p:sp>
      <p:pic>
        <p:nvPicPr>
          <p:cNvPr id="23556" name="Picture 4" descr="F:\NETDRAW4\ISOMETRC\FILSERVI.WMF"/>
          <p:cNvPicPr>
            <a:picLocks noChangeAspect="1" noChangeArrowheads="1"/>
          </p:cNvPicPr>
          <p:nvPr/>
        </p:nvPicPr>
        <p:blipFill>
          <a:blip r:embed="rId3" cstate="print"/>
          <a:srcRect/>
          <a:stretch>
            <a:fillRect/>
          </a:stretch>
        </p:blipFill>
        <p:spPr bwMode="auto">
          <a:xfrm>
            <a:off x="6969125" y="5062538"/>
            <a:ext cx="727075" cy="1262062"/>
          </a:xfrm>
          <a:prstGeom prst="rect">
            <a:avLst/>
          </a:prstGeom>
          <a:noFill/>
          <a:ln w="9525">
            <a:noFill/>
            <a:miter lim="800000"/>
            <a:headEnd/>
            <a:tailEnd/>
          </a:ln>
        </p:spPr>
      </p:pic>
      <p:grpSp>
        <p:nvGrpSpPr>
          <p:cNvPr id="23557" name="Group 5"/>
          <p:cNvGrpSpPr>
            <a:grpSpLocks/>
          </p:cNvGrpSpPr>
          <p:nvPr/>
        </p:nvGrpSpPr>
        <p:grpSpPr bwMode="auto">
          <a:xfrm flipH="1">
            <a:off x="2430463" y="5021263"/>
            <a:ext cx="1235075" cy="1025525"/>
            <a:chOff x="1531" y="3307"/>
            <a:chExt cx="778" cy="646"/>
          </a:xfrm>
        </p:grpSpPr>
        <p:grpSp>
          <p:nvGrpSpPr>
            <p:cNvPr id="23561" name="Group 6"/>
            <p:cNvGrpSpPr>
              <a:grpSpLocks/>
            </p:cNvGrpSpPr>
            <p:nvPr/>
          </p:nvGrpSpPr>
          <p:grpSpPr bwMode="auto">
            <a:xfrm>
              <a:off x="1531" y="3307"/>
              <a:ext cx="778" cy="646"/>
              <a:chOff x="1531" y="3307"/>
              <a:chExt cx="778" cy="646"/>
            </a:xfrm>
          </p:grpSpPr>
          <p:sp>
            <p:nvSpPr>
              <p:cNvPr id="23594" name="Freeform 7"/>
              <p:cNvSpPr>
                <a:spLocks/>
              </p:cNvSpPr>
              <p:nvPr/>
            </p:nvSpPr>
            <p:spPr bwMode="auto">
              <a:xfrm>
                <a:off x="1954" y="3823"/>
                <a:ext cx="117" cy="42"/>
              </a:xfrm>
              <a:custGeom>
                <a:avLst/>
                <a:gdLst>
                  <a:gd name="T0" fmla="*/ 0 w 235"/>
                  <a:gd name="T1" fmla="*/ 0 h 84"/>
                  <a:gd name="T2" fmla="*/ 0 w 235"/>
                  <a:gd name="T3" fmla="*/ 1 h 84"/>
                  <a:gd name="T4" fmla="*/ 0 w 235"/>
                  <a:gd name="T5" fmla="*/ 1 h 84"/>
                  <a:gd name="T6" fmla="*/ 0 w 235"/>
                  <a:gd name="T7" fmla="*/ 1 h 84"/>
                  <a:gd name="T8" fmla="*/ 0 w 235"/>
                  <a:gd name="T9" fmla="*/ 1 h 84"/>
                  <a:gd name="T10" fmla="*/ 0 w 235"/>
                  <a:gd name="T11" fmla="*/ 1 h 84"/>
                  <a:gd name="T12" fmla="*/ 0 w 235"/>
                  <a:gd name="T13" fmla="*/ 1 h 84"/>
                  <a:gd name="T14" fmla="*/ 0 w 235"/>
                  <a:gd name="T15" fmla="*/ 1 h 84"/>
                  <a:gd name="T16" fmla="*/ 0 w 235"/>
                  <a:gd name="T17" fmla="*/ 1 h 84"/>
                  <a:gd name="T18" fmla="*/ 0 w 235"/>
                  <a:gd name="T19" fmla="*/ 1 h 84"/>
                  <a:gd name="T20" fmla="*/ 0 w 235"/>
                  <a:gd name="T21" fmla="*/ 1 h 84"/>
                  <a:gd name="T22" fmla="*/ 0 w 235"/>
                  <a:gd name="T23" fmla="*/ 1 h 84"/>
                  <a:gd name="T24" fmla="*/ 0 w 235"/>
                  <a:gd name="T25" fmla="*/ 1 h 84"/>
                  <a:gd name="T26" fmla="*/ 0 w 235"/>
                  <a:gd name="T27" fmla="*/ 1 h 84"/>
                  <a:gd name="T28" fmla="*/ 0 w 235"/>
                  <a:gd name="T29" fmla="*/ 1 h 84"/>
                  <a:gd name="T30" fmla="*/ 0 w 235"/>
                  <a:gd name="T31" fmla="*/ 1 h 84"/>
                  <a:gd name="T32" fmla="*/ 0 w 235"/>
                  <a:gd name="T33" fmla="*/ 1 h 84"/>
                  <a:gd name="T34" fmla="*/ 0 w 235"/>
                  <a:gd name="T35" fmla="*/ 1 h 84"/>
                  <a:gd name="T36" fmla="*/ 0 w 235"/>
                  <a:gd name="T37" fmla="*/ 1 h 84"/>
                  <a:gd name="T38" fmla="*/ 0 w 235"/>
                  <a:gd name="T39" fmla="*/ 1 h 84"/>
                  <a:gd name="T40" fmla="*/ 0 w 235"/>
                  <a:gd name="T41" fmla="*/ 1 h 84"/>
                  <a:gd name="T42" fmla="*/ 0 w 235"/>
                  <a:gd name="T43" fmla="*/ 1 h 84"/>
                  <a:gd name="T44" fmla="*/ 0 w 235"/>
                  <a:gd name="T45" fmla="*/ 1 h 84"/>
                  <a:gd name="T46" fmla="*/ 0 w 235"/>
                  <a:gd name="T47" fmla="*/ 1 h 84"/>
                  <a:gd name="T48" fmla="*/ 0 w 235"/>
                  <a:gd name="T49" fmla="*/ 1 h 84"/>
                  <a:gd name="T50" fmla="*/ 0 w 235"/>
                  <a:gd name="T51" fmla="*/ 1 h 84"/>
                  <a:gd name="T52" fmla="*/ 0 w 235"/>
                  <a:gd name="T53" fmla="*/ 1 h 84"/>
                  <a:gd name="T54" fmla="*/ 0 w 235"/>
                  <a:gd name="T55" fmla="*/ 1 h 84"/>
                  <a:gd name="T56" fmla="*/ 0 w 235"/>
                  <a:gd name="T57" fmla="*/ 1 h 84"/>
                  <a:gd name="T58" fmla="*/ 0 w 235"/>
                  <a:gd name="T59" fmla="*/ 1 h 84"/>
                  <a:gd name="T60" fmla="*/ 0 w 235"/>
                  <a:gd name="T61" fmla="*/ 1 h 84"/>
                  <a:gd name="T62" fmla="*/ 0 w 235"/>
                  <a:gd name="T63" fmla="*/ 1 h 84"/>
                  <a:gd name="T64" fmla="*/ 0 w 235"/>
                  <a:gd name="T65" fmla="*/ 1 h 84"/>
                  <a:gd name="T66" fmla="*/ 0 w 235"/>
                  <a:gd name="T67" fmla="*/ 1 h 84"/>
                  <a:gd name="T68" fmla="*/ 0 w 235"/>
                  <a:gd name="T69" fmla="*/ 1 h 84"/>
                  <a:gd name="T70" fmla="*/ 0 w 235"/>
                  <a:gd name="T71" fmla="*/ 1 h 84"/>
                  <a:gd name="T72" fmla="*/ 0 w 235"/>
                  <a:gd name="T73" fmla="*/ 1 h 84"/>
                  <a:gd name="T74" fmla="*/ 0 w 235"/>
                  <a:gd name="T75" fmla="*/ 0 h 84"/>
                  <a:gd name="T76" fmla="*/ 0 w 235"/>
                  <a:gd name="T77" fmla="*/ 0 h 84"/>
                  <a:gd name="T78" fmla="*/ 0 w 235"/>
                  <a:gd name="T79" fmla="*/ 0 h 84"/>
                  <a:gd name="T80" fmla="*/ 0 w 235"/>
                  <a:gd name="T81" fmla="*/ 0 h 84"/>
                  <a:gd name="T82" fmla="*/ 0 w 235"/>
                  <a:gd name="T83" fmla="*/ 0 h 84"/>
                  <a:gd name="T84" fmla="*/ 0 w 235"/>
                  <a:gd name="T85" fmla="*/ 0 h 84"/>
                  <a:gd name="T86" fmla="*/ 0 w 235"/>
                  <a:gd name="T87" fmla="*/ 0 h 84"/>
                  <a:gd name="T88" fmla="*/ 0 w 235"/>
                  <a:gd name="T89" fmla="*/ 0 h 84"/>
                  <a:gd name="T90" fmla="*/ 0 w 235"/>
                  <a:gd name="T91" fmla="*/ 0 h 84"/>
                  <a:gd name="T92" fmla="*/ 0 w 235"/>
                  <a:gd name="T93" fmla="*/ 0 h 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35"/>
                  <a:gd name="T142" fmla="*/ 0 h 84"/>
                  <a:gd name="T143" fmla="*/ 235 w 235"/>
                  <a:gd name="T144" fmla="*/ 84 h 8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35" h="84">
                    <a:moveTo>
                      <a:pt x="235" y="0"/>
                    </a:moveTo>
                    <a:lnTo>
                      <a:pt x="233" y="39"/>
                    </a:lnTo>
                    <a:lnTo>
                      <a:pt x="233" y="40"/>
                    </a:lnTo>
                    <a:lnTo>
                      <a:pt x="230" y="47"/>
                    </a:lnTo>
                    <a:lnTo>
                      <a:pt x="224" y="51"/>
                    </a:lnTo>
                    <a:lnTo>
                      <a:pt x="213" y="54"/>
                    </a:lnTo>
                    <a:lnTo>
                      <a:pt x="201" y="54"/>
                    </a:lnTo>
                    <a:lnTo>
                      <a:pt x="193" y="54"/>
                    </a:lnTo>
                    <a:lnTo>
                      <a:pt x="186" y="53"/>
                    </a:lnTo>
                    <a:lnTo>
                      <a:pt x="185" y="53"/>
                    </a:lnTo>
                    <a:lnTo>
                      <a:pt x="182" y="75"/>
                    </a:lnTo>
                    <a:lnTo>
                      <a:pt x="180" y="76"/>
                    </a:lnTo>
                    <a:lnTo>
                      <a:pt x="174" y="79"/>
                    </a:lnTo>
                    <a:lnTo>
                      <a:pt x="161" y="83"/>
                    </a:lnTo>
                    <a:lnTo>
                      <a:pt x="143" y="84"/>
                    </a:lnTo>
                    <a:lnTo>
                      <a:pt x="122" y="83"/>
                    </a:lnTo>
                    <a:lnTo>
                      <a:pt x="108" y="78"/>
                    </a:lnTo>
                    <a:lnTo>
                      <a:pt x="100" y="75"/>
                    </a:lnTo>
                    <a:lnTo>
                      <a:pt x="99" y="73"/>
                    </a:lnTo>
                    <a:lnTo>
                      <a:pt x="96" y="73"/>
                    </a:lnTo>
                    <a:lnTo>
                      <a:pt x="86" y="72"/>
                    </a:lnTo>
                    <a:lnTo>
                      <a:pt x="72" y="70"/>
                    </a:lnTo>
                    <a:lnTo>
                      <a:pt x="56" y="67"/>
                    </a:lnTo>
                    <a:lnTo>
                      <a:pt x="39" y="62"/>
                    </a:lnTo>
                    <a:lnTo>
                      <a:pt x="24" y="56"/>
                    </a:lnTo>
                    <a:lnTo>
                      <a:pt x="13" y="47"/>
                    </a:lnTo>
                    <a:lnTo>
                      <a:pt x="5" y="36"/>
                    </a:lnTo>
                    <a:lnTo>
                      <a:pt x="0" y="20"/>
                    </a:lnTo>
                    <a:lnTo>
                      <a:pt x="2" y="15"/>
                    </a:lnTo>
                    <a:lnTo>
                      <a:pt x="6" y="18"/>
                    </a:lnTo>
                    <a:lnTo>
                      <a:pt x="8" y="20"/>
                    </a:lnTo>
                    <a:lnTo>
                      <a:pt x="10" y="18"/>
                    </a:lnTo>
                    <a:lnTo>
                      <a:pt x="14" y="17"/>
                    </a:lnTo>
                    <a:lnTo>
                      <a:pt x="22" y="14"/>
                    </a:lnTo>
                    <a:lnTo>
                      <a:pt x="31" y="9"/>
                    </a:lnTo>
                    <a:lnTo>
                      <a:pt x="44" y="6"/>
                    </a:lnTo>
                    <a:lnTo>
                      <a:pt x="58" y="3"/>
                    </a:lnTo>
                    <a:lnTo>
                      <a:pt x="75" y="0"/>
                    </a:lnTo>
                    <a:lnTo>
                      <a:pt x="92" y="0"/>
                    </a:lnTo>
                    <a:lnTo>
                      <a:pt x="113" y="0"/>
                    </a:lnTo>
                    <a:lnTo>
                      <a:pt x="136" y="0"/>
                    </a:lnTo>
                    <a:lnTo>
                      <a:pt x="160" y="0"/>
                    </a:lnTo>
                    <a:lnTo>
                      <a:pt x="183" y="0"/>
                    </a:lnTo>
                    <a:lnTo>
                      <a:pt x="204" y="0"/>
                    </a:lnTo>
                    <a:lnTo>
                      <a:pt x="219" y="0"/>
                    </a:lnTo>
                    <a:lnTo>
                      <a:pt x="230" y="0"/>
                    </a:lnTo>
                    <a:lnTo>
                      <a:pt x="235" y="0"/>
                    </a:lnTo>
                    <a:close/>
                  </a:path>
                </a:pathLst>
              </a:custGeom>
              <a:solidFill>
                <a:srgbClr val="7F2600"/>
              </a:solidFill>
              <a:ln w="9525">
                <a:noFill/>
                <a:round/>
                <a:headEnd/>
                <a:tailEnd/>
              </a:ln>
            </p:spPr>
            <p:txBody>
              <a:bodyPr/>
              <a:lstStyle/>
              <a:p>
                <a:endParaRPr lang="en-US"/>
              </a:p>
            </p:txBody>
          </p:sp>
          <p:sp>
            <p:nvSpPr>
              <p:cNvPr id="23595" name="Freeform 8"/>
              <p:cNvSpPr>
                <a:spLocks/>
              </p:cNvSpPr>
              <p:nvPr/>
            </p:nvSpPr>
            <p:spPr bwMode="auto">
              <a:xfrm>
                <a:off x="2065" y="3823"/>
                <a:ext cx="12" cy="25"/>
              </a:xfrm>
              <a:custGeom>
                <a:avLst/>
                <a:gdLst>
                  <a:gd name="T0" fmla="*/ 1 w 24"/>
                  <a:gd name="T1" fmla="*/ 1 h 50"/>
                  <a:gd name="T2" fmla="*/ 1 w 24"/>
                  <a:gd name="T3" fmla="*/ 1 h 50"/>
                  <a:gd name="T4" fmla="*/ 1 w 24"/>
                  <a:gd name="T5" fmla="*/ 0 h 50"/>
                  <a:gd name="T6" fmla="*/ 1 w 24"/>
                  <a:gd name="T7" fmla="*/ 0 h 50"/>
                  <a:gd name="T8" fmla="*/ 0 w 24"/>
                  <a:gd name="T9" fmla="*/ 1 h 50"/>
                  <a:gd name="T10" fmla="*/ 0 w 24"/>
                  <a:gd name="T11" fmla="*/ 1 h 50"/>
                  <a:gd name="T12" fmla="*/ 0 w 24"/>
                  <a:gd name="T13" fmla="*/ 1 h 50"/>
                  <a:gd name="T14" fmla="*/ 1 w 24"/>
                  <a:gd name="T15" fmla="*/ 1 h 50"/>
                  <a:gd name="T16" fmla="*/ 1 w 24"/>
                  <a:gd name="T17" fmla="*/ 1 h 50"/>
                  <a:gd name="T18" fmla="*/ 1 w 24"/>
                  <a:gd name="T19" fmla="*/ 1 h 50"/>
                  <a:gd name="T20" fmla="*/ 1 w 24"/>
                  <a:gd name="T21" fmla="*/ 1 h 50"/>
                  <a:gd name="T22" fmla="*/ 1 w 24"/>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50"/>
                  <a:gd name="T38" fmla="*/ 24 w 24"/>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50">
                    <a:moveTo>
                      <a:pt x="22" y="40"/>
                    </a:moveTo>
                    <a:lnTo>
                      <a:pt x="22" y="39"/>
                    </a:lnTo>
                    <a:lnTo>
                      <a:pt x="24" y="0"/>
                    </a:lnTo>
                    <a:lnTo>
                      <a:pt x="2" y="0"/>
                    </a:lnTo>
                    <a:lnTo>
                      <a:pt x="0" y="39"/>
                    </a:lnTo>
                    <a:lnTo>
                      <a:pt x="0" y="37"/>
                    </a:lnTo>
                    <a:lnTo>
                      <a:pt x="0" y="39"/>
                    </a:lnTo>
                    <a:lnTo>
                      <a:pt x="4" y="47"/>
                    </a:lnTo>
                    <a:lnTo>
                      <a:pt x="11" y="50"/>
                    </a:lnTo>
                    <a:lnTo>
                      <a:pt x="19" y="47"/>
                    </a:lnTo>
                    <a:lnTo>
                      <a:pt x="22" y="39"/>
                    </a:lnTo>
                    <a:lnTo>
                      <a:pt x="22" y="40"/>
                    </a:lnTo>
                    <a:close/>
                  </a:path>
                </a:pathLst>
              </a:custGeom>
              <a:solidFill>
                <a:srgbClr val="000000"/>
              </a:solidFill>
              <a:ln w="9525">
                <a:noFill/>
                <a:round/>
                <a:headEnd/>
                <a:tailEnd/>
              </a:ln>
            </p:spPr>
            <p:txBody>
              <a:bodyPr/>
              <a:lstStyle/>
              <a:p>
                <a:endParaRPr lang="en-US"/>
              </a:p>
            </p:txBody>
          </p:sp>
          <p:sp>
            <p:nvSpPr>
              <p:cNvPr id="23596" name="Freeform 9"/>
              <p:cNvSpPr>
                <a:spLocks/>
              </p:cNvSpPr>
              <p:nvPr/>
            </p:nvSpPr>
            <p:spPr bwMode="auto">
              <a:xfrm>
                <a:off x="2060" y="3841"/>
                <a:ext cx="16" cy="15"/>
              </a:xfrm>
              <a:custGeom>
                <a:avLst/>
                <a:gdLst>
                  <a:gd name="T0" fmla="*/ 0 w 33"/>
                  <a:gd name="T1" fmla="*/ 1 h 29"/>
                  <a:gd name="T2" fmla="*/ 0 w 33"/>
                  <a:gd name="T3" fmla="*/ 1 h 29"/>
                  <a:gd name="T4" fmla="*/ 0 w 33"/>
                  <a:gd name="T5" fmla="*/ 1 h 29"/>
                  <a:gd name="T6" fmla="*/ 0 w 33"/>
                  <a:gd name="T7" fmla="*/ 1 h 29"/>
                  <a:gd name="T8" fmla="*/ 0 w 33"/>
                  <a:gd name="T9" fmla="*/ 1 h 29"/>
                  <a:gd name="T10" fmla="*/ 0 w 33"/>
                  <a:gd name="T11" fmla="*/ 1 h 29"/>
                  <a:gd name="T12" fmla="*/ 0 w 33"/>
                  <a:gd name="T13" fmla="*/ 1 h 29"/>
                  <a:gd name="T14" fmla="*/ 0 w 33"/>
                  <a:gd name="T15" fmla="*/ 0 h 29"/>
                  <a:gd name="T16" fmla="*/ 0 w 33"/>
                  <a:gd name="T17" fmla="*/ 1 h 29"/>
                  <a:gd name="T18" fmla="*/ 0 w 33"/>
                  <a:gd name="T19" fmla="*/ 1 h 29"/>
                  <a:gd name="T20" fmla="*/ 0 w 33"/>
                  <a:gd name="T21" fmla="*/ 1 h 29"/>
                  <a:gd name="T22" fmla="*/ 0 w 33"/>
                  <a:gd name="T23" fmla="*/ 1 h 29"/>
                  <a:gd name="T24" fmla="*/ 0 w 33"/>
                  <a:gd name="T25" fmla="*/ 1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29"/>
                  <a:gd name="T41" fmla="*/ 33 w 33"/>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29">
                    <a:moveTo>
                      <a:pt x="4" y="29"/>
                    </a:moveTo>
                    <a:lnTo>
                      <a:pt x="4" y="29"/>
                    </a:lnTo>
                    <a:lnTo>
                      <a:pt x="18" y="25"/>
                    </a:lnTo>
                    <a:lnTo>
                      <a:pt x="27" y="18"/>
                    </a:lnTo>
                    <a:lnTo>
                      <a:pt x="33" y="9"/>
                    </a:lnTo>
                    <a:lnTo>
                      <a:pt x="33" y="4"/>
                    </a:lnTo>
                    <a:lnTo>
                      <a:pt x="11" y="1"/>
                    </a:lnTo>
                    <a:lnTo>
                      <a:pt x="11" y="0"/>
                    </a:lnTo>
                    <a:lnTo>
                      <a:pt x="11" y="3"/>
                    </a:lnTo>
                    <a:lnTo>
                      <a:pt x="8" y="6"/>
                    </a:lnTo>
                    <a:lnTo>
                      <a:pt x="0" y="7"/>
                    </a:lnTo>
                    <a:lnTo>
                      <a:pt x="4" y="29"/>
                    </a:lnTo>
                    <a:close/>
                  </a:path>
                </a:pathLst>
              </a:custGeom>
              <a:solidFill>
                <a:srgbClr val="000000"/>
              </a:solidFill>
              <a:ln w="9525">
                <a:noFill/>
                <a:round/>
                <a:headEnd/>
                <a:tailEnd/>
              </a:ln>
            </p:spPr>
            <p:txBody>
              <a:bodyPr/>
              <a:lstStyle/>
              <a:p>
                <a:endParaRPr lang="en-US"/>
              </a:p>
            </p:txBody>
          </p:sp>
          <p:sp>
            <p:nvSpPr>
              <p:cNvPr id="23597" name="Freeform 10"/>
              <p:cNvSpPr>
                <a:spLocks/>
              </p:cNvSpPr>
              <p:nvPr/>
            </p:nvSpPr>
            <p:spPr bwMode="auto">
              <a:xfrm>
                <a:off x="2041" y="3844"/>
                <a:ext cx="20" cy="12"/>
              </a:xfrm>
              <a:custGeom>
                <a:avLst/>
                <a:gdLst>
                  <a:gd name="T0" fmla="*/ 0 w 41"/>
                  <a:gd name="T1" fmla="*/ 1 h 23"/>
                  <a:gd name="T2" fmla="*/ 0 w 41"/>
                  <a:gd name="T3" fmla="*/ 1 h 23"/>
                  <a:gd name="T4" fmla="*/ 0 w 41"/>
                  <a:gd name="T5" fmla="*/ 1 h 23"/>
                  <a:gd name="T6" fmla="*/ 0 w 41"/>
                  <a:gd name="T7" fmla="*/ 1 h 23"/>
                  <a:gd name="T8" fmla="*/ 0 w 41"/>
                  <a:gd name="T9" fmla="*/ 1 h 23"/>
                  <a:gd name="T10" fmla="*/ 0 w 41"/>
                  <a:gd name="T11" fmla="*/ 1 h 23"/>
                  <a:gd name="T12" fmla="*/ 0 w 41"/>
                  <a:gd name="T13" fmla="*/ 1 h 23"/>
                  <a:gd name="T14" fmla="*/ 0 w 41"/>
                  <a:gd name="T15" fmla="*/ 1 h 23"/>
                  <a:gd name="T16" fmla="*/ 0 w 41"/>
                  <a:gd name="T17" fmla="*/ 1 h 23"/>
                  <a:gd name="T18" fmla="*/ 0 w 41"/>
                  <a:gd name="T19" fmla="*/ 0 h 23"/>
                  <a:gd name="T20" fmla="*/ 0 w 41"/>
                  <a:gd name="T21" fmla="*/ 0 h 23"/>
                  <a:gd name="T22" fmla="*/ 0 w 41"/>
                  <a:gd name="T23" fmla="*/ 1 h 23"/>
                  <a:gd name="T24" fmla="*/ 0 w 41"/>
                  <a:gd name="T25" fmla="*/ 0 h 23"/>
                  <a:gd name="T26" fmla="*/ 0 w 41"/>
                  <a:gd name="T27" fmla="*/ 1 h 23"/>
                  <a:gd name="T28" fmla="*/ 0 w 41"/>
                  <a:gd name="T29" fmla="*/ 1 h 23"/>
                  <a:gd name="T30" fmla="*/ 0 w 41"/>
                  <a:gd name="T31" fmla="*/ 1 h 23"/>
                  <a:gd name="T32" fmla="*/ 0 w 41"/>
                  <a:gd name="T33" fmla="*/ 1 h 23"/>
                  <a:gd name="T34" fmla="*/ 0 w 41"/>
                  <a:gd name="T35" fmla="*/ 1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23"/>
                  <a:gd name="T56" fmla="*/ 41 w 41"/>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23">
                    <a:moveTo>
                      <a:pt x="22" y="12"/>
                    </a:moveTo>
                    <a:lnTo>
                      <a:pt x="8" y="22"/>
                    </a:lnTo>
                    <a:lnTo>
                      <a:pt x="11" y="22"/>
                    </a:lnTo>
                    <a:lnTo>
                      <a:pt x="17" y="23"/>
                    </a:lnTo>
                    <a:lnTo>
                      <a:pt x="27" y="23"/>
                    </a:lnTo>
                    <a:lnTo>
                      <a:pt x="41" y="23"/>
                    </a:lnTo>
                    <a:lnTo>
                      <a:pt x="37" y="1"/>
                    </a:lnTo>
                    <a:lnTo>
                      <a:pt x="27" y="1"/>
                    </a:lnTo>
                    <a:lnTo>
                      <a:pt x="20" y="1"/>
                    </a:lnTo>
                    <a:lnTo>
                      <a:pt x="14" y="0"/>
                    </a:lnTo>
                    <a:lnTo>
                      <a:pt x="0" y="9"/>
                    </a:lnTo>
                    <a:lnTo>
                      <a:pt x="14" y="0"/>
                    </a:lnTo>
                    <a:lnTo>
                      <a:pt x="5" y="1"/>
                    </a:lnTo>
                    <a:lnTo>
                      <a:pt x="0" y="8"/>
                    </a:lnTo>
                    <a:lnTo>
                      <a:pt x="1" y="17"/>
                    </a:lnTo>
                    <a:lnTo>
                      <a:pt x="8" y="22"/>
                    </a:lnTo>
                    <a:lnTo>
                      <a:pt x="22" y="12"/>
                    </a:lnTo>
                    <a:close/>
                  </a:path>
                </a:pathLst>
              </a:custGeom>
              <a:solidFill>
                <a:srgbClr val="000000"/>
              </a:solidFill>
              <a:ln w="9525">
                <a:noFill/>
                <a:round/>
                <a:headEnd/>
                <a:tailEnd/>
              </a:ln>
            </p:spPr>
            <p:txBody>
              <a:bodyPr/>
              <a:lstStyle/>
              <a:p>
                <a:endParaRPr lang="en-US"/>
              </a:p>
            </p:txBody>
          </p:sp>
          <p:sp>
            <p:nvSpPr>
              <p:cNvPr id="23598" name="Freeform 11"/>
              <p:cNvSpPr>
                <a:spLocks/>
              </p:cNvSpPr>
              <p:nvPr/>
            </p:nvSpPr>
            <p:spPr bwMode="auto">
              <a:xfrm>
                <a:off x="2039" y="3849"/>
                <a:ext cx="13" cy="17"/>
              </a:xfrm>
              <a:custGeom>
                <a:avLst/>
                <a:gdLst>
                  <a:gd name="T0" fmla="*/ 1 w 25"/>
                  <a:gd name="T1" fmla="*/ 0 h 35"/>
                  <a:gd name="T2" fmla="*/ 1 w 25"/>
                  <a:gd name="T3" fmla="*/ 0 h 35"/>
                  <a:gd name="T4" fmla="*/ 1 w 25"/>
                  <a:gd name="T5" fmla="*/ 0 h 35"/>
                  <a:gd name="T6" fmla="*/ 1 w 25"/>
                  <a:gd name="T7" fmla="*/ 0 h 35"/>
                  <a:gd name="T8" fmla="*/ 0 w 25"/>
                  <a:gd name="T9" fmla="*/ 0 h 35"/>
                  <a:gd name="T10" fmla="*/ 1 w 25"/>
                  <a:gd name="T11" fmla="*/ 0 h 35"/>
                  <a:gd name="T12" fmla="*/ 0 w 25"/>
                  <a:gd name="T13" fmla="*/ 0 h 35"/>
                  <a:gd name="T14" fmla="*/ 1 w 25"/>
                  <a:gd name="T15" fmla="*/ 0 h 35"/>
                  <a:gd name="T16" fmla="*/ 1 w 25"/>
                  <a:gd name="T17" fmla="*/ 0 h 35"/>
                  <a:gd name="T18" fmla="*/ 1 w 25"/>
                  <a:gd name="T19" fmla="*/ 0 h 35"/>
                  <a:gd name="T20" fmla="*/ 1 w 25"/>
                  <a:gd name="T21" fmla="*/ 0 h 35"/>
                  <a:gd name="T22" fmla="*/ 1 w 25"/>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
                  <a:gd name="T37" fmla="*/ 0 h 35"/>
                  <a:gd name="T38" fmla="*/ 25 w 25"/>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 h="35">
                    <a:moveTo>
                      <a:pt x="19" y="30"/>
                    </a:moveTo>
                    <a:lnTo>
                      <a:pt x="22" y="25"/>
                    </a:lnTo>
                    <a:lnTo>
                      <a:pt x="25" y="3"/>
                    </a:lnTo>
                    <a:lnTo>
                      <a:pt x="3" y="0"/>
                    </a:lnTo>
                    <a:lnTo>
                      <a:pt x="0" y="22"/>
                    </a:lnTo>
                    <a:lnTo>
                      <a:pt x="3" y="18"/>
                    </a:lnTo>
                    <a:lnTo>
                      <a:pt x="0" y="22"/>
                    </a:lnTo>
                    <a:lnTo>
                      <a:pt x="3" y="30"/>
                    </a:lnTo>
                    <a:lnTo>
                      <a:pt x="9" y="35"/>
                    </a:lnTo>
                    <a:lnTo>
                      <a:pt x="17" y="33"/>
                    </a:lnTo>
                    <a:lnTo>
                      <a:pt x="22" y="25"/>
                    </a:lnTo>
                    <a:lnTo>
                      <a:pt x="19" y="30"/>
                    </a:lnTo>
                    <a:close/>
                  </a:path>
                </a:pathLst>
              </a:custGeom>
              <a:solidFill>
                <a:srgbClr val="000000"/>
              </a:solidFill>
              <a:ln w="9525">
                <a:noFill/>
                <a:round/>
                <a:headEnd/>
                <a:tailEnd/>
              </a:ln>
            </p:spPr>
            <p:txBody>
              <a:bodyPr/>
              <a:lstStyle/>
              <a:p>
                <a:endParaRPr lang="en-US"/>
              </a:p>
            </p:txBody>
          </p:sp>
          <p:sp>
            <p:nvSpPr>
              <p:cNvPr id="23599" name="Freeform 12"/>
              <p:cNvSpPr>
                <a:spLocks/>
              </p:cNvSpPr>
              <p:nvPr/>
            </p:nvSpPr>
            <p:spPr bwMode="auto">
              <a:xfrm>
                <a:off x="2025" y="3856"/>
                <a:ext cx="24" cy="15"/>
              </a:xfrm>
              <a:custGeom>
                <a:avLst/>
                <a:gdLst>
                  <a:gd name="T0" fmla="*/ 0 w 47"/>
                  <a:gd name="T1" fmla="*/ 1 h 28"/>
                  <a:gd name="T2" fmla="*/ 0 w 47"/>
                  <a:gd name="T3" fmla="*/ 1 h 28"/>
                  <a:gd name="T4" fmla="*/ 1 w 47"/>
                  <a:gd name="T5" fmla="*/ 1 h 28"/>
                  <a:gd name="T6" fmla="*/ 1 w 47"/>
                  <a:gd name="T7" fmla="*/ 1 h 28"/>
                  <a:gd name="T8" fmla="*/ 1 w 47"/>
                  <a:gd name="T9" fmla="*/ 1 h 28"/>
                  <a:gd name="T10" fmla="*/ 1 w 47"/>
                  <a:gd name="T11" fmla="*/ 1 h 28"/>
                  <a:gd name="T12" fmla="*/ 1 w 47"/>
                  <a:gd name="T13" fmla="*/ 1 h 28"/>
                  <a:gd name="T14" fmla="*/ 1 w 47"/>
                  <a:gd name="T15" fmla="*/ 0 h 28"/>
                  <a:gd name="T16" fmla="*/ 1 w 47"/>
                  <a:gd name="T17" fmla="*/ 1 h 28"/>
                  <a:gd name="T18" fmla="*/ 1 w 47"/>
                  <a:gd name="T19" fmla="*/ 1 h 28"/>
                  <a:gd name="T20" fmla="*/ 0 w 47"/>
                  <a:gd name="T21" fmla="*/ 1 h 28"/>
                  <a:gd name="T22" fmla="*/ 0 w 47"/>
                  <a:gd name="T23" fmla="*/ 1 h 28"/>
                  <a:gd name="T24" fmla="*/ 0 w 47"/>
                  <a:gd name="T25" fmla="*/ 1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
                  <a:gd name="T40" fmla="*/ 0 h 28"/>
                  <a:gd name="T41" fmla="*/ 47 w 47"/>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 h="28">
                    <a:moveTo>
                      <a:pt x="0" y="28"/>
                    </a:moveTo>
                    <a:lnTo>
                      <a:pt x="0" y="28"/>
                    </a:lnTo>
                    <a:lnTo>
                      <a:pt x="20" y="27"/>
                    </a:lnTo>
                    <a:lnTo>
                      <a:pt x="34" y="23"/>
                    </a:lnTo>
                    <a:lnTo>
                      <a:pt x="43" y="19"/>
                    </a:lnTo>
                    <a:lnTo>
                      <a:pt x="47" y="14"/>
                    </a:lnTo>
                    <a:lnTo>
                      <a:pt x="31" y="2"/>
                    </a:lnTo>
                    <a:lnTo>
                      <a:pt x="31" y="0"/>
                    </a:lnTo>
                    <a:lnTo>
                      <a:pt x="28" y="2"/>
                    </a:lnTo>
                    <a:lnTo>
                      <a:pt x="17" y="5"/>
                    </a:lnTo>
                    <a:lnTo>
                      <a:pt x="0" y="6"/>
                    </a:lnTo>
                    <a:lnTo>
                      <a:pt x="0" y="28"/>
                    </a:lnTo>
                    <a:close/>
                  </a:path>
                </a:pathLst>
              </a:custGeom>
              <a:solidFill>
                <a:srgbClr val="000000"/>
              </a:solidFill>
              <a:ln w="9525">
                <a:noFill/>
                <a:round/>
                <a:headEnd/>
                <a:tailEnd/>
              </a:ln>
            </p:spPr>
            <p:txBody>
              <a:bodyPr/>
              <a:lstStyle/>
              <a:p>
                <a:endParaRPr lang="en-US"/>
              </a:p>
            </p:txBody>
          </p:sp>
          <p:sp>
            <p:nvSpPr>
              <p:cNvPr id="23600" name="Freeform 13"/>
              <p:cNvSpPr>
                <a:spLocks/>
              </p:cNvSpPr>
              <p:nvPr/>
            </p:nvSpPr>
            <p:spPr bwMode="auto">
              <a:xfrm>
                <a:off x="1998" y="3854"/>
                <a:ext cx="27" cy="17"/>
              </a:xfrm>
              <a:custGeom>
                <a:avLst/>
                <a:gdLst>
                  <a:gd name="T0" fmla="*/ 0 w 55"/>
                  <a:gd name="T1" fmla="*/ 1 h 33"/>
                  <a:gd name="T2" fmla="*/ 0 w 55"/>
                  <a:gd name="T3" fmla="*/ 1 h 33"/>
                  <a:gd name="T4" fmla="*/ 0 w 55"/>
                  <a:gd name="T5" fmla="*/ 1 h 33"/>
                  <a:gd name="T6" fmla="*/ 0 w 55"/>
                  <a:gd name="T7" fmla="*/ 1 h 33"/>
                  <a:gd name="T8" fmla="*/ 0 w 55"/>
                  <a:gd name="T9" fmla="*/ 1 h 33"/>
                  <a:gd name="T10" fmla="*/ 0 w 55"/>
                  <a:gd name="T11" fmla="*/ 1 h 33"/>
                  <a:gd name="T12" fmla="*/ 0 w 55"/>
                  <a:gd name="T13" fmla="*/ 1 h 33"/>
                  <a:gd name="T14" fmla="*/ 0 w 55"/>
                  <a:gd name="T15" fmla="*/ 1 h 33"/>
                  <a:gd name="T16" fmla="*/ 0 w 55"/>
                  <a:gd name="T17" fmla="*/ 1 h 33"/>
                  <a:gd name="T18" fmla="*/ 0 w 55"/>
                  <a:gd name="T19" fmla="*/ 1 h 33"/>
                  <a:gd name="T20" fmla="*/ 0 w 55"/>
                  <a:gd name="T21" fmla="*/ 1 h 33"/>
                  <a:gd name="T22" fmla="*/ 0 w 55"/>
                  <a:gd name="T23" fmla="*/ 0 h 33"/>
                  <a:gd name="T24" fmla="*/ 0 w 55"/>
                  <a:gd name="T25" fmla="*/ 1 h 33"/>
                  <a:gd name="T26" fmla="*/ 0 w 55"/>
                  <a:gd name="T27" fmla="*/ 0 h 33"/>
                  <a:gd name="T28" fmla="*/ 0 w 55"/>
                  <a:gd name="T29" fmla="*/ 1 h 33"/>
                  <a:gd name="T30" fmla="*/ 0 w 55"/>
                  <a:gd name="T31" fmla="*/ 1 h 33"/>
                  <a:gd name="T32" fmla="*/ 0 w 55"/>
                  <a:gd name="T33" fmla="*/ 1 h 33"/>
                  <a:gd name="T34" fmla="*/ 0 w 55"/>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5"/>
                  <a:gd name="T55" fmla="*/ 0 h 33"/>
                  <a:gd name="T56" fmla="*/ 55 w 55"/>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5" h="33">
                    <a:moveTo>
                      <a:pt x="11" y="22"/>
                    </a:moveTo>
                    <a:lnTo>
                      <a:pt x="3" y="19"/>
                    </a:lnTo>
                    <a:lnTo>
                      <a:pt x="8" y="22"/>
                    </a:lnTo>
                    <a:lnTo>
                      <a:pt x="17" y="27"/>
                    </a:lnTo>
                    <a:lnTo>
                      <a:pt x="33" y="32"/>
                    </a:lnTo>
                    <a:lnTo>
                      <a:pt x="55" y="33"/>
                    </a:lnTo>
                    <a:lnTo>
                      <a:pt x="55" y="11"/>
                    </a:lnTo>
                    <a:lnTo>
                      <a:pt x="36" y="10"/>
                    </a:lnTo>
                    <a:lnTo>
                      <a:pt x="23" y="5"/>
                    </a:lnTo>
                    <a:lnTo>
                      <a:pt x="17" y="3"/>
                    </a:lnTo>
                    <a:lnTo>
                      <a:pt x="19" y="3"/>
                    </a:lnTo>
                    <a:lnTo>
                      <a:pt x="11" y="0"/>
                    </a:lnTo>
                    <a:lnTo>
                      <a:pt x="19" y="3"/>
                    </a:lnTo>
                    <a:lnTo>
                      <a:pt x="11" y="0"/>
                    </a:lnTo>
                    <a:lnTo>
                      <a:pt x="4" y="3"/>
                    </a:lnTo>
                    <a:lnTo>
                      <a:pt x="0" y="11"/>
                    </a:lnTo>
                    <a:lnTo>
                      <a:pt x="3" y="19"/>
                    </a:lnTo>
                    <a:lnTo>
                      <a:pt x="11" y="22"/>
                    </a:lnTo>
                    <a:close/>
                  </a:path>
                </a:pathLst>
              </a:custGeom>
              <a:solidFill>
                <a:srgbClr val="000000"/>
              </a:solidFill>
              <a:ln w="9525">
                <a:noFill/>
                <a:round/>
                <a:headEnd/>
                <a:tailEnd/>
              </a:ln>
            </p:spPr>
            <p:txBody>
              <a:bodyPr/>
              <a:lstStyle/>
              <a:p>
                <a:endParaRPr lang="en-US"/>
              </a:p>
            </p:txBody>
          </p:sp>
          <p:sp>
            <p:nvSpPr>
              <p:cNvPr id="23601" name="Freeform 14"/>
              <p:cNvSpPr>
                <a:spLocks/>
              </p:cNvSpPr>
              <p:nvPr/>
            </p:nvSpPr>
            <p:spPr bwMode="auto">
              <a:xfrm>
                <a:off x="1951" y="3838"/>
                <a:ext cx="52" cy="27"/>
              </a:xfrm>
              <a:custGeom>
                <a:avLst/>
                <a:gdLst>
                  <a:gd name="T0" fmla="*/ 0 w 105"/>
                  <a:gd name="T1" fmla="*/ 1 h 53"/>
                  <a:gd name="T2" fmla="*/ 0 w 105"/>
                  <a:gd name="T3" fmla="*/ 1 h 53"/>
                  <a:gd name="T4" fmla="*/ 0 w 105"/>
                  <a:gd name="T5" fmla="*/ 1 h 53"/>
                  <a:gd name="T6" fmla="*/ 0 w 105"/>
                  <a:gd name="T7" fmla="*/ 1 h 53"/>
                  <a:gd name="T8" fmla="*/ 0 w 105"/>
                  <a:gd name="T9" fmla="*/ 1 h 53"/>
                  <a:gd name="T10" fmla="*/ 0 w 105"/>
                  <a:gd name="T11" fmla="*/ 1 h 53"/>
                  <a:gd name="T12" fmla="*/ 0 w 105"/>
                  <a:gd name="T13" fmla="*/ 1 h 53"/>
                  <a:gd name="T14" fmla="*/ 0 w 105"/>
                  <a:gd name="T15" fmla="*/ 1 h 53"/>
                  <a:gd name="T16" fmla="*/ 0 w 105"/>
                  <a:gd name="T17" fmla="*/ 1 h 53"/>
                  <a:gd name="T18" fmla="*/ 0 w 105"/>
                  <a:gd name="T19" fmla="*/ 1 h 53"/>
                  <a:gd name="T20" fmla="*/ 0 w 105"/>
                  <a:gd name="T21" fmla="*/ 1 h 53"/>
                  <a:gd name="T22" fmla="*/ 0 w 105"/>
                  <a:gd name="T23" fmla="*/ 1 h 53"/>
                  <a:gd name="T24" fmla="*/ 0 w 105"/>
                  <a:gd name="T25" fmla="*/ 1 h 53"/>
                  <a:gd name="T26" fmla="*/ 0 w 105"/>
                  <a:gd name="T27" fmla="*/ 1 h 53"/>
                  <a:gd name="T28" fmla="*/ 0 w 105"/>
                  <a:gd name="T29" fmla="*/ 1 h 53"/>
                  <a:gd name="T30" fmla="*/ 0 w 105"/>
                  <a:gd name="T31" fmla="*/ 1 h 53"/>
                  <a:gd name="T32" fmla="*/ 0 w 105"/>
                  <a:gd name="T33" fmla="*/ 1 h 53"/>
                  <a:gd name="T34" fmla="*/ 0 w 105"/>
                  <a:gd name="T35" fmla="*/ 1 h 53"/>
                  <a:gd name="T36" fmla="*/ 0 w 105"/>
                  <a:gd name="T37" fmla="*/ 1 h 53"/>
                  <a:gd name="T38" fmla="*/ 0 w 105"/>
                  <a:gd name="T39" fmla="*/ 0 h 53"/>
                  <a:gd name="T40" fmla="*/ 0 w 105"/>
                  <a:gd name="T41" fmla="*/ 1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
                  <a:gd name="T64" fmla="*/ 0 h 53"/>
                  <a:gd name="T65" fmla="*/ 105 w 105"/>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 h="53">
                    <a:moveTo>
                      <a:pt x="1" y="9"/>
                    </a:moveTo>
                    <a:lnTo>
                      <a:pt x="0" y="8"/>
                    </a:lnTo>
                    <a:lnTo>
                      <a:pt x="11" y="23"/>
                    </a:lnTo>
                    <a:lnTo>
                      <a:pt x="23" y="34"/>
                    </a:lnTo>
                    <a:lnTo>
                      <a:pt x="42" y="42"/>
                    </a:lnTo>
                    <a:lnTo>
                      <a:pt x="59" y="47"/>
                    </a:lnTo>
                    <a:lnTo>
                      <a:pt x="77" y="50"/>
                    </a:lnTo>
                    <a:lnTo>
                      <a:pt x="91" y="52"/>
                    </a:lnTo>
                    <a:lnTo>
                      <a:pt x="100" y="53"/>
                    </a:lnTo>
                    <a:lnTo>
                      <a:pt x="105" y="53"/>
                    </a:lnTo>
                    <a:lnTo>
                      <a:pt x="105" y="31"/>
                    </a:lnTo>
                    <a:lnTo>
                      <a:pt x="103" y="31"/>
                    </a:lnTo>
                    <a:lnTo>
                      <a:pt x="94" y="30"/>
                    </a:lnTo>
                    <a:lnTo>
                      <a:pt x="80" y="28"/>
                    </a:lnTo>
                    <a:lnTo>
                      <a:pt x="66" y="25"/>
                    </a:lnTo>
                    <a:lnTo>
                      <a:pt x="48" y="20"/>
                    </a:lnTo>
                    <a:lnTo>
                      <a:pt x="36" y="16"/>
                    </a:lnTo>
                    <a:lnTo>
                      <a:pt x="26" y="8"/>
                    </a:lnTo>
                    <a:lnTo>
                      <a:pt x="22" y="2"/>
                    </a:lnTo>
                    <a:lnTo>
                      <a:pt x="20" y="0"/>
                    </a:lnTo>
                    <a:lnTo>
                      <a:pt x="1" y="9"/>
                    </a:lnTo>
                    <a:close/>
                  </a:path>
                </a:pathLst>
              </a:custGeom>
              <a:solidFill>
                <a:srgbClr val="000000"/>
              </a:solidFill>
              <a:ln w="9525">
                <a:noFill/>
                <a:round/>
                <a:headEnd/>
                <a:tailEnd/>
              </a:ln>
            </p:spPr>
            <p:txBody>
              <a:bodyPr/>
              <a:lstStyle/>
              <a:p>
                <a:endParaRPr lang="en-US"/>
              </a:p>
            </p:txBody>
          </p:sp>
          <p:sp>
            <p:nvSpPr>
              <p:cNvPr id="23602" name="Freeform 15"/>
              <p:cNvSpPr>
                <a:spLocks/>
              </p:cNvSpPr>
              <p:nvPr/>
            </p:nvSpPr>
            <p:spPr bwMode="auto">
              <a:xfrm>
                <a:off x="1949" y="3825"/>
                <a:ext cx="14" cy="18"/>
              </a:xfrm>
              <a:custGeom>
                <a:avLst/>
                <a:gdLst>
                  <a:gd name="T0" fmla="*/ 0 w 30"/>
                  <a:gd name="T1" fmla="*/ 1 h 36"/>
                  <a:gd name="T2" fmla="*/ 0 w 30"/>
                  <a:gd name="T3" fmla="*/ 1 h 36"/>
                  <a:gd name="T4" fmla="*/ 0 w 30"/>
                  <a:gd name="T5" fmla="*/ 1 h 36"/>
                  <a:gd name="T6" fmla="*/ 0 w 30"/>
                  <a:gd name="T7" fmla="*/ 0 h 36"/>
                  <a:gd name="T8" fmla="*/ 0 w 30"/>
                  <a:gd name="T9" fmla="*/ 1 h 36"/>
                  <a:gd name="T10" fmla="*/ 0 w 30"/>
                  <a:gd name="T11" fmla="*/ 1 h 36"/>
                  <a:gd name="T12" fmla="*/ 0 w 30"/>
                  <a:gd name="T13" fmla="*/ 1 h 36"/>
                  <a:gd name="T14" fmla="*/ 0 w 30"/>
                  <a:gd name="T15" fmla="*/ 1 h 36"/>
                  <a:gd name="T16" fmla="*/ 0 w 30"/>
                  <a:gd name="T17" fmla="*/ 1 h 36"/>
                  <a:gd name="T18" fmla="*/ 0 w 30"/>
                  <a:gd name="T19" fmla="*/ 1 h 36"/>
                  <a:gd name="T20" fmla="*/ 0 w 30"/>
                  <a:gd name="T21" fmla="*/ 1 h 36"/>
                  <a:gd name="T22" fmla="*/ 0 w 30"/>
                  <a:gd name="T23" fmla="*/ 1 h 36"/>
                  <a:gd name="T24" fmla="*/ 0 w 30"/>
                  <a:gd name="T25" fmla="*/ 1 h 36"/>
                  <a:gd name="T26" fmla="*/ 0 w 30"/>
                  <a:gd name="T27" fmla="*/ 1 h 36"/>
                  <a:gd name="T28" fmla="*/ 0 w 30"/>
                  <a:gd name="T29" fmla="*/ 1 h 36"/>
                  <a:gd name="T30" fmla="*/ 0 w 30"/>
                  <a:gd name="T31" fmla="*/ 1 h 36"/>
                  <a:gd name="T32" fmla="*/ 0 w 30"/>
                  <a:gd name="T33" fmla="*/ 1 h 36"/>
                  <a:gd name="T34" fmla="*/ 0 w 30"/>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0"/>
                  <a:gd name="T55" fmla="*/ 0 h 36"/>
                  <a:gd name="T56" fmla="*/ 30 w 30"/>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0" h="36">
                    <a:moveTo>
                      <a:pt x="13" y="7"/>
                    </a:moveTo>
                    <a:lnTo>
                      <a:pt x="27" y="8"/>
                    </a:lnTo>
                    <a:lnTo>
                      <a:pt x="24" y="5"/>
                    </a:lnTo>
                    <a:lnTo>
                      <a:pt x="10" y="0"/>
                    </a:lnTo>
                    <a:lnTo>
                      <a:pt x="0" y="18"/>
                    </a:lnTo>
                    <a:lnTo>
                      <a:pt x="6" y="36"/>
                    </a:lnTo>
                    <a:lnTo>
                      <a:pt x="25" y="27"/>
                    </a:lnTo>
                    <a:lnTo>
                      <a:pt x="22" y="14"/>
                    </a:lnTo>
                    <a:lnTo>
                      <a:pt x="16" y="22"/>
                    </a:lnTo>
                    <a:lnTo>
                      <a:pt x="11" y="24"/>
                    </a:lnTo>
                    <a:lnTo>
                      <a:pt x="25" y="25"/>
                    </a:lnTo>
                    <a:lnTo>
                      <a:pt x="11" y="24"/>
                    </a:lnTo>
                    <a:lnTo>
                      <a:pt x="19" y="27"/>
                    </a:lnTo>
                    <a:lnTo>
                      <a:pt x="27" y="22"/>
                    </a:lnTo>
                    <a:lnTo>
                      <a:pt x="30" y="16"/>
                    </a:lnTo>
                    <a:lnTo>
                      <a:pt x="27" y="8"/>
                    </a:lnTo>
                    <a:lnTo>
                      <a:pt x="13" y="7"/>
                    </a:lnTo>
                    <a:close/>
                  </a:path>
                </a:pathLst>
              </a:custGeom>
              <a:solidFill>
                <a:srgbClr val="000000"/>
              </a:solidFill>
              <a:ln w="9525">
                <a:noFill/>
                <a:round/>
                <a:headEnd/>
                <a:tailEnd/>
              </a:ln>
            </p:spPr>
            <p:txBody>
              <a:bodyPr/>
              <a:lstStyle/>
              <a:p>
                <a:endParaRPr lang="en-US"/>
              </a:p>
            </p:txBody>
          </p:sp>
          <p:sp>
            <p:nvSpPr>
              <p:cNvPr id="23603" name="Freeform 16"/>
              <p:cNvSpPr>
                <a:spLocks/>
              </p:cNvSpPr>
              <p:nvPr/>
            </p:nvSpPr>
            <p:spPr bwMode="auto">
              <a:xfrm>
                <a:off x="1955" y="3817"/>
                <a:ext cx="45" cy="21"/>
              </a:xfrm>
              <a:custGeom>
                <a:avLst/>
                <a:gdLst>
                  <a:gd name="T0" fmla="*/ 1 w 90"/>
                  <a:gd name="T1" fmla="*/ 0 h 40"/>
                  <a:gd name="T2" fmla="*/ 1 w 90"/>
                  <a:gd name="T3" fmla="*/ 0 h 40"/>
                  <a:gd name="T4" fmla="*/ 1 w 90"/>
                  <a:gd name="T5" fmla="*/ 0 h 40"/>
                  <a:gd name="T6" fmla="*/ 1 w 90"/>
                  <a:gd name="T7" fmla="*/ 1 h 40"/>
                  <a:gd name="T8" fmla="*/ 1 w 90"/>
                  <a:gd name="T9" fmla="*/ 1 h 40"/>
                  <a:gd name="T10" fmla="*/ 1 w 90"/>
                  <a:gd name="T11" fmla="*/ 1 h 40"/>
                  <a:gd name="T12" fmla="*/ 1 w 90"/>
                  <a:gd name="T13" fmla="*/ 1 h 40"/>
                  <a:gd name="T14" fmla="*/ 1 w 90"/>
                  <a:gd name="T15" fmla="*/ 1 h 40"/>
                  <a:gd name="T16" fmla="*/ 1 w 90"/>
                  <a:gd name="T17" fmla="*/ 1 h 40"/>
                  <a:gd name="T18" fmla="*/ 0 w 90"/>
                  <a:gd name="T19" fmla="*/ 1 h 40"/>
                  <a:gd name="T20" fmla="*/ 1 w 90"/>
                  <a:gd name="T21" fmla="*/ 1 h 40"/>
                  <a:gd name="T22" fmla="*/ 1 w 90"/>
                  <a:gd name="T23" fmla="*/ 1 h 40"/>
                  <a:gd name="T24" fmla="*/ 1 w 90"/>
                  <a:gd name="T25" fmla="*/ 1 h 40"/>
                  <a:gd name="T26" fmla="*/ 1 w 90"/>
                  <a:gd name="T27" fmla="*/ 1 h 40"/>
                  <a:gd name="T28" fmla="*/ 1 w 90"/>
                  <a:gd name="T29" fmla="*/ 1 h 40"/>
                  <a:gd name="T30" fmla="*/ 1 w 90"/>
                  <a:gd name="T31" fmla="*/ 1 h 40"/>
                  <a:gd name="T32" fmla="*/ 1 w 90"/>
                  <a:gd name="T33" fmla="*/ 1 h 40"/>
                  <a:gd name="T34" fmla="*/ 1 w 90"/>
                  <a:gd name="T35" fmla="*/ 1 h 40"/>
                  <a:gd name="T36" fmla="*/ 1 w 90"/>
                  <a:gd name="T37" fmla="*/ 1 h 40"/>
                  <a:gd name="T38" fmla="*/ 1 w 90"/>
                  <a:gd name="T39" fmla="*/ 1 h 40"/>
                  <a:gd name="T40" fmla="*/ 1 w 90"/>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0"/>
                  <a:gd name="T64" fmla="*/ 0 h 40"/>
                  <a:gd name="T65" fmla="*/ 90 w 90"/>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0" h="40">
                    <a:moveTo>
                      <a:pt x="90" y="0"/>
                    </a:moveTo>
                    <a:lnTo>
                      <a:pt x="90" y="0"/>
                    </a:lnTo>
                    <a:lnTo>
                      <a:pt x="72" y="0"/>
                    </a:lnTo>
                    <a:lnTo>
                      <a:pt x="54" y="3"/>
                    </a:lnTo>
                    <a:lnTo>
                      <a:pt x="39" y="6"/>
                    </a:lnTo>
                    <a:lnTo>
                      <a:pt x="26" y="9"/>
                    </a:lnTo>
                    <a:lnTo>
                      <a:pt x="15" y="15"/>
                    </a:lnTo>
                    <a:lnTo>
                      <a:pt x="9" y="17"/>
                    </a:lnTo>
                    <a:lnTo>
                      <a:pt x="3" y="20"/>
                    </a:lnTo>
                    <a:lnTo>
                      <a:pt x="0" y="22"/>
                    </a:lnTo>
                    <a:lnTo>
                      <a:pt x="12" y="40"/>
                    </a:lnTo>
                    <a:lnTo>
                      <a:pt x="12" y="39"/>
                    </a:lnTo>
                    <a:lnTo>
                      <a:pt x="15" y="39"/>
                    </a:lnTo>
                    <a:lnTo>
                      <a:pt x="25" y="34"/>
                    </a:lnTo>
                    <a:lnTo>
                      <a:pt x="33" y="31"/>
                    </a:lnTo>
                    <a:lnTo>
                      <a:pt x="45" y="28"/>
                    </a:lnTo>
                    <a:lnTo>
                      <a:pt x="58" y="25"/>
                    </a:lnTo>
                    <a:lnTo>
                      <a:pt x="75" y="22"/>
                    </a:lnTo>
                    <a:lnTo>
                      <a:pt x="90" y="22"/>
                    </a:lnTo>
                    <a:lnTo>
                      <a:pt x="90" y="0"/>
                    </a:lnTo>
                    <a:close/>
                  </a:path>
                </a:pathLst>
              </a:custGeom>
              <a:solidFill>
                <a:srgbClr val="000000"/>
              </a:solidFill>
              <a:ln w="9525">
                <a:noFill/>
                <a:round/>
                <a:headEnd/>
                <a:tailEnd/>
              </a:ln>
            </p:spPr>
            <p:txBody>
              <a:bodyPr/>
              <a:lstStyle/>
              <a:p>
                <a:endParaRPr lang="en-US"/>
              </a:p>
            </p:txBody>
          </p:sp>
          <p:sp>
            <p:nvSpPr>
              <p:cNvPr id="23604" name="Freeform 17"/>
              <p:cNvSpPr>
                <a:spLocks/>
              </p:cNvSpPr>
              <p:nvPr/>
            </p:nvSpPr>
            <p:spPr bwMode="auto">
              <a:xfrm>
                <a:off x="2000" y="3817"/>
                <a:ext cx="77" cy="11"/>
              </a:xfrm>
              <a:custGeom>
                <a:avLst/>
                <a:gdLst>
                  <a:gd name="T0" fmla="*/ 1 w 154"/>
                  <a:gd name="T1" fmla="*/ 1 h 22"/>
                  <a:gd name="T2" fmla="*/ 1 w 154"/>
                  <a:gd name="T3" fmla="*/ 0 h 22"/>
                  <a:gd name="T4" fmla="*/ 1 w 154"/>
                  <a:gd name="T5" fmla="*/ 0 h 22"/>
                  <a:gd name="T6" fmla="*/ 1 w 154"/>
                  <a:gd name="T7" fmla="*/ 0 h 22"/>
                  <a:gd name="T8" fmla="*/ 1 w 154"/>
                  <a:gd name="T9" fmla="*/ 0 h 22"/>
                  <a:gd name="T10" fmla="*/ 1 w 154"/>
                  <a:gd name="T11" fmla="*/ 0 h 22"/>
                  <a:gd name="T12" fmla="*/ 1 w 154"/>
                  <a:gd name="T13" fmla="*/ 0 h 22"/>
                  <a:gd name="T14" fmla="*/ 1 w 154"/>
                  <a:gd name="T15" fmla="*/ 0 h 22"/>
                  <a:gd name="T16" fmla="*/ 1 w 154"/>
                  <a:gd name="T17" fmla="*/ 0 h 22"/>
                  <a:gd name="T18" fmla="*/ 0 w 154"/>
                  <a:gd name="T19" fmla="*/ 0 h 22"/>
                  <a:gd name="T20" fmla="*/ 0 w 154"/>
                  <a:gd name="T21" fmla="*/ 1 h 22"/>
                  <a:gd name="T22" fmla="*/ 1 w 154"/>
                  <a:gd name="T23" fmla="*/ 1 h 22"/>
                  <a:gd name="T24" fmla="*/ 1 w 154"/>
                  <a:gd name="T25" fmla="*/ 1 h 22"/>
                  <a:gd name="T26" fmla="*/ 1 w 154"/>
                  <a:gd name="T27" fmla="*/ 1 h 22"/>
                  <a:gd name="T28" fmla="*/ 1 w 154"/>
                  <a:gd name="T29" fmla="*/ 1 h 22"/>
                  <a:gd name="T30" fmla="*/ 1 w 154"/>
                  <a:gd name="T31" fmla="*/ 1 h 22"/>
                  <a:gd name="T32" fmla="*/ 1 w 154"/>
                  <a:gd name="T33" fmla="*/ 1 h 22"/>
                  <a:gd name="T34" fmla="*/ 1 w 154"/>
                  <a:gd name="T35" fmla="*/ 1 h 22"/>
                  <a:gd name="T36" fmla="*/ 1 w 154"/>
                  <a:gd name="T37" fmla="*/ 1 h 22"/>
                  <a:gd name="T38" fmla="*/ 1 w 154"/>
                  <a:gd name="T39" fmla="*/ 1 h 22"/>
                  <a:gd name="T40" fmla="*/ 1 w 154"/>
                  <a:gd name="T41" fmla="*/ 1 h 22"/>
                  <a:gd name="T42" fmla="*/ 1 w 154"/>
                  <a:gd name="T43" fmla="*/ 1 h 22"/>
                  <a:gd name="T44" fmla="*/ 1 w 154"/>
                  <a:gd name="T45" fmla="*/ 1 h 22"/>
                  <a:gd name="T46" fmla="*/ 1 w 154"/>
                  <a:gd name="T47" fmla="*/ 1 h 22"/>
                  <a:gd name="T48" fmla="*/ 1 w 154"/>
                  <a:gd name="T49" fmla="*/ 0 h 22"/>
                  <a:gd name="T50" fmla="*/ 1 w 154"/>
                  <a:gd name="T51" fmla="*/ 1 h 2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22"/>
                  <a:gd name="T80" fmla="*/ 154 w 154"/>
                  <a:gd name="T81" fmla="*/ 22 h 2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22">
                    <a:moveTo>
                      <a:pt x="154" y="11"/>
                    </a:moveTo>
                    <a:lnTo>
                      <a:pt x="143" y="0"/>
                    </a:lnTo>
                    <a:lnTo>
                      <a:pt x="138" y="0"/>
                    </a:lnTo>
                    <a:lnTo>
                      <a:pt x="127" y="0"/>
                    </a:lnTo>
                    <a:lnTo>
                      <a:pt x="112" y="0"/>
                    </a:lnTo>
                    <a:lnTo>
                      <a:pt x="91" y="0"/>
                    </a:lnTo>
                    <a:lnTo>
                      <a:pt x="68" y="0"/>
                    </a:lnTo>
                    <a:lnTo>
                      <a:pt x="44" y="0"/>
                    </a:lnTo>
                    <a:lnTo>
                      <a:pt x="21" y="0"/>
                    </a:lnTo>
                    <a:lnTo>
                      <a:pt x="0" y="0"/>
                    </a:lnTo>
                    <a:lnTo>
                      <a:pt x="0" y="22"/>
                    </a:lnTo>
                    <a:lnTo>
                      <a:pt x="21" y="22"/>
                    </a:lnTo>
                    <a:lnTo>
                      <a:pt x="44" y="22"/>
                    </a:lnTo>
                    <a:lnTo>
                      <a:pt x="68" y="22"/>
                    </a:lnTo>
                    <a:lnTo>
                      <a:pt x="91" y="22"/>
                    </a:lnTo>
                    <a:lnTo>
                      <a:pt x="112" y="22"/>
                    </a:lnTo>
                    <a:lnTo>
                      <a:pt x="127" y="22"/>
                    </a:lnTo>
                    <a:lnTo>
                      <a:pt x="138" y="22"/>
                    </a:lnTo>
                    <a:lnTo>
                      <a:pt x="143" y="22"/>
                    </a:lnTo>
                    <a:lnTo>
                      <a:pt x="132" y="11"/>
                    </a:lnTo>
                    <a:lnTo>
                      <a:pt x="143" y="22"/>
                    </a:lnTo>
                    <a:lnTo>
                      <a:pt x="151" y="18"/>
                    </a:lnTo>
                    <a:lnTo>
                      <a:pt x="154" y="11"/>
                    </a:lnTo>
                    <a:lnTo>
                      <a:pt x="151" y="3"/>
                    </a:lnTo>
                    <a:lnTo>
                      <a:pt x="143" y="0"/>
                    </a:lnTo>
                    <a:lnTo>
                      <a:pt x="154" y="11"/>
                    </a:lnTo>
                    <a:close/>
                  </a:path>
                </a:pathLst>
              </a:custGeom>
              <a:solidFill>
                <a:srgbClr val="000000"/>
              </a:solidFill>
              <a:ln w="9525">
                <a:noFill/>
                <a:round/>
                <a:headEnd/>
                <a:tailEnd/>
              </a:ln>
            </p:spPr>
            <p:txBody>
              <a:bodyPr/>
              <a:lstStyle/>
              <a:p>
                <a:endParaRPr lang="en-US"/>
              </a:p>
            </p:txBody>
          </p:sp>
          <p:sp>
            <p:nvSpPr>
              <p:cNvPr id="23605" name="Freeform 18"/>
              <p:cNvSpPr>
                <a:spLocks/>
              </p:cNvSpPr>
              <p:nvPr/>
            </p:nvSpPr>
            <p:spPr bwMode="auto">
              <a:xfrm>
                <a:off x="2036" y="3731"/>
                <a:ext cx="42" cy="93"/>
              </a:xfrm>
              <a:custGeom>
                <a:avLst/>
                <a:gdLst>
                  <a:gd name="T0" fmla="*/ 1 w 82"/>
                  <a:gd name="T1" fmla="*/ 1 h 186"/>
                  <a:gd name="T2" fmla="*/ 1 w 82"/>
                  <a:gd name="T3" fmla="*/ 1 h 186"/>
                  <a:gd name="T4" fmla="*/ 1 w 82"/>
                  <a:gd name="T5" fmla="*/ 1 h 186"/>
                  <a:gd name="T6" fmla="*/ 1 w 82"/>
                  <a:gd name="T7" fmla="*/ 1 h 186"/>
                  <a:gd name="T8" fmla="*/ 1 w 82"/>
                  <a:gd name="T9" fmla="*/ 1 h 186"/>
                  <a:gd name="T10" fmla="*/ 1 w 82"/>
                  <a:gd name="T11" fmla="*/ 1 h 186"/>
                  <a:gd name="T12" fmla="*/ 1 w 82"/>
                  <a:gd name="T13" fmla="*/ 1 h 186"/>
                  <a:gd name="T14" fmla="*/ 1 w 82"/>
                  <a:gd name="T15" fmla="*/ 1 h 186"/>
                  <a:gd name="T16" fmla="*/ 1 w 82"/>
                  <a:gd name="T17" fmla="*/ 1 h 186"/>
                  <a:gd name="T18" fmla="*/ 1 w 82"/>
                  <a:gd name="T19" fmla="*/ 1 h 186"/>
                  <a:gd name="T20" fmla="*/ 1 w 82"/>
                  <a:gd name="T21" fmla="*/ 1 h 186"/>
                  <a:gd name="T22" fmla="*/ 1 w 82"/>
                  <a:gd name="T23" fmla="*/ 1 h 186"/>
                  <a:gd name="T24" fmla="*/ 1 w 82"/>
                  <a:gd name="T25" fmla="*/ 1 h 186"/>
                  <a:gd name="T26" fmla="*/ 1 w 82"/>
                  <a:gd name="T27" fmla="*/ 1 h 186"/>
                  <a:gd name="T28" fmla="*/ 1 w 82"/>
                  <a:gd name="T29" fmla="*/ 1 h 186"/>
                  <a:gd name="T30" fmla="*/ 1 w 82"/>
                  <a:gd name="T31" fmla="*/ 1 h 186"/>
                  <a:gd name="T32" fmla="*/ 1 w 82"/>
                  <a:gd name="T33" fmla="*/ 1 h 186"/>
                  <a:gd name="T34" fmla="*/ 1 w 82"/>
                  <a:gd name="T35" fmla="*/ 1 h 186"/>
                  <a:gd name="T36" fmla="*/ 1 w 82"/>
                  <a:gd name="T37" fmla="*/ 1 h 186"/>
                  <a:gd name="T38" fmla="*/ 1 w 82"/>
                  <a:gd name="T39" fmla="*/ 1 h 186"/>
                  <a:gd name="T40" fmla="*/ 1 w 82"/>
                  <a:gd name="T41" fmla="*/ 1 h 186"/>
                  <a:gd name="T42" fmla="*/ 1 w 82"/>
                  <a:gd name="T43" fmla="*/ 1 h 186"/>
                  <a:gd name="T44" fmla="*/ 1 w 82"/>
                  <a:gd name="T45" fmla="*/ 1 h 186"/>
                  <a:gd name="T46" fmla="*/ 1 w 82"/>
                  <a:gd name="T47" fmla="*/ 1 h 186"/>
                  <a:gd name="T48" fmla="*/ 1 w 82"/>
                  <a:gd name="T49" fmla="*/ 1 h 186"/>
                  <a:gd name="T50" fmla="*/ 1 w 82"/>
                  <a:gd name="T51" fmla="*/ 1 h 186"/>
                  <a:gd name="T52" fmla="*/ 1 w 82"/>
                  <a:gd name="T53" fmla="*/ 1 h 186"/>
                  <a:gd name="T54" fmla="*/ 1 w 82"/>
                  <a:gd name="T55" fmla="*/ 1 h 186"/>
                  <a:gd name="T56" fmla="*/ 1 w 82"/>
                  <a:gd name="T57" fmla="*/ 1 h 186"/>
                  <a:gd name="T58" fmla="*/ 1 w 82"/>
                  <a:gd name="T59" fmla="*/ 1 h 186"/>
                  <a:gd name="T60" fmla="*/ 0 w 82"/>
                  <a:gd name="T61" fmla="*/ 1 h 186"/>
                  <a:gd name="T62" fmla="*/ 0 w 82"/>
                  <a:gd name="T63" fmla="*/ 1 h 186"/>
                  <a:gd name="T64" fmla="*/ 0 w 82"/>
                  <a:gd name="T65" fmla="*/ 0 h 186"/>
                  <a:gd name="T66" fmla="*/ 1 w 82"/>
                  <a:gd name="T67" fmla="*/ 1 h 18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2"/>
                  <a:gd name="T103" fmla="*/ 0 h 186"/>
                  <a:gd name="T104" fmla="*/ 82 w 82"/>
                  <a:gd name="T105" fmla="*/ 186 h 18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2" h="186">
                    <a:moveTo>
                      <a:pt x="82" y="22"/>
                    </a:moveTo>
                    <a:lnTo>
                      <a:pt x="82" y="23"/>
                    </a:lnTo>
                    <a:lnTo>
                      <a:pt x="81" y="29"/>
                    </a:lnTo>
                    <a:lnTo>
                      <a:pt x="79" y="37"/>
                    </a:lnTo>
                    <a:lnTo>
                      <a:pt x="78" y="48"/>
                    </a:lnTo>
                    <a:lnTo>
                      <a:pt x="76" y="61"/>
                    </a:lnTo>
                    <a:lnTo>
                      <a:pt x="75" y="75"/>
                    </a:lnTo>
                    <a:lnTo>
                      <a:pt x="75" y="90"/>
                    </a:lnTo>
                    <a:lnTo>
                      <a:pt x="75" y="106"/>
                    </a:lnTo>
                    <a:lnTo>
                      <a:pt x="75" y="122"/>
                    </a:lnTo>
                    <a:lnTo>
                      <a:pt x="76" y="136"/>
                    </a:lnTo>
                    <a:lnTo>
                      <a:pt x="76" y="148"/>
                    </a:lnTo>
                    <a:lnTo>
                      <a:pt x="76" y="159"/>
                    </a:lnTo>
                    <a:lnTo>
                      <a:pt x="78" y="169"/>
                    </a:lnTo>
                    <a:lnTo>
                      <a:pt x="78" y="175"/>
                    </a:lnTo>
                    <a:lnTo>
                      <a:pt x="78" y="180"/>
                    </a:lnTo>
                    <a:lnTo>
                      <a:pt x="78" y="181"/>
                    </a:lnTo>
                    <a:lnTo>
                      <a:pt x="76" y="181"/>
                    </a:lnTo>
                    <a:lnTo>
                      <a:pt x="70" y="183"/>
                    </a:lnTo>
                    <a:lnTo>
                      <a:pt x="62" y="183"/>
                    </a:lnTo>
                    <a:lnTo>
                      <a:pt x="53" y="184"/>
                    </a:lnTo>
                    <a:lnTo>
                      <a:pt x="43" y="186"/>
                    </a:lnTo>
                    <a:lnTo>
                      <a:pt x="32" y="186"/>
                    </a:lnTo>
                    <a:lnTo>
                      <a:pt x="25" y="186"/>
                    </a:lnTo>
                    <a:lnTo>
                      <a:pt x="17" y="184"/>
                    </a:lnTo>
                    <a:lnTo>
                      <a:pt x="10" y="175"/>
                    </a:lnTo>
                    <a:lnTo>
                      <a:pt x="7" y="153"/>
                    </a:lnTo>
                    <a:lnTo>
                      <a:pt x="4" y="123"/>
                    </a:lnTo>
                    <a:lnTo>
                      <a:pt x="1" y="90"/>
                    </a:lnTo>
                    <a:lnTo>
                      <a:pt x="1" y="58"/>
                    </a:lnTo>
                    <a:lnTo>
                      <a:pt x="0" y="28"/>
                    </a:lnTo>
                    <a:lnTo>
                      <a:pt x="0" y="7"/>
                    </a:lnTo>
                    <a:lnTo>
                      <a:pt x="0" y="0"/>
                    </a:lnTo>
                    <a:lnTo>
                      <a:pt x="82" y="22"/>
                    </a:lnTo>
                    <a:close/>
                  </a:path>
                </a:pathLst>
              </a:custGeom>
              <a:solidFill>
                <a:srgbClr val="00FFB2"/>
              </a:solidFill>
              <a:ln w="9525">
                <a:noFill/>
                <a:round/>
                <a:headEnd/>
                <a:tailEnd/>
              </a:ln>
            </p:spPr>
            <p:txBody>
              <a:bodyPr/>
              <a:lstStyle/>
              <a:p>
                <a:endParaRPr lang="en-US"/>
              </a:p>
            </p:txBody>
          </p:sp>
          <p:sp>
            <p:nvSpPr>
              <p:cNvPr id="23606" name="Freeform 19"/>
              <p:cNvSpPr>
                <a:spLocks/>
              </p:cNvSpPr>
              <p:nvPr/>
            </p:nvSpPr>
            <p:spPr bwMode="auto">
              <a:xfrm>
                <a:off x="2068" y="3741"/>
                <a:ext cx="15" cy="44"/>
              </a:xfrm>
              <a:custGeom>
                <a:avLst/>
                <a:gdLst>
                  <a:gd name="T0" fmla="*/ 1 w 29"/>
                  <a:gd name="T1" fmla="*/ 1 h 88"/>
                  <a:gd name="T2" fmla="*/ 1 w 29"/>
                  <a:gd name="T3" fmla="*/ 1 h 88"/>
                  <a:gd name="T4" fmla="*/ 1 w 29"/>
                  <a:gd name="T5" fmla="*/ 1 h 88"/>
                  <a:gd name="T6" fmla="*/ 1 w 29"/>
                  <a:gd name="T7" fmla="*/ 1 h 88"/>
                  <a:gd name="T8" fmla="*/ 1 w 29"/>
                  <a:gd name="T9" fmla="*/ 1 h 88"/>
                  <a:gd name="T10" fmla="*/ 1 w 29"/>
                  <a:gd name="T11" fmla="*/ 1 h 88"/>
                  <a:gd name="T12" fmla="*/ 1 w 29"/>
                  <a:gd name="T13" fmla="*/ 1 h 88"/>
                  <a:gd name="T14" fmla="*/ 1 w 29"/>
                  <a:gd name="T15" fmla="*/ 1 h 88"/>
                  <a:gd name="T16" fmla="*/ 1 w 29"/>
                  <a:gd name="T17" fmla="*/ 1 h 88"/>
                  <a:gd name="T18" fmla="*/ 1 w 29"/>
                  <a:gd name="T19" fmla="*/ 1 h 88"/>
                  <a:gd name="T20" fmla="*/ 1 w 29"/>
                  <a:gd name="T21" fmla="*/ 0 h 88"/>
                  <a:gd name="T22" fmla="*/ 1 w 29"/>
                  <a:gd name="T23" fmla="*/ 1 h 88"/>
                  <a:gd name="T24" fmla="*/ 1 w 29"/>
                  <a:gd name="T25" fmla="*/ 1 h 88"/>
                  <a:gd name="T26" fmla="*/ 1 w 29"/>
                  <a:gd name="T27" fmla="*/ 1 h 88"/>
                  <a:gd name="T28" fmla="*/ 1 w 29"/>
                  <a:gd name="T29" fmla="*/ 1 h 88"/>
                  <a:gd name="T30" fmla="*/ 1 w 29"/>
                  <a:gd name="T31" fmla="*/ 1 h 88"/>
                  <a:gd name="T32" fmla="*/ 0 w 29"/>
                  <a:gd name="T33" fmla="*/ 1 h 88"/>
                  <a:gd name="T34" fmla="*/ 0 w 29"/>
                  <a:gd name="T35" fmla="*/ 1 h 88"/>
                  <a:gd name="T36" fmla="*/ 0 w 29"/>
                  <a:gd name="T37" fmla="*/ 1 h 88"/>
                  <a:gd name="T38" fmla="*/ 0 w 29"/>
                  <a:gd name="T39" fmla="*/ 1 h 88"/>
                  <a:gd name="T40" fmla="*/ 1 w 29"/>
                  <a:gd name="T41" fmla="*/ 1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9"/>
                  <a:gd name="T64" fmla="*/ 0 h 88"/>
                  <a:gd name="T65" fmla="*/ 29 w 29"/>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9" h="88">
                    <a:moveTo>
                      <a:pt x="22" y="88"/>
                    </a:moveTo>
                    <a:lnTo>
                      <a:pt x="22" y="88"/>
                    </a:lnTo>
                    <a:lnTo>
                      <a:pt x="22" y="72"/>
                    </a:lnTo>
                    <a:lnTo>
                      <a:pt x="22" y="57"/>
                    </a:lnTo>
                    <a:lnTo>
                      <a:pt x="23" y="44"/>
                    </a:lnTo>
                    <a:lnTo>
                      <a:pt x="25" y="32"/>
                    </a:lnTo>
                    <a:lnTo>
                      <a:pt x="26" y="21"/>
                    </a:lnTo>
                    <a:lnTo>
                      <a:pt x="28" y="14"/>
                    </a:lnTo>
                    <a:lnTo>
                      <a:pt x="29" y="7"/>
                    </a:lnTo>
                    <a:lnTo>
                      <a:pt x="8" y="0"/>
                    </a:lnTo>
                    <a:lnTo>
                      <a:pt x="8" y="4"/>
                    </a:lnTo>
                    <a:lnTo>
                      <a:pt x="6" y="8"/>
                    </a:lnTo>
                    <a:lnTo>
                      <a:pt x="4" y="18"/>
                    </a:lnTo>
                    <a:lnTo>
                      <a:pt x="3" y="29"/>
                    </a:lnTo>
                    <a:lnTo>
                      <a:pt x="1" y="41"/>
                    </a:lnTo>
                    <a:lnTo>
                      <a:pt x="0" y="57"/>
                    </a:lnTo>
                    <a:lnTo>
                      <a:pt x="0" y="72"/>
                    </a:lnTo>
                    <a:lnTo>
                      <a:pt x="0" y="88"/>
                    </a:lnTo>
                    <a:lnTo>
                      <a:pt x="22" y="88"/>
                    </a:lnTo>
                    <a:close/>
                  </a:path>
                </a:pathLst>
              </a:custGeom>
              <a:solidFill>
                <a:srgbClr val="000000"/>
              </a:solidFill>
              <a:ln w="9525">
                <a:noFill/>
                <a:round/>
                <a:headEnd/>
                <a:tailEnd/>
              </a:ln>
            </p:spPr>
            <p:txBody>
              <a:bodyPr/>
              <a:lstStyle/>
              <a:p>
                <a:endParaRPr lang="en-US"/>
              </a:p>
            </p:txBody>
          </p:sp>
          <p:sp>
            <p:nvSpPr>
              <p:cNvPr id="23607" name="Freeform 20"/>
              <p:cNvSpPr>
                <a:spLocks/>
              </p:cNvSpPr>
              <p:nvPr/>
            </p:nvSpPr>
            <p:spPr bwMode="auto">
              <a:xfrm>
                <a:off x="2068" y="3785"/>
                <a:ext cx="13" cy="43"/>
              </a:xfrm>
              <a:custGeom>
                <a:avLst/>
                <a:gdLst>
                  <a:gd name="T0" fmla="*/ 1 w 25"/>
                  <a:gd name="T1" fmla="*/ 1 h 86"/>
                  <a:gd name="T2" fmla="*/ 1 w 25"/>
                  <a:gd name="T3" fmla="*/ 1 h 86"/>
                  <a:gd name="T4" fmla="*/ 1 w 25"/>
                  <a:gd name="T5" fmla="*/ 1 h 86"/>
                  <a:gd name="T6" fmla="*/ 1 w 25"/>
                  <a:gd name="T7" fmla="*/ 1 h 86"/>
                  <a:gd name="T8" fmla="*/ 1 w 25"/>
                  <a:gd name="T9" fmla="*/ 1 h 86"/>
                  <a:gd name="T10" fmla="*/ 1 w 25"/>
                  <a:gd name="T11" fmla="*/ 1 h 86"/>
                  <a:gd name="T12" fmla="*/ 1 w 25"/>
                  <a:gd name="T13" fmla="*/ 1 h 86"/>
                  <a:gd name="T14" fmla="*/ 1 w 25"/>
                  <a:gd name="T15" fmla="*/ 1 h 86"/>
                  <a:gd name="T16" fmla="*/ 1 w 25"/>
                  <a:gd name="T17" fmla="*/ 1 h 86"/>
                  <a:gd name="T18" fmla="*/ 1 w 25"/>
                  <a:gd name="T19" fmla="*/ 0 h 86"/>
                  <a:gd name="T20" fmla="*/ 0 w 25"/>
                  <a:gd name="T21" fmla="*/ 0 h 86"/>
                  <a:gd name="T22" fmla="*/ 0 w 25"/>
                  <a:gd name="T23" fmla="*/ 1 h 86"/>
                  <a:gd name="T24" fmla="*/ 1 w 25"/>
                  <a:gd name="T25" fmla="*/ 1 h 86"/>
                  <a:gd name="T26" fmla="*/ 1 w 25"/>
                  <a:gd name="T27" fmla="*/ 1 h 86"/>
                  <a:gd name="T28" fmla="*/ 1 w 25"/>
                  <a:gd name="T29" fmla="*/ 1 h 86"/>
                  <a:gd name="T30" fmla="*/ 1 w 25"/>
                  <a:gd name="T31" fmla="*/ 1 h 86"/>
                  <a:gd name="T32" fmla="*/ 1 w 25"/>
                  <a:gd name="T33" fmla="*/ 1 h 86"/>
                  <a:gd name="T34" fmla="*/ 1 w 25"/>
                  <a:gd name="T35" fmla="*/ 1 h 86"/>
                  <a:gd name="T36" fmla="*/ 1 w 25"/>
                  <a:gd name="T37" fmla="*/ 1 h 86"/>
                  <a:gd name="T38" fmla="*/ 1 w 25"/>
                  <a:gd name="T39" fmla="*/ 1 h 86"/>
                  <a:gd name="T40" fmla="*/ 1 w 25"/>
                  <a:gd name="T41" fmla="*/ 1 h 86"/>
                  <a:gd name="T42" fmla="*/ 1 w 25"/>
                  <a:gd name="T43" fmla="*/ 1 h 86"/>
                  <a:gd name="T44" fmla="*/ 1 w 25"/>
                  <a:gd name="T45" fmla="*/ 1 h 86"/>
                  <a:gd name="T46" fmla="*/ 1 w 25"/>
                  <a:gd name="T47" fmla="*/ 1 h 86"/>
                  <a:gd name="T48" fmla="*/ 1 w 25"/>
                  <a:gd name="T49" fmla="*/ 1 h 86"/>
                  <a:gd name="T50" fmla="*/ 1 w 25"/>
                  <a:gd name="T51" fmla="*/ 1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
                  <a:gd name="T79" fmla="*/ 0 h 86"/>
                  <a:gd name="T80" fmla="*/ 25 w 25"/>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 h="86">
                    <a:moveTo>
                      <a:pt x="15" y="86"/>
                    </a:moveTo>
                    <a:lnTo>
                      <a:pt x="25" y="75"/>
                    </a:lnTo>
                    <a:lnTo>
                      <a:pt x="25" y="74"/>
                    </a:lnTo>
                    <a:lnTo>
                      <a:pt x="25" y="69"/>
                    </a:lnTo>
                    <a:lnTo>
                      <a:pt x="25" y="61"/>
                    </a:lnTo>
                    <a:lnTo>
                      <a:pt x="23" y="52"/>
                    </a:lnTo>
                    <a:lnTo>
                      <a:pt x="23" y="42"/>
                    </a:lnTo>
                    <a:lnTo>
                      <a:pt x="23" y="30"/>
                    </a:lnTo>
                    <a:lnTo>
                      <a:pt x="22" y="16"/>
                    </a:lnTo>
                    <a:lnTo>
                      <a:pt x="22" y="0"/>
                    </a:lnTo>
                    <a:lnTo>
                      <a:pt x="0" y="0"/>
                    </a:lnTo>
                    <a:lnTo>
                      <a:pt x="0" y="16"/>
                    </a:lnTo>
                    <a:lnTo>
                      <a:pt x="1" y="30"/>
                    </a:lnTo>
                    <a:lnTo>
                      <a:pt x="1" y="42"/>
                    </a:lnTo>
                    <a:lnTo>
                      <a:pt x="1" y="55"/>
                    </a:lnTo>
                    <a:lnTo>
                      <a:pt x="3" y="64"/>
                    </a:lnTo>
                    <a:lnTo>
                      <a:pt x="3" y="69"/>
                    </a:lnTo>
                    <a:lnTo>
                      <a:pt x="3" y="74"/>
                    </a:lnTo>
                    <a:lnTo>
                      <a:pt x="3" y="75"/>
                    </a:lnTo>
                    <a:lnTo>
                      <a:pt x="12" y="64"/>
                    </a:lnTo>
                    <a:lnTo>
                      <a:pt x="3" y="75"/>
                    </a:lnTo>
                    <a:lnTo>
                      <a:pt x="6" y="83"/>
                    </a:lnTo>
                    <a:lnTo>
                      <a:pt x="14" y="86"/>
                    </a:lnTo>
                    <a:lnTo>
                      <a:pt x="22" y="83"/>
                    </a:lnTo>
                    <a:lnTo>
                      <a:pt x="25" y="75"/>
                    </a:lnTo>
                    <a:lnTo>
                      <a:pt x="15" y="86"/>
                    </a:lnTo>
                    <a:close/>
                  </a:path>
                </a:pathLst>
              </a:custGeom>
              <a:solidFill>
                <a:srgbClr val="000000"/>
              </a:solidFill>
              <a:ln w="9525">
                <a:noFill/>
                <a:round/>
                <a:headEnd/>
                <a:tailEnd/>
              </a:ln>
            </p:spPr>
            <p:txBody>
              <a:bodyPr/>
              <a:lstStyle/>
              <a:p>
                <a:endParaRPr lang="en-US"/>
              </a:p>
            </p:txBody>
          </p:sp>
          <p:sp>
            <p:nvSpPr>
              <p:cNvPr id="23608" name="Freeform 21"/>
              <p:cNvSpPr>
                <a:spLocks/>
              </p:cNvSpPr>
              <p:nvPr/>
            </p:nvSpPr>
            <p:spPr bwMode="auto">
              <a:xfrm>
                <a:off x="2043" y="3817"/>
                <a:ext cx="33" cy="13"/>
              </a:xfrm>
              <a:custGeom>
                <a:avLst/>
                <a:gdLst>
                  <a:gd name="T0" fmla="*/ 0 w 65"/>
                  <a:gd name="T1" fmla="*/ 0 h 27"/>
                  <a:gd name="T2" fmla="*/ 0 w 65"/>
                  <a:gd name="T3" fmla="*/ 0 h 27"/>
                  <a:gd name="T4" fmla="*/ 1 w 65"/>
                  <a:gd name="T5" fmla="*/ 0 h 27"/>
                  <a:gd name="T6" fmla="*/ 1 w 65"/>
                  <a:gd name="T7" fmla="*/ 0 h 27"/>
                  <a:gd name="T8" fmla="*/ 1 w 65"/>
                  <a:gd name="T9" fmla="*/ 0 h 27"/>
                  <a:gd name="T10" fmla="*/ 1 w 65"/>
                  <a:gd name="T11" fmla="*/ 0 h 27"/>
                  <a:gd name="T12" fmla="*/ 1 w 65"/>
                  <a:gd name="T13" fmla="*/ 0 h 27"/>
                  <a:gd name="T14" fmla="*/ 1 w 65"/>
                  <a:gd name="T15" fmla="*/ 0 h 27"/>
                  <a:gd name="T16" fmla="*/ 1 w 65"/>
                  <a:gd name="T17" fmla="*/ 0 h 27"/>
                  <a:gd name="T18" fmla="*/ 1 w 65"/>
                  <a:gd name="T19" fmla="*/ 0 h 27"/>
                  <a:gd name="T20" fmla="*/ 1 w 65"/>
                  <a:gd name="T21" fmla="*/ 0 h 27"/>
                  <a:gd name="T22" fmla="*/ 1 w 65"/>
                  <a:gd name="T23" fmla="*/ 0 h 27"/>
                  <a:gd name="T24" fmla="*/ 1 w 65"/>
                  <a:gd name="T25" fmla="*/ 0 h 27"/>
                  <a:gd name="T26" fmla="*/ 1 w 65"/>
                  <a:gd name="T27" fmla="*/ 0 h 27"/>
                  <a:gd name="T28" fmla="*/ 1 w 65"/>
                  <a:gd name="T29" fmla="*/ 0 h 27"/>
                  <a:gd name="T30" fmla="*/ 1 w 65"/>
                  <a:gd name="T31" fmla="*/ 0 h 27"/>
                  <a:gd name="T32" fmla="*/ 1 w 65"/>
                  <a:gd name="T33" fmla="*/ 0 h 27"/>
                  <a:gd name="T34" fmla="*/ 1 w 65"/>
                  <a:gd name="T35" fmla="*/ 0 h 27"/>
                  <a:gd name="T36" fmla="*/ 1 w 65"/>
                  <a:gd name="T37" fmla="*/ 0 h 27"/>
                  <a:gd name="T38" fmla="*/ 1 w 65"/>
                  <a:gd name="T39" fmla="*/ 0 h 27"/>
                  <a:gd name="T40" fmla="*/ 0 w 65"/>
                  <a:gd name="T41" fmla="*/ 0 h 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
                  <a:gd name="T64" fmla="*/ 0 h 27"/>
                  <a:gd name="T65" fmla="*/ 65 w 65"/>
                  <a:gd name="T66" fmla="*/ 27 h 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 h="27">
                    <a:moveTo>
                      <a:pt x="0" y="25"/>
                    </a:moveTo>
                    <a:lnTo>
                      <a:pt x="0" y="25"/>
                    </a:lnTo>
                    <a:lnTo>
                      <a:pt x="9" y="27"/>
                    </a:lnTo>
                    <a:lnTo>
                      <a:pt x="18" y="27"/>
                    </a:lnTo>
                    <a:lnTo>
                      <a:pt x="31" y="27"/>
                    </a:lnTo>
                    <a:lnTo>
                      <a:pt x="40" y="25"/>
                    </a:lnTo>
                    <a:lnTo>
                      <a:pt x="50" y="24"/>
                    </a:lnTo>
                    <a:lnTo>
                      <a:pt x="58" y="24"/>
                    </a:lnTo>
                    <a:lnTo>
                      <a:pt x="64" y="22"/>
                    </a:lnTo>
                    <a:lnTo>
                      <a:pt x="65" y="22"/>
                    </a:lnTo>
                    <a:lnTo>
                      <a:pt x="62" y="0"/>
                    </a:lnTo>
                    <a:lnTo>
                      <a:pt x="61" y="0"/>
                    </a:lnTo>
                    <a:lnTo>
                      <a:pt x="54" y="2"/>
                    </a:lnTo>
                    <a:lnTo>
                      <a:pt x="47" y="2"/>
                    </a:lnTo>
                    <a:lnTo>
                      <a:pt x="37" y="3"/>
                    </a:lnTo>
                    <a:lnTo>
                      <a:pt x="28" y="5"/>
                    </a:lnTo>
                    <a:lnTo>
                      <a:pt x="18" y="5"/>
                    </a:lnTo>
                    <a:lnTo>
                      <a:pt x="12" y="5"/>
                    </a:lnTo>
                    <a:lnTo>
                      <a:pt x="6" y="3"/>
                    </a:lnTo>
                    <a:lnTo>
                      <a:pt x="0" y="25"/>
                    </a:lnTo>
                    <a:close/>
                  </a:path>
                </a:pathLst>
              </a:custGeom>
              <a:solidFill>
                <a:srgbClr val="000000"/>
              </a:solidFill>
              <a:ln w="9525">
                <a:noFill/>
                <a:round/>
                <a:headEnd/>
                <a:tailEnd/>
              </a:ln>
            </p:spPr>
            <p:txBody>
              <a:bodyPr/>
              <a:lstStyle/>
              <a:p>
                <a:endParaRPr lang="en-US"/>
              </a:p>
            </p:txBody>
          </p:sp>
          <p:sp>
            <p:nvSpPr>
              <p:cNvPr id="23609" name="Freeform 22"/>
              <p:cNvSpPr>
                <a:spLocks/>
              </p:cNvSpPr>
              <p:nvPr/>
            </p:nvSpPr>
            <p:spPr bwMode="auto">
              <a:xfrm>
                <a:off x="2031" y="3726"/>
                <a:ext cx="16" cy="103"/>
              </a:xfrm>
              <a:custGeom>
                <a:avLst/>
                <a:gdLst>
                  <a:gd name="T0" fmla="*/ 1 w 32"/>
                  <a:gd name="T1" fmla="*/ 0 h 206"/>
                  <a:gd name="T2" fmla="*/ 0 w 32"/>
                  <a:gd name="T3" fmla="*/ 1 h 206"/>
                  <a:gd name="T4" fmla="*/ 0 w 32"/>
                  <a:gd name="T5" fmla="*/ 1 h 206"/>
                  <a:gd name="T6" fmla="*/ 0 w 32"/>
                  <a:gd name="T7" fmla="*/ 1 h 206"/>
                  <a:gd name="T8" fmla="*/ 1 w 32"/>
                  <a:gd name="T9" fmla="*/ 1 h 206"/>
                  <a:gd name="T10" fmla="*/ 1 w 32"/>
                  <a:gd name="T11" fmla="*/ 1 h 206"/>
                  <a:gd name="T12" fmla="*/ 1 w 32"/>
                  <a:gd name="T13" fmla="*/ 1 h 206"/>
                  <a:gd name="T14" fmla="*/ 1 w 32"/>
                  <a:gd name="T15" fmla="*/ 1 h 206"/>
                  <a:gd name="T16" fmla="*/ 1 w 32"/>
                  <a:gd name="T17" fmla="*/ 1 h 206"/>
                  <a:gd name="T18" fmla="*/ 1 w 32"/>
                  <a:gd name="T19" fmla="*/ 1 h 206"/>
                  <a:gd name="T20" fmla="*/ 1 w 32"/>
                  <a:gd name="T21" fmla="*/ 1 h 206"/>
                  <a:gd name="T22" fmla="*/ 1 w 32"/>
                  <a:gd name="T23" fmla="*/ 1 h 206"/>
                  <a:gd name="T24" fmla="*/ 1 w 32"/>
                  <a:gd name="T25" fmla="*/ 1 h 206"/>
                  <a:gd name="T26" fmla="*/ 1 w 32"/>
                  <a:gd name="T27" fmla="*/ 1 h 206"/>
                  <a:gd name="T28" fmla="*/ 1 w 32"/>
                  <a:gd name="T29" fmla="*/ 1 h 206"/>
                  <a:gd name="T30" fmla="*/ 1 w 32"/>
                  <a:gd name="T31" fmla="*/ 1 h 206"/>
                  <a:gd name="T32" fmla="*/ 1 w 32"/>
                  <a:gd name="T33" fmla="*/ 1 h 206"/>
                  <a:gd name="T34" fmla="*/ 1 w 32"/>
                  <a:gd name="T35" fmla="*/ 1 h 206"/>
                  <a:gd name="T36" fmla="*/ 1 w 32"/>
                  <a:gd name="T37" fmla="*/ 1 h 206"/>
                  <a:gd name="T38" fmla="*/ 1 w 32"/>
                  <a:gd name="T39" fmla="*/ 1 h 206"/>
                  <a:gd name="T40" fmla="*/ 1 w 32"/>
                  <a:gd name="T41" fmla="*/ 1 h 206"/>
                  <a:gd name="T42" fmla="*/ 1 w 32"/>
                  <a:gd name="T43" fmla="*/ 1 h 206"/>
                  <a:gd name="T44" fmla="*/ 1 w 32"/>
                  <a:gd name="T45" fmla="*/ 0 h 206"/>
                  <a:gd name="T46" fmla="*/ 1 w 32"/>
                  <a:gd name="T47" fmla="*/ 1 h 206"/>
                  <a:gd name="T48" fmla="*/ 0 w 32"/>
                  <a:gd name="T49" fmla="*/ 1 h 206"/>
                  <a:gd name="T50" fmla="*/ 1 w 32"/>
                  <a:gd name="T51" fmla="*/ 0 h 20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
                  <a:gd name="T79" fmla="*/ 0 h 206"/>
                  <a:gd name="T80" fmla="*/ 32 w 32"/>
                  <a:gd name="T81" fmla="*/ 206 h 20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 h="206">
                    <a:moveTo>
                      <a:pt x="14" y="0"/>
                    </a:moveTo>
                    <a:lnTo>
                      <a:pt x="0" y="11"/>
                    </a:lnTo>
                    <a:lnTo>
                      <a:pt x="0" y="18"/>
                    </a:lnTo>
                    <a:lnTo>
                      <a:pt x="0" y="39"/>
                    </a:lnTo>
                    <a:lnTo>
                      <a:pt x="1" y="69"/>
                    </a:lnTo>
                    <a:lnTo>
                      <a:pt x="1" y="101"/>
                    </a:lnTo>
                    <a:lnTo>
                      <a:pt x="4" y="136"/>
                    </a:lnTo>
                    <a:lnTo>
                      <a:pt x="7" y="166"/>
                    </a:lnTo>
                    <a:lnTo>
                      <a:pt x="11" y="189"/>
                    </a:lnTo>
                    <a:lnTo>
                      <a:pt x="25" y="206"/>
                    </a:lnTo>
                    <a:lnTo>
                      <a:pt x="31" y="184"/>
                    </a:lnTo>
                    <a:lnTo>
                      <a:pt x="32" y="183"/>
                    </a:lnTo>
                    <a:lnTo>
                      <a:pt x="29" y="162"/>
                    </a:lnTo>
                    <a:lnTo>
                      <a:pt x="26" y="133"/>
                    </a:lnTo>
                    <a:lnTo>
                      <a:pt x="23" y="101"/>
                    </a:lnTo>
                    <a:lnTo>
                      <a:pt x="23" y="69"/>
                    </a:lnTo>
                    <a:lnTo>
                      <a:pt x="21" y="39"/>
                    </a:lnTo>
                    <a:lnTo>
                      <a:pt x="21" y="18"/>
                    </a:lnTo>
                    <a:lnTo>
                      <a:pt x="21" y="11"/>
                    </a:lnTo>
                    <a:lnTo>
                      <a:pt x="7" y="22"/>
                    </a:lnTo>
                    <a:lnTo>
                      <a:pt x="21" y="11"/>
                    </a:lnTo>
                    <a:lnTo>
                      <a:pt x="18" y="3"/>
                    </a:lnTo>
                    <a:lnTo>
                      <a:pt x="11" y="0"/>
                    </a:lnTo>
                    <a:lnTo>
                      <a:pt x="3" y="3"/>
                    </a:lnTo>
                    <a:lnTo>
                      <a:pt x="0" y="11"/>
                    </a:lnTo>
                    <a:lnTo>
                      <a:pt x="14" y="0"/>
                    </a:lnTo>
                    <a:close/>
                  </a:path>
                </a:pathLst>
              </a:custGeom>
              <a:solidFill>
                <a:srgbClr val="000000"/>
              </a:solidFill>
              <a:ln w="9525">
                <a:noFill/>
                <a:round/>
                <a:headEnd/>
                <a:tailEnd/>
              </a:ln>
            </p:spPr>
            <p:txBody>
              <a:bodyPr/>
              <a:lstStyle/>
              <a:p>
                <a:endParaRPr lang="en-US"/>
              </a:p>
            </p:txBody>
          </p:sp>
          <p:sp>
            <p:nvSpPr>
              <p:cNvPr id="23610" name="Freeform 23"/>
              <p:cNvSpPr>
                <a:spLocks/>
              </p:cNvSpPr>
              <p:nvPr/>
            </p:nvSpPr>
            <p:spPr bwMode="auto">
              <a:xfrm>
                <a:off x="2035" y="3726"/>
                <a:ext cx="48" cy="22"/>
              </a:xfrm>
              <a:custGeom>
                <a:avLst/>
                <a:gdLst>
                  <a:gd name="T0" fmla="*/ 0 w 97"/>
                  <a:gd name="T1" fmla="*/ 1 h 43"/>
                  <a:gd name="T2" fmla="*/ 0 w 97"/>
                  <a:gd name="T3" fmla="*/ 1 h 43"/>
                  <a:gd name="T4" fmla="*/ 0 w 97"/>
                  <a:gd name="T5" fmla="*/ 0 h 43"/>
                  <a:gd name="T6" fmla="*/ 0 w 97"/>
                  <a:gd name="T7" fmla="*/ 1 h 43"/>
                  <a:gd name="T8" fmla="*/ 0 w 97"/>
                  <a:gd name="T9" fmla="*/ 1 h 43"/>
                  <a:gd name="T10" fmla="*/ 0 w 97"/>
                  <a:gd name="T11" fmla="*/ 1 h 43"/>
                  <a:gd name="T12" fmla="*/ 0 w 97"/>
                  <a:gd name="T13" fmla="*/ 1 h 43"/>
                  <a:gd name="T14" fmla="*/ 0 w 97"/>
                  <a:gd name="T15" fmla="*/ 1 h 43"/>
                  <a:gd name="T16" fmla="*/ 0 w 97"/>
                  <a:gd name="T17" fmla="*/ 1 h 43"/>
                  <a:gd name="T18" fmla="*/ 0 w 97"/>
                  <a:gd name="T19" fmla="*/ 1 h 43"/>
                  <a:gd name="T20" fmla="*/ 0 w 97"/>
                  <a:gd name="T21" fmla="*/ 1 h 43"/>
                  <a:gd name="T22" fmla="*/ 0 w 97"/>
                  <a:gd name="T23" fmla="*/ 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7"/>
                  <a:gd name="T37" fmla="*/ 0 h 43"/>
                  <a:gd name="T38" fmla="*/ 97 w 97"/>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7" h="43">
                    <a:moveTo>
                      <a:pt x="97" y="36"/>
                    </a:moveTo>
                    <a:lnTo>
                      <a:pt x="90" y="22"/>
                    </a:lnTo>
                    <a:lnTo>
                      <a:pt x="7" y="0"/>
                    </a:lnTo>
                    <a:lnTo>
                      <a:pt x="0" y="22"/>
                    </a:lnTo>
                    <a:lnTo>
                      <a:pt x="83" y="43"/>
                    </a:lnTo>
                    <a:lnTo>
                      <a:pt x="76" y="29"/>
                    </a:lnTo>
                    <a:lnTo>
                      <a:pt x="83" y="43"/>
                    </a:lnTo>
                    <a:lnTo>
                      <a:pt x="93" y="42"/>
                    </a:lnTo>
                    <a:lnTo>
                      <a:pt x="97" y="34"/>
                    </a:lnTo>
                    <a:lnTo>
                      <a:pt x="96" y="26"/>
                    </a:lnTo>
                    <a:lnTo>
                      <a:pt x="90" y="22"/>
                    </a:lnTo>
                    <a:lnTo>
                      <a:pt x="97" y="36"/>
                    </a:lnTo>
                    <a:close/>
                  </a:path>
                </a:pathLst>
              </a:custGeom>
              <a:solidFill>
                <a:srgbClr val="000000"/>
              </a:solidFill>
              <a:ln w="9525">
                <a:noFill/>
                <a:round/>
                <a:headEnd/>
                <a:tailEnd/>
              </a:ln>
            </p:spPr>
            <p:txBody>
              <a:bodyPr/>
              <a:lstStyle/>
              <a:p>
                <a:endParaRPr lang="en-US"/>
              </a:p>
            </p:txBody>
          </p:sp>
          <p:sp>
            <p:nvSpPr>
              <p:cNvPr id="23611" name="Freeform 24"/>
              <p:cNvSpPr>
                <a:spLocks/>
              </p:cNvSpPr>
              <p:nvPr/>
            </p:nvSpPr>
            <p:spPr bwMode="auto">
              <a:xfrm>
                <a:off x="2099" y="3720"/>
                <a:ext cx="156" cy="50"/>
              </a:xfrm>
              <a:custGeom>
                <a:avLst/>
                <a:gdLst>
                  <a:gd name="T0" fmla="*/ 0 w 311"/>
                  <a:gd name="T1" fmla="*/ 1 h 98"/>
                  <a:gd name="T2" fmla="*/ 0 w 311"/>
                  <a:gd name="T3" fmla="*/ 1 h 98"/>
                  <a:gd name="T4" fmla="*/ 1 w 311"/>
                  <a:gd name="T5" fmla="*/ 1 h 98"/>
                  <a:gd name="T6" fmla="*/ 1 w 311"/>
                  <a:gd name="T7" fmla="*/ 1 h 98"/>
                  <a:gd name="T8" fmla="*/ 1 w 311"/>
                  <a:gd name="T9" fmla="*/ 1 h 98"/>
                  <a:gd name="T10" fmla="*/ 1 w 311"/>
                  <a:gd name="T11" fmla="*/ 1 h 98"/>
                  <a:gd name="T12" fmla="*/ 1 w 311"/>
                  <a:gd name="T13" fmla="*/ 1 h 98"/>
                  <a:gd name="T14" fmla="*/ 1 w 311"/>
                  <a:gd name="T15" fmla="*/ 1 h 98"/>
                  <a:gd name="T16" fmla="*/ 1 w 311"/>
                  <a:gd name="T17" fmla="*/ 1 h 98"/>
                  <a:gd name="T18" fmla="*/ 1 w 311"/>
                  <a:gd name="T19" fmla="*/ 1 h 98"/>
                  <a:gd name="T20" fmla="*/ 1 w 311"/>
                  <a:gd name="T21" fmla="*/ 1 h 98"/>
                  <a:gd name="T22" fmla="*/ 1 w 311"/>
                  <a:gd name="T23" fmla="*/ 1 h 98"/>
                  <a:gd name="T24" fmla="*/ 1 w 311"/>
                  <a:gd name="T25" fmla="*/ 1 h 98"/>
                  <a:gd name="T26" fmla="*/ 1 w 311"/>
                  <a:gd name="T27" fmla="*/ 1 h 98"/>
                  <a:gd name="T28" fmla="*/ 1 w 311"/>
                  <a:gd name="T29" fmla="*/ 1 h 98"/>
                  <a:gd name="T30" fmla="*/ 1 w 311"/>
                  <a:gd name="T31" fmla="*/ 1 h 98"/>
                  <a:gd name="T32" fmla="*/ 1 w 311"/>
                  <a:gd name="T33" fmla="*/ 1 h 98"/>
                  <a:gd name="T34" fmla="*/ 1 w 311"/>
                  <a:gd name="T35" fmla="*/ 1 h 98"/>
                  <a:gd name="T36" fmla="*/ 1 w 311"/>
                  <a:gd name="T37" fmla="*/ 1 h 98"/>
                  <a:gd name="T38" fmla="*/ 1 w 311"/>
                  <a:gd name="T39" fmla="*/ 1 h 98"/>
                  <a:gd name="T40" fmla="*/ 1 w 311"/>
                  <a:gd name="T41" fmla="*/ 1 h 98"/>
                  <a:gd name="T42" fmla="*/ 1 w 311"/>
                  <a:gd name="T43" fmla="*/ 0 h 98"/>
                  <a:gd name="T44" fmla="*/ 0 w 311"/>
                  <a:gd name="T45" fmla="*/ 1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1"/>
                  <a:gd name="T70" fmla="*/ 0 h 98"/>
                  <a:gd name="T71" fmla="*/ 311 w 311"/>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1" h="98">
                    <a:moveTo>
                      <a:pt x="0" y="53"/>
                    </a:moveTo>
                    <a:lnTo>
                      <a:pt x="0" y="65"/>
                    </a:lnTo>
                    <a:lnTo>
                      <a:pt x="3" y="67"/>
                    </a:lnTo>
                    <a:lnTo>
                      <a:pt x="9" y="70"/>
                    </a:lnTo>
                    <a:lnTo>
                      <a:pt x="22" y="76"/>
                    </a:lnTo>
                    <a:lnTo>
                      <a:pt x="39" y="83"/>
                    </a:lnTo>
                    <a:lnTo>
                      <a:pt x="61" y="89"/>
                    </a:lnTo>
                    <a:lnTo>
                      <a:pt x="87" y="94"/>
                    </a:lnTo>
                    <a:lnTo>
                      <a:pt x="119" y="97"/>
                    </a:lnTo>
                    <a:lnTo>
                      <a:pt x="153" y="98"/>
                    </a:lnTo>
                    <a:lnTo>
                      <a:pt x="188" y="95"/>
                    </a:lnTo>
                    <a:lnTo>
                      <a:pt x="219" y="89"/>
                    </a:lnTo>
                    <a:lnTo>
                      <a:pt x="246" y="80"/>
                    </a:lnTo>
                    <a:lnTo>
                      <a:pt x="268" y="67"/>
                    </a:lnTo>
                    <a:lnTo>
                      <a:pt x="285" y="54"/>
                    </a:lnTo>
                    <a:lnTo>
                      <a:pt x="297" y="42"/>
                    </a:lnTo>
                    <a:lnTo>
                      <a:pt x="305" y="33"/>
                    </a:lnTo>
                    <a:lnTo>
                      <a:pt x="310" y="25"/>
                    </a:lnTo>
                    <a:lnTo>
                      <a:pt x="311" y="15"/>
                    </a:lnTo>
                    <a:lnTo>
                      <a:pt x="308" y="8"/>
                    </a:lnTo>
                    <a:lnTo>
                      <a:pt x="304" y="1"/>
                    </a:lnTo>
                    <a:lnTo>
                      <a:pt x="300" y="0"/>
                    </a:lnTo>
                    <a:lnTo>
                      <a:pt x="0" y="53"/>
                    </a:lnTo>
                    <a:close/>
                  </a:path>
                </a:pathLst>
              </a:custGeom>
              <a:solidFill>
                <a:srgbClr val="FF7226"/>
              </a:solidFill>
              <a:ln w="9525">
                <a:noFill/>
                <a:round/>
                <a:headEnd/>
                <a:tailEnd/>
              </a:ln>
            </p:spPr>
            <p:txBody>
              <a:bodyPr/>
              <a:lstStyle/>
              <a:p>
                <a:endParaRPr lang="en-US"/>
              </a:p>
            </p:txBody>
          </p:sp>
          <p:sp>
            <p:nvSpPr>
              <p:cNvPr id="23612" name="Freeform 25"/>
              <p:cNvSpPr>
                <a:spLocks/>
              </p:cNvSpPr>
              <p:nvPr/>
            </p:nvSpPr>
            <p:spPr bwMode="auto">
              <a:xfrm>
                <a:off x="2093" y="3747"/>
                <a:ext cx="11" cy="12"/>
              </a:xfrm>
              <a:custGeom>
                <a:avLst/>
                <a:gdLst>
                  <a:gd name="T0" fmla="*/ 1 w 22"/>
                  <a:gd name="T1" fmla="*/ 1 h 23"/>
                  <a:gd name="T2" fmla="*/ 1 w 22"/>
                  <a:gd name="T3" fmla="*/ 1 h 23"/>
                  <a:gd name="T4" fmla="*/ 1 w 22"/>
                  <a:gd name="T5" fmla="*/ 0 h 23"/>
                  <a:gd name="T6" fmla="*/ 0 w 22"/>
                  <a:gd name="T7" fmla="*/ 0 h 23"/>
                  <a:gd name="T8" fmla="*/ 0 w 22"/>
                  <a:gd name="T9" fmla="*/ 1 h 23"/>
                  <a:gd name="T10" fmla="*/ 1 w 22"/>
                  <a:gd name="T11" fmla="*/ 1 h 23"/>
                  <a:gd name="T12" fmla="*/ 0 w 22"/>
                  <a:gd name="T13" fmla="*/ 1 h 23"/>
                  <a:gd name="T14" fmla="*/ 1 w 22"/>
                  <a:gd name="T15" fmla="*/ 1 h 23"/>
                  <a:gd name="T16" fmla="*/ 1 w 22"/>
                  <a:gd name="T17" fmla="*/ 1 h 23"/>
                  <a:gd name="T18" fmla="*/ 1 w 22"/>
                  <a:gd name="T19" fmla="*/ 1 h 23"/>
                  <a:gd name="T20" fmla="*/ 1 w 22"/>
                  <a:gd name="T21" fmla="*/ 1 h 23"/>
                  <a:gd name="T22" fmla="*/ 1 w 22"/>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3"/>
                  <a:gd name="T38" fmla="*/ 22 w 22"/>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3">
                    <a:moveTo>
                      <a:pt x="17" y="3"/>
                    </a:moveTo>
                    <a:lnTo>
                      <a:pt x="22" y="12"/>
                    </a:lnTo>
                    <a:lnTo>
                      <a:pt x="22" y="0"/>
                    </a:lnTo>
                    <a:lnTo>
                      <a:pt x="0" y="0"/>
                    </a:lnTo>
                    <a:lnTo>
                      <a:pt x="0" y="12"/>
                    </a:lnTo>
                    <a:lnTo>
                      <a:pt x="5" y="22"/>
                    </a:lnTo>
                    <a:lnTo>
                      <a:pt x="0" y="12"/>
                    </a:lnTo>
                    <a:lnTo>
                      <a:pt x="3" y="20"/>
                    </a:lnTo>
                    <a:lnTo>
                      <a:pt x="11" y="23"/>
                    </a:lnTo>
                    <a:lnTo>
                      <a:pt x="19" y="20"/>
                    </a:lnTo>
                    <a:lnTo>
                      <a:pt x="22" y="12"/>
                    </a:lnTo>
                    <a:lnTo>
                      <a:pt x="17" y="3"/>
                    </a:lnTo>
                    <a:close/>
                  </a:path>
                </a:pathLst>
              </a:custGeom>
              <a:solidFill>
                <a:srgbClr val="000000"/>
              </a:solidFill>
              <a:ln w="9525">
                <a:noFill/>
                <a:round/>
                <a:headEnd/>
                <a:tailEnd/>
              </a:ln>
            </p:spPr>
            <p:txBody>
              <a:bodyPr/>
              <a:lstStyle/>
              <a:p>
                <a:endParaRPr lang="en-US"/>
              </a:p>
            </p:txBody>
          </p:sp>
          <p:sp>
            <p:nvSpPr>
              <p:cNvPr id="23613" name="Freeform 26"/>
              <p:cNvSpPr>
                <a:spLocks/>
              </p:cNvSpPr>
              <p:nvPr/>
            </p:nvSpPr>
            <p:spPr bwMode="auto">
              <a:xfrm>
                <a:off x="2096" y="3749"/>
                <a:ext cx="80" cy="26"/>
              </a:xfrm>
              <a:custGeom>
                <a:avLst/>
                <a:gdLst>
                  <a:gd name="T0" fmla="*/ 1 w 159"/>
                  <a:gd name="T1" fmla="*/ 0 h 53"/>
                  <a:gd name="T2" fmla="*/ 1 w 159"/>
                  <a:gd name="T3" fmla="*/ 0 h 53"/>
                  <a:gd name="T4" fmla="*/ 1 w 159"/>
                  <a:gd name="T5" fmla="*/ 0 h 53"/>
                  <a:gd name="T6" fmla="*/ 1 w 159"/>
                  <a:gd name="T7" fmla="*/ 0 h 53"/>
                  <a:gd name="T8" fmla="*/ 1 w 159"/>
                  <a:gd name="T9" fmla="*/ 0 h 53"/>
                  <a:gd name="T10" fmla="*/ 1 w 159"/>
                  <a:gd name="T11" fmla="*/ 0 h 53"/>
                  <a:gd name="T12" fmla="*/ 1 w 159"/>
                  <a:gd name="T13" fmla="*/ 0 h 53"/>
                  <a:gd name="T14" fmla="*/ 1 w 159"/>
                  <a:gd name="T15" fmla="*/ 0 h 53"/>
                  <a:gd name="T16" fmla="*/ 1 w 159"/>
                  <a:gd name="T17" fmla="*/ 0 h 53"/>
                  <a:gd name="T18" fmla="*/ 1 w 159"/>
                  <a:gd name="T19" fmla="*/ 0 h 53"/>
                  <a:gd name="T20" fmla="*/ 0 w 159"/>
                  <a:gd name="T21" fmla="*/ 0 h 53"/>
                  <a:gd name="T22" fmla="*/ 1 w 159"/>
                  <a:gd name="T23" fmla="*/ 0 h 53"/>
                  <a:gd name="T24" fmla="*/ 1 w 159"/>
                  <a:gd name="T25" fmla="*/ 0 h 53"/>
                  <a:gd name="T26" fmla="*/ 1 w 159"/>
                  <a:gd name="T27" fmla="*/ 0 h 53"/>
                  <a:gd name="T28" fmla="*/ 1 w 159"/>
                  <a:gd name="T29" fmla="*/ 0 h 53"/>
                  <a:gd name="T30" fmla="*/ 1 w 159"/>
                  <a:gd name="T31" fmla="*/ 0 h 53"/>
                  <a:gd name="T32" fmla="*/ 1 w 159"/>
                  <a:gd name="T33" fmla="*/ 0 h 53"/>
                  <a:gd name="T34" fmla="*/ 1 w 159"/>
                  <a:gd name="T35" fmla="*/ 0 h 53"/>
                  <a:gd name="T36" fmla="*/ 1 w 159"/>
                  <a:gd name="T37" fmla="*/ 0 h 53"/>
                  <a:gd name="T38" fmla="*/ 1 w 159"/>
                  <a:gd name="T39" fmla="*/ 0 h 53"/>
                  <a:gd name="T40" fmla="*/ 1 w 159"/>
                  <a:gd name="T41" fmla="*/ 0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
                  <a:gd name="T64" fmla="*/ 0 h 53"/>
                  <a:gd name="T65" fmla="*/ 159 w 159"/>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 h="53">
                    <a:moveTo>
                      <a:pt x="159" y="31"/>
                    </a:moveTo>
                    <a:lnTo>
                      <a:pt x="159" y="31"/>
                    </a:lnTo>
                    <a:lnTo>
                      <a:pt x="125" y="30"/>
                    </a:lnTo>
                    <a:lnTo>
                      <a:pt x="95" y="27"/>
                    </a:lnTo>
                    <a:lnTo>
                      <a:pt x="70" y="22"/>
                    </a:lnTo>
                    <a:lnTo>
                      <a:pt x="48" y="16"/>
                    </a:lnTo>
                    <a:lnTo>
                      <a:pt x="32" y="11"/>
                    </a:lnTo>
                    <a:lnTo>
                      <a:pt x="20" y="5"/>
                    </a:lnTo>
                    <a:lnTo>
                      <a:pt x="14" y="2"/>
                    </a:lnTo>
                    <a:lnTo>
                      <a:pt x="12" y="0"/>
                    </a:lnTo>
                    <a:lnTo>
                      <a:pt x="0" y="19"/>
                    </a:lnTo>
                    <a:lnTo>
                      <a:pt x="4" y="20"/>
                    </a:lnTo>
                    <a:lnTo>
                      <a:pt x="10" y="24"/>
                    </a:lnTo>
                    <a:lnTo>
                      <a:pt x="23" y="30"/>
                    </a:lnTo>
                    <a:lnTo>
                      <a:pt x="42" y="38"/>
                    </a:lnTo>
                    <a:lnTo>
                      <a:pt x="64" y="44"/>
                    </a:lnTo>
                    <a:lnTo>
                      <a:pt x="92" y="49"/>
                    </a:lnTo>
                    <a:lnTo>
                      <a:pt x="125" y="52"/>
                    </a:lnTo>
                    <a:lnTo>
                      <a:pt x="159" y="53"/>
                    </a:lnTo>
                    <a:lnTo>
                      <a:pt x="159" y="31"/>
                    </a:lnTo>
                    <a:close/>
                  </a:path>
                </a:pathLst>
              </a:custGeom>
              <a:solidFill>
                <a:srgbClr val="000000"/>
              </a:solidFill>
              <a:ln w="9525">
                <a:noFill/>
                <a:round/>
                <a:headEnd/>
                <a:tailEnd/>
              </a:ln>
            </p:spPr>
            <p:txBody>
              <a:bodyPr/>
              <a:lstStyle/>
              <a:p>
                <a:endParaRPr lang="en-US"/>
              </a:p>
            </p:txBody>
          </p:sp>
          <p:sp>
            <p:nvSpPr>
              <p:cNvPr id="23614" name="Freeform 27"/>
              <p:cNvSpPr>
                <a:spLocks/>
              </p:cNvSpPr>
              <p:nvPr/>
            </p:nvSpPr>
            <p:spPr bwMode="auto">
              <a:xfrm>
                <a:off x="2176" y="3731"/>
                <a:ext cx="83" cy="44"/>
              </a:xfrm>
              <a:custGeom>
                <a:avLst/>
                <a:gdLst>
                  <a:gd name="T0" fmla="*/ 0 w 168"/>
                  <a:gd name="T1" fmla="*/ 0 h 89"/>
                  <a:gd name="T2" fmla="*/ 0 w 168"/>
                  <a:gd name="T3" fmla="*/ 0 h 89"/>
                  <a:gd name="T4" fmla="*/ 0 w 168"/>
                  <a:gd name="T5" fmla="*/ 0 h 89"/>
                  <a:gd name="T6" fmla="*/ 0 w 168"/>
                  <a:gd name="T7" fmla="*/ 0 h 89"/>
                  <a:gd name="T8" fmla="*/ 0 w 168"/>
                  <a:gd name="T9" fmla="*/ 0 h 89"/>
                  <a:gd name="T10" fmla="*/ 0 w 168"/>
                  <a:gd name="T11" fmla="*/ 0 h 89"/>
                  <a:gd name="T12" fmla="*/ 0 w 168"/>
                  <a:gd name="T13" fmla="*/ 0 h 89"/>
                  <a:gd name="T14" fmla="*/ 0 w 168"/>
                  <a:gd name="T15" fmla="*/ 0 h 89"/>
                  <a:gd name="T16" fmla="*/ 0 w 168"/>
                  <a:gd name="T17" fmla="*/ 0 h 89"/>
                  <a:gd name="T18" fmla="*/ 0 w 168"/>
                  <a:gd name="T19" fmla="*/ 0 h 89"/>
                  <a:gd name="T20" fmla="*/ 0 w 168"/>
                  <a:gd name="T21" fmla="*/ 0 h 89"/>
                  <a:gd name="T22" fmla="*/ 0 w 168"/>
                  <a:gd name="T23" fmla="*/ 0 h 89"/>
                  <a:gd name="T24" fmla="*/ 0 w 168"/>
                  <a:gd name="T25" fmla="*/ 0 h 89"/>
                  <a:gd name="T26" fmla="*/ 0 w 168"/>
                  <a:gd name="T27" fmla="*/ 0 h 89"/>
                  <a:gd name="T28" fmla="*/ 0 w 168"/>
                  <a:gd name="T29" fmla="*/ 0 h 89"/>
                  <a:gd name="T30" fmla="*/ 0 w 168"/>
                  <a:gd name="T31" fmla="*/ 0 h 89"/>
                  <a:gd name="T32" fmla="*/ 0 w 168"/>
                  <a:gd name="T33" fmla="*/ 0 h 89"/>
                  <a:gd name="T34" fmla="*/ 0 w 168"/>
                  <a:gd name="T35" fmla="*/ 0 h 89"/>
                  <a:gd name="T36" fmla="*/ 0 w 168"/>
                  <a:gd name="T37" fmla="*/ 0 h 89"/>
                  <a:gd name="T38" fmla="*/ 0 w 168"/>
                  <a:gd name="T39" fmla="*/ 0 h 89"/>
                  <a:gd name="T40" fmla="*/ 0 w 168"/>
                  <a:gd name="T41" fmla="*/ 0 h 8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8"/>
                  <a:gd name="T64" fmla="*/ 0 h 89"/>
                  <a:gd name="T65" fmla="*/ 168 w 168"/>
                  <a:gd name="T66" fmla="*/ 89 h 8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8" h="89">
                    <a:moveTo>
                      <a:pt x="147" y="0"/>
                    </a:moveTo>
                    <a:lnTo>
                      <a:pt x="146" y="2"/>
                    </a:lnTo>
                    <a:lnTo>
                      <a:pt x="143" y="6"/>
                    </a:lnTo>
                    <a:lnTo>
                      <a:pt x="136" y="14"/>
                    </a:lnTo>
                    <a:lnTo>
                      <a:pt x="124" y="27"/>
                    </a:lnTo>
                    <a:lnTo>
                      <a:pt x="108" y="38"/>
                    </a:lnTo>
                    <a:lnTo>
                      <a:pt x="88" y="50"/>
                    </a:lnTo>
                    <a:lnTo>
                      <a:pt x="63" y="58"/>
                    </a:lnTo>
                    <a:lnTo>
                      <a:pt x="33" y="64"/>
                    </a:lnTo>
                    <a:lnTo>
                      <a:pt x="0" y="67"/>
                    </a:lnTo>
                    <a:lnTo>
                      <a:pt x="0" y="89"/>
                    </a:lnTo>
                    <a:lnTo>
                      <a:pt x="36" y="86"/>
                    </a:lnTo>
                    <a:lnTo>
                      <a:pt x="69" y="80"/>
                    </a:lnTo>
                    <a:lnTo>
                      <a:pt x="97" y="69"/>
                    </a:lnTo>
                    <a:lnTo>
                      <a:pt x="121" y="56"/>
                    </a:lnTo>
                    <a:lnTo>
                      <a:pt x="140" y="42"/>
                    </a:lnTo>
                    <a:lnTo>
                      <a:pt x="152" y="30"/>
                    </a:lnTo>
                    <a:lnTo>
                      <a:pt x="161" y="19"/>
                    </a:lnTo>
                    <a:lnTo>
                      <a:pt x="168" y="8"/>
                    </a:lnTo>
                    <a:lnTo>
                      <a:pt x="166" y="9"/>
                    </a:lnTo>
                    <a:lnTo>
                      <a:pt x="147" y="0"/>
                    </a:lnTo>
                    <a:close/>
                  </a:path>
                </a:pathLst>
              </a:custGeom>
              <a:solidFill>
                <a:srgbClr val="000000"/>
              </a:solidFill>
              <a:ln w="9525">
                <a:noFill/>
                <a:round/>
                <a:headEnd/>
                <a:tailEnd/>
              </a:ln>
            </p:spPr>
            <p:txBody>
              <a:bodyPr/>
              <a:lstStyle/>
              <a:p>
                <a:endParaRPr lang="en-US"/>
              </a:p>
            </p:txBody>
          </p:sp>
          <p:sp>
            <p:nvSpPr>
              <p:cNvPr id="23615" name="Freeform 28"/>
              <p:cNvSpPr>
                <a:spLocks/>
              </p:cNvSpPr>
              <p:nvPr/>
            </p:nvSpPr>
            <p:spPr bwMode="auto">
              <a:xfrm>
                <a:off x="2244" y="3715"/>
                <a:ext cx="16" cy="20"/>
              </a:xfrm>
              <a:custGeom>
                <a:avLst/>
                <a:gdLst>
                  <a:gd name="T0" fmla="*/ 0 w 33"/>
                  <a:gd name="T1" fmla="*/ 1 h 40"/>
                  <a:gd name="T2" fmla="*/ 0 w 33"/>
                  <a:gd name="T3" fmla="*/ 1 h 40"/>
                  <a:gd name="T4" fmla="*/ 0 w 33"/>
                  <a:gd name="T5" fmla="*/ 1 h 40"/>
                  <a:gd name="T6" fmla="*/ 0 w 33"/>
                  <a:gd name="T7" fmla="*/ 1 h 40"/>
                  <a:gd name="T8" fmla="*/ 0 w 33"/>
                  <a:gd name="T9" fmla="*/ 1 h 40"/>
                  <a:gd name="T10" fmla="*/ 0 w 33"/>
                  <a:gd name="T11" fmla="*/ 1 h 40"/>
                  <a:gd name="T12" fmla="*/ 0 w 33"/>
                  <a:gd name="T13" fmla="*/ 1 h 40"/>
                  <a:gd name="T14" fmla="*/ 0 w 33"/>
                  <a:gd name="T15" fmla="*/ 1 h 40"/>
                  <a:gd name="T16" fmla="*/ 0 w 33"/>
                  <a:gd name="T17" fmla="*/ 1 h 40"/>
                  <a:gd name="T18" fmla="*/ 0 w 33"/>
                  <a:gd name="T19" fmla="*/ 1 h 40"/>
                  <a:gd name="T20" fmla="*/ 0 w 33"/>
                  <a:gd name="T21" fmla="*/ 1 h 40"/>
                  <a:gd name="T22" fmla="*/ 0 w 33"/>
                  <a:gd name="T23" fmla="*/ 0 h 40"/>
                  <a:gd name="T24" fmla="*/ 0 w 33"/>
                  <a:gd name="T25" fmla="*/ 1 h 40"/>
                  <a:gd name="T26" fmla="*/ 0 w 33"/>
                  <a:gd name="T27" fmla="*/ 0 h 40"/>
                  <a:gd name="T28" fmla="*/ 0 w 33"/>
                  <a:gd name="T29" fmla="*/ 1 h 40"/>
                  <a:gd name="T30" fmla="*/ 0 w 33"/>
                  <a:gd name="T31" fmla="*/ 1 h 40"/>
                  <a:gd name="T32" fmla="*/ 0 w 33"/>
                  <a:gd name="T33" fmla="*/ 1 h 40"/>
                  <a:gd name="T34" fmla="*/ 0 w 33"/>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
                  <a:gd name="T55" fmla="*/ 0 h 40"/>
                  <a:gd name="T56" fmla="*/ 33 w 33"/>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 h="40">
                    <a:moveTo>
                      <a:pt x="13" y="22"/>
                    </a:moveTo>
                    <a:lnTo>
                      <a:pt x="5" y="20"/>
                    </a:lnTo>
                    <a:lnTo>
                      <a:pt x="7" y="20"/>
                    </a:lnTo>
                    <a:lnTo>
                      <a:pt x="10" y="23"/>
                    </a:lnTo>
                    <a:lnTo>
                      <a:pt x="11" y="28"/>
                    </a:lnTo>
                    <a:lnTo>
                      <a:pt x="11" y="31"/>
                    </a:lnTo>
                    <a:lnTo>
                      <a:pt x="30" y="40"/>
                    </a:lnTo>
                    <a:lnTo>
                      <a:pt x="33" y="25"/>
                    </a:lnTo>
                    <a:lnTo>
                      <a:pt x="29" y="14"/>
                    </a:lnTo>
                    <a:lnTo>
                      <a:pt x="22" y="4"/>
                    </a:lnTo>
                    <a:lnTo>
                      <a:pt x="18" y="1"/>
                    </a:lnTo>
                    <a:lnTo>
                      <a:pt x="10" y="0"/>
                    </a:lnTo>
                    <a:lnTo>
                      <a:pt x="18" y="1"/>
                    </a:lnTo>
                    <a:lnTo>
                      <a:pt x="8" y="0"/>
                    </a:lnTo>
                    <a:lnTo>
                      <a:pt x="2" y="4"/>
                    </a:lnTo>
                    <a:lnTo>
                      <a:pt x="0" y="12"/>
                    </a:lnTo>
                    <a:lnTo>
                      <a:pt x="5" y="20"/>
                    </a:lnTo>
                    <a:lnTo>
                      <a:pt x="13" y="22"/>
                    </a:lnTo>
                    <a:close/>
                  </a:path>
                </a:pathLst>
              </a:custGeom>
              <a:solidFill>
                <a:srgbClr val="000000"/>
              </a:solidFill>
              <a:ln w="9525">
                <a:noFill/>
                <a:round/>
                <a:headEnd/>
                <a:tailEnd/>
              </a:ln>
            </p:spPr>
            <p:txBody>
              <a:bodyPr/>
              <a:lstStyle/>
              <a:p>
                <a:endParaRPr lang="en-US"/>
              </a:p>
            </p:txBody>
          </p:sp>
          <p:sp>
            <p:nvSpPr>
              <p:cNvPr id="23616" name="Freeform 29"/>
              <p:cNvSpPr>
                <a:spLocks/>
              </p:cNvSpPr>
              <p:nvPr/>
            </p:nvSpPr>
            <p:spPr bwMode="auto">
              <a:xfrm>
                <a:off x="2093" y="3715"/>
                <a:ext cx="157" cy="37"/>
              </a:xfrm>
              <a:custGeom>
                <a:avLst/>
                <a:gdLst>
                  <a:gd name="T0" fmla="*/ 1 w 313"/>
                  <a:gd name="T1" fmla="*/ 0 h 75"/>
                  <a:gd name="T2" fmla="*/ 1 w 313"/>
                  <a:gd name="T3" fmla="*/ 0 h 75"/>
                  <a:gd name="T4" fmla="*/ 1 w 313"/>
                  <a:gd name="T5" fmla="*/ 0 h 75"/>
                  <a:gd name="T6" fmla="*/ 1 w 313"/>
                  <a:gd name="T7" fmla="*/ 0 h 75"/>
                  <a:gd name="T8" fmla="*/ 1 w 313"/>
                  <a:gd name="T9" fmla="*/ 0 h 75"/>
                  <a:gd name="T10" fmla="*/ 0 w 313"/>
                  <a:gd name="T11" fmla="*/ 0 h 75"/>
                  <a:gd name="T12" fmla="*/ 1 w 313"/>
                  <a:gd name="T13" fmla="*/ 0 h 75"/>
                  <a:gd name="T14" fmla="*/ 1 w 313"/>
                  <a:gd name="T15" fmla="*/ 0 h 75"/>
                  <a:gd name="T16" fmla="*/ 0 w 313"/>
                  <a:gd name="T17" fmla="*/ 0 h 75"/>
                  <a:gd name="T18" fmla="*/ 1 w 313"/>
                  <a:gd name="T19" fmla="*/ 0 h 75"/>
                  <a:gd name="T20" fmla="*/ 1 w 313"/>
                  <a:gd name="T21" fmla="*/ 0 h 75"/>
                  <a:gd name="T22" fmla="*/ 1 w 313"/>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3"/>
                  <a:gd name="T37" fmla="*/ 0 h 75"/>
                  <a:gd name="T38" fmla="*/ 313 w 313"/>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3" h="75">
                    <a:moveTo>
                      <a:pt x="22" y="64"/>
                    </a:moveTo>
                    <a:lnTo>
                      <a:pt x="12" y="75"/>
                    </a:lnTo>
                    <a:lnTo>
                      <a:pt x="313" y="22"/>
                    </a:lnTo>
                    <a:lnTo>
                      <a:pt x="310" y="0"/>
                    </a:lnTo>
                    <a:lnTo>
                      <a:pt x="9" y="53"/>
                    </a:lnTo>
                    <a:lnTo>
                      <a:pt x="0" y="64"/>
                    </a:lnTo>
                    <a:lnTo>
                      <a:pt x="9" y="53"/>
                    </a:lnTo>
                    <a:lnTo>
                      <a:pt x="1" y="58"/>
                    </a:lnTo>
                    <a:lnTo>
                      <a:pt x="0" y="65"/>
                    </a:lnTo>
                    <a:lnTo>
                      <a:pt x="5" y="72"/>
                    </a:lnTo>
                    <a:lnTo>
                      <a:pt x="12" y="75"/>
                    </a:lnTo>
                    <a:lnTo>
                      <a:pt x="22" y="64"/>
                    </a:lnTo>
                    <a:close/>
                  </a:path>
                </a:pathLst>
              </a:custGeom>
              <a:solidFill>
                <a:srgbClr val="000000"/>
              </a:solidFill>
              <a:ln w="9525">
                <a:noFill/>
                <a:round/>
                <a:headEnd/>
                <a:tailEnd/>
              </a:ln>
            </p:spPr>
            <p:txBody>
              <a:bodyPr/>
              <a:lstStyle/>
              <a:p>
                <a:endParaRPr lang="en-US"/>
              </a:p>
            </p:txBody>
          </p:sp>
          <p:sp>
            <p:nvSpPr>
              <p:cNvPr id="23617" name="Freeform 30"/>
              <p:cNvSpPr>
                <a:spLocks/>
              </p:cNvSpPr>
              <p:nvPr/>
            </p:nvSpPr>
            <p:spPr bwMode="auto">
              <a:xfrm>
                <a:off x="1840" y="3694"/>
                <a:ext cx="123" cy="254"/>
              </a:xfrm>
              <a:custGeom>
                <a:avLst/>
                <a:gdLst>
                  <a:gd name="T0" fmla="*/ 1 w 245"/>
                  <a:gd name="T1" fmla="*/ 0 h 508"/>
                  <a:gd name="T2" fmla="*/ 1 w 245"/>
                  <a:gd name="T3" fmla="*/ 1 h 508"/>
                  <a:gd name="T4" fmla="*/ 0 w 245"/>
                  <a:gd name="T5" fmla="*/ 1 h 508"/>
                  <a:gd name="T6" fmla="*/ 0 w 245"/>
                  <a:gd name="T7" fmla="*/ 1 h 508"/>
                  <a:gd name="T8" fmla="*/ 1 w 245"/>
                  <a:gd name="T9" fmla="*/ 0 h 508"/>
                  <a:gd name="T10" fmla="*/ 0 60000 65536"/>
                  <a:gd name="T11" fmla="*/ 0 60000 65536"/>
                  <a:gd name="T12" fmla="*/ 0 60000 65536"/>
                  <a:gd name="T13" fmla="*/ 0 60000 65536"/>
                  <a:gd name="T14" fmla="*/ 0 60000 65536"/>
                  <a:gd name="T15" fmla="*/ 0 w 245"/>
                  <a:gd name="T16" fmla="*/ 0 h 508"/>
                  <a:gd name="T17" fmla="*/ 245 w 245"/>
                  <a:gd name="T18" fmla="*/ 508 h 508"/>
                </a:gdLst>
                <a:ahLst/>
                <a:cxnLst>
                  <a:cxn ang="T10">
                    <a:pos x="T0" y="T1"/>
                  </a:cxn>
                  <a:cxn ang="T11">
                    <a:pos x="T2" y="T3"/>
                  </a:cxn>
                  <a:cxn ang="T12">
                    <a:pos x="T4" y="T5"/>
                  </a:cxn>
                  <a:cxn ang="T13">
                    <a:pos x="T6" y="T7"/>
                  </a:cxn>
                  <a:cxn ang="T14">
                    <a:pos x="T8" y="T9"/>
                  </a:cxn>
                </a:cxnLst>
                <a:rect l="T15" t="T16" r="T17" b="T18"/>
                <a:pathLst>
                  <a:path w="245" h="508">
                    <a:moveTo>
                      <a:pt x="245" y="0"/>
                    </a:moveTo>
                    <a:lnTo>
                      <a:pt x="245" y="366"/>
                    </a:lnTo>
                    <a:lnTo>
                      <a:pt x="0" y="508"/>
                    </a:lnTo>
                    <a:lnTo>
                      <a:pt x="0" y="143"/>
                    </a:lnTo>
                    <a:lnTo>
                      <a:pt x="245" y="0"/>
                    </a:lnTo>
                    <a:close/>
                  </a:path>
                </a:pathLst>
              </a:custGeom>
              <a:solidFill>
                <a:srgbClr val="4CFF00"/>
              </a:solidFill>
              <a:ln w="9525">
                <a:noFill/>
                <a:round/>
                <a:headEnd/>
                <a:tailEnd/>
              </a:ln>
            </p:spPr>
            <p:txBody>
              <a:bodyPr/>
              <a:lstStyle/>
              <a:p>
                <a:endParaRPr lang="en-US"/>
              </a:p>
            </p:txBody>
          </p:sp>
          <p:sp>
            <p:nvSpPr>
              <p:cNvPr id="23618" name="Freeform 31"/>
              <p:cNvSpPr>
                <a:spLocks/>
              </p:cNvSpPr>
              <p:nvPr/>
            </p:nvSpPr>
            <p:spPr bwMode="auto">
              <a:xfrm>
                <a:off x="1957" y="3694"/>
                <a:ext cx="11" cy="188"/>
              </a:xfrm>
              <a:custGeom>
                <a:avLst/>
                <a:gdLst>
                  <a:gd name="T0" fmla="*/ 1 w 22"/>
                  <a:gd name="T1" fmla="*/ 0 h 377"/>
                  <a:gd name="T2" fmla="*/ 1 w 22"/>
                  <a:gd name="T3" fmla="*/ 0 h 377"/>
                  <a:gd name="T4" fmla="*/ 1 w 22"/>
                  <a:gd name="T5" fmla="*/ 0 h 377"/>
                  <a:gd name="T6" fmla="*/ 0 w 22"/>
                  <a:gd name="T7" fmla="*/ 0 h 377"/>
                  <a:gd name="T8" fmla="*/ 0 w 22"/>
                  <a:gd name="T9" fmla="*/ 0 h 377"/>
                  <a:gd name="T10" fmla="*/ 1 w 22"/>
                  <a:gd name="T11" fmla="*/ 0 h 377"/>
                  <a:gd name="T12" fmla="*/ 0 w 22"/>
                  <a:gd name="T13" fmla="*/ 0 h 377"/>
                  <a:gd name="T14" fmla="*/ 1 w 22"/>
                  <a:gd name="T15" fmla="*/ 0 h 377"/>
                  <a:gd name="T16" fmla="*/ 1 w 22"/>
                  <a:gd name="T17" fmla="*/ 0 h 377"/>
                  <a:gd name="T18" fmla="*/ 1 w 22"/>
                  <a:gd name="T19" fmla="*/ 0 h 377"/>
                  <a:gd name="T20" fmla="*/ 1 w 22"/>
                  <a:gd name="T21" fmla="*/ 0 h 377"/>
                  <a:gd name="T22" fmla="*/ 1 w 22"/>
                  <a:gd name="T23" fmla="*/ 0 h 3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7"/>
                  <a:gd name="T38" fmla="*/ 22 w 22"/>
                  <a:gd name="T39" fmla="*/ 377 h 3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7">
                    <a:moveTo>
                      <a:pt x="16" y="375"/>
                    </a:moveTo>
                    <a:lnTo>
                      <a:pt x="22" y="366"/>
                    </a:lnTo>
                    <a:lnTo>
                      <a:pt x="22" y="0"/>
                    </a:lnTo>
                    <a:lnTo>
                      <a:pt x="0" y="0"/>
                    </a:lnTo>
                    <a:lnTo>
                      <a:pt x="0" y="366"/>
                    </a:lnTo>
                    <a:lnTo>
                      <a:pt x="7" y="356"/>
                    </a:lnTo>
                    <a:lnTo>
                      <a:pt x="0" y="366"/>
                    </a:lnTo>
                    <a:lnTo>
                      <a:pt x="4" y="373"/>
                    </a:lnTo>
                    <a:lnTo>
                      <a:pt x="11" y="377"/>
                    </a:lnTo>
                    <a:lnTo>
                      <a:pt x="19" y="373"/>
                    </a:lnTo>
                    <a:lnTo>
                      <a:pt x="22" y="366"/>
                    </a:lnTo>
                    <a:lnTo>
                      <a:pt x="16" y="375"/>
                    </a:lnTo>
                    <a:close/>
                  </a:path>
                </a:pathLst>
              </a:custGeom>
              <a:solidFill>
                <a:srgbClr val="000000"/>
              </a:solidFill>
              <a:ln w="9525">
                <a:noFill/>
                <a:round/>
                <a:headEnd/>
                <a:tailEnd/>
              </a:ln>
            </p:spPr>
            <p:txBody>
              <a:bodyPr/>
              <a:lstStyle/>
              <a:p>
                <a:endParaRPr lang="en-US"/>
              </a:p>
            </p:txBody>
          </p:sp>
          <p:sp>
            <p:nvSpPr>
              <p:cNvPr id="23619" name="Freeform 32"/>
              <p:cNvSpPr>
                <a:spLocks/>
              </p:cNvSpPr>
              <p:nvPr/>
            </p:nvSpPr>
            <p:spPr bwMode="auto">
              <a:xfrm>
                <a:off x="1834" y="3872"/>
                <a:ext cx="131" cy="81"/>
              </a:xfrm>
              <a:custGeom>
                <a:avLst/>
                <a:gdLst>
                  <a:gd name="T0" fmla="*/ 0 w 261"/>
                  <a:gd name="T1" fmla="*/ 1 h 161"/>
                  <a:gd name="T2" fmla="*/ 1 w 261"/>
                  <a:gd name="T3" fmla="*/ 1 h 161"/>
                  <a:gd name="T4" fmla="*/ 1 w 261"/>
                  <a:gd name="T5" fmla="*/ 1 h 161"/>
                  <a:gd name="T6" fmla="*/ 1 w 261"/>
                  <a:gd name="T7" fmla="*/ 0 h 161"/>
                  <a:gd name="T8" fmla="*/ 1 w 261"/>
                  <a:gd name="T9" fmla="*/ 1 h 161"/>
                  <a:gd name="T10" fmla="*/ 1 w 261"/>
                  <a:gd name="T11" fmla="*/ 1 h 161"/>
                  <a:gd name="T12" fmla="*/ 1 w 261"/>
                  <a:gd name="T13" fmla="*/ 1 h 161"/>
                  <a:gd name="T14" fmla="*/ 0 w 261"/>
                  <a:gd name="T15" fmla="*/ 1 h 161"/>
                  <a:gd name="T16" fmla="*/ 1 w 261"/>
                  <a:gd name="T17" fmla="*/ 1 h 161"/>
                  <a:gd name="T18" fmla="*/ 1 w 261"/>
                  <a:gd name="T19" fmla="*/ 1 h 161"/>
                  <a:gd name="T20" fmla="*/ 1 w 261"/>
                  <a:gd name="T21" fmla="*/ 1 h 161"/>
                  <a:gd name="T22" fmla="*/ 0 w 261"/>
                  <a:gd name="T23" fmla="*/ 1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1"/>
                  <a:gd name="T37" fmla="*/ 0 h 161"/>
                  <a:gd name="T38" fmla="*/ 261 w 261"/>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1" h="161">
                    <a:moveTo>
                      <a:pt x="0" y="152"/>
                    </a:moveTo>
                    <a:lnTo>
                      <a:pt x="15" y="161"/>
                    </a:lnTo>
                    <a:lnTo>
                      <a:pt x="261" y="19"/>
                    </a:lnTo>
                    <a:lnTo>
                      <a:pt x="252" y="0"/>
                    </a:lnTo>
                    <a:lnTo>
                      <a:pt x="6" y="143"/>
                    </a:lnTo>
                    <a:lnTo>
                      <a:pt x="21" y="152"/>
                    </a:lnTo>
                    <a:lnTo>
                      <a:pt x="6" y="143"/>
                    </a:lnTo>
                    <a:lnTo>
                      <a:pt x="0" y="149"/>
                    </a:lnTo>
                    <a:lnTo>
                      <a:pt x="1" y="157"/>
                    </a:lnTo>
                    <a:lnTo>
                      <a:pt x="7" y="161"/>
                    </a:lnTo>
                    <a:lnTo>
                      <a:pt x="15" y="161"/>
                    </a:lnTo>
                    <a:lnTo>
                      <a:pt x="0" y="152"/>
                    </a:lnTo>
                    <a:close/>
                  </a:path>
                </a:pathLst>
              </a:custGeom>
              <a:solidFill>
                <a:srgbClr val="000000"/>
              </a:solidFill>
              <a:ln w="9525">
                <a:noFill/>
                <a:round/>
                <a:headEnd/>
                <a:tailEnd/>
              </a:ln>
            </p:spPr>
            <p:txBody>
              <a:bodyPr/>
              <a:lstStyle/>
              <a:p>
                <a:endParaRPr lang="en-US"/>
              </a:p>
            </p:txBody>
          </p:sp>
          <p:sp>
            <p:nvSpPr>
              <p:cNvPr id="23620" name="Freeform 33"/>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4" y="1"/>
                    </a:moveTo>
                    <a:lnTo>
                      <a:pt x="0" y="10"/>
                    </a:lnTo>
                    <a:lnTo>
                      <a:pt x="0" y="375"/>
                    </a:lnTo>
                    <a:lnTo>
                      <a:pt x="21" y="375"/>
                    </a:lnTo>
                    <a:lnTo>
                      <a:pt x="21" y="10"/>
                    </a:lnTo>
                    <a:lnTo>
                      <a:pt x="17" y="20"/>
                    </a:lnTo>
                    <a:lnTo>
                      <a:pt x="21" y="10"/>
                    </a:lnTo>
                    <a:lnTo>
                      <a:pt x="18" y="3"/>
                    </a:lnTo>
                    <a:lnTo>
                      <a:pt x="11" y="0"/>
                    </a:lnTo>
                    <a:lnTo>
                      <a:pt x="3" y="3"/>
                    </a:lnTo>
                    <a:lnTo>
                      <a:pt x="0" y="10"/>
                    </a:lnTo>
                    <a:lnTo>
                      <a:pt x="4" y="1"/>
                    </a:lnTo>
                    <a:close/>
                  </a:path>
                </a:pathLst>
              </a:custGeom>
              <a:solidFill>
                <a:srgbClr val="000000"/>
              </a:solidFill>
              <a:ln w="9525">
                <a:noFill/>
                <a:round/>
                <a:headEnd/>
                <a:tailEnd/>
              </a:ln>
            </p:spPr>
            <p:txBody>
              <a:bodyPr/>
              <a:lstStyle/>
              <a:p>
                <a:endParaRPr lang="en-US"/>
              </a:p>
            </p:txBody>
          </p:sp>
          <p:sp>
            <p:nvSpPr>
              <p:cNvPr id="23621" name="Freeform 34"/>
              <p:cNvSpPr>
                <a:spLocks/>
              </p:cNvSpPr>
              <p:nvPr/>
            </p:nvSpPr>
            <p:spPr bwMode="auto">
              <a:xfrm>
                <a:off x="1837" y="3688"/>
                <a:ext cx="131" cy="82"/>
              </a:xfrm>
              <a:custGeom>
                <a:avLst/>
                <a:gdLst>
                  <a:gd name="T0" fmla="*/ 0 w 263"/>
                  <a:gd name="T1" fmla="*/ 1 h 164"/>
                  <a:gd name="T2" fmla="*/ 0 w 263"/>
                  <a:gd name="T3" fmla="*/ 1 h 164"/>
                  <a:gd name="T4" fmla="*/ 0 w 263"/>
                  <a:gd name="T5" fmla="*/ 1 h 164"/>
                  <a:gd name="T6" fmla="*/ 0 w 263"/>
                  <a:gd name="T7" fmla="*/ 1 h 164"/>
                  <a:gd name="T8" fmla="*/ 0 w 263"/>
                  <a:gd name="T9" fmla="*/ 1 h 164"/>
                  <a:gd name="T10" fmla="*/ 0 w 263"/>
                  <a:gd name="T11" fmla="*/ 1 h 164"/>
                  <a:gd name="T12" fmla="*/ 0 w 263"/>
                  <a:gd name="T13" fmla="*/ 1 h 164"/>
                  <a:gd name="T14" fmla="*/ 0 w 263"/>
                  <a:gd name="T15" fmla="*/ 1 h 164"/>
                  <a:gd name="T16" fmla="*/ 0 w 263"/>
                  <a:gd name="T17" fmla="*/ 1 h 164"/>
                  <a:gd name="T18" fmla="*/ 0 w 263"/>
                  <a:gd name="T19" fmla="*/ 0 h 164"/>
                  <a:gd name="T20" fmla="*/ 0 w 263"/>
                  <a:gd name="T21" fmla="*/ 1 h 164"/>
                  <a:gd name="T22" fmla="*/ 0 w 263"/>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4"/>
                  <a:gd name="T38" fmla="*/ 263 w 263"/>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4">
                    <a:moveTo>
                      <a:pt x="263" y="11"/>
                    </a:moveTo>
                    <a:lnTo>
                      <a:pt x="246" y="1"/>
                    </a:lnTo>
                    <a:lnTo>
                      <a:pt x="0" y="145"/>
                    </a:lnTo>
                    <a:lnTo>
                      <a:pt x="13" y="164"/>
                    </a:lnTo>
                    <a:lnTo>
                      <a:pt x="259" y="20"/>
                    </a:lnTo>
                    <a:lnTo>
                      <a:pt x="241" y="11"/>
                    </a:lnTo>
                    <a:lnTo>
                      <a:pt x="259" y="20"/>
                    </a:lnTo>
                    <a:lnTo>
                      <a:pt x="263" y="12"/>
                    </a:lnTo>
                    <a:lnTo>
                      <a:pt x="262" y="4"/>
                    </a:lnTo>
                    <a:lnTo>
                      <a:pt x="255" y="0"/>
                    </a:lnTo>
                    <a:lnTo>
                      <a:pt x="246" y="1"/>
                    </a:lnTo>
                    <a:lnTo>
                      <a:pt x="263" y="11"/>
                    </a:lnTo>
                    <a:close/>
                  </a:path>
                </a:pathLst>
              </a:custGeom>
              <a:solidFill>
                <a:srgbClr val="000000"/>
              </a:solidFill>
              <a:ln w="9525">
                <a:noFill/>
                <a:round/>
                <a:headEnd/>
                <a:tailEnd/>
              </a:ln>
            </p:spPr>
            <p:txBody>
              <a:bodyPr/>
              <a:lstStyle/>
              <a:p>
                <a:endParaRPr lang="en-US"/>
              </a:p>
            </p:txBody>
          </p:sp>
          <p:sp>
            <p:nvSpPr>
              <p:cNvPr id="23622" name="Freeform 35"/>
              <p:cNvSpPr>
                <a:spLocks/>
              </p:cNvSpPr>
              <p:nvPr/>
            </p:nvSpPr>
            <p:spPr bwMode="auto">
              <a:xfrm>
                <a:off x="2169" y="3499"/>
                <a:ext cx="125" cy="253"/>
              </a:xfrm>
              <a:custGeom>
                <a:avLst/>
                <a:gdLst>
                  <a:gd name="T0" fmla="*/ 1 w 249"/>
                  <a:gd name="T1" fmla="*/ 0 h 507"/>
                  <a:gd name="T2" fmla="*/ 1 w 249"/>
                  <a:gd name="T3" fmla="*/ 0 h 507"/>
                  <a:gd name="T4" fmla="*/ 0 w 249"/>
                  <a:gd name="T5" fmla="*/ 0 h 507"/>
                  <a:gd name="T6" fmla="*/ 0 w 249"/>
                  <a:gd name="T7" fmla="*/ 0 h 507"/>
                  <a:gd name="T8" fmla="*/ 1 w 249"/>
                  <a:gd name="T9" fmla="*/ 0 h 507"/>
                  <a:gd name="T10" fmla="*/ 0 60000 65536"/>
                  <a:gd name="T11" fmla="*/ 0 60000 65536"/>
                  <a:gd name="T12" fmla="*/ 0 60000 65536"/>
                  <a:gd name="T13" fmla="*/ 0 60000 65536"/>
                  <a:gd name="T14" fmla="*/ 0 60000 65536"/>
                  <a:gd name="T15" fmla="*/ 0 w 249"/>
                  <a:gd name="T16" fmla="*/ 0 h 507"/>
                  <a:gd name="T17" fmla="*/ 249 w 249"/>
                  <a:gd name="T18" fmla="*/ 507 h 507"/>
                </a:gdLst>
                <a:ahLst/>
                <a:cxnLst>
                  <a:cxn ang="T10">
                    <a:pos x="T0" y="T1"/>
                  </a:cxn>
                  <a:cxn ang="T11">
                    <a:pos x="T2" y="T3"/>
                  </a:cxn>
                  <a:cxn ang="T12">
                    <a:pos x="T4" y="T5"/>
                  </a:cxn>
                  <a:cxn ang="T13">
                    <a:pos x="T6" y="T7"/>
                  </a:cxn>
                  <a:cxn ang="T14">
                    <a:pos x="T8" y="T9"/>
                  </a:cxn>
                </a:cxnLst>
                <a:rect l="T15" t="T16" r="T17" b="T18"/>
                <a:pathLst>
                  <a:path w="249" h="507">
                    <a:moveTo>
                      <a:pt x="249" y="0"/>
                    </a:moveTo>
                    <a:lnTo>
                      <a:pt x="247" y="364"/>
                    </a:lnTo>
                    <a:lnTo>
                      <a:pt x="0" y="507"/>
                    </a:lnTo>
                    <a:lnTo>
                      <a:pt x="0" y="144"/>
                    </a:lnTo>
                    <a:lnTo>
                      <a:pt x="249" y="0"/>
                    </a:lnTo>
                    <a:close/>
                  </a:path>
                </a:pathLst>
              </a:custGeom>
              <a:solidFill>
                <a:srgbClr val="4CFF00"/>
              </a:solidFill>
              <a:ln w="9525">
                <a:noFill/>
                <a:round/>
                <a:headEnd/>
                <a:tailEnd/>
              </a:ln>
            </p:spPr>
            <p:txBody>
              <a:bodyPr/>
              <a:lstStyle/>
              <a:p>
                <a:endParaRPr lang="en-US"/>
              </a:p>
            </p:txBody>
          </p:sp>
          <p:sp>
            <p:nvSpPr>
              <p:cNvPr id="23623" name="Freeform 36"/>
              <p:cNvSpPr>
                <a:spLocks/>
              </p:cNvSpPr>
              <p:nvPr/>
            </p:nvSpPr>
            <p:spPr bwMode="auto">
              <a:xfrm>
                <a:off x="2288" y="3499"/>
                <a:ext cx="11" cy="188"/>
              </a:xfrm>
              <a:custGeom>
                <a:avLst/>
                <a:gdLst>
                  <a:gd name="T0" fmla="*/ 0 w 24"/>
                  <a:gd name="T1" fmla="*/ 1 h 375"/>
                  <a:gd name="T2" fmla="*/ 0 w 24"/>
                  <a:gd name="T3" fmla="*/ 1 h 375"/>
                  <a:gd name="T4" fmla="*/ 0 w 24"/>
                  <a:gd name="T5" fmla="*/ 0 h 375"/>
                  <a:gd name="T6" fmla="*/ 0 w 24"/>
                  <a:gd name="T7" fmla="*/ 0 h 375"/>
                  <a:gd name="T8" fmla="*/ 0 w 24"/>
                  <a:gd name="T9" fmla="*/ 1 h 375"/>
                  <a:gd name="T10" fmla="*/ 0 w 24"/>
                  <a:gd name="T11" fmla="*/ 1 h 375"/>
                  <a:gd name="T12" fmla="*/ 0 w 24"/>
                  <a:gd name="T13" fmla="*/ 1 h 375"/>
                  <a:gd name="T14" fmla="*/ 0 w 24"/>
                  <a:gd name="T15" fmla="*/ 1 h 375"/>
                  <a:gd name="T16" fmla="*/ 0 w 24"/>
                  <a:gd name="T17" fmla="*/ 1 h 375"/>
                  <a:gd name="T18" fmla="*/ 0 w 24"/>
                  <a:gd name="T19" fmla="*/ 1 h 375"/>
                  <a:gd name="T20" fmla="*/ 0 w 24"/>
                  <a:gd name="T21" fmla="*/ 1 h 375"/>
                  <a:gd name="T22" fmla="*/ 0 w 24"/>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75"/>
                  <a:gd name="T38" fmla="*/ 24 w 24"/>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75">
                    <a:moveTo>
                      <a:pt x="16" y="374"/>
                    </a:moveTo>
                    <a:lnTo>
                      <a:pt x="22" y="364"/>
                    </a:lnTo>
                    <a:lnTo>
                      <a:pt x="24" y="0"/>
                    </a:lnTo>
                    <a:lnTo>
                      <a:pt x="2" y="0"/>
                    </a:lnTo>
                    <a:lnTo>
                      <a:pt x="0" y="364"/>
                    </a:lnTo>
                    <a:lnTo>
                      <a:pt x="6" y="355"/>
                    </a:lnTo>
                    <a:lnTo>
                      <a:pt x="0" y="364"/>
                    </a:lnTo>
                    <a:lnTo>
                      <a:pt x="3" y="372"/>
                    </a:lnTo>
                    <a:lnTo>
                      <a:pt x="11" y="375"/>
                    </a:lnTo>
                    <a:lnTo>
                      <a:pt x="19" y="372"/>
                    </a:lnTo>
                    <a:lnTo>
                      <a:pt x="22" y="364"/>
                    </a:lnTo>
                    <a:lnTo>
                      <a:pt x="16" y="374"/>
                    </a:lnTo>
                    <a:close/>
                  </a:path>
                </a:pathLst>
              </a:custGeom>
              <a:solidFill>
                <a:srgbClr val="000000"/>
              </a:solidFill>
              <a:ln w="9525">
                <a:noFill/>
                <a:round/>
                <a:headEnd/>
                <a:tailEnd/>
              </a:ln>
            </p:spPr>
            <p:txBody>
              <a:bodyPr/>
              <a:lstStyle/>
              <a:p>
                <a:endParaRPr lang="en-US"/>
              </a:p>
            </p:txBody>
          </p:sp>
          <p:sp>
            <p:nvSpPr>
              <p:cNvPr id="23624" name="Freeform 37"/>
              <p:cNvSpPr>
                <a:spLocks/>
              </p:cNvSpPr>
              <p:nvPr/>
            </p:nvSpPr>
            <p:spPr bwMode="auto">
              <a:xfrm>
                <a:off x="2164" y="3677"/>
                <a:ext cx="131" cy="80"/>
              </a:xfrm>
              <a:custGeom>
                <a:avLst/>
                <a:gdLst>
                  <a:gd name="T0" fmla="*/ 0 w 263"/>
                  <a:gd name="T1" fmla="*/ 0 h 161"/>
                  <a:gd name="T2" fmla="*/ 0 w 263"/>
                  <a:gd name="T3" fmla="*/ 0 h 161"/>
                  <a:gd name="T4" fmla="*/ 0 w 263"/>
                  <a:gd name="T5" fmla="*/ 0 h 161"/>
                  <a:gd name="T6" fmla="*/ 0 w 263"/>
                  <a:gd name="T7" fmla="*/ 0 h 161"/>
                  <a:gd name="T8" fmla="*/ 0 w 263"/>
                  <a:gd name="T9" fmla="*/ 0 h 161"/>
                  <a:gd name="T10" fmla="*/ 0 w 263"/>
                  <a:gd name="T11" fmla="*/ 0 h 161"/>
                  <a:gd name="T12" fmla="*/ 0 w 263"/>
                  <a:gd name="T13" fmla="*/ 0 h 161"/>
                  <a:gd name="T14" fmla="*/ 0 w 263"/>
                  <a:gd name="T15" fmla="*/ 0 h 161"/>
                  <a:gd name="T16" fmla="*/ 0 w 263"/>
                  <a:gd name="T17" fmla="*/ 0 h 161"/>
                  <a:gd name="T18" fmla="*/ 0 w 263"/>
                  <a:gd name="T19" fmla="*/ 0 h 161"/>
                  <a:gd name="T20" fmla="*/ 0 w 263"/>
                  <a:gd name="T21" fmla="*/ 0 h 161"/>
                  <a:gd name="T22" fmla="*/ 0 w 263"/>
                  <a:gd name="T23" fmla="*/ 0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1"/>
                  <a:gd name="T38" fmla="*/ 263 w 263"/>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1">
                    <a:moveTo>
                      <a:pt x="0" y="152"/>
                    </a:moveTo>
                    <a:lnTo>
                      <a:pt x="15" y="161"/>
                    </a:lnTo>
                    <a:lnTo>
                      <a:pt x="263" y="19"/>
                    </a:lnTo>
                    <a:lnTo>
                      <a:pt x="253" y="0"/>
                    </a:lnTo>
                    <a:lnTo>
                      <a:pt x="6" y="142"/>
                    </a:lnTo>
                    <a:lnTo>
                      <a:pt x="22" y="152"/>
                    </a:lnTo>
                    <a:lnTo>
                      <a:pt x="6" y="142"/>
                    </a:lnTo>
                    <a:lnTo>
                      <a:pt x="0" y="149"/>
                    </a:lnTo>
                    <a:lnTo>
                      <a:pt x="1" y="157"/>
                    </a:lnTo>
                    <a:lnTo>
                      <a:pt x="8" y="161"/>
                    </a:lnTo>
                    <a:lnTo>
                      <a:pt x="15" y="161"/>
                    </a:lnTo>
                    <a:lnTo>
                      <a:pt x="0" y="152"/>
                    </a:lnTo>
                    <a:close/>
                  </a:path>
                </a:pathLst>
              </a:custGeom>
              <a:solidFill>
                <a:srgbClr val="000000"/>
              </a:solidFill>
              <a:ln w="9525">
                <a:noFill/>
                <a:round/>
                <a:headEnd/>
                <a:tailEnd/>
              </a:ln>
            </p:spPr>
            <p:txBody>
              <a:bodyPr/>
              <a:lstStyle/>
              <a:p>
                <a:endParaRPr lang="en-US"/>
              </a:p>
            </p:txBody>
          </p:sp>
          <p:sp>
            <p:nvSpPr>
              <p:cNvPr id="23625" name="Freeform 38"/>
              <p:cNvSpPr>
                <a:spLocks/>
              </p:cNvSpPr>
              <p:nvPr/>
            </p:nvSpPr>
            <p:spPr bwMode="auto">
              <a:xfrm>
                <a:off x="2164" y="3565"/>
                <a:ext cx="11" cy="187"/>
              </a:xfrm>
              <a:custGeom>
                <a:avLst/>
                <a:gdLst>
                  <a:gd name="T0" fmla="*/ 1 w 22"/>
                  <a:gd name="T1" fmla="*/ 1 h 374"/>
                  <a:gd name="T2" fmla="*/ 0 w 22"/>
                  <a:gd name="T3" fmla="*/ 1 h 374"/>
                  <a:gd name="T4" fmla="*/ 0 w 22"/>
                  <a:gd name="T5" fmla="*/ 1 h 374"/>
                  <a:gd name="T6" fmla="*/ 1 w 22"/>
                  <a:gd name="T7" fmla="*/ 1 h 374"/>
                  <a:gd name="T8" fmla="*/ 1 w 22"/>
                  <a:gd name="T9" fmla="*/ 1 h 374"/>
                  <a:gd name="T10" fmla="*/ 1 w 22"/>
                  <a:gd name="T11" fmla="*/ 1 h 374"/>
                  <a:gd name="T12" fmla="*/ 1 w 22"/>
                  <a:gd name="T13" fmla="*/ 1 h 374"/>
                  <a:gd name="T14" fmla="*/ 1 w 22"/>
                  <a:gd name="T15" fmla="*/ 1 h 374"/>
                  <a:gd name="T16" fmla="*/ 1 w 22"/>
                  <a:gd name="T17" fmla="*/ 0 h 374"/>
                  <a:gd name="T18" fmla="*/ 1 w 22"/>
                  <a:gd name="T19" fmla="*/ 1 h 374"/>
                  <a:gd name="T20" fmla="*/ 0 w 22"/>
                  <a:gd name="T21" fmla="*/ 1 h 374"/>
                  <a:gd name="T22" fmla="*/ 1 w 22"/>
                  <a:gd name="T23" fmla="*/ 1 h 37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4"/>
                  <a:gd name="T38" fmla="*/ 22 w 22"/>
                  <a:gd name="T39" fmla="*/ 374 h 37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4">
                    <a:moveTo>
                      <a:pt x="4" y="1"/>
                    </a:moveTo>
                    <a:lnTo>
                      <a:pt x="0" y="11"/>
                    </a:lnTo>
                    <a:lnTo>
                      <a:pt x="0" y="374"/>
                    </a:lnTo>
                    <a:lnTo>
                      <a:pt x="22" y="374"/>
                    </a:lnTo>
                    <a:lnTo>
                      <a:pt x="22" y="11"/>
                    </a:lnTo>
                    <a:lnTo>
                      <a:pt x="17" y="20"/>
                    </a:lnTo>
                    <a:lnTo>
                      <a:pt x="22" y="11"/>
                    </a:lnTo>
                    <a:lnTo>
                      <a:pt x="19" y="3"/>
                    </a:lnTo>
                    <a:lnTo>
                      <a:pt x="11" y="0"/>
                    </a:lnTo>
                    <a:lnTo>
                      <a:pt x="3" y="3"/>
                    </a:lnTo>
                    <a:lnTo>
                      <a:pt x="0" y="11"/>
                    </a:lnTo>
                    <a:lnTo>
                      <a:pt x="4" y="1"/>
                    </a:lnTo>
                    <a:close/>
                  </a:path>
                </a:pathLst>
              </a:custGeom>
              <a:solidFill>
                <a:srgbClr val="000000"/>
              </a:solidFill>
              <a:ln w="9525">
                <a:noFill/>
                <a:round/>
                <a:headEnd/>
                <a:tailEnd/>
              </a:ln>
            </p:spPr>
            <p:txBody>
              <a:bodyPr/>
              <a:lstStyle/>
              <a:p>
                <a:endParaRPr lang="en-US"/>
              </a:p>
            </p:txBody>
          </p:sp>
          <p:sp>
            <p:nvSpPr>
              <p:cNvPr id="23626" name="Freeform 39"/>
              <p:cNvSpPr>
                <a:spLocks/>
              </p:cNvSpPr>
              <p:nvPr/>
            </p:nvSpPr>
            <p:spPr bwMode="auto">
              <a:xfrm>
                <a:off x="2166" y="3493"/>
                <a:ext cx="133" cy="83"/>
              </a:xfrm>
              <a:custGeom>
                <a:avLst/>
                <a:gdLst>
                  <a:gd name="T0" fmla="*/ 0 w 267"/>
                  <a:gd name="T1" fmla="*/ 1 h 164"/>
                  <a:gd name="T2" fmla="*/ 0 w 267"/>
                  <a:gd name="T3" fmla="*/ 1 h 164"/>
                  <a:gd name="T4" fmla="*/ 0 w 267"/>
                  <a:gd name="T5" fmla="*/ 1 h 164"/>
                  <a:gd name="T6" fmla="*/ 0 w 267"/>
                  <a:gd name="T7" fmla="*/ 1 h 164"/>
                  <a:gd name="T8" fmla="*/ 0 w 267"/>
                  <a:gd name="T9" fmla="*/ 1 h 164"/>
                  <a:gd name="T10" fmla="*/ 0 w 267"/>
                  <a:gd name="T11" fmla="*/ 1 h 164"/>
                  <a:gd name="T12" fmla="*/ 0 w 267"/>
                  <a:gd name="T13" fmla="*/ 1 h 164"/>
                  <a:gd name="T14" fmla="*/ 0 w 267"/>
                  <a:gd name="T15" fmla="*/ 1 h 164"/>
                  <a:gd name="T16" fmla="*/ 0 w 267"/>
                  <a:gd name="T17" fmla="*/ 1 h 164"/>
                  <a:gd name="T18" fmla="*/ 0 w 267"/>
                  <a:gd name="T19" fmla="*/ 0 h 164"/>
                  <a:gd name="T20" fmla="*/ 0 w 267"/>
                  <a:gd name="T21" fmla="*/ 1 h 164"/>
                  <a:gd name="T22" fmla="*/ 0 w 267"/>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7"/>
                  <a:gd name="T37" fmla="*/ 0 h 164"/>
                  <a:gd name="T38" fmla="*/ 267 w 267"/>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7" h="164">
                    <a:moveTo>
                      <a:pt x="267" y="11"/>
                    </a:moveTo>
                    <a:lnTo>
                      <a:pt x="249" y="2"/>
                    </a:lnTo>
                    <a:lnTo>
                      <a:pt x="0" y="145"/>
                    </a:lnTo>
                    <a:lnTo>
                      <a:pt x="13" y="164"/>
                    </a:lnTo>
                    <a:lnTo>
                      <a:pt x="262" y="20"/>
                    </a:lnTo>
                    <a:lnTo>
                      <a:pt x="245" y="11"/>
                    </a:lnTo>
                    <a:lnTo>
                      <a:pt x="262" y="20"/>
                    </a:lnTo>
                    <a:lnTo>
                      <a:pt x="267" y="12"/>
                    </a:lnTo>
                    <a:lnTo>
                      <a:pt x="265" y="5"/>
                    </a:lnTo>
                    <a:lnTo>
                      <a:pt x="259" y="0"/>
                    </a:lnTo>
                    <a:lnTo>
                      <a:pt x="249" y="2"/>
                    </a:lnTo>
                    <a:lnTo>
                      <a:pt x="267" y="11"/>
                    </a:lnTo>
                    <a:close/>
                  </a:path>
                </a:pathLst>
              </a:custGeom>
              <a:solidFill>
                <a:srgbClr val="000000"/>
              </a:solidFill>
              <a:ln w="9525">
                <a:noFill/>
                <a:round/>
                <a:headEnd/>
                <a:tailEnd/>
              </a:ln>
            </p:spPr>
            <p:txBody>
              <a:bodyPr/>
              <a:lstStyle/>
              <a:p>
                <a:endParaRPr lang="en-US"/>
              </a:p>
            </p:txBody>
          </p:sp>
          <p:sp>
            <p:nvSpPr>
              <p:cNvPr id="23627" name="Freeform 40"/>
              <p:cNvSpPr>
                <a:spLocks/>
              </p:cNvSpPr>
              <p:nvPr/>
            </p:nvSpPr>
            <p:spPr bwMode="auto">
              <a:xfrm>
                <a:off x="1536" y="3312"/>
                <a:ext cx="768" cy="440"/>
              </a:xfrm>
              <a:custGeom>
                <a:avLst/>
                <a:gdLst>
                  <a:gd name="T0" fmla="*/ 0 w 1536"/>
                  <a:gd name="T1" fmla="*/ 1 h 879"/>
                  <a:gd name="T2" fmla="*/ 1 w 1536"/>
                  <a:gd name="T3" fmla="*/ 0 h 879"/>
                  <a:gd name="T4" fmla="*/ 1 w 1536"/>
                  <a:gd name="T5" fmla="*/ 1 h 879"/>
                  <a:gd name="T6" fmla="*/ 1 w 1536"/>
                  <a:gd name="T7" fmla="*/ 1 h 879"/>
                  <a:gd name="T8" fmla="*/ 0 w 1536"/>
                  <a:gd name="T9" fmla="*/ 1 h 879"/>
                  <a:gd name="T10" fmla="*/ 0 60000 65536"/>
                  <a:gd name="T11" fmla="*/ 0 60000 65536"/>
                  <a:gd name="T12" fmla="*/ 0 60000 65536"/>
                  <a:gd name="T13" fmla="*/ 0 60000 65536"/>
                  <a:gd name="T14" fmla="*/ 0 60000 65536"/>
                  <a:gd name="T15" fmla="*/ 0 w 1536"/>
                  <a:gd name="T16" fmla="*/ 0 h 879"/>
                  <a:gd name="T17" fmla="*/ 1536 w 1536"/>
                  <a:gd name="T18" fmla="*/ 879 h 879"/>
                </a:gdLst>
                <a:ahLst/>
                <a:cxnLst>
                  <a:cxn ang="T10">
                    <a:pos x="T0" y="T1"/>
                  </a:cxn>
                  <a:cxn ang="T11">
                    <a:pos x="T2" y="T3"/>
                  </a:cxn>
                  <a:cxn ang="T12">
                    <a:pos x="T4" y="T5"/>
                  </a:cxn>
                  <a:cxn ang="T13">
                    <a:pos x="T6" y="T7"/>
                  </a:cxn>
                  <a:cxn ang="T14">
                    <a:pos x="T8" y="T9"/>
                  </a:cxn>
                </a:cxnLst>
                <a:rect l="T15" t="T16" r="T17" b="T18"/>
                <a:pathLst>
                  <a:path w="1536" h="879">
                    <a:moveTo>
                      <a:pt x="0" y="544"/>
                    </a:moveTo>
                    <a:lnTo>
                      <a:pt x="932" y="0"/>
                    </a:lnTo>
                    <a:lnTo>
                      <a:pt x="1536" y="335"/>
                    </a:lnTo>
                    <a:lnTo>
                      <a:pt x="608" y="879"/>
                    </a:lnTo>
                    <a:lnTo>
                      <a:pt x="0" y="544"/>
                    </a:lnTo>
                    <a:close/>
                  </a:path>
                </a:pathLst>
              </a:custGeom>
              <a:solidFill>
                <a:srgbClr val="B2FF4C"/>
              </a:solidFill>
              <a:ln w="9525">
                <a:noFill/>
                <a:round/>
                <a:headEnd/>
                <a:tailEnd/>
              </a:ln>
            </p:spPr>
            <p:txBody>
              <a:bodyPr/>
              <a:lstStyle/>
              <a:p>
                <a:endParaRPr lang="en-US"/>
              </a:p>
            </p:txBody>
          </p:sp>
          <p:sp>
            <p:nvSpPr>
              <p:cNvPr id="23628" name="Freeform 41"/>
              <p:cNvSpPr>
                <a:spLocks/>
              </p:cNvSpPr>
              <p:nvPr/>
            </p:nvSpPr>
            <p:spPr bwMode="auto">
              <a:xfrm>
                <a:off x="1533" y="3307"/>
                <a:ext cx="474" cy="282"/>
              </a:xfrm>
              <a:custGeom>
                <a:avLst/>
                <a:gdLst>
                  <a:gd name="T0" fmla="*/ 0 w 949"/>
                  <a:gd name="T1" fmla="*/ 0 h 565"/>
                  <a:gd name="T2" fmla="*/ 0 w 949"/>
                  <a:gd name="T3" fmla="*/ 0 h 565"/>
                  <a:gd name="T4" fmla="*/ 0 w 949"/>
                  <a:gd name="T5" fmla="*/ 0 h 565"/>
                  <a:gd name="T6" fmla="*/ 0 w 949"/>
                  <a:gd name="T7" fmla="*/ 0 h 565"/>
                  <a:gd name="T8" fmla="*/ 0 w 949"/>
                  <a:gd name="T9" fmla="*/ 0 h 565"/>
                  <a:gd name="T10" fmla="*/ 0 w 949"/>
                  <a:gd name="T11" fmla="*/ 0 h 565"/>
                  <a:gd name="T12" fmla="*/ 0 w 949"/>
                  <a:gd name="T13" fmla="*/ 0 h 565"/>
                  <a:gd name="T14" fmla="*/ 0 w 949"/>
                  <a:gd name="T15" fmla="*/ 0 h 565"/>
                  <a:gd name="T16" fmla="*/ 0 w 949"/>
                  <a:gd name="T17" fmla="*/ 0 h 565"/>
                  <a:gd name="T18" fmla="*/ 0 w 949"/>
                  <a:gd name="T19" fmla="*/ 0 h 565"/>
                  <a:gd name="T20" fmla="*/ 0 w 949"/>
                  <a:gd name="T21" fmla="*/ 0 h 565"/>
                  <a:gd name="T22" fmla="*/ 0 w 949"/>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9"/>
                  <a:gd name="T37" fmla="*/ 0 h 565"/>
                  <a:gd name="T38" fmla="*/ 949 w 949"/>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9" h="565">
                    <a:moveTo>
                      <a:pt x="942" y="2"/>
                    </a:moveTo>
                    <a:lnTo>
                      <a:pt x="931" y="2"/>
                    </a:lnTo>
                    <a:lnTo>
                      <a:pt x="0" y="546"/>
                    </a:lnTo>
                    <a:lnTo>
                      <a:pt x="12" y="565"/>
                    </a:lnTo>
                    <a:lnTo>
                      <a:pt x="944" y="20"/>
                    </a:lnTo>
                    <a:lnTo>
                      <a:pt x="933" y="20"/>
                    </a:lnTo>
                    <a:lnTo>
                      <a:pt x="944" y="20"/>
                    </a:lnTo>
                    <a:lnTo>
                      <a:pt x="949" y="13"/>
                    </a:lnTo>
                    <a:lnTo>
                      <a:pt x="947" y="5"/>
                    </a:lnTo>
                    <a:lnTo>
                      <a:pt x="941" y="0"/>
                    </a:lnTo>
                    <a:lnTo>
                      <a:pt x="931" y="2"/>
                    </a:lnTo>
                    <a:lnTo>
                      <a:pt x="942" y="2"/>
                    </a:lnTo>
                    <a:close/>
                  </a:path>
                </a:pathLst>
              </a:custGeom>
              <a:solidFill>
                <a:srgbClr val="000000"/>
              </a:solidFill>
              <a:ln w="9525">
                <a:noFill/>
                <a:round/>
                <a:headEnd/>
                <a:tailEnd/>
              </a:ln>
            </p:spPr>
            <p:txBody>
              <a:bodyPr/>
              <a:lstStyle/>
              <a:p>
                <a:endParaRPr lang="en-US"/>
              </a:p>
            </p:txBody>
          </p:sp>
          <p:sp>
            <p:nvSpPr>
              <p:cNvPr id="23629" name="Freeform 42"/>
              <p:cNvSpPr>
                <a:spLocks/>
              </p:cNvSpPr>
              <p:nvPr/>
            </p:nvSpPr>
            <p:spPr bwMode="auto">
              <a:xfrm>
                <a:off x="1999" y="3307"/>
                <a:ext cx="310" cy="177"/>
              </a:xfrm>
              <a:custGeom>
                <a:avLst/>
                <a:gdLst>
                  <a:gd name="T0" fmla="*/ 1 w 620"/>
                  <a:gd name="T1" fmla="*/ 1 h 353"/>
                  <a:gd name="T2" fmla="*/ 1 w 620"/>
                  <a:gd name="T3" fmla="*/ 1 h 353"/>
                  <a:gd name="T4" fmla="*/ 1 w 620"/>
                  <a:gd name="T5" fmla="*/ 0 h 353"/>
                  <a:gd name="T6" fmla="*/ 0 w 620"/>
                  <a:gd name="T7" fmla="*/ 1 h 353"/>
                  <a:gd name="T8" fmla="*/ 1 w 620"/>
                  <a:gd name="T9" fmla="*/ 1 h 353"/>
                  <a:gd name="T10" fmla="*/ 1 w 620"/>
                  <a:gd name="T11" fmla="*/ 1 h 353"/>
                  <a:gd name="T12" fmla="*/ 1 w 620"/>
                  <a:gd name="T13" fmla="*/ 1 h 353"/>
                  <a:gd name="T14" fmla="*/ 1 w 620"/>
                  <a:gd name="T15" fmla="*/ 1 h 353"/>
                  <a:gd name="T16" fmla="*/ 1 w 620"/>
                  <a:gd name="T17" fmla="*/ 1 h 353"/>
                  <a:gd name="T18" fmla="*/ 1 w 620"/>
                  <a:gd name="T19" fmla="*/ 1 h 353"/>
                  <a:gd name="T20" fmla="*/ 1 w 620"/>
                  <a:gd name="T21" fmla="*/ 1 h 353"/>
                  <a:gd name="T22" fmla="*/ 1 w 620"/>
                  <a:gd name="T23" fmla="*/ 1 h 3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0"/>
                  <a:gd name="T37" fmla="*/ 0 h 353"/>
                  <a:gd name="T38" fmla="*/ 620 w 620"/>
                  <a:gd name="T39" fmla="*/ 353 h 3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0" h="353">
                    <a:moveTo>
                      <a:pt x="615" y="353"/>
                    </a:moveTo>
                    <a:lnTo>
                      <a:pt x="614" y="334"/>
                    </a:lnTo>
                    <a:lnTo>
                      <a:pt x="9" y="0"/>
                    </a:lnTo>
                    <a:lnTo>
                      <a:pt x="0" y="18"/>
                    </a:lnTo>
                    <a:lnTo>
                      <a:pt x="604" y="353"/>
                    </a:lnTo>
                    <a:lnTo>
                      <a:pt x="603" y="334"/>
                    </a:lnTo>
                    <a:lnTo>
                      <a:pt x="604" y="353"/>
                    </a:lnTo>
                    <a:lnTo>
                      <a:pt x="612" y="353"/>
                    </a:lnTo>
                    <a:lnTo>
                      <a:pt x="618" y="349"/>
                    </a:lnTo>
                    <a:lnTo>
                      <a:pt x="620" y="341"/>
                    </a:lnTo>
                    <a:lnTo>
                      <a:pt x="614" y="334"/>
                    </a:lnTo>
                    <a:lnTo>
                      <a:pt x="615" y="353"/>
                    </a:lnTo>
                    <a:close/>
                  </a:path>
                </a:pathLst>
              </a:custGeom>
              <a:solidFill>
                <a:srgbClr val="000000"/>
              </a:solidFill>
              <a:ln w="9525">
                <a:noFill/>
                <a:round/>
                <a:headEnd/>
                <a:tailEnd/>
              </a:ln>
            </p:spPr>
            <p:txBody>
              <a:bodyPr/>
              <a:lstStyle/>
              <a:p>
                <a:endParaRPr lang="en-US"/>
              </a:p>
            </p:txBody>
          </p:sp>
          <p:sp>
            <p:nvSpPr>
              <p:cNvPr id="23630" name="Freeform 43"/>
              <p:cNvSpPr>
                <a:spLocks/>
              </p:cNvSpPr>
              <p:nvPr/>
            </p:nvSpPr>
            <p:spPr bwMode="auto">
              <a:xfrm>
                <a:off x="1834" y="3475"/>
                <a:ext cx="473" cy="282"/>
              </a:xfrm>
              <a:custGeom>
                <a:avLst/>
                <a:gdLst>
                  <a:gd name="T0" fmla="*/ 1 w 945"/>
                  <a:gd name="T1" fmla="*/ 0 h 565"/>
                  <a:gd name="T2" fmla="*/ 1 w 945"/>
                  <a:gd name="T3" fmla="*/ 0 h 565"/>
                  <a:gd name="T4" fmla="*/ 1 w 945"/>
                  <a:gd name="T5" fmla="*/ 0 h 565"/>
                  <a:gd name="T6" fmla="*/ 1 w 945"/>
                  <a:gd name="T7" fmla="*/ 0 h 565"/>
                  <a:gd name="T8" fmla="*/ 1 w 945"/>
                  <a:gd name="T9" fmla="*/ 0 h 565"/>
                  <a:gd name="T10" fmla="*/ 1 w 945"/>
                  <a:gd name="T11" fmla="*/ 0 h 565"/>
                  <a:gd name="T12" fmla="*/ 1 w 945"/>
                  <a:gd name="T13" fmla="*/ 0 h 565"/>
                  <a:gd name="T14" fmla="*/ 0 w 945"/>
                  <a:gd name="T15" fmla="*/ 0 h 565"/>
                  <a:gd name="T16" fmla="*/ 1 w 945"/>
                  <a:gd name="T17" fmla="*/ 0 h 565"/>
                  <a:gd name="T18" fmla="*/ 1 w 945"/>
                  <a:gd name="T19" fmla="*/ 0 h 565"/>
                  <a:gd name="T20" fmla="*/ 1 w 945"/>
                  <a:gd name="T21" fmla="*/ 0 h 565"/>
                  <a:gd name="T22" fmla="*/ 1 w 945"/>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5"/>
                  <a:gd name="T37" fmla="*/ 0 h 565"/>
                  <a:gd name="T38" fmla="*/ 945 w 945"/>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5" h="565">
                    <a:moveTo>
                      <a:pt x="6" y="564"/>
                    </a:moveTo>
                    <a:lnTo>
                      <a:pt x="17" y="564"/>
                    </a:lnTo>
                    <a:lnTo>
                      <a:pt x="945" y="19"/>
                    </a:lnTo>
                    <a:lnTo>
                      <a:pt x="933" y="0"/>
                    </a:lnTo>
                    <a:lnTo>
                      <a:pt x="4" y="545"/>
                    </a:lnTo>
                    <a:lnTo>
                      <a:pt x="15" y="545"/>
                    </a:lnTo>
                    <a:lnTo>
                      <a:pt x="4" y="545"/>
                    </a:lnTo>
                    <a:lnTo>
                      <a:pt x="0" y="553"/>
                    </a:lnTo>
                    <a:lnTo>
                      <a:pt x="1" y="561"/>
                    </a:lnTo>
                    <a:lnTo>
                      <a:pt x="7" y="565"/>
                    </a:lnTo>
                    <a:lnTo>
                      <a:pt x="17" y="564"/>
                    </a:lnTo>
                    <a:lnTo>
                      <a:pt x="6" y="564"/>
                    </a:lnTo>
                    <a:close/>
                  </a:path>
                </a:pathLst>
              </a:custGeom>
              <a:solidFill>
                <a:srgbClr val="000000"/>
              </a:solidFill>
              <a:ln w="9525">
                <a:noFill/>
                <a:round/>
                <a:headEnd/>
                <a:tailEnd/>
              </a:ln>
            </p:spPr>
            <p:txBody>
              <a:bodyPr/>
              <a:lstStyle/>
              <a:p>
                <a:endParaRPr lang="en-US"/>
              </a:p>
            </p:txBody>
          </p:sp>
          <p:sp>
            <p:nvSpPr>
              <p:cNvPr id="23631" name="Freeform 44"/>
              <p:cNvSpPr>
                <a:spLocks/>
              </p:cNvSpPr>
              <p:nvPr/>
            </p:nvSpPr>
            <p:spPr bwMode="auto">
              <a:xfrm>
                <a:off x="1531" y="3580"/>
                <a:ext cx="311" cy="176"/>
              </a:xfrm>
              <a:custGeom>
                <a:avLst/>
                <a:gdLst>
                  <a:gd name="T0" fmla="*/ 0 w 623"/>
                  <a:gd name="T1" fmla="*/ 0 h 354"/>
                  <a:gd name="T2" fmla="*/ 0 w 623"/>
                  <a:gd name="T3" fmla="*/ 0 h 354"/>
                  <a:gd name="T4" fmla="*/ 0 w 623"/>
                  <a:gd name="T5" fmla="*/ 0 h 354"/>
                  <a:gd name="T6" fmla="*/ 0 w 623"/>
                  <a:gd name="T7" fmla="*/ 0 h 354"/>
                  <a:gd name="T8" fmla="*/ 0 w 623"/>
                  <a:gd name="T9" fmla="*/ 0 h 354"/>
                  <a:gd name="T10" fmla="*/ 0 w 623"/>
                  <a:gd name="T11" fmla="*/ 0 h 354"/>
                  <a:gd name="T12" fmla="*/ 0 w 623"/>
                  <a:gd name="T13" fmla="*/ 0 h 354"/>
                  <a:gd name="T14" fmla="*/ 0 w 623"/>
                  <a:gd name="T15" fmla="*/ 0 h 354"/>
                  <a:gd name="T16" fmla="*/ 0 w 623"/>
                  <a:gd name="T17" fmla="*/ 0 h 354"/>
                  <a:gd name="T18" fmla="*/ 0 w 623"/>
                  <a:gd name="T19" fmla="*/ 0 h 354"/>
                  <a:gd name="T20" fmla="*/ 0 w 623"/>
                  <a:gd name="T21" fmla="*/ 0 h 354"/>
                  <a:gd name="T22" fmla="*/ 0 w 623"/>
                  <a:gd name="T23" fmla="*/ 0 h 3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3"/>
                  <a:gd name="T37" fmla="*/ 0 h 354"/>
                  <a:gd name="T38" fmla="*/ 623 w 623"/>
                  <a:gd name="T39" fmla="*/ 354 h 3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3" h="354">
                    <a:moveTo>
                      <a:pt x="5" y="0"/>
                    </a:moveTo>
                    <a:lnTo>
                      <a:pt x="6" y="19"/>
                    </a:lnTo>
                    <a:lnTo>
                      <a:pt x="614" y="354"/>
                    </a:lnTo>
                    <a:lnTo>
                      <a:pt x="623" y="335"/>
                    </a:lnTo>
                    <a:lnTo>
                      <a:pt x="16" y="0"/>
                    </a:lnTo>
                    <a:lnTo>
                      <a:pt x="17" y="19"/>
                    </a:lnTo>
                    <a:lnTo>
                      <a:pt x="16" y="0"/>
                    </a:lnTo>
                    <a:lnTo>
                      <a:pt x="8" y="0"/>
                    </a:lnTo>
                    <a:lnTo>
                      <a:pt x="2" y="5"/>
                    </a:lnTo>
                    <a:lnTo>
                      <a:pt x="0" y="13"/>
                    </a:lnTo>
                    <a:lnTo>
                      <a:pt x="6" y="19"/>
                    </a:lnTo>
                    <a:lnTo>
                      <a:pt x="5" y="0"/>
                    </a:lnTo>
                    <a:close/>
                  </a:path>
                </a:pathLst>
              </a:custGeom>
              <a:solidFill>
                <a:srgbClr val="000000"/>
              </a:solidFill>
              <a:ln w="9525">
                <a:noFill/>
                <a:round/>
                <a:headEnd/>
                <a:tailEnd/>
              </a:ln>
            </p:spPr>
            <p:txBody>
              <a:bodyPr/>
              <a:lstStyle/>
              <a:p>
                <a:endParaRPr lang="en-US"/>
              </a:p>
            </p:txBody>
          </p:sp>
          <p:sp>
            <p:nvSpPr>
              <p:cNvPr id="23632" name="Freeform 45"/>
              <p:cNvSpPr>
                <a:spLocks/>
              </p:cNvSpPr>
              <p:nvPr/>
            </p:nvSpPr>
            <p:spPr bwMode="auto">
              <a:xfrm>
                <a:off x="1555" y="3605"/>
                <a:ext cx="285" cy="343"/>
              </a:xfrm>
              <a:custGeom>
                <a:avLst/>
                <a:gdLst>
                  <a:gd name="T0" fmla="*/ 0 w 570"/>
                  <a:gd name="T1" fmla="*/ 0 h 685"/>
                  <a:gd name="T2" fmla="*/ 0 w 570"/>
                  <a:gd name="T3" fmla="*/ 1 h 685"/>
                  <a:gd name="T4" fmla="*/ 1 w 570"/>
                  <a:gd name="T5" fmla="*/ 1 h 685"/>
                  <a:gd name="T6" fmla="*/ 1 w 570"/>
                  <a:gd name="T7" fmla="*/ 1 h 685"/>
                  <a:gd name="T8" fmla="*/ 0 w 570"/>
                  <a:gd name="T9" fmla="*/ 0 h 685"/>
                  <a:gd name="T10" fmla="*/ 0 60000 65536"/>
                  <a:gd name="T11" fmla="*/ 0 60000 65536"/>
                  <a:gd name="T12" fmla="*/ 0 60000 65536"/>
                  <a:gd name="T13" fmla="*/ 0 60000 65536"/>
                  <a:gd name="T14" fmla="*/ 0 60000 65536"/>
                  <a:gd name="T15" fmla="*/ 0 w 570"/>
                  <a:gd name="T16" fmla="*/ 0 h 685"/>
                  <a:gd name="T17" fmla="*/ 570 w 570"/>
                  <a:gd name="T18" fmla="*/ 685 h 685"/>
                </a:gdLst>
                <a:ahLst/>
                <a:cxnLst>
                  <a:cxn ang="T10">
                    <a:pos x="T0" y="T1"/>
                  </a:cxn>
                  <a:cxn ang="T11">
                    <a:pos x="T2" y="T3"/>
                  </a:cxn>
                  <a:cxn ang="T12">
                    <a:pos x="T4" y="T5"/>
                  </a:cxn>
                  <a:cxn ang="T13">
                    <a:pos x="T6" y="T7"/>
                  </a:cxn>
                  <a:cxn ang="T14">
                    <a:pos x="T8" y="T9"/>
                  </a:cxn>
                </a:cxnLst>
                <a:rect l="T15" t="T16" r="T17" b="T18"/>
                <a:pathLst>
                  <a:path w="570" h="685">
                    <a:moveTo>
                      <a:pt x="0" y="0"/>
                    </a:moveTo>
                    <a:lnTo>
                      <a:pt x="0" y="364"/>
                    </a:lnTo>
                    <a:lnTo>
                      <a:pt x="570" y="685"/>
                    </a:lnTo>
                    <a:lnTo>
                      <a:pt x="570" y="320"/>
                    </a:lnTo>
                    <a:lnTo>
                      <a:pt x="0" y="0"/>
                    </a:lnTo>
                    <a:close/>
                  </a:path>
                </a:pathLst>
              </a:custGeom>
              <a:solidFill>
                <a:srgbClr val="8CFF00"/>
              </a:solidFill>
              <a:ln w="9525">
                <a:noFill/>
                <a:round/>
                <a:headEnd/>
                <a:tailEnd/>
              </a:ln>
            </p:spPr>
            <p:txBody>
              <a:bodyPr/>
              <a:lstStyle/>
              <a:p>
                <a:endParaRPr lang="en-US"/>
              </a:p>
            </p:txBody>
          </p:sp>
          <p:sp>
            <p:nvSpPr>
              <p:cNvPr id="23633" name="Freeform 46"/>
              <p:cNvSpPr>
                <a:spLocks/>
              </p:cNvSpPr>
              <p:nvPr/>
            </p:nvSpPr>
            <p:spPr bwMode="auto">
              <a:xfrm>
                <a:off x="1549" y="3605"/>
                <a:ext cx="11" cy="188"/>
              </a:xfrm>
              <a:custGeom>
                <a:avLst/>
                <a:gdLst>
                  <a:gd name="T0" fmla="*/ 1 w 22"/>
                  <a:gd name="T1" fmla="*/ 1 h 375"/>
                  <a:gd name="T2" fmla="*/ 1 w 22"/>
                  <a:gd name="T3" fmla="*/ 1 h 375"/>
                  <a:gd name="T4" fmla="*/ 1 w 22"/>
                  <a:gd name="T5" fmla="*/ 0 h 375"/>
                  <a:gd name="T6" fmla="*/ 0 w 22"/>
                  <a:gd name="T7" fmla="*/ 0 h 375"/>
                  <a:gd name="T8" fmla="*/ 0 w 22"/>
                  <a:gd name="T9" fmla="*/ 1 h 375"/>
                  <a:gd name="T10" fmla="*/ 1 w 22"/>
                  <a:gd name="T11" fmla="*/ 1 h 375"/>
                  <a:gd name="T12" fmla="*/ 0 w 22"/>
                  <a:gd name="T13" fmla="*/ 1 h 375"/>
                  <a:gd name="T14" fmla="*/ 1 w 22"/>
                  <a:gd name="T15" fmla="*/ 1 h 375"/>
                  <a:gd name="T16" fmla="*/ 1 w 22"/>
                  <a:gd name="T17" fmla="*/ 1 h 375"/>
                  <a:gd name="T18" fmla="*/ 1 w 22"/>
                  <a:gd name="T19" fmla="*/ 1 h 375"/>
                  <a:gd name="T20" fmla="*/ 1 w 22"/>
                  <a:gd name="T21" fmla="*/ 1 h 375"/>
                  <a:gd name="T22" fmla="*/ 1 w 22"/>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5"/>
                  <a:gd name="T38" fmla="*/ 22 w 22"/>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5">
                    <a:moveTo>
                      <a:pt x="15" y="355"/>
                    </a:moveTo>
                    <a:lnTo>
                      <a:pt x="22" y="364"/>
                    </a:lnTo>
                    <a:lnTo>
                      <a:pt x="22" y="0"/>
                    </a:lnTo>
                    <a:lnTo>
                      <a:pt x="0" y="0"/>
                    </a:lnTo>
                    <a:lnTo>
                      <a:pt x="0" y="364"/>
                    </a:lnTo>
                    <a:lnTo>
                      <a:pt x="6" y="374"/>
                    </a:lnTo>
                    <a:lnTo>
                      <a:pt x="0" y="364"/>
                    </a:lnTo>
                    <a:lnTo>
                      <a:pt x="3" y="372"/>
                    </a:lnTo>
                    <a:lnTo>
                      <a:pt x="11" y="375"/>
                    </a:lnTo>
                    <a:lnTo>
                      <a:pt x="18" y="372"/>
                    </a:lnTo>
                    <a:lnTo>
                      <a:pt x="22" y="364"/>
                    </a:lnTo>
                    <a:lnTo>
                      <a:pt x="15" y="355"/>
                    </a:lnTo>
                    <a:close/>
                  </a:path>
                </a:pathLst>
              </a:custGeom>
              <a:solidFill>
                <a:srgbClr val="000000"/>
              </a:solidFill>
              <a:ln w="9525">
                <a:noFill/>
                <a:round/>
                <a:headEnd/>
                <a:tailEnd/>
              </a:ln>
            </p:spPr>
            <p:txBody>
              <a:bodyPr/>
              <a:lstStyle/>
              <a:p>
                <a:endParaRPr lang="en-US"/>
              </a:p>
            </p:txBody>
          </p:sp>
          <p:sp>
            <p:nvSpPr>
              <p:cNvPr id="23634" name="Freeform 47"/>
              <p:cNvSpPr>
                <a:spLocks/>
              </p:cNvSpPr>
              <p:nvPr/>
            </p:nvSpPr>
            <p:spPr bwMode="auto">
              <a:xfrm>
                <a:off x="1552" y="3783"/>
                <a:ext cx="293" cy="170"/>
              </a:xfrm>
              <a:custGeom>
                <a:avLst/>
                <a:gdLst>
                  <a:gd name="T0" fmla="*/ 1 w 585"/>
                  <a:gd name="T1" fmla="*/ 1 h 339"/>
                  <a:gd name="T2" fmla="*/ 1 w 585"/>
                  <a:gd name="T3" fmla="*/ 1 h 339"/>
                  <a:gd name="T4" fmla="*/ 1 w 585"/>
                  <a:gd name="T5" fmla="*/ 0 h 339"/>
                  <a:gd name="T6" fmla="*/ 0 w 585"/>
                  <a:gd name="T7" fmla="*/ 1 h 339"/>
                  <a:gd name="T8" fmla="*/ 1 w 585"/>
                  <a:gd name="T9" fmla="*/ 1 h 339"/>
                  <a:gd name="T10" fmla="*/ 1 w 585"/>
                  <a:gd name="T11" fmla="*/ 1 h 339"/>
                  <a:gd name="T12" fmla="*/ 1 w 585"/>
                  <a:gd name="T13" fmla="*/ 1 h 339"/>
                  <a:gd name="T14" fmla="*/ 1 w 585"/>
                  <a:gd name="T15" fmla="*/ 1 h 339"/>
                  <a:gd name="T16" fmla="*/ 1 w 585"/>
                  <a:gd name="T17" fmla="*/ 1 h 339"/>
                  <a:gd name="T18" fmla="*/ 1 w 585"/>
                  <a:gd name="T19" fmla="*/ 1 h 339"/>
                  <a:gd name="T20" fmla="*/ 1 w 585"/>
                  <a:gd name="T21" fmla="*/ 1 h 339"/>
                  <a:gd name="T22" fmla="*/ 1 w 585"/>
                  <a:gd name="T23" fmla="*/ 1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39"/>
                  <a:gd name="T38" fmla="*/ 585 w 585"/>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39">
                    <a:moveTo>
                      <a:pt x="564" y="330"/>
                    </a:moveTo>
                    <a:lnTo>
                      <a:pt x="579" y="321"/>
                    </a:lnTo>
                    <a:lnTo>
                      <a:pt x="9" y="0"/>
                    </a:lnTo>
                    <a:lnTo>
                      <a:pt x="0" y="19"/>
                    </a:lnTo>
                    <a:lnTo>
                      <a:pt x="570" y="339"/>
                    </a:lnTo>
                    <a:lnTo>
                      <a:pt x="585" y="330"/>
                    </a:lnTo>
                    <a:lnTo>
                      <a:pt x="570" y="339"/>
                    </a:lnTo>
                    <a:lnTo>
                      <a:pt x="578" y="339"/>
                    </a:lnTo>
                    <a:lnTo>
                      <a:pt x="584" y="335"/>
                    </a:lnTo>
                    <a:lnTo>
                      <a:pt x="585" y="327"/>
                    </a:lnTo>
                    <a:lnTo>
                      <a:pt x="579" y="321"/>
                    </a:lnTo>
                    <a:lnTo>
                      <a:pt x="564" y="330"/>
                    </a:lnTo>
                    <a:close/>
                  </a:path>
                </a:pathLst>
              </a:custGeom>
              <a:solidFill>
                <a:srgbClr val="000000"/>
              </a:solidFill>
              <a:ln w="9525">
                <a:noFill/>
                <a:round/>
                <a:headEnd/>
                <a:tailEnd/>
              </a:ln>
            </p:spPr>
            <p:txBody>
              <a:bodyPr/>
              <a:lstStyle/>
              <a:p>
                <a:endParaRPr lang="en-US"/>
              </a:p>
            </p:txBody>
          </p:sp>
          <p:sp>
            <p:nvSpPr>
              <p:cNvPr id="23635" name="Freeform 48"/>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6" y="20"/>
                    </a:moveTo>
                    <a:lnTo>
                      <a:pt x="0" y="10"/>
                    </a:lnTo>
                    <a:lnTo>
                      <a:pt x="0" y="375"/>
                    </a:lnTo>
                    <a:lnTo>
                      <a:pt x="21" y="375"/>
                    </a:lnTo>
                    <a:lnTo>
                      <a:pt x="21" y="10"/>
                    </a:lnTo>
                    <a:lnTo>
                      <a:pt x="15" y="1"/>
                    </a:lnTo>
                    <a:lnTo>
                      <a:pt x="21" y="10"/>
                    </a:lnTo>
                    <a:lnTo>
                      <a:pt x="18" y="3"/>
                    </a:lnTo>
                    <a:lnTo>
                      <a:pt x="11" y="0"/>
                    </a:lnTo>
                    <a:lnTo>
                      <a:pt x="3" y="3"/>
                    </a:lnTo>
                    <a:lnTo>
                      <a:pt x="0" y="10"/>
                    </a:lnTo>
                    <a:lnTo>
                      <a:pt x="6" y="20"/>
                    </a:lnTo>
                    <a:close/>
                  </a:path>
                </a:pathLst>
              </a:custGeom>
              <a:solidFill>
                <a:srgbClr val="000000"/>
              </a:solidFill>
              <a:ln w="9525">
                <a:noFill/>
                <a:round/>
                <a:headEnd/>
                <a:tailEnd/>
              </a:ln>
            </p:spPr>
            <p:txBody>
              <a:bodyPr/>
              <a:lstStyle/>
              <a:p>
                <a:endParaRPr lang="en-US"/>
              </a:p>
            </p:txBody>
          </p:sp>
          <p:sp>
            <p:nvSpPr>
              <p:cNvPr id="23636" name="Freeform 49"/>
              <p:cNvSpPr>
                <a:spLocks/>
              </p:cNvSpPr>
              <p:nvPr/>
            </p:nvSpPr>
            <p:spPr bwMode="auto">
              <a:xfrm>
                <a:off x="1549" y="3601"/>
                <a:ext cx="293" cy="169"/>
              </a:xfrm>
              <a:custGeom>
                <a:avLst/>
                <a:gdLst>
                  <a:gd name="T0" fmla="*/ 1 w 585"/>
                  <a:gd name="T1" fmla="*/ 0 h 340"/>
                  <a:gd name="T2" fmla="*/ 1 w 585"/>
                  <a:gd name="T3" fmla="*/ 0 h 340"/>
                  <a:gd name="T4" fmla="*/ 1 w 585"/>
                  <a:gd name="T5" fmla="*/ 0 h 340"/>
                  <a:gd name="T6" fmla="*/ 1 w 585"/>
                  <a:gd name="T7" fmla="*/ 0 h 340"/>
                  <a:gd name="T8" fmla="*/ 1 w 585"/>
                  <a:gd name="T9" fmla="*/ 0 h 340"/>
                  <a:gd name="T10" fmla="*/ 0 w 585"/>
                  <a:gd name="T11" fmla="*/ 0 h 340"/>
                  <a:gd name="T12" fmla="*/ 1 w 585"/>
                  <a:gd name="T13" fmla="*/ 0 h 340"/>
                  <a:gd name="T14" fmla="*/ 1 w 585"/>
                  <a:gd name="T15" fmla="*/ 0 h 340"/>
                  <a:gd name="T16" fmla="*/ 1 w 585"/>
                  <a:gd name="T17" fmla="*/ 0 h 340"/>
                  <a:gd name="T18" fmla="*/ 0 w 585"/>
                  <a:gd name="T19" fmla="*/ 0 h 340"/>
                  <a:gd name="T20" fmla="*/ 1 w 585"/>
                  <a:gd name="T21" fmla="*/ 0 h 340"/>
                  <a:gd name="T22" fmla="*/ 1 w 585"/>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40"/>
                  <a:gd name="T38" fmla="*/ 585 w 585"/>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40">
                    <a:moveTo>
                      <a:pt x="22" y="10"/>
                    </a:moveTo>
                    <a:lnTo>
                      <a:pt x="6" y="19"/>
                    </a:lnTo>
                    <a:lnTo>
                      <a:pt x="576" y="340"/>
                    </a:lnTo>
                    <a:lnTo>
                      <a:pt x="585" y="321"/>
                    </a:lnTo>
                    <a:lnTo>
                      <a:pt x="15" y="0"/>
                    </a:lnTo>
                    <a:lnTo>
                      <a:pt x="0" y="10"/>
                    </a:lnTo>
                    <a:lnTo>
                      <a:pt x="15" y="0"/>
                    </a:lnTo>
                    <a:lnTo>
                      <a:pt x="7" y="0"/>
                    </a:lnTo>
                    <a:lnTo>
                      <a:pt x="1"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3637" name="Freeform 50"/>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close/>
                  </a:path>
                </a:pathLst>
              </a:custGeom>
              <a:solidFill>
                <a:srgbClr val="8CFF00"/>
              </a:solidFill>
              <a:ln w="9525">
                <a:noFill/>
                <a:round/>
                <a:headEnd/>
                <a:tailEnd/>
              </a:ln>
            </p:spPr>
            <p:txBody>
              <a:bodyPr/>
              <a:lstStyle/>
              <a:p>
                <a:endParaRPr lang="en-US"/>
              </a:p>
            </p:txBody>
          </p:sp>
          <p:sp>
            <p:nvSpPr>
              <p:cNvPr id="23638" name="Freeform 51"/>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path>
                </a:pathLst>
              </a:custGeom>
              <a:noFill/>
              <a:ln w="0">
                <a:solidFill>
                  <a:srgbClr val="000000"/>
                </a:solidFill>
                <a:round/>
                <a:headEnd/>
                <a:tailEnd/>
              </a:ln>
            </p:spPr>
            <p:txBody>
              <a:bodyPr/>
              <a:lstStyle/>
              <a:p>
                <a:endParaRPr lang="en-US"/>
              </a:p>
            </p:txBody>
          </p:sp>
          <p:sp>
            <p:nvSpPr>
              <p:cNvPr id="23639" name="Freeform 52"/>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close/>
                  </a:path>
                </a:pathLst>
              </a:custGeom>
              <a:solidFill>
                <a:srgbClr val="4CFF00"/>
              </a:solidFill>
              <a:ln w="9525">
                <a:noFill/>
                <a:round/>
                <a:headEnd/>
                <a:tailEnd/>
              </a:ln>
            </p:spPr>
            <p:txBody>
              <a:bodyPr/>
              <a:lstStyle/>
              <a:p>
                <a:endParaRPr lang="en-US"/>
              </a:p>
            </p:txBody>
          </p:sp>
          <p:sp>
            <p:nvSpPr>
              <p:cNvPr id="23640" name="Freeform 53"/>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path>
                </a:pathLst>
              </a:custGeom>
              <a:noFill/>
              <a:ln w="0">
                <a:solidFill>
                  <a:srgbClr val="000000"/>
                </a:solidFill>
                <a:round/>
                <a:headEnd/>
                <a:tailEnd/>
              </a:ln>
            </p:spPr>
            <p:txBody>
              <a:bodyPr/>
              <a:lstStyle/>
              <a:p>
                <a:endParaRPr lang="en-US"/>
              </a:p>
            </p:txBody>
          </p:sp>
          <p:sp>
            <p:nvSpPr>
              <p:cNvPr id="23641" name="Freeform 54"/>
              <p:cNvSpPr>
                <a:spLocks/>
              </p:cNvSpPr>
              <p:nvPr/>
            </p:nvSpPr>
            <p:spPr bwMode="auto">
              <a:xfrm>
                <a:off x="1892" y="3496"/>
                <a:ext cx="154" cy="125"/>
              </a:xfrm>
              <a:custGeom>
                <a:avLst/>
                <a:gdLst>
                  <a:gd name="T0" fmla="*/ 0 w 309"/>
                  <a:gd name="T1" fmla="*/ 0 h 250"/>
                  <a:gd name="T2" fmla="*/ 0 w 309"/>
                  <a:gd name="T3" fmla="*/ 1 h 250"/>
                  <a:gd name="T4" fmla="*/ 0 w 309"/>
                  <a:gd name="T5" fmla="*/ 1 h 250"/>
                  <a:gd name="T6" fmla="*/ 0 w 309"/>
                  <a:gd name="T7" fmla="*/ 1 h 250"/>
                  <a:gd name="T8" fmla="*/ 0 w 309"/>
                  <a:gd name="T9" fmla="*/ 0 h 250"/>
                  <a:gd name="T10" fmla="*/ 0 60000 65536"/>
                  <a:gd name="T11" fmla="*/ 0 60000 65536"/>
                  <a:gd name="T12" fmla="*/ 0 60000 65536"/>
                  <a:gd name="T13" fmla="*/ 0 60000 65536"/>
                  <a:gd name="T14" fmla="*/ 0 60000 65536"/>
                  <a:gd name="T15" fmla="*/ 0 w 309"/>
                  <a:gd name="T16" fmla="*/ 0 h 250"/>
                  <a:gd name="T17" fmla="*/ 309 w 309"/>
                  <a:gd name="T18" fmla="*/ 250 h 250"/>
                </a:gdLst>
                <a:ahLst/>
                <a:cxnLst>
                  <a:cxn ang="T10">
                    <a:pos x="T0" y="T1"/>
                  </a:cxn>
                  <a:cxn ang="T11">
                    <a:pos x="T2" y="T3"/>
                  </a:cxn>
                  <a:cxn ang="T12">
                    <a:pos x="T4" y="T5"/>
                  </a:cxn>
                  <a:cxn ang="T13">
                    <a:pos x="T6" y="T7"/>
                  </a:cxn>
                  <a:cxn ang="T14">
                    <a:pos x="T8" y="T9"/>
                  </a:cxn>
                </a:cxnLst>
                <a:rect l="T15" t="T16" r="T17" b="T18"/>
                <a:pathLst>
                  <a:path w="309" h="250">
                    <a:moveTo>
                      <a:pt x="309" y="0"/>
                    </a:moveTo>
                    <a:lnTo>
                      <a:pt x="309" y="64"/>
                    </a:lnTo>
                    <a:lnTo>
                      <a:pt x="0" y="250"/>
                    </a:lnTo>
                    <a:lnTo>
                      <a:pt x="0" y="186"/>
                    </a:lnTo>
                    <a:lnTo>
                      <a:pt x="309" y="0"/>
                    </a:lnTo>
                    <a:close/>
                  </a:path>
                </a:pathLst>
              </a:custGeom>
              <a:solidFill>
                <a:srgbClr val="007FFF"/>
              </a:solidFill>
              <a:ln w="9525">
                <a:noFill/>
                <a:round/>
                <a:headEnd/>
                <a:tailEnd/>
              </a:ln>
            </p:spPr>
            <p:txBody>
              <a:bodyPr/>
              <a:lstStyle/>
              <a:p>
                <a:endParaRPr lang="en-US"/>
              </a:p>
            </p:txBody>
          </p:sp>
          <p:sp>
            <p:nvSpPr>
              <p:cNvPr id="23642" name="Freeform 55"/>
              <p:cNvSpPr>
                <a:spLocks/>
              </p:cNvSpPr>
              <p:nvPr/>
            </p:nvSpPr>
            <p:spPr bwMode="auto">
              <a:xfrm>
                <a:off x="2041" y="3496"/>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7" y="73"/>
                    </a:moveTo>
                    <a:lnTo>
                      <a:pt x="22" y="64"/>
                    </a:lnTo>
                    <a:lnTo>
                      <a:pt x="22" y="0"/>
                    </a:lnTo>
                    <a:lnTo>
                      <a:pt x="0" y="0"/>
                    </a:lnTo>
                    <a:lnTo>
                      <a:pt x="0" y="64"/>
                    </a:lnTo>
                    <a:lnTo>
                      <a:pt x="5" y="54"/>
                    </a:lnTo>
                    <a:lnTo>
                      <a:pt x="0" y="64"/>
                    </a:lnTo>
                    <a:lnTo>
                      <a:pt x="3" y="72"/>
                    </a:lnTo>
                    <a:lnTo>
                      <a:pt x="11" y="75"/>
                    </a:lnTo>
                    <a:lnTo>
                      <a:pt x="19" y="72"/>
                    </a:lnTo>
                    <a:lnTo>
                      <a:pt x="22" y="64"/>
                    </a:lnTo>
                    <a:lnTo>
                      <a:pt x="17" y="73"/>
                    </a:lnTo>
                    <a:close/>
                  </a:path>
                </a:pathLst>
              </a:custGeom>
              <a:solidFill>
                <a:srgbClr val="000000"/>
              </a:solidFill>
              <a:ln w="9525">
                <a:noFill/>
                <a:round/>
                <a:headEnd/>
                <a:tailEnd/>
              </a:ln>
            </p:spPr>
            <p:txBody>
              <a:bodyPr/>
              <a:lstStyle/>
              <a:p>
                <a:endParaRPr lang="en-US"/>
              </a:p>
            </p:txBody>
          </p:sp>
          <p:sp>
            <p:nvSpPr>
              <p:cNvPr id="23643" name="Freeform 56"/>
              <p:cNvSpPr>
                <a:spLocks/>
              </p:cNvSpPr>
              <p:nvPr/>
            </p:nvSpPr>
            <p:spPr bwMode="auto">
              <a:xfrm>
                <a:off x="1887" y="3523"/>
                <a:ext cx="163" cy="103"/>
              </a:xfrm>
              <a:custGeom>
                <a:avLst/>
                <a:gdLst>
                  <a:gd name="T0" fmla="*/ 0 w 326"/>
                  <a:gd name="T1" fmla="*/ 0 h 207"/>
                  <a:gd name="T2" fmla="*/ 1 w 326"/>
                  <a:gd name="T3" fmla="*/ 0 h 207"/>
                  <a:gd name="T4" fmla="*/ 1 w 326"/>
                  <a:gd name="T5" fmla="*/ 0 h 207"/>
                  <a:gd name="T6" fmla="*/ 1 w 326"/>
                  <a:gd name="T7" fmla="*/ 0 h 207"/>
                  <a:gd name="T8" fmla="*/ 1 w 326"/>
                  <a:gd name="T9" fmla="*/ 0 h 207"/>
                  <a:gd name="T10" fmla="*/ 1 w 326"/>
                  <a:gd name="T11" fmla="*/ 0 h 207"/>
                  <a:gd name="T12" fmla="*/ 1 w 326"/>
                  <a:gd name="T13" fmla="*/ 0 h 207"/>
                  <a:gd name="T14" fmla="*/ 0 w 326"/>
                  <a:gd name="T15" fmla="*/ 0 h 207"/>
                  <a:gd name="T16" fmla="*/ 1 w 326"/>
                  <a:gd name="T17" fmla="*/ 0 h 207"/>
                  <a:gd name="T18" fmla="*/ 1 w 326"/>
                  <a:gd name="T19" fmla="*/ 0 h 207"/>
                  <a:gd name="T20" fmla="*/ 1 w 326"/>
                  <a:gd name="T21" fmla="*/ 0 h 207"/>
                  <a:gd name="T22" fmla="*/ 0 w 326"/>
                  <a:gd name="T23" fmla="*/ 0 h 2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7"/>
                  <a:gd name="T38" fmla="*/ 326 w 326"/>
                  <a:gd name="T39" fmla="*/ 207 h 2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7">
                    <a:moveTo>
                      <a:pt x="0" y="196"/>
                    </a:moveTo>
                    <a:lnTo>
                      <a:pt x="18" y="205"/>
                    </a:lnTo>
                    <a:lnTo>
                      <a:pt x="326" y="19"/>
                    </a:lnTo>
                    <a:lnTo>
                      <a:pt x="314" y="0"/>
                    </a:lnTo>
                    <a:lnTo>
                      <a:pt x="5" y="187"/>
                    </a:lnTo>
                    <a:lnTo>
                      <a:pt x="22" y="196"/>
                    </a:lnTo>
                    <a:lnTo>
                      <a:pt x="5" y="187"/>
                    </a:lnTo>
                    <a:lnTo>
                      <a:pt x="0" y="194"/>
                    </a:lnTo>
                    <a:lnTo>
                      <a:pt x="2" y="202"/>
                    </a:lnTo>
                    <a:lnTo>
                      <a:pt x="8" y="207"/>
                    </a:lnTo>
                    <a:lnTo>
                      <a:pt x="18" y="205"/>
                    </a:lnTo>
                    <a:lnTo>
                      <a:pt x="0" y="196"/>
                    </a:lnTo>
                    <a:close/>
                  </a:path>
                </a:pathLst>
              </a:custGeom>
              <a:solidFill>
                <a:srgbClr val="000000"/>
              </a:solidFill>
              <a:ln w="9525">
                <a:noFill/>
                <a:round/>
                <a:headEnd/>
                <a:tailEnd/>
              </a:ln>
            </p:spPr>
            <p:txBody>
              <a:bodyPr/>
              <a:lstStyle/>
              <a:p>
                <a:endParaRPr lang="en-US"/>
              </a:p>
            </p:txBody>
          </p:sp>
          <p:sp>
            <p:nvSpPr>
              <p:cNvPr id="23644" name="Freeform 57"/>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5" y="1"/>
                    </a:moveTo>
                    <a:lnTo>
                      <a:pt x="0" y="11"/>
                    </a:lnTo>
                    <a:lnTo>
                      <a:pt x="0" y="75"/>
                    </a:lnTo>
                    <a:lnTo>
                      <a:pt x="22" y="75"/>
                    </a:lnTo>
                    <a:lnTo>
                      <a:pt x="22" y="11"/>
                    </a:lnTo>
                    <a:lnTo>
                      <a:pt x="18" y="20"/>
                    </a:lnTo>
                    <a:lnTo>
                      <a:pt x="22" y="11"/>
                    </a:lnTo>
                    <a:lnTo>
                      <a:pt x="19" y="3"/>
                    </a:lnTo>
                    <a:lnTo>
                      <a:pt x="11" y="0"/>
                    </a:lnTo>
                    <a:lnTo>
                      <a:pt x="4" y="3"/>
                    </a:lnTo>
                    <a:lnTo>
                      <a:pt x="0" y="11"/>
                    </a:lnTo>
                    <a:lnTo>
                      <a:pt x="5" y="1"/>
                    </a:lnTo>
                    <a:close/>
                  </a:path>
                </a:pathLst>
              </a:custGeom>
              <a:solidFill>
                <a:srgbClr val="000000"/>
              </a:solidFill>
              <a:ln w="9525">
                <a:noFill/>
                <a:round/>
                <a:headEnd/>
                <a:tailEnd/>
              </a:ln>
            </p:spPr>
            <p:txBody>
              <a:bodyPr/>
              <a:lstStyle/>
              <a:p>
                <a:endParaRPr lang="en-US"/>
              </a:p>
            </p:txBody>
          </p:sp>
          <p:sp>
            <p:nvSpPr>
              <p:cNvPr id="23645" name="Freeform 58"/>
              <p:cNvSpPr>
                <a:spLocks/>
              </p:cNvSpPr>
              <p:nvPr/>
            </p:nvSpPr>
            <p:spPr bwMode="auto">
              <a:xfrm>
                <a:off x="1889" y="3490"/>
                <a:ext cx="163" cy="104"/>
              </a:xfrm>
              <a:custGeom>
                <a:avLst/>
                <a:gdLst>
                  <a:gd name="T0" fmla="*/ 1 w 326"/>
                  <a:gd name="T1" fmla="*/ 1 h 206"/>
                  <a:gd name="T2" fmla="*/ 1 w 326"/>
                  <a:gd name="T3" fmla="*/ 1 h 206"/>
                  <a:gd name="T4" fmla="*/ 0 w 326"/>
                  <a:gd name="T5" fmla="*/ 1 h 206"/>
                  <a:gd name="T6" fmla="*/ 1 w 326"/>
                  <a:gd name="T7" fmla="*/ 1 h 206"/>
                  <a:gd name="T8" fmla="*/ 1 w 326"/>
                  <a:gd name="T9" fmla="*/ 1 h 206"/>
                  <a:gd name="T10" fmla="*/ 1 w 326"/>
                  <a:gd name="T11" fmla="*/ 1 h 206"/>
                  <a:gd name="T12" fmla="*/ 1 w 326"/>
                  <a:gd name="T13" fmla="*/ 1 h 206"/>
                  <a:gd name="T14" fmla="*/ 1 w 326"/>
                  <a:gd name="T15" fmla="*/ 1 h 206"/>
                  <a:gd name="T16" fmla="*/ 1 w 326"/>
                  <a:gd name="T17" fmla="*/ 1 h 206"/>
                  <a:gd name="T18" fmla="*/ 1 w 326"/>
                  <a:gd name="T19" fmla="*/ 0 h 206"/>
                  <a:gd name="T20" fmla="*/ 1 w 326"/>
                  <a:gd name="T21" fmla="*/ 1 h 206"/>
                  <a:gd name="T22" fmla="*/ 1 w 326"/>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6"/>
                  <a:gd name="T38" fmla="*/ 326 w 326"/>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6">
                    <a:moveTo>
                      <a:pt x="326" y="11"/>
                    </a:moveTo>
                    <a:lnTo>
                      <a:pt x="309" y="1"/>
                    </a:lnTo>
                    <a:lnTo>
                      <a:pt x="0" y="187"/>
                    </a:lnTo>
                    <a:lnTo>
                      <a:pt x="13" y="206"/>
                    </a:lnTo>
                    <a:lnTo>
                      <a:pt x="321" y="20"/>
                    </a:lnTo>
                    <a:lnTo>
                      <a:pt x="304" y="11"/>
                    </a:lnTo>
                    <a:lnTo>
                      <a:pt x="321" y="20"/>
                    </a:lnTo>
                    <a:lnTo>
                      <a:pt x="326" y="12"/>
                    </a:lnTo>
                    <a:lnTo>
                      <a:pt x="324" y="4"/>
                    </a:lnTo>
                    <a:lnTo>
                      <a:pt x="318" y="0"/>
                    </a:lnTo>
                    <a:lnTo>
                      <a:pt x="309" y="1"/>
                    </a:lnTo>
                    <a:lnTo>
                      <a:pt x="326" y="11"/>
                    </a:lnTo>
                    <a:close/>
                  </a:path>
                </a:pathLst>
              </a:custGeom>
              <a:solidFill>
                <a:srgbClr val="000000"/>
              </a:solidFill>
              <a:ln w="9525">
                <a:noFill/>
                <a:round/>
                <a:headEnd/>
                <a:tailEnd/>
              </a:ln>
            </p:spPr>
            <p:txBody>
              <a:bodyPr/>
              <a:lstStyle/>
              <a:p>
                <a:endParaRPr lang="en-US"/>
              </a:p>
            </p:txBody>
          </p:sp>
          <p:sp>
            <p:nvSpPr>
              <p:cNvPr id="23646" name="Freeform 59"/>
              <p:cNvSpPr>
                <a:spLocks/>
              </p:cNvSpPr>
              <p:nvPr/>
            </p:nvSpPr>
            <p:spPr bwMode="auto">
              <a:xfrm>
                <a:off x="1765" y="3521"/>
                <a:ext cx="127" cy="100"/>
              </a:xfrm>
              <a:custGeom>
                <a:avLst/>
                <a:gdLst>
                  <a:gd name="T0" fmla="*/ 0 w 255"/>
                  <a:gd name="T1" fmla="*/ 0 h 200"/>
                  <a:gd name="T2" fmla="*/ 0 w 255"/>
                  <a:gd name="T3" fmla="*/ 1 h 200"/>
                  <a:gd name="T4" fmla="*/ 0 w 255"/>
                  <a:gd name="T5" fmla="*/ 1 h 200"/>
                  <a:gd name="T6" fmla="*/ 0 w 255"/>
                  <a:gd name="T7" fmla="*/ 1 h 200"/>
                  <a:gd name="T8" fmla="*/ 0 w 255"/>
                  <a:gd name="T9" fmla="*/ 0 h 200"/>
                  <a:gd name="T10" fmla="*/ 0 60000 65536"/>
                  <a:gd name="T11" fmla="*/ 0 60000 65536"/>
                  <a:gd name="T12" fmla="*/ 0 60000 65536"/>
                  <a:gd name="T13" fmla="*/ 0 60000 65536"/>
                  <a:gd name="T14" fmla="*/ 0 60000 65536"/>
                  <a:gd name="T15" fmla="*/ 0 w 255"/>
                  <a:gd name="T16" fmla="*/ 0 h 200"/>
                  <a:gd name="T17" fmla="*/ 255 w 255"/>
                  <a:gd name="T18" fmla="*/ 200 h 200"/>
                </a:gdLst>
                <a:ahLst/>
                <a:cxnLst>
                  <a:cxn ang="T10">
                    <a:pos x="T0" y="T1"/>
                  </a:cxn>
                  <a:cxn ang="T11">
                    <a:pos x="T2" y="T3"/>
                  </a:cxn>
                  <a:cxn ang="T12">
                    <a:pos x="T4" y="T5"/>
                  </a:cxn>
                  <a:cxn ang="T13">
                    <a:pos x="T6" y="T7"/>
                  </a:cxn>
                  <a:cxn ang="T14">
                    <a:pos x="T8" y="T9"/>
                  </a:cxn>
                </a:cxnLst>
                <a:rect l="T15" t="T16" r="T17" b="T18"/>
                <a:pathLst>
                  <a:path w="255" h="200">
                    <a:moveTo>
                      <a:pt x="0" y="0"/>
                    </a:moveTo>
                    <a:lnTo>
                      <a:pt x="0" y="64"/>
                    </a:lnTo>
                    <a:lnTo>
                      <a:pt x="255" y="200"/>
                    </a:lnTo>
                    <a:lnTo>
                      <a:pt x="255" y="136"/>
                    </a:lnTo>
                    <a:lnTo>
                      <a:pt x="0" y="0"/>
                    </a:lnTo>
                    <a:close/>
                  </a:path>
                </a:pathLst>
              </a:custGeom>
              <a:solidFill>
                <a:srgbClr val="4CB2FF"/>
              </a:solidFill>
              <a:ln w="9525">
                <a:noFill/>
                <a:round/>
                <a:headEnd/>
                <a:tailEnd/>
              </a:ln>
            </p:spPr>
            <p:txBody>
              <a:bodyPr/>
              <a:lstStyle/>
              <a:p>
                <a:endParaRPr lang="en-US"/>
              </a:p>
            </p:txBody>
          </p:sp>
          <p:sp>
            <p:nvSpPr>
              <p:cNvPr id="23647" name="Freeform 60"/>
              <p:cNvSpPr>
                <a:spLocks/>
              </p:cNvSpPr>
              <p:nvPr/>
            </p:nvSpPr>
            <p:spPr bwMode="auto">
              <a:xfrm>
                <a:off x="1759" y="3521"/>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6" y="55"/>
                    </a:moveTo>
                    <a:lnTo>
                      <a:pt x="22" y="64"/>
                    </a:lnTo>
                    <a:lnTo>
                      <a:pt x="22" y="0"/>
                    </a:lnTo>
                    <a:lnTo>
                      <a:pt x="0" y="0"/>
                    </a:lnTo>
                    <a:lnTo>
                      <a:pt x="0" y="64"/>
                    </a:lnTo>
                    <a:lnTo>
                      <a:pt x="7" y="73"/>
                    </a:lnTo>
                    <a:lnTo>
                      <a:pt x="0" y="64"/>
                    </a:lnTo>
                    <a:lnTo>
                      <a:pt x="3" y="72"/>
                    </a:lnTo>
                    <a:lnTo>
                      <a:pt x="11" y="75"/>
                    </a:lnTo>
                    <a:lnTo>
                      <a:pt x="19" y="72"/>
                    </a:lnTo>
                    <a:lnTo>
                      <a:pt x="22" y="64"/>
                    </a:lnTo>
                    <a:lnTo>
                      <a:pt x="16" y="55"/>
                    </a:lnTo>
                    <a:close/>
                  </a:path>
                </a:pathLst>
              </a:custGeom>
              <a:solidFill>
                <a:srgbClr val="000000"/>
              </a:solidFill>
              <a:ln w="9525">
                <a:noFill/>
                <a:round/>
                <a:headEnd/>
                <a:tailEnd/>
              </a:ln>
            </p:spPr>
            <p:txBody>
              <a:bodyPr/>
              <a:lstStyle/>
              <a:p>
                <a:endParaRPr lang="en-US"/>
              </a:p>
            </p:txBody>
          </p:sp>
          <p:sp>
            <p:nvSpPr>
              <p:cNvPr id="23648" name="Freeform 61"/>
              <p:cNvSpPr>
                <a:spLocks/>
              </p:cNvSpPr>
              <p:nvPr/>
            </p:nvSpPr>
            <p:spPr bwMode="auto">
              <a:xfrm>
                <a:off x="1762" y="3548"/>
                <a:ext cx="136" cy="78"/>
              </a:xfrm>
              <a:custGeom>
                <a:avLst/>
                <a:gdLst>
                  <a:gd name="T0" fmla="*/ 1 w 270"/>
                  <a:gd name="T1" fmla="*/ 1 h 154"/>
                  <a:gd name="T2" fmla="*/ 1 w 270"/>
                  <a:gd name="T3" fmla="*/ 1 h 154"/>
                  <a:gd name="T4" fmla="*/ 1 w 270"/>
                  <a:gd name="T5" fmla="*/ 0 h 154"/>
                  <a:gd name="T6" fmla="*/ 0 w 270"/>
                  <a:gd name="T7" fmla="*/ 1 h 154"/>
                  <a:gd name="T8" fmla="*/ 1 w 270"/>
                  <a:gd name="T9" fmla="*/ 1 h 154"/>
                  <a:gd name="T10" fmla="*/ 1 w 270"/>
                  <a:gd name="T11" fmla="*/ 1 h 154"/>
                  <a:gd name="T12" fmla="*/ 1 w 270"/>
                  <a:gd name="T13" fmla="*/ 1 h 154"/>
                  <a:gd name="T14" fmla="*/ 1 w 270"/>
                  <a:gd name="T15" fmla="*/ 1 h 154"/>
                  <a:gd name="T16" fmla="*/ 1 w 270"/>
                  <a:gd name="T17" fmla="*/ 1 h 154"/>
                  <a:gd name="T18" fmla="*/ 1 w 270"/>
                  <a:gd name="T19" fmla="*/ 1 h 154"/>
                  <a:gd name="T20" fmla="*/ 1 w 270"/>
                  <a:gd name="T21" fmla="*/ 1 h 154"/>
                  <a:gd name="T22" fmla="*/ 1 w 270"/>
                  <a:gd name="T23" fmla="*/ 1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0"/>
                  <a:gd name="T37" fmla="*/ 0 h 154"/>
                  <a:gd name="T38" fmla="*/ 270 w 270"/>
                  <a:gd name="T39" fmla="*/ 154 h 1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0" h="154">
                    <a:moveTo>
                      <a:pt x="248" y="145"/>
                    </a:moveTo>
                    <a:lnTo>
                      <a:pt x="264" y="136"/>
                    </a:lnTo>
                    <a:lnTo>
                      <a:pt x="9" y="0"/>
                    </a:lnTo>
                    <a:lnTo>
                      <a:pt x="0" y="18"/>
                    </a:lnTo>
                    <a:lnTo>
                      <a:pt x="255" y="154"/>
                    </a:lnTo>
                    <a:lnTo>
                      <a:pt x="270" y="145"/>
                    </a:lnTo>
                    <a:lnTo>
                      <a:pt x="255" y="154"/>
                    </a:lnTo>
                    <a:lnTo>
                      <a:pt x="263" y="154"/>
                    </a:lnTo>
                    <a:lnTo>
                      <a:pt x="269" y="150"/>
                    </a:lnTo>
                    <a:lnTo>
                      <a:pt x="270" y="142"/>
                    </a:lnTo>
                    <a:lnTo>
                      <a:pt x="264" y="136"/>
                    </a:lnTo>
                    <a:lnTo>
                      <a:pt x="248" y="145"/>
                    </a:lnTo>
                    <a:close/>
                  </a:path>
                </a:pathLst>
              </a:custGeom>
              <a:solidFill>
                <a:srgbClr val="000000"/>
              </a:solidFill>
              <a:ln w="9525">
                <a:noFill/>
                <a:round/>
                <a:headEnd/>
                <a:tailEnd/>
              </a:ln>
            </p:spPr>
            <p:txBody>
              <a:bodyPr/>
              <a:lstStyle/>
              <a:p>
                <a:endParaRPr lang="en-US"/>
              </a:p>
            </p:txBody>
          </p:sp>
          <p:sp>
            <p:nvSpPr>
              <p:cNvPr id="23649" name="Freeform 62"/>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7" y="20"/>
                    </a:moveTo>
                    <a:lnTo>
                      <a:pt x="0" y="11"/>
                    </a:lnTo>
                    <a:lnTo>
                      <a:pt x="0" y="75"/>
                    </a:lnTo>
                    <a:lnTo>
                      <a:pt x="22" y="75"/>
                    </a:lnTo>
                    <a:lnTo>
                      <a:pt x="22" y="11"/>
                    </a:lnTo>
                    <a:lnTo>
                      <a:pt x="16" y="1"/>
                    </a:lnTo>
                    <a:lnTo>
                      <a:pt x="22" y="11"/>
                    </a:lnTo>
                    <a:lnTo>
                      <a:pt x="19" y="3"/>
                    </a:lnTo>
                    <a:lnTo>
                      <a:pt x="11" y="0"/>
                    </a:lnTo>
                    <a:lnTo>
                      <a:pt x="4" y="3"/>
                    </a:lnTo>
                    <a:lnTo>
                      <a:pt x="0" y="11"/>
                    </a:lnTo>
                    <a:lnTo>
                      <a:pt x="7" y="20"/>
                    </a:lnTo>
                    <a:close/>
                  </a:path>
                </a:pathLst>
              </a:custGeom>
              <a:solidFill>
                <a:srgbClr val="000000"/>
              </a:solidFill>
              <a:ln w="9525">
                <a:noFill/>
                <a:round/>
                <a:headEnd/>
                <a:tailEnd/>
              </a:ln>
            </p:spPr>
            <p:txBody>
              <a:bodyPr/>
              <a:lstStyle/>
              <a:p>
                <a:endParaRPr lang="en-US"/>
              </a:p>
            </p:txBody>
          </p:sp>
          <p:sp>
            <p:nvSpPr>
              <p:cNvPr id="23650" name="Freeform 63"/>
              <p:cNvSpPr>
                <a:spLocks/>
              </p:cNvSpPr>
              <p:nvPr/>
            </p:nvSpPr>
            <p:spPr bwMode="auto">
              <a:xfrm>
                <a:off x="1759" y="3516"/>
                <a:ext cx="136" cy="78"/>
              </a:xfrm>
              <a:custGeom>
                <a:avLst/>
                <a:gdLst>
                  <a:gd name="T0" fmla="*/ 1 w 271"/>
                  <a:gd name="T1" fmla="*/ 1 h 155"/>
                  <a:gd name="T2" fmla="*/ 1 w 271"/>
                  <a:gd name="T3" fmla="*/ 1 h 155"/>
                  <a:gd name="T4" fmla="*/ 1 w 271"/>
                  <a:gd name="T5" fmla="*/ 1 h 155"/>
                  <a:gd name="T6" fmla="*/ 1 w 271"/>
                  <a:gd name="T7" fmla="*/ 1 h 155"/>
                  <a:gd name="T8" fmla="*/ 1 w 271"/>
                  <a:gd name="T9" fmla="*/ 0 h 155"/>
                  <a:gd name="T10" fmla="*/ 0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1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22" y="10"/>
                    </a:moveTo>
                    <a:lnTo>
                      <a:pt x="7" y="19"/>
                    </a:lnTo>
                    <a:lnTo>
                      <a:pt x="262" y="155"/>
                    </a:lnTo>
                    <a:lnTo>
                      <a:pt x="271" y="136"/>
                    </a:lnTo>
                    <a:lnTo>
                      <a:pt x="16" y="0"/>
                    </a:lnTo>
                    <a:lnTo>
                      <a:pt x="0" y="10"/>
                    </a:lnTo>
                    <a:lnTo>
                      <a:pt x="16" y="0"/>
                    </a:lnTo>
                    <a:lnTo>
                      <a:pt x="8" y="0"/>
                    </a:lnTo>
                    <a:lnTo>
                      <a:pt x="2" y="5"/>
                    </a:lnTo>
                    <a:lnTo>
                      <a:pt x="0" y="13"/>
                    </a:lnTo>
                    <a:lnTo>
                      <a:pt x="7" y="19"/>
                    </a:lnTo>
                    <a:lnTo>
                      <a:pt x="22" y="10"/>
                    </a:lnTo>
                    <a:close/>
                  </a:path>
                </a:pathLst>
              </a:custGeom>
              <a:solidFill>
                <a:srgbClr val="000000"/>
              </a:solidFill>
              <a:ln w="9525">
                <a:noFill/>
                <a:round/>
                <a:headEnd/>
                <a:tailEnd/>
              </a:ln>
            </p:spPr>
            <p:txBody>
              <a:bodyPr/>
              <a:lstStyle/>
              <a:p>
                <a:endParaRPr lang="en-US"/>
              </a:p>
            </p:txBody>
          </p:sp>
          <p:sp>
            <p:nvSpPr>
              <p:cNvPr id="23651" name="Freeform 64"/>
              <p:cNvSpPr>
                <a:spLocks/>
              </p:cNvSpPr>
              <p:nvPr/>
            </p:nvSpPr>
            <p:spPr bwMode="auto">
              <a:xfrm>
                <a:off x="1765" y="3428"/>
                <a:ext cx="281" cy="161"/>
              </a:xfrm>
              <a:custGeom>
                <a:avLst/>
                <a:gdLst>
                  <a:gd name="T0" fmla="*/ 0 w 564"/>
                  <a:gd name="T1" fmla="*/ 1 h 322"/>
                  <a:gd name="T2" fmla="*/ 0 w 564"/>
                  <a:gd name="T3" fmla="*/ 0 h 322"/>
                  <a:gd name="T4" fmla="*/ 0 w 564"/>
                  <a:gd name="T5" fmla="*/ 1 h 322"/>
                  <a:gd name="T6" fmla="*/ 0 w 564"/>
                  <a:gd name="T7" fmla="*/ 1 h 322"/>
                  <a:gd name="T8" fmla="*/ 0 w 564"/>
                  <a:gd name="T9" fmla="*/ 1 h 322"/>
                  <a:gd name="T10" fmla="*/ 0 60000 65536"/>
                  <a:gd name="T11" fmla="*/ 0 60000 65536"/>
                  <a:gd name="T12" fmla="*/ 0 60000 65536"/>
                  <a:gd name="T13" fmla="*/ 0 60000 65536"/>
                  <a:gd name="T14" fmla="*/ 0 60000 65536"/>
                  <a:gd name="T15" fmla="*/ 0 w 564"/>
                  <a:gd name="T16" fmla="*/ 0 h 322"/>
                  <a:gd name="T17" fmla="*/ 564 w 564"/>
                  <a:gd name="T18" fmla="*/ 322 h 322"/>
                </a:gdLst>
                <a:ahLst/>
                <a:cxnLst>
                  <a:cxn ang="T10">
                    <a:pos x="T0" y="T1"/>
                  </a:cxn>
                  <a:cxn ang="T11">
                    <a:pos x="T2" y="T3"/>
                  </a:cxn>
                  <a:cxn ang="T12">
                    <a:pos x="T4" y="T5"/>
                  </a:cxn>
                  <a:cxn ang="T13">
                    <a:pos x="T6" y="T7"/>
                  </a:cxn>
                  <a:cxn ang="T14">
                    <a:pos x="T8" y="T9"/>
                  </a:cxn>
                </a:cxnLst>
                <a:rect l="T15" t="T16" r="T17" b="T18"/>
                <a:pathLst>
                  <a:path w="564" h="322">
                    <a:moveTo>
                      <a:pt x="0" y="186"/>
                    </a:moveTo>
                    <a:lnTo>
                      <a:pt x="310" y="0"/>
                    </a:lnTo>
                    <a:lnTo>
                      <a:pt x="564" y="137"/>
                    </a:lnTo>
                    <a:lnTo>
                      <a:pt x="255" y="322"/>
                    </a:lnTo>
                    <a:lnTo>
                      <a:pt x="0" y="186"/>
                    </a:lnTo>
                    <a:close/>
                  </a:path>
                </a:pathLst>
              </a:custGeom>
              <a:solidFill>
                <a:srgbClr val="99D8FF"/>
              </a:solidFill>
              <a:ln w="9525">
                <a:noFill/>
                <a:round/>
                <a:headEnd/>
                <a:tailEnd/>
              </a:ln>
            </p:spPr>
            <p:txBody>
              <a:bodyPr/>
              <a:lstStyle/>
              <a:p>
                <a:endParaRPr lang="en-US"/>
              </a:p>
            </p:txBody>
          </p:sp>
          <p:sp>
            <p:nvSpPr>
              <p:cNvPr id="23652" name="Freeform 65"/>
              <p:cNvSpPr>
                <a:spLocks/>
              </p:cNvSpPr>
              <p:nvPr/>
            </p:nvSpPr>
            <p:spPr bwMode="auto">
              <a:xfrm>
                <a:off x="1761" y="3422"/>
                <a:ext cx="164" cy="104"/>
              </a:xfrm>
              <a:custGeom>
                <a:avLst/>
                <a:gdLst>
                  <a:gd name="T0" fmla="*/ 1 w 327"/>
                  <a:gd name="T1" fmla="*/ 1 h 206"/>
                  <a:gd name="T2" fmla="*/ 1 w 327"/>
                  <a:gd name="T3" fmla="*/ 1 h 206"/>
                  <a:gd name="T4" fmla="*/ 0 w 327"/>
                  <a:gd name="T5" fmla="*/ 1 h 206"/>
                  <a:gd name="T6" fmla="*/ 1 w 327"/>
                  <a:gd name="T7" fmla="*/ 1 h 206"/>
                  <a:gd name="T8" fmla="*/ 1 w 327"/>
                  <a:gd name="T9" fmla="*/ 1 h 206"/>
                  <a:gd name="T10" fmla="*/ 1 w 327"/>
                  <a:gd name="T11" fmla="*/ 1 h 206"/>
                  <a:gd name="T12" fmla="*/ 1 w 327"/>
                  <a:gd name="T13" fmla="*/ 1 h 206"/>
                  <a:gd name="T14" fmla="*/ 1 w 327"/>
                  <a:gd name="T15" fmla="*/ 1 h 206"/>
                  <a:gd name="T16" fmla="*/ 1 w 327"/>
                  <a:gd name="T17" fmla="*/ 1 h 206"/>
                  <a:gd name="T18" fmla="*/ 1 w 327"/>
                  <a:gd name="T19" fmla="*/ 0 h 206"/>
                  <a:gd name="T20" fmla="*/ 1 w 327"/>
                  <a:gd name="T21" fmla="*/ 1 h 206"/>
                  <a:gd name="T22" fmla="*/ 1 w 327"/>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7"/>
                  <a:gd name="T37" fmla="*/ 0 h 206"/>
                  <a:gd name="T38" fmla="*/ 327 w 327"/>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7" h="206">
                    <a:moveTo>
                      <a:pt x="321" y="1"/>
                    </a:moveTo>
                    <a:lnTo>
                      <a:pt x="310" y="1"/>
                    </a:lnTo>
                    <a:lnTo>
                      <a:pt x="0" y="187"/>
                    </a:lnTo>
                    <a:lnTo>
                      <a:pt x="12" y="206"/>
                    </a:lnTo>
                    <a:lnTo>
                      <a:pt x="322" y="20"/>
                    </a:lnTo>
                    <a:lnTo>
                      <a:pt x="312" y="20"/>
                    </a:lnTo>
                    <a:lnTo>
                      <a:pt x="322" y="20"/>
                    </a:lnTo>
                    <a:lnTo>
                      <a:pt x="327" y="12"/>
                    </a:lnTo>
                    <a:lnTo>
                      <a:pt x="326" y="4"/>
                    </a:lnTo>
                    <a:lnTo>
                      <a:pt x="319" y="0"/>
                    </a:lnTo>
                    <a:lnTo>
                      <a:pt x="310" y="1"/>
                    </a:lnTo>
                    <a:lnTo>
                      <a:pt x="321" y="1"/>
                    </a:lnTo>
                    <a:close/>
                  </a:path>
                </a:pathLst>
              </a:custGeom>
              <a:solidFill>
                <a:srgbClr val="000000"/>
              </a:solidFill>
              <a:ln w="9525">
                <a:noFill/>
                <a:round/>
                <a:headEnd/>
                <a:tailEnd/>
              </a:ln>
            </p:spPr>
            <p:txBody>
              <a:bodyPr/>
              <a:lstStyle/>
              <a:p>
                <a:endParaRPr lang="en-US"/>
              </a:p>
            </p:txBody>
          </p:sp>
          <p:sp>
            <p:nvSpPr>
              <p:cNvPr id="23653" name="Freeform 66"/>
              <p:cNvSpPr>
                <a:spLocks/>
              </p:cNvSpPr>
              <p:nvPr/>
            </p:nvSpPr>
            <p:spPr bwMode="auto">
              <a:xfrm>
                <a:off x="1917" y="3423"/>
                <a:ext cx="135" cy="78"/>
              </a:xfrm>
              <a:custGeom>
                <a:avLst/>
                <a:gdLst>
                  <a:gd name="T0" fmla="*/ 1 w 269"/>
                  <a:gd name="T1" fmla="*/ 0 h 157"/>
                  <a:gd name="T2" fmla="*/ 1 w 269"/>
                  <a:gd name="T3" fmla="*/ 0 h 157"/>
                  <a:gd name="T4" fmla="*/ 1 w 269"/>
                  <a:gd name="T5" fmla="*/ 0 h 157"/>
                  <a:gd name="T6" fmla="*/ 0 w 269"/>
                  <a:gd name="T7" fmla="*/ 0 h 157"/>
                  <a:gd name="T8" fmla="*/ 1 w 269"/>
                  <a:gd name="T9" fmla="*/ 0 h 157"/>
                  <a:gd name="T10" fmla="*/ 1 w 269"/>
                  <a:gd name="T11" fmla="*/ 0 h 157"/>
                  <a:gd name="T12" fmla="*/ 1 w 269"/>
                  <a:gd name="T13" fmla="*/ 0 h 157"/>
                  <a:gd name="T14" fmla="*/ 1 w 269"/>
                  <a:gd name="T15" fmla="*/ 0 h 157"/>
                  <a:gd name="T16" fmla="*/ 1 w 269"/>
                  <a:gd name="T17" fmla="*/ 0 h 157"/>
                  <a:gd name="T18" fmla="*/ 1 w 269"/>
                  <a:gd name="T19" fmla="*/ 0 h 157"/>
                  <a:gd name="T20" fmla="*/ 1 w 269"/>
                  <a:gd name="T21" fmla="*/ 0 h 157"/>
                  <a:gd name="T22" fmla="*/ 1 w 269"/>
                  <a:gd name="T23" fmla="*/ 0 h 15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9"/>
                  <a:gd name="T37" fmla="*/ 0 h 157"/>
                  <a:gd name="T38" fmla="*/ 269 w 269"/>
                  <a:gd name="T39" fmla="*/ 157 h 15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9" h="157">
                    <a:moveTo>
                      <a:pt x="264" y="157"/>
                    </a:moveTo>
                    <a:lnTo>
                      <a:pt x="263" y="138"/>
                    </a:lnTo>
                    <a:lnTo>
                      <a:pt x="9" y="0"/>
                    </a:lnTo>
                    <a:lnTo>
                      <a:pt x="0" y="19"/>
                    </a:lnTo>
                    <a:lnTo>
                      <a:pt x="253" y="157"/>
                    </a:lnTo>
                    <a:lnTo>
                      <a:pt x="252" y="138"/>
                    </a:lnTo>
                    <a:lnTo>
                      <a:pt x="253" y="157"/>
                    </a:lnTo>
                    <a:lnTo>
                      <a:pt x="261" y="157"/>
                    </a:lnTo>
                    <a:lnTo>
                      <a:pt x="267" y="152"/>
                    </a:lnTo>
                    <a:lnTo>
                      <a:pt x="269" y="144"/>
                    </a:lnTo>
                    <a:lnTo>
                      <a:pt x="263" y="138"/>
                    </a:lnTo>
                    <a:lnTo>
                      <a:pt x="264" y="157"/>
                    </a:lnTo>
                    <a:close/>
                  </a:path>
                </a:pathLst>
              </a:custGeom>
              <a:solidFill>
                <a:srgbClr val="000000"/>
              </a:solidFill>
              <a:ln w="9525">
                <a:noFill/>
                <a:round/>
                <a:headEnd/>
                <a:tailEnd/>
              </a:ln>
            </p:spPr>
            <p:txBody>
              <a:bodyPr/>
              <a:lstStyle/>
              <a:p>
                <a:endParaRPr lang="en-US"/>
              </a:p>
            </p:txBody>
          </p:sp>
          <p:sp>
            <p:nvSpPr>
              <p:cNvPr id="23654" name="Freeform 67"/>
              <p:cNvSpPr>
                <a:spLocks/>
              </p:cNvSpPr>
              <p:nvPr/>
            </p:nvSpPr>
            <p:spPr bwMode="auto">
              <a:xfrm>
                <a:off x="1887" y="3492"/>
                <a:ext cx="163" cy="102"/>
              </a:xfrm>
              <a:custGeom>
                <a:avLst/>
                <a:gdLst>
                  <a:gd name="T0" fmla="*/ 1 w 326"/>
                  <a:gd name="T1" fmla="*/ 0 h 205"/>
                  <a:gd name="T2" fmla="*/ 1 w 326"/>
                  <a:gd name="T3" fmla="*/ 0 h 205"/>
                  <a:gd name="T4" fmla="*/ 1 w 326"/>
                  <a:gd name="T5" fmla="*/ 0 h 205"/>
                  <a:gd name="T6" fmla="*/ 1 w 326"/>
                  <a:gd name="T7" fmla="*/ 0 h 205"/>
                  <a:gd name="T8" fmla="*/ 1 w 326"/>
                  <a:gd name="T9" fmla="*/ 0 h 205"/>
                  <a:gd name="T10" fmla="*/ 1 w 326"/>
                  <a:gd name="T11" fmla="*/ 0 h 205"/>
                  <a:gd name="T12" fmla="*/ 1 w 326"/>
                  <a:gd name="T13" fmla="*/ 0 h 205"/>
                  <a:gd name="T14" fmla="*/ 0 w 326"/>
                  <a:gd name="T15" fmla="*/ 0 h 205"/>
                  <a:gd name="T16" fmla="*/ 1 w 326"/>
                  <a:gd name="T17" fmla="*/ 0 h 205"/>
                  <a:gd name="T18" fmla="*/ 1 w 326"/>
                  <a:gd name="T19" fmla="*/ 0 h 205"/>
                  <a:gd name="T20" fmla="*/ 1 w 326"/>
                  <a:gd name="T21" fmla="*/ 0 h 205"/>
                  <a:gd name="T22" fmla="*/ 1 w 326"/>
                  <a:gd name="T23" fmla="*/ 0 h 2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5"/>
                  <a:gd name="T38" fmla="*/ 326 w 326"/>
                  <a:gd name="T39" fmla="*/ 205 h 20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5">
                    <a:moveTo>
                      <a:pt x="7" y="203"/>
                    </a:moveTo>
                    <a:lnTo>
                      <a:pt x="18" y="203"/>
                    </a:lnTo>
                    <a:lnTo>
                      <a:pt x="326" y="19"/>
                    </a:lnTo>
                    <a:lnTo>
                      <a:pt x="314" y="0"/>
                    </a:lnTo>
                    <a:lnTo>
                      <a:pt x="5" y="184"/>
                    </a:lnTo>
                    <a:lnTo>
                      <a:pt x="16" y="184"/>
                    </a:lnTo>
                    <a:lnTo>
                      <a:pt x="5" y="184"/>
                    </a:lnTo>
                    <a:lnTo>
                      <a:pt x="0" y="192"/>
                    </a:lnTo>
                    <a:lnTo>
                      <a:pt x="2" y="200"/>
                    </a:lnTo>
                    <a:lnTo>
                      <a:pt x="8" y="205"/>
                    </a:lnTo>
                    <a:lnTo>
                      <a:pt x="18" y="203"/>
                    </a:lnTo>
                    <a:lnTo>
                      <a:pt x="7" y="203"/>
                    </a:lnTo>
                    <a:close/>
                  </a:path>
                </a:pathLst>
              </a:custGeom>
              <a:solidFill>
                <a:srgbClr val="000000"/>
              </a:solidFill>
              <a:ln w="9525">
                <a:noFill/>
                <a:round/>
                <a:headEnd/>
                <a:tailEnd/>
              </a:ln>
            </p:spPr>
            <p:txBody>
              <a:bodyPr/>
              <a:lstStyle/>
              <a:p>
                <a:endParaRPr lang="en-US"/>
              </a:p>
            </p:txBody>
          </p:sp>
          <p:sp>
            <p:nvSpPr>
              <p:cNvPr id="23655" name="Freeform 68"/>
              <p:cNvSpPr>
                <a:spLocks/>
              </p:cNvSpPr>
              <p:nvPr/>
            </p:nvSpPr>
            <p:spPr bwMode="auto">
              <a:xfrm>
                <a:off x="1759" y="3516"/>
                <a:ext cx="136" cy="78"/>
              </a:xfrm>
              <a:custGeom>
                <a:avLst/>
                <a:gdLst>
                  <a:gd name="T0" fmla="*/ 1 w 271"/>
                  <a:gd name="T1" fmla="*/ 0 h 155"/>
                  <a:gd name="T2" fmla="*/ 1 w 271"/>
                  <a:gd name="T3" fmla="*/ 1 h 155"/>
                  <a:gd name="T4" fmla="*/ 1 w 271"/>
                  <a:gd name="T5" fmla="*/ 1 h 155"/>
                  <a:gd name="T6" fmla="*/ 1 w 271"/>
                  <a:gd name="T7" fmla="*/ 1 h 155"/>
                  <a:gd name="T8" fmla="*/ 1 w 271"/>
                  <a:gd name="T9" fmla="*/ 0 h 155"/>
                  <a:gd name="T10" fmla="*/ 1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0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5" y="0"/>
                    </a:moveTo>
                    <a:lnTo>
                      <a:pt x="7" y="19"/>
                    </a:lnTo>
                    <a:lnTo>
                      <a:pt x="262" y="155"/>
                    </a:lnTo>
                    <a:lnTo>
                      <a:pt x="271" y="136"/>
                    </a:lnTo>
                    <a:lnTo>
                      <a:pt x="16" y="0"/>
                    </a:lnTo>
                    <a:lnTo>
                      <a:pt x="17" y="19"/>
                    </a:lnTo>
                    <a:lnTo>
                      <a:pt x="16" y="0"/>
                    </a:lnTo>
                    <a:lnTo>
                      <a:pt x="8" y="0"/>
                    </a:lnTo>
                    <a:lnTo>
                      <a:pt x="2" y="5"/>
                    </a:lnTo>
                    <a:lnTo>
                      <a:pt x="0" y="13"/>
                    </a:lnTo>
                    <a:lnTo>
                      <a:pt x="7" y="19"/>
                    </a:lnTo>
                    <a:lnTo>
                      <a:pt x="5" y="0"/>
                    </a:lnTo>
                    <a:close/>
                  </a:path>
                </a:pathLst>
              </a:custGeom>
              <a:solidFill>
                <a:srgbClr val="000000"/>
              </a:solidFill>
              <a:ln w="9525">
                <a:noFill/>
                <a:round/>
                <a:headEnd/>
                <a:tailEnd/>
              </a:ln>
            </p:spPr>
            <p:txBody>
              <a:bodyPr/>
              <a:lstStyle/>
              <a:p>
                <a:endParaRPr lang="en-US"/>
              </a:p>
            </p:txBody>
          </p:sp>
          <p:sp>
            <p:nvSpPr>
              <p:cNvPr id="23656" name="Freeform 69"/>
              <p:cNvSpPr>
                <a:spLocks/>
              </p:cNvSpPr>
              <p:nvPr/>
            </p:nvSpPr>
            <p:spPr bwMode="auto">
              <a:xfrm>
                <a:off x="1797" y="3428"/>
                <a:ext cx="54" cy="98"/>
              </a:xfrm>
              <a:custGeom>
                <a:avLst/>
                <a:gdLst>
                  <a:gd name="T0" fmla="*/ 0 w 110"/>
                  <a:gd name="T1" fmla="*/ 0 h 197"/>
                  <a:gd name="T2" fmla="*/ 0 w 110"/>
                  <a:gd name="T3" fmla="*/ 0 h 197"/>
                  <a:gd name="T4" fmla="*/ 0 w 110"/>
                  <a:gd name="T5" fmla="*/ 0 h 197"/>
                  <a:gd name="T6" fmla="*/ 0 w 110"/>
                  <a:gd name="T7" fmla="*/ 0 h 197"/>
                  <a:gd name="T8" fmla="*/ 0 w 110"/>
                  <a:gd name="T9" fmla="*/ 0 h 197"/>
                  <a:gd name="T10" fmla="*/ 0 60000 65536"/>
                  <a:gd name="T11" fmla="*/ 0 60000 65536"/>
                  <a:gd name="T12" fmla="*/ 0 60000 65536"/>
                  <a:gd name="T13" fmla="*/ 0 60000 65536"/>
                  <a:gd name="T14" fmla="*/ 0 60000 65536"/>
                  <a:gd name="T15" fmla="*/ 0 w 110"/>
                  <a:gd name="T16" fmla="*/ 0 h 197"/>
                  <a:gd name="T17" fmla="*/ 110 w 110"/>
                  <a:gd name="T18" fmla="*/ 197 h 197"/>
                </a:gdLst>
                <a:ahLst/>
                <a:cxnLst>
                  <a:cxn ang="T10">
                    <a:pos x="T0" y="T1"/>
                  </a:cxn>
                  <a:cxn ang="T11">
                    <a:pos x="T2" y="T3"/>
                  </a:cxn>
                  <a:cxn ang="T12">
                    <a:pos x="T4" y="T5"/>
                  </a:cxn>
                  <a:cxn ang="T13">
                    <a:pos x="T6" y="T7"/>
                  </a:cxn>
                  <a:cxn ang="T14">
                    <a:pos x="T8" y="T9"/>
                  </a:cxn>
                </a:cxnLst>
                <a:rect l="T15" t="T16" r="T17" b="T18"/>
                <a:pathLst>
                  <a:path w="110" h="197">
                    <a:moveTo>
                      <a:pt x="110" y="197"/>
                    </a:moveTo>
                    <a:lnTo>
                      <a:pt x="110" y="9"/>
                    </a:lnTo>
                    <a:lnTo>
                      <a:pt x="0" y="0"/>
                    </a:lnTo>
                    <a:lnTo>
                      <a:pt x="0" y="139"/>
                    </a:lnTo>
                    <a:lnTo>
                      <a:pt x="110" y="197"/>
                    </a:lnTo>
                    <a:close/>
                  </a:path>
                </a:pathLst>
              </a:custGeom>
              <a:solidFill>
                <a:srgbClr val="4CB2FF"/>
              </a:solidFill>
              <a:ln w="9525">
                <a:noFill/>
                <a:round/>
                <a:headEnd/>
                <a:tailEnd/>
              </a:ln>
            </p:spPr>
            <p:txBody>
              <a:bodyPr/>
              <a:lstStyle/>
              <a:p>
                <a:endParaRPr lang="en-US"/>
              </a:p>
            </p:txBody>
          </p:sp>
          <p:sp>
            <p:nvSpPr>
              <p:cNvPr id="23657" name="Freeform 70"/>
              <p:cNvSpPr>
                <a:spLocks/>
              </p:cNvSpPr>
              <p:nvPr/>
            </p:nvSpPr>
            <p:spPr bwMode="auto">
              <a:xfrm>
                <a:off x="1846" y="3427"/>
                <a:ext cx="11" cy="99"/>
              </a:xfrm>
              <a:custGeom>
                <a:avLst/>
                <a:gdLst>
                  <a:gd name="T0" fmla="*/ 1 w 22"/>
                  <a:gd name="T1" fmla="*/ 0 h 199"/>
                  <a:gd name="T2" fmla="*/ 0 w 22"/>
                  <a:gd name="T3" fmla="*/ 0 h 199"/>
                  <a:gd name="T4" fmla="*/ 0 w 22"/>
                  <a:gd name="T5" fmla="*/ 0 h 199"/>
                  <a:gd name="T6" fmla="*/ 1 w 22"/>
                  <a:gd name="T7" fmla="*/ 0 h 199"/>
                  <a:gd name="T8" fmla="*/ 1 w 22"/>
                  <a:gd name="T9" fmla="*/ 0 h 199"/>
                  <a:gd name="T10" fmla="*/ 1 w 22"/>
                  <a:gd name="T11" fmla="*/ 0 h 199"/>
                  <a:gd name="T12" fmla="*/ 1 w 22"/>
                  <a:gd name="T13" fmla="*/ 0 h 199"/>
                  <a:gd name="T14" fmla="*/ 1 w 22"/>
                  <a:gd name="T15" fmla="*/ 0 h 199"/>
                  <a:gd name="T16" fmla="*/ 1 w 22"/>
                  <a:gd name="T17" fmla="*/ 0 h 199"/>
                  <a:gd name="T18" fmla="*/ 1 w 22"/>
                  <a:gd name="T19" fmla="*/ 0 h 199"/>
                  <a:gd name="T20" fmla="*/ 0 w 22"/>
                  <a:gd name="T21" fmla="*/ 0 h 199"/>
                  <a:gd name="T22" fmla="*/ 1 w 22"/>
                  <a:gd name="T23" fmla="*/ 0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99"/>
                  <a:gd name="T38" fmla="*/ 22 w 22"/>
                  <a:gd name="T39" fmla="*/ 199 h 1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99">
                    <a:moveTo>
                      <a:pt x="9" y="22"/>
                    </a:moveTo>
                    <a:lnTo>
                      <a:pt x="0" y="11"/>
                    </a:lnTo>
                    <a:lnTo>
                      <a:pt x="0" y="199"/>
                    </a:lnTo>
                    <a:lnTo>
                      <a:pt x="22" y="199"/>
                    </a:lnTo>
                    <a:lnTo>
                      <a:pt x="22" y="11"/>
                    </a:lnTo>
                    <a:lnTo>
                      <a:pt x="13" y="0"/>
                    </a:lnTo>
                    <a:lnTo>
                      <a:pt x="22" y="11"/>
                    </a:lnTo>
                    <a:lnTo>
                      <a:pt x="19" y="3"/>
                    </a:lnTo>
                    <a:lnTo>
                      <a:pt x="11" y="0"/>
                    </a:lnTo>
                    <a:lnTo>
                      <a:pt x="3" y="3"/>
                    </a:lnTo>
                    <a:lnTo>
                      <a:pt x="0" y="11"/>
                    </a:lnTo>
                    <a:lnTo>
                      <a:pt x="9" y="22"/>
                    </a:lnTo>
                    <a:close/>
                  </a:path>
                </a:pathLst>
              </a:custGeom>
              <a:solidFill>
                <a:srgbClr val="000000"/>
              </a:solidFill>
              <a:ln w="9525">
                <a:noFill/>
                <a:round/>
                <a:headEnd/>
                <a:tailEnd/>
              </a:ln>
            </p:spPr>
            <p:txBody>
              <a:bodyPr/>
              <a:lstStyle/>
              <a:p>
                <a:endParaRPr lang="en-US"/>
              </a:p>
            </p:txBody>
          </p:sp>
          <p:sp>
            <p:nvSpPr>
              <p:cNvPr id="23658" name="Freeform 71"/>
              <p:cNvSpPr>
                <a:spLocks/>
              </p:cNvSpPr>
              <p:nvPr/>
            </p:nvSpPr>
            <p:spPr bwMode="auto">
              <a:xfrm>
                <a:off x="1791" y="3422"/>
                <a:ext cx="61" cy="16"/>
              </a:xfrm>
              <a:custGeom>
                <a:avLst/>
                <a:gdLst>
                  <a:gd name="T0" fmla="*/ 0 w 123"/>
                  <a:gd name="T1" fmla="*/ 1 h 31"/>
                  <a:gd name="T2" fmla="*/ 0 w 123"/>
                  <a:gd name="T3" fmla="*/ 1 h 31"/>
                  <a:gd name="T4" fmla="*/ 0 w 123"/>
                  <a:gd name="T5" fmla="*/ 1 h 31"/>
                  <a:gd name="T6" fmla="*/ 0 w 123"/>
                  <a:gd name="T7" fmla="*/ 1 h 31"/>
                  <a:gd name="T8" fmla="*/ 0 w 123"/>
                  <a:gd name="T9" fmla="*/ 0 h 31"/>
                  <a:gd name="T10" fmla="*/ 0 w 123"/>
                  <a:gd name="T11" fmla="*/ 1 h 31"/>
                  <a:gd name="T12" fmla="*/ 0 w 123"/>
                  <a:gd name="T13" fmla="*/ 0 h 31"/>
                  <a:gd name="T14" fmla="*/ 0 w 123"/>
                  <a:gd name="T15" fmla="*/ 1 h 31"/>
                  <a:gd name="T16" fmla="*/ 0 w 123"/>
                  <a:gd name="T17" fmla="*/ 1 h 31"/>
                  <a:gd name="T18" fmla="*/ 0 w 123"/>
                  <a:gd name="T19" fmla="*/ 1 h 31"/>
                  <a:gd name="T20" fmla="*/ 0 w 123"/>
                  <a:gd name="T21" fmla="*/ 1 h 31"/>
                  <a:gd name="T22" fmla="*/ 0 w 123"/>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
                  <a:gd name="T37" fmla="*/ 0 h 31"/>
                  <a:gd name="T38" fmla="*/ 123 w 123"/>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 h="31">
                    <a:moveTo>
                      <a:pt x="22" y="11"/>
                    </a:moveTo>
                    <a:lnTo>
                      <a:pt x="10" y="22"/>
                    </a:lnTo>
                    <a:lnTo>
                      <a:pt x="119" y="31"/>
                    </a:lnTo>
                    <a:lnTo>
                      <a:pt x="123" y="9"/>
                    </a:lnTo>
                    <a:lnTo>
                      <a:pt x="13" y="0"/>
                    </a:lnTo>
                    <a:lnTo>
                      <a:pt x="0" y="11"/>
                    </a:lnTo>
                    <a:lnTo>
                      <a:pt x="13" y="0"/>
                    </a:lnTo>
                    <a:lnTo>
                      <a:pt x="5" y="3"/>
                    </a:lnTo>
                    <a:lnTo>
                      <a:pt x="0" y="9"/>
                    </a:lnTo>
                    <a:lnTo>
                      <a:pt x="2" y="17"/>
                    </a:lnTo>
                    <a:lnTo>
                      <a:pt x="10" y="22"/>
                    </a:lnTo>
                    <a:lnTo>
                      <a:pt x="22" y="11"/>
                    </a:lnTo>
                    <a:close/>
                  </a:path>
                </a:pathLst>
              </a:custGeom>
              <a:solidFill>
                <a:srgbClr val="000000"/>
              </a:solidFill>
              <a:ln w="9525">
                <a:noFill/>
                <a:round/>
                <a:headEnd/>
                <a:tailEnd/>
              </a:ln>
            </p:spPr>
            <p:txBody>
              <a:bodyPr/>
              <a:lstStyle/>
              <a:p>
                <a:endParaRPr lang="en-US"/>
              </a:p>
            </p:txBody>
          </p:sp>
          <p:sp>
            <p:nvSpPr>
              <p:cNvPr id="23659" name="Freeform 72"/>
              <p:cNvSpPr>
                <a:spLocks/>
              </p:cNvSpPr>
              <p:nvPr/>
            </p:nvSpPr>
            <p:spPr bwMode="auto">
              <a:xfrm>
                <a:off x="1791" y="3428"/>
                <a:ext cx="11" cy="75"/>
              </a:xfrm>
              <a:custGeom>
                <a:avLst/>
                <a:gdLst>
                  <a:gd name="T0" fmla="*/ 1 w 22"/>
                  <a:gd name="T1" fmla="*/ 1 h 150"/>
                  <a:gd name="T2" fmla="*/ 1 w 22"/>
                  <a:gd name="T3" fmla="*/ 1 h 150"/>
                  <a:gd name="T4" fmla="*/ 1 w 22"/>
                  <a:gd name="T5" fmla="*/ 0 h 150"/>
                  <a:gd name="T6" fmla="*/ 0 w 22"/>
                  <a:gd name="T7" fmla="*/ 0 h 150"/>
                  <a:gd name="T8" fmla="*/ 0 w 22"/>
                  <a:gd name="T9" fmla="*/ 1 h 150"/>
                  <a:gd name="T10" fmla="*/ 1 w 22"/>
                  <a:gd name="T11" fmla="*/ 1 h 150"/>
                  <a:gd name="T12" fmla="*/ 0 w 22"/>
                  <a:gd name="T13" fmla="*/ 1 h 150"/>
                  <a:gd name="T14" fmla="*/ 1 w 22"/>
                  <a:gd name="T15" fmla="*/ 1 h 150"/>
                  <a:gd name="T16" fmla="*/ 1 w 22"/>
                  <a:gd name="T17" fmla="*/ 1 h 150"/>
                  <a:gd name="T18" fmla="*/ 1 w 22"/>
                  <a:gd name="T19" fmla="*/ 1 h 150"/>
                  <a:gd name="T20" fmla="*/ 1 w 22"/>
                  <a:gd name="T21" fmla="*/ 1 h 150"/>
                  <a:gd name="T22" fmla="*/ 1 w 22"/>
                  <a:gd name="T23" fmla="*/ 1 h 1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50"/>
                  <a:gd name="T38" fmla="*/ 22 w 22"/>
                  <a:gd name="T39" fmla="*/ 150 h 1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50">
                    <a:moveTo>
                      <a:pt x="16" y="129"/>
                    </a:moveTo>
                    <a:lnTo>
                      <a:pt x="22" y="139"/>
                    </a:lnTo>
                    <a:lnTo>
                      <a:pt x="22" y="0"/>
                    </a:lnTo>
                    <a:lnTo>
                      <a:pt x="0" y="0"/>
                    </a:lnTo>
                    <a:lnTo>
                      <a:pt x="0" y="139"/>
                    </a:lnTo>
                    <a:lnTo>
                      <a:pt x="7" y="148"/>
                    </a:lnTo>
                    <a:lnTo>
                      <a:pt x="0" y="139"/>
                    </a:lnTo>
                    <a:lnTo>
                      <a:pt x="4" y="147"/>
                    </a:lnTo>
                    <a:lnTo>
                      <a:pt x="11" y="150"/>
                    </a:lnTo>
                    <a:lnTo>
                      <a:pt x="19" y="147"/>
                    </a:lnTo>
                    <a:lnTo>
                      <a:pt x="22" y="139"/>
                    </a:lnTo>
                    <a:lnTo>
                      <a:pt x="16" y="129"/>
                    </a:lnTo>
                    <a:close/>
                  </a:path>
                </a:pathLst>
              </a:custGeom>
              <a:solidFill>
                <a:srgbClr val="000000"/>
              </a:solidFill>
              <a:ln w="9525">
                <a:noFill/>
                <a:round/>
                <a:headEnd/>
                <a:tailEnd/>
              </a:ln>
            </p:spPr>
            <p:txBody>
              <a:bodyPr/>
              <a:lstStyle/>
              <a:p>
                <a:endParaRPr lang="en-US"/>
              </a:p>
            </p:txBody>
          </p:sp>
          <p:sp>
            <p:nvSpPr>
              <p:cNvPr id="23660" name="Freeform 73"/>
              <p:cNvSpPr>
                <a:spLocks/>
              </p:cNvSpPr>
              <p:nvPr/>
            </p:nvSpPr>
            <p:spPr bwMode="auto">
              <a:xfrm>
                <a:off x="1794" y="3493"/>
                <a:ext cx="63" cy="38"/>
              </a:xfrm>
              <a:custGeom>
                <a:avLst/>
                <a:gdLst>
                  <a:gd name="T0" fmla="*/ 1 w 125"/>
                  <a:gd name="T1" fmla="*/ 0 h 77"/>
                  <a:gd name="T2" fmla="*/ 1 w 125"/>
                  <a:gd name="T3" fmla="*/ 0 h 77"/>
                  <a:gd name="T4" fmla="*/ 1 w 125"/>
                  <a:gd name="T5" fmla="*/ 0 h 77"/>
                  <a:gd name="T6" fmla="*/ 0 w 125"/>
                  <a:gd name="T7" fmla="*/ 0 h 77"/>
                  <a:gd name="T8" fmla="*/ 1 w 125"/>
                  <a:gd name="T9" fmla="*/ 0 h 77"/>
                  <a:gd name="T10" fmla="*/ 1 w 125"/>
                  <a:gd name="T11" fmla="*/ 0 h 77"/>
                  <a:gd name="T12" fmla="*/ 1 w 125"/>
                  <a:gd name="T13" fmla="*/ 0 h 77"/>
                  <a:gd name="T14" fmla="*/ 1 w 125"/>
                  <a:gd name="T15" fmla="*/ 0 h 77"/>
                  <a:gd name="T16" fmla="*/ 1 w 125"/>
                  <a:gd name="T17" fmla="*/ 0 h 77"/>
                  <a:gd name="T18" fmla="*/ 1 w 125"/>
                  <a:gd name="T19" fmla="*/ 0 h 77"/>
                  <a:gd name="T20" fmla="*/ 1 w 125"/>
                  <a:gd name="T21" fmla="*/ 0 h 77"/>
                  <a:gd name="T22" fmla="*/ 1 w 125"/>
                  <a:gd name="T23" fmla="*/ 0 h 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5"/>
                  <a:gd name="T37" fmla="*/ 0 h 77"/>
                  <a:gd name="T38" fmla="*/ 125 w 125"/>
                  <a:gd name="T39" fmla="*/ 77 h 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5" h="77">
                    <a:moveTo>
                      <a:pt x="103" y="68"/>
                    </a:moveTo>
                    <a:lnTo>
                      <a:pt x="119" y="58"/>
                    </a:lnTo>
                    <a:lnTo>
                      <a:pt x="9" y="0"/>
                    </a:lnTo>
                    <a:lnTo>
                      <a:pt x="0" y="19"/>
                    </a:lnTo>
                    <a:lnTo>
                      <a:pt x="109" y="77"/>
                    </a:lnTo>
                    <a:lnTo>
                      <a:pt x="125" y="68"/>
                    </a:lnTo>
                    <a:lnTo>
                      <a:pt x="109" y="77"/>
                    </a:lnTo>
                    <a:lnTo>
                      <a:pt x="117" y="77"/>
                    </a:lnTo>
                    <a:lnTo>
                      <a:pt x="123" y="72"/>
                    </a:lnTo>
                    <a:lnTo>
                      <a:pt x="125" y="65"/>
                    </a:lnTo>
                    <a:lnTo>
                      <a:pt x="119" y="58"/>
                    </a:lnTo>
                    <a:lnTo>
                      <a:pt x="103" y="68"/>
                    </a:lnTo>
                    <a:close/>
                  </a:path>
                </a:pathLst>
              </a:custGeom>
              <a:solidFill>
                <a:srgbClr val="000000"/>
              </a:solidFill>
              <a:ln w="9525">
                <a:noFill/>
                <a:round/>
                <a:headEnd/>
                <a:tailEnd/>
              </a:ln>
            </p:spPr>
            <p:txBody>
              <a:bodyPr/>
              <a:lstStyle/>
              <a:p>
                <a:endParaRPr lang="en-US"/>
              </a:p>
            </p:txBody>
          </p:sp>
          <p:sp>
            <p:nvSpPr>
              <p:cNvPr id="23661" name="Freeform 74"/>
              <p:cNvSpPr>
                <a:spLocks/>
              </p:cNvSpPr>
              <p:nvPr/>
            </p:nvSpPr>
            <p:spPr bwMode="auto">
              <a:xfrm>
                <a:off x="1947" y="3542"/>
                <a:ext cx="40" cy="31"/>
              </a:xfrm>
              <a:custGeom>
                <a:avLst/>
                <a:gdLst>
                  <a:gd name="T0" fmla="*/ 1 w 80"/>
                  <a:gd name="T1" fmla="*/ 1 h 61"/>
                  <a:gd name="T2" fmla="*/ 1 w 80"/>
                  <a:gd name="T3" fmla="*/ 0 h 61"/>
                  <a:gd name="T4" fmla="*/ 0 w 80"/>
                  <a:gd name="T5" fmla="*/ 1 h 61"/>
                  <a:gd name="T6" fmla="*/ 0 w 80"/>
                  <a:gd name="T7" fmla="*/ 1 h 61"/>
                  <a:gd name="T8" fmla="*/ 1 w 80"/>
                  <a:gd name="T9" fmla="*/ 1 h 61"/>
                  <a:gd name="T10" fmla="*/ 0 60000 65536"/>
                  <a:gd name="T11" fmla="*/ 0 60000 65536"/>
                  <a:gd name="T12" fmla="*/ 0 60000 65536"/>
                  <a:gd name="T13" fmla="*/ 0 60000 65536"/>
                  <a:gd name="T14" fmla="*/ 0 60000 65536"/>
                  <a:gd name="T15" fmla="*/ 0 w 80"/>
                  <a:gd name="T16" fmla="*/ 0 h 61"/>
                  <a:gd name="T17" fmla="*/ 80 w 80"/>
                  <a:gd name="T18" fmla="*/ 61 h 61"/>
                </a:gdLst>
                <a:ahLst/>
                <a:cxnLst>
                  <a:cxn ang="T10">
                    <a:pos x="T0" y="T1"/>
                  </a:cxn>
                  <a:cxn ang="T11">
                    <a:pos x="T2" y="T3"/>
                  </a:cxn>
                  <a:cxn ang="T12">
                    <a:pos x="T4" y="T5"/>
                  </a:cxn>
                  <a:cxn ang="T13">
                    <a:pos x="T6" y="T7"/>
                  </a:cxn>
                  <a:cxn ang="T14">
                    <a:pos x="T8" y="T9"/>
                  </a:cxn>
                </a:cxnLst>
                <a:rect l="T15" t="T16" r="T17" b="T18"/>
                <a:pathLst>
                  <a:path w="80" h="61">
                    <a:moveTo>
                      <a:pt x="80" y="13"/>
                    </a:moveTo>
                    <a:lnTo>
                      <a:pt x="80" y="0"/>
                    </a:lnTo>
                    <a:lnTo>
                      <a:pt x="0" y="50"/>
                    </a:lnTo>
                    <a:lnTo>
                      <a:pt x="0" y="61"/>
                    </a:lnTo>
                    <a:lnTo>
                      <a:pt x="80" y="13"/>
                    </a:lnTo>
                  </a:path>
                </a:pathLst>
              </a:custGeom>
              <a:noFill/>
              <a:ln w="0">
                <a:solidFill>
                  <a:srgbClr val="000000"/>
                </a:solidFill>
                <a:round/>
                <a:headEnd/>
                <a:tailEnd/>
              </a:ln>
            </p:spPr>
            <p:txBody>
              <a:bodyPr/>
              <a:lstStyle/>
              <a:p>
                <a:endParaRPr lang="en-US"/>
              </a:p>
            </p:txBody>
          </p:sp>
          <p:sp>
            <p:nvSpPr>
              <p:cNvPr id="23662" name="Freeform 75"/>
              <p:cNvSpPr>
                <a:spLocks/>
              </p:cNvSpPr>
              <p:nvPr/>
            </p:nvSpPr>
            <p:spPr bwMode="auto">
              <a:xfrm>
                <a:off x="1995" y="3523"/>
                <a:ext cx="11" cy="32"/>
              </a:xfrm>
              <a:custGeom>
                <a:avLst/>
                <a:gdLst>
                  <a:gd name="T0" fmla="*/ 1 w 21"/>
                  <a:gd name="T1" fmla="*/ 0 h 65"/>
                  <a:gd name="T2" fmla="*/ 1 w 21"/>
                  <a:gd name="T3" fmla="*/ 0 h 65"/>
                  <a:gd name="T4" fmla="*/ 1 w 21"/>
                  <a:gd name="T5" fmla="*/ 0 h 65"/>
                  <a:gd name="T6" fmla="*/ 0 w 21"/>
                  <a:gd name="T7" fmla="*/ 0 h 65"/>
                  <a:gd name="T8" fmla="*/ 0 w 21"/>
                  <a:gd name="T9" fmla="*/ 0 h 65"/>
                  <a:gd name="T10" fmla="*/ 1 w 21"/>
                  <a:gd name="T11" fmla="*/ 0 h 65"/>
                  <a:gd name="T12" fmla="*/ 0 60000 65536"/>
                  <a:gd name="T13" fmla="*/ 0 60000 65536"/>
                  <a:gd name="T14" fmla="*/ 0 60000 65536"/>
                  <a:gd name="T15" fmla="*/ 0 60000 65536"/>
                  <a:gd name="T16" fmla="*/ 0 60000 65536"/>
                  <a:gd name="T17" fmla="*/ 0 60000 65536"/>
                  <a:gd name="T18" fmla="*/ 0 w 21"/>
                  <a:gd name="T19" fmla="*/ 0 h 65"/>
                  <a:gd name="T20" fmla="*/ 21 w 2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21" h="65">
                    <a:moveTo>
                      <a:pt x="10" y="65"/>
                    </a:moveTo>
                    <a:lnTo>
                      <a:pt x="21" y="65"/>
                    </a:lnTo>
                    <a:lnTo>
                      <a:pt x="21" y="0"/>
                    </a:lnTo>
                    <a:lnTo>
                      <a:pt x="0" y="0"/>
                    </a:lnTo>
                    <a:lnTo>
                      <a:pt x="0" y="65"/>
                    </a:lnTo>
                    <a:lnTo>
                      <a:pt x="10" y="65"/>
                    </a:lnTo>
                    <a:close/>
                  </a:path>
                </a:pathLst>
              </a:custGeom>
              <a:solidFill>
                <a:srgbClr val="000000"/>
              </a:solidFill>
              <a:ln w="9525">
                <a:noFill/>
                <a:round/>
                <a:headEnd/>
                <a:tailEnd/>
              </a:ln>
            </p:spPr>
            <p:txBody>
              <a:bodyPr/>
              <a:lstStyle/>
              <a:p>
                <a:endParaRPr lang="en-US"/>
              </a:p>
            </p:txBody>
          </p:sp>
          <p:sp>
            <p:nvSpPr>
              <p:cNvPr id="23663" name="Freeform 76"/>
              <p:cNvSpPr>
                <a:spLocks/>
              </p:cNvSpPr>
              <p:nvPr/>
            </p:nvSpPr>
            <p:spPr bwMode="auto">
              <a:xfrm>
                <a:off x="1952" y="3561"/>
                <a:ext cx="145" cy="93"/>
              </a:xfrm>
              <a:custGeom>
                <a:avLst/>
                <a:gdLst>
                  <a:gd name="T0" fmla="*/ 0 w 292"/>
                  <a:gd name="T1" fmla="*/ 1 h 186"/>
                  <a:gd name="T2" fmla="*/ 0 w 292"/>
                  <a:gd name="T3" fmla="*/ 0 h 186"/>
                  <a:gd name="T4" fmla="*/ 0 w 292"/>
                  <a:gd name="T5" fmla="*/ 1 h 186"/>
                  <a:gd name="T6" fmla="*/ 0 w 292"/>
                  <a:gd name="T7" fmla="*/ 1 h 186"/>
                  <a:gd name="T8" fmla="*/ 0 w 292"/>
                  <a:gd name="T9" fmla="*/ 1 h 186"/>
                  <a:gd name="T10" fmla="*/ 0 60000 65536"/>
                  <a:gd name="T11" fmla="*/ 0 60000 65536"/>
                  <a:gd name="T12" fmla="*/ 0 60000 65536"/>
                  <a:gd name="T13" fmla="*/ 0 60000 65536"/>
                  <a:gd name="T14" fmla="*/ 0 60000 65536"/>
                  <a:gd name="T15" fmla="*/ 0 w 292"/>
                  <a:gd name="T16" fmla="*/ 0 h 186"/>
                  <a:gd name="T17" fmla="*/ 292 w 292"/>
                  <a:gd name="T18" fmla="*/ 186 h 186"/>
                </a:gdLst>
                <a:ahLst/>
                <a:cxnLst>
                  <a:cxn ang="T10">
                    <a:pos x="T0" y="T1"/>
                  </a:cxn>
                  <a:cxn ang="T11">
                    <a:pos x="T2" y="T3"/>
                  </a:cxn>
                  <a:cxn ang="T12">
                    <a:pos x="T4" y="T5"/>
                  </a:cxn>
                  <a:cxn ang="T13">
                    <a:pos x="T6" y="T7"/>
                  </a:cxn>
                  <a:cxn ang="T14">
                    <a:pos x="T8" y="T9"/>
                  </a:cxn>
                </a:cxnLst>
                <a:rect l="T15" t="T16" r="T17" b="T18"/>
                <a:pathLst>
                  <a:path w="292" h="186">
                    <a:moveTo>
                      <a:pt x="292" y="20"/>
                    </a:moveTo>
                    <a:lnTo>
                      <a:pt x="292" y="0"/>
                    </a:lnTo>
                    <a:lnTo>
                      <a:pt x="0" y="165"/>
                    </a:lnTo>
                    <a:lnTo>
                      <a:pt x="0" y="186"/>
                    </a:lnTo>
                    <a:lnTo>
                      <a:pt x="292" y="20"/>
                    </a:lnTo>
                    <a:close/>
                  </a:path>
                </a:pathLst>
              </a:custGeom>
              <a:solidFill>
                <a:srgbClr val="007FFF"/>
              </a:solidFill>
              <a:ln w="9525">
                <a:noFill/>
                <a:round/>
                <a:headEnd/>
                <a:tailEnd/>
              </a:ln>
            </p:spPr>
            <p:txBody>
              <a:bodyPr/>
              <a:lstStyle/>
              <a:p>
                <a:endParaRPr lang="en-US"/>
              </a:p>
            </p:txBody>
          </p:sp>
          <p:sp>
            <p:nvSpPr>
              <p:cNvPr id="23664" name="Freeform 77"/>
              <p:cNvSpPr>
                <a:spLocks/>
              </p:cNvSpPr>
              <p:nvPr/>
            </p:nvSpPr>
            <p:spPr bwMode="auto">
              <a:xfrm>
                <a:off x="2093" y="3557"/>
                <a:ext cx="8" cy="14"/>
              </a:xfrm>
              <a:custGeom>
                <a:avLst/>
                <a:gdLst>
                  <a:gd name="T0" fmla="*/ 1 w 15"/>
                  <a:gd name="T1" fmla="*/ 1 h 28"/>
                  <a:gd name="T2" fmla="*/ 0 w 15"/>
                  <a:gd name="T3" fmla="*/ 1 h 28"/>
                  <a:gd name="T4" fmla="*/ 0 w 15"/>
                  <a:gd name="T5" fmla="*/ 1 h 28"/>
                  <a:gd name="T6" fmla="*/ 1 w 15"/>
                  <a:gd name="T7" fmla="*/ 1 h 28"/>
                  <a:gd name="T8" fmla="*/ 1 w 15"/>
                  <a:gd name="T9" fmla="*/ 1 h 28"/>
                  <a:gd name="T10" fmla="*/ 1 w 15"/>
                  <a:gd name="T11" fmla="*/ 1 h 28"/>
                  <a:gd name="T12" fmla="*/ 1 w 15"/>
                  <a:gd name="T13" fmla="*/ 1 h 28"/>
                  <a:gd name="T14" fmla="*/ 1 w 15"/>
                  <a:gd name="T15" fmla="*/ 1 h 28"/>
                  <a:gd name="T16" fmla="*/ 1 w 15"/>
                  <a:gd name="T17" fmla="*/ 0 h 28"/>
                  <a:gd name="T18" fmla="*/ 1 w 15"/>
                  <a:gd name="T19" fmla="*/ 1 h 28"/>
                  <a:gd name="T20" fmla="*/ 0 w 15"/>
                  <a:gd name="T21" fmla="*/ 1 h 28"/>
                  <a:gd name="T22" fmla="*/ 1 w 15"/>
                  <a:gd name="T23" fmla="*/ 1 h 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8"/>
                  <a:gd name="T38" fmla="*/ 15 w 15"/>
                  <a:gd name="T39" fmla="*/ 28 h 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8">
                    <a:moveTo>
                      <a:pt x="11" y="14"/>
                    </a:moveTo>
                    <a:lnTo>
                      <a:pt x="0" y="8"/>
                    </a:lnTo>
                    <a:lnTo>
                      <a:pt x="0" y="28"/>
                    </a:lnTo>
                    <a:lnTo>
                      <a:pt x="15" y="28"/>
                    </a:lnTo>
                    <a:lnTo>
                      <a:pt x="15" y="8"/>
                    </a:lnTo>
                    <a:lnTo>
                      <a:pt x="5" y="1"/>
                    </a:lnTo>
                    <a:lnTo>
                      <a:pt x="15" y="8"/>
                    </a:lnTo>
                    <a:lnTo>
                      <a:pt x="12" y="3"/>
                    </a:lnTo>
                    <a:lnTo>
                      <a:pt x="8" y="0"/>
                    </a:lnTo>
                    <a:lnTo>
                      <a:pt x="3" y="3"/>
                    </a:lnTo>
                    <a:lnTo>
                      <a:pt x="0" y="8"/>
                    </a:lnTo>
                    <a:lnTo>
                      <a:pt x="11" y="14"/>
                    </a:lnTo>
                    <a:close/>
                  </a:path>
                </a:pathLst>
              </a:custGeom>
              <a:solidFill>
                <a:srgbClr val="000000"/>
              </a:solidFill>
              <a:ln w="9525">
                <a:noFill/>
                <a:round/>
                <a:headEnd/>
                <a:tailEnd/>
              </a:ln>
            </p:spPr>
            <p:txBody>
              <a:bodyPr/>
              <a:lstStyle/>
              <a:p>
                <a:endParaRPr lang="en-US"/>
              </a:p>
            </p:txBody>
          </p:sp>
          <p:sp>
            <p:nvSpPr>
              <p:cNvPr id="23665" name="Freeform 78"/>
              <p:cNvSpPr>
                <a:spLocks/>
              </p:cNvSpPr>
              <p:nvPr/>
            </p:nvSpPr>
            <p:spPr bwMode="auto">
              <a:xfrm>
                <a:off x="1948" y="3558"/>
                <a:ext cx="151" cy="89"/>
              </a:xfrm>
              <a:custGeom>
                <a:avLst/>
                <a:gdLst>
                  <a:gd name="T0" fmla="*/ 1 w 302"/>
                  <a:gd name="T1" fmla="*/ 0 h 179"/>
                  <a:gd name="T2" fmla="*/ 1 w 302"/>
                  <a:gd name="T3" fmla="*/ 0 h 179"/>
                  <a:gd name="T4" fmla="*/ 1 w 302"/>
                  <a:gd name="T5" fmla="*/ 0 h 179"/>
                  <a:gd name="T6" fmla="*/ 1 w 302"/>
                  <a:gd name="T7" fmla="*/ 0 h 179"/>
                  <a:gd name="T8" fmla="*/ 1 w 302"/>
                  <a:gd name="T9" fmla="*/ 0 h 179"/>
                  <a:gd name="T10" fmla="*/ 0 w 302"/>
                  <a:gd name="T11" fmla="*/ 0 h 179"/>
                  <a:gd name="T12" fmla="*/ 1 w 302"/>
                  <a:gd name="T13" fmla="*/ 0 h 179"/>
                  <a:gd name="T14" fmla="*/ 1 w 302"/>
                  <a:gd name="T15" fmla="*/ 0 h 179"/>
                  <a:gd name="T16" fmla="*/ 1 w 302"/>
                  <a:gd name="T17" fmla="*/ 0 h 179"/>
                  <a:gd name="T18" fmla="*/ 1 w 302"/>
                  <a:gd name="T19" fmla="*/ 0 h 179"/>
                  <a:gd name="T20" fmla="*/ 1 w 302"/>
                  <a:gd name="T21" fmla="*/ 0 h 179"/>
                  <a:gd name="T22" fmla="*/ 1 w 302"/>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9"/>
                  <a:gd name="T38" fmla="*/ 302 w 302"/>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9">
                    <a:moveTo>
                      <a:pt x="15" y="172"/>
                    </a:moveTo>
                    <a:lnTo>
                      <a:pt x="11" y="179"/>
                    </a:lnTo>
                    <a:lnTo>
                      <a:pt x="302" y="13"/>
                    </a:lnTo>
                    <a:lnTo>
                      <a:pt x="296" y="0"/>
                    </a:lnTo>
                    <a:lnTo>
                      <a:pt x="4" y="166"/>
                    </a:lnTo>
                    <a:lnTo>
                      <a:pt x="0" y="172"/>
                    </a:lnTo>
                    <a:lnTo>
                      <a:pt x="4" y="166"/>
                    </a:lnTo>
                    <a:lnTo>
                      <a:pt x="1" y="169"/>
                    </a:lnTo>
                    <a:lnTo>
                      <a:pt x="1" y="174"/>
                    </a:lnTo>
                    <a:lnTo>
                      <a:pt x="6" y="179"/>
                    </a:lnTo>
                    <a:lnTo>
                      <a:pt x="11" y="179"/>
                    </a:lnTo>
                    <a:lnTo>
                      <a:pt x="15" y="172"/>
                    </a:lnTo>
                    <a:close/>
                  </a:path>
                </a:pathLst>
              </a:custGeom>
              <a:solidFill>
                <a:srgbClr val="000000"/>
              </a:solidFill>
              <a:ln w="9525">
                <a:noFill/>
                <a:round/>
                <a:headEnd/>
                <a:tailEnd/>
              </a:ln>
            </p:spPr>
            <p:txBody>
              <a:bodyPr/>
              <a:lstStyle/>
              <a:p>
                <a:endParaRPr lang="en-US"/>
              </a:p>
            </p:txBody>
          </p:sp>
          <p:sp>
            <p:nvSpPr>
              <p:cNvPr id="23666" name="Freeform 79"/>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4" y="14"/>
                    </a:moveTo>
                    <a:lnTo>
                      <a:pt x="15" y="21"/>
                    </a:lnTo>
                    <a:lnTo>
                      <a:pt x="15" y="0"/>
                    </a:lnTo>
                    <a:lnTo>
                      <a:pt x="0" y="0"/>
                    </a:lnTo>
                    <a:lnTo>
                      <a:pt x="0" y="21"/>
                    </a:lnTo>
                    <a:lnTo>
                      <a:pt x="11" y="27"/>
                    </a:lnTo>
                    <a:lnTo>
                      <a:pt x="0" y="21"/>
                    </a:lnTo>
                    <a:lnTo>
                      <a:pt x="3" y="25"/>
                    </a:lnTo>
                    <a:lnTo>
                      <a:pt x="7" y="27"/>
                    </a:lnTo>
                    <a:lnTo>
                      <a:pt x="12" y="25"/>
                    </a:lnTo>
                    <a:lnTo>
                      <a:pt x="15" y="21"/>
                    </a:lnTo>
                    <a:lnTo>
                      <a:pt x="4" y="14"/>
                    </a:lnTo>
                    <a:close/>
                  </a:path>
                </a:pathLst>
              </a:custGeom>
              <a:solidFill>
                <a:srgbClr val="000000"/>
              </a:solidFill>
              <a:ln w="9525">
                <a:noFill/>
                <a:round/>
                <a:headEnd/>
                <a:tailEnd/>
              </a:ln>
            </p:spPr>
            <p:txBody>
              <a:bodyPr/>
              <a:lstStyle/>
              <a:p>
                <a:endParaRPr lang="en-US"/>
              </a:p>
            </p:txBody>
          </p:sp>
          <p:sp>
            <p:nvSpPr>
              <p:cNvPr id="23667" name="Freeform 80"/>
              <p:cNvSpPr>
                <a:spLocks/>
              </p:cNvSpPr>
              <p:nvPr/>
            </p:nvSpPr>
            <p:spPr bwMode="auto">
              <a:xfrm>
                <a:off x="1950" y="3568"/>
                <a:ext cx="151" cy="89"/>
              </a:xfrm>
              <a:custGeom>
                <a:avLst/>
                <a:gdLst>
                  <a:gd name="T0" fmla="*/ 1 w 302"/>
                  <a:gd name="T1" fmla="*/ 1 h 178"/>
                  <a:gd name="T2" fmla="*/ 1 w 302"/>
                  <a:gd name="T3" fmla="*/ 0 h 178"/>
                  <a:gd name="T4" fmla="*/ 0 w 302"/>
                  <a:gd name="T5" fmla="*/ 1 h 178"/>
                  <a:gd name="T6" fmla="*/ 1 w 302"/>
                  <a:gd name="T7" fmla="*/ 1 h 178"/>
                  <a:gd name="T8" fmla="*/ 1 w 302"/>
                  <a:gd name="T9" fmla="*/ 1 h 178"/>
                  <a:gd name="T10" fmla="*/ 1 w 302"/>
                  <a:gd name="T11" fmla="*/ 1 h 178"/>
                  <a:gd name="T12" fmla="*/ 1 w 302"/>
                  <a:gd name="T13" fmla="*/ 1 h 178"/>
                  <a:gd name="T14" fmla="*/ 1 w 302"/>
                  <a:gd name="T15" fmla="*/ 1 h 178"/>
                  <a:gd name="T16" fmla="*/ 1 w 302"/>
                  <a:gd name="T17" fmla="*/ 1 h 178"/>
                  <a:gd name="T18" fmla="*/ 1 w 302"/>
                  <a:gd name="T19" fmla="*/ 0 h 178"/>
                  <a:gd name="T20" fmla="*/ 1 w 302"/>
                  <a:gd name="T21" fmla="*/ 0 h 178"/>
                  <a:gd name="T22" fmla="*/ 1 w 302"/>
                  <a:gd name="T23" fmla="*/ 1 h 1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8"/>
                  <a:gd name="T38" fmla="*/ 302 w 302"/>
                  <a:gd name="T39" fmla="*/ 178 h 17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8">
                    <a:moveTo>
                      <a:pt x="287" y="6"/>
                    </a:moveTo>
                    <a:lnTo>
                      <a:pt x="292" y="0"/>
                    </a:lnTo>
                    <a:lnTo>
                      <a:pt x="0" y="165"/>
                    </a:lnTo>
                    <a:lnTo>
                      <a:pt x="7" y="178"/>
                    </a:lnTo>
                    <a:lnTo>
                      <a:pt x="298" y="12"/>
                    </a:lnTo>
                    <a:lnTo>
                      <a:pt x="302" y="6"/>
                    </a:lnTo>
                    <a:lnTo>
                      <a:pt x="298" y="12"/>
                    </a:lnTo>
                    <a:lnTo>
                      <a:pt x="301" y="9"/>
                    </a:lnTo>
                    <a:lnTo>
                      <a:pt x="301" y="3"/>
                    </a:lnTo>
                    <a:lnTo>
                      <a:pt x="296" y="0"/>
                    </a:lnTo>
                    <a:lnTo>
                      <a:pt x="292" y="0"/>
                    </a:lnTo>
                    <a:lnTo>
                      <a:pt x="287" y="6"/>
                    </a:lnTo>
                    <a:close/>
                  </a:path>
                </a:pathLst>
              </a:custGeom>
              <a:solidFill>
                <a:srgbClr val="000000"/>
              </a:solidFill>
              <a:ln w="9525">
                <a:noFill/>
                <a:round/>
                <a:headEnd/>
                <a:tailEnd/>
              </a:ln>
            </p:spPr>
            <p:txBody>
              <a:bodyPr/>
              <a:lstStyle/>
              <a:p>
                <a:endParaRPr lang="en-US"/>
              </a:p>
            </p:txBody>
          </p:sp>
          <p:sp>
            <p:nvSpPr>
              <p:cNvPr id="23668" name="Freeform 81"/>
              <p:cNvSpPr>
                <a:spLocks/>
              </p:cNvSpPr>
              <p:nvPr/>
            </p:nvSpPr>
            <p:spPr bwMode="auto">
              <a:xfrm>
                <a:off x="1918" y="3536"/>
                <a:ext cx="179" cy="108"/>
              </a:xfrm>
              <a:custGeom>
                <a:avLst/>
                <a:gdLst>
                  <a:gd name="T0" fmla="*/ 0 w 359"/>
                  <a:gd name="T1" fmla="*/ 0 h 216"/>
                  <a:gd name="T2" fmla="*/ 0 w 359"/>
                  <a:gd name="T3" fmla="*/ 1 h 216"/>
                  <a:gd name="T4" fmla="*/ 0 w 359"/>
                  <a:gd name="T5" fmla="*/ 1 h 216"/>
                  <a:gd name="T6" fmla="*/ 0 w 359"/>
                  <a:gd name="T7" fmla="*/ 1 h 216"/>
                  <a:gd name="T8" fmla="*/ 0 w 359"/>
                  <a:gd name="T9" fmla="*/ 0 h 216"/>
                  <a:gd name="T10" fmla="*/ 0 60000 65536"/>
                  <a:gd name="T11" fmla="*/ 0 60000 65536"/>
                  <a:gd name="T12" fmla="*/ 0 60000 65536"/>
                  <a:gd name="T13" fmla="*/ 0 60000 65536"/>
                  <a:gd name="T14" fmla="*/ 0 60000 65536"/>
                  <a:gd name="T15" fmla="*/ 0 w 359"/>
                  <a:gd name="T16" fmla="*/ 0 h 216"/>
                  <a:gd name="T17" fmla="*/ 359 w 359"/>
                  <a:gd name="T18" fmla="*/ 216 h 216"/>
                </a:gdLst>
                <a:ahLst/>
                <a:cxnLst>
                  <a:cxn ang="T10">
                    <a:pos x="T0" y="T1"/>
                  </a:cxn>
                  <a:cxn ang="T11">
                    <a:pos x="T2" y="T3"/>
                  </a:cxn>
                  <a:cxn ang="T12">
                    <a:pos x="T4" y="T5"/>
                  </a:cxn>
                  <a:cxn ang="T13">
                    <a:pos x="T6" y="T7"/>
                  </a:cxn>
                  <a:cxn ang="T14">
                    <a:pos x="T8" y="T9"/>
                  </a:cxn>
                </a:cxnLst>
                <a:rect l="T15" t="T16" r="T17" b="T18"/>
                <a:pathLst>
                  <a:path w="359" h="216">
                    <a:moveTo>
                      <a:pt x="285" y="0"/>
                    </a:moveTo>
                    <a:lnTo>
                      <a:pt x="359" y="51"/>
                    </a:lnTo>
                    <a:lnTo>
                      <a:pt x="67" y="216"/>
                    </a:lnTo>
                    <a:lnTo>
                      <a:pt x="0" y="169"/>
                    </a:lnTo>
                    <a:lnTo>
                      <a:pt x="285" y="0"/>
                    </a:lnTo>
                    <a:close/>
                  </a:path>
                </a:pathLst>
              </a:custGeom>
              <a:solidFill>
                <a:srgbClr val="99D8FF"/>
              </a:solidFill>
              <a:ln w="9525">
                <a:noFill/>
                <a:round/>
                <a:headEnd/>
                <a:tailEnd/>
              </a:ln>
            </p:spPr>
            <p:txBody>
              <a:bodyPr/>
              <a:lstStyle/>
              <a:p>
                <a:endParaRPr lang="en-US"/>
              </a:p>
            </p:txBody>
          </p:sp>
          <p:sp>
            <p:nvSpPr>
              <p:cNvPr id="23669" name="Freeform 82"/>
              <p:cNvSpPr>
                <a:spLocks/>
              </p:cNvSpPr>
              <p:nvPr/>
            </p:nvSpPr>
            <p:spPr bwMode="auto">
              <a:xfrm>
                <a:off x="2058" y="3533"/>
                <a:ext cx="43" cy="32"/>
              </a:xfrm>
              <a:custGeom>
                <a:avLst/>
                <a:gdLst>
                  <a:gd name="T0" fmla="*/ 1 w 86"/>
                  <a:gd name="T1" fmla="*/ 1 h 64"/>
                  <a:gd name="T2" fmla="*/ 1 w 86"/>
                  <a:gd name="T3" fmla="*/ 1 h 64"/>
                  <a:gd name="T4" fmla="*/ 1 w 86"/>
                  <a:gd name="T5" fmla="*/ 0 h 64"/>
                  <a:gd name="T6" fmla="*/ 0 w 86"/>
                  <a:gd name="T7" fmla="*/ 1 h 64"/>
                  <a:gd name="T8" fmla="*/ 1 w 86"/>
                  <a:gd name="T9" fmla="*/ 1 h 64"/>
                  <a:gd name="T10" fmla="*/ 1 w 86"/>
                  <a:gd name="T11" fmla="*/ 1 h 64"/>
                  <a:gd name="T12" fmla="*/ 1 w 86"/>
                  <a:gd name="T13" fmla="*/ 1 h 64"/>
                  <a:gd name="T14" fmla="*/ 1 w 86"/>
                  <a:gd name="T15" fmla="*/ 1 h 64"/>
                  <a:gd name="T16" fmla="*/ 1 w 86"/>
                  <a:gd name="T17" fmla="*/ 1 h 64"/>
                  <a:gd name="T18" fmla="*/ 1 w 86"/>
                  <a:gd name="T19" fmla="*/ 1 h 64"/>
                  <a:gd name="T20" fmla="*/ 1 w 86"/>
                  <a:gd name="T21" fmla="*/ 1 h 64"/>
                  <a:gd name="T22" fmla="*/ 1 w 86"/>
                  <a:gd name="T23" fmla="*/ 1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
                  <a:gd name="T37" fmla="*/ 0 h 64"/>
                  <a:gd name="T38" fmla="*/ 86 w 86"/>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 h="64">
                    <a:moveTo>
                      <a:pt x="82" y="63"/>
                    </a:moveTo>
                    <a:lnTo>
                      <a:pt x="83" y="50"/>
                    </a:lnTo>
                    <a:lnTo>
                      <a:pt x="10" y="0"/>
                    </a:lnTo>
                    <a:lnTo>
                      <a:pt x="0" y="13"/>
                    </a:lnTo>
                    <a:lnTo>
                      <a:pt x="74" y="63"/>
                    </a:lnTo>
                    <a:lnTo>
                      <a:pt x="76" y="50"/>
                    </a:lnTo>
                    <a:lnTo>
                      <a:pt x="74" y="63"/>
                    </a:lnTo>
                    <a:lnTo>
                      <a:pt x="80" y="64"/>
                    </a:lnTo>
                    <a:lnTo>
                      <a:pt x="85" y="61"/>
                    </a:lnTo>
                    <a:lnTo>
                      <a:pt x="86" y="55"/>
                    </a:lnTo>
                    <a:lnTo>
                      <a:pt x="83" y="50"/>
                    </a:lnTo>
                    <a:lnTo>
                      <a:pt x="82" y="63"/>
                    </a:lnTo>
                    <a:close/>
                  </a:path>
                </a:pathLst>
              </a:custGeom>
              <a:solidFill>
                <a:srgbClr val="000000"/>
              </a:solidFill>
              <a:ln w="9525">
                <a:noFill/>
                <a:round/>
                <a:headEnd/>
                <a:tailEnd/>
              </a:ln>
            </p:spPr>
            <p:txBody>
              <a:bodyPr/>
              <a:lstStyle/>
              <a:p>
                <a:endParaRPr lang="en-US"/>
              </a:p>
            </p:txBody>
          </p:sp>
          <p:sp>
            <p:nvSpPr>
              <p:cNvPr id="23670" name="Freeform 83"/>
              <p:cNvSpPr>
                <a:spLocks/>
              </p:cNvSpPr>
              <p:nvPr/>
            </p:nvSpPr>
            <p:spPr bwMode="auto">
              <a:xfrm>
                <a:off x="1949" y="3558"/>
                <a:ext cx="150" cy="89"/>
              </a:xfrm>
              <a:custGeom>
                <a:avLst/>
                <a:gdLst>
                  <a:gd name="T0" fmla="*/ 0 w 301"/>
                  <a:gd name="T1" fmla="*/ 0 h 179"/>
                  <a:gd name="T2" fmla="*/ 0 w 301"/>
                  <a:gd name="T3" fmla="*/ 0 h 179"/>
                  <a:gd name="T4" fmla="*/ 0 w 301"/>
                  <a:gd name="T5" fmla="*/ 0 h 179"/>
                  <a:gd name="T6" fmla="*/ 0 w 301"/>
                  <a:gd name="T7" fmla="*/ 0 h 179"/>
                  <a:gd name="T8" fmla="*/ 0 w 301"/>
                  <a:gd name="T9" fmla="*/ 0 h 179"/>
                  <a:gd name="T10" fmla="*/ 0 w 301"/>
                  <a:gd name="T11" fmla="*/ 0 h 179"/>
                  <a:gd name="T12" fmla="*/ 0 w 301"/>
                  <a:gd name="T13" fmla="*/ 0 h 179"/>
                  <a:gd name="T14" fmla="*/ 0 w 301"/>
                  <a:gd name="T15" fmla="*/ 0 h 179"/>
                  <a:gd name="T16" fmla="*/ 0 w 301"/>
                  <a:gd name="T17" fmla="*/ 0 h 179"/>
                  <a:gd name="T18" fmla="*/ 0 w 301"/>
                  <a:gd name="T19" fmla="*/ 0 h 179"/>
                  <a:gd name="T20" fmla="*/ 0 w 301"/>
                  <a:gd name="T21" fmla="*/ 0 h 179"/>
                  <a:gd name="T22" fmla="*/ 0 w 301"/>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179"/>
                  <a:gd name="T38" fmla="*/ 301 w 301"/>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179">
                    <a:moveTo>
                      <a:pt x="2" y="179"/>
                    </a:moveTo>
                    <a:lnTo>
                      <a:pt x="10" y="179"/>
                    </a:lnTo>
                    <a:lnTo>
                      <a:pt x="301" y="13"/>
                    </a:lnTo>
                    <a:lnTo>
                      <a:pt x="295" y="0"/>
                    </a:lnTo>
                    <a:lnTo>
                      <a:pt x="3" y="166"/>
                    </a:lnTo>
                    <a:lnTo>
                      <a:pt x="11" y="166"/>
                    </a:lnTo>
                    <a:lnTo>
                      <a:pt x="3" y="166"/>
                    </a:lnTo>
                    <a:lnTo>
                      <a:pt x="0" y="169"/>
                    </a:lnTo>
                    <a:lnTo>
                      <a:pt x="0" y="174"/>
                    </a:lnTo>
                    <a:lnTo>
                      <a:pt x="5" y="179"/>
                    </a:lnTo>
                    <a:lnTo>
                      <a:pt x="10" y="179"/>
                    </a:lnTo>
                    <a:lnTo>
                      <a:pt x="2" y="179"/>
                    </a:lnTo>
                    <a:close/>
                  </a:path>
                </a:pathLst>
              </a:custGeom>
              <a:solidFill>
                <a:srgbClr val="000000"/>
              </a:solidFill>
              <a:ln w="9525">
                <a:noFill/>
                <a:round/>
                <a:headEnd/>
                <a:tailEnd/>
              </a:ln>
            </p:spPr>
            <p:txBody>
              <a:bodyPr/>
              <a:lstStyle/>
              <a:p>
                <a:endParaRPr lang="en-US"/>
              </a:p>
            </p:txBody>
          </p:sp>
          <p:sp>
            <p:nvSpPr>
              <p:cNvPr id="23671" name="Freeform 84"/>
              <p:cNvSpPr>
                <a:spLocks/>
              </p:cNvSpPr>
              <p:nvPr/>
            </p:nvSpPr>
            <p:spPr bwMode="auto">
              <a:xfrm>
                <a:off x="1914" y="3616"/>
                <a:ext cx="40" cy="31"/>
              </a:xfrm>
              <a:custGeom>
                <a:avLst/>
                <a:gdLst>
                  <a:gd name="T0" fmla="*/ 1 w 80"/>
                  <a:gd name="T1" fmla="*/ 1 h 61"/>
                  <a:gd name="T2" fmla="*/ 1 w 80"/>
                  <a:gd name="T3" fmla="*/ 1 h 61"/>
                  <a:gd name="T4" fmla="*/ 1 w 80"/>
                  <a:gd name="T5" fmla="*/ 1 h 61"/>
                  <a:gd name="T6" fmla="*/ 1 w 80"/>
                  <a:gd name="T7" fmla="*/ 1 h 61"/>
                  <a:gd name="T8" fmla="*/ 1 w 80"/>
                  <a:gd name="T9" fmla="*/ 1 h 61"/>
                  <a:gd name="T10" fmla="*/ 1 w 80"/>
                  <a:gd name="T11" fmla="*/ 1 h 61"/>
                  <a:gd name="T12" fmla="*/ 1 w 80"/>
                  <a:gd name="T13" fmla="*/ 1 h 61"/>
                  <a:gd name="T14" fmla="*/ 1 w 80"/>
                  <a:gd name="T15" fmla="*/ 0 h 61"/>
                  <a:gd name="T16" fmla="*/ 1 w 80"/>
                  <a:gd name="T17" fmla="*/ 1 h 61"/>
                  <a:gd name="T18" fmla="*/ 0 w 80"/>
                  <a:gd name="T19" fmla="*/ 1 h 61"/>
                  <a:gd name="T20" fmla="*/ 1 w 80"/>
                  <a:gd name="T21" fmla="*/ 1 h 61"/>
                  <a:gd name="T22" fmla="*/ 1 w 80"/>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0"/>
                  <a:gd name="T37" fmla="*/ 0 h 61"/>
                  <a:gd name="T38" fmla="*/ 80 w 80"/>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0" h="61">
                    <a:moveTo>
                      <a:pt x="3" y="1"/>
                    </a:moveTo>
                    <a:lnTo>
                      <a:pt x="3" y="14"/>
                    </a:lnTo>
                    <a:lnTo>
                      <a:pt x="71" y="61"/>
                    </a:lnTo>
                    <a:lnTo>
                      <a:pt x="80" y="48"/>
                    </a:lnTo>
                    <a:lnTo>
                      <a:pt x="13" y="1"/>
                    </a:lnTo>
                    <a:lnTo>
                      <a:pt x="13" y="14"/>
                    </a:lnTo>
                    <a:lnTo>
                      <a:pt x="13" y="1"/>
                    </a:lnTo>
                    <a:lnTo>
                      <a:pt x="7" y="0"/>
                    </a:lnTo>
                    <a:lnTo>
                      <a:pt x="2" y="3"/>
                    </a:lnTo>
                    <a:lnTo>
                      <a:pt x="0" y="7"/>
                    </a:lnTo>
                    <a:lnTo>
                      <a:pt x="3" y="14"/>
                    </a:lnTo>
                    <a:lnTo>
                      <a:pt x="3" y="1"/>
                    </a:lnTo>
                    <a:close/>
                  </a:path>
                </a:pathLst>
              </a:custGeom>
              <a:solidFill>
                <a:srgbClr val="000000"/>
              </a:solidFill>
              <a:ln w="9525">
                <a:noFill/>
                <a:round/>
                <a:headEnd/>
                <a:tailEnd/>
              </a:ln>
            </p:spPr>
            <p:txBody>
              <a:bodyPr/>
              <a:lstStyle/>
              <a:p>
                <a:endParaRPr lang="en-US"/>
              </a:p>
            </p:txBody>
          </p:sp>
          <p:sp>
            <p:nvSpPr>
              <p:cNvPr id="23672" name="Freeform 85"/>
              <p:cNvSpPr>
                <a:spLocks/>
              </p:cNvSpPr>
              <p:nvPr/>
            </p:nvSpPr>
            <p:spPr bwMode="auto">
              <a:xfrm>
                <a:off x="1916" y="3532"/>
                <a:ext cx="148" cy="91"/>
              </a:xfrm>
              <a:custGeom>
                <a:avLst/>
                <a:gdLst>
                  <a:gd name="T0" fmla="*/ 0 w 298"/>
                  <a:gd name="T1" fmla="*/ 0 h 183"/>
                  <a:gd name="T2" fmla="*/ 0 w 298"/>
                  <a:gd name="T3" fmla="*/ 0 h 183"/>
                  <a:gd name="T4" fmla="*/ 0 w 298"/>
                  <a:gd name="T5" fmla="*/ 0 h 183"/>
                  <a:gd name="T6" fmla="*/ 0 w 298"/>
                  <a:gd name="T7" fmla="*/ 0 h 183"/>
                  <a:gd name="T8" fmla="*/ 0 w 298"/>
                  <a:gd name="T9" fmla="*/ 0 h 183"/>
                  <a:gd name="T10" fmla="*/ 0 w 298"/>
                  <a:gd name="T11" fmla="*/ 0 h 183"/>
                  <a:gd name="T12" fmla="*/ 0 w 298"/>
                  <a:gd name="T13" fmla="*/ 0 h 183"/>
                  <a:gd name="T14" fmla="*/ 0 w 298"/>
                  <a:gd name="T15" fmla="*/ 0 h 183"/>
                  <a:gd name="T16" fmla="*/ 0 w 298"/>
                  <a:gd name="T17" fmla="*/ 0 h 183"/>
                  <a:gd name="T18" fmla="*/ 0 w 298"/>
                  <a:gd name="T19" fmla="*/ 0 h 183"/>
                  <a:gd name="T20" fmla="*/ 0 w 298"/>
                  <a:gd name="T21" fmla="*/ 0 h 183"/>
                  <a:gd name="T22" fmla="*/ 0 w 298"/>
                  <a:gd name="T23" fmla="*/ 0 h 1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8"/>
                  <a:gd name="T37" fmla="*/ 0 h 183"/>
                  <a:gd name="T38" fmla="*/ 298 w 298"/>
                  <a:gd name="T39" fmla="*/ 183 h 1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8" h="183">
                    <a:moveTo>
                      <a:pt x="295" y="1"/>
                    </a:moveTo>
                    <a:lnTo>
                      <a:pt x="285" y="1"/>
                    </a:lnTo>
                    <a:lnTo>
                      <a:pt x="0" y="170"/>
                    </a:lnTo>
                    <a:lnTo>
                      <a:pt x="10" y="183"/>
                    </a:lnTo>
                    <a:lnTo>
                      <a:pt x="295" y="14"/>
                    </a:lnTo>
                    <a:lnTo>
                      <a:pt x="285" y="14"/>
                    </a:lnTo>
                    <a:lnTo>
                      <a:pt x="295" y="14"/>
                    </a:lnTo>
                    <a:lnTo>
                      <a:pt x="298" y="7"/>
                    </a:lnTo>
                    <a:lnTo>
                      <a:pt x="296" y="3"/>
                    </a:lnTo>
                    <a:lnTo>
                      <a:pt x="292" y="0"/>
                    </a:lnTo>
                    <a:lnTo>
                      <a:pt x="285" y="1"/>
                    </a:lnTo>
                    <a:lnTo>
                      <a:pt x="295" y="1"/>
                    </a:lnTo>
                    <a:close/>
                  </a:path>
                </a:pathLst>
              </a:custGeom>
              <a:solidFill>
                <a:srgbClr val="000000"/>
              </a:solidFill>
              <a:ln w="9525">
                <a:noFill/>
                <a:round/>
                <a:headEnd/>
                <a:tailEnd/>
              </a:ln>
            </p:spPr>
            <p:txBody>
              <a:bodyPr/>
              <a:lstStyle/>
              <a:p>
                <a:endParaRPr lang="en-US"/>
              </a:p>
            </p:txBody>
          </p:sp>
          <p:sp>
            <p:nvSpPr>
              <p:cNvPr id="23673" name="Freeform 86"/>
              <p:cNvSpPr>
                <a:spLocks/>
              </p:cNvSpPr>
              <p:nvPr/>
            </p:nvSpPr>
            <p:spPr bwMode="auto">
              <a:xfrm>
                <a:off x="1919" y="3620"/>
                <a:ext cx="33" cy="34"/>
              </a:xfrm>
              <a:custGeom>
                <a:avLst/>
                <a:gdLst>
                  <a:gd name="T0" fmla="*/ 0 w 65"/>
                  <a:gd name="T1" fmla="*/ 1 h 68"/>
                  <a:gd name="T2" fmla="*/ 0 w 65"/>
                  <a:gd name="T3" fmla="*/ 0 h 68"/>
                  <a:gd name="T4" fmla="*/ 1 w 65"/>
                  <a:gd name="T5" fmla="*/ 1 h 68"/>
                  <a:gd name="T6" fmla="*/ 1 w 65"/>
                  <a:gd name="T7" fmla="*/ 1 h 68"/>
                  <a:gd name="T8" fmla="*/ 0 w 65"/>
                  <a:gd name="T9" fmla="*/ 1 h 68"/>
                  <a:gd name="T10" fmla="*/ 0 60000 65536"/>
                  <a:gd name="T11" fmla="*/ 0 60000 65536"/>
                  <a:gd name="T12" fmla="*/ 0 60000 65536"/>
                  <a:gd name="T13" fmla="*/ 0 60000 65536"/>
                  <a:gd name="T14" fmla="*/ 0 60000 65536"/>
                  <a:gd name="T15" fmla="*/ 0 w 65"/>
                  <a:gd name="T16" fmla="*/ 0 h 68"/>
                  <a:gd name="T17" fmla="*/ 65 w 65"/>
                  <a:gd name="T18" fmla="*/ 68 h 68"/>
                </a:gdLst>
                <a:ahLst/>
                <a:cxnLst>
                  <a:cxn ang="T10">
                    <a:pos x="T0" y="T1"/>
                  </a:cxn>
                  <a:cxn ang="T11">
                    <a:pos x="T2" y="T3"/>
                  </a:cxn>
                  <a:cxn ang="T12">
                    <a:pos x="T4" y="T5"/>
                  </a:cxn>
                  <a:cxn ang="T13">
                    <a:pos x="T6" y="T7"/>
                  </a:cxn>
                  <a:cxn ang="T14">
                    <a:pos x="T8" y="T9"/>
                  </a:cxn>
                </a:cxnLst>
                <a:rect l="T15" t="T16" r="T17" b="T18"/>
                <a:pathLst>
                  <a:path w="65" h="68">
                    <a:moveTo>
                      <a:pt x="0" y="29"/>
                    </a:moveTo>
                    <a:lnTo>
                      <a:pt x="0" y="0"/>
                    </a:lnTo>
                    <a:lnTo>
                      <a:pt x="65" y="47"/>
                    </a:lnTo>
                    <a:lnTo>
                      <a:pt x="65" y="68"/>
                    </a:lnTo>
                    <a:lnTo>
                      <a:pt x="0" y="29"/>
                    </a:lnTo>
                    <a:close/>
                  </a:path>
                </a:pathLst>
              </a:custGeom>
              <a:solidFill>
                <a:srgbClr val="4CB2FF"/>
              </a:solidFill>
              <a:ln w="9525">
                <a:noFill/>
                <a:round/>
                <a:headEnd/>
                <a:tailEnd/>
              </a:ln>
            </p:spPr>
            <p:txBody>
              <a:bodyPr/>
              <a:lstStyle/>
              <a:p>
                <a:endParaRPr lang="en-US"/>
              </a:p>
            </p:txBody>
          </p:sp>
          <p:sp>
            <p:nvSpPr>
              <p:cNvPr id="23674" name="Freeform 87"/>
              <p:cNvSpPr>
                <a:spLocks/>
              </p:cNvSpPr>
              <p:nvPr/>
            </p:nvSpPr>
            <p:spPr bwMode="auto">
              <a:xfrm>
                <a:off x="1915" y="3616"/>
                <a:ext cx="8" cy="18"/>
              </a:xfrm>
              <a:custGeom>
                <a:avLst/>
                <a:gdLst>
                  <a:gd name="T0" fmla="*/ 1 w 15"/>
                  <a:gd name="T1" fmla="*/ 1 h 36"/>
                  <a:gd name="T2" fmla="*/ 0 w 15"/>
                  <a:gd name="T3" fmla="*/ 1 h 36"/>
                  <a:gd name="T4" fmla="*/ 0 w 15"/>
                  <a:gd name="T5" fmla="*/ 1 h 36"/>
                  <a:gd name="T6" fmla="*/ 1 w 15"/>
                  <a:gd name="T7" fmla="*/ 1 h 36"/>
                  <a:gd name="T8" fmla="*/ 1 w 15"/>
                  <a:gd name="T9" fmla="*/ 1 h 36"/>
                  <a:gd name="T10" fmla="*/ 1 w 15"/>
                  <a:gd name="T11" fmla="*/ 1 h 36"/>
                  <a:gd name="T12" fmla="*/ 1 w 15"/>
                  <a:gd name="T13" fmla="*/ 1 h 36"/>
                  <a:gd name="T14" fmla="*/ 1 w 15"/>
                  <a:gd name="T15" fmla="*/ 1 h 36"/>
                  <a:gd name="T16" fmla="*/ 1 w 15"/>
                  <a:gd name="T17" fmla="*/ 0 h 36"/>
                  <a:gd name="T18" fmla="*/ 1 w 15"/>
                  <a:gd name="T19" fmla="*/ 1 h 36"/>
                  <a:gd name="T20" fmla="*/ 0 w 15"/>
                  <a:gd name="T21" fmla="*/ 1 h 36"/>
                  <a:gd name="T22" fmla="*/ 1 w 15"/>
                  <a:gd name="T23" fmla="*/ 1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36"/>
                  <a:gd name="T38" fmla="*/ 15 w 15"/>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36">
                    <a:moveTo>
                      <a:pt x="12" y="1"/>
                    </a:moveTo>
                    <a:lnTo>
                      <a:pt x="0" y="7"/>
                    </a:lnTo>
                    <a:lnTo>
                      <a:pt x="0" y="36"/>
                    </a:lnTo>
                    <a:lnTo>
                      <a:pt x="15" y="36"/>
                    </a:lnTo>
                    <a:lnTo>
                      <a:pt x="15" y="7"/>
                    </a:lnTo>
                    <a:lnTo>
                      <a:pt x="3" y="14"/>
                    </a:lnTo>
                    <a:lnTo>
                      <a:pt x="15" y="7"/>
                    </a:lnTo>
                    <a:lnTo>
                      <a:pt x="12" y="3"/>
                    </a:lnTo>
                    <a:lnTo>
                      <a:pt x="8" y="0"/>
                    </a:lnTo>
                    <a:lnTo>
                      <a:pt x="3" y="3"/>
                    </a:lnTo>
                    <a:lnTo>
                      <a:pt x="0" y="7"/>
                    </a:lnTo>
                    <a:lnTo>
                      <a:pt x="12" y="1"/>
                    </a:lnTo>
                    <a:close/>
                  </a:path>
                </a:pathLst>
              </a:custGeom>
              <a:solidFill>
                <a:srgbClr val="000000"/>
              </a:solidFill>
              <a:ln w="9525">
                <a:noFill/>
                <a:round/>
                <a:headEnd/>
                <a:tailEnd/>
              </a:ln>
            </p:spPr>
            <p:txBody>
              <a:bodyPr/>
              <a:lstStyle/>
              <a:p>
                <a:endParaRPr lang="en-US"/>
              </a:p>
            </p:txBody>
          </p:sp>
          <p:sp>
            <p:nvSpPr>
              <p:cNvPr id="23675" name="Freeform 88"/>
              <p:cNvSpPr>
                <a:spLocks/>
              </p:cNvSpPr>
              <p:nvPr/>
            </p:nvSpPr>
            <p:spPr bwMode="auto">
              <a:xfrm>
                <a:off x="1916" y="3617"/>
                <a:ext cx="40" cy="31"/>
              </a:xfrm>
              <a:custGeom>
                <a:avLst/>
                <a:gdLst>
                  <a:gd name="T0" fmla="*/ 1 w 78"/>
                  <a:gd name="T1" fmla="*/ 1 h 61"/>
                  <a:gd name="T2" fmla="*/ 1 w 78"/>
                  <a:gd name="T3" fmla="*/ 1 h 61"/>
                  <a:gd name="T4" fmla="*/ 1 w 78"/>
                  <a:gd name="T5" fmla="*/ 0 h 61"/>
                  <a:gd name="T6" fmla="*/ 0 w 78"/>
                  <a:gd name="T7" fmla="*/ 1 h 61"/>
                  <a:gd name="T8" fmla="*/ 1 w 78"/>
                  <a:gd name="T9" fmla="*/ 1 h 61"/>
                  <a:gd name="T10" fmla="*/ 1 w 78"/>
                  <a:gd name="T11" fmla="*/ 1 h 61"/>
                  <a:gd name="T12" fmla="*/ 1 w 78"/>
                  <a:gd name="T13" fmla="*/ 1 h 61"/>
                  <a:gd name="T14" fmla="*/ 1 w 78"/>
                  <a:gd name="T15" fmla="*/ 1 h 61"/>
                  <a:gd name="T16" fmla="*/ 1 w 78"/>
                  <a:gd name="T17" fmla="*/ 1 h 61"/>
                  <a:gd name="T18" fmla="*/ 1 w 78"/>
                  <a:gd name="T19" fmla="*/ 1 h 61"/>
                  <a:gd name="T20" fmla="*/ 1 w 78"/>
                  <a:gd name="T21" fmla="*/ 1 h 61"/>
                  <a:gd name="T22" fmla="*/ 1 w 78"/>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61"/>
                  <a:gd name="T38" fmla="*/ 78 w 78"/>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61">
                    <a:moveTo>
                      <a:pt x="78" y="53"/>
                    </a:moveTo>
                    <a:lnTo>
                      <a:pt x="75" y="47"/>
                    </a:lnTo>
                    <a:lnTo>
                      <a:pt x="9" y="0"/>
                    </a:lnTo>
                    <a:lnTo>
                      <a:pt x="0" y="13"/>
                    </a:lnTo>
                    <a:lnTo>
                      <a:pt x="66" y="60"/>
                    </a:lnTo>
                    <a:lnTo>
                      <a:pt x="63" y="53"/>
                    </a:lnTo>
                    <a:lnTo>
                      <a:pt x="66" y="60"/>
                    </a:lnTo>
                    <a:lnTo>
                      <a:pt x="72" y="61"/>
                    </a:lnTo>
                    <a:lnTo>
                      <a:pt x="77" y="58"/>
                    </a:lnTo>
                    <a:lnTo>
                      <a:pt x="78" y="52"/>
                    </a:lnTo>
                    <a:lnTo>
                      <a:pt x="75" y="47"/>
                    </a:lnTo>
                    <a:lnTo>
                      <a:pt x="78" y="53"/>
                    </a:lnTo>
                    <a:close/>
                  </a:path>
                </a:pathLst>
              </a:custGeom>
              <a:solidFill>
                <a:srgbClr val="000000"/>
              </a:solidFill>
              <a:ln w="9525">
                <a:noFill/>
                <a:round/>
                <a:headEnd/>
                <a:tailEnd/>
              </a:ln>
            </p:spPr>
            <p:txBody>
              <a:bodyPr/>
              <a:lstStyle/>
              <a:p>
                <a:endParaRPr lang="en-US"/>
              </a:p>
            </p:txBody>
          </p:sp>
          <p:sp>
            <p:nvSpPr>
              <p:cNvPr id="23676" name="Freeform 89"/>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3" y="27"/>
                    </a:moveTo>
                    <a:lnTo>
                      <a:pt x="15" y="21"/>
                    </a:lnTo>
                    <a:lnTo>
                      <a:pt x="15" y="0"/>
                    </a:lnTo>
                    <a:lnTo>
                      <a:pt x="0" y="0"/>
                    </a:lnTo>
                    <a:lnTo>
                      <a:pt x="0" y="21"/>
                    </a:lnTo>
                    <a:lnTo>
                      <a:pt x="12" y="14"/>
                    </a:lnTo>
                    <a:lnTo>
                      <a:pt x="0" y="21"/>
                    </a:lnTo>
                    <a:lnTo>
                      <a:pt x="3" y="25"/>
                    </a:lnTo>
                    <a:lnTo>
                      <a:pt x="7" y="27"/>
                    </a:lnTo>
                    <a:lnTo>
                      <a:pt x="12" y="25"/>
                    </a:lnTo>
                    <a:lnTo>
                      <a:pt x="15" y="21"/>
                    </a:lnTo>
                    <a:lnTo>
                      <a:pt x="3" y="27"/>
                    </a:lnTo>
                    <a:close/>
                  </a:path>
                </a:pathLst>
              </a:custGeom>
              <a:solidFill>
                <a:srgbClr val="000000"/>
              </a:solidFill>
              <a:ln w="9525">
                <a:noFill/>
                <a:round/>
                <a:headEnd/>
                <a:tailEnd/>
              </a:ln>
            </p:spPr>
            <p:txBody>
              <a:bodyPr/>
              <a:lstStyle/>
              <a:p>
                <a:endParaRPr lang="en-US"/>
              </a:p>
            </p:txBody>
          </p:sp>
          <p:sp>
            <p:nvSpPr>
              <p:cNvPr id="23677" name="Freeform 90"/>
              <p:cNvSpPr>
                <a:spLocks/>
              </p:cNvSpPr>
              <p:nvPr/>
            </p:nvSpPr>
            <p:spPr bwMode="auto">
              <a:xfrm>
                <a:off x="1915" y="3630"/>
                <a:ext cx="39" cy="27"/>
              </a:xfrm>
              <a:custGeom>
                <a:avLst/>
                <a:gdLst>
                  <a:gd name="T0" fmla="*/ 0 w 78"/>
                  <a:gd name="T1" fmla="*/ 1 h 53"/>
                  <a:gd name="T2" fmla="*/ 1 w 78"/>
                  <a:gd name="T3" fmla="*/ 1 h 53"/>
                  <a:gd name="T4" fmla="*/ 1 w 78"/>
                  <a:gd name="T5" fmla="*/ 1 h 53"/>
                  <a:gd name="T6" fmla="*/ 1 w 78"/>
                  <a:gd name="T7" fmla="*/ 1 h 53"/>
                  <a:gd name="T8" fmla="*/ 1 w 78"/>
                  <a:gd name="T9" fmla="*/ 1 h 53"/>
                  <a:gd name="T10" fmla="*/ 1 w 78"/>
                  <a:gd name="T11" fmla="*/ 1 h 53"/>
                  <a:gd name="T12" fmla="*/ 1 w 78"/>
                  <a:gd name="T13" fmla="*/ 1 h 53"/>
                  <a:gd name="T14" fmla="*/ 1 w 78"/>
                  <a:gd name="T15" fmla="*/ 0 h 53"/>
                  <a:gd name="T16" fmla="*/ 1 w 78"/>
                  <a:gd name="T17" fmla="*/ 1 h 53"/>
                  <a:gd name="T18" fmla="*/ 0 w 78"/>
                  <a:gd name="T19" fmla="*/ 1 h 53"/>
                  <a:gd name="T20" fmla="*/ 1 w 78"/>
                  <a:gd name="T21" fmla="*/ 1 h 53"/>
                  <a:gd name="T22" fmla="*/ 0 w 78"/>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53"/>
                  <a:gd name="T38" fmla="*/ 78 w 78"/>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53">
                    <a:moveTo>
                      <a:pt x="0" y="8"/>
                    </a:moveTo>
                    <a:lnTo>
                      <a:pt x="3" y="14"/>
                    </a:lnTo>
                    <a:lnTo>
                      <a:pt x="69" y="53"/>
                    </a:lnTo>
                    <a:lnTo>
                      <a:pt x="78" y="40"/>
                    </a:lnTo>
                    <a:lnTo>
                      <a:pt x="12" y="1"/>
                    </a:lnTo>
                    <a:lnTo>
                      <a:pt x="15" y="8"/>
                    </a:lnTo>
                    <a:lnTo>
                      <a:pt x="12" y="1"/>
                    </a:lnTo>
                    <a:lnTo>
                      <a:pt x="6" y="0"/>
                    </a:lnTo>
                    <a:lnTo>
                      <a:pt x="1" y="3"/>
                    </a:lnTo>
                    <a:lnTo>
                      <a:pt x="0" y="8"/>
                    </a:lnTo>
                    <a:lnTo>
                      <a:pt x="3" y="14"/>
                    </a:lnTo>
                    <a:lnTo>
                      <a:pt x="0" y="8"/>
                    </a:lnTo>
                    <a:close/>
                  </a:path>
                </a:pathLst>
              </a:custGeom>
              <a:solidFill>
                <a:srgbClr val="000000"/>
              </a:solidFill>
              <a:ln w="9525">
                <a:noFill/>
                <a:round/>
                <a:headEnd/>
                <a:tailEnd/>
              </a:ln>
            </p:spPr>
            <p:txBody>
              <a:bodyPr/>
              <a:lstStyle/>
              <a:p>
                <a:endParaRPr lang="en-US"/>
              </a:p>
            </p:txBody>
          </p:sp>
          <p:sp>
            <p:nvSpPr>
              <p:cNvPr id="23678" name="Freeform 91"/>
              <p:cNvSpPr>
                <a:spLocks/>
              </p:cNvSpPr>
              <p:nvPr/>
            </p:nvSpPr>
            <p:spPr bwMode="auto">
              <a:xfrm>
                <a:off x="2153" y="3445"/>
                <a:ext cx="76" cy="75"/>
              </a:xfrm>
              <a:custGeom>
                <a:avLst/>
                <a:gdLst>
                  <a:gd name="T0" fmla="*/ 0 w 152"/>
                  <a:gd name="T1" fmla="*/ 0 h 150"/>
                  <a:gd name="T2" fmla="*/ 0 w 152"/>
                  <a:gd name="T3" fmla="*/ 1 h 150"/>
                  <a:gd name="T4" fmla="*/ 1 w 152"/>
                  <a:gd name="T5" fmla="*/ 1 h 150"/>
                  <a:gd name="T6" fmla="*/ 1 w 152"/>
                  <a:gd name="T7" fmla="*/ 1 h 150"/>
                  <a:gd name="T8" fmla="*/ 1 w 152"/>
                  <a:gd name="T9" fmla="*/ 1 h 150"/>
                  <a:gd name="T10" fmla="*/ 1 w 152"/>
                  <a:gd name="T11" fmla="*/ 1 h 150"/>
                  <a:gd name="T12" fmla="*/ 1 w 152"/>
                  <a:gd name="T13" fmla="*/ 1 h 150"/>
                  <a:gd name="T14" fmla="*/ 1 w 152"/>
                  <a:gd name="T15" fmla="*/ 1 h 150"/>
                  <a:gd name="T16" fmla="*/ 1 w 152"/>
                  <a:gd name="T17" fmla="*/ 1 h 150"/>
                  <a:gd name="T18" fmla="*/ 1 w 152"/>
                  <a:gd name="T19" fmla="*/ 1 h 150"/>
                  <a:gd name="T20" fmla="*/ 1 w 152"/>
                  <a:gd name="T21" fmla="*/ 1 h 150"/>
                  <a:gd name="T22" fmla="*/ 1 w 152"/>
                  <a:gd name="T23" fmla="*/ 1 h 150"/>
                  <a:gd name="T24" fmla="*/ 1 w 152"/>
                  <a:gd name="T25" fmla="*/ 1 h 150"/>
                  <a:gd name="T26" fmla="*/ 1 w 152"/>
                  <a:gd name="T27" fmla="*/ 1 h 150"/>
                  <a:gd name="T28" fmla="*/ 1 w 152"/>
                  <a:gd name="T29" fmla="*/ 1 h 150"/>
                  <a:gd name="T30" fmla="*/ 1 w 152"/>
                  <a:gd name="T31" fmla="*/ 1 h 150"/>
                  <a:gd name="T32" fmla="*/ 1 w 152"/>
                  <a:gd name="T33" fmla="*/ 1 h 150"/>
                  <a:gd name="T34" fmla="*/ 1 w 152"/>
                  <a:gd name="T35" fmla="*/ 1 h 150"/>
                  <a:gd name="T36" fmla="*/ 1 w 152"/>
                  <a:gd name="T37" fmla="*/ 1 h 150"/>
                  <a:gd name="T38" fmla="*/ 1 w 152"/>
                  <a:gd name="T39" fmla="*/ 1 h 150"/>
                  <a:gd name="T40" fmla="*/ 1 w 152"/>
                  <a:gd name="T41" fmla="*/ 1 h 150"/>
                  <a:gd name="T42" fmla="*/ 1 w 152"/>
                  <a:gd name="T43" fmla="*/ 1 h 150"/>
                  <a:gd name="T44" fmla="*/ 1 w 152"/>
                  <a:gd name="T45" fmla="*/ 1 h 150"/>
                  <a:gd name="T46" fmla="*/ 1 w 152"/>
                  <a:gd name="T47" fmla="*/ 1 h 150"/>
                  <a:gd name="T48" fmla="*/ 1 w 152"/>
                  <a:gd name="T49" fmla="*/ 1 h 150"/>
                  <a:gd name="T50" fmla="*/ 1 w 152"/>
                  <a:gd name="T51" fmla="*/ 1 h 150"/>
                  <a:gd name="T52" fmla="*/ 1 w 152"/>
                  <a:gd name="T53" fmla="*/ 1 h 150"/>
                  <a:gd name="T54" fmla="*/ 1 w 152"/>
                  <a:gd name="T55" fmla="*/ 1 h 150"/>
                  <a:gd name="T56" fmla="*/ 1 w 152"/>
                  <a:gd name="T57" fmla="*/ 1 h 150"/>
                  <a:gd name="T58" fmla="*/ 1 w 152"/>
                  <a:gd name="T59" fmla="*/ 1 h 150"/>
                  <a:gd name="T60" fmla="*/ 1 w 152"/>
                  <a:gd name="T61" fmla="*/ 1 h 150"/>
                  <a:gd name="T62" fmla="*/ 1 w 152"/>
                  <a:gd name="T63" fmla="*/ 1 h 150"/>
                  <a:gd name="T64" fmla="*/ 1 w 152"/>
                  <a:gd name="T65" fmla="*/ 1 h 150"/>
                  <a:gd name="T66" fmla="*/ 1 w 152"/>
                  <a:gd name="T67" fmla="*/ 1 h 150"/>
                  <a:gd name="T68" fmla="*/ 0 w 152"/>
                  <a:gd name="T69" fmla="*/ 0 h 15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2"/>
                  <a:gd name="T106" fmla="*/ 0 h 150"/>
                  <a:gd name="T107" fmla="*/ 152 w 152"/>
                  <a:gd name="T108" fmla="*/ 150 h 15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2" h="150">
                    <a:moveTo>
                      <a:pt x="0" y="0"/>
                    </a:moveTo>
                    <a:lnTo>
                      <a:pt x="0" y="3"/>
                    </a:lnTo>
                    <a:lnTo>
                      <a:pt x="1" y="12"/>
                    </a:lnTo>
                    <a:lnTo>
                      <a:pt x="1" y="27"/>
                    </a:lnTo>
                    <a:lnTo>
                      <a:pt x="3" y="42"/>
                    </a:lnTo>
                    <a:lnTo>
                      <a:pt x="5" y="59"/>
                    </a:lnTo>
                    <a:lnTo>
                      <a:pt x="6" y="74"/>
                    </a:lnTo>
                    <a:lnTo>
                      <a:pt x="8" y="86"/>
                    </a:lnTo>
                    <a:lnTo>
                      <a:pt x="9" y="92"/>
                    </a:lnTo>
                    <a:lnTo>
                      <a:pt x="12" y="100"/>
                    </a:lnTo>
                    <a:lnTo>
                      <a:pt x="17" y="108"/>
                    </a:lnTo>
                    <a:lnTo>
                      <a:pt x="19" y="114"/>
                    </a:lnTo>
                    <a:lnTo>
                      <a:pt x="20" y="117"/>
                    </a:lnTo>
                    <a:lnTo>
                      <a:pt x="20" y="119"/>
                    </a:lnTo>
                    <a:lnTo>
                      <a:pt x="22" y="120"/>
                    </a:lnTo>
                    <a:lnTo>
                      <a:pt x="25" y="125"/>
                    </a:lnTo>
                    <a:lnTo>
                      <a:pt x="26" y="130"/>
                    </a:lnTo>
                    <a:lnTo>
                      <a:pt x="31" y="136"/>
                    </a:lnTo>
                    <a:lnTo>
                      <a:pt x="41" y="142"/>
                    </a:lnTo>
                    <a:lnTo>
                      <a:pt x="50" y="147"/>
                    </a:lnTo>
                    <a:lnTo>
                      <a:pt x="61" y="150"/>
                    </a:lnTo>
                    <a:lnTo>
                      <a:pt x="66" y="150"/>
                    </a:lnTo>
                    <a:lnTo>
                      <a:pt x="72" y="150"/>
                    </a:lnTo>
                    <a:lnTo>
                      <a:pt x="80" y="149"/>
                    </a:lnTo>
                    <a:lnTo>
                      <a:pt x="89" y="147"/>
                    </a:lnTo>
                    <a:lnTo>
                      <a:pt x="98" y="145"/>
                    </a:lnTo>
                    <a:lnTo>
                      <a:pt x="108" y="142"/>
                    </a:lnTo>
                    <a:lnTo>
                      <a:pt x="117" y="139"/>
                    </a:lnTo>
                    <a:lnTo>
                      <a:pt x="127" y="136"/>
                    </a:lnTo>
                    <a:lnTo>
                      <a:pt x="141" y="128"/>
                    </a:lnTo>
                    <a:lnTo>
                      <a:pt x="149" y="122"/>
                    </a:lnTo>
                    <a:lnTo>
                      <a:pt x="152" y="120"/>
                    </a:lnTo>
                    <a:lnTo>
                      <a:pt x="152" y="119"/>
                    </a:lnTo>
                    <a:lnTo>
                      <a:pt x="141" y="92"/>
                    </a:lnTo>
                    <a:lnTo>
                      <a:pt x="0" y="0"/>
                    </a:lnTo>
                    <a:close/>
                  </a:path>
                </a:pathLst>
              </a:custGeom>
              <a:solidFill>
                <a:srgbClr val="FFB27F"/>
              </a:solidFill>
              <a:ln w="9525">
                <a:noFill/>
                <a:round/>
                <a:headEnd/>
                <a:tailEnd/>
              </a:ln>
            </p:spPr>
            <p:txBody>
              <a:bodyPr/>
              <a:lstStyle/>
              <a:p>
                <a:endParaRPr lang="en-US"/>
              </a:p>
            </p:txBody>
          </p:sp>
          <p:sp>
            <p:nvSpPr>
              <p:cNvPr id="23679" name="Freeform 92"/>
              <p:cNvSpPr>
                <a:spLocks/>
              </p:cNvSpPr>
              <p:nvPr/>
            </p:nvSpPr>
            <p:spPr bwMode="auto">
              <a:xfrm>
                <a:off x="2147" y="3445"/>
                <a:ext cx="15" cy="48"/>
              </a:xfrm>
              <a:custGeom>
                <a:avLst/>
                <a:gdLst>
                  <a:gd name="T0" fmla="*/ 1 w 30"/>
                  <a:gd name="T1" fmla="*/ 0 h 97"/>
                  <a:gd name="T2" fmla="*/ 1 w 30"/>
                  <a:gd name="T3" fmla="*/ 0 h 97"/>
                  <a:gd name="T4" fmla="*/ 1 w 30"/>
                  <a:gd name="T5" fmla="*/ 0 h 97"/>
                  <a:gd name="T6" fmla="*/ 1 w 30"/>
                  <a:gd name="T7" fmla="*/ 0 h 97"/>
                  <a:gd name="T8" fmla="*/ 1 w 30"/>
                  <a:gd name="T9" fmla="*/ 0 h 97"/>
                  <a:gd name="T10" fmla="*/ 1 w 30"/>
                  <a:gd name="T11" fmla="*/ 0 h 97"/>
                  <a:gd name="T12" fmla="*/ 1 w 30"/>
                  <a:gd name="T13" fmla="*/ 0 h 97"/>
                  <a:gd name="T14" fmla="*/ 1 w 30"/>
                  <a:gd name="T15" fmla="*/ 0 h 97"/>
                  <a:gd name="T16" fmla="*/ 1 w 30"/>
                  <a:gd name="T17" fmla="*/ 0 h 97"/>
                  <a:gd name="T18" fmla="*/ 1 w 30"/>
                  <a:gd name="T19" fmla="*/ 0 h 97"/>
                  <a:gd name="T20" fmla="*/ 0 w 30"/>
                  <a:gd name="T21" fmla="*/ 0 h 97"/>
                  <a:gd name="T22" fmla="*/ 0 w 30"/>
                  <a:gd name="T23" fmla="*/ 0 h 97"/>
                  <a:gd name="T24" fmla="*/ 1 w 30"/>
                  <a:gd name="T25" fmla="*/ 0 h 97"/>
                  <a:gd name="T26" fmla="*/ 1 w 30"/>
                  <a:gd name="T27" fmla="*/ 0 h 97"/>
                  <a:gd name="T28" fmla="*/ 1 w 30"/>
                  <a:gd name="T29" fmla="*/ 0 h 97"/>
                  <a:gd name="T30" fmla="*/ 1 w 30"/>
                  <a:gd name="T31" fmla="*/ 0 h 97"/>
                  <a:gd name="T32" fmla="*/ 1 w 30"/>
                  <a:gd name="T33" fmla="*/ 0 h 97"/>
                  <a:gd name="T34" fmla="*/ 1 w 30"/>
                  <a:gd name="T35" fmla="*/ 0 h 97"/>
                  <a:gd name="T36" fmla="*/ 1 w 30"/>
                  <a:gd name="T37" fmla="*/ 0 h 97"/>
                  <a:gd name="T38" fmla="*/ 1 w 30"/>
                  <a:gd name="T39" fmla="*/ 0 h 97"/>
                  <a:gd name="T40" fmla="*/ 1 w 30"/>
                  <a:gd name="T41" fmla="*/ 0 h 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97"/>
                  <a:gd name="T65" fmla="*/ 30 w 30"/>
                  <a:gd name="T66" fmla="*/ 97 h 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97">
                    <a:moveTo>
                      <a:pt x="30" y="88"/>
                    </a:moveTo>
                    <a:lnTo>
                      <a:pt x="30" y="88"/>
                    </a:lnTo>
                    <a:lnTo>
                      <a:pt x="30" y="84"/>
                    </a:lnTo>
                    <a:lnTo>
                      <a:pt x="28" y="72"/>
                    </a:lnTo>
                    <a:lnTo>
                      <a:pt x="26" y="58"/>
                    </a:lnTo>
                    <a:lnTo>
                      <a:pt x="25" y="41"/>
                    </a:lnTo>
                    <a:lnTo>
                      <a:pt x="23" y="27"/>
                    </a:lnTo>
                    <a:lnTo>
                      <a:pt x="23" y="12"/>
                    </a:lnTo>
                    <a:lnTo>
                      <a:pt x="22" y="2"/>
                    </a:lnTo>
                    <a:lnTo>
                      <a:pt x="22" y="0"/>
                    </a:lnTo>
                    <a:lnTo>
                      <a:pt x="0" y="0"/>
                    </a:lnTo>
                    <a:lnTo>
                      <a:pt x="0" y="5"/>
                    </a:lnTo>
                    <a:lnTo>
                      <a:pt x="1" y="12"/>
                    </a:lnTo>
                    <a:lnTo>
                      <a:pt x="1" y="27"/>
                    </a:lnTo>
                    <a:lnTo>
                      <a:pt x="3" y="44"/>
                    </a:lnTo>
                    <a:lnTo>
                      <a:pt x="5" y="61"/>
                    </a:lnTo>
                    <a:lnTo>
                      <a:pt x="6" y="75"/>
                    </a:lnTo>
                    <a:lnTo>
                      <a:pt x="8" y="88"/>
                    </a:lnTo>
                    <a:lnTo>
                      <a:pt x="11" y="97"/>
                    </a:lnTo>
                    <a:lnTo>
                      <a:pt x="30" y="88"/>
                    </a:lnTo>
                    <a:close/>
                  </a:path>
                </a:pathLst>
              </a:custGeom>
              <a:solidFill>
                <a:srgbClr val="000000"/>
              </a:solidFill>
              <a:ln w="9525">
                <a:noFill/>
                <a:round/>
                <a:headEnd/>
                <a:tailEnd/>
              </a:ln>
            </p:spPr>
            <p:txBody>
              <a:bodyPr/>
              <a:lstStyle/>
              <a:p>
                <a:endParaRPr lang="en-US"/>
              </a:p>
            </p:txBody>
          </p:sp>
          <p:sp>
            <p:nvSpPr>
              <p:cNvPr id="23680" name="Freeform 93"/>
              <p:cNvSpPr>
                <a:spLocks/>
              </p:cNvSpPr>
              <p:nvPr/>
            </p:nvSpPr>
            <p:spPr bwMode="auto">
              <a:xfrm>
                <a:off x="2153" y="3489"/>
                <a:ext cx="16" cy="20"/>
              </a:xfrm>
              <a:custGeom>
                <a:avLst/>
                <a:gdLst>
                  <a:gd name="T0" fmla="*/ 1 w 31"/>
                  <a:gd name="T1" fmla="*/ 1 h 40"/>
                  <a:gd name="T2" fmla="*/ 1 w 31"/>
                  <a:gd name="T3" fmla="*/ 1 h 40"/>
                  <a:gd name="T4" fmla="*/ 1 w 31"/>
                  <a:gd name="T5" fmla="*/ 1 h 40"/>
                  <a:gd name="T6" fmla="*/ 1 w 31"/>
                  <a:gd name="T7" fmla="*/ 1 h 40"/>
                  <a:gd name="T8" fmla="*/ 1 w 31"/>
                  <a:gd name="T9" fmla="*/ 1 h 40"/>
                  <a:gd name="T10" fmla="*/ 1 w 31"/>
                  <a:gd name="T11" fmla="*/ 0 h 40"/>
                  <a:gd name="T12" fmla="*/ 0 w 31"/>
                  <a:gd name="T13" fmla="*/ 1 h 40"/>
                  <a:gd name="T14" fmla="*/ 1 w 31"/>
                  <a:gd name="T15" fmla="*/ 1 h 40"/>
                  <a:gd name="T16" fmla="*/ 1 w 31"/>
                  <a:gd name="T17" fmla="*/ 1 h 40"/>
                  <a:gd name="T18" fmla="*/ 1 w 31"/>
                  <a:gd name="T19" fmla="*/ 1 h 40"/>
                  <a:gd name="T20" fmla="*/ 1 w 31"/>
                  <a:gd name="T21" fmla="*/ 1 h 40"/>
                  <a:gd name="T22" fmla="*/ 1 w 31"/>
                  <a:gd name="T23" fmla="*/ 1 h 40"/>
                  <a:gd name="T24" fmla="*/ 1 w 31"/>
                  <a:gd name="T25" fmla="*/ 1 h 40"/>
                  <a:gd name="T26" fmla="*/ 1 w 31"/>
                  <a:gd name="T27" fmla="*/ 1 h 40"/>
                  <a:gd name="T28" fmla="*/ 1 w 31"/>
                  <a:gd name="T29" fmla="*/ 1 h 40"/>
                  <a:gd name="T30" fmla="*/ 1 w 31"/>
                  <a:gd name="T31" fmla="*/ 1 h 40"/>
                  <a:gd name="T32" fmla="*/ 1 w 31"/>
                  <a:gd name="T33" fmla="*/ 1 h 40"/>
                  <a:gd name="T34" fmla="*/ 1 w 31"/>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40"/>
                  <a:gd name="T56" fmla="*/ 31 w 31"/>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40">
                    <a:moveTo>
                      <a:pt x="30" y="23"/>
                    </a:moveTo>
                    <a:lnTo>
                      <a:pt x="30" y="25"/>
                    </a:lnTo>
                    <a:lnTo>
                      <a:pt x="30" y="23"/>
                    </a:lnTo>
                    <a:lnTo>
                      <a:pt x="26" y="15"/>
                    </a:lnTo>
                    <a:lnTo>
                      <a:pt x="22" y="7"/>
                    </a:lnTo>
                    <a:lnTo>
                      <a:pt x="19" y="0"/>
                    </a:lnTo>
                    <a:lnTo>
                      <a:pt x="0" y="9"/>
                    </a:lnTo>
                    <a:lnTo>
                      <a:pt x="3" y="17"/>
                    </a:lnTo>
                    <a:lnTo>
                      <a:pt x="8" y="25"/>
                    </a:lnTo>
                    <a:lnTo>
                      <a:pt x="8" y="29"/>
                    </a:lnTo>
                    <a:lnTo>
                      <a:pt x="11" y="34"/>
                    </a:lnTo>
                    <a:lnTo>
                      <a:pt x="11" y="36"/>
                    </a:lnTo>
                    <a:lnTo>
                      <a:pt x="9" y="34"/>
                    </a:lnTo>
                    <a:lnTo>
                      <a:pt x="15" y="40"/>
                    </a:lnTo>
                    <a:lnTo>
                      <a:pt x="25" y="40"/>
                    </a:lnTo>
                    <a:lnTo>
                      <a:pt x="31" y="34"/>
                    </a:lnTo>
                    <a:lnTo>
                      <a:pt x="31" y="25"/>
                    </a:lnTo>
                    <a:lnTo>
                      <a:pt x="30" y="23"/>
                    </a:lnTo>
                    <a:close/>
                  </a:path>
                </a:pathLst>
              </a:custGeom>
              <a:solidFill>
                <a:srgbClr val="000000"/>
              </a:solidFill>
              <a:ln w="9525">
                <a:noFill/>
                <a:round/>
                <a:headEnd/>
                <a:tailEnd/>
              </a:ln>
            </p:spPr>
            <p:txBody>
              <a:bodyPr/>
              <a:lstStyle/>
              <a:p>
                <a:endParaRPr lang="en-US"/>
              </a:p>
            </p:txBody>
          </p:sp>
          <p:sp>
            <p:nvSpPr>
              <p:cNvPr id="23681" name="Freeform 94"/>
              <p:cNvSpPr>
                <a:spLocks/>
              </p:cNvSpPr>
              <p:nvPr/>
            </p:nvSpPr>
            <p:spPr bwMode="auto">
              <a:xfrm>
                <a:off x="2158" y="3501"/>
                <a:ext cx="13" cy="11"/>
              </a:xfrm>
              <a:custGeom>
                <a:avLst/>
                <a:gdLst>
                  <a:gd name="T0" fmla="*/ 1 w 25"/>
                  <a:gd name="T1" fmla="*/ 0 h 24"/>
                  <a:gd name="T2" fmla="*/ 1 w 25"/>
                  <a:gd name="T3" fmla="*/ 0 h 24"/>
                  <a:gd name="T4" fmla="*/ 1 w 25"/>
                  <a:gd name="T5" fmla="*/ 0 h 24"/>
                  <a:gd name="T6" fmla="*/ 1 w 25"/>
                  <a:gd name="T7" fmla="*/ 0 h 24"/>
                  <a:gd name="T8" fmla="*/ 1 w 25"/>
                  <a:gd name="T9" fmla="*/ 0 h 24"/>
                  <a:gd name="T10" fmla="*/ 1 w 25"/>
                  <a:gd name="T11" fmla="*/ 0 h 24"/>
                  <a:gd name="T12" fmla="*/ 0 w 25"/>
                  <a:gd name="T13" fmla="*/ 0 h 24"/>
                  <a:gd name="T14" fmla="*/ 0 w 25"/>
                  <a:gd name="T15" fmla="*/ 0 h 24"/>
                  <a:gd name="T16" fmla="*/ 1 w 25"/>
                  <a:gd name="T17" fmla="*/ 0 h 24"/>
                  <a:gd name="T18" fmla="*/ 1 w 25"/>
                  <a:gd name="T19" fmla="*/ 0 h 24"/>
                  <a:gd name="T20" fmla="*/ 1 w 25"/>
                  <a:gd name="T21" fmla="*/ 0 h 24"/>
                  <a:gd name="T22" fmla="*/ 1 w 25"/>
                  <a:gd name="T23" fmla="*/ 0 h 24"/>
                  <a:gd name="T24" fmla="*/ 1 w 25"/>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4"/>
                  <a:gd name="T41" fmla="*/ 25 w 2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4">
                    <a:moveTo>
                      <a:pt x="25" y="14"/>
                    </a:moveTo>
                    <a:lnTo>
                      <a:pt x="25" y="14"/>
                    </a:lnTo>
                    <a:lnTo>
                      <a:pt x="23" y="9"/>
                    </a:lnTo>
                    <a:lnTo>
                      <a:pt x="20" y="3"/>
                    </a:lnTo>
                    <a:lnTo>
                      <a:pt x="19" y="3"/>
                    </a:lnTo>
                    <a:lnTo>
                      <a:pt x="19" y="0"/>
                    </a:lnTo>
                    <a:lnTo>
                      <a:pt x="0" y="13"/>
                    </a:lnTo>
                    <a:lnTo>
                      <a:pt x="1" y="16"/>
                    </a:lnTo>
                    <a:lnTo>
                      <a:pt x="4" y="19"/>
                    </a:lnTo>
                    <a:lnTo>
                      <a:pt x="6" y="24"/>
                    </a:lnTo>
                    <a:lnTo>
                      <a:pt x="25" y="14"/>
                    </a:lnTo>
                    <a:close/>
                  </a:path>
                </a:pathLst>
              </a:custGeom>
              <a:solidFill>
                <a:srgbClr val="000000"/>
              </a:solidFill>
              <a:ln w="9525">
                <a:noFill/>
                <a:round/>
                <a:headEnd/>
                <a:tailEnd/>
              </a:ln>
            </p:spPr>
            <p:txBody>
              <a:bodyPr/>
              <a:lstStyle/>
              <a:p>
                <a:endParaRPr lang="en-US"/>
              </a:p>
            </p:txBody>
          </p:sp>
          <p:sp>
            <p:nvSpPr>
              <p:cNvPr id="23682" name="Freeform 95"/>
              <p:cNvSpPr>
                <a:spLocks/>
              </p:cNvSpPr>
              <p:nvPr/>
            </p:nvSpPr>
            <p:spPr bwMode="auto">
              <a:xfrm>
                <a:off x="2162" y="3508"/>
                <a:ext cx="22" cy="18"/>
              </a:xfrm>
              <a:custGeom>
                <a:avLst/>
                <a:gdLst>
                  <a:gd name="T0" fmla="*/ 0 w 45"/>
                  <a:gd name="T1" fmla="*/ 1 h 36"/>
                  <a:gd name="T2" fmla="*/ 0 w 45"/>
                  <a:gd name="T3" fmla="*/ 1 h 36"/>
                  <a:gd name="T4" fmla="*/ 0 w 45"/>
                  <a:gd name="T5" fmla="*/ 1 h 36"/>
                  <a:gd name="T6" fmla="*/ 0 w 45"/>
                  <a:gd name="T7" fmla="*/ 1 h 36"/>
                  <a:gd name="T8" fmla="*/ 0 w 45"/>
                  <a:gd name="T9" fmla="*/ 1 h 36"/>
                  <a:gd name="T10" fmla="*/ 0 w 45"/>
                  <a:gd name="T11" fmla="*/ 0 h 36"/>
                  <a:gd name="T12" fmla="*/ 0 w 45"/>
                  <a:gd name="T13" fmla="*/ 1 h 36"/>
                  <a:gd name="T14" fmla="*/ 0 w 45"/>
                  <a:gd name="T15" fmla="*/ 1 h 36"/>
                  <a:gd name="T16" fmla="*/ 0 w 45"/>
                  <a:gd name="T17" fmla="*/ 1 h 36"/>
                  <a:gd name="T18" fmla="*/ 0 w 45"/>
                  <a:gd name="T19" fmla="*/ 1 h 36"/>
                  <a:gd name="T20" fmla="*/ 0 w 45"/>
                  <a:gd name="T21" fmla="*/ 1 h 36"/>
                  <a:gd name="T22" fmla="*/ 0 w 45"/>
                  <a:gd name="T23" fmla="*/ 1 h 36"/>
                  <a:gd name="T24" fmla="*/ 0 w 45"/>
                  <a:gd name="T25" fmla="*/ 1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36"/>
                  <a:gd name="T41" fmla="*/ 45 w 45"/>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36">
                    <a:moveTo>
                      <a:pt x="45" y="14"/>
                    </a:moveTo>
                    <a:lnTo>
                      <a:pt x="45" y="14"/>
                    </a:lnTo>
                    <a:lnTo>
                      <a:pt x="36" y="11"/>
                    </a:lnTo>
                    <a:lnTo>
                      <a:pt x="30" y="8"/>
                    </a:lnTo>
                    <a:lnTo>
                      <a:pt x="22" y="3"/>
                    </a:lnTo>
                    <a:lnTo>
                      <a:pt x="19" y="0"/>
                    </a:lnTo>
                    <a:lnTo>
                      <a:pt x="0" y="10"/>
                    </a:lnTo>
                    <a:lnTo>
                      <a:pt x="6" y="19"/>
                    </a:lnTo>
                    <a:lnTo>
                      <a:pt x="17" y="27"/>
                    </a:lnTo>
                    <a:lnTo>
                      <a:pt x="30" y="33"/>
                    </a:lnTo>
                    <a:lnTo>
                      <a:pt x="42" y="36"/>
                    </a:lnTo>
                    <a:lnTo>
                      <a:pt x="45" y="14"/>
                    </a:lnTo>
                    <a:close/>
                  </a:path>
                </a:pathLst>
              </a:custGeom>
              <a:solidFill>
                <a:srgbClr val="000000"/>
              </a:solidFill>
              <a:ln w="9525">
                <a:noFill/>
                <a:round/>
                <a:headEnd/>
                <a:tailEnd/>
              </a:ln>
            </p:spPr>
            <p:txBody>
              <a:bodyPr/>
              <a:lstStyle/>
              <a:p>
                <a:endParaRPr lang="en-US"/>
              </a:p>
            </p:txBody>
          </p:sp>
          <p:sp>
            <p:nvSpPr>
              <p:cNvPr id="23683" name="Freeform 96"/>
              <p:cNvSpPr>
                <a:spLocks/>
              </p:cNvSpPr>
              <p:nvPr/>
            </p:nvSpPr>
            <p:spPr bwMode="auto">
              <a:xfrm>
                <a:off x="2183" y="3508"/>
                <a:ext cx="36" cy="18"/>
              </a:xfrm>
              <a:custGeom>
                <a:avLst/>
                <a:gdLst>
                  <a:gd name="T0" fmla="*/ 1 w 72"/>
                  <a:gd name="T1" fmla="*/ 0 h 34"/>
                  <a:gd name="T2" fmla="*/ 1 w 72"/>
                  <a:gd name="T3" fmla="*/ 0 h 34"/>
                  <a:gd name="T4" fmla="*/ 1 w 72"/>
                  <a:gd name="T5" fmla="*/ 1 h 34"/>
                  <a:gd name="T6" fmla="*/ 1 w 72"/>
                  <a:gd name="T7" fmla="*/ 1 h 34"/>
                  <a:gd name="T8" fmla="*/ 1 w 72"/>
                  <a:gd name="T9" fmla="*/ 1 h 34"/>
                  <a:gd name="T10" fmla="*/ 1 w 72"/>
                  <a:gd name="T11" fmla="*/ 1 h 34"/>
                  <a:gd name="T12" fmla="*/ 1 w 72"/>
                  <a:gd name="T13" fmla="*/ 1 h 34"/>
                  <a:gd name="T14" fmla="*/ 1 w 72"/>
                  <a:gd name="T15" fmla="*/ 1 h 34"/>
                  <a:gd name="T16" fmla="*/ 1 w 72"/>
                  <a:gd name="T17" fmla="*/ 1 h 34"/>
                  <a:gd name="T18" fmla="*/ 1 w 72"/>
                  <a:gd name="T19" fmla="*/ 1 h 34"/>
                  <a:gd name="T20" fmla="*/ 0 w 72"/>
                  <a:gd name="T21" fmla="*/ 1 h 34"/>
                  <a:gd name="T22" fmla="*/ 1 w 72"/>
                  <a:gd name="T23" fmla="*/ 1 h 34"/>
                  <a:gd name="T24" fmla="*/ 1 w 72"/>
                  <a:gd name="T25" fmla="*/ 1 h 34"/>
                  <a:gd name="T26" fmla="*/ 1 w 72"/>
                  <a:gd name="T27" fmla="*/ 1 h 34"/>
                  <a:gd name="T28" fmla="*/ 1 w 72"/>
                  <a:gd name="T29" fmla="*/ 1 h 34"/>
                  <a:gd name="T30" fmla="*/ 1 w 72"/>
                  <a:gd name="T31" fmla="*/ 1 h 34"/>
                  <a:gd name="T32" fmla="*/ 1 w 72"/>
                  <a:gd name="T33" fmla="*/ 1 h 34"/>
                  <a:gd name="T34" fmla="*/ 1 w 72"/>
                  <a:gd name="T35" fmla="*/ 1 h 34"/>
                  <a:gd name="T36" fmla="*/ 1 w 72"/>
                  <a:gd name="T37" fmla="*/ 1 h 34"/>
                  <a:gd name="T38" fmla="*/ 1 w 72"/>
                  <a:gd name="T39" fmla="*/ 1 h 34"/>
                  <a:gd name="T40" fmla="*/ 1 w 72"/>
                  <a:gd name="T41" fmla="*/ 0 h 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4"/>
                  <a:gd name="T65" fmla="*/ 72 w 72"/>
                  <a:gd name="T66" fmla="*/ 34 h 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4">
                    <a:moveTo>
                      <a:pt x="63" y="0"/>
                    </a:moveTo>
                    <a:lnTo>
                      <a:pt x="63" y="0"/>
                    </a:lnTo>
                    <a:lnTo>
                      <a:pt x="55" y="1"/>
                    </a:lnTo>
                    <a:lnTo>
                      <a:pt x="46" y="4"/>
                    </a:lnTo>
                    <a:lnTo>
                      <a:pt x="36" y="8"/>
                    </a:lnTo>
                    <a:lnTo>
                      <a:pt x="28" y="9"/>
                    </a:lnTo>
                    <a:lnTo>
                      <a:pt x="19" y="11"/>
                    </a:lnTo>
                    <a:lnTo>
                      <a:pt x="11" y="12"/>
                    </a:lnTo>
                    <a:lnTo>
                      <a:pt x="7" y="12"/>
                    </a:lnTo>
                    <a:lnTo>
                      <a:pt x="3" y="12"/>
                    </a:lnTo>
                    <a:lnTo>
                      <a:pt x="0" y="34"/>
                    </a:lnTo>
                    <a:lnTo>
                      <a:pt x="7" y="34"/>
                    </a:lnTo>
                    <a:lnTo>
                      <a:pt x="14" y="34"/>
                    </a:lnTo>
                    <a:lnTo>
                      <a:pt x="22" y="33"/>
                    </a:lnTo>
                    <a:lnTo>
                      <a:pt x="32" y="31"/>
                    </a:lnTo>
                    <a:lnTo>
                      <a:pt x="43" y="29"/>
                    </a:lnTo>
                    <a:lnTo>
                      <a:pt x="52" y="26"/>
                    </a:lnTo>
                    <a:lnTo>
                      <a:pt x="61" y="23"/>
                    </a:lnTo>
                    <a:lnTo>
                      <a:pt x="72" y="18"/>
                    </a:lnTo>
                    <a:lnTo>
                      <a:pt x="63" y="0"/>
                    </a:lnTo>
                    <a:close/>
                  </a:path>
                </a:pathLst>
              </a:custGeom>
              <a:solidFill>
                <a:srgbClr val="000000"/>
              </a:solidFill>
              <a:ln w="9525">
                <a:noFill/>
                <a:round/>
                <a:headEnd/>
                <a:tailEnd/>
              </a:ln>
            </p:spPr>
            <p:txBody>
              <a:bodyPr/>
              <a:lstStyle/>
              <a:p>
                <a:endParaRPr lang="en-US"/>
              </a:p>
            </p:txBody>
          </p:sp>
          <p:sp>
            <p:nvSpPr>
              <p:cNvPr id="23684" name="Freeform 97"/>
              <p:cNvSpPr>
                <a:spLocks/>
              </p:cNvSpPr>
              <p:nvPr/>
            </p:nvSpPr>
            <p:spPr bwMode="auto">
              <a:xfrm>
                <a:off x="2214" y="3499"/>
                <a:ext cx="20" cy="19"/>
              </a:xfrm>
              <a:custGeom>
                <a:avLst/>
                <a:gdLst>
                  <a:gd name="T0" fmla="*/ 0 w 41"/>
                  <a:gd name="T1" fmla="*/ 1 h 37"/>
                  <a:gd name="T2" fmla="*/ 0 w 41"/>
                  <a:gd name="T3" fmla="*/ 1 h 37"/>
                  <a:gd name="T4" fmla="*/ 0 w 41"/>
                  <a:gd name="T5" fmla="*/ 1 h 37"/>
                  <a:gd name="T6" fmla="*/ 0 w 41"/>
                  <a:gd name="T7" fmla="*/ 1 h 37"/>
                  <a:gd name="T8" fmla="*/ 0 w 41"/>
                  <a:gd name="T9" fmla="*/ 1 h 37"/>
                  <a:gd name="T10" fmla="*/ 0 w 41"/>
                  <a:gd name="T11" fmla="*/ 1 h 37"/>
                  <a:gd name="T12" fmla="*/ 0 w 41"/>
                  <a:gd name="T13" fmla="*/ 1 h 37"/>
                  <a:gd name="T14" fmla="*/ 0 w 41"/>
                  <a:gd name="T15" fmla="*/ 1 h 37"/>
                  <a:gd name="T16" fmla="*/ 0 w 41"/>
                  <a:gd name="T17" fmla="*/ 1 h 37"/>
                  <a:gd name="T18" fmla="*/ 0 w 41"/>
                  <a:gd name="T19" fmla="*/ 1 h 37"/>
                  <a:gd name="T20" fmla="*/ 0 w 41"/>
                  <a:gd name="T21" fmla="*/ 1 h 37"/>
                  <a:gd name="T22" fmla="*/ 0 w 41"/>
                  <a:gd name="T23" fmla="*/ 1 h 37"/>
                  <a:gd name="T24" fmla="*/ 0 w 41"/>
                  <a:gd name="T25" fmla="*/ 1 h 37"/>
                  <a:gd name="T26" fmla="*/ 0 w 41"/>
                  <a:gd name="T27" fmla="*/ 1 h 37"/>
                  <a:gd name="T28" fmla="*/ 0 w 41"/>
                  <a:gd name="T29" fmla="*/ 0 h 37"/>
                  <a:gd name="T30" fmla="*/ 0 w 41"/>
                  <a:gd name="T31" fmla="*/ 1 h 37"/>
                  <a:gd name="T32" fmla="*/ 0 w 41"/>
                  <a:gd name="T33" fmla="*/ 1 h 37"/>
                  <a:gd name="T34" fmla="*/ 0 w 41"/>
                  <a:gd name="T35" fmla="*/ 1 h 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37"/>
                  <a:gd name="T56" fmla="*/ 41 w 41"/>
                  <a:gd name="T57" fmla="*/ 37 h 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37">
                    <a:moveTo>
                      <a:pt x="20" y="16"/>
                    </a:moveTo>
                    <a:lnTo>
                      <a:pt x="19" y="8"/>
                    </a:lnTo>
                    <a:lnTo>
                      <a:pt x="22" y="5"/>
                    </a:lnTo>
                    <a:lnTo>
                      <a:pt x="20" y="5"/>
                    </a:lnTo>
                    <a:lnTo>
                      <a:pt x="12" y="11"/>
                    </a:lnTo>
                    <a:lnTo>
                      <a:pt x="0" y="19"/>
                    </a:lnTo>
                    <a:lnTo>
                      <a:pt x="9" y="37"/>
                    </a:lnTo>
                    <a:lnTo>
                      <a:pt x="25" y="30"/>
                    </a:lnTo>
                    <a:lnTo>
                      <a:pt x="33" y="23"/>
                    </a:lnTo>
                    <a:lnTo>
                      <a:pt x="38" y="20"/>
                    </a:lnTo>
                    <a:lnTo>
                      <a:pt x="41" y="14"/>
                    </a:lnTo>
                    <a:lnTo>
                      <a:pt x="39" y="6"/>
                    </a:lnTo>
                    <a:lnTo>
                      <a:pt x="41" y="14"/>
                    </a:lnTo>
                    <a:lnTo>
                      <a:pt x="39" y="5"/>
                    </a:lnTo>
                    <a:lnTo>
                      <a:pt x="33" y="0"/>
                    </a:lnTo>
                    <a:lnTo>
                      <a:pt x="23" y="1"/>
                    </a:lnTo>
                    <a:lnTo>
                      <a:pt x="19" y="8"/>
                    </a:lnTo>
                    <a:lnTo>
                      <a:pt x="20" y="16"/>
                    </a:lnTo>
                    <a:close/>
                  </a:path>
                </a:pathLst>
              </a:custGeom>
              <a:solidFill>
                <a:srgbClr val="000000"/>
              </a:solidFill>
              <a:ln w="9525">
                <a:noFill/>
                <a:round/>
                <a:headEnd/>
                <a:tailEnd/>
              </a:ln>
            </p:spPr>
            <p:txBody>
              <a:bodyPr/>
              <a:lstStyle/>
              <a:p>
                <a:endParaRPr lang="en-US"/>
              </a:p>
            </p:txBody>
          </p:sp>
          <p:sp>
            <p:nvSpPr>
              <p:cNvPr id="23685" name="Freeform 98"/>
              <p:cNvSpPr>
                <a:spLocks/>
              </p:cNvSpPr>
              <p:nvPr/>
            </p:nvSpPr>
            <p:spPr bwMode="auto">
              <a:xfrm>
                <a:off x="2219" y="3486"/>
                <a:ext cx="15" cy="21"/>
              </a:xfrm>
              <a:custGeom>
                <a:avLst/>
                <a:gdLst>
                  <a:gd name="T0" fmla="*/ 1 w 30"/>
                  <a:gd name="T1" fmla="*/ 0 h 43"/>
                  <a:gd name="T2" fmla="*/ 0 w 30"/>
                  <a:gd name="T3" fmla="*/ 0 h 43"/>
                  <a:gd name="T4" fmla="*/ 1 w 30"/>
                  <a:gd name="T5" fmla="*/ 0 h 43"/>
                  <a:gd name="T6" fmla="*/ 1 w 30"/>
                  <a:gd name="T7" fmla="*/ 0 h 43"/>
                  <a:gd name="T8" fmla="*/ 1 w 30"/>
                  <a:gd name="T9" fmla="*/ 0 h 43"/>
                  <a:gd name="T10" fmla="*/ 1 w 30"/>
                  <a:gd name="T11" fmla="*/ 0 h 43"/>
                  <a:gd name="T12" fmla="*/ 1 w 30"/>
                  <a:gd name="T13" fmla="*/ 0 h 43"/>
                  <a:gd name="T14" fmla="*/ 1 w 30"/>
                  <a:gd name="T15" fmla="*/ 0 h 43"/>
                  <a:gd name="T16" fmla="*/ 1 w 30"/>
                  <a:gd name="T17" fmla="*/ 0 h 43"/>
                  <a:gd name="T18" fmla="*/ 0 w 30"/>
                  <a:gd name="T19" fmla="*/ 0 h 43"/>
                  <a:gd name="T20" fmla="*/ 0 w 30"/>
                  <a:gd name="T21" fmla="*/ 0 h 43"/>
                  <a:gd name="T22" fmla="*/ 1 w 30"/>
                  <a:gd name="T23" fmla="*/ 0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43"/>
                  <a:gd name="T38" fmla="*/ 30 w 30"/>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43">
                    <a:moveTo>
                      <a:pt x="3" y="21"/>
                    </a:moveTo>
                    <a:lnTo>
                      <a:pt x="0" y="16"/>
                    </a:lnTo>
                    <a:lnTo>
                      <a:pt x="11" y="43"/>
                    </a:lnTo>
                    <a:lnTo>
                      <a:pt x="30" y="33"/>
                    </a:lnTo>
                    <a:lnTo>
                      <a:pt x="19" y="7"/>
                    </a:lnTo>
                    <a:lnTo>
                      <a:pt x="16" y="2"/>
                    </a:lnTo>
                    <a:lnTo>
                      <a:pt x="19" y="7"/>
                    </a:lnTo>
                    <a:lnTo>
                      <a:pt x="13" y="0"/>
                    </a:lnTo>
                    <a:lnTo>
                      <a:pt x="5" y="2"/>
                    </a:lnTo>
                    <a:lnTo>
                      <a:pt x="0" y="8"/>
                    </a:lnTo>
                    <a:lnTo>
                      <a:pt x="0" y="16"/>
                    </a:lnTo>
                    <a:lnTo>
                      <a:pt x="3" y="21"/>
                    </a:lnTo>
                    <a:close/>
                  </a:path>
                </a:pathLst>
              </a:custGeom>
              <a:solidFill>
                <a:srgbClr val="000000"/>
              </a:solidFill>
              <a:ln w="9525">
                <a:noFill/>
                <a:round/>
                <a:headEnd/>
                <a:tailEnd/>
              </a:ln>
            </p:spPr>
            <p:txBody>
              <a:bodyPr/>
              <a:lstStyle/>
              <a:p>
                <a:endParaRPr lang="en-US"/>
              </a:p>
            </p:txBody>
          </p:sp>
          <p:sp>
            <p:nvSpPr>
              <p:cNvPr id="23686" name="Freeform 99"/>
              <p:cNvSpPr>
                <a:spLocks/>
              </p:cNvSpPr>
              <p:nvPr/>
            </p:nvSpPr>
            <p:spPr bwMode="auto">
              <a:xfrm>
                <a:off x="2147" y="3440"/>
                <a:ext cx="79" cy="56"/>
              </a:xfrm>
              <a:custGeom>
                <a:avLst/>
                <a:gdLst>
                  <a:gd name="T0" fmla="*/ 1 w 158"/>
                  <a:gd name="T1" fmla="*/ 0 h 113"/>
                  <a:gd name="T2" fmla="*/ 1 w 158"/>
                  <a:gd name="T3" fmla="*/ 0 h 113"/>
                  <a:gd name="T4" fmla="*/ 1 w 158"/>
                  <a:gd name="T5" fmla="*/ 0 h 113"/>
                  <a:gd name="T6" fmla="*/ 1 w 158"/>
                  <a:gd name="T7" fmla="*/ 0 h 113"/>
                  <a:gd name="T8" fmla="*/ 1 w 158"/>
                  <a:gd name="T9" fmla="*/ 0 h 113"/>
                  <a:gd name="T10" fmla="*/ 0 w 158"/>
                  <a:gd name="T11" fmla="*/ 0 h 113"/>
                  <a:gd name="T12" fmla="*/ 1 w 158"/>
                  <a:gd name="T13" fmla="*/ 0 h 113"/>
                  <a:gd name="T14" fmla="*/ 1 w 158"/>
                  <a:gd name="T15" fmla="*/ 0 h 113"/>
                  <a:gd name="T16" fmla="*/ 1 w 158"/>
                  <a:gd name="T17" fmla="*/ 0 h 113"/>
                  <a:gd name="T18" fmla="*/ 0 w 158"/>
                  <a:gd name="T19" fmla="*/ 0 h 113"/>
                  <a:gd name="T20" fmla="*/ 1 w 158"/>
                  <a:gd name="T21" fmla="*/ 0 h 113"/>
                  <a:gd name="T22" fmla="*/ 1 w 158"/>
                  <a:gd name="T23" fmla="*/ 0 h 11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113"/>
                  <a:gd name="T38" fmla="*/ 158 w 158"/>
                  <a:gd name="T39" fmla="*/ 113 h 11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113">
                    <a:moveTo>
                      <a:pt x="22" y="11"/>
                    </a:moveTo>
                    <a:lnTo>
                      <a:pt x="5" y="20"/>
                    </a:lnTo>
                    <a:lnTo>
                      <a:pt x="145" y="113"/>
                    </a:lnTo>
                    <a:lnTo>
                      <a:pt x="158" y="94"/>
                    </a:lnTo>
                    <a:lnTo>
                      <a:pt x="17" y="2"/>
                    </a:lnTo>
                    <a:lnTo>
                      <a:pt x="0" y="11"/>
                    </a:lnTo>
                    <a:lnTo>
                      <a:pt x="17" y="2"/>
                    </a:lnTo>
                    <a:lnTo>
                      <a:pt x="8" y="0"/>
                    </a:lnTo>
                    <a:lnTo>
                      <a:pt x="1" y="5"/>
                    </a:lnTo>
                    <a:lnTo>
                      <a:pt x="0" y="13"/>
                    </a:lnTo>
                    <a:lnTo>
                      <a:pt x="5" y="20"/>
                    </a:lnTo>
                    <a:lnTo>
                      <a:pt x="22" y="11"/>
                    </a:lnTo>
                    <a:close/>
                  </a:path>
                </a:pathLst>
              </a:custGeom>
              <a:solidFill>
                <a:srgbClr val="000000"/>
              </a:solidFill>
              <a:ln w="9525">
                <a:noFill/>
                <a:round/>
                <a:headEnd/>
                <a:tailEnd/>
              </a:ln>
            </p:spPr>
            <p:txBody>
              <a:bodyPr/>
              <a:lstStyle/>
              <a:p>
                <a:endParaRPr lang="en-US"/>
              </a:p>
            </p:txBody>
          </p:sp>
          <p:sp>
            <p:nvSpPr>
              <p:cNvPr id="23687" name="Freeform 100"/>
              <p:cNvSpPr>
                <a:spLocks/>
              </p:cNvSpPr>
              <p:nvPr/>
            </p:nvSpPr>
            <p:spPr bwMode="auto">
              <a:xfrm>
                <a:off x="2172" y="3506"/>
                <a:ext cx="65" cy="26"/>
              </a:xfrm>
              <a:custGeom>
                <a:avLst/>
                <a:gdLst>
                  <a:gd name="T0" fmla="*/ 1 w 128"/>
                  <a:gd name="T1" fmla="*/ 1 h 52"/>
                  <a:gd name="T2" fmla="*/ 0 w 128"/>
                  <a:gd name="T3" fmla="*/ 1 h 52"/>
                  <a:gd name="T4" fmla="*/ 1 w 128"/>
                  <a:gd name="T5" fmla="*/ 1 h 52"/>
                  <a:gd name="T6" fmla="*/ 1 w 128"/>
                  <a:gd name="T7" fmla="*/ 1 h 52"/>
                  <a:gd name="T8" fmla="*/ 1 w 128"/>
                  <a:gd name="T9" fmla="*/ 1 h 52"/>
                  <a:gd name="T10" fmla="*/ 1 w 128"/>
                  <a:gd name="T11" fmla="*/ 1 h 52"/>
                  <a:gd name="T12" fmla="*/ 1 w 128"/>
                  <a:gd name="T13" fmla="*/ 1 h 52"/>
                  <a:gd name="T14" fmla="*/ 1 w 128"/>
                  <a:gd name="T15" fmla="*/ 1 h 52"/>
                  <a:gd name="T16" fmla="*/ 1 w 128"/>
                  <a:gd name="T17" fmla="*/ 1 h 52"/>
                  <a:gd name="T18" fmla="*/ 1 w 128"/>
                  <a:gd name="T19" fmla="*/ 1 h 52"/>
                  <a:gd name="T20" fmla="*/ 1 w 128"/>
                  <a:gd name="T21" fmla="*/ 1 h 52"/>
                  <a:gd name="T22" fmla="*/ 1 w 128"/>
                  <a:gd name="T23" fmla="*/ 1 h 52"/>
                  <a:gd name="T24" fmla="*/ 1 w 128"/>
                  <a:gd name="T25" fmla="*/ 1 h 52"/>
                  <a:gd name="T26" fmla="*/ 1 w 128"/>
                  <a:gd name="T27" fmla="*/ 1 h 52"/>
                  <a:gd name="T28" fmla="*/ 1 w 128"/>
                  <a:gd name="T29" fmla="*/ 1 h 52"/>
                  <a:gd name="T30" fmla="*/ 1 w 128"/>
                  <a:gd name="T31" fmla="*/ 1 h 52"/>
                  <a:gd name="T32" fmla="*/ 1 w 128"/>
                  <a:gd name="T33" fmla="*/ 1 h 52"/>
                  <a:gd name="T34" fmla="*/ 1 w 128"/>
                  <a:gd name="T35" fmla="*/ 1 h 52"/>
                  <a:gd name="T36" fmla="*/ 1 w 128"/>
                  <a:gd name="T37" fmla="*/ 1 h 52"/>
                  <a:gd name="T38" fmla="*/ 1 w 128"/>
                  <a:gd name="T39" fmla="*/ 1 h 52"/>
                  <a:gd name="T40" fmla="*/ 1 w 128"/>
                  <a:gd name="T41" fmla="*/ 1 h 52"/>
                  <a:gd name="T42" fmla="*/ 1 w 128"/>
                  <a:gd name="T43" fmla="*/ 0 h 52"/>
                  <a:gd name="T44" fmla="*/ 1 w 128"/>
                  <a:gd name="T45" fmla="*/ 1 h 52"/>
                  <a:gd name="T46" fmla="*/ 1 w 128"/>
                  <a:gd name="T47" fmla="*/ 1 h 52"/>
                  <a:gd name="T48" fmla="*/ 1 w 128"/>
                  <a:gd name="T49" fmla="*/ 1 h 52"/>
                  <a:gd name="T50" fmla="*/ 1 w 128"/>
                  <a:gd name="T51" fmla="*/ 1 h 52"/>
                  <a:gd name="T52" fmla="*/ 1 w 128"/>
                  <a:gd name="T53" fmla="*/ 1 h 52"/>
                  <a:gd name="T54" fmla="*/ 1 w 128"/>
                  <a:gd name="T55" fmla="*/ 1 h 52"/>
                  <a:gd name="T56" fmla="*/ 1 w 128"/>
                  <a:gd name="T57" fmla="*/ 1 h 52"/>
                  <a:gd name="T58" fmla="*/ 1 w 128"/>
                  <a:gd name="T59" fmla="*/ 1 h 52"/>
                  <a:gd name="T60" fmla="*/ 1 w 128"/>
                  <a:gd name="T61" fmla="*/ 1 h 52"/>
                  <a:gd name="T62" fmla="*/ 1 w 128"/>
                  <a:gd name="T63" fmla="*/ 1 h 52"/>
                  <a:gd name="T64" fmla="*/ 1 w 128"/>
                  <a:gd name="T65" fmla="*/ 1 h 52"/>
                  <a:gd name="T66" fmla="*/ 1 w 128"/>
                  <a:gd name="T67" fmla="*/ 1 h 5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8"/>
                  <a:gd name="T103" fmla="*/ 0 h 52"/>
                  <a:gd name="T104" fmla="*/ 128 w 128"/>
                  <a:gd name="T105" fmla="*/ 52 h 5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8" h="52">
                    <a:moveTo>
                      <a:pt x="9" y="25"/>
                    </a:moveTo>
                    <a:lnTo>
                      <a:pt x="0" y="44"/>
                    </a:lnTo>
                    <a:lnTo>
                      <a:pt x="2" y="44"/>
                    </a:lnTo>
                    <a:lnTo>
                      <a:pt x="5" y="45"/>
                    </a:lnTo>
                    <a:lnTo>
                      <a:pt x="12" y="47"/>
                    </a:lnTo>
                    <a:lnTo>
                      <a:pt x="20" y="50"/>
                    </a:lnTo>
                    <a:lnTo>
                      <a:pt x="31" y="50"/>
                    </a:lnTo>
                    <a:lnTo>
                      <a:pt x="44" y="52"/>
                    </a:lnTo>
                    <a:lnTo>
                      <a:pt x="59" y="50"/>
                    </a:lnTo>
                    <a:lnTo>
                      <a:pt x="75" y="47"/>
                    </a:lnTo>
                    <a:lnTo>
                      <a:pt x="89" y="44"/>
                    </a:lnTo>
                    <a:lnTo>
                      <a:pt x="102" y="41"/>
                    </a:lnTo>
                    <a:lnTo>
                      <a:pt x="110" y="38"/>
                    </a:lnTo>
                    <a:lnTo>
                      <a:pt x="116" y="34"/>
                    </a:lnTo>
                    <a:lnTo>
                      <a:pt x="121" y="33"/>
                    </a:lnTo>
                    <a:lnTo>
                      <a:pt x="124" y="30"/>
                    </a:lnTo>
                    <a:lnTo>
                      <a:pt x="127" y="27"/>
                    </a:lnTo>
                    <a:lnTo>
                      <a:pt x="128" y="23"/>
                    </a:lnTo>
                    <a:lnTo>
                      <a:pt x="128" y="17"/>
                    </a:lnTo>
                    <a:lnTo>
                      <a:pt x="125" y="9"/>
                    </a:lnTo>
                    <a:lnTo>
                      <a:pt x="121" y="3"/>
                    </a:lnTo>
                    <a:lnTo>
                      <a:pt x="114" y="0"/>
                    </a:lnTo>
                    <a:lnTo>
                      <a:pt x="108" y="3"/>
                    </a:lnTo>
                    <a:lnTo>
                      <a:pt x="99" y="8"/>
                    </a:lnTo>
                    <a:lnTo>
                      <a:pt x="88" y="16"/>
                    </a:lnTo>
                    <a:lnTo>
                      <a:pt x="74" y="20"/>
                    </a:lnTo>
                    <a:lnTo>
                      <a:pt x="64" y="22"/>
                    </a:lnTo>
                    <a:lnTo>
                      <a:pt x="55" y="23"/>
                    </a:lnTo>
                    <a:lnTo>
                      <a:pt x="44" y="25"/>
                    </a:lnTo>
                    <a:lnTo>
                      <a:pt x="33" y="25"/>
                    </a:lnTo>
                    <a:lnTo>
                      <a:pt x="23" y="25"/>
                    </a:lnTo>
                    <a:lnTo>
                      <a:pt x="16" y="25"/>
                    </a:lnTo>
                    <a:lnTo>
                      <a:pt x="11" y="25"/>
                    </a:lnTo>
                    <a:lnTo>
                      <a:pt x="9" y="25"/>
                    </a:lnTo>
                    <a:close/>
                  </a:path>
                </a:pathLst>
              </a:custGeom>
              <a:solidFill>
                <a:srgbClr val="FF7226"/>
              </a:solidFill>
              <a:ln w="9525">
                <a:noFill/>
                <a:round/>
                <a:headEnd/>
                <a:tailEnd/>
              </a:ln>
            </p:spPr>
            <p:txBody>
              <a:bodyPr/>
              <a:lstStyle/>
              <a:p>
                <a:endParaRPr lang="en-US"/>
              </a:p>
            </p:txBody>
          </p:sp>
          <p:sp>
            <p:nvSpPr>
              <p:cNvPr id="23688" name="Freeform 101"/>
              <p:cNvSpPr>
                <a:spLocks/>
              </p:cNvSpPr>
              <p:nvPr/>
            </p:nvSpPr>
            <p:spPr bwMode="auto">
              <a:xfrm>
                <a:off x="2168" y="3516"/>
                <a:ext cx="14" cy="17"/>
              </a:xfrm>
              <a:custGeom>
                <a:avLst/>
                <a:gdLst>
                  <a:gd name="T0" fmla="*/ 1 w 28"/>
                  <a:gd name="T1" fmla="*/ 0 h 35"/>
                  <a:gd name="T2" fmla="*/ 1 w 28"/>
                  <a:gd name="T3" fmla="*/ 0 h 35"/>
                  <a:gd name="T4" fmla="*/ 1 w 28"/>
                  <a:gd name="T5" fmla="*/ 0 h 35"/>
                  <a:gd name="T6" fmla="*/ 1 w 28"/>
                  <a:gd name="T7" fmla="*/ 0 h 35"/>
                  <a:gd name="T8" fmla="*/ 0 w 28"/>
                  <a:gd name="T9" fmla="*/ 0 h 35"/>
                  <a:gd name="T10" fmla="*/ 1 w 28"/>
                  <a:gd name="T11" fmla="*/ 0 h 35"/>
                  <a:gd name="T12" fmla="*/ 0 w 28"/>
                  <a:gd name="T13" fmla="*/ 0 h 35"/>
                  <a:gd name="T14" fmla="*/ 0 w 28"/>
                  <a:gd name="T15" fmla="*/ 0 h 35"/>
                  <a:gd name="T16" fmla="*/ 1 w 28"/>
                  <a:gd name="T17" fmla="*/ 0 h 35"/>
                  <a:gd name="T18" fmla="*/ 1 w 28"/>
                  <a:gd name="T19" fmla="*/ 0 h 35"/>
                  <a:gd name="T20" fmla="*/ 1 w 28"/>
                  <a:gd name="T21" fmla="*/ 0 h 35"/>
                  <a:gd name="T22" fmla="*/ 1 w 28"/>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
                  <a:gd name="T37" fmla="*/ 0 h 35"/>
                  <a:gd name="T38" fmla="*/ 28 w 28"/>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 h="35">
                    <a:moveTo>
                      <a:pt x="14" y="14"/>
                    </a:moveTo>
                    <a:lnTo>
                      <a:pt x="18" y="29"/>
                    </a:lnTo>
                    <a:lnTo>
                      <a:pt x="28" y="10"/>
                    </a:lnTo>
                    <a:lnTo>
                      <a:pt x="9" y="0"/>
                    </a:lnTo>
                    <a:lnTo>
                      <a:pt x="0" y="19"/>
                    </a:lnTo>
                    <a:lnTo>
                      <a:pt x="4" y="33"/>
                    </a:lnTo>
                    <a:lnTo>
                      <a:pt x="0" y="19"/>
                    </a:lnTo>
                    <a:lnTo>
                      <a:pt x="0" y="27"/>
                    </a:lnTo>
                    <a:lnTo>
                      <a:pt x="4" y="33"/>
                    </a:lnTo>
                    <a:lnTo>
                      <a:pt x="12" y="35"/>
                    </a:lnTo>
                    <a:lnTo>
                      <a:pt x="18" y="29"/>
                    </a:lnTo>
                    <a:lnTo>
                      <a:pt x="14" y="14"/>
                    </a:lnTo>
                    <a:close/>
                  </a:path>
                </a:pathLst>
              </a:custGeom>
              <a:solidFill>
                <a:srgbClr val="000000"/>
              </a:solidFill>
              <a:ln w="9525">
                <a:noFill/>
                <a:round/>
                <a:headEnd/>
                <a:tailEnd/>
              </a:ln>
            </p:spPr>
            <p:txBody>
              <a:bodyPr/>
              <a:lstStyle/>
              <a:p>
                <a:endParaRPr lang="en-US"/>
              </a:p>
            </p:txBody>
          </p:sp>
          <p:sp>
            <p:nvSpPr>
              <p:cNvPr id="23689" name="Freeform 102"/>
              <p:cNvSpPr>
                <a:spLocks/>
              </p:cNvSpPr>
              <p:nvPr/>
            </p:nvSpPr>
            <p:spPr bwMode="auto">
              <a:xfrm>
                <a:off x="2170" y="3522"/>
                <a:ext cx="42" cy="15"/>
              </a:xfrm>
              <a:custGeom>
                <a:avLst/>
                <a:gdLst>
                  <a:gd name="T0" fmla="*/ 1 w 83"/>
                  <a:gd name="T1" fmla="*/ 1 h 30"/>
                  <a:gd name="T2" fmla="*/ 1 w 83"/>
                  <a:gd name="T3" fmla="*/ 1 h 30"/>
                  <a:gd name="T4" fmla="*/ 1 w 83"/>
                  <a:gd name="T5" fmla="*/ 1 h 30"/>
                  <a:gd name="T6" fmla="*/ 1 w 83"/>
                  <a:gd name="T7" fmla="*/ 1 h 30"/>
                  <a:gd name="T8" fmla="*/ 1 w 83"/>
                  <a:gd name="T9" fmla="*/ 1 h 30"/>
                  <a:gd name="T10" fmla="*/ 1 w 83"/>
                  <a:gd name="T11" fmla="*/ 1 h 30"/>
                  <a:gd name="T12" fmla="*/ 1 w 83"/>
                  <a:gd name="T13" fmla="*/ 1 h 30"/>
                  <a:gd name="T14" fmla="*/ 1 w 83"/>
                  <a:gd name="T15" fmla="*/ 1 h 30"/>
                  <a:gd name="T16" fmla="*/ 1 w 83"/>
                  <a:gd name="T17" fmla="*/ 0 h 30"/>
                  <a:gd name="T18" fmla="*/ 1 w 83"/>
                  <a:gd name="T19" fmla="*/ 1 h 30"/>
                  <a:gd name="T20" fmla="*/ 0 w 83"/>
                  <a:gd name="T21" fmla="*/ 1 h 30"/>
                  <a:gd name="T22" fmla="*/ 1 w 83"/>
                  <a:gd name="T23" fmla="*/ 1 h 30"/>
                  <a:gd name="T24" fmla="*/ 1 w 83"/>
                  <a:gd name="T25" fmla="*/ 1 h 30"/>
                  <a:gd name="T26" fmla="*/ 1 w 83"/>
                  <a:gd name="T27" fmla="*/ 1 h 30"/>
                  <a:gd name="T28" fmla="*/ 1 w 83"/>
                  <a:gd name="T29" fmla="*/ 1 h 30"/>
                  <a:gd name="T30" fmla="*/ 1 w 83"/>
                  <a:gd name="T31" fmla="*/ 1 h 30"/>
                  <a:gd name="T32" fmla="*/ 1 w 83"/>
                  <a:gd name="T33" fmla="*/ 1 h 30"/>
                  <a:gd name="T34" fmla="*/ 1 w 83"/>
                  <a:gd name="T35" fmla="*/ 1 h 30"/>
                  <a:gd name="T36" fmla="*/ 1 w 83"/>
                  <a:gd name="T37" fmla="*/ 1 h 30"/>
                  <a:gd name="T38" fmla="*/ 1 w 83"/>
                  <a:gd name="T39" fmla="*/ 1 h 30"/>
                  <a:gd name="T40" fmla="*/ 1 w 83"/>
                  <a:gd name="T41" fmla="*/ 1 h 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3"/>
                  <a:gd name="T64" fmla="*/ 0 h 30"/>
                  <a:gd name="T65" fmla="*/ 83 w 83"/>
                  <a:gd name="T66" fmla="*/ 30 h 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3" h="30">
                    <a:moveTo>
                      <a:pt x="79" y="3"/>
                    </a:moveTo>
                    <a:lnTo>
                      <a:pt x="77" y="3"/>
                    </a:lnTo>
                    <a:lnTo>
                      <a:pt x="63" y="6"/>
                    </a:lnTo>
                    <a:lnTo>
                      <a:pt x="49" y="8"/>
                    </a:lnTo>
                    <a:lnTo>
                      <a:pt x="36" y="6"/>
                    </a:lnTo>
                    <a:lnTo>
                      <a:pt x="27" y="6"/>
                    </a:lnTo>
                    <a:lnTo>
                      <a:pt x="21" y="3"/>
                    </a:lnTo>
                    <a:lnTo>
                      <a:pt x="13" y="1"/>
                    </a:lnTo>
                    <a:lnTo>
                      <a:pt x="10" y="0"/>
                    </a:lnTo>
                    <a:lnTo>
                      <a:pt x="10" y="1"/>
                    </a:lnTo>
                    <a:lnTo>
                      <a:pt x="0" y="20"/>
                    </a:lnTo>
                    <a:lnTo>
                      <a:pt x="3" y="22"/>
                    </a:lnTo>
                    <a:lnTo>
                      <a:pt x="7" y="23"/>
                    </a:lnTo>
                    <a:lnTo>
                      <a:pt x="14" y="25"/>
                    </a:lnTo>
                    <a:lnTo>
                      <a:pt x="24" y="28"/>
                    </a:lnTo>
                    <a:lnTo>
                      <a:pt x="36" y="28"/>
                    </a:lnTo>
                    <a:lnTo>
                      <a:pt x="49" y="30"/>
                    </a:lnTo>
                    <a:lnTo>
                      <a:pt x="66" y="28"/>
                    </a:lnTo>
                    <a:lnTo>
                      <a:pt x="83" y="25"/>
                    </a:lnTo>
                    <a:lnTo>
                      <a:pt x="82" y="25"/>
                    </a:lnTo>
                    <a:lnTo>
                      <a:pt x="79" y="3"/>
                    </a:lnTo>
                    <a:close/>
                  </a:path>
                </a:pathLst>
              </a:custGeom>
              <a:solidFill>
                <a:srgbClr val="000000"/>
              </a:solidFill>
              <a:ln w="9525">
                <a:noFill/>
                <a:round/>
                <a:headEnd/>
                <a:tailEnd/>
              </a:ln>
            </p:spPr>
            <p:txBody>
              <a:bodyPr/>
              <a:lstStyle/>
              <a:p>
                <a:endParaRPr lang="en-US"/>
              </a:p>
            </p:txBody>
          </p:sp>
          <p:sp>
            <p:nvSpPr>
              <p:cNvPr id="23690" name="Freeform 103"/>
              <p:cNvSpPr>
                <a:spLocks/>
              </p:cNvSpPr>
              <p:nvPr/>
            </p:nvSpPr>
            <p:spPr bwMode="auto">
              <a:xfrm>
                <a:off x="2209" y="3515"/>
                <a:ext cx="32" cy="20"/>
              </a:xfrm>
              <a:custGeom>
                <a:avLst/>
                <a:gdLst>
                  <a:gd name="T0" fmla="*/ 1 w 64"/>
                  <a:gd name="T1" fmla="*/ 0 h 41"/>
                  <a:gd name="T2" fmla="*/ 1 w 64"/>
                  <a:gd name="T3" fmla="*/ 0 h 41"/>
                  <a:gd name="T4" fmla="*/ 1 w 64"/>
                  <a:gd name="T5" fmla="*/ 0 h 41"/>
                  <a:gd name="T6" fmla="*/ 1 w 64"/>
                  <a:gd name="T7" fmla="*/ 0 h 41"/>
                  <a:gd name="T8" fmla="*/ 1 w 64"/>
                  <a:gd name="T9" fmla="*/ 0 h 41"/>
                  <a:gd name="T10" fmla="*/ 1 w 64"/>
                  <a:gd name="T11" fmla="*/ 0 h 41"/>
                  <a:gd name="T12" fmla="*/ 1 w 64"/>
                  <a:gd name="T13" fmla="*/ 0 h 41"/>
                  <a:gd name="T14" fmla="*/ 1 w 64"/>
                  <a:gd name="T15" fmla="*/ 0 h 41"/>
                  <a:gd name="T16" fmla="*/ 1 w 64"/>
                  <a:gd name="T17" fmla="*/ 0 h 41"/>
                  <a:gd name="T18" fmla="*/ 0 w 64"/>
                  <a:gd name="T19" fmla="*/ 0 h 41"/>
                  <a:gd name="T20" fmla="*/ 1 w 64"/>
                  <a:gd name="T21" fmla="*/ 0 h 41"/>
                  <a:gd name="T22" fmla="*/ 1 w 64"/>
                  <a:gd name="T23" fmla="*/ 0 h 41"/>
                  <a:gd name="T24" fmla="*/ 1 w 64"/>
                  <a:gd name="T25" fmla="*/ 0 h 41"/>
                  <a:gd name="T26" fmla="*/ 1 w 64"/>
                  <a:gd name="T27" fmla="*/ 0 h 41"/>
                  <a:gd name="T28" fmla="*/ 1 w 64"/>
                  <a:gd name="T29" fmla="*/ 0 h 41"/>
                  <a:gd name="T30" fmla="*/ 1 w 64"/>
                  <a:gd name="T31" fmla="*/ 0 h 41"/>
                  <a:gd name="T32" fmla="*/ 1 w 64"/>
                  <a:gd name="T33" fmla="*/ 0 h 41"/>
                  <a:gd name="T34" fmla="*/ 1 w 64"/>
                  <a:gd name="T35" fmla="*/ 0 h 41"/>
                  <a:gd name="T36" fmla="*/ 1 w 64"/>
                  <a:gd name="T37" fmla="*/ 0 h 41"/>
                  <a:gd name="T38" fmla="*/ 1 w 64"/>
                  <a:gd name="T39" fmla="*/ 0 h 41"/>
                  <a:gd name="T40" fmla="*/ 1 w 64"/>
                  <a:gd name="T41" fmla="*/ 0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41"/>
                  <a:gd name="T65" fmla="*/ 64 w 64"/>
                  <a:gd name="T66" fmla="*/ 41 h 4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41">
                    <a:moveTo>
                      <a:pt x="45" y="0"/>
                    </a:moveTo>
                    <a:lnTo>
                      <a:pt x="45" y="2"/>
                    </a:lnTo>
                    <a:lnTo>
                      <a:pt x="43" y="3"/>
                    </a:lnTo>
                    <a:lnTo>
                      <a:pt x="42" y="5"/>
                    </a:lnTo>
                    <a:lnTo>
                      <a:pt x="40" y="6"/>
                    </a:lnTo>
                    <a:lnTo>
                      <a:pt x="37" y="8"/>
                    </a:lnTo>
                    <a:lnTo>
                      <a:pt x="31" y="11"/>
                    </a:lnTo>
                    <a:lnTo>
                      <a:pt x="25" y="13"/>
                    </a:lnTo>
                    <a:lnTo>
                      <a:pt x="12" y="16"/>
                    </a:lnTo>
                    <a:lnTo>
                      <a:pt x="0" y="19"/>
                    </a:lnTo>
                    <a:lnTo>
                      <a:pt x="3" y="41"/>
                    </a:lnTo>
                    <a:lnTo>
                      <a:pt x="18" y="38"/>
                    </a:lnTo>
                    <a:lnTo>
                      <a:pt x="31" y="35"/>
                    </a:lnTo>
                    <a:lnTo>
                      <a:pt x="40" y="30"/>
                    </a:lnTo>
                    <a:lnTo>
                      <a:pt x="47" y="27"/>
                    </a:lnTo>
                    <a:lnTo>
                      <a:pt x="53" y="25"/>
                    </a:lnTo>
                    <a:lnTo>
                      <a:pt x="57" y="21"/>
                    </a:lnTo>
                    <a:lnTo>
                      <a:pt x="62" y="16"/>
                    </a:lnTo>
                    <a:lnTo>
                      <a:pt x="64" y="11"/>
                    </a:lnTo>
                    <a:lnTo>
                      <a:pt x="64" y="13"/>
                    </a:lnTo>
                    <a:lnTo>
                      <a:pt x="45" y="0"/>
                    </a:lnTo>
                    <a:close/>
                  </a:path>
                </a:pathLst>
              </a:custGeom>
              <a:solidFill>
                <a:srgbClr val="000000"/>
              </a:solidFill>
              <a:ln w="9525">
                <a:noFill/>
                <a:round/>
                <a:headEnd/>
                <a:tailEnd/>
              </a:ln>
            </p:spPr>
            <p:txBody>
              <a:bodyPr/>
              <a:lstStyle/>
              <a:p>
                <a:endParaRPr lang="en-US"/>
              </a:p>
            </p:txBody>
          </p:sp>
          <p:sp>
            <p:nvSpPr>
              <p:cNvPr id="23691" name="Freeform 104"/>
              <p:cNvSpPr>
                <a:spLocks/>
              </p:cNvSpPr>
              <p:nvPr/>
            </p:nvSpPr>
            <p:spPr bwMode="auto">
              <a:xfrm>
                <a:off x="2229" y="3501"/>
                <a:ext cx="13" cy="20"/>
              </a:xfrm>
              <a:custGeom>
                <a:avLst/>
                <a:gdLst>
                  <a:gd name="T0" fmla="*/ 1 w 26"/>
                  <a:gd name="T1" fmla="*/ 0 h 41"/>
                  <a:gd name="T2" fmla="*/ 1 w 26"/>
                  <a:gd name="T3" fmla="*/ 0 h 41"/>
                  <a:gd name="T4" fmla="*/ 0 w 26"/>
                  <a:gd name="T5" fmla="*/ 0 h 41"/>
                  <a:gd name="T6" fmla="*/ 1 w 26"/>
                  <a:gd name="T7" fmla="*/ 0 h 41"/>
                  <a:gd name="T8" fmla="*/ 1 w 26"/>
                  <a:gd name="T9" fmla="*/ 0 h 41"/>
                  <a:gd name="T10" fmla="*/ 1 w 26"/>
                  <a:gd name="T11" fmla="*/ 0 h 41"/>
                  <a:gd name="T12" fmla="*/ 1 w 26"/>
                  <a:gd name="T13" fmla="*/ 0 h 41"/>
                  <a:gd name="T14" fmla="*/ 1 w 26"/>
                  <a:gd name="T15" fmla="*/ 0 h 41"/>
                  <a:gd name="T16" fmla="*/ 1 w 26"/>
                  <a:gd name="T17" fmla="*/ 0 h 41"/>
                  <a:gd name="T18" fmla="*/ 1 w 26"/>
                  <a:gd name="T19" fmla="*/ 0 h 41"/>
                  <a:gd name="T20" fmla="*/ 1 w 26"/>
                  <a:gd name="T21" fmla="*/ 0 h 41"/>
                  <a:gd name="T22" fmla="*/ 1 w 26"/>
                  <a:gd name="T23" fmla="*/ 0 h 41"/>
                  <a:gd name="T24" fmla="*/ 1 w 26"/>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
                  <a:gd name="T40" fmla="*/ 0 h 41"/>
                  <a:gd name="T41" fmla="*/ 26 w 26"/>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 h="41">
                    <a:moveTo>
                      <a:pt x="1" y="22"/>
                    </a:moveTo>
                    <a:lnTo>
                      <a:pt x="1" y="22"/>
                    </a:lnTo>
                    <a:lnTo>
                      <a:pt x="0" y="22"/>
                    </a:lnTo>
                    <a:lnTo>
                      <a:pt x="3" y="25"/>
                    </a:lnTo>
                    <a:lnTo>
                      <a:pt x="4" y="31"/>
                    </a:lnTo>
                    <a:lnTo>
                      <a:pt x="6" y="28"/>
                    </a:lnTo>
                    <a:lnTo>
                      <a:pt x="25" y="41"/>
                    </a:lnTo>
                    <a:lnTo>
                      <a:pt x="26" y="25"/>
                    </a:lnTo>
                    <a:lnTo>
                      <a:pt x="22" y="16"/>
                    </a:lnTo>
                    <a:lnTo>
                      <a:pt x="15" y="6"/>
                    </a:lnTo>
                    <a:lnTo>
                      <a:pt x="1" y="0"/>
                    </a:lnTo>
                    <a:lnTo>
                      <a:pt x="1" y="22"/>
                    </a:lnTo>
                    <a:close/>
                  </a:path>
                </a:pathLst>
              </a:custGeom>
              <a:solidFill>
                <a:srgbClr val="000000"/>
              </a:solidFill>
              <a:ln w="9525">
                <a:noFill/>
                <a:round/>
                <a:headEnd/>
                <a:tailEnd/>
              </a:ln>
            </p:spPr>
            <p:txBody>
              <a:bodyPr/>
              <a:lstStyle/>
              <a:p>
                <a:endParaRPr lang="en-US"/>
              </a:p>
            </p:txBody>
          </p:sp>
          <p:sp>
            <p:nvSpPr>
              <p:cNvPr id="23692" name="Freeform 105"/>
              <p:cNvSpPr>
                <a:spLocks/>
              </p:cNvSpPr>
              <p:nvPr/>
            </p:nvSpPr>
            <p:spPr bwMode="auto">
              <a:xfrm>
                <a:off x="2208" y="3501"/>
                <a:ext cx="22" cy="21"/>
              </a:xfrm>
              <a:custGeom>
                <a:avLst/>
                <a:gdLst>
                  <a:gd name="T0" fmla="*/ 1 w 44"/>
                  <a:gd name="T1" fmla="*/ 1 h 42"/>
                  <a:gd name="T2" fmla="*/ 1 w 44"/>
                  <a:gd name="T3" fmla="*/ 1 h 42"/>
                  <a:gd name="T4" fmla="*/ 1 w 44"/>
                  <a:gd name="T5" fmla="*/ 1 h 42"/>
                  <a:gd name="T6" fmla="*/ 1 w 44"/>
                  <a:gd name="T7" fmla="*/ 1 h 42"/>
                  <a:gd name="T8" fmla="*/ 1 w 44"/>
                  <a:gd name="T9" fmla="*/ 1 h 42"/>
                  <a:gd name="T10" fmla="*/ 1 w 44"/>
                  <a:gd name="T11" fmla="*/ 1 h 42"/>
                  <a:gd name="T12" fmla="*/ 1 w 44"/>
                  <a:gd name="T13" fmla="*/ 0 h 42"/>
                  <a:gd name="T14" fmla="*/ 1 w 44"/>
                  <a:gd name="T15" fmla="*/ 1 h 42"/>
                  <a:gd name="T16" fmla="*/ 1 w 44"/>
                  <a:gd name="T17" fmla="*/ 1 h 42"/>
                  <a:gd name="T18" fmla="*/ 1 w 44"/>
                  <a:gd name="T19" fmla="*/ 1 h 42"/>
                  <a:gd name="T20" fmla="*/ 1 w 44"/>
                  <a:gd name="T21" fmla="*/ 1 h 42"/>
                  <a:gd name="T22" fmla="*/ 0 w 44"/>
                  <a:gd name="T23" fmla="*/ 1 h 42"/>
                  <a:gd name="T24" fmla="*/ 1 w 44"/>
                  <a:gd name="T25" fmla="*/ 1 h 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
                  <a:gd name="T40" fmla="*/ 0 h 42"/>
                  <a:gd name="T41" fmla="*/ 44 w 44"/>
                  <a:gd name="T42" fmla="*/ 42 h 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 h="42">
                    <a:moveTo>
                      <a:pt x="7" y="42"/>
                    </a:moveTo>
                    <a:lnTo>
                      <a:pt x="5" y="42"/>
                    </a:lnTo>
                    <a:lnTo>
                      <a:pt x="22" y="36"/>
                    </a:lnTo>
                    <a:lnTo>
                      <a:pt x="35" y="28"/>
                    </a:lnTo>
                    <a:lnTo>
                      <a:pt x="43" y="24"/>
                    </a:lnTo>
                    <a:lnTo>
                      <a:pt x="44" y="22"/>
                    </a:lnTo>
                    <a:lnTo>
                      <a:pt x="44" y="0"/>
                    </a:lnTo>
                    <a:lnTo>
                      <a:pt x="33" y="5"/>
                    </a:lnTo>
                    <a:lnTo>
                      <a:pt x="22" y="9"/>
                    </a:lnTo>
                    <a:lnTo>
                      <a:pt x="13" y="17"/>
                    </a:lnTo>
                    <a:lnTo>
                      <a:pt x="2" y="20"/>
                    </a:lnTo>
                    <a:lnTo>
                      <a:pt x="0" y="20"/>
                    </a:lnTo>
                    <a:lnTo>
                      <a:pt x="7" y="42"/>
                    </a:lnTo>
                    <a:close/>
                  </a:path>
                </a:pathLst>
              </a:custGeom>
              <a:solidFill>
                <a:srgbClr val="000000"/>
              </a:solidFill>
              <a:ln w="9525">
                <a:noFill/>
                <a:round/>
                <a:headEnd/>
                <a:tailEnd/>
              </a:ln>
            </p:spPr>
            <p:txBody>
              <a:bodyPr/>
              <a:lstStyle/>
              <a:p>
                <a:endParaRPr lang="en-US"/>
              </a:p>
            </p:txBody>
          </p:sp>
          <p:sp>
            <p:nvSpPr>
              <p:cNvPr id="23693" name="Freeform 106"/>
              <p:cNvSpPr>
                <a:spLocks/>
              </p:cNvSpPr>
              <p:nvPr/>
            </p:nvSpPr>
            <p:spPr bwMode="auto">
              <a:xfrm>
                <a:off x="2172" y="3511"/>
                <a:ext cx="39" cy="13"/>
              </a:xfrm>
              <a:custGeom>
                <a:avLst/>
                <a:gdLst>
                  <a:gd name="T0" fmla="*/ 0 w 79"/>
                  <a:gd name="T1" fmla="*/ 0 h 27"/>
                  <a:gd name="T2" fmla="*/ 0 w 79"/>
                  <a:gd name="T3" fmla="*/ 0 h 27"/>
                  <a:gd name="T4" fmla="*/ 0 w 79"/>
                  <a:gd name="T5" fmla="*/ 0 h 27"/>
                  <a:gd name="T6" fmla="*/ 0 w 79"/>
                  <a:gd name="T7" fmla="*/ 0 h 27"/>
                  <a:gd name="T8" fmla="*/ 0 w 79"/>
                  <a:gd name="T9" fmla="*/ 0 h 27"/>
                  <a:gd name="T10" fmla="*/ 0 w 79"/>
                  <a:gd name="T11" fmla="*/ 0 h 27"/>
                  <a:gd name="T12" fmla="*/ 0 w 79"/>
                  <a:gd name="T13" fmla="*/ 0 h 27"/>
                  <a:gd name="T14" fmla="*/ 0 w 79"/>
                  <a:gd name="T15" fmla="*/ 0 h 27"/>
                  <a:gd name="T16" fmla="*/ 0 w 79"/>
                  <a:gd name="T17" fmla="*/ 0 h 27"/>
                  <a:gd name="T18" fmla="*/ 0 w 79"/>
                  <a:gd name="T19" fmla="*/ 0 h 27"/>
                  <a:gd name="T20" fmla="*/ 0 w 79"/>
                  <a:gd name="T21" fmla="*/ 0 h 27"/>
                  <a:gd name="T22" fmla="*/ 0 w 79"/>
                  <a:gd name="T23" fmla="*/ 0 h 27"/>
                  <a:gd name="T24" fmla="*/ 0 w 79"/>
                  <a:gd name="T25" fmla="*/ 0 h 27"/>
                  <a:gd name="T26" fmla="*/ 0 w 79"/>
                  <a:gd name="T27" fmla="*/ 0 h 27"/>
                  <a:gd name="T28" fmla="*/ 0 w 79"/>
                  <a:gd name="T29" fmla="*/ 0 h 27"/>
                  <a:gd name="T30" fmla="*/ 0 w 79"/>
                  <a:gd name="T31" fmla="*/ 0 h 27"/>
                  <a:gd name="T32" fmla="*/ 0 w 79"/>
                  <a:gd name="T33" fmla="*/ 0 h 27"/>
                  <a:gd name="T34" fmla="*/ 0 w 79"/>
                  <a:gd name="T35" fmla="*/ 0 h 27"/>
                  <a:gd name="T36" fmla="*/ 0 w 79"/>
                  <a:gd name="T37" fmla="*/ 0 h 27"/>
                  <a:gd name="T38" fmla="*/ 0 w 79"/>
                  <a:gd name="T39" fmla="*/ 0 h 27"/>
                  <a:gd name="T40" fmla="*/ 0 w 79"/>
                  <a:gd name="T41" fmla="*/ 0 h 27"/>
                  <a:gd name="T42" fmla="*/ 0 w 79"/>
                  <a:gd name="T43" fmla="*/ 0 h 27"/>
                  <a:gd name="T44" fmla="*/ 0 w 79"/>
                  <a:gd name="T45" fmla="*/ 0 h 27"/>
                  <a:gd name="T46" fmla="*/ 0 w 79"/>
                  <a:gd name="T47" fmla="*/ 0 h 27"/>
                  <a:gd name="T48" fmla="*/ 0 w 79"/>
                  <a:gd name="T49" fmla="*/ 0 h 27"/>
                  <a:gd name="T50" fmla="*/ 0 w 79"/>
                  <a:gd name="T51" fmla="*/ 0 h 2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9"/>
                  <a:gd name="T79" fmla="*/ 0 h 27"/>
                  <a:gd name="T80" fmla="*/ 79 w 79"/>
                  <a:gd name="T81" fmla="*/ 27 h 2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9" h="27">
                    <a:moveTo>
                      <a:pt x="21" y="21"/>
                    </a:moveTo>
                    <a:lnTo>
                      <a:pt x="11" y="27"/>
                    </a:lnTo>
                    <a:lnTo>
                      <a:pt x="13" y="27"/>
                    </a:lnTo>
                    <a:lnTo>
                      <a:pt x="18" y="27"/>
                    </a:lnTo>
                    <a:lnTo>
                      <a:pt x="25" y="27"/>
                    </a:lnTo>
                    <a:lnTo>
                      <a:pt x="35" y="27"/>
                    </a:lnTo>
                    <a:lnTo>
                      <a:pt x="46" y="27"/>
                    </a:lnTo>
                    <a:lnTo>
                      <a:pt x="58" y="25"/>
                    </a:lnTo>
                    <a:lnTo>
                      <a:pt x="68" y="24"/>
                    </a:lnTo>
                    <a:lnTo>
                      <a:pt x="79" y="22"/>
                    </a:lnTo>
                    <a:lnTo>
                      <a:pt x="72" y="0"/>
                    </a:lnTo>
                    <a:lnTo>
                      <a:pt x="65" y="2"/>
                    </a:lnTo>
                    <a:lnTo>
                      <a:pt x="55" y="4"/>
                    </a:lnTo>
                    <a:lnTo>
                      <a:pt x="46" y="5"/>
                    </a:lnTo>
                    <a:lnTo>
                      <a:pt x="35" y="5"/>
                    </a:lnTo>
                    <a:lnTo>
                      <a:pt x="25" y="5"/>
                    </a:lnTo>
                    <a:lnTo>
                      <a:pt x="18" y="5"/>
                    </a:lnTo>
                    <a:lnTo>
                      <a:pt x="13" y="5"/>
                    </a:lnTo>
                    <a:lnTo>
                      <a:pt x="11" y="5"/>
                    </a:lnTo>
                    <a:lnTo>
                      <a:pt x="2" y="11"/>
                    </a:lnTo>
                    <a:lnTo>
                      <a:pt x="11" y="5"/>
                    </a:lnTo>
                    <a:lnTo>
                      <a:pt x="4" y="8"/>
                    </a:lnTo>
                    <a:lnTo>
                      <a:pt x="0" y="16"/>
                    </a:lnTo>
                    <a:lnTo>
                      <a:pt x="4" y="24"/>
                    </a:lnTo>
                    <a:lnTo>
                      <a:pt x="11" y="27"/>
                    </a:lnTo>
                    <a:lnTo>
                      <a:pt x="21" y="21"/>
                    </a:lnTo>
                    <a:close/>
                  </a:path>
                </a:pathLst>
              </a:custGeom>
              <a:solidFill>
                <a:srgbClr val="000000"/>
              </a:solidFill>
              <a:ln w="9525">
                <a:noFill/>
                <a:round/>
                <a:headEnd/>
                <a:tailEnd/>
              </a:ln>
            </p:spPr>
            <p:txBody>
              <a:bodyPr/>
              <a:lstStyle/>
              <a:p>
                <a:endParaRPr lang="en-US"/>
              </a:p>
            </p:txBody>
          </p:sp>
          <p:sp>
            <p:nvSpPr>
              <p:cNvPr id="23694" name="Freeform 107"/>
              <p:cNvSpPr>
                <a:spLocks/>
              </p:cNvSpPr>
              <p:nvPr/>
            </p:nvSpPr>
            <p:spPr bwMode="auto">
              <a:xfrm>
                <a:off x="1990" y="3505"/>
                <a:ext cx="272" cy="336"/>
              </a:xfrm>
              <a:custGeom>
                <a:avLst/>
                <a:gdLst>
                  <a:gd name="T0" fmla="*/ 1 w 543"/>
                  <a:gd name="T1" fmla="*/ 1 h 672"/>
                  <a:gd name="T2" fmla="*/ 1 w 543"/>
                  <a:gd name="T3" fmla="*/ 1 h 672"/>
                  <a:gd name="T4" fmla="*/ 1 w 543"/>
                  <a:gd name="T5" fmla="*/ 1 h 672"/>
                  <a:gd name="T6" fmla="*/ 1 w 543"/>
                  <a:gd name="T7" fmla="*/ 1 h 672"/>
                  <a:gd name="T8" fmla="*/ 1 w 543"/>
                  <a:gd name="T9" fmla="*/ 1 h 672"/>
                  <a:gd name="T10" fmla="*/ 1 w 543"/>
                  <a:gd name="T11" fmla="*/ 1 h 672"/>
                  <a:gd name="T12" fmla="*/ 1 w 543"/>
                  <a:gd name="T13" fmla="*/ 1 h 672"/>
                  <a:gd name="T14" fmla="*/ 1 w 543"/>
                  <a:gd name="T15" fmla="*/ 1 h 672"/>
                  <a:gd name="T16" fmla="*/ 1 w 543"/>
                  <a:gd name="T17" fmla="*/ 1 h 672"/>
                  <a:gd name="T18" fmla="*/ 1 w 543"/>
                  <a:gd name="T19" fmla="*/ 1 h 672"/>
                  <a:gd name="T20" fmla="*/ 1 w 543"/>
                  <a:gd name="T21" fmla="*/ 1 h 672"/>
                  <a:gd name="T22" fmla="*/ 1 w 543"/>
                  <a:gd name="T23" fmla="*/ 1 h 672"/>
                  <a:gd name="T24" fmla="*/ 1 w 543"/>
                  <a:gd name="T25" fmla="*/ 1 h 672"/>
                  <a:gd name="T26" fmla="*/ 1 w 543"/>
                  <a:gd name="T27" fmla="*/ 1 h 672"/>
                  <a:gd name="T28" fmla="*/ 1 w 543"/>
                  <a:gd name="T29" fmla="*/ 1 h 672"/>
                  <a:gd name="T30" fmla="*/ 1 w 543"/>
                  <a:gd name="T31" fmla="*/ 1 h 672"/>
                  <a:gd name="T32" fmla="*/ 1 w 543"/>
                  <a:gd name="T33" fmla="*/ 1 h 672"/>
                  <a:gd name="T34" fmla="*/ 1 w 543"/>
                  <a:gd name="T35" fmla="*/ 1 h 672"/>
                  <a:gd name="T36" fmla="*/ 1 w 543"/>
                  <a:gd name="T37" fmla="*/ 1 h 672"/>
                  <a:gd name="T38" fmla="*/ 1 w 543"/>
                  <a:gd name="T39" fmla="*/ 1 h 672"/>
                  <a:gd name="T40" fmla="*/ 1 w 543"/>
                  <a:gd name="T41" fmla="*/ 1 h 672"/>
                  <a:gd name="T42" fmla="*/ 1 w 543"/>
                  <a:gd name="T43" fmla="*/ 1 h 672"/>
                  <a:gd name="T44" fmla="*/ 1 w 543"/>
                  <a:gd name="T45" fmla="*/ 0 h 672"/>
                  <a:gd name="T46" fmla="*/ 1 w 543"/>
                  <a:gd name="T47" fmla="*/ 1 h 672"/>
                  <a:gd name="T48" fmla="*/ 1 w 543"/>
                  <a:gd name="T49" fmla="*/ 1 h 672"/>
                  <a:gd name="T50" fmla="*/ 1 w 543"/>
                  <a:gd name="T51" fmla="*/ 1 h 672"/>
                  <a:gd name="T52" fmla="*/ 1 w 543"/>
                  <a:gd name="T53" fmla="*/ 1 h 672"/>
                  <a:gd name="T54" fmla="*/ 1 w 543"/>
                  <a:gd name="T55" fmla="*/ 1 h 672"/>
                  <a:gd name="T56" fmla="*/ 1 w 543"/>
                  <a:gd name="T57" fmla="*/ 1 h 672"/>
                  <a:gd name="T58" fmla="*/ 1 w 543"/>
                  <a:gd name="T59" fmla="*/ 1 h 672"/>
                  <a:gd name="T60" fmla="*/ 1 w 543"/>
                  <a:gd name="T61" fmla="*/ 1 h 672"/>
                  <a:gd name="T62" fmla="*/ 1 w 543"/>
                  <a:gd name="T63" fmla="*/ 1 h 672"/>
                  <a:gd name="T64" fmla="*/ 1 w 543"/>
                  <a:gd name="T65" fmla="*/ 1 h 672"/>
                  <a:gd name="T66" fmla="*/ 1 w 543"/>
                  <a:gd name="T67" fmla="*/ 1 h 672"/>
                  <a:gd name="T68" fmla="*/ 1 w 543"/>
                  <a:gd name="T69" fmla="*/ 1 h 672"/>
                  <a:gd name="T70" fmla="*/ 1 w 543"/>
                  <a:gd name="T71" fmla="*/ 1 h 672"/>
                  <a:gd name="T72" fmla="*/ 1 w 543"/>
                  <a:gd name="T73" fmla="*/ 1 h 672"/>
                  <a:gd name="T74" fmla="*/ 1 w 543"/>
                  <a:gd name="T75" fmla="*/ 1 h 672"/>
                  <a:gd name="T76" fmla="*/ 1 w 543"/>
                  <a:gd name="T77" fmla="*/ 1 h 672"/>
                  <a:gd name="T78" fmla="*/ 1 w 543"/>
                  <a:gd name="T79" fmla="*/ 1 h 672"/>
                  <a:gd name="T80" fmla="*/ 1 w 543"/>
                  <a:gd name="T81" fmla="*/ 1 h 672"/>
                  <a:gd name="T82" fmla="*/ 1 w 543"/>
                  <a:gd name="T83" fmla="*/ 1 h 672"/>
                  <a:gd name="T84" fmla="*/ 1 w 543"/>
                  <a:gd name="T85" fmla="*/ 1 h 672"/>
                  <a:gd name="T86" fmla="*/ 1 w 543"/>
                  <a:gd name="T87" fmla="*/ 1 h 672"/>
                  <a:gd name="T88" fmla="*/ 1 w 543"/>
                  <a:gd name="T89" fmla="*/ 1 h 672"/>
                  <a:gd name="T90" fmla="*/ 1 w 543"/>
                  <a:gd name="T91" fmla="*/ 1 h 672"/>
                  <a:gd name="T92" fmla="*/ 0 w 543"/>
                  <a:gd name="T93" fmla="*/ 1 h 672"/>
                  <a:gd name="T94" fmla="*/ 0 w 543"/>
                  <a:gd name="T95" fmla="*/ 1 h 672"/>
                  <a:gd name="T96" fmla="*/ 1 w 543"/>
                  <a:gd name="T97" fmla="*/ 1 h 672"/>
                  <a:gd name="T98" fmla="*/ 1 w 543"/>
                  <a:gd name="T99" fmla="*/ 1 h 672"/>
                  <a:gd name="T100" fmla="*/ 1 w 543"/>
                  <a:gd name="T101" fmla="*/ 1 h 672"/>
                  <a:gd name="T102" fmla="*/ 1 w 543"/>
                  <a:gd name="T103" fmla="*/ 1 h 672"/>
                  <a:gd name="T104" fmla="*/ 1 w 543"/>
                  <a:gd name="T105" fmla="*/ 1 h 672"/>
                  <a:gd name="T106" fmla="*/ 1 w 543"/>
                  <a:gd name="T107" fmla="*/ 1 h 672"/>
                  <a:gd name="T108" fmla="*/ 1 w 543"/>
                  <a:gd name="T109" fmla="*/ 1 h 672"/>
                  <a:gd name="T110" fmla="*/ 1 w 543"/>
                  <a:gd name="T111" fmla="*/ 1 h 672"/>
                  <a:gd name="T112" fmla="*/ 1 w 543"/>
                  <a:gd name="T113" fmla="*/ 1 h 672"/>
                  <a:gd name="T114" fmla="*/ 1 w 543"/>
                  <a:gd name="T115" fmla="*/ 1 h 672"/>
                  <a:gd name="T116" fmla="*/ 1 w 543"/>
                  <a:gd name="T117" fmla="*/ 1 h 672"/>
                  <a:gd name="T118" fmla="*/ 1 w 543"/>
                  <a:gd name="T119" fmla="*/ 1 h 672"/>
                  <a:gd name="T120" fmla="*/ 1 w 543"/>
                  <a:gd name="T121" fmla="*/ 1 h 67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3"/>
                  <a:gd name="T184" fmla="*/ 0 h 672"/>
                  <a:gd name="T185" fmla="*/ 543 w 543"/>
                  <a:gd name="T186" fmla="*/ 672 h 67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3" h="672">
                    <a:moveTo>
                      <a:pt x="343" y="431"/>
                    </a:moveTo>
                    <a:lnTo>
                      <a:pt x="329" y="424"/>
                    </a:lnTo>
                    <a:lnTo>
                      <a:pt x="316" y="417"/>
                    </a:lnTo>
                    <a:lnTo>
                      <a:pt x="307" y="410"/>
                    </a:lnTo>
                    <a:lnTo>
                      <a:pt x="301" y="403"/>
                    </a:lnTo>
                    <a:lnTo>
                      <a:pt x="298" y="396"/>
                    </a:lnTo>
                    <a:lnTo>
                      <a:pt x="296" y="392"/>
                    </a:lnTo>
                    <a:lnTo>
                      <a:pt x="296" y="390"/>
                    </a:lnTo>
                    <a:lnTo>
                      <a:pt x="291" y="266"/>
                    </a:lnTo>
                    <a:lnTo>
                      <a:pt x="293" y="265"/>
                    </a:lnTo>
                    <a:lnTo>
                      <a:pt x="299" y="260"/>
                    </a:lnTo>
                    <a:lnTo>
                      <a:pt x="305" y="254"/>
                    </a:lnTo>
                    <a:lnTo>
                      <a:pt x="313" y="248"/>
                    </a:lnTo>
                    <a:lnTo>
                      <a:pt x="321" y="241"/>
                    </a:lnTo>
                    <a:lnTo>
                      <a:pt x="327" y="237"/>
                    </a:lnTo>
                    <a:lnTo>
                      <a:pt x="331" y="234"/>
                    </a:lnTo>
                    <a:lnTo>
                      <a:pt x="331" y="235"/>
                    </a:lnTo>
                    <a:lnTo>
                      <a:pt x="321" y="243"/>
                    </a:lnTo>
                    <a:lnTo>
                      <a:pt x="309" y="254"/>
                    </a:lnTo>
                    <a:lnTo>
                      <a:pt x="296" y="263"/>
                    </a:lnTo>
                    <a:lnTo>
                      <a:pt x="291" y="266"/>
                    </a:lnTo>
                    <a:lnTo>
                      <a:pt x="257" y="266"/>
                    </a:lnTo>
                    <a:lnTo>
                      <a:pt x="255" y="263"/>
                    </a:lnTo>
                    <a:lnTo>
                      <a:pt x="251" y="257"/>
                    </a:lnTo>
                    <a:lnTo>
                      <a:pt x="246" y="249"/>
                    </a:lnTo>
                    <a:lnTo>
                      <a:pt x="240" y="241"/>
                    </a:lnTo>
                    <a:lnTo>
                      <a:pt x="233" y="230"/>
                    </a:lnTo>
                    <a:lnTo>
                      <a:pt x="229" y="218"/>
                    </a:lnTo>
                    <a:lnTo>
                      <a:pt x="224" y="205"/>
                    </a:lnTo>
                    <a:lnTo>
                      <a:pt x="222" y="201"/>
                    </a:lnTo>
                    <a:lnTo>
                      <a:pt x="224" y="198"/>
                    </a:lnTo>
                    <a:lnTo>
                      <a:pt x="230" y="187"/>
                    </a:lnTo>
                    <a:lnTo>
                      <a:pt x="240" y="174"/>
                    </a:lnTo>
                    <a:lnTo>
                      <a:pt x="251" y="160"/>
                    </a:lnTo>
                    <a:lnTo>
                      <a:pt x="258" y="151"/>
                    </a:lnTo>
                    <a:lnTo>
                      <a:pt x="266" y="138"/>
                    </a:lnTo>
                    <a:lnTo>
                      <a:pt x="277" y="124"/>
                    </a:lnTo>
                    <a:lnTo>
                      <a:pt x="287" y="107"/>
                    </a:lnTo>
                    <a:lnTo>
                      <a:pt x="298" y="93"/>
                    </a:lnTo>
                    <a:lnTo>
                      <a:pt x="307" y="79"/>
                    </a:lnTo>
                    <a:lnTo>
                      <a:pt x="315" y="68"/>
                    </a:lnTo>
                    <a:lnTo>
                      <a:pt x="321" y="60"/>
                    </a:lnTo>
                    <a:lnTo>
                      <a:pt x="334" y="52"/>
                    </a:lnTo>
                    <a:lnTo>
                      <a:pt x="346" y="47"/>
                    </a:lnTo>
                    <a:lnTo>
                      <a:pt x="357" y="46"/>
                    </a:lnTo>
                    <a:lnTo>
                      <a:pt x="362" y="46"/>
                    </a:lnTo>
                    <a:lnTo>
                      <a:pt x="365" y="47"/>
                    </a:lnTo>
                    <a:lnTo>
                      <a:pt x="371" y="49"/>
                    </a:lnTo>
                    <a:lnTo>
                      <a:pt x="382" y="52"/>
                    </a:lnTo>
                    <a:lnTo>
                      <a:pt x="393" y="54"/>
                    </a:lnTo>
                    <a:lnTo>
                      <a:pt x="399" y="54"/>
                    </a:lnTo>
                    <a:lnTo>
                      <a:pt x="409" y="54"/>
                    </a:lnTo>
                    <a:lnTo>
                      <a:pt x="418" y="52"/>
                    </a:lnTo>
                    <a:lnTo>
                      <a:pt x="428" y="51"/>
                    </a:lnTo>
                    <a:lnTo>
                      <a:pt x="437" y="49"/>
                    </a:lnTo>
                    <a:lnTo>
                      <a:pt x="448" y="46"/>
                    </a:lnTo>
                    <a:lnTo>
                      <a:pt x="457" y="44"/>
                    </a:lnTo>
                    <a:lnTo>
                      <a:pt x="465" y="41"/>
                    </a:lnTo>
                    <a:lnTo>
                      <a:pt x="478" y="35"/>
                    </a:lnTo>
                    <a:lnTo>
                      <a:pt x="487" y="29"/>
                    </a:lnTo>
                    <a:lnTo>
                      <a:pt x="492" y="24"/>
                    </a:lnTo>
                    <a:lnTo>
                      <a:pt x="493" y="22"/>
                    </a:lnTo>
                    <a:lnTo>
                      <a:pt x="492" y="19"/>
                    </a:lnTo>
                    <a:lnTo>
                      <a:pt x="489" y="13"/>
                    </a:lnTo>
                    <a:lnTo>
                      <a:pt x="486" y="5"/>
                    </a:lnTo>
                    <a:lnTo>
                      <a:pt x="487" y="2"/>
                    </a:lnTo>
                    <a:lnTo>
                      <a:pt x="490" y="0"/>
                    </a:lnTo>
                    <a:lnTo>
                      <a:pt x="496" y="0"/>
                    </a:lnTo>
                    <a:lnTo>
                      <a:pt x="503" y="2"/>
                    </a:lnTo>
                    <a:lnTo>
                      <a:pt x="511" y="2"/>
                    </a:lnTo>
                    <a:lnTo>
                      <a:pt x="517" y="4"/>
                    </a:lnTo>
                    <a:lnTo>
                      <a:pt x="525" y="5"/>
                    </a:lnTo>
                    <a:lnTo>
                      <a:pt x="531" y="7"/>
                    </a:lnTo>
                    <a:lnTo>
                      <a:pt x="536" y="8"/>
                    </a:lnTo>
                    <a:lnTo>
                      <a:pt x="539" y="15"/>
                    </a:lnTo>
                    <a:lnTo>
                      <a:pt x="540" y="25"/>
                    </a:lnTo>
                    <a:lnTo>
                      <a:pt x="542" y="41"/>
                    </a:lnTo>
                    <a:lnTo>
                      <a:pt x="543" y="58"/>
                    </a:lnTo>
                    <a:lnTo>
                      <a:pt x="543" y="76"/>
                    </a:lnTo>
                    <a:lnTo>
                      <a:pt x="543" y="91"/>
                    </a:lnTo>
                    <a:lnTo>
                      <a:pt x="543" y="101"/>
                    </a:lnTo>
                    <a:lnTo>
                      <a:pt x="543" y="105"/>
                    </a:lnTo>
                    <a:lnTo>
                      <a:pt x="543" y="110"/>
                    </a:lnTo>
                    <a:lnTo>
                      <a:pt x="543" y="121"/>
                    </a:lnTo>
                    <a:lnTo>
                      <a:pt x="543" y="138"/>
                    </a:lnTo>
                    <a:lnTo>
                      <a:pt x="542" y="162"/>
                    </a:lnTo>
                    <a:lnTo>
                      <a:pt x="540" y="190"/>
                    </a:lnTo>
                    <a:lnTo>
                      <a:pt x="539" y="219"/>
                    </a:lnTo>
                    <a:lnTo>
                      <a:pt x="536" y="252"/>
                    </a:lnTo>
                    <a:lnTo>
                      <a:pt x="531" y="287"/>
                    </a:lnTo>
                    <a:lnTo>
                      <a:pt x="526" y="321"/>
                    </a:lnTo>
                    <a:lnTo>
                      <a:pt x="520" y="356"/>
                    </a:lnTo>
                    <a:lnTo>
                      <a:pt x="512" y="387"/>
                    </a:lnTo>
                    <a:lnTo>
                      <a:pt x="504" y="417"/>
                    </a:lnTo>
                    <a:lnTo>
                      <a:pt x="493" y="442"/>
                    </a:lnTo>
                    <a:lnTo>
                      <a:pt x="481" y="460"/>
                    </a:lnTo>
                    <a:lnTo>
                      <a:pt x="467" y="475"/>
                    </a:lnTo>
                    <a:lnTo>
                      <a:pt x="451" y="482"/>
                    </a:lnTo>
                    <a:lnTo>
                      <a:pt x="418" y="489"/>
                    </a:lnTo>
                    <a:lnTo>
                      <a:pt x="387" y="493"/>
                    </a:lnTo>
                    <a:lnTo>
                      <a:pt x="359" y="496"/>
                    </a:lnTo>
                    <a:lnTo>
                      <a:pt x="331" y="498"/>
                    </a:lnTo>
                    <a:lnTo>
                      <a:pt x="305" y="500"/>
                    </a:lnTo>
                    <a:lnTo>
                      <a:pt x="282" y="498"/>
                    </a:lnTo>
                    <a:lnTo>
                      <a:pt x="260" y="495"/>
                    </a:lnTo>
                    <a:lnTo>
                      <a:pt x="240" y="490"/>
                    </a:lnTo>
                    <a:lnTo>
                      <a:pt x="221" y="484"/>
                    </a:lnTo>
                    <a:lnTo>
                      <a:pt x="204" y="479"/>
                    </a:lnTo>
                    <a:lnTo>
                      <a:pt x="186" y="476"/>
                    </a:lnTo>
                    <a:lnTo>
                      <a:pt x="169" y="473"/>
                    </a:lnTo>
                    <a:lnTo>
                      <a:pt x="155" y="471"/>
                    </a:lnTo>
                    <a:lnTo>
                      <a:pt x="144" y="470"/>
                    </a:lnTo>
                    <a:lnTo>
                      <a:pt x="133" y="470"/>
                    </a:lnTo>
                    <a:lnTo>
                      <a:pt x="127" y="470"/>
                    </a:lnTo>
                    <a:lnTo>
                      <a:pt x="119" y="471"/>
                    </a:lnTo>
                    <a:lnTo>
                      <a:pt x="114" y="473"/>
                    </a:lnTo>
                    <a:lnTo>
                      <a:pt x="113" y="475"/>
                    </a:lnTo>
                    <a:lnTo>
                      <a:pt x="113" y="476"/>
                    </a:lnTo>
                    <a:lnTo>
                      <a:pt x="111" y="489"/>
                    </a:lnTo>
                    <a:lnTo>
                      <a:pt x="118" y="659"/>
                    </a:lnTo>
                    <a:lnTo>
                      <a:pt x="116" y="659"/>
                    </a:lnTo>
                    <a:lnTo>
                      <a:pt x="114" y="662"/>
                    </a:lnTo>
                    <a:lnTo>
                      <a:pt x="110" y="664"/>
                    </a:lnTo>
                    <a:lnTo>
                      <a:pt x="102" y="667"/>
                    </a:lnTo>
                    <a:lnTo>
                      <a:pt x="94" y="669"/>
                    </a:lnTo>
                    <a:lnTo>
                      <a:pt x="83" y="672"/>
                    </a:lnTo>
                    <a:lnTo>
                      <a:pt x="72" y="672"/>
                    </a:lnTo>
                    <a:lnTo>
                      <a:pt x="58" y="672"/>
                    </a:lnTo>
                    <a:lnTo>
                      <a:pt x="35" y="669"/>
                    </a:lnTo>
                    <a:lnTo>
                      <a:pt x="22" y="665"/>
                    </a:lnTo>
                    <a:lnTo>
                      <a:pt x="16" y="664"/>
                    </a:lnTo>
                    <a:lnTo>
                      <a:pt x="14" y="662"/>
                    </a:lnTo>
                    <a:lnTo>
                      <a:pt x="14" y="656"/>
                    </a:lnTo>
                    <a:lnTo>
                      <a:pt x="11" y="642"/>
                    </a:lnTo>
                    <a:lnTo>
                      <a:pt x="10" y="620"/>
                    </a:lnTo>
                    <a:lnTo>
                      <a:pt x="6" y="595"/>
                    </a:lnTo>
                    <a:lnTo>
                      <a:pt x="3" y="567"/>
                    </a:lnTo>
                    <a:lnTo>
                      <a:pt x="2" y="540"/>
                    </a:lnTo>
                    <a:lnTo>
                      <a:pt x="0" y="517"/>
                    </a:lnTo>
                    <a:lnTo>
                      <a:pt x="0" y="500"/>
                    </a:lnTo>
                    <a:lnTo>
                      <a:pt x="0" y="485"/>
                    </a:lnTo>
                    <a:lnTo>
                      <a:pt x="0" y="468"/>
                    </a:lnTo>
                    <a:lnTo>
                      <a:pt x="0" y="451"/>
                    </a:lnTo>
                    <a:lnTo>
                      <a:pt x="0" y="434"/>
                    </a:lnTo>
                    <a:lnTo>
                      <a:pt x="2" y="418"/>
                    </a:lnTo>
                    <a:lnTo>
                      <a:pt x="5" y="403"/>
                    </a:lnTo>
                    <a:lnTo>
                      <a:pt x="11" y="390"/>
                    </a:lnTo>
                    <a:lnTo>
                      <a:pt x="20" y="381"/>
                    </a:lnTo>
                    <a:lnTo>
                      <a:pt x="35" y="373"/>
                    </a:lnTo>
                    <a:lnTo>
                      <a:pt x="55" y="367"/>
                    </a:lnTo>
                    <a:lnTo>
                      <a:pt x="78" y="360"/>
                    </a:lnTo>
                    <a:lnTo>
                      <a:pt x="108" y="356"/>
                    </a:lnTo>
                    <a:lnTo>
                      <a:pt x="139" y="352"/>
                    </a:lnTo>
                    <a:lnTo>
                      <a:pt x="174" y="352"/>
                    </a:lnTo>
                    <a:lnTo>
                      <a:pt x="212" y="354"/>
                    </a:lnTo>
                    <a:lnTo>
                      <a:pt x="251" y="357"/>
                    </a:lnTo>
                    <a:lnTo>
                      <a:pt x="248" y="357"/>
                    </a:lnTo>
                    <a:lnTo>
                      <a:pt x="241" y="356"/>
                    </a:lnTo>
                    <a:lnTo>
                      <a:pt x="232" y="356"/>
                    </a:lnTo>
                    <a:lnTo>
                      <a:pt x="219" y="354"/>
                    </a:lnTo>
                    <a:lnTo>
                      <a:pt x="205" y="354"/>
                    </a:lnTo>
                    <a:lnTo>
                      <a:pt x="190" y="352"/>
                    </a:lnTo>
                    <a:lnTo>
                      <a:pt x="174" y="352"/>
                    </a:lnTo>
                    <a:lnTo>
                      <a:pt x="158" y="352"/>
                    </a:lnTo>
                    <a:lnTo>
                      <a:pt x="135" y="352"/>
                    </a:lnTo>
                    <a:lnTo>
                      <a:pt x="122" y="354"/>
                    </a:lnTo>
                    <a:lnTo>
                      <a:pt x="118" y="356"/>
                    </a:lnTo>
                    <a:lnTo>
                      <a:pt x="116" y="356"/>
                    </a:lnTo>
                    <a:lnTo>
                      <a:pt x="113" y="343"/>
                    </a:lnTo>
                    <a:lnTo>
                      <a:pt x="113" y="342"/>
                    </a:lnTo>
                    <a:lnTo>
                      <a:pt x="114" y="335"/>
                    </a:lnTo>
                    <a:lnTo>
                      <a:pt x="121" y="327"/>
                    </a:lnTo>
                    <a:lnTo>
                      <a:pt x="135" y="321"/>
                    </a:lnTo>
                    <a:lnTo>
                      <a:pt x="149" y="318"/>
                    </a:lnTo>
                    <a:lnTo>
                      <a:pt x="168" y="315"/>
                    </a:lnTo>
                    <a:lnTo>
                      <a:pt x="191" y="310"/>
                    </a:lnTo>
                    <a:lnTo>
                      <a:pt x="216" y="307"/>
                    </a:lnTo>
                    <a:lnTo>
                      <a:pt x="241" y="304"/>
                    </a:lnTo>
                    <a:lnTo>
                      <a:pt x="263" y="301"/>
                    </a:lnTo>
                    <a:lnTo>
                      <a:pt x="280" y="299"/>
                    </a:lnTo>
                    <a:lnTo>
                      <a:pt x="291" y="299"/>
                    </a:lnTo>
                    <a:lnTo>
                      <a:pt x="343" y="431"/>
                    </a:lnTo>
                    <a:close/>
                  </a:path>
                </a:pathLst>
              </a:custGeom>
              <a:solidFill>
                <a:srgbClr val="00FFB2"/>
              </a:solidFill>
              <a:ln w="9525">
                <a:noFill/>
                <a:round/>
                <a:headEnd/>
                <a:tailEnd/>
              </a:ln>
            </p:spPr>
            <p:txBody>
              <a:bodyPr/>
              <a:lstStyle/>
              <a:p>
                <a:endParaRPr lang="en-US"/>
              </a:p>
            </p:txBody>
          </p:sp>
          <p:sp>
            <p:nvSpPr>
              <p:cNvPr id="23695" name="Freeform 108"/>
              <p:cNvSpPr>
                <a:spLocks/>
              </p:cNvSpPr>
              <p:nvPr/>
            </p:nvSpPr>
            <p:spPr bwMode="auto">
              <a:xfrm>
                <a:off x="2136" y="3703"/>
                <a:ext cx="27" cy="23"/>
              </a:xfrm>
              <a:custGeom>
                <a:avLst/>
                <a:gdLst>
                  <a:gd name="T0" fmla="*/ 0 w 55"/>
                  <a:gd name="T1" fmla="*/ 1 h 46"/>
                  <a:gd name="T2" fmla="*/ 0 w 55"/>
                  <a:gd name="T3" fmla="*/ 1 h 46"/>
                  <a:gd name="T4" fmla="*/ 0 w 55"/>
                  <a:gd name="T5" fmla="*/ 1 h 46"/>
                  <a:gd name="T6" fmla="*/ 0 w 55"/>
                  <a:gd name="T7" fmla="*/ 1 h 46"/>
                  <a:gd name="T8" fmla="*/ 0 w 55"/>
                  <a:gd name="T9" fmla="*/ 1 h 46"/>
                  <a:gd name="T10" fmla="*/ 0 w 55"/>
                  <a:gd name="T11" fmla="*/ 1 h 46"/>
                  <a:gd name="T12" fmla="*/ 0 w 55"/>
                  <a:gd name="T13" fmla="*/ 1 h 46"/>
                  <a:gd name="T14" fmla="*/ 0 w 55"/>
                  <a:gd name="T15" fmla="*/ 1 h 46"/>
                  <a:gd name="T16" fmla="*/ 0 w 55"/>
                  <a:gd name="T17" fmla="*/ 1 h 46"/>
                  <a:gd name="T18" fmla="*/ 0 w 55"/>
                  <a:gd name="T19" fmla="*/ 1 h 46"/>
                  <a:gd name="T20" fmla="*/ 0 w 55"/>
                  <a:gd name="T21" fmla="*/ 0 h 46"/>
                  <a:gd name="T22" fmla="*/ 0 w 55"/>
                  <a:gd name="T23" fmla="*/ 1 h 46"/>
                  <a:gd name="T24" fmla="*/ 0 w 55"/>
                  <a:gd name="T25" fmla="*/ 1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46"/>
                  <a:gd name="T41" fmla="*/ 55 w 55"/>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46">
                    <a:moveTo>
                      <a:pt x="0" y="11"/>
                    </a:moveTo>
                    <a:lnTo>
                      <a:pt x="0" y="13"/>
                    </a:lnTo>
                    <a:lnTo>
                      <a:pt x="8" y="22"/>
                    </a:lnTo>
                    <a:lnTo>
                      <a:pt x="19" y="30"/>
                    </a:lnTo>
                    <a:lnTo>
                      <a:pt x="33" y="38"/>
                    </a:lnTo>
                    <a:lnTo>
                      <a:pt x="49" y="46"/>
                    </a:lnTo>
                    <a:lnTo>
                      <a:pt x="55" y="24"/>
                    </a:lnTo>
                    <a:lnTo>
                      <a:pt x="43" y="19"/>
                    </a:lnTo>
                    <a:lnTo>
                      <a:pt x="32" y="11"/>
                    </a:lnTo>
                    <a:lnTo>
                      <a:pt x="24" y="7"/>
                    </a:lnTo>
                    <a:lnTo>
                      <a:pt x="19" y="0"/>
                    </a:lnTo>
                    <a:lnTo>
                      <a:pt x="19" y="2"/>
                    </a:lnTo>
                    <a:lnTo>
                      <a:pt x="0" y="11"/>
                    </a:lnTo>
                    <a:close/>
                  </a:path>
                </a:pathLst>
              </a:custGeom>
              <a:solidFill>
                <a:srgbClr val="000000"/>
              </a:solidFill>
              <a:ln w="9525">
                <a:noFill/>
                <a:round/>
                <a:headEnd/>
                <a:tailEnd/>
              </a:ln>
            </p:spPr>
            <p:txBody>
              <a:bodyPr/>
              <a:lstStyle/>
              <a:p>
                <a:endParaRPr lang="en-US"/>
              </a:p>
            </p:txBody>
          </p:sp>
          <p:sp>
            <p:nvSpPr>
              <p:cNvPr id="23696" name="Freeform 109"/>
              <p:cNvSpPr>
                <a:spLocks/>
              </p:cNvSpPr>
              <p:nvPr/>
            </p:nvSpPr>
            <p:spPr bwMode="auto">
              <a:xfrm>
                <a:off x="2133" y="3695"/>
                <a:ext cx="12" cy="14"/>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1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0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0" y="11"/>
                    </a:moveTo>
                    <a:lnTo>
                      <a:pt x="3" y="3"/>
                    </a:lnTo>
                    <a:lnTo>
                      <a:pt x="0" y="11"/>
                    </a:lnTo>
                    <a:lnTo>
                      <a:pt x="0" y="16"/>
                    </a:lnTo>
                    <a:lnTo>
                      <a:pt x="3" y="22"/>
                    </a:lnTo>
                    <a:lnTo>
                      <a:pt x="6" y="28"/>
                    </a:lnTo>
                    <a:lnTo>
                      <a:pt x="25" y="19"/>
                    </a:lnTo>
                    <a:lnTo>
                      <a:pt x="22" y="13"/>
                    </a:lnTo>
                    <a:lnTo>
                      <a:pt x="22" y="9"/>
                    </a:lnTo>
                    <a:lnTo>
                      <a:pt x="22" y="11"/>
                    </a:lnTo>
                    <a:lnTo>
                      <a:pt x="19" y="19"/>
                    </a:lnTo>
                    <a:lnTo>
                      <a:pt x="22" y="11"/>
                    </a:lnTo>
                    <a:lnTo>
                      <a:pt x="19" y="19"/>
                    </a:lnTo>
                    <a:lnTo>
                      <a:pt x="22" y="11"/>
                    </a:lnTo>
                    <a:lnTo>
                      <a:pt x="19" y="3"/>
                    </a:lnTo>
                    <a:lnTo>
                      <a:pt x="11" y="0"/>
                    </a:lnTo>
                    <a:lnTo>
                      <a:pt x="3" y="3"/>
                    </a:lnTo>
                    <a:lnTo>
                      <a:pt x="0" y="11"/>
                    </a:lnTo>
                    <a:close/>
                  </a:path>
                </a:pathLst>
              </a:custGeom>
              <a:solidFill>
                <a:srgbClr val="000000"/>
              </a:solidFill>
              <a:ln w="9525">
                <a:noFill/>
                <a:round/>
                <a:headEnd/>
                <a:tailEnd/>
              </a:ln>
            </p:spPr>
            <p:txBody>
              <a:bodyPr/>
              <a:lstStyle/>
              <a:p>
                <a:endParaRPr lang="en-US"/>
              </a:p>
            </p:txBody>
          </p:sp>
          <p:sp>
            <p:nvSpPr>
              <p:cNvPr id="23697" name="Freeform 110"/>
              <p:cNvSpPr>
                <a:spLocks/>
              </p:cNvSpPr>
              <p:nvPr/>
            </p:nvSpPr>
            <p:spPr bwMode="auto">
              <a:xfrm>
                <a:off x="2130" y="3633"/>
                <a:ext cx="14" cy="67"/>
              </a:xfrm>
              <a:custGeom>
                <a:avLst/>
                <a:gdLst>
                  <a:gd name="T0" fmla="*/ 1 w 27"/>
                  <a:gd name="T1" fmla="*/ 0 h 135"/>
                  <a:gd name="T2" fmla="*/ 0 w 27"/>
                  <a:gd name="T3" fmla="*/ 0 h 135"/>
                  <a:gd name="T4" fmla="*/ 1 w 27"/>
                  <a:gd name="T5" fmla="*/ 0 h 135"/>
                  <a:gd name="T6" fmla="*/ 1 w 27"/>
                  <a:gd name="T7" fmla="*/ 0 h 135"/>
                  <a:gd name="T8" fmla="*/ 1 w 27"/>
                  <a:gd name="T9" fmla="*/ 0 h 135"/>
                  <a:gd name="T10" fmla="*/ 1 w 27"/>
                  <a:gd name="T11" fmla="*/ 0 h 135"/>
                  <a:gd name="T12" fmla="*/ 1 w 27"/>
                  <a:gd name="T13" fmla="*/ 0 h 135"/>
                  <a:gd name="T14" fmla="*/ 1 w 27"/>
                  <a:gd name="T15" fmla="*/ 0 h 135"/>
                  <a:gd name="T16" fmla="*/ 1 w 27"/>
                  <a:gd name="T17" fmla="*/ 0 h 135"/>
                  <a:gd name="T18" fmla="*/ 1 w 27"/>
                  <a:gd name="T19" fmla="*/ 0 h 135"/>
                  <a:gd name="T20" fmla="*/ 0 w 27"/>
                  <a:gd name="T21" fmla="*/ 0 h 135"/>
                  <a:gd name="T22" fmla="*/ 1 w 27"/>
                  <a:gd name="T23" fmla="*/ 0 h 1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35"/>
                  <a:gd name="T38" fmla="*/ 27 w 27"/>
                  <a:gd name="T39" fmla="*/ 135 h 1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35">
                    <a:moveTo>
                      <a:pt x="4" y="4"/>
                    </a:moveTo>
                    <a:lnTo>
                      <a:pt x="0" y="11"/>
                    </a:lnTo>
                    <a:lnTo>
                      <a:pt x="5" y="135"/>
                    </a:lnTo>
                    <a:lnTo>
                      <a:pt x="27" y="135"/>
                    </a:lnTo>
                    <a:lnTo>
                      <a:pt x="22" y="11"/>
                    </a:lnTo>
                    <a:lnTo>
                      <a:pt x="19" y="19"/>
                    </a:lnTo>
                    <a:lnTo>
                      <a:pt x="22" y="11"/>
                    </a:lnTo>
                    <a:lnTo>
                      <a:pt x="19" y="4"/>
                    </a:lnTo>
                    <a:lnTo>
                      <a:pt x="11" y="0"/>
                    </a:lnTo>
                    <a:lnTo>
                      <a:pt x="4" y="4"/>
                    </a:lnTo>
                    <a:lnTo>
                      <a:pt x="0" y="11"/>
                    </a:lnTo>
                    <a:lnTo>
                      <a:pt x="4" y="4"/>
                    </a:lnTo>
                    <a:close/>
                  </a:path>
                </a:pathLst>
              </a:custGeom>
              <a:solidFill>
                <a:srgbClr val="000000"/>
              </a:solidFill>
              <a:ln w="9525">
                <a:noFill/>
                <a:round/>
                <a:headEnd/>
                <a:tailEnd/>
              </a:ln>
            </p:spPr>
            <p:txBody>
              <a:bodyPr/>
              <a:lstStyle/>
              <a:p>
                <a:endParaRPr lang="en-US"/>
              </a:p>
            </p:txBody>
          </p:sp>
          <p:sp>
            <p:nvSpPr>
              <p:cNvPr id="23698" name="Freeform 111"/>
              <p:cNvSpPr>
                <a:spLocks/>
              </p:cNvSpPr>
              <p:nvPr/>
            </p:nvSpPr>
            <p:spPr bwMode="auto">
              <a:xfrm>
                <a:off x="2132" y="3617"/>
                <a:ext cx="27" cy="25"/>
              </a:xfrm>
              <a:custGeom>
                <a:avLst/>
                <a:gdLst>
                  <a:gd name="T0" fmla="*/ 1 w 54"/>
                  <a:gd name="T1" fmla="*/ 1 h 50"/>
                  <a:gd name="T2" fmla="*/ 1 w 54"/>
                  <a:gd name="T3" fmla="*/ 1 h 50"/>
                  <a:gd name="T4" fmla="*/ 1 w 54"/>
                  <a:gd name="T5" fmla="*/ 0 h 50"/>
                  <a:gd name="T6" fmla="*/ 1 w 54"/>
                  <a:gd name="T7" fmla="*/ 1 h 50"/>
                  <a:gd name="T8" fmla="*/ 1 w 54"/>
                  <a:gd name="T9" fmla="*/ 1 h 50"/>
                  <a:gd name="T10" fmla="*/ 1 w 54"/>
                  <a:gd name="T11" fmla="*/ 1 h 50"/>
                  <a:gd name="T12" fmla="*/ 1 w 54"/>
                  <a:gd name="T13" fmla="*/ 1 h 50"/>
                  <a:gd name="T14" fmla="*/ 1 w 54"/>
                  <a:gd name="T15" fmla="*/ 1 h 50"/>
                  <a:gd name="T16" fmla="*/ 1 w 54"/>
                  <a:gd name="T17" fmla="*/ 1 h 50"/>
                  <a:gd name="T18" fmla="*/ 0 w 54"/>
                  <a:gd name="T19" fmla="*/ 1 h 50"/>
                  <a:gd name="T20" fmla="*/ 1 w 54"/>
                  <a:gd name="T21" fmla="*/ 1 h 50"/>
                  <a:gd name="T22" fmla="*/ 1 w 54"/>
                  <a:gd name="T23" fmla="*/ 1 h 50"/>
                  <a:gd name="T24" fmla="*/ 1 w 54"/>
                  <a:gd name="T25" fmla="*/ 1 h 50"/>
                  <a:gd name="T26" fmla="*/ 1 w 54"/>
                  <a:gd name="T27" fmla="*/ 1 h 50"/>
                  <a:gd name="T28" fmla="*/ 1 w 54"/>
                  <a:gd name="T29" fmla="*/ 1 h 50"/>
                  <a:gd name="T30" fmla="*/ 1 w 54"/>
                  <a:gd name="T31" fmla="*/ 1 h 50"/>
                  <a:gd name="T32" fmla="*/ 1 w 54"/>
                  <a:gd name="T33" fmla="*/ 1 h 50"/>
                  <a:gd name="T34" fmla="*/ 1 w 54"/>
                  <a:gd name="T35" fmla="*/ 1 h 50"/>
                  <a:gd name="T36" fmla="*/ 1 w 54"/>
                  <a:gd name="T37" fmla="*/ 1 h 50"/>
                  <a:gd name="T38" fmla="*/ 1 w 54"/>
                  <a:gd name="T39" fmla="*/ 1 h 50"/>
                  <a:gd name="T40" fmla="*/ 1 w 54"/>
                  <a:gd name="T41" fmla="*/ 1 h 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50"/>
                  <a:gd name="T65" fmla="*/ 54 w 54"/>
                  <a:gd name="T66" fmla="*/ 50 h 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50">
                    <a:moveTo>
                      <a:pt x="54" y="17"/>
                    </a:moveTo>
                    <a:lnTo>
                      <a:pt x="54" y="17"/>
                    </a:lnTo>
                    <a:lnTo>
                      <a:pt x="42" y="0"/>
                    </a:lnTo>
                    <a:lnTo>
                      <a:pt x="37" y="5"/>
                    </a:lnTo>
                    <a:lnTo>
                      <a:pt x="31" y="8"/>
                    </a:lnTo>
                    <a:lnTo>
                      <a:pt x="23" y="16"/>
                    </a:lnTo>
                    <a:lnTo>
                      <a:pt x="14" y="22"/>
                    </a:lnTo>
                    <a:lnTo>
                      <a:pt x="7" y="28"/>
                    </a:lnTo>
                    <a:lnTo>
                      <a:pt x="3" y="33"/>
                    </a:lnTo>
                    <a:lnTo>
                      <a:pt x="0" y="35"/>
                    </a:lnTo>
                    <a:lnTo>
                      <a:pt x="15" y="50"/>
                    </a:lnTo>
                    <a:lnTo>
                      <a:pt x="15" y="49"/>
                    </a:lnTo>
                    <a:lnTo>
                      <a:pt x="23" y="44"/>
                    </a:lnTo>
                    <a:lnTo>
                      <a:pt x="29" y="38"/>
                    </a:lnTo>
                    <a:lnTo>
                      <a:pt x="36" y="31"/>
                    </a:lnTo>
                    <a:lnTo>
                      <a:pt x="43" y="27"/>
                    </a:lnTo>
                    <a:lnTo>
                      <a:pt x="50" y="21"/>
                    </a:lnTo>
                    <a:lnTo>
                      <a:pt x="51" y="19"/>
                    </a:lnTo>
                    <a:lnTo>
                      <a:pt x="39" y="5"/>
                    </a:lnTo>
                    <a:lnTo>
                      <a:pt x="54" y="17"/>
                    </a:lnTo>
                    <a:close/>
                  </a:path>
                </a:pathLst>
              </a:custGeom>
              <a:solidFill>
                <a:srgbClr val="000000"/>
              </a:solidFill>
              <a:ln w="9525">
                <a:noFill/>
                <a:round/>
                <a:headEnd/>
                <a:tailEnd/>
              </a:ln>
            </p:spPr>
            <p:txBody>
              <a:bodyPr/>
              <a:lstStyle/>
              <a:p>
                <a:endParaRPr lang="en-US"/>
              </a:p>
            </p:txBody>
          </p:sp>
          <p:sp>
            <p:nvSpPr>
              <p:cNvPr id="23699" name="Freeform 112"/>
              <p:cNvSpPr>
                <a:spLocks/>
              </p:cNvSpPr>
              <p:nvPr/>
            </p:nvSpPr>
            <p:spPr bwMode="auto">
              <a:xfrm>
                <a:off x="2130" y="3619"/>
                <a:ext cx="29" cy="25"/>
              </a:xfrm>
              <a:custGeom>
                <a:avLst/>
                <a:gdLst>
                  <a:gd name="T0" fmla="*/ 1 w 58"/>
                  <a:gd name="T1" fmla="*/ 1 h 48"/>
                  <a:gd name="T2" fmla="*/ 1 w 58"/>
                  <a:gd name="T3" fmla="*/ 1 h 48"/>
                  <a:gd name="T4" fmla="*/ 1 w 58"/>
                  <a:gd name="T5" fmla="*/ 1 h 48"/>
                  <a:gd name="T6" fmla="*/ 1 w 58"/>
                  <a:gd name="T7" fmla="*/ 1 h 48"/>
                  <a:gd name="T8" fmla="*/ 1 w 58"/>
                  <a:gd name="T9" fmla="*/ 1 h 48"/>
                  <a:gd name="T10" fmla="*/ 1 w 58"/>
                  <a:gd name="T11" fmla="*/ 1 h 48"/>
                  <a:gd name="T12" fmla="*/ 1 w 58"/>
                  <a:gd name="T13" fmla="*/ 0 h 48"/>
                  <a:gd name="T14" fmla="*/ 1 w 58"/>
                  <a:gd name="T15" fmla="*/ 1 h 48"/>
                  <a:gd name="T16" fmla="*/ 1 w 58"/>
                  <a:gd name="T17" fmla="*/ 1 h 48"/>
                  <a:gd name="T18" fmla="*/ 1 w 58"/>
                  <a:gd name="T19" fmla="*/ 1 h 48"/>
                  <a:gd name="T20" fmla="*/ 1 w 58"/>
                  <a:gd name="T21" fmla="*/ 1 h 48"/>
                  <a:gd name="T22" fmla="*/ 1 w 58"/>
                  <a:gd name="T23" fmla="*/ 1 h 48"/>
                  <a:gd name="T24" fmla="*/ 1 w 58"/>
                  <a:gd name="T25" fmla="*/ 1 h 48"/>
                  <a:gd name="T26" fmla="*/ 0 w 58"/>
                  <a:gd name="T27" fmla="*/ 1 h 48"/>
                  <a:gd name="T28" fmla="*/ 1 w 58"/>
                  <a:gd name="T29" fmla="*/ 1 h 48"/>
                  <a:gd name="T30" fmla="*/ 1 w 58"/>
                  <a:gd name="T31" fmla="*/ 1 h 48"/>
                  <a:gd name="T32" fmla="*/ 1 w 58"/>
                  <a:gd name="T33" fmla="*/ 1 h 48"/>
                  <a:gd name="T34" fmla="*/ 1 w 58"/>
                  <a:gd name="T35" fmla="*/ 1 h 4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8"/>
                  <a:gd name="T55" fmla="*/ 0 h 48"/>
                  <a:gd name="T56" fmla="*/ 58 w 58"/>
                  <a:gd name="T57" fmla="*/ 48 h 4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8" h="48">
                    <a:moveTo>
                      <a:pt x="11" y="48"/>
                    </a:moveTo>
                    <a:lnTo>
                      <a:pt x="18" y="47"/>
                    </a:lnTo>
                    <a:lnTo>
                      <a:pt x="22" y="44"/>
                    </a:lnTo>
                    <a:lnTo>
                      <a:pt x="35" y="33"/>
                    </a:lnTo>
                    <a:lnTo>
                      <a:pt x="49" y="22"/>
                    </a:lnTo>
                    <a:lnTo>
                      <a:pt x="58" y="12"/>
                    </a:lnTo>
                    <a:lnTo>
                      <a:pt x="43" y="0"/>
                    </a:lnTo>
                    <a:lnTo>
                      <a:pt x="33" y="6"/>
                    </a:lnTo>
                    <a:lnTo>
                      <a:pt x="22" y="17"/>
                    </a:lnTo>
                    <a:lnTo>
                      <a:pt x="10" y="25"/>
                    </a:lnTo>
                    <a:lnTo>
                      <a:pt x="5" y="28"/>
                    </a:lnTo>
                    <a:lnTo>
                      <a:pt x="11" y="26"/>
                    </a:lnTo>
                    <a:lnTo>
                      <a:pt x="5" y="28"/>
                    </a:lnTo>
                    <a:lnTo>
                      <a:pt x="0" y="36"/>
                    </a:lnTo>
                    <a:lnTo>
                      <a:pt x="2" y="44"/>
                    </a:lnTo>
                    <a:lnTo>
                      <a:pt x="8" y="48"/>
                    </a:lnTo>
                    <a:lnTo>
                      <a:pt x="18" y="47"/>
                    </a:lnTo>
                    <a:lnTo>
                      <a:pt x="11" y="48"/>
                    </a:lnTo>
                    <a:close/>
                  </a:path>
                </a:pathLst>
              </a:custGeom>
              <a:solidFill>
                <a:srgbClr val="000000"/>
              </a:solidFill>
              <a:ln w="9525">
                <a:noFill/>
                <a:round/>
                <a:headEnd/>
                <a:tailEnd/>
              </a:ln>
            </p:spPr>
            <p:txBody>
              <a:bodyPr/>
              <a:lstStyle/>
              <a:p>
                <a:endParaRPr lang="en-US"/>
              </a:p>
            </p:txBody>
          </p:sp>
          <p:sp>
            <p:nvSpPr>
              <p:cNvPr id="23700" name="Freeform 113"/>
              <p:cNvSpPr>
                <a:spLocks/>
              </p:cNvSpPr>
              <p:nvPr/>
            </p:nvSpPr>
            <p:spPr bwMode="auto">
              <a:xfrm>
                <a:off x="2113" y="3633"/>
                <a:ext cx="23" cy="11"/>
              </a:xfrm>
              <a:custGeom>
                <a:avLst/>
                <a:gdLst>
                  <a:gd name="T0" fmla="*/ 1 w 45"/>
                  <a:gd name="T1" fmla="*/ 1 h 22"/>
                  <a:gd name="T2" fmla="*/ 1 w 45"/>
                  <a:gd name="T3" fmla="*/ 1 h 22"/>
                  <a:gd name="T4" fmla="*/ 1 w 45"/>
                  <a:gd name="T5" fmla="*/ 1 h 22"/>
                  <a:gd name="T6" fmla="*/ 1 w 45"/>
                  <a:gd name="T7" fmla="*/ 0 h 22"/>
                  <a:gd name="T8" fmla="*/ 1 w 45"/>
                  <a:gd name="T9" fmla="*/ 0 h 22"/>
                  <a:gd name="T10" fmla="*/ 1 w 45"/>
                  <a:gd name="T11" fmla="*/ 1 h 22"/>
                  <a:gd name="T12" fmla="*/ 1 w 45"/>
                  <a:gd name="T13" fmla="*/ 0 h 22"/>
                  <a:gd name="T14" fmla="*/ 1 w 45"/>
                  <a:gd name="T15" fmla="*/ 1 h 22"/>
                  <a:gd name="T16" fmla="*/ 0 w 45"/>
                  <a:gd name="T17" fmla="*/ 1 h 22"/>
                  <a:gd name="T18" fmla="*/ 1 w 45"/>
                  <a:gd name="T19" fmla="*/ 1 h 22"/>
                  <a:gd name="T20" fmla="*/ 1 w 45"/>
                  <a:gd name="T21" fmla="*/ 1 h 22"/>
                  <a:gd name="T22" fmla="*/ 1 w 45"/>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5"/>
                  <a:gd name="T37" fmla="*/ 0 h 22"/>
                  <a:gd name="T38" fmla="*/ 45 w 45"/>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5" h="22">
                    <a:moveTo>
                      <a:pt x="2" y="18"/>
                    </a:moveTo>
                    <a:lnTo>
                      <a:pt x="11" y="22"/>
                    </a:lnTo>
                    <a:lnTo>
                      <a:pt x="45" y="22"/>
                    </a:lnTo>
                    <a:lnTo>
                      <a:pt x="45" y="0"/>
                    </a:lnTo>
                    <a:lnTo>
                      <a:pt x="11" y="0"/>
                    </a:lnTo>
                    <a:lnTo>
                      <a:pt x="20" y="5"/>
                    </a:lnTo>
                    <a:lnTo>
                      <a:pt x="11" y="0"/>
                    </a:lnTo>
                    <a:lnTo>
                      <a:pt x="3" y="4"/>
                    </a:lnTo>
                    <a:lnTo>
                      <a:pt x="0" y="11"/>
                    </a:lnTo>
                    <a:lnTo>
                      <a:pt x="3" y="19"/>
                    </a:lnTo>
                    <a:lnTo>
                      <a:pt x="11" y="22"/>
                    </a:lnTo>
                    <a:lnTo>
                      <a:pt x="2" y="18"/>
                    </a:lnTo>
                    <a:close/>
                  </a:path>
                </a:pathLst>
              </a:custGeom>
              <a:solidFill>
                <a:srgbClr val="000000"/>
              </a:solidFill>
              <a:ln w="9525">
                <a:noFill/>
                <a:round/>
                <a:headEnd/>
                <a:tailEnd/>
              </a:ln>
            </p:spPr>
            <p:txBody>
              <a:bodyPr/>
              <a:lstStyle/>
              <a:p>
                <a:endParaRPr lang="en-US"/>
              </a:p>
            </p:txBody>
          </p:sp>
          <p:sp>
            <p:nvSpPr>
              <p:cNvPr id="23701" name="Freeform 114"/>
              <p:cNvSpPr>
                <a:spLocks/>
              </p:cNvSpPr>
              <p:nvPr/>
            </p:nvSpPr>
            <p:spPr bwMode="auto">
              <a:xfrm>
                <a:off x="2106" y="3623"/>
                <a:ext cx="17" cy="18"/>
              </a:xfrm>
              <a:custGeom>
                <a:avLst/>
                <a:gdLst>
                  <a:gd name="T0" fmla="*/ 0 w 34"/>
                  <a:gd name="T1" fmla="*/ 0 h 38"/>
                  <a:gd name="T2" fmla="*/ 0 w 34"/>
                  <a:gd name="T3" fmla="*/ 0 h 38"/>
                  <a:gd name="T4" fmla="*/ 1 w 34"/>
                  <a:gd name="T5" fmla="*/ 0 h 38"/>
                  <a:gd name="T6" fmla="*/ 1 w 34"/>
                  <a:gd name="T7" fmla="*/ 0 h 38"/>
                  <a:gd name="T8" fmla="*/ 1 w 34"/>
                  <a:gd name="T9" fmla="*/ 0 h 38"/>
                  <a:gd name="T10" fmla="*/ 1 w 34"/>
                  <a:gd name="T11" fmla="*/ 0 h 38"/>
                  <a:gd name="T12" fmla="*/ 1 w 34"/>
                  <a:gd name="T13" fmla="*/ 0 h 38"/>
                  <a:gd name="T14" fmla="*/ 1 w 34"/>
                  <a:gd name="T15" fmla="*/ 0 h 38"/>
                  <a:gd name="T16" fmla="*/ 1 w 34"/>
                  <a:gd name="T17" fmla="*/ 0 h 38"/>
                  <a:gd name="T18" fmla="*/ 1 w 34"/>
                  <a:gd name="T19" fmla="*/ 0 h 38"/>
                  <a:gd name="T20" fmla="*/ 1 w 34"/>
                  <a:gd name="T21" fmla="*/ 0 h 38"/>
                  <a:gd name="T22" fmla="*/ 1 w 34"/>
                  <a:gd name="T23" fmla="*/ 0 h 38"/>
                  <a:gd name="T24" fmla="*/ 0 w 34"/>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38"/>
                  <a:gd name="T41" fmla="*/ 34 w 34"/>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38">
                    <a:moveTo>
                      <a:pt x="0" y="13"/>
                    </a:moveTo>
                    <a:lnTo>
                      <a:pt x="0" y="13"/>
                    </a:lnTo>
                    <a:lnTo>
                      <a:pt x="5" y="20"/>
                    </a:lnTo>
                    <a:lnTo>
                      <a:pt x="9" y="28"/>
                    </a:lnTo>
                    <a:lnTo>
                      <a:pt x="14" y="35"/>
                    </a:lnTo>
                    <a:lnTo>
                      <a:pt x="16" y="38"/>
                    </a:lnTo>
                    <a:lnTo>
                      <a:pt x="34" y="25"/>
                    </a:lnTo>
                    <a:lnTo>
                      <a:pt x="33" y="22"/>
                    </a:lnTo>
                    <a:lnTo>
                      <a:pt x="28" y="16"/>
                    </a:lnTo>
                    <a:lnTo>
                      <a:pt x="23" y="8"/>
                    </a:lnTo>
                    <a:lnTo>
                      <a:pt x="16" y="0"/>
                    </a:lnTo>
                    <a:lnTo>
                      <a:pt x="0" y="13"/>
                    </a:lnTo>
                    <a:close/>
                  </a:path>
                </a:pathLst>
              </a:custGeom>
              <a:solidFill>
                <a:srgbClr val="000000"/>
              </a:solidFill>
              <a:ln w="9525">
                <a:noFill/>
                <a:round/>
                <a:headEnd/>
                <a:tailEnd/>
              </a:ln>
            </p:spPr>
            <p:txBody>
              <a:bodyPr/>
              <a:lstStyle/>
              <a:p>
                <a:endParaRPr lang="en-US"/>
              </a:p>
            </p:txBody>
          </p:sp>
          <p:sp>
            <p:nvSpPr>
              <p:cNvPr id="23702" name="Freeform 115"/>
              <p:cNvSpPr>
                <a:spLocks/>
              </p:cNvSpPr>
              <p:nvPr/>
            </p:nvSpPr>
            <p:spPr bwMode="auto">
              <a:xfrm>
                <a:off x="2096" y="3600"/>
                <a:ext cx="18" cy="29"/>
              </a:xfrm>
              <a:custGeom>
                <a:avLst/>
                <a:gdLst>
                  <a:gd name="T0" fmla="*/ 1 w 36"/>
                  <a:gd name="T1" fmla="*/ 1 h 58"/>
                  <a:gd name="T2" fmla="*/ 0 w 36"/>
                  <a:gd name="T3" fmla="*/ 1 h 58"/>
                  <a:gd name="T4" fmla="*/ 1 w 36"/>
                  <a:gd name="T5" fmla="*/ 1 h 58"/>
                  <a:gd name="T6" fmla="*/ 1 w 36"/>
                  <a:gd name="T7" fmla="*/ 1 h 58"/>
                  <a:gd name="T8" fmla="*/ 1 w 36"/>
                  <a:gd name="T9" fmla="*/ 1 h 58"/>
                  <a:gd name="T10" fmla="*/ 1 w 36"/>
                  <a:gd name="T11" fmla="*/ 1 h 58"/>
                  <a:gd name="T12" fmla="*/ 1 w 36"/>
                  <a:gd name="T13" fmla="*/ 1 h 58"/>
                  <a:gd name="T14" fmla="*/ 1 w 36"/>
                  <a:gd name="T15" fmla="*/ 1 h 58"/>
                  <a:gd name="T16" fmla="*/ 1 w 36"/>
                  <a:gd name="T17" fmla="*/ 1 h 58"/>
                  <a:gd name="T18" fmla="*/ 1 w 36"/>
                  <a:gd name="T19" fmla="*/ 1 h 58"/>
                  <a:gd name="T20" fmla="*/ 1 w 36"/>
                  <a:gd name="T21" fmla="*/ 1 h 58"/>
                  <a:gd name="T22" fmla="*/ 1 w 36"/>
                  <a:gd name="T23" fmla="*/ 1 h 58"/>
                  <a:gd name="T24" fmla="*/ 1 w 36"/>
                  <a:gd name="T25" fmla="*/ 1 h 58"/>
                  <a:gd name="T26" fmla="*/ 1 w 36"/>
                  <a:gd name="T27" fmla="*/ 1 h 58"/>
                  <a:gd name="T28" fmla="*/ 1 w 36"/>
                  <a:gd name="T29" fmla="*/ 0 h 58"/>
                  <a:gd name="T30" fmla="*/ 1 w 36"/>
                  <a:gd name="T31" fmla="*/ 1 h 58"/>
                  <a:gd name="T32" fmla="*/ 0 w 36"/>
                  <a:gd name="T33" fmla="*/ 1 h 58"/>
                  <a:gd name="T34" fmla="*/ 1 w 36"/>
                  <a:gd name="T35" fmla="*/ 1 h 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6"/>
                  <a:gd name="T55" fmla="*/ 0 h 58"/>
                  <a:gd name="T56" fmla="*/ 36 w 36"/>
                  <a:gd name="T57" fmla="*/ 58 h 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6" h="58">
                    <a:moveTo>
                      <a:pt x="1" y="6"/>
                    </a:moveTo>
                    <a:lnTo>
                      <a:pt x="0" y="14"/>
                    </a:lnTo>
                    <a:lnTo>
                      <a:pt x="1" y="19"/>
                    </a:lnTo>
                    <a:lnTo>
                      <a:pt x="6" y="31"/>
                    </a:lnTo>
                    <a:lnTo>
                      <a:pt x="12" y="45"/>
                    </a:lnTo>
                    <a:lnTo>
                      <a:pt x="20" y="58"/>
                    </a:lnTo>
                    <a:lnTo>
                      <a:pt x="36" y="45"/>
                    </a:lnTo>
                    <a:lnTo>
                      <a:pt x="31" y="36"/>
                    </a:lnTo>
                    <a:lnTo>
                      <a:pt x="28" y="25"/>
                    </a:lnTo>
                    <a:lnTo>
                      <a:pt x="23" y="12"/>
                    </a:lnTo>
                    <a:lnTo>
                      <a:pt x="21" y="8"/>
                    </a:lnTo>
                    <a:lnTo>
                      <a:pt x="20" y="15"/>
                    </a:lnTo>
                    <a:lnTo>
                      <a:pt x="21" y="8"/>
                    </a:lnTo>
                    <a:lnTo>
                      <a:pt x="17" y="1"/>
                    </a:lnTo>
                    <a:lnTo>
                      <a:pt x="9" y="0"/>
                    </a:lnTo>
                    <a:lnTo>
                      <a:pt x="1" y="4"/>
                    </a:lnTo>
                    <a:lnTo>
                      <a:pt x="0" y="14"/>
                    </a:lnTo>
                    <a:lnTo>
                      <a:pt x="1" y="6"/>
                    </a:lnTo>
                    <a:close/>
                  </a:path>
                </a:pathLst>
              </a:custGeom>
              <a:solidFill>
                <a:srgbClr val="000000"/>
              </a:solidFill>
              <a:ln w="9525">
                <a:noFill/>
                <a:round/>
                <a:headEnd/>
                <a:tailEnd/>
              </a:ln>
            </p:spPr>
            <p:txBody>
              <a:bodyPr/>
              <a:lstStyle/>
              <a:p>
                <a:endParaRPr lang="en-US"/>
              </a:p>
            </p:txBody>
          </p:sp>
          <p:sp>
            <p:nvSpPr>
              <p:cNvPr id="23703" name="Freeform 116"/>
              <p:cNvSpPr>
                <a:spLocks/>
              </p:cNvSpPr>
              <p:nvPr/>
            </p:nvSpPr>
            <p:spPr bwMode="auto">
              <a:xfrm>
                <a:off x="2097" y="3581"/>
                <a:ext cx="22" cy="27"/>
              </a:xfrm>
              <a:custGeom>
                <a:avLst/>
                <a:gdLst>
                  <a:gd name="T0" fmla="*/ 0 w 45"/>
                  <a:gd name="T1" fmla="*/ 0 h 53"/>
                  <a:gd name="T2" fmla="*/ 0 w 45"/>
                  <a:gd name="T3" fmla="*/ 1 h 53"/>
                  <a:gd name="T4" fmla="*/ 0 w 45"/>
                  <a:gd name="T5" fmla="*/ 1 h 53"/>
                  <a:gd name="T6" fmla="*/ 0 w 45"/>
                  <a:gd name="T7" fmla="*/ 1 h 53"/>
                  <a:gd name="T8" fmla="*/ 0 w 45"/>
                  <a:gd name="T9" fmla="*/ 1 h 53"/>
                  <a:gd name="T10" fmla="*/ 0 w 45"/>
                  <a:gd name="T11" fmla="*/ 1 h 53"/>
                  <a:gd name="T12" fmla="*/ 0 w 45"/>
                  <a:gd name="T13" fmla="*/ 1 h 53"/>
                  <a:gd name="T14" fmla="*/ 0 w 45"/>
                  <a:gd name="T15" fmla="*/ 1 h 53"/>
                  <a:gd name="T16" fmla="*/ 0 w 45"/>
                  <a:gd name="T17" fmla="*/ 1 h 53"/>
                  <a:gd name="T18" fmla="*/ 0 w 45"/>
                  <a:gd name="T19" fmla="*/ 1 h 53"/>
                  <a:gd name="T20" fmla="*/ 0 w 45"/>
                  <a:gd name="T21" fmla="*/ 1 h 53"/>
                  <a:gd name="T22" fmla="*/ 0 w 45"/>
                  <a:gd name="T23" fmla="*/ 1 h 53"/>
                  <a:gd name="T24" fmla="*/ 0 w 45"/>
                  <a:gd name="T25" fmla="*/ 0 h 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53"/>
                  <a:gd name="T41" fmla="*/ 45 w 45"/>
                  <a:gd name="T42" fmla="*/ 53 h 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53">
                    <a:moveTo>
                      <a:pt x="30" y="0"/>
                    </a:moveTo>
                    <a:lnTo>
                      <a:pt x="30" y="2"/>
                    </a:lnTo>
                    <a:lnTo>
                      <a:pt x="17" y="16"/>
                    </a:lnTo>
                    <a:lnTo>
                      <a:pt x="8" y="28"/>
                    </a:lnTo>
                    <a:lnTo>
                      <a:pt x="2" y="41"/>
                    </a:lnTo>
                    <a:lnTo>
                      <a:pt x="0" y="44"/>
                    </a:lnTo>
                    <a:lnTo>
                      <a:pt x="19" y="53"/>
                    </a:lnTo>
                    <a:lnTo>
                      <a:pt x="20" y="50"/>
                    </a:lnTo>
                    <a:lnTo>
                      <a:pt x="27" y="41"/>
                    </a:lnTo>
                    <a:lnTo>
                      <a:pt x="36" y="28"/>
                    </a:lnTo>
                    <a:lnTo>
                      <a:pt x="45" y="14"/>
                    </a:lnTo>
                    <a:lnTo>
                      <a:pt x="45" y="16"/>
                    </a:lnTo>
                    <a:lnTo>
                      <a:pt x="30" y="0"/>
                    </a:lnTo>
                    <a:close/>
                  </a:path>
                </a:pathLst>
              </a:custGeom>
              <a:solidFill>
                <a:srgbClr val="000000"/>
              </a:solidFill>
              <a:ln w="9525">
                <a:noFill/>
                <a:round/>
                <a:headEnd/>
                <a:tailEnd/>
              </a:ln>
            </p:spPr>
            <p:txBody>
              <a:bodyPr/>
              <a:lstStyle/>
              <a:p>
                <a:endParaRPr lang="en-US"/>
              </a:p>
            </p:txBody>
          </p:sp>
          <p:sp>
            <p:nvSpPr>
              <p:cNvPr id="23704" name="Freeform 117"/>
              <p:cNvSpPr>
                <a:spLocks/>
              </p:cNvSpPr>
              <p:nvPr/>
            </p:nvSpPr>
            <p:spPr bwMode="auto">
              <a:xfrm>
                <a:off x="2111" y="3531"/>
                <a:ext cx="43" cy="58"/>
              </a:xfrm>
              <a:custGeom>
                <a:avLst/>
                <a:gdLst>
                  <a:gd name="T0" fmla="*/ 1 w 86"/>
                  <a:gd name="T1" fmla="*/ 0 h 116"/>
                  <a:gd name="T2" fmla="*/ 1 w 86"/>
                  <a:gd name="T3" fmla="*/ 0 h 116"/>
                  <a:gd name="T4" fmla="*/ 1 w 86"/>
                  <a:gd name="T5" fmla="*/ 1 h 116"/>
                  <a:gd name="T6" fmla="*/ 1 w 86"/>
                  <a:gd name="T7" fmla="*/ 1 h 116"/>
                  <a:gd name="T8" fmla="*/ 1 w 86"/>
                  <a:gd name="T9" fmla="*/ 1 h 116"/>
                  <a:gd name="T10" fmla="*/ 1 w 86"/>
                  <a:gd name="T11" fmla="*/ 1 h 116"/>
                  <a:gd name="T12" fmla="*/ 1 w 86"/>
                  <a:gd name="T13" fmla="*/ 1 h 116"/>
                  <a:gd name="T14" fmla="*/ 1 w 86"/>
                  <a:gd name="T15" fmla="*/ 1 h 116"/>
                  <a:gd name="T16" fmla="*/ 1 w 86"/>
                  <a:gd name="T17" fmla="*/ 1 h 116"/>
                  <a:gd name="T18" fmla="*/ 0 w 86"/>
                  <a:gd name="T19" fmla="*/ 1 h 116"/>
                  <a:gd name="T20" fmla="*/ 1 w 86"/>
                  <a:gd name="T21" fmla="*/ 1 h 116"/>
                  <a:gd name="T22" fmla="*/ 1 w 86"/>
                  <a:gd name="T23" fmla="*/ 1 h 116"/>
                  <a:gd name="T24" fmla="*/ 1 w 86"/>
                  <a:gd name="T25" fmla="*/ 1 h 116"/>
                  <a:gd name="T26" fmla="*/ 1 w 86"/>
                  <a:gd name="T27" fmla="*/ 1 h 116"/>
                  <a:gd name="T28" fmla="*/ 1 w 86"/>
                  <a:gd name="T29" fmla="*/ 1 h 116"/>
                  <a:gd name="T30" fmla="*/ 1 w 86"/>
                  <a:gd name="T31" fmla="*/ 1 h 116"/>
                  <a:gd name="T32" fmla="*/ 1 w 86"/>
                  <a:gd name="T33" fmla="*/ 1 h 116"/>
                  <a:gd name="T34" fmla="*/ 1 w 86"/>
                  <a:gd name="T35" fmla="*/ 1 h 116"/>
                  <a:gd name="T36" fmla="*/ 1 w 86"/>
                  <a:gd name="T37" fmla="*/ 1 h 116"/>
                  <a:gd name="T38" fmla="*/ 1 w 86"/>
                  <a:gd name="T39" fmla="*/ 1 h 116"/>
                  <a:gd name="T40" fmla="*/ 1 w 86"/>
                  <a:gd name="T41" fmla="*/ 0 h 1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6"/>
                  <a:gd name="T64" fmla="*/ 0 h 116"/>
                  <a:gd name="T65" fmla="*/ 86 w 86"/>
                  <a:gd name="T66" fmla="*/ 116 h 1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6" h="116">
                    <a:moveTo>
                      <a:pt x="70" y="0"/>
                    </a:moveTo>
                    <a:lnTo>
                      <a:pt x="70" y="0"/>
                    </a:lnTo>
                    <a:lnTo>
                      <a:pt x="62" y="9"/>
                    </a:lnTo>
                    <a:lnTo>
                      <a:pt x="55" y="20"/>
                    </a:lnTo>
                    <a:lnTo>
                      <a:pt x="45" y="35"/>
                    </a:lnTo>
                    <a:lnTo>
                      <a:pt x="34" y="49"/>
                    </a:lnTo>
                    <a:lnTo>
                      <a:pt x="25" y="66"/>
                    </a:lnTo>
                    <a:lnTo>
                      <a:pt x="14" y="80"/>
                    </a:lnTo>
                    <a:lnTo>
                      <a:pt x="6" y="92"/>
                    </a:lnTo>
                    <a:lnTo>
                      <a:pt x="0" y="100"/>
                    </a:lnTo>
                    <a:lnTo>
                      <a:pt x="15" y="116"/>
                    </a:lnTo>
                    <a:lnTo>
                      <a:pt x="25" y="105"/>
                    </a:lnTo>
                    <a:lnTo>
                      <a:pt x="33" y="92"/>
                    </a:lnTo>
                    <a:lnTo>
                      <a:pt x="44" y="78"/>
                    </a:lnTo>
                    <a:lnTo>
                      <a:pt x="53" y="61"/>
                    </a:lnTo>
                    <a:lnTo>
                      <a:pt x="64" y="47"/>
                    </a:lnTo>
                    <a:lnTo>
                      <a:pt x="73" y="33"/>
                    </a:lnTo>
                    <a:lnTo>
                      <a:pt x="81" y="22"/>
                    </a:lnTo>
                    <a:lnTo>
                      <a:pt x="86" y="16"/>
                    </a:lnTo>
                    <a:lnTo>
                      <a:pt x="70" y="0"/>
                    </a:lnTo>
                    <a:close/>
                  </a:path>
                </a:pathLst>
              </a:custGeom>
              <a:solidFill>
                <a:srgbClr val="000000"/>
              </a:solidFill>
              <a:ln w="9525">
                <a:noFill/>
                <a:round/>
                <a:headEnd/>
                <a:tailEnd/>
              </a:ln>
            </p:spPr>
            <p:txBody>
              <a:bodyPr/>
              <a:lstStyle/>
              <a:p>
                <a:endParaRPr lang="en-US"/>
              </a:p>
            </p:txBody>
          </p:sp>
          <p:sp>
            <p:nvSpPr>
              <p:cNvPr id="23705" name="Freeform 118"/>
              <p:cNvSpPr>
                <a:spLocks/>
              </p:cNvSpPr>
              <p:nvPr/>
            </p:nvSpPr>
            <p:spPr bwMode="auto">
              <a:xfrm>
                <a:off x="2147" y="3522"/>
                <a:ext cx="29" cy="17"/>
              </a:xfrm>
              <a:custGeom>
                <a:avLst/>
                <a:gdLst>
                  <a:gd name="T0" fmla="*/ 0 w 60"/>
                  <a:gd name="T1" fmla="*/ 1 h 33"/>
                  <a:gd name="T2" fmla="*/ 0 w 60"/>
                  <a:gd name="T3" fmla="*/ 0 h 33"/>
                  <a:gd name="T4" fmla="*/ 0 w 60"/>
                  <a:gd name="T5" fmla="*/ 0 h 33"/>
                  <a:gd name="T6" fmla="*/ 0 w 60"/>
                  <a:gd name="T7" fmla="*/ 1 h 33"/>
                  <a:gd name="T8" fmla="*/ 0 w 60"/>
                  <a:gd name="T9" fmla="*/ 1 h 33"/>
                  <a:gd name="T10" fmla="*/ 0 w 60"/>
                  <a:gd name="T11" fmla="*/ 1 h 33"/>
                  <a:gd name="T12" fmla="*/ 0 w 60"/>
                  <a:gd name="T13" fmla="*/ 1 h 33"/>
                  <a:gd name="T14" fmla="*/ 0 w 60"/>
                  <a:gd name="T15" fmla="*/ 1 h 33"/>
                  <a:gd name="T16" fmla="*/ 0 w 60"/>
                  <a:gd name="T17" fmla="*/ 1 h 33"/>
                  <a:gd name="T18" fmla="*/ 0 w 60"/>
                  <a:gd name="T19" fmla="*/ 1 h 33"/>
                  <a:gd name="T20" fmla="*/ 0 w 60"/>
                  <a:gd name="T21" fmla="*/ 1 h 33"/>
                  <a:gd name="T22" fmla="*/ 0 w 60"/>
                  <a:gd name="T23" fmla="*/ 1 h 33"/>
                  <a:gd name="T24" fmla="*/ 0 w 60"/>
                  <a:gd name="T25" fmla="*/ 1 h 33"/>
                  <a:gd name="T26" fmla="*/ 0 w 60"/>
                  <a:gd name="T27" fmla="*/ 1 h 33"/>
                  <a:gd name="T28" fmla="*/ 0 w 60"/>
                  <a:gd name="T29" fmla="*/ 1 h 33"/>
                  <a:gd name="T30" fmla="*/ 0 w 60"/>
                  <a:gd name="T31" fmla="*/ 1 h 33"/>
                  <a:gd name="T32" fmla="*/ 0 w 60"/>
                  <a:gd name="T33" fmla="*/ 0 h 33"/>
                  <a:gd name="T34" fmla="*/ 0 w 60"/>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33"/>
                  <a:gd name="T56" fmla="*/ 60 w 60"/>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33">
                    <a:moveTo>
                      <a:pt x="54" y="1"/>
                    </a:moveTo>
                    <a:lnTo>
                      <a:pt x="49" y="0"/>
                    </a:lnTo>
                    <a:lnTo>
                      <a:pt x="43" y="0"/>
                    </a:lnTo>
                    <a:lnTo>
                      <a:pt x="30" y="1"/>
                    </a:lnTo>
                    <a:lnTo>
                      <a:pt x="16" y="8"/>
                    </a:lnTo>
                    <a:lnTo>
                      <a:pt x="0" y="17"/>
                    </a:lnTo>
                    <a:lnTo>
                      <a:pt x="16" y="33"/>
                    </a:lnTo>
                    <a:lnTo>
                      <a:pt x="25" y="26"/>
                    </a:lnTo>
                    <a:lnTo>
                      <a:pt x="36" y="23"/>
                    </a:lnTo>
                    <a:lnTo>
                      <a:pt x="46" y="22"/>
                    </a:lnTo>
                    <a:lnTo>
                      <a:pt x="49" y="22"/>
                    </a:lnTo>
                    <a:lnTo>
                      <a:pt x="44" y="20"/>
                    </a:lnTo>
                    <a:lnTo>
                      <a:pt x="49" y="22"/>
                    </a:lnTo>
                    <a:lnTo>
                      <a:pt x="57" y="19"/>
                    </a:lnTo>
                    <a:lnTo>
                      <a:pt x="60" y="11"/>
                    </a:lnTo>
                    <a:lnTo>
                      <a:pt x="57" y="3"/>
                    </a:lnTo>
                    <a:lnTo>
                      <a:pt x="49" y="0"/>
                    </a:lnTo>
                    <a:lnTo>
                      <a:pt x="54" y="1"/>
                    </a:lnTo>
                    <a:close/>
                  </a:path>
                </a:pathLst>
              </a:custGeom>
              <a:solidFill>
                <a:srgbClr val="000000"/>
              </a:solidFill>
              <a:ln w="9525">
                <a:noFill/>
                <a:round/>
                <a:headEnd/>
                <a:tailEnd/>
              </a:ln>
            </p:spPr>
            <p:txBody>
              <a:bodyPr/>
              <a:lstStyle/>
              <a:p>
                <a:endParaRPr lang="en-US"/>
              </a:p>
            </p:txBody>
          </p:sp>
          <p:sp>
            <p:nvSpPr>
              <p:cNvPr id="23706" name="Freeform 119"/>
              <p:cNvSpPr>
                <a:spLocks/>
              </p:cNvSpPr>
              <p:nvPr/>
            </p:nvSpPr>
            <p:spPr bwMode="auto">
              <a:xfrm>
                <a:off x="2169" y="3523"/>
                <a:ext cx="18" cy="14"/>
              </a:xfrm>
              <a:custGeom>
                <a:avLst/>
                <a:gdLst>
                  <a:gd name="T0" fmla="*/ 0 w 38"/>
                  <a:gd name="T1" fmla="*/ 0 h 29"/>
                  <a:gd name="T2" fmla="*/ 0 w 38"/>
                  <a:gd name="T3" fmla="*/ 0 h 29"/>
                  <a:gd name="T4" fmla="*/ 0 w 38"/>
                  <a:gd name="T5" fmla="*/ 0 h 29"/>
                  <a:gd name="T6" fmla="*/ 0 w 38"/>
                  <a:gd name="T7" fmla="*/ 0 h 29"/>
                  <a:gd name="T8" fmla="*/ 0 w 38"/>
                  <a:gd name="T9" fmla="*/ 0 h 29"/>
                  <a:gd name="T10" fmla="*/ 0 w 38"/>
                  <a:gd name="T11" fmla="*/ 0 h 29"/>
                  <a:gd name="T12" fmla="*/ 0 w 38"/>
                  <a:gd name="T13" fmla="*/ 0 h 29"/>
                  <a:gd name="T14" fmla="*/ 0 w 38"/>
                  <a:gd name="T15" fmla="*/ 0 h 29"/>
                  <a:gd name="T16" fmla="*/ 0 w 38"/>
                  <a:gd name="T17" fmla="*/ 0 h 29"/>
                  <a:gd name="T18" fmla="*/ 0 w 38"/>
                  <a:gd name="T19" fmla="*/ 0 h 29"/>
                  <a:gd name="T20" fmla="*/ 0 w 38"/>
                  <a:gd name="T21" fmla="*/ 0 h 29"/>
                  <a:gd name="T22" fmla="*/ 0 w 38"/>
                  <a:gd name="T23" fmla="*/ 0 h 29"/>
                  <a:gd name="T24" fmla="*/ 0 w 38"/>
                  <a:gd name="T25" fmla="*/ 0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29"/>
                  <a:gd name="T41" fmla="*/ 38 w 38"/>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29">
                    <a:moveTo>
                      <a:pt x="38" y="7"/>
                    </a:moveTo>
                    <a:lnTo>
                      <a:pt x="38" y="7"/>
                    </a:lnTo>
                    <a:lnTo>
                      <a:pt x="27" y="5"/>
                    </a:lnTo>
                    <a:lnTo>
                      <a:pt x="17" y="2"/>
                    </a:lnTo>
                    <a:lnTo>
                      <a:pt x="11" y="0"/>
                    </a:lnTo>
                    <a:lnTo>
                      <a:pt x="10" y="0"/>
                    </a:lnTo>
                    <a:lnTo>
                      <a:pt x="0" y="19"/>
                    </a:lnTo>
                    <a:lnTo>
                      <a:pt x="5" y="22"/>
                    </a:lnTo>
                    <a:lnTo>
                      <a:pt x="11" y="24"/>
                    </a:lnTo>
                    <a:lnTo>
                      <a:pt x="24" y="27"/>
                    </a:lnTo>
                    <a:lnTo>
                      <a:pt x="35" y="29"/>
                    </a:lnTo>
                    <a:lnTo>
                      <a:pt x="38" y="7"/>
                    </a:lnTo>
                    <a:close/>
                  </a:path>
                </a:pathLst>
              </a:custGeom>
              <a:solidFill>
                <a:srgbClr val="000000"/>
              </a:solidFill>
              <a:ln w="9525">
                <a:noFill/>
                <a:round/>
                <a:headEnd/>
                <a:tailEnd/>
              </a:ln>
            </p:spPr>
            <p:txBody>
              <a:bodyPr/>
              <a:lstStyle/>
              <a:p>
                <a:endParaRPr lang="en-US"/>
              </a:p>
            </p:txBody>
          </p:sp>
          <p:sp>
            <p:nvSpPr>
              <p:cNvPr id="23707" name="Freeform 120"/>
              <p:cNvSpPr>
                <a:spLocks/>
              </p:cNvSpPr>
              <p:nvPr/>
            </p:nvSpPr>
            <p:spPr bwMode="auto">
              <a:xfrm>
                <a:off x="2186" y="3520"/>
                <a:ext cx="38" cy="17"/>
              </a:xfrm>
              <a:custGeom>
                <a:avLst/>
                <a:gdLst>
                  <a:gd name="T0" fmla="*/ 1 w 76"/>
                  <a:gd name="T1" fmla="*/ 0 h 35"/>
                  <a:gd name="T2" fmla="*/ 1 w 76"/>
                  <a:gd name="T3" fmla="*/ 0 h 35"/>
                  <a:gd name="T4" fmla="*/ 1 w 76"/>
                  <a:gd name="T5" fmla="*/ 0 h 35"/>
                  <a:gd name="T6" fmla="*/ 1 w 76"/>
                  <a:gd name="T7" fmla="*/ 0 h 35"/>
                  <a:gd name="T8" fmla="*/ 1 w 76"/>
                  <a:gd name="T9" fmla="*/ 0 h 35"/>
                  <a:gd name="T10" fmla="*/ 1 w 76"/>
                  <a:gd name="T11" fmla="*/ 0 h 35"/>
                  <a:gd name="T12" fmla="*/ 1 w 76"/>
                  <a:gd name="T13" fmla="*/ 0 h 35"/>
                  <a:gd name="T14" fmla="*/ 1 w 76"/>
                  <a:gd name="T15" fmla="*/ 0 h 35"/>
                  <a:gd name="T16" fmla="*/ 1 w 76"/>
                  <a:gd name="T17" fmla="*/ 0 h 35"/>
                  <a:gd name="T18" fmla="*/ 1 w 76"/>
                  <a:gd name="T19" fmla="*/ 0 h 35"/>
                  <a:gd name="T20" fmla="*/ 0 w 76"/>
                  <a:gd name="T21" fmla="*/ 0 h 35"/>
                  <a:gd name="T22" fmla="*/ 1 w 76"/>
                  <a:gd name="T23" fmla="*/ 0 h 35"/>
                  <a:gd name="T24" fmla="*/ 1 w 76"/>
                  <a:gd name="T25" fmla="*/ 0 h 35"/>
                  <a:gd name="T26" fmla="*/ 1 w 76"/>
                  <a:gd name="T27" fmla="*/ 0 h 35"/>
                  <a:gd name="T28" fmla="*/ 1 w 76"/>
                  <a:gd name="T29" fmla="*/ 0 h 35"/>
                  <a:gd name="T30" fmla="*/ 1 w 76"/>
                  <a:gd name="T31" fmla="*/ 0 h 35"/>
                  <a:gd name="T32" fmla="*/ 1 w 76"/>
                  <a:gd name="T33" fmla="*/ 0 h 35"/>
                  <a:gd name="T34" fmla="*/ 1 w 76"/>
                  <a:gd name="T35" fmla="*/ 0 h 35"/>
                  <a:gd name="T36" fmla="*/ 1 w 76"/>
                  <a:gd name="T37" fmla="*/ 0 h 35"/>
                  <a:gd name="T38" fmla="*/ 1 w 76"/>
                  <a:gd name="T39" fmla="*/ 0 h 35"/>
                  <a:gd name="T40" fmla="*/ 1 w 76"/>
                  <a:gd name="T41" fmla="*/ 0 h 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35"/>
                  <a:gd name="T65" fmla="*/ 76 w 76"/>
                  <a:gd name="T66" fmla="*/ 35 h 3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35">
                    <a:moveTo>
                      <a:pt x="70" y="0"/>
                    </a:moveTo>
                    <a:lnTo>
                      <a:pt x="70" y="0"/>
                    </a:lnTo>
                    <a:lnTo>
                      <a:pt x="62" y="3"/>
                    </a:lnTo>
                    <a:lnTo>
                      <a:pt x="53" y="5"/>
                    </a:lnTo>
                    <a:lnTo>
                      <a:pt x="42" y="8"/>
                    </a:lnTo>
                    <a:lnTo>
                      <a:pt x="34" y="10"/>
                    </a:lnTo>
                    <a:lnTo>
                      <a:pt x="25" y="11"/>
                    </a:lnTo>
                    <a:lnTo>
                      <a:pt x="15" y="13"/>
                    </a:lnTo>
                    <a:lnTo>
                      <a:pt x="7" y="13"/>
                    </a:lnTo>
                    <a:lnTo>
                      <a:pt x="3" y="13"/>
                    </a:lnTo>
                    <a:lnTo>
                      <a:pt x="0" y="35"/>
                    </a:lnTo>
                    <a:lnTo>
                      <a:pt x="7" y="35"/>
                    </a:lnTo>
                    <a:lnTo>
                      <a:pt x="18" y="35"/>
                    </a:lnTo>
                    <a:lnTo>
                      <a:pt x="28" y="33"/>
                    </a:lnTo>
                    <a:lnTo>
                      <a:pt x="37" y="31"/>
                    </a:lnTo>
                    <a:lnTo>
                      <a:pt x="48" y="30"/>
                    </a:lnTo>
                    <a:lnTo>
                      <a:pt x="59" y="27"/>
                    </a:lnTo>
                    <a:lnTo>
                      <a:pt x="68" y="25"/>
                    </a:lnTo>
                    <a:lnTo>
                      <a:pt x="76" y="22"/>
                    </a:lnTo>
                    <a:lnTo>
                      <a:pt x="70" y="0"/>
                    </a:lnTo>
                    <a:close/>
                  </a:path>
                </a:pathLst>
              </a:custGeom>
              <a:solidFill>
                <a:srgbClr val="000000"/>
              </a:solidFill>
              <a:ln w="9525">
                <a:noFill/>
                <a:round/>
                <a:headEnd/>
                <a:tailEnd/>
              </a:ln>
            </p:spPr>
            <p:txBody>
              <a:bodyPr/>
              <a:lstStyle/>
              <a:p>
                <a:endParaRPr lang="en-US"/>
              </a:p>
            </p:txBody>
          </p:sp>
          <p:sp>
            <p:nvSpPr>
              <p:cNvPr id="23708" name="Freeform 121"/>
              <p:cNvSpPr>
                <a:spLocks/>
              </p:cNvSpPr>
              <p:nvPr/>
            </p:nvSpPr>
            <p:spPr bwMode="auto">
              <a:xfrm>
                <a:off x="2221" y="3511"/>
                <a:ext cx="21" cy="20"/>
              </a:xfrm>
              <a:custGeom>
                <a:avLst/>
                <a:gdLst>
                  <a:gd name="T0" fmla="*/ 1 w 42"/>
                  <a:gd name="T1" fmla="*/ 0 h 41"/>
                  <a:gd name="T2" fmla="*/ 1 w 42"/>
                  <a:gd name="T3" fmla="*/ 0 h 41"/>
                  <a:gd name="T4" fmla="*/ 1 w 42"/>
                  <a:gd name="T5" fmla="*/ 0 h 41"/>
                  <a:gd name="T6" fmla="*/ 1 w 42"/>
                  <a:gd name="T7" fmla="*/ 0 h 41"/>
                  <a:gd name="T8" fmla="*/ 1 w 42"/>
                  <a:gd name="T9" fmla="*/ 0 h 41"/>
                  <a:gd name="T10" fmla="*/ 0 w 42"/>
                  <a:gd name="T11" fmla="*/ 0 h 41"/>
                  <a:gd name="T12" fmla="*/ 1 w 42"/>
                  <a:gd name="T13" fmla="*/ 0 h 41"/>
                  <a:gd name="T14" fmla="*/ 1 w 42"/>
                  <a:gd name="T15" fmla="*/ 0 h 41"/>
                  <a:gd name="T16" fmla="*/ 1 w 42"/>
                  <a:gd name="T17" fmla="*/ 0 h 41"/>
                  <a:gd name="T18" fmla="*/ 1 w 42"/>
                  <a:gd name="T19" fmla="*/ 0 h 41"/>
                  <a:gd name="T20" fmla="*/ 1 w 42"/>
                  <a:gd name="T21" fmla="*/ 0 h 41"/>
                  <a:gd name="T22" fmla="*/ 1 w 42"/>
                  <a:gd name="T23" fmla="*/ 0 h 41"/>
                  <a:gd name="T24" fmla="*/ 1 w 42"/>
                  <a:gd name="T25" fmla="*/ 0 h 41"/>
                  <a:gd name="T26" fmla="*/ 1 w 42"/>
                  <a:gd name="T27" fmla="*/ 0 h 41"/>
                  <a:gd name="T28" fmla="*/ 1 w 42"/>
                  <a:gd name="T29" fmla="*/ 0 h 41"/>
                  <a:gd name="T30" fmla="*/ 1 w 42"/>
                  <a:gd name="T31" fmla="*/ 0 h 41"/>
                  <a:gd name="T32" fmla="*/ 1 w 42"/>
                  <a:gd name="T33" fmla="*/ 0 h 41"/>
                  <a:gd name="T34" fmla="*/ 1 w 42"/>
                  <a:gd name="T35" fmla="*/ 0 h 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2"/>
                  <a:gd name="T55" fmla="*/ 0 h 41"/>
                  <a:gd name="T56" fmla="*/ 42 w 42"/>
                  <a:gd name="T57" fmla="*/ 41 h 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2" h="41">
                    <a:moveTo>
                      <a:pt x="22" y="18"/>
                    </a:moveTo>
                    <a:lnTo>
                      <a:pt x="22" y="5"/>
                    </a:lnTo>
                    <a:lnTo>
                      <a:pt x="19" y="8"/>
                    </a:lnTo>
                    <a:lnTo>
                      <a:pt x="11" y="14"/>
                    </a:lnTo>
                    <a:lnTo>
                      <a:pt x="0" y="19"/>
                    </a:lnTo>
                    <a:lnTo>
                      <a:pt x="6" y="41"/>
                    </a:lnTo>
                    <a:lnTo>
                      <a:pt x="20" y="33"/>
                    </a:lnTo>
                    <a:lnTo>
                      <a:pt x="31" y="27"/>
                    </a:lnTo>
                    <a:lnTo>
                      <a:pt x="38" y="21"/>
                    </a:lnTo>
                    <a:lnTo>
                      <a:pt x="41" y="18"/>
                    </a:lnTo>
                    <a:lnTo>
                      <a:pt x="41" y="5"/>
                    </a:lnTo>
                    <a:lnTo>
                      <a:pt x="41" y="18"/>
                    </a:lnTo>
                    <a:lnTo>
                      <a:pt x="42" y="8"/>
                    </a:lnTo>
                    <a:lnTo>
                      <a:pt x="38" y="2"/>
                    </a:lnTo>
                    <a:lnTo>
                      <a:pt x="30" y="0"/>
                    </a:lnTo>
                    <a:lnTo>
                      <a:pt x="22" y="5"/>
                    </a:lnTo>
                    <a:lnTo>
                      <a:pt x="22" y="18"/>
                    </a:lnTo>
                    <a:close/>
                  </a:path>
                </a:pathLst>
              </a:custGeom>
              <a:solidFill>
                <a:srgbClr val="000000"/>
              </a:solidFill>
              <a:ln w="9525">
                <a:noFill/>
                <a:round/>
                <a:headEnd/>
                <a:tailEnd/>
              </a:ln>
            </p:spPr>
            <p:txBody>
              <a:bodyPr/>
              <a:lstStyle/>
              <a:p>
                <a:endParaRPr lang="en-US"/>
              </a:p>
            </p:txBody>
          </p:sp>
          <p:sp>
            <p:nvSpPr>
              <p:cNvPr id="23709" name="Freeform 122"/>
              <p:cNvSpPr>
                <a:spLocks/>
              </p:cNvSpPr>
              <p:nvPr/>
            </p:nvSpPr>
            <p:spPr bwMode="auto">
              <a:xfrm>
                <a:off x="2227" y="3501"/>
                <a:ext cx="14" cy="18"/>
              </a:xfrm>
              <a:custGeom>
                <a:avLst/>
                <a:gdLst>
                  <a:gd name="T0" fmla="*/ 1 w 28"/>
                  <a:gd name="T1" fmla="*/ 0 h 38"/>
                  <a:gd name="T2" fmla="*/ 1 w 28"/>
                  <a:gd name="T3" fmla="*/ 0 h 38"/>
                  <a:gd name="T4" fmla="*/ 0 w 28"/>
                  <a:gd name="T5" fmla="*/ 0 h 38"/>
                  <a:gd name="T6" fmla="*/ 1 w 28"/>
                  <a:gd name="T7" fmla="*/ 0 h 38"/>
                  <a:gd name="T8" fmla="*/ 1 w 28"/>
                  <a:gd name="T9" fmla="*/ 0 h 38"/>
                  <a:gd name="T10" fmla="*/ 1 w 28"/>
                  <a:gd name="T11" fmla="*/ 0 h 38"/>
                  <a:gd name="T12" fmla="*/ 1 w 28"/>
                  <a:gd name="T13" fmla="*/ 0 h 38"/>
                  <a:gd name="T14" fmla="*/ 1 w 28"/>
                  <a:gd name="T15" fmla="*/ 0 h 38"/>
                  <a:gd name="T16" fmla="*/ 1 w 28"/>
                  <a:gd name="T17" fmla="*/ 0 h 38"/>
                  <a:gd name="T18" fmla="*/ 1 w 28"/>
                  <a:gd name="T19" fmla="*/ 0 h 38"/>
                  <a:gd name="T20" fmla="*/ 1 w 28"/>
                  <a:gd name="T21" fmla="*/ 0 h 38"/>
                  <a:gd name="T22" fmla="*/ 1 w 28"/>
                  <a:gd name="T23" fmla="*/ 0 h 38"/>
                  <a:gd name="T24" fmla="*/ 1 w 28"/>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8"/>
                  <a:gd name="T41" fmla="*/ 28 w 28"/>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8">
                    <a:moveTo>
                      <a:pt x="7" y="2"/>
                    </a:moveTo>
                    <a:lnTo>
                      <a:pt x="9" y="0"/>
                    </a:lnTo>
                    <a:lnTo>
                      <a:pt x="0" y="16"/>
                    </a:lnTo>
                    <a:lnTo>
                      <a:pt x="4" y="27"/>
                    </a:lnTo>
                    <a:lnTo>
                      <a:pt x="7" y="33"/>
                    </a:lnTo>
                    <a:lnTo>
                      <a:pt x="9" y="38"/>
                    </a:lnTo>
                    <a:lnTo>
                      <a:pt x="28" y="25"/>
                    </a:lnTo>
                    <a:lnTo>
                      <a:pt x="26" y="24"/>
                    </a:lnTo>
                    <a:lnTo>
                      <a:pt x="23" y="17"/>
                    </a:lnTo>
                    <a:lnTo>
                      <a:pt x="21" y="13"/>
                    </a:lnTo>
                    <a:lnTo>
                      <a:pt x="15" y="22"/>
                    </a:lnTo>
                    <a:lnTo>
                      <a:pt x="17" y="20"/>
                    </a:lnTo>
                    <a:lnTo>
                      <a:pt x="7" y="2"/>
                    </a:lnTo>
                    <a:close/>
                  </a:path>
                </a:pathLst>
              </a:custGeom>
              <a:solidFill>
                <a:srgbClr val="000000"/>
              </a:solidFill>
              <a:ln w="9525">
                <a:noFill/>
                <a:round/>
                <a:headEnd/>
                <a:tailEnd/>
              </a:ln>
            </p:spPr>
            <p:txBody>
              <a:bodyPr/>
              <a:lstStyle/>
              <a:p>
                <a:endParaRPr lang="en-US"/>
              </a:p>
            </p:txBody>
          </p:sp>
          <p:sp>
            <p:nvSpPr>
              <p:cNvPr id="23710" name="Freeform 123"/>
              <p:cNvSpPr>
                <a:spLocks/>
              </p:cNvSpPr>
              <p:nvPr/>
            </p:nvSpPr>
            <p:spPr bwMode="auto">
              <a:xfrm>
                <a:off x="2231" y="3500"/>
                <a:ext cx="29" cy="14"/>
              </a:xfrm>
              <a:custGeom>
                <a:avLst/>
                <a:gdLst>
                  <a:gd name="T0" fmla="*/ 1 w 58"/>
                  <a:gd name="T1" fmla="*/ 0 h 29"/>
                  <a:gd name="T2" fmla="*/ 1 w 58"/>
                  <a:gd name="T3" fmla="*/ 0 h 29"/>
                  <a:gd name="T4" fmla="*/ 1 w 58"/>
                  <a:gd name="T5" fmla="*/ 0 h 29"/>
                  <a:gd name="T6" fmla="*/ 1 w 58"/>
                  <a:gd name="T7" fmla="*/ 0 h 29"/>
                  <a:gd name="T8" fmla="*/ 1 w 58"/>
                  <a:gd name="T9" fmla="*/ 0 h 29"/>
                  <a:gd name="T10" fmla="*/ 1 w 58"/>
                  <a:gd name="T11" fmla="*/ 0 h 29"/>
                  <a:gd name="T12" fmla="*/ 1 w 58"/>
                  <a:gd name="T13" fmla="*/ 0 h 29"/>
                  <a:gd name="T14" fmla="*/ 1 w 58"/>
                  <a:gd name="T15" fmla="*/ 0 h 29"/>
                  <a:gd name="T16" fmla="*/ 1 w 58"/>
                  <a:gd name="T17" fmla="*/ 0 h 29"/>
                  <a:gd name="T18" fmla="*/ 0 w 58"/>
                  <a:gd name="T19" fmla="*/ 0 h 29"/>
                  <a:gd name="T20" fmla="*/ 1 w 58"/>
                  <a:gd name="T21" fmla="*/ 0 h 29"/>
                  <a:gd name="T22" fmla="*/ 1 w 58"/>
                  <a:gd name="T23" fmla="*/ 0 h 29"/>
                  <a:gd name="T24" fmla="*/ 1 w 58"/>
                  <a:gd name="T25" fmla="*/ 0 h 29"/>
                  <a:gd name="T26" fmla="*/ 1 w 58"/>
                  <a:gd name="T27" fmla="*/ 0 h 29"/>
                  <a:gd name="T28" fmla="*/ 1 w 58"/>
                  <a:gd name="T29" fmla="*/ 0 h 29"/>
                  <a:gd name="T30" fmla="*/ 1 w 58"/>
                  <a:gd name="T31" fmla="*/ 0 h 29"/>
                  <a:gd name="T32" fmla="*/ 1 w 58"/>
                  <a:gd name="T33" fmla="*/ 0 h 29"/>
                  <a:gd name="T34" fmla="*/ 1 w 58"/>
                  <a:gd name="T35" fmla="*/ 0 h 29"/>
                  <a:gd name="T36" fmla="*/ 1 w 58"/>
                  <a:gd name="T37" fmla="*/ 0 h 29"/>
                  <a:gd name="T38" fmla="*/ 1 w 58"/>
                  <a:gd name="T39" fmla="*/ 0 h 29"/>
                  <a:gd name="T40" fmla="*/ 1 w 58"/>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29"/>
                  <a:gd name="T65" fmla="*/ 58 w 58"/>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29">
                    <a:moveTo>
                      <a:pt x="58" y="10"/>
                    </a:moveTo>
                    <a:lnTo>
                      <a:pt x="58" y="10"/>
                    </a:lnTo>
                    <a:lnTo>
                      <a:pt x="52" y="7"/>
                    </a:lnTo>
                    <a:lnTo>
                      <a:pt x="46" y="5"/>
                    </a:lnTo>
                    <a:lnTo>
                      <a:pt x="38" y="4"/>
                    </a:lnTo>
                    <a:lnTo>
                      <a:pt x="30" y="2"/>
                    </a:lnTo>
                    <a:lnTo>
                      <a:pt x="22" y="2"/>
                    </a:lnTo>
                    <a:lnTo>
                      <a:pt x="16" y="0"/>
                    </a:lnTo>
                    <a:lnTo>
                      <a:pt x="7" y="0"/>
                    </a:lnTo>
                    <a:lnTo>
                      <a:pt x="0" y="4"/>
                    </a:lnTo>
                    <a:lnTo>
                      <a:pt x="10" y="22"/>
                    </a:lnTo>
                    <a:lnTo>
                      <a:pt x="13" y="22"/>
                    </a:lnTo>
                    <a:lnTo>
                      <a:pt x="19" y="24"/>
                    </a:lnTo>
                    <a:lnTo>
                      <a:pt x="27" y="24"/>
                    </a:lnTo>
                    <a:lnTo>
                      <a:pt x="32" y="26"/>
                    </a:lnTo>
                    <a:lnTo>
                      <a:pt x="40" y="27"/>
                    </a:lnTo>
                    <a:lnTo>
                      <a:pt x="46" y="29"/>
                    </a:lnTo>
                    <a:lnTo>
                      <a:pt x="49" y="29"/>
                    </a:lnTo>
                    <a:lnTo>
                      <a:pt x="58" y="10"/>
                    </a:lnTo>
                    <a:close/>
                  </a:path>
                </a:pathLst>
              </a:custGeom>
              <a:solidFill>
                <a:srgbClr val="000000"/>
              </a:solidFill>
              <a:ln w="9525">
                <a:noFill/>
                <a:round/>
                <a:headEnd/>
                <a:tailEnd/>
              </a:ln>
            </p:spPr>
            <p:txBody>
              <a:bodyPr/>
              <a:lstStyle/>
              <a:p>
                <a:endParaRPr lang="en-US"/>
              </a:p>
            </p:txBody>
          </p:sp>
          <p:sp>
            <p:nvSpPr>
              <p:cNvPr id="23711" name="Freeform 124"/>
              <p:cNvSpPr>
                <a:spLocks/>
              </p:cNvSpPr>
              <p:nvPr/>
            </p:nvSpPr>
            <p:spPr bwMode="auto">
              <a:xfrm>
                <a:off x="2254" y="3504"/>
                <a:ext cx="13" cy="59"/>
              </a:xfrm>
              <a:custGeom>
                <a:avLst/>
                <a:gdLst>
                  <a:gd name="T0" fmla="*/ 1 w 26"/>
                  <a:gd name="T1" fmla="*/ 1 h 117"/>
                  <a:gd name="T2" fmla="*/ 1 w 26"/>
                  <a:gd name="T3" fmla="*/ 1 h 117"/>
                  <a:gd name="T4" fmla="*/ 1 w 26"/>
                  <a:gd name="T5" fmla="*/ 1 h 117"/>
                  <a:gd name="T6" fmla="*/ 1 w 26"/>
                  <a:gd name="T7" fmla="*/ 1 h 117"/>
                  <a:gd name="T8" fmla="*/ 1 w 26"/>
                  <a:gd name="T9" fmla="*/ 1 h 117"/>
                  <a:gd name="T10" fmla="*/ 1 w 26"/>
                  <a:gd name="T11" fmla="*/ 1 h 117"/>
                  <a:gd name="T12" fmla="*/ 1 w 26"/>
                  <a:gd name="T13" fmla="*/ 1 h 117"/>
                  <a:gd name="T14" fmla="*/ 1 w 26"/>
                  <a:gd name="T15" fmla="*/ 1 h 117"/>
                  <a:gd name="T16" fmla="*/ 1 w 26"/>
                  <a:gd name="T17" fmla="*/ 1 h 117"/>
                  <a:gd name="T18" fmla="*/ 1 w 26"/>
                  <a:gd name="T19" fmla="*/ 0 h 117"/>
                  <a:gd name="T20" fmla="*/ 1 w 26"/>
                  <a:gd name="T21" fmla="*/ 1 h 117"/>
                  <a:gd name="T22" fmla="*/ 0 w 26"/>
                  <a:gd name="T23" fmla="*/ 1 h 117"/>
                  <a:gd name="T24" fmla="*/ 1 w 26"/>
                  <a:gd name="T25" fmla="*/ 1 h 117"/>
                  <a:gd name="T26" fmla="*/ 1 w 26"/>
                  <a:gd name="T27" fmla="*/ 1 h 117"/>
                  <a:gd name="T28" fmla="*/ 1 w 26"/>
                  <a:gd name="T29" fmla="*/ 1 h 117"/>
                  <a:gd name="T30" fmla="*/ 1 w 26"/>
                  <a:gd name="T31" fmla="*/ 1 h 117"/>
                  <a:gd name="T32" fmla="*/ 1 w 26"/>
                  <a:gd name="T33" fmla="*/ 1 h 117"/>
                  <a:gd name="T34" fmla="*/ 1 w 26"/>
                  <a:gd name="T35" fmla="*/ 1 h 117"/>
                  <a:gd name="T36" fmla="*/ 1 w 26"/>
                  <a:gd name="T37" fmla="*/ 1 h 117"/>
                  <a:gd name="T38" fmla="*/ 1 w 26"/>
                  <a:gd name="T39" fmla="*/ 1 h 117"/>
                  <a:gd name="T40" fmla="*/ 1 w 26"/>
                  <a:gd name="T41" fmla="*/ 1 h 117"/>
                  <a:gd name="T42" fmla="*/ 1 w 26"/>
                  <a:gd name="T43" fmla="*/ 1 h 117"/>
                  <a:gd name="T44" fmla="*/ 1 w 26"/>
                  <a:gd name="T45" fmla="*/ 1 h 117"/>
                  <a:gd name="T46" fmla="*/ 1 w 26"/>
                  <a:gd name="T47" fmla="*/ 1 h 117"/>
                  <a:gd name="T48" fmla="*/ 1 w 26"/>
                  <a:gd name="T49" fmla="*/ 1 h 1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
                  <a:gd name="T76" fmla="*/ 0 h 117"/>
                  <a:gd name="T77" fmla="*/ 26 w 26"/>
                  <a:gd name="T78" fmla="*/ 117 h 11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 h="117">
                    <a:moveTo>
                      <a:pt x="26" y="106"/>
                    </a:moveTo>
                    <a:lnTo>
                      <a:pt x="26" y="106"/>
                    </a:lnTo>
                    <a:lnTo>
                      <a:pt x="26" y="102"/>
                    </a:lnTo>
                    <a:lnTo>
                      <a:pt x="26" y="92"/>
                    </a:lnTo>
                    <a:lnTo>
                      <a:pt x="26" y="77"/>
                    </a:lnTo>
                    <a:lnTo>
                      <a:pt x="26" y="59"/>
                    </a:lnTo>
                    <a:lnTo>
                      <a:pt x="25" y="41"/>
                    </a:lnTo>
                    <a:lnTo>
                      <a:pt x="23" y="25"/>
                    </a:lnTo>
                    <a:lnTo>
                      <a:pt x="22" y="12"/>
                    </a:lnTo>
                    <a:lnTo>
                      <a:pt x="12" y="0"/>
                    </a:lnTo>
                    <a:lnTo>
                      <a:pt x="3" y="19"/>
                    </a:lnTo>
                    <a:lnTo>
                      <a:pt x="0" y="19"/>
                    </a:lnTo>
                    <a:lnTo>
                      <a:pt x="1" y="28"/>
                    </a:lnTo>
                    <a:lnTo>
                      <a:pt x="3" y="44"/>
                    </a:lnTo>
                    <a:lnTo>
                      <a:pt x="4" y="59"/>
                    </a:lnTo>
                    <a:lnTo>
                      <a:pt x="4" y="77"/>
                    </a:lnTo>
                    <a:lnTo>
                      <a:pt x="4" y="92"/>
                    </a:lnTo>
                    <a:lnTo>
                      <a:pt x="4" y="102"/>
                    </a:lnTo>
                    <a:lnTo>
                      <a:pt x="4" y="106"/>
                    </a:lnTo>
                    <a:lnTo>
                      <a:pt x="8" y="114"/>
                    </a:lnTo>
                    <a:lnTo>
                      <a:pt x="15" y="117"/>
                    </a:lnTo>
                    <a:lnTo>
                      <a:pt x="23" y="114"/>
                    </a:lnTo>
                    <a:lnTo>
                      <a:pt x="26" y="106"/>
                    </a:lnTo>
                    <a:close/>
                  </a:path>
                </a:pathLst>
              </a:custGeom>
              <a:solidFill>
                <a:srgbClr val="000000"/>
              </a:solidFill>
              <a:ln w="9525">
                <a:noFill/>
                <a:round/>
                <a:headEnd/>
                <a:tailEnd/>
              </a:ln>
            </p:spPr>
            <p:txBody>
              <a:bodyPr/>
              <a:lstStyle/>
              <a:p>
                <a:endParaRPr lang="en-US"/>
              </a:p>
            </p:txBody>
          </p:sp>
          <p:sp>
            <p:nvSpPr>
              <p:cNvPr id="23712" name="Freeform 125"/>
              <p:cNvSpPr>
                <a:spLocks/>
              </p:cNvSpPr>
              <p:nvPr/>
            </p:nvSpPr>
            <p:spPr bwMode="auto">
              <a:xfrm>
                <a:off x="2215" y="3558"/>
                <a:ext cx="52" cy="194"/>
              </a:xfrm>
              <a:custGeom>
                <a:avLst/>
                <a:gdLst>
                  <a:gd name="T0" fmla="*/ 1 w 104"/>
                  <a:gd name="T1" fmla="*/ 1 h 388"/>
                  <a:gd name="T2" fmla="*/ 1 w 104"/>
                  <a:gd name="T3" fmla="*/ 1 h 388"/>
                  <a:gd name="T4" fmla="*/ 1 w 104"/>
                  <a:gd name="T5" fmla="*/ 1 h 388"/>
                  <a:gd name="T6" fmla="*/ 1 w 104"/>
                  <a:gd name="T7" fmla="*/ 1 h 388"/>
                  <a:gd name="T8" fmla="*/ 1 w 104"/>
                  <a:gd name="T9" fmla="*/ 1 h 388"/>
                  <a:gd name="T10" fmla="*/ 1 w 104"/>
                  <a:gd name="T11" fmla="*/ 1 h 388"/>
                  <a:gd name="T12" fmla="*/ 1 w 104"/>
                  <a:gd name="T13" fmla="*/ 1 h 388"/>
                  <a:gd name="T14" fmla="*/ 1 w 104"/>
                  <a:gd name="T15" fmla="*/ 1 h 388"/>
                  <a:gd name="T16" fmla="*/ 1 w 104"/>
                  <a:gd name="T17" fmla="*/ 1 h 388"/>
                  <a:gd name="T18" fmla="*/ 1 w 104"/>
                  <a:gd name="T19" fmla="*/ 1 h 388"/>
                  <a:gd name="T20" fmla="*/ 1 w 104"/>
                  <a:gd name="T21" fmla="*/ 1 h 388"/>
                  <a:gd name="T22" fmla="*/ 1 w 104"/>
                  <a:gd name="T23" fmla="*/ 1 h 388"/>
                  <a:gd name="T24" fmla="*/ 1 w 104"/>
                  <a:gd name="T25" fmla="*/ 1 h 388"/>
                  <a:gd name="T26" fmla="*/ 1 w 104"/>
                  <a:gd name="T27" fmla="*/ 1 h 388"/>
                  <a:gd name="T28" fmla="*/ 1 w 104"/>
                  <a:gd name="T29" fmla="*/ 1 h 388"/>
                  <a:gd name="T30" fmla="*/ 1 w 104"/>
                  <a:gd name="T31" fmla="*/ 1 h 388"/>
                  <a:gd name="T32" fmla="*/ 1 w 104"/>
                  <a:gd name="T33" fmla="*/ 1 h 388"/>
                  <a:gd name="T34" fmla="*/ 1 w 104"/>
                  <a:gd name="T35" fmla="*/ 0 h 388"/>
                  <a:gd name="T36" fmla="*/ 1 w 104"/>
                  <a:gd name="T37" fmla="*/ 0 h 388"/>
                  <a:gd name="T38" fmla="*/ 1 w 104"/>
                  <a:gd name="T39" fmla="*/ 1 h 388"/>
                  <a:gd name="T40" fmla="*/ 1 w 104"/>
                  <a:gd name="T41" fmla="*/ 1 h 388"/>
                  <a:gd name="T42" fmla="*/ 1 w 104"/>
                  <a:gd name="T43" fmla="*/ 1 h 388"/>
                  <a:gd name="T44" fmla="*/ 1 w 104"/>
                  <a:gd name="T45" fmla="*/ 1 h 388"/>
                  <a:gd name="T46" fmla="*/ 1 w 104"/>
                  <a:gd name="T47" fmla="*/ 1 h 388"/>
                  <a:gd name="T48" fmla="*/ 1 w 104"/>
                  <a:gd name="T49" fmla="*/ 1 h 388"/>
                  <a:gd name="T50" fmla="*/ 1 w 104"/>
                  <a:gd name="T51" fmla="*/ 1 h 388"/>
                  <a:gd name="T52" fmla="*/ 1 w 104"/>
                  <a:gd name="T53" fmla="*/ 1 h 388"/>
                  <a:gd name="T54" fmla="*/ 1 w 104"/>
                  <a:gd name="T55" fmla="*/ 1 h 388"/>
                  <a:gd name="T56" fmla="*/ 1 w 104"/>
                  <a:gd name="T57" fmla="*/ 1 h 388"/>
                  <a:gd name="T58" fmla="*/ 1 w 104"/>
                  <a:gd name="T59" fmla="*/ 1 h 388"/>
                  <a:gd name="T60" fmla="*/ 1 w 104"/>
                  <a:gd name="T61" fmla="*/ 1 h 388"/>
                  <a:gd name="T62" fmla="*/ 1 w 104"/>
                  <a:gd name="T63" fmla="*/ 1 h 388"/>
                  <a:gd name="T64" fmla="*/ 1 w 104"/>
                  <a:gd name="T65" fmla="*/ 1 h 388"/>
                  <a:gd name="T66" fmla="*/ 1 w 104"/>
                  <a:gd name="T67" fmla="*/ 1 h 388"/>
                  <a:gd name="T68" fmla="*/ 0 w 104"/>
                  <a:gd name="T69" fmla="*/ 1 h 388"/>
                  <a:gd name="T70" fmla="*/ 0 w 104"/>
                  <a:gd name="T71" fmla="*/ 1 h 388"/>
                  <a:gd name="T72" fmla="*/ 1 w 104"/>
                  <a:gd name="T73" fmla="*/ 1 h 3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4"/>
                  <a:gd name="T112" fmla="*/ 0 h 388"/>
                  <a:gd name="T113" fmla="*/ 104 w 104"/>
                  <a:gd name="T114" fmla="*/ 388 h 3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4" h="388">
                    <a:moveTo>
                      <a:pt x="3" y="388"/>
                    </a:moveTo>
                    <a:lnTo>
                      <a:pt x="3" y="388"/>
                    </a:lnTo>
                    <a:lnTo>
                      <a:pt x="23" y="379"/>
                    </a:lnTo>
                    <a:lnTo>
                      <a:pt x="39" y="362"/>
                    </a:lnTo>
                    <a:lnTo>
                      <a:pt x="53" y="341"/>
                    </a:lnTo>
                    <a:lnTo>
                      <a:pt x="65" y="315"/>
                    </a:lnTo>
                    <a:lnTo>
                      <a:pt x="73" y="285"/>
                    </a:lnTo>
                    <a:lnTo>
                      <a:pt x="81" y="252"/>
                    </a:lnTo>
                    <a:lnTo>
                      <a:pt x="87" y="218"/>
                    </a:lnTo>
                    <a:lnTo>
                      <a:pt x="92" y="183"/>
                    </a:lnTo>
                    <a:lnTo>
                      <a:pt x="97" y="149"/>
                    </a:lnTo>
                    <a:lnTo>
                      <a:pt x="100" y="116"/>
                    </a:lnTo>
                    <a:lnTo>
                      <a:pt x="101" y="85"/>
                    </a:lnTo>
                    <a:lnTo>
                      <a:pt x="103" y="57"/>
                    </a:lnTo>
                    <a:lnTo>
                      <a:pt x="104" y="33"/>
                    </a:lnTo>
                    <a:lnTo>
                      <a:pt x="104" y="16"/>
                    </a:lnTo>
                    <a:lnTo>
                      <a:pt x="104" y="5"/>
                    </a:lnTo>
                    <a:lnTo>
                      <a:pt x="104" y="0"/>
                    </a:lnTo>
                    <a:lnTo>
                      <a:pt x="82" y="0"/>
                    </a:lnTo>
                    <a:lnTo>
                      <a:pt x="82" y="5"/>
                    </a:lnTo>
                    <a:lnTo>
                      <a:pt x="82" y="16"/>
                    </a:lnTo>
                    <a:lnTo>
                      <a:pt x="82" y="33"/>
                    </a:lnTo>
                    <a:lnTo>
                      <a:pt x="81" y="57"/>
                    </a:lnTo>
                    <a:lnTo>
                      <a:pt x="79" y="85"/>
                    </a:lnTo>
                    <a:lnTo>
                      <a:pt x="78" y="113"/>
                    </a:lnTo>
                    <a:lnTo>
                      <a:pt x="75" y="146"/>
                    </a:lnTo>
                    <a:lnTo>
                      <a:pt x="70" y="180"/>
                    </a:lnTo>
                    <a:lnTo>
                      <a:pt x="65" y="215"/>
                    </a:lnTo>
                    <a:lnTo>
                      <a:pt x="59" y="249"/>
                    </a:lnTo>
                    <a:lnTo>
                      <a:pt x="51" y="279"/>
                    </a:lnTo>
                    <a:lnTo>
                      <a:pt x="43" y="308"/>
                    </a:lnTo>
                    <a:lnTo>
                      <a:pt x="34" y="332"/>
                    </a:lnTo>
                    <a:lnTo>
                      <a:pt x="23" y="349"/>
                    </a:lnTo>
                    <a:lnTo>
                      <a:pt x="10" y="360"/>
                    </a:lnTo>
                    <a:lnTo>
                      <a:pt x="0" y="366"/>
                    </a:lnTo>
                    <a:lnTo>
                      <a:pt x="3" y="388"/>
                    </a:lnTo>
                    <a:close/>
                  </a:path>
                </a:pathLst>
              </a:custGeom>
              <a:solidFill>
                <a:srgbClr val="000000"/>
              </a:solidFill>
              <a:ln w="9525">
                <a:noFill/>
                <a:round/>
                <a:headEnd/>
                <a:tailEnd/>
              </a:ln>
            </p:spPr>
            <p:txBody>
              <a:bodyPr/>
              <a:lstStyle/>
              <a:p>
                <a:endParaRPr lang="en-US"/>
              </a:p>
            </p:txBody>
          </p:sp>
          <p:sp>
            <p:nvSpPr>
              <p:cNvPr id="23713" name="Freeform 126"/>
              <p:cNvSpPr>
                <a:spLocks/>
              </p:cNvSpPr>
              <p:nvPr/>
            </p:nvSpPr>
            <p:spPr bwMode="auto">
              <a:xfrm>
                <a:off x="2108" y="3741"/>
                <a:ext cx="108" cy="19"/>
              </a:xfrm>
              <a:custGeom>
                <a:avLst/>
                <a:gdLst>
                  <a:gd name="T0" fmla="*/ 0 w 216"/>
                  <a:gd name="T1" fmla="*/ 0 h 40"/>
                  <a:gd name="T2" fmla="*/ 0 w 216"/>
                  <a:gd name="T3" fmla="*/ 0 h 40"/>
                  <a:gd name="T4" fmla="*/ 1 w 216"/>
                  <a:gd name="T5" fmla="*/ 0 h 40"/>
                  <a:gd name="T6" fmla="*/ 1 w 216"/>
                  <a:gd name="T7" fmla="*/ 0 h 40"/>
                  <a:gd name="T8" fmla="*/ 1 w 216"/>
                  <a:gd name="T9" fmla="*/ 0 h 40"/>
                  <a:gd name="T10" fmla="*/ 1 w 216"/>
                  <a:gd name="T11" fmla="*/ 0 h 40"/>
                  <a:gd name="T12" fmla="*/ 1 w 216"/>
                  <a:gd name="T13" fmla="*/ 0 h 40"/>
                  <a:gd name="T14" fmla="*/ 1 w 216"/>
                  <a:gd name="T15" fmla="*/ 0 h 40"/>
                  <a:gd name="T16" fmla="*/ 1 w 216"/>
                  <a:gd name="T17" fmla="*/ 0 h 40"/>
                  <a:gd name="T18" fmla="*/ 1 w 216"/>
                  <a:gd name="T19" fmla="*/ 0 h 40"/>
                  <a:gd name="T20" fmla="*/ 1 w 216"/>
                  <a:gd name="T21" fmla="*/ 0 h 40"/>
                  <a:gd name="T22" fmla="*/ 1 w 216"/>
                  <a:gd name="T23" fmla="*/ 0 h 40"/>
                  <a:gd name="T24" fmla="*/ 1 w 216"/>
                  <a:gd name="T25" fmla="*/ 0 h 40"/>
                  <a:gd name="T26" fmla="*/ 1 w 216"/>
                  <a:gd name="T27" fmla="*/ 0 h 40"/>
                  <a:gd name="T28" fmla="*/ 1 w 216"/>
                  <a:gd name="T29" fmla="*/ 0 h 40"/>
                  <a:gd name="T30" fmla="*/ 1 w 216"/>
                  <a:gd name="T31" fmla="*/ 0 h 40"/>
                  <a:gd name="T32" fmla="*/ 1 w 216"/>
                  <a:gd name="T33" fmla="*/ 0 h 40"/>
                  <a:gd name="T34" fmla="*/ 1 w 216"/>
                  <a:gd name="T35" fmla="*/ 0 h 40"/>
                  <a:gd name="T36" fmla="*/ 1 w 216"/>
                  <a:gd name="T37" fmla="*/ 0 h 40"/>
                  <a:gd name="T38" fmla="*/ 1 w 216"/>
                  <a:gd name="T39" fmla="*/ 0 h 40"/>
                  <a:gd name="T40" fmla="*/ 0 w 216"/>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6"/>
                  <a:gd name="T64" fmla="*/ 0 h 40"/>
                  <a:gd name="T65" fmla="*/ 216 w 216"/>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6" h="40">
                    <a:moveTo>
                      <a:pt x="0" y="30"/>
                    </a:moveTo>
                    <a:lnTo>
                      <a:pt x="0" y="30"/>
                    </a:lnTo>
                    <a:lnTo>
                      <a:pt x="21" y="35"/>
                    </a:lnTo>
                    <a:lnTo>
                      <a:pt x="43" y="38"/>
                    </a:lnTo>
                    <a:lnTo>
                      <a:pt x="68" y="40"/>
                    </a:lnTo>
                    <a:lnTo>
                      <a:pt x="94" y="38"/>
                    </a:lnTo>
                    <a:lnTo>
                      <a:pt x="123" y="36"/>
                    </a:lnTo>
                    <a:lnTo>
                      <a:pt x="151" y="33"/>
                    </a:lnTo>
                    <a:lnTo>
                      <a:pt x="183" y="29"/>
                    </a:lnTo>
                    <a:lnTo>
                      <a:pt x="216" y="22"/>
                    </a:lnTo>
                    <a:lnTo>
                      <a:pt x="213" y="0"/>
                    </a:lnTo>
                    <a:lnTo>
                      <a:pt x="180" y="7"/>
                    </a:lnTo>
                    <a:lnTo>
                      <a:pt x="148" y="11"/>
                    </a:lnTo>
                    <a:lnTo>
                      <a:pt x="120" y="14"/>
                    </a:lnTo>
                    <a:lnTo>
                      <a:pt x="94" y="16"/>
                    </a:lnTo>
                    <a:lnTo>
                      <a:pt x="68" y="18"/>
                    </a:lnTo>
                    <a:lnTo>
                      <a:pt x="47" y="16"/>
                    </a:lnTo>
                    <a:lnTo>
                      <a:pt x="25" y="13"/>
                    </a:lnTo>
                    <a:lnTo>
                      <a:pt x="6" y="8"/>
                    </a:lnTo>
                    <a:lnTo>
                      <a:pt x="0" y="30"/>
                    </a:lnTo>
                    <a:close/>
                  </a:path>
                </a:pathLst>
              </a:custGeom>
              <a:solidFill>
                <a:srgbClr val="000000"/>
              </a:solidFill>
              <a:ln w="9525">
                <a:noFill/>
                <a:round/>
                <a:headEnd/>
                <a:tailEnd/>
              </a:ln>
            </p:spPr>
            <p:txBody>
              <a:bodyPr/>
              <a:lstStyle/>
              <a:p>
                <a:endParaRPr lang="en-US"/>
              </a:p>
            </p:txBody>
          </p:sp>
          <p:sp>
            <p:nvSpPr>
              <p:cNvPr id="23714" name="Freeform 127"/>
              <p:cNvSpPr>
                <a:spLocks/>
              </p:cNvSpPr>
              <p:nvPr/>
            </p:nvSpPr>
            <p:spPr bwMode="auto">
              <a:xfrm>
                <a:off x="2053" y="3734"/>
                <a:ext cx="58" cy="22"/>
              </a:xfrm>
              <a:custGeom>
                <a:avLst/>
                <a:gdLst>
                  <a:gd name="T0" fmla="*/ 0 w 116"/>
                  <a:gd name="T1" fmla="*/ 1 h 42"/>
                  <a:gd name="T2" fmla="*/ 0 w 116"/>
                  <a:gd name="T3" fmla="*/ 1 h 42"/>
                  <a:gd name="T4" fmla="*/ 1 w 116"/>
                  <a:gd name="T5" fmla="*/ 1 h 42"/>
                  <a:gd name="T6" fmla="*/ 1 w 116"/>
                  <a:gd name="T7" fmla="*/ 1 h 42"/>
                  <a:gd name="T8" fmla="*/ 1 w 116"/>
                  <a:gd name="T9" fmla="*/ 1 h 42"/>
                  <a:gd name="T10" fmla="*/ 1 w 116"/>
                  <a:gd name="T11" fmla="*/ 1 h 42"/>
                  <a:gd name="T12" fmla="*/ 1 w 116"/>
                  <a:gd name="T13" fmla="*/ 1 h 42"/>
                  <a:gd name="T14" fmla="*/ 1 w 116"/>
                  <a:gd name="T15" fmla="*/ 1 h 42"/>
                  <a:gd name="T16" fmla="*/ 1 w 116"/>
                  <a:gd name="T17" fmla="*/ 1 h 42"/>
                  <a:gd name="T18" fmla="*/ 1 w 116"/>
                  <a:gd name="T19" fmla="*/ 1 h 42"/>
                  <a:gd name="T20" fmla="*/ 1 w 116"/>
                  <a:gd name="T21" fmla="*/ 1 h 42"/>
                  <a:gd name="T22" fmla="*/ 1 w 116"/>
                  <a:gd name="T23" fmla="*/ 1 h 42"/>
                  <a:gd name="T24" fmla="*/ 1 w 116"/>
                  <a:gd name="T25" fmla="*/ 1 h 42"/>
                  <a:gd name="T26" fmla="*/ 1 w 116"/>
                  <a:gd name="T27" fmla="*/ 1 h 42"/>
                  <a:gd name="T28" fmla="*/ 1 w 116"/>
                  <a:gd name="T29" fmla="*/ 1 h 42"/>
                  <a:gd name="T30" fmla="*/ 1 w 116"/>
                  <a:gd name="T31" fmla="*/ 1 h 42"/>
                  <a:gd name="T32" fmla="*/ 1 w 116"/>
                  <a:gd name="T33" fmla="*/ 0 h 42"/>
                  <a:gd name="T34" fmla="*/ 1 w 116"/>
                  <a:gd name="T35" fmla="*/ 0 h 42"/>
                  <a:gd name="T36" fmla="*/ 0 w 116"/>
                  <a:gd name="T37" fmla="*/ 0 h 42"/>
                  <a:gd name="T38" fmla="*/ 0 w 116"/>
                  <a:gd name="T39" fmla="*/ 0 h 42"/>
                  <a:gd name="T40" fmla="*/ 0 w 116"/>
                  <a:gd name="T41" fmla="*/ 1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6"/>
                  <a:gd name="T64" fmla="*/ 0 h 42"/>
                  <a:gd name="T65" fmla="*/ 116 w 116"/>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6" h="42">
                    <a:moveTo>
                      <a:pt x="0" y="22"/>
                    </a:moveTo>
                    <a:lnTo>
                      <a:pt x="0" y="22"/>
                    </a:lnTo>
                    <a:lnTo>
                      <a:pt x="6" y="22"/>
                    </a:lnTo>
                    <a:lnTo>
                      <a:pt x="17" y="22"/>
                    </a:lnTo>
                    <a:lnTo>
                      <a:pt x="27" y="23"/>
                    </a:lnTo>
                    <a:lnTo>
                      <a:pt x="41" y="25"/>
                    </a:lnTo>
                    <a:lnTo>
                      <a:pt x="58" y="28"/>
                    </a:lnTo>
                    <a:lnTo>
                      <a:pt x="74" y="31"/>
                    </a:lnTo>
                    <a:lnTo>
                      <a:pt x="91" y="36"/>
                    </a:lnTo>
                    <a:lnTo>
                      <a:pt x="110" y="42"/>
                    </a:lnTo>
                    <a:lnTo>
                      <a:pt x="116" y="20"/>
                    </a:lnTo>
                    <a:lnTo>
                      <a:pt x="97" y="14"/>
                    </a:lnTo>
                    <a:lnTo>
                      <a:pt x="80" y="9"/>
                    </a:lnTo>
                    <a:lnTo>
                      <a:pt x="61" y="6"/>
                    </a:lnTo>
                    <a:lnTo>
                      <a:pt x="44" y="3"/>
                    </a:lnTo>
                    <a:lnTo>
                      <a:pt x="30" y="1"/>
                    </a:lnTo>
                    <a:lnTo>
                      <a:pt x="17" y="0"/>
                    </a:lnTo>
                    <a:lnTo>
                      <a:pt x="6" y="0"/>
                    </a:lnTo>
                    <a:lnTo>
                      <a:pt x="0" y="0"/>
                    </a:lnTo>
                    <a:lnTo>
                      <a:pt x="0" y="22"/>
                    </a:lnTo>
                    <a:close/>
                  </a:path>
                </a:pathLst>
              </a:custGeom>
              <a:solidFill>
                <a:srgbClr val="000000"/>
              </a:solidFill>
              <a:ln w="9525">
                <a:noFill/>
                <a:round/>
                <a:headEnd/>
                <a:tailEnd/>
              </a:ln>
            </p:spPr>
            <p:txBody>
              <a:bodyPr/>
              <a:lstStyle/>
              <a:p>
                <a:endParaRPr lang="en-US"/>
              </a:p>
            </p:txBody>
          </p:sp>
          <p:sp>
            <p:nvSpPr>
              <p:cNvPr id="23715" name="Freeform 128"/>
              <p:cNvSpPr>
                <a:spLocks/>
              </p:cNvSpPr>
              <p:nvPr/>
            </p:nvSpPr>
            <p:spPr bwMode="auto">
              <a:xfrm>
                <a:off x="2041" y="3734"/>
                <a:ext cx="12" cy="15"/>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0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1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22" y="19"/>
                    </a:moveTo>
                    <a:lnTo>
                      <a:pt x="22" y="17"/>
                    </a:lnTo>
                    <a:lnTo>
                      <a:pt x="20" y="20"/>
                    </a:lnTo>
                    <a:lnTo>
                      <a:pt x="17" y="23"/>
                    </a:lnTo>
                    <a:lnTo>
                      <a:pt x="20" y="23"/>
                    </a:lnTo>
                    <a:lnTo>
                      <a:pt x="25" y="22"/>
                    </a:lnTo>
                    <a:lnTo>
                      <a:pt x="25" y="0"/>
                    </a:lnTo>
                    <a:lnTo>
                      <a:pt x="14" y="1"/>
                    </a:lnTo>
                    <a:lnTo>
                      <a:pt x="8" y="5"/>
                    </a:lnTo>
                    <a:lnTo>
                      <a:pt x="1" y="11"/>
                    </a:lnTo>
                    <a:lnTo>
                      <a:pt x="0" y="17"/>
                    </a:lnTo>
                    <a:lnTo>
                      <a:pt x="0" y="16"/>
                    </a:lnTo>
                    <a:lnTo>
                      <a:pt x="0" y="17"/>
                    </a:lnTo>
                    <a:lnTo>
                      <a:pt x="3" y="25"/>
                    </a:lnTo>
                    <a:lnTo>
                      <a:pt x="11" y="28"/>
                    </a:lnTo>
                    <a:lnTo>
                      <a:pt x="19" y="25"/>
                    </a:lnTo>
                    <a:lnTo>
                      <a:pt x="22" y="17"/>
                    </a:lnTo>
                    <a:lnTo>
                      <a:pt x="22" y="19"/>
                    </a:lnTo>
                    <a:close/>
                  </a:path>
                </a:pathLst>
              </a:custGeom>
              <a:solidFill>
                <a:srgbClr val="000000"/>
              </a:solidFill>
              <a:ln w="9525">
                <a:noFill/>
                <a:round/>
                <a:headEnd/>
                <a:tailEnd/>
              </a:ln>
            </p:spPr>
            <p:txBody>
              <a:bodyPr/>
              <a:lstStyle/>
              <a:p>
                <a:endParaRPr lang="en-US"/>
              </a:p>
            </p:txBody>
          </p:sp>
          <p:sp>
            <p:nvSpPr>
              <p:cNvPr id="23716" name="Freeform 129"/>
              <p:cNvSpPr>
                <a:spLocks/>
              </p:cNvSpPr>
              <p:nvPr/>
            </p:nvSpPr>
            <p:spPr bwMode="auto">
              <a:xfrm>
                <a:off x="2040" y="3742"/>
                <a:ext cx="12" cy="13"/>
              </a:xfrm>
              <a:custGeom>
                <a:avLst/>
                <a:gdLst>
                  <a:gd name="T0" fmla="*/ 1 w 24"/>
                  <a:gd name="T1" fmla="*/ 1 h 25"/>
                  <a:gd name="T2" fmla="*/ 1 w 24"/>
                  <a:gd name="T3" fmla="*/ 1 h 25"/>
                  <a:gd name="T4" fmla="*/ 1 w 24"/>
                  <a:gd name="T5" fmla="*/ 1 h 25"/>
                  <a:gd name="T6" fmla="*/ 1 w 24"/>
                  <a:gd name="T7" fmla="*/ 0 h 25"/>
                  <a:gd name="T8" fmla="*/ 0 w 24"/>
                  <a:gd name="T9" fmla="*/ 1 h 25"/>
                  <a:gd name="T10" fmla="*/ 0 w 24"/>
                  <a:gd name="T11" fmla="*/ 1 h 25"/>
                  <a:gd name="T12" fmla="*/ 0 w 24"/>
                  <a:gd name="T13" fmla="*/ 1 h 25"/>
                  <a:gd name="T14" fmla="*/ 1 w 24"/>
                  <a:gd name="T15" fmla="*/ 1 h 25"/>
                  <a:gd name="T16" fmla="*/ 1 w 24"/>
                  <a:gd name="T17" fmla="*/ 1 h 25"/>
                  <a:gd name="T18" fmla="*/ 1 w 24"/>
                  <a:gd name="T19" fmla="*/ 1 h 25"/>
                  <a:gd name="T20" fmla="*/ 1 w 24"/>
                  <a:gd name="T21" fmla="*/ 1 h 25"/>
                  <a:gd name="T22" fmla="*/ 1 w 24"/>
                  <a:gd name="T23" fmla="*/ 1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5"/>
                  <a:gd name="T38" fmla="*/ 24 w 24"/>
                  <a:gd name="T39" fmla="*/ 25 h 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5">
                    <a:moveTo>
                      <a:pt x="22" y="14"/>
                    </a:moveTo>
                    <a:lnTo>
                      <a:pt x="22" y="15"/>
                    </a:lnTo>
                    <a:lnTo>
                      <a:pt x="24" y="3"/>
                    </a:lnTo>
                    <a:lnTo>
                      <a:pt x="2" y="0"/>
                    </a:lnTo>
                    <a:lnTo>
                      <a:pt x="0" y="12"/>
                    </a:lnTo>
                    <a:lnTo>
                      <a:pt x="0" y="14"/>
                    </a:lnTo>
                    <a:lnTo>
                      <a:pt x="0" y="12"/>
                    </a:lnTo>
                    <a:lnTo>
                      <a:pt x="3" y="20"/>
                    </a:lnTo>
                    <a:lnTo>
                      <a:pt x="10" y="25"/>
                    </a:lnTo>
                    <a:lnTo>
                      <a:pt x="18" y="23"/>
                    </a:lnTo>
                    <a:lnTo>
                      <a:pt x="22" y="15"/>
                    </a:lnTo>
                    <a:lnTo>
                      <a:pt x="22" y="14"/>
                    </a:lnTo>
                    <a:close/>
                  </a:path>
                </a:pathLst>
              </a:custGeom>
              <a:solidFill>
                <a:srgbClr val="000000"/>
              </a:solidFill>
              <a:ln w="9525">
                <a:noFill/>
                <a:round/>
                <a:headEnd/>
                <a:tailEnd/>
              </a:ln>
            </p:spPr>
            <p:txBody>
              <a:bodyPr/>
              <a:lstStyle/>
              <a:p>
                <a:endParaRPr lang="en-US"/>
              </a:p>
            </p:txBody>
          </p:sp>
          <p:sp>
            <p:nvSpPr>
              <p:cNvPr id="23717" name="Freeform 130"/>
              <p:cNvSpPr>
                <a:spLocks/>
              </p:cNvSpPr>
              <p:nvPr/>
            </p:nvSpPr>
            <p:spPr bwMode="auto">
              <a:xfrm>
                <a:off x="2040" y="3749"/>
                <a:ext cx="14" cy="91"/>
              </a:xfrm>
              <a:custGeom>
                <a:avLst/>
                <a:gdLst>
                  <a:gd name="T0" fmla="*/ 0 w 29"/>
                  <a:gd name="T1" fmla="*/ 1 h 181"/>
                  <a:gd name="T2" fmla="*/ 0 w 29"/>
                  <a:gd name="T3" fmla="*/ 1 h 181"/>
                  <a:gd name="T4" fmla="*/ 0 w 29"/>
                  <a:gd name="T5" fmla="*/ 0 h 181"/>
                  <a:gd name="T6" fmla="*/ 0 w 29"/>
                  <a:gd name="T7" fmla="*/ 0 h 181"/>
                  <a:gd name="T8" fmla="*/ 0 w 29"/>
                  <a:gd name="T9" fmla="*/ 1 h 181"/>
                  <a:gd name="T10" fmla="*/ 0 w 29"/>
                  <a:gd name="T11" fmla="*/ 1 h 181"/>
                  <a:gd name="T12" fmla="*/ 0 w 29"/>
                  <a:gd name="T13" fmla="*/ 1 h 181"/>
                  <a:gd name="T14" fmla="*/ 0 w 29"/>
                  <a:gd name="T15" fmla="*/ 1 h 181"/>
                  <a:gd name="T16" fmla="*/ 0 w 29"/>
                  <a:gd name="T17" fmla="*/ 1 h 181"/>
                  <a:gd name="T18" fmla="*/ 0 w 29"/>
                  <a:gd name="T19" fmla="*/ 1 h 181"/>
                  <a:gd name="T20" fmla="*/ 0 w 29"/>
                  <a:gd name="T21" fmla="*/ 1 h 181"/>
                  <a:gd name="T22" fmla="*/ 0 w 29"/>
                  <a:gd name="T23" fmla="*/ 1 h 1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
                  <a:gd name="T37" fmla="*/ 0 h 181"/>
                  <a:gd name="T38" fmla="*/ 29 w 29"/>
                  <a:gd name="T39" fmla="*/ 181 h 1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 h="181">
                    <a:moveTo>
                      <a:pt x="24" y="180"/>
                    </a:moveTo>
                    <a:lnTo>
                      <a:pt x="29" y="170"/>
                    </a:lnTo>
                    <a:lnTo>
                      <a:pt x="22" y="0"/>
                    </a:lnTo>
                    <a:lnTo>
                      <a:pt x="0" y="0"/>
                    </a:lnTo>
                    <a:lnTo>
                      <a:pt x="7" y="170"/>
                    </a:lnTo>
                    <a:lnTo>
                      <a:pt x="11" y="161"/>
                    </a:lnTo>
                    <a:lnTo>
                      <a:pt x="7" y="170"/>
                    </a:lnTo>
                    <a:lnTo>
                      <a:pt x="10" y="178"/>
                    </a:lnTo>
                    <a:lnTo>
                      <a:pt x="18" y="181"/>
                    </a:lnTo>
                    <a:lnTo>
                      <a:pt x="25" y="178"/>
                    </a:lnTo>
                    <a:lnTo>
                      <a:pt x="29" y="170"/>
                    </a:lnTo>
                    <a:lnTo>
                      <a:pt x="24" y="180"/>
                    </a:lnTo>
                    <a:close/>
                  </a:path>
                </a:pathLst>
              </a:custGeom>
              <a:solidFill>
                <a:srgbClr val="000000"/>
              </a:solidFill>
              <a:ln w="9525">
                <a:noFill/>
                <a:round/>
                <a:headEnd/>
                <a:tailEnd/>
              </a:ln>
            </p:spPr>
            <p:txBody>
              <a:bodyPr/>
              <a:lstStyle/>
              <a:p>
                <a:endParaRPr lang="en-US"/>
              </a:p>
            </p:txBody>
          </p:sp>
          <p:sp>
            <p:nvSpPr>
              <p:cNvPr id="23718" name="Freeform 131"/>
              <p:cNvSpPr>
                <a:spLocks/>
              </p:cNvSpPr>
              <p:nvPr/>
            </p:nvSpPr>
            <p:spPr bwMode="auto">
              <a:xfrm>
                <a:off x="2018" y="3830"/>
                <a:ext cx="34" cy="16"/>
              </a:xfrm>
              <a:custGeom>
                <a:avLst/>
                <a:gdLst>
                  <a:gd name="T0" fmla="*/ 0 w 67"/>
                  <a:gd name="T1" fmla="*/ 0 h 33"/>
                  <a:gd name="T2" fmla="*/ 0 w 67"/>
                  <a:gd name="T3" fmla="*/ 0 h 33"/>
                  <a:gd name="T4" fmla="*/ 1 w 67"/>
                  <a:gd name="T5" fmla="*/ 0 h 33"/>
                  <a:gd name="T6" fmla="*/ 1 w 67"/>
                  <a:gd name="T7" fmla="*/ 0 h 33"/>
                  <a:gd name="T8" fmla="*/ 1 w 67"/>
                  <a:gd name="T9" fmla="*/ 0 h 33"/>
                  <a:gd name="T10" fmla="*/ 1 w 67"/>
                  <a:gd name="T11" fmla="*/ 0 h 33"/>
                  <a:gd name="T12" fmla="*/ 1 w 67"/>
                  <a:gd name="T13" fmla="*/ 0 h 33"/>
                  <a:gd name="T14" fmla="*/ 1 w 67"/>
                  <a:gd name="T15" fmla="*/ 0 h 33"/>
                  <a:gd name="T16" fmla="*/ 1 w 67"/>
                  <a:gd name="T17" fmla="*/ 0 h 33"/>
                  <a:gd name="T18" fmla="*/ 1 w 67"/>
                  <a:gd name="T19" fmla="*/ 0 h 33"/>
                  <a:gd name="T20" fmla="*/ 1 w 67"/>
                  <a:gd name="T21" fmla="*/ 0 h 33"/>
                  <a:gd name="T22" fmla="*/ 1 w 67"/>
                  <a:gd name="T23" fmla="*/ 0 h 33"/>
                  <a:gd name="T24" fmla="*/ 1 w 67"/>
                  <a:gd name="T25" fmla="*/ 0 h 33"/>
                  <a:gd name="T26" fmla="*/ 1 w 67"/>
                  <a:gd name="T27" fmla="*/ 0 h 33"/>
                  <a:gd name="T28" fmla="*/ 1 w 67"/>
                  <a:gd name="T29" fmla="*/ 0 h 33"/>
                  <a:gd name="T30" fmla="*/ 1 w 67"/>
                  <a:gd name="T31" fmla="*/ 0 h 33"/>
                  <a:gd name="T32" fmla="*/ 1 w 67"/>
                  <a:gd name="T33" fmla="*/ 0 h 33"/>
                  <a:gd name="T34" fmla="*/ 1 w 67"/>
                  <a:gd name="T35" fmla="*/ 0 h 33"/>
                  <a:gd name="T36" fmla="*/ 1 w 67"/>
                  <a:gd name="T37" fmla="*/ 0 h 33"/>
                  <a:gd name="T38" fmla="*/ 1 w 67"/>
                  <a:gd name="T39" fmla="*/ 0 h 33"/>
                  <a:gd name="T40" fmla="*/ 0 w 67"/>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33"/>
                  <a:gd name="T65" fmla="*/ 67 w 67"/>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33">
                    <a:moveTo>
                      <a:pt x="0" y="33"/>
                    </a:moveTo>
                    <a:lnTo>
                      <a:pt x="0" y="33"/>
                    </a:lnTo>
                    <a:lnTo>
                      <a:pt x="15" y="33"/>
                    </a:lnTo>
                    <a:lnTo>
                      <a:pt x="28" y="33"/>
                    </a:lnTo>
                    <a:lnTo>
                      <a:pt x="40" y="29"/>
                    </a:lnTo>
                    <a:lnTo>
                      <a:pt x="48" y="28"/>
                    </a:lnTo>
                    <a:lnTo>
                      <a:pt x="56" y="25"/>
                    </a:lnTo>
                    <a:lnTo>
                      <a:pt x="64" y="22"/>
                    </a:lnTo>
                    <a:lnTo>
                      <a:pt x="67" y="17"/>
                    </a:lnTo>
                    <a:lnTo>
                      <a:pt x="67" y="19"/>
                    </a:lnTo>
                    <a:lnTo>
                      <a:pt x="54" y="0"/>
                    </a:lnTo>
                    <a:lnTo>
                      <a:pt x="51" y="1"/>
                    </a:lnTo>
                    <a:lnTo>
                      <a:pt x="51" y="3"/>
                    </a:lnTo>
                    <a:lnTo>
                      <a:pt x="50" y="3"/>
                    </a:lnTo>
                    <a:lnTo>
                      <a:pt x="42" y="6"/>
                    </a:lnTo>
                    <a:lnTo>
                      <a:pt x="34" y="8"/>
                    </a:lnTo>
                    <a:lnTo>
                      <a:pt x="25" y="11"/>
                    </a:lnTo>
                    <a:lnTo>
                      <a:pt x="15" y="11"/>
                    </a:lnTo>
                    <a:lnTo>
                      <a:pt x="3" y="11"/>
                    </a:lnTo>
                    <a:lnTo>
                      <a:pt x="0" y="33"/>
                    </a:lnTo>
                    <a:close/>
                  </a:path>
                </a:pathLst>
              </a:custGeom>
              <a:solidFill>
                <a:srgbClr val="000000"/>
              </a:solidFill>
              <a:ln w="9525">
                <a:noFill/>
                <a:round/>
                <a:headEnd/>
                <a:tailEnd/>
              </a:ln>
            </p:spPr>
            <p:txBody>
              <a:bodyPr/>
              <a:lstStyle/>
              <a:p>
                <a:endParaRPr lang="en-US"/>
              </a:p>
            </p:txBody>
          </p:sp>
          <p:sp>
            <p:nvSpPr>
              <p:cNvPr id="23719" name="Freeform 132"/>
              <p:cNvSpPr>
                <a:spLocks/>
              </p:cNvSpPr>
              <p:nvPr/>
            </p:nvSpPr>
            <p:spPr bwMode="auto">
              <a:xfrm>
                <a:off x="1992" y="3831"/>
                <a:ext cx="28" cy="15"/>
              </a:xfrm>
              <a:custGeom>
                <a:avLst/>
                <a:gdLst>
                  <a:gd name="T0" fmla="*/ 0 w 57"/>
                  <a:gd name="T1" fmla="*/ 0 h 32"/>
                  <a:gd name="T2" fmla="*/ 0 w 57"/>
                  <a:gd name="T3" fmla="*/ 0 h 32"/>
                  <a:gd name="T4" fmla="*/ 0 w 57"/>
                  <a:gd name="T5" fmla="*/ 0 h 32"/>
                  <a:gd name="T6" fmla="*/ 0 w 57"/>
                  <a:gd name="T7" fmla="*/ 0 h 32"/>
                  <a:gd name="T8" fmla="*/ 0 w 57"/>
                  <a:gd name="T9" fmla="*/ 0 h 32"/>
                  <a:gd name="T10" fmla="*/ 0 w 57"/>
                  <a:gd name="T11" fmla="*/ 0 h 32"/>
                  <a:gd name="T12" fmla="*/ 0 w 57"/>
                  <a:gd name="T13" fmla="*/ 0 h 32"/>
                  <a:gd name="T14" fmla="*/ 0 w 57"/>
                  <a:gd name="T15" fmla="*/ 0 h 32"/>
                  <a:gd name="T16" fmla="*/ 0 w 57"/>
                  <a:gd name="T17" fmla="*/ 0 h 32"/>
                  <a:gd name="T18" fmla="*/ 0 w 57"/>
                  <a:gd name="T19" fmla="*/ 0 h 32"/>
                  <a:gd name="T20" fmla="*/ 0 w 57"/>
                  <a:gd name="T21" fmla="*/ 0 h 32"/>
                  <a:gd name="T22" fmla="*/ 0 w 57"/>
                  <a:gd name="T23" fmla="*/ 0 h 32"/>
                  <a:gd name="T24" fmla="*/ 0 w 57"/>
                  <a:gd name="T25" fmla="*/ 0 h 32"/>
                  <a:gd name="T26" fmla="*/ 0 w 57"/>
                  <a:gd name="T27" fmla="*/ 0 h 32"/>
                  <a:gd name="T28" fmla="*/ 0 w 57"/>
                  <a:gd name="T29" fmla="*/ 0 h 32"/>
                  <a:gd name="T30" fmla="*/ 0 w 57"/>
                  <a:gd name="T31" fmla="*/ 0 h 32"/>
                  <a:gd name="T32" fmla="*/ 0 w 57"/>
                  <a:gd name="T33" fmla="*/ 0 h 32"/>
                  <a:gd name="T34" fmla="*/ 0 w 57"/>
                  <a:gd name="T35" fmla="*/ 0 h 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
                  <a:gd name="T55" fmla="*/ 0 h 32"/>
                  <a:gd name="T56" fmla="*/ 57 w 57"/>
                  <a:gd name="T57" fmla="*/ 32 h 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 h="32">
                    <a:moveTo>
                      <a:pt x="0" y="13"/>
                    </a:moveTo>
                    <a:lnTo>
                      <a:pt x="2" y="18"/>
                    </a:lnTo>
                    <a:lnTo>
                      <a:pt x="8" y="24"/>
                    </a:lnTo>
                    <a:lnTo>
                      <a:pt x="16" y="25"/>
                    </a:lnTo>
                    <a:lnTo>
                      <a:pt x="30" y="28"/>
                    </a:lnTo>
                    <a:lnTo>
                      <a:pt x="54" y="32"/>
                    </a:lnTo>
                    <a:lnTo>
                      <a:pt x="57" y="10"/>
                    </a:lnTo>
                    <a:lnTo>
                      <a:pt x="33" y="7"/>
                    </a:lnTo>
                    <a:lnTo>
                      <a:pt x="22" y="3"/>
                    </a:lnTo>
                    <a:lnTo>
                      <a:pt x="17" y="2"/>
                    </a:lnTo>
                    <a:lnTo>
                      <a:pt x="21" y="5"/>
                    </a:lnTo>
                    <a:lnTo>
                      <a:pt x="22" y="10"/>
                    </a:lnTo>
                    <a:lnTo>
                      <a:pt x="21" y="5"/>
                    </a:lnTo>
                    <a:lnTo>
                      <a:pt x="13" y="0"/>
                    </a:lnTo>
                    <a:lnTo>
                      <a:pt x="5" y="2"/>
                    </a:lnTo>
                    <a:lnTo>
                      <a:pt x="0" y="8"/>
                    </a:lnTo>
                    <a:lnTo>
                      <a:pt x="2" y="18"/>
                    </a:lnTo>
                    <a:lnTo>
                      <a:pt x="0" y="13"/>
                    </a:lnTo>
                    <a:close/>
                  </a:path>
                </a:pathLst>
              </a:custGeom>
              <a:solidFill>
                <a:srgbClr val="000000"/>
              </a:solidFill>
              <a:ln w="9525">
                <a:noFill/>
                <a:round/>
                <a:headEnd/>
                <a:tailEnd/>
              </a:ln>
            </p:spPr>
            <p:txBody>
              <a:bodyPr/>
              <a:lstStyle/>
              <a:p>
                <a:endParaRPr lang="en-US"/>
              </a:p>
            </p:txBody>
          </p:sp>
          <p:sp>
            <p:nvSpPr>
              <p:cNvPr id="23720" name="Freeform 133"/>
              <p:cNvSpPr>
                <a:spLocks/>
              </p:cNvSpPr>
              <p:nvPr/>
            </p:nvSpPr>
            <p:spPr bwMode="auto">
              <a:xfrm>
                <a:off x="1985" y="3754"/>
                <a:ext cx="18" cy="83"/>
              </a:xfrm>
              <a:custGeom>
                <a:avLst/>
                <a:gdLst>
                  <a:gd name="T0" fmla="*/ 0 w 36"/>
                  <a:gd name="T1" fmla="*/ 0 h 166"/>
                  <a:gd name="T2" fmla="*/ 0 w 36"/>
                  <a:gd name="T3" fmla="*/ 0 h 166"/>
                  <a:gd name="T4" fmla="*/ 0 w 36"/>
                  <a:gd name="T5" fmla="*/ 1 h 166"/>
                  <a:gd name="T6" fmla="*/ 1 w 36"/>
                  <a:gd name="T7" fmla="*/ 1 h 166"/>
                  <a:gd name="T8" fmla="*/ 1 w 36"/>
                  <a:gd name="T9" fmla="*/ 1 h 166"/>
                  <a:gd name="T10" fmla="*/ 1 w 36"/>
                  <a:gd name="T11" fmla="*/ 1 h 166"/>
                  <a:gd name="T12" fmla="*/ 1 w 36"/>
                  <a:gd name="T13" fmla="*/ 1 h 166"/>
                  <a:gd name="T14" fmla="*/ 1 w 36"/>
                  <a:gd name="T15" fmla="*/ 1 h 166"/>
                  <a:gd name="T16" fmla="*/ 1 w 36"/>
                  <a:gd name="T17" fmla="*/ 1 h 166"/>
                  <a:gd name="T18" fmla="*/ 1 w 36"/>
                  <a:gd name="T19" fmla="*/ 1 h 166"/>
                  <a:gd name="T20" fmla="*/ 1 w 36"/>
                  <a:gd name="T21" fmla="*/ 1 h 166"/>
                  <a:gd name="T22" fmla="*/ 1 w 36"/>
                  <a:gd name="T23" fmla="*/ 1 h 166"/>
                  <a:gd name="T24" fmla="*/ 1 w 36"/>
                  <a:gd name="T25" fmla="*/ 1 h 166"/>
                  <a:gd name="T26" fmla="*/ 1 w 36"/>
                  <a:gd name="T27" fmla="*/ 1 h 166"/>
                  <a:gd name="T28" fmla="*/ 1 w 36"/>
                  <a:gd name="T29" fmla="*/ 1 h 166"/>
                  <a:gd name="T30" fmla="*/ 1 w 36"/>
                  <a:gd name="T31" fmla="*/ 1 h 166"/>
                  <a:gd name="T32" fmla="*/ 1 w 36"/>
                  <a:gd name="T33" fmla="*/ 1 h 166"/>
                  <a:gd name="T34" fmla="*/ 1 w 36"/>
                  <a:gd name="T35" fmla="*/ 1 h 166"/>
                  <a:gd name="T36" fmla="*/ 1 w 36"/>
                  <a:gd name="T37" fmla="*/ 1 h 166"/>
                  <a:gd name="T38" fmla="*/ 1 w 36"/>
                  <a:gd name="T39" fmla="*/ 1 h 166"/>
                  <a:gd name="T40" fmla="*/ 0 w 36"/>
                  <a:gd name="T41" fmla="*/ 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6"/>
                  <a:gd name="T64" fmla="*/ 0 h 166"/>
                  <a:gd name="T65" fmla="*/ 36 w 36"/>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6" h="166">
                    <a:moveTo>
                      <a:pt x="0" y="0"/>
                    </a:moveTo>
                    <a:lnTo>
                      <a:pt x="0" y="0"/>
                    </a:lnTo>
                    <a:lnTo>
                      <a:pt x="0" y="19"/>
                    </a:lnTo>
                    <a:lnTo>
                      <a:pt x="2" y="42"/>
                    </a:lnTo>
                    <a:lnTo>
                      <a:pt x="3" y="70"/>
                    </a:lnTo>
                    <a:lnTo>
                      <a:pt x="6" y="99"/>
                    </a:lnTo>
                    <a:lnTo>
                      <a:pt x="10" y="124"/>
                    </a:lnTo>
                    <a:lnTo>
                      <a:pt x="11" y="145"/>
                    </a:lnTo>
                    <a:lnTo>
                      <a:pt x="14" y="160"/>
                    </a:lnTo>
                    <a:lnTo>
                      <a:pt x="14" y="166"/>
                    </a:lnTo>
                    <a:lnTo>
                      <a:pt x="36" y="163"/>
                    </a:lnTo>
                    <a:lnTo>
                      <a:pt x="36" y="156"/>
                    </a:lnTo>
                    <a:lnTo>
                      <a:pt x="33" y="142"/>
                    </a:lnTo>
                    <a:lnTo>
                      <a:pt x="31" y="120"/>
                    </a:lnTo>
                    <a:lnTo>
                      <a:pt x="28" y="95"/>
                    </a:lnTo>
                    <a:lnTo>
                      <a:pt x="25" y="67"/>
                    </a:lnTo>
                    <a:lnTo>
                      <a:pt x="24" y="42"/>
                    </a:lnTo>
                    <a:lnTo>
                      <a:pt x="22" y="19"/>
                    </a:lnTo>
                    <a:lnTo>
                      <a:pt x="22" y="3"/>
                    </a:lnTo>
                    <a:lnTo>
                      <a:pt x="0" y="0"/>
                    </a:lnTo>
                    <a:close/>
                  </a:path>
                </a:pathLst>
              </a:custGeom>
              <a:solidFill>
                <a:srgbClr val="000000"/>
              </a:solidFill>
              <a:ln w="9525">
                <a:noFill/>
                <a:round/>
                <a:headEnd/>
                <a:tailEnd/>
              </a:ln>
            </p:spPr>
            <p:txBody>
              <a:bodyPr/>
              <a:lstStyle/>
              <a:p>
                <a:endParaRPr lang="en-US"/>
              </a:p>
            </p:txBody>
          </p:sp>
          <p:sp>
            <p:nvSpPr>
              <p:cNvPr id="23721" name="Freeform 134"/>
              <p:cNvSpPr>
                <a:spLocks/>
              </p:cNvSpPr>
              <p:nvPr/>
            </p:nvSpPr>
            <p:spPr bwMode="auto">
              <a:xfrm>
                <a:off x="1985" y="3691"/>
                <a:ext cx="18" cy="65"/>
              </a:xfrm>
              <a:custGeom>
                <a:avLst/>
                <a:gdLst>
                  <a:gd name="T0" fmla="*/ 0 w 38"/>
                  <a:gd name="T1" fmla="*/ 0 h 130"/>
                  <a:gd name="T2" fmla="*/ 0 w 38"/>
                  <a:gd name="T3" fmla="*/ 0 h 130"/>
                  <a:gd name="T4" fmla="*/ 0 w 38"/>
                  <a:gd name="T5" fmla="*/ 1 h 130"/>
                  <a:gd name="T6" fmla="*/ 0 w 38"/>
                  <a:gd name="T7" fmla="*/ 1 h 130"/>
                  <a:gd name="T8" fmla="*/ 0 w 38"/>
                  <a:gd name="T9" fmla="*/ 1 h 130"/>
                  <a:gd name="T10" fmla="*/ 0 w 38"/>
                  <a:gd name="T11" fmla="*/ 1 h 130"/>
                  <a:gd name="T12" fmla="*/ 0 w 38"/>
                  <a:gd name="T13" fmla="*/ 1 h 130"/>
                  <a:gd name="T14" fmla="*/ 0 w 38"/>
                  <a:gd name="T15" fmla="*/ 1 h 130"/>
                  <a:gd name="T16" fmla="*/ 0 w 38"/>
                  <a:gd name="T17" fmla="*/ 1 h 130"/>
                  <a:gd name="T18" fmla="*/ 0 w 38"/>
                  <a:gd name="T19" fmla="*/ 1 h 130"/>
                  <a:gd name="T20" fmla="*/ 0 w 38"/>
                  <a:gd name="T21" fmla="*/ 1 h 130"/>
                  <a:gd name="T22" fmla="*/ 0 w 38"/>
                  <a:gd name="T23" fmla="*/ 1 h 130"/>
                  <a:gd name="T24" fmla="*/ 0 w 38"/>
                  <a:gd name="T25" fmla="*/ 1 h 130"/>
                  <a:gd name="T26" fmla="*/ 0 w 38"/>
                  <a:gd name="T27" fmla="*/ 1 h 130"/>
                  <a:gd name="T28" fmla="*/ 0 w 38"/>
                  <a:gd name="T29" fmla="*/ 1 h 130"/>
                  <a:gd name="T30" fmla="*/ 0 w 38"/>
                  <a:gd name="T31" fmla="*/ 1 h 130"/>
                  <a:gd name="T32" fmla="*/ 0 w 38"/>
                  <a:gd name="T33" fmla="*/ 1 h 130"/>
                  <a:gd name="T34" fmla="*/ 0 w 38"/>
                  <a:gd name="T35" fmla="*/ 1 h 130"/>
                  <a:gd name="T36" fmla="*/ 0 w 38"/>
                  <a:gd name="T37" fmla="*/ 1 h 130"/>
                  <a:gd name="T38" fmla="*/ 0 w 38"/>
                  <a:gd name="T39" fmla="*/ 1 h 130"/>
                  <a:gd name="T40" fmla="*/ 0 w 38"/>
                  <a:gd name="T41" fmla="*/ 0 h 1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8"/>
                  <a:gd name="T64" fmla="*/ 0 h 130"/>
                  <a:gd name="T65" fmla="*/ 38 w 38"/>
                  <a:gd name="T66" fmla="*/ 130 h 1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8" h="130">
                    <a:moveTo>
                      <a:pt x="25" y="0"/>
                    </a:moveTo>
                    <a:lnTo>
                      <a:pt x="25" y="0"/>
                    </a:lnTo>
                    <a:lnTo>
                      <a:pt x="13" y="13"/>
                    </a:lnTo>
                    <a:lnTo>
                      <a:pt x="5" y="28"/>
                    </a:lnTo>
                    <a:lnTo>
                      <a:pt x="2" y="46"/>
                    </a:lnTo>
                    <a:lnTo>
                      <a:pt x="0" y="63"/>
                    </a:lnTo>
                    <a:lnTo>
                      <a:pt x="0" y="80"/>
                    </a:lnTo>
                    <a:lnTo>
                      <a:pt x="0" y="97"/>
                    </a:lnTo>
                    <a:lnTo>
                      <a:pt x="0" y="114"/>
                    </a:lnTo>
                    <a:lnTo>
                      <a:pt x="0" y="127"/>
                    </a:lnTo>
                    <a:lnTo>
                      <a:pt x="22" y="130"/>
                    </a:lnTo>
                    <a:lnTo>
                      <a:pt x="22" y="114"/>
                    </a:lnTo>
                    <a:lnTo>
                      <a:pt x="22" y="97"/>
                    </a:lnTo>
                    <a:lnTo>
                      <a:pt x="22" y="80"/>
                    </a:lnTo>
                    <a:lnTo>
                      <a:pt x="22" y="63"/>
                    </a:lnTo>
                    <a:lnTo>
                      <a:pt x="24" y="49"/>
                    </a:lnTo>
                    <a:lnTo>
                      <a:pt x="27" y="35"/>
                    </a:lnTo>
                    <a:lnTo>
                      <a:pt x="31" y="25"/>
                    </a:lnTo>
                    <a:lnTo>
                      <a:pt x="38" y="19"/>
                    </a:lnTo>
                    <a:lnTo>
                      <a:pt x="25" y="0"/>
                    </a:lnTo>
                    <a:close/>
                  </a:path>
                </a:pathLst>
              </a:custGeom>
              <a:solidFill>
                <a:srgbClr val="000000"/>
              </a:solidFill>
              <a:ln w="9525">
                <a:noFill/>
                <a:round/>
                <a:headEnd/>
                <a:tailEnd/>
              </a:ln>
            </p:spPr>
            <p:txBody>
              <a:bodyPr/>
              <a:lstStyle/>
              <a:p>
                <a:endParaRPr lang="en-US"/>
              </a:p>
            </p:txBody>
          </p:sp>
          <p:sp>
            <p:nvSpPr>
              <p:cNvPr id="23722" name="Freeform 135"/>
              <p:cNvSpPr>
                <a:spLocks/>
              </p:cNvSpPr>
              <p:nvPr/>
            </p:nvSpPr>
            <p:spPr bwMode="auto">
              <a:xfrm>
                <a:off x="1997" y="3676"/>
                <a:ext cx="119" cy="24"/>
              </a:xfrm>
              <a:custGeom>
                <a:avLst/>
                <a:gdLst>
                  <a:gd name="T0" fmla="*/ 1 w 238"/>
                  <a:gd name="T1" fmla="*/ 1 h 48"/>
                  <a:gd name="T2" fmla="*/ 1 w 238"/>
                  <a:gd name="T3" fmla="*/ 1 h 48"/>
                  <a:gd name="T4" fmla="*/ 1 w 238"/>
                  <a:gd name="T5" fmla="*/ 1 h 48"/>
                  <a:gd name="T6" fmla="*/ 1 w 238"/>
                  <a:gd name="T7" fmla="*/ 0 h 48"/>
                  <a:gd name="T8" fmla="*/ 1 w 238"/>
                  <a:gd name="T9" fmla="*/ 0 h 48"/>
                  <a:gd name="T10" fmla="*/ 1 w 238"/>
                  <a:gd name="T11" fmla="*/ 1 h 48"/>
                  <a:gd name="T12" fmla="*/ 1 w 238"/>
                  <a:gd name="T13" fmla="*/ 1 h 48"/>
                  <a:gd name="T14" fmla="*/ 1 w 238"/>
                  <a:gd name="T15" fmla="*/ 1 h 48"/>
                  <a:gd name="T16" fmla="*/ 1 w 238"/>
                  <a:gd name="T17" fmla="*/ 1 h 48"/>
                  <a:gd name="T18" fmla="*/ 0 w 238"/>
                  <a:gd name="T19" fmla="*/ 1 h 48"/>
                  <a:gd name="T20" fmla="*/ 1 w 238"/>
                  <a:gd name="T21" fmla="*/ 1 h 48"/>
                  <a:gd name="T22" fmla="*/ 1 w 238"/>
                  <a:gd name="T23" fmla="*/ 1 h 48"/>
                  <a:gd name="T24" fmla="*/ 1 w 238"/>
                  <a:gd name="T25" fmla="*/ 1 h 48"/>
                  <a:gd name="T26" fmla="*/ 1 w 238"/>
                  <a:gd name="T27" fmla="*/ 1 h 48"/>
                  <a:gd name="T28" fmla="*/ 1 w 238"/>
                  <a:gd name="T29" fmla="*/ 1 h 48"/>
                  <a:gd name="T30" fmla="*/ 1 w 238"/>
                  <a:gd name="T31" fmla="*/ 1 h 48"/>
                  <a:gd name="T32" fmla="*/ 1 w 238"/>
                  <a:gd name="T33" fmla="*/ 1 h 48"/>
                  <a:gd name="T34" fmla="*/ 1 w 238"/>
                  <a:gd name="T35" fmla="*/ 1 h 48"/>
                  <a:gd name="T36" fmla="*/ 1 w 238"/>
                  <a:gd name="T37" fmla="*/ 1 h 48"/>
                  <a:gd name="T38" fmla="*/ 1 w 238"/>
                  <a:gd name="T39" fmla="*/ 1 h 48"/>
                  <a:gd name="T40" fmla="*/ 1 w 238"/>
                  <a:gd name="T41" fmla="*/ 1 h 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38"/>
                  <a:gd name="T64" fmla="*/ 0 h 48"/>
                  <a:gd name="T65" fmla="*/ 238 w 238"/>
                  <a:gd name="T66" fmla="*/ 48 h 4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38" h="48">
                    <a:moveTo>
                      <a:pt x="235" y="26"/>
                    </a:moveTo>
                    <a:lnTo>
                      <a:pt x="238" y="4"/>
                    </a:lnTo>
                    <a:lnTo>
                      <a:pt x="198" y="1"/>
                    </a:lnTo>
                    <a:lnTo>
                      <a:pt x="160" y="0"/>
                    </a:lnTo>
                    <a:lnTo>
                      <a:pt x="125" y="0"/>
                    </a:lnTo>
                    <a:lnTo>
                      <a:pt x="93" y="3"/>
                    </a:lnTo>
                    <a:lnTo>
                      <a:pt x="63" y="7"/>
                    </a:lnTo>
                    <a:lnTo>
                      <a:pt x="38" y="14"/>
                    </a:lnTo>
                    <a:lnTo>
                      <a:pt x="16" y="21"/>
                    </a:lnTo>
                    <a:lnTo>
                      <a:pt x="0" y="29"/>
                    </a:lnTo>
                    <a:lnTo>
                      <a:pt x="13" y="48"/>
                    </a:lnTo>
                    <a:lnTo>
                      <a:pt x="25" y="40"/>
                    </a:lnTo>
                    <a:lnTo>
                      <a:pt x="44" y="36"/>
                    </a:lnTo>
                    <a:lnTo>
                      <a:pt x="66" y="29"/>
                    </a:lnTo>
                    <a:lnTo>
                      <a:pt x="96" y="25"/>
                    </a:lnTo>
                    <a:lnTo>
                      <a:pt x="125" y="21"/>
                    </a:lnTo>
                    <a:lnTo>
                      <a:pt x="160" y="21"/>
                    </a:lnTo>
                    <a:lnTo>
                      <a:pt x="198" y="23"/>
                    </a:lnTo>
                    <a:lnTo>
                      <a:pt x="235" y="26"/>
                    </a:lnTo>
                    <a:lnTo>
                      <a:pt x="238" y="4"/>
                    </a:lnTo>
                    <a:lnTo>
                      <a:pt x="235" y="26"/>
                    </a:lnTo>
                    <a:close/>
                  </a:path>
                </a:pathLst>
              </a:custGeom>
              <a:solidFill>
                <a:srgbClr val="000000"/>
              </a:solidFill>
              <a:ln w="9525">
                <a:noFill/>
                <a:round/>
                <a:headEnd/>
                <a:tailEnd/>
              </a:ln>
            </p:spPr>
            <p:txBody>
              <a:bodyPr/>
              <a:lstStyle/>
              <a:p>
                <a:endParaRPr lang="en-US"/>
              </a:p>
            </p:txBody>
          </p:sp>
          <p:sp>
            <p:nvSpPr>
              <p:cNvPr id="23723" name="Freeform 136"/>
              <p:cNvSpPr>
                <a:spLocks/>
              </p:cNvSpPr>
              <p:nvPr/>
            </p:nvSpPr>
            <p:spPr bwMode="auto">
              <a:xfrm>
                <a:off x="2069" y="3676"/>
                <a:ext cx="47" cy="13"/>
              </a:xfrm>
              <a:custGeom>
                <a:avLst/>
                <a:gdLst>
                  <a:gd name="T0" fmla="*/ 0 w 94"/>
                  <a:gd name="T1" fmla="*/ 1 h 26"/>
                  <a:gd name="T2" fmla="*/ 0 w 94"/>
                  <a:gd name="T3" fmla="*/ 1 h 26"/>
                  <a:gd name="T4" fmla="*/ 1 w 94"/>
                  <a:gd name="T5" fmla="*/ 1 h 26"/>
                  <a:gd name="T6" fmla="*/ 1 w 94"/>
                  <a:gd name="T7" fmla="*/ 1 h 26"/>
                  <a:gd name="T8" fmla="*/ 1 w 94"/>
                  <a:gd name="T9" fmla="*/ 1 h 26"/>
                  <a:gd name="T10" fmla="*/ 1 w 94"/>
                  <a:gd name="T11" fmla="*/ 1 h 26"/>
                  <a:gd name="T12" fmla="*/ 1 w 94"/>
                  <a:gd name="T13" fmla="*/ 1 h 26"/>
                  <a:gd name="T14" fmla="*/ 1 w 94"/>
                  <a:gd name="T15" fmla="*/ 1 h 26"/>
                  <a:gd name="T16" fmla="*/ 1 w 94"/>
                  <a:gd name="T17" fmla="*/ 1 h 26"/>
                  <a:gd name="T18" fmla="*/ 1 w 94"/>
                  <a:gd name="T19" fmla="*/ 1 h 26"/>
                  <a:gd name="T20" fmla="*/ 1 w 94"/>
                  <a:gd name="T21" fmla="*/ 1 h 26"/>
                  <a:gd name="T22" fmla="*/ 1 w 94"/>
                  <a:gd name="T23" fmla="*/ 1 h 26"/>
                  <a:gd name="T24" fmla="*/ 1 w 94"/>
                  <a:gd name="T25" fmla="*/ 1 h 26"/>
                  <a:gd name="T26" fmla="*/ 1 w 94"/>
                  <a:gd name="T27" fmla="*/ 1 h 26"/>
                  <a:gd name="T28" fmla="*/ 1 w 94"/>
                  <a:gd name="T29" fmla="*/ 1 h 26"/>
                  <a:gd name="T30" fmla="*/ 1 w 94"/>
                  <a:gd name="T31" fmla="*/ 1 h 26"/>
                  <a:gd name="T32" fmla="*/ 1 w 94"/>
                  <a:gd name="T33" fmla="*/ 0 h 26"/>
                  <a:gd name="T34" fmla="*/ 1 w 94"/>
                  <a:gd name="T35" fmla="*/ 0 h 26"/>
                  <a:gd name="T36" fmla="*/ 0 w 94"/>
                  <a:gd name="T37" fmla="*/ 0 h 26"/>
                  <a:gd name="T38" fmla="*/ 0 w 94"/>
                  <a:gd name="T39" fmla="*/ 0 h 26"/>
                  <a:gd name="T40" fmla="*/ 0 w 94"/>
                  <a:gd name="T41" fmla="*/ 1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26"/>
                  <a:gd name="T65" fmla="*/ 94 w 94"/>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26">
                    <a:moveTo>
                      <a:pt x="0" y="21"/>
                    </a:moveTo>
                    <a:lnTo>
                      <a:pt x="0" y="21"/>
                    </a:lnTo>
                    <a:lnTo>
                      <a:pt x="16" y="21"/>
                    </a:lnTo>
                    <a:lnTo>
                      <a:pt x="32" y="21"/>
                    </a:lnTo>
                    <a:lnTo>
                      <a:pt x="47" y="23"/>
                    </a:lnTo>
                    <a:lnTo>
                      <a:pt x="61" y="23"/>
                    </a:lnTo>
                    <a:lnTo>
                      <a:pt x="74" y="25"/>
                    </a:lnTo>
                    <a:lnTo>
                      <a:pt x="82" y="25"/>
                    </a:lnTo>
                    <a:lnTo>
                      <a:pt x="88" y="26"/>
                    </a:lnTo>
                    <a:lnTo>
                      <a:pt x="91" y="26"/>
                    </a:lnTo>
                    <a:lnTo>
                      <a:pt x="94" y="4"/>
                    </a:lnTo>
                    <a:lnTo>
                      <a:pt x="91" y="4"/>
                    </a:lnTo>
                    <a:lnTo>
                      <a:pt x="85" y="3"/>
                    </a:lnTo>
                    <a:lnTo>
                      <a:pt x="74" y="3"/>
                    </a:lnTo>
                    <a:lnTo>
                      <a:pt x="61" y="1"/>
                    </a:lnTo>
                    <a:lnTo>
                      <a:pt x="47" y="1"/>
                    </a:lnTo>
                    <a:lnTo>
                      <a:pt x="32" y="0"/>
                    </a:lnTo>
                    <a:lnTo>
                      <a:pt x="16" y="0"/>
                    </a:lnTo>
                    <a:lnTo>
                      <a:pt x="0" y="0"/>
                    </a:lnTo>
                    <a:lnTo>
                      <a:pt x="0" y="21"/>
                    </a:lnTo>
                    <a:close/>
                  </a:path>
                </a:pathLst>
              </a:custGeom>
              <a:solidFill>
                <a:srgbClr val="000000"/>
              </a:solidFill>
              <a:ln w="9525">
                <a:noFill/>
                <a:round/>
                <a:headEnd/>
                <a:tailEnd/>
              </a:ln>
            </p:spPr>
            <p:txBody>
              <a:bodyPr/>
              <a:lstStyle/>
              <a:p>
                <a:endParaRPr lang="en-US"/>
              </a:p>
            </p:txBody>
          </p:sp>
          <p:sp>
            <p:nvSpPr>
              <p:cNvPr id="23724" name="Freeform 137"/>
              <p:cNvSpPr>
                <a:spLocks/>
              </p:cNvSpPr>
              <p:nvPr/>
            </p:nvSpPr>
            <p:spPr bwMode="auto">
              <a:xfrm>
                <a:off x="2043" y="3676"/>
                <a:ext cx="26" cy="12"/>
              </a:xfrm>
              <a:custGeom>
                <a:avLst/>
                <a:gdLst>
                  <a:gd name="T0" fmla="*/ 0 w 53"/>
                  <a:gd name="T1" fmla="*/ 0 h 25"/>
                  <a:gd name="T2" fmla="*/ 0 w 53"/>
                  <a:gd name="T3" fmla="*/ 0 h 25"/>
                  <a:gd name="T4" fmla="*/ 0 w 53"/>
                  <a:gd name="T5" fmla="*/ 0 h 25"/>
                  <a:gd name="T6" fmla="*/ 0 w 53"/>
                  <a:gd name="T7" fmla="*/ 0 h 25"/>
                  <a:gd name="T8" fmla="*/ 0 w 53"/>
                  <a:gd name="T9" fmla="*/ 0 h 25"/>
                  <a:gd name="T10" fmla="*/ 0 w 53"/>
                  <a:gd name="T11" fmla="*/ 0 h 25"/>
                  <a:gd name="T12" fmla="*/ 0 w 53"/>
                  <a:gd name="T13" fmla="*/ 0 h 25"/>
                  <a:gd name="T14" fmla="*/ 0 w 53"/>
                  <a:gd name="T15" fmla="*/ 0 h 25"/>
                  <a:gd name="T16" fmla="*/ 0 w 53"/>
                  <a:gd name="T17" fmla="*/ 0 h 25"/>
                  <a:gd name="T18" fmla="*/ 0 w 53"/>
                  <a:gd name="T19" fmla="*/ 0 h 25"/>
                  <a:gd name="T20" fmla="*/ 0 w 53"/>
                  <a:gd name="T21" fmla="*/ 0 h 25"/>
                  <a:gd name="T22" fmla="*/ 0 w 53"/>
                  <a:gd name="T23" fmla="*/ 0 h 25"/>
                  <a:gd name="T24" fmla="*/ 0 w 53"/>
                  <a:gd name="T25" fmla="*/ 0 h 25"/>
                  <a:gd name="T26" fmla="*/ 0 w 53"/>
                  <a:gd name="T27" fmla="*/ 0 h 25"/>
                  <a:gd name="T28" fmla="*/ 0 w 53"/>
                  <a:gd name="T29" fmla="*/ 0 h 25"/>
                  <a:gd name="T30" fmla="*/ 0 w 53"/>
                  <a:gd name="T31" fmla="*/ 0 h 25"/>
                  <a:gd name="T32" fmla="*/ 0 w 53"/>
                  <a:gd name="T33" fmla="*/ 0 h 25"/>
                  <a:gd name="T34" fmla="*/ 0 w 53"/>
                  <a:gd name="T35" fmla="*/ 0 h 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3"/>
                  <a:gd name="T55" fmla="*/ 0 h 25"/>
                  <a:gd name="T56" fmla="*/ 53 w 53"/>
                  <a:gd name="T57" fmla="*/ 25 h 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3" h="25">
                    <a:moveTo>
                      <a:pt x="0" y="17"/>
                    </a:moveTo>
                    <a:lnTo>
                      <a:pt x="19" y="21"/>
                    </a:lnTo>
                    <a:lnTo>
                      <a:pt x="16" y="25"/>
                    </a:lnTo>
                    <a:lnTo>
                      <a:pt x="19" y="23"/>
                    </a:lnTo>
                    <a:lnTo>
                      <a:pt x="30" y="21"/>
                    </a:lnTo>
                    <a:lnTo>
                      <a:pt x="53" y="21"/>
                    </a:lnTo>
                    <a:lnTo>
                      <a:pt x="53" y="0"/>
                    </a:lnTo>
                    <a:lnTo>
                      <a:pt x="30" y="0"/>
                    </a:lnTo>
                    <a:lnTo>
                      <a:pt x="16" y="1"/>
                    </a:lnTo>
                    <a:lnTo>
                      <a:pt x="9" y="3"/>
                    </a:lnTo>
                    <a:lnTo>
                      <a:pt x="3" y="6"/>
                    </a:lnTo>
                    <a:lnTo>
                      <a:pt x="22" y="10"/>
                    </a:lnTo>
                    <a:lnTo>
                      <a:pt x="3" y="6"/>
                    </a:lnTo>
                    <a:lnTo>
                      <a:pt x="0" y="14"/>
                    </a:lnTo>
                    <a:lnTo>
                      <a:pt x="5" y="20"/>
                    </a:lnTo>
                    <a:lnTo>
                      <a:pt x="11" y="25"/>
                    </a:lnTo>
                    <a:lnTo>
                      <a:pt x="19" y="21"/>
                    </a:lnTo>
                    <a:lnTo>
                      <a:pt x="0" y="17"/>
                    </a:lnTo>
                    <a:close/>
                  </a:path>
                </a:pathLst>
              </a:custGeom>
              <a:solidFill>
                <a:srgbClr val="000000"/>
              </a:solidFill>
              <a:ln w="9525">
                <a:noFill/>
                <a:round/>
                <a:headEnd/>
                <a:tailEnd/>
              </a:ln>
            </p:spPr>
            <p:txBody>
              <a:bodyPr/>
              <a:lstStyle/>
              <a:p>
                <a:endParaRPr lang="en-US"/>
              </a:p>
            </p:txBody>
          </p:sp>
          <p:sp>
            <p:nvSpPr>
              <p:cNvPr id="23725" name="Freeform 138"/>
              <p:cNvSpPr>
                <a:spLocks/>
              </p:cNvSpPr>
              <p:nvPr/>
            </p:nvSpPr>
            <p:spPr bwMode="auto">
              <a:xfrm>
                <a:off x="2041" y="3671"/>
                <a:ext cx="12" cy="13"/>
              </a:xfrm>
              <a:custGeom>
                <a:avLst/>
                <a:gdLst>
                  <a:gd name="T0" fmla="*/ 0 w 25"/>
                  <a:gd name="T1" fmla="*/ 0 h 27"/>
                  <a:gd name="T2" fmla="*/ 0 w 25"/>
                  <a:gd name="T3" fmla="*/ 0 h 27"/>
                  <a:gd name="T4" fmla="*/ 0 w 25"/>
                  <a:gd name="T5" fmla="*/ 0 h 27"/>
                  <a:gd name="T6" fmla="*/ 0 w 25"/>
                  <a:gd name="T7" fmla="*/ 0 h 27"/>
                  <a:gd name="T8" fmla="*/ 0 w 25"/>
                  <a:gd name="T9" fmla="*/ 0 h 27"/>
                  <a:gd name="T10" fmla="*/ 0 w 25"/>
                  <a:gd name="T11" fmla="*/ 0 h 27"/>
                  <a:gd name="T12" fmla="*/ 0 w 25"/>
                  <a:gd name="T13" fmla="*/ 0 h 27"/>
                  <a:gd name="T14" fmla="*/ 0 w 25"/>
                  <a:gd name="T15" fmla="*/ 0 h 27"/>
                  <a:gd name="T16" fmla="*/ 0 w 25"/>
                  <a:gd name="T17" fmla="*/ 0 h 27"/>
                  <a:gd name="T18" fmla="*/ 0 w 25"/>
                  <a:gd name="T19" fmla="*/ 0 h 27"/>
                  <a:gd name="T20" fmla="*/ 0 w 25"/>
                  <a:gd name="T21" fmla="*/ 0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27"/>
                  <a:gd name="T35" fmla="*/ 25 w 25"/>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27">
                    <a:moveTo>
                      <a:pt x="0" y="14"/>
                    </a:moveTo>
                    <a:lnTo>
                      <a:pt x="0" y="14"/>
                    </a:lnTo>
                    <a:lnTo>
                      <a:pt x="3" y="27"/>
                    </a:lnTo>
                    <a:lnTo>
                      <a:pt x="25" y="20"/>
                    </a:lnTo>
                    <a:lnTo>
                      <a:pt x="22" y="8"/>
                    </a:lnTo>
                    <a:lnTo>
                      <a:pt x="17" y="2"/>
                    </a:lnTo>
                    <a:lnTo>
                      <a:pt x="9" y="0"/>
                    </a:lnTo>
                    <a:lnTo>
                      <a:pt x="1" y="5"/>
                    </a:lnTo>
                    <a:lnTo>
                      <a:pt x="0" y="14"/>
                    </a:lnTo>
                    <a:close/>
                  </a:path>
                </a:pathLst>
              </a:custGeom>
              <a:solidFill>
                <a:srgbClr val="000000"/>
              </a:solidFill>
              <a:ln w="9525">
                <a:noFill/>
                <a:round/>
                <a:headEnd/>
                <a:tailEnd/>
              </a:ln>
            </p:spPr>
            <p:txBody>
              <a:bodyPr/>
              <a:lstStyle/>
              <a:p>
                <a:endParaRPr lang="en-US"/>
              </a:p>
            </p:txBody>
          </p:sp>
          <p:sp>
            <p:nvSpPr>
              <p:cNvPr id="23726" name="Freeform 139"/>
              <p:cNvSpPr>
                <a:spLocks/>
              </p:cNvSpPr>
              <p:nvPr/>
            </p:nvSpPr>
            <p:spPr bwMode="auto">
              <a:xfrm>
                <a:off x="2041" y="3660"/>
                <a:ext cx="18" cy="18"/>
              </a:xfrm>
              <a:custGeom>
                <a:avLst/>
                <a:gdLst>
                  <a:gd name="T0" fmla="*/ 1 w 36"/>
                  <a:gd name="T1" fmla="*/ 0 h 36"/>
                  <a:gd name="T2" fmla="*/ 1 w 36"/>
                  <a:gd name="T3" fmla="*/ 0 h 36"/>
                  <a:gd name="T4" fmla="*/ 1 w 36"/>
                  <a:gd name="T5" fmla="*/ 1 h 36"/>
                  <a:gd name="T6" fmla="*/ 1 w 36"/>
                  <a:gd name="T7" fmla="*/ 1 h 36"/>
                  <a:gd name="T8" fmla="*/ 0 w 36"/>
                  <a:gd name="T9" fmla="*/ 1 h 36"/>
                  <a:gd name="T10" fmla="*/ 0 w 36"/>
                  <a:gd name="T11" fmla="*/ 1 h 36"/>
                  <a:gd name="T12" fmla="*/ 1 w 36"/>
                  <a:gd name="T13" fmla="*/ 1 h 36"/>
                  <a:gd name="T14" fmla="*/ 1 w 36"/>
                  <a:gd name="T15" fmla="*/ 1 h 36"/>
                  <a:gd name="T16" fmla="*/ 1 w 36"/>
                  <a:gd name="T17" fmla="*/ 1 h 36"/>
                  <a:gd name="T18" fmla="*/ 1 w 36"/>
                  <a:gd name="T19" fmla="*/ 1 h 36"/>
                  <a:gd name="T20" fmla="*/ 1 w 36"/>
                  <a:gd name="T21" fmla="*/ 1 h 36"/>
                  <a:gd name="T22" fmla="*/ 1 w 36"/>
                  <a:gd name="T23" fmla="*/ 1 h 36"/>
                  <a:gd name="T24" fmla="*/ 1 w 36"/>
                  <a:gd name="T25" fmla="*/ 0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
                  <a:gd name="T40" fmla="*/ 0 h 36"/>
                  <a:gd name="T41" fmla="*/ 36 w 36"/>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 h="36">
                    <a:moveTo>
                      <a:pt x="30" y="0"/>
                    </a:moveTo>
                    <a:lnTo>
                      <a:pt x="30" y="0"/>
                    </a:lnTo>
                    <a:lnTo>
                      <a:pt x="12" y="8"/>
                    </a:lnTo>
                    <a:lnTo>
                      <a:pt x="3" y="21"/>
                    </a:lnTo>
                    <a:lnTo>
                      <a:pt x="0" y="30"/>
                    </a:lnTo>
                    <a:lnTo>
                      <a:pt x="0" y="36"/>
                    </a:lnTo>
                    <a:lnTo>
                      <a:pt x="22" y="30"/>
                    </a:lnTo>
                    <a:lnTo>
                      <a:pt x="22" y="33"/>
                    </a:lnTo>
                    <a:lnTo>
                      <a:pt x="22" y="30"/>
                    </a:lnTo>
                    <a:lnTo>
                      <a:pt x="25" y="27"/>
                    </a:lnTo>
                    <a:lnTo>
                      <a:pt x="36" y="22"/>
                    </a:lnTo>
                    <a:lnTo>
                      <a:pt x="30" y="0"/>
                    </a:lnTo>
                    <a:close/>
                  </a:path>
                </a:pathLst>
              </a:custGeom>
              <a:solidFill>
                <a:srgbClr val="000000"/>
              </a:solidFill>
              <a:ln w="9525">
                <a:noFill/>
                <a:round/>
                <a:headEnd/>
                <a:tailEnd/>
              </a:ln>
            </p:spPr>
            <p:txBody>
              <a:bodyPr/>
              <a:lstStyle/>
              <a:p>
                <a:endParaRPr lang="en-US"/>
              </a:p>
            </p:txBody>
          </p:sp>
          <p:sp>
            <p:nvSpPr>
              <p:cNvPr id="23727" name="Freeform 140"/>
              <p:cNvSpPr>
                <a:spLocks/>
              </p:cNvSpPr>
              <p:nvPr/>
            </p:nvSpPr>
            <p:spPr bwMode="auto">
              <a:xfrm>
                <a:off x="2056" y="3649"/>
                <a:ext cx="80" cy="22"/>
              </a:xfrm>
              <a:custGeom>
                <a:avLst/>
                <a:gdLst>
                  <a:gd name="T0" fmla="*/ 0 w 161"/>
                  <a:gd name="T1" fmla="*/ 0 h 44"/>
                  <a:gd name="T2" fmla="*/ 0 w 161"/>
                  <a:gd name="T3" fmla="*/ 0 h 44"/>
                  <a:gd name="T4" fmla="*/ 0 w 161"/>
                  <a:gd name="T5" fmla="*/ 1 h 44"/>
                  <a:gd name="T6" fmla="*/ 0 w 161"/>
                  <a:gd name="T7" fmla="*/ 1 h 44"/>
                  <a:gd name="T8" fmla="*/ 0 w 161"/>
                  <a:gd name="T9" fmla="*/ 1 h 44"/>
                  <a:gd name="T10" fmla="*/ 0 w 161"/>
                  <a:gd name="T11" fmla="*/ 1 h 44"/>
                  <a:gd name="T12" fmla="*/ 0 w 161"/>
                  <a:gd name="T13" fmla="*/ 1 h 44"/>
                  <a:gd name="T14" fmla="*/ 0 w 161"/>
                  <a:gd name="T15" fmla="*/ 1 h 44"/>
                  <a:gd name="T16" fmla="*/ 0 w 161"/>
                  <a:gd name="T17" fmla="*/ 1 h 44"/>
                  <a:gd name="T18" fmla="*/ 0 w 161"/>
                  <a:gd name="T19" fmla="*/ 1 h 44"/>
                  <a:gd name="T20" fmla="*/ 0 w 161"/>
                  <a:gd name="T21" fmla="*/ 1 h 44"/>
                  <a:gd name="T22" fmla="*/ 0 w 161"/>
                  <a:gd name="T23" fmla="*/ 1 h 44"/>
                  <a:gd name="T24" fmla="*/ 0 w 161"/>
                  <a:gd name="T25" fmla="*/ 1 h 44"/>
                  <a:gd name="T26" fmla="*/ 0 w 161"/>
                  <a:gd name="T27" fmla="*/ 1 h 44"/>
                  <a:gd name="T28" fmla="*/ 0 w 161"/>
                  <a:gd name="T29" fmla="*/ 1 h 44"/>
                  <a:gd name="T30" fmla="*/ 0 w 161"/>
                  <a:gd name="T31" fmla="*/ 1 h 44"/>
                  <a:gd name="T32" fmla="*/ 0 w 161"/>
                  <a:gd name="T33" fmla="*/ 1 h 44"/>
                  <a:gd name="T34" fmla="*/ 0 w 161"/>
                  <a:gd name="T35" fmla="*/ 1 h 44"/>
                  <a:gd name="T36" fmla="*/ 0 w 161"/>
                  <a:gd name="T37" fmla="*/ 0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1"/>
                  <a:gd name="T58" fmla="*/ 0 h 44"/>
                  <a:gd name="T59" fmla="*/ 161 w 161"/>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1" h="44">
                    <a:moveTo>
                      <a:pt x="161" y="0"/>
                    </a:moveTo>
                    <a:lnTo>
                      <a:pt x="148" y="0"/>
                    </a:lnTo>
                    <a:lnTo>
                      <a:pt x="130" y="2"/>
                    </a:lnTo>
                    <a:lnTo>
                      <a:pt x="108" y="5"/>
                    </a:lnTo>
                    <a:lnTo>
                      <a:pt x="83" y="8"/>
                    </a:lnTo>
                    <a:lnTo>
                      <a:pt x="58" y="11"/>
                    </a:lnTo>
                    <a:lnTo>
                      <a:pt x="34" y="16"/>
                    </a:lnTo>
                    <a:lnTo>
                      <a:pt x="15" y="19"/>
                    </a:lnTo>
                    <a:lnTo>
                      <a:pt x="0" y="22"/>
                    </a:lnTo>
                    <a:lnTo>
                      <a:pt x="6" y="44"/>
                    </a:lnTo>
                    <a:lnTo>
                      <a:pt x="18" y="41"/>
                    </a:lnTo>
                    <a:lnTo>
                      <a:pt x="37" y="38"/>
                    </a:lnTo>
                    <a:lnTo>
                      <a:pt x="61" y="33"/>
                    </a:lnTo>
                    <a:lnTo>
                      <a:pt x="86" y="30"/>
                    </a:lnTo>
                    <a:lnTo>
                      <a:pt x="111" y="27"/>
                    </a:lnTo>
                    <a:lnTo>
                      <a:pt x="133" y="24"/>
                    </a:lnTo>
                    <a:lnTo>
                      <a:pt x="148" y="22"/>
                    </a:lnTo>
                    <a:lnTo>
                      <a:pt x="158" y="22"/>
                    </a:lnTo>
                    <a:lnTo>
                      <a:pt x="161" y="0"/>
                    </a:lnTo>
                    <a:close/>
                  </a:path>
                </a:pathLst>
              </a:custGeom>
              <a:solidFill>
                <a:srgbClr val="000000"/>
              </a:solidFill>
              <a:ln w="9525">
                <a:noFill/>
                <a:round/>
                <a:headEnd/>
                <a:tailEnd/>
              </a:ln>
            </p:spPr>
            <p:txBody>
              <a:bodyPr/>
              <a:lstStyle/>
              <a:p>
                <a:endParaRPr lang="en-US"/>
              </a:p>
            </p:txBody>
          </p:sp>
          <p:sp>
            <p:nvSpPr>
              <p:cNvPr id="23728" name="Freeform 141"/>
              <p:cNvSpPr>
                <a:spLocks/>
              </p:cNvSpPr>
              <p:nvPr/>
            </p:nvSpPr>
            <p:spPr bwMode="auto">
              <a:xfrm>
                <a:off x="2160" y="3770"/>
                <a:ext cx="21" cy="68"/>
              </a:xfrm>
              <a:custGeom>
                <a:avLst/>
                <a:gdLst>
                  <a:gd name="T0" fmla="*/ 0 w 42"/>
                  <a:gd name="T1" fmla="*/ 0 h 138"/>
                  <a:gd name="T2" fmla="*/ 0 w 42"/>
                  <a:gd name="T3" fmla="*/ 0 h 138"/>
                  <a:gd name="T4" fmla="*/ 0 w 42"/>
                  <a:gd name="T5" fmla="*/ 0 h 138"/>
                  <a:gd name="T6" fmla="*/ 1 w 42"/>
                  <a:gd name="T7" fmla="*/ 0 h 138"/>
                  <a:gd name="T8" fmla="*/ 1 w 42"/>
                  <a:gd name="T9" fmla="*/ 0 h 138"/>
                  <a:gd name="T10" fmla="*/ 1 w 42"/>
                  <a:gd name="T11" fmla="*/ 0 h 138"/>
                  <a:gd name="T12" fmla="*/ 1 w 42"/>
                  <a:gd name="T13" fmla="*/ 0 h 138"/>
                  <a:gd name="T14" fmla="*/ 1 w 42"/>
                  <a:gd name="T15" fmla="*/ 0 h 138"/>
                  <a:gd name="T16" fmla="*/ 1 w 42"/>
                  <a:gd name="T17" fmla="*/ 0 h 138"/>
                  <a:gd name="T18" fmla="*/ 1 w 42"/>
                  <a:gd name="T19" fmla="*/ 0 h 138"/>
                  <a:gd name="T20" fmla="*/ 1 w 42"/>
                  <a:gd name="T21" fmla="*/ 0 h 138"/>
                  <a:gd name="T22" fmla="*/ 0 w 42"/>
                  <a:gd name="T23" fmla="*/ 0 h 1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138"/>
                  <a:gd name="T38" fmla="*/ 42 w 42"/>
                  <a:gd name="T39" fmla="*/ 138 h 1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138">
                    <a:moveTo>
                      <a:pt x="0" y="2"/>
                    </a:moveTo>
                    <a:lnTo>
                      <a:pt x="0" y="121"/>
                    </a:lnTo>
                    <a:lnTo>
                      <a:pt x="0" y="124"/>
                    </a:lnTo>
                    <a:lnTo>
                      <a:pt x="3" y="129"/>
                    </a:lnTo>
                    <a:lnTo>
                      <a:pt x="9" y="135"/>
                    </a:lnTo>
                    <a:lnTo>
                      <a:pt x="22" y="138"/>
                    </a:lnTo>
                    <a:lnTo>
                      <a:pt x="34" y="135"/>
                    </a:lnTo>
                    <a:lnTo>
                      <a:pt x="41" y="129"/>
                    </a:lnTo>
                    <a:lnTo>
                      <a:pt x="42" y="121"/>
                    </a:lnTo>
                    <a:lnTo>
                      <a:pt x="42" y="118"/>
                    </a:lnTo>
                    <a:lnTo>
                      <a:pt x="42" y="0"/>
                    </a:lnTo>
                    <a:lnTo>
                      <a:pt x="0" y="2"/>
                    </a:lnTo>
                    <a:close/>
                  </a:path>
                </a:pathLst>
              </a:custGeom>
              <a:solidFill>
                <a:srgbClr val="FF7226"/>
              </a:solidFill>
              <a:ln w="9525">
                <a:noFill/>
                <a:round/>
                <a:headEnd/>
                <a:tailEnd/>
              </a:ln>
            </p:spPr>
            <p:txBody>
              <a:bodyPr/>
              <a:lstStyle/>
              <a:p>
                <a:endParaRPr lang="en-US"/>
              </a:p>
            </p:txBody>
          </p:sp>
          <p:sp>
            <p:nvSpPr>
              <p:cNvPr id="23729" name="Freeform 142"/>
              <p:cNvSpPr>
                <a:spLocks/>
              </p:cNvSpPr>
              <p:nvPr/>
            </p:nvSpPr>
            <p:spPr bwMode="auto">
              <a:xfrm>
                <a:off x="2154" y="3770"/>
                <a:ext cx="11" cy="65"/>
              </a:xfrm>
              <a:custGeom>
                <a:avLst/>
                <a:gdLst>
                  <a:gd name="T0" fmla="*/ 1 w 22"/>
                  <a:gd name="T1" fmla="*/ 1 h 130"/>
                  <a:gd name="T2" fmla="*/ 1 w 22"/>
                  <a:gd name="T3" fmla="*/ 1 h 130"/>
                  <a:gd name="T4" fmla="*/ 1 w 22"/>
                  <a:gd name="T5" fmla="*/ 0 h 130"/>
                  <a:gd name="T6" fmla="*/ 0 w 22"/>
                  <a:gd name="T7" fmla="*/ 0 h 130"/>
                  <a:gd name="T8" fmla="*/ 0 w 22"/>
                  <a:gd name="T9" fmla="*/ 1 h 130"/>
                  <a:gd name="T10" fmla="*/ 0 w 22"/>
                  <a:gd name="T11" fmla="*/ 1 h 130"/>
                  <a:gd name="T12" fmla="*/ 0 w 22"/>
                  <a:gd name="T13" fmla="*/ 1 h 130"/>
                  <a:gd name="T14" fmla="*/ 1 w 22"/>
                  <a:gd name="T15" fmla="*/ 1 h 130"/>
                  <a:gd name="T16" fmla="*/ 1 w 22"/>
                  <a:gd name="T17" fmla="*/ 1 h 130"/>
                  <a:gd name="T18" fmla="*/ 1 w 22"/>
                  <a:gd name="T19" fmla="*/ 1 h 130"/>
                  <a:gd name="T20" fmla="*/ 1 w 22"/>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
                  <a:gd name="T34" fmla="*/ 0 h 130"/>
                  <a:gd name="T35" fmla="*/ 22 w 22"/>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 h="130">
                    <a:moveTo>
                      <a:pt x="22" y="119"/>
                    </a:moveTo>
                    <a:lnTo>
                      <a:pt x="22" y="119"/>
                    </a:lnTo>
                    <a:lnTo>
                      <a:pt x="22" y="0"/>
                    </a:lnTo>
                    <a:lnTo>
                      <a:pt x="0" y="0"/>
                    </a:lnTo>
                    <a:lnTo>
                      <a:pt x="0" y="119"/>
                    </a:lnTo>
                    <a:lnTo>
                      <a:pt x="3" y="127"/>
                    </a:lnTo>
                    <a:lnTo>
                      <a:pt x="11" y="130"/>
                    </a:lnTo>
                    <a:lnTo>
                      <a:pt x="19" y="127"/>
                    </a:lnTo>
                    <a:lnTo>
                      <a:pt x="22" y="119"/>
                    </a:lnTo>
                    <a:close/>
                  </a:path>
                </a:pathLst>
              </a:custGeom>
              <a:solidFill>
                <a:srgbClr val="000000"/>
              </a:solidFill>
              <a:ln w="9525">
                <a:noFill/>
                <a:round/>
                <a:headEnd/>
                <a:tailEnd/>
              </a:ln>
            </p:spPr>
            <p:txBody>
              <a:bodyPr/>
              <a:lstStyle/>
              <a:p>
                <a:endParaRPr lang="en-US"/>
              </a:p>
            </p:txBody>
          </p:sp>
          <p:sp>
            <p:nvSpPr>
              <p:cNvPr id="23730" name="Freeform 143"/>
              <p:cNvSpPr>
                <a:spLocks/>
              </p:cNvSpPr>
              <p:nvPr/>
            </p:nvSpPr>
            <p:spPr bwMode="auto">
              <a:xfrm>
                <a:off x="2154" y="3829"/>
                <a:ext cx="17" cy="15"/>
              </a:xfrm>
              <a:custGeom>
                <a:avLst/>
                <a:gdLst>
                  <a:gd name="T0" fmla="*/ 1 w 33"/>
                  <a:gd name="T1" fmla="*/ 1 h 30"/>
                  <a:gd name="T2" fmla="*/ 1 w 33"/>
                  <a:gd name="T3" fmla="*/ 1 h 30"/>
                  <a:gd name="T4" fmla="*/ 1 w 33"/>
                  <a:gd name="T5" fmla="*/ 1 h 30"/>
                  <a:gd name="T6" fmla="*/ 1 w 33"/>
                  <a:gd name="T7" fmla="*/ 1 h 30"/>
                  <a:gd name="T8" fmla="*/ 1 w 33"/>
                  <a:gd name="T9" fmla="*/ 0 h 30"/>
                  <a:gd name="T10" fmla="*/ 1 w 33"/>
                  <a:gd name="T11" fmla="*/ 1 h 30"/>
                  <a:gd name="T12" fmla="*/ 0 w 33"/>
                  <a:gd name="T13" fmla="*/ 1 h 30"/>
                  <a:gd name="T14" fmla="*/ 0 w 33"/>
                  <a:gd name="T15" fmla="*/ 1 h 30"/>
                  <a:gd name="T16" fmla="*/ 1 w 33"/>
                  <a:gd name="T17" fmla="*/ 1 h 30"/>
                  <a:gd name="T18" fmla="*/ 1 w 33"/>
                  <a:gd name="T19" fmla="*/ 1 h 30"/>
                  <a:gd name="T20" fmla="*/ 1 w 33"/>
                  <a:gd name="T21" fmla="*/ 1 h 30"/>
                  <a:gd name="T22" fmla="*/ 1 w 33"/>
                  <a:gd name="T23" fmla="*/ 1 h 30"/>
                  <a:gd name="T24" fmla="*/ 1 w 33"/>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0"/>
                  <a:gd name="T41" fmla="*/ 33 w 33"/>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0">
                    <a:moveTo>
                      <a:pt x="33" y="8"/>
                    </a:moveTo>
                    <a:lnTo>
                      <a:pt x="33" y="8"/>
                    </a:lnTo>
                    <a:lnTo>
                      <a:pt x="25" y="6"/>
                    </a:lnTo>
                    <a:lnTo>
                      <a:pt x="22" y="2"/>
                    </a:lnTo>
                    <a:lnTo>
                      <a:pt x="22" y="0"/>
                    </a:lnTo>
                    <a:lnTo>
                      <a:pt x="22" y="2"/>
                    </a:lnTo>
                    <a:lnTo>
                      <a:pt x="0" y="2"/>
                    </a:lnTo>
                    <a:lnTo>
                      <a:pt x="0" y="10"/>
                    </a:lnTo>
                    <a:lnTo>
                      <a:pt x="6" y="17"/>
                    </a:lnTo>
                    <a:lnTo>
                      <a:pt x="16" y="25"/>
                    </a:lnTo>
                    <a:lnTo>
                      <a:pt x="33" y="30"/>
                    </a:lnTo>
                    <a:lnTo>
                      <a:pt x="33" y="8"/>
                    </a:lnTo>
                    <a:close/>
                  </a:path>
                </a:pathLst>
              </a:custGeom>
              <a:solidFill>
                <a:srgbClr val="000000"/>
              </a:solidFill>
              <a:ln w="9525">
                <a:noFill/>
                <a:round/>
                <a:headEnd/>
                <a:tailEnd/>
              </a:ln>
            </p:spPr>
            <p:txBody>
              <a:bodyPr/>
              <a:lstStyle/>
              <a:p>
                <a:endParaRPr lang="en-US"/>
              </a:p>
            </p:txBody>
          </p:sp>
          <p:sp>
            <p:nvSpPr>
              <p:cNvPr id="23731" name="Freeform 144"/>
              <p:cNvSpPr>
                <a:spLocks/>
              </p:cNvSpPr>
              <p:nvPr/>
            </p:nvSpPr>
            <p:spPr bwMode="auto">
              <a:xfrm>
                <a:off x="2171" y="3823"/>
                <a:ext cx="16" cy="21"/>
              </a:xfrm>
              <a:custGeom>
                <a:avLst/>
                <a:gdLst>
                  <a:gd name="T0" fmla="*/ 1 w 31"/>
                  <a:gd name="T1" fmla="*/ 1 h 42"/>
                  <a:gd name="T2" fmla="*/ 1 w 31"/>
                  <a:gd name="T3" fmla="*/ 1 h 42"/>
                  <a:gd name="T4" fmla="*/ 1 w 31"/>
                  <a:gd name="T5" fmla="*/ 1 h 42"/>
                  <a:gd name="T6" fmla="*/ 1 w 31"/>
                  <a:gd name="T7" fmla="*/ 1 h 42"/>
                  <a:gd name="T8" fmla="*/ 1 w 31"/>
                  <a:gd name="T9" fmla="*/ 1 h 42"/>
                  <a:gd name="T10" fmla="*/ 0 w 31"/>
                  <a:gd name="T11" fmla="*/ 1 h 42"/>
                  <a:gd name="T12" fmla="*/ 0 w 31"/>
                  <a:gd name="T13" fmla="*/ 1 h 42"/>
                  <a:gd name="T14" fmla="*/ 1 w 31"/>
                  <a:gd name="T15" fmla="*/ 1 h 42"/>
                  <a:gd name="T16" fmla="*/ 1 w 31"/>
                  <a:gd name="T17" fmla="*/ 1 h 42"/>
                  <a:gd name="T18" fmla="*/ 1 w 31"/>
                  <a:gd name="T19" fmla="*/ 1 h 42"/>
                  <a:gd name="T20" fmla="*/ 1 w 31"/>
                  <a:gd name="T21" fmla="*/ 1 h 42"/>
                  <a:gd name="T22" fmla="*/ 1 w 31"/>
                  <a:gd name="T23" fmla="*/ 1 h 42"/>
                  <a:gd name="T24" fmla="*/ 1 w 31"/>
                  <a:gd name="T25" fmla="*/ 1 h 42"/>
                  <a:gd name="T26" fmla="*/ 1 w 31"/>
                  <a:gd name="T27" fmla="*/ 1 h 42"/>
                  <a:gd name="T28" fmla="*/ 1 w 31"/>
                  <a:gd name="T29" fmla="*/ 0 h 42"/>
                  <a:gd name="T30" fmla="*/ 1 w 31"/>
                  <a:gd name="T31" fmla="*/ 1 h 42"/>
                  <a:gd name="T32" fmla="*/ 1 w 31"/>
                  <a:gd name="T33" fmla="*/ 1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42"/>
                  <a:gd name="T53" fmla="*/ 31 w 31"/>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42">
                    <a:moveTo>
                      <a:pt x="9" y="11"/>
                    </a:moveTo>
                    <a:lnTo>
                      <a:pt x="9" y="11"/>
                    </a:lnTo>
                    <a:lnTo>
                      <a:pt x="9" y="12"/>
                    </a:lnTo>
                    <a:lnTo>
                      <a:pt x="9" y="17"/>
                    </a:lnTo>
                    <a:lnTo>
                      <a:pt x="8" y="18"/>
                    </a:lnTo>
                    <a:lnTo>
                      <a:pt x="0" y="20"/>
                    </a:lnTo>
                    <a:lnTo>
                      <a:pt x="0" y="42"/>
                    </a:lnTo>
                    <a:lnTo>
                      <a:pt x="17" y="37"/>
                    </a:lnTo>
                    <a:lnTo>
                      <a:pt x="28" y="26"/>
                    </a:lnTo>
                    <a:lnTo>
                      <a:pt x="31" y="15"/>
                    </a:lnTo>
                    <a:lnTo>
                      <a:pt x="31" y="11"/>
                    </a:lnTo>
                    <a:lnTo>
                      <a:pt x="28" y="3"/>
                    </a:lnTo>
                    <a:lnTo>
                      <a:pt x="20" y="0"/>
                    </a:lnTo>
                    <a:lnTo>
                      <a:pt x="12" y="3"/>
                    </a:lnTo>
                    <a:lnTo>
                      <a:pt x="9" y="11"/>
                    </a:lnTo>
                    <a:close/>
                  </a:path>
                </a:pathLst>
              </a:custGeom>
              <a:solidFill>
                <a:srgbClr val="000000"/>
              </a:solidFill>
              <a:ln w="9525">
                <a:noFill/>
                <a:round/>
                <a:headEnd/>
                <a:tailEnd/>
              </a:ln>
            </p:spPr>
            <p:txBody>
              <a:bodyPr/>
              <a:lstStyle/>
              <a:p>
                <a:endParaRPr lang="en-US"/>
              </a:p>
            </p:txBody>
          </p:sp>
          <p:sp>
            <p:nvSpPr>
              <p:cNvPr id="23732" name="Freeform 145"/>
              <p:cNvSpPr>
                <a:spLocks/>
              </p:cNvSpPr>
              <p:nvPr/>
            </p:nvSpPr>
            <p:spPr bwMode="auto">
              <a:xfrm>
                <a:off x="2176" y="3764"/>
                <a:ext cx="11" cy="64"/>
              </a:xfrm>
              <a:custGeom>
                <a:avLst/>
                <a:gdLst>
                  <a:gd name="T0" fmla="*/ 1 w 22"/>
                  <a:gd name="T1" fmla="*/ 0 h 129"/>
                  <a:gd name="T2" fmla="*/ 0 w 22"/>
                  <a:gd name="T3" fmla="*/ 0 h 129"/>
                  <a:gd name="T4" fmla="*/ 0 w 22"/>
                  <a:gd name="T5" fmla="*/ 0 h 129"/>
                  <a:gd name="T6" fmla="*/ 1 w 22"/>
                  <a:gd name="T7" fmla="*/ 0 h 129"/>
                  <a:gd name="T8" fmla="*/ 1 w 22"/>
                  <a:gd name="T9" fmla="*/ 0 h 129"/>
                  <a:gd name="T10" fmla="*/ 1 w 22"/>
                  <a:gd name="T11" fmla="*/ 0 h 129"/>
                  <a:gd name="T12" fmla="*/ 1 w 22"/>
                  <a:gd name="T13" fmla="*/ 0 h 129"/>
                  <a:gd name="T14" fmla="*/ 1 w 22"/>
                  <a:gd name="T15" fmla="*/ 0 h 129"/>
                  <a:gd name="T16" fmla="*/ 1 w 22"/>
                  <a:gd name="T17" fmla="*/ 0 h 129"/>
                  <a:gd name="T18" fmla="*/ 1 w 22"/>
                  <a:gd name="T19" fmla="*/ 0 h 129"/>
                  <a:gd name="T20" fmla="*/ 0 w 22"/>
                  <a:gd name="T21" fmla="*/ 0 h 129"/>
                  <a:gd name="T22" fmla="*/ 1 w 22"/>
                  <a:gd name="T23" fmla="*/ 0 h 1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29"/>
                  <a:gd name="T38" fmla="*/ 22 w 22"/>
                  <a:gd name="T39" fmla="*/ 129 h 1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29">
                    <a:moveTo>
                      <a:pt x="11" y="22"/>
                    </a:moveTo>
                    <a:lnTo>
                      <a:pt x="0" y="11"/>
                    </a:lnTo>
                    <a:lnTo>
                      <a:pt x="0" y="129"/>
                    </a:lnTo>
                    <a:lnTo>
                      <a:pt x="22" y="129"/>
                    </a:lnTo>
                    <a:lnTo>
                      <a:pt x="22" y="11"/>
                    </a:lnTo>
                    <a:lnTo>
                      <a:pt x="11" y="0"/>
                    </a:lnTo>
                    <a:lnTo>
                      <a:pt x="22" y="11"/>
                    </a:lnTo>
                    <a:lnTo>
                      <a:pt x="19" y="3"/>
                    </a:lnTo>
                    <a:lnTo>
                      <a:pt x="11" y="0"/>
                    </a:lnTo>
                    <a:lnTo>
                      <a:pt x="3" y="3"/>
                    </a:lnTo>
                    <a:lnTo>
                      <a:pt x="0" y="11"/>
                    </a:lnTo>
                    <a:lnTo>
                      <a:pt x="11" y="22"/>
                    </a:lnTo>
                    <a:close/>
                  </a:path>
                </a:pathLst>
              </a:custGeom>
              <a:solidFill>
                <a:srgbClr val="000000"/>
              </a:solidFill>
              <a:ln w="9525">
                <a:noFill/>
                <a:round/>
                <a:headEnd/>
                <a:tailEnd/>
              </a:ln>
            </p:spPr>
            <p:txBody>
              <a:bodyPr/>
              <a:lstStyle/>
              <a:p>
                <a:endParaRPr lang="en-US"/>
              </a:p>
            </p:txBody>
          </p:sp>
          <p:sp>
            <p:nvSpPr>
              <p:cNvPr id="23733" name="Freeform 146"/>
              <p:cNvSpPr>
                <a:spLocks/>
              </p:cNvSpPr>
              <p:nvPr/>
            </p:nvSpPr>
            <p:spPr bwMode="auto">
              <a:xfrm>
                <a:off x="2154" y="3764"/>
                <a:ext cx="27" cy="12"/>
              </a:xfrm>
              <a:custGeom>
                <a:avLst/>
                <a:gdLst>
                  <a:gd name="T0" fmla="*/ 1 w 53"/>
                  <a:gd name="T1" fmla="*/ 1 h 24"/>
                  <a:gd name="T2" fmla="*/ 1 w 53"/>
                  <a:gd name="T3" fmla="*/ 1 h 24"/>
                  <a:gd name="T4" fmla="*/ 1 w 53"/>
                  <a:gd name="T5" fmla="*/ 1 h 24"/>
                  <a:gd name="T6" fmla="*/ 1 w 53"/>
                  <a:gd name="T7" fmla="*/ 0 h 24"/>
                  <a:gd name="T8" fmla="*/ 1 w 53"/>
                  <a:gd name="T9" fmla="*/ 1 h 24"/>
                  <a:gd name="T10" fmla="*/ 0 w 53"/>
                  <a:gd name="T11" fmla="*/ 1 h 24"/>
                  <a:gd name="T12" fmla="*/ 1 w 53"/>
                  <a:gd name="T13" fmla="*/ 1 h 24"/>
                  <a:gd name="T14" fmla="*/ 1 w 53"/>
                  <a:gd name="T15" fmla="*/ 1 h 24"/>
                  <a:gd name="T16" fmla="*/ 0 w 53"/>
                  <a:gd name="T17" fmla="*/ 1 h 24"/>
                  <a:gd name="T18" fmla="*/ 1 w 53"/>
                  <a:gd name="T19" fmla="*/ 1 h 24"/>
                  <a:gd name="T20" fmla="*/ 1 w 53"/>
                  <a:gd name="T21" fmla="*/ 1 h 24"/>
                  <a:gd name="T22" fmla="*/ 1 w 53"/>
                  <a:gd name="T23" fmla="*/ 1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
                  <a:gd name="T37" fmla="*/ 0 h 24"/>
                  <a:gd name="T38" fmla="*/ 53 w 53"/>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 h="24">
                    <a:moveTo>
                      <a:pt x="22" y="13"/>
                    </a:moveTo>
                    <a:lnTo>
                      <a:pt x="11" y="24"/>
                    </a:lnTo>
                    <a:lnTo>
                      <a:pt x="53" y="22"/>
                    </a:lnTo>
                    <a:lnTo>
                      <a:pt x="53" y="0"/>
                    </a:lnTo>
                    <a:lnTo>
                      <a:pt x="11" y="2"/>
                    </a:lnTo>
                    <a:lnTo>
                      <a:pt x="0" y="13"/>
                    </a:lnTo>
                    <a:lnTo>
                      <a:pt x="11" y="2"/>
                    </a:lnTo>
                    <a:lnTo>
                      <a:pt x="3" y="5"/>
                    </a:lnTo>
                    <a:lnTo>
                      <a:pt x="0" y="13"/>
                    </a:lnTo>
                    <a:lnTo>
                      <a:pt x="3" y="21"/>
                    </a:lnTo>
                    <a:lnTo>
                      <a:pt x="11" y="24"/>
                    </a:lnTo>
                    <a:lnTo>
                      <a:pt x="22" y="13"/>
                    </a:lnTo>
                    <a:close/>
                  </a:path>
                </a:pathLst>
              </a:custGeom>
              <a:solidFill>
                <a:srgbClr val="000000"/>
              </a:solidFill>
              <a:ln w="9525">
                <a:noFill/>
                <a:round/>
                <a:headEnd/>
                <a:tailEnd/>
              </a:ln>
            </p:spPr>
            <p:txBody>
              <a:bodyPr/>
              <a:lstStyle/>
              <a:p>
                <a:endParaRPr lang="en-US"/>
              </a:p>
            </p:txBody>
          </p:sp>
          <p:sp>
            <p:nvSpPr>
              <p:cNvPr id="23734" name="Freeform 147"/>
              <p:cNvSpPr>
                <a:spLocks/>
              </p:cNvSpPr>
              <p:nvPr/>
            </p:nvSpPr>
            <p:spPr bwMode="auto">
              <a:xfrm>
                <a:off x="2168" y="3561"/>
                <a:ext cx="105" cy="191"/>
              </a:xfrm>
              <a:custGeom>
                <a:avLst/>
                <a:gdLst>
                  <a:gd name="T0" fmla="*/ 0 w 211"/>
                  <a:gd name="T1" fmla="*/ 1 h 381"/>
                  <a:gd name="T2" fmla="*/ 0 w 211"/>
                  <a:gd name="T3" fmla="*/ 1 h 381"/>
                  <a:gd name="T4" fmla="*/ 0 w 211"/>
                  <a:gd name="T5" fmla="*/ 1 h 381"/>
                  <a:gd name="T6" fmla="*/ 0 w 211"/>
                  <a:gd name="T7" fmla="*/ 1 h 381"/>
                  <a:gd name="T8" fmla="*/ 0 w 211"/>
                  <a:gd name="T9" fmla="*/ 1 h 381"/>
                  <a:gd name="T10" fmla="*/ 0 w 211"/>
                  <a:gd name="T11" fmla="*/ 1 h 381"/>
                  <a:gd name="T12" fmla="*/ 0 w 211"/>
                  <a:gd name="T13" fmla="*/ 1 h 381"/>
                  <a:gd name="T14" fmla="*/ 0 w 211"/>
                  <a:gd name="T15" fmla="*/ 1 h 381"/>
                  <a:gd name="T16" fmla="*/ 0 w 211"/>
                  <a:gd name="T17" fmla="*/ 1 h 381"/>
                  <a:gd name="T18" fmla="*/ 0 w 211"/>
                  <a:gd name="T19" fmla="*/ 1 h 381"/>
                  <a:gd name="T20" fmla="*/ 0 w 211"/>
                  <a:gd name="T21" fmla="*/ 1 h 381"/>
                  <a:gd name="T22" fmla="*/ 0 w 211"/>
                  <a:gd name="T23" fmla="*/ 1 h 381"/>
                  <a:gd name="T24" fmla="*/ 0 w 211"/>
                  <a:gd name="T25" fmla="*/ 1 h 381"/>
                  <a:gd name="T26" fmla="*/ 0 w 211"/>
                  <a:gd name="T27" fmla="*/ 1 h 381"/>
                  <a:gd name="T28" fmla="*/ 0 w 211"/>
                  <a:gd name="T29" fmla="*/ 1 h 381"/>
                  <a:gd name="T30" fmla="*/ 0 w 211"/>
                  <a:gd name="T31" fmla="*/ 1 h 381"/>
                  <a:gd name="T32" fmla="*/ 0 w 211"/>
                  <a:gd name="T33" fmla="*/ 1 h 381"/>
                  <a:gd name="T34" fmla="*/ 0 w 211"/>
                  <a:gd name="T35" fmla="*/ 1 h 381"/>
                  <a:gd name="T36" fmla="*/ 0 w 211"/>
                  <a:gd name="T37" fmla="*/ 1 h 381"/>
                  <a:gd name="T38" fmla="*/ 0 w 211"/>
                  <a:gd name="T39" fmla="*/ 1 h 381"/>
                  <a:gd name="T40" fmla="*/ 0 w 211"/>
                  <a:gd name="T41" fmla="*/ 1 h 381"/>
                  <a:gd name="T42" fmla="*/ 0 w 211"/>
                  <a:gd name="T43" fmla="*/ 1 h 381"/>
                  <a:gd name="T44" fmla="*/ 0 w 211"/>
                  <a:gd name="T45" fmla="*/ 1 h 381"/>
                  <a:gd name="T46" fmla="*/ 0 w 211"/>
                  <a:gd name="T47" fmla="*/ 1 h 381"/>
                  <a:gd name="T48" fmla="*/ 0 w 211"/>
                  <a:gd name="T49" fmla="*/ 1 h 381"/>
                  <a:gd name="T50" fmla="*/ 0 w 211"/>
                  <a:gd name="T51" fmla="*/ 1 h 381"/>
                  <a:gd name="T52" fmla="*/ 0 w 211"/>
                  <a:gd name="T53" fmla="*/ 1 h 381"/>
                  <a:gd name="T54" fmla="*/ 0 w 211"/>
                  <a:gd name="T55" fmla="*/ 1 h 381"/>
                  <a:gd name="T56" fmla="*/ 0 w 211"/>
                  <a:gd name="T57" fmla="*/ 1 h 381"/>
                  <a:gd name="T58" fmla="*/ 0 w 211"/>
                  <a:gd name="T59" fmla="*/ 1 h 381"/>
                  <a:gd name="T60" fmla="*/ 0 w 211"/>
                  <a:gd name="T61" fmla="*/ 1 h 381"/>
                  <a:gd name="T62" fmla="*/ 0 w 211"/>
                  <a:gd name="T63" fmla="*/ 1 h 38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381"/>
                  <a:gd name="T98" fmla="*/ 211 w 211"/>
                  <a:gd name="T99" fmla="*/ 381 h 38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381">
                    <a:moveTo>
                      <a:pt x="114" y="359"/>
                    </a:moveTo>
                    <a:lnTo>
                      <a:pt x="122" y="356"/>
                    </a:lnTo>
                    <a:lnTo>
                      <a:pt x="131" y="348"/>
                    </a:lnTo>
                    <a:lnTo>
                      <a:pt x="145" y="337"/>
                    </a:lnTo>
                    <a:lnTo>
                      <a:pt x="161" y="319"/>
                    </a:lnTo>
                    <a:lnTo>
                      <a:pt x="175" y="294"/>
                    </a:lnTo>
                    <a:lnTo>
                      <a:pt x="189" y="259"/>
                    </a:lnTo>
                    <a:lnTo>
                      <a:pt x="198" y="214"/>
                    </a:lnTo>
                    <a:lnTo>
                      <a:pt x="206" y="156"/>
                    </a:lnTo>
                    <a:lnTo>
                      <a:pt x="209" y="101"/>
                    </a:lnTo>
                    <a:lnTo>
                      <a:pt x="211" y="62"/>
                    </a:lnTo>
                    <a:lnTo>
                      <a:pt x="211" y="36"/>
                    </a:lnTo>
                    <a:lnTo>
                      <a:pt x="211" y="20"/>
                    </a:lnTo>
                    <a:lnTo>
                      <a:pt x="211" y="12"/>
                    </a:lnTo>
                    <a:lnTo>
                      <a:pt x="209" y="9"/>
                    </a:lnTo>
                    <a:lnTo>
                      <a:pt x="208" y="10"/>
                    </a:lnTo>
                    <a:lnTo>
                      <a:pt x="206" y="9"/>
                    </a:lnTo>
                    <a:lnTo>
                      <a:pt x="205" y="4"/>
                    </a:lnTo>
                    <a:lnTo>
                      <a:pt x="200" y="1"/>
                    </a:lnTo>
                    <a:lnTo>
                      <a:pt x="194" y="0"/>
                    </a:lnTo>
                    <a:lnTo>
                      <a:pt x="187" y="1"/>
                    </a:lnTo>
                    <a:lnTo>
                      <a:pt x="181" y="4"/>
                    </a:lnTo>
                    <a:lnTo>
                      <a:pt x="175" y="7"/>
                    </a:lnTo>
                    <a:lnTo>
                      <a:pt x="170" y="12"/>
                    </a:lnTo>
                    <a:lnTo>
                      <a:pt x="167" y="18"/>
                    </a:lnTo>
                    <a:lnTo>
                      <a:pt x="159" y="26"/>
                    </a:lnTo>
                    <a:lnTo>
                      <a:pt x="148" y="36"/>
                    </a:lnTo>
                    <a:lnTo>
                      <a:pt x="133" y="45"/>
                    </a:lnTo>
                    <a:lnTo>
                      <a:pt x="123" y="48"/>
                    </a:lnTo>
                    <a:lnTo>
                      <a:pt x="112" y="53"/>
                    </a:lnTo>
                    <a:lnTo>
                      <a:pt x="101" y="56"/>
                    </a:lnTo>
                    <a:lnTo>
                      <a:pt x="90" y="59"/>
                    </a:lnTo>
                    <a:lnTo>
                      <a:pt x="79" y="62"/>
                    </a:lnTo>
                    <a:lnTo>
                      <a:pt x="70" y="65"/>
                    </a:lnTo>
                    <a:lnTo>
                      <a:pt x="62" y="67"/>
                    </a:lnTo>
                    <a:lnTo>
                      <a:pt x="57" y="68"/>
                    </a:lnTo>
                    <a:lnTo>
                      <a:pt x="51" y="70"/>
                    </a:lnTo>
                    <a:lnTo>
                      <a:pt x="47" y="73"/>
                    </a:lnTo>
                    <a:lnTo>
                      <a:pt x="43" y="75"/>
                    </a:lnTo>
                    <a:lnTo>
                      <a:pt x="40" y="78"/>
                    </a:lnTo>
                    <a:lnTo>
                      <a:pt x="36" y="86"/>
                    </a:lnTo>
                    <a:lnTo>
                      <a:pt x="28" y="100"/>
                    </a:lnTo>
                    <a:lnTo>
                      <a:pt x="21" y="120"/>
                    </a:lnTo>
                    <a:lnTo>
                      <a:pt x="14" y="143"/>
                    </a:lnTo>
                    <a:lnTo>
                      <a:pt x="7" y="169"/>
                    </a:lnTo>
                    <a:lnTo>
                      <a:pt x="3" y="194"/>
                    </a:lnTo>
                    <a:lnTo>
                      <a:pt x="0" y="215"/>
                    </a:lnTo>
                    <a:lnTo>
                      <a:pt x="0" y="234"/>
                    </a:lnTo>
                    <a:lnTo>
                      <a:pt x="1" y="251"/>
                    </a:lnTo>
                    <a:lnTo>
                      <a:pt x="4" y="273"/>
                    </a:lnTo>
                    <a:lnTo>
                      <a:pt x="7" y="297"/>
                    </a:lnTo>
                    <a:lnTo>
                      <a:pt x="11" y="322"/>
                    </a:lnTo>
                    <a:lnTo>
                      <a:pt x="15" y="344"/>
                    </a:lnTo>
                    <a:lnTo>
                      <a:pt x="20" y="363"/>
                    </a:lnTo>
                    <a:lnTo>
                      <a:pt x="26" y="375"/>
                    </a:lnTo>
                    <a:lnTo>
                      <a:pt x="31" y="381"/>
                    </a:lnTo>
                    <a:lnTo>
                      <a:pt x="37" y="381"/>
                    </a:lnTo>
                    <a:lnTo>
                      <a:pt x="47" y="381"/>
                    </a:lnTo>
                    <a:lnTo>
                      <a:pt x="59" y="378"/>
                    </a:lnTo>
                    <a:lnTo>
                      <a:pt x="72" y="375"/>
                    </a:lnTo>
                    <a:lnTo>
                      <a:pt x="86" y="370"/>
                    </a:lnTo>
                    <a:lnTo>
                      <a:pt x="98" y="367"/>
                    </a:lnTo>
                    <a:lnTo>
                      <a:pt x="108" y="363"/>
                    </a:lnTo>
                    <a:lnTo>
                      <a:pt x="114" y="359"/>
                    </a:lnTo>
                    <a:close/>
                  </a:path>
                </a:pathLst>
              </a:custGeom>
              <a:solidFill>
                <a:srgbClr val="FF7226"/>
              </a:solidFill>
              <a:ln w="9525">
                <a:noFill/>
                <a:round/>
                <a:headEnd/>
                <a:tailEnd/>
              </a:ln>
            </p:spPr>
            <p:txBody>
              <a:bodyPr/>
              <a:lstStyle/>
              <a:p>
                <a:endParaRPr lang="en-US"/>
              </a:p>
            </p:txBody>
          </p:sp>
          <p:sp>
            <p:nvSpPr>
              <p:cNvPr id="23735" name="Freeform 148"/>
              <p:cNvSpPr>
                <a:spLocks/>
              </p:cNvSpPr>
              <p:nvPr/>
            </p:nvSpPr>
            <p:spPr bwMode="auto">
              <a:xfrm>
                <a:off x="2223" y="3639"/>
                <a:ext cx="54" cy="106"/>
              </a:xfrm>
              <a:custGeom>
                <a:avLst/>
                <a:gdLst>
                  <a:gd name="T0" fmla="*/ 1 w 108"/>
                  <a:gd name="T1" fmla="*/ 0 h 213"/>
                  <a:gd name="T2" fmla="*/ 1 w 108"/>
                  <a:gd name="T3" fmla="*/ 0 h 213"/>
                  <a:gd name="T4" fmla="*/ 1 w 108"/>
                  <a:gd name="T5" fmla="*/ 0 h 213"/>
                  <a:gd name="T6" fmla="*/ 1 w 108"/>
                  <a:gd name="T7" fmla="*/ 0 h 213"/>
                  <a:gd name="T8" fmla="*/ 1 w 108"/>
                  <a:gd name="T9" fmla="*/ 0 h 213"/>
                  <a:gd name="T10" fmla="*/ 1 w 108"/>
                  <a:gd name="T11" fmla="*/ 0 h 213"/>
                  <a:gd name="T12" fmla="*/ 1 w 108"/>
                  <a:gd name="T13" fmla="*/ 0 h 213"/>
                  <a:gd name="T14" fmla="*/ 1 w 108"/>
                  <a:gd name="T15" fmla="*/ 0 h 213"/>
                  <a:gd name="T16" fmla="*/ 1 w 108"/>
                  <a:gd name="T17" fmla="*/ 0 h 213"/>
                  <a:gd name="T18" fmla="*/ 0 w 108"/>
                  <a:gd name="T19" fmla="*/ 0 h 213"/>
                  <a:gd name="T20" fmla="*/ 1 w 108"/>
                  <a:gd name="T21" fmla="*/ 0 h 213"/>
                  <a:gd name="T22" fmla="*/ 1 w 108"/>
                  <a:gd name="T23" fmla="*/ 0 h 213"/>
                  <a:gd name="T24" fmla="*/ 1 w 108"/>
                  <a:gd name="T25" fmla="*/ 0 h 213"/>
                  <a:gd name="T26" fmla="*/ 1 w 108"/>
                  <a:gd name="T27" fmla="*/ 0 h 213"/>
                  <a:gd name="T28" fmla="*/ 1 w 108"/>
                  <a:gd name="T29" fmla="*/ 0 h 213"/>
                  <a:gd name="T30" fmla="*/ 1 w 108"/>
                  <a:gd name="T31" fmla="*/ 0 h 213"/>
                  <a:gd name="T32" fmla="*/ 1 w 108"/>
                  <a:gd name="T33" fmla="*/ 0 h 213"/>
                  <a:gd name="T34" fmla="*/ 1 w 108"/>
                  <a:gd name="T35" fmla="*/ 0 h 213"/>
                  <a:gd name="T36" fmla="*/ 1 w 108"/>
                  <a:gd name="T37" fmla="*/ 0 h 213"/>
                  <a:gd name="T38" fmla="*/ 1 w 108"/>
                  <a:gd name="T39" fmla="*/ 0 h 213"/>
                  <a:gd name="T40" fmla="*/ 1 w 108"/>
                  <a:gd name="T41" fmla="*/ 0 h 2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8"/>
                  <a:gd name="T64" fmla="*/ 0 h 213"/>
                  <a:gd name="T65" fmla="*/ 108 w 108"/>
                  <a:gd name="T66" fmla="*/ 213 h 21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8" h="213">
                    <a:moveTo>
                      <a:pt x="86" y="0"/>
                    </a:moveTo>
                    <a:lnTo>
                      <a:pt x="86" y="0"/>
                    </a:lnTo>
                    <a:lnTo>
                      <a:pt x="78" y="56"/>
                    </a:lnTo>
                    <a:lnTo>
                      <a:pt x="69" y="100"/>
                    </a:lnTo>
                    <a:lnTo>
                      <a:pt x="57" y="133"/>
                    </a:lnTo>
                    <a:lnTo>
                      <a:pt x="42" y="156"/>
                    </a:lnTo>
                    <a:lnTo>
                      <a:pt x="28" y="174"/>
                    </a:lnTo>
                    <a:lnTo>
                      <a:pt x="16" y="185"/>
                    </a:lnTo>
                    <a:lnTo>
                      <a:pt x="6" y="191"/>
                    </a:lnTo>
                    <a:lnTo>
                      <a:pt x="0" y="194"/>
                    </a:lnTo>
                    <a:lnTo>
                      <a:pt x="10" y="213"/>
                    </a:lnTo>
                    <a:lnTo>
                      <a:pt x="19" y="210"/>
                    </a:lnTo>
                    <a:lnTo>
                      <a:pt x="28" y="200"/>
                    </a:lnTo>
                    <a:lnTo>
                      <a:pt x="44" y="189"/>
                    </a:lnTo>
                    <a:lnTo>
                      <a:pt x="61" y="169"/>
                    </a:lnTo>
                    <a:lnTo>
                      <a:pt x="75" y="142"/>
                    </a:lnTo>
                    <a:lnTo>
                      <a:pt x="91" y="106"/>
                    </a:lnTo>
                    <a:lnTo>
                      <a:pt x="100" y="59"/>
                    </a:lnTo>
                    <a:lnTo>
                      <a:pt x="108" y="0"/>
                    </a:lnTo>
                    <a:lnTo>
                      <a:pt x="86" y="0"/>
                    </a:lnTo>
                    <a:close/>
                  </a:path>
                </a:pathLst>
              </a:custGeom>
              <a:solidFill>
                <a:srgbClr val="000000"/>
              </a:solidFill>
              <a:ln w="9525">
                <a:noFill/>
                <a:round/>
                <a:headEnd/>
                <a:tailEnd/>
              </a:ln>
            </p:spPr>
            <p:txBody>
              <a:bodyPr/>
              <a:lstStyle/>
              <a:p>
                <a:endParaRPr lang="en-US"/>
              </a:p>
            </p:txBody>
          </p:sp>
          <p:sp>
            <p:nvSpPr>
              <p:cNvPr id="23736" name="Freeform 149"/>
              <p:cNvSpPr>
                <a:spLocks/>
              </p:cNvSpPr>
              <p:nvPr/>
            </p:nvSpPr>
            <p:spPr bwMode="auto">
              <a:xfrm>
                <a:off x="2266" y="3561"/>
                <a:ext cx="13" cy="78"/>
              </a:xfrm>
              <a:custGeom>
                <a:avLst/>
                <a:gdLst>
                  <a:gd name="T0" fmla="*/ 0 w 27"/>
                  <a:gd name="T1" fmla="*/ 1 h 156"/>
                  <a:gd name="T2" fmla="*/ 0 w 27"/>
                  <a:gd name="T3" fmla="*/ 1 h 156"/>
                  <a:gd name="T4" fmla="*/ 0 w 27"/>
                  <a:gd name="T5" fmla="*/ 1 h 156"/>
                  <a:gd name="T6" fmla="*/ 0 w 27"/>
                  <a:gd name="T7" fmla="*/ 1 h 156"/>
                  <a:gd name="T8" fmla="*/ 0 w 27"/>
                  <a:gd name="T9" fmla="*/ 1 h 156"/>
                  <a:gd name="T10" fmla="*/ 0 w 27"/>
                  <a:gd name="T11" fmla="*/ 1 h 156"/>
                  <a:gd name="T12" fmla="*/ 0 w 27"/>
                  <a:gd name="T13" fmla="*/ 1 h 156"/>
                  <a:gd name="T14" fmla="*/ 0 w 27"/>
                  <a:gd name="T15" fmla="*/ 1 h 156"/>
                  <a:gd name="T16" fmla="*/ 0 w 27"/>
                  <a:gd name="T17" fmla="*/ 1 h 156"/>
                  <a:gd name="T18" fmla="*/ 0 w 27"/>
                  <a:gd name="T19" fmla="*/ 1 h 156"/>
                  <a:gd name="T20" fmla="*/ 0 w 27"/>
                  <a:gd name="T21" fmla="*/ 1 h 156"/>
                  <a:gd name="T22" fmla="*/ 0 w 27"/>
                  <a:gd name="T23" fmla="*/ 1 h 156"/>
                  <a:gd name="T24" fmla="*/ 0 w 27"/>
                  <a:gd name="T25" fmla="*/ 1 h 156"/>
                  <a:gd name="T26" fmla="*/ 0 w 27"/>
                  <a:gd name="T27" fmla="*/ 1 h 156"/>
                  <a:gd name="T28" fmla="*/ 0 w 27"/>
                  <a:gd name="T29" fmla="*/ 1 h 156"/>
                  <a:gd name="T30" fmla="*/ 0 w 27"/>
                  <a:gd name="T31" fmla="*/ 1 h 156"/>
                  <a:gd name="T32" fmla="*/ 0 w 27"/>
                  <a:gd name="T33" fmla="*/ 0 h 156"/>
                  <a:gd name="T34" fmla="*/ 0 w 27"/>
                  <a:gd name="T35" fmla="*/ 1 h 156"/>
                  <a:gd name="T36" fmla="*/ 0 w 27"/>
                  <a:gd name="T37" fmla="*/ 1 h 156"/>
                  <a:gd name="T38" fmla="*/ 0 w 27"/>
                  <a:gd name="T39" fmla="*/ 1 h 156"/>
                  <a:gd name="T40" fmla="*/ 0 w 27"/>
                  <a:gd name="T41" fmla="*/ 1 h 156"/>
                  <a:gd name="T42" fmla="*/ 0 w 27"/>
                  <a:gd name="T43" fmla="*/ 1 h 156"/>
                  <a:gd name="T44" fmla="*/ 0 w 27"/>
                  <a:gd name="T45" fmla="*/ 1 h 156"/>
                  <a:gd name="T46" fmla="*/ 0 w 27"/>
                  <a:gd name="T47" fmla="*/ 1 h 156"/>
                  <a:gd name="T48" fmla="*/ 0 w 27"/>
                  <a:gd name="T49" fmla="*/ 1 h 156"/>
                  <a:gd name="T50" fmla="*/ 0 w 27"/>
                  <a:gd name="T51" fmla="*/ 1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7"/>
                  <a:gd name="T79" fmla="*/ 0 h 156"/>
                  <a:gd name="T80" fmla="*/ 27 w 27"/>
                  <a:gd name="T81" fmla="*/ 156 h 15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7" h="156">
                    <a:moveTo>
                      <a:pt x="3" y="15"/>
                    </a:moveTo>
                    <a:lnTo>
                      <a:pt x="22" y="15"/>
                    </a:lnTo>
                    <a:lnTo>
                      <a:pt x="21" y="18"/>
                    </a:lnTo>
                    <a:lnTo>
                      <a:pt x="10" y="18"/>
                    </a:lnTo>
                    <a:lnTo>
                      <a:pt x="5" y="14"/>
                    </a:lnTo>
                    <a:lnTo>
                      <a:pt x="5" y="20"/>
                    </a:lnTo>
                    <a:lnTo>
                      <a:pt x="5" y="36"/>
                    </a:lnTo>
                    <a:lnTo>
                      <a:pt x="5" y="62"/>
                    </a:lnTo>
                    <a:lnTo>
                      <a:pt x="3" y="101"/>
                    </a:lnTo>
                    <a:lnTo>
                      <a:pt x="0" y="156"/>
                    </a:lnTo>
                    <a:lnTo>
                      <a:pt x="22" y="156"/>
                    </a:lnTo>
                    <a:lnTo>
                      <a:pt x="25" y="101"/>
                    </a:lnTo>
                    <a:lnTo>
                      <a:pt x="27" y="62"/>
                    </a:lnTo>
                    <a:lnTo>
                      <a:pt x="27" y="36"/>
                    </a:lnTo>
                    <a:lnTo>
                      <a:pt x="27" y="20"/>
                    </a:lnTo>
                    <a:lnTo>
                      <a:pt x="27" y="10"/>
                    </a:lnTo>
                    <a:lnTo>
                      <a:pt x="19" y="0"/>
                    </a:lnTo>
                    <a:lnTo>
                      <a:pt x="5" y="3"/>
                    </a:lnTo>
                    <a:lnTo>
                      <a:pt x="3" y="6"/>
                    </a:lnTo>
                    <a:lnTo>
                      <a:pt x="22" y="6"/>
                    </a:lnTo>
                    <a:lnTo>
                      <a:pt x="2" y="6"/>
                    </a:lnTo>
                    <a:lnTo>
                      <a:pt x="2" y="15"/>
                    </a:lnTo>
                    <a:lnTo>
                      <a:pt x="8" y="21"/>
                    </a:lnTo>
                    <a:lnTo>
                      <a:pt x="18" y="21"/>
                    </a:lnTo>
                    <a:lnTo>
                      <a:pt x="24" y="15"/>
                    </a:lnTo>
                    <a:lnTo>
                      <a:pt x="3" y="15"/>
                    </a:lnTo>
                    <a:close/>
                  </a:path>
                </a:pathLst>
              </a:custGeom>
              <a:solidFill>
                <a:srgbClr val="000000"/>
              </a:solidFill>
              <a:ln w="9525">
                <a:noFill/>
                <a:round/>
                <a:headEnd/>
                <a:tailEnd/>
              </a:ln>
            </p:spPr>
            <p:txBody>
              <a:bodyPr/>
              <a:lstStyle/>
              <a:p>
                <a:endParaRPr lang="en-US"/>
              </a:p>
            </p:txBody>
          </p:sp>
          <p:sp>
            <p:nvSpPr>
              <p:cNvPr id="23737" name="Freeform 150"/>
              <p:cNvSpPr>
                <a:spLocks/>
              </p:cNvSpPr>
              <p:nvPr/>
            </p:nvSpPr>
            <p:spPr bwMode="auto">
              <a:xfrm>
                <a:off x="2265" y="3555"/>
                <a:ext cx="12" cy="14"/>
              </a:xfrm>
              <a:custGeom>
                <a:avLst/>
                <a:gdLst>
                  <a:gd name="T0" fmla="*/ 0 w 23"/>
                  <a:gd name="T1" fmla="*/ 1 h 26"/>
                  <a:gd name="T2" fmla="*/ 0 w 23"/>
                  <a:gd name="T3" fmla="*/ 1 h 26"/>
                  <a:gd name="T4" fmla="*/ 1 w 23"/>
                  <a:gd name="T5" fmla="*/ 1 h 26"/>
                  <a:gd name="T6" fmla="*/ 1 w 23"/>
                  <a:gd name="T7" fmla="*/ 1 h 26"/>
                  <a:gd name="T8" fmla="*/ 1 w 23"/>
                  <a:gd name="T9" fmla="*/ 1 h 26"/>
                  <a:gd name="T10" fmla="*/ 1 w 23"/>
                  <a:gd name="T11" fmla="*/ 1 h 26"/>
                  <a:gd name="T12" fmla="*/ 1 w 23"/>
                  <a:gd name="T13" fmla="*/ 1 h 26"/>
                  <a:gd name="T14" fmla="*/ 1 w 23"/>
                  <a:gd name="T15" fmla="*/ 1 h 26"/>
                  <a:gd name="T16" fmla="*/ 1 w 23"/>
                  <a:gd name="T17" fmla="*/ 1 h 26"/>
                  <a:gd name="T18" fmla="*/ 1 w 23"/>
                  <a:gd name="T19" fmla="*/ 1 h 26"/>
                  <a:gd name="T20" fmla="*/ 0 w 23"/>
                  <a:gd name="T21" fmla="*/ 0 h 26"/>
                  <a:gd name="T22" fmla="*/ 0 w 23"/>
                  <a:gd name="T23" fmla="*/ 0 h 26"/>
                  <a:gd name="T24" fmla="*/ 0 w 23"/>
                  <a:gd name="T25" fmla="*/ 1 h 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6"/>
                  <a:gd name="T41" fmla="*/ 23 w 23"/>
                  <a:gd name="T42" fmla="*/ 26 h 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6">
                    <a:moveTo>
                      <a:pt x="0" y="21"/>
                    </a:moveTo>
                    <a:lnTo>
                      <a:pt x="0" y="21"/>
                    </a:lnTo>
                    <a:lnTo>
                      <a:pt x="1" y="21"/>
                    </a:lnTo>
                    <a:lnTo>
                      <a:pt x="3" y="21"/>
                    </a:lnTo>
                    <a:lnTo>
                      <a:pt x="3" y="25"/>
                    </a:lnTo>
                    <a:lnTo>
                      <a:pt x="4" y="26"/>
                    </a:lnTo>
                    <a:lnTo>
                      <a:pt x="23" y="17"/>
                    </a:lnTo>
                    <a:lnTo>
                      <a:pt x="22" y="15"/>
                    </a:lnTo>
                    <a:lnTo>
                      <a:pt x="19" y="9"/>
                    </a:lnTo>
                    <a:lnTo>
                      <a:pt x="11" y="3"/>
                    </a:lnTo>
                    <a:lnTo>
                      <a:pt x="0" y="0"/>
                    </a:lnTo>
                    <a:lnTo>
                      <a:pt x="0" y="21"/>
                    </a:lnTo>
                    <a:close/>
                  </a:path>
                </a:pathLst>
              </a:custGeom>
              <a:solidFill>
                <a:srgbClr val="000000"/>
              </a:solidFill>
              <a:ln w="9525">
                <a:noFill/>
                <a:round/>
                <a:headEnd/>
                <a:tailEnd/>
              </a:ln>
            </p:spPr>
            <p:txBody>
              <a:bodyPr/>
              <a:lstStyle/>
              <a:p>
                <a:endParaRPr lang="en-US"/>
              </a:p>
            </p:txBody>
          </p:sp>
          <p:sp>
            <p:nvSpPr>
              <p:cNvPr id="23738" name="Freeform 151"/>
              <p:cNvSpPr>
                <a:spLocks/>
              </p:cNvSpPr>
              <p:nvPr/>
            </p:nvSpPr>
            <p:spPr bwMode="auto">
              <a:xfrm>
                <a:off x="2248" y="3555"/>
                <a:ext cx="17" cy="16"/>
              </a:xfrm>
              <a:custGeom>
                <a:avLst/>
                <a:gdLst>
                  <a:gd name="T0" fmla="*/ 1 w 33"/>
                  <a:gd name="T1" fmla="*/ 1 h 31"/>
                  <a:gd name="T2" fmla="*/ 1 w 33"/>
                  <a:gd name="T3" fmla="*/ 1 h 31"/>
                  <a:gd name="T4" fmla="*/ 1 w 33"/>
                  <a:gd name="T5" fmla="*/ 1 h 31"/>
                  <a:gd name="T6" fmla="*/ 1 w 33"/>
                  <a:gd name="T7" fmla="*/ 1 h 31"/>
                  <a:gd name="T8" fmla="*/ 1 w 33"/>
                  <a:gd name="T9" fmla="*/ 1 h 31"/>
                  <a:gd name="T10" fmla="*/ 1 w 33"/>
                  <a:gd name="T11" fmla="*/ 1 h 31"/>
                  <a:gd name="T12" fmla="*/ 1 w 33"/>
                  <a:gd name="T13" fmla="*/ 0 h 31"/>
                  <a:gd name="T14" fmla="*/ 1 w 33"/>
                  <a:gd name="T15" fmla="*/ 1 h 31"/>
                  <a:gd name="T16" fmla="*/ 1 w 33"/>
                  <a:gd name="T17" fmla="*/ 1 h 31"/>
                  <a:gd name="T18" fmla="*/ 1 w 33"/>
                  <a:gd name="T19" fmla="*/ 1 h 31"/>
                  <a:gd name="T20" fmla="*/ 1 w 33"/>
                  <a:gd name="T21" fmla="*/ 1 h 31"/>
                  <a:gd name="T22" fmla="*/ 0 w 33"/>
                  <a:gd name="T23" fmla="*/ 1 h 31"/>
                  <a:gd name="T24" fmla="*/ 1 w 33"/>
                  <a:gd name="T25" fmla="*/ 1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1"/>
                  <a:gd name="T41" fmla="*/ 33 w 33"/>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1">
                    <a:moveTo>
                      <a:pt x="19" y="28"/>
                    </a:moveTo>
                    <a:lnTo>
                      <a:pt x="17" y="31"/>
                    </a:lnTo>
                    <a:lnTo>
                      <a:pt x="20" y="28"/>
                    </a:lnTo>
                    <a:lnTo>
                      <a:pt x="25" y="25"/>
                    </a:lnTo>
                    <a:lnTo>
                      <a:pt x="30" y="23"/>
                    </a:lnTo>
                    <a:lnTo>
                      <a:pt x="33" y="21"/>
                    </a:lnTo>
                    <a:lnTo>
                      <a:pt x="33" y="0"/>
                    </a:lnTo>
                    <a:lnTo>
                      <a:pt x="23" y="1"/>
                    </a:lnTo>
                    <a:lnTo>
                      <a:pt x="15" y="6"/>
                    </a:lnTo>
                    <a:lnTo>
                      <a:pt x="8" y="9"/>
                    </a:lnTo>
                    <a:lnTo>
                      <a:pt x="1" y="15"/>
                    </a:lnTo>
                    <a:lnTo>
                      <a:pt x="0" y="18"/>
                    </a:lnTo>
                    <a:lnTo>
                      <a:pt x="19" y="28"/>
                    </a:lnTo>
                    <a:close/>
                  </a:path>
                </a:pathLst>
              </a:custGeom>
              <a:solidFill>
                <a:srgbClr val="000000"/>
              </a:solidFill>
              <a:ln w="9525">
                <a:noFill/>
                <a:round/>
                <a:headEnd/>
                <a:tailEnd/>
              </a:ln>
            </p:spPr>
            <p:txBody>
              <a:bodyPr/>
              <a:lstStyle/>
              <a:p>
                <a:endParaRPr lang="en-US"/>
              </a:p>
            </p:txBody>
          </p:sp>
          <p:sp>
            <p:nvSpPr>
              <p:cNvPr id="23739" name="Freeform 152"/>
              <p:cNvSpPr>
                <a:spLocks/>
              </p:cNvSpPr>
              <p:nvPr/>
            </p:nvSpPr>
            <p:spPr bwMode="auto">
              <a:xfrm>
                <a:off x="2232" y="3565"/>
                <a:ext cx="26" cy="23"/>
              </a:xfrm>
              <a:custGeom>
                <a:avLst/>
                <a:gdLst>
                  <a:gd name="T0" fmla="*/ 1 w 52"/>
                  <a:gd name="T1" fmla="*/ 0 h 47"/>
                  <a:gd name="T2" fmla="*/ 1 w 52"/>
                  <a:gd name="T3" fmla="*/ 0 h 47"/>
                  <a:gd name="T4" fmla="*/ 1 w 52"/>
                  <a:gd name="T5" fmla="*/ 0 h 47"/>
                  <a:gd name="T6" fmla="*/ 1 w 52"/>
                  <a:gd name="T7" fmla="*/ 0 h 47"/>
                  <a:gd name="T8" fmla="*/ 1 w 52"/>
                  <a:gd name="T9" fmla="*/ 0 h 47"/>
                  <a:gd name="T10" fmla="*/ 1 w 52"/>
                  <a:gd name="T11" fmla="*/ 0 h 47"/>
                  <a:gd name="T12" fmla="*/ 1 w 52"/>
                  <a:gd name="T13" fmla="*/ 0 h 47"/>
                  <a:gd name="T14" fmla="*/ 1 w 52"/>
                  <a:gd name="T15" fmla="*/ 0 h 47"/>
                  <a:gd name="T16" fmla="*/ 1 w 52"/>
                  <a:gd name="T17" fmla="*/ 0 h 47"/>
                  <a:gd name="T18" fmla="*/ 1 w 52"/>
                  <a:gd name="T19" fmla="*/ 0 h 47"/>
                  <a:gd name="T20" fmla="*/ 0 w 52"/>
                  <a:gd name="T21" fmla="*/ 0 h 47"/>
                  <a:gd name="T22" fmla="*/ 0 w 52"/>
                  <a:gd name="T23" fmla="*/ 0 h 47"/>
                  <a:gd name="T24" fmla="*/ 1 w 52"/>
                  <a:gd name="T25" fmla="*/ 0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47"/>
                  <a:gd name="T41" fmla="*/ 52 w 52"/>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47">
                    <a:moveTo>
                      <a:pt x="9" y="47"/>
                    </a:moveTo>
                    <a:lnTo>
                      <a:pt x="9" y="47"/>
                    </a:lnTo>
                    <a:lnTo>
                      <a:pt x="27" y="38"/>
                    </a:lnTo>
                    <a:lnTo>
                      <a:pt x="39" y="27"/>
                    </a:lnTo>
                    <a:lnTo>
                      <a:pt x="48" y="18"/>
                    </a:lnTo>
                    <a:lnTo>
                      <a:pt x="52" y="10"/>
                    </a:lnTo>
                    <a:lnTo>
                      <a:pt x="33" y="0"/>
                    </a:lnTo>
                    <a:lnTo>
                      <a:pt x="30" y="5"/>
                    </a:lnTo>
                    <a:lnTo>
                      <a:pt x="23" y="11"/>
                    </a:lnTo>
                    <a:lnTo>
                      <a:pt x="14" y="19"/>
                    </a:lnTo>
                    <a:lnTo>
                      <a:pt x="0" y="29"/>
                    </a:lnTo>
                    <a:lnTo>
                      <a:pt x="9" y="47"/>
                    </a:lnTo>
                    <a:close/>
                  </a:path>
                </a:pathLst>
              </a:custGeom>
              <a:solidFill>
                <a:srgbClr val="000000"/>
              </a:solidFill>
              <a:ln w="9525">
                <a:noFill/>
                <a:round/>
                <a:headEnd/>
                <a:tailEnd/>
              </a:ln>
            </p:spPr>
            <p:txBody>
              <a:bodyPr/>
              <a:lstStyle/>
              <a:p>
                <a:endParaRPr lang="en-US"/>
              </a:p>
            </p:txBody>
          </p:sp>
          <p:sp>
            <p:nvSpPr>
              <p:cNvPr id="23740" name="Freeform 153"/>
              <p:cNvSpPr>
                <a:spLocks/>
              </p:cNvSpPr>
              <p:nvPr/>
            </p:nvSpPr>
            <p:spPr bwMode="auto">
              <a:xfrm>
                <a:off x="2196" y="3579"/>
                <a:ext cx="41" cy="22"/>
              </a:xfrm>
              <a:custGeom>
                <a:avLst/>
                <a:gdLst>
                  <a:gd name="T0" fmla="*/ 1 w 81"/>
                  <a:gd name="T1" fmla="*/ 1 h 43"/>
                  <a:gd name="T2" fmla="*/ 1 w 81"/>
                  <a:gd name="T3" fmla="*/ 1 h 43"/>
                  <a:gd name="T4" fmla="*/ 1 w 81"/>
                  <a:gd name="T5" fmla="*/ 1 h 43"/>
                  <a:gd name="T6" fmla="*/ 1 w 81"/>
                  <a:gd name="T7" fmla="*/ 1 h 43"/>
                  <a:gd name="T8" fmla="*/ 1 w 81"/>
                  <a:gd name="T9" fmla="*/ 1 h 43"/>
                  <a:gd name="T10" fmla="*/ 1 w 81"/>
                  <a:gd name="T11" fmla="*/ 1 h 43"/>
                  <a:gd name="T12" fmla="*/ 1 w 81"/>
                  <a:gd name="T13" fmla="*/ 1 h 43"/>
                  <a:gd name="T14" fmla="*/ 1 w 81"/>
                  <a:gd name="T15" fmla="*/ 1 h 43"/>
                  <a:gd name="T16" fmla="*/ 1 w 81"/>
                  <a:gd name="T17" fmla="*/ 1 h 43"/>
                  <a:gd name="T18" fmla="*/ 1 w 81"/>
                  <a:gd name="T19" fmla="*/ 1 h 43"/>
                  <a:gd name="T20" fmla="*/ 1 w 81"/>
                  <a:gd name="T21" fmla="*/ 0 h 43"/>
                  <a:gd name="T22" fmla="*/ 1 w 81"/>
                  <a:gd name="T23" fmla="*/ 1 h 43"/>
                  <a:gd name="T24" fmla="*/ 1 w 81"/>
                  <a:gd name="T25" fmla="*/ 1 h 43"/>
                  <a:gd name="T26" fmla="*/ 1 w 81"/>
                  <a:gd name="T27" fmla="*/ 1 h 43"/>
                  <a:gd name="T28" fmla="*/ 1 w 81"/>
                  <a:gd name="T29" fmla="*/ 1 h 43"/>
                  <a:gd name="T30" fmla="*/ 1 w 81"/>
                  <a:gd name="T31" fmla="*/ 1 h 43"/>
                  <a:gd name="T32" fmla="*/ 1 w 81"/>
                  <a:gd name="T33" fmla="*/ 1 h 43"/>
                  <a:gd name="T34" fmla="*/ 1 w 81"/>
                  <a:gd name="T35" fmla="*/ 1 h 43"/>
                  <a:gd name="T36" fmla="*/ 0 w 81"/>
                  <a:gd name="T37" fmla="*/ 1 h 43"/>
                  <a:gd name="T38" fmla="*/ 0 w 81"/>
                  <a:gd name="T39" fmla="*/ 1 h 43"/>
                  <a:gd name="T40" fmla="*/ 1 w 81"/>
                  <a:gd name="T41" fmla="*/ 1 h 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43"/>
                  <a:gd name="T65" fmla="*/ 81 w 81"/>
                  <a:gd name="T66" fmla="*/ 43 h 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43">
                    <a:moveTo>
                      <a:pt x="3" y="43"/>
                    </a:moveTo>
                    <a:lnTo>
                      <a:pt x="3" y="43"/>
                    </a:lnTo>
                    <a:lnTo>
                      <a:pt x="9" y="42"/>
                    </a:lnTo>
                    <a:lnTo>
                      <a:pt x="17" y="40"/>
                    </a:lnTo>
                    <a:lnTo>
                      <a:pt x="27" y="37"/>
                    </a:lnTo>
                    <a:lnTo>
                      <a:pt x="38" y="34"/>
                    </a:lnTo>
                    <a:lnTo>
                      <a:pt x="48" y="31"/>
                    </a:lnTo>
                    <a:lnTo>
                      <a:pt x="59" y="28"/>
                    </a:lnTo>
                    <a:lnTo>
                      <a:pt x="70" y="23"/>
                    </a:lnTo>
                    <a:lnTo>
                      <a:pt x="81" y="18"/>
                    </a:lnTo>
                    <a:lnTo>
                      <a:pt x="72" y="0"/>
                    </a:lnTo>
                    <a:lnTo>
                      <a:pt x="64" y="1"/>
                    </a:lnTo>
                    <a:lnTo>
                      <a:pt x="53" y="6"/>
                    </a:lnTo>
                    <a:lnTo>
                      <a:pt x="42" y="9"/>
                    </a:lnTo>
                    <a:lnTo>
                      <a:pt x="31" y="12"/>
                    </a:lnTo>
                    <a:lnTo>
                      <a:pt x="20" y="15"/>
                    </a:lnTo>
                    <a:lnTo>
                      <a:pt x="11" y="18"/>
                    </a:lnTo>
                    <a:lnTo>
                      <a:pt x="3" y="20"/>
                    </a:lnTo>
                    <a:lnTo>
                      <a:pt x="0" y="21"/>
                    </a:lnTo>
                    <a:lnTo>
                      <a:pt x="3" y="43"/>
                    </a:lnTo>
                    <a:close/>
                  </a:path>
                </a:pathLst>
              </a:custGeom>
              <a:solidFill>
                <a:srgbClr val="000000"/>
              </a:solidFill>
              <a:ln w="9525">
                <a:noFill/>
                <a:round/>
                <a:headEnd/>
                <a:tailEnd/>
              </a:ln>
            </p:spPr>
            <p:txBody>
              <a:bodyPr/>
              <a:lstStyle/>
              <a:p>
                <a:endParaRPr lang="en-US"/>
              </a:p>
            </p:txBody>
          </p:sp>
          <p:sp>
            <p:nvSpPr>
              <p:cNvPr id="23741" name="Freeform 154"/>
              <p:cNvSpPr>
                <a:spLocks/>
              </p:cNvSpPr>
              <p:nvPr/>
            </p:nvSpPr>
            <p:spPr bwMode="auto">
              <a:xfrm>
                <a:off x="2184" y="3590"/>
                <a:ext cx="14" cy="15"/>
              </a:xfrm>
              <a:custGeom>
                <a:avLst/>
                <a:gdLst>
                  <a:gd name="T0" fmla="*/ 1 w 27"/>
                  <a:gd name="T1" fmla="*/ 1 h 30"/>
                  <a:gd name="T2" fmla="*/ 1 w 27"/>
                  <a:gd name="T3" fmla="*/ 1 h 30"/>
                  <a:gd name="T4" fmla="*/ 1 w 27"/>
                  <a:gd name="T5" fmla="*/ 1 h 30"/>
                  <a:gd name="T6" fmla="*/ 1 w 27"/>
                  <a:gd name="T7" fmla="*/ 1 h 30"/>
                  <a:gd name="T8" fmla="*/ 1 w 27"/>
                  <a:gd name="T9" fmla="*/ 1 h 30"/>
                  <a:gd name="T10" fmla="*/ 1 w 27"/>
                  <a:gd name="T11" fmla="*/ 1 h 30"/>
                  <a:gd name="T12" fmla="*/ 1 w 27"/>
                  <a:gd name="T13" fmla="*/ 0 h 30"/>
                  <a:gd name="T14" fmla="*/ 1 w 27"/>
                  <a:gd name="T15" fmla="*/ 1 h 30"/>
                  <a:gd name="T16" fmla="*/ 1 w 27"/>
                  <a:gd name="T17" fmla="*/ 1 h 30"/>
                  <a:gd name="T18" fmla="*/ 1 w 27"/>
                  <a:gd name="T19" fmla="*/ 1 h 30"/>
                  <a:gd name="T20" fmla="*/ 0 w 27"/>
                  <a:gd name="T21" fmla="*/ 1 h 30"/>
                  <a:gd name="T22" fmla="*/ 1 w 27"/>
                  <a:gd name="T23" fmla="*/ 1 h 30"/>
                  <a:gd name="T24" fmla="*/ 1 w 27"/>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30"/>
                  <a:gd name="T41" fmla="*/ 27 w 27"/>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30">
                    <a:moveTo>
                      <a:pt x="15" y="30"/>
                    </a:moveTo>
                    <a:lnTo>
                      <a:pt x="16" y="29"/>
                    </a:lnTo>
                    <a:lnTo>
                      <a:pt x="18" y="27"/>
                    </a:lnTo>
                    <a:lnTo>
                      <a:pt x="21" y="25"/>
                    </a:lnTo>
                    <a:lnTo>
                      <a:pt x="24" y="22"/>
                    </a:lnTo>
                    <a:lnTo>
                      <a:pt x="27" y="22"/>
                    </a:lnTo>
                    <a:lnTo>
                      <a:pt x="24" y="0"/>
                    </a:lnTo>
                    <a:lnTo>
                      <a:pt x="15" y="4"/>
                    </a:lnTo>
                    <a:lnTo>
                      <a:pt x="8" y="7"/>
                    </a:lnTo>
                    <a:lnTo>
                      <a:pt x="5" y="8"/>
                    </a:lnTo>
                    <a:lnTo>
                      <a:pt x="0" y="13"/>
                    </a:lnTo>
                    <a:lnTo>
                      <a:pt x="2" y="11"/>
                    </a:lnTo>
                    <a:lnTo>
                      <a:pt x="15" y="30"/>
                    </a:lnTo>
                    <a:close/>
                  </a:path>
                </a:pathLst>
              </a:custGeom>
              <a:solidFill>
                <a:srgbClr val="000000"/>
              </a:solidFill>
              <a:ln w="9525">
                <a:noFill/>
                <a:round/>
                <a:headEnd/>
                <a:tailEnd/>
              </a:ln>
            </p:spPr>
            <p:txBody>
              <a:bodyPr/>
              <a:lstStyle/>
              <a:p>
                <a:endParaRPr lang="en-US"/>
              </a:p>
            </p:txBody>
          </p:sp>
          <p:sp>
            <p:nvSpPr>
              <p:cNvPr id="23742" name="Freeform 155"/>
              <p:cNvSpPr>
                <a:spLocks/>
              </p:cNvSpPr>
              <p:nvPr/>
            </p:nvSpPr>
            <p:spPr bwMode="auto">
              <a:xfrm>
                <a:off x="2162" y="3595"/>
                <a:ext cx="29" cy="84"/>
              </a:xfrm>
              <a:custGeom>
                <a:avLst/>
                <a:gdLst>
                  <a:gd name="T0" fmla="*/ 1 w 58"/>
                  <a:gd name="T1" fmla="*/ 1 h 168"/>
                  <a:gd name="T2" fmla="*/ 1 w 58"/>
                  <a:gd name="T3" fmla="*/ 1 h 168"/>
                  <a:gd name="T4" fmla="*/ 1 w 58"/>
                  <a:gd name="T5" fmla="*/ 1 h 168"/>
                  <a:gd name="T6" fmla="*/ 1 w 58"/>
                  <a:gd name="T7" fmla="*/ 1 h 168"/>
                  <a:gd name="T8" fmla="*/ 1 w 58"/>
                  <a:gd name="T9" fmla="*/ 1 h 168"/>
                  <a:gd name="T10" fmla="*/ 1 w 58"/>
                  <a:gd name="T11" fmla="*/ 1 h 168"/>
                  <a:gd name="T12" fmla="*/ 1 w 58"/>
                  <a:gd name="T13" fmla="*/ 1 h 168"/>
                  <a:gd name="T14" fmla="*/ 1 w 58"/>
                  <a:gd name="T15" fmla="*/ 1 h 168"/>
                  <a:gd name="T16" fmla="*/ 1 w 58"/>
                  <a:gd name="T17" fmla="*/ 1 h 168"/>
                  <a:gd name="T18" fmla="*/ 1 w 58"/>
                  <a:gd name="T19" fmla="*/ 1 h 168"/>
                  <a:gd name="T20" fmla="*/ 1 w 58"/>
                  <a:gd name="T21" fmla="*/ 0 h 168"/>
                  <a:gd name="T22" fmla="*/ 1 w 58"/>
                  <a:gd name="T23" fmla="*/ 1 h 168"/>
                  <a:gd name="T24" fmla="*/ 1 w 58"/>
                  <a:gd name="T25" fmla="*/ 1 h 168"/>
                  <a:gd name="T26" fmla="*/ 1 w 58"/>
                  <a:gd name="T27" fmla="*/ 1 h 168"/>
                  <a:gd name="T28" fmla="*/ 1 w 58"/>
                  <a:gd name="T29" fmla="*/ 1 h 168"/>
                  <a:gd name="T30" fmla="*/ 1 w 58"/>
                  <a:gd name="T31" fmla="*/ 1 h 168"/>
                  <a:gd name="T32" fmla="*/ 1 w 58"/>
                  <a:gd name="T33" fmla="*/ 1 h 168"/>
                  <a:gd name="T34" fmla="*/ 0 w 58"/>
                  <a:gd name="T35" fmla="*/ 1 h 168"/>
                  <a:gd name="T36" fmla="*/ 0 w 58"/>
                  <a:gd name="T37" fmla="*/ 1 h 168"/>
                  <a:gd name="T38" fmla="*/ 0 w 58"/>
                  <a:gd name="T39" fmla="*/ 1 h 168"/>
                  <a:gd name="T40" fmla="*/ 1 w 58"/>
                  <a:gd name="T41" fmla="*/ 1 h 1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168"/>
                  <a:gd name="T65" fmla="*/ 58 w 58"/>
                  <a:gd name="T66" fmla="*/ 168 h 1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168">
                    <a:moveTo>
                      <a:pt x="22" y="165"/>
                    </a:moveTo>
                    <a:lnTo>
                      <a:pt x="22" y="165"/>
                    </a:lnTo>
                    <a:lnTo>
                      <a:pt x="22" y="149"/>
                    </a:lnTo>
                    <a:lnTo>
                      <a:pt x="25" y="127"/>
                    </a:lnTo>
                    <a:lnTo>
                      <a:pt x="29" y="102"/>
                    </a:lnTo>
                    <a:lnTo>
                      <a:pt x="36" y="79"/>
                    </a:lnTo>
                    <a:lnTo>
                      <a:pt x="43" y="55"/>
                    </a:lnTo>
                    <a:lnTo>
                      <a:pt x="48" y="36"/>
                    </a:lnTo>
                    <a:lnTo>
                      <a:pt x="56" y="22"/>
                    </a:lnTo>
                    <a:lnTo>
                      <a:pt x="58" y="19"/>
                    </a:lnTo>
                    <a:lnTo>
                      <a:pt x="45" y="0"/>
                    </a:lnTo>
                    <a:lnTo>
                      <a:pt x="37" y="13"/>
                    </a:lnTo>
                    <a:lnTo>
                      <a:pt x="29" y="27"/>
                    </a:lnTo>
                    <a:lnTo>
                      <a:pt x="22" y="49"/>
                    </a:lnTo>
                    <a:lnTo>
                      <a:pt x="14" y="72"/>
                    </a:lnTo>
                    <a:lnTo>
                      <a:pt x="7" y="99"/>
                    </a:lnTo>
                    <a:lnTo>
                      <a:pt x="3" y="124"/>
                    </a:lnTo>
                    <a:lnTo>
                      <a:pt x="0" y="146"/>
                    </a:lnTo>
                    <a:lnTo>
                      <a:pt x="0" y="168"/>
                    </a:lnTo>
                    <a:lnTo>
                      <a:pt x="22" y="165"/>
                    </a:lnTo>
                    <a:close/>
                  </a:path>
                </a:pathLst>
              </a:custGeom>
              <a:solidFill>
                <a:srgbClr val="000000"/>
              </a:solidFill>
              <a:ln w="9525">
                <a:noFill/>
                <a:round/>
                <a:headEnd/>
                <a:tailEnd/>
              </a:ln>
            </p:spPr>
            <p:txBody>
              <a:bodyPr/>
              <a:lstStyle/>
              <a:p>
                <a:endParaRPr lang="en-US"/>
              </a:p>
            </p:txBody>
          </p:sp>
          <p:sp>
            <p:nvSpPr>
              <p:cNvPr id="23743" name="Freeform 156"/>
              <p:cNvSpPr>
                <a:spLocks/>
              </p:cNvSpPr>
              <p:nvPr/>
            </p:nvSpPr>
            <p:spPr bwMode="auto">
              <a:xfrm>
                <a:off x="2162" y="3677"/>
                <a:ext cx="24" cy="80"/>
              </a:xfrm>
              <a:custGeom>
                <a:avLst/>
                <a:gdLst>
                  <a:gd name="T0" fmla="*/ 1 w 47"/>
                  <a:gd name="T1" fmla="*/ 1 h 159"/>
                  <a:gd name="T2" fmla="*/ 1 w 47"/>
                  <a:gd name="T3" fmla="*/ 1 h 159"/>
                  <a:gd name="T4" fmla="*/ 1 w 47"/>
                  <a:gd name="T5" fmla="*/ 1 h 159"/>
                  <a:gd name="T6" fmla="*/ 1 w 47"/>
                  <a:gd name="T7" fmla="*/ 1 h 159"/>
                  <a:gd name="T8" fmla="*/ 1 w 47"/>
                  <a:gd name="T9" fmla="*/ 1 h 159"/>
                  <a:gd name="T10" fmla="*/ 1 w 47"/>
                  <a:gd name="T11" fmla="*/ 1 h 159"/>
                  <a:gd name="T12" fmla="*/ 1 w 47"/>
                  <a:gd name="T13" fmla="*/ 1 h 159"/>
                  <a:gd name="T14" fmla="*/ 1 w 47"/>
                  <a:gd name="T15" fmla="*/ 1 h 159"/>
                  <a:gd name="T16" fmla="*/ 1 w 47"/>
                  <a:gd name="T17" fmla="*/ 1 h 159"/>
                  <a:gd name="T18" fmla="*/ 1 w 47"/>
                  <a:gd name="T19" fmla="*/ 0 h 159"/>
                  <a:gd name="T20" fmla="*/ 0 w 47"/>
                  <a:gd name="T21" fmla="*/ 1 h 159"/>
                  <a:gd name="T22" fmla="*/ 1 w 47"/>
                  <a:gd name="T23" fmla="*/ 1 h 159"/>
                  <a:gd name="T24" fmla="*/ 1 w 47"/>
                  <a:gd name="T25" fmla="*/ 1 h 159"/>
                  <a:gd name="T26" fmla="*/ 1 w 47"/>
                  <a:gd name="T27" fmla="*/ 1 h 159"/>
                  <a:gd name="T28" fmla="*/ 1 w 47"/>
                  <a:gd name="T29" fmla="*/ 1 h 159"/>
                  <a:gd name="T30" fmla="*/ 1 w 47"/>
                  <a:gd name="T31" fmla="*/ 1 h 159"/>
                  <a:gd name="T32" fmla="*/ 1 w 47"/>
                  <a:gd name="T33" fmla="*/ 1 h 159"/>
                  <a:gd name="T34" fmla="*/ 1 w 47"/>
                  <a:gd name="T35" fmla="*/ 1 h 159"/>
                  <a:gd name="T36" fmla="*/ 1 w 47"/>
                  <a:gd name="T37" fmla="*/ 1 h 159"/>
                  <a:gd name="T38" fmla="*/ 1 w 47"/>
                  <a:gd name="T39" fmla="*/ 1 h 159"/>
                  <a:gd name="T40" fmla="*/ 1 w 47"/>
                  <a:gd name="T41" fmla="*/ 1 h 1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159"/>
                  <a:gd name="T65" fmla="*/ 47 w 47"/>
                  <a:gd name="T66" fmla="*/ 159 h 15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159">
                    <a:moveTo>
                      <a:pt x="47" y="139"/>
                    </a:moveTo>
                    <a:lnTo>
                      <a:pt x="45" y="137"/>
                    </a:lnTo>
                    <a:lnTo>
                      <a:pt x="47" y="136"/>
                    </a:lnTo>
                    <a:lnTo>
                      <a:pt x="42" y="126"/>
                    </a:lnTo>
                    <a:lnTo>
                      <a:pt x="37" y="108"/>
                    </a:lnTo>
                    <a:lnTo>
                      <a:pt x="32" y="87"/>
                    </a:lnTo>
                    <a:lnTo>
                      <a:pt x="29" y="62"/>
                    </a:lnTo>
                    <a:lnTo>
                      <a:pt x="26" y="39"/>
                    </a:lnTo>
                    <a:lnTo>
                      <a:pt x="23" y="17"/>
                    </a:lnTo>
                    <a:lnTo>
                      <a:pt x="22" y="0"/>
                    </a:lnTo>
                    <a:lnTo>
                      <a:pt x="0" y="3"/>
                    </a:lnTo>
                    <a:lnTo>
                      <a:pt x="1" y="20"/>
                    </a:lnTo>
                    <a:lnTo>
                      <a:pt x="4" y="42"/>
                    </a:lnTo>
                    <a:lnTo>
                      <a:pt x="7" y="65"/>
                    </a:lnTo>
                    <a:lnTo>
                      <a:pt x="11" y="90"/>
                    </a:lnTo>
                    <a:lnTo>
                      <a:pt x="15" y="114"/>
                    </a:lnTo>
                    <a:lnTo>
                      <a:pt x="20" y="133"/>
                    </a:lnTo>
                    <a:lnTo>
                      <a:pt x="28" y="148"/>
                    </a:lnTo>
                    <a:lnTo>
                      <a:pt x="39" y="159"/>
                    </a:lnTo>
                    <a:lnTo>
                      <a:pt x="37" y="158"/>
                    </a:lnTo>
                    <a:lnTo>
                      <a:pt x="47" y="139"/>
                    </a:lnTo>
                    <a:close/>
                  </a:path>
                </a:pathLst>
              </a:custGeom>
              <a:solidFill>
                <a:srgbClr val="000000"/>
              </a:solidFill>
              <a:ln w="9525">
                <a:noFill/>
                <a:round/>
                <a:headEnd/>
                <a:tailEnd/>
              </a:ln>
            </p:spPr>
            <p:txBody>
              <a:bodyPr/>
              <a:lstStyle/>
              <a:p>
                <a:endParaRPr lang="en-US"/>
              </a:p>
            </p:txBody>
          </p:sp>
          <p:sp>
            <p:nvSpPr>
              <p:cNvPr id="23744" name="Freeform 157"/>
              <p:cNvSpPr>
                <a:spLocks/>
              </p:cNvSpPr>
              <p:nvPr/>
            </p:nvSpPr>
            <p:spPr bwMode="auto">
              <a:xfrm>
                <a:off x="2181" y="3736"/>
                <a:ext cx="47" cy="21"/>
              </a:xfrm>
              <a:custGeom>
                <a:avLst/>
                <a:gdLst>
                  <a:gd name="T0" fmla="*/ 1 w 94"/>
                  <a:gd name="T1" fmla="*/ 0 h 42"/>
                  <a:gd name="T2" fmla="*/ 1 w 94"/>
                  <a:gd name="T3" fmla="*/ 0 h 42"/>
                  <a:gd name="T4" fmla="*/ 1 w 94"/>
                  <a:gd name="T5" fmla="*/ 1 h 42"/>
                  <a:gd name="T6" fmla="*/ 1 w 94"/>
                  <a:gd name="T7" fmla="*/ 1 h 42"/>
                  <a:gd name="T8" fmla="*/ 1 w 94"/>
                  <a:gd name="T9" fmla="*/ 1 h 42"/>
                  <a:gd name="T10" fmla="*/ 1 w 94"/>
                  <a:gd name="T11" fmla="*/ 1 h 42"/>
                  <a:gd name="T12" fmla="*/ 1 w 94"/>
                  <a:gd name="T13" fmla="*/ 1 h 42"/>
                  <a:gd name="T14" fmla="*/ 1 w 94"/>
                  <a:gd name="T15" fmla="*/ 1 h 42"/>
                  <a:gd name="T16" fmla="*/ 1 w 94"/>
                  <a:gd name="T17" fmla="*/ 1 h 42"/>
                  <a:gd name="T18" fmla="*/ 1 w 94"/>
                  <a:gd name="T19" fmla="*/ 1 h 42"/>
                  <a:gd name="T20" fmla="*/ 0 w 94"/>
                  <a:gd name="T21" fmla="*/ 1 h 42"/>
                  <a:gd name="T22" fmla="*/ 1 w 94"/>
                  <a:gd name="T23" fmla="*/ 1 h 42"/>
                  <a:gd name="T24" fmla="*/ 1 w 94"/>
                  <a:gd name="T25" fmla="*/ 1 h 42"/>
                  <a:gd name="T26" fmla="*/ 1 w 94"/>
                  <a:gd name="T27" fmla="*/ 1 h 42"/>
                  <a:gd name="T28" fmla="*/ 1 w 94"/>
                  <a:gd name="T29" fmla="*/ 1 h 42"/>
                  <a:gd name="T30" fmla="*/ 1 w 94"/>
                  <a:gd name="T31" fmla="*/ 1 h 42"/>
                  <a:gd name="T32" fmla="*/ 1 w 94"/>
                  <a:gd name="T33" fmla="*/ 1 h 42"/>
                  <a:gd name="T34" fmla="*/ 1 w 94"/>
                  <a:gd name="T35" fmla="*/ 1 h 42"/>
                  <a:gd name="T36" fmla="*/ 1 w 94"/>
                  <a:gd name="T37" fmla="*/ 1 h 42"/>
                  <a:gd name="T38" fmla="*/ 1 w 94"/>
                  <a:gd name="T39" fmla="*/ 1 h 42"/>
                  <a:gd name="T40" fmla="*/ 1 w 94"/>
                  <a:gd name="T41" fmla="*/ 0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42"/>
                  <a:gd name="T65" fmla="*/ 94 w 94"/>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42">
                    <a:moveTo>
                      <a:pt x="83" y="0"/>
                    </a:moveTo>
                    <a:lnTo>
                      <a:pt x="82" y="0"/>
                    </a:lnTo>
                    <a:lnTo>
                      <a:pt x="77" y="3"/>
                    </a:lnTo>
                    <a:lnTo>
                      <a:pt x="69" y="6"/>
                    </a:lnTo>
                    <a:lnTo>
                      <a:pt x="57" y="9"/>
                    </a:lnTo>
                    <a:lnTo>
                      <a:pt x="42" y="14"/>
                    </a:lnTo>
                    <a:lnTo>
                      <a:pt x="30" y="17"/>
                    </a:lnTo>
                    <a:lnTo>
                      <a:pt x="19" y="20"/>
                    </a:lnTo>
                    <a:lnTo>
                      <a:pt x="11" y="20"/>
                    </a:lnTo>
                    <a:lnTo>
                      <a:pt x="10" y="22"/>
                    </a:lnTo>
                    <a:lnTo>
                      <a:pt x="0" y="41"/>
                    </a:lnTo>
                    <a:lnTo>
                      <a:pt x="11" y="42"/>
                    </a:lnTo>
                    <a:lnTo>
                      <a:pt x="22" y="42"/>
                    </a:lnTo>
                    <a:lnTo>
                      <a:pt x="36" y="39"/>
                    </a:lnTo>
                    <a:lnTo>
                      <a:pt x="49" y="36"/>
                    </a:lnTo>
                    <a:lnTo>
                      <a:pt x="63" y="31"/>
                    </a:lnTo>
                    <a:lnTo>
                      <a:pt x="75" y="28"/>
                    </a:lnTo>
                    <a:lnTo>
                      <a:pt x="86" y="22"/>
                    </a:lnTo>
                    <a:lnTo>
                      <a:pt x="94" y="19"/>
                    </a:lnTo>
                    <a:lnTo>
                      <a:pt x="93" y="19"/>
                    </a:lnTo>
                    <a:lnTo>
                      <a:pt x="83" y="0"/>
                    </a:lnTo>
                    <a:close/>
                  </a:path>
                </a:pathLst>
              </a:custGeom>
              <a:solidFill>
                <a:srgbClr val="000000"/>
              </a:solidFill>
              <a:ln w="9525">
                <a:noFill/>
                <a:round/>
                <a:headEnd/>
                <a:tailEnd/>
              </a:ln>
            </p:spPr>
            <p:txBody>
              <a:bodyPr/>
              <a:lstStyle/>
              <a:p>
                <a:endParaRPr lang="en-US"/>
              </a:p>
            </p:txBody>
          </p:sp>
          <p:sp>
            <p:nvSpPr>
              <p:cNvPr id="23745" name="Freeform 158"/>
              <p:cNvSpPr>
                <a:spLocks/>
              </p:cNvSpPr>
              <p:nvPr/>
            </p:nvSpPr>
            <p:spPr bwMode="auto">
              <a:xfrm>
                <a:off x="2086" y="3813"/>
                <a:ext cx="162" cy="77"/>
              </a:xfrm>
              <a:custGeom>
                <a:avLst/>
                <a:gdLst>
                  <a:gd name="T0" fmla="*/ 0 w 326"/>
                  <a:gd name="T1" fmla="*/ 0 h 155"/>
                  <a:gd name="T2" fmla="*/ 0 w 326"/>
                  <a:gd name="T3" fmla="*/ 0 h 155"/>
                  <a:gd name="T4" fmla="*/ 0 w 326"/>
                  <a:gd name="T5" fmla="*/ 0 h 155"/>
                  <a:gd name="T6" fmla="*/ 0 w 326"/>
                  <a:gd name="T7" fmla="*/ 0 h 155"/>
                  <a:gd name="T8" fmla="*/ 0 w 326"/>
                  <a:gd name="T9" fmla="*/ 0 h 155"/>
                  <a:gd name="T10" fmla="*/ 0 w 326"/>
                  <a:gd name="T11" fmla="*/ 0 h 155"/>
                  <a:gd name="T12" fmla="*/ 0 w 326"/>
                  <a:gd name="T13" fmla="*/ 0 h 155"/>
                  <a:gd name="T14" fmla="*/ 0 w 326"/>
                  <a:gd name="T15" fmla="*/ 0 h 155"/>
                  <a:gd name="T16" fmla="*/ 0 w 326"/>
                  <a:gd name="T17" fmla="*/ 0 h 155"/>
                  <a:gd name="T18" fmla="*/ 0 w 326"/>
                  <a:gd name="T19" fmla="*/ 0 h 155"/>
                  <a:gd name="T20" fmla="*/ 0 w 326"/>
                  <a:gd name="T21" fmla="*/ 0 h 155"/>
                  <a:gd name="T22" fmla="*/ 0 w 326"/>
                  <a:gd name="T23" fmla="*/ 0 h 155"/>
                  <a:gd name="T24" fmla="*/ 0 w 326"/>
                  <a:gd name="T25" fmla="*/ 0 h 155"/>
                  <a:gd name="T26" fmla="*/ 0 w 326"/>
                  <a:gd name="T27" fmla="*/ 0 h 155"/>
                  <a:gd name="T28" fmla="*/ 0 w 326"/>
                  <a:gd name="T29" fmla="*/ 0 h 15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6"/>
                  <a:gd name="T46" fmla="*/ 0 h 155"/>
                  <a:gd name="T47" fmla="*/ 326 w 326"/>
                  <a:gd name="T48" fmla="*/ 155 h 15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6" h="155">
                    <a:moveTo>
                      <a:pt x="144" y="32"/>
                    </a:moveTo>
                    <a:lnTo>
                      <a:pt x="0" y="0"/>
                    </a:lnTo>
                    <a:lnTo>
                      <a:pt x="0" y="21"/>
                    </a:lnTo>
                    <a:lnTo>
                      <a:pt x="118" y="61"/>
                    </a:lnTo>
                    <a:lnTo>
                      <a:pt x="49" y="155"/>
                    </a:lnTo>
                    <a:lnTo>
                      <a:pt x="71" y="155"/>
                    </a:lnTo>
                    <a:lnTo>
                      <a:pt x="160" y="75"/>
                    </a:lnTo>
                    <a:lnTo>
                      <a:pt x="165" y="75"/>
                    </a:lnTo>
                    <a:lnTo>
                      <a:pt x="254" y="155"/>
                    </a:lnTo>
                    <a:lnTo>
                      <a:pt x="276" y="155"/>
                    </a:lnTo>
                    <a:lnTo>
                      <a:pt x="208" y="61"/>
                    </a:lnTo>
                    <a:lnTo>
                      <a:pt x="326" y="21"/>
                    </a:lnTo>
                    <a:lnTo>
                      <a:pt x="326" y="0"/>
                    </a:lnTo>
                    <a:lnTo>
                      <a:pt x="180" y="32"/>
                    </a:lnTo>
                    <a:lnTo>
                      <a:pt x="144" y="32"/>
                    </a:lnTo>
                    <a:close/>
                  </a:path>
                </a:pathLst>
              </a:custGeom>
              <a:solidFill>
                <a:srgbClr val="FF7226"/>
              </a:solidFill>
              <a:ln w="9525">
                <a:noFill/>
                <a:round/>
                <a:headEnd/>
                <a:tailEnd/>
              </a:ln>
            </p:spPr>
            <p:txBody>
              <a:bodyPr/>
              <a:lstStyle/>
              <a:p>
                <a:endParaRPr lang="en-US"/>
              </a:p>
            </p:txBody>
          </p:sp>
          <p:sp>
            <p:nvSpPr>
              <p:cNvPr id="23746" name="Freeform 159"/>
              <p:cNvSpPr>
                <a:spLocks/>
              </p:cNvSpPr>
              <p:nvPr/>
            </p:nvSpPr>
            <p:spPr bwMode="auto">
              <a:xfrm>
                <a:off x="2080" y="3807"/>
                <a:ext cx="78" cy="27"/>
              </a:xfrm>
              <a:custGeom>
                <a:avLst/>
                <a:gdLst>
                  <a:gd name="T0" fmla="*/ 0 w 157"/>
                  <a:gd name="T1" fmla="*/ 1 h 54"/>
                  <a:gd name="T2" fmla="*/ 0 w 157"/>
                  <a:gd name="T3" fmla="*/ 1 h 54"/>
                  <a:gd name="T4" fmla="*/ 0 w 157"/>
                  <a:gd name="T5" fmla="*/ 1 h 54"/>
                  <a:gd name="T6" fmla="*/ 0 w 157"/>
                  <a:gd name="T7" fmla="*/ 1 h 54"/>
                  <a:gd name="T8" fmla="*/ 0 w 157"/>
                  <a:gd name="T9" fmla="*/ 0 h 54"/>
                  <a:gd name="T10" fmla="*/ 0 w 157"/>
                  <a:gd name="T11" fmla="*/ 1 h 54"/>
                  <a:gd name="T12" fmla="*/ 0 w 157"/>
                  <a:gd name="T13" fmla="*/ 0 h 54"/>
                  <a:gd name="T14" fmla="*/ 0 w 157"/>
                  <a:gd name="T15" fmla="*/ 1 h 54"/>
                  <a:gd name="T16" fmla="*/ 0 w 157"/>
                  <a:gd name="T17" fmla="*/ 1 h 54"/>
                  <a:gd name="T18" fmla="*/ 0 w 157"/>
                  <a:gd name="T19" fmla="*/ 1 h 54"/>
                  <a:gd name="T20" fmla="*/ 0 w 157"/>
                  <a:gd name="T21" fmla="*/ 1 h 54"/>
                  <a:gd name="T22" fmla="*/ 0 w 157"/>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7"/>
                  <a:gd name="T37" fmla="*/ 0 h 54"/>
                  <a:gd name="T38" fmla="*/ 157 w 157"/>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7" h="54">
                    <a:moveTo>
                      <a:pt x="22" y="11"/>
                    </a:moveTo>
                    <a:lnTo>
                      <a:pt x="10" y="22"/>
                    </a:lnTo>
                    <a:lnTo>
                      <a:pt x="154" y="54"/>
                    </a:lnTo>
                    <a:lnTo>
                      <a:pt x="157" y="32"/>
                    </a:lnTo>
                    <a:lnTo>
                      <a:pt x="13" y="0"/>
                    </a:lnTo>
                    <a:lnTo>
                      <a:pt x="0" y="11"/>
                    </a:lnTo>
                    <a:lnTo>
                      <a:pt x="13" y="0"/>
                    </a:lnTo>
                    <a:lnTo>
                      <a:pt x="5" y="4"/>
                    </a:lnTo>
                    <a:lnTo>
                      <a:pt x="0" y="10"/>
                    </a:lnTo>
                    <a:lnTo>
                      <a:pt x="2" y="18"/>
                    </a:lnTo>
                    <a:lnTo>
                      <a:pt x="10" y="22"/>
                    </a:lnTo>
                    <a:lnTo>
                      <a:pt x="22" y="11"/>
                    </a:lnTo>
                    <a:close/>
                  </a:path>
                </a:pathLst>
              </a:custGeom>
              <a:solidFill>
                <a:srgbClr val="000000"/>
              </a:solidFill>
              <a:ln w="9525">
                <a:noFill/>
                <a:round/>
                <a:headEnd/>
                <a:tailEnd/>
              </a:ln>
            </p:spPr>
            <p:txBody>
              <a:bodyPr/>
              <a:lstStyle/>
              <a:p>
                <a:endParaRPr lang="en-US"/>
              </a:p>
            </p:txBody>
          </p:sp>
          <p:sp>
            <p:nvSpPr>
              <p:cNvPr id="23747" name="Freeform 160"/>
              <p:cNvSpPr>
                <a:spLocks/>
              </p:cNvSpPr>
              <p:nvPr/>
            </p:nvSpPr>
            <p:spPr bwMode="auto">
              <a:xfrm>
                <a:off x="2080" y="3813"/>
                <a:ext cx="11" cy="15"/>
              </a:xfrm>
              <a:custGeom>
                <a:avLst/>
                <a:gdLst>
                  <a:gd name="T0" fmla="*/ 1 w 22"/>
                  <a:gd name="T1" fmla="*/ 0 h 32"/>
                  <a:gd name="T2" fmla="*/ 1 w 22"/>
                  <a:gd name="T3" fmla="*/ 0 h 32"/>
                  <a:gd name="T4" fmla="*/ 1 w 22"/>
                  <a:gd name="T5" fmla="*/ 0 h 32"/>
                  <a:gd name="T6" fmla="*/ 0 w 22"/>
                  <a:gd name="T7" fmla="*/ 0 h 32"/>
                  <a:gd name="T8" fmla="*/ 0 w 22"/>
                  <a:gd name="T9" fmla="*/ 0 h 32"/>
                  <a:gd name="T10" fmla="*/ 1 w 22"/>
                  <a:gd name="T11" fmla="*/ 0 h 32"/>
                  <a:gd name="T12" fmla="*/ 0 w 22"/>
                  <a:gd name="T13" fmla="*/ 0 h 32"/>
                  <a:gd name="T14" fmla="*/ 1 w 22"/>
                  <a:gd name="T15" fmla="*/ 0 h 32"/>
                  <a:gd name="T16" fmla="*/ 1 w 22"/>
                  <a:gd name="T17" fmla="*/ 0 h 32"/>
                  <a:gd name="T18" fmla="*/ 1 w 22"/>
                  <a:gd name="T19" fmla="*/ 0 h 32"/>
                  <a:gd name="T20" fmla="*/ 1 w 22"/>
                  <a:gd name="T21" fmla="*/ 0 h 32"/>
                  <a:gd name="T22" fmla="*/ 1 w 22"/>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4" y="10"/>
                    </a:moveTo>
                    <a:lnTo>
                      <a:pt x="22" y="21"/>
                    </a:lnTo>
                    <a:lnTo>
                      <a:pt x="22" y="0"/>
                    </a:lnTo>
                    <a:lnTo>
                      <a:pt x="0" y="0"/>
                    </a:lnTo>
                    <a:lnTo>
                      <a:pt x="0" y="21"/>
                    </a:lnTo>
                    <a:lnTo>
                      <a:pt x="8" y="32"/>
                    </a:lnTo>
                    <a:lnTo>
                      <a:pt x="0" y="21"/>
                    </a:lnTo>
                    <a:lnTo>
                      <a:pt x="3" y="28"/>
                    </a:lnTo>
                    <a:lnTo>
                      <a:pt x="11" y="32"/>
                    </a:lnTo>
                    <a:lnTo>
                      <a:pt x="19" y="28"/>
                    </a:lnTo>
                    <a:lnTo>
                      <a:pt x="22" y="21"/>
                    </a:lnTo>
                    <a:lnTo>
                      <a:pt x="14" y="10"/>
                    </a:lnTo>
                    <a:close/>
                  </a:path>
                </a:pathLst>
              </a:custGeom>
              <a:solidFill>
                <a:srgbClr val="000000"/>
              </a:solidFill>
              <a:ln w="9525">
                <a:noFill/>
                <a:round/>
                <a:headEnd/>
                <a:tailEnd/>
              </a:ln>
            </p:spPr>
            <p:txBody>
              <a:bodyPr/>
              <a:lstStyle/>
              <a:p>
                <a:endParaRPr lang="en-US"/>
              </a:p>
            </p:txBody>
          </p:sp>
          <p:sp>
            <p:nvSpPr>
              <p:cNvPr id="23748" name="Freeform 161"/>
              <p:cNvSpPr>
                <a:spLocks/>
              </p:cNvSpPr>
              <p:nvPr/>
            </p:nvSpPr>
            <p:spPr bwMode="auto">
              <a:xfrm>
                <a:off x="2084" y="3817"/>
                <a:ext cx="66" cy="32"/>
              </a:xfrm>
              <a:custGeom>
                <a:avLst/>
                <a:gdLst>
                  <a:gd name="T0" fmla="*/ 1 w 132"/>
                  <a:gd name="T1" fmla="*/ 1 h 62"/>
                  <a:gd name="T2" fmla="*/ 1 w 132"/>
                  <a:gd name="T3" fmla="*/ 1 h 62"/>
                  <a:gd name="T4" fmla="*/ 1 w 132"/>
                  <a:gd name="T5" fmla="*/ 0 h 62"/>
                  <a:gd name="T6" fmla="*/ 0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1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30" y="58"/>
                    </a:moveTo>
                    <a:lnTo>
                      <a:pt x="124" y="40"/>
                    </a:lnTo>
                    <a:lnTo>
                      <a:pt x="6" y="0"/>
                    </a:lnTo>
                    <a:lnTo>
                      <a:pt x="0" y="22"/>
                    </a:lnTo>
                    <a:lnTo>
                      <a:pt x="117" y="62"/>
                    </a:lnTo>
                    <a:lnTo>
                      <a:pt x="111" y="45"/>
                    </a:lnTo>
                    <a:lnTo>
                      <a:pt x="117" y="62"/>
                    </a:lnTo>
                    <a:lnTo>
                      <a:pt x="127" y="61"/>
                    </a:lnTo>
                    <a:lnTo>
                      <a:pt x="132" y="53"/>
                    </a:lnTo>
                    <a:lnTo>
                      <a:pt x="130" y="45"/>
                    </a:lnTo>
                    <a:lnTo>
                      <a:pt x="124" y="40"/>
                    </a:lnTo>
                    <a:lnTo>
                      <a:pt x="130" y="58"/>
                    </a:lnTo>
                    <a:close/>
                  </a:path>
                </a:pathLst>
              </a:custGeom>
              <a:solidFill>
                <a:srgbClr val="000000"/>
              </a:solidFill>
              <a:ln w="9525">
                <a:noFill/>
                <a:round/>
                <a:headEnd/>
                <a:tailEnd/>
              </a:ln>
            </p:spPr>
            <p:txBody>
              <a:bodyPr/>
              <a:lstStyle/>
              <a:p>
                <a:endParaRPr lang="en-US"/>
              </a:p>
            </p:txBody>
          </p:sp>
          <p:sp>
            <p:nvSpPr>
              <p:cNvPr id="23749" name="Freeform 162"/>
              <p:cNvSpPr>
                <a:spLocks/>
              </p:cNvSpPr>
              <p:nvPr/>
            </p:nvSpPr>
            <p:spPr bwMode="auto">
              <a:xfrm>
                <a:off x="2104" y="3840"/>
                <a:ext cx="45" cy="56"/>
              </a:xfrm>
              <a:custGeom>
                <a:avLst/>
                <a:gdLst>
                  <a:gd name="T0" fmla="*/ 1 w 89"/>
                  <a:gd name="T1" fmla="*/ 1 h 111"/>
                  <a:gd name="T2" fmla="*/ 1 w 89"/>
                  <a:gd name="T3" fmla="*/ 1 h 111"/>
                  <a:gd name="T4" fmla="*/ 1 w 89"/>
                  <a:gd name="T5" fmla="*/ 1 h 111"/>
                  <a:gd name="T6" fmla="*/ 1 w 89"/>
                  <a:gd name="T7" fmla="*/ 0 h 111"/>
                  <a:gd name="T8" fmla="*/ 1 w 89"/>
                  <a:gd name="T9" fmla="*/ 1 h 111"/>
                  <a:gd name="T10" fmla="*/ 1 w 89"/>
                  <a:gd name="T11" fmla="*/ 1 h 111"/>
                  <a:gd name="T12" fmla="*/ 1 w 89"/>
                  <a:gd name="T13" fmla="*/ 1 h 111"/>
                  <a:gd name="T14" fmla="*/ 0 w 89"/>
                  <a:gd name="T15" fmla="*/ 1 h 111"/>
                  <a:gd name="T16" fmla="*/ 1 w 89"/>
                  <a:gd name="T17" fmla="*/ 1 h 111"/>
                  <a:gd name="T18" fmla="*/ 1 w 89"/>
                  <a:gd name="T19" fmla="*/ 1 h 111"/>
                  <a:gd name="T20" fmla="*/ 1 w 89"/>
                  <a:gd name="T21" fmla="*/ 1 h 111"/>
                  <a:gd name="T22" fmla="*/ 1 w 89"/>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9"/>
                  <a:gd name="T37" fmla="*/ 0 h 111"/>
                  <a:gd name="T38" fmla="*/ 89 w 89"/>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9" h="111">
                    <a:moveTo>
                      <a:pt x="11" y="89"/>
                    </a:moveTo>
                    <a:lnTo>
                      <a:pt x="20" y="106"/>
                    </a:lnTo>
                    <a:lnTo>
                      <a:pt x="89" y="13"/>
                    </a:lnTo>
                    <a:lnTo>
                      <a:pt x="70" y="0"/>
                    </a:lnTo>
                    <a:lnTo>
                      <a:pt x="1" y="94"/>
                    </a:lnTo>
                    <a:lnTo>
                      <a:pt x="11" y="111"/>
                    </a:lnTo>
                    <a:lnTo>
                      <a:pt x="1" y="94"/>
                    </a:lnTo>
                    <a:lnTo>
                      <a:pt x="0" y="103"/>
                    </a:lnTo>
                    <a:lnTo>
                      <a:pt x="4" y="110"/>
                    </a:lnTo>
                    <a:lnTo>
                      <a:pt x="12" y="111"/>
                    </a:lnTo>
                    <a:lnTo>
                      <a:pt x="20" y="106"/>
                    </a:lnTo>
                    <a:lnTo>
                      <a:pt x="11" y="89"/>
                    </a:lnTo>
                    <a:close/>
                  </a:path>
                </a:pathLst>
              </a:custGeom>
              <a:solidFill>
                <a:srgbClr val="000000"/>
              </a:solidFill>
              <a:ln w="9525">
                <a:noFill/>
                <a:round/>
                <a:headEnd/>
                <a:tailEnd/>
              </a:ln>
            </p:spPr>
            <p:txBody>
              <a:bodyPr/>
              <a:lstStyle/>
              <a:p>
                <a:endParaRPr lang="en-US"/>
              </a:p>
            </p:txBody>
          </p:sp>
          <p:sp>
            <p:nvSpPr>
              <p:cNvPr id="23750" name="Freeform 163"/>
              <p:cNvSpPr>
                <a:spLocks/>
              </p:cNvSpPr>
              <p:nvPr/>
            </p:nvSpPr>
            <p:spPr bwMode="auto">
              <a:xfrm>
                <a:off x="2110" y="3885"/>
                <a:ext cx="16" cy="11"/>
              </a:xfrm>
              <a:custGeom>
                <a:avLst/>
                <a:gdLst>
                  <a:gd name="T0" fmla="*/ 0 w 33"/>
                  <a:gd name="T1" fmla="*/ 1 h 22"/>
                  <a:gd name="T2" fmla="*/ 0 w 33"/>
                  <a:gd name="T3" fmla="*/ 0 h 22"/>
                  <a:gd name="T4" fmla="*/ 0 w 33"/>
                  <a:gd name="T5" fmla="*/ 0 h 22"/>
                  <a:gd name="T6" fmla="*/ 0 w 33"/>
                  <a:gd name="T7" fmla="*/ 1 h 22"/>
                  <a:gd name="T8" fmla="*/ 0 w 33"/>
                  <a:gd name="T9" fmla="*/ 1 h 22"/>
                  <a:gd name="T10" fmla="*/ 0 w 33"/>
                  <a:gd name="T11" fmla="*/ 1 h 22"/>
                  <a:gd name="T12" fmla="*/ 0 w 33"/>
                  <a:gd name="T13" fmla="*/ 1 h 22"/>
                  <a:gd name="T14" fmla="*/ 0 w 33"/>
                  <a:gd name="T15" fmla="*/ 1 h 22"/>
                  <a:gd name="T16" fmla="*/ 0 w 33"/>
                  <a:gd name="T17" fmla="*/ 1 h 22"/>
                  <a:gd name="T18" fmla="*/ 0 w 33"/>
                  <a:gd name="T19" fmla="*/ 1 h 22"/>
                  <a:gd name="T20" fmla="*/ 0 w 33"/>
                  <a:gd name="T21" fmla="*/ 0 h 22"/>
                  <a:gd name="T22" fmla="*/ 0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4" y="3"/>
                    </a:moveTo>
                    <a:lnTo>
                      <a:pt x="22" y="0"/>
                    </a:lnTo>
                    <a:lnTo>
                      <a:pt x="0" y="0"/>
                    </a:lnTo>
                    <a:lnTo>
                      <a:pt x="0" y="22"/>
                    </a:lnTo>
                    <a:lnTo>
                      <a:pt x="22" y="22"/>
                    </a:lnTo>
                    <a:lnTo>
                      <a:pt x="29" y="19"/>
                    </a:lnTo>
                    <a:lnTo>
                      <a:pt x="22" y="22"/>
                    </a:lnTo>
                    <a:lnTo>
                      <a:pt x="29" y="19"/>
                    </a:lnTo>
                    <a:lnTo>
                      <a:pt x="33" y="11"/>
                    </a:lnTo>
                    <a:lnTo>
                      <a:pt x="29" y="3"/>
                    </a:lnTo>
                    <a:lnTo>
                      <a:pt x="22" y="0"/>
                    </a:lnTo>
                    <a:lnTo>
                      <a:pt x="14" y="3"/>
                    </a:lnTo>
                    <a:close/>
                  </a:path>
                </a:pathLst>
              </a:custGeom>
              <a:solidFill>
                <a:srgbClr val="000000"/>
              </a:solidFill>
              <a:ln w="9525">
                <a:noFill/>
                <a:round/>
                <a:headEnd/>
                <a:tailEnd/>
              </a:ln>
            </p:spPr>
            <p:txBody>
              <a:bodyPr/>
              <a:lstStyle/>
              <a:p>
                <a:endParaRPr lang="en-US"/>
              </a:p>
            </p:txBody>
          </p:sp>
          <p:sp>
            <p:nvSpPr>
              <p:cNvPr id="23751" name="Freeform 164"/>
              <p:cNvSpPr>
                <a:spLocks/>
              </p:cNvSpPr>
              <p:nvPr/>
            </p:nvSpPr>
            <p:spPr bwMode="auto">
              <a:xfrm>
                <a:off x="2117" y="3845"/>
                <a:ext cx="54" cy="49"/>
              </a:xfrm>
              <a:custGeom>
                <a:avLst/>
                <a:gdLst>
                  <a:gd name="T0" fmla="*/ 1 w 108"/>
                  <a:gd name="T1" fmla="*/ 0 h 99"/>
                  <a:gd name="T2" fmla="*/ 1 w 108"/>
                  <a:gd name="T3" fmla="*/ 0 h 99"/>
                  <a:gd name="T4" fmla="*/ 0 w 108"/>
                  <a:gd name="T5" fmla="*/ 0 h 99"/>
                  <a:gd name="T6" fmla="*/ 1 w 108"/>
                  <a:gd name="T7" fmla="*/ 0 h 99"/>
                  <a:gd name="T8" fmla="*/ 1 w 108"/>
                  <a:gd name="T9" fmla="*/ 0 h 99"/>
                  <a:gd name="T10" fmla="*/ 1 w 108"/>
                  <a:gd name="T11" fmla="*/ 0 h 99"/>
                  <a:gd name="T12" fmla="*/ 1 w 108"/>
                  <a:gd name="T13" fmla="*/ 0 h 99"/>
                  <a:gd name="T14" fmla="*/ 1 w 108"/>
                  <a:gd name="T15" fmla="*/ 0 h 99"/>
                  <a:gd name="T16" fmla="*/ 1 w 108"/>
                  <a:gd name="T17" fmla="*/ 0 h 99"/>
                  <a:gd name="T18" fmla="*/ 1 w 108"/>
                  <a:gd name="T19" fmla="*/ 0 h 99"/>
                  <a:gd name="T20" fmla="*/ 1 w 108"/>
                  <a:gd name="T21" fmla="*/ 0 h 99"/>
                  <a:gd name="T22" fmla="*/ 1 w 108"/>
                  <a:gd name="T23" fmla="*/ 0 h 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9"/>
                  <a:gd name="T38" fmla="*/ 108 w 108"/>
                  <a:gd name="T39" fmla="*/ 99 h 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9">
                    <a:moveTo>
                      <a:pt x="97" y="0"/>
                    </a:moveTo>
                    <a:lnTo>
                      <a:pt x="89" y="4"/>
                    </a:lnTo>
                    <a:lnTo>
                      <a:pt x="0" y="83"/>
                    </a:lnTo>
                    <a:lnTo>
                      <a:pt x="15" y="99"/>
                    </a:lnTo>
                    <a:lnTo>
                      <a:pt x="105" y="19"/>
                    </a:lnTo>
                    <a:lnTo>
                      <a:pt x="97" y="22"/>
                    </a:lnTo>
                    <a:lnTo>
                      <a:pt x="105" y="19"/>
                    </a:lnTo>
                    <a:lnTo>
                      <a:pt x="108" y="11"/>
                    </a:lnTo>
                    <a:lnTo>
                      <a:pt x="105" y="4"/>
                    </a:lnTo>
                    <a:lnTo>
                      <a:pt x="97" y="0"/>
                    </a:lnTo>
                    <a:lnTo>
                      <a:pt x="89" y="4"/>
                    </a:lnTo>
                    <a:lnTo>
                      <a:pt x="97" y="0"/>
                    </a:lnTo>
                    <a:close/>
                  </a:path>
                </a:pathLst>
              </a:custGeom>
              <a:solidFill>
                <a:srgbClr val="000000"/>
              </a:solidFill>
              <a:ln w="9525">
                <a:noFill/>
                <a:round/>
                <a:headEnd/>
                <a:tailEnd/>
              </a:ln>
            </p:spPr>
            <p:txBody>
              <a:bodyPr/>
              <a:lstStyle/>
              <a:p>
                <a:endParaRPr lang="en-US"/>
              </a:p>
            </p:txBody>
          </p:sp>
          <p:sp>
            <p:nvSpPr>
              <p:cNvPr id="23752" name="Freeform 165"/>
              <p:cNvSpPr>
                <a:spLocks/>
              </p:cNvSpPr>
              <p:nvPr/>
            </p:nvSpPr>
            <p:spPr bwMode="auto">
              <a:xfrm>
                <a:off x="2164" y="3845"/>
                <a:ext cx="9" cy="11"/>
              </a:xfrm>
              <a:custGeom>
                <a:avLst/>
                <a:gdLst>
                  <a:gd name="T0" fmla="*/ 0 w 19"/>
                  <a:gd name="T1" fmla="*/ 1 h 22"/>
                  <a:gd name="T2" fmla="*/ 0 w 19"/>
                  <a:gd name="T3" fmla="*/ 0 h 22"/>
                  <a:gd name="T4" fmla="*/ 0 w 19"/>
                  <a:gd name="T5" fmla="*/ 0 h 22"/>
                  <a:gd name="T6" fmla="*/ 0 w 19"/>
                  <a:gd name="T7" fmla="*/ 1 h 22"/>
                  <a:gd name="T8" fmla="*/ 0 w 19"/>
                  <a:gd name="T9" fmla="*/ 1 h 22"/>
                  <a:gd name="T10" fmla="*/ 0 w 19"/>
                  <a:gd name="T11" fmla="*/ 1 h 22"/>
                  <a:gd name="T12" fmla="*/ 0 w 19"/>
                  <a:gd name="T13" fmla="*/ 1 h 22"/>
                  <a:gd name="T14" fmla="*/ 0 w 19"/>
                  <a:gd name="T15" fmla="*/ 1 h 22"/>
                  <a:gd name="T16" fmla="*/ 0 w 19"/>
                  <a:gd name="T17" fmla="*/ 1 h 22"/>
                  <a:gd name="T18" fmla="*/ 0 w 19"/>
                  <a:gd name="T19" fmla="*/ 1 h 22"/>
                  <a:gd name="T20" fmla="*/ 0 w 19"/>
                  <a:gd name="T21" fmla="*/ 0 h 22"/>
                  <a:gd name="T22" fmla="*/ 0 w 19"/>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2"/>
                  <a:gd name="T38" fmla="*/ 19 w 19"/>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2">
                    <a:moveTo>
                      <a:pt x="15" y="4"/>
                    </a:moveTo>
                    <a:lnTo>
                      <a:pt x="8" y="0"/>
                    </a:lnTo>
                    <a:lnTo>
                      <a:pt x="3" y="0"/>
                    </a:lnTo>
                    <a:lnTo>
                      <a:pt x="3" y="22"/>
                    </a:lnTo>
                    <a:lnTo>
                      <a:pt x="8" y="22"/>
                    </a:lnTo>
                    <a:lnTo>
                      <a:pt x="0" y="19"/>
                    </a:lnTo>
                    <a:lnTo>
                      <a:pt x="8" y="22"/>
                    </a:lnTo>
                    <a:lnTo>
                      <a:pt x="15" y="19"/>
                    </a:lnTo>
                    <a:lnTo>
                      <a:pt x="19" y="11"/>
                    </a:lnTo>
                    <a:lnTo>
                      <a:pt x="15" y="4"/>
                    </a:lnTo>
                    <a:lnTo>
                      <a:pt x="8" y="0"/>
                    </a:lnTo>
                    <a:lnTo>
                      <a:pt x="15" y="4"/>
                    </a:lnTo>
                    <a:close/>
                  </a:path>
                </a:pathLst>
              </a:custGeom>
              <a:solidFill>
                <a:srgbClr val="000000"/>
              </a:solidFill>
              <a:ln w="9525">
                <a:noFill/>
                <a:round/>
                <a:headEnd/>
                <a:tailEnd/>
              </a:ln>
            </p:spPr>
            <p:txBody>
              <a:bodyPr/>
              <a:lstStyle/>
              <a:p>
                <a:endParaRPr lang="en-US"/>
              </a:p>
            </p:txBody>
          </p:sp>
          <p:sp>
            <p:nvSpPr>
              <p:cNvPr id="23753" name="Freeform 166"/>
              <p:cNvSpPr>
                <a:spLocks/>
              </p:cNvSpPr>
              <p:nvPr/>
            </p:nvSpPr>
            <p:spPr bwMode="auto">
              <a:xfrm>
                <a:off x="2164" y="3846"/>
                <a:ext cx="54" cy="50"/>
              </a:xfrm>
              <a:custGeom>
                <a:avLst/>
                <a:gdLst>
                  <a:gd name="T0" fmla="*/ 1 w 108"/>
                  <a:gd name="T1" fmla="*/ 1 h 98"/>
                  <a:gd name="T2" fmla="*/ 1 w 108"/>
                  <a:gd name="T3" fmla="*/ 1 h 98"/>
                  <a:gd name="T4" fmla="*/ 1 w 108"/>
                  <a:gd name="T5" fmla="*/ 0 h 98"/>
                  <a:gd name="T6" fmla="*/ 0 w 108"/>
                  <a:gd name="T7" fmla="*/ 1 h 98"/>
                  <a:gd name="T8" fmla="*/ 1 w 108"/>
                  <a:gd name="T9" fmla="*/ 1 h 98"/>
                  <a:gd name="T10" fmla="*/ 1 w 108"/>
                  <a:gd name="T11" fmla="*/ 1 h 98"/>
                  <a:gd name="T12" fmla="*/ 1 w 108"/>
                  <a:gd name="T13" fmla="*/ 1 h 98"/>
                  <a:gd name="T14" fmla="*/ 1 w 108"/>
                  <a:gd name="T15" fmla="*/ 1 h 98"/>
                  <a:gd name="T16" fmla="*/ 1 w 108"/>
                  <a:gd name="T17" fmla="*/ 1 h 98"/>
                  <a:gd name="T18" fmla="*/ 1 w 108"/>
                  <a:gd name="T19" fmla="*/ 1 h 98"/>
                  <a:gd name="T20" fmla="*/ 1 w 108"/>
                  <a:gd name="T21" fmla="*/ 1 h 98"/>
                  <a:gd name="T22" fmla="*/ 1 w 108"/>
                  <a:gd name="T23" fmla="*/ 1 h 9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8"/>
                  <a:gd name="T38" fmla="*/ 108 w 108"/>
                  <a:gd name="T39" fmla="*/ 98 h 9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8">
                    <a:moveTo>
                      <a:pt x="97" y="76"/>
                    </a:moveTo>
                    <a:lnTo>
                      <a:pt x="105" y="79"/>
                    </a:lnTo>
                    <a:lnTo>
                      <a:pt x="15" y="0"/>
                    </a:lnTo>
                    <a:lnTo>
                      <a:pt x="0" y="15"/>
                    </a:lnTo>
                    <a:lnTo>
                      <a:pt x="89" y="95"/>
                    </a:lnTo>
                    <a:lnTo>
                      <a:pt x="97" y="98"/>
                    </a:lnTo>
                    <a:lnTo>
                      <a:pt x="89" y="95"/>
                    </a:lnTo>
                    <a:lnTo>
                      <a:pt x="97" y="98"/>
                    </a:lnTo>
                    <a:lnTo>
                      <a:pt x="105" y="93"/>
                    </a:lnTo>
                    <a:lnTo>
                      <a:pt x="108" y="87"/>
                    </a:lnTo>
                    <a:lnTo>
                      <a:pt x="105" y="79"/>
                    </a:lnTo>
                    <a:lnTo>
                      <a:pt x="97" y="76"/>
                    </a:lnTo>
                    <a:close/>
                  </a:path>
                </a:pathLst>
              </a:custGeom>
              <a:solidFill>
                <a:srgbClr val="000000"/>
              </a:solidFill>
              <a:ln w="9525">
                <a:noFill/>
                <a:round/>
                <a:headEnd/>
                <a:tailEnd/>
              </a:ln>
            </p:spPr>
            <p:txBody>
              <a:bodyPr/>
              <a:lstStyle/>
              <a:p>
                <a:endParaRPr lang="en-US"/>
              </a:p>
            </p:txBody>
          </p:sp>
          <p:sp>
            <p:nvSpPr>
              <p:cNvPr id="23754" name="Freeform 167"/>
              <p:cNvSpPr>
                <a:spLocks/>
              </p:cNvSpPr>
              <p:nvPr/>
            </p:nvSpPr>
            <p:spPr bwMode="auto">
              <a:xfrm>
                <a:off x="2212" y="3885"/>
                <a:ext cx="17" cy="11"/>
              </a:xfrm>
              <a:custGeom>
                <a:avLst/>
                <a:gdLst>
                  <a:gd name="T0" fmla="*/ 1 w 33"/>
                  <a:gd name="T1" fmla="*/ 1 h 22"/>
                  <a:gd name="T2" fmla="*/ 1 w 33"/>
                  <a:gd name="T3" fmla="*/ 0 h 22"/>
                  <a:gd name="T4" fmla="*/ 0 w 33"/>
                  <a:gd name="T5" fmla="*/ 0 h 22"/>
                  <a:gd name="T6" fmla="*/ 0 w 33"/>
                  <a:gd name="T7" fmla="*/ 1 h 22"/>
                  <a:gd name="T8" fmla="*/ 1 w 33"/>
                  <a:gd name="T9" fmla="*/ 1 h 22"/>
                  <a:gd name="T10" fmla="*/ 1 w 33"/>
                  <a:gd name="T11" fmla="*/ 1 h 22"/>
                  <a:gd name="T12" fmla="*/ 1 w 33"/>
                  <a:gd name="T13" fmla="*/ 1 h 22"/>
                  <a:gd name="T14" fmla="*/ 1 w 33"/>
                  <a:gd name="T15" fmla="*/ 1 h 22"/>
                  <a:gd name="T16" fmla="*/ 1 w 33"/>
                  <a:gd name="T17" fmla="*/ 1 h 22"/>
                  <a:gd name="T18" fmla="*/ 1 w 33"/>
                  <a:gd name="T19" fmla="*/ 1 h 22"/>
                  <a:gd name="T20" fmla="*/ 1 w 33"/>
                  <a:gd name="T21" fmla="*/ 0 h 22"/>
                  <a:gd name="T22" fmla="*/ 1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2" y="17"/>
                    </a:moveTo>
                    <a:lnTo>
                      <a:pt x="22" y="0"/>
                    </a:lnTo>
                    <a:lnTo>
                      <a:pt x="0" y="0"/>
                    </a:lnTo>
                    <a:lnTo>
                      <a:pt x="0" y="22"/>
                    </a:lnTo>
                    <a:lnTo>
                      <a:pt x="22" y="22"/>
                    </a:lnTo>
                    <a:lnTo>
                      <a:pt x="31" y="5"/>
                    </a:lnTo>
                    <a:lnTo>
                      <a:pt x="22" y="22"/>
                    </a:lnTo>
                    <a:lnTo>
                      <a:pt x="30" y="19"/>
                    </a:lnTo>
                    <a:lnTo>
                      <a:pt x="33" y="11"/>
                    </a:lnTo>
                    <a:lnTo>
                      <a:pt x="30" y="3"/>
                    </a:lnTo>
                    <a:lnTo>
                      <a:pt x="22" y="0"/>
                    </a:lnTo>
                    <a:lnTo>
                      <a:pt x="12" y="17"/>
                    </a:lnTo>
                    <a:close/>
                  </a:path>
                </a:pathLst>
              </a:custGeom>
              <a:solidFill>
                <a:srgbClr val="000000"/>
              </a:solidFill>
              <a:ln w="9525">
                <a:noFill/>
                <a:round/>
                <a:headEnd/>
                <a:tailEnd/>
              </a:ln>
            </p:spPr>
            <p:txBody>
              <a:bodyPr/>
              <a:lstStyle/>
              <a:p>
                <a:endParaRPr lang="en-US"/>
              </a:p>
            </p:txBody>
          </p:sp>
          <p:sp>
            <p:nvSpPr>
              <p:cNvPr id="23755" name="Freeform 168"/>
              <p:cNvSpPr>
                <a:spLocks/>
              </p:cNvSpPr>
              <p:nvPr/>
            </p:nvSpPr>
            <p:spPr bwMode="auto">
              <a:xfrm>
                <a:off x="2184" y="3838"/>
                <a:ext cx="44" cy="55"/>
              </a:xfrm>
              <a:custGeom>
                <a:avLst/>
                <a:gdLst>
                  <a:gd name="T0" fmla="*/ 1 w 88"/>
                  <a:gd name="T1" fmla="*/ 0 h 111"/>
                  <a:gd name="T2" fmla="*/ 1 w 88"/>
                  <a:gd name="T3" fmla="*/ 0 h 111"/>
                  <a:gd name="T4" fmla="*/ 1 w 88"/>
                  <a:gd name="T5" fmla="*/ 0 h 111"/>
                  <a:gd name="T6" fmla="*/ 1 w 88"/>
                  <a:gd name="T7" fmla="*/ 0 h 111"/>
                  <a:gd name="T8" fmla="*/ 1 w 88"/>
                  <a:gd name="T9" fmla="*/ 0 h 111"/>
                  <a:gd name="T10" fmla="*/ 1 w 88"/>
                  <a:gd name="T11" fmla="*/ 0 h 111"/>
                  <a:gd name="T12" fmla="*/ 1 w 88"/>
                  <a:gd name="T13" fmla="*/ 0 h 111"/>
                  <a:gd name="T14" fmla="*/ 1 w 88"/>
                  <a:gd name="T15" fmla="*/ 0 h 111"/>
                  <a:gd name="T16" fmla="*/ 1 w 88"/>
                  <a:gd name="T17" fmla="*/ 0 h 111"/>
                  <a:gd name="T18" fmla="*/ 0 w 88"/>
                  <a:gd name="T19" fmla="*/ 0 h 111"/>
                  <a:gd name="T20" fmla="*/ 1 w 88"/>
                  <a:gd name="T21" fmla="*/ 0 h 111"/>
                  <a:gd name="T22" fmla="*/ 1 w 88"/>
                  <a:gd name="T23" fmla="*/ 0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8"/>
                  <a:gd name="T37" fmla="*/ 0 h 111"/>
                  <a:gd name="T38" fmla="*/ 88 w 88"/>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8" h="111">
                    <a:moveTo>
                      <a:pt x="8" y="0"/>
                    </a:moveTo>
                    <a:lnTo>
                      <a:pt x="2" y="18"/>
                    </a:lnTo>
                    <a:lnTo>
                      <a:pt x="69" y="111"/>
                    </a:lnTo>
                    <a:lnTo>
                      <a:pt x="88" y="99"/>
                    </a:lnTo>
                    <a:lnTo>
                      <a:pt x="21" y="5"/>
                    </a:lnTo>
                    <a:lnTo>
                      <a:pt x="15" y="22"/>
                    </a:lnTo>
                    <a:lnTo>
                      <a:pt x="21" y="5"/>
                    </a:lnTo>
                    <a:lnTo>
                      <a:pt x="13" y="0"/>
                    </a:lnTo>
                    <a:lnTo>
                      <a:pt x="5" y="2"/>
                    </a:lnTo>
                    <a:lnTo>
                      <a:pt x="0" y="8"/>
                    </a:lnTo>
                    <a:lnTo>
                      <a:pt x="2" y="18"/>
                    </a:lnTo>
                    <a:lnTo>
                      <a:pt x="8" y="0"/>
                    </a:lnTo>
                    <a:close/>
                  </a:path>
                </a:pathLst>
              </a:custGeom>
              <a:solidFill>
                <a:srgbClr val="000000"/>
              </a:solidFill>
              <a:ln w="9525">
                <a:noFill/>
                <a:round/>
                <a:headEnd/>
                <a:tailEnd/>
              </a:ln>
            </p:spPr>
            <p:txBody>
              <a:bodyPr/>
              <a:lstStyle/>
              <a:p>
                <a:endParaRPr lang="en-US"/>
              </a:p>
            </p:txBody>
          </p:sp>
          <p:sp>
            <p:nvSpPr>
              <p:cNvPr id="23756" name="Freeform 169"/>
              <p:cNvSpPr>
                <a:spLocks/>
              </p:cNvSpPr>
              <p:nvPr/>
            </p:nvSpPr>
            <p:spPr bwMode="auto">
              <a:xfrm>
                <a:off x="2188" y="3817"/>
                <a:ext cx="66" cy="32"/>
              </a:xfrm>
              <a:custGeom>
                <a:avLst/>
                <a:gdLst>
                  <a:gd name="T0" fmla="*/ 1 w 132"/>
                  <a:gd name="T1" fmla="*/ 1 h 62"/>
                  <a:gd name="T2" fmla="*/ 1 w 132"/>
                  <a:gd name="T3" fmla="*/ 0 h 62"/>
                  <a:gd name="T4" fmla="*/ 0 w 132"/>
                  <a:gd name="T5" fmla="*/ 1 h 62"/>
                  <a:gd name="T6" fmla="*/ 1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0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10" y="11"/>
                    </a:moveTo>
                    <a:lnTo>
                      <a:pt x="118" y="0"/>
                    </a:lnTo>
                    <a:lnTo>
                      <a:pt x="0" y="40"/>
                    </a:lnTo>
                    <a:lnTo>
                      <a:pt x="7" y="62"/>
                    </a:lnTo>
                    <a:lnTo>
                      <a:pt x="124" y="22"/>
                    </a:lnTo>
                    <a:lnTo>
                      <a:pt x="132" y="11"/>
                    </a:lnTo>
                    <a:lnTo>
                      <a:pt x="124" y="22"/>
                    </a:lnTo>
                    <a:lnTo>
                      <a:pt x="130" y="17"/>
                    </a:lnTo>
                    <a:lnTo>
                      <a:pt x="132" y="8"/>
                    </a:lnTo>
                    <a:lnTo>
                      <a:pt x="127" y="1"/>
                    </a:lnTo>
                    <a:lnTo>
                      <a:pt x="118" y="0"/>
                    </a:lnTo>
                    <a:lnTo>
                      <a:pt x="110" y="11"/>
                    </a:lnTo>
                    <a:close/>
                  </a:path>
                </a:pathLst>
              </a:custGeom>
              <a:solidFill>
                <a:srgbClr val="000000"/>
              </a:solidFill>
              <a:ln w="9525">
                <a:noFill/>
                <a:round/>
                <a:headEnd/>
                <a:tailEnd/>
              </a:ln>
            </p:spPr>
            <p:txBody>
              <a:bodyPr/>
              <a:lstStyle/>
              <a:p>
                <a:endParaRPr lang="en-US"/>
              </a:p>
            </p:txBody>
          </p:sp>
          <p:sp>
            <p:nvSpPr>
              <p:cNvPr id="23757" name="Freeform 170"/>
              <p:cNvSpPr>
                <a:spLocks/>
              </p:cNvSpPr>
              <p:nvPr/>
            </p:nvSpPr>
            <p:spPr bwMode="auto">
              <a:xfrm>
                <a:off x="2243" y="3807"/>
                <a:ext cx="11" cy="16"/>
              </a:xfrm>
              <a:custGeom>
                <a:avLst/>
                <a:gdLst>
                  <a:gd name="T0" fmla="*/ 1 w 22"/>
                  <a:gd name="T1" fmla="*/ 1 h 32"/>
                  <a:gd name="T2" fmla="*/ 0 w 22"/>
                  <a:gd name="T3" fmla="*/ 1 h 32"/>
                  <a:gd name="T4" fmla="*/ 0 w 22"/>
                  <a:gd name="T5" fmla="*/ 1 h 32"/>
                  <a:gd name="T6" fmla="*/ 1 w 22"/>
                  <a:gd name="T7" fmla="*/ 1 h 32"/>
                  <a:gd name="T8" fmla="*/ 1 w 22"/>
                  <a:gd name="T9" fmla="*/ 1 h 32"/>
                  <a:gd name="T10" fmla="*/ 1 w 22"/>
                  <a:gd name="T11" fmla="*/ 0 h 32"/>
                  <a:gd name="T12" fmla="*/ 1 w 22"/>
                  <a:gd name="T13" fmla="*/ 1 h 32"/>
                  <a:gd name="T14" fmla="*/ 1 w 22"/>
                  <a:gd name="T15" fmla="*/ 1 h 32"/>
                  <a:gd name="T16" fmla="*/ 1 w 22"/>
                  <a:gd name="T17" fmla="*/ 0 h 32"/>
                  <a:gd name="T18" fmla="*/ 1 w 22"/>
                  <a:gd name="T19" fmla="*/ 1 h 32"/>
                  <a:gd name="T20" fmla="*/ 0 w 22"/>
                  <a:gd name="T21" fmla="*/ 1 h 32"/>
                  <a:gd name="T22" fmla="*/ 1 w 22"/>
                  <a:gd name="T23" fmla="*/ 1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2" y="22"/>
                    </a:moveTo>
                    <a:lnTo>
                      <a:pt x="0" y="11"/>
                    </a:lnTo>
                    <a:lnTo>
                      <a:pt x="0" y="32"/>
                    </a:lnTo>
                    <a:lnTo>
                      <a:pt x="22" y="32"/>
                    </a:lnTo>
                    <a:lnTo>
                      <a:pt x="22" y="11"/>
                    </a:lnTo>
                    <a:lnTo>
                      <a:pt x="9" y="0"/>
                    </a:lnTo>
                    <a:lnTo>
                      <a:pt x="22" y="11"/>
                    </a:lnTo>
                    <a:lnTo>
                      <a:pt x="19" y="4"/>
                    </a:lnTo>
                    <a:lnTo>
                      <a:pt x="11" y="0"/>
                    </a:lnTo>
                    <a:lnTo>
                      <a:pt x="3" y="4"/>
                    </a:lnTo>
                    <a:lnTo>
                      <a:pt x="0" y="11"/>
                    </a:lnTo>
                    <a:lnTo>
                      <a:pt x="12" y="22"/>
                    </a:lnTo>
                    <a:close/>
                  </a:path>
                </a:pathLst>
              </a:custGeom>
              <a:solidFill>
                <a:srgbClr val="000000"/>
              </a:solidFill>
              <a:ln w="9525">
                <a:noFill/>
                <a:round/>
                <a:headEnd/>
                <a:tailEnd/>
              </a:ln>
            </p:spPr>
            <p:txBody>
              <a:bodyPr/>
              <a:lstStyle/>
              <a:p>
                <a:endParaRPr lang="en-US"/>
              </a:p>
            </p:txBody>
          </p:sp>
          <p:sp>
            <p:nvSpPr>
              <p:cNvPr id="23758" name="Freeform 171"/>
              <p:cNvSpPr>
                <a:spLocks/>
              </p:cNvSpPr>
              <p:nvPr/>
            </p:nvSpPr>
            <p:spPr bwMode="auto">
              <a:xfrm>
                <a:off x="2170" y="3807"/>
                <a:ext cx="79" cy="27"/>
              </a:xfrm>
              <a:custGeom>
                <a:avLst/>
                <a:gdLst>
                  <a:gd name="T0" fmla="*/ 1 w 158"/>
                  <a:gd name="T1" fmla="*/ 1 h 54"/>
                  <a:gd name="T2" fmla="*/ 1 w 158"/>
                  <a:gd name="T3" fmla="*/ 1 h 54"/>
                  <a:gd name="T4" fmla="*/ 1 w 158"/>
                  <a:gd name="T5" fmla="*/ 1 h 54"/>
                  <a:gd name="T6" fmla="*/ 1 w 158"/>
                  <a:gd name="T7" fmla="*/ 0 h 54"/>
                  <a:gd name="T8" fmla="*/ 1 w 158"/>
                  <a:gd name="T9" fmla="*/ 1 h 54"/>
                  <a:gd name="T10" fmla="*/ 1 w 158"/>
                  <a:gd name="T11" fmla="*/ 1 h 54"/>
                  <a:gd name="T12" fmla="*/ 1 w 158"/>
                  <a:gd name="T13" fmla="*/ 1 h 54"/>
                  <a:gd name="T14" fmla="*/ 1 w 158"/>
                  <a:gd name="T15" fmla="*/ 1 h 54"/>
                  <a:gd name="T16" fmla="*/ 0 w 158"/>
                  <a:gd name="T17" fmla="*/ 1 h 54"/>
                  <a:gd name="T18" fmla="*/ 1 w 158"/>
                  <a:gd name="T19" fmla="*/ 1 h 54"/>
                  <a:gd name="T20" fmla="*/ 1 w 158"/>
                  <a:gd name="T21" fmla="*/ 1 h 54"/>
                  <a:gd name="T22" fmla="*/ 1 w 158"/>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54"/>
                  <a:gd name="T38" fmla="*/ 158 w 158"/>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54">
                    <a:moveTo>
                      <a:pt x="11" y="54"/>
                    </a:moveTo>
                    <a:lnTo>
                      <a:pt x="13" y="54"/>
                    </a:lnTo>
                    <a:lnTo>
                      <a:pt x="158" y="22"/>
                    </a:lnTo>
                    <a:lnTo>
                      <a:pt x="155" y="0"/>
                    </a:lnTo>
                    <a:lnTo>
                      <a:pt x="10" y="32"/>
                    </a:lnTo>
                    <a:lnTo>
                      <a:pt x="11" y="32"/>
                    </a:lnTo>
                    <a:lnTo>
                      <a:pt x="10" y="32"/>
                    </a:lnTo>
                    <a:lnTo>
                      <a:pt x="2" y="36"/>
                    </a:lnTo>
                    <a:lnTo>
                      <a:pt x="0" y="44"/>
                    </a:lnTo>
                    <a:lnTo>
                      <a:pt x="5" y="50"/>
                    </a:lnTo>
                    <a:lnTo>
                      <a:pt x="13" y="54"/>
                    </a:lnTo>
                    <a:lnTo>
                      <a:pt x="11" y="54"/>
                    </a:lnTo>
                    <a:close/>
                  </a:path>
                </a:pathLst>
              </a:custGeom>
              <a:solidFill>
                <a:srgbClr val="000000"/>
              </a:solidFill>
              <a:ln w="9525">
                <a:noFill/>
                <a:round/>
                <a:headEnd/>
                <a:tailEnd/>
              </a:ln>
            </p:spPr>
            <p:txBody>
              <a:bodyPr/>
              <a:lstStyle/>
              <a:p>
                <a:endParaRPr lang="en-US"/>
              </a:p>
            </p:txBody>
          </p:sp>
          <p:sp>
            <p:nvSpPr>
              <p:cNvPr id="23759" name="Freeform 172"/>
              <p:cNvSpPr>
                <a:spLocks/>
              </p:cNvSpPr>
              <p:nvPr/>
            </p:nvSpPr>
            <p:spPr bwMode="auto">
              <a:xfrm>
                <a:off x="2152" y="3823"/>
                <a:ext cx="24" cy="11"/>
              </a:xfrm>
              <a:custGeom>
                <a:avLst/>
                <a:gdLst>
                  <a:gd name="T0" fmla="*/ 1 w 47"/>
                  <a:gd name="T1" fmla="*/ 1 h 22"/>
                  <a:gd name="T2" fmla="*/ 1 w 47"/>
                  <a:gd name="T3" fmla="*/ 1 h 22"/>
                  <a:gd name="T4" fmla="*/ 1 w 47"/>
                  <a:gd name="T5" fmla="*/ 1 h 22"/>
                  <a:gd name="T6" fmla="*/ 1 w 47"/>
                  <a:gd name="T7" fmla="*/ 0 h 22"/>
                  <a:gd name="T8" fmla="*/ 1 w 47"/>
                  <a:gd name="T9" fmla="*/ 0 h 22"/>
                  <a:gd name="T10" fmla="*/ 1 w 47"/>
                  <a:gd name="T11" fmla="*/ 0 h 22"/>
                  <a:gd name="T12" fmla="*/ 1 w 47"/>
                  <a:gd name="T13" fmla="*/ 0 h 22"/>
                  <a:gd name="T14" fmla="*/ 1 w 47"/>
                  <a:gd name="T15" fmla="*/ 1 h 22"/>
                  <a:gd name="T16" fmla="*/ 0 w 47"/>
                  <a:gd name="T17" fmla="*/ 1 h 22"/>
                  <a:gd name="T18" fmla="*/ 1 w 47"/>
                  <a:gd name="T19" fmla="*/ 1 h 22"/>
                  <a:gd name="T20" fmla="*/ 1 w 47"/>
                  <a:gd name="T21" fmla="*/ 1 h 22"/>
                  <a:gd name="T22" fmla="*/ 1 w 47"/>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
                  <a:gd name="T37" fmla="*/ 0 h 22"/>
                  <a:gd name="T38" fmla="*/ 47 w 47"/>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 h="22">
                    <a:moveTo>
                      <a:pt x="10" y="22"/>
                    </a:moveTo>
                    <a:lnTo>
                      <a:pt x="11" y="22"/>
                    </a:lnTo>
                    <a:lnTo>
                      <a:pt x="47" y="22"/>
                    </a:lnTo>
                    <a:lnTo>
                      <a:pt x="47" y="0"/>
                    </a:lnTo>
                    <a:lnTo>
                      <a:pt x="11" y="0"/>
                    </a:lnTo>
                    <a:lnTo>
                      <a:pt x="13" y="0"/>
                    </a:lnTo>
                    <a:lnTo>
                      <a:pt x="11" y="0"/>
                    </a:lnTo>
                    <a:lnTo>
                      <a:pt x="3" y="3"/>
                    </a:lnTo>
                    <a:lnTo>
                      <a:pt x="0" y="11"/>
                    </a:lnTo>
                    <a:lnTo>
                      <a:pt x="3" y="18"/>
                    </a:lnTo>
                    <a:lnTo>
                      <a:pt x="11" y="22"/>
                    </a:lnTo>
                    <a:lnTo>
                      <a:pt x="10" y="22"/>
                    </a:lnTo>
                    <a:close/>
                  </a:path>
                </a:pathLst>
              </a:custGeom>
              <a:solidFill>
                <a:srgbClr val="000000"/>
              </a:solidFill>
              <a:ln w="9525">
                <a:noFill/>
                <a:round/>
                <a:headEnd/>
                <a:tailEnd/>
              </a:ln>
            </p:spPr>
            <p:txBody>
              <a:bodyPr/>
              <a:lstStyle/>
              <a:p>
                <a:endParaRPr lang="en-US"/>
              </a:p>
            </p:txBody>
          </p:sp>
          <p:sp>
            <p:nvSpPr>
              <p:cNvPr id="23760" name="Line 173"/>
              <p:cNvSpPr>
                <a:spLocks noChangeShapeType="1"/>
              </p:cNvSpPr>
              <p:nvPr/>
            </p:nvSpPr>
            <p:spPr bwMode="auto">
              <a:xfrm flipV="1">
                <a:off x="1933" y="3548"/>
                <a:ext cx="130" cy="76"/>
              </a:xfrm>
              <a:prstGeom prst="line">
                <a:avLst/>
              </a:prstGeom>
              <a:noFill/>
              <a:ln w="0">
                <a:solidFill>
                  <a:srgbClr val="000000"/>
                </a:solidFill>
                <a:round/>
                <a:headEnd/>
                <a:tailEnd/>
              </a:ln>
            </p:spPr>
            <p:txBody>
              <a:bodyPr/>
              <a:lstStyle/>
              <a:p>
                <a:endParaRPr lang="en-US"/>
              </a:p>
            </p:txBody>
          </p:sp>
          <p:sp>
            <p:nvSpPr>
              <p:cNvPr id="23761" name="Line 174"/>
              <p:cNvSpPr>
                <a:spLocks noChangeShapeType="1"/>
              </p:cNvSpPr>
              <p:nvPr/>
            </p:nvSpPr>
            <p:spPr bwMode="auto">
              <a:xfrm flipV="1">
                <a:off x="1942" y="3553"/>
                <a:ext cx="129" cy="75"/>
              </a:xfrm>
              <a:prstGeom prst="line">
                <a:avLst/>
              </a:prstGeom>
              <a:noFill/>
              <a:ln w="0">
                <a:solidFill>
                  <a:srgbClr val="000000"/>
                </a:solidFill>
                <a:round/>
                <a:headEnd/>
                <a:tailEnd/>
              </a:ln>
            </p:spPr>
            <p:txBody>
              <a:bodyPr/>
              <a:lstStyle/>
              <a:p>
                <a:endParaRPr lang="en-US"/>
              </a:p>
            </p:txBody>
          </p:sp>
          <p:sp>
            <p:nvSpPr>
              <p:cNvPr id="23762" name="Line 175"/>
              <p:cNvSpPr>
                <a:spLocks noChangeShapeType="1"/>
              </p:cNvSpPr>
              <p:nvPr/>
            </p:nvSpPr>
            <p:spPr bwMode="auto">
              <a:xfrm flipV="1">
                <a:off x="1949" y="3560"/>
                <a:ext cx="130" cy="75"/>
              </a:xfrm>
              <a:prstGeom prst="line">
                <a:avLst/>
              </a:prstGeom>
              <a:noFill/>
              <a:ln w="0">
                <a:solidFill>
                  <a:srgbClr val="000000"/>
                </a:solidFill>
                <a:round/>
                <a:headEnd/>
                <a:tailEnd/>
              </a:ln>
            </p:spPr>
            <p:txBody>
              <a:bodyPr/>
              <a:lstStyle/>
              <a:p>
                <a:endParaRPr lang="en-US"/>
              </a:p>
            </p:txBody>
          </p:sp>
          <p:sp>
            <p:nvSpPr>
              <p:cNvPr id="23763" name="Line 176"/>
              <p:cNvSpPr>
                <a:spLocks noChangeShapeType="1"/>
              </p:cNvSpPr>
              <p:nvPr/>
            </p:nvSpPr>
            <p:spPr bwMode="auto">
              <a:xfrm flipV="1">
                <a:off x="2019" y="3512"/>
                <a:ext cx="18" cy="11"/>
              </a:xfrm>
              <a:prstGeom prst="line">
                <a:avLst/>
              </a:prstGeom>
              <a:noFill/>
              <a:ln w="0">
                <a:solidFill>
                  <a:srgbClr val="000000"/>
                </a:solidFill>
                <a:round/>
                <a:headEnd/>
                <a:tailEnd/>
              </a:ln>
            </p:spPr>
            <p:txBody>
              <a:bodyPr/>
              <a:lstStyle/>
              <a:p>
                <a:endParaRPr lang="en-US"/>
              </a:p>
            </p:txBody>
          </p:sp>
          <p:sp>
            <p:nvSpPr>
              <p:cNvPr id="23764" name="Freeform 177"/>
              <p:cNvSpPr>
                <a:spLocks/>
              </p:cNvSpPr>
              <p:nvPr/>
            </p:nvSpPr>
            <p:spPr bwMode="auto">
              <a:xfrm>
                <a:off x="1894" y="3369"/>
                <a:ext cx="130" cy="194"/>
              </a:xfrm>
              <a:custGeom>
                <a:avLst/>
                <a:gdLst>
                  <a:gd name="T0" fmla="*/ 1 w 259"/>
                  <a:gd name="T1" fmla="*/ 0 h 388"/>
                  <a:gd name="T2" fmla="*/ 1 w 259"/>
                  <a:gd name="T3" fmla="*/ 1 h 388"/>
                  <a:gd name="T4" fmla="*/ 0 w 259"/>
                  <a:gd name="T5" fmla="*/ 1 h 388"/>
                  <a:gd name="T6" fmla="*/ 0 w 259"/>
                  <a:gd name="T7" fmla="*/ 1 h 388"/>
                  <a:gd name="T8" fmla="*/ 1 w 259"/>
                  <a:gd name="T9" fmla="*/ 0 h 388"/>
                  <a:gd name="T10" fmla="*/ 0 60000 65536"/>
                  <a:gd name="T11" fmla="*/ 0 60000 65536"/>
                  <a:gd name="T12" fmla="*/ 0 60000 65536"/>
                  <a:gd name="T13" fmla="*/ 0 60000 65536"/>
                  <a:gd name="T14" fmla="*/ 0 60000 65536"/>
                  <a:gd name="T15" fmla="*/ 0 w 259"/>
                  <a:gd name="T16" fmla="*/ 0 h 388"/>
                  <a:gd name="T17" fmla="*/ 259 w 259"/>
                  <a:gd name="T18" fmla="*/ 388 h 388"/>
                </a:gdLst>
                <a:ahLst/>
                <a:cxnLst>
                  <a:cxn ang="T10">
                    <a:pos x="T0" y="T1"/>
                  </a:cxn>
                  <a:cxn ang="T11">
                    <a:pos x="T2" y="T3"/>
                  </a:cxn>
                  <a:cxn ang="T12">
                    <a:pos x="T4" y="T5"/>
                  </a:cxn>
                  <a:cxn ang="T13">
                    <a:pos x="T6" y="T7"/>
                  </a:cxn>
                  <a:cxn ang="T14">
                    <a:pos x="T8" y="T9"/>
                  </a:cxn>
                </a:cxnLst>
                <a:rect l="T15" t="T16" r="T17" b="T18"/>
                <a:pathLst>
                  <a:path w="259" h="388">
                    <a:moveTo>
                      <a:pt x="259" y="0"/>
                    </a:moveTo>
                    <a:lnTo>
                      <a:pt x="259" y="236"/>
                    </a:lnTo>
                    <a:lnTo>
                      <a:pt x="0" y="388"/>
                    </a:lnTo>
                    <a:lnTo>
                      <a:pt x="0" y="150"/>
                    </a:lnTo>
                    <a:lnTo>
                      <a:pt x="259" y="0"/>
                    </a:lnTo>
                    <a:close/>
                  </a:path>
                </a:pathLst>
              </a:custGeom>
              <a:solidFill>
                <a:srgbClr val="007FFF"/>
              </a:solidFill>
              <a:ln w="9525">
                <a:noFill/>
                <a:round/>
                <a:headEnd/>
                <a:tailEnd/>
              </a:ln>
            </p:spPr>
            <p:txBody>
              <a:bodyPr/>
              <a:lstStyle/>
              <a:p>
                <a:endParaRPr lang="en-US"/>
              </a:p>
            </p:txBody>
          </p:sp>
          <p:sp>
            <p:nvSpPr>
              <p:cNvPr id="23765" name="Freeform 178"/>
              <p:cNvSpPr>
                <a:spLocks/>
              </p:cNvSpPr>
              <p:nvPr/>
            </p:nvSpPr>
            <p:spPr bwMode="auto">
              <a:xfrm>
                <a:off x="2018" y="3369"/>
                <a:ext cx="11" cy="124"/>
              </a:xfrm>
              <a:custGeom>
                <a:avLst/>
                <a:gdLst>
                  <a:gd name="T0" fmla="*/ 1 w 21"/>
                  <a:gd name="T1" fmla="*/ 1 h 247"/>
                  <a:gd name="T2" fmla="*/ 1 w 21"/>
                  <a:gd name="T3" fmla="*/ 1 h 247"/>
                  <a:gd name="T4" fmla="*/ 1 w 21"/>
                  <a:gd name="T5" fmla="*/ 0 h 247"/>
                  <a:gd name="T6" fmla="*/ 0 w 21"/>
                  <a:gd name="T7" fmla="*/ 0 h 247"/>
                  <a:gd name="T8" fmla="*/ 0 w 21"/>
                  <a:gd name="T9" fmla="*/ 1 h 247"/>
                  <a:gd name="T10" fmla="*/ 1 w 21"/>
                  <a:gd name="T11" fmla="*/ 1 h 247"/>
                  <a:gd name="T12" fmla="*/ 0 w 21"/>
                  <a:gd name="T13" fmla="*/ 1 h 247"/>
                  <a:gd name="T14" fmla="*/ 1 w 21"/>
                  <a:gd name="T15" fmla="*/ 1 h 247"/>
                  <a:gd name="T16" fmla="*/ 1 w 21"/>
                  <a:gd name="T17" fmla="*/ 1 h 247"/>
                  <a:gd name="T18" fmla="*/ 1 w 21"/>
                  <a:gd name="T19" fmla="*/ 1 h 247"/>
                  <a:gd name="T20" fmla="*/ 1 w 21"/>
                  <a:gd name="T21" fmla="*/ 1 h 247"/>
                  <a:gd name="T22" fmla="*/ 1 w 21"/>
                  <a:gd name="T23" fmla="*/ 1 h 2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47"/>
                  <a:gd name="T38" fmla="*/ 21 w 21"/>
                  <a:gd name="T39" fmla="*/ 247 h 2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47">
                    <a:moveTo>
                      <a:pt x="17" y="246"/>
                    </a:moveTo>
                    <a:lnTo>
                      <a:pt x="21" y="236"/>
                    </a:lnTo>
                    <a:lnTo>
                      <a:pt x="21" y="0"/>
                    </a:lnTo>
                    <a:lnTo>
                      <a:pt x="0" y="0"/>
                    </a:lnTo>
                    <a:lnTo>
                      <a:pt x="0" y="236"/>
                    </a:lnTo>
                    <a:lnTo>
                      <a:pt x="4" y="227"/>
                    </a:lnTo>
                    <a:lnTo>
                      <a:pt x="0" y="236"/>
                    </a:lnTo>
                    <a:lnTo>
                      <a:pt x="3" y="244"/>
                    </a:lnTo>
                    <a:lnTo>
                      <a:pt x="10" y="247"/>
                    </a:lnTo>
                    <a:lnTo>
                      <a:pt x="18" y="244"/>
                    </a:lnTo>
                    <a:lnTo>
                      <a:pt x="21" y="236"/>
                    </a:lnTo>
                    <a:lnTo>
                      <a:pt x="17" y="246"/>
                    </a:lnTo>
                    <a:close/>
                  </a:path>
                </a:pathLst>
              </a:custGeom>
              <a:solidFill>
                <a:srgbClr val="000000"/>
              </a:solidFill>
              <a:ln w="9525">
                <a:noFill/>
                <a:round/>
                <a:headEnd/>
                <a:tailEnd/>
              </a:ln>
            </p:spPr>
            <p:txBody>
              <a:bodyPr/>
              <a:lstStyle/>
              <a:p>
                <a:endParaRPr lang="en-US"/>
              </a:p>
            </p:txBody>
          </p:sp>
          <p:sp>
            <p:nvSpPr>
              <p:cNvPr id="23766" name="Freeform 179"/>
              <p:cNvSpPr>
                <a:spLocks/>
              </p:cNvSpPr>
              <p:nvPr/>
            </p:nvSpPr>
            <p:spPr bwMode="auto">
              <a:xfrm>
                <a:off x="1888" y="3483"/>
                <a:ext cx="139" cy="86"/>
              </a:xfrm>
              <a:custGeom>
                <a:avLst/>
                <a:gdLst>
                  <a:gd name="T0" fmla="*/ 0 w 277"/>
                  <a:gd name="T1" fmla="*/ 1 h 172"/>
                  <a:gd name="T2" fmla="*/ 1 w 277"/>
                  <a:gd name="T3" fmla="*/ 1 h 172"/>
                  <a:gd name="T4" fmla="*/ 1 w 277"/>
                  <a:gd name="T5" fmla="*/ 1 h 172"/>
                  <a:gd name="T6" fmla="*/ 1 w 277"/>
                  <a:gd name="T7" fmla="*/ 0 h 172"/>
                  <a:gd name="T8" fmla="*/ 1 w 277"/>
                  <a:gd name="T9" fmla="*/ 1 h 172"/>
                  <a:gd name="T10" fmla="*/ 1 w 277"/>
                  <a:gd name="T11" fmla="*/ 1 h 172"/>
                  <a:gd name="T12" fmla="*/ 1 w 277"/>
                  <a:gd name="T13" fmla="*/ 1 h 172"/>
                  <a:gd name="T14" fmla="*/ 0 w 277"/>
                  <a:gd name="T15" fmla="*/ 1 h 172"/>
                  <a:gd name="T16" fmla="*/ 1 w 277"/>
                  <a:gd name="T17" fmla="*/ 1 h 172"/>
                  <a:gd name="T18" fmla="*/ 1 w 277"/>
                  <a:gd name="T19" fmla="*/ 1 h 172"/>
                  <a:gd name="T20" fmla="*/ 1 w 277"/>
                  <a:gd name="T21" fmla="*/ 1 h 172"/>
                  <a:gd name="T22" fmla="*/ 0 w 277"/>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2"/>
                  <a:gd name="T38" fmla="*/ 277 w 277"/>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2">
                    <a:moveTo>
                      <a:pt x="0" y="161"/>
                    </a:moveTo>
                    <a:lnTo>
                      <a:pt x="17" y="171"/>
                    </a:lnTo>
                    <a:lnTo>
                      <a:pt x="277" y="19"/>
                    </a:lnTo>
                    <a:lnTo>
                      <a:pt x="264" y="0"/>
                    </a:lnTo>
                    <a:lnTo>
                      <a:pt x="4" y="152"/>
                    </a:lnTo>
                    <a:lnTo>
                      <a:pt x="22" y="161"/>
                    </a:lnTo>
                    <a:lnTo>
                      <a:pt x="4" y="152"/>
                    </a:lnTo>
                    <a:lnTo>
                      <a:pt x="0" y="160"/>
                    </a:lnTo>
                    <a:lnTo>
                      <a:pt x="1" y="167"/>
                    </a:lnTo>
                    <a:lnTo>
                      <a:pt x="7" y="172"/>
                    </a:lnTo>
                    <a:lnTo>
                      <a:pt x="17" y="171"/>
                    </a:lnTo>
                    <a:lnTo>
                      <a:pt x="0" y="161"/>
                    </a:lnTo>
                    <a:close/>
                  </a:path>
                </a:pathLst>
              </a:custGeom>
              <a:solidFill>
                <a:srgbClr val="000000"/>
              </a:solidFill>
              <a:ln w="9525">
                <a:noFill/>
                <a:round/>
                <a:headEnd/>
                <a:tailEnd/>
              </a:ln>
            </p:spPr>
            <p:txBody>
              <a:bodyPr/>
              <a:lstStyle/>
              <a:p>
                <a:endParaRPr lang="en-US"/>
              </a:p>
            </p:txBody>
          </p:sp>
          <p:sp>
            <p:nvSpPr>
              <p:cNvPr id="23767" name="Freeform 180"/>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4" y="2"/>
                    </a:moveTo>
                    <a:lnTo>
                      <a:pt x="0" y="11"/>
                    </a:lnTo>
                    <a:lnTo>
                      <a:pt x="0" y="249"/>
                    </a:lnTo>
                    <a:lnTo>
                      <a:pt x="22" y="249"/>
                    </a:lnTo>
                    <a:lnTo>
                      <a:pt x="22" y="11"/>
                    </a:lnTo>
                    <a:lnTo>
                      <a:pt x="17" y="21"/>
                    </a:lnTo>
                    <a:lnTo>
                      <a:pt x="22" y="11"/>
                    </a:lnTo>
                    <a:lnTo>
                      <a:pt x="18" y="4"/>
                    </a:lnTo>
                    <a:lnTo>
                      <a:pt x="11" y="0"/>
                    </a:lnTo>
                    <a:lnTo>
                      <a:pt x="3" y="4"/>
                    </a:lnTo>
                    <a:lnTo>
                      <a:pt x="0" y="11"/>
                    </a:lnTo>
                    <a:lnTo>
                      <a:pt x="4" y="2"/>
                    </a:lnTo>
                    <a:close/>
                  </a:path>
                </a:pathLst>
              </a:custGeom>
              <a:solidFill>
                <a:srgbClr val="000000"/>
              </a:solidFill>
              <a:ln w="9525">
                <a:noFill/>
                <a:round/>
                <a:headEnd/>
                <a:tailEnd/>
              </a:ln>
            </p:spPr>
            <p:txBody>
              <a:bodyPr/>
              <a:lstStyle/>
              <a:p>
                <a:endParaRPr lang="en-US"/>
              </a:p>
            </p:txBody>
          </p:sp>
          <p:sp>
            <p:nvSpPr>
              <p:cNvPr id="23768" name="Freeform 181"/>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77" y="11"/>
                    </a:moveTo>
                    <a:lnTo>
                      <a:pt x="260" y="2"/>
                    </a:lnTo>
                    <a:lnTo>
                      <a:pt x="0" y="152"/>
                    </a:lnTo>
                    <a:lnTo>
                      <a:pt x="13" y="171"/>
                    </a:lnTo>
                    <a:lnTo>
                      <a:pt x="273" y="21"/>
                    </a:lnTo>
                    <a:lnTo>
                      <a:pt x="256" y="11"/>
                    </a:lnTo>
                    <a:lnTo>
                      <a:pt x="273" y="21"/>
                    </a:lnTo>
                    <a:lnTo>
                      <a:pt x="277" y="13"/>
                    </a:lnTo>
                    <a:lnTo>
                      <a:pt x="276" y="5"/>
                    </a:lnTo>
                    <a:lnTo>
                      <a:pt x="270" y="0"/>
                    </a:lnTo>
                    <a:lnTo>
                      <a:pt x="260" y="2"/>
                    </a:lnTo>
                    <a:lnTo>
                      <a:pt x="277" y="11"/>
                    </a:lnTo>
                    <a:close/>
                  </a:path>
                </a:pathLst>
              </a:custGeom>
              <a:solidFill>
                <a:srgbClr val="000000"/>
              </a:solidFill>
              <a:ln w="9525">
                <a:noFill/>
                <a:round/>
                <a:headEnd/>
                <a:tailEnd/>
              </a:ln>
            </p:spPr>
            <p:txBody>
              <a:bodyPr/>
              <a:lstStyle/>
              <a:p>
                <a:endParaRPr lang="en-US"/>
              </a:p>
            </p:txBody>
          </p:sp>
          <p:sp>
            <p:nvSpPr>
              <p:cNvPr id="23769" name="Freeform 182"/>
              <p:cNvSpPr>
                <a:spLocks/>
              </p:cNvSpPr>
              <p:nvPr/>
            </p:nvSpPr>
            <p:spPr bwMode="auto">
              <a:xfrm>
                <a:off x="1851" y="3349"/>
                <a:ext cx="173" cy="95"/>
              </a:xfrm>
              <a:custGeom>
                <a:avLst/>
                <a:gdLst>
                  <a:gd name="T0" fmla="*/ 1 w 344"/>
                  <a:gd name="T1" fmla="*/ 1 h 190"/>
                  <a:gd name="T2" fmla="*/ 1 w 344"/>
                  <a:gd name="T3" fmla="*/ 0 h 190"/>
                  <a:gd name="T4" fmla="*/ 0 w 344"/>
                  <a:gd name="T5" fmla="*/ 1 h 190"/>
                  <a:gd name="T6" fmla="*/ 1 w 344"/>
                  <a:gd name="T7" fmla="*/ 1 h 190"/>
                  <a:gd name="T8" fmla="*/ 1 w 344"/>
                  <a:gd name="T9" fmla="*/ 1 h 190"/>
                  <a:gd name="T10" fmla="*/ 0 60000 65536"/>
                  <a:gd name="T11" fmla="*/ 0 60000 65536"/>
                  <a:gd name="T12" fmla="*/ 0 60000 65536"/>
                  <a:gd name="T13" fmla="*/ 0 60000 65536"/>
                  <a:gd name="T14" fmla="*/ 0 60000 65536"/>
                  <a:gd name="T15" fmla="*/ 0 w 344"/>
                  <a:gd name="T16" fmla="*/ 0 h 190"/>
                  <a:gd name="T17" fmla="*/ 344 w 344"/>
                  <a:gd name="T18" fmla="*/ 190 h 190"/>
                </a:gdLst>
                <a:ahLst/>
                <a:cxnLst>
                  <a:cxn ang="T10">
                    <a:pos x="T0" y="T1"/>
                  </a:cxn>
                  <a:cxn ang="T11">
                    <a:pos x="T2" y="T3"/>
                  </a:cxn>
                  <a:cxn ang="T12">
                    <a:pos x="T4" y="T5"/>
                  </a:cxn>
                  <a:cxn ang="T13">
                    <a:pos x="T6" y="T7"/>
                  </a:cxn>
                  <a:cxn ang="T14">
                    <a:pos x="T8" y="T9"/>
                  </a:cxn>
                </a:cxnLst>
                <a:rect l="T15" t="T16" r="T17" b="T18"/>
                <a:pathLst>
                  <a:path w="344" h="190">
                    <a:moveTo>
                      <a:pt x="344" y="40"/>
                    </a:moveTo>
                    <a:lnTo>
                      <a:pt x="260" y="0"/>
                    </a:lnTo>
                    <a:lnTo>
                      <a:pt x="0" y="150"/>
                    </a:lnTo>
                    <a:lnTo>
                      <a:pt x="85" y="190"/>
                    </a:lnTo>
                    <a:lnTo>
                      <a:pt x="344" y="40"/>
                    </a:lnTo>
                    <a:close/>
                  </a:path>
                </a:pathLst>
              </a:custGeom>
              <a:solidFill>
                <a:srgbClr val="99D8FF"/>
              </a:solidFill>
              <a:ln w="9525">
                <a:noFill/>
                <a:round/>
                <a:headEnd/>
                <a:tailEnd/>
              </a:ln>
            </p:spPr>
            <p:txBody>
              <a:bodyPr/>
              <a:lstStyle/>
              <a:p>
                <a:endParaRPr lang="en-US"/>
              </a:p>
            </p:txBody>
          </p:sp>
          <p:sp>
            <p:nvSpPr>
              <p:cNvPr id="23770" name="Freeform 183"/>
              <p:cNvSpPr>
                <a:spLocks/>
              </p:cNvSpPr>
              <p:nvPr/>
            </p:nvSpPr>
            <p:spPr bwMode="auto">
              <a:xfrm>
                <a:off x="1976" y="3344"/>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1 w 100"/>
                  <a:gd name="T11" fmla="*/ 0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16" y="19"/>
                    </a:moveTo>
                    <a:lnTo>
                      <a:pt x="6" y="19"/>
                    </a:lnTo>
                    <a:lnTo>
                      <a:pt x="91" y="60"/>
                    </a:lnTo>
                    <a:lnTo>
                      <a:pt x="100" y="41"/>
                    </a:lnTo>
                    <a:lnTo>
                      <a:pt x="16" y="0"/>
                    </a:lnTo>
                    <a:lnTo>
                      <a:pt x="6" y="0"/>
                    </a:lnTo>
                    <a:lnTo>
                      <a:pt x="16" y="0"/>
                    </a:lnTo>
                    <a:lnTo>
                      <a:pt x="8" y="0"/>
                    </a:lnTo>
                    <a:lnTo>
                      <a:pt x="2" y="5"/>
                    </a:lnTo>
                    <a:lnTo>
                      <a:pt x="0" y="13"/>
                    </a:lnTo>
                    <a:lnTo>
                      <a:pt x="6" y="19"/>
                    </a:lnTo>
                    <a:lnTo>
                      <a:pt x="16" y="19"/>
                    </a:lnTo>
                    <a:close/>
                  </a:path>
                </a:pathLst>
              </a:custGeom>
              <a:solidFill>
                <a:srgbClr val="000000"/>
              </a:solidFill>
              <a:ln w="9525">
                <a:noFill/>
                <a:round/>
                <a:headEnd/>
                <a:tailEnd/>
              </a:ln>
            </p:spPr>
            <p:txBody>
              <a:bodyPr/>
              <a:lstStyle/>
              <a:p>
                <a:endParaRPr lang="en-US"/>
              </a:p>
            </p:txBody>
          </p:sp>
          <p:sp>
            <p:nvSpPr>
              <p:cNvPr id="23771" name="Freeform 184"/>
              <p:cNvSpPr>
                <a:spLocks/>
              </p:cNvSpPr>
              <p:nvPr/>
            </p:nvSpPr>
            <p:spPr bwMode="auto">
              <a:xfrm>
                <a:off x="1846" y="3344"/>
                <a:ext cx="138" cy="85"/>
              </a:xfrm>
              <a:custGeom>
                <a:avLst/>
                <a:gdLst>
                  <a:gd name="T0" fmla="*/ 1 w 276"/>
                  <a:gd name="T1" fmla="*/ 1 h 169"/>
                  <a:gd name="T2" fmla="*/ 1 w 276"/>
                  <a:gd name="T3" fmla="*/ 1 h 169"/>
                  <a:gd name="T4" fmla="*/ 1 w 276"/>
                  <a:gd name="T5" fmla="*/ 1 h 169"/>
                  <a:gd name="T6" fmla="*/ 1 w 276"/>
                  <a:gd name="T7" fmla="*/ 0 h 169"/>
                  <a:gd name="T8" fmla="*/ 1 w 276"/>
                  <a:gd name="T9" fmla="*/ 1 h 169"/>
                  <a:gd name="T10" fmla="*/ 1 w 276"/>
                  <a:gd name="T11" fmla="*/ 1 h 169"/>
                  <a:gd name="T12" fmla="*/ 1 w 276"/>
                  <a:gd name="T13" fmla="*/ 1 h 169"/>
                  <a:gd name="T14" fmla="*/ 0 w 276"/>
                  <a:gd name="T15" fmla="*/ 1 h 169"/>
                  <a:gd name="T16" fmla="*/ 1 w 276"/>
                  <a:gd name="T17" fmla="*/ 1 h 169"/>
                  <a:gd name="T18" fmla="*/ 1 w 276"/>
                  <a:gd name="T19" fmla="*/ 1 h 169"/>
                  <a:gd name="T20" fmla="*/ 1 w 276"/>
                  <a:gd name="T21" fmla="*/ 1 h 169"/>
                  <a:gd name="T22" fmla="*/ 1 w 276"/>
                  <a:gd name="T23" fmla="*/ 1 h 1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6"/>
                  <a:gd name="T37" fmla="*/ 0 h 169"/>
                  <a:gd name="T38" fmla="*/ 276 w 276"/>
                  <a:gd name="T39" fmla="*/ 169 h 1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6" h="169">
                    <a:moveTo>
                      <a:pt x="16" y="150"/>
                    </a:moveTo>
                    <a:lnTo>
                      <a:pt x="16" y="169"/>
                    </a:lnTo>
                    <a:lnTo>
                      <a:pt x="276" y="19"/>
                    </a:lnTo>
                    <a:lnTo>
                      <a:pt x="266" y="0"/>
                    </a:lnTo>
                    <a:lnTo>
                      <a:pt x="6" y="150"/>
                    </a:lnTo>
                    <a:lnTo>
                      <a:pt x="6" y="169"/>
                    </a:lnTo>
                    <a:lnTo>
                      <a:pt x="6" y="150"/>
                    </a:lnTo>
                    <a:lnTo>
                      <a:pt x="0" y="157"/>
                    </a:lnTo>
                    <a:lnTo>
                      <a:pt x="2" y="164"/>
                    </a:lnTo>
                    <a:lnTo>
                      <a:pt x="8" y="169"/>
                    </a:lnTo>
                    <a:lnTo>
                      <a:pt x="16" y="169"/>
                    </a:lnTo>
                    <a:lnTo>
                      <a:pt x="16" y="150"/>
                    </a:lnTo>
                    <a:close/>
                  </a:path>
                </a:pathLst>
              </a:custGeom>
              <a:solidFill>
                <a:srgbClr val="000000"/>
              </a:solidFill>
              <a:ln w="9525">
                <a:noFill/>
                <a:round/>
                <a:headEnd/>
                <a:tailEnd/>
              </a:ln>
            </p:spPr>
            <p:txBody>
              <a:bodyPr/>
              <a:lstStyle/>
              <a:p>
                <a:endParaRPr lang="en-US"/>
              </a:p>
            </p:txBody>
          </p:sp>
          <p:sp>
            <p:nvSpPr>
              <p:cNvPr id="23772" name="Freeform 185"/>
              <p:cNvSpPr>
                <a:spLocks/>
              </p:cNvSpPr>
              <p:nvPr/>
            </p:nvSpPr>
            <p:spPr bwMode="auto">
              <a:xfrm>
                <a:off x="1849" y="3419"/>
                <a:ext cx="50" cy="30"/>
              </a:xfrm>
              <a:custGeom>
                <a:avLst/>
                <a:gdLst>
                  <a:gd name="T0" fmla="*/ 0 w 101"/>
                  <a:gd name="T1" fmla="*/ 1 h 60"/>
                  <a:gd name="T2" fmla="*/ 0 w 101"/>
                  <a:gd name="T3" fmla="*/ 1 h 60"/>
                  <a:gd name="T4" fmla="*/ 0 w 101"/>
                  <a:gd name="T5" fmla="*/ 0 h 60"/>
                  <a:gd name="T6" fmla="*/ 0 w 101"/>
                  <a:gd name="T7" fmla="*/ 1 h 60"/>
                  <a:gd name="T8" fmla="*/ 0 w 101"/>
                  <a:gd name="T9" fmla="*/ 1 h 60"/>
                  <a:gd name="T10" fmla="*/ 0 w 101"/>
                  <a:gd name="T11" fmla="*/ 1 h 60"/>
                  <a:gd name="T12" fmla="*/ 0 w 101"/>
                  <a:gd name="T13" fmla="*/ 1 h 60"/>
                  <a:gd name="T14" fmla="*/ 0 w 101"/>
                  <a:gd name="T15" fmla="*/ 1 h 60"/>
                  <a:gd name="T16" fmla="*/ 0 w 101"/>
                  <a:gd name="T17" fmla="*/ 1 h 60"/>
                  <a:gd name="T18" fmla="*/ 0 w 101"/>
                  <a:gd name="T19" fmla="*/ 1 h 60"/>
                  <a:gd name="T20" fmla="*/ 0 w 101"/>
                  <a:gd name="T21" fmla="*/ 1 h 60"/>
                  <a:gd name="T22" fmla="*/ 0 w 101"/>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0"/>
                  <a:gd name="T38" fmla="*/ 101 w 101"/>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0">
                    <a:moveTo>
                      <a:pt x="83" y="41"/>
                    </a:moveTo>
                    <a:lnTo>
                      <a:pt x="94" y="41"/>
                    </a:lnTo>
                    <a:lnTo>
                      <a:pt x="10" y="0"/>
                    </a:lnTo>
                    <a:lnTo>
                      <a:pt x="0" y="19"/>
                    </a:lnTo>
                    <a:lnTo>
                      <a:pt x="85" y="60"/>
                    </a:lnTo>
                    <a:lnTo>
                      <a:pt x="96" y="60"/>
                    </a:lnTo>
                    <a:lnTo>
                      <a:pt x="85" y="60"/>
                    </a:lnTo>
                    <a:lnTo>
                      <a:pt x="93" y="60"/>
                    </a:lnTo>
                    <a:lnTo>
                      <a:pt x="99" y="55"/>
                    </a:lnTo>
                    <a:lnTo>
                      <a:pt x="101" y="47"/>
                    </a:lnTo>
                    <a:lnTo>
                      <a:pt x="94" y="41"/>
                    </a:lnTo>
                    <a:lnTo>
                      <a:pt x="83" y="41"/>
                    </a:lnTo>
                    <a:close/>
                  </a:path>
                </a:pathLst>
              </a:custGeom>
              <a:solidFill>
                <a:srgbClr val="000000"/>
              </a:solidFill>
              <a:ln w="9525">
                <a:noFill/>
                <a:round/>
                <a:headEnd/>
                <a:tailEnd/>
              </a:ln>
            </p:spPr>
            <p:txBody>
              <a:bodyPr/>
              <a:lstStyle/>
              <a:p>
                <a:endParaRPr lang="en-US"/>
              </a:p>
            </p:txBody>
          </p:sp>
          <p:sp>
            <p:nvSpPr>
              <p:cNvPr id="23773" name="Freeform 186"/>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62" y="21"/>
                    </a:moveTo>
                    <a:lnTo>
                      <a:pt x="260" y="2"/>
                    </a:lnTo>
                    <a:lnTo>
                      <a:pt x="0" y="152"/>
                    </a:lnTo>
                    <a:lnTo>
                      <a:pt x="13" y="171"/>
                    </a:lnTo>
                    <a:lnTo>
                      <a:pt x="273" y="21"/>
                    </a:lnTo>
                    <a:lnTo>
                      <a:pt x="271" y="2"/>
                    </a:lnTo>
                    <a:lnTo>
                      <a:pt x="273" y="21"/>
                    </a:lnTo>
                    <a:lnTo>
                      <a:pt x="277" y="13"/>
                    </a:lnTo>
                    <a:lnTo>
                      <a:pt x="276" y="5"/>
                    </a:lnTo>
                    <a:lnTo>
                      <a:pt x="270" y="0"/>
                    </a:lnTo>
                    <a:lnTo>
                      <a:pt x="260" y="2"/>
                    </a:lnTo>
                    <a:lnTo>
                      <a:pt x="262" y="21"/>
                    </a:lnTo>
                    <a:close/>
                  </a:path>
                </a:pathLst>
              </a:custGeom>
              <a:solidFill>
                <a:srgbClr val="000000"/>
              </a:solidFill>
              <a:ln w="9525">
                <a:noFill/>
                <a:round/>
                <a:headEnd/>
                <a:tailEnd/>
              </a:ln>
            </p:spPr>
            <p:txBody>
              <a:bodyPr/>
              <a:lstStyle/>
              <a:p>
                <a:endParaRPr lang="en-US"/>
              </a:p>
            </p:txBody>
          </p:sp>
          <p:sp>
            <p:nvSpPr>
              <p:cNvPr id="23774" name="Freeform 187"/>
              <p:cNvSpPr>
                <a:spLocks/>
              </p:cNvSpPr>
              <p:nvPr/>
            </p:nvSpPr>
            <p:spPr bwMode="auto">
              <a:xfrm>
                <a:off x="1797" y="3350"/>
                <a:ext cx="175" cy="82"/>
              </a:xfrm>
              <a:custGeom>
                <a:avLst/>
                <a:gdLst>
                  <a:gd name="T0" fmla="*/ 1 w 349"/>
                  <a:gd name="T1" fmla="*/ 0 h 166"/>
                  <a:gd name="T2" fmla="*/ 1 w 349"/>
                  <a:gd name="T3" fmla="*/ 0 h 166"/>
                  <a:gd name="T4" fmla="*/ 1 w 349"/>
                  <a:gd name="T5" fmla="*/ 0 h 166"/>
                  <a:gd name="T6" fmla="*/ 0 w 349"/>
                  <a:gd name="T7" fmla="*/ 0 h 166"/>
                  <a:gd name="T8" fmla="*/ 1 w 349"/>
                  <a:gd name="T9" fmla="*/ 0 h 166"/>
                  <a:gd name="T10" fmla="*/ 1 w 349"/>
                  <a:gd name="T11" fmla="*/ 0 h 166"/>
                  <a:gd name="T12" fmla="*/ 0 60000 65536"/>
                  <a:gd name="T13" fmla="*/ 0 60000 65536"/>
                  <a:gd name="T14" fmla="*/ 0 60000 65536"/>
                  <a:gd name="T15" fmla="*/ 0 60000 65536"/>
                  <a:gd name="T16" fmla="*/ 0 60000 65536"/>
                  <a:gd name="T17" fmla="*/ 0 60000 65536"/>
                  <a:gd name="T18" fmla="*/ 0 w 349"/>
                  <a:gd name="T19" fmla="*/ 0 h 166"/>
                  <a:gd name="T20" fmla="*/ 349 w 349"/>
                  <a:gd name="T21" fmla="*/ 166 h 166"/>
                </a:gdLst>
                <a:ahLst/>
                <a:cxnLst>
                  <a:cxn ang="T12">
                    <a:pos x="T0" y="T1"/>
                  </a:cxn>
                  <a:cxn ang="T13">
                    <a:pos x="T2" y="T3"/>
                  </a:cxn>
                  <a:cxn ang="T14">
                    <a:pos x="T4" y="T5"/>
                  </a:cxn>
                  <a:cxn ang="T15">
                    <a:pos x="T6" y="T7"/>
                  </a:cxn>
                  <a:cxn ang="T16">
                    <a:pos x="T8" y="T9"/>
                  </a:cxn>
                  <a:cxn ang="T17">
                    <a:pos x="T10" y="T11"/>
                  </a:cxn>
                </a:cxnLst>
                <a:rect l="T18" t="T19" r="T20" b="T21"/>
                <a:pathLst>
                  <a:path w="349" h="166">
                    <a:moveTo>
                      <a:pt x="349" y="9"/>
                    </a:moveTo>
                    <a:lnTo>
                      <a:pt x="110" y="149"/>
                    </a:lnTo>
                    <a:lnTo>
                      <a:pt x="108" y="166"/>
                    </a:lnTo>
                    <a:lnTo>
                      <a:pt x="0" y="157"/>
                    </a:lnTo>
                    <a:lnTo>
                      <a:pt x="266" y="0"/>
                    </a:lnTo>
                    <a:lnTo>
                      <a:pt x="349" y="9"/>
                    </a:lnTo>
                    <a:close/>
                  </a:path>
                </a:pathLst>
              </a:custGeom>
              <a:solidFill>
                <a:srgbClr val="99D8FF"/>
              </a:solidFill>
              <a:ln w="9525">
                <a:noFill/>
                <a:round/>
                <a:headEnd/>
                <a:tailEnd/>
              </a:ln>
            </p:spPr>
            <p:txBody>
              <a:bodyPr/>
              <a:lstStyle/>
              <a:p>
                <a:endParaRPr lang="en-US"/>
              </a:p>
            </p:txBody>
          </p:sp>
          <p:sp>
            <p:nvSpPr>
              <p:cNvPr id="23775" name="Freeform 188"/>
              <p:cNvSpPr>
                <a:spLocks/>
              </p:cNvSpPr>
              <p:nvPr/>
            </p:nvSpPr>
            <p:spPr bwMode="auto">
              <a:xfrm>
                <a:off x="1847" y="3350"/>
                <a:ext cx="127" cy="79"/>
              </a:xfrm>
              <a:custGeom>
                <a:avLst/>
                <a:gdLst>
                  <a:gd name="T0" fmla="*/ 0 w 255"/>
                  <a:gd name="T1" fmla="*/ 1 h 158"/>
                  <a:gd name="T2" fmla="*/ 0 w 255"/>
                  <a:gd name="T3" fmla="*/ 1 h 158"/>
                  <a:gd name="T4" fmla="*/ 0 w 255"/>
                  <a:gd name="T5" fmla="*/ 1 h 158"/>
                  <a:gd name="T6" fmla="*/ 0 w 255"/>
                  <a:gd name="T7" fmla="*/ 0 h 158"/>
                  <a:gd name="T8" fmla="*/ 0 w 255"/>
                  <a:gd name="T9" fmla="*/ 1 h 158"/>
                  <a:gd name="T10" fmla="*/ 0 w 255"/>
                  <a:gd name="T11" fmla="*/ 1 h 158"/>
                  <a:gd name="T12" fmla="*/ 0 w 255"/>
                  <a:gd name="T13" fmla="*/ 1 h 158"/>
                  <a:gd name="T14" fmla="*/ 0 w 255"/>
                  <a:gd name="T15" fmla="*/ 1 h 158"/>
                  <a:gd name="T16" fmla="*/ 0 w 255"/>
                  <a:gd name="T17" fmla="*/ 1 h 158"/>
                  <a:gd name="T18" fmla="*/ 0 w 255"/>
                  <a:gd name="T19" fmla="*/ 1 h 158"/>
                  <a:gd name="T20" fmla="*/ 0 w 255"/>
                  <a:gd name="T21" fmla="*/ 1 h 158"/>
                  <a:gd name="T22" fmla="*/ 0 w 255"/>
                  <a:gd name="T23" fmla="*/ 1 h 1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5"/>
                  <a:gd name="T37" fmla="*/ 0 h 158"/>
                  <a:gd name="T38" fmla="*/ 255 w 255"/>
                  <a:gd name="T39" fmla="*/ 158 h 1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5" h="158">
                    <a:moveTo>
                      <a:pt x="22" y="150"/>
                    </a:moveTo>
                    <a:lnTo>
                      <a:pt x="15" y="158"/>
                    </a:lnTo>
                    <a:lnTo>
                      <a:pt x="255" y="19"/>
                    </a:lnTo>
                    <a:lnTo>
                      <a:pt x="245" y="0"/>
                    </a:lnTo>
                    <a:lnTo>
                      <a:pt x="6" y="139"/>
                    </a:lnTo>
                    <a:lnTo>
                      <a:pt x="0" y="147"/>
                    </a:lnTo>
                    <a:lnTo>
                      <a:pt x="6" y="139"/>
                    </a:lnTo>
                    <a:lnTo>
                      <a:pt x="0" y="146"/>
                    </a:lnTo>
                    <a:lnTo>
                      <a:pt x="1" y="153"/>
                    </a:lnTo>
                    <a:lnTo>
                      <a:pt x="7" y="158"/>
                    </a:lnTo>
                    <a:lnTo>
                      <a:pt x="15" y="158"/>
                    </a:lnTo>
                    <a:lnTo>
                      <a:pt x="22" y="150"/>
                    </a:lnTo>
                    <a:close/>
                  </a:path>
                </a:pathLst>
              </a:custGeom>
              <a:solidFill>
                <a:srgbClr val="000000"/>
              </a:solidFill>
              <a:ln w="9525">
                <a:noFill/>
                <a:round/>
                <a:headEnd/>
                <a:tailEnd/>
              </a:ln>
            </p:spPr>
            <p:txBody>
              <a:bodyPr/>
              <a:lstStyle/>
              <a:p>
                <a:endParaRPr lang="en-US"/>
              </a:p>
            </p:txBody>
          </p:sp>
          <p:sp>
            <p:nvSpPr>
              <p:cNvPr id="23776" name="Freeform 189"/>
              <p:cNvSpPr>
                <a:spLocks/>
              </p:cNvSpPr>
              <p:nvPr/>
            </p:nvSpPr>
            <p:spPr bwMode="auto">
              <a:xfrm>
                <a:off x="1846" y="3423"/>
                <a:ext cx="12" cy="15"/>
              </a:xfrm>
              <a:custGeom>
                <a:avLst/>
                <a:gdLst>
                  <a:gd name="T0" fmla="*/ 1 w 24"/>
                  <a:gd name="T1" fmla="*/ 1 h 30"/>
                  <a:gd name="T2" fmla="*/ 1 w 24"/>
                  <a:gd name="T3" fmla="*/ 1 h 30"/>
                  <a:gd name="T4" fmla="*/ 1 w 24"/>
                  <a:gd name="T5" fmla="*/ 1 h 30"/>
                  <a:gd name="T6" fmla="*/ 1 w 24"/>
                  <a:gd name="T7" fmla="*/ 0 h 30"/>
                  <a:gd name="T8" fmla="*/ 0 w 24"/>
                  <a:gd name="T9" fmla="*/ 1 h 30"/>
                  <a:gd name="T10" fmla="*/ 1 w 24"/>
                  <a:gd name="T11" fmla="*/ 1 h 30"/>
                  <a:gd name="T12" fmla="*/ 0 w 24"/>
                  <a:gd name="T13" fmla="*/ 1 h 30"/>
                  <a:gd name="T14" fmla="*/ 1 w 24"/>
                  <a:gd name="T15" fmla="*/ 1 h 30"/>
                  <a:gd name="T16" fmla="*/ 1 w 24"/>
                  <a:gd name="T17" fmla="*/ 1 h 30"/>
                  <a:gd name="T18" fmla="*/ 1 w 24"/>
                  <a:gd name="T19" fmla="*/ 1 h 30"/>
                  <a:gd name="T20" fmla="*/ 1 w 24"/>
                  <a:gd name="T21" fmla="*/ 1 h 30"/>
                  <a:gd name="T22" fmla="*/ 1 w 24"/>
                  <a:gd name="T23" fmla="*/ 1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0"/>
                  <a:gd name="T38" fmla="*/ 24 w 24"/>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0">
                    <a:moveTo>
                      <a:pt x="9" y="30"/>
                    </a:moveTo>
                    <a:lnTo>
                      <a:pt x="22" y="21"/>
                    </a:lnTo>
                    <a:lnTo>
                      <a:pt x="24" y="3"/>
                    </a:lnTo>
                    <a:lnTo>
                      <a:pt x="2" y="0"/>
                    </a:lnTo>
                    <a:lnTo>
                      <a:pt x="0" y="17"/>
                    </a:lnTo>
                    <a:lnTo>
                      <a:pt x="13" y="8"/>
                    </a:lnTo>
                    <a:lnTo>
                      <a:pt x="0" y="17"/>
                    </a:lnTo>
                    <a:lnTo>
                      <a:pt x="3" y="25"/>
                    </a:lnTo>
                    <a:lnTo>
                      <a:pt x="9" y="30"/>
                    </a:lnTo>
                    <a:lnTo>
                      <a:pt x="17" y="28"/>
                    </a:lnTo>
                    <a:lnTo>
                      <a:pt x="22" y="21"/>
                    </a:lnTo>
                    <a:lnTo>
                      <a:pt x="9" y="30"/>
                    </a:lnTo>
                    <a:close/>
                  </a:path>
                </a:pathLst>
              </a:custGeom>
              <a:solidFill>
                <a:srgbClr val="000000"/>
              </a:solidFill>
              <a:ln w="9525">
                <a:noFill/>
                <a:round/>
                <a:headEnd/>
                <a:tailEnd/>
              </a:ln>
            </p:spPr>
            <p:txBody>
              <a:bodyPr/>
              <a:lstStyle/>
              <a:p>
                <a:endParaRPr lang="en-US"/>
              </a:p>
            </p:txBody>
          </p:sp>
          <p:sp>
            <p:nvSpPr>
              <p:cNvPr id="23777" name="Freeform 190"/>
              <p:cNvSpPr>
                <a:spLocks/>
              </p:cNvSpPr>
              <p:nvPr/>
            </p:nvSpPr>
            <p:spPr bwMode="auto">
              <a:xfrm>
                <a:off x="1792" y="3422"/>
                <a:ext cx="60" cy="16"/>
              </a:xfrm>
              <a:custGeom>
                <a:avLst/>
                <a:gdLst>
                  <a:gd name="T0" fmla="*/ 0 w 121"/>
                  <a:gd name="T1" fmla="*/ 1 h 31"/>
                  <a:gd name="T2" fmla="*/ 0 w 121"/>
                  <a:gd name="T3" fmla="*/ 1 h 31"/>
                  <a:gd name="T4" fmla="*/ 0 w 121"/>
                  <a:gd name="T5" fmla="*/ 1 h 31"/>
                  <a:gd name="T6" fmla="*/ 0 w 121"/>
                  <a:gd name="T7" fmla="*/ 1 h 31"/>
                  <a:gd name="T8" fmla="*/ 0 w 121"/>
                  <a:gd name="T9" fmla="*/ 0 h 31"/>
                  <a:gd name="T10" fmla="*/ 0 w 121"/>
                  <a:gd name="T11" fmla="*/ 1 h 31"/>
                  <a:gd name="T12" fmla="*/ 0 w 121"/>
                  <a:gd name="T13" fmla="*/ 0 h 31"/>
                  <a:gd name="T14" fmla="*/ 0 w 121"/>
                  <a:gd name="T15" fmla="*/ 1 h 31"/>
                  <a:gd name="T16" fmla="*/ 0 w 121"/>
                  <a:gd name="T17" fmla="*/ 1 h 31"/>
                  <a:gd name="T18" fmla="*/ 0 w 121"/>
                  <a:gd name="T19" fmla="*/ 1 h 31"/>
                  <a:gd name="T20" fmla="*/ 0 w 121"/>
                  <a:gd name="T21" fmla="*/ 1 h 31"/>
                  <a:gd name="T22" fmla="*/ 0 w 121"/>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
                  <a:gd name="T37" fmla="*/ 0 h 31"/>
                  <a:gd name="T38" fmla="*/ 121 w 12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 h="31">
                    <a:moveTo>
                      <a:pt x="5" y="1"/>
                    </a:moveTo>
                    <a:lnTo>
                      <a:pt x="9" y="22"/>
                    </a:lnTo>
                    <a:lnTo>
                      <a:pt x="117" y="31"/>
                    </a:lnTo>
                    <a:lnTo>
                      <a:pt x="121" y="9"/>
                    </a:lnTo>
                    <a:lnTo>
                      <a:pt x="13" y="0"/>
                    </a:lnTo>
                    <a:lnTo>
                      <a:pt x="17" y="20"/>
                    </a:lnTo>
                    <a:lnTo>
                      <a:pt x="13" y="0"/>
                    </a:lnTo>
                    <a:lnTo>
                      <a:pt x="5" y="3"/>
                    </a:lnTo>
                    <a:lnTo>
                      <a:pt x="0" y="9"/>
                    </a:lnTo>
                    <a:lnTo>
                      <a:pt x="2" y="17"/>
                    </a:lnTo>
                    <a:lnTo>
                      <a:pt x="9" y="22"/>
                    </a:lnTo>
                    <a:lnTo>
                      <a:pt x="5" y="1"/>
                    </a:lnTo>
                    <a:close/>
                  </a:path>
                </a:pathLst>
              </a:custGeom>
              <a:solidFill>
                <a:srgbClr val="000000"/>
              </a:solidFill>
              <a:ln w="9525">
                <a:noFill/>
                <a:round/>
                <a:headEnd/>
                <a:tailEnd/>
              </a:ln>
            </p:spPr>
            <p:txBody>
              <a:bodyPr/>
              <a:lstStyle/>
              <a:p>
                <a:endParaRPr lang="en-US"/>
              </a:p>
            </p:txBody>
          </p:sp>
          <p:sp>
            <p:nvSpPr>
              <p:cNvPr id="23778" name="Freeform 191"/>
              <p:cNvSpPr>
                <a:spLocks/>
              </p:cNvSpPr>
              <p:nvPr/>
            </p:nvSpPr>
            <p:spPr bwMode="auto">
              <a:xfrm>
                <a:off x="1794" y="3344"/>
                <a:ext cx="142" cy="88"/>
              </a:xfrm>
              <a:custGeom>
                <a:avLst/>
                <a:gdLst>
                  <a:gd name="T0" fmla="*/ 1 w 283"/>
                  <a:gd name="T1" fmla="*/ 0 h 177"/>
                  <a:gd name="T2" fmla="*/ 1 w 283"/>
                  <a:gd name="T3" fmla="*/ 0 h 177"/>
                  <a:gd name="T4" fmla="*/ 0 w 283"/>
                  <a:gd name="T5" fmla="*/ 0 h 177"/>
                  <a:gd name="T6" fmla="*/ 1 w 283"/>
                  <a:gd name="T7" fmla="*/ 0 h 177"/>
                  <a:gd name="T8" fmla="*/ 1 w 283"/>
                  <a:gd name="T9" fmla="*/ 0 h 177"/>
                  <a:gd name="T10" fmla="*/ 1 w 283"/>
                  <a:gd name="T11" fmla="*/ 0 h 177"/>
                  <a:gd name="T12" fmla="*/ 1 w 283"/>
                  <a:gd name="T13" fmla="*/ 0 h 177"/>
                  <a:gd name="T14" fmla="*/ 1 w 283"/>
                  <a:gd name="T15" fmla="*/ 0 h 177"/>
                  <a:gd name="T16" fmla="*/ 1 w 283"/>
                  <a:gd name="T17" fmla="*/ 0 h 177"/>
                  <a:gd name="T18" fmla="*/ 1 w 283"/>
                  <a:gd name="T19" fmla="*/ 0 h 177"/>
                  <a:gd name="T20" fmla="*/ 1 w 283"/>
                  <a:gd name="T21" fmla="*/ 0 h 177"/>
                  <a:gd name="T22" fmla="*/ 1 w 283"/>
                  <a:gd name="T23" fmla="*/ 0 h 1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3"/>
                  <a:gd name="T37" fmla="*/ 0 h 177"/>
                  <a:gd name="T38" fmla="*/ 283 w 283"/>
                  <a:gd name="T39" fmla="*/ 177 h 1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3" h="177">
                    <a:moveTo>
                      <a:pt x="274" y="0"/>
                    </a:moveTo>
                    <a:lnTo>
                      <a:pt x="266" y="2"/>
                    </a:lnTo>
                    <a:lnTo>
                      <a:pt x="0" y="158"/>
                    </a:lnTo>
                    <a:lnTo>
                      <a:pt x="12" y="177"/>
                    </a:lnTo>
                    <a:lnTo>
                      <a:pt x="278" y="20"/>
                    </a:lnTo>
                    <a:lnTo>
                      <a:pt x="271" y="22"/>
                    </a:lnTo>
                    <a:lnTo>
                      <a:pt x="278" y="20"/>
                    </a:lnTo>
                    <a:lnTo>
                      <a:pt x="283" y="13"/>
                    </a:lnTo>
                    <a:lnTo>
                      <a:pt x="282" y="5"/>
                    </a:lnTo>
                    <a:lnTo>
                      <a:pt x="275" y="0"/>
                    </a:lnTo>
                    <a:lnTo>
                      <a:pt x="266" y="2"/>
                    </a:lnTo>
                    <a:lnTo>
                      <a:pt x="274" y="0"/>
                    </a:lnTo>
                    <a:close/>
                  </a:path>
                </a:pathLst>
              </a:custGeom>
              <a:solidFill>
                <a:srgbClr val="000000"/>
              </a:solidFill>
              <a:ln w="9525">
                <a:noFill/>
                <a:round/>
                <a:headEnd/>
                <a:tailEnd/>
              </a:ln>
            </p:spPr>
            <p:txBody>
              <a:bodyPr/>
              <a:lstStyle/>
              <a:p>
                <a:endParaRPr lang="en-US"/>
              </a:p>
            </p:txBody>
          </p:sp>
          <p:sp>
            <p:nvSpPr>
              <p:cNvPr id="23779" name="Freeform 192"/>
              <p:cNvSpPr>
                <a:spLocks/>
              </p:cNvSpPr>
              <p:nvPr/>
            </p:nvSpPr>
            <p:spPr bwMode="auto">
              <a:xfrm>
                <a:off x="1930" y="3344"/>
                <a:ext cx="48" cy="16"/>
              </a:xfrm>
              <a:custGeom>
                <a:avLst/>
                <a:gdLst>
                  <a:gd name="T0" fmla="*/ 1 w 95"/>
                  <a:gd name="T1" fmla="*/ 1 h 31"/>
                  <a:gd name="T2" fmla="*/ 1 w 95"/>
                  <a:gd name="T3" fmla="*/ 1 h 31"/>
                  <a:gd name="T4" fmla="*/ 1 w 95"/>
                  <a:gd name="T5" fmla="*/ 0 h 31"/>
                  <a:gd name="T6" fmla="*/ 0 w 95"/>
                  <a:gd name="T7" fmla="*/ 1 h 31"/>
                  <a:gd name="T8" fmla="*/ 1 w 95"/>
                  <a:gd name="T9" fmla="*/ 1 h 31"/>
                  <a:gd name="T10" fmla="*/ 1 w 95"/>
                  <a:gd name="T11" fmla="*/ 1 h 31"/>
                  <a:gd name="T12" fmla="*/ 1 w 95"/>
                  <a:gd name="T13" fmla="*/ 1 h 31"/>
                  <a:gd name="T14" fmla="*/ 1 w 95"/>
                  <a:gd name="T15" fmla="*/ 1 h 31"/>
                  <a:gd name="T16" fmla="*/ 1 w 95"/>
                  <a:gd name="T17" fmla="*/ 1 h 31"/>
                  <a:gd name="T18" fmla="*/ 1 w 95"/>
                  <a:gd name="T19" fmla="*/ 1 h 31"/>
                  <a:gd name="T20" fmla="*/ 1 w 95"/>
                  <a:gd name="T21" fmla="*/ 1 h 31"/>
                  <a:gd name="T22" fmla="*/ 1 w 95"/>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5"/>
                  <a:gd name="T37" fmla="*/ 0 h 31"/>
                  <a:gd name="T38" fmla="*/ 95 w 95"/>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5" h="31">
                    <a:moveTo>
                      <a:pt x="89" y="30"/>
                    </a:moveTo>
                    <a:lnTo>
                      <a:pt x="86" y="10"/>
                    </a:lnTo>
                    <a:lnTo>
                      <a:pt x="3" y="0"/>
                    </a:lnTo>
                    <a:lnTo>
                      <a:pt x="0" y="22"/>
                    </a:lnTo>
                    <a:lnTo>
                      <a:pt x="83" y="31"/>
                    </a:lnTo>
                    <a:lnTo>
                      <a:pt x="79" y="11"/>
                    </a:lnTo>
                    <a:lnTo>
                      <a:pt x="83" y="31"/>
                    </a:lnTo>
                    <a:lnTo>
                      <a:pt x="90" y="28"/>
                    </a:lnTo>
                    <a:lnTo>
                      <a:pt x="95" y="22"/>
                    </a:lnTo>
                    <a:lnTo>
                      <a:pt x="94" y="14"/>
                    </a:lnTo>
                    <a:lnTo>
                      <a:pt x="86" y="10"/>
                    </a:lnTo>
                    <a:lnTo>
                      <a:pt x="89" y="30"/>
                    </a:lnTo>
                    <a:close/>
                  </a:path>
                </a:pathLst>
              </a:custGeom>
              <a:solidFill>
                <a:srgbClr val="000000"/>
              </a:solidFill>
              <a:ln w="9525">
                <a:noFill/>
                <a:round/>
                <a:headEnd/>
                <a:tailEnd/>
              </a:ln>
            </p:spPr>
            <p:txBody>
              <a:bodyPr/>
              <a:lstStyle/>
              <a:p>
                <a:endParaRPr lang="en-US"/>
              </a:p>
            </p:txBody>
          </p:sp>
          <p:sp>
            <p:nvSpPr>
              <p:cNvPr id="23780" name="Freeform 193"/>
              <p:cNvSpPr>
                <a:spLocks/>
              </p:cNvSpPr>
              <p:nvPr/>
            </p:nvSpPr>
            <p:spPr bwMode="auto">
              <a:xfrm>
                <a:off x="2152" y="3416"/>
                <a:ext cx="83" cy="90"/>
              </a:xfrm>
              <a:custGeom>
                <a:avLst/>
                <a:gdLst>
                  <a:gd name="T0" fmla="*/ 1 w 166"/>
                  <a:gd name="T1" fmla="*/ 1 h 180"/>
                  <a:gd name="T2" fmla="*/ 1 w 166"/>
                  <a:gd name="T3" fmla="*/ 1 h 180"/>
                  <a:gd name="T4" fmla="*/ 1 w 166"/>
                  <a:gd name="T5" fmla="*/ 1 h 180"/>
                  <a:gd name="T6" fmla="*/ 1 w 166"/>
                  <a:gd name="T7" fmla="*/ 1 h 180"/>
                  <a:gd name="T8" fmla="*/ 1 w 166"/>
                  <a:gd name="T9" fmla="*/ 1 h 180"/>
                  <a:gd name="T10" fmla="*/ 1 w 166"/>
                  <a:gd name="T11" fmla="*/ 1 h 180"/>
                  <a:gd name="T12" fmla="*/ 1 w 166"/>
                  <a:gd name="T13" fmla="*/ 1 h 180"/>
                  <a:gd name="T14" fmla="*/ 1 w 166"/>
                  <a:gd name="T15" fmla="*/ 1 h 180"/>
                  <a:gd name="T16" fmla="*/ 1 w 166"/>
                  <a:gd name="T17" fmla="*/ 1 h 180"/>
                  <a:gd name="T18" fmla="*/ 1 w 166"/>
                  <a:gd name="T19" fmla="*/ 1 h 180"/>
                  <a:gd name="T20" fmla="*/ 1 w 166"/>
                  <a:gd name="T21" fmla="*/ 1 h 180"/>
                  <a:gd name="T22" fmla="*/ 1 w 166"/>
                  <a:gd name="T23" fmla="*/ 1 h 180"/>
                  <a:gd name="T24" fmla="*/ 1 w 166"/>
                  <a:gd name="T25" fmla="*/ 1 h 180"/>
                  <a:gd name="T26" fmla="*/ 1 w 166"/>
                  <a:gd name="T27" fmla="*/ 1 h 180"/>
                  <a:gd name="T28" fmla="*/ 1 w 166"/>
                  <a:gd name="T29" fmla="*/ 0 h 180"/>
                  <a:gd name="T30" fmla="*/ 1 w 166"/>
                  <a:gd name="T31" fmla="*/ 0 h 180"/>
                  <a:gd name="T32" fmla="*/ 1 w 166"/>
                  <a:gd name="T33" fmla="*/ 0 h 180"/>
                  <a:gd name="T34" fmla="*/ 1 w 166"/>
                  <a:gd name="T35" fmla="*/ 0 h 180"/>
                  <a:gd name="T36" fmla="*/ 1 w 166"/>
                  <a:gd name="T37" fmla="*/ 1 h 180"/>
                  <a:gd name="T38" fmla="*/ 1 w 166"/>
                  <a:gd name="T39" fmla="*/ 1 h 180"/>
                  <a:gd name="T40" fmla="*/ 0 w 166"/>
                  <a:gd name="T41" fmla="*/ 1 h 180"/>
                  <a:gd name="T42" fmla="*/ 0 w 166"/>
                  <a:gd name="T43" fmla="*/ 1 h 180"/>
                  <a:gd name="T44" fmla="*/ 1 w 166"/>
                  <a:gd name="T45" fmla="*/ 1 h 180"/>
                  <a:gd name="T46" fmla="*/ 1 w 166"/>
                  <a:gd name="T47" fmla="*/ 1 h 180"/>
                  <a:gd name="T48" fmla="*/ 1 w 166"/>
                  <a:gd name="T49" fmla="*/ 1 h 180"/>
                  <a:gd name="T50" fmla="*/ 1 w 166"/>
                  <a:gd name="T51" fmla="*/ 1 h 180"/>
                  <a:gd name="T52" fmla="*/ 1 w 166"/>
                  <a:gd name="T53" fmla="*/ 1 h 180"/>
                  <a:gd name="T54" fmla="*/ 1 w 166"/>
                  <a:gd name="T55" fmla="*/ 1 h 180"/>
                  <a:gd name="T56" fmla="*/ 1 w 166"/>
                  <a:gd name="T57" fmla="*/ 1 h 180"/>
                  <a:gd name="T58" fmla="*/ 1 w 166"/>
                  <a:gd name="T59" fmla="*/ 1 h 180"/>
                  <a:gd name="T60" fmla="*/ 1 w 166"/>
                  <a:gd name="T61" fmla="*/ 1 h 180"/>
                  <a:gd name="T62" fmla="*/ 1 w 166"/>
                  <a:gd name="T63" fmla="*/ 1 h 180"/>
                  <a:gd name="T64" fmla="*/ 1 w 166"/>
                  <a:gd name="T65" fmla="*/ 1 h 180"/>
                  <a:gd name="T66" fmla="*/ 1 w 166"/>
                  <a:gd name="T67" fmla="*/ 1 h 18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6"/>
                  <a:gd name="T103" fmla="*/ 0 h 180"/>
                  <a:gd name="T104" fmla="*/ 166 w 166"/>
                  <a:gd name="T105" fmla="*/ 180 h 18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6" h="180">
                    <a:moveTo>
                      <a:pt x="72" y="180"/>
                    </a:moveTo>
                    <a:lnTo>
                      <a:pt x="77" y="180"/>
                    </a:lnTo>
                    <a:lnTo>
                      <a:pt x="88" y="180"/>
                    </a:lnTo>
                    <a:lnTo>
                      <a:pt x="100" y="180"/>
                    </a:lnTo>
                    <a:lnTo>
                      <a:pt x="111" y="178"/>
                    </a:lnTo>
                    <a:lnTo>
                      <a:pt x="119" y="177"/>
                    </a:lnTo>
                    <a:lnTo>
                      <a:pt x="124" y="174"/>
                    </a:lnTo>
                    <a:lnTo>
                      <a:pt x="130" y="171"/>
                    </a:lnTo>
                    <a:lnTo>
                      <a:pt x="135" y="169"/>
                    </a:lnTo>
                    <a:lnTo>
                      <a:pt x="140" y="169"/>
                    </a:lnTo>
                    <a:lnTo>
                      <a:pt x="146" y="169"/>
                    </a:lnTo>
                    <a:lnTo>
                      <a:pt x="151" y="169"/>
                    </a:lnTo>
                    <a:lnTo>
                      <a:pt x="152" y="169"/>
                    </a:lnTo>
                    <a:lnTo>
                      <a:pt x="154" y="164"/>
                    </a:lnTo>
                    <a:lnTo>
                      <a:pt x="157" y="153"/>
                    </a:lnTo>
                    <a:lnTo>
                      <a:pt x="160" y="141"/>
                    </a:lnTo>
                    <a:lnTo>
                      <a:pt x="162" y="128"/>
                    </a:lnTo>
                    <a:lnTo>
                      <a:pt x="162" y="121"/>
                    </a:lnTo>
                    <a:lnTo>
                      <a:pt x="163" y="106"/>
                    </a:lnTo>
                    <a:lnTo>
                      <a:pt x="165" y="89"/>
                    </a:lnTo>
                    <a:lnTo>
                      <a:pt x="166" y="70"/>
                    </a:lnTo>
                    <a:lnTo>
                      <a:pt x="166" y="52"/>
                    </a:lnTo>
                    <a:lnTo>
                      <a:pt x="163" y="35"/>
                    </a:lnTo>
                    <a:lnTo>
                      <a:pt x="158" y="20"/>
                    </a:lnTo>
                    <a:lnTo>
                      <a:pt x="151" y="13"/>
                    </a:lnTo>
                    <a:lnTo>
                      <a:pt x="141" y="8"/>
                    </a:lnTo>
                    <a:lnTo>
                      <a:pt x="130" y="5"/>
                    </a:lnTo>
                    <a:lnTo>
                      <a:pt x="121" y="3"/>
                    </a:lnTo>
                    <a:lnTo>
                      <a:pt x="111" y="2"/>
                    </a:lnTo>
                    <a:lnTo>
                      <a:pt x="104" y="0"/>
                    </a:lnTo>
                    <a:lnTo>
                      <a:pt x="96" y="0"/>
                    </a:lnTo>
                    <a:lnTo>
                      <a:pt x="88" y="0"/>
                    </a:lnTo>
                    <a:lnTo>
                      <a:pt x="83" y="0"/>
                    </a:lnTo>
                    <a:lnTo>
                      <a:pt x="77" y="0"/>
                    </a:lnTo>
                    <a:lnTo>
                      <a:pt x="68" y="0"/>
                    </a:lnTo>
                    <a:lnTo>
                      <a:pt x="57" y="0"/>
                    </a:lnTo>
                    <a:lnTo>
                      <a:pt x="44" y="2"/>
                    </a:lnTo>
                    <a:lnTo>
                      <a:pt x="30" y="5"/>
                    </a:lnTo>
                    <a:lnTo>
                      <a:pt x="19" y="8"/>
                    </a:lnTo>
                    <a:lnTo>
                      <a:pt x="10" y="14"/>
                    </a:lnTo>
                    <a:lnTo>
                      <a:pt x="3" y="22"/>
                    </a:lnTo>
                    <a:lnTo>
                      <a:pt x="0" y="30"/>
                    </a:lnTo>
                    <a:lnTo>
                      <a:pt x="0" y="38"/>
                    </a:lnTo>
                    <a:lnTo>
                      <a:pt x="0" y="45"/>
                    </a:lnTo>
                    <a:lnTo>
                      <a:pt x="2" y="53"/>
                    </a:lnTo>
                    <a:lnTo>
                      <a:pt x="3" y="60"/>
                    </a:lnTo>
                    <a:lnTo>
                      <a:pt x="5" y="66"/>
                    </a:lnTo>
                    <a:lnTo>
                      <a:pt x="8" y="70"/>
                    </a:lnTo>
                    <a:lnTo>
                      <a:pt x="10" y="74"/>
                    </a:lnTo>
                    <a:lnTo>
                      <a:pt x="14" y="80"/>
                    </a:lnTo>
                    <a:lnTo>
                      <a:pt x="19" y="88"/>
                    </a:lnTo>
                    <a:lnTo>
                      <a:pt x="22" y="96"/>
                    </a:lnTo>
                    <a:lnTo>
                      <a:pt x="24" y="102"/>
                    </a:lnTo>
                    <a:lnTo>
                      <a:pt x="24" y="106"/>
                    </a:lnTo>
                    <a:lnTo>
                      <a:pt x="24" y="113"/>
                    </a:lnTo>
                    <a:lnTo>
                      <a:pt x="24" y="119"/>
                    </a:lnTo>
                    <a:lnTo>
                      <a:pt x="24" y="121"/>
                    </a:lnTo>
                    <a:lnTo>
                      <a:pt x="25" y="121"/>
                    </a:lnTo>
                    <a:lnTo>
                      <a:pt x="30" y="122"/>
                    </a:lnTo>
                    <a:lnTo>
                      <a:pt x="35" y="122"/>
                    </a:lnTo>
                    <a:lnTo>
                      <a:pt x="41" y="124"/>
                    </a:lnTo>
                    <a:lnTo>
                      <a:pt x="46" y="127"/>
                    </a:lnTo>
                    <a:lnTo>
                      <a:pt x="49" y="133"/>
                    </a:lnTo>
                    <a:lnTo>
                      <a:pt x="53" y="142"/>
                    </a:lnTo>
                    <a:lnTo>
                      <a:pt x="57" y="152"/>
                    </a:lnTo>
                    <a:lnTo>
                      <a:pt x="61" y="163"/>
                    </a:lnTo>
                    <a:lnTo>
                      <a:pt x="66" y="171"/>
                    </a:lnTo>
                    <a:lnTo>
                      <a:pt x="71" y="177"/>
                    </a:lnTo>
                    <a:lnTo>
                      <a:pt x="72" y="180"/>
                    </a:lnTo>
                    <a:close/>
                  </a:path>
                </a:pathLst>
              </a:custGeom>
              <a:solidFill>
                <a:srgbClr val="994C19"/>
              </a:solidFill>
              <a:ln w="9525">
                <a:noFill/>
                <a:round/>
                <a:headEnd/>
                <a:tailEnd/>
              </a:ln>
            </p:spPr>
            <p:txBody>
              <a:bodyPr/>
              <a:lstStyle/>
              <a:p>
                <a:endParaRPr lang="en-US"/>
              </a:p>
            </p:txBody>
          </p:sp>
          <p:sp>
            <p:nvSpPr>
              <p:cNvPr id="23781" name="Freeform 194"/>
              <p:cNvSpPr>
                <a:spLocks/>
              </p:cNvSpPr>
              <p:nvPr/>
            </p:nvSpPr>
            <p:spPr bwMode="auto">
              <a:xfrm>
                <a:off x="2188" y="3500"/>
                <a:ext cx="20" cy="11"/>
              </a:xfrm>
              <a:custGeom>
                <a:avLst/>
                <a:gdLst>
                  <a:gd name="T0" fmla="*/ 0 w 41"/>
                  <a:gd name="T1" fmla="*/ 0 h 24"/>
                  <a:gd name="T2" fmla="*/ 0 w 41"/>
                  <a:gd name="T3" fmla="*/ 0 h 24"/>
                  <a:gd name="T4" fmla="*/ 0 w 41"/>
                  <a:gd name="T5" fmla="*/ 0 h 24"/>
                  <a:gd name="T6" fmla="*/ 0 w 41"/>
                  <a:gd name="T7" fmla="*/ 0 h 24"/>
                  <a:gd name="T8" fmla="*/ 0 w 41"/>
                  <a:gd name="T9" fmla="*/ 0 h 24"/>
                  <a:gd name="T10" fmla="*/ 0 w 41"/>
                  <a:gd name="T11" fmla="*/ 0 h 24"/>
                  <a:gd name="T12" fmla="*/ 0 w 41"/>
                  <a:gd name="T13" fmla="*/ 0 h 24"/>
                  <a:gd name="T14" fmla="*/ 0 w 41"/>
                  <a:gd name="T15" fmla="*/ 0 h 24"/>
                  <a:gd name="T16" fmla="*/ 0 w 41"/>
                  <a:gd name="T17" fmla="*/ 0 h 24"/>
                  <a:gd name="T18" fmla="*/ 0 w 41"/>
                  <a:gd name="T19" fmla="*/ 0 h 24"/>
                  <a:gd name="T20" fmla="*/ 0 w 41"/>
                  <a:gd name="T21" fmla="*/ 0 h 24"/>
                  <a:gd name="T22" fmla="*/ 0 w 41"/>
                  <a:gd name="T23" fmla="*/ 0 h 24"/>
                  <a:gd name="T24" fmla="*/ 0 w 41"/>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
                  <a:gd name="T40" fmla="*/ 0 h 24"/>
                  <a:gd name="T41" fmla="*/ 41 w 41"/>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 h="24">
                    <a:moveTo>
                      <a:pt x="38" y="0"/>
                    </a:moveTo>
                    <a:lnTo>
                      <a:pt x="38" y="0"/>
                    </a:lnTo>
                    <a:lnTo>
                      <a:pt x="28" y="2"/>
                    </a:lnTo>
                    <a:lnTo>
                      <a:pt x="16" y="2"/>
                    </a:lnTo>
                    <a:lnTo>
                      <a:pt x="5" y="2"/>
                    </a:lnTo>
                    <a:lnTo>
                      <a:pt x="0" y="2"/>
                    </a:lnTo>
                    <a:lnTo>
                      <a:pt x="0" y="24"/>
                    </a:lnTo>
                    <a:lnTo>
                      <a:pt x="5" y="24"/>
                    </a:lnTo>
                    <a:lnTo>
                      <a:pt x="16" y="24"/>
                    </a:lnTo>
                    <a:lnTo>
                      <a:pt x="28" y="24"/>
                    </a:lnTo>
                    <a:lnTo>
                      <a:pt x="41" y="22"/>
                    </a:lnTo>
                    <a:lnTo>
                      <a:pt x="38" y="0"/>
                    </a:lnTo>
                    <a:close/>
                  </a:path>
                </a:pathLst>
              </a:custGeom>
              <a:solidFill>
                <a:srgbClr val="000000"/>
              </a:solidFill>
              <a:ln w="9525">
                <a:noFill/>
                <a:round/>
                <a:headEnd/>
                <a:tailEnd/>
              </a:ln>
            </p:spPr>
            <p:txBody>
              <a:bodyPr/>
              <a:lstStyle/>
              <a:p>
                <a:endParaRPr lang="en-US"/>
              </a:p>
            </p:txBody>
          </p:sp>
          <p:sp>
            <p:nvSpPr>
              <p:cNvPr id="23782" name="Freeform 195"/>
              <p:cNvSpPr>
                <a:spLocks/>
              </p:cNvSpPr>
              <p:nvPr/>
            </p:nvSpPr>
            <p:spPr bwMode="auto">
              <a:xfrm>
                <a:off x="2207" y="3495"/>
                <a:ext cx="14" cy="16"/>
              </a:xfrm>
              <a:custGeom>
                <a:avLst/>
                <a:gdLst>
                  <a:gd name="T0" fmla="*/ 1 w 28"/>
                  <a:gd name="T1" fmla="*/ 0 h 31"/>
                  <a:gd name="T2" fmla="*/ 1 w 28"/>
                  <a:gd name="T3" fmla="*/ 0 h 31"/>
                  <a:gd name="T4" fmla="*/ 1 w 28"/>
                  <a:gd name="T5" fmla="*/ 1 h 31"/>
                  <a:gd name="T6" fmla="*/ 1 w 28"/>
                  <a:gd name="T7" fmla="*/ 1 h 31"/>
                  <a:gd name="T8" fmla="*/ 1 w 28"/>
                  <a:gd name="T9" fmla="*/ 1 h 31"/>
                  <a:gd name="T10" fmla="*/ 0 w 28"/>
                  <a:gd name="T11" fmla="*/ 1 h 31"/>
                  <a:gd name="T12" fmla="*/ 1 w 28"/>
                  <a:gd name="T13" fmla="*/ 1 h 31"/>
                  <a:gd name="T14" fmla="*/ 1 w 28"/>
                  <a:gd name="T15" fmla="*/ 1 h 31"/>
                  <a:gd name="T16" fmla="*/ 1 w 28"/>
                  <a:gd name="T17" fmla="*/ 1 h 31"/>
                  <a:gd name="T18" fmla="*/ 1 w 28"/>
                  <a:gd name="T19" fmla="*/ 1 h 31"/>
                  <a:gd name="T20" fmla="*/ 1 w 28"/>
                  <a:gd name="T21" fmla="*/ 1 h 31"/>
                  <a:gd name="T22" fmla="*/ 1 w 28"/>
                  <a:gd name="T23" fmla="*/ 1 h 31"/>
                  <a:gd name="T24" fmla="*/ 1 w 28"/>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1"/>
                  <a:gd name="T41" fmla="*/ 28 w 28"/>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1">
                    <a:moveTo>
                      <a:pt x="22" y="0"/>
                    </a:moveTo>
                    <a:lnTo>
                      <a:pt x="23" y="0"/>
                    </a:lnTo>
                    <a:lnTo>
                      <a:pt x="16" y="3"/>
                    </a:lnTo>
                    <a:lnTo>
                      <a:pt x="9" y="6"/>
                    </a:lnTo>
                    <a:lnTo>
                      <a:pt x="6" y="8"/>
                    </a:lnTo>
                    <a:lnTo>
                      <a:pt x="0" y="9"/>
                    </a:lnTo>
                    <a:lnTo>
                      <a:pt x="3" y="31"/>
                    </a:lnTo>
                    <a:lnTo>
                      <a:pt x="12" y="30"/>
                    </a:lnTo>
                    <a:lnTo>
                      <a:pt x="19" y="25"/>
                    </a:lnTo>
                    <a:lnTo>
                      <a:pt x="25" y="22"/>
                    </a:lnTo>
                    <a:lnTo>
                      <a:pt x="26" y="22"/>
                    </a:lnTo>
                    <a:lnTo>
                      <a:pt x="28" y="22"/>
                    </a:lnTo>
                    <a:lnTo>
                      <a:pt x="22" y="0"/>
                    </a:lnTo>
                    <a:close/>
                  </a:path>
                </a:pathLst>
              </a:custGeom>
              <a:solidFill>
                <a:srgbClr val="000000"/>
              </a:solidFill>
              <a:ln w="9525">
                <a:noFill/>
                <a:round/>
                <a:headEnd/>
                <a:tailEnd/>
              </a:ln>
            </p:spPr>
            <p:txBody>
              <a:bodyPr/>
              <a:lstStyle/>
              <a:p>
                <a:endParaRPr lang="en-US"/>
              </a:p>
            </p:txBody>
          </p:sp>
          <p:sp>
            <p:nvSpPr>
              <p:cNvPr id="23783" name="Freeform 196"/>
              <p:cNvSpPr>
                <a:spLocks/>
              </p:cNvSpPr>
              <p:nvPr/>
            </p:nvSpPr>
            <p:spPr bwMode="auto">
              <a:xfrm>
                <a:off x="2218" y="3495"/>
                <a:ext cx="16" cy="11"/>
              </a:xfrm>
              <a:custGeom>
                <a:avLst/>
                <a:gdLst>
                  <a:gd name="T0" fmla="*/ 1 w 31"/>
                  <a:gd name="T1" fmla="*/ 1 h 22"/>
                  <a:gd name="T2" fmla="*/ 1 w 31"/>
                  <a:gd name="T3" fmla="*/ 0 h 22"/>
                  <a:gd name="T4" fmla="*/ 1 w 31"/>
                  <a:gd name="T5" fmla="*/ 0 h 22"/>
                  <a:gd name="T6" fmla="*/ 1 w 31"/>
                  <a:gd name="T7" fmla="*/ 0 h 22"/>
                  <a:gd name="T8" fmla="*/ 1 w 31"/>
                  <a:gd name="T9" fmla="*/ 0 h 22"/>
                  <a:gd name="T10" fmla="*/ 0 w 31"/>
                  <a:gd name="T11" fmla="*/ 0 h 22"/>
                  <a:gd name="T12" fmla="*/ 1 w 31"/>
                  <a:gd name="T13" fmla="*/ 1 h 22"/>
                  <a:gd name="T14" fmla="*/ 1 w 31"/>
                  <a:gd name="T15" fmla="*/ 1 h 22"/>
                  <a:gd name="T16" fmla="*/ 1 w 31"/>
                  <a:gd name="T17" fmla="*/ 1 h 22"/>
                  <a:gd name="T18" fmla="*/ 1 w 31"/>
                  <a:gd name="T19" fmla="*/ 1 h 22"/>
                  <a:gd name="T20" fmla="*/ 1 w 31"/>
                  <a:gd name="T21" fmla="*/ 1 h 22"/>
                  <a:gd name="T22" fmla="*/ 1 w 31"/>
                  <a:gd name="T23" fmla="*/ 1 h 22"/>
                  <a:gd name="T24" fmla="*/ 1 w 31"/>
                  <a:gd name="T25" fmla="*/ 1 h 22"/>
                  <a:gd name="T26" fmla="*/ 1 w 31"/>
                  <a:gd name="T27" fmla="*/ 1 h 22"/>
                  <a:gd name="T28" fmla="*/ 1 w 31"/>
                  <a:gd name="T29" fmla="*/ 1 h 22"/>
                  <a:gd name="T30" fmla="*/ 1 w 31"/>
                  <a:gd name="T31" fmla="*/ 1 h 22"/>
                  <a:gd name="T32" fmla="*/ 1 w 31"/>
                  <a:gd name="T33" fmla="*/ 0 h 22"/>
                  <a:gd name="T34" fmla="*/ 1 w 31"/>
                  <a:gd name="T35" fmla="*/ 1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22"/>
                  <a:gd name="T56" fmla="*/ 31 w 31"/>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22">
                    <a:moveTo>
                      <a:pt x="9" y="8"/>
                    </a:moveTo>
                    <a:lnTo>
                      <a:pt x="22" y="0"/>
                    </a:lnTo>
                    <a:lnTo>
                      <a:pt x="19" y="0"/>
                    </a:lnTo>
                    <a:lnTo>
                      <a:pt x="14" y="0"/>
                    </a:lnTo>
                    <a:lnTo>
                      <a:pt x="8" y="0"/>
                    </a:lnTo>
                    <a:lnTo>
                      <a:pt x="0" y="0"/>
                    </a:lnTo>
                    <a:lnTo>
                      <a:pt x="6" y="22"/>
                    </a:lnTo>
                    <a:lnTo>
                      <a:pt x="8" y="22"/>
                    </a:lnTo>
                    <a:lnTo>
                      <a:pt x="14" y="22"/>
                    </a:lnTo>
                    <a:lnTo>
                      <a:pt x="19" y="22"/>
                    </a:lnTo>
                    <a:lnTo>
                      <a:pt x="31" y="14"/>
                    </a:lnTo>
                    <a:lnTo>
                      <a:pt x="19" y="22"/>
                    </a:lnTo>
                    <a:lnTo>
                      <a:pt x="26" y="19"/>
                    </a:lnTo>
                    <a:lnTo>
                      <a:pt x="31" y="13"/>
                    </a:lnTo>
                    <a:lnTo>
                      <a:pt x="30" y="5"/>
                    </a:lnTo>
                    <a:lnTo>
                      <a:pt x="22" y="0"/>
                    </a:lnTo>
                    <a:lnTo>
                      <a:pt x="9" y="8"/>
                    </a:lnTo>
                    <a:close/>
                  </a:path>
                </a:pathLst>
              </a:custGeom>
              <a:solidFill>
                <a:srgbClr val="000000"/>
              </a:solidFill>
              <a:ln w="9525">
                <a:noFill/>
                <a:round/>
                <a:headEnd/>
                <a:tailEnd/>
              </a:ln>
            </p:spPr>
            <p:txBody>
              <a:bodyPr/>
              <a:lstStyle/>
              <a:p>
                <a:endParaRPr lang="en-US"/>
              </a:p>
            </p:txBody>
          </p:sp>
          <p:sp>
            <p:nvSpPr>
              <p:cNvPr id="23784" name="Freeform 197"/>
              <p:cNvSpPr>
                <a:spLocks/>
              </p:cNvSpPr>
              <p:nvPr/>
            </p:nvSpPr>
            <p:spPr bwMode="auto">
              <a:xfrm>
                <a:off x="2223" y="3480"/>
                <a:ext cx="15" cy="22"/>
              </a:xfrm>
              <a:custGeom>
                <a:avLst/>
                <a:gdLst>
                  <a:gd name="T0" fmla="*/ 0 w 31"/>
                  <a:gd name="T1" fmla="*/ 0 h 44"/>
                  <a:gd name="T2" fmla="*/ 0 w 31"/>
                  <a:gd name="T3" fmla="*/ 0 h 44"/>
                  <a:gd name="T4" fmla="*/ 0 w 31"/>
                  <a:gd name="T5" fmla="*/ 1 h 44"/>
                  <a:gd name="T6" fmla="*/ 0 w 31"/>
                  <a:gd name="T7" fmla="*/ 1 h 44"/>
                  <a:gd name="T8" fmla="*/ 0 w 31"/>
                  <a:gd name="T9" fmla="*/ 1 h 44"/>
                  <a:gd name="T10" fmla="*/ 0 w 31"/>
                  <a:gd name="T11" fmla="*/ 1 h 44"/>
                  <a:gd name="T12" fmla="*/ 0 w 31"/>
                  <a:gd name="T13" fmla="*/ 1 h 44"/>
                  <a:gd name="T14" fmla="*/ 0 w 31"/>
                  <a:gd name="T15" fmla="*/ 1 h 44"/>
                  <a:gd name="T16" fmla="*/ 0 w 31"/>
                  <a:gd name="T17" fmla="*/ 1 h 44"/>
                  <a:gd name="T18" fmla="*/ 0 w 31"/>
                  <a:gd name="T19" fmla="*/ 1 h 44"/>
                  <a:gd name="T20" fmla="*/ 0 w 31"/>
                  <a:gd name="T21" fmla="*/ 0 h 44"/>
                  <a:gd name="T22" fmla="*/ 0 w 31"/>
                  <a:gd name="T23" fmla="*/ 0 h 44"/>
                  <a:gd name="T24" fmla="*/ 0 w 31"/>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44"/>
                  <a:gd name="T41" fmla="*/ 31 w 31"/>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44">
                    <a:moveTo>
                      <a:pt x="10" y="0"/>
                    </a:moveTo>
                    <a:lnTo>
                      <a:pt x="10" y="0"/>
                    </a:lnTo>
                    <a:lnTo>
                      <a:pt x="8" y="11"/>
                    </a:lnTo>
                    <a:lnTo>
                      <a:pt x="5" y="22"/>
                    </a:lnTo>
                    <a:lnTo>
                      <a:pt x="2" y="33"/>
                    </a:lnTo>
                    <a:lnTo>
                      <a:pt x="0" y="38"/>
                    </a:lnTo>
                    <a:lnTo>
                      <a:pt x="22" y="44"/>
                    </a:lnTo>
                    <a:lnTo>
                      <a:pt x="24" y="39"/>
                    </a:lnTo>
                    <a:lnTo>
                      <a:pt x="27" y="29"/>
                    </a:lnTo>
                    <a:lnTo>
                      <a:pt x="30" y="14"/>
                    </a:lnTo>
                    <a:lnTo>
                      <a:pt x="31" y="0"/>
                    </a:lnTo>
                    <a:lnTo>
                      <a:pt x="10" y="0"/>
                    </a:lnTo>
                    <a:close/>
                  </a:path>
                </a:pathLst>
              </a:custGeom>
              <a:solidFill>
                <a:srgbClr val="000000"/>
              </a:solidFill>
              <a:ln w="9525">
                <a:noFill/>
                <a:round/>
                <a:headEnd/>
                <a:tailEnd/>
              </a:ln>
            </p:spPr>
            <p:txBody>
              <a:bodyPr/>
              <a:lstStyle/>
              <a:p>
                <a:endParaRPr lang="en-US"/>
              </a:p>
            </p:txBody>
          </p:sp>
          <p:sp>
            <p:nvSpPr>
              <p:cNvPr id="23785" name="Freeform 198"/>
              <p:cNvSpPr>
                <a:spLocks/>
              </p:cNvSpPr>
              <p:nvPr/>
            </p:nvSpPr>
            <p:spPr bwMode="auto">
              <a:xfrm>
                <a:off x="2225" y="3418"/>
                <a:ext cx="16" cy="62"/>
              </a:xfrm>
              <a:custGeom>
                <a:avLst/>
                <a:gdLst>
                  <a:gd name="T0" fmla="*/ 0 w 31"/>
                  <a:gd name="T1" fmla="*/ 0 h 125"/>
                  <a:gd name="T2" fmla="*/ 0 w 31"/>
                  <a:gd name="T3" fmla="*/ 0 h 125"/>
                  <a:gd name="T4" fmla="*/ 1 w 31"/>
                  <a:gd name="T5" fmla="*/ 0 h 125"/>
                  <a:gd name="T6" fmla="*/ 1 w 31"/>
                  <a:gd name="T7" fmla="*/ 0 h 125"/>
                  <a:gd name="T8" fmla="*/ 1 w 31"/>
                  <a:gd name="T9" fmla="*/ 0 h 125"/>
                  <a:gd name="T10" fmla="*/ 1 w 31"/>
                  <a:gd name="T11" fmla="*/ 0 h 125"/>
                  <a:gd name="T12" fmla="*/ 1 w 31"/>
                  <a:gd name="T13" fmla="*/ 0 h 125"/>
                  <a:gd name="T14" fmla="*/ 1 w 31"/>
                  <a:gd name="T15" fmla="*/ 0 h 125"/>
                  <a:gd name="T16" fmla="*/ 1 w 31"/>
                  <a:gd name="T17" fmla="*/ 0 h 125"/>
                  <a:gd name="T18" fmla="*/ 1 w 31"/>
                  <a:gd name="T19" fmla="*/ 0 h 125"/>
                  <a:gd name="T20" fmla="*/ 1 w 31"/>
                  <a:gd name="T21" fmla="*/ 0 h 125"/>
                  <a:gd name="T22" fmla="*/ 1 w 31"/>
                  <a:gd name="T23" fmla="*/ 0 h 125"/>
                  <a:gd name="T24" fmla="*/ 1 w 31"/>
                  <a:gd name="T25" fmla="*/ 0 h 125"/>
                  <a:gd name="T26" fmla="*/ 1 w 31"/>
                  <a:gd name="T27" fmla="*/ 0 h 125"/>
                  <a:gd name="T28" fmla="*/ 1 w 31"/>
                  <a:gd name="T29" fmla="*/ 0 h 125"/>
                  <a:gd name="T30" fmla="*/ 1 w 31"/>
                  <a:gd name="T31" fmla="*/ 0 h 125"/>
                  <a:gd name="T32" fmla="*/ 1 w 31"/>
                  <a:gd name="T33" fmla="*/ 0 h 125"/>
                  <a:gd name="T34" fmla="*/ 1 w 31"/>
                  <a:gd name="T35" fmla="*/ 0 h 125"/>
                  <a:gd name="T36" fmla="*/ 1 w 31"/>
                  <a:gd name="T37" fmla="*/ 0 h 125"/>
                  <a:gd name="T38" fmla="*/ 1 w 31"/>
                  <a:gd name="T39" fmla="*/ 0 h 125"/>
                  <a:gd name="T40" fmla="*/ 0 w 31"/>
                  <a:gd name="T41" fmla="*/ 0 h 12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1"/>
                  <a:gd name="T64" fmla="*/ 0 h 125"/>
                  <a:gd name="T65" fmla="*/ 31 w 31"/>
                  <a:gd name="T66" fmla="*/ 125 h 12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1" h="125">
                    <a:moveTo>
                      <a:pt x="0" y="19"/>
                    </a:moveTo>
                    <a:lnTo>
                      <a:pt x="0" y="19"/>
                    </a:lnTo>
                    <a:lnTo>
                      <a:pt x="3" y="22"/>
                    </a:lnTo>
                    <a:lnTo>
                      <a:pt x="6" y="35"/>
                    </a:lnTo>
                    <a:lnTo>
                      <a:pt x="9" y="50"/>
                    </a:lnTo>
                    <a:lnTo>
                      <a:pt x="9" y="67"/>
                    </a:lnTo>
                    <a:lnTo>
                      <a:pt x="8" y="85"/>
                    </a:lnTo>
                    <a:lnTo>
                      <a:pt x="6" y="102"/>
                    </a:lnTo>
                    <a:lnTo>
                      <a:pt x="5" y="118"/>
                    </a:lnTo>
                    <a:lnTo>
                      <a:pt x="5" y="125"/>
                    </a:lnTo>
                    <a:lnTo>
                      <a:pt x="26" y="125"/>
                    </a:lnTo>
                    <a:lnTo>
                      <a:pt x="26" y="118"/>
                    </a:lnTo>
                    <a:lnTo>
                      <a:pt x="28" y="105"/>
                    </a:lnTo>
                    <a:lnTo>
                      <a:pt x="30" y="88"/>
                    </a:lnTo>
                    <a:lnTo>
                      <a:pt x="31" y="67"/>
                    </a:lnTo>
                    <a:lnTo>
                      <a:pt x="31" y="47"/>
                    </a:lnTo>
                    <a:lnTo>
                      <a:pt x="28" y="28"/>
                    </a:lnTo>
                    <a:lnTo>
                      <a:pt x="22" y="13"/>
                    </a:lnTo>
                    <a:lnTo>
                      <a:pt x="9" y="0"/>
                    </a:lnTo>
                    <a:lnTo>
                      <a:pt x="0" y="19"/>
                    </a:lnTo>
                    <a:close/>
                  </a:path>
                </a:pathLst>
              </a:custGeom>
              <a:solidFill>
                <a:srgbClr val="000000"/>
              </a:solidFill>
              <a:ln w="9525">
                <a:noFill/>
                <a:round/>
                <a:headEnd/>
                <a:tailEnd/>
              </a:ln>
            </p:spPr>
            <p:txBody>
              <a:bodyPr/>
              <a:lstStyle/>
              <a:p>
                <a:endParaRPr lang="en-US"/>
              </a:p>
            </p:txBody>
          </p:sp>
          <p:sp>
            <p:nvSpPr>
              <p:cNvPr id="23786" name="Freeform 199"/>
              <p:cNvSpPr>
                <a:spLocks/>
              </p:cNvSpPr>
              <p:nvPr/>
            </p:nvSpPr>
            <p:spPr bwMode="auto">
              <a:xfrm>
                <a:off x="2194" y="3411"/>
                <a:ext cx="36" cy="16"/>
              </a:xfrm>
              <a:custGeom>
                <a:avLst/>
                <a:gdLst>
                  <a:gd name="T0" fmla="*/ 0 w 72"/>
                  <a:gd name="T1" fmla="*/ 0 h 33"/>
                  <a:gd name="T2" fmla="*/ 0 w 72"/>
                  <a:gd name="T3" fmla="*/ 0 h 33"/>
                  <a:gd name="T4" fmla="*/ 1 w 72"/>
                  <a:gd name="T5" fmla="*/ 0 h 33"/>
                  <a:gd name="T6" fmla="*/ 1 w 72"/>
                  <a:gd name="T7" fmla="*/ 0 h 33"/>
                  <a:gd name="T8" fmla="*/ 1 w 72"/>
                  <a:gd name="T9" fmla="*/ 0 h 33"/>
                  <a:gd name="T10" fmla="*/ 1 w 72"/>
                  <a:gd name="T11" fmla="*/ 0 h 33"/>
                  <a:gd name="T12" fmla="*/ 1 w 72"/>
                  <a:gd name="T13" fmla="*/ 0 h 33"/>
                  <a:gd name="T14" fmla="*/ 1 w 72"/>
                  <a:gd name="T15" fmla="*/ 0 h 33"/>
                  <a:gd name="T16" fmla="*/ 1 w 72"/>
                  <a:gd name="T17" fmla="*/ 0 h 33"/>
                  <a:gd name="T18" fmla="*/ 1 w 72"/>
                  <a:gd name="T19" fmla="*/ 0 h 33"/>
                  <a:gd name="T20" fmla="*/ 1 w 72"/>
                  <a:gd name="T21" fmla="*/ 0 h 33"/>
                  <a:gd name="T22" fmla="*/ 1 w 72"/>
                  <a:gd name="T23" fmla="*/ 0 h 33"/>
                  <a:gd name="T24" fmla="*/ 1 w 72"/>
                  <a:gd name="T25" fmla="*/ 0 h 33"/>
                  <a:gd name="T26" fmla="*/ 1 w 72"/>
                  <a:gd name="T27" fmla="*/ 0 h 33"/>
                  <a:gd name="T28" fmla="*/ 1 w 72"/>
                  <a:gd name="T29" fmla="*/ 0 h 33"/>
                  <a:gd name="T30" fmla="*/ 1 w 72"/>
                  <a:gd name="T31" fmla="*/ 0 h 33"/>
                  <a:gd name="T32" fmla="*/ 1 w 72"/>
                  <a:gd name="T33" fmla="*/ 0 h 33"/>
                  <a:gd name="T34" fmla="*/ 1 w 72"/>
                  <a:gd name="T35" fmla="*/ 0 h 33"/>
                  <a:gd name="T36" fmla="*/ 0 w 72"/>
                  <a:gd name="T37" fmla="*/ 0 h 33"/>
                  <a:gd name="T38" fmla="*/ 0 w 72"/>
                  <a:gd name="T39" fmla="*/ 0 h 33"/>
                  <a:gd name="T40" fmla="*/ 0 w 72"/>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3"/>
                  <a:gd name="T65" fmla="*/ 72 w 72"/>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3">
                    <a:moveTo>
                      <a:pt x="0" y="22"/>
                    </a:moveTo>
                    <a:lnTo>
                      <a:pt x="0" y="22"/>
                    </a:lnTo>
                    <a:lnTo>
                      <a:pt x="5" y="22"/>
                    </a:lnTo>
                    <a:lnTo>
                      <a:pt x="13" y="22"/>
                    </a:lnTo>
                    <a:lnTo>
                      <a:pt x="19" y="22"/>
                    </a:lnTo>
                    <a:lnTo>
                      <a:pt x="27" y="24"/>
                    </a:lnTo>
                    <a:lnTo>
                      <a:pt x="36" y="25"/>
                    </a:lnTo>
                    <a:lnTo>
                      <a:pt x="44" y="27"/>
                    </a:lnTo>
                    <a:lnTo>
                      <a:pt x="55" y="30"/>
                    </a:lnTo>
                    <a:lnTo>
                      <a:pt x="63" y="33"/>
                    </a:lnTo>
                    <a:lnTo>
                      <a:pt x="72" y="14"/>
                    </a:lnTo>
                    <a:lnTo>
                      <a:pt x="61" y="8"/>
                    </a:lnTo>
                    <a:lnTo>
                      <a:pt x="50" y="5"/>
                    </a:lnTo>
                    <a:lnTo>
                      <a:pt x="39" y="3"/>
                    </a:lnTo>
                    <a:lnTo>
                      <a:pt x="30" y="2"/>
                    </a:lnTo>
                    <a:lnTo>
                      <a:pt x="22" y="0"/>
                    </a:lnTo>
                    <a:lnTo>
                      <a:pt x="13" y="0"/>
                    </a:lnTo>
                    <a:lnTo>
                      <a:pt x="5" y="0"/>
                    </a:lnTo>
                    <a:lnTo>
                      <a:pt x="0" y="0"/>
                    </a:lnTo>
                    <a:lnTo>
                      <a:pt x="0" y="22"/>
                    </a:lnTo>
                    <a:close/>
                  </a:path>
                </a:pathLst>
              </a:custGeom>
              <a:solidFill>
                <a:srgbClr val="000000"/>
              </a:solidFill>
              <a:ln w="9525">
                <a:noFill/>
                <a:round/>
                <a:headEnd/>
                <a:tailEnd/>
              </a:ln>
            </p:spPr>
            <p:txBody>
              <a:bodyPr/>
              <a:lstStyle/>
              <a:p>
                <a:endParaRPr lang="en-US"/>
              </a:p>
            </p:txBody>
          </p:sp>
          <p:sp>
            <p:nvSpPr>
              <p:cNvPr id="23787" name="Freeform 200"/>
              <p:cNvSpPr>
                <a:spLocks/>
              </p:cNvSpPr>
              <p:nvPr/>
            </p:nvSpPr>
            <p:spPr bwMode="auto">
              <a:xfrm>
                <a:off x="2149" y="3411"/>
                <a:ext cx="45" cy="18"/>
              </a:xfrm>
              <a:custGeom>
                <a:avLst/>
                <a:gdLst>
                  <a:gd name="T0" fmla="*/ 1 w 89"/>
                  <a:gd name="T1" fmla="*/ 0 h 38"/>
                  <a:gd name="T2" fmla="*/ 1 w 89"/>
                  <a:gd name="T3" fmla="*/ 0 h 38"/>
                  <a:gd name="T4" fmla="*/ 1 w 89"/>
                  <a:gd name="T5" fmla="*/ 0 h 38"/>
                  <a:gd name="T6" fmla="*/ 1 w 89"/>
                  <a:gd name="T7" fmla="*/ 0 h 38"/>
                  <a:gd name="T8" fmla="*/ 1 w 89"/>
                  <a:gd name="T9" fmla="*/ 0 h 38"/>
                  <a:gd name="T10" fmla="*/ 1 w 89"/>
                  <a:gd name="T11" fmla="*/ 0 h 38"/>
                  <a:gd name="T12" fmla="*/ 1 w 89"/>
                  <a:gd name="T13" fmla="*/ 0 h 38"/>
                  <a:gd name="T14" fmla="*/ 1 w 89"/>
                  <a:gd name="T15" fmla="*/ 0 h 38"/>
                  <a:gd name="T16" fmla="*/ 1 w 89"/>
                  <a:gd name="T17" fmla="*/ 0 h 38"/>
                  <a:gd name="T18" fmla="*/ 1 w 89"/>
                  <a:gd name="T19" fmla="*/ 0 h 38"/>
                  <a:gd name="T20" fmla="*/ 1 w 89"/>
                  <a:gd name="T21" fmla="*/ 0 h 38"/>
                  <a:gd name="T22" fmla="*/ 1 w 89"/>
                  <a:gd name="T23" fmla="*/ 0 h 38"/>
                  <a:gd name="T24" fmla="*/ 1 w 89"/>
                  <a:gd name="T25" fmla="*/ 0 h 38"/>
                  <a:gd name="T26" fmla="*/ 1 w 89"/>
                  <a:gd name="T27" fmla="*/ 0 h 38"/>
                  <a:gd name="T28" fmla="*/ 1 w 89"/>
                  <a:gd name="T29" fmla="*/ 0 h 38"/>
                  <a:gd name="T30" fmla="*/ 1 w 89"/>
                  <a:gd name="T31" fmla="*/ 0 h 38"/>
                  <a:gd name="T32" fmla="*/ 1 w 89"/>
                  <a:gd name="T33" fmla="*/ 0 h 38"/>
                  <a:gd name="T34" fmla="*/ 1 w 89"/>
                  <a:gd name="T35" fmla="*/ 0 h 38"/>
                  <a:gd name="T36" fmla="*/ 0 w 89"/>
                  <a:gd name="T37" fmla="*/ 0 h 38"/>
                  <a:gd name="T38" fmla="*/ 0 w 89"/>
                  <a:gd name="T39" fmla="*/ 0 h 38"/>
                  <a:gd name="T40" fmla="*/ 1 w 89"/>
                  <a:gd name="T41" fmla="*/ 0 h 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9"/>
                  <a:gd name="T64" fmla="*/ 0 h 38"/>
                  <a:gd name="T65" fmla="*/ 89 w 89"/>
                  <a:gd name="T66" fmla="*/ 38 h 3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9" h="38">
                    <a:moveTo>
                      <a:pt x="19" y="38"/>
                    </a:moveTo>
                    <a:lnTo>
                      <a:pt x="19" y="38"/>
                    </a:lnTo>
                    <a:lnTo>
                      <a:pt x="23" y="33"/>
                    </a:lnTo>
                    <a:lnTo>
                      <a:pt x="30" y="28"/>
                    </a:lnTo>
                    <a:lnTo>
                      <a:pt x="39" y="27"/>
                    </a:lnTo>
                    <a:lnTo>
                      <a:pt x="52" y="24"/>
                    </a:lnTo>
                    <a:lnTo>
                      <a:pt x="63" y="22"/>
                    </a:lnTo>
                    <a:lnTo>
                      <a:pt x="74" y="22"/>
                    </a:lnTo>
                    <a:lnTo>
                      <a:pt x="83" y="22"/>
                    </a:lnTo>
                    <a:lnTo>
                      <a:pt x="89" y="22"/>
                    </a:lnTo>
                    <a:lnTo>
                      <a:pt x="89" y="0"/>
                    </a:lnTo>
                    <a:lnTo>
                      <a:pt x="83" y="0"/>
                    </a:lnTo>
                    <a:lnTo>
                      <a:pt x="74" y="0"/>
                    </a:lnTo>
                    <a:lnTo>
                      <a:pt x="63" y="0"/>
                    </a:lnTo>
                    <a:lnTo>
                      <a:pt x="49" y="2"/>
                    </a:lnTo>
                    <a:lnTo>
                      <a:pt x="33" y="5"/>
                    </a:lnTo>
                    <a:lnTo>
                      <a:pt x="20" y="10"/>
                    </a:lnTo>
                    <a:lnTo>
                      <a:pt x="8" y="17"/>
                    </a:lnTo>
                    <a:lnTo>
                      <a:pt x="0" y="28"/>
                    </a:lnTo>
                    <a:lnTo>
                      <a:pt x="19" y="38"/>
                    </a:lnTo>
                    <a:close/>
                  </a:path>
                </a:pathLst>
              </a:custGeom>
              <a:solidFill>
                <a:srgbClr val="000000"/>
              </a:solidFill>
              <a:ln w="9525">
                <a:noFill/>
                <a:round/>
                <a:headEnd/>
                <a:tailEnd/>
              </a:ln>
            </p:spPr>
            <p:txBody>
              <a:bodyPr/>
              <a:lstStyle/>
              <a:p>
                <a:endParaRPr lang="en-US"/>
              </a:p>
            </p:txBody>
          </p:sp>
          <p:sp>
            <p:nvSpPr>
              <p:cNvPr id="23788" name="Freeform 201"/>
              <p:cNvSpPr>
                <a:spLocks/>
              </p:cNvSpPr>
              <p:nvPr/>
            </p:nvSpPr>
            <p:spPr bwMode="auto">
              <a:xfrm>
                <a:off x="2147" y="3425"/>
                <a:ext cx="15" cy="31"/>
              </a:xfrm>
              <a:custGeom>
                <a:avLst/>
                <a:gdLst>
                  <a:gd name="T0" fmla="*/ 1 w 30"/>
                  <a:gd name="T1" fmla="*/ 0 h 63"/>
                  <a:gd name="T2" fmla="*/ 1 w 30"/>
                  <a:gd name="T3" fmla="*/ 0 h 63"/>
                  <a:gd name="T4" fmla="*/ 1 w 30"/>
                  <a:gd name="T5" fmla="*/ 0 h 63"/>
                  <a:gd name="T6" fmla="*/ 1 w 30"/>
                  <a:gd name="T7" fmla="*/ 0 h 63"/>
                  <a:gd name="T8" fmla="*/ 1 w 30"/>
                  <a:gd name="T9" fmla="*/ 0 h 63"/>
                  <a:gd name="T10" fmla="*/ 1 w 30"/>
                  <a:gd name="T11" fmla="*/ 0 h 63"/>
                  <a:gd name="T12" fmla="*/ 1 w 30"/>
                  <a:gd name="T13" fmla="*/ 0 h 63"/>
                  <a:gd name="T14" fmla="*/ 1 w 30"/>
                  <a:gd name="T15" fmla="*/ 0 h 63"/>
                  <a:gd name="T16" fmla="*/ 1 w 30"/>
                  <a:gd name="T17" fmla="*/ 0 h 63"/>
                  <a:gd name="T18" fmla="*/ 1 w 30"/>
                  <a:gd name="T19" fmla="*/ 0 h 63"/>
                  <a:gd name="T20" fmla="*/ 1 w 30"/>
                  <a:gd name="T21" fmla="*/ 0 h 63"/>
                  <a:gd name="T22" fmla="*/ 0 w 30"/>
                  <a:gd name="T23" fmla="*/ 0 h 63"/>
                  <a:gd name="T24" fmla="*/ 0 w 30"/>
                  <a:gd name="T25" fmla="*/ 0 h 63"/>
                  <a:gd name="T26" fmla="*/ 0 w 30"/>
                  <a:gd name="T27" fmla="*/ 0 h 63"/>
                  <a:gd name="T28" fmla="*/ 1 w 30"/>
                  <a:gd name="T29" fmla="*/ 0 h 63"/>
                  <a:gd name="T30" fmla="*/ 1 w 30"/>
                  <a:gd name="T31" fmla="*/ 0 h 63"/>
                  <a:gd name="T32" fmla="*/ 1 w 30"/>
                  <a:gd name="T33" fmla="*/ 0 h 63"/>
                  <a:gd name="T34" fmla="*/ 1 w 30"/>
                  <a:gd name="T35" fmla="*/ 0 h 63"/>
                  <a:gd name="T36" fmla="*/ 1 w 30"/>
                  <a:gd name="T37" fmla="*/ 0 h 63"/>
                  <a:gd name="T38" fmla="*/ 1 w 30"/>
                  <a:gd name="T39" fmla="*/ 0 h 63"/>
                  <a:gd name="T40" fmla="*/ 1 w 30"/>
                  <a:gd name="T41" fmla="*/ 0 h 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63"/>
                  <a:gd name="T65" fmla="*/ 30 w 30"/>
                  <a:gd name="T66" fmla="*/ 63 h 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63">
                    <a:moveTo>
                      <a:pt x="30" y="50"/>
                    </a:moveTo>
                    <a:lnTo>
                      <a:pt x="30" y="50"/>
                    </a:lnTo>
                    <a:lnTo>
                      <a:pt x="28" y="47"/>
                    </a:lnTo>
                    <a:lnTo>
                      <a:pt x="25" y="44"/>
                    </a:lnTo>
                    <a:lnTo>
                      <a:pt x="25" y="39"/>
                    </a:lnTo>
                    <a:lnTo>
                      <a:pt x="24" y="33"/>
                    </a:lnTo>
                    <a:lnTo>
                      <a:pt x="22" y="27"/>
                    </a:lnTo>
                    <a:lnTo>
                      <a:pt x="22" y="21"/>
                    </a:lnTo>
                    <a:lnTo>
                      <a:pt x="22" y="14"/>
                    </a:lnTo>
                    <a:lnTo>
                      <a:pt x="24" y="10"/>
                    </a:lnTo>
                    <a:lnTo>
                      <a:pt x="5" y="0"/>
                    </a:lnTo>
                    <a:lnTo>
                      <a:pt x="0" y="11"/>
                    </a:lnTo>
                    <a:lnTo>
                      <a:pt x="0" y="21"/>
                    </a:lnTo>
                    <a:lnTo>
                      <a:pt x="0" y="30"/>
                    </a:lnTo>
                    <a:lnTo>
                      <a:pt x="2" y="39"/>
                    </a:lnTo>
                    <a:lnTo>
                      <a:pt x="3" y="46"/>
                    </a:lnTo>
                    <a:lnTo>
                      <a:pt x="7" y="53"/>
                    </a:lnTo>
                    <a:lnTo>
                      <a:pt x="10" y="60"/>
                    </a:lnTo>
                    <a:lnTo>
                      <a:pt x="11" y="63"/>
                    </a:lnTo>
                    <a:lnTo>
                      <a:pt x="30" y="50"/>
                    </a:lnTo>
                    <a:close/>
                  </a:path>
                </a:pathLst>
              </a:custGeom>
              <a:solidFill>
                <a:srgbClr val="000000"/>
              </a:solidFill>
              <a:ln w="9525">
                <a:noFill/>
                <a:round/>
                <a:headEnd/>
                <a:tailEnd/>
              </a:ln>
            </p:spPr>
            <p:txBody>
              <a:bodyPr/>
              <a:lstStyle/>
              <a:p>
                <a:endParaRPr lang="en-US"/>
              </a:p>
            </p:txBody>
          </p:sp>
          <p:sp>
            <p:nvSpPr>
              <p:cNvPr id="23789" name="Freeform 202"/>
              <p:cNvSpPr>
                <a:spLocks/>
              </p:cNvSpPr>
              <p:nvPr/>
            </p:nvSpPr>
            <p:spPr bwMode="auto">
              <a:xfrm>
                <a:off x="2152" y="3450"/>
                <a:ext cx="17" cy="18"/>
              </a:xfrm>
              <a:custGeom>
                <a:avLst/>
                <a:gdLst>
                  <a:gd name="T0" fmla="*/ 0 w 35"/>
                  <a:gd name="T1" fmla="*/ 0 h 38"/>
                  <a:gd name="T2" fmla="*/ 0 w 35"/>
                  <a:gd name="T3" fmla="*/ 0 h 38"/>
                  <a:gd name="T4" fmla="*/ 0 w 35"/>
                  <a:gd name="T5" fmla="*/ 0 h 38"/>
                  <a:gd name="T6" fmla="*/ 0 w 35"/>
                  <a:gd name="T7" fmla="*/ 0 h 38"/>
                  <a:gd name="T8" fmla="*/ 0 w 35"/>
                  <a:gd name="T9" fmla="*/ 0 h 38"/>
                  <a:gd name="T10" fmla="*/ 0 w 35"/>
                  <a:gd name="T11" fmla="*/ 0 h 38"/>
                  <a:gd name="T12" fmla="*/ 0 w 35"/>
                  <a:gd name="T13" fmla="*/ 0 h 38"/>
                  <a:gd name="T14" fmla="*/ 0 w 35"/>
                  <a:gd name="T15" fmla="*/ 0 h 38"/>
                  <a:gd name="T16" fmla="*/ 0 w 35"/>
                  <a:gd name="T17" fmla="*/ 0 h 38"/>
                  <a:gd name="T18" fmla="*/ 0 w 35"/>
                  <a:gd name="T19" fmla="*/ 0 h 38"/>
                  <a:gd name="T20" fmla="*/ 0 w 35"/>
                  <a:gd name="T21" fmla="*/ 0 h 38"/>
                  <a:gd name="T22" fmla="*/ 0 w 35"/>
                  <a:gd name="T23" fmla="*/ 0 h 38"/>
                  <a:gd name="T24" fmla="*/ 0 w 35"/>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38"/>
                  <a:gd name="T41" fmla="*/ 35 w 35"/>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38">
                    <a:moveTo>
                      <a:pt x="35" y="35"/>
                    </a:moveTo>
                    <a:lnTo>
                      <a:pt x="35" y="38"/>
                    </a:lnTo>
                    <a:lnTo>
                      <a:pt x="33" y="25"/>
                    </a:lnTo>
                    <a:lnTo>
                      <a:pt x="28" y="16"/>
                    </a:lnTo>
                    <a:lnTo>
                      <a:pt x="24" y="7"/>
                    </a:lnTo>
                    <a:lnTo>
                      <a:pt x="19" y="0"/>
                    </a:lnTo>
                    <a:lnTo>
                      <a:pt x="0" y="13"/>
                    </a:lnTo>
                    <a:lnTo>
                      <a:pt x="5" y="19"/>
                    </a:lnTo>
                    <a:lnTo>
                      <a:pt x="10" y="25"/>
                    </a:lnTo>
                    <a:lnTo>
                      <a:pt x="11" y="32"/>
                    </a:lnTo>
                    <a:lnTo>
                      <a:pt x="13" y="32"/>
                    </a:lnTo>
                    <a:lnTo>
                      <a:pt x="13" y="35"/>
                    </a:lnTo>
                    <a:lnTo>
                      <a:pt x="35" y="35"/>
                    </a:lnTo>
                    <a:close/>
                  </a:path>
                </a:pathLst>
              </a:custGeom>
              <a:solidFill>
                <a:srgbClr val="000000"/>
              </a:solidFill>
              <a:ln w="9525">
                <a:noFill/>
                <a:round/>
                <a:headEnd/>
                <a:tailEnd/>
              </a:ln>
            </p:spPr>
            <p:txBody>
              <a:bodyPr/>
              <a:lstStyle/>
              <a:p>
                <a:endParaRPr lang="en-US"/>
              </a:p>
            </p:txBody>
          </p:sp>
          <p:sp>
            <p:nvSpPr>
              <p:cNvPr id="23790" name="Freeform 203"/>
              <p:cNvSpPr>
                <a:spLocks/>
              </p:cNvSpPr>
              <p:nvPr/>
            </p:nvSpPr>
            <p:spPr bwMode="auto">
              <a:xfrm>
                <a:off x="2158" y="3467"/>
                <a:ext cx="11" cy="15"/>
              </a:xfrm>
              <a:custGeom>
                <a:avLst/>
                <a:gdLst>
                  <a:gd name="T0" fmla="*/ 1 w 22"/>
                  <a:gd name="T1" fmla="*/ 1 h 30"/>
                  <a:gd name="T2" fmla="*/ 1 w 22"/>
                  <a:gd name="T3" fmla="*/ 1 h 30"/>
                  <a:gd name="T4" fmla="*/ 1 w 22"/>
                  <a:gd name="T5" fmla="*/ 1 h 30"/>
                  <a:gd name="T6" fmla="*/ 1 w 22"/>
                  <a:gd name="T7" fmla="*/ 1 h 30"/>
                  <a:gd name="T8" fmla="*/ 1 w 22"/>
                  <a:gd name="T9" fmla="*/ 1 h 30"/>
                  <a:gd name="T10" fmla="*/ 1 w 22"/>
                  <a:gd name="T11" fmla="*/ 0 h 30"/>
                  <a:gd name="T12" fmla="*/ 0 w 22"/>
                  <a:gd name="T13" fmla="*/ 0 h 30"/>
                  <a:gd name="T14" fmla="*/ 0 w 22"/>
                  <a:gd name="T15" fmla="*/ 1 h 30"/>
                  <a:gd name="T16" fmla="*/ 0 w 22"/>
                  <a:gd name="T17" fmla="*/ 1 h 30"/>
                  <a:gd name="T18" fmla="*/ 0 w 22"/>
                  <a:gd name="T19" fmla="*/ 1 h 30"/>
                  <a:gd name="T20" fmla="*/ 0 w 22"/>
                  <a:gd name="T21" fmla="*/ 1 h 30"/>
                  <a:gd name="T22" fmla="*/ 1 w 22"/>
                  <a:gd name="T23" fmla="*/ 1 h 30"/>
                  <a:gd name="T24" fmla="*/ 0 w 22"/>
                  <a:gd name="T25" fmla="*/ 1 h 30"/>
                  <a:gd name="T26" fmla="*/ 1 w 22"/>
                  <a:gd name="T27" fmla="*/ 1 h 30"/>
                  <a:gd name="T28" fmla="*/ 1 w 22"/>
                  <a:gd name="T29" fmla="*/ 1 h 30"/>
                  <a:gd name="T30" fmla="*/ 1 w 22"/>
                  <a:gd name="T31" fmla="*/ 1 h 30"/>
                  <a:gd name="T32" fmla="*/ 1 w 22"/>
                  <a:gd name="T33" fmla="*/ 1 h 30"/>
                  <a:gd name="T34" fmla="*/ 1 w 22"/>
                  <a:gd name="T35" fmla="*/ 1 h 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
                  <a:gd name="T55" fmla="*/ 0 h 30"/>
                  <a:gd name="T56" fmla="*/ 22 w 22"/>
                  <a:gd name="T57" fmla="*/ 30 h 3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 h="30">
                    <a:moveTo>
                      <a:pt x="12" y="8"/>
                    </a:moveTo>
                    <a:lnTo>
                      <a:pt x="22" y="19"/>
                    </a:lnTo>
                    <a:lnTo>
                      <a:pt x="22" y="17"/>
                    </a:lnTo>
                    <a:lnTo>
                      <a:pt x="22" y="11"/>
                    </a:lnTo>
                    <a:lnTo>
                      <a:pt x="22" y="4"/>
                    </a:lnTo>
                    <a:lnTo>
                      <a:pt x="22" y="0"/>
                    </a:lnTo>
                    <a:lnTo>
                      <a:pt x="0" y="0"/>
                    </a:lnTo>
                    <a:lnTo>
                      <a:pt x="0" y="4"/>
                    </a:lnTo>
                    <a:lnTo>
                      <a:pt x="0" y="11"/>
                    </a:lnTo>
                    <a:lnTo>
                      <a:pt x="0" y="17"/>
                    </a:lnTo>
                    <a:lnTo>
                      <a:pt x="0" y="19"/>
                    </a:lnTo>
                    <a:lnTo>
                      <a:pt x="9" y="30"/>
                    </a:lnTo>
                    <a:lnTo>
                      <a:pt x="0" y="19"/>
                    </a:lnTo>
                    <a:lnTo>
                      <a:pt x="3" y="26"/>
                    </a:lnTo>
                    <a:lnTo>
                      <a:pt x="11" y="30"/>
                    </a:lnTo>
                    <a:lnTo>
                      <a:pt x="19" y="26"/>
                    </a:lnTo>
                    <a:lnTo>
                      <a:pt x="22" y="19"/>
                    </a:lnTo>
                    <a:lnTo>
                      <a:pt x="12" y="8"/>
                    </a:lnTo>
                    <a:close/>
                  </a:path>
                </a:pathLst>
              </a:custGeom>
              <a:solidFill>
                <a:srgbClr val="000000"/>
              </a:solidFill>
              <a:ln w="9525">
                <a:noFill/>
                <a:round/>
                <a:headEnd/>
                <a:tailEnd/>
              </a:ln>
            </p:spPr>
            <p:txBody>
              <a:bodyPr/>
              <a:lstStyle/>
              <a:p>
                <a:endParaRPr lang="en-US"/>
              </a:p>
            </p:txBody>
          </p:sp>
          <p:sp>
            <p:nvSpPr>
              <p:cNvPr id="23791" name="Freeform 204"/>
              <p:cNvSpPr>
                <a:spLocks/>
              </p:cNvSpPr>
              <p:nvPr/>
            </p:nvSpPr>
            <p:spPr bwMode="auto">
              <a:xfrm>
                <a:off x="2163" y="3471"/>
                <a:ext cx="12" cy="12"/>
              </a:xfrm>
              <a:custGeom>
                <a:avLst/>
                <a:gdLst>
                  <a:gd name="T0" fmla="*/ 1 w 24"/>
                  <a:gd name="T1" fmla="*/ 0 h 25"/>
                  <a:gd name="T2" fmla="*/ 1 w 24"/>
                  <a:gd name="T3" fmla="*/ 0 h 25"/>
                  <a:gd name="T4" fmla="*/ 1 w 24"/>
                  <a:gd name="T5" fmla="*/ 0 h 25"/>
                  <a:gd name="T6" fmla="*/ 1 w 24"/>
                  <a:gd name="T7" fmla="*/ 0 h 25"/>
                  <a:gd name="T8" fmla="*/ 1 w 24"/>
                  <a:gd name="T9" fmla="*/ 0 h 25"/>
                  <a:gd name="T10" fmla="*/ 1 w 24"/>
                  <a:gd name="T11" fmla="*/ 0 h 25"/>
                  <a:gd name="T12" fmla="*/ 0 w 24"/>
                  <a:gd name="T13" fmla="*/ 0 h 25"/>
                  <a:gd name="T14" fmla="*/ 0 w 24"/>
                  <a:gd name="T15" fmla="*/ 0 h 25"/>
                  <a:gd name="T16" fmla="*/ 1 w 24"/>
                  <a:gd name="T17" fmla="*/ 0 h 25"/>
                  <a:gd name="T18" fmla="*/ 1 w 24"/>
                  <a:gd name="T19" fmla="*/ 0 h 25"/>
                  <a:gd name="T20" fmla="*/ 1 w 24"/>
                  <a:gd name="T21" fmla="*/ 0 h 25"/>
                  <a:gd name="T22" fmla="*/ 1 w 24"/>
                  <a:gd name="T23" fmla="*/ 0 h 25"/>
                  <a:gd name="T24" fmla="*/ 1 w 24"/>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5"/>
                  <a:gd name="T41" fmla="*/ 24 w 24"/>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5">
                    <a:moveTo>
                      <a:pt x="24" y="4"/>
                    </a:moveTo>
                    <a:lnTo>
                      <a:pt x="21" y="3"/>
                    </a:lnTo>
                    <a:lnTo>
                      <a:pt x="14" y="1"/>
                    </a:lnTo>
                    <a:lnTo>
                      <a:pt x="10" y="1"/>
                    </a:lnTo>
                    <a:lnTo>
                      <a:pt x="6" y="0"/>
                    </a:lnTo>
                    <a:lnTo>
                      <a:pt x="3" y="0"/>
                    </a:lnTo>
                    <a:lnTo>
                      <a:pt x="0" y="22"/>
                    </a:lnTo>
                    <a:lnTo>
                      <a:pt x="6" y="23"/>
                    </a:lnTo>
                    <a:lnTo>
                      <a:pt x="11" y="23"/>
                    </a:lnTo>
                    <a:lnTo>
                      <a:pt x="17" y="25"/>
                    </a:lnTo>
                    <a:lnTo>
                      <a:pt x="14" y="23"/>
                    </a:lnTo>
                    <a:lnTo>
                      <a:pt x="24" y="4"/>
                    </a:lnTo>
                    <a:close/>
                  </a:path>
                </a:pathLst>
              </a:custGeom>
              <a:solidFill>
                <a:srgbClr val="000000"/>
              </a:solidFill>
              <a:ln w="9525">
                <a:noFill/>
                <a:round/>
                <a:headEnd/>
                <a:tailEnd/>
              </a:ln>
            </p:spPr>
            <p:txBody>
              <a:bodyPr/>
              <a:lstStyle/>
              <a:p>
                <a:endParaRPr lang="en-US"/>
              </a:p>
            </p:txBody>
          </p:sp>
          <p:sp>
            <p:nvSpPr>
              <p:cNvPr id="23792" name="Freeform 205"/>
              <p:cNvSpPr>
                <a:spLocks/>
              </p:cNvSpPr>
              <p:nvPr/>
            </p:nvSpPr>
            <p:spPr bwMode="auto">
              <a:xfrm>
                <a:off x="2170" y="3473"/>
                <a:ext cx="16" cy="20"/>
              </a:xfrm>
              <a:custGeom>
                <a:avLst/>
                <a:gdLst>
                  <a:gd name="T0" fmla="*/ 1 w 32"/>
                  <a:gd name="T1" fmla="*/ 0 h 41"/>
                  <a:gd name="T2" fmla="*/ 1 w 32"/>
                  <a:gd name="T3" fmla="*/ 0 h 41"/>
                  <a:gd name="T4" fmla="*/ 1 w 32"/>
                  <a:gd name="T5" fmla="*/ 0 h 41"/>
                  <a:gd name="T6" fmla="*/ 1 w 32"/>
                  <a:gd name="T7" fmla="*/ 0 h 41"/>
                  <a:gd name="T8" fmla="*/ 1 w 32"/>
                  <a:gd name="T9" fmla="*/ 0 h 41"/>
                  <a:gd name="T10" fmla="*/ 1 w 32"/>
                  <a:gd name="T11" fmla="*/ 0 h 41"/>
                  <a:gd name="T12" fmla="*/ 0 w 32"/>
                  <a:gd name="T13" fmla="*/ 0 h 41"/>
                  <a:gd name="T14" fmla="*/ 1 w 32"/>
                  <a:gd name="T15" fmla="*/ 0 h 41"/>
                  <a:gd name="T16" fmla="*/ 1 w 32"/>
                  <a:gd name="T17" fmla="*/ 0 h 41"/>
                  <a:gd name="T18" fmla="*/ 1 w 32"/>
                  <a:gd name="T19" fmla="*/ 0 h 41"/>
                  <a:gd name="T20" fmla="*/ 1 w 32"/>
                  <a:gd name="T21" fmla="*/ 0 h 41"/>
                  <a:gd name="T22" fmla="*/ 1 w 32"/>
                  <a:gd name="T23" fmla="*/ 0 h 41"/>
                  <a:gd name="T24" fmla="*/ 1 w 32"/>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
                  <a:gd name="T40" fmla="*/ 0 h 41"/>
                  <a:gd name="T41" fmla="*/ 32 w 32"/>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 h="41">
                    <a:moveTo>
                      <a:pt x="32" y="35"/>
                    </a:moveTo>
                    <a:lnTo>
                      <a:pt x="32" y="35"/>
                    </a:lnTo>
                    <a:lnTo>
                      <a:pt x="27" y="24"/>
                    </a:lnTo>
                    <a:lnTo>
                      <a:pt x="22" y="14"/>
                    </a:lnTo>
                    <a:lnTo>
                      <a:pt x="17" y="7"/>
                    </a:lnTo>
                    <a:lnTo>
                      <a:pt x="10" y="0"/>
                    </a:lnTo>
                    <a:lnTo>
                      <a:pt x="0" y="19"/>
                    </a:lnTo>
                    <a:lnTo>
                      <a:pt x="2" y="19"/>
                    </a:lnTo>
                    <a:lnTo>
                      <a:pt x="3" y="24"/>
                    </a:lnTo>
                    <a:lnTo>
                      <a:pt x="8" y="33"/>
                    </a:lnTo>
                    <a:lnTo>
                      <a:pt x="10" y="41"/>
                    </a:lnTo>
                    <a:lnTo>
                      <a:pt x="32" y="35"/>
                    </a:lnTo>
                    <a:close/>
                  </a:path>
                </a:pathLst>
              </a:custGeom>
              <a:solidFill>
                <a:srgbClr val="000000"/>
              </a:solidFill>
              <a:ln w="9525">
                <a:noFill/>
                <a:round/>
                <a:headEnd/>
                <a:tailEnd/>
              </a:ln>
            </p:spPr>
            <p:txBody>
              <a:bodyPr/>
              <a:lstStyle/>
              <a:p>
                <a:endParaRPr lang="en-US"/>
              </a:p>
            </p:txBody>
          </p:sp>
          <p:sp>
            <p:nvSpPr>
              <p:cNvPr id="23793" name="Freeform 206"/>
              <p:cNvSpPr>
                <a:spLocks/>
              </p:cNvSpPr>
              <p:nvPr/>
            </p:nvSpPr>
            <p:spPr bwMode="auto">
              <a:xfrm>
                <a:off x="2175" y="3490"/>
                <a:ext cx="19" cy="21"/>
              </a:xfrm>
              <a:custGeom>
                <a:avLst/>
                <a:gdLst>
                  <a:gd name="T0" fmla="*/ 1 w 37"/>
                  <a:gd name="T1" fmla="*/ 1 h 42"/>
                  <a:gd name="T2" fmla="*/ 1 w 37"/>
                  <a:gd name="T3" fmla="*/ 1 h 42"/>
                  <a:gd name="T4" fmla="*/ 1 w 37"/>
                  <a:gd name="T5" fmla="*/ 1 h 42"/>
                  <a:gd name="T6" fmla="*/ 1 w 37"/>
                  <a:gd name="T7" fmla="*/ 1 h 42"/>
                  <a:gd name="T8" fmla="*/ 1 w 37"/>
                  <a:gd name="T9" fmla="*/ 1 h 42"/>
                  <a:gd name="T10" fmla="*/ 1 w 37"/>
                  <a:gd name="T11" fmla="*/ 0 h 42"/>
                  <a:gd name="T12" fmla="*/ 0 w 37"/>
                  <a:gd name="T13" fmla="*/ 1 h 42"/>
                  <a:gd name="T14" fmla="*/ 1 w 37"/>
                  <a:gd name="T15" fmla="*/ 1 h 42"/>
                  <a:gd name="T16" fmla="*/ 1 w 37"/>
                  <a:gd name="T17" fmla="*/ 1 h 42"/>
                  <a:gd name="T18" fmla="*/ 1 w 37"/>
                  <a:gd name="T19" fmla="*/ 1 h 42"/>
                  <a:gd name="T20" fmla="*/ 1 w 37"/>
                  <a:gd name="T21" fmla="*/ 1 h 42"/>
                  <a:gd name="T22" fmla="*/ 1 w 37"/>
                  <a:gd name="T23" fmla="*/ 1 h 42"/>
                  <a:gd name="T24" fmla="*/ 1 w 37"/>
                  <a:gd name="T25" fmla="*/ 1 h 42"/>
                  <a:gd name="T26" fmla="*/ 1 w 37"/>
                  <a:gd name="T27" fmla="*/ 1 h 42"/>
                  <a:gd name="T28" fmla="*/ 1 w 37"/>
                  <a:gd name="T29" fmla="*/ 1 h 42"/>
                  <a:gd name="T30" fmla="*/ 1 w 37"/>
                  <a:gd name="T31" fmla="*/ 1 h 42"/>
                  <a:gd name="T32" fmla="*/ 1 w 37"/>
                  <a:gd name="T33" fmla="*/ 1 h 42"/>
                  <a:gd name="T34" fmla="*/ 1 w 37"/>
                  <a:gd name="T35" fmla="*/ 1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
                  <a:gd name="T55" fmla="*/ 0 h 42"/>
                  <a:gd name="T56" fmla="*/ 37 w 37"/>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 h="42">
                    <a:moveTo>
                      <a:pt x="26" y="20"/>
                    </a:moveTo>
                    <a:lnTo>
                      <a:pt x="36" y="25"/>
                    </a:lnTo>
                    <a:lnTo>
                      <a:pt x="34" y="22"/>
                    </a:lnTo>
                    <a:lnTo>
                      <a:pt x="29" y="15"/>
                    </a:lnTo>
                    <a:lnTo>
                      <a:pt x="25" y="9"/>
                    </a:lnTo>
                    <a:lnTo>
                      <a:pt x="22" y="0"/>
                    </a:lnTo>
                    <a:lnTo>
                      <a:pt x="0" y="6"/>
                    </a:lnTo>
                    <a:lnTo>
                      <a:pt x="6" y="18"/>
                    </a:lnTo>
                    <a:lnTo>
                      <a:pt x="11" y="28"/>
                    </a:lnTo>
                    <a:lnTo>
                      <a:pt x="15" y="34"/>
                    </a:lnTo>
                    <a:lnTo>
                      <a:pt x="17" y="37"/>
                    </a:lnTo>
                    <a:lnTo>
                      <a:pt x="26" y="42"/>
                    </a:lnTo>
                    <a:lnTo>
                      <a:pt x="17" y="37"/>
                    </a:lnTo>
                    <a:lnTo>
                      <a:pt x="25" y="42"/>
                    </a:lnTo>
                    <a:lnTo>
                      <a:pt x="33" y="40"/>
                    </a:lnTo>
                    <a:lnTo>
                      <a:pt x="37" y="34"/>
                    </a:lnTo>
                    <a:lnTo>
                      <a:pt x="36" y="25"/>
                    </a:lnTo>
                    <a:lnTo>
                      <a:pt x="26" y="20"/>
                    </a:lnTo>
                    <a:close/>
                  </a:path>
                </a:pathLst>
              </a:custGeom>
              <a:solidFill>
                <a:srgbClr val="000000"/>
              </a:solidFill>
              <a:ln w="9525">
                <a:noFill/>
                <a:round/>
                <a:headEnd/>
                <a:tailEnd/>
              </a:ln>
            </p:spPr>
            <p:txBody>
              <a:bodyPr/>
              <a:lstStyle/>
              <a:p>
                <a:endParaRPr lang="en-US"/>
              </a:p>
            </p:txBody>
          </p:sp>
        </p:grpSp>
        <p:sp>
          <p:nvSpPr>
            <p:cNvPr id="23562" name="Freeform 207"/>
            <p:cNvSpPr>
              <a:spLocks/>
            </p:cNvSpPr>
            <p:nvPr/>
          </p:nvSpPr>
          <p:spPr bwMode="auto">
            <a:xfrm>
              <a:off x="1851" y="3424"/>
              <a:ext cx="43" cy="139"/>
            </a:xfrm>
            <a:custGeom>
              <a:avLst/>
              <a:gdLst>
                <a:gd name="T0" fmla="*/ 0 w 85"/>
                <a:gd name="T1" fmla="*/ 0 h 278"/>
                <a:gd name="T2" fmla="*/ 0 w 85"/>
                <a:gd name="T3" fmla="*/ 1 h 278"/>
                <a:gd name="T4" fmla="*/ 1 w 85"/>
                <a:gd name="T5" fmla="*/ 1 h 278"/>
                <a:gd name="T6" fmla="*/ 1 w 85"/>
                <a:gd name="T7" fmla="*/ 1 h 278"/>
                <a:gd name="T8" fmla="*/ 0 w 85"/>
                <a:gd name="T9" fmla="*/ 0 h 278"/>
                <a:gd name="T10" fmla="*/ 0 60000 65536"/>
                <a:gd name="T11" fmla="*/ 0 60000 65536"/>
                <a:gd name="T12" fmla="*/ 0 60000 65536"/>
                <a:gd name="T13" fmla="*/ 0 60000 65536"/>
                <a:gd name="T14" fmla="*/ 0 60000 65536"/>
                <a:gd name="T15" fmla="*/ 0 w 85"/>
                <a:gd name="T16" fmla="*/ 0 h 278"/>
                <a:gd name="T17" fmla="*/ 85 w 85"/>
                <a:gd name="T18" fmla="*/ 278 h 278"/>
              </a:gdLst>
              <a:ahLst/>
              <a:cxnLst>
                <a:cxn ang="T10">
                  <a:pos x="T0" y="T1"/>
                </a:cxn>
                <a:cxn ang="T11">
                  <a:pos x="T2" y="T3"/>
                </a:cxn>
                <a:cxn ang="T12">
                  <a:pos x="T4" y="T5"/>
                </a:cxn>
                <a:cxn ang="T13">
                  <a:pos x="T6" y="T7"/>
                </a:cxn>
                <a:cxn ang="T14">
                  <a:pos x="T8" y="T9"/>
                </a:cxn>
              </a:cxnLst>
              <a:rect l="T15" t="T16" r="T17" b="T18"/>
              <a:pathLst>
                <a:path w="85" h="278">
                  <a:moveTo>
                    <a:pt x="0" y="0"/>
                  </a:moveTo>
                  <a:lnTo>
                    <a:pt x="0" y="234"/>
                  </a:lnTo>
                  <a:lnTo>
                    <a:pt x="85" y="278"/>
                  </a:lnTo>
                  <a:lnTo>
                    <a:pt x="85" y="40"/>
                  </a:lnTo>
                  <a:lnTo>
                    <a:pt x="0" y="0"/>
                  </a:lnTo>
                  <a:close/>
                </a:path>
              </a:pathLst>
            </a:custGeom>
            <a:solidFill>
              <a:srgbClr val="4CB2FF"/>
            </a:solidFill>
            <a:ln w="9525">
              <a:noFill/>
              <a:round/>
              <a:headEnd/>
              <a:tailEnd/>
            </a:ln>
          </p:spPr>
          <p:txBody>
            <a:bodyPr/>
            <a:lstStyle/>
            <a:p>
              <a:endParaRPr lang="en-US"/>
            </a:p>
          </p:txBody>
        </p:sp>
        <p:sp>
          <p:nvSpPr>
            <p:cNvPr id="23563" name="Freeform 208"/>
            <p:cNvSpPr>
              <a:spLocks/>
            </p:cNvSpPr>
            <p:nvPr/>
          </p:nvSpPr>
          <p:spPr bwMode="auto">
            <a:xfrm>
              <a:off x="1846" y="3424"/>
              <a:ext cx="11" cy="123"/>
            </a:xfrm>
            <a:custGeom>
              <a:avLst/>
              <a:gdLst>
                <a:gd name="T0" fmla="*/ 1 w 22"/>
                <a:gd name="T1" fmla="*/ 1 h 245"/>
                <a:gd name="T2" fmla="*/ 1 w 22"/>
                <a:gd name="T3" fmla="*/ 1 h 245"/>
                <a:gd name="T4" fmla="*/ 1 w 22"/>
                <a:gd name="T5" fmla="*/ 0 h 245"/>
                <a:gd name="T6" fmla="*/ 0 w 22"/>
                <a:gd name="T7" fmla="*/ 0 h 245"/>
                <a:gd name="T8" fmla="*/ 0 w 22"/>
                <a:gd name="T9" fmla="*/ 1 h 245"/>
                <a:gd name="T10" fmla="*/ 1 w 22"/>
                <a:gd name="T11" fmla="*/ 1 h 245"/>
                <a:gd name="T12" fmla="*/ 0 w 22"/>
                <a:gd name="T13" fmla="*/ 1 h 245"/>
                <a:gd name="T14" fmla="*/ 1 w 22"/>
                <a:gd name="T15" fmla="*/ 1 h 245"/>
                <a:gd name="T16" fmla="*/ 1 w 22"/>
                <a:gd name="T17" fmla="*/ 1 h 245"/>
                <a:gd name="T18" fmla="*/ 1 w 22"/>
                <a:gd name="T19" fmla="*/ 1 h 245"/>
                <a:gd name="T20" fmla="*/ 1 w 22"/>
                <a:gd name="T21" fmla="*/ 1 h 245"/>
                <a:gd name="T22" fmla="*/ 1 w 22"/>
                <a:gd name="T23" fmla="*/ 1 h 2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5"/>
                <a:gd name="T38" fmla="*/ 22 w 22"/>
                <a:gd name="T39" fmla="*/ 245 h 2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5">
                  <a:moveTo>
                    <a:pt x="16" y="225"/>
                  </a:moveTo>
                  <a:lnTo>
                    <a:pt x="22" y="234"/>
                  </a:lnTo>
                  <a:lnTo>
                    <a:pt x="22" y="0"/>
                  </a:lnTo>
                  <a:lnTo>
                    <a:pt x="0" y="0"/>
                  </a:lnTo>
                  <a:lnTo>
                    <a:pt x="0" y="234"/>
                  </a:lnTo>
                  <a:lnTo>
                    <a:pt x="6" y="244"/>
                  </a:lnTo>
                  <a:lnTo>
                    <a:pt x="0" y="234"/>
                  </a:lnTo>
                  <a:lnTo>
                    <a:pt x="3" y="242"/>
                  </a:lnTo>
                  <a:lnTo>
                    <a:pt x="11" y="245"/>
                  </a:lnTo>
                  <a:lnTo>
                    <a:pt x="19" y="242"/>
                  </a:lnTo>
                  <a:lnTo>
                    <a:pt x="22" y="234"/>
                  </a:lnTo>
                  <a:lnTo>
                    <a:pt x="16" y="225"/>
                  </a:lnTo>
                  <a:close/>
                </a:path>
              </a:pathLst>
            </a:custGeom>
            <a:solidFill>
              <a:srgbClr val="000000"/>
            </a:solidFill>
            <a:ln w="9525">
              <a:noFill/>
              <a:round/>
              <a:headEnd/>
              <a:tailEnd/>
            </a:ln>
          </p:spPr>
          <p:txBody>
            <a:bodyPr/>
            <a:lstStyle/>
            <a:p>
              <a:endParaRPr lang="en-US"/>
            </a:p>
          </p:txBody>
        </p:sp>
        <p:sp>
          <p:nvSpPr>
            <p:cNvPr id="23564" name="Freeform 209"/>
            <p:cNvSpPr>
              <a:spLocks/>
            </p:cNvSpPr>
            <p:nvPr/>
          </p:nvSpPr>
          <p:spPr bwMode="auto">
            <a:xfrm>
              <a:off x="1849" y="3537"/>
              <a:ext cx="50" cy="31"/>
            </a:xfrm>
            <a:custGeom>
              <a:avLst/>
              <a:gdLst>
                <a:gd name="T0" fmla="*/ 0 w 101"/>
                <a:gd name="T1" fmla="*/ 0 h 63"/>
                <a:gd name="T2" fmla="*/ 0 w 101"/>
                <a:gd name="T3" fmla="*/ 0 h 63"/>
                <a:gd name="T4" fmla="*/ 0 w 101"/>
                <a:gd name="T5" fmla="*/ 0 h 63"/>
                <a:gd name="T6" fmla="*/ 0 w 101"/>
                <a:gd name="T7" fmla="*/ 0 h 63"/>
                <a:gd name="T8" fmla="*/ 0 w 101"/>
                <a:gd name="T9" fmla="*/ 0 h 63"/>
                <a:gd name="T10" fmla="*/ 0 w 101"/>
                <a:gd name="T11" fmla="*/ 0 h 63"/>
                <a:gd name="T12" fmla="*/ 0 w 101"/>
                <a:gd name="T13" fmla="*/ 0 h 63"/>
                <a:gd name="T14" fmla="*/ 0 w 101"/>
                <a:gd name="T15" fmla="*/ 0 h 63"/>
                <a:gd name="T16" fmla="*/ 0 w 101"/>
                <a:gd name="T17" fmla="*/ 0 h 63"/>
                <a:gd name="T18" fmla="*/ 0 w 101"/>
                <a:gd name="T19" fmla="*/ 0 h 63"/>
                <a:gd name="T20" fmla="*/ 0 w 101"/>
                <a:gd name="T21" fmla="*/ 0 h 63"/>
                <a:gd name="T22" fmla="*/ 0 w 101"/>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3"/>
                <a:gd name="T38" fmla="*/ 101 w 101"/>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3">
                  <a:moveTo>
                    <a:pt x="79" y="53"/>
                  </a:moveTo>
                  <a:lnTo>
                    <a:pt x="94" y="44"/>
                  </a:lnTo>
                  <a:lnTo>
                    <a:pt x="10" y="0"/>
                  </a:lnTo>
                  <a:lnTo>
                    <a:pt x="0" y="19"/>
                  </a:lnTo>
                  <a:lnTo>
                    <a:pt x="85" y="63"/>
                  </a:lnTo>
                  <a:lnTo>
                    <a:pt x="101" y="53"/>
                  </a:lnTo>
                  <a:lnTo>
                    <a:pt x="85" y="63"/>
                  </a:lnTo>
                  <a:lnTo>
                    <a:pt x="93" y="63"/>
                  </a:lnTo>
                  <a:lnTo>
                    <a:pt x="99" y="58"/>
                  </a:lnTo>
                  <a:lnTo>
                    <a:pt x="101" y="50"/>
                  </a:lnTo>
                  <a:lnTo>
                    <a:pt x="94" y="44"/>
                  </a:lnTo>
                  <a:lnTo>
                    <a:pt x="79" y="53"/>
                  </a:lnTo>
                  <a:close/>
                </a:path>
              </a:pathLst>
            </a:custGeom>
            <a:solidFill>
              <a:srgbClr val="000000"/>
            </a:solidFill>
            <a:ln w="9525">
              <a:noFill/>
              <a:round/>
              <a:headEnd/>
              <a:tailEnd/>
            </a:ln>
          </p:spPr>
          <p:txBody>
            <a:bodyPr/>
            <a:lstStyle/>
            <a:p>
              <a:endParaRPr lang="en-US"/>
            </a:p>
          </p:txBody>
        </p:sp>
        <p:sp>
          <p:nvSpPr>
            <p:cNvPr id="23565" name="Freeform 210"/>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6" y="21"/>
                  </a:moveTo>
                  <a:lnTo>
                    <a:pt x="0" y="11"/>
                  </a:lnTo>
                  <a:lnTo>
                    <a:pt x="0" y="249"/>
                  </a:lnTo>
                  <a:lnTo>
                    <a:pt x="22" y="249"/>
                  </a:lnTo>
                  <a:lnTo>
                    <a:pt x="22" y="11"/>
                  </a:lnTo>
                  <a:lnTo>
                    <a:pt x="15" y="2"/>
                  </a:lnTo>
                  <a:lnTo>
                    <a:pt x="22" y="11"/>
                  </a:lnTo>
                  <a:lnTo>
                    <a:pt x="18" y="4"/>
                  </a:lnTo>
                  <a:lnTo>
                    <a:pt x="11" y="0"/>
                  </a:lnTo>
                  <a:lnTo>
                    <a:pt x="3" y="4"/>
                  </a:lnTo>
                  <a:lnTo>
                    <a:pt x="0" y="11"/>
                  </a:lnTo>
                  <a:lnTo>
                    <a:pt x="6" y="21"/>
                  </a:lnTo>
                  <a:close/>
                </a:path>
              </a:pathLst>
            </a:custGeom>
            <a:solidFill>
              <a:srgbClr val="000000"/>
            </a:solidFill>
            <a:ln w="9525">
              <a:noFill/>
              <a:round/>
              <a:headEnd/>
              <a:tailEnd/>
            </a:ln>
          </p:spPr>
          <p:txBody>
            <a:bodyPr/>
            <a:lstStyle/>
            <a:p>
              <a:endParaRPr lang="en-US"/>
            </a:p>
          </p:txBody>
        </p:sp>
        <p:sp>
          <p:nvSpPr>
            <p:cNvPr id="23566" name="Freeform 211"/>
            <p:cNvSpPr>
              <a:spLocks/>
            </p:cNvSpPr>
            <p:nvPr/>
          </p:nvSpPr>
          <p:spPr bwMode="auto">
            <a:xfrm>
              <a:off x="1846" y="3419"/>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0 w 100"/>
                <a:gd name="T11" fmla="*/ 1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22" y="10"/>
                  </a:moveTo>
                  <a:lnTo>
                    <a:pt x="6" y="19"/>
                  </a:lnTo>
                  <a:lnTo>
                    <a:pt x="91" y="60"/>
                  </a:lnTo>
                  <a:lnTo>
                    <a:pt x="100" y="41"/>
                  </a:lnTo>
                  <a:lnTo>
                    <a:pt x="16" y="0"/>
                  </a:lnTo>
                  <a:lnTo>
                    <a:pt x="0" y="10"/>
                  </a:lnTo>
                  <a:lnTo>
                    <a:pt x="16" y="0"/>
                  </a:lnTo>
                  <a:lnTo>
                    <a:pt x="8" y="0"/>
                  </a:lnTo>
                  <a:lnTo>
                    <a:pt x="2"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3567" name="Freeform 212"/>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close/>
                </a:path>
              </a:pathLst>
            </a:custGeom>
            <a:solidFill>
              <a:srgbClr val="B2B2B2"/>
            </a:solidFill>
            <a:ln w="9525">
              <a:noFill/>
              <a:round/>
              <a:headEnd/>
              <a:tailEnd/>
            </a:ln>
          </p:spPr>
          <p:txBody>
            <a:bodyPr/>
            <a:lstStyle/>
            <a:p>
              <a:endParaRPr lang="en-US"/>
            </a:p>
          </p:txBody>
        </p:sp>
        <p:sp>
          <p:nvSpPr>
            <p:cNvPr id="23568" name="Freeform 213"/>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path>
              </a:pathLst>
            </a:custGeom>
            <a:noFill/>
            <a:ln w="0">
              <a:solidFill>
                <a:srgbClr val="000000"/>
              </a:solidFill>
              <a:round/>
              <a:headEnd/>
              <a:tailEnd/>
            </a:ln>
          </p:spPr>
          <p:txBody>
            <a:bodyPr/>
            <a:lstStyle/>
            <a:p>
              <a:endParaRPr lang="en-US"/>
            </a:p>
          </p:txBody>
        </p:sp>
        <p:sp>
          <p:nvSpPr>
            <p:cNvPr id="23569" name="Freeform 214"/>
            <p:cNvSpPr>
              <a:spLocks/>
            </p:cNvSpPr>
            <p:nvPr/>
          </p:nvSpPr>
          <p:spPr bwMode="auto">
            <a:xfrm>
              <a:off x="1974" y="3604"/>
              <a:ext cx="142" cy="50"/>
            </a:xfrm>
            <a:custGeom>
              <a:avLst/>
              <a:gdLst>
                <a:gd name="T0" fmla="*/ 0 w 285"/>
                <a:gd name="T1" fmla="*/ 1 h 100"/>
                <a:gd name="T2" fmla="*/ 0 w 285"/>
                <a:gd name="T3" fmla="*/ 1 h 100"/>
                <a:gd name="T4" fmla="*/ 0 w 285"/>
                <a:gd name="T5" fmla="*/ 1 h 100"/>
                <a:gd name="T6" fmla="*/ 0 w 285"/>
                <a:gd name="T7" fmla="*/ 1 h 100"/>
                <a:gd name="T8" fmla="*/ 0 w 285"/>
                <a:gd name="T9" fmla="*/ 1 h 100"/>
                <a:gd name="T10" fmla="*/ 0 w 285"/>
                <a:gd name="T11" fmla="*/ 1 h 100"/>
                <a:gd name="T12" fmla="*/ 0 w 285"/>
                <a:gd name="T13" fmla="*/ 1 h 100"/>
                <a:gd name="T14" fmla="*/ 0 w 285"/>
                <a:gd name="T15" fmla="*/ 1 h 100"/>
                <a:gd name="T16" fmla="*/ 0 w 285"/>
                <a:gd name="T17" fmla="*/ 1 h 100"/>
                <a:gd name="T18" fmla="*/ 0 w 285"/>
                <a:gd name="T19" fmla="*/ 1 h 100"/>
                <a:gd name="T20" fmla="*/ 0 w 285"/>
                <a:gd name="T21" fmla="*/ 1 h 100"/>
                <a:gd name="T22" fmla="*/ 0 w 285"/>
                <a:gd name="T23" fmla="*/ 1 h 100"/>
                <a:gd name="T24" fmla="*/ 0 w 285"/>
                <a:gd name="T25" fmla="*/ 1 h 100"/>
                <a:gd name="T26" fmla="*/ 0 w 285"/>
                <a:gd name="T27" fmla="*/ 1 h 100"/>
                <a:gd name="T28" fmla="*/ 0 w 285"/>
                <a:gd name="T29" fmla="*/ 1 h 100"/>
                <a:gd name="T30" fmla="*/ 0 w 285"/>
                <a:gd name="T31" fmla="*/ 1 h 100"/>
                <a:gd name="T32" fmla="*/ 0 w 285"/>
                <a:gd name="T33" fmla="*/ 1 h 100"/>
                <a:gd name="T34" fmla="*/ 0 w 285"/>
                <a:gd name="T35" fmla="*/ 1 h 100"/>
                <a:gd name="T36" fmla="*/ 0 w 285"/>
                <a:gd name="T37" fmla="*/ 1 h 100"/>
                <a:gd name="T38" fmla="*/ 0 w 285"/>
                <a:gd name="T39" fmla="*/ 1 h 100"/>
                <a:gd name="T40" fmla="*/ 0 w 285"/>
                <a:gd name="T41" fmla="*/ 1 h 100"/>
                <a:gd name="T42" fmla="*/ 0 w 285"/>
                <a:gd name="T43" fmla="*/ 0 h 100"/>
                <a:gd name="T44" fmla="*/ 0 w 285"/>
                <a:gd name="T45" fmla="*/ 1 h 100"/>
                <a:gd name="T46" fmla="*/ 0 w 285"/>
                <a:gd name="T47" fmla="*/ 1 h 100"/>
                <a:gd name="T48" fmla="*/ 0 w 285"/>
                <a:gd name="T49" fmla="*/ 1 h 100"/>
                <a:gd name="T50" fmla="*/ 0 w 285"/>
                <a:gd name="T51" fmla="*/ 1 h 100"/>
                <a:gd name="T52" fmla="*/ 0 w 285"/>
                <a:gd name="T53" fmla="*/ 1 h 100"/>
                <a:gd name="T54" fmla="*/ 0 w 285"/>
                <a:gd name="T55" fmla="*/ 1 h 100"/>
                <a:gd name="T56" fmla="*/ 0 w 285"/>
                <a:gd name="T57" fmla="*/ 1 h 100"/>
                <a:gd name="T58" fmla="*/ 0 w 285"/>
                <a:gd name="T59" fmla="*/ 1 h 100"/>
                <a:gd name="T60" fmla="*/ 0 w 285"/>
                <a:gd name="T61" fmla="*/ 1 h 100"/>
                <a:gd name="T62" fmla="*/ 0 w 285"/>
                <a:gd name="T63" fmla="*/ 1 h 100"/>
                <a:gd name="T64" fmla="*/ 0 w 285"/>
                <a:gd name="T65" fmla="*/ 1 h 100"/>
                <a:gd name="T66" fmla="*/ 0 w 285"/>
                <a:gd name="T67" fmla="*/ 1 h 100"/>
                <a:gd name="T68" fmla="*/ 0 w 285"/>
                <a:gd name="T69" fmla="*/ 1 h 1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5"/>
                <a:gd name="T106" fmla="*/ 0 h 100"/>
                <a:gd name="T107" fmla="*/ 285 w 285"/>
                <a:gd name="T108" fmla="*/ 100 h 1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5" h="100">
                  <a:moveTo>
                    <a:pt x="284" y="65"/>
                  </a:moveTo>
                  <a:lnTo>
                    <a:pt x="224" y="98"/>
                  </a:lnTo>
                  <a:lnTo>
                    <a:pt x="215" y="100"/>
                  </a:lnTo>
                  <a:lnTo>
                    <a:pt x="208" y="98"/>
                  </a:lnTo>
                  <a:lnTo>
                    <a:pt x="191" y="95"/>
                  </a:lnTo>
                  <a:lnTo>
                    <a:pt x="168" y="90"/>
                  </a:lnTo>
                  <a:lnTo>
                    <a:pt x="140" y="84"/>
                  </a:lnTo>
                  <a:lnTo>
                    <a:pt x="110" y="78"/>
                  </a:lnTo>
                  <a:lnTo>
                    <a:pt x="83" y="72"/>
                  </a:lnTo>
                  <a:lnTo>
                    <a:pt x="61" y="65"/>
                  </a:lnTo>
                  <a:lnTo>
                    <a:pt x="47" y="62"/>
                  </a:lnTo>
                  <a:lnTo>
                    <a:pt x="22" y="57"/>
                  </a:lnTo>
                  <a:lnTo>
                    <a:pt x="19" y="57"/>
                  </a:lnTo>
                  <a:lnTo>
                    <a:pt x="21" y="64"/>
                  </a:lnTo>
                  <a:lnTo>
                    <a:pt x="16" y="65"/>
                  </a:lnTo>
                  <a:lnTo>
                    <a:pt x="14" y="65"/>
                  </a:lnTo>
                  <a:lnTo>
                    <a:pt x="10" y="62"/>
                  </a:lnTo>
                  <a:lnTo>
                    <a:pt x="7" y="59"/>
                  </a:lnTo>
                  <a:lnTo>
                    <a:pt x="3" y="54"/>
                  </a:lnTo>
                  <a:lnTo>
                    <a:pt x="2" y="50"/>
                  </a:lnTo>
                  <a:lnTo>
                    <a:pt x="0" y="47"/>
                  </a:lnTo>
                  <a:lnTo>
                    <a:pt x="0" y="45"/>
                  </a:lnTo>
                  <a:lnTo>
                    <a:pt x="2" y="43"/>
                  </a:lnTo>
                  <a:lnTo>
                    <a:pt x="5" y="42"/>
                  </a:lnTo>
                  <a:lnTo>
                    <a:pt x="5" y="37"/>
                  </a:lnTo>
                  <a:lnTo>
                    <a:pt x="7" y="34"/>
                  </a:lnTo>
                  <a:lnTo>
                    <a:pt x="8" y="32"/>
                  </a:lnTo>
                  <a:lnTo>
                    <a:pt x="11" y="29"/>
                  </a:lnTo>
                  <a:lnTo>
                    <a:pt x="14" y="26"/>
                  </a:lnTo>
                  <a:lnTo>
                    <a:pt x="19" y="23"/>
                  </a:lnTo>
                  <a:lnTo>
                    <a:pt x="22" y="20"/>
                  </a:lnTo>
                  <a:lnTo>
                    <a:pt x="25" y="18"/>
                  </a:lnTo>
                  <a:lnTo>
                    <a:pt x="28" y="14"/>
                  </a:lnTo>
                  <a:lnTo>
                    <a:pt x="30" y="11"/>
                  </a:lnTo>
                  <a:lnTo>
                    <a:pt x="33" y="7"/>
                  </a:lnTo>
                  <a:lnTo>
                    <a:pt x="39" y="9"/>
                  </a:lnTo>
                  <a:lnTo>
                    <a:pt x="50" y="14"/>
                  </a:lnTo>
                  <a:lnTo>
                    <a:pt x="58" y="18"/>
                  </a:lnTo>
                  <a:lnTo>
                    <a:pt x="63" y="20"/>
                  </a:lnTo>
                  <a:lnTo>
                    <a:pt x="60" y="17"/>
                  </a:lnTo>
                  <a:lnTo>
                    <a:pt x="61" y="6"/>
                  </a:lnTo>
                  <a:lnTo>
                    <a:pt x="61" y="4"/>
                  </a:lnTo>
                  <a:lnTo>
                    <a:pt x="63" y="3"/>
                  </a:lnTo>
                  <a:lnTo>
                    <a:pt x="66" y="0"/>
                  </a:lnTo>
                  <a:lnTo>
                    <a:pt x="68" y="0"/>
                  </a:lnTo>
                  <a:lnTo>
                    <a:pt x="69" y="1"/>
                  </a:lnTo>
                  <a:lnTo>
                    <a:pt x="71" y="4"/>
                  </a:lnTo>
                  <a:lnTo>
                    <a:pt x="71" y="6"/>
                  </a:lnTo>
                  <a:lnTo>
                    <a:pt x="69" y="9"/>
                  </a:lnTo>
                  <a:lnTo>
                    <a:pt x="71" y="14"/>
                  </a:lnTo>
                  <a:lnTo>
                    <a:pt x="74" y="20"/>
                  </a:lnTo>
                  <a:lnTo>
                    <a:pt x="77" y="26"/>
                  </a:lnTo>
                  <a:lnTo>
                    <a:pt x="82" y="29"/>
                  </a:lnTo>
                  <a:lnTo>
                    <a:pt x="90" y="31"/>
                  </a:lnTo>
                  <a:lnTo>
                    <a:pt x="104" y="32"/>
                  </a:lnTo>
                  <a:lnTo>
                    <a:pt x="124" y="34"/>
                  </a:lnTo>
                  <a:lnTo>
                    <a:pt x="147" y="37"/>
                  </a:lnTo>
                  <a:lnTo>
                    <a:pt x="169" y="39"/>
                  </a:lnTo>
                  <a:lnTo>
                    <a:pt x="190" y="40"/>
                  </a:lnTo>
                  <a:lnTo>
                    <a:pt x="204" y="42"/>
                  </a:lnTo>
                  <a:lnTo>
                    <a:pt x="208" y="42"/>
                  </a:lnTo>
                  <a:lnTo>
                    <a:pt x="212" y="39"/>
                  </a:lnTo>
                  <a:lnTo>
                    <a:pt x="221" y="32"/>
                  </a:lnTo>
                  <a:lnTo>
                    <a:pt x="230" y="25"/>
                  </a:lnTo>
                  <a:lnTo>
                    <a:pt x="241" y="20"/>
                  </a:lnTo>
                  <a:lnTo>
                    <a:pt x="249" y="15"/>
                  </a:lnTo>
                  <a:lnTo>
                    <a:pt x="254" y="9"/>
                  </a:lnTo>
                  <a:lnTo>
                    <a:pt x="255" y="6"/>
                  </a:lnTo>
                  <a:lnTo>
                    <a:pt x="257" y="4"/>
                  </a:lnTo>
                  <a:lnTo>
                    <a:pt x="285" y="61"/>
                  </a:lnTo>
                  <a:lnTo>
                    <a:pt x="284" y="65"/>
                  </a:lnTo>
                  <a:close/>
                </a:path>
              </a:pathLst>
            </a:custGeom>
            <a:solidFill>
              <a:srgbClr val="FFB27F"/>
            </a:solidFill>
            <a:ln w="9525">
              <a:noFill/>
              <a:round/>
              <a:headEnd/>
              <a:tailEnd/>
            </a:ln>
          </p:spPr>
          <p:txBody>
            <a:bodyPr/>
            <a:lstStyle/>
            <a:p>
              <a:endParaRPr lang="en-US"/>
            </a:p>
          </p:txBody>
        </p:sp>
        <p:sp>
          <p:nvSpPr>
            <p:cNvPr id="23570" name="Freeform 215"/>
            <p:cNvSpPr>
              <a:spLocks/>
            </p:cNvSpPr>
            <p:nvPr/>
          </p:nvSpPr>
          <p:spPr bwMode="auto">
            <a:xfrm>
              <a:off x="2080" y="3632"/>
              <a:ext cx="38" cy="27"/>
            </a:xfrm>
            <a:custGeom>
              <a:avLst/>
              <a:gdLst>
                <a:gd name="T0" fmla="*/ 1 w 75"/>
                <a:gd name="T1" fmla="*/ 1 h 53"/>
                <a:gd name="T2" fmla="*/ 1 w 75"/>
                <a:gd name="T3" fmla="*/ 1 h 53"/>
                <a:gd name="T4" fmla="*/ 1 w 75"/>
                <a:gd name="T5" fmla="*/ 1 h 53"/>
                <a:gd name="T6" fmla="*/ 1 w 75"/>
                <a:gd name="T7" fmla="*/ 0 h 53"/>
                <a:gd name="T8" fmla="*/ 1 w 75"/>
                <a:gd name="T9" fmla="*/ 1 h 53"/>
                <a:gd name="T10" fmla="*/ 1 w 75"/>
                <a:gd name="T11" fmla="*/ 1 h 53"/>
                <a:gd name="T12" fmla="*/ 1 w 75"/>
                <a:gd name="T13" fmla="*/ 1 h 53"/>
                <a:gd name="T14" fmla="*/ 0 w 75"/>
                <a:gd name="T15" fmla="*/ 1 h 53"/>
                <a:gd name="T16" fmla="*/ 1 w 75"/>
                <a:gd name="T17" fmla="*/ 1 h 53"/>
                <a:gd name="T18" fmla="*/ 1 w 75"/>
                <a:gd name="T19" fmla="*/ 1 h 53"/>
                <a:gd name="T20" fmla="*/ 1 w 75"/>
                <a:gd name="T21" fmla="*/ 1 h 53"/>
                <a:gd name="T22" fmla="*/ 1 w 75"/>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5"/>
                <a:gd name="T37" fmla="*/ 0 h 53"/>
                <a:gd name="T38" fmla="*/ 75 w 75"/>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5" h="53">
                  <a:moveTo>
                    <a:pt x="13" y="53"/>
                  </a:moveTo>
                  <a:lnTo>
                    <a:pt x="16" y="52"/>
                  </a:lnTo>
                  <a:lnTo>
                    <a:pt x="75" y="19"/>
                  </a:lnTo>
                  <a:lnTo>
                    <a:pt x="66" y="0"/>
                  </a:lnTo>
                  <a:lnTo>
                    <a:pt x="6" y="33"/>
                  </a:lnTo>
                  <a:lnTo>
                    <a:pt x="10" y="31"/>
                  </a:lnTo>
                  <a:lnTo>
                    <a:pt x="6" y="33"/>
                  </a:lnTo>
                  <a:lnTo>
                    <a:pt x="0" y="39"/>
                  </a:lnTo>
                  <a:lnTo>
                    <a:pt x="2" y="47"/>
                  </a:lnTo>
                  <a:lnTo>
                    <a:pt x="8" y="52"/>
                  </a:lnTo>
                  <a:lnTo>
                    <a:pt x="16" y="52"/>
                  </a:lnTo>
                  <a:lnTo>
                    <a:pt x="13" y="53"/>
                  </a:lnTo>
                  <a:close/>
                </a:path>
              </a:pathLst>
            </a:custGeom>
            <a:solidFill>
              <a:srgbClr val="000000"/>
            </a:solidFill>
            <a:ln w="9525">
              <a:noFill/>
              <a:round/>
              <a:headEnd/>
              <a:tailEnd/>
            </a:ln>
          </p:spPr>
          <p:txBody>
            <a:bodyPr/>
            <a:lstStyle/>
            <a:p>
              <a:endParaRPr lang="en-US"/>
            </a:p>
          </p:txBody>
        </p:sp>
        <p:sp>
          <p:nvSpPr>
            <p:cNvPr id="23571" name="Freeform 216"/>
            <p:cNvSpPr>
              <a:spLocks/>
            </p:cNvSpPr>
            <p:nvPr/>
          </p:nvSpPr>
          <p:spPr bwMode="auto">
            <a:xfrm>
              <a:off x="2075" y="3648"/>
              <a:ext cx="11" cy="11"/>
            </a:xfrm>
            <a:custGeom>
              <a:avLst/>
              <a:gdLst>
                <a:gd name="T0" fmla="*/ 1 w 22"/>
                <a:gd name="T1" fmla="*/ 0 h 24"/>
                <a:gd name="T2" fmla="*/ 1 w 22"/>
                <a:gd name="T3" fmla="*/ 0 h 24"/>
                <a:gd name="T4" fmla="*/ 1 w 22"/>
                <a:gd name="T5" fmla="*/ 0 h 24"/>
                <a:gd name="T6" fmla="*/ 1 w 22"/>
                <a:gd name="T7" fmla="*/ 0 h 24"/>
                <a:gd name="T8" fmla="*/ 1 w 22"/>
                <a:gd name="T9" fmla="*/ 0 h 24"/>
                <a:gd name="T10" fmla="*/ 1 w 22"/>
                <a:gd name="T11" fmla="*/ 0 h 24"/>
                <a:gd name="T12" fmla="*/ 1 w 22"/>
                <a:gd name="T13" fmla="*/ 0 h 24"/>
                <a:gd name="T14" fmla="*/ 1 w 22"/>
                <a:gd name="T15" fmla="*/ 0 h 24"/>
                <a:gd name="T16" fmla="*/ 0 w 22"/>
                <a:gd name="T17" fmla="*/ 0 h 24"/>
                <a:gd name="T18" fmla="*/ 1 w 22"/>
                <a:gd name="T19" fmla="*/ 0 h 24"/>
                <a:gd name="T20" fmla="*/ 1 w 22"/>
                <a:gd name="T21" fmla="*/ 0 h 24"/>
                <a:gd name="T22" fmla="*/ 1 w 22"/>
                <a:gd name="T23" fmla="*/ 0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
                <a:gd name="T38" fmla="*/ 22 w 22"/>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
                  <a:moveTo>
                    <a:pt x="9" y="24"/>
                  </a:moveTo>
                  <a:lnTo>
                    <a:pt x="12" y="24"/>
                  </a:lnTo>
                  <a:lnTo>
                    <a:pt x="22" y="22"/>
                  </a:lnTo>
                  <a:lnTo>
                    <a:pt x="19" y="0"/>
                  </a:lnTo>
                  <a:lnTo>
                    <a:pt x="9" y="2"/>
                  </a:lnTo>
                  <a:lnTo>
                    <a:pt x="12" y="2"/>
                  </a:lnTo>
                  <a:lnTo>
                    <a:pt x="9" y="2"/>
                  </a:lnTo>
                  <a:lnTo>
                    <a:pt x="1" y="6"/>
                  </a:lnTo>
                  <a:lnTo>
                    <a:pt x="0" y="14"/>
                  </a:lnTo>
                  <a:lnTo>
                    <a:pt x="4" y="21"/>
                  </a:lnTo>
                  <a:lnTo>
                    <a:pt x="12" y="24"/>
                  </a:lnTo>
                  <a:lnTo>
                    <a:pt x="9" y="24"/>
                  </a:lnTo>
                  <a:close/>
                </a:path>
              </a:pathLst>
            </a:custGeom>
            <a:solidFill>
              <a:srgbClr val="000000"/>
            </a:solidFill>
            <a:ln w="9525">
              <a:noFill/>
              <a:round/>
              <a:headEnd/>
              <a:tailEnd/>
            </a:ln>
          </p:spPr>
          <p:txBody>
            <a:bodyPr/>
            <a:lstStyle/>
            <a:p>
              <a:endParaRPr lang="en-US"/>
            </a:p>
          </p:txBody>
        </p:sp>
        <p:sp>
          <p:nvSpPr>
            <p:cNvPr id="23572" name="Freeform 217"/>
            <p:cNvSpPr>
              <a:spLocks/>
            </p:cNvSpPr>
            <p:nvPr/>
          </p:nvSpPr>
          <p:spPr bwMode="auto">
            <a:xfrm>
              <a:off x="1996" y="3630"/>
              <a:ext cx="86" cy="29"/>
            </a:xfrm>
            <a:custGeom>
              <a:avLst/>
              <a:gdLst>
                <a:gd name="T0" fmla="*/ 1 w 172"/>
                <a:gd name="T1" fmla="*/ 0 h 60"/>
                <a:gd name="T2" fmla="*/ 0 w 172"/>
                <a:gd name="T3" fmla="*/ 0 h 60"/>
                <a:gd name="T4" fmla="*/ 1 w 172"/>
                <a:gd name="T5" fmla="*/ 0 h 60"/>
                <a:gd name="T6" fmla="*/ 1 w 172"/>
                <a:gd name="T7" fmla="*/ 0 h 60"/>
                <a:gd name="T8" fmla="*/ 1 w 172"/>
                <a:gd name="T9" fmla="*/ 0 h 60"/>
                <a:gd name="T10" fmla="*/ 1 w 172"/>
                <a:gd name="T11" fmla="*/ 0 h 60"/>
                <a:gd name="T12" fmla="*/ 1 w 172"/>
                <a:gd name="T13" fmla="*/ 0 h 60"/>
                <a:gd name="T14" fmla="*/ 1 w 172"/>
                <a:gd name="T15" fmla="*/ 0 h 60"/>
                <a:gd name="T16" fmla="*/ 1 w 172"/>
                <a:gd name="T17" fmla="*/ 0 h 60"/>
                <a:gd name="T18" fmla="*/ 1 w 172"/>
                <a:gd name="T19" fmla="*/ 0 h 60"/>
                <a:gd name="T20" fmla="*/ 1 w 172"/>
                <a:gd name="T21" fmla="*/ 0 h 60"/>
                <a:gd name="T22" fmla="*/ 1 w 172"/>
                <a:gd name="T23" fmla="*/ 0 h 60"/>
                <a:gd name="T24" fmla="*/ 1 w 172"/>
                <a:gd name="T25" fmla="*/ 0 h 60"/>
                <a:gd name="T26" fmla="*/ 1 w 172"/>
                <a:gd name="T27" fmla="*/ 0 h 60"/>
                <a:gd name="T28" fmla="*/ 1 w 172"/>
                <a:gd name="T29" fmla="*/ 0 h 60"/>
                <a:gd name="T30" fmla="*/ 1 w 172"/>
                <a:gd name="T31" fmla="*/ 0 h 60"/>
                <a:gd name="T32" fmla="*/ 1 w 172"/>
                <a:gd name="T33" fmla="*/ 0 h 60"/>
                <a:gd name="T34" fmla="*/ 1 w 172"/>
                <a:gd name="T35" fmla="*/ 0 h 60"/>
                <a:gd name="T36" fmla="*/ 1 w 172"/>
                <a:gd name="T37" fmla="*/ 0 h 60"/>
                <a:gd name="T38" fmla="*/ 1 w 172"/>
                <a:gd name="T39" fmla="*/ 0 h 60"/>
                <a:gd name="T40" fmla="*/ 1 w 172"/>
                <a:gd name="T41" fmla="*/ 0 h 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2"/>
                <a:gd name="T64" fmla="*/ 0 h 60"/>
                <a:gd name="T65" fmla="*/ 172 w 172"/>
                <a:gd name="T66" fmla="*/ 60 h 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2" h="60">
                  <a:moveTo>
                    <a:pt x="2" y="22"/>
                  </a:moveTo>
                  <a:lnTo>
                    <a:pt x="0" y="22"/>
                  </a:lnTo>
                  <a:lnTo>
                    <a:pt x="14" y="25"/>
                  </a:lnTo>
                  <a:lnTo>
                    <a:pt x="36" y="32"/>
                  </a:lnTo>
                  <a:lnTo>
                    <a:pt x="63" y="38"/>
                  </a:lnTo>
                  <a:lnTo>
                    <a:pt x="94" y="44"/>
                  </a:lnTo>
                  <a:lnTo>
                    <a:pt x="122" y="50"/>
                  </a:lnTo>
                  <a:lnTo>
                    <a:pt x="146" y="55"/>
                  </a:lnTo>
                  <a:lnTo>
                    <a:pt x="163" y="58"/>
                  </a:lnTo>
                  <a:lnTo>
                    <a:pt x="169" y="60"/>
                  </a:lnTo>
                  <a:lnTo>
                    <a:pt x="172" y="38"/>
                  </a:lnTo>
                  <a:lnTo>
                    <a:pt x="166" y="36"/>
                  </a:lnTo>
                  <a:lnTo>
                    <a:pt x="149" y="33"/>
                  </a:lnTo>
                  <a:lnTo>
                    <a:pt x="125" y="28"/>
                  </a:lnTo>
                  <a:lnTo>
                    <a:pt x="97" y="22"/>
                  </a:lnTo>
                  <a:lnTo>
                    <a:pt x="69" y="16"/>
                  </a:lnTo>
                  <a:lnTo>
                    <a:pt x="42" y="10"/>
                  </a:lnTo>
                  <a:lnTo>
                    <a:pt x="20" y="3"/>
                  </a:lnTo>
                  <a:lnTo>
                    <a:pt x="6" y="0"/>
                  </a:lnTo>
                  <a:lnTo>
                    <a:pt x="5" y="0"/>
                  </a:lnTo>
                  <a:lnTo>
                    <a:pt x="2" y="22"/>
                  </a:lnTo>
                  <a:close/>
                </a:path>
              </a:pathLst>
            </a:custGeom>
            <a:solidFill>
              <a:srgbClr val="000000"/>
            </a:solidFill>
            <a:ln w="9525">
              <a:noFill/>
              <a:round/>
              <a:headEnd/>
              <a:tailEnd/>
            </a:ln>
          </p:spPr>
          <p:txBody>
            <a:bodyPr/>
            <a:lstStyle/>
            <a:p>
              <a:endParaRPr lang="en-US"/>
            </a:p>
          </p:txBody>
        </p:sp>
        <p:sp>
          <p:nvSpPr>
            <p:cNvPr id="23573" name="Freeform 218"/>
            <p:cNvSpPr>
              <a:spLocks/>
            </p:cNvSpPr>
            <p:nvPr/>
          </p:nvSpPr>
          <p:spPr bwMode="auto">
            <a:xfrm>
              <a:off x="1979" y="3627"/>
              <a:ext cx="19" cy="14"/>
            </a:xfrm>
            <a:custGeom>
              <a:avLst/>
              <a:gdLst>
                <a:gd name="T0" fmla="*/ 1 w 38"/>
                <a:gd name="T1" fmla="*/ 1 h 26"/>
                <a:gd name="T2" fmla="*/ 1 w 38"/>
                <a:gd name="T3" fmla="*/ 1 h 26"/>
                <a:gd name="T4" fmla="*/ 1 w 38"/>
                <a:gd name="T5" fmla="*/ 1 h 26"/>
                <a:gd name="T6" fmla="*/ 1 w 38"/>
                <a:gd name="T7" fmla="*/ 1 h 26"/>
                <a:gd name="T8" fmla="*/ 1 w 38"/>
                <a:gd name="T9" fmla="*/ 0 h 26"/>
                <a:gd name="T10" fmla="*/ 1 w 38"/>
                <a:gd name="T11" fmla="*/ 0 h 26"/>
                <a:gd name="T12" fmla="*/ 1 w 38"/>
                <a:gd name="T13" fmla="*/ 0 h 26"/>
                <a:gd name="T14" fmla="*/ 1 w 38"/>
                <a:gd name="T15" fmla="*/ 1 h 26"/>
                <a:gd name="T16" fmla="*/ 0 w 38"/>
                <a:gd name="T17" fmla="*/ 1 h 26"/>
                <a:gd name="T18" fmla="*/ 1 w 38"/>
                <a:gd name="T19" fmla="*/ 1 h 26"/>
                <a:gd name="T20" fmla="*/ 1 w 38"/>
                <a:gd name="T21" fmla="*/ 1 h 26"/>
                <a:gd name="T22" fmla="*/ 1 w 38"/>
                <a:gd name="T23" fmla="*/ 1 h 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26"/>
                <a:gd name="T38" fmla="*/ 38 w 38"/>
                <a:gd name="T39" fmla="*/ 26 h 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26">
                  <a:moveTo>
                    <a:pt x="11" y="21"/>
                  </a:moveTo>
                  <a:lnTo>
                    <a:pt x="10" y="21"/>
                  </a:lnTo>
                  <a:lnTo>
                    <a:pt x="35" y="26"/>
                  </a:lnTo>
                  <a:lnTo>
                    <a:pt x="38" y="4"/>
                  </a:lnTo>
                  <a:lnTo>
                    <a:pt x="13" y="0"/>
                  </a:lnTo>
                  <a:lnTo>
                    <a:pt x="11" y="0"/>
                  </a:lnTo>
                  <a:lnTo>
                    <a:pt x="13" y="0"/>
                  </a:lnTo>
                  <a:lnTo>
                    <a:pt x="5" y="3"/>
                  </a:lnTo>
                  <a:lnTo>
                    <a:pt x="0" y="9"/>
                  </a:lnTo>
                  <a:lnTo>
                    <a:pt x="2" y="17"/>
                  </a:lnTo>
                  <a:lnTo>
                    <a:pt x="10" y="21"/>
                  </a:lnTo>
                  <a:lnTo>
                    <a:pt x="11" y="21"/>
                  </a:lnTo>
                  <a:close/>
                </a:path>
              </a:pathLst>
            </a:custGeom>
            <a:solidFill>
              <a:srgbClr val="000000"/>
            </a:solidFill>
            <a:ln w="9525">
              <a:noFill/>
              <a:round/>
              <a:headEnd/>
              <a:tailEnd/>
            </a:ln>
          </p:spPr>
          <p:txBody>
            <a:bodyPr/>
            <a:lstStyle/>
            <a:p>
              <a:endParaRPr lang="en-US"/>
            </a:p>
          </p:txBody>
        </p:sp>
        <p:sp>
          <p:nvSpPr>
            <p:cNvPr id="23574" name="Freeform 219"/>
            <p:cNvSpPr>
              <a:spLocks/>
            </p:cNvSpPr>
            <p:nvPr/>
          </p:nvSpPr>
          <p:spPr bwMode="auto">
            <a:xfrm>
              <a:off x="1978" y="3627"/>
              <a:ext cx="11" cy="11"/>
            </a:xfrm>
            <a:custGeom>
              <a:avLst/>
              <a:gdLst>
                <a:gd name="T0" fmla="*/ 1 w 22"/>
                <a:gd name="T1" fmla="*/ 1 h 21"/>
                <a:gd name="T2" fmla="*/ 1 w 22"/>
                <a:gd name="T3" fmla="*/ 1 h 21"/>
                <a:gd name="T4" fmla="*/ 1 w 22"/>
                <a:gd name="T5" fmla="*/ 1 h 21"/>
                <a:gd name="T6" fmla="*/ 1 w 22"/>
                <a:gd name="T7" fmla="*/ 0 h 21"/>
                <a:gd name="T8" fmla="*/ 1 w 22"/>
                <a:gd name="T9" fmla="*/ 0 h 21"/>
                <a:gd name="T10" fmla="*/ 0 w 22"/>
                <a:gd name="T11" fmla="*/ 1 h 21"/>
                <a:gd name="T12" fmla="*/ 1 w 22"/>
                <a:gd name="T13" fmla="*/ 0 h 21"/>
                <a:gd name="T14" fmla="*/ 1 w 22"/>
                <a:gd name="T15" fmla="*/ 1 h 21"/>
                <a:gd name="T16" fmla="*/ 0 w 22"/>
                <a:gd name="T17" fmla="*/ 1 h 21"/>
                <a:gd name="T18" fmla="*/ 1 w 22"/>
                <a:gd name="T19" fmla="*/ 1 h 21"/>
                <a:gd name="T20" fmla="*/ 1 w 22"/>
                <a:gd name="T21" fmla="*/ 1 h 21"/>
                <a:gd name="T22" fmla="*/ 1 w 22"/>
                <a:gd name="T23" fmla="*/ 1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22" y="7"/>
                  </a:moveTo>
                  <a:lnTo>
                    <a:pt x="11" y="21"/>
                  </a:lnTo>
                  <a:lnTo>
                    <a:pt x="14" y="21"/>
                  </a:lnTo>
                  <a:lnTo>
                    <a:pt x="14" y="0"/>
                  </a:lnTo>
                  <a:lnTo>
                    <a:pt x="11" y="0"/>
                  </a:lnTo>
                  <a:lnTo>
                    <a:pt x="0" y="14"/>
                  </a:lnTo>
                  <a:lnTo>
                    <a:pt x="11" y="0"/>
                  </a:lnTo>
                  <a:lnTo>
                    <a:pt x="3" y="3"/>
                  </a:lnTo>
                  <a:lnTo>
                    <a:pt x="0" y="10"/>
                  </a:lnTo>
                  <a:lnTo>
                    <a:pt x="3" y="18"/>
                  </a:lnTo>
                  <a:lnTo>
                    <a:pt x="11" y="21"/>
                  </a:lnTo>
                  <a:lnTo>
                    <a:pt x="22" y="7"/>
                  </a:lnTo>
                  <a:close/>
                </a:path>
              </a:pathLst>
            </a:custGeom>
            <a:solidFill>
              <a:srgbClr val="000000"/>
            </a:solidFill>
            <a:ln w="9525">
              <a:noFill/>
              <a:round/>
              <a:headEnd/>
              <a:tailEnd/>
            </a:ln>
          </p:spPr>
          <p:txBody>
            <a:bodyPr/>
            <a:lstStyle/>
            <a:p>
              <a:endParaRPr lang="en-US"/>
            </a:p>
          </p:txBody>
        </p:sp>
        <p:sp>
          <p:nvSpPr>
            <p:cNvPr id="23575" name="Freeform 220"/>
            <p:cNvSpPr>
              <a:spLocks/>
            </p:cNvSpPr>
            <p:nvPr/>
          </p:nvSpPr>
          <p:spPr bwMode="auto">
            <a:xfrm>
              <a:off x="1978" y="3630"/>
              <a:ext cx="11" cy="11"/>
            </a:xfrm>
            <a:custGeom>
              <a:avLst/>
              <a:gdLst>
                <a:gd name="T0" fmla="*/ 0 w 24"/>
                <a:gd name="T1" fmla="*/ 1 h 22"/>
                <a:gd name="T2" fmla="*/ 0 w 24"/>
                <a:gd name="T3" fmla="*/ 1 h 22"/>
                <a:gd name="T4" fmla="*/ 0 w 24"/>
                <a:gd name="T5" fmla="*/ 1 h 22"/>
                <a:gd name="T6" fmla="*/ 0 w 24"/>
                <a:gd name="T7" fmla="*/ 1 h 22"/>
                <a:gd name="T8" fmla="*/ 0 w 24"/>
                <a:gd name="T9" fmla="*/ 1 h 22"/>
                <a:gd name="T10" fmla="*/ 0 w 24"/>
                <a:gd name="T11" fmla="*/ 0 h 22"/>
                <a:gd name="T12" fmla="*/ 0 w 24"/>
                <a:gd name="T13" fmla="*/ 1 h 22"/>
                <a:gd name="T14" fmla="*/ 0 w 24"/>
                <a:gd name="T15" fmla="*/ 1 h 22"/>
                <a:gd name="T16" fmla="*/ 0 w 24"/>
                <a:gd name="T17" fmla="*/ 1 h 22"/>
                <a:gd name="T18" fmla="*/ 0 w 24"/>
                <a:gd name="T19" fmla="*/ 1 h 22"/>
                <a:gd name="T20" fmla="*/ 0 w 24"/>
                <a:gd name="T21" fmla="*/ 1 h 22"/>
                <a:gd name="T22" fmla="*/ 0 w 24"/>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2"/>
                <a:gd name="T38" fmla="*/ 24 w 24"/>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2">
                  <a:moveTo>
                    <a:pt x="16" y="22"/>
                  </a:moveTo>
                  <a:lnTo>
                    <a:pt x="24" y="8"/>
                  </a:lnTo>
                  <a:lnTo>
                    <a:pt x="22" y="1"/>
                  </a:lnTo>
                  <a:lnTo>
                    <a:pt x="0" y="8"/>
                  </a:lnTo>
                  <a:lnTo>
                    <a:pt x="2" y="14"/>
                  </a:lnTo>
                  <a:lnTo>
                    <a:pt x="9" y="0"/>
                  </a:lnTo>
                  <a:lnTo>
                    <a:pt x="2" y="14"/>
                  </a:lnTo>
                  <a:lnTo>
                    <a:pt x="6" y="20"/>
                  </a:lnTo>
                  <a:lnTo>
                    <a:pt x="16" y="22"/>
                  </a:lnTo>
                  <a:lnTo>
                    <a:pt x="22" y="17"/>
                  </a:lnTo>
                  <a:lnTo>
                    <a:pt x="24" y="8"/>
                  </a:lnTo>
                  <a:lnTo>
                    <a:pt x="16" y="22"/>
                  </a:lnTo>
                  <a:close/>
                </a:path>
              </a:pathLst>
            </a:custGeom>
            <a:solidFill>
              <a:srgbClr val="000000"/>
            </a:solidFill>
            <a:ln w="9525">
              <a:noFill/>
              <a:round/>
              <a:headEnd/>
              <a:tailEnd/>
            </a:ln>
          </p:spPr>
          <p:txBody>
            <a:bodyPr/>
            <a:lstStyle/>
            <a:p>
              <a:endParaRPr lang="en-US"/>
            </a:p>
          </p:txBody>
        </p:sp>
        <p:sp>
          <p:nvSpPr>
            <p:cNvPr id="23576" name="Freeform 221"/>
            <p:cNvSpPr>
              <a:spLocks/>
            </p:cNvSpPr>
            <p:nvPr/>
          </p:nvSpPr>
          <p:spPr bwMode="auto">
            <a:xfrm>
              <a:off x="1976" y="3630"/>
              <a:ext cx="9" cy="12"/>
            </a:xfrm>
            <a:custGeom>
              <a:avLst/>
              <a:gdLst>
                <a:gd name="T0" fmla="*/ 0 w 19"/>
                <a:gd name="T1" fmla="*/ 1 h 23"/>
                <a:gd name="T2" fmla="*/ 0 w 19"/>
                <a:gd name="T3" fmla="*/ 1 h 23"/>
                <a:gd name="T4" fmla="*/ 0 w 19"/>
                <a:gd name="T5" fmla="*/ 1 h 23"/>
                <a:gd name="T6" fmla="*/ 0 w 19"/>
                <a:gd name="T7" fmla="*/ 0 h 23"/>
                <a:gd name="T8" fmla="*/ 0 w 19"/>
                <a:gd name="T9" fmla="*/ 1 h 23"/>
                <a:gd name="T10" fmla="*/ 0 w 19"/>
                <a:gd name="T11" fmla="*/ 1 h 23"/>
                <a:gd name="T12" fmla="*/ 0 w 19"/>
                <a:gd name="T13" fmla="*/ 1 h 23"/>
                <a:gd name="T14" fmla="*/ 0 w 19"/>
                <a:gd name="T15" fmla="*/ 1 h 23"/>
                <a:gd name="T16" fmla="*/ 0 w 19"/>
                <a:gd name="T17" fmla="*/ 1 h 23"/>
                <a:gd name="T18" fmla="*/ 0 w 19"/>
                <a:gd name="T19" fmla="*/ 1 h 23"/>
                <a:gd name="T20" fmla="*/ 0 w 19"/>
                <a:gd name="T21" fmla="*/ 1 h 23"/>
                <a:gd name="T22" fmla="*/ 0 w 19"/>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3"/>
                <a:gd name="T38" fmla="*/ 19 w 19"/>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3">
                  <a:moveTo>
                    <a:pt x="8" y="23"/>
                  </a:moveTo>
                  <a:lnTo>
                    <a:pt x="14" y="23"/>
                  </a:lnTo>
                  <a:lnTo>
                    <a:pt x="19" y="22"/>
                  </a:lnTo>
                  <a:lnTo>
                    <a:pt x="12" y="0"/>
                  </a:lnTo>
                  <a:lnTo>
                    <a:pt x="8" y="1"/>
                  </a:lnTo>
                  <a:lnTo>
                    <a:pt x="14" y="1"/>
                  </a:lnTo>
                  <a:lnTo>
                    <a:pt x="8" y="1"/>
                  </a:lnTo>
                  <a:lnTo>
                    <a:pt x="2" y="6"/>
                  </a:lnTo>
                  <a:lnTo>
                    <a:pt x="0" y="14"/>
                  </a:lnTo>
                  <a:lnTo>
                    <a:pt x="5" y="22"/>
                  </a:lnTo>
                  <a:lnTo>
                    <a:pt x="14" y="23"/>
                  </a:lnTo>
                  <a:lnTo>
                    <a:pt x="8" y="23"/>
                  </a:lnTo>
                  <a:close/>
                </a:path>
              </a:pathLst>
            </a:custGeom>
            <a:solidFill>
              <a:srgbClr val="000000"/>
            </a:solidFill>
            <a:ln w="9525">
              <a:noFill/>
              <a:round/>
              <a:headEnd/>
              <a:tailEnd/>
            </a:ln>
          </p:spPr>
          <p:txBody>
            <a:bodyPr/>
            <a:lstStyle/>
            <a:p>
              <a:endParaRPr lang="en-US"/>
            </a:p>
          </p:txBody>
        </p:sp>
        <p:sp>
          <p:nvSpPr>
            <p:cNvPr id="23577" name="Freeform 222"/>
            <p:cNvSpPr>
              <a:spLocks/>
            </p:cNvSpPr>
            <p:nvPr/>
          </p:nvSpPr>
          <p:spPr bwMode="auto">
            <a:xfrm>
              <a:off x="1970" y="3630"/>
              <a:ext cx="13" cy="12"/>
            </a:xfrm>
            <a:custGeom>
              <a:avLst/>
              <a:gdLst>
                <a:gd name="T0" fmla="*/ 0 w 27"/>
                <a:gd name="T1" fmla="*/ 0 h 25"/>
                <a:gd name="T2" fmla="*/ 0 w 27"/>
                <a:gd name="T3" fmla="*/ 0 h 25"/>
                <a:gd name="T4" fmla="*/ 0 w 27"/>
                <a:gd name="T5" fmla="*/ 0 h 25"/>
                <a:gd name="T6" fmla="*/ 0 w 27"/>
                <a:gd name="T7" fmla="*/ 0 h 25"/>
                <a:gd name="T8" fmla="*/ 0 w 27"/>
                <a:gd name="T9" fmla="*/ 0 h 25"/>
                <a:gd name="T10" fmla="*/ 0 w 27"/>
                <a:gd name="T11" fmla="*/ 0 h 25"/>
                <a:gd name="T12" fmla="*/ 0 w 27"/>
                <a:gd name="T13" fmla="*/ 0 h 25"/>
                <a:gd name="T14" fmla="*/ 0 w 27"/>
                <a:gd name="T15" fmla="*/ 0 h 25"/>
                <a:gd name="T16" fmla="*/ 0 w 27"/>
                <a:gd name="T17" fmla="*/ 0 h 25"/>
                <a:gd name="T18" fmla="*/ 0 w 27"/>
                <a:gd name="T19" fmla="*/ 0 h 25"/>
                <a:gd name="T20" fmla="*/ 0 w 27"/>
                <a:gd name="T21" fmla="*/ 0 h 25"/>
                <a:gd name="T22" fmla="*/ 0 w 27"/>
                <a:gd name="T23" fmla="*/ 0 h 25"/>
                <a:gd name="T24" fmla="*/ 0 w 27"/>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25"/>
                <a:gd name="T41" fmla="*/ 27 w 27"/>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25">
                  <a:moveTo>
                    <a:pt x="0" y="6"/>
                  </a:moveTo>
                  <a:lnTo>
                    <a:pt x="0" y="5"/>
                  </a:lnTo>
                  <a:lnTo>
                    <a:pt x="7" y="14"/>
                  </a:lnTo>
                  <a:lnTo>
                    <a:pt x="11" y="19"/>
                  </a:lnTo>
                  <a:lnTo>
                    <a:pt x="18" y="24"/>
                  </a:lnTo>
                  <a:lnTo>
                    <a:pt x="21" y="25"/>
                  </a:lnTo>
                  <a:lnTo>
                    <a:pt x="27" y="3"/>
                  </a:lnTo>
                  <a:lnTo>
                    <a:pt x="27" y="5"/>
                  </a:lnTo>
                  <a:lnTo>
                    <a:pt x="24" y="3"/>
                  </a:lnTo>
                  <a:lnTo>
                    <a:pt x="22" y="2"/>
                  </a:lnTo>
                  <a:lnTo>
                    <a:pt x="22" y="0"/>
                  </a:lnTo>
                  <a:lnTo>
                    <a:pt x="0" y="6"/>
                  </a:lnTo>
                  <a:close/>
                </a:path>
              </a:pathLst>
            </a:custGeom>
            <a:solidFill>
              <a:srgbClr val="000000"/>
            </a:solidFill>
            <a:ln w="9525">
              <a:noFill/>
              <a:round/>
              <a:headEnd/>
              <a:tailEnd/>
            </a:ln>
          </p:spPr>
          <p:txBody>
            <a:bodyPr/>
            <a:lstStyle/>
            <a:p>
              <a:endParaRPr lang="en-US"/>
            </a:p>
          </p:txBody>
        </p:sp>
        <p:sp>
          <p:nvSpPr>
            <p:cNvPr id="23578" name="Freeform 223"/>
            <p:cNvSpPr>
              <a:spLocks/>
            </p:cNvSpPr>
            <p:nvPr/>
          </p:nvSpPr>
          <p:spPr bwMode="auto">
            <a:xfrm>
              <a:off x="1968" y="3620"/>
              <a:ext cx="13" cy="13"/>
            </a:xfrm>
            <a:custGeom>
              <a:avLst/>
              <a:gdLst>
                <a:gd name="T0" fmla="*/ 1 w 25"/>
                <a:gd name="T1" fmla="*/ 0 h 25"/>
                <a:gd name="T2" fmla="*/ 1 w 25"/>
                <a:gd name="T3" fmla="*/ 1 h 25"/>
                <a:gd name="T4" fmla="*/ 1 w 25"/>
                <a:gd name="T5" fmla="*/ 1 h 25"/>
                <a:gd name="T6" fmla="*/ 0 w 25"/>
                <a:gd name="T7" fmla="*/ 1 h 25"/>
                <a:gd name="T8" fmla="*/ 1 w 25"/>
                <a:gd name="T9" fmla="*/ 1 h 25"/>
                <a:gd name="T10" fmla="*/ 1 w 25"/>
                <a:gd name="T11" fmla="*/ 1 h 25"/>
                <a:gd name="T12" fmla="*/ 1 w 25"/>
                <a:gd name="T13" fmla="*/ 1 h 25"/>
                <a:gd name="T14" fmla="*/ 1 w 25"/>
                <a:gd name="T15" fmla="*/ 1 h 25"/>
                <a:gd name="T16" fmla="*/ 1 w 25"/>
                <a:gd name="T17" fmla="*/ 1 h 25"/>
                <a:gd name="T18" fmla="*/ 1 w 25"/>
                <a:gd name="T19" fmla="*/ 1 h 25"/>
                <a:gd name="T20" fmla="*/ 1 w 25"/>
                <a:gd name="T21" fmla="*/ 1 h 25"/>
                <a:gd name="T22" fmla="*/ 1 w 25"/>
                <a:gd name="T23" fmla="*/ 1 h 25"/>
                <a:gd name="T24" fmla="*/ 1 w 25"/>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5"/>
                <a:gd name="T41" fmla="*/ 25 w 25"/>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5">
                  <a:moveTo>
                    <a:pt x="10" y="0"/>
                  </a:moveTo>
                  <a:lnTo>
                    <a:pt x="8" y="2"/>
                  </a:lnTo>
                  <a:lnTo>
                    <a:pt x="2" y="8"/>
                  </a:lnTo>
                  <a:lnTo>
                    <a:pt x="0" y="18"/>
                  </a:lnTo>
                  <a:lnTo>
                    <a:pt x="2" y="22"/>
                  </a:lnTo>
                  <a:lnTo>
                    <a:pt x="3" y="25"/>
                  </a:lnTo>
                  <a:lnTo>
                    <a:pt x="25" y="19"/>
                  </a:lnTo>
                  <a:lnTo>
                    <a:pt x="24" y="13"/>
                  </a:lnTo>
                  <a:lnTo>
                    <a:pt x="22" y="11"/>
                  </a:lnTo>
                  <a:lnTo>
                    <a:pt x="21" y="18"/>
                  </a:lnTo>
                  <a:lnTo>
                    <a:pt x="18" y="21"/>
                  </a:lnTo>
                  <a:lnTo>
                    <a:pt x="16" y="22"/>
                  </a:lnTo>
                  <a:lnTo>
                    <a:pt x="10" y="0"/>
                  </a:lnTo>
                  <a:close/>
                </a:path>
              </a:pathLst>
            </a:custGeom>
            <a:solidFill>
              <a:srgbClr val="000000"/>
            </a:solidFill>
            <a:ln w="9525">
              <a:noFill/>
              <a:round/>
              <a:headEnd/>
              <a:tailEnd/>
            </a:ln>
          </p:spPr>
          <p:txBody>
            <a:bodyPr/>
            <a:lstStyle/>
            <a:p>
              <a:endParaRPr lang="en-US"/>
            </a:p>
          </p:txBody>
        </p:sp>
        <p:sp>
          <p:nvSpPr>
            <p:cNvPr id="23579" name="Freeform 224"/>
            <p:cNvSpPr>
              <a:spLocks/>
            </p:cNvSpPr>
            <p:nvPr/>
          </p:nvSpPr>
          <p:spPr bwMode="auto">
            <a:xfrm>
              <a:off x="1970" y="3616"/>
              <a:ext cx="11" cy="15"/>
            </a:xfrm>
            <a:custGeom>
              <a:avLst/>
              <a:gdLst>
                <a:gd name="T0" fmla="*/ 1 w 22"/>
                <a:gd name="T1" fmla="*/ 0 h 31"/>
                <a:gd name="T2" fmla="*/ 1 w 22"/>
                <a:gd name="T3" fmla="*/ 0 h 31"/>
                <a:gd name="T4" fmla="*/ 1 w 22"/>
                <a:gd name="T5" fmla="*/ 0 h 31"/>
                <a:gd name="T6" fmla="*/ 0 w 22"/>
                <a:gd name="T7" fmla="*/ 0 h 31"/>
                <a:gd name="T8" fmla="*/ 1 w 22"/>
                <a:gd name="T9" fmla="*/ 0 h 31"/>
                <a:gd name="T10" fmla="*/ 1 w 22"/>
                <a:gd name="T11" fmla="*/ 0 h 31"/>
                <a:gd name="T12" fmla="*/ 1 w 22"/>
                <a:gd name="T13" fmla="*/ 0 h 31"/>
                <a:gd name="T14" fmla="*/ 1 w 22"/>
                <a:gd name="T15" fmla="*/ 0 h 31"/>
                <a:gd name="T16" fmla="*/ 1 w 22"/>
                <a:gd name="T17" fmla="*/ 0 h 31"/>
                <a:gd name="T18" fmla="*/ 1 w 22"/>
                <a:gd name="T19" fmla="*/ 0 h 31"/>
                <a:gd name="T20" fmla="*/ 1 w 22"/>
                <a:gd name="T21" fmla="*/ 0 h 31"/>
                <a:gd name="T22" fmla="*/ 1 w 22"/>
                <a:gd name="T23" fmla="*/ 0 h 31"/>
                <a:gd name="T24" fmla="*/ 1 w 22"/>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1"/>
                <a:gd name="T41" fmla="*/ 22 w 22"/>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1">
                  <a:moveTo>
                    <a:pt x="9" y="0"/>
                  </a:moveTo>
                  <a:lnTo>
                    <a:pt x="9" y="0"/>
                  </a:lnTo>
                  <a:lnTo>
                    <a:pt x="3" y="5"/>
                  </a:lnTo>
                  <a:lnTo>
                    <a:pt x="0" y="13"/>
                  </a:lnTo>
                  <a:lnTo>
                    <a:pt x="2" y="14"/>
                  </a:lnTo>
                  <a:lnTo>
                    <a:pt x="5" y="9"/>
                  </a:lnTo>
                  <a:lnTo>
                    <a:pt x="11" y="31"/>
                  </a:lnTo>
                  <a:lnTo>
                    <a:pt x="20" y="24"/>
                  </a:lnTo>
                  <a:lnTo>
                    <a:pt x="22" y="16"/>
                  </a:lnTo>
                  <a:lnTo>
                    <a:pt x="22" y="17"/>
                  </a:lnTo>
                  <a:lnTo>
                    <a:pt x="19" y="19"/>
                  </a:lnTo>
                  <a:lnTo>
                    <a:pt x="9" y="0"/>
                  </a:lnTo>
                  <a:close/>
                </a:path>
              </a:pathLst>
            </a:custGeom>
            <a:solidFill>
              <a:srgbClr val="000000"/>
            </a:solidFill>
            <a:ln w="9525">
              <a:noFill/>
              <a:round/>
              <a:headEnd/>
              <a:tailEnd/>
            </a:ln>
          </p:spPr>
          <p:txBody>
            <a:bodyPr/>
            <a:lstStyle/>
            <a:p>
              <a:endParaRPr lang="en-US"/>
            </a:p>
          </p:txBody>
        </p:sp>
        <p:sp>
          <p:nvSpPr>
            <p:cNvPr id="23580" name="Freeform 225"/>
            <p:cNvSpPr>
              <a:spLocks/>
            </p:cNvSpPr>
            <p:nvPr/>
          </p:nvSpPr>
          <p:spPr bwMode="auto">
            <a:xfrm>
              <a:off x="1975" y="3608"/>
              <a:ext cx="11" cy="17"/>
            </a:xfrm>
            <a:custGeom>
              <a:avLst/>
              <a:gdLst>
                <a:gd name="T0" fmla="*/ 1 w 22"/>
                <a:gd name="T1" fmla="*/ 0 h 33"/>
                <a:gd name="T2" fmla="*/ 1 w 22"/>
                <a:gd name="T3" fmla="*/ 0 h 33"/>
                <a:gd name="T4" fmla="*/ 1 w 22"/>
                <a:gd name="T5" fmla="*/ 1 h 33"/>
                <a:gd name="T6" fmla="*/ 1 w 22"/>
                <a:gd name="T7" fmla="*/ 1 h 33"/>
                <a:gd name="T8" fmla="*/ 0 w 22"/>
                <a:gd name="T9" fmla="*/ 1 h 33"/>
                <a:gd name="T10" fmla="*/ 0 w 22"/>
                <a:gd name="T11" fmla="*/ 1 h 33"/>
                <a:gd name="T12" fmla="*/ 1 w 22"/>
                <a:gd name="T13" fmla="*/ 1 h 33"/>
                <a:gd name="T14" fmla="*/ 1 w 22"/>
                <a:gd name="T15" fmla="*/ 1 h 33"/>
                <a:gd name="T16" fmla="*/ 1 w 22"/>
                <a:gd name="T17" fmla="*/ 1 h 33"/>
                <a:gd name="T18" fmla="*/ 1 w 22"/>
                <a:gd name="T19" fmla="*/ 1 h 33"/>
                <a:gd name="T20" fmla="*/ 1 w 22"/>
                <a:gd name="T21" fmla="*/ 1 h 33"/>
                <a:gd name="T22" fmla="*/ 1 w 22"/>
                <a:gd name="T23" fmla="*/ 1 h 33"/>
                <a:gd name="T24" fmla="*/ 1 w 22"/>
                <a:gd name="T25" fmla="*/ 0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3"/>
                <a:gd name="T41" fmla="*/ 22 w 22"/>
                <a:gd name="T42" fmla="*/ 33 h 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3">
                  <a:moveTo>
                    <a:pt x="19" y="0"/>
                  </a:moveTo>
                  <a:lnTo>
                    <a:pt x="16" y="0"/>
                  </a:lnTo>
                  <a:lnTo>
                    <a:pt x="10" y="6"/>
                  </a:lnTo>
                  <a:lnTo>
                    <a:pt x="5" y="9"/>
                  </a:lnTo>
                  <a:lnTo>
                    <a:pt x="0" y="12"/>
                  </a:lnTo>
                  <a:lnTo>
                    <a:pt x="0" y="14"/>
                  </a:lnTo>
                  <a:lnTo>
                    <a:pt x="10" y="33"/>
                  </a:lnTo>
                  <a:lnTo>
                    <a:pt x="16" y="28"/>
                  </a:lnTo>
                  <a:lnTo>
                    <a:pt x="18" y="25"/>
                  </a:lnTo>
                  <a:lnTo>
                    <a:pt x="22" y="22"/>
                  </a:lnTo>
                  <a:lnTo>
                    <a:pt x="19" y="22"/>
                  </a:lnTo>
                  <a:lnTo>
                    <a:pt x="19" y="0"/>
                  </a:lnTo>
                  <a:close/>
                </a:path>
              </a:pathLst>
            </a:custGeom>
            <a:solidFill>
              <a:srgbClr val="000000"/>
            </a:solidFill>
            <a:ln w="9525">
              <a:noFill/>
              <a:round/>
              <a:headEnd/>
              <a:tailEnd/>
            </a:ln>
          </p:spPr>
          <p:txBody>
            <a:bodyPr/>
            <a:lstStyle/>
            <a:p>
              <a:endParaRPr lang="en-US"/>
            </a:p>
          </p:txBody>
        </p:sp>
        <p:sp>
          <p:nvSpPr>
            <p:cNvPr id="23581" name="Freeform 226"/>
            <p:cNvSpPr>
              <a:spLocks/>
            </p:cNvSpPr>
            <p:nvPr/>
          </p:nvSpPr>
          <p:spPr bwMode="auto">
            <a:xfrm>
              <a:off x="1982" y="3602"/>
              <a:ext cx="11" cy="17"/>
            </a:xfrm>
            <a:custGeom>
              <a:avLst/>
              <a:gdLst>
                <a:gd name="T0" fmla="*/ 1 w 22"/>
                <a:gd name="T1" fmla="*/ 0 h 35"/>
                <a:gd name="T2" fmla="*/ 1 w 22"/>
                <a:gd name="T3" fmla="*/ 0 h 35"/>
                <a:gd name="T4" fmla="*/ 1 w 22"/>
                <a:gd name="T5" fmla="*/ 0 h 35"/>
                <a:gd name="T6" fmla="*/ 1 w 22"/>
                <a:gd name="T7" fmla="*/ 0 h 35"/>
                <a:gd name="T8" fmla="*/ 0 w 22"/>
                <a:gd name="T9" fmla="*/ 0 h 35"/>
                <a:gd name="T10" fmla="*/ 1 w 22"/>
                <a:gd name="T11" fmla="*/ 0 h 35"/>
                <a:gd name="T12" fmla="*/ 1 w 22"/>
                <a:gd name="T13" fmla="*/ 0 h 35"/>
                <a:gd name="T14" fmla="*/ 1 w 22"/>
                <a:gd name="T15" fmla="*/ 0 h 35"/>
                <a:gd name="T16" fmla="*/ 1 w 22"/>
                <a:gd name="T17" fmla="*/ 0 h 35"/>
                <a:gd name="T18" fmla="*/ 1 w 22"/>
                <a:gd name="T19" fmla="*/ 0 h 35"/>
                <a:gd name="T20" fmla="*/ 1 w 22"/>
                <a:gd name="T21" fmla="*/ 0 h 35"/>
                <a:gd name="T22" fmla="*/ 1 w 22"/>
                <a:gd name="T23" fmla="*/ 0 h 35"/>
                <a:gd name="T24" fmla="*/ 1 w 22"/>
                <a:gd name="T25" fmla="*/ 0 h 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5"/>
                <a:gd name="T41" fmla="*/ 22 w 22"/>
                <a:gd name="T42" fmla="*/ 35 h 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5">
                  <a:moveTo>
                    <a:pt x="13" y="0"/>
                  </a:moveTo>
                  <a:lnTo>
                    <a:pt x="13" y="0"/>
                  </a:lnTo>
                  <a:lnTo>
                    <a:pt x="4" y="8"/>
                  </a:lnTo>
                  <a:lnTo>
                    <a:pt x="2" y="11"/>
                  </a:lnTo>
                  <a:lnTo>
                    <a:pt x="0" y="15"/>
                  </a:lnTo>
                  <a:lnTo>
                    <a:pt x="5" y="13"/>
                  </a:lnTo>
                  <a:lnTo>
                    <a:pt x="5" y="35"/>
                  </a:lnTo>
                  <a:lnTo>
                    <a:pt x="16" y="30"/>
                  </a:lnTo>
                  <a:lnTo>
                    <a:pt x="21" y="24"/>
                  </a:lnTo>
                  <a:lnTo>
                    <a:pt x="22" y="21"/>
                  </a:lnTo>
                  <a:lnTo>
                    <a:pt x="19" y="22"/>
                  </a:lnTo>
                  <a:lnTo>
                    <a:pt x="13" y="0"/>
                  </a:lnTo>
                  <a:close/>
                </a:path>
              </a:pathLst>
            </a:custGeom>
            <a:solidFill>
              <a:srgbClr val="000000"/>
            </a:solidFill>
            <a:ln w="9525">
              <a:noFill/>
              <a:round/>
              <a:headEnd/>
              <a:tailEnd/>
            </a:ln>
          </p:spPr>
          <p:txBody>
            <a:bodyPr/>
            <a:lstStyle/>
            <a:p>
              <a:endParaRPr lang="en-US"/>
            </a:p>
          </p:txBody>
        </p:sp>
        <p:sp>
          <p:nvSpPr>
            <p:cNvPr id="23582" name="Freeform 227"/>
            <p:cNvSpPr>
              <a:spLocks/>
            </p:cNvSpPr>
            <p:nvPr/>
          </p:nvSpPr>
          <p:spPr bwMode="auto">
            <a:xfrm>
              <a:off x="1989" y="3602"/>
              <a:ext cx="21" cy="17"/>
            </a:xfrm>
            <a:custGeom>
              <a:avLst/>
              <a:gdLst>
                <a:gd name="T0" fmla="*/ 0 w 44"/>
                <a:gd name="T1" fmla="*/ 1 h 33"/>
                <a:gd name="T2" fmla="*/ 0 w 44"/>
                <a:gd name="T3" fmla="*/ 1 h 33"/>
                <a:gd name="T4" fmla="*/ 0 w 44"/>
                <a:gd name="T5" fmla="*/ 1 h 33"/>
                <a:gd name="T6" fmla="*/ 0 w 44"/>
                <a:gd name="T7" fmla="*/ 1 h 33"/>
                <a:gd name="T8" fmla="*/ 0 w 44"/>
                <a:gd name="T9" fmla="*/ 1 h 33"/>
                <a:gd name="T10" fmla="*/ 0 w 44"/>
                <a:gd name="T11" fmla="*/ 0 h 33"/>
                <a:gd name="T12" fmla="*/ 0 w 44"/>
                <a:gd name="T13" fmla="*/ 1 h 33"/>
                <a:gd name="T14" fmla="*/ 0 w 44"/>
                <a:gd name="T15" fmla="*/ 1 h 33"/>
                <a:gd name="T16" fmla="*/ 0 w 44"/>
                <a:gd name="T17" fmla="*/ 1 h 33"/>
                <a:gd name="T18" fmla="*/ 0 w 44"/>
                <a:gd name="T19" fmla="*/ 1 h 33"/>
                <a:gd name="T20" fmla="*/ 0 w 44"/>
                <a:gd name="T21" fmla="*/ 1 h 33"/>
                <a:gd name="T22" fmla="*/ 0 w 44"/>
                <a:gd name="T23" fmla="*/ 1 h 33"/>
                <a:gd name="T24" fmla="*/ 0 w 44"/>
                <a:gd name="T25" fmla="*/ 1 h 33"/>
                <a:gd name="T26" fmla="*/ 0 w 44"/>
                <a:gd name="T27" fmla="*/ 1 h 33"/>
                <a:gd name="T28" fmla="*/ 0 w 44"/>
                <a:gd name="T29" fmla="*/ 1 h 33"/>
                <a:gd name="T30" fmla="*/ 0 w 44"/>
                <a:gd name="T31" fmla="*/ 1 h 33"/>
                <a:gd name="T32" fmla="*/ 0 w 44"/>
                <a:gd name="T33" fmla="*/ 1 h 33"/>
                <a:gd name="T34" fmla="*/ 0 w 44"/>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4"/>
                <a:gd name="T55" fmla="*/ 0 h 33"/>
                <a:gd name="T56" fmla="*/ 44 w 44"/>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4" h="33">
                  <a:moveTo>
                    <a:pt x="25" y="32"/>
                  </a:moveTo>
                  <a:lnTo>
                    <a:pt x="38" y="15"/>
                  </a:lnTo>
                  <a:lnTo>
                    <a:pt x="33" y="13"/>
                  </a:lnTo>
                  <a:lnTo>
                    <a:pt x="25" y="8"/>
                  </a:lnTo>
                  <a:lnTo>
                    <a:pt x="13" y="2"/>
                  </a:lnTo>
                  <a:lnTo>
                    <a:pt x="0" y="0"/>
                  </a:lnTo>
                  <a:lnTo>
                    <a:pt x="6" y="22"/>
                  </a:lnTo>
                  <a:lnTo>
                    <a:pt x="6" y="24"/>
                  </a:lnTo>
                  <a:lnTo>
                    <a:pt x="16" y="27"/>
                  </a:lnTo>
                  <a:lnTo>
                    <a:pt x="23" y="32"/>
                  </a:lnTo>
                  <a:lnTo>
                    <a:pt x="28" y="33"/>
                  </a:lnTo>
                  <a:lnTo>
                    <a:pt x="41" y="16"/>
                  </a:lnTo>
                  <a:lnTo>
                    <a:pt x="28" y="33"/>
                  </a:lnTo>
                  <a:lnTo>
                    <a:pt x="36" y="33"/>
                  </a:lnTo>
                  <a:lnTo>
                    <a:pt x="42" y="29"/>
                  </a:lnTo>
                  <a:lnTo>
                    <a:pt x="44" y="21"/>
                  </a:lnTo>
                  <a:lnTo>
                    <a:pt x="38" y="15"/>
                  </a:lnTo>
                  <a:lnTo>
                    <a:pt x="25" y="32"/>
                  </a:lnTo>
                  <a:close/>
                </a:path>
              </a:pathLst>
            </a:custGeom>
            <a:solidFill>
              <a:srgbClr val="000000"/>
            </a:solidFill>
            <a:ln w="9525">
              <a:noFill/>
              <a:round/>
              <a:headEnd/>
              <a:tailEnd/>
            </a:ln>
          </p:spPr>
          <p:txBody>
            <a:bodyPr/>
            <a:lstStyle/>
            <a:p>
              <a:endParaRPr lang="en-US"/>
            </a:p>
          </p:txBody>
        </p:sp>
        <p:sp>
          <p:nvSpPr>
            <p:cNvPr id="23583" name="Freeform 228"/>
            <p:cNvSpPr>
              <a:spLocks/>
            </p:cNvSpPr>
            <p:nvPr/>
          </p:nvSpPr>
          <p:spPr bwMode="auto">
            <a:xfrm>
              <a:off x="1998" y="3607"/>
              <a:ext cx="11" cy="11"/>
            </a:xfrm>
            <a:custGeom>
              <a:avLst/>
              <a:gdLst>
                <a:gd name="T0" fmla="*/ 0 w 22"/>
                <a:gd name="T1" fmla="*/ 1 h 22"/>
                <a:gd name="T2" fmla="*/ 1 w 22"/>
                <a:gd name="T3" fmla="*/ 1 h 22"/>
                <a:gd name="T4" fmla="*/ 1 w 22"/>
                <a:gd name="T5" fmla="*/ 1 h 22"/>
                <a:gd name="T6" fmla="*/ 1 w 22"/>
                <a:gd name="T7" fmla="*/ 1 h 22"/>
                <a:gd name="T8" fmla="*/ 1 w 22"/>
                <a:gd name="T9" fmla="*/ 1 h 22"/>
                <a:gd name="T10" fmla="*/ 1 w 22"/>
                <a:gd name="T11" fmla="*/ 1 h 22"/>
                <a:gd name="T12" fmla="*/ 1 w 22"/>
                <a:gd name="T13" fmla="*/ 1 h 22"/>
                <a:gd name="T14" fmla="*/ 1 w 22"/>
                <a:gd name="T15" fmla="*/ 0 h 22"/>
                <a:gd name="T16" fmla="*/ 1 w 22"/>
                <a:gd name="T17" fmla="*/ 1 h 22"/>
                <a:gd name="T18" fmla="*/ 0 w 22"/>
                <a:gd name="T19" fmla="*/ 1 h 22"/>
                <a:gd name="T20" fmla="*/ 1 w 22"/>
                <a:gd name="T21" fmla="*/ 1 h 22"/>
                <a:gd name="T22" fmla="*/ 0 w 22"/>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2"/>
                <a:gd name="T38" fmla="*/ 22 w 22"/>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2">
                  <a:moveTo>
                    <a:pt x="0" y="9"/>
                  </a:moveTo>
                  <a:lnTo>
                    <a:pt x="3" y="19"/>
                  </a:lnTo>
                  <a:lnTo>
                    <a:pt x="6" y="22"/>
                  </a:lnTo>
                  <a:lnTo>
                    <a:pt x="22" y="6"/>
                  </a:lnTo>
                  <a:lnTo>
                    <a:pt x="19" y="3"/>
                  </a:lnTo>
                  <a:lnTo>
                    <a:pt x="22" y="12"/>
                  </a:lnTo>
                  <a:lnTo>
                    <a:pt x="19" y="3"/>
                  </a:lnTo>
                  <a:lnTo>
                    <a:pt x="11" y="0"/>
                  </a:lnTo>
                  <a:lnTo>
                    <a:pt x="4" y="3"/>
                  </a:lnTo>
                  <a:lnTo>
                    <a:pt x="0" y="11"/>
                  </a:lnTo>
                  <a:lnTo>
                    <a:pt x="3" y="19"/>
                  </a:lnTo>
                  <a:lnTo>
                    <a:pt x="0" y="9"/>
                  </a:lnTo>
                  <a:close/>
                </a:path>
              </a:pathLst>
            </a:custGeom>
            <a:solidFill>
              <a:srgbClr val="000000"/>
            </a:solidFill>
            <a:ln w="9525">
              <a:noFill/>
              <a:round/>
              <a:headEnd/>
              <a:tailEnd/>
            </a:ln>
          </p:spPr>
          <p:txBody>
            <a:bodyPr/>
            <a:lstStyle/>
            <a:p>
              <a:endParaRPr lang="en-US"/>
            </a:p>
          </p:txBody>
        </p:sp>
        <p:sp>
          <p:nvSpPr>
            <p:cNvPr id="23584" name="Freeform 229"/>
            <p:cNvSpPr>
              <a:spLocks/>
            </p:cNvSpPr>
            <p:nvPr/>
          </p:nvSpPr>
          <p:spPr bwMode="auto">
            <a:xfrm>
              <a:off x="1998" y="3601"/>
              <a:ext cx="12" cy="12"/>
            </a:xfrm>
            <a:custGeom>
              <a:avLst/>
              <a:gdLst>
                <a:gd name="T0" fmla="*/ 1 w 23"/>
                <a:gd name="T1" fmla="*/ 1 h 23"/>
                <a:gd name="T2" fmla="*/ 1 w 23"/>
                <a:gd name="T3" fmla="*/ 1 h 23"/>
                <a:gd name="T4" fmla="*/ 0 w 23"/>
                <a:gd name="T5" fmla="*/ 1 h 23"/>
                <a:gd name="T6" fmla="*/ 1 w 23"/>
                <a:gd name="T7" fmla="*/ 1 h 23"/>
                <a:gd name="T8" fmla="*/ 1 w 23"/>
                <a:gd name="T9" fmla="*/ 1 h 23"/>
                <a:gd name="T10" fmla="*/ 1 w 23"/>
                <a:gd name="T11" fmla="*/ 1 h 23"/>
                <a:gd name="T12" fmla="*/ 1 w 23"/>
                <a:gd name="T13" fmla="*/ 1 h 23"/>
                <a:gd name="T14" fmla="*/ 1 w 23"/>
                <a:gd name="T15" fmla="*/ 1 h 23"/>
                <a:gd name="T16" fmla="*/ 1 w 23"/>
                <a:gd name="T17" fmla="*/ 0 h 23"/>
                <a:gd name="T18" fmla="*/ 1 w 23"/>
                <a:gd name="T19" fmla="*/ 1 h 23"/>
                <a:gd name="T20" fmla="*/ 1 w 23"/>
                <a:gd name="T21" fmla="*/ 1 h 23"/>
                <a:gd name="T22" fmla="*/ 1 w 23"/>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
                <a:gd name="T37" fmla="*/ 0 h 23"/>
                <a:gd name="T38" fmla="*/ 23 w 23"/>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 h="23">
                  <a:moveTo>
                    <a:pt x="3" y="6"/>
                  </a:moveTo>
                  <a:lnTo>
                    <a:pt x="1" y="9"/>
                  </a:lnTo>
                  <a:lnTo>
                    <a:pt x="0" y="20"/>
                  </a:lnTo>
                  <a:lnTo>
                    <a:pt x="22" y="23"/>
                  </a:lnTo>
                  <a:lnTo>
                    <a:pt x="23" y="12"/>
                  </a:lnTo>
                  <a:lnTo>
                    <a:pt x="22" y="16"/>
                  </a:lnTo>
                  <a:lnTo>
                    <a:pt x="23" y="12"/>
                  </a:lnTo>
                  <a:lnTo>
                    <a:pt x="20" y="5"/>
                  </a:lnTo>
                  <a:lnTo>
                    <a:pt x="14" y="0"/>
                  </a:lnTo>
                  <a:lnTo>
                    <a:pt x="6" y="1"/>
                  </a:lnTo>
                  <a:lnTo>
                    <a:pt x="1" y="9"/>
                  </a:lnTo>
                  <a:lnTo>
                    <a:pt x="3" y="6"/>
                  </a:lnTo>
                  <a:close/>
                </a:path>
              </a:pathLst>
            </a:custGeom>
            <a:solidFill>
              <a:srgbClr val="000000"/>
            </a:solidFill>
            <a:ln w="9525">
              <a:noFill/>
              <a:round/>
              <a:headEnd/>
              <a:tailEnd/>
            </a:ln>
          </p:spPr>
          <p:txBody>
            <a:bodyPr/>
            <a:lstStyle/>
            <a:p>
              <a:endParaRPr lang="en-US"/>
            </a:p>
          </p:txBody>
        </p:sp>
        <p:sp>
          <p:nvSpPr>
            <p:cNvPr id="23585" name="Freeform 230"/>
            <p:cNvSpPr>
              <a:spLocks/>
            </p:cNvSpPr>
            <p:nvPr/>
          </p:nvSpPr>
          <p:spPr bwMode="auto">
            <a:xfrm>
              <a:off x="1999" y="3599"/>
              <a:ext cx="12" cy="10"/>
            </a:xfrm>
            <a:custGeom>
              <a:avLst/>
              <a:gdLst>
                <a:gd name="T0" fmla="*/ 1 w 23"/>
                <a:gd name="T1" fmla="*/ 0 h 21"/>
                <a:gd name="T2" fmla="*/ 1 w 23"/>
                <a:gd name="T3" fmla="*/ 0 h 21"/>
                <a:gd name="T4" fmla="*/ 1 w 23"/>
                <a:gd name="T5" fmla="*/ 0 h 21"/>
                <a:gd name="T6" fmla="*/ 1 w 23"/>
                <a:gd name="T7" fmla="*/ 0 h 21"/>
                <a:gd name="T8" fmla="*/ 0 w 23"/>
                <a:gd name="T9" fmla="*/ 0 h 21"/>
                <a:gd name="T10" fmla="*/ 0 w 23"/>
                <a:gd name="T11" fmla="*/ 0 h 21"/>
                <a:gd name="T12" fmla="*/ 1 w 23"/>
                <a:gd name="T13" fmla="*/ 0 h 21"/>
                <a:gd name="T14" fmla="*/ 1 w 23"/>
                <a:gd name="T15" fmla="*/ 0 h 21"/>
                <a:gd name="T16" fmla="*/ 1 w 23"/>
                <a:gd name="T17" fmla="*/ 0 h 21"/>
                <a:gd name="T18" fmla="*/ 1 w 23"/>
                <a:gd name="T19" fmla="*/ 0 h 21"/>
                <a:gd name="T20" fmla="*/ 1 w 23"/>
                <a:gd name="T21" fmla="*/ 0 h 21"/>
                <a:gd name="T22" fmla="*/ 1 w 23"/>
                <a:gd name="T23" fmla="*/ 0 h 21"/>
                <a:gd name="T24" fmla="*/ 1 w 23"/>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1"/>
                <a:gd name="T41" fmla="*/ 23 w 23"/>
                <a:gd name="T42" fmla="*/ 21 h 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1">
                  <a:moveTo>
                    <a:pt x="23" y="2"/>
                  </a:moveTo>
                  <a:lnTo>
                    <a:pt x="20" y="0"/>
                  </a:lnTo>
                  <a:lnTo>
                    <a:pt x="8" y="0"/>
                  </a:lnTo>
                  <a:lnTo>
                    <a:pt x="3" y="5"/>
                  </a:lnTo>
                  <a:lnTo>
                    <a:pt x="0" y="10"/>
                  </a:lnTo>
                  <a:lnTo>
                    <a:pt x="0" y="11"/>
                  </a:lnTo>
                  <a:lnTo>
                    <a:pt x="19" y="21"/>
                  </a:lnTo>
                  <a:lnTo>
                    <a:pt x="19" y="19"/>
                  </a:lnTo>
                  <a:lnTo>
                    <a:pt x="19" y="21"/>
                  </a:lnTo>
                  <a:lnTo>
                    <a:pt x="20" y="19"/>
                  </a:lnTo>
                  <a:lnTo>
                    <a:pt x="11" y="19"/>
                  </a:lnTo>
                  <a:lnTo>
                    <a:pt x="8" y="17"/>
                  </a:lnTo>
                  <a:lnTo>
                    <a:pt x="23" y="2"/>
                  </a:lnTo>
                  <a:close/>
                </a:path>
              </a:pathLst>
            </a:custGeom>
            <a:solidFill>
              <a:srgbClr val="000000"/>
            </a:solidFill>
            <a:ln w="9525">
              <a:noFill/>
              <a:round/>
              <a:headEnd/>
              <a:tailEnd/>
            </a:ln>
          </p:spPr>
          <p:txBody>
            <a:bodyPr/>
            <a:lstStyle/>
            <a:p>
              <a:endParaRPr lang="en-US"/>
            </a:p>
          </p:txBody>
        </p:sp>
        <p:sp>
          <p:nvSpPr>
            <p:cNvPr id="23586" name="Freeform 231"/>
            <p:cNvSpPr>
              <a:spLocks/>
            </p:cNvSpPr>
            <p:nvPr/>
          </p:nvSpPr>
          <p:spPr bwMode="auto">
            <a:xfrm>
              <a:off x="2003" y="3600"/>
              <a:ext cx="11" cy="10"/>
            </a:xfrm>
            <a:custGeom>
              <a:avLst/>
              <a:gdLst>
                <a:gd name="T0" fmla="*/ 0 w 24"/>
                <a:gd name="T1" fmla="*/ 1 h 20"/>
                <a:gd name="T2" fmla="*/ 0 w 24"/>
                <a:gd name="T3" fmla="*/ 1 h 20"/>
                <a:gd name="T4" fmla="*/ 0 w 24"/>
                <a:gd name="T5" fmla="*/ 1 h 20"/>
                <a:gd name="T6" fmla="*/ 0 w 24"/>
                <a:gd name="T7" fmla="*/ 1 h 20"/>
                <a:gd name="T8" fmla="*/ 0 w 24"/>
                <a:gd name="T9" fmla="*/ 1 h 20"/>
                <a:gd name="T10" fmla="*/ 0 w 24"/>
                <a:gd name="T11" fmla="*/ 0 h 20"/>
                <a:gd name="T12" fmla="*/ 0 w 24"/>
                <a:gd name="T13" fmla="*/ 1 h 20"/>
                <a:gd name="T14" fmla="*/ 0 w 24"/>
                <a:gd name="T15" fmla="*/ 1 h 20"/>
                <a:gd name="T16" fmla="*/ 0 w 24"/>
                <a:gd name="T17" fmla="*/ 1 h 20"/>
                <a:gd name="T18" fmla="*/ 0 w 24"/>
                <a:gd name="T19" fmla="*/ 1 h 20"/>
                <a:gd name="T20" fmla="*/ 0 w 24"/>
                <a:gd name="T21" fmla="*/ 1 h 20"/>
                <a:gd name="T22" fmla="*/ 0 w 24"/>
                <a:gd name="T23" fmla="*/ 1 h 20"/>
                <a:gd name="T24" fmla="*/ 0 w 24"/>
                <a:gd name="T25" fmla="*/ 1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0"/>
                <a:gd name="T41" fmla="*/ 24 w 24"/>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0">
                  <a:moveTo>
                    <a:pt x="22" y="17"/>
                  </a:moveTo>
                  <a:lnTo>
                    <a:pt x="22" y="20"/>
                  </a:lnTo>
                  <a:lnTo>
                    <a:pt x="24" y="17"/>
                  </a:lnTo>
                  <a:lnTo>
                    <a:pt x="24" y="9"/>
                  </a:lnTo>
                  <a:lnTo>
                    <a:pt x="21" y="3"/>
                  </a:lnTo>
                  <a:lnTo>
                    <a:pt x="17" y="0"/>
                  </a:lnTo>
                  <a:lnTo>
                    <a:pt x="2" y="15"/>
                  </a:lnTo>
                  <a:lnTo>
                    <a:pt x="2" y="11"/>
                  </a:lnTo>
                  <a:lnTo>
                    <a:pt x="0" y="14"/>
                  </a:lnTo>
                  <a:lnTo>
                    <a:pt x="0" y="17"/>
                  </a:lnTo>
                  <a:lnTo>
                    <a:pt x="22" y="17"/>
                  </a:lnTo>
                  <a:close/>
                </a:path>
              </a:pathLst>
            </a:custGeom>
            <a:solidFill>
              <a:srgbClr val="000000"/>
            </a:solidFill>
            <a:ln w="9525">
              <a:noFill/>
              <a:round/>
              <a:headEnd/>
              <a:tailEnd/>
            </a:ln>
          </p:spPr>
          <p:txBody>
            <a:bodyPr/>
            <a:lstStyle/>
            <a:p>
              <a:endParaRPr lang="en-US"/>
            </a:p>
          </p:txBody>
        </p:sp>
        <p:sp>
          <p:nvSpPr>
            <p:cNvPr id="23587" name="Freeform 232"/>
            <p:cNvSpPr>
              <a:spLocks/>
            </p:cNvSpPr>
            <p:nvPr/>
          </p:nvSpPr>
          <p:spPr bwMode="auto">
            <a:xfrm>
              <a:off x="2003" y="3608"/>
              <a:ext cx="14" cy="15"/>
            </a:xfrm>
            <a:custGeom>
              <a:avLst/>
              <a:gdLst>
                <a:gd name="T0" fmla="*/ 1 w 28"/>
                <a:gd name="T1" fmla="*/ 1 h 30"/>
                <a:gd name="T2" fmla="*/ 1 w 28"/>
                <a:gd name="T3" fmla="*/ 1 h 30"/>
                <a:gd name="T4" fmla="*/ 1 w 28"/>
                <a:gd name="T5" fmla="*/ 1 h 30"/>
                <a:gd name="T6" fmla="*/ 1 w 28"/>
                <a:gd name="T7" fmla="*/ 1 h 30"/>
                <a:gd name="T8" fmla="*/ 1 w 28"/>
                <a:gd name="T9" fmla="*/ 0 h 30"/>
                <a:gd name="T10" fmla="*/ 1 w 28"/>
                <a:gd name="T11" fmla="*/ 0 h 30"/>
                <a:gd name="T12" fmla="*/ 0 w 28"/>
                <a:gd name="T13" fmla="*/ 0 h 30"/>
                <a:gd name="T14" fmla="*/ 1 w 28"/>
                <a:gd name="T15" fmla="*/ 1 h 30"/>
                <a:gd name="T16" fmla="*/ 1 w 28"/>
                <a:gd name="T17" fmla="*/ 1 h 30"/>
                <a:gd name="T18" fmla="*/ 1 w 28"/>
                <a:gd name="T19" fmla="*/ 1 h 30"/>
                <a:gd name="T20" fmla="*/ 1 w 28"/>
                <a:gd name="T21" fmla="*/ 1 h 30"/>
                <a:gd name="T22" fmla="*/ 1 w 28"/>
                <a:gd name="T23" fmla="*/ 1 h 30"/>
                <a:gd name="T24" fmla="*/ 1 w 28"/>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0"/>
                <a:gd name="T41" fmla="*/ 28 w 28"/>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0">
                  <a:moveTo>
                    <a:pt x="28" y="11"/>
                  </a:moveTo>
                  <a:lnTo>
                    <a:pt x="28" y="11"/>
                  </a:lnTo>
                  <a:lnTo>
                    <a:pt x="27" y="11"/>
                  </a:lnTo>
                  <a:lnTo>
                    <a:pt x="25" y="6"/>
                  </a:lnTo>
                  <a:lnTo>
                    <a:pt x="22" y="0"/>
                  </a:lnTo>
                  <a:lnTo>
                    <a:pt x="0" y="0"/>
                  </a:lnTo>
                  <a:lnTo>
                    <a:pt x="3" y="9"/>
                  </a:lnTo>
                  <a:lnTo>
                    <a:pt x="6" y="16"/>
                  </a:lnTo>
                  <a:lnTo>
                    <a:pt x="11" y="23"/>
                  </a:lnTo>
                  <a:lnTo>
                    <a:pt x="19" y="30"/>
                  </a:lnTo>
                  <a:lnTo>
                    <a:pt x="28" y="11"/>
                  </a:lnTo>
                  <a:close/>
                </a:path>
              </a:pathLst>
            </a:custGeom>
            <a:solidFill>
              <a:srgbClr val="000000"/>
            </a:solidFill>
            <a:ln w="9525">
              <a:noFill/>
              <a:round/>
              <a:headEnd/>
              <a:tailEnd/>
            </a:ln>
          </p:spPr>
          <p:txBody>
            <a:bodyPr/>
            <a:lstStyle/>
            <a:p>
              <a:endParaRPr lang="en-US"/>
            </a:p>
          </p:txBody>
        </p:sp>
        <p:sp>
          <p:nvSpPr>
            <p:cNvPr id="23588" name="Freeform 233"/>
            <p:cNvSpPr>
              <a:spLocks/>
            </p:cNvSpPr>
            <p:nvPr/>
          </p:nvSpPr>
          <p:spPr bwMode="auto">
            <a:xfrm>
              <a:off x="2012" y="3614"/>
              <a:ext cx="71" cy="16"/>
            </a:xfrm>
            <a:custGeom>
              <a:avLst/>
              <a:gdLst>
                <a:gd name="T0" fmla="*/ 1 w 142"/>
                <a:gd name="T1" fmla="*/ 0 h 33"/>
                <a:gd name="T2" fmla="*/ 1 w 142"/>
                <a:gd name="T3" fmla="*/ 0 h 33"/>
                <a:gd name="T4" fmla="*/ 1 w 142"/>
                <a:gd name="T5" fmla="*/ 0 h 33"/>
                <a:gd name="T6" fmla="*/ 1 w 142"/>
                <a:gd name="T7" fmla="*/ 0 h 33"/>
                <a:gd name="T8" fmla="*/ 1 w 142"/>
                <a:gd name="T9" fmla="*/ 0 h 33"/>
                <a:gd name="T10" fmla="*/ 1 w 142"/>
                <a:gd name="T11" fmla="*/ 0 h 33"/>
                <a:gd name="T12" fmla="*/ 1 w 142"/>
                <a:gd name="T13" fmla="*/ 0 h 33"/>
                <a:gd name="T14" fmla="*/ 1 w 142"/>
                <a:gd name="T15" fmla="*/ 0 h 33"/>
                <a:gd name="T16" fmla="*/ 1 w 142"/>
                <a:gd name="T17" fmla="*/ 0 h 33"/>
                <a:gd name="T18" fmla="*/ 1 w 142"/>
                <a:gd name="T19" fmla="*/ 0 h 33"/>
                <a:gd name="T20" fmla="*/ 0 w 142"/>
                <a:gd name="T21" fmla="*/ 0 h 33"/>
                <a:gd name="T22" fmla="*/ 1 w 142"/>
                <a:gd name="T23" fmla="*/ 0 h 33"/>
                <a:gd name="T24" fmla="*/ 1 w 142"/>
                <a:gd name="T25" fmla="*/ 0 h 33"/>
                <a:gd name="T26" fmla="*/ 1 w 142"/>
                <a:gd name="T27" fmla="*/ 0 h 33"/>
                <a:gd name="T28" fmla="*/ 1 w 142"/>
                <a:gd name="T29" fmla="*/ 0 h 33"/>
                <a:gd name="T30" fmla="*/ 1 w 142"/>
                <a:gd name="T31" fmla="*/ 0 h 33"/>
                <a:gd name="T32" fmla="*/ 1 w 142"/>
                <a:gd name="T33" fmla="*/ 0 h 33"/>
                <a:gd name="T34" fmla="*/ 1 w 142"/>
                <a:gd name="T35" fmla="*/ 0 h 33"/>
                <a:gd name="T36" fmla="*/ 1 w 142"/>
                <a:gd name="T37" fmla="*/ 0 h 33"/>
                <a:gd name="T38" fmla="*/ 1 w 142"/>
                <a:gd name="T39" fmla="*/ 0 h 33"/>
                <a:gd name="T40" fmla="*/ 1 w 142"/>
                <a:gd name="T41" fmla="*/ 0 h 33"/>
                <a:gd name="T42" fmla="*/ 1 w 142"/>
                <a:gd name="T43" fmla="*/ 0 h 33"/>
                <a:gd name="T44" fmla="*/ 1 w 142"/>
                <a:gd name="T45" fmla="*/ 0 h 33"/>
                <a:gd name="T46" fmla="*/ 1 w 142"/>
                <a:gd name="T47" fmla="*/ 0 h 33"/>
                <a:gd name="T48" fmla="*/ 1 w 142"/>
                <a:gd name="T49" fmla="*/ 0 h 33"/>
                <a:gd name="T50" fmla="*/ 1 w 142"/>
                <a:gd name="T51" fmla="*/ 0 h 3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2"/>
                <a:gd name="T79" fmla="*/ 0 h 33"/>
                <a:gd name="T80" fmla="*/ 142 w 142"/>
                <a:gd name="T81" fmla="*/ 33 h 3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2" h="33">
                  <a:moveTo>
                    <a:pt x="124" y="14"/>
                  </a:moveTo>
                  <a:lnTo>
                    <a:pt x="133" y="11"/>
                  </a:lnTo>
                  <a:lnTo>
                    <a:pt x="128" y="11"/>
                  </a:lnTo>
                  <a:lnTo>
                    <a:pt x="114" y="9"/>
                  </a:lnTo>
                  <a:lnTo>
                    <a:pt x="92" y="8"/>
                  </a:lnTo>
                  <a:lnTo>
                    <a:pt x="72" y="6"/>
                  </a:lnTo>
                  <a:lnTo>
                    <a:pt x="49" y="3"/>
                  </a:lnTo>
                  <a:lnTo>
                    <a:pt x="28" y="1"/>
                  </a:lnTo>
                  <a:lnTo>
                    <a:pt x="14" y="0"/>
                  </a:lnTo>
                  <a:lnTo>
                    <a:pt x="9" y="0"/>
                  </a:lnTo>
                  <a:lnTo>
                    <a:pt x="0" y="19"/>
                  </a:lnTo>
                  <a:lnTo>
                    <a:pt x="11" y="22"/>
                  </a:lnTo>
                  <a:lnTo>
                    <a:pt x="25" y="23"/>
                  </a:lnTo>
                  <a:lnTo>
                    <a:pt x="45" y="25"/>
                  </a:lnTo>
                  <a:lnTo>
                    <a:pt x="69" y="28"/>
                  </a:lnTo>
                  <a:lnTo>
                    <a:pt x="92" y="30"/>
                  </a:lnTo>
                  <a:lnTo>
                    <a:pt x="111" y="31"/>
                  </a:lnTo>
                  <a:lnTo>
                    <a:pt x="125" y="33"/>
                  </a:lnTo>
                  <a:lnTo>
                    <a:pt x="130" y="33"/>
                  </a:lnTo>
                  <a:lnTo>
                    <a:pt x="139" y="30"/>
                  </a:lnTo>
                  <a:lnTo>
                    <a:pt x="130" y="33"/>
                  </a:lnTo>
                  <a:lnTo>
                    <a:pt x="138" y="30"/>
                  </a:lnTo>
                  <a:lnTo>
                    <a:pt x="142" y="23"/>
                  </a:lnTo>
                  <a:lnTo>
                    <a:pt x="141" y="16"/>
                  </a:lnTo>
                  <a:lnTo>
                    <a:pt x="133" y="11"/>
                  </a:lnTo>
                  <a:lnTo>
                    <a:pt x="124" y="14"/>
                  </a:lnTo>
                  <a:close/>
                </a:path>
              </a:pathLst>
            </a:custGeom>
            <a:solidFill>
              <a:srgbClr val="000000"/>
            </a:solidFill>
            <a:ln w="9525">
              <a:noFill/>
              <a:round/>
              <a:headEnd/>
              <a:tailEnd/>
            </a:ln>
          </p:spPr>
          <p:txBody>
            <a:bodyPr/>
            <a:lstStyle/>
            <a:p>
              <a:endParaRPr lang="en-US"/>
            </a:p>
          </p:txBody>
        </p:sp>
        <p:sp>
          <p:nvSpPr>
            <p:cNvPr id="23589" name="Freeform 234"/>
            <p:cNvSpPr>
              <a:spLocks/>
            </p:cNvSpPr>
            <p:nvPr/>
          </p:nvSpPr>
          <p:spPr bwMode="auto">
            <a:xfrm>
              <a:off x="2074" y="3608"/>
              <a:ext cx="23" cy="21"/>
            </a:xfrm>
            <a:custGeom>
              <a:avLst/>
              <a:gdLst>
                <a:gd name="T0" fmla="*/ 1 w 45"/>
                <a:gd name="T1" fmla="*/ 1 h 41"/>
                <a:gd name="T2" fmla="*/ 1 w 45"/>
                <a:gd name="T3" fmla="*/ 0 h 41"/>
                <a:gd name="T4" fmla="*/ 1 w 45"/>
                <a:gd name="T5" fmla="*/ 1 h 41"/>
                <a:gd name="T6" fmla="*/ 1 w 45"/>
                <a:gd name="T7" fmla="*/ 1 h 41"/>
                <a:gd name="T8" fmla="*/ 1 w 45"/>
                <a:gd name="T9" fmla="*/ 1 h 41"/>
                <a:gd name="T10" fmla="*/ 0 w 45"/>
                <a:gd name="T11" fmla="*/ 1 h 41"/>
                <a:gd name="T12" fmla="*/ 1 w 45"/>
                <a:gd name="T13" fmla="*/ 1 h 41"/>
                <a:gd name="T14" fmla="*/ 1 w 45"/>
                <a:gd name="T15" fmla="*/ 1 h 41"/>
                <a:gd name="T16" fmla="*/ 1 w 45"/>
                <a:gd name="T17" fmla="*/ 1 h 41"/>
                <a:gd name="T18" fmla="*/ 1 w 45"/>
                <a:gd name="T19" fmla="*/ 1 h 41"/>
                <a:gd name="T20" fmla="*/ 1 w 45"/>
                <a:gd name="T21" fmla="*/ 1 h 41"/>
                <a:gd name="T22" fmla="*/ 1 w 45"/>
                <a:gd name="T23" fmla="*/ 1 h 41"/>
                <a:gd name="T24" fmla="*/ 1 w 45"/>
                <a:gd name="T25" fmla="*/ 1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41"/>
                <a:gd name="T41" fmla="*/ 45 w 45"/>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41">
                  <a:moveTo>
                    <a:pt x="36" y="2"/>
                  </a:moveTo>
                  <a:lnTo>
                    <a:pt x="37" y="0"/>
                  </a:lnTo>
                  <a:lnTo>
                    <a:pt x="23" y="6"/>
                  </a:lnTo>
                  <a:lnTo>
                    <a:pt x="14" y="14"/>
                  </a:lnTo>
                  <a:lnTo>
                    <a:pt x="4" y="20"/>
                  </a:lnTo>
                  <a:lnTo>
                    <a:pt x="0" y="25"/>
                  </a:lnTo>
                  <a:lnTo>
                    <a:pt x="15" y="41"/>
                  </a:lnTo>
                  <a:lnTo>
                    <a:pt x="17" y="39"/>
                  </a:lnTo>
                  <a:lnTo>
                    <a:pt x="26" y="33"/>
                  </a:lnTo>
                  <a:lnTo>
                    <a:pt x="36" y="25"/>
                  </a:lnTo>
                  <a:lnTo>
                    <a:pt x="44" y="22"/>
                  </a:lnTo>
                  <a:lnTo>
                    <a:pt x="45" y="20"/>
                  </a:lnTo>
                  <a:lnTo>
                    <a:pt x="36" y="2"/>
                  </a:lnTo>
                  <a:close/>
                </a:path>
              </a:pathLst>
            </a:custGeom>
            <a:solidFill>
              <a:srgbClr val="000000"/>
            </a:solidFill>
            <a:ln w="9525">
              <a:noFill/>
              <a:round/>
              <a:headEnd/>
              <a:tailEnd/>
            </a:ln>
          </p:spPr>
          <p:txBody>
            <a:bodyPr/>
            <a:lstStyle/>
            <a:p>
              <a:endParaRPr lang="en-US"/>
            </a:p>
          </p:txBody>
        </p:sp>
        <p:sp>
          <p:nvSpPr>
            <p:cNvPr id="23590" name="Freeform 235"/>
            <p:cNvSpPr>
              <a:spLocks/>
            </p:cNvSpPr>
            <p:nvPr/>
          </p:nvSpPr>
          <p:spPr bwMode="auto">
            <a:xfrm>
              <a:off x="2092" y="3601"/>
              <a:ext cx="15" cy="18"/>
            </a:xfrm>
            <a:custGeom>
              <a:avLst/>
              <a:gdLst>
                <a:gd name="T0" fmla="*/ 1 w 29"/>
                <a:gd name="T1" fmla="*/ 1 h 36"/>
                <a:gd name="T2" fmla="*/ 1 w 29"/>
                <a:gd name="T3" fmla="*/ 1 h 36"/>
                <a:gd name="T4" fmla="*/ 1 w 29"/>
                <a:gd name="T5" fmla="*/ 1 h 36"/>
                <a:gd name="T6" fmla="*/ 1 w 29"/>
                <a:gd name="T7" fmla="*/ 1 h 36"/>
                <a:gd name="T8" fmla="*/ 1 w 29"/>
                <a:gd name="T9" fmla="*/ 1 h 36"/>
                <a:gd name="T10" fmla="*/ 0 w 29"/>
                <a:gd name="T11" fmla="*/ 1 h 36"/>
                <a:gd name="T12" fmla="*/ 1 w 29"/>
                <a:gd name="T13" fmla="*/ 1 h 36"/>
                <a:gd name="T14" fmla="*/ 1 w 29"/>
                <a:gd name="T15" fmla="*/ 1 h 36"/>
                <a:gd name="T16" fmla="*/ 1 w 29"/>
                <a:gd name="T17" fmla="*/ 1 h 36"/>
                <a:gd name="T18" fmla="*/ 1 w 29"/>
                <a:gd name="T19" fmla="*/ 1 h 36"/>
                <a:gd name="T20" fmla="*/ 1 w 29"/>
                <a:gd name="T21" fmla="*/ 1 h 36"/>
                <a:gd name="T22" fmla="*/ 1 w 29"/>
                <a:gd name="T23" fmla="*/ 1 h 36"/>
                <a:gd name="T24" fmla="*/ 1 w 29"/>
                <a:gd name="T25" fmla="*/ 1 h 36"/>
                <a:gd name="T26" fmla="*/ 1 w 29"/>
                <a:gd name="T27" fmla="*/ 1 h 36"/>
                <a:gd name="T28" fmla="*/ 1 w 29"/>
                <a:gd name="T29" fmla="*/ 1 h 36"/>
                <a:gd name="T30" fmla="*/ 1 w 29"/>
                <a:gd name="T31" fmla="*/ 0 h 36"/>
                <a:gd name="T32" fmla="*/ 1 w 29"/>
                <a:gd name="T33" fmla="*/ 1 h 36"/>
                <a:gd name="T34" fmla="*/ 1 w 29"/>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
                <a:gd name="T55" fmla="*/ 0 h 36"/>
                <a:gd name="T56" fmla="*/ 29 w 29"/>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 h="36">
                  <a:moveTo>
                    <a:pt x="29" y="7"/>
                  </a:moveTo>
                  <a:lnTo>
                    <a:pt x="11" y="7"/>
                  </a:lnTo>
                  <a:lnTo>
                    <a:pt x="9" y="7"/>
                  </a:lnTo>
                  <a:lnTo>
                    <a:pt x="8" y="10"/>
                  </a:lnTo>
                  <a:lnTo>
                    <a:pt x="4" y="14"/>
                  </a:lnTo>
                  <a:lnTo>
                    <a:pt x="0" y="18"/>
                  </a:lnTo>
                  <a:lnTo>
                    <a:pt x="9" y="36"/>
                  </a:lnTo>
                  <a:lnTo>
                    <a:pt x="20" y="30"/>
                  </a:lnTo>
                  <a:lnTo>
                    <a:pt x="26" y="22"/>
                  </a:lnTo>
                  <a:lnTo>
                    <a:pt x="28" y="19"/>
                  </a:lnTo>
                  <a:lnTo>
                    <a:pt x="29" y="16"/>
                  </a:lnTo>
                  <a:lnTo>
                    <a:pt x="11" y="16"/>
                  </a:lnTo>
                  <a:lnTo>
                    <a:pt x="29" y="16"/>
                  </a:lnTo>
                  <a:lnTo>
                    <a:pt x="29" y="8"/>
                  </a:lnTo>
                  <a:lnTo>
                    <a:pt x="25" y="2"/>
                  </a:lnTo>
                  <a:lnTo>
                    <a:pt x="17" y="0"/>
                  </a:lnTo>
                  <a:lnTo>
                    <a:pt x="11" y="7"/>
                  </a:lnTo>
                  <a:lnTo>
                    <a:pt x="29" y="7"/>
                  </a:lnTo>
                  <a:close/>
                </a:path>
              </a:pathLst>
            </a:custGeom>
            <a:solidFill>
              <a:srgbClr val="000000"/>
            </a:solidFill>
            <a:ln w="9525">
              <a:noFill/>
              <a:round/>
              <a:headEnd/>
              <a:tailEnd/>
            </a:ln>
          </p:spPr>
          <p:txBody>
            <a:bodyPr/>
            <a:lstStyle/>
            <a:p>
              <a:endParaRPr lang="en-US"/>
            </a:p>
          </p:txBody>
        </p:sp>
        <p:sp>
          <p:nvSpPr>
            <p:cNvPr id="23591" name="Freeform 236"/>
            <p:cNvSpPr>
              <a:spLocks/>
            </p:cNvSpPr>
            <p:nvPr/>
          </p:nvSpPr>
          <p:spPr bwMode="auto">
            <a:xfrm>
              <a:off x="2097" y="3604"/>
              <a:ext cx="24" cy="33"/>
            </a:xfrm>
            <a:custGeom>
              <a:avLst/>
              <a:gdLst>
                <a:gd name="T0" fmla="*/ 1 w 47"/>
                <a:gd name="T1" fmla="*/ 1 h 65"/>
                <a:gd name="T2" fmla="*/ 1 w 47"/>
                <a:gd name="T3" fmla="*/ 1 h 65"/>
                <a:gd name="T4" fmla="*/ 1 w 47"/>
                <a:gd name="T5" fmla="*/ 0 h 65"/>
                <a:gd name="T6" fmla="*/ 0 w 47"/>
                <a:gd name="T7" fmla="*/ 1 h 65"/>
                <a:gd name="T8" fmla="*/ 1 w 47"/>
                <a:gd name="T9" fmla="*/ 1 h 65"/>
                <a:gd name="T10" fmla="*/ 1 w 47"/>
                <a:gd name="T11" fmla="*/ 1 h 65"/>
                <a:gd name="T12" fmla="*/ 0 60000 65536"/>
                <a:gd name="T13" fmla="*/ 0 60000 65536"/>
                <a:gd name="T14" fmla="*/ 0 60000 65536"/>
                <a:gd name="T15" fmla="*/ 0 60000 65536"/>
                <a:gd name="T16" fmla="*/ 0 60000 65536"/>
                <a:gd name="T17" fmla="*/ 0 60000 65536"/>
                <a:gd name="T18" fmla="*/ 0 w 47"/>
                <a:gd name="T19" fmla="*/ 0 h 65"/>
                <a:gd name="T20" fmla="*/ 47 w 4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7" h="65">
                  <a:moveTo>
                    <a:pt x="37" y="61"/>
                  </a:moveTo>
                  <a:lnTo>
                    <a:pt x="47" y="56"/>
                  </a:lnTo>
                  <a:lnTo>
                    <a:pt x="18" y="0"/>
                  </a:lnTo>
                  <a:lnTo>
                    <a:pt x="0" y="9"/>
                  </a:lnTo>
                  <a:lnTo>
                    <a:pt x="28" y="65"/>
                  </a:lnTo>
                  <a:lnTo>
                    <a:pt x="37" y="61"/>
                  </a:lnTo>
                  <a:close/>
                </a:path>
              </a:pathLst>
            </a:custGeom>
            <a:solidFill>
              <a:srgbClr val="000000"/>
            </a:solidFill>
            <a:ln w="9525">
              <a:noFill/>
              <a:round/>
              <a:headEnd/>
              <a:tailEnd/>
            </a:ln>
          </p:spPr>
          <p:txBody>
            <a:bodyPr/>
            <a:lstStyle/>
            <a:p>
              <a:endParaRPr lang="en-US"/>
            </a:p>
          </p:txBody>
        </p:sp>
        <p:sp>
          <p:nvSpPr>
            <p:cNvPr id="23592" name="Freeform 237"/>
            <p:cNvSpPr>
              <a:spLocks/>
            </p:cNvSpPr>
            <p:nvPr/>
          </p:nvSpPr>
          <p:spPr bwMode="auto">
            <a:xfrm>
              <a:off x="2046" y="3834"/>
              <a:ext cx="1" cy="14"/>
            </a:xfrm>
            <a:custGeom>
              <a:avLst/>
              <a:gdLst>
                <a:gd name="T0" fmla="*/ 0 w 1"/>
                <a:gd name="T1" fmla="*/ 1 h 28"/>
                <a:gd name="T2" fmla="*/ 0 w 1"/>
                <a:gd name="T3" fmla="*/ 0 h 28"/>
                <a:gd name="T4" fmla="*/ 0 w 1"/>
                <a:gd name="T5" fmla="*/ 1 h 28"/>
                <a:gd name="T6" fmla="*/ 0 60000 65536"/>
                <a:gd name="T7" fmla="*/ 0 60000 65536"/>
                <a:gd name="T8" fmla="*/ 0 60000 65536"/>
                <a:gd name="T9" fmla="*/ 0 w 1"/>
                <a:gd name="T10" fmla="*/ 0 h 28"/>
                <a:gd name="T11" fmla="*/ 1 w 1"/>
                <a:gd name="T12" fmla="*/ 28 h 28"/>
              </a:gdLst>
              <a:ahLst/>
              <a:cxnLst>
                <a:cxn ang="T6">
                  <a:pos x="T0" y="T1"/>
                </a:cxn>
                <a:cxn ang="T7">
                  <a:pos x="T2" y="T3"/>
                </a:cxn>
                <a:cxn ang="T8">
                  <a:pos x="T4" y="T5"/>
                </a:cxn>
              </a:cxnLst>
              <a:rect l="T9" t="T10" r="T11" b="T12"/>
              <a:pathLst>
                <a:path w="1" h="28">
                  <a:moveTo>
                    <a:pt x="0" y="28"/>
                  </a:moveTo>
                  <a:lnTo>
                    <a:pt x="0" y="0"/>
                  </a:lnTo>
                  <a:lnTo>
                    <a:pt x="0" y="28"/>
                  </a:lnTo>
                  <a:close/>
                </a:path>
              </a:pathLst>
            </a:custGeom>
            <a:solidFill>
              <a:srgbClr val="FF7226"/>
            </a:solidFill>
            <a:ln w="9525">
              <a:noFill/>
              <a:round/>
              <a:headEnd/>
              <a:tailEnd/>
            </a:ln>
          </p:spPr>
          <p:txBody>
            <a:bodyPr/>
            <a:lstStyle/>
            <a:p>
              <a:endParaRPr lang="en-US"/>
            </a:p>
          </p:txBody>
        </p:sp>
        <p:sp>
          <p:nvSpPr>
            <p:cNvPr id="23593" name="Freeform 238"/>
            <p:cNvSpPr>
              <a:spLocks/>
            </p:cNvSpPr>
            <p:nvPr/>
          </p:nvSpPr>
          <p:spPr bwMode="auto">
            <a:xfrm>
              <a:off x="2040" y="3834"/>
              <a:ext cx="11" cy="14"/>
            </a:xfrm>
            <a:custGeom>
              <a:avLst/>
              <a:gdLst>
                <a:gd name="T0" fmla="*/ 1 w 22"/>
                <a:gd name="T1" fmla="*/ 0 h 28"/>
                <a:gd name="T2" fmla="*/ 0 w 22"/>
                <a:gd name="T3" fmla="*/ 0 h 28"/>
                <a:gd name="T4" fmla="*/ 0 w 22"/>
                <a:gd name="T5" fmla="*/ 1 h 28"/>
                <a:gd name="T6" fmla="*/ 1 w 22"/>
                <a:gd name="T7" fmla="*/ 1 h 28"/>
                <a:gd name="T8" fmla="*/ 1 w 22"/>
                <a:gd name="T9" fmla="*/ 0 h 28"/>
                <a:gd name="T10" fmla="*/ 1 w 22"/>
                <a:gd name="T11" fmla="*/ 0 h 28"/>
                <a:gd name="T12" fmla="*/ 0 60000 65536"/>
                <a:gd name="T13" fmla="*/ 0 60000 65536"/>
                <a:gd name="T14" fmla="*/ 0 60000 65536"/>
                <a:gd name="T15" fmla="*/ 0 60000 65536"/>
                <a:gd name="T16" fmla="*/ 0 60000 65536"/>
                <a:gd name="T17" fmla="*/ 0 60000 65536"/>
                <a:gd name="T18" fmla="*/ 0 w 22"/>
                <a:gd name="T19" fmla="*/ 0 h 28"/>
                <a:gd name="T20" fmla="*/ 22 w 22"/>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2" h="28">
                  <a:moveTo>
                    <a:pt x="11" y="0"/>
                  </a:moveTo>
                  <a:lnTo>
                    <a:pt x="0" y="0"/>
                  </a:lnTo>
                  <a:lnTo>
                    <a:pt x="0" y="28"/>
                  </a:lnTo>
                  <a:lnTo>
                    <a:pt x="22" y="28"/>
                  </a:lnTo>
                  <a:lnTo>
                    <a:pt x="22" y="0"/>
                  </a:lnTo>
                  <a:lnTo>
                    <a:pt x="11" y="0"/>
                  </a:lnTo>
                  <a:close/>
                </a:path>
              </a:pathLst>
            </a:custGeom>
            <a:solidFill>
              <a:srgbClr val="000000"/>
            </a:solidFill>
            <a:ln w="9525">
              <a:noFill/>
              <a:round/>
              <a:headEnd/>
              <a:tailEnd/>
            </a:ln>
          </p:spPr>
          <p:txBody>
            <a:bodyPr/>
            <a:lstStyle/>
            <a:p>
              <a:endParaRPr lang="en-US"/>
            </a:p>
          </p:txBody>
        </p:sp>
      </p:grpSp>
      <p:sp>
        <p:nvSpPr>
          <p:cNvPr id="23558" name="Line 239"/>
          <p:cNvSpPr>
            <a:spLocks noChangeShapeType="1"/>
          </p:cNvSpPr>
          <p:nvPr/>
        </p:nvSpPr>
        <p:spPr bwMode="auto">
          <a:xfrm>
            <a:off x="3962400" y="5638800"/>
            <a:ext cx="2819400" cy="0"/>
          </a:xfrm>
          <a:prstGeom prst="line">
            <a:avLst/>
          </a:prstGeom>
          <a:noFill/>
          <a:ln w="12700" cap="sq">
            <a:solidFill>
              <a:schemeClr val="bg1"/>
            </a:solidFill>
            <a:round/>
            <a:headEnd type="none" w="sm" len="sm"/>
            <a:tailEnd type="none" w="sm" len="sm"/>
          </a:ln>
        </p:spPr>
        <p:txBody>
          <a:bodyPr wrap="none"/>
          <a:lstStyle/>
          <a:p>
            <a:endParaRPr lang="en-US"/>
          </a:p>
        </p:txBody>
      </p:sp>
      <p:sp>
        <p:nvSpPr>
          <p:cNvPr id="23559" name="Text Box 240"/>
          <p:cNvSpPr txBox="1">
            <a:spLocks noChangeArrowheads="1"/>
          </p:cNvSpPr>
          <p:nvPr/>
        </p:nvSpPr>
        <p:spPr bwMode="auto">
          <a:xfrm>
            <a:off x="7002463" y="4572000"/>
            <a:ext cx="660400" cy="369888"/>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RAS</a:t>
            </a:r>
          </a:p>
        </p:txBody>
      </p:sp>
      <p:sp>
        <p:nvSpPr>
          <p:cNvPr id="23560" name="Text Box 241"/>
          <p:cNvSpPr txBox="1">
            <a:spLocks noChangeArrowheads="1"/>
          </p:cNvSpPr>
          <p:nvPr/>
        </p:nvSpPr>
        <p:spPr bwMode="auto">
          <a:xfrm>
            <a:off x="4198938" y="5070475"/>
            <a:ext cx="2135187" cy="369888"/>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Long-Distance Call</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mtClean="0"/>
              <a:t>PPTP</a:t>
            </a:r>
          </a:p>
        </p:txBody>
      </p:sp>
      <p:sp>
        <p:nvSpPr>
          <p:cNvPr id="14339" name="Rectangle 3"/>
          <p:cNvSpPr>
            <a:spLocks noGrp="1" noChangeArrowheads="1"/>
          </p:cNvSpPr>
          <p:nvPr>
            <p:ph type="body" idx="1"/>
          </p:nvPr>
        </p:nvSpPr>
        <p:spPr/>
        <p:txBody>
          <a:bodyPr/>
          <a:lstStyle/>
          <a:p>
            <a:pPr eaLnBrk="1" hangingPunct="1">
              <a:defRPr/>
            </a:pPr>
            <a:r>
              <a:rPr lang="en-US" dirty="0" smtClean="0"/>
              <a:t>Point-to-Point Tunneling Protocol (PPTP)</a:t>
            </a:r>
          </a:p>
          <a:p>
            <a:pPr lvl="1" eaLnBrk="1" hangingPunct="1">
              <a:defRPr/>
            </a:pPr>
            <a:r>
              <a:rPr lang="en-US" dirty="0" smtClean="0"/>
              <a:t>We would like PPP to work over the Internet to avoid long-distance telephone charges</a:t>
            </a:r>
          </a:p>
          <a:p>
            <a:pPr lvl="1" eaLnBrk="1" hangingPunct="1">
              <a:defRPr/>
            </a:pPr>
            <a:r>
              <a:rPr lang="en-US" dirty="0" smtClean="0"/>
              <a:t>But PPP is only a data link layer protocol</a:t>
            </a:r>
          </a:p>
          <a:p>
            <a:pPr lvl="1" eaLnBrk="1" hangingPunct="1">
              <a:defRPr/>
            </a:pPr>
            <a:r>
              <a:rPr lang="en-US" dirty="0" smtClean="0"/>
              <a:t>It is only good for transmission within a subnet (single network)</a:t>
            </a:r>
          </a:p>
        </p:txBody>
      </p:sp>
      <p:pic>
        <p:nvPicPr>
          <p:cNvPr id="24580" name="Picture 4" descr="F:\NETDRAW4\ISOMETRC\FILSERVI.WMF"/>
          <p:cNvPicPr>
            <a:picLocks noChangeAspect="1" noChangeArrowheads="1"/>
          </p:cNvPicPr>
          <p:nvPr/>
        </p:nvPicPr>
        <p:blipFill>
          <a:blip r:embed="rId3" cstate="print"/>
          <a:srcRect/>
          <a:stretch>
            <a:fillRect/>
          </a:stretch>
        </p:blipFill>
        <p:spPr bwMode="auto">
          <a:xfrm>
            <a:off x="6969125" y="5062538"/>
            <a:ext cx="727075" cy="1262062"/>
          </a:xfrm>
          <a:prstGeom prst="rect">
            <a:avLst/>
          </a:prstGeom>
          <a:noFill/>
          <a:ln w="9525">
            <a:noFill/>
            <a:miter lim="800000"/>
            <a:headEnd/>
            <a:tailEnd/>
          </a:ln>
        </p:spPr>
      </p:pic>
      <p:grpSp>
        <p:nvGrpSpPr>
          <p:cNvPr id="24581" name="Group 5"/>
          <p:cNvGrpSpPr>
            <a:grpSpLocks/>
          </p:cNvGrpSpPr>
          <p:nvPr/>
        </p:nvGrpSpPr>
        <p:grpSpPr bwMode="auto">
          <a:xfrm flipH="1">
            <a:off x="2430463" y="5021263"/>
            <a:ext cx="1235075" cy="1025525"/>
            <a:chOff x="1531" y="3307"/>
            <a:chExt cx="778" cy="646"/>
          </a:xfrm>
        </p:grpSpPr>
        <p:grpSp>
          <p:nvGrpSpPr>
            <p:cNvPr id="24585" name="Group 6"/>
            <p:cNvGrpSpPr>
              <a:grpSpLocks/>
            </p:cNvGrpSpPr>
            <p:nvPr/>
          </p:nvGrpSpPr>
          <p:grpSpPr bwMode="auto">
            <a:xfrm>
              <a:off x="1531" y="3307"/>
              <a:ext cx="778" cy="646"/>
              <a:chOff x="1531" y="3307"/>
              <a:chExt cx="778" cy="646"/>
            </a:xfrm>
          </p:grpSpPr>
          <p:sp>
            <p:nvSpPr>
              <p:cNvPr id="24618" name="Freeform 7"/>
              <p:cNvSpPr>
                <a:spLocks/>
              </p:cNvSpPr>
              <p:nvPr/>
            </p:nvSpPr>
            <p:spPr bwMode="auto">
              <a:xfrm>
                <a:off x="1954" y="3823"/>
                <a:ext cx="117" cy="42"/>
              </a:xfrm>
              <a:custGeom>
                <a:avLst/>
                <a:gdLst>
                  <a:gd name="T0" fmla="*/ 0 w 235"/>
                  <a:gd name="T1" fmla="*/ 0 h 84"/>
                  <a:gd name="T2" fmla="*/ 0 w 235"/>
                  <a:gd name="T3" fmla="*/ 1 h 84"/>
                  <a:gd name="T4" fmla="*/ 0 w 235"/>
                  <a:gd name="T5" fmla="*/ 1 h 84"/>
                  <a:gd name="T6" fmla="*/ 0 w 235"/>
                  <a:gd name="T7" fmla="*/ 1 h 84"/>
                  <a:gd name="T8" fmla="*/ 0 w 235"/>
                  <a:gd name="T9" fmla="*/ 1 h 84"/>
                  <a:gd name="T10" fmla="*/ 0 w 235"/>
                  <a:gd name="T11" fmla="*/ 1 h 84"/>
                  <a:gd name="T12" fmla="*/ 0 w 235"/>
                  <a:gd name="T13" fmla="*/ 1 h 84"/>
                  <a:gd name="T14" fmla="*/ 0 w 235"/>
                  <a:gd name="T15" fmla="*/ 1 h 84"/>
                  <a:gd name="T16" fmla="*/ 0 w 235"/>
                  <a:gd name="T17" fmla="*/ 1 h 84"/>
                  <a:gd name="T18" fmla="*/ 0 w 235"/>
                  <a:gd name="T19" fmla="*/ 1 h 84"/>
                  <a:gd name="T20" fmla="*/ 0 w 235"/>
                  <a:gd name="T21" fmla="*/ 1 h 84"/>
                  <a:gd name="T22" fmla="*/ 0 w 235"/>
                  <a:gd name="T23" fmla="*/ 1 h 84"/>
                  <a:gd name="T24" fmla="*/ 0 w 235"/>
                  <a:gd name="T25" fmla="*/ 1 h 84"/>
                  <a:gd name="T26" fmla="*/ 0 w 235"/>
                  <a:gd name="T27" fmla="*/ 1 h 84"/>
                  <a:gd name="T28" fmla="*/ 0 w 235"/>
                  <a:gd name="T29" fmla="*/ 1 h 84"/>
                  <a:gd name="T30" fmla="*/ 0 w 235"/>
                  <a:gd name="T31" fmla="*/ 1 h 84"/>
                  <a:gd name="T32" fmla="*/ 0 w 235"/>
                  <a:gd name="T33" fmla="*/ 1 h 84"/>
                  <a:gd name="T34" fmla="*/ 0 w 235"/>
                  <a:gd name="T35" fmla="*/ 1 h 84"/>
                  <a:gd name="T36" fmla="*/ 0 w 235"/>
                  <a:gd name="T37" fmla="*/ 1 h 84"/>
                  <a:gd name="T38" fmla="*/ 0 w 235"/>
                  <a:gd name="T39" fmla="*/ 1 h 84"/>
                  <a:gd name="T40" fmla="*/ 0 w 235"/>
                  <a:gd name="T41" fmla="*/ 1 h 84"/>
                  <a:gd name="T42" fmla="*/ 0 w 235"/>
                  <a:gd name="T43" fmla="*/ 1 h 84"/>
                  <a:gd name="T44" fmla="*/ 0 w 235"/>
                  <a:gd name="T45" fmla="*/ 1 h 84"/>
                  <a:gd name="T46" fmla="*/ 0 w 235"/>
                  <a:gd name="T47" fmla="*/ 1 h 84"/>
                  <a:gd name="T48" fmla="*/ 0 w 235"/>
                  <a:gd name="T49" fmla="*/ 1 h 84"/>
                  <a:gd name="T50" fmla="*/ 0 w 235"/>
                  <a:gd name="T51" fmla="*/ 1 h 84"/>
                  <a:gd name="T52" fmla="*/ 0 w 235"/>
                  <a:gd name="T53" fmla="*/ 1 h 84"/>
                  <a:gd name="T54" fmla="*/ 0 w 235"/>
                  <a:gd name="T55" fmla="*/ 1 h 84"/>
                  <a:gd name="T56" fmla="*/ 0 w 235"/>
                  <a:gd name="T57" fmla="*/ 1 h 84"/>
                  <a:gd name="T58" fmla="*/ 0 w 235"/>
                  <a:gd name="T59" fmla="*/ 1 h 84"/>
                  <a:gd name="T60" fmla="*/ 0 w 235"/>
                  <a:gd name="T61" fmla="*/ 1 h 84"/>
                  <a:gd name="T62" fmla="*/ 0 w 235"/>
                  <a:gd name="T63" fmla="*/ 1 h 84"/>
                  <a:gd name="T64" fmla="*/ 0 w 235"/>
                  <a:gd name="T65" fmla="*/ 1 h 84"/>
                  <a:gd name="T66" fmla="*/ 0 w 235"/>
                  <a:gd name="T67" fmla="*/ 1 h 84"/>
                  <a:gd name="T68" fmla="*/ 0 w 235"/>
                  <a:gd name="T69" fmla="*/ 1 h 84"/>
                  <a:gd name="T70" fmla="*/ 0 w 235"/>
                  <a:gd name="T71" fmla="*/ 1 h 84"/>
                  <a:gd name="T72" fmla="*/ 0 w 235"/>
                  <a:gd name="T73" fmla="*/ 1 h 84"/>
                  <a:gd name="T74" fmla="*/ 0 w 235"/>
                  <a:gd name="T75" fmla="*/ 0 h 84"/>
                  <a:gd name="T76" fmla="*/ 0 w 235"/>
                  <a:gd name="T77" fmla="*/ 0 h 84"/>
                  <a:gd name="T78" fmla="*/ 0 w 235"/>
                  <a:gd name="T79" fmla="*/ 0 h 84"/>
                  <a:gd name="T80" fmla="*/ 0 w 235"/>
                  <a:gd name="T81" fmla="*/ 0 h 84"/>
                  <a:gd name="T82" fmla="*/ 0 w 235"/>
                  <a:gd name="T83" fmla="*/ 0 h 84"/>
                  <a:gd name="T84" fmla="*/ 0 w 235"/>
                  <a:gd name="T85" fmla="*/ 0 h 84"/>
                  <a:gd name="T86" fmla="*/ 0 w 235"/>
                  <a:gd name="T87" fmla="*/ 0 h 84"/>
                  <a:gd name="T88" fmla="*/ 0 w 235"/>
                  <a:gd name="T89" fmla="*/ 0 h 84"/>
                  <a:gd name="T90" fmla="*/ 0 w 235"/>
                  <a:gd name="T91" fmla="*/ 0 h 84"/>
                  <a:gd name="T92" fmla="*/ 0 w 235"/>
                  <a:gd name="T93" fmla="*/ 0 h 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35"/>
                  <a:gd name="T142" fmla="*/ 0 h 84"/>
                  <a:gd name="T143" fmla="*/ 235 w 235"/>
                  <a:gd name="T144" fmla="*/ 84 h 8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35" h="84">
                    <a:moveTo>
                      <a:pt x="235" y="0"/>
                    </a:moveTo>
                    <a:lnTo>
                      <a:pt x="233" y="39"/>
                    </a:lnTo>
                    <a:lnTo>
                      <a:pt x="233" y="40"/>
                    </a:lnTo>
                    <a:lnTo>
                      <a:pt x="230" y="47"/>
                    </a:lnTo>
                    <a:lnTo>
                      <a:pt x="224" y="51"/>
                    </a:lnTo>
                    <a:lnTo>
                      <a:pt x="213" y="54"/>
                    </a:lnTo>
                    <a:lnTo>
                      <a:pt x="201" y="54"/>
                    </a:lnTo>
                    <a:lnTo>
                      <a:pt x="193" y="54"/>
                    </a:lnTo>
                    <a:lnTo>
                      <a:pt x="186" y="53"/>
                    </a:lnTo>
                    <a:lnTo>
                      <a:pt x="185" y="53"/>
                    </a:lnTo>
                    <a:lnTo>
                      <a:pt x="182" y="75"/>
                    </a:lnTo>
                    <a:lnTo>
                      <a:pt x="180" y="76"/>
                    </a:lnTo>
                    <a:lnTo>
                      <a:pt x="174" y="79"/>
                    </a:lnTo>
                    <a:lnTo>
                      <a:pt x="161" y="83"/>
                    </a:lnTo>
                    <a:lnTo>
                      <a:pt x="143" y="84"/>
                    </a:lnTo>
                    <a:lnTo>
                      <a:pt x="122" y="83"/>
                    </a:lnTo>
                    <a:lnTo>
                      <a:pt x="108" y="78"/>
                    </a:lnTo>
                    <a:lnTo>
                      <a:pt x="100" y="75"/>
                    </a:lnTo>
                    <a:lnTo>
                      <a:pt x="99" y="73"/>
                    </a:lnTo>
                    <a:lnTo>
                      <a:pt x="96" y="73"/>
                    </a:lnTo>
                    <a:lnTo>
                      <a:pt x="86" y="72"/>
                    </a:lnTo>
                    <a:lnTo>
                      <a:pt x="72" y="70"/>
                    </a:lnTo>
                    <a:lnTo>
                      <a:pt x="56" y="67"/>
                    </a:lnTo>
                    <a:lnTo>
                      <a:pt x="39" y="62"/>
                    </a:lnTo>
                    <a:lnTo>
                      <a:pt x="24" y="56"/>
                    </a:lnTo>
                    <a:lnTo>
                      <a:pt x="13" y="47"/>
                    </a:lnTo>
                    <a:lnTo>
                      <a:pt x="5" y="36"/>
                    </a:lnTo>
                    <a:lnTo>
                      <a:pt x="0" y="20"/>
                    </a:lnTo>
                    <a:lnTo>
                      <a:pt x="2" y="15"/>
                    </a:lnTo>
                    <a:lnTo>
                      <a:pt x="6" y="18"/>
                    </a:lnTo>
                    <a:lnTo>
                      <a:pt x="8" y="20"/>
                    </a:lnTo>
                    <a:lnTo>
                      <a:pt x="10" y="18"/>
                    </a:lnTo>
                    <a:lnTo>
                      <a:pt x="14" y="17"/>
                    </a:lnTo>
                    <a:lnTo>
                      <a:pt x="22" y="14"/>
                    </a:lnTo>
                    <a:lnTo>
                      <a:pt x="31" y="9"/>
                    </a:lnTo>
                    <a:lnTo>
                      <a:pt x="44" y="6"/>
                    </a:lnTo>
                    <a:lnTo>
                      <a:pt x="58" y="3"/>
                    </a:lnTo>
                    <a:lnTo>
                      <a:pt x="75" y="0"/>
                    </a:lnTo>
                    <a:lnTo>
                      <a:pt x="92" y="0"/>
                    </a:lnTo>
                    <a:lnTo>
                      <a:pt x="113" y="0"/>
                    </a:lnTo>
                    <a:lnTo>
                      <a:pt x="136" y="0"/>
                    </a:lnTo>
                    <a:lnTo>
                      <a:pt x="160" y="0"/>
                    </a:lnTo>
                    <a:lnTo>
                      <a:pt x="183" y="0"/>
                    </a:lnTo>
                    <a:lnTo>
                      <a:pt x="204" y="0"/>
                    </a:lnTo>
                    <a:lnTo>
                      <a:pt x="219" y="0"/>
                    </a:lnTo>
                    <a:lnTo>
                      <a:pt x="230" y="0"/>
                    </a:lnTo>
                    <a:lnTo>
                      <a:pt x="235" y="0"/>
                    </a:lnTo>
                    <a:close/>
                  </a:path>
                </a:pathLst>
              </a:custGeom>
              <a:solidFill>
                <a:srgbClr val="7F2600"/>
              </a:solidFill>
              <a:ln w="9525">
                <a:noFill/>
                <a:round/>
                <a:headEnd/>
                <a:tailEnd/>
              </a:ln>
            </p:spPr>
            <p:txBody>
              <a:bodyPr/>
              <a:lstStyle/>
              <a:p>
                <a:endParaRPr lang="en-US"/>
              </a:p>
            </p:txBody>
          </p:sp>
          <p:sp>
            <p:nvSpPr>
              <p:cNvPr id="24619" name="Freeform 8"/>
              <p:cNvSpPr>
                <a:spLocks/>
              </p:cNvSpPr>
              <p:nvPr/>
            </p:nvSpPr>
            <p:spPr bwMode="auto">
              <a:xfrm>
                <a:off x="2065" y="3823"/>
                <a:ext cx="12" cy="25"/>
              </a:xfrm>
              <a:custGeom>
                <a:avLst/>
                <a:gdLst>
                  <a:gd name="T0" fmla="*/ 1 w 24"/>
                  <a:gd name="T1" fmla="*/ 1 h 50"/>
                  <a:gd name="T2" fmla="*/ 1 w 24"/>
                  <a:gd name="T3" fmla="*/ 1 h 50"/>
                  <a:gd name="T4" fmla="*/ 1 w 24"/>
                  <a:gd name="T5" fmla="*/ 0 h 50"/>
                  <a:gd name="T6" fmla="*/ 1 w 24"/>
                  <a:gd name="T7" fmla="*/ 0 h 50"/>
                  <a:gd name="T8" fmla="*/ 0 w 24"/>
                  <a:gd name="T9" fmla="*/ 1 h 50"/>
                  <a:gd name="T10" fmla="*/ 0 w 24"/>
                  <a:gd name="T11" fmla="*/ 1 h 50"/>
                  <a:gd name="T12" fmla="*/ 0 w 24"/>
                  <a:gd name="T13" fmla="*/ 1 h 50"/>
                  <a:gd name="T14" fmla="*/ 1 w 24"/>
                  <a:gd name="T15" fmla="*/ 1 h 50"/>
                  <a:gd name="T16" fmla="*/ 1 w 24"/>
                  <a:gd name="T17" fmla="*/ 1 h 50"/>
                  <a:gd name="T18" fmla="*/ 1 w 24"/>
                  <a:gd name="T19" fmla="*/ 1 h 50"/>
                  <a:gd name="T20" fmla="*/ 1 w 24"/>
                  <a:gd name="T21" fmla="*/ 1 h 50"/>
                  <a:gd name="T22" fmla="*/ 1 w 24"/>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50"/>
                  <a:gd name="T38" fmla="*/ 24 w 24"/>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50">
                    <a:moveTo>
                      <a:pt x="22" y="40"/>
                    </a:moveTo>
                    <a:lnTo>
                      <a:pt x="22" y="39"/>
                    </a:lnTo>
                    <a:lnTo>
                      <a:pt x="24" y="0"/>
                    </a:lnTo>
                    <a:lnTo>
                      <a:pt x="2" y="0"/>
                    </a:lnTo>
                    <a:lnTo>
                      <a:pt x="0" y="39"/>
                    </a:lnTo>
                    <a:lnTo>
                      <a:pt x="0" y="37"/>
                    </a:lnTo>
                    <a:lnTo>
                      <a:pt x="0" y="39"/>
                    </a:lnTo>
                    <a:lnTo>
                      <a:pt x="4" y="47"/>
                    </a:lnTo>
                    <a:lnTo>
                      <a:pt x="11" y="50"/>
                    </a:lnTo>
                    <a:lnTo>
                      <a:pt x="19" y="47"/>
                    </a:lnTo>
                    <a:lnTo>
                      <a:pt x="22" y="39"/>
                    </a:lnTo>
                    <a:lnTo>
                      <a:pt x="22" y="40"/>
                    </a:lnTo>
                    <a:close/>
                  </a:path>
                </a:pathLst>
              </a:custGeom>
              <a:solidFill>
                <a:srgbClr val="000000"/>
              </a:solidFill>
              <a:ln w="9525">
                <a:noFill/>
                <a:round/>
                <a:headEnd/>
                <a:tailEnd/>
              </a:ln>
            </p:spPr>
            <p:txBody>
              <a:bodyPr/>
              <a:lstStyle/>
              <a:p>
                <a:endParaRPr lang="en-US"/>
              </a:p>
            </p:txBody>
          </p:sp>
          <p:sp>
            <p:nvSpPr>
              <p:cNvPr id="24620" name="Freeform 9"/>
              <p:cNvSpPr>
                <a:spLocks/>
              </p:cNvSpPr>
              <p:nvPr/>
            </p:nvSpPr>
            <p:spPr bwMode="auto">
              <a:xfrm>
                <a:off x="2060" y="3841"/>
                <a:ext cx="16" cy="15"/>
              </a:xfrm>
              <a:custGeom>
                <a:avLst/>
                <a:gdLst>
                  <a:gd name="T0" fmla="*/ 0 w 33"/>
                  <a:gd name="T1" fmla="*/ 1 h 29"/>
                  <a:gd name="T2" fmla="*/ 0 w 33"/>
                  <a:gd name="T3" fmla="*/ 1 h 29"/>
                  <a:gd name="T4" fmla="*/ 0 w 33"/>
                  <a:gd name="T5" fmla="*/ 1 h 29"/>
                  <a:gd name="T6" fmla="*/ 0 w 33"/>
                  <a:gd name="T7" fmla="*/ 1 h 29"/>
                  <a:gd name="T8" fmla="*/ 0 w 33"/>
                  <a:gd name="T9" fmla="*/ 1 h 29"/>
                  <a:gd name="T10" fmla="*/ 0 w 33"/>
                  <a:gd name="T11" fmla="*/ 1 h 29"/>
                  <a:gd name="T12" fmla="*/ 0 w 33"/>
                  <a:gd name="T13" fmla="*/ 1 h 29"/>
                  <a:gd name="T14" fmla="*/ 0 w 33"/>
                  <a:gd name="T15" fmla="*/ 0 h 29"/>
                  <a:gd name="T16" fmla="*/ 0 w 33"/>
                  <a:gd name="T17" fmla="*/ 1 h 29"/>
                  <a:gd name="T18" fmla="*/ 0 w 33"/>
                  <a:gd name="T19" fmla="*/ 1 h 29"/>
                  <a:gd name="T20" fmla="*/ 0 w 33"/>
                  <a:gd name="T21" fmla="*/ 1 h 29"/>
                  <a:gd name="T22" fmla="*/ 0 w 33"/>
                  <a:gd name="T23" fmla="*/ 1 h 29"/>
                  <a:gd name="T24" fmla="*/ 0 w 33"/>
                  <a:gd name="T25" fmla="*/ 1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29"/>
                  <a:gd name="T41" fmla="*/ 33 w 33"/>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29">
                    <a:moveTo>
                      <a:pt x="4" y="29"/>
                    </a:moveTo>
                    <a:lnTo>
                      <a:pt x="4" y="29"/>
                    </a:lnTo>
                    <a:lnTo>
                      <a:pt x="18" y="25"/>
                    </a:lnTo>
                    <a:lnTo>
                      <a:pt x="27" y="18"/>
                    </a:lnTo>
                    <a:lnTo>
                      <a:pt x="33" y="9"/>
                    </a:lnTo>
                    <a:lnTo>
                      <a:pt x="33" y="4"/>
                    </a:lnTo>
                    <a:lnTo>
                      <a:pt x="11" y="1"/>
                    </a:lnTo>
                    <a:lnTo>
                      <a:pt x="11" y="0"/>
                    </a:lnTo>
                    <a:lnTo>
                      <a:pt x="11" y="3"/>
                    </a:lnTo>
                    <a:lnTo>
                      <a:pt x="8" y="6"/>
                    </a:lnTo>
                    <a:lnTo>
                      <a:pt x="0" y="7"/>
                    </a:lnTo>
                    <a:lnTo>
                      <a:pt x="4" y="29"/>
                    </a:lnTo>
                    <a:close/>
                  </a:path>
                </a:pathLst>
              </a:custGeom>
              <a:solidFill>
                <a:srgbClr val="000000"/>
              </a:solidFill>
              <a:ln w="9525">
                <a:noFill/>
                <a:round/>
                <a:headEnd/>
                <a:tailEnd/>
              </a:ln>
            </p:spPr>
            <p:txBody>
              <a:bodyPr/>
              <a:lstStyle/>
              <a:p>
                <a:endParaRPr lang="en-US"/>
              </a:p>
            </p:txBody>
          </p:sp>
          <p:sp>
            <p:nvSpPr>
              <p:cNvPr id="24621" name="Freeform 10"/>
              <p:cNvSpPr>
                <a:spLocks/>
              </p:cNvSpPr>
              <p:nvPr/>
            </p:nvSpPr>
            <p:spPr bwMode="auto">
              <a:xfrm>
                <a:off x="2041" y="3844"/>
                <a:ext cx="20" cy="12"/>
              </a:xfrm>
              <a:custGeom>
                <a:avLst/>
                <a:gdLst>
                  <a:gd name="T0" fmla="*/ 0 w 41"/>
                  <a:gd name="T1" fmla="*/ 1 h 23"/>
                  <a:gd name="T2" fmla="*/ 0 w 41"/>
                  <a:gd name="T3" fmla="*/ 1 h 23"/>
                  <a:gd name="T4" fmla="*/ 0 w 41"/>
                  <a:gd name="T5" fmla="*/ 1 h 23"/>
                  <a:gd name="T6" fmla="*/ 0 w 41"/>
                  <a:gd name="T7" fmla="*/ 1 h 23"/>
                  <a:gd name="T8" fmla="*/ 0 w 41"/>
                  <a:gd name="T9" fmla="*/ 1 h 23"/>
                  <a:gd name="T10" fmla="*/ 0 w 41"/>
                  <a:gd name="T11" fmla="*/ 1 h 23"/>
                  <a:gd name="T12" fmla="*/ 0 w 41"/>
                  <a:gd name="T13" fmla="*/ 1 h 23"/>
                  <a:gd name="T14" fmla="*/ 0 w 41"/>
                  <a:gd name="T15" fmla="*/ 1 h 23"/>
                  <a:gd name="T16" fmla="*/ 0 w 41"/>
                  <a:gd name="T17" fmla="*/ 1 h 23"/>
                  <a:gd name="T18" fmla="*/ 0 w 41"/>
                  <a:gd name="T19" fmla="*/ 0 h 23"/>
                  <a:gd name="T20" fmla="*/ 0 w 41"/>
                  <a:gd name="T21" fmla="*/ 0 h 23"/>
                  <a:gd name="T22" fmla="*/ 0 w 41"/>
                  <a:gd name="T23" fmla="*/ 1 h 23"/>
                  <a:gd name="T24" fmla="*/ 0 w 41"/>
                  <a:gd name="T25" fmla="*/ 0 h 23"/>
                  <a:gd name="T26" fmla="*/ 0 w 41"/>
                  <a:gd name="T27" fmla="*/ 1 h 23"/>
                  <a:gd name="T28" fmla="*/ 0 w 41"/>
                  <a:gd name="T29" fmla="*/ 1 h 23"/>
                  <a:gd name="T30" fmla="*/ 0 w 41"/>
                  <a:gd name="T31" fmla="*/ 1 h 23"/>
                  <a:gd name="T32" fmla="*/ 0 w 41"/>
                  <a:gd name="T33" fmla="*/ 1 h 23"/>
                  <a:gd name="T34" fmla="*/ 0 w 41"/>
                  <a:gd name="T35" fmla="*/ 1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23"/>
                  <a:gd name="T56" fmla="*/ 41 w 41"/>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23">
                    <a:moveTo>
                      <a:pt x="22" y="12"/>
                    </a:moveTo>
                    <a:lnTo>
                      <a:pt x="8" y="22"/>
                    </a:lnTo>
                    <a:lnTo>
                      <a:pt x="11" y="22"/>
                    </a:lnTo>
                    <a:lnTo>
                      <a:pt x="17" y="23"/>
                    </a:lnTo>
                    <a:lnTo>
                      <a:pt x="27" y="23"/>
                    </a:lnTo>
                    <a:lnTo>
                      <a:pt x="41" y="23"/>
                    </a:lnTo>
                    <a:lnTo>
                      <a:pt x="37" y="1"/>
                    </a:lnTo>
                    <a:lnTo>
                      <a:pt x="27" y="1"/>
                    </a:lnTo>
                    <a:lnTo>
                      <a:pt x="20" y="1"/>
                    </a:lnTo>
                    <a:lnTo>
                      <a:pt x="14" y="0"/>
                    </a:lnTo>
                    <a:lnTo>
                      <a:pt x="0" y="9"/>
                    </a:lnTo>
                    <a:lnTo>
                      <a:pt x="14" y="0"/>
                    </a:lnTo>
                    <a:lnTo>
                      <a:pt x="5" y="1"/>
                    </a:lnTo>
                    <a:lnTo>
                      <a:pt x="0" y="8"/>
                    </a:lnTo>
                    <a:lnTo>
                      <a:pt x="1" y="17"/>
                    </a:lnTo>
                    <a:lnTo>
                      <a:pt x="8" y="22"/>
                    </a:lnTo>
                    <a:lnTo>
                      <a:pt x="22" y="12"/>
                    </a:lnTo>
                    <a:close/>
                  </a:path>
                </a:pathLst>
              </a:custGeom>
              <a:solidFill>
                <a:srgbClr val="000000"/>
              </a:solidFill>
              <a:ln w="9525">
                <a:noFill/>
                <a:round/>
                <a:headEnd/>
                <a:tailEnd/>
              </a:ln>
            </p:spPr>
            <p:txBody>
              <a:bodyPr/>
              <a:lstStyle/>
              <a:p>
                <a:endParaRPr lang="en-US"/>
              </a:p>
            </p:txBody>
          </p:sp>
          <p:sp>
            <p:nvSpPr>
              <p:cNvPr id="24622" name="Freeform 11"/>
              <p:cNvSpPr>
                <a:spLocks/>
              </p:cNvSpPr>
              <p:nvPr/>
            </p:nvSpPr>
            <p:spPr bwMode="auto">
              <a:xfrm>
                <a:off x="2039" y="3849"/>
                <a:ext cx="13" cy="17"/>
              </a:xfrm>
              <a:custGeom>
                <a:avLst/>
                <a:gdLst>
                  <a:gd name="T0" fmla="*/ 1 w 25"/>
                  <a:gd name="T1" fmla="*/ 0 h 35"/>
                  <a:gd name="T2" fmla="*/ 1 w 25"/>
                  <a:gd name="T3" fmla="*/ 0 h 35"/>
                  <a:gd name="T4" fmla="*/ 1 w 25"/>
                  <a:gd name="T5" fmla="*/ 0 h 35"/>
                  <a:gd name="T6" fmla="*/ 1 w 25"/>
                  <a:gd name="T7" fmla="*/ 0 h 35"/>
                  <a:gd name="T8" fmla="*/ 0 w 25"/>
                  <a:gd name="T9" fmla="*/ 0 h 35"/>
                  <a:gd name="T10" fmla="*/ 1 w 25"/>
                  <a:gd name="T11" fmla="*/ 0 h 35"/>
                  <a:gd name="T12" fmla="*/ 0 w 25"/>
                  <a:gd name="T13" fmla="*/ 0 h 35"/>
                  <a:gd name="T14" fmla="*/ 1 w 25"/>
                  <a:gd name="T15" fmla="*/ 0 h 35"/>
                  <a:gd name="T16" fmla="*/ 1 w 25"/>
                  <a:gd name="T17" fmla="*/ 0 h 35"/>
                  <a:gd name="T18" fmla="*/ 1 w 25"/>
                  <a:gd name="T19" fmla="*/ 0 h 35"/>
                  <a:gd name="T20" fmla="*/ 1 w 25"/>
                  <a:gd name="T21" fmla="*/ 0 h 35"/>
                  <a:gd name="T22" fmla="*/ 1 w 25"/>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
                  <a:gd name="T37" fmla="*/ 0 h 35"/>
                  <a:gd name="T38" fmla="*/ 25 w 25"/>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 h="35">
                    <a:moveTo>
                      <a:pt x="19" y="30"/>
                    </a:moveTo>
                    <a:lnTo>
                      <a:pt x="22" y="25"/>
                    </a:lnTo>
                    <a:lnTo>
                      <a:pt x="25" y="3"/>
                    </a:lnTo>
                    <a:lnTo>
                      <a:pt x="3" y="0"/>
                    </a:lnTo>
                    <a:lnTo>
                      <a:pt x="0" y="22"/>
                    </a:lnTo>
                    <a:lnTo>
                      <a:pt x="3" y="18"/>
                    </a:lnTo>
                    <a:lnTo>
                      <a:pt x="0" y="22"/>
                    </a:lnTo>
                    <a:lnTo>
                      <a:pt x="3" y="30"/>
                    </a:lnTo>
                    <a:lnTo>
                      <a:pt x="9" y="35"/>
                    </a:lnTo>
                    <a:lnTo>
                      <a:pt x="17" y="33"/>
                    </a:lnTo>
                    <a:lnTo>
                      <a:pt x="22" y="25"/>
                    </a:lnTo>
                    <a:lnTo>
                      <a:pt x="19" y="30"/>
                    </a:lnTo>
                    <a:close/>
                  </a:path>
                </a:pathLst>
              </a:custGeom>
              <a:solidFill>
                <a:srgbClr val="000000"/>
              </a:solidFill>
              <a:ln w="9525">
                <a:noFill/>
                <a:round/>
                <a:headEnd/>
                <a:tailEnd/>
              </a:ln>
            </p:spPr>
            <p:txBody>
              <a:bodyPr/>
              <a:lstStyle/>
              <a:p>
                <a:endParaRPr lang="en-US"/>
              </a:p>
            </p:txBody>
          </p:sp>
          <p:sp>
            <p:nvSpPr>
              <p:cNvPr id="24623" name="Freeform 12"/>
              <p:cNvSpPr>
                <a:spLocks/>
              </p:cNvSpPr>
              <p:nvPr/>
            </p:nvSpPr>
            <p:spPr bwMode="auto">
              <a:xfrm>
                <a:off x="2025" y="3856"/>
                <a:ext cx="24" cy="15"/>
              </a:xfrm>
              <a:custGeom>
                <a:avLst/>
                <a:gdLst>
                  <a:gd name="T0" fmla="*/ 0 w 47"/>
                  <a:gd name="T1" fmla="*/ 1 h 28"/>
                  <a:gd name="T2" fmla="*/ 0 w 47"/>
                  <a:gd name="T3" fmla="*/ 1 h 28"/>
                  <a:gd name="T4" fmla="*/ 1 w 47"/>
                  <a:gd name="T5" fmla="*/ 1 h 28"/>
                  <a:gd name="T6" fmla="*/ 1 w 47"/>
                  <a:gd name="T7" fmla="*/ 1 h 28"/>
                  <a:gd name="T8" fmla="*/ 1 w 47"/>
                  <a:gd name="T9" fmla="*/ 1 h 28"/>
                  <a:gd name="T10" fmla="*/ 1 w 47"/>
                  <a:gd name="T11" fmla="*/ 1 h 28"/>
                  <a:gd name="T12" fmla="*/ 1 w 47"/>
                  <a:gd name="T13" fmla="*/ 1 h 28"/>
                  <a:gd name="T14" fmla="*/ 1 w 47"/>
                  <a:gd name="T15" fmla="*/ 0 h 28"/>
                  <a:gd name="T16" fmla="*/ 1 w 47"/>
                  <a:gd name="T17" fmla="*/ 1 h 28"/>
                  <a:gd name="T18" fmla="*/ 1 w 47"/>
                  <a:gd name="T19" fmla="*/ 1 h 28"/>
                  <a:gd name="T20" fmla="*/ 0 w 47"/>
                  <a:gd name="T21" fmla="*/ 1 h 28"/>
                  <a:gd name="T22" fmla="*/ 0 w 47"/>
                  <a:gd name="T23" fmla="*/ 1 h 28"/>
                  <a:gd name="T24" fmla="*/ 0 w 47"/>
                  <a:gd name="T25" fmla="*/ 1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
                  <a:gd name="T40" fmla="*/ 0 h 28"/>
                  <a:gd name="T41" fmla="*/ 47 w 47"/>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 h="28">
                    <a:moveTo>
                      <a:pt x="0" y="28"/>
                    </a:moveTo>
                    <a:lnTo>
                      <a:pt x="0" y="28"/>
                    </a:lnTo>
                    <a:lnTo>
                      <a:pt x="20" y="27"/>
                    </a:lnTo>
                    <a:lnTo>
                      <a:pt x="34" y="23"/>
                    </a:lnTo>
                    <a:lnTo>
                      <a:pt x="43" y="19"/>
                    </a:lnTo>
                    <a:lnTo>
                      <a:pt x="47" y="14"/>
                    </a:lnTo>
                    <a:lnTo>
                      <a:pt x="31" y="2"/>
                    </a:lnTo>
                    <a:lnTo>
                      <a:pt x="31" y="0"/>
                    </a:lnTo>
                    <a:lnTo>
                      <a:pt x="28" y="2"/>
                    </a:lnTo>
                    <a:lnTo>
                      <a:pt x="17" y="5"/>
                    </a:lnTo>
                    <a:lnTo>
                      <a:pt x="0" y="6"/>
                    </a:lnTo>
                    <a:lnTo>
                      <a:pt x="0" y="28"/>
                    </a:lnTo>
                    <a:close/>
                  </a:path>
                </a:pathLst>
              </a:custGeom>
              <a:solidFill>
                <a:srgbClr val="000000"/>
              </a:solidFill>
              <a:ln w="9525">
                <a:noFill/>
                <a:round/>
                <a:headEnd/>
                <a:tailEnd/>
              </a:ln>
            </p:spPr>
            <p:txBody>
              <a:bodyPr/>
              <a:lstStyle/>
              <a:p>
                <a:endParaRPr lang="en-US"/>
              </a:p>
            </p:txBody>
          </p:sp>
          <p:sp>
            <p:nvSpPr>
              <p:cNvPr id="24624" name="Freeform 13"/>
              <p:cNvSpPr>
                <a:spLocks/>
              </p:cNvSpPr>
              <p:nvPr/>
            </p:nvSpPr>
            <p:spPr bwMode="auto">
              <a:xfrm>
                <a:off x="1998" y="3854"/>
                <a:ext cx="27" cy="17"/>
              </a:xfrm>
              <a:custGeom>
                <a:avLst/>
                <a:gdLst>
                  <a:gd name="T0" fmla="*/ 0 w 55"/>
                  <a:gd name="T1" fmla="*/ 1 h 33"/>
                  <a:gd name="T2" fmla="*/ 0 w 55"/>
                  <a:gd name="T3" fmla="*/ 1 h 33"/>
                  <a:gd name="T4" fmla="*/ 0 w 55"/>
                  <a:gd name="T5" fmla="*/ 1 h 33"/>
                  <a:gd name="T6" fmla="*/ 0 w 55"/>
                  <a:gd name="T7" fmla="*/ 1 h 33"/>
                  <a:gd name="T8" fmla="*/ 0 w 55"/>
                  <a:gd name="T9" fmla="*/ 1 h 33"/>
                  <a:gd name="T10" fmla="*/ 0 w 55"/>
                  <a:gd name="T11" fmla="*/ 1 h 33"/>
                  <a:gd name="T12" fmla="*/ 0 w 55"/>
                  <a:gd name="T13" fmla="*/ 1 h 33"/>
                  <a:gd name="T14" fmla="*/ 0 w 55"/>
                  <a:gd name="T15" fmla="*/ 1 h 33"/>
                  <a:gd name="T16" fmla="*/ 0 w 55"/>
                  <a:gd name="T17" fmla="*/ 1 h 33"/>
                  <a:gd name="T18" fmla="*/ 0 w 55"/>
                  <a:gd name="T19" fmla="*/ 1 h 33"/>
                  <a:gd name="T20" fmla="*/ 0 w 55"/>
                  <a:gd name="T21" fmla="*/ 1 h 33"/>
                  <a:gd name="T22" fmla="*/ 0 w 55"/>
                  <a:gd name="T23" fmla="*/ 0 h 33"/>
                  <a:gd name="T24" fmla="*/ 0 w 55"/>
                  <a:gd name="T25" fmla="*/ 1 h 33"/>
                  <a:gd name="T26" fmla="*/ 0 w 55"/>
                  <a:gd name="T27" fmla="*/ 0 h 33"/>
                  <a:gd name="T28" fmla="*/ 0 w 55"/>
                  <a:gd name="T29" fmla="*/ 1 h 33"/>
                  <a:gd name="T30" fmla="*/ 0 w 55"/>
                  <a:gd name="T31" fmla="*/ 1 h 33"/>
                  <a:gd name="T32" fmla="*/ 0 w 55"/>
                  <a:gd name="T33" fmla="*/ 1 h 33"/>
                  <a:gd name="T34" fmla="*/ 0 w 55"/>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5"/>
                  <a:gd name="T55" fmla="*/ 0 h 33"/>
                  <a:gd name="T56" fmla="*/ 55 w 55"/>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5" h="33">
                    <a:moveTo>
                      <a:pt x="11" y="22"/>
                    </a:moveTo>
                    <a:lnTo>
                      <a:pt x="3" y="19"/>
                    </a:lnTo>
                    <a:lnTo>
                      <a:pt x="8" y="22"/>
                    </a:lnTo>
                    <a:lnTo>
                      <a:pt x="17" y="27"/>
                    </a:lnTo>
                    <a:lnTo>
                      <a:pt x="33" y="32"/>
                    </a:lnTo>
                    <a:lnTo>
                      <a:pt x="55" y="33"/>
                    </a:lnTo>
                    <a:lnTo>
                      <a:pt x="55" y="11"/>
                    </a:lnTo>
                    <a:lnTo>
                      <a:pt x="36" y="10"/>
                    </a:lnTo>
                    <a:lnTo>
                      <a:pt x="23" y="5"/>
                    </a:lnTo>
                    <a:lnTo>
                      <a:pt x="17" y="3"/>
                    </a:lnTo>
                    <a:lnTo>
                      <a:pt x="19" y="3"/>
                    </a:lnTo>
                    <a:lnTo>
                      <a:pt x="11" y="0"/>
                    </a:lnTo>
                    <a:lnTo>
                      <a:pt x="19" y="3"/>
                    </a:lnTo>
                    <a:lnTo>
                      <a:pt x="11" y="0"/>
                    </a:lnTo>
                    <a:lnTo>
                      <a:pt x="4" y="3"/>
                    </a:lnTo>
                    <a:lnTo>
                      <a:pt x="0" y="11"/>
                    </a:lnTo>
                    <a:lnTo>
                      <a:pt x="3" y="19"/>
                    </a:lnTo>
                    <a:lnTo>
                      <a:pt x="11" y="22"/>
                    </a:lnTo>
                    <a:close/>
                  </a:path>
                </a:pathLst>
              </a:custGeom>
              <a:solidFill>
                <a:srgbClr val="000000"/>
              </a:solidFill>
              <a:ln w="9525">
                <a:noFill/>
                <a:round/>
                <a:headEnd/>
                <a:tailEnd/>
              </a:ln>
            </p:spPr>
            <p:txBody>
              <a:bodyPr/>
              <a:lstStyle/>
              <a:p>
                <a:endParaRPr lang="en-US"/>
              </a:p>
            </p:txBody>
          </p:sp>
          <p:sp>
            <p:nvSpPr>
              <p:cNvPr id="24625" name="Freeform 14"/>
              <p:cNvSpPr>
                <a:spLocks/>
              </p:cNvSpPr>
              <p:nvPr/>
            </p:nvSpPr>
            <p:spPr bwMode="auto">
              <a:xfrm>
                <a:off x="1951" y="3838"/>
                <a:ext cx="52" cy="27"/>
              </a:xfrm>
              <a:custGeom>
                <a:avLst/>
                <a:gdLst>
                  <a:gd name="T0" fmla="*/ 0 w 105"/>
                  <a:gd name="T1" fmla="*/ 1 h 53"/>
                  <a:gd name="T2" fmla="*/ 0 w 105"/>
                  <a:gd name="T3" fmla="*/ 1 h 53"/>
                  <a:gd name="T4" fmla="*/ 0 w 105"/>
                  <a:gd name="T5" fmla="*/ 1 h 53"/>
                  <a:gd name="T6" fmla="*/ 0 w 105"/>
                  <a:gd name="T7" fmla="*/ 1 h 53"/>
                  <a:gd name="T8" fmla="*/ 0 w 105"/>
                  <a:gd name="T9" fmla="*/ 1 h 53"/>
                  <a:gd name="T10" fmla="*/ 0 w 105"/>
                  <a:gd name="T11" fmla="*/ 1 h 53"/>
                  <a:gd name="T12" fmla="*/ 0 w 105"/>
                  <a:gd name="T13" fmla="*/ 1 h 53"/>
                  <a:gd name="T14" fmla="*/ 0 w 105"/>
                  <a:gd name="T15" fmla="*/ 1 h 53"/>
                  <a:gd name="T16" fmla="*/ 0 w 105"/>
                  <a:gd name="T17" fmla="*/ 1 h 53"/>
                  <a:gd name="T18" fmla="*/ 0 w 105"/>
                  <a:gd name="T19" fmla="*/ 1 h 53"/>
                  <a:gd name="T20" fmla="*/ 0 w 105"/>
                  <a:gd name="T21" fmla="*/ 1 h 53"/>
                  <a:gd name="T22" fmla="*/ 0 w 105"/>
                  <a:gd name="T23" fmla="*/ 1 h 53"/>
                  <a:gd name="T24" fmla="*/ 0 w 105"/>
                  <a:gd name="T25" fmla="*/ 1 h 53"/>
                  <a:gd name="T26" fmla="*/ 0 w 105"/>
                  <a:gd name="T27" fmla="*/ 1 h 53"/>
                  <a:gd name="T28" fmla="*/ 0 w 105"/>
                  <a:gd name="T29" fmla="*/ 1 h 53"/>
                  <a:gd name="T30" fmla="*/ 0 w 105"/>
                  <a:gd name="T31" fmla="*/ 1 h 53"/>
                  <a:gd name="T32" fmla="*/ 0 w 105"/>
                  <a:gd name="T33" fmla="*/ 1 h 53"/>
                  <a:gd name="T34" fmla="*/ 0 w 105"/>
                  <a:gd name="T35" fmla="*/ 1 h 53"/>
                  <a:gd name="T36" fmla="*/ 0 w 105"/>
                  <a:gd name="T37" fmla="*/ 1 h 53"/>
                  <a:gd name="T38" fmla="*/ 0 w 105"/>
                  <a:gd name="T39" fmla="*/ 0 h 53"/>
                  <a:gd name="T40" fmla="*/ 0 w 105"/>
                  <a:gd name="T41" fmla="*/ 1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
                  <a:gd name="T64" fmla="*/ 0 h 53"/>
                  <a:gd name="T65" fmla="*/ 105 w 105"/>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 h="53">
                    <a:moveTo>
                      <a:pt x="1" y="9"/>
                    </a:moveTo>
                    <a:lnTo>
                      <a:pt x="0" y="8"/>
                    </a:lnTo>
                    <a:lnTo>
                      <a:pt x="11" y="23"/>
                    </a:lnTo>
                    <a:lnTo>
                      <a:pt x="23" y="34"/>
                    </a:lnTo>
                    <a:lnTo>
                      <a:pt x="42" y="42"/>
                    </a:lnTo>
                    <a:lnTo>
                      <a:pt x="59" y="47"/>
                    </a:lnTo>
                    <a:lnTo>
                      <a:pt x="77" y="50"/>
                    </a:lnTo>
                    <a:lnTo>
                      <a:pt x="91" y="52"/>
                    </a:lnTo>
                    <a:lnTo>
                      <a:pt x="100" y="53"/>
                    </a:lnTo>
                    <a:lnTo>
                      <a:pt x="105" y="53"/>
                    </a:lnTo>
                    <a:lnTo>
                      <a:pt x="105" y="31"/>
                    </a:lnTo>
                    <a:lnTo>
                      <a:pt x="103" y="31"/>
                    </a:lnTo>
                    <a:lnTo>
                      <a:pt x="94" y="30"/>
                    </a:lnTo>
                    <a:lnTo>
                      <a:pt x="80" y="28"/>
                    </a:lnTo>
                    <a:lnTo>
                      <a:pt x="66" y="25"/>
                    </a:lnTo>
                    <a:lnTo>
                      <a:pt x="48" y="20"/>
                    </a:lnTo>
                    <a:lnTo>
                      <a:pt x="36" y="16"/>
                    </a:lnTo>
                    <a:lnTo>
                      <a:pt x="26" y="8"/>
                    </a:lnTo>
                    <a:lnTo>
                      <a:pt x="22" y="2"/>
                    </a:lnTo>
                    <a:lnTo>
                      <a:pt x="20" y="0"/>
                    </a:lnTo>
                    <a:lnTo>
                      <a:pt x="1" y="9"/>
                    </a:lnTo>
                    <a:close/>
                  </a:path>
                </a:pathLst>
              </a:custGeom>
              <a:solidFill>
                <a:srgbClr val="000000"/>
              </a:solidFill>
              <a:ln w="9525">
                <a:noFill/>
                <a:round/>
                <a:headEnd/>
                <a:tailEnd/>
              </a:ln>
            </p:spPr>
            <p:txBody>
              <a:bodyPr/>
              <a:lstStyle/>
              <a:p>
                <a:endParaRPr lang="en-US"/>
              </a:p>
            </p:txBody>
          </p:sp>
          <p:sp>
            <p:nvSpPr>
              <p:cNvPr id="24626" name="Freeform 15"/>
              <p:cNvSpPr>
                <a:spLocks/>
              </p:cNvSpPr>
              <p:nvPr/>
            </p:nvSpPr>
            <p:spPr bwMode="auto">
              <a:xfrm>
                <a:off x="1949" y="3825"/>
                <a:ext cx="14" cy="18"/>
              </a:xfrm>
              <a:custGeom>
                <a:avLst/>
                <a:gdLst>
                  <a:gd name="T0" fmla="*/ 0 w 30"/>
                  <a:gd name="T1" fmla="*/ 1 h 36"/>
                  <a:gd name="T2" fmla="*/ 0 w 30"/>
                  <a:gd name="T3" fmla="*/ 1 h 36"/>
                  <a:gd name="T4" fmla="*/ 0 w 30"/>
                  <a:gd name="T5" fmla="*/ 1 h 36"/>
                  <a:gd name="T6" fmla="*/ 0 w 30"/>
                  <a:gd name="T7" fmla="*/ 0 h 36"/>
                  <a:gd name="T8" fmla="*/ 0 w 30"/>
                  <a:gd name="T9" fmla="*/ 1 h 36"/>
                  <a:gd name="T10" fmla="*/ 0 w 30"/>
                  <a:gd name="T11" fmla="*/ 1 h 36"/>
                  <a:gd name="T12" fmla="*/ 0 w 30"/>
                  <a:gd name="T13" fmla="*/ 1 h 36"/>
                  <a:gd name="T14" fmla="*/ 0 w 30"/>
                  <a:gd name="T15" fmla="*/ 1 h 36"/>
                  <a:gd name="T16" fmla="*/ 0 w 30"/>
                  <a:gd name="T17" fmla="*/ 1 h 36"/>
                  <a:gd name="T18" fmla="*/ 0 w 30"/>
                  <a:gd name="T19" fmla="*/ 1 h 36"/>
                  <a:gd name="T20" fmla="*/ 0 w 30"/>
                  <a:gd name="T21" fmla="*/ 1 h 36"/>
                  <a:gd name="T22" fmla="*/ 0 w 30"/>
                  <a:gd name="T23" fmla="*/ 1 h 36"/>
                  <a:gd name="T24" fmla="*/ 0 w 30"/>
                  <a:gd name="T25" fmla="*/ 1 h 36"/>
                  <a:gd name="T26" fmla="*/ 0 w 30"/>
                  <a:gd name="T27" fmla="*/ 1 h 36"/>
                  <a:gd name="T28" fmla="*/ 0 w 30"/>
                  <a:gd name="T29" fmla="*/ 1 h 36"/>
                  <a:gd name="T30" fmla="*/ 0 w 30"/>
                  <a:gd name="T31" fmla="*/ 1 h 36"/>
                  <a:gd name="T32" fmla="*/ 0 w 30"/>
                  <a:gd name="T33" fmla="*/ 1 h 36"/>
                  <a:gd name="T34" fmla="*/ 0 w 30"/>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0"/>
                  <a:gd name="T55" fmla="*/ 0 h 36"/>
                  <a:gd name="T56" fmla="*/ 30 w 30"/>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0" h="36">
                    <a:moveTo>
                      <a:pt x="13" y="7"/>
                    </a:moveTo>
                    <a:lnTo>
                      <a:pt x="27" y="8"/>
                    </a:lnTo>
                    <a:lnTo>
                      <a:pt x="24" y="5"/>
                    </a:lnTo>
                    <a:lnTo>
                      <a:pt x="10" y="0"/>
                    </a:lnTo>
                    <a:lnTo>
                      <a:pt x="0" y="18"/>
                    </a:lnTo>
                    <a:lnTo>
                      <a:pt x="6" y="36"/>
                    </a:lnTo>
                    <a:lnTo>
                      <a:pt x="25" y="27"/>
                    </a:lnTo>
                    <a:lnTo>
                      <a:pt x="22" y="14"/>
                    </a:lnTo>
                    <a:lnTo>
                      <a:pt x="16" y="22"/>
                    </a:lnTo>
                    <a:lnTo>
                      <a:pt x="11" y="24"/>
                    </a:lnTo>
                    <a:lnTo>
                      <a:pt x="25" y="25"/>
                    </a:lnTo>
                    <a:lnTo>
                      <a:pt x="11" y="24"/>
                    </a:lnTo>
                    <a:lnTo>
                      <a:pt x="19" y="27"/>
                    </a:lnTo>
                    <a:lnTo>
                      <a:pt x="27" y="22"/>
                    </a:lnTo>
                    <a:lnTo>
                      <a:pt x="30" y="16"/>
                    </a:lnTo>
                    <a:lnTo>
                      <a:pt x="27" y="8"/>
                    </a:lnTo>
                    <a:lnTo>
                      <a:pt x="13" y="7"/>
                    </a:lnTo>
                    <a:close/>
                  </a:path>
                </a:pathLst>
              </a:custGeom>
              <a:solidFill>
                <a:srgbClr val="000000"/>
              </a:solidFill>
              <a:ln w="9525">
                <a:noFill/>
                <a:round/>
                <a:headEnd/>
                <a:tailEnd/>
              </a:ln>
            </p:spPr>
            <p:txBody>
              <a:bodyPr/>
              <a:lstStyle/>
              <a:p>
                <a:endParaRPr lang="en-US"/>
              </a:p>
            </p:txBody>
          </p:sp>
          <p:sp>
            <p:nvSpPr>
              <p:cNvPr id="24627" name="Freeform 16"/>
              <p:cNvSpPr>
                <a:spLocks/>
              </p:cNvSpPr>
              <p:nvPr/>
            </p:nvSpPr>
            <p:spPr bwMode="auto">
              <a:xfrm>
                <a:off x="1955" y="3817"/>
                <a:ext cx="45" cy="21"/>
              </a:xfrm>
              <a:custGeom>
                <a:avLst/>
                <a:gdLst>
                  <a:gd name="T0" fmla="*/ 1 w 90"/>
                  <a:gd name="T1" fmla="*/ 0 h 40"/>
                  <a:gd name="T2" fmla="*/ 1 w 90"/>
                  <a:gd name="T3" fmla="*/ 0 h 40"/>
                  <a:gd name="T4" fmla="*/ 1 w 90"/>
                  <a:gd name="T5" fmla="*/ 0 h 40"/>
                  <a:gd name="T6" fmla="*/ 1 w 90"/>
                  <a:gd name="T7" fmla="*/ 1 h 40"/>
                  <a:gd name="T8" fmla="*/ 1 w 90"/>
                  <a:gd name="T9" fmla="*/ 1 h 40"/>
                  <a:gd name="T10" fmla="*/ 1 w 90"/>
                  <a:gd name="T11" fmla="*/ 1 h 40"/>
                  <a:gd name="T12" fmla="*/ 1 w 90"/>
                  <a:gd name="T13" fmla="*/ 1 h 40"/>
                  <a:gd name="T14" fmla="*/ 1 w 90"/>
                  <a:gd name="T15" fmla="*/ 1 h 40"/>
                  <a:gd name="T16" fmla="*/ 1 w 90"/>
                  <a:gd name="T17" fmla="*/ 1 h 40"/>
                  <a:gd name="T18" fmla="*/ 0 w 90"/>
                  <a:gd name="T19" fmla="*/ 1 h 40"/>
                  <a:gd name="T20" fmla="*/ 1 w 90"/>
                  <a:gd name="T21" fmla="*/ 1 h 40"/>
                  <a:gd name="T22" fmla="*/ 1 w 90"/>
                  <a:gd name="T23" fmla="*/ 1 h 40"/>
                  <a:gd name="T24" fmla="*/ 1 w 90"/>
                  <a:gd name="T25" fmla="*/ 1 h 40"/>
                  <a:gd name="T26" fmla="*/ 1 w 90"/>
                  <a:gd name="T27" fmla="*/ 1 h 40"/>
                  <a:gd name="T28" fmla="*/ 1 w 90"/>
                  <a:gd name="T29" fmla="*/ 1 h 40"/>
                  <a:gd name="T30" fmla="*/ 1 w 90"/>
                  <a:gd name="T31" fmla="*/ 1 h 40"/>
                  <a:gd name="T32" fmla="*/ 1 w 90"/>
                  <a:gd name="T33" fmla="*/ 1 h 40"/>
                  <a:gd name="T34" fmla="*/ 1 w 90"/>
                  <a:gd name="T35" fmla="*/ 1 h 40"/>
                  <a:gd name="T36" fmla="*/ 1 w 90"/>
                  <a:gd name="T37" fmla="*/ 1 h 40"/>
                  <a:gd name="T38" fmla="*/ 1 w 90"/>
                  <a:gd name="T39" fmla="*/ 1 h 40"/>
                  <a:gd name="T40" fmla="*/ 1 w 90"/>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0"/>
                  <a:gd name="T64" fmla="*/ 0 h 40"/>
                  <a:gd name="T65" fmla="*/ 90 w 90"/>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0" h="40">
                    <a:moveTo>
                      <a:pt x="90" y="0"/>
                    </a:moveTo>
                    <a:lnTo>
                      <a:pt x="90" y="0"/>
                    </a:lnTo>
                    <a:lnTo>
                      <a:pt x="72" y="0"/>
                    </a:lnTo>
                    <a:lnTo>
                      <a:pt x="54" y="3"/>
                    </a:lnTo>
                    <a:lnTo>
                      <a:pt x="39" y="6"/>
                    </a:lnTo>
                    <a:lnTo>
                      <a:pt x="26" y="9"/>
                    </a:lnTo>
                    <a:lnTo>
                      <a:pt x="15" y="15"/>
                    </a:lnTo>
                    <a:lnTo>
                      <a:pt x="9" y="17"/>
                    </a:lnTo>
                    <a:lnTo>
                      <a:pt x="3" y="20"/>
                    </a:lnTo>
                    <a:lnTo>
                      <a:pt x="0" y="22"/>
                    </a:lnTo>
                    <a:lnTo>
                      <a:pt x="12" y="40"/>
                    </a:lnTo>
                    <a:lnTo>
                      <a:pt x="12" y="39"/>
                    </a:lnTo>
                    <a:lnTo>
                      <a:pt x="15" y="39"/>
                    </a:lnTo>
                    <a:lnTo>
                      <a:pt x="25" y="34"/>
                    </a:lnTo>
                    <a:lnTo>
                      <a:pt x="33" y="31"/>
                    </a:lnTo>
                    <a:lnTo>
                      <a:pt x="45" y="28"/>
                    </a:lnTo>
                    <a:lnTo>
                      <a:pt x="58" y="25"/>
                    </a:lnTo>
                    <a:lnTo>
                      <a:pt x="75" y="22"/>
                    </a:lnTo>
                    <a:lnTo>
                      <a:pt x="90" y="22"/>
                    </a:lnTo>
                    <a:lnTo>
                      <a:pt x="90" y="0"/>
                    </a:lnTo>
                    <a:close/>
                  </a:path>
                </a:pathLst>
              </a:custGeom>
              <a:solidFill>
                <a:srgbClr val="000000"/>
              </a:solidFill>
              <a:ln w="9525">
                <a:noFill/>
                <a:round/>
                <a:headEnd/>
                <a:tailEnd/>
              </a:ln>
            </p:spPr>
            <p:txBody>
              <a:bodyPr/>
              <a:lstStyle/>
              <a:p>
                <a:endParaRPr lang="en-US"/>
              </a:p>
            </p:txBody>
          </p:sp>
          <p:sp>
            <p:nvSpPr>
              <p:cNvPr id="24628" name="Freeform 17"/>
              <p:cNvSpPr>
                <a:spLocks/>
              </p:cNvSpPr>
              <p:nvPr/>
            </p:nvSpPr>
            <p:spPr bwMode="auto">
              <a:xfrm>
                <a:off x="2000" y="3817"/>
                <a:ext cx="77" cy="11"/>
              </a:xfrm>
              <a:custGeom>
                <a:avLst/>
                <a:gdLst>
                  <a:gd name="T0" fmla="*/ 1 w 154"/>
                  <a:gd name="T1" fmla="*/ 1 h 22"/>
                  <a:gd name="T2" fmla="*/ 1 w 154"/>
                  <a:gd name="T3" fmla="*/ 0 h 22"/>
                  <a:gd name="T4" fmla="*/ 1 w 154"/>
                  <a:gd name="T5" fmla="*/ 0 h 22"/>
                  <a:gd name="T6" fmla="*/ 1 w 154"/>
                  <a:gd name="T7" fmla="*/ 0 h 22"/>
                  <a:gd name="T8" fmla="*/ 1 w 154"/>
                  <a:gd name="T9" fmla="*/ 0 h 22"/>
                  <a:gd name="T10" fmla="*/ 1 w 154"/>
                  <a:gd name="T11" fmla="*/ 0 h 22"/>
                  <a:gd name="T12" fmla="*/ 1 w 154"/>
                  <a:gd name="T13" fmla="*/ 0 h 22"/>
                  <a:gd name="T14" fmla="*/ 1 w 154"/>
                  <a:gd name="T15" fmla="*/ 0 h 22"/>
                  <a:gd name="T16" fmla="*/ 1 w 154"/>
                  <a:gd name="T17" fmla="*/ 0 h 22"/>
                  <a:gd name="T18" fmla="*/ 0 w 154"/>
                  <a:gd name="T19" fmla="*/ 0 h 22"/>
                  <a:gd name="T20" fmla="*/ 0 w 154"/>
                  <a:gd name="T21" fmla="*/ 1 h 22"/>
                  <a:gd name="T22" fmla="*/ 1 w 154"/>
                  <a:gd name="T23" fmla="*/ 1 h 22"/>
                  <a:gd name="T24" fmla="*/ 1 w 154"/>
                  <a:gd name="T25" fmla="*/ 1 h 22"/>
                  <a:gd name="T26" fmla="*/ 1 w 154"/>
                  <a:gd name="T27" fmla="*/ 1 h 22"/>
                  <a:gd name="T28" fmla="*/ 1 w 154"/>
                  <a:gd name="T29" fmla="*/ 1 h 22"/>
                  <a:gd name="T30" fmla="*/ 1 w 154"/>
                  <a:gd name="T31" fmla="*/ 1 h 22"/>
                  <a:gd name="T32" fmla="*/ 1 w 154"/>
                  <a:gd name="T33" fmla="*/ 1 h 22"/>
                  <a:gd name="T34" fmla="*/ 1 w 154"/>
                  <a:gd name="T35" fmla="*/ 1 h 22"/>
                  <a:gd name="T36" fmla="*/ 1 w 154"/>
                  <a:gd name="T37" fmla="*/ 1 h 22"/>
                  <a:gd name="T38" fmla="*/ 1 w 154"/>
                  <a:gd name="T39" fmla="*/ 1 h 22"/>
                  <a:gd name="T40" fmla="*/ 1 w 154"/>
                  <a:gd name="T41" fmla="*/ 1 h 22"/>
                  <a:gd name="T42" fmla="*/ 1 w 154"/>
                  <a:gd name="T43" fmla="*/ 1 h 22"/>
                  <a:gd name="T44" fmla="*/ 1 w 154"/>
                  <a:gd name="T45" fmla="*/ 1 h 22"/>
                  <a:gd name="T46" fmla="*/ 1 w 154"/>
                  <a:gd name="T47" fmla="*/ 1 h 22"/>
                  <a:gd name="T48" fmla="*/ 1 w 154"/>
                  <a:gd name="T49" fmla="*/ 0 h 22"/>
                  <a:gd name="T50" fmla="*/ 1 w 154"/>
                  <a:gd name="T51" fmla="*/ 1 h 2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22"/>
                  <a:gd name="T80" fmla="*/ 154 w 154"/>
                  <a:gd name="T81" fmla="*/ 22 h 2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22">
                    <a:moveTo>
                      <a:pt x="154" y="11"/>
                    </a:moveTo>
                    <a:lnTo>
                      <a:pt x="143" y="0"/>
                    </a:lnTo>
                    <a:lnTo>
                      <a:pt x="138" y="0"/>
                    </a:lnTo>
                    <a:lnTo>
                      <a:pt x="127" y="0"/>
                    </a:lnTo>
                    <a:lnTo>
                      <a:pt x="112" y="0"/>
                    </a:lnTo>
                    <a:lnTo>
                      <a:pt x="91" y="0"/>
                    </a:lnTo>
                    <a:lnTo>
                      <a:pt x="68" y="0"/>
                    </a:lnTo>
                    <a:lnTo>
                      <a:pt x="44" y="0"/>
                    </a:lnTo>
                    <a:lnTo>
                      <a:pt x="21" y="0"/>
                    </a:lnTo>
                    <a:lnTo>
                      <a:pt x="0" y="0"/>
                    </a:lnTo>
                    <a:lnTo>
                      <a:pt x="0" y="22"/>
                    </a:lnTo>
                    <a:lnTo>
                      <a:pt x="21" y="22"/>
                    </a:lnTo>
                    <a:lnTo>
                      <a:pt x="44" y="22"/>
                    </a:lnTo>
                    <a:lnTo>
                      <a:pt x="68" y="22"/>
                    </a:lnTo>
                    <a:lnTo>
                      <a:pt x="91" y="22"/>
                    </a:lnTo>
                    <a:lnTo>
                      <a:pt x="112" y="22"/>
                    </a:lnTo>
                    <a:lnTo>
                      <a:pt x="127" y="22"/>
                    </a:lnTo>
                    <a:lnTo>
                      <a:pt x="138" y="22"/>
                    </a:lnTo>
                    <a:lnTo>
                      <a:pt x="143" y="22"/>
                    </a:lnTo>
                    <a:lnTo>
                      <a:pt x="132" y="11"/>
                    </a:lnTo>
                    <a:lnTo>
                      <a:pt x="143" y="22"/>
                    </a:lnTo>
                    <a:lnTo>
                      <a:pt x="151" y="18"/>
                    </a:lnTo>
                    <a:lnTo>
                      <a:pt x="154" y="11"/>
                    </a:lnTo>
                    <a:lnTo>
                      <a:pt x="151" y="3"/>
                    </a:lnTo>
                    <a:lnTo>
                      <a:pt x="143" y="0"/>
                    </a:lnTo>
                    <a:lnTo>
                      <a:pt x="154" y="11"/>
                    </a:lnTo>
                    <a:close/>
                  </a:path>
                </a:pathLst>
              </a:custGeom>
              <a:solidFill>
                <a:srgbClr val="000000"/>
              </a:solidFill>
              <a:ln w="9525">
                <a:noFill/>
                <a:round/>
                <a:headEnd/>
                <a:tailEnd/>
              </a:ln>
            </p:spPr>
            <p:txBody>
              <a:bodyPr/>
              <a:lstStyle/>
              <a:p>
                <a:endParaRPr lang="en-US"/>
              </a:p>
            </p:txBody>
          </p:sp>
          <p:sp>
            <p:nvSpPr>
              <p:cNvPr id="24629" name="Freeform 18"/>
              <p:cNvSpPr>
                <a:spLocks/>
              </p:cNvSpPr>
              <p:nvPr/>
            </p:nvSpPr>
            <p:spPr bwMode="auto">
              <a:xfrm>
                <a:off x="2036" y="3731"/>
                <a:ext cx="42" cy="93"/>
              </a:xfrm>
              <a:custGeom>
                <a:avLst/>
                <a:gdLst>
                  <a:gd name="T0" fmla="*/ 1 w 82"/>
                  <a:gd name="T1" fmla="*/ 1 h 186"/>
                  <a:gd name="T2" fmla="*/ 1 w 82"/>
                  <a:gd name="T3" fmla="*/ 1 h 186"/>
                  <a:gd name="T4" fmla="*/ 1 w 82"/>
                  <a:gd name="T5" fmla="*/ 1 h 186"/>
                  <a:gd name="T6" fmla="*/ 1 w 82"/>
                  <a:gd name="T7" fmla="*/ 1 h 186"/>
                  <a:gd name="T8" fmla="*/ 1 w 82"/>
                  <a:gd name="T9" fmla="*/ 1 h 186"/>
                  <a:gd name="T10" fmla="*/ 1 w 82"/>
                  <a:gd name="T11" fmla="*/ 1 h 186"/>
                  <a:gd name="T12" fmla="*/ 1 w 82"/>
                  <a:gd name="T13" fmla="*/ 1 h 186"/>
                  <a:gd name="T14" fmla="*/ 1 w 82"/>
                  <a:gd name="T15" fmla="*/ 1 h 186"/>
                  <a:gd name="T16" fmla="*/ 1 w 82"/>
                  <a:gd name="T17" fmla="*/ 1 h 186"/>
                  <a:gd name="T18" fmla="*/ 1 w 82"/>
                  <a:gd name="T19" fmla="*/ 1 h 186"/>
                  <a:gd name="T20" fmla="*/ 1 w 82"/>
                  <a:gd name="T21" fmla="*/ 1 h 186"/>
                  <a:gd name="T22" fmla="*/ 1 w 82"/>
                  <a:gd name="T23" fmla="*/ 1 h 186"/>
                  <a:gd name="T24" fmla="*/ 1 w 82"/>
                  <a:gd name="T25" fmla="*/ 1 h 186"/>
                  <a:gd name="T26" fmla="*/ 1 w 82"/>
                  <a:gd name="T27" fmla="*/ 1 h 186"/>
                  <a:gd name="T28" fmla="*/ 1 w 82"/>
                  <a:gd name="T29" fmla="*/ 1 h 186"/>
                  <a:gd name="T30" fmla="*/ 1 w 82"/>
                  <a:gd name="T31" fmla="*/ 1 h 186"/>
                  <a:gd name="T32" fmla="*/ 1 w 82"/>
                  <a:gd name="T33" fmla="*/ 1 h 186"/>
                  <a:gd name="T34" fmla="*/ 1 w 82"/>
                  <a:gd name="T35" fmla="*/ 1 h 186"/>
                  <a:gd name="T36" fmla="*/ 1 w 82"/>
                  <a:gd name="T37" fmla="*/ 1 h 186"/>
                  <a:gd name="T38" fmla="*/ 1 w 82"/>
                  <a:gd name="T39" fmla="*/ 1 h 186"/>
                  <a:gd name="T40" fmla="*/ 1 w 82"/>
                  <a:gd name="T41" fmla="*/ 1 h 186"/>
                  <a:gd name="T42" fmla="*/ 1 w 82"/>
                  <a:gd name="T43" fmla="*/ 1 h 186"/>
                  <a:gd name="T44" fmla="*/ 1 w 82"/>
                  <a:gd name="T45" fmla="*/ 1 h 186"/>
                  <a:gd name="T46" fmla="*/ 1 w 82"/>
                  <a:gd name="T47" fmla="*/ 1 h 186"/>
                  <a:gd name="T48" fmla="*/ 1 w 82"/>
                  <a:gd name="T49" fmla="*/ 1 h 186"/>
                  <a:gd name="T50" fmla="*/ 1 w 82"/>
                  <a:gd name="T51" fmla="*/ 1 h 186"/>
                  <a:gd name="T52" fmla="*/ 1 w 82"/>
                  <a:gd name="T53" fmla="*/ 1 h 186"/>
                  <a:gd name="T54" fmla="*/ 1 w 82"/>
                  <a:gd name="T55" fmla="*/ 1 h 186"/>
                  <a:gd name="T56" fmla="*/ 1 w 82"/>
                  <a:gd name="T57" fmla="*/ 1 h 186"/>
                  <a:gd name="T58" fmla="*/ 1 w 82"/>
                  <a:gd name="T59" fmla="*/ 1 h 186"/>
                  <a:gd name="T60" fmla="*/ 0 w 82"/>
                  <a:gd name="T61" fmla="*/ 1 h 186"/>
                  <a:gd name="T62" fmla="*/ 0 w 82"/>
                  <a:gd name="T63" fmla="*/ 1 h 186"/>
                  <a:gd name="T64" fmla="*/ 0 w 82"/>
                  <a:gd name="T65" fmla="*/ 0 h 186"/>
                  <a:gd name="T66" fmla="*/ 1 w 82"/>
                  <a:gd name="T67" fmla="*/ 1 h 18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2"/>
                  <a:gd name="T103" fmla="*/ 0 h 186"/>
                  <a:gd name="T104" fmla="*/ 82 w 82"/>
                  <a:gd name="T105" fmla="*/ 186 h 18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2" h="186">
                    <a:moveTo>
                      <a:pt x="82" y="22"/>
                    </a:moveTo>
                    <a:lnTo>
                      <a:pt x="82" y="23"/>
                    </a:lnTo>
                    <a:lnTo>
                      <a:pt x="81" y="29"/>
                    </a:lnTo>
                    <a:lnTo>
                      <a:pt x="79" y="37"/>
                    </a:lnTo>
                    <a:lnTo>
                      <a:pt x="78" y="48"/>
                    </a:lnTo>
                    <a:lnTo>
                      <a:pt x="76" y="61"/>
                    </a:lnTo>
                    <a:lnTo>
                      <a:pt x="75" y="75"/>
                    </a:lnTo>
                    <a:lnTo>
                      <a:pt x="75" y="90"/>
                    </a:lnTo>
                    <a:lnTo>
                      <a:pt x="75" y="106"/>
                    </a:lnTo>
                    <a:lnTo>
                      <a:pt x="75" y="122"/>
                    </a:lnTo>
                    <a:lnTo>
                      <a:pt x="76" y="136"/>
                    </a:lnTo>
                    <a:lnTo>
                      <a:pt x="76" y="148"/>
                    </a:lnTo>
                    <a:lnTo>
                      <a:pt x="76" y="159"/>
                    </a:lnTo>
                    <a:lnTo>
                      <a:pt x="78" y="169"/>
                    </a:lnTo>
                    <a:lnTo>
                      <a:pt x="78" y="175"/>
                    </a:lnTo>
                    <a:lnTo>
                      <a:pt x="78" y="180"/>
                    </a:lnTo>
                    <a:lnTo>
                      <a:pt x="78" y="181"/>
                    </a:lnTo>
                    <a:lnTo>
                      <a:pt x="76" y="181"/>
                    </a:lnTo>
                    <a:lnTo>
                      <a:pt x="70" y="183"/>
                    </a:lnTo>
                    <a:lnTo>
                      <a:pt x="62" y="183"/>
                    </a:lnTo>
                    <a:lnTo>
                      <a:pt x="53" y="184"/>
                    </a:lnTo>
                    <a:lnTo>
                      <a:pt x="43" y="186"/>
                    </a:lnTo>
                    <a:lnTo>
                      <a:pt x="32" y="186"/>
                    </a:lnTo>
                    <a:lnTo>
                      <a:pt x="25" y="186"/>
                    </a:lnTo>
                    <a:lnTo>
                      <a:pt x="17" y="184"/>
                    </a:lnTo>
                    <a:lnTo>
                      <a:pt x="10" y="175"/>
                    </a:lnTo>
                    <a:lnTo>
                      <a:pt x="7" y="153"/>
                    </a:lnTo>
                    <a:lnTo>
                      <a:pt x="4" y="123"/>
                    </a:lnTo>
                    <a:lnTo>
                      <a:pt x="1" y="90"/>
                    </a:lnTo>
                    <a:lnTo>
                      <a:pt x="1" y="58"/>
                    </a:lnTo>
                    <a:lnTo>
                      <a:pt x="0" y="28"/>
                    </a:lnTo>
                    <a:lnTo>
                      <a:pt x="0" y="7"/>
                    </a:lnTo>
                    <a:lnTo>
                      <a:pt x="0" y="0"/>
                    </a:lnTo>
                    <a:lnTo>
                      <a:pt x="82" y="22"/>
                    </a:lnTo>
                    <a:close/>
                  </a:path>
                </a:pathLst>
              </a:custGeom>
              <a:solidFill>
                <a:srgbClr val="00FFB2"/>
              </a:solidFill>
              <a:ln w="9525">
                <a:noFill/>
                <a:round/>
                <a:headEnd/>
                <a:tailEnd/>
              </a:ln>
            </p:spPr>
            <p:txBody>
              <a:bodyPr/>
              <a:lstStyle/>
              <a:p>
                <a:endParaRPr lang="en-US"/>
              </a:p>
            </p:txBody>
          </p:sp>
          <p:sp>
            <p:nvSpPr>
              <p:cNvPr id="24630" name="Freeform 19"/>
              <p:cNvSpPr>
                <a:spLocks/>
              </p:cNvSpPr>
              <p:nvPr/>
            </p:nvSpPr>
            <p:spPr bwMode="auto">
              <a:xfrm>
                <a:off x="2068" y="3741"/>
                <a:ext cx="15" cy="44"/>
              </a:xfrm>
              <a:custGeom>
                <a:avLst/>
                <a:gdLst>
                  <a:gd name="T0" fmla="*/ 1 w 29"/>
                  <a:gd name="T1" fmla="*/ 1 h 88"/>
                  <a:gd name="T2" fmla="*/ 1 w 29"/>
                  <a:gd name="T3" fmla="*/ 1 h 88"/>
                  <a:gd name="T4" fmla="*/ 1 w 29"/>
                  <a:gd name="T5" fmla="*/ 1 h 88"/>
                  <a:gd name="T6" fmla="*/ 1 w 29"/>
                  <a:gd name="T7" fmla="*/ 1 h 88"/>
                  <a:gd name="T8" fmla="*/ 1 w 29"/>
                  <a:gd name="T9" fmla="*/ 1 h 88"/>
                  <a:gd name="T10" fmla="*/ 1 w 29"/>
                  <a:gd name="T11" fmla="*/ 1 h 88"/>
                  <a:gd name="T12" fmla="*/ 1 w 29"/>
                  <a:gd name="T13" fmla="*/ 1 h 88"/>
                  <a:gd name="T14" fmla="*/ 1 w 29"/>
                  <a:gd name="T15" fmla="*/ 1 h 88"/>
                  <a:gd name="T16" fmla="*/ 1 w 29"/>
                  <a:gd name="T17" fmla="*/ 1 h 88"/>
                  <a:gd name="T18" fmla="*/ 1 w 29"/>
                  <a:gd name="T19" fmla="*/ 1 h 88"/>
                  <a:gd name="T20" fmla="*/ 1 w 29"/>
                  <a:gd name="T21" fmla="*/ 0 h 88"/>
                  <a:gd name="T22" fmla="*/ 1 w 29"/>
                  <a:gd name="T23" fmla="*/ 1 h 88"/>
                  <a:gd name="T24" fmla="*/ 1 w 29"/>
                  <a:gd name="T25" fmla="*/ 1 h 88"/>
                  <a:gd name="T26" fmla="*/ 1 w 29"/>
                  <a:gd name="T27" fmla="*/ 1 h 88"/>
                  <a:gd name="T28" fmla="*/ 1 w 29"/>
                  <a:gd name="T29" fmla="*/ 1 h 88"/>
                  <a:gd name="T30" fmla="*/ 1 w 29"/>
                  <a:gd name="T31" fmla="*/ 1 h 88"/>
                  <a:gd name="T32" fmla="*/ 0 w 29"/>
                  <a:gd name="T33" fmla="*/ 1 h 88"/>
                  <a:gd name="T34" fmla="*/ 0 w 29"/>
                  <a:gd name="T35" fmla="*/ 1 h 88"/>
                  <a:gd name="T36" fmla="*/ 0 w 29"/>
                  <a:gd name="T37" fmla="*/ 1 h 88"/>
                  <a:gd name="T38" fmla="*/ 0 w 29"/>
                  <a:gd name="T39" fmla="*/ 1 h 88"/>
                  <a:gd name="T40" fmla="*/ 1 w 29"/>
                  <a:gd name="T41" fmla="*/ 1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9"/>
                  <a:gd name="T64" fmla="*/ 0 h 88"/>
                  <a:gd name="T65" fmla="*/ 29 w 29"/>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9" h="88">
                    <a:moveTo>
                      <a:pt x="22" y="88"/>
                    </a:moveTo>
                    <a:lnTo>
                      <a:pt x="22" y="88"/>
                    </a:lnTo>
                    <a:lnTo>
                      <a:pt x="22" y="72"/>
                    </a:lnTo>
                    <a:lnTo>
                      <a:pt x="22" y="57"/>
                    </a:lnTo>
                    <a:lnTo>
                      <a:pt x="23" y="44"/>
                    </a:lnTo>
                    <a:lnTo>
                      <a:pt x="25" y="32"/>
                    </a:lnTo>
                    <a:lnTo>
                      <a:pt x="26" y="21"/>
                    </a:lnTo>
                    <a:lnTo>
                      <a:pt x="28" y="14"/>
                    </a:lnTo>
                    <a:lnTo>
                      <a:pt x="29" y="7"/>
                    </a:lnTo>
                    <a:lnTo>
                      <a:pt x="8" y="0"/>
                    </a:lnTo>
                    <a:lnTo>
                      <a:pt x="8" y="4"/>
                    </a:lnTo>
                    <a:lnTo>
                      <a:pt x="6" y="8"/>
                    </a:lnTo>
                    <a:lnTo>
                      <a:pt x="4" y="18"/>
                    </a:lnTo>
                    <a:lnTo>
                      <a:pt x="3" y="29"/>
                    </a:lnTo>
                    <a:lnTo>
                      <a:pt x="1" y="41"/>
                    </a:lnTo>
                    <a:lnTo>
                      <a:pt x="0" y="57"/>
                    </a:lnTo>
                    <a:lnTo>
                      <a:pt x="0" y="72"/>
                    </a:lnTo>
                    <a:lnTo>
                      <a:pt x="0" y="88"/>
                    </a:lnTo>
                    <a:lnTo>
                      <a:pt x="22" y="88"/>
                    </a:lnTo>
                    <a:close/>
                  </a:path>
                </a:pathLst>
              </a:custGeom>
              <a:solidFill>
                <a:srgbClr val="000000"/>
              </a:solidFill>
              <a:ln w="9525">
                <a:noFill/>
                <a:round/>
                <a:headEnd/>
                <a:tailEnd/>
              </a:ln>
            </p:spPr>
            <p:txBody>
              <a:bodyPr/>
              <a:lstStyle/>
              <a:p>
                <a:endParaRPr lang="en-US"/>
              </a:p>
            </p:txBody>
          </p:sp>
          <p:sp>
            <p:nvSpPr>
              <p:cNvPr id="24631" name="Freeform 20"/>
              <p:cNvSpPr>
                <a:spLocks/>
              </p:cNvSpPr>
              <p:nvPr/>
            </p:nvSpPr>
            <p:spPr bwMode="auto">
              <a:xfrm>
                <a:off x="2068" y="3785"/>
                <a:ext cx="13" cy="43"/>
              </a:xfrm>
              <a:custGeom>
                <a:avLst/>
                <a:gdLst>
                  <a:gd name="T0" fmla="*/ 1 w 25"/>
                  <a:gd name="T1" fmla="*/ 1 h 86"/>
                  <a:gd name="T2" fmla="*/ 1 w 25"/>
                  <a:gd name="T3" fmla="*/ 1 h 86"/>
                  <a:gd name="T4" fmla="*/ 1 w 25"/>
                  <a:gd name="T5" fmla="*/ 1 h 86"/>
                  <a:gd name="T6" fmla="*/ 1 w 25"/>
                  <a:gd name="T7" fmla="*/ 1 h 86"/>
                  <a:gd name="T8" fmla="*/ 1 w 25"/>
                  <a:gd name="T9" fmla="*/ 1 h 86"/>
                  <a:gd name="T10" fmla="*/ 1 w 25"/>
                  <a:gd name="T11" fmla="*/ 1 h 86"/>
                  <a:gd name="T12" fmla="*/ 1 w 25"/>
                  <a:gd name="T13" fmla="*/ 1 h 86"/>
                  <a:gd name="T14" fmla="*/ 1 w 25"/>
                  <a:gd name="T15" fmla="*/ 1 h 86"/>
                  <a:gd name="T16" fmla="*/ 1 w 25"/>
                  <a:gd name="T17" fmla="*/ 1 h 86"/>
                  <a:gd name="T18" fmla="*/ 1 w 25"/>
                  <a:gd name="T19" fmla="*/ 0 h 86"/>
                  <a:gd name="T20" fmla="*/ 0 w 25"/>
                  <a:gd name="T21" fmla="*/ 0 h 86"/>
                  <a:gd name="T22" fmla="*/ 0 w 25"/>
                  <a:gd name="T23" fmla="*/ 1 h 86"/>
                  <a:gd name="T24" fmla="*/ 1 w 25"/>
                  <a:gd name="T25" fmla="*/ 1 h 86"/>
                  <a:gd name="T26" fmla="*/ 1 w 25"/>
                  <a:gd name="T27" fmla="*/ 1 h 86"/>
                  <a:gd name="T28" fmla="*/ 1 w 25"/>
                  <a:gd name="T29" fmla="*/ 1 h 86"/>
                  <a:gd name="T30" fmla="*/ 1 w 25"/>
                  <a:gd name="T31" fmla="*/ 1 h 86"/>
                  <a:gd name="T32" fmla="*/ 1 w 25"/>
                  <a:gd name="T33" fmla="*/ 1 h 86"/>
                  <a:gd name="T34" fmla="*/ 1 w 25"/>
                  <a:gd name="T35" fmla="*/ 1 h 86"/>
                  <a:gd name="T36" fmla="*/ 1 w 25"/>
                  <a:gd name="T37" fmla="*/ 1 h 86"/>
                  <a:gd name="T38" fmla="*/ 1 w 25"/>
                  <a:gd name="T39" fmla="*/ 1 h 86"/>
                  <a:gd name="T40" fmla="*/ 1 w 25"/>
                  <a:gd name="T41" fmla="*/ 1 h 86"/>
                  <a:gd name="T42" fmla="*/ 1 w 25"/>
                  <a:gd name="T43" fmla="*/ 1 h 86"/>
                  <a:gd name="T44" fmla="*/ 1 w 25"/>
                  <a:gd name="T45" fmla="*/ 1 h 86"/>
                  <a:gd name="T46" fmla="*/ 1 w 25"/>
                  <a:gd name="T47" fmla="*/ 1 h 86"/>
                  <a:gd name="T48" fmla="*/ 1 w 25"/>
                  <a:gd name="T49" fmla="*/ 1 h 86"/>
                  <a:gd name="T50" fmla="*/ 1 w 25"/>
                  <a:gd name="T51" fmla="*/ 1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
                  <a:gd name="T79" fmla="*/ 0 h 86"/>
                  <a:gd name="T80" fmla="*/ 25 w 25"/>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 h="86">
                    <a:moveTo>
                      <a:pt x="15" y="86"/>
                    </a:moveTo>
                    <a:lnTo>
                      <a:pt x="25" y="75"/>
                    </a:lnTo>
                    <a:lnTo>
                      <a:pt x="25" y="74"/>
                    </a:lnTo>
                    <a:lnTo>
                      <a:pt x="25" y="69"/>
                    </a:lnTo>
                    <a:lnTo>
                      <a:pt x="25" y="61"/>
                    </a:lnTo>
                    <a:lnTo>
                      <a:pt x="23" y="52"/>
                    </a:lnTo>
                    <a:lnTo>
                      <a:pt x="23" y="42"/>
                    </a:lnTo>
                    <a:lnTo>
                      <a:pt x="23" y="30"/>
                    </a:lnTo>
                    <a:lnTo>
                      <a:pt x="22" y="16"/>
                    </a:lnTo>
                    <a:lnTo>
                      <a:pt x="22" y="0"/>
                    </a:lnTo>
                    <a:lnTo>
                      <a:pt x="0" y="0"/>
                    </a:lnTo>
                    <a:lnTo>
                      <a:pt x="0" y="16"/>
                    </a:lnTo>
                    <a:lnTo>
                      <a:pt x="1" y="30"/>
                    </a:lnTo>
                    <a:lnTo>
                      <a:pt x="1" y="42"/>
                    </a:lnTo>
                    <a:lnTo>
                      <a:pt x="1" y="55"/>
                    </a:lnTo>
                    <a:lnTo>
                      <a:pt x="3" y="64"/>
                    </a:lnTo>
                    <a:lnTo>
                      <a:pt x="3" y="69"/>
                    </a:lnTo>
                    <a:lnTo>
                      <a:pt x="3" y="74"/>
                    </a:lnTo>
                    <a:lnTo>
                      <a:pt x="3" y="75"/>
                    </a:lnTo>
                    <a:lnTo>
                      <a:pt x="12" y="64"/>
                    </a:lnTo>
                    <a:lnTo>
                      <a:pt x="3" y="75"/>
                    </a:lnTo>
                    <a:lnTo>
                      <a:pt x="6" y="83"/>
                    </a:lnTo>
                    <a:lnTo>
                      <a:pt x="14" y="86"/>
                    </a:lnTo>
                    <a:lnTo>
                      <a:pt x="22" y="83"/>
                    </a:lnTo>
                    <a:lnTo>
                      <a:pt x="25" y="75"/>
                    </a:lnTo>
                    <a:lnTo>
                      <a:pt x="15" y="86"/>
                    </a:lnTo>
                    <a:close/>
                  </a:path>
                </a:pathLst>
              </a:custGeom>
              <a:solidFill>
                <a:srgbClr val="000000"/>
              </a:solidFill>
              <a:ln w="9525">
                <a:noFill/>
                <a:round/>
                <a:headEnd/>
                <a:tailEnd/>
              </a:ln>
            </p:spPr>
            <p:txBody>
              <a:bodyPr/>
              <a:lstStyle/>
              <a:p>
                <a:endParaRPr lang="en-US"/>
              </a:p>
            </p:txBody>
          </p:sp>
          <p:sp>
            <p:nvSpPr>
              <p:cNvPr id="24632" name="Freeform 21"/>
              <p:cNvSpPr>
                <a:spLocks/>
              </p:cNvSpPr>
              <p:nvPr/>
            </p:nvSpPr>
            <p:spPr bwMode="auto">
              <a:xfrm>
                <a:off x="2043" y="3817"/>
                <a:ext cx="33" cy="13"/>
              </a:xfrm>
              <a:custGeom>
                <a:avLst/>
                <a:gdLst>
                  <a:gd name="T0" fmla="*/ 0 w 65"/>
                  <a:gd name="T1" fmla="*/ 0 h 27"/>
                  <a:gd name="T2" fmla="*/ 0 w 65"/>
                  <a:gd name="T3" fmla="*/ 0 h 27"/>
                  <a:gd name="T4" fmla="*/ 1 w 65"/>
                  <a:gd name="T5" fmla="*/ 0 h 27"/>
                  <a:gd name="T6" fmla="*/ 1 w 65"/>
                  <a:gd name="T7" fmla="*/ 0 h 27"/>
                  <a:gd name="T8" fmla="*/ 1 w 65"/>
                  <a:gd name="T9" fmla="*/ 0 h 27"/>
                  <a:gd name="T10" fmla="*/ 1 w 65"/>
                  <a:gd name="T11" fmla="*/ 0 h 27"/>
                  <a:gd name="T12" fmla="*/ 1 w 65"/>
                  <a:gd name="T13" fmla="*/ 0 h 27"/>
                  <a:gd name="T14" fmla="*/ 1 w 65"/>
                  <a:gd name="T15" fmla="*/ 0 h 27"/>
                  <a:gd name="T16" fmla="*/ 1 w 65"/>
                  <a:gd name="T17" fmla="*/ 0 h 27"/>
                  <a:gd name="T18" fmla="*/ 1 w 65"/>
                  <a:gd name="T19" fmla="*/ 0 h 27"/>
                  <a:gd name="T20" fmla="*/ 1 w 65"/>
                  <a:gd name="T21" fmla="*/ 0 h 27"/>
                  <a:gd name="T22" fmla="*/ 1 w 65"/>
                  <a:gd name="T23" fmla="*/ 0 h 27"/>
                  <a:gd name="T24" fmla="*/ 1 w 65"/>
                  <a:gd name="T25" fmla="*/ 0 h 27"/>
                  <a:gd name="T26" fmla="*/ 1 w 65"/>
                  <a:gd name="T27" fmla="*/ 0 h 27"/>
                  <a:gd name="T28" fmla="*/ 1 w 65"/>
                  <a:gd name="T29" fmla="*/ 0 h 27"/>
                  <a:gd name="T30" fmla="*/ 1 w 65"/>
                  <a:gd name="T31" fmla="*/ 0 h 27"/>
                  <a:gd name="T32" fmla="*/ 1 w 65"/>
                  <a:gd name="T33" fmla="*/ 0 h 27"/>
                  <a:gd name="T34" fmla="*/ 1 w 65"/>
                  <a:gd name="T35" fmla="*/ 0 h 27"/>
                  <a:gd name="T36" fmla="*/ 1 w 65"/>
                  <a:gd name="T37" fmla="*/ 0 h 27"/>
                  <a:gd name="T38" fmla="*/ 1 w 65"/>
                  <a:gd name="T39" fmla="*/ 0 h 27"/>
                  <a:gd name="T40" fmla="*/ 0 w 65"/>
                  <a:gd name="T41" fmla="*/ 0 h 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
                  <a:gd name="T64" fmla="*/ 0 h 27"/>
                  <a:gd name="T65" fmla="*/ 65 w 65"/>
                  <a:gd name="T66" fmla="*/ 27 h 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 h="27">
                    <a:moveTo>
                      <a:pt x="0" y="25"/>
                    </a:moveTo>
                    <a:lnTo>
                      <a:pt x="0" y="25"/>
                    </a:lnTo>
                    <a:lnTo>
                      <a:pt x="9" y="27"/>
                    </a:lnTo>
                    <a:lnTo>
                      <a:pt x="18" y="27"/>
                    </a:lnTo>
                    <a:lnTo>
                      <a:pt x="31" y="27"/>
                    </a:lnTo>
                    <a:lnTo>
                      <a:pt x="40" y="25"/>
                    </a:lnTo>
                    <a:lnTo>
                      <a:pt x="50" y="24"/>
                    </a:lnTo>
                    <a:lnTo>
                      <a:pt x="58" y="24"/>
                    </a:lnTo>
                    <a:lnTo>
                      <a:pt x="64" y="22"/>
                    </a:lnTo>
                    <a:lnTo>
                      <a:pt x="65" y="22"/>
                    </a:lnTo>
                    <a:lnTo>
                      <a:pt x="62" y="0"/>
                    </a:lnTo>
                    <a:lnTo>
                      <a:pt x="61" y="0"/>
                    </a:lnTo>
                    <a:lnTo>
                      <a:pt x="54" y="2"/>
                    </a:lnTo>
                    <a:lnTo>
                      <a:pt x="47" y="2"/>
                    </a:lnTo>
                    <a:lnTo>
                      <a:pt x="37" y="3"/>
                    </a:lnTo>
                    <a:lnTo>
                      <a:pt x="28" y="5"/>
                    </a:lnTo>
                    <a:lnTo>
                      <a:pt x="18" y="5"/>
                    </a:lnTo>
                    <a:lnTo>
                      <a:pt x="12" y="5"/>
                    </a:lnTo>
                    <a:lnTo>
                      <a:pt x="6" y="3"/>
                    </a:lnTo>
                    <a:lnTo>
                      <a:pt x="0" y="25"/>
                    </a:lnTo>
                    <a:close/>
                  </a:path>
                </a:pathLst>
              </a:custGeom>
              <a:solidFill>
                <a:srgbClr val="000000"/>
              </a:solidFill>
              <a:ln w="9525">
                <a:noFill/>
                <a:round/>
                <a:headEnd/>
                <a:tailEnd/>
              </a:ln>
            </p:spPr>
            <p:txBody>
              <a:bodyPr/>
              <a:lstStyle/>
              <a:p>
                <a:endParaRPr lang="en-US"/>
              </a:p>
            </p:txBody>
          </p:sp>
          <p:sp>
            <p:nvSpPr>
              <p:cNvPr id="24633" name="Freeform 22"/>
              <p:cNvSpPr>
                <a:spLocks/>
              </p:cNvSpPr>
              <p:nvPr/>
            </p:nvSpPr>
            <p:spPr bwMode="auto">
              <a:xfrm>
                <a:off x="2031" y="3726"/>
                <a:ext cx="16" cy="103"/>
              </a:xfrm>
              <a:custGeom>
                <a:avLst/>
                <a:gdLst>
                  <a:gd name="T0" fmla="*/ 1 w 32"/>
                  <a:gd name="T1" fmla="*/ 0 h 206"/>
                  <a:gd name="T2" fmla="*/ 0 w 32"/>
                  <a:gd name="T3" fmla="*/ 1 h 206"/>
                  <a:gd name="T4" fmla="*/ 0 w 32"/>
                  <a:gd name="T5" fmla="*/ 1 h 206"/>
                  <a:gd name="T6" fmla="*/ 0 w 32"/>
                  <a:gd name="T7" fmla="*/ 1 h 206"/>
                  <a:gd name="T8" fmla="*/ 1 w 32"/>
                  <a:gd name="T9" fmla="*/ 1 h 206"/>
                  <a:gd name="T10" fmla="*/ 1 w 32"/>
                  <a:gd name="T11" fmla="*/ 1 h 206"/>
                  <a:gd name="T12" fmla="*/ 1 w 32"/>
                  <a:gd name="T13" fmla="*/ 1 h 206"/>
                  <a:gd name="T14" fmla="*/ 1 w 32"/>
                  <a:gd name="T15" fmla="*/ 1 h 206"/>
                  <a:gd name="T16" fmla="*/ 1 w 32"/>
                  <a:gd name="T17" fmla="*/ 1 h 206"/>
                  <a:gd name="T18" fmla="*/ 1 w 32"/>
                  <a:gd name="T19" fmla="*/ 1 h 206"/>
                  <a:gd name="T20" fmla="*/ 1 w 32"/>
                  <a:gd name="T21" fmla="*/ 1 h 206"/>
                  <a:gd name="T22" fmla="*/ 1 w 32"/>
                  <a:gd name="T23" fmla="*/ 1 h 206"/>
                  <a:gd name="T24" fmla="*/ 1 w 32"/>
                  <a:gd name="T25" fmla="*/ 1 h 206"/>
                  <a:gd name="T26" fmla="*/ 1 w 32"/>
                  <a:gd name="T27" fmla="*/ 1 h 206"/>
                  <a:gd name="T28" fmla="*/ 1 w 32"/>
                  <a:gd name="T29" fmla="*/ 1 h 206"/>
                  <a:gd name="T30" fmla="*/ 1 w 32"/>
                  <a:gd name="T31" fmla="*/ 1 h 206"/>
                  <a:gd name="T32" fmla="*/ 1 w 32"/>
                  <a:gd name="T33" fmla="*/ 1 h 206"/>
                  <a:gd name="T34" fmla="*/ 1 w 32"/>
                  <a:gd name="T35" fmla="*/ 1 h 206"/>
                  <a:gd name="T36" fmla="*/ 1 w 32"/>
                  <a:gd name="T37" fmla="*/ 1 h 206"/>
                  <a:gd name="T38" fmla="*/ 1 w 32"/>
                  <a:gd name="T39" fmla="*/ 1 h 206"/>
                  <a:gd name="T40" fmla="*/ 1 w 32"/>
                  <a:gd name="T41" fmla="*/ 1 h 206"/>
                  <a:gd name="T42" fmla="*/ 1 w 32"/>
                  <a:gd name="T43" fmla="*/ 1 h 206"/>
                  <a:gd name="T44" fmla="*/ 1 w 32"/>
                  <a:gd name="T45" fmla="*/ 0 h 206"/>
                  <a:gd name="T46" fmla="*/ 1 w 32"/>
                  <a:gd name="T47" fmla="*/ 1 h 206"/>
                  <a:gd name="T48" fmla="*/ 0 w 32"/>
                  <a:gd name="T49" fmla="*/ 1 h 206"/>
                  <a:gd name="T50" fmla="*/ 1 w 32"/>
                  <a:gd name="T51" fmla="*/ 0 h 20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
                  <a:gd name="T79" fmla="*/ 0 h 206"/>
                  <a:gd name="T80" fmla="*/ 32 w 32"/>
                  <a:gd name="T81" fmla="*/ 206 h 20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 h="206">
                    <a:moveTo>
                      <a:pt x="14" y="0"/>
                    </a:moveTo>
                    <a:lnTo>
                      <a:pt x="0" y="11"/>
                    </a:lnTo>
                    <a:lnTo>
                      <a:pt x="0" y="18"/>
                    </a:lnTo>
                    <a:lnTo>
                      <a:pt x="0" y="39"/>
                    </a:lnTo>
                    <a:lnTo>
                      <a:pt x="1" y="69"/>
                    </a:lnTo>
                    <a:lnTo>
                      <a:pt x="1" y="101"/>
                    </a:lnTo>
                    <a:lnTo>
                      <a:pt x="4" y="136"/>
                    </a:lnTo>
                    <a:lnTo>
                      <a:pt x="7" y="166"/>
                    </a:lnTo>
                    <a:lnTo>
                      <a:pt x="11" y="189"/>
                    </a:lnTo>
                    <a:lnTo>
                      <a:pt x="25" y="206"/>
                    </a:lnTo>
                    <a:lnTo>
                      <a:pt x="31" y="184"/>
                    </a:lnTo>
                    <a:lnTo>
                      <a:pt x="32" y="183"/>
                    </a:lnTo>
                    <a:lnTo>
                      <a:pt x="29" y="162"/>
                    </a:lnTo>
                    <a:lnTo>
                      <a:pt x="26" y="133"/>
                    </a:lnTo>
                    <a:lnTo>
                      <a:pt x="23" y="101"/>
                    </a:lnTo>
                    <a:lnTo>
                      <a:pt x="23" y="69"/>
                    </a:lnTo>
                    <a:lnTo>
                      <a:pt x="21" y="39"/>
                    </a:lnTo>
                    <a:lnTo>
                      <a:pt x="21" y="18"/>
                    </a:lnTo>
                    <a:lnTo>
                      <a:pt x="21" y="11"/>
                    </a:lnTo>
                    <a:lnTo>
                      <a:pt x="7" y="22"/>
                    </a:lnTo>
                    <a:lnTo>
                      <a:pt x="21" y="11"/>
                    </a:lnTo>
                    <a:lnTo>
                      <a:pt x="18" y="3"/>
                    </a:lnTo>
                    <a:lnTo>
                      <a:pt x="11" y="0"/>
                    </a:lnTo>
                    <a:lnTo>
                      <a:pt x="3" y="3"/>
                    </a:lnTo>
                    <a:lnTo>
                      <a:pt x="0" y="11"/>
                    </a:lnTo>
                    <a:lnTo>
                      <a:pt x="14" y="0"/>
                    </a:lnTo>
                    <a:close/>
                  </a:path>
                </a:pathLst>
              </a:custGeom>
              <a:solidFill>
                <a:srgbClr val="000000"/>
              </a:solidFill>
              <a:ln w="9525">
                <a:noFill/>
                <a:round/>
                <a:headEnd/>
                <a:tailEnd/>
              </a:ln>
            </p:spPr>
            <p:txBody>
              <a:bodyPr/>
              <a:lstStyle/>
              <a:p>
                <a:endParaRPr lang="en-US"/>
              </a:p>
            </p:txBody>
          </p:sp>
          <p:sp>
            <p:nvSpPr>
              <p:cNvPr id="24634" name="Freeform 23"/>
              <p:cNvSpPr>
                <a:spLocks/>
              </p:cNvSpPr>
              <p:nvPr/>
            </p:nvSpPr>
            <p:spPr bwMode="auto">
              <a:xfrm>
                <a:off x="2035" y="3726"/>
                <a:ext cx="48" cy="22"/>
              </a:xfrm>
              <a:custGeom>
                <a:avLst/>
                <a:gdLst>
                  <a:gd name="T0" fmla="*/ 0 w 97"/>
                  <a:gd name="T1" fmla="*/ 1 h 43"/>
                  <a:gd name="T2" fmla="*/ 0 w 97"/>
                  <a:gd name="T3" fmla="*/ 1 h 43"/>
                  <a:gd name="T4" fmla="*/ 0 w 97"/>
                  <a:gd name="T5" fmla="*/ 0 h 43"/>
                  <a:gd name="T6" fmla="*/ 0 w 97"/>
                  <a:gd name="T7" fmla="*/ 1 h 43"/>
                  <a:gd name="T8" fmla="*/ 0 w 97"/>
                  <a:gd name="T9" fmla="*/ 1 h 43"/>
                  <a:gd name="T10" fmla="*/ 0 w 97"/>
                  <a:gd name="T11" fmla="*/ 1 h 43"/>
                  <a:gd name="T12" fmla="*/ 0 w 97"/>
                  <a:gd name="T13" fmla="*/ 1 h 43"/>
                  <a:gd name="T14" fmla="*/ 0 w 97"/>
                  <a:gd name="T15" fmla="*/ 1 h 43"/>
                  <a:gd name="T16" fmla="*/ 0 w 97"/>
                  <a:gd name="T17" fmla="*/ 1 h 43"/>
                  <a:gd name="T18" fmla="*/ 0 w 97"/>
                  <a:gd name="T19" fmla="*/ 1 h 43"/>
                  <a:gd name="T20" fmla="*/ 0 w 97"/>
                  <a:gd name="T21" fmla="*/ 1 h 43"/>
                  <a:gd name="T22" fmla="*/ 0 w 97"/>
                  <a:gd name="T23" fmla="*/ 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7"/>
                  <a:gd name="T37" fmla="*/ 0 h 43"/>
                  <a:gd name="T38" fmla="*/ 97 w 97"/>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7" h="43">
                    <a:moveTo>
                      <a:pt x="97" y="36"/>
                    </a:moveTo>
                    <a:lnTo>
                      <a:pt x="90" y="22"/>
                    </a:lnTo>
                    <a:lnTo>
                      <a:pt x="7" y="0"/>
                    </a:lnTo>
                    <a:lnTo>
                      <a:pt x="0" y="22"/>
                    </a:lnTo>
                    <a:lnTo>
                      <a:pt x="83" y="43"/>
                    </a:lnTo>
                    <a:lnTo>
                      <a:pt x="76" y="29"/>
                    </a:lnTo>
                    <a:lnTo>
                      <a:pt x="83" y="43"/>
                    </a:lnTo>
                    <a:lnTo>
                      <a:pt x="93" y="42"/>
                    </a:lnTo>
                    <a:lnTo>
                      <a:pt x="97" y="34"/>
                    </a:lnTo>
                    <a:lnTo>
                      <a:pt x="96" y="26"/>
                    </a:lnTo>
                    <a:lnTo>
                      <a:pt x="90" y="22"/>
                    </a:lnTo>
                    <a:lnTo>
                      <a:pt x="97" y="36"/>
                    </a:lnTo>
                    <a:close/>
                  </a:path>
                </a:pathLst>
              </a:custGeom>
              <a:solidFill>
                <a:srgbClr val="000000"/>
              </a:solidFill>
              <a:ln w="9525">
                <a:noFill/>
                <a:round/>
                <a:headEnd/>
                <a:tailEnd/>
              </a:ln>
            </p:spPr>
            <p:txBody>
              <a:bodyPr/>
              <a:lstStyle/>
              <a:p>
                <a:endParaRPr lang="en-US"/>
              </a:p>
            </p:txBody>
          </p:sp>
          <p:sp>
            <p:nvSpPr>
              <p:cNvPr id="24635" name="Freeform 24"/>
              <p:cNvSpPr>
                <a:spLocks/>
              </p:cNvSpPr>
              <p:nvPr/>
            </p:nvSpPr>
            <p:spPr bwMode="auto">
              <a:xfrm>
                <a:off x="2099" y="3720"/>
                <a:ext cx="156" cy="50"/>
              </a:xfrm>
              <a:custGeom>
                <a:avLst/>
                <a:gdLst>
                  <a:gd name="T0" fmla="*/ 0 w 311"/>
                  <a:gd name="T1" fmla="*/ 1 h 98"/>
                  <a:gd name="T2" fmla="*/ 0 w 311"/>
                  <a:gd name="T3" fmla="*/ 1 h 98"/>
                  <a:gd name="T4" fmla="*/ 1 w 311"/>
                  <a:gd name="T5" fmla="*/ 1 h 98"/>
                  <a:gd name="T6" fmla="*/ 1 w 311"/>
                  <a:gd name="T7" fmla="*/ 1 h 98"/>
                  <a:gd name="T8" fmla="*/ 1 w 311"/>
                  <a:gd name="T9" fmla="*/ 1 h 98"/>
                  <a:gd name="T10" fmla="*/ 1 w 311"/>
                  <a:gd name="T11" fmla="*/ 1 h 98"/>
                  <a:gd name="T12" fmla="*/ 1 w 311"/>
                  <a:gd name="T13" fmla="*/ 1 h 98"/>
                  <a:gd name="T14" fmla="*/ 1 w 311"/>
                  <a:gd name="T15" fmla="*/ 1 h 98"/>
                  <a:gd name="T16" fmla="*/ 1 w 311"/>
                  <a:gd name="T17" fmla="*/ 1 h 98"/>
                  <a:gd name="T18" fmla="*/ 1 w 311"/>
                  <a:gd name="T19" fmla="*/ 1 h 98"/>
                  <a:gd name="T20" fmla="*/ 1 w 311"/>
                  <a:gd name="T21" fmla="*/ 1 h 98"/>
                  <a:gd name="T22" fmla="*/ 1 w 311"/>
                  <a:gd name="T23" fmla="*/ 1 h 98"/>
                  <a:gd name="T24" fmla="*/ 1 w 311"/>
                  <a:gd name="T25" fmla="*/ 1 h 98"/>
                  <a:gd name="T26" fmla="*/ 1 w 311"/>
                  <a:gd name="T27" fmla="*/ 1 h 98"/>
                  <a:gd name="T28" fmla="*/ 1 w 311"/>
                  <a:gd name="T29" fmla="*/ 1 h 98"/>
                  <a:gd name="T30" fmla="*/ 1 w 311"/>
                  <a:gd name="T31" fmla="*/ 1 h 98"/>
                  <a:gd name="T32" fmla="*/ 1 w 311"/>
                  <a:gd name="T33" fmla="*/ 1 h 98"/>
                  <a:gd name="T34" fmla="*/ 1 w 311"/>
                  <a:gd name="T35" fmla="*/ 1 h 98"/>
                  <a:gd name="T36" fmla="*/ 1 w 311"/>
                  <a:gd name="T37" fmla="*/ 1 h 98"/>
                  <a:gd name="T38" fmla="*/ 1 w 311"/>
                  <a:gd name="T39" fmla="*/ 1 h 98"/>
                  <a:gd name="T40" fmla="*/ 1 w 311"/>
                  <a:gd name="T41" fmla="*/ 1 h 98"/>
                  <a:gd name="T42" fmla="*/ 1 w 311"/>
                  <a:gd name="T43" fmla="*/ 0 h 98"/>
                  <a:gd name="T44" fmla="*/ 0 w 311"/>
                  <a:gd name="T45" fmla="*/ 1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1"/>
                  <a:gd name="T70" fmla="*/ 0 h 98"/>
                  <a:gd name="T71" fmla="*/ 311 w 311"/>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1" h="98">
                    <a:moveTo>
                      <a:pt x="0" y="53"/>
                    </a:moveTo>
                    <a:lnTo>
                      <a:pt x="0" y="65"/>
                    </a:lnTo>
                    <a:lnTo>
                      <a:pt x="3" y="67"/>
                    </a:lnTo>
                    <a:lnTo>
                      <a:pt x="9" y="70"/>
                    </a:lnTo>
                    <a:lnTo>
                      <a:pt x="22" y="76"/>
                    </a:lnTo>
                    <a:lnTo>
                      <a:pt x="39" y="83"/>
                    </a:lnTo>
                    <a:lnTo>
                      <a:pt x="61" y="89"/>
                    </a:lnTo>
                    <a:lnTo>
                      <a:pt x="87" y="94"/>
                    </a:lnTo>
                    <a:lnTo>
                      <a:pt x="119" y="97"/>
                    </a:lnTo>
                    <a:lnTo>
                      <a:pt x="153" y="98"/>
                    </a:lnTo>
                    <a:lnTo>
                      <a:pt x="188" y="95"/>
                    </a:lnTo>
                    <a:lnTo>
                      <a:pt x="219" y="89"/>
                    </a:lnTo>
                    <a:lnTo>
                      <a:pt x="246" y="80"/>
                    </a:lnTo>
                    <a:lnTo>
                      <a:pt x="268" y="67"/>
                    </a:lnTo>
                    <a:lnTo>
                      <a:pt x="285" y="54"/>
                    </a:lnTo>
                    <a:lnTo>
                      <a:pt x="297" y="42"/>
                    </a:lnTo>
                    <a:lnTo>
                      <a:pt x="305" y="33"/>
                    </a:lnTo>
                    <a:lnTo>
                      <a:pt x="310" y="25"/>
                    </a:lnTo>
                    <a:lnTo>
                      <a:pt x="311" y="15"/>
                    </a:lnTo>
                    <a:lnTo>
                      <a:pt x="308" y="8"/>
                    </a:lnTo>
                    <a:lnTo>
                      <a:pt x="304" y="1"/>
                    </a:lnTo>
                    <a:lnTo>
                      <a:pt x="300" y="0"/>
                    </a:lnTo>
                    <a:lnTo>
                      <a:pt x="0" y="53"/>
                    </a:lnTo>
                    <a:close/>
                  </a:path>
                </a:pathLst>
              </a:custGeom>
              <a:solidFill>
                <a:srgbClr val="FF7226"/>
              </a:solidFill>
              <a:ln w="9525">
                <a:noFill/>
                <a:round/>
                <a:headEnd/>
                <a:tailEnd/>
              </a:ln>
            </p:spPr>
            <p:txBody>
              <a:bodyPr/>
              <a:lstStyle/>
              <a:p>
                <a:endParaRPr lang="en-US"/>
              </a:p>
            </p:txBody>
          </p:sp>
          <p:sp>
            <p:nvSpPr>
              <p:cNvPr id="24636" name="Freeform 25"/>
              <p:cNvSpPr>
                <a:spLocks/>
              </p:cNvSpPr>
              <p:nvPr/>
            </p:nvSpPr>
            <p:spPr bwMode="auto">
              <a:xfrm>
                <a:off x="2093" y="3747"/>
                <a:ext cx="11" cy="12"/>
              </a:xfrm>
              <a:custGeom>
                <a:avLst/>
                <a:gdLst>
                  <a:gd name="T0" fmla="*/ 1 w 22"/>
                  <a:gd name="T1" fmla="*/ 1 h 23"/>
                  <a:gd name="T2" fmla="*/ 1 w 22"/>
                  <a:gd name="T3" fmla="*/ 1 h 23"/>
                  <a:gd name="T4" fmla="*/ 1 w 22"/>
                  <a:gd name="T5" fmla="*/ 0 h 23"/>
                  <a:gd name="T6" fmla="*/ 0 w 22"/>
                  <a:gd name="T7" fmla="*/ 0 h 23"/>
                  <a:gd name="T8" fmla="*/ 0 w 22"/>
                  <a:gd name="T9" fmla="*/ 1 h 23"/>
                  <a:gd name="T10" fmla="*/ 1 w 22"/>
                  <a:gd name="T11" fmla="*/ 1 h 23"/>
                  <a:gd name="T12" fmla="*/ 0 w 22"/>
                  <a:gd name="T13" fmla="*/ 1 h 23"/>
                  <a:gd name="T14" fmla="*/ 1 w 22"/>
                  <a:gd name="T15" fmla="*/ 1 h 23"/>
                  <a:gd name="T16" fmla="*/ 1 w 22"/>
                  <a:gd name="T17" fmla="*/ 1 h 23"/>
                  <a:gd name="T18" fmla="*/ 1 w 22"/>
                  <a:gd name="T19" fmla="*/ 1 h 23"/>
                  <a:gd name="T20" fmla="*/ 1 w 22"/>
                  <a:gd name="T21" fmla="*/ 1 h 23"/>
                  <a:gd name="T22" fmla="*/ 1 w 22"/>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3"/>
                  <a:gd name="T38" fmla="*/ 22 w 22"/>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3">
                    <a:moveTo>
                      <a:pt x="17" y="3"/>
                    </a:moveTo>
                    <a:lnTo>
                      <a:pt x="22" y="12"/>
                    </a:lnTo>
                    <a:lnTo>
                      <a:pt x="22" y="0"/>
                    </a:lnTo>
                    <a:lnTo>
                      <a:pt x="0" y="0"/>
                    </a:lnTo>
                    <a:lnTo>
                      <a:pt x="0" y="12"/>
                    </a:lnTo>
                    <a:lnTo>
                      <a:pt x="5" y="22"/>
                    </a:lnTo>
                    <a:lnTo>
                      <a:pt x="0" y="12"/>
                    </a:lnTo>
                    <a:lnTo>
                      <a:pt x="3" y="20"/>
                    </a:lnTo>
                    <a:lnTo>
                      <a:pt x="11" y="23"/>
                    </a:lnTo>
                    <a:lnTo>
                      <a:pt x="19" y="20"/>
                    </a:lnTo>
                    <a:lnTo>
                      <a:pt x="22" y="12"/>
                    </a:lnTo>
                    <a:lnTo>
                      <a:pt x="17" y="3"/>
                    </a:lnTo>
                    <a:close/>
                  </a:path>
                </a:pathLst>
              </a:custGeom>
              <a:solidFill>
                <a:srgbClr val="000000"/>
              </a:solidFill>
              <a:ln w="9525">
                <a:noFill/>
                <a:round/>
                <a:headEnd/>
                <a:tailEnd/>
              </a:ln>
            </p:spPr>
            <p:txBody>
              <a:bodyPr/>
              <a:lstStyle/>
              <a:p>
                <a:endParaRPr lang="en-US"/>
              </a:p>
            </p:txBody>
          </p:sp>
          <p:sp>
            <p:nvSpPr>
              <p:cNvPr id="24637" name="Freeform 26"/>
              <p:cNvSpPr>
                <a:spLocks/>
              </p:cNvSpPr>
              <p:nvPr/>
            </p:nvSpPr>
            <p:spPr bwMode="auto">
              <a:xfrm>
                <a:off x="2096" y="3749"/>
                <a:ext cx="80" cy="26"/>
              </a:xfrm>
              <a:custGeom>
                <a:avLst/>
                <a:gdLst>
                  <a:gd name="T0" fmla="*/ 1 w 159"/>
                  <a:gd name="T1" fmla="*/ 0 h 53"/>
                  <a:gd name="T2" fmla="*/ 1 w 159"/>
                  <a:gd name="T3" fmla="*/ 0 h 53"/>
                  <a:gd name="T4" fmla="*/ 1 w 159"/>
                  <a:gd name="T5" fmla="*/ 0 h 53"/>
                  <a:gd name="T6" fmla="*/ 1 w 159"/>
                  <a:gd name="T7" fmla="*/ 0 h 53"/>
                  <a:gd name="T8" fmla="*/ 1 w 159"/>
                  <a:gd name="T9" fmla="*/ 0 h 53"/>
                  <a:gd name="T10" fmla="*/ 1 w 159"/>
                  <a:gd name="T11" fmla="*/ 0 h 53"/>
                  <a:gd name="T12" fmla="*/ 1 w 159"/>
                  <a:gd name="T13" fmla="*/ 0 h 53"/>
                  <a:gd name="T14" fmla="*/ 1 w 159"/>
                  <a:gd name="T15" fmla="*/ 0 h 53"/>
                  <a:gd name="T16" fmla="*/ 1 w 159"/>
                  <a:gd name="T17" fmla="*/ 0 h 53"/>
                  <a:gd name="T18" fmla="*/ 1 w 159"/>
                  <a:gd name="T19" fmla="*/ 0 h 53"/>
                  <a:gd name="T20" fmla="*/ 0 w 159"/>
                  <a:gd name="T21" fmla="*/ 0 h 53"/>
                  <a:gd name="T22" fmla="*/ 1 w 159"/>
                  <a:gd name="T23" fmla="*/ 0 h 53"/>
                  <a:gd name="T24" fmla="*/ 1 w 159"/>
                  <a:gd name="T25" fmla="*/ 0 h 53"/>
                  <a:gd name="T26" fmla="*/ 1 w 159"/>
                  <a:gd name="T27" fmla="*/ 0 h 53"/>
                  <a:gd name="T28" fmla="*/ 1 w 159"/>
                  <a:gd name="T29" fmla="*/ 0 h 53"/>
                  <a:gd name="T30" fmla="*/ 1 w 159"/>
                  <a:gd name="T31" fmla="*/ 0 h 53"/>
                  <a:gd name="T32" fmla="*/ 1 w 159"/>
                  <a:gd name="T33" fmla="*/ 0 h 53"/>
                  <a:gd name="T34" fmla="*/ 1 w 159"/>
                  <a:gd name="T35" fmla="*/ 0 h 53"/>
                  <a:gd name="T36" fmla="*/ 1 w 159"/>
                  <a:gd name="T37" fmla="*/ 0 h 53"/>
                  <a:gd name="T38" fmla="*/ 1 w 159"/>
                  <a:gd name="T39" fmla="*/ 0 h 53"/>
                  <a:gd name="T40" fmla="*/ 1 w 159"/>
                  <a:gd name="T41" fmla="*/ 0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
                  <a:gd name="T64" fmla="*/ 0 h 53"/>
                  <a:gd name="T65" fmla="*/ 159 w 159"/>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 h="53">
                    <a:moveTo>
                      <a:pt x="159" y="31"/>
                    </a:moveTo>
                    <a:lnTo>
                      <a:pt x="159" y="31"/>
                    </a:lnTo>
                    <a:lnTo>
                      <a:pt x="125" y="30"/>
                    </a:lnTo>
                    <a:lnTo>
                      <a:pt x="95" y="27"/>
                    </a:lnTo>
                    <a:lnTo>
                      <a:pt x="70" y="22"/>
                    </a:lnTo>
                    <a:lnTo>
                      <a:pt x="48" y="16"/>
                    </a:lnTo>
                    <a:lnTo>
                      <a:pt x="32" y="11"/>
                    </a:lnTo>
                    <a:lnTo>
                      <a:pt x="20" y="5"/>
                    </a:lnTo>
                    <a:lnTo>
                      <a:pt x="14" y="2"/>
                    </a:lnTo>
                    <a:lnTo>
                      <a:pt x="12" y="0"/>
                    </a:lnTo>
                    <a:lnTo>
                      <a:pt x="0" y="19"/>
                    </a:lnTo>
                    <a:lnTo>
                      <a:pt x="4" y="20"/>
                    </a:lnTo>
                    <a:lnTo>
                      <a:pt x="10" y="24"/>
                    </a:lnTo>
                    <a:lnTo>
                      <a:pt x="23" y="30"/>
                    </a:lnTo>
                    <a:lnTo>
                      <a:pt x="42" y="38"/>
                    </a:lnTo>
                    <a:lnTo>
                      <a:pt x="64" y="44"/>
                    </a:lnTo>
                    <a:lnTo>
                      <a:pt x="92" y="49"/>
                    </a:lnTo>
                    <a:lnTo>
                      <a:pt x="125" y="52"/>
                    </a:lnTo>
                    <a:lnTo>
                      <a:pt x="159" y="53"/>
                    </a:lnTo>
                    <a:lnTo>
                      <a:pt x="159" y="31"/>
                    </a:lnTo>
                    <a:close/>
                  </a:path>
                </a:pathLst>
              </a:custGeom>
              <a:solidFill>
                <a:srgbClr val="000000"/>
              </a:solidFill>
              <a:ln w="9525">
                <a:noFill/>
                <a:round/>
                <a:headEnd/>
                <a:tailEnd/>
              </a:ln>
            </p:spPr>
            <p:txBody>
              <a:bodyPr/>
              <a:lstStyle/>
              <a:p>
                <a:endParaRPr lang="en-US"/>
              </a:p>
            </p:txBody>
          </p:sp>
          <p:sp>
            <p:nvSpPr>
              <p:cNvPr id="24638" name="Freeform 27"/>
              <p:cNvSpPr>
                <a:spLocks/>
              </p:cNvSpPr>
              <p:nvPr/>
            </p:nvSpPr>
            <p:spPr bwMode="auto">
              <a:xfrm>
                <a:off x="2176" y="3731"/>
                <a:ext cx="83" cy="44"/>
              </a:xfrm>
              <a:custGeom>
                <a:avLst/>
                <a:gdLst>
                  <a:gd name="T0" fmla="*/ 0 w 168"/>
                  <a:gd name="T1" fmla="*/ 0 h 89"/>
                  <a:gd name="T2" fmla="*/ 0 w 168"/>
                  <a:gd name="T3" fmla="*/ 0 h 89"/>
                  <a:gd name="T4" fmla="*/ 0 w 168"/>
                  <a:gd name="T5" fmla="*/ 0 h 89"/>
                  <a:gd name="T6" fmla="*/ 0 w 168"/>
                  <a:gd name="T7" fmla="*/ 0 h 89"/>
                  <a:gd name="T8" fmla="*/ 0 w 168"/>
                  <a:gd name="T9" fmla="*/ 0 h 89"/>
                  <a:gd name="T10" fmla="*/ 0 w 168"/>
                  <a:gd name="T11" fmla="*/ 0 h 89"/>
                  <a:gd name="T12" fmla="*/ 0 w 168"/>
                  <a:gd name="T13" fmla="*/ 0 h 89"/>
                  <a:gd name="T14" fmla="*/ 0 w 168"/>
                  <a:gd name="T15" fmla="*/ 0 h 89"/>
                  <a:gd name="T16" fmla="*/ 0 w 168"/>
                  <a:gd name="T17" fmla="*/ 0 h 89"/>
                  <a:gd name="T18" fmla="*/ 0 w 168"/>
                  <a:gd name="T19" fmla="*/ 0 h 89"/>
                  <a:gd name="T20" fmla="*/ 0 w 168"/>
                  <a:gd name="T21" fmla="*/ 0 h 89"/>
                  <a:gd name="T22" fmla="*/ 0 w 168"/>
                  <a:gd name="T23" fmla="*/ 0 h 89"/>
                  <a:gd name="T24" fmla="*/ 0 w 168"/>
                  <a:gd name="T25" fmla="*/ 0 h 89"/>
                  <a:gd name="T26" fmla="*/ 0 w 168"/>
                  <a:gd name="T27" fmla="*/ 0 h 89"/>
                  <a:gd name="T28" fmla="*/ 0 w 168"/>
                  <a:gd name="T29" fmla="*/ 0 h 89"/>
                  <a:gd name="T30" fmla="*/ 0 w 168"/>
                  <a:gd name="T31" fmla="*/ 0 h 89"/>
                  <a:gd name="T32" fmla="*/ 0 w 168"/>
                  <a:gd name="T33" fmla="*/ 0 h 89"/>
                  <a:gd name="T34" fmla="*/ 0 w 168"/>
                  <a:gd name="T35" fmla="*/ 0 h 89"/>
                  <a:gd name="T36" fmla="*/ 0 w 168"/>
                  <a:gd name="T37" fmla="*/ 0 h 89"/>
                  <a:gd name="T38" fmla="*/ 0 w 168"/>
                  <a:gd name="T39" fmla="*/ 0 h 89"/>
                  <a:gd name="T40" fmla="*/ 0 w 168"/>
                  <a:gd name="T41" fmla="*/ 0 h 8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8"/>
                  <a:gd name="T64" fmla="*/ 0 h 89"/>
                  <a:gd name="T65" fmla="*/ 168 w 168"/>
                  <a:gd name="T66" fmla="*/ 89 h 8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8" h="89">
                    <a:moveTo>
                      <a:pt x="147" y="0"/>
                    </a:moveTo>
                    <a:lnTo>
                      <a:pt x="146" y="2"/>
                    </a:lnTo>
                    <a:lnTo>
                      <a:pt x="143" y="6"/>
                    </a:lnTo>
                    <a:lnTo>
                      <a:pt x="136" y="14"/>
                    </a:lnTo>
                    <a:lnTo>
                      <a:pt x="124" y="27"/>
                    </a:lnTo>
                    <a:lnTo>
                      <a:pt x="108" y="38"/>
                    </a:lnTo>
                    <a:lnTo>
                      <a:pt x="88" y="50"/>
                    </a:lnTo>
                    <a:lnTo>
                      <a:pt x="63" y="58"/>
                    </a:lnTo>
                    <a:lnTo>
                      <a:pt x="33" y="64"/>
                    </a:lnTo>
                    <a:lnTo>
                      <a:pt x="0" y="67"/>
                    </a:lnTo>
                    <a:lnTo>
                      <a:pt x="0" y="89"/>
                    </a:lnTo>
                    <a:lnTo>
                      <a:pt x="36" y="86"/>
                    </a:lnTo>
                    <a:lnTo>
                      <a:pt x="69" y="80"/>
                    </a:lnTo>
                    <a:lnTo>
                      <a:pt x="97" y="69"/>
                    </a:lnTo>
                    <a:lnTo>
                      <a:pt x="121" y="56"/>
                    </a:lnTo>
                    <a:lnTo>
                      <a:pt x="140" y="42"/>
                    </a:lnTo>
                    <a:lnTo>
                      <a:pt x="152" y="30"/>
                    </a:lnTo>
                    <a:lnTo>
                      <a:pt x="161" y="19"/>
                    </a:lnTo>
                    <a:lnTo>
                      <a:pt x="168" y="8"/>
                    </a:lnTo>
                    <a:lnTo>
                      <a:pt x="166" y="9"/>
                    </a:lnTo>
                    <a:lnTo>
                      <a:pt x="147" y="0"/>
                    </a:lnTo>
                    <a:close/>
                  </a:path>
                </a:pathLst>
              </a:custGeom>
              <a:solidFill>
                <a:srgbClr val="000000"/>
              </a:solidFill>
              <a:ln w="9525">
                <a:noFill/>
                <a:round/>
                <a:headEnd/>
                <a:tailEnd/>
              </a:ln>
            </p:spPr>
            <p:txBody>
              <a:bodyPr/>
              <a:lstStyle/>
              <a:p>
                <a:endParaRPr lang="en-US"/>
              </a:p>
            </p:txBody>
          </p:sp>
          <p:sp>
            <p:nvSpPr>
              <p:cNvPr id="24639" name="Freeform 28"/>
              <p:cNvSpPr>
                <a:spLocks/>
              </p:cNvSpPr>
              <p:nvPr/>
            </p:nvSpPr>
            <p:spPr bwMode="auto">
              <a:xfrm>
                <a:off x="2244" y="3715"/>
                <a:ext cx="16" cy="20"/>
              </a:xfrm>
              <a:custGeom>
                <a:avLst/>
                <a:gdLst>
                  <a:gd name="T0" fmla="*/ 0 w 33"/>
                  <a:gd name="T1" fmla="*/ 1 h 40"/>
                  <a:gd name="T2" fmla="*/ 0 w 33"/>
                  <a:gd name="T3" fmla="*/ 1 h 40"/>
                  <a:gd name="T4" fmla="*/ 0 w 33"/>
                  <a:gd name="T5" fmla="*/ 1 h 40"/>
                  <a:gd name="T6" fmla="*/ 0 w 33"/>
                  <a:gd name="T7" fmla="*/ 1 h 40"/>
                  <a:gd name="T8" fmla="*/ 0 w 33"/>
                  <a:gd name="T9" fmla="*/ 1 h 40"/>
                  <a:gd name="T10" fmla="*/ 0 w 33"/>
                  <a:gd name="T11" fmla="*/ 1 h 40"/>
                  <a:gd name="T12" fmla="*/ 0 w 33"/>
                  <a:gd name="T13" fmla="*/ 1 h 40"/>
                  <a:gd name="T14" fmla="*/ 0 w 33"/>
                  <a:gd name="T15" fmla="*/ 1 h 40"/>
                  <a:gd name="T16" fmla="*/ 0 w 33"/>
                  <a:gd name="T17" fmla="*/ 1 h 40"/>
                  <a:gd name="T18" fmla="*/ 0 w 33"/>
                  <a:gd name="T19" fmla="*/ 1 h 40"/>
                  <a:gd name="T20" fmla="*/ 0 w 33"/>
                  <a:gd name="T21" fmla="*/ 1 h 40"/>
                  <a:gd name="T22" fmla="*/ 0 w 33"/>
                  <a:gd name="T23" fmla="*/ 0 h 40"/>
                  <a:gd name="T24" fmla="*/ 0 w 33"/>
                  <a:gd name="T25" fmla="*/ 1 h 40"/>
                  <a:gd name="T26" fmla="*/ 0 w 33"/>
                  <a:gd name="T27" fmla="*/ 0 h 40"/>
                  <a:gd name="T28" fmla="*/ 0 w 33"/>
                  <a:gd name="T29" fmla="*/ 1 h 40"/>
                  <a:gd name="T30" fmla="*/ 0 w 33"/>
                  <a:gd name="T31" fmla="*/ 1 h 40"/>
                  <a:gd name="T32" fmla="*/ 0 w 33"/>
                  <a:gd name="T33" fmla="*/ 1 h 40"/>
                  <a:gd name="T34" fmla="*/ 0 w 33"/>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
                  <a:gd name="T55" fmla="*/ 0 h 40"/>
                  <a:gd name="T56" fmla="*/ 33 w 33"/>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 h="40">
                    <a:moveTo>
                      <a:pt x="13" y="22"/>
                    </a:moveTo>
                    <a:lnTo>
                      <a:pt x="5" y="20"/>
                    </a:lnTo>
                    <a:lnTo>
                      <a:pt x="7" y="20"/>
                    </a:lnTo>
                    <a:lnTo>
                      <a:pt x="10" y="23"/>
                    </a:lnTo>
                    <a:lnTo>
                      <a:pt x="11" y="28"/>
                    </a:lnTo>
                    <a:lnTo>
                      <a:pt x="11" y="31"/>
                    </a:lnTo>
                    <a:lnTo>
                      <a:pt x="30" y="40"/>
                    </a:lnTo>
                    <a:lnTo>
                      <a:pt x="33" y="25"/>
                    </a:lnTo>
                    <a:lnTo>
                      <a:pt x="29" y="14"/>
                    </a:lnTo>
                    <a:lnTo>
                      <a:pt x="22" y="4"/>
                    </a:lnTo>
                    <a:lnTo>
                      <a:pt x="18" y="1"/>
                    </a:lnTo>
                    <a:lnTo>
                      <a:pt x="10" y="0"/>
                    </a:lnTo>
                    <a:lnTo>
                      <a:pt x="18" y="1"/>
                    </a:lnTo>
                    <a:lnTo>
                      <a:pt x="8" y="0"/>
                    </a:lnTo>
                    <a:lnTo>
                      <a:pt x="2" y="4"/>
                    </a:lnTo>
                    <a:lnTo>
                      <a:pt x="0" y="12"/>
                    </a:lnTo>
                    <a:lnTo>
                      <a:pt x="5" y="20"/>
                    </a:lnTo>
                    <a:lnTo>
                      <a:pt x="13" y="22"/>
                    </a:lnTo>
                    <a:close/>
                  </a:path>
                </a:pathLst>
              </a:custGeom>
              <a:solidFill>
                <a:srgbClr val="000000"/>
              </a:solidFill>
              <a:ln w="9525">
                <a:noFill/>
                <a:round/>
                <a:headEnd/>
                <a:tailEnd/>
              </a:ln>
            </p:spPr>
            <p:txBody>
              <a:bodyPr/>
              <a:lstStyle/>
              <a:p>
                <a:endParaRPr lang="en-US"/>
              </a:p>
            </p:txBody>
          </p:sp>
          <p:sp>
            <p:nvSpPr>
              <p:cNvPr id="24640" name="Freeform 29"/>
              <p:cNvSpPr>
                <a:spLocks/>
              </p:cNvSpPr>
              <p:nvPr/>
            </p:nvSpPr>
            <p:spPr bwMode="auto">
              <a:xfrm>
                <a:off x="2093" y="3715"/>
                <a:ext cx="157" cy="37"/>
              </a:xfrm>
              <a:custGeom>
                <a:avLst/>
                <a:gdLst>
                  <a:gd name="T0" fmla="*/ 1 w 313"/>
                  <a:gd name="T1" fmla="*/ 0 h 75"/>
                  <a:gd name="T2" fmla="*/ 1 w 313"/>
                  <a:gd name="T3" fmla="*/ 0 h 75"/>
                  <a:gd name="T4" fmla="*/ 1 w 313"/>
                  <a:gd name="T5" fmla="*/ 0 h 75"/>
                  <a:gd name="T6" fmla="*/ 1 w 313"/>
                  <a:gd name="T7" fmla="*/ 0 h 75"/>
                  <a:gd name="T8" fmla="*/ 1 w 313"/>
                  <a:gd name="T9" fmla="*/ 0 h 75"/>
                  <a:gd name="T10" fmla="*/ 0 w 313"/>
                  <a:gd name="T11" fmla="*/ 0 h 75"/>
                  <a:gd name="T12" fmla="*/ 1 w 313"/>
                  <a:gd name="T13" fmla="*/ 0 h 75"/>
                  <a:gd name="T14" fmla="*/ 1 w 313"/>
                  <a:gd name="T15" fmla="*/ 0 h 75"/>
                  <a:gd name="T16" fmla="*/ 0 w 313"/>
                  <a:gd name="T17" fmla="*/ 0 h 75"/>
                  <a:gd name="T18" fmla="*/ 1 w 313"/>
                  <a:gd name="T19" fmla="*/ 0 h 75"/>
                  <a:gd name="T20" fmla="*/ 1 w 313"/>
                  <a:gd name="T21" fmla="*/ 0 h 75"/>
                  <a:gd name="T22" fmla="*/ 1 w 313"/>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3"/>
                  <a:gd name="T37" fmla="*/ 0 h 75"/>
                  <a:gd name="T38" fmla="*/ 313 w 313"/>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3" h="75">
                    <a:moveTo>
                      <a:pt x="22" y="64"/>
                    </a:moveTo>
                    <a:lnTo>
                      <a:pt x="12" y="75"/>
                    </a:lnTo>
                    <a:lnTo>
                      <a:pt x="313" y="22"/>
                    </a:lnTo>
                    <a:lnTo>
                      <a:pt x="310" y="0"/>
                    </a:lnTo>
                    <a:lnTo>
                      <a:pt x="9" y="53"/>
                    </a:lnTo>
                    <a:lnTo>
                      <a:pt x="0" y="64"/>
                    </a:lnTo>
                    <a:lnTo>
                      <a:pt x="9" y="53"/>
                    </a:lnTo>
                    <a:lnTo>
                      <a:pt x="1" y="58"/>
                    </a:lnTo>
                    <a:lnTo>
                      <a:pt x="0" y="65"/>
                    </a:lnTo>
                    <a:lnTo>
                      <a:pt x="5" y="72"/>
                    </a:lnTo>
                    <a:lnTo>
                      <a:pt x="12" y="75"/>
                    </a:lnTo>
                    <a:lnTo>
                      <a:pt x="22" y="64"/>
                    </a:lnTo>
                    <a:close/>
                  </a:path>
                </a:pathLst>
              </a:custGeom>
              <a:solidFill>
                <a:srgbClr val="000000"/>
              </a:solidFill>
              <a:ln w="9525">
                <a:noFill/>
                <a:round/>
                <a:headEnd/>
                <a:tailEnd/>
              </a:ln>
            </p:spPr>
            <p:txBody>
              <a:bodyPr/>
              <a:lstStyle/>
              <a:p>
                <a:endParaRPr lang="en-US"/>
              </a:p>
            </p:txBody>
          </p:sp>
          <p:sp>
            <p:nvSpPr>
              <p:cNvPr id="24641" name="Freeform 30"/>
              <p:cNvSpPr>
                <a:spLocks/>
              </p:cNvSpPr>
              <p:nvPr/>
            </p:nvSpPr>
            <p:spPr bwMode="auto">
              <a:xfrm>
                <a:off x="1840" y="3694"/>
                <a:ext cx="123" cy="254"/>
              </a:xfrm>
              <a:custGeom>
                <a:avLst/>
                <a:gdLst>
                  <a:gd name="T0" fmla="*/ 1 w 245"/>
                  <a:gd name="T1" fmla="*/ 0 h 508"/>
                  <a:gd name="T2" fmla="*/ 1 w 245"/>
                  <a:gd name="T3" fmla="*/ 1 h 508"/>
                  <a:gd name="T4" fmla="*/ 0 w 245"/>
                  <a:gd name="T5" fmla="*/ 1 h 508"/>
                  <a:gd name="T6" fmla="*/ 0 w 245"/>
                  <a:gd name="T7" fmla="*/ 1 h 508"/>
                  <a:gd name="T8" fmla="*/ 1 w 245"/>
                  <a:gd name="T9" fmla="*/ 0 h 508"/>
                  <a:gd name="T10" fmla="*/ 0 60000 65536"/>
                  <a:gd name="T11" fmla="*/ 0 60000 65536"/>
                  <a:gd name="T12" fmla="*/ 0 60000 65536"/>
                  <a:gd name="T13" fmla="*/ 0 60000 65536"/>
                  <a:gd name="T14" fmla="*/ 0 60000 65536"/>
                  <a:gd name="T15" fmla="*/ 0 w 245"/>
                  <a:gd name="T16" fmla="*/ 0 h 508"/>
                  <a:gd name="T17" fmla="*/ 245 w 245"/>
                  <a:gd name="T18" fmla="*/ 508 h 508"/>
                </a:gdLst>
                <a:ahLst/>
                <a:cxnLst>
                  <a:cxn ang="T10">
                    <a:pos x="T0" y="T1"/>
                  </a:cxn>
                  <a:cxn ang="T11">
                    <a:pos x="T2" y="T3"/>
                  </a:cxn>
                  <a:cxn ang="T12">
                    <a:pos x="T4" y="T5"/>
                  </a:cxn>
                  <a:cxn ang="T13">
                    <a:pos x="T6" y="T7"/>
                  </a:cxn>
                  <a:cxn ang="T14">
                    <a:pos x="T8" y="T9"/>
                  </a:cxn>
                </a:cxnLst>
                <a:rect l="T15" t="T16" r="T17" b="T18"/>
                <a:pathLst>
                  <a:path w="245" h="508">
                    <a:moveTo>
                      <a:pt x="245" y="0"/>
                    </a:moveTo>
                    <a:lnTo>
                      <a:pt x="245" y="366"/>
                    </a:lnTo>
                    <a:lnTo>
                      <a:pt x="0" y="508"/>
                    </a:lnTo>
                    <a:lnTo>
                      <a:pt x="0" y="143"/>
                    </a:lnTo>
                    <a:lnTo>
                      <a:pt x="245" y="0"/>
                    </a:lnTo>
                    <a:close/>
                  </a:path>
                </a:pathLst>
              </a:custGeom>
              <a:solidFill>
                <a:srgbClr val="4CFF00"/>
              </a:solidFill>
              <a:ln w="9525">
                <a:noFill/>
                <a:round/>
                <a:headEnd/>
                <a:tailEnd/>
              </a:ln>
            </p:spPr>
            <p:txBody>
              <a:bodyPr/>
              <a:lstStyle/>
              <a:p>
                <a:endParaRPr lang="en-US"/>
              </a:p>
            </p:txBody>
          </p:sp>
          <p:sp>
            <p:nvSpPr>
              <p:cNvPr id="24642" name="Freeform 31"/>
              <p:cNvSpPr>
                <a:spLocks/>
              </p:cNvSpPr>
              <p:nvPr/>
            </p:nvSpPr>
            <p:spPr bwMode="auto">
              <a:xfrm>
                <a:off x="1957" y="3694"/>
                <a:ext cx="11" cy="188"/>
              </a:xfrm>
              <a:custGeom>
                <a:avLst/>
                <a:gdLst>
                  <a:gd name="T0" fmla="*/ 1 w 22"/>
                  <a:gd name="T1" fmla="*/ 0 h 377"/>
                  <a:gd name="T2" fmla="*/ 1 w 22"/>
                  <a:gd name="T3" fmla="*/ 0 h 377"/>
                  <a:gd name="T4" fmla="*/ 1 w 22"/>
                  <a:gd name="T5" fmla="*/ 0 h 377"/>
                  <a:gd name="T6" fmla="*/ 0 w 22"/>
                  <a:gd name="T7" fmla="*/ 0 h 377"/>
                  <a:gd name="T8" fmla="*/ 0 w 22"/>
                  <a:gd name="T9" fmla="*/ 0 h 377"/>
                  <a:gd name="T10" fmla="*/ 1 w 22"/>
                  <a:gd name="T11" fmla="*/ 0 h 377"/>
                  <a:gd name="T12" fmla="*/ 0 w 22"/>
                  <a:gd name="T13" fmla="*/ 0 h 377"/>
                  <a:gd name="T14" fmla="*/ 1 w 22"/>
                  <a:gd name="T15" fmla="*/ 0 h 377"/>
                  <a:gd name="T16" fmla="*/ 1 w 22"/>
                  <a:gd name="T17" fmla="*/ 0 h 377"/>
                  <a:gd name="T18" fmla="*/ 1 w 22"/>
                  <a:gd name="T19" fmla="*/ 0 h 377"/>
                  <a:gd name="T20" fmla="*/ 1 w 22"/>
                  <a:gd name="T21" fmla="*/ 0 h 377"/>
                  <a:gd name="T22" fmla="*/ 1 w 22"/>
                  <a:gd name="T23" fmla="*/ 0 h 3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7"/>
                  <a:gd name="T38" fmla="*/ 22 w 22"/>
                  <a:gd name="T39" fmla="*/ 377 h 3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7">
                    <a:moveTo>
                      <a:pt x="16" y="375"/>
                    </a:moveTo>
                    <a:lnTo>
                      <a:pt x="22" y="366"/>
                    </a:lnTo>
                    <a:lnTo>
                      <a:pt x="22" y="0"/>
                    </a:lnTo>
                    <a:lnTo>
                      <a:pt x="0" y="0"/>
                    </a:lnTo>
                    <a:lnTo>
                      <a:pt x="0" y="366"/>
                    </a:lnTo>
                    <a:lnTo>
                      <a:pt x="7" y="356"/>
                    </a:lnTo>
                    <a:lnTo>
                      <a:pt x="0" y="366"/>
                    </a:lnTo>
                    <a:lnTo>
                      <a:pt x="4" y="373"/>
                    </a:lnTo>
                    <a:lnTo>
                      <a:pt x="11" y="377"/>
                    </a:lnTo>
                    <a:lnTo>
                      <a:pt x="19" y="373"/>
                    </a:lnTo>
                    <a:lnTo>
                      <a:pt x="22" y="366"/>
                    </a:lnTo>
                    <a:lnTo>
                      <a:pt x="16" y="375"/>
                    </a:lnTo>
                    <a:close/>
                  </a:path>
                </a:pathLst>
              </a:custGeom>
              <a:solidFill>
                <a:srgbClr val="000000"/>
              </a:solidFill>
              <a:ln w="9525">
                <a:noFill/>
                <a:round/>
                <a:headEnd/>
                <a:tailEnd/>
              </a:ln>
            </p:spPr>
            <p:txBody>
              <a:bodyPr/>
              <a:lstStyle/>
              <a:p>
                <a:endParaRPr lang="en-US"/>
              </a:p>
            </p:txBody>
          </p:sp>
          <p:sp>
            <p:nvSpPr>
              <p:cNvPr id="24643" name="Freeform 32"/>
              <p:cNvSpPr>
                <a:spLocks/>
              </p:cNvSpPr>
              <p:nvPr/>
            </p:nvSpPr>
            <p:spPr bwMode="auto">
              <a:xfrm>
                <a:off x="1834" y="3872"/>
                <a:ext cx="131" cy="81"/>
              </a:xfrm>
              <a:custGeom>
                <a:avLst/>
                <a:gdLst>
                  <a:gd name="T0" fmla="*/ 0 w 261"/>
                  <a:gd name="T1" fmla="*/ 1 h 161"/>
                  <a:gd name="T2" fmla="*/ 1 w 261"/>
                  <a:gd name="T3" fmla="*/ 1 h 161"/>
                  <a:gd name="T4" fmla="*/ 1 w 261"/>
                  <a:gd name="T5" fmla="*/ 1 h 161"/>
                  <a:gd name="T6" fmla="*/ 1 w 261"/>
                  <a:gd name="T7" fmla="*/ 0 h 161"/>
                  <a:gd name="T8" fmla="*/ 1 w 261"/>
                  <a:gd name="T9" fmla="*/ 1 h 161"/>
                  <a:gd name="T10" fmla="*/ 1 w 261"/>
                  <a:gd name="T11" fmla="*/ 1 h 161"/>
                  <a:gd name="T12" fmla="*/ 1 w 261"/>
                  <a:gd name="T13" fmla="*/ 1 h 161"/>
                  <a:gd name="T14" fmla="*/ 0 w 261"/>
                  <a:gd name="T15" fmla="*/ 1 h 161"/>
                  <a:gd name="T16" fmla="*/ 1 w 261"/>
                  <a:gd name="T17" fmla="*/ 1 h 161"/>
                  <a:gd name="T18" fmla="*/ 1 w 261"/>
                  <a:gd name="T19" fmla="*/ 1 h 161"/>
                  <a:gd name="T20" fmla="*/ 1 w 261"/>
                  <a:gd name="T21" fmla="*/ 1 h 161"/>
                  <a:gd name="T22" fmla="*/ 0 w 261"/>
                  <a:gd name="T23" fmla="*/ 1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1"/>
                  <a:gd name="T37" fmla="*/ 0 h 161"/>
                  <a:gd name="T38" fmla="*/ 261 w 261"/>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1" h="161">
                    <a:moveTo>
                      <a:pt x="0" y="152"/>
                    </a:moveTo>
                    <a:lnTo>
                      <a:pt x="15" y="161"/>
                    </a:lnTo>
                    <a:lnTo>
                      <a:pt x="261" y="19"/>
                    </a:lnTo>
                    <a:lnTo>
                      <a:pt x="252" y="0"/>
                    </a:lnTo>
                    <a:lnTo>
                      <a:pt x="6" y="143"/>
                    </a:lnTo>
                    <a:lnTo>
                      <a:pt x="21" y="152"/>
                    </a:lnTo>
                    <a:lnTo>
                      <a:pt x="6" y="143"/>
                    </a:lnTo>
                    <a:lnTo>
                      <a:pt x="0" y="149"/>
                    </a:lnTo>
                    <a:lnTo>
                      <a:pt x="1" y="157"/>
                    </a:lnTo>
                    <a:lnTo>
                      <a:pt x="7" y="161"/>
                    </a:lnTo>
                    <a:lnTo>
                      <a:pt x="15" y="161"/>
                    </a:lnTo>
                    <a:lnTo>
                      <a:pt x="0" y="152"/>
                    </a:lnTo>
                    <a:close/>
                  </a:path>
                </a:pathLst>
              </a:custGeom>
              <a:solidFill>
                <a:srgbClr val="000000"/>
              </a:solidFill>
              <a:ln w="9525">
                <a:noFill/>
                <a:round/>
                <a:headEnd/>
                <a:tailEnd/>
              </a:ln>
            </p:spPr>
            <p:txBody>
              <a:bodyPr/>
              <a:lstStyle/>
              <a:p>
                <a:endParaRPr lang="en-US"/>
              </a:p>
            </p:txBody>
          </p:sp>
          <p:sp>
            <p:nvSpPr>
              <p:cNvPr id="24644" name="Freeform 33"/>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4" y="1"/>
                    </a:moveTo>
                    <a:lnTo>
                      <a:pt x="0" y="10"/>
                    </a:lnTo>
                    <a:lnTo>
                      <a:pt x="0" y="375"/>
                    </a:lnTo>
                    <a:lnTo>
                      <a:pt x="21" y="375"/>
                    </a:lnTo>
                    <a:lnTo>
                      <a:pt x="21" y="10"/>
                    </a:lnTo>
                    <a:lnTo>
                      <a:pt x="17" y="20"/>
                    </a:lnTo>
                    <a:lnTo>
                      <a:pt x="21" y="10"/>
                    </a:lnTo>
                    <a:lnTo>
                      <a:pt x="18" y="3"/>
                    </a:lnTo>
                    <a:lnTo>
                      <a:pt x="11" y="0"/>
                    </a:lnTo>
                    <a:lnTo>
                      <a:pt x="3" y="3"/>
                    </a:lnTo>
                    <a:lnTo>
                      <a:pt x="0" y="10"/>
                    </a:lnTo>
                    <a:lnTo>
                      <a:pt x="4" y="1"/>
                    </a:lnTo>
                    <a:close/>
                  </a:path>
                </a:pathLst>
              </a:custGeom>
              <a:solidFill>
                <a:srgbClr val="000000"/>
              </a:solidFill>
              <a:ln w="9525">
                <a:noFill/>
                <a:round/>
                <a:headEnd/>
                <a:tailEnd/>
              </a:ln>
            </p:spPr>
            <p:txBody>
              <a:bodyPr/>
              <a:lstStyle/>
              <a:p>
                <a:endParaRPr lang="en-US"/>
              </a:p>
            </p:txBody>
          </p:sp>
          <p:sp>
            <p:nvSpPr>
              <p:cNvPr id="24645" name="Freeform 34"/>
              <p:cNvSpPr>
                <a:spLocks/>
              </p:cNvSpPr>
              <p:nvPr/>
            </p:nvSpPr>
            <p:spPr bwMode="auto">
              <a:xfrm>
                <a:off x="1837" y="3688"/>
                <a:ext cx="131" cy="82"/>
              </a:xfrm>
              <a:custGeom>
                <a:avLst/>
                <a:gdLst>
                  <a:gd name="T0" fmla="*/ 0 w 263"/>
                  <a:gd name="T1" fmla="*/ 1 h 164"/>
                  <a:gd name="T2" fmla="*/ 0 w 263"/>
                  <a:gd name="T3" fmla="*/ 1 h 164"/>
                  <a:gd name="T4" fmla="*/ 0 w 263"/>
                  <a:gd name="T5" fmla="*/ 1 h 164"/>
                  <a:gd name="T6" fmla="*/ 0 w 263"/>
                  <a:gd name="T7" fmla="*/ 1 h 164"/>
                  <a:gd name="T8" fmla="*/ 0 w 263"/>
                  <a:gd name="T9" fmla="*/ 1 h 164"/>
                  <a:gd name="T10" fmla="*/ 0 w 263"/>
                  <a:gd name="T11" fmla="*/ 1 h 164"/>
                  <a:gd name="T12" fmla="*/ 0 w 263"/>
                  <a:gd name="T13" fmla="*/ 1 h 164"/>
                  <a:gd name="T14" fmla="*/ 0 w 263"/>
                  <a:gd name="T15" fmla="*/ 1 h 164"/>
                  <a:gd name="T16" fmla="*/ 0 w 263"/>
                  <a:gd name="T17" fmla="*/ 1 h 164"/>
                  <a:gd name="T18" fmla="*/ 0 w 263"/>
                  <a:gd name="T19" fmla="*/ 0 h 164"/>
                  <a:gd name="T20" fmla="*/ 0 w 263"/>
                  <a:gd name="T21" fmla="*/ 1 h 164"/>
                  <a:gd name="T22" fmla="*/ 0 w 263"/>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4"/>
                  <a:gd name="T38" fmla="*/ 263 w 263"/>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4">
                    <a:moveTo>
                      <a:pt x="263" y="11"/>
                    </a:moveTo>
                    <a:lnTo>
                      <a:pt x="246" y="1"/>
                    </a:lnTo>
                    <a:lnTo>
                      <a:pt x="0" y="145"/>
                    </a:lnTo>
                    <a:lnTo>
                      <a:pt x="13" y="164"/>
                    </a:lnTo>
                    <a:lnTo>
                      <a:pt x="259" y="20"/>
                    </a:lnTo>
                    <a:lnTo>
                      <a:pt x="241" y="11"/>
                    </a:lnTo>
                    <a:lnTo>
                      <a:pt x="259" y="20"/>
                    </a:lnTo>
                    <a:lnTo>
                      <a:pt x="263" y="12"/>
                    </a:lnTo>
                    <a:lnTo>
                      <a:pt x="262" y="4"/>
                    </a:lnTo>
                    <a:lnTo>
                      <a:pt x="255" y="0"/>
                    </a:lnTo>
                    <a:lnTo>
                      <a:pt x="246" y="1"/>
                    </a:lnTo>
                    <a:lnTo>
                      <a:pt x="263" y="11"/>
                    </a:lnTo>
                    <a:close/>
                  </a:path>
                </a:pathLst>
              </a:custGeom>
              <a:solidFill>
                <a:srgbClr val="000000"/>
              </a:solidFill>
              <a:ln w="9525">
                <a:noFill/>
                <a:round/>
                <a:headEnd/>
                <a:tailEnd/>
              </a:ln>
            </p:spPr>
            <p:txBody>
              <a:bodyPr/>
              <a:lstStyle/>
              <a:p>
                <a:endParaRPr lang="en-US"/>
              </a:p>
            </p:txBody>
          </p:sp>
          <p:sp>
            <p:nvSpPr>
              <p:cNvPr id="24646" name="Freeform 35"/>
              <p:cNvSpPr>
                <a:spLocks/>
              </p:cNvSpPr>
              <p:nvPr/>
            </p:nvSpPr>
            <p:spPr bwMode="auto">
              <a:xfrm>
                <a:off x="2169" y="3499"/>
                <a:ext cx="125" cy="253"/>
              </a:xfrm>
              <a:custGeom>
                <a:avLst/>
                <a:gdLst>
                  <a:gd name="T0" fmla="*/ 1 w 249"/>
                  <a:gd name="T1" fmla="*/ 0 h 507"/>
                  <a:gd name="T2" fmla="*/ 1 w 249"/>
                  <a:gd name="T3" fmla="*/ 0 h 507"/>
                  <a:gd name="T4" fmla="*/ 0 w 249"/>
                  <a:gd name="T5" fmla="*/ 0 h 507"/>
                  <a:gd name="T6" fmla="*/ 0 w 249"/>
                  <a:gd name="T7" fmla="*/ 0 h 507"/>
                  <a:gd name="T8" fmla="*/ 1 w 249"/>
                  <a:gd name="T9" fmla="*/ 0 h 507"/>
                  <a:gd name="T10" fmla="*/ 0 60000 65536"/>
                  <a:gd name="T11" fmla="*/ 0 60000 65536"/>
                  <a:gd name="T12" fmla="*/ 0 60000 65536"/>
                  <a:gd name="T13" fmla="*/ 0 60000 65536"/>
                  <a:gd name="T14" fmla="*/ 0 60000 65536"/>
                  <a:gd name="T15" fmla="*/ 0 w 249"/>
                  <a:gd name="T16" fmla="*/ 0 h 507"/>
                  <a:gd name="T17" fmla="*/ 249 w 249"/>
                  <a:gd name="T18" fmla="*/ 507 h 507"/>
                </a:gdLst>
                <a:ahLst/>
                <a:cxnLst>
                  <a:cxn ang="T10">
                    <a:pos x="T0" y="T1"/>
                  </a:cxn>
                  <a:cxn ang="T11">
                    <a:pos x="T2" y="T3"/>
                  </a:cxn>
                  <a:cxn ang="T12">
                    <a:pos x="T4" y="T5"/>
                  </a:cxn>
                  <a:cxn ang="T13">
                    <a:pos x="T6" y="T7"/>
                  </a:cxn>
                  <a:cxn ang="T14">
                    <a:pos x="T8" y="T9"/>
                  </a:cxn>
                </a:cxnLst>
                <a:rect l="T15" t="T16" r="T17" b="T18"/>
                <a:pathLst>
                  <a:path w="249" h="507">
                    <a:moveTo>
                      <a:pt x="249" y="0"/>
                    </a:moveTo>
                    <a:lnTo>
                      <a:pt x="247" y="364"/>
                    </a:lnTo>
                    <a:lnTo>
                      <a:pt x="0" y="507"/>
                    </a:lnTo>
                    <a:lnTo>
                      <a:pt x="0" y="144"/>
                    </a:lnTo>
                    <a:lnTo>
                      <a:pt x="249" y="0"/>
                    </a:lnTo>
                    <a:close/>
                  </a:path>
                </a:pathLst>
              </a:custGeom>
              <a:solidFill>
                <a:srgbClr val="4CFF00"/>
              </a:solidFill>
              <a:ln w="9525">
                <a:noFill/>
                <a:round/>
                <a:headEnd/>
                <a:tailEnd/>
              </a:ln>
            </p:spPr>
            <p:txBody>
              <a:bodyPr/>
              <a:lstStyle/>
              <a:p>
                <a:endParaRPr lang="en-US"/>
              </a:p>
            </p:txBody>
          </p:sp>
          <p:sp>
            <p:nvSpPr>
              <p:cNvPr id="24647" name="Freeform 36"/>
              <p:cNvSpPr>
                <a:spLocks/>
              </p:cNvSpPr>
              <p:nvPr/>
            </p:nvSpPr>
            <p:spPr bwMode="auto">
              <a:xfrm>
                <a:off x="2288" y="3499"/>
                <a:ext cx="11" cy="188"/>
              </a:xfrm>
              <a:custGeom>
                <a:avLst/>
                <a:gdLst>
                  <a:gd name="T0" fmla="*/ 0 w 24"/>
                  <a:gd name="T1" fmla="*/ 1 h 375"/>
                  <a:gd name="T2" fmla="*/ 0 w 24"/>
                  <a:gd name="T3" fmla="*/ 1 h 375"/>
                  <a:gd name="T4" fmla="*/ 0 w 24"/>
                  <a:gd name="T5" fmla="*/ 0 h 375"/>
                  <a:gd name="T6" fmla="*/ 0 w 24"/>
                  <a:gd name="T7" fmla="*/ 0 h 375"/>
                  <a:gd name="T8" fmla="*/ 0 w 24"/>
                  <a:gd name="T9" fmla="*/ 1 h 375"/>
                  <a:gd name="T10" fmla="*/ 0 w 24"/>
                  <a:gd name="T11" fmla="*/ 1 h 375"/>
                  <a:gd name="T12" fmla="*/ 0 w 24"/>
                  <a:gd name="T13" fmla="*/ 1 h 375"/>
                  <a:gd name="T14" fmla="*/ 0 w 24"/>
                  <a:gd name="T15" fmla="*/ 1 h 375"/>
                  <a:gd name="T16" fmla="*/ 0 w 24"/>
                  <a:gd name="T17" fmla="*/ 1 h 375"/>
                  <a:gd name="T18" fmla="*/ 0 w 24"/>
                  <a:gd name="T19" fmla="*/ 1 h 375"/>
                  <a:gd name="T20" fmla="*/ 0 w 24"/>
                  <a:gd name="T21" fmla="*/ 1 h 375"/>
                  <a:gd name="T22" fmla="*/ 0 w 24"/>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75"/>
                  <a:gd name="T38" fmla="*/ 24 w 24"/>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75">
                    <a:moveTo>
                      <a:pt x="16" y="374"/>
                    </a:moveTo>
                    <a:lnTo>
                      <a:pt x="22" y="364"/>
                    </a:lnTo>
                    <a:lnTo>
                      <a:pt x="24" y="0"/>
                    </a:lnTo>
                    <a:lnTo>
                      <a:pt x="2" y="0"/>
                    </a:lnTo>
                    <a:lnTo>
                      <a:pt x="0" y="364"/>
                    </a:lnTo>
                    <a:lnTo>
                      <a:pt x="6" y="355"/>
                    </a:lnTo>
                    <a:lnTo>
                      <a:pt x="0" y="364"/>
                    </a:lnTo>
                    <a:lnTo>
                      <a:pt x="3" y="372"/>
                    </a:lnTo>
                    <a:lnTo>
                      <a:pt x="11" y="375"/>
                    </a:lnTo>
                    <a:lnTo>
                      <a:pt x="19" y="372"/>
                    </a:lnTo>
                    <a:lnTo>
                      <a:pt x="22" y="364"/>
                    </a:lnTo>
                    <a:lnTo>
                      <a:pt x="16" y="374"/>
                    </a:lnTo>
                    <a:close/>
                  </a:path>
                </a:pathLst>
              </a:custGeom>
              <a:solidFill>
                <a:srgbClr val="000000"/>
              </a:solidFill>
              <a:ln w="9525">
                <a:noFill/>
                <a:round/>
                <a:headEnd/>
                <a:tailEnd/>
              </a:ln>
            </p:spPr>
            <p:txBody>
              <a:bodyPr/>
              <a:lstStyle/>
              <a:p>
                <a:endParaRPr lang="en-US"/>
              </a:p>
            </p:txBody>
          </p:sp>
          <p:sp>
            <p:nvSpPr>
              <p:cNvPr id="24648" name="Freeform 37"/>
              <p:cNvSpPr>
                <a:spLocks/>
              </p:cNvSpPr>
              <p:nvPr/>
            </p:nvSpPr>
            <p:spPr bwMode="auto">
              <a:xfrm>
                <a:off x="2164" y="3677"/>
                <a:ext cx="131" cy="80"/>
              </a:xfrm>
              <a:custGeom>
                <a:avLst/>
                <a:gdLst>
                  <a:gd name="T0" fmla="*/ 0 w 263"/>
                  <a:gd name="T1" fmla="*/ 0 h 161"/>
                  <a:gd name="T2" fmla="*/ 0 w 263"/>
                  <a:gd name="T3" fmla="*/ 0 h 161"/>
                  <a:gd name="T4" fmla="*/ 0 w 263"/>
                  <a:gd name="T5" fmla="*/ 0 h 161"/>
                  <a:gd name="T6" fmla="*/ 0 w 263"/>
                  <a:gd name="T7" fmla="*/ 0 h 161"/>
                  <a:gd name="T8" fmla="*/ 0 w 263"/>
                  <a:gd name="T9" fmla="*/ 0 h 161"/>
                  <a:gd name="T10" fmla="*/ 0 w 263"/>
                  <a:gd name="T11" fmla="*/ 0 h 161"/>
                  <a:gd name="T12" fmla="*/ 0 w 263"/>
                  <a:gd name="T13" fmla="*/ 0 h 161"/>
                  <a:gd name="T14" fmla="*/ 0 w 263"/>
                  <a:gd name="T15" fmla="*/ 0 h 161"/>
                  <a:gd name="T16" fmla="*/ 0 w 263"/>
                  <a:gd name="T17" fmla="*/ 0 h 161"/>
                  <a:gd name="T18" fmla="*/ 0 w 263"/>
                  <a:gd name="T19" fmla="*/ 0 h 161"/>
                  <a:gd name="T20" fmla="*/ 0 w 263"/>
                  <a:gd name="T21" fmla="*/ 0 h 161"/>
                  <a:gd name="T22" fmla="*/ 0 w 263"/>
                  <a:gd name="T23" fmla="*/ 0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1"/>
                  <a:gd name="T38" fmla="*/ 263 w 263"/>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1">
                    <a:moveTo>
                      <a:pt x="0" y="152"/>
                    </a:moveTo>
                    <a:lnTo>
                      <a:pt x="15" y="161"/>
                    </a:lnTo>
                    <a:lnTo>
                      <a:pt x="263" y="19"/>
                    </a:lnTo>
                    <a:lnTo>
                      <a:pt x="253" y="0"/>
                    </a:lnTo>
                    <a:lnTo>
                      <a:pt x="6" y="142"/>
                    </a:lnTo>
                    <a:lnTo>
                      <a:pt x="22" y="152"/>
                    </a:lnTo>
                    <a:lnTo>
                      <a:pt x="6" y="142"/>
                    </a:lnTo>
                    <a:lnTo>
                      <a:pt x="0" y="149"/>
                    </a:lnTo>
                    <a:lnTo>
                      <a:pt x="1" y="157"/>
                    </a:lnTo>
                    <a:lnTo>
                      <a:pt x="8" y="161"/>
                    </a:lnTo>
                    <a:lnTo>
                      <a:pt x="15" y="161"/>
                    </a:lnTo>
                    <a:lnTo>
                      <a:pt x="0" y="152"/>
                    </a:lnTo>
                    <a:close/>
                  </a:path>
                </a:pathLst>
              </a:custGeom>
              <a:solidFill>
                <a:srgbClr val="000000"/>
              </a:solidFill>
              <a:ln w="9525">
                <a:noFill/>
                <a:round/>
                <a:headEnd/>
                <a:tailEnd/>
              </a:ln>
            </p:spPr>
            <p:txBody>
              <a:bodyPr/>
              <a:lstStyle/>
              <a:p>
                <a:endParaRPr lang="en-US"/>
              </a:p>
            </p:txBody>
          </p:sp>
          <p:sp>
            <p:nvSpPr>
              <p:cNvPr id="24649" name="Freeform 38"/>
              <p:cNvSpPr>
                <a:spLocks/>
              </p:cNvSpPr>
              <p:nvPr/>
            </p:nvSpPr>
            <p:spPr bwMode="auto">
              <a:xfrm>
                <a:off x="2164" y="3565"/>
                <a:ext cx="11" cy="187"/>
              </a:xfrm>
              <a:custGeom>
                <a:avLst/>
                <a:gdLst>
                  <a:gd name="T0" fmla="*/ 1 w 22"/>
                  <a:gd name="T1" fmla="*/ 1 h 374"/>
                  <a:gd name="T2" fmla="*/ 0 w 22"/>
                  <a:gd name="T3" fmla="*/ 1 h 374"/>
                  <a:gd name="T4" fmla="*/ 0 w 22"/>
                  <a:gd name="T5" fmla="*/ 1 h 374"/>
                  <a:gd name="T6" fmla="*/ 1 w 22"/>
                  <a:gd name="T7" fmla="*/ 1 h 374"/>
                  <a:gd name="T8" fmla="*/ 1 w 22"/>
                  <a:gd name="T9" fmla="*/ 1 h 374"/>
                  <a:gd name="T10" fmla="*/ 1 w 22"/>
                  <a:gd name="T11" fmla="*/ 1 h 374"/>
                  <a:gd name="T12" fmla="*/ 1 w 22"/>
                  <a:gd name="T13" fmla="*/ 1 h 374"/>
                  <a:gd name="T14" fmla="*/ 1 w 22"/>
                  <a:gd name="T15" fmla="*/ 1 h 374"/>
                  <a:gd name="T16" fmla="*/ 1 w 22"/>
                  <a:gd name="T17" fmla="*/ 0 h 374"/>
                  <a:gd name="T18" fmla="*/ 1 w 22"/>
                  <a:gd name="T19" fmla="*/ 1 h 374"/>
                  <a:gd name="T20" fmla="*/ 0 w 22"/>
                  <a:gd name="T21" fmla="*/ 1 h 374"/>
                  <a:gd name="T22" fmla="*/ 1 w 22"/>
                  <a:gd name="T23" fmla="*/ 1 h 37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4"/>
                  <a:gd name="T38" fmla="*/ 22 w 22"/>
                  <a:gd name="T39" fmla="*/ 374 h 37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4">
                    <a:moveTo>
                      <a:pt x="4" y="1"/>
                    </a:moveTo>
                    <a:lnTo>
                      <a:pt x="0" y="11"/>
                    </a:lnTo>
                    <a:lnTo>
                      <a:pt x="0" y="374"/>
                    </a:lnTo>
                    <a:lnTo>
                      <a:pt x="22" y="374"/>
                    </a:lnTo>
                    <a:lnTo>
                      <a:pt x="22" y="11"/>
                    </a:lnTo>
                    <a:lnTo>
                      <a:pt x="17" y="20"/>
                    </a:lnTo>
                    <a:lnTo>
                      <a:pt x="22" y="11"/>
                    </a:lnTo>
                    <a:lnTo>
                      <a:pt x="19" y="3"/>
                    </a:lnTo>
                    <a:lnTo>
                      <a:pt x="11" y="0"/>
                    </a:lnTo>
                    <a:lnTo>
                      <a:pt x="3" y="3"/>
                    </a:lnTo>
                    <a:lnTo>
                      <a:pt x="0" y="11"/>
                    </a:lnTo>
                    <a:lnTo>
                      <a:pt x="4" y="1"/>
                    </a:lnTo>
                    <a:close/>
                  </a:path>
                </a:pathLst>
              </a:custGeom>
              <a:solidFill>
                <a:srgbClr val="000000"/>
              </a:solidFill>
              <a:ln w="9525">
                <a:noFill/>
                <a:round/>
                <a:headEnd/>
                <a:tailEnd/>
              </a:ln>
            </p:spPr>
            <p:txBody>
              <a:bodyPr/>
              <a:lstStyle/>
              <a:p>
                <a:endParaRPr lang="en-US"/>
              </a:p>
            </p:txBody>
          </p:sp>
          <p:sp>
            <p:nvSpPr>
              <p:cNvPr id="24650" name="Freeform 39"/>
              <p:cNvSpPr>
                <a:spLocks/>
              </p:cNvSpPr>
              <p:nvPr/>
            </p:nvSpPr>
            <p:spPr bwMode="auto">
              <a:xfrm>
                <a:off x="2166" y="3493"/>
                <a:ext cx="133" cy="83"/>
              </a:xfrm>
              <a:custGeom>
                <a:avLst/>
                <a:gdLst>
                  <a:gd name="T0" fmla="*/ 0 w 267"/>
                  <a:gd name="T1" fmla="*/ 1 h 164"/>
                  <a:gd name="T2" fmla="*/ 0 w 267"/>
                  <a:gd name="T3" fmla="*/ 1 h 164"/>
                  <a:gd name="T4" fmla="*/ 0 w 267"/>
                  <a:gd name="T5" fmla="*/ 1 h 164"/>
                  <a:gd name="T6" fmla="*/ 0 w 267"/>
                  <a:gd name="T7" fmla="*/ 1 h 164"/>
                  <a:gd name="T8" fmla="*/ 0 w 267"/>
                  <a:gd name="T9" fmla="*/ 1 h 164"/>
                  <a:gd name="T10" fmla="*/ 0 w 267"/>
                  <a:gd name="T11" fmla="*/ 1 h 164"/>
                  <a:gd name="T12" fmla="*/ 0 w 267"/>
                  <a:gd name="T13" fmla="*/ 1 h 164"/>
                  <a:gd name="T14" fmla="*/ 0 w 267"/>
                  <a:gd name="T15" fmla="*/ 1 h 164"/>
                  <a:gd name="T16" fmla="*/ 0 w 267"/>
                  <a:gd name="T17" fmla="*/ 1 h 164"/>
                  <a:gd name="T18" fmla="*/ 0 w 267"/>
                  <a:gd name="T19" fmla="*/ 0 h 164"/>
                  <a:gd name="T20" fmla="*/ 0 w 267"/>
                  <a:gd name="T21" fmla="*/ 1 h 164"/>
                  <a:gd name="T22" fmla="*/ 0 w 267"/>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7"/>
                  <a:gd name="T37" fmla="*/ 0 h 164"/>
                  <a:gd name="T38" fmla="*/ 267 w 267"/>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7" h="164">
                    <a:moveTo>
                      <a:pt x="267" y="11"/>
                    </a:moveTo>
                    <a:lnTo>
                      <a:pt x="249" y="2"/>
                    </a:lnTo>
                    <a:lnTo>
                      <a:pt x="0" y="145"/>
                    </a:lnTo>
                    <a:lnTo>
                      <a:pt x="13" y="164"/>
                    </a:lnTo>
                    <a:lnTo>
                      <a:pt x="262" y="20"/>
                    </a:lnTo>
                    <a:lnTo>
                      <a:pt x="245" y="11"/>
                    </a:lnTo>
                    <a:lnTo>
                      <a:pt x="262" y="20"/>
                    </a:lnTo>
                    <a:lnTo>
                      <a:pt x="267" y="12"/>
                    </a:lnTo>
                    <a:lnTo>
                      <a:pt x="265" y="5"/>
                    </a:lnTo>
                    <a:lnTo>
                      <a:pt x="259" y="0"/>
                    </a:lnTo>
                    <a:lnTo>
                      <a:pt x="249" y="2"/>
                    </a:lnTo>
                    <a:lnTo>
                      <a:pt x="267" y="11"/>
                    </a:lnTo>
                    <a:close/>
                  </a:path>
                </a:pathLst>
              </a:custGeom>
              <a:solidFill>
                <a:srgbClr val="000000"/>
              </a:solidFill>
              <a:ln w="9525">
                <a:noFill/>
                <a:round/>
                <a:headEnd/>
                <a:tailEnd/>
              </a:ln>
            </p:spPr>
            <p:txBody>
              <a:bodyPr/>
              <a:lstStyle/>
              <a:p>
                <a:endParaRPr lang="en-US"/>
              </a:p>
            </p:txBody>
          </p:sp>
          <p:sp>
            <p:nvSpPr>
              <p:cNvPr id="24651" name="Freeform 40"/>
              <p:cNvSpPr>
                <a:spLocks/>
              </p:cNvSpPr>
              <p:nvPr/>
            </p:nvSpPr>
            <p:spPr bwMode="auto">
              <a:xfrm>
                <a:off x="1536" y="3312"/>
                <a:ext cx="768" cy="440"/>
              </a:xfrm>
              <a:custGeom>
                <a:avLst/>
                <a:gdLst>
                  <a:gd name="T0" fmla="*/ 0 w 1536"/>
                  <a:gd name="T1" fmla="*/ 1 h 879"/>
                  <a:gd name="T2" fmla="*/ 1 w 1536"/>
                  <a:gd name="T3" fmla="*/ 0 h 879"/>
                  <a:gd name="T4" fmla="*/ 1 w 1536"/>
                  <a:gd name="T5" fmla="*/ 1 h 879"/>
                  <a:gd name="T6" fmla="*/ 1 w 1536"/>
                  <a:gd name="T7" fmla="*/ 1 h 879"/>
                  <a:gd name="T8" fmla="*/ 0 w 1536"/>
                  <a:gd name="T9" fmla="*/ 1 h 879"/>
                  <a:gd name="T10" fmla="*/ 0 60000 65536"/>
                  <a:gd name="T11" fmla="*/ 0 60000 65536"/>
                  <a:gd name="T12" fmla="*/ 0 60000 65536"/>
                  <a:gd name="T13" fmla="*/ 0 60000 65536"/>
                  <a:gd name="T14" fmla="*/ 0 60000 65536"/>
                  <a:gd name="T15" fmla="*/ 0 w 1536"/>
                  <a:gd name="T16" fmla="*/ 0 h 879"/>
                  <a:gd name="T17" fmla="*/ 1536 w 1536"/>
                  <a:gd name="T18" fmla="*/ 879 h 879"/>
                </a:gdLst>
                <a:ahLst/>
                <a:cxnLst>
                  <a:cxn ang="T10">
                    <a:pos x="T0" y="T1"/>
                  </a:cxn>
                  <a:cxn ang="T11">
                    <a:pos x="T2" y="T3"/>
                  </a:cxn>
                  <a:cxn ang="T12">
                    <a:pos x="T4" y="T5"/>
                  </a:cxn>
                  <a:cxn ang="T13">
                    <a:pos x="T6" y="T7"/>
                  </a:cxn>
                  <a:cxn ang="T14">
                    <a:pos x="T8" y="T9"/>
                  </a:cxn>
                </a:cxnLst>
                <a:rect l="T15" t="T16" r="T17" b="T18"/>
                <a:pathLst>
                  <a:path w="1536" h="879">
                    <a:moveTo>
                      <a:pt x="0" y="544"/>
                    </a:moveTo>
                    <a:lnTo>
                      <a:pt x="932" y="0"/>
                    </a:lnTo>
                    <a:lnTo>
                      <a:pt x="1536" y="335"/>
                    </a:lnTo>
                    <a:lnTo>
                      <a:pt x="608" y="879"/>
                    </a:lnTo>
                    <a:lnTo>
                      <a:pt x="0" y="544"/>
                    </a:lnTo>
                    <a:close/>
                  </a:path>
                </a:pathLst>
              </a:custGeom>
              <a:solidFill>
                <a:srgbClr val="B2FF4C"/>
              </a:solidFill>
              <a:ln w="9525">
                <a:noFill/>
                <a:round/>
                <a:headEnd/>
                <a:tailEnd/>
              </a:ln>
            </p:spPr>
            <p:txBody>
              <a:bodyPr/>
              <a:lstStyle/>
              <a:p>
                <a:endParaRPr lang="en-US"/>
              </a:p>
            </p:txBody>
          </p:sp>
          <p:sp>
            <p:nvSpPr>
              <p:cNvPr id="24652" name="Freeform 41"/>
              <p:cNvSpPr>
                <a:spLocks/>
              </p:cNvSpPr>
              <p:nvPr/>
            </p:nvSpPr>
            <p:spPr bwMode="auto">
              <a:xfrm>
                <a:off x="1533" y="3307"/>
                <a:ext cx="474" cy="282"/>
              </a:xfrm>
              <a:custGeom>
                <a:avLst/>
                <a:gdLst>
                  <a:gd name="T0" fmla="*/ 0 w 949"/>
                  <a:gd name="T1" fmla="*/ 0 h 565"/>
                  <a:gd name="T2" fmla="*/ 0 w 949"/>
                  <a:gd name="T3" fmla="*/ 0 h 565"/>
                  <a:gd name="T4" fmla="*/ 0 w 949"/>
                  <a:gd name="T5" fmla="*/ 0 h 565"/>
                  <a:gd name="T6" fmla="*/ 0 w 949"/>
                  <a:gd name="T7" fmla="*/ 0 h 565"/>
                  <a:gd name="T8" fmla="*/ 0 w 949"/>
                  <a:gd name="T9" fmla="*/ 0 h 565"/>
                  <a:gd name="T10" fmla="*/ 0 w 949"/>
                  <a:gd name="T11" fmla="*/ 0 h 565"/>
                  <a:gd name="T12" fmla="*/ 0 w 949"/>
                  <a:gd name="T13" fmla="*/ 0 h 565"/>
                  <a:gd name="T14" fmla="*/ 0 w 949"/>
                  <a:gd name="T15" fmla="*/ 0 h 565"/>
                  <a:gd name="T16" fmla="*/ 0 w 949"/>
                  <a:gd name="T17" fmla="*/ 0 h 565"/>
                  <a:gd name="T18" fmla="*/ 0 w 949"/>
                  <a:gd name="T19" fmla="*/ 0 h 565"/>
                  <a:gd name="T20" fmla="*/ 0 w 949"/>
                  <a:gd name="T21" fmla="*/ 0 h 565"/>
                  <a:gd name="T22" fmla="*/ 0 w 949"/>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9"/>
                  <a:gd name="T37" fmla="*/ 0 h 565"/>
                  <a:gd name="T38" fmla="*/ 949 w 949"/>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9" h="565">
                    <a:moveTo>
                      <a:pt x="942" y="2"/>
                    </a:moveTo>
                    <a:lnTo>
                      <a:pt x="931" y="2"/>
                    </a:lnTo>
                    <a:lnTo>
                      <a:pt x="0" y="546"/>
                    </a:lnTo>
                    <a:lnTo>
                      <a:pt x="12" y="565"/>
                    </a:lnTo>
                    <a:lnTo>
                      <a:pt x="944" y="20"/>
                    </a:lnTo>
                    <a:lnTo>
                      <a:pt x="933" y="20"/>
                    </a:lnTo>
                    <a:lnTo>
                      <a:pt x="944" y="20"/>
                    </a:lnTo>
                    <a:lnTo>
                      <a:pt x="949" y="13"/>
                    </a:lnTo>
                    <a:lnTo>
                      <a:pt x="947" y="5"/>
                    </a:lnTo>
                    <a:lnTo>
                      <a:pt x="941" y="0"/>
                    </a:lnTo>
                    <a:lnTo>
                      <a:pt x="931" y="2"/>
                    </a:lnTo>
                    <a:lnTo>
                      <a:pt x="942" y="2"/>
                    </a:lnTo>
                    <a:close/>
                  </a:path>
                </a:pathLst>
              </a:custGeom>
              <a:solidFill>
                <a:srgbClr val="000000"/>
              </a:solidFill>
              <a:ln w="9525">
                <a:noFill/>
                <a:round/>
                <a:headEnd/>
                <a:tailEnd/>
              </a:ln>
            </p:spPr>
            <p:txBody>
              <a:bodyPr/>
              <a:lstStyle/>
              <a:p>
                <a:endParaRPr lang="en-US"/>
              </a:p>
            </p:txBody>
          </p:sp>
          <p:sp>
            <p:nvSpPr>
              <p:cNvPr id="24653" name="Freeform 42"/>
              <p:cNvSpPr>
                <a:spLocks/>
              </p:cNvSpPr>
              <p:nvPr/>
            </p:nvSpPr>
            <p:spPr bwMode="auto">
              <a:xfrm>
                <a:off x="1999" y="3307"/>
                <a:ext cx="310" cy="177"/>
              </a:xfrm>
              <a:custGeom>
                <a:avLst/>
                <a:gdLst>
                  <a:gd name="T0" fmla="*/ 1 w 620"/>
                  <a:gd name="T1" fmla="*/ 1 h 353"/>
                  <a:gd name="T2" fmla="*/ 1 w 620"/>
                  <a:gd name="T3" fmla="*/ 1 h 353"/>
                  <a:gd name="T4" fmla="*/ 1 w 620"/>
                  <a:gd name="T5" fmla="*/ 0 h 353"/>
                  <a:gd name="T6" fmla="*/ 0 w 620"/>
                  <a:gd name="T7" fmla="*/ 1 h 353"/>
                  <a:gd name="T8" fmla="*/ 1 w 620"/>
                  <a:gd name="T9" fmla="*/ 1 h 353"/>
                  <a:gd name="T10" fmla="*/ 1 w 620"/>
                  <a:gd name="T11" fmla="*/ 1 h 353"/>
                  <a:gd name="T12" fmla="*/ 1 w 620"/>
                  <a:gd name="T13" fmla="*/ 1 h 353"/>
                  <a:gd name="T14" fmla="*/ 1 w 620"/>
                  <a:gd name="T15" fmla="*/ 1 h 353"/>
                  <a:gd name="T16" fmla="*/ 1 w 620"/>
                  <a:gd name="T17" fmla="*/ 1 h 353"/>
                  <a:gd name="T18" fmla="*/ 1 w 620"/>
                  <a:gd name="T19" fmla="*/ 1 h 353"/>
                  <a:gd name="T20" fmla="*/ 1 w 620"/>
                  <a:gd name="T21" fmla="*/ 1 h 353"/>
                  <a:gd name="T22" fmla="*/ 1 w 620"/>
                  <a:gd name="T23" fmla="*/ 1 h 3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0"/>
                  <a:gd name="T37" fmla="*/ 0 h 353"/>
                  <a:gd name="T38" fmla="*/ 620 w 620"/>
                  <a:gd name="T39" fmla="*/ 353 h 3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0" h="353">
                    <a:moveTo>
                      <a:pt x="615" y="353"/>
                    </a:moveTo>
                    <a:lnTo>
                      <a:pt x="614" y="334"/>
                    </a:lnTo>
                    <a:lnTo>
                      <a:pt x="9" y="0"/>
                    </a:lnTo>
                    <a:lnTo>
                      <a:pt x="0" y="18"/>
                    </a:lnTo>
                    <a:lnTo>
                      <a:pt x="604" y="353"/>
                    </a:lnTo>
                    <a:lnTo>
                      <a:pt x="603" y="334"/>
                    </a:lnTo>
                    <a:lnTo>
                      <a:pt x="604" y="353"/>
                    </a:lnTo>
                    <a:lnTo>
                      <a:pt x="612" y="353"/>
                    </a:lnTo>
                    <a:lnTo>
                      <a:pt x="618" y="349"/>
                    </a:lnTo>
                    <a:lnTo>
                      <a:pt x="620" y="341"/>
                    </a:lnTo>
                    <a:lnTo>
                      <a:pt x="614" y="334"/>
                    </a:lnTo>
                    <a:lnTo>
                      <a:pt x="615" y="353"/>
                    </a:lnTo>
                    <a:close/>
                  </a:path>
                </a:pathLst>
              </a:custGeom>
              <a:solidFill>
                <a:srgbClr val="000000"/>
              </a:solidFill>
              <a:ln w="9525">
                <a:noFill/>
                <a:round/>
                <a:headEnd/>
                <a:tailEnd/>
              </a:ln>
            </p:spPr>
            <p:txBody>
              <a:bodyPr/>
              <a:lstStyle/>
              <a:p>
                <a:endParaRPr lang="en-US"/>
              </a:p>
            </p:txBody>
          </p:sp>
          <p:sp>
            <p:nvSpPr>
              <p:cNvPr id="24654" name="Freeform 43"/>
              <p:cNvSpPr>
                <a:spLocks/>
              </p:cNvSpPr>
              <p:nvPr/>
            </p:nvSpPr>
            <p:spPr bwMode="auto">
              <a:xfrm>
                <a:off x="1834" y="3475"/>
                <a:ext cx="473" cy="282"/>
              </a:xfrm>
              <a:custGeom>
                <a:avLst/>
                <a:gdLst>
                  <a:gd name="T0" fmla="*/ 1 w 945"/>
                  <a:gd name="T1" fmla="*/ 0 h 565"/>
                  <a:gd name="T2" fmla="*/ 1 w 945"/>
                  <a:gd name="T3" fmla="*/ 0 h 565"/>
                  <a:gd name="T4" fmla="*/ 1 w 945"/>
                  <a:gd name="T5" fmla="*/ 0 h 565"/>
                  <a:gd name="T6" fmla="*/ 1 w 945"/>
                  <a:gd name="T7" fmla="*/ 0 h 565"/>
                  <a:gd name="T8" fmla="*/ 1 w 945"/>
                  <a:gd name="T9" fmla="*/ 0 h 565"/>
                  <a:gd name="T10" fmla="*/ 1 w 945"/>
                  <a:gd name="T11" fmla="*/ 0 h 565"/>
                  <a:gd name="T12" fmla="*/ 1 w 945"/>
                  <a:gd name="T13" fmla="*/ 0 h 565"/>
                  <a:gd name="T14" fmla="*/ 0 w 945"/>
                  <a:gd name="T15" fmla="*/ 0 h 565"/>
                  <a:gd name="T16" fmla="*/ 1 w 945"/>
                  <a:gd name="T17" fmla="*/ 0 h 565"/>
                  <a:gd name="T18" fmla="*/ 1 w 945"/>
                  <a:gd name="T19" fmla="*/ 0 h 565"/>
                  <a:gd name="T20" fmla="*/ 1 w 945"/>
                  <a:gd name="T21" fmla="*/ 0 h 565"/>
                  <a:gd name="T22" fmla="*/ 1 w 945"/>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5"/>
                  <a:gd name="T37" fmla="*/ 0 h 565"/>
                  <a:gd name="T38" fmla="*/ 945 w 945"/>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5" h="565">
                    <a:moveTo>
                      <a:pt x="6" y="564"/>
                    </a:moveTo>
                    <a:lnTo>
                      <a:pt x="17" y="564"/>
                    </a:lnTo>
                    <a:lnTo>
                      <a:pt x="945" y="19"/>
                    </a:lnTo>
                    <a:lnTo>
                      <a:pt x="933" y="0"/>
                    </a:lnTo>
                    <a:lnTo>
                      <a:pt x="4" y="545"/>
                    </a:lnTo>
                    <a:lnTo>
                      <a:pt x="15" y="545"/>
                    </a:lnTo>
                    <a:lnTo>
                      <a:pt x="4" y="545"/>
                    </a:lnTo>
                    <a:lnTo>
                      <a:pt x="0" y="553"/>
                    </a:lnTo>
                    <a:lnTo>
                      <a:pt x="1" y="561"/>
                    </a:lnTo>
                    <a:lnTo>
                      <a:pt x="7" y="565"/>
                    </a:lnTo>
                    <a:lnTo>
                      <a:pt x="17" y="564"/>
                    </a:lnTo>
                    <a:lnTo>
                      <a:pt x="6" y="564"/>
                    </a:lnTo>
                    <a:close/>
                  </a:path>
                </a:pathLst>
              </a:custGeom>
              <a:solidFill>
                <a:srgbClr val="000000"/>
              </a:solidFill>
              <a:ln w="9525">
                <a:noFill/>
                <a:round/>
                <a:headEnd/>
                <a:tailEnd/>
              </a:ln>
            </p:spPr>
            <p:txBody>
              <a:bodyPr/>
              <a:lstStyle/>
              <a:p>
                <a:endParaRPr lang="en-US"/>
              </a:p>
            </p:txBody>
          </p:sp>
          <p:sp>
            <p:nvSpPr>
              <p:cNvPr id="24655" name="Freeform 44"/>
              <p:cNvSpPr>
                <a:spLocks/>
              </p:cNvSpPr>
              <p:nvPr/>
            </p:nvSpPr>
            <p:spPr bwMode="auto">
              <a:xfrm>
                <a:off x="1531" y="3580"/>
                <a:ext cx="311" cy="176"/>
              </a:xfrm>
              <a:custGeom>
                <a:avLst/>
                <a:gdLst>
                  <a:gd name="T0" fmla="*/ 0 w 623"/>
                  <a:gd name="T1" fmla="*/ 0 h 354"/>
                  <a:gd name="T2" fmla="*/ 0 w 623"/>
                  <a:gd name="T3" fmla="*/ 0 h 354"/>
                  <a:gd name="T4" fmla="*/ 0 w 623"/>
                  <a:gd name="T5" fmla="*/ 0 h 354"/>
                  <a:gd name="T6" fmla="*/ 0 w 623"/>
                  <a:gd name="T7" fmla="*/ 0 h 354"/>
                  <a:gd name="T8" fmla="*/ 0 w 623"/>
                  <a:gd name="T9" fmla="*/ 0 h 354"/>
                  <a:gd name="T10" fmla="*/ 0 w 623"/>
                  <a:gd name="T11" fmla="*/ 0 h 354"/>
                  <a:gd name="T12" fmla="*/ 0 w 623"/>
                  <a:gd name="T13" fmla="*/ 0 h 354"/>
                  <a:gd name="T14" fmla="*/ 0 w 623"/>
                  <a:gd name="T15" fmla="*/ 0 h 354"/>
                  <a:gd name="T16" fmla="*/ 0 w 623"/>
                  <a:gd name="T17" fmla="*/ 0 h 354"/>
                  <a:gd name="T18" fmla="*/ 0 w 623"/>
                  <a:gd name="T19" fmla="*/ 0 h 354"/>
                  <a:gd name="T20" fmla="*/ 0 w 623"/>
                  <a:gd name="T21" fmla="*/ 0 h 354"/>
                  <a:gd name="T22" fmla="*/ 0 w 623"/>
                  <a:gd name="T23" fmla="*/ 0 h 3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3"/>
                  <a:gd name="T37" fmla="*/ 0 h 354"/>
                  <a:gd name="T38" fmla="*/ 623 w 623"/>
                  <a:gd name="T39" fmla="*/ 354 h 3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3" h="354">
                    <a:moveTo>
                      <a:pt x="5" y="0"/>
                    </a:moveTo>
                    <a:lnTo>
                      <a:pt x="6" y="19"/>
                    </a:lnTo>
                    <a:lnTo>
                      <a:pt x="614" y="354"/>
                    </a:lnTo>
                    <a:lnTo>
                      <a:pt x="623" y="335"/>
                    </a:lnTo>
                    <a:lnTo>
                      <a:pt x="16" y="0"/>
                    </a:lnTo>
                    <a:lnTo>
                      <a:pt x="17" y="19"/>
                    </a:lnTo>
                    <a:lnTo>
                      <a:pt x="16" y="0"/>
                    </a:lnTo>
                    <a:lnTo>
                      <a:pt x="8" y="0"/>
                    </a:lnTo>
                    <a:lnTo>
                      <a:pt x="2" y="5"/>
                    </a:lnTo>
                    <a:lnTo>
                      <a:pt x="0" y="13"/>
                    </a:lnTo>
                    <a:lnTo>
                      <a:pt x="6" y="19"/>
                    </a:lnTo>
                    <a:lnTo>
                      <a:pt x="5" y="0"/>
                    </a:lnTo>
                    <a:close/>
                  </a:path>
                </a:pathLst>
              </a:custGeom>
              <a:solidFill>
                <a:srgbClr val="000000"/>
              </a:solidFill>
              <a:ln w="9525">
                <a:noFill/>
                <a:round/>
                <a:headEnd/>
                <a:tailEnd/>
              </a:ln>
            </p:spPr>
            <p:txBody>
              <a:bodyPr/>
              <a:lstStyle/>
              <a:p>
                <a:endParaRPr lang="en-US"/>
              </a:p>
            </p:txBody>
          </p:sp>
          <p:sp>
            <p:nvSpPr>
              <p:cNvPr id="24656" name="Freeform 45"/>
              <p:cNvSpPr>
                <a:spLocks/>
              </p:cNvSpPr>
              <p:nvPr/>
            </p:nvSpPr>
            <p:spPr bwMode="auto">
              <a:xfrm>
                <a:off x="1555" y="3605"/>
                <a:ext cx="285" cy="343"/>
              </a:xfrm>
              <a:custGeom>
                <a:avLst/>
                <a:gdLst>
                  <a:gd name="T0" fmla="*/ 0 w 570"/>
                  <a:gd name="T1" fmla="*/ 0 h 685"/>
                  <a:gd name="T2" fmla="*/ 0 w 570"/>
                  <a:gd name="T3" fmla="*/ 1 h 685"/>
                  <a:gd name="T4" fmla="*/ 1 w 570"/>
                  <a:gd name="T5" fmla="*/ 1 h 685"/>
                  <a:gd name="T6" fmla="*/ 1 w 570"/>
                  <a:gd name="T7" fmla="*/ 1 h 685"/>
                  <a:gd name="T8" fmla="*/ 0 w 570"/>
                  <a:gd name="T9" fmla="*/ 0 h 685"/>
                  <a:gd name="T10" fmla="*/ 0 60000 65536"/>
                  <a:gd name="T11" fmla="*/ 0 60000 65536"/>
                  <a:gd name="T12" fmla="*/ 0 60000 65536"/>
                  <a:gd name="T13" fmla="*/ 0 60000 65536"/>
                  <a:gd name="T14" fmla="*/ 0 60000 65536"/>
                  <a:gd name="T15" fmla="*/ 0 w 570"/>
                  <a:gd name="T16" fmla="*/ 0 h 685"/>
                  <a:gd name="T17" fmla="*/ 570 w 570"/>
                  <a:gd name="T18" fmla="*/ 685 h 685"/>
                </a:gdLst>
                <a:ahLst/>
                <a:cxnLst>
                  <a:cxn ang="T10">
                    <a:pos x="T0" y="T1"/>
                  </a:cxn>
                  <a:cxn ang="T11">
                    <a:pos x="T2" y="T3"/>
                  </a:cxn>
                  <a:cxn ang="T12">
                    <a:pos x="T4" y="T5"/>
                  </a:cxn>
                  <a:cxn ang="T13">
                    <a:pos x="T6" y="T7"/>
                  </a:cxn>
                  <a:cxn ang="T14">
                    <a:pos x="T8" y="T9"/>
                  </a:cxn>
                </a:cxnLst>
                <a:rect l="T15" t="T16" r="T17" b="T18"/>
                <a:pathLst>
                  <a:path w="570" h="685">
                    <a:moveTo>
                      <a:pt x="0" y="0"/>
                    </a:moveTo>
                    <a:lnTo>
                      <a:pt x="0" y="364"/>
                    </a:lnTo>
                    <a:lnTo>
                      <a:pt x="570" y="685"/>
                    </a:lnTo>
                    <a:lnTo>
                      <a:pt x="570" y="320"/>
                    </a:lnTo>
                    <a:lnTo>
                      <a:pt x="0" y="0"/>
                    </a:lnTo>
                    <a:close/>
                  </a:path>
                </a:pathLst>
              </a:custGeom>
              <a:solidFill>
                <a:srgbClr val="8CFF00"/>
              </a:solidFill>
              <a:ln w="9525">
                <a:noFill/>
                <a:round/>
                <a:headEnd/>
                <a:tailEnd/>
              </a:ln>
            </p:spPr>
            <p:txBody>
              <a:bodyPr/>
              <a:lstStyle/>
              <a:p>
                <a:endParaRPr lang="en-US"/>
              </a:p>
            </p:txBody>
          </p:sp>
          <p:sp>
            <p:nvSpPr>
              <p:cNvPr id="24657" name="Freeform 46"/>
              <p:cNvSpPr>
                <a:spLocks/>
              </p:cNvSpPr>
              <p:nvPr/>
            </p:nvSpPr>
            <p:spPr bwMode="auto">
              <a:xfrm>
                <a:off x="1549" y="3605"/>
                <a:ext cx="11" cy="188"/>
              </a:xfrm>
              <a:custGeom>
                <a:avLst/>
                <a:gdLst>
                  <a:gd name="T0" fmla="*/ 1 w 22"/>
                  <a:gd name="T1" fmla="*/ 1 h 375"/>
                  <a:gd name="T2" fmla="*/ 1 w 22"/>
                  <a:gd name="T3" fmla="*/ 1 h 375"/>
                  <a:gd name="T4" fmla="*/ 1 w 22"/>
                  <a:gd name="T5" fmla="*/ 0 h 375"/>
                  <a:gd name="T6" fmla="*/ 0 w 22"/>
                  <a:gd name="T7" fmla="*/ 0 h 375"/>
                  <a:gd name="T8" fmla="*/ 0 w 22"/>
                  <a:gd name="T9" fmla="*/ 1 h 375"/>
                  <a:gd name="T10" fmla="*/ 1 w 22"/>
                  <a:gd name="T11" fmla="*/ 1 h 375"/>
                  <a:gd name="T12" fmla="*/ 0 w 22"/>
                  <a:gd name="T13" fmla="*/ 1 h 375"/>
                  <a:gd name="T14" fmla="*/ 1 w 22"/>
                  <a:gd name="T15" fmla="*/ 1 h 375"/>
                  <a:gd name="T16" fmla="*/ 1 w 22"/>
                  <a:gd name="T17" fmla="*/ 1 h 375"/>
                  <a:gd name="T18" fmla="*/ 1 w 22"/>
                  <a:gd name="T19" fmla="*/ 1 h 375"/>
                  <a:gd name="T20" fmla="*/ 1 w 22"/>
                  <a:gd name="T21" fmla="*/ 1 h 375"/>
                  <a:gd name="T22" fmla="*/ 1 w 22"/>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5"/>
                  <a:gd name="T38" fmla="*/ 22 w 22"/>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5">
                    <a:moveTo>
                      <a:pt x="15" y="355"/>
                    </a:moveTo>
                    <a:lnTo>
                      <a:pt x="22" y="364"/>
                    </a:lnTo>
                    <a:lnTo>
                      <a:pt x="22" y="0"/>
                    </a:lnTo>
                    <a:lnTo>
                      <a:pt x="0" y="0"/>
                    </a:lnTo>
                    <a:lnTo>
                      <a:pt x="0" y="364"/>
                    </a:lnTo>
                    <a:lnTo>
                      <a:pt x="6" y="374"/>
                    </a:lnTo>
                    <a:lnTo>
                      <a:pt x="0" y="364"/>
                    </a:lnTo>
                    <a:lnTo>
                      <a:pt x="3" y="372"/>
                    </a:lnTo>
                    <a:lnTo>
                      <a:pt x="11" y="375"/>
                    </a:lnTo>
                    <a:lnTo>
                      <a:pt x="18" y="372"/>
                    </a:lnTo>
                    <a:lnTo>
                      <a:pt x="22" y="364"/>
                    </a:lnTo>
                    <a:lnTo>
                      <a:pt x="15" y="355"/>
                    </a:lnTo>
                    <a:close/>
                  </a:path>
                </a:pathLst>
              </a:custGeom>
              <a:solidFill>
                <a:srgbClr val="000000"/>
              </a:solidFill>
              <a:ln w="9525">
                <a:noFill/>
                <a:round/>
                <a:headEnd/>
                <a:tailEnd/>
              </a:ln>
            </p:spPr>
            <p:txBody>
              <a:bodyPr/>
              <a:lstStyle/>
              <a:p>
                <a:endParaRPr lang="en-US"/>
              </a:p>
            </p:txBody>
          </p:sp>
          <p:sp>
            <p:nvSpPr>
              <p:cNvPr id="24658" name="Freeform 47"/>
              <p:cNvSpPr>
                <a:spLocks/>
              </p:cNvSpPr>
              <p:nvPr/>
            </p:nvSpPr>
            <p:spPr bwMode="auto">
              <a:xfrm>
                <a:off x="1552" y="3783"/>
                <a:ext cx="293" cy="170"/>
              </a:xfrm>
              <a:custGeom>
                <a:avLst/>
                <a:gdLst>
                  <a:gd name="T0" fmla="*/ 1 w 585"/>
                  <a:gd name="T1" fmla="*/ 1 h 339"/>
                  <a:gd name="T2" fmla="*/ 1 w 585"/>
                  <a:gd name="T3" fmla="*/ 1 h 339"/>
                  <a:gd name="T4" fmla="*/ 1 w 585"/>
                  <a:gd name="T5" fmla="*/ 0 h 339"/>
                  <a:gd name="T6" fmla="*/ 0 w 585"/>
                  <a:gd name="T7" fmla="*/ 1 h 339"/>
                  <a:gd name="T8" fmla="*/ 1 w 585"/>
                  <a:gd name="T9" fmla="*/ 1 h 339"/>
                  <a:gd name="T10" fmla="*/ 1 w 585"/>
                  <a:gd name="T11" fmla="*/ 1 h 339"/>
                  <a:gd name="T12" fmla="*/ 1 w 585"/>
                  <a:gd name="T13" fmla="*/ 1 h 339"/>
                  <a:gd name="T14" fmla="*/ 1 w 585"/>
                  <a:gd name="T15" fmla="*/ 1 h 339"/>
                  <a:gd name="T16" fmla="*/ 1 w 585"/>
                  <a:gd name="T17" fmla="*/ 1 h 339"/>
                  <a:gd name="T18" fmla="*/ 1 w 585"/>
                  <a:gd name="T19" fmla="*/ 1 h 339"/>
                  <a:gd name="T20" fmla="*/ 1 w 585"/>
                  <a:gd name="T21" fmla="*/ 1 h 339"/>
                  <a:gd name="T22" fmla="*/ 1 w 585"/>
                  <a:gd name="T23" fmla="*/ 1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39"/>
                  <a:gd name="T38" fmla="*/ 585 w 585"/>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39">
                    <a:moveTo>
                      <a:pt x="564" y="330"/>
                    </a:moveTo>
                    <a:lnTo>
                      <a:pt x="579" y="321"/>
                    </a:lnTo>
                    <a:lnTo>
                      <a:pt x="9" y="0"/>
                    </a:lnTo>
                    <a:lnTo>
                      <a:pt x="0" y="19"/>
                    </a:lnTo>
                    <a:lnTo>
                      <a:pt x="570" y="339"/>
                    </a:lnTo>
                    <a:lnTo>
                      <a:pt x="585" y="330"/>
                    </a:lnTo>
                    <a:lnTo>
                      <a:pt x="570" y="339"/>
                    </a:lnTo>
                    <a:lnTo>
                      <a:pt x="578" y="339"/>
                    </a:lnTo>
                    <a:lnTo>
                      <a:pt x="584" y="335"/>
                    </a:lnTo>
                    <a:lnTo>
                      <a:pt x="585" y="327"/>
                    </a:lnTo>
                    <a:lnTo>
                      <a:pt x="579" y="321"/>
                    </a:lnTo>
                    <a:lnTo>
                      <a:pt x="564" y="330"/>
                    </a:lnTo>
                    <a:close/>
                  </a:path>
                </a:pathLst>
              </a:custGeom>
              <a:solidFill>
                <a:srgbClr val="000000"/>
              </a:solidFill>
              <a:ln w="9525">
                <a:noFill/>
                <a:round/>
                <a:headEnd/>
                <a:tailEnd/>
              </a:ln>
            </p:spPr>
            <p:txBody>
              <a:bodyPr/>
              <a:lstStyle/>
              <a:p>
                <a:endParaRPr lang="en-US"/>
              </a:p>
            </p:txBody>
          </p:sp>
          <p:sp>
            <p:nvSpPr>
              <p:cNvPr id="24659" name="Freeform 48"/>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6" y="20"/>
                    </a:moveTo>
                    <a:lnTo>
                      <a:pt x="0" y="10"/>
                    </a:lnTo>
                    <a:lnTo>
                      <a:pt x="0" y="375"/>
                    </a:lnTo>
                    <a:lnTo>
                      <a:pt x="21" y="375"/>
                    </a:lnTo>
                    <a:lnTo>
                      <a:pt x="21" y="10"/>
                    </a:lnTo>
                    <a:lnTo>
                      <a:pt x="15" y="1"/>
                    </a:lnTo>
                    <a:lnTo>
                      <a:pt x="21" y="10"/>
                    </a:lnTo>
                    <a:lnTo>
                      <a:pt x="18" y="3"/>
                    </a:lnTo>
                    <a:lnTo>
                      <a:pt x="11" y="0"/>
                    </a:lnTo>
                    <a:lnTo>
                      <a:pt x="3" y="3"/>
                    </a:lnTo>
                    <a:lnTo>
                      <a:pt x="0" y="10"/>
                    </a:lnTo>
                    <a:lnTo>
                      <a:pt x="6" y="20"/>
                    </a:lnTo>
                    <a:close/>
                  </a:path>
                </a:pathLst>
              </a:custGeom>
              <a:solidFill>
                <a:srgbClr val="000000"/>
              </a:solidFill>
              <a:ln w="9525">
                <a:noFill/>
                <a:round/>
                <a:headEnd/>
                <a:tailEnd/>
              </a:ln>
            </p:spPr>
            <p:txBody>
              <a:bodyPr/>
              <a:lstStyle/>
              <a:p>
                <a:endParaRPr lang="en-US"/>
              </a:p>
            </p:txBody>
          </p:sp>
          <p:sp>
            <p:nvSpPr>
              <p:cNvPr id="24660" name="Freeform 49"/>
              <p:cNvSpPr>
                <a:spLocks/>
              </p:cNvSpPr>
              <p:nvPr/>
            </p:nvSpPr>
            <p:spPr bwMode="auto">
              <a:xfrm>
                <a:off x="1549" y="3601"/>
                <a:ext cx="293" cy="169"/>
              </a:xfrm>
              <a:custGeom>
                <a:avLst/>
                <a:gdLst>
                  <a:gd name="T0" fmla="*/ 1 w 585"/>
                  <a:gd name="T1" fmla="*/ 0 h 340"/>
                  <a:gd name="T2" fmla="*/ 1 w 585"/>
                  <a:gd name="T3" fmla="*/ 0 h 340"/>
                  <a:gd name="T4" fmla="*/ 1 w 585"/>
                  <a:gd name="T5" fmla="*/ 0 h 340"/>
                  <a:gd name="T6" fmla="*/ 1 w 585"/>
                  <a:gd name="T7" fmla="*/ 0 h 340"/>
                  <a:gd name="T8" fmla="*/ 1 w 585"/>
                  <a:gd name="T9" fmla="*/ 0 h 340"/>
                  <a:gd name="T10" fmla="*/ 0 w 585"/>
                  <a:gd name="T11" fmla="*/ 0 h 340"/>
                  <a:gd name="T12" fmla="*/ 1 w 585"/>
                  <a:gd name="T13" fmla="*/ 0 h 340"/>
                  <a:gd name="T14" fmla="*/ 1 w 585"/>
                  <a:gd name="T15" fmla="*/ 0 h 340"/>
                  <a:gd name="T16" fmla="*/ 1 w 585"/>
                  <a:gd name="T17" fmla="*/ 0 h 340"/>
                  <a:gd name="T18" fmla="*/ 0 w 585"/>
                  <a:gd name="T19" fmla="*/ 0 h 340"/>
                  <a:gd name="T20" fmla="*/ 1 w 585"/>
                  <a:gd name="T21" fmla="*/ 0 h 340"/>
                  <a:gd name="T22" fmla="*/ 1 w 585"/>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40"/>
                  <a:gd name="T38" fmla="*/ 585 w 585"/>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40">
                    <a:moveTo>
                      <a:pt x="22" y="10"/>
                    </a:moveTo>
                    <a:lnTo>
                      <a:pt x="6" y="19"/>
                    </a:lnTo>
                    <a:lnTo>
                      <a:pt x="576" y="340"/>
                    </a:lnTo>
                    <a:lnTo>
                      <a:pt x="585" y="321"/>
                    </a:lnTo>
                    <a:lnTo>
                      <a:pt x="15" y="0"/>
                    </a:lnTo>
                    <a:lnTo>
                      <a:pt x="0" y="10"/>
                    </a:lnTo>
                    <a:lnTo>
                      <a:pt x="15" y="0"/>
                    </a:lnTo>
                    <a:lnTo>
                      <a:pt x="7" y="0"/>
                    </a:lnTo>
                    <a:lnTo>
                      <a:pt x="1"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4661" name="Freeform 50"/>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close/>
                  </a:path>
                </a:pathLst>
              </a:custGeom>
              <a:solidFill>
                <a:srgbClr val="8CFF00"/>
              </a:solidFill>
              <a:ln w="9525">
                <a:noFill/>
                <a:round/>
                <a:headEnd/>
                <a:tailEnd/>
              </a:ln>
            </p:spPr>
            <p:txBody>
              <a:bodyPr/>
              <a:lstStyle/>
              <a:p>
                <a:endParaRPr lang="en-US"/>
              </a:p>
            </p:txBody>
          </p:sp>
          <p:sp>
            <p:nvSpPr>
              <p:cNvPr id="24662" name="Freeform 51"/>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path>
                </a:pathLst>
              </a:custGeom>
              <a:noFill/>
              <a:ln w="0">
                <a:solidFill>
                  <a:srgbClr val="000000"/>
                </a:solidFill>
                <a:round/>
                <a:headEnd/>
                <a:tailEnd/>
              </a:ln>
            </p:spPr>
            <p:txBody>
              <a:bodyPr/>
              <a:lstStyle/>
              <a:p>
                <a:endParaRPr lang="en-US"/>
              </a:p>
            </p:txBody>
          </p:sp>
          <p:sp>
            <p:nvSpPr>
              <p:cNvPr id="24663" name="Freeform 52"/>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close/>
                  </a:path>
                </a:pathLst>
              </a:custGeom>
              <a:solidFill>
                <a:srgbClr val="4CFF00"/>
              </a:solidFill>
              <a:ln w="9525">
                <a:noFill/>
                <a:round/>
                <a:headEnd/>
                <a:tailEnd/>
              </a:ln>
            </p:spPr>
            <p:txBody>
              <a:bodyPr/>
              <a:lstStyle/>
              <a:p>
                <a:endParaRPr lang="en-US"/>
              </a:p>
            </p:txBody>
          </p:sp>
          <p:sp>
            <p:nvSpPr>
              <p:cNvPr id="24664" name="Freeform 53"/>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path>
                </a:pathLst>
              </a:custGeom>
              <a:noFill/>
              <a:ln w="0">
                <a:solidFill>
                  <a:srgbClr val="000000"/>
                </a:solidFill>
                <a:round/>
                <a:headEnd/>
                <a:tailEnd/>
              </a:ln>
            </p:spPr>
            <p:txBody>
              <a:bodyPr/>
              <a:lstStyle/>
              <a:p>
                <a:endParaRPr lang="en-US"/>
              </a:p>
            </p:txBody>
          </p:sp>
          <p:sp>
            <p:nvSpPr>
              <p:cNvPr id="24665" name="Freeform 54"/>
              <p:cNvSpPr>
                <a:spLocks/>
              </p:cNvSpPr>
              <p:nvPr/>
            </p:nvSpPr>
            <p:spPr bwMode="auto">
              <a:xfrm>
                <a:off x="1892" y="3496"/>
                <a:ext cx="154" cy="125"/>
              </a:xfrm>
              <a:custGeom>
                <a:avLst/>
                <a:gdLst>
                  <a:gd name="T0" fmla="*/ 0 w 309"/>
                  <a:gd name="T1" fmla="*/ 0 h 250"/>
                  <a:gd name="T2" fmla="*/ 0 w 309"/>
                  <a:gd name="T3" fmla="*/ 1 h 250"/>
                  <a:gd name="T4" fmla="*/ 0 w 309"/>
                  <a:gd name="T5" fmla="*/ 1 h 250"/>
                  <a:gd name="T6" fmla="*/ 0 w 309"/>
                  <a:gd name="T7" fmla="*/ 1 h 250"/>
                  <a:gd name="T8" fmla="*/ 0 w 309"/>
                  <a:gd name="T9" fmla="*/ 0 h 250"/>
                  <a:gd name="T10" fmla="*/ 0 60000 65536"/>
                  <a:gd name="T11" fmla="*/ 0 60000 65536"/>
                  <a:gd name="T12" fmla="*/ 0 60000 65536"/>
                  <a:gd name="T13" fmla="*/ 0 60000 65536"/>
                  <a:gd name="T14" fmla="*/ 0 60000 65536"/>
                  <a:gd name="T15" fmla="*/ 0 w 309"/>
                  <a:gd name="T16" fmla="*/ 0 h 250"/>
                  <a:gd name="T17" fmla="*/ 309 w 309"/>
                  <a:gd name="T18" fmla="*/ 250 h 250"/>
                </a:gdLst>
                <a:ahLst/>
                <a:cxnLst>
                  <a:cxn ang="T10">
                    <a:pos x="T0" y="T1"/>
                  </a:cxn>
                  <a:cxn ang="T11">
                    <a:pos x="T2" y="T3"/>
                  </a:cxn>
                  <a:cxn ang="T12">
                    <a:pos x="T4" y="T5"/>
                  </a:cxn>
                  <a:cxn ang="T13">
                    <a:pos x="T6" y="T7"/>
                  </a:cxn>
                  <a:cxn ang="T14">
                    <a:pos x="T8" y="T9"/>
                  </a:cxn>
                </a:cxnLst>
                <a:rect l="T15" t="T16" r="T17" b="T18"/>
                <a:pathLst>
                  <a:path w="309" h="250">
                    <a:moveTo>
                      <a:pt x="309" y="0"/>
                    </a:moveTo>
                    <a:lnTo>
                      <a:pt x="309" y="64"/>
                    </a:lnTo>
                    <a:lnTo>
                      <a:pt x="0" y="250"/>
                    </a:lnTo>
                    <a:lnTo>
                      <a:pt x="0" y="186"/>
                    </a:lnTo>
                    <a:lnTo>
                      <a:pt x="309" y="0"/>
                    </a:lnTo>
                    <a:close/>
                  </a:path>
                </a:pathLst>
              </a:custGeom>
              <a:solidFill>
                <a:srgbClr val="007FFF"/>
              </a:solidFill>
              <a:ln w="9525">
                <a:noFill/>
                <a:round/>
                <a:headEnd/>
                <a:tailEnd/>
              </a:ln>
            </p:spPr>
            <p:txBody>
              <a:bodyPr/>
              <a:lstStyle/>
              <a:p>
                <a:endParaRPr lang="en-US"/>
              </a:p>
            </p:txBody>
          </p:sp>
          <p:sp>
            <p:nvSpPr>
              <p:cNvPr id="24666" name="Freeform 55"/>
              <p:cNvSpPr>
                <a:spLocks/>
              </p:cNvSpPr>
              <p:nvPr/>
            </p:nvSpPr>
            <p:spPr bwMode="auto">
              <a:xfrm>
                <a:off x="2041" y="3496"/>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7" y="73"/>
                    </a:moveTo>
                    <a:lnTo>
                      <a:pt x="22" y="64"/>
                    </a:lnTo>
                    <a:lnTo>
                      <a:pt x="22" y="0"/>
                    </a:lnTo>
                    <a:lnTo>
                      <a:pt x="0" y="0"/>
                    </a:lnTo>
                    <a:lnTo>
                      <a:pt x="0" y="64"/>
                    </a:lnTo>
                    <a:lnTo>
                      <a:pt x="5" y="54"/>
                    </a:lnTo>
                    <a:lnTo>
                      <a:pt x="0" y="64"/>
                    </a:lnTo>
                    <a:lnTo>
                      <a:pt x="3" y="72"/>
                    </a:lnTo>
                    <a:lnTo>
                      <a:pt x="11" y="75"/>
                    </a:lnTo>
                    <a:lnTo>
                      <a:pt x="19" y="72"/>
                    </a:lnTo>
                    <a:lnTo>
                      <a:pt x="22" y="64"/>
                    </a:lnTo>
                    <a:lnTo>
                      <a:pt x="17" y="73"/>
                    </a:lnTo>
                    <a:close/>
                  </a:path>
                </a:pathLst>
              </a:custGeom>
              <a:solidFill>
                <a:srgbClr val="000000"/>
              </a:solidFill>
              <a:ln w="9525">
                <a:noFill/>
                <a:round/>
                <a:headEnd/>
                <a:tailEnd/>
              </a:ln>
            </p:spPr>
            <p:txBody>
              <a:bodyPr/>
              <a:lstStyle/>
              <a:p>
                <a:endParaRPr lang="en-US"/>
              </a:p>
            </p:txBody>
          </p:sp>
          <p:sp>
            <p:nvSpPr>
              <p:cNvPr id="24667" name="Freeform 56"/>
              <p:cNvSpPr>
                <a:spLocks/>
              </p:cNvSpPr>
              <p:nvPr/>
            </p:nvSpPr>
            <p:spPr bwMode="auto">
              <a:xfrm>
                <a:off x="1887" y="3523"/>
                <a:ext cx="163" cy="103"/>
              </a:xfrm>
              <a:custGeom>
                <a:avLst/>
                <a:gdLst>
                  <a:gd name="T0" fmla="*/ 0 w 326"/>
                  <a:gd name="T1" fmla="*/ 0 h 207"/>
                  <a:gd name="T2" fmla="*/ 1 w 326"/>
                  <a:gd name="T3" fmla="*/ 0 h 207"/>
                  <a:gd name="T4" fmla="*/ 1 w 326"/>
                  <a:gd name="T5" fmla="*/ 0 h 207"/>
                  <a:gd name="T6" fmla="*/ 1 w 326"/>
                  <a:gd name="T7" fmla="*/ 0 h 207"/>
                  <a:gd name="T8" fmla="*/ 1 w 326"/>
                  <a:gd name="T9" fmla="*/ 0 h 207"/>
                  <a:gd name="T10" fmla="*/ 1 w 326"/>
                  <a:gd name="T11" fmla="*/ 0 h 207"/>
                  <a:gd name="T12" fmla="*/ 1 w 326"/>
                  <a:gd name="T13" fmla="*/ 0 h 207"/>
                  <a:gd name="T14" fmla="*/ 0 w 326"/>
                  <a:gd name="T15" fmla="*/ 0 h 207"/>
                  <a:gd name="T16" fmla="*/ 1 w 326"/>
                  <a:gd name="T17" fmla="*/ 0 h 207"/>
                  <a:gd name="T18" fmla="*/ 1 w 326"/>
                  <a:gd name="T19" fmla="*/ 0 h 207"/>
                  <a:gd name="T20" fmla="*/ 1 w 326"/>
                  <a:gd name="T21" fmla="*/ 0 h 207"/>
                  <a:gd name="T22" fmla="*/ 0 w 326"/>
                  <a:gd name="T23" fmla="*/ 0 h 2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7"/>
                  <a:gd name="T38" fmla="*/ 326 w 326"/>
                  <a:gd name="T39" fmla="*/ 207 h 2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7">
                    <a:moveTo>
                      <a:pt x="0" y="196"/>
                    </a:moveTo>
                    <a:lnTo>
                      <a:pt x="18" y="205"/>
                    </a:lnTo>
                    <a:lnTo>
                      <a:pt x="326" y="19"/>
                    </a:lnTo>
                    <a:lnTo>
                      <a:pt x="314" y="0"/>
                    </a:lnTo>
                    <a:lnTo>
                      <a:pt x="5" y="187"/>
                    </a:lnTo>
                    <a:lnTo>
                      <a:pt x="22" y="196"/>
                    </a:lnTo>
                    <a:lnTo>
                      <a:pt x="5" y="187"/>
                    </a:lnTo>
                    <a:lnTo>
                      <a:pt x="0" y="194"/>
                    </a:lnTo>
                    <a:lnTo>
                      <a:pt x="2" y="202"/>
                    </a:lnTo>
                    <a:lnTo>
                      <a:pt x="8" y="207"/>
                    </a:lnTo>
                    <a:lnTo>
                      <a:pt x="18" y="205"/>
                    </a:lnTo>
                    <a:lnTo>
                      <a:pt x="0" y="196"/>
                    </a:lnTo>
                    <a:close/>
                  </a:path>
                </a:pathLst>
              </a:custGeom>
              <a:solidFill>
                <a:srgbClr val="000000"/>
              </a:solidFill>
              <a:ln w="9525">
                <a:noFill/>
                <a:round/>
                <a:headEnd/>
                <a:tailEnd/>
              </a:ln>
            </p:spPr>
            <p:txBody>
              <a:bodyPr/>
              <a:lstStyle/>
              <a:p>
                <a:endParaRPr lang="en-US"/>
              </a:p>
            </p:txBody>
          </p:sp>
          <p:sp>
            <p:nvSpPr>
              <p:cNvPr id="24668" name="Freeform 57"/>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5" y="1"/>
                    </a:moveTo>
                    <a:lnTo>
                      <a:pt x="0" y="11"/>
                    </a:lnTo>
                    <a:lnTo>
                      <a:pt x="0" y="75"/>
                    </a:lnTo>
                    <a:lnTo>
                      <a:pt x="22" y="75"/>
                    </a:lnTo>
                    <a:lnTo>
                      <a:pt x="22" y="11"/>
                    </a:lnTo>
                    <a:lnTo>
                      <a:pt x="18" y="20"/>
                    </a:lnTo>
                    <a:lnTo>
                      <a:pt x="22" y="11"/>
                    </a:lnTo>
                    <a:lnTo>
                      <a:pt x="19" y="3"/>
                    </a:lnTo>
                    <a:lnTo>
                      <a:pt x="11" y="0"/>
                    </a:lnTo>
                    <a:lnTo>
                      <a:pt x="4" y="3"/>
                    </a:lnTo>
                    <a:lnTo>
                      <a:pt x="0" y="11"/>
                    </a:lnTo>
                    <a:lnTo>
                      <a:pt x="5" y="1"/>
                    </a:lnTo>
                    <a:close/>
                  </a:path>
                </a:pathLst>
              </a:custGeom>
              <a:solidFill>
                <a:srgbClr val="000000"/>
              </a:solidFill>
              <a:ln w="9525">
                <a:noFill/>
                <a:round/>
                <a:headEnd/>
                <a:tailEnd/>
              </a:ln>
            </p:spPr>
            <p:txBody>
              <a:bodyPr/>
              <a:lstStyle/>
              <a:p>
                <a:endParaRPr lang="en-US"/>
              </a:p>
            </p:txBody>
          </p:sp>
          <p:sp>
            <p:nvSpPr>
              <p:cNvPr id="24669" name="Freeform 58"/>
              <p:cNvSpPr>
                <a:spLocks/>
              </p:cNvSpPr>
              <p:nvPr/>
            </p:nvSpPr>
            <p:spPr bwMode="auto">
              <a:xfrm>
                <a:off x="1889" y="3490"/>
                <a:ext cx="163" cy="104"/>
              </a:xfrm>
              <a:custGeom>
                <a:avLst/>
                <a:gdLst>
                  <a:gd name="T0" fmla="*/ 1 w 326"/>
                  <a:gd name="T1" fmla="*/ 1 h 206"/>
                  <a:gd name="T2" fmla="*/ 1 w 326"/>
                  <a:gd name="T3" fmla="*/ 1 h 206"/>
                  <a:gd name="T4" fmla="*/ 0 w 326"/>
                  <a:gd name="T5" fmla="*/ 1 h 206"/>
                  <a:gd name="T6" fmla="*/ 1 w 326"/>
                  <a:gd name="T7" fmla="*/ 1 h 206"/>
                  <a:gd name="T8" fmla="*/ 1 w 326"/>
                  <a:gd name="T9" fmla="*/ 1 h 206"/>
                  <a:gd name="T10" fmla="*/ 1 w 326"/>
                  <a:gd name="T11" fmla="*/ 1 h 206"/>
                  <a:gd name="T12" fmla="*/ 1 w 326"/>
                  <a:gd name="T13" fmla="*/ 1 h 206"/>
                  <a:gd name="T14" fmla="*/ 1 w 326"/>
                  <a:gd name="T15" fmla="*/ 1 h 206"/>
                  <a:gd name="T16" fmla="*/ 1 w 326"/>
                  <a:gd name="T17" fmla="*/ 1 h 206"/>
                  <a:gd name="T18" fmla="*/ 1 w 326"/>
                  <a:gd name="T19" fmla="*/ 0 h 206"/>
                  <a:gd name="T20" fmla="*/ 1 w 326"/>
                  <a:gd name="T21" fmla="*/ 1 h 206"/>
                  <a:gd name="T22" fmla="*/ 1 w 326"/>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6"/>
                  <a:gd name="T38" fmla="*/ 326 w 326"/>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6">
                    <a:moveTo>
                      <a:pt x="326" y="11"/>
                    </a:moveTo>
                    <a:lnTo>
                      <a:pt x="309" y="1"/>
                    </a:lnTo>
                    <a:lnTo>
                      <a:pt x="0" y="187"/>
                    </a:lnTo>
                    <a:lnTo>
                      <a:pt x="13" y="206"/>
                    </a:lnTo>
                    <a:lnTo>
                      <a:pt x="321" y="20"/>
                    </a:lnTo>
                    <a:lnTo>
                      <a:pt x="304" y="11"/>
                    </a:lnTo>
                    <a:lnTo>
                      <a:pt x="321" y="20"/>
                    </a:lnTo>
                    <a:lnTo>
                      <a:pt x="326" y="12"/>
                    </a:lnTo>
                    <a:lnTo>
                      <a:pt x="324" y="4"/>
                    </a:lnTo>
                    <a:lnTo>
                      <a:pt x="318" y="0"/>
                    </a:lnTo>
                    <a:lnTo>
                      <a:pt x="309" y="1"/>
                    </a:lnTo>
                    <a:lnTo>
                      <a:pt x="326" y="11"/>
                    </a:lnTo>
                    <a:close/>
                  </a:path>
                </a:pathLst>
              </a:custGeom>
              <a:solidFill>
                <a:srgbClr val="000000"/>
              </a:solidFill>
              <a:ln w="9525">
                <a:noFill/>
                <a:round/>
                <a:headEnd/>
                <a:tailEnd/>
              </a:ln>
            </p:spPr>
            <p:txBody>
              <a:bodyPr/>
              <a:lstStyle/>
              <a:p>
                <a:endParaRPr lang="en-US"/>
              </a:p>
            </p:txBody>
          </p:sp>
          <p:sp>
            <p:nvSpPr>
              <p:cNvPr id="24670" name="Freeform 59"/>
              <p:cNvSpPr>
                <a:spLocks/>
              </p:cNvSpPr>
              <p:nvPr/>
            </p:nvSpPr>
            <p:spPr bwMode="auto">
              <a:xfrm>
                <a:off x="1765" y="3521"/>
                <a:ext cx="127" cy="100"/>
              </a:xfrm>
              <a:custGeom>
                <a:avLst/>
                <a:gdLst>
                  <a:gd name="T0" fmla="*/ 0 w 255"/>
                  <a:gd name="T1" fmla="*/ 0 h 200"/>
                  <a:gd name="T2" fmla="*/ 0 w 255"/>
                  <a:gd name="T3" fmla="*/ 1 h 200"/>
                  <a:gd name="T4" fmla="*/ 0 w 255"/>
                  <a:gd name="T5" fmla="*/ 1 h 200"/>
                  <a:gd name="T6" fmla="*/ 0 w 255"/>
                  <a:gd name="T7" fmla="*/ 1 h 200"/>
                  <a:gd name="T8" fmla="*/ 0 w 255"/>
                  <a:gd name="T9" fmla="*/ 0 h 200"/>
                  <a:gd name="T10" fmla="*/ 0 60000 65536"/>
                  <a:gd name="T11" fmla="*/ 0 60000 65536"/>
                  <a:gd name="T12" fmla="*/ 0 60000 65536"/>
                  <a:gd name="T13" fmla="*/ 0 60000 65536"/>
                  <a:gd name="T14" fmla="*/ 0 60000 65536"/>
                  <a:gd name="T15" fmla="*/ 0 w 255"/>
                  <a:gd name="T16" fmla="*/ 0 h 200"/>
                  <a:gd name="T17" fmla="*/ 255 w 255"/>
                  <a:gd name="T18" fmla="*/ 200 h 200"/>
                </a:gdLst>
                <a:ahLst/>
                <a:cxnLst>
                  <a:cxn ang="T10">
                    <a:pos x="T0" y="T1"/>
                  </a:cxn>
                  <a:cxn ang="T11">
                    <a:pos x="T2" y="T3"/>
                  </a:cxn>
                  <a:cxn ang="T12">
                    <a:pos x="T4" y="T5"/>
                  </a:cxn>
                  <a:cxn ang="T13">
                    <a:pos x="T6" y="T7"/>
                  </a:cxn>
                  <a:cxn ang="T14">
                    <a:pos x="T8" y="T9"/>
                  </a:cxn>
                </a:cxnLst>
                <a:rect l="T15" t="T16" r="T17" b="T18"/>
                <a:pathLst>
                  <a:path w="255" h="200">
                    <a:moveTo>
                      <a:pt x="0" y="0"/>
                    </a:moveTo>
                    <a:lnTo>
                      <a:pt x="0" y="64"/>
                    </a:lnTo>
                    <a:lnTo>
                      <a:pt x="255" y="200"/>
                    </a:lnTo>
                    <a:lnTo>
                      <a:pt x="255" y="136"/>
                    </a:lnTo>
                    <a:lnTo>
                      <a:pt x="0" y="0"/>
                    </a:lnTo>
                    <a:close/>
                  </a:path>
                </a:pathLst>
              </a:custGeom>
              <a:solidFill>
                <a:srgbClr val="4CB2FF"/>
              </a:solidFill>
              <a:ln w="9525">
                <a:noFill/>
                <a:round/>
                <a:headEnd/>
                <a:tailEnd/>
              </a:ln>
            </p:spPr>
            <p:txBody>
              <a:bodyPr/>
              <a:lstStyle/>
              <a:p>
                <a:endParaRPr lang="en-US"/>
              </a:p>
            </p:txBody>
          </p:sp>
          <p:sp>
            <p:nvSpPr>
              <p:cNvPr id="24671" name="Freeform 60"/>
              <p:cNvSpPr>
                <a:spLocks/>
              </p:cNvSpPr>
              <p:nvPr/>
            </p:nvSpPr>
            <p:spPr bwMode="auto">
              <a:xfrm>
                <a:off x="1759" y="3521"/>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6" y="55"/>
                    </a:moveTo>
                    <a:lnTo>
                      <a:pt x="22" y="64"/>
                    </a:lnTo>
                    <a:lnTo>
                      <a:pt x="22" y="0"/>
                    </a:lnTo>
                    <a:lnTo>
                      <a:pt x="0" y="0"/>
                    </a:lnTo>
                    <a:lnTo>
                      <a:pt x="0" y="64"/>
                    </a:lnTo>
                    <a:lnTo>
                      <a:pt x="7" y="73"/>
                    </a:lnTo>
                    <a:lnTo>
                      <a:pt x="0" y="64"/>
                    </a:lnTo>
                    <a:lnTo>
                      <a:pt x="3" y="72"/>
                    </a:lnTo>
                    <a:lnTo>
                      <a:pt x="11" y="75"/>
                    </a:lnTo>
                    <a:lnTo>
                      <a:pt x="19" y="72"/>
                    </a:lnTo>
                    <a:lnTo>
                      <a:pt x="22" y="64"/>
                    </a:lnTo>
                    <a:lnTo>
                      <a:pt x="16" y="55"/>
                    </a:lnTo>
                    <a:close/>
                  </a:path>
                </a:pathLst>
              </a:custGeom>
              <a:solidFill>
                <a:srgbClr val="000000"/>
              </a:solidFill>
              <a:ln w="9525">
                <a:noFill/>
                <a:round/>
                <a:headEnd/>
                <a:tailEnd/>
              </a:ln>
            </p:spPr>
            <p:txBody>
              <a:bodyPr/>
              <a:lstStyle/>
              <a:p>
                <a:endParaRPr lang="en-US"/>
              </a:p>
            </p:txBody>
          </p:sp>
          <p:sp>
            <p:nvSpPr>
              <p:cNvPr id="24672" name="Freeform 61"/>
              <p:cNvSpPr>
                <a:spLocks/>
              </p:cNvSpPr>
              <p:nvPr/>
            </p:nvSpPr>
            <p:spPr bwMode="auto">
              <a:xfrm>
                <a:off x="1762" y="3548"/>
                <a:ext cx="136" cy="78"/>
              </a:xfrm>
              <a:custGeom>
                <a:avLst/>
                <a:gdLst>
                  <a:gd name="T0" fmla="*/ 1 w 270"/>
                  <a:gd name="T1" fmla="*/ 1 h 154"/>
                  <a:gd name="T2" fmla="*/ 1 w 270"/>
                  <a:gd name="T3" fmla="*/ 1 h 154"/>
                  <a:gd name="T4" fmla="*/ 1 w 270"/>
                  <a:gd name="T5" fmla="*/ 0 h 154"/>
                  <a:gd name="T6" fmla="*/ 0 w 270"/>
                  <a:gd name="T7" fmla="*/ 1 h 154"/>
                  <a:gd name="T8" fmla="*/ 1 w 270"/>
                  <a:gd name="T9" fmla="*/ 1 h 154"/>
                  <a:gd name="T10" fmla="*/ 1 w 270"/>
                  <a:gd name="T11" fmla="*/ 1 h 154"/>
                  <a:gd name="T12" fmla="*/ 1 w 270"/>
                  <a:gd name="T13" fmla="*/ 1 h 154"/>
                  <a:gd name="T14" fmla="*/ 1 w 270"/>
                  <a:gd name="T15" fmla="*/ 1 h 154"/>
                  <a:gd name="T16" fmla="*/ 1 w 270"/>
                  <a:gd name="T17" fmla="*/ 1 h 154"/>
                  <a:gd name="T18" fmla="*/ 1 w 270"/>
                  <a:gd name="T19" fmla="*/ 1 h 154"/>
                  <a:gd name="T20" fmla="*/ 1 w 270"/>
                  <a:gd name="T21" fmla="*/ 1 h 154"/>
                  <a:gd name="T22" fmla="*/ 1 w 270"/>
                  <a:gd name="T23" fmla="*/ 1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0"/>
                  <a:gd name="T37" fmla="*/ 0 h 154"/>
                  <a:gd name="T38" fmla="*/ 270 w 270"/>
                  <a:gd name="T39" fmla="*/ 154 h 1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0" h="154">
                    <a:moveTo>
                      <a:pt x="248" y="145"/>
                    </a:moveTo>
                    <a:lnTo>
                      <a:pt x="264" y="136"/>
                    </a:lnTo>
                    <a:lnTo>
                      <a:pt x="9" y="0"/>
                    </a:lnTo>
                    <a:lnTo>
                      <a:pt x="0" y="18"/>
                    </a:lnTo>
                    <a:lnTo>
                      <a:pt x="255" y="154"/>
                    </a:lnTo>
                    <a:lnTo>
                      <a:pt x="270" y="145"/>
                    </a:lnTo>
                    <a:lnTo>
                      <a:pt x="255" y="154"/>
                    </a:lnTo>
                    <a:lnTo>
                      <a:pt x="263" y="154"/>
                    </a:lnTo>
                    <a:lnTo>
                      <a:pt x="269" y="150"/>
                    </a:lnTo>
                    <a:lnTo>
                      <a:pt x="270" y="142"/>
                    </a:lnTo>
                    <a:lnTo>
                      <a:pt x="264" y="136"/>
                    </a:lnTo>
                    <a:lnTo>
                      <a:pt x="248" y="145"/>
                    </a:lnTo>
                    <a:close/>
                  </a:path>
                </a:pathLst>
              </a:custGeom>
              <a:solidFill>
                <a:srgbClr val="000000"/>
              </a:solidFill>
              <a:ln w="9525">
                <a:noFill/>
                <a:round/>
                <a:headEnd/>
                <a:tailEnd/>
              </a:ln>
            </p:spPr>
            <p:txBody>
              <a:bodyPr/>
              <a:lstStyle/>
              <a:p>
                <a:endParaRPr lang="en-US"/>
              </a:p>
            </p:txBody>
          </p:sp>
          <p:sp>
            <p:nvSpPr>
              <p:cNvPr id="24673" name="Freeform 62"/>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7" y="20"/>
                    </a:moveTo>
                    <a:lnTo>
                      <a:pt x="0" y="11"/>
                    </a:lnTo>
                    <a:lnTo>
                      <a:pt x="0" y="75"/>
                    </a:lnTo>
                    <a:lnTo>
                      <a:pt x="22" y="75"/>
                    </a:lnTo>
                    <a:lnTo>
                      <a:pt x="22" y="11"/>
                    </a:lnTo>
                    <a:lnTo>
                      <a:pt x="16" y="1"/>
                    </a:lnTo>
                    <a:lnTo>
                      <a:pt x="22" y="11"/>
                    </a:lnTo>
                    <a:lnTo>
                      <a:pt x="19" y="3"/>
                    </a:lnTo>
                    <a:lnTo>
                      <a:pt x="11" y="0"/>
                    </a:lnTo>
                    <a:lnTo>
                      <a:pt x="4" y="3"/>
                    </a:lnTo>
                    <a:lnTo>
                      <a:pt x="0" y="11"/>
                    </a:lnTo>
                    <a:lnTo>
                      <a:pt x="7" y="20"/>
                    </a:lnTo>
                    <a:close/>
                  </a:path>
                </a:pathLst>
              </a:custGeom>
              <a:solidFill>
                <a:srgbClr val="000000"/>
              </a:solidFill>
              <a:ln w="9525">
                <a:noFill/>
                <a:round/>
                <a:headEnd/>
                <a:tailEnd/>
              </a:ln>
            </p:spPr>
            <p:txBody>
              <a:bodyPr/>
              <a:lstStyle/>
              <a:p>
                <a:endParaRPr lang="en-US"/>
              </a:p>
            </p:txBody>
          </p:sp>
          <p:sp>
            <p:nvSpPr>
              <p:cNvPr id="24674" name="Freeform 63"/>
              <p:cNvSpPr>
                <a:spLocks/>
              </p:cNvSpPr>
              <p:nvPr/>
            </p:nvSpPr>
            <p:spPr bwMode="auto">
              <a:xfrm>
                <a:off x="1759" y="3516"/>
                <a:ext cx="136" cy="78"/>
              </a:xfrm>
              <a:custGeom>
                <a:avLst/>
                <a:gdLst>
                  <a:gd name="T0" fmla="*/ 1 w 271"/>
                  <a:gd name="T1" fmla="*/ 1 h 155"/>
                  <a:gd name="T2" fmla="*/ 1 w 271"/>
                  <a:gd name="T3" fmla="*/ 1 h 155"/>
                  <a:gd name="T4" fmla="*/ 1 w 271"/>
                  <a:gd name="T5" fmla="*/ 1 h 155"/>
                  <a:gd name="T6" fmla="*/ 1 w 271"/>
                  <a:gd name="T7" fmla="*/ 1 h 155"/>
                  <a:gd name="T8" fmla="*/ 1 w 271"/>
                  <a:gd name="T9" fmla="*/ 0 h 155"/>
                  <a:gd name="T10" fmla="*/ 0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1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22" y="10"/>
                    </a:moveTo>
                    <a:lnTo>
                      <a:pt x="7" y="19"/>
                    </a:lnTo>
                    <a:lnTo>
                      <a:pt x="262" y="155"/>
                    </a:lnTo>
                    <a:lnTo>
                      <a:pt x="271" y="136"/>
                    </a:lnTo>
                    <a:lnTo>
                      <a:pt x="16" y="0"/>
                    </a:lnTo>
                    <a:lnTo>
                      <a:pt x="0" y="10"/>
                    </a:lnTo>
                    <a:lnTo>
                      <a:pt x="16" y="0"/>
                    </a:lnTo>
                    <a:lnTo>
                      <a:pt x="8" y="0"/>
                    </a:lnTo>
                    <a:lnTo>
                      <a:pt x="2" y="5"/>
                    </a:lnTo>
                    <a:lnTo>
                      <a:pt x="0" y="13"/>
                    </a:lnTo>
                    <a:lnTo>
                      <a:pt x="7" y="19"/>
                    </a:lnTo>
                    <a:lnTo>
                      <a:pt x="22" y="10"/>
                    </a:lnTo>
                    <a:close/>
                  </a:path>
                </a:pathLst>
              </a:custGeom>
              <a:solidFill>
                <a:srgbClr val="000000"/>
              </a:solidFill>
              <a:ln w="9525">
                <a:noFill/>
                <a:round/>
                <a:headEnd/>
                <a:tailEnd/>
              </a:ln>
            </p:spPr>
            <p:txBody>
              <a:bodyPr/>
              <a:lstStyle/>
              <a:p>
                <a:endParaRPr lang="en-US"/>
              </a:p>
            </p:txBody>
          </p:sp>
          <p:sp>
            <p:nvSpPr>
              <p:cNvPr id="24675" name="Freeform 64"/>
              <p:cNvSpPr>
                <a:spLocks/>
              </p:cNvSpPr>
              <p:nvPr/>
            </p:nvSpPr>
            <p:spPr bwMode="auto">
              <a:xfrm>
                <a:off x="1765" y="3428"/>
                <a:ext cx="281" cy="161"/>
              </a:xfrm>
              <a:custGeom>
                <a:avLst/>
                <a:gdLst>
                  <a:gd name="T0" fmla="*/ 0 w 564"/>
                  <a:gd name="T1" fmla="*/ 1 h 322"/>
                  <a:gd name="T2" fmla="*/ 0 w 564"/>
                  <a:gd name="T3" fmla="*/ 0 h 322"/>
                  <a:gd name="T4" fmla="*/ 0 w 564"/>
                  <a:gd name="T5" fmla="*/ 1 h 322"/>
                  <a:gd name="T6" fmla="*/ 0 w 564"/>
                  <a:gd name="T7" fmla="*/ 1 h 322"/>
                  <a:gd name="T8" fmla="*/ 0 w 564"/>
                  <a:gd name="T9" fmla="*/ 1 h 322"/>
                  <a:gd name="T10" fmla="*/ 0 60000 65536"/>
                  <a:gd name="T11" fmla="*/ 0 60000 65536"/>
                  <a:gd name="T12" fmla="*/ 0 60000 65536"/>
                  <a:gd name="T13" fmla="*/ 0 60000 65536"/>
                  <a:gd name="T14" fmla="*/ 0 60000 65536"/>
                  <a:gd name="T15" fmla="*/ 0 w 564"/>
                  <a:gd name="T16" fmla="*/ 0 h 322"/>
                  <a:gd name="T17" fmla="*/ 564 w 564"/>
                  <a:gd name="T18" fmla="*/ 322 h 322"/>
                </a:gdLst>
                <a:ahLst/>
                <a:cxnLst>
                  <a:cxn ang="T10">
                    <a:pos x="T0" y="T1"/>
                  </a:cxn>
                  <a:cxn ang="T11">
                    <a:pos x="T2" y="T3"/>
                  </a:cxn>
                  <a:cxn ang="T12">
                    <a:pos x="T4" y="T5"/>
                  </a:cxn>
                  <a:cxn ang="T13">
                    <a:pos x="T6" y="T7"/>
                  </a:cxn>
                  <a:cxn ang="T14">
                    <a:pos x="T8" y="T9"/>
                  </a:cxn>
                </a:cxnLst>
                <a:rect l="T15" t="T16" r="T17" b="T18"/>
                <a:pathLst>
                  <a:path w="564" h="322">
                    <a:moveTo>
                      <a:pt x="0" y="186"/>
                    </a:moveTo>
                    <a:lnTo>
                      <a:pt x="310" y="0"/>
                    </a:lnTo>
                    <a:lnTo>
                      <a:pt x="564" y="137"/>
                    </a:lnTo>
                    <a:lnTo>
                      <a:pt x="255" y="322"/>
                    </a:lnTo>
                    <a:lnTo>
                      <a:pt x="0" y="186"/>
                    </a:lnTo>
                    <a:close/>
                  </a:path>
                </a:pathLst>
              </a:custGeom>
              <a:solidFill>
                <a:srgbClr val="99D8FF"/>
              </a:solidFill>
              <a:ln w="9525">
                <a:noFill/>
                <a:round/>
                <a:headEnd/>
                <a:tailEnd/>
              </a:ln>
            </p:spPr>
            <p:txBody>
              <a:bodyPr/>
              <a:lstStyle/>
              <a:p>
                <a:endParaRPr lang="en-US"/>
              </a:p>
            </p:txBody>
          </p:sp>
          <p:sp>
            <p:nvSpPr>
              <p:cNvPr id="24676" name="Freeform 65"/>
              <p:cNvSpPr>
                <a:spLocks/>
              </p:cNvSpPr>
              <p:nvPr/>
            </p:nvSpPr>
            <p:spPr bwMode="auto">
              <a:xfrm>
                <a:off x="1761" y="3422"/>
                <a:ext cx="164" cy="104"/>
              </a:xfrm>
              <a:custGeom>
                <a:avLst/>
                <a:gdLst>
                  <a:gd name="T0" fmla="*/ 1 w 327"/>
                  <a:gd name="T1" fmla="*/ 1 h 206"/>
                  <a:gd name="T2" fmla="*/ 1 w 327"/>
                  <a:gd name="T3" fmla="*/ 1 h 206"/>
                  <a:gd name="T4" fmla="*/ 0 w 327"/>
                  <a:gd name="T5" fmla="*/ 1 h 206"/>
                  <a:gd name="T6" fmla="*/ 1 w 327"/>
                  <a:gd name="T7" fmla="*/ 1 h 206"/>
                  <a:gd name="T8" fmla="*/ 1 w 327"/>
                  <a:gd name="T9" fmla="*/ 1 h 206"/>
                  <a:gd name="T10" fmla="*/ 1 w 327"/>
                  <a:gd name="T11" fmla="*/ 1 h 206"/>
                  <a:gd name="T12" fmla="*/ 1 w 327"/>
                  <a:gd name="T13" fmla="*/ 1 h 206"/>
                  <a:gd name="T14" fmla="*/ 1 w 327"/>
                  <a:gd name="T15" fmla="*/ 1 h 206"/>
                  <a:gd name="T16" fmla="*/ 1 w 327"/>
                  <a:gd name="T17" fmla="*/ 1 h 206"/>
                  <a:gd name="T18" fmla="*/ 1 w 327"/>
                  <a:gd name="T19" fmla="*/ 0 h 206"/>
                  <a:gd name="T20" fmla="*/ 1 w 327"/>
                  <a:gd name="T21" fmla="*/ 1 h 206"/>
                  <a:gd name="T22" fmla="*/ 1 w 327"/>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7"/>
                  <a:gd name="T37" fmla="*/ 0 h 206"/>
                  <a:gd name="T38" fmla="*/ 327 w 327"/>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7" h="206">
                    <a:moveTo>
                      <a:pt x="321" y="1"/>
                    </a:moveTo>
                    <a:lnTo>
                      <a:pt x="310" y="1"/>
                    </a:lnTo>
                    <a:lnTo>
                      <a:pt x="0" y="187"/>
                    </a:lnTo>
                    <a:lnTo>
                      <a:pt x="12" y="206"/>
                    </a:lnTo>
                    <a:lnTo>
                      <a:pt x="322" y="20"/>
                    </a:lnTo>
                    <a:lnTo>
                      <a:pt x="312" y="20"/>
                    </a:lnTo>
                    <a:lnTo>
                      <a:pt x="322" y="20"/>
                    </a:lnTo>
                    <a:lnTo>
                      <a:pt x="327" y="12"/>
                    </a:lnTo>
                    <a:lnTo>
                      <a:pt x="326" y="4"/>
                    </a:lnTo>
                    <a:lnTo>
                      <a:pt x="319" y="0"/>
                    </a:lnTo>
                    <a:lnTo>
                      <a:pt x="310" y="1"/>
                    </a:lnTo>
                    <a:lnTo>
                      <a:pt x="321" y="1"/>
                    </a:lnTo>
                    <a:close/>
                  </a:path>
                </a:pathLst>
              </a:custGeom>
              <a:solidFill>
                <a:srgbClr val="000000"/>
              </a:solidFill>
              <a:ln w="9525">
                <a:noFill/>
                <a:round/>
                <a:headEnd/>
                <a:tailEnd/>
              </a:ln>
            </p:spPr>
            <p:txBody>
              <a:bodyPr/>
              <a:lstStyle/>
              <a:p>
                <a:endParaRPr lang="en-US"/>
              </a:p>
            </p:txBody>
          </p:sp>
          <p:sp>
            <p:nvSpPr>
              <p:cNvPr id="24677" name="Freeform 66"/>
              <p:cNvSpPr>
                <a:spLocks/>
              </p:cNvSpPr>
              <p:nvPr/>
            </p:nvSpPr>
            <p:spPr bwMode="auto">
              <a:xfrm>
                <a:off x="1917" y="3423"/>
                <a:ext cx="135" cy="78"/>
              </a:xfrm>
              <a:custGeom>
                <a:avLst/>
                <a:gdLst>
                  <a:gd name="T0" fmla="*/ 1 w 269"/>
                  <a:gd name="T1" fmla="*/ 0 h 157"/>
                  <a:gd name="T2" fmla="*/ 1 w 269"/>
                  <a:gd name="T3" fmla="*/ 0 h 157"/>
                  <a:gd name="T4" fmla="*/ 1 w 269"/>
                  <a:gd name="T5" fmla="*/ 0 h 157"/>
                  <a:gd name="T6" fmla="*/ 0 w 269"/>
                  <a:gd name="T7" fmla="*/ 0 h 157"/>
                  <a:gd name="T8" fmla="*/ 1 w 269"/>
                  <a:gd name="T9" fmla="*/ 0 h 157"/>
                  <a:gd name="T10" fmla="*/ 1 w 269"/>
                  <a:gd name="T11" fmla="*/ 0 h 157"/>
                  <a:gd name="T12" fmla="*/ 1 w 269"/>
                  <a:gd name="T13" fmla="*/ 0 h 157"/>
                  <a:gd name="T14" fmla="*/ 1 w 269"/>
                  <a:gd name="T15" fmla="*/ 0 h 157"/>
                  <a:gd name="T16" fmla="*/ 1 w 269"/>
                  <a:gd name="T17" fmla="*/ 0 h 157"/>
                  <a:gd name="T18" fmla="*/ 1 w 269"/>
                  <a:gd name="T19" fmla="*/ 0 h 157"/>
                  <a:gd name="T20" fmla="*/ 1 w 269"/>
                  <a:gd name="T21" fmla="*/ 0 h 157"/>
                  <a:gd name="T22" fmla="*/ 1 w 269"/>
                  <a:gd name="T23" fmla="*/ 0 h 15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9"/>
                  <a:gd name="T37" fmla="*/ 0 h 157"/>
                  <a:gd name="T38" fmla="*/ 269 w 269"/>
                  <a:gd name="T39" fmla="*/ 157 h 15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9" h="157">
                    <a:moveTo>
                      <a:pt x="264" y="157"/>
                    </a:moveTo>
                    <a:lnTo>
                      <a:pt x="263" y="138"/>
                    </a:lnTo>
                    <a:lnTo>
                      <a:pt x="9" y="0"/>
                    </a:lnTo>
                    <a:lnTo>
                      <a:pt x="0" y="19"/>
                    </a:lnTo>
                    <a:lnTo>
                      <a:pt x="253" y="157"/>
                    </a:lnTo>
                    <a:lnTo>
                      <a:pt x="252" y="138"/>
                    </a:lnTo>
                    <a:lnTo>
                      <a:pt x="253" y="157"/>
                    </a:lnTo>
                    <a:lnTo>
                      <a:pt x="261" y="157"/>
                    </a:lnTo>
                    <a:lnTo>
                      <a:pt x="267" y="152"/>
                    </a:lnTo>
                    <a:lnTo>
                      <a:pt x="269" y="144"/>
                    </a:lnTo>
                    <a:lnTo>
                      <a:pt x="263" y="138"/>
                    </a:lnTo>
                    <a:lnTo>
                      <a:pt x="264" y="157"/>
                    </a:lnTo>
                    <a:close/>
                  </a:path>
                </a:pathLst>
              </a:custGeom>
              <a:solidFill>
                <a:srgbClr val="000000"/>
              </a:solidFill>
              <a:ln w="9525">
                <a:noFill/>
                <a:round/>
                <a:headEnd/>
                <a:tailEnd/>
              </a:ln>
            </p:spPr>
            <p:txBody>
              <a:bodyPr/>
              <a:lstStyle/>
              <a:p>
                <a:endParaRPr lang="en-US"/>
              </a:p>
            </p:txBody>
          </p:sp>
          <p:sp>
            <p:nvSpPr>
              <p:cNvPr id="24678" name="Freeform 67"/>
              <p:cNvSpPr>
                <a:spLocks/>
              </p:cNvSpPr>
              <p:nvPr/>
            </p:nvSpPr>
            <p:spPr bwMode="auto">
              <a:xfrm>
                <a:off x="1887" y="3492"/>
                <a:ext cx="163" cy="102"/>
              </a:xfrm>
              <a:custGeom>
                <a:avLst/>
                <a:gdLst>
                  <a:gd name="T0" fmla="*/ 1 w 326"/>
                  <a:gd name="T1" fmla="*/ 0 h 205"/>
                  <a:gd name="T2" fmla="*/ 1 w 326"/>
                  <a:gd name="T3" fmla="*/ 0 h 205"/>
                  <a:gd name="T4" fmla="*/ 1 w 326"/>
                  <a:gd name="T5" fmla="*/ 0 h 205"/>
                  <a:gd name="T6" fmla="*/ 1 w 326"/>
                  <a:gd name="T7" fmla="*/ 0 h 205"/>
                  <a:gd name="T8" fmla="*/ 1 w 326"/>
                  <a:gd name="T9" fmla="*/ 0 h 205"/>
                  <a:gd name="T10" fmla="*/ 1 w 326"/>
                  <a:gd name="T11" fmla="*/ 0 h 205"/>
                  <a:gd name="T12" fmla="*/ 1 w 326"/>
                  <a:gd name="T13" fmla="*/ 0 h 205"/>
                  <a:gd name="T14" fmla="*/ 0 w 326"/>
                  <a:gd name="T15" fmla="*/ 0 h 205"/>
                  <a:gd name="T16" fmla="*/ 1 w 326"/>
                  <a:gd name="T17" fmla="*/ 0 h 205"/>
                  <a:gd name="T18" fmla="*/ 1 w 326"/>
                  <a:gd name="T19" fmla="*/ 0 h 205"/>
                  <a:gd name="T20" fmla="*/ 1 w 326"/>
                  <a:gd name="T21" fmla="*/ 0 h 205"/>
                  <a:gd name="T22" fmla="*/ 1 w 326"/>
                  <a:gd name="T23" fmla="*/ 0 h 2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5"/>
                  <a:gd name="T38" fmla="*/ 326 w 326"/>
                  <a:gd name="T39" fmla="*/ 205 h 20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5">
                    <a:moveTo>
                      <a:pt x="7" y="203"/>
                    </a:moveTo>
                    <a:lnTo>
                      <a:pt x="18" y="203"/>
                    </a:lnTo>
                    <a:lnTo>
                      <a:pt x="326" y="19"/>
                    </a:lnTo>
                    <a:lnTo>
                      <a:pt x="314" y="0"/>
                    </a:lnTo>
                    <a:lnTo>
                      <a:pt x="5" y="184"/>
                    </a:lnTo>
                    <a:lnTo>
                      <a:pt x="16" y="184"/>
                    </a:lnTo>
                    <a:lnTo>
                      <a:pt x="5" y="184"/>
                    </a:lnTo>
                    <a:lnTo>
                      <a:pt x="0" y="192"/>
                    </a:lnTo>
                    <a:lnTo>
                      <a:pt x="2" y="200"/>
                    </a:lnTo>
                    <a:lnTo>
                      <a:pt x="8" y="205"/>
                    </a:lnTo>
                    <a:lnTo>
                      <a:pt x="18" y="203"/>
                    </a:lnTo>
                    <a:lnTo>
                      <a:pt x="7" y="203"/>
                    </a:lnTo>
                    <a:close/>
                  </a:path>
                </a:pathLst>
              </a:custGeom>
              <a:solidFill>
                <a:srgbClr val="000000"/>
              </a:solidFill>
              <a:ln w="9525">
                <a:noFill/>
                <a:round/>
                <a:headEnd/>
                <a:tailEnd/>
              </a:ln>
            </p:spPr>
            <p:txBody>
              <a:bodyPr/>
              <a:lstStyle/>
              <a:p>
                <a:endParaRPr lang="en-US"/>
              </a:p>
            </p:txBody>
          </p:sp>
          <p:sp>
            <p:nvSpPr>
              <p:cNvPr id="24679" name="Freeform 68"/>
              <p:cNvSpPr>
                <a:spLocks/>
              </p:cNvSpPr>
              <p:nvPr/>
            </p:nvSpPr>
            <p:spPr bwMode="auto">
              <a:xfrm>
                <a:off x="1759" y="3516"/>
                <a:ext cx="136" cy="78"/>
              </a:xfrm>
              <a:custGeom>
                <a:avLst/>
                <a:gdLst>
                  <a:gd name="T0" fmla="*/ 1 w 271"/>
                  <a:gd name="T1" fmla="*/ 0 h 155"/>
                  <a:gd name="T2" fmla="*/ 1 w 271"/>
                  <a:gd name="T3" fmla="*/ 1 h 155"/>
                  <a:gd name="T4" fmla="*/ 1 w 271"/>
                  <a:gd name="T5" fmla="*/ 1 h 155"/>
                  <a:gd name="T6" fmla="*/ 1 w 271"/>
                  <a:gd name="T7" fmla="*/ 1 h 155"/>
                  <a:gd name="T8" fmla="*/ 1 w 271"/>
                  <a:gd name="T9" fmla="*/ 0 h 155"/>
                  <a:gd name="T10" fmla="*/ 1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0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5" y="0"/>
                    </a:moveTo>
                    <a:lnTo>
                      <a:pt x="7" y="19"/>
                    </a:lnTo>
                    <a:lnTo>
                      <a:pt x="262" y="155"/>
                    </a:lnTo>
                    <a:lnTo>
                      <a:pt x="271" y="136"/>
                    </a:lnTo>
                    <a:lnTo>
                      <a:pt x="16" y="0"/>
                    </a:lnTo>
                    <a:lnTo>
                      <a:pt x="17" y="19"/>
                    </a:lnTo>
                    <a:lnTo>
                      <a:pt x="16" y="0"/>
                    </a:lnTo>
                    <a:lnTo>
                      <a:pt x="8" y="0"/>
                    </a:lnTo>
                    <a:lnTo>
                      <a:pt x="2" y="5"/>
                    </a:lnTo>
                    <a:lnTo>
                      <a:pt x="0" y="13"/>
                    </a:lnTo>
                    <a:lnTo>
                      <a:pt x="7" y="19"/>
                    </a:lnTo>
                    <a:lnTo>
                      <a:pt x="5" y="0"/>
                    </a:lnTo>
                    <a:close/>
                  </a:path>
                </a:pathLst>
              </a:custGeom>
              <a:solidFill>
                <a:srgbClr val="000000"/>
              </a:solidFill>
              <a:ln w="9525">
                <a:noFill/>
                <a:round/>
                <a:headEnd/>
                <a:tailEnd/>
              </a:ln>
            </p:spPr>
            <p:txBody>
              <a:bodyPr/>
              <a:lstStyle/>
              <a:p>
                <a:endParaRPr lang="en-US"/>
              </a:p>
            </p:txBody>
          </p:sp>
          <p:sp>
            <p:nvSpPr>
              <p:cNvPr id="24680" name="Freeform 69"/>
              <p:cNvSpPr>
                <a:spLocks/>
              </p:cNvSpPr>
              <p:nvPr/>
            </p:nvSpPr>
            <p:spPr bwMode="auto">
              <a:xfrm>
                <a:off x="1797" y="3428"/>
                <a:ext cx="54" cy="98"/>
              </a:xfrm>
              <a:custGeom>
                <a:avLst/>
                <a:gdLst>
                  <a:gd name="T0" fmla="*/ 0 w 110"/>
                  <a:gd name="T1" fmla="*/ 0 h 197"/>
                  <a:gd name="T2" fmla="*/ 0 w 110"/>
                  <a:gd name="T3" fmla="*/ 0 h 197"/>
                  <a:gd name="T4" fmla="*/ 0 w 110"/>
                  <a:gd name="T5" fmla="*/ 0 h 197"/>
                  <a:gd name="T6" fmla="*/ 0 w 110"/>
                  <a:gd name="T7" fmla="*/ 0 h 197"/>
                  <a:gd name="T8" fmla="*/ 0 w 110"/>
                  <a:gd name="T9" fmla="*/ 0 h 197"/>
                  <a:gd name="T10" fmla="*/ 0 60000 65536"/>
                  <a:gd name="T11" fmla="*/ 0 60000 65536"/>
                  <a:gd name="T12" fmla="*/ 0 60000 65536"/>
                  <a:gd name="T13" fmla="*/ 0 60000 65536"/>
                  <a:gd name="T14" fmla="*/ 0 60000 65536"/>
                  <a:gd name="T15" fmla="*/ 0 w 110"/>
                  <a:gd name="T16" fmla="*/ 0 h 197"/>
                  <a:gd name="T17" fmla="*/ 110 w 110"/>
                  <a:gd name="T18" fmla="*/ 197 h 197"/>
                </a:gdLst>
                <a:ahLst/>
                <a:cxnLst>
                  <a:cxn ang="T10">
                    <a:pos x="T0" y="T1"/>
                  </a:cxn>
                  <a:cxn ang="T11">
                    <a:pos x="T2" y="T3"/>
                  </a:cxn>
                  <a:cxn ang="T12">
                    <a:pos x="T4" y="T5"/>
                  </a:cxn>
                  <a:cxn ang="T13">
                    <a:pos x="T6" y="T7"/>
                  </a:cxn>
                  <a:cxn ang="T14">
                    <a:pos x="T8" y="T9"/>
                  </a:cxn>
                </a:cxnLst>
                <a:rect l="T15" t="T16" r="T17" b="T18"/>
                <a:pathLst>
                  <a:path w="110" h="197">
                    <a:moveTo>
                      <a:pt x="110" y="197"/>
                    </a:moveTo>
                    <a:lnTo>
                      <a:pt x="110" y="9"/>
                    </a:lnTo>
                    <a:lnTo>
                      <a:pt x="0" y="0"/>
                    </a:lnTo>
                    <a:lnTo>
                      <a:pt x="0" y="139"/>
                    </a:lnTo>
                    <a:lnTo>
                      <a:pt x="110" y="197"/>
                    </a:lnTo>
                    <a:close/>
                  </a:path>
                </a:pathLst>
              </a:custGeom>
              <a:solidFill>
                <a:srgbClr val="4CB2FF"/>
              </a:solidFill>
              <a:ln w="9525">
                <a:noFill/>
                <a:round/>
                <a:headEnd/>
                <a:tailEnd/>
              </a:ln>
            </p:spPr>
            <p:txBody>
              <a:bodyPr/>
              <a:lstStyle/>
              <a:p>
                <a:endParaRPr lang="en-US"/>
              </a:p>
            </p:txBody>
          </p:sp>
          <p:sp>
            <p:nvSpPr>
              <p:cNvPr id="24681" name="Freeform 70"/>
              <p:cNvSpPr>
                <a:spLocks/>
              </p:cNvSpPr>
              <p:nvPr/>
            </p:nvSpPr>
            <p:spPr bwMode="auto">
              <a:xfrm>
                <a:off x="1846" y="3427"/>
                <a:ext cx="11" cy="99"/>
              </a:xfrm>
              <a:custGeom>
                <a:avLst/>
                <a:gdLst>
                  <a:gd name="T0" fmla="*/ 1 w 22"/>
                  <a:gd name="T1" fmla="*/ 0 h 199"/>
                  <a:gd name="T2" fmla="*/ 0 w 22"/>
                  <a:gd name="T3" fmla="*/ 0 h 199"/>
                  <a:gd name="T4" fmla="*/ 0 w 22"/>
                  <a:gd name="T5" fmla="*/ 0 h 199"/>
                  <a:gd name="T6" fmla="*/ 1 w 22"/>
                  <a:gd name="T7" fmla="*/ 0 h 199"/>
                  <a:gd name="T8" fmla="*/ 1 w 22"/>
                  <a:gd name="T9" fmla="*/ 0 h 199"/>
                  <a:gd name="T10" fmla="*/ 1 w 22"/>
                  <a:gd name="T11" fmla="*/ 0 h 199"/>
                  <a:gd name="T12" fmla="*/ 1 w 22"/>
                  <a:gd name="T13" fmla="*/ 0 h 199"/>
                  <a:gd name="T14" fmla="*/ 1 w 22"/>
                  <a:gd name="T15" fmla="*/ 0 h 199"/>
                  <a:gd name="T16" fmla="*/ 1 w 22"/>
                  <a:gd name="T17" fmla="*/ 0 h 199"/>
                  <a:gd name="T18" fmla="*/ 1 w 22"/>
                  <a:gd name="T19" fmla="*/ 0 h 199"/>
                  <a:gd name="T20" fmla="*/ 0 w 22"/>
                  <a:gd name="T21" fmla="*/ 0 h 199"/>
                  <a:gd name="T22" fmla="*/ 1 w 22"/>
                  <a:gd name="T23" fmla="*/ 0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99"/>
                  <a:gd name="T38" fmla="*/ 22 w 22"/>
                  <a:gd name="T39" fmla="*/ 199 h 1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99">
                    <a:moveTo>
                      <a:pt x="9" y="22"/>
                    </a:moveTo>
                    <a:lnTo>
                      <a:pt x="0" y="11"/>
                    </a:lnTo>
                    <a:lnTo>
                      <a:pt x="0" y="199"/>
                    </a:lnTo>
                    <a:lnTo>
                      <a:pt x="22" y="199"/>
                    </a:lnTo>
                    <a:lnTo>
                      <a:pt x="22" y="11"/>
                    </a:lnTo>
                    <a:lnTo>
                      <a:pt x="13" y="0"/>
                    </a:lnTo>
                    <a:lnTo>
                      <a:pt x="22" y="11"/>
                    </a:lnTo>
                    <a:lnTo>
                      <a:pt x="19" y="3"/>
                    </a:lnTo>
                    <a:lnTo>
                      <a:pt x="11" y="0"/>
                    </a:lnTo>
                    <a:lnTo>
                      <a:pt x="3" y="3"/>
                    </a:lnTo>
                    <a:lnTo>
                      <a:pt x="0" y="11"/>
                    </a:lnTo>
                    <a:lnTo>
                      <a:pt x="9" y="22"/>
                    </a:lnTo>
                    <a:close/>
                  </a:path>
                </a:pathLst>
              </a:custGeom>
              <a:solidFill>
                <a:srgbClr val="000000"/>
              </a:solidFill>
              <a:ln w="9525">
                <a:noFill/>
                <a:round/>
                <a:headEnd/>
                <a:tailEnd/>
              </a:ln>
            </p:spPr>
            <p:txBody>
              <a:bodyPr/>
              <a:lstStyle/>
              <a:p>
                <a:endParaRPr lang="en-US"/>
              </a:p>
            </p:txBody>
          </p:sp>
          <p:sp>
            <p:nvSpPr>
              <p:cNvPr id="24682" name="Freeform 71"/>
              <p:cNvSpPr>
                <a:spLocks/>
              </p:cNvSpPr>
              <p:nvPr/>
            </p:nvSpPr>
            <p:spPr bwMode="auto">
              <a:xfrm>
                <a:off x="1791" y="3422"/>
                <a:ext cx="61" cy="16"/>
              </a:xfrm>
              <a:custGeom>
                <a:avLst/>
                <a:gdLst>
                  <a:gd name="T0" fmla="*/ 0 w 123"/>
                  <a:gd name="T1" fmla="*/ 1 h 31"/>
                  <a:gd name="T2" fmla="*/ 0 w 123"/>
                  <a:gd name="T3" fmla="*/ 1 h 31"/>
                  <a:gd name="T4" fmla="*/ 0 w 123"/>
                  <a:gd name="T5" fmla="*/ 1 h 31"/>
                  <a:gd name="T6" fmla="*/ 0 w 123"/>
                  <a:gd name="T7" fmla="*/ 1 h 31"/>
                  <a:gd name="T8" fmla="*/ 0 w 123"/>
                  <a:gd name="T9" fmla="*/ 0 h 31"/>
                  <a:gd name="T10" fmla="*/ 0 w 123"/>
                  <a:gd name="T11" fmla="*/ 1 h 31"/>
                  <a:gd name="T12" fmla="*/ 0 w 123"/>
                  <a:gd name="T13" fmla="*/ 0 h 31"/>
                  <a:gd name="T14" fmla="*/ 0 w 123"/>
                  <a:gd name="T15" fmla="*/ 1 h 31"/>
                  <a:gd name="T16" fmla="*/ 0 w 123"/>
                  <a:gd name="T17" fmla="*/ 1 h 31"/>
                  <a:gd name="T18" fmla="*/ 0 w 123"/>
                  <a:gd name="T19" fmla="*/ 1 h 31"/>
                  <a:gd name="T20" fmla="*/ 0 w 123"/>
                  <a:gd name="T21" fmla="*/ 1 h 31"/>
                  <a:gd name="T22" fmla="*/ 0 w 123"/>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
                  <a:gd name="T37" fmla="*/ 0 h 31"/>
                  <a:gd name="T38" fmla="*/ 123 w 123"/>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 h="31">
                    <a:moveTo>
                      <a:pt x="22" y="11"/>
                    </a:moveTo>
                    <a:lnTo>
                      <a:pt x="10" y="22"/>
                    </a:lnTo>
                    <a:lnTo>
                      <a:pt x="119" y="31"/>
                    </a:lnTo>
                    <a:lnTo>
                      <a:pt x="123" y="9"/>
                    </a:lnTo>
                    <a:lnTo>
                      <a:pt x="13" y="0"/>
                    </a:lnTo>
                    <a:lnTo>
                      <a:pt x="0" y="11"/>
                    </a:lnTo>
                    <a:lnTo>
                      <a:pt x="13" y="0"/>
                    </a:lnTo>
                    <a:lnTo>
                      <a:pt x="5" y="3"/>
                    </a:lnTo>
                    <a:lnTo>
                      <a:pt x="0" y="9"/>
                    </a:lnTo>
                    <a:lnTo>
                      <a:pt x="2" y="17"/>
                    </a:lnTo>
                    <a:lnTo>
                      <a:pt x="10" y="22"/>
                    </a:lnTo>
                    <a:lnTo>
                      <a:pt x="22" y="11"/>
                    </a:lnTo>
                    <a:close/>
                  </a:path>
                </a:pathLst>
              </a:custGeom>
              <a:solidFill>
                <a:srgbClr val="000000"/>
              </a:solidFill>
              <a:ln w="9525">
                <a:noFill/>
                <a:round/>
                <a:headEnd/>
                <a:tailEnd/>
              </a:ln>
            </p:spPr>
            <p:txBody>
              <a:bodyPr/>
              <a:lstStyle/>
              <a:p>
                <a:endParaRPr lang="en-US"/>
              </a:p>
            </p:txBody>
          </p:sp>
          <p:sp>
            <p:nvSpPr>
              <p:cNvPr id="24683" name="Freeform 72"/>
              <p:cNvSpPr>
                <a:spLocks/>
              </p:cNvSpPr>
              <p:nvPr/>
            </p:nvSpPr>
            <p:spPr bwMode="auto">
              <a:xfrm>
                <a:off x="1791" y="3428"/>
                <a:ext cx="11" cy="75"/>
              </a:xfrm>
              <a:custGeom>
                <a:avLst/>
                <a:gdLst>
                  <a:gd name="T0" fmla="*/ 1 w 22"/>
                  <a:gd name="T1" fmla="*/ 1 h 150"/>
                  <a:gd name="T2" fmla="*/ 1 w 22"/>
                  <a:gd name="T3" fmla="*/ 1 h 150"/>
                  <a:gd name="T4" fmla="*/ 1 w 22"/>
                  <a:gd name="T5" fmla="*/ 0 h 150"/>
                  <a:gd name="T6" fmla="*/ 0 w 22"/>
                  <a:gd name="T7" fmla="*/ 0 h 150"/>
                  <a:gd name="T8" fmla="*/ 0 w 22"/>
                  <a:gd name="T9" fmla="*/ 1 h 150"/>
                  <a:gd name="T10" fmla="*/ 1 w 22"/>
                  <a:gd name="T11" fmla="*/ 1 h 150"/>
                  <a:gd name="T12" fmla="*/ 0 w 22"/>
                  <a:gd name="T13" fmla="*/ 1 h 150"/>
                  <a:gd name="T14" fmla="*/ 1 w 22"/>
                  <a:gd name="T15" fmla="*/ 1 h 150"/>
                  <a:gd name="T16" fmla="*/ 1 w 22"/>
                  <a:gd name="T17" fmla="*/ 1 h 150"/>
                  <a:gd name="T18" fmla="*/ 1 w 22"/>
                  <a:gd name="T19" fmla="*/ 1 h 150"/>
                  <a:gd name="T20" fmla="*/ 1 w 22"/>
                  <a:gd name="T21" fmla="*/ 1 h 150"/>
                  <a:gd name="T22" fmla="*/ 1 w 22"/>
                  <a:gd name="T23" fmla="*/ 1 h 1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50"/>
                  <a:gd name="T38" fmla="*/ 22 w 22"/>
                  <a:gd name="T39" fmla="*/ 150 h 1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50">
                    <a:moveTo>
                      <a:pt x="16" y="129"/>
                    </a:moveTo>
                    <a:lnTo>
                      <a:pt x="22" y="139"/>
                    </a:lnTo>
                    <a:lnTo>
                      <a:pt x="22" y="0"/>
                    </a:lnTo>
                    <a:lnTo>
                      <a:pt x="0" y="0"/>
                    </a:lnTo>
                    <a:lnTo>
                      <a:pt x="0" y="139"/>
                    </a:lnTo>
                    <a:lnTo>
                      <a:pt x="7" y="148"/>
                    </a:lnTo>
                    <a:lnTo>
                      <a:pt x="0" y="139"/>
                    </a:lnTo>
                    <a:lnTo>
                      <a:pt x="4" y="147"/>
                    </a:lnTo>
                    <a:lnTo>
                      <a:pt x="11" y="150"/>
                    </a:lnTo>
                    <a:lnTo>
                      <a:pt x="19" y="147"/>
                    </a:lnTo>
                    <a:lnTo>
                      <a:pt x="22" y="139"/>
                    </a:lnTo>
                    <a:lnTo>
                      <a:pt x="16" y="129"/>
                    </a:lnTo>
                    <a:close/>
                  </a:path>
                </a:pathLst>
              </a:custGeom>
              <a:solidFill>
                <a:srgbClr val="000000"/>
              </a:solidFill>
              <a:ln w="9525">
                <a:noFill/>
                <a:round/>
                <a:headEnd/>
                <a:tailEnd/>
              </a:ln>
            </p:spPr>
            <p:txBody>
              <a:bodyPr/>
              <a:lstStyle/>
              <a:p>
                <a:endParaRPr lang="en-US"/>
              </a:p>
            </p:txBody>
          </p:sp>
          <p:sp>
            <p:nvSpPr>
              <p:cNvPr id="24684" name="Freeform 73"/>
              <p:cNvSpPr>
                <a:spLocks/>
              </p:cNvSpPr>
              <p:nvPr/>
            </p:nvSpPr>
            <p:spPr bwMode="auto">
              <a:xfrm>
                <a:off x="1794" y="3493"/>
                <a:ext cx="63" cy="38"/>
              </a:xfrm>
              <a:custGeom>
                <a:avLst/>
                <a:gdLst>
                  <a:gd name="T0" fmla="*/ 1 w 125"/>
                  <a:gd name="T1" fmla="*/ 0 h 77"/>
                  <a:gd name="T2" fmla="*/ 1 w 125"/>
                  <a:gd name="T3" fmla="*/ 0 h 77"/>
                  <a:gd name="T4" fmla="*/ 1 w 125"/>
                  <a:gd name="T5" fmla="*/ 0 h 77"/>
                  <a:gd name="T6" fmla="*/ 0 w 125"/>
                  <a:gd name="T7" fmla="*/ 0 h 77"/>
                  <a:gd name="T8" fmla="*/ 1 w 125"/>
                  <a:gd name="T9" fmla="*/ 0 h 77"/>
                  <a:gd name="T10" fmla="*/ 1 w 125"/>
                  <a:gd name="T11" fmla="*/ 0 h 77"/>
                  <a:gd name="T12" fmla="*/ 1 w 125"/>
                  <a:gd name="T13" fmla="*/ 0 h 77"/>
                  <a:gd name="T14" fmla="*/ 1 w 125"/>
                  <a:gd name="T15" fmla="*/ 0 h 77"/>
                  <a:gd name="T16" fmla="*/ 1 w 125"/>
                  <a:gd name="T17" fmla="*/ 0 h 77"/>
                  <a:gd name="T18" fmla="*/ 1 w 125"/>
                  <a:gd name="T19" fmla="*/ 0 h 77"/>
                  <a:gd name="T20" fmla="*/ 1 w 125"/>
                  <a:gd name="T21" fmla="*/ 0 h 77"/>
                  <a:gd name="T22" fmla="*/ 1 w 125"/>
                  <a:gd name="T23" fmla="*/ 0 h 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5"/>
                  <a:gd name="T37" fmla="*/ 0 h 77"/>
                  <a:gd name="T38" fmla="*/ 125 w 125"/>
                  <a:gd name="T39" fmla="*/ 77 h 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5" h="77">
                    <a:moveTo>
                      <a:pt x="103" y="68"/>
                    </a:moveTo>
                    <a:lnTo>
                      <a:pt x="119" y="58"/>
                    </a:lnTo>
                    <a:lnTo>
                      <a:pt x="9" y="0"/>
                    </a:lnTo>
                    <a:lnTo>
                      <a:pt x="0" y="19"/>
                    </a:lnTo>
                    <a:lnTo>
                      <a:pt x="109" y="77"/>
                    </a:lnTo>
                    <a:lnTo>
                      <a:pt x="125" y="68"/>
                    </a:lnTo>
                    <a:lnTo>
                      <a:pt x="109" y="77"/>
                    </a:lnTo>
                    <a:lnTo>
                      <a:pt x="117" y="77"/>
                    </a:lnTo>
                    <a:lnTo>
                      <a:pt x="123" y="72"/>
                    </a:lnTo>
                    <a:lnTo>
                      <a:pt x="125" y="65"/>
                    </a:lnTo>
                    <a:lnTo>
                      <a:pt x="119" y="58"/>
                    </a:lnTo>
                    <a:lnTo>
                      <a:pt x="103" y="68"/>
                    </a:lnTo>
                    <a:close/>
                  </a:path>
                </a:pathLst>
              </a:custGeom>
              <a:solidFill>
                <a:srgbClr val="000000"/>
              </a:solidFill>
              <a:ln w="9525">
                <a:noFill/>
                <a:round/>
                <a:headEnd/>
                <a:tailEnd/>
              </a:ln>
            </p:spPr>
            <p:txBody>
              <a:bodyPr/>
              <a:lstStyle/>
              <a:p>
                <a:endParaRPr lang="en-US"/>
              </a:p>
            </p:txBody>
          </p:sp>
          <p:sp>
            <p:nvSpPr>
              <p:cNvPr id="24685" name="Freeform 74"/>
              <p:cNvSpPr>
                <a:spLocks/>
              </p:cNvSpPr>
              <p:nvPr/>
            </p:nvSpPr>
            <p:spPr bwMode="auto">
              <a:xfrm>
                <a:off x="1947" y="3542"/>
                <a:ext cx="40" cy="31"/>
              </a:xfrm>
              <a:custGeom>
                <a:avLst/>
                <a:gdLst>
                  <a:gd name="T0" fmla="*/ 1 w 80"/>
                  <a:gd name="T1" fmla="*/ 1 h 61"/>
                  <a:gd name="T2" fmla="*/ 1 w 80"/>
                  <a:gd name="T3" fmla="*/ 0 h 61"/>
                  <a:gd name="T4" fmla="*/ 0 w 80"/>
                  <a:gd name="T5" fmla="*/ 1 h 61"/>
                  <a:gd name="T6" fmla="*/ 0 w 80"/>
                  <a:gd name="T7" fmla="*/ 1 h 61"/>
                  <a:gd name="T8" fmla="*/ 1 w 80"/>
                  <a:gd name="T9" fmla="*/ 1 h 61"/>
                  <a:gd name="T10" fmla="*/ 0 60000 65536"/>
                  <a:gd name="T11" fmla="*/ 0 60000 65536"/>
                  <a:gd name="T12" fmla="*/ 0 60000 65536"/>
                  <a:gd name="T13" fmla="*/ 0 60000 65536"/>
                  <a:gd name="T14" fmla="*/ 0 60000 65536"/>
                  <a:gd name="T15" fmla="*/ 0 w 80"/>
                  <a:gd name="T16" fmla="*/ 0 h 61"/>
                  <a:gd name="T17" fmla="*/ 80 w 80"/>
                  <a:gd name="T18" fmla="*/ 61 h 61"/>
                </a:gdLst>
                <a:ahLst/>
                <a:cxnLst>
                  <a:cxn ang="T10">
                    <a:pos x="T0" y="T1"/>
                  </a:cxn>
                  <a:cxn ang="T11">
                    <a:pos x="T2" y="T3"/>
                  </a:cxn>
                  <a:cxn ang="T12">
                    <a:pos x="T4" y="T5"/>
                  </a:cxn>
                  <a:cxn ang="T13">
                    <a:pos x="T6" y="T7"/>
                  </a:cxn>
                  <a:cxn ang="T14">
                    <a:pos x="T8" y="T9"/>
                  </a:cxn>
                </a:cxnLst>
                <a:rect l="T15" t="T16" r="T17" b="T18"/>
                <a:pathLst>
                  <a:path w="80" h="61">
                    <a:moveTo>
                      <a:pt x="80" y="13"/>
                    </a:moveTo>
                    <a:lnTo>
                      <a:pt x="80" y="0"/>
                    </a:lnTo>
                    <a:lnTo>
                      <a:pt x="0" y="50"/>
                    </a:lnTo>
                    <a:lnTo>
                      <a:pt x="0" y="61"/>
                    </a:lnTo>
                    <a:lnTo>
                      <a:pt x="80" y="13"/>
                    </a:lnTo>
                  </a:path>
                </a:pathLst>
              </a:custGeom>
              <a:noFill/>
              <a:ln w="0">
                <a:solidFill>
                  <a:srgbClr val="000000"/>
                </a:solidFill>
                <a:round/>
                <a:headEnd/>
                <a:tailEnd/>
              </a:ln>
            </p:spPr>
            <p:txBody>
              <a:bodyPr/>
              <a:lstStyle/>
              <a:p>
                <a:endParaRPr lang="en-US"/>
              </a:p>
            </p:txBody>
          </p:sp>
          <p:sp>
            <p:nvSpPr>
              <p:cNvPr id="24686" name="Freeform 75"/>
              <p:cNvSpPr>
                <a:spLocks/>
              </p:cNvSpPr>
              <p:nvPr/>
            </p:nvSpPr>
            <p:spPr bwMode="auto">
              <a:xfrm>
                <a:off x="1995" y="3523"/>
                <a:ext cx="11" cy="32"/>
              </a:xfrm>
              <a:custGeom>
                <a:avLst/>
                <a:gdLst>
                  <a:gd name="T0" fmla="*/ 1 w 21"/>
                  <a:gd name="T1" fmla="*/ 0 h 65"/>
                  <a:gd name="T2" fmla="*/ 1 w 21"/>
                  <a:gd name="T3" fmla="*/ 0 h 65"/>
                  <a:gd name="T4" fmla="*/ 1 w 21"/>
                  <a:gd name="T5" fmla="*/ 0 h 65"/>
                  <a:gd name="T6" fmla="*/ 0 w 21"/>
                  <a:gd name="T7" fmla="*/ 0 h 65"/>
                  <a:gd name="T8" fmla="*/ 0 w 21"/>
                  <a:gd name="T9" fmla="*/ 0 h 65"/>
                  <a:gd name="T10" fmla="*/ 1 w 21"/>
                  <a:gd name="T11" fmla="*/ 0 h 65"/>
                  <a:gd name="T12" fmla="*/ 0 60000 65536"/>
                  <a:gd name="T13" fmla="*/ 0 60000 65536"/>
                  <a:gd name="T14" fmla="*/ 0 60000 65536"/>
                  <a:gd name="T15" fmla="*/ 0 60000 65536"/>
                  <a:gd name="T16" fmla="*/ 0 60000 65536"/>
                  <a:gd name="T17" fmla="*/ 0 60000 65536"/>
                  <a:gd name="T18" fmla="*/ 0 w 21"/>
                  <a:gd name="T19" fmla="*/ 0 h 65"/>
                  <a:gd name="T20" fmla="*/ 21 w 2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21" h="65">
                    <a:moveTo>
                      <a:pt x="10" y="65"/>
                    </a:moveTo>
                    <a:lnTo>
                      <a:pt x="21" y="65"/>
                    </a:lnTo>
                    <a:lnTo>
                      <a:pt x="21" y="0"/>
                    </a:lnTo>
                    <a:lnTo>
                      <a:pt x="0" y="0"/>
                    </a:lnTo>
                    <a:lnTo>
                      <a:pt x="0" y="65"/>
                    </a:lnTo>
                    <a:lnTo>
                      <a:pt x="10" y="65"/>
                    </a:lnTo>
                    <a:close/>
                  </a:path>
                </a:pathLst>
              </a:custGeom>
              <a:solidFill>
                <a:srgbClr val="000000"/>
              </a:solidFill>
              <a:ln w="9525">
                <a:noFill/>
                <a:round/>
                <a:headEnd/>
                <a:tailEnd/>
              </a:ln>
            </p:spPr>
            <p:txBody>
              <a:bodyPr/>
              <a:lstStyle/>
              <a:p>
                <a:endParaRPr lang="en-US"/>
              </a:p>
            </p:txBody>
          </p:sp>
          <p:sp>
            <p:nvSpPr>
              <p:cNvPr id="24687" name="Freeform 76"/>
              <p:cNvSpPr>
                <a:spLocks/>
              </p:cNvSpPr>
              <p:nvPr/>
            </p:nvSpPr>
            <p:spPr bwMode="auto">
              <a:xfrm>
                <a:off x="1952" y="3561"/>
                <a:ext cx="145" cy="93"/>
              </a:xfrm>
              <a:custGeom>
                <a:avLst/>
                <a:gdLst>
                  <a:gd name="T0" fmla="*/ 0 w 292"/>
                  <a:gd name="T1" fmla="*/ 1 h 186"/>
                  <a:gd name="T2" fmla="*/ 0 w 292"/>
                  <a:gd name="T3" fmla="*/ 0 h 186"/>
                  <a:gd name="T4" fmla="*/ 0 w 292"/>
                  <a:gd name="T5" fmla="*/ 1 h 186"/>
                  <a:gd name="T6" fmla="*/ 0 w 292"/>
                  <a:gd name="T7" fmla="*/ 1 h 186"/>
                  <a:gd name="T8" fmla="*/ 0 w 292"/>
                  <a:gd name="T9" fmla="*/ 1 h 186"/>
                  <a:gd name="T10" fmla="*/ 0 60000 65536"/>
                  <a:gd name="T11" fmla="*/ 0 60000 65536"/>
                  <a:gd name="T12" fmla="*/ 0 60000 65536"/>
                  <a:gd name="T13" fmla="*/ 0 60000 65536"/>
                  <a:gd name="T14" fmla="*/ 0 60000 65536"/>
                  <a:gd name="T15" fmla="*/ 0 w 292"/>
                  <a:gd name="T16" fmla="*/ 0 h 186"/>
                  <a:gd name="T17" fmla="*/ 292 w 292"/>
                  <a:gd name="T18" fmla="*/ 186 h 186"/>
                </a:gdLst>
                <a:ahLst/>
                <a:cxnLst>
                  <a:cxn ang="T10">
                    <a:pos x="T0" y="T1"/>
                  </a:cxn>
                  <a:cxn ang="T11">
                    <a:pos x="T2" y="T3"/>
                  </a:cxn>
                  <a:cxn ang="T12">
                    <a:pos x="T4" y="T5"/>
                  </a:cxn>
                  <a:cxn ang="T13">
                    <a:pos x="T6" y="T7"/>
                  </a:cxn>
                  <a:cxn ang="T14">
                    <a:pos x="T8" y="T9"/>
                  </a:cxn>
                </a:cxnLst>
                <a:rect l="T15" t="T16" r="T17" b="T18"/>
                <a:pathLst>
                  <a:path w="292" h="186">
                    <a:moveTo>
                      <a:pt x="292" y="20"/>
                    </a:moveTo>
                    <a:lnTo>
                      <a:pt x="292" y="0"/>
                    </a:lnTo>
                    <a:lnTo>
                      <a:pt x="0" y="165"/>
                    </a:lnTo>
                    <a:lnTo>
                      <a:pt x="0" y="186"/>
                    </a:lnTo>
                    <a:lnTo>
                      <a:pt x="292" y="20"/>
                    </a:lnTo>
                    <a:close/>
                  </a:path>
                </a:pathLst>
              </a:custGeom>
              <a:solidFill>
                <a:srgbClr val="007FFF"/>
              </a:solidFill>
              <a:ln w="9525">
                <a:noFill/>
                <a:round/>
                <a:headEnd/>
                <a:tailEnd/>
              </a:ln>
            </p:spPr>
            <p:txBody>
              <a:bodyPr/>
              <a:lstStyle/>
              <a:p>
                <a:endParaRPr lang="en-US"/>
              </a:p>
            </p:txBody>
          </p:sp>
          <p:sp>
            <p:nvSpPr>
              <p:cNvPr id="24688" name="Freeform 77"/>
              <p:cNvSpPr>
                <a:spLocks/>
              </p:cNvSpPr>
              <p:nvPr/>
            </p:nvSpPr>
            <p:spPr bwMode="auto">
              <a:xfrm>
                <a:off x="2093" y="3557"/>
                <a:ext cx="8" cy="14"/>
              </a:xfrm>
              <a:custGeom>
                <a:avLst/>
                <a:gdLst>
                  <a:gd name="T0" fmla="*/ 1 w 15"/>
                  <a:gd name="T1" fmla="*/ 1 h 28"/>
                  <a:gd name="T2" fmla="*/ 0 w 15"/>
                  <a:gd name="T3" fmla="*/ 1 h 28"/>
                  <a:gd name="T4" fmla="*/ 0 w 15"/>
                  <a:gd name="T5" fmla="*/ 1 h 28"/>
                  <a:gd name="T6" fmla="*/ 1 w 15"/>
                  <a:gd name="T7" fmla="*/ 1 h 28"/>
                  <a:gd name="T8" fmla="*/ 1 w 15"/>
                  <a:gd name="T9" fmla="*/ 1 h 28"/>
                  <a:gd name="T10" fmla="*/ 1 w 15"/>
                  <a:gd name="T11" fmla="*/ 1 h 28"/>
                  <a:gd name="T12" fmla="*/ 1 w 15"/>
                  <a:gd name="T13" fmla="*/ 1 h 28"/>
                  <a:gd name="T14" fmla="*/ 1 w 15"/>
                  <a:gd name="T15" fmla="*/ 1 h 28"/>
                  <a:gd name="T16" fmla="*/ 1 w 15"/>
                  <a:gd name="T17" fmla="*/ 0 h 28"/>
                  <a:gd name="T18" fmla="*/ 1 w 15"/>
                  <a:gd name="T19" fmla="*/ 1 h 28"/>
                  <a:gd name="T20" fmla="*/ 0 w 15"/>
                  <a:gd name="T21" fmla="*/ 1 h 28"/>
                  <a:gd name="T22" fmla="*/ 1 w 15"/>
                  <a:gd name="T23" fmla="*/ 1 h 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8"/>
                  <a:gd name="T38" fmla="*/ 15 w 15"/>
                  <a:gd name="T39" fmla="*/ 28 h 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8">
                    <a:moveTo>
                      <a:pt x="11" y="14"/>
                    </a:moveTo>
                    <a:lnTo>
                      <a:pt x="0" y="8"/>
                    </a:lnTo>
                    <a:lnTo>
                      <a:pt x="0" y="28"/>
                    </a:lnTo>
                    <a:lnTo>
                      <a:pt x="15" y="28"/>
                    </a:lnTo>
                    <a:lnTo>
                      <a:pt x="15" y="8"/>
                    </a:lnTo>
                    <a:lnTo>
                      <a:pt x="5" y="1"/>
                    </a:lnTo>
                    <a:lnTo>
                      <a:pt x="15" y="8"/>
                    </a:lnTo>
                    <a:lnTo>
                      <a:pt x="12" y="3"/>
                    </a:lnTo>
                    <a:lnTo>
                      <a:pt x="8" y="0"/>
                    </a:lnTo>
                    <a:lnTo>
                      <a:pt x="3" y="3"/>
                    </a:lnTo>
                    <a:lnTo>
                      <a:pt x="0" y="8"/>
                    </a:lnTo>
                    <a:lnTo>
                      <a:pt x="11" y="14"/>
                    </a:lnTo>
                    <a:close/>
                  </a:path>
                </a:pathLst>
              </a:custGeom>
              <a:solidFill>
                <a:srgbClr val="000000"/>
              </a:solidFill>
              <a:ln w="9525">
                <a:noFill/>
                <a:round/>
                <a:headEnd/>
                <a:tailEnd/>
              </a:ln>
            </p:spPr>
            <p:txBody>
              <a:bodyPr/>
              <a:lstStyle/>
              <a:p>
                <a:endParaRPr lang="en-US"/>
              </a:p>
            </p:txBody>
          </p:sp>
          <p:sp>
            <p:nvSpPr>
              <p:cNvPr id="24689" name="Freeform 78"/>
              <p:cNvSpPr>
                <a:spLocks/>
              </p:cNvSpPr>
              <p:nvPr/>
            </p:nvSpPr>
            <p:spPr bwMode="auto">
              <a:xfrm>
                <a:off x="1948" y="3558"/>
                <a:ext cx="151" cy="89"/>
              </a:xfrm>
              <a:custGeom>
                <a:avLst/>
                <a:gdLst>
                  <a:gd name="T0" fmla="*/ 1 w 302"/>
                  <a:gd name="T1" fmla="*/ 0 h 179"/>
                  <a:gd name="T2" fmla="*/ 1 w 302"/>
                  <a:gd name="T3" fmla="*/ 0 h 179"/>
                  <a:gd name="T4" fmla="*/ 1 w 302"/>
                  <a:gd name="T5" fmla="*/ 0 h 179"/>
                  <a:gd name="T6" fmla="*/ 1 w 302"/>
                  <a:gd name="T7" fmla="*/ 0 h 179"/>
                  <a:gd name="T8" fmla="*/ 1 w 302"/>
                  <a:gd name="T9" fmla="*/ 0 h 179"/>
                  <a:gd name="T10" fmla="*/ 0 w 302"/>
                  <a:gd name="T11" fmla="*/ 0 h 179"/>
                  <a:gd name="T12" fmla="*/ 1 w 302"/>
                  <a:gd name="T13" fmla="*/ 0 h 179"/>
                  <a:gd name="T14" fmla="*/ 1 w 302"/>
                  <a:gd name="T15" fmla="*/ 0 h 179"/>
                  <a:gd name="T16" fmla="*/ 1 w 302"/>
                  <a:gd name="T17" fmla="*/ 0 h 179"/>
                  <a:gd name="T18" fmla="*/ 1 w 302"/>
                  <a:gd name="T19" fmla="*/ 0 h 179"/>
                  <a:gd name="T20" fmla="*/ 1 w 302"/>
                  <a:gd name="T21" fmla="*/ 0 h 179"/>
                  <a:gd name="T22" fmla="*/ 1 w 302"/>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9"/>
                  <a:gd name="T38" fmla="*/ 302 w 302"/>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9">
                    <a:moveTo>
                      <a:pt x="15" y="172"/>
                    </a:moveTo>
                    <a:lnTo>
                      <a:pt x="11" y="179"/>
                    </a:lnTo>
                    <a:lnTo>
                      <a:pt x="302" y="13"/>
                    </a:lnTo>
                    <a:lnTo>
                      <a:pt x="296" y="0"/>
                    </a:lnTo>
                    <a:lnTo>
                      <a:pt x="4" y="166"/>
                    </a:lnTo>
                    <a:lnTo>
                      <a:pt x="0" y="172"/>
                    </a:lnTo>
                    <a:lnTo>
                      <a:pt x="4" y="166"/>
                    </a:lnTo>
                    <a:lnTo>
                      <a:pt x="1" y="169"/>
                    </a:lnTo>
                    <a:lnTo>
                      <a:pt x="1" y="174"/>
                    </a:lnTo>
                    <a:lnTo>
                      <a:pt x="6" y="179"/>
                    </a:lnTo>
                    <a:lnTo>
                      <a:pt x="11" y="179"/>
                    </a:lnTo>
                    <a:lnTo>
                      <a:pt x="15" y="172"/>
                    </a:lnTo>
                    <a:close/>
                  </a:path>
                </a:pathLst>
              </a:custGeom>
              <a:solidFill>
                <a:srgbClr val="000000"/>
              </a:solidFill>
              <a:ln w="9525">
                <a:noFill/>
                <a:round/>
                <a:headEnd/>
                <a:tailEnd/>
              </a:ln>
            </p:spPr>
            <p:txBody>
              <a:bodyPr/>
              <a:lstStyle/>
              <a:p>
                <a:endParaRPr lang="en-US"/>
              </a:p>
            </p:txBody>
          </p:sp>
          <p:sp>
            <p:nvSpPr>
              <p:cNvPr id="24690" name="Freeform 79"/>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4" y="14"/>
                    </a:moveTo>
                    <a:lnTo>
                      <a:pt x="15" y="21"/>
                    </a:lnTo>
                    <a:lnTo>
                      <a:pt x="15" y="0"/>
                    </a:lnTo>
                    <a:lnTo>
                      <a:pt x="0" y="0"/>
                    </a:lnTo>
                    <a:lnTo>
                      <a:pt x="0" y="21"/>
                    </a:lnTo>
                    <a:lnTo>
                      <a:pt x="11" y="27"/>
                    </a:lnTo>
                    <a:lnTo>
                      <a:pt x="0" y="21"/>
                    </a:lnTo>
                    <a:lnTo>
                      <a:pt x="3" y="25"/>
                    </a:lnTo>
                    <a:lnTo>
                      <a:pt x="7" y="27"/>
                    </a:lnTo>
                    <a:lnTo>
                      <a:pt x="12" y="25"/>
                    </a:lnTo>
                    <a:lnTo>
                      <a:pt x="15" y="21"/>
                    </a:lnTo>
                    <a:lnTo>
                      <a:pt x="4" y="14"/>
                    </a:lnTo>
                    <a:close/>
                  </a:path>
                </a:pathLst>
              </a:custGeom>
              <a:solidFill>
                <a:srgbClr val="000000"/>
              </a:solidFill>
              <a:ln w="9525">
                <a:noFill/>
                <a:round/>
                <a:headEnd/>
                <a:tailEnd/>
              </a:ln>
            </p:spPr>
            <p:txBody>
              <a:bodyPr/>
              <a:lstStyle/>
              <a:p>
                <a:endParaRPr lang="en-US"/>
              </a:p>
            </p:txBody>
          </p:sp>
          <p:sp>
            <p:nvSpPr>
              <p:cNvPr id="24691" name="Freeform 80"/>
              <p:cNvSpPr>
                <a:spLocks/>
              </p:cNvSpPr>
              <p:nvPr/>
            </p:nvSpPr>
            <p:spPr bwMode="auto">
              <a:xfrm>
                <a:off x="1950" y="3568"/>
                <a:ext cx="151" cy="89"/>
              </a:xfrm>
              <a:custGeom>
                <a:avLst/>
                <a:gdLst>
                  <a:gd name="T0" fmla="*/ 1 w 302"/>
                  <a:gd name="T1" fmla="*/ 1 h 178"/>
                  <a:gd name="T2" fmla="*/ 1 w 302"/>
                  <a:gd name="T3" fmla="*/ 0 h 178"/>
                  <a:gd name="T4" fmla="*/ 0 w 302"/>
                  <a:gd name="T5" fmla="*/ 1 h 178"/>
                  <a:gd name="T6" fmla="*/ 1 w 302"/>
                  <a:gd name="T7" fmla="*/ 1 h 178"/>
                  <a:gd name="T8" fmla="*/ 1 w 302"/>
                  <a:gd name="T9" fmla="*/ 1 h 178"/>
                  <a:gd name="T10" fmla="*/ 1 w 302"/>
                  <a:gd name="T11" fmla="*/ 1 h 178"/>
                  <a:gd name="T12" fmla="*/ 1 w 302"/>
                  <a:gd name="T13" fmla="*/ 1 h 178"/>
                  <a:gd name="T14" fmla="*/ 1 w 302"/>
                  <a:gd name="T15" fmla="*/ 1 h 178"/>
                  <a:gd name="T16" fmla="*/ 1 w 302"/>
                  <a:gd name="T17" fmla="*/ 1 h 178"/>
                  <a:gd name="T18" fmla="*/ 1 w 302"/>
                  <a:gd name="T19" fmla="*/ 0 h 178"/>
                  <a:gd name="T20" fmla="*/ 1 w 302"/>
                  <a:gd name="T21" fmla="*/ 0 h 178"/>
                  <a:gd name="T22" fmla="*/ 1 w 302"/>
                  <a:gd name="T23" fmla="*/ 1 h 1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8"/>
                  <a:gd name="T38" fmla="*/ 302 w 302"/>
                  <a:gd name="T39" fmla="*/ 178 h 17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8">
                    <a:moveTo>
                      <a:pt x="287" y="6"/>
                    </a:moveTo>
                    <a:lnTo>
                      <a:pt x="292" y="0"/>
                    </a:lnTo>
                    <a:lnTo>
                      <a:pt x="0" y="165"/>
                    </a:lnTo>
                    <a:lnTo>
                      <a:pt x="7" y="178"/>
                    </a:lnTo>
                    <a:lnTo>
                      <a:pt x="298" y="12"/>
                    </a:lnTo>
                    <a:lnTo>
                      <a:pt x="302" y="6"/>
                    </a:lnTo>
                    <a:lnTo>
                      <a:pt x="298" y="12"/>
                    </a:lnTo>
                    <a:lnTo>
                      <a:pt x="301" y="9"/>
                    </a:lnTo>
                    <a:lnTo>
                      <a:pt x="301" y="3"/>
                    </a:lnTo>
                    <a:lnTo>
                      <a:pt x="296" y="0"/>
                    </a:lnTo>
                    <a:lnTo>
                      <a:pt x="292" y="0"/>
                    </a:lnTo>
                    <a:lnTo>
                      <a:pt x="287" y="6"/>
                    </a:lnTo>
                    <a:close/>
                  </a:path>
                </a:pathLst>
              </a:custGeom>
              <a:solidFill>
                <a:srgbClr val="000000"/>
              </a:solidFill>
              <a:ln w="9525">
                <a:noFill/>
                <a:round/>
                <a:headEnd/>
                <a:tailEnd/>
              </a:ln>
            </p:spPr>
            <p:txBody>
              <a:bodyPr/>
              <a:lstStyle/>
              <a:p>
                <a:endParaRPr lang="en-US"/>
              </a:p>
            </p:txBody>
          </p:sp>
          <p:sp>
            <p:nvSpPr>
              <p:cNvPr id="24692" name="Freeform 81"/>
              <p:cNvSpPr>
                <a:spLocks/>
              </p:cNvSpPr>
              <p:nvPr/>
            </p:nvSpPr>
            <p:spPr bwMode="auto">
              <a:xfrm>
                <a:off x="1918" y="3536"/>
                <a:ext cx="179" cy="108"/>
              </a:xfrm>
              <a:custGeom>
                <a:avLst/>
                <a:gdLst>
                  <a:gd name="T0" fmla="*/ 0 w 359"/>
                  <a:gd name="T1" fmla="*/ 0 h 216"/>
                  <a:gd name="T2" fmla="*/ 0 w 359"/>
                  <a:gd name="T3" fmla="*/ 1 h 216"/>
                  <a:gd name="T4" fmla="*/ 0 w 359"/>
                  <a:gd name="T5" fmla="*/ 1 h 216"/>
                  <a:gd name="T6" fmla="*/ 0 w 359"/>
                  <a:gd name="T7" fmla="*/ 1 h 216"/>
                  <a:gd name="T8" fmla="*/ 0 w 359"/>
                  <a:gd name="T9" fmla="*/ 0 h 216"/>
                  <a:gd name="T10" fmla="*/ 0 60000 65536"/>
                  <a:gd name="T11" fmla="*/ 0 60000 65536"/>
                  <a:gd name="T12" fmla="*/ 0 60000 65536"/>
                  <a:gd name="T13" fmla="*/ 0 60000 65536"/>
                  <a:gd name="T14" fmla="*/ 0 60000 65536"/>
                  <a:gd name="T15" fmla="*/ 0 w 359"/>
                  <a:gd name="T16" fmla="*/ 0 h 216"/>
                  <a:gd name="T17" fmla="*/ 359 w 359"/>
                  <a:gd name="T18" fmla="*/ 216 h 216"/>
                </a:gdLst>
                <a:ahLst/>
                <a:cxnLst>
                  <a:cxn ang="T10">
                    <a:pos x="T0" y="T1"/>
                  </a:cxn>
                  <a:cxn ang="T11">
                    <a:pos x="T2" y="T3"/>
                  </a:cxn>
                  <a:cxn ang="T12">
                    <a:pos x="T4" y="T5"/>
                  </a:cxn>
                  <a:cxn ang="T13">
                    <a:pos x="T6" y="T7"/>
                  </a:cxn>
                  <a:cxn ang="T14">
                    <a:pos x="T8" y="T9"/>
                  </a:cxn>
                </a:cxnLst>
                <a:rect l="T15" t="T16" r="T17" b="T18"/>
                <a:pathLst>
                  <a:path w="359" h="216">
                    <a:moveTo>
                      <a:pt x="285" y="0"/>
                    </a:moveTo>
                    <a:lnTo>
                      <a:pt x="359" y="51"/>
                    </a:lnTo>
                    <a:lnTo>
                      <a:pt x="67" y="216"/>
                    </a:lnTo>
                    <a:lnTo>
                      <a:pt x="0" y="169"/>
                    </a:lnTo>
                    <a:lnTo>
                      <a:pt x="285" y="0"/>
                    </a:lnTo>
                    <a:close/>
                  </a:path>
                </a:pathLst>
              </a:custGeom>
              <a:solidFill>
                <a:srgbClr val="99D8FF"/>
              </a:solidFill>
              <a:ln w="9525">
                <a:noFill/>
                <a:round/>
                <a:headEnd/>
                <a:tailEnd/>
              </a:ln>
            </p:spPr>
            <p:txBody>
              <a:bodyPr/>
              <a:lstStyle/>
              <a:p>
                <a:endParaRPr lang="en-US"/>
              </a:p>
            </p:txBody>
          </p:sp>
          <p:sp>
            <p:nvSpPr>
              <p:cNvPr id="24693" name="Freeform 82"/>
              <p:cNvSpPr>
                <a:spLocks/>
              </p:cNvSpPr>
              <p:nvPr/>
            </p:nvSpPr>
            <p:spPr bwMode="auto">
              <a:xfrm>
                <a:off x="2058" y="3533"/>
                <a:ext cx="43" cy="32"/>
              </a:xfrm>
              <a:custGeom>
                <a:avLst/>
                <a:gdLst>
                  <a:gd name="T0" fmla="*/ 1 w 86"/>
                  <a:gd name="T1" fmla="*/ 1 h 64"/>
                  <a:gd name="T2" fmla="*/ 1 w 86"/>
                  <a:gd name="T3" fmla="*/ 1 h 64"/>
                  <a:gd name="T4" fmla="*/ 1 w 86"/>
                  <a:gd name="T5" fmla="*/ 0 h 64"/>
                  <a:gd name="T6" fmla="*/ 0 w 86"/>
                  <a:gd name="T7" fmla="*/ 1 h 64"/>
                  <a:gd name="T8" fmla="*/ 1 w 86"/>
                  <a:gd name="T9" fmla="*/ 1 h 64"/>
                  <a:gd name="T10" fmla="*/ 1 w 86"/>
                  <a:gd name="T11" fmla="*/ 1 h 64"/>
                  <a:gd name="T12" fmla="*/ 1 w 86"/>
                  <a:gd name="T13" fmla="*/ 1 h 64"/>
                  <a:gd name="T14" fmla="*/ 1 w 86"/>
                  <a:gd name="T15" fmla="*/ 1 h 64"/>
                  <a:gd name="T16" fmla="*/ 1 w 86"/>
                  <a:gd name="T17" fmla="*/ 1 h 64"/>
                  <a:gd name="T18" fmla="*/ 1 w 86"/>
                  <a:gd name="T19" fmla="*/ 1 h 64"/>
                  <a:gd name="T20" fmla="*/ 1 w 86"/>
                  <a:gd name="T21" fmla="*/ 1 h 64"/>
                  <a:gd name="T22" fmla="*/ 1 w 86"/>
                  <a:gd name="T23" fmla="*/ 1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
                  <a:gd name="T37" fmla="*/ 0 h 64"/>
                  <a:gd name="T38" fmla="*/ 86 w 86"/>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 h="64">
                    <a:moveTo>
                      <a:pt x="82" y="63"/>
                    </a:moveTo>
                    <a:lnTo>
                      <a:pt x="83" y="50"/>
                    </a:lnTo>
                    <a:lnTo>
                      <a:pt x="10" y="0"/>
                    </a:lnTo>
                    <a:lnTo>
                      <a:pt x="0" y="13"/>
                    </a:lnTo>
                    <a:lnTo>
                      <a:pt x="74" y="63"/>
                    </a:lnTo>
                    <a:lnTo>
                      <a:pt x="76" y="50"/>
                    </a:lnTo>
                    <a:lnTo>
                      <a:pt x="74" y="63"/>
                    </a:lnTo>
                    <a:lnTo>
                      <a:pt x="80" y="64"/>
                    </a:lnTo>
                    <a:lnTo>
                      <a:pt x="85" y="61"/>
                    </a:lnTo>
                    <a:lnTo>
                      <a:pt x="86" y="55"/>
                    </a:lnTo>
                    <a:lnTo>
                      <a:pt x="83" y="50"/>
                    </a:lnTo>
                    <a:lnTo>
                      <a:pt x="82" y="63"/>
                    </a:lnTo>
                    <a:close/>
                  </a:path>
                </a:pathLst>
              </a:custGeom>
              <a:solidFill>
                <a:srgbClr val="000000"/>
              </a:solidFill>
              <a:ln w="9525">
                <a:noFill/>
                <a:round/>
                <a:headEnd/>
                <a:tailEnd/>
              </a:ln>
            </p:spPr>
            <p:txBody>
              <a:bodyPr/>
              <a:lstStyle/>
              <a:p>
                <a:endParaRPr lang="en-US"/>
              </a:p>
            </p:txBody>
          </p:sp>
          <p:sp>
            <p:nvSpPr>
              <p:cNvPr id="24694" name="Freeform 83"/>
              <p:cNvSpPr>
                <a:spLocks/>
              </p:cNvSpPr>
              <p:nvPr/>
            </p:nvSpPr>
            <p:spPr bwMode="auto">
              <a:xfrm>
                <a:off x="1949" y="3558"/>
                <a:ext cx="150" cy="89"/>
              </a:xfrm>
              <a:custGeom>
                <a:avLst/>
                <a:gdLst>
                  <a:gd name="T0" fmla="*/ 0 w 301"/>
                  <a:gd name="T1" fmla="*/ 0 h 179"/>
                  <a:gd name="T2" fmla="*/ 0 w 301"/>
                  <a:gd name="T3" fmla="*/ 0 h 179"/>
                  <a:gd name="T4" fmla="*/ 0 w 301"/>
                  <a:gd name="T5" fmla="*/ 0 h 179"/>
                  <a:gd name="T6" fmla="*/ 0 w 301"/>
                  <a:gd name="T7" fmla="*/ 0 h 179"/>
                  <a:gd name="T8" fmla="*/ 0 w 301"/>
                  <a:gd name="T9" fmla="*/ 0 h 179"/>
                  <a:gd name="T10" fmla="*/ 0 w 301"/>
                  <a:gd name="T11" fmla="*/ 0 h 179"/>
                  <a:gd name="T12" fmla="*/ 0 w 301"/>
                  <a:gd name="T13" fmla="*/ 0 h 179"/>
                  <a:gd name="T14" fmla="*/ 0 w 301"/>
                  <a:gd name="T15" fmla="*/ 0 h 179"/>
                  <a:gd name="T16" fmla="*/ 0 w 301"/>
                  <a:gd name="T17" fmla="*/ 0 h 179"/>
                  <a:gd name="T18" fmla="*/ 0 w 301"/>
                  <a:gd name="T19" fmla="*/ 0 h 179"/>
                  <a:gd name="T20" fmla="*/ 0 w 301"/>
                  <a:gd name="T21" fmla="*/ 0 h 179"/>
                  <a:gd name="T22" fmla="*/ 0 w 301"/>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179"/>
                  <a:gd name="T38" fmla="*/ 301 w 301"/>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179">
                    <a:moveTo>
                      <a:pt x="2" y="179"/>
                    </a:moveTo>
                    <a:lnTo>
                      <a:pt x="10" y="179"/>
                    </a:lnTo>
                    <a:lnTo>
                      <a:pt x="301" y="13"/>
                    </a:lnTo>
                    <a:lnTo>
                      <a:pt x="295" y="0"/>
                    </a:lnTo>
                    <a:lnTo>
                      <a:pt x="3" y="166"/>
                    </a:lnTo>
                    <a:lnTo>
                      <a:pt x="11" y="166"/>
                    </a:lnTo>
                    <a:lnTo>
                      <a:pt x="3" y="166"/>
                    </a:lnTo>
                    <a:lnTo>
                      <a:pt x="0" y="169"/>
                    </a:lnTo>
                    <a:lnTo>
                      <a:pt x="0" y="174"/>
                    </a:lnTo>
                    <a:lnTo>
                      <a:pt x="5" y="179"/>
                    </a:lnTo>
                    <a:lnTo>
                      <a:pt x="10" y="179"/>
                    </a:lnTo>
                    <a:lnTo>
                      <a:pt x="2" y="179"/>
                    </a:lnTo>
                    <a:close/>
                  </a:path>
                </a:pathLst>
              </a:custGeom>
              <a:solidFill>
                <a:srgbClr val="000000"/>
              </a:solidFill>
              <a:ln w="9525">
                <a:noFill/>
                <a:round/>
                <a:headEnd/>
                <a:tailEnd/>
              </a:ln>
            </p:spPr>
            <p:txBody>
              <a:bodyPr/>
              <a:lstStyle/>
              <a:p>
                <a:endParaRPr lang="en-US"/>
              </a:p>
            </p:txBody>
          </p:sp>
          <p:sp>
            <p:nvSpPr>
              <p:cNvPr id="24695" name="Freeform 84"/>
              <p:cNvSpPr>
                <a:spLocks/>
              </p:cNvSpPr>
              <p:nvPr/>
            </p:nvSpPr>
            <p:spPr bwMode="auto">
              <a:xfrm>
                <a:off x="1914" y="3616"/>
                <a:ext cx="40" cy="31"/>
              </a:xfrm>
              <a:custGeom>
                <a:avLst/>
                <a:gdLst>
                  <a:gd name="T0" fmla="*/ 1 w 80"/>
                  <a:gd name="T1" fmla="*/ 1 h 61"/>
                  <a:gd name="T2" fmla="*/ 1 w 80"/>
                  <a:gd name="T3" fmla="*/ 1 h 61"/>
                  <a:gd name="T4" fmla="*/ 1 w 80"/>
                  <a:gd name="T5" fmla="*/ 1 h 61"/>
                  <a:gd name="T6" fmla="*/ 1 w 80"/>
                  <a:gd name="T7" fmla="*/ 1 h 61"/>
                  <a:gd name="T8" fmla="*/ 1 w 80"/>
                  <a:gd name="T9" fmla="*/ 1 h 61"/>
                  <a:gd name="T10" fmla="*/ 1 w 80"/>
                  <a:gd name="T11" fmla="*/ 1 h 61"/>
                  <a:gd name="T12" fmla="*/ 1 w 80"/>
                  <a:gd name="T13" fmla="*/ 1 h 61"/>
                  <a:gd name="T14" fmla="*/ 1 w 80"/>
                  <a:gd name="T15" fmla="*/ 0 h 61"/>
                  <a:gd name="T16" fmla="*/ 1 w 80"/>
                  <a:gd name="T17" fmla="*/ 1 h 61"/>
                  <a:gd name="T18" fmla="*/ 0 w 80"/>
                  <a:gd name="T19" fmla="*/ 1 h 61"/>
                  <a:gd name="T20" fmla="*/ 1 w 80"/>
                  <a:gd name="T21" fmla="*/ 1 h 61"/>
                  <a:gd name="T22" fmla="*/ 1 w 80"/>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0"/>
                  <a:gd name="T37" fmla="*/ 0 h 61"/>
                  <a:gd name="T38" fmla="*/ 80 w 80"/>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0" h="61">
                    <a:moveTo>
                      <a:pt x="3" y="1"/>
                    </a:moveTo>
                    <a:lnTo>
                      <a:pt x="3" y="14"/>
                    </a:lnTo>
                    <a:lnTo>
                      <a:pt x="71" y="61"/>
                    </a:lnTo>
                    <a:lnTo>
                      <a:pt x="80" y="48"/>
                    </a:lnTo>
                    <a:lnTo>
                      <a:pt x="13" y="1"/>
                    </a:lnTo>
                    <a:lnTo>
                      <a:pt x="13" y="14"/>
                    </a:lnTo>
                    <a:lnTo>
                      <a:pt x="13" y="1"/>
                    </a:lnTo>
                    <a:lnTo>
                      <a:pt x="7" y="0"/>
                    </a:lnTo>
                    <a:lnTo>
                      <a:pt x="2" y="3"/>
                    </a:lnTo>
                    <a:lnTo>
                      <a:pt x="0" y="7"/>
                    </a:lnTo>
                    <a:lnTo>
                      <a:pt x="3" y="14"/>
                    </a:lnTo>
                    <a:lnTo>
                      <a:pt x="3" y="1"/>
                    </a:lnTo>
                    <a:close/>
                  </a:path>
                </a:pathLst>
              </a:custGeom>
              <a:solidFill>
                <a:srgbClr val="000000"/>
              </a:solidFill>
              <a:ln w="9525">
                <a:noFill/>
                <a:round/>
                <a:headEnd/>
                <a:tailEnd/>
              </a:ln>
            </p:spPr>
            <p:txBody>
              <a:bodyPr/>
              <a:lstStyle/>
              <a:p>
                <a:endParaRPr lang="en-US"/>
              </a:p>
            </p:txBody>
          </p:sp>
          <p:sp>
            <p:nvSpPr>
              <p:cNvPr id="24696" name="Freeform 85"/>
              <p:cNvSpPr>
                <a:spLocks/>
              </p:cNvSpPr>
              <p:nvPr/>
            </p:nvSpPr>
            <p:spPr bwMode="auto">
              <a:xfrm>
                <a:off x="1916" y="3532"/>
                <a:ext cx="148" cy="91"/>
              </a:xfrm>
              <a:custGeom>
                <a:avLst/>
                <a:gdLst>
                  <a:gd name="T0" fmla="*/ 0 w 298"/>
                  <a:gd name="T1" fmla="*/ 0 h 183"/>
                  <a:gd name="T2" fmla="*/ 0 w 298"/>
                  <a:gd name="T3" fmla="*/ 0 h 183"/>
                  <a:gd name="T4" fmla="*/ 0 w 298"/>
                  <a:gd name="T5" fmla="*/ 0 h 183"/>
                  <a:gd name="T6" fmla="*/ 0 w 298"/>
                  <a:gd name="T7" fmla="*/ 0 h 183"/>
                  <a:gd name="T8" fmla="*/ 0 w 298"/>
                  <a:gd name="T9" fmla="*/ 0 h 183"/>
                  <a:gd name="T10" fmla="*/ 0 w 298"/>
                  <a:gd name="T11" fmla="*/ 0 h 183"/>
                  <a:gd name="T12" fmla="*/ 0 w 298"/>
                  <a:gd name="T13" fmla="*/ 0 h 183"/>
                  <a:gd name="T14" fmla="*/ 0 w 298"/>
                  <a:gd name="T15" fmla="*/ 0 h 183"/>
                  <a:gd name="T16" fmla="*/ 0 w 298"/>
                  <a:gd name="T17" fmla="*/ 0 h 183"/>
                  <a:gd name="T18" fmla="*/ 0 w 298"/>
                  <a:gd name="T19" fmla="*/ 0 h 183"/>
                  <a:gd name="T20" fmla="*/ 0 w 298"/>
                  <a:gd name="T21" fmla="*/ 0 h 183"/>
                  <a:gd name="T22" fmla="*/ 0 w 298"/>
                  <a:gd name="T23" fmla="*/ 0 h 1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8"/>
                  <a:gd name="T37" fmla="*/ 0 h 183"/>
                  <a:gd name="T38" fmla="*/ 298 w 298"/>
                  <a:gd name="T39" fmla="*/ 183 h 1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8" h="183">
                    <a:moveTo>
                      <a:pt x="295" y="1"/>
                    </a:moveTo>
                    <a:lnTo>
                      <a:pt x="285" y="1"/>
                    </a:lnTo>
                    <a:lnTo>
                      <a:pt x="0" y="170"/>
                    </a:lnTo>
                    <a:lnTo>
                      <a:pt x="10" y="183"/>
                    </a:lnTo>
                    <a:lnTo>
                      <a:pt x="295" y="14"/>
                    </a:lnTo>
                    <a:lnTo>
                      <a:pt x="285" y="14"/>
                    </a:lnTo>
                    <a:lnTo>
                      <a:pt x="295" y="14"/>
                    </a:lnTo>
                    <a:lnTo>
                      <a:pt x="298" y="7"/>
                    </a:lnTo>
                    <a:lnTo>
                      <a:pt x="296" y="3"/>
                    </a:lnTo>
                    <a:lnTo>
                      <a:pt x="292" y="0"/>
                    </a:lnTo>
                    <a:lnTo>
                      <a:pt x="285" y="1"/>
                    </a:lnTo>
                    <a:lnTo>
                      <a:pt x="295" y="1"/>
                    </a:lnTo>
                    <a:close/>
                  </a:path>
                </a:pathLst>
              </a:custGeom>
              <a:solidFill>
                <a:srgbClr val="000000"/>
              </a:solidFill>
              <a:ln w="9525">
                <a:noFill/>
                <a:round/>
                <a:headEnd/>
                <a:tailEnd/>
              </a:ln>
            </p:spPr>
            <p:txBody>
              <a:bodyPr/>
              <a:lstStyle/>
              <a:p>
                <a:endParaRPr lang="en-US"/>
              </a:p>
            </p:txBody>
          </p:sp>
          <p:sp>
            <p:nvSpPr>
              <p:cNvPr id="24697" name="Freeform 86"/>
              <p:cNvSpPr>
                <a:spLocks/>
              </p:cNvSpPr>
              <p:nvPr/>
            </p:nvSpPr>
            <p:spPr bwMode="auto">
              <a:xfrm>
                <a:off x="1919" y="3620"/>
                <a:ext cx="33" cy="34"/>
              </a:xfrm>
              <a:custGeom>
                <a:avLst/>
                <a:gdLst>
                  <a:gd name="T0" fmla="*/ 0 w 65"/>
                  <a:gd name="T1" fmla="*/ 1 h 68"/>
                  <a:gd name="T2" fmla="*/ 0 w 65"/>
                  <a:gd name="T3" fmla="*/ 0 h 68"/>
                  <a:gd name="T4" fmla="*/ 1 w 65"/>
                  <a:gd name="T5" fmla="*/ 1 h 68"/>
                  <a:gd name="T6" fmla="*/ 1 w 65"/>
                  <a:gd name="T7" fmla="*/ 1 h 68"/>
                  <a:gd name="T8" fmla="*/ 0 w 65"/>
                  <a:gd name="T9" fmla="*/ 1 h 68"/>
                  <a:gd name="T10" fmla="*/ 0 60000 65536"/>
                  <a:gd name="T11" fmla="*/ 0 60000 65536"/>
                  <a:gd name="T12" fmla="*/ 0 60000 65536"/>
                  <a:gd name="T13" fmla="*/ 0 60000 65536"/>
                  <a:gd name="T14" fmla="*/ 0 60000 65536"/>
                  <a:gd name="T15" fmla="*/ 0 w 65"/>
                  <a:gd name="T16" fmla="*/ 0 h 68"/>
                  <a:gd name="T17" fmla="*/ 65 w 65"/>
                  <a:gd name="T18" fmla="*/ 68 h 68"/>
                </a:gdLst>
                <a:ahLst/>
                <a:cxnLst>
                  <a:cxn ang="T10">
                    <a:pos x="T0" y="T1"/>
                  </a:cxn>
                  <a:cxn ang="T11">
                    <a:pos x="T2" y="T3"/>
                  </a:cxn>
                  <a:cxn ang="T12">
                    <a:pos x="T4" y="T5"/>
                  </a:cxn>
                  <a:cxn ang="T13">
                    <a:pos x="T6" y="T7"/>
                  </a:cxn>
                  <a:cxn ang="T14">
                    <a:pos x="T8" y="T9"/>
                  </a:cxn>
                </a:cxnLst>
                <a:rect l="T15" t="T16" r="T17" b="T18"/>
                <a:pathLst>
                  <a:path w="65" h="68">
                    <a:moveTo>
                      <a:pt x="0" y="29"/>
                    </a:moveTo>
                    <a:lnTo>
                      <a:pt x="0" y="0"/>
                    </a:lnTo>
                    <a:lnTo>
                      <a:pt x="65" y="47"/>
                    </a:lnTo>
                    <a:lnTo>
                      <a:pt x="65" y="68"/>
                    </a:lnTo>
                    <a:lnTo>
                      <a:pt x="0" y="29"/>
                    </a:lnTo>
                    <a:close/>
                  </a:path>
                </a:pathLst>
              </a:custGeom>
              <a:solidFill>
                <a:srgbClr val="4CB2FF"/>
              </a:solidFill>
              <a:ln w="9525">
                <a:noFill/>
                <a:round/>
                <a:headEnd/>
                <a:tailEnd/>
              </a:ln>
            </p:spPr>
            <p:txBody>
              <a:bodyPr/>
              <a:lstStyle/>
              <a:p>
                <a:endParaRPr lang="en-US"/>
              </a:p>
            </p:txBody>
          </p:sp>
          <p:sp>
            <p:nvSpPr>
              <p:cNvPr id="24698" name="Freeform 87"/>
              <p:cNvSpPr>
                <a:spLocks/>
              </p:cNvSpPr>
              <p:nvPr/>
            </p:nvSpPr>
            <p:spPr bwMode="auto">
              <a:xfrm>
                <a:off x="1915" y="3616"/>
                <a:ext cx="8" cy="18"/>
              </a:xfrm>
              <a:custGeom>
                <a:avLst/>
                <a:gdLst>
                  <a:gd name="T0" fmla="*/ 1 w 15"/>
                  <a:gd name="T1" fmla="*/ 1 h 36"/>
                  <a:gd name="T2" fmla="*/ 0 w 15"/>
                  <a:gd name="T3" fmla="*/ 1 h 36"/>
                  <a:gd name="T4" fmla="*/ 0 w 15"/>
                  <a:gd name="T5" fmla="*/ 1 h 36"/>
                  <a:gd name="T6" fmla="*/ 1 w 15"/>
                  <a:gd name="T7" fmla="*/ 1 h 36"/>
                  <a:gd name="T8" fmla="*/ 1 w 15"/>
                  <a:gd name="T9" fmla="*/ 1 h 36"/>
                  <a:gd name="T10" fmla="*/ 1 w 15"/>
                  <a:gd name="T11" fmla="*/ 1 h 36"/>
                  <a:gd name="T12" fmla="*/ 1 w 15"/>
                  <a:gd name="T13" fmla="*/ 1 h 36"/>
                  <a:gd name="T14" fmla="*/ 1 w 15"/>
                  <a:gd name="T15" fmla="*/ 1 h 36"/>
                  <a:gd name="T16" fmla="*/ 1 w 15"/>
                  <a:gd name="T17" fmla="*/ 0 h 36"/>
                  <a:gd name="T18" fmla="*/ 1 w 15"/>
                  <a:gd name="T19" fmla="*/ 1 h 36"/>
                  <a:gd name="T20" fmla="*/ 0 w 15"/>
                  <a:gd name="T21" fmla="*/ 1 h 36"/>
                  <a:gd name="T22" fmla="*/ 1 w 15"/>
                  <a:gd name="T23" fmla="*/ 1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36"/>
                  <a:gd name="T38" fmla="*/ 15 w 15"/>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36">
                    <a:moveTo>
                      <a:pt x="12" y="1"/>
                    </a:moveTo>
                    <a:lnTo>
                      <a:pt x="0" y="7"/>
                    </a:lnTo>
                    <a:lnTo>
                      <a:pt x="0" y="36"/>
                    </a:lnTo>
                    <a:lnTo>
                      <a:pt x="15" y="36"/>
                    </a:lnTo>
                    <a:lnTo>
                      <a:pt x="15" y="7"/>
                    </a:lnTo>
                    <a:lnTo>
                      <a:pt x="3" y="14"/>
                    </a:lnTo>
                    <a:lnTo>
                      <a:pt x="15" y="7"/>
                    </a:lnTo>
                    <a:lnTo>
                      <a:pt x="12" y="3"/>
                    </a:lnTo>
                    <a:lnTo>
                      <a:pt x="8" y="0"/>
                    </a:lnTo>
                    <a:lnTo>
                      <a:pt x="3" y="3"/>
                    </a:lnTo>
                    <a:lnTo>
                      <a:pt x="0" y="7"/>
                    </a:lnTo>
                    <a:lnTo>
                      <a:pt x="12" y="1"/>
                    </a:lnTo>
                    <a:close/>
                  </a:path>
                </a:pathLst>
              </a:custGeom>
              <a:solidFill>
                <a:srgbClr val="000000"/>
              </a:solidFill>
              <a:ln w="9525">
                <a:noFill/>
                <a:round/>
                <a:headEnd/>
                <a:tailEnd/>
              </a:ln>
            </p:spPr>
            <p:txBody>
              <a:bodyPr/>
              <a:lstStyle/>
              <a:p>
                <a:endParaRPr lang="en-US"/>
              </a:p>
            </p:txBody>
          </p:sp>
          <p:sp>
            <p:nvSpPr>
              <p:cNvPr id="24699" name="Freeform 88"/>
              <p:cNvSpPr>
                <a:spLocks/>
              </p:cNvSpPr>
              <p:nvPr/>
            </p:nvSpPr>
            <p:spPr bwMode="auto">
              <a:xfrm>
                <a:off x="1916" y="3617"/>
                <a:ext cx="40" cy="31"/>
              </a:xfrm>
              <a:custGeom>
                <a:avLst/>
                <a:gdLst>
                  <a:gd name="T0" fmla="*/ 1 w 78"/>
                  <a:gd name="T1" fmla="*/ 1 h 61"/>
                  <a:gd name="T2" fmla="*/ 1 w 78"/>
                  <a:gd name="T3" fmla="*/ 1 h 61"/>
                  <a:gd name="T4" fmla="*/ 1 w 78"/>
                  <a:gd name="T5" fmla="*/ 0 h 61"/>
                  <a:gd name="T6" fmla="*/ 0 w 78"/>
                  <a:gd name="T7" fmla="*/ 1 h 61"/>
                  <a:gd name="T8" fmla="*/ 1 w 78"/>
                  <a:gd name="T9" fmla="*/ 1 h 61"/>
                  <a:gd name="T10" fmla="*/ 1 w 78"/>
                  <a:gd name="T11" fmla="*/ 1 h 61"/>
                  <a:gd name="T12" fmla="*/ 1 w 78"/>
                  <a:gd name="T13" fmla="*/ 1 h 61"/>
                  <a:gd name="T14" fmla="*/ 1 w 78"/>
                  <a:gd name="T15" fmla="*/ 1 h 61"/>
                  <a:gd name="T16" fmla="*/ 1 w 78"/>
                  <a:gd name="T17" fmla="*/ 1 h 61"/>
                  <a:gd name="T18" fmla="*/ 1 w 78"/>
                  <a:gd name="T19" fmla="*/ 1 h 61"/>
                  <a:gd name="T20" fmla="*/ 1 w 78"/>
                  <a:gd name="T21" fmla="*/ 1 h 61"/>
                  <a:gd name="T22" fmla="*/ 1 w 78"/>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61"/>
                  <a:gd name="T38" fmla="*/ 78 w 78"/>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61">
                    <a:moveTo>
                      <a:pt x="78" y="53"/>
                    </a:moveTo>
                    <a:lnTo>
                      <a:pt x="75" y="47"/>
                    </a:lnTo>
                    <a:lnTo>
                      <a:pt x="9" y="0"/>
                    </a:lnTo>
                    <a:lnTo>
                      <a:pt x="0" y="13"/>
                    </a:lnTo>
                    <a:lnTo>
                      <a:pt x="66" y="60"/>
                    </a:lnTo>
                    <a:lnTo>
                      <a:pt x="63" y="53"/>
                    </a:lnTo>
                    <a:lnTo>
                      <a:pt x="66" y="60"/>
                    </a:lnTo>
                    <a:lnTo>
                      <a:pt x="72" y="61"/>
                    </a:lnTo>
                    <a:lnTo>
                      <a:pt x="77" y="58"/>
                    </a:lnTo>
                    <a:lnTo>
                      <a:pt x="78" y="52"/>
                    </a:lnTo>
                    <a:lnTo>
                      <a:pt x="75" y="47"/>
                    </a:lnTo>
                    <a:lnTo>
                      <a:pt x="78" y="53"/>
                    </a:lnTo>
                    <a:close/>
                  </a:path>
                </a:pathLst>
              </a:custGeom>
              <a:solidFill>
                <a:srgbClr val="000000"/>
              </a:solidFill>
              <a:ln w="9525">
                <a:noFill/>
                <a:round/>
                <a:headEnd/>
                <a:tailEnd/>
              </a:ln>
            </p:spPr>
            <p:txBody>
              <a:bodyPr/>
              <a:lstStyle/>
              <a:p>
                <a:endParaRPr lang="en-US"/>
              </a:p>
            </p:txBody>
          </p:sp>
          <p:sp>
            <p:nvSpPr>
              <p:cNvPr id="24700" name="Freeform 89"/>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3" y="27"/>
                    </a:moveTo>
                    <a:lnTo>
                      <a:pt x="15" y="21"/>
                    </a:lnTo>
                    <a:lnTo>
                      <a:pt x="15" y="0"/>
                    </a:lnTo>
                    <a:lnTo>
                      <a:pt x="0" y="0"/>
                    </a:lnTo>
                    <a:lnTo>
                      <a:pt x="0" y="21"/>
                    </a:lnTo>
                    <a:lnTo>
                      <a:pt x="12" y="14"/>
                    </a:lnTo>
                    <a:lnTo>
                      <a:pt x="0" y="21"/>
                    </a:lnTo>
                    <a:lnTo>
                      <a:pt x="3" y="25"/>
                    </a:lnTo>
                    <a:lnTo>
                      <a:pt x="7" y="27"/>
                    </a:lnTo>
                    <a:lnTo>
                      <a:pt x="12" y="25"/>
                    </a:lnTo>
                    <a:lnTo>
                      <a:pt x="15" y="21"/>
                    </a:lnTo>
                    <a:lnTo>
                      <a:pt x="3" y="27"/>
                    </a:lnTo>
                    <a:close/>
                  </a:path>
                </a:pathLst>
              </a:custGeom>
              <a:solidFill>
                <a:srgbClr val="000000"/>
              </a:solidFill>
              <a:ln w="9525">
                <a:noFill/>
                <a:round/>
                <a:headEnd/>
                <a:tailEnd/>
              </a:ln>
            </p:spPr>
            <p:txBody>
              <a:bodyPr/>
              <a:lstStyle/>
              <a:p>
                <a:endParaRPr lang="en-US"/>
              </a:p>
            </p:txBody>
          </p:sp>
          <p:sp>
            <p:nvSpPr>
              <p:cNvPr id="24701" name="Freeform 90"/>
              <p:cNvSpPr>
                <a:spLocks/>
              </p:cNvSpPr>
              <p:nvPr/>
            </p:nvSpPr>
            <p:spPr bwMode="auto">
              <a:xfrm>
                <a:off x="1915" y="3630"/>
                <a:ext cx="39" cy="27"/>
              </a:xfrm>
              <a:custGeom>
                <a:avLst/>
                <a:gdLst>
                  <a:gd name="T0" fmla="*/ 0 w 78"/>
                  <a:gd name="T1" fmla="*/ 1 h 53"/>
                  <a:gd name="T2" fmla="*/ 1 w 78"/>
                  <a:gd name="T3" fmla="*/ 1 h 53"/>
                  <a:gd name="T4" fmla="*/ 1 w 78"/>
                  <a:gd name="T5" fmla="*/ 1 h 53"/>
                  <a:gd name="T6" fmla="*/ 1 w 78"/>
                  <a:gd name="T7" fmla="*/ 1 h 53"/>
                  <a:gd name="T8" fmla="*/ 1 w 78"/>
                  <a:gd name="T9" fmla="*/ 1 h 53"/>
                  <a:gd name="T10" fmla="*/ 1 w 78"/>
                  <a:gd name="T11" fmla="*/ 1 h 53"/>
                  <a:gd name="T12" fmla="*/ 1 w 78"/>
                  <a:gd name="T13" fmla="*/ 1 h 53"/>
                  <a:gd name="T14" fmla="*/ 1 w 78"/>
                  <a:gd name="T15" fmla="*/ 0 h 53"/>
                  <a:gd name="T16" fmla="*/ 1 w 78"/>
                  <a:gd name="T17" fmla="*/ 1 h 53"/>
                  <a:gd name="T18" fmla="*/ 0 w 78"/>
                  <a:gd name="T19" fmla="*/ 1 h 53"/>
                  <a:gd name="T20" fmla="*/ 1 w 78"/>
                  <a:gd name="T21" fmla="*/ 1 h 53"/>
                  <a:gd name="T22" fmla="*/ 0 w 78"/>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53"/>
                  <a:gd name="T38" fmla="*/ 78 w 78"/>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53">
                    <a:moveTo>
                      <a:pt x="0" y="8"/>
                    </a:moveTo>
                    <a:lnTo>
                      <a:pt x="3" y="14"/>
                    </a:lnTo>
                    <a:lnTo>
                      <a:pt x="69" y="53"/>
                    </a:lnTo>
                    <a:lnTo>
                      <a:pt x="78" y="40"/>
                    </a:lnTo>
                    <a:lnTo>
                      <a:pt x="12" y="1"/>
                    </a:lnTo>
                    <a:lnTo>
                      <a:pt x="15" y="8"/>
                    </a:lnTo>
                    <a:lnTo>
                      <a:pt x="12" y="1"/>
                    </a:lnTo>
                    <a:lnTo>
                      <a:pt x="6" y="0"/>
                    </a:lnTo>
                    <a:lnTo>
                      <a:pt x="1" y="3"/>
                    </a:lnTo>
                    <a:lnTo>
                      <a:pt x="0" y="8"/>
                    </a:lnTo>
                    <a:lnTo>
                      <a:pt x="3" y="14"/>
                    </a:lnTo>
                    <a:lnTo>
                      <a:pt x="0" y="8"/>
                    </a:lnTo>
                    <a:close/>
                  </a:path>
                </a:pathLst>
              </a:custGeom>
              <a:solidFill>
                <a:srgbClr val="000000"/>
              </a:solidFill>
              <a:ln w="9525">
                <a:noFill/>
                <a:round/>
                <a:headEnd/>
                <a:tailEnd/>
              </a:ln>
            </p:spPr>
            <p:txBody>
              <a:bodyPr/>
              <a:lstStyle/>
              <a:p>
                <a:endParaRPr lang="en-US"/>
              </a:p>
            </p:txBody>
          </p:sp>
          <p:sp>
            <p:nvSpPr>
              <p:cNvPr id="24702" name="Freeform 91"/>
              <p:cNvSpPr>
                <a:spLocks/>
              </p:cNvSpPr>
              <p:nvPr/>
            </p:nvSpPr>
            <p:spPr bwMode="auto">
              <a:xfrm>
                <a:off x="2153" y="3445"/>
                <a:ext cx="76" cy="75"/>
              </a:xfrm>
              <a:custGeom>
                <a:avLst/>
                <a:gdLst>
                  <a:gd name="T0" fmla="*/ 0 w 152"/>
                  <a:gd name="T1" fmla="*/ 0 h 150"/>
                  <a:gd name="T2" fmla="*/ 0 w 152"/>
                  <a:gd name="T3" fmla="*/ 1 h 150"/>
                  <a:gd name="T4" fmla="*/ 1 w 152"/>
                  <a:gd name="T5" fmla="*/ 1 h 150"/>
                  <a:gd name="T6" fmla="*/ 1 w 152"/>
                  <a:gd name="T7" fmla="*/ 1 h 150"/>
                  <a:gd name="T8" fmla="*/ 1 w 152"/>
                  <a:gd name="T9" fmla="*/ 1 h 150"/>
                  <a:gd name="T10" fmla="*/ 1 w 152"/>
                  <a:gd name="T11" fmla="*/ 1 h 150"/>
                  <a:gd name="T12" fmla="*/ 1 w 152"/>
                  <a:gd name="T13" fmla="*/ 1 h 150"/>
                  <a:gd name="T14" fmla="*/ 1 w 152"/>
                  <a:gd name="T15" fmla="*/ 1 h 150"/>
                  <a:gd name="T16" fmla="*/ 1 w 152"/>
                  <a:gd name="T17" fmla="*/ 1 h 150"/>
                  <a:gd name="T18" fmla="*/ 1 w 152"/>
                  <a:gd name="T19" fmla="*/ 1 h 150"/>
                  <a:gd name="T20" fmla="*/ 1 w 152"/>
                  <a:gd name="T21" fmla="*/ 1 h 150"/>
                  <a:gd name="T22" fmla="*/ 1 w 152"/>
                  <a:gd name="T23" fmla="*/ 1 h 150"/>
                  <a:gd name="T24" fmla="*/ 1 w 152"/>
                  <a:gd name="T25" fmla="*/ 1 h 150"/>
                  <a:gd name="T26" fmla="*/ 1 w 152"/>
                  <a:gd name="T27" fmla="*/ 1 h 150"/>
                  <a:gd name="T28" fmla="*/ 1 w 152"/>
                  <a:gd name="T29" fmla="*/ 1 h 150"/>
                  <a:gd name="T30" fmla="*/ 1 w 152"/>
                  <a:gd name="T31" fmla="*/ 1 h 150"/>
                  <a:gd name="T32" fmla="*/ 1 w 152"/>
                  <a:gd name="T33" fmla="*/ 1 h 150"/>
                  <a:gd name="T34" fmla="*/ 1 w 152"/>
                  <a:gd name="T35" fmla="*/ 1 h 150"/>
                  <a:gd name="T36" fmla="*/ 1 w 152"/>
                  <a:gd name="T37" fmla="*/ 1 h 150"/>
                  <a:gd name="T38" fmla="*/ 1 w 152"/>
                  <a:gd name="T39" fmla="*/ 1 h 150"/>
                  <a:gd name="T40" fmla="*/ 1 w 152"/>
                  <a:gd name="T41" fmla="*/ 1 h 150"/>
                  <a:gd name="T42" fmla="*/ 1 w 152"/>
                  <a:gd name="T43" fmla="*/ 1 h 150"/>
                  <a:gd name="T44" fmla="*/ 1 w 152"/>
                  <a:gd name="T45" fmla="*/ 1 h 150"/>
                  <a:gd name="T46" fmla="*/ 1 w 152"/>
                  <a:gd name="T47" fmla="*/ 1 h 150"/>
                  <a:gd name="T48" fmla="*/ 1 w 152"/>
                  <a:gd name="T49" fmla="*/ 1 h 150"/>
                  <a:gd name="T50" fmla="*/ 1 w 152"/>
                  <a:gd name="T51" fmla="*/ 1 h 150"/>
                  <a:gd name="T52" fmla="*/ 1 w 152"/>
                  <a:gd name="T53" fmla="*/ 1 h 150"/>
                  <a:gd name="T54" fmla="*/ 1 w 152"/>
                  <a:gd name="T55" fmla="*/ 1 h 150"/>
                  <a:gd name="T56" fmla="*/ 1 w 152"/>
                  <a:gd name="T57" fmla="*/ 1 h 150"/>
                  <a:gd name="T58" fmla="*/ 1 w 152"/>
                  <a:gd name="T59" fmla="*/ 1 h 150"/>
                  <a:gd name="T60" fmla="*/ 1 w 152"/>
                  <a:gd name="T61" fmla="*/ 1 h 150"/>
                  <a:gd name="T62" fmla="*/ 1 w 152"/>
                  <a:gd name="T63" fmla="*/ 1 h 150"/>
                  <a:gd name="T64" fmla="*/ 1 w 152"/>
                  <a:gd name="T65" fmla="*/ 1 h 150"/>
                  <a:gd name="T66" fmla="*/ 1 w 152"/>
                  <a:gd name="T67" fmla="*/ 1 h 150"/>
                  <a:gd name="T68" fmla="*/ 0 w 152"/>
                  <a:gd name="T69" fmla="*/ 0 h 15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2"/>
                  <a:gd name="T106" fmla="*/ 0 h 150"/>
                  <a:gd name="T107" fmla="*/ 152 w 152"/>
                  <a:gd name="T108" fmla="*/ 150 h 15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2" h="150">
                    <a:moveTo>
                      <a:pt x="0" y="0"/>
                    </a:moveTo>
                    <a:lnTo>
                      <a:pt x="0" y="3"/>
                    </a:lnTo>
                    <a:lnTo>
                      <a:pt x="1" y="12"/>
                    </a:lnTo>
                    <a:lnTo>
                      <a:pt x="1" y="27"/>
                    </a:lnTo>
                    <a:lnTo>
                      <a:pt x="3" y="42"/>
                    </a:lnTo>
                    <a:lnTo>
                      <a:pt x="5" y="59"/>
                    </a:lnTo>
                    <a:lnTo>
                      <a:pt x="6" y="74"/>
                    </a:lnTo>
                    <a:lnTo>
                      <a:pt x="8" y="86"/>
                    </a:lnTo>
                    <a:lnTo>
                      <a:pt x="9" y="92"/>
                    </a:lnTo>
                    <a:lnTo>
                      <a:pt x="12" y="100"/>
                    </a:lnTo>
                    <a:lnTo>
                      <a:pt x="17" y="108"/>
                    </a:lnTo>
                    <a:lnTo>
                      <a:pt x="19" y="114"/>
                    </a:lnTo>
                    <a:lnTo>
                      <a:pt x="20" y="117"/>
                    </a:lnTo>
                    <a:lnTo>
                      <a:pt x="20" y="119"/>
                    </a:lnTo>
                    <a:lnTo>
                      <a:pt x="22" y="120"/>
                    </a:lnTo>
                    <a:lnTo>
                      <a:pt x="25" y="125"/>
                    </a:lnTo>
                    <a:lnTo>
                      <a:pt x="26" y="130"/>
                    </a:lnTo>
                    <a:lnTo>
                      <a:pt x="31" y="136"/>
                    </a:lnTo>
                    <a:lnTo>
                      <a:pt x="41" y="142"/>
                    </a:lnTo>
                    <a:lnTo>
                      <a:pt x="50" y="147"/>
                    </a:lnTo>
                    <a:lnTo>
                      <a:pt x="61" y="150"/>
                    </a:lnTo>
                    <a:lnTo>
                      <a:pt x="66" y="150"/>
                    </a:lnTo>
                    <a:lnTo>
                      <a:pt x="72" y="150"/>
                    </a:lnTo>
                    <a:lnTo>
                      <a:pt x="80" y="149"/>
                    </a:lnTo>
                    <a:lnTo>
                      <a:pt x="89" y="147"/>
                    </a:lnTo>
                    <a:lnTo>
                      <a:pt x="98" y="145"/>
                    </a:lnTo>
                    <a:lnTo>
                      <a:pt x="108" y="142"/>
                    </a:lnTo>
                    <a:lnTo>
                      <a:pt x="117" y="139"/>
                    </a:lnTo>
                    <a:lnTo>
                      <a:pt x="127" y="136"/>
                    </a:lnTo>
                    <a:lnTo>
                      <a:pt x="141" y="128"/>
                    </a:lnTo>
                    <a:lnTo>
                      <a:pt x="149" y="122"/>
                    </a:lnTo>
                    <a:lnTo>
                      <a:pt x="152" y="120"/>
                    </a:lnTo>
                    <a:lnTo>
                      <a:pt x="152" y="119"/>
                    </a:lnTo>
                    <a:lnTo>
                      <a:pt x="141" y="92"/>
                    </a:lnTo>
                    <a:lnTo>
                      <a:pt x="0" y="0"/>
                    </a:lnTo>
                    <a:close/>
                  </a:path>
                </a:pathLst>
              </a:custGeom>
              <a:solidFill>
                <a:srgbClr val="FFB27F"/>
              </a:solidFill>
              <a:ln w="9525">
                <a:noFill/>
                <a:round/>
                <a:headEnd/>
                <a:tailEnd/>
              </a:ln>
            </p:spPr>
            <p:txBody>
              <a:bodyPr/>
              <a:lstStyle/>
              <a:p>
                <a:endParaRPr lang="en-US"/>
              </a:p>
            </p:txBody>
          </p:sp>
          <p:sp>
            <p:nvSpPr>
              <p:cNvPr id="24703" name="Freeform 92"/>
              <p:cNvSpPr>
                <a:spLocks/>
              </p:cNvSpPr>
              <p:nvPr/>
            </p:nvSpPr>
            <p:spPr bwMode="auto">
              <a:xfrm>
                <a:off x="2147" y="3445"/>
                <a:ext cx="15" cy="48"/>
              </a:xfrm>
              <a:custGeom>
                <a:avLst/>
                <a:gdLst>
                  <a:gd name="T0" fmla="*/ 1 w 30"/>
                  <a:gd name="T1" fmla="*/ 0 h 97"/>
                  <a:gd name="T2" fmla="*/ 1 w 30"/>
                  <a:gd name="T3" fmla="*/ 0 h 97"/>
                  <a:gd name="T4" fmla="*/ 1 w 30"/>
                  <a:gd name="T5" fmla="*/ 0 h 97"/>
                  <a:gd name="T6" fmla="*/ 1 w 30"/>
                  <a:gd name="T7" fmla="*/ 0 h 97"/>
                  <a:gd name="T8" fmla="*/ 1 w 30"/>
                  <a:gd name="T9" fmla="*/ 0 h 97"/>
                  <a:gd name="T10" fmla="*/ 1 w 30"/>
                  <a:gd name="T11" fmla="*/ 0 h 97"/>
                  <a:gd name="T12" fmla="*/ 1 w 30"/>
                  <a:gd name="T13" fmla="*/ 0 h 97"/>
                  <a:gd name="T14" fmla="*/ 1 w 30"/>
                  <a:gd name="T15" fmla="*/ 0 h 97"/>
                  <a:gd name="T16" fmla="*/ 1 w 30"/>
                  <a:gd name="T17" fmla="*/ 0 h 97"/>
                  <a:gd name="T18" fmla="*/ 1 w 30"/>
                  <a:gd name="T19" fmla="*/ 0 h 97"/>
                  <a:gd name="T20" fmla="*/ 0 w 30"/>
                  <a:gd name="T21" fmla="*/ 0 h 97"/>
                  <a:gd name="T22" fmla="*/ 0 w 30"/>
                  <a:gd name="T23" fmla="*/ 0 h 97"/>
                  <a:gd name="T24" fmla="*/ 1 w 30"/>
                  <a:gd name="T25" fmla="*/ 0 h 97"/>
                  <a:gd name="T26" fmla="*/ 1 w 30"/>
                  <a:gd name="T27" fmla="*/ 0 h 97"/>
                  <a:gd name="T28" fmla="*/ 1 w 30"/>
                  <a:gd name="T29" fmla="*/ 0 h 97"/>
                  <a:gd name="T30" fmla="*/ 1 w 30"/>
                  <a:gd name="T31" fmla="*/ 0 h 97"/>
                  <a:gd name="T32" fmla="*/ 1 w 30"/>
                  <a:gd name="T33" fmla="*/ 0 h 97"/>
                  <a:gd name="T34" fmla="*/ 1 w 30"/>
                  <a:gd name="T35" fmla="*/ 0 h 97"/>
                  <a:gd name="T36" fmla="*/ 1 w 30"/>
                  <a:gd name="T37" fmla="*/ 0 h 97"/>
                  <a:gd name="T38" fmla="*/ 1 w 30"/>
                  <a:gd name="T39" fmla="*/ 0 h 97"/>
                  <a:gd name="T40" fmla="*/ 1 w 30"/>
                  <a:gd name="T41" fmla="*/ 0 h 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97"/>
                  <a:gd name="T65" fmla="*/ 30 w 30"/>
                  <a:gd name="T66" fmla="*/ 97 h 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97">
                    <a:moveTo>
                      <a:pt x="30" y="88"/>
                    </a:moveTo>
                    <a:lnTo>
                      <a:pt x="30" y="88"/>
                    </a:lnTo>
                    <a:lnTo>
                      <a:pt x="30" y="84"/>
                    </a:lnTo>
                    <a:lnTo>
                      <a:pt x="28" y="72"/>
                    </a:lnTo>
                    <a:lnTo>
                      <a:pt x="26" y="58"/>
                    </a:lnTo>
                    <a:lnTo>
                      <a:pt x="25" y="41"/>
                    </a:lnTo>
                    <a:lnTo>
                      <a:pt x="23" y="27"/>
                    </a:lnTo>
                    <a:lnTo>
                      <a:pt x="23" y="12"/>
                    </a:lnTo>
                    <a:lnTo>
                      <a:pt x="22" y="2"/>
                    </a:lnTo>
                    <a:lnTo>
                      <a:pt x="22" y="0"/>
                    </a:lnTo>
                    <a:lnTo>
                      <a:pt x="0" y="0"/>
                    </a:lnTo>
                    <a:lnTo>
                      <a:pt x="0" y="5"/>
                    </a:lnTo>
                    <a:lnTo>
                      <a:pt x="1" y="12"/>
                    </a:lnTo>
                    <a:lnTo>
                      <a:pt x="1" y="27"/>
                    </a:lnTo>
                    <a:lnTo>
                      <a:pt x="3" y="44"/>
                    </a:lnTo>
                    <a:lnTo>
                      <a:pt x="5" y="61"/>
                    </a:lnTo>
                    <a:lnTo>
                      <a:pt x="6" y="75"/>
                    </a:lnTo>
                    <a:lnTo>
                      <a:pt x="8" y="88"/>
                    </a:lnTo>
                    <a:lnTo>
                      <a:pt x="11" y="97"/>
                    </a:lnTo>
                    <a:lnTo>
                      <a:pt x="30" y="88"/>
                    </a:lnTo>
                    <a:close/>
                  </a:path>
                </a:pathLst>
              </a:custGeom>
              <a:solidFill>
                <a:srgbClr val="000000"/>
              </a:solidFill>
              <a:ln w="9525">
                <a:noFill/>
                <a:round/>
                <a:headEnd/>
                <a:tailEnd/>
              </a:ln>
            </p:spPr>
            <p:txBody>
              <a:bodyPr/>
              <a:lstStyle/>
              <a:p>
                <a:endParaRPr lang="en-US"/>
              </a:p>
            </p:txBody>
          </p:sp>
          <p:sp>
            <p:nvSpPr>
              <p:cNvPr id="24704" name="Freeform 93"/>
              <p:cNvSpPr>
                <a:spLocks/>
              </p:cNvSpPr>
              <p:nvPr/>
            </p:nvSpPr>
            <p:spPr bwMode="auto">
              <a:xfrm>
                <a:off x="2153" y="3489"/>
                <a:ext cx="16" cy="20"/>
              </a:xfrm>
              <a:custGeom>
                <a:avLst/>
                <a:gdLst>
                  <a:gd name="T0" fmla="*/ 1 w 31"/>
                  <a:gd name="T1" fmla="*/ 1 h 40"/>
                  <a:gd name="T2" fmla="*/ 1 w 31"/>
                  <a:gd name="T3" fmla="*/ 1 h 40"/>
                  <a:gd name="T4" fmla="*/ 1 w 31"/>
                  <a:gd name="T5" fmla="*/ 1 h 40"/>
                  <a:gd name="T6" fmla="*/ 1 w 31"/>
                  <a:gd name="T7" fmla="*/ 1 h 40"/>
                  <a:gd name="T8" fmla="*/ 1 w 31"/>
                  <a:gd name="T9" fmla="*/ 1 h 40"/>
                  <a:gd name="T10" fmla="*/ 1 w 31"/>
                  <a:gd name="T11" fmla="*/ 0 h 40"/>
                  <a:gd name="T12" fmla="*/ 0 w 31"/>
                  <a:gd name="T13" fmla="*/ 1 h 40"/>
                  <a:gd name="T14" fmla="*/ 1 w 31"/>
                  <a:gd name="T15" fmla="*/ 1 h 40"/>
                  <a:gd name="T16" fmla="*/ 1 w 31"/>
                  <a:gd name="T17" fmla="*/ 1 h 40"/>
                  <a:gd name="T18" fmla="*/ 1 w 31"/>
                  <a:gd name="T19" fmla="*/ 1 h 40"/>
                  <a:gd name="T20" fmla="*/ 1 w 31"/>
                  <a:gd name="T21" fmla="*/ 1 h 40"/>
                  <a:gd name="T22" fmla="*/ 1 w 31"/>
                  <a:gd name="T23" fmla="*/ 1 h 40"/>
                  <a:gd name="T24" fmla="*/ 1 w 31"/>
                  <a:gd name="T25" fmla="*/ 1 h 40"/>
                  <a:gd name="T26" fmla="*/ 1 w 31"/>
                  <a:gd name="T27" fmla="*/ 1 h 40"/>
                  <a:gd name="T28" fmla="*/ 1 w 31"/>
                  <a:gd name="T29" fmla="*/ 1 h 40"/>
                  <a:gd name="T30" fmla="*/ 1 w 31"/>
                  <a:gd name="T31" fmla="*/ 1 h 40"/>
                  <a:gd name="T32" fmla="*/ 1 w 31"/>
                  <a:gd name="T33" fmla="*/ 1 h 40"/>
                  <a:gd name="T34" fmla="*/ 1 w 31"/>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40"/>
                  <a:gd name="T56" fmla="*/ 31 w 31"/>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40">
                    <a:moveTo>
                      <a:pt x="30" y="23"/>
                    </a:moveTo>
                    <a:lnTo>
                      <a:pt x="30" y="25"/>
                    </a:lnTo>
                    <a:lnTo>
                      <a:pt x="30" y="23"/>
                    </a:lnTo>
                    <a:lnTo>
                      <a:pt x="26" y="15"/>
                    </a:lnTo>
                    <a:lnTo>
                      <a:pt x="22" y="7"/>
                    </a:lnTo>
                    <a:lnTo>
                      <a:pt x="19" y="0"/>
                    </a:lnTo>
                    <a:lnTo>
                      <a:pt x="0" y="9"/>
                    </a:lnTo>
                    <a:lnTo>
                      <a:pt x="3" y="17"/>
                    </a:lnTo>
                    <a:lnTo>
                      <a:pt x="8" y="25"/>
                    </a:lnTo>
                    <a:lnTo>
                      <a:pt x="8" y="29"/>
                    </a:lnTo>
                    <a:lnTo>
                      <a:pt x="11" y="34"/>
                    </a:lnTo>
                    <a:lnTo>
                      <a:pt x="11" y="36"/>
                    </a:lnTo>
                    <a:lnTo>
                      <a:pt x="9" y="34"/>
                    </a:lnTo>
                    <a:lnTo>
                      <a:pt x="15" y="40"/>
                    </a:lnTo>
                    <a:lnTo>
                      <a:pt x="25" y="40"/>
                    </a:lnTo>
                    <a:lnTo>
                      <a:pt x="31" y="34"/>
                    </a:lnTo>
                    <a:lnTo>
                      <a:pt x="31" y="25"/>
                    </a:lnTo>
                    <a:lnTo>
                      <a:pt x="30" y="23"/>
                    </a:lnTo>
                    <a:close/>
                  </a:path>
                </a:pathLst>
              </a:custGeom>
              <a:solidFill>
                <a:srgbClr val="000000"/>
              </a:solidFill>
              <a:ln w="9525">
                <a:noFill/>
                <a:round/>
                <a:headEnd/>
                <a:tailEnd/>
              </a:ln>
            </p:spPr>
            <p:txBody>
              <a:bodyPr/>
              <a:lstStyle/>
              <a:p>
                <a:endParaRPr lang="en-US"/>
              </a:p>
            </p:txBody>
          </p:sp>
          <p:sp>
            <p:nvSpPr>
              <p:cNvPr id="24705" name="Freeform 94"/>
              <p:cNvSpPr>
                <a:spLocks/>
              </p:cNvSpPr>
              <p:nvPr/>
            </p:nvSpPr>
            <p:spPr bwMode="auto">
              <a:xfrm>
                <a:off x="2158" y="3501"/>
                <a:ext cx="13" cy="11"/>
              </a:xfrm>
              <a:custGeom>
                <a:avLst/>
                <a:gdLst>
                  <a:gd name="T0" fmla="*/ 1 w 25"/>
                  <a:gd name="T1" fmla="*/ 0 h 24"/>
                  <a:gd name="T2" fmla="*/ 1 w 25"/>
                  <a:gd name="T3" fmla="*/ 0 h 24"/>
                  <a:gd name="T4" fmla="*/ 1 w 25"/>
                  <a:gd name="T5" fmla="*/ 0 h 24"/>
                  <a:gd name="T6" fmla="*/ 1 w 25"/>
                  <a:gd name="T7" fmla="*/ 0 h 24"/>
                  <a:gd name="T8" fmla="*/ 1 w 25"/>
                  <a:gd name="T9" fmla="*/ 0 h 24"/>
                  <a:gd name="T10" fmla="*/ 1 w 25"/>
                  <a:gd name="T11" fmla="*/ 0 h 24"/>
                  <a:gd name="T12" fmla="*/ 0 w 25"/>
                  <a:gd name="T13" fmla="*/ 0 h 24"/>
                  <a:gd name="T14" fmla="*/ 0 w 25"/>
                  <a:gd name="T15" fmla="*/ 0 h 24"/>
                  <a:gd name="T16" fmla="*/ 1 w 25"/>
                  <a:gd name="T17" fmla="*/ 0 h 24"/>
                  <a:gd name="T18" fmla="*/ 1 w 25"/>
                  <a:gd name="T19" fmla="*/ 0 h 24"/>
                  <a:gd name="T20" fmla="*/ 1 w 25"/>
                  <a:gd name="T21" fmla="*/ 0 h 24"/>
                  <a:gd name="T22" fmla="*/ 1 w 25"/>
                  <a:gd name="T23" fmla="*/ 0 h 24"/>
                  <a:gd name="T24" fmla="*/ 1 w 25"/>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4"/>
                  <a:gd name="T41" fmla="*/ 25 w 2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4">
                    <a:moveTo>
                      <a:pt x="25" y="14"/>
                    </a:moveTo>
                    <a:lnTo>
                      <a:pt x="25" y="14"/>
                    </a:lnTo>
                    <a:lnTo>
                      <a:pt x="23" y="9"/>
                    </a:lnTo>
                    <a:lnTo>
                      <a:pt x="20" y="3"/>
                    </a:lnTo>
                    <a:lnTo>
                      <a:pt x="19" y="3"/>
                    </a:lnTo>
                    <a:lnTo>
                      <a:pt x="19" y="0"/>
                    </a:lnTo>
                    <a:lnTo>
                      <a:pt x="0" y="13"/>
                    </a:lnTo>
                    <a:lnTo>
                      <a:pt x="1" y="16"/>
                    </a:lnTo>
                    <a:lnTo>
                      <a:pt x="4" y="19"/>
                    </a:lnTo>
                    <a:lnTo>
                      <a:pt x="6" y="24"/>
                    </a:lnTo>
                    <a:lnTo>
                      <a:pt x="25" y="14"/>
                    </a:lnTo>
                    <a:close/>
                  </a:path>
                </a:pathLst>
              </a:custGeom>
              <a:solidFill>
                <a:srgbClr val="000000"/>
              </a:solidFill>
              <a:ln w="9525">
                <a:noFill/>
                <a:round/>
                <a:headEnd/>
                <a:tailEnd/>
              </a:ln>
            </p:spPr>
            <p:txBody>
              <a:bodyPr/>
              <a:lstStyle/>
              <a:p>
                <a:endParaRPr lang="en-US"/>
              </a:p>
            </p:txBody>
          </p:sp>
          <p:sp>
            <p:nvSpPr>
              <p:cNvPr id="24706" name="Freeform 95"/>
              <p:cNvSpPr>
                <a:spLocks/>
              </p:cNvSpPr>
              <p:nvPr/>
            </p:nvSpPr>
            <p:spPr bwMode="auto">
              <a:xfrm>
                <a:off x="2162" y="3508"/>
                <a:ext cx="22" cy="18"/>
              </a:xfrm>
              <a:custGeom>
                <a:avLst/>
                <a:gdLst>
                  <a:gd name="T0" fmla="*/ 0 w 45"/>
                  <a:gd name="T1" fmla="*/ 1 h 36"/>
                  <a:gd name="T2" fmla="*/ 0 w 45"/>
                  <a:gd name="T3" fmla="*/ 1 h 36"/>
                  <a:gd name="T4" fmla="*/ 0 w 45"/>
                  <a:gd name="T5" fmla="*/ 1 h 36"/>
                  <a:gd name="T6" fmla="*/ 0 w 45"/>
                  <a:gd name="T7" fmla="*/ 1 h 36"/>
                  <a:gd name="T8" fmla="*/ 0 w 45"/>
                  <a:gd name="T9" fmla="*/ 1 h 36"/>
                  <a:gd name="T10" fmla="*/ 0 w 45"/>
                  <a:gd name="T11" fmla="*/ 0 h 36"/>
                  <a:gd name="T12" fmla="*/ 0 w 45"/>
                  <a:gd name="T13" fmla="*/ 1 h 36"/>
                  <a:gd name="T14" fmla="*/ 0 w 45"/>
                  <a:gd name="T15" fmla="*/ 1 h 36"/>
                  <a:gd name="T16" fmla="*/ 0 w 45"/>
                  <a:gd name="T17" fmla="*/ 1 h 36"/>
                  <a:gd name="T18" fmla="*/ 0 w 45"/>
                  <a:gd name="T19" fmla="*/ 1 h 36"/>
                  <a:gd name="T20" fmla="*/ 0 w 45"/>
                  <a:gd name="T21" fmla="*/ 1 h 36"/>
                  <a:gd name="T22" fmla="*/ 0 w 45"/>
                  <a:gd name="T23" fmla="*/ 1 h 36"/>
                  <a:gd name="T24" fmla="*/ 0 w 45"/>
                  <a:gd name="T25" fmla="*/ 1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36"/>
                  <a:gd name="T41" fmla="*/ 45 w 45"/>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36">
                    <a:moveTo>
                      <a:pt x="45" y="14"/>
                    </a:moveTo>
                    <a:lnTo>
                      <a:pt x="45" y="14"/>
                    </a:lnTo>
                    <a:lnTo>
                      <a:pt x="36" y="11"/>
                    </a:lnTo>
                    <a:lnTo>
                      <a:pt x="30" y="8"/>
                    </a:lnTo>
                    <a:lnTo>
                      <a:pt x="22" y="3"/>
                    </a:lnTo>
                    <a:lnTo>
                      <a:pt x="19" y="0"/>
                    </a:lnTo>
                    <a:lnTo>
                      <a:pt x="0" y="10"/>
                    </a:lnTo>
                    <a:lnTo>
                      <a:pt x="6" y="19"/>
                    </a:lnTo>
                    <a:lnTo>
                      <a:pt x="17" y="27"/>
                    </a:lnTo>
                    <a:lnTo>
                      <a:pt x="30" y="33"/>
                    </a:lnTo>
                    <a:lnTo>
                      <a:pt x="42" y="36"/>
                    </a:lnTo>
                    <a:lnTo>
                      <a:pt x="45" y="14"/>
                    </a:lnTo>
                    <a:close/>
                  </a:path>
                </a:pathLst>
              </a:custGeom>
              <a:solidFill>
                <a:srgbClr val="000000"/>
              </a:solidFill>
              <a:ln w="9525">
                <a:noFill/>
                <a:round/>
                <a:headEnd/>
                <a:tailEnd/>
              </a:ln>
            </p:spPr>
            <p:txBody>
              <a:bodyPr/>
              <a:lstStyle/>
              <a:p>
                <a:endParaRPr lang="en-US"/>
              </a:p>
            </p:txBody>
          </p:sp>
          <p:sp>
            <p:nvSpPr>
              <p:cNvPr id="24707" name="Freeform 96"/>
              <p:cNvSpPr>
                <a:spLocks/>
              </p:cNvSpPr>
              <p:nvPr/>
            </p:nvSpPr>
            <p:spPr bwMode="auto">
              <a:xfrm>
                <a:off x="2183" y="3508"/>
                <a:ext cx="36" cy="18"/>
              </a:xfrm>
              <a:custGeom>
                <a:avLst/>
                <a:gdLst>
                  <a:gd name="T0" fmla="*/ 1 w 72"/>
                  <a:gd name="T1" fmla="*/ 0 h 34"/>
                  <a:gd name="T2" fmla="*/ 1 w 72"/>
                  <a:gd name="T3" fmla="*/ 0 h 34"/>
                  <a:gd name="T4" fmla="*/ 1 w 72"/>
                  <a:gd name="T5" fmla="*/ 1 h 34"/>
                  <a:gd name="T6" fmla="*/ 1 w 72"/>
                  <a:gd name="T7" fmla="*/ 1 h 34"/>
                  <a:gd name="T8" fmla="*/ 1 w 72"/>
                  <a:gd name="T9" fmla="*/ 1 h 34"/>
                  <a:gd name="T10" fmla="*/ 1 w 72"/>
                  <a:gd name="T11" fmla="*/ 1 h 34"/>
                  <a:gd name="T12" fmla="*/ 1 w 72"/>
                  <a:gd name="T13" fmla="*/ 1 h 34"/>
                  <a:gd name="T14" fmla="*/ 1 w 72"/>
                  <a:gd name="T15" fmla="*/ 1 h 34"/>
                  <a:gd name="T16" fmla="*/ 1 w 72"/>
                  <a:gd name="T17" fmla="*/ 1 h 34"/>
                  <a:gd name="T18" fmla="*/ 1 w 72"/>
                  <a:gd name="T19" fmla="*/ 1 h 34"/>
                  <a:gd name="T20" fmla="*/ 0 w 72"/>
                  <a:gd name="T21" fmla="*/ 1 h 34"/>
                  <a:gd name="T22" fmla="*/ 1 w 72"/>
                  <a:gd name="T23" fmla="*/ 1 h 34"/>
                  <a:gd name="T24" fmla="*/ 1 w 72"/>
                  <a:gd name="T25" fmla="*/ 1 h 34"/>
                  <a:gd name="T26" fmla="*/ 1 w 72"/>
                  <a:gd name="T27" fmla="*/ 1 h 34"/>
                  <a:gd name="T28" fmla="*/ 1 w 72"/>
                  <a:gd name="T29" fmla="*/ 1 h 34"/>
                  <a:gd name="T30" fmla="*/ 1 w 72"/>
                  <a:gd name="T31" fmla="*/ 1 h 34"/>
                  <a:gd name="T32" fmla="*/ 1 w 72"/>
                  <a:gd name="T33" fmla="*/ 1 h 34"/>
                  <a:gd name="T34" fmla="*/ 1 w 72"/>
                  <a:gd name="T35" fmla="*/ 1 h 34"/>
                  <a:gd name="T36" fmla="*/ 1 w 72"/>
                  <a:gd name="T37" fmla="*/ 1 h 34"/>
                  <a:gd name="T38" fmla="*/ 1 w 72"/>
                  <a:gd name="T39" fmla="*/ 1 h 34"/>
                  <a:gd name="T40" fmla="*/ 1 w 72"/>
                  <a:gd name="T41" fmla="*/ 0 h 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4"/>
                  <a:gd name="T65" fmla="*/ 72 w 72"/>
                  <a:gd name="T66" fmla="*/ 34 h 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4">
                    <a:moveTo>
                      <a:pt x="63" y="0"/>
                    </a:moveTo>
                    <a:lnTo>
                      <a:pt x="63" y="0"/>
                    </a:lnTo>
                    <a:lnTo>
                      <a:pt x="55" y="1"/>
                    </a:lnTo>
                    <a:lnTo>
                      <a:pt x="46" y="4"/>
                    </a:lnTo>
                    <a:lnTo>
                      <a:pt x="36" y="8"/>
                    </a:lnTo>
                    <a:lnTo>
                      <a:pt x="28" y="9"/>
                    </a:lnTo>
                    <a:lnTo>
                      <a:pt x="19" y="11"/>
                    </a:lnTo>
                    <a:lnTo>
                      <a:pt x="11" y="12"/>
                    </a:lnTo>
                    <a:lnTo>
                      <a:pt x="7" y="12"/>
                    </a:lnTo>
                    <a:lnTo>
                      <a:pt x="3" y="12"/>
                    </a:lnTo>
                    <a:lnTo>
                      <a:pt x="0" y="34"/>
                    </a:lnTo>
                    <a:lnTo>
                      <a:pt x="7" y="34"/>
                    </a:lnTo>
                    <a:lnTo>
                      <a:pt x="14" y="34"/>
                    </a:lnTo>
                    <a:lnTo>
                      <a:pt x="22" y="33"/>
                    </a:lnTo>
                    <a:lnTo>
                      <a:pt x="32" y="31"/>
                    </a:lnTo>
                    <a:lnTo>
                      <a:pt x="43" y="29"/>
                    </a:lnTo>
                    <a:lnTo>
                      <a:pt x="52" y="26"/>
                    </a:lnTo>
                    <a:lnTo>
                      <a:pt x="61" y="23"/>
                    </a:lnTo>
                    <a:lnTo>
                      <a:pt x="72" y="18"/>
                    </a:lnTo>
                    <a:lnTo>
                      <a:pt x="63" y="0"/>
                    </a:lnTo>
                    <a:close/>
                  </a:path>
                </a:pathLst>
              </a:custGeom>
              <a:solidFill>
                <a:srgbClr val="000000"/>
              </a:solidFill>
              <a:ln w="9525">
                <a:noFill/>
                <a:round/>
                <a:headEnd/>
                <a:tailEnd/>
              </a:ln>
            </p:spPr>
            <p:txBody>
              <a:bodyPr/>
              <a:lstStyle/>
              <a:p>
                <a:endParaRPr lang="en-US"/>
              </a:p>
            </p:txBody>
          </p:sp>
          <p:sp>
            <p:nvSpPr>
              <p:cNvPr id="24708" name="Freeform 97"/>
              <p:cNvSpPr>
                <a:spLocks/>
              </p:cNvSpPr>
              <p:nvPr/>
            </p:nvSpPr>
            <p:spPr bwMode="auto">
              <a:xfrm>
                <a:off x="2214" y="3499"/>
                <a:ext cx="20" cy="19"/>
              </a:xfrm>
              <a:custGeom>
                <a:avLst/>
                <a:gdLst>
                  <a:gd name="T0" fmla="*/ 0 w 41"/>
                  <a:gd name="T1" fmla="*/ 1 h 37"/>
                  <a:gd name="T2" fmla="*/ 0 w 41"/>
                  <a:gd name="T3" fmla="*/ 1 h 37"/>
                  <a:gd name="T4" fmla="*/ 0 w 41"/>
                  <a:gd name="T5" fmla="*/ 1 h 37"/>
                  <a:gd name="T6" fmla="*/ 0 w 41"/>
                  <a:gd name="T7" fmla="*/ 1 h 37"/>
                  <a:gd name="T8" fmla="*/ 0 w 41"/>
                  <a:gd name="T9" fmla="*/ 1 h 37"/>
                  <a:gd name="T10" fmla="*/ 0 w 41"/>
                  <a:gd name="T11" fmla="*/ 1 h 37"/>
                  <a:gd name="T12" fmla="*/ 0 w 41"/>
                  <a:gd name="T13" fmla="*/ 1 h 37"/>
                  <a:gd name="T14" fmla="*/ 0 w 41"/>
                  <a:gd name="T15" fmla="*/ 1 h 37"/>
                  <a:gd name="T16" fmla="*/ 0 w 41"/>
                  <a:gd name="T17" fmla="*/ 1 h 37"/>
                  <a:gd name="T18" fmla="*/ 0 w 41"/>
                  <a:gd name="T19" fmla="*/ 1 h 37"/>
                  <a:gd name="T20" fmla="*/ 0 w 41"/>
                  <a:gd name="T21" fmla="*/ 1 h 37"/>
                  <a:gd name="T22" fmla="*/ 0 w 41"/>
                  <a:gd name="T23" fmla="*/ 1 h 37"/>
                  <a:gd name="T24" fmla="*/ 0 w 41"/>
                  <a:gd name="T25" fmla="*/ 1 h 37"/>
                  <a:gd name="T26" fmla="*/ 0 w 41"/>
                  <a:gd name="T27" fmla="*/ 1 h 37"/>
                  <a:gd name="T28" fmla="*/ 0 w 41"/>
                  <a:gd name="T29" fmla="*/ 0 h 37"/>
                  <a:gd name="T30" fmla="*/ 0 w 41"/>
                  <a:gd name="T31" fmla="*/ 1 h 37"/>
                  <a:gd name="T32" fmla="*/ 0 w 41"/>
                  <a:gd name="T33" fmla="*/ 1 h 37"/>
                  <a:gd name="T34" fmla="*/ 0 w 41"/>
                  <a:gd name="T35" fmla="*/ 1 h 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37"/>
                  <a:gd name="T56" fmla="*/ 41 w 41"/>
                  <a:gd name="T57" fmla="*/ 37 h 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37">
                    <a:moveTo>
                      <a:pt x="20" y="16"/>
                    </a:moveTo>
                    <a:lnTo>
                      <a:pt x="19" y="8"/>
                    </a:lnTo>
                    <a:lnTo>
                      <a:pt x="22" y="5"/>
                    </a:lnTo>
                    <a:lnTo>
                      <a:pt x="20" y="5"/>
                    </a:lnTo>
                    <a:lnTo>
                      <a:pt x="12" y="11"/>
                    </a:lnTo>
                    <a:lnTo>
                      <a:pt x="0" y="19"/>
                    </a:lnTo>
                    <a:lnTo>
                      <a:pt x="9" y="37"/>
                    </a:lnTo>
                    <a:lnTo>
                      <a:pt x="25" y="30"/>
                    </a:lnTo>
                    <a:lnTo>
                      <a:pt x="33" y="23"/>
                    </a:lnTo>
                    <a:lnTo>
                      <a:pt x="38" y="20"/>
                    </a:lnTo>
                    <a:lnTo>
                      <a:pt x="41" y="14"/>
                    </a:lnTo>
                    <a:lnTo>
                      <a:pt x="39" y="6"/>
                    </a:lnTo>
                    <a:lnTo>
                      <a:pt x="41" y="14"/>
                    </a:lnTo>
                    <a:lnTo>
                      <a:pt x="39" y="5"/>
                    </a:lnTo>
                    <a:lnTo>
                      <a:pt x="33" y="0"/>
                    </a:lnTo>
                    <a:lnTo>
                      <a:pt x="23" y="1"/>
                    </a:lnTo>
                    <a:lnTo>
                      <a:pt x="19" y="8"/>
                    </a:lnTo>
                    <a:lnTo>
                      <a:pt x="20" y="16"/>
                    </a:lnTo>
                    <a:close/>
                  </a:path>
                </a:pathLst>
              </a:custGeom>
              <a:solidFill>
                <a:srgbClr val="000000"/>
              </a:solidFill>
              <a:ln w="9525">
                <a:noFill/>
                <a:round/>
                <a:headEnd/>
                <a:tailEnd/>
              </a:ln>
            </p:spPr>
            <p:txBody>
              <a:bodyPr/>
              <a:lstStyle/>
              <a:p>
                <a:endParaRPr lang="en-US"/>
              </a:p>
            </p:txBody>
          </p:sp>
          <p:sp>
            <p:nvSpPr>
              <p:cNvPr id="24709" name="Freeform 98"/>
              <p:cNvSpPr>
                <a:spLocks/>
              </p:cNvSpPr>
              <p:nvPr/>
            </p:nvSpPr>
            <p:spPr bwMode="auto">
              <a:xfrm>
                <a:off x="2219" y="3486"/>
                <a:ext cx="15" cy="21"/>
              </a:xfrm>
              <a:custGeom>
                <a:avLst/>
                <a:gdLst>
                  <a:gd name="T0" fmla="*/ 1 w 30"/>
                  <a:gd name="T1" fmla="*/ 0 h 43"/>
                  <a:gd name="T2" fmla="*/ 0 w 30"/>
                  <a:gd name="T3" fmla="*/ 0 h 43"/>
                  <a:gd name="T4" fmla="*/ 1 w 30"/>
                  <a:gd name="T5" fmla="*/ 0 h 43"/>
                  <a:gd name="T6" fmla="*/ 1 w 30"/>
                  <a:gd name="T7" fmla="*/ 0 h 43"/>
                  <a:gd name="T8" fmla="*/ 1 w 30"/>
                  <a:gd name="T9" fmla="*/ 0 h 43"/>
                  <a:gd name="T10" fmla="*/ 1 w 30"/>
                  <a:gd name="T11" fmla="*/ 0 h 43"/>
                  <a:gd name="T12" fmla="*/ 1 w 30"/>
                  <a:gd name="T13" fmla="*/ 0 h 43"/>
                  <a:gd name="T14" fmla="*/ 1 w 30"/>
                  <a:gd name="T15" fmla="*/ 0 h 43"/>
                  <a:gd name="T16" fmla="*/ 1 w 30"/>
                  <a:gd name="T17" fmla="*/ 0 h 43"/>
                  <a:gd name="T18" fmla="*/ 0 w 30"/>
                  <a:gd name="T19" fmla="*/ 0 h 43"/>
                  <a:gd name="T20" fmla="*/ 0 w 30"/>
                  <a:gd name="T21" fmla="*/ 0 h 43"/>
                  <a:gd name="T22" fmla="*/ 1 w 30"/>
                  <a:gd name="T23" fmla="*/ 0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43"/>
                  <a:gd name="T38" fmla="*/ 30 w 30"/>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43">
                    <a:moveTo>
                      <a:pt x="3" y="21"/>
                    </a:moveTo>
                    <a:lnTo>
                      <a:pt x="0" y="16"/>
                    </a:lnTo>
                    <a:lnTo>
                      <a:pt x="11" y="43"/>
                    </a:lnTo>
                    <a:lnTo>
                      <a:pt x="30" y="33"/>
                    </a:lnTo>
                    <a:lnTo>
                      <a:pt x="19" y="7"/>
                    </a:lnTo>
                    <a:lnTo>
                      <a:pt x="16" y="2"/>
                    </a:lnTo>
                    <a:lnTo>
                      <a:pt x="19" y="7"/>
                    </a:lnTo>
                    <a:lnTo>
                      <a:pt x="13" y="0"/>
                    </a:lnTo>
                    <a:lnTo>
                      <a:pt x="5" y="2"/>
                    </a:lnTo>
                    <a:lnTo>
                      <a:pt x="0" y="8"/>
                    </a:lnTo>
                    <a:lnTo>
                      <a:pt x="0" y="16"/>
                    </a:lnTo>
                    <a:lnTo>
                      <a:pt x="3" y="21"/>
                    </a:lnTo>
                    <a:close/>
                  </a:path>
                </a:pathLst>
              </a:custGeom>
              <a:solidFill>
                <a:srgbClr val="000000"/>
              </a:solidFill>
              <a:ln w="9525">
                <a:noFill/>
                <a:round/>
                <a:headEnd/>
                <a:tailEnd/>
              </a:ln>
            </p:spPr>
            <p:txBody>
              <a:bodyPr/>
              <a:lstStyle/>
              <a:p>
                <a:endParaRPr lang="en-US"/>
              </a:p>
            </p:txBody>
          </p:sp>
          <p:sp>
            <p:nvSpPr>
              <p:cNvPr id="24710" name="Freeform 99"/>
              <p:cNvSpPr>
                <a:spLocks/>
              </p:cNvSpPr>
              <p:nvPr/>
            </p:nvSpPr>
            <p:spPr bwMode="auto">
              <a:xfrm>
                <a:off x="2147" y="3440"/>
                <a:ext cx="79" cy="56"/>
              </a:xfrm>
              <a:custGeom>
                <a:avLst/>
                <a:gdLst>
                  <a:gd name="T0" fmla="*/ 1 w 158"/>
                  <a:gd name="T1" fmla="*/ 0 h 113"/>
                  <a:gd name="T2" fmla="*/ 1 w 158"/>
                  <a:gd name="T3" fmla="*/ 0 h 113"/>
                  <a:gd name="T4" fmla="*/ 1 w 158"/>
                  <a:gd name="T5" fmla="*/ 0 h 113"/>
                  <a:gd name="T6" fmla="*/ 1 w 158"/>
                  <a:gd name="T7" fmla="*/ 0 h 113"/>
                  <a:gd name="T8" fmla="*/ 1 w 158"/>
                  <a:gd name="T9" fmla="*/ 0 h 113"/>
                  <a:gd name="T10" fmla="*/ 0 w 158"/>
                  <a:gd name="T11" fmla="*/ 0 h 113"/>
                  <a:gd name="T12" fmla="*/ 1 w 158"/>
                  <a:gd name="T13" fmla="*/ 0 h 113"/>
                  <a:gd name="T14" fmla="*/ 1 w 158"/>
                  <a:gd name="T15" fmla="*/ 0 h 113"/>
                  <a:gd name="T16" fmla="*/ 1 w 158"/>
                  <a:gd name="T17" fmla="*/ 0 h 113"/>
                  <a:gd name="T18" fmla="*/ 0 w 158"/>
                  <a:gd name="T19" fmla="*/ 0 h 113"/>
                  <a:gd name="T20" fmla="*/ 1 w 158"/>
                  <a:gd name="T21" fmla="*/ 0 h 113"/>
                  <a:gd name="T22" fmla="*/ 1 w 158"/>
                  <a:gd name="T23" fmla="*/ 0 h 11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113"/>
                  <a:gd name="T38" fmla="*/ 158 w 158"/>
                  <a:gd name="T39" fmla="*/ 113 h 11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113">
                    <a:moveTo>
                      <a:pt x="22" y="11"/>
                    </a:moveTo>
                    <a:lnTo>
                      <a:pt x="5" y="20"/>
                    </a:lnTo>
                    <a:lnTo>
                      <a:pt x="145" y="113"/>
                    </a:lnTo>
                    <a:lnTo>
                      <a:pt x="158" y="94"/>
                    </a:lnTo>
                    <a:lnTo>
                      <a:pt x="17" y="2"/>
                    </a:lnTo>
                    <a:lnTo>
                      <a:pt x="0" y="11"/>
                    </a:lnTo>
                    <a:lnTo>
                      <a:pt x="17" y="2"/>
                    </a:lnTo>
                    <a:lnTo>
                      <a:pt x="8" y="0"/>
                    </a:lnTo>
                    <a:lnTo>
                      <a:pt x="1" y="5"/>
                    </a:lnTo>
                    <a:lnTo>
                      <a:pt x="0" y="13"/>
                    </a:lnTo>
                    <a:lnTo>
                      <a:pt x="5" y="20"/>
                    </a:lnTo>
                    <a:lnTo>
                      <a:pt x="22" y="11"/>
                    </a:lnTo>
                    <a:close/>
                  </a:path>
                </a:pathLst>
              </a:custGeom>
              <a:solidFill>
                <a:srgbClr val="000000"/>
              </a:solidFill>
              <a:ln w="9525">
                <a:noFill/>
                <a:round/>
                <a:headEnd/>
                <a:tailEnd/>
              </a:ln>
            </p:spPr>
            <p:txBody>
              <a:bodyPr/>
              <a:lstStyle/>
              <a:p>
                <a:endParaRPr lang="en-US"/>
              </a:p>
            </p:txBody>
          </p:sp>
          <p:sp>
            <p:nvSpPr>
              <p:cNvPr id="24711" name="Freeform 100"/>
              <p:cNvSpPr>
                <a:spLocks/>
              </p:cNvSpPr>
              <p:nvPr/>
            </p:nvSpPr>
            <p:spPr bwMode="auto">
              <a:xfrm>
                <a:off x="2172" y="3506"/>
                <a:ext cx="65" cy="26"/>
              </a:xfrm>
              <a:custGeom>
                <a:avLst/>
                <a:gdLst>
                  <a:gd name="T0" fmla="*/ 1 w 128"/>
                  <a:gd name="T1" fmla="*/ 1 h 52"/>
                  <a:gd name="T2" fmla="*/ 0 w 128"/>
                  <a:gd name="T3" fmla="*/ 1 h 52"/>
                  <a:gd name="T4" fmla="*/ 1 w 128"/>
                  <a:gd name="T5" fmla="*/ 1 h 52"/>
                  <a:gd name="T6" fmla="*/ 1 w 128"/>
                  <a:gd name="T7" fmla="*/ 1 h 52"/>
                  <a:gd name="T8" fmla="*/ 1 w 128"/>
                  <a:gd name="T9" fmla="*/ 1 h 52"/>
                  <a:gd name="T10" fmla="*/ 1 w 128"/>
                  <a:gd name="T11" fmla="*/ 1 h 52"/>
                  <a:gd name="T12" fmla="*/ 1 w 128"/>
                  <a:gd name="T13" fmla="*/ 1 h 52"/>
                  <a:gd name="T14" fmla="*/ 1 w 128"/>
                  <a:gd name="T15" fmla="*/ 1 h 52"/>
                  <a:gd name="T16" fmla="*/ 1 w 128"/>
                  <a:gd name="T17" fmla="*/ 1 h 52"/>
                  <a:gd name="T18" fmla="*/ 1 w 128"/>
                  <a:gd name="T19" fmla="*/ 1 h 52"/>
                  <a:gd name="T20" fmla="*/ 1 w 128"/>
                  <a:gd name="T21" fmla="*/ 1 h 52"/>
                  <a:gd name="T22" fmla="*/ 1 w 128"/>
                  <a:gd name="T23" fmla="*/ 1 h 52"/>
                  <a:gd name="T24" fmla="*/ 1 w 128"/>
                  <a:gd name="T25" fmla="*/ 1 h 52"/>
                  <a:gd name="T26" fmla="*/ 1 w 128"/>
                  <a:gd name="T27" fmla="*/ 1 h 52"/>
                  <a:gd name="T28" fmla="*/ 1 w 128"/>
                  <a:gd name="T29" fmla="*/ 1 h 52"/>
                  <a:gd name="T30" fmla="*/ 1 w 128"/>
                  <a:gd name="T31" fmla="*/ 1 h 52"/>
                  <a:gd name="T32" fmla="*/ 1 w 128"/>
                  <a:gd name="T33" fmla="*/ 1 h 52"/>
                  <a:gd name="T34" fmla="*/ 1 w 128"/>
                  <a:gd name="T35" fmla="*/ 1 h 52"/>
                  <a:gd name="T36" fmla="*/ 1 w 128"/>
                  <a:gd name="T37" fmla="*/ 1 h 52"/>
                  <a:gd name="T38" fmla="*/ 1 w 128"/>
                  <a:gd name="T39" fmla="*/ 1 h 52"/>
                  <a:gd name="T40" fmla="*/ 1 w 128"/>
                  <a:gd name="T41" fmla="*/ 1 h 52"/>
                  <a:gd name="T42" fmla="*/ 1 w 128"/>
                  <a:gd name="T43" fmla="*/ 0 h 52"/>
                  <a:gd name="T44" fmla="*/ 1 w 128"/>
                  <a:gd name="T45" fmla="*/ 1 h 52"/>
                  <a:gd name="T46" fmla="*/ 1 w 128"/>
                  <a:gd name="T47" fmla="*/ 1 h 52"/>
                  <a:gd name="T48" fmla="*/ 1 w 128"/>
                  <a:gd name="T49" fmla="*/ 1 h 52"/>
                  <a:gd name="T50" fmla="*/ 1 w 128"/>
                  <a:gd name="T51" fmla="*/ 1 h 52"/>
                  <a:gd name="T52" fmla="*/ 1 w 128"/>
                  <a:gd name="T53" fmla="*/ 1 h 52"/>
                  <a:gd name="T54" fmla="*/ 1 w 128"/>
                  <a:gd name="T55" fmla="*/ 1 h 52"/>
                  <a:gd name="T56" fmla="*/ 1 w 128"/>
                  <a:gd name="T57" fmla="*/ 1 h 52"/>
                  <a:gd name="T58" fmla="*/ 1 w 128"/>
                  <a:gd name="T59" fmla="*/ 1 h 52"/>
                  <a:gd name="T60" fmla="*/ 1 w 128"/>
                  <a:gd name="T61" fmla="*/ 1 h 52"/>
                  <a:gd name="T62" fmla="*/ 1 w 128"/>
                  <a:gd name="T63" fmla="*/ 1 h 52"/>
                  <a:gd name="T64" fmla="*/ 1 w 128"/>
                  <a:gd name="T65" fmla="*/ 1 h 52"/>
                  <a:gd name="T66" fmla="*/ 1 w 128"/>
                  <a:gd name="T67" fmla="*/ 1 h 5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8"/>
                  <a:gd name="T103" fmla="*/ 0 h 52"/>
                  <a:gd name="T104" fmla="*/ 128 w 128"/>
                  <a:gd name="T105" fmla="*/ 52 h 5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8" h="52">
                    <a:moveTo>
                      <a:pt x="9" y="25"/>
                    </a:moveTo>
                    <a:lnTo>
                      <a:pt x="0" y="44"/>
                    </a:lnTo>
                    <a:lnTo>
                      <a:pt x="2" y="44"/>
                    </a:lnTo>
                    <a:lnTo>
                      <a:pt x="5" y="45"/>
                    </a:lnTo>
                    <a:lnTo>
                      <a:pt x="12" y="47"/>
                    </a:lnTo>
                    <a:lnTo>
                      <a:pt x="20" y="50"/>
                    </a:lnTo>
                    <a:lnTo>
                      <a:pt x="31" y="50"/>
                    </a:lnTo>
                    <a:lnTo>
                      <a:pt x="44" y="52"/>
                    </a:lnTo>
                    <a:lnTo>
                      <a:pt x="59" y="50"/>
                    </a:lnTo>
                    <a:lnTo>
                      <a:pt x="75" y="47"/>
                    </a:lnTo>
                    <a:lnTo>
                      <a:pt x="89" y="44"/>
                    </a:lnTo>
                    <a:lnTo>
                      <a:pt x="102" y="41"/>
                    </a:lnTo>
                    <a:lnTo>
                      <a:pt x="110" y="38"/>
                    </a:lnTo>
                    <a:lnTo>
                      <a:pt x="116" y="34"/>
                    </a:lnTo>
                    <a:lnTo>
                      <a:pt x="121" y="33"/>
                    </a:lnTo>
                    <a:lnTo>
                      <a:pt x="124" y="30"/>
                    </a:lnTo>
                    <a:lnTo>
                      <a:pt x="127" y="27"/>
                    </a:lnTo>
                    <a:lnTo>
                      <a:pt x="128" y="23"/>
                    </a:lnTo>
                    <a:lnTo>
                      <a:pt x="128" y="17"/>
                    </a:lnTo>
                    <a:lnTo>
                      <a:pt x="125" y="9"/>
                    </a:lnTo>
                    <a:lnTo>
                      <a:pt x="121" y="3"/>
                    </a:lnTo>
                    <a:lnTo>
                      <a:pt x="114" y="0"/>
                    </a:lnTo>
                    <a:lnTo>
                      <a:pt x="108" y="3"/>
                    </a:lnTo>
                    <a:lnTo>
                      <a:pt x="99" y="8"/>
                    </a:lnTo>
                    <a:lnTo>
                      <a:pt x="88" y="16"/>
                    </a:lnTo>
                    <a:lnTo>
                      <a:pt x="74" y="20"/>
                    </a:lnTo>
                    <a:lnTo>
                      <a:pt x="64" y="22"/>
                    </a:lnTo>
                    <a:lnTo>
                      <a:pt x="55" y="23"/>
                    </a:lnTo>
                    <a:lnTo>
                      <a:pt x="44" y="25"/>
                    </a:lnTo>
                    <a:lnTo>
                      <a:pt x="33" y="25"/>
                    </a:lnTo>
                    <a:lnTo>
                      <a:pt x="23" y="25"/>
                    </a:lnTo>
                    <a:lnTo>
                      <a:pt x="16" y="25"/>
                    </a:lnTo>
                    <a:lnTo>
                      <a:pt x="11" y="25"/>
                    </a:lnTo>
                    <a:lnTo>
                      <a:pt x="9" y="25"/>
                    </a:lnTo>
                    <a:close/>
                  </a:path>
                </a:pathLst>
              </a:custGeom>
              <a:solidFill>
                <a:srgbClr val="FF7226"/>
              </a:solidFill>
              <a:ln w="9525">
                <a:noFill/>
                <a:round/>
                <a:headEnd/>
                <a:tailEnd/>
              </a:ln>
            </p:spPr>
            <p:txBody>
              <a:bodyPr/>
              <a:lstStyle/>
              <a:p>
                <a:endParaRPr lang="en-US"/>
              </a:p>
            </p:txBody>
          </p:sp>
          <p:sp>
            <p:nvSpPr>
              <p:cNvPr id="24712" name="Freeform 101"/>
              <p:cNvSpPr>
                <a:spLocks/>
              </p:cNvSpPr>
              <p:nvPr/>
            </p:nvSpPr>
            <p:spPr bwMode="auto">
              <a:xfrm>
                <a:off x="2168" y="3516"/>
                <a:ext cx="14" cy="17"/>
              </a:xfrm>
              <a:custGeom>
                <a:avLst/>
                <a:gdLst>
                  <a:gd name="T0" fmla="*/ 1 w 28"/>
                  <a:gd name="T1" fmla="*/ 0 h 35"/>
                  <a:gd name="T2" fmla="*/ 1 w 28"/>
                  <a:gd name="T3" fmla="*/ 0 h 35"/>
                  <a:gd name="T4" fmla="*/ 1 w 28"/>
                  <a:gd name="T5" fmla="*/ 0 h 35"/>
                  <a:gd name="T6" fmla="*/ 1 w 28"/>
                  <a:gd name="T7" fmla="*/ 0 h 35"/>
                  <a:gd name="T8" fmla="*/ 0 w 28"/>
                  <a:gd name="T9" fmla="*/ 0 h 35"/>
                  <a:gd name="T10" fmla="*/ 1 w 28"/>
                  <a:gd name="T11" fmla="*/ 0 h 35"/>
                  <a:gd name="T12" fmla="*/ 0 w 28"/>
                  <a:gd name="T13" fmla="*/ 0 h 35"/>
                  <a:gd name="T14" fmla="*/ 0 w 28"/>
                  <a:gd name="T15" fmla="*/ 0 h 35"/>
                  <a:gd name="T16" fmla="*/ 1 w 28"/>
                  <a:gd name="T17" fmla="*/ 0 h 35"/>
                  <a:gd name="T18" fmla="*/ 1 w 28"/>
                  <a:gd name="T19" fmla="*/ 0 h 35"/>
                  <a:gd name="T20" fmla="*/ 1 w 28"/>
                  <a:gd name="T21" fmla="*/ 0 h 35"/>
                  <a:gd name="T22" fmla="*/ 1 w 28"/>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
                  <a:gd name="T37" fmla="*/ 0 h 35"/>
                  <a:gd name="T38" fmla="*/ 28 w 28"/>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 h="35">
                    <a:moveTo>
                      <a:pt x="14" y="14"/>
                    </a:moveTo>
                    <a:lnTo>
                      <a:pt x="18" y="29"/>
                    </a:lnTo>
                    <a:lnTo>
                      <a:pt x="28" y="10"/>
                    </a:lnTo>
                    <a:lnTo>
                      <a:pt x="9" y="0"/>
                    </a:lnTo>
                    <a:lnTo>
                      <a:pt x="0" y="19"/>
                    </a:lnTo>
                    <a:lnTo>
                      <a:pt x="4" y="33"/>
                    </a:lnTo>
                    <a:lnTo>
                      <a:pt x="0" y="19"/>
                    </a:lnTo>
                    <a:lnTo>
                      <a:pt x="0" y="27"/>
                    </a:lnTo>
                    <a:lnTo>
                      <a:pt x="4" y="33"/>
                    </a:lnTo>
                    <a:lnTo>
                      <a:pt x="12" y="35"/>
                    </a:lnTo>
                    <a:lnTo>
                      <a:pt x="18" y="29"/>
                    </a:lnTo>
                    <a:lnTo>
                      <a:pt x="14" y="14"/>
                    </a:lnTo>
                    <a:close/>
                  </a:path>
                </a:pathLst>
              </a:custGeom>
              <a:solidFill>
                <a:srgbClr val="000000"/>
              </a:solidFill>
              <a:ln w="9525">
                <a:noFill/>
                <a:round/>
                <a:headEnd/>
                <a:tailEnd/>
              </a:ln>
            </p:spPr>
            <p:txBody>
              <a:bodyPr/>
              <a:lstStyle/>
              <a:p>
                <a:endParaRPr lang="en-US"/>
              </a:p>
            </p:txBody>
          </p:sp>
          <p:sp>
            <p:nvSpPr>
              <p:cNvPr id="24713" name="Freeform 102"/>
              <p:cNvSpPr>
                <a:spLocks/>
              </p:cNvSpPr>
              <p:nvPr/>
            </p:nvSpPr>
            <p:spPr bwMode="auto">
              <a:xfrm>
                <a:off x="2170" y="3522"/>
                <a:ext cx="42" cy="15"/>
              </a:xfrm>
              <a:custGeom>
                <a:avLst/>
                <a:gdLst>
                  <a:gd name="T0" fmla="*/ 1 w 83"/>
                  <a:gd name="T1" fmla="*/ 1 h 30"/>
                  <a:gd name="T2" fmla="*/ 1 w 83"/>
                  <a:gd name="T3" fmla="*/ 1 h 30"/>
                  <a:gd name="T4" fmla="*/ 1 w 83"/>
                  <a:gd name="T5" fmla="*/ 1 h 30"/>
                  <a:gd name="T6" fmla="*/ 1 w 83"/>
                  <a:gd name="T7" fmla="*/ 1 h 30"/>
                  <a:gd name="T8" fmla="*/ 1 w 83"/>
                  <a:gd name="T9" fmla="*/ 1 h 30"/>
                  <a:gd name="T10" fmla="*/ 1 w 83"/>
                  <a:gd name="T11" fmla="*/ 1 h 30"/>
                  <a:gd name="T12" fmla="*/ 1 w 83"/>
                  <a:gd name="T13" fmla="*/ 1 h 30"/>
                  <a:gd name="T14" fmla="*/ 1 w 83"/>
                  <a:gd name="T15" fmla="*/ 1 h 30"/>
                  <a:gd name="T16" fmla="*/ 1 w 83"/>
                  <a:gd name="T17" fmla="*/ 0 h 30"/>
                  <a:gd name="T18" fmla="*/ 1 w 83"/>
                  <a:gd name="T19" fmla="*/ 1 h 30"/>
                  <a:gd name="T20" fmla="*/ 0 w 83"/>
                  <a:gd name="T21" fmla="*/ 1 h 30"/>
                  <a:gd name="T22" fmla="*/ 1 w 83"/>
                  <a:gd name="T23" fmla="*/ 1 h 30"/>
                  <a:gd name="T24" fmla="*/ 1 w 83"/>
                  <a:gd name="T25" fmla="*/ 1 h 30"/>
                  <a:gd name="T26" fmla="*/ 1 w 83"/>
                  <a:gd name="T27" fmla="*/ 1 h 30"/>
                  <a:gd name="T28" fmla="*/ 1 w 83"/>
                  <a:gd name="T29" fmla="*/ 1 h 30"/>
                  <a:gd name="T30" fmla="*/ 1 w 83"/>
                  <a:gd name="T31" fmla="*/ 1 h 30"/>
                  <a:gd name="T32" fmla="*/ 1 w 83"/>
                  <a:gd name="T33" fmla="*/ 1 h 30"/>
                  <a:gd name="T34" fmla="*/ 1 w 83"/>
                  <a:gd name="T35" fmla="*/ 1 h 30"/>
                  <a:gd name="T36" fmla="*/ 1 w 83"/>
                  <a:gd name="T37" fmla="*/ 1 h 30"/>
                  <a:gd name="T38" fmla="*/ 1 w 83"/>
                  <a:gd name="T39" fmla="*/ 1 h 30"/>
                  <a:gd name="T40" fmla="*/ 1 w 83"/>
                  <a:gd name="T41" fmla="*/ 1 h 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3"/>
                  <a:gd name="T64" fmla="*/ 0 h 30"/>
                  <a:gd name="T65" fmla="*/ 83 w 83"/>
                  <a:gd name="T66" fmla="*/ 30 h 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3" h="30">
                    <a:moveTo>
                      <a:pt x="79" y="3"/>
                    </a:moveTo>
                    <a:lnTo>
                      <a:pt x="77" y="3"/>
                    </a:lnTo>
                    <a:lnTo>
                      <a:pt x="63" y="6"/>
                    </a:lnTo>
                    <a:lnTo>
                      <a:pt x="49" y="8"/>
                    </a:lnTo>
                    <a:lnTo>
                      <a:pt x="36" y="6"/>
                    </a:lnTo>
                    <a:lnTo>
                      <a:pt x="27" y="6"/>
                    </a:lnTo>
                    <a:lnTo>
                      <a:pt x="21" y="3"/>
                    </a:lnTo>
                    <a:lnTo>
                      <a:pt x="13" y="1"/>
                    </a:lnTo>
                    <a:lnTo>
                      <a:pt x="10" y="0"/>
                    </a:lnTo>
                    <a:lnTo>
                      <a:pt x="10" y="1"/>
                    </a:lnTo>
                    <a:lnTo>
                      <a:pt x="0" y="20"/>
                    </a:lnTo>
                    <a:lnTo>
                      <a:pt x="3" y="22"/>
                    </a:lnTo>
                    <a:lnTo>
                      <a:pt x="7" y="23"/>
                    </a:lnTo>
                    <a:lnTo>
                      <a:pt x="14" y="25"/>
                    </a:lnTo>
                    <a:lnTo>
                      <a:pt x="24" y="28"/>
                    </a:lnTo>
                    <a:lnTo>
                      <a:pt x="36" y="28"/>
                    </a:lnTo>
                    <a:lnTo>
                      <a:pt x="49" y="30"/>
                    </a:lnTo>
                    <a:lnTo>
                      <a:pt x="66" y="28"/>
                    </a:lnTo>
                    <a:lnTo>
                      <a:pt x="83" y="25"/>
                    </a:lnTo>
                    <a:lnTo>
                      <a:pt x="82" y="25"/>
                    </a:lnTo>
                    <a:lnTo>
                      <a:pt x="79" y="3"/>
                    </a:lnTo>
                    <a:close/>
                  </a:path>
                </a:pathLst>
              </a:custGeom>
              <a:solidFill>
                <a:srgbClr val="000000"/>
              </a:solidFill>
              <a:ln w="9525">
                <a:noFill/>
                <a:round/>
                <a:headEnd/>
                <a:tailEnd/>
              </a:ln>
            </p:spPr>
            <p:txBody>
              <a:bodyPr/>
              <a:lstStyle/>
              <a:p>
                <a:endParaRPr lang="en-US"/>
              </a:p>
            </p:txBody>
          </p:sp>
          <p:sp>
            <p:nvSpPr>
              <p:cNvPr id="24714" name="Freeform 103"/>
              <p:cNvSpPr>
                <a:spLocks/>
              </p:cNvSpPr>
              <p:nvPr/>
            </p:nvSpPr>
            <p:spPr bwMode="auto">
              <a:xfrm>
                <a:off x="2209" y="3515"/>
                <a:ext cx="32" cy="20"/>
              </a:xfrm>
              <a:custGeom>
                <a:avLst/>
                <a:gdLst>
                  <a:gd name="T0" fmla="*/ 1 w 64"/>
                  <a:gd name="T1" fmla="*/ 0 h 41"/>
                  <a:gd name="T2" fmla="*/ 1 w 64"/>
                  <a:gd name="T3" fmla="*/ 0 h 41"/>
                  <a:gd name="T4" fmla="*/ 1 w 64"/>
                  <a:gd name="T5" fmla="*/ 0 h 41"/>
                  <a:gd name="T6" fmla="*/ 1 w 64"/>
                  <a:gd name="T7" fmla="*/ 0 h 41"/>
                  <a:gd name="T8" fmla="*/ 1 w 64"/>
                  <a:gd name="T9" fmla="*/ 0 h 41"/>
                  <a:gd name="T10" fmla="*/ 1 w 64"/>
                  <a:gd name="T11" fmla="*/ 0 h 41"/>
                  <a:gd name="T12" fmla="*/ 1 w 64"/>
                  <a:gd name="T13" fmla="*/ 0 h 41"/>
                  <a:gd name="T14" fmla="*/ 1 w 64"/>
                  <a:gd name="T15" fmla="*/ 0 h 41"/>
                  <a:gd name="T16" fmla="*/ 1 w 64"/>
                  <a:gd name="T17" fmla="*/ 0 h 41"/>
                  <a:gd name="T18" fmla="*/ 0 w 64"/>
                  <a:gd name="T19" fmla="*/ 0 h 41"/>
                  <a:gd name="T20" fmla="*/ 1 w 64"/>
                  <a:gd name="T21" fmla="*/ 0 h 41"/>
                  <a:gd name="T22" fmla="*/ 1 w 64"/>
                  <a:gd name="T23" fmla="*/ 0 h 41"/>
                  <a:gd name="T24" fmla="*/ 1 w 64"/>
                  <a:gd name="T25" fmla="*/ 0 h 41"/>
                  <a:gd name="T26" fmla="*/ 1 w 64"/>
                  <a:gd name="T27" fmla="*/ 0 h 41"/>
                  <a:gd name="T28" fmla="*/ 1 w 64"/>
                  <a:gd name="T29" fmla="*/ 0 h 41"/>
                  <a:gd name="T30" fmla="*/ 1 w 64"/>
                  <a:gd name="T31" fmla="*/ 0 h 41"/>
                  <a:gd name="T32" fmla="*/ 1 w 64"/>
                  <a:gd name="T33" fmla="*/ 0 h 41"/>
                  <a:gd name="T34" fmla="*/ 1 w 64"/>
                  <a:gd name="T35" fmla="*/ 0 h 41"/>
                  <a:gd name="T36" fmla="*/ 1 w 64"/>
                  <a:gd name="T37" fmla="*/ 0 h 41"/>
                  <a:gd name="T38" fmla="*/ 1 w 64"/>
                  <a:gd name="T39" fmla="*/ 0 h 41"/>
                  <a:gd name="T40" fmla="*/ 1 w 64"/>
                  <a:gd name="T41" fmla="*/ 0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41"/>
                  <a:gd name="T65" fmla="*/ 64 w 64"/>
                  <a:gd name="T66" fmla="*/ 41 h 4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41">
                    <a:moveTo>
                      <a:pt x="45" y="0"/>
                    </a:moveTo>
                    <a:lnTo>
                      <a:pt x="45" y="2"/>
                    </a:lnTo>
                    <a:lnTo>
                      <a:pt x="43" y="3"/>
                    </a:lnTo>
                    <a:lnTo>
                      <a:pt x="42" y="5"/>
                    </a:lnTo>
                    <a:lnTo>
                      <a:pt x="40" y="6"/>
                    </a:lnTo>
                    <a:lnTo>
                      <a:pt x="37" y="8"/>
                    </a:lnTo>
                    <a:lnTo>
                      <a:pt x="31" y="11"/>
                    </a:lnTo>
                    <a:lnTo>
                      <a:pt x="25" y="13"/>
                    </a:lnTo>
                    <a:lnTo>
                      <a:pt x="12" y="16"/>
                    </a:lnTo>
                    <a:lnTo>
                      <a:pt x="0" y="19"/>
                    </a:lnTo>
                    <a:lnTo>
                      <a:pt x="3" y="41"/>
                    </a:lnTo>
                    <a:lnTo>
                      <a:pt x="18" y="38"/>
                    </a:lnTo>
                    <a:lnTo>
                      <a:pt x="31" y="35"/>
                    </a:lnTo>
                    <a:lnTo>
                      <a:pt x="40" y="30"/>
                    </a:lnTo>
                    <a:lnTo>
                      <a:pt x="47" y="27"/>
                    </a:lnTo>
                    <a:lnTo>
                      <a:pt x="53" y="25"/>
                    </a:lnTo>
                    <a:lnTo>
                      <a:pt x="57" y="21"/>
                    </a:lnTo>
                    <a:lnTo>
                      <a:pt x="62" y="16"/>
                    </a:lnTo>
                    <a:lnTo>
                      <a:pt x="64" y="11"/>
                    </a:lnTo>
                    <a:lnTo>
                      <a:pt x="64" y="13"/>
                    </a:lnTo>
                    <a:lnTo>
                      <a:pt x="45" y="0"/>
                    </a:lnTo>
                    <a:close/>
                  </a:path>
                </a:pathLst>
              </a:custGeom>
              <a:solidFill>
                <a:srgbClr val="000000"/>
              </a:solidFill>
              <a:ln w="9525">
                <a:noFill/>
                <a:round/>
                <a:headEnd/>
                <a:tailEnd/>
              </a:ln>
            </p:spPr>
            <p:txBody>
              <a:bodyPr/>
              <a:lstStyle/>
              <a:p>
                <a:endParaRPr lang="en-US"/>
              </a:p>
            </p:txBody>
          </p:sp>
          <p:sp>
            <p:nvSpPr>
              <p:cNvPr id="24715" name="Freeform 104"/>
              <p:cNvSpPr>
                <a:spLocks/>
              </p:cNvSpPr>
              <p:nvPr/>
            </p:nvSpPr>
            <p:spPr bwMode="auto">
              <a:xfrm>
                <a:off x="2229" y="3501"/>
                <a:ext cx="13" cy="20"/>
              </a:xfrm>
              <a:custGeom>
                <a:avLst/>
                <a:gdLst>
                  <a:gd name="T0" fmla="*/ 1 w 26"/>
                  <a:gd name="T1" fmla="*/ 0 h 41"/>
                  <a:gd name="T2" fmla="*/ 1 w 26"/>
                  <a:gd name="T3" fmla="*/ 0 h 41"/>
                  <a:gd name="T4" fmla="*/ 0 w 26"/>
                  <a:gd name="T5" fmla="*/ 0 h 41"/>
                  <a:gd name="T6" fmla="*/ 1 w 26"/>
                  <a:gd name="T7" fmla="*/ 0 h 41"/>
                  <a:gd name="T8" fmla="*/ 1 w 26"/>
                  <a:gd name="T9" fmla="*/ 0 h 41"/>
                  <a:gd name="T10" fmla="*/ 1 w 26"/>
                  <a:gd name="T11" fmla="*/ 0 h 41"/>
                  <a:gd name="T12" fmla="*/ 1 w 26"/>
                  <a:gd name="T13" fmla="*/ 0 h 41"/>
                  <a:gd name="T14" fmla="*/ 1 w 26"/>
                  <a:gd name="T15" fmla="*/ 0 h 41"/>
                  <a:gd name="T16" fmla="*/ 1 w 26"/>
                  <a:gd name="T17" fmla="*/ 0 h 41"/>
                  <a:gd name="T18" fmla="*/ 1 w 26"/>
                  <a:gd name="T19" fmla="*/ 0 h 41"/>
                  <a:gd name="T20" fmla="*/ 1 w 26"/>
                  <a:gd name="T21" fmla="*/ 0 h 41"/>
                  <a:gd name="T22" fmla="*/ 1 w 26"/>
                  <a:gd name="T23" fmla="*/ 0 h 41"/>
                  <a:gd name="T24" fmla="*/ 1 w 26"/>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
                  <a:gd name="T40" fmla="*/ 0 h 41"/>
                  <a:gd name="T41" fmla="*/ 26 w 26"/>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 h="41">
                    <a:moveTo>
                      <a:pt x="1" y="22"/>
                    </a:moveTo>
                    <a:lnTo>
                      <a:pt x="1" y="22"/>
                    </a:lnTo>
                    <a:lnTo>
                      <a:pt x="0" y="22"/>
                    </a:lnTo>
                    <a:lnTo>
                      <a:pt x="3" y="25"/>
                    </a:lnTo>
                    <a:lnTo>
                      <a:pt x="4" y="31"/>
                    </a:lnTo>
                    <a:lnTo>
                      <a:pt x="6" y="28"/>
                    </a:lnTo>
                    <a:lnTo>
                      <a:pt x="25" y="41"/>
                    </a:lnTo>
                    <a:lnTo>
                      <a:pt x="26" y="25"/>
                    </a:lnTo>
                    <a:lnTo>
                      <a:pt x="22" y="16"/>
                    </a:lnTo>
                    <a:lnTo>
                      <a:pt x="15" y="6"/>
                    </a:lnTo>
                    <a:lnTo>
                      <a:pt x="1" y="0"/>
                    </a:lnTo>
                    <a:lnTo>
                      <a:pt x="1" y="22"/>
                    </a:lnTo>
                    <a:close/>
                  </a:path>
                </a:pathLst>
              </a:custGeom>
              <a:solidFill>
                <a:srgbClr val="000000"/>
              </a:solidFill>
              <a:ln w="9525">
                <a:noFill/>
                <a:round/>
                <a:headEnd/>
                <a:tailEnd/>
              </a:ln>
            </p:spPr>
            <p:txBody>
              <a:bodyPr/>
              <a:lstStyle/>
              <a:p>
                <a:endParaRPr lang="en-US"/>
              </a:p>
            </p:txBody>
          </p:sp>
          <p:sp>
            <p:nvSpPr>
              <p:cNvPr id="24716" name="Freeform 105"/>
              <p:cNvSpPr>
                <a:spLocks/>
              </p:cNvSpPr>
              <p:nvPr/>
            </p:nvSpPr>
            <p:spPr bwMode="auto">
              <a:xfrm>
                <a:off x="2208" y="3501"/>
                <a:ext cx="22" cy="21"/>
              </a:xfrm>
              <a:custGeom>
                <a:avLst/>
                <a:gdLst>
                  <a:gd name="T0" fmla="*/ 1 w 44"/>
                  <a:gd name="T1" fmla="*/ 1 h 42"/>
                  <a:gd name="T2" fmla="*/ 1 w 44"/>
                  <a:gd name="T3" fmla="*/ 1 h 42"/>
                  <a:gd name="T4" fmla="*/ 1 w 44"/>
                  <a:gd name="T5" fmla="*/ 1 h 42"/>
                  <a:gd name="T6" fmla="*/ 1 w 44"/>
                  <a:gd name="T7" fmla="*/ 1 h 42"/>
                  <a:gd name="T8" fmla="*/ 1 w 44"/>
                  <a:gd name="T9" fmla="*/ 1 h 42"/>
                  <a:gd name="T10" fmla="*/ 1 w 44"/>
                  <a:gd name="T11" fmla="*/ 1 h 42"/>
                  <a:gd name="T12" fmla="*/ 1 w 44"/>
                  <a:gd name="T13" fmla="*/ 0 h 42"/>
                  <a:gd name="T14" fmla="*/ 1 w 44"/>
                  <a:gd name="T15" fmla="*/ 1 h 42"/>
                  <a:gd name="T16" fmla="*/ 1 w 44"/>
                  <a:gd name="T17" fmla="*/ 1 h 42"/>
                  <a:gd name="T18" fmla="*/ 1 w 44"/>
                  <a:gd name="T19" fmla="*/ 1 h 42"/>
                  <a:gd name="T20" fmla="*/ 1 w 44"/>
                  <a:gd name="T21" fmla="*/ 1 h 42"/>
                  <a:gd name="T22" fmla="*/ 0 w 44"/>
                  <a:gd name="T23" fmla="*/ 1 h 42"/>
                  <a:gd name="T24" fmla="*/ 1 w 44"/>
                  <a:gd name="T25" fmla="*/ 1 h 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
                  <a:gd name="T40" fmla="*/ 0 h 42"/>
                  <a:gd name="T41" fmla="*/ 44 w 44"/>
                  <a:gd name="T42" fmla="*/ 42 h 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 h="42">
                    <a:moveTo>
                      <a:pt x="7" y="42"/>
                    </a:moveTo>
                    <a:lnTo>
                      <a:pt x="5" y="42"/>
                    </a:lnTo>
                    <a:lnTo>
                      <a:pt x="22" y="36"/>
                    </a:lnTo>
                    <a:lnTo>
                      <a:pt x="35" y="28"/>
                    </a:lnTo>
                    <a:lnTo>
                      <a:pt x="43" y="24"/>
                    </a:lnTo>
                    <a:lnTo>
                      <a:pt x="44" y="22"/>
                    </a:lnTo>
                    <a:lnTo>
                      <a:pt x="44" y="0"/>
                    </a:lnTo>
                    <a:lnTo>
                      <a:pt x="33" y="5"/>
                    </a:lnTo>
                    <a:lnTo>
                      <a:pt x="22" y="9"/>
                    </a:lnTo>
                    <a:lnTo>
                      <a:pt x="13" y="17"/>
                    </a:lnTo>
                    <a:lnTo>
                      <a:pt x="2" y="20"/>
                    </a:lnTo>
                    <a:lnTo>
                      <a:pt x="0" y="20"/>
                    </a:lnTo>
                    <a:lnTo>
                      <a:pt x="7" y="42"/>
                    </a:lnTo>
                    <a:close/>
                  </a:path>
                </a:pathLst>
              </a:custGeom>
              <a:solidFill>
                <a:srgbClr val="000000"/>
              </a:solidFill>
              <a:ln w="9525">
                <a:noFill/>
                <a:round/>
                <a:headEnd/>
                <a:tailEnd/>
              </a:ln>
            </p:spPr>
            <p:txBody>
              <a:bodyPr/>
              <a:lstStyle/>
              <a:p>
                <a:endParaRPr lang="en-US"/>
              </a:p>
            </p:txBody>
          </p:sp>
          <p:sp>
            <p:nvSpPr>
              <p:cNvPr id="24717" name="Freeform 106"/>
              <p:cNvSpPr>
                <a:spLocks/>
              </p:cNvSpPr>
              <p:nvPr/>
            </p:nvSpPr>
            <p:spPr bwMode="auto">
              <a:xfrm>
                <a:off x="2172" y="3511"/>
                <a:ext cx="39" cy="13"/>
              </a:xfrm>
              <a:custGeom>
                <a:avLst/>
                <a:gdLst>
                  <a:gd name="T0" fmla="*/ 0 w 79"/>
                  <a:gd name="T1" fmla="*/ 0 h 27"/>
                  <a:gd name="T2" fmla="*/ 0 w 79"/>
                  <a:gd name="T3" fmla="*/ 0 h 27"/>
                  <a:gd name="T4" fmla="*/ 0 w 79"/>
                  <a:gd name="T5" fmla="*/ 0 h 27"/>
                  <a:gd name="T6" fmla="*/ 0 w 79"/>
                  <a:gd name="T7" fmla="*/ 0 h 27"/>
                  <a:gd name="T8" fmla="*/ 0 w 79"/>
                  <a:gd name="T9" fmla="*/ 0 h 27"/>
                  <a:gd name="T10" fmla="*/ 0 w 79"/>
                  <a:gd name="T11" fmla="*/ 0 h 27"/>
                  <a:gd name="T12" fmla="*/ 0 w 79"/>
                  <a:gd name="T13" fmla="*/ 0 h 27"/>
                  <a:gd name="T14" fmla="*/ 0 w 79"/>
                  <a:gd name="T15" fmla="*/ 0 h 27"/>
                  <a:gd name="T16" fmla="*/ 0 w 79"/>
                  <a:gd name="T17" fmla="*/ 0 h 27"/>
                  <a:gd name="T18" fmla="*/ 0 w 79"/>
                  <a:gd name="T19" fmla="*/ 0 h 27"/>
                  <a:gd name="T20" fmla="*/ 0 w 79"/>
                  <a:gd name="T21" fmla="*/ 0 h 27"/>
                  <a:gd name="T22" fmla="*/ 0 w 79"/>
                  <a:gd name="T23" fmla="*/ 0 h 27"/>
                  <a:gd name="T24" fmla="*/ 0 w 79"/>
                  <a:gd name="T25" fmla="*/ 0 h 27"/>
                  <a:gd name="T26" fmla="*/ 0 w 79"/>
                  <a:gd name="T27" fmla="*/ 0 h 27"/>
                  <a:gd name="T28" fmla="*/ 0 w 79"/>
                  <a:gd name="T29" fmla="*/ 0 h 27"/>
                  <a:gd name="T30" fmla="*/ 0 w 79"/>
                  <a:gd name="T31" fmla="*/ 0 h 27"/>
                  <a:gd name="T32" fmla="*/ 0 w 79"/>
                  <a:gd name="T33" fmla="*/ 0 h 27"/>
                  <a:gd name="T34" fmla="*/ 0 w 79"/>
                  <a:gd name="T35" fmla="*/ 0 h 27"/>
                  <a:gd name="T36" fmla="*/ 0 w 79"/>
                  <a:gd name="T37" fmla="*/ 0 h 27"/>
                  <a:gd name="T38" fmla="*/ 0 w 79"/>
                  <a:gd name="T39" fmla="*/ 0 h 27"/>
                  <a:gd name="T40" fmla="*/ 0 w 79"/>
                  <a:gd name="T41" fmla="*/ 0 h 27"/>
                  <a:gd name="T42" fmla="*/ 0 w 79"/>
                  <a:gd name="T43" fmla="*/ 0 h 27"/>
                  <a:gd name="T44" fmla="*/ 0 w 79"/>
                  <a:gd name="T45" fmla="*/ 0 h 27"/>
                  <a:gd name="T46" fmla="*/ 0 w 79"/>
                  <a:gd name="T47" fmla="*/ 0 h 27"/>
                  <a:gd name="T48" fmla="*/ 0 w 79"/>
                  <a:gd name="T49" fmla="*/ 0 h 27"/>
                  <a:gd name="T50" fmla="*/ 0 w 79"/>
                  <a:gd name="T51" fmla="*/ 0 h 2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9"/>
                  <a:gd name="T79" fmla="*/ 0 h 27"/>
                  <a:gd name="T80" fmla="*/ 79 w 79"/>
                  <a:gd name="T81" fmla="*/ 27 h 2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9" h="27">
                    <a:moveTo>
                      <a:pt x="21" y="21"/>
                    </a:moveTo>
                    <a:lnTo>
                      <a:pt x="11" y="27"/>
                    </a:lnTo>
                    <a:lnTo>
                      <a:pt x="13" y="27"/>
                    </a:lnTo>
                    <a:lnTo>
                      <a:pt x="18" y="27"/>
                    </a:lnTo>
                    <a:lnTo>
                      <a:pt x="25" y="27"/>
                    </a:lnTo>
                    <a:lnTo>
                      <a:pt x="35" y="27"/>
                    </a:lnTo>
                    <a:lnTo>
                      <a:pt x="46" y="27"/>
                    </a:lnTo>
                    <a:lnTo>
                      <a:pt x="58" y="25"/>
                    </a:lnTo>
                    <a:lnTo>
                      <a:pt x="68" y="24"/>
                    </a:lnTo>
                    <a:lnTo>
                      <a:pt x="79" y="22"/>
                    </a:lnTo>
                    <a:lnTo>
                      <a:pt x="72" y="0"/>
                    </a:lnTo>
                    <a:lnTo>
                      <a:pt x="65" y="2"/>
                    </a:lnTo>
                    <a:lnTo>
                      <a:pt x="55" y="4"/>
                    </a:lnTo>
                    <a:lnTo>
                      <a:pt x="46" y="5"/>
                    </a:lnTo>
                    <a:lnTo>
                      <a:pt x="35" y="5"/>
                    </a:lnTo>
                    <a:lnTo>
                      <a:pt x="25" y="5"/>
                    </a:lnTo>
                    <a:lnTo>
                      <a:pt x="18" y="5"/>
                    </a:lnTo>
                    <a:lnTo>
                      <a:pt x="13" y="5"/>
                    </a:lnTo>
                    <a:lnTo>
                      <a:pt x="11" y="5"/>
                    </a:lnTo>
                    <a:lnTo>
                      <a:pt x="2" y="11"/>
                    </a:lnTo>
                    <a:lnTo>
                      <a:pt x="11" y="5"/>
                    </a:lnTo>
                    <a:lnTo>
                      <a:pt x="4" y="8"/>
                    </a:lnTo>
                    <a:lnTo>
                      <a:pt x="0" y="16"/>
                    </a:lnTo>
                    <a:lnTo>
                      <a:pt x="4" y="24"/>
                    </a:lnTo>
                    <a:lnTo>
                      <a:pt x="11" y="27"/>
                    </a:lnTo>
                    <a:lnTo>
                      <a:pt x="21" y="21"/>
                    </a:lnTo>
                    <a:close/>
                  </a:path>
                </a:pathLst>
              </a:custGeom>
              <a:solidFill>
                <a:srgbClr val="000000"/>
              </a:solidFill>
              <a:ln w="9525">
                <a:noFill/>
                <a:round/>
                <a:headEnd/>
                <a:tailEnd/>
              </a:ln>
            </p:spPr>
            <p:txBody>
              <a:bodyPr/>
              <a:lstStyle/>
              <a:p>
                <a:endParaRPr lang="en-US"/>
              </a:p>
            </p:txBody>
          </p:sp>
          <p:sp>
            <p:nvSpPr>
              <p:cNvPr id="24718" name="Freeform 107"/>
              <p:cNvSpPr>
                <a:spLocks/>
              </p:cNvSpPr>
              <p:nvPr/>
            </p:nvSpPr>
            <p:spPr bwMode="auto">
              <a:xfrm>
                <a:off x="1990" y="3505"/>
                <a:ext cx="272" cy="336"/>
              </a:xfrm>
              <a:custGeom>
                <a:avLst/>
                <a:gdLst>
                  <a:gd name="T0" fmla="*/ 1 w 543"/>
                  <a:gd name="T1" fmla="*/ 1 h 672"/>
                  <a:gd name="T2" fmla="*/ 1 w 543"/>
                  <a:gd name="T3" fmla="*/ 1 h 672"/>
                  <a:gd name="T4" fmla="*/ 1 w 543"/>
                  <a:gd name="T5" fmla="*/ 1 h 672"/>
                  <a:gd name="T6" fmla="*/ 1 w 543"/>
                  <a:gd name="T7" fmla="*/ 1 h 672"/>
                  <a:gd name="T8" fmla="*/ 1 w 543"/>
                  <a:gd name="T9" fmla="*/ 1 h 672"/>
                  <a:gd name="T10" fmla="*/ 1 w 543"/>
                  <a:gd name="T11" fmla="*/ 1 h 672"/>
                  <a:gd name="T12" fmla="*/ 1 w 543"/>
                  <a:gd name="T13" fmla="*/ 1 h 672"/>
                  <a:gd name="T14" fmla="*/ 1 w 543"/>
                  <a:gd name="T15" fmla="*/ 1 h 672"/>
                  <a:gd name="T16" fmla="*/ 1 w 543"/>
                  <a:gd name="T17" fmla="*/ 1 h 672"/>
                  <a:gd name="T18" fmla="*/ 1 w 543"/>
                  <a:gd name="T19" fmla="*/ 1 h 672"/>
                  <a:gd name="T20" fmla="*/ 1 w 543"/>
                  <a:gd name="T21" fmla="*/ 1 h 672"/>
                  <a:gd name="T22" fmla="*/ 1 w 543"/>
                  <a:gd name="T23" fmla="*/ 1 h 672"/>
                  <a:gd name="T24" fmla="*/ 1 w 543"/>
                  <a:gd name="T25" fmla="*/ 1 h 672"/>
                  <a:gd name="T26" fmla="*/ 1 w 543"/>
                  <a:gd name="T27" fmla="*/ 1 h 672"/>
                  <a:gd name="T28" fmla="*/ 1 w 543"/>
                  <a:gd name="T29" fmla="*/ 1 h 672"/>
                  <a:gd name="T30" fmla="*/ 1 w 543"/>
                  <a:gd name="T31" fmla="*/ 1 h 672"/>
                  <a:gd name="T32" fmla="*/ 1 w 543"/>
                  <a:gd name="T33" fmla="*/ 1 h 672"/>
                  <a:gd name="T34" fmla="*/ 1 w 543"/>
                  <a:gd name="T35" fmla="*/ 1 h 672"/>
                  <a:gd name="T36" fmla="*/ 1 w 543"/>
                  <a:gd name="T37" fmla="*/ 1 h 672"/>
                  <a:gd name="T38" fmla="*/ 1 w 543"/>
                  <a:gd name="T39" fmla="*/ 1 h 672"/>
                  <a:gd name="T40" fmla="*/ 1 w 543"/>
                  <a:gd name="T41" fmla="*/ 1 h 672"/>
                  <a:gd name="T42" fmla="*/ 1 w 543"/>
                  <a:gd name="T43" fmla="*/ 1 h 672"/>
                  <a:gd name="T44" fmla="*/ 1 w 543"/>
                  <a:gd name="T45" fmla="*/ 0 h 672"/>
                  <a:gd name="T46" fmla="*/ 1 w 543"/>
                  <a:gd name="T47" fmla="*/ 1 h 672"/>
                  <a:gd name="T48" fmla="*/ 1 w 543"/>
                  <a:gd name="T49" fmla="*/ 1 h 672"/>
                  <a:gd name="T50" fmla="*/ 1 w 543"/>
                  <a:gd name="T51" fmla="*/ 1 h 672"/>
                  <a:gd name="T52" fmla="*/ 1 w 543"/>
                  <a:gd name="T53" fmla="*/ 1 h 672"/>
                  <a:gd name="T54" fmla="*/ 1 w 543"/>
                  <a:gd name="T55" fmla="*/ 1 h 672"/>
                  <a:gd name="T56" fmla="*/ 1 w 543"/>
                  <a:gd name="T57" fmla="*/ 1 h 672"/>
                  <a:gd name="T58" fmla="*/ 1 w 543"/>
                  <a:gd name="T59" fmla="*/ 1 h 672"/>
                  <a:gd name="T60" fmla="*/ 1 w 543"/>
                  <a:gd name="T61" fmla="*/ 1 h 672"/>
                  <a:gd name="T62" fmla="*/ 1 w 543"/>
                  <a:gd name="T63" fmla="*/ 1 h 672"/>
                  <a:gd name="T64" fmla="*/ 1 w 543"/>
                  <a:gd name="T65" fmla="*/ 1 h 672"/>
                  <a:gd name="T66" fmla="*/ 1 w 543"/>
                  <a:gd name="T67" fmla="*/ 1 h 672"/>
                  <a:gd name="T68" fmla="*/ 1 w 543"/>
                  <a:gd name="T69" fmla="*/ 1 h 672"/>
                  <a:gd name="T70" fmla="*/ 1 w 543"/>
                  <a:gd name="T71" fmla="*/ 1 h 672"/>
                  <a:gd name="T72" fmla="*/ 1 w 543"/>
                  <a:gd name="T73" fmla="*/ 1 h 672"/>
                  <a:gd name="T74" fmla="*/ 1 w 543"/>
                  <a:gd name="T75" fmla="*/ 1 h 672"/>
                  <a:gd name="T76" fmla="*/ 1 w 543"/>
                  <a:gd name="T77" fmla="*/ 1 h 672"/>
                  <a:gd name="T78" fmla="*/ 1 w 543"/>
                  <a:gd name="T79" fmla="*/ 1 h 672"/>
                  <a:gd name="T80" fmla="*/ 1 w 543"/>
                  <a:gd name="T81" fmla="*/ 1 h 672"/>
                  <a:gd name="T82" fmla="*/ 1 w 543"/>
                  <a:gd name="T83" fmla="*/ 1 h 672"/>
                  <a:gd name="T84" fmla="*/ 1 w 543"/>
                  <a:gd name="T85" fmla="*/ 1 h 672"/>
                  <a:gd name="T86" fmla="*/ 1 w 543"/>
                  <a:gd name="T87" fmla="*/ 1 h 672"/>
                  <a:gd name="T88" fmla="*/ 1 w 543"/>
                  <a:gd name="T89" fmla="*/ 1 h 672"/>
                  <a:gd name="T90" fmla="*/ 1 w 543"/>
                  <a:gd name="T91" fmla="*/ 1 h 672"/>
                  <a:gd name="T92" fmla="*/ 0 w 543"/>
                  <a:gd name="T93" fmla="*/ 1 h 672"/>
                  <a:gd name="T94" fmla="*/ 0 w 543"/>
                  <a:gd name="T95" fmla="*/ 1 h 672"/>
                  <a:gd name="T96" fmla="*/ 1 w 543"/>
                  <a:gd name="T97" fmla="*/ 1 h 672"/>
                  <a:gd name="T98" fmla="*/ 1 w 543"/>
                  <a:gd name="T99" fmla="*/ 1 h 672"/>
                  <a:gd name="T100" fmla="*/ 1 w 543"/>
                  <a:gd name="T101" fmla="*/ 1 h 672"/>
                  <a:gd name="T102" fmla="*/ 1 w 543"/>
                  <a:gd name="T103" fmla="*/ 1 h 672"/>
                  <a:gd name="T104" fmla="*/ 1 w 543"/>
                  <a:gd name="T105" fmla="*/ 1 h 672"/>
                  <a:gd name="T106" fmla="*/ 1 w 543"/>
                  <a:gd name="T107" fmla="*/ 1 h 672"/>
                  <a:gd name="T108" fmla="*/ 1 w 543"/>
                  <a:gd name="T109" fmla="*/ 1 h 672"/>
                  <a:gd name="T110" fmla="*/ 1 w 543"/>
                  <a:gd name="T111" fmla="*/ 1 h 672"/>
                  <a:gd name="T112" fmla="*/ 1 w 543"/>
                  <a:gd name="T113" fmla="*/ 1 h 672"/>
                  <a:gd name="T114" fmla="*/ 1 w 543"/>
                  <a:gd name="T115" fmla="*/ 1 h 672"/>
                  <a:gd name="T116" fmla="*/ 1 w 543"/>
                  <a:gd name="T117" fmla="*/ 1 h 672"/>
                  <a:gd name="T118" fmla="*/ 1 w 543"/>
                  <a:gd name="T119" fmla="*/ 1 h 672"/>
                  <a:gd name="T120" fmla="*/ 1 w 543"/>
                  <a:gd name="T121" fmla="*/ 1 h 67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3"/>
                  <a:gd name="T184" fmla="*/ 0 h 672"/>
                  <a:gd name="T185" fmla="*/ 543 w 543"/>
                  <a:gd name="T186" fmla="*/ 672 h 67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3" h="672">
                    <a:moveTo>
                      <a:pt x="343" y="431"/>
                    </a:moveTo>
                    <a:lnTo>
                      <a:pt x="329" y="424"/>
                    </a:lnTo>
                    <a:lnTo>
                      <a:pt x="316" y="417"/>
                    </a:lnTo>
                    <a:lnTo>
                      <a:pt x="307" y="410"/>
                    </a:lnTo>
                    <a:lnTo>
                      <a:pt x="301" y="403"/>
                    </a:lnTo>
                    <a:lnTo>
                      <a:pt x="298" y="396"/>
                    </a:lnTo>
                    <a:lnTo>
                      <a:pt x="296" y="392"/>
                    </a:lnTo>
                    <a:lnTo>
                      <a:pt x="296" y="390"/>
                    </a:lnTo>
                    <a:lnTo>
                      <a:pt x="291" y="266"/>
                    </a:lnTo>
                    <a:lnTo>
                      <a:pt x="293" y="265"/>
                    </a:lnTo>
                    <a:lnTo>
                      <a:pt x="299" y="260"/>
                    </a:lnTo>
                    <a:lnTo>
                      <a:pt x="305" y="254"/>
                    </a:lnTo>
                    <a:lnTo>
                      <a:pt x="313" y="248"/>
                    </a:lnTo>
                    <a:lnTo>
                      <a:pt x="321" y="241"/>
                    </a:lnTo>
                    <a:lnTo>
                      <a:pt x="327" y="237"/>
                    </a:lnTo>
                    <a:lnTo>
                      <a:pt x="331" y="234"/>
                    </a:lnTo>
                    <a:lnTo>
                      <a:pt x="331" y="235"/>
                    </a:lnTo>
                    <a:lnTo>
                      <a:pt x="321" y="243"/>
                    </a:lnTo>
                    <a:lnTo>
                      <a:pt x="309" y="254"/>
                    </a:lnTo>
                    <a:lnTo>
                      <a:pt x="296" y="263"/>
                    </a:lnTo>
                    <a:lnTo>
                      <a:pt x="291" y="266"/>
                    </a:lnTo>
                    <a:lnTo>
                      <a:pt x="257" y="266"/>
                    </a:lnTo>
                    <a:lnTo>
                      <a:pt x="255" y="263"/>
                    </a:lnTo>
                    <a:lnTo>
                      <a:pt x="251" y="257"/>
                    </a:lnTo>
                    <a:lnTo>
                      <a:pt x="246" y="249"/>
                    </a:lnTo>
                    <a:lnTo>
                      <a:pt x="240" y="241"/>
                    </a:lnTo>
                    <a:lnTo>
                      <a:pt x="233" y="230"/>
                    </a:lnTo>
                    <a:lnTo>
                      <a:pt x="229" y="218"/>
                    </a:lnTo>
                    <a:lnTo>
                      <a:pt x="224" y="205"/>
                    </a:lnTo>
                    <a:lnTo>
                      <a:pt x="222" y="201"/>
                    </a:lnTo>
                    <a:lnTo>
                      <a:pt x="224" y="198"/>
                    </a:lnTo>
                    <a:lnTo>
                      <a:pt x="230" y="187"/>
                    </a:lnTo>
                    <a:lnTo>
                      <a:pt x="240" y="174"/>
                    </a:lnTo>
                    <a:lnTo>
                      <a:pt x="251" y="160"/>
                    </a:lnTo>
                    <a:lnTo>
                      <a:pt x="258" y="151"/>
                    </a:lnTo>
                    <a:lnTo>
                      <a:pt x="266" y="138"/>
                    </a:lnTo>
                    <a:lnTo>
                      <a:pt x="277" y="124"/>
                    </a:lnTo>
                    <a:lnTo>
                      <a:pt x="287" y="107"/>
                    </a:lnTo>
                    <a:lnTo>
                      <a:pt x="298" y="93"/>
                    </a:lnTo>
                    <a:lnTo>
                      <a:pt x="307" y="79"/>
                    </a:lnTo>
                    <a:lnTo>
                      <a:pt x="315" y="68"/>
                    </a:lnTo>
                    <a:lnTo>
                      <a:pt x="321" y="60"/>
                    </a:lnTo>
                    <a:lnTo>
                      <a:pt x="334" y="52"/>
                    </a:lnTo>
                    <a:lnTo>
                      <a:pt x="346" y="47"/>
                    </a:lnTo>
                    <a:lnTo>
                      <a:pt x="357" y="46"/>
                    </a:lnTo>
                    <a:lnTo>
                      <a:pt x="362" y="46"/>
                    </a:lnTo>
                    <a:lnTo>
                      <a:pt x="365" y="47"/>
                    </a:lnTo>
                    <a:lnTo>
                      <a:pt x="371" y="49"/>
                    </a:lnTo>
                    <a:lnTo>
                      <a:pt x="382" y="52"/>
                    </a:lnTo>
                    <a:lnTo>
                      <a:pt x="393" y="54"/>
                    </a:lnTo>
                    <a:lnTo>
                      <a:pt x="399" y="54"/>
                    </a:lnTo>
                    <a:lnTo>
                      <a:pt x="409" y="54"/>
                    </a:lnTo>
                    <a:lnTo>
                      <a:pt x="418" y="52"/>
                    </a:lnTo>
                    <a:lnTo>
                      <a:pt x="428" y="51"/>
                    </a:lnTo>
                    <a:lnTo>
                      <a:pt x="437" y="49"/>
                    </a:lnTo>
                    <a:lnTo>
                      <a:pt x="448" y="46"/>
                    </a:lnTo>
                    <a:lnTo>
                      <a:pt x="457" y="44"/>
                    </a:lnTo>
                    <a:lnTo>
                      <a:pt x="465" y="41"/>
                    </a:lnTo>
                    <a:lnTo>
                      <a:pt x="478" y="35"/>
                    </a:lnTo>
                    <a:lnTo>
                      <a:pt x="487" y="29"/>
                    </a:lnTo>
                    <a:lnTo>
                      <a:pt x="492" y="24"/>
                    </a:lnTo>
                    <a:lnTo>
                      <a:pt x="493" y="22"/>
                    </a:lnTo>
                    <a:lnTo>
                      <a:pt x="492" y="19"/>
                    </a:lnTo>
                    <a:lnTo>
                      <a:pt x="489" y="13"/>
                    </a:lnTo>
                    <a:lnTo>
                      <a:pt x="486" y="5"/>
                    </a:lnTo>
                    <a:lnTo>
                      <a:pt x="487" y="2"/>
                    </a:lnTo>
                    <a:lnTo>
                      <a:pt x="490" y="0"/>
                    </a:lnTo>
                    <a:lnTo>
                      <a:pt x="496" y="0"/>
                    </a:lnTo>
                    <a:lnTo>
                      <a:pt x="503" y="2"/>
                    </a:lnTo>
                    <a:lnTo>
                      <a:pt x="511" y="2"/>
                    </a:lnTo>
                    <a:lnTo>
                      <a:pt x="517" y="4"/>
                    </a:lnTo>
                    <a:lnTo>
                      <a:pt x="525" y="5"/>
                    </a:lnTo>
                    <a:lnTo>
                      <a:pt x="531" y="7"/>
                    </a:lnTo>
                    <a:lnTo>
                      <a:pt x="536" y="8"/>
                    </a:lnTo>
                    <a:lnTo>
                      <a:pt x="539" y="15"/>
                    </a:lnTo>
                    <a:lnTo>
                      <a:pt x="540" y="25"/>
                    </a:lnTo>
                    <a:lnTo>
                      <a:pt x="542" y="41"/>
                    </a:lnTo>
                    <a:lnTo>
                      <a:pt x="543" y="58"/>
                    </a:lnTo>
                    <a:lnTo>
                      <a:pt x="543" y="76"/>
                    </a:lnTo>
                    <a:lnTo>
                      <a:pt x="543" y="91"/>
                    </a:lnTo>
                    <a:lnTo>
                      <a:pt x="543" y="101"/>
                    </a:lnTo>
                    <a:lnTo>
                      <a:pt x="543" y="105"/>
                    </a:lnTo>
                    <a:lnTo>
                      <a:pt x="543" y="110"/>
                    </a:lnTo>
                    <a:lnTo>
                      <a:pt x="543" y="121"/>
                    </a:lnTo>
                    <a:lnTo>
                      <a:pt x="543" y="138"/>
                    </a:lnTo>
                    <a:lnTo>
                      <a:pt x="542" y="162"/>
                    </a:lnTo>
                    <a:lnTo>
                      <a:pt x="540" y="190"/>
                    </a:lnTo>
                    <a:lnTo>
                      <a:pt x="539" y="219"/>
                    </a:lnTo>
                    <a:lnTo>
                      <a:pt x="536" y="252"/>
                    </a:lnTo>
                    <a:lnTo>
                      <a:pt x="531" y="287"/>
                    </a:lnTo>
                    <a:lnTo>
                      <a:pt x="526" y="321"/>
                    </a:lnTo>
                    <a:lnTo>
                      <a:pt x="520" y="356"/>
                    </a:lnTo>
                    <a:lnTo>
                      <a:pt x="512" y="387"/>
                    </a:lnTo>
                    <a:lnTo>
                      <a:pt x="504" y="417"/>
                    </a:lnTo>
                    <a:lnTo>
                      <a:pt x="493" y="442"/>
                    </a:lnTo>
                    <a:lnTo>
                      <a:pt x="481" y="460"/>
                    </a:lnTo>
                    <a:lnTo>
                      <a:pt x="467" y="475"/>
                    </a:lnTo>
                    <a:lnTo>
                      <a:pt x="451" y="482"/>
                    </a:lnTo>
                    <a:lnTo>
                      <a:pt x="418" y="489"/>
                    </a:lnTo>
                    <a:lnTo>
                      <a:pt x="387" y="493"/>
                    </a:lnTo>
                    <a:lnTo>
                      <a:pt x="359" y="496"/>
                    </a:lnTo>
                    <a:lnTo>
                      <a:pt x="331" y="498"/>
                    </a:lnTo>
                    <a:lnTo>
                      <a:pt x="305" y="500"/>
                    </a:lnTo>
                    <a:lnTo>
                      <a:pt x="282" y="498"/>
                    </a:lnTo>
                    <a:lnTo>
                      <a:pt x="260" y="495"/>
                    </a:lnTo>
                    <a:lnTo>
                      <a:pt x="240" y="490"/>
                    </a:lnTo>
                    <a:lnTo>
                      <a:pt x="221" y="484"/>
                    </a:lnTo>
                    <a:lnTo>
                      <a:pt x="204" y="479"/>
                    </a:lnTo>
                    <a:lnTo>
                      <a:pt x="186" y="476"/>
                    </a:lnTo>
                    <a:lnTo>
                      <a:pt x="169" y="473"/>
                    </a:lnTo>
                    <a:lnTo>
                      <a:pt x="155" y="471"/>
                    </a:lnTo>
                    <a:lnTo>
                      <a:pt x="144" y="470"/>
                    </a:lnTo>
                    <a:lnTo>
                      <a:pt x="133" y="470"/>
                    </a:lnTo>
                    <a:lnTo>
                      <a:pt x="127" y="470"/>
                    </a:lnTo>
                    <a:lnTo>
                      <a:pt x="119" y="471"/>
                    </a:lnTo>
                    <a:lnTo>
                      <a:pt x="114" y="473"/>
                    </a:lnTo>
                    <a:lnTo>
                      <a:pt x="113" y="475"/>
                    </a:lnTo>
                    <a:lnTo>
                      <a:pt x="113" y="476"/>
                    </a:lnTo>
                    <a:lnTo>
                      <a:pt x="111" y="489"/>
                    </a:lnTo>
                    <a:lnTo>
                      <a:pt x="118" y="659"/>
                    </a:lnTo>
                    <a:lnTo>
                      <a:pt x="116" y="659"/>
                    </a:lnTo>
                    <a:lnTo>
                      <a:pt x="114" y="662"/>
                    </a:lnTo>
                    <a:lnTo>
                      <a:pt x="110" y="664"/>
                    </a:lnTo>
                    <a:lnTo>
                      <a:pt x="102" y="667"/>
                    </a:lnTo>
                    <a:lnTo>
                      <a:pt x="94" y="669"/>
                    </a:lnTo>
                    <a:lnTo>
                      <a:pt x="83" y="672"/>
                    </a:lnTo>
                    <a:lnTo>
                      <a:pt x="72" y="672"/>
                    </a:lnTo>
                    <a:lnTo>
                      <a:pt x="58" y="672"/>
                    </a:lnTo>
                    <a:lnTo>
                      <a:pt x="35" y="669"/>
                    </a:lnTo>
                    <a:lnTo>
                      <a:pt x="22" y="665"/>
                    </a:lnTo>
                    <a:lnTo>
                      <a:pt x="16" y="664"/>
                    </a:lnTo>
                    <a:lnTo>
                      <a:pt x="14" y="662"/>
                    </a:lnTo>
                    <a:lnTo>
                      <a:pt x="14" y="656"/>
                    </a:lnTo>
                    <a:lnTo>
                      <a:pt x="11" y="642"/>
                    </a:lnTo>
                    <a:lnTo>
                      <a:pt x="10" y="620"/>
                    </a:lnTo>
                    <a:lnTo>
                      <a:pt x="6" y="595"/>
                    </a:lnTo>
                    <a:lnTo>
                      <a:pt x="3" y="567"/>
                    </a:lnTo>
                    <a:lnTo>
                      <a:pt x="2" y="540"/>
                    </a:lnTo>
                    <a:lnTo>
                      <a:pt x="0" y="517"/>
                    </a:lnTo>
                    <a:lnTo>
                      <a:pt x="0" y="500"/>
                    </a:lnTo>
                    <a:lnTo>
                      <a:pt x="0" y="485"/>
                    </a:lnTo>
                    <a:lnTo>
                      <a:pt x="0" y="468"/>
                    </a:lnTo>
                    <a:lnTo>
                      <a:pt x="0" y="451"/>
                    </a:lnTo>
                    <a:lnTo>
                      <a:pt x="0" y="434"/>
                    </a:lnTo>
                    <a:lnTo>
                      <a:pt x="2" y="418"/>
                    </a:lnTo>
                    <a:lnTo>
                      <a:pt x="5" y="403"/>
                    </a:lnTo>
                    <a:lnTo>
                      <a:pt x="11" y="390"/>
                    </a:lnTo>
                    <a:lnTo>
                      <a:pt x="20" y="381"/>
                    </a:lnTo>
                    <a:lnTo>
                      <a:pt x="35" y="373"/>
                    </a:lnTo>
                    <a:lnTo>
                      <a:pt x="55" y="367"/>
                    </a:lnTo>
                    <a:lnTo>
                      <a:pt x="78" y="360"/>
                    </a:lnTo>
                    <a:lnTo>
                      <a:pt x="108" y="356"/>
                    </a:lnTo>
                    <a:lnTo>
                      <a:pt x="139" y="352"/>
                    </a:lnTo>
                    <a:lnTo>
                      <a:pt x="174" y="352"/>
                    </a:lnTo>
                    <a:lnTo>
                      <a:pt x="212" y="354"/>
                    </a:lnTo>
                    <a:lnTo>
                      <a:pt x="251" y="357"/>
                    </a:lnTo>
                    <a:lnTo>
                      <a:pt x="248" y="357"/>
                    </a:lnTo>
                    <a:lnTo>
                      <a:pt x="241" y="356"/>
                    </a:lnTo>
                    <a:lnTo>
                      <a:pt x="232" y="356"/>
                    </a:lnTo>
                    <a:lnTo>
                      <a:pt x="219" y="354"/>
                    </a:lnTo>
                    <a:lnTo>
                      <a:pt x="205" y="354"/>
                    </a:lnTo>
                    <a:lnTo>
                      <a:pt x="190" y="352"/>
                    </a:lnTo>
                    <a:lnTo>
                      <a:pt x="174" y="352"/>
                    </a:lnTo>
                    <a:lnTo>
                      <a:pt x="158" y="352"/>
                    </a:lnTo>
                    <a:lnTo>
                      <a:pt x="135" y="352"/>
                    </a:lnTo>
                    <a:lnTo>
                      <a:pt x="122" y="354"/>
                    </a:lnTo>
                    <a:lnTo>
                      <a:pt x="118" y="356"/>
                    </a:lnTo>
                    <a:lnTo>
                      <a:pt x="116" y="356"/>
                    </a:lnTo>
                    <a:lnTo>
                      <a:pt x="113" y="343"/>
                    </a:lnTo>
                    <a:lnTo>
                      <a:pt x="113" y="342"/>
                    </a:lnTo>
                    <a:lnTo>
                      <a:pt x="114" y="335"/>
                    </a:lnTo>
                    <a:lnTo>
                      <a:pt x="121" y="327"/>
                    </a:lnTo>
                    <a:lnTo>
                      <a:pt x="135" y="321"/>
                    </a:lnTo>
                    <a:lnTo>
                      <a:pt x="149" y="318"/>
                    </a:lnTo>
                    <a:lnTo>
                      <a:pt x="168" y="315"/>
                    </a:lnTo>
                    <a:lnTo>
                      <a:pt x="191" y="310"/>
                    </a:lnTo>
                    <a:lnTo>
                      <a:pt x="216" y="307"/>
                    </a:lnTo>
                    <a:lnTo>
                      <a:pt x="241" y="304"/>
                    </a:lnTo>
                    <a:lnTo>
                      <a:pt x="263" y="301"/>
                    </a:lnTo>
                    <a:lnTo>
                      <a:pt x="280" y="299"/>
                    </a:lnTo>
                    <a:lnTo>
                      <a:pt x="291" y="299"/>
                    </a:lnTo>
                    <a:lnTo>
                      <a:pt x="343" y="431"/>
                    </a:lnTo>
                    <a:close/>
                  </a:path>
                </a:pathLst>
              </a:custGeom>
              <a:solidFill>
                <a:srgbClr val="00FFB2"/>
              </a:solidFill>
              <a:ln w="9525">
                <a:noFill/>
                <a:round/>
                <a:headEnd/>
                <a:tailEnd/>
              </a:ln>
            </p:spPr>
            <p:txBody>
              <a:bodyPr/>
              <a:lstStyle/>
              <a:p>
                <a:endParaRPr lang="en-US"/>
              </a:p>
            </p:txBody>
          </p:sp>
          <p:sp>
            <p:nvSpPr>
              <p:cNvPr id="24719" name="Freeform 108"/>
              <p:cNvSpPr>
                <a:spLocks/>
              </p:cNvSpPr>
              <p:nvPr/>
            </p:nvSpPr>
            <p:spPr bwMode="auto">
              <a:xfrm>
                <a:off x="2136" y="3703"/>
                <a:ext cx="27" cy="23"/>
              </a:xfrm>
              <a:custGeom>
                <a:avLst/>
                <a:gdLst>
                  <a:gd name="T0" fmla="*/ 0 w 55"/>
                  <a:gd name="T1" fmla="*/ 1 h 46"/>
                  <a:gd name="T2" fmla="*/ 0 w 55"/>
                  <a:gd name="T3" fmla="*/ 1 h 46"/>
                  <a:gd name="T4" fmla="*/ 0 w 55"/>
                  <a:gd name="T5" fmla="*/ 1 h 46"/>
                  <a:gd name="T6" fmla="*/ 0 w 55"/>
                  <a:gd name="T7" fmla="*/ 1 h 46"/>
                  <a:gd name="T8" fmla="*/ 0 w 55"/>
                  <a:gd name="T9" fmla="*/ 1 h 46"/>
                  <a:gd name="T10" fmla="*/ 0 w 55"/>
                  <a:gd name="T11" fmla="*/ 1 h 46"/>
                  <a:gd name="T12" fmla="*/ 0 w 55"/>
                  <a:gd name="T13" fmla="*/ 1 h 46"/>
                  <a:gd name="T14" fmla="*/ 0 w 55"/>
                  <a:gd name="T15" fmla="*/ 1 h 46"/>
                  <a:gd name="T16" fmla="*/ 0 w 55"/>
                  <a:gd name="T17" fmla="*/ 1 h 46"/>
                  <a:gd name="T18" fmla="*/ 0 w 55"/>
                  <a:gd name="T19" fmla="*/ 1 h 46"/>
                  <a:gd name="T20" fmla="*/ 0 w 55"/>
                  <a:gd name="T21" fmla="*/ 0 h 46"/>
                  <a:gd name="T22" fmla="*/ 0 w 55"/>
                  <a:gd name="T23" fmla="*/ 1 h 46"/>
                  <a:gd name="T24" fmla="*/ 0 w 55"/>
                  <a:gd name="T25" fmla="*/ 1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46"/>
                  <a:gd name="T41" fmla="*/ 55 w 55"/>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46">
                    <a:moveTo>
                      <a:pt x="0" y="11"/>
                    </a:moveTo>
                    <a:lnTo>
                      <a:pt x="0" y="13"/>
                    </a:lnTo>
                    <a:lnTo>
                      <a:pt x="8" y="22"/>
                    </a:lnTo>
                    <a:lnTo>
                      <a:pt x="19" y="30"/>
                    </a:lnTo>
                    <a:lnTo>
                      <a:pt x="33" y="38"/>
                    </a:lnTo>
                    <a:lnTo>
                      <a:pt x="49" y="46"/>
                    </a:lnTo>
                    <a:lnTo>
                      <a:pt x="55" y="24"/>
                    </a:lnTo>
                    <a:lnTo>
                      <a:pt x="43" y="19"/>
                    </a:lnTo>
                    <a:lnTo>
                      <a:pt x="32" y="11"/>
                    </a:lnTo>
                    <a:lnTo>
                      <a:pt x="24" y="7"/>
                    </a:lnTo>
                    <a:lnTo>
                      <a:pt x="19" y="0"/>
                    </a:lnTo>
                    <a:lnTo>
                      <a:pt x="19" y="2"/>
                    </a:lnTo>
                    <a:lnTo>
                      <a:pt x="0" y="11"/>
                    </a:lnTo>
                    <a:close/>
                  </a:path>
                </a:pathLst>
              </a:custGeom>
              <a:solidFill>
                <a:srgbClr val="000000"/>
              </a:solidFill>
              <a:ln w="9525">
                <a:noFill/>
                <a:round/>
                <a:headEnd/>
                <a:tailEnd/>
              </a:ln>
            </p:spPr>
            <p:txBody>
              <a:bodyPr/>
              <a:lstStyle/>
              <a:p>
                <a:endParaRPr lang="en-US"/>
              </a:p>
            </p:txBody>
          </p:sp>
          <p:sp>
            <p:nvSpPr>
              <p:cNvPr id="24720" name="Freeform 109"/>
              <p:cNvSpPr>
                <a:spLocks/>
              </p:cNvSpPr>
              <p:nvPr/>
            </p:nvSpPr>
            <p:spPr bwMode="auto">
              <a:xfrm>
                <a:off x="2133" y="3695"/>
                <a:ext cx="12" cy="14"/>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1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0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0" y="11"/>
                    </a:moveTo>
                    <a:lnTo>
                      <a:pt x="3" y="3"/>
                    </a:lnTo>
                    <a:lnTo>
                      <a:pt x="0" y="11"/>
                    </a:lnTo>
                    <a:lnTo>
                      <a:pt x="0" y="16"/>
                    </a:lnTo>
                    <a:lnTo>
                      <a:pt x="3" y="22"/>
                    </a:lnTo>
                    <a:lnTo>
                      <a:pt x="6" y="28"/>
                    </a:lnTo>
                    <a:lnTo>
                      <a:pt x="25" y="19"/>
                    </a:lnTo>
                    <a:lnTo>
                      <a:pt x="22" y="13"/>
                    </a:lnTo>
                    <a:lnTo>
                      <a:pt x="22" y="9"/>
                    </a:lnTo>
                    <a:lnTo>
                      <a:pt x="22" y="11"/>
                    </a:lnTo>
                    <a:lnTo>
                      <a:pt x="19" y="19"/>
                    </a:lnTo>
                    <a:lnTo>
                      <a:pt x="22" y="11"/>
                    </a:lnTo>
                    <a:lnTo>
                      <a:pt x="19" y="19"/>
                    </a:lnTo>
                    <a:lnTo>
                      <a:pt x="22" y="11"/>
                    </a:lnTo>
                    <a:lnTo>
                      <a:pt x="19" y="3"/>
                    </a:lnTo>
                    <a:lnTo>
                      <a:pt x="11" y="0"/>
                    </a:lnTo>
                    <a:lnTo>
                      <a:pt x="3" y="3"/>
                    </a:lnTo>
                    <a:lnTo>
                      <a:pt x="0" y="11"/>
                    </a:lnTo>
                    <a:close/>
                  </a:path>
                </a:pathLst>
              </a:custGeom>
              <a:solidFill>
                <a:srgbClr val="000000"/>
              </a:solidFill>
              <a:ln w="9525">
                <a:noFill/>
                <a:round/>
                <a:headEnd/>
                <a:tailEnd/>
              </a:ln>
            </p:spPr>
            <p:txBody>
              <a:bodyPr/>
              <a:lstStyle/>
              <a:p>
                <a:endParaRPr lang="en-US"/>
              </a:p>
            </p:txBody>
          </p:sp>
          <p:sp>
            <p:nvSpPr>
              <p:cNvPr id="24721" name="Freeform 110"/>
              <p:cNvSpPr>
                <a:spLocks/>
              </p:cNvSpPr>
              <p:nvPr/>
            </p:nvSpPr>
            <p:spPr bwMode="auto">
              <a:xfrm>
                <a:off x="2130" y="3633"/>
                <a:ext cx="14" cy="67"/>
              </a:xfrm>
              <a:custGeom>
                <a:avLst/>
                <a:gdLst>
                  <a:gd name="T0" fmla="*/ 1 w 27"/>
                  <a:gd name="T1" fmla="*/ 0 h 135"/>
                  <a:gd name="T2" fmla="*/ 0 w 27"/>
                  <a:gd name="T3" fmla="*/ 0 h 135"/>
                  <a:gd name="T4" fmla="*/ 1 w 27"/>
                  <a:gd name="T5" fmla="*/ 0 h 135"/>
                  <a:gd name="T6" fmla="*/ 1 w 27"/>
                  <a:gd name="T7" fmla="*/ 0 h 135"/>
                  <a:gd name="T8" fmla="*/ 1 w 27"/>
                  <a:gd name="T9" fmla="*/ 0 h 135"/>
                  <a:gd name="T10" fmla="*/ 1 w 27"/>
                  <a:gd name="T11" fmla="*/ 0 h 135"/>
                  <a:gd name="T12" fmla="*/ 1 w 27"/>
                  <a:gd name="T13" fmla="*/ 0 h 135"/>
                  <a:gd name="T14" fmla="*/ 1 w 27"/>
                  <a:gd name="T15" fmla="*/ 0 h 135"/>
                  <a:gd name="T16" fmla="*/ 1 w 27"/>
                  <a:gd name="T17" fmla="*/ 0 h 135"/>
                  <a:gd name="T18" fmla="*/ 1 w 27"/>
                  <a:gd name="T19" fmla="*/ 0 h 135"/>
                  <a:gd name="T20" fmla="*/ 0 w 27"/>
                  <a:gd name="T21" fmla="*/ 0 h 135"/>
                  <a:gd name="T22" fmla="*/ 1 w 27"/>
                  <a:gd name="T23" fmla="*/ 0 h 1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35"/>
                  <a:gd name="T38" fmla="*/ 27 w 27"/>
                  <a:gd name="T39" fmla="*/ 135 h 1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35">
                    <a:moveTo>
                      <a:pt x="4" y="4"/>
                    </a:moveTo>
                    <a:lnTo>
                      <a:pt x="0" y="11"/>
                    </a:lnTo>
                    <a:lnTo>
                      <a:pt x="5" y="135"/>
                    </a:lnTo>
                    <a:lnTo>
                      <a:pt x="27" y="135"/>
                    </a:lnTo>
                    <a:lnTo>
                      <a:pt x="22" y="11"/>
                    </a:lnTo>
                    <a:lnTo>
                      <a:pt x="19" y="19"/>
                    </a:lnTo>
                    <a:lnTo>
                      <a:pt x="22" y="11"/>
                    </a:lnTo>
                    <a:lnTo>
                      <a:pt x="19" y="4"/>
                    </a:lnTo>
                    <a:lnTo>
                      <a:pt x="11" y="0"/>
                    </a:lnTo>
                    <a:lnTo>
                      <a:pt x="4" y="4"/>
                    </a:lnTo>
                    <a:lnTo>
                      <a:pt x="0" y="11"/>
                    </a:lnTo>
                    <a:lnTo>
                      <a:pt x="4" y="4"/>
                    </a:lnTo>
                    <a:close/>
                  </a:path>
                </a:pathLst>
              </a:custGeom>
              <a:solidFill>
                <a:srgbClr val="000000"/>
              </a:solidFill>
              <a:ln w="9525">
                <a:noFill/>
                <a:round/>
                <a:headEnd/>
                <a:tailEnd/>
              </a:ln>
            </p:spPr>
            <p:txBody>
              <a:bodyPr/>
              <a:lstStyle/>
              <a:p>
                <a:endParaRPr lang="en-US"/>
              </a:p>
            </p:txBody>
          </p:sp>
          <p:sp>
            <p:nvSpPr>
              <p:cNvPr id="24722" name="Freeform 111"/>
              <p:cNvSpPr>
                <a:spLocks/>
              </p:cNvSpPr>
              <p:nvPr/>
            </p:nvSpPr>
            <p:spPr bwMode="auto">
              <a:xfrm>
                <a:off x="2132" y="3617"/>
                <a:ext cx="27" cy="25"/>
              </a:xfrm>
              <a:custGeom>
                <a:avLst/>
                <a:gdLst>
                  <a:gd name="T0" fmla="*/ 1 w 54"/>
                  <a:gd name="T1" fmla="*/ 1 h 50"/>
                  <a:gd name="T2" fmla="*/ 1 w 54"/>
                  <a:gd name="T3" fmla="*/ 1 h 50"/>
                  <a:gd name="T4" fmla="*/ 1 w 54"/>
                  <a:gd name="T5" fmla="*/ 0 h 50"/>
                  <a:gd name="T6" fmla="*/ 1 w 54"/>
                  <a:gd name="T7" fmla="*/ 1 h 50"/>
                  <a:gd name="T8" fmla="*/ 1 w 54"/>
                  <a:gd name="T9" fmla="*/ 1 h 50"/>
                  <a:gd name="T10" fmla="*/ 1 w 54"/>
                  <a:gd name="T11" fmla="*/ 1 h 50"/>
                  <a:gd name="T12" fmla="*/ 1 w 54"/>
                  <a:gd name="T13" fmla="*/ 1 h 50"/>
                  <a:gd name="T14" fmla="*/ 1 w 54"/>
                  <a:gd name="T15" fmla="*/ 1 h 50"/>
                  <a:gd name="T16" fmla="*/ 1 w 54"/>
                  <a:gd name="T17" fmla="*/ 1 h 50"/>
                  <a:gd name="T18" fmla="*/ 0 w 54"/>
                  <a:gd name="T19" fmla="*/ 1 h 50"/>
                  <a:gd name="T20" fmla="*/ 1 w 54"/>
                  <a:gd name="T21" fmla="*/ 1 h 50"/>
                  <a:gd name="T22" fmla="*/ 1 w 54"/>
                  <a:gd name="T23" fmla="*/ 1 h 50"/>
                  <a:gd name="T24" fmla="*/ 1 w 54"/>
                  <a:gd name="T25" fmla="*/ 1 h 50"/>
                  <a:gd name="T26" fmla="*/ 1 w 54"/>
                  <a:gd name="T27" fmla="*/ 1 h 50"/>
                  <a:gd name="T28" fmla="*/ 1 w 54"/>
                  <a:gd name="T29" fmla="*/ 1 h 50"/>
                  <a:gd name="T30" fmla="*/ 1 w 54"/>
                  <a:gd name="T31" fmla="*/ 1 h 50"/>
                  <a:gd name="T32" fmla="*/ 1 w 54"/>
                  <a:gd name="T33" fmla="*/ 1 h 50"/>
                  <a:gd name="T34" fmla="*/ 1 w 54"/>
                  <a:gd name="T35" fmla="*/ 1 h 50"/>
                  <a:gd name="T36" fmla="*/ 1 w 54"/>
                  <a:gd name="T37" fmla="*/ 1 h 50"/>
                  <a:gd name="T38" fmla="*/ 1 w 54"/>
                  <a:gd name="T39" fmla="*/ 1 h 50"/>
                  <a:gd name="T40" fmla="*/ 1 w 54"/>
                  <a:gd name="T41" fmla="*/ 1 h 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50"/>
                  <a:gd name="T65" fmla="*/ 54 w 54"/>
                  <a:gd name="T66" fmla="*/ 50 h 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50">
                    <a:moveTo>
                      <a:pt x="54" y="17"/>
                    </a:moveTo>
                    <a:lnTo>
                      <a:pt x="54" y="17"/>
                    </a:lnTo>
                    <a:lnTo>
                      <a:pt x="42" y="0"/>
                    </a:lnTo>
                    <a:lnTo>
                      <a:pt x="37" y="5"/>
                    </a:lnTo>
                    <a:lnTo>
                      <a:pt x="31" y="8"/>
                    </a:lnTo>
                    <a:lnTo>
                      <a:pt x="23" y="16"/>
                    </a:lnTo>
                    <a:lnTo>
                      <a:pt x="14" y="22"/>
                    </a:lnTo>
                    <a:lnTo>
                      <a:pt x="7" y="28"/>
                    </a:lnTo>
                    <a:lnTo>
                      <a:pt x="3" y="33"/>
                    </a:lnTo>
                    <a:lnTo>
                      <a:pt x="0" y="35"/>
                    </a:lnTo>
                    <a:lnTo>
                      <a:pt x="15" y="50"/>
                    </a:lnTo>
                    <a:lnTo>
                      <a:pt x="15" y="49"/>
                    </a:lnTo>
                    <a:lnTo>
                      <a:pt x="23" y="44"/>
                    </a:lnTo>
                    <a:lnTo>
                      <a:pt x="29" y="38"/>
                    </a:lnTo>
                    <a:lnTo>
                      <a:pt x="36" y="31"/>
                    </a:lnTo>
                    <a:lnTo>
                      <a:pt x="43" y="27"/>
                    </a:lnTo>
                    <a:lnTo>
                      <a:pt x="50" y="21"/>
                    </a:lnTo>
                    <a:lnTo>
                      <a:pt x="51" y="19"/>
                    </a:lnTo>
                    <a:lnTo>
                      <a:pt x="39" y="5"/>
                    </a:lnTo>
                    <a:lnTo>
                      <a:pt x="54" y="17"/>
                    </a:lnTo>
                    <a:close/>
                  </a:path>
                </a:pathLst>
              </a:custGeom>
              <a:solidFill>
                <a:srgbClr val="000000"/>
              </a:solidFill>
              <a:ln w="9525">
                <a:noFill/>
                <a:round/>
                <a:headEnd/>
                <a:tailEnd/>
              </a:ln>
            </p:spPr>
            <p:txBody>
              <a:bodyPr/>
              <a:lstStyle/>
              <a:p>
                <a:endParaRPr lang="en-US"/>
              </a:p>
            </p:txBody>
          </p:sp>
          <p:sp>
            <p:nvSpPr>
              <p:cNvPr id="24723" name="Freeform 112"/>
              <p:cNvSpPr>
                <a:spLocks/>
              </p:cNvSpPr>
              <p:nvPr/>
            </p:nvSpPr>
            <p:spPr bwMode="auto">
              <a:xfrm>
                <a:off x="2130" y="3619"/>
                <a:ext cx="29" cy="25"/>
              </a:xfrm>
              <a:custGeom>
                <a:avLst/>
                <a:gdLst>
                  <a:gd name="T0" fmla="*/ 1 w 58"/>
                  <a:gd name="T1" fmla="*/ 1 h 48"/>
                  <a:gd name="T2" fmla="*/ 1 w 58"/>
                  <a:gd name="T3" fmla="*/ 1 h 48"/>
                  <a:gd name="T4" fmla="*/ 1 w 58"/>
                  <a:gd name="T5" fmla="*/ 1 h 48"/>
                  <a:gd name="T6" fmla="*/ 1 w 58"/>
                  <a:gd name="T7" fmla="*/ 1 h 48"/>
                  <a:gd name="T8" fmla="*/ 1 w 58"/>
                  <a:gd name="T9" fmla="*/ 1 h 48"/>
                  <a:gd name="T10" fmla="*/ 1 w 58"/>
                  <a:gd name="T11" fmla="*/ 1 h 48"/>
                  <a:gd name="T12" fmla="*/ 1 w 58"/>
                  <a:gd name="T13" fmla="*/ 0 h 48"/>
                  <a:gd name="T14" fmla="*/ 1 w 58"/>
                  <a:gd name="T15" fmla="*/ 1 h 48"/>
                  <a:gd name="T16" fmla="*/ 1 w 58"/>
                  <a:gd name="T17" fmla="*/ 1 h 48"/>
                  <a:gd name="T18" fmla="*/ 1 w 58"/>
                  <a:gd name="T19" fmla="*/ 1 h 48"/>
                  <a:gd name="T20" fmla="*/ 1 w 58"/>
                  <a:gd name="T21" fmla="*/ 1 h 48"/>
                  <a:gd name="T22" fmla="*/ 1 w 58"/>
                  <a:gd name="T23" fmla="*/ 1 h 48"/>
                  <a:gd name="T24" fmla="*/ 1 w 58"/>
                  <a:gd name="T25" fmla="*/ 1 h 48"/>
                  <a:gd name="T26" fmla="*/ 0 w 58"/>
                  <a:gd name="T27" fmla="*/ 1 h 48"/>
                  <a:gd name="T28" fmla="*/ 1 w 58"/>
                  <a:gd name="T29" fmla="*/ 1 h 48"/>
                  <a:gd name="T30" fmla="*/ 1 w 58"/>
                  <a:gd name="T31" fmla="*/ 1 h 48"/>
                  <a:gd name="T32" fmla="*/ 1 w 58"/>
                  <a:gd name="T33" fmla="*/ 1 h 48"/>
                  <a:gd name="T34" fmla="*/ 1 w 58"/>
                  <a:gd name="T35" fmla="*/ 1 h 4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8"/>
                  <a:gd name="T55" fmla="*/ 0 h 48"/>
                  <a:gd name="T56" fmla="*/ 58 w 58"/>
                  <a:gd name="T57" fmla="*/ 48 h 4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8" h="48">
                    <a:moveTo>
                      <a:pt x="11" y="48"/>
                    </a:moveTo>
                    <a:lnTo>
                      <a:pt x="18" y="47"/>
                    </a:lnTo>
                    <a:lnTo>
                      <a:pt x="22" y="44"/>
                    </a:lnTo>
                    <a:lnTo>
                      <a:pt x="35" y="33"/>
                    </a:lnTo>
                    <a:lnTo>
                      <a:pt x="49" y="22"/>
                    </a:lnTo>
                    <a:lnTo>
                      <a:pt x="58" y="12"/>
                    </a:lnTo>
                    <a:lnTo>
                      <a:pt x="43" y="0"/>
                    </a:lnTo>
                    <a:lnTo>
                      <a:pt x="33" y="6"/>
                    </a:lnTo>
                    <a:lnTo>
                      <a:pt x="22" y="17"/>
                    </a:lnTo>
                    <a:lnTo>
                      <a:pt x="10" y="25"/>
                    </a:lnTo>
                    <a:lnTo>
                      <a:pt x="5" y="28"/>
                    </a:lnTo>
                    <a:lnTo>
                      <a:pt x="11" y="26"/>
                    </a:lnTo>
                    <a:lnTo>
                      <a:pt x="5" y="28"/>
                    </a:lnTo>
                    <a:lnTo>
                      <a:pt x="0" y="36"/>
                    </a:lnTo>
                    <a:lnTo>
                      <a:pt x="2" y="44"/>
                    </a:lnTo>
                    <a:lnTo>
                      <a:pt x="8" y="48"/>
                    </a:lnTo>
                    <a:lnTo>
                      <a:pt x="18" y="47"/>
                    </a:lnTo>
                    <a:lnTo>
                      <a:pt x="11" y="48"/>
                    </a:lnTo>
                    <a:close/>
                  </a:path>
                </a:pathLst>
              </a:custGeom>
              <a:solidFill>
                <a:srgbClr val="000000"/>
              </a:solidFill>
              <a:ln w="9525">
                <a:noFill/>
                <a:round/>
                <a:headEnd/>
                <a:tailEnd/>
              </a:ln>
            </p:spPr>
            <p:txBody>
              <a:bodyPr/>
              <a:lstStyle/>
              <a:p>
                <a:endParaRPr lang="en-US"/>
              </a:p>
            </p:txBody>
          </p:sp>
          <p:sp>
            <p:nvSpPr>
              <p:cNvPr id="24724" name="Freeform 113"/>
              <p:cNvSpPr>
                <a:spLocks/>
              </p:cNvSpPr>
              <p:nvPr/>
            </p:nvSpPr>
            <p:spPr bwMode="auto">
              <a:xfrm>
                <a:off x="2113" y="3633"/>
                <a:ext cx="23" cy="11"/>
              </a:xfrm>
              <a:custGeom>
                <a:avLst/>
                <a:gdLst>
                  <a:gd name="T0" fmla="*/ 1 w 45"/>
                  <a:gd name="T1" fmla="*/ 1 h 22"/>
                  <a:gd name="T2" fmla="*/ 1 w 45"/>
                  <a:gd name="T3" fmla="*/ 1 h 22"/>
                  <a:gd name="T4" fmla="*/ 1 w 45"/>
                  <a:gd name="T5" fmla="*/ 1 h 22"/>
                  <a:gd name="T6" fmla="*/ 1 w 45"/>
                  <a:gd name="T7" fmla="*/ 0 h 22"/>
                  <a:gd name="T8" fmla="*/ 1 w 45"/>
                  <a:gd name="T9" fmla="*/ 0 h 22"/>
                  <a:gd name="T10" fmla="*/ 1 w 45"/>
                  <a:gd name="T11" fmla="*/ 1 h 22"/>
                  <a:gd name="T12" fmla="*/ 1 w 45"/>
                  <a:gd name="T13" fmla="*/ 0 h 22"/>
                  <a:gd name="T14" fmla="*/ 1 w 45"/>
                  <a:gd name="T15" fmla="*/ 1 h 22"/>
                  <a:gd name="T16" fmla="*/ 0 w 45"/>
                  <a:gd name="T17" fmla="*/ 1 h 22"/>
                  <a:gd name="T18" fmla="*/ 1 w 45"/>
                  <a:gd name="T19" fmla="*/ 1 h 22"/>
                  <a:gd name="T20" fmla="*/ 1 w 45"/>
                  <a:gd name="T21" fmla="*/ 1 h 22"/>
                  <a:gd name="T22" fmla="*/ 1 w 45"/>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5"/>
                  <a:gd name="T37" fmla="*/ 0 h 22"/>
                  <a:gd name="T38" fmla="*/ 45 w 45"/>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5" h="22">
                    <a:moveTo>
                      <a:pt x="2" y="18"/>
                    </a:moveTo>
                    <a:lnTo>
                      <a:pt x="11" y="22"/>
                    </a:lnTo>
                    <a:lnTo>
                      <a:pt x="45" y="22"/>
                    </a:lnTo>
                    <a:lnTo>
                      <a:pt x="45" y="0"/>
                    </a:lnTo>
                    <a:lnTo>
                      <a:pt x="11" y="0"/>
                    </a:lnTo>
                    <a:lnTo>
                      <a:pt x="20" y="5"/>
                    </a:lnTo>
                    <a:lnTo>
                      <a:pt x="11" y="0"/>
                    </a:lnTo>
                    <a:lnTo>
                      <a:pt x="3" y="4"/>
                    </a:lnTo>
                    <a:lnTo>
                      <a:pt x="0" y="11"/>
                    </a:lnTo>
                    <a:lnTo>
                      <a:pt x="3" y="19"/>
                    </a:lnTo>
                    <a:lnTo>
                      <a:pt x="11" y="22"/>
                    </a:lnTo>
                    <a:lnTo>
                      <a:pt x="2" y="18"/>
                    </a:lnTo>
                    <a:close/>
                  </a:path>
                </a:pathLst>
              </a:custGeom>
              <a:solidFill>
                <a:srgbClr val="000000"/>
              </a:solidFill>
              <a:ln w="9525">
                <a:noFill/>
                <a:round/>
                <a:headEnd/>
                <a:tailEnd/>
              </a:ln>
            </p:spPr>
            <p:txBody>
              <a:bodyPr/>
              <a:lstStyle/>
              <a:p>
                <a:endParaRPr lang="en-US"/>
              </a:p>
            </p:txBody>
          </p:sp>
          <p:sp>
            <p:nvSpPr>
              <p:cNvPr id="24725" name="Freeform 114"/>
              <p:cNvSpPr>
                <a:spLocks/>
              </p:cNvSpPr>
              <p:nvPr/>
            </p:nvSpPr>
            <p:spPr bwMode="auto">
              <a:xfrm>
                <a:off x="2106" y="3623"/>
                <a:ext cx="17" cy="18"/>
              </a:xfrm>
              <a:custGeom>
                <a:avLst/>
                <a:gdLst>
                  <a:gd name="T0" fmla="*/ 0 w 34"/>
                  <a:gd name="T1" fmla="*/ 0 h 38"/>
                  <a:gd name="T2" fmla="*/ 0 w 34"/>
                  <a:gd name="T3" fmla="*/ 0 h 38"/>
                  <a:gd name="T4" fmla="*/ 1 w 34"/>
                  <a:gd name="T5" fmla="*/ 0 h 38"/>
                  <a:gd name="T6" fmla="*/ 1 w 34"/>
                  <a:gd name="T7" fmla="*/ 0 h 38"/>
                  <a:gd name="T8" fmla="*/ 1 w 34"/>
                  <a:gd name="T9" fmla="*/ 0 h 38"/>
                  <a:gd name="T10" fmla="*/ 1 w 34"/>
                  <a:gd name="T11" fmla="*/ 0 h 38"/>
                  <a:gd name="T12" fmla="*/ 1 w 34"/>
                  <a:gd name="T13" fmla="*/ 0 h 38"/>
                  <a:gd name="T14" fmla="*/ 1 w 34"/>
                  <a:gd name="T15" fmla="*/ 0 h 38"/>
                  <a:gd name="T16" fmla="*/ 1 w 34"/>
                  <a:gd name="T17" fmla="*/ 0 h 38"/>
                  <a:gd name="T18" fmla="*/ 1 w 34"/>
                  <a:gd name="T19" fmla="*/ 0 h 38"/>
                  <a:gd name="T20" fmla="*/ 1 w 34"/>
                  <a:gd name="T21" fmla="*/ 0 h 38"/>
                  <a:gd name="T22" fmla="*/ 1 w 34"/>
                  <a:gd name="T23" fmla="*/ 0 h 38"/>
                  <a:gd name="T24" fmla="*/ 0 w 34"/>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38"/>
                  <a:gd name="T41" fmla="*/ 34 w 34"/>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38">
                    <a:moveTo>
                      <a:pt x="0" y="13"/>
                    </a:moveTo>
                    <a:lnTo>
                      <a:pt x="0" y="13"/>
                    </a:lnTo>
                    <a:lnTo>
                      <a:pt x="5" y="20"/>
                    </a:lnTo>
                    <a:lnTo>
                      <a:pt x="9" y="28"/>
                    </a:lnTo>
                    <a:lnTo>
                      <a:pt x="14" y="35"/>
                    </a:lnTo>
                    <a:lnTo>
                      <a:pt x="16" y="38"/>
                    </a:lnTo>
                    <a:lnTo>
                      <a:pt x="34" y="25"/>
                    </a:lnTo>
                    <a:lnTo>
                      <a:pt x="33" y="22"/>
                    </a:lnTo>
                    <a:lnTo>
                      <a:pt x="28" y="16"/>
                    </a:lnTo>
                    <a:lnTo>
                      <a:pt x="23" y="8"/>
                    </a:lnTo>
                    <a:lnTo>
                      <a:pt x="16" y="0"/>
                    </a:lnTo>
                    <a:lnTo>
                      <a:pt x="0" y="13"/>
                    </a:lnTo>
                    <a:close/>
                  </a:path>
                </a:pathLst>
              </a:custGeom>
              <a:solidFill>
                <a:srgbClr val="000000"/>
              </a:solidFill>
              <a:ln w="9525">
                <a:noFill/>
                <a:round/>
                <a:headEnd/>
                <a:tailEnd/>
              </a:ln>
            </p:spPr>
            <p:txBody>
              <a:bodyPr/>
              <a:lstStyle/>
              <a:p>
                <a:endParaRPr lang="en-US"/>
              </a:p>
            </p:txBody>
          </p:sp>
          <p:sp>
            <p:nvSpPr>
              <p:cNvPr id="24726" name="Freeform 115"/>
              <p:cNvSpPr>
                <a:spLocks/>
              </p:cNvSpPr>
              <p:nvPr/>
            </p:nvSpPr>
            <p:spPr bwMode="auto">
              <a:xfrm>
                <a:off x="2096" y="3600"/>
                <a:ext cx="18" cy="29"/>
              </a:xfrm>
              <a:custGeom>
                <a:avLst/>
                <a:gdLst>
                  <a:gd name="T0" fmla="*/ 1 w 36"/>
                  <a:gd name="T1" fmla="*/ 1 h 58"/>
                  <a:gd name="T2" fmla="*/ 0 w 36"/>
                  <a:gd name="T3" fmla="*/ 1 h 58"/>
                  <a:gd name="T4" fmla="*/ 1 w 36"/>
                  <a:gd name="T5" fmla="*/ 1 h 58"/>
                  <a:gd name="T6" fmla="*/ 1 w 36"/>
                  <a:gd name="T7" fmla="*/ 1 h 58"/>
                  <a:gd name="T8" fmla="*/ 1 w 36"/>
                  <a:gd name="T9" fmla="*/ 1 h 58"/>
                  <a:gd name="T10" fmla="*/ 1 w 36"/>
                  <a:gd name="T11" fmla="*/ 1 h 58"/>
                  <a:gd name="T12" fmla="*/ 1 w 36"/>
                  <a:gd name="T13" fmla="*/ 1 h 58"/>
                  <a:gd name="T14" fmla="*/ 1 w 36"/>
                  <a:gd name="T15" fmla="*/ 1 h 58"/>
                  <a:gd name="T16" fmla="*/ 1 w 36"/>
                  <a:gd name="T17" fmla="*/ 1 h 58"/>
                  <a:gd name="T18" fmla="*/ 1 w 36"/>
                  <a:gd name="T19" fmla="*/ 1 h 58"/>
                  <a:gd name="T20" fmla="*/ 1 w 36"/>
                  <a:gd name="T21" fmla="*/ 1 h 58"/>
                  <a:gd name="T22" fmla="*/ 1 w 36"/>
                  <a:gd name="T23" fmla="*/ 1 h 58"/>
                  <a:gd name="T24" fmla="*/ 1 w 36"/>
                  <a:gd name="T25" fmla="*/ 1 h 58"/>
                  <a:gd name="T26" fmla="*/ 1 w 36"/>
                  <a:gd name="T27" fmla="*/ 1 h 58"/>
                  <a:gd name="T28" fmla="*/ 1 w 36"/>
                  <a:gd name="T29" fmla="*/ 0 h 58"/>
                  <a:gd name="T30" fmla="*/ 1 w 36"/>
                  <a:gd name="T31" fmla="*/ 1 h 58"/>
                  <a:gd name="T32" fmla="*/ 0 w 36"/>
                  <a:gd name="T33" fmla="*/ 1 h 58"/>
                  <a:gd name="T34" fmla="*/ 1 w 36"/>
                  <a:gd name="T35" fmla="*/ 1 h 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6"/>
                  <a:gd name="T55" fmla="*/ 0 h 58"/>
                  <a:gd name="T56" fmla="*/ 36 w 36"/>
                  <a:gd name="T57" fmla="*/ 58 h 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6" h="58">
                    <a:moveTo>
                      <a:pt x="1" y="6"/>
                    </a:moveTo>
                    <a:lnTo>
                      <a:pt x="0" y="14"/>
                    </a:lnTo>
                    <a:lnTo>
                      <a:pt x="1" y="19"/>
                    </a:lnTo>
                    <a:lnTo>
                      <a:pt x="6" y="31"/>
                    </a:lnTo>
                    <a:lnTo>
                      <a:pt x="12" y="45"/>
                    </a:lnTo>
                    <a:lnTo>
                      <a:pt x="20" y="58"/>
                    </a:lnTo>
                    <a:lnTo>
                      <a:pt x="36" y="45"/>
                    </a:lnTo>
                    <a:lnTo>
                      <a:pt x="31" y="36"/>
                    </a:lnTo>
                    <a:lnTo>
                      <a:pt x="28" y="25"/>
                    </a:lnTo>
                    <a:lnTo>
                      <a:pt x="23" y="12"/>
                    </a:lnTo>
                    <a:lnTo>
                      <a:pt x="21" y="8"/>
                    </a:lnTo>
                    <a:lnTo>
                      <a:pt x="20" y="15"/>
                    </a:lnTo>
                    <a:lnTo>
                      <a:pt x="21" y="8"/>
                    </a:lnTo>
                    <a:lnTo>
                      <a:pt x="17" y="1"/>
                    </a:lnTo>
                    <a:lnTo>
                      <a:pt x="9" y="0"/>
                    </a:lnTo>
                    <a:lnTo>
                      <a:pt x="1" y="4"/>
                    </a:lnTo>
                    <a:lnTo>
                      <a:pt x="0" y="14"/>
                    </a:lnTo>
                    <a:lnTo>
                      <a:pt x="1" y="6"/>
                    </a:lnTo>
                    <a:close/>
                  </a:path>
                </a:pathLst>
              </a:custGeom>
              <a:solidFill>
                <a:srgbClr val="000000"/>
              </a:solidFill>
              <a:ln w="9525">
                <a:noFill/>
                <a:round/>
                <a:headEnd/>
                <a:tailEnd/>
              </a:ln>
            </p:spPr>
            <p:txBody>
              <a:bodyPr/>
              <a:lstStyle/>
              <a:p>
                <a:endParaRPr lang="en-US"/>
              </a:p>
            </p:txBody>
          </p:sp>
          <p:sp>
            <p:nvSpPr>
              <p:cNvPr id="24727" name="Freeform 116"/>
              <p:cNvSpPr>
                <a:spLocks/>
              </p:cNvSpPr>
              <p:nvPr/>
            </p:nvSpPr>
            <p:spPr bwMode="auto">
              <a:xfrm>
                <a:off x="2097" y="3581"/>
                <a:ext cx="22" cy="27"/>
              </a:xfrm>
              <a:custGeom>
                <a:avLst/>
                <a:gdLst>
                  <a:gd name="T0" fmla="*/ 0 w 45"/>
                  <a:gd name="T1" fmla="*/ 0 h 53"/>
                  <a:gd name="T2" fmla="*/ 0 w 45"/>
                  <a:gd name="T3" fmla="*/ 1 h 53"/>
                  <a:gd name="T4" fmla="*/ 0 w 45"/>
                  <a:gd name="T5" fmla="*/ 1 h 53"/>
                  <a:gd name="T6" fmla="*/ 0 w 45"/>
                  <a:gd name="T7" fmla="*/ 1 h 53"/>
                  <a:gd name="T8" fmla="*/ 0 w 45"/>
                  <a:gd name="T9" fmla="*/ 1 h 53"/>
                  <a:gd name="T10" fmla="*/ 0 w 45"/>
                  <a:gd name="T11" fmla="*/ 1 h 53"/>
                  <a:gd name="T12" fmla="*/ 0 w 45"/>
                  <a:gd name="T13" fmla="*/ 1 h 53"/>
                  <a:gd name="T14" fmla="*/ 0 w 45"/>
                  <a:gd name="T15" fmla="*/ 1 h 53"/>
                  <a:gd name="T16" fmla="*/ 0 w 45"/>
                  <a:gd name="T17" fmla="*/ 1 h 53"/>
                  <a:gd name="T18" fmla="*/ 0 w 45"/>
                  <a:gd name="T19" fmla="*/ 1 h 53"/>
                  <a:gd name="T20" fmla="*/ 0 w 45"/>
                  <a:gd name="T21" fmla="*/ 1 h 53"/>
                  <a:gd name="T22" fmla="*/ 0 w 45"/>
                  <a:gd name="T23" fmla="*/ 1 h 53"/>
                  <a:gd name="T24" fmla="*/ 0 w 45"/>
                  <a:gd name="T25" fmla="*/ 0 h 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53"/>
                  <a:gd name="T41" fmla="*/ 45 w 45"/>
                  <a:gd name="T42" fmla="*/ 53 h 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53">
                    <a:moveTo>
                      <a:pt x="30" y="0"/>
                    </a:moveTo>
                    <a:lnTo>
                      <a:pt x="30" y="2"/>
                    </a:lnTo>
                    <a:lnTo>
                      <a:pt x="17" y="16"/>
                    </a:lnTo>
                    <a:lnTo>
                      <a:pt x="8" y="28"/>
                    </a:lnTo>
                    <a:lnTo>
                      <a:pt x="2" y="41"/>
                    </a:lnTo>
                    <a:lnTo>
                      <a:pt x="0" y="44"/>
                    </a:lnTo>
                    <a:lnTo>
                      <a:pt x="19" y="53"/>
                    </a:lnTo>
                    <a:lnTo>
                      <a:pt x="20" y="50"/>
                    </a:lnTo>
                    <a:lnTo>
                      <a:pt x="27" y="41"/>
                    </a:lnTo>
                    <a:lnTo>
                      <a:pt x="36" y="28"/>
                    </a:lnTo>
                    <a:lnTo>
                      <a:pt x="45" y="14"/>
                    </a:lnTo>
                    <a:lnTo>
                      <a:pt x="45" y="16"/>
                    </a:lnTo>
                    <a:lnTo>
                      <a:pt x="30" y="0"/>
                    </a:lnTo>
                    <a:close/>
                  </a:path>
                </a:pathLst>
              </a:custGeom>
              <a:solidFill>
                <a:srgbClr val="000000"/>
              </a:solidFill>
              <a:ln w="9525">
                <a:noFill/>
                <a:round/>
                <a:headEnd/>
                <a:tailEnd/>
              </a:ln>
            </p:spPr>
            <p:txBody>
              <a:bodyPr/>
              <a:lstStyle/>
              <a:p>
                <a:endParaRPr lang="en-US"/>
              </a:p>
            </p:txBody>
          </p:sp>
          <p:sp>
            <p:nvSpPr>
              <p:cNvPr id="24728" name="Freeform 117"/>
              <p:cNvSpPr>
                <a:spLocks/>
              </p:cNvSpPr>
              <p:nvPr/>
            </p:nvSpPr>
            <p:spPr bwMode="auto">
              <a:xfrm>
                <a:off x="2111" y="3531"/>
                <a:ext cx="43" cy="58"/>
              </a:xfrm>
              <a:custGeom>
                <a:avLst/>
                <a:gdLst>
                  <a:gd name="T0" fmla="*/ 1 w 86"/>
                  <a:gd name="T1" fmla="*/ 0 h 116"/>
                  <a:gd name="T2" fmla="*/ 1 w 86"/>
                  <a:gd name="T3" fmla="*/ 0 h 116"/>
                  <a:gd name="T4" fmla="*/ 1 w 86"/>
                  <a:gd name="T5" fmla="*/ 1 h 116"/>
                  <a:gd name="T6" fmla="*/ 1 w 86"/>
                  <a:gd name="T7" fmla="*/ 1 h 116"/>
                  <a:gd name="T8" fmla="*/ 1 w 86"/>
                  <a:gd name="T9" fmla="*/ 1 h 116"/>
                  <a:gd name="T10" fmla="*/ 1 w 86"/>
                  <a:gd name="T11" fmla="*/ 1 h 116"/>
                  <a:gd name="T12" fmla="*/ 1 w 86"/>
                  <a:gd name="T13" fmla="*/ 1 h 116"/>
                  <a:gd name="T14" fmla="*/ 1 w 86"/>
                  <a:gd name="T15" fmla="*/ 1 h 116"/>
                  <a:gd name="T16" fmla="*/ 1 w 86"/>
                  <a:gd name="T17" fmla="*/ 1 h 116"/>
                  <a:gd name="T18" fmla="*/ 0 w 86"/>
                  <a:gd name="T19" fmla="*/ 1 h 116"/>
                  <a:gd name="T20" fmla="*/ 1 w 86"/>
                  <a:gd name="T21" fmla="*/ 1 h 116"/>
                  <a:gd name="T22" fmla="*/ 1 w 86"/>
                  <a:gd name="T23" fmla="*/ 1 h 116"/>
                  <a:gd name="T24" fmla="*/ 1 w 86"/>
                  <a:gd name="T25" fmla="*/ 1 h 116"/>
                  <a:gd name="T26" fmla="*/ 1 w 86"/>
                  <a:gd name="T27" fmla="*/ 1 h 116"/>
                  <a:gd name="T28" fmla="*/ 1 w 86"/>
                  <a:gd name="T29" fmla="*/ 1 h 116"/>
                  <a:gd name="T30" fmla="*/ 1 w 86"/>
                  <a:gd name="T31" fmla="*/ 1 h 116"/>
                  <a:gd name="T32" fmla="*/ 1 w 86"/>
                  <a:gd name="T33" fmla="*/ 1 h 116"/>
                  <a:gd name="T34" fmla="*/ 1 w 86"/>
                  <a:gd name="T35" fmla="*/ 1 h 116"/>
                  <a:gd name="T36" fmla="*/ 1 w 86"/>
                  <a:gd name="T37" fmla="*/ 1 h 116"/>
                  <a:gd name="T38" fmla="*/ 1 w 86"/>
                  <a:gd name="T39" fmla="*/ 1 h 116"/>
                  <a:gd name="T40" fmla="*/ 1 w 86"/>
                  <a:gd name="T41" fmla="*/ 0 h 1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6"/>
                  <a:gd name="T64" fmla="*/ 0 h 116"/>
                  <a:gd name="T65" fmla="*/ 86 w 86"/>
                  <a:gd name="T66" fmla="*/ 116 h 1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6" h="116">
                    <a:moveTo>
                      <a:pt x="70" y="0"/>
                    </a:moveTo>
                    <a:lnTo>
                      <a:pt x="70" y="0"/>
                    </a:lnTo>
                    <a:lnTo>
                      <a:pt x="62" y="9"/>
                    </a:lnTo>
                    <a:lnTo>
                      <a:pt x="55" y="20"/>
                    </a:lnTo>
                    <a:lnTo>
                      <a:pt x="45" y="35"/>
                    </a:lnTo>
                    <a:lnTo>
                      <a:pt x="34" y="49"/>
                    </a:lnTo>
                    <a:lnTo>
                      <a:pt x="25" y="66"/>
                    </a:lnTo>
                    <a:lnTo>
                      <a:pt x="14" y="80"/>
                    </a:lnTo>
                    <a:lnTo>
                      <a:pt x="6" y="92"/>
                    </a:lnTo>
                    <a:lnTo>
                      <a:pt x="0" y="100"/>
                    </a:lnTo>
                    <a:lnTo>
                      <a:pt x="15" y="116"/>
                    </a:lnTo>
                    <a:lnTo>
                      <a:pt x="25" y="105"/>
                    </a:lnTo>
                    <a:lnTo>
                      <a:pt x="33" y="92"/>
                    </a:lnTo>
                    <a:lnTo>
                      <a:pt x="44" y="78"/>
                    </a:lnTo>
                    <a:lnTo>
                      <a:pt x="53" y="61"/>
                    </a:lnTo>
                    <a:lnTo>
                      <a:pt x="64" y="47"/>
                    </a:lnTo>
                    <a:lnTo>
                      <a:pt x="73" y="33"/>
                    </a:lnTo>
                    <a:lnTo>
                      <a:pt x="81" y="22"/>
                    </a:lnTo>
                    <a:lnTo>
                      <a:pt x="86" y="16"/>
                    </a:lnTo>
                    <a:lnTo>
                      <a:pt x="70" y="0"/>
                    </a:lnTo>
                    <a:close/>
                  </a:path>
                </a:pathLst>
              </a:custGeom>
              <a:solidFill>
                <a:srgbClr val="000000"/>
              </a:solidFill>
              <a:ln w="9525">
                <a:noFill/>
                <a:round/>
                <a:headEnd/>
                <a:tailEnd/>
              </a:ln>
            </p:spPr>
            <p:txBody>
              <a:bodyPr/>
              <a:lstStyle/>
              <a:p>
                <a:endParaRPr lang="en-US"/>
              </a:p>
            </p:txBody>
          </p:sp>
          <p:sp>
            <p:nvSpPr>
              <p:cNvPr id="24729" name="Freeform 118"/>
              <p:cNvSpPr>
                <a:spLocks/>
              </p:cNvSpPr>
              <p:nvPr/>
            </p:nvSpPr>
            <p:spPr bwMode="auto">
              <a:xfrm>
                <a:off x="2147" y="3522"/>
                <a:ext cx="29" cy="17"/>
              </a:xfrm>
              <a:custGeom>
                <a:avLst/>
                <a:gdLst>
                  <a:gd name="T0" fmla="*/ 0 w 60"/>
                  <a:gd name="T1" fmla="*/ 1 h 33"/>
                  <a:gd name="T2" fmla="*/ 0 w 60"/>
                  <a:gd name="T3" fmla="*/ 0 h 33"/>
                  <a:gd name="T4" fmla="*/ 0 w 60"/>
                  <a:gd name="T5" fmla="*/ 0 h 33"/>
                  <a:gd name="T6" fmla="*/ 0 w 60"/>
                  <a:gd name="T7" fmla="*/ 1 h 33"/>
                  <a:gd name="T8" fmla="*/ 0 w 60"/>
                  <a:gd name="T9" fmla="*/ 1 h 33"/>
                  <a:gd name="T10" fmla="*/ 0 w 60"/>
                  <a:gd name="T11" fmla="*/ 1 h 33"/>
                  <a:gd name="T12" fmla="*/ 0 w 60"/>
                  <a:gd name="T13" fmla="*/ 1 h 33"/>
                  <a:gd name="T14" fmla="*/ 0 w 60"/>
                  <a:gd name="T15" fmla="*/ 1 h 33"/>
                  <a:gd name="T16" fmla="*/ 0 w 60"/>
                  <a:gd name="T17" fmla="*/ 1 h 33"/>
                  <a:gd name="T18" fmla="*/ 0 w 60"/>
                  <a:gd name="T19" fmla="*/ 1 h 33"/>
                  <a:gd name="T20" fmla="*/ 0 w 60"/>
                  <a:gd name="T21" fmla="*/ 1 h 33"/>
                  <a:gd name="T22" fmla="*/ 0 w 60"/>
                  <a:gd name="T23" fmla="*/ 1 h 33"/>
                  <a:gd name="T24" fmla="*/ 0 w 60"/>
                  <a:gd name="T25" fmla="*/ 1 h 33"/>
                  <a:gd name="T26" fmla="*/ 0 w 60"/>
                  <a:gd name="T27" fmla="*/ 1 h 33"/>
                  <a:gd name="T28" fmla="*/ 0 w 60"/>
                  <a:gd name="T29" fmla="*/ 1 h 33"/>
                  <a:gd name="T30" fmla="*/ 0 w 60"/>
                  <a:gd name="T31" fmla="*/ 1 h 33"/>
                  <a:gd name="T32" fmla="*/ 0 w 60"/>
                  <a:gd name="T33" fmla="*/ 0 h 33"/>
                  <a:gd name="T34" fmla="*/ 0 w 60"/>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33"/>
                  <a:gd name="T56" fmla="*/ 60 w 60"/>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33">
                    <a:moveTo>
                      <a:pt x="54" y="1"/>
                    </a:moveTo>
                    <a:lnTo>
                      <a:pt x="49" y="0"/>
                    </a:lnTo>
                    <a:lnTo>
                      <a:pt x="43" y="0"/>
                    </a:lnTo>
                    <a:lnTo>
                      <a:pt x="30" y="1"/>
                    </a:lnTo>
                    <a:lnTo>
                      <a:pt x="16" y="8"/>
                    </a:lnTo>
                    <a:lnTo>
                      <a:pt x="0" y="17"/>
                    </a:lnTo>
                    <a:lnTo>
                      <a:pt x="16" y="33"/>
                    </a:lnTo>
                    <a:lnTo>
                      <a:pt x="25" y="26"/>
                    </a:lnTo>
                    <a:lnTo>
                      <a:pt x="36" y="23"/>
                    </a:lnTo>
                    <a:lnTo>
                      <a:pt x="46" y="22"/>
                    </a:lnTo>
                    <a:lnTo>
                      <a:pt x="49" y="22"/>
                    </a:lnTo>
                    <a:lnTo>
                      <a:pt x="44" y="20"/>
                    </a:lnTo>
                    <a:lnTo>
                      <a:pt x="49" y="22"/>
                    </a:lnTo>
                    <a:lnTo>
                      <a:pt x="57" y="19"/>
                    </a:lnTo>
                    <a:lnTo>
                      <a:pt x="60" y="11"/>
                    </a:lnTo>
                    <a:lnTo>
                      <a:pt x="57" y="3"/>
                    </a:lnTo>
                    <a:lnTo>
                      <a:pt x="49" y="0"/>
                    </a:lnTo>
                    <a:lnTo>
                      <a:pt x="54" y="1"/>
                    </a:lnTo>
                    <a:close/>
                  </a:path>
                </a:pathLst>
              </a:custGeom>
              <a:solidFill>
                <a:srgbClr val="000000"/>
              </a:solidFill>
              <a:ln w="9525">
                <a:noFill/>
                <a:round/>
                <a:headEnd/>
                <a:tailEnd/>
              </a:ln>
            </p:spPr>
            <p:txBody>
              <a:bodyPr/>
              <a:lstStyle/>
              <a:p>
                <a:endParaRPr lang="en-US"/>
              </a:p>
            </p:txBody>
          </p:sp>
          <p:sp>
            <p:nvSpPr>
              <p:cNvPr id="24730" name="Freeform 119"/>
              <p:cNvSpPr>
                <a:spLocks/>
              </p:cNvSpPr>
              <p:nvPr/>
            </p:nvSpPr>
            <p:spPr bwMode="auto">
              <a:xfrm>
                <a:off x="2169" y="3523"/>
                <a:ext cx="18" cy="14"/>
              </a:xfrm>
              <a:custGeom>
                <a:avLst/>
                <a:gdLst>
                  <a:gd name="T0" fmla="*/ 0 w 38"/>
                  <a:gd name="T1" fmla="*/ 0 h 29"/>
                  <a:gd name="T2" fmla="*/ 0 w 38"/>
                  <a:gd name="T3" fmla="*/ 0 h 29"/>
                  <a:gd name="T4" fmla="*/ 0 w 38"/>
                  <a:gd name="T5" fmla="*/ 0 h 29"/>
                  <a:gd name="T6" fmla="*/ 0 w 38"/>
                  <a:gd name="T7" fmla="*/ 0 h 29"/>
                  <a:gd name="T8" fmla="*/ 0 w 38"/>
                  <a:gd name="T9" fmla="*/ 0 h 29"/>
                  <a:gd name="T10" fmla="*/ 0 w 38"/>
                  <a:gd name="T11" fmla="*/ 0 h 29"/>
                  <a:gd name="T12" fmla="*/ 0 w 38"/>
                  <a:gd name="T13" fmla="*/ 0 h 29"/>
                  <a:gd name="T14" fmla="*/ 0 w 38"/>
                  <a:gd name="T15" fmla="*/ 0 h 29"/>
                  <a:gd name="T16" fmla="*/ 0 w 38"/>
                  <a:gd name="T17" fmla="*/ 0 h 29"/>
                  <a:gd name="T18" fmla="*/ 0 w 38"/>
                  <a:gd name="T19" fmla="*/ 0 h 29"/>
                  <a:gd name="T20" fmla="*/ 0 w 38"/>
                  <a:gd name="T21" fmla="*/ 0 h 29"/>
                  <a:gd name="T22" fmla="*/ 0 w 38"/>
                  <a:gd name="T23" fmla="*/ 0 h 29"/>
                  <a:gd name="T24" fmla="*/ 0 w 38"/>
                  <a:gd name="T25" fmla="*/ 0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29"/>
                  <a:gd name="T41" fmla="*/ 38 w 38"/>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29">
                    <a:moveTo>
                      <a:pt x="38" y="7"/>
                    </a:moveTo>
                    <a:lnTo>
                      <a:pt x="38" y="7"/>
                    </a:lnTo>
                    <a:lnTo>
                      <a:pt x="27" y="5"/>
                    </a:lnTo>
                    <a:lnTo>
                      <a:pt x="17" y="2"/>
                    </a:lnTo>
                    <a:lnTo>
                      <a:pt x="11" y="0"/>
                    </a:lnTo>
                    <a:lnTo>
                      <a:pt x="10" y="0"/>
                    </a:lnTo>
                    <a:lnTo>
                      <a:pt x="0" y="19"/>
                    </a:lnTo>
                    <a:lnTo>
                      <a:pt x="5" y="22"/>
                    </a:lnTo>
                    <a:lnTo>
                      <a:pt x="11" y="24"/>
                    </a:lnTo>
                    <a:lnTo>
                      <a:pt x="24" y="27"/>
                    </a:lnTo>
                    <a:lnTo>
                      <a:pt x="35" y="29"/>
                    </a:lnTo>
                    <a:lnTo>
                      <a:pt x="38" y="7"/>
                    </a:lnTo>
                    <a:close/>
                  </a:path>
                </a:pathLst>
              </a:custGeom>
              <a:solidFill>
                <a:srgbClr val="000000"/>
              </a:solidFill>
              <a:ln w="9525">
                <a:noFill/>
                <a:round/>
                <a:headEnd/>
                <a:tailEnd/>
              </a:ln>
            </p:spPr>
            <p:txBody>
              <a:bodyPr/>
              <a:lstStyle/>
              <a:p>
                <a:endParaRPr lang="en-US"/>
              </a:p>
            </p:txBody>
          </p:sp>
          <p:sp>
            <p:nvSpPr>
              <p:cNvPr id="24731" name="Freeform 120"/>
              <p:cNvSpPr>
                <a:spLocks/>
              </p:cNvSpPr>
              <p:nvPr/>
            </p:nvSpPr>
            <p:spPr bwMode="auto">
              <a:xfrm>
                <a:off x="2186" y="3520"/>
                <a:ext cx="38" cy="17"/>
              </a:xfrm>
              <a:custGeom>
                <a:avLst/>
                <a:gdLst>
                  <a:gd name="T0" fmla="*/ 1 w 76"/>
                  <a:gd name="T1" fmla="*/ 0 h 35"/>
                  <a:gd name="T2" fmla="*/ 1 w 76"/>
                  <a:gd name="T3" fmla="*/ 0 h 35"/>
                  <a:gd name="T4" fmla="*/ 1 w 76"/>
                  <a:gd name="T5" fmla="*/ 0 h 35"/>
                  <a:gd name="T6" fmla="*/ 1 w 76"/>
                  <a:gd name="T7" fmla="*/ 0 h 35"/>
                  <a:gd name="T8" fmla="*/ 1 w 76"/>
                  <a:gd name="T9" fmla="*/ 0 h 35"/>
                  <a:gd name="T10" fmla="*/ 1 w 76"/>
                  <a:gd name="T11" fmla="*/ 0 h 35"/>
                  <a:gd name="T12" fmla="*/ 1 w 76"/>
                  <a:gd name="T13" fmla="*/ 0 h 35"/>
                  <a:gd name="T14" fmla="*/ 1 w 76"/>
                  <a:gd name="T15" fmla="*/ 0 h 35"/>
                  <a:gd name="T16" fmla="*/ 1 w 76"/>
                  <a:gd name="T17" fmla="*/ 0 h 35"/>
                  <a:gd name="T18" fmla="*/ 1 w 76"/>
                  <a:gd name="T19" fmla="*/ 0 h 35"/>
                  <a:gd name="T20" fmla="*/ 0 w 76"/>
                  <a:gd name="T21" fmla="*/ 0 h 35"/>
                  <a:gd name="T22" fmla="*/ 1 w 76"/>
                  <a:gd name="T23" fmla="*/ 0 h 35"/>
                  <a:gd name="T24" fmla="*/ 1 w 76"/>
                  <a:gd name="T25" fmla="*/ 0 h 35"/>
                  <a:gd name="T26" fmla="*/ 1 w 76"/>
                  <a:gd name="T27" fmla="*/ 0 h 35"/>
                  <a:gd name="T28" fmla="*/ 1 w 76"/>
                  <a:gd name="T29" fmla="*/ 0 h 35"/>
                  <a:gd name="T30" fmla="*/ 1 w 76"/>
                  <a:gd name="T31" fmla="*/ 0 h 35"/>
                  <a:gd name="T32" fmla="*/ 1 w 76"/>
                  <a:gd name="T33" fmla="*/ 0 h 35"/>
                  <a:gd name="T34" fmla="*/ 1 w 76"/>
                  <a:gd name="T35" fmla="*/ 0 h 35"/>
                  <a:gd name="T36" fmla="*/ 1 w 76"/>
                  <a:gd name="T37" fmla="*/ 0 h 35"/>
                  <a:gd name="T38" fmla="*/ 1 w 76"/>
                  <a:gd name="T39" fmla="*/ 0 h 35"/>
                  <a:gd name="T40" fmla="*/ 1 w 76"/>
                  <a:gd name="T41" fmla="*/ 0 h 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35"/>
                  <a:gd name="T65" fmla="*/ 76 w 76"/>
                  <a:gd name="T66" fmla="*/ 35 h 3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35">
                    <a:moveTo>
                      <a:pt x="70" y="0"/>
                    </a:moveTo>
                    <a:lnTo>
                      <a:pt x="70" y="0"/>
                    </a:lnTo>
                    <a:lnTo>
                      <a:pt x="62" y="3"/>
                    </a:lnTo>
                    <a:lnTo>
                      <a:pt x="53" y="5"/>
                    </a:lnTo>
                    <a:lnTo>
                      <a:pt x="42" y="8"/>
                    </a:lnTo>
                    <a:lnTo>
                      <a:pt x="34" y="10"/>
                    </a:lnTo>
                    <a:lnTo>
                      <a:pt x="25" y="11"/>
                    </a:lnTo>
                    <a:lnTo>
                      <a:pt x="15" y="13"/>
                    </a:lnTo>
                    <a:lnTo>
                      <a:pt x="7" y="13"/>
                    </a:lnTo>
                    <a:lnTo>
                      <a:pt x="3" y="13"/>
                    </a:lnTo>
                    <a:lnTo>
                      <a:pt x="0" y="35"/>
                    </a:lnTo>
                    <a:lnTo>
                      <a:pt x="7" y="35"/>
                    </a:lnTo>
                    <a:lnTo>
                      <a:pt x="18" y="35"/>
                    </a:lnTo>
                    <a:lnTo>
                      <a:pt x="28" y="33"/>
                    </a:lnTo>
                    <a:lnTo>
                      <a:pt x="37" y="31"/>
                    </a:lnTo>
                    <a:lnTo>
                      <a:pt x="48" y="30"/>
                    </a:lnTo>
                    <a:lnTo>
                      <a:pt x="59" y="27"/>
                    </a:lnTo>
                    <a:lnTo>
                      <a:pt x="68" y="25"/>
                    </a:lnTo>
                    <a:lnTo>
                      <a:pt x="76" y="22"/>
                    </a:lnTo>
                    <a:lnTo>
                      <a:pt x="70" y="0"/>
                    </a:lnTo>
                    <a:close/>
                  </a:path>
                </a:pathLst>
              </a:custGeom>
              <a:solidFill>
                <a:srgbClr val="000000"/>
              </a:solidFill>
              <a:ln w="9525">
                <a:noFill/>
                <a:round/>
                <a:headEnd/>
                <a:tailEnd/>
              </a:ln>
            </p:spPr>
            <p:txBody>
              <a:bodyPr/>
              <a:lstStyle/>
              <a:p>
                <a:endParaRPr lang="en-US"/>
              </a:p>
            </p:txBody>
          </p:sp>
          <p:sp>
            <p:nvSpPr>
              <p:cNvPr id="24732" name="Freeform 121"/>
              <p:cNvSpPr>
                <a:spLocks/>
              </p:cNvSpPr>
              <p:nvPr/>
            </p:nvSpPr>
            <p:spPr bwMode="auto">
              <a:xfrm>
                <a:off x="2221" y="3511"/>
                <a:ext cx="21" cy="20"/>
              </a:xfrm>
              <a:custGeom>
                <a:avLst/>
                <a:gdLst>
                  <a:gd name="T0" fmla="*/ 1 w 42"/>
                  <a:gd name="T1" fmla="*/ 0 h 41"/>
                  <a:gd name="T2" fmla="*/ 1 w 42"/>
                  <a:gd name="T3" fmla="*/ 0 h 41"/>
                  <a:gd name="T4" fmla="*/ 1 w 42"/>
                  <a:gd name="T5" fmla="*/ 0 h 41"/>
                  <a:gd name="T6" fmla="*/ 1 w 42"/>
                  <a:gd name="T7" fmla="*/ 0 h 41"/>
                  <a:gd name="T8" fmla="*/ 1 w 42"/>
                  <a:gd name="T9" fmla="*/ 0 h 41"/>
                  <a:gd name="T10" fmla="*/ 0 w 42"/>
                  <a:gd name="T11" fmla="*/ 0 h 41"/>
                  <a:gd name="T12" fmla="*/ 1 w 42"/>
                  <a:gd name="T13" fmla="*/ 0 h 41"/>
                  <a:gd name="T14" fmla="*/ 1 w 42"/>
                  <a:gd name="T15" fmla="*/ 0 h 41"/>
                  <a:gd name="T16" fmla="*/ 1 w 42"/>
                  <a:gd name="T17" fmla="*/ 0 h 41"/>
                  <a:gd name="T18" fmla="*/ 1 w 42"/>
                  <a:gd name="T19" fmla="*/ 0 h 41"/>
                  <a:gd name="T20" fmla="*/ 1 w 42"/>
                  <a:gd name="T21" fmla="*/ 0 h 41"/>
                  <a:gd name="T22" fmla="*/ 1 w 42"/>
                  <a:gd name="T23" fmla="*/ 0 h 41"/>
                  <a:gd name="T24" fmla="*/ 1 w 42"/>
                  <a:gd name="T25" fmla="*/ 0 h 41"/>
                  <a:gd name="T26" fmla="*/ 1 w 42"/>
                  <a:gd name="T27" fmla="*/ 0 h 41"/>
                  <a:gd name="T28" fmla="*/ 1 w 42"/>
                  <a:gd name="T29" fmla="*/ 0 h 41"/>
                  <a:gd name="T30" fmla="*/ 1 w 42"/>
                  <a:gd name="T31" fmla="*/ 0 h 41"/>
                  <a:gd name="T32" fmla="*/ 1 w 42"/>
                  <a:gd name="T33" fmla="*/ 0 h 41"/>
                  <a:gd name="T34" fmla="*/ 1 w 42"/>
                  <a:gd name="T35" fmla="*/ 0 h 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2"/>
                  <a:gd name="T55" fmla="*/ 0 h 41"/>
                  <a:gd name="T56" fmla="*/ 42 w 42"/>
                  <a:gd name="T57" fmla="*/ 41 h 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2" h="41">
                    <a:moveTo>
                      <a:pt x="22" y="18"/>
                    </a:moveTo>
                    <a:lnTo>
                      <a:pt x="22" y="5"/>
                    </a:lnTo>
                    <a:lnTo>
                      <a:pt x="19" y="8"/>
                    </a:lnTo>
                    <a:lnTo>
                      <a:pt x="11" y="14"/>
                    </a:lnTo>
                    <a:lnTo>
                      <a:pt x="0" y="19"/>
                    </a:lnTo>
                    <a:lnTo>
                      <a:pt x="6" y="41"/>
                    </a:lnTo>
                    <a:lnTo>
                      <a:pt x="20" y="33"/>
                    </a:lnTo>
                    <a:lnTo>
                      <a:pt x="31" y="27"/>
                    </a:lnTo>
                    <a:lnTo>
                      <a:pt x="38" y="21"/>
                    </a:lnTo>
                    <a:lnTo>
                      <a:pt x="41" y="18"/>
                    </a:lnTo>
                    <a:lnTo>
                      <a:pt x="41" y="5"/>
                    </a:lnTo>
                    <a:lnTo>
                      <a:pt x="41" y="18"/>
                    </a:lnTo>
                    <a:lnTo>
                      <a:pt x="42" y="8"/>
                    </a:lnTo>
                    <a:lnTo>
                      <a:pt x="38" y="2"/>
                    </a:lnTo>
                    <a:lnTo>
                      <a:pt x="30" y="0"/>
                    </a:lnTo>
                    <a:lnTo>
                      <a:pt x="22" y="5"/>
                    </a:lnTo>
                    <a:lnTo>
                      <a:pt x="22" y="18"/>
                    </a:lnTo>
                    <a:close/>
                  </a:path>
                </a:pathLst>
              </a:custGeom>
              <a:solidFill>
                <a:srgbClr val="000000"/>
              </a:solidFill>
              <a:ln w="9525">
                <a:noFill/>
                <a:round/>
                <a:headEnd/>
                <a:tailEnd/>
              </a:ln>
            </p:spPr>
            <p:txBody>
              <a:bodyPr/>
              <a:lstStyle/>
              <a:p>
                <a:endParaRPr lang="en-US"/>
              </a:p>
            </p:txBody>
          </p:sp>
          <p:sp>
            <p:nvSpPr>
              <p:cNvPr id="24733" name="Freeform 122"/>
              <p:cNvSpPr>
                <a:spLocks/>
              </p:cNvSpPr>
              <p:nvPr/>
            </p:nvSpPr>
            <p:spPr bwMode="auto">
              <a:xfrm>
                <a:off x="2227" y="3501"/>
                <a:ext cx="14" cy="18"/>
              </a:xfrm>
              <a:custGeom>
                <a:avLst/>
                <a:gdLst>
                  <a:gd name="T0" fmla="*/ 1 w 28"/>
                  <a:gd name="T1" fmla="*/ 0 h 38"/>
                  <a:gd name="T2" fmla="*/ 1 w 28"/>
                  <a:gd name="T3" fmla="*/ 0 h 38"/>
                  <a:gd name="T4" fmla="*/ 0 w 28"/>
                  <a:gd name="T5" fmla="*/ 0 h 38"/>
                  <a:gd name="T6" fmla="*/ 1 w 28"/>
                  <a:gd name="T7" fmla="*/ 0 h 38"/>
                  <a:gd name="T8" fmla="*/ 1 w 28"/>
                  <a:gd name="T9" fmla="*/ 0 h 38"/>
                  <a:gd name="T10" fmla="*/ 1 w 28"/>
                  <a:gd name="T11" fmla="*/ 0 h 38"/>
                  <a:gd name="T12" fmla="*/ 1 w 28"/>
                  <a:gd name="T13" fmla="*/ 0 h 38"/>
                  <a:gd name="T14" fmla="*/ 1 w 28"/>
                  <a:gd name="T15" fmla="*/ 0 h 38"/>
                  <a:gd name="T16" fmla="*/ 1 w 28"/>
                  <a:gd name="T17" fmla="*/ 0 h 38"/>
                  <a:gd name="T18" fmla="*/ 1 w 28"/>
                  <a:gd name="T19" fmla="*/ 0 h 38"/>
                  <a:gd name="T20" fmla="*/ 1 w 28"/>
                  <a:gd name="T21" fmla="*/ 0 h 38"/>
                  <a:gd name="T22" fmla="*/ 1 w 28"/>
                  <a:gd name="T23" fmla="*/ 0 h 38"/>
                  <a:gd name="T24" fmla="*/ 1 w 28"/>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8"/>
                  <a:gd name="T41" fmla="*/ 28 w 28"/>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8">
                    <a:moveTo>
                      <a:pt x="7" y="2"/>
                    </a:moveTo>
                    <a:lnTo>
                      <a:pt x="9" y="0"/>
                    </a:lnTo>
                    <a:lnTo>
                      <a:pt x="0" y="16"/>
                    </a:lnTo>
                    <a:lnTo>
                      <a:pt x="4" y="27"/>
                    </a:lnTo>
                    <a:lnTo>
                      <a:pt x="7" y="33"/>
                    </a:lnTo>
                    <a:lnTo>
                      <a:pt x="9" y="38"/>
                    </a:lnTo>
                    <a:lnTo>
                      <a:pt x="28" y="25"/>
                    </a:lnTo>
                    <a:lnTo>
                      <a:pt x="26" y="24"/>
                    </a:lnTo>
                    <a:lnTo>
                      <a:pt x="23" y="17"/>
                    </a:lnTo>
                    <a:lnTo>
                      <a:pt x="21" y="13"/>
                    </a:lnTo>
                    <a:lnTo>
                      <a:pt x="15" y="22"/>
                    </a:lnTo>
                    <a:lnTo>
                      <a:pt x="17" y="20"/>
                    </a:lnTo>
                    <a:lnTo>
                      <a:pt x="7" y="2"/>
                    </a:lnTo>
                    <a:close/>
                  </a:path>
                </a:pathLst>
              </a:custGeom>
              <a:solidFill>
                <a:srgbClr val="000000"/>
              </a:solidFill>
              <a:ln w="9525">
                <a:noFill/>
                <a:round/>
                <a:headEnd/>
                <a:tailEnd/>
              </a:ln>
            </p:spPr>
            <p:txBody>
              <a:bodyPr/>
              <a:lstStyle/>
              <a:p>
                <a:endParaRPr lang="en-US"/>
              </a:p>
            </p:txBody>
          </p:sp>
          <p:sp>
            <p:nvSpPr>
              <p:cNvPr id="24734" name="Freeform 123"/>
              <p:cNvSpPr>
                <a:spLocks/>
              </p:cNvSpPr>
              <p:nvPr/>
            </p:nvSpPr>
            <p:spPr bwMode="auto">
              <a:xfrm>
                <a:off x="2231" y="3500"/>
                <a:ext cx="29" cy="14"/>
              </a:xfrm>
              <a:custGeom>
                <a:avLst/>
                <a:gdLst>
                  <a:gd name="T0" fmla="*/ 1 w 58"/>
                  <a:gd name="T1" fmla="*/ 0 h 29"/>
                  <a:gd name="T2" fmla="*/ 1 w 58"/>
                  <a:gd name="T3" fmla="*/ 0 h 29"/>
                  <a:gd name="T4" fmla="*/ 1 w 58"/>
                  <a:gd name="T5" fmla="*/ 0 h 29"/>
                  <a:gd name="T6" fmla="*/ 1 w 58"/>
                  <a:gd name="T7" fmla="*/ 0 h 29"/>
                  <a:gd name="T8" fmla="*/ 1 w 58"/>
                  <a:gd name="T9" fmla="*/ 0 h 29"/>
                  <a:gd name="T10" fmla="*/ 1 w 58"/>
                  <a:gd name="T11" fmla="*/ 0 h 29"/>
                  <a:gd name="T12" fmla="*/ 1 w 58"/>
                  <a:gd name="T13" fmla="*/ 0 h 29"/>
                  <a:gd name="T14" fmla="*/ 1 w 58"/>
                  <a:gd name="T15" fmla="*/ 0 h 29"/>
                  <a:gd name="T16" fmla="*/ 1 w 58"/>
                  <a:gd name="T17" fmla="*/ 0 h 29"/>
                  <a:gd name="T18" fmla="*/ 0 w 58"/>
                  <a:gd name="T19" fmla="*/ 0 h 29"/>
                  <a:gd name="T20" fmla="*/ 1 w 58"/>
                  <a:gd name="T21" fmla="*/ 0 h 29"/>
                  <a:gd name="T22" fmla="*/ 1 w 58"/>
                  <a:gd name="T23" fmla="*/ 0 h 29"/>
                  <a:gd name="T24" fmla="*/ 1 w 58"/>
                  <a:gd name="T25" fmla="*/ 0 h 29"/>
                  <a:gd name="T26" fmla="*/ 1 w 58"/>
                  <a:gd name="T27" fmla="*/ 0 h 29"/>
                  <a:gd name="T28" fmla="*/ 1 w 58"/>
                  <a:gd name="T29" fmla="*/ 0 h 29"/>
                  <a:gd name="T30" fmla="*/ 1 w 58"/>
                  <a:gd name="T31" fmla="*/ 0 h 29"/>
                  <a:gd name="T32" fmla="*/ 1 w 58"/>
                  <a:gd name="T33" fmla="*/ 0 h 29"/>
                  <a:gd name="T34" fmla="*/ 1 w 58"/>
                  <a:gd name="T35" fmla="*/ 0 h 29"/>
                  <a:gd name="T36" fmla="*/ 1 w 58"/>
                  <a:gd name="T37" fmla="*/ 0 h 29"/>
                  <a:gd name="T38" fmla="*/ 1 w 58"/>
                  <a:gd name="T39" fmla="*/ 0 h 29"/>
                  <a:gd name="T40" fmla="*/ 1 w 58"/>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29"/>
                  <a:gd name="T65" fmla="*/ 58 w 58"/>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29">
                    <a:moveTo>
                      <a:pt x="58" y="10"/>
                    </a:moveTo>
                    <a:lnTo>
                      <a:pt x="58" y="10"/>
                    </a:lnTo>
                    <a:lnTo>
                      <a:pt x="52" y="7"/>
                    </a:lnTo>
                    <a:lnTo>
                      <a:pt x="46" y="5"/>
                    </a:lnTo>
                    <a:lnTo>
                      <a:pt x="38" y="4"/>
                    </a:lnTo>
                    <a:lnTo>
                      <a:pt x="30" y="2"/>
                    </a:lnTo>
                    <a:lnTo>
                      <a:pt x="22" y="2"/>
                    </a:lnTo>
                    <a:lnTo>
                      <a:pt x="16" y="0"/>
                    </a:lnTo>
                    <a:lnTo>
                      <a:pt x="7" y="0"/>
                    </a:lnTo>
                    <a:lnTo>
                      <a:pt x="0" y="4"/>
                    </a:lnTo>
                    <a:lnTo>
                      <a:pt x="10" y="22"/>
                    </a:lnTo>
                    <a:lnTo>
                      <a:pt x="13" y="22"/>
                    </a:lnTo>
                    <a:lnTo>
                      <a:pt x="19" y="24"/>
                    </a:lnTo>
                    <a:lnTo>
                      <a:pt x="27" y="24"/>
                    </a:lnTo>
                    <a:lnTo>
                      <a:pt x="32" y="26"/>
                    </a:lnTo>
                    <a:lnTo>
                      <a:pt x="40" y="27"/>
                    </a:lnTo>
                    <a:lnTo>
                      <a:pt x="46" y="29"/>
                    </a:lnTo>
                    <a:lnTo>
                      <a:pt x="49" y="29"/>
                    </a:lnTo>
                    <a:lnTo>
                      <a:pt x="58" y="10"/>
                    </a:lnTo>
                    <a:close/>
                  </a:path>
                </a:pathLst>
              </a:custGeom>
              <a:solidFill>
                <a:srgbClr val="000000"/>
              </a:solidFill>
              <a:ln w="9525">
                <a:noFill/>
                <a:round/>
                <a:headEnd/>
                <a:tailEnd/>
              </a:ln>
            </p:spPr>
            <p:txBody>
              <a:bodyPr/>
              <a:lstStyle/>
              <a:p>
                <a:endParaRPr lang="en-US"/>
              </a:p>
            </p:txBody>
          </p:sp>
          <p:sp>
            <p:nvSpPr>
              <p:cNvPr id="24735" name="Freeform 124"/>
              <p:cNvSpPr>
                <a:spLocks/>
              </p:cNvSpPr>
              <p:nvPr/>
            </p:nvSpPr>
            <p:spPr bwMode="auto">
              <a:xfrm>
                <a:off x="2254" y="3504"/>
                <a:ext cx="13" cy="59"/>
              </a:xfrm>
              <a:custGeom>
                <a:avLst/>
                <a:gdLst>
                  <a:gd name="T0" fmla="*/ 1 w 26"/>
                  <a:gd name="T1" fmla="*/ 1 h 117"/>
                  <a:gd name="T2" fmla="*/ 1 w 26"/>
                  <a:gd name="T3" fmla="*/ 1 h 117"/>
                  <a:gd name="T4" fmla="*/ 1 w 26"/>
                  <a:gd name="T5" fmla="*/ 1 h 117"/>
                  <a:gd name="T6" fmla="*/ 1 w 26"/>
                  <a:gd name="T7" fmla="*/ 1 h 117"/>
                  <a:gd name="T8" fmla="*/ 1 w 26"/>
                  <a:gd name="T9" fmla="*/ 1 h 117"/>
                  <a:gd name="T10" fmla="*/ 1 w 26"/>
                  <a:gd name="T11" fmla="*/ 1 h 117"/>
                  <a:gd name="T12" fmla="*/ 1 w 26"/>
                  <a:gd name="T13" fmla="*/ 1 h 117"/>
                  <a:gd name="T14" fmla="*/ 1 w 26"/>
                  <a:gd name="T15" fmla="*/ 1 h 117"/>
                  <a:gd name="T16" fmla="*/ 1 w 26"/>
                  <a:gd name="T17" fmla="*/ 1 h 117"/>
                  <a:gd name="T18" fmla="*/ 1 w 26"/>
                  <a:gd name="T19" fmla="*/ 0 h 117"/>
                  <a:gd name="T20" fmla="*/ 1 w 26"/>
                  <a:gd name="T21" fmla="*/ 1 h 117"/>
                  <a:gd name="T22" fmla="*/ 0 w 26"/>
                  <a:gd name="T23" fmla="*/ 1 h 117"/>
                  <a:gd name="T24" fmla="*/ 1 w 26"/>
                  <a:gd name="T25" fmla="*/ 1 h 117"/>
                  <a:gd name="T26" fmla="*/ 1 w 26"/>
                  <a:gd name="T27" fmla="*/ 1 h 117"/>
                  <a:gd name="T28" fmla="*/ 1 w 26"/>
                  <a:gd name="T29" fmla="*/ 1 h 117"/>
                  <a:gd name="T30" fmla="*/ 1 w 26"/>
                  <a:gd name="T31" fmla="*/ 1 h 117"/>
                  <a:gd name="T32" fmla="*/ 1 w 26"/>
                  <a:gd name="T33" fmla="*/ 1 h 117"/>
                  <a:gd name="T34" fmla="*/ 1 w 26"/>
                  <a:gd name="T35" fmla="*/ 1 h 117"/>
                  <a:gd name="T36" fmla="*/ 1 w 26"/>
                  <a:gd name="T37" fmla="*/ 1 h 117"/>
                  <a:gd name="T38" fmla="*/ 1 w 26"/>
                  <a:gd name="T39" fmla="*/ 1 h 117"/>
                  <a:gd name="T40" fmla="*/ 1 w 26"/>
                  <a:gd name="T41" fmla="*/ 1 h 117"/>
                  <a:gd name="T42" fmla="*/ 1 w 26"/>
                  <a:gd name="T43" fmla="*/ 1 h 117"/>
                  <a:gd name="T44" fmla="*/ 1 w 26"/>
                  <a:gd name="T45" fmla="*/ 1 h 117"/>
                  <a:gd name="T46" fmla="*/ 1 w 26"/>
                  <a:gd name="T47" fmla="*/ 1 h 117"/>
                  <a:gd name="T48" fmla="*/ 1 w 26"/>
                  <a:gd name="T49" fmla="*/ 1 h 1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
                  <a:gd name="T76" fmla="*/ 0 h 117"/>
                  <a:gd name="T77" fmla="*/ 26 w 26"/>
                  <a:gd name="T78" fmla="*/ 117 h 11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 h="117">
                    <a:moveTo>
                      <a:pt x="26" y="106"/>
                    </a:moveTo>
                    <a:lnTo>
                      <a:pt x="26" y="106"/>
                    </a:lnTo>
                    <a:lnTo>
                      <a:pt x="26" y="102"/>
                    </a:lnTo>
                    <a:lnTo>
                      <a:pt x="26" y="92"/>
                    </a:lnTo>
                    <a:lnTo>
                      <a:pt x="26" y="77"/>
                    </a:lnTo>
                    <a:lnTo>
                      <a:pt x="26" y="59"/>
                    </a:lnTo>
                    <a:lnTo>
                      <a:pt x="25" y="41"/>
                    </a:lnTo>
                    <a:lnTo>
                      <a:pt x="23" y="25"/>
                    </a:lnTo>
                    <a:lnTo>
                      <a:pt x="22" y="12"/>
                    </a:lnTo>
                    <a:lnTo>
                      <a:pt x="12" y="0"/>
                    </a:lnTo>
                    <a:lnTo>
                      <a:pt x="3" y="19"/>
                    </a:lnTo>
                    <a:lnTo>
                      <a:pt x="0" y="19"/>
                    </a:lnTo>
                    <a:lnTo>
                      <a:pt x="1" y="28"/>
                    </a:lnTo>
                    <a:lnTo>
                      <a:pt x="3" y="44"/>
                    </a:lnTo>
                    <a:lnTo>
                      <a:pt x="4" y="59"/>
                    </a:lnTo>
                    <a:lnTo>
                      <a:pt x="4" y="77"/>
                    </a:lnTo>
                    <a:lnTo>
                      <a:pt x="4" y="92"/>
                    </a:lnTo>
                    <a:lnTo>
                      <a:pt x="4" y="102"/>
                    </a:lnTo>
                    <a:lnTo>
                      <a:pt x="4" y="106"/>
                    </a:lnTo>
                    <a:lnTo>
                      <a:pt x="8" y="114"/>
                    </a:lnTo>
                    <a:lnTo>
                      <a:pt x="15" y="117"/>
                    </a:lnTo>
                    <a:lnTo>
                      <a:pt x="23" y="114"/>
                    </a:lnTo>
                    <a:lnTo>
                      <a:pt x="26" y="106"/>
                    </a:lnTo>
                    <a:close/>
                  </a:path>
                </a:pathLst>
              </a:custGeom>
              <a:solidFill>
                <a:srgbClr val="000000"/>
              </a:solidFill>
              <a:ln w="9525">
                <a:noFill/>
                <a:round/>
                <a:headEnd/>
                <a:tailEnd/>
              </a:ln>
            </p:spPr>
            <p:txBody>
              <a:bodyPr/>
              <a:lstStyle/>
              <a:p>
                <a:endParaRPr lang="en-US"/>
              </a:p>
            </p:txBody>
          </p:sp>
          <p:sp>
            <p:nvSpPr>
              <p:cNvPr id="24736" name="Freeform 125"/>
              <p:cNvSpPr>
                <a:spLocks/>
              </p:cNvSpPr>
              <p:nvPr/>
            </p:nvSpPr>
            <p:spPr bwMode="auto">
              <a:xfrm>
                <a:off x="2215" y="3558"/>
                <a:ext cx="52" cy="194"/>
              </a:xfrm>
              <a:custGeom>
                <a:avLst/>
                <a:gdLst>
                  <a:gd name="T0" fmla="*/ 1 w 104"/>
                  <a:gd name="T1" fmla="*/ 1 h 388"/>
                  <a:gd name="T2" fmla="*/ 1 w 104"/>
                  <a:gd name="T3" fmla="*/ 1 h 388"/>
                  <a:gd name="T4" fmla="*/ 1 w 104"/>
                  <a:gd name="T5" fmla="*/ 1 h 388"/>
                  <a:gd name="T6" fmla="*/ 1 w 104"/>
                  <a:gd name="T7" fmla="*/ 1 h 388"/>
                  <a:gd name="T8" fmla="*/ 1 w 104"/>
                  <a:gd name="T9" fmla="*/ 1 h 388"/>
                  <a:gd name="T10" fmla="*/ 1 w 104"/>
                  <a:gd name="T11" fmla="*/ 1 h 388"/>
                  <a:gd name="T12" fmla="*/ 1 w 104"/>
                  <a:gd name="T13" fmla="*/ 1 h 388"/>
                  <a:gd name="T14" fmla="*/ 1 w 104"/>
                  <a:gd name="T15" fmla="*/ 1 h 388"/>
                  <a:gd name="T16" fmla="*/ 1 w 104"/>
                  <a:gd name="T17" fmla="*/ 1 h 388"/>
                  <a:gd name="T18" fmla="*/ 1 w 104"/>
                  <a:gd name="T19" fmla="*/ 1 h 388"/>
                  <a:gd name="T20" fmla="*/ 1 w 104"/>
                  <a:gd name="T21" fmla="*/ 1 h 388"/>
                  <a:gd name="T22" fmla="*/ 1 w 104"/>
                  <a:gd name="T23" fmla="*/ 1 h 388"/>
                  <a:gd name="T24" fmla="*/ 1 w 104"/>
                  <a:gd name="T25" fmla="*/ 1 h 388"/>
                  <a:gd name="T26" fmla="*/ 1 w 104"/>
                  <a:gd name="T27" fmla="*/ 1 h 388"/>
                  <a:gd name="T28" fmla="*/ 1 w 104"/>
                  <a:gd name="T29" fmla="*/ 1 h 388"/>
                  <a:gd name="T30" fmla="*/ 1 w 104"/>
                  <a:gd name="T31" fmla="*/ 1 h 388"/>
                  <a:gd name="T32" fmla="*/ 1 w 104"/>
                  <a:gd name="T33" fmla="*/ 1 h 388"/>
                  <a:gd name="T34" fmla="*/ 1 w 104"/>
                  <a:gd name="T35" fmla="*/ 0 h 388"/>
                  <a:gd name="T36" fmla="*/ 1 w 104"/>
                  <a:gd name="T37" fmla="*/ 0 h 388"/>
                  <a:gd name="T38" fmla="*/ 1 w 104"/>
                  <a:gd name="T39" fmla="*/ 1 h 388"/>
                  <a:gd name="T40" fmla="*/ 1 w 104"/>
                  <a:gd name="T41" fmla="*/ 1 h 388"/>
                  <a:gd name="T42" fmla="*/ 1 w 104"/>
                  <a:gd name="T43" fmla="*/ 1 h 388"/>
                  <a:gd name="T44" fmla="*/ 1 w 104"/>
                  <a:gd name="T45" fmla="*/ 1 h 388"/>
                  <a:gd name="T46" fmla="*/ 1 w 104"/>
                  <a:gd name="T47" fmla="*/ 1 h 388"/>
                  <a:gd name="T48" fmla="*/ 1 w 104"/>
                  <a:gd name="T49" fmla="*/ 1 h 388"/>
                  <a:gd name="T50" fmla="*/ 1 w 104"/>
                  <a:gd name="T51" fmla="*/ 1 h 388"/>
                  <a:gd name="T52" fmla="*/ 1 w 104"/>
                  <a:gd name="T53" fmla="*/ 1 h 388"/>
                  <a:gd name="T54" fmla="*/ 1 w 104"/>
                  <a:gd name="T55" fmla="*/ 1 h 388"/>
                  <a:gd name="T56" fmla="*/ 1 w 104"/>
                  <a:gd name="T57" fmla="*/ 1 h 388"/>
                  <a:gd name="T58" fmla="*/ 1 w 104"/>
                  <a:gd name="T59" fmla="*/ 1 h 388"/>
                  <a:gd name="T60" fmla="*/ 1 w 104"/>
                  <a:gd name="T61" fmla="*/ 1 h 388"/>
                  <a:gd name="T62" fmla="*/ 1 w 104"/>
                  <a:gd name="T63" fmla="*/ 1 h 388"/>
                  <a:gd name="T64" fmla="*/ 1 w 104"/>
                  <a:gd name="T65" fmla="*/ 1 h 388"/>
                  <a:gd name="T66" fmla="*/ 1 w 104"/>
                  <a:gd name="T67" fmla="*/ 1 h 388"/>
                  <a:gd name="T68" fmla="*/ 0 w 104"/>
                  <a:gd name="T69" fmla="*/ 1 h 388"/>
                  <a:gd name="T70" fmla="*/ 0 w 104"/>
                  <a:gd name="T71" fmla="*/ 1 h 388"/>
                  <a:gd name="T72" fmla="*/ 1 w 104"/>
                  <a:gd name="T73" fmla="*/ 1 h 3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4"/>
                  <a:gd name="T112" fmla="*/ 0 h 388"/>
                  <a:gd name="T113" fmla="*/ 104 w 104"/>
                  <a:gd name="T114" fmla="*/ 388 h 3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4" h="388">
                    <a:moveTo>
                      <a:pt x="3" y="388"/>
                    </a:moveTo>
                    <a:lnTo>
                      <a:pt x="3" y="388"/>
                    </a:lnTo>
                    <a:lnTo>
                      <a:pt x="23" y="379"/>
                    </a:lnTo>
                    <a:lnTo>
                      <a:pt x="39" y="362"/>
                    </a:lnTo>
                    <a:lnTo>
                      <a:pt x="53" y="341"/>
                    </a:lnTo>
                    <a:lnTo>
                      <a:pt x="65" y="315"/>
                    </a:lnTo>
                    <a:lnTo>
                      <a:pt x="73" y="285"/>
                    </a:lnTo>
                    <a:lnTo>
                      <a:pt x="81" y="252"/>
                    </a:lnTo>
                    <a:lnTo>
                      <a:pt x="87" y="218"/>
                    </a:lnTo>
                    <a:lnTo>
                      <a:pt x="92" y="183"/>
                    </a:lnTo>
                    <a:lnTo>
                      <a:pt x="97" y="149"/>
                    </a:lnTo>
                    <a:lnTo>
                      <a:pt x="100" y="116"/>
                    </a:lnTo>
                    <a:lnTo>
                      <a:pt x="101" y="85"/>
                    </a:lnTo>
                    <a:lnTo>
                      <a:pt x="103" y="57"/>
                    </a:lnTo>
                    <a:lnTo>
                      <a:pt x="104" y="33"/>
                    </a:lnTo>
                    <a:lnTo>
                      <a:pt x="104" y="16"/>
                    </a:lnTo>
                    <a:lnTo>
                      <a:pt x="104" y="5"/>
                    </a:lnTo>
                    <a:lnTo>
                      <a:pt x="104" y="0"/>
                    </a:lnTo>
                    <a:lnTo>
                      <a:pt x="82" y="0"/>
                    </a:lnTo>
                    <a:lnTo>
                      <a:pt x="82" y="5"/>
                    </a:lnTo>
                    <a:lnTo>
                      <a:pt x="82" y="16"/>
                    </a:lnTo>
                    <a:lnTo>
                      <a:pt x="82" y="33"/>
                    </a:lnTo>
                    <a:lnTo>
                      <a:pt x="81" y="57"/>
                    </a:lnTo>
                    <a:lnTo>
                      <a:pt x="79" y="85"/>
                    </a:lnTo>
                    <a:lnTo>
                      <a:pt x="78" y="113"/>
                    </a:lnTo>
                    <a:lnTo>
                      <a:pt x="75" y="146"/>
                    </a:lnTo>
                    <a:lnTo>
                      <a:pt x="70" y="180"/>
                    </a:lnTo>
                    <a:lnTo>
                      <a:pt x="65" y="215"/>
                    </a:lnTo>
                    <a:lnTo>
                      <a:pt x="59" y="249"/>
                    </a:lnTo>
                    <a:lnTo>
                      <a:pt x="51" y="279"/>
                    </a:lnTo>
                    <a:lnTo>
                      <a:pt x="43" y="308"/>
                    </a:lnTo>
                    <a:lnTo>
                      <a:pt x="34" y="332"/>
                    </a:lnTo>
                    <a:lnTo>
                      <a:pt x="23" y="349"/>
                    </a:lnTo>
                    <a:lnTo>
                      <a:pt x="10" y="360"/>
                    </a:lnTo>
                    <a:lnTo>
                      <a:pt x="0" y="366"/>
                    </a:lnTo>
                    <a:lnTo>
                      <a:pt x="3" y="388"/>
                    </a:lnTo>
                    <a:close/>
                  </a:path>
                </a:pathLst>
              </a:custGeom>
              <a:solidFill>
                <a:srgbClr val="000000"/>
              </a:solidFill>
              <a:ln w="9525">
                <a:noFill/>
                <a:round/>
                <a:headEnd/>
                <a:tailEnd/>
              </a:ln>
            </p:spPr>
            <p:txBody>
              <a:bodyPr/>
              <a:lstStyle/>
              <a:p>
                <a:endParaRPr lang="en-US"/>
              </a:p>
            </p:txBody>
          </p:sp>
          <p:sp>
            <p:nvSpPr>
              <p:cNvPr id="24737" name="Freeform 126"/>
              <p:cNvSpPr>
                <a:spLocks/>
              </p:cNvSpPr>
              <p:nvPr/>
            </p:nvSpPr>
            <p:spPr bwMode="auto">
              <a:xfrm>
                <a:off x="2108" y="3741"/>
                <a:ext cx="108" cy="19"/>
              </a:xfrm>
              <a:custGeom>
                <a:avLst/>
                <a:gdLst>
                  <a:gd name="T0" fmla="*/ 0 w 216"/>
                  <a:gd name="T1" fmla="*/ 0 h 40"/>
                  <a:gd name="T2" fmla="*/ 0 w 216"/>
                  <a:gd name="T3" fmla="*/ 0 h 40"/>
                  <a:gd name="T4" fmla="*/ 1 w 216"/>
                  <a:gd name="T5" fmla="*/ 0 h 40"/>
                  <a:gd name="T6" fmla="*/ 1 w 216"/>
                  <a:gd name="T7" fmla="*/ 0 h 40"/>
                  <a:gd name="T8" fmla="*/ 1 w 216"/>
                  <a:gd name="T9" fmla="*/ 0 h 40"/>
                  <a:gd name="T10" fmla="*/ 1 w 216"/>
                  <a:gd name="T11" fmla="*/ 0 h 40"/>
                  <a:gd name="T12" fmla="*/ 1 w 216"/>
                  <a:gd name="T13" fmla="*/ 0 h 40"/>
                  <a:gd name="T14" fmla="*/ 1 w 216"/>
                  <a:gd name="T15" fmla="*/ 0 h 40"/>
                  <a:gd name="T16" fmla="*/ 1 w 216"/>
                  <a:gd name="T17" fmla="*/ 0 h 40"/>
                  <a:gd name="T18" fmla="*/ 1 w 216"/>
                  <a:gd name="T19" fmla="*/ 0 h 40"/>
                  <a:gd name="T20" fmla="*/ 1 w 216"/>
                  <a:gd name="T21" fmla="*/ 0 h 40"/>
                  <a:gd name="T22" fmla="*/ 1 w 216"/>
                  <a:gd name="T23" fmla="*/ 0 h 40"/>
                  <a:gd name="T24" fmla="*/ 1 w 216"/>
                  <a:gd name="T25" fmla="*/ 0 h 40"/>
                  <a:gd name="T26" fmla="*/ 1 w 216"/>
                  <a:gd name="T27" fmla="*/ 0 h 40"/>
                  <a:gd name="T28" fmla="*/ 1 w 216"/>
                  <a:gd name="T29" fmla="*/ 0 h 40"/>
                  <a:gd name="T30" fmla="*/ 1 w 216"/>
                  <a:gd name="T31" fmla="*/ 0 h 40"/>
                  <a:gd name="T32" fmla="*/ 1 w 216"/>
                  <a:gd name="T33" fmla="*/ 0 h 40"/>
                  <a:gd name="T34" fmla="*/ 1 w 216"/>
                  <a:gd name="T35" fmla="*/ 0 h 40"/>
                  <a:gd name="T36" fmla="*/ 1 w 216"/>
                  <a:gd name="T37" fmla="*/ 0 h 40"/>
                  <a:gd name="T38" fmla="*/ 1 w 216"/>
                  <a:gd name="T39" fmla="*/ 0 h 40"/>
                  <a:gd name="T40" fmla="*/ 0 w 216"/>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6"/>
                  <a:gd name="T64" fmla="*/ 0 h 40"/>
                  <a:gd name="T65" fmla="*/ 216 w 216"/>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6" h="40">
                    <a:moveTo>
                      <a:pt x="0" y="30"/>
                    </a:moveTo>
                    <a:lnTo>
                      <a:pt x="0" y="30"/>
                    </a:lnTo>
                    <a:lnTo>
                      <a:pt x="21" y="35"/>
                    </a:lnTo>
                    <a:lnTo>
                      <a:pt x="43" y="38"/>
                    </a:lnTo>
                    <a:lnTo>
                      <a:pt x="68" y="40"/>
                    </a:lnTo>
                    <a:lnTo>
                      <a:pt x="94" y="38"/>
                    </a:lnTo>
                    <a:lnTo>
                      <a:pt x="123" y="36"/>
                    </a:lnTo>
                    <a:lnTo>
                      <a:pt x="151" y="33"/>
                    </a:lnTo>
                    <a:lnTo>
                      <a:pt x="183" y="29"/>
                    </a:lnTo>
                    <a:lnTo>
                      <a:pt x="216" y="22"/>
                    </a:lnTo>
                    <a:lnTo>
                      <a:pt x="213" y="0"/>
                    </a:lnTo>
                    <a:lnTo>
                      <a:pt x="180" y="7"/>
                    </a:lnTo>
                    <a:lnTo>
                      <a:pt x="148" y="11"/>
                    </a:lnTo>
                    <a:lnTo>
                      <a:pt x="120" y="14"/>
                    </a:lnTo>
                    <a:lnTo>
                      <a:pt x="94" y="16"/>
                    </a:lnTo>
                    <a:lnTo>
                      <a:pt x="68" y="18"/>
                    </a:lnTo>
                    <a:lnTo>
                      <a:pt x="47" y="16"/>
                    </a:lnTo>
                    <a:lnTo>
                      <a:pt x="25" y="13"/>
                    </a:lnTo>
                    <a:lnTo>
                      <a:pt x="6" y="8"/>
                    </a:lnTo>
                    <a:lnTo>
                      <a:pt x="0" y="30"/>
                    </a:lnTo>
                    <a:close/>
                  </a:path>
                </a:pathLst>
              </a:custGeom>
              <a:solidFill>
                <a:srgbClr val="000000"/>
              </a:solidFill>
              <a:ln w="9525">
                <a:noFill/>
                <a:round/>
                <a:headEnd/>
                <a:tailEnd/>
              </a:ln>
            </p:spPr>
            <p:txBody>
              <a:bodyPr/>
              <a:lstStyle/>
              <a:p>
                <a:endParaRPr lang="en-US"/>
              </a:p>
            </p:txBody>
          </p:sp>
          <p:sp>
            <p:nvSpPr>
              <p:cNvPr id="24738" name="Freeform 127"/>
              <p:cNvSpPr>
                <a:spLocks/>
              </p:cNvSpPr>
              <p:nvPr/>
            </p:nvSpPr>
            <p:spPr bwMode="auto">
              <a:xfrm>
                <a:off x="2053" y="3734"/>
                <a:ext cx="58" cy="22"/>
              </a:xfrm>
              <a:custGeom>
                <a:avLst/>
                <a:gdLst>
                  <a:gd name="T0" fmla="*/ 0 w 116"/>
                  <a:gd name="T1" fmla="*/ 1 h 42"/>
                  <a:gd name="T2" fmla="*/ 0 w 116"/>
                  <a:gd name="T3" fmla="*/ 1 h 42"/>
                  <a:gd name="T4" fmla="*/ 1 w 116"/>
                  <a:gd name="T5" fmla="*/ 1 h 42"/>
                  <a:gd name="T6" fmla="*/ 1 w 116"/>
                  <a:gd name="T7" fmla="*/ 1 h 42"/>
                  <a:gd name="T8" fmla="*/ 1 w 116"/>
                  <a:gd name="T9" fmla="*/ 1 h 42"/>
                  <a:gd name="T10" fmla="*/ 1 w 116"/>
                  <a:gd name="T11" fmla="*/ 1 h 42"/>
                  <a:gd name="T12" fmla="*/ 1 w 116"/>
                  <a:gd name="T13" fmla="*/ 1 h 42"/>
                  <a:gd name="T14" fmla="*/ 1 w 116"/>
                  <a:gd name="T15" fmla="*/ 1 h 42"/>
                  <a:gd name="T16" fmla="*/ 1 w 116"/>
                  <a:gd name="T17" fmla="*/ 1 h 42"/>
                  <a:gd name="T18" fmla="*/ 1 w 116"/>
                  <a:gd name="T19" fmla="*/ 1 h 42"/>
                  <a:gd name="T20" fmla="*/ 1 w 116"/>
                  <a:gd name="T21" fmla="*/ 1 h 42"/>
                  <a:gd name="T22" fmla="*/ 1 w 116"/>
                  <a:gd name="T23" fmla="*/ 1 h 42"/>
                  <a:gd name="T24" fmla="*/ 1 w 116"/>
                  <a:gd name="T25" fmla="*/ 1 h 42"/>
                  <a:gd name="T26" fmla="*/ 1 w 116"/>
                  <a:gd name="T27" fmla="*/ 1 h 42"/>
                  <a:gd name="T28" fmla="*/ 1 w 116"/>
                  <a:gd name="T29" fmla="*/ 1 h 42"/>
                  <a:gd name="T30" fmla="*/ 1 w 116"/>
                  <a:gd name="T31" fmla="*/ 1 h 42"/>
                  <a:gd name="T32" fmla="*/ 1 w 116"/>
                  <a:gd name="T33" fmla="*/ 0 h 42"/>
                  <a:gd name="T34" fmla="*/ 1 w 116"/>
                  <a:gd name="T35" fmla="*/ 0 h 42"/>
                  <a:gd name="T36" fmla="*/ 0 w 116"/>
                  <a:gd name="T37" fmla="*/ 0 h 42"/>
                  <a:gd name="T38" fmla="*/ 0 w 116"/>
                  <a:gd name="T39" fmla="*/ 0 h 42"/>
                  <a:gd name="T40" fmla="*/ 0 w 116"/>
                  <a:gd name="T41" fmla="*/ 1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6"/>
                  <a:gd name="T64" fmla="*/ 0 h 42"/>
                  <a:gd name="T65" fmla="*/ 116 w 116"/>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6" h="42">
                    <a:moveTo>
                      <a:pt x="0" y="22"/>
                    </a:moveTo>
                    <a:lnTo>
                      <a:pt x="0" y="22"/>
                    </a:lnTo>
                    <a:lnTo>
                      <a:pt x="6" y="22"/>
                    </a:lnTo>
                    <a:lnTo>
                      <a:pt x="17" y="22"/>
                    </a:lnTo>
                    <a:lnTo>
                      <a:pt x="27" y="23"/>
                    </a:lnTo>
                    <a:lnTo>
                      <a:pt x="41" y="25"/>
                    </a:lnTo>
                    <a:lnTo>
                      <a:pt x="58" y="28"/>
                    </a:lnTo>
                    <a:lnTo>
                      <a:pt x="74" y="31"/>
                    </a:lnTo>
                    <a:lnTo>
                      <a:pt x="91" y="36"/>
                    </a:lnTo>
                    <a:lnTo>
                      <a:pt x="110" y="42"/>
                    </a:lnTo>
                    <a:lnTo>
                      <a:pt x="116" y="20"/>
                    </a:lnTo>
                    <a:lnTo>
                      <a:pt x="97" y="14"/>
                    </a:lnTo>
                    <a:lnTo>
                      <a:pt x="80" y="9"/>
                    </a:lnTo>
                    <a:lnTo>
                      <a:pt x="61" y="6"/>
                    </a:lnTo>
                    <a:lnTo>
                      <a:pt x="44" y="3"/>
                    </a:lnTo>
                    <a:lnTo>
                      <a:pt x="30" y="1"/>
                    </a:lnTo>
                    <a:lnTo>
                      <a:pt x="17" y="0"/>
                    </a:lnTo>
                    <a:lnTo>
                      <a:pt x="6" y="0"/>
                    </a:lnTo>
                    <a:lnTo>
                      <a:pt x="0" y="0"/>
                    </a:lnTo>
                    <a:lnTo>
                      <a:pt x="0" y="22"/>
                    </a:lnTo>
                    <a:close/>
                  </a:path>
                </a:pathLst>
              </a:custGeom>
              <a:solidFill>
                <a:srgbClr val="000000"/>
              </a:solidFill>
              <a:ln w="9525">
                <a:noFill/>
                <a:round/>
                <a:headEnd/>
                <a:tailEnd/>
              </a:ln>
            </p:spPr>
            <p:txBody>
              <a:bodyPr/>
              <a:lstStyle/>
              <a:p>
                <a:endParaRPr lang="en-US"/>
              </a:p>
            </p:txBody>
          </p:sp>
          <p:sp>
            <p:nvSpPr>
              <p:cNvPr id="24739" name="Freeform 128"/>
              <p:cNvSpPr>
                <a:spLocks/>
              </p:cNvSpPr>
              <p:nvPr/>
            </p:nvSpPr>
            <p:spPr bwMode="auto">
              <a:xfrm>
                <a:off x="2041" y="3734"/>
                <a:ext cx="12" cy="15"/>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0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1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22" y="19"/>
                    </a:moveTo>
                    <a:lnTo>
                      <a:pt x="22" y="17"/>
                    </a:lnTo>
                    <a:lnTo>
                      <a:pt x="20" y="20"/>
                    </a:lnTo>
                    <a:lnTo>
                      <a:pt x="17" y="23"/>
                    </a:lnTo>
                    <a:lnTo>
                      <a:pt x="20" y="23"/>
                    </a:lnTo>
                    <a:lnTo>
                      <a:pt x="25" y="22"/>
                    </a:lnTo>
                    <a:lnTo>
                      <a:pt x="25" y="0"/>
                    </a:lnTo>
                    <a:lnTo>
                      <a:pt x="14" y="1"/>
                    </a:lnTo>
                    <a:lnTo>
                      <a:pt x="8" y="5"/>
                    </a:lnTo>
                    <a:lnTo>
                      <a:pt x="1" y="11"/>
                    </a:lnTo>
                    <a:lnTo>
                      <a:pt x="0" y="17"/>
                    </a:lnTo>
                    <a:lnTo>
                      <a:pt x="0" y="16"/>
                    </a:lnTo>
                    <a:lnTo>
                      <a:pt x="0" y="17"/>
                    </a:lnTo>
                    <a:lnTo>
                      <a:pt x="3" y="25"/>
                    </a:lnTo>
                    <a:lnTo>
                      <a:pt x="11" y="28"/>
                    </a:lnTo>
                    <a:lnTo>
                      <a:pt x="19" y="25"/>
                    </a:lnTo>
                    <a:lnTo>
                      <a:pt x="22" y="17"/>
                    </a:lnTo>
                    <a:lnTo>
                      <a:pt x="22" y="19"/>
                    </a:lnTo>
                    <a:close/>
                  </a:path>
                </a:pathLst>
              </a:custGeom>
              <a:solidFill>
                <a:srgbClr val="000000"/>
              </a:solidFill>
              <a:ln w="9525">
                <a:noFill/>
                <a:round/>
                <a:headEnd/>
                <a:tailEnd/>
              </a:ln>
            </p:spPr>
            <p:txBody>
              <a:bodyPr/>
              <a:lstStyle/>
              <a:p>
                <a:endParaRPr lang="en-US"/>
              </a:p>
            </p:txBody>
          </p:sp>
          <p:sp>
            <p:nvSpPr>
              <p:cNvPr id="24740" name="Freeform 129"/>
              <p:cNvSpPr>
                <a:spLocks/>
              </p:cNvSpPr>
              <p:nvPr/>
            </p:nvSpPr>
            <p:spPr bwMode="auto">
              <a:xfrm>
                <a:off x="2040" y="3742"/>
                <a:ext cx="12" cy="13"/>
              </a:xfrm>
              <a:custGeom>
                <a:avLst/>
                <a:gdLst>
                  <a:gd name="T0" fmla="*/ 1 w 24"/>
                  <a:gd name="T1" fmla="*/ 1 h 25"/>
                  <a:gd name="T2" fmla="*/ 1 w 24"/>
                  <a:gd name="T3" fmla="*/ 1 h 25"/>
                  <a:gd name="T4" fmla="*/ 1 w 24"/>
                  <a:gd name="T5" fmla="*/ 1 h 25"/>
                  <a:gd name="T6" fmla="*/ 1 w 24"/>
                  <a:gd name="T7" fmla="*/ 0 h 25"/>
                  <a:gd name="T8" fmla="*/ 0 w 24"/>
                  <a:gd name="T9" fmla="*/ 1 h 25"/>
                  <a:gd name="T10" fmla="*/ 0 w 24"/>
                  <a:gd name="T11" fmla="*/ 1 h 25"/>
                  <a:gd name="T12" fmla="*/ 0 w 24"/>
                  <a:gd name="T13" fmla="*/ 1 h 25"/>
                  <a:gd name="T14" fmla="*/ 1 w 24"/>
                  <a:gd name="T15" fmla="*/ 1 h 25"/>
                  <a:gd name="T16" fmla="*/ 1 w 24"/>
                  <a:gd name="T17" fmla="*/ 1 h 25"/>
                  <a:gd name="T18" fmla="*/ 1 w 24"/>
                  <a:gd name="T19" fmla="*/ 1 h 25"/>
                  <a:gd name="T20" fmla="*/ 1 w 24"/>
                  <a:gd name="T21" fmla="*/ 1 h 25"/>
                  <a:gd name="T22" fmla="*/ 1 w 24"/>
                  <a:gd name="T23" fmla="*/ 1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5"/>
                  <a:gd name="T38" fmla="*/ 24 w 24"/>
                  <a:gd name="T39" fmla="*/ 25 h 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5">
                    <a:moveTo>
                      <a:pt x="22" y="14"/>
                    </a:moveTo>
                    <a:lnTo>
                      <a:pt x="22" y="15"/>
                    </a:lnTo>
                    <a:lnTo>
                      <a:pt x="24" y="3"/>
                    </a:lnTo>
                    <a:lnTo>
                      <a:pt x="2" y="0"/>
                    </a:lnTo>
                    <a:lnTo>
                      <a:pt x="0" y="12"/>
                    </a:lnTo>
                    <a:lnTo>
                      <a:pt x="0" y="14"/>
                    </a:lnTo>
                    <a:lnTo>
                      <a:pt x="0" y="12"/>
                    </a:lnTo>
                    <a:lnTo>
                      <a:pt x="3" y="20"/>
                    </a:lnTo>
                    <a:lnTo>
                      <a:pt x="10" y="25"/>
                    </a:lnTo>
                    <a:lnTo>
                      <a:pt x="18" y="23"/>
                    </a:lnTo>
                    <a:lnTo>
                      <a:pt x="22" y="15"/>
                    </a:lnTo>
                    <a:lnTo>
                      <a:pt x="22" y="14"/>
                    </a:lnTo>
                    <a:close/>
                  </a:path>
                </a:pathLst>
              </a:custGeom>
              <a:solidFill>
                <a:srgbClr val="000000"/>
              </a:solidFill>
              <a:ln w="9525">
                <a:noFill/>
                <a:round/>
                <a:headEnd/>
                <a:tailEnd/>
              </a:ln>
            </p:spPr>
            <p:txBody>
              <a:bodyPr/>
              <a:lstStyle/>
              <a:p>
                <a:endParaRPr lang="en-US"/>
              </a:p>
            </p:txBody>
          </p:sp>
          <p:sp>
            <p:nvSpPr>
              <p:cNvPr id="24741" name="Freeform 130"/>
              <p:cNvSpPr>
                <a:spLocks/>
              </p:cNvSpPr>
              <p:nvPr/>
            </p:nvSpPr>
            <p:spPr bwMode="auto">
              <a:xfrm>
                <a:off x="2040" y="3749"/>
                <a:ext cx="14" cy="91"/>
              </a:xfrm>
              <a:custGeom>
                <a:avLst/>
                <a:gdLst>
                  <a:gd name="T0" fmla="*/ 0 w 29"/>
                  <a:gd name="T1" fmla="*/ 1 h 181"/>
                  <a:gd name="T2" fmla="*/ 0 w 29"/>
                  <a:gd name="T3" fmla="*/ 1 h 181"/>
                  <a:gd name="T4" fmla="*/ 0 w 29"/>
                  <a:gd name="T5" fmla="*/ 0 h 181"/>
                  <a:gd name="T6" fmla="*/ 0 w 29"/>
                  <a:gd name="T7" fmla="*/ 0 h 181"/>
                  <a:gd name="T8" fmla="*/ 0 w 29"/>
                  <a:gd name="T9" fmla="*/ 1 h 181"/>
                  <a:gd name="T10" fmla="*/ 0 w 29"/>
                  <a:gd name="T11" fmla="*/ 1 h 181"/>
                  <a:gd name="T12" fmla="*/ 0 w 29"/>
                  <a:gd name="T13" fmla="*/ 1 h 181"/>
                  <a:gd name="T14" fmla="*/ 0 w 29"/>
                  <a:gd name="T15" fmla="*/ 1 h 181"/>
                  <a:gd name="T16" fmla="*/ 0 w 29"/>
                  <a:gd name="T17" fmla="*/ 1 h 181"/>
                  <a:gd name="T18" fmla="*/ 0 w 29"/>
                  <a:gd name="T19" fmla="*/ 1 h 181"/>
                  <a:gd name="T20" fmla="*/ 0 w 29"/>
                  <a:gd name="T21" fmla="*/ 1 h 181"/>
                  <a:gd name="T22" fmla="*/ 0 w 29"/>
                  <a:gd name="T23" fmla="*/ 1 h 1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
                  <a:gd name="T37" fmla="*/ 0 h 181"/>
                  <a:gd name="T38" fmla="*/ 29 w 29"/>
                  <a:gd name="T39" fmla="*/ 181 h 1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 h="181">
                    <a:moveTo>
                      <a:pt x="24" y="180"/>
                    </a:moveTo>
                    <a:lnTo>
                      <a:pt x="29" y="170"/>
                    </a:lnTo>
                    <a:lnTo>
                      <a:pt x="22" y="0"/>
                    </a:lnTo>
                    <a:lnTo>
                      <a:pt x="0" y="0"/>
                    </a:lnTo>
                    <a:lnTo>
                      <a:pt x="7" y="170"/>
                    </a:lnTo>
                    <a:lnTo>
                      <a:pt x="11" y="161"/>
                    </a:lnTo>
                    <a:lnTo>
                      <a:pt x="7" y="170"/>
                    </a:lnTo>
                    <a:lnTo>
                      <a:pt x="10" y="178"/>
                    </a:lnTo>
                    <a:lnTo>
                      <a:pt x="18" y="181"/>
                    </a:lnTo>
                    <a:lnTo>
                      <a:pt x="25" y="178"/>
                    </a:lnTo>
                    <a:lnTo>
                      <a:pt x="29" y="170"/>
                    </a:lnTo>
                    <a:lnTo>
                      <a:pt x="24" y="180"/>
                    </a:lnTo>
                    <a:close/>
                  </a:path>
                </a:pathLst>
              </a:custGeom>
              <a:solidFill>
                <a:srgbClr val="000000"/>
              </a:solidFill>
              <a:ln w="9525">
                <a:noFill/>
                <a:round/>
                <a:headEnd/>
                <a:tailEnd/>
              </a:ln>
            </p:spPr>
            <p:txBody>
              <a:bodyPr/>
              <a:lstStyle/>
              <a:p>
                <a:endParaRPr lang="en-US"/>
              </a:p>
            </p:txBody>
          </p:sp>
          <p:sp>
            <p:nvSpPr>
              <p:cNvPr id="24742" name="Freeform 131"/>
              <p:cNvSpPr>
                <a:spLocks/>
              </p:cNvSpPr>
              <p:nvPr/>
            </p:nvSpPr>
            <p:spPr bwMode="auto">
              <a:xfrm>
                <a:off x="2018" y="3830"/>
                <a:ext cx="34" cy="16"/>
              </a:xfrm>
              <a:custGeom>
                <a:avLst/>
                <a:gdLst>
                  <a:gd name="T0" fmla="*/ 0 w 67"/>
                  <a:gd name="T1" fmla="*/ 0 h 33"/>
                  <a:gd name="T2" fmla="*/ 0 w 67"/>
                  <a:gd name="T3" fmla="*/ 0 h 33"/>
                  <a:gd name="T4" fmla="*/ 1 w 67"/>
                  <a:gd name="T5" fmla="*/ 0 h 33"/>
                  <a:gd name="T6" fmla="*/ 1 w 67"/>
                  <a:gd name="T7" fmla="*/ 0 h 33"/>
                  <a:gd name="T8" fmla="*/ 1 w 67"/>
                  <a:gd name="T9" fmla="*/ 0 h 33"/>
                  <a:gd name="T10" fmla="*/ 1 w 67"/>
                  <a:gd name="T11" fmla="*/ 0 h 33"/>
                  <a:gd name="T12" fmla="*/ 1 w 67"/>
                  <a:gd name="T13" fmla="*/ 0 h 33"/>
                  <a:gd name="T14" fmla="*/ 1 w 67"/>
                  <a:gd name="T15" fmla="*/ 0 h 33"/>
                  <a:gd name="T16" fmla="*/ 1 w 67"/>
                  <a:gd name="T17" fmla="*/ 0 h 33"/>
                  <a:gd name="T18" fmla="*/ 1 w 67"/>
                  <a:gd name="T19" fmla="*/ 0 h 33"/>
                  <a:gd name="T20" fmla="*/ 1 w 67"/>
                  <a:gd name="T21" fmla="*/ 0 h 33"/>
                  <a:gd name="T22" fmla="*/ 1 w 67"/>
                  <a:gd name="T23" fmla="*/ 0 h 33"/>
                  <a:gd name="T24" fmla="*/ 1 w 67"/>
                  <a:gd name="T25" fmla="*/ 0 h 33"/>
                  <a:gd name="T26" fmla="*/ 1 w 67"/>
                  <a:gd name="T27" fmla="*/ 0 h 33"/>
                  <a:gd name="T28" fmla="*/ 1 w 67"/>
                  <a:gd name="T29" fmla="*/ 0 h 33"/>
                  <a:gd name="T30" fmla="*/ 1 w 67"/>
                  <a:gd name="T31" fmla="*/ 0 h 33"/>
                  <a:gd name="T32" fmla="*/ 1 w 67"/>
                  <a:gd name="T33" fmla="*/ 0 h 33"/>
                  <a:gd name="T34" fmla="*/ 1 w 67"/>
                  <a:gd name="T35" fmla="*/ 0 h 33"/>
                  <a:gd name="T36" fmla="*/ 1 w 67"/>
                  <a:gd name="T37" fmla="*/ 0 h 33"/>
                  <a:gd name="T38" fmla="*/ 1 w 67"/>
                  <a:gd name="T39" fmla="*/ 0 h 33"/>
                  <a:gd name="T40" fmla="*/ 0 w 67"/>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33"/>
                  <a:gd name="T65" fmla="*/ 67 w 67"/>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33">
                    <a:moveTo>
                      <a:pt x="0" y="33"/>
                    </a:moveTo>
                    <a:lnTo>
                      <a:pt x="0" y="33"/>
                    </a:lnTo>
                    <a:lnTo>
                      <a:pt x="15" y="33"/>
                    </a:lnTo>
                    <a:lnTo>
                      <a:pt x="28" y="33"/>
                    </a:lnTo>
                    <a:lnTo>
                      <a:pt x="40" y="29"/>
                    </a:lnTo>
                    <a:lnTo>
                      <a:pt x="48" y="28"/>
                    </a:lnTo>
                    <a:lnTo>
                      <a:pt x="56" y="25"/>
                    </a:lnTo>
                    <a:lnTo>
                      <a:pt x="64" y="22"/>
                    </a:lnTo>
                    <a:lnTo>
                      <a:pt x="67" y="17"/>
                    </a:lnTo>
                    <a:lnTo>
                      <a:pt x="67" y="19"/>
                    </a:lnTo>
                    <a:lnTo>
                      <a:pt x="54" y="0"/>
                    </a:lnTo>
                    <a:lnTo>
                      <a:pt x="51" y="1"/>
                    </a:lnTo>
                    <a:lnTo>
                      <a:pt x="51" y="3"/>
                    </a:lnTo>
                    <a:lnTo>
                      <a:pt x="50" y="3"/>
                    </a:lnTo>
                    <a:lnTo>
                      <a:pt x="42" y="6"/>
                    </a:lnTo>
                    <a:lnTo>
                      <a:pt x="34" y="8"/>
                    </a:lnTo>
                    <a:lnTo>
                      <a:pt x="25" y="11"/>
                    </a:lnTo>
                    <a:lnTo>
                      <a:pt x="15" y="11"/>
                    </a:lnTo>
                    <a:lnTo>
                      <a:pt x="3" y="11"/>
                    </a:lnTo>
                    <a:lnTo>
                      <a:pt x="0" y="33"/>
                    </a:lnTo>
                    <a:close/>
                  </a:path>
                </a:pathLst>
              </a:custGeom>
              <a:solidFill>
                <a:srgbClr val="000000"/>
              </a:solidFill>
              <a:ln w="9525">
                <a:noFill/>
                <a:round/>
                <a:headEnd/>
                <a:tailEnd/>
              </a:ln>
            </p:spPr>
            <p:txBody>
              <a:bodyPr/>
              <a:lstStyle/>
              <a:p>
                <a:endParaRPr lang="en-US"/>
              </a:p>
            </p:txBody>
          </p:sp>
          <p:sp>
            <p:nvSpPr>
              <p:cNvPr id="24743" name="Freeform 132"/>
              <p:cNvSpPr>
                <a:spLocks/>
              </p:cNvSpPr>
              <p:nvPr/>
            </p:nvSpPr>
            <p:spPr bwMode="auto">
              <a:xfrm>
                <a:off x="1992" y="3831"/>
                <a:ext cx="28" cy="15"/>
              </a:xfrm>
              <a:custGeom>
                <a:avLst/>
                <a:gdLst>
                  <a:gd name="T0" fmla="*/ 0 w 57"/>
                  <a:gd name="T1" fmla="*/ 0 h 32"/>
                  <a:gd name="T2" fmla="*/ 0 w 57"/>
                  <a:gd name="T3" fmla="*/ 0 h 32"/>
                  <a:gd name="T4" fmla="*/ 0 w 57"/>
                  <a:gd name="T5" fmla="*/ 0 h 32"/>
                  <a:gd name="T6" fmla="*/ 0 w 57"/>
                  <a:gd name="T7" fmla="*/ 0 h 32"/>
                  <a:gd name="T8" fmla="*/ 0 w 57"/>
                  <a:gd name="T9" fmla="*/ 0 h 32"/>
                  <a:gd name="T10" fmla="*/ 0 w 57"/>
                  <a:gd name="T11" fmla="*/ 0 h 32"/>
                  <a:gd name="T12" fmla="*/ 0 w 57"/>
                  <a:gd name="T13" fmla="*/ 0 h 32"/>
                  <a:gd name="T14" fmla="*/ 0 w 57"/>
                  <a:gd name="T15" fmla="*/ 0 h 32"/>
                  <a:gd name="T16" fmla="*/ 0 w 57"/>
                  <a:gd name="T17" fmla="*/ 0 h 32"/>
                  <a:gd name="T18" fmla="*/ 0 w 57"/>
                  <a:gd name="T19" fmla="*/ 0 h 32"/>
                  <a:gd name="T20" fmla="*/ 0 w 57"/>
                  <a:gd name="T21" fmla="*/ 0 h 32"/>
                  <a:gd name="T22" fmla="*/ 0 w 57"/>
                  <a:gd name="T23" fmla="*/ 0 h 32"/>
                  <a:gd name="T24" fmla="*/ 0 w 57"/>
                  <a:gd name="T25" fmla="*/ 0 h 32"/>
                  <a:gd name="T26" fmla="*/ 0 w 57"/>
                  <a:gd name="T27" fmla="*/ 0 h 32"/>
                  <a:gd name="T28" fmla="*/ 0 w 57"/>
                  <a:gd name="T29" fmla="*/ 0 h 32"/>
                  <a:gd name="T30" fmla="*/ 0 w 57"/>
                  <a:gd name="T31" fmla="*/ 0 h 32"/>
                  <a:gd name="T32" fmla="*/ 0 w 57"/>
                  <a:gd name="T33" fmla="*/ 0 h 32"/>
                  <a:gd name="T34" fmla="*/ 0 w 57"/>
                  <a:gd name="T35" fmla="*/ 0 h 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
                  <a:gd name="T55" fmla="*/ 0 h 32"/>
                  <a:gd name="T56" fmla="*/ 57 w 57"/>
                  <a:gd name="T57" fmla="*/ 32 h 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 h="32">
                    <a:moveTo>
                      <a:pt x="0" y="13"/>
                    </a:moveTo>
                    <a:lnTo>
                      <a:pt x="2" y="18"/>
                    </a:lnTo>
                    <a:lnTo>
                      <a:pt x="8" y="24"/>
                    </a:lnTo>
                    <a:lnTo>
                      <a:pt x="16" y="25"/>
                    </a:lnTo>
                    <a:lnTo>
                      <a:pt x="30" y="28"/>
                    </a:lnTo>
                    <a:lnTo>
                      <a:pt x="54" y="32"/>
                    </a:lnTo>
                    <a:lnTo>
                      <a:pt x="57" y="10"/>
                    </a:lnTo>
                    <a:lnTo>
                      <a:pt x="33" y="7"/>
                    </a:lnTo>
                    <a:lnTo>
                      <a:pt x="22" y="3"/>
                    </a:lnTo>
                    <a:lnTo>
                      <a:pt x="17" y="2"/>
                    </a:lnTo>
                    <a:lnTo>
                      <a:pt x="21" y="5"/>
                    </a:lnTo>
                    <a:lnTo>
                      <a:pt x="22" y="10"/>
                    </a:lnTo>
                    <a:lnTo>
                      <a:pt x="21" y="5"/>
                    </a:lnTo>
                    <a:lnTo>
                      <a:pt x="13" y="0"/>
                    </a:lnTo>
                    <a:lnTo>
                      <a:pt x="5" y="2"/>
                    </a:lnTo>
                    <a:lnTo>
                      <a:pt x="0" y="8"/>
                    </a:lnTo>
                    <a:lnTo>
                      <a:pt x="2" y="18"/>
                    </a:lnTo>
                    <a:lnTo>
                      <a:pt x="0" y="13"/>
                    </a:lnTo>
                    <a:close/>
                  </a:path>
                </a:pathLst>
              </a:custGeom>
              <a:solidFill>
                <a:srgbClr val="000000"/>
              </a:solidFill>
              <a:ln w="9525">
                <a:noFill/>
                <a:round/>
                <a:headEnd/>
                <a:tailEnd/>
              </a:ln>
            </p:spPr>
            <p:txBody>
              <a:bodyPr/>
              <a:lstStyle/>
              <a:p>
                <a:endParaRPr lang="en-US"/>
              </a:p>
            </p:txBody>
          </p:sp>
          <p:sp>
            <p:nvSpPr>
              <p:cNvPr id="24744" name="Freeform 133"/>
              <p:cNvSpPr>
                <a:spLocks/>
              </p:cNvSpPr>
              <p:nvPr/>
            </p:nvSpPr>
            <p:spPr bwMode="auto">
              <a:xfrm>
                <a:off x="1985" y="3754"/>
                <a:ext cx="18" cy="83"/>
              </a:xfrm>
              <a:custGeom>
                <a:avLst/>
                <a:gdLst>
                  <a:gd name="T0" fmla="*/ 0 w 36"/>
                  <a:gd name="T1" fmla="*/ 0 h 166"/>
                  <a:gd name="T2" fmla="*/ 0 w 36"/>
                  <a:gd name="T3" fmla="*/ 0 h 166"/>
                  <a:gd name="T4" fmla="*/ 0 w 36"/>
                  <a:gd name="T5" fmla="*/ 1 h 166"/>
                  <a:gd name="T6" fmla="*/ 1 w 36"/>
                  <a:gd name="T7" fmla="*/ 1 h 166"/>
                  <a:gd name="T8" fmla="*/ 1 w 36"/>
                  <a:gd name="T9" fmla="*/ 1 h 166"/>
                  <a:gd name="T10" fmla="*/ 1 w 36"/>
                  <a:gd name="T11" fmla="*/ 1 h 166"/>
                  <a:gd name="T12" fmla="*/ 1 w 36"/>
                  <a:gd name="T13" fmla="*/ 1 h 166"/>
                  <a:gd name="T14" fmla="*/ 1 w 36"/>
                  <a:gd name="T15" fmla="*/ 1 h 166"/>
                  <a:gd name="T16" fmla="*/ 1 w 36"/>
                  <a:gd name="T17" fmla="*/ 1 h 166"/>
                  <a:gd name="T18" fmla="*/ 1 w 36"/>
                  <a:gd name="T19" fmla="*/ 1 h 166"/>
                  <a:gd name="T20" fmla="*/ 1 w 36"/>
                  <a:gd name="T21" fmla="*/ 1 h 166"/>
                  <a:gd name="T22" fmla="*/ 1 w 36"/>
                  <a:gd name="T23" fmla="*/ 1 h 166"/>
                  <a:gd name="T24" fmla="*/ 1 w 36"/>
                  <a:gd name="T25" fmla="*/ 1 h 166"/>
                  <a:gd name="T26" fmla="*/ 1 w 36"/>
                  <a:gd name="T27" fmla="*/ 1 h 166"/>
                  <a:gd name="T28" fmla="*/ 1 w 36"/>
                  <a:gd name="T29" fmla="*/ 1 h 166"/>
                  <a:gd name="T30" fmla="*/ 1 w 36"/>
                  <a:gd name="T31" fmla="*/ 1 h 166"/>
                  <a:gd name="T32" fmla="*/ 1 w 36"/>
                  <a:gd name="T33" fmla="*/ 1 h 166"/>
                  <a:gd name="T34" fmla="*/ 1 w 36"/>
                  <a:gd name="T35" fmla="*/ 1 h 166"/>
                  <a:gd name="T36" fmla="*/ 1 w 36"/>
                  <a:gd name="T37" fmla="*/ 1 h 166"/>
                  <a:gd name="T38" fmla="*/ 1 w 36"/>
                  <a:gd name="T39" fmla="*/ 1 h 166"/>
                  <a:gd name="T40" fmla="*/ 0 w 36"/>
                  <a:gd name="T41" fmla="*/ 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6"/>
                  <a:gd name="T64" fmla="*/ 0 h 166"/>
                  <a:gd name="T65" fmla="*/ 36 w 36"/>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6" h="166">
                    <a:moveTo>
                      <a:pt x="0" y="0"/>
                    </a:moveTo>
                    <a:lnTo>
                      <a:pt x="0" y="0"/>
                    </a:lnTo>
                    <a:lnTo>
                      <a:pt x="0" y="19"/>
                    </a:lnTo>
                    <a:lnTo>
                      <a:pt x="2" y="42"/>
                    </a:lnTo>
                    <a:lnTo>
                      <a:pt x="3" y="70"/>
                    </a:lnTo>
                    <a:lnTo>
                      <a:pt x="6" y="99"/>
                    </a:lnTo>
                    <a:lnTo>
                      <a:pt x="10" y="124"/>
                    </a:lnTo>
                    <a:lnTo>
                      <a:pt x="11" y="145"/>
                    </a:lnTo>
                    <a:lnTo>
                      <a:pt x="14" y="160"/>
                    </a:lnTo>
                    <a:lnTo>
                      <a:pt x="14" y="166"/>
                    </a:lnTo>
                    <a:lnTo>
                      <a:pt x="36" y="163"/>
                    </a:lnTo>
                    <a:lnTo>
                      <a:pt x="36" y="156"/>
                    </a:lnTo>
                    <a:lnTo>
                      <a:pt x="33" y="142"/>
                    </a:lnTo>
                    <a:lnTo>
                      <a:pt x="31" y="120"/>
                    </a:lnTo>
                    <a:lnTo>
                      <a:pt x="28" y="95"/>
                    </a:lnTo>
                    <a:lnTo>
                      <a:pt x="25" y="67"/>
                    </a:lnTo>
                    <a:lnTo>
                      <a:pt x="24" y="42"/>
                    </a:lnTo>
                    <a:lnTo>
                      <a:pt x="22" y="19"/>
                    </a:lnTo>
                    <a:lnTo>
                      <a:pt x="22" y="3"/>
                    </a:lnTo>
                    <a:lnTo>
                      <a:pt x="0" y="0"/>
                    </a:lnTo>
                    <a:close/>
                  </a:path>
                </a:pathLst>
              </a:custGeom>
              <a:solidFill>
                <a:srgbClr val="000000"/>
              </a:solidFill>
              <a:ln w="9525">
                <a:noFill/>
                <a:round/>
                <a:headEnd/>
                <a:tailEnd/>
              </a:ln>
            </p:spPr>
            <p:txBody>
              <a:bodyPr/>
              <a:lstStyle/>
              <a:p>
                <a:endParaRPr lang="en-US"/>
              </a:p>
            </p:txBody>
          </p:sp>
          <p:sp>
            <p:nvSpPr>
              <p:cNvPr id="24745" name="Freeform 134"/>
              <p:cNvSpPr>
                <a:spLocks/>
              </p:cNvSpPr>
              <p:nvPr/>
            </p:nvSpPr>
            <p:spPr bwMode="auto">
              <a:xfrm>
                <a:off x="1985" y="3691"/>
                <a:ext cx="18" cy="65"/>
              </a:xfrm>
              <a:custGeom>
                <a:avLst/>
                <a:gdLst>
                  <a:gd name="T0" fmla="*/ 0 w 38"/>
                  <a:gd name="T1" fmla="*/ 0 h 130"/>
                  <a:gd name="T2" fmla="*/ 0 w 38"/>
                  <a:gd name="T3" fmla="*/ 0 h 130"/>
                  <a:gd name="T4" fmla="*/ 0 w 38"/>
                  <a:gd name="T5" fmla="*/ 1 h 130"/>
                  <a:gd name="T6" fmla="*/ 0 w 38"/>
                  <a:gd name="T7" fmla="*/ 1 h 130"/>
                  <a:gd name="T8" fmla="*/ 0 w 38"/>
                  <a:gd name="T9" fmla="*/ 1 h 130"/>
                  <a:gd name="T10" fmla="*/ 0 w 38"/>
                  <a:gd name="T11" fmla="*/ 1 h 130"/>
                  <a:gd name="T12" fmla="*/ 0 w 38"/>
                  <a:gd name="T13" fmla="*/ 1 h 130"/>
                  <a:gd name="T14" fmla="*/ 0 w 38"/>
                  <a:gd name="T15" fmla="*/ 1 h 130"/>
                  <a:gd name="T16" fmla="*/ 0 w 38"/>
                  <a:gd name="T17" fmla="*/ 1 h 130"/>
                  <a:gd name="T18" fmla="*/ 0 w 38"/>
                  <a:gd name="T19" fmla="*/ 1 h 130"/>
                  <a:gd name="T20" fmla="*/ 0 w 38"/>
                  <a:gd name="T21" fmla="*/ 1 h 130"/>
                  <a:gd name="T22" fmla="*/ 0 w 38"/>
                  <a:gd name="T23" fmla="*/ 1 h 130"/>
                  <a:gd name="T24" fmla="*/ 0 w 38"/>
                  <a:gd name="T25" fmla="*/ 1 h 130"/>
                  <a:gd name="T26" fmla="*/ 0 w 38"/>
                  <a:gd name="T27" fmla="*/ 1 h 130"/>
                  <a:gd name="T28" fmla="*/ 0 w 38"/>
                  <a:gd name="T29" fmla="*/ 1 h 130"/>
                  <a:gd name="T30" fmla="*/ 0 w 38"/>
                  <a:gd name="T31" fmla="*/ 1 h 130"/>
                  <a:gd name="T32" fmla="*/ 0 w 38"/>
                  <a:gd name="T33" fmla="*/ 1 h 130"/>
                  <a:gd name="T34" fmla="*/ 0 w 38"/>
                  <a:gd name="T35" fmla="*/ 1 h 130"/>
                  <a:gd name="T36" fmla="*/ 0 w 38"/>
                  <a:gd name="T37" fmla="*/ 1 h 130"/>
                  <a:gd name="T38" fmla="*/ 0 w 38"/>
                  <a:gd name="T39" fmla="*/ 1 h 130"/>
                  <a:gd name="T40" fmla="*/ 0 w 38"/>
                  <a:gd name="T41" fmla="*/ 0 h 1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8"/>
                  <a:gd name="T64" fmla="*/ 0 h 130"/>
                  <a:gd name="T65" fmla="*/ 38 w 38"/>
                  <a:gd name="T66" fmla="*/ 130 h 1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8" h="130">
                    <a:moveTo>
                      <a:pt x="25" y="0"/>
                    </a:moveTo>
                    <a:lnTo>
                      <a:pt x="25" y="0"/>
                    </a:lnTo>
                    <a:lnTo>
                      <a:pt x="13" y="13"/>
                    </a:lnTo>
                    <a:lnTo>
                      <a:pt x="5" y="28"/>
                    </a:lnTo>
                    <a:lnTo>
                      <a:pt x="2" y="46"/>
                    </a:lnTo>
                    <a:lnTo>
                      <a:pt x="0" y="63"/>
                    </a:lnTo>
                    <a:lnTo>
                      <a:pt x="0" y="80"/>
                    </a:lnTo>
                    <a:lnTo>
                      <a:pt x="0" y="97"/>
                    </a:lnTo>
                    <a:lnTo>
                      <a:pt x="0" y="114"/>
                    </a:lnTo>
                    <a:lnTo>
                      <a:pt x="0" y="127"/>
                    </a:lnTo>
                    <a:lnTo>
                      <a:pt x="22" y="130"/>
                    </a:lnTo>
                    <a:lnTo>
                      <a:pt x="22" y="114"/>
                    </a:lnTo>
                    <a:lnTo>
                      <a:pt x="22" y="97"/>
                    </a:lnTo>
                    <a:lnTo>
                      <a:pt x="22" y="80"/>
                    </a:lnTo>
                    <a:lnTo>
                      <a:pt x="22" y="63"/>
                    </a:lnTo>
                    <a:lnTo>
                      <a:pt x="24" y="49"/>
                    </a:lnTo>
                    <a:lnTo>
                      <a:pt x="27" y="35"/>
                    </a:lnTo>
                    <a:lnTo>
                      <a:pt x="31" y="25"/>
                    </a:lnTo>
                    <a:lnTo>
                      <a:pt x="38" y="19"/>
                    </a:lnTo>
                    <a:lnTo>
                      <a:pt x="25" y="0"/>
                    </a:lnTo>
                    <a:close/>
                  </a:path>
                </a:pathLst>
              </a:custGeom>
              <a:solidFill>
                <a:srgbClr val="000000"/>
              </a:solidFill>
              <a:ln w="9525">
                <a:noFill/>
                <a:round/>
                <a:headEnd/>
                <a:tailEnd/>
              </a:ln>
            </p:spPr>
            <p:txBody>
              <a:bodyPr/>
              <a:lstStyle/>
              <a:p>
                <a:endParaRPr lang="en-US"/>
              </a:p>
            </p:txBody>
          </p:sp>
          <p:sp>
            <p:nvSpPr>
              <p:cNvPr id="24746" name="Freeform 135"/>
              <p:cNvSpPr>
                <a:spLocks/>
              </p:cNvSpPr>
              <p:nvPr/>
            </p:nvSpPr>
            <p:spPr bwMode="auto">
              <a:xfrm>
                <a:off x="1997" y="3676"/>
                <a:ext cx="119" cy="24"/>
              </a:xfrm>
              <a:custGeom>
                <a:avLst/>
                <a:gdLst>
                  <a:gd name="T0" fmla="*/ 1 w 238"/>
                  <a:gd name="T1" fmla="*/ 1 h 48"/>
                  <a:gd name="T2" fmla="*/ 1 w 238"/>
                  <a:gd name="T3" fmla="*/ 1 h 48"/>
                  <a:gd name="T4" fmla="*/ 1 w 238"/>
                  <a:gd name="T5" fmla="*/ 1 h 48"/>
                  <a:gd name="T6" fmla="*/ 1 w 238"/>
                  <a:gd name="T7" fmla="*/ 0 h 48"/>
                  <a:gd name="T8" fmla="*/ 1 w 238"/>
                  <a:gd name="T9" fmla="*/ 0 h 48"/>
                  <a:gd name="T10" fmla="*/ 1 w 238"/>
                  <a:gd name="T11" fmla="*/ 1 h 48"/>
                  <a:gd name="T12" fmla="*/ 1 w 238"/>
                  <a:gd name="T13" fmla="*/ 1 h 48"/>
                  <a:gd name="T14" fmla="*/ 1 w 238"/>
                  <a:gd name="T15" fmla="*/ 1 h 48"/>
                  <a:gd name="T16" fmla="*/ 1 w 238"/>
                  <a:gd name="T17" fmla="*/ 1 h 48"/>
                  <a:gd name="T18" fmla="*/ 0 w 238"/>
                  <a:gd name="T19" fmla="*/ 1 h 48"/>
                  <a:gd name="T20" fmla="*/ 1 w 238"/>
                  <a:gd name="T21" fmla="*/ 1 h 48"/>
                  <a:gd name="T22" fmla="*/ 1 w 238"/>
                  <a:gd name="T23" fmla="*/ 1 h 48"/>
                  <a:gd name="T24" fmla="*/ 1 w 238"/>
                  <a:gd name="T25" fmla="*/ 1 h 48"/>
                  <a:gd name="T26" fmla="*/ 1 w 238"/>
                  <a:gd name="T27" fmla="*/ 1 h 48"/>
                  <a:gd name="T28" fmla="*/ 1 w 238"/>
                  <a:gd name="T29" fmla="*/ 1 h 48"/>
                  <a:gd name="T30" fmla="*/ 1 w 238"/>
                  <a:gd name="T31" fmla="*/ 1 h 48"/>
                  <a:gd name="T32" fmla="*/ 1 w 238"/>
                  <a:gd name="T33" fmla="*/ 1 h 48"/>
                  <a:gd name="T34" fmla="*/ 1 w 238"/>
                  <a:gd name="T35" fmla="*/ 1 h 48"/>
                  <a:gd name="T36" fmla="*/ 1 w 238"/>
                  <a:gd name="T37" fmla="*/ 1 h 48"/>
                  <a:gd name="T38" fmla="*/ 1 w 238"/>
                  <a:gd name="T39" fmla="*/ 1 h 48"/>
                  <a:gd name="T40" fmla="*/ 1 w 238"/>
                  <a:gd name="T41" fmla="*/ 1 h 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38"/>
                  <a:gd name="T64" fmla="*/ 0 h 48"/>
                  <a:gd name="T65" fmla="*/ 238 w 238"/>
                  <a:gd name="T66" fmla="*/ 48 h 4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38" h="48">
                    <a:moveTo>
                      <a:pt x="235" y="26"/>
                    </a:moveTo>
                    <a:lnTo>
                      <a:pt x="238" y="4"/>
                    </a:lnTo>
                    <a:lnTo>
                      <a:pt x="198" y="1"/>
                    </a:lnTo>
                    <a:lnTo>
                      <a:pt x="160" y="0"/>
                    </a:lnTo>
                    <a:lnTo>
                      <a:pt x="125" y="0"/>
                    </a:lnTo>
                    <a:lnTo>
                      <a:pt x="93" y="3"/>
                    </a:lnTo>
                    <a:lnTo>
                      <a:pt x="63" y="7"/>
                    </a:lnTo>
                    <a:lnTo>
                      <a:pt x="38" y="14"/>
                    </a:lnTo>
                    <a:lnTo>
                      <a:pt x="16" y="21"/>
                    </a:lnTo>
                    <a:lnTo>
                      <a:pt x="0" y="29"/>
                    </a:lnTo>
                    <a:lnTo>
                      <a:pt x="13" y="48"/>
                    </a:lnTo>
                    <a:lnTo>
                      <a:pt x="25" y="40"/>
                    </a:lnTo>
                    <a:lnTo>
                      <a:pt x="44" y="36"/>
                    </a:lnTo>
                    <a:lnTo>
                      <a:pt x="66" y="29"/>
                    </a:lnTo>
                    <a:lnTo>
                      <a:pt x="96" y="25"/>
                    </a:lnTo>
                    <a:lnTo>
                      <a:pt x="125" y="21"/>
                    </a:lnTo>
                    <a:lnTo>
                      <a:pt x="160" y="21"/>
                    </a:lnTo>
                    <a:lnTo>
                      <a:pt x="198" y="23"/>
                    </a:lnTo>
                    <a:lnTo>
                      <a:pt x="235" y="26"/>
                    </a:lnTo>
                    <a:lnTo>
                      <a:pt x="238" y="4"/>
                    </a:lnTo>
                    <a:lnTo>
                      <a:pt x="235" y="26"/>
                    </a:lnTo>
                    <a:close/>
                  </a:path>
                </a:pathLst>
              </a:custGeom>
              <a:solidFill>
                <a:srgbClr val="000000"/>
              </a:solidFill>
              <a:ln w="9525">
                <a:noFill/>
                <a:round/>
                <a:headEnd/>
                <a:tailEnd/>
              </a:ln>
            </p:spPr>
            <p:txBody>
              <a:bodyPr/>
              <a:lstStyle/>
              <a:p>
                <a:endParaRPr lang="en-US"/>
              </a:p>
            </p:txBody>
          </p:sp>
          <p:sp>
            <p:nvSpPr>
              <p:cNvPr id="24747" name="Freeform 136"/>
              <p:cNvSpPr>
                <a:spLocks/>
              </p:cNvSpPr>
              <p:nvPr/>
            </p:nvSpPr>
            <p:spPr bwMode="auto">
              <a:xfrm>
                <a:off x="2069" y="3676"/>
                <a:ext cx="47" cy="13"/>
              </a:xfrm>
              <a:custGeom>
                <a:avLst/>
                <a:gdLst>
                  <a:gd name="T0" fmla="*/ 0 w 94"/>
                  <a:gd name="T1" fmla="*/ 1 h 26"/>
                  <a:gd name="T2" fmla="*/ 0 w 94"/>
                  <a:gd name="T3" fmla="*/ 1 h 26"/>
                  <a:gd name="T4" fmla="*/ 1 w 94"/>
                  <a:gd name="T5" fmla="*/ 1 h 26"/>
                  <a:gd name="T6" fmla="*/ 1 w 94"/>
                  <a:gd name="T7" fmla="*/ 1 h 26"/>
                  <a:gd name="T8" fmla="*/ 1 w 94"/>
                  <a:gd name="T9" fmla="*/ 1 h 26"/>
                  <a:gd name="T10" fmla="*/ 1 w 94"/>
                  <a:gd name="T11" fmla="*/ 1 h 26"/>
                  <a:gd name="T12" fmla="*/ 1 w 94"/>
                  <a:gd name="T13" fmla="*/ 1 h 26"/>
                  <a:gd name="T14" fmla="*/ 1 w 94"/>
                  <a:gd name="T15" fmla="*/ 1 h 26"/>
                  <a:gd name="T16" fmla="*/ 1 w 94"/>
                  <a:gd name="T17" fmla="*/ 1 h 26"/>
                  <a:gd name="T18" fmla="*/ 1 w 94"/>
                  <a:gd name="T19" fmla="*/ 1 h 26"/>
                  <a:gd name="T20" fmla="*/ 1 w 94"/>
                  <a:gd name="T21" fmla="*/ 1 h 26"/>
                  <a:gd name="T22" fmla="*/ 1 w 94"/>
                  <a:gd name="T23" fmla="*/ 1 h 26"/>
                  <a:gd name="T24" fmla="*/ 1 w 94"/>
                  <a:gd name="T25" fmla="*/ 1 h 26"/>
                  <a:gd name="T26" fmla="*/ 1 w 94"/>
                  <a:gd name="T27" fmla="*/ 1 h 26"/>
                  <a:gd name="T28" fmla="*/ 1 w 94"/>
                  <a:gd name="T29" fmla="*/ 1 h 26"/>
                  <a:gd name="T30" fmla="*/ 1 w 94"/>
                  <a:gd name="T31" fmla="*/ 1 h 26"/>
                  <a:gd name="T32" fmla="*/ 1 w 94"/>
                  <a:gd name="T33" fmla="*/ 0 h 26"/>
                  <a:gd name="T34" fmla="*/ 1 w 94"/>
                  <a:gd name="T35" fmla="*/ 0 h 26"/>
                  <a:gd name="T36" fmla="*/ 0 w 94"/>
                  <a:gd name="T37" fmla="*/ 0 h 26"/>
                  <a:gd name="T38" fmla="*/ 0 w 94"/>
                  <a:gd name="T39" fmla="*/ 0 h 26"/>
                  <a:gd name="T40" fmla="*/ 0 w 94"/>
                  <a:gd name="T41" fmla="*/ 1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26"/>
                  <a:gd name="T65" fmla="*/ 94 w 94"/>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26">
                    <a:moveTo>
                      <a:pt x="0" y="21"/>
                    </a:moveTo>
                    <a:lnTo>
                      <a:pt x="0" y="21"/>
                    </a:lnTo>
                    <a:lnTo>
                      <a:pt x="16" y="21"/>
                    </a:lnTo>
                    <a:lnTo>
                      <a:pt x="32" y="21"/>
                    </a:lnTo>
                    <a:lnTo>
                      <a:pt x="47" y="23"/>
                    </a:lnTo>
                    <a:lnTo>
                      <a:pt x="61" y="23"/>
                    </a:lnTo>
                    <a:lnTo>
                      <a:pt x="74" y="25"/>
                    </a:lnTo>
                    <a:lnTo>
                      <a:pt x="82" y="25"/>
                    </a:lnTo>
                    <a:lnTo>
                      <a:pt x="88" y="26"/>
                    </a:lnTo>
                    <a:lnTo>
                      <a:pt x="91" y="26"/>
                    </a:lnTo>
                    <a:lnTo>
                      <a:pt x="94" y="4"/>
                    </a:lnTo>
                    <a:lnTo>
                      <a:pt x="91" y="4"/>
                    </a:lnTo>
                    <a:lnTo>
                      <a:pt x="85" y="3"/>
                    </a:lnTo>
                    <a:lnTo>
                      <a:pt x="74" y="3"/>
                    </a:lnTo>
                    <a:lnTo>
                      <a:pt x="61" y="1"/>
                    </a:lnTo>
                    <a:lnTo>
                      <a:pt x="47" y="1"/>
                    </a:lnTo>
                    <a:lnTo>
                      <a:pt x="32" y="0"/>
                    </a:lnTo>
                    <a:lnTo>
                      <a:pt x="16" y="0"/>
                    </a:lnTo>
                    <a:lnTo>
                      <a:pt x="0" y="0"/>
                    </a:lnTo>
                    <a:lnTo>
                      <a:pt x="0" y="21"/>
                    </a:lnTo>
                    <a:close/>
                  </a:path>
                </a:pathLst>
              </a:custGeom>
              <a:solidFill>
                <a:srgbClr val="000000"/>
              </a:solidFill>
              <a:ln w="9525">
                <a:noFill/>
                <a:round/>
                <a:headEnd/>
                <a:tailEnd/>
              </a:ln>
            </p:spPr>
            <p:txBody>
              <a:bodyPr/>
              <a:lstStyle/>
              <a:p>
                <a:endParaRPr lang="en-US"/>
              </a:p>
            </p:txBody>
          </p:sp>
          <p:sp>
            <p:nvSpPr>
              <p:cNvPr id="24748" name="Freeform 137"/>
              <p:cNvSpPr>
                <a:spLocks/>
              </p:cNvSpPr>
              <p:nvPr/>
            </p:nvSpPr>
            <p:spPr bwMode="auto">
              <a:xfrm>
                <a:off x="2043" y="3676"/>
                <a:ext cx="26" cy="12"/>
              </a:xfrm>
              <a:custGeom>
                <a:avLst/>
                <a:gdLst>
                  <a:gd name="T0" fmla="*/ 0 w 53"/>
                  <a:gd name="T1" fmla="*/ 0 h 25"/>
                  <a:gd name="T2" fmla="*/ 0 w 53"/>
                  <a:gd name="T3" fmla="*/ 0 h 25"/>
                  <a:gd name="T4" fmla="*/ 0 w 53"/>
                  <a:gd name="T5" fmla="*/ 0 h 25"/>
                  <a:gd name="T6" fmla="*/ 0 w 53"/>
                  <a:gd name="T7" fmla="*/ 0 h 25"/>
                  <a:gd name="T8" fmla="*/ 0 w 53"/>
                  <a:gd name="T9" fmla="*/ 0 h 25"/>
                  <a:gd name="T10" fmla="*/ 0 w 53"/>
                  <a:gd name="T11" fmla="*/ 0 h 25"/>
                  <a:gd name="T12" fmla="*/ 0 w 53"/>
                  <a:gd name="T13" fmla="*/ 0 h 25"/>
                  <a:gd name="T14" fmla="*/ 0 w 53"/>
                  <a:gd name="T15" fmla="*/ 0 h 25"/>
                  <a:gd name="T16" fmla="*/ 0 w 53"/>
                  <a:gd name="T17" fmla="*/ 0 h 25"/>
                  <a:gd name="T18" fmla="*/ 0 w 53"/>
                  <a:gd name="T19" fmla="*/ 0 h 25"/>
                  <a:gd name="T20" fmla="*/ 0 w 53"/>
                  <a:gd name="T21" fmla="*/ 0 h 25"/>
                  <a:gd name="T22" fmla="*/ 0 w 53"/>
                  <a:gd name="T23" fmla="*/ 0 h 25"/>
                  <a:gd name="T24" fmla="*/ 0 w 53"/>
                  <a:gd name="T25" fmla="*/ 0 h 25"/>
                  <a:gd name="T26" fmla="*/ 0 w 53"/>
                  <a:gd name="T27" fmla="*/ 0 h 25"/>
                  <a:gd name="T28" fmla="*/ 0 w 53"/>
                  <a:gd name="T29" fmla="*/ 0 h 25"/>
                  <a:gd name="T30" fmla="*/ 0 w 53"/>
                  <a:gd name="T31" fmla="*/ 0 h 25"/>
                  <a:gd name="T32" fmla="*/ 0 w 53"/>
                  <a:gd name="T33" fmla="*/ 0 h 25"/>
                  <a:gd name="T34" fmla="*/ 0 w 53"/>
                  <a:gd name="T35" fmla="*/ 0 h 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3"/>
                  <a:gd name="T55" fmla="*/ 0 h 25"/>
                  <a:gd name="T56" fmla="*/ 53 w 53"/>
                  <a:gd name="T57" fmla="*/ 25 h 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3" h="25">
                    <a:moveTo>
                      <a:pt x="0" y="17"/>
                    </a:moveTo>
                    <a:lnTo>
                      <a:pt x="19" y="21"/>
                    </a:lnTo>
                    <a:lnTo>
                      <a:pt x="16" y="25"/>
                    </a:lnTo>
                    <a:lnTo>
                      <a:pt x="19" y="23"/>
                    </a:lnTo>
                    <a:lnTo>
                      <a:pt x="30" y="21"/>
                    </a:lnTo>
                    <a:lnTo>
                      <a:pt x="53" y="21"/>
                    </a:lnTo>
                    <a:lnTo>
                      <a:pt x="53" y="0"/>
                    </a:lnTo>
                    <a:lnTo>
                      <a:pt x="30" y="0"/>
                    </a:lnTo>
                    <a:lnTo>
                      <a:pt x="16" y="1"/>
                    </a:lnTo>
                    <a:lnTo>
                      <a:pt x="9" y="3"/>
                    </a:lnTo>
                    <a:lnTo>
                      <a:pt x="3" y="6"/>
                    </a:lnTo>
                    <a:lnTo>
                      <a:pt x="22" y="10"/>
                    </a:lnTo>
                    <a:lnTo>
                      <a:pt x="3" y="6"/>
                    </a:lnTo>
                    <a:lnTo>
                      <a:pt x="0" y="14"/>
                    </a:lnTo>
                    <a:lnTo>
                      <a:pt x="5" y="20"/>
                    </a:lnTo>
                    <a:lnTo>
                      <a:pt x="11" y="25"/>
                    </a:lnTo>
                    <a:lnTo>
                      <a:pt x="19" y="21"/>
                    </a:lnTo>
                    <a:lnTo>
                      <a:pt x="0" y="17"/>
                    </a:lnTo>
                    <a:close/>
                  </a:path>
                </a:pathLst>
              </a:custGeom>
              <a:solidFill>
                <a:srgbClr val="000000"/>
              </a:solidFill>
              <a:ln w="9525">
                <a:noFill/>
                <a:round/>
                <a:headEnd/>
                <a:tailEnd/>
              </a:ln>
            </p:spPr>
            <p:txBody>
              <a:bodyPr/>
              <a:lstStyle/>
              <a:p>
                <a:endParaRPr lang="en-US"/>
              </a:p>
            </p:txBody>
          </p:sp>
          <p:sp>
            <p:nvSpPr>
              <p:cNvPr id="24749" name="Freeform 138"/>
              <p:cNvSpPr>
                <a:spLocks/>
              </p:cNvSpPr>
              <p:nvPr/>
            </p:nvSpPr>
            <p:spPr bwMode="auto">
              <a:xfrm>
                <a:off x="2041" y="3671"/>
                <a:ext cx="12" cy="13"/>
              </a:xfrm>
              <a:custGeom>
                <a:avLst/>
                <a:gdLst>
                  <a:gd name="T0" fmla="*/ 0 w 25"/>
                  <a:gd name="T1" fmla="*/ 0 h 27"/>
                  <a:gd name="T2" fmla="*/ 0 w 25"/>
                  <a:gd name="T3" fmla="*/ 0 h 27"/>
                  <a:gd name="T4" fmla="*/ 0 w 25"/>
                  <a:gd name="T5" fmla="*/ 0 h 27"/>
                  <a:gd name="T6" fmla="*/ 0 w 25"/>
                  <a:gd name="T7" fmla="*/ 0 h 27"/>
                  <a:gd name="T8" fmla="*/ 0 w 25"/>
                  <a:gd name="T9" fmla="*/ 0 h 27"/>
                  <a:gd name="T10" fmla="*/ 0 w 25"/>
                  <a:gd name="T11" fmla="*/ 0 h 27"/>
                  <a:gd name="T12" fmla="*/ 0 w 25"/>
                  <a:gd name="T13" fmla="*/ 0 h 27"/>
                  <a:gd name="T14" fmla="*/ 0 w 25"/>
                  <a:gd name="T15" fmla="*/ 0 h 27"/>
                  <a:gd name="T16" fmla="*/ 0 w 25"/>
                  <a:gd name="T17" fmla="*/ 0 h 27"/>
                  <a:gd name="T18" fmla="*/ 0 w 25"/>
                  <a:gd name="T19" fmla="*/ 0 h 27"/>
                  <a:gd name="T20" fmla="*/ 0 w 25"/>
                  <a:gd name="T21" fmla="*/ 0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27"/>
                  <a:gd name="T35" fmla="*/ 25 w 25"/>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27">
                    <a:moveTo>
                      <a:pt x="0" y="14"/>
                    </a:moveTo>
                    <a:lnTo>
                      <a:pt x="0" y="14"/>
                    </a:lnTo>
                    <a:lnTo>
                      <a:pt x="3" y="27"/>
                    </a:lnTo>
                    <a:lnTo>
                      <a:pt x="25" y="20"/>
                    </a:lnTo>
                    <a:lnTo>
                      <a:pt x="22" y="8"/>
                    </a:lnTo>
                    <a:lnTo>
                      <a:pt x="17" y="2"/>
                    </a:lnTo>
                    <a:lnTo>
                      <a:pt x="9" y="0"/>
                    </a:lnTo>
                    <a:lnTo>
                      <a:pt x="1" y="5"/>
                    </a:lnTo>
                    <a:lnTo>
                      <a:pt x="0" y="14"/>
                    </a:lnTo>
                    <a:close/>
                  </a:path>
                </a:pathLst>
              </a:custGeom>
              <a:solidFill>
                <a:srgbClr val="000000"/>
              </a:solidFill>
              <a:ln w="9525">
                <a:noFill/>
                <a:round/>
                <a:headEnd/>
                <a:tailEnd/>
              </a:ln>
            </p:spPr>
            <p:txBody>
              <a:bodyPr/>
              <a:lstStyle/>
              <a:p>
                <a:endParaRPr lang="en-US"/>
              </a:p>
            </p:txBody>
          </p:sp>
          <p:sp>
            <p:nvSpPr>
              <p:cNvPr id="24750" name="Freeform 139"/>
              <p:cNvSpPr>
                <a:spLocks/>
              </p:cNvSpPr>
              <p:nvPr/>
            </p:nvSpPr>
            <p:spPr bwMode="auto">
              <a:xfrm>
                <a:off x="2041" y="3660"/>
                <a:ext cx="18" cy="18"/>
              </a:xfrm>
              <a:custGeom>
                <a:avLst/>
                <a:gdLst>
                  <a:gd name="T0" fmla="*/ 1 w 36"/>
                  <a:gd name="T1" fmla="*/ 0 h 36"/>
                  <a:gd name="T2" fmla="*/ 1 w 36"/>
                  <a:gd name="T3" fmla="*/ 0 h 36"/>
                  <a:gd name="T4" fmla="*/ 1 w 36"/>
                  <a:gd name="T5" fmla="*/ 1 h 36"/>
                  <a:gd name="T6" fmla="*/ 1 w 36"/>
                  <a:gd name="T7" fmla="*/ 1 h 36"/>
                  <a:gd name="T8" fmla="*/ 0 w 36"/>
                  <a:gd name="T9" fmla="*/ 1 h 36"/>
                  <a:gd name="T10" fmla="*/ 0 w 36"/>
                  <a:gd name="T11" fmla="*/ 1 h 36"/>
                  <a:gd name="T12" fmla="*/ 1 w 36"/>
                  <a:gd name="T13" fmla="*/ 1 h 36"/>
                  <a:gd name="T14" fmla="*/ 1 w 36"/>
                  <a:gd name="T15" fmla="*/ 1 h 36"/>
                  <a:gd name="T16" fmla="*/ 1 w 36"/>
                  <a:gd name="T17" fmla="*/ 1 h 36"/>
                  <a:gd name="T18" fmla="*/ 1 w 36"/>
                  <a:gd name="T19" fmla="*/ 1 h 36"/>
                  <a:gd name="T20" fmla="*/ 1 w 36"/>
                  <a:gd name="T21" fmla="*/ 1 h 36"/>
                  <a:gd name="T22" fmla="*/ 1 w 36"/>
                  <a:gd name="T23" fmla="*/ 1 h 36"/>
                  <a:gd name="T24" fmla="*/ 1 w 36"/>
                  <a:gd name="T25" fmla="*/ 0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
                  <a:gd name="T40" fmla="*/ 0 h 36"/>
                  <a:gd name="T41" fmla="*/ 36 w 36"/>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 h="36">
                    <a:moveTo>
                      <a:pt x="30" y="0"/>
                    </a:moveTo>
                    <a:lnTo>
                      <a:pt x="30" y="0"/>
                    </a:lnTo>
                    <a:lnTo>
                      <a:pt x="12" y="8"/>
                    </a:lnTo>
                    <a:lnTo>
                      <a:pt x="3" y="21"/>
                    </a:lnTo>
                    <a:lnTo>
                      <a:pt x="0" y="30"/>
                    </a:lnTo>
                    <a:lnTo>
                      <a:pt x="0" y="36"/>
                    </a:lnTo>
                    <a:lnTo>
                      <a:pt x="22" y="30"/>
                    </a:lnTo>
                    <a:lnTo>
                      <a:pt x="22" y="33"/>
                    </a:lnTo>
                    <a:lnTo>
                      <a:pt x="22" y="30"/>
                    </a:lnTo>
                    <a:lnTo>
                      <a:pt x="25" y="27"/>
                    </a:lnTo>
                    <a:lnTo>
                      <a:pt x="36" y="22"/>
                    </a:lnTo>
                    <a:lnTo>
                      <a:pt x="30" y="0"/>
                    </a:lnTo>
                    <a:close/>
                  </a:path>
                </a:pathLst>
              </a:custGeom>
              <a:solidFill>
                <a:srgbClr val="000000"/>
              </a:solidFill>
              <a:ln w="9525">
                <a:noFill/>
                <a:round/>
                <a:headEnd/>
                <a:tailEnd/>
              </a:ln>
            </p:spPr>
            <p:txBody>
              <a:bodyPr/>
              <a:lstStyle/>
              <a:p>
                <a:endParaRPr lang="en-US"/>
              </a:p>
            </p:txBody>
          </p:sp>
          <p:sp>
            <p:nvSpPr>
              <p:cNvPr id="24751" name="Freeform 140"/>
              <p:cNvSpPr>
                <a:spLocks/>
              </p:cNvSpPr>
              <p:nvPr/>
            </p:nvSpPr>
            <p:spPr bwMode="auto">
              <a:xfrm>
                <a:off x="2056" y="3649"/>
                <a:ext cx="80" cy="22"/>
              </a:xfrm>
              <a:custGeom>
                <a:avLst/>
                <a:gdLst>
                  <a:gd name="T0" fmla="*/ 0 w 161"/>
                  <a:gd name="T1" fmla="*/ 0 h 44"/>
                  <a:gd name="T2" fmla="*/ 0 w 161"/>
                  <a:gd name="T3" fmla="*/ 0 h 44"/>
                  <a:gd name="T4" fmla="*/ 0 w 161"/>
                  <a:gd name="T5" fmla="*/ 1 h 44"/>
                  <a:gd name="T6" fmla="*/ 0 w 161"/>
                  <a:gd name="T7" fmla="*/ 1 h 44"/>
                  <a:gd name="T8" fmla="*/ 0 w 161"/>
                  <a:gd name="T9" fmla="*/ 1 h 44"/>
                  <a:gd name="T10" fmla="*/ 0 w 161"/>
                  <a:gd name="T11" fmla="*/ 1 h 44"/>
                  <a:gd name="T12" fmla="*/ 0 w 161"/>
                  <a:gd name="T13" fmla="*/ 1 h 44"/>
                  <a:gd name="T14" fmla="*/ 0 w 161"/>
                  <a:gd name="T15" fmla="*/ 1 h 44"/>
                  <a:gd name="T16" fmla="*/ 0 w 161"/>
                  <a:gd name="T17" fmla="*/ 1 h 44"/>
                  <a:gd name="T18" fmla="*/ 0 w 161"/>
                  <a:gd name="T19" fmla="*/ 1 h 44"/>
                  <a:gd name="T20" fmla="*/ 0 w 161"/>
                  <a:gd name="T21" fmla="*/ 1 h 44"/>
                  <a:gd name="T22" fmla="*/ 0 w 161"/>
                  <a:gd name="T23" fmla="*/ 1 h 44"/>
                  <a:gd name="T24" fmla="*/ 0 w 161"/>
                  <a:gd name="T25" fmla="*/ 1 h 44"/>
                  <a:gd name="T26" fmla="*/ 0 w 161"/>
                  <a:gd name="T27" fmla="*/ 1 h 44"/>
                  <a:gd name="T28" fmla="*/ 0 w 161"/>
                  <a:gd name="T29" fmla="*/ 1 h 44"/>
                  <a:gd name="T30" fmla="*/ 0 w 161"/>
                  <a:gd name="T31" fmla="*/ 1 h 44"/>
                  <a:gd name="T32" fmla="*/ 0 w 161"/>
                  <a:gd name="T33" fmla="*/ 1 h 44"/>
                  <a:gd name="T34" fmla="*/ 0 w 161"/>
                  <a:gd name="T35" fmla="*/ 1 h 44"/>
                  <a:gd name="T36" fmla="*/ 0 w 161"/>
                  <a:gd name="T37" fmla="*/ 0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1"/>
                  <a:gd name="T58" fmla="*/ 0 h 44"/>
                  <a:gd name="T59" fmla="*/ 161 w 161"/>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1" h="44">
                    <a:moveTo>
                      <a:pt x="161" y="0"/>
                    </a:moveTo>
                    <a:lnTo>
                      <a:pt x="148" y="0"/>
                    </a:lnTo>
                    <a:lnTo>
                      <a:pt x="130" y="2"/>
                    </a:lnTo>
                    <a:lnTo>
                      <a:pt x="108" y="5"/>
                    </a:lnTo>
                    <a:lnTo>
                      <a:pt x="83" y="8"/>
                    </a:lnTo>
                    <a:lnTo>
                      <a:pt x="58" y="11"/>
                    </a:lnTo>
                    <a:lnTo>
                      <a:pt x="34" y="16"/>
                    </a:lnTo>
                    <a:lnTo>
                      <a:pt x="15" y="19"/>
                    </a:lnTo>
                    <a:lnTo>
                      <a:pt x="0" y="22"/>
                    </a:lnTo>
                    <a:lnTo>
                      <a:pt x="6" y="44"/>
                    </a:lnTo>
                    <a:lnTo>
                      <a:pt x="18" y="41"/>
                    </a:lnTo>
                    <a:lnTo>
                      <a:pt x="37" y="38"/>
                    </a:lnTo>
                    <a:lnTo>
                      <a:pt x="61" y="33"/>
                    </a:lnTo>
                    <a:lnTo>
                      <a:pt x="86" y="30"/>
                    </a:lnTo>
                    <a:lnTo>
                      <a:pt x="111" y="27"/>
                    </a:lnTo>
                    <a:lnTo>
                      <a:pt x="133" y="24"/>
                    </a:lnTo>
                    <a:lnTo>
                      <a:pt x="148" y="22"/>
                    </a:lnTo>
                    <a:lnTo>
                      <a:pt x="158" y="22"/>
                    </a:lnTo>
                    <a:lnTo>
                      <a:pt x="161" y="0"/>
                    </a:lnTo>
                    <a:close/>
                  </a:path>
                </a:pathLst>
              </a:custGeom>
              <a:solidFill>
                <a:srgbClr val="000000"/>
              </a:solidFill>
              <a:ln w="9525">
                <a:noFill/>
                <a:round/>
                <a:headEnd/>
                <a:tailEnd/>
              </a:ln>
            </p:spPr>
            <p:txBody>
              <a:bodyPr/>
              <a:lstStyle/>
              <a:p>
                <a:endParaRPr lang="en-US"/>
              </a:p>
            </p:txBody>
          </p:sp>
          <p:sp>
            <p:nvSpPr>
              <p:cNvPr id="24752" name="Freeform 141"/>
              <p:cNvSpPr>
                <a:spLocks/>
              </p:cNvSpPr>
              <p:nvPr/>
            </p:nvSpPr>
            <p:spPr bwMode="auto">
              <a:xfrm>
                <a:off x="2160" y="3770"/>
                <a:ext cx="21" cy="68"/>
              </a:xfrm>
              <a:custGeom>
                <a:avLst/>
                <a:gdLst>
                  <a:gd name="T0" fmla="*/ 0 w 42"/>
                  <a:gd name="T1" fmla="*/ 0 h 138"/>
                  <a:gd name="T2" fmla="*/ 0 w 42"/>
                  <a:gd name="T3" fmla="*/ 0 h 138"/>
                  <a:gd name="T4" fmla="*/ 0 w 42"/>
                  <a:gd name="T5" fmla="*/ 0 h 138"/>
                  <a:gd name="T6" fmla="*/ 1 w 42"/>
                  <a:gd name="T7" fmla="*/ 0 h 138"/>
                  <a:gd name="T8" fmla="*/ 1 w 42"/>
                  <a:gd name="T9" fmla="*/ 0 h 138"/>
                  <a:gd name="T10" fmla="*/ 1 w 42"/>
                  <a:gd name="T11" fmla="*/ 0 h 138"/>
                  <a:gd name="T12" fmla="*/ 1 w 42"/>
                  <a:gd name="T13" fmla="*/ 0 h 138"/>
                  <a:gd name="T14" fmla="*/ 1 w 42"/>
                  <a:gd name="T15" fmla="*/ 0 h 138"/>
                  <a:gd name="T16" fmla="*/ 1 w 42"/>
                  <a:gd name="T17" fmla="*/ 0 h 138"/>
                  <a:gd name="T18" fmla="*/ 1 w 42"/>
                  <a:gd name="T19" fmla="*/ 0 h 138"/>
                  <a:gd name="T20" fmla="*/ 1 w 42"/>
                  <a:gd name="T21" fmla="*/ 0 h 138"/>
                  <a:gd name="T22" fmla="*/ 0 w 42"/>
                  <a:gd name="T23" fmla="*/ 0 h 1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138"/>
                  <a:gd name="T38" fmla="*/ 42 w 42"/>
                  <a:gd name="T39" fmla="*/ 138 h 1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138">
                    <a:moveTo>
                      <a:pt x="0" y="2"/>
                    </a:moveTo>
                    <a:lnTo>
                      <a:pt x="0" y="121"/>
                    </a:lnTo>
                    <a:lnTo>
                      <a:pt x="0" y="124"/>
                    </a:lnTo>
                    <a:lnTo>
                      <a:pt x="3" y="129"/>
                    </a:lnTo>
                    <a:lnTo>
                      <a:pt x="9" y="135"/>
                    </a:lnTo>
                    <a:lnTo>
                      <a:pt x="22" y="138"/>
                    </a:lnTo>
                    <a:lnTo>
                      <a:pt x="34" y="135"/>
                    </a:lnTo>
                    <a:lnTo>
                      <a:pt x="41" y="129"/>
                    </a:lnTo>
                    <a:lnTo>
                      <a:pt x="42" y="121"/>
                    </a:lnTo>
                    <a:lnTo>
                      <a:pt x="42" y="118"/>
                    </a:lnTo>
                    <a:lnTo>
                      <a:pt x="42" y="0"/>
                    </a:lnTo>
                    <a:lnTo>
                      <a:pt x="0" y="2"/>
                    </a:lnTo>
                    <a:close/>
                  </a:path>
                </a:pathLst>
              </a:custGeom>
              <a:solidFill>
                <a:srgbClr val="FF7226"/>
              </a:solidFill>
              <a:ln w="9525">
                <a:noFill/>
                <a:round/>
                <a:headEnd/>
                <a:tailEnd/>
              </a:ln>
            </p:spPr>
            <p:txBody>
              <a:bodyPr/>
              <a:lstStyle/>
              <a:p>
                <a:endParaRPr lang="en-US"/>
              </a:p>
            </p:txBody>
          </p:sp>
          <p:sp>
            <p:nvSpPr>
              <p:cNvPr id="24753" name="Freeform 142"/>
              <p:cNvSpPr>
                <a:spLocks/>
              </p:cNvSpPr>
              <p:nvPr/>
            </p:nvSpPr>
            <p:spPr bwMode="auto">
              <a:xfrm>
                <a:off x="2154" y="3770"/>
                <a:ext cx="11" cy="65"/>
              </a:xfrm>
              <a:custGeom>
                <a:avLst/>
                <a:gdLst>
                  <a:gd name="T0" fmla="*/ 1 w 22"/>
                  <a:gd name="T1" fmla="*/ 1 h 130"/>
                  <a:gd name="T2" fmla="*/ 1 w 22"/>
                  <a:gd name="T3" fmla="*/ 1 h 130"/>
                  <a:gd name="T4" fmla="*/ 1 w 22"/>
                  <a:gd name="T5" fmla="*/ 0 h 130"/>
                  <a:gd name="T6" fmla="*/ 0 w 22"/>
                  <a:gd name="T7" fmla="*/ 0 h 130"/>
                  <a:gd name="T8" fmla="*/ 0 w 22"/>
                  <a:gd name="T9" fmla="*/ 1 h 130"/>
                  <a:gd name="T10" fmla="*/ 0 w 22"/>
                  <a:gd name="T11" fmla="*/ 1 h 130"/>
                  <a:gd name="T12" fmla="*/ 0 w 22"/>
                  <a:gd name="T13" fmla="*/ 1 h 130"/>
                  <a:gd name="T14" fmla="*/ 1 w 22"/>
                  <a:gd name="T15" fmla="*/ 1 h 130"/>
                  <a:gd name="T16" fmla="*/ 1 w 22"/>
                  <a:gd name="T17" fmla="*/ 1 h 130"/>
                  <a:gd name="T18" fmla="*/ 1 w 22"/>
                  <a:gd name="T19" fmla="*/ 1 h 130"/>
                  <a:gd name="T20" fmla="*/ 1 w 22"/>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
                  <a:gd name="T34" fmla="*/ 0 h 130"/>
                  <a:gd name="T35" fmla="*/ 22 w 22"/>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 h="130">
                    <a:moveTo>
                      <a:pt x="22" y="119"/>
                    </a:moveTo>
                    <a:lnTo>
                      <a:pt x="22" y="119"/>
                    </a:lnTo>
                    <a:lnTo>
                      <a:pt x="22" y="0"/>
                    </a:lnTo>
                    <a:lnTo>
                      <a:pt x="0" y="0"/>
                    </a:lnTo>
                    <a:lnTo>
                      <a:pt x="0" y="119"/>
                    </a:lnTo>
                    <a:lnTo>
                      <a:pt x="3" y="127"/>
                    </a:lnTo>
                    <a:lnTo>
                      <a:pt x="11" y="130"/>
                    </a:lnTo>
                    <a:lnTo>
                      <a:pt x="19" y="127"/>
                    </a:lnTo>
                    <a:lnTo>
                      <a:pt x="22" y="119"/>
                    </a:lnTo>
                    <a:close/>
                  </a:path>
                </a:pathLst>
              </a:custGeom>
              <a:solidFill>
                <a:srgbClr val="000000"/>
              </a:solidFill>
              <a:ln w="9525">
                <a:noFill/>
                <a:round/>
                <a:headEnd/>
                <a:tailEnd/>
              </a:ln>
            </p:spPr>
            <p:txBody>
              <a:bodyPr/>
              <a:lstStyle/>
              <a:p>
                <a:endParaRPr lang="en-US"/>
              </a:p>
            </p:txBody>
          </p:sp>
          <p:sp>
            <p:nvSpPr>
              <p:cNvPr id="24754" name="Freeform 143"/>
              <p:cNvSpPr>
                <a:spLocks/>
              </p:cNvSpPr>
              <p:nvPr/>
            </p:nvSpPr>
            <p:spPr bwMode="auto">
              <a:xfrm>
                <a:off x="2154" y="3829"/>
                <a:ext cx="17" cy="15"/>
              </a:xfrm>
              <a:custGeom>
                <a:avLst/>
                <a:gdLst>
                  <a:gd name="T0" fmla="*/ 1 w 33"/>
                  <a:gd name="T1" fmla="*/ 1 h 30"/>
                  <a:gd name="T2" fmla="*/ 1 w 33"/>
                  <a:gd name="T3" fmla="*/ 1 h 30"/>
                  <a:gd name="T4" fmla="*/ 1 w 33"/>
                  <a:gd name="T5" fmla="*/ 1 h 30"/>
                  <a:gd name="T6" fmla="*/ 1 w 33"/>
                  <a:gd name="T7" fmla="*/ 1 h 30"/>
                  <a:gd name="T8" fmla="*/ 1 w 33"/>
                  <a:gd name="T9" fmla="*/ 0 h 30"/>
                  <a:gd name="T10" fmla="*/ 1 w 33"/>
                  <a:gd name="T11" fmla="*/ 1 h 30"/>
                  <a:gd name="T12" fmla="*/ 0 w 33"/>
                  <a:gd name="T13" fmla="*/ 1 h 30"/>
                  <a:gd name="T14" fmla="*/ 0 w 33"/>
                  <a:gd name="T15" fmla="*/ 1 h 30"/>
                  <a:gd name="T16" fmla="*/ 1 w 33"/>
                  <a:gd name="T17" fmla="*/ 1 h 30"/>
                  <a:gd name="T18" fmla="*/ 1 w 33"/>
                  <a:gd name="T19" fmla="*/ 1 h 30"/>
                  <a:gd name="T20" fmla="*/ 1 w 33"/>
                  <a:gd name="T21" fmla="*/ 1 h 30"/>
                  <a:gd name="T22" fmla="*/ 1 w 33"/>
                  <a:gd name="T23" fmla="*/ 1 h 30"/>
                  <a:gd name="T24" fmla="*/ 1 w 33"/>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0"/>
                  <a:gd name="T41" fmla="*/ 33 w 33"/>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0">
                    <a:moveTo>
                      <a:pt x="33" y="8"/>
                    </a:moveTo>
                    <a:lnTo>
                      <a:pt x="33" y="8"/>
                    </a:lnTo>
                    <a:lnTo>
                      <a:pt x="25" y="6"/>
                    </a:lnTo>
                    <a:lnTo>
                      <a:pt x="22" y="2"/>
                    </a:lnTo>
                    <a:lnTo>
                      <a:pt x="22" y="0"/>
                    </a:lnTo>
                    <a:lnTo>
                      <a:pt x="22" y="2"/>
                    </a:lnTo>
                    <a:lnTo>
                      <a:pt x="0" y="2"/>
                    </a:lnTo>
                    <a:lnTo>
                      <a:pt x="0" y="10"/>
                    </a:lnTo>
                    <a:lnTo>
                      <a:pt x="6" y="17"/>
                    </a:lnTo>
                    <a:lnTo>
                      <a:pt x="16" y="25"/>
                    </a:lnTo>
                    <a:lnTo>
                      <a:pt x="33" y="30"/>
                    </a:lnTo>
                    <a:lnTo>
                      <a:pt x="33" y="8"/>
                    </a:lnTo>
                    <a:close/>
                  </a:path>
                </a:pathLst>
              </a:custGeom>
              <a:solidFill>
                <a:srgbClr val="000000"/>
              </a:solidFill>
              <a:ln w="9525">
                <a:noFill/>
                <a:round/>
                <a:headEnd/>
                <a:tailEnd/>
              </a:ln>
            </p:spPr>
            <p:txBody>
              <a:bodyPr/>
              <a:lstStyle/>
              <a:p>
                <a:endParaRPr lang="en-US"/>
              </a:p>
            </p:txBody>
          </p:sp>
          <p:sp>
            <p:nvSpPr>
              <p:cNvPr id="24755" name="Freeform 144"/>
              <p:cNvSpPr>
                <a:spLocks/>
              </p:cNvSpPr>
              <p:nvPr/>
            </p:nvSpPr>
            <p:spPr bwMode="auto">
              <a:xfrm>
                <a:off x="2171" y="3823"/>
                <a:ext cx="16" cy="21"/>
              </a:xfrm>
              <a:custGeom>
                <a:avLst/>
                <a:gdLst>
                  <a:gd name="T0" fmla="*/ 1 w 31"/>
                  <a:gd name="T1" fmla="*/ 1 h 42"/>
                  <a:gd name="T2" fmla="*/ 1 w 31"/>
                  <a:gd name="T3" fmla="*/ 1 h 42"/>
                  <a:gd name="T4" fmla="*/ 1 w 31"/>
                  <a:gd name="T5" fmla="*/ 1 h 42"/>
                  <a:gd name="T6" fmla="*/ 1 w 31"/>
                  <a:gd name="T7" fmla="*/ 1 h 42"/>
                  <a:gd name="T8" fmla="*/ 1 w 31"/>
                  <a:gd name="T9" fmla="*/ 1 h 42"/>
                  <a:gd name="T10" fmla="*/ 0 w 31"/>
                  <a:gd name="T11" fmla="*/ 1 h 42"/>
                  <a:gd name="T12" fmla="*/ 0 w 31"/>
                  <a:gd name="T13" fmla="*/ 1 h 42"/>
                  <a:gd name="T14" fmla="*/ 1 w 31"/>
                  <a:gd name="T15" fmla="*/ 1 h 42"/>
                  <a:gd name="T16" fmla="*/ 1 w 31"/>
                  <a:gd name="T17" fmla="*/ 1 h 42"/>
                  <a:gd name="T18" fmla="*/ 1 w 31"/>
                  <a:gd name="T19" fmla="*/ 1 h 42"/>
                  <a:gd name="T20" fmla="*/ 1 w 31"/>
                  <a:gd name="T21" fmla="*/ 1 h 42"/>
                  <a:gd name="T22" fmla="*/ 1 w 31"/>
                  <a:gd name="T23" fmla="*/ 1 h 42"/>
                  <a:gd name="T24" fmla="*/ 1 w 31"/>
                  <a:gd name="T25" fmla="*/ 1 h 42"/>
                  <a:gd name="T26" fmla="*/ 1 w 31"/>
                  <a:gd name="T27" fmla="*/ 1 h 42"/>
                  <a:gd name="T28" fmla="*/ 1 w 31"/>
                  <a:gd name="T29" fmla="*/ 0 h 42"/>
                  <a:gd name="T30" fmla="*/ 1 w 31"/>
                  <a:gd name="T31" fmla="*/ 1 h 42"/>
                  <a:gd name="T32" fmla="*/ 1 w 31"/>
                  <a:gd name="T33" fmla="*/ 1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42"/>
                  <a:gd name="T53" fmla="*/ 31 w 31"/>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42">
                    <a:moveTo>
                      <a:pt x="9" y="11"/>
                    </a:moveTo>
                    <a:lnTo>
                      <a:pt x="9" y="11"/>
                    </a:lnTo>
                    <a:lnTo>
                      <a:pt x="9" y="12"/>
                    </a:lnTo>
                    <a:lnTo>
                      <a:pt x="9" y="17"/>
                    </a:lnTo>
                    <a:lnTo>
                      <a:pt x="8" y="18"/>
                    </a:lnTo>
                    <a:lnTo>
                      <a:pt x="0" y="20"/>
                    </a:lnTo>
                    <a:lnTo>
                      <a:pt x="0" y="42"/>
                    </a:lnTo>
                    <a:lnTo>
                      <a:pt x="17" y="37"/>
                    </a:lnTo>
                    <a:lnTo>
                      <a:pt x="28" y="26"/>
                    </a:lnTo>
                    <a:lnTo>
                      <a:pt x="31" y="15"/>
                    </a:lnTo>
                    <a:lnTo>
                      <a:pt x="31" y="11"/>
                    </a:lnTo>
                    <a:lnTo>
                      <a:pt x="28" y="3"/>
                    </a:lnTo>
                    <a:lnTo>
                      <a:pt x="20" y="0"/>
                    </a:lnTo>
                    <a:lnTo>
                      <a:pt x="12" y="3"/>
                    </a:lnTo>
                    <a:lnTo>
                      <a:pt x="9" y="11"/>
                    </a:lnTo>
                    <a:close/>
                  </a:path>
                </a:pathLst>
              </a:custGeom>
              <a:solidFill>
                <a:srgbClr val="000000"/>
              </a:solidFill>
              <a:ln w="9525">
                <a:noFill/>
                <a:round/>
                <a:headEnd/>
                <a:tailEnd/>
              </a:ln>
            </p:spPr>
            <p:txBody>
              <a:bodyPr/>
              <a:lstStyle/>
              <a:p>
                <a:endParaRPr lang="en-US"/>
              </a:p>
            </p:txBody>
          </p:sp>
          <p:sp>
            <p:nvSpPr>
              <p:cNvPr id="24756" name="Freeform 145"/>
              <p:cNvSpPr>
                <a:spLocks/>
              </p:cNvSpPr>
              <p:nvPr/>
            </p:nvSpPr>
            <p:spPr bwMode="auto">
              <a:xfrm>
                <a:off x="2176" y="3764"/>
                <a:ext cx="11" cy="64"/>
              </a:xfrm>
              <a:custGeom>
                <a:avLst/>
                <a:gdLst>
                  <a:gd name="T0" fmla="*/ 1 w 22"/>
                  <a:gd name="T1" fmla="*/ 0 h 129"/>
                  <a:gd name="T2" fmla="*/ 0 w 22"/>
                  <a:gd name="T3" fmla="*/ 0 h 129"/>
                  <a:gd name="T4" fmla="*/ 0 w 22"/>
                  <a:gd name="T5" fmla="*/ 0 h 129"/>
                  <a:gd name="T6" fmla="*/ 1 w 22"/>
                  <a:gd name="T7" fmla="*/ 0 h 129"/>
                  <a:gd name="T8" fmla="*/ 1 w 22"/>
                  <a:gd name="T9" fmla="*/ 0 h 129"/>
                  <a:gd name="T10" fmla="*/ 1 w 22"/>
                  <a:gd name="T11" fmla="*/ 0 h 129"/>
                  <a:gd name="T12" fmla="*/ 1 w 22"/>
                  <a:gd name="T13" fmla="*/ 0 h 129"/>
                  <a:gd name="T14" fmla="*/ 1 w 22"/>
                  <a:gd name="T15" fmla="*/ 0 h 129"/>
                  <a:gd name="T16" fmla="*/ 1 w 22"/>
                  <a:gd name="T17" fmla="*/ 0 h 129"/>
                  <a:gd name="T18" fmla="*/ 1 w 22"/>
                  <a:gd name="T19" fmla="*/ 0 h 129"/>
                  <a:gd name="T20" fmla="*/ 0 w 22"/>
                  <a:gd name="T21" fmla="*/ 0 h 129"/>
                  <a:gd name="T22" fmla="*/ 1 w 22"/>
                  <a:gd name="T23" fmla="*/ 0 h 1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29"/>
                  <a:gd name="T38" fmla="*/ 22 w 22"/>
                  <a:gd name="T39" fmla="*/ 129 h 1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29">
                    <a:moveTo>
                      <a:pt x="11" y="22"/>
                    </a:moveTo>
                    <a:lnTo>
                      <a:pt x="0" y="11"/>
                    </a:lnTo>
                    <a:lnTo>
                      <a:pt x="0" y="129"/>
                    </a:lnTo>
                    <a:lnTo>
                      <a:pt x="22" y="129"/>
                    </a:lnTo>
                    <a:lnTo>
                      <a:pt x="22" y="11"/>
                    </a:lnTo>
                    <a:lnTo>
                      <a:pt x="11" y="0"/>
                    </a:lnTo>
                    <a:lnTo>
                      <a:pt x="22" y="11"/>
                    </a:lnTo>
                    <a:lnTo>
                      <a:pt x="19" y="3"/>
                    </a:lnTo>
                    <a:lnTo>
                      <a:pt x="11" y="0"/>
                    </a:lnTo>
                    <a:lnTo>
                      <a:pt x="3" y="3"/>
                    </a:lnTo>
                    <a:lnTo>
                      <a:pt x="0" y="11"/>
                    </a:lnTo>
                    <a:lnTo>
                      <a:pt x="11" y="22"/>
                    </a:lnTo>
                    <a:close/>
                  </a:path>
                </a:pathLst>
              </a:custGeom>
              <a:solidFill>
                <a:srgbClr val="000000"/>
              </a:solidFill>
              <a:ln w="9525">
                <a:noFill/>
                <a:round/>
                <a:headEnd/>
                <a:tailEnd/>
              </a:ln>
            </p:spPr>
            <p:txBody>
              <a:bodyPr/>
              <a:lstStyle/>
              <a:p>
                <a:endParaRPr lang="en-US"/>
              </a:p>
            </p:txBody>
          </p:sp>
          <p:sp>
            <p:nvSpPr>
              <p:cNvPr id="24757" name="Freeform 146"/>
              <p:cNvSpPr>
                <a:spLocks/>
              </p:cNvSpPr>
              <p:nvPr/>
            </p:nvSpPr>
            <p:spPr bwMode="auto">
              <a:xfrm>
                <a:off x="2154" y="3764"/>
                <a:ext cx="27" cy="12"/>
              </a:xfrm>
              <a:custGeom>
                <a:avLst/>
                <a:gdLst>
                  <a:gd name="T0" fmla="*/ 1 w 53"/>
                  <a:gd name="T1" fmla="*/ 1 h 24"/>
                  <a:gd name="T2" fmla="*/ 1 w 53"/>
                  <a:gd name="T3" fmla="*/ 1 h 24"/>
                  <a:gd name="T4" fmla="*/ 1 w 53"/>
                  <a:gd name="T5" fmla="*/ 1 h 24"/>
                  <a:gd name="T6" fmla="*/ 1 w 53"/>
                  <a:gd name="T7" fmla="*/ 0 h 24"/>
                  <a:gd name="T8" fmla="*/ 1 w 53"/>
                  <a:gd name="T9" fmla="*/ 1 h 24"/>
                  <a:gd name="T10" fmla="*/ 0 w 53"/>
                  <a:gd name="T11" fmla="*/ 1 h 24"/>
                  <a:gd name="T12" fmla="*/ 1 w 53"/>
                  <a:gd name="T13" fmla="*/ 1 h 24"/>
                  <a:gd name="T14" fmla="*/ 1 w 53"/>
                  <a:gd name="T15" fmla="*/ 1 h 24"/>
                  <a:gd name="T16" fmla="*/ 0 w 53"/>
                  <a:gd name="T17" fmla="*/ 1 h 24"/>
                  <a:gd name="T18" fmla="*/ 1 w 53"/>
                  <a:gd name="T19" fmla="*/ 1 h 24"/>
                  <a:gd name="T20" fmla="*/ 1 w 53"/>
                  <a:gd name="T21" fmla="*/ 1 h 24"/>
                  <a:gd name="T22" fmla="*/ 1 w 53"/>
                  <a:gd name="T23" fmla="*/ 1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
                  <a:gd name="T37" fmla="*/ 0 h 24"/>
                  <a:gd name="T38" fmla="*/ 53 w 53"/>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 h="24">
                    <a:moveTo>
                      <a:pt x="22" y="13"/>
                    </a:moveTo>
                    <a:lnTo>
                      <a:pt x="11" y="24"/>
                    </a:lnTo>
                    <a:lnTo>
                      <a:pt x="53" y="22"/>
                    </a:lnTo>
                    <a:lnTo>
                      <a:pt x="53" y="0"/>
                    </a:lnTo>
                    <a:lnTo>
                      <a:pt x="11" y="2"/>
                    </a:lnTo>
                    <a:lnTo>
                      <a:pt x="0" y="13"/>
                    </a:lnTo>
                    <a:lnTo>
                      <a:pt x="11" y="2"/>
                    </a:lnTo>
                    <a:lnTo>
                      <a:pt x="3" y="5"/>
                    </a:lnTo>
                    <a:lnTo>
                      <a:pt x="0" y="13"/>
                    </a:lnTo>
                    <a:lnTo>
                      <a:pt x="3" y="21"/>
                    </a:lnTo>
                    <a:lnTo>
                      <a:pt x="11" y="24"/>
                    </a:lnTo>
                    <a:lnTo>
                      <a:pt x="22" y="13"/>
                    </a:lnTo>
                    <a:close/>
                  </a:path>
                </a:pathLst>
              </a:custGeom>
              <a:solidFill>
                <a:srgbClr val="000000"/>
              </a:solidFill>
              <a:ln w="9525">
                <a:noFill/>
                <a:round/>
                <a:headEnd/>
                <a:tailEnd/>
              </a:ln>
            </p:spPr>
            <p:txBody>
              <a:bodyPr/>
              <a:lstStyle/>
              <a:p>
                <a:endParaRPr lang="en-US"/>
              </a:p>
            </p:txBody>
          </p:sp>
          <p:sp>
            <p:nvSpPr>
              <p:cNvPr id="24758" name="Freeform 147"/>
              <p:cNvSpPr>
                <a:spLocks/>
              </p:cNvSpPr>
              <p:nvPr/>
            </p:nvSpPr>
            <p:spPr bwMode="auto">
              <a:xfrm>
                <a:off x="2168" y="3561"/>
                <a:ext cx="105" cy="191"/>
              </a:xfrm>
              <a:custGeom>
                <a:avLst/>
                <a:gdLst>
                  <a:gd name="T0" fmla="*/ 0 w 211"/>
                  <a:gd name="T1" fmla="*/ 1 h 381"/>
                  <a:gd name="T2" fmla="*/ 0 w 211"/>
                  <a:gd name="T3" fmla="*/ 1 h 381"/>
                  <a:gd name="T4" fmla="*/ 0 w 211"/>
                  <a:gd name="T5" fmla="*/ 1 h 381"/>
                  <a:gd name="T6" fmla="*/ 0 w 211"/>
                  <a:gd name="T7" fmla="*/ 1 h 381"/>
                  <a:gd name="T8" fmla="*/ 0 w 211"/>
                  <a:gd name="T9" fmla="*/ 1 h 381"/>
                  <a:gd name="T10" fmla="*/ 0 w 211"/>
                  <a:gd name="T11" fmla="*/ 1 h 381"/>
                  <a:gd name="T12" fmla="*/ 0 w 211"/>
                  <a:gd name="T13" fmla="*/ 1 h 381"/>
                  <a:gd name="T14" fmla="*/ 0 w 211"/>
                  <a:gd name="T15" fmla="*/ 1 h 381"/>
                  <a:gd name="T16" fmla="*/ 0 w 211"/>
                  <a:gd name="T17" fmla="*/ 1 h 381"/>
                  <a:gd name="T18" fmla="*/ 0 w 211"/>
                  <a:gd name="T19" fmla="*/ 1 h 381"/>
                  <a:gd name="T20" fmla="*/ 0 w 211"/>
                  <a:gd name="T21" fmla="*/ 1 h 381"/>
                  <a:gd name="T22" fmla="*/ 0 w 211"/>
                  <a:gd name="T23" fmla="*/ 1 h 381"/>
                  <a:gd name="T24" fmla="*/ 0 w 211"/>
                  <a:gd name="T25" fmla="*/ 1 h 381"/>
                  <a:gd name="T26" fmla="*/ 0 w 211"/>
                  <a:gd name="T27" fmla="*/ 1 h 381"/>
                  <a:gd name="T28" fmla="*/ 0 w 211"/>
                  <a:gd name="T29" fmla="*/ 1 h 381"/>
                  <a:gd name="T30" fmla="*/ 0 w 211"/>
                  <a:gd name="T31" fmla="*/ 1 h 381"/>
                  <a:gd name="T32" fmla="*/ 0 w 211"/>
                  <a:gd name="T33" fmla="*/ 1 h 381"/>
                  <a:gd name="T34" fmla="*/ 0 w 211"/>
                  <a:gd name="T35" fmla="*/ 1 h 381"/>
                  <a:gd name="T36" fmla="*/ 0 w 211"/>
                  <a:gd name="T37" fmla="*/ 1 h 381"/>
                  <a:gd name="T38" fmla="*/ 0 w 211"/>
                  <a:gd name="T39" fmla="*/ 1 h 381"/>
                  <a:gd name="T40" fmla="*/ 0 w 211"/>
                  <a:gd name="T41" fmla="*/ 1 h 381"/>
                  <a:gd name="T42" fmla="*/ 0 w 211"/>
                  <a:gd name="T43" fmla="*/ 1 h 381"/>
                  <a:gd name="T44" fmla="*/ 0 w 211"/>
                  <a:gd name="T45" fmla="*/ 1 h 381"/>
                  <a:gd name="T46" fmla="*/ 0 w 211"/>
                  <a:gd name="T47" fmla="*/ 1 h 381"/>
                  <a:gd name="T48" fmla="*/ 0 w 211"/>
                  <a:gd name="T49" fmla="*/ 1 h 381"/>
                  <a:gd name="T50" fmla="*/ 0 w 211"/>
                  <a:gd name="T51" fmla="*/ 1 h 381"/>
                  <a:gd name="T52" fmla="*/ 0 w 211"/>
                  <a:gd name="T53" fmla="*/ 1 h 381"/>
                  <a:gd name="T54" fmla="*/ 0 w 211"/>
                  <a:gd name="T55" fmla="*/ 1 h 381"/>
                  <a:gd name="T56" fmla="*/ 0 w 211"/>
                  <a:gd name="T57" fmla="*/ 1 h 381"/>
                  <a:gd name="T58" fmla="*/ 0 w 211"/>
                  <a:gd name="T59" fmla="*/ 1 h 381"/>
                  <a:gd name="T60" fmla="*/ 0 w 211"/>
                  <a:gd name="T61" fmla="*/ 1 h 381"/>
                  <a:gd name="T62" fmla="*/ 0 w 211"/>
                  <a:gd name="T63" fmla="*/ 1 h 38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381"/>
                  <a:gd name="T98" fmla="*/ 211 w 211"/>
                  <a:gd name="T99" fmla="*/ 381 h 38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381">
                    <a:moveTo>
                      <a:pt x="114" y="359"/>
                    </a:moveTo>
                    <a:lnTo>
                      <a:pt x="122" y="356"/>
                    </a:lnTo>
                    <a:lnTo>
                      <a:pt x="131" y="348"/>
                    </a:lnTo>
                    <a:lnTo>
                      <a:pt x="145" y="337"/>
                    </a:lnTo>
                    <a:lnTo>
                      <a:pt x="161" y="319"/>
                    </a:lnTo>
                    <a:lnTo>
                      <a:pt x="175" y="294"/>
                    </a:lnTo>
                    <a:lnTo>
                      <a:pt x="189" y="259"/>
                    </a:lnTo>
                    <a:lnTo>
                      <a:pt x="198" y="214"/>
                    </a:lnTo>
                    <a:lnTo>
                      <a:pt x="206" y="156"/>
                    </a:lnTo>
                    <a:lnTo>
                      <a:pt x="209" y="101"/>
                    </a:lnTo>
                    <a:lnTo>
                      <a:pt x="211" y="62"/>
                    </a:lnTo>
                    <a:lnTo>
                      <a:pt x="211" y="36"/>
                    </a:lnTo>
                    <a:lnTo>
                      <a:pt x="211" y="20"/>
                    </a:lnTo>
                    <a:lnTo>
                      <a:pt x="211" y="12"/>
                    </a:lnTo>
                    <a:lnTo>
                      <a:pt x="209" y="9"/>
                    </a:lnTo>
                    <a:lnTo>
                      <a:pt x="208" y="10"/>
                    </a:lnTo>
                    <a:lnTo>
                      <a:pt x="206" y="9"/>
                    </a:lnTo>
                    <a:lnTo>
                      <a:pt x="205" y="4"/>
                    </a:lnTo>
                    <a:lnTo>
                      <a:pt x="200" y="1"/>
                    </a:lnTo>
                    <a:lnTo>
                      <a:pt x="194" y="0"/>
                    </a:lnTo>
                    <a:lnTo>
                      <a:pt x="187" y="1"/>
                    </a:lnTo>
                    <a:lnTo>
                      <a:pt x="181" y="4"/>
                    </a:lnTo>
                    <a:lnTo>
                      <a:pt x="175" y="7"/>
                    </a:lnTo>
                    <a:lnTo>
                      <a:pt x="170" y="12"/>
                    </a:lnTo>
                    <a:lnTo>
                      <a:pt x="167" y="18"/>
                    </a:lnTo>
                    <a:lnTo>
                      <a:pt x="159" y="26"/>
                    </a:lnTo>
                    <a:lnTo>
                      <a:pt x="148" y="36"/>
                    </a:lnTo>
                    <a:lnTo>
                      <a:pt x="133" y="45"/>
                    </a:lnTo>
                    <a:lnTo>
                      <a:pt x="123" y="48"/>
                    </a:lnTo>
                    <a:lnTo>
                      <a:pt x="112" y="53"/>
                    </a:lnTo>
                    <a:lnTo>
                      <a:pt x="101" y="56"/>
                    </a:lnTo>
                    <a:lnTo>
                      <a:pt x="90" y="59"/>
                    </a:lnTo>
                    <a:lnTo>
                      <a:pt x="79" y="62"/>
                    </a:lnTo>
                    <a:lnTo>
                      <a:pt x="70" y="65"/>
                    </a:lnTo>
                    <a:lnTo>
                      <a:pt x="62" y="67"/>
                    </a:lnTo>
                    <a:lnTo>
                      <a:pt x="57" y="68"/>
                    </a:lnTo>
                    <a:lnTo>
                      <a:pt x="51" y="70"/>
                    </a:lnTo>
                    <a:lnTo>
                      <a:pt x="47" y="73"/>
                    </a:lnTo>
                    <a:lnTo>
                      <a:pt x="43" y="75"/>
                    </a:lnTo>
                    <a:lnTo>
                      <a:pt x="40" y="78"/>
                    </a:lnTo>
                    <a:lnTo>
                      <a:pt x="36" y="86"/>
                    </a:lnTo>
                    <a:lnTo>
                      <a:pt x="28" y="100"/>
                    </a:lnTo>
                    <a:lnTo>
                      <a:pt x="21" y="120"/>
                    </a:lnTo>
                    <a:lnTo>
                      <a:pt x="14" y="143"/>
                    </a:lnTo>
                    <a:lnTo>
                      <a:pt x="7" y="169"/>
                    </a:lnTo>
                    <a:lnTo>
                      <a:pt x="3" y="194"/>
                    </a:lnTo>
                    <a:lnTo>
                      <a:pt x="0" y="215"/>
                    </a:lnTo>
                    <a:lnTo>
                      <a:pt x="0" y="234"/>
                    </a:lnTo>
                    <a:lnTo>
                      <a:pt x="1" y="251"/>
                    </a:lnTo>
                    <a:lnTo>
                      <a:pt x="4" y="273"/>
                    </a:lnTo>
                    <a:lnTo>
                      <a:pt x="7" y="297"/>
                    </a:lnTo>
                    <a:lnTo>
                      <a:pt x="11" y="322"/>
                    </a:lnTo>
                    <a:lnTo>
                      <a:pt x="15" y="344"/>
                    </a:lnTo>
                    <a:lnTo>
                      <a:pt x="20" y="363"/>
                    </a:lnTo>
                    <a:lnTo>
                      <a:pt x="26" y="375"/>
                    </a:lnTo>
                    <a:lnTo>
                      <a:pt x="31" y="381"/>
                    </a:lnTo>
                    <a:lnTo>
                      <a:pt x="37" y="381"/>
                    </a:lnTo>
                    <a:lnTo>
                      <a:pt x="47" y="381"/>
                    </a:lnTo>
                    <a:lnTo>
                      <a:pt x="59" y="378"/>
                    </a:lnTo>
                    <a:lnTo>
                      <a:pt x="72" y="375"/>
                    </a:lnTo>
                    <a:lnTo>
                      <a:pt x="86" y="370"/>
                    </a:lnTo>
                    <a:lnTo>
                      <a:pt x="98" y="367"/>
                    </a:lnTo>
                    <a:lnTo>
                      <a:pt x="108" y="363"/>
                    </a:lnTo>
                    <a:lnTo>
                      <a:pt x="114" y="359"/>
                    </a:lnTo>
                    <a:close/>
                  </a:path>
                </a:pathLst>
              </a:custGeom>
              <a:solidFill>
                <a:srgbClr val="FF7226"/>
              </a:solidFill>
              <a:ln w="9525">
                <a:noFill/>
                <a:round/>
                <a:headEnd/>
                <a:tailEnd/>
              </a:ln>
            </p:spPr>
            <p:txBody>
              <a:bodyPr/>
              <a:lstStyle/>
              <a:p>
                <a:endParaRPr lang="en-US"/>
              </a:p>
            </p:txBody>
          </p:sp>
          <p:sp>
            <p:nvSpPr>
              <p:cNvPr id="24759" name="Freeform 148"/>
              <p:cNvSpPr>
                <a:spLocks/>
              </p:cNvSpPr>
              <p:nvPr/>
            </p:nvSpPr>
            <p:spPr bwMode="auto">
              <a:xfrm>
                <a:off x="2223" y="3639"/>
                <a:ext cx="54" cy="106"/>
              </a:xfrm>
              <a:custGeom>
                <a:avLst/>
                <a:gdLst>
                  <a:gd name="T0" fmla="*/ 1 w 108"/>
                  <a:gd name="T1" fmla="*/ 0 h 213"/>
                  <a:gd name="T2" fmla="*/ 1 w 108"/>
                  <a:gd name="T3" fmla="*/ 0 h 213"/>
                  <a:gd name="T4" fmla="*/ 1 w 108"/>
                  <a:gd name="T5" fmla="*/ 0 h 213"/>
                  <a:gd name="T6" fmla="*/ 1 w 108"/>
                  <a:gd name="T7" fmla="*/ 0 h 213"/>
                  <a:gd name="T8" fmla="*/ 1 w 108"/>
                  <a:gd name="T9" fmla="*/ 0 h 213"/>
                  <a:gd name="T10" fmla="*/ 1 w 108"/>
                  <a:gd name="T11" fmla="*/ 0 h 213"/>
                  <a:gd name="T12" fmla="*/ 1 w 108"/>
                  <a:gd name="T13" fmla="*/ 0 h 213"/>
                  <a:gd name="T14" fmla="*/ 1 w 108"/>
                  <a:gd name="T15" fmla="*/ 0 h 213"/>
                  <a:gd name="T16" fmla="*/ 1 w 108"/>
                  <a:gd name="T17" fmla="*/ 0 h 213"/>
                  <a:gd name="T18" fmla="*/ 0 w 108"/>
                  <a:gd name="T19" fmla="*/ 0 h 213"/>
                  <a:gd name="T20" fmla="*/ 1 w 108"/>
                  <a:gd name="T21" fmla="*/ 0 h 213"/>
                  <a:gd name="T22" fmla="*/ 1 w 108"/>
                  <a:gd name="T23" fmla="*/ 0 h 213"/>
                  <a:gd name="T24" fmla="*/ 1 w 108"/>
                  <a:gd name="T25" fmla="*/ 0 h 213"/>
                  <a:gd name="T26" fmla="*/ 1 w 108"/>
                  <a:gd name="T27" fmla="*/ 0 h 213"/>
                  <a:gd name="T28" fmla="*/ 1 w 108"/>
                  <a:gd name="T29" fmla="*/ 0 h 213"/>
                  <a:gd name="T30" fmla="*/ 1 w 108"/>
                  <a:gd name="T31" fmla="*/ 0 h 213"/>
                  <a:gd name="T32" fmla="*/ 1 w 108"/>
                  <a:gd name="T33" fmla="*/ 0 h 213"/>
                  <a:gd name="T34" fmla="*/ 1 w 108"/>
                  <a:gd name="T35" fmla="*/ 0 h 213"/>
                  <a:gd name="T36" fmla="*/ 1 w 108"/>
                  <a:gd name="T37" fmla="*/ 0 h 213"/>
                  <a:gd name="T38" fmla="*/ 1 w 108"/>
                  <a:gd name="T39" fmla="*/ 0 h 213"/>
                  <a:gd name="T40" fmla="*/ 1 w 108"/>
                  <a:gd name="T41" fmla="*/ 0 h 2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8"/>
                  <a:gd name="T64" fmla="*/ 0 h 213"/>
                  <a:gd name="T65" fmla="*/ 108 w 108"/>
                  <a:gd name="T66" fmla="*/ 213 h 21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8" h="213">
                    <a:moveTo>
                      <a:pt x="86" y="0"/>
                    </a:moveTo>
                    <a:lnTo>
                      <a:pt x="86" y="0"/>
                    </a:lnTo>
                    <a:lnTo>
                      <a:pt x="78" y="56"/>
                    </a:lnTo>
                    <a:lnTo>
                      <a:pt x="69" y="100"/>
                    </a:lnTo>
                    <a:lnTo>
                      <a:pt x="57" y="133"/>
                    </a:lnTo>
                    <a:lnTo>
                      <a:pt x="42" y="156"/>
                    </a:lnTo>
                    <a:lnTo>
                      <a:pt x="28" y="174"/>
                    </a:lnTo>
                    <a:lnTo>
                      <a:pt x="16" y="185"/>
                    </a:lnTo>
                    <a:lnTo>
                      <a:pt x="6" y="191"/>
                    </a:lnTo>
                    <a:lnTo>
                      <a:pt x="0" y="194"/>
                    </a:lnTo>
                    <a:lnTo>
                      <a:pt x="10" y="213"/>
                    </a:lnTo>
                    <a:lnTo>
                      <a:pt x="19" y="210"/>
                    </a:lnTo>
                    <a:lnTo>
                      <a:pt x="28" y="200"/>
                    </a:lnTo>
                    <a:lnTo>
                      <a:pt x="44" y="189"/>
                    </a:lnTo>
                    <a:lnTo>
                      <a:pt x="61" y="169"/>
                    </a:lnTo>
                    <a:lnTo>
                      <a:pt x="75" y="142"/>
                    </a:lnTo>
                    <a:lnTo>
                      <a:pt x="91" y="106"/>
                    </a:lnTo>
                    <a:lnTo>
                      <a:pt x="100" y="59"/>
                    </a:lnTo>
                    <a:lnTo>
                      <a:pt x="108" y="0"/>
                    </a:lnTo>
                    <a:lnTo>
                      <a:pt x="86" y="0"/>
                    </a:lnTo>
                    <a:close/>
                  </a:path>
                </a:pathLst>
              </a:custGeom>
              <a:solidFill>
                <a:srgbClr val="000000"/>
              </a:solidFill>
              <a:ln w="9525">
                <a:noFill/>
                <a:round/>
                <a:headEnd/>
                <a:tailEnd/>
              </a:ln>
            </p:spPr>
            <p:txBody>
              <a:bodyPr/>
              <a:lstStyle/>
              <a:p>
                <a:endParaRPr lang="en-US"/>
              </a:p>
            </p:txBody>
          </p:sp>
          <p:sp>
            <p:nvSpPr>
              <p:cNvPr id="24760" name="Freeform 149"/>
              <p:cNvSpPr>
                <a:spLocks/>
              </p:cNvSpPr>
              <p:nvPr/>
            </p:nvSpPr>
            <p:spPr bwMode="auto">
              <a:xfrm>
                <a:off x="2266" y="3561"/>
                <a:ext cx="13" cy="78"/>
              </a:xfrm>
              <a:custGeom>
                <a:avLst/>
                <a:gdLst>
                  <a:gd name="T0" fmla="*/ 0 w 27"/>
                  <a:gd name="T1" fmla="*/ 1 h 156"/>
                  <a:gd name="T2" fmla="*/ 0 w 27"/>
                  <a:gd name="T3" fmla="*/ 1 h 156"/>
                  <a:gd name="T4" fmla="*/ 0 w 27"/>
                  <a:gd name="T5" fmla="*/ 1 h 156"/>
                  <a:gd name="T6" fmla="*/ 0 w 27"/>
                  <a:gd name="T7" fmla="*/ 1 h 156"/>
                  <a:gd name="T8" fmla="*/ 0 w 27"/>
                  <a:gd name="T9" fmla="*/ 1 h 156"/>
                  <a:gd name="T10" fmla="*/ 0 w 27"/>
                  <a:gd name="T11" fmla="*/ 1 h 156"/>
                  <a:gd name="T12" fmla="*/ 0 w 27"/>
                  <a:gd name="T13" fmla="*/ 1 h 156"/>
                  <a:gd name="T14" fmla="*/ 0 w 27"/>
                  <a:gd name="T15" fmla="*/ 1 h 156"/>
                  <a:gd name="T16" fmla="*/ 0 w 27"/>
                  <a:gd name="T17" fmla="*/ 1 h 156"/>
                  <a:gd name="T18" fmla="*/ 0 w 27"/>
                  <a:gd name="T19" fmla="*/ 1 h 156"/>
                  <a:gd name="T20" fmla="*/ 0 w 27"/>
                  <a:gd name="T21" fmla="*/ 1 h 156"/>
                  <a:gd name="T22" fmla="*/ 0 w 27"/>
                  <a:gd name="T23" fmla="*/ 1 h 156"/>
                  <a:gd name="T24" fmla="*/ 0 w 27"/>
                  <a:gd name="T25" fmla="*/ 1 h 156"/>
                  <a:gd name="T26" fmla="*/ 0 w 27"/>
                  <a:gd name="T27" fmla="*/ 1 h 156"/>
                  <a:gd name="T28" fmla="*/ 0 w 27"/>
                  <a:gd name="T29" fmla="*/ 1 h 156"/>
                  <a:gd name="T30" fmla="*/ 0 w 27"/>
                  <a:gd name="T31" fmla="*/ 1 h 156"/>
                  <a:gd name="T32" fmla="*/ 0 w 27"/>
                  <a:gd name="T33" fmla="*/ 0 h 156"/>
                  <a:gd name="T34" fmla="*/ 0 w 27"/>
                  <a:gd name="T35" fmla="*/ 1 h 156"/>
                  <a:gd name="T36" fmla="*/ 0 w 27"/>
                  <a:gd name="T37" fmla="*/ 1 h 156"/>
                  <a:gd name="T38" fmla="*/ 0 w 27"/>
                  <a:gd name="T39" fmla="*/ 1 h 156"/>
                  <a:gd name="T40" fmla="*/ 0 w 27"/>
                  <a:gd name="T41" fmla="*/ 1 h 156"/>
                  <a:gd name="T42" fmla="*/ 0 w 27"/>
                  <a:gd name="T43" fmla="*/ 1 h 156"/>
                  <a:gd name="T44" fmla="*/ 0 w 27"/>
                  <a:gd name="T45" fmla="*/ 1 h 156"/>
                  <a:gd name="T46" fmla="*/ 0 w 27"/>
                  <a:gd name="T47" fmla="*/ 1 h 156"/>
                  <a:gd name="T48" fmla="*/ 0 w 27"/>
                  <a:gd name="T49" fmla="*/ 1 h 156"/>
                  <a:gd name="T50" fmla="*/ 0 w 27"/>
                  <a:gd name="T51" fmla="*/ 1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7"/>
                  <a:gd name="T79" fmla="*/ 0 h 156"/>
                  <a:gd name="T80" fmla="*/ 27 w 27"/>
                  <a:gd name="T81" fmla="*/ 156 h 15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7" h="156">
                    <a:moveTo>
                      <a:pt x="3" y="15"/>
                    </a:moveTo>
                    <a:lnTo>
                      <a:pt x="22" y="15"/>
                    </a:lnTo>
                    <a:lnTo>
                      <a:pt x="21" y="18"/>
                    </a:lnTo>
                    <a:lnTo>
                      <a:pt x="10" y="18"/>
                    </a:lnTo>
                    <a:lnTo>
                      <a:pt x="5" y="14"/>
                    </a:lnTo>
                    <a:lnTo>
                      <a:pt x="5" y="20"/>
                    </a:lnTo>
                    <a:lnTo>
                      <a:pt x="5" y="36"/>
                    </a:lnTo>
                    <a:lnTo>
                      <a:pt x="5" y="62"/>
                    </a:lnTo>
                    <a:lnTo>
                      <a:pt x="3" y="101"/>
                    </a:lnTo>
                    <a:lnTo>
                      <a:pt x="0" y="156"/>
                    </a:lnTo>
                    <a:lnTo>
                      <a:pt x="22" y="156"/>
                    </a:lnTo>
                    <a:lnTo>
                      <a:pt x="25" y="101"/>
                    </a:lnTo>
                    <a:lnTo>
                      <a:pt x="27" y="62"/>
                    </a:lnTo>
                    <a:lnTo>
                      <a:pt x="27" y="36"/>
                    </a:lnTo>
                    <a:lnTo>
                      <a:pt x="27" y="20"/>
                    </a:lnTo>
                    <a:lnTo>
                      <a:pt x="27" y="10"/>
                    </a:lnTo>
                    <a:lnTo>
                      <a:pt x="19" y="0"/>
                    </a:lnTo>
                    <a:lnTo>
                      <a:pt x="5" y="3"/>
                    </a:lnTo>
                    <a:lnTo>
                      <a:pt x="3" y="6"/>
                    </a:lnTo>
                    <a:lnTo>
                      <a:pt x="22" y="6"/>
                    </a:lnTo>
                    <a:lnTo>
                      <a:pt x="2" y="6"/>
                    </a:lnTo>
                    <a:lnTo>
                      <a:pt x="2" y="15"/>
                    </a:lnTo>
                    <a:lnTo>
                      <a:pt x="8" y="21"/>
                    </a:lnTo>
                    <a:lnTo>
                      <a:pt x="18" y="21"/>
                    </a:lnTo>
                    <a:lnTo>
                      <a:pt x="24" y="15"/>
                    </a:lnTo>
                    <a:lnTo>
                      <a:pt x="3" y="15"/>
                    </a:lnTo>
                    <a:close/>
                  </a:path>
                </a:pathLst>
              </a:custGeom>
              <a:solidFill>
                <a:srgbClr val="000000"/>
              </a:solidFill>
              <a:ln w="9525">
                <a:noFill/>
                <a:round/>
                <a:headEnd/>
                <a:tailEnd/>
              </a:ln>
            </p:spPr>
            <p:txBody>
              <a:bodyPr/>
              <a:lstStyle/>
              <a:p>
                <a:endParaRPr lang="en-US"/>
              </a:p>
            </p:txBody>
          </p:sp>
          <p:sp>
            <p:nvSpPr>
              <p:cNvPr id="24761" name="Freeform 150"/>
              <p:cNvSpPr>
                <a:spLocks/>
              </p:cNvSpPr>
              <p:nvPr/>
            </p:nvSpPr>
            <p:spPr bwMode="auto">
              <a:xfrm>
                <a:off x="2265" y="3555"/>
                <a:ext cx="12" cy="14"/>
              </a:xfrm>
              <a:custGeom>
                <a:avLst/>
                <a:gdLst>
                  <a:gd name="T0" fmla="*/ 0 w 23"/>
                  <a:gd name="T1" fmla="*/ 1 h 26"/>
                  <a:gd name="T2" fmla="*/ 0 w 23"/>
                  <a:gd name="T3" fmla="*/ 1 h 26"/>
                  <a:gd name="T4" fmla="*/ 1 w 23"/>
                  <a:gd name="T5" fmla="*/ 1 h 26"/>
                  <a:gd name="T6" fmla="*/ 1 w 23"/>
                  <a:gd name="T7" fmla="*/ 1 h 26"/>
                  <a:gd name="T8" fmla="*/ 1 w 23"/>
                  <a:gd name="T9" fmla="*/ 1 h 26"/>
                  <a:gd name="T10" fmla="*/ 1 w 23"/>
                  <a:gd name="T11" fmla="*/ 1 h 26"/>
                  <a:gd name="T12" fmla="*/ 1 w 23"/>
                  <a:gd name="T13" fmla="*/ 1 h 26"/>
                  <a:gd name="T14" fmla="*/ 1 w 23"/>
                  <a:gd name="T15" fmla="*/ 1 h 26"/>
                  <a:gd name="T16" fmla="*/ 1 w 23"/>
                  <a:gd name="T17" fmla="*/ 1 h 26"/>
                  <a:gd name="T18" fmla="*/ 1 w 23"/>
                  <a:gd name="T19" fmla="*/ 1 h 26"/>
                  <a:gd name="T20" fmla="*/ 0 w 23"/>
                  <a:gd name="T21" fmla="*/ 0 h 26"/>
                  <a:gd name="T22" fmla="*/ 0 w 23"/>
                  <a:gd name="T23" fmla="*/ 0 h 26"/>
                  <a:gd name="T24" fmla="*/ 0 w 23"/>
                  <a:gd name="T25" fmla="*/ 1 h 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6"/>
                  <a:gd name="T41" fmla="*/ 23 w 23"/>
                  <a:gd name="T42" fmla="*/ 26 h 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6">
                    <a:moveTo>
                      <a:pt x="0" y="21"/>
                    </a:moveTo>
                    <a:lnTo>
                      <a:pt x="0" y="21"/>
                    </a:lnTo>
                    <a:lnTo>
                      <a:pt x="1" y="21"/>
                    </a:lnTo>
                    <a:lnTo>
                      <a:pt x="3" y="21"/>
                    </a:lnTo>
                    <a:lnTo>
                      <a:pt x="3" y="25"/>
                    </a:lnTo>
                    <a:lnTo>
                      <a:pt x="4" y="26"/>
                    </a:lnTo>
                    <a:lnTo>
                      <a:pt x="23" y="17"/>
                    </a:lnTo>
                    <a:lnTo>
                      <a:pt x="22" y="15"/>
                    </a:lnTo>
                    <a:lnTo>
                      <a:pt x="19" y="9"/>
                    </a:lnTo>
                    <a:lnTo>
                      <a:pt x="11" y="3"/>
                    </a:lnTo>
                    <a:lnTo>
                      <a:pt x="0" y="0"/>
                    </a:lnTo>
                    <a:lnTo>
                      <a:pt x="0" y="21"/>
                    </a:lnTo>
                    <a:close/>
                  </a:path>
                </a:pathLst>
              </a:custGeom>
              <a:solidFill>
                <a:srgbClr val="000000"/>
              </a:solidFill>
              <a:ln w="9525">
                <a:noFill/>
                <a:round/>
                <a:headEnd/>
                <a:tailEnd/>
              </a:ln>
            </p:spPr>
            <p:txBody>
              <a:bodyPr/>
              <a:lstStyle/>
              <a:p>
                <a:endParaRPr lang="en-US"/>
              </a:p>
            </p:txBody>
          </p:sp>
          <p:sp>
            <p:nvSpPr>
              <p:cNvPr id="24762" name="Freeform 151"/>
              <p:cNvSpPr>
                <a:spLocks/>
              </p:cNvSpPr>
              <p:nvPr/>
            </p:nvSpPr>
            <p:spPr bwMode="auto">
              <a:xfrm>
                <a:off x="2248" y="3555"/>
                <a:ext cx="17" cy="16"/>
              </a:xfrm>
              <a:custGeom>
                <a:avLst/>
                <a:gdLst>
                  <a:gd name="T0" fmla="*/ 1 w 33"/>
                  <a:gd name="T1" fmla="*/ 1 h 31"/>
                  <a:gd name="T2" fmla="*/ 1 w 33"/>
                  <a:gd name="T3" fmla="*/ 1 h 31"/>
                  <a:gd name="T4" fmla="*/ 1 w 33"/>
                  <a:gd name="T5" fmla="*/ 1 h 31"/>
                  <a:gd name="T6" fmla="*/ 1 w 33"/>
                  <a:gd name="T7" fmla="*/ 1 h 31"/>
                  <a:gd name="T8" fmla="*/ 1 w 33"/>
                  <a:gd name="T9" fmla="*/ 1 h 31"/>
                  <a:gd name="T10" fmla="*/ 1 w 33"/>
                  <a:gd name="T11" fmla="*/ 1 h 31"/>
                  <a:gd name="T12" fmla="*/ 1 w 33"/>
                  <a:gd name="T13" fmla="*/ 0 h 31"/>
                  <a:gd name="T14" fmla="*/ 1 w 33"/>
                  <a:gd name="T15" fmla="*/ 1 h 31"/>
                  <a:gd name="T16" fmla="*/ 1 w 33"/>
                  <a:gd name="T17" fmla="*/ 1 h 31"/>
                  <a:gd name="T18" fmla="*/ 1 w 33"/>
                  <a:gd name="T19" fmla="*/ 1 h 31"/>
                  <a:gd name="T20" fmla="*/ 1 w 33"/>
                  <a:gd name="T21" fmla="*/ 1 h 31"/>
                  <a:gd name="T22" fmla="*/ 0 w 33"/>
                  <a:gd name="T23" fmla="*/ 1 h 31"/>
                  <a:gd name="T24" fmla="*/ 1 w 33"/>
                  <a:gd name="T25" fmla="*/ 1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1"/>
                  <a:gd name="T41" fmla="*/ 33 w 33"/>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1">
                    <a:moveTo>
                      <a:pt x="19" y="28"/>
                    </a:moveTo>
                    <a:lnTo>
                      <a:pt x="17" y="31"/>
                    </a:lnTo>
                    <a:lnTo>
                      <a:pt x="20" y="28"/>
                    </a:lnTo>
                    <a:lnTo>
                      <a:pt x="25" y="25"/>
                    </a:lnTo>
                    <a:lnTo>
                      <a:pt x="30" y="23"/>
                    </a:lnTo>
                    <a:lnTo>
                      <a:pt x="33" y="21"/>
                    </a:lnTo>
                    <a:lnTo>
                      <a:pt x="33" y="0"/>
                    </a:lnTo>
                    <a:lnTo>
                      <a:pt x="23" y="1"/>
                    </a:lnTo>
                    <a:lnTo>
                      <a:pt x="15" y="6"/>
                    </a:lnTo>
                    <a:lnTo>
                      <a:pt x="8" y="9"/>
                    </a:lnTo>
                    <a:lnTo>
                      <a:pt x="1" y="15"/>
                    </a:lnTo>
                    <a:lnTo>
                      <a:pt x="0" y="18"/>
                    </a:lnTo>
                    <a:lnTo>
                      <a:pt x="19" y="28"/>
                    </a:lnTo>
                    <a:close/>
                  </a:path>
                </a:pathLst>
              </a:custGeom>
              <a:solidFill>
                <a:srgbClr val="000000"/>
              </a:solidFill>
              <a:ln w="9525">
                <a:noFill/>
                <a:round/>
                <a:headEnd/>
                <a:tailEnd/>
              </a:ln>
            </p:spPr>
            <p:txBody>
              <a:bodyPr/>
              <a:lstStyle/>
              <a:p>
                <a:endParaRPr lang="en-US"/>
              </a:p>
            </p:txBody>
          </p:sp>
          <p:sp>
            <p:nvSpPr>
              <p:cNvPr id="24763" name="Freeform 152"/>
              <p:cNvSpPr>
                <a:spLocks/>
              </p:cNvSpPr>
              <p:nvPr/>
            </p:nvSpPr>
            <p:spPr bwMode="auto">
              <a:xfrm>
                <a:off x="2232" y="3565"/>
                <a:ext cx="26" cy="23"/>
              </a:xfrm>
              <a:custGeom>
                <a:avLst/>
                <a:gdLst>
                  <a:gd name="T0" fmla="*/ 1 w 52"/>
                  <a:gd name="T1" fmla="*/ 0 h 47"/>
                  <a:gd name="T2" fmla="*/ 1 w 52"/>
                  <a:gd name="T3" fmla="*/ 0 h 47"/>
                  <a:gd name="T4" fmla="*/ 1 w 52"/>
                  <a:gd name="T5" fmla="*/ 0 h 47"/>
                  <a:gd name="T6" fmla="*/ 1 w 52"/>
                  <a:gd name="T7" fmla="*/ 0 h 47"/>
                  <a:gd name="T8" fmla="*/ 1 w 52"/>
                  <a:gd name="T9" fmla="*/ 0 h 47"/>
                  <a:gd name="T10" fmla="*/ 1 w 52"/>
                  <a:gd name="T11" fmla="*/ 0 h 47"/>
                  <a:gd name="T12" fmla="*/ 1 w 52"/>
                  <a:gd name="T13" fmla="*/ 0 h 47"/>
                  <a:gd name="T14" fmla="*/ 1 w 52"/>
                  <a:gd name="T15" fmla="*/ 0 h 47"/>
                  <a:gd name="T16" fmla="*/ 1 w 52"/>
                  <a:gd name="T17" fmla="*/ 0 h 47"/>
                  <a:gd name="T18" fmla="*/ 1 w 52"/>
                  <a:gd name="T19" fmla="*/ 0 h 47"/>
                  <a:gd name="T20" fmla="*/ 0 w 52"/>
                  <a:gd name="T21" fmla="*/ 0 h 47"/>
                  <a:gd name="T22" fmla="*/ 0 w 52"/>
                  <a:gd name="T23" fmla="*/ 0 h 47"/>
                  <a:gd name="T24" fmla="*/ 1 w 52"/>
                  <a:gd name="T25" fmla="*/ 0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47"/>
                  <a:gd name="T41" fmla="*/ 52 w 52"/>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47">
                    <a:moveTo>
                      <a:pt x="9" y="47"/>
                    </a:moveTo>
                    <a:lnTo>
                      <a:pt x="9" y="47"/>
                    </a:lnTo>
                    <a:lnTo>
                      <a:pt x="27" y="38"/>
                    </a:lnTo>
                    <a:lnTo>
                      <a:pt x="39" y="27"/>
                    </a:lnTo>
                    <a:lnTo>
                      <a:pt x="48" y="18"/>
                    </a:lnTo>
                    <a:lnTo>
                      <a:pt x="52" y="10"/>
                    </a:lnTo>
                    <a:lnTo>
                      <a:pt x="33" y="0"/>
                    </a:lnTo>
                    <a:lnTo>
                      <a:pt x="30" y="5"/>
                    </a:lnTo>
                    <a:lnTo>
                      <a:pt x="23" y="11"/>
                    </a:lnTo>
                    <a:lnTo>
                      <a:pt x="14" y="19"/>
                    </a:lnTo>
                    <a:lnTo>
                      <a:pt x="0" y="29"/>
                    </a:lnTo>
                    <a:lnTo>
                      <a:pt x="9" y="47"/>
                    </a:lnTo>
                    <a:close/>
                  </a:path>
                </a:pathLst>
              </a:custGeom>
              <a:solidFill>
                <a:srgbClr val="000000"/>
              </a:solidFill>
              <a:ln w="9525">
                <a:noFill/>
                <a:round/>
                <a:headEnd/>
                <a:tailEnd/>
              </a:ln>
            </p:spPr>
            <p:txBody>
              <a:bodyPr/>
              <a:lstStyle/>
              <a:p>
                <a:endParaRPr lang="en-US"/>
              </a:p>
            </p:txBody>
          </p:sp>
          <p:sp>
            <p:nvSpPr>
              <p:cNvPr id="24764" name="Freeform 153"/>
              <p:cNvSpPr>
                <a:spLocks/>
              </p:cNvSpPr>
              <p:nvPr/>
            </p:nvSpPr>
            <p:spPr bwMode="auto">
              <a:xfrm>
                <a:off x="2196" y="3579"/>
                <a:ext cx="41" cy="22"/>
              </a:xfrm>
              <a:custGeom>
                <a:avLst/>
                <a:gdLst>
                  <a:gd name="T0" fmla="*/ 1 w 81"/>
                  <a:gd name="T1" fmla="*/ 1 h 43"/>
                  <a:gd name="T2" fmla="*/ 1 w 81"/>
                  <a:gd name="T3" fmla="*/ 1 h 43"/>
                  <a:gd name="T4" fmla="*/ 1 w 81"/>
                  <a:gd name="T5" fmla="*/ 1 h 43"/>
                  <a:gd name="T6" fmla="*/ 1 w 81"/>
                  <a:gd name="T7" fmla="*/ 1 h 43"/>
                  <a:gd name="T8" fmla="*/ 1 w 81"/>
                  <a:gd name="T9" fmla="*/ 1 h 43"/>
                  <a:gd name="T10" fmla="*/ 1 w 81"/>
                  <a:gd name="T11" fmla="*/ 1 h 43"/>
                  <a:gd name="T12" fmla="*/ 1 w 81"/>
                  <a:gd name="T13" fmla="*/ 1 h 43"/>
                  <a:gd name="T14" fmla="*/ 1 w 81"/>
                  <a:gd name="T15" fmla="*/ 1 h 43"/>
                  <a:gd name="T16" fmla="*/ 1 w 81"/>
                  <a:gd name="T17" fmla="*/ 1 h 43"/>
                  <a:gd name="T18" fmla="*/ 1 w 81"/>
                  <a:gd name="T19" fmla="*/ 1 h 43"/>
                  <a:gd name="T20" fmla="*/ 1 w 81"/>
                  <a:gd name="T21" fmla="*/ 0 h 43"/>
                  <a:gd name="T22" fmla="*/ 1 w 81"/>
                  <a:gd name="T23" fmla="*/ 1 h 43"/>
                  <a:gd name="T24" fmla="*/ 1 w 81"/>
                  <a:gd name="T25" fmla="*/ 1 h 43"/>
                  <a:gd name="T26" fmla="*/ 1 w 81"/>
                  <a:gd name="T27" fmla="*/ 1 h 43"/>
                  <a:gd name="T28" fmla="*/ 1 w 81"/>
                  <a:gd name="T29" fmla="*/ 1 h 43"/>
                  <a:gd name="T30" fmla="*/ 1 w 81"/>
                  <a:gd name="T31" fmla="*/ 1 h 43"/>
                  <a:gd name="T32" fmla="*/ 1 w 81"/>
                  <a:gd name="T33" fmla="*/ 1 h 43"/>
                  <a:gd name="T34" fmla="*/ 1 w 81"/>
                  <a:gd name="T35" fmla="*/ 1 h 43"/>
                  <a:gd name="T36" fmla="*/ 0 w 81"/>
                  <a:gd name="T37" fmla="*/ 1 h 43"/>
                  <a:gd name="T38" fmla="*/ 0 w 81"/>
                  <a:gd name="T39" fmla="*/ 1 h 43"/>
                  <a:gd name="T40" fmla="*/ 1 w 81"/>
                  <a:gd name="T41" fmla="*/ 1 h 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43"/>
                  <a:gd name="T65" fmla="*/ 81 w 81"/>
                  <a:gd name="T66" fmla="*/ 43 h 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43">
                    <a:moveTo>
                      <a:pt x="3" y="43"/>
                    </a:moveTo>
                    <a:lnTo>
                      <a:pt x="3" y="43"/>
                    </a:lnTo>
                    <a:lnTo>
                      <a:pt x="9" y="42"/>
                    </a:lnTo>
                    <a:lnTo>
                      <a:pt x="17" y="40"/>
                    </a:lnTo>
                    <a:lnTo>
                      <a:pt x="27" y="37"/>
                    </a:lnTo>
                    <a:lnTo>
                      <a:pt x="38" y="34"/>
                    </a:lnTo>
                    <a:lnTo>
                      <a:pt x="48" y="31"/>
                    </a:lnTo>
                    <a:lnTo>
                      <a:pt x="59" y="28"/>
                    </a:lnTo>
                    <a:lnTo>
                      <a:pt x="70" y="23"/>
                    </a:lnTo>
                    <a:lnTo>
                      <a:pt x="81" y="18"/>
                    </a:lnTo>
                    <a:lnTo>
                      <a:pt x="72" y="0"/>
                    </a:lnTo>
                    <a:lnTo>
                      <a:pt x="64" y="1"/>
                    </a:lnTo>
                    <a:lnTo>
                      <a:pt x="53" y="6"/>
                    </a:lnTo>
                    <a:lnTo>
                      <a:pt x="42" y="9"/>
                    </a:lnTo>
                    <a:lnTo>
                      <a:pt x="31" y="12"/>
                    </a:lnTo>
                    <a:lnTo>
                      <a:pt x="20" y="15"/>
                    </a:lnTo>
                    <a:lnTo>
                      <a:pt x="11" y="18"/>
                    </a:lnTo>
                    <a:lnTo>
                      <a:pt x="3" y="20"/>
                    </a:lnTo>
                    <a:lnTo>
                      <a:pt x="0" y="21"/>
                    </a:lnTo>
                    <a:lnTo>
                      <a:pt x="3" y="43"/>
                    </a:lnTo>
                    <a:close/>
                  </a:path>
                </a:pathLst>
              </a:custGeom>
              <a:solidFill>
                <a:srgbClr val="000000"/>
              </a:solidFill>
              <a:ln w="9525">
                <a:noFill/>
                <a:round/>
                <a:headEnd/>
                <a:tailEnd/>
              </a:ln>
            </p:spPr>
            <p:txBody>
              <a:bodyPr/>
              <a:lstStyle/>
              <a:p>
                <a:endParaRPr lang="en-US"/>
              </a:p>
            </p:txBody>
          </p:sp>
          <p:sp>
            <p:nvSpPr>
              <p:cNvPr id="24765" name="Freeform 154"/>
              <p:cNvSpPr>
                <a:spLocks/>
              </p:cNvSpPr>
              <p:nvPr/>
            </p:nvSpPr>
            <p:spPr bwMode="auto">
              <a:xfrm>
                <a:off x="2184" y="3590"/>
                <a:ext cx="14" cy="15"/>
              </a:xfrm>
              <a:custGeom>
                <a:avLst/>
                <a:gdLst>
                  <a:gd name="T0" fmla="*/ 1 w 27"/>
                  <a:gd name="T1" fmla="*/ 1 h 30"/>
                  <a:gd name="T2" fmla="*/ 1 w 27"/>
                  <a:gd name="T3" fmla="*/ 1 h 30"/>
                  <a:gd name="T4" fmla="*/ 1 w 27"/>
                  <a:gd name="T5" fmla="*/ 1 h 30"/>
                  <a:gd name="T6" fmla="*/ 1 w 27"/>
                  <a:gd name="T7" fmla="*/ 1 h 30"/>
                  <a:gd name="T8" fmla="*/ 1 w 27"/>
                  <a:gd name="T9" fmla="*/ 1 h 30"/>
                  <a:gd name="T10" fmla="*/ 1 w 27"/>
                  <a:gd name="T11" fmla="*/ 1 h 30"/>
                  <a:gd name="T12" fmla="*/ 1 w 27"/>
                  <a:gd name="T13" fmla="*/ 0 h 30"/>
                  <a:gd name="T14" fmla="*/ 1 w 27"/>
                  <a:gd name="T15" fmla="*/ 1 h 30"/>
                  <a:gd name="T16" fmla="*/ 1 w 27"/>
                  <a:gd name="T17" fmla="*/ 1 h 30"/>
                  <a:gd name="T18" fmla="*/ 1 w 27"/>
                  <a:gd name="T19" fmla="*/ 1 h 30"/>
                  <a:gd name="T20" fmla="*/ 0 w 27"/>
                  <a:gd name="T21" fmla="*/ 1 h 30"/>
                  <a:gd name="T22" fmla="*/ 1 w 27"/>
                  <a:gd name="T23" fmla="*/ 1 h 30"/>
                  <a:gd name="T24" fmla="*/ 1 w 27"/>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30"/>
                  <a:gd name="T41" fmla="*/ 27 w 27"/>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30">
                    <a:moveTo>
                      <a:pt x="15" y="30"/>
                    </a:moveTo>
                    <a:lnTo>
                      <a:pt x="16" y="29"/>
                    </a:lnTo>
                    <a:lnTo>
                      <a:pt x="18" y="27"/>
                    </a:lnTo>
                    <a:lnTo>
                      <a:pt x="21" y="25"/>
                    </a:lnTo>
                    <a:lnTo>
                      <a:pt x="24" y="22"/>
                    </a:lnTo>
                    <a:lnTo>
                      <a:pt x="27" y="22"/>
                    </a:lnTo>
                    <a:lnTo>
                      <a:pt x="24" y="0"/>
                    </a:lnTo>
                    <a:lnTo>
                      <a:pt x="15" y="4"/>
                    </a:lnTo>
                    <a:lnTo>
                      <a:pt x="8" y="7"/>
                    </a:lnTo>
                    <a:lnTo>
                      <a:pt x="5" y="8"/>
                    </a:lnTo>
                    <a:lnTo>
                      <a:pt x="0" y="13"/>
                    </a:lnTo>
                    <a:lnTo>
                      <a:pt x="2" y="11"/>
                    </a:lnTo>
                    <a:lnTo>
                      <a:pt x="15" y="30"/>
                    </a:lnTo>
                    <a:close/>
                  </a:path>
                </a:pathLst>
              </a:custGeom>
              <a:solidFill>
                <a:srgbClr val="000000"/>
              </a:solidFill>
              <a:ln w="9525">
                <a:noFill/>
                <a:round/>
                <a:headEnd/>
                <a:tailEnd/>
              </a:ln>
            </p:spPr>
            <p:txBody>
              <a:bodyPr/>
              <a:lstStyle/>
              <a:p>
                <a:endParaRPr lang="en-US"/>
              </a:p>
            </p:txBody>
          </p:sp>
          <p:sp>
            <p:nvSpPr>
              <p:cNvPr id="24766" name="Freeform 155"/>
              <p:cNvSpPr>
                <a:spLocks/>
              </p:cNvSpPr>
              <p:nvPr/>
            </p:nvSpPr>
            <p:spPr bwMode="auto">
              <a:xfrm>
                <a:off x="2162" y="3595"/>
                <a:ext cx="29" cy="84"/>
              </a:xfrm>
              <a:custGeom>
                <a:avLst/>
                <a:gdLst>
                  <a:gd name="T0" fmla="*/ 1 w 58"/>
                  <a:gd name="T1" fmla="*/ 1 h 168"/>
                  <a:gd name="T2" fmla="*/ 1 w 58"/>
                  <a:gd name="T3" fmla="*/ 1 h 168"/>
                  <a:gd name="T4" fmla="*/ 1 w 58"/>
                  <a:gd name="T5" fmla="*/ 1 h 168"/>
                  <a:gd name="T6" fmla="*/ 1 w 58"/>
                  <a:gd name="T7" fmla="*/ 1 h 168"/>
                  <a:gd name="T8" fmla="*/ 1 w 58"/>
                  <a:gd name="T9" fmla="*/ 1 h 168"/>
                  <a:gd name="T10" fmla="*/ 1 w 58"/>
                  <a:gd name="T11" fmla="*/ 1 h 168"/>
                  <a:gd name="T12" fmla="*/ 1 w 58"/>
                  <a:gd name="T13" fmla="*/ 1 h 168"/>
                  <a:gd name="T14" fmla="*/ 1 w 58"/>
                  <a:gd name="T15" fmla="*/ 1 h 168"/>
                  <a:gd name="T16" fmla="*/ 1 w 58"/>
                  <a:gd name="T17" fmla="*/ 1 h 168"/>
                  <a:gd name="T18" fmla="*/ 1 w 58"/>
                  <a:gd name="T19" fmla="*/ 1 h 168"/>
                  <a:gd name="T20" fmla="*/ 1 w 58"/>
                  <a:gd name="T21" fmla="*/ 0 h 168"/>
                  <a:gd name="T22" fmla="*/ 1 w 58"/>
                  <a:gd name="T23" fmla="*/ 1 h 168"/>
                  <a:gd name="T24" fmla="*/ 1 w 58"/>
                  <a:gd name="T25" fmla="*/ 1 h 168"/>
                  <a:gd name="T26" fmla="*/ 1 w 58"/>
                  <a:gd name="T27" fmla="*/ 1 h 168"/>
                  <a:gd name="T28" fmla="*/ 1 w 58"/>
                  <a:gd name="T29" fmla="*/ 1 h 168"/>
                  <a:gd name="T30" fmla="*/ 1 w 58"/>
                  <a:gd name="T31" fmla="*/ 1 h 168"/>
                  <a:gd name="T32" fmla="*/ 1 w 58"/>
                  <a:gd name="T33" fmla="*/ 1 h 168"/>
                  <a:gd name="T34" fmla="*/ 0 w 58"/>
                  <a:gd name="T35" fmla="*/ 1 h 168"/>
                  <a:gd name="T36" fmla="*/ 0 w 58"/>
                  <a:gd name="T37" fmla="*/ 1 h 168"/>
                  <a:gd name="T38" fmla="*/ 0 w 58"/>
                  <a:gd name="T39" fmla="*/ 1 h 168"/>
                  <a:gd name="T40" fmla="*/ 1 w 58"/>
                  <a:gd name="T41" fmla="*/ 1 h 1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168"/>
                  <a:gd name="T65" fmla="*/ 58 w 58"/>
                  <a:gd name="T66" fmla="*/ 168 h 1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168">
                    <a:moveTo>
                      <a:pt x="22" y="165"/>
                    </a:moveTo>
                    <a:lnTo>
                      <a:pt x="22" y="165"/>
                    </a:lnTo>
                    <a:lnTo>
                      <a:pt x="22" y="149"/>
                    </a:lnTo>
                    <a:lnTo>
                      <a:pt x="25" y="127"/>
                    </a:lnTo>
                    <a:lnTo>
                      <a:pt x="29" y="102"/>
                    </a:lnTo>
                    <a:lnTo>
                      <a:pt x="36" y="79"/>
                    </a:lnTo>
                    <a:lnTo>
                      <a:pt x="43" y="55"/>
                    </a:lnTo>
                    <a:lnTo>
                      <a:pt x="48" y="36"/>
                    </a:lnTo>
                    <a:lnTo>
                      <a:pt x="56" y="22"/>
                    </a:lnTo>
                    <a:lnTo>
                      <a:pt x="58" y="19"/>
                    </a:lnTo>
                    <a:lnTo>
                      <a:pt x="45" y="0"/>
                    </a:lnTo>
                    <a:lnTo>
                      <a:pt x="37" y="13"/>
                    </a:lnTo>
                    <a:lnTo>
                      <a:pt x="29" y="27"/>
                    </a:lnTo>
                    <a:lnTo>
                      <a:pt x="22" y="49"/>
                    </a:lnTo>
                    <a:lnTo>
                      <a:pt x="14" y="72"/>
                    </a:lnTo>
                    <a:lnTo>
                      <a:pt x="7" y="99"/>
                    </a:lnTo>
                    <a:lnTo>
                      <a:pt x="3" y="124"/>
                    </a:lnTo>
                    <a:lnTo>
                      <a:pt x="0" y="146"/>
                    </a:lnTo>
                    <a:lnTo>
                      <a:pt x="0" y="168"/>
                    </a:lnTo>
                    <a:lnTo>
                      <a:pt x="22" y="165"/>
                    </a:lnTo>
                    <a:close/>
                  </a:path>
                </a:pathLst>
              </a:custGeom>
              <a:solidFill>
                <a:srgbClr val="000000"/>
              </a:solidFill>
              <a:ln w="9525">
                <a:noFill/>
                <a:round/>
                <a:headEnd/>
                <a:tailEnd/>
              </a:ln>
            </p:spPr>
            <p:txBody>
              <a:bodyPr/>
              <a:lstStyle/>
              <a:p>
                <a:endParaRPr lang="en-US"/>
              </a:p>
            </p:txBody>
          </p:sp>
          <p:sp>
            <p:nvSpPr>
              <p:cNvPr id="24767" name="Freeform 156"/>
              <p:cNvSpPr>
                <a:spLocks/>
              </p:cNvSpPr>
              <p:nvPr/>
            </p:nvSpPr>
            <p:spPr bwMode="auto">
              <a:xfrm>
                <a:off x="2162" y="3677"/>
                <a:ext cx="24" cy="80"/>
              </a:xfrm>
              <a:custGeom>
                <a:avLst/>
                <a:gdLst>
                  <a:gd name="T0" fmla="*/ 1 w 47"/>
                  <a:gd name="T1" fmla="*/ 1 h 159"/>
                  <a:gd name="T2" fmla="*/ 1 w 47"/>
                  <a:gd name="T3" fmla="*/ 1 h 159"/>
                  <a:gd name="T4" fmla="*/ 1 w 47"/>
                  <a:gd name="T5" fmla="*/ 1 h 159"/>
                  <a:gd name="T6" fmla="*/ 1 w 47"/>
                  <a:gd name="T7" fmla="*/ 1 h 159"/>
                  <a:gd name="T8" fmla="*/ 1 w 47"/>
                  <a:gd name="T9" fmla="*/ 1 h 159"/>
                  <a:gd name="T10" fmla="*/ 1 w 47"/>
                  <a:gd name="T11" fmla="*/ 1 h 159"/>
                  <a:gd name="T12" fmla="*/ 1 w 47"/>
                  <a:gd name="T13" fmla="*/ 1 h 159"/>
                  <a:gd name="T14" fmla="*/ 1 w 47"/>
                  <a:gd name="T15" fmla="*/ 1 h 159"/>
                  <a:gd name="T16" fmla="*/ 1 w 47"/>
                  <a:gd name="T17" fmla="*/ 1 h 159"/>
                  <a:gd name="T18" fmla="*/ 1 w 47"/>
                  <a:gd name="T19" fmla="*/ 0 h 159"/>
                  <a:gd name="T20" fmla="*/ 0 w 47"/>
                  <a:gd name="T21" fmla="*/ 1 h 159"/>
                  <a:gd name="T22" fmla="*/ 1 w 47"/>
                  <a:gd name="T23" fmla="*/ 1 h 159"/>
                  <a:gd name="T24" fmla="*/ 1 w 47"/>
                  <a:gd name="T25" fmla="*/ 1 h 159"/>
                  <a:gd name="T26" fmla="*/ 1 w 47"/>
                  <a:gd name="T27" fmla="*/ 1 h 159"/>
                  <a:gd name="T28" fmla="*/ 1 w 47"/>
                  <a:gd name="T29" fmla="*/ 1 h 159"/>
                  <a:gd name="T30" fmla="*/ 1 w 47"/>
                  <a:gd name="T31" fmla="*/ 1 h 159"/>
                  <a:gd name="T32" fmla="*/ 1 w 47"/>
                  <a:gd name="T33" fmla="*/ 1 h 159"/>
                  <a:gd name="T34" fmla="*/ 1 w 47"/>
                  <a:gd name="T35" fmla="*/ 1 h 159"/>
                  <a:gd name="T36" fmla="*/ 1 w 47"/>
                  <a:gd name="T37" fmla="*/ 1 h 159"/>
                  <a:gd name="T38" fmla="*/ 1 w 47"/>
                  <a:gd name="T39" fmla="*/ 1 h 159"/>
                  <a:gd name="T40" fmla="*/ 1 w 47"/>
                  <a:gd name="T41" fmla="*/ 1 h 1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159"/>
                  <a:gd name="T65" fmla="*/ 47 w 47"/>
                  <a:gd name="T66" fmla="*/ 159 h 15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159">
                    <a:moveTo>
                      <a:pt x="47" y="139"/>
                    </a:moveTo>
                    <a:lnTo>
                      <a:pt x="45" y="137"/>
                    </a:lnTo>
                    <a:lnTo>
                      <a:pt x="47" y="136"/>
                    </a:lnTo>
                    <a:lnTo>
                      <a:pt x="42" y="126"/>
                    </a:lnTo>
                    <a:lnTo>
                      <a:pt x="37" y="108"/>
                    </a:lnTo>
                    <a:lnTo>
                      <a:pt x="32" y="87"/>
                    </a:lnTo>
                    <a:lnTo>
                      <a:pt x="29" y="62"/>
                    </a:lnTo>
                    <a:lnTo>
                      <a:pt x="26" y="39"/>
                    </a:lnTo>
                    <a:lnTo>
                      <a:pt x="23" y="17"/>
                    </a:lnTo>
                    <a:lnTo>
                      <a:pt x="22" y="0"/>
                    </a:lnTo>
                    <a:lnTo>
                      <a:pt x="0" y="3"/>
                    </a:lnTo>
                    <a:lnTo>
                      <a:pt x="1" y="20"/>
                    </a:lnTo>
                    <a:lnTo>
                      <a:pt x="4" y="42"/>
                    </a:lnTo>
                    <a:lnTo>
                      <a:pt x="7" y="65"/>
                    </a:lnTo>
                    <a:lnTo>
                      <a:pt x="11" y="90"/>
                    </a:lnTo>
                    <a:lnTo>
                      <a:pt x="15" y="114"/>
                    </a:lnTo>
                    <a:lnTo>
                      <a:pt x="20" y="133"/>
                    </a:lnTo>
                    <a:lnTo>
                      <a:pt x="28" y="148"/>
                    </a:lnTo>
                    <a:lnTo>
                      <a:pt x="39" y="159"/>
                    </a:lnTo>
                    <a:lnTo>
                      <a:pt x="37" y="158"/>
                    </a:lnTo>
                    <a:lnTo>
                      <a:pt x="47" y="139"/>
                    </a:lnTo>
                    <a:close/>
                  </a:path>
                </a:pathLst>
              </a:custGeom>
              <a:solidFill>
                <a:srgbClr val="000000"/>
              </a:solidFill>
              <a:ln w="9525">
                <a:noFill/>
                <a:round/>
                <a:headEnd/>
                <a:tailEnd/>
              </a:ln>
            </p:spPr>
            <p:txBody>
              <a:bodyPr/>
              <a:lstStyle/>
              <a:p>
                <a:endParaRPr lang="en-US"/>
              </a:p>
            </p:txBody>
          </p:sp>
          <p:sp>
            <p:nvSpPr>
              <p:cNvPr id="24768" name="Freeform 157"/>
              <p:cNvSpPr>
                <a:spLocks/>
              </p:cNvSpPr>
              <p:nvPr/>
            </p:nvSpPr>
            <p:spPr bwMode="auto">
              <a:xfrm>
                <a:off x="2181" y="3736"/>
                <a:ext cx="47" cy="21"/>
              </a:xfrm>
              <a:custGeom>
                <a:avLst/>
                <a:gdLst>
                  <a:gd name="T0" fmla="*/ 1 w 94"/>
                  <a:gd name="T1" fmla="*/ 0 h 42"/>
                  <a:gd name="T2" fmla="*/ 1 w 94"/>
                  <a:gd name="T3" fmla="*/ 0 h 42"/>
                  <a:gd name="T4" fmla="*/ 1 w 94"/>
                  <a:gd name="T5" fmla="*/ 1 h 42"/>
                  <a:gd name="T6" fmla="*/ 1 w 94"/>
                  <a:gd name="T7" fmla="*/ 1 h 42"/>
                  <a:gd name="T8" fmla="*/ 1 w 94"/>
                  <a:gd name="T9" fmla="*/ 1 h 42"/>
                  <a:gd name="T10" fmla="*/ 1 w 94"/>
                  <a:gd name="T11" fmla="*/ 1 h 42"/>
                  <a:gd name="T12" fmla="*/ 1 w 94"/>
                  <a:gd name="T13" fmla="*/ 1 h 42"/>
                  <a:gd name="T14" fmla="*/ 1 w 94"/>
                  <a:gd name="T15" fmla="*/ 1 h 42"/>
                  <a:gd name="T16" fmla="*/ 1 w 94"/>
                  <a:gd name="T17" fmla="*/ 1 h 42"/>
                  <a:gd name="T18" fmla="*/ 1 w 94"/>
                  <a:gd name="T19" fmla="*/ 1 h 42"/>
                  <a:gd name="T20" fmla="*/ 0 w 94"/>
                  <a:gd name="T21" fmla="*/ 1 h 42"/>
                  <a:gd name="T22" fmla="*/ 1 w 94"/>
                  <a:gd name="T23" fmla="*/ 1 h 42"/>
                  <a:gd name="T24" fmla="*/ 1 w 94"/>
                  <a:gd name="T25" fmla="*/ 1 h 42"/>
                  <a:gd name="T26" fmla="*/ 1 w 94"/>
                  <a:gd name="T27" fmla="*/ 1 h 42"/>
                  <a:gd name="T28" fmla="*/ 1 w 94"/>
                  <a:gd name="T29" fmla="*/ 1 h 42"/>
                  <a:gd name="T30" fmla="*/ 1 w 94"/>
                  <a:gd name="T31" fmla="*/ 1 h 42"/>
                  <a:gd name="T32" fmla="*/ 1 w 94"/>
                  <a:gd name="T33" fmla="*/ 1 h 42"/>
                  <a:gd name="T34" fmla="*/ 1 w 94"/>
                  <a:gd name="T35" fmla="*/ 1 h 42"/>
                  <a:gd name="T36" fmla="*/ 1 w 94"/>
                  <a:gd name="T37" fmla="*/ 1 h 42"/>
                  <a:gd name="T38" fmla="*/ 1 w 94"/>
                  <a:gd name="T39" fmla="*/ 1 h 42"/>
                  <a:gd name="T40" fmla="*/ 1 w 94"/>
                  <a:gd name="T41" fmla="*/ 0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42"/>
                  <a:gd name="T65" fmla="*/ 94 w 94"/>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42">
                    <a:moveTo>
                      <a:pt x="83" y="0"/>
                    </a:moveTo>
                    <a:lnTo>
                      <a:pt x="82" y="0"/>
                    </a:lnTo>
                    <a:lnTo>
                      <a:pt x="77" y="3"/>
                    </a:lnTo>
                    <a:lnTo>
                      <a:pt x="69" y="6"/>
                    </a:lnTo>
                    <a:lnTo>
                      <a:pt x="57" y="9"/>
                    </a:lnTo>
                    <a:lnTo>
                      <a:pt x="42" y="14"/>
                    </a:lnTo>
                    <a:lnTo>
                      <a:pt x="30" y="17"/>
                    </a:lnTo>
                    <a:lnTo>
                      <a:pt x="19" y="20"/>
                    </a:lnTo>
                    <a:lnTo>
                      <a:pt x="11" y="20"/>
                    </a:lnTo>
                    <a:lnTo>
                      <a:pt x="10" y="22"/>
                    </a:lnTo>
                    <a:lnTo>
                      <a:pt x="0" y="41"/>
                    </a:lnTo>
                    <a:lnTo>
                      <a:pt x="11" y="42"/>
                    </a:lnTo>
                    <a:lnTo>
                      <a:pt x="22" y="42"/>
                    </a:lnTo>
                    <a:lnTo>
                      <a:pt x="36" y="39"/>
                    </a:lnTo>
                    <a:lnTo>
                      <a:pt x="49" y="36"/>
                    </a:lnTo>
                    <a:lnTo>
                      <a:pt x="63" y="31"/>
                    </a:lnTo>
                    <a:lnTo>
                      <a:pt x="75" y="28"/>
                    </a:lnTo>
                    <a:lnTo>
                      <a:pt x="86" y="22"/>
                    </a:lnTo>
                    <a:lnTo>
                      <a:pt x="94" y="19"/>
                    </a:lnTo>
                    <a:lnTo>
                      <a:pt x="93" y="19"/>
                    </a:lnTo>
                    <a:lnTo>
                      <a:pt x="83" y="0"/>
                    </a:lnTo>
                    <a:close/>
                  </a:path>
                </a:pathLst>
              </a:custGeom>
              <a:solidFill>
                <a:srgbClr val="000000"/>
              </a:solidFill>
              <a:ln w="9525">
                <a:noFill/>
                <a:round/>
                <a:headEnd/>
                <a:tailEnd/>
              </a:ln>
            </p:spPr>
            <p:txBody>
              <a:bodyPr/>
              <a:lstStyle/>
              <a:p>
                <a:endParaRPr lang="en-US"/>
              </a:p>
            </p:txBody>
          </p:sp>
          <p:sp>
            <p:nvSpPr>
              <p:cNvPr id="24769" name="Freeform 158"/>
              <p:cNvSpPr>
                <a:spLocks/>
              </p:cNvSpPr>
              <p:nvPr/>
            </p:nvSpPr>
            <p:spPr bwMode="auto">
              <a:xfrm>
                <a:off x="2086" y="3813"/>
                <a:ext cx="162" cy="77"/>
              </a:xfrm>
              <a:custGeom>
                <a:avLst/>
                <a:gdLst>
                  <a:gd name="T0" fmla="*/ 0 w 326"/>
                  <a:gd name="T1" fmla="*/ 0 h 155"/>
                  <a:gd name="T2" fmla="*/ 0 w 326"/>
                  <a:gd name="T3" fmla="*/ 0 h 155"/>
                  <a:gd name="T4" fmla="*/ 0 w 326"/>
                  <a:gd name="T5" fmla="*/ 0 h 155"/>
                  <a:gd name="T6" fmla="*/ 0 w 326"/>
                  <a:gd name="T7" fmla="*/ 0 h 155"/>
                  <a:gd name="T8" fmla="*/ 0 w 326"/>
                  <a:gd name="T9" fmla="*/ 0 h 155"/>
                  <a:gd name="T10" fmla="*/ 0 w 326"/>
                  <a:gd name="T11" fmla="*/ 0 h 155"/>
                  <a:gd name="T12" fmla="*/ 0 w 326"/>
                  <a:gd name="T13" fmla="*/ 0 h 155"/>
                  <a:gd name="T14" fmla="*/ 0 w 326"/>
                  <a:gd name="T15" fmla="*/ 0 h 155"/>
                  <a:gd name="T16" fmla="*/ 0 w 326"/>
                  <a:gd name="T17" fmla="*/ 0 h 155"/>
                  <a:gd name="T18" fmla="*/ 0 w 326"/>
                  <a:gd name="T19" fmla="*/ 0 h 155"/>
                  <a:gd name="T20" fmla="*/ 0 w 326"/>
                  <a:gd name="T21" fmla="*/ 0 h 155"/>
                  <a:gd name="T22" fmla="*/ 0 w 326"/>
                  <a:gd name="T23" fmla="*/ 0 h 155"/>
                  <a:gd name="T24" fmla="*/ 0 w 326"/>
                  <a:gd name="T25" fmla="*/ 0 h 155"/>
                  <a:gd name="T26" fmla="*/ 0 w 326"/>
                  <a:gd name="T27" fmla="*/ 0 h 155"/>
                  <a:gd name="T28" fmla="*/ 0 w 326"/>
                  <a:gd name="T29" fmla="*/ 0 h 15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6"/>
                  <a:gd name="T46" fmla="*/ 0 h 155"/>
                  <a:gd name="T47" fmla="*/ 326 w 326"/>
                  <a:gd name="T48" fmla="*/ 155 h 15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6" h="155">
                    <a:moveTo>
                      <a:pt x="144" y="32"/>
                    </a:moveTo>
                    <a:lnTo>
                      <a:pt x="0" y="0"/>
                    </a:lnTo>
                    <a:lnTo>
                      <a:pt x="0" y="21"/>
                    </a:lnTo>
                    <a:lnTo>
                      <a:pt x="118" y="61"/>
                    </a:lnTo>
                    <a:lnTo>
                      <a:pt x="49" y="155"/>
                    </a:lnTo>
                    <a:lnTo>
                      <a:pt x="71" y="155"/>
                    </a:lnTo>
                    <a:lnTo>
                      <a:pt x="160" y="75"/>
                    </a:lnTo>
                    <a:lnTo>
                      <a:pt x="165" y="75"/>
                    </a:lnTo>
                    <a:lnTo>
                      <a:pt x="254" y="155"/>
                    </a:lnTo>
                    <a:lnTo>
                      <a:pt x="276" y="155"/>
                    </a:lnTo>
                    <a:lnTo>
                      <a:pt x="208" y="61"/>
                    </a:lnTo>
                    <a:lnTo>
                      <a:pt x="326" y="21"/>
                    </a:lnTo>
                    <a:lnTo>
                      <a:pt x="326" y="0"/>
                    </a:lnTo>
                    <a:lnTo>
                      <a:pt x="180" y="32"/>
                    </a:lnTo>
                    <a:lnTo>
                      <a:pt x="144" y="32"/>
                    </a:lnTo>
                    <a:close/>
                  </a:path>
                </a:pathLst>
              </a:custGeom>
              <a:solidFill>
                <a:srgbClr val="FF7226"/>
              </a:solidFill>
              <a:ln w="9525">
                <a:noFill/>
                <a:round/>
                <a:headEnd/>
                <a:tailEnd/>
              </a:ln>
            </p:spPr>
            <p:txBody>
              <a:bodyPr/>
              <a:lstStyle/>
              <a:p>
                <a:endParaRPr lang="en-US"/>
              </a:p>
            </p:txBody>
          </p:sp>
          <p:sp>
            <p:nvSpPr>
              <p:cNvPr id="24770" name="Freeform 159"/>
              <p:cNvSpPr>
                <a:spLocks/>
              </p:cNvSpPr>
              <p:nvPr/>
            </p:nvSpPr>
            <p:spPr bwMode="auto">
              <a:xfrm>
                <a:off x="2080" y="3807"/>
                <a:ext cx="78" cy="27"/>
              </a:xfrm>
              <a:custGeom>
                <a:avLst/>
                <a:gdLst>
                  <a:gd name="T0" fmla="*/ 0 w 157"/>
                  <a:gd name="T1" fmla="*/ 1 h 54"/>
                  <a:gd name="T2" fmla="*/ 0 w 157"/>
                  <a:gd name="T3" fmla="*/ 1 h 54"/>
                  <a:gd name="T4" fmla="*/ 0 w 157"/>
                  <a:gd name="T5" fmla="*/ 1 h 54"/>
                  <a:gd name="T6" fmla="*/ 0 w 157"/>
                  <a:gd name="T7" fmla="*/ 1 h 54"/>
                  <a:gd name="T8" fmla="*/ 0 w 157"/>
                  <a:gd name="T9" fmla="*/ 0 h 54"/>
                  <a:gd name="T10" fmla="*/ 0 w 157"/>
                  <a:gd name="T11" fmla="*/ 1 h 54"/>
                  <a:gd name="T12" fmla="*/ 0 w 157"/>
                  <a:gd name="T13" fmla="*/ 0 h 54"/>
                  <a:gd name="T14" fmla="*/ 0 w 157"/>
                  <a:gd name="T15" fmla="*/ 1 h 54"/>
                  <a:gd name="T16" fmla="*/ 0 w 157"/>
                  <a:gd name="T17" fmla="*/ 1 h 54"/>
                  <a:gd name="T18" fmla="*/ 0 w 157"/>
                  <a:gd name="T19" fmla="*/ 1 h 54"/>
                  <a:gd name="T20" fmla="*/ 0 w 157"/>
                  <a:gd name="T21" fmla="*/ 1 h 54"/>
                  <a:gd name="T22" fmla="*/ 0 w 157"/>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7"/>
                  <a:gd name="T37" fmla="*/ 0 h 54"/>
                  <a:gd name="T38" fmla="*/ 157 w 157"/>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7" h="54">
                    <a:moveTo>
                      <a:pt x="22" y="11"/>
                    </a:moveTo>
                    <a:lnTo>
                      <a:pt x="10" y="22"/>
                    </a:lnTo>
                    <a:lnTo>
                      <a:pt x="154" y="54"/>
                    </a:lnTo>
                    <a:lnTo>
                      <a:pt x="157" y="32"/>
                    </a:lnTo>
                    <a:lnTo>
                      <a:pt x="13" y="0"/>
                    </a:lnTo>
                    <a:lnTo>
                      <a:pt x="0" y="11"/>
                    </a:lnTo>
                    <a:lnTo>
                      <a:pt x="13" y="0"/>
                    </a:lnTo>
                    <a:lnTo>
                      <a:pt x="5" y="4"/>
                    </a:lnTo>
                    <a:lnTo>
                      <a:pt x="0" y="10"/>
                    </a:lnTo>
                    <a:lnTo>
                      <a:pt x="2" y="18"/>
                    </a:lnTo>
                    <a:lnTo>
                      <a:pt x="10" y="22"/>
                    </a:lnTo>
                    <a:lnTo>
                      <a:pt x="22" y="11"/>
                    </a:lnTo>
                    <a:close/>
                  </a:path>
                </a:pathLst>
              </a:custGeom>
              <a:solidFill>
                <a:srgbClr val="000000"/>
              </a:solidFill>
              <a:ln w="9525">
                <a:noFill/>
                <a:round/>
                <a:headEnd/>
                <a:tailEnd/>
              </a:ln>
            </p:spPr>
            <p:txBody>
              <a:bodyPr/>
              <a:lstStyle/>
              <a:p>
                <a:endParaRPr lang="en-US"/>
              </a:p>
            </p:txBody>
          </p:sp>
          <p:sp>
            <p:nvSpPr>
              <p:cNvPr id="24771" name="Freeform 160"/>
              <p:cNvSpPr>
                <a:spLocks/>
              </p:cNvSpPr>
              <p:nvPr/>
            </p:nvSpPr>
            <p:spPr bwMode="auto">
              <a:xfrm>
                <a:off x="2080" y="3813"/>
                <a:ext cx="11" cy="15"/>
              </a:xfrm>
              <a:custGeom>
                <a:avLst/>
                <a:gdLst>
                  <a:gd name="T0" fmla="*/ 1 w 22"/>
                  <a:gd name="T1" fmla="*/ 0 h 32"/>
                  <a:gd name="T2" fmla="*/ 1 w 22"/>
                  <a:gd name="T3" fmla="*/ 0 h 32"/>
                  <a:gd name="T4" fmla="*/ 1 w 22"/>
                  <a:gd name="T5" fmla="*/ 0 h 32"/>
                  <a:gd name="T6" fmla="*/ 0 w 22"/>
                  <a:gd name="T7" fmla="*/ 0 h 32"/>
                  <a:gd name="T8" fmla="*/ 0 w 22"/>
                  <a:gd name="T9" fmla="*/ 0 h 32"/>
                  <a:gd name="T10" fmla="*/ 1 w 22"/>
                  <a:gd name="T11" fmla="*/ 0 h 32"/>
                  <a:gd name="T12" fmla="*/ 0 w 22"/>
                  <a:gd name="T13" fmla="*/ 0 h 32"/>
                  <a:gd name="T14" fmla="*/ 1 w 22"/>
                  <a:gd name="T15" fmla="*/ 0 h 32"/>
                  <a:gd name="T16" fmla="*/ 1 w 22"/>
                  <a:gd name="T17" fmla="*/ 0 h 32"/>
                  <a:gd name="T18" fmla="*/ 1 w 22"/>
                  <a:gd name="T19" fmla="*/ 0 h 32"/>
                  <a:gd name="T20" fmla="*/ 1 w 22"/>
                  <a:gd name="T21" fmla="*/ 0 h 32"/>
                  <a:gd name="T22" fmla="*/ 1 w 22"/>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4" y="10"/>
                    </a:moveTo>
                    <a:lnTo>
                      <a:pt x="22" y="21"/>
                    </a:lnTo>
                    <a:lnTo>
                      <a:pt x="22" y="0"/>
                    </a:lnTo>
                    <a:lnTo>
                      <a:pt x="0" y="0"/>
                    </a:lnTo>
                    <a:lnTo>
                      <a:pt x="0" y="21"/>
                    </a:lnTo>
                    <a:lnTo>
                      <a:pt x="8" y="32"/>
                    </a:lnTo>
                    <a:lnTo>
                      <a:pt x="0" y="21"/>
                    </a:lnTo>
                    <a:lnTo>
                      <a:pt x="3" y="28"/>
                    </a:lnTo>
                    <a:lnTo>
                      <a:pt x="11" y="32"/>
                    </a:lnTo>
                    <a:lnTo>
                      <a:pt x="19" y="28"/>
                    </a:lnTo>
                    <a:lnTo>
                      <a:pt x="22" y="21"/>
                    </a:lnTo>
                    <a:lnTo>
                      <a:pt x="14" y="10"/>
                    </a:lnTo>
                    <a:close/>
                  </a:path>
                </a:pathLst>
              </a:custGeom>
              <a:solidFill>
                <a:srgbClr val="000000"/>
              </a:solidFill>
              <a:ln w="9525">
                <a:noFill/>
                <a:round/>
                <a:headEnd/>
                <a:tailEnd/>
              </a:ln>
            </p:spPr>
            <p:txBody>
              <a:bodyPr/>
              <a:lstStyle/>
              <a:p>
                <a:endParaRPr lang="en-US"/>
              </a:p>
            </p:txBody>
          </p:sp>
          <p:sp>
            <p:nvSpPr>
              <p:cNvPr id="24772" name="Freeform 161"/>
              <p:cNvSpPr>
                <a:spLocks/>
              </p:cNvSpPr>
              <p:nvPr/>
            </p:nvSpPr>
            <p:spPr bwMode="auto">
              <a:xfrm>
                <a:off x="2084" y="3817"/>
                <a:ext cx="66" cy="32"/>
              </a:xfrm>
              <a:custGeom>
                <a:avLst/>
                <a:gdLst>
                  <a:gd name="T0" fmla="*/ 1 w 132"/>
                  <a:gd name="T1" fmla="*/ 1 h 62"/>
                  <a:gd name="T2" fmla="*/ 1 w 132"/>
                  <a:gd name="T3" fmla="*/ 1 h 62"/>
                  <a:gd name="T4" fmla="*/ 1 w 132"/>
                  <a:gd name="T5" fmla="*/ 0 h 62"/>
                  <a:gd name="T6" fmla="*/ 0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1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30" y="58"/>
                    </a:moveTo>
                    <a:lnTo>
                      <a:pt x="124" y="40"/>
                    </a:lnTo>
                    <a:lnTo>
                      <a:pt x="6" y="0"/>
                    </a:lnTo>
                    <a:lnTo>
                      <a:pt x="0" y="22"/>
                    </a:lnTo>
                    <a:lnTo>
                      <a:pt x="117" y="62"/>
                    </a:lnTo>
                    <a:lnTo>
                      <a:pt x="111" y="45"/>
                    </a:lnTo>
                    <a:lnTo>
                      <a:pt x="117" y="62"/>
                    </a:lnTo>
                    <a:lnTo>
                      <a:pt x="127" y="61"/>
                    </a:lnTo>
                    <a:lnTo>
                      <a:pt x="132" y="53"/>
                    </a:lnTo>
                    <a:lnTo>
                      <a:pt x="130" y="45"/>
                    </a:lnTo>
                    <a:lnTo>
                      <a:pt x="124" y="40"/>
                    </a:lnTo>
                    <a:lnTo>
                      <a:pt x="130" y="58"/>
                    </a:lnTo>
                    <a:close/>
                  </a:path>
                </a:pathLst>
              </a:custGeom>
              <a:solidFill>
                <a:srgbClr val="000000"/>
              </a:solidFill>
              <a:ln w="9525">
                <a:noFill/>
                <a:round/>
                <a:headEnd/>
                <a:tailEnd/>
              </a:ln>
            </p:spPr>
            <p:txBody>
              <a:bodyPr/>
              <a:lstStyle/>
              <a:p>
                <a:endParaRPr lang="en-US"/>
              </a:p>
            </p:txBody>
          </p:sp>
          <p:sp>
            <p:nvSpPr>
              <p:cNvPr id="24773" name="Freeform 162"/>
              <p:cNvSpPr>
                <a:spLocks/>
              </p:cNvSpPr>
              <p:nvPr/>
            </p:nvSpPr>
            <p:spPr bwMode="auto">
              <a:xfrm>
                <a:off x="2104" y="3840"/>
                <a:ext cx="45" cy="56"/>
              </a:xfrm>
              <a:custGeom>
                <a:avLst/>
                <a:gdLst>
                  <a:gd name="T0" fmla="*/ 1 w 89"/>
                  <a:gd name="T1" fmla="*/ 1 h 111"/>
                  <a:gd name="T2" fmla="*/ 1 w 89"/>
                  <a:gd name="T3" fmla="*/ 1 h 111"/>
                  <a:gd name="T4" fmla="*/ 1 w 89"/>
                  <a:gd name="T5" fmla="*/ 1 h 111"/>
                  <a:gd name="T6" fmla="*/ 1 w 89"/>
                  <a:gd name="T7" fmla="*/ 0 h 111"/>
                  <a:gd name="T8" fmla="*/ 1 w 89"/>
                  <a:gd name="T9" fmla="*/ 1 h 111"/>
                  <a:gd name="T10" fmla="*/ 1 w 89"/>
                  <a:gd name="T11" fmla="*/ 1 h 111"/>
                  <a:gd name="T12" fmla="*/ 1 w 89"/>
                  <a:gd name="T13" fmla="*/ 1 h 111"/>
                  <a:gd name="T14" fmla="*/ 0 w 89"/>
                  <a:gd name="T15" fmla="*/ 1 h 111"/>
                  <a:gd name="T16" fmla="*/ 1 w 89"/>
                  <a:gd name="T17" fmla="*/ 1 h 111"/>
                  <a:gd name="T18" fmla="*/ 1 w 89"/>
                  <a:gd name="T19" fmla="*/ 1 h 111"/>
                  <a:gd name="T20" fmla="*/ 1 w 89"/>
                  <a:gd name="T21" fmla="*/ 1 h 111"/>
                  <a:gd name="T22" fmla="*/ 1 w 89"/>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9"/>
                  <a:gd name="T37" fmla="*/ 0 h 111"/>
                  <a:gd name="T38" fmla="*/ 89 w 89"/>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9" h="111">
                    <a:moveTo>
                      <a:pt x="11" y="89"/>
                    </a:moveTo>
                    <a:lnTo>
                      <a:pt x="20" y="106"/>
                    </a:lnTo>
                    <a:lnTo>
                      <a:pt x="89" y="13"/>
                    </a:lnTo>
                    <a:lnTo>
                      <a:pt x="70" y="0"/>
                    </a:lnTo>
                    <a:lnTo>
                      <a:pt x="1" y="94"/>
                    </a:lnTo>
                    <a:lnTo>
                      <a:pt x="11" y="111"/>
                    </a:lnTo>
                    <a:lnTo>
                      <a:pt x="1" y="94"/>
                    </a:lnTo>
                    <a:lnTo>
                      <a:pt x="0" y="103"/>
                    </a:lnTo>
                    <a:lnTo>
                      <a:pt x="4" y="110"/>
                    </a:lnTo>
                    <a:lnTo>
                      <a:pt x="12" y="111"/>
                    </a:lnTo>
                    <a:lnTo>
                      <a:pt x="20" y="106"/>
                    </a:lnTo>
                    <a:lnTo>
                      <a:pt x="11" y="89"/>
                    </a:lnTo>
                    <a:close/>
                  </a:path>
                </a:pathLst>
              </a:custGeom>
              <a:solidFill>
                <a:srgbClr val="000000"/>
              </a:solidFill>
              <a:ln w="9525">
                <a:noFill/>
                <a:round/>
                <a:headEnd/>
                <a:tailEnd/>
              </a:ln>
            </p:spPr>
            <p:txBody>
              <a:bodyPr/>
              <a:lstStyle/>
              <a:p>
                <a:endParaRPr lang="en-US"/>
              </a:p>
            </p:txBody>
          </p:sp>
          <p:sp>
            <p:nvSpPr>
              <p:cNvPr id="24774" name="Freeform 163"/>
              <p:cNvSpPr>
                <a:spLocks/>
              </p:cNvSpPr>
              <p:nvPr/>
            </p:nvSpPr>
            <p:spPr bwMode="auto">
              <a:xfrm>
                <a:off x="2110" y="3885"/>
                <a:ext cx="16" cy="11"/>
              </a:xfrm>
              <a:custGeom>
                <a:avLst/>
                <a:gdLst>
                  <a:gd name="T0" fmla="*/ 0 w 33"/>
                  <a:gd name="T1" fmla="*/ 1 h 22"/>
                  <a:gd name="T2" fmla="*/ 0 w 33"/>
                  <a:gd name="T3" fmla="*/ 0 h 22"/>
                  <a:gd name="T4" fmla="*/ 0 w 33"/>
                  <a:gd name="T5" fmla="*/ 0 h 22"/>
                  <a:gd name="T6" fmla="*/ 0 w 33"/>
                  <a:gd name="T7" fmla="*/ 1 h 22"/>
                  <a:gd name="T8" fmla="*/ 0 w 33"/>
                  <a:gd name="T9" fmla="*/ 1 h 22"/>
                  <a:gd name="T10" fmla="*/ 0 w 33"/>
                  <a:gd name="T11" fmla="*/ 1 h 22"/>
                  <a:gd name="T12" fmla="*/ 0 w 33"/>
                  <a:gd name="T13" fmla="*/ 1 h 22"/>
                  <a:gd name="T14" fmla="*/ 0 w 33"/>
                  <a:gd name="T15" fmla="*/ 1 h 22"/>
                  <a:gd name="T16" fmla="*/ 0 w 33"/>
                  <a:gd name="T17" fmla="*/ 1 h 22"/>
                  <a:gd name="T18" fmla="*/ 0 w 33"/>
                  <a:gd name="T19" fmla="*/ 1 h 22"/>
                  <a:gd name="T20" fmla="*/ 0 w 33"/>
                  <a:gd name="T21" fmla="*/ 0 h 22"/>
                  <a:gd name="T22" fmla="*/ 0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4" y="3"/>
                    </a:moveTo>
                    <a:lnTo>
                      <a:pt x="22" y="0"/>
                    </a:lnTo>
                    <a:lnTo>
                      <a:pt x="0" y="0"/>
                    </a:lnTo>
                    <a:lnTo>
                      <a:pt x="0" y="22"/>
                    </a:lnTo>
                    <a:lnTo>
                      <a:pt x="22" y="22"/>
                    </a:lnTo>
                    <a:lnTo>
                      <a:pt x="29" y="19"/>
                    </a:lnTo>
                    <a:lnTo>
                      <a:pt x="22" y="22"/>
                    </a:lnTo>
                    <a:lnTo>
                      <a:pt x="29" y="19"/>
                    </a:lnTo>
                    <a:lnTo>
                      <a:pt x="33" y="11"/>
                    </a:lnTo>
                    <a:lnTo>
                      <a:pt x="29" y="3"/>
                    </a:lnTo>
                    <a:lnTo>
                      <a:pt x="22" y="0"/>
                    </a:lnTo>
                    <a:lnTo>
                      <a:pt x="14" y="3"/>
                    </a:lnTo>
                    <a:close/>
                  </a:path>
                </a:pathLst>
              </a:custGeom>
              <a:solidFill>
                <a:srgbClr val="000000"/>
              </a:solidFill>
              <a:ln w="9525">
                <a:noFill/>
                <a:round/>
                <a:headEnd/>
                <a:tailEnd/>
              </a:ln>
            </p:spPr>
            <p:txBody>
              <a:bodyPr/>
              <a:lstStyle/>
              <a:p>
                <a:endParaRPr lang="en-US"/>
              </a:p>
            </p:txBody>
          </p:sp>
          <p:sp>
            <p:nvSpPr>
              <p:cNvPr id="24775" name="Freeform 164"/>
              <p:cNvSpPr>
                <a:spLocks/>
              </p:cNvSpPr>
              <p:nvPr/>
            </p:nvSpPr>
            <p:spPr bwMode="auto">
              <a:xfrm>
                <a:off x="2117" y="3845"/>
                <a:ext cx="54" cy="49"/>
              </a:xfrm>
              <a:custGeom>
                <a:avLst/>
                <a:gdLst>
                  <a:gd name="T0" fmla="*/ 1 w 108"/>
                  <a:gd name="T1" fmla="*/ 0 h 99"/>
                  <a:gd name="T2" fmla="*/ 1 w 108"/>
                  <a:gd name="T3" fmla="*/ 0 h 99"/>
                  <a:gd name="T4" fmla="*/ 0 w 108"/>
                  <a:gd name="T5" fmla="*/ 0 h 99"/>
                  <a:gd name="T6" fmla="*/ 1 w 108"/>
                  <a:gd name="T7" fmla="*/ 0 h 99"/>
                  <a:gd name="T8" fmla="*/ 1 w 108"/>
                  <a:gd name="T9" fmla="*/ 0 h 99"/>
                  <a:gd name="T10" fmla="*/ 1 w 108"/>
                  <a:gd name="T11" fmla="*/ 0 h 99"/>
                  <a:gd name="T12" fmla="*/ 1 w 108"/>
                  <a:gd name="T13" fmla="*/ 0 h 99"/>
                  <a:gd name="T14" fmla="*/ 1 w 108"/>
                  <a:gd name="T15" fmla="*/ 0 h 99"/>
                  <a:gd name="T16" fmla="*/ 1 w 108"/>
                  <a:gd name="T17" fmla="*/ 0 h 99"/>
                  <a:gd name="T18" fmla="*/ 1 w 108"/>
                  <a:gd name="T19" fmla="*/ 0 h 99"/>
                  <a:gd name="T20" fmla="*/ 1 w 108"/>
                  <a:gd name="T21" fmla="*/ 0 h 99"/>
                  <a:gd name="T22" fmla="*/ 1 w 108"/>
                  <a:gd name="T23" fmla="*/ 0 h 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9"/>
                  <a:gd name="T38" fmla="*/ 108 w 108"/>
                  <a:gd name="T39" fmla="*/ 99 h 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9">
                    <a:moveTo>
                      <a:pt x="97" y="0"/>
                    </a:moveTo>
                    <a:lnTo>
                      <a:pt x="89" y="4"/>
                    </a:lnTo>
                    <a:lnTo>
                      <a:pt x="0" y="83"/>
                    </a:lnTo>
                    <a:lnTo>
                      <a:pt x="15" y="99"/>
                    </a:lnTo>
                    <a:lnTo>
                      <a:pt x="105" y="19"/>
                    </a:lnTo>
                    <a:lnTo>
                      <a:pt x="97" y="22"/>
                    </a:lnTo>
                    <a:lnTo>
                      <a:pt x="105" y="19"/>
                    </a:lnTo>
                    <a:lnTo>
                      <a:pt x="108" y="11"/>
                    </a:lnTo>
                    <a:lnTo>
                      <a:pt x="105" y="4"/>
                    </a:lnTo>
                    <a:lnTo>
                      <a:pt x="97" y="0"/>
                    </a:lnTo>
                    <a:lnTo>
                      <a:pt x="89" y="4"/>
                    </a:lnTo>
                    <a:lnTo>
                      <a:pt x="97" y="0"/>
                    </a:lnTo>
                    <a:close/>
                  </a:path>
                </a:pathLst>
              </a:custGeom>
              <a:solidFill>
                <a:srgbClr val="000000"/>
              </a:solidFill>
              <a:ln w="9525">
                <a:noFill/>
                <a:round/>
                <a:headEnd/>
                <a:tailEnd/>
              </a:ln>
            </p:spPr>
            <p:txBody>
              <a:bodyPr/>
              <a:lstStyle/>
              <a:p>
                <a:endParaRPr lang="en-US"/>
              </a:p>
            </p:txBody>
          </p:sp>
          <p:sp>
            <p:nvSpPr>
              <p:cNvPr id="24776" name="Freeform 165"/>
              <p:cNvSpPr>
                <a:spLocks/>
              </p:cNvSpPr>
              <p:nvPr/>
            </p:nvSpPr>
            <p:spPr bwMode="auto">
              <a:xfrm>
                <a:off x="2164" y="3845"/>
                <a:ext cx="9" cy="11"/>
              </a:xfrm>
              <a:custGeom>
                <a:avLst/>
                <a:gdLst>
                  <a:gd name="T0" fmla="*/ 0 w 19"/>
                  <a:gd name="T1" fmla="*/ 1 h 22"/>
                  <a:gd name="T2" fmla="*/ 0 w 19"/>
                  <a:gd name="T3" fmla="*/ 0 h 22"/>
                  <a:gd name="T4" fmla="*/ 0 w 19"/>
                  <a:gd name="T5" fmla="*/ 0 h 22"/>
                  <a:gd name="T6" fmla="*/ 0 w 19"/>
                  <a:gd name="T7" fmla="*/ 1 h 22"/>
                  <a:gd name="T8" fmla="*/ 0 w 19"/>
                  <a:gd name="T9" fmla="*/ 1 h 22"/>
                  <a:gd name="T10" fmla="*/ 0 w 19"/>
                  <a:gd name="T11" fmla="*/ 1 h 22"/>
                  <a:gd name="T12" fmla="*/ 0 w 19"/>
                  <a:gd name="T13" fmla="*/ 1 h 22"/>
                  <a:gd name="T14" fmla="*/ 0 w 19"/>
                  <a:gd name="T15" fmla="*/ 1 h 22"/>
                  <a:gd name="T16" fmla="*/ 0 w 19"/>
                  <a:gd name="T17" fmla="*/ 1 h 22"/>
                  <a:gd name="T18" fmla="*/ 0 w 19"/>
                  <a:gd name="T19" fmla="*/ 1 h 22"/>
                  <a:gd name="T20" fmla="*/ 0 w 19"/>
                  <a:gd name="T21" fmla="*/ 0 h 22"/>
                  <a:gd name="T22" fmla="*/ 0 w 19"/>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2"/>
                  <a:gd name="T38" fmla="*/ 19 w 19"/>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2">
                    <a:moveTo>
                      <a:pt x="15" y="4"/>
                    </a:moveTo>
                    <a:lnTo>
                      <a:pt x="8" y="0"/>
                    </a:lnTo>
                    <a:lnTo>
                      <a:pt x="3" y="0"/>
                    </a:lnTo>
                    <a:lnTo>
                      <a:pt x="3" y="22"/>
                    </a:lnTo>
                    <a:lnTo>
                      <a:pt x="8" y="22"/>
                    </a:lnTo>
                    <a:lnTo>
                      <a:pt x="0" y="19"/>
                    </a:lnTo>
                    <a:lnTo>
                      <a:pt x="8" y="22"/>
                    </a:lnTo>
                    <a:lnTo>
                      <a:pt x="15" y="19"/>
                    </a:lnTo>
                    <a:lnTo>
                      <a:pt x="19" y="11"/>
                    </a:lnTo>
                    <a:lnTo>
                      <a:pt x="15" y="4"/>
                    </a:lnTo>
                    <a:lnTo>
                      <a:pt x="8" y="0"/>
                    </a:lnTo>
                    <a:lnTo>
                      <a:pt x="15" y="4"/>
                    </a:lnTo>
                    <a:close/>
                  </a:path>
                </a:pathLst>
              </a:custGeom>
              <a:solidFill>
                <a:srgbClr val="000000"/>
              </a:solidFill>
              <a:ln w="9525">
                <a:noFill/>
                <a:round/>
                <a:headEnd/>
                <a:tailEnd/>
              </a:ln>
            </p:spPr>
            <p:txBody>
              <a:bodyPr/>
              <a:lstStyle/>
              <a:p>
                <a:endParaRPr lang="en-US"/>
              </a:p>
            </p:txBody>
          </p:sp>
          <p:sp>
            <p:nvSpPr>
              <p:cNvPr id="24777" name="Freeform 166"/>
              <p:cNvSpPr>
                <a:spLocks/>
              </p:cNvSpPr>
              <p:nvPr/>
            </p:nvSpPr>
            <p:spPr bwMode="auto">
              <a:xfrm>
                <a:off x="2164" y="3846"/>
                <a:ext cx="54" cy="50"/>
              </a:xfrm>
              <a:custGeom>
                <a:avLst/>
                <a:gdLst>
                  <a:gd name="T0" fmla="*/ 1 w 108"/>
                  <a:gd name="T1" fmla="*/ 1 h 98"/>
                  <a:gd name="T2" fmla="*/ 1 w 108"/>
                  <a:gd name="T3" fmla="*/ 1 h 98"/>
                  <a:gd name="T4" fmla="*/ 1 w 108"/>
                  <a:gd name="T5" fmla="*/ 0 h 98"/>
                  <a:gd name="T6" fmla="*/ 0 w 108"/>
                  <a:gd name="T7" fmla="*/ 1 h 98"/>
                  <a:gd name="T8" fmla="*/ 1 w 108"/>
                  <a:gd name="T9" fmla="*/ 1 h 98"/>
                  <a:gd name="T10" fmla="*/ 1 w 108"/>
                  <a:gd name="T11" fmla="*/ 1 h 98"/>
                  <a:gd name="T12" fmla="*/ 1 w 108"/>
                  <a:gd name="T13" fmla="*/ 1 h 98"/>
                  <a:gd name="T14" fmla="*/ 1 w 108"/>
                  <a:gd name="T15" fmla="*/ 1 h 98"/>
                  <a:gd name="T16" fmla="*/ 1 w 108"/>
                  <a:gd name="T17" fmla="*/ 1 h 98"/>
                  <a:gd name="T18" fmla="*/ 1 w 108"/>
                  <a:gd name="T19" fmla="*/ 1 h 98"/>
                  <a:gd name="T20" fmla="*/ 1 w 108"/>
                  <a:gd name="T21" fmla="*/ 1 h 98"/>
                  <a:gd name="T22" fmla="*/ 1 w 108"/>
                  <a:gd name="T23" fmla="*/ 1 h 9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8"/>
                  <a:gd name="T38" fmla="*/ 108 w 108"/>
                  <a:gd name="T39" fmla="*/ 98 h 9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8">
                    <a:moveTo>
                      <a:pt x="97" y="76"/>
                    </a:moveTo>
                    <a:lnTo>
                      <a:pt x="105" y="79"/>
                    </a:lnTo>
                    <a:lnTo>
                      <a:pt x="15" y="0"/>
                    </a:lnTo>
                    <a:lnTo>
                      <a:pt x="0" y="15"/>
                    </a:lnTo>
                    <a:lnTo>
                      <a:pt x="89" y="95"/>
                    </a:lnTo>
                    <a:lnTo>
                      <a:pt x="97" y="98"/>
                    </a:lnTo>
                    <a:lnTo>
                      <a:pt x="89" y="95"/>
                    </a:lnTo>
                    <a:lnTo>
                      <a:pt x="97" y="98"/>
                    </a:lnTo>
                    <a:lnTo>
                      <a:pt x="105" y="93"/>
                    </a:lnTo>
                    <a:lnTo>
                      <a:pt x="108" y="87"/>
                    </a:lnTo>
                    <a:lnTo>
                      <a:pt x="105" y="79"/>
                    </a:lnTo>
                    <a:lnTo>
                      <a:pt x="97" y="76"/>
                    </a:lnTo>
                    <a:close/>
                  </a:path>
                </a:pathLst>
              </a:custGeom>
              <a:solidFill>
                <a:srgbClr val="000000"/>
              </a:solidFill>
              <a:ln w="9525">
                <a:noFill/>
                <a:round/>
                <a:headEnd/>
                <a:tailEnd/>
              </a:ln>
            </p:spPr>
            <p:txBody>
              <a:bodyPr/>
              <a:lstStyle/>
              <a:p>
                <a:endParaRPr lang="en-US"/>
              </a:p>
            </p:txBody>
          </p:sp>
          <p:sp>
            <p:nvSpPr>
              <p:cNvPr id="24778" name="Freeform 167"/>
              <p:cNvSpPr>
                <a:spLocks/>
              </p:cNvSpPr>
              <p:nvPr/>
            </p:nvSpPr>
            <p:spPr bwMode="auto">
              <a:xfrm>
                <a:off x="2212" y="3885"/>
                <a:ext cx="17" cy="11"/>
              </a:xfrm>
              <a:custGeom>
                <a:avLst/>
                <a:gdLst>
                  <a:gd name="T0" fmla="*/ 1 w 33"/>
                  <a:gd name="T1" fmla="*/ 1 h 22"/>
                  <a:gd name="T2" fmla="*/ 1 w 33"/>
                  <a:gd name="T3" fmla="*/ 0 h 22"/>
                  <a:gd name="T4" fmla="*/ 0 w 33"/>
                  <a:gd name="T5" fmla="*/ 0 h 22"/>
                  <a:gd name="T6" fmla="*/ 0 w 33"/>
                  <a:gd name="T7" fmla="*/ 1 h 22"/>
                  <a:gd name="T8" fmla="*/ 1 w 33"/>
                  <a:gd name="T9" fmla="*/ 1 h 22"/>
                  <a:gd name="T10" fmla="*/ 1 w 33"/>
                  <a:gd name="T11" fmla="*/ 1 h 22"/>
                  <a:gd name="T12" fmla="*/ 1 w 33"/>
                  <a:gd name="T13" fmla="*/ 1 h 22"/>
                  <a:gd name="T14" fmla="*/ 1 w 33"/>
                  <a:gd name="T15" fmla="*/ 1 h 22"/>
                  <a:gd name="T16" fmla="*/ 1 w 33"/>
                  <a:gd name="T17" fmla="*/ 1 h 22"/>
                  <a:gd name="T18" fmla="*/ 1 w 33"/>
                  <a:gd name="T19" fmla="*/ 1 h 22"/>
                  <a:gd name="T20" fmla="*/ 1 w 33"/>
                  <a:gd name="T21" fmla="*/ 0 h 22"/>
                  <a:gd name="T22" fmla="*/ 1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2" y="17"/>
                    </a:moveTo>
                    <a:lnTo>
                      <a:pt x="22" y="0"/>
                    </a:lnTo>
                    <a:lnTo>
                      <a:pt x="0" y="0"/>
                    </a:lnTo>
                    <a:lnTo>
                      <a:pt x="0" y="22"/>
                    </a:lnTo>
                    <a:lnTo>
                      <a:pt x="22" y="22"/>
                    </a:lnTo>
                    <a:lnTo>
                      <a:pt x="31" y="5"/>
                    </a:lnTo>
                    <a:lnTo>
                      <a:pt x="22" y="22"/>
                    </a:lnTo>
                    <a:lnTo>
                      <a:pt x="30" y="19"/>
                    </a:lnTo>
                    <a:lnTo>
                      <a:pt x="33" y="11"/>
                    </a:lnTo>
                    <a:lnTo>
                      <a:pt x="30" y="3"/>
                    </a:lnTo>
                    <a:lnTo>
                      <a:pt x="22" y="0"/>
                    </a:lnTo>
                    <a:lnTo>
                      <a:pt x="12" y="17"/>
                    </a:lnTo>
                    <a:close/>
                  </a:path>
                </a:pathLst>
              </a:custGeom>
              <a:solidFill>
                <a:srgbClr val="000000"/>
              </a:solidFill>
              <a:ln w="9525">
                <a:noFill/>
                <a:round/>
                <a:headEnd/>
                <a:tailEnd/>
              </a:ln>
            </p:spPr>
            <p:txBody>
              <a:bodyPr/>
              <a:lstStyle/>
              <a:p>
                <a:endParaRPr lang="en-US"/>
              </a:p>
            </p:txBody>
          </p:sp>
          <p:sp>
            <p:nvSpPr>
              <p:cNvPr id="24779" name="Freeform 168"/>
              <p:cNvSpPr>
                <a:spLocks/>
              </p:cNvSpPr>
              <p:nvPr/>
            </p:nvSpPr>
            <p:spPr bwMode="auto">
              <a:xfrm>
                <a:off x="2184" y="3838"/>
                <a:ext cx="44" cy="55"/>
              </a:xfrm>
              <a:custGeom>
                <a:avLst/>
                <a:gdLst>
                  <a:gd name="T0" fmla="*/ 1 w 88"/>
                  <a:gd name="T1" fmla="*/ 0 h 111"/>
                  <a:gd name="T2" fmla="*/ 1 w 88"/>
                  <a:gd name="T3" fmla="*/ 0 h 111"/>
                  <a:gd name="T4" fmla="*/ 1 w 88"/>
                  <a:gd name="T5" fmla="*/ 0 h 111"/>
                  <a:gd name="T6" fmla="*/ 1 w 88"/>
                  <a:gd name="T7" fmla="*/ 0 h 111"/>
                  <a:gd name="T8" fmla="*/ 1 w 88"/>
                  <a:gd name="T9" fmla="*/ 0 h 111"/>
                  <a:gd name="T10" fmla="*/ 1 w 88"/>
                  <a:gd name="T11" fmla="*/ 0 h 111"/>
                  <a:gd name="T12" fmla="*/ 1 w 88"/>
                  <a:gd name="T13" fmla="*/ 0 h 111"/>
                  <a:gd name="T14" fmla="*/ 1 w 88"/>
                  <a:gd name="T15" fmla="*/ 0 h 111"/>
                  <a:gd name="T16" fmla="*/ 1 w 88"/>
                  <a:gd name="T17" fmla="*/ 0 h 111"/>
                  <a:gd name="T18" fmla="*/ 0 w 88"/>
                  <a:gd name="T19" fmla="*/ 0 h 111"/>
                  <a:gd name="T20" fmla="*/ 1 w 88"/>
                  <a:gd name="T21" fmla="*/ 0 h 111"/>
                  <a:gd name="T22" fmla="*/ 1 w 88"/>
                  <a:gd name="T23" fmla="*/ 0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8"/>
                  <a:gd name="T37" fmla="*/ 0 h 111"/>
                  <a:gd name="T38" fmla="*/ 88 w 88"/>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8" h="111">
                    <a:moveTo>
                      <a:pt x="8" y="0"/>
                    </a:moveTo>
                    <a:lnTo>
                      <a:pt x="2" y="18"/>
                    </a:lnTo>
                    <a:lnTo>
                      <a:pt x="69" y="111"/>
                    </a:lnTo>
                    <a:lnTo>
                      <a:pt x="88" y="99"/>
                    </a:lnTo>
                    <a:lnTo>
                      <a:pt x="21" y="5"/>
                    </a:lnTo>
                    <a:lnTo>
                      <a:pt x="15" y="22"/>
                    </a:lnTo>
                    <a:lnTo>
                      <a:pt x="21" y="5"/>
                    </a:lnTo>
                    <a:lnTo>
                      <a:pt x="13" y="0"/>
                    </a:lnTo>
                    <a:lnTo>
                      <a:pt x="5" y="2"/>
                    </a:lnTo>
                    <a:lnTo>
                      <a:pt x="0" y="8"/>
                    </a:lnTo>
                    <a:lnTo>
                      <a:pt x="2" y="18"/>
                    </a:lnTo>
                    <a:lnTo>
                      <a:pt x="8" y="0"/>
                    </a:lnTo>
                    <a:close/>
                  </a:path>
                </a:pathLst>
              </a:custGeom>
              <a:solidFill>
                <a:srgbClr val="000000"/>
              </a:solidFill>
              <a:ln w="9525">
                <a:noFill/>
                <a:round/>
                <a:headEnd/>
                <a:tailEnd/>
              </a:ln>
            </p:spPr>
            <p:txBody>
              <a:bodyPr/>
              <a:lstStyle/>
              <a:p>
                <a:endParaRPr lang="en-US"/>
              </a:p>
            </p:txBody>
          </p:sp>
          <p:sp>
            <p:nvSpPr>
              <p:cNvPr id="24780" name="Freeform 169"/>
              <p:cNvSpPr>
                <a:spLocks/>
              </p:cNvSpPr>
              <p:nvPr/>
            </p:nvSpPr>
            <p:spPr bwMode="auto">
              <a:xfrm>
                <a:off x="2188" y="3817"/>
                <a:ext cx="66" cy="32"/>
              </a:xfrm>
              <a:custGeom>
                <a:avLst/>
                <a:gdLst>
                  <a:gd name="T0" fmla="*/ 1 w 132"/>
                  <a:gd name="T1" fmla="*/ 1 h 62"/>
                  <a:gd name="T2" fmla="*/ 1 w 132"/>
                  <a:gd name="T3" fmla="*/ 0 h 62"/>
                  <a:gd name="T4" fmla="*/ 0 w 132"/>
                  <a:gd name="T5" fmla="*/ 1 h 62"/>
                  <a:gd name="T6" fmla="*/ 1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0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10" y="11"/>
                    </a:moveTo>
                    <a:lnTo>
                      <a:pt x="118" y="0"/>
                    </a:lnTo>
                    <a:lnTo>
                      <a:pt x="0" y="40"/>
                    </a:lnTo>
                    <a:lnTo>
                      <a:pt x="7" y="62"/>
                    </a:lnTo>
                    <a:lnTo>
                      <a:pt x="124" y="22"/>
                    </a:lnTo>
                    <a:lnTo>
                      <a:pt x="132" y="11"/>
                    </a:lnTo>
                    <a:lnTo>
                      <a:pt x="124" y="22"/>
                    </a:lnTo>
                    <a:lnTo>
                      <a:pt x="130" y="17"/>
                    </a:lnTo>
                    <a:lnTo>
                      <a:pt x="132" y="8"/>
                    </a:lnTo>
                    <a:lnTo>
                      <a:pt x="127" y="1"/>
                    </a:lnTo>
                    <a:lnTo>
                      <a:pt x="118" y="0"/>
                    </a:lnTo>
                    <a:lnTo>
                      <a:pt x="110" y="11"/>
                    </a:lnTo>
                    <a:close/>
                  </a:path>
                </a:pathLst>
              </a:custGeom>
              <a:solidFill>
                <a:srgbClr val="000000"/>
              </a:solidFill>
              <a:ln w="9525">
                <a:noFill/>
                <a:round/>
                <a:headEnd/>
                <a:tailEnd/>
              </a:ln>
            </p:spPr>
            <p:txBody>
              <a:bodyPr/>
              <a:lstStyle/>
              <a:p>
                <a:endParaRPr lang="en-US"/>
              </a:p>
            </p:txBody>
          </p:sp>
          <p:sp>
            <p:nvSpPr>
              <p:cNvPr id="24781" name="Freeform 170"/>
              <p:cNvSpPr>
                <a:spLocks/>
              </p:cNvSpPr>
              <p:nvPr/>
            </p:nvSpPr>
            <p:spPr bwMode="auto">
              <a:xfrm>
                <a:off x="2243" y="3807"/>
                <a:ext cx="11" cy="16"/>
              </a:xfrm>
              <a:custGeom>
                <a:avLst/>
                <a:gdLst>
                  <a:gd name="T0" fmla="*/ 1 w 22"/>
                  <a:gd name="T1" fmla="*/ 1 h 32"/>
                  <a:gd name="T2" fmla="*/ 0 w 22"/>
                  <a:gd name="T3" fmla="*/ 1 h 32"/>
                  <a:gd name="T4" fmla="*/ 0 w 22"/>
                  <a:gd name="T5" fmla="*/ 1 h 32"/>
                  <a:gd name="T6" fmla="*/ 1 w 22"/>
                  <a:gd name="T7" fmla="*/ 1 h 32"/>
                  <a:gd name="T8" fmla="*/ 1 w 22"/>
                  <a:gd name="T9" fmla="*/ 1 h 32"/>
                  <a:gd name="T10" fmla="*/ 1 w 22"/>
                  <a:gd name="T11" fmla="*/ 0 h 32"/>
                  <a:gd name="T12" fmla="*/ 1 w 22"/>
                  <a:gd name="T13" fmla="*/ 1 h 32"/>
                  <a:gd name="T14" fmla="*/ 1 w 22"/>
                  <a:gd name="T15" fmla="*/ 1 h 32"/>
                  <a:gd name="T16" fmla="*/ 1 w 22"/>
                  <a:gd name="T17" fmla="*/ 0 h 32"/>
                  <a:gd name="T18" fmla="*/ 1 w 22"/>
                  <a:gd name="T19" fmla="*/ 1 h 32"/>
                  <a:gd name="T20" fmla="*/ 0 w 22"/>
                  <a:gd name="T21" fmla="*/ 1 h 32"/>
                  <a:gd name="T22" fmla="*/ 1 w 22"/>
                  <a:gd name="T23" fmla="*/ 1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2" y="22"/>
                    </a:moveTo>
                    <a:lnTo>
                      <a:pt x="0" y="11"/>
                    </a:lnTo>
                    <a:lnTo>
                      <a:pt x="0" y="32"/>
                    </a:lnTo>
                    <a:lnTo>
                      <a:pt x="22" y="32"/>
                    </a:lnTo>
                    <a:lnTo>
                      <a:pt x="22" y="11"/>
                    </a:lnTo>
                    <a:lnTo>
                      <a:pt x="9" y="0"/>
                    </a:lnTo>
                    <a:lnTo>
                      <a:pt x="22" y="11"/>
                    </a:lnTo>
                    <a:lnTo>
                      <a:pt x="19" y="4"/>
                    </a:lnTo>
                    <a:lnTo>
                      <a:pt x="11" y="0"/>
                    </a:lnTo>
                    <a:lnTo>
                      <a:pt x="3" y="4"/>
                    </a:lnTo>
                    <a:lnTo>
                      <a:pt x="0" y="11"/>
                    </a:lnTo>
                    <a:lnTo>
                      <a:pt x="12" y="22"/>
                    </a:lnTo>
                    <a:close/>
                  </a:path>
                </a:pathLst>
              </a:custGeom>
              <a:solidFill>
                <a:srgbClr val="000000"/>
              </a:solidFill>
              <a:ln w="9525">
                <a:noFill/>
                <a:round/>
                <a:headEnd/>
                <a:tailEnd/>
              </a:ln>
            </p:spPr>
            <p:txBody>
              <a:bodyPr/>
              <a:lstStyle/>
              <a:p>
                <a:endParaRPr lang="en-US"/>
              </a:p>
            </p:txBody>
          </p:sp>
          <p:sp>
            <p:nvSpPr>
              <p:cNvPr id="24782" name="Freeform 171"/>
              <p:cNvSpPr>
                <a:spLocks/>
              </p:cNvSpPr>
              <p:nvPr/>
            </p:nvSpPr>
            <p:spPr bwMode="auto">
              <a:xfrm>
                <a:off x="2170" y="3807"/>
                <a:ext cx="79" cy="27"/>
              </a:xfrm>
              <a:custGeom>
                <a:avLst/>
                <a:gdLst>
                  <a:gd name="T0" fmla="*/ 1 w 158"/>
                  <a:gd name="T1" fmla="*/ 1 h 54"/>
                  <a:gd name="T2" fmla="*/ 1 w 158"/>
                  <a:gd name="T3" fmla="*/ 1 h 54"/>
                  <a:gd name="T4" fmla="*/ 1 w 158"/>
                  <a:gd name="T5" fmla="*/ 1 h 54"/>
                  <a:gd name="T6" fmla="*/ 1 w 158"/>
                  <a:gd name="T7" fmla="*/ 0 h 54"/>
                  <a:gd name="T8" fmla="*/ 1 w 158"/>
                  <a:gd name="T9" fmla="*/ 1 h 54"/>
                  <a:gd name="T10" fmla="*/ 1 w 158"/>
                  <a:gd name="T11" fmla="*/ 1 h 54"/>
                  <a:gd name="T12" fmla="*/ 1 w 158"/>
                  <a:gd name="T13" fmla="*/ 1 h 54"/>
                  <a:gd name="T14" fmla="*/ 1 w 158"/>
                  <a:gd name="T15" fmla="*/ 1 h 54"/>
                  <a:gd name="T16" fmla="*/ 0 w 158"/>
                  <a:gd name="T17" fmla="*/ 1 h 54"/>
                  <a:gd name="T18" fmla="*/ 1 w 158"/>
                  <a:gd name="T19" fmla="*/ 1 h 54"/>
                  <a:gd name="T20" fmla="*/ 1 w 158"/>
                  <a:gd name="T21" fmla="*/ 1 h 54"/>
                  <a:gd name="T22" fmla="*/ 1 w 158"/>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54"/>
                  <a:gd name="T38" fmla="*/ 158 w 158"/>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54">
                    <a:moveTo>
                      <a:pt x="11" y="54"/>
                    </a:moveTo>
                    <a:lnTo>
                      <a:pt x="13" y="54"/>
                    </a:lnTo>
                    <a:lnTo>
                      <a:pt x="158" y="22"/>
                    </a:lnTo>
                    <a:lnTo>
                      <a:pt x="155" y="0"/>
                    </a:lnTo>
                    <a:lnTo>
                      <a:pt x="10" y="32"/>
                    </a:lnTo>
                    <a:lnTo>
                      <a:pt x="11" y="32"/>
                    </a:lnTo>
                    <a:lnTo>
                      <a:pt x="10" y="32"/>
                    </a:lnTo>
                    <a:lnTo>
                      <a:pt x="2" y="36"/>
                    </a:lnTo>
                    <a:lnTo>
                      <a:pt x="0" y="44"/>
                    </a:lnTo>
                    <a:lnTo>
                      <a:pt x="5" y="50"/>
                    </a:lnTo>
                    <a:lnTo>
                      <a:pt x="13" y="54"/>
                    </a:lnTo>
                    <a:lnTo>
                      <a:pt x="11" y="54"/>
                    </a:lnTo>
                    <a:close/>
                  </a:path>
                </a:pathLst>
              </a:custGeom>
              <a:solidFill>
                <a:srgbClr val="000000"/>
              </a:solidFill>
              <a:ln w="9525">
                <a:noFill/>
                <a:round/>
                <a:headEnd/>
                <a:tailEnd/>
              </a:ln>
            </p:spPr>
            <p:txBody>
              <a:bodyPr/>
              <a:lstStyle/>
              <a:p>
                <a:endParaRPr lang="en-US"/>
              </a:p>
            </p:txBody>
          </p:sp>
          <p:sp>
            <p:nvSpPr>
              <p:cNvPr id="24783" name="Freeform 172"/>
              <p:cNvSpPr>
                <a:spLocks/>
              </p:cNvSpPr>
              <p:nvPr/>
            </p:nvSpPr>
            <p:spPr bwMode="auto">
              <a:xfrm>
                <a:off x="2152" y="3823"/>
                <a:ext cx="24" cy="11"/>
              </a:xfrm>
              <a:custGeom>
                <a:avLst/>
                <a:gdLst>
                  <a:gd name="T0" fmla="*/ 1 w 47"/>
                  <a:gd name="T1" fmla="*/ 1 h 22"/>
                  <a:gd name="T2" fmla="*/ 1 w 47"/>
                  <a:gd name="T3" fmla="*/ 1 h 22"/>
                  <a:gd name="T4" fmla="*/ 1 w 47"/>
                  <a:gd name="T5" fmla="*/ 1 h 22"/>
                  <a:gd name="T6" fmla="*/ 1 w 47"/>
                  <a:gd name="T7" fmla="*/ 0 h 22"/>
                  <a:gd name="T8" fmla="*/ 1 w 47"/>
                  <a:gd name="T9" fmla="*/ 0 h 22"/>
                  <a:gd name="T10" fmla="*/ 1 w 47"/>
                  <a:gd name="T11" fmla="*/ 0 h 22"/>
                  <a:gd name="T12" fmla="*/ 1 w 47"/>
                  <a:gd name="T13" fmla="*/ 0 h 22"/>
                  <a:gd name="T14" fmla="*/ 1 w 47"/>
                  <a:gd name="T15" fmla="*/ 1 h 22"/>
                  <a:gd name="T16" fmla="*/ 0 w 47"/>
                  <a:gd name="T17" fmla="*/ 1 h 22"/>
                  <a:gd name="T18" fmla="*/ 1 w 47"/>
                  <a:gd name="T19" fmla="*/ 1 h 22"/>
                  <a:gd name="T20" fmla="*/ 1 w 47"/>
                  <a:gd name="T21" fmla="*/ 1 h 22"/>
                  <a:gd name="T22" fmla="*/ 1 w 47"/>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
                  <a:gd name="T37" fmla="*/ 0 h 22"/>
                  <a:gd name="T38" fmla="*/ 47 w 47"/>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 h="22">
                    <a:moveTo>
                      <a:pt x="10" y="22"/>
                    </a:moveTo>
                    <a:lnTo>
                      <a:pt x="11" y="22"/>
                    </a:lnTo>
                    <a:lnTo>
                      <a:pt x="47" y="22"/>
                    </a:lnTo>
                    <a:lnTo>
                      <a:pt x="47" y="0"/>
                    </a:lnTo>
                    <a:lnTo>
                      <a:pt x="11" y="0"/>
                    </a:lnTo>
                    <a:lnTo>
                      <a:pt x="13" y="0"/>
                    </a:lnTo>
                    <a:lnTo>
                      <a:pt x="11" y="0"/>
                    </a:lnTo>
                    <a:lnTo>
                      <a:pt x="3" y="3"/>
                    </a:lnTo>
                    <a:lnTo>
                      <a:pt x="0" y="11"/>
                    </a:lnTo>
                    <a:lnTo>
                      <a:pt x="3" y="18"/>
                    </a:lnTo>
                    <a:lnTo>
                      <a:pt x="11" y="22"/>
                    </a:lnTo>
                    <a:lnTo>
                      <a:pt x="10" y="22"/>
                    </a:lnTo>
                    <a:close/>
                  </a:path>
                </a:pathLst>
              </a:custGeom>
              <a:solidFill>
                <a:srgbClr val="000000"/>
              </a:solidFill>
              <a:ln w="9525">
                <a:noFill/>
                <a:round/>
                <a:headEnd/>
                <a:tailEnd/>
              </a:ln>
            </p:spPr>
            <p:txBody>
              <a:bodyPr/>
              <a:lstStyle/>
              <a:p>
                <a:endParaRPr lang="en-US"/>
              </a:p>
            </p:txBody>
          </p:sp>
          <p:sp>
            <p:nvSpPr>
              <p:cNvPr id="24784" name="Line 173"/>
              <p:cNvSpPr>
                <a:spLocks noChangeShapeType="1"/>
              </p:cNvSpPr>
              <p:nvPr/>
            </p:nvSpPr>
            <p:spPr bwMode="auto">
              <a:xfrm flipV="1">
                <a:off x="1933" y="3548"/>
                <a:ext cx="130" cy="76"/>
              </a:xfrm>
              <a:prstGeom prst="line">
                <a:avLst/>
              </a:prstGeom>
              <a:noFill/>
              <a:ln w="0">
                <a:solidFill>
                  <a:srgbClr val="000000"/>
                </a:solidFill>
                <a:round/>
                <a:headEnd/>
                <a:tailEnd/>
              </a:ln>
            </p:spPr>
            <p:txBody>
              <a:bodyPr/>
              <a:lstStyle/>
              <a:p>
                <a:endParaRPr lang="en-US"/>
              </a:p>
            </p:txBody>
          </p:sp>
          <p:sp>
            <p:nvSpPr>
              <p:cNvPr id="24785" name="Line 174"/>
              <p:cNvSpPr>
                <a:spLocks noChangeShapeType="1"/>
              </p:cNvSpPr>
              <p:nvPr/>
            </p:nvSpPr>
            <p:spPr bwMode="auto">
              <a:xfrm flipV="1">
                <a:off x="1942" y="3553"/>
                <a:ext cx="129" cy="75"/>
              </a:xfrm>
              <a:prstGeom prst="line">
                <a:avLst/>
              </a:prstGeom>
              <a:noFill/>
              <a:ln w="0">
                <a:solidFill>
                  <a:srgbClr val="000000"/>
                </a:solidFill>
                <a:round/>
                <a:headEnd/>
                <a:tailEnd/>
              </a:ln>
            </p:spPr>
            <p:txBody>
              <a:bodyPr/>
              <a:lstStyle/>
              <a:p>
                <a:endParaRPr lang="en-US"/>
              </a:p>
            </p:txBody>
          </p:sp>
          <p:sp>
            <p:nvSpPr>
              <p:cNvPr id="24786" name="Line 175"/>
              <p:cNvSpPr>
                <a:spLocks noChangeShapeType="1"/>
              </p:cNvSpPr>
              <p:nvPr/>
            </p:nvSpPr>
            <p:spPr bwMode="auto">
              <a:xfrm flipV="1">
                <a:off x="1949" y="3560"/>
                <a:ext cx="130" cy="75"/>
              </a:xfrm>
              <a:prstGeom prst="line">
                <a:avLst/>
              </a:prstGeom>
              <a:noFill/>
              <a:ln w="0">
                <a:solidFill>
                  <a:srgbClr val="000000"/>
                </a:solidFill>
                <a:round/>
                <a:headEnd/>
                <a:tailEnd/>
              </a:ln>
            </p:spPr>
            <p:txBody>
              <a:bodyPr/>
              <a:lstStyle/>
              <a:p>
                <a:endParaRPr lang="en-US"/>
              </a:p>
            </p:txBody>
          </p:sp>
          <p:sp>
            <p:nvSpPr>
              <p:cNvPr id="24787" name="Line 176"/>
              <p:cNvSpPr>
                <a:spLocks noChangeShapeType="1"/>
              </p:cNvSpPr>
              <p:nvPr/>
            </p:nvSpPr>
            <p:spPr bwMode="auto">
              <a:xfrm flipV="1">
                <a:off x="2019" y="3512"/>
                <a:ext cx="18" cy="11"/>
              </a:xfrm>
              <a:prstGeom prst="line">
                <a:avLst/>
              </a:prstGeom>
              <a:noFill/>
              <a:ln w="0">
                <a:solidFill>
                  <a:srgbClr val="000000"/>
                </a:solidFill>
                <a:round/>
                <a:headEnd/>
                <a:tailEnd/>
              </a:ln>
            </p:spPr>
            <p:txBody>
              <a:bodyPr/>
              <a:lstStyle/>
              <a:p>
                <a:endParaRPr lang="en-US"/>
              </a:p>
            </p:txBody>
          </p:sp>
          <p:sp>
            <p:nvSpPr>
              <p:cNvPr id="24788" name="Freeform 177"/>
              <p:cNvSpPr>
                <a:spLocks/>
              </p:cNvSpPr>
              <p:nvPr/>
            </p:nvSpPr>
            <p:spPr bwMode="auto">
              <a:xfrm>
                <a:off x="1894" y="3369"/>
                <a:ext cx="130" cy="194"/>
              </a:xfrm>
              <a:custGeom>
                <a:avLst/>
                <a:gdLst>
                  <a:gd name="T0" fmla="*/ 1 w 259"/>
                  <a:gd name="T1" fmla="*/ 0 h 388"/>
                  <a:gd name="T2" fmla="*/ 1 w 259"/>
                  <a:gd name="T3" fmla="*/ 1 h 388"/>
                  <a:gd name="T4" fmla="*/ 0 w 259"/>
                  <a:gd name="T5" fmla="*/ 1 h 388"/>
                  <a:gd name="T6" fmla="*/ 0 w 259"/>
                  <a:gd name="T7" fmla="*/ 1 h 388"/>
                  <a:gd name="T8" fmla="*/ 1 w 259"/>
                  <a:gd name="T9" fmla="*/ 0 h 388"/>
                  <a:gd name="T10" fmla="*/ 0 60000 65536"/>
                  <a:gd name="T11" fmla="*/ 0 60000 65536"/>
                  <a:gd name="T12" fmla="*/ 0 60000 65536"/>
                  <a:gd name="T13" fmla="*/ 0 60000 65536"/>
                  <a:gd name="T14" fmla="*/ 0 60000 65536"/>
                  <a:gd name="T15" fmla="*/ 0 w 259"/>
                  <a:gd name="T16" fmla="*/ 0 h 388"/>
                  <a:gd name="T17" fmla="*/ 259 w 259"/>
                  <a:gd name="T18" fmla="*/ 388 h 388"/>
                </a:gdLst>
                <a:ahLst/>
                <a:cxnLst>
                  <a:cxn ang="T10">
                    <a:pos x="T0" y="T1"/>
                  </a:cxn>
                  <a:cxn ang="T11">
                    <a:pos x="T2" y="T3"/>
                  </a:cxn>
                  <a:cxn ang="T12">
                    <a:pos x="T4" y="T5"/>
                  </a:cxn>
                  <a:cxn ang="T13">
                    <a:pos x="T6" y="T7"/>
                  </a:cxn>
                  <a:cxn ang="T14">
                    <a:pos x="T8" y="T9"/>
                  </a:cxn>
                </a:cxnLst>
                <a:rect l="T15" t="T16" r="T17" b="T18"/>
                <a:pathLst>
                  <a:path w="259" h="388">
                    <a:moveTo>
                      <a:pt x="259" y="0"/>
                    </a:moveTo>
                    <a:lnTo>
                      <a:pt x="259" y="236"/>
                    </a:lnTo>
                    <a:lnTo>
                      <a:pt x="0" y="388"/>
                    </a:lnTo>
                    <a:lnTo>
                      <a:pt x="0" y="150"/>
                    </a:lnTo>
                    <a:lnTo>
                      <a:pt x="259" y="0"/>
                    </a:lnTo>
                    <a:close/>
                  </a:path>
                </a:pathLst>
              </a:custGeom>
              <a:solidFill>
                <a:srgbClr val="007FFF"/>
              </a:solidFill>
              <a:ln w="9525">
                <a:noFill/>
                <a:round/>
                <a:headEnd/>
                <a:tailEnd/>
              </a:ln>
            </p:spPr>
            <p:txBody>
              <a:bodyPr/>
              <a:lstStyle/>
              <a:p>
                <a:endParaRPr lang="en-US"/>
              </a:p>
            </p:txBody>
          </p:sp>
          <p:sp>
            <p:nvSpPr>
              <p:cNvPr id="24789" name="Freeform 178"/>
              <p:cNvSpPr>
                <a:spLocks/>
              </p:cNvSpPr>
              <p:nvPr/>
            </p:nvSpPr>
            <p:spPr bwMode="auto">
              <a:xfrm>
                <a:off x="2018" y="3369"/>
                <a:ext cx="11" cy="124"/>
              </a:xfrm>
              <a:custGeom>
                <a:avLst/>
                <a:gdLst>
                  <a:gd name="T0" fmla="*/ 1 w 21"/>
                  <a:gd name="T1" fmla="*/ 1 h 247"/>
                  <a:gd name="T2" fmla="*/ 1 w 21"/>
                  <a:gd name="T3" fmla="*/ 1 h 247"/>
                  <a:gd name="T4" fmla="*/ 1 w 21"/>
                  <a:gd name="T5" fmla="*/ 0 h 247"/>
                  <a:gd name="T6" fmla="*/ 0 w 21"/>
                  <a:gd name="T7" fmla="*/ 0 h 247"/>
                  <a:gd name="T8" fmla="*/ 0 w 21"/>
                  <a:gd name="T9" fmla="*/ 1 h 247"/>
                  <a:gd name="T10" fmla="*/ 1 w 21"/>
                  <a:gd name="T11" fmla="*/ 1 h 247"/>
                  <a:gd name="T12" fmla="*/ 0 w 21"/>
                  <a:gd name="T13" fmla="*/ 1 h 247"/>
                  <a:gd name="T14" fmla="*/ 1 w 21"/>
                  <a:gd name="T15" fmla="*/ 1 h 247"/>
                  <a:gd name="T16" fmla="*/ 1 w 21"/>
                  <a:gd name="T17" fmla="*/ 1 h 247"/>
                  <a:gd name="T18" fmla="*/ 1 w 21"/>
                  <a:gd name="T19" fmla="*/ 1 h 247"/>
                  <a:gd name="T20" fmla="*/ 1 w 21"/>
                  <a:gd name="T21" fmla="*/ 1 h 247"/>
                  <a:gd name="T22" fmla="*/ 1 w 21"/>
                  <a:gd name="T23" fmla="*/ 1 h 2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47"/>
                  <a:gd name="T38" fmla="*/ 21 w 21"/>
                  <a:gd name="T39" fmla="*/ 247 h 2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47">
                    <a:moveTo>
                      <a:pt x="17" y="246"/>
                    </a:moveTo>
                    <a:lnTo>
                      <a:pt x="21" y="236"/>
                    </a:lnTo>
                    <a:lnTo>
                      <a:pt x="21" y="0"/>
                    </a:lnTo>
                    <a:lnTo>
                      <a:pt x="0" y="0"/>
                    </a:lnTo>
                    <a:lnTo>
                      <a:pt x="0" y="236"/>
                    </a:lnTo>
                    <a:lnTo>
                      <a:pt x="4" y="227"/>
                    </a:lnTo>
                    <a:lnTo>
                      <a:pt x="0" y="236"/>
                    </a:lnTo>
                    <a:lnTo>
                      <a:pt x="3" y="244"/>
                    </a:lnTo>
                    <a:lnTo>
                      <a:pt x="10" y="247"/>
                    </a:lnTo>
                    <a:lnTo>
                      <a:pt x="18" y="244"/>
                    </a:lnTo>
                    <a:lnTo>
                      <a:pt x="21" y="236"/>
                    </a:lnTo>
                    <a:lnTo>
                      <a:pt x="17" y="246"/>
                    </a:lnTo>
                    <a:close/>
                  </a:path>
                </a:pathLst>
              </a:custGeom>
              <a:solidFill>
                <a:srgbClr val="000000"/>
              </a:solidFill>
              <a:ln w="9525">
                <a:noFill/>
                <a:round/>
                <a:headEnd/>
                <a:tailEnd/>
              </a:ln>
            </p:spPr>
            <p:txBody>
              <a:bodyPr/>
              <a:lstStyle/>
              <a:p>
                <a:endParaRPr lang="en-US"/>
              </a:p>
            </p:txBody>
          </p:sp>
          <p:sp>
            <p:nvSpPr>
              <p:cNvPr id="24790" name="Freeform 179"/>
              <p:cNvSpPr>
                <a:spLocks/>
              </p:cNvSpPr>
              <p:nvPr/>
            </p:nvSpPr>
            <p:spPr bwMode="auto">
              <a:xfrm>
                <a:off x="1888" y="3483"/>
                <a:ext cx="139" cy="86"/>
              </a:xfrm>
              <a:custGeom>
                <a:avLst/>
                <a:gdLst>
                  <a:gd name="T0" fmla="*/ 0 w 277"/>
                  <a:gd name="T1" fmla="*/ 1 h 172"/>
                  <a:gd name="T2" fmla="*/ 1 w 277"/>
                  <a:gd name="T3" fmla="*/ 1 h 172"/>
                  <a:gd name="T4" fmla="*/ 1 w 277"/>
                  <a:gd name="T5" fmla="*/ 1 h 172"/>
                  <a:gd name="T6" fmla="*/ 1 w 277"/>
                  <a:gd name="T7" fmla="*/ 0 h 172"/>
                  <a:gd name="T8" fmla="*/ 1 w 277"/>
                  <a:gd name="T9" fmla="*/ 1 h 172"/>
                  <a:gd name="T10" fmla="*/ 1 w 277"/>
                  <a:gd name="T11" fmla="*/ 1 h 172"/>
                  <a:gd name="T12" fmla="*/ 1 w 277"/>
                  <a:gd name="T13" fmla="*/ 1 h 172"/>
                  <a:gd name="T14" fmla="*/ 0 w 277"/>
                  <a:gd name="T15" fmla="*/ 1 h 172"/>
                  <a:gd name="T16" fmla="*/ 1 w 277"/>
                  <a:gd name="T17" fmla="*/ 1 h 172"/>
                  <a:gd name="T18" fmla="*/ 1 w 277"/>
                  <a:gd name="T19" fmla="*/ 1 h 172"/>
                  <a:gd name="T20" fmla="*/ 1 w 277"/>
                  <a:gd name="T21" fmla="*/ 1 h 172"/>
                  <a:gd name="T22" fmla="*/ 0 w 277"/>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2"/>
                  <a:gd name="T38" fmla="*/ 277 w 277"/>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2">
                    <a:moveTo>
                      <a:pt x="0" y="161"/>
                    </a:moveTo>
                    <a:lnTo>
                      <a:pt x="17" y="171"/>
                    </a:lnTo>
                    <a:lnTo>
                      <a:pt x="277" y="19"/>
                    </a:lnTo>
                    <a:lnTo>
                      <a:pt x="264" y="0"/>
                    </a:lnTo>
                    <a:lnTo>
                      <a:pt x="4" y="152"/>
                    </a:lnTo>
                    <a:lnTo>
                      <a:pt x="22" y="161"/>
                    </a:lnTo>
                    <a:lnTo>
                      <a:pt x="4" y="152"/>
                    </a:lnTo>
                    <a:lnTo>
                      <a:pt x="0" y="160"/>
                    </a:lnTo>
                    <a:lnTo>
                      <a:pt x="1" y="167"/>
                    </a:lnTo>
                    <a:lnTo>
                      <a:pt x="7" y="172"/>
                    </a:lnTo>
                    <a:lnTo>
                      <a:pt x="17" y="171"/>
                    </a:lnTo>
                    <a:lnTo>
                      <a:pt x="0" y="161"/>
                    </a:lnTo>
                    <a:close/>
                  </a:path>
                </a:pathLst>
              </a:custGeom>
              <a:solidFill>
                <a:srgbClr val="000000"/>
              </a:solidFill>
              <a:ln w="9525">
                <a:noFill/>
                <a:round/>
                <a:headEnd/>
                <a:tailEnd/>
              </a:ln>
            </p:spPr>
            <p:txBody>
              <a:bodyPr/>
              <a:lstStyle/>
              <a:p>
                <a:endParaRPr lang="en-US"/>
              </a:p>
            </p:txBody>
          </p:sp>
          <p:sp>
            <p:nvSpPr>
              <p:cNvPr id="24791" name="Freeform 180"/>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4" y="2"/>
                    </a:moveTo>
                    <a:lnTo>
                      <a:pt x="0" y="11"/>
                    </a:lnTo>
                    <a:lnTo>
                      <a:pt x="0" y="249"/>
                    </a:lnTo>
                    <a:lnTo>
                      <a:pt x="22" y="249"/>
                    </a:lnTo>
                    <a:lnTo>
                      <a:pt x="22" y="11"/>
                    </a:lnTo>
                    <a:lnTo>
                      <a:pt x="17" y="21"/>
                    </a:lnTo>
                    <a:lnTo>
                      <a:pt x="22" y="11"/>
                    </a:lnTo>
                    <a:lnTo>
                      <a:pt x="18" y="4"/>
                    </a:lnTo>
                    <a:lnTo>
                      <a:pt x="11" y="0"/>
                    </a:lnTo>
                    <a:lnTo>
                      <a:pt x="3" y="4"/>
                    </a:lnTo>
                    <a:lnTo>
                      <a:pt x="0" y="11"/>
                    </a:lnTo>
                    <a:lnTo>
                      <a:pt x="4" y="2"/>
                    </a:lnTo>
                    <a:close/>
                  </a:path>
                </a:pathLst>
              </a:custGeom>
              <a:solidFill>
                <a:srgbClr val="000000"/>
              </a:solidFill>
              <a:ln w="9525">
                <a:noFill/>
                <a:round/>
                <a:headEnd/>
                <a:tailEnd/>
              </a:ln>
            </p:spPr>
            <p:txBody>
              <a:bodyPr/>
              <a:lstStyle/>
              <a:p>
                <a:endParaRPr lang="en-US"/>
              </a:p>
            </p:txBody>
          </p:sp>
          <p:sp>
            <p:nvSpPr>
              <p:cNvPr id="24792" name="Freeform 181"/>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77" y="11"/>
                    </a:moveTo>
                    <a:lnTo>
                      <a:pt x="260" y="2"/>
                    </a:lnTo>
                    <a:lnTo>
                      <a:pt x="0" y="152"/>
                    </a:lnTo>
                    <a:lnTo>
                      <a:pt x="13" y="171"/>
                    </a:lnTo>
                    <a:lnTo>
                      <a:pt x="273" y="21"/>
                    </a:lnTo>
                    <a:lnTo>
                      <a:pt x="256" y="11"/>
                    </a:lnTo>
                    <a:lnTo>
                      <a:pt x="273" y="21"/>
                    </a:lnTo>
                    <a:lnTo>
                      <a:pt x="277" y="13"/>
                    </a:lnTo>
                    <a:lnTo>
                      <a:pt x="276" y="5"/>
                    </a:lnTo>
                    <a:lnTo>
                      <a:pt x="270" y="0"/>
                    </a:lnTo>
                    <a:lnTo>
                      <a:pt x="260" y="2"/>
                    </a:lnTo>
                    <a:lnTo>
                      <a:pt x="277" y="11"/>
                    </a:lnTo>
                    <a:close/>
                  </a:path>
                </a:pathLst>
              </a:custGeom>
              <a:solidFill>
                <a:srgbClr val="000000"/>
              </a:solidFill>
              <a:ln w="9525">
                <a:noFill/>
                <a:round/>
                <a:headEnd/>
                <a:tailEnd/>
              </a:ln>
            </p:spPr>
            <p:txBody>
              <a:bodyPr/>
              <a:lstStyle/>
              <a:p>
                <a:endParaRPr lang="en-US"/>
              </a:p>
            </p:txBody>
          </p:sp>
          <p:sp>
            <p:nvSpPr>
              <p:cNvPr id="24793" name="Freeform 182"/>
              <p:cNvSpPr>
                <a:spLocks/>
              </p:cNvSpPr>
              <p:nvPr/>
            </p:nvSpPr>
            <p:spPr bwMode="auto">
              <a:xfrm>
                <a:off x="1851" y="3349"/>
                <a:ext cx="173" cy="95"/>
              </a:xfrm>
              <a:custGeom>
                <a:avLst/>
                <a:gdLst>
                  <a:gd name="T0" fmla="*/ 1 w 344"/>
                  <a:gd name="T1" fmla="*/ 1 h 190"/>
                  <a:gd name="T2" fmla="*/ 1 w 344"/>
                  <a:gd name="T3" fmla="*/ 0 h 190"/>
                  <a:gd name="T4" fmla="*/ 0 w 344"/>
                  <a:gd name="T5" fmla="*/ 1 h 190"/>
                  <a:gd name="T6" fmla="*/ 1 w 344"/>
                  <a:gd name="T7" fmla="*/ 1 h 190"/>
                  <a:gd name="T8" fmla="*/ 1 w 344"/>
                  <a:gd name="T9" fmla="*/ 1 h 190"/>
                  <a:gd name="T10" fmla="*/ 0 60000 65536"/>
                  <a:gd name="T11" fmla="*/ 0 60000 65536"/>
                  <a:gd name="T12" fmla="*/ 0 60000 65536"/>
                  <a:gd name="T13" fmla="*/ 0 60000 65536"/>
                  <a:gd name="T14" fmla="*/ 0 60000 65536"/>
                  <a:gd name="T15" fmla="*/ 0 w 344"/>
                  <a:gd name="T16" fmla="*/ 0 h 190"/>
                  <a:gd name="T17" fmla="*/ 344 w 344"/>
                  <a:gd name="T18" fmla="*/ 190 h 190"/>
                </a:gdLst>
                <a:ahLst/>
                <a:cxnLst>
                  <a:cxn ang="T10">
                    <a:pos x="T0" y="T1"/>
                  </a:cxn>
                  <a:cxn ang="T11">
                    <a:pos x="T2" y="T3"/>
                  </a:cxn>
                  <a:cxn ang="T12">
                    <a:pos x="T4" y="T5"/>
                  </a:cxn>
                  <a:cxn ang="T13">
                    <a:pos x="T6" y="T7"/>
                  </a:cxn>
                  <a:cxn ang="T14">
                    <a:pos x="T8" y="T9"/>
                  </a:cxn>
                </a:cxnLst>
                <a:rect l="T15" t="T16" r="T17" b="T18"/>
                <a:pathLst>
                  <a:path w="344" h="190">
                    <a:moveTo>
                      <a:pt x="344" y="40"/>
                    </a:moveTo>
                    <a:lnTo>
                      <a:pt x="260" y="0"/>
                    </a:lnTo>
                    <a:lnTo>
                      <a:pt x="0" y="150"/>
                    </a:lnTo>
                    <a:lnTo>
                      <a:pt x="85" y="190"/>
                    </a:lnTo>
                    <a:lnTo>
                      <a:pt x="344" y="40"/>
                    </a:lnTo>
                    <a:close/>
                  </a:path>
                </a:pathLst>
              </a:custGeom>
              <a:solidFill>
                <a:srgbClr val="99D8FF"/>
              </a:solidFill>
              <a:ln w="9525">
                <a:noFill/>
                <a:round/>
                <a:headEnd/>
                <a:tailEnd/>
              </a:ln>
            </p:spPr>
            <p:txBody>
              <a:bodyPr/>
              <a:lstStyle/>
              <a:p>
                <a:endParaRPr lang="en-US"/>
              </a:p>
            </p:txBody>
          </p:sp>
          <p:sp>
            <p:nvSpPr>
              <p:cNvPr id="24794" name="Freeform 183"/>
              <p:cNvSpPr>
                <a:spLocks/>
              </p:cNvSpPr>
              <p:nvPr/>
            </p:nvSpPr>
            <p:spPr bwMode="auto">
              <a:xfrm>
                <a:off x="1976" y="3344"/>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1 w 100"/>
                  <a:gd name="T11" fmla="*/ 0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16" y="19"/>
                    </a:moveTo>
                    <a:lnTo>
                      <a:pt x="6" y="19"/>
                    </a:lnTo>
                    <a:lnTo>
                      <a:pt x="91" y="60"/>
                    </a:lnTo>
                    <a:lnTo>
                      <a:pt x="100" y="41"/>
                    </a:lnTo>
                    <a:lnTo>
                      <a:pt x="16" y="0"/>
                    </a:lnTo>
                    <a:lnTo>
                      <a:pt x="6" y="0"/>
                    </a:lnTo>
                    <a:lnTo>
                      <a:pt x="16" y="0"/>
                    </a:lnTo>
                    <a:lnTo>
                      <a:pt x="8" y="0"/>
                    </a:lnTo>
                    <a:lnTo>
                      <a:pt x="2" y="5"/>
                    </a:lnTo>
                    <a:lnTo>
                      <a:pt x="0" y="13"/>
                    </a:lnTo>
                    <a:lnTo>
                      <a:pt x="6" y="19"/>
                    </a:lnTo>
                    <a:lnTo>
                      <a:pt x="16" y="19"/>
                    </a:lnTo>
                    <a:close/>
                  </a:path>
                </a:pathLst>
              </a:custGeom>
              <a:solidFill>
                <a:srgbClr val="000000"/>
              </a:solidFill>
              <a:ln w="9525">
                <a:noFill/>
                <a:round/>
                <a:headEnd/>
                <a:tailEnd/>
              </a:ln>
            </p:spPr>
            <p:txBody>
              <a:bodyPr/>
              <a:lstStyle/>
              <a:p>
                <a:endParaRPr lang="en-US"/>
              </a:p>
            </p:txBody>
          </p:sp>
          <p:sp>
            <p:nvSpPr>
              <p:cNvPr id="24795" name="Freeform 184"/>
              <p:cNvSpPr>
                <a:spLocks/>
              </p:cNvSpPr>
              <p:nvPr/>
            </p:nvSpPr>
            <p:spPr bwMode="auto">
              <a:xfrm>
                <a:off x="1846" y="3344"/>
                <a:ext cx="138" cy="85"/>
              </a:xfrm>
              <a:custGeom>
                <a:avLst/>
                <a:gdLst>
                  <a:gd name="T0" fmla="*/ 1 w 276"/>
                  <a:gd name="T1" fmla="*/ 1 h 169"/>
                  <a:gd name="T2" fmla="*/ 1 w 276"/>
                  <a:gd name="T3" fmla="*/ 1 h 169"/>
                  <a:gd name="T4" fmla="*/ 1 w 276"/>
                  <a:gd name="T5" fmla="*/ 1 h 169"/>
                  <a:gd name="T6" fmla="*/ 1 w 276"/>
                  <a:gd name="T7" fmla="*/ 0 h 169"/>
                  <a:gd name="T8" fmla="*/ 1 w 276"/>
                  <a:gd name="T9" fmla="*/ 1 h 169"/>
                  <a:gd name="T10" fmla="*/ 1 w 276"/>
                  <a:gd name="T11" fmla="*/ 1 h 169"/>
                  <a:gd name="T12" fmla="*/ 1 w 276"/>
                  <a:gd name="T13" fmla="*/ 1 h 169"/>
                  <a:gd name="T14" fmla="*/ 0 w 276"/>
                  <a:gd name="T15" fmla="*/ 1 h 169"/>
                  <a:gd name="T16" fmla="*/ 1 w 276"/>
                  <a:gd name="T17" fmla="*/ 1 h 169"/>
                  <a:gd name="T18" fmla="*/ 1 w 276"/>
                  <a:gd name="T19" fmla="*/ 1 h 169"/>
                  <a:gd name="T20" fmla="*/ 1 w 276"/>
                  <a:gd name="T21" fmla="*/ 1 h 169"/>
                  <a:gd name="T22" fmla="*/ 1 w 276"/>
                  <a:gd name="T23" fmla="*/ 1 h 1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6"/>
                  <a:gd name="T37" fmla="*/ 0 h 169"/>
                  <a:gd name="T38" fmla="*/ 276 w 276"/>
                  <a:gd name="T39" fmla="*/ 169 h 1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6" h="169">
                    <a:moveTo>
                      <a:pt x="16" y="150"/>
                    </a:moveTo>
                    <a:lnTo>
                      <a:pt x="16" y="169"/>
                    </a:lnTo>
                    <a:lnTo>
                      <a:pt x="276" y="19"/>
                    </a:lnTo>
                    <a:lnTo>
                      <a:pt x="266" y="0"/>
                    </a:lnTo>
                    <a:lnTo>
                      <a:pt x="6" y="150"/>
                    </a:lnTo>
                    <a:lnTo>
                      <a:pt x="6" y="169"/>
                    </a:lnTo>
                    <a:lnTo>
                      <a:pt x="6" y="150"/>
                    </a:lnTo>
                    <a:lnTo>
                      <a:pt x="0" y="157"/>
                    </a:lnTo>
                    <a:lnTo>
                      <a:pt x="2" y="164"/>
                    </a:lnTo>
                    <a:lnTo>
                      <a:pt x="8" y="169"/>
                    </a:lnTo>
                    <a:lnTo>
                      <a:pt x="16" y="169"/>
                    </a:lnTo>
                    <a:lnTo>
                      <a:pt x="16" y="150"/>
                    </a:lnTo>
                    <a:close/>
                  </a:path>
                </a:pathLst>
              </a:custGeom>
              <a:solidFill>
                <a:srgbClr val="000000"/>
              </a:solidFill>
              <a:ln w="9525">
                <a:noFill/>
                <a:round/>
                <a:headEnd/>
                <a:tailEnd/>
              </a:ln>
            </p:spPr>
            <p:txBody>
              <a:bodyPr/>
              <a:lstStyle/>
              <a:p>
                <a:endParaRPr lang="en-US"/>
              </a:p>
            </p:txBody>
          </p:sp>
          <p:sp>
            <p:nvSpPr>
              <p:cNvPr id="24796" name="Freeform 185"/>
              <p:cNvSpPr>
                <a:spLocks/>
              </p:cNvSpPr>
              <p:nvPr/>
            </p:nvSpPr>
            <p:spPr bwMode="auto">
              <a:xfrm>
                <a:off x="1849" y="3419"/>
                <a:ext cx="50" cy="30"/>
              </a:xfrm>
              <a:custGeom>
                <a:avLst/>
                <a:gdLst>
                  <a:gd name="T0" fmla="*/ 0 w 101"/>
                  <a:gd name="T1" fmla="*/ 1 h 60"/>
                  <a:gd name="T2" fmla="*/ 0 w 101"/>
                  <a:gd name="T3" fmla="*/ 1 h 60"/>
                  <a:gd name="T4" fmla="*/ 0 w 101"/>
                  <a:gd name="T5" fmla="*/ 0 h 60"/>
                  <a:gd name="T6" fmla="*/ 0 w 101"/>
                  <a:gd name="T7" fmla="*/ 1 h 60"/>
                  <a:gd name="T8" fmla="*/ 0 w 101"/>
                  <a:gd name="T9" fmla="*/ 1 h 60"/>
                  <a:gd name="T10" fmla="*/ 0 w 101"/>
                  <a:gd name="T11" fmla="*/ 1 h 60"/>
                  <a:gd name="T12" fmla="*/ 0 w 101"/>
                  <a:gd name="T13" fmla="*/ 1 h 60"/>
                  <a:gd name="T14" fmla="*/ 0 w 101"/>
                  <a:gd name="T15" fmla="*/ 1 h 60"/>
                  <a:gd name="T16" fmla="*/ 0 w 101"/>
                  <a:gd name="T17" fmla="*/ 1 h 60"/>
                  <a:gd name="T18" fmla="*/ 0 w 101"/>
                  <a:gd name="T19" fmla="*/ 1 h 60"/>
                  <a:gd name="T20" fmla="*/ 0 w 101"/>
                  <a:gd name="T21" fmla="*/ 1 h 60"/>
                  <a:gd name="T22" fmla="*/ 0 w 101"/>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0"/>
                  <a:gd name="T38" fmla="*/ 101 w 101"/>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0">
                    <a:moveTo>
                      <a:pt x="83" y="41"/>
                    </a:moveTo>
                    <a:lnTo>
                      <a:pt x="94" y="41"/>
                    </a:lnTo>
                    <a:lnTo>
                      <a:pt x="10" y="0"/>
                    </a:lnTo>
                    <a:lnTo>
                      <a:pt x="0" y="19"/>
                    </a:lnTo>
                    <a:lnTo>
                      <a:pt x="85" y="60"/>
                    </a:lnTo>
                    <a:lnTo>
                      <a:pt x="96" y="60"/>
                    </a:lnTo>
                    <a:lnTo>
                      <a:pt x="85" y="60"/>
                    </a:lnTo>
                    <a:lnTo>
                      <a:pt x="93" y="60"/>
                    </a:lnTo>
                    <a:lnTo>
                      <a:pt x="99" y="55"/>
                    </a:lnTo>
                    <a:lnTo>
                      <a:pt x="101" y="47"/>
                    </a:lnTo>
                    <a:lnTo>
                      <a:pt x="94" y="41"/>
                    </a:lnTo>
                    <a:lnTo>
                      <a:pt x="83" y="41"/>
                    </a:lnTo>
                    <a:close/>
                  </a:path>
                </a:pathLst>
              </a:custGeom>
              <a:solidFill>
                <a:srgbClr val="000000"/>
              </a:solidFill>
              <a:ln w="9525">
                <a:noFill/>
                <a:round/>
                <a:headEnd/>
                <a:tailEnd/>
              </a:ln>
            </p:spPr>
            <p:txBody>
              <a:bodyPr/>
              <a:lstStyle/>
              <a:p>
                <a:endParaRPr lang="en-US"/>
              </a:p>
            </p:txBody>
          </p:sp>
          <p:sp>
            <p:nvSpPr>
              <p:cNvPr id="24797" name="Freeform 186"/>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62" y="21"/>
                    </a:moveTo>
                    <a:lnTo>
                      <a:pt x="260" y="2"/>
                    </a:lnTo>
                    <a:lnTo>
                      <a:pt x="0" y="152"/>
                    </a:lnTo>
                    <a:lnTo>
                      <a:pt x="13" y="171"/>
                    </a:lnTo>
                    <a:lnTo>
                      <a:pt x="273" y="21"/>
                    </a:lnTo>
                    <a:lnTo>
                      <a:pt x="271" y="2"/>
                    </a:lnTo>
                    <a:lnTo>
                      <a:pt x="273" y="21"/>
                    </a:lnTo>
                    <a:lnTo>
                      <a:pt x="277" y="13"/>
                    </a:lnTo>
                    <a:lnTo>
                      <a:pt x="276" y="5"/>
                    </a:lnTo>
                    <a:lnTo>
                      <a:pt x="270" y="0"/>
                    </a:lnTo>
                    <a:lnTo>
                      <a:pt x="260" y="2"/>
                    </a:lnTo>
                    <a:lnTo>
                      <a:pt x="262" y="21"/>
                    </a:lnTo>
                    <a:close/>
                  </a:path>
                </a:pathLst>
              </a:custGeom>
              <a:solidFill>
                <a:srgbClr val="000000"/>
              </a:solidFill>
              <a:ln w="9525">
                <a:noFill/>
                <a:round/>
                <a:headEnd/>
                <a:tailEnd/>
              </a:ln>
            </p:spPr>
            <p:txBody>
              <a:bodyPr/>
              <a:lstStyle/>
              <a:p>
                <a:endParaRPr lang="en-US"/>
              </a:p>
            </p:txBody>
          </p:sp>
          <p:sp>
            <p:nvSpPr>
              <p:cNvPr id="24798" name="Freeform 187"/>
              <p:cNvSpPr>
                <a:spLocks/>
              </p:cNvSpPr>
              <p:nvPr/>
            </p:nvSpPr>
            <p:spPr bwMode="auto">
              <a:xfrm>
                <a:off x="1797" y="3350"/>
                <a:ext cx="175" cy="82"/>
              </a:xfrm>
              <a:custGeom>
                <a:avLst/>
                <a:gdLst>
                  <a:gd name="T0" fmla="*/ 1 w 349"/>
                  <a:gd name="T1" fmla="*/ 0 h 166"/>
                  <a:gd name="T2" fmla="*/ 1 w 349"/>
                  <a:gd name="T3" fmla="*/ 0 h 166"/>
                  <a:gd name="T4" fmla="*/ 1 w 349"/>
                  <a:gd name="T5" fmla="*/ 0 h 166"/>
                  <a:gd name="T6" fmla="*/ 0 w 349"/>
                  <a:gd name="T7" fmla="*/ 0 h 166"/>
                  <a:gd name="T8" fmla="*/ 1 w 349"/>
                  <a:gd name="T9" fmla="*/ 0 h 166"/>
                  <a:gd name="T10" fmla="*/ 1 w 349"/>
                  <a:gd name="T11" fmla="*/ 0 h 166"/>
                  <a:gd name="T12" fmla="*/ 0 60000 65536"/>
                  <a:gd name="T13" fmla="*/ 0 60000 65536"/>
                  <a:gd name="T14" fmla="*/ 0 60000 65536"/>
                  <a:gd name="T15" fmla="*/ 0 60000 65536"/>
                  <a:gd name="T16" fmla="*/ 0 60000 65536"/>
                  <a:gd name="T17" fmla="*/ 0 60000 65536"/>
                  <a:gd name="T18" fmla="*/ 0 w 349"/>
                  <a:gd name="T19" fmla="*/ 0 h 166"/>
                  <a:gd name="T20" fmla="*/ 349 w 349"/>
                  <a:gd name="T21" fmla="*/ 166 h 166"/>
                </a:gdLst>
                <a:ahLst/>
                <a:cxnLst>
                  <a:cxn ang="T12">
                    <a:pos x="T0" y="T1"/>
                  </a:cxn>
                  <a:cxn ang="T13">
                    <a:pos x="T2" y="T3"/>
                  </a:cxn>
                  <a:cxn ang="T14">
                    <a:pos x="T4" y="T5"/>
                  </a:cxn>
                  <a:cxn ang="T15">
                    <a:pos x="T6" y="T7"/>
                  </a:cxn>
                  <a:cxn ang="T16">
                    <a:pos x="T8" y="T9"/>
                  </a:cxn>
                  <a:cxn ang="T17">
                    <a:pos x="T10" y="T11"/>
                  </a:cxn>
                </a:cxnLst>
                <a:rect l="T18" t="T19" r="T20" b="T21"/>
                <a:pathLst>
                  <a:path w="349" h="166">
                    <a:moveTo>
                      <a:pt x="349" y="9"/>
                    </a:moveTo>
                    <a:lnTo>
                      <a:pt x="110" y="149"/>
                    </a:lnTo>
                    <a:lnTo>
                      <a:pt x="108" y="166"/>
                    </a:lnTo>
                    <a:lnTo>
                      <a:pt x="0" y="157"/>
                    </a:lnTo>
                    <a:lnTo>
                      <a:pt x="266" y="0"/>
                    </a:lnTo>
                    <a:lnTo>
                      <a:pt x="349" y="9"/>
                    </a:lnTo>
                    <a:close/>
                  </a:path>
                </a:pathLst>
              </a:custGeom>
              <a:solidFill>
                <a:srgbClr val="99D8FF"/>
              </a:solidFill>
              <a:ln w="9525">
                <a:noFill/>
                <a:round/>
                <a:headEnd/>
                <a:tailEnd/>
              </a:ln>
            </p:spPr>
            <p:txBody>
              <a:bodyPr/>
              <a:lstStyle/>
              <a:p>
                <a:endParaRPr lang="en-US"/>
              </a:p>
            </p:txBody>
          </p:sp>
          <p:sp>
            <p:nvSpPr>
              <p:cNvPr id="24799" name="Freeform 188"/>
              <p:cNvSpPr>
                <a:spLocks/>
              </p:cNvSpPr>
              <p:nvPr/>
            </p:nvSpPr>
            <p:spPr bwMode="auto">
              <a:xfrm>
                <a:off x="1847" y="3350"/>
                <a:ext cx="127" cy="79"/>
              </a:xfrm>
              <a:custGeom>
                <a:avLst/>
                <a:gdLst>
                  <a:gd name="T0" fmla="*/ 0 w 255"/>
                  <a:gd name="T1" fmla="*/ 1 h 158"/>
                  <a:gd name="T2" fmla="*/ 0 w 255"/>
                  <a:gd name="T3" fmla="*/ 1 h 158"/>
                  <a:gd name="T4" fmla="*/ 0 w 255"/>
                  <a:gd name="T5" fmla="*/ 1 h 158"/>
                  <a:gd name="T6" fmla="*/ 0 w 255"/>
                  <a:gd name="T7" fmla="*/ 0 h 158"/>
                  <a:gd name="T8" fmla="*/ 0 w 255"/>
                  <a:gd name="T9" fmla="*/ 1 h 158"/>
                  <a:gd name="T10" fmla="*/ 0 w 255"/>
                  <a:gd name="T11" fmla="*/ 1 h 158"/>
                  <a:gd name="T12" fmla="*/ 0 w 255"/>
                  <a:gd name="T13" fmla="*/ 1 h 158"/>
                  <a:gd name="T14" fmla="*/ 0 w 255"/>
                  <a:gd name="T15" fmla="*/ 1 h 158"/>
                  <a:gd name="T16" fmla="*/ 0 w 255"/>
                  <a:gd name="T17" fmla="*/ 1 h 158"/>
                  <a:gd name="T18" fmla="*/ 0 w 255"/>
                  <a:gd name="T19" fmla="*/ 1 h 158"/>
                  <a:gd name="T20" fmla="*/ 0 w 255"/>
                  <a:gd name="T21" fmla="*/ 1 h 158"/>
                  <a:gd name="T22" fmla="*/ 0 w 255"/>
                  <a:gd name="T23" fmla="*/ 1 h 1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5"/>
                  <a:gd name="T37" fmla="*/ 0 h 158"/>
                  <a:gd name="T38" fmla="*/ 255 w 255"/>
                  <a:gd name="T39" fmla="*/ 158 h 1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5" h="158">
                    <a:moveTo>
                      <a:pt x="22" y="150"/>
                    </a:moveTo>
                    <a:lnTo>
                      <a:pt x="15" y="158"/>
                    </a:lnTo>
                    <a:lnTo>
                      <a:pt x="255" y="19"/>
                    </a:lnTo>
                    <a:lnTo>
                      <a:pt x="245" y="0"/>
                    </a:lnTo>
                    <a:lnTo>
                      <a:pt x="6" y="139"/>
                    </a:lnTo>
                    <a:lnTo>
                      <a:pt x="0" y="147"/>
                    </a:lnTo>
                    <a:lnTo>
                      <a:pt x="6" y="139"/>
                    </a:lnTo>
                    <a:lnTo>
                      <a:pt x="0" y="146"/>
                    </a:lnTo>
                    <a:lnTo>
                      <a:pt x="1" y="153"/>
                    </a:lnTo>
                    <a:lnTo>
                      <a:pt x="7" y="158"/>
                    </a:lnTo>
                    <a:lnTo>
                      <a:pt x="15" y="158"/>
                    </a:lnTo>
                    <a:lnTo>
                      <a:pt x="22" y="150"/>
                    </a:lnTo>
                    <a:close/>
                  </a:path>
                </a:pathLst>
              </a:custGeom>
              <a:solidFill>
                <a:srgbClr val="000000"/>
              </a:solidFill>
              <a:ln w="9525">
                <a:noFill/>
                <a:round/>
                <a:headEnd/>
                <a:tailEnd/>
              </a:ln>
            </p:spPr>
            <p:txBody>
              <a:bodyPr/>
              <a:lstStyle/>
              <a:p>
                <a:endParaRPr lang="en-US"/>
              </a:p>
            </p:txBody>
          </p:sp>
          <p:sp>
            <p:nvSpPr>
              <p:cNvPr id="24800" name="Freeform 189"/>
              <p:cNvSpPr>
                <a:spLocks/>
              </p:cNvSpPr>
              <p:nvPr/>
            </p:nvSpPr>
            <p:spPr bwMode="auto">
              <a:xfrm>
                <a:off x="1846" y="3423"/>
                <a:ext cx="12" cy="15"/>
              </a:xfrm>
              <a:custGeom>
                <a:avLst/>
                <a:gdLst>
                  <a:gd name="T0" fmla="*/ 1 w 24"/>
                  <a:gd name="T1" fmla="*/ 1 h 30"/>
                  <a:gd name="T2" fmla="*/ 1 w 24"/>
                  <a:gd name="T3" fmla="*/ 1 h 30"/>
                  <a:gd name="T4" fmla="*/ 1 w 24"/>
                  <a:gd name="T5" fmla="*/ 1 h 30"/>
                  <a:gd name="T6" fmla="*/ 1 w 24"/>
                  <a:gd name="T7" fmla="*/ 0 h 30"/>
                  <a:gd name="T8" fmla="*/ 0 w 24"/>
                  <a:gd name="T9" fmla="*/ 1 h 30"/>
                  <a:gd name="T10" fmla="*/ 1 w 24"/>
                  <a:gd name="T11" fmla="*/ 1 h 30"/>
                  <a:gd name="T12" fmla="*/ 0 w 24"/>
                  <a:gd name="T13" fmla="*/ 1 h 30"/>
                  <a:gd name="T14" fmla="*/ 1 w 24"/>
                  <a:gd name="T15" fmla="*/ 1 h 30"/>
                  <a:gd name="T16" fmla="*/ 1 w 24"/>
                  <a:gd name="T17" fmla="*/ 1 h 30"/>
                  <a:gd name="T18" fmla="*/ 1 w 24"/>
                  <a:gd name="T19" fmla="*/ 1 h 30"/>
                  <a:gd name="T20" fmla="*/ 1 w 24"/>
                  <a:gd name="T21" fmla="*/ 1 h 30"/>
                  <a:gd name="T22" fmla="*/ 1 w 24"/>
                  <a:gd name="T23" fmla="*/ 1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0"/>
                  <a:gd name="T38" fmla="*/ 24 w 24"/>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0">
                    <a:moveTo>
                      <a:pt x="9" y="30"/>
                    </a:moveTo>
                    <a:lnTo>
                      <a:pt x="22" y="21"/>
                    </a:lnTo>
                    <a:lnTo>
                      <a:pt x="24" y="3"/>
                    </a:lnTo>
                    <a:lnTo>
                      <a:pt x="2" y="0"/>
                    </a:lnTo>
                    <a:lnTo>
                      <a:pt x="0" y="17"/>
                    </a:lnTo>
                    <a:lnTo>
                      <a:pt x="13" y="8"/>
                    </a:lnTo>
                    <a:lnTo>
                      <a:pt x="0" y="17"/>
                    </a:lnTo>
                    <a:lnTo>
                      <a:pt x="3" y="25"/>
                    </a:lnTo>
                    <a:lnTo>
                      <a:pt x="9" y="30"/>
                    </a:lnTo>
                    <a:lnTo>
                      <a:pt x="17" y="28"/>
                    </a:lnTo>
                    <a:lnTo>
                      <a:pt x="22" y="21"/>
                    </a:lnTo>
                    <a:lnTo>
                      <a:pt x="9" y="30"/>
                    </a:lnTo>
                    <a:close/>
                  </a:path>
                </a:pathLst>
              </a:custGeom>
              <a:solidFill>
                <a:srgbClr val="000000"/>
              </a:solidFill>
              <a:ln w="9525">
                <a:noFill/>
                <a:round/>
                <a:headEnd/>
                <a:tailEnd/>
              </a:ln>
            </p:spPr>
            <p:txBody>
              <a:bodyPr/>
              <a:lstStyle/>
              <a:p>
                <a:endParaRPr lang="en-US"/>
              </a:p>
            </p:txBody>
          </p:sp>
          <p:sp>
            <p:nvSpPr>
              <p:cNvPr id="24801" name="Freeform 190"/>
              <p:cNvSpPr>
                <a:spLocks/>
              </p:cNvSpPr>
              <p:nvPr/>
            </p:nvSpPr>
            <p:spPr bwMode="auto">
              <a:xfrm>
                <a:off x="1792" y="3422"/>
                <a:ext cx="60" cy="16"/>
              </a:xfrm>
              <a:custGeom>
                <a:avLst/>
                <a:gdLst>
                  <a:gd name="T0" fmla="*/ 0 w 121"/>
                  <a:gd name="T1" fmla="*/ 1 h 31"/>
                  <a:gd name="T2" fmla="*/ 0 w 121"/>
                  <a:gd name="T3" fmla="*/ 1 h 31"/>
                  <a:gd name="T4" fmla="*/ 0 w 121"/>
                  <a:gd name="T5" fmla="*/ 1 h 31"/>
                  <a:gd name="T6" fmla="*/ 0 w 121"/>
                  <a:gd name="T7" fmla="*/ 1 h 31"/>
                  <a:gd name="T8" fmla="*/ 0 w 121"/>
                  <a:gd name="T9" fmla="*/ 0 h 31"/>
                  <a:gd name="T10" fmla="*/ 0 w 121"/>
                  <a:gd name="T11" fmla="*/ 1 h 31"/>
                  <a:gd name="T12" fmla="*/ 0 w 121"/>
                  <a:gd name="T13" fmla="*/ 0 h 31"/>
                  <a:gd name="T14" fmla="*/ 0 w 121"/>
                  <a:gd name="T15" fmla="*/ 1 h 31"/>
                  <a:gd name="T16" fmla="*/ 0 w 121"/>
                  <a:gd name="T17" fmla="*/ 1 h 31"/>
                  <a:gd name="T18" fmla="*/ 0 w 121"/>
                  <a:gd name="T19" fmla="*/ 1 h 31"/>
                  <a:gd name="T20" fmla="*/ 0 w 121"/>
                  <a:gd name="T21" fmla="*/ 1 h 31"/>
                  <a:gd name="T22" fmla="*/ 0 w 121"/>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
                  <a:gd name="T37" fmla="*/ 0 h 31"/>
                  <a:gd name="T38" fmla="*/ 121 w 12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 h="31">
                    <a:moveTo>
                      <a:pt x="5" y="1"/>
                    </a:moveTo>
                    <a:lnTo>
                      <a:pt x="9" y="22"/>
                    </a:lnTo>
                    <a:lnTo>
                      <a:pt x="117" y="31"/>
                    </a:lnTo>
                    <a:lnTo>
                      <a:pt x="121" y="9"/>
                    </a:lnTo>
                    <a:lnTo>
                      <a:pt x="13" y="0"/>
                    </a:lnTo>
                    <a:lnTo>
                      <a:pt x="17" y="20"/>
                    </a:lnTo>
                    <a:lnTo>
                      <a:pt x="13" y="0"/>
                    </a:lnTo>
                    <a:lnTo>
                      <a:pt x="5" y="3"/>
                    </a:lnTo>
                    <a:lnTo>
                      <a:pt x="0" y="9"/>
                    </a:lnTo>
                    <a:lnTo>
                      <a:pt x="2" y="17"/>
                    </a:lnTo>
                    <a:lnTo>
                      <a:pt x="9" y="22"/>
                    </a:lnTo>
                    <a:lnTo>
                      <a:pt x="5" y="1"/>
                    </a:lnTo>
                    <a:close/>
                  </a:path>
                </a:pathLst>
              </a:custGeom>
              <a:solidFill>
                <a:srgbClr val="000000"/>
              </a:solidFill>
              <a:ln w="9525">
                <a:noFill/>
                <a:round/>
                <a:headEnd/>
                <a:tailEnd/>
              </a:ln>
            </p:spPr>
            <p:txBody>
              <a:bodyPr/>
              <a:lstStyle/>
              <a:p>
                <a:endParaRPr lang="en-US"/>
              </a:p>
            </p:txBody>
          </p:sp>
          <p:sp>
            <p:nvSpPr>
              <p:cNvPr id="24802" name="Freeform 191"/>
              <p:cNvSpPr>
                <a:spLocks/>
              </p:cNvSpPr>
              <p:nvPr/>
            </p:nvSpPr>
            <p:spPr bwMode="auto">
              <a:xfrm>
                <a:off x="1794" y="3344"/>
                <a:ext cx="142" cy="88"/>
              </a:xfrm>
              <a:custGeom>
                <a:avLst/>
                <a:gdLst>
                  <a:gd name="T0" fmla="*/ 1 w 283"/>
                  <a:gd name="T1" fmla="*/ 0 h 177"/>
                  <a:gd name="T2" fmla="*/ 1 w 283"/>
                  <a:gd name="T3" fmla="*/ 0 h 177"/>
                  <a:gd name="T4" fmla="*/ 0 w 283"/>
                  <a:gd name="T5" fmla="*/ 0 h 177"/>
                  <a:gd name="T6" fmla="*/ 1 w 283"/>
                  <a:gd name="T7" fmla="*/ 0 h 177"/>
                  <a:gd name="T8" fmla="*/ 1 w 283"/>
                  <a:gd name="T9" fmla="*/ 0 h 177"/>
                  <a:gd name="T10" fmla="*/ 1 w 283"/>
                  <a:gd name="T11" fmla="*/ 0 h 177"/>
                  <a:gd name="T12" fmla="*/ 1 w 283"/>
                  <a:gd name="T13" fmla="*/ 0 h 177"/>
                  <a:gd name="T14" fmla="*/ 1 w 283"/>
                  <a:gd name="T15" fmla="*/ 0 h 177"/>
                  <a:gd name="T16" fmla="*/ 1 w 283"/>
                  <a:gd name="T17" fmla="*/ 0 h 177"/>
                  <a:gd name="T18" fmla="*/ 1 w 283"/>
                  <a:gd name="T19" fmla="*/ 0 h 177"/>
                  <a:gd name="T20" fmla="*/ 1 w 283"/>
                  <a:gd name="T21" fmla="*/ 0 h 177"/>
                  <a:gd name="T22" fmla="*/ 1 w 283"/>
                  <a:gd name="T23" fmla="*/ 0 h 1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3"/>
                  <a:gd name="T37" fmla="*/ 0 h 177"/>
                  <a:gd name="T38" fmla="*/ 283 w 283"/>
                  <a:gd name="T39" fmla="*/ 177 h 1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3" h="177">
                    <a:moveTo>
                      <a:pt x="274" y="0"/>
                    </a:moveTo>
                    <a:lnTo>
                      <a:pt x="266" y="2"/>
                    </a:lnTo>
                    <a:lnTo>
                      <a:pt x="0" y="158"/>
                    </a:lnTo>
                    <a:lnTo>
                      <a:pt x="12" y="177"/>
                    </a:lnTo>
                    <a:lnTo>
                      <a:pt x="278" y="20"/>
                    </a:lnTo>
                    <a:lnTo>
                      <a:pt x="271" y="22"/>
                    </a:lnTo>
                    <a:lnTo>
                      <a:pt x="278" y="20"/>
                    </a:lnTo>
                    <a:lnTo>
                      <a:pt x="283" y="13"/>
                    </a:lnTo>
                    <a:lnTo>
                      <a:pt x="282" y="5"/>
                    </a:lnTo>
                    <a:lnTo>
                      <a:pt x="275" y="0"/>
                    </a:lnTo>
                    <a:lnTo>
                      <a:pt x="266" y="2"/>
                    </a:lnTo>
                    <a:lnTo>
                      <a:pt x="274" y="0"/>
                    </a:lnTo>
                    <a:close/>
                  </a:path>
                </a:pathLst>
              </a:custGeom>
              <a:solidFill>
                <a:srgbClr val="000000"/>
              </a:solidFill>
              <a:ln w="9525">
                <a:noFill/>
                <a:round/>
                <a:headEnd/>
                <a:tailEnd/>
              </a:ln>
            </p:spPr>
            <p:txBody>
              <a:bodyPr/>
              <a:lstStyle/>
              <a:p>
                <a:endParaRPr lang="en-US"/>
              </a:p>
            </p:txBody>
          </p:sp>
          <p:sp>
            <p:nvSpPr>
              <p:cNvPr id="24803" name="Freeform 192"/>
              <p:cNvSpPr>
                <a:spLocks/>
              </p:cNvSpPr>
              <p:nvPr/>
            </p:nvSpPr>
            <p:spPr bwMode="auto">
              <a:xfrm>
                <a:off x="1930" y="3344"/>
                <a:ext cx="48" cy="16"/>
              </a:xfrm>
              <a:custGeom>
                <a:avLst/>
                <a:gdLst>
                  <a:gd name="T0" fmla="*/ 1 w 95"/>
                  <a:gd name="T1" fmla="*/ 1 h 31"/>
                  <a:gd name="T2" fmla="*/ 1 w 95"/>
                  <a:gd name="T3" fmla="*/ 1 h 31"/>
                  <a:gd name="T4" fmla="*/ 1 w 95"/>
                  <a:gd name="T5" fmla="*/ 0 h 31"/>
                  <a:gd name="T6" fmla="*/ 0 w 95"/>
                  <a:gd name="T7" fmla="*/ 1 h 31"/>
                  <a:gd name="T8" fmla="*/ 1 w 95"/>
                  <a:gd name="T9" fmla="*/ 1 h 31"/>
                  <a:gd name="T10" fmla="*/ 1 w 95"/>
                  <a:gd name="T11" fmla="*/ 1 h 31"/>
                  <a:gd name="T12" fmla="*/ 1 w 95"/>
                  <a:gd name="T13" fmla="*/ 1 h 31"/>
                  <a:gd name="T14" fmla="*/ 1 w 95"/>
                  <a:gd name="T15" fmla="*/ 1 h 31"/>
                  <a:gd name="T16" fmla="*/ 1 w 95"/>
                  <a:gd name="T17" fmla="*/ 1 h 31"/>
                  <a:gd name="T18" fmla="*/ 1 w 95"/>
                  <a:gd name="T19" fmla="*/ 1 h 31"/>
                  <a:gd name="T20" fmla="*/ 1 w 95"/>
                  <a:gd name="T21" fmla="*/ 1 h 31"/>
                  <a:gd name="T22" fmla="*/ 1 w 95"/>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5"/>
                  <a:gd name="T37" fmla="*/ 0 h 31"/>
                  <a:gd name="T38" fmla="*/ 95 w 95"/>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5" h="31">
                    <a:moveTo>
                      <a:pt x="89" y="30"/>
                    </a:moveTo>
                    <a:lnTo>
                      <a:pt x="86" y="10"/>
                    </a:lnTo>
                    <a:lnTo>
                      <a:pt x="3" y="0"/>
                    </a:lnTo>
                    <a:lnTo>
                      <a:pt x="0" y="22"/>
                    </a:lnTo>
                    <a:lnTo>
                      <a:pt x="83" y="31"/>
                    </a:lnTo>
                    <a:lnTo>
                      <a:pt x="79" y="11"/>
                    </a:lnTo>
                    <a:lnTo>
                      <a:pt x="83" y="31"/>
                    </a:lnTo>
                    <a:lnTo>
                      <a:pt x="90" y="28"/>
                    </a:lnTo>
                    <a:lnTo>
                      <a:pt x="95" y="22"/>
                    </a:lnTo>
                    <a:lnTo>
                      <a:pt x="94" y="14"/>
                    </a:lnTo>
                    <a:lnTo>
                      <a:pt x="86" y="10"/>
                    </a:lnTo>
                    <a:lnTo>
                      <a:pt x="89" y="30"/>
                    </a:lnTo>
                    <a:close/>
                  </a:path>
                </a:pathLst>
              </a:custGeom>
              <a:solidFill>
                <a:srgbClr val="000000"/>
              </a:solidFill>
              <a:ln w="9525">
                <a:noFill/>
                <a:round/>
                <a:headEnd/>
                <a:tailEnd/>
              </a:ln>
            </p:spPr>
            <p:txBody>
              <a:bodyPr/>
              <a:lstStyle/>
              <a:p>
                <a:endParaRPr lang="en-US"/>
              </a:p>
            </p:txBody>
          </p:sp>
          <p:sp>
            <p:nvSpPr>
              <p:cNvPr id="24804" name="Freeform 193"/>
              <p:cNvSpPr>
                <a:spLocks/>
              </p:cNvSpPr>
              <p:nvPr/>
            </p:nvSpPr>
            <p:spPr bwMode="auto">
              <a:xfrm>
                <a:off x="2152" y="3416"/>
                <a:ext cx="83" cy="90"/>
              </a:xfrm>
              <a:custGeom>
                <a:avLst/>
                <a:gdLst>
                  <a:gd name="T0" fmla="*/ 1 w 166"/>
                  <a:gd name="T1" fmla="*/ 1 h 180"/>
                  <a:gd name="T2" fmla="*/ 1 w 166"/>
                  <a:gd name="T3" fmla="*/ 1 h 180"/>
                  <a:gd name="T4" fmla="*/ 1 w 166"/>
                  <a:gd name="T5" fmla="*/ 1 h 180"/>
                  <a:gd name="T6" fmla="*/ 1 w 166"/>
                  <a:gd name="T7" fmla="*/ 1 h 180"/>
                  <a:gd name="T8" fmla="*/ 1 w 166"/>
                  <a:gd name="T9" fmla="*/ 1 h 180"/>
                  <a:gd name="T10" fmla="*/ 1 w 166"/>
                  <a:gd name="T11" fmla="*/ 1 h 180"/>
                  <a:gd name="T12" fmla="*/ 1 w 166"/>
                  <a:gd name="T13" fmla="*/ 1 h 180"/>
                  <a:gd name="T14" fmla="*/ 1 w 166"/>
                  <a:gd name="T15" fmla="*/ 1 h 180"/>
                  <a:gd name="T16" fmla="*/ 1 w 166"/>
                  <a:gd name="T17" fmla="*/ 1 h 180"/>
                  <a:gd name="T18" fmla="*/ 1 w 166"/>
                  <a:gd name="T19" fmla="*/ 1 h 180"/>
                  <a:gd name="T20" fmla="*/ 1 w 166"/>
                  <a:gd name="T21" fmla="*/ 1 h 180"/>
                  <a:gd name="T22" fmla="*/ 1 w 166"/>
                  <a:gd name="T23" fmla="*/ 1 h 180"/>
                  <a:gd name="T24" fmla="*/ 1 w 166"/>
                  <a:gd name="T25" fmla="*/ 1 h 180"/>
                  <a:gd name="T26" fmla="*/ 1 w 166"/>
                  <a:gd name="T27" fmla="*/ 1 h 180"/>
                  <a:gd name="T28" fmla="*/ 1 w 166"/>
                  <a:gd name="T29" fmla="*/ 0 h 180"/>
                  <a:gd name="T30" fmla="*/ 1 w 166"/>
                  <a:gd name="T31" fmla="*/ 0 h 180"/>
                  <a:gd name="T32" fmla="*/ 1 w 166"/>
                  <a:gd name="T33" fmla="*/ 0 h 180"/>
                  <a:gd name="T34" fmla="*/ 1 w 166"/>
                  <a:gd name="T35" fmla="*/ 0 h 180"/>
                  <a:gd name="T36" fmla="*/ 1 w 166"/>
                  <a:gd name="T37" fmla="*/ 1 h 180"/>
                  <a:gd name="T38" fmla="*/ 1 w 166"/>
                  <a:gd name="T39" fmla="*/ 1 h 180"/>
                  <a:gd name="T40" fmla="*/ 0 w 166"/>
                  <a:gd name="T41" fmla="*/ 1 h 180"/>
                  <a:gd name="T42" fmla="*/ 0 w 166"/>
                  <a:gd name="T43" fmla="*/ 1 h 180"/>
                  <a:gd name="T44" fmla="*/ 1 w 166"/>
                  <a:gd name="T45" fmla="*/ 1 h 180"/>
                  <a:gd name="T46" fmla="*/ 1 w 166"/>
                  <a:gd name="T47" fmla="*/ 1 h 180"/>
                  <a:gd name="T48" fmla="*/ 1 w 166"/>
                  <a:gd name="T49" fmla="*/ 1 h 180"/>
                  <a:gd name="T50" fmla="*/ 1 w 166"/>
                  <a:gd name="T51" fmla="*/ 1 h 180"/>
                  <a:gd name="T52" fmla="*/ 1 w 166"/>
                  <a:gd name="T53" fmla="*/ 1 h 180"/>
                  <a:gd name="T54" fmla="*/ 1 w 166"/>
                  <a:gd name="T55" fmla="*/ 1 h 180"/>
                  <a:gd name="T56" fmla="*/ 1 w 166"/>
                  <a:gd name="T57" fmla="*/ 1 h 180"/>
                  <a:gd name="T58" fmla="*/ 1 w 166"/>
                  <a:gd name="T59" fmla="*/ 1 h 180"/>
                  <a:gd name="T60" fmla="*/ 1 w 166"/>
                  <a:gd name="T61" fmla="*/ 1 h 180"/>
                  <a:gd name="T62" fmla="*/ 1 w 166"/>
                  <a:gd name="T63" fmla="*/ 1 h 180"/>
                  <a:gd name="T64" fmla="*/ 1 w 166"/>
                  <a:gd name="T65" fmla="*/ 1 h 180"/>
                  <a:gd name="T66" fmla="*/ 1 w 166"/>
                  <a:gd name="T67" fmla="*/ 1 h 18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6"/>
                  <a:gd name="T103" fmla="*/ 0 h 180"/>
                  <a:gd name="T104" fmla="*/ 166 w 166"/>
                  <a:gd name="T105" fmla="*/ 180 h 18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6" h="180">
                    <a:moveTo>
                      <a:pt x="72" y="180"/>
                    </a:moveTo>
                    <a:lnTo>
                      <a:pt x="77" y="180"/>
                    </a:lnTo>
                    <a:lnTo>
                      <a:pt x="88" y="180"/>
                    </a:lnTo>
                    <a:lnTo>
                      <a:pt x="100" y="180"/>
                    </a:lnTo>
                    <a:lnTo>
                      <a:pt x="111" y="178"/>
                    </a:lnTo>
                    <a:lnTo>
                      <a:pt x="119" y="177"/>
                    </a:lnTo>
                    <a:lnTo>
                      <a:pt x="124" y="174"/>
                    </a:lnTo>
                    <a:lnTo>
                      <a:pt x="130" y="171"/>
                    </a:lnTo>
                    <a:lnTo>
                      <a:pt x="135" y="169"/>
                    </a:lnTo>
                    <a:lnTo>
                      <a:pt x="140" y="169"/>
                    </a:lnTo>
                    <a:lnTo>
                      <a:pt x="146" y="169"/>
                    </a:lnTo>
                    <a:lnTo>
                      <a:pt x="151" y="169"/>
                    </a:lnTo>
                    <a:lnTo>
                      <a:pt x="152" y="169"/>
                    </a:lnTo>
                    <a:lnTo>
                      <a:pt x="154" y="164"/>
                    </a:lnTo>
                    <a:lnTo>
                      <a:pt x="157" y="153"/>
                    </a:lnTo>
                    <a:lnTo>
                      <a:pt x="160" y="141"/>
                    </a:lnTo>
                    <a:lnTo>
                      <a:pt x="162" y="128"/>
                    </a:lnTo>
                    <a:lnTo>
                      <a:pt x="162" y="121"/>
                    </a:lnTo>
                    <a:lnTo>
                      <a:pt x="163" y="106"/>
                    </a:lnTo>
                    <a:lnTo>
                      <a:pt x="165" y="89"/>
                    </a:lnTo>
                    <a:lnTo>
                      <a:pt x="166" y="70"/>
                    </a:lnTo>
                    <a:lnTo>
                      <a:pt x="166" y="52"/>
                    </a:lnTo>
                    <a:lnTo>
                      <a:pt x="163" y="35"/>
                    </a:lnTo>
                    <a:lnTo>
                      <a:pt x="158" y="20"/>
                    </a:lnTo>
                    <a:lnTo>
                      <a:pt x="151" y="13"/>
                    </a:lnTo>
                    <a:lnTo>
                      <a:pt x="141" y="8"/>
                    </a:lnTo>
                    <a:lnTo>
                      <a:pt x="130" y="5"/>
                    </a:lnTo>
                    <a:lnTo>
                      <a:pt x="121" y="3"/>
                    </a:lnTo>
                    <a:lnTo>
                      <a:pt x="111" y="2"/>
                    </a:lnTo>
                    <a:lnTo>
                      <a:pt x="104" y="0"/>
                    </a:lnTo>
                    <a:lnTo>
                      <a:pt x="96" y="0"/>
                    </a:lnTo>
                    <a:lnTo>
                      <a:pt x="88" y="0"/>
                    </a:lnTo>
                    <a:lnTo>
                      <a:pt x="83" y="0"/>
                    </a:lnTo>
                    <a:lnTo>
                      <a:pt x="77" y="0"/>
                    </a:lnTo>
                    <a:lnTo>
                      <a:pt x="68" y="0"/>
                    </a:lnTo>
                    <a:lnTo>
                      <a:pt x="57" y="0"/>
                    </a:lnTo>
                    <a:lnTo>
                      <a:pt x="44" y="2"/>
                    </a:lnTo>
                    <a:lnTo>
                      <a:pt x="30" y="5"/>
                    </a:lnTo>
                    <a:lnTo>
                      <a:pt x="19" y="8"/>
                    </a:lnTo>
                    <a:lnTo>
                      <a:pt x="10" y="14"/>
                    </a:lnTo>
                    <a:lnTo>
                      <a:pt x="3" y="22"/>
                    </a:lnTo>
                    <a:lnTo>
                      <a:pt x="0" y="30"/>
                    </a:lnTo>
                    <a:lnTo>
                      <a:pt x="0" y="38"/>
                    </a:lnTo>
                    <a:lnTo>
                      <a:pt x="0" y="45"/>
                    </a:lnTo>
                    <a:lnTo>
                      <a:pt x="2" y="53"/>
                    </a:lnTo>
                    <a:lnTo>
                      <a:pt x="3" y="60"/>
                    </a:lnTo>
                    <a:lnTo>
                      <a:pt x="5" y="66"/>
                    </a:lnTo>
                    <a:lnTo>
                      <a:pt x="8" y="70"/>
                    </a:lnTo>
                    <a:lnTo>
                      <a:pt x="10" y="74"/>
                    </a:lnTo>
                    <a:lnTo>
                      <a:pt x="14" y="80"/>
                    </a:lnTo>
                    <a:lnTo>
                      <a:pt x="19" y="88"/>
                    </a:lnTo>
                    <a:lnTo>
                      <a:pt x="22" y="96"/>
                    </a:lnTo>
                    <a:lnTo>
                      <a:pt x="24" y="102"/>
                    </a:lnTo>
                    <a:lnTo>
                      <a:pt x="24" y="106"/>
                    </a:lnTo>
                    <a:lnTo>
                      <a:pt x="24" y="113"/>
                    </a:lnTo>
                    <a:lnTo>
                      <a:pt x="24" y="119"/>
                    </a:lnTo>
                    <a:lnTo>
                      <a:pt x="24" y="121"/>
                    </a:lnTo>
                    <a:lnTo>
                      <a:pt x="25" y="121"/>
                    </a:lnTo>
                    <a:lnTo>
                      <a:pt x="30" y="122"/>
                    </a:lnTo>
                    <a:lnTo>
                      <a:pt x="35" y="122"/>
                    </a:lnTo>
                    <a:lnTo>
                      <a:pt x="41" y="124"/>
                    </a:lnTo>
                    <a:lnTo>
                      <a:pt x="46" y="127"/>
                    </a:lnTo>
                    <a:lnTo>
                      <a:pt x="49" y="133"/>
                    </a:lnTo>
                    <a:lnTo>
                      <a:pt x="53" y="142"/>
                    </a:lnTo>
                    <a:lnTo>
                      <a:pt x="57" y="152"/>
                    </a:lnTo>
                    <a:lnTo>
                      <a:pt x="61" y="163"/>
                    </a:lnTo>
                    <a:lnTo>
                      <a:pt x="66" y="171"/>
                    </a:lnTo>
                    <a:lnTo>
                      <a:pt x="71" y="177"/>
                    </a:lnTo>
                    <a:lnTo>
                      <a:pt x="72" y="180"/>
                    </a:lnTo>
                    <a:close/>
                  </a:path>
                </a:pathLst>
              </a:custGeom>
              <a:solidFill>
                <a:srgbClr val="994C19"/>
              </a:solidFill>
              <a:ln w="9525">
                <a:noFill/>
                <a:round/>
                <a:headEnd/>
                <a:tailEnd/>
              </a:ln>
            </p:spPr>
            <p:txBody>
              <a:bodyPr/>
              <a:lstStyle/>
              <a:p>
                <a:endParaRPr lang="en-US"/>
              </a:p>
            </p:txBody>
          </p:sp>
          <p:sp>
            <p:nvSpPr>
              <p:cNvPr id="24805" name="Freeform 194"/>
              <p:cNvSpPr>
                <a:spLocks/>
              </p:cNvSpPr>
              <p:nvPr/>
            </p:nvSpPr>
            <p:spPr bwMode="auto">
              <a:xfrm>
                <a:off x="2188" y="3500"/>
                <a:ext cx="20" cy="11"/>
              </a:xfrm>
              <a:custGeom>
                <a:avLst/>
                <a:gdLst>
                  <a:gd name="T0" fmla="*/ 0 w 41"/>
                  <a:gd name="T1" fmla="*/ 0 h 24"/>
                  <a:gd name="T2" fmla="*/ 0 w 41"/>
                  <a:gd name="T3" fmla="*/ 0 h 24"/>
                  <a:gd name="T4" fmla="*/ 0 w 41"/>
                  <a:gd name="T5" fmla="*/ 0 h 24"/>
                  <a:gd name="T6" fmla="*/ 0 w 41"/>
                  <a:gd name="T7" fmla="*/ 0 h 24"/>
                  <a:gd name="T8" fmla="*/ 0 w 41"/>
                  <a:gd name="T9" fmla="*/ 0 h 24"/>
                  <a:gd name="T10" fmla="*/ 0 w 41"/>
                  <a:gd name="T11" fmla="*/ 0 h 24"/>
                  <a:gd name="T12" fmla="*/ 0 w 41"/>
                  <a:gd name="T13" fmla="*/ 0 h 24"/>
                  <a:gd name="T14" fmla="*/ 0 w 41"/>
                  <a:gd name="T15" fmla="*/ 0 h 24"/>
                  <a:gd name="T16" fmla="*/ 0 w 41"/>
                  <a:gd name="T17" fmla="*/ 0 h 24"/>
                  <a:gd name="T18" fmla="*/ 0 w 41"/>
                  <a:gd name="T19" fmla="*/ 0 h 24"/>
                  <a:gd name="T20" fmla="*/ 0 w 41"/>
                  <a:gd name="T21" fmla="*/ 0 h 24"/>
                  <a:gd name="T22" fmla="*/ 0 w 41"/>
                  <a:gd name="T23" fmla="*/ 0 h 24"/>
                  <a:gd name="T24" fmla="*/ 0 w 41"/>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
                  <a:gd name="T40" fmla="*/ 0 h 24"/>
                  <a:gd name="T41" fmla="*/ 41 w 41"/>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 h="24">
                    <a:moveTo>
                      <a:pt x="38" y="0"/>
                    </a:moveTo>
                    <a:lnTo>
                      <a:pt x="38" y="0"/>
                    </a:lnTo>
                    <a:lnTo>
                      <a:pt x="28" y="2"/>
                    </a:lnTo>
                    <a:lnTo>
                      <a:pt x="16" y="2"/>
                    </a:lnTo>
                    <a:lnTo>
                      <a:pt x="5" y="2"/>
                    </a:lnTo>
                    <a:lnTo>
                      <a:pt x="0" y="2"/>
                    </a:lnTo>
                    <a:lnTo>
                      <a:pt x="0" y="24"/>
                    </a:lnTo>
                    <a:lnTo>
                      <a:pt x="5" y="24"/>
                    </a:lnTo>
                    <a:lnTo>
                      <a:pt x="16" y="24"/>
                    </a:lnTo>
                    <a:lnTo>
                      <a:pt x="28" y="24"/>
                    </a:lnTo>
                    <a:lnTo>
                      <a:pt x="41" y="22"/>
                    </a:lnTo>
                    <a:lnTo>
                      <a:pt x="38" y="0"/>
                    </a:lnTo>
                    <a:close/>
                  </a:path>
                </a:pathLst>
              </a:custGeom>
              <a:solidFill>
                <a:srgbClr val="000000"/>
              </a:solidFill>
              <a:ln w="9525">
                <a:noFill/>
                <a:round/>
                <a:headEnd/>
                <a:tailEnd/>
              </a:ln>
            </p:spPr>
            <p:txBody>
              <a:bodyPr/>
              <a:lstStyle/>
              <a:p>
                <a:endParaRPr lang="en-US"/>
              </a:p>
            </p:txBody>
          </p:sp>
          <p:sp>
            <p:nvSpPr>
              <p:cNvPr id="24806" name="Freeform 195"/>
              <p:cNvSpPr>
                <a:spLocks/>
              </p:cNvSpPr>
              <p:nvPr/>
            </p:nvSpPr>
            <p:spPr bwMode="auto">
              <a:xfrm>
                <a:off x="2207" y="3495"/>
                <a:ext cx="14" cy="16"/>
              </a:xfrm>
              <a:custGeom>
                <a:avLst/>
                <a:gdLst>
                  <a:gd name="T0" fmla="*/ 1 w 28"/>
                  <a:gd name="T1" fmla="*/ 0 h 31"/>
                  <a:gd name="T2" fmla="*/ 1 w 28"/>
                  <a:gd name="T3" fmla="*/ 0 h 31"/>
                  <a:gd name="T4" fmla="*/ 1 w 28"/>
                  <a:gd name="T5" fmla="*/ 1 h 31"/>
                  <a:gd name="T6" fmla="*/ 1 w 28"/>
                  <a:gd name="T7" fmla="*/ 1 h 31"/>
                  <a:gd name="T8" fmla="*/ 1 w 28"/>
                  <a:gd name="T9" fmla="*/ 1 h 31"/>
                  <a:gd name="T10" fmla="*/ 0 w 28"/>
                  <a:gd name="T11" fmla="*/ 1 h 31"/>
                  <a:gd name="T12" fmla="*/ 1 w 28"/>
                  <a:gd name="T13" fmla="*/ 1 h 31"/>
                  <a:gd name="T14" fmla="*/ 1 w 28"/>
                  <a:gd name="T15" fmla="*/ 1 h 31"/>
                  <a:gd name="T16" fmla="*/ 1 w 28"/>
                  <a:gd name="T17" fmla="*/ 1 h 31"/>
                  <a:gd name="T18" fmla="*/ 1 w 28"/>
                  <a:gd name="T19" fmla="*/ 1 h 31"/>
                  <a:gd name="T20" fmla="*/ 1 w 28"/>
                  <a:gd name="T21" fmla="*/ 1 h 31"/>
                  <a:gd name="T22" fmla="*/ 1 w 28"/>
                  <a:gd name="T23" fmla="*/ 1 h 31"/>
                  <a:gd name="T24" fmla="*/ 1 w 28"/>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1"/>
                  <a:gd name="T41" fmla="*/ 28 w 28"/>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1">
                    <a:moveTo>
                      <a:pt x="22" y="0"/>
                    </a:moveTo>
                    <a:lnTo>
                      <a:pt x="23" y="0"/>
                    </a:lnTo>
                    <a:lnTo>
                      <a:pt x="16" y="3"/>
                    </a:lnTo>
                    <a:lnTo>
                      <a:pt x="9" y="6"/>
                    </a:lnTo>
                    <a:lnTo>
                      <a:pt x="6" y="8"/>
                    </a:lnTo>
                    <a:lnTo>
                      <a:pt x="0" y="9"/>
                    </a:lnTo>
                    <a:lnTo>
                      <a:pt x="3" y="31"/>
                    </a:lnTo>
                    <a:lnTo>
                      <a:pt x="12" y="30"/>
                    </a:lnTo>
                    <a:lnTo>
                      <a:pt x="19" y="25"/>
                    </a:lnTo>
                    <a:lnTo>
                      <a:pt x="25" y="22"/>
                    </a:lnTo>
                    <a:lnTo>
                      <a:pt x="26" y="22"/>
                    </a:lnTo>
                    <a:lnTo>
                      <a:pt x="28" y="22"/>
                    </a:lnTo>
                    <a:lnTo>
                      <a:pt x="22" y="0"/>
                    </a:lnTo>
                    <a:close/>
                  </a:path>
                </a:pathLst>
              </a:custGeom>
              <a:solidFill>
                <a:srgbClr val="000000"/>
              </a:solidFill>
              <a:ln w="9525">
                <a:noFill/>
                <a:round/>
                <a:headEnd/>
                <a:tailEnd/>
              </a:ln>
            </p:spPr>
            <p:txBody>
              <a:bodyPr/>
              <a:lstStyle/>
              <a:p>
                <a:endParaRPr lang="en-US"/>
              </a:p>
            </p:txBody>
          </p:sp>
          <p:sp>
            <p:nvSpPr>
              <p:cNvPr id="24807" name="Freeform 196"/>
              <p:cNvSpPr>
                <a:spLocks/>
              </p:cNvSpPr>
              <p:nvPr/>
            </p:nvSpPr>
            <p:spPr bwMode="auto">
              <a:xfrm>
                <a:off x="2218" y="3495"/>
                <a:ext cx="16" cy="11"/>
              </a:xfrm>
              <a:custGeom>
                <a:avLst/>
                <a:gdLst>
                  <a:gd name="T0" fmla="*/ 1 w 31"/>
                  <a:gd name="T1" fmla="*/ 1 h 22"/>
                  <a:gd name="T2" fmla="*/ 1 w 31"/>
                  <a:gd name="T3" fmla="*/ 0 h 22"/>
                  <a:gd name="T4" fmla="*/ 1 w 31"/>
                  <a:gd name="T5" fmla="*/ 0 h 22"/>
                  <a:gd name="T6" fmla="*/ 1 w 31"/>
                  <a:gd name="T7" fmla="*/ 0 h 22"/>
                  <a:gd name="T8" fmla="*/ 1 w 31"/>
                  <a:gd name="T9" fmla="*/ 0 h 22"/>
                  <a:gd name="T10" fmla="*/ 0 w 31"/>
                  <a:gd name="T11" fmla="*/ 0 h 22"/>
                  <a:gd name="T12" fmla="*/ 1 w 31"/>
                  <a:gd name="T13" fmla="*/ 1 h 22"/>
                  <a:gd name="T14" fmla="*/ 1 w 31"/>
                  <a:gd name="T15" fmla="*/ 1 h 22"/>
                  <a:gd name="T16" fmla="*/ 1 w 31"/>
                  <a:gd name="T17" fmla="*/ 1 h 22"/>
                  <a:gd name="T18" fmla="*/ 1 w 31"/>
                  <a:gd name="T19" fmla="*/ 1 h 22"/>
                  <a:gd name="T20" fmla="*/ 1 w 31"/>
                  <a:gd name="T21" fmla="*/ 1 h 22"/>
                  <a:gd name="T22" fmla="*/ 1 w 31"/>
                  <a:gd name="T23" fmla="*/ 1 h 22"/>
                  <a:gd name="T24" fmla="*/ 1 w 31"/>
                  <a:gd name="T25" fmla="*/ 1 h 22"/>
                  <a:gd name="T26" fmla="*/ 1 w 31"/>
                  <a:gd name="T27" fmla="*/ 1 h 22"/>
                  <a:gd name="T28" fmla="*/ 1 w 31"/>
                  <a:gd name="T29" fmla="*/ 1 h 22"/>
                  <a:gd name="T30" fmla="*/ 1 w 31"/>
                  <a:gd name="T31" fmla="*/ 1 h 22"/>
                  <a:gd name="T32" fmla="*/ 1 w 31"/>
                  <a:gd name="T33" fmla="*/ 0 h 22"/>
                  <a:gd name="T34" fmla="*/ 1 w 31"/>
                  <a:gd name="T35" fmla="*/ 1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22"/>
                  <a:gd name="T56" fmla="*/ 31 w 31"/>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22">
                    <a:moveTo>
                      <a:pt x="9" y="8"/>
                    </a:moveTo>
                    <a:lnTo>
                      <a:pt x="22" y="0"/>
                    </a:lnTo>
                    <a:lnTo>
                      <a:pt x="19" y="0"/>
                    </a:lnTo>
                    <a:lnTo>
                      <a:pt x="14" y="0"/>
                    </a:lnTo>
                    <a:lnTo>
                      <a:pt x="8" y="0"/>
                    </a:lnTo>
                    <a:lnTo>
                      <a:pt x="0" y="0"/>
                    </a:lnTo>
                    <a:lnTo>
                      <a:pt x="6" y="22"/>
                    </a:lnTo>
                    <a:lnTo>
                      <a:pt x="8" y="22"/>
                    </a:lnTo>
                    <a:lnTo>
                      <a:pt x="14" y="22"/>
                    </a:lnTo>
                    <a:lnTo>
                      <a:pt x="19" y="22"/>
                    </a:lnTo>
                    <a:lnTo>
                      <a:pt x="31" y="14"/>
                    </a:lnTo>
                    <a:lnTo>
                      <a:pt x="19" y="22"/>
                    </a:lnTo>
                    <a:lnTo>
                      <a:pt x="26" y="19"/>
                    </a:lnTo>
                    <a:lnTo>
                      <a:pt x="31" y="13"/>
                    </a:lnTo>
                    <a:lnTo>
                      <a:pt x="30" y="5"/>
                    </a:lnTo>
                    <a:lnTo>
                      <a:pt x="22" y="0"/>
                    </a:lnTo>
                    <a:lnTo>
                      <a:pt x="9" y="8"/>
                    </a:lnTo>
                    <a:close/>
                  </a:path>
                </a:pathLst>
              </a:custGeom>
              <a:solidFill>
                <a:srgbClr val="000000"/>
              </a:solidFill>
              <a:ln w="9525">
                <a:noFill/>
                <a:round/>
                <a:headEnd/>
                <a:tailEnd/>
              </a:ln>
            </p:spPr>
            <p:txBody>
              <a:bodyPr/>
              <a:lstStyle/>
              <a:p>
                <a:endParaRPr lang="en-US"/>
              </a:p>
            </p:txBody>
          </p:sp>
          <p:sp>
            <p:nvSpPr>
              <p:cNvPr id="24808" name="Freeform 197"/>
              <p:cNvSpPr>
                <a:spLocks/>
              </p:cNvSpPr>
              <p:nvPr/>
            </p:nvSpPr>
            <p:spPr bwMode="auto">
              <a:xfrm>
                <a:off x="2223" y="3480"/>
                <a:ext cx="15" cy="22"/>
              </a:xfrm>
              <a:custGeom>
                <a:avLst/>
                <a:gdLst>
                  <a:gd name="T0" fmla="*/ 0 w 31"/>
                  <a:gd name="T1" fmla="*/ 0 h 44"/>
                  <a:gd name="T2" fmla="*/ 0 w 31"/>
                  <a:gd name="T3" fmla="*/ 0 h 44"/>
                  <a:gd name="T4" fmla="*/ 0 w 31"/>
                  <a:gd name="T5" fmla="*/ 1 h 44"/>
                  <a:gd name="T6" fmla="*/ 0 w 31"/>
                  <a:gd name="T7" fmla="*/ 1 h 44"/>
                  <a:gd name="T8" fmla="*/ 0 w 31"/>
                  <a:gd name="T9" fmla="*/ 1 h 44"/>
                  <a:gd name="T10" fmla="*/ 0 w 31"/>
                  <a:gd name="T11" fmla="*/ 1 h 44"/>
                  <a:gd name="T12" fmla="*/ 0 w 31"/>
                  <a:gd name="T13" fmla="*/ 1 h 44"/>
                  <a:gd name="T14" fmla="*/ 0 w 31"/>
                  <a:gd name="T15" fmla="*/ 1 h 44"/>
                  <a:gd name="T16" fmla="*/ 0 w 31"/>
                  <a:gd name="T17" fmla="*/ 1 h 44"/>
                  <a:gd name="T18" fmla="*/ 0 w 31"/>
                  <a:gd name="T19" fmla="*/ 1 h 44"/>
                  <a:gd name="T20" fmla="*/ 0 w 31"/>
                  <a:gd name="T21" fmla="*/ 0 h 44"/>
                  <a:gd name="T22" fmla="*/ 0 w 31"/>
                  <a:gd name="T23" fmla="*/ 0 h 44"/>
                  <a:gd name="T24" fmla="*/ 0 w 31"/>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44"/>
                  <a:gd name="T41" fmla="*/ 31 w 31"/>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44">
                    <a:moveTo>
                      <a:pt x="10" y="0"/>
                    </a:moveTo>
                    <a:lnTo>
                      <a:pt x="10" y="0"/>
                    </a:lnTo>
                    <a:lnTo>
                      <a:pt x="8" y="11"/>
                    </a:lnTo>
                    <a:lnTo>
                      <a:pt x="5" y="22"/>
                    </a:lnTo>
                    <a:lnTo>
                      <a:pt x="2" y="33"/>
                    </a:lnTo>
                    <a:lnTo>
                      <a:pt x="0" y="38"/>
                    </a:lnTo>
                    <a:lnTo>
                      <a:pt x="22" y="44"/>
                    </a:lnTo>
                    <a:lnTo>
                      <a:pt x="24" y="39"/>
                    </a:lnTo>
                    <a:lnTo>
                      <a:pt x="27" y="29"/>
                    </a:lnTo>
                    <a:lnTo>
                      <a:pt x="30" y="14"/>
                    </a:lnTo>
                    <a:lnTo>
                      <a:pt x="31" y="0"/>
                    </a:lnTo>
                    <a:lnTo>
                      <a:pt x="10" y="0"/>
                    </a:lnTo>
                    <a:close/>
                  </a:path>
                </a:pathLst>
              </a:custGeom>
              <a:solidFill>
                <a:srgbClr val="000000"/>
              </a:solidFill>
              <a:ln w="9525">
                <a:noFill/>
                <a:round/>
                <a:headEnd/>
                <a:tailEnd/>
              </a:ln>
            </p:spPr>
            <p:txBody>
              <a:bodyPr/>
              <a:lstStyle/>
              <a:p>
                <a:endParaRPr lang="en-US"/>
              </a:p>
            </p:txBody>
          </p:sp>
          <p:sp>
            <p:nvSpPr>
              <p:cNvPr id="24809" name="Freeform 198"/>
              <p:cNvSpPr>
                <a:spLocks/>
              </p:cNvSpPr>
              <p:nvPr/>
            </p:nvSpPr>
            <p:spPr bwMode="auto">
              <a:xfrm>
                <a:off x="2225" y="3418"/>
                <a:ext cx="16" cy="62"/>
              </a:xfrm>
              <a:custGeom>
                <a:avLst/>
                <a:gdLst>
                  <a:gd name="T0" fmla="*/ 0 w 31"/>
                  <a:gd name="T1" fmla="*/ 0 h 125"/>
                  <a:gd name="T2" fmla="*/ 0 w 31"/>
                  <a:gd name="T3" fmla="*/ 0 h 125"/>
                  <a:gd name="T4" fmla="*/ 1 w 31"/>
                  <a:gd name="T5" fmla="*/ 0 h 125"/>
                  <a:gd name="T6" fmla="*/ 1 w 31"/>
                  <a:gd name="T7" fmla="*/ 0 h 125"/>
                  <a:gd name="T8" fmla="*/ 1 w 31"/>
                  <a:gd name="T9" fmla="*/ 0 h 125"/>
                  <a:gd name="T10" fmla="*/ 1 w 31"/>
                  <a:gd name="T11" fmla="*/ 0 h 125"/>
                  <a:gd name="T12" fmla="*/ 1 w 31"/>
                  <a:gd name="T13" fmla="*/ 0 h 125"/>
                  <a:gd name="T14" fmla="*/ 1 w 31"/>
                  <a:gd name="T15" fmla="*/ 0 h 125"/>
                  <a:gd name="T16" fmla="*/ 1 w 31"/>
                  <a:gd name="T17" fmla="*/ 0 h 125"/>
                  <a:gd name="T18" fmla="*/ 1 w 31"/>
                  <a:gd name="T19" fmla="*/ 0 h 125"/>
                  <a:gd name="T20" fmla="*/ 1 w 31"/>
                  <a:gd name="T21" fmla="*/ 0 h 125"/>
                  <a:gd name="T22" fmla="*/ 1 w 31"/>
                  <a:gd name="T23" fmla="*/ 0 h 125"/>
                  <a:gd name="T24" fmla="*/ 1 w 31"/>
                  <a:gd name="T25" fmla="*/ 0 h 125"/>
                  <a:gd name="T26" fmla="*/ 1 w 31"/>
                  <a:gd name="T27" fmla="*/ 0 h 125"/>
                  <a:gd name="T28" fmla="*/ 1 w 31"/>
                  <a:gd name="T29" fmla="*/ 0 h 125"/>
                  <a:gd name="T30" fmla="*/ 1 w 31"/>
                  <a:gd name="T31" fmla="*/ 0 h 125"/>
                  <a:gd name="T32" fmla="*/ 1 w 31"/>
                  <a:gd name="T33" fmla="*/ 0 h 125"/>
                  <a:gd name="T34" fmla="*/ 1 w 31"/>
                  <a:gd name="T35" fmla="*/ 0 h 125"/>
                  <a:gd name="T36" fmla="*/ 1 w 31"/>
                  <a:gd name="T37" fmla="*/ 0 h 125"/>
                  <a:gd name="T38" fmla="*/ 1 w 31"/>
                  <a:gd name="T39" fmla="*/ 0 h 125"/>
                  <a:gd name="T40" fmla="*/ 0 w 31"/>
                  <a:gd name="T41" fmla="*/ 0 h 12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1"/>
                  <a:gd name="T64" fmla="*/ 0 h 125"/>
                  <a:gd name="T65" fmla="*/ 31 w 31"/>
                  <a:gd name="T66" fmla="*/ 125 h 12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1" h="125">
                    <a:moveTo>
                      <a:pt x="0" y="19"/>
                    </a:moveTo>
                    <a:lnTo>
                      <a:pt x="0" y="19"/>
                    </a:lnTo>
                    <a:lnTo>
                      <a:pt x="3" y="22"/>
                    </a:lnTo>
                    <a:lnTo>
                      <a:pt x="6" y="35"/>
                    </a:lnTo>
                    <a:lnTo>
                      <a:pt x="9" y="50"/>
                    </a:lnTo>
                    <a:lnTo>
                      <a:pt x="9" y="67"/>
                    </a:lnTo>
                    <a:lnTo>
                      <a:pt x="8" y="85"/>
                    </a:lnTo>
                    <a:lnTo>
                      <a:pt x="6" y="102"/>
                    </a:lnTo>
                    <a:lnTo>
                      <a:pt x="5" y="118"/>
                    </a:lnTo>
                    <a:lnTo>
                      <a:pt x="5" y="125"/>
                    </a:lnTo>
                    <a:lnTo>
                      <a:pt x="26" y="125"/>
                    </a:lnTo>
                    <a:lnTo>
                      <a:pt x="26" y="118"/>
                    </a:lnTo>
                    <a:lnTo>
                      <a:pt x="28" y="105"/>
                    </a:lnTo>
                    <a:lnTo>
                      <a:pt x="30" y="88"/>
                    </a:lnTo>
                    <a:lnTo>
                      <a:pt x="31" y="67"/>
                    </a:lnTo>
                    <a:lnTo>
                      <a:pt x="31" y="47"/>
                    </a:lnTo>
                    <a:lnTo>
                      <a:pt x="28" y="28"/>
                    </a:lnTo>
                    <a:lnTo>
                      <a:pt x="22" y="13"/>
                    </a:lnTo>
                    <a:lnTo>
                      <a:pt x="9" y="0"/>
                    </a:lnTo>
                    <a:lnTo>
                      <a:pt x="0" y="19"/>
                    </a:lnTo>
                    <a:close/>
                  </a:path>
                </a:pathLst>
              </a:custGeom>
              <a:solidFill>
                <a:srgbClr val="000000"/>
              </a:solidFill>
              <a:ln w="9525">
                <a:noFill/>
                <a:round/>
                <a:headEnd/>
                <a:tailEnd/>
              </a:ln>
            </p:spPr>
            <p:txBody>
              <a:bodyPr/>
              <a:lstStyle/>
              <a:p>
                <a:endParaRPr lang="en-US"/>
              </a:p>
            </p:txBody>
          </p:sp>
          <p:sp>
            <p:nvSpPr>
              <p:cNvPr id="24810" name="Freeform 199"/>
              <p:cNvSpPr>
                <a:spLocks/>
              </p:cNvSpPr>
              <p:nvPr/>
            </p:nvSpPr>
            <p:spPr bwMode="auto">
              <a:xfrm>
                <a:off x="2194" y="3411"/>
                <a:ext cx="36" cy="16"/>
              </a:xfrm>
              <a:custGeom>
                <a:avLst/>
                <a:gdLst>
                  <a:gd name="T0" fmla="*/ 0 w 72"/>
                  <a:gd name="T1" fmla="*/ 0 h 33"/>
                  <a:gd name="T2" fmla="*/ 0 w 72"/>
                  <a:gd name="T3" fmla="*/ 0 h 33"/>
                  <a:gd name="T4" fmla="*/ 1 w 72"/>
                  <a:gd name="T5" fmla="*/ 0 h 33"/>
                  <a:gd name="T6" fmla="*/ 1 w 72"/>
                  <a:gd name="T7" fmla="*/ 0 h 33"/>
                  <a:gd name="T8" fmla="*/ 1 w 72"/>
                  <a:gd name="T9" fmla="*/ 0 h 33"/>
                  <a:gd name="T10" fmla="*/ 1 w 72"/>
                  <a:gd name="T11" fmla="*/ 0 h 33"/>
                  <a:gd name="T12" fmla="*/ 1 w 72"/>
                  <a:gd name="T13" fmla="*/ 0 h 33"/>
                  <a:gd name="T14" fmla="*/ 1 w 72"/>
                  <a:gd name="T15" fmla="*/ 0 h 33"/>
                  <a:gd name="T16" fmla="*/ 1 w 72"/>
                  <a:gd name="T17" fmla="*/ 0 h 33"/>
                  <a:gd name="T18" fmla="*/ 1 w 72"/>
                  <a:gd name="T19" fmla="*/ 0 h 33"/>
                  <a:gd name="T20" fmla="*/ 1 w 72"/>
                  <a:gd name="T21" fmla="*/ 0 h 33"/>
                  <a:gd name="T22" fmla="*/ 1 w 72"/>
                  <a:gd name="T23" fmla="*/ 0 h 33"/>
                  <a:gd name="T24" fmla="*/ 1 w 72"/>
                  <a:gd name="T25" fmla="*/ 0 h 33"/>
                  <a:gd name="T26" fmla="*/ 1 w 72"/>
                  <a:gd name="T27" fmla="*/ 0 h 33"/>
                  <a:gd name="T28" fmla="*/ 1 w 72"/>
                  <a:gd name="T29" fmla="*/ 0 h 33"/>
                  <a:gd name="T30" fmla="*/ 1 w 72"/>
                  <a:gd name="T31" fmla="*/ 0 h 33"/>
                  <a:gd name="T32" fmla="*/ 1 w 72"/>
                  <a:gd name="T33" fmla="*/ 0 h 33"/>
                  <a:gd name="T34" fmla="*/ 1 w 72"/>
                  <a:gd name="T35" fmla="*/ 0 h 33"/>
                  <a:gd name="T36" fmla="*/ 0 w 72"/>
                  <a:gd name="T37" fmla="*/ 0 h 33"/>
                  <a:gd name="T38" fmla="*/ 0 w 72"/>
                  <a:gd name="T39" fmla="*/ 0 h 33"/>
                  <a:gd name="T40" fmla="*/ 0 w 72"/>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3"/>
                  <a:gd name="T65" fmla="*/ 72 w 72"/>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3">
                    <a:moveTo>
                      <a:pt x="0" y="22"/>
                    </a:moveTo>
                    <a:lnTo>
                      <a:pt x="0" y="22"/>
                    </a:lnTo>
                    <a:lnTo>
                      <a:pt x="5" y="22"/>
                    </a:lnTo>
                    <a:lnTo>
                      <a:pt x="13" y="22"/>
                    </a:lnTo>
                    <a:lnTo>
                      <a:pt x="19" y="22"/>
                    </a:lnTo>
                    <a:lnTo>
                      <a:pt x="27" y="24"/>
                    </a:lnTo>
                    <a:lnTo>
                      <a:pt x="36" y="25"/>
                    </a:lnTo>
                    <a:lnTo>
                      <a:pt x="44" y="27"/>
                    </a:lnTo>
                    <a:lnTo>
                      <a:pt x="55" y="30"/>
                    </a:lnTo>
                    <a:lnTo>
                      <a:pt x="63" y="33"/>
                    </a:lnTo>
                    <a:lnTo>
                      <a:pt x="72" y="14"/>
                    </a:lnTo>
                    <a:lnTo>
                      <a:pt x="61" y="8"/>
                    </a:lnTo>
                    <a:lnTo>
                      <a:pt x="50" y="5"/>
                    </a:lnTo>
                    <a:lnTo>
                      <a:pt x="39" y="3"/>
                    </a:lnTo>
                    <a:lnTo>
                      <a:pt x="30" y="2"/>
                    </a:lnTo>
                    <a:lnTo>
                      <a:pt x="22" y="0"/>
                    </a:lnTo>
                    <a:lnTo>
                      <a:pt x="13" y="0"/>
                    </a:lnTo>
                    <a:lnTo>
                      <a:pt x="5" y="0"/>
                    </a:lnTo>
                    <a:lnTo>
                      <a:pt x="0" y="0"/>
                    </a:lnTo>
                    <a:lnTo>
                      <a:pt x="0" y="22"/>
                    </a:lnTo>
                    <a:close/>
                  </a:path>
                </a:pathLst>
              </a:custGeom>
              <a:solidFill>
                <a:srgbClr val="000000"/>
              </a:solidFill>
              <a:ln w="9525">
                <a:noFill/>
                <a:round/>
                <a:headEnd/>
                <a:tailEnd/>
              </a:ln>
            </p:spPr>
            <p:txBody>
              <a:bodyPr/>
              <a:lstStyle/>
              <a:p>
                <a:endParaRPr lang="en-US"/>
              </a:p>
            </p:txBody>
          </p:sp>
          <p:sp>
            <p:nvSpPr>
              <p:cNvPr id="24811" name="Freeform 200"/>
              <p:cNvSpPr>
                <a:spLocks/>
              </p:cNvSpPr>
              <p:nvPr/>
            </p:nvSpPr>
            <p:spPr bwMode="auto">
              <a:xfrm>
                <a:off x="2149" y="3411"/>
                <a:ext cx="45" cy="18"/>
              </a:xfrm>
              <a:custGeom>
                <a:avLst/>
                <a:gdLst>
                  <a:gd name="T0" fmla="*/ 1 w 89"/>
                  <a:gd name="T1" fmla="*/ 0 h 38"/>
                  <a:gd name="T2" fmla="*/ 1 w 89"/>
                  <a:gd name="T3" fmla="*/ 0 h 38"/>
                  <a:gd name="T4" fmla="*/ 1 w 89"/>
                  <a:gd name="T5" fmla="*/ 0 h 38"/>
                  <a:gd name="T6" fmla="*/ 1 w 89"/>
                  <a:gd name="T7" fmla="*/ 0 h 38"/>
                  <a:gd name="T8" fmla="*/ 1 w 89"/>
                  <a:gd name="T9" fmla="*/ 0 h 38"/>
                  <a:gd name="T10" fmla="*/ 1 w 89"/>
                  <a:gd name="T11" fmla="*/ 0 h 38"/>
                  <a:gd name="T12" fmla="*/ 1 w 89"/>
                  <a:gd name="T13" fmla="*/ 0 h 38"/>
                  <a:gd name="T14" fmla="*/ 1 w 89"/>
                  <a:gd name="T15" fmla="*/ 0 h 38"/>
                  <a:gd name="T16" fmla="*/ 1 w 89"/>
                  <a:gd name="T17" fmla="*/ 0 h 38"/>
                  <a:gd name="T18" fmla="*/ 1 w 89"/>
                  <a:gd name="T19" fmla="*/ 0 h 38"/>
                  <a:gd name="T20" fmla="*/ 1 w 89"/>
                  <a:gd name="T21" fmla="*/ 0 h 38"/>
                  <a:gd name="T22" fmla="*/ 1 w 89"/>
                  <a:gd name="T23" fmla="*/ 0 h 38"/>
                  <a:gd name="T24" fmla="*/ 1 w 89"/>
                  <a:gd name="T25" fmla="*/ 0 h 38"/>
                  <a:gd name="T26" fmla="*/ 1 w 89"/>
                  <a:gd name="T27" fmla="*/ 0 h 38"/>
                  <a:gd name="T28" fmla="*/ 1 w 89"/>
                  <a:gd name="T29" fmla="*/ 0 h 38"/>
                  <a:gd name="T30" fmla="*/ 1 w 89"/>
                  <a:gd name="T31" fmla="*/ 0 h 38"/>
                  <a:gd name="T32" fmla="*/ 1 w 89"/>
                  <a:gd name="T33" fmla="*/ 0 h 38"/>
                  <a:gd name="T34" fmla="*/ 1 w 89"/>
                  <a:gd name="T35" fmla="*/ 0 h 38"/>
                  <a:gd name="T36" fmla="*/ 0 w 89"/>
                  <a:gd name="T37" fmla="*/ 0 h 38"/>
                  <a:gd name="T38" fmla="*/ 0 w 89"/>
                  <a:gd name="T39" fmla="*/ 0 h 38"/>
                  <a:gd name="T40" fmla="*/ 1 w 89"/>
                  <a:gd name="T41" fmla="*/ 0 h 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9"/>
                  <a:gd name="T64" fmla="*/ 0 h 38"/>
                  <a:gd name="T65" fmla="*/ 89 w 89"/>
                  <a:gd name="T66" fmla="*/ 38 h 3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9" h="38">
                    <a:moveTo>
                      <a:pt x="19" y="38"/>
                    </a:moveTo>
                    <a:lnTo>
                      <a:pt x="19" y="38"/>
                    </a:lnTo>
                    <a:lnTo>
                      <a:pt x="23" y="33"/>
                    </a:lnTo>
                    <a:lnTo>
                      <a:pt x="30" y="28"/>
                    </a:lnTo>
                    <a:lnTo>
                      <a:pt x="39" y="27"/>
                    </a:lnTo>
                    <a:lnTo>
                      <a:pt x="52" y="24"/>
                    </a:lnTo>
                    <a:lnTo>
                      <a:pt x="63" y="22"/>
                    </a:lnTo>
                    <a:lnTo>
                      <a:pt x="74" y="22"/>
                    </a:lnTo>
                    <a:lnTo>
                      <a:pt x="83" y="22"/>
                    </a:lnTo>
                    <a:lnTo>
                      <a:pt x="89" y="22"/>
                    </a:lnTo>
                    <a:lnTo>
                      <a:pt x="89" y="0"/>
                    </a:lnTo>
                    <a:lnTo>
                      <a:pt x="83" y="0"/>
                    </a:lnTo>
                    <a:lnTo>
                      <a:pt x="74" y="0"/>
                    </a:lnTo>
                    <a:lnTo>
                      <a:pt x="63" y="0"/>
                    </a:lnTo>
                    <a:lnTo>
                      <a:pt x="49" y="2"/>
                    </a:lnTo>
                    <a:lnTo>
                      <a:pt x="33" y="5"/>
                    </a:lnTo>
                    <a:lnTo>
                      <a:pt x="20" y="10"/>
                    </a:lnTo>
                    <a:lnTo>
                      <a:pt x="8" y="17"/>
                    </a:lnTo>
                    <a:lnTo>
                      <a:pt x="0" y="28"/>
                    </a:lnTo>
                    <a:lnTo>
                      <a:pt x="19" y="38"/>
                    </a:lnTo>
                    <a:close/>
                  </a:path>
                </a:pathLst>
              </a:custGeom>
              <a:solidFill>
                <a:srgbClr val="000000"/>
              </a:solidFill>
              <a:ln w="9525">
                <a:noFill/>
                <a:round/>
                <a:headEnd/>
                <a:tailEnd/>
              </a:ln>
            </p:spPr>
            <p:txBody>
              <a:bodyPr/>
              <a:lstStyle/>
              <a:p>
                <a:endParaRPr lang="en-US"/>
              </a:p>
            </p:txBody>
          </p:sp>
          <p:sp>
            <p:nvSpPr>
              <p:cNvPr id="24812" name="Freeform 201"/>
              <p:cNvSpPr>
                <a:spLocks/>
              </p:cNvSpPr>
              <p:nvPr/>
            </p:nvSpPr>
            <p:spPr bwMode="auto">
              <a:xfrm>
                <a:off x="2147" y="3425"/>
                <a:ext cx="15" cy="31"/>
              </a:xfrm>
              <a:custGeom>
                <a:avLst/>
                <a:gdLst>
                  <a:gd name="T0" fmla="*/ 1 w 30"/>
                  <a:gd name="T1" fmla="*/ 0 h 63"/>
                  <a:gd name="T2" fmla="*/ 1 w 30"/>
                  <a:gd name="T3" fmla="*/ 0 h 63"/>
                  <a:gd name="T4" fmla="*/ 1 w 30"/>
                  <a:gd name="T5" fmla="*/ 0 h 63"/>
                  <a:gd name="T6" fmla="*/ 1 w 30"/>
                  <a:gd name="T7" fmla="*/ 0 h 63"/>
                  <a:gd name="T8" fmla="*/ 1 w 30"/>
                  <a:gd name="T9" fmla="*/ 0 h 63"/>
                  <a:gd name="T10" fmla="*/ 1 w 30"/>
                  <a:gd name="T11" fmla="*/ 0 h 63"/>
                  <a:gd name="T12" fmla="*/ 1 w 30"/>
                  <a:gd name="T13" fmla="*/ 0 h 63"/>
                  <a:gd name="T14" fmla="*/ 1 w 30"/>
                  <a:gd name="T15" fmla="*/ 0 h 63"/>
                  <a:gd name="T16" fmla="*/ 1 w 30"/>
                  <a:gd name="T17" fmla="*/ 0 h 63"/>
                  <a:gd name="T18" fmla="*/ 1 w 30"/>
                  <a:gd name="T19" fmla="*/ 0 h 63"/>
                  <a:gd name="T20" fmla="*/ 1 w 30"/>
                  <a:gd name="T21" fmla="*/ 0 h 63"/>
                  <a:gd name="T22" fmla="*/ 0 w 30"/>
                  <a:gd name="T23" fmla="*/ 0 h 63"/>
                  <a:gd name="T24" fmla="*/ 0 w 30"/>
                  <a:gd name="T25" fmla="*/ 0 h 63"/>
                  <a:gd name="T26" fmla="*/ 0 w 30"/>
                  <a:gd name="T27" fmla="*/ 0 h 63"/>
                  <a:gd name="T28" fmla="*/ 1 w 30"/>
                  <a:gd name="T29" fmla="*/ 0 h 63"/>
                  <a:gd name="T30" fmla="*/ 1 w 30"/>
                  <a:gd name="T31" fmla="*/ 0 h 63"/>
                  <a:gd name="T32" fmla="*/ 1 w 30"/>
                  <a:gd name="T33" fmla="*/ 0 h 63"/>
                  <a:gd name="T34" fmla="*/ 1 w 30"/>
                  <a:gd name="T35" fmla="*/ 0 h 63"/>
                  <a:gd name="T36" fmla="*/ 1 w 30"/>
                  <a:gd name="T37" fmla="*/ 0 h 63"/>
                  <a:gd name="T38" fmla="*/ 1 w 30"/>
                  <a:gd name="T39" fmla="*/ 0 h 63"/>
                  <a:gd name="T40" fmla="*/ 1 w 30"/>
                  <a:gd name="T41" fmla="*/ 0 h 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63"/>
                  <a:gd name="T65" fmla="*/ 30 w 30"/>
                  <a:gd name="T66" fmla="*/ 63 h 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63">
                    <a:moveTo>
                      <a:pt x="30" y="50"/>
                    </a:moveTo>
                    <a:lnTo>
                      <a:pt x="30" y="50"/>
                    </a:lnTo>
                    <a:lnTo>
                      <a:pt x="28" y="47"/>
                    </a:lnTo>
                    <a:lnTo>
                      <a:pt x="25" y="44"/>
                    </a:lnTo>
                    <a:lnTo>
                      <a:pt x="25" y="39"/>
                    </a:lnTo>
                    <a:lnTo>
                      <a:pt x="24" y="33"/>
                    </a:lnTo>
                    <a:lnTo>
                      <a:pt x="22" y="27"/>
                    </a:lnTo>
                    <a:lnTo>
                      <a:pt x="22" y="21"/>
                    </a:lnTo>
                    <a:lnTo>
                      <a:pt x="22" y="14"/>
                    </a:lnTo>
                    <a:lnTo>
                      <a:pt x="24" y="10"/>
                    </a:lnTo>
                    <a:lnTo>
                      <a:pt x="5" y="0"/>
                    </a:lnTo>
                    <a:lnTo>
                      <a:pt x="0" y="11"/>
                    </a:lnTo>
                    <a:lnTo>
                      <a:pt x="0" y="21"/>
                    </a:lnTo>
                    <a:lnTo>
                      <a:pt x="0" y="30"/>
                    </a:lnTo>
                    <a:lnTo>
                      <a:pt x="2" y="39"/>
                    </a:lnTo>
                    <a:lnTo>
                      <a:pt x="3" y="46"/>
                    </a:lnTo>
                    <a:lnTo>
                      <a:pt x="7" y="53"/>
                    </a:lnTo>
                    <a:lnTo>
                      <a:pt x="10" y="60"/>
                    </a:lnTo>
                    <a:lnTo>
                      <a:pt x="11" y="63"/>
                    </a:lnTo>
                    <a:lnTo>
                      <a:pt x="30" y="50"/>
                    </a:lnTo>
                    <a:close/>
                  </a:path>
                </a:pathLst>
              </a:custGeom>
              <a:solidFill>
                <a:srgbClr val="000000"/>
              </a:solidFill>
              <a:ln w="9525">
                <a:noFill/>
                <a:round/>
                <a:headEnd/>
                <a:tailEnd/>
              </a:ln>
            </p:spPr>
            <p:txBody>
              <a:bodyPr/>
              <a:lstStyle/>
              <a:p>
                <a:endParaRPr lang="en-US"/>
              </a:p>
            </p:txBody>
          </p:sp>
          <p:sp>
            <p:nvSpPr>
              <p:cNvPr id="24813" name="Freeform 202"/>
              <p:cNvSpPr>
                <a:spLocks/>
              </p:cNvSpPr>
              <p:nvPr/>
            </p:nvSpPr>
            <p:spPr bwMode="auto">
              <a:xfrm>
                <a:off x="2152" y="3450"/>
                <a:ext cx="17" cy="18"/>
              </a:xfrm>
              <a:custGeom>
                <a:avLst/>
                <a:gdLst>
                  <a:gd name="T0" fmla="*/ 0 w 35"/>
                  <a:gd name="T1" fmla="*/ 0 h 38"/>
                  <a:gd name="T2" fmla="*/ 0 w 35"/>
                  <a:gd name="T3" fmla="*/ 0 h 38"/>
                  <a:gd name="T4" fmla="*/ 0 w 35"/>
                  <a:gd name="T5" fmla="*/ 0 h 38"/>
                  <a:gd name="T6" fmla="*/ 0 w 35"/>
                  <a:gd name="T7" fmla="*/ 0 h 38"/>
                  <a:gd name="T8" fmla="*/ 0 w 35"/>
                  <a:gd name="T9" fmla="*/ 0 h 38"/>
                  <a:gd name="T10" fmla="*/ 0 w 35"/>
                  <a:gd name="T11" fmla="*/ 0 h 38"/>
                  <a:gd name="T12" fmla="*/ 0 w 35"/>
                  <a:gd name="T13" fmla="*/ 0 h 38"/>
                  <a:gd name="T14" fmla="*/ 0 w 35"/>
                  <a:gd name="T15" fmla="*/ 0 h 38"/>
                  <a:gd name="T16" fmla="*/ 0 w 35"/>
                  <a:gd name="T17" fmla="*/ 0 h 38"/>
                  <a:gd name="T18" fmla="*/ 0 w 35"/>
                  <a:gd name="T19" fmla="*/ 0 h 38"/>
                  <a:gd name="T20" fmla="*/ 0 w 35"/>
                  <a:gd name="T21" fmla="*/ 0 h 38"/>
                  <a:gd name="T22" fmla="*/ 0 w 35"/>
                  <a:gd name="T23" fmla="*/ 0 h 38"/>
                  <a:gd name="T24" fmla="*/ 0 w 35"/>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38"/>
                  <a:gd name="T41" fmla="*/ 35 w 35"/>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38">
                    <a:moveTo>
                      <a:pt x="35" y="35"/>
                    </a:moveTo>
                    <a:lnTo>
                      <a:pt x="35" y="38"/>
                    </a:lnTo>
                    <a:lnTo>
                      <a:pt x="33" y="25"/>
                    </a:lnTo>
                    <a:lnTo>
                      <a:pt x="28" y="16"/>
                    </a:lnTo>
                    <a:lnTo>
                      <a:pt x="24" y="7"/>
                    </a:lnTo>
                    <a:lnTo>
                      <a:pt x="19" y="0"/>
                    </a:lnTo>
                    <a:lnTo>
                      <a:pt x="0" y="13"/>
                    </a:lnTo>
                    <a:lnTo>
                      <a:pt x="5" y="19"/>
                    </a:lnTo>
                    <a:lnTo>
                      <a:pt x="10" y="25"/>
                    </a:lnTo>
                    <a:lnTo>
                      <a:pt x="11" y="32"/>
                    </a:lnTo>
                    <a:lnTo>
                      <a:pt x="13" y="32"/>
                    </a:lnTo>
                    <a:lnTo>
                      <a:pt x="13" y="35"/>
                    </a:lnTo>
                    <a:lnTo>
                      <a:pt x="35" y="35"/>
                    </a:lnTo>
                    <a:close/>
                  </a:path>
                </a:pathLst>
              </a:custGeom>
              <a:solidFill>
                <a:srgbClr val="000000"/>
              </a:solidFill>
              <a:ln w="9525">
                <a:noFill/>
                <a:round/>
                <a:headEnd/>
                <a:tailEnd/>
              </a:ln>
            </p:spPr>
            <p:txBody>
              <a:bodyPr/>
              <a:lstStyle/>
              <a:p>
                <a:endParaRPr lang="en-US"/>
              </a:p>
            </p:txBody>
          </p:sp>
          <p:sp>
            <p:nvSpPr>
              <p:cNvPr id="24814" name="Freeform 203"/>
              <p:cNvSpPr>
                <a:spLocks/>
              </p:cNvSpPr>
              <p:nvPr/>
            </p:nvSpPr>
            <p:spPr bwMode="auto">
              <a:xfrm>
                <a:off x="2158" y="3467"/>
                <a:ext cx="11" cy="15"/>
              </a:xfrm>
              <a:custGeom>
                <a:avLst/>
                <a:gdLst>
                  <a:gd name="T0" fmla="*/ 1 w 22"/>
                  <a:gd name="T1" fmla="*/ 1 h 30"/>
                  <a:gd name="T2" fmla="*/ 1 w 22"/>
                  <a:gd name="T3" fmla="*/ 1 h 30"/>
                  <a:gd name="T4" fmla="*/ 1 w 22"/>
                  <a:gd name="T5" fmla="*/ 1 h 30"/>
                  <a:gd name="T6" fmla="*/ 1 w 22"/>
                  <a:gd name="T7" fmla="*/ 1 h 30"/>
                  <a:gd name="T8" fmla="*/ 1 w 22"/>
                  <a:gd name="T9" fmla="*/ 1 h 30"/>
                  <a:gd name="T10" fmla="*/ 1 w 22"/>
                  <a:gd name="T11" fmla="*/ 0 h 30"/>
                  <a:gd name="T12" fmla="*/ 0 w 22"/>
                  <a:gd name="T13" fmla="*/ 0 h 30"/>
                  <a:gd name="T14" fmla="*/ 0 w 22"/>
                  <a:gd name="T15" fmla="*/ 1 h 30"/>
                  <a:gd name="T16" fmla="*/ 0 w 22"/>
                  <a:gd name="T17" fmla="*/ 1 h 30"/>
                  <a:gd name="T18" fmla="*/ 0 w 22"/>
                  <a:gd name="T19" fmla="*/ 1 h 30"/>
                  <a:gd name="T20" fmla="*/ 0 w 22"/>
                  <a:gd name="T21" fmla="*/ 1 h 30"/>
                  <a:gd name="T22" fmla="*/ 1 w 22"/>
                  <a:gd name="T23" fmla="*/ 1 h 30"/>
                  <a:gd name="T24" fmla="*/ 0 w 22"/>
                  <a:gd name="T25" fmla="*/ 1 h 30"/>
                  <a:gd name="T26" fmla="*/ 1 w 22"/>
                  <a:gd name="T27" fmla="*/ 1 h 30"/>
                  <a:gd name="T28" fmla="*/ 1 w 22"/>
                  <a:gd name="T29" fmla="*/ 1 h 30"/>
                  <a:gd name="T30" fmla="*/ 1 w 22"/>
                  <a:gd name="T31" fmla="*/ 1 h 30"/>
                  <a:gd name="T32" fmla="*/ 1 w 22"/>
                  <a:gd name="T33" fmla="*/ 1 h 30"/>
                  <a:gd name="T34" fmla="*/ 1 w 22"/>
                  <a:gd name="T35" fmla="*/ 1 h 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
                  <a:gd name="T55" fmla="*/ 0 h 30"/>
                  <a:gd name="T56" fmla="*/ 22 w 22"/>
                  <a:gd name="T57" fmla="*/ 30 h 3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 h="30">
                    <a:moveTo>
                      <a:pt x="12" y="8"/>
                    </a:moveTo>
                    <a:lnTo>
                      <a:pt x="22" y="19"/>
                    </a:lnTo>
                    <a:lnTo>
                      <a:pt x="22" y="17"/>
                    </a:lnTo>
                    <a:lnTo>
                      <a:pt x="22" y="11"/>
                    </a:lnTo>
                    <a:lnTo>
                      <a:pt x="22" y="4"/>
                    </a:lnTo>
                    <a:lnTo>
                      <a:pt x="22" y="0"/>
                    </a:lnTo>
                    <a:lnTo>
                      <a:pt x="0" y="0"/>
                    </a:lnTo>
                    <a:lnTo>
                      <a:pt x="0" y="4"/>
                    </a:lnTo>
                    <a:lnTo>
                      <a:pt x="0" y="11"/>
                    </a:lnTo>
                    <a:lnTo>
                      <a:pt x="0" y="17"/>
                    </a:lnTo>
                    <a:lnTo>
                      <a:pt x="0" y="19"/>
                    </a:lnTo>
                    <a:lnTo>
                      <a:pt x="9" y="30"/>
                    </a:lnTo>
                    <a:lnTo>
                      <a:pt x="0" y="19"/>
                    </a:lnTo>
                    <a:lnTo>
                      <a:pt x="3" y="26"/>
                    </a:lnTo>
                    <a:lnTo>
                      <a:pt x="11" y="30"/>
                    </a:lnTo>
                    <a:lnTo>
                      <a:pt x="19" y="26"/>
                    </a:lnTo>
                    <a:lnTo>
                      <a:pt x="22" y="19"/>
                    </a:lnTo>
                    <a:lnTo>
                      <a:pt x="12" y="8"/>
                    </a:lnTo>
                    <a:close/>
                  </a:path>
                </a:pathLst>
              </a:custGeom>
              <a:solidFill>
                <a:srgbClr val="000000"/>
              </a:solidFill>
              <a:ln w="9525">
                <a:noFill/>
                <a:round/>
                <a:headEnd/>
                <a:tailEnd/>
              </a:ln>
            </p:spPr>
            <p:txBody>
              <a:bodyPr/>
              <a:lstStyle/>
              <a:p>
                <a:endParaRPr lang="en-US"/>
              </a:p>
            </p:txBody>
          </p:sp>
          <p:sp>
            <p:nvSpPr>
              <p:cNvPr id="24815" name="Freeform 204"/>
              <p:cNvSpPr>
                <a:spLocks/>
              </p:cNvSpPr>
              <p:nvPr/>
            </p:nvSpPr>
            <p:spPr bwMode="auto">
              <a:xfrm>
                <a:off x="2163" y="3471"/>
                <a:ext cx="12" cy="12"/>
              </a:xfrm>
              <a:custGeom>
                <a:avLst/>
                <a:gdLst>
                  <a:gd name="T0" fmla="*/ 1 w 24"/>
                  <a:gd name="T1" fmla="*/ 0 h 25"/>
                  <a:gd name="T2" fmla="*/ 1 w 24"/>
                  <a:gd name="T3" fmla="*/ 0 h 25"/>
                  <a:gd name="T4" fmla="*/ 1 w 24"/>
                  <a:gd name="T5" fmla="*/ 0 h 25"/>
                  <a:gd name="T6" fmla="*/ 1 w 24"/>
                  <a:gd name="T7" fmla="*/ 0 h 25"/>
                  <a:gd name="T8" fmla="*/ 1 w 24"/>
                  <a:gd name="T9" fmla="*/ 0 h 25"/>
                  <a:gd name="T10" fmla="*/ 1 w 24"/>
                  <a:gd name="T11" fmla="*/ 0 h 25"/>
                  <a:gd name="T12" fmla="*/ 0 w 24"/>
                  <a:gd name="T13" fmla="*/ 0 h 25"/>
                  <a:gd name="T14" fmla="*/ 0 w 24"/>
                  <a:gd name="T15" fmla="*/ 0 h 25"/>
                  <a:gd name="T16" fmla="*/ 1 w 24"/>
                  <a:gd name="T17" fmla="*/ 0 h 25"/>
                  <a:gd name="T18" fmla="*/ 1 w 24"/>
                  <a:gd name="T19" fmla="*/ 0 h 25"/>
                  <a:gd name="T20" fmla="*/ 1 w 24"/>
                  <a:gd name="T21" fmla="*/ 0 h 25"/>
                  <a:gd name="T22" fmla="*/ 1 w 24"/>
                  <a:gd name="T23" fmla="*/ 0 h 25"/>
                  <a:gd name="T24" fmla="*/ 1 w 24"/>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5"/>
                  <a:gd name="T41" fmla="*/ 24 w 24"/>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5">
                    <a:moveTo>
                      <a:pt x="24" y="4"/>
                    </a:moveTo>
                    <a:lnTo>
                      <a:pt x="21" y="3"/>
                    </a:lnTo>
                    <a:lnTo>
                      <a:pt x="14" y="1"/>
                    </a:lnTo>
                    <a:lnTo>
                      <a:pt x="10" y="1"/>
                    </a:lnTo>
                    <a:lnTo>
                      <a:pt x="6" y="0"/>
                    </a:lnTo>
                    <a:lnTo>
                      <a:pt x="3" y="0"/>
                    </a:lnTo>
                    <a:lnTo>
                      <a:pt x="0" y="22"/>
                    </a:lnTo>
                    <a:lnTo>
                      <a:pt x="6" y="23"/>
                    </a:lnTo>
                    <a:lnTo>
                      <a:pt x="11" y="23"/>
                    </a:lnTo>
                    <a:lnTo>
                      <a:pt x="17" y="25"/>
                    </a:lnTo>
                    <a:lnTo>
                      <a:pt x="14" y="23"/>
                    </a:lnTo>
                    <a:lnTo>
                      <a:pt x="24" y="4"/>
                    </a:lnTo>
                    <a:close/>
                  </a:path>
                </a:pathLst>
              </a:custGeom>
              <a:solidFill>
                <a:srgbClr val="000000"/>
              </a:solidFill>
              <a:ln w="9525">
                <a:noFill/>
                <a:round/>
                <a:headEnd/>
                <a:tailEnd/>
              </a:ln>
            </p:spPr>
            <p:txBody>
              <a:bodyPr/>
              <a:lstStyle/>
              <a:p>
                <a:endParaRPr lang="en-US"/>
              </a:p>
            </p:txBody>
          </p:sp>
          <p:sp>
            <p:nvSpPr>
              <p:cNvPr id="24816" name="Freeform 205"/>
              <p:cNvSpPr>
                <a:spLocks/>
              </p:cNvSpPr>
              <p:nvPr/>
            </p:nvSpPr>
            <p:spPr bwMode="auto">
              <a:xfrm>
                <a:off x="2170" y="3473"/>
                <a:ext cx="16" cy="20"/>
              </a:xfrm>
              <a:custGeom>
                <a:avLst/>
                <a:gdLst>
                  <a:gd name="T0" fmla="*/ 1 w 32"/>
                  <a:gd name="T1" fmla="*/ 0 h 41"/>
                  <a:gd name="T2" fmla="*/ 1 w 32"/>
                  <a:gd name="T3" fmla="*/ 0 h 41"/>
                  <a:gd name="T4" fmla="*/ 1 w 32"/>
                  <a:gd name="T5" fmla="*/ 0 h 41"/>
                  <a:gd name="T6" fmla="*/ 1 w 32"/>
                  <a:gd name="T7" fmla="*/ 0 h 41"/>
                  <a:gd name="T8" fmla="*/ 1 w 32"/>
                  <a:gd name="T9" fmla="*/ 0 h 41"/>
                  <a:gd name="T10" fmla="*/ 1 w 32"/>
                  <a:gd name="T11" fmla="*/ 0 h 41"/>
                  <a:gd name="T12" fmla="*/ 0 w 32"/>
                  <a:gd name="T13" fmla="*/ 0 h 41"/>
                  <a:gd name="T14" fmla="*/ 1 w 32"/>
                  <a:gd name="T15" fmla="*/ 0 h 41"/>
                  <a:gd name="T16" fmla="*/ 1 w 32"/>
                  <a:gd name="T17" fmla="*/ 0 h 41"/>
                  <a:gd name="T18" fmla="*/ 1 w 32"/>
                  <a:gd name="T19" fmla="*/ 0 h 41"/>
                  <a:gd name="T20" fmla="*/ 1 w 32"/>
                  <a:gd name="T21" fmla="*/ 0 h 41"/>
                  <a:gd name="T22" fmla="*/ 1 w 32"/>
                  <a:gd name="T23" fmla="*/ 0 h 41"/>
                  <a:gd name="T24" fmla="*/ 1 w 32"/>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
                  <a:gd name="T40" fmla="*/ 0 h 41"/>
                  <a:gd name="T41" fmla="*/ 32 w 32"/>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 h="41">
                    <a:moveTo>
                      <a:pt x="32" y="35"/>
                    </a:moveTo>
                    <a:lnTo>
                      <a:pt x="32" y="35"/>
                    </a:lnTo>
                    <a:lnTo>
                      <a:pt x="27" y="24"/>
                    </a:lnTo>
                    <a:lnTo>
                      <a:pt x="22" y="14"/>
                    </a:lnTo>
                    <a:lnTo>
                      <a:pt x="17" y="7"/>
                    </a:lnTo>
                    <a:lnTo>
                      <a:pt x="10" y="0"/>
                    </a:lnTo>
                    <a:lnTo>
                      <a:pt x="0" y="19"/>
                    </a:lnTo>
                    <a:lnTo>
                      <a:pt x="2" y="19"/>
                    </a:lnTo>
                    <a:lnTo>
                      <a:pt x="3" y="24"/>
                    </a:lnTo>
                    <a:lnTo>
                      <a:pt x="8" y="33"/>
                    </a:lnTo>
                    <a:lnTo>
                      <a:pt x="10" y="41"/>
                    </a:lnTo>
                    <a:lnTo>
                      <a:pt x="32" y="35"/>
                    </a:lnTo>
                    <a:close/>
                  </a:path>
                </a:pathLst>
              </a:custGeom>
              <a:solidFill>
                <a:srgbClr val="000000"/>
              </a:solidFill>
              <a:ln w="9525">
                <a:noFill/>
                <a:round/>
                <a:headEnd/>
                <a:tailEnd/>
              </a:ln>
            </p:spPr>
            <p:txBody>
              <a:bodyPr/>
              <a:lstStyle/>
              <a:p>
                <a:endParaRPr lang="en-US"/>
              </a:p>
            </p:txBody>
          </p:sp>
          <p:sp>
            <p:nvSpPr>
              <p:cNvPr id="24817" name="Freeform 206"/>
              <p:cNvSpPr>
                <a:spLocks/>
              </p:cNvSpPr>
              <p:nvPr/>
            </p:nvSpPr>
            <p:spPr bwMode="auto">
              <a:xfrm>
                <a:off x="2175" y="3490"/>
                <a:ext cx="19" cy="21"/>
              </a:xfrm>
              <a:custGeom>
                <a:avLst/>
                <a:gdLst>
                  <a:gd name="T0" fmla="*/ 1 w 37"/>
                  <a:gd name="T1" fmla="*/ 1 h 42"/>
                  <a:gd name="T2" fmla="*/ 1 w 37"/>
                  <a:gd name="T3" fmla="*/ 1 h 42"/>
                  <a:gd name="T4" fmla="*/ 1 w 37"/>
                  <a:gd name="T5" fmla="*/ 1 h 42"/>
                  <a:gd name="T6" fmla="*/ 1 w 37"/>
                  <a:gd name="T7" fmla="*/ 1 h 42"/>
                  <a:gd name="T8" fmla="*/ 1 w 37"/>
                  <a:gd name="T9" fmla="*/ 1 h 42"/>
                  <a:gd name="T10" fmla="*/ 1 w 37"/>
                  <a:gd name="T11" fmla="*/ 0 h 42"/>
                  <a:gd name="T12" fmla="*/ 0 w 37"/>
                  <a:gd name="T13" fmla="*/ 1 h 42"/>
                  <a:gd name="T14" fmla="*/ 1 w 37"/>
                  <a:gd name="T15" fmla="*/ 1 h 42"/>
                  <a:gd name="T16" fmla="*/ 1 w 37"/>
                  <a:gd name="T17" fmla="*/ 1 h 42"/>
                  <a:gd name="T18" fmla="*/ 1 w 37"/>
                  <a:gd name="T19" fmla="*/ 1 h 42"/>
                  <a:gd name="T20" fmla="*/ 1 w 37"/>
                  <a:gd name="T21" fmla="*/ 1 h 42"/>
                  <a:gd name="T22" fmla="*/ 1 w 37"/>
                  <a:gd name="T23" fmla="*/ 1 h 42"/>
                  <a:gd name="T24" fmla="*/ 1 w 37"/>
                  <a:gd name="T25" fmla="*/ 1 h 42"/>
                  <a:gd name="T26" fmla="*/ 1 w 37"/>
                  <a:gd name="T27" fmla="*/ 1 h 42"/>
                  <a:gd name="T28" fmla="*/ 1 w 37"/>
                  <a:gd name="T29" fmla="*/ 1 h 42"/>
                  <a:gd name="T30" fmla="*/ 1 w 37"/>
                  <a:gd name="T31" fmla="*/ 1 h 42"/>
                  <a:gd name="T32" fmla="*/ 1 w 37"/>
                  <a:gd name="T33" fmla="*/ 1 h 42"/>
                  <a:gd name="T34" fmla="*/ 1 w 37"/>
                  <a:gd name="T35" fmla="*/ 1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
                  <a:gd name="T55" fmla="*/ 0 h 42"/>
                  <a:gd name="T56" fmla="*/ 37 w 37"/>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 h="42">
                    <a:moveTo>
                      <a:pt x="26" y="20"/>
                    </a:moveTo>
                    <a:lnTo>
                      <a:pt x="36" y="25"/>
                    </a:lnTo>
                    <a:lnTo>
                      <a:pt x="34" y="22"/>
                    </a:lnTo>
                    <a:lnTo>
                      <a:pt x="29" y="15"/>
                    </a:lnTo>
                    <a:lnTo>
                      <a:pt x="25" y="9"/>
                    </a:lnTo>
                    <a:lnTo>
                      <a:pt x="22" y="0"/>
                    </a:lnTo>
                    <a:lnTo>
                      <a:pt x="0" y="6"/>
                    </a:lnTo>
                    <a:lnTo>
                      <a:pt x="6" y="18"/>
                    </a:lnTo>
                    <a:lnTo>
                      <a:pt x="11" y="28"/>
                    </a:lnTo>
                    <a:lnTo>
                      <a:pt x="15" y="34"/>
                    </a:lnTo>
                    <a:lnTo>
                      <a:pt x="17" y="37"/>
                    </a:lnTo>
                    <a:lnTo>
                      <a:pt x="26" y="42"/>
                    </a:lnTo>
                    <a:lnTo>
                      <a:pt x="17" y="37"/>
                    </a:lnTo>
                    <a:lnTo>
                      <a:pt x="25" y="42"/>
                    </a:lnTo>
                    <a:lnTo>
                      <a:pt x="33" y="40"/>
                    </a:lnTo>
                    <a:lnTo>
                      <a:pt x="37" y="34"/>
                    </a:lnTo>
                    <a:lnTo>
                      <a:pt x="36" y="25"/>
                    </a:lnTo>
                    <a:lnTo>
                      <a:pt x="26" y="20"/>
                    </a:lnTo>
                    <a:close/>
                  </a:path>
                </a:pathLst>
              </a:custGeom>
              <a:solidFill>
                <a:srgbClr val="000000"/>
              </a:solidFill>
              <a:ln w="9525">
                <a:noFill/>
                <a:round/>
                <a:headEnd/>
                <a:tailEnd/>
              </a:ln>
            </p:spPr>
            <p:txBody>
              <a:bodyPr/>
              <a:lstStyle/>
              <a:p>
                <a:endParaRPr lang="en-US"/>
              </a:p>
            </p:txBody>
          </p:sp>
        </p:grpSp>
        <p:sp>
          <p:nvSpPr>
            <p:cNvPr id="24586" name="Freeform 207"/>
            <p:cNvSpPr>
              <a:spLocks/>
            </p:cNvSpPr>
            <p:nvPr/>
          </p:nvSpPr>
          <p:spPr bwMode="auto">
            <a:xfrm>
              <a:off x="1851" y="3424"/>
              <a:ext cx="43" cy="139"/>
            </a:xfrm>
            <a:custGeom>
              <a:avLst/>
              <a:gdLst>
                <a:gd name="T0" fmla="*/ 0 w 85"/>
                <a:gd name="T1" fmla="*/ 0 h 278"/>
                <a:gd name="T2" fmla="*/ 0 w 85"/>
                <a:gd name="T3" fmla="*/ 1 h 278"/>
                <a:gd name="T4" fmla="*/ 1 w 85"/>
                <a:gd name="T5" fmla="*/ 1 h 278"/>
                <a:gd name="T6" fmla="*/ 1 w 85"/>
                <a:gd name="T7" fmla="*/ 1 h 278"/>
                <a:gd name="T8" fmla="*/ 0 w 85"/>
                <a:gd name="T9" fmla="*/ 0 h 278"/>
                <a:gd name="T10" fmla="*/ 0 60000 65536"/>
                <a:gd name="T11" fmla="*/ 0 60000 65536"/>
                <a:gd name="T12" fmla="*/ 0 60000 65536"/>
                <a:gd name="T13" fmla="*/ 0 60000 65536"/>
                <a:gd name="T14" fmla="*/ 0 60000 65536"/>
                <a:gd name="T15" fmla="*/ 0 w 85"/>
                <a:gd name="T16" fmla="*/ 0 h 278"/>
                <a:gd name="T17" fmla="*/ 85 w 85"/>
                <a:gd name="T18" fmla="*/ 278 h 278"/>
              </a:gdLst>
              <a:ahLst/>
              <a:cxnLst>
                <a:cxn ang="T10">
                  <a:pos x="T0" y="T1"/>
                </a:cxn>
                <a:cxn ang="T11">
                  <a:pos x="T2" y="T3"/>
                </a:cxn>
                <a:cxn ang="T12">
                  <a:pos x="T4" y="T5"/>
                </a:cxn>
                <a:cxn ang="T13">
                  <a:pos x="T6" y="T7"/>
                </a:cxn>
                <a:cxn ang="T14">
                  <a:pos x="T8" y="T9"/>
                </a:cxn>
              </a:cxnLst>
              <a:rect l="T15" t="T16" r="T17" b="T18"/>
              <a:pathLst>
                <a:path w="85" h="278">
                  <a:moveTo>
                    <a:pt x="0" y="0"/>
                  </a:moveTo>
                  <a:lnTo>
                    <a:pt x="0" y="234"/>
                  </a:lnTo>
                  <a:lnTo>
                    <a:pt x="85" y="278"/>
                  </a:lnTo>
                  <a:lnTo>
                    <a:pt x="85" y="40"/>
                  </a:lnTo>
                  <a:lnTo>
                    <a:pt x="0" y="0"/>
                  </a:lnTo>
                  <a:close/>
                </a:path>
              </a:pathLst>
            </a:custGeom>
            <a:solidFill>
              <a:srgbClr val="4CB2FF"/>
            </a:solidFill>
            <a:ln w="9525">
              <a:noFill/>
              <a:round/>
              <a:headEnd/>
              <a:tailEnd/>
            </a:ln>
          </p:spPr>
          <p:txBody>
            <a:bodyPr/>
            <a:lstStyle/>
            <a:p>
              <a:endParaRPr lang="en-US"/>
            </a:p>
          </p:txBody>
        </p:sp>
        <p:sp>
          <p:nvSpPr>
            <p:cNvPr id="24587" name="Freeform 208"/>
            <p:cNvSpPr>
              <a:spLocks/>
            </p:cNvSpPr>
            <p:nvPr/>
          </p:nvSpPr>
          <p:spPr bwMode="auto">
            <a:xfrm>
              <a:off x="1846" y="3424"/>
              <a:ext cx="11" cy="123"/>
            </a:xfrm>
            <a:custGeom>
              <a:avLst/>
              <a:gdLst>
                <a:gd name="T0" fmla="*/ 1 w 22"/>
                <a:gd name="T1" fmla="*/ 1 h 245"/>
                <a:gd name="T2" fmla="*/ 1 w 22"/>
                <a:gd name="T3" fmla="*/ 1 h 245"/>
                <a:gd name="T4" fmla="*/ 1 w 22"/>
                <a:gd name="T5" fmla="*/ 0 h 245"/>
                <a:gd name="T6" fmla="*/ 0 w 22"/>
                <a:gd name="T7" fmla="*/ 0 h 245"/>
                <a:gd name="T8" fmla="*/ 0 w 22"/>
                <a:gd name="T9" fmla="*/ 1 h 245"/>
                <a:gd name="T10" fmla="*/ 1 w 22"/>
                <a:gd name="T11" fmla="*/ 1 h 245"/>
                <a:gd name="T12" fmla="*/ 0 w 22"/>
                <a:gd name="T13" fmla="*/ 1 h 245"/>
                <a:gd name="T14" fmla="*/ 1 w 22"/>
                <a:gd name="T15" fmla="*/ 1 h 245"/>
                <a:gd name="T16" fmla="*/ 1 w 22"/>
                <a:gd name="T17" fmla="*/ 1 h 245"/>
                <a:gd name="T18" fmla="*/ 1 w 22"/>
                <a:gd name="T19" fmla="*/ 1 h 245"/>
                <a:gd name="T20" fmla="*/ 1 w 22"/>
                <a:gd name="T21" fmla="*/ 1 h 245"/>
                <a:gd name="T22" fmla="*/ 1 w 22"/>
                <a:gd name="T23" fmla="*/ 1 h 2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5"/>
                <a:gd name="T38" fmla="*/ 22 w 22"/>
                <a:gd name="T39" fmla="*/ 245 h 2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5">
                  <a:moveTo>
                    <a:pt x="16" y="225"/>
                  </a:moveTo>
                  <a:lnTo>
                    <a:pt x="22" y="234"/>
                  </a:lnTo>
                  <a:lnTo>
                    <a:pt x="22" y="0"/>
                  </a:lnTo>
                  <a:lnTo>
                    <a:pt x="0" y="0"/>
                  </a:lnTo>
                  <a:lnTo>
                    <a:pt x="0" y="234"/>
                  </a:lnTo>
                  <a:lnTo>
                    <a:pt x="6" y="244"/>
                  </a:lnTo>
                  <a:lnTo>
                    <a:pt x="0" y="234"/>
                  </a:lnTo>
                  <a:lnTo>
                    <a:pt x="3" y="242"/>
                  </a:lnTo>
                  <a:lnTo>
                    <a:pt x="11" y="245"/>
                  </a:lnTo>
                  <a:lnTo>
                    <a:pt x="19" y="242"/>
                  </a:lnTo>
                  <a:lnTo>
                    <a:pt x="22" y="234"/>
                  </a:lnTo>
                  <a:lnTo>
                    <a:pt x="16" y="225"/>
                  </a:lnTo>
                  <a:close/>
                </a:path>
              </a:pathLst>
            </a:custGeom>
            <a:solidFill>
              <a:srgbClr val="000000"/>
            </a:solidFill>
            <a:ln w="9525">
              <a:noFill/>
              <a:round/>
              <a:headEnd/>
              <a:tailEnd/>
            </a:ln>
          </p:spPr>
          <p:txBody>
            <a:bodyPr/>
            <a:lstStyle/>
            <a:p>
              <a:endParaRPr lang="en-US"/>
            </a:p>
          </p:txBody>
        </p:sp>
        <p:sp>
          <p:nvSpPr>
            <p:cNvPr id="24588" name="Freeform 209"/>
            <p:cNvSpPr>
              <a:spLocks/>
            </p:cNvSpPr>
            <p:nvPr/>
          </p:nvSpPr>
          <p:spPr bwMode="auto">
            <a:xfrm>
              <a:off x="1849" y="3537"/>
              <a:ext cx="50" cy="31"/>
            </a:xfrm>
            <a:custGeom>
              <a:avLst/>
              <a:gdLst>
                <a:gd name="T0" fmla="*/ 0 w 101"/>
                <a:gd name="T1" fmla="*/ 0 h 63"/>
                <a:gd name="T2" fmla="*/ 0 w 101"/>
                <a:gd name="T3" fmla="*/ 0 h 63"/>
                <a:gd name="T4" fmla="*/ 0 w 101"/>
                <a:gd name="T5" fmla="*/ 0 h 63"/>
                <a:gd name="T6" fmla="*/ 0 w 101"/>
                <a:gd name="T7" fmla="*/ 0 h 63"/>
                <a:gd name="T8" fmla="*/ 0 w 101"/>
                <a:gd name="T9" fmla="*/ 0 h 63"/>
                <a:gd name="T10" fmla="*/ 0 w 101"/>
                <a:gd name="T11" fmla="*/ 0 h 63"/>
                <a:gd name="T12" fmla="*/ 0 w 101"/>
                <a:gd name="T13" fmla="*/ 0 h 63"/>
                <a:gd name="T14" fmla="*/ 0 w 101"/>
                <a:gd name="T15" fmla="*/ 0 h 63"/>
                <a:gd name="T16" fmla="*/ 0 w 101"/>
                <a:gd name="T17" fmla="*/ 0 h 63"/>
                <a:gd name="T18" fmla="*/ 0 w 101"/>
                <a:gd name="T19" fmla="*/ 0 h 63"/>
                <a:gd name="T20" fmla="*/ 0 w 101"/>
                <a:gd name="T21" fmla="*/ 0 h 63"/>
                <a:gd name="T22" fmla="*/ 0 w 101"/>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3"/>
                <a:gd name="T38" fmla="*/ 101 w 101"/>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3">
                  <a:moveTo>
                    <a:pt x="79" y="53"/>
                  </a:moveTo>
                  <a:lnTo>
                    <a:pt x="94" y="44"/>
                  </a:lnTo>
                  <a:lnTo>
                    <a:pt x="10" y="0"/>
                  </a:lnTo>
                  <a:lnTo>
                    <a:pt x="0" y="19"/>
                  </a:lnTo>
                  <a:lnTo>
                    <a:pt x="85" y="63"/>
                  </a:lnTo>
                  <a:lnTo>
                    <a:pt x="101" y="53"/>
                  </a:lnTo>
                  <a:lnTo>
                    <a:pt x="85" y="63"/>
                  </a:lnTo>
                  <a:lnTo>
                    <a:pt x="93" y="63"/>
                  </a:lnTo>
                  <a:lnTo>
                    <a:pt x="99" y="58"/>
                  </a:lnTo>
                  <a:lnTo>
                    <a:pt x="101" y="50"/>
                  </a:lnTo>
                  <a:lnTo>
                    <a:pt x="94" y="44"/>
                  </a:lnTo>
                  <a:lnTo>
                    <a:pt x="79" y="53"/>
                  </a:lnTo>
                  <a:close/>
                </a:path>
              </a:pathLst>
            </a:custGeom>
            <a:solidFill>
              <a:srgbClr val="000000"/>
            </a:solidFill>
            <a:ln w="9525">
              <a:noFill/>
              <a:round/>
              <a:headEnd/>
              <a:tailEnd/>
            </a:ln>
          </p:spPr>
          <p:txBody>
            <a:bodyPr/>
            <a:lstStyle/>
            <a:p>
              <a:endParaRPr lang="en-US"/>
            </a:p>
          </p:txBody>
        </p:sp>
        <p:sp>
          <p:nvSpPr>
            <p:cNvPr id="24589" name="Freeform 210"/>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6" y="21"/>
                  </a:moveTo>
                  <a:lnTo>
                    <a:pt x="0" y="11"/>
                  </a:lnTo>
                  <a:lnTo>
                    <a:pt x="0" y="249"/>
                  </a:lnTo>
                  <a:lnTo>
                    <a:pt x="22" y="249"/>
                  </a:lnTo>
                  <a:lnTo>
                    <a:pt x="22" y="11"/>
                  </a:lnTo>
                  <a:lnTo>
                    <a:pt x="15" y="2"/>
                  </a:lnTo>
                  <a:lnTo>
                    <a:pt x="22" y="11"/>
                  </a:lnTo>
                  <a:lnTo>
                    <a:pt x="18" y="4"/>
                  </a:lnTo>
                  <a:lnTo>
                    <a:pt x="11" y="0"/>
                  </a:lnTo>
                  <a:lnTo>
                    <a:pt x="3" y="4"/>
                  </a:lnTo>
                  <a:lnTo>
                    <a:pt x="0" y="11"/>
                  </a:lnTo>
                  <a:lnTo>
                    <a:pt x="6" y="21"/>
                  </a:lnTo>
                  <a:close/>
                </a:path>
              </a:pathLst>
            </a:custGeom>
            <a:solidFill>
              <a:srgbClr val="000000"/>
            </a:solidFill>
            <a:ln w="9525">
              <a:noFill/>
              <a:round/>
              <a:headEnd/>
              <a:tailEnd/>
            </a:ln>
          </p:spPr>
          <p:txBody>
            <a:bodyPr/>
            <a:lstStyle/>
            <a:p>
              <a:endParaRPr lang="en-US"/>
            </a:p>
          </p:txBody>
        </p:sp>
        <p:sp>
          <p:nvSpPr>
            <p:cNvPr id="24590" name="Freeform 211"/>
            <p:cNvSpPr>
              <a:spLocks/>
            </p:cNvSpPr>
            <p:nvPr/>
          </p:nvSpPr>
          <p:spPr bwMode="auto">
            <a:xfrm>
              <a:off x="1846" y="3419"/>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0 w 100"/>
                <a:gd name="T11" fmla="*/ 1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22" y="10"/>
                  </a:moveTo>
                  <a:lnTo>
                    <a:pt x="6" y="19"/>
                  </a:lnTo>
                  <a:lnTo>
                    <a:pt x="91" y="60"/>
                  </a:lnTo>
                  <a:lnTo>
                    <a:pt x="100" y="41"/>
                  </a:lnTo>
                  <a:lnTo>
                    <a:pt x="16" y="0"/>
                  </a:lnTo>
                  <a:lnTo>
                    <a:pt x="0" y="10"/>
                  </a:lnTo>
                  <a:lnTo>
                    <a:pt x="16" y="0"/>
                  </a:lnTo>
                  <a:lnTo>
                    <a:pt x="8" y="0"/>
                  </a:lnTo>
                  <a:lnTo>
                    <a:pt x="2"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4591" name="Freeform 212"/>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close/>
                </a:path>
              </a:pathLst>
            </a:custGeom>
            <a:solidFill>
              <a:srgbClr val="B2B2B2"/>
            </a:solidFill>
            <a:ln w="9525">
              <a:noFill/>
              <a:round/>
              <a:headEnd/>
              <a:tailEnd/>
            </a:ln>
          </p:spPr>
          <p:txBody>
            <a:bodyPr/>
            <a:lstStyle/>
            <a:p>
              <a:endParaRPr lang="en-US"/>
            </a:p>
          </p:txBody>
        </p:sp>
        <p:sp>
          <p:nvSpPr>
            <p:cNvPr id="24592" name="Freeform 213"/>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path>
              </a:pathLst>
            </a:custGeom>
            <a:noFill/>
            <a:ln w="0">
              <a:solidFill>
                <a:srgbClr val="000000"/>
              </a:solidFill>
              <a:round/>
              <a:headEnd/>
              <a:tailEnd/>
            </a:ln>
          </p:spPr>
          <p:txBody>
            <a:bodyPr/>
            <a:lstStyle/>
            <a:p>
              <a:endParaRPr lang="en-US"/>
            </a:p>
          </p:txBody>
        </p:sp>
        <p:sp>
          <p:nvSpPr>
            <p:cNvPr id="24593" name="Freeform 214"/>
            <p:cNvSpPr>
              <a:spLocks/>
            </p:cNvSpPr>
            <p:nvPr/>
          </p:nvSpPr>
          <p:spPr bwMode="auto">
            <a:xfrm>
              <a:off x="1974" y="3604"/>
              <a:ext cx="142" cy="50"/>
            </a:xfrm>
            <a:custGeom>
              <a:avLst/>
              <a:gdLst>
                <a:gd name="T0" fmla="*/ 0 w 285"/>
                <a:gd name="T1" fmla="*/ 1 h 100"/>
                <a:gd name="T2" fmla="*/ 0 w 285"/>
                <a:gd name="T3" fmla="*/ 1 h 100"/>
                <a:gd name="T4" fmla="*/ 0 w 285"/>
                <a:gd name="T5" fmla="*/ 1 h 100"/>
                <a:gd name="T6" fmla="*/ 0 w 285"/>
                <a:gd name="T7" fmla="*/ 1 h 100"/>
                <a:gd name="T8" fmla="*/ 0 w 285"/>
                <a:gd name="T9" fmla="*/ 1 h 100"/>
                <a:gd name="T10" fmla="*/ 0 w 285"/>
                <a:gd name="T11" fmla="*/ 1 h 100"/>
                <a:gd name="T12" fmla="*/ 0 w 285"/>
                <a:gd name="T13" fmla="*/ 1 h 100"/>
                <a:gd name="T14" fmla="*/ 0 w 285"/>
                <a:gd name="T15" fmla="*/ 1 h 100"/>
                <a:gd name="T16" fmla="*/ 0 w 285"/>
                <a:gd name="T17" fmla="*/ 1 h 100"/>
                <a:gd name="T18" fmla="*/ 0 w 285"/>
                <a:gd name="T19" fmla="*/ 1 h 100"/>
                <a:gd name="T20" fmla="*/ 0 w 285"/>
                <a:gd name="T21" fmla="*/ 1 h 100"/>
                <a:gd name="T22" fmla="*/ 0 w 285"/>
                <a:gd name="T23" fmla="*/ 1 h 100"/>
                <a:gd name="T24" fmla="*/ 0 w 285"/>
                <a:gd name="T25" fmla="*/ 1 h 100"/>
                <a:gd name="T26" fmla="*/ 0 w 285"/>
                <a:gd name="T27" fmla="*/ 1 h 100"/>
                <a:gd name="T28" fmla="*/ 0 w 285"/>
                <a:gd name="T29" fmla="*/ 1 h 100"/>
                <a:gd name="T30" fmla="*/ 0 w 285"/>
                <a:gd name="T31" fmla="*/ 1 h 100"/>
                <a:gd name="T32" fmla="*/ 0 w 285"/>
                <a:gd name="T33" fmla="*/ 1 h 100"/>
                <a:gd name="T34" fmla="*/ 0 w 285"/>
                <a:gd name="T35" fmla="*/ 1 h 100"/>
                <a:gd name="T36" fmla="*/ 0 w 285"/>
                <a:gd name="T37" fmla="*/ 1 h 100"/>
                <a:gd name="T38" fmla="*/ 0 w 285"/>
                <a:gd name="T39" fmla="*/ 1 h 100"/>
                <a:gd name="T40" fmla="*/ 0 w 285"/>
                <a:gd name="T41" fmla="*/ 1 h 100"/>
                <a:gd name="T42" fmla="*/ 0 w 285"/>
                <a:gd name="T43" fmla="*/ 0 h 100"/>
                <a:gd name="T44" fmla="*/ 0 w 285"/>
                <a:gd name="T45" fmla="*/ 1 h 100"/>
                <a:gd name="T46" fmla="*/ 0 w 285"/>
                <a:gd name="T47" fmla="*/ 1 h 100"/>
                <a:gd name="T48" fmla="*/ 0 w 285"/>
                <a:gd name="T49" fmla="*/ 1 h 100"/>
                <a:gd name="T50" fmla="*/ 0 w 285"/>
                <a:gd name="T51" fmla="*/ 1 h 100"/>
                <a:gd name="T52" fmla="*/ 0 w 285"/>
                <a:gd name="T53" fmla="*/ 1 h 100"/>
                <a:gd name="T54" fmla="*/ 0 w 285"/>
                <a:gd name="T55" fmla="*/ 1 h 100"/>
                <a:gd name="T56" fmla="*/ 0 w 285"/>
                <a:gd name="T57" fmla="*/ 1 h 100"/>
                <a:gd name="T58" fmla="*/ 0 w 285"/>
                <a:gd name="T59" fmla="*/ 1 h 100"/>
                <a:gd name="T60" fmla="*/ 0 w 285"/>
                <a:gd name="T61" fmla="*/ 1 h 100"/>
                <a:gd name="T62" fmla="*/ 0 w 285"/>
                <a:gd name="T63" fmla="*/ 1 h 100"/>
                <a:gd name="T64" fmla="*/ 0 w 285"/>
                <a:gd name="T65" fmla="*/ 1 h 100"/>
                <a:gd name="T66" fmla="*/ 0 w 285"/>
                <a:gd name="T67" fmla="*/ 1 h 100"/>
                <a:gd name="T68" fmla="*/ 0 w 285"/>
                <a:gd name="T69" fmla="*/ 1 h 1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5"/>
                <a:gd name="T106" fmla="*/ 0 h 100"/>
                <a:gd name="T107" fmla="*/ 285 w 285"/>
                <a:gd name="T108" fmla="*/ 100 h 1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5" h="100">
                  <a:moveTo>
                    <a:pt x="284" y="65"/>
                  </a:moveTo>
                  <a:lnTo>
                    <a:pt x="224" y="98"/>
                  </a:lnTo>
                  <a:lnTo>
                    <a:pt x="215" y="100"/>
                  </a:lnTo>
                  <a:lnTo>
                    <a:pt x="208" y="98"/>
                  </a:lnTo>
                  <a:lnTo>
                    <a:pt x="191" y="95"/>
                  </a:lnTo>
                  <a:lnTo>
                    <a:pt x="168" y="90"/>
                  </a:lnTo>
                  <a:lnTo>
                    <a:pt x="140" y="84"/>
                  </a:lnTo>
                  <a:lnTo>
                    <a:pt x="110" y="78"/>
                  </a:lnTo>
                  <a:lnTo>
                    <a:pt x="83" y="72"/>
                  </a:lnTo>
                  <a:lnTo>
                    <a:pt x="61" y="65"/>
                  </a:lnTo>
                  <a:lnTo>
                    <a:pt x="47" y="62"/>
                  </a:lnTo>
                  <a:lnTo>
                    <a:pt x="22" y="57"/>
                  </a:lnTo>
                  <a:lnTo>
                    <a:pt x="19" y="57"/>
                  </a:lnTo>
                  <a:lnTo>
                    <a:pt x="21" y="64"/>
                  </a:lnTo>
                  <a:lnTo>
                    <a:pt x="16" y="65"/>
                  </a:lnTo>
                  <a:lnTo>
                    <a:pt x="14" y="65"/>
                  </a:lnTo>
                  <a:lnTo>
                    <a:pt x="10" y="62"/>
                  </a:lnTo>
                  <a:lnTo>
                    <a:pt x="7" y="59"/>
                  </a:lnTo>
                  <a:lnTo>
                    <a:pt x="3" y="54"/>
                  </a:lnTo>
                  <a:lnTo>
                    <a:pt x="2" y="50"/>
                  </a:lnTo>
                  <a:lnTo>
                    <a:pt x="0" y="47"/>
                  </a:lnTo>
                  <a:lnTo>
                    <a:pt x="0" y="45"/>
                  </a:lnTo>
                  <a:lnTo>
                    <a:pt x="2" y="43"/>
                  </a:lnTo>
                  <a:lnTo>
                    <a:pt x="5" y="42"/>
                  </a:lnTo>
                  <a:lnTo>
                    <a:pt x="5" y="37"/>
                  </a:lnTo>
                  <a:lnTo>
                    <a:pt x="7" y="34"/>
                  </a:lnTo>
                  <a:lnTo>
                    <a:pt x="8" y="32"/>
                  </a:lnTo>
                  <a:lnTo>
                    <a:pt x="11" y="29"/>
                  </a:lnTo>
                  <a:lnTo>
                    <a:pt x="14" y="26"/>
                  </a:lnTo>
                  <a:lnTo>
                    <a:pt x="19" y="23"/>
                  </a:lnTo>
                  <a:lnTo>
                    <a:pt x="22" y="20"/>
                  </a:lnTo>
                  <a:lnTo>
                    <a:pt x="25" y="18"/>
                  </a:lnTo>
                  <a:lnTo>
                    <a:pt x="28" y="14"/>
                  </a:lnTo>
                  <a:lnTo>
                    <a:pt x="30" y="11"/>
                  </a:lnTo>
                  <a:lnTo>
                    <a:pt x="33" y="7"/>
                  </a:lnTo>
                  <a:lnTo>
                    <a:pt x="39" y="9"/>
                  </a:lnTo>
                  <a:lnTo>
                    <a:pt x="50" y="14"/>
                  </a:lnTo>
                  <a:lnTo>
                    <a:pt x="58" y="18"/>
                  </a:lnTo>
                  <a:lnTo>
                    <a:pt x="63" y="20"/>
                  </a:lnTo>
                  <a:lnTo>
                    <a:pt x="60" y="17"/>
                  </a:lnTo>
                  <a:lnTo>
                    <a:pt x="61" y="6"/>
                  </a:lnTo>
                  <a:lnTo>
                    <a:pt x="61" y="4"/>
                  </a:lnTo>
                  <a:lnTo>
                    <a:pt x="63" y="3"/>
                  </a:lnTo>
                  <a:lnTo>
                    <a:pt x="66" y="0"/>
                  </a:lnTo>
                  <a:lnTo>
                    <a:pt x="68" y="0"/>
                  </a:lnTo>
                  <a:lnTo>
                    <a:pt x="69" y="1"/>
                  </a:lnTo>
                  <a:lnTo>
                    <a:pt x="71" y="4"/>
                  </a:lnTo>
                  <a:lnTo>
                    <a:pt x="71" y="6"/>
                  </a:lnTo>
                  <a:lnTo>
                    <a:pt x="69" y="9"/>
                  </a:lnTo>
                  <a:lnTo>
                    <a:pt x="71" y="14"/>
                  </a:lnTo>
                  <a:lnTo>
                    <a:pt x="74" y="20"/>
                  </a:lnTo>
                  <a:lnTo>
                    <a:pt x="77" y="26"/>
                  </a:lnTo>
                  <a:lnTo>
                    <a:pt x="82" y="29"/>
                  </a:lnTo>
                  <a:lnTo>
                    <a:pt x="90" y="31"/>
                  </a:lnTo>
                  <a:lnTo>
                    <a:pt x="104" y="32"/>
                  </a:lnTo>
                  <a:lnTo>
                    <a:pt x="124" y="34"/>
                  </a:lnTo>
                  <a:lnTo>
                    <a:pt x="147" y="37"/>
                  </a:lnTo>
                  <a:lnTo>
                    <a:pt x="169" y="39"/>
                  </a:lnTo>
                  <a:lnTo>
                    <a:pt x="190" y="40"/>
                  </a:lnTo>
                  <a:lnTo>
                    <a:pt x="204" y="42"/>
                  </a:lnTo>
                  <a:lnTo>
                    <a:pt x="208" y="42"/>
                  </a:lnTo>
                  <a:lnTo>
                    <a:pt x="212" y="39"/>
                  </a:lnTo>
                  <a:lnTo>
                    <a:pt x="221" y="32"/>
                  </a:lnTo>
                  <a:lnTo>
                    <a:pt x="230" y="25"/>
                  </a:lnTo>
                  <a:lnTo>
                    <a:pt x="241" y="20"/>
                  </a:lnTo>
                  <a:lnTo>
                    <a:pt x="249" y="15"/>
                  </a:lnTo>
                  <a:lnTo>
                    <a:pt x="254" y="9"/>
                  </a:lnTo>
                  <a:lnTo>
                    <a:pt x="255" y="6"/>
                  </a:lnTo>
                  <a:lnTo>
                    <a:pt x="257" y="4"/>
                  </a:lnTo>
                  <a:lnTo>
                    <a:pt x="285" y="61"/>
                  </a:lnTo>
                  <a:lnTo>
                    <a:pt x="284" y="65"/>
                  </a:lnTo>
                  <a:close/>
                </a:path>
              </a:pathLst>
            </a:custGeom>
            <a:solidFill>
              <a:srgbClr val="FFB27F"/>
            </a:solidFill>
            <a:ln w="9525">
              <a:noFill/>
              <a:round/>
              <a:headEnd/>
              <a:tailEnd/>
            </a:ln>
          </p:spPr>
          <p:txBody>
            <a:bodyPr/>
            <a:lstStyle/>
            <a:p>
              <a:endParaRPr lang="en-US"/>
            </a:p>
          </p:txBody>
        </p:sp>
        <p:sp>
          <p:nvSpPr>
            <p:cNvPr id="24594" name="Freeform 215"/>
            <p:cNvSpPr>
              <a:spLocks/>
            </p:cNvSpPr>
            <p:nvPr/>
          </p:nvSpPr>
          <p:spPr bwMode="auto">
            <a:xfrm>
              <a:off x="2080" y="3632"/>
              <a:ext cx="38" cy="27"/>
            </a:xfrm>
            <a:custGeom>
              <a:avLst/>
              <a:gdLst>
                <a:gd name="T0" fmla="*/ 1 w 75"/>
                <a:gd name="T1" fmla="*/ 1 h 53"/>
                <a:gd name="T2" fmla="*/ 1 w 75"/>
                <a:gd name="T3" fmla="*/ 1 h 53"/>
                <a:gd name="T4" fmla="*/ 1 w 75"/>
                <a:gd name="T5" fmla="*/ 1 h 53"/>
                <a:gd name="T6" fmla="*/ 1 w 75"/>
                <a:gd name="T7" fmla="*/ 0 h 53"/>
                <a:gd name="T8" fmla="*/ 1 w 75"/>
                <a:gd name="T9" fmla="*/ 1 h 53"/>
                <a:gd name="T10" fmla="*/ 1 w 75"/>
                <a:gd name="T11" fmla="*/ 1 h 53"/>
                <a:gd name="T12" fmla="*/ 1 w 75"/>
                <a:gd name="T13" fmla="*/ 1 h 53"/>
                <a:gd name="T14" fmla="*/ 0 w 75"/>
                <a:gd name="T15" fmla="*/ 1 h 53"/>
                <a:gd name="T16" fmla="*/ 1 w 75"/>
                <a:gd name="T17" fmla="*/ 1 h 53"/>
                <a:gd name="T18" fmla="*/ 1 w 75"/>
                <a:gd name="T19" fmla="*/ 1 h 53"/>
                <a:gd name="T20" fmla="*/ 1 w 75"/>
                <a:gd name="T21" fmla="*/ 1 h 53"/>
                <a:gd name="T22" fmla="*/ 1 w 75"/>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5"/>
                <a:gd name="T37" fmla="*/ 0 h 53"/>
                <a:gd name="T38" fmla="*/ 75 w 75"/>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5" h="53">
                  <a:moveTo>
                    <a:pt x="13" y="53"/>
                  </a:moveTo>
                  <a:lnTo>
                    <a:pt x="16" y="52"/>
                  </a:lnTo>
                  <a:lnTo>
                    <a:pt x="75" y="19"/>
                  </a:lnTo>
                  <a:lnTo>
                    <a:pt x="66" y="0"/>
                  </a:lnTo>
                  <a:lnTo>
                    <a:pt x="6" y="33"/>
                  </a:lnTo>
                  <a:lnTo>
                    <a:pt x="10" y="31"/>
                  </a:lnTo>
                  <a:lnTo>
                    <a:pt x="6" y="33"/>
                  </a:lnTo>
                  <a:lnTo>
                    <a:pt x="0" y="39"/>
                  </a:lnTo>
                  <a:lnTo>
                    <a:pt x="2" y="47"/>
                  </a:lnTo>
                  <a:lnTo>
                    <a:pt x="8" y="52"/>
                  </a:lnTo>
                  <a:lnTo>
                    <a:pt x="16" y="52"/>
                  </a:lnTo>
                  <a:lnTo>
                    <a:pt x="13" y="53"/>
                  </a:lnTo>
                  <a:close/>
                </a:path>
              </a:pathLst>
            </a:custGeom>
            <a:solidFill>
              <a:srgbClr val="000000"/>
            </a:solidFill>
            <a:ln w="9525">
              <a:noFill/>
              <a:round/>
              <a:headEnd/>
              <a:tailEnd/>
            </a:ln>
          </p:spPr>
          <p:txBody>
            <a:bodyPr/>
            <a:lstStyle/>
            <a:p>
              <a:endParaRPr lang="en-US"/>
            </a:p>
          </p:txBody>
        </p:sp>
        <p:sp>
          <p:nvSpPr>
            <p:cNvPr id="24595" name="Freeform 216"/>
            <p:cNvSpPr>
              <a:spLocks/>
            </p:cNvSpPr>
            <p:nvPr/>
          </p:nvSpPr>
          <p:spPr bwMode="auto">
            <a:xfrm>
              <a:off x="2075" y="3648"/>
              <a:ext cx="11" cy="11"/>
            </a:xfrm>
            <a:custGeom>
              <a:avLst/>
              <a:gdLst>
                <a:gd name="T0" fmla="*/ 1 w 22"/>
                <a:gd name="T1" fmla="*/ 0 h 24"/>
                <a:gd name="T2" fmla="*/ 1 w 22"/>
                <a:gd name="T3" fmla="*/ 0 h 24"/>
                <a:gd name="T4" fmla="*/ 1 w 22"/>
                <a:gd name="T5" fmla="*/ 0 h 24"/>
                <a:gd name="T6" fmla="*/ 1 w 22"/>
                <a:gd name="T7" fmla="*/ 0 h 24"/>
                <a:gd name="T8" fmla="*/ 1 w 22"/>
                <a:gd name="T9" fmla="*/ 0 h 24"/>
                <a:gd name="T10" fmla="*/ 1 w 22"/>
                <a:gd name="T11" fmla="*/ 0 h 24"/>
                <a:gd name="T12" fmla="*/ 1 w 22"/>
                <a:gd name="T13" fmla="*/ 0 h 24"/>
                <a:gd name="T14" fmla="*/ 1 w 22"/>
                <a:gd name="T15" fmla="*/ 0 h 24"/>
                <a:gd name="T16" fmla="*/ 0 w 22"/>
                <a:gd name="T17" fmla="*/ 0 h 24"/>
                <a:gd name="T18" fmla="*/ 1 w 22"/>
                <a:gd name="T19" fmla="*/ 0 h 24"/>
                <a:gd name="T20" fmla="*/ 1 w 22"/>
                <a:gd name="T21" fmla="*/ 0 h 24"/>
                <a:gd name="T22" fmla="*/ 1 w 22"/>
                <a:gd name="T23" fmla="*/ 0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
                <a:gd name="T38" fmla="*/ 22 w 22"/>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
                  <a:moveTo>
                    <a:pt x="9" y="24"/>
                  </a:moveTo>
                  <a:lnTo>
                    <a:pt x="12" y="24"/>
                  </a:lnTo>
                  <a:lnTo>
                    <a:pt x="22" y="22"/>
                  </a:lnTo>
                  <a:lnTo>
                    <a:pt x="19" y="0"/>
                  </a:lnTo>
                  <a:lnTo>
                    <a:pt x="9" y="2"/>
                  </a:lnTo>
                  <a:lnTo>
                    <a:pt x="12" y="2"/>
                  </a:lnTo>
                  <a:lnTo>
                    <a:pt x="9" y="2"/>
                  </a:lnTo>
                  <a:lnTo>
                    <a:pt x="1" y="6"/>
                  </a:lnTo>
                  <a:lnTo>
                    <a:pt x="0" y="14"/>
                  </a:lnTo>
                  <a:lnTo>
                    <a:pt x="4" y="21"/>
                  </a:lnTo>
                  <a:lnTo>
                    <a:pt x="12" y="24"/>
                  </a:lnTo>
                  <a:lnTo>
                    <a:pt x="9" y="24"/>
                  </a:lnTo>
                  <a:close/>
                </a:path>
              </a:pathLst>
            </a:custGeom>
            <a:solidFill>
              <a:srgbClr val="000000"/>
            </a:solidFill>
            <a:ln w="9525">
              <a:noFill/>
              <a:round/>
              <a:headEnd/>
              <a:tailEnd/>
            </a:ln>
          </p:spPr>
          <p:txBody>
            <a:bodyPr/>
            <a:lstStyle/>
            <a:p>
              <a:endParaRPr lang="en-US"/>
            </a:p>
          </p:txBody>
        </p:sp>
        <p:sp>
          <p:nvSpPr>
            <p:cNvPr id="24596" name="Freeform 217"/>
            <p:cNvSpPr>
              <a:spLocks/>
            </p:cNvSpPr>
            <p:nvPr/>
          </p:nvSpPr>
          <p:spPr bwMode="auto">
            <a:xfrm>
              <a:off x="1996" y="3630"/>
              <a:ext cx="86" cy="29"/>
            </a:xfrm>
            <a:custGeom>
              <a:avLst/>
              <a:gdLst>
                <a:gd name="T0" fmla="*/ 1 w 172"/>
                <a:gd name="T1" fmla="*/ 0 h 60"/>
                <a:gd name="T2" fmla="*/ 0 w 172"/>
                <a:gd name="T3" fmla="*/ 0 h 60"/>
                <a:gd name="T4" fmla="*/ 1 w 172"/>
                <a:gd name="T5" fmla="*/ 0 h 60"/>
                <a:gd name="T6" fmla="*/ 1 w 172"/>
                <a:gd name="T7" fmla="*/ 0 h 60"/>
                <a:gd name="T8" fmla="*/ 1 w 172"/>
                <a:gd name="T9" fmla="*/ 0 h 60"/>
                <a:gd name="T10" fmla="*/ 1 w 172"/>
                <a:gd name="T11" fmla="*/ 0 h 60"/>
                <a:gd name="T12" fmla="*/ 1 w 172"/>
                <a:gd name="T13" fmla="*/ 0 h 60"/>
                <a:gd name="T14" fmla="*/ 1 w 172"/>
                <a:gd name="T15" fmla="*/ 0 h 60"/>
                <a:gd name="T16" fmla="*/ 1 w 172"/>
                <a:gd name="T17" fmla="*/ 0 h 60"/>
                <a:gd name="T18" fmla="*/ 1 w 172"/>
                <a:gd name="T19" fmla="*/ 0 h 60"/>
                <a:gd name="T20" fmla="*/ 1 w 172"/>
                <a:gd name="T21" fmla="*/ 0 h 60"/>
                <a:gd name="T22" fmla="*/ 1 w 172"/>
                <a:gd name="T23" fmla="*/ 0 h 60"/>
                <a:gd name="T24" fmla="*/ 1 w 172"/>
                <a:gd name="T25" fmla="*/ 0 h 60"/>
                <a:gd name="T26" fmla="*/ 1 w 172"/>
                <a:gd name="T27" fmla="*/ 0 h 60"/>
                <a:gd name="T28" fmla="*/ 1 w 172"/>
                <a:gd name="T29" fmla="*/ 0 h 60"/>
                <a:gd name="T30" fmla="*/ 1 w 172"/>
                <a:gd name="T31" fmla="*/ 0 h 60"/>
                <a:gd name="T32" fmla="*/ 1 w 172"/>
                <a:gd name="T33" fmla="*/ 0 h 60"/>
                <a:gd name="T34" fmla="*/ 1 w 172"/>
                <a:gd name="T35" fmla="*/ 0 h 60"/>
                <a:gd name="T36" fmla="*/ 1 w 172"/>
                <a:gd name="T37" fmla="*/ 0 h 60"/>
                <a:gd name="T38" fmla="*/ 1 w 172"/>
                <a:gd name="T39" fmla="*/ 0 h 60"/>
                <a:gd name="T40" fmla="*/ 1 w 172"/>
                <a:gd name="T41" fmla="*/ 0 h 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2"/>
                <a:gd name="T64" fmla="*/ 0 h 60"/>
                <a:gd name="T65" fmla="*/ 172 w 172"/>
                <a:gd name="T66" fmla="*/ 60 h 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2" h="60">
                  <a:moveTo>
                    <a:pt x="2" y="22"/>
                  </a:moveTo>
                  <a:lnTo>
                    <a:pt x="0" y="22"/>
                  </a:lnTo>
                  <a:lnTo>
                    <a:pt x="14" y="25"/>
                  </a:lnTo>
                  <a:lnTo>
                    <a:pt x="36" y="32"/>
                  </a:lnTo>
                  <a:lnTo>
                    <a:pt x="63" y="38"/>
                  </a:lnTo>
                  <a:lnTo>
                    <a:pt x="94" y="44"/>
                  </a:lnTo>
                  <a:lnTo>
                    <a:pt x="122" y="50"/>
                  </a:lnTo>
                  <a:lnTo>
                    <a:pt x="146" y="55"/>
                  </a:lnTo>
                  <a:lnTo>
                    <a:pt x="163" y="58"/>
                  </a:lnTo>
                  <a:lnTo>
                    <a:pt x="169" y="60"/>
                  </a:lnTo>
                  <a:lnTo>
                    <a:pt x="172" y="38"/>
                  </a:lnTo>
                  <a:lnTo>
                    <a:pt x="166" y="36"/>
                  </a:lnTo>
                  <a:lnTo>
                    <a:pt x="149" y="33"/>
                  </a:lnTo>
                  <a:lnTo>
                    <a:pt x="125" y="28"/>
                  </a:lnTo>
                  <a:lnTo>
                    <a:pt x="97" y="22"/>
                  </a:lnTo>
                  <a:lnTo>
                    <a:pt x="69" y="16"/>
                  </a:lnTo>
                  <a:lnTo>
                    <a:pt x="42" y="10"/>
                  </a:lnTo>
                  <a:lnTo>
                    <a:pt x="20" y="3"/>
                  </a:lnTo>
                  <a:lnTo>
                    <a:pt x="6" y="0"/>
                  </a:lnTo>
                  <a:lnTo>
                    <a:pt x="5" y="0"/>
                  </a:lnTo>
                  <a:lnTo>
                    <a:pt x="2" y="22"/>
                  </a:lnTo>
                  <a:close/>
                </a:path>
              </a:pathLst>
            </a:custGeom>
            <a:solidFill>
              <a:srgbClr val="000000"/>
            </a:solidFill>
            <a:ln w="9525">
              <a:noFill/>
              <a:round/>
              <a:headEnd/>
              <a:tailEnd/>
            </a:ln>
          </p:spPr>
          <p:txBody>
            <a:bodyPr/>
            <a:lstStyle/>
            <a:p>
              <a:endParaRPr lang="en-US"/>
            </a:p>
          </p:txBody>
        </p:sp>
        <p:sp>
          <p:nvSpPr>
            <p:cNvPr id="24597" name="Freeform 218"/>
            <p:cNvSpPr>
              <a:spLocks/>
            </p:cNvSpPr>
            <p:nvPr/>
          </p:nvSpPr>
          <p:spPr bwMode="auto">
            <a:xfrm>
              <a:off x="1979" y="3627"/>
              <a:ext cx="19" cy="14"/>
            </a:xfrm>
            <a:custGeom>
              <a:avLst/>
              <a:gdLst>
                <a:gd name="T0" fmla="*/ 1 w 38"/>
                <a:gd name="T1" fmla="*/ 1 h 26"/>
                <a:gd name="T2" fmla="*/ 1 w 38"/>
                <a:gd name="T3" fmla="*/ 1 h 26"/>
                <a:gd name="T4" fmla="*/ 1 w 38"/>
                <a:gd name="T5" fmla="*/ 1 h 26"/>
                <a:gd name="T6" fmla="*/ 1 w 38"/>
                <a:gd name="T7" fmla="*/ 1 h 26"/>
                <a:gd name="T8" fmla="*/ 1 w 38"/>
                <a:gd name="T9" fmla="*/ 0 h 26"/>
                <a:gd name="T10" fmla="*/ 1 w 38"/>
                <a:gd name="T11" fmla="*/ 0 h 26"/>
                <a:gd name="T12" fmla="*/ 1 w 38"/>
                <a:gd name="T13" fmla="*/ 0 h 26"/>
                <a:gd name="T14" fmla="*/ 1 w 38"/>
                <a:gd name="T15" fmla="*/ 1 h 26"/>
                <a:gd name="T16" fmla="*/ 0 w 38"/>
                <a:gd name="T17" fmla="*/ 1 h 26"/>
                <a:gd name="T18" fmla="*/ 1 w 38"/>
                <a:gd name="T19" fmla="*/ 1 h 26"/>
                <a:gd name="T20" fmla="*/ 1 w 38"/>
                <a:gd name="T21" fmla="*/ 1 h 26"/>
                <a:gd name="T22" fmla="*/ 1 w 38"/>
                <a:gd name="T23" fmla="*/ 1 h 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26"/>
                <a:gd name="T38" fmla="*/ 38 w 38"/>
                <a:gd name="T39" fmla="*/ 26 h 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26">
                  <a:moveTo>
                    <a:pt x="11" y="21"/>
                  </a:moveTo>
                  <a:lnTo>
                    <a:pt x="10" y="21"/>
                  </a:lnTo>
                  <a:lnTo>
                    <a:pt x="35" y="26"/>
                  </a:lnTo>
                  <a:lnTo>
                    <a:pt x="38" y="4"/>
                  </a:lnTo>
                  <a:lnTo>
                    <a:pt x="13" y="0"/>
                  </a:lnTo>
                  <a:lnTo>
                    <a:pt x="11" y="0"/>
                  </a:lnTo>
                  <a:lnTo>
                    <a:pt x="13" y="0"/>
                  </a:lnTo>
                  <a:lnTo>
                    <a:pt x="5" y="3"/>
                  </a:lnTo>
                  <a:lnTo>
                    <a:pt x="0" y="9"/>
                  </a:lnTo>
                  <a:lnTo>
                    <a:pt x="2" y="17"/>
                  </a:lnTo>
                  <a:lnTo>
                    <a:pt x="10" y="21"/>
                  </a:lnTo>
                  <a:lnTo>
                    <a:pt x="11" y="21"/>
                  </a:lnTo>
                  <a:close/>
                </a:path>
              </a:pathLst>
            </a:custGeom>
            <a:solidFill>
              <a:srgbClr val="000000"/>
            </a:solidFill>
            <a:ln w="9525">
              <a:noFill/>
              <a:round/>
              <a:headEnd/>
              <a:tailEnd/>
            </a:ln>
          </p:spPr>
          <p:txBody>
            <a:bodyPr/>
            <a:lstStyle/>
            <a:p>
              <a:endParaRPr lang="en-US"/>
            </a:p>
          </p:txBody>
        </p:sp>
        <p:sp>
          <p:nvSpPr>
            <p:cNvPr id="24598" name="Freeform 219"/>
            <p:cNvSpPr>
              <a:spLocks/>
            </p:cNvSpPr>
            <p:nvPr/>
          </p:nvSpPr>
          <p:spPr bwMode="auto">
            <a:xfrm>
              <a:off x="1978" y="3627"/>
              <a:ext cx="11" cy="11"/>
            </a:xfrm>
            <a:custGeom>
              <a:avLst/>
              <a:gdLst>
                <a:gd name="T0" fmla="*/ 1 w 22"/>
                <a:gd name="T1" fmla="*/ 1 h 21"/>
                <a:gd name="T2" fmla="*/ 1 w 22"/>
                <a:gd name="T3" fmla="*/ 1 h 21"/>
                <a:gd name="T4" fmla="*/ 1 w 22"/>
                <a:gd name="T5" fmla="*/ 1 h 21"/>
                <a:gd name="T6" fmla="*/ 1 w 22"/>
                <a:gd name="T7" fmla="*/ 0 h 21"/>
                <a:gd name="T8" fmla="*/ 1 w 22"/>
                <a:gd name="T9" fmla="*/ 0 h 21"/>
                <a:gd name="T10" fmla="*/ 0 w 22"/>
                <a:gd name="T11" fmla="*/ 1 h 21"/>
                <a:gd name="T12" fmla="*/ 1 w 22"/>
                <a:gd name="T13" fmla="*/ 0 h 21"/>
                <a:gd name="T14" fmla="*/ 1 w 22"/>
                <a:gd name="T15" fmla="*/ 1 h 21"/>
                <a:gd name="T16" fmla="*/ 0 w 22"/>
                <a:gd name="T17" fmla="*/ 1 h 21"/>
                <a:gd name="T18" fmla="*/ 1 w 22"/>
                <a:gd name="T19" fmla="*/ 1 h 21"/>
                <a:gd name="T20" fmla="*/ 1 w 22"/>
                <a:gd name="T21" fmla="*/ 1 h 21"/>
                <a:gd name="T22" fmla="*/ 1 w 22"/>
                <a:gd name="T23" fmla="*/ 1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22" y="7"/>
                  </a:moveTo>
                  <a:lnTo>
                    <a:pt x="11" y="21"/>
                  </a:lnTo>
                  <a:lnTo>
                    <a:pt x="14" y="21"/>
                  </a:lnTo>
                  <a:lnTo>
                    <a:pt x="14" y="0"/>
                  </a:lnTo>
                  <a:lnTo>
                    <a:pt x="11" y="0"/>
                  </a:lnTo>
                  <a:lnTo>
                    <a:pt x="0" y="14"/>
                  </a:lnTo>
                  <a:lnTo>
                    <a:pt x="11" y="0"/>
                  </a:lnTo>
                  <a:lnTo>
                    <a:pt x="3" y="3"/>
                  </a:lnTo>
                  <a:lnTo>
                    <a:pt x="0" y="10"/>
                  </a:lnTo>
                  <a:lnTo>
                    <a:pt x="3" y="18"/>
                  </a:lnTo>
                  <a:lnTo>
                    <a:pt x="11" y="21"/>
                  </a:lnTo>
                  <a:lnTo>
                    <a:pt x="22" y="7"/>
                  </a:lnTo>
                  <a:close/>
                </a:path>
              </a:pathLst>
            </a:custGeom>
            <a:solidFill>
              <a:srgbClr val="000000"/>
            </a:solidFill>
            <a:ln w="9525">
              <a:noFill/>
              <a:round/>
              <a:headEnd/>
              <a:tailEnd/>
            </a:ln>
          </p:spPr>
          <p:txBody>
            <a:bodyPr/>
            <a:lstStyle/>
            <a:p>
              <a:endParaRPr lang="en-US"/>
            </a:p>
          </p:txBody>
        </p:sp>
        <p:sp>
          <p:nvSpPr>
            <p:cNvPr id="24599" name="Freeform 220"/>
            <p:cNvSpPr>
              <a:spLocks/>
            </p:cNvSpPr>
            <p:nvPr/>
          </p:nvSpPr>
          <p:spPr bwMode="auto">
            <a:xfrm>
              <a:off x="1978" y="3630"/>
              <a:ext cx="11" cy="11"/>
            </a:xfrm>
            <a:custGeom>
              <a:avLst/>
              <a:gdLst>
                <a:gd name="T0" fmla="*/ 0 w 24"/>
                <a:gd name="T1" fmla="*/ 1 h 22"/>
                <a:gd name="T2" fmla="*/ 0 w 24"/>
                <a:gd name="T3" fmla="*/ 1 h 22"/>
                <a:gd name="T4" fmla="*/ 0 w 24"/>
                <a:gd name="T5" fmla="*/ 1 h 22"/>
                <a:gd name="T6" fmla="*/ 0 w 24"/>
                <a:gd name="T7" fmla="*/ 1 h 22"/>
                <a:gd name="T8" fmla="*/ 0 w 24"/>
                <a:gd name="T9" fmla="*/ 1 h 22"/>
                <a:gd name="T10" fmla="*/ 0 w 24"/>
                <a:gd name="T11" fmla="*/ 0 h 22"/>
                <a:gd name="T12" fmla="*/ 0 w 24"/>
                <a:gd name="T13" fmla="*/ 1 h 22"/>
                <a:gd name="T14" fmla="*/ 0 w 24"/>
                <a:gd name="T15" fmla="*/ 1 h 22"/>
                <a:gd name="T16" fmla="*/ 0 w 24"/>
                <a:gd name="T17" fmla="*/ 1 h 22"/>
                <a:gd name="T18" fmla="*/ 0 w 24"/>
                <a:gd name="T19" fmla="*/ 1 h 22"/>
                <a:gd name="T20" fmla="*/ 0 w 24"/>
                <a:gd name="T21" fmla="*/ 1 h 22"/>
                <a:gd name="T22" fmla="*/ 0 w 24"/>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2"/>
                <a:gd name="T38" fmla="*/ 24 w 24"/>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2">
                  <a:moveTo>
                    <a:pt x="16" y="22"/>
                  </a:moveTo>
                  <a:lnTo>
                    <a:pt x="24" y="8"/>
                  </a:lnTo>
                  <a:lnTo>
                    <a:pt x="22" y="1"/>
                  </a:lnTo>
                  <a:lnTo>
                    <a:pt x="0" y="8"/>
                  </a:lnTo>
                  <a:lnTo>
                    <a:pt x="2" y="14"/>
                  </a:lnTo>
                  <a:lnTo>
                    <a:pt x="9" y="0"/>
                  </a:lnTo>
                  <a:lnTo>
                    <a:pt x="2" y="14"/>
                  </a:lnTo>
                  <a:lnTo>
                    <a:pt x="6" y="20"/>
                  </a:lnTo>
                  <a:lnTo>
                    <a:pt x="16" y="22"/>
                  </a:lnTo>
                  <a:lnTo>
                    <a:pt x="22" y="17"/>
                  </a:lnTo>
                  <a:lnTo>
                    <a:pt x="24" y="8"/>
                  </a:lnTo>
                  <a:lnTo>
                    <a:pt x="16" y="22"/>
                  </a:lnTo>
                  <a:close/>
                </a:path>
              </a:pathLst>
            </a:custGeom>
            <a:solidFill>
              <a:srgbClr val="000000"/>
            </a:solidFill>
            <a:ln w="9525">
              <a:noFill/>
              <a:round/>
              <a:headEnd/>
              <a:tailEnd/>
            </a:ln>
          </p:spPr>
          <p:txBody>
            <a:bodyPr/>
            <a:lstStyle/>
            <a:p>
              <a:endParaRPr lang="en-US"/>
            </a:p>
          </p:txBody>
        </p:sp>
        <p:sp>
          <p:nvSpPr>
            <p:cNvPr id="24600" name="Freeform 221"/>
            <p:cNvSpPr>
              <a:spLocks/>
            </p:cNvSpPr>
            <p:nvPr/>
          </p:nvSpPr>
          <p:spPr bwMode="auto">
            <a:xfrm>
              <a:off x="1976" y="3630"/>
              <a:ext cx="9" cy="12"/>
            </a:xfrm>
            <a:custGeom>
              <a:avLst/>
              <a:gdLst>
                <a:gd name="T0" fmla="*/ 0 w 19"/>
                <a:gd name="T1" fmla="*/ 1 h 23"/>
                <a:gd name="T2" fmla="*/ 0 w 19"/>
                <a:gd name="T3" fmla="*/ 1 h 23"/>
                <a:gd name="T4" fmla="*/ 0 w 19"/>
                <a:gd name="T5" fmla="*/ 1 h 23"/>
                <a:gd name="T6" fmla="*/ 0 w 19"/>
                <a:gd name="T7" fmla="*/ 0 h 23"/>
                <a:gd name="T8" fmla="*/ 0 w 19"/>
                <a:gd name="T9" fmla="*/ 1 h 23"/>
                <a:gd name="T10" fmla="*/ 0 w 19"/>
                <a:gd name="T11" fmla="*/ 1 h 23"/>
                <a:gd name="T12" fmla="*/ 0 w 19"/>
                <a:gd name="T13" fmla="*/ 1 h 23"/>
                <a:gd name="T14" fmla="*/ 0 w 19"/>
                <a:gd name="T15" fmla="*/ 1 h 23"/>
                <a:gd name="T16" fmla="*/ 0 w 19"/>
                <a:gd name="T17" fmla="*/ 1 h 23"/>
                <a:gd name="T18" fmla="*/ 0 w 19"/>
                <a:gd name="T19" fmla="*/ 1 h 23"/>
                <a:gd name="T20" fmla="*/ 0 w 19"/>
                <a:gd name="T21" fmla="*/ 1 h 23"/>
                <a:gd name="T22" fmla="*/ 0 w 19"/>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3"/>
                <a:gd name="T38" fmla="*/ 19 w 19"/>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3">
                  <a:moveTo>
                    <a:pt x="8" y="23"/>
                  </a:moveTo>
                  <a:lnTo>
                    <a:pt x="14" y="23"/>
                  </a:lnTo>
                  <a:lnTo>
                    <a:pt x="19" y="22"/>
                  </a:lnTo>
                  <a:lnTo>
                    <a:pt x="12" y="0"/>
                  </a:lnTo>
                  <a:lnTo>
                    <a:pt x="8" y="1"/>
                  </a:lnTo>
                  <a:lnTo>
                    <a:pt x="14" y="1"/>
                  </a:lnTo>
                  <a:lnTo>
                    <a:pt x="8" y="1"/>
                  </a:lnTo>
                  <a:lnTo>
                    <a:pt x="2" y="6"/>
                  </a:lnTo>
                  <a:lnTo>
                    <a:pt x="0" y="14"/>
                  </a:lnTo>
                  <a:lnTo>
                    <a:pt x="5" y="22"/>
                  </a:lnTo>
                  <a:lnTo>
                    <a:pt x="14" y="23"/>
                  </a:lnTo>
                  <a:lnTo>
                    <a:pt x="8" y="23"/>
                  </a:lnTo>
                  <a:close/>
                </a:path>
              </a:pathLst>
            </a:custGeom>
            <a:solidFill>
              <a:srgbClr val="000000"/>
            </a:solidFill>
            <a:ln w="9525">
              <a:noFill/>
              <a:round/>
              <a:headEnd/>
              <a:tailEnd/>
            </a:ln>
          </p:spPr>
          <p:txBody>
            <a:bodyPr/>
            <a:lstStyle/>
            <a:p>
              <a:endParaRPr lang="en-US"/>
            </a:p>
          </p:txBody>
        </p:sp>
        <p:sp>
          <p:nvSpPr>
            <p:cNvPr id="24601" name="Freeform 222"/>
            <p:cNvSpPr>
              <a:spLocks/>
            </p:cNvSpPr>
            <p:nvPr/>
          </p:nvSpPr>
          <p:spPr bwMode="auto">
            <a:xfrm>
              <a:off x="1970" y="3630"/>
              <a:ext cx="13" cy="12"/>
            </a:xfrm>
            <a:custGeom>
              <a:avLst/>
              <a:gdLst>
                <a:gd name="T0" fmla="*/ 0 w 27"/>
                <a:gd name="T1" fmla="*/ 0 h 25"/>
                <a:gd name="T2" fmla="*/ 0 w 27"/>
                <a:gd name="T3" fmla="*/ 0 h 25"/>
                <a:gd name="T4" fmla="*/ 0 w 27"/>
                <a:gd name="T5" fmla="*/ 0 h 25"/>
                <a:gd name="T6" fmla="*/ 0 w 27"/>
                <a:gd name="T7" fmla="*/ 0 h 25"/>
                <a:gd name="T8" fmla="*/ 0 w 27"/>
                <a:gd name="T9" fmla="*/ 0 h 25"/>
                <a:gd name="T10" fmla="*/ 0 w 27"/>
                <a:gd name="T11" fmla="*/ 0 h 25"/>
                <a:gd name="T12" fmla="*/ 0 w 27"/>
                <a:gd name="T13" fmla="*/ 0 h 25"/>
                <a:gd name="T14" fmla="*/ 0 w 27"/>
                <a:gd name="T15" fmla="*/ 0 h 25"/>
                <a:gd name="T16" fmla="*/ 0 w 27"/>
                <a:gd name="T17" fmla="*/ 0 h 25"/>
                <a:gd name="T18" fmla="*/ 0 w 27"/>
                <a:gd name="T19" fmla="*/ 0 h 25"/>
                <a:gd name="T20" fmla="*/ 0 w 27"/>
                <a:gd name="T21" fmla="*/ 0 h 25"/>
                <a:gd name="T22" fmla="*/ 0 w 27"/>
                <a:gd name="T23" fmla="*/ 0 h 25"/>
                <a:gd name="T24" fmla="*/ 0 w 27"/>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25"/>
                <a:gd name="T41" fmla="*/ 27 w 27"/>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25">
                  <a:moveTo>
                    <a:pt x="0" y="6"/>
                  </a:moveTo>
                  <a:lnTo>
                    <a:pt x="0" y="5"/>
                  </a:lnTo>
                  <a:lnTo>
                    <a:pt x="7" y="14"/>
                  </a:lnTo>
                  <a:lnTo>
                    <a:pt x="11" y="19"/>
                  </a:lnTo>
                  <a:lnTo>
                    <a:pt x="18" y="24"/>
                  </a:lnTo>
                  <a:lnTo>
                    <a:pt x="21" y="25"/>
                  </a:lnTo>
                  <a:lnTo>
                    <a:pt x="27" y="3"/>
                  </a:lnTo>
                  <a:lnTo>
                    <a:pt x="27" y="5"/>
                  </a:lnTo>
                  <a:lnTo>
                    <a:pt x="24" y="3"/>
                  </a:lnTo>
                  <a:lnTo>
                    <a:pt x="22" y="2"/>
                  </a:lnTo>
                  <a:lnTo>
                    <a:pt x="22" y="0"/>
                  </a:lnTo>
                  <a:lnTo>
                    <a:pt x="0" y="6"/>
                  </a:lnTo>
                  <a:close/>
                </a:path>
              </a:pathLst>
            </a:custGeom>
            <a:solidFill>
              <a:srgbClr val="000000"/>
            </a:solidFill>
            <a:ln w="9525">
              <a:noFill/>
              <a:round/>
              <a:headEnd/>
              <a:tailEnd/>
            </a:ln>
          </p:spPr>
          <p:txBody>
            <a:bodyPr/>
            <a:lstStyle/>
            <a:p>
              <a:endParaRPr lang="en-US"/>
            </a:p>
          </p:txBody>
        </p:sp>
        <p:sp>
          <p:nvSpPr>
            <p:cNvPr id="24602" name="Freeform 223"/>
            <p:cNvSpPr>
              <a:spLocks/>
            </p:cNvSpPr>
            <p:nvPr/>
          </p:nvSpPr>
          <p:spPr bwMode="auto">
            <a:xfrm>
              <a:off x="1968" y="3620"/>
              <a:ext cx="13" cy="13"/>
            </a:xfrm>
            <a:custGeom>
              <a:avLst/>
              <a:gdLst>
                <a:gd name="T0" fmla="*/ 1 w 25"/>
                <a:gd name="T1" fmla="*/ 0 h 25"/>
                <a:gd name="T2" fmla="*/ 1 w 25"/>
                <a:gd name="T3" fmla="*/ 1 h 25"/>
                <a:gd name="T4" fmla="*/ 1 w 25"/>
                <a:gd name="T5" fmla="*/ 1 h 25"/>
                <a:gd name="T6" fmla="*/ 0 w 25"/>
                <a:gd name="T7" fmla="*/ 1 h 25"/>
                <a:gd name="T8" fmla="*/ 1 w 25"/>
                <a:gd name="T9" fmla="*/ 1 h 25"/>
                <a:gd name="T10" fmla="*/ 1 w 25"/>
                <a:gd name="T11" fmla="*/ 1 h 25"/>
                <a:gd name="T12" fmla="*/ 1 w 25"/>
                <a:gd name="T13" fmla="*/ 1 h 25"/>
                <a:gd name="T14" fmla="*/ 1 w 25"/>
                <a:gd name="T15" fmla="*/ 1 h 25"/>
                <a:gd name="T16" fmla="*/ 1 w 25"/>
                <a:gd name="T17" fmla="*/ 1 h 25"/>
                <a:gd name="T18" fmla="*/ 1 w 25"/>
                <a:gd name="T19" fmla="*/ 1 h 25"/>
                <a:gd name="T20" fmla="*/ 1 w 25"/>
                <a:gd name="T21" fmla="*/ 1 h 25"/>
                <a:gd name="T22" fmla="*/ 1 w 25"/>
                <a:gd name="T23" fmla="*/ 1 h 25"/>
                <a:gd name="T24" fmla="*/ 1 w 25"/>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5"/>
                <a:gd name="T41" fmla="*/ 25 w 25"/>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5">
                  <a:moveTo>
                    <a:pt x="10" y="0"/>
                  </a:moveTo>
                  <a:lnTo>
                    <a:pt x="8" y="2"/>
                  </a:lnTo>
                  <a:lnTo>
                    <a:pt x="2" y="8"/>
                  </a:lnTo>
                  <a:lnTo>
                    <a:pt x="0" y="18"/>
                  </a:lnTo>
                  <a:lnTo>
                    <a:pt x="2" y="22"/>
                  </a:lnTo>
                  <a:lnTo>
                    <a:pt x="3" y="25"/>
                  </a:lnTo>
                  <a:lnTo>
                    <a:pt x="25" y="19"/>
                  </a:lnTo>
                  <a:lnTo>
                    <a:pt x="24" y="13"/>
                  </a:lnTo>
                  <a:lnTo>
                    <a:pt x="22" y="11"/>
                  </a:lnTo>
                  <a:lnTo>
                    <a:pt x="21" y="18"/>
                  </a:lnTo>
                  <a:lnTo>
                    <a:pt x="18" y="21"/>
                  </a:lnTo>
                  <a:lnTo>
                    <a:pt x="16" y="22"/>
                  </a:lnTo>
                  <a:lnTo>
                    <a:pt x="10" y="0"/>
                  </a:lnTo>
                  <a:close/>
                </a:path>
              </a:pathLst>
            </a:custGeom>
            <a:solidFill>
              <a:srgbClr val="000000"/>
            </a:solidFill>
            <a:ln w="9525">
              <a:noFill/>
              <a:round/>
              <a:headEnd/>
              <a:tailEnd/>
            </a:ln>
          </p:spPr>
          <p:txBody>
            <a:bodyPr/>
            <a:lstStyle/>
            <a:p>
              <a:endParaRPr lang="en-US"/>
            </a:p>
          </p:txBody>
        </p:sp>
        <p:sp>
          <p:nvSpPr>
            <p:cNvPr id="24603" name="Freeform 224"/>
            <p:cNvSpPr>
              <a:spLocks/>
            </p:cNvSpPr>
            <p:nvPr/>
          </p:nvSpPr>
          <p:spPr bwMode="auto">
            <a:xfrm>
              <a:off x="1970" y="3616"/>
              <a:ext cx="11" cy="15"/>
            </a:xfrm>
            <a:custGeom>
              <a:avLst/>
              <a:gdLst>
                <a:gd name="T0" fmla="*/ 1 w 22"/>
                <a:gd name="T1" fmla="*/ 0 h 31"/>
                <a:gd name="T2" fmla="*/ 1 w 22"/>
                <a:gd name="T3" fmla="*/ 0 h 31"/>
                <a:gd name="T4" fmla="*/ 1 w 22"/>
                <a:gd name="T5" fmla="*/ 0 h 31"/>
                <a:gd name="T6" fmla="*/ 0 w 22"/>
                <a:gd name="T7" fmla="*/ 0 h 31"/>
                <a:gd name="T8" fmla="*/ 1 w 22"/>
                <a:gd name="T9" fmla="*/ 0 h 31"/>
                <a:gd name="T10" fmla="*/ 1 w 22"/>
                <a:gd name="T11" fmla="*/ 0 h 31"/>
                <a:gd name="T12" fmla="*/ 1 w 22"/>
                <a:gd name="T13" fmla="*/ 0 h 31"/>
                <a:gd name="T14" fmla="*/ 1 w 22"/>
                <a:gd name="T15" fmla="*/ 0 h 31"/>
                <a:gd name="T16" fmla="*/ 1 w 22"/>
                <a:gd name="T17" fmla="*/ 0 h 31"/>
                <a:gd name="T18" fmla="*/ 1 w 22"/>
                <a:gd name="T19" fmla="*/ 0 h 31"/>
                <a:gd name="T20" fmla="*/ 1 w 22"/>
                <a:gd name="T21" fmla="*/ 0 h 31"/>
                <a:gd name="T22" fmla="*/ 1 w 22"/>
                <a:gd name="T23" fmla="*/ 0 h 31"/>
                <a:gd name="T24" fmla="*/ 1 w 22"/>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1"/>
                <a:gd name="T41" fmla="*/ 22 w 22"/>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1">
                  <a:moveTo>
                    <a:pt x="9" y="0"/>
                  </a:moveTo>
                  <a:lnTo>
                    <a:pt x="9" y="0"/>
                  </a:lnTo>
                  <a:lnTo>
                    <a:pt x="3" y="5"/>
                  </a:lnTo>
                  <a:lnTo>
                    <a:pt x="0" y="13"/>
                  </a:lnTo>
                  <a:lnTo>
                    <a:pt x="2" y="14"/>
                  </a:lnTo>
                  <a:lnTo>
                    <a:pt x="5" y="9"/>
                  </a:lnTo>
                  <a:lnTo>
                    <a:pt x="11" y="31"/>
                  </a:lnTo>
                  <a:lnTo>
                    <a:pt x="20" y="24"/>
                  </a:lnTo>
                  <a:lnTo>
                    <a:pt x="22" y="16"/>
                  </a:lnTo>
                  <a:lnTo>
                    <a:pt x="22" y="17"/>
                  </a:lnTo>
                  <a:lnTo>
                    <a:pt x="19" y="19"/>
                  </a:lnTo>
                  <a:lnTo>
                    <a:pt x="9" y="0"/>
                  </a:lnTo>
                  <a:close/>
                </a:path>
              </a:pathLst>
            </a:custGeom>
            <a:solidFill>
              <a:srgbClr val="000000"/>
            </a:solidFill>
            <a:ln w="9525">
              <a:noFill/>
              <a:round/>
              <a:headEnd/>
              <a:tailEnd/>
            </a:ln>
          </p:spPr>
          <p:txBody>
            <a:bodyPr/>
            <a:lstStyle/>
            <a:p>
              <a:endParaRPr lang="en-US"/>
            </a:p>
          </p:txBody>
        </p:sp>
        <p:sp>
          <p:nvSpPr>
            <p:cNvPr id="24604" name="Freeform 225"/>
            <p:cNvSpPr>
              <a:spLocks/>
            </p:cNvSpPr>
            <p:nvPr/>
          </p:nvSpPr>
          <p:spPr bwMode="auto">
            <a:xfrm>
              <a:off x="1975" y="3608"/>
              <a:ext cx="11" cy="17"/>
            </a:xfrm>
            <a:custGeom>
              <a:avLst/>
              <a:gdLst>
                <a:gd name="T0" fmla="*/ 1 w 22"/>
                <a:gd name="T1" fmla="*/ 0 h 33"/>
                <a:gd name="T2" fmla="*/ 1 w 22"/>
                <a:gd name="T3" fmla="*/ 0 h 33"/>
                <a:gd name="T4" fmla="*/ 1 w 22"/>
                <a:gd name="T5" fmla="*/ 1 h 33"/>
                <a:gd name="T6" fmla="*/ 1 w 22"/>
                <a:gd name="T7" fmla="*/ 1 h 33"/>
                <a:gd name="T8" fmla="*/ 0 w 22"/>
                <a:gd name="T9" fmla="*/ 1 h 33"/>
                <a:gd name="T10" fmla="*/ 0 w 22"/>
                <a:gd name="T11" fmla="*/ 1 h 33"/>
                <a:gd name="T12" fmla="*/ 1 w 22"/>
                <a:gd name="T13" fmla="*/ 1 h 33"/>
                <a:gd name="T14" fmla="*/ 1 w 22"/>
                <a:gd name="T15" fmla="*/ 1 h 33"/>
                <a:gd name="T16" fmla="*/ 1 w 22"/>
                <a:gd name="T17" fmla="*/ 1 h 33"/>
                <a:gd name="T18" fmla="*/ 1 w 22"/>
                <a:gd name="T19" fmla="*/ 1 h 33"/>
                <a:gd name="T20" fmla="*/ 1 w 22"/>
                <a:gd name="T21" fmla="*/ 1 h 33"/>
                <a:gd name="T22" fmla="*/ 1 w 22"/>
                <a:gd name="T23" fmla="*/ 1 h 33"/>
                <a:gd name="T24" fmla="*/ 1 w 22"/>
                <a:gd name="T25" fmla="*/ 0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3"/>
                <a:gd name="T41" fmla="*/ 22 w 22"/>
                <a:gd name="T42" fmla="*/ 33 h 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3">
                  <a:moveTo>
                    <a:pt x="19" y="0"/>
                  </a:moveTo>
                  <a:lnTo>
                    <a:pt x="16" y="0"/>
                  </a:lnTo>
                  <a:lnTo>
                    <a:pt x="10" y="6"/>
                  </a:lnTo>
                  <a:lnTo>
                    <a:pt x="5" y="9"/>
                  </a:lnTo>
                  <a:lnTo>
                    <a:pt x="0" y="12"/>
                  </a:lnTo>
                  <a:lnTo>
                    <a:pt x="0" y="14"/>
                  </a:lnTo>
                  <a:lnTo>
                    <a:pt x="10" y="33"/>
                  </a:lnTo>
                  <a:lnTo>
                    <a:pt x="16" y="28"/>
                  </a:lnTo>
                  <a:lnTo>
                    <a:pt x="18" y="25"/>
                  </a:lnTo>
                  <a:lnTo>
                    <a:pt x="22" y="22"/>
                  </a:lnTo>
                  <a:lnTo>
                    <a:pt x="19" y="22"/>
                  </a:lnTo>
                  <a:lnTo>
                    <a:pt x="19" y="0"/>
                  </a:lnTo>
                  <a:close/>
                </a:path>
              </a:pathLst>
            </a:custGeom>
            <a:solidFill>
              <a:srgbClr val="000000"/>
            </a:solidFill>
            <a:ln w="9525">
              <a:noFill/>
              <a:round/>
              <a:headEnd/>
              <a:tailEnd/>
            </a:ln>
          </p:spPr>
          <p:txBody>
            <a:bodyPr/>
            <a:lstStyle/>
            <a:p>
              <a:endParaRPr lang="en-US"/>
            </a:p>
          </p:txBody>
        </p:sp>
        <p:sp>
          <p:nvSpPr>
            <p:cNvPr id="24605" name="Freeform 226"/>
            <p:cNvSpPr>
              <a:spLocks/>
            </p:cNvSpPr>
            <p:nvPr/>
          </p:nvSpPr>
          <p:spPr bwMode="auto">
            <a:xfrm>
              <a:off x="1982" y="3602"/>
              <a:ext cx="11" cy="17"/>
            </a:xfrm>
            <a:custGeom>
              <a:avLst/>
              <a:gdLst>
                <a:gd name="T0" fmla="*/ 1 w 22"/>
                <a:gd name="T1" fmla="*/ 0 h 35"/>
                <a:gd name="T2" fmla="*/ 1 w 22"/>
                <a:gd name="T3" fmla="*/ 0 h 35"/>
                <a:gd name="T4" fmla="*/ 1 w 22"/>
                <a:gd name="T5" fmla="*/ 0 h 35"/>
                <a:gd name="T6" fmla="*/ 1 w 22"/>
                <a:gd name="T7" fmla="*/ 0 h 35"/>
                <a:gd name="T8" fmla="*/ 0 w 22"/>
                <a:gd name="T9" fmla="*/ 0 h 35"/>
                <a:gd name="T10" fmla="*/ 1 w 22"/>
                <a:gd name="T11" fmla="*/ 0 h 35"/>
                <a:gd name="T12" fmla="*/ 1 w 22"/>
                <a:gd name="T13" fmla="*/ 0 h 35"/>
                <a:gd name="T14" fmla="*/ 1 w 22"/>
                <a:gd name="T15" fmla="*/ 0 h 35"/>
                <a:gd name="T16" fmla="*/ 1 w 22"/>
                <a:gd name="T17" fmla="*/ 0 h 35"/>
                <a:gd name="T18" fmla="*/ 1 w 22"/>
                <a:gd name="T19" fmla="*/ 0 h 35"/>
                <a:gd name="T20" fmla="*/ 1 w 22"/>
                <a:gd name="T21" fmla="*/ 0 h 35"/>
                <a:gd name="T22" fmla="*/ 1 w 22"/>
                <a:gd name="T23" fmla="*/ 0 h 35"/>
                <a:gd name="T24" fmla="*/ 1 w 22"/>
                <a:gd name="T25" fmla="*/ 0 h 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5"/>
                <a:gd name="T41" fmla="*/ 22 w 22"/>
                <a:gd name="T42" fmla="*/ 35 h 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5">
                  <a:moveTo>
                    <a:pt x="13" y="0"/>
                  </a:moveTo>
                  <a:lnTo>
                    <a:pt x="13" y="0"/>
                  </a:lnTo>
                  <a:lnTo>
                    <a:pt x="4" y="8"/>
                  </a:lnTo>
                  <a:lnTo>
                    <a:pt x="2" y="11"/>
                  </a:lnTo>
                  <a:lnTo>
                    <a:pt x="0" y="15"/>
                  </a:lnTo>
                  <a:lnTo>
                    <a:pt x="5" y="13"/>
                  </a:lnTo>
                  <a:lnTo>
                    <a:pt x="5" y="35"/>
                  </a:lnTo>
                  <a:lnTo>
                    <a:pt x="16" y="30"/>
                  </a:lnTo>
                  <a:lnTo>
                    <a:pt x="21" y="24"/>
                  </a:lnTo>
                  <a:lnTo>
                    <a:pt x="22" y="21"/>
                  </a:lnTo>
                  <a:lnTo>
                    <a:pt x="19" y="22"/>
                  </a:lnTo>
                  <a:lnTo>
                    <a:pt x="13" y="0"/>
                  </a:lnTo>
                  <a:close/>
                </a:path>
              </a:pathLst>
            </a:custGeom>
            <a:solidFill>
              <a:srgbClr val="000000"/>
            </a:solidFill>
            <a:ln w="9525">
              <a:noFill/>
              <a:round/>
              <a:headEnd/>
              <a:tailEnd/>
            </a:ln>
          </p:spPr>
          <p:txBody>
            <a:bodyPr/>
            <a:lstStyle/>
            <a:p>
              <a:endParaRPr lang="en-US"/>
            </a:p>
          </p:txBody>
        </p:sp>
        <p:sp>
          <p:nvSpPr>
            <p:cNvPr id="24606" name="Freeform 227"/>
            <p:cNvSpPr>
              <a:spLocks/>
            </p:cNvSpPr>
            <p:nvPr/>
          </p:nvSpPr>
          <p:spPr bwMode="auto">
            <a:xfrm>
              <a:off x="1989" y="3602"/>
              <a:ext cx="21" cy="17"/>
            </a:xfrm>
            <a:custGeom>
              <a:avLst/>
              <a:gdLst>
                <a:gd name="T0" fmla="*/ 0 w 44"/>
                <a:gd name="T1" fmla="*/ 1 h 33"/>
                <a:gd name="T2" fmla="*/ 0 w 44"/>
                <a:gd name="T3" fmla="*/ 1 h 33"/>
                <a:gd name="T4" fmla="*/ 0 w 44"/>
                <a:gd name="T5" fmla="*/ 1 h 33"/>
                <a:gd name="T6" fmla="*/ 0 w 44"/>
                <a:gd name="T7" fmla="*/ 1 h 33"/>
                <a:gd name="T8" fmla="*/ 0 w 44"/>
                <a:gd name="T9" fmla="*/ 1 h 33"/>
                <a:gd name="T10" fmla="*/ 0 w 44"/>
                <a:gd name="T11" fmla="*/ 0 h 33"/>
                <a:gd name="T12" fmla="*/ 0 w 44"/>
                <a:gd name="T13" fmla="*/ 1 h 33"/>
                <a:gd name="T14" fmla="*/ 0 w 44"/>
                <a:gd name="T15" fmla="*/ 1 h 33"/>
                <a:gd name="T16" fmla="*/ 0 w 44"/>
                <a:gd name="T17" fmla="*/ 1 h 33"/>
                <a:gd name="T18" fmla="*/ 0 w 44"/>
                <a:gd name="T19" fmla="*/ 1 h 33"/>
                <a:gd name="T20" fmla="*/ 0 w 44"/>
                <a:gd name="T21" fmla="*/ 1 h 33"/>
                <a:gd name="T22" fmla="*/ 0 w 44"/>
                <a:gd name="T23" fmla="*/ 1 h 33"/>
                <a:gd name="T24" fmla="*/ 0 w 44"/>
                <a:gd name="T25" fmla="*/ 1 h 33"/>
                <a:gd name="T26" fmla="*/ 0 w 44"/>
                <a:gd name="T27" fmla="*/ 1 h 33"/>
                <a:gd name="T28" fmla="*/ 0 w 44"/>
                <a:gd name="T29" fmla="*/ 1 h 33"/>
                <a:gd name="T30" fmla="*/ 0 w 44"/>
                <a:gd name="T31" fmla="*/ 1 h 33"/>
                <a:gd name="T32" fmla="*/ 0 w 44"/>
                <a:gd name="T33" fmla="*/ 1 h 33"/>
                <a:gd name="T34" fmla="*/ 0 w 44"/>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4"/>
                <a:gd name="T55" fmla="*/ 0 h 33"/>
                <a:gd name="T56" fmla="*/ 44 w 44"/>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4" h="33">
                  <a:moveTo>
                    <a:pt x="25" y="32"/>
                  </a:moveTo>
                  <a:lnTo>
                    <a:pt x="38" y="15"/>
                  </a:lnTo>
                  <a:lnTo>
                    <a:pt x="33" y="13"/>
                  </a:lnTo>
                  <a:lnTo>
                    <a:pt x="25" y="8"/>
                  </a:lnTo>
                  <a:lnTo>
                    <a:pt x="13" y="2"/>
                  </a:lnTo>
                  <a:lnTo>
                    <a:pt x="0" y="0"/>
                  </a:lnTo>
                  <a:lnTo>
                    <a:pt x="6" y="22"/>
                  </a:lnTo>
                  <a:lnTo>
                    <a:pt x="6" y="24"/>
                  </a:lnTo>
                  <a:lnTo>
                    <a:pt x="16" y="27"/>
                  </a:lnTo>
                  <a:lnTo>
                    <a:pt x="23" y="32"/>
                  </a:lnTo>
                  <a:lnTo>
                    <a:pt x="28" y="33"/>
                  </a:lnTo>
                  <a:lnTo>
                    <a:pt x="41" y="16"/>
                  </a:lnTo>
                  <a:lnTo>
                    <a:pt x="28" y="33"/>
                  </a:lnTo>
                  <a:lnTo>
                    <a:pt x="36" y="33"/>
                  </a:lnTo>
                  <a:lnTo>
                    <a:pt x="42" y="29"/>
                  </a:lnTo>
                  <a:lnTo>
                    <a:pt x="44" y="21"/>
                  </a:lnTo>
                  <a:lnTo>
                    <a:pt x="38" y="15"/>
                  </a:lnTo>
                  <a:lnTo>
                    <a:pt x="25" y="32"/>
                  </a:lnTo>
                  <a:close/>
                </a:path>
              </a:pathLst>
            </a:custGeom>
            <a:solidFill>
              <a:srgbClr val="000000"/>
            </a:solidFill>
            <a:ln w="9525">
              <a:noFill/>
              <a:round/>
              <a:headEnd/>
              <a:tailEnd/>
            </a:ln>
          </p:spPr>
          <p:txBody>
            <a:bodyPr/>
            <a:lstStyle/>
            <a:p>
              <a:endParaRPr lang="en-US"/>
            </a:p>
          </p:txBody>
        </p:sp>
        <p:sp>
          <p:nvSpPr>
            <p:cNvPr id="24607" name="Freeform 228"/>
            <p:cNvSpPr>
              <a:spLocks/>
            </p:cNvSpPr>
            <p:nvPr/>
          </p:nvSpPr>
          <p:spPr bwMode="auto">
            <a:xfrm>
              <a:off x="1998" y="3607"/>
              <a:ext cx="11" cy="11"/>
            </a:xfrm>
            <a:custGeom>
              <a:avLst/>
              <a:gdLst>
                <a:gd name="T0" fmla="*/ 0 w 22"/>
                <a:gd name="T1" fmla="*/ 1 h 22"/>
                <a:gd name="T2" fmla="*/ 1 w 22"/>
                <a:gd name="T3" fmla="*/ 1 h 22"/>
                <a:gd name="T4" fmla="*/ 1 w 22"/>
                <a:gd name="T5" fmla="*/ 1 h 22"/>
                <a:gd name="T6" fmla="*/ 1 w 22"/>
                <a:gd name="T7" fmla="*/ 1 h 22"/>
                <a:gd name="T8" fmla="*/ 1 w 22"/>
                <a:gd name="T9" fmla="*/ 1 h 22"/>
                <a:gd name="T10" fmla="*/ 1 w 22"/>
                <a:gd name="T11" fmla="*/ 1 h 22"/>
                <a:gd name="T12" fmla="*/ 1 w 22"/>
                <a:gd name="T13" fmla="*/ 1 h 22"/>
                <a:gd name="T14" fmla="*/ 1 w 22"/>
                <a:gd name="T15" fmla="*/ 0 h 22"/>
                <a:gd name="T16" fmla="*/ 1 w 22"/>
                <a:gd name="T17" fmla="*/ 1 h 22"/>
                <a:gd name="T18" fmla="*/ 0 w 22"/>
                <a:gd name="T19" fmla="*/ 1 h 22"/>
                <a:gd name="T20" fmla="*/ 1 w 22"/>
                <a:gd name="T21" fmla="*/ 1 h 22"/>
                <a:gd name="T22" fmla="*/ 0 w 22"/>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2"/>
                <a:gd name="T38" fmla="*/ 22 w 22"/>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2">
                  <a:moveTo>
                    <a:pt x="0" y="9"/>
                  </a:moveTo>
                  <a:lnTo>
                    <a:pt x="3" y="19"/>
                  </a:lnTo>
                  <a:lnTo>
                    <a:pt x="6" y="22"/>
                  </a:lnTo>
                  <a:lnTo>
                    <a:pt x="22" y="6"/>
                  </a:lnTo>
                  <a:lnTo>
                    <a:pt x="19" y="3"/>
                  </a:lnTo>
                  <a:lnTo>
                    <a:pt x="22" y="12"/>
                  </a:lnTo>
                  <a:lnTo>
                    <a:pt x="19" y="3"/>
                  </a:lnTo>
                  <a:lnTo>
                    <a:pt x="11" y="0"/>
                  </a:lnTo>
                  <a:lnTo>
                    <a:pt x="4" y="3"/>
                  </a:lnTo>
                  <a:lnTo>
                    <a:pt x="0" y="11"/>
                  </a:lnTo>
                  <a:lnTo>
                    <a:pt x="3" y="19"/>
                  </a:lnTo>
                  <a:lnTo>
                    <a:pt x="0" y="9"/>
                  </a:lnTo>
                  <a:close/>
                </a:path>
              </a:pathLst>
            </a:custGeom>
            <a:solidFill>
              <a:srgbClr val="000000"/>
            </a:solidFill>
            <a:ln w="9525">
              <a:noFill/>
              <a:round/>
              <a:headEnd/>
              <a:tailEnd/>
            </a:ln>
          </p:spPr>
          <p:txBody>
            <a:bodyPr/>
            <a:lstStyle/>
            <a:p>
              <a:endParaRPr lang="en-US"/>
            </a:p>
          </p:txBody>
        </p:sp>
        <p:sp>
          <p:nvSpPr>
            <p:cNvPr id="24608" name="Freeform 229"/>
            <p:cNvSpPr>
              <a:spLocks/>
            </p:cNvSpPr>
            <p:nvPr/>
          </p:nvSpPr>
          <p:spPr bwMode="auto">
            <a:xfrm>
              <a:off x="1998" y="3601"/>
              <a:ext cx="12" cy="12"/>
            </a:xfrm>
            <a:custGeom>
              <a:avLst/>
              <a:gdLst>
                <a:gd name="T0" fmla="*/ 1 w 23"/>
                <a:gd name="T1" fmla="*/ 1 h 23"/>
                <a:gd name="T2" fmla="*/ 1 w 23"/>
                <a:gd name="T3" fmla="*/ 1 h 23"/>
                <a:gd name="T4" fmla="*/ 0 w 23"/>
                <a:gd name="T5" fmla="*/ 1 h 23"/>
                <a:gd name="T6" fmla="*/ 1 w 23"/>
                <a:gd name="T7" fmla="*/ 1 h 23"/>
                <a:gd name="T8" fmla="*/ 1 w 23"/>
                <a:gd name="T9" fmla="*/ 1 h 23"/>
                <a:gd name="T10" fmla="*/ 1 w 23"/>
                <a:gd name="T11" fmla="*/ 1 h 23"/>
                <a:gd name="T12" fmla="*/ 1 w 23"/>
                <a:gd name="T13" fmla="*/ 1 h 23"/>
                <a:gd name="T14" fmla="*/ 1 w 23"/>
                <a:gd name="T15" fmla="*/ 1 h 23"/>
                <a:gd name="T16" fmla="*/ 1 w 23"/>
                <a:gd name="T17" fmla="*/ 0 h 23"/>
                <a:gd name="T18" fmla="*/ 1 w 23"/>
                <a:gd name="T19" fmla="*/ 1 h 23"/>
                <a:gd name="T20" fmla="*/ 1 w 23"/>
                <a:gd name="T21" fmla="*/ 1 h 23"/>
                <a:gd name="T22" fmla="*/ 1 w 23"/>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
                <a:gd name="T37" fmla="*/ 0 h 23"/>
                <a:gd name="T38" fmla="*/ 23 w 23"/>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 h="23">
                  <a:moveTo>
                    <a:pt x="3" y="6"/>
                  </a:moveTo>
                  <a:lnTo>
                    <a:pt x="1" y="9"/>
                  </a:lnTo>
                  <a:lnTo>
                    <a:pt x="0" y="20"/>
                  </a:lnTo>
                  <a:lnTo>
                    <a:pt x="22" y="23"/>
                  </a:lnTo>
                  <a:lnTo>
                    <a:pt x="23" y="12"/>
                  </a:lnTo>
                  <a:lnTo>
                    <a:pt x="22" y="16"/>
                  </a:lnTo>
                  <a:lnTo>
                    <a:pt x="23" y="12"/>
                  </a:lnTo>
                  <a:lnTo>
                    <a:pt x="20" y="5"/>
                  </a:lnTo>
                  <a:lnTo>
                    <a:pt x="14" y="0"/>
                  </a:lnTo>
                  <a:lnTo>
                    <a:pt x="6" y="1"/>
                  </a:lnTo>
                  <a:lnTo>
                    <a:pt x="1" y="9"/>
                  </a:lnTo>
                  <a:lnTo>
                    <a:pt x="3" y="6"/>
                  </a:lnTo>
                  <a:close/>
                </a:path>
              </a:pathLst>
            </a:custGeom>
            <a:solidFill>
              <a:srgbClr val="000000"/>
            </a:solidFill>
            <a:ln w="9525">
              <a:noFill/>
              <a:round/>
              <a:headEnd/>
              <a:tailEnd/>
            </a:ln>
          </p:spPr>
          <p:txBody>
            <a:bodyPr/>
            <a:lstStyle/>
            <a:p>
              <a:endParaRPr lang="en-US"/>
            </a:p>
          </p:txBody>
        </p:sp>
        <p:sp>
          <p:nvSpPr>
            <p:cNvPr id="24609" name="Freeform 230"/>
            <p:cNvSpPr>
              <a:spLocks/>
            </p:cNvSpPr>
            <p:nvPr/>
          </p:nvSpPr>
          <p:spPr bwMode="auto">
            <a:xfrm>
              <a:off x="1999" y="3599"/>
              <a:ext cx="12" cy="10"/>
            </a:xfrm>
            <a:custGeom>
              <a:avLst/>
              <a:gdLst>
                <a:gd name="T0" fmla="*/ 1 w 23"/>
                <a:gd name="T1" fmla="*/ 0 h 21"/>
                <a:gd name="T2" fmla="*/ 1 w 23"/>
                <a:gd name="T3" fmla="*/ 0 h 21"/>
                <a:gd name="T4" fmla="*/ 1 w 23"/>
                <a:gd name="T5" fmla="*/ 0 h 21"/>
                <a:gd name="T6" fmla="*/ 1 w 23"/>
                <a:gd name="T7" fmla="*/ 0 h 21"/>
                <a:gd name="T8" fmla="*/ 0 w 23"/>
                <a:gd name="T9" fmla="*/ 0 h 21"/>
                <a:gd name="T10" fmla="*/ 0 w 23"/>
                <a:gd name="T11" fmla="*/ 0 h 21"/>
                <a:gd name="T12" fmla="*/ 1 w 23"/>
                <a:gd name="T13" fmla="*/ 0 h 21"/>
                <a:gd name="T14" fmla="*/ 1 w 23"/>
                <a:gd name="T15" fmla="*/ 0 h 21"/>
                <a:gd name="T16" fmla="*/ 1 w 23"/>
                <a:gd name="T17" fmla="*/ 0 h 21"/>
                <a:gd name="T18" fmla="*/ 1 w 23"/>
                <a:gd name="T19" fmla="*/ 0 h 21"/>
                <a:gd name="T20" fmla="*/ 1 w 23"/>
                <a:gd name="T21" fmla="*/ 0 h 21"/>
                <a:gd name="T22" fmla="*/ 1 w 23"/>
                <a:gd name="T23" fmla="*/ 0 h 21"/>
                <a:gd name="T24" fmla="*/ 1 w 23"/>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1"/>
                <a:gd name="T41" fmla="*/ 23 w 23"/>
                <a:gd name="T42" fmla="*/ 21 h 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1">
                  <a:moveTo>
                    <a:pt x="23" y="2"/>
                  </a:moveTo>
                  <a:lnTo>
                    <a:pt x="20" y="0"/>
                  </a:lnTo>
                  <a:lnTo>
                    <a:pt x="8" y="0"/>
                  </a:lnTo>
                  <a:lnTo>
                    <a:pt x="3" y="5"/>
                  </a:lnTo>
                  <a:lnTo>
                    <a:pt x="0" y="10"/>
                  </a:lnTo>
                  <a:lnTo>
                    <a:pt x="0" y="11"/>
                  </a:lnTo>
                  <a:lnTo>
                    <a:pt x="19" y="21"/>
                  </a:lnTo>
                  <a:lnTo>
                    <a:pt x="19" y="19"/>
                  </a:lnTo>
                  <a:lnTo>
                    <a:pt x="19" y="21"/>
                  </a:lnTo>
                  <a:lnTo>
                    <a:pt x="20" y="19"/>
                  </a:lnTo>
                  <a:lnTo>
                    <a:pt x="11" y="19"/>
                  </a:lnTo>
                  <a:lnTo>
                    <a:pt x="8" y="17"/>
                  </a:lnTo>
                  <a:lnTo>
                    <a:pt x="23" y="2"/>
                  </a:lnTo>
                  <a:close/>
                </a:path>
              </a:pathLst>
            </a:custGeom>
            <a:solidFill>
              <a:srgbClr val="000000"/>
            </a:solidFill>
            <a:ln w="9525">
              <a:noFill/>
              <a:round/>
              <a:headEnd/>
              <a:tailEnd/>
            </a:ln>
          </p:spPr>
          <p:txBody>
            <a:bodyPr/>
            <a:lstStyle/>
            <a:p>
              <a:endParaRPr lang="en-US"/>
            </a:p>
          </p:txBody>
        </p:sp>
        <p:sp>
          <p:nvSpPr>
            <p:cNvPr id="24610" name="Freeform 231"/>
            <p:cNvSpPr>
              <a:spLocks/>
            </p:cNvSpPr>
            <p:nvPr/>
          </p:nvSpPr>
          <p:spPr bwMode="auto">
            <a:xfrm>
              <a:off x="2003" y="3600"/>
              <a:ext cx="11" cy="10"/>
            </a:xfrm>
            <a:custGeom>
              <a:avLst/>
              <a:gdLst>
                <a:gd name="T0" fmla="*/ 0 w 24"/>
                <a:gd name="T1" fmla="*/ 1 h 20"/>
                <a:gd name="T2" fmla="*/ 0 w 24"/>
                <a:gd name="T3" fmla="*/ 1 h 20"/>
                <a:gd name="T4" fmla="*/ 0 w 24"/>
                <a:gd name="T5" fmla="*/ 1 h 20"/>
                <a:gd name="T6" fmla="*/ 0 w 24"/>
                <a:gd name="T7" fmla="*/ 1 h 20"/>
                <a:gd name="T8" fmla="*/ 0 w 24"/>
                <a:gd name="T9" fmla="*/ 1 h 20"/>
                <a:gd name="T10" fmla="*/ 0 w 24"/>
                <a:gd name="T11" fmla="*/ 0 h 20"/>
                <a:gd name="T12" fmla="*/ 0 w 24"/>
                <a:gd name="T13" fmla="*/ 1 h 20"/>
                <a:gd name="T14" fmla="*/ 0 w 24"/>
                <a:gd name="T15" fmla="*/ 1 h 20"/>
                <a:gd name="T16" fmla="*/ 0 w 24"/>
                <a:gd name="T17" fmla="*/ 1 h 20"/>
                <a:gd name="T18" fmla="*/ 0 w 24"/>
                <a:gd name="T19" fmla="*/ 1 h 20"/>
                <a:gd name="T20" fmla="*/ 0 w 24"/>
                <a:gd name="T21" fmla="*/ 1 h 20"/>
                <a:gd name="T22" fmla="*/ 0 w 24"/>
                <a:gd name="T23" fmla="*/ 1 h 20"/>
                <a:gd name="T24" fmla="*/ 0 w 24"/>
                <a:gd name="T25" fmla="*/ 1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0"/>
                <a:gd name="T41" fmla="*/ 24 w 24"/>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0">
                  <a:moveTo>
                    <a:pt x="22" y="17"/>
                  </a:moveTo>
                  <a:lnTo>
                    <a:pt x="22" y="20"/>
                  </a:lnTo>
                  <a:lnTo>
                    <a:pt x="24" y="17"/>
                  </a:lnTo>
                  <a:lnTo>
                    <a:pt x="24" y="9"/>
                  </a:lnTo>
                  <a:lnTo>
                    <a:pt x="21" y="3"/>
                  </a:lnTo>
                  <a:lnTo>
                    <a:pt x="17" y="0"/>
                  </a:lnTo>
                  <a:lnTo>
                    <a:pt x="2" y="15"/>
                  </a:lnTo>
                  <a:lnTo>
                    <a:pt x="2" y="11"/>
                  </a:lnTo>
                  <a:lnTo>
                    <a:pt x="0" y="14"/>
                  </a:lnTo>
                  <a:lnTo>
                    <a:pt x="0" y="17"/>
                  </a:lnTo>
                  <a:lnTo>
                    <a:pt x="22" y="17"/>
                  </a:lnTo>
                  <a:close/>
                </a:path>
              </a:pathLst>
            </a:custGeom>
            <a:solidFill>
              <a:srgbClr val="000000"/>
            </a:solidFill>
            <a:ln w="9525">
              <a:noFill/>
              <a:round/>
              <a:headEnd/>
              <a:tailEnd/>
            </a:ln>
          </p:spPr>
          <p:txBody>
            <a:bodyPr/>
            <a:lstStyle/>
            <a:p>
              <a:endParaRPr lang="en-US"/>
            </a:p>
          </p:txBody>
        </p:sp>
        <p:sp>
          <p:nvSpPr>
            <p:cNvPr id="24611" name="Freeform 232"/>
            <p:cNvSpPr>
              <a:spLocks/>
            </p:cNvSpPr>
            <p:nvPr/>
          </p:nvSpPr>
          <p:spPr bwMode="auto">
            <a:xfrm>
              <a:off x="2003" y="3608"/>
              <a:ext cx="14" cy="15"/>
            </a:xfrm>
            <a:custGeom>
              <a:avLst/>
              <a:gdLst>
                <a:gd name="T0" fmla="*/ 1 w 28"/>
                <a:gd name="T1" fmla="*/ 1 h 30"/>
                <a:gd name="T2" fmla="*/ 1 w 28"/>
                <a:gd name="T3" fmla="*/ 1 h 30"/>
                <a:gd name="T4" fmla="*/ 1 w 28"/>
                <a:gd name="T5" fmla="*/ 1 h 30"/>
                <a:gd name="T6" fmla="*/ 1 w 28"/>
                <a:gd name="T7" fmla="*/ 1 h 30"/>
                <a:gd name="T8" fmla="*/ 1 w 28"/>
                <a:gd name="T9" fmla="*/ 0 h 30"/>
                <a:gd name="T10" fmla="*/ 1 w 28"/>
                <a:gd name="T11" fmla="*/ 0 h 30"/>
                <a:gd name="T12" fmla="*/ 0 w 28"/>
                <a:gd name="T13" fmla="*/ 0 h 30"/>
                <a:gd name="T14" fmla="*/ 1 w 28"/>
                <a:gd name="T15" fmla="*/ 1 h 30"/>
                <a:gd name="T16" fmla="*/ 1 w 28"/>
                <a:gd name="T17" fmla="*/ 1 h 30"/>
                <a:gd name="T18" fmla="*/ 1 w 28"/>
                <a:gd name="T19" fmla="*/ 1 h 30"/>
                <a:gd name="T20" fmla="*/ 1 w 28"/>
                <a:gd name="T21" fmla="*/ 1 h 30"/>
                <a:gd name="T22" fmla="*/ 1 w 28"/>
                <a:gd name="T23" fmla="*/ 1 h 30"/>
                <a:gd name="T24" fmla="*/ 1 w 28"/>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0"/>
                <a:gd name="T41" fmla="*/ 28 w 28"/>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0">
                  <a:moveTo>
                    <a:pt x="28" y="11"/>
                  </a:moveTo>
                  <a:lnTo>
                    <a:pt x="28" y="11"/>
                  </a:lnTo>
                  <a:lnTo>
                    <a:pt x="27" y="11"/>
                  </a:lnTo>
                  <a:lnTo>
                    <a:pt x="25" y="6"/>
                  </a:lnTo>
                  <a:lnTo>
                    <a:pt x="22" y="0"/>
                  </a:lnTo>
                  <a:lnTo>
                    <a:pt x="0" y="0"/>
                  </a:lnTo>
                  <a:lnTo>
                    <a:pt x="3" y="9"/>
                  </a:lnTo>
                  <a:lnTo>
                    <a:pt x="6" y="16"/>
                  </a:lnTo>
                  <a:lnTo>
                    <a:pt x="11" y="23"/>
                  </a:lnTo>
                  <a:lnTo>
                    <a:pt x="19" y="30"/>
                  </a:lnTo>
                  <a:lnTo>
                    <a:pt x="28" y="11"/>
                  </a:lnTo>
                  <a:close/>
                </a:path>
              </a:pathLst>
            </a:custGeom>
            <a:solidFill>
              <a:srgbClr val="000000"/>
            </a:solidFill>
            <a:ln w="9525">
              <a:noFill/>
              <a:round/>
              <a:headEnd/>
              <a:tailEnd/>
            </a:ln>
          </p:spPr>
          <p:txBody>
            <a:bodyPr/>
            <a:lstStyle/>
            <a:p>
              <a:endParaRPr lang="en-US"/>
            </a:p>
          </p:txBody>
        </p:sp>
        <p:sp>
          <p:nvSpPr>
            <p:cNvPr id="24612" name="Freeform 233"/>
            <p:cNvSpPr>
              <a:spLocks/>
            </p:cNvSpPr>
            <p:nvPr/>
          </p:nvSpPr>
          <p:spPr bwMode="auto">
            <a:xfrm>
              <a:off x="2012" y="3614"/>
              <a:ext cx="71" cy="16"/>
            </a:xfrm>
            <a:custGeom>
              <a:avLst/>
              <a:gdLst>
                <a:gd name="T0" fmla="*/ 1 w 142"/>
                <a:gd name="T1" fmla="*/ 0 h 33"/>
                <a:gd name="T2" fmla="*/ 1 w 142"/>
                <a:gd name="T3" fmla="*/ 0 h 33"/>
                <a:gd name="T4" fmla="*/ 1 w 142"/>
                <a:gd name="T5" fmla="*/ 0 h 33"/>
                <a:gd name="T6" fmla="*/ 1 w 142"/>
                <a:gd name="T7" fmla="*/ 0 h 33"/>
                <a:gd name="T8" fmla="*/ 1 w 142"/>
                <a:gd name="T9" fmla="*/ 0 h 33"/>
                <a:gd name="T10" fmla="*/ 1 w 142"/>
                <a:gd name="T11" fmla="*/ 0 h 33"/>
                <a:gd name="T12" fmla="*/ 1 w 142"/>
                <a:gd name="T13" fmla="*/ 0 h 33"/>
                <a:gd name="T14" fmla="*/ 1 w 142"/>
                <a:gd name="T15" fmla="*/ 0 h 33"/>
                <a:gd name="T16" fmla="*/ 1 w 142"/>
                <a:gd name="T17" fmla="*/ 0 h 33"/>
                <a:gd name="T18" fmla="*/ 1 w 142"/>
                <a:gd name="T19" fmla="*/ 0 h 33"/>
                <a:gd name="T20" fmla="*/ 0 w 142"/>
                <a:gd name="T21" fmla="*/ 0 h 33"/>
                <a:gd name="T22" fmla="*/ 1 w 142"/>
                <a:gd name="T23" fmla="*/ 0 h 33"/>
                <a:gd name="T24" fmla="*/ 1 w 142"/>
                <a:gd name="T25" fmla="*/ 0 h 33"/>
                <a:gd name="T26" fmla="*/ 1 w 142"/>
                <a:gd name="T27" fmla="*/ 0 h 33"/>
                <a:gd name="T28" fmla="*/ 1 w 142"/>
                <a:gd name="T29" fmla="*/ 0 h 33"/>
                <a:gd name="T30" fmla="*/ 1 w 142"/>
                <a:gd name="T31" fmla="*/ 0 h 33"/>
                <a:gd name="T32" fmla="*/ 1 w 142"/>
                <a:gd name="T33" fmla="*/ 0 h 33"/>
                <a:gd name="T34" fmla="*/ 1 w 142"/>
                <a:gd name="T35" fmla="*/ 0 h 33"/>
                <a:gd name="T36" fmla="*/ 1 w 142"/>
                <a:gd name="T37" fmla="*/ 0 h 33"/>
                <a:gd name="T38" fmla="*/ 1 w 142"/>
                <a:gd name="T39" fmla="*/ 0 h 33"/>
                <a:gd name="T40" fmla="*/ 1 w 142"/>
                <a:gd name="T41" fmla="*/ 0 h 33"/>
                <a:gd name="T42" fmla="*/ 1 w 142"/>
                <a:gd name="T43" fmla="*/ 0 h 33"/>
                <a:gd name="T44" fmla="*/ 1 w 142"/>
                <a:gd name="T45" fmla="*/ 0 h 33"/>
                <a:gd name="T46" fmla="*/ 1 w 142"/>
                <a:gd name="T47" fmla="*/ 0 h 33"/>
                <a:gd name="T48" fmla="*/ 1 w 142"/>
                <a:gd name="T49" fmla="*/ 0 h 33"/>
                <a:gd name="T50" fmla="*/ 1 w 142"/>
                <a:gd name="T51" fmla="*/ 0 h 3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2"/>
                <a:gd name="T79" fmla="*/ 0 h 33"/>
                <a:gd name="T80" fmla="*/ 142 w 142"/>
                <a:gd name="T81" fmla="*/ 33 h 3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2" h="33">
                  <a:moveTo>
                    <a:pt x="124" y="14"/>
                  </a:moveTo>
                  <a:lnTo>
                    <a:pt x="133" y="11"/>
                  </a:lnTo>
                  <a:lnTo>
                    <a:pt x="128" y="11"/>
                  </a:lnTo>
                  <a:lnTo>
                    <a:pt x="114" y="9"/>
                  </a:lnTo>
                  <a:lnTo>
                    <a:pt x="92" y="8"/>
                  </a:lnTo>
                  <a:lnTo>
                    <a:pt x="72" y="6"/>
                  </a:lnTo>
                  <a:lnTo>
                    <a:pt x="49" y="3"/>
                  </a:lnTo>
                  <a:lnTo>
                    <a:pt x="28" y="1"/>
                  </a:lnTo>
                  <a:lnTo>
                    <a:pt x="14" y="0"/>
                  </a:lnTo>
                  <a:lnTo>
                    <a:pt x="9" y="0"/>
                  </a:lnTo>
                  <a:lnTo>
                    <a:pt x="0" y="19"/>
                  </a:lnTo>
                  <a:lnTo>
                    <a:pt x="11" y="22"/>
                  </a:lnTo>
                  <a:lnTo>
                    <a:pt x="25" y="23"/>
                  </a:lnTo>
                  <a:lnTo>
                    <a:pt x="45" y="25"/>
                  </a:lnTo>
                  <a:lnTo>
                    <a:pt x="69" y="28"/>
                  </a:lnTo>
                  <a:lnTo>
                    <a:pt x="92" y="30"/>
                  </a:lnTo>
                  <a:lnTo>
                    <a:pt x="111" y="31"/>
                  </a:lnTo>
                  <a:lnTo>
                    <a:pt x="125" y="33"/>
                  </a:lnTo>
                  <a:lnTo>
                    <a:pt x="130" y="33"/>
                  </a:lnTo>
                  <a:lnTo>
                    <a:pt x="139" y="30"/>
                  </a:lnTo>
                  <a:lnTo>
                    <a:pt x="130" y="33"/>
                  </a:lnTo>
                  <a:lnTo>
                    <a:pt x="138" y="30"/>
                  </a:lnTo>
                  <a:lnTo>
                    <a:pt x="142" y="23"/>
                  </a:lnTo>
                  <a:lnTo>
                    <a:pt x="141" y="16"/>
                  </a:lnTo>
                  <a:lnTo>
                    <a:pt x="133" y="11"/>
                  </a:lnTo>
                  <a:lnTo>
                    <a:pt x="124" y="14"/>
                  </a:lnTo>
                  <a:close/>
                </a:path>
              </a:pathLst>
            </a:custGeom>
            <a:solidFill>
              <a:srgbClr val="000000"/>
            </a:solidFill>
            <a:ln w="9525">
              <a:noFill/>
              <a:round/>
              <a:headEnd/>
              <a:tailEnd/>
            </a:ln>
          </p:spPr>
          <p:txBody>
            <a:bodyPr/>
            <a:lstStyle/>
            <a:p>
              <a:endParaRPr lang="en-US"/>
            </a:p>
          </p:txBody>
        </p:sp>
        <p:sp>
          <p:nvSpPr>
            <p:cNvPr id="24613" name="Freeform 234"/>
            <p:cNvSpPr>
              <a:spLocks/>
            </p:cNvSpPr>
            <p:nvPr/>
          </p:nvSpPr>
          <p:spPr bwMode="auto">
            <a:xfrm>
              <a:off x="2074" y="3608"/>
              <a:ext cx="23" cy="21"/>
            </a:xfrm>
            <a:custGeom>
              <a:avLst/>
              <a:gdLst>
                <a:gd name="T0" fmla="*/ 1 w 45"/>
                <a:gd name="T1" fmla="*/ 1 h 41"/>
                <a:gd name="T2" fmla="*/ 1 w 45"/>
                <a:gd name="T3" fmla="*/ 0 h 41"/>
                <a:gd name="T4" fmla="*/ 1 w 45"/>
                <a:gd name="T5" fmla="*/ 1 h 41"/>
                <a:gd name="T6" fmla="*/ 1 w 45"/>
                <a:gd name="T7" fmla="*/ 1 h 41"/>
                <a:gd name="T8" fmla="*/ 1 w 45"/>
                <a:gd name="T9" fmla="*/ 1 h 41"/>
                <a:gd name="T10" fmla="*/ 0 w 45"/>
                <a:gd name="T11" fmla="*/ 1 h 41"/>
                <a:gd name="T12" fmla="*/ 1 w 45"/>
                <a:gd name="T13" fmla="*/ 1 h 41"/>
                <a:gd name="T14" fmla="*/ 1 w 45"/>
                <a:gd name="T15" fmla="*/ 1 h 41"/>
                <a:gd name="T16" fmla="*/ 1 w 45"/>
                <a:gd name="T17" fmla="*/ 1 h 41"/>
                <a:gd name="T18" fmla="*/ 1 w 45"/>
                <a:gd name="T19" fmla="*/ 1 h 41"/>
                <a:gd name="T20" fmla="*/ 1 w 45"/>
                <a:gd name="T21" fmla="*/ 1 h 41"/>
                <a:gd name="T22" fmla="*/ 1 w 45"/>
                <a:gd name="T23" fmla="*/ 1 h 41"/>
                <a:gd name="T24" fmla="*/ 1 w 45"/>
                <a:gd name="T25" fmla="*/ 1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41"/>
                <a:gd name="T41" fmla="*/ 45 w 45"/>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41">
                  <a:moveTo>
                    <a:pt x="36" y="2"/>
                  </a:moveTo>
                  <a:lnTo>
                    <a:pt x="37" y="0"/>
                  </a:lnTo>
                  <a:lnTo>
                    <a:pt x="23" y="6"/>
                  </a:lnTo>
                  <a:lnTo>
                    <a:pt x="14" y="14"/>
                  </a:lnTo>
                  <a:lnTo>
                    <a:pt x="4" y="20"/>
                  </a:lnTo>
                  <a:lnTo>
                    <a:pt x="0" y="25"/>
                  </a:lnTo>
                  <a:lnTo>
                    <a:pt x="15" y="41"/>
                  </a:lnTo>
                  <a:lnTo>
                    <a:pt x="17" y="39"/>
                  </a:lnTo>
                  <a:lnTo>
                    <a:pt x="26" y="33"/>
                  </a:lnTo>
                  <a:lnTo>
                    <a:pt x="36" y="25"/>
                  </a:lnTo>
                  <a:lnTo>
                    <a:pt x="44" y="22"/>
                  </a:lnTo>
                  <a:lnTo>
                    <a:pt x="45" y="20"/>
                  </a:lnTo>
                  <a:lnTo>
                    <a:pt x="36" y="2"/>
                  </a:lnTo>
                  <a:close/>
                </a:path>
              </a:pathLst>
            </a:custGeom>
            <a:solidFill>
              <a:srgbClr val="000000"/>
            </a:solidFill>
            <a:ln w="9525">
              <a:noFill/>
              <a:round/>
              <a:headEnd/>
              <a:tailEnd/>
            </a:ln>
          </p:spPr>
          <p:txBody>
            <a:bodyPr/>
            <a:lstStyle/>
            <a:p>
              <a:endParaRPr lang="en-US"/>
            </a:p>
          </p:txBody>
        </p:sp>
        <p:sp>
          <p:nvSpPr>
            <p:cNvPr id="24614" name="Freeform 235"/>
            <p:cNvSpPr>
              <a:spLocks/>
            </p:cNvSpPr>
            <p:nvPr/>
          </p:nvSpPr>
          <p:spPr bwMode="auto">
            <a:xfrm>
              <a:off x="2092" y="3601"/>
              <a:ext cx="15" cy="18"/>
            </a:xfrm>
            <a:custGeom>
              <a:avLst/>
              <a:gdLst>
                <a:gd name="T0" fmla="*/ 1 w 29"/>
                <a:gd name="T1" fmla="*/ 1 h 36"/>
                <a:gd name="T2" fmla="*/ 1 w 29"/>
                <a:gd name="T3" fmla="*/ 1 h 36"/>
                <a:gd name="T4" fmla="*/ 1 w 29"/>
                <a:gd name="T5" fmla="*/ 1 h 36"/>
                <a:gd name="T6" fmla="*/ 1 w 29"/>
                <a:gd name="T7" fmla="*/ 1 h 36"/>
                <a:gd name="T8" fmla="*/ 1 w 29"/>
                <a:gd name="T9" fmla="*/ 1 h 36"/>
                <a:gd name="T10" fmla="*/ 0 w 29"/>
                <a:gd name="T11" fmla="*/ 1 h 36"/>
                <a:gd name="T12" fmla="*/ 1 w 29"/>
                <a:gd name="T13" fmla="*/ 1 h 36"/>
                <a:gd name="T14" fmla="*/ 1 w 29"/>
                <a:gd name="T15" fmla="*/ 1 h 36"/>
                <a:gd name="T16" fmla="*/ 1 w 29"/>
                <a:gd name="T17" fmla="*/ 1 h 36"/>
                <a:gd name="T18" fmla="*/ 1 w 29"/>
                <a:gd name="T19" fmla="*/ 1 h 36"/>
                <a:gd name="T20" fmla="*/ 1 w 29"/>
                <a:gd name="T21" fmla="*/ 1 h 36"/>
                <a:gd name="T22" fmla="*/ 1 w 29"/>
                <a:gd name="T23" fmla="*/ 1 h 36"/>
                <a:gd name="T24" fmla="*/ 1 w 29"/>
                <a:gd name="T25" fmla="*/ 1 h 36"/>
                <a:gd name="T26" fmla="*/ 1 w 29"/>
                <a:gd name="T27" fmla="*/ 1 h 36"/>
                <a:gd name="T28" fmla="*/ 1 w 29"/>
                <a:gd name="T29" fmla="*/ 1 h 36"/>
                <a:gd name="T30" fmla="*/ 1 w 29"/>
                <a:gd name="T31" fmla="*/ 0 h 36"/>
                <a:gd name="T32" fmla="*/ 1 w 29"/>
                <a:gd name="T33" fmla="*/ 1 h 36"/>
                <a:gd name="T34" fmla="*/ 1 w 29"/>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
                <a:gd name="T55" fmla="*/ 0 h 36"/>
                <a:gd name="T56" fmla="*/ 29 w 29"/>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 h="36">
                  <a:moveTo>
                    <a:pt x="29" y="7"/>
                  </a:moveTo>
                  <a:lnTo>
                    <a:pt x="11" y="7"/>
                  </a:lnTo>
                  <a:lnTo>
                    <a:pt x="9" y="7"/>
                  </a:lnTo>
                  <a:lnTo>
                    <a:pt x="8" y="10"/>
                  </a:lnTo>
                  <a:lnTo>
                    <a:pt x="4" y="14"/>
                  </a:lnTo>
                  <a:lnTo>
                    <a:pt x="0" y="18"/>
                  </a:lnTo>
                  <a:lnTo>
                    <a:pt x="9" y="36"/>
                  </a:lnTo>
                  <a:lnTo>
                    <a:pt x="20" y="30"/>
                  </a:lnTo>
                  <a:lnTo>
                    <a:pt x="26" y="22"/>
                  </a:lnTo>
                  <a:lnTo>
                    <a:pt x="28" y="19"/>
                  </a:lnTo>
                  <a:lnTo>
                    <a:pt x="29" y="16"/>
                  </a:lnTo>
                  <a:lnTo>
                    <a:pt x="11" y="16"/>
                  </a:lnTo>
                  <a:lnTo>
                    <a:pt x="29" y="16"/>
                  </a:lnTo>
                  <a:lnTo>
                    <a:pt x="29" y="8"/>
                  </a:lnTo>
                  <a:lnTo>
                    <a:pt x="25" y="2"/>
                  </a:lnTo>
                  <a:lnTo>
                    <a:pt x="17" y="0"/>
                  </a:lnTo>
                  <a:lnTo>
                    <a:pt x="11" y="7"/>
                  </a:lnTo>
                  <a:lnTo>
                    <a:pt x="29" y="7"/>
                  </a:lnTo>
                  <a:close/>
                </a:path>
              </a:pathLst>
            </a:custGeom>
            <a:solidFill>
              <a:srgbClr val="000000"/>
            </a:solidFill>
            <a:ln w="9525">
              <a:noFill/>
              <a:round/>
              <a:headEnd/>
              <a:tailEnd/>
            </a:ln>
          </p:spPr>
          <p:txBody>
            <a:bodyPr/>
            <a:lstStyle/>
            <a:p>
              <a:endParaRPr lang="en-US"/>
            </a:p>
          </p:txBody>
        </p:sp>
        <p:sp>
          <p:nvSpPr>
            <p:cNvPr id="24615" name="Freeform 236"/>
            <p:cNvSpPr>
              <a:spLocks/>
            </p:cNvSpPr>
            <p:nvPr/>
          </p:nvSpPr>
          <p:spPr bwMode="auto">
            <a:xfrm>
              <a:off x="2097" y="3604"/>
              <a:ext cx="24" cy="33"/>
            </a:xfrm>
            <a:custGeom>
              <a:avLst/>
              <a:gdLst>
                <a:gd name="T0" fmla="*/ 1 w 47"/>
                <a:gd name="T1" fmla="*/ 1 h 65"/>
                <a:gd name="T2" fmla="*/ 1 w 47"/>
                <a:gd name="T3" fmla="*/ 1 h 65"/>
                <a:gd name="T4" fmla="*/ 1 w 47"/>
                <a:gd name="T5" fmla="*/ 0 h 65"/>
                <a:gd name="T6" fmla="*/ 0 w 47"/>
                <a:gd name="T7" fmla="*/ 1 h 65"/>
                <a:gd name="T8" fmla="*/ 1 w 47"/>
                <a:gd name="T9" fmla="*/ 1 h 65"/>
                <a:gd name="T10" fmla="*/ 1 w 47"/>
                <a:gd name="T11" fmla="*/ 1 h 65"/>
                <a:gd name="T12" fmla="*/ 0 60000 65536"/>
                <a:gd name="T13" fmla="*/ 0 60000 65536"/>
                <a:gd name="T14" fmla="*/ 0 60000 65536"/>
                <a:gd name="T15" fmla="*/ 0 60000 65536"/>
                <a:gd name="T16" fmla="*/ 0 60000 65536"/>
                <a:gd name="T17" fmla="*/ 0 60000 65536"/>
                <a:gd name="T18" fmla="*/ 0 w 47"/>
                <a:gd name="T19" fmla="*/ 0 h 65"/>
                <a:gd name="T20" fmla="*/ 47 w 4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7" h="65">
                  <a:moveTo>
                    <a:pt x="37" y="61"/>
                  </a:moveTo>
                  <a:lnTo>
                    <a:pt x="47" y="56"/>
                  </a:lnTo>
                  <a:lnTo>
                    <a:pt x="18" y="0"/>
                  </a:lnTo>
                  <a:lnTo>
                    <a:pt x="0" y="9"/>
                  </a:lnTo>
                  <a:lnTo>
                    <a:pt x="28" y="65"/>
                  </a:lnTo>
                  <a:lnTo>
                    <a:pt x="37" y="61"/>
                  </a:lnTo>
                  <a:close/>
                </a:path>
              </a:pathLst>
            </a:custGeom>
            <a:solidFill>
              <a:srgbClr val="000000"/>
            </a:solidFill>
            <a:ln w="9525">
              <a:noFill/>
              <a:round/>
              <a:headEnd/>
              <a:tailEnd/>
            </a:ln>
          </p:spPr>
          <p:txBody>
            <a:bodyPr/>
            <a:lstStyle/>
            <a:p>
              <a:endParaRPr lang="en-US"/>
            </a:p>
          </p:txBody>
        </p:sp>
        <p:sp>
          <p:nvSpPr>
            <p:cNvPr id="24616" name="Freeform 237"/>
            <p:cNvSpPr>
              <a:spLocks/>
            </p:cNvSpPr>
            <p:nvPr/>
          </p:nvSpPr>
          <p:spPr bwMode="auto">
            <a:xfrm>
              <a:off x="2046" y="3834"/>
              <a:ext cx="1" cy="14"/>
            </a:xfrm>
            <a:custGeom>
              <a:avLst/>
              <a:gdLst>
                <a:gd name="T0" fmla="*/ 0 w 1"/>
                <a:gd name="T1" fmla="*/ 1 h 28"/>
                <a:gd name="T2" fmla="*/ 0 w 1"/>
                <a:gd name="T3" fmla="*/ 0 h 28"/>
                <a:gd name="T4" fmla="*/ 0 w 1"/>
                <a:gd name="T5" fmla="*/ 1 h 28"/>
                <a:gd name="T6" fmla="*/ 0 60000 65536"/>
                <a:gd name="T7" fmla="*/ 0 60000 65536"/>
                <a:gd name="T8" fmla="*/ 0 60000 65536"/>
                <a:gd name="T9" fmla="*/ 0 w 1"/>
                <a:gd name="T10" fmla="*/ 0 h 28"/>
                <a:gd name="T11" fmla="*/ 1 w 1"/>
                <a:gd name="T12" fmla="*/ 28 h 28"/>
              </a:gdLst>
              <a:ahLst/>
              <a:cxnLst>
                <a:cxn ang="T6">
                  <a:pos x="T0" y="T1"/>
                </a:cxn>
                <a:cxn ang="T7">
                  <a:pos x="T2" y="T3"/>
                </a:cxn>
                <a:cxn ang="T8">
                  <a:pos x="T4" y="T5"/>
                </a:cxn>
              </a:cxnLst>
              <a:rect l="T9" t="T10" r="T11" b="T12"/>
              <a:pathLst>
                <a:path w="1" h="28">
                  <a:moveTo>
                    <a:pt x="0" y="28"/>
                  </a:moveTo>
                  <a:lnTo>
                    <a:pt x="0" y="0"/>
                  </a:lnTo>
                  <a:lnTo>
                    <a:pt x="0" y="28"/>
                  </a:lnTo>
                  <a:close/>
                </a:path>
              </a:pathLst>
            </a:custGeom>
            <a:solidFill>
              <a:srgbClr val="FF7226"/>
            </a:solidFill>
            <a:ln w="9525">
              <a:noFill/>
              <a:round/>
              <a:headEnd/>
              <a:tailEnd/>
            </a:ln>
          </p:spPr>
          <p:txBody>
            <a:bodyPr/>
            <a:lstStyle/>
            <a:p>
              <a:endParaRPr lang="en-US"/>
            </a:p>
          </p:txBody>
        </p:sp>
        <p:sp>
          <p:nvSpPr>
            <p:cNvPr id="24617" name="Freeform 238"/>
            <p:cNvSpPr>
              <a:spLocks/>
            </p:cNvSpPr>
            <p:nvPr/>
          </p:nvSpPr>
          <p:spPr bwMode="auto">
            <a:xfrm>
              <a:off x="2040" y="3834"/>
              <a:ext cx="11" cy="14"/>
            </a:xfrm>
            <a:custGeom>
              <a:avLst/>
              <a:gdLst>
                <a:gd name="T0" fmla="*/ 1 w 22"/>
                <a:gd name="T1" fmla="*/ 0 h 28"/>
                <a:gd name="T2" fmla="*/ 0 w 22"/>
                <a:gd name="T3" fmla="*/ 0 h 28"/>
                <a:gd name="T4" fmla="*/ 0 w 22"/>
                <a:gd name="T5" fmla="*/ 1 h 28"/>
                <a:gd name="T6" fmla="*/ 1 w 22"/>
                <a:gd name="T7" fmla="*/ 1 h 28"/>
                <a:gd name="T8" fmla="*/ 1 w 22"/>
                <a:gd name="T9" fmla="*/ 0 h 28"/>
                <a:gd name="T10" fmla="*/ 1 w 22"/>
                <a:gd name="T11" fmla="*/ 0 h 28"/>
                <a:gd name="T12" fmla="*/ 0 60000 65536"/>
                <a:gd name="T13" fmla="*/ 0 60000 65536"/>
                <a:gd name="T14" fmla="*/ 0 60000 65536"/>
                <a:gd name="T15" fmla="*/ 0 60000 65536"/>
                <a:gd name="T16" fmla="*/ 0 60000 65536"/>
                <a:gd name="T17" fmla="*/ 0 60000 65536"/>
                <a:gd name="T18" fmla="*/ 0 w 22"/>
                <a:gd name="T19" fmla="*/ 0 h 28"/>
                <a:gd name="T20" fmla="*/ 22 w 22"/>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2" h="28">
                  <a:moveTo>
                    <a:pt x="11" y="0"/>
                  </a:moveTo>
                  <a:lnTo>
                    <a:pt x="0" y="0"/>
                  </a:lnTo>
                  <a:lnTo>
                    <a:pt x="0" y="28"/>
                  </a:lnTo>
                  <a:lnTo>
                    <a:pt x="22" y="28"/>
                  </a:lnTo>
                  <a:lnTo>
                    <a:pt x="22" y="0"/>
                  </a:lnTo>
                  <a:lnTo>
                    <a:pt x="11" y="0"/>
                  </a:lnTo>
                  <a:close/>
                </a:path>
              </a:pathLst>
            </a:custGeom>
            <a:solidFill>
              <a:srgbClr val="000000"/>
            </a:solidFill>
            <a:ln w="9525">
              <a:noFill/>
              <a:round/>
              <a:headEnd/>
              <a:tailEnd/>
            </a:ln>
          </p:spPr>
          <p:txBody>
            <a:bodyPr/>
            <a:lstStyle/>
            <a:p>
              <a:endParaRPr lang="en-US"/>
            </a:p>
          </p:txBody>
        </p:sp>
      </p:grpSp>
      <p:sp>
        <p:nvSpPr>
          <p:cNvPr id="24582" name="Line 239"/>
          <p:cNvSpPr>
            <a:spLocks noChangeShapeType="1"/>
          </p:cNvSpPr>
          <p:nvPr/>
        </p:nvSpPr>
        <p:spPr bwMode="auto">
          <a:xfrm>
            <a:off x="3810000" y="5638800"/>
            <a:ext cx="2971800" cy="0"/>
          </a:xfrm>
          <a:prstGeom prst="line">
            <a:avLst/>
          </a:prstGeom>
          <a:noFill/>
          <a:ln w="12700" cap="sq">
            <a:solidFill>
              <a:schemeClr val="bg1"/>
            </a:solidFill>
            <a:round/>
            <a:headEnd type="none" w="sm" len="sm"/>
            <a:tailEnd type="none" w="sm" len="sm"/>
          </a:ln>
        </p:spPr>
        <p:txBody>
          <a:bodyPr wrap="none"/>
          <a:lstStyle/>
          <a:p>
            <a:endParaRPr lang="en-US"/>
          </a:p>
        </p:txBody>
      </p:sp>
      <p:sp>
        <p:nvSpPr>
          <p:cNvPr id="24583" name="Text Box 240"/>
          <p:cNvSpPr txBox="1">
            <a:spLocks noChangeArrowheads="1"/>
          </p:cNvSpPr>
          <p:nvPr/>
        </p:nvSpPr>
        <p:spPr bwMode="auto">
          <a:xfrm>
            <a:off x="7002463" y="4724400"/>
            <a:ext cx="660400" cy="369888"/>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RAS</a:t>
            </a:r>
          </a:p>
        </p:txBody>
      </p:sp>
      <p:pic>
        <p:nvPicPr>
          <p:cNvPr id="24584" name="Picture 241" descr="C:\My Documents\Ray\NETDRAW4\INTERNET\INTRNET.WMF"/>
          <p:cNvPicPr>
            <a:picLocks noChangeAspect="1" noChangeArrowheads="1"/>
          </p:cNvPicPr>
          <p:nvPr/>
        </p:nvPicPr>
        <p:blipFill>
          <a:blip r:embed="rId4" cstate="print"/>
          <a:srcRect/>
          <a:stretch>
            <a:fillRect/>
          </a:stretch>
        </p:blipFill>
        <p:spPr bwMode="auto">
          <a:xfrm>
            <a:off x="4419600" y="5105400"/>
            <a:ext cx="1600200" cy="98583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smtClean="0"/>
              <a:t>PPTP</a:t>
            </a:r>
          </a:p>
        </p:txBody>
      </p:sp>
      <p:sp>
        <p:nvSpPr>
          <p:cNvPr id="15363" name="Rectangle 3"/>
          <p:cNvSpPr>
            <a:spLocks noGrp="1" noChangeArrowheads="1"/>
          </p:cNvSpPr>
          <p:nvPr>
            <p:ph type="body" idx="1"/>
          </p:nvPr>
        </p:nvSpPr>
        <p:spPr/>
        <p:txBody>
          <a:bodyPr/>
          <a:lstStyle/>
          <a:p>
            <a:pPr eaLnBrk="1" hangingPunct="1">
              <a:defRPr/>
            </a:pPr>
            <a:r>
              <a:rPr lang="en-US" dirty="0" smtClean="0"/>
              <a:t>The Point-to-Point Tunneling Protocol (PPTP) makes this possible</a:t>
            </a:r>
          </a:p>
          <a:p>
            <a:pPr lvl="1" eaLnBrk="1" hangingPunct="1">
              <a:defRPr/>
            </a:pPr>
            <a:r>
              <a:rPr lang="en-US" dirty="0" smtClean="0"/>
              <a:t>Created by Microsoft</a:t>
            </a:r>
          </a:p>
          <a:p>
            <a:pPr lvl="1" eaLnBrk="1" hangingPunct="1">
              <a:defRPr/>
            </a:pPr>
            <a:r>
              <a:rPr lang="en-US" dirty="0" smtClean="0"/>
              <a:t>Widely used</a:t>
            </a:r>
          </a:p>
        </p:txBody>
      </p:sp>
      <p:pic>
        <p:nvPicPr>
          <p:cNvPr id="25604" name="Picture 4" descr="F:\NETDRAW4\ISOMETRC\FILSERVI.WMF"/>
          <p:cNvPicPr>
            <a:picLocks noChangeAspect="1" noChangeArrowheads="1"/>
          </p:cNvPicPr>
          <p:nvPr/>
        </p:nvPicPr>
        <p:blipFill>
          <a:blip r:embed="rId3" cstate="print"/>
          <a:srcRect/>
          <a:stretch>
            <a:fillRect/>
          </a:stretch>
        </p:blipFill>
        <p:spPr bwMode="auto">
          <a:xfrm>
            <a:off x="7654925" y="5046663"/>
            <a:ext cx="727075" cy="1262062"/>
          </a:xfrm>
          <a:prstGeom prst="rect">
            <a:avLst/>
          </a:prstGeom>
          <a:noFill/>
          <a:ln w="9525">
            <a:noFill/>
            <a:miter lim="800000"/>
            <a:headEnd/>
            <a:tailEnd/>
          </a:ln>
        </p:spPr>
      </p:pic>
      <p:grpSp>
        <p:nvGrpSpPr>
          <p:cNvPr id="25605" name="Group 5"/>
          <p:cNvGrpSpPr>
            <a:grpSpLocks/>
          </p:cNvGrpSpPr>
          <p:nvPr/>
        </p:nvGrpSpPr>
        <p:grpSpPr bwMode="auto">
          <a:xfrm flipH="1">
            <a:off x="685800" y="5021263"/>
            <a:ext cx="1235075" cy="1025525"/>
            <a:chOff x="1531" y="3307"/>
            <a:chExt cx="778" cy="646"/>
          </a:xfrm>
        </p:grpSpPr>
        <p:grpSp>
          <p:nvGrpSpPr>
            <p:cNvPr id="25611" name="Group 6"/>
            <p:cNvGrpSpPr>
              <a:grpSpLocks/>
            </p:cNvGrpSpPr>
            <p:nvPr/>
          </p:nvGrpSpPr>
          <p:grpSpPr bwMode="auto">
            <a:xfrm>
              <a:off x="1531" y="3307"/>
              <a:ext cx="778" cy="646"/>
              <a:chOff x="1531" y="3307"/>
              <a:chExt cx="778" cy="646"/>
            </a:xfrm>
          </p:grpSpPr>
          <p:sp>
            <p:nvSpPr>
              <p:cNvPr id="25644" name="Freeform 7"/>
              <p:cNvSpPr>
                <a:spLocks/>
              </p:cNvSpPr>
              <p:nvPr/>
            </p:nvSpPr>
            <p:spPr bwMode="auto">
              <a:xfrm>
                <a:off x="1954" y="3823"/>
                <a:ext cx="117" cy="42"/>
              </a:xfrm>
              <a:custGeom>
                <a:avLst/>
                <a:gdLst>
                  <a:gd name="T0" fmla="*/ 0 w 235"/>
                  <a:gd name="T1" fmla="*/ 0 h 84"/>
                  <a:gd name="T2" fmla="*/ 0 w 235"/>
                  <a:gd name="T3" fmla="*/ 1 h 84"/>
                  <a:gd name="T4" fmla="*/ 0 w 235"/>
                  <a:gd name="T5" fmla="*/ 1 h 84"/>
                  <a:gd name="T6" fmla="*/ 0 w 235"/>
                  <a:gd name="T7" fmla="*/ 1 h 84"/>
                  <a:gd name="T8" fmla="*/ 0 w 235"/>
                  <a:gd name="T9" fmla="*/ 1 h 84"/>
                  <a:gd name="T10" fmla="*/ 0 w 235"/>
                  <a:gd name="T11" fmla="*/ 1 h 84"/>
                  <a:gd name="T12" fmla="*/ 0 w 235"/>
                  <a:gd name="T13" fmla="*/ 1 h 84"/>
                  <a:gd name="T14" fmla="*/ 0 w 235"/>
                  <a:gd name="T15" fmla="*/ 1 h 84"/>
                  <a:gd name="T16" fmla="*/ 0 w 235"/>
                  <a:gd name="T17" fmla="*/ 1 h 84"/>
                  <a:gd name="T18" fmla="*/ 0 w 235"/>
                  <a:gd name="T19" fmla="*/ 1 h 84"/>
                  <a:gd name="T20" fmla="*/ 0 w 235"/>
                  <a:gd name="T21" fmla="*/ 1 h 84"/>
                  <a:gd name="T22" fmla="*/ 0 w 235"/>
                  <a:gd name="T23" fmla="*/ 1 h 84"/>
                  <a:gd name="T24" fmla="*/ 0 w 235"/>
                  <a:gd name="T25" fmla="*/ 1 h 84"/>
                  <a:gd name="T26" fmla="*/ 0 w 235"/>
                  <a:gd name="T27" fmla="*/ 1 h 84"/>
                  <a:gd name="T28" fmla="*/ 0 w 235"/>
                  <a:gd name="T29" fmla="*/ 1 h 84"/>
                  <a:gd name="T30" fmla="*/ 0 w 235"/>
                  <a:gd name="T31" fmla="*/ 1 h 84"/>
                  <a:gd name="T32" fmla="*/ 0 w 235"/>
                  <a:gd name="T33" fmla="*/ 1 h 84"/>
                  <a:gd name="T34" fmla="*/ 0 w 235"/>
                  <a:gd name="T35" fmla="*/ 1 h 84"/>
                  <a:gd name="T36" fmla="*/ 0 w 235"/>
                  <a:gd name="T37" fmla="*/ 1 h 84"/>
                  <a:gd name="T38" fmla="*/ 0 w 235"/>
                  <a:gd name="T39" fmla="*/ 1 h 84"/>
                  <a:gd name="T40" fmla="*/ 0 w 235"/>
                  <a:gd name="T41" fmla="*/ 1 h 84"/>
                  <a:gd name="T42" fmla="*/ 0 w 235"/>
                  <a:gd name="T43" fmla="*/ 1 h 84"/>
                  <a:gd name="T44" fmla="*/ 0 w 235"/>
                  <a:gd name="T45" fmla="*/ 1 h 84"/>
                  <a:gd name="T46" fmla="*/ 0 w 235"/>
                  <a:gd name="T47" fmla="*/ 1 h 84"/>
                  <a:gd name="T48" fmla="*/ 0 w 235"/>
                  <a:gd name="T49" fmla="*/ 1 h 84"/>
                  <a:gd name="T50" fmla="*/ 0 w 235"/>
                  <a:gd name="T51" fmla="*/ 1 h 84"/>
                  <a:gd name="T52" fmla="*/ 0 w 235"/>
                  <a:gd name="T53" fmla="*/ 1 h 84"/>
                  <a:gd name="T54" fmla="*/ 0 w 235"/>
                  <a:gd name="T55" fmla="*/ 1 h 84"/>
                  <a:gd name="T56" fmla="*/ 0 w 235"/>
                  <a:gd name="T57" fmla="*/ 1 h 84"/>
                  <a:gd name="T58" fmla="*/ 0 w 235"/>
                  <a:gd name="T59" fmla="*/ 1 h 84"/>
                  <a:gd name="T60" fmla="*/ 0 w 235"/>
                  <a:gd name="T61" fmla="*/ 1 h 84"/>
                  <a:gd name="T62" fmla="*/ 0 w 235"/>
                  <a:gd name="T63" fmla="*/ 1 h 84"/>
                  <a:gd name="T64" fmla="*/ 0 w 235"/>
                  <a:gd name="T65" fmla="*/ 1 h 84"/>
                  <a:gd name="T66" fmla="*/ 0 w 235"/>
                  <a:gd name="T67" fmla="*/ 1 h 84"/>
                  <a:gd name="T68" fmla="*/ 0 w 235"/>
                  <a:gd name="T69" fmla="*/ 1 h 84"/>
                  <a:gd name="T70" fmla="*/ 0 w 235"/>
                  <a:gd name="T71" fmla="*/ 1 h 84"/>
                  <a:gd name="T72" fmla="*/ 0 w 235"/>
                  <a:gd name="T73" fmla="*/ 1 h 84"/>
                  <a:gd name="T74" fmla="*/ 0 w 235"/>
                  <a:gd name="T75" fmla="*/ 0 h 84"/>
                  <a:gd name="T76" fmla="*/ 0 w 235"/>
                  <a:gd name="T77" fmla="*/ 0 h 84"/>
                  <a:gd name="T78" fmla="*/ 0 w 235"/>
                  <a:gd name="T79" fmla="*/ 0 h 84"/>
                  <a:gd name="T80" fmla="*/ 0 w 235"/>
                  <a:gd name="T81" fmla="*/ 0 h 84"/>
                  <a:gd name="T82" fmla="*/ 0 w 235"/>
                  <a:gd name="T83" fmla="*/ 0 h 84"/>
                  <a:gd name="T84" fmla="*/ 0 w 235"/>
                  <a:gd name="T85" fmla="*/ 0 h 84"/>
                  <a:gd name="T86" fmla="*/ 0 w 235"/>
                  <a:gd name="T87" fmla="*/ 0 h 84"/>
                  <a:gd name="T88" fmla="*/ 0 w 235"/>
                  <a:gd name="T89" fmla="*/ 0 h 84"/>
                  <a:gd name="T90" fmla="*/ 0 w 235"/>
                  <a:gd name="T91" fmla="*/ 0 h 84"/>
                  <a:gd name="T92" fmla="*/ 0 w 235"/>
                  <a:gd name="T93" fmla="*/ 0 h 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35"/>
                  <a:gd name="T142" fmla="*/ 0 h 84"/>
                  <a:gd name="T143" fmla="*/ 235 w 235"/>
                  <a:gd name="T144" fmla="*/ 84 h 8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35" h="84">
                    <a:moveTo>
                      <a:pt x="235" y="0"/>
                    </a:moveTo>
                    <a:lnTo>
                      <a:pt x="233" y="39"/>
                    </a:lnTo>
                    <a:lnTo>
                      <a:pt x="233" y="40"/>
                    </a:lnTo>
                    <a:lnTo>
                      <a:pt x="230" y="47"/>
                    </a:lnTo>
                    <a:lnTo>
                      <a:pt x="224" y="51"/>
                    </a:lnTo>
                    <a:lnTo>
                      <a:pt x="213" y="54"/>
                    </a:lnTo>
                    <a:lnTo>
                      <a:pt x="201" y="54"/>
                    </a:lnTo>
                    <a:lnTo>
                      <a:pt x="193" y="54"/>
                    </a:lnTo>
                    <a:lnTo>
                      <a:pt x="186" y="53"/>
                    </a:lnTo>
                    <a:lnTo>
                      <a:pt x="185" y="53"/>
                    </a:lnTo>
                    <a:lnTo>
                      <a:pt x="182" y="75"/>
                    </a:lnTo>
                    <a:lnTo>
                      <a:pt x="180" y="76"/>
                    </a:lnTo>
                    <a:lnTo>
                      <a:pt x="174" y="79"/>
                    </a:lnTo>
                    <a:lnTo>
                      <a:pt x="161" y="83"/>
                    </a:lnTo>
                    <a:lnTo>
                      <a:pt x="143" y="84"/>
                    </a:lnTo>
                    <a:lnTo>
                      <a:pt x="122" y="83"/>
                    </a:lnTo>
                    <a:lnTo>
                      <a:pt x="108" y="78"/>
                    </a:lnTo>
                    <a:lnTo>
                      <a:pt x="100" y="75"/>
                    </a:lnTo>
                    <a:lnTo>
                      <a:pt x="99" y="73"/>
                    </a:lnTo>
                    <a:lnTo>
                      <a:pt x="96" y="73"/>
                    </a:lnTo>
                    <a:lnTo>
                      <a:pt x="86" y="72"/>
                    </a:lnTo>
                    <a:lnTo>
                      <a:pt x="72" y="70"/>
                    </a:lnTo>
                    <a:lnTo>
                      <a:pt x="56" y="67"/>
                    </a:lnTo>
                    <a:lnTo>
                      <a:pt x="39" y="62"/>
                    </a:lnTo>
                    <a:lnTo>
                      <a:pt x="24" y="56"/>
                    </a:lnTo>
                    <a:lnTo>
                      <a:pt x="13" y="47"/>
                    </a:lnTo>
                    <a:lnTo>
                      <a:pt x="5" y="36"/>
                    </a:lnTo>
                    <a:lnTo>
                      <a:pt x="0" y="20"/>
                    </a:lnTo>
                    <a:lnTo>
                      <a:pt x="2" y="15"/>
                    </a:lnTo>
                    <a:lnTo>
                      <a:pt x="6" y="18"/>
                    </a:lnTo>
                    <a:lnTo>
                      <a:pt x="8" y="20"/>
                    </a:lnTo>
                    <a:lnTo>
                      <a:pt x="10" y="18"/>
                    </a:lnTo>
                    <a:lnTo>
                      <a:pt x="14" y="17"/>
                    </a:lnTo>
                    <a:lnTo>
                      <a:pt x="22" y="14"/>
                    </a:lnTo>
                    <a:lnTo>
                      <a:pt x="31" y="9"/>
                    </a:lnTo>
                    <a:lnTo>
                      <a:pt x="44" y="6"/>
                    </a:lnTo>
                    <a:lnTo>
                      <a:pt x="58" y="3"/>
                    </a:lnTo>
                    <a:lnTo>
                      <a:pt x="75" y="0"/>
                    </a:lnTo>
                    <a:lnTo>
                      <a:pt x="92" y="0"/>
                    </a:lnTo>
                    <a:lnTo>
                      <a:pt x="113" y="0"/>
                    </a:lnTo>
                    <a:lnTo>
                      <a:pt x="136" y="0"/>
                    </a:lnTo>
                    <a:lnTo>
                      <a:pt x="160" y="0"/>
                    </a:lnTo>
                    <a:lnTo>
                      <a:pt x="183" y="0"/>
                    </a:lnTo>
                    <a:lnTo>
                      <a:pt x="204" y="0"/>
                    </a:lnTo>
                    <a:lnTo>
                      <a:pt x="219" y="0"/>
                    </a:lnTo>
                    <a:lnTo>
                      <a:pt x="230" y="0"/>
                    </a:lnTo>
                    <a:lnTo>
                      <a:pt x="235" y="0"/>
                    </a:lnTo>
                    <a:close/>
                  </a:path>
                </a:pathLst>
              </a:custGeom>
              <a:solidFill>
                <a:srgbClr val="7F2600"/>
              </a:solidFill>
              <a:ln w="9525">
                <a:noFill/>
                <a:round/>
                <a:headEnd/>
                <a:tailEnd/>
              </a:ln>
            </p:spPr>
            <p:txBody>
              <a:bodyPr/>
              <a:lstStyle/>
              <a:p>
                <a:endParaRPr lang="en-US"/>
              </a:p>
            </p:txBody>
          </p:sp>
          <p:sp>
            <p:nvSpPr>
              <p:cNvPr id="25645" name="Freeform 8"/>
              <p:cNvSpPr>
                <a:spLocks/>
              </p:cNvSpPr>
              <p:nvPr/>
            </p:nvSpPr>
            <p:spPr bwMode="auto">
              <a:xfrm>
                <a:off x="2065" y="3823"/>
                <a:ext cx="12" cy="25"/>
              </a:xfrm>
              <a:custGeom>
                <a:avLst/>
                <a:gdLst>
                  <a:gd name="T0" fmla="*/ 1 w 24"/>
                  <a:gd name="T1" fmla="*/ 1 h 50"/>
                  <a:gd name="T2" fmla="*/ 1 w 24"/>
                  <a:gd name="T3" fmla="*/ 1 h 50"/>
                  <a:gd name="T4" fmla="*/ 1 w 24"/>
                  <a:gd name="T5" fmla="*/ 0 h 50"/>
                  <a:gd name="T6" fmla="*/ 1 w 24"/>
                  <a:gd name="T7" fmla="*/ 0 h 50"/>
                  <a:gd name="T8" fmla="*/ 0 w 24"/>
                  <a:gd name="T9" fmla="*/ 1 h 50"/>
                  <a:gd name="T10" fmla="*/ 0 w 24"/>
                  <a:gd name="T11" fmla="*/ 1 h 50"/>
                  <a:gd name="T12" fmla="*/ 0 w 24"/>
                  <a:gd name="T13" fmla="*/ 1 h 50"/>
                  <a:gd name="T14" fmla="*/ 1 w 24"/>
                  <a:gd name="T15" fmla="*/ 1 h 50"/>
                  <a:gd name="T16" fmla="*/ 1 w 24"/>
                  <a:gd name="T17" fmla="*/ 1 h 50"/>
                  <a:gd name="T18" fmla="*/ 1 w 24"/>
                  <a:gd name="T19" fmla="*/ 1 h 50"/>
                  <a:gd name="T20" fmla="*/ 1 w 24"/>
                  <a:gd name="T21" fmla="*/ 1 h 50"/>
                  <a:gd name="T22" fmla="*/ 1 w 24"/>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50"/>
                  <a:gd name="T38" fmla="*/ 24 w 24"/>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50">
                    <a:moveTo>
                      <a:pt x="22" y="40"/>
                    </a:moveTo>
                    <a:lnTo>
                      <a:pt x="22" y="39"/>
                    </a:lnTo>
                    <a:lnTo>
                      <a:pt x="24" y="0"/>
                    </a:lnTo>
                    <a:lnTo>
                      <a:pt x="2" y="0"/>
                    </a:lnTo>
                    <a:lnTo>
                      <a:pt x="0" y="39"/>
                    </a:lnTo>
                    <a:lnTo>
                      <a:pt x="0" y="37"/>
                    </a:lnTo>
                    <a:lnTo>
                      <a:pt x="0" y="39"/>
                    </a:lnTo>
                    <a:lnTo>
                      <a:pt x="4" y="47"/>
                    </a:lnTo>
                    <a:lnTo>
                      <a:pt x="11" y="50"/>
                    </a:lnTo>
                    <a:lnTo>
                      <a:pt x="19" y="47"/>
                    </a:lnTo>
                    <a:lnTo>
                      <a:pt x="22" y="39"/>
                    </a:lnTo>
                    <a:lnTo>
                      <a:pt x="22" y="40"/>
                    </a:lnTo>
                    <a:close/>
                  </a:path>
                </a:pathLst>
              </a:custGeom>
              <a:solidFill>
                <a:srgbClr val="000000"/>
              </a:solidFill>
              <a:ln w="9525">
                <a:noFill/>
                <a:round/>
                <a:headEnd/>
                <a:tailEnd/>
              </a:ln>
            </p:spPr>
            <p:txBody>
              <a:bodyPr/>
              <a:lstStyle/>
              <a:p>
                <a:endParaRPr lang="en-US"/>
              </a:p>
            </p:txBody>
          </p:sp>
          <p:sp>
            <p:nvSpPr>
              <p:cNvPr id="25646" name="Freeform 9"/>
              <p:cNvSpPr>
                <a:spLocks/>
              </p:cNvSpPr>
              <p:nvPr/>
            </p:nvSpPr>
            <p:spPr bwMode="auto">
              <a:xfrm>
                <a:off x="2060" y="3841"/>
                <a:ext cx="16" cy="15"/>
              </a:xfrm>
              <a:custGeom>
                <a:avLst/>
                <a:gdLst>
                  <a:gd name="T0" fmla="*/ 0 w 33"/>
                  <a:gd name="T1" fmla="*/ 1 h 29"/>
                  <a:gd name="T2" fmla="*/ 0 w 33"/>
                  <a:gd name="T3" fmla="*/ 1 h 29"/>
                  <a:gd name="T4" fmla="*/ 0 w 33"/>
                  <a:gd name="T5" fmla="*/ 1 h 29"/>
                  <a:gd name="T6" fmla="*/ 0 w 33"/>
                  <a:gd name="T7" fmla="*/ 1 h 29"/>
                  <a:gd name="T8" fmla="*/ 0 w 33"/>
                  <a:gd name="T9" fmla="*/ 1 h 29"/>
                  <a:gd name="T10" fmla="*/ 0 w 33"/>
                  <a:gd name="T11" fmla="*/ 1 h 29"/>
                  <a:gd name="T12" fmla="*/ 0 w 33"/>
                  <a:gd name="T13" fmla="*/ 1 h 29"/>
                  <a:gd name="T14" fmla="*/ 0 w 33"/>
                  <a:gd name="T15" fmla="*/ 0 h 29"/>
                  <a:gd name="T16" fmla="*/ 0 w 33"/>
                  <a:gd name="T17" fmla="*/ 1 h 29"/>
                  <a:gd name="T18" fmla="*/ 0 w 33"/>
                  <a:gd name="T19" fmla="*/ 1 h 29"/>
                  <a:gd name="T20" fmla="*/ 0 w 33"/>
                  <a:gd name="T21" fmla="*/ 1 h 29"/>
                  <a:gd name="T22" fmla="*/ 0 w 33"/>
                  <a:gd name="T23" fmla="*/ 1 h 29"/>
                  <a:gd name="T24" fmla="*/ 0 w 33"/>
                  <a:gd name="T25" fmla="*/ 1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29"/>
                  <a:gd name="T41" fmla="*/ 33 w 33"/>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29">
                    <a:moveTo>
                      <a:pt x="4" y="29"/>
                    </a:moveTo>
                    <a:lnTo>
                      <a:pt x="4" y="29"/>
                    </a:lnTo>
                    <a:lnTo>
                      <a:pt x="18" y="25"/>
                    </a:lnTo>
                    <a:lnTo>
                      <a:pt x="27" y="18"/>
                    </a:lnTo>
                    <a:lnTo>
                      <a:pt x="33" y="9"/>
                    </a:lnTo>
                    <a:lnTo>
                      <a:pt x="33" y="4"/>
                    </a:lnTo>
                    <a:lnTo>
                      <a:pt x="11" y="1"/>
                    </a:lnTo>
                    <a:lnTo>
                      <a:pt x="11" y="0"/>
                    </a:lnTo>
                    <a:lnTo>
                      <a:pt x="11" y="3"/>
                    </a:lnTo>
                    <a:lnTo>
                      <a:pt x="8" y="6"/>
                    </a:lnTo>
                    <a:lnTo>
                      <a:pt x="0" y="7"/>
                    </a:lnTo>
                    <a:lnTo>
                      <a:pt x="4" y="29"/>
                    </a:lnTo>
                    <a:close/>
                  </a:path>
                </a:pathLst>
              </a:custGeom>
              <a:solidFill>
                <a:srgbClr val="000000"/>
              </a:solidFill>
              <a:ln w="9525">
                <a:noFill/>
                <a:round/>
                <a:headEnd/>
                <a:tailEnd/>
              </a:ln>
            </p:spPr>
            <p:txBody>
              <a:bodyPr/>
              <a:lstStyle/>
              <a:p>
                <a:endParaRPr lang="en-US"/>
              </a:p>
            </p:txBody>
          </p:sp>
          <p:sp>
            <p:nvSpPr>
              <p:cNvPr id="25647" name="Freeform 10"/>
              <p:cNvSpPr>
                <a:spLocks/>
              </p:cNvSpPr>
              <p:nvPr/>
            </p:nvSpPr>
            <p:spPr bwMode="auto">
              <a:xfrm>
                <a:off x="2041" y="3844"/>
                <a:ext cx="20" cy="12"/>
              </a:xfrm>
              <a:custGeom>
                <a:avLst/>
                <a:gdLst>
                  <a:gd name="T0" fmla="*/ 0 w 41"/>
                  <a:gd name="T1" fmla="*/ 1 h 23"/>
                  <a:gd name="T2" fmla="*/ 0 w 41"/>
                  <a:gd name="T3" fmla="*/ 1 h 23"/>
                  <a:gd name="T4" fmla="*/ 0 w 41"/>
                  <a:gd name="T5" fmla="*/ 1 h 23"/>
                  <a:gd name="T6" fmla="*/ 0 w 41"/>
                  <a:gd name="T7" fmla="*/ 1 h 23"/>
                  <a:gd name="T8" fmla="*/ 0 w 41"/>
                  <a:gd name="T9" fmla="*/ 1 h 23"/>
                  <a:gd name="T10" fmla="*/ 0 w 41"/>
                  <a:gd name="T11" fmla="*/ 1 h 23"/>
                  <a:gd name="T12" fmla="*/ 0 w 41"/>
                  <a:gd name="T13" fmla="*/ 1 h 23"/>
                  <a:gd name="T14" fmla="*/ 0 w 41"/>
                  <a:gd name="T15" fmla="*/ 1 h 23"/>
                  <a:gd name="T16" fmla="*/ 0 w 41"/>
                  <a:gd name="T17" fmla="*/ 1 h 23"/>
                  <a:gd name="T18" fmla="*/ 0 w 41"/>
                  <a:gd name="T19" fmla="*/ 0 h 23"/>
                  <a:gd name="T20" fmla="*/ 0 w 41"/>
                  <a:gd name="T21" fmla="*/ 0 h 23"/>
                  <a:gd name="T22" fmla="*/ 0 w 41"/>
                  <a:gd name="T23" fmla="*/ 1 h 23"/>
                  <a:gd name="T24" fmla="*/ 0 w 41"/>
                  <a:gd name="T25" fmla="*/ 0 h 23"/>
                  <a:gd name="T26" fmla="*/ 0 w 41"/>
                  <a:gd name="T27" fmla="*/ 1 h 23"/>
                  <a:gd name="T28" fmla="*/ 0 w 41"/>
                  <a:gd name="T29" fmla="*/ 1 h 23"/>
                  <a:gd name="T30" fmla="*/ 0 w 41"/>
                  <a:gd name="T31" fmla="*/ 1 h 23"/>
                  <a:gd name="T32" fmla="*/ 0 w 41"/>
                  <a:gd name="T33" fmla="*/ 1 h 23"/>
                  <a:gd name="T34" fmla="*/ 0 w 41"/>
                  <a:gd name="T35" fmla="*/ 1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23"/>
                  <a:gd name="T56" fmla="*/ 41 w 41"/>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23">
                    <a:moveTo>
                      <a:pt x="22" y="12"/>
                    </a:moveTo>
                    <a:lnTo>
                      <a:pt x="8" y="22"/>
                    </a:lnTo>
                    <a:lnTo>
                      <a:pt x="11" y="22"/>
                    </a:lnTo>
                    <a:lnTo>
                      <a:pt x="17" y="23"/>
                    </a:lnTo>
                    <a:lnTo>
                      <a:pt x="27" y="23"/>
                    </a:lnTo>
                    <a:lnTo>
                      <a:pt x="41" y="23"/>
                    </a:lnTo>
                    <a:lnTo>
                      <a:pt x="37" y="1"/>
                    </a:lnTo>
                    <a:lnTo>
                      <a:pt x="27" y="1"/>
                    </a:lnTo>
                    <a:lnTo>
                      <a:pt x="20" y="1"/>
                    </a:lnTo>
                    <a:lnTo>
                      <a:pt x="14" y="0"/>
                    </a:lnTo>
                    <a:lnTo>
                      <a:pt x="0" y="9"/>
                    </a:lnTo>
                    <a:lnTo>
                      <a:pt x="14" y="0"/>
                    </a:lnTo>
                    <a:lnTo>
                      <a:pt x="5" y="1"/>
                    </a:lnTo>
                    <a:lnTo>
                      <a:pt x="0" y="8"/>
                    </a:lnTo>
                    <a:lnTo>
                      <a:pt x="1" y="17"/>
                    </a:lnTo>
                    <a:lnTo>
                      <a:pt x="8" y="22"/>
                    </a:lnTo>
                    <a:lnTo>
                      <a:pt x="22" y="12"/>
                    </a:lnTo>
                    <a:close/>
                  </a:path>
                </a:pathLst>
              </a:custGeom>
              <a:solidFill>
                <a:srgbClr val="000000"/>
              </a:solidFill>
              <a:ln w="9525">
                <a:noFill/>
                <a:round/>
                <a:headEnd/>
                <a:tailEnd/>
              </a:ln>
            </p:spPr>
            <p:txBody>
              <a:bodyPr/>
              <a:lstStyle/>
              <a:p>
                <a:endParaRPr lang="en-US"/>
              </a:p>
            </p:txBody>
          </p:sp>
          <p:sp>
            <p:nvSpPr>
              <p:cNvPr id="25648" name="Freeform 11"/>
              <p:cNvSpPr>
                <a:spLocks/>
              </p:cNvSpPr>
              <p:nvPr/>
            </p:nvSpPr>
            <p:spPr bwMode="auto">
              <a:xfrm>
                <a:off x="2039" y="3849"/>
                <a:ext cx="13" cy="17"/>
              </a:xfrm>
              <a:custGeom>
                <a:avLst/>
                <a:gdLst>
                  <a:gd name="T0" fmla="*/ 1 w 25"/>
                  <a:gd name="T1" fmla="*/ 0 h 35"/>
                  <a:gd name="T2" fmla="*/ 1 w 25"/>
                  <a:gd name="T3" fmla="*/ 0 h 35"/>
                  <a:gd name="T4" fmla="*/ 1 w 25"/>
                  <a:gd name="T5" fmla="*/ 0 h 35"/>
                  <a:gd name="T6" fmla="*/ 1 w 25"/>
                  <a:gd name="T7" fmla="*/ 0 h 35"/>
                  <a:gd name="T8" fmla="*/ 0 w 25"/>
                  <a:gd name="T9" fmla="*/ 0 h 35"/>
                  <a:gd name="T10" fmla="*/ 1 w 25"/>
                  <a:gd name="T11" fmla="*/ 0 h 35"/>
                  <a:gd name="T12" fmla="*/ 0 w 25"/>
                  <a:gd name="T13" fmla="*/ 0 h 35"/>
                  <a:gd name="T14" fmla="*/ 1 w 25"/>
                  <a:gd name="T15" fmla="*/ 0 h 35"/>
                  <a:gd name="T16" fmla="*/ 1 w 25"/>
                  <a:gd name="T17" fmla="*/ 0 h 35"/>
                  <a:gd name="T18" fmla="*/ 1 w 25"/>
                  <a:gd name="T19" fmla="*/ 0 h 35"/>
                  <a:gd name="T20" fmla="*/ 1 w 25"/>
                  <a:gd name="T21" fmla="*/ 0 h 35"/>
                  <a:gd name="T22" fmla="*/ 1 w 25"/>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
                  <a:gd name="T37" fmla="*/ 0 h 35"/>
                  <a:gd name="T38" fmla="*/ 25 w 25"/>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 h="35">
                    <a:moveTo>
                      <a:pt x="19" y="30"/>
                    </a:moveTo>
                    <a:lnTo>
                      <a:pt x="22" y="25"/>
                    </a:lnTo>
                    <a:lnTo>
                      <a:pt x="25" y="3"/>
                    </a:lnTo>
                    <a:lnTo>
                      <a:pt x="3" y="0"/>
                    </a:lnTo>
                    <a:lnTo>
                      <a:pt x="0" y="22"/>
                    </a:lnTo>
                    <a:lnTo>
                      <a:pt x="3" y="18"/>
                    </a:lnTo>
                    <a:lnTo>
                      <a:pt x="0" y="22"/>
                    </a:lnTo>
                    <a:lnTo>
                      <a:pt x="3" y="30"/>
                    </a:lnTo>
                    <a:lnTo>
                      <a:pt x="9" y="35"/>
                    </a:lnTo>
                    <a:lnTo>
                      <a:pt x="17" y="33"/>
                    </a:lnTo>
                    <a:lnTo>
                      <a:pt x="22" y="25"/>
                    </a:lnTo>
                    <a:lnTo>
                      <a:pt x="19" y="30"/>
                    </a:lnTo>
                    <a:close/>
                  </a:path>
                </a:pathLst>
              </a:custGeom>
              <a:solidFill>
                <a:srgbClr val="000000"/>
              </a:solidFill>
              <a:ln w="9525">
                <a:noFill/>
                <a:round/>
                <a:headEnd/>
                <a:tailEnd/>
              </a:ln>
            </p:spPr>
            <p:txBody>
              <a:bodyPr/>
              <a:lstStyle/>
              <a:p>
                <a:endParaRPr lang="en-US"/>
              </a:p>
            </p:txBody>
          </p:sp>
          <p:sp>
            <p:nvSpPr>
              <p:cNvPr id="25649" name="Freeform 12"/>
              <p:cNvSpPr>
                <a:spLocks/>
              </p:cNvSpPr>
              <p:nvPr/>
            </p:nvSpPr>
            <p:spPr bwMode="auto">
              <a:xfrm>
                <a:off x="2025" y="3856"/>
                <a:ext cx="24" cy="15"/>
              </a:xfrm>
              <a:custGeom>
                <a:avLst/>
                <a:gdLst>
                  <a:gd name="T0" fmla="*/ 0 w 47"/>
                  <a:gd name="T1" fmla="*/ 1 h 28"/>
                  <a:gd name="T2" fmla="*/ 0 w 47"/>
                  <a:gd name="T3" fmla="*/ 1 h 28"/>
                  <a:gd name="T4" fmla="*/ 1 w 47"/>
                  <a:gd name="T5" fmla="*/ 1 h 28"/>
                  <a:gd name="T6" fmla="*/ 1 w 47"/>
                  <a:gd name="T7" fmla="*/ 1 h 28"/>
                  <a:gd name="T8" fmla="*/ 1 w 47"/>
                  <a:gd name="T9" fmla="*/ 1 h 28"/>
                  <a:gd name="T10" fmla="*/ 1 w 47"/>
                  <a:gd name="T11" fmla="*/ 1 h 28"/>
                  <a:gd name="T12" fmla="*/ 1 w 47"/>
                  <a:gd name="T13" fmla="*/ 1 h 28"/>
                  <a:gd name="T14" fmla="*/ 1 w 47"/>
                  <a:gd name="T15" fmla="*/ 0 h 28"/>
                  <a:gd name="T16" fmla="*/ 1 w 47"/>
                  <a:gd name="T17" fmla="*/ 1 h 28"/>
                  <a:gd name="T18" fmla="*/ 1 w 47"/>
                  <a:gd name="T19" fmla="*/ 1 h 28"/>
                  <a:gd name="T20" fmla="*/ 0 w 47"/>
                  <a:gd name="T21" fmla="*/ 1 h 28"/>
                  <a:gd name="T22" fmla="*/ 0 w 47"/>
                  <a:gd name="T23" fmla="*/ 1 h 28"/>
                  <a:gd name="T24" fmla="*/ 0 w 47"/>
                  <a:gd name="T25" fmla="*/ 1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
                  <a:gd name="T40" fmla="*/ 0 h 28"/>
                  <a:gd name="T41" fmla="*/ 47 w 47"/>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 h="28">
                    <a:moveTo>
                      <a:pt x="0" y="28"/>
                    </a:moveTo>
                    <a:lnTo>
                      <a:pt x="0" y="28"/>
                    </a:lnTo>
                    <a:lnTo>
                      <a:pt x="20" y="27"/>
                    </a:lnTo>
                    <a:lnTo>
                      <a:pt x="34" y="23"/>
                    </a:lnTo>
                    <a:lnTo>
                      <a:pt x="43" y="19"/>
                    </a:lnTo>
                    <a:lnTo>
                      <a:pt x="47" y="14"/>
                    </a:lnTo>
                    <a:lnTo>
                      <a:pt x="31" y="2"/>
                    </a:lnTo>
                    <a:lnTo>
                      <a:pt x="31" y="0"/>
                    </a:lnTo>
                    <a:lnTo>
                      <a:pt x="28" y="2"/>
                    </a:lnTo>
                    <a:lnTo>
                      <a:pt x="17" y="5"/>
                    </a:lnTo>
                    <a:lnTo>
                      <a:pt x="0" y="6"/>
                    </a:lnTo>
                    <a:lnTo>
                      <a:pt x="0" y="28"/>
                    </a:lnTo>
                    <a:close/>
                  </a:path>
                </a:pathLst>
              </a:custGeom>
              <a:solidFill>
                <a:srgbClr val="000000"/>
              </a:solidFill>
              <a:ln w="9525">
                <a:noFill/>
                <a:round/>
                <a:headEnd/>
                <a:tailEnd/>
              </a:ln>
            </p:spPr>
            <p:txBody>
              <a:bodyPr/>
              <a:lstStyle/>
              <a:p>
                <a:endParaRPr lang="en-US"/>
              </a:p>
            </p:txBody>
          </p:sp>
          <p:sp>
            <p:nvSpPr>
              <p:cNvPr id="25650" name="Freeform 13"/>
              <p:cNvSpPr>
                <a:spLocks/>
              </p:cNvSpPr>
              <p:nvPr/>
            </p:nvSpPr>
            <p:spPr bwMode="auto">
              <a:xfrm>
                <a:off x="1998" y="3854"/>
                <a:ext cx="27" cy="17"/>
              </a:xfrm>
              <a:custGeom>
                <a:avLst/>
                <a:gdLst>
                  <a:gd name="T0" fmla="*/ 0 w 55"/>
                  <a:gd name="T1" fmla="*/ 1 h 33"/>
                  <a:gd name="T2" fmla="*/ 0 w 55"/>
                  <a:gd name="T3" fmla="*/ 1 h 33"/>
                  <a:gd name="T4" fmla="*/ 0 w 55"/>
                  <a:gd name="T5" fmla="*/ 1 h 33"/>
                  <a:gd name="T6" fmla="*/ 0 w 55"/>
                  <a:gd name="T7" fmla="*/ 1 h 33"/>
                  <a:gd name="T8" fmla="*/ 0 w 55"/>
                  <a:gd name="T9" fmla="*/ 1 h 33"/>
                  <a:gd name="T10" fmla="*/ 0 w 55"/>
                  <a:gd name="T11" fmla="*/ 1 h 33"/>
                  <a:gd name="T12" fmla="*/ 0 w 55"/>
                  <a:gd name="T13" fmla="*/ 1 h 33"/>
                  <a:gd name="T14" fmla="*/ 0 w 55"/>
                  <a:gd name="T15" fmla="*/ 1 h 33"/>
                  <a:gd name="T16" fmla="*/ 0 w 55"/>
                  <a:gd name="T17" fmla="*/ 1 h 33"/>
                  <a:gd name="T18" fmla="*/ 0 w 55"/>
                  <a:gd name="T19" fmla="*/ 1 h 33"/>
                  <a:gd name="T20" fmla="*/ 0 w 55"/>
                  <a:gd name="T21" fmla="*/ 1 h 33"/>
                  <a:gd name="T22" fmla="*/ 0 w 55"/>
                  <a:gd name="T23" fmla="*/ 0 h 33"/>
                  <a:gd name="T24" fmla="*/ 0 w 55"/>
                  <a:gd name="T25" fmla="*/ 1 h 33"/>
                  <a:gd name="T26" fmla="*/ 0 w 55"/>
                  <a:gd name="T27" fmla="*/ 0 h 33"/>
                  <a:gd name="T28" fmla="*/ 0 w 55"/>
                  <a:gd name="T29" fmla="*/ 1 h 33"/>
                  <a:gd name="T30" fmla="*/ 0 w 55"/>
                  <a:gd name="T31" fmla="*/ 1 h 33"/>
                  <a:gd name="T32" fmla="*/ 0 w 55"/>
                  <a:gd name="T33" fmla="*/ 1 h 33"/>
                  <a:gd name="T34" fmla="*/ 0 w 55"/>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5"/>
                  <a:gd name="T55" fmla="*/ 0 h 33"/>
                  <a:gd name="T56" fmla="*/ 55 w 55"/>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5" h="33">
                    <a:moveTo>
                      <a:pt x="11" y="22"/>
                    </a:moveTo>
                    <a:lnTo>
                      <a:pt x="3" y="19"/>
                    </a:lnTo>
                    <a:lnTo>
                      <a:pt x="8" y="22"/>
                    </a:lnTo>
                    <a:lnTo>
                      <a:pt x="17" y="27"/>
                    </a:lnTo>
                    <a:lnTo>
                      <a:pt x="33" y="32"/>
                    </a:lnTo>
                    <a:lnTo>
                      <a:pt x="55" y="33"/>
                    </a:lnTo>
                    <a:lnTo>
                      <a:pt x="55" y="11"/>
                    </a:lnTo>
                    <a:lnTo>
                      <a:pt x="36" y="10"/>
                    </a:lnTo>
                    <a:lnTo>
                      <a:pt x="23" y="5"/>
                    </a:lnTo>
                    <a:lnTo>
                      <a:pt x="17" y="3"/>
                    </a:lnTo>
                    <a:lnTo>
                      <a:pt x="19" y="3"/>
                    </a:lnTo>
                    <a:lnTo>
                      <a:pt x="11" y="0"/>
                    </a:lnTo>
                    <a:lnTo>
                      <a:pt x="19" y="3"/>
                    </a:lnTo>
                    <a:lnTo>
                      <a:pt x="11" y="0"/>
                    </a:lnTo>
                    <a:lnTo>
                      <a:pt x="4" y="3"/>
                    </a:lnTo>
                    <a:lnTo>
                      <a:pt x="0" y="11"/>
                    </a:lnTo>
                    <a:lnTo>
                      <a:pt x="3" y="19"/>
                    </a:lnTo>
                    <a:lnTo>
                      <a:pt x="11" y="22"/>
                    </a:lnTo>
                    <a:close/>
                  </a:path>
                </a:pathLst>
              </a:custGeom>
              <a:solidFill>
                <a:srgbClr val="000000"/>
              </a:solidFill>
              <a:ln w="9525">
                <a:noFill/>
                <a:round/>
                <a:headEnd/>
                <a:tailEnd/>
              </a:ln>
            </p:spPr>
            <p:txBody>
              <a:bodyPr/>
              <a:lstStyle/>
              <a:p>
                <a:endParaRPr lang="en-US"/>
              </a:p>
            </p:txBody>
          </p:sp>
          <p:sp>
            <p:nvSpPr>
              <p:cNvPr id="25651" name="Freeform 14"/>
              <p:cNvSpPr>
                <a:spLocks/>
              </p:cNvSpPr>
              <p:nvPr/>
            </p:nvSpPr>
            <p:spPr bwMode="auto">
              <a:xfrm>
                <a:off x="1951" y="3838"/>
                <a:ext cx="52" cy="27"/>
              </a:xfrm>
              <a:custGeom>
                <a:avLst/>
                <a:gdLst>
                  <a:gd name="T0" fmla="*/ 0 w 105"/>
                  <a:gd name="T1" fmla="*/ 1 h 53"/>
                  <a:gd name="T2" fmla="*/ 0 w 105"/>
                  <a:gd name="T3" fmla="*/ 1 h 53"/>
                  <a:gd name="T4" fmla="*/ 0 w 105"/>
                  <a:gd name="T5" fmla="*/ 1 h 53"/>
                  <a:gd name="T6" fmla="*/ 0 w 105"/>
                  <a:gd name="T7" fmla="*/ 1 h 53"/>
                  <a:gd name="T8" fmla="*/ 0 w 105"/>
                  <a:gd name="T9" fmla="*/ 1 h 53"/>
                  <a:gd name="T10" fmla="*/ 0 w 105"/>
                  <a:gd name="T11" fmla="*/ 1 h 53"/>
                  <a:gd name="T12" fmla="*/ 0 w 105"/>
                  <a:gd name="T13" fmla="*/ 1 h 53"/>
                  <a:gd name="T14" fmla="*/ 0 w 105"/>
                  <a:gd name="T15" fmla="*/ 1 h 53"/>
                  <a:gd name="T16" fmla="*/ 0 w 105"/>
                  <a:gd name="T17" fmla="*/ 1 h 53"/>
                  <a:gd name="T18" fmla="*/ 0 w 105"/>
                  <a:gd name="T19" fmla="*/ 1 h 53"/>
                  <a:gd name="T20" fmla="*/ 0 w 105"/>
                  <a:gd name="T21" fmla="*/ 1 h 53"/>
                  <a:gd name="T22" fmla="*/ 0 w 105"/>
                  <a:gd name="T23" fmla="*/ 1 h 53"/>
                  <a:gd name="T24" fmla="*/ 0 w 105"/>
                  <a:gd name="T25" fmla="*/ 1 h 53"/>
                  <a:gd name="T26" fmla="*/ 0 w 105"/>
                  <a:gd name="T27" fmla="*/ 1 h 53"/>
                  <a:gd name="T28" fmla="*/ 0 w 105"/>
                  <a:gd name="T29" fmla="*/ 1 h 53"/>
                  <a:gd name="T30" fmla="*/ 0 w 105"/>
                  <a:gd name="T31" fmla="*/ 1 h 53"/>
                  <a:gd name="T32" fmla="*/ 0 w 105"/>
                  <a:gd name="T33" fmla="*/ 1 h 53"/>
                  <a:gd name="T34" fmla="*/ 0 w 105"/>
                  <a:gd name="T35" fmla="*/ 1 h 53"/>
                  <a:gd name="T36" fmla="*/ 0 w 105"/>
                  <a:gd name="T37" fmla="*/ 1 h 53"/>
                  <a:gd name="T38" fmla="*/ 0 w 105"/>
                  <a:gd name="T39" fmla="*/ 0 h 53"/>
                  <a:gd name="T40" fmla="*/ 0 w 105"/>
                  <a:gd name="T41" fmla="*/ 1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
                  <a:gd name="T64" fmla="*/ 0 h 53"/>
                  <a:gd name="T65" fmla="*/ 105 w 105"/>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 h="53">
                    <a:moveTo>
                      <a:pt x="1" y="9"/>
                    </a:moveTo>
                    <a:lnTo>
                      <a:pt x="0" y="8"/>
                    </a:lnTo>
                    <a:lnTo>
                      <a:pt x="11" y="23"/>
                    </a:lnTo>
                    <a:lnTo>
                      <a:pt x="23" y="34"/>
                    </a:lnTo>
                    <a:lnTo>
                      <a:pt x="42" y="42"/>
                    </a:lnTo>
                    <a:lnTo>
                      <a:pt x="59" y="47"/>
                    </a:lnTo>
                    <a:lnTo>
                      <a:pt x="77" y="50"/>
                    </a:lnTo>
                    <a:lnTo>
                      <a:pt x="91" y="52"/>
                    </a:lnTo>
                    <a:lnTo>
                      <a:pt x="100" y="53"/>
                    </a:lnTo>
                    <a:lnTo>
                      <a:pt x="105" y="53"/>
                    </a:lnTo>
                    <a:lnTo>
                      <a:pt x="105" y="31"/>
                    </a:lnTo>
                    <a:lnTo>
                      <a:pt x="103" y="31"/>
                    </a:lnTo>
                    <a:lnTo>
                      <a:pt x="94" y="30"/>
                    </a:lnTo>
                    <a:lnTo>
                      <a:pt x="80" y="28"/>
                    </a:lnTo>
                    <a:lnTo>
                      <a:pt x="66" y="25"/>
                    </a:lnTo>
                    <a:lnTo>
                      <a:pt x="48" y="20"/>
                    </a:lnTo>
                    <a:lnTo>
                      <a:pt x="36" y="16"/>
                    </a:lnTo>
                    <a:lnTo>
                      <a:pt x="26" y="8"/>
                    </a:lnTo>
                    <a:lnTo>
                      <a:pt x="22" y="2"/>
                    </a:lnTo>
                    <a:lnTo>
                      <a:pt x="20" y="0"/>
                    </a:lnTo>
                    <a:lnTo>
                      <a:pt x="1" y="9"/>
                    </a:lnTo>
                    <a:close/>
                  </a:path>
                </a:pathLst>
              </a:custGeom>
              <a:solidFill>
                <a:srgbClr val="000000"/>
              </a:solidFill>
              <a:ln w="9525">
                <a:noFill/>
                <a:round/>
                <a:headEnd/>
                <a:tailEnd/>
              </a:ln>
            </p:spPr>
            <p:txBody>
              <a:bodyPr/>
              <a:lstStyle/>
              <a:p>
                <a:endParaRPr lang="en-US"/>
              </a:p>
            </p:txBody>
          </p:sp>
          <p:sp>
            <p:nvSpPr>
              <p:cNvPr id="25652" name="Freeform 15"/>
              <p:cNvSpPr>
                <a:spLocks/>
              </p:cNvSpPr>
              <p:nvPr/>
            </p:nvSpPr>
            <p:spPr bwMode="auto">
              <a:xfrm>
                <a:off x="1949" y="3825"/>
                <a:ext cx="14" cy="18"/>
              </a:xfrm>
              <a:custGeom>
                <a:avLst/>
                <a:gdLst>
                  <a:gd name="T0" fmla="*/ 0 w 30"/>
                  <a:gd name="T1" fmla="*/ 1 h 36"/>
                  <a:gd name="T2" fmla="*/ 0 w 30"/>
                  <a:gd name="T3" fmla="*/ 1 h 36"/>
                  <a:gd name="T4" fmla="*/ 0 w 30"/>
                  <a:gd name="T5" fmla="*/ 1 h 36"/>
                  <a:gd name="T6" fmla="*/ 0 w 30"/>
                  <a:gd name="T7" fmla="*/ 0 h 36"/>
                  <a:gd name="T8" fmla="*/ 0 w 30"/>
                  <a:gd name="T9" fmla="*/ 1 h 36"/>
                  <a:gd name="T10" fmla="*/ 0 w 30"/>
                  <a:gd name="T11" fmla="*/ 1 h 36"/>
                  <a:gd name="T12" fmla="*/ 0 w 30"/>
                  <a:gd name="T13" fmla="*/ 1 h 36"/>
                  <a:gd name="T14" fmla="*/ 0 w 30"/>
                  <a:gd name="T15" fmla="*/ 1 h 36"/>
                  <a:gd name="T16" fmla="*/ 0 w 30"/>
                  <a:gd name="T17" fmla="*/ 1 h 36"/>
                  <a:gd name="T18" fmla="*/ 0 w 30"/>
                  <a:gd name="T19" fmla="*/ 1 h 36"/>
                  <a:gd name="T20" fmla="*/ 0 w 30"/>
                  <a:gd name="T21" fmla="*/ 1 h 36"/>
                  <a:gd name="T22" fmla="*/ 0 w 30"/>
                  <a:gd name="T23" fmla="*/ 1 h 36"/>
                  <a:gd name="T24" fmla="*/ 0 w 30"/>
                  <a:gd name="T25" fmla="*/ 1 h 36"/>
                  <a:gd name="T26" fmla="*/ 0 w 30"/>
                  <a:gd name="T27" fmla="*/ 1 h 36"/>
                  <a:gd name="T28" fmla="*/ 0 w 30"/>
                  <a:gd name="T29" fmla="*/ 1 h 36"/>
                  <a:gd name="T30" fmla="*/ 0 w 30"/>
                  <a:gd name="T31" fmla="*/ 1 h 36"/>
                  <a:gd name="T32" fmla="*/ 0 w 30"/>
                  <a:gd name="T33" fmla="*/ 1 h 36"/>
                  <a:gd name="T34" fmla="*/ 0 w 30"/>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0"/>
                  <a:gd name="T55" fmla="*/ 0 h 36"/>
                  <a:gd name="T56" fmla="*/ 30 w 30"/>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0" h="36">
                    <a:moveTo>
                      <a:pt x="13" y="7"/>
                    </a:moveTo>
                    <a:lnTo>
                      <a:pt x="27" y="8"/>
                    </a:lnTo>
                    <a:lnTo>
                      <a:pt x="24" y="5"/>
                    </a:lnTo>
                    <a:lnTo>
                      <a:pt x="10" y="0"/>
                    </a:lnTo>
                    <a:lnTo>
                      <a:pt x="0" y="18"/>
                    </a:lnTo>
                    <a:lnTo>
                      <a:pt x="6" y="36"/>
                    </a:lnTo>
                    <a:lnTo>
                      <a:pt x="25" y="27"/>
                    </a:lnTo>
                    <a:lnTo>
                      <a:pt x="22" y="14"/>
                    </a:lnTo>
                    <a:lnTo>
                      <a:pt x="16" y="22"/>
                    </a:lnTo>
                    <a:lnTo>
                      <a:pt x="11" y="24"/>
                    </a:lnTo>
                    <a:lnTo>
                      <a:pt x="25" y="25"/>
                    </a:lnTo>
                    <a:lnTo>
                      <a:pt x="11" y="24"/>
                    </a:lnTo>
                    <a:lnTo>
                      <a:pt x="19" y="27"/>
                    </a:lnTo>
                    <a:lnTo>
                      <a:pt x="27" y="22"/>
                    </a:lnTo>
                    <a:lnTo>
                      <a:pt x="30" y="16"/>
                    </a:lnTo>
                    <a:lnTo>
                      <a:pt x="27" y="8"/>
                    </a:lnTo>
                    <a:lnTo>
                      <a:pt x="13" y="7"/>
                    </a:lnTo>
                    <a:close/>
                  </a:path>
                </a:pathLst>
              </a:custGeom>
              <a:solidFill>
                <a:srgbClr val="000000"/>
              </a:solidFill>
              <a:ln w="9525">
                <a:noFill/>
                <a:round/>
                <a:headEnd/>
                <a:tailEnd/>
              </a:ln>
            </p:spPr>
            <p:txBody>
              <a:bodyPr/>
              <a:lstStyle/>
              <a:p>
                <a:endParaRPr lang="en-US"/>
              </a:p>
            </p:txBody>
          </p:sp>
          <p:sp>
            <p:nvSpPr>
              <p:cNvPr id="25653" name="Freeform 16"/>
              <p:cNvSpPr>
                <a:spLocks/>
              </p:cNvSpPr>
              <p:nvPr/>
            </p:nvSpPr>
            <p:spPr bwMode="auto">
              <a:xfrm>
                <a:off x="1955" y="3817"/>
                <a:ext cx="45" cy="21"/>
              </a:xfrm>
              <a:custGeom>
                <a:avLst/>
                <a:gdLst>
                  <a:gd name="T0" fmla="*/ 1 w 90"/>
                  <a:gd name="T1" fmla="*/ 0 h 40"/>
                  <a:gd name="T2" fmla="*/ 1 w 90"/>
                  <a:gd name="T3" fmla="*/ 0 h 40"/>
                  <a:gd name="T4" fmla="*/ 1 w 90"/>
                  <a:gd name="T5" fmla="*/ 0 h 40"/>
                  <a:gd name="T6" fmla="*/ 1 w 90"/>
                  <a:gd name="T7" fmla="*/ 1 h 40"/>
                  <a:gd name="T8" fmla="*/ 1 w 90"/>
                  <a:gd name="T9" fmla="*/ 1 h 40"/>
                  <a:gd name="T10" fmla="*/ 1 w 90"/>
                  <a:gd name="T11" fmla="*/ 1 h 40"/>
                  <a:gd name="T12" fmla="*/ 1 w 90"/>
                  <a:gd name="T13" fmla="*/ 1 h 40"/>
                  <a:gd name="T14" fmla="*/ 1 w 90"/>
                  <a:gd name="T15" fmla="*/ 1 h 40"/>
                  <a:gd name="T16" fmla="*/ 1 w 90"/>
                  <a:gd name="T17" fmla="*/ 1 h 40"/>
                  <a:gd name="T18" fmla="*/ 0 w 90"/>
                  <a:gd name="T19" fmla="*/ 1 h 40"/>
                  <a:gd name="T20" fmla="*/ 1 w 90"/>
                  <a:gd name="T21" fmla="*/ 1 h 40"/>
                  <a:gd name="T22" fmla="*/ 1 w 90"/>
                  <a:gd name="T23" fmla="*/ 1 h 40"/>
                  <a:gd name="T24" fmla="*/ 1 w 90"/>
                  <a:gd name="T25" fmla="*/ 1 h 40"/>
                  <a:gd name="T26" fmla="*/ 1 w 90"/>
                  <a:gd name="T27" fmla="*/ 1 h 40"/>
                  <a:gd name="T28" fmla="*/ 1 w 90"/>
                  <a:gd name="T29" fmla="*/ 1 h 40"/>
                  <a:gd name="T30" fmla="*/ 1 w 90"/>
                  <a:gd name="T31" fmla="*/ 1 h 40"/>
                  <a:gd name="T32" fmla="*/ 1 w 90"/>
                  <a:gd name="T33" fmla="*/ 1 h 40"/>
                  <a:gd name="T34" fmla="*/ 1 w 90"/>
                  <a:gd name="T35" fmla="*/ 1 h 40"/>
                  <a:gd name="T36" fmla="*/ 1 w 90"/>
                  <a:gd name="T37" fmla="*/ 1 h 40"/>
                  <a:gd name="T38" fmla="*/ 1 w 90"/>
                  <a:gd name="T39" fmla="*/ 1 h 40"/>
                  <a:gd name="T40" fmla="*/ 1 w 90"/>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0"/>
                  <a:gd name="T64" fmla="*/ 0 h 40"/>
                  <a:gd name="T65" fmla="*/ 90 w 90"/>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0" h="40">
                    <a:moveTo>
                      <a:pt x="90" y="0"/>
                    </a:moveTo>
                    <a:lnTo>
                      <a:pt x="90" y="0"/>
                    </a:lnTo>
                    <a:lnTo>
                      <a:pt x="72" y="0"/>
                    </a:lnTo>
                    <a:lnTo>
                      <a:pt x="54" y="3"/>
                    </a:lnTo>
                    <a:lnTo>
                      <a:pt x="39" y="6"/>
                    </a:lnTo>
                    <a:lnTo>
                      <a:pt x="26" y="9"/>
                    </a:lnTo>
                    <a:lnTo>
                      <a:pt x="15" y="15"/>
                    </a:lnTo>
                    <a:lnTo>
                      <a:pt x="9" y="17"/>
                    </a:lnTo>
                    <a:lnTo>
                      <a:pt x="3" y="20"/>
                    </a:lnTo>
                    <a:lnTo>
                      <a:pt x="0" y="22"/>
                    </a:lnTo>
                    <a:lnTo>
                      <a:pt x="12" y="40"/>
                    </a:lnTo>
                    <a:lnTo>
                      <a:pt x="12" y="39"/>
                    </a:lnTo>
                    <a:lnTo>
                      <a:pt x="15" y="39"/>
                    </a:lnTo>
                    <a:lnTo>
                      <a:pt x="25" y="34"/>
                    </a:lnTo>
                    <a:lnTo>
                      <a:pt x="33" y="31"/>
                    </a:lnTo>
                    <a:lnTo>
                      <a:pt x="45" y="28"/>
                    </a:lnTo>
                    <a:lnTo>
                      <a:pt x="58" y="25"/>
                    </a:lnTo>
                    <a:lnTo>
                      <a:pt x="75" y="22"/>
                    </a:lnTo>
                    <a:lnTo>
                      <a:pt x="90" y="22"/>
                    </a:lnTo>
                    <a:lnTo>
                      <a:pt x="90" y="0"/>
                    </a:lnTo>
                    <a:close/>
                  </a:path>
                </a:pathLst>
              </a:custGeom>
              <a:solidFill>
                <a:srgbClr val="000000"/>
              </a:solidFill>
              <a:ln w="9525">
                <a:noFill/>
                <a:round/>
                <a:headEnd/>
                <a:tailEnd/>
              </a:ln>
            </p:spPr>
            <p:txBody>
              <a:bodyPr/>
              <a:lstStyle/>
              <a:p>
                <a:endParaRPr lang="en-US"/>
              </a:p>
            </p:txBody>
          </p:sp>
          <p:sp>
            <p:nvSpPr>
              <p:cNvPr id="25654" name="Freeform 17"/>
              <p:cNvSpPr>
                <a:spLocks/>
              </p:cNvSpPr>
              <p:nvPr/>
            </p:nvSpPr>
            <p:spPr bwMode="auto">
              <a:xfrm>
                <a:off x="2000" y="3817"/>
                <a:ext cx="77" cy="11"/>
              </a:xfrm>
              <a:custGeom>
                <a:avLst/>
                <a:gdLst>
                  <a:gd name="T0" fmla="*/ 1 w 154"/>
                  <a:gd name="T1" fmla="*/ 1 h 22"/>
                  <a:gd name="T2" fmla="*/ 1 w 154"/>
                  <a:gd name="T3" fmla="*/ 0 h 22"/>
                  <a:gd name="T4" fmla="*/ 1 w 154"/>
                  <a:gd name="T5" fmla="*/ 0 h 22"/>
                  <a:gd name="T6" fmla="*/ 1 w 154"/>
                  <a:gd name="T7" fmla="*/ 0 h 22"/>
                  <a:gd name="T8" fmla="*/ 1 w 154"/>
                  <a:gd name="T9" fmla="*/ 0 h 22"/>
                  <a:gd name="T10" fmla="*/ 1 w 154"/>
                  <a:gd name="T11" fmla="*/ 0 h 22"/>
                  <a:gd name="T12" fmla="*/ 1 w 154"/>
                  <a:gd name="T13" fmla="*/ 0 h 22"/>
                  <a:gd name="T14" fmla="*/ 1 w 154"/>
                  <a:gd name="T15" fmla="*/ 0 h 22"/>
                  <a:gd name="T16" fmla="*/ 1 w 154"/>
                  <a:gd name="T17" fmla="*/ 0 h 22"/>
                  <a:gd name="T18" fmla="*/ 0 w 154"/>
                  <a:gd name="T19" fmla="*/ 0 h 22"/>
                  <a:gd name="T20" fmla="*/ 0 w 154"/>
                  <a:gd name="T21" fmla="*/ 1 h 22"/>
                  <a:gd name="T22" fmla="*/ 1 w 154"/>
                  <a:gd name="T23" fmla="*/ 1 h 22"/>
                  <a:gd name="T24" fmla="*/ 1 w 154"/>
                  <a:gd name="T25" fmla="*/ 1 h 22"/>
                  <a:gd name="T26" fmla="*/ 1 w 154"/>
                  <a:gd name="T27" fmla="*/ 1 h 22"/>
                  <a:gd name="T28" fmla="*/ 1 w 154"/>
                  <a:gd name="T29" fmla="*/ 1 h 22"/>
                  <a:gd name="T30" fmla="*/ 1 w 154"/>
                  <a:gd name="T31" fmla="*/ 1 h 22"/>
                  <a:gd name="T32" fmla="*/ 1 w 154"/>
                  <a:gd name="T33" fmla="*/ 1 h 22"/>
                  <a:gd name="T34" fmla="*/ 1 w 154"/>
                  <a:gd name="T35" fmla="*/ 1 h 22"/>
                  <a:gd name="T36" fmla="*/ 1 w 154"/>
                  <a:gd name="T37" fmla="*/ 1 h 22"/>
                  <a:gd name="T38" fmla="*/ 1 w 154"/>
                  <a:gd name="T39" fmla="*/ 1 h 22"/>
                  <a:gd name="T40" fmla="*/ 1 w 154"/>
                  <a:gd name="T41" fmla="*/ 1 h 22"/>
                  <a:gd name="T42" fmla="*/ 1 w 154"/>
                  <a:gd name="T43" fmla="*/ 1 h 22"/>
                  <a:gd name="T44" fmla="*/ 1 w 154"/>
                  <a:gd name="T45" fmla="*/ 1 h 22"/>
                  <a:gd name="T46" fmla="*/ 1 w 154"/>
                  <a:gd name="T47" fmla="*/ 1 h 22"/>
                  <a:gd name="T48" fmla="*/ 1 w 154"/>
                  <a:gd name="T49" fmla="*/ 0 h 22"/>
                  <a:gd name="T50" fmla="*/ 1 w 154"/>
                  <a:gd name="T51" fmla="*/ 1 h 2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22"/>
                  <a:gd name="T80" fmla="*/ 154 w 154"/>
                  <a:gd name="T81" fmla="*/ 22 h 2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22">
                    <a:moveTo>
                      <a:pt x="154" y="11"/>
                    </a:moveTo>
                    <a:lnTo>
                      <a:pt x="143" y="0"/>
                    </a:lnTo>
                    <a:lnTo>
                      <a:pt x="138" y="0"/>
                    </a:lnTo>
                    <a:lnTo>
                      <a:pt x="127" y="0"/>
                    </a:lnTo>
                    <a:lnTo>
                      <a:pt x="112" y="0"/>
                    </a:lnTo>
                    <a:lnTo>
                      <a:pt x="91" y="0"/>
                    </a:lnTo>
                    <a:lnTo>
                      <a:pt x="68" y="0"/>
                    </a:lnTo>
                    <a:lnTo>
                      <a:pt x="44" y="0"/>
                    </a:lnTo>
                    <a:lnTo>
                      <a:pt x="21" y="0"/>
                    </a:lnTo>
                    <a:lnTo>
                      <a:pt x="0" y="0"/>
                    </a:lnTo>
                    <a:lnTo>
                      <a:pt x="0" y="22"/>
                    </a:lnTo>
                    <a:lnTo>
                      <a:pt x="21" y="22"/>
                    </a:lnTo>
                    <a:lnTo>
                      <a:pt x="44" y="22"/>
                    </a:lnTo>
                    <a:lnTo>
                      <a:pt x="68" y="22"/>
                    </a:lnTo>
                    <a:lnTo>
                      <a:pt x="91" y="22"/>
                    </a:lnTo>
                    <a:lnTo>
                      <a:pt x="112" y="22"/>
                    </a:lnTo>
                    <a:lnTo>
                      <a:pt x="127" y="22"/>
                    </a:lnTo>
                    <a:lnTo>
                      <a:pt x="138" y="22"/>
                    </a:lnTo>
                    <a:lnTo>
                      <a:pt x="143" y="22"/>
                    </a:lnTo>
                    <a:lnTo>
                      <a:pt x="132" y="11"/>
                    </a:lnTo>
                    <a:lnTo>
                      <a:pt x="143" y="22"/>
                    </a:lnTo>
                    <a:lnTo>
                      <a:pt x="151" y="18"/>
                    </a:lnTo>
                    <a:lnTo>
                      <a:pt x="154" y="11"/>
                    </a:lnTo>
                    <a:lnTo>
                      <a:pt x="151" y="3"/>
                    </a:lnTo>
                    <a:lnTo>
                      <a:pt x="143" y="0"/>
                    </a:lnTo>
                    <a:lnTo>
                      <a:pt x="154" y="11"/>
                    </a:lnTo>
                    <a:close/>
                  </a:path>
                </a:pathLst>
              </a:custGeom>
              <a:solidFill>
                <a:srgbClr val="000000"/>
              </a:solidFill>
              <a:ln w="9525">
                <a:noFill/>
                <a:round/>
                <a:headEnd/>
                <a:tailEnd/>
              </a:ln>
            </p:spPr>
            <p:txBody>
              <a:bodyPr/>
              <a:lstStyle/>
              <a:p>
                <a:endParaRPr lang="en-US"/>
              </a:p>
            </p:txBody>
          </p:sp>
          <p:sp>
            <p:nvSpPr>
              <p:cNvPr id="25655" name="Freeform 18"/>
              <p:cNvSpPr>
                <a:spLocks/>
              </p:cNvSpPr>
              <p:nvPr/>
            </p:nvSpPr>
            <p:spPr bwMode="auto">
              <a:xfrm>
                <a:off x="2036" y="3731"/>
                <a:ext cx="42" cy="93"/>
              </a:xfrm>
              <a:custGeom>
                <a:avLst/>
                <a:gdLst>
                  <a:gd name="T0" fmla="*/ 1 w 82"/>
                  <a:gd name="T1" fmla="*/ 1 h 186"/>
                  <a:gd name="T2" fmla="*/ 1 w 82"/>
                  <a:gd name="T3" fmla="*/ 1 h 186"/>
                  <a:gd name="T4" fmla="*/ 1 w 82"/>
                  <a:gd name="T5" fmla="*/ 1 h 186"/>
                  <a:gd name="T6" fmla="*/ 1 w 82"/>
                  <a:gd name="T7" fmla="*/ 1 h 186"/>
                  <a:gd name="T8" fmla="*/ 1 w 82"/>
                  <a:gd name="T9" fmla="*/ 1 h 186"/>
                  <a:gd name="T10" fmla="*/ 1 w 82"/>
                  <a:gd name="T11" fmla="*/ 1 h 186"/>
                  <a:gd name="T12" fmla="*/ 1 w 82"/>
                  <a:gd name="T13" fmla="*/ 1 h 186"/>
                  <a:gd name="T14" fmla="*/ 1 w 82"/>
                  <a:gd name="T15" fmla="*/ 1 h 186"/>
                  <a:gd name="T16" fmla="*/ 1 w 82"/>
                  <a:gd name="T17" fmla="*/ 1 h 186"/>
                  <a:gd name="T18" fmla="*/ 1 w 82"/>
                  <a:gd name="T19" fmla="*/ 1 h 186"/>
                  <a:gd name="T20" fmla="*/ 1 w 82"/>
                  <a:gd name="T21" fmla="*/ 1 h 186"/>
                  <a:gd name="T22" fmla="*/ 1 w 82"/>
                  <a:gd name="T23" fmla="*/ 1 h 186"/>
                  <a:gd name="T24" fmla="*/ 1 w 82"/>
                  <a:gd name="T25" fmla="*/ 1 h 186"/>
                  <a:gd name="T26" fmla="*/ 1 w 82"/>
                  <a:gd name="T27" fmla="*/ 1 h 186"/>
                  <a:gd name="T28" fmla="*/ 1 w 82"/>
                  <a:gd name="T29" fmla="*/ 1 h 186"/>
                  <a:gd name="T30" fmla="*/ 1 w 82"/>
                  <a:gd name="T31" fmla="*/ 1 h 186"/>
                  <a:gd name="T32" fmla="*/ 1 w 82"/>
                  <a:gd name="T33" fmla="*/ 1 h 186"/>
                  <a:gd name="T34" fmla="*/ 1 w 82"/>
                  <a:gd name="T35" fmla="*/ 1 h 186"/>
                  <a:gd name="T36" fmla="*/ 1 w 82"/>
                  <a:gd name="T37" fmla="*/ 1 h 186"/>
                  <a:gd name="T38" fmla="*/ 1 w 82"/>
                  <a:gd name="T39" fmla="*/ 1 h 186"/>
                  <a:gd name="T40" fmla="*/ 1 w 82"/>
                  <a:gd name="T41" fmla="*/ 1 h 186"/>
                  <a:gd name="T42" fmla="*/ 1 w 82"/>
                  <a:gd name="T43" fmla="*/ 1 h 186"/>
                  <a:gd name="T44" fmla="*/ 1 w 82"/>
                  <a:gd name="T45" fmla="*/ 1 h 186"/>
                  <a:gd name="T46" fmla="*/ 1 w 82"/>
                  <a:gd name="T47" fmla="*/ 1 h 186"/>
                  <a:gd name="T48" fmla="*/ 1 w 82"/>
                  <a:gd name="T49" fmla="*/ 1 h 186"/>
                  <a:gd name="T50" fmla="*/ 1 w 82"/>
                  <a:gd name="T51" fmla="*/ 1 h 186"/>
                  <a:gd name="T52" fmla="*/ 1 w 82"/>
                  <a:gd name="T53" fmla="*/ 1 h 186"/>
                  <a:gd name="T54" fmla="*/ 1 w 82"/>
                  <a:gd name="T55" fmla="*/ 1 h 186"/>
                  <a:gd name="T56" fmla="*/ 1 w 82"/>
                  <a:gd name="T57" fmla="*/ 1 h 186"/>
                  <a:gd name="T58" fmla="*/ 1 w 82"/>
                  <a:gd name="T59" fmla="*/ 1 h 186"/>
                  <a:gd name="T60" fmla="*/ 0 w 82"/>
                  <a:gd name="T61" fmla="*/ 1 h 186"/>
                  <a:gd name="T62" fmla="*/ 0 w 82"/>
                  <a:gd name="T63" fmla="*/ 1 h 186"/>
                  <a:gd name="T64" fmla="*/ 0 w 82"/>
                  <a:gd name="T65" fmla="*/ 0 h 186"/>
                  <a:gd name="T66" fmla="*/ 1 w 82"/>
                  <a:gd name="T67" fmla="*/ 1 h 18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2"/>
                  <a:gd name="T103" fmla="*/ 0 h 186"/>
                  <a:gd name="T104" fmla="*/ 82 w 82"/>
                  <a:gd name="T105" fmla="*/ 186 h 18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2" h="186">
                    <a:moveTo>
                      <a:pt x="82" y="22"/>
                    </a:moveTo>
                    <a:lnTo>
                      <a:pt x="82" y="23"/>
                    </a:lnTo>
                    <a:lnTo>
                      <a:pt x="81" y="29"/>
                    </a:lnTo>
                    <a:lnTo>
                      <a:pt x="79" y="37"/>
                    </a:lnTo>
                    <a:lnTo>
                      <a:pt x="78" y="48"/>
                    </a:lnTo>
                    <a:lnTo>
                      <a:pt x="76" y="61"/>
                    </a:lnTo>
                    <a:lnTo>
                      <a:pt x="75" y="75"/>
                    </a:lnTo>
                    <a:lnTo>
                      <a:pt x="75" y="90"/>
                    </a:lnTo>
                    <a:lnTo>
                      <a:pt x="75" y="106"/>
                    </a:lnTo>
                    <a:lnTo>
                      <a:pt x="75" y="122"/>
                    </a:lnTo>
                    <a:lnTo>
                      <a:pt x="76" y="136"/>
                    </a:lnTo>
                    <a:lnTo>
                      <a:pt x="76" y="148"/>
                    </a:lnTo>
                    <a:lnTo>
                      <a:pt x="76" y="159"/>
                    </a:lnTo>
                    <a:lnTo>
                      <a:pt x="78" y="169"/>
                    </a:lnTo>
                    <a:lnTo>
                      <a:pt x="78" y="175"/>
                    </a:lnTo>
                    <a:lnTo>
                      <a:pt x="78" y="180"/>
                    </a:lnTo>
                    <a:lnTo>
                      <a:pt x="78" y="181"/>
                    </a:lnTo>
                    <a:lnTo>
                      <a:pt x="76" y="181"/>
                    </a:lnTo>
                    <a:lnTo>
                      <a:pt x="70" y="183"/>
                    </a:lnTo>
                    <a:lnTo>
                      <a:pt x="62" y="183"/>
                    </a:lnTo>
                    <a:lnTo>
                      <a:pt x="53" y="184"/>
                    </a:lnTo>
                    <a:lnTo>
                      <a:pt x="43" y="186"/>
                    </a:lnTo>
                    <a:lnTo>
                      <a:pt x="32" y="186"/>
                    </a:lnTo>
                    <a:lnTo>
                      <a:pt x="25" y="186"/>
                    </a:lnTo>
                    <a:lnTo>
                      <a:pt x="17" y="184"/>
                    </a:lnTo>
                    <a:lnTo>
                      <a:pt x="10" y="175"/>
                    </a:lnTo>
                    <a:lnTo>
                      <a:pt x="7" y="153"/>
                    </a:lnTo>
                    <a:lnTo>
                      <a:pt x="4" y="123"/>
                    </a:lnTo>
                    <a:lnTo>
                      <a:pt x="1" y="90"/>
                    </a:lnTo>
                    <a:lnTo>
                      <a:pt x="1" y="58"/>
                    </a:lnTo>
                    <a:lnTo>
                      <a:pt x="0" y="28"/>
                    </a:lnTo>
                    <a:lnTo>
                      <a:pt x="0" y="7"/>
                    </a:lnTo>
                    <a:lnTo>
                      <a:pt x="0" y="0"/>
                    </a:lnTo>
                    <a:lnTo>
                      <a:pt x="82" y="22"/>
                    </a:lnTo>
                    <a:close/>
                  </a:path>
                </a:pathLst>
              </a:custGeom>
              <a:solidFill>
                <a:srgbClr val="00FFB2"/>
              </a:solidFill>
              <a:ln w="9525">
                <a:noFill/>
                <a:round/>
                <a:headEnd/>
                <a:tailEnd/>
              </a:ln>
            </p:spPr>
            <p:txBody>
              <a:bodyPr/>
              <a:lstStyle/>
              <a:p>
                <a:endParaRPr lang="en-US"/>
              </a:p>
            </p:txBody>
          </p:sp>
          <p:sp>
            <p:nvSpPr>
              <p:cNvPr id="25656" name="Freeform 19"/>
              <p:cNvSpPr>
                <a:spLocks/>
              </p:cNvSpPr>
              <p:nvPr/>
            </p:nvSpPr>
            <p:spPr bwMode="auto">
              <a:xfrm>
                <a:off x="2068" y="3741"/>
                <a:ext cx="15" cy="44"/>
              </a:xfrm>
              <a:custGeom>
                <a:avLst/>
                <a:gdLst>
                  <a:gd name="T0" fmla="*/ 1 w 29"/>
                  <a:gd name="T1" fmla="*/ 1 h 88"/>
                  <a:gd name="T2" fmla="*/ 1 w 29"/>
                  <a:gd name="T3" fmla="*/ 1 h 88"/>
                  <a:gd name="T4" fmla="*/ 1 w 29"/>
                  <a:gd name="T5" fmla="*/ 1 h 88"/>
                  <a:gd name="T6" fmla="*/ 1 w 29"/>
                  <a:gd name="T7" fmla="*/ 1 h 88"/>
                  <a:gd name="T8" fmla="*/ 1 w 29"/>
                  <a:gd name="T9" fmla="*/ 1 h 88"/>
                  <a:gd name="T10" fmla="*/ 1 w 29"/>
                  <a:gd name="T11" fmla="*/ 1 h 88"/>
                  <a:gd name="T12" fmla="*/ 1 w 29"/>
                  <a:gd name="T13" fmla="*/ 1 h 88"/>
                  <a:gd name="T14" fmla="*/ 1 w 29"/>
                  <a:gd name="T15" fmla="*/ 1 h 88"/>
                  <a:gd name="T16" fmla="*/ 1 w 29"/>
                  <a:gd name="T17" fmla="*/ 1 h 88"/>
                  <a:gd name="T18" fmla="*/ 1 w 29"/>
                  <a:gd name="T19" fmla="*/ 1 h 88"/>
                  <a:gd name="T20" fmla="*/ 1 w 29"/>
                  <a:gd name="T21" fmla="*/ 0 h 88"/>
                  <a:gd name="T22" fmla="*/ 1 w 29"/>
                  <a:gd name="T23" fmla="*/ 1 h 88"/>
                  <a:gd name="T24" fmla="*/ 1 w 29"/>
                  <a:gd name="T25" fmla="*/ 1 h 88"/>
                  <a:gd name="T26" fmla="*/ 1 w 29"/>
                  <a:gd name="T27" fmla="*/ 1 h 88"/>
                  <a:gd name="T28" fmla="*/ 1 w 29"/>
                  <a:gd name="T29" fmla="*/ 1 h 88"/>
                  <a:gd name="T30" fmla="*/ 1 w 29"/>
                  <a:gd name="T31" fmla="*/ 1 h 88"/>
                  <a:gd name="T32" fmla="*/ 0 w 29"/>
                  <a:gd name="T33" fmla="*/ 1 h 88"/>
                  <a:gd name="T34" fmla="*/ 0 w 29"/>
                  <a:gd name="T35" fmla="*/ 1 h 88"/>
                  <a:gd name="T36" fmla="*/ 0 w 29"/>
                  <a:gd name="T37" fmla="*/ 1 h 88"/>
                  <a:gd name="T38" fmla="*/ 0 w 29"/>
                  <a:gd name="T39" fmla="*/ 1 h 88"/>
                  <a:gd name="T40" fmla="*/ 1 w 29"/>
                  <a:gd name="T41" fmla="*/ 1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9"/>
                  <a:gd name="T64" fmla="*/ 0 h 88"/>
                  <a:gd name="T65" fmla="*/ 29 w 29"/>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9" h="88">
                    <a:moveTo>
                      <a:pt x="22" y="88"/>
                    </a:moveTo>
                    <a:lnTo>
                      <a:pt x="22" y="88"/>
                    </a:lnTo>
                    <a:lnTo>
                      <a:pt x="22" y="72"/>
                    </a:lnTo>
                    <a:lnTo>
                      <a:pt x="22" y="57"/>
                    </a:lnTo>
                    <a:lnTo>
                      <a:pt x="23" y="44"/>
                    </a:lnTo>
                    <a:lnTo>
                      <a:pt x="25" y="32"/>
                    </a:lnTo>
                    <a:lnTo>
                      <a:pt x="26" y="21"/>
                    </a:lnTo>
                    <a:lnTo>
                      <a:pt x="28" y="14"/>
                    </a:lnTo>
                    <a:lnTo>
                      <a:pt x="29" y="7"/>
                    </a:lnTo>
                    <a:lnTo>
                      <a:pt x="8" y="0"/>
                    </a:lnTo>
                    <a:lnTo>
                      <a:pt x="8" y="4"/>
                    </a:lnTo>
                    <a:lnTo>
                      <a:pt x="6" y="8"/>
                    </a:lnTo>
                    <a:lnTo>
                      <a:pt x="4" y="18"/>
                    </a:lnTo>
                    <a:lnTo>
                      <a:pt x="3" y="29"/>
                    </a:lnTo>
                    <a:lnTo>
                      <a:pt x="1" y="41"/>
                    </a:lnTo>
                    <a:lnTo>
                      <a:pt x="0" y="57"/>
                    </a:lnTo>
                    <a:lnTo>
                      <a:pt x="0" y="72"/>
                    </a:lnTo>
                    <a:lnTo>
                      <a:pt x="0" y="88"/>
                    </a:lnTo>
                    <a:lnTo>
                      <a:pt x="22" y="88"/>
                    </a:lnTo>
                    <a:close/>
                  </a:path>
                </a:pathLst>
              </a:custGeom>
              <a:solidFill>
                <a:srgbClr val="000000"/>
              </a:solidFill>
              <a:ln w="9525">
                <a:noFill/>
                <a:round/>
                <a:headEnd/>
                <a:tailEnd/>
              </a:ln>
            </p:spPr>
            <p:txBody>
              <a:bodyPr/>
              <a:lstStyle/>
              <a:p>
                <a:endParaRPr lang="en-US"/>
              </a:p>
            </p:txBody>
          </p:sp>
          <p:sp>
            <p:nvSpPr>
              <p:cNvPr id="25657" name="Freeform 20"/>
              <p:cNvSpPr>
                <a:spLocks/>
              </p:cNvSpPr>
              <p:nvPr/>
            </p:nvSpPr>
            <p:spPr bwMode="auto">
              <a:xfrm>
                <a:off x="2068" y="3785"/>
                <a:ext cx="13" cy="43"/>
              </a:xfrm>
              <a:custGeom>
                <a:avLst/>
                <a:gdLst>
                  <a:gd name="T0" fmla="*/ 1 w 25"/>
                  <a:gd name="T1" fmla="*/ 1 h 86"/>
                  <a:gd name="T2" fmla="*/ 1 w 25"/>
                  <a:gd name="T3" fmla="*/ 1 h 86"/>
                  <a:gd name="T4" fmla="*/ 1 w 25"/>
                  <a:gd name="T5" fmla="*/ 1 h 86"/>
                  <a:gd name="T6" fmla="*/ 1 w 25"/>
                  <a:gd name="T7" fmla="*/ 1 h 86"/>
                  <a:gd name="T8" fmla="*/ 1 w 25"/>
                  <a:gd name="T9" fmla="*/ 1 h 86"/>
                  <a:gd name="T10" fmla="*/ 1 w 25"/>
                  <a:gd name="T11" fmla="*/ 1 h 86"/>
                  <a:gd name="T12" fmla="*/ 1 w 25"/>
                  <a:gd name="T13" fmla="*/ 1 h 86"/>
                  <a:gd name="T14" fmla="*/ 1 w 25"/>
                  <a:gd name="T15" fmla="*/ 1 h 86"/>
                  <a:gd name="T16" fmla="*/ 1 w 25"/>
                  <a:gd name="T17" fmla="*/ 1 h 86"/>
                  <a:gd name="T18" fmla="*/ 1 w 25"/>
                  <a:gd name="T19" fmla="*/ 0 h 86"/>
                  <a:gd name="T20" fmla="*/ 0 w 25"/>
                  <a:gd name="T21" fmla="*/ 0 h 86"/>
                  <a:gd name="T22" fmla="*/ 0 w 25"/>
                  <a:gd name="T23" fmla="*/ 1 h 86"/>
                  <a:gd name="T24" fmla="*/ 1 w 25"/>
                  <a:gd name="T25" fmla="*/ 1 h 86"/>
                  <a:gd name="T26" fmla="*/ 1 w 25"/>
                  <a:gd name="T27" fmla="*/ 1 h 86"/>
                  <a:gd name="T28" fmla="*/ 1 w 25"/>
                  <a:gd name="T29" fmla="*/ 1 h 86"/>
                  <a:gd name="T30" fmla="*/ 1 w 25"/>
                  <a:gd name="T31" fmla="*/ 1 h 86"/>
                  <a:gd name="T32" fmla="*/ 1 w 25"/>
                  <a:gd name="T33" fmla="*/ 1 h 86"/>
                  <a:gd name="T34" fmla="*/ 1 w 25"/>
                  <a:gd name="T35" fmla="*/ 1 h 86"/>
                  <a:gd name="T36" fmla="*/ 1 w 25"/>
                  <a:gd name="T37" fmla="*/ 1 h 86"/>
                  <a:gd name="T38" fmla="*/ 1 w 25"/>
                  <a:gd name="T39" fmla="*/ 1 h 86"/>
                  <a:gd name="T40" fmla="*/ 1 w 25"/>
                  <a:gd name="T41" fmla="*/ 1 h 86"/>
                  <a:gd name="T42" fmla="*/ 1 w 25"/>
                  <a:gd name="T43" fmla="*/ 1 h 86"/>
                  <a:gd name="T44" fmla="*/ 1 w 25"/>
                  <a:gd name="T45" fmla="*/ 1 h 86"/>
                  <a:gd name="T46" fmla="*/ 1 w 25"/>
                  <a:gd name="T47" fmla="*/ 1 h 86"/>
                  <a:gd name="T48" fmla="*/ 1 w 25"/>
                  <a:gd name="T49" fmla="*/ 1 h 86"/>
                  <a:gd name="T50" fmla="*/ 1 w 25"/>
                  <a:gd name="T51" fmla="*/ 1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
                  <a:gd name="T79" fmla="*/ 0 h 86"/>
                  <a:gd name="T80" fmla="*/ 25 w 25"/>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 h="86">
                    <a:moveTo>
                      <a:pt x="15" y="86"/>
                    </a:moveTo>
                    <a:lnTo>
                      <a:pt x="25" y="75"/>
                    </a:lnTo>
                    <a:lnTo>
                      <a:pt x="25" y="74"/>
                    </a:lnTo>
                    <a:lnTo>
                      <a:pt x="25" y="69"/>
                    </a:lnTo>
                    <a:lnTo>
                      <a:pt x="25" y="61"/>
                    </a:lnTo>
                    <a:lnTo>
                      <a:pt x="23" y="52"/>
                    </a:lnTo>
                    <a:lnTo>
                      <a:pt x="23" y="42"/>
                    </a:lnTo>
                    <a:lnTo>
                      <a:pt x="23" y="30"/>
                    </a:lnTo>
                    <a:lnTo>
                      <a:pt x="22" y="16"/>
                    </a:lnTo>
                    <a:lnTo>
                      <a:pt x="22" y="0"/>
                    </a:lnTo>
                    <a:lnTo>
                      <a:pt x="0" y="0"/>
                    </a:lnTo>
                    <a:lnTo>
                      <a:pt x="0" y="16"/>
                    </a:lnTo>
                    <a:lnTo>
                      <a:pt x="1" y="30"/>
                    </a:lnTo>
                    <a:lnTo>
                      <a:pt x="1" y="42"/>
                    </a:lnTo>
                    <a:lnTo>
                      <a:pt x="1" y="55"/>
                    </a:lnTo>
                    <a:lnTo>
                      <a:pt x="3" y="64"/>
                    </a:lnTo>
                    <a:lnTo>
                      <a:pt x="3" y="69"/>
                    </a:lnTo>
                    <a:lnTo>
                      <a:pt x="3" y="74"/>
                    </a:lnTo>
                    <a:lnTo>
                      <a:pt x="3" y="75"/>
                    </a:lnTo>
                    <a:lnTo>
                      <a:pt x="12" y="64"/>
                    </a:lnTo>
                    <a:lnTo>
                      <a:pt x="3" y="75"/>
                    </a:lnTo>
                    <a:lnTo>
                      <a:pt x="6" y="83"/>
                    </a:lnTo>
                    <a:lnTo>
                      <a:pt x="14" y="86"/>
                    </a:lnTo>
                    <a:lnTo>
                      <a:pt x="22" y="83"/>
                    </a:lnTo>
                    <a:lnTo>
                      <a:pt x="25" y="75"/>
                    </a:lnTo>
                    <a:lnTo>
                      <a:pt x="15" y="86"/>
                    </a:lnTo>
                    <a:close/>
                  </a:path>
                </a:pathLst>
              </a:custGeom>
              <a:solidFill>
                <a:srgbClr val="000000"/>
              </a:solidFill>
              <a:ln w="9525">
                <a:noFill/>
                <a:round/>
                <a:headEnd/>
                <a:tailEnd/>
              </a:ln>
            </p:spPr>
            <p:txBody>
              <a:bodyPr/>
              <a:lstStyle/>
              <a:p>
                <a:endParaRPr lang="en-US"/>
              </a:p>
            </p:txBody>
          </p:sp>
          <p:sp>
            <p:nvSpPr>
              <p:cNvPr id="25658" name="Freeform 21"/>
              <p:cNvSpPr>
                <a:spLocks/>
              </p:cNvSpPr>
              <p:nvPr/>
            </p:nvSpPr>
            <p:spPr bwMode="auto">
              <a:xfrm>
                <a:off x="2043" y="3817"/>
                <a:ext cx="33" cy="13"/>
              </a:xfrm>
              <a:custGeom>
                <a:avLst/>
                <a:gdLst>
                  <a:gd name="T0" fmla="*/ 0 w 65"/>
                  <a:gd name="T1" fmla="*/ 0 h 27"/>
                  <a:gd name="T2" fmla="*/ 0 w 65"/>
                  <a:gd name="T3" fmla="*/ 0 h 27"/>
                  <a:gd name="T4" fmla="*/ 1 w 65"/>
                  <a:gd name="T5" fmla="*/ 0 h 27"/>
                  <a:gd name="T6" fmla="*/ 1 w 65"/>
                  <a:gd name="T7" fmla="*/ 0 h 27"/>
                  <a:gd name="T8" fmla="*/ 1 w 65"/>
                  <a:gd name="T9" fmla="*/ 0 h 27"/>
                  <a:gd name="T10" fmla="*/ 1 w 65"/>
                  <a:gd name="T11" fmla="*/ 0 h 27"/>
                  <a:gd name="T12" fmla="*/ 1 w 65"/>
                  <a:gd name="T13" fmla="*/ 0 h 27"/>
                  <a:gd name="T14" fmla="*/ 1 w 65"/>
                  <a:gd name="T15" fmla="*/ 0 h 27"/>
                  <a:gd name="T16" fmla="*/ 1 w 65"/>
                  <a:gd name="T17" fmla="*/ 0 h 27"/>
                  <a:gd name="T18" fmla="*/ 1 w 65"/>
                  <a:gd name="T19" fmla="*/ 0 h 27"/>
                  <a:gd name="T20" fmla="*/ 1 w 65"/>
                  <a:gd name="T21" fmla="*/ 0 h 27"/>
                  <a:gd name="T22" fmla="*/ 1 w 65"/>
                  <a:gd name="T23" fmla="*/ 0 h 27"/>
                  <a:gd name="T24" fmla="*/ 1 w 65"/>
                  <a:gd name="T25" fmla="*/ 0 h 27"/>
                  <a:gd name="T26" fmla="*/ 1 w 65"/>
                  <a:gd name="T27" fmla="*/ 0 h 27"/>
                  <a:gd name="T28" fmla="*/ 1 w 65"/>
                  <a:gd name="T29" fmla="*/ 0 h 27"/>
                  <a:gd name="T30" fmla="*/ 1 w 65"/>
                  <a:gd name="T31" fmla="*/ 0 h 27"/>
                  <a:gd name="T32" fmla="*/ 1 w 65"/>
                  <a:gd name="T33" fmla="*/ 0 h 27"/>
                  <a:gd name="T34" fmla="*/ 1 w 65"/>
                  <a:gd name="T35" fmla="*/ 0 h 27"/>
                  <a:gd name="T36" fmla="*/ 1 w 65"/>
                  <a:gd name="T37" fmla="*/ 0 h 27"/>
                  <a:gd name="T38" fmla="*/ 1 w 65"/>
                  <a:gd name="T39" fmla="*/ 0 h 27"/>
                  <a:gd name="T40" fmla="*/ 0 w 65"/>
                  <a:gd name="T41" fmla="*/ 0 h 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
                  <a:gd name="T64" fmla="*/ 0 h 27"/>
                  <a:gd name="T65" fmla="*/ 65 w 65"/>
                  <a:gd name="T66" fmla="*/ 27 h 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 h="27">
                    <a:moveTo>
                      <a:pt x="0" y="25"/>
                    </a:moveTo>
                    <a:lnTo>
                      <a:pt x="0" y="25"/>
                    </a:lnTo>
                    <a:lnTo>
                      <a:pt x="9" y="27"/>
                    </a:lnTo>
                    <a:lnTo>
                      <a:pt x="18" y="27"/>
                    </a:lnTo>
                    <a:lnTo>
                      <a:pt x="31" y="27"/>
                    </a:lnTo>
                    <a:lnTo>
                      <a:pt x="40" y="25"/>
                    </a:lnTo>
                    <a:lnTo>
                      <a:pt x="50" y="24"/>
                    </a:lnTo>
                    <a:lnTo>
                      <a:pt x="58" y="24"/>
                    </a:lnTo>
                    <a:lnTo>
                      <a:pt x="64" y="22"/>
                    </a:lnTo>
                    <a:lnTo>
                      <a:pt x="65" y="22"/>
                    </a:lnTo>
                    <a:lnTo>
                      <a:pt x="62" y="0"/>
                    </a:lnTo>
                    <a:lnTo>
                      <a:pt x="61" y="0"/>
                    </a:lnTo>
                    <a:lnTo>
                      <a:pt x="54" y="2"/>
                    </a:lnTo>
                    <a:lnTo>
                      <a:pt x="47" y="2"/>
                    </a:lnTo>
                    <a:lnTo>
                      <a:pt x="37" y="3"/>
                    </a:lnTo>
                    <a:lnTo>
                      <a:pt x="28" y="5"/>
                    </a:lnTo>
                    <a:lnTo>
                      <a:pt x="18" y="5"/>
                    </a:lnTo>
                    <a:lnTo>
                      <a:pt x="12" y="5"/>
                    </a:lnTo>
                    <a:lnTo>
                      <a:pt x="6" y="3"/>
                    </a:lnTo>
                    <a:lnTo>
                      <a:pt x="0" y="25"/>
                    </a:lnTo>
                    <a:close/>
                  </a:path>
                </a:pathLst>
              </a:custGeom>
              <a:solidFill>
                <a:srgbClr val="000000"/>
              </a:solidFill>
              <a:ln w="9525">
                <a:noFill/>
                <a:round/>
                <a:headEnd/>
                <a:tailEnd/>
              </a:ln>
            </p:spPr>
            <p:txBody>
              <a:bodyPr/>
              <a:lstStyle/>
              <a:p>
                <a:endParaRPr lang="en-US"/>
              </a:p>
            </p:txBody>
          </p:sp>
          <p:sp>
            <p:nvSpPr>
              <p:cNvPr id="25659" name="Freeform 22"/>
              <p:cNvSpPr>
                <a:spLocks/>
              </p:cNvSpPr>
              <p:nvPr/>
            </p:nvSpPr>
            <p:spPr bwMode="auto">
              <a:xfrm>
                <a:off x="2031" y="3726"/>
                <a:ext cx="16" cy="103"/>
              </a:xfrm>
              <a:custGeom>
                <a:avLst/>
                <a:gdLst>
                  <a:gd name="T0" fmla="*/ 1 w 32"/>
                  <a:gd name="T1" fmla="*/ 0 h 206"/>
                  <a:gd name="T2" fmla="*/ 0 w 32"/>
                  <a:gd name="T3" fmla="*/ 1 h 206"/>
                  <a:gd name="T4" fmla="*/ 0 w 32"/>
                  <a:gd name="T5" fmla="*/ 1 h 206"/>
                  <a:gd name="T6" fmla="*/ 0 w 32"/>
                  <a:gd name="T7" fmla="*/ 1 h 206"/>
                  <a:gd name="T8" fmla="*/ 1 w 32"/>
                  <a:gd name="T9" fmla="*/ 1 h 206"/>
                  <a:gd name="T10" fmla="*/ 1 w 32"/>
                  <a:gd name="T11" fmla="*/ 1 h 206"/>
                  <a:gd name="T12" fmla="*/ 1 w 32"/>
                  <a:gd name="T13" fmla="*/ 1 h 206"/>
                  <a:gd name="T14" fmla="*/ 1 w 32"/>
                  <a:gd name="T15" fmla="*/ 1 h 206"/>
                  <a:gd name="T16" fmla="*/ 1 w 32"/>
                  <a:gd name="T17" fmla="*/ 1 h 206"/>
                  <a:gd name="T18" fmla="*/ 1 w 32"/>
                  <a:gd name="T19" fmla="*/ 1 h 206"/>
                  <a:gd name="T20" fmla="*/ 1 w 32"/>
                  <a:gd name="T21" fmla="*/ 1 h 206"/>
                  <a:gd name="T22" fmla="*/ 1 w 32"/>
                  <a:gd name="T23" fmla="*/ 1 h 206"/>
                  <a:gd name="T24" fmla="*/ 1 w 32"/>
                  <a:gd name="T25" fmla="*/ 1 h 206"/>
                  <a:gd name="T26" fmla="*/ 1 w 32"/>
                  <a:gd name="T27" fmla="*/ 1 h 206"/>
                  <a:gd name="T28" fmla="*/ 1 w 32"/>
                  <a:gd name="T29" fmla="*/ 1 h 206"/>
                  <a:gd name="T30" fmla="*/ 1 w 32"/>
                  <a:gd name="T31" fmla="*/ 1 h 206"/>
                  <a:gd name="T32" fmla="*/ 1 w 32"/>
                  <a:gd name="T33" fmla="*/ 1 h 206"/>
                  <a:gd name="T34" fmla="*/ 1 w 32"/>
                  <a:gd name="T35" fmla="*/ 1 h 206"/>
                  <a:gd name="T36" fmla="*/ 1 w 32"/>
                  <a:gd name="T37" fmla="*/ 1 h 206"/>
                  <a:gd name="T38" fmla="*/ 1 w 32"/>
                  <a:gd name="T39" fmla="*/ 1 h 206"/>
                  <a:gd name="T40" fmla="*/ 1 w 32"/>
                  <a:gd name="T41" fmla="*/ 1 h 206"/>
                  <a:gd name="T42" fmla="*/ 1 w 32"/>
                  <a:gd name="T43" fmla="*/ 1 h 206"/>
                  <a:gd name="T44" fmla="*/ 1 w 32"/>
                  <a:gd name="T45" fmla="*/ 0 h 206"/>
                  <a:gd name="T46" fmla="*/ 1 w 32"/>
                  <a:gd name="T47" fmla="*/ 1 h 206"/>
                  <a:gd name="T48" fmla="*/ 0 w 32"/>
                  <a:gd name="T49" fmla="*/ 1 h 206"/>
                  <a:gd name="T50" fmla="*/ 1 w 32"/>
                  <a:gd name="T51" fmla="*/ 0 h 20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
                  <a:gd name="T79" fmla="*/ 0 h 206"/>
                  <a:gd name="T80" fmla="*/ 32 w 32"/>
                  <a:gd name="T81" fmla="*/ 206 h 20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 h="206">
                    <a:moveTo>
                      <a:pt x="14" y="0"/>
                    </a:moveTo>
                    <a:lnTo>
                      <a:pt x="0" y="11"/>
                    </a:lnTo>
                    <a:lnTo>
                      <a:pt x="0" y="18"/>
                    </a:lnTo>
                    <a:lnTo>
                      <a:pt x="0" y="39"/>
                    </a:lnTo>
                    <a:lnTo>
                      <a:pt x="1" y="69"/>
                    </a:lnTo>
                    <a:lnTo>
                      <a:pt x="1" y="101"/>
                    </a:lnTo>
                    <a:lnTo>
                      <a:pt x="4" y="136"/>
                    </a:lnTo>
                    <a:lnTo>
                      <a:pt x="7" y="166"/>
                    </a:lnTo>
                    <a:lnTo>
                      <a:pt x="11" y="189"/>
                    </a:lnTo>
                    <a:lnTo>
                      <a:pt x="25" y="206"/>
                    </a:lnTo>
                    <a:lnTo>
                      <a:pt x="31" y="184"/>
                    </a:lnTo>
                    <a:lnTo>
                      <a:pt x="32" y="183"/>
                    </a:lnTo>
                    <a:lnTo>
                      <a:pt x="29" y="162"/>
                    </a:lnTo>
                    <a:lnTo>
                      <a:pt x="26" y="133"/>
                    </a:lnTo>
                    <a:lnTo>
                      <a:pt x="23" y="101"/>
                    </a:lnTo>
                    <a:lnTo>
                      <a:pt x="23" y="69"/>
                    </a:lnTo>
                    <a:lnTo>
                      <a:pt x="21" y="39"/>
                    </a:lnTo>
                    <a:lnTo>
                      <a:pt x="21" y="18"/>
                    </a:lnTo>
                    <a:lnTo>
                      <a:pt x="21" y="11"/>
                    </a:lnTo>
                    <a:lnTo>
                      <a:pt x="7" y="22"/>
                    </a:lnTo>
                    <a:lnTo>
                      <a:pt x="21" y="11"/>
                    </a:lnTo>
                    <a:lnTo>
                      <a:pt x="18" y="3"/>
                    </a:lnTo>
                    <a:lnTo>
                      <a:pt x="11" y="0"/>
                    </a:lnTo>
                    <a:lnTo>
                      <a:pt x="3" y="3"/>
                    </a:lnTo>
                    <a:lnTo>
                      <a:pt x="0" y="11"/>
                    </a:lnTo>
                    <a:lnTo>
                      <a:pt x="14" y="0"/>
                    </a:lnTo>
                    <a:close/>
                  </a:path>
                </a:pathLst>
              </a:custGeom>
              <a:solidFill>
                <a:srgbClr val="000000"/>
              </a:solidFill>
              <a:ln w="9525">
                <a:noFill/>
                <a:round/>
                <a:headEnd/>
                <a:tailEnd/>
              </a:ln>
            </p:spPr>
            <p:txBody>
              <a:bodyPr/>
              <a:lstStyle/>
              <a:p>
                <a:endParaRPr lang="en-US"/>
              </a:p>
            </p:txBody>
          </p:sp>
          <p:sp>
            <p:nvSpPr>
              <p:cNvPr id="25660" name="Freeform 23"/>
              <p:cNvSpPr>
                <a:spLocks/>
              </p:cNvSpPr>
              <p:nvPr/>
            </p:nvSpPr>
            <p:spPr bwMode="auto">
              <a:xfrm>
                <a:off x="2035" y="3726"/>
                <a:ext cx="48" cy="22"/>
              </a:xfrm>
              <a:custGeom>
                <a:avLst/>
                <a:gdLst>
                  <a:gd name="T0" fmla="*/ 0 w 97"/>
                  <a:gd name="T1" fmla="*/ 1 h 43"/>
                  <a:gd name="T2" fmla="*/ 0 w 97"/>
                  <a:gd name="T3" fmla="*/ 1 h 43"/>
                  <a:gd name="T4" fmla="*/ 0 w 97"/>
                  <a:gd name="T5" fmla="*/ 0 h 43"/>
                  <a:gd name="T6" fmla="*/ 0 w 97"/>
                  <a:gd name="T7" fmla="*/ 1 h 43"/>
                  <a:gd name="T8" fmla="*/ 0 w 97"/>
                  <a:gd name="T9" fmla="*/ 1 h 43"/>
                  <a:gd name="T10" fmla="*/ 0 w 97"/>
                  <a:gd name="T11" fmla="*/ 1 h 43"/>
                  <a:gd name="T12" fmla="*/ 0 w 97"/>
                  <a:gd name="T13" fmla="*/ 1 h 43"/>
                  <a:gd name="T14" fmla="*/ 0 w 97"/>
                  <a:gd name="T15" fmla="*/ 1 h 43"/>
                  <a:gd name="T16" fmla="*/ 0 w 97"/>
                  <a:gd name="T17" fmla="*/ 1 h 43"/>
                  <a:gd name="T18" fmla="*/ 0 w 97"/>
                  <a:gd name="T19" fmla="*/ 1 h 43"/>
                  <a:gd name="T20" fmla="*/ 0 w 97"/>
                  <a:gd name="T21" fmla="*/ 1 h 43"/>
                  <a:gd name="T22" fmla="*/ 0 w 97"/>
                  <a:gd name="T23" fmla="*/ 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7"/>
                  <a:gd name="T37" fmla="*/ 0 h 43"/>
                  <a:gd name="T38" fmla="*/ 97 w 97"/>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7" h="43">
                    <a:moveTo>
                      <a:pt x="97" y="36"/>
                    </a:moveTo>
                    <a:lnTo>
                      <a:pt x="90" y="22"/>
                    </a:lnTo>
                    <a:lnTo>
                      <a:pt x="7" y="0"/>
                    </a:lnTo>
                    <a:lnTo>
                      <a:pt x="0" y="22"/>
                    </a:lnTo>
                    <a:lnTo>
                      <a:pt x="83" y="43"/>
                    </a:lnTo>
                    <a:lnTo>
                      <a:pt x="76" y="29"/>
                    </a:lnTo>
                    <a:lnTo>
                      <a:pt x="83" y="43"/>
                    </a:lnTo>
                    <a:lnTo>
                      <a:pt x="93" y="42"/>
                    </a:lnTo>
                    <a:lnTo>
                      <a:pt x="97" y="34"/>
                    </a:lnTo>
                    <a:lnTo>
                      <a:pt x="96" y="26"/>
                    </a:lnTo>
                    <a:lnTo>
                      <a:pt x="90" y="22"/>
                    </a:lnTo>
                    <a:lnTo>
                      <a:pt x="97" y="36"/>
                    </a:lnTo>
                    <a:close/>
                  </a:path>
                </a:pathLst>
              </a:custGeom>
              <a:solidFill>
                <a:srgbClr val="000000"/>
              </a:solidFill>
              <a:ln w="9525">
                <a:noFill/>
                <a:round/>
                <a:headEnd/>
                <a:tailEnd/>
              </a:ln>
            </p:spPr>
            <p:txBody>
              <a:bodyPr/>
              <a:lstStyle/>
              <a:p>
                <a:endParaRPr lang="en-US"/>
              </a:p>
            </p:txBody>
          </p:sp>
          <p:sp>
            <p:nvSpPr>
              <p:cNvPr id="25661" name="Freeform 24"/>
              <p:cNvSpPr>
                <a:spLocks/>
              </p:cNvSpPr>
              <p:nvPr/>
            </p:nvSpPr>
            <p:spPr bwMode="auto">
              <a:xfrm>
                <a:off x="2099" y="3720"/>
                <a:ext cx="156" cy="50"/>
              </a:xfrm>
              <a:custGeom>
                <a:avLst/>
                <a:gdLst>
                  <a:gd name="T0" fmla="*/ 0 w 311"/>
                  <a:gd name="T1" fmla="*/ 1 h 98"/>
                  <a:gd name="T2" fmla="*/ 0 w 311"/>
                  <a:gd name="T3" fmla="*/ 1 h 98"/>
                  <a:gd name="T4" fmla="*/ 1 w 311"/>
                  <a:gd name="T5" fmla="*/ 1 h 98"/>
                  <a:gd name="T6" fmla="*/ 1 w 311"/>
                  <a:gd name="T7" fmla="*/ 1 h 98"/>
                  <a:gd name="T8" fmla="*/ 1 w 311"/>
                  <a:gd name="T9" fmla="*/ 1 h 98"/>
                  <a:gd name="T10" fmla="*/ 1 w 311"/>
                  <a:gd name="T11" fmla="*/ 1 h 98"/>
                  <a:gd name="T12" fmla="*/ 1 w 311"/>
                  <a:gd name="T13" fmla="*/ 1 h 98"/>
                  <a:gd name="T14" fmla="*/ 1 w 311"/>
                  <a:gd name="T15" fmla="*/ 1 h 98"/>
                  <a:gd name="T16" fmla="*/ 1 w 311"/>
                  <a:gd name="T17" fmla="*/ 1 h 98"/>
                  <a:gd name="T18" fmla="*/ 1 w 311"/>
                  <a:gd name="T19" fmla="*/ 1 h 98"/>
                  <a:gd name="T20" fmla="*/ 1 w 311"/>
                  <a:gd name="T21" fmla="*/ 1 h 98"/>
                  <a:gd name="T22" fmla="*/ 1 w 311"/>
                  <a:gd name="T23" fmla="*/ 1 h 98"/>
                  <a:gd name="T24" fmla="*/ 1 w 311"/>
                  <a:gd name="T25" fmla="*/ 1 h 98"/>
                  <a:gd name="T26" fmla="*/ 1 w 311"/>
                  <a:gd name="T27" fmla="*/ 1 h 98"/>
                  <a:gd name="T28" fmla="*/ 1 w 311"/>
                  <a:gd name="T29" fmla="*/ 1 h 98"/>
                  <a:gd name="T30" fmla="*/ 1 w 311"/>
                  <a:gd name="T31" fmla="*/ 1 h 98"/>
                  <a:gd name="T32" fmla="*/ 1 w 311"/>
                  <a:gd name="T33" fmla="*/ 1 h 98"/>
                  <a:gd name="T34" fmla="*/ 1 w 311"/>
                  <a:gd name="T35" fmla="*/ 1 h 98"/>
                  <a:gd name="T36" fmla="*/ 1 w 311"/>
                  <a:gd name="T37" fmla="*/ 1 h 98"/>
                  <a:gd name="T38" fmla="*/ 1 w 311"/>
                  <a:gd name="T39" fmla="*/ 1 h 98"/>
                  <a:gd name="T40" fmla="*/ 1 w 311"/>
                  <a:gd name="T41" fmla="*/ 1 h 98"/>
                  <a:gd name="T42" fmla="*/ 1 w 311"/>
                  <a:gd name="T43" fmla="*/ 0 h 98"/>
                  <a:gd name="T44" fmla="*/ 0 w 311"/>
                  <a:gd name="T45" fmla="*/ 1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1"/>
                  <a:gd name="T70" fmla="*/ 0 h 98"/>
                  <a:gd name="T71" fmla="*/ 311 w 311"/>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1" h="98">
                    <a:moveTo>
                      <a:pt x="0" y="53"/>
                    </a:moveTo>
                    <a:lnTo>
                      <a:pt x="0" y="65"/>
                    </a:lnTo>
                    <a:lnTo>
                      <a:pt x="3" y="67"/>
                    </a:lnTo>
                    <a:lnTo>
                      <a:pt x="9" y="70"/>
                    </a:lnTo>
                    <a:lnTo>
                      <a:pt x="22" y="76"/>
                    </a:lnTo>
                    <a:lnTo>
                      <a:pt x="39" y="83"/>
                    </a:lnTo>
                    <a:lnTo>
                      <a:pt x="61" y="89"/>
                    </a:lnTo>
                    <a:lnTo>
                      <a:pt x="87" y="94"/>
                    </a:lnTo>
                    <a:lnTo>
                      <a:pt x="119" y="97"/>
                    </a:lnTo>
                    <a:lnTo>
                      <a:pt x="153" y="98"/>
                    </a:lnTo>
                    <a:lnTo>
                      <a:pt x="188" y="95"/>
                    </a:lnTo>
                    <a:lnTo>
                      <a:pt x="219" y="89"/>
                    </a:lnTo>
                    <a:lnTo>
                      <a:pt x="246" y="80"/>
                    </a:lnTo>
                    <a:lnTo>
                      <a:pt x="268" y="67"/>
                    </a:lnTo>
                    <a:lnTo>
                      <a:pt x="285" y="54"/>
                    </a:lnTo>
                    <a:lnTo>
                      <a:pt x="297" y="42"/>
                    </a:lnTo>
                    <a:lnTo>
                      <a:pt x="305" y="33"/>
                    </a:lnTo>
                    <a:lnTo>
                      <a:pt x="310" y="25"/>
                    </a:lnTo>
                    <a:lnTo>
                      <a:pt x="311" y="15"/>
                    </a:lnTo>
                    <a:lnTo>
                      <a:pt x="308" y="8"/>
                    </a:lnTo>
                    <a:lnTo>
                      <a:pt x="304" y="1"/>
                    </a:lnTo>
                    <a:lnTo>
                      <a:pt x="300" y="0"/>
                    </a:lnTo>
                    <a:lnTo>
                      <a:pt x="0" y="53"/>
                    </a:lnTo>
                    <a:close/>
                  </a:path>
                </a:pathLst>
              </a:custGeom>
              <a:solidFill>
                <a:srgbClr val="FF7226"/>
              </a:solidFill>
              <a:ln w="9525">
                <a:noFill/>
                <a:round/>
                <a:headEnd/>
                <a:tailEnd/>
              </a:ln>
            </p:spPr>
            <p:txBody>
              <a:bodyPr/>
              <a:lstStyle/>
              <a:p>
                <a:endParaRPr lang="en-US"/>
              </a:p>
            </p:txBody>
          </p:sp>
          <p:sp>
            <p:nvSpPr>
              <p:cNvPr id="25662" name="Freeform 25"/>
              <p:cNvSpPr>
                <a:spLocks/>
              </p:cNvSpPr>
              <p:nvPr/>
            </p:nvSpPr>
            <p:spPr bwMode="auto">
              <a:xfrm>
                <a:off x="2093" y="3747"/>
                <a:ext cx="11" cy="12"/>
              </a:xfrm>
              <a:custGeom>
                <a:avLst/>
                <a:gdLst>
                  <a:gd name="T0" fmla="*/ 1 w 22"/>
                  <a:gd name="T1" fmla="*/ 1 h 23"/>
                  <a:gd name="T2" fmla="*/ 1 w 22"/>
                  <a:gd name="T3" fmla="*/ 1 h 23"/>
                  <a:gd name="T4" fmla="*/ 1 w 22"/>
                  <a:gd name="T5" fmla="*/ 0 h 23"/>
                  <a:gd name="T6" fmla="*/ 0 w 22"/>
                  <a:gd name="T7" fmla="*/ 0 h 23"/>
                  <a:gd name="T8" fmla="*/ 0 w 22"/>
                  <a:gd name="T9" fmla="*/ 1 h 23"/>
                  <a:gd name="T10" fmla="*/ 1 w 22"/>
                  <a:gd name="T11" fmla="*/ 1 h 23"/>
                  <a:gd name="T12" fmla="*/ 0 w 22"/>
                  <a:gd name="T13" fmla="*/ 1 h 23"/>
                  <a:gd name="T14" fmla="*/ 1 w 22"/>
                  <a:gd name="T15" fmla="*/ 1 h 23"/>
                  <a:gd name="T16" fmla="*/ 1 w 22"/>
                  <a:gd name="T17" fmla="*/ 1 h 23"/>
                  <a:gd name="T18" fmla="*/ 1 w 22"/>
                  <a:gd name="T19" fmla="*/ 1 h 23"/>
                  <a:gd name="T20" fmla="*/ 1 w 22"/>
                  <a:gd name="T21" fmla="*/ 1 h 23"/>
                  <a:gd name="T22" fmla="*/ 1 w 22"/>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3"/>
                  <a:gd name="T38" fmla="*/ 22 w 22"/>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3">
                    <a:moveTo>
                      <a:pt x="17" y="3"/>
                    </a:moveTo>
                    <a:lnTo>
                      <a:pt x="22" y="12"/>
                    </a:lnTo>
                    <a:lnTo>
                      <a:pt x="22" y="0"/>
                    </a:lnTo>
                    <a:lnTo>
                      <a:pt x="0" y="0"/>
                    </a:lnTo>
                    <a:lnTo>
                      <a:pt x="0" y="12"/>
                    </a:lnTo>
                    <a:lnTo>
                      <a:pt x="5" y="22"/>
                    </a:lnTo>
                    <a:lnTo>
                      <a:pt x="0" y="12"/>
                    </a:lnTo>
                    <a:lnTo>
                      <a:pt x="3" y="20"/>
                    </a:lnTo>
                    <a:lnTo>
                      <a:pt x="11" y="23"/>
                    </a:lnTo>
                    <a:lnTo>
                      <a:pt x="19" y="20"/>
                    </a:lnTo>
                    <a:lnTo>
                      <a:pt x="22" y="12"/>
                    </a:lnTo>
                    <a:lnTo>
                      <a:pt x="17" y="3"/>
                    </a:lnTo>
                    <a:close/>
                  </a:path>
                </a:pathLst>
              </a:custGeom>
              <a:solidFill>
                <a:srgbClr val="000000"/>
              </a:solidFill>
              <a:ln w="9525">
                <a:noFill/>
                <a:round/>
                <a:headEnd/>
                <a:tailEnd/>
              </a:ln>
            </p:spPr>
            <p:txBody>
              <a:bodyPr/>
              <a:lstStyle/>
              <a:p>
                <a:endParaRPr lang="en-US"/>
              </a:p>
            </p:txBody>
          </p:sp>
          <p:sp>
            <p:nvSpPr>
              <p:cNvPr id="25663" name="Freeform 26"/>
              <p:cNvSpPr>
                <a:spLocks/>
              </p:cNvSpPr>
              <p:nvPr/>
            </p:nvSpPr>
            <p:spPr bwMode="auto">
              <a:xfrm>
                <a:off x="2096" y="3749"/>
                <a:ext cx="80" cy="26"/>
              </a:xfrm>
              <a:custGeom>
                <a:avLst/>
                <a:gdLst>
                  <a:gd name="T0" fmla="*/ 1 w 159"/>
                  <a:gd name="T1" fmla="*/ 0 h 53"/>
                  <a:gd name="T2" fmla="*/ 1 w 159"/>
                  <a:gd name="T3" fmla="*/ 0 h 53"/>
                  <a:gd name="T4" fmla="*/ 1 w 159"/>
                  <a:gd name="T5" fmla="*/ 0 h 53"/>
                  <a:gd name="T6" fmla="*/ 1 w 159"/>
                  <a:gd name="T7" fmla="*/ 0 h 53"/>
                  <a:gd name="T8" fmla="*/ 1 w 159"/>
                  <a:gd name="T9" fmla="*/ 0 h 53"/>
                  <a:gd name="T10" fmla="*/ 1 w 159"/>
                  <a:gd name="T11" fmla="*/ 0 h 53"/>
                  <a:gd name="T12" fmla="*/ 1 w 159"/>
                  <a:gd name="T13" fmla="*/ 0 h 53"/>
                  <a:gd name="T14" fmla="*/ 1 w 159"/>
                  <a:gd name="T15" fmla="*/ 0 h 53"/>
                  <a:gd name="T16" fmla="*/ 1 w 159"/>
                  <a:gd name="T17" fmla="*/ 0 h 53"/>
                  <a:gd name="T18" fmla="*/ 1 w 159"/>
                  <a:gd name="T19" fmla="*/ 0 h 53"/>
                  <a:gd name="T20" fmla="*/ 0 w 159"/>
                  <a:gd name="T21" fmla="*/ 0 h 53"/>
                  <a:gd name="T22" fmla="*/ 1 w 159"/>
                  <a:gd name="T23" fmla="*/ 0 h 53"/>
                  <a:gd name="T24" fmla="*/ 1 w 159"/>
                  <a:gd name="T25" fmla="*/ 0 h 53"/>
                  <a:gd name="T26" fmla="*/ 1 w 159"/>
                  <a:gd name="T27" fmla="*/ 0 h 53"/>
                  <a:gd name="T28" fmla="*/ 1 w 159"/>
                  <a:gd name="T29" fmla="*/ 0 h 53"/>
                  <a:gd name="T30" fmla="*/ 1 w 159"/>
                  <a:gd name="T31" fmla="*/ 0 h 53"/>
                  <a:gd name="T32" fmla="*/ 1 w 159"/>
                  <a:gd name="T33" fmla="*/ 0 h 53"/>
                  <a:gd name="T34" fmla="*/ 1 w 159"/>
                  <a:gd name="T35" fmla="*/ 0 h 53"/>
                  <a:gd name="T36" fmla="*/ 1 w 159"/>
                  <a:gd name="T37" fmla="*/ 0 h 53"/>
                  <a:gd name="T38" fmla="*/ 1 w 159"/>
                  <a:gd name="T39" fmla="*/ 0 h 53"/>
                  <a:gd name="T40" fmla="*/ 1 w 159"/>
                  <a:gd name="T41" fmla="*/ 0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
                  <a:gd name="T64" fmla="*/ 0 h 53"/>
                  <a:gd name="T65" fmla="*/ 159 w 159"/>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 h="53">
                    <a:moveTo>
                      <a:pt x="159" y="31"/>
                    </a:moveTo>
                    <a:lnTo>
                      <a:pt x="159" y="31"/>
                    </a:lnTo>
                    <a:lnTo>
                      <a:pt x="125" y="30"/>
                    </a:lnTo>
                    <a:lnTo>
                      <a:pt x="95" y="27"/>
                    </a:lnTo>
                    <a:lnTo>
                      <a:pt x="70" y="22"/>
                    </a:lnTo>
                    <a:lnTo>
                      <a:pt x="48" y="16"/>
                    </a:lnTo>
                    <a:lnTo>
                      <a:pt x="32" y="11"/>
                    </a:lnTo>
                    <a:lnTo>
                      <a:pt x="20" y="5"/>
                    </a:lnTo>
                    <a:lnTo>
                      <a:pt x="14" y="2"/>
                    </a:lnTo>
                    <a:lnTo>
                      <a:pt x="12" y="0"/>
                    </a:lnTo>
                    <a:lnTo>
                      <a:pt x="0" y="19"/>
                    </a:lnTo>
                    <a:lnTo>
                      <a:pt x="4" y="20"/>
                    </a:lnTo>
                    <a:lnTo>
                      <a:pt x="10" y="24"/>
                    </a:lnTo>
                    <a:lnTo>
                      <a:pt x="23" y="30"/>
                    </a:lnTo>
                    <a:lnTo>
                      <a:pt x="42" y="38"/>
                    </a:lnTo>
                    <a:lnTo>
                      <a:pt x="64" y="44"/>
                    </a:lnTo>
                    <a:lnTo>
                      <a:pt x="92" y="49"/>
                    </a:lnTo>
                    <a:lnTo>
                      <a:pt x="125" y="52"/>
                    </a:lnTo>
                    <a:lnTo>
                      <a:pt x="159" y="53"/>
                    </a:lnTo>
                    <a:lnTo>
                      <a:pt x="159" y="31"/>
                    </a:lnTo>
                    <a:close/>
                  </a:path>
                </a:pathLst>
              </a:custGeom>
              <a:solidFill>
                <a:srgbClr val="000000"/>
              </a:solidFill>
              <a:ln w="9525">
                <a:noFill/>
                <a:round/>
                <a:headEnd/>
                <a:tailEnd/>
              </a:ln>
            </p:spPr>
            <p:txBody>
              <a:bodyPr/>
              <a:lstStyle/>
              <a:p>
                <a:endParaRPr lang="en-US"/>
              </a:p>
            </p:txBody>
          </p:sp>
          <p:sp>
            <p:nvSpPr>
              <p:cNvPr id="25664" name="Freeform 27"/>
              <p:cNvSpPr>
                <a:spLocks/>
              </p:cNvSpPr>
              <p:nvPr/>
            </p:nvSpPr>
            <p:spPr bwMode="auto">
              <a:xfrm>
                <a:off x="2176" y="3731"/>
                <a:ext cx="83" cy="44"/>
              </a:xfrm>
              <a:custGeom>
                <a:avLst/>
                <a:gdLst>
                  <a:gd name="T0" fmla="*/ 0 w 168"/>
                  <a:gd name="T1" fmla="*/ 0 h 89"/>
                  <a:gd name="T2" fmla="*/ 0 w 168"/>
                  <a:gd name="T3" fmla="*/ 0 h 89"/>
                  <a:gd name="T4" fmla="*/ 0 w 168"/>
                  <a:gd name="T5" fmla="*/ 0 h 89"/>
                  <a:gd name="T6" fmla="*/ 0 w 168"/>
                  <a:gd name="T7" fmla="*/ 0 h 89"/>
                  <a:gd name="T8" fmla="*/ 0 w 168"/>
                  <a:gd name="T9" fmla="*/ 0 h 89"/>
                  <a:gd name="T10" fmla="*/ 0 w 168"/>
                  <a:gd name="T11" fmla="*/ 0 h 89"/>
                  <a:gd name="T12" fmla="*/ 0 w 168"/>
                  <a:gd name="T13" fmla="*/ 0 h 89"/>
                  <a:gd name="T14" fmla="*/ 0 w 168"/>
                  <a:gd name="T15" fmla="*/ 0 h 89"/>
                  <a:gd name="T16" fmla="*/ 0 w 168"/>
                  <a:gd name="T17" fmla="*/ 0 h 89"/>
                  <a:gd name="T18" fmla="*/ 0 w 168"/>
                  <a:gd name="T19" fmla="*/ 0 h 89"/>
                  <a:gd name="T20" fmla="*/ 0 w 168"/>
                  <a:gd name="T21" fmla="*/ 0 h 89"/>
                  <a:gd name="T22" fmla="*/ 0 w 168"/>
                  <a:gd name="T23" fmla="*/ 0 h 89"/>
                  <a:gd name="T24" fmla="*/ 0 w 168"/>
                  <a:gd name="T25" fmla="*/ 0 h 89"/>
                  <a:gd name="T26" fmla="*/ 0 w 168"/>
                  <a:gd name="T27" fmla="*/ 0 h 89"/>
                  <a:gd name="T28" fmla="*/ 0 w 168"/>
                  <a:gd name="T29" fmla="*/ 0 h 89"/>
                  <a:gd name="T30" fmla="*/ 0 w 168"/>
                  <a:gd name="T31" fmla="*/ 0 h 89"/>
                  <a:gd name="T32" fmla="*/ 0 w 168"/>
                  <a:gd name="T33" fmla="*/ 0 h 89"/>
                  <a:gd name="T34" fmla="*/ 0 w 168"/>
                  <a:gd name="T35" fmla="*/ 0 h 89"/>
                  <a:gd name="T36" fmla="*/ 0 w 168"/>
                  <a:gd name="T37" fmla="*/ 0 h 89"/>
                  <a:gd name="T38" fmla="*/ 0 w 168"/>
                  <a:gd name="T39" fmla="*/ 0 h 89"/>
                  <a:gd name="T40" fmla="*/ 0 w 168"/>
                  <a:gd name="T41" fmla="*/ 0 h 8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8"/>
                  <a:gd name="T64" fmla="*/ 0 h 89"/>
                  <a:gd name="T65" fmla="*/ 168 w 168"/>
                  <a:gd name="T66" fmla="*/ 89 h 8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8" h="89">
                    <a:moveTo>
                      <a:pt x="147" y="0"/>
                    </a:moveTo>
                    <a:lnTo>
                      <a:pt x="146" y="2"/>
                    </a:lnTo>
                    <a:lnTo>
                      <a:pt x="143" y="6"/>
                    </a:lnTo>
                    <a:lnTo>
                      <a:pt x="136" y="14"/>
                    </a:lnTo>
                    <a:lnTo>
                      <a:pt x="124" y="27"/>
                    </a:lnTo>
                    <a:lnTo>
                      <a:pt x="108" y="38"/>
                    </a:lnTo>
                    <a:lnTo>
                      <a:pt x="88" y="50"/>
                    </a:lnTo>
                    <a:lnTo>
                      <a:pt x="63" y="58"/>
                    </a:lnTo>
                    <a:lnTo>
                      <a:pt x="33" y="64"/>
                    </a:lnTo>
                    <a:lnTo>
                      <a:pt x="0" y="67"/>
                    </a:lnTo>
                    <a:lnTo>
                      <a:pt x="0" y="89"/>
                    </a:lnTo>
                    <a:lnTo>
                      <a:pt x="36" y="86"/>
                    </a:lnTo>
                    <a:lnTo>
                      <a:pt x="69" y="80"/>
                    </a:lnTo>
                    <a:lnTo>
                      <a:pt x="97" y="69"/>
                    </a:lnTo>
                    <a:lnTo>
                      <a:pt x="121" y="56"/>
                    </a:lnTo>
                    <a:lnTo>
                      <a:pt x="140" y="42"/>
                    </a:lnTo>
                    <a:lnTo>
                      <a:pt x="152" y="30"/>
                    </a:lnTo>
                    <a:lnTo>
                      <a:pt x="161" y="19"/>
                    </a:lnTo>
                    <a:lnTo>
                      <a:pt x="168" y="8"/>
                    </a:lnTo>
                    <a:lnTo>
                      <a:pt x="166" y="9"/>
                    </a:lnTo>
                    <a:lnTo>
                      <a:pt x="147" y="0"/>
                    </a:lnTo>
                    <a:close/>
                  </a:path>
                </a:pathLst>
              </a:custGeom>
              <a:solidFill>
                <a:srgbClr val="000000"/>
              </a:solidFill>
              <a:ln w="9525">
                <a:noFill/>
                <a:round/>
                <a:headEnd/>
                <a:tailEnd/>
              </a:ln>
            </p:spPr>
            <p:txBody>
              <a:bodyPr/>
              <a:lstStyle/>
              <a:p>
                <a:endParaRPr lang="en-US"/>
              </a:p>
            </p:txBody>
          </p:sp>
          <p:sp>
            <p:nvSpPr>
              <p:cNvPr id="25665" name="Freeform 28"/>
              <p:cNvSpPr>
                <a:spLocks/>
              </p:cNvSpPr>
              <p:nvPr/>
            </p:nvSpPr>
            <p:spPr bwMode="auto">
              <a:xfrm>
                <a:off x="2244" y="3715"/>
                <a:ext cx="16" cy="20"/>
              </a:xfrm>
              <a:custGeom>
                <a:avLst/>
                <a:gdLst>
                  <a:gd name="T0" fmla="*/ 0 w 33"/>
                  <a:gd name="T1" fmla="*/ 1 h 40"/>
                  <a:gd name="T2" fmla="*/ 0 w 33"/>
                  <a:gd name="T3" fmla="*/ 1 h 40"/>
                  <a:gd name="T4" fmla="*/ 0 w 33"/>
                  <a:gd name="T5" fmla="*/ 1 h 40"/>
                  <a:gd name="T6" fmla="*/ 0 w 33"/>
                  <a:gd name="T7" fmla="*/ 1 h 40"/>
                  <a:gd name="T8" fmla="*/ 0 w 33"/>
                  <a:gd name="T9" fmla="*/ 1 h 40"/>
                  <a:gd name="T10" fmla="*/ 0 w 33"/>
                  <a:gd name="T11" fmla="*/ 1 h 40"/>
                  <a:gd name="T12" fmla="*/ 0 w 33"/>
                  <a:gd name="T13" fmla="*/ 1 h 40"/>
                  <a:gd name="T14" fmla="*/ 0 w 33"/>
                  <a:gd name="T15" fmla="*/ 1 h 40"/>
                  <a:gd name="T16" fmla="*/ 0 w 33"/>
                  <a:gd name="T17" fmla="*/ 1 h 40"/>
                  <a:gd name="T18" fmla="*/ 0 w 33"/>
                  <a:gd name="T19" fmla="*/ 1 h 40"/>
                  <a:gd name="T20" fmla="*/ 0 w 33"/>
                  <a:gd name="T21" fmla="*/ 1 h 40"/>
                  <a:gd name="T22" fmla="*/ 0 w 33"/>
                  <a:gd name="T23" fmla="*/ 0 h 40"/>
                  <a:gd name="T24" fmla="*/ 0 w 33"/>
                  <a:gd name="T25" fmla="*/ 1 h 40"/>
                  <a:gd name="T26" fmla="*/ 0 w 33"/>
                  <a:gd name="T27" fmla="*/ 0 h 40"/>
                  <a:gd name="T28" fmla="*/ 0 w 33"/>
                  <a:gd name="T29" fmla="*/ 1 h 40"/>
                  <a:gd name="T30" fmla="*/ 0 w 33"/>
                  <a:gd name="T31" fmla="*/ 1 h 40"/>
                  <a:gd name="T32" fmla="*/ 0 w 33"/>
                  <a:gd name="T33" fmla="*/ 1 h 40"/>
                  <a:gd name="T34" fmla="*/ 0 w 33"/>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
                  <a:gd name="T55" fmla="*/ 0 h 40"/>
                  <a:gd name="T56" fmla="*/ 33 w 33"/>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 h="40">
                    <a:moveTo>
                      <a:pt x="13" y="22"/>
                    </a:moveTo>
                    <a:lnTo>
                      <a:pt x="5" y="20"/>
                    </a:lnTo>
                    <a:lnTo>
                      <a:pt x="7" y="20"/>
                    </a:lnTo>
                    <a:lnTo>
                      <a:pt x="10" y="23"/>
                    </a:lnTo>
                    <a:lnTo>
                      <a:pt x="11" y="28"/>
                    </a:lnTo>
                    <a:lnTo>
                      <a:pt x="11" y="31"/>
                    </a:lnTo>
                    <a:lnTo>
                      <a:pt x="30" y="40"/>
                    </a:lnTo>
                    <a:lnTo>
                      <a:pt x="33" y="25"/>
                    </a:lnTo>
                    <a:lnTo>
                      <a:pt x="29" y="14"/>
                    </a:lnTo>
                    <a:lnTo>
                      <a:pt x="22" y="4"/>
                    </a:lnTo>
                    <a:lnTo>
                      <a:pt x="18" y="1"/>
                    </a:lnTo>
                    <a:lnTo>
                      <a:pt x="10" y="0"/>
                    </a:lnTo>
                    <a:lnTo>
                      <a:pt x="18" y="1"/>
                    </a:lnTo>
                    <a:lnTo>
                      <a:pt x="8" y="0"/>
                    </a:lnTo>
                    <a:lnTo>
                      <a:pt x="2" y="4"/>
                    </a:lnTo>
                    <a:lnTo>
                      <a:pt x="0" y="12"/>
                    </a:lnTo>
                    <a:lnTo>
                      <a:pt x="5" y="20"/>
                    </a:lnTo>
                    <a:lnTo>
                      <a:pt x="13" y="22"/>
                    </a:lnTo>
                    <a:close/>
                  </a:path>
                </a:pathLst>
              </a:custGeom>
              <a:solidFill>
                <a:srgbClr val="000000"/>
              </a:solidFill>
              <a:ln w="9525">
                <a:noFill/>
                <a:round/>
                <a:headEnd/>
                <a:tailEnd/>
              </a:ln>
            </p:spPr>
            <p:txBody>
              <a:bodyPr/>
              <a:lstStyle/>
              <a:p>
                <a:endParaRPr lang="en-US"/>
              </a:p>
            </p:txBody>
          </p:sp>
          <p:sp>
            <p:nvSpPr>
              <p:cNvPr id="25666" name="Freeform 29"/>
              <p:cNvSpPr>
                <a:spLocks/>
              </p:cNvSpPr>
              <p:nvPr/>
            </p:nvSpPr>
            <p:spPr bwMode="auto">
              <a:xfrm>
                <a:off x="2093" y="3715"/>
                <a:ext cx="157" cy="37"/>
              </a:xfrm>
              <a:custGeom>
                <a:avLst/>
                <a:gdLst>
                  <a:gd name="T0" fmla="*/ 1 w 313"/>
                  <a:gd name="T1" fmla="*/ 0 h 75"/>
                  <a:gd name="T2" fmla="*/ 1 w 313"/>
                  <a:gd name="T3" fmla="*/ 0 h 75"/>
                  <a:gd name="T4" fmla="*/ 1 w 313"/>
                  <a:gd name="T5" fmla="*/ 0 h 75"/>
                  <a:gd name="T6" fmla="*/ 1 w 313"/>
                  <a:gd name="T7" fmla="*/ 0 h 75"/>
                  <a:gd name="T8" fmla="*/ 1 w 313"/>
                  <a:gd name="T9" fmla="*/ 0 h 75"/>
                  <a:gd name="T10" fmla="*/ 0 w 313"/>
                  <a:gd name="T11" fmla="*/ 0 h 75"/>
                  <a:gd name="T12" fmla="*/ 1 w 313"/>
                  <a:gd name="T13" fmla="*/ 0 h 75"/>
                  <a:gd name="T14" fmla="*/ 1 w 313"/>
                  <a:gd name="T15" fmla="*/ 0 h 75"/>
                  <a:gd name="T16" fmla="*/ 0 w 313"/>
                  <a:gd name="T17" fmla="*/ 0 h 75"/>
                  <a:gd name="T18" fmla="*/ 1 w 313"/>
                  <a:gd name="T19" fmla="*/ 0 h 75"/>
                  <a:gd name="T20" fmla="*/ 1 w 313"/>
                  <a:gd name="T21" fmla="*/ 0 h 75"/>
                  <a:gd name="T22" fmla="*/ 1 w 313"/>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3"/>
                  <a:gd name="T37" fmla="*/ 0 h 75"/>
                  <a:gd name="T38" fmla="*/ 313 w 313"/>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3" h="75">
                    <a:moveTo>
                      <a:pt x="22" y="64"/>
                    </a:moveTo>
                    <a:lnTo>
                      <a:pt x="12" y="75"/>
                    </a:lnTo>
                    <a:lnTo>
                      <a:pt x="313" y="22"/>
                    </a:lnTo>
                    <a:lnTo>
                      <a:pt x="310" y="0"/>
                    </a:lnTo>
                    <a:lnTo>
                      <a:pt x="9" y="53"/>
                    </a:lnTo>
                    <a:lnTo>
                      <a:pt x="0" y="64"/>
                    </a:lnTo>
                    <a:lnTo>
                      <a:pt x="9" y="53"/>
                    </a:lnTo>
                    <a:lnTo>
                      <a:pt x="1" y="58"/>
                    </a:lnTo>
                    <a:lnTo>
                      <a:pt x="0" y="65"/>
                    </a:lnTo>
                    <a:lnTo>
                      <a:pt x="5" y="72"/>
                    </a:lnTo>
                    <a:lnTo>
                      <a:pt x="12" y="75"/>
                    </a:lnTo>
                    <a:lnTo>
                      <a:pt x="22" y="64"/>
                    </a:lnTo>
                    <a:close/>
                  </a:path>
                </a:pathLst>
              </a:custGeom>
              <a:solidFill>
                <a:srgbClr val="000000"/>
              </a:solidFill>
              <a:ln w="9525">
                <a:noFill/>
                <a:round/>
                <a:headEnd/>
                <a:tailEnd/>
              </a:ln>
            </p:spPr>
            <p:txBody>
              <a:bodyPr/>
              <a:lstStyle/>
              <a:p>
                <a:endParaRPr lang="en-US"/>
              </a:p>
            </p:txBody>
          </p:sp>
          <p:sp>
            <p:nvSpPr>
              <p:cNvPr id="25667" name="Freeform 30"/>
              <p:cNvSpPr>
                <a:spLocks/>
              </p:cNvSpPr>
              <p:nvPr/>
            </p:nvSpPr>
            <p:spPr bwMode="auto">
              <a:xfrm>
                <a:off x="1840" y="3694"/>
                <a:ext cx="123" cy="254"/>
              </a:xfrm>
              <a:custGeom>
                <a:avLst/>
                <a:gdLst>
                  <a:gd name="T0" fmla="*/ 1 w 245"/>
                  <a:gd name="T1" fmla="*/ 0 h 508"/>
                  <a:gd name="T2" fmla="*/ 1 w 245"/>
                  <a:gd name="T3" fmla="*/ 1 h 508"/>
                  <a:gd name="T4" fmla="*/ 0 w 245"/>
                  <a:gd name="T5" fmla="*/ 1 h 508"/>
                  <a:gd name="T6" fmla="*/ 0 w 245"/>
                  <a:gd name="T7" fmla="*/ 1 h 508"/>
                  <a:gd name="T8" fmla="*/ 1 w 245"/>
                  <a:gd name="T9" fmla="*/ 0 h 508"/>
                  <a:gd name="T10" fmla="*/ 0 60000 65536"/>
                  <a:gd name="T11" fmla="*/ 0 60000 65536"/>
                  <a:gd name="T12" fmla="*/ 0 60000 65536"/>
                  <a:gd name="T13" fmla="*/ 0 60000 65536"/>
                  <a:gd name="T14" fmla="*/ 0 60000 65536"/>
                  <a:gd name="T15" fmla="*/ 0 w 245"/>
                  <a:gd name="T16" fmla="*/ 0 h 508"/>
                  <a:gd name="T17" fmla="*/ 245 w 245"/>
                  <a:gd name="T18" fmla="*/ 508 h 508"/>
                </a:gdLst>
                <a:ahLst/>
                <a:cxnLst>
                  <a:cxn ang="T10">
                    <a:pos x="T0" y="T1"/>
                  </a:cxn>
                  <a:cxn ang="T11">
                    <a:pos x="T2" y="T3"/>
                  </a:cxn>
                  <a:cxn ang="T12">
                    <a:pos x="T4" y="T5"/>
                  </a:cxn>
                  <a:cxn ang="T13">
                    <a:pos x="T6" y="T7"/>
                  </a:cxn>
                  <a:cxn ang="T14">
                    <a:pos x="T8" y="T9"/>
                  </a:cxn>
                </a:cxnLst>
                <a:rect l="T15" t="T16" r="T17" b="T18"/>
                <a:pathLst>
                  <a:path w="245" h="508">
                    <a:moveTo>
                      <a:pt x="245" y="0"/>
                    </a:moveTo>
                    <a:lnTo>
                      <a:pt x="245" y="366"/>
                    </a:lnTo>
                    <a:lnTo>
                      <a:pt x="0" y="508"/>
                    </a:lnTo>
                    <a:lnTo>
                      <a:pt x="0" y="143"/>
                    </a:lnTo>
                    <a:lnTo>
                      <a:pt x="245" y="0"/>
                    </a:lnTo>
                    <a:close/>
                  </a:path>
                </a:pathLst>
              </a:custGeom>
              <a:solidFill>
                <a:srgbClr val="4CFF00"/>
              </a:solidFill>
              <a:ln w="9525">
                <a:noFill/>
                <a:round/>
                <a:headEnd/>
                <a:tailEnd/>
              </a:ln>
            </p:spPr>
            <p:txBody>
              <a:bodyPr/>
              <a:lstStyle/>
              <a:p>
                <a:endParaRPr lang="en-US"/>
              </a:p>
            </p:txBody>
          </p:sp>
          <p:sp>
            <p:nvSpPr>
              <p:cNvPr id="25668" name="Freeform 31"/>
              <p:cNvSpPr>
                <a:spLocks/>
              </p:cNvSpPr>
              <p:nvPr/>
            </p:nvSpPr>
            <p:spPr bwMode="auto">
              <a:xfrm>
                <a:off x="1957" y="3694"/>
                <a:ext cx="11" cy="188"/>
              </a:xfrm>
              <a:custGeom>
                <a:avLst/>
                <a:gdLst>
                  <a:gd name="T0" fmla="*/ 1 w 22"/>
                  <a:gd name="T1" fmla="*/ 0 h 377"/>
                  <a:gd name="T2" fmla="*/ 1 w 22"/>
                  <a:gd name="T3" fmla="*/ 0 h 377"/>
                  <a:gd name="T4" fmla="*/ 1 w 22"/>
                  <a:gd name="T5" fmla="*/ 0 h 377"/>
                  <a:gd name="T6" fmla="*/ 0 w 22"/>
                  <a:gd name="T7" fmla="*/ 0 h 377"/>
                  <a:gd name="T8" fmla="*/ 0 w 22"/>
                  <a:gd name="T9" fmla="*/ 0 h 377"/>
                  <a:gd name="T10" fmla="*/ 1 w 22"/>
                  <a:gd name="T11" fmla="*/ 0 h 377"/>
                  <a:gd name="T12" fmla="*/ 0 w 22"/>
                  <a:gd name="T13" fmla="*/ 0 h 377"/>
                  <a:gd name="T14" fmla="*/ 1 w 22"/>
                  <a:gd name="T15" fmla="*/ 0 h 377"/>
                  <a:gd name="T16" fmla="*/ 1 w 22"/>
                  <a:gd name="T17" fmla="*/ 0 h 377"/>
                  <a:gd name="T18" fmla="*/ 1 w 22"/>
                  <a:gd name="T19" fmla="*/ 0 h 377"/>
                  <a:gd name="T20" fmla="*/ 1 w 22"/>
                  <a:gd name="T21" fmla="*/ 0 h 377"/>
                  <a:gd name="T22" fmla="*/ 1 w 22"/>
                  <a:gd name="T23" fmla="*/ 0 h 3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7"/>
                  <a:gd name="T38" fmla="*/ 22 w 22"/>
                  <a:gd name="T39" fmla="*/ 377 h 3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7">
                    <a:moveTo>
                      <a:pt x="16" y="375"/>
                    </a:moveTo>
                    <a:lnTo>
                      <a:pt x="22" y="366"/>
                    </a:lnTo>
                    <a:lnTo>
                      <a:pt x="22" y="0"/>
                    </a:lnTo>
                    <a:lnTo>
                      <a:pt x="0" y="0"/>
                    </a:lnTo>
                    <a:lnTo>
                      <a:pt x="0" y="366"/>
                    </a:lnTo>
                    <a:lnTo>
                      <a:pt x="7" y="356"/>
                    </a:lnTo>
                    <a:lnTo>
                      <a:pt x="0" y="366"/>
                    </a:lnTo>
                    <a:lnTo>
                      <a:pt x="4" y="373"/>
                    </a:lnTo>
                    <a:lnTo>
                      <a:pt x="11" y="377"/>
                    </a:lnTo>
                    <a:lnTo>
                      <a:pt x="19" y="373"/>
                    </a:lnTo>
                    <a:lnTo>
                      <a:pt x="22" y="366"/>
                    </a:lnTo>
                    <a:lnTo>
                      <a:pt x="16" y="375"/>
                    </a:lnTo>
                    <a:close/>
                  </a:path>
                </a:pathLst>
              </a:custGeom>
              <a:solidFill>
                <a:srgbClr val="000000"/>
              </a:solidFill>
              <a:ln w="9525">
                <a:noFill/>
                <a:round/>
                <a:headEnd/>
                <a:tailEnd/>
              </a:ln>
            </p:spPr>
            <p:txBody>
              <a:bodyPr/>
              <a:lstStyle/>
              <a:p>
                <a:endParaRPr lang="en-US"/>
              </a:p>
            </p:txBody>
          </p:sp>
          <p:sp>
            <p:nvSpPr>
              <p:cNvPr id="25669" name="Freeform 32"/>
              <p:cNvSpPr>
                <a:spLocks/>
              </p:cNvSpPr>
              <p:nvPr/>
            </p:nvSpPr>
            <p:spPr bwMode="auto">
              <a:xfrm>
                <a:off x="1834" y="3872"/>
                <a:ext cx="131" cy="81"/>
              </a:xfrm>
              <a:custGeom>
                <a:avLst/>
                <a:gdLst>
                  <a:gd name="T0" fmla="*/ 0 w 261"/>
                  <a:gd name="T1" fmla="*/ 1 h 161"/>
                  <a:gd name="T2" fmla="*/ 1 w 261"/>
                  <a:gd name="T3" fmla="*/ 1 h 161"/>
                  <a:gd name="T4" fmla="*/ 1 w 261"/>
                  <a:gd name="T5" fmla="*/ 1 h 161"/>
                  <a:gd name="T6" fmla="*/ 1 w 261"/>
                  <a:gd name="T7" fmla="*/ 0 h 161"/>
                  <a:gd name="T8" fmla="*/ 1 w 261"/>
                  <a:gd name="T9" fmla="*/ 1 h 161"/>
                  <a:gd name="T10" fmla="*/ 1 w 261"/>
                  <a:gd name="T11" fmla="*/ 1 h 161"/>
                  <a:gd name="T12" fmla="*/ 1 w 261"/>
                  <a:gd name="T13" fmla="*/ 1 h 161"/>
                  <a:gd name="T14" fmla="*/ 0 w 261"/>
                  <a:gd name="T15" fmla="*/ 1 h 161"/>
                  <a:gd name="T16" fmla="*/ 1 w 261"/>
                  <a:gd name="T17" fmla="*/ 1 h 161"/>
                  <a:gd name="T18" fmla="*/ 1 w 261"/>
                  <a:gd name="T19" fmla="*/ 1 h 161"/>
                  <a:gd name="T20" fmla="*/ 1 w 261"/>
                  <a:gd name="T21" fmla="*/ 1 h 161"/>
                  <a:gd name="T22" fmla="*/ 0 w 261"/>
                  <a:gd name="T23" fmla="*/ 1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1"/>
                  <a:gd name="T37" fmla="*/ 0 h 161"/>
                  <a:gd name="T38" fmla="*/ 261 w 261"/>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1" h="161">
                    <a:moveTo>
                      <a:pt x="0" y="152"/>
                    </a:moveTo>
                    <a:lnTo>
                      <a:pt x="15" y="161"/>
                    </a:lnTo>
                    <a:lnTo>
                      <a:pt x="261" y="19"/>
                    </a:lnTo>
                    <a:lnTo>
                      <a:pt x="252" y="0"/>
                    </a:lnTo>
                    <a:lnTo>
                      <a:pt x="6" y="143"/>
                    </a:lnTo>
                    <a:lnTo>
                      <a:pt x="21" y="152"/>
                    </a:lnTo>
                    <a:lnTo>
                      <a:pt x="6" y="143"/>
                    </a:lnTo>
                    <a:lnTo>
                      <a:pt x="0" y="149"/>
                    </a:lnTo>
                    <a:lnTo>
                      <a:pt x="1" y="157"/>
                    </a:lnTo>
                    <a:lnTo>
                      <a:pt x="7" y="161"/>
                    </a:lnTo>
                    <a:lnTo>
                      <a:pt x="15" y="161"/>
                    </a:lnTo>
                    <a:lnTo>
                      <a:pt x="0" y="152"/>
                    </a:lnTo>
                    <a:close/>
                  </a:path>
                </a:pathLst>
              </a:custGeom>
              <a:solidFill>
                <a:srgbClr val="000000"/>
              </a:solidFill>
              <a:ln w="9525">
                <a:noFill/>
                <a:round/>
                <a:headEnd/>
                <a:tailEnd/>
              </a:ln>
            </p:spPr>
            <p:txBody>
              <a:bodyPr/>
              <a:lstStyle/>
              <a:p>
                <a:endParaRPr lang="en-US"/>
              </a:p>
            </p:txBody>
          </p:sp>
          <p:sp>
            <p:nvSpPr>
              <p:cNvPr id="25670" name="Freeform 33"/>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4" y="1"/>
                    </a:moveTo>
                    <a:lnTo>
                      <a:pt x="0" y="10"/>
                    </a:lnTo>
                    <a:lnTo>
                      <a:pt x="0" y="375"/>
                    </a:lnTo>
                    <a:lnTo>
                      <a:pt x="21" y="375"/>
                    </a:lnTo>
                    <a:lnTo>
                      <a:pt x="21" y="10"/>
                    </a:lnTo>
                    <a:lnTo>
                      <a:pt x="17" y="20"/>
                    </a:lnTo>
                    <a:lnTo>
                      <a:pt x="21" y="10"/>
                    </a:lnTo>
                    <a:lnTo>
                      <a:pt x="18" y="3"/>
                    </a:lnTo>
                    <a:lnTo>
                      <a:pt x="11" y="0"/>
                    </a:lnTo>
                    <a:lnTo>
                      <a:pt x="3" y="3"/>
                    </a:lnTo>
                    <a:lnTo>
                      <a:pt x="0" y="10"/>
                    </a:lnTo>
                    <a:lnTo>
                      <a:pt x="4" y="1"/>
                    </a:lnTo>
                    <a:close/>
                  </a:path>
                </a:pathLst>
              </a:custGeom>
              <a:solidFill>
                <a:srgbClr val="000000"/>
              </a:solidFill>
              <a:ln w="9525">
                <a:noFill/>
                <a:round/>
                <a:headEnd/>
                <a:tailEnd/>
              </a:ln>
            </p:spPr>
            <p:txBody>
              <a:bodyPr/>
              <a:lstStyle/>
              <a:p>
                <a:endParaRPr lang="en-US"/>
              </a:p>
            </p:txBody>
          </p:sp>
          <p:sp>
            <p:nvSpPr>
              <p:cNvPr id="25671" name="Freeform 34"/>
              <p:cNvSpPr>
                <a:spLocks/>
              </p:cNvSpPr>
              <p:nvPr/>
            </p:nvSpPr>
            <p:spPr bwMode="auto">
              <a:xfrm>
                <a:off x="1837" y="3688"/>
                <a:ext cx="131" cy="82"/>
              </a:xfrm>
              <a:custGeom>
                <a:avLst/>
                <a:gdLst>
                  <a:gd name="T0" fmla="*/ 0 w 263"/>
                  <a:gd name="T1" fmla="*/ 1 h 164"/>
                  <a:gd name="T2" fmla="*/ 0 w 263"/>
                  <a:gd name="T3" fmla="*/ 1 h 164"/>
                  <a:gd name="T4" fmla="*/ 0 w 263"/>
                  <a:gd name="T5" fmla="*/ 1 h 164"/>
                  <a:gd name="T6" fmla="*/ 0 w 263"/>
                  <a:gd name="T7" fmla="*/ 1 h 164"/>
                  <a:gd name="T8" fmla="*/ 0 w 263"/>
                  <a:gd name="T9" fmla="*/ 1 h 164"/>
                  <a:gd name="T10" fmla="*/ 0 w 263"/>
                  <a:gd name="T11" fmla="*/ 1 h 164"/>
                  <a:gd name="T12" fmla="*/ 0 w 263"/>
                  <a:gd name="T13" fmla="*/ 1 h 164"/>
                  <a:gd name="T14" fmla="*/ 0 w 263"/>
                  <a:gd name="T15" fmla="*/ 1 h 164"/>
                  <a:gd name="T16" fmla="*/ 0 w 263"/>
                  <a:gd name="T17" fmla="*/ 1 h 164"/>
                  <a:gd name="T18" fmla="*/ 0 w 263"/>
                  <a:gd name="T19" fmla="*/ 0 h 164"/>
                  <a:gd name="T20" fmla="*/ 0 w 263"/>
                  <a:gd name="T21" fmla="*/ 1 h 164"/>
                  <a:gd name="T22" fmla="*/ 0 w 263"/>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4"/>
                  <a:gd name="T38" fmla="*/ 263 w 263"/>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4">
                    <a:moveTo>
                      <a:pt x="263" y="11"/>
                    </a:moveTo>
                    <a:lnTo>
                      <a:pt x="246" y="1"/>
                    </a:lnTo>
                    <a:lnTo>
                      <a:pt x="0" y="145"/>
                    </a:lnTo>
                    <a:lnTo>
                      <a:pt x="13" y="164"/>
                    </a:lnTo>
                    <a:lnTo>
                      <a:pt x="259" y="20"/>
                    </a:lnTo>
                    <a:lnTo>
                      <a:pt x="241" y="11"/>
                    </a:lnTo>
                    <a:lnTo>
                      <a:pt x="259" y="20"/>
                    </a:lnTo>
                    <a:lnTo>
                      <a:pt x="263" y="12"/>
                    </a:lnTo>
                    <a:lnTo>
                      <a:pt x="262" y="4"/>
                    </a:lnTo>
                    <a:lnTo>
                      <a:pt x="255" y="0"/>
                    </a:lnTo>
                    <a:lnTo>
                      <a:pt x="246" y="1"/>
                    </a:lnTo>
                    <a:lnTo>
                      <a:pt x="263" y="11"/>
                    </a:lnTo>
                    <a:close/>
                  </a:path>
                </a:pathLst>
              </a:custGeom>
              <a:solidFill>
                <a:srgbClr val="000000"/>
              </a:solidFill>
              <a:ln w="9525">
                <a:noFill/>
                <a:round/>
                <a:headEnd/>
                <a:tailEnd/>
              </a:ln>
            </p:spPr>
            <p:txBody>
              <a:bodyPr/>
              <a:lstStyle/>
              <a:p>
                <a:endParaRPr lang="en-US"/>
              </a:p>
            </p:txBody>
          </p:sp>
          <p:sp>
            <p:nvSpPr>
              <p:cNvPr id="25672" name="Freeform 35"/>
              <p:cNvSpPr>
                <a:spLocks/>
              </p:cNvSpPr>
              <p:nvPr/>
            </p:nvSpPr>
            <p:spPr bwMode="auto">
              <a:xfrm>
                <a:off x="2169" y="3499"/>
                <a:ext cx="125" cy="253"/>
              </a:xfrm>
              <a:custGeom>
                <a:avLst/>
                <a:gdLst>
                  <a:gd name="T0" fmla="*/ 1 w 249"/>
                  <a:gd name="T1" fmla="*/ 0 h 507"/>
                  <a:gd name="T2" fmla="*/ 1 w 249"/>
                  <a:gd name="T3" fmla="*/ 0 h 507"/>
                  <a:gd name="T4" fmla="*/ 0 w 249"/>
                  <a:gd name="T5" fmla="*/ 0 h 507"/>
                  <a:gd name="T6" fmla="*/ 0 w 249"/>
                  <a:gd name="T7" fmla="*/ 0 h 507"/>
                  <a:gd name="T8" fmla="*/ 1 w 249"/>
                  <a:gd name="T9" fmla="*/ 0 h 507"/>
                  <a:gd name="T10" fmla="*/ 0 60000 65536"/>
                  <a:gd name="T11" fmla="*/ 0 60000 65536"/>
                  <a:gd name="T12" fmla="*/ 0 60000 65536"/>
                  <a:gd name="T13" fmla="*/ 0 60000 65536"/>
                  <a:gd name="T14" fmla="*/ 0 60000 65536"/>
                  <a:gd name="T15" fmla="*/ 0 w 249"/>
                  <a:gd name="T16" fmla="*/ 0 h 507"/>
                  <a:gd name="T17" fmla="*/ 249 w 249"/>
                  <a:gd name="T18" fmla="*/ 507 h 507"/>
                </a:gdLst>
                <a:ahLst/>
                <a:cxnLst>
                  <a:cxn ang="T10">
                    <a:pos x="T0" y="T1"/>
                  </a:cxn>
                  <a:cxn ang="T11">
                    <a:pos x="T2" y="T3"/>
                  </a:cxn>
                  <a:cxn ang="T12">
                    <a:pos x="T4" y="T5"/>
                  </a:cxn>
                  <a:cxn ang="T13">
                    <a:pos x="T6" y="T7"/>
                  </a:cxn>
                  <a:cxn ang="T14">
                    <a:pos x="T8" y="T9"/>
                  </a:cxn>
                </a:cxnLst>
                <a:rect l="T15" t="T16" r="T17" b="T18"/>
                <a:pathLst>
                  <a:path w="249" h="507">
                    <a:moveTo>
                      <a:pt x="249" y="0"/>
                    </a:moveTo>
                    <a:lnTo>
                      <a:pt x="247" y="364"/>
                    </a:lnTo>
                    <a:lnTo>
                      <a:pt x="0" y="507"/>
                    </a:lnTo>
                    <a:lnTo>
                      <a:pt x="0" y="144"/>
                    </a:lnTo>
                    <a:lnTo>
                      <a:pt x="249" y="0"/>
                    </a:lnTo>
                    <a:close/>
                  </a:path>
                </a:pathLst>
              </a:custGeom>
              <a:solidFill>
                <a:srgbClr val="4CFF00"/>
              </a:solidFill>
              <a:ln w="9525">
                <a:noFill/>
                <a:round/>
                <a:headEnd/>
                <a:tailEnd/>
              </a:ln>
            </p:spPr>
            <p:txBody>
              <a:bodyPr/>
              <a:lstStyle/>
              <a:p>
                <a:endParaRPr lang="en-US"/>
              </a:p>
            </p:txBody>
          </p:sp>
          <p:sp>
            <p:nvSpPr>
              <p:cNvPr id="25673" name="Freeform 36"/>
              <p:cNvSpPr>
                <a:spLocks/>
              </p:cNvSpPr>
              <p:nvPr/>
            </p:nvSpPr>
            <p:spPr bwMode="auto">
              <a:xfrm>
                <a:off x="2288" y="3499"/>
                <a:ext cx="11" cy="188"/>
              </a:xfrm>
              <a:custGeom>
                <a:avLst/>
                <a:gdLst>
                  <a:gd name="T0" fmla="*/ 0 w 24"/>
                  <a:gd name="T1" fmla="*/ 1 h 375"/>
                  <a:gd name="T2" fmla="*/ 0 w 24"/>
                  <a:gd name="T3" fmla="*/ 1 h 375"/>
                  <a:gd name="T4" fmla="*/ 0 w 24"/>
                  <a:gd name="T5" fmla="*/ 0 h 375"/>
                  <a:gd name="T6" fmla="*/ 0 w 24"/>
                  <a:gd name="T7" fmla="*/ 0 h 375"/>
                  <a:gd name="T8" fmla="*/ 0 w 24"/>
                  <a:gd name="T9" fmla="*/ 1 h 375"/>
                  <a:gd name="T10" fmla="*/ 0 w 24"/>
                  <a:gd name="T11" fmla="*/ 1 h 375"/>
                  <a:gd name="T12" fmla="*/ 0 w 24"/>
                  <a:gd name="T13" fmla="*/ 1 h 375"/>
                  <a:gd name="T14" fmla="*/ 0 w 24"/>
                  <a:gd name="T15" fmla="*/ 1 h 375"/>
                  <a:gd name="T16" fmla="*/ 0 w 24"/>
                  <a:gd name="T17" fmla="*/ 1 h 375"/>
                  <a:gd name="T18" fmla="*/ 0 w 24"/>
                  <a:gd name="T19" fmla="*/ 1 h 375"/>
                  <a:gd name="T20" fmla="*/ 0 w 24"/>
                  <a:gd name="T21" fmla="*/ 1 h 375"/>
                  <a:gd name="T22" fmla="*/ 0 w 24"/>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75"/>
                  <a:gd name="T38" fmla="*/ 24 w 24"/>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75">
                    <a:moveTo>
                      <a:pt x="16" y="374"/>
                    </a:moveTo>
                    <a:lnTo>
                      <a:pt x="22" y="364"/>
                    </a:lnTo>
                    <a:lnTo>
                      <a:pt x="24" y="0"/>
                    </a:lnTo>
                    <a:lnTo>
                      <a:pt x="2" y="0"/>
                    </a:lnTo>
                    <a:lnTo>
                      <a:pt x="0" y="364"/>
                    </a:lnTo>
                    <a:lnTo>
                      <a:pt x="6" y="355"/>
                    </a:lnTo>
                    <a:lnTo>
                      <a:pt x="0" y="364"/>
                    </a:lnTo>
                    <a:lnTo>
                      <a:pt x="3" y="372"/>
                    </a:lnTo>
                    <a:lnTo>
                      <a:pt x="11" y="375"/>
                    </a:lnTo>
                    <a:lnTo>
                      <a:pt x="19" y="372"/>
                    </a:lnTo>
                    <a:lnTo>
                      <a:pt x="22" y="364"/>
                    </a:lnTo>
                    <a:lnTo>
                      <a:pt x="16" y="374"/>
                    </a:lnTo>
                    <a:close/>
                  </a:path>
                </a:pathLst>
              </a:custGeom>
              <a:solidFill>
                <a:srgbClr val="000000"/>
              </a:solidFill>
              <a:ln w="9525">
                <a:noFill/>
                <a:round/>
                <a:headEnd/>
                <a:tailEnd/>
              </a:ln>
            </p:spPr>
            <p:txBody>
              <a:bodyPr/>
              <a:lstStyle/>
              <a:p>
                <a:endParaRPr lang="en-US"/>
              </a:p>
            </p:txBody>
          </p:sp>
          <p:sp>
            <p:nvSpPr>
              <p:cNvPr id="25674" name="Freeform 37"/>
              <p:cNvSpPr>
                <a:spLocks/>
              </p:cNvSpPr>
              <p:nvPr/>
            </p:nvSpPr>
            <p:spPr bwMode="auto">
              <a:xfrm>
                <a:off x="2164" y="3677"/>
                <a:ext cx="131" cy="80"/>
              </a:xfrm>
              <a:custGeom>
                <a:avLst/>
                <a:gdLst>
                  <a:gd name="T0" fmla="*/ 0 w 263"/>
                  <a:gd name="T1" fmla="*/ 0 h 161"/>
                  <a:gd name="T2" fmla="*/ 0 w 263"/>
                  <a:gd name="T3" fmla="*/ 0 h 161"/>
                  <a:gd name="T4" fmla="*/ 0 w 263"/>
                  <a:gd name="T5" fmla="*/ 0 h 161"/>
                  <a:gd name="T6" fmla="*/ 0 w 263"/>
                  <a:gd name="T7" fmla="*/ 0 h 161"/>
                  <a:gd name="T8" fmla="*/ 0 w 263"/>
                  <a:gd name="T9" fmla="*/ 0 h 161"/>
                  <a:gd name="T10" fmla="*/ 0 w 263"/>
                  <a:gd name="T11" fmla="*/ 0 h 161"/>
                  <a:gd name="T12" fmla="*/ 0 w 263"/>
                  <a:gd name="T13" fmla="*/ 0 h 161"/>
                  <a:gd name="T14" fmla="*/ 0 w 263"/>
                  <a:gd name="T15" fmla="*/ 0 h 161"/>
                  <a:gd name="T16" fmla="*/ 0 w 263"/>
                  <a:gd name="T17" fmla="*/ 0 h 161"/>
                  <a:gd name="T18" fmla="*/ 0 w 263"/>
                  <a:gd name="T19" fmla="*/ 0 h 161"/>
                  <a:gd name="T20" fmla="*/ 0 w 263"/>
                  <a:gd name="T21" fmla="*/ 0 h 161"/>
                  <a:gd name="T22" fmla="*/ 0 w 263"/>
                  <a:gd name="T23" fmla="*/ 0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1"/>
                  <a:gd name="T38" fmla="*/ 263 w 263"/>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1">
                    <a:moveTo>
                      <a:pt x="0" y="152"/>
                    </a:moveTo>
                    <a:lnTo>
                      <a:pt x="15" y="161"/>
                    </a:lnTo>
                    <a:lnTo>
                      <a:pt x="263" y="19"/>
                    </a:lnTo>
                    <a:lnTo>
                      <a:pt x="253" y="0"/>
                    </a:lnTo>
                    <a:lnTo>
                      <a:pt x="6" y="142"/>
                    </a:lnTo>
                    <a:lnTo>
                      <a:pt x="22" y="152"/>
                    </a:lnTo>
                    <a:lnTo>
                      <a:pt x="6" y="142"/>
                    </a:lnTo>
                    <a:lnTo>
                      <a:pt x="0" y="149"/>
                    </a:lnTo>
                    <a:lnTo>
                      <a:pt x="1" y="157"/>
                    </a:lnTo>
                    <a:lnTo>
                      <a:pt x="8" y="161"/>
                    </a:lnTo>
                    <a:lnTo>
                      <a:pt x="15" y="161"/>
                    </a:lnTo>
                    <a:lnTo>
                      <a:pt x="0" y="152"/>
                    </a:lnTo>
                    <a:close/>
                  </a:path>
                </a:pathLst>
              </a:custGeom>
              <a:solidFill>
                <a:srgbClr val="000000"/>
              </a:solidFill>
              <a:ln w="9525">
                <a:noFill/>
                <a:round/>
                <a:headEnd/>
                <a:tailEnd/>
              </a:ln>
            </p:spPr>
            <p:txBody>
              <a:bodyPr/>
              <a:lstStyle/>
              <a:p>
                <a:endParaRPr lang="en-US"/>
              </a:p>
            </p:txBody>
          </p:sp>
          <p:sp>
            <p:nvSpPr>
              <p:cNvPr id="25675" name="Freeform 38"/>
              <p:cNvSpPr>
                <a:spLocks/>
              </p:cNvSpPr>
              <p:nvPr/>
            </p:nvSpPr>
            <p:spPr bwMode="auto">
              <a:xfrm>
                <a:off x="2164" y="3565"/>
                <a:ext cx="11" cy="187"/>
              </a:xfrm>
              <a:custGeom>
                <a:avLst/>
                <a:gdLst>
                  <a:gd name="T0" fmla="*/ 1 w 22"/>
                  <a:gd name="T1" fmla="*/ 1 h 374"/>
                  <a:gd name="T2" fmla="*/ 0 w 22"/>
                  <a:gd name="T3" fmla="*/ 1 h 374"/>
                  <a:gd name="T4" fmla="*/ 0 w 22"/>
                  <a:gd name="T5" fmla="*/ 1 h 374"/>
                  <a:gd name="T6" fmla="*/ 1 w 22"/>
                  <a:gd name="T7" fmla="*/ 1 h 374"/>
                  <a:gd name="T8" fmla="*/ 1 w 22"/>
                  <a:gd name="T9" fmla="*/ 1 h 374"/>
                  <a:gd name="T10" fmla="*/ 1 w 22"/>
                  <a:gd name="T11" fmla="*/ 1 h 374"/>
                  <a:gd name="T12" fmla="*/ 1 w 22"/>
                  <a:gd name="T13" fmla="*/ 1 h 374"/>
                  <a:gd name="T14" fmla="*/ 1 w 22"/>
                  <a:gd name="T15" fmla="*/ 1 h 374"/>
                  <a:gd name="T16" fmla="*/ 1 w 22"/>
                  <a:gd name="T17" fmla="*/ 0 h 374"/>
                  <a:gd name="T18" fmla="*/ 1 w 22"/>
                  <a:gd name="T19" fmla="*/ 1 h 374"/>
                  <a:gd name="T20" fmla="*/ 0 w 22"/>
                  <a:gd name="T21" fmla="*/ 1 h 374"/>
                  <a:gd name="T22" fmla="*/ 1 w 22"/>
                  <a:gd name="T23" fmla="*/ 1 h 37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4"/>
                  <a:gd name="T38" fmla="*/ 22 w 22"/>
                  <a:gd name="T39" fmla="*/ 374 h 37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4">
                    <a:moveTo>
                      <a:pt x="4" y="1"/>
                    </a:moveTo>
                    <a:lnTo>
                      <a:pt x="0" y="11"/>
                    </a:lnTo>
                    <a:lnTo>
                      <a:pt x="0" y="374"/>
                    </a:lnTo>
                    <a:lnTo>
                      <a:pt x="22" y="374"/>
                    </a:lnTo>
                    <a:lnTo>
                      <a:pt x="22" y="11"/>
                    </a:lnTo>
                    <a:lnTo>
                      <a:pt x="17" y="20"/>
                    </a:lnTo>
                    <a:lnTo>
                      <a:pt x="22" y="11"/>
                    </a:lnTo>
                    <a:lnTo>
                      <a:pt x="19" y="3"/>
                    </a:lnTo>
                    <a:lnTo>
                      <a:pt x="11" y="0"/>
                    </a:lnTo>
                    <a:lnTo>
                      <a:pt x="3" y="3"/>
                    </a:lnTo>
                    <a:lnTo>
                      <a:pt x="0" y="11"/>
                    </a:lnTo>
                    <a:lnTo>
                      <a:pt x="4" y="1"/>
                    </a:lnTo>
                    <a:close/>
                  </a:path>
                </a:pathLst>
              </a:custGeom>
              <a:solidFill>
                <a:srgbClr val="000000"/>
              </a:solidFill>
              <a:ln w="9525">
                <a:noFill/>
                <a:round/>
                <a:headEnd/>
                <a:tailEnd/>
              </a:ln>
            </p:spPr>
            <p:txBody>
              <a:bodyPr/>
              <a:lstStyle/>
              <a:p>
                <a:endParaRPr lang="en-US"/>
              </a:p>
            </p:txBody>
          </p:sp>
          <p:sp>
            <p:nvSpPr>
              <p:cNvPr id="25676" name="Freeform 39"/>
              <p:cNvSpPr>
                <a:spLocks/>
              </p:cNvSpPr>
              <p:nvPr/>
            </p:nvSpPr>
            <p:spPr bwMode="auto">
              <a:xfrm>
                <a:off x="2166" y="3493"/>
                <a:ext cx="133" cy="83"/>
              </a:xfrm>
              <a:custGeom>
                <a:avLst/>
                <a:gdLst>
                  <a:gd name="T0" fmla="*/ 0 w 267"/>
                  <a:gd name="T1" fmla="*/ 1 h 164"/>
                  <a:gd name="T2" fmla="*/ 0 w 267"/>
                  <a:gd name="T3" fmla="*/ 1 h 164"/>
                  <a:gd name="T4" fmla="*/ 0 w 267"/>
                  <a:gd name="T5" fmla="*/ 1 h 164"/>
                  <a:gd name="T6" fmla="*/ 0 w 267"/>
                  <a:gd name="T7" fmla="*/ 1 h 164"/>
                  <a:gd name="T8" fmla="*/ 0 w 267"/>
                  <a:gd name="T9" fmla="*/ 1 h 164"/>
                  <a:gd name="T10" fmla="*/ 0 w 267"/>
                  <a:gd name="T11" fmla="*/ 1 h 164"/>
                  <a:gd name="T12" fmla="*/ 0 w 267"/>
                  <a:gd name="T13" fmla="*/ 1 h 164"/>
                  <a:gd name="T14" fmla="*/ 0 w 267"/>
                  <a:gd name="T15" fmla="*/ 1 h 164"/>
                  <a:gd name="T16" fmla="*/ 0 w 267"/>
                  <a:gd name="T17" fmla="*/ 1 h 164"/>
                  <a:gd name="T18" fmla="*/ 0 w 267"/>
                  <a:gd name="T19" fmla="*/ 0 h 164"/>
                  <a:gd name="T20" fmla="*/ 0 w 267"/>
                  <a:gd name="T21" fmla="*/ 1 h 164"/>
                  <a:gd name="T22" fmla="*/ 0 w 267"/>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7"/>
                  <a:gd name="T37" fmla="*/ 0 h 164"/>
                  <a:gd name="T38" fmla="*/ 267 w 267"/>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7" h="164">
                    <a:moveTo>
                      <a:pt x="267" y="11"/>
                    </a:moveTo>
                    <a:lnTo>
                      <a:pt x="249" y="2"/>
                    </a:lnTo>
                    <a:lnTo>
                      <a:pt x="0" y="145"/>
                    </a:lnTo>
                    <a:lnTo>
                      <a:pt x="13" y="164"/>
                    </a:lnTo>
                    <a:lnTo>
                      <a:pt x="262" y="20"/>
                    </a:lnTo>
                    <a:lnTo>
                      <a:pt x="245" y="11"/>
                    </a:lnTo>
                    <a:lnTo>
                      <a:pt x="262" y="20"/>
                    </a:lnTo>
                    <a:lnTo>
                      <a:pt x="267" y="12"/>
                    </a:lnTo>
                    <a:lnTo>
                      <a:pt x="265" y="5"/>
                    </a:lnTo>
                    <a:lnTo>
                      <a:pt x="259" y="0"/>
                    </a:lnTo>
                    <a:lnTo>
                      <a:pt x="249" y="2"/>
                    </a:lnTo>
                    <a:lnTo>
                      <a:pt x="267" y="11"/>
                    </a:lnTo>
                    <a:close/>
                  </a:path>
                </a:pathLst>
              </a:custGeom>
              <a:solidFill>
                <a:srgbClr val="000000"/>
              </a:solidFill>
              <a:ln w="9525">
                <a:noFill/>
                <a:round/>
                <a:headEnd/>
                <a:tailEnd/>
              </a:ln>
            </p:spPr>
            <p:txBody>
              <a:bodyPr/>
              <a:lstStyle/>
              <a:p>
                <a:endParaRPr lang="en-US"/>
              </a:p>
            </p:txBody>
          </p:sp>
          <p:sp>
            <p:nvSpPr>
              <p:cNvPr id="25677" name="Freeform 40"/>
              <p:cNvSpPr>
                <a:spLocks/>
              </p:cNvSpPr>
              <p:nvPr/>
            </p:nvSpPr>
            <p:spPr bwMode="auto">
              <a:xfrm>
                <a:off x="1536" y="3312"/>
                <a:ext cx="768" cy="440"/>
              </a:xfrm>
              <a:custGeom>
                <a:avLst/>
                <a:gdLst>
                  <a:gd name="T0" fmla="*/ 0 w 1536"/>
                  <a:gd name="T1" fmla="*/ 1 h 879"/>
                  <a:gd name="T2" fmla="*/ 1 w 1536"/>
                  <a:gd name="T3" fmla="*/ 0 h 879"/>
                  <a:gd name="T4" fmla="*/ 1 w 1536"/>
                  <a:gd name="T5" fmla="*/ 1 h 879"/>
                  <a:gd name="T6" fmla="*/ 1 w 1536"/>
                  <a:gd name="T7" fmla="*/ 1 h 879"/>
                  <a:gd name="T8" fmla="*/ 0 w 1536"/>
                  <a:gd name="T9" fmla="*/ 1 h 879"/>
                  <a:gd name="T10" fmla="*/ 0 60000 65536"/>
                  <a:gd name="T11" fmla="*/ 0 60000 65536"/>
                  <a:gd name="T12" fmla="*/ 0 60000 65536"/>
                  <a:gd name="T13" fmla="*/ 0 60000 65536"/>
                  <a:gd name="T14" fmla="*/ 0 60000 65536"/>
                  <a:gd name="T15" fmla="*/ 0 w 1536"/>
                  <a:gd name="T16" fmla="*/ 0 h 879"/>
                  <a:gd name="T17" fmla="*/ 1536 w 1536"/>
                  <a:gd name="T18" fmla="*/ 879 h 879"/>
                </a:gdLst>
                <a:ahLst/>
                <a:cxnLst>
                  <a:cxn ang="T10">
                    <a:pos x="T0" y="T1"/>
                  </a:cxn>
                  <a:cxn ang="T11">
                    <a:pos x="T2" y="T3"/>
                  </a:cxn>
                  <a:cxn ang="T12">
                    <a:pos x="T4" y="T5"/>
                  </a:cxn>
                  <a:cxn ang="T13">
                    <a:pos x="T6" y="T7"/>
                  </a:cxn>
                  <a:cxn ang="T14">
                    <a:pos x="T8" y="T9"/>
                  </a:cxn>
                </a:cxnLst>
                <a:rect l="T15" t="T16" r="T17" b="T18"/>
                <a:pathLst>
                  <a:path w="1536" h="879">
                    <a:moveTo>
                      <a:pt x="0" y="544"/>
                    </a:moveTo>
                    <a:lnTo>
                      <a:pt x="932" y="0"/>
                    </a:lnTo>
                    <a:lnTo>
                      <a:pt x="1536" y="335"/>
                    </a:lnTo>
                    <a:lnTo>
                      <a:pt x="608" y="879"/>
                    </a:lnTo>
                    <a:lnTo>
                      <a:pt x="0" y="544"/>
                    </a:lnTo>
                    <a:close/>
                  </a:path>
                </a:pathLst>
              </a:custGeom>
              <a:solidFill>
                <a:srgbClr val="B2FF4C"/>
              </a:solidFill>
              <a:ln w="9525">
                <a:noFill/>
                <a:round/>
                <a:headEnd/>
                <a:tailEnd/>
              </a:ln>
            </p:spPr>
            <p:txBody>
              <a:bodyPr/>
              <a:lstStyle/>
              <a:p>
                <a:endParaRPr lang="en-US"/>
              </a:p>
            </p:txBody>
          </p:sp>
          <p:sp>
            <p:nvSpPr>
              <p:cNvPr id="25678" name="Freeform 41"/>
              <p:cNvSpPr>
                <a:spLocks/>
              </p:cNvSpPr>
              <p:nvPr/>
            </p:nvSpPr>
            <p:spPr bwMode="auto">
              <a:xfrm>
                <a:off x="1533" y="3307"/>
                <a:ext cx="474" cy="282"/>
              </a:xfrm>
              <a:custGeom>
                <a:avLst/>
                <a:gdLst>
                  <a:gd name="T0" fmla="*/ 0 w 949"/>
                  <a:gd name="T1" fmla="*/ 0 h 565"/>
                  <a:gd name="T2" fmla="*/ 0 w 949"/>
                  <a:gd name="T3" fmla="*/ 0 h 565"/>
                  <a:gd name="T4" fmla="*/ 0 w 949"/>
                  <a:gd name="T5" fmla="*/ 0 h 565"/>
                  <a:gd name="T6" fmla="*/ 0 w 949"/>
                  <a:gd name="T7" fmla="*/ 0 h 565"/>
                  <a:gd name="T8" fmla="*/ 0 w 949"/>
                  <a:gd name="T9" fmla="*/ 0 h 565"/>
                  <a:gd name="T10" fmla="*/ 0 w 949"/>
                  <a:gd name="T11" fmla="*/ 0 h 565"/>
                  <a:gd name="T12" fmla="*/ 0 w 949"/>
                  <a:gd name="T13" fmla="*/ 0 h 565"/>
                  <a:gd name="T14" fmla="*/ 0 w 949"/>
                  <a:gd name="T15" fmla="*/ 0 h 565"/>
                  <a:gd name="T16" fmla="*/ 0 w 949"/>
                  <a:gd name="T17" fmla="*/ 0 h 565"/>
                  <a:gd name="T18" fmla="*/ 0 w 949"/>
                  <a:gd name="T19" fmla="*/ 0 h 565"/>
                  <a:gd name="T20" fmla="*/ 0 w 949"/>
                  <a:gd name="T21" fmla="*/ 0 h 565"/>
                  <a:gd name="T22" fmla="*/ 0 w 949"/>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9"/>
                  <a:gd name="T37" fmla="*/ 0 h 565"/>
                  <a:gd name="T38" fmla="*/ 949 w 949"/>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9" h="565">
                    <a:moveTo>
                      <a:pt x="942" y="2"/>
                    </a:moveTo>
                    <a:lnTo>
                      <a:pt x="931" y="2"/>
                    </a:lnTo>
                    <a:lnTo>
                      <a:pt x="0" y="546"/>
                    </a:lnTo>
                    <a:lnTo>
                      <a:pt x="12" y="565"/>
                    </a:lnTo>
                    <a:lnTo>
                      <a:pt x="944" y="20"/>
                    </a:lnTo>
                    <a:lnTo>
                      <a:pt x="933" y="20"/>
                    </a:lnTo>
                    <a:lnTo>
                      <a:pt x="944" y="20"/>
                    </a:lnTo>
                    <a:lnTo>
                      <a:pt x="949" y="13"/>
                    </a:lnTo>
                    <a:lnTo>
                      <a:pt x="947" y="5"/>
                    </a:lnTo>
                    <a:lnTo>
                      <a:pt x="941" y="0"/>
                    </a:lnTo>
                    <a:lnTo>
                      <a:pt x="931" y="2"/>
                    </a:lnTo>
                    <a:lnTo>
                      <a:pt x="942" y="2"/>
                    </a:lnTo>
                    <a:close/>
                  </a:path>
                </a:pathLst>
              </a:custGeom>
              <a:solidFill>
                <a:srgbClr val="000000"/>
              </a:solidFill>
              <a:ln w="9525">
                <a:noFill/>
                <a:round/>
                <a:headEnd/>
                <a:tailEnd/>
              </a:ln>
            </p:spPr>
            <p:txBody>
              <a:bodyPr/>
              <a:lstStyle/>
              <a:p>
                <a:endParaRPr lang="en-US"/>
              </a:p>
            </p:txBody>
          </p:sp>
          <p:sp>
            <p:nvSpPr>
              <p:cNvPr id="25679" name="Freeform 42"/>
              <p:cNvSpPr>
                <a:spLocks/>
              </p:cNvSpPr>
              <p:nvPr/>
            </p:nvSpPr>
            <p:spPr bwMode="auto">
              <a:xfrm>
                <a:off x="1999" y="3307"/>
                <a:ext cx="310" cy="177"/>
              </a:xfrm>
              <a:custGeom>
                <a:avLst/>
                <a:gdLst>
                  <a:gd name="T0" fmla="*/ 1 w 620"/>
                  <a:gd name="T1" fmla="*/ 1 h 353"/>
                  <a:gd name="T2" fmla="*/ 1 w 620"/>
                  <a:gd name="T3" fmla="*/ 1 h 353"/>
                  <a:gd name="T4" fmla="*/ 1 w 620"/>
                  <a:gd name="T5" fmla="*/ 0 h 353"/>
                  <a:gd name="T6" fmla="*/ 0 w 620"/>
                  <a:gd name="T7" fmla="*/ 1 h 353"/>
                  <a:gd name="T8" fmla="*/ 1 w 620"/>
                  <a:gd name="T9" fmla="*/ 1 h 353"/>
                  <a:gd name="T10" fmla="*/ 1 w 620"/>
                  <a:gd name="T11" fmla="*/ 1 h 353"/>
                  <a:gd name="T12" fmla="*/ 1 w 620"/>
                  <a:gd name="T13" fmla="*/ 1 h 353"/>
                  <a:gd name="T14" fmla="*/ 1 w 620"/>
                  <a:gd name="T15" fmla="*/ 1 h 353"/>
                  <a:gd name="T16" fmla="*/ 1 w 620"/>
                  <a:gd name="T17" fmla="*/ 1 h 353"/>
                  <a:gd name="T18" fmla="*/ 1 w 620"/>
                  <a:gd name="T19" fmla="*/ 1 h 353"/>
                  <a:gd name="T20" fmla="*/ 1 w 620"/>
                  <a:gd name="T21" fmla="*/ 1 h 353"/>
                  <a:gd name="T22" fmla="*/ 1 w 620"/>
                  <a:gd name="T23" fmla="*/ 1 h 3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0"/>
                  <a:gd name="T37" fmla="*/ 0 h 353"/>
                  <a:gd name="T38" fmla="*/ 620 w 620"/>
                  <a:gd name="T39" fmla="*/ 353 h 3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0" h="353">
                    <a:moveTo>
                      <a:pt x="615" y="353"/>
                    </a:moveTo>
                    <a:lnTo>
                      <a:pt x="614" y="334"/>
                    </a:lnTo>
                    <a:lnTo>
                      <a:pt x="9" y="0"/>
                    </a:lnTo>
                    <a:lnTo>
                      <a:pt x="0" y="18"/>
                    </a:lnTo>
                    <a:lnTo>
                      <a:pt x="604" y="353"/>
                    </a:lnTo>
                    <a:lnTo>
                      <a:pt x="603" y="334"/>
                    </a:lnTo>
                    <a:lnTo>
                      <a:pt x="604" y="353"/>
                    </a:lnTo>
                    <a:lnTo>
                      <a:pt x="612" y="353"/>
                    </a:lnTo>
                    <a:lnTo>
                      <a:pt x="618" y="349"/>
                    </a:lnTo>
                    <a:lnTo>
                      <a:pt x="620" y="341"/>
                    </a:lnTo>
                    <a:lnTo>
                      <a:pt x="614" y="334"/>
                    </a:lnTo>
                    <a:lnTo>
                      <a:pt x="615" y="353"/>
                    </a:lnTo>
                    <a:close/>
                  </a:path>
                </a:pathLst>
              </a:custGeom>
              <a:solidFill>
                <a:srgbClr val="000000"/>
              </a:solidFill>
              <a:ln w="9525">
                <a:noFill/>
                <a:round/>
                <a:headEnd/>
                <a:tailEnd/>
              </a:ln>
            </p:spPr>
            <p:txBody>
              <a:bodyPr/>
              <a:lstStyle/>
              <a:p>
                <a:endParaRPr lang="en-US"/>
              </a:p>
            </p:txBody>
          </p:sp>
          <p:sp>
            <p:nvSpPr>
              <p:cNvPr id="25680" name="Freeform 43"/>
              <p:cNvSpPr>
                <a:spLocks/>
              </p:cNvSpPr>
              <p:nvPr/>
            </p:nvSpPr>
            <p:spPr bwMode="auto">
              <a:xfrm>
                <a:off x="1834" y="3475"/>
                <a:ext cx="473" cy="282"/>
              </a:xfrm>
              <a:custGeom>
                <a:avLst/>
                <a:gdLst>
                  <a:gd name="T0" fmla="*/ 1 w 945"/>
                  <a:gd name="T1" fmla="*/ 0 h 565"/>
                  <a:gd name="T2" fmla="*/ 1 w 945"/>
                  <a:gd name="T3" fmla="*/ 0 h 565"/>
                  <a:gd name="T4" fmla="*/ 1 w 945"/>
                  <a:gd name="T5" fmla="*/ 0 h 565"/>
                  <a:gd name="T6" fmla="*/ 1 w 945"/>
                  <a:gd name="T7" fmla="*/ 0 h 565"/>
                  <a:gd name="T8" fmla="*/ 1 w 945"/>
                  <a:gd name="T9" fmla="*/ 0 h 565"/>
                  <a:gd name="T10" fmla="*/ 1 w 945"/>
                  <a:gd name="T11" fmla="*/ 0 h 565"/>
                  <a:gd name="T12" fmla="*/ 1 w 945"/>
                  <a:gd name="T13" fmla="*/ 0 h 565"/>
                  <a:gd name="T14" fmla="*/ 0 w 945"/>
                  <a:gd name="T15" fmla="*/ 0 h 565"/>
                  <a:gd name="T16" fmla="*/ 1 w 945"/>
                  <a:gd name="T17" fmla="*/ 0 h 565"/>
                  <a:gd name="T18" fmla="*/ 1 w 945"/>
                  <a:gd name="T19" fmla="*/ 0 h 565"/>
                  <a:gd name="T20" fmla="*/ 1 w 945"/>
                  <a:gd name="T21" fmla="*/ 0 h 565"/>
                  <a:gd name="T22" fmla="*/ 1 w 945"/>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5"/>
                  <a:gd name="T37" fmla="*/ 0 h 565"/>
                  <a:gd name="T38" fmla="*/ 945 w 945"/>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5" h="565">
                    <a:moveTo>
                      <a:pt x="6" y="564"/>
                    </a:moveTo>
                    <a:lnTo>
                      <a:pt x="17" y="564"/>
                    </a:lnTo>
                    <a:lnTo>
                      <a:pt x="945" y="19"/>
                    </a:lnTo>
                    <a:lnTo>
                      <a:pt x="933" y="0"/>
                    </a:lnTo>
                    <a:lnTo>
                      <a:pt x="4" y="545"/>
                    </a:lnTo>
                    <a:lnTo>
                      <a:pt x="15" y="545"/>
                    </a:lnTo>
                    <a:lnTo>
                      <a:pt x="4" y="545"/>
                    </a:lnTo>
                    <a:lnTo>
                      <a:pt x="0" y="553"/>
                    </a:lnTo>
                    <a:lnTo>
                      <a:pt x="1" y="561"/>
                    </a:lnTo>
                    <a:lnTo>
                      <a:pt x="7" y="565"/>
                    </a:lnTo>
                    <a:lnTo>
                      <a:pt x="17" y="564"/>
                    </a:lnTo>
                    <a:lnTo>
                      <a:pt x="6" y="564"/>
                    </a:lnTo>
                    <a:close/>
                  </a:path>
                </a:pathLst>
              </a:custGeom>
              <a:solidFill>
                <a:srgbClr val="000000"/>
              </a:solidFill>
              <a:ln w="9525">
                <a:noFill/>
                <a:round/>
                <a:headEnd/>
                <a:tailEnd/>
              </a:ln>
            </p:spPr>
            <p:txBody>
              <a:bodyPr/>
              <a:lstStyle/>
              <a:p>
                <a:endParaRPr lang="en-US"/>
              </a:p>
            </p:txBody>
          </p:sp>
          <p:sp>
            <p:nvSpPr>
              <p:cNvPr id="25681" name="Freeform 44"/>
              <p:cNvSpPr>
                <a:spLocks/>
              </p:cNvSpPr>
              <p:nvPr/>
            </p:nvSpPr>
            <p:spPr bwMode="auto">
              <a:xfrm>
                <a:off x="1531" y="3580"/>
                <a:ext cx="311" cy="176"/>
              </a:xfrm>
              <a:custGeom>
                <a:avLst/>
                <a:gdLst>
                  <a:gd name="T0" fmla="*/ 0 w 623"/>
                  <a:gd name="T1" fmla="*/ 0 h 354"/>
                  <a:gd name="T2" fmla="*/ 0 w 623"/>
                  <a:gd name="T3" fmla="*/ 0 h 354"/>
                  <a:gd name="T4" fmla="*/ 0 w 623"/>
                  <a:gd name="T5" fmla="*/ 0 h 354"/>
                  <a:gd name="T6" fmla="*/ 0 w 623"/>
                  <a:gd name="T7" fmla="*/ 0 h 354"/>
                  <a:gd name="T8" fmla="*/ 0 w 623"/>
                  <a:gd name="T9" fmla="*/ 0 h 354"/>
                  <a:gd name="T10" fmla="*/ 0 w 623"/>
                  <a:gd name="T11" fmla="*/ 0 h 354"/>
                  <a:gd name="T12" fmla="*/ 0 w 623"/>
                  <a:gd name="T13" fmla="*/ 0 h 354"/>
                  <a:gd name="T14" fmla="*/ 0 w 623"/>
                  <a:gd name="T15" fmla="*/ 0 h 354"/>
                  <a:gd name="T16" fmla="*/ 0 w 623"/>
                  <a:gd name="T17" fmla="*/ 0 h 354"/>
                  <a:gd name="T18" fmla="*/ 0 w 623"/>
                  <a:gd name="T19" fmla="*/ 0 h 354"/>
                  <a:gd name="T20" fmla="*/ 0 w 623"/>
                  <a:gd name="T21" fmla="*/ 0 h 354"/>
                  <a:gd name="T22" fmla="*/ 0 w 623"/>
                  <a:gd name="T23" fmla="*/ 0 h 3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3"/>
                  <a:gd name="T37" fmla="*/ 0 h 354"/>
                  <a:gd name="T38" fmla="*/ 623 w 623"/>
                  <a:gd name="T39" fmla="*/ 354 h 3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3" h="354">
                    <a:moveTo>
                      <a:pt x="5" y="0"/>
                    </a:moveTo>
                    <a:lnTo>
                      <a:pt x="6" y="19"/>
                    </a:lnTo>
                    <a:lnTo>
                      <a:pt x="614" y="354"/>
                    </a:lnTo>
                    <a:lnTo>
                      <a:pt x="623" y="335"/>
                    </a:lnTo>
                    <a:lnTo>
                      <a:pt x="16" y="0"/>
                    </a:lnTo>
                    <a:lnTo>
                      <a:pt x="17" y="19"/>
                    </a:lnTo>
                    <a:lnTo>
                      <a:pt x="16" y="0"/>
                    </a:lnTo>
                    <a:lnTo>
                      <a:pt x="8" y="0"/>
                    </a:lnTo>
                    <a:lnTo>
                      <a:pt x="2" y="5"/>
                    </a:lnTo>
                    <a:lnTo>
                      <a:pt x="0" y="13"/>
                    </a:lnTo>
                    <a:lnTo>
                      <a:pt x="6" y="19"/>
                    </a:lnTo>
                    <a:lnTo>
                      <a:pt x="5" y="0"/>
                    </a:lnTo>
                    <a:close/>
                  </a:path>
                </a:pathLst>
              </a:custGeom>
              <a:solidFill>
                <a:srgbClr val="000000"/>
              </a:solidFill>
              <a:ln w="9525">
                <a:noFill/>
                <a:round/>
                <a:headEnd/>
                <a:tailEnd/>
              </a:ln>
            </p:spPr>
            <p:txBody>
              <a:bodyPr/>
              <a:lstStyle/>
              <a:p>
                <a:endParaRPr lang="en-US"/>
              </a:p>
            </p:txBody>
          </p:sp>
          <p:sp>
            <p:nvSpPr>
              <p:cNvPr id="25682" name="Freeform 45"/>
              <p:cNvSpPr>
                <a:spLocks/>
              </p:cNvSpPr>
              <p:nvPr/>
            </p:nvSpPr>
            <p:spPr bwMode="auto">
              <a:xfrm>
                <a:off x="1555" y="3605"/>
                <a:ext cx="285" cy="343"/>
              </a:xfrm>
              <a:custGeom>
                <a:avLst/>
                <a:gdLst>
                  <a:gd name="T0" fmla="*/ 0 w 570"/>
                  <a:gd name="T1" fmla="*/ 0 h 685"/>
                  <a:gd name="T2" fmla="*/ 0 w 570"/>
                  <a:gd name="T3" fmla="*/ 1 h 685"/>
                  <a:gd name="T4" fmla="*/ 1 w 570"/>
                  <a:gd name="T5" fmla="*/ 1 h 685"/>
                  <a:gd name="T6" fmla="*/ 1 w 570"/>
                  <a:gd name="T7" fmla="*/ 1 h 685"/>
                  <a:gd name="T8" fmla="*/ 0 w 570"/>
                  <a:gd name="T9" fmla="*/ 0 h 685"/>
                  <a:gd name="T10" fmla="*/ 0 60000 65536"/>
                  <a:gd name="T11" fmla="*/ 0 60000 65536"/>
                  <a:gd name="T12" fmla="*/ 0 60000 65536"/>
                  <a:gd name="T13" fmla="*/ 0 60000 65536"/>
                  <a:gd name="T14" fmla="*/ 0 60000 65536"/>
                  <a:gd name="T15" fmla="*/ 0 w 570"/>
                  <a:gd name="T16" fmla="*/ 0 h 685"/>
                  <a:gd name="T17" fmla="*/ 570 w 570"/>
                  <a:gd name="T18" fmla="*/ 685 h 685"/>
                </a:gdLst>
                <a:ahLst/>
                <a:cxnLst>
                  <a:cxn ang="T10">
                    <a:pos x="T0" y="T1"/>
                  </a:cxn>
                  <a:cxn ang="T11">
                    <a:pos x="T2" y="T3"/>
                  </a:cxn>
                  <a:cxn ang="T12">
                    <a:pos x="T4" y="T5"/>
                  </a:cxn>
                  <a:cxn ang="T13">
                    <a:pos x="T6" y="T7"/>
                  </a:cxn>
                  <a:cxn ang="T14">
                    <a:pos x="T8" y="T9"/>
                  </a:cxn>
                </a:cxnLst>
                <a:rect l="T15" t="T16" r="T17" b="T18"/>
                <a:pathLst>
                  <a:path w="570" h="685">
                    <a:moveTo>
                      <a:pt x="0" y="0"/>
                    </a:moveTo>
                    <a:lnTo>
                      <a:pt x="0" y="364"/>
                    </a:lnTo>
                    <a:lnTo>
                      <a:pt x="570" y="685"/>
                    </a:lnTo>
                    <a:lnTo>
                      <a:pt x="570" y="320"/>
                    </a:lnTo>
                    <a:lnTo>
                      <a:pt x="0" y="0"/>
                    </a:lnTo>
                    <a:close/>
                  </a:path>
                </a:pathLst>
              </a:custGeom>
              <a:solidFill>
                <a:srgbClr val="8CFF00"/>
              </a:solidFill>
              <a:ln w="9525">
                <a:noFill/>
                <a:round/>
                <a:headEnd/>
                <a:tailEnd/>
              </a:ln>
            </p:spPr>
            <p:txBody>
              <a:bodyPr/>
              <a:lstStyle/>
              <a:p>
                <a:endParaRPr lang="en-US"/>
              </a:p>
            </p:txBody>
          </p:sp>
          <p:sp>
            <p:nvSpPr>
              <p:cNvPr id="25683" name="Freeform 46"/>
              <p:cNvSpPr>
                <a:spLocks/>
              </p:cNvSpPr>
              <p:nvPr/>
            </p:nvSpPr>
            <p:spPr bwMode="auto">
              <a:xfrm>
                <a:off x="1549" y="3605"/>
                <a:ext cx="11" cy="188"/>
              </a:xfrm>
              <a:custGeom>
                <a:avLst/>
                <a:gdLst>
                  <a:gd name="T0" fmla="*/ 1 w 22"/>
                  <a:gd name="T1" fmla="*/ 1 h 375"/>
                  <a:gd name="T2" fmla="*/ 1 w 22"/>
                  <a:gd name="T3" fmla="*/ 1 h 375"/>
                  <a:gd name="T4" fmla="*/ 1 w 22"/>
                  <a:gd name="T5" fmla="*/ 0 h 375"/>
                  <a:gd name="T6" fmla="*/ 0 w 22"/>
                  <a:gd name="T7" fmla="*/ 0 h 375"/>
                  <a:gd name="T8" fmla="*/ 0 w 22"/>
                  <a:gd name="T9" fmla="*/ 1 h 375"/>
                  <a:gd name="T10" fmla="*/ 1 w 22"/>
                  <a:gd name="T11" fmla="*/ 1 h 375"/>
                  <a:gd name="T12" fmla="*/ 0 w 22"/>
                  <a:gd name="T13" fmla="*/ 1 h 375"/>
                  <a:gd name="T14" fmla="*/ 1 w 22"/>
                  <a:gd name="T15" fmla="*/ 1 h 375"/>
                  <a:gd name="T16" fmla="*/ 1 w 22"/>
                  <a:gd name="T17" fmla="*/ 1 h 375"/>
                  <a:gd name="T18" fmla="*/ 1 w 22"/>
                  <a:gd name="T19" fmla="*/ 1 h 375"/>
                  <a:gd name="T20" fmla="*/ 1 w 22"/>
                  <a:gd name="T21" fmla="*/ 1 h 375"/>
                  <a:gd name="T22" fmla="*/ 1 w 22"/>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5"/>
                  <a:gd name="T38" fmla="*/ 22 w 22"/>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5">
                    <a:moveTo>
                      <a:pt x="15" y="355"/>
                    </a:moveTo>
                    <a:lnTo>
                      <a:pt x="22" y="364"/>
                    </a:lnTo>
                    <a:lnTo>
                      <a:pt x="22" y="0"/>
                    </a:lnTo>
                    <a:lnTo>
                      <a:pt x="0" y="0"/>
                    </a:lnTo>
                    <a:lnTo>
                      <a:pt x="0" y="364"/>
                    </a:lnTo>
                    <a:lnTo>
                      <a:pt x="6" y="374"/>
                    </a:lnTo>
                    <a:lnTo>
                      <a:pt x="0" y="364"/>
                    </a:lnTo>
                    <a:lnTo>
                      <a:pt x="3" y="372"/>
                    </a:lnTo>
                    <a:lnTo>
                      <a:pt x="11" y="375"/>
                    </a:lnTo>
                    <a:lnTo>
                      <a:pt x="18" y="372"/>
                    </a:lnTo>
                    <a:lnTo>
                      <a:pt x="22" y="364"/>
                    </a:lnTo>
                    <a:lnTo>
                      <a:pt x="15" y="355"/>
                    </a:lnTo>
                    <a:close/>
                  </a:path>
                </a:pathLst>
              </a:custGeom>
              <a:solidFill>
                <a:srgbClr val="000000"/>
              </a:solidFill>
              <a:ln w="9525">
                <a:noFill/>
                <a:round/>
                <a:headEnd/>
                <a:tailEnd/>
              </a:ln>
            </p:spPr>
            <p:txBody>
              <a:bodyPr/>
              <a:lstStyle/>
              <a:p>
                <a:endParaRPr lang="en-US"/>
              </a:p>
            </p:txBody>
          </p:sp>
          <p:sp>
            <p:nvSpPr>
              <p:cNvPr id="25684" name="Freeform 47"/>
              <p:cNvSpPr>
                <a:spLocks/>
              </p:cNvSpPr>
              <p:nvPr/>
            </p:nvSpPr>
            <p:spPr bwMode="auto">
              <a:xfrm>
                <a:off x="1552" y="3783"/>
                <a:ext cx="293" cy="170"/>
              </a:xfrm>
              <a:custGeom>
                <a:avLst/>
                <a:gdLst>
                  <a:gd name="T0" fmla="*/ 1 w 585"/>
                  <a:gd name="T1" fmla="*/ 1 h 339"/>
                  <a:gd name="T2" fmla="*/ 1 w 585"/>
                  <a:gd name="T3" fmla="*/ 1 h 339"/>
                  <a:gd name="T4" fmla="*/ 1 w 585"/>
                  <a:gd name="T5" fmla="*/ 0 h 339"/>
                  <a:gd name="T6" fmla="*/ 0 w 585"/>
                  <a:gd name="T7" fmla="*/ 1 h 339"/>
                  <a:gd name="T8" fmla="*/ 1 w 585"/>
                  <a:gd name="T9" fmla="*/ 1 h 339"/>
                  <a:gd name="T10" fmla="*/ 1 w 585"/>
                  <a:gd name="T11" fmla="*/ 1 h 339"/>
                  <a:gd name="T12" fmla="*/ 1 w 585"/>
                  <a:gd name="T13" fmla="*/ 1 h 339"/>
                  <a:gd name="T14" fmla="*/ 1 w 585"/>
                  <a:gd name="T15" fmla="*/ 1 h 339"/>
                  <a:gd name="T16" fmla="*/ 1 w 585"/>
                  <a:gd name="T17" fmla="*/ 1 h 339"/>
                  <a:gd name="T18" fmla="*/ 1 w 585"/>
                  <a:gd name="T19" fmla="*/ 1 h 339"/>
                  <a:gd name="T20" fmla="*/ 1 w 585"/>
                  <a:gd name="T21" fmla="*/ 1 h 339"/>
                  <a:gd name="T22" fmla="*/ 1 w 585"/>
                  <a:gd name="T23" fmla="*/ 1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39"/>
                  <a:gd name="T38" fmla="*/ 585 w 585"/>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39">
                    <a:moveTo>
                      <a:pt x="564" y="330"/>
                    </a:moveTo>
                    <a:lnTo>
                      <a:pt x="579" y="321"/>
                    </a:lnTo>
                    <a:lnTo>
                      <a:pt x="9" y="0"/>
                    </a:lnTo>
                    <a:lnTo>
                      <a:pt x="0" y="19"/>
                    </a:lnTo>
                    <a:lnTo>
                      <a:pt x="570" y="339"/>
                    </a:lnTo>
                    <a:lnTo>
                      <a:pt x="585" y="330"/>
                    </a:lnTo>
                    <a:lnTo>
                      <a:pt x="570" y="339"/>
                    </a:lnTo>
                    <a:lnTo>
                      <a:pt x="578" y="339"/>
                    </a:lnTo>
                    <a:lnTo>
                      <a:pt x="584" y="335"/>
                    </a:lnTo>
                    <a:lnTo>
                      <a:pt x="585" y="327"/>
                    </a:lnTo>
                    <a:lnTo>
                      <a:pt x="579" y="321"/>
                    </a:lnTo>
                    <a:lnTo>
                      <a:pt x="564" y="330"/>
                    </a:lnTo>
                    <a:close/>
                  </a:path>
                </a:pathLst>
              </a:custGeom>
              <a:solidFill>
                <a:srgbClr val="000000"/>
              </a:solidFill>
              <a:ln w="9525">
                <a:noFill/>
                <a:round/>
                <a:headEnd/>
                <a:tailEnd/>
              </a:ln>
            </p:spPr>
            <p:txBody>
              <a:bodyPr/>
              <a:lstStyle/>
              <a:p>
                <a:endParaRPr lang="en-US"/>
              </a:p>
            </p:txBody>
          </p:sp>
          <p:sp>
            <p:nvSpPr>
              <p:cNvPr id="25685" name="Freeform 48"/>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6" y="20"/>
                    </a:moveTo>
                    <a:lnTo>
                      <a:pt x="0" y="10"/>
                    </a:lnTo>
                    <a:lnTo>
                      <a:pt x="0" y="375"/>
                    </a:lnTo>
                    <a:lnTo>
                      <a:pt x="21" y="375"/>
                    </a:lnTo>
                    <a:lnTo>
                      <a:pt x="21" y="10"/>
                    </a:lnTo>
                    <a:lnTo>
                      <a:pt x="15" y="1"/>
                    </a:lnTo>
                    <a:lnTo>
                      <a:pt x="21" y="10"/>
                    </a:lnTo>
                    <a:lnTo>
                      <a:pt x="18" y="3"/>
                    </a:lnTo>
                    <a:lnTo>
                      <a:pt x="11" y="0"/>
                    </a:lnTo>
                    <a:lnTo>
                      <a:pt x="3" y="3"/>
                    </a:lnTo>
                    <a:lnTo>
                      <a:pt x="0" y="10"/>
                    </a:lnTo>
                    <a:lnTo>
                      <a:pt x="6" y="20"/>
                    </a:lnTo>
                    <a:close/>
                  </a:path>
                </a:pathLst>
              </a:custGeom>
              <a:solidFill>
                <a:srgbClr val="000000"/>
              </a:solidFill>
              <a:ln w="9525">
                <a:noFill/>
                <a:round/>
                <a:headEnd/>
                <a:tailEnd/>
              </a:ln>
            </p:spPr>
            <p:txBody>
              <a:bodyPr/>
              <a:lstStyle/>
              <a:p>
                <a:endParaRPr lang="en-US"/>
              </a:p>
            </p:txBody>
          </p:sp>
          <p:sp>
            <p:nvSpPr>
              <p:cNvPr id="25686" name="Freeform 49"/>
              <p:cNvSpPr>
                <a:spLocks/>
              </p:cNvSpPr>
              <p:nvPr/>
            </p:nvSpPr>
            <p:spPr bwMode="auto">
              <a:xfrm>
                <a:off x="1549" y="3601"/>
                <a:ext cx="293" cy="169"/>
              </a:xfrm>
              <a:custGeom>
                <a:avLst/>
                <a:gdLst>
                  <a:gd name="T0" fmla="*/ 1 w 585"/>
                  <a:gd name="T1" fmla="*/ 0 h 340"/>
                  <a:gd name="T2" fmla="*/ 1 w 585"/>
                  <a:gd name="T3" fmla="*/ 0 h 340"/>
                  <a:gd name="T4" fmla="*/ 1 w 585"/>
                  <a:gd name="T5" fmla="*/ 0 h 340"/>
                  <a:gd name="T6" fmla="*/ 1 w 585"/>
                  <a:gd name="T7" fmla="*/ 0 h 340"/>
                  <a:gd name="T8" fmla="*/ 1 w 585"/>
                  <a:gd name="T9" fmla="*/ 0 h 340"/>
                  <a:gd name="T10" fmla="*/ 0 w 585"/>
                  <a:gd name="T11" fmla="*/ 0 h 340"/>
                  <a:gd name="T12" fmla="*/ 1 w 585"/>
                  <a:gd name="T13" fmla="*/ 0 h 340"/>
                  <a:gd name="T14" fmla="*/ 1 w 585"/>
                  <a:gd name="T15" fmla="*/ 0 h 340"/>
                  <a:gd name="T16" fmla="*/ 1 w 585"/>
                  <a:gd name="T17" fmla="*/ 0 h 340"/>
                  <a:gd name="T18" fmla="*/ 0 w 585"/>
                  <a:gd name="T19" fmla="*/ 0 h 340"/>
                  <a:gd name="T20" fmla="*/ 1 w 585"/>
                  <a:gd name="T21" fmla="*/ 0 h 340"/>
                  <a:gd name="T22" fmla="*/ 1 w 585"/>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40"/>
                  <a:gd name="T38" fmla="*/ 585 w 585"/>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40">
                    <a:moveTo>
                      <a:pt x="22" y="10"/>
                    </a:moveTo>
                    <a:lnTo>
                      <a:pt x="6" y="19"/>
                    </a:lnTo>
                    <a:lnTo>
                      <a:pt x="576" y="340"/>
                    </a:lnTo>
                    <a:lnTo>
                      <a:pt x="585" y="321"/>
                    </a:lnTo>
                    <a:lnTo>
                      <a:pt x="15" y="0"/>
                    </a:lnTo>
                    <a:lnTo>
                      <a:pt x="0" y="10"/>
                    </a:lnTo>
                    <a:lnTo>
                      <a:pt x="15" y="0"/>
                    </a:lnTo>
                    <a:lnTo>
                      <a:pt x="7" y="0"/>
                    </a:lnTo>
                    <a:lnTo>
                      <a:pt x="1"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5687" name="Freeform 50"/>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close/>
                  </a:path>
                </a:pathLst>
              </a:custGeom>
              <a:solidFill>
                <a:srgbClr val="8CFF00"/>
              </a:solidFill>
              <a:ln w="9525">
                <a:noFill/>
                <a:round/>
                <a:headEnd/>
                <a:tailEnd/>
              </a:ln>
            </p:spPr>
            <p:txBody>
              <a:bodyPr/>
              <a:lstStyle/>
              <a:p>
                <a:endParaRPr lang="en-US"/>
              </a:p>
            </p:txBody>
          </p:sp>
          <p:sp>
            <p:nvSpPr>
              <p:cNvPr id="25688" name="Freeform 51"/>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path>
                </a:pathLst>
              </a:custGeom>
              <a:noFill/>
              <a:ln w="0">
                <a:solidFill>
                  <a:srgbClr val="000000"/>
                </a:solidFill>
                <a:round/>
                <a:headEnd/>
                <a:tailEnd/>
              </a:ln>
            </p:spPr>
            <p:txBody>
              <a:bodyPr/>
              <a:lstStyle/>
              <a:p>
                <a:endParaRPr lang="en-US"/>
              </a:p>
            </p:txBody>
          </p:sp>
          <p:sp>
            <p:nvSpPr>
              <p:cNvPr id="25689" name="Freeform 52"/>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close/>
                  </a:path>
                </a:pathLst>
              </a:custGeom>
              <a:solidFill>
                <a:srgbClr val="4CFF00"/>
              </a:solidFill>
              <a:ln w="9525">
                <a:noFill/>
                <a:round/>
                <a:headEnd/>
                <a:tailEnd/>
              </a:ln>
            </p:spPr>
            <p:txBody>
              <a:bodyPr/>
              <a:lstStyle/>
              <a:p>
                <a:endParaRPr lang="en-US"/>
              </a:p>
            </p:txBody>
          </p:sp>
          <p:sp>
            <p:nvSpPr>
              <p:cNvPr id="25690" name="Freeform 53"/>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path>
                </a:pathLst>
              </a:custGeom>
              <a:noFill/>
              <a:ln w="0">
                <a:solidFill>
                  <a:srgbClr val="000000"/>
                </a:solidFill>
                <a:round/>
                <a:headEnd/>
                <a:tailEnd/>
              </a:ln>
            </p:spPr>
            <p:txBody>
              <a:bodyPr/>
              <a:lstStyle/>
              <a:p>
                <a:endParaRPr lang="en-US"/>
              </a:p>
            </p:txBody>
          </p:sp>
          <p:sp>
            <p:nvSpPr>
              <p:cNvPr id="25691" name="Freeform 54"/>
              <p:cNvSpPr>
                <a:spLocks/>
              </p:cNvSpPr>
              <p:nvPr/>
            </p:nvSpPr>
            <p:spPr bwMode="auto">
              <a:xfrm>
                <a:off x="1892" y="3496"/>
                <a:ext cx="154" cy="125"/>
              </a:xfrm>
              <a:custGeom>
                <a:avLst/>
                <a:gdLst>
                  <a:gd name="T0" fmla="*/ 0 w 309"/>
                  <a:gd name="T1" fmla="*/ 0 h 250"/>
                  <a:gd name="T2" fmla="*/ 0 w 309"/>
                  <a:gd name="T3" fmla="*/ 1 h 250"/>
                  <a:gd name="T4" fmla="*/ 0 w 309"/>
                  <a:gd name="T5" fmla="*/ 1 h 250"/>
                  <a:gd name="T6" fmla="*/ 0 w 309"/>
                  <a:gd name="T7" fmla="*/ 1 h 250"/>
                  <a:gd name="T8" fmla="*/ 0 w 309"/>
                  <a:gd name="T9" fmla="*/ 0 h 250"/>
                  <a:gd name="T10" fmla="*/ 0 60000 65536"/>
                  <a:gd name="T11" fmla="*/ 0 60000 65536"/>
                  <a:gd name="T12" fmla="*/ 0 60000 65536"/>
                  <a:gd name="T13" fmla="*/ 0 60000 65536"/>
                  <a:gd name="T14" fmla="*/ 0 60000 65536"/>
                  <a:gd name="T15" fmla="*/ 0 w 309"/>
                  <a:gd name="T16" fmla="*/ 0 h 250"/>
                  <a:gd name="T17" fmla="*/ 309 w 309"/>
                  <a:gd name="T18" fmla="*/ 250 h 250"/>
                </a:gdLst>
                <a:ahLst/>
                <a:cxnLst>
                  <a:cxn ang="T10">
                    <a:pos x="T0" y="T1"/>
                  </a:cxn>
                  <a:cxn ang="T11">
                    <a:pos x="T2" y="T3"/>
                  </a:cxn>
                  <a:cxn ang="T12">
                    <a:pos x="T4" y="T5"/>
                  </a:cxn>
                  <a:cxn ang="T13">
                    <a:pos x="T6" y="T7"/>
                  </a:cxn>
                  <a:cxn ang="T14">
                    <a:pos x="T8" y="T9"/>
                  </a:cxn>
                </a:cxnLst>
                <a:rect l="T15" t="T16" r="T17" b="T18"/>
                <a:pathLst>
                  <a:path w="309" h="250">
                    <a:moveTo>
                      <a:pt x="309" y="0"/>
                    </a:moveTo>
                    <a:lnTo>
                      <a:pt x="309" y="64"/>
                    </a:lnTo>
                    <a:lnTo>
                      <a:pt x="0" y="250"/>
                    </a:lnTo>
                    <a:lnTo>
                      <a:pt x="0" y="186"/>
                    </a:lnTo>
                    <a:lnTo>
                      <a:pt x="309" y="0"/>
                    </a:lnTo>
                    <a:close/>
                  </a:path>
                </a:pathLst>
              </a:custGeom>
              <a:solidFill>
                <a:srgbClr val="007FFF"/>
              </a:solidFill>
              <a:ln w="9525">
                <a:noFill/>
                <a:round/>
                <a:headEnd/>
                <a:tailEnd/>
              </a:ln>
            </p:spPr>
            <p:txBody>
              <a:bodyPr/>
              <a:lstStyle/>
              <a:p>
                <a:endParaRPr lang="en-US"/>
              </a:p>
            </p:txBody>
          </p:sp>
          <p:sp>
            <p:nvSpPr>
              <p:cNvPr id="25692" name="Freeform 55"/>
              <p:cNvSpPr>
                <a:spLocks/>
              </p:cNvSpPr>
              <p:nvPr/>
            </p:nvSpPr>
            <p:spPr bwMode="auto">
              <a:xfrm>
                <a:off x="2041" y="3496"/>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7" y="73"/>
                    </a:moveTo>
                    <a:lnTo>
                      <a:pt x="22" y="64"/>
                    </a:lnTo>
                    <a:lnTo>
                      <a:pt x="22" y="0"/>
                    </a:lnTo>
                    <a:lnTo>
                      <a:pt x="0" y="0"/>
                    </a:lnTo>
                    <a:lnTo>
                      <a:pt x="0" y="64"/>
                    </a:lnTo>
                    <a:lnTo>
                      <a:pt x="5" y="54"/>
                    </a:lnTo>
                    <a:lnTo>
                      <a:pt x="0" y="64"/>
                    </a:lnTo>
                    <a:lnTo>
                      <a:pt x="3" y="72"/>
                    </a:lnTo>
                    <a:lnTo>
                      <a:pt x="11" y="75"/>
                    </a:lnTo>
                    <a:lnTo>
                      <a:pt x="19" y="72"/>
                    </a:lnTo>
                    <a:lnTo>
                      <a:pt x="22" y="64"/>
                    </a:lnTo>
                    <a:lnTo>
                      <a:pt x="17" y="73"/>
                    </a:lnTo>
                    <a:close/>
                  </a:path>
                </a:pathLst>
              </a:custGeom>
              <a:solidFill>
                <a:srgbClr val="000000"/>
              </a:solidFill>
              <a:ln w="9525">
                <a:noFill/>
                <a:round/>
                <a:headEnd/>
                <a:tailEnd/>
              </a:ln>
            </p:spPr>
            <p:txBody>
              <a:bodyPr/>
              <a:lstStyle/>
              <a:p>
                <a:endParaRPr lang="en-US"/>
              </a:p>
            </p:txBody>
          </p:sp>
          <p:sp>
            <p:nvSpPr>
              <p:cNvPr id="25693" name="Freeform 56"/>
              <p:cNvSpPr>
                <a:spLocks/>
              </p:cNvSpPr>
              <p:nvPr/>
            </p:nvSpPr>
            <p:spPr bwMode="auto">
              <a:xfrm>
                <a:off x="1887" y="3523"/>
                <a:ext cx="163" cy="103"/>
              </a:xfrm>
              <a:custGeom>
                <a:avLst/>
                <a:gdLst>
                  <a:gd name="T0" fmla="*/ 0 w 326"/>
                  <a:gd name="T1" fmla="*/ 0 h 207"/>
                  <a:gd name="T2" fmla="*/ 1 w 326"/>
                  <a:gd name="T3" fmla="*/ 0 h 207"/>
                  <a:gd name="T4" fmla="*/ 1 w 326"/>
                  <a:gd name="T5" fmla="*/ 0 h 207"/>
                  <a:gd name="T6" fmla="*/ 1 w 326"/>
                  <a:gd name="T7" fmla="*/ 0 h 207"/>
                  <a:gd name="T8" fmla="*/ 1 w 326"/>
                  <a:gd name="T9" fmla="*/ 0 h 207"/>
                  <a:gd name="T10" fmla="*/ 1 w 326"/>
                  <a:gd name="T11" fmla="*/ 0 h 207"/>
                  <a:gd name="T12" fmla="*/ 1 w 326"/>
                  <a:gd name="T13" fmla="*/ 0 h 207"/>
                  <a:gd name="T14" fmla="*/ 0 w 326"/>
                  <a:gd name="T15" fmla="*/ 0 h 207"/>
                  <a:gd name="T16" fmla="*/ 1 w 326"/>
                  <a:gd name="T17" fmla="*/ 0 h 207"/>
                  <a:gd name="T18" fmla="*/ 1 w 326"/>
                  <a:gd name="T19" fmla="*/ 0 h 207"/>
                  <a:gd name="T20" fmla="*/ 1 w 326"/>
                  <a:gd name="T21" fmla="*/ 0 h 207"/>
                  <a:gd name="T22" fmla="*/ 0 w 326"/>
                  <a:gd name="T23" fmla="*/ 0 h 2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7"/>
                  <a:gd name="T38" fmla="*/ 326 w 326"/>
                  <a:gd name="T39" fmla="*/ 207 h 2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7">
                    <a:moveTo>
                      <a:pt x="0" y="196"/>
                    </a:moveTo>
                    <a:lnTo>
                      <a:pt x="18" y="205"/>
                    </a:lnTo>
                    <a:lnTo>
                      <a:pt x="326" y="19"/>
                    </a:lnTo>
                    <a:lnTo>
                      <a:pt x="314" y="0"/>
                    </a:lnTo>
                    <a:lnTo>
                      <a:pt x="5" y="187"/>
                    </a:lnTo>
                    <a:lnTo>
                      <a:pt x="22" y="196"/>
                    </a:lnTo>
                    <a:lnTo>
                      <a:pt x="5" y="187"/>
                    </a:lnTo>
                    <a:lnTo>
                      <a:pt x="0" y="194"/>
                    </a:lnTo>
                    <a:lnTo>
                      <a:pt x="2" y="202"/>
                    </a:lnTo>
                    <a:lnTo>
                      <a:pt x="8" y="207"/>
                    </a:lnTo>
                    <a:lnTo>
                      <a:pt x="18" y="205"/>
                    </a:lnTo>
                    <a:lnTo>
                      <a:pt x="0" y="196"/>
                    </a:lnTo>
                    <a:close/>
                  </a:path>
                </a:pathLst>
              </a:custGeom>
              <a:solidFill>
                <a:srgbClr val="000000"/>
              </a:solidFill>
              <a:ln w="9525">
                <a:noFill/>
                <a:round/>
                <a:headEnd/>
                <a:tailEnd/>
              </a:ln>
            </p:spPr>
            <p:txBody>
              <a:bodyPr/>
              <a:lstStyle/>
              <a:p>
                <a:endParaRPr lang="en-US"/>
              </a:p>
            </p:txBody>
          </p:sp>
          <p:sp>
            <p:nvSpPr>
              <p:cNvPr id="25694" name="Freeform 57"/>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5" y="1"/>
                    </a:moveTo>
                    <a:lnTo>
                      <a:pt x="0" y="11"/>
                    </a:lnTo>
                    <a:lnTo>
                      <a:pt x="0" y="75"/>
                    </a:lnTo>
                    <a:lnTo>
                      <a:pt x="22" y="75"/>
                    </a:lnTo>
                    <a:lnTo>
                      <a:pt x="22" y="11"/>
                    </a:lnTo>
                    <a:lnTo>
                      <a:pt x="18" y="20"/>
                    </a:lnTo>
                    <a:lnTo>
                      <a:pt x="22" y="11"/>
                    </a:lnTo>
                    <a:lnTo>
                      <a:pt x="19" y="3"/>
                    </a:lnTo>
                    <a:lnTo>
                      <a:pt x="11" y="0"/>
                    </a:lnTo>
                    <a:lnTo>
                      <a:pt x="4" y="3"/>
                    </a:lnTo>
                    <a:lnTo>
                      <a:pt x="0" y="11"/>
                    </a:lnTo>
                    <a:lnTo>
                      <a:pt x="5" y="1"/>
                    </a:lnTo>
                    <a:close/>
                  </a:path>
                </a:pathLst>
              </a:custGeom>
              <a:solidFill>
                <a:srgbClr val="000000"/>
              </a:solidFill>
              <a:ln w="9525">
                <a:noFill/>
                <a:round/>
                <a:headEnd/>
                <a:tailEnd/>
              </a:ln>
            </p:spPr>
            <p:txBody>
              <a:bodyPr/>
              <a:lstStyle/>
              <a:p>
                <a:endParaRPr lang="en-US"/>
              </a:p>
            </p:txBody>
          </p:sp>
          <p:sp>
            <p:nvSpPr>
              <p:cNvPr id="25695" name="Freeform 58"/>
              <p:cNvSpPr>
                <a:spLocks/>
              </p:cNvSpPr>
              <p:nvPr/>
            </p:nvSpPr>
            <p:spPr bwMode="auto">
              <a:xfrm>
                <a:off x="1889" y="3490"/>
                <a:ext cx="163" cy="104"/>
              </a:xfrm>
              <a:custGeom>
                <a:avLst/>
                <a:gdLst>
                  <a:gd name="T0" fmla="*/ 1 w 326"/>
                  <a:gd name="T1" fmla="*/ 1 h 206"/>
                  <a:gd name="T2" fmla="*/ 1 w 326"/>
                  <a:gd name="T3" fmla="*/ 1 h 206"/>
                  <a:gd name="T4" fmla="*/ 0 w 326"/>
                  <a:gd name="T5" fmla="*/ 1 h 206"/>
                  <a:gd name="T6" fmla="*/ 1 w 326"/>
                  <a:gd name="T7" fmla="*/ 1 h 206"/>
                  <a:gd name="T8" fmla="*/ 1 w 326"/>
                  <a:gd name="T9" fmla="*/ 1 h 206"/>
                  <a:gd name="T10" fmla="*/ 1 w 326"/>
                  <a:gd name="T11" fmla="*/ 1 h 206"/>
                  <a:gd name="T12" fmla="*/ 1 w 326"/>
                  <a:gd name="T13" fmla="*/ 1 h 206"/>
                  <a:gd name="T14" fmla="*/ 1 w 326"/>
                  <a:gd name="T15" fmla="*/ 1 h 206"/>
                  <a:gd name="T16" fmla="*/ 1 w 326"/>
                  <a:gd name="T17" fmla="*/ 1 h 206"/>
                  <a:gd name="T18" fmla="*/ 1 w 326"/>
                  <a:gd name="T19" fmla="*/ 0 h 206"/>
                  <a:gd name="T20" fmla="*/ 1 w 326"/>
                  <a:gd name="T21" fmla="*/ 1 h 206"/>
                  <a:gd name="T22" fmla="*/ 1 w 326"/>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6"/>
                  <a:gd name="T38" fmla="*/ 326 w 326"/>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6">
                    <a:moveTo>
                      <a:pt x="326" y="11"/>
                    </a:moveTo>
                    <a:lnTo>
                      <a:pt x="309" y="1"/>
                    </a:lnTo>
                    <a:lnTo>
                      <a:pt x="0" y="187"/>
                    </a:lnTo>
                    <a:lnTo>
                      <a:pt x="13" y="206"/>
                    </a:lnTo>
                    <a:lnTo>
                      <a:pt x="321" y="20"/>
                    </a:lnTo>
                    <a:lnTo>
                      <a:pt x="304" y="11"/>
                    </a:lnTo>
                    <a:lnTo>
                      <a:pt x="321" y="20"/>
                    </a:lnTo>
                    <a:lnTo>
                      <a:pt x="326" y="12"/>
                    </a:lnTo>
                    <a:lnTo>
                      <a:pt x="324" y="4"/>
                    </a:lnTo>
                    <a:lnTo>
                      <a:pt x="318" y="0"/>
                    </a:lnTo>
                    <a:lnTo>
                      <a:pt x="309" y="1"/>
                    </a:lnTo>
                    <a:lnTo>
                      <a:pt x="326" y="11"/>
                    </a:lnTo>
                    <a:close/>
                  </a:path>
                </a:pathLst>
              </a:custGeom>
              <a:solidFill>
                <a:srgbClr val="000000"/>
              </a:solidFill>
              <a:ln w="9525">
                <a:noFill/>
                <a:round/>
                <a:headEnd/>
                <a:tailEnd/>
              </a:ln>
            </p:spPr>
            <p:txBody>
              <a:bodyPr/>
              <a:lstStyle/>
              <a:p>
                <a:endParaRPr lang="en-US"/>
              </a:p>
            </p:txBody>
          </p:sp>
          <p:sp>
            <p:nvSpPr>
              <p:cNvPr id="25696" name="Freeform 59"/>
              <p:cNvSpPr>
                <a:spLocks/>
              </p:cNvSpPr>
              <p:nvPr/>
            </p:nvSpPr>
            <p:spPr bwMode="auto">
              <a:xfrm>
                <a:off x="1765" y="3521"/>
                <a:ext cx="127" cy="100"/>
              </a:xfrm>
              <a:custGeom>
                <a:avLst/>
                <a:gdLst>
                  <a:gd name="T0" fmla="*/ 0 w 255"/>
                  <a:gd name="T1" fmla="*/ 0 h 200"/>
                  <a:gd name="T2" fmla="*/ 0 w 255"/>
                  <a:gd name="T3" fmla="*/ 1 h 200"/>
                  <a:gd name="T4" fmla="*/ 0 w 255"/>
                  <a:gd name="T5" fmla="*/ 1 h 200"/>
                  <a:gd name="T6" fmla="*/ 0 w 255"/>
                  <a:gd name="T7" fmla="*/ 1 h 200"/>
                  <a:gd name="T8" fmla="*/ 0 w 255"/>
                  <a:gd name="T9" fmla="*/ 0 h 200"/>
                  <a:gd name="T10" fmla="*/ 0 60000 65536"/>
                  <a:gd name="T11" fmla="*/ 0 60000 65536"/>
                  <a:gd name="T12" fmla="*/ 0 60000 65536"/>
                  <a:gd name="T13" fmla="*/ 0 60000 65536"/>
                  <a:gd name="T14" fmla="*/ 0 60000 65536"/>
                  <a:gd name="T15" fmla="*/ 0 w 255"/>
                  <a:gd name="T16" fmla="*/ 0 h 200"/>
                  <a:gd name="T17" fmla="*/ 255 w 255"/>
                  <a:gd name="T18" fmla="*/ 200 h 200"/>
                </a:gdLst>
                <a:ahLst/>
                <a:cxnLst>
                  <a:cxn ang="T10">
                    <a:pos x="T0" y="T1"/>
                  </a:cxn>
                  <a:cxn ang="T11">
                    <a:pos x="T2" y="T3"/>
                  </a:cxn>
                  <a:cxn ang="T12">
                    <a:pos x="T4" y="T5"/>
                  </a:cxn>
                  <a:cxn ang="T13">
                    <a:pos x="T6" y="T7"/>
                  </a:cxn>
                  <a:cxn ang="T14">
                    <a:pos x="T8" y="T9"/>
                  </a:cxn>
                </a:cxnLst>
                <a:rect l="T15" t="T16" r="T17" b="T18"/>
                <a:pathLst>
                  <a:path w="255" h="200">
                    <a:moveTo>
                      <a:pt x="0" y="0"/>
                    </a:moveTo>
                    <a:lnTo>
                      <a:pt x="0" y="64"/>
                    </a:lnTo>
                    <a:lnTo>
                      <a:pt x="255" y="200"/>
                    </a:lnTo>
                    <a:lnTo>
                      <a:pt x="255" y="136"/>
                    </a:lnTo>
                    <a:lnTo>
                      <a:pt x="0" y="0"/>
                    </a:lnTo>
                    <a:close/>
                  </a:path>
                </a:pathLst>
              </a:custGeom>
              <a:solidFill>
                <a:srgbClr val="4CB2FF"/>
              </a:solidFill>
              <a:ln w="9525">
                <a:noFill/>
                <a:round/>
                <a:headEnd/>
                <a:tailEnd/>
              </a:ln>
            </p:spPr>
            <p:txBody>
              <a:bodyPr/>
              <a:lstStyle/>
              <a:p>
                <a:endParaRPr lang="en-US"/>
              </a:p>
            </p:txBody>
          </p:sp>
          <p:sp>
            <p:nvSpPr>
              <p:cNvPr id="25697" name="Freeform 60"/>
              <p:cNvSpPr>
                <a:spLocks/>
              </p:cNvSpPr>
              <p:nvPr/>
            </p:nvSpPr>
            <p:spPr bwMode="auto">
              <a:xfrm>
                <a:off x="1759" y="3521"/>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6" y="55"/>
                    </a:moveTo>
                    <a:lnTo>
                      <a:pt x="22" y="64"/>
                    </a:lnTo>
                    <a:lnTo>
                      <a:pt x="22" y="0"/>
                    </a:lnTo>
                    <a:lnTo>
                      <a:pt x="0" y="0"/>
                    </a:lnTo>
                    <a:lnTo>
                      <a:pt x="0" y="64"/>
                    </a:lnTo>
                    <a:lnTo>
                      <a:pt x="7" y="73"/>
                    </a:lnTo>
                    <a:lnTo>
                      <a:pt x="0" y="64"/>
                    </a:lnTo>
                    <a:lnTo>
                      <a:pt x="3" y="72"/>
                    </a:lnTo>
                    <a:lnTo>
                      <a:pt x="11" y="75"/>
                    </a:lnTo>
                    <a:lnTo>
                      <a:pt x="19" y="72"/>
                    </a:lnTo>
                    <a:lnTo>
                      <a:pt x="22" y="64"/>
                    </a:lnTo>
                    <a:lnTo>
                      <a:pt x="16" y="55"/>
                    </a:lnTo>
                    <a:close/>
                  </a:path>
                </a:pathLst>
              </a:custGeom>
              <a:solidFill>
                <a:srgbClr val="000000"/>
              </a:solidFill>
              <a:ln w="9525">
                <a:noFill/>
                <a:round/>
                <a:headEnd/>
                <a:tailEnd/>
              </a:ln>
            </p:spPr>
            <p:txBody>
              <a:bodyPr/>
              <a:lstStyle/>
              <a:p>
                <a:endParaRPr lang="en-US"/>
              </a:p>
            </p:txBody>
          </p:sp>
          <p:sp>
            <p:nvSpPr>
              <p:cNvPr id="25698" name="Freeform 61"/>
              <p:cNvSpPr>
                <a:spLocks/>
              </p:cNvSpPr>
              <p:nvPr/>
            </p:nvSpPr>
            <p:spPr bwMode="auto">
              <a:xfrm>
                <a:off x="1762" y="3548"/>
                <a:ext cx="136" cy="78"/>
              </a:xfrm>
              <a:custGeom>
                <a:avLst/>
                <a:gdLst>
                  <a:gd name="T0" fmla="*/ 1 w 270"/>
                  <a:gd name="T1" fmla="*/ 1 h 154"/>
                  <a:gd name="T2" fmla="*/ 1 w 270"/>
                  <a:gd name="T3" fmla="*/ 1 h 154"/>
                  <a:gd name="T4" fmla="*/ 1 w 270"/>
                  <a:gd name="T5" fmla="*/ 0 h 154"/>
                  <a:gd name="T6" fmla="*/ 0 w 270"/>
                  <a:gd name="T7" fmla="*/ 1 h 154"/>
                  <a:gd name="T8" fmla="*/ 1 w 270"/>
                  <a:gd name="T9" fmla="*/ 1 h 154"/>
                  <a:gd name="T10" fmla="*/ 1 w 270"/>
                  <a:gd name="T11" fmla="*/ 1 h 154"/>
                  <a:gd name="T12" fmla="*/ 1 w 270"/>
                  <a:gd name="T13" fmla="*/ 1 h 154"/>
                  <a:gd name="T14" fmla="*/ 1 w 270"/>
                  <a:gd name="T15" fmla="*/ 1 h 154"/>
                  <a:gd name="T16" fmla="*/ 1 w 270"/>
                  <a:gd name="T17" fmla="*/ 1 h 154"/>
                  <a:gd name="T18" fmla="*/ 1 w 270"/>
                  <a:gd name="T19" fmla="*/ 1 h 154"/>
                  <a:gd name="T20" fmla="*/ 1 w 270"/>
                  <a:gd name="T21" fmla="*/ 1 h 154"/>
                  <a:gd name="T22" fmla="*/ 1 w 270"/>
                  <a:gd name="T23" fmla="*/ 1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0"/>
                  <a:gd name="T37" fmla="*/ 0 h 154"/>
                  <a:gd name="T38" fmla="*/ 270 w 270"/>
                  <a:gd name="T39" fmla="*/ 154 h 1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0" h="154">
                    <a:moveTo>
                      <a:pt x="248" y="145"/>
                    </a:moveTo>
                    <a:lnTo>
                      <a:pt x="264" y="136"/>
                    </a:lnTo>
                    <a:lnTo>
                      <a:pt x="9" y="0"/>
                    </a:lnTo>
                    <a:lnTo>
                      <a:pt x="0" y="18"/>
                    </a:lnTo>
                    <a:lnTo>
                      <a:pt x="255" y="154"/>
                    </a:lnTo>
                    <a:lnTo>
                      <a:pt x="270" y="145"/>
                    </a:lnTo>
                    <a:lnTo>
                      <a:pt x="255" y="154"/>
                    </a:lnTo>
                    <a:lnTo>
                      <a:pt x="263" y="154"/>
                    </a:lnTo>
                    <a:lnTo>
                      <a:pt x="269" y="150"/>
                    </a:lnTo>
                    <a:lnTo>
                      <a:pt x="270" y="142"/>
                    </a:lnTo>
                    <a:lnTo>
                      <a:pt x="264" y="136"/>
                    </a:lnTo>
                    <a:lnTo>
                      <a:pt x="248" y="145"/>
                    </a:lnTo>
                    <a:close/>
                  </a:path>
                </a:pathLst>
              </a:custGeom>
              <a:solidFill>
                <a:srgbClr val="000000"/>
              </a:solidFill>
              <a:ln w="9525">
                <a:noFill/>
                <a:round/>
                <a:headEnd/>
                <a:tailEnd/>
              </a:ln>
            </p:spPr>
            <p:txBody>
              <a:bodyPr/>
              <a:lstStyle/>
              <a:p>
                <a:endParaRPr lang="en-US"/>
              </a:p>
            </p:txBody>
          </p:sp>
          <p:sp>
            <p:nvSpPr>
              <p:cNvPr id="25699" name="Freeform 62"/>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7" y="20"/>
                    </a:moveTo>
                    <a:lnTo>
                      <a:pt x="0" y="11"/>
                    </a:lnTo>
                    <a:lnTo>
                      <a:pt x="0" y="75"/>
                    </a:lnTo>
                    <a:lnTo>
                      <a:pt x="22" y="75"/>
                    </a:lnTo>
                    <a:lnTo>
                      <a:pt x="22" y="11"/>
                    </a:lnTo>
                    <a:lnTo>
                      <a:pt x="16" y="1"/>
                    </a:lnTo>
                    <a:lnTo>
                      <a:pt x="22" y="11"/>
                    </a:lnTo>
                    <a:lnTo>
                      <a:pt x="19" y="3"/>
                    </a:lnTo>
                    <a:lnTo>
                      <a:pt x="11" y="0"/>
                    </a:lnTo>
                    <a:lnTo>
                      <a:pt x="4" y="3"/>
                    </a:lnTo>
                    <a:lnTo>
                      <a:pt x="0" y="11"/>
                    </a:lnTo>
                    <a:lnTo>
                      <a:pt x="7" y="20"/>
                    </a:lnTo>
                    <a:close/>
                  </a:path>
                </a:pathLst>
              </a:custGeom>
              <a:solidFill>
                <a:srgbClr val="000000"/>
              </a:solidFill>
              <a:ln w="9525">
                <a:noFill/>
                <a:round/>
                <a:headEnd/>
                <a:tailEnd/>
              </a:ln>
            </p:spPr>
            <p:txBody>
              <a:bodyPr/>
              <a:lstStyle/>
              <a:p>
                <a:endParaRPr lang="en-US"/>
              </a:p>
            </p:txBody>
          </p:sp>
          <p:sp>
            <p:nvSpPr>
              <p:cNvPr id="25700" name="Freeform 63"/>
              <p:cNvSpPr>
                <a:spLocks/>
              </p:cNvSpPr>
              <p:nvPr/>
            </p:nvSpPr>
            <p:spPr bwMode="auto">
              <a:xfrm>
                <a:off x="1759" y="3516"/>
                <a:ext cx="136" cy="78"/>
              </a:xfrm>
              <a:custGeom>
                <a:avLst/>
                <a:gdLst>
                  <a:gd name="T0" fmla="*/ 1 w 271"/>
                  <a:gd name="T1" fmla="*/ 1 h 155"/>
                  <a:gd name="T2" fmla="*/ 1 w 271"/>
                  <a:gd name="T3" fmla="*/ 1 h 155"/>
                  <a:gd name="T4" fmla="*/ 1 w 271"/>
                  <a:gd name="T5" fmla="*/ 1 h 155"/>
                  <a:gd name="T6" fmla="*/ 1 w 271"/>
                  <a:gd name="T7" fmla="*/ 1 h 155"/>
                  <a:gd name="T8" fmla="*/ 1 w 271"/>
                  <a:gd name="T9" fmla="*/ 0 h 155"/>
                  <a:gd name="T10" fmla="*/ 0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1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22" y="10"/>
                    </a:moveTo>
                    <a:lnTo>
                      <a:pt x="7" y="19"/>
                    </a:lnTo>
                    <a:lnTo>
                      <a:pt x="262" y="155"/>
                    </a:lnTo>
                    <a:lnTo>
                      <a:pt x="271" y="136"/>
                    </a:lnTo>
                    <a:lnTo>
                      <a:pt x="16" y="0"/>
                    </a:lnTo>
                    <a:lnTo>
                      <a:pt x="0" y="10"/>
                    </a:lnTo>
                    <a:lnTo>
                      <a:pt x="16" y="0"/>
                    </a:lnTo>
                    <a:lnTo>
                      <a:pt x="8" y="0"/>
                    </a:lnTo>
                    <a:lnTo>
                      <a:pt x="2" y="5"/>
                    </a:lnTo>
                    <a:lnTo>
                      <a:pt x="0" y="13"/>
                    </a:lnTo>
                    <a:lnTo>
                      <a:pt x="7" y="19"/>
                    </a:lnTo>
                    <a:lnTo>
                      <a:pt x="22" y="10"/>
                    </a:lnTo>
                    <a:close/>
                  </a:path>
                </a:pathLst>
              </a:custGeom>
              <a:solidFill>
                <a:srgbClr val="000000"/>
              </a:solidFill>
              <a:ln w="9525">
                <a:noFill/>
                <a:round/>
                <a:headEnd/>
                <a:tailEnd/>
              </a:ln>
            </p:spPr>
            <p:txBody>
              <a:bodyPr/>
              <a:lstStyle/>
              <a:p>
                <a:endParaRPr lang="en-US"/>
              </a:p>
            </p:txBody>
          </p:sp>
          <p:sp>
            <p:nvSpPr>
              <p:cNvPr id="25701" name="Freeform 64"/>
              <p:cNvSpPr>
                <a:spLocks/>
              </p:cNvSpPr>
              <p:nvPr/>
            </p:nvSpPr>
            <p:spPr bwMode="auto">
              <a:xfrm>
                <a:off x="1765" y="3428"/>
                <a:ext cx="281" cy="161"/>
              </a:xfrm>
              <a:custGeom>
                <a:avLst/>
                <a:gdLst>
                  <a:gd name="T0" fmla="*/ 0 w 564"/>
                  <a:gd name="T1" fmla="*/ 1 h 322"/>
                  <a:gd name="T2" fmla="*/ 0 w 564"/>
                  <a:gd name="T3" fmla="*/ 0 h 322"/>
                  <a:gd name="T4" fmla="*/ 0 w 564"/>
                  <a:gd name="T5" fmla="*/ 1 h 322"/>
                  <a:gd name="T6" fmla="*/ 0 w 564"/>
                  <a:gd name="T7" fmla="*/ 1 h 322"/>
                  <a:gd name="T8" fmla="*/ 0 w 564"/>
                  <a:gd name="T9" fmla="*/ 1 h 322"/>
                  <a:gd name="T10" fmla="*/ 0 60000 65536"/>
                  <a:gd name="T11" fmla="*/ 0 60000 65536"/>
                  <a:gd name="T12" fmla="*/ 0 60000 65536"/>
                  <a:gd name="T13" fmla="*/ 0 60000 65536"/>
                  <a:gd name="T14" fmla="*/ 0 60000 65536"/>
                  <a:gd name="T15" fmla="*/ 0 w 564"/>
                  <a:gd name="T16" fmla="*/ 0 h 322"/>
                  <a:gd name="T17" fmla="*/ 564 w 564"/>
                  <a:gd name="T18" fmla="*/ 322 h 322"/>
                </a:gdLst>
                <a:ahLst/>
                <a:cxnLst>
                  <a:cxn ang="T10">
                    <a:pos x="T0" y="T1"/>
                  </a:cxn>
                  <a:cxn ang="T11">
                    <a:pos x="T2" y="T3"/>
                  </a:cxn>
                  <a:cxn ang="T12">
                    <a:pos x="T4" y="T5"/>
                  </a:cxn>
                  <a:cxn ang="T13">
                    <a:pos x="T6" y="T7"/>
                  </a:cxn>
                  <a:cxn ang="T14">
                    <a:pos x="T8" y="T9"/>
                  </a:cxn>
                </a:cxnLst>
                <a:rect l="T15" t="T16" r="T17" b="T18"/>
                <a:pathLst>
                  <a:path w="564" h="322">
                    <a:moveTo>
                      <a:pt x="0" y="186"/>
                    </a:moveTo>
                    <a:lnTo>
                      <a:pt x="310" y="0"/>
                    </a:lnTo>
                    <a:lnTo>
                      <a:pt x="564" y="137"/>
                    </a:lnTo>
                    <a:lnTo>
                      <a:pt x="255" y="322"/>
                    </a:lnTo>
                    <a:lnTo>
                      <a:pt x="0" y="186"/>
                    </a:lnTo>
                    <a:close/>
                  </a:path>
                </a:pathLst>
              </a:custGeom>
              <a:solidFill>
                <a:srgbClr val="99D8FF"/>
              </a:solidFill>
              <a:ln w="9525">
                <a:noFill/>
                <a:round/>
                <a:headEnd/>
                <a:tailEnd/>
              </a:ln>
            </p:spPr>
            <p:txBody>
              <a:bodyPr/>
              <a:lstStyle/>
              <a:p>
                <a:endParaRPr lang="en-US"/>
              </a:p>
            </p:txBody>
          </p:sp>
          <p:sp>
            <p:nvSpPr>
              <p:cNvPr id="25702" name="Freeform 65"/>
              <p:cNvSpPr>
                <a:spLocks/>
              </p:cNvSpPr>
              <p:nvPr/>
            </p:nvSpPr>
            <p:spPr bwMode="auto">
              <a:xfrm>
                <a:off x="1761" y="3422"/>
                <a:ext cx="164" cy="104"/>
              </a:xfrm>
              <a:custGeom>
                <a:avLst/>
                <a:gdLst>
                  <a:gd name="T0" fmla="*/ 1 w 327"/>
                  <a:gd name="T1" fmla="*/ 1 h 206"/>
                  <a:gd name="T2" fmla="*/ 1 w 327"/>
                  <a:gd name="T3" fmla="*/ 1 h 206"/>
                  <a:gd name="T4" fmla="*/ 0 w 327"/>
                  <a:gd name="T5" fmla="*/ 1 h 206"/>
                  <a:gd name="T6" fmla="*/ 1 w 327"/>
                  <a:gd name="T7" fmla="*/ 1 h 206"/>
                  <a:gd name="T8" fmla="*/ 1 w 327"/>
                  <a:gd name="T9" fmla="*/ 1 h 206"/>
                  <a:gd name="T10" fmla="*/ 1 w 327"/>
                  <a:gd name="T11" fmla="*/ 1 h 206"/>
                  <a:gd name="T12" fmla="*/ 1 w 327"/>
                  <a:gd name="T13" fmla="*/ 1 h 206"/>
                  <a:gd name="T14" fmla="*/ 1 w 327"/>
                  <a:gd name="T15" fmla="*/ 1 h 206"/>
                  <a:gd name="T16" fmla="*/ 1 w 327"/>
                  <a:gd name="T17" fmla="*/ 1 h 206"/>
                  <a:gd name="T18" fmla="*/ 1 w 327"/>
                  <a:gd name="T19" fmla="*/ 0 h 206"/>
                  <a:gd name="T20" fmla="*/ 1 w 327"/>
                  <a:gd name="T21" fmla="*/ 1 h 206"/>
                  <a:gd name="T22" fmla="*/ 1 w 327"/>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7"/>
                  <a:gd name="T37" fmla="*/ 0 h 206"/>
                  <a:gd name="T38" fmla="*/ 327 w 327"/>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7" h="206">
                    <a:moveTo>
                      <a:pt x="321" y="1"/>
                    </a:moveTo>
                    <a:lnTo>
                      <a:pt x="310" y="1"/>
                    </a:lnTo>
                    <a:lnTo>
                      <a:pt x="0" y="187"/>
                    </a:lnTo>
                    <a:lnTo>
                      <a:pt x="12" y="206"/>
                    </a:lnTo>
                    <a:lnTo>
                      <a:pt x="322" y="20"/>
                    </a:lnTo>
                    <a:lnTo>
                      <a:pt x="312" y="20"/>
                    </a:lnTo>
                    <a:lnTo>
                      <a:pt x="322" y="20"/>
                    </a:lnTo>
                    <a:lnTo>
                      <a:pt x="327" y="12"/>
                    </a:lnTo>
                    <a:lnTo>
                      <a:pt x="326" y="4"/>
                    </a:lnTo>
                    <a:lnTo>
                      <a:pt x="319" y="0"/>
                    </a:lnTo>
                    <a:lnTo>
                      <a:pt x="310" y="1"/>
                    </a:lnTo>
                    <a:lnTo>
                      <a:pt x="321" y="1"/>
                    </a:lnTo>
                    <a:close/>
                  </a:path>
                </a:pathLst>
              </a:custGeom>
              <a:solidFill>
                <a:srgbClr val="000000"/>
              </a:solidFill>
              <a:ln w="9525">
                <a:noFill/>
                <a:round/>
                <a:headEnd/>
                <a:tailEnd/>
              </a:ln>
            </p:spPr>
            <p:txBody>
              <a:bodyPr/>
              <a:lstStyle/>
              <a:p>
                <a:endParaRPr lang="en-US"/>
              </a:p>
            </p:txBody>
          </p:sp>
          <p:sp>
            <p:nvSpPr>
              <p:cNvPr id="25703" name="Freeform 66"/>
              <p:cNvSpPr>
                <a:spLocks/>
              </p:cNvSpPr>
              <p:nvPr/>
            </p:nvSpPr>
            <p:spPr bwMode="auto">
              <a:xfrm>
                <a:off x="1917" y="3423"/>
                <a:ext cx="135" cy="78"/>
              </a:xfrm>
              <a:custGeom>
                <a:avLst/>
                <a:gdLst>
                  <a:gd name="T0" fmla="*/ 1 w 269"/>
                  <a:gd name="T1" fmla="*/ 0 h 157"/>
                  <a:gd name="T2" fmla="*/ 1 w 269"/>
                  <a:gd name="T3" fmla="*/ 0 h 157"/>
                  <a:gd name="T4" fmla="*/ 1 w 269"/>
                  <a:gd name="T5" fmla="*/ 0 h 157"/>
                  <a:gd name="T6" fmla="*/ 0 w 269"/>
                  <a:gd name="T7" fmla="*/ 0 h 157"/>
                  <a:gd name="T8" fmla="*/ 1 w 269"/>
                  <a:gd name="T9" fmla="*/ 0 h 157"/>
                  <a:gd name="T10" fmla="*/ 1 w 269"/>
                  <a:gd name="T11" fmla="*/ 0 h 157"/>
                  <a:gd name="T12" fmla="*/ 1 w 269"/>
                  <a:gd name="T13" fmla="*/ 0 h 157"/>
                  <a:gd name="T14" fmla="*/ 1 w 269"/>
                  <a:gd name="T15" fmla="*/ 0 h 157"/>
                  <a:gd name="T16" fmla="*/ 1 w 269"/>
                  <a:gd name="T17" fmla="*/ 0 h 157"/>
                  <a:gd name="T18" fmla="*/ 1 w 269"/>
                  <a:gd name="T19" fmla="*/ 0 h 157"/>
                  <a:gd name="T20" fmla="*/ 1 w 269"/>
                  <a:gd name="T21" fmla="*/ 0 h 157"/>
                  <a:gd name="T22" fmla="*/ 1 w 269"/>
                  <a:gd name="T23" fmla="*/ 0 h 15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9"/>
                  <a:gd name="T37" fmla="*/ 0 h 157"/>
                  <a:gd name="T38" fmla="*/ 269 w 269"/>
                  <a:gd name="T39" fmla="*/ 157 h 15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9" h="157">
                    <a:moveTo>
                      <a:pt x="264" y="157"/>
                    </a:moveTo>
                    <a:lnTo>
                      <a:pt x="263" y="138"/>
                    </a:lnTo>
                    <a:lnTo>
                      <a:pt x="9" y="0"/>
                    </a:lnTo>
                    <a:lnTo>
                      <a:pt x="0" y="19"/>
                    </a:lnTo>
                    <a:lnTo>
                      <a:pt x="253" y="157"/>
                    </a:lnTo>
                    <a:lnTo>
                      <a:pt x="252" y="138"/>
                    </a:lnTo>
                    <a:lnTo>
                      <a:pt x="253" y="157"/>
                    </a:lnTo>
                    <a:lnTo>
                      <a:pt x="261" y="157"/>
                    </a:lnTo>
                    <a:lnTo>
                      <a:pt x="267" y="152"/>
                    </a:lnTo>
                    <a:lnTo>
                      <a:pt x="269" y="144"/>
                    </a:lnTo>
                    <a:lnTo>
                      <a:pt x="263" y="138"/>
                    </a:lnTo>
                    <a:lnTo>
                      <a:pt x="264" y="157"/>
                    </a:lnTo>
                    <a:close/>
                  </a:path>
                </a:pathLst>
              </a:custGeom>
              <a:solidFill>
                <a:srgbClr val="000000"/>
              </a:solidFill>
              <a:ln w="9525">
                <a:noFill/>
                <a:round/>
                <a:headEnd/>
                <a:tailEnd/>
              </a:ln>
            </p:spPr>
            <p:txBody>
              <a:bodyPr/>
              <a:lstStyle/>
              <a:p>
                <a:endParaRPr lang="en-US"/>
              </a:p>
            </p:txBody>
          </p:sp>
          <p:sp>
            <p:nvSpPr>
              <p:cNvPr id="25704" name="Freeform 67"/>
              <p:cNvSpPr>
                <a:spLocks/>
              </p:cNvSpPr>
              <p:nvPr/>
            </p:nvSpPr>
            <p:spPr bwMode="auto">
              <a:xfrm>
                <a:off x="1887" y="3492"/>
                <a:ext cx="163" cy="102"/>
              </a:xfrm>
              <a:custGeom>
                <a:avLst/>
                <a:gdLst>
                  <a:gd name="T0" fmla="*/ 1 w 326"/>
                  <a:gd name="T1" fmla="*/ 0 h 205"/>
                  <a:gd name="T2" fmla="*/ 1 w 326"/>
                  <a:gd name="T3" fmla="*/ 0 h 205"/>
                  <a:gd name="T4" fmla="*/ 1 w 326"/>
                  <a:gd name="T5" fmla="*/ 0 h 205"/>
                  <a:gd name="T6" fmla="*/ 1 w 326"/>
                  <a:gd name="T7" fmla="*/ 0 h 205"/>
                  <a:gd name="T8" fmla="*/ 1 w 326"/>
                  <a:gd name="T9" fmla="*/ 0 h 205"/>
                  <a:gd name="T10" fmla="*/ 1 w 326"/>
                  <a:gd name="T11" fmla="*/ 0 h 205"/>
                  <a:gd name="T12" fmla="*/ 1 w 326"/>
                  <a:gd name="T13" fmla="*/ 0 h 205"/>
                  <a:gd name="T14" fmla="*/ 0 w 326"/>
                  <a:gd name="T15" fmla="*/ 0 h 205"/>
                  <a:gd name="T16" fmla="*/ 1 w 326"/>
                  <a:gd name="T17" fmla="*/ 0 h 205"/>
                  <a:gd name="T18" fmla="*/ 1 w 326"/>
                  <a:gd name="T19" fmla="*/ 0 h 205"/>
                  <a:gd name="T20" fmla="*/ 1 w 326"/>
                  <a:gd name="T21" fmla="*/ 0 h 205"/>
                  <a:gd name="T22" fmla="*/ 1 w 326"/>
                  <a:gd name="T23" fmla="*/ 0 h 2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5"/>
                  <a:gd name="T38" fmla="*/ 326 w 326"/>
                  <a:gd name="T39" fmla="*/ 205 h 20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5">
                    <a:moveTo>
                      <a:pt x="7" y="203"/>
                    </a:moveTo>
                    <a:lnTo>
                      <a:pt x="18" y="203"/>
                    </a:lnTo>
                    <a:lnTo>
                      <a:pt x="326" y="19"/>
                    </a:lnTo>
                    <a:lnTo>
                      <a:pt x="314" y="0"/>
                    </a:lnTo>
                    <a:lnTo>
                      <a:pt x="5" y="184"/>
                    </a:lnTo>
                    <a:lnTo>
                      <a:pt x="16" y="184"/>
                    </a:lnTo>
                    <a:lnTo>
                      <a:pt x="5" y="184"/>
                    </a:lnTo>
                    <a:lnTo>
                      <a:pt x="0" y="192"/>
                    </a:lnTo>
                    <a:lnTo>
                      <a:pt x="2" y="200"/>
                    </a:lnTo>
                    <a:lnTo>
                      <a:pt x="8" y="205"/>
                    </a:lnTo>
                    <a:lnTo>
                      <a:pt x="18" y="203"/>
                    </a:lnTo>
                    <a:lnTo>
                      <a:pt x="7" y="203"/>
                    </a:lnTo>
                    <a:close/>
                  </a:path>
                </a:pathLst>
              </a:custGeom>
              <a:solidFill>
                <a:srgbClr val="000000"/>
              </a:solidFill>
              <a:ln w="9525">
                <a:noFill/>
                <a:round/>
                <a:headEnd/>
                <a:tailEnd/>
              </a:ln>
            </p:spPr>
            <p:txBody>
              <a:bodyPr/>
              <a:lstStyle/>
              <a:p>
                <a:endParaRPr lang="en-US"/>
              </a:p>
            </p:txBody>
          </p:sp>
          <p:sp>
            <p:nvSpPr>
              <p:cNvPr id="25705" name="Freeform 68"/>
              <p:cNvSpPr>
                <a:spLocks/>
              </p:cNvSpPr>
              <p:nvPr/>
            </p:nvSpPr>
            <p:spPr bwMode="auto">
              <a:xfrm>
                <a:off x="1759" y="3516"/>
                <a:ext cx="136" cy="78"/>
              </a:xfrm>
              <a:custGeom>
                <a:avLst/>
                <a:gdLst>
                  <a:gd name="T0" fmla="*/ 1 w 271"/>
                  <a:gd name="T1" fmla="*/ 0 h 155"/>
                  <a:gd name="T2" fmla="*/ 1 w 271"/>
                  <a:gd name="T3" fmla="*/ 1 h 155"/>
                  <a:gd name="T4" fmla="*/ 1 w 271"/>
                  <a:gd name="T5" fmla="*/ 1 h 155"/>
                  <a:gd name="T6" fmla="*/ 1 w 271"/>
                  <a:gd name="T7" fmla="*/ 1 h 155"/>
                  <a:gd name="T8" fmla="*/ 1 w 271"/>
                  <a:gd name="T9" fmla="*/ 0 h 155"/>
                  <a:gd name="T10" fmla="*/ 1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0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5" y="0"/>
                    </a:moveTo>
                    <a:lnTo>
                      <a:pt x="7" y="19"/>
                    </a:lnTo>
                    <a:lnTo>
                      <a:pt x="262" y="155"/>
                    </a:lnTo>
                    <a:lnTo>
                      <a:pt x="271" y="136"/>
                    </a:lnTo>
                    <a:lnTo>
                      <a:pt x="16" y="0"/>
                    </a:lnTo>
                    <a:lnTo>
                      <a:pt x="17" y="19"/>
                    </a:lnTo>
                    <a:lnTo>
                      <a:pt x="16" y="0"/>
                    </a:lnTo>
                    <a:lnTo>
                      <a:pt x="8" y="0"/>
                    </a:lnTo>
                    <a:lnTo>
                      <a:pt x="2" y="5"/>
                    </a:lnTo>
                    <a:lnTo>
                      <a:pt x="0" y="13"/>
                    </a:lnTo>
                    <a:lnTo>
                      <a:pt x="7" y="19"/>
                    </a:lnTo>
                    <a:lnTo>
                      <a:pt x="5" y="0"/>
                    </a:lnTo>
                    <a:close/>
                  </a:path>
                </a:pathLst>
              </a:custGeom>
              <a:solidFill>
                <a:srgbClr val="000000"/>
              </a:solidFill>
              <a:ln w="9525">
                <a:noFill/>
                <a:round/>
                <a:headEnd/>
                <a:tailEnd/>
              </a:ln>
            </p:spPr>
            <p:txBody>
              <a:bodyPr/>
              <a:lstStyle/>
              <a:p>
                <a:endParaRPr lang="en-US"/>
              </a:p>
            </p:txBody>
          </p:sp>
          <p:sp>
            <p:nvSpPr>
              <p:cNvPr id="25706" name="Freeform 69"/>
              <p:cNvSpPr>
                <a:spLocks/>
              </p:cNvSpPr>
              <p:nvPr/>
            </p:nvSpPr>
            <p:spPr bwMode="auto">
              <a:xfrm>
                <a:off x="1797" y="3428"/>
                <a:ext cx="54" cy="98"/>
              </a:xfrm>
              <a:custGeom>
                <a:avLst/>
                <a:gdLst>
                  <a:gd name="T0" fmla="*/ 0 w 110"/>
                  <a:gd name="T1" fmla="*/ 0 h 197"/>
                  <a:gd name="T2" fmla="*/ 0 w 110"/>
                  <a:gd name="T3" fmla="*/ 0 h 197"/>
                  <a:gd name="T4" fmla="*/ 0 w 110"/>
                  <a:gd name="T5" fmla="*/ 0 h 197"/>
                  <a:gd name="T6" fmla="*/ 0 w 110"/>
                  <a:gd name="T7" fmla="*/ 0 h 197"/>
                  <a:gd name="T8" fmla="*/ 0 w 110"/>
                  <a:gd name="T9" fmla="*/ 0 h 197"/>
                  <a:gd name="T10" fmla="*/ 0 60000 65536"/>
                  <a:gd name="T11" fmla="*/ 0 60000 65536"/>
                  <a:gd name="T12" fmla="*/ 0 60000 65536"/>
                  <a:gd name="T13" fmla="*/ 0 60000 65536"/>
                  <a:gd name="T14" fmla="*/ 0 60000 65536"/>
                  <a:gd name="T15" fmla="*/ 0 w 110"/>
                  <a:gd name="T16" fmla="*/ 0 h 197"/>
                  <a:gd name="T17" fmla="*/ 110 w 110"/>
                  <a:gd name="T18" fmla="*/ 197 h 197"/>
                </a:gdLst>
                <a:ahLst/>
                <a:cxnLst>
                  <a:cxn ang="T10">
                    <a:pos x="T0" y="T1"/>
                  </a:cxn>
                  <a:cxn ang="T11">
                    <a:pos x="T2" y="T3"/>
                  </a:cxn>
                  <a:cxn ang="T12">
                    <a:pos x="T4" y="T5"/>
                  </a:cxn>
                  <a:cxn ang="T13">
                    <a:pos x="T6" y="T7"/>
                  </a:cxn>
                  <a:cxn ang="T14">
                    <a:pos x="T8" y="T9"/>
                  </a:cxn>
                </a:cxnLst>
                <a:rect l="T15" t="T16" r="T17" b="T18"/>
                <a:pathLst>
                  <a:path w="110" h="197">
                    <a:moveTo>
                      <a:pt x="110" y="197"/>
                    </a:moveTo>
                    <a:lnTo>
                      <a:pt x="110" y="9"/>
                    </a:lnTo>
                    <a:lnTo>
                      <a:pt x="0" y="0"/>
                    </a:lnTo>
                    <a:lnTo>
                      <a:pt x="0" y="139"/>
                    </a:lnTo>
                    <a:lnTo>
                      <a:pt x="110" y="197"/>
                    </a:lnTo>
                    <a:close/>
                  </a:path>
                </a:pathLst>
              </a:custGeom>
              <a:solidFill>
                <a:srgbClr val="4CB2FF"/>
              </a:solidFill>
              <a:ln w="9525">
                <a:noFill/>
                <a:round/>
                <a:headEnd/>
                <a:tailEnd/>
              </a:ln>
            </p:spPr>
            <p:txBody>
              <a:bodyPr/>
              <a:lstStyle/>
              <a:p>
                <a:endParaRPr lang="en-US"/>
              </a:p>
            </p:txBody>
          </p:sp>
          <p:sp>
            <p:nvSpPr>
              <p:cNvPr id="25707" name="Freeform 70"/>
              <p:cNvSpPr>
                <a:spLocks/>
              </p:cNvSpPr>
              <p:nvPr/>
            </p:nvSpPr>
            <p:spPr bwMode="auto">
              <a:xfrm>
                <a:off x="1846" y="3427"/>
                <a:ext cx="11" cy="99"/>
              </a:xfrm>
              <a:custGeom>
                <a:avLst/>
                <a:gdLst>
                  <a:gd name="T0" fmla="*/ 1 w 22"/>
                  <a:gd name="T1" fmla="*/ 0 h 199"/>
                  <a:gd name="T2" fmla="*/ 0 w 22"/>
                  <a:gd name="T3" fmla="*/ 0 h 199"/>
                  <a:gd name="T4" fmla="*/ 0 w 22"/>
                  <a:gd name="T5" fmla="*/ 0 h 199"/>
                  <a:gd name="T6" fmla="*/ 1 w 22"/>
                  <a:gd name="T7" fmla="*/ 0 h 199"/>
                  <a:gd name="T8" fmla="*/ 1 w 22"/>
                  <a:gd name="T9" fmla="*/ 0 h 199"/>
                  <a:gd name="T10" fmla="*/ 1 w 22"/>
                  <a:gd name="T11" fmla="*/ 0 h 199"/>
                  <a:gd name="T12" fmla="*/ 1 w 22"/>
                  <a:gd name="T13" fmla="*/ 0 h 199"/>
                  <a:gd name="T14" fmla="*/ 1 w 22"/>
                  <a:gd name="T15" fmla="*/ 0 h 199"/>
                  <a:gd name="T16" fmla="*/ 1 w 22"/>
                  <a:gd name="T17" fmla="*/ 0 h 199"/>
                  <a:gd name="T18" fmla="*/ 1 w 22"/>
                  <a:gd name="T19" fmla="*/ 0 h 199"/>
                  <a:gd name="T20" fmla="*/ 0 w 22"/>
                  <a:gd name="T21" fmla="*/ 0 h 199"/>
                  <a:gd name="T22" fmla="*/ 1 w 22"/>
                  <a:gd name="T23" fmla="*/ 0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99"/>
                  <a:gd name="T38" fmla="*/ 22 w 22"/>
                  <a:gd name="T39" fmla="*/ 199 h 1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99">
                    <a:moveTo>
                      <a:pt x="9" y="22"/>
                    </a:moveTo>
                    <a:lnTo>
                      <a:pt x="0" y="11"/>
                    </a:lnTo>
                    <a:lnTo>
                      <a:pt x="0" y="199"/>
                    </a:lnTo>
                    <a:lnTo>
                      <a:pt x="22" y="199"/>
                    </a:lnTo>
                    <a:lnTo>
                      <a:pt x="22" y="11"/>
                    </a:lnTo>
                    <a:lnTo>
                      <a:pt x="13" y="0"/>
                    </a:lnTo>
                    <a:lnTo>
                      <a:pt x="22" y="11"/>
                    </a:lnTo>
                    <a:lnTo>
                      <a:pt x="19" y="3"/>
                    </a:lnTo>
                    <a:lnTo>
                      <a:pt x="11" y="0"/>
                    </a:lnTo>
                    <a:lnTo>
                      <a:pt x="3" y="3"/>
                    </a:lnTo>
                    <a:lnTo>
                      <a:pt x="0" y="11"/>
                    </a:lnTo>
                    <a:lnTo>
                      <a:pt x="9" y="22"/>
                    </a:lnTo>
                    <a:close/>
                  </a:path>
                </a:pathLst>
              </a:custGeom>
              <a:solidFill>
                <a:srgbClr val="000000"/>
              </a:solidFill>
              <a:ln w="9525">
                <a:noFill/>
                <a:round/>
                <a:headEnd/>
                <a:tailEnd/>
              </a:ln>
            </p:spPr>
            <p:txBody>
              <a:bodyPr/>
              <a:lstStyle/>
              <a:p>
                <a:endParaRPr lang="en-US"/>
              </a:p>
            </p:txBody>
          </p:sp>
          <p:sp>
            <p:nvSpPr>
              <p:cNvPr id="25708" name="Freeform 71"/>
              <p:cNvSpPr>
                <a:spLocks/>
              </p:cNvSpPr>
              <p:nvPr/>
            </p:nvSpPr>
            <p:spPr bwMode="auto">
              <a:xfrm>
                <a:off x="1791" y="3422"/>
                <a:ext cx="61" cy="16"/>
              </a:xfrm>
              <a:custGeom>
                <a:avLst/>
                <a:gdLst>
                  <a:gd name="T0" fmla="*/ 0 w 123"/>
                  <a:gd name="T1" fmla="*/ 1 h 31"/>
                  <a:gd name="T2" fmla="*/ 0 w 123"/>
                  <a:gd name="T3" fmla="*/ 1 h 31"/>
                  <a:gd name="T4" fmla="*/ 0 w 123"/>
                  <a:gd name="T5" fmla="*/ 1 h 31"/>
                  <a:gd name="T6" fmla="*/ 0 w 123"/>
                  <a:gd name="T7" fmla="*/ 1 h 31"/>
                  <a:gd name="T8" fmla="*/ 0 w 123"/>
                  <a:gd name="T9" fmla="*/ 0 h 31"/>
                  <a:gd name="T10" fmla="*/ 0 w 123"/>
                  <a:gd name="T11" fmla="*/ 1 h 31"/>
                  <a:gd name="T12" fmla="*/ 0 w 123"/>
                  <a:gd name="T13" fmla="*/ 0 h 31"/>
                  <a:gd name="T14" fmla="*/ 0 w 123"/>
                  <a:gd name="T15" fmla="*/ 1 h 31"/>
                  <a:gd name="T16" fmla="*/ 0 w 123"/>
                  <a:gd name="T17" fmla="*/ 1 h 31"/>
                  <a:gd name="T18" fmla="*/ 0 w 123"/>
                  <a:gd name="T19" fmla="*/ 1 h 31"/>
                  <a:gd name="T20" fmla="*/ 0 w 123"/>
                  <a:gd name="T21" fmla="*/ 1 h 31"/>
                  <a:gd name="T22" fmla="*/ 0 w 123"/>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
                  <a:gd name="T37" fmla="*/ 0 h 31"/>
                  <a:gd name="T38" fmla="*/ 123 w 123"/>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 h="31">
                    <a:moveTo>
                      <a:pt x="22" y="11"/>
                    </a:moveTo>
                    <a:lnTo>
                      <a:pt x="10" y="22"/>
                    </a:lnTo>
                    <a:lnTo>
                      <a:pt x="119" y="31"/>
                    </a:lnTo>
                    <a:lnTo>
                      <a:pt x="123" y="9"/>
                    </a:lnTo>
                    <a:lnTo>
                      <a:pt x="13" y="0"/>
                    </a:lnTo>
                    <a:lnTo>
                      <a:pt x="0" y="11"/>
                    </a:lnTo>
                    <a:lnTo>
                      <a:pt x="13" y="0"/>
                    </a:lnTo>
                    <a:lnTo>
                      <a:pt x="5" y="3"/>
                    </a:lnTo>
                    <a:lnTo>
                      <a:pt x="0" y="9"/>
                    </a:lnTo>
                    <a:lnTo>
                      <a:pt x="2" y="17"/>
                    </a:lnTo>
                    <a:lnTo>
                      <a:pt x="10" y="22"/>
                    </a:lnTo>
                    <a:lnTo>
                      <a:pt x="22" y="11"/>
                    </a:lnTo>
                    <a:close/>
                  </a:path>
                </a:pathLst>
              </a:custGeom>
              <a:solidFill>
                <a:srgbClr val="000000"/>
              </a:solidFill>
              <a:ln w="9525">
                <a:noFill/>
                <a:round/>
                <a:headEnd/>
                <a:tailEnd/>
              </a:ln>
            </p:spPr>
            <p:txBody>
              <a:bodyPr/>
              <a:lstStyle/>
              <a:p>
                <a:endParaRPr lang="en-US"/>
              </a:p>
            </p:txBody>
          </p:sp>
          <p:sp>
            <p:nvSpPr>
              <p:cNvPr id="25709" name="Freeform 72"/>
              <p:cNvSpPr>
                <a:spLocks/>
              </p:cNvSpPr>
              <p:nvPr/>
            </p:nvSpPr>
            <p:spPr bwMode="auto">
              <a:xfrm>
                <a:off x="1791" y="3428"/>
                <a:ext cx="11" cy="75"/>
              </a:xfrm>
              <a:custGeom>
                <a:avLst/>
                <a:gdLst>
                  <a:gd name="T0" fmla="*/ 1 w 22"/>
                  <a:gd name="T1" fmla="*/ 1 h 150"/>
                  <a:gd name="T2" fmla="*/ 1 w 22"/>
                  <a:gd name="T3" fmla="*/ 1 h 150"/>
                  <a:gd name="T4" fmla="*/ 1 w 22"/>
                  <a:gd name="T5" fmla="*/ 0 h 150"/>
                  <a:gd name="T6" fmla="*/ 0 w 22"/>
                  <a:gd name="T7" fmla="*/ 0 h 150"/>
                  <a:gd name="T8" fmla="*/ 0 w 22"/>
                  <a:gd name="T9" fmla="*/ 1 h 150"/>
                  <a:gd name="T10" fmla="*/ 1 w 22"/>
                  <a:gd name="T11" fmla="*/ 1 h 150"/>
                  <a:gd name="T12" fmla="*/ 0 w 22"/>
                  <a:gd name="T13" fmla="*/ 1 h 150"/>
                  <a:gd name="T14" fmla="*/ 1 w 22"/>
                  <a:gd name="T15" fmla="*/ 1 h 150"/>
                  <a:gd name="T16" fmla="*/ 1 w 22"/>
                  <a:gd name="T17" fmla="*/ 1 h 150"/>
                  <a:gd name="T18" fmla="*/ 1 w 22"/>
                  <a:gd name="T19" fmla="*/ 1 h 150"/>
                  <a:gd name="T20" fmla="*/ 1 w 22"/>
                  <a:gd name="T21" fmla="*/ 1 h 150"/>
                  <a:gd name="T22" fmla="*/ 1 w 22"/>
                  <a:gd name="T23" fmla="*/ 1 h 1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50"/>
                  <a:gd name="T38" fmla="*/ 22 w 22"/>
                  <a:gd name="T39" fmla="*/ 150 h 1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50">
                    <a:moveTo>
                      <a:pt x="16" y="129"/>
                    </a:moveTo>
                    <a:lnTo>
                      <a:pt x="22" y="139"/>
                    </a:lnTo>
                    <a:lnTo>
                      <a:pt x="22" y="0"/>
                    </a:lnTo>
                    <a:lnTo>
                      <a:pt x="0" y="0"/>
                    </a:lnTo>
                    <a:lnTo>
                      <a:pt x="0" y="139"/>
                    </a:lnTo>
                    <a:lnTo>
                      <a:pt x="7" y="148"/>
                    </a:lnTo>
                    <a:lnTo>
                      <a:pt x="0" y="139"/>
                    </a:lnTo>
                    <a:lnTo>
                      <a:pt x="4" y="147"/>
                    </a:lnTo>
                    <a:lnTo>
                      <a:pt x="11" y="150"/>
                    </a:lnTo>
                    <a:lnTo>
                      <a:pt x="19" y="147"/>
                    </a:lnTo>
                    <a:lnTo>
                      <a:pt x="22" y="139"/>
                    </a:lnTo>
                    <a:lnTo>
                      <a:pt x="16" y="129"/>
                    </a:lnTo>
                    <a:close/>
                  </a:path>
                </a:pathLst>
              </a:custGeom>
              <a:solidFill>
                <a:srgbClr val="000000"/>
              </a:solidFill>
              <a:ln w="9525">
                <a:noFill/>
                <a:round/>
                <a:headEnd/>
                <a:tailEnd/>
              </a:ln>
            </p:spPr>
            <p:txBody>
              <a:bodyPr/>
              <a:lstStyle/>
              <a:p>
                <a:endParaRPr lang="en-US"/>
              </a:p>
            </p:txBody>
          </p:sp>
          <p:sp>
            <p:nvSpPr>
              <p:cNvPr id="25710" name="Freeform 73"/>
              <p:cNvSpPr>
                <a:spLocks/>
              </p:cNvSpPr>
              <p:nvPr/>
            </p:nvSpPr>
            <p:spPr bwMode="auto">
              <a:xfrm>
                <a:off x="1794" y="3493"/>
                <a:ext cx="63" cy="38"/>
              </a:xfrm>
              <a:custGeom>
                <a:avLst/>
                <a:gdLst>
                  <a:gd name="T0" fmla="*/ 1 w 125"/>
                  <a:gd name="T1" fmla="*/ 0 h 77"/>
                  <a:gd name="T2" fmla="*/ 1 w 125"/>
                  <a:gd name="T3" fmla="*/ 0 h 77"/>
                  <a:gd name="T4" fmla="*/ 1 w 125"/>
                  <a:gd name="T5" fmla="*/ 0 h 77"/>
                  <a:gd name="T6" fmla="*/ 0 w 125"/>
                  <a:gd name="T7" fmla="*/ 0 h 77"/>
                  <a:gd name="T8" fmla="*/ 1 w 125"/>
                  <a:gd name="T9" fmla="*/ 0 h 77"/>
                  <a:gd name="T10" fmla="*/ 1 w 125"/>
                  <a:gd name="T11" fmla="*/ 0 h 77"/>
                  <a:gd name="T12" fmla="*/ 1 w 125"/>
                  <a:gd name="T13" fmla="*/ 0 h 77"/>
                  <a:gd name="T14" fmla="*/ 1 w 125"/>
                  <a:gd name="T15" fmla="*/ 0 h 77"/>
                  <a:gd name="T16" fmla="*/ 1 w 125"/>
                  <a:gd name="T17" fmla="*/ 0 h 77"/>
                  <a:gd name="T18" fmla="*/ 1 w 125"/>
                  <a:gd name="T19" fmla="*/ 0 h 77"/>
                  <a:gd name="T20" fmla="*/ 1 w 125"/>
                  <a:gd name="T21" fmla="*/ 0 h 77"/>
                  <a:gd name="T22" fmla="*/ 1 w 125"/>
                  <a:gd name="T23" fmla="*/ 0 h 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5"/>
                  <a:gd name="T37" fmla="*/ 0 h 77"/>
                  <a:gd name="T38" fmla="*/ 125 w 125"/>
                  <a:gd name="T39" fmla="*/ 77 h 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5" h="77">
                    <a:moveTo>
                      <a:pt x="103" y="68"/>
                    </a:moveTo>
                    <a:lnTo>
                      <a:pt x="119" y="58"/>
                    </a:lnTo>
                    <a:lnTo>
                      <a:pt x="9" y="0"/>
                    </a:lnTo>
                    <a:lnTo>
                      <a:pt x="0" y="19"/>
                    </a:lnTo>
                    <a:lnTo>
                      <a:pt x="109" y="77"/>
                    </a:lnTo>
                    <a:lnTo>
                      <a:pt x="125" y="68"/>
                    </a:lnTo>
                    <a:lnTo>
                      <a:pt x="109" y="77"/>
                    </a:lnTo>
                    <a:lnTo>
                      <a:pt x="117" y="77"/>
                    </a:lnTo>
                    <a:lnTo>
                      <a:pt x="123" y="72"/>
                    </a:lnTo>
                    <a:lnTo>
                      <a:pt x="125" y="65"/>
                    </a:lnTo>
                    <a:lnTo>
                      <a:pt x="119" y="58"/>
                    </a:lnTo>
                    <a:lnTo>
                      <a:pt x="103" y="68"/>
                    </a:lnTo>
                    <a:close/>
                  </a:path>
                </a:pathLst>
              </a:custGeom>
              <a:solidFill>
                <a:srgbClr val="000000"/>
              </a:solidFill>
              <a:ln w="9525">
                <a:noFill/>
                <a:round/>
                <a:headEnd/>
                <a:tailEnd/>
              </a:ln>
            </p:spPr>
            <p:txBody>
              <a:bodyPr/>
              <a:lstStyle/>
              <a:p>
                <a:endParaRPr lang="en-US"/>
              </a:p>
            </p:txBody>
          </p:sp>
          <p:sp>
            <p:nvSpPr>
              <p:cNvPr id="25711" name="Freeform 74"/>
              <p:cNvSpPr>
                <a:spLocks/>
              </p:cNvSpPr>
              <p:nvPr/>
            </p:nvSpPr>
            <p:spPr bwMode="auto">
              <a:xfrm>
                <a:off x="1947" y="3542"/>
                <a:ext cx="40" cy="31"/>
              </a:xfrm>
              <a:custGeom>
                <a:avLst/>
                <a:gdLst>
                  <a:gd name="T0" fmla="*/ 1 w 80"/>
                  <a:gd name="T1" fmla="*/ 1 h 61"/>
                  <a:gd name="T2" fmla="*/ 1 w 80"/>
                  <a:gd name="T3" fmla="*/ 0 h 61"/>
                  <a:gd name="T4" fmla="*/ 0 w 80"/>
                  <a:gd name="T5" fmla="*/ 1 h 61"/>
                  <a:gd name="T6" fmla="*/ 0 w 80"/>
                  <a:gd name="T7" fmla="*/ 1 h 61"/>
                  <a:gd name="T8" fmla="*/ 1 w 80"/>
                  <a:gd name="T9" fmla="*/ 1 h 61"/>
                  <a:gd name="T10" fmla="*/ 0 60000 65536"/>
                  <a:gd name="T11" fmla="*/ 0 60000 65536"/>
                  <a:gd name="T12" fmla="*/ 0 60000 65536"/>
                  <a:gd name="T13" fmla="*/ 0 60000 65536"/>
                  <a:gd name="T14" fmla="*/ 0 60000 65536"/>
                  <a:gd name="T15" fmla="*/ 0 w 80"/>
                  <a:gd name="T16" fmla="*/ 0 h 61"/>
                  <a:gd name="T17" fmla="*/ 80 w 80"/>
                  <a:gd name="T18" fmla="*/ 61 h 61"/>
                </a:gdLst>
                <a:ahLst/>
                <a:cxnLst>
                  <a:cxn ang="T10">
                    <a:pos x="T0" y="T1"/>
                  </a:cxn>
                  <a:cxn ang="T11">
                    <a:pos x="T2" y="T3"/>
                  </a:cxn>
                  <a:cxn ang="T12">
                    <a:pos x="T4" y="T5"/>
                  </a:cxn>
                  <a:cxn ang="T13">
                    <a:pos x="T6" y="T7"/>
                  </a:cxn>
                  <a:cxn ang="T14">
                    <a:pos x="T8" y="T9"/>
                  </a:cxn>
                </a:cxnLst>
                <a:rect l="T15" t="T16" r="T17" b="T18"/>
                <a:pathLst>
                  <a:path w="80" h="61">
                    <a:moveTo>
                      <a:pt x="80" y="13"/>
                    </a:moveTo>
                    <a:lnTo>
                      <a:pt x="80" y="0"/>
                    </a:lnTo>
                    <a:lnTo>
                      <a:pt x="0" y="50"/>
                    </a:lnTo>
                    <a:lnTo>
                      <a:pt x="0" y="61"/>
                    </a:lnTo>
                    <a:lnTo>
                      <a:pt x="80" y="13"/>
                    </a:lnTo>
                  </a:path>
                </a:pathLst>
              </a:custGeom>
              <a:noFill/>
              <a:ln w="0">
                <a:solidFill>
                  <a:srgbClr val="000000"/>
                </a:solidFill>
                <a:round/>
                <a:headEnd/>
                <a:tailEnd/>
              </a:ln>
            </p:spPr>
            <p:txBody>
              <a:bodyPr/>
              <a:lstStyle/>
              <a:p>
                <a:endParaRPr lang="en-US"/>
              </a:p>
            </p:txBody>
          </p:sp>
          <p:sp>
            <p:nvSpPr>
              <p:cNvPr id="25712" name="Freeform 75"/>
              <p:cNvSpPr>
                <a:spLocks/>
              </p:cNvSpPr>
              <p:nvPr/>
            </p:nvSpPr>
            <p:spPr bwMode="auto">
              <a:xfrm>
                <a:off x="1995" y="3523"/>
                <a:ext cx="11" cy="32"/>
              </a:xfrm>
              <a:custGeom>
                <a:avLst/>
                <a:gdLst>
                  <a:gd name="T0" fmla="*/ 1 w 21"/>
                  <a:gd name="T1" fmla="*/ 0 h 65"/>
                  <a:gd name="T2" fmla="*/ 1 w 21"/>
                  <a:gd name="T3" fmla="*/ 0 h 65"/>
                  <a:gd name="T4" fmla="*/ 1 w 21"/>
                  <a:gd name="T5" fmla="*/ 0 h 65"/>
                  <a:gd name="T6" fmla="*/ 0 w 21"/>
                  <a:gd name="T7" fmla="*/ 0 h 65"/>
                  <a:gd name="T8" fmla="*/ 0 w 21"/>
                  <a:gd name="T9" fmla="*/ 0 h 65"/>
                  <a:gd name="T10" fmla="*/ 1 w 21"/>
                  <a:gd name="T11" fmla="*/ 0 h 65"/>
                  <a:gd name="T12" fmla="*/ 0 60000 65536"/>
                  <a:gd name="T13" fmla="*/ 0 60000 65536"/>
                  <a:gd name="T14" fmla="*/ 0 60000 65536"/>
                  <a:gd name="T15" fmla="*/ 0 60000 65536"/>
                  <a:gd name="T16" fmla="*/ 0 60000 65536"/>
                  <a:gd name="T17" fmla="*/ 0 60000 65536"/>
                  <a:gd name="T18" fmla="*/ 0 w 21"/>
                  <a:gd name="T19" fmla="*/ 0 h 65"/>
                  <a:gd name="T20" fmla="*/ 21 w 2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21" h="65">
                    <a:moveTo>
                      <a:pt x="10" y="65"/>
                    </a:moveTo>
                    <a:lnTo>
                      <a:pt x="21" y="65"/>
                    </a:lnTo>
                    <a:lnTo>
                      <a:pt x="21" y="0"/>
                    </a:lnTo>
                    <a:lnTo>
                      <a:pt x="0" y="0"/>
                    </a:lnTo>
                    <a:lnTo>
                      <a:pt x="0" y="65"/>
                    </a:lnTo>
                    <a:lnTo>
                      <a:pt x="10" y="65"/>
                    </a:lnTo>
                    <a:close/>
                  </a:path>
                </a:pathLst>
              </a:custGeom>
              <a:solidFill>
                <a:srgbClr val="000000"/>
              </a:solidFill>
              <a:ln w="9525">
                <a:noFill/>
                <a:round/>
                <a:headEnd/>
                <a:tailEnd/>
              </a:ln>
            </p:spPr>
            <p:txBody>
              <a:bodyPr/>
              <a:lstStyle/>
              <a:p>
                <a:endParaRPr lang="en-US"/>
              </a:p>
            </p:txBody>
          </p:sp>
          <p:sp>
            <p:nvSpPr>
              <p:cNvPr id="25713" name="Freeform 76"/>
              <p:cNvSpPr>
                <a:spLocks/>
              </p:cNvSpPr>
              <p:nvPr/>
            </p:nvSpPr>
            <p:spPr bwMode="auto">
              <a:xfrm>
                <a:off x="1952" y="3561"/>
                <a:ext cx="145" cy="93"/>
              </a:xfrm>
              <a:custGeom>
                <a:avLst/>
                <a:gdLst>
                  <a:gd name="T0" fmla="*/ 0 w 292"/>
                  <a:gd name="T1" fmla="*/ 1 h 186"/>
                  <a:gd name="T2" fmla="*/ 0 w 292"/>
                  <a:gd name="T3" fmla="*/ 0 h 186"/>
                  <a:gd name="T4" fmla="*/ 0 w 292"/>
                  <a:gd name="T5" fmla="*/ 1 h 186"/>
                  <a:gd name="T6" fmla="*/ 0 w 292"/>
                  <a:gd name="T7" fmla="*/ 1 h 186"/>
                  <a:gd name="T8" fmla="*/ 0 w 292"/>
                  <a:gd name="T9" fmla="*/ 1 h 186"/>
                  <a:gd name="T10" fmla="*/ 0 60000 65536"/>
                  <a:gd name="T11" fmla="*/ 0 60000 65536"/>
                  <a:gd name="T12" fmla="*/ 0 60000 65536"/>
                  <a:gd name="T13" fmla="*/ 0 60000 65536"/>
                  <a:gd name="T14" fmla="*/ 0 60000 65536"/>
                  <a:gd name="T15" fmla="*/ 0 w 292"/>
                  <a:gd name="T16" fmla="*/ 0 h 186"/>
                  <a:gd name="T17" fmla="*/ 292 w 292"/>
                  <a:gd name="T18" fmla="*/ 186 h 186"/>
                </a:gdLst>
                <a:ahLst/>
                <a:cxnLst>
                  <a:cxn ang="T10">
                    <a:pos x="T0" y="T1"/>
                  </a:cxn>
                  <a:cxn ang="T11">
                    <a:pos x="T2" y="T3"/>
                  </a:cxn>
                  <a:cxn ang="T12">
                    <a:pos x="T4" y="T5"/>
                  </a:cxn>
                  <a:cxn ang="T13">
                    <a:pos x="T6" y="T7"/>
                  </a:cxn>
                  <a:cxn ang="T14">
                    <a:pos x="T8" y="T9"/>
                  </a:cxn>
                </a:cxnLst>
                <a:rect l="T15" t="T16" r="T17" b="T18"/>
                <a:pathLst>
                  <a:path w="292" h="186">
                    <a:moveTo>
                      <a:pt x="292" y="20"/>
                    </a:moveTo>
                    <a:lnTo>
                      <a:pt x="292" y="0"/>
                    </a:lnTo>
                    <a:lnTo>
                      <a:pt x="0" y="165"/>
                    </a:lnTo>
                    <a:lnTo>
                      <a:pt x="0" y="186"/>
                    </a:lnTo>
                    <a:lnTo>
                      <a:pt x="292" y="20"/>
                    </a:lnTo>
                    <a:close/>
                  </a:path>
                </a:pathLst>
              </a:custGeom>
              <a:solidFill>
                <a:srgbClr val="007FFF"/>
              </a:solidFill>
              <a:ln w="9525">
                <a:noFill/>
                <a:round/>
                <a:headEnd/>
                <a:tailEnd/>
              </a:ln>
            </p:spPr>
            <p:txBody>
              <a:bodyPr/>
              <a:lstStyle/>
              <a:p>
                <a:endParaRPr lang="en-US"/>
              </a:p>
            </p:txBody>
          </p:sp>
          <p:sp>
            <p:nvSpPr>
              <p:cNvPr id="25714" name="Freeform 77"/>
              <p:cNvSpPr>
                <a:spLocks/>
              </p:cNvSpPr>
              <p:nvPr/>
            </p:nvSpPr>
            <p:spPr bwMode="auto">
              <a:xfrm>
                <a:off x="2093" y="3557"/>
                <a:ext cx="8" cy="14"/>
              </a:xfrm>
              <a:custGeom>
                <a:avLst/>
                <a:gdLst>
                  <a:gd name="T0" fmla="*/ 1 w 15"/>
                  <a:gd name="T1" fmla="*/ 1 h 28"/>
                  <a:gd name="T2" fmla="*/ 0 w 15"/>
                  <a:gd name="T3" fmla="*/ 1 h 28"/>
                  <a:gd name="T4" fmla="*/ 0 w 15"/>
                  <a:gd name="T5" fmla="*/ 1 h 28"/>
                  <a:gd name="T6" fmla="*/ 1 w 15"/>
                  <a:gd name="T7" fmla="*/ 1 h 28"/>
                  <a:gd name="T8" fmla="*/ 1 w 15"/>
                  <a:gd name="T9" fmla="*/ 1 h 28"/>
                  <a:gd name="T10" fmla="*/ 1 w 15"/>
                  <a:gd name="T11" fmla="*/ 1 h 28"/>
                  <a:gd name="T12" fmla="*/ 1 w 15"/>
                  <a:gd name="T13" fmla="*/ 1 h 28"/>
                  <a:gd name="T14" fmla="*/ 1 w 15"/>
                  <a:gd name="T15" fmla="*/ 1 h 28"/>
                  <a:gd name="T16" fmla="*/ 1 w 15"/>
                  <a:gd name="T17" fmla="*/ 0 h 28"/>
                  <a:gd name="T18" fmla="*/ 1 w 15"/>
                  <a:gd name="T19" fmla="*/ 1 h 28"/>
                  <a:gd name="T20" fmla="*/ 0 w 15"/>
                  <a:gd name="T21" fmla="*/ 1 h 28"/>
                  <a:gd name="T22" fmla="*/ 1 w 15"/>
                  <a:gd name="T23" fmla="*/ 1 h 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8"/>
                  <a:gd name="T38" fmla="*/ 15 w 15"/>
                  <a:gd name="T39" fmla="*/ 28 h 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8">
                    <a:moveTo>
                      <a:pt x="11" y="14"/>
                    </a:moveTo>
                    <a:lnTo>
                      <a:pt x="0" y="8"/>
                    </a:lnTo>
                    <a:lnTo>
                      <a:pt x="0" y="28"/>
                    </a:lnTo>
                    <a:lnTo>
                      <a:pt x="15" y="28"/>
                    </a:lnTo>
                    <a:lnTo>
                      <a:pt x="15" y="8"/>
                    </a:lnTo>
                    <a:lnTo>
                      <a:pt x="5" y="1"/>
                    </a:lnTo>
                    <a:lnTo>
                      <a:pt x="15" y="8"/>
                    </a:lnTo>
                    <a:lnTo>
                      <a:pt x="12" y="3"/>
                    </a:lnTo>
                    <a:lnTo>
                      <a:pt x="8" y="0"/>
                    </a:lnTo>
                    <a:lnTo>
                      <a:pt x="3" y="3"/>
                    </a:lnTo>
                    <a:lnTo>
                      <a:pt x="0" y="8"/>
                    </a:lnTo>
                    <a:lnTo>
                      <a:pt x="11" y="14"/>
                    </a:lnTo>
                    <a:close/>
                  </a:path>
                </a:pathLst>
              </a:custGeom>
              <a:solidFill>
                <a:srgbClr val="000000"/>
              </a:solidFill>
              <a:ln w="9525">
                <a:noFill/>
                <a:round/>
                <a:headEnd/>
                <a:tailEnd/>
              </a:ln>
            </p:spPr>
            <p:txBody>
              <a:bodyPr/>
              <a:lstStyle/>
              <a:p>
                <a:endParaRPr lang="en-US"/>
              </a:p>
            </p:txBody>
          </p:sp>
          <p:sp>
            <p:nvSpPr>
              <p:cNvPr id="25715" name="Freeform 78"/>
              <p:cNvSpPr>
                <a:spLocks/>
              </p:cNvSpPr>
              <p:nvPr/>
            </p:nvSpPr>
            <p:spPr bwMode="auto">
              <a:xfrm>
                <a:off x="1948" y="3558"/>
                <a:ext cx="151" cy="89"/>
              </a:xfrm>
              <a:custGeom>
                <a:avLst/>
                <a:gdLst>
                  <a:gd name="T0" fmla="*/ 1 w 302"/>
                  <a:gd name="T1" fmla="*/ 0 h 179"/>
                  <a:gd name="T2" fmla="*/ 1 w 302"/>
                  <a:gd name="T3" fmla="*/ 0 h 179"/>
                  <a:gd name="T4" fmla="*/ 1 w 302"/>
                  <a:gd name="T5" fmla="*/ 0 h 179"/>
                  <a:gd name="T6" fmla="*/ 1 w 302"/>
                  <a:gd name="T7" fmla="*/ 0 h 179"/>
                  <a:gd name="T8" fmla="*/ 1 w 302"/>
                  <a:gd name="T9" fmla="*/ 0 h 179"/>
                  <a:gd name="T10" fmla="*/ 0 w 302"/>
                  <a:gd name="T11" fmla="*/ 0 h 179"/>
                  <a:gd name="T12" fmla="*/ 1 w 302"/>
                  <a:gd name="T13" fmla="*/ 0 h 179"/>
                  <a:gd name="T14" fmla="*/ 1 w 302"/>
                  <a:gd name="T15" fmla="*/ 0 h 179"/>
                  <a:gd name="T16" fmla="*/ 1 w 302"/>
                  <a:gd name="T17" fmla="*/ 0 h 179"/>
                  <a:gd name="T18" fmla="*/ 1 w 302"/>
                  <a:gd name="T19" fmla="*/ 0 h 179"/>
                  <a:gd name="T20" fmla="*/ 1 w 302"/>
                  <a:gd name="T21" fmla="*/ 0 h 179"/>
                  <a:gd name="T22" fmla="*/ 1 w 302"/>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9"/>
                  <a:gd name="T38" fmla="*/ 302 w 302"/>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9">
                    <a:moveTo>
                      <a:pt x="15" y="172"/>
                    </a:moveTo>
                    <a:lnTo>
                      <a:pt x="11" y="179"/>
                    </a:lnTo>
                    <a:lnTo>
                      <a:pt x="302" y="13"/>
                    </a:lnTo>
                    <a:lnTo>
                      <a:pt x="296" y="0"/>
                    </a:lnTo>
                    <a:lnTo>
                      <a:pt x="4" y="166"/>
                    </a:lnTo>
                    <a:lnTo>
                      <a:pt x="0" y="172"/>
                    </a:lnTo>
                    <a:lnTo>
                      <a:pt x="4" y="166"/>
                    </a:lnTo>
                    <a:lnTo>
                      <a:pt x="1" y="169"/>
                    </a:lnTo>
                    <a:lnTo>
                      <a:pt x="1" y="174"/>
                    </a:lnTo>
                    <a:lnTo>
                      <a:pt x="6" y="179"/>
                    </a:lnTo>
                    <a:lnTo>
                      <a:pt x="11" y="179"/>
                    </a:lnTo>
                    <a:lnTo>
                      <a:pt x="15" y="172"/>
                    </a:lnTo>
                    <a:close/>
                  </a:path>
                </a:pathLst>
              </a:custGeom>
              <a:solidFill>
                <a:srgbClr val="000000"/>
              </a:solidFill>
              <a:ln w="9525">
                <a:noFill/>
                <a:round/>
                <a:headEnd/>
                <a:tailEnd/>
              </a:ln>
            </p:spPr>
            <p:txBody>
              <a:bodyPr/>
              <a:lstStyle/>
              <a:p>
                <a:endParaRPr lang="en-US"/>
              </a:p>
            </p:txBody>
          </p:sp>
          <p:sp>
            <p:nvSpPr>
              <p:cNvPr id="25716" name="Freeform 79"/>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4" y="14"/>
                    </a:moveTo>
                    <a:lnTo>
                      <a:pt x="15" y="21"/>
                    </a:lnTo>
                    <a:lnTo>
                      <a:pt x="15" y="0"/>
                    </a:lnTo>
                    <a:lnTo>
                      <a:pt x="0" y="0"/>
                    </a:lnTo>
                    <a:lnTo>
                      <a:pt x="0" y="21"/>
                    </a:lnTo>
                    <a:lnTo>
                      <a:pt x="11" y="27"/>
                    </a:lnTo>
                    <a:lnTo>
                      <a:pt x="0" y="21"/>
                    </a:lnTo>
                    <a:lnTo>
                      <a:pt x="3" y="25"/>
                    </a:lnTo>
                    <a:lnTo>
                      <a:pt x="7" y="27"/>
                    </a:lnTo>
                    <a:lnTo>
                      <a:pt x="12" y="25"/>
                    </a:lnTo>
                    <a:lnTo>
                      <a:pt x="15" y="21"/>
                    </a:lnTo>
                    <a:lnTo>
                      <a:pt x="4" y="14"/>
                    </a:lnTo>
                    <a:close/>
                  </a:path>
                </a:pathLst>
              </a:custGeom>
              <a:solidFill>
                <a:srgbClr val="000000"/>
              </a:solidFill>
              <a:ln w="9525">
                <a:noFill/>
                <a:round/>
                <a:headEnd/>
                <a:tailEnd/>
              </a:ln>
            </p:spPr>
            <p:txBody>
              <a:bodyPr/>
              <a:lstStyle/>
              <a:p>
                <a:endParaRPr lang="en-US"/>
              </a:p>
            </p:txBody>
          </p:sp>
          <p:sp>
            <p:nvSpPr>
              <p:cNvPr id="25717" name="Freeform 80"/>
              <p:cNvSpPr>
                <a:spLocks/>
              </p:cNvSpPr>
              <p:nvPr/>
            </p:nvSpPr>
            <p:spPr bwMode="auto">
              <a:xfrm>
                <a:off x="1950" y="3568"/>
                <a:ext cx="151" cy="89"/>
              </a:xfrm>
              <a:custGeom>
                <a:avLst/>
                <a:gdLst>
                  <a:gd name="T0" fmla="*/ 1 w 302"/>
                  <a:gd name="T1" fmla="*/ 1 h 178"/>
                  <a:gd name="T2" fmla="*/ 1 w 302"/>
                  <a:gd name="T3" fmla="*/ 0 h 178"/>
                  <a:gd name="T4" fmla="*/ 0 w 302"/>
                  <a:gd name="T5" fmla="*/ 1 h 178"/>
                  <a:gd name="T6" fmla="*/ 1 w 302"/>
                  <a:gd name="T7" fmla="*/ 1 h 178"/>
                  <a:gd name="T8" fmla="*/ 1 w 302"/>
                  <a:gd name="T9" fmla="*/ 1 h 178"/>
                  <a:gd name="T10" fmla="*/ 1 w 302"/>
                  <a:gd name="T11" fmla="*/ 1 h 178"/>
                  <a:gd name="T12" fmla="*/ 1 w 302"/>
                  <a:gd name="T13" fmla="*/ 1 h 178"/>
                  <a:gd name="T14" fmla="*/ 1 w 302"/>
                  <a:gd name="T15" fmla="*/ 1 h 178"/>
                  <a:gd name="T16" fmla="*/ 1 w 302"/>
                  <a:gd name="T17" fmla="*/ 1 h 178"/>
                  <a:gd name="T18" fmla="*/ 1 w 302"/>
                  <a:gd name="T19" fmla="*/ 0 h 178"/>
                  <a:gd name="T20" fmla="*/ 1 w 302"/>
                  <a:gd name="T21" fmla="*/ 0 h 178"/>
                  <a:gd name="T22" fmla="*/ 1 w 302"/>
                  <a:gd name="T23" fmla="*/ 1 h 1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8"/>
                  <a:gd name="T38" fmla="*/ 302 w 302"/>
                  <a:gd name="T39" fmla="*/ 178 h 17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8">
                    <a:moveTo>
                      <a:pt x="287" y="6"/>
                    </a:moveTo>
                    <a:lnTo>
                      <a:pt x="292" y="0"/>
                    </a:lnTo>
                    <a:lnTo>
                      <a:pt x="0" y="165"/>
                    </a:lnTo>
                    <a:lnTo>
                      <a:pt x="7" y="178"/>
                    </a:lnTo>
                    <a:lnTo>
                      <a:pt x="298" y="12"/>
                    </a:lnTo>
                    <a:lnTo>
                      <a:pt x="302" y="6"/>
                    </a:lnTo>
                    <a:lnTo>
                      <a:pt x="298" y="12"/>
                    </a:lnTo>
                    <a:lnTo>
                      <a:pt x="301" y="9"/>
                    </a:lnTo>
                    <a:lnTo>
                      <a:pt x="301" y="3"/>
                    </a:lnTo>
                    <a:lnTo>
                      <a:pt x="296" y="0"/>
                    </a:lnTo>
                    <a:lnTo>
                      <a:pt x="292" y="0"/>
                    </a:lnTo>
                    <a:lnTo>
                      <a:pt x="287" y="6"/>
                    </a:lnTo>
                    <a:close/>
                  </a:path>
                </a:pathLst>
              </a:custGeom>
              <a:solidFill>
                <a:srgbClr val="000000"/>
              </a:solidFill>
              <a:ln w="9525">
                <a:noFill/>
                <a:round/>
                <a:headEnd/>
                <a:tailEnd/>
              </a:ln>
            </p:spPr>
            <p:txBody>
              <a:bodyPr/>
              <a:lstStyle/>
              <a:p>
                <a:endParaRPr lang="en-US"/>
              </a:p>
            </p:txBody>
          </p:sp>
          <p:sp>
            <p:nvSpPr>
              <p:cNvPr id="25718" name="Freeform 81"/>
              <p:cNvSpPr>
                <a:spLocks/>
              </p:cNvSpPr>
              <p:nvPr/>
            </p:nvSpPr>
            <p:spPr bwMode="auto">
              <a:xfrm>
                <a:off x="1918" y="3536"/>
                <a:ext cx="179" cy="108"/>
              </a:xfrm>
              <a:custGeom>
                <a:avLst/>
                <a:gdLst>
                  <a:gd name="T0" fmla="*/ 0 w 359"/>
                  <a:gd name="T1" fmla="*/ 0 h 216"/>
                  <a:gd name="T2" fmla="*/ 0 w 359"/>
                  <a:gd name="T3" fmla="*/ 1 h 216"/>
                  <a:gd name="T4" fmla="*/ 0 w 359"/>
                  <a:gd name="T5" fmla="*/ 1 h 216"/>
                  <a:gd name="T6" fmla="*/ 0 w 359"/>
                  <a:gd name="T7" fmla="*/ 1 h 216"/>
                  <a:gd name="T8" fmla="*/ 0 w 359"/>
                  <a:gd name="T9" fmla="*/ 0 h 216"/>
                  <a:gd name="T10" fmla="*/ 0 60000 65536"/>
                  <a:gd name="T11" fmla="*/ 0 60000 65536"/>
                  <a:gd name="T12" fmla="*/ 0 60000 65536"/>
                  <a:gd name="T13" fmla="*/ 0 60000 65536"/>
                  <a:gd name="T14" fmla="*/ 0 60000 65536"/>
                  <a:gd name="T15" fmla="*/ 0 w 359"/>
                  <a:gd name="T16" fmla="*/ 0 h 216"/>
                  <a:gd name="T17" fmla="*/ 359 w 359"/>
                  <a:gd name="T18" fmla="*/ 216 h 216"/>
                </a:gdLst>
                <a:ahLst/>
                <a:cxnLst>
                  <a:cxn ang="T10">
                    <a:pos x="T0" y="T1"/>
                  </a:cxn>
                  <a:cxn ang="T11">
                    <a:pos x="T2" y="T3"/>
                  </a:cxn>
                  <a:cxn ang="T12">
                    <a:pos x="T4" y="T5"/>
                  </a:cxn>
                  <a:cxn ang="T13">
                    <a:pos x="T6" y="T7"/>
                  </a:cxn>
                  <a:cxn ang="T14">
                    <a:pos x="T8" y="T9"/>
                  </a:cxn>
                </a:cxnLst>
                <a:rect l="T15" t="T16" r="T17" b="T18"/>
                <a:pathLst>
                  <a:path w="359" h="216">
                    <a:moveTo>
                      <a:pt x="285" y="0"/>
                    </a:moveTo>
                    <a:lnTo>
                      <a:pt x="359" y="51"/>
                    </a:lnTo>
                    <a:lnTo>
                      <a:pt x="67" y="216"/>
                    </a:lnTo>
                    <a:lnTo>
                      <a:pt x="0" y="169"/>
                    </a:lnTo>
                    <a:lnTo>
                      <a:pt x="285" y="0"/>
                    </a:lnTo>
                    <a:close/>
                  </a:path>
                </a:pathLst>
              </a:custGeom>
              <a:solidFill>
                <a:srgbClr val="99D8FF"/>
              </a:solidFill>
              <a:ln w="9525">
                <a:noFill/>
                <a:round/>
                <a:headEnd/>
                <a:tailEnd/>
              </a:ln>
            </p:spPr>
            <p:txBody>
              <a:bodyPr/>
              <a:lstStyle/>
              <a:p>
                <a:endParaRPr lang="en-US"/>
              </a:p>
            </p:txBody>
          </p:sp>
          <p:sp>
            <p:nvSpPr>
              <p:cNvPr id="25719" name="Freeform 82"/>
              <p:cNvSpPr>
                <a:spLocks/>
              </p:cNvSpPr>
              <p:nvPr/>
            </p:nvSpPr>
            <p:spPr bwMode="auto">
              <a:xfrm>
                <a:off x="2058" y="3533"/>
                <a:ext cx="43" cy="32"/>
              </a:xfrm>
              <a:custGeom>
                <a:avLst/>
                <a:gdLst>
                  <a:gd name="T0" fmla="*/ 1 w 86"/>
                  <a:gd name="T1" fmla="*/ 1 h 64"/>
                  <a:gd name="T2" fmla="*/ 1 w 86"/>
                  <a:gd name="T3" fmla="*/ 1 h 64"/>
                  <a:gd name="T4" fmla="*/ 1 w 86"/>
                  <a:gd name="T5" fmla="*/ 0 h 64"/>
                  <a:gd name="T6" fmla="*/ 0 w 86"/>
                  <a:gd name="T7" fmla="*/ 1 h 64"/>
                  <a:gd name="T8" fmla="*/ 1 w 86"/>
                  <a:gd name="T9" fmla="*/ 1 h 64"/>
                  <a:gd name="T10" fmla="*/ 1 w 86"/>
                  <a:gd name="T11" fmla="*/ 1 h 64"/>
                  <a:gd name="T12" fmla="*/ 1 w 86"/>
                  <a:gd name="T13" fmla="*/ 1 h 64"/>
                  <a:gd name="T14" fmla="*/ 1 w 86"/>
                  <a:gd name="T15" fmla="*/ 1 h 64"/>
                  <a:gd name="T16" fmla="*/ 1 w 86"/>
                  <a:gd name="T17" fmla="*/ 1 h 64"/>
                  <a:gd name="T18" fmla="*/ 1 w 86"/>
                  <a:gd name="T19" fmla="*/ 1 h 64"/>
                  <a:gd name="T20" fmla="*/ 1 w 86"/>
                  <a:gd name="T21" fmla="*/ 1 h 64"/>
                  <a:gd name="T22" fmla="*/ 1 w 86"/>
                  <a:gd name="T23" fmla="*/ 1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
                  <a:gd name="T37" fmla="*/ 0 h 64"/>
                  <a:gd name="T38" fmla="*/ 86 w 86"/>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 h="64">
                    <a:moveTo>
                      <a:pt x="82" y="63"/>
                    </a:moveTo>
                    <a:lnTo>
                      <a:pt x="83" y="50"/>
                    </a:lnTo>
                    <a:lnTo>
                      <a:pt x="10" y="0"/>
                    </a:lnTo>
                    <a:lnTo>
                      <a:pt x="0" y="13"/>
                    </a:lnTo>
                    <a:lnTo>
                      <a:pt x="74" y="63"/>
                    </a:lnTo>
                    <a:lnTo>
                      <a:pt x="76" y="50"/>
                    </a:lnTo>
                    <a:lnTo>
                      <a:pt x="74" y="63"/>
                    </a:lnTo>
                    <a:lnTo>
                      <a:pt x="80" y="64"/>
                    </a:lnTo>
                    <a:lnTo>
                      <a:pt x="85" y="61"/>
                    </a:lnTo>
                    <a:lnTo>
                      <a:pt x="86" y="55"/>
                    </a:lnTo>
                    <a:lnTo>
                      <a:pt x="83" y="50"/>
                    </a:lnTo>
                    <a:lnTo>
                      <a:pt x="82" y="63"/>
                    </a:lnTo>
                    <a:close/>
                  </a:path>
                </a:pathLst>
              </a:custGeom>
              <a:solidFill>
                <a:srgbClr val="000000"/>
              </a:solidFill>
              <a:ln w="9525">
                <a:noFill/>
                <a:round/>
                <a:headEnd/>
                <a:tailEnd/>
              </a:ln>
            </p:spPr>
            <p:txBody>
              <a:bodyPr/>
              <a:lstStyle/>
              <a:p>
                <a:endParaRPr lang="en-US"/>
              </a:p>
            </p:txBody>
          </p:sp>
          <p:sp>
            <p:nvSpPr>
              <p:cNvPr id="25720" name="Freeform 83"/>
              <p:cNvSpPr>
                <a:spLocks/>
              </p:cNvSpPr>
              <p:nvPr/>
            </p:nvSpPr>
            <p:spPr bwMode="auto">
              <a:xfrm>
                <a:off x="1949" y="3558"/>
                <a:ext cx="150" cy="89"/>
              </a:xfrm>
              <a:custGeom>
                <a:avLst/>
                <a:gdLst>
                  <a:gd name="T0" fmla="*/ 0 w 301"/>
                  <a:gd name="T1" fmla="*/ 0 h 179"/>
                  <a:gd name="T2" fmla="*/ 0 w 301"/>
                  <a:gd name="T3" fmla="*/ 0 h 179"/>
                  <a:gd name="T4" fmla="*/ 0 w 301"/>
                  <a:gd name="T5" fmla="*/ 0 h 179"/>
                  <a:gd name="T6" fmla="*/ 0 w 301"/>
                  <a:gd name="T7" fmla="*/ 0 h 179"/>
                  <a:gd name="T8" fmla="*/ 0 w 301"/>
                  <a:gd name="T9" fmla="*/ 0 h 179"/>
                  <a:gd name="T10" fmla="*/ 0 w 301"/>
                  <a:gd name="T11" fmla="*/ 0 h 179"/>
                  <a:gd name="T12" fmla="*/ 0 w 301"/>
                  <a:gd name="T13" fmla="*/ 0 h 179"/>
                  <a:gd name="T14" fmla="*/ 0 w 301"/>
                  <a:gd name="T15" fmla="*/ 0 h 179"/>
                  <a:gd name="T16" fmla="*/ 0 w 301"/>
                  <a:gd name="T17" fmla="*/ 0 h 179"/>
                  <a:gd name="T18" fmla="*/ 0 w 301"/>
                  <a:gd name="T19" fmla="*/ 0 h 179"/>
                  <a:gd name="T20" fmla="*/ 0 w 301"/>
                  <a:gd name="T21" fmla="*/ 0 h 179"/>
                  <a:gd name="T22" fmla="*/ 0 w 301"/>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179"/>
                  <a:gd name="T38" fmla="*/ 301 w 301"/>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179">
                    <a:moveTo>
                      <a:pt x="2" y="179"/>
                    </a:moveTo>
                    <a:lnTo>
                      <a:pt x="10" y="179"/>
                    </a:lnTo>
                    <a:lnTo>
                      <a:pt x="301" y="13"/>
                    </a:lnTo>
                    <a:lnTo>
                      <a:pt x="295" y="0"/>
                    </a:lnTo>
                    <a:lnTo>
                      <a:pt x="3" y="166"/>
                    </a:lnTo>
                    <a:lnTo>
                      <a:pt x="11" y="166"/>
                    </a:lnTo>
                    <a:lnTo>
                      <a:pt x="3" y="166"/>
                    </a:lnTo>
                    <a:lnTo>
                      <a:pt x="0" y="169"/>
                    </a:lnTo>
                    <a:lnTo>
                      <a:pt x="0" y="174"/>
                    </a:lnTo>
                    <a:lnTo>
                      <a:pt x="5" y="179"/>
                    </a:lnTo>
                    <a:lnTo>
                      <a:pt x="10" y="179"/>
                    </a:lnTo>
                    <a:lnTo>
                      <a:pt x="2" y="179"/>
                    </a:lnTo>
                    <a:close/>
                  </a:path>
                </a:pathLst>
              </a:custGeom>
              <a:solidFill>
                <a:srgbClr val="000000"/>
              </a:solidFill>
              <a:ln w="9525">
                <a:noFill/>
                <a:round/>
                <a:headEnd/>
                <a:tailEnd/>
              </a:ln>
            </p:spPr>
            <p:txBody>
              <a:bodyPr/>
              <a:lstStyle/>
              <a:p>
                <a:endParaRPr lang="en-US"/>
              </a:p>
            </p:txBody>
          </p:sp>
          <p:sp>
            <p:nvSpPr>
              <p:cNvPr id="25721" name="Freeform 84"/>
              <p:cNvSpPr>
                <a:spLocks/>
              </p:cNvSpPr>
              <p:nvPr/>
            </p:nvSpPr>
            <p:spPr bwMode="auto">
              <a:xfrm>
                <a:off x="1914" y="3616"/>
                <a:ext cx="40" cy="31"/>
              </a:xfrm>
              <a:custGeom>
                <a:avLst/>
                <a:gdLst>
                  <a:gd name="T0" fmla="*/ 1 w 80"/>
                  <a:gd name="T1" fmla="*/ 1 h 61"/>
                  <a:gd name="T2" fmla="*/ 1 w 80"/>
                  <a:gd name="T3" fmla="*/ 1 h 61"/>
                  <a:gd name="T4" fmla="*/ 1 w 80"/>
                  <a:gd name="T5" fmla="*/ 1 h 61"/>
                  <a:gd name="T6" fmla="*/ 1 w 80"/>
                  <a:gd name="T7" fmla="*/ 1 h 61"/>
                  <a:gd name="T8" fmla="*/ 1 w 80"/>
                  <a:gd name="T9" fmla="*/ 1 h 61"/>
                  <a:gd name="T10" fmla="*/ 1 w 80"/>
                  <a:gd name="T11" fmla="*/ 1 h 61"/>
                  <a:gd name="T12" fmla="*/ 1 w 80"/>
                  <a:gd name="T13" fmla="*/ 1 h 61"/>
                  <a:gd name="T14" fmla="*/ 1 w 80"/>
                  <a:gd name="T15" fmla="*/ 0 h 61"/>
                  <a:gd name="T16" fmla="*/ 1 w 80"/>
                  <a:gd name="T17" fmla="*/ 1 h 61"/>
                  <a:gd name="T18" fmla="*/ 0 w 80"/>
                  <a:gd name="T19" fmla="*/ 1 h 61"/>
                  <a:gd name="T20" fmla="*/ 1 w 80"/>
                  <a:gd name="T21" fmla="*/ 1 h 61"/>
                  <a:gd name="T22" fmla="*/ 1 w 80"/>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0"/>
                  <a:gd name="T37" fmla="*/ 0 h 61"/>
                  <a:gd name="T38" fmla="*/ 80 w 80"/>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0" h="61">
                    <a:moveTo>
                      <a:pt x="3" y="1"/>
                    </a:moveTo>
                    <a:lnTo>
                      <a:pt x="3" y="14"/>
                    </a:lnTo>
                    <a:lnTo>
                      <a:pt x="71" y="61"/>
                    </a:lnTo>
                    <a:lnTo>
                      <a:pt x="80" y="48"/>
                    </a:lnTo>
                    <a:lnTo>
                      <a:pt x="13" y="1"/>
                    </a:lnTo>
                    <a:lnTo>
                      <a:pt x="13" y="14"/>
                    </a:lnTo>
                    <a:lnTo>
                      <a:pt x="13" y="1"/>
                    </a:lnTo>
                    <a:lnTo>
                      <a:pt x="7" y="0"/>
                    </a:lnTo>
                    <a:lnTo>
                      <a:pt x="2" y="3"/>
                    </a:lnTo>
                    <a:lnTo>
                      <a:pt x="0" y="7"/>
                    </a:lnTo>
                    <a:lnTo>
                      <a:pt x="3" y="14"/>
                    </a:lnTo>
                    <a:lnTo>
                      <a:pt x="3" y="1"/>
                    </a:lnTo>
                    <a:close/>
                  </a:path>
                </a:pathLst>
              </a:custGeom>
              <a:solidFill>
                <a:srgbClr val="000000"/>
              </a:solidFill>
              <a:ln w="9525">
                <a:noFill/>
                <a:round/>
                <a:headEnd/>
                <a:tailEnd/>
              </a:ln>
            </p:spPr>
            <p:txBody>
              <a:bodyPr/>
              <a:lstStyle/>
              <a:p>
                <a:endParaRPr lang="en-US"/>
              </a:p>
            </p:txBody>
          </p:sp>
          <p:sp>
            <p:nvSpPr>
              <p:cNvPr id="25722" name="Freeform 85"/>
              <p:cNvSpPr>
                <a:spLocks/>
              </p:cNvSpPr>
              <p:nvPr/>
            </p:nvSpPr>
            <p:spPr bwMode="auto">
              <a:xfrm>
                <a:off x="1916" y="3532"/>
                <a:ext cx="148" cy="91"/>
              </a:xfrm>
              <a:custGeom>
                <a:avLst/>
                <a:gdLst>
                  <a:gd name="T0" fmla="*/ 0 w 298"/>
                  <a:gd name="T1" fmla="*/ 0 h 183"/>
                  <a:gd name="T2" fmla="*/ 0 w 298"/>
                  <a:gd name="T3" fmla="*/ 0 h 183"/>
                  <a:gd name="T4" fmla="*/ 0 w 298"/>
                  <a:gd name="T5" fmla="*/ 0 h 183"/>
                  <a:gd name="T6" fmla="*/ 0 w 298"/>
                  <a:gd name="T7" fmla="*/ 0 h 183"/>
                  <a:gd name="T8" fmla="*/ 0 w 298"/>
                  <a:gd name="T9" fmla="*/ 0 h 183"/>
                  <a:gd name="T10" fmla="*/ 0 w 298"/>
                  <a:gd name="T11" fmla="*/ 0 h 183"/>
                  <a:gd name="T12" fmla="*/ 0 w 298"/>
                  <a:gd name="T13" fmla="*/ 0 h 183"/>
                  <a:gd name="T14" fmla="*/ 0 w 298"/>
                  <a:gd name="T15" fmla="*/ 0 h 183"/>
                  <a:gd name="T16" fmla="*/ 0 w 298"/>
                  <a:gd name="T17" fmla="*/ 0 h 183"/>
                  <a:gd name="T18" fmla="*/ 0 w 298"/>
                  <a:gd name="T19" fmla="*/ 0 h 183"/>
                  <a:gd name="T20" fmla="*/ 0 w 298"/>
                  <a:gd name="T21" fmla="*/ 0 h 183"/>
                  <a:gd name="T22" fmla="*/ 0 w 298"/>
                  <a:gd name="T23" fmla="*/ 0 h 1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8"/>
                  <a:gd name="T37" fmla="*/ 0 h 183"/>
                  <a:gd name="T38" fmla="*/ 298 w 298"/>
                  <a:gd name="T39" fmla="*/ 183 h 1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8" h="183">
                    <a:moveTo>
                      <a:pt x="295" y="1"/>
                    </a:moveTo>
                    <a:lnTo>
                      <a:pt x="285" y="1"/>
                    </a:lnTo>
                    <a:lnTo>
                      <a:pt x="0" y="170"/>
                    </a:lnTo>
                    <a:lnTo>
                      <a:pt x="10" y="183"/>
                    </a:lnTo>
                    <a:lnTo>
                      <a:pt x="295" y="14"/>
                    </a:lnTo>
                    <a:lnTo>
                      <a:pt x="285" y="14"/>
                    </a:lnTo>
                    <a:lnTo>
                      <a:pt x="295" y="14"/>
                    </a:lnTo>
                    <a:lnTo>
                      <a:pt x="298" y="7"/>
                    </a:lnTo>
                    <a:lnTo>
                      <a:pt x="296" y="3"/>
                    </a:lnTo>
                    <a:lnTo>
                      <a:pt x="292" y="0"/>
                    </a:lnTo>
                    <a:lnTo>
                      <a:pt x="285" y="1"/>
                    </a:lnTo>
                    <a:lnTo>
                      <a:pt x="295" y="1"/>
                    </a:lnTo>
                    <a:close/>
                  </a:path>
                </a:pathLst>
              </a:custGeom>
              <a:solidFill>
                <a:srgbClr val="000000"/>
              </a:solidFill>
              <a:ln w="9525">
                <a:noFill/>
                <a:round/>
                <a:headEnd/>
                <a:tailEnd/>
              </a:ln>
            </p:spPr>
            <p:txBody>
              <a:bodyPr/>
              <a:lstStyle/>
              <a:p>
                <a:endParaRPr lang="en-US"/>
              </a:p>
            </p:txBody>
          </p:sp>
          <p:sp>
            <p:nvSpPr>
              <p:cNvPr id="25723" name="Freeform 86"/>
              <p:cNvSpPr>
                <a:spLocks/>
              </p:cNvSpPr>
              <p:nvPr/>
            </p:nvSpPr>
            <p:spPr bwMode="auto">
              <a:xfrm>
                <a:off x="1919" y="3620"/>
                <a:ext cx="33" cy="34"/>
              </a:xfrm>
              <a:custGeom>
                <a:avLst/>
                <a:gdLst>
                  <a:gd name="T0" fmla="*/ 0 w 65"/>
                  <a:gd name="T1" fmla="*/ 1 h 68"/>
                  <a:gd name="T2" fmla="*/ 0 w 65"/>
                  <a:gd name="T3" fmla="*/ 0 h 68"/>
                  <a:gd name="T4" fmla="*/ 1 w 65"/>
                  <a:gd name="T5" fmla="*/ 1 h 68"/>
                  <a:gd name="T6" fmla="*/ 1 w 65"/>
                  <a:gd name="T7" fmla="*/ 1 h 68"/>
                  <a:gd name="T8" fmla="*/ 0 w 65"/>
                  <a:gd name="T9" fmla="*/ 1 h 68"/>
                  <a:gd name="T10" fmla="*/ 0 60000 65536"/>
                  <a:gd name="T11" fmla="*/ 0 60000 65536"/>
                  <a:gd name="T12" fmla="*/ 0 60000 65536"/>
                  <a:gd name="T13" fmla="*/ 0 60000 65536"/>
                  <a:gd name="T14" fmla="*/ 0 60000 65536"/>
                  <a:gd name="T15" fmla="*/ 0 w 65"/>
                  <a:gd name="T16" fmla="*/ 0 h 68"/>
                  <a:gd name="T17" fmla="*/ 65 w 65"/>
                  <a:gd name="T18" fmla="*/ 68 h 68"/>
                </a:gdLst>
                <a:ahLst/>
                <a:cxnLst>
                  <a:cxn ang="T10">
                    <a:pos x="T0" y="T1"/>
                  </a:cxn>
                  <a:cxn ang="T11">
                    <a:pos x="T2" y="T3"/>
                  </a:cxn>
                  <a:cxn ang="T12">
                    <a:pos x="T4" y="T5"/>
                  </a:cxn>
                  <a:cxn ang="T13">
                    <a:pos x="T6" y="T7"/>
                  </a:cxn>
                  <a:cxn ang="T14">
                    <a:pos x="T8" y="T9"/>
                  </a:cxn>
                </a:cxnLst>
                <a:rect l="T15" t="T16" r="T17" b="T18"/>
                <a:pathLst>
                  <a:path w="65" h="68">
                    <a:moveTo>
                      <a:pt x="0" y="29"/>
                    </a:moveTo>
                    <a:lnTo>
                      <a:pt x="0" y="0"/>
                    </a:lnTo>
                    <a:lnTo>
                      <a:pt x="65" y="47"/>
                    </a:lnTo>
                    <a:lnTo>
                      <a:pt x="65" y="68"/>
                    </a:lnTo>
                    <a:lnTo>
                      <a:pt x="0" y="29"/>
                    </a:lnTo>
                    <a:close/>
                  </a:path>
                </a:pathLst>
              </a:custGeom>
              <a:solidFill>
                <a:srgbClr val="4CB2FF"/>
              </a:solidFill>
              <a:ln w="9525">
                <a:noFill/>
                <a:round/>
                <a:headEnd/>
                <a:tailEnd/>
              </a:ln>
            </p:spPr>
            <p:txBody>
              <a:bodyPr/>
              <a:lstStyle/>
              <a:p>
                <a:endParaRPr lang="en-US"/>
              </a:p>
            </p:txBody>
          </p:sp>
          <p:sp>
            <p:nvSpPr>
              <p:cNvPr id="25724" name="Freeform 87"/>
              <p:cNvSpPr>
                <a:spLocks/>
              </p:cNvSpPr>
              <p:nvPr/>
            </p:nvSpPr>
            <p:spPr bwMode="auto">
              <a:xfrm>
                <a:off x="1915" y="3616"/>
                <a:ext cx="8" cy="18"/>
              </a:xfrm>
              <a:custGeom>
                <a:avLst/>
                <a:gdLst>
                  <a:gd name="T0" fmla="*/ 1 w 15"/>
                  <a:gd name="T1" fmla="*/ 1 h 36"/>
                  <a:gd name="T2" fmla="*/ 0 w 15"/>
                  <a:gd name="T3" fmla="*/ 1 h 36"/>
                  <a:gd name="T4" fmla="*/ 0 w 15"/>
                  <a:gd name="T5" fmla="*/ 1 h 36"/>
                  <a:gd name="T6" fmla="*/ 1 w 15"/>
                  <a:gd name="T7" fmla="*/ 1 h 36"/>
                  <a:gd name="T8" fmla="*/ 1 w 15"/>
                  <a:gd name="T9" fmla="*/ 1 h 36"/>
                  <a:gd name="T10" fmla="*/ 1 w 15"/>
                  <a:gd name="T11" fmla="*/ 1 h 36"/>
                  <a:gd name="T12" fmla="*/ 1 w 15"/>
                  <a:gd name="T13" fmla="*/ 1 h 36"/>
                  <a:gd name="T14" fmla="*/ 1 w 15"/>
                  <a:gd name="T15" fmla="*/ 1 h 36"/>
                  <a:gd name="T16" fmla="*/ 1 w 15"/>
                  <a:gd name="T17" fmla="*/ 0 h 36"/>
                  <a:gd name="T18" fmla="*/ 1 w 15"/>
                  <a:gd name="T19" fmla="*/ 1 h 36"/>
                  <a:gd name="T20" fmla="*/ 0 w 15"/>
                  <a:gd name="T21" fmla="*/ 1 h 36"/>
                  <a:gd name="T22" fmla="*/ 1 w 15"/>
                  <a:gd name="T23" fmla="*/ 1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36"/>
                  <a:gd name="T38" fmla="*/ 15 w 15"/>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36">
                    <a:moveTo>
                      <a:pt x="12" y="1"/>
                    </a:moveTo>
                    <a:lnTo>
                      <a:pt x="0" y="7"/>
                    </a:lnTo>
                    <a:lnTo>
                      <a:pt x="0" y="36"/>
                    </a:lnTo>
                    <a:lnTo>
                      <a:pt x="15" y="36"/>
                    </a:lnTo>
                    <a:lnTo>
                      <a:pt x="15" y="7"/>
                    </a:lnTo>
                    <a:lnTo>
                      <a:pt x="3" y="14"/>
                    </a:lnTo>
                    <a:lnTo>
                      <a:pt x="15" y="7"/>
                    </a:lnTo>
                    <a:lnTo>
                      <a:pt x="12" y="3"/>
                    </a:lnTo>
                    <a:lnTo>
                      <a:pt x="8" y="0"/>
                    </a:lnTo>
                    <a:lnTo>
                      <a:pt x="3" y="3"/>
                    </a:lnTo>
                    <a:lnTo>
                      <a:pt x="0" y="7"/>
                    </a:lnTo>
                    <a:lnTo>
                      <a:pt x="12" y="1"/>
                    </a:lnTo>
                    <a:close/>
                  </a:path>
                </a:pathLst>
              </a:custGeom>
              <a:solidFill>
                <a:srgbClr val="000000"/>
              </a:solidFill>
              <a:ln w="9525">
                <a:noFill/>
                <a:round/>
                <a:headEnd/>
                <a:tailEnd/>
              </a:ln>
            </p:spPr>
            <p:txBody>
              <a:bodyPr/>
              <a:lstStyle/>
              <a:p>
                <a:endParaRPr lang="en-US"/>
              </a:p>
            </p:txBody>
          </p:sp>
          <p:sp>
            <p:nvSpPr>
              <p:cNvPr id="25725" name="Freeform 88"/>
              <p:cNvSpPr>
                <a:spLocks/>
              </p:cNvSpPr>
              <p:nvPr/>
            </p:nvSpPr>
            <p:spPr bwMode="auto">
              <a:xfrm>
                <a:off x="1916" y="3617"/>
                <a:ext cx="40" cy="31"/>
              </a:xfrm>
              <a:custGeom>
                <a:avLst/>
                <a:gdLst>
                  <a:gd name="T0" fmla="*/ 1 w 78"/>
                  <a:gd name="T1" fmla="*/ 1 h 61"/>
                  <a:gd name="T2" fmla="*/ 1 w 78"/>
                  <a:gd name="T3" fmla="*/ 1 h 61"/>
                  <a:gd name="T4" fmla="*/ 1 w 78"/>
                  <a:gd name="T5" fmla="*/ 0 h 61"/>
                  <a:gd name="T6" fmla="*/ 0 w 78"/>
                  <a:gd name="T7" fmla="*/ 1 h 61"/>
                  <a:gd name="T8" fmla="*/ 1 w 78"/>
                  <a:gd name="T9" fmla="*/ 1 h 61"/>
                  <a:gd name="T10" fmla="*/ 1 w 78"/>
                  <a:gd name="T11" fmla="*/ 1 h 61"/>
                  <a:gd name="T12" fmla="*/ 1 w 78"/>
                  <a:gd name="T13" fmla="*/ 1 h 61"/>
                  <a:gd name="T14" fmla="*/ 1 w 78"/>
                  <a:gd name="T15" fmla="*/ 1 h 61"/>
                  <a:gd name="T16" fmla="*/ 1 w 78"/>
                  <a:gd name="T17" fmla="*/ 1 h 61"/>
                  <a:gd name="T18" fmla="*/ 1 w 78"/>
                  <a:gd name="T19" fmla="*/ 1 h 61"/>
                  <a:gd name="T20" fmla="*/ 1 w 78"/>
                  <a:gd name="T21" fmla="*/ 1 h 61"/>
                  <a:gd name="T22" fmla="*/ 1 w 78"/>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61"/>
                  <a:gd name="T38" fmla="*/ 78 w 78"/>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61">
                    <a:moveTo>
                      <a:pt x="78" y="53"/>
                    </a:moveTo>
                    <a:lnTo>
                      <a:pt x="75" y="47"/>
                    </a:lnTo>
                    <a:lnTo>
                      <a:pt x="9" y="0"/>
                    </a:lnTo>
                    <a:lnTo>
                      <a:pt x="0" y="13"/>
                    </a:lnTo>
                    <a:lnTo>
                      <a:pt x="66" y="60"/>
                    </a:lnTo>
                    <a:lnTo>
                      <a:pt x="63" y="53"/>
                    </a:lnTo>
                    <a:lnTo>
                      <a:pt x="66" y="60"/>
                    </a:lnTo>
                    <a:lnTo>
                      <a:pt x="72" y="61"/>
                    </a:lnTo>
                    <a:lnTo>
                      <a:pt x="77" y="58"/>
                    </a:lnTo>
                    <a:lnTo>
                      <a:pt x="78" y="52"/>
                    </a:lnTo>
                    <a:lnTo>
                      <a:pt x="75" y="47"/>
                    </a:lnTo>
                    <a:lnTo>
                      <a:pt x="78" y="53"/>
                    </a:lnTo>
                    <a:close/>
                  </a:path>
                </a:pathLst>
              </a:custGeom>
              <a:solidFill>
                <a:srgbClr val="000000"/>
              </a:solidFill>
              <a:ln w="9525">
                <a:noFill/>
                <a:round/>
                <a:headEnd/>
                <a:tailEnd/>
              </a:ln>
            </p:spPr>
            <p:txBody>
              <a:bodyPr/>
              <a:lstStyle/>
              <a:p>
                <a:endParaRPr lang="en-US"/>
              </a:p>
            </p:txBody>
          </p:sp>
          <p:sp>
            <p:nvSpPr>
              <p:cNvPr id="25726" name="Freeform 89"/>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3" y="27"/>
                    </a:moveTo>
                    <a:lnTo>
                      <a:pt x="15" y="21"/>
                    </a:lnTo>
                    <a:lnTo>
                      <a:pt x="15" y="0"/>
                    </a:lnTo>
                    <a:lnTo>
                      <a:pt x="0" y="0"/>
                    </a:lnTo>
                    <a:lnTo>
                      <a:pt x="0" y="21"/>
                    </a:lnTo>
                    <a:lnTo>
                      <a:pt x="12" y="14"/>
                    </a:lnTo>
                    <a:lnTo>
                      <a:pt x="0" y="21"/>
                    </a:lnTo>
                    <a:lnTo>
                      <a:pt x="3" y="25"/>
                    </a:lnTo>
                    <a:lnTo>
                      <a:pt x="7" y="27"/>
                    </a:lnTo>
                    <a:lnTo>
                      <a:pt x="12" y="25"/>
                    </a:lnTo>
                    <a:lnTo>
                      <a:pt x="15" y="21"/>
                    </a:lnTo>
                    <a:lnTo>
                      <a:pt x="3" y="27"/>
                    </a:lnTo>
                    <a:close/>
                  </a:path>
                </a:pathLst>
              </a:custGeom>
              <a:solidFill>
                <a:srgbClr val="000000"/>
              </a:solidFill>
              <a:ln w="9525">
                <a:noFill/>
                <a:round/>
                <a:headEnd/>
                <a:tailEnd/>
              </a:ln>
            </p:spPr>
            <p:txBody>
              <a:bodyPr/>
              <a:lstStyle/>
              <a:p>
                <a:endParaRPr lang="en-US"/>
              </a:p>
            </p:txBody>
          </p:sp>
          <p:sp>
            <p:nvSpPr>
              <p:cNvPr id="25727" name="Freeform 90"/>
              <p:cNvSpPr>
                <a:spLocks/>
              </p:cNvSpPr>
              <p:nvPr/>
            </p:nvSpPr>
            <p:spPr bwMode="auto">
              <a:xfrm>
                <a:off x="1915" y="3630"/>
                <a:ext cx="39" cy="27"/>
              </a:xfrm>
              <a:custGeom>
                <a:avLst/>
                <a:gdLst>
                  <a:gd name="T0" fmla="*/ 0 w 78"/>
                  <a:gd name="T1" fmla="*/ 1 h 53"/>
                  <a:gd name="T2" fmla="*/ 1 w 78"/>
                  <a:gd name="T3" fmla="*/ 1 h 53"/>
                  <a:gd name="T4" fmla="*/ 1 w 78"/>
                  <a:gd name="T5" fmla="*/ 1 h 53"/>
                  <a:gd name="T6" fmla="*/ 1 w 78"/>
                  <a:gd name="T7" fmla="*/ 1 h 53"/>
                  <a:gd name="T8" fmla="*/ 1 w 78"/>
                  <a:gd name="T9" fmla="*/ 1 h 53"/>
                  <a:gd name="T10" fmla="*/ 1 w 78"/>
                  <a:gd name="T11" fmla="*/ 1 h 53"/>
                  <a:gd name="T12" fmla="*/ 1 w 78"/>
                  <a:gd name="T13" fmla="*/ 1 h 53"/>
                  <a:gd name="T14" fmla="*/ 1 w 78"/>
                  <a:gd name="T15" fmla="*/ 0 h 53"/>
                  <a:gd name="T16" fmla="*/ 1 w 78"/>
                  <a:gd name="T17" fmla="*/ 1 h 53"/>
                  <a:gd name="T18" fmla="*/ 0 w 78"/>
                  <a:gd name="T19" fmla="*/ 1 h 53"/>
                  <a:gd name="T20" fmla="*/ 1 w 78"/>
                  <a:gd name="T21" fmla="*/ 1 h 53"/>
                  <a:gd name="T22" fmla="*/ 0 w 78"/>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53"/>
                  <a:gd name="T38" fmla="*/ 78 w 78"/>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53">
                    <a:moveTo>
                      <a:pt x="0" y="8"/>
                    </a:moveTo>
                    <a:lnTo>
                      <a:pt x="3" y="14"/>
                    </a:lnTo>
                    <a:lnTo>
                      <a:pt x="69" y="53"/>
                    </a:lnTo>
                    <a:lnTo>
                      <a:pt x="78" y="40"/>
                    </a:lnTo>
                    <a:lnTo>
                      <a:pt x="12" y="1"/>
                    </a:lnTo>
                    <a:lnTo>
                      <a:pt x="15" y="8"/>
                    </a:lnTo>
                    <a:lnTo>
                      <a:pt x="12" y="1"/>
                    </a:lnTo>
                    <a:lnTo>
                      <a:pt x="6" y="0"/>
                    </a:lnTo>
                    <a:lnTo>
                      <a:pt x="1" y="3"/>
                    </a:lnTo>
                    <a:lnTo>
                      <a:pt x="0" y="8"/>
                    </a:lnTo>
                    <a:lnTo>
                      <a:pt x="3" y="14"/>
                    </a:lnTo>
                    <a:lnTo>
                      <a:pt x="0" y="8"/>
                    </a:lnTo>
                    <a:close/>
                  </a:path>
                </a:pathLst>
              </a:custGeom>
              <a:solidFill>
                <a:srgbClr val="000000"/>
              </a:solidFill>
              <a:ln w="9525">
                <a:noFill/>
                <a:round/>
                <a:headEnd/>
                <a:tailEnd/>
              </a:ln>
            </p:spPr>
            <p:txBody>
              <a:bodyPr/>
              <a:lstStyle/>
              <a:p>
                <a:endParaRPr lang="en-US"/>
              </a:p>
            </p:txBody>
          </p:sp>
          <p:sp>
            <p:nvSpPr>
              <p:cNvPr id="25728" name="Freeform 91"/>
              <p:cNvSpPr>
                <a:spLocks/>
              </p:cNvSpPr>
              <p:nvPr/>
            </p:nvSpPr>
            <p:spPr bwMode="auto">
              <a:xfrm>
                <a:off x="2153" y="3445"/>
                <a:ext cx="76" cy="75"/>
              </a:xfrm>
              <a:custGeom>
                <a:avLst/>
                <a:gdLst>
                  <a:gd name="T0" fmla="*/ 0 w 152"/>
                  <a:gd name="T1" fmla="*/ 0 h 150"/>
                  <a:gd name="T2" fmla="*/ 0 w 152"/>
                  <a:gd name="T3" fmla="*/ 1 h 150"/>
                  <a:gd name="T4" fmla="*/ 1 w 152"/>
                  <a:gd name="T5" fmla="*/ 1 h 150"/>
                  <a:gd name="T6" fmla="*/ 1 w 152"/>
                  <a:gd name="T7" fmla="*/ 1 h 150"/>
                  <a:gd name="T8" fmla="*/ 1 w 152"/>
                  <a:gd name="T9" fmla="*/ 1 h 150"/>
                  <a:gd name="T10" fmla="*/ 1 w 152"/>
                  <a:gd name="T11" fmla="*/ 1 h 150"/>
                  <a:gd name="T12" fmla="*/ 1 w 152"/>
                  <a:gd name="T13" fmla="*/ 1 h 150"/>
                  <a:gd name="T14" fmla="*/ 1 w 152"/>
                  <a:gd name="T15" fmla="*/ 1 h 150"/>
                  <a:gd name="T16" fmla="*/ 1 w 152"/>
                  <a:gd name="T17" fmla="*/ 1 h 150"/>
                  <a:gd name="T18" fmla="*/ 1 w 152"/>
                  <a:gd name="T19" fmla="*/ 1 h 150"/>
                  <a:gd name="T20" fmla="*/ 1 w 152"/>
                  <a:gd name="T21" fmla="*/ 1 h 150"/>
                  <a:gd name="T22" fmla="*/ 1 w 152"/>
                  <a:gd name="T23" fmla="*/ 1 h 150"/>
                  <a:gd name="T24" fmla="*/ 1 w 152"/>
                  <a:gd name="T25" fmla="*/ 1 h 150"/>
                  <a:gd name="T26" fmla="*/ 1 w 152"/>
                  <a:gd name="T27" fmla="*/ 1 h 150"/>
                  <a:gd name="T28" fmla="*/ 1 w 152"/>
                  <a:gd name="T29" fmla="*/ 1 h 150"/>
                  <a:gd name="T30" fmla="*/ 1 w 152"/>
                  <a:gd name="T31" fmla="*/ 1 h 150"/>
                  <a:gd name="T32" fmla="*/ 1 w 152"/>
                  <a:gd name="T33" fmla="*/ 1 h 150"/>
                  <a:gd name="T34" fmla="*/ 1 w 152"/>
                  <a:gd name="T35" fmla="*/ 1 h 150"/>
                  <a:gd name="T36" fmla="*/ 1 w 152"/>
                  <a:gd name="T37" fmla="*/ 1 h 150"/>
                  <a:gd name="T38" fmla="*/ 1 w 152"/>
                  <a:gd name="T39" fmla="*/ 1 h 150"/>
                  <a:gd name="T40" fmla="*/ 1 w 152"/>
                  <a:gd name="T41" fmla="*/ 1 h 150"/>
                  <a:gd name="T42" fmla="*/ 1 w 152"/>
                  <a:gd name="T43" fmla="*/ 1 h 150"/>
                  <a:gd name="T44" fmla="*/ 1 w 152"/>
                  <a:gd name="T45" fmla="*/ 1 h 150"/>
                  <a:gd name="T46" fmla="*/ 1 w 152"/>
                  <a:gd name="T47" fmla="*/ 1 h 150"/>
                  <a:gd name="T48" fmla="*/ 1 w 152"/>
                  <a:gd name="T49" fmla="*/ 1 h 150"/>
                  <a:gd name="T50" fmla="*/ 1 w 152"/>
                  <a:gd name="T51" fmla="*/ 1 h 150"/>
                  <a:gd name="T52" fmla="*/ 1 w 152"/>
                  <a:gd name="T53" fmla="*/ 1 h 150"/>
                  <a:gd name="T54" fmla="*/ 1 w 152"/>
                  <a:gd name="T55" fmla="*/ 1 h 150"/>
                  <a:gd name="T56" fmla="*/ 1 w 152"/>
                  <a:gd name="T57" fmla="*/ 1 h 150"/>
                  <a:gd name="T58" fmla="*/ 1 w 152"/>
                  <a:gd name="T59" fmla="*/ 1 h 150"/>
                  <a:gd name="T60" fmla="*/ 1 w 152"/>
                  <a:gd name="T61" fmla="*/ 1 h 150"/>
                  <a:gd name="T62" fmla="*/ 1 w 152"/>
                  <a:gd name="T63" fmla="*/ 1 h 150"/>
                  <a:gd name="T64" fmla="*/ 1 w 152"/>
                  <a:gd name="T65" fmla="*/ 1 h 150"/>
                  <a:gd name="T66" fmla="*/ 1 w 152"/>
                  <a:gd name="T67" fmla="*/ 1 h 150"/>
                  <a:gd name="T68" fmla="*/ 0 w 152"/>
                  <a:gd name="T69" fmla="*/ 0 h 15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2"/>
                  <a:gd name="T106" fmla="*/ 0 h 150"/>
                  <a:gd name="T107" fmla="*/ 152 w 152"/>
                  <a:gd name="T108" fmla="*/ 150 h 15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2" h="150">
                    <a:moveTo>
                      <a:pt x="0" y="0"/>
                    </a:moveTo>
                    <a:lnTo>
                      <a:pt x="0" y="3"/>
                    </a:lnTo>
                    <a:lnTo>
                      <a:pt x="1" y="12"/>
                    </a:lnTo>
                    <a:lnTo>
                      <a:pt x="1" y="27"/>
                    </a:lnTo>
                    <a:lnTo>
                      <a:pt x="3" y="42"/>
                    </a:lnTo>
                    <a:lnTo>
                      <a:pt x="5" y="59"/>
                    </a:lnTo>
                    <a:lnTo>
                      <a:pt x="6" y="74"/>
                    </a:lnTo>
                    <a:lnTo>
                      <a:pt x="8" y="86"/>
                    </a:lnTo>
                    <a:lnTo>
                      <a:pt x="9" y="92"/>
                    </a:lnTo>
                    <a:lnTo>
                      <a:pt x="12" y="100"/>
                    </a:lnTo>
                    <a:lnTo>
                      <a:pt x="17" y="108"/>
                    </a:lnTo>
                    <a:lnTo>
                      <a:pt x="19" y="114"/>
                    </a:lnTo>
                    <a:lnTo>
                      <a:pt x="20" y="117"/>
                    </a:lnTo>
                    <a:lnTo>
                      <a:pt x="20" y="119"/>
                    </a:lnTo>
                    <a:lnTo>
                      <a:pt x="22" y="120"/>
                    </a:lnTo>
                    <a:lnTo>
                      <a:pt x="25" y="125"/>
                    </a:lnTo>
                    <a:lnTo>
                      <a:pt x="26" y="130"/>
                    </a:lnTo>
                    <a:lnTo>
                      <a:pt x="31" y="136"/>
                    </a:lnTo>
                    <a:lnTo>
                      <a:pt x="41" y="142"/>
                    </a:lnTo>
                    <a:lnTo>
                      <a:pt x="50" y="147"/>
                    </a:lnTo>
                    <a:lnTo>
                      <a:pt x="61" y="150"/>
                    </a:lnTo>
                    <a:lnTo>
                      <a:pt x="66" y="150"/>
                    </a:lnTo>
                    <a:lnTo>
                      <a:pt x="72" y="150"/>
                    </a:lnTo>
                    <a:lnTo>
                      <a:pt x="80" y="149"/>
                    </a:lnTo>
                    <a:lnTo>
                      <a:pt x="89" y="147"/>
                    </a:lnTo>
                    <a:lnTo>
                      <a:pt x="98" y="145"/>
                    </a:lnTo>
                    <a:lnTo>
                      <a:pt x="108" y="142"/>
                    </a:lnTo>
                    <a:lnTo>
                      <a:pt x="117" y="139"/>
                    </a:lnTo>
                    <a:lnTo>
                      <a:pt x="127" y="136"/>
                    </a:lnTo>
                    <a:lnTo>
                      <a:pt x="141" y="128"/>
                    </a:lnTo>
                    <a:lnTo>
                      <a:pt x="149" y="122"/>
                    </a:lnTo>
                    <a:lnTo>
                      <a:pt x="152" y="120"/>
                    </a:lnTo>
                    <a:lnTo>
                      <a:pt x="152" y="119"/>
                    </a:lnTo>
                    <a:lnTo>
                      <a:pt x="141" y="92"/>
                    </a:lnTo>
                    <a:lnTo>
                      <a:pt x="0" y="0"/>
                    </a:lnTo>
                    <a:close/>
                  </a:path>
                </a:pathLst>
              </a:custGeom>
              <a:solidFill>
                <a:srgbClr val="FFB27F"/>
              </a:solidFill>
              <a:ln w="9525">
                <a:noFill/>
                <a:round/>
                <a:headEnd/>
                <a:tailEnd/>
              </a:ln>
            </p:spPr>
            <p:txBody>
              <a:bodyPr/>
              <a:lstStyle/>
              <a:p>
                <a:endParaRPr lang="en-US"/>
              </a:p>
            </p:txBody>
          </p:sp>
          <p:sp>
            <p:nvSpPr>
              <p:cNvPr id="25729" name="Freeform 92"/>
              <p:cNvSpPr>
                <a:spLocks/>
              </p:cNvSpPr>
              <p:nvPr/>
            </p:nvSpPr>
            <p:spPr bwMode="auto">
              <a:xfrm>
                <a:off x="2147" y="3445"/>
                <a:ext cx="15" cy="48"/>
              </a:xfrm>
              <a:custGeom>
                <a:avLst/>
                <a:gdLst>
                  <a:gd name="T0" fmla="*/ 1 w 30"/>
                  <a:gd name="T1" fmla="*/ 0 h 97"/>
                  <a:gd name="T2" fmla="*/ 1 w 30"/>
                  <a:gd name="T3" fmla="*/ 0 h 97"/>
                  <a:gd name="T4" fmla="*/ 1 w 30"/>
                  <a:gd name="T5" fmla="*/ 0 h 97"/>
                  <a:gd name="T6" fmla="*/ 1 w 30"/>
                  <a:gd name="T7" fmla="*/ 0 h 97"/>
                  <a:gd name="T8" fmla="*/ 1 w 30"/>
                  <a:gd name="T9" fmla="*/ 0 h 97"/>
                  <a:gd name="T10" fmla="*/ 1 w 30"/>
                  <a:gd name="T11" fmla="*/ 0 h 97"/>
                  <a:gd name="T12" fmla="*/ 1 w 30"/>
                  <a:gd name="T13" fmla="*/ 0 h 97"/>
                  <a:gd name="T14" fmla="*/ 1 w 30"/>
                  <a:gd name="T15" fmla="*/ 0 h 97"/>
                  <a:gd name="T16" fmla="*/ 1 w 30"/>
                  <a:gd name="T17" fmla="*/ 0 h 97"/>
                  <a:gd name="T18" fmla="*/ 1 w 30"/>
                  <a:gd name="T19" fmla="*/ 0 h 97"/>
                  <a:gd name="T20" fmla="*/ 0 w 30"/>
                  <a:gd name="T21" fmla="*/ 0 h 97"/>
                  <a:gd name="T22" fmla="*/ 0 w 30"/>
                  <a:gd name="T23" fmla="*/ 0 h 97"/>
                  <a:gd name="T24" fmla="*/ 1 w 30"/>
                  <a:gd name="T25" fmla="*/ 0 h 97"/>
                  <a:gd name="T26" fmla="*/ 1 w 30"/>
                  <a:gd name="T27" fmla="*/ 0 h 97"/>
                  <a:gd name="T28" fmla="*/ 1 w 30"/>
                  <a:gd name="T29" fmla="*/ 0 h 97"/>
                  <a:gd name="T30" fmla="*/ 1 w 30"/>
                  <a:gd name="T31" fmla="*/ 0 h 97"/>
                  <a:gd name="T32" fmla="*/ 1 w 30"/>
                  <a:gd name="T33" fmla="*/ 0 h 97"/>
                  <a:gd name="T34" fmla="*/ 1 w 30"/>
                  <a:gd name="T35" fmla="*/ 0 h 97"/>
                  <a:gd name="T36" fmla="*/ 1 w 30"/>
                  <a:gd name="T37" fmla="*/ 0 h 97"/>
                  <a:gd name="T38" fmla="*/ 1 w 30"/>
                  <a:gd name="T39" fmla="*/ 0 h 97"/>
                  <a:gd name="T40" fmla="*/ 1 w 30"/>
                  <a:gd name="T41" fmla="*/ 0 h 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97"/>
                  <a:gd name="T65" fmla="*/ 30 w 30"/>
                  <a:gd name="T66" fmla="*/ 97 h 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97">
                    <a:moveTo>
                      <a:pt x="30" y="88"/>
                    </a:moveTo>
                    <a:lnTo>
                      <a:pt x="30" y="88"/>
                    </a:lnTo>
                    <a:lnTo>
                      <a:pt x="30" y="84"/>
                    </a:lnTo>
                    <a:lnTo>
                      <a:pt x="28" y="72"/>
                    </a:lnTo>
                    <a:lnTo>
                      <a:pt x="26" y="58"/>
                    </a:lnTo>
                    <a:lnTo>
                      <a:pt x="25" y="41"/>
                    </a:lnTo>
                    <a:lnTo>
                      <a:pt x="23" y="27"/>
                    </a:lnTo>
                    <a:lnTo>
                      <a:pt x="23" y="12"/>
                    </a:lnTo>
                    <a:lnTo>
                      <a:pt x="22" y="2"/>
                    </a:lnTo>
                    <a:lnTo>
                      <a:pt x="22" y="0"/>
                    </a:lnTo>
                    <a:lnTo>
                      <a:pt x="0" y="0"/>
                    </a:lnTo>
                    <a:lnTo>
                      <a:pt x="0" y="5"/>
                    </a:lnTo>
                    <a:lnTo>
                      <a:pt x="1" y="12"/>
                    </a:lnTo>
                    <a:lnTo>
                      <a:pt x="1" y="27"/>
                    </a:lnTo>
                    <a:lnTo>
                      <a:pt x="3" y="44"/>
                    </a:lnTo>
                    <a:lnTo>
                      <a:pt x="5" y="61"/>
                    </a:lnTo>
                    <a:lnTo>
                      <a:pt x="6" y="75"/>
                    </a:lnTo>
                    <a:lnTo>
                      <a:pt x="8" y="88"/>
                    </a:lnTo>
                    <a:lnTo>
                      <a:pt x="11" y="97"/>
                    </a:lnTo>
                    <a:lnTo>
                      <a:pt x="30" y="88"/>
                    </a:lnTo>
                    <a:close/>
                  </a:path>
                </a:pathLst>
              </a:custGeom>
              <a:solidFill>
                <a:srgbClr val="000000"/>
              </a:solidFill>
              <a:ln w="9525">
                <a:noFill/>
                <a:round/>
                <a:headEnd/>
                <a:tailEnd/>
              </a:ln>
            </p:spPr>
            <p:txBody>
              <a:bodyPr/>
              <a:lstStyle/>
              <a:p>
                <a:endParaRPr lang="en-US"/>
              </a:p>
            </p:txBody>
          </p:sp>
          <p:sp>
            <p:nvSpPr>
              <p:cNvPr id="25730" name="Freeform 93"/>
              <p:cNvSpPr>
                <a:spLocks/>
              </p:cNvSpPr>
              <p:nvPr/>
            </p:nvSpPr>
            <p:spPr bwMode="auto">
              <a:xfrm>
                <a:off x="2153" y="3489"/>
                <a:ext cx="16" cy="20"/>
              </a:xfrm>
              <a:custGeom>
                <a:avLst/>
                <a:gdLst>
                  <a:gd name="T0" fmla="*/ 1 w 31"/>
                  <a:gd name="T1" fmla="*/ 1 h 40"/>
                  <a:gd name="T2" fmla="*/ 1 w 31"/>
                  <a:gd name="T3" fmla="*/ 1 h 40"/>
                  <a:gd name="T4" fmla="*/ 1 w 31"/>
                  <a:gd name="T5" fmla="*/ 1 h 40"/>
                  <a:gd name="T6" fmla="*/ 1 w 31"/>
                  <a:gd name="T7" fmla="*/ 1 h 40"/>
                  <a:gd name="T8" fmla="*/ 1 w 31"/>
                  <a:gd name="T9" fmla="*/ 1 h 40"/>
                  <a:gd name="T10" fmla="*/ 1 w 31"/>
                  <a:gd name="T11" fmla="*/ 0 h 40"/>
                  <a:gd name="T12" fmla="*/ 0 w 31"/>
                  <a:gd name="T13" fmla="*/ 1 h 40"/>
                  <a:gd name="T14" fmla="*/ 1 w 31"/>
                  <a:gd name="T15" fmla="*/ 1 h 40"/>
                  <a:gd name="T16" fmla="*/ 1 w 31"/>
                  <a:gd name="T17" fmla="*/ 1 h 40"/>
                  <a:gd name="T18" fmla="*/ 1 w 31"/>
                  <a:gd name="T19" fmla="*/ 1 h 40"/>
                  <a:gd name="T20" fmla="*/ 1 w 31"/>
                  <a:gd name="T21" fmla="*/ 1 h 40"/>
                  <a:gd name="T22" fmla="*/ 1 w 31"/>
                  <a:gd name="T23" fmla="*/ 1 h 40"/>
                  <a:gd name="T24" fmla="*/ 1 w 31"/>
                  <a:gd name="T25" fmla="*/ 1 h 40"/>
                  <a:gd name="T26" fmla="*/ 1 w 31"/>
                  <a:gd name="T27" fmla="*/ 1 h 40"/>
                  <a:gd name="T28" fmla="*/ 1 w 31"/>
                  <a:gd name="T29" fmla="*/ 1 h 40"/>
                  <a:gd name="T30" fmla="*/ 1 w 31"/>
                  <a:gd name="T31" fmla="*/ 1 h 40"/>
                  <a:gd name="T32" fmla="*/ 1 w 31"/>
                  <a:gd name="T33" fmla="*/ 1 h 40"/>
                  <a:gd name="T34" fmla="*/ 1 w 31"/>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40"/>
                  <a:gd name="T56" fmla="*/ 31 w 31"/>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40">
                    <a:moveTo>
                      <a:pt x="30" y="23"/>
                    </a:moveTo>
                    <a:lnTo>
                      <a:pt x="30" y="25"/>
                    </a:lnTo>
                    <a:lnTo>
                      <a:pt x="30" y="23"/>
                    </a:lnTo>
                    <a:lnTo>
                      <a:pt x="26" y="15"/>
                    </a:lnTo>
                    <a:lnTo>
                      <a:pt x="22" y="7"/>
                    </a:lnTo>
                    <a:lnTo>
                      <a:pt x="19" y="0"/>
                    </a:lnTo>
                    <a:lnTo>
                      <a:pt x="0" y="9"/>
                    </a:lnTo>
                    <a:lnTo>
                      <a:pt x="3" y="17"/>
                    </a:lnTo>
                    <a:lnTo>
                      <a:pt x="8" y="25"/>
                    </a:lnTo>
                    <a:lnTo>
                      <a:pt x="8" y="29"/>
                    </a:lnTo>
                    <a:lnTo>
                      <a:pt x="11" y="34"/>
                    </a:lnTo>
                    <a:lnTo>
                      <a:pt x="11" y="36"/>
                    </a:lnTo>
                    <a:lnTo>
                      <a:pt x="9" y="34"/>
                    </a:lnTo>
                    <a:lnTo>
                      <a:pt x="15" y="40"/>
                    </a:lnTo>
                    <a:lnTo>
                      <a:pt x="25" y="40"/>
                    </a:lnTo>
                    <a:lnTo>
                      <a:pt x="31" y="34"/>
                    </a:lnTo>
                    <a:lnTo>
                      <a:pt x="31" y="25"/>
                    </a:lnTo>
                    <a:lnTo>
                      <a:pt x="30" y="23"/>
                    </a:lnTo>
                    <a:close/>
                  </a:path>
                </a:pathLst>
              </a:custGeom>
              <a:solidFill>
                <a:srgbClr val="000000"/>
              </a:solidFill>
              <a:ln w="9525">
                <a:noFill/>
                <a:round/>
                <a:headEnd/>
                <a:tailEnd/>
              </a:ln>
            </p:spPr>
            <p:txBody>
              <a:bodyPr/>
              <a:lstStyle/>
              <a:p>
                <a:endParaRPr lang="en-US"/>
              </a:p>
            </p:txBody>
          </p:sp>
          <p:sp>
            <p:nvSpPr>
              <p:cNvPr id="25731" name="Freeform 94"/>
              <p:cNvSpPr>
                <a:spLocks/>
              </p:cNvSpPr>
              <p:nvPr/>
            </p:nvSpPr>
            <p:spPr bwMode="auto">
              <a:xfrm>
                <a:off x="2158" y="3501"/>
                <a:ext cx="13" cy="11"/>
              </a:xfrm>
              <a:custGeom>
                <a:avLst/>
                <a:gdLst>
                  <a:gd name="T0" fmla="*/ 1 w 25"/>
                  <a:gd name="T1" fmla="*/ 0 h 24"/>
                  <a:gd name="T2" fmla="*/ 1 w 25"/>
                  <a:gd name="T3" fmla="*/ 0 h 24"/>
                  <a:gd name="T4" fmla="*/ 1 w 25"/>
                  <a:gd name="T5" fmla="*/ 0 h 24"/>
                  <a:gd name="T6" fmla="*/ 1 w 25"/>
                  <a:gd name="T7" fmla="*/ 0 h 24"/>
                  <a:gd name="T8" fmla="*/ 1 w 25"/>
                  <a:gd name="T9" fmla="*/ 0 h 24"/>
                  <a:gd name="T10" fmla="*/ 1 w 25"/>
                  <a:gd name="T11" fmla="*/ 0 h 24"/>
                  <a:gd name="T12" fmla="*/ 0 w 25"/>
                  <a:gd name="T13" fmla="*/ 0 h 24"/>
                  <a:gd name="T14" fmla="*/ 0 w 25"/>
                  <a:gd name="T15" fmla="*/ 0 h 24"/>
                  <a:gd name="T16" fmla="*/ 1 w 25"/>
                  <a:gd name="T17" fmla="*/ 0 h 24"/>
                  <a:gd name="T18" fmla="*/ 1 w 25"/>
                  <a:gd name="T19" fmla="*/ 0 h 24"/>
                  <a:gd name="T20" fmla="*/ 1 w 25"/>
                  <a:gd name="T21" fmla="*/ 0 h 24"/>
                  <a:gd name="T22" fmla="*/ 1 w 25"/>
                  <a:gd name="T23" fmla="*/ 0 h 24"/>
                  <a:gd name="T24" fmla="*/ 1 w 25"/>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4"/>
                  <a:gd name="T41" fmla="*/ 25 w 2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4">
                    <a:moveTo>
                      <a:pt x="25" y="14"/>
                    </a:moveTo>
                    <a:lnTo>
                      <a:pt x="25" y="14"/>
                    </a:lnTo>
                    <a:lnTo>
                      <a:pt x="23" y="9"/>
                    </a:lnTo>
                    <a:lnTo>
                      <a:pt x="20" y="3"/>
                    </a:lnTo>
                    <a:lnTo>
                      <a:pt x="19" y="3"/>
                    </a:lnTo>
                    <a:lnTo>
                      <a:pt x="19" y="0"/>
                    </a:lnTo>
                    <a:lnTo>
                      <a:pt x="0" y="13"/>
                    </a:lnTo>
                    <a:lnTo>
                      <a:pt x="1" y="16"/>
                    </a:lnTo>
                    <a:lnTo>
                      <a:pt x="4" y="19"/>
                    </a:lnTo>
                    <a:lnTo>
                      <a:pt x="6" y="24"/>
                    </a:lnTo>
                    <a:lnTo>
                      <a:pt x="25" y="14"/>
                    </a:lnTo>
                    <a:close/>
                  </a:path>
                </a:pathLst>
              </a:custGeom>
              <a:solidFill>
                <a:srgbClr val="000000"/>
              </a:solidFill>
              <a:ln w="9525">
                <a:noFill/>
                <a:round/>
                <a:headEnd/>
                <a:tailEnd/>
              </a:ln>
            </p:spPr>
            <p:txBody>
              <a:bodyPr/>
              <a:lstStyle/>
              <a:p>
                <a:endParaRPr lang="en-US"/>
              </a:p>
            </p:txBody>
          </p:sp>
          <p:sp>
            <p:nvSpPr>
              <p:cNvPr id="25732" name="Freeform 95"/>
              <p:cNvSpPr>
                <a:spLocks/>
              </p:cNvSpPr>
              <p:nvPr/>
            </p:nvSpPr>
            <p:spPr bwMode="auto">
              <a:xfrm>
                <a:off x="2162" y="3508"/>
                <a:ext cx="22" cy="18"/>
              </a:xfrm>
              <a:custGeom>
                <a:avLst/>
                <a:gdLst>
                  <a:gd name="T0" fmla="*/ 0 w 45"/>
                  <a:gd name="T1" fmla="*/ 1 h 36"/>
                  <a:gd name="T2" fmla="*/ 0 w 45"/>
                  <a:gd name="T3" fmla="*/ 1 h 36"/>
                  <a:gd name="T4" fmla="*/ 0 w 45"/>
                  <a:gd name="T5" fmla="*/ 1 h 36"/>
                  <a:gd name="T6" fmla="*/ 0 w 45"/>
                  <a:gd name="T7" fmla="*/ 1 h 36"/>
                  <a:gd name="T8" fmla="*/ 0 w 45"/>
                  <a:gd name="T9" fmla="*/ 1 h 36"/>
                  <a:gd name="T10" fmla="*/ 0 w 45"/>
                  <a:gd name="T11" fmla="*/ 0 h 36"/>
                  <a:gd name="T12" fmla="*/ 0 w 45"/>
                  <a:gd name="T13" fmla="*/ 1 h 36"/>
                  <a:gd name="T14" fmla="*/ 0 w 45"/>
                  <a:gd name="T15" fmla="*/ 1 h 36"/>
                  <a:gd name="T16" fmla="*/ 0 w 45"/>
                  <a:gd name="T17" fmla="*/ 1 h 36"/>
                  <a:gd name="T18" fmla="*/ 0 w 45"/>
                  <a:gd name="T19" fmla="*/ 1 h 36"/>
                  <a:gd name="T20" fmla="*/ 0 w 45"/>
                  <a:gd name="T21" fmla="*/ 1 h 36"/>
                  <a:gd name="T22" fmla="*/ 0 w 45"/>
                  <a:gd name="T23" fmla="*/ 1 h 36"/>
                  <a:gd name="T24" fmla="*/ 0 w 45"/>
                  <a:gd name="T25" fmla="*/ 1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36"/>
                  <a:gd name="T41" fmla="*/ 45 w 45"/>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36">
                    <a:moveTo>
                      <a:pt x="45" y="14"/>
                    </a:moveTo>
                    <a:lnTo>
                      <a:pt x="45" y="14"/>
                    </a:lnTo>
                    <a:lnTo>
                      <a:pt x="36" y="11"/>
                    </a:lnTo>
                    <a:lnTo>
                      <a:pt x="30" y="8"/>
                    </a:lnTo>
                    <a:lnTo>
                      <a:pt x="22" y="3"/>
                    </a:lnTo>
                    <a:lnTo>
                      <a:pt x="19" y="0"/>
                    </a:lnTo>
                    <a:lnTo>
                      <a:pt x="0" y="10"/>
                    </a:lnTo>
                    <a:lnTo>
                      <a:pt x="6" y="19"/>
                    </a:lnTo>
                    <a:lnTo>
                      <a:pt x="17" y="27"/>
                    </a:lnTo>
                    <a:lnTo>
                      <a:pt x="30" y="33"/>
                    </a:lnTo>
                    <a:lnTo>
                      <a:pt x="42" y="36"/>
                    </a:lnTo>
                    <a:lnTo>
                      <a:pt x="45" y="14"/>
                    </a:lnTo>
                    <a:close/>
                  </a:path>
                </a:pathLst>
              </a:custGeom>
              <a:solidFill>
                <a:srgbClr val="000000"/>
              </a:solidFill>
              <a:ln w="9525">
                <a:noFill/>
                <a:round/>
                <a:headEnd/>
                <a:tailEnd/>
              </a:ln>
            </p:spPr>
            <p:txBody>
              <a:bodyPr/>
              <a:lstStyle/>
              <a:p>
                <a:endParaRPr lang="en-US"/>
              </a:p>
            </p:txBody>
          </p:sp>
          <p:sp>
            <p:nvSpPr>
              <p:cNvPr id="25733" name="Freeform 96"/>
              <p:cNvSpPr>
                <a:spLocks/>
              </p:cNvSpPr>
              <p:nvPr/>
            </p:nvSpPr>
            <p:spPr bwMode="auto">
              <a:xfrm>
                <a:off x="2183" y="3508"/>
                <a:ext cx="36" cy="18"/>
              </a:xfrm>
              <a:custGeom>
                <a:avLst/>
                <a:gdLst>
                  <a:gd name="T0" fmla="*/ 1 w 72"/>
                  <a:gd name="T1" fmla="*/ 0 h 34"/>
                  <a:gd name="T2" fmla="*/ 1 w 72"/>
                  <a:gd name="T3" fmla="*/ 0 h 34"/>
                  <a:gd name="T4" fmla="*/ 1 w 72"/>
                  <a:gd name="T5" fmla="*/ 1 h 34"/>
                  <a:gd name="T6" fmla="*/ 1 w 72"/>
                  <a:gd name="T7" fmla="*/ 1 h 34"/>
                  <a:gd name="T8" fmla="*/ 1 w 72"/>
                  <a:gd name="T9" fmla="*/ 1 h 34"/>
                  <a:gd name="T10" fmla="*/ 1 w 72"/>
                  <a:gd name="T11" fmla="*/ 1 h 34"/>
                  <a:gd name="T12" fmla="*/ 1 w 72"/>
                  <a:gd name="T13" fmla="*/ 1 h 34"/>
                  <a:gd name="T14" fmla="*/ 1 w 72"/>
                  <a:gd name="T15" fmla="*/ 1 h 34"/>
                  <a:gd name="T16" fmla="*/ 1 w 72"/>
                  <a:gd name="T17" fmla="*/ 1 h 34"/>
                  <a:gd name="T18" fmla="*/ 1 w 72"/>
                  <a:gd name="T19" fmla="*/ 1 h 34"/>
                  <a:gd name="T20" fmla="*/ 0 w 72"/>
                  <a:gd name="T21" fmla="*/ 1 h 34"/>
                  <a:gd name="T22" fmla="*/ 1 w 72"/>
                  <a:gd name="T23" fmla="*/ 1 h 34"/>
                  <a:gd name="T24" fmla="*/ 1 w 72"/>
                  <a:gd name="T25" fmla="*/ 1 h 34"/>
                  <a:gd name="T26" fmla="*/ 1 w 72"/>
                  <a:gd name="T27" fmla="*/ 1 h 34"/>
                  <a:gd name="T28" fmla="*/ 1 w 72"/>
                  <a:gd name="T29" fmla="*/ 1 h 34"/>
                  <a:gd name="T30" fmla="*/ 1 w 72"/>
                  <a:gd name="T31" fmla="*/ 1 h 34"/>
                  <a:gd name="T32" fmla="*/ 1 w 72"/>
                  <a:gd name="T33" fmla="*/ 1 h 34"/>
                  <a:gd name="T34" fmla="*/ 1 w 72"/>
                  <a:gd name="T35" fmla="*/ 1 h 34"/>
                  <a:gd name="T36" fmla="*/ 1 w 72"/>
                  <a:gd name="T37" fmla="*/ 1 h 34"/>
                  <a:gd name="T38" fmla="*/ 1 w 72"/>
                  <a:gd name="T39" fmla="*/ 1 h 34"/>
                  <a:gd name="T40" fmla="*/ 1 w 72"/>
                  <a:gd name="T41" fmla="*/ 0 h 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4"/>
                  <a:gd name="T65" fmla="*/ 72 w 72"/>
                  <a:gd name="T66" fmla="*/ 34 h 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4">
                    <a:moveTo>
                      <a:pt x="63" y="0"/>
                    </a:moveTo>
                    <a:lnTo>
                      <a:pt x="63" y="0"/>
                    </a:lnTo>
                    <a:lnTo>
                      <a:pt x="55" y="1"/>
                    </a:lnTo>
                    <a:lnTo>
                      <a:pt x="46" y="4"/>
                    </a:lnTo>
                    <a:lnTo>
                      <a:pt x="36" y="8"/>
                    </a:lnTo>
                    <a:lnTo>
                      <a:pt x="28" y="9"/>
                    </a:lnTo>
                    <a:lnTo>
                      <a:pt x="19" y="11"/>
                    </a:lnTo>
                    <a:lnTo>
                      <a:pt x="11" y="12"/>
                    </a:lnTo>
                    <a:lnTo>
                      <a:pt x="7" y="12"/>
                    </a:lnTo>
                    <a:lnTo>
                      <a:pt x="3" y="12"/>
                    </a:lnTo>
                    <a:lnTo>
                      <a:pt x="0" y="34"/>
                    </a:lnTo>
                    <a:lnTo>
                      <a:pt x="7" y="34"/>
                    </a:lnTo>
                    <a:lnTo>
                      <a:pt x="14" y="34"/>
                    </a:lnTo>
                    <a:lnTo>
                      <a:pt x="22" y="33"/>
                    </a:lnTo>
                    <a:lnTo>
                      <a:pt x="32" y="31"/>
                    </a:lnTo>
                    <a:lnTo>
                      <a:pt x="43" y="29"/>
                    </a:lnTo>
                    <a:lnTo>
                      <a:pt x="52" y="26"/>
                    </a:lnTo>
                    <a:lnTo>
                      <a:pt x="61" y="23"/>
                    </a:lnTo>
                    <a:lnTo>
                      <a:pt x="72" y="18"/>
                    </a:lnTo>
                    <a:lnTo>
                      <a:pt x="63" y="0"/>
                    </a:lnTo>
                    <a:close/>
                  </a:path>
                </a:pathLst>
              </a:custGeom>
              <a:solidFill>
                <a:srgbClr val="000000"/>
              </a:solidFill>
              <a:ln w="9525">
                <a:noFill/>
                <a:round/>
                <a:headEnd/>
                <a:tailEnd/>
              </a:ln>
            </p:spPr>
            <p:txBody>
              <a:bodyPr/>
              <a:lstStyle/>
              <a:p>
                <a:endParaRPr lang="en-US"/>
              </a:p>
            </p:txBody>
          </p:sp>
          <p:sp>
            <p:nvSpPr>
              <p:cNvPr id="25734" name="Freeform 97"/>
              <p:cNvSpPr>
                <a:spLocks/>
              </p:cNvSpPr>
              <p:nvPr/>
            </p:nvSpPr>
            <p:spPr bwMode="auto">
              <a:xfrm>
                <a:off x="2214" y="3499"/>
                <a:ext cx="20" cy="19"/>
              </a:xfrm>
              <a:custGeom>
                <a:avLst/>
                <a:gdLst>
                  <a:gd name="T0" fmla="*/ 0 w 41"/>
                  <a:gd name="T1" fmla="*/ 1 h 37"/>
                  <a:gd name="T2" fmla="*/ 0 w 41"/>
                  <a:gd name="T3" fmla="*/ 1 h 37"/>
                  <a:gd name="T4" fmla="*/ 0 w 41"/>
                  <a:gd name="T5" fmla="*/ 1 h 37"/>
                  <a:gd name="T6" fmla="*/ 0 w 41"/>
                  <a:gd name="T7" fmla="*/ 1 h 37"/>
                  <a:gd name="T8" fmla="*/ 0 w 41"/>
                  <a:gd name="T9" fmla="*/ 1 h 37"/>
                  <a:gd name="T10" fmla="*/ 0 w 41"/>
                  <a:gd name="T11" fmla="*/ 1 h 37"/>
                  <a:gd name="T12" fmla="*/ 0 w 41"/>
                  <a:gd name="T13" fmla="*/ 1 h 37"/>
                  <a:gd name="T14" fmla="*/ 0 w 41"/>
                  <a:gd name="T15" fmla="*/ 1 h 37"/>
                  <a:gd name="T16" fmla="*/ 0 w 41"/>
                  <a:gd name="T17" fmla="*/ 1 h 37"/>
                  <a:gd name="T18" fmla="*/ 0 w 41"/>
                  <a:gd name="T19" fmla="*/ 1 h 37"/>
                  <a:gd name="T20" fmla="*/ 0 w 41"/>
                  <a:gd name="T21" fmla="*/ 1 h 37"/>
                  <a:gd name="T22" fmla="*/ 0 w 41"/>
                  <a:gd name="T23" fmla="*/ 1 h 37"/>
                  <a:gd name="T24" fmla="*/ 0 w 41"/>
                  <a:gd name="T25" fmla="*/ 1 h 37"/>
                  <a:gd name="T26" fmla="*/ 0 w 41"/>
                  <a:gd name="T27" fmla="*/ 1 h 37"/>
                  <a:gd name="T28" fmla="*/ 0 w 41"/>
                  <a:gd name="T29" fmla="*/ 0 h 37"/>
                  <a:gd name="T30" fmla="*/ 0 w 41"/>
                  <a:gd name="T31" fmla="*/ 1 h 37"/>
                  <a:gd name="T32" fmla="*/ 0 w 41"/>
                  <a:gd name="T33" fmla="*/ 1 h 37"/>
                  <a:gd name="T34" fmla="*/ 0 w 41"/>
                  <a:gd name="T35" fmla="*/ 1 h 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37"/>
                  <a:gd name="T56" fmla="*/ 41 w 41"/>
                  <a:gd name="T57" fmla="*/ 37 h 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37">
                    <a:moveTo>
                      <a:pt x="20" y="16"/>
                    </a:moveTo>
                    <a:lnTo>
                      <a:pt x="19" y="8"/>
                    </a:lnTo>
                    <a:lnTo>
                      <a:pt x="22" y="5"/>
                    </a:lnTo>
                    <a:lnTo>
                      <a:pt x="20" y="5"/>
                    </a:lnTo>
                    <a:lnTo>
                      <a:pt x="12" y="11"/>
                    </a:lnTo>
                    <a:lnTo>
                      <a:pt x="0" y="19"/>
                    </a:lnTo>
                    <a:lnTo>
                      <a:pt x="9" y="37"/>
                    </a:lnTo>
                    <a:lnTo>
                      <a:pt x="25" y="30"/>
                    </a:lnTo>
                    <a:lnTo>
                      <a:pt x="33" y="23"/>
                    </a:lnTo>
                    <a:lnTo>
                      <a:pt x="38" y="20"/>
                    </a:lnTo>
                    <a:lnTo>
                      <a:pt x="41" y="14"/>
                    </a:lnTo>
                    <a:lnTo>
                      <a:pt x="39" y="6"/>
                    </a:lnTo>
                    <a:lnTo>
                      <a:pt x="41" y="14"/>
                    </a:lnTo>
                    <a:lnTo>
                      <a:pt x="39" y="5"/>
                    </a:lnTo>
                    <a:lnTo>
                      <a:pt x="33" y="0"/>
                    </a:lnTo>
                    <a:lnTo>
                      <a:pt x="23" y="1"/>
                    </a:lnTo>
                    <a:lnTo>
                      <a:pt x="19" y="8"/>
                    </a:lnTo>
                    <a:lnTo>
                      <a:pt x="20" y="16"/>
                    </a:lnTo>
                    <a:close/>
                  </a:path>
                </a:pathLst>
              </a:custGeom>
              <a:solidFill>
                <a:srgbClr val="000000"/>
              </a:solidFill>
              <a:ln w="9525">
                <a:noFill/>
                <a:round/>
                <a:headEnd/>
                <a:tailEnd/>
              </a:ln>
            </p:spPr>
            <p:txBody>
              <a:bodyPr/>
              <a:lstStyle/>
              <a:p>
                <a:endParaRPr lang="en-US"/>
              </a:p>
            </p:txBody>
          </p:sp>
          <p:sp>
            <p:nvSpPr>
              <p:cNvPr id="25735" name="Freeform 98"/>
              <p:cNvSpPr>
                <a:spLocks/>
              </p:cNvSpPr>
              <p:nvPr/>
            </p:nvSpPr>
            <p:spPr bwMode="auto">
              <a:xfrm>
                <a:off x="2219" y="3486"/>
                <a:ext cx="15" cy="21"/>
              </a:xfrm>
              <a:custGeom>
                <a:avLst/>
                <a:gdLst>
                  <a:gd name="T0" fmla="*/ 1 w 30"/>
                  <a:gd name="T1" fmla="*/ 0 h 43"/>
                  <a:gd name="T2" fmla="*/ 0 w 30"/>
                  <a:gd name="T3" fmla="*/ 0 h 43"/>
                  <a:gd name="T4" fmla="*/ 1 w 30"/>
                  <a:gd name="T5" fmla="*/ 0 h 43"/>
                  <a:gd name="T6" fmla="*/ 1 w 30"/>
                  <a:gd name="T7" fmla="*/ 0 h 43"/>
                  <a:gd name="T8" fmla="*/ 1 w 30"/>
                  <a:gd name="T9" fmla="*/ 0 h 43"/>
                  <a:gd name="T10" fmla="*/ 1 w 30"/>
                  <a:gd name="T11" fmla="*/ 0 h 43"/>
                  <a:gd name="T12" fmla="*/ 1 w 30"/>
                  <a:gd name="T13" fmla="*/ 0 h 43"/>
                  <a:gd name="T14" fmla="*/ 1 w 30"/>
                  <a:gd name="T15" fmla="*/ 0 h 43"/>
                  <a:gd name="T16" fmla="*/ 1 w 30"/>
                  <a:gd name="T17" fmla="*/ 0 h 43"/>
                  <a:gd name="T18" fmla="*/ 0 w 30"/>
                  <a:gd name="T19" fmla="*/ 0 h 43"/>
                  <a:gd name="T20" fmla="*/ 0 w 30"/>
                  <a:gd name="T21" fmla="*/ 0 h 43"/>
                  <a:gd name="T22" fmla="*/ 1 w 30"/>
                  <a:gd name="T23" fmla="*/ 0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43"/>
                  <a:gd name="T38" fmla="*/ 30 w 30"/>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43">
                    <a:moveTo>
                      <a:pt x="3" y="21"/>
                    </a:moveTo>
                    <a:lnTo>
                      <a:pt x="0" y="16"/>
                    </a:lnTo>
                    <a:lnTo>
                      <a:pt x="11" y="43"/>
                    </a:lnTo>
                    <a:lnTo>
                      <a:pt x="30" y="33"/>
                    </a:lnTo>
                    <a:lnTo>
                      <a:pt x="19" y="7"/>
                    </a:lnTo>
                    <a:lnTo>
                      <a:pt x="16" y="2"/>
                    </a:lnTo>
                    <a:lnTo>
                      <a:pt x="19" y="7"/>
                    </a:lnTo>
                    <a:lnTo>
                      <a:pt x="13" y="0"/>
                    </a:lnTo>
                    <a:lnTo>
                      <a:pt x="5" y="2"/>
                    </a:lnTo>
                    <a:lnTo>
                      <a:pt x="0" y="8"/>
                    </a:lnTo>
                    <a:lnTo>
                      <a:pt x="0" y="16"/>
                    </a:lnTo>
                    <a:lnTo>
                      <a:pt x="3" y="21"/>
                    </a:lnTo>
                    <a:close/>
                  </a:path>
                </a:pathLst>
              </a:custGeom>
              <a:solidFill>
                <a:srgbClr val="000000"/>
              </a:solidFill>
              <a:ln w="9525">
                <a:noFill/>
                <a:round/>
                <a:headEnd/>
                <a:tailEnd/>
              </a:ln>
            </p:spPr>
            <p:txBody>
              <a:bodyPr/>
              <a:lstStyle/>
              <a:p>
                <a:endParaRPr lang="en-US"/>
              </a:p>
            </p:txBody>
          </p:sp>
          <p:sp>
            <p:nvSpPr>
              <p:cNvPr id="25736" name="Freeform 99"/>
              <p:cNvSpPr>
                <a:spLocks/>
              </p:cNvSpPr>
              <p:nvPr/>
            </p:nvSpPr>
            <p:spPr bwMode="auto">
              <a:xfrm>
                <a:off x="2147" y="3440"/>
                <a:ext cx="79" cy="56"/>
              </a:xfrm>
              <a:custGeom>
                <a:avLst/>
                <a:gdLst>
                  <a:gd name="T0" fmla="*/ 1 w 158"/>
                  <a:gd name="T1" fmla="*/ 0 h 113"/>
                  <a:gd name="T2" fmla="*/ 1 w 158"/>
                  <a:gd name="T3" fmla="*/ 0 h 113"/>
                  <a:gd name="T4" fmla="*/ 1 w 158"/>
                  <a:gd name="T5" fmla="*/ 0 h 113"/>
                  <a:gd name="T6" fmla="*/ 1 w 158"/>
                  <a:gd name="T7" fmla="*/ 0 h 113"/>
                  <a:gd name="T8" fmla="*/ 1 w 158"/>
                  <a:gd name="T9" fmla="*/ 0 h 113"/>
                  <a:gd name="T10" fmla="*/ 0 w 158"/>
                  <a:gd name="T11" fmla="*/ 0 h 113"/>
                  <a:gd name="T12" fmla="*/ 1 w 158"/>
                  <a:gd name="T13" fmla="*/ 0 h 113"/>
                  <a:gd name="T14" fmla="*/ 1 w 158"/>
                  <a:gd name="T15" fmla="*/ 0 h 113"/>
                  <a:gd name="T16" fmla="*/ 1 w 158"/>
                  <a:gd name="T17" fmla="*/ 0 h 113"/>
                  <a:gd name="T18" fmla="*/ 0 w 158"/>
                  <a:gd name="T19" fmla="*/ 0 h 113"/>
                  <a:gd name="T20" fmla="*/ 1 w 158"/>
                  <a:gd name="T21" fmla="*/ 0 h 113"/>
                  <a:gd name="T22" fmla="*/ 1 w 158"/>
                  <a:gd name="T23" fmla="*/ 0 h 11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113"/>
                  <a:gd name="T38" fmla="*/ 158 w 158"/>
                  <a:gd name="T39" fmla="*/ 113 h 11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113">
                    <a:moveTo>
                      <a:pt x="22" y="11"/>
                    </a:moveTo>
                    <a:lnTo>
                      <a:pt x="5" y="20"/>
                    </a:lnTo>
                    <a:lnTo>
                      <a:pt x="145" y="113"/>
                    </a:lnTo>
                    <a:lnTo>
                      <a:pt x="158" y="94"/>
                    </a:lnTo>
                    <a:lnTo>
                      <a:pt x="17" y="2"/>
                    </a:lnTo>
                    <a:lnTo>
                      <a:pt x="0" y="11"/>
                    </a:lnTo>
                    <a:lnTo>
                      <a:pt x="17" y="2"/>
                    </a:lnTo>
                    <a:lnTo>
                      <a:pt x="8" y="0"/>
                    </a:lnTo>
                    <a:lnTo>
                      <a:pt x="1" y="5"/>
                    </a:lnTo>
                    <a:lnTo>
                      <a:pt x="0" y="13"/>
                    </a:lnTo>
                    <a:lnTo>
                      <a:pt x="5" y="20"/>
                    </a:lnTo>
                    <a:lnTo>
                      <a:pt x="22" y="11"/>
                    </a:lnTo>
                    <a:close/>
                  </a:path>
                </a:pathLst>
              </a:custGeom>
              <a:solidFill>
                <a:srgbClr val="000000"/>
              </a:solidFill>
              <a:ln w="9525">
                <a:noFill/>
                <a:round/>
                <a:headEnd/>
                <a:tailEnd/>
              </a:ln>
            </p:spPr>
            <p:txBody>
              <a:bodyPr/>
              <a:lstStyle/>
              <a:p>
                <a:endParaRPr lang="en-US"/>
              </a:p>
            </p:txBody>
          </p:sp>
          <p:sp>
            <p:nvSpPr>
              <p:cNvPr id="25737" name="Freeform 100"/>
              <p:cNvSpPr>
                <a:spLocks/>
              </p:cNvSpPr>
              <p:nvPr/>
            </p:nvSpPr>
            <p:spPr bwMode="auto">
              <a:xfrm>
                <a:off x="2172" y="3506"/>
                <a:ext cx="65" cy="26"/>
              </a:xfrm>
              <a:custGeom>
                <a:avLst/>
                <a:gdLst>
                  <a:gd name="T0" fmla="*/ 1 w 128"/>
                  <a:gd name="T1" fmla="*/ 1 h 52"/>
                  <a:gd name="T2" fmla="*/ 0 w 128"/>
                  <a:gd name="T3" fmla="*/ 1 h 52"/>
                  <a:gd name="T4" fmla="*/ 1 w 128"/>
                  <a:gd name="T5" fmla="*/ 1 h 52"/>
                  <a:gd name="T6" fmla="*/ 1 w 128"/>
                  <a:gd name="T7" fmla="*/ 1 h 52"/>
                  <a:gd name="T8" fmla="*/ 1 w 128"/>
                  <a:gd name="T9" fmla="*/ 1 h 52"/>
                  <a:gd name="T10" fmla="*/ 1 w 128"/>
                  <a:gd name="T11" fmla="*/ 1 h 52"/>
                  <a:gd name="T12" fmla="*/ 1 w 128"/>
                  <a:gd name="T13" fmla="*/ 1 h 52"/>
                  <a:gd name="T14" fmla="*/ 1 w 128"/>
                  <a:gd name="T15" fmla="*/ 1 h 52"/>
                  <a:gd name="T16" fmla="*/ 1 w 128"/>
                  <a:gd name="T17" fmla="*/ 1 h 52"/>
                  <a:gd name="T18" fmla="*/ 1 w 128"/>
                  <a:gd name="T19" fmla="*/ 1 h 52"/>
                  <a:gd name="T20" fmla="*/ 1 w 128"/>
                  <a:gd name="T21" fmla="*/ 1 h 52"/>
                  <a:gd name="T22" fmla="*/ 1 w 128"/>
                  <a:gd name="T23" fmla="*/ 1 h 52"/>
                  <a:gd name="T24" fmla="*/ 1 w 128"/>
                  <a:gd name="T25" fmla="*/ 1 h 52"/>
                  <a:gd name="T26" fmla="*/ 1 w 128"/>
                  <a:gd name="T27" fmla="*/ 1 h 52"/>
                  <a:gd name="T28" fmla="*/ 1 w 128"/>
                  <a:gd name="T29" fmla="*/ 1 h 52"/>
                  <a:gd name="T30" fmla="*/ 1 w 128"/>
                  <a:gd name="T31" fmla="*/ 1 h 52"/>
                  <a:gd name="T32" fmla="*/ 1 w 128"/>
                  <a:gd name="T33" fmla="*/ 1 h 52"/>
                  <a:gd name="T34" fmla="*/ 1 w 128"/>
                  <a:gd name="T35" fmla="*/ 1 h 52"/>
                  <a:gd name="T36" fmla="*/ 1 w 128"/>
                  <a:gd name="T37" fmla="*/ 1 h 52"/>
                  <a:gd name="T38" fmla="*/ 1 w 128"/>
                  <a:gd name="T39" fmla="*/ 1 h 52"/>
                  <a:gd name="T40" fmla="*/ 1 w 128"/>
                  <a:gd name="T41" fmla="*/ 1 h 52"/>
                  <a:gd name="T42" fmla="*/ 1 w 128"/>
                  <a:gd name="T43" fmla="*/ 0 h 52"/>
                  <a:gd name="T44" fmla="*/ 1 w 128"/>
                  <a:gd name="T45" fmla="*/ 1 h 52"/>
                  <a:gd name="T46" fmla="*/ 1 w 128"/>
                  <a:gd name="T47" fmla="*/ 1 h 52"/>
                  <a:gd name="T48" fmla="*/ 1 w 128"/>
                  <a:gd name="T49" fmla="*/ 1 h 52"/>
                  <a:gd name="T50" fmla="*/ 1 w 128"/>
                  <a:gd name="T51" fmla="*/ 1 h 52"/>
                  <a:gd name="T52" fmla="*/ 1 w 128"/>
                  <a:gd name="T53" fmla="*/ 1 h 52"/>
                  <a:gd name="T54" fmla="*/ 1 w 128"/>
                  <a:gd name="T55" fmla="*/ 1 h 52"/>
                  <a:gd name="T56" fmla="*/ 1 w 128"/>
                  <a:gd name="T57" fmla="*/ 1 h 52"/>
                  <a:gd name="T58" fmla="*/ 1 w 128"/>
                  <a:gd name="T59" fmla="*/ 1 h 52"/>
                  <a:gd name="T60" fmla="*/ 1 w 128"/>
                  <a:gd name="T61" fmla="*/ 1 h 52"/>
                  <a:gd name="T62" fmla="*/ 1 w 128"/>
                  <a:gd name="T63" fmla="*/ 1 h 52"/>
                  <a:gd name="T64" fmla="*/ 1 w 128"/>
                  <a:gd name="T65" fmla="*/ 1 h 52"/>
                  <a:gd name="T66" fmla="*/ 1 w 128"/>
                  <a:gd name="T67" fmla="*/ 1 h 5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8"/>
                  <a:gd name="T103" fmla="*/ 0 h 52"/>
                  <a:gd name="T104" fmla="*/ 128 w 128"/>
                  <a:gd name="T105" fmla="*/ 52 h 5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8" h="52">
                    <a:moveTo>
                      <a:pt x="9" y="25"/>
                    </a:moveTo>
                    <a:lnTo>
                      <a:pt x="0" y="44"/>
                    </a:lnTo>
                    <a:lnTo>
                      <a:pt x="2" y="44"/>
                    </a:lnTo>
                    <a:lnTo>
                      <a:pt x="5" y="45"/>
                    </a:lnTo>
                    <a:lnTo>
                      <a:pt x="12" y="47"/>
                    </a:lnTo>
                    <a:lnTo>
                      <a:pt x="20" y="50"/>
                    </a:lnTo>
                    <a:lnTo>
                      <a:pt x="31" y="50"/>
                    </a:lnTo>
                    <a:lnTo>
                      <a:pt x="44" y="52"/>
                    </a:lnTo>
                    <a:lnTo>
                      <a:pt x="59" y="50"/>
                    </a:lnTo>
                    <a:lnTo>
                      <a:pt x="75" y="47"/>
                    </a:lnTo>
                    <a:lnTo>
                      <a:pt x="89" y="44"/>
                    </a:lnTo>
                    <a:lnTo>
                      <a:pt x="102" y="41"/>
                    </a:lnTo>
                    <a:lnTo>
                      <a:pt x="110" y="38"/>
                    </a:lnTo>
                    <a:lnTo>
                      <a:pt x="116" y="34"/>
                    </a:lnTo>
                    <a:lnTo>
                      <a:pt x="121" y="33"/>
                    </a:lnTo>
                    <a:lnTo>
                      <a:pt x="124" y="30"/>
                    </a:lnTo>
                    <a:lnTo>
                      <a:pt x="127" y="27"/>
                    </a:lnTo>
                    <a:lnTo>
                      <a:pt x="128" y="23"/>
                    </a:lnTo>
                    <a:lnTo>
                      <a:pt x="128" y="17"/>
                    </a:lnTo>
                    <a:lnTo>
                      <a:pt x="125" y="9"/>
                    </a:lnTo>
                    <a:lnTo>
                      <a:pt x="121" y="3"/>
                    </a:lnTo>
                    <a:lnTo>
                      <a:pt x="114" y="0"/>
                    </a:lnTo>
                    <a:lnTo>
                      <a:pt x="108" y="3"/>
                    </a:lnTo>
                    <a:lnTo>
                      <a:pt x="99" y="8"/>
                    </a:lnTo>
                    <a:lnTo>
                      <a:pt x="88" y="16"/>
                    </a:lnTo>
                    <a:lnTo>
                      <a:pt x="74" y="20"/>
                    </a:lnTo>
                    <a:lnTo>
                      <a:pt x="64" y="22"/>
                    </a:lnTo>
                    <a:lnTo>
                      <a:pt x="55" y="23"/>
                    </a:lnTo>
                    <a:lnTo>
                      <a:pt x="44" y="25"/>
                    </a:lnTo>
                    <a:lnTo>
                      <a:pt x="33" y="25"/>
                    </a:lnTo>
                    <a:lnTo>
                      <a:pt x="23" y="25"/>
                    </a:lnTo>
                    <a:lnTo>
                      <a:pt x="16" y="25"/>
                    </a:lnTo>
                    <a:lnTo>
                      <a:pt x="11" y="25"/>
                    </a:lnTo>
                    <a:lnTo>
                      <a:pt x="9" y="25"/>
                    </a:lnTo>
                    <a:close/>
                  </a:path>
                </a:pathLst>
              </a:custGeom>
              <a:solidFill>
                <a:srgbClr val="FF7226"/>
              </a:solidFill>
              <a:ln w="9525">
                <a:noFill/>
                <a:round/>
                <a:headEnd/>
                <a:tailEnd/>
              </a:ln>
            </p:spPr>
            <p:txBody>
              <a:bodyPr/>
              <a:lstStyle/>
              <a:p>
                <a:endParaRPr lang="en-US"/>
              </a:p>
            </p:txBody>
          </p:sp>
          <p:sp>
            <p:nvSpPr>
              <p:cNvPr id="25738" name="Freeform 101"/>
              <p:cNvSpPr>
                <a:spLocks/>
              </p:cNvSpPr>
              <p:nvPr/>
            </p:nvSpPr>
            <p:spPr bwMode="auto">
              <a:xfrm>
                <a:off x="2168" y="3516"/>
                <a:ext cx="14" cy="17"/>
              </a:xfrm>
              <a:custGeom>
                <a:avLst/>
                <a:gdLst>
                  <a:gd name="T0" fmla="*/ 1 w 28"/>
                  <a:gd name="T1" fmla="*/ 0 h 35"/>
                  <a:gd name="T2" fmla="*/ 1 w 28"/>
                  <a:gd name="T3" fmla="*/ 0 h 35"/>
                  <a:gd name="T4" fmla="*/ 1 w 28"/>
                  <a:gd name="T5" fmla="*/ 0 h 35"/>
                  <a:gd name="T6" fmla="*/ 1 w 28"/>
                  <a:gd name="T7" fmla="*/ 0 h 35"/>
                  <a:gd name="T8" fmla="*/ 0 w 28"/>
                  <a:gd name="T9" fmla="*/ 0 h 35"/>
                  <a:gd name="T10" fmla="*/ 1 w 28"/>
                  <a:gd name="T11" fmla="*/ 0 h 35"/>
                  <a:gd name="T12" fmla="*/ 0 w 28"/>
                  <a:gd name="T13" fmla="*/ 0 h 35"/>
                  <a:gd name="T14" fmla="*/ 0 w 28"/>
                  <a:gd name="T15" fmla="*/ 0 h 35"/>
                  <a:gd name="T16" fmla="*/ 1 w 28"/>
                  <a:gd name="T17" fmla="*/ 0 h 35"/>
                  <a:gd name="T18" fmla="*/ 1 w 28"/>
                  <a:gd name="T19" fmla="*/ 0 h 35"/>
                  <a:gd name="T20" fmla="*/ 1 w 28"/>
                  <a:gd name="T21" fmla="*/ 0 h 35"/>
                  <a:gd name="T22" fmla="*/ 1 w 28"/>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
                  <a:gd name="T37" fmla="*/ 0 h 35"/>
                  <a:gd name="T38" fmla="*/ 28 w 28"/>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 h="35">
                    <a:moveTo>
                      <a:pt x="14" y="14"/>
                    </a:moveTo>
                    <a:lnTo>
                      <a:pt x="18" y="29"/>
                    </a:lnTo>
                    <a:lnTo>
                      <a:pt x="28" y="10"/>
                    </a:lnTo>
                    <a:lnTo>
                      <a:pt x="9" y="0"/>
                    </a:lnTo>
                    <a:lnTo>
                      <a:pt x="0" y="19"/>
                    </a:lnTo>
                    <a:lnTo>
                      <a:pt x="4" y="33"/>
                    </a:lnTo>
                    <a:lnTo>
                      <a:pt x="0" y="19"/>
                    </a:lnTo>
                    <a:lnTo>
                      <a:pt x="0" y="27"/>
                    </a:lnTo>
                    <a:lnTo>
                      <a:pt x="4" y="33"/>
                    </a:lnTo>
                    <a:lnTo>
                      <a:pt x="12" y="35"/>
                    </a:lnTo>
                    <a:lnTo>
                      <a:pt x="18" y="29"/>
                    </a:lnTo>
                    <a:lnTo>
                      <a:pt x="14" y="14"/>
                    </a:lnTo>
                    <a:close/>
                  </a:path>
                </a:pathLst>
              </a:custGeom>
              <a:solidFill>
                <a:srgbClr val="000000"/>
              </a:solidFill>
              <a:ln w="9525">
                <a:noFill/>
                <a:round/>
                <a:headEnd/>
                <a:tailEnd/>
              </a:ln>
            </p:spPr>
            <p:txBody>
              <a:bodyPr/>
              <a:lstStyle/>
              <a:p>
                <a:endParaRPr lang="en-US"/>
              </a:p>
            </p:txBody>
          </p:sp>
          <p:sp>
            <p:nvSpPr>
              <p:cNvPr id="25739" name="Freeform 102"/>
              <p:cNvSpPr>
                <a:spLocks/>
              </p:cNvSpPr>
              <p:nvPr/>
            </p:nvSpPr>
            <p:spPr bwMode="auto">
              <a:xfrm>
                <a:off x="2170" y="3522"/>
                <a:ext cx="42" cy="15"/>
              </a:xfrm>
              <a:custGeom>
                <a:avLst/>
                <a:gdLst>
                  <a:gd name="T0" fmla="*/ 1 w 83"/>
                  <a:gd name="T1" fmla="*/ 1 h 30"/>
                  <a:gd name="T2" fmla="*/ 1 w 83"/>
                  <a:gd name="T3" fmla="*/ 1 h 30"/>
                  <a:gd name="T4" fmla="*/ 1 w 83"/>
                  <a:gd name="T5" fmla="*/ 1 h 30"/>
                  <a:gd name="T6" fmla="*/ 1 w 83"/>
                  <a:gd name="T7" fmla="*/ 1 h 30"/>
                  <a:gd name="T8" fmla="*/ 1 w 83"/>
                  <a:gd name="T9" fmla="*/ 1 h 30"/>
                  <a:gd name="T10" fmla="*/ 1 w 83"/>
                  <a:gd name="T11" fmla="*/ 1 h 30"/>
                  <a:gd name="T12" fmla="*/ 1 w 83"/>
                  <a:gd name="T13" fmla="*/ 1 h 30"/>
                  <a:gd name="T14" fmla="*/ 1 w 83"/>
                  <a:gd name="T15" fmla="*/ 1 h 30"/>
                  <a:gd name="T16" fmla="*/ 1 w 83"/>
                  <a:gd name="T17" fmla="*/ 0 h 30"/>
                  <a:gd name="T18" fmla="*/ 1 w 83"/>
                  <a:gd name="T19" fmla="*/ 1 h 30"/>
                  <a:gd name="T20" fmla="*/ 0 w 83"/>
                  <a:gd name="T21" fmla="*/ 1 h 30"/>
                  <a:gd name="T22" fmla="*/ 1 w 83"/>
                  <a:gd name="T23" fmla="*/ 1 h 30"/>
                  <a:gd name="T24" fmla="*/ 1 w 83"/>
                  <a:gd name="T25" fmla="*/ 1 h 30"/>
                  <a:gd name="T26" fmla="*/ 1 w 83"/>
                  <a:gd name="T27" fmla="*/ 1 h 30"/>
                  <a:gd name="T28" fmla="*/ 1 w 83"/>
                  <a:gd name="T29" fmla="*/ 1 h 30"/>
                  <a:gd name="T30" fmla="*/ 1 w 83"/>
                  <a:gd name="T31" fmla="*/ 1 h 30"/>
                  <a:gd name="T32" fmla="*/ 1 w 83"/>
                  <a:gd name="T33" fmla="*/ 1 h 30"/>
                  <a:gd name="T34" fmla="*/ 1 w 83"/>
                  <a:gd name="T35" fmla="*/ 1 h 30"/>
                  <a:gd name="T36" fmla="*/ 1 w 83"/>
                  <a:gd name="T37" fmla="*/ 1 h 30"/>
                  <a:gd name="T38" fmla="*/ 1 w 83"/>
                  <a:gd name="T39" fmla="*/ 1 h 30"/>
                  <a:gd name="T40" fmla="*/ 1 w 83"/>
                  <a:gd name="T41" fmla="*/ 1 h 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3"/>
                  <a:gd name="T64" fmla="*/ 0 h 30"/>
                  <a:gd name="T65" fmla="*/ 83 w 83"/>
                  <a:gd name="T66" fmla="*/ 30 h 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3" h="30">
                    <a:moveTo>
                      <a:pt x="79" y="3"/>
                    </a:moveTo>
                    <a:lnTo>
                      <a:pt x="77" y="3"/>
                    </a:lnTo>
                    <a:lnTo>
                      <a:pt x="63" y="6"/>
                    </a:lnTo>
                    <a:lnTo>
                      <a:pt x="49" y="8"/>
                    </a:lnTo>
                    <a:lnTo>
                      <a:pt x="36" y="6"/>
                    </a:lnTo>
                    <a:lnTo>
                      <a:pt x="27" y="6"/>
                    </a:lnTo>
                    <a:lnTo>
                      <a:pt x="21" y="3"/>
                    </a:lnTo>
                    <a:lnTo>
                      <a:pt x="13" y="1"/>
                    </a:lnTo>
                    <a:lnTo>
                      <a:pt x="10" y="0"/>
                    </a:lnTo>
                    <a:lnTo>
                      <a:pt x="10" y="1"/>
                    </a:lnTo>
                    <a:lnTo>
                      <a:pt x="0" y="20"/>
                    </a:lnTo>
                    <a:lnTo>
                      <a:pt x="3" y="22"/>
                    </a:lnTo>
                    <a:lnTo>
                      <a:pt x="7" y="23"/>
                    </a:lnTo>
                    <a:lnTo>
                      <a:pt x="14" y="25"/>
                    </a:lnTo>
                    <a:lnTo>
                      <a:pt x="24" y="28"/>
                    </a:lnTo>
                    <a:lnTo>
                      <a:pt x="36" y="28"/>
                    </a:lnTo>
                    <a:lnTo>
                      <a:pt x="49" y="30"/>
                    </a:lnTo>
                    <a:lnTo>
                      <a:pt x="66" y="28"/>
                    </a:lnTo>
                    <a:lnTo>
                      <a:pt x="83" y="25"/>
                    </a:lnTo>
                    <a:lnTo>
                      <a:pt x="82" y="25"/>
                    </a:lnTo>
                    <a:lnTo>
                      <a:pt x="79" y="3"/>
                    </a:lnTo>
                    <a:close/>
                  </a:path>
                </a:pathLst>
              </a:custGeom>
              <a:solidFill>
                <a:srgbClr val="000000"/>
              </a:solidFill>
              <a:ln w="9525">
                <a:noFill/>
                <a:round/>
                <a:headEnd/>
                <a:tailEnd/>
              </a:ln>
            </p:spPr>
            <p:txBody>
              <a:bodyPr/>
              <a:lstStyle/>
              <a:p>
                <a:endParaRPr lang="en-US"/>
              </a:p>
            </p:txBody>
          </p:sp>
          <p:sp>
            <p:nvSpPr>
              <p:cNvPr id="25740" name="Freeform 103"/>
              <p:cNvSpPr>
                <a:spLocks/>
              </p:cNvSpPr>
              <p:nvPr/>
            </p:nvSpPr>
            <p:spPr bwMode="auto">
              <a:xfrm>
                <a:off x="2209" y="3515"/>
                <a:ext cx="32" cy="20"/>
              </a:xfrm>
              <a:custGeom>
                <a:avLst/>
                <a:gdLst>
                  <a:gd name="T0" fmla="*/ 1 w 64"/>
                  <a:gd name="T1" fmla="*/ 0 h 41"/>
                  <a:gd name="T2" fmla="*/ 1 w 64"/>
                  <a:gd name="T3" fmla="*/ 0 h 41"/>
                  <a:gd name="T4" fmla="*/ 1 w 64"/>
                  <a:gd name="T5" fmla="*/ 0 h 41"/>
                  <a:gd name="T6" fmla="*/ 1 w 64"/>
                  <a:gd name="T7" fmla="*/ 0 h 41"/>
                  <a:gd name="T8" fmla="*/ 1 w 64"/>
                  <a:gd name="T9" fmla="*/ 0 h 41"/>
                  <a:gd name="T10" fmla="*/ 1 w 64"/>
                  <a:gd name="T11" fmla="*/ 0 h 41"/>
                  <a:gd name="T12" fmla="*/ 1 w 64"/>
                  <a:gd name="T13" fmla="*/ 0 h 41"/>
                  <a:gd name="T14" fmla="*/ 1 w 64"/>
                  <a:gd name="T15" fmla="*/ 0 h 41"/>
                  <a:gd name="T16" fmla="*/ 1 w 64"/>
                  <a:gd name="T17" fmla="*/ 0 h 41"/>
                  <a:gd name="T18" fmla="*/ 0 w 64"/>
                  <a:gd name="T19" fmla="*/ 0 h 41"/>
                  <a:gd name="T20" fmla="*/ 1 w 64"/>
                  <a:gd name="T21" fmla="*/ 0 h 41"/>
                  <a:gd name="T22" fmla="*/ 1 w 64"/>
                  <a:gd name="T23" fmla="*/ 0 h 41"/>
                  <a:gd name="T24" fmla="*/ 1 w 64"/>
                  <a:gd name="T25" fmla="*/ 0 h 41"/>
                  <a:gd name="T26" fmla="*/ 1 w 64"/>
                  <a:gd name="T27" fmla="*/ 0 h 41"/>
                  <a:gd name="T28" fmla="*/ 1 w 64"/>
                  <a:gd name="T29" fmla="*/ 0 h 41"/>
                  <a:gd name="T30" fmla="*/ 1 w 64"/>
                  <a:gd name="T31" fmla="*/ 0 h 41"/>
                  <a:gd name="T32" fmla="*/ 1 w 64"/>
                  <a:gd name="T33" fmla="*/ 0 h 41"/>
                  <a:gd name="T34" fmla="*/ 1 w 64"/>
                  <a:gd name="T35" fmla="*/ 0 h 41"/>
                  <a:gd name="T36" fmla="*/ 1 w 64"/>
                  <a:gd name="T37" fmla="*/ 0 h 41"/>
                  <a:gd name="T38" fmla="*/ 1 w 64"/>
                  <a:gd name="T39" fmla="*/ 0 h 41"/>
                  <a:gd name="T40" fmla="*/ 1 w 64"/>
                  <a:gd name="T41" fmla="*/ 0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41"/>
                  <a:gd name="T65" fmla="*/ 64 w 64"/>
                  <a:gd name="T66" fmla="*/ 41 h 4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41">
                    <a:moveTo>
                      <a:pt x="45" y="0"/>
                    </a:moveTo>
                    <a:lnTo>
                      <a:pt x="45" y="2"/>
                    </a:lnTo>
                    <a:lnTo>
                      <a:pt x="43" y="3"/>
                    </a:lnTo>
                    <a:lnTo>
                      <a:pt x="42" y="5"/>
                    </a:lnTo>
                    <a:lnTo>
                      <a:pt x="40" y="6"/>
                    </a:lnTo>
                    <a:lnTo>
                      <a:pt x="37" y="8"/>
                    </a:lnTo>
                    <a:lnTo>
                      <a:pt x="31" y="11"/>
                    </a:lnTo>
                    <a:lnTo>
                      <a:pt x="25" y="13"/>
                    </a:lnTo>
                    <a:lnTo>
                      <a:pt x="12" y="16"/>
                    </a:lnTo>
                    <a:lnTo>
                      <a:pt x="0" y="19"/>
                    </a:lnTo>
                    <a:lnTo>
                      <a:pt x="3" y="41"/>
                    </a:lnTo>
                    <a:lnTo>
                      <a:pt x="18" y="38"/>
                    </a:lnTo>
                    <a:lnTo>
                      <a:pt x="31" y="35"/>
                    </a:lnTo>
                    <a:lnTo>
                      <a:pt x="40" y="30"/>
                    </a:lnTo>
                    <a:lnTo>
                      <a:pt x="47" y="27"/>
                    </a:lnTo>
                    <a:lnTo>
                      <a:pt x="53" y="25"/>
                    </a:lnTo>
                    <a:lnTo>
                      <a:pt x="57" y="21"/>
                    </a:lnTo>
                    <a:lnTo>
                      <a:pt x="62" y="16"/>
                    </a:lnTo>
                    <a:lnTo>
                      <a:pt x="64" y="11"/>
                    </a:lnTo>
                    <a:lnTo>
                      <a:pt x="64" y="13"/>
                    </a:lnTo>
                    <a:lnTo>
                      <a:pt x="45" y="0"/>
                    </a:lnTo>
                    <a:close/>
                  </a:path>
                </a:pathLst>
              </a:custGeom>
              <a:solidFill>
                <a:srgbClr val="000000"/>
              </a:solidFill>
              <a:ln w="9525">
                <a:noFill/>
                <a:round/>
                <a:headEnd/>
                <a:tailEnd/>
              </a:ln>
            </p:spPr>
            <p:txBody>
              <a:bodyPr/>
              <a:lstStyle/>
              <a:p>
                <a:endParaRPr lang="en-US"/>
              </a:p>
            </p:txBody>
          </p:sp>
          <p:sp>
            <p:nvSpPr>
              <p:cNvPr id="25741" name="Freeform 104"/>
              <p:cNvSpPr>
                <a:spLocks/>
              </p:cNvSpPr>
              <p:nvPr/>
            </p:nvSpPr>
            <p:spPr bwMode="auto">
              <a:xfrm>
                <a:off x="2229" y="3501"/>
                <a:ext cx="13" cy="20"/>
              </a:xfrm>
              <a:custGeom>
                <a:avLst/>
                <a:gdLst>
                  <a:gd name="T0" fmla="*/ 1 w 26"/>
                  <a:gd name="T1" fmla="*/ 0 h 41"/>
                  <a:gd name="T2" fmla="*/ 1 w 26"/>
                  <a:gd name="T3" fmla="*/ 0 h 41"/>
                  <a:gd name="T4" fmla="*/ 0 w 26"/>
                  <a:gd name="T5" fmla="*/ 0 h 41"/>
                  <a:gd name="T6" fmla="*/ 1 w 26"/>
                  <a:gd name="T7" fmla="*/ 0 h 41"/>
                  <a:gd name="T8" fmla="*/ 1 w 26"/>
                  <a:gd name="T9" fmla="*/ 0 h 41"/>
                  <a:gd name="T10" fmla="*/ 1 w 26"/>
                  <a:gd name="T11" fmla="*/ 0 h 41"/>
                  <a:gd name="T12" fmla="*/ 1 w 26"/>
                  <a:gd name="T13" fmla="*/ 0 h 41"/>
                  <a:gd name="T14" fmla="*/ 1 w 26"/>
                  <a:gd name="T15" fmla="*/ 0 h 41"/>
                  <a:gd name="T16" fmla="*/ 1 w 26"/>
                  <a:gd name="T17" fmla="*/ 0 h 41"/>
                  <a:gd name="T18" fmla="*/ 1 w 26"/>
                  <a:gd name="T19" fmla="*/ 0 h 41"/>
                  <a:gd name="T20" fmla="*/ 1 w 26"/>
                  <a:gd name="T21" fmla="*/ 0 h 41"/>
                  <a:gd name="T22" fmla="*/ 1 w 26"/>
                  <a:gd name="T23" fmla="*/ 0 h 41"/>
                  <a:gd name="T24" fmla="*/ 1 w 26"/>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
                  <a:gd name="T40" fmla="*/ 0 h 41"/>
                  <a:gd name="T41" fmla="*/ 26 w 26"/>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 h="41">
                    <a:moveTo>
                      <a:pt x="1" y="22"/>
                    </a:moveTo>
                    <a:lnTo>
                      <a:pt x="1" y="22"/>
                    </a:lnTo>
                    <a:lnTo>
                      <a:pt x="0" y="22"/>
                    </a:lnTo>
                    <a:lnTo>
                      <a:pt x="3" y="25"/>
                    </a:lnTo>
                    <a:lnTo>
                      <a:pt x="4" y="31"/>
                    </a:lnTo>
                    <a:lnTo>
                      <a:pt x="6" y="28"/>
                    </a:lnTo>
                    <a:lnTo>
                      <a:pt x="25" y="41"/>
                    </a:lnTo>
                    <a:lnTo>
                      <a:pt x="26" y="25"/>
                    </a:lnTo>
                    <a:lnTo>
                      <a:pt x="22" y="16"/>
                    </a:lnTo>
                    <a:lnTo>
                      <a:pt x="15" y="6"/>
                    </a:lnTo>
                    <a:lnTo>
                      <a:pt x="1" y="0"/>
                    </a:lnTo>
                    <a:lnTo>
                      <a:pt x="1" y="22"/>
                    </a:lnTo>
                    <a:close/>
                  </a:path>
                </a:pathLst>
              </a:custGeom>
              <a:solidFill>
                <a:srgbClr val="000000"/>
              </a:solidFill>
              <a:ln w="9525">
                <a:noFill/>
                <a:round/>
                <a:headEnd/>
                <a:tailEnd/>
              </a:ln>
            </p:spPr>
            <p:txBody>
              <a:bodyPr/>
              <a:lstStyle/>
              <a:p>
                <a:endParaRPr lang="en-US"/>
              </a:p>
            </p:txBody>
          </p:sp>
          <p:sp>
            <p:nvSpPr>
              <p:cNvPr id="25742" name="Freeform 105"/>
              <p:cNvSpPr>
                <a:spLocks/>
              </p:cNvSpPr>
              <p:nvPr/>
            </p:nvSpPr>
            <p:spPr bwMode="auto">
              <a:xfrm>
                <a:off x="2208" y="3501"/>
                <a:ext cx="22" cy="21"/>
              </a:xfrm>
              <a:custGeom>
                <a:avLst/>
                <a:gdLst>
                  <a:gd name="T0" fmla="*/ 1 w 44"/>
                  <a:gd name="T1" fmla="*/ 1 h 42"/>
                  <a:gd name="T2" fmla="*/ 1 w 44"/>
                  <a:gd name="T3" fmla="*/ 1 h 42"/>
                  <a:gd name="T4" fmla="*/ 1 w 44"/>
                  <a:gd name="T5" fmla="*/ 1 h 42"/>
                  <a:gd name="T6" fmla="*/ 1 w 44"/>
                  <a:gd name="T7" fmla="*/ 1 h 42"/>
                  <a:gd name="T8" fmla="*/ 1 w 44"/>
                  <a:gd name="T9" fmla="*/ 1 h 42"/>
                  <a:gd name="T10" fmla="*/ 1 w 44"/>
                  <a:gd name="T11" fmla="*/ 1 h 42"/>
                  <a:gd name="T12" fmla="*/ 1 w 44"/>
                  <a:gd name="T13" fmla="*/ 0 h 42"/>
                  <a:gd name="T14" fmla="*/ 1 w 44"/>
                  <a:gd name="T15" fmla="*/ 1 h 42"/>
                  <a:gd name="T16" fmla="*/ 1 w 44"/>
                  <a:gd name="T17" fmla="*/ 1 h 42"/>
                  <a:gd name="T18" fmla="*/ 1 w 44"/>
                  <a:gd name="T19" fmla="*/ 1 h 42"/>
                  <a:gd name="T20" fmla="*/ 1 w 44"/>
                  <a:gd name="T21" fmla="*/ 1 h 42"/>
                  <a:gd name="T22" fmla="*/ 0 w 44"/>
                  <a:gd name="T23" fmla="*/ 1 h 42"/>
                  <a:gd name="T24" fmla="*/ 1 w 44"/>
                  <a:gd name="T25" fmla="*/ 1 h 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
                  <a:gd name="T40" fmla="*/ 0 h 42"/>
                  <a:gd name="T41" fmla="*/ 44 w 44"/>
                  <a:gd name="T42" fmla="*/ 42 h 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 h="42">
                    <a:moveTo>
                      <a:pt x="7" y="42"/>
                    </a:moveTo>
                    <a:lnTo>
                      <a:pt x="5" y="42"/>
                    </a:lnTo>
                    <a:lnTo>
                      <a:pt x="22" y="36"/>
                    </a:lnTo>
                    <a:lnTo>
                      <a:pt x="35" y="28"/>
                    </a:lnTo>
                    <a:lnTo>
                      <a:pt x="43" y="24"/>
                    </a:lnTo>
                    <a:lnTo>
                      <a:pt x="44" y="22"/>
                    </a:lnTo>
                    <a:lnTo>
                      <a:pt x="44" y="0"/>
                    </a:lnTo>
                    <a:lnTo>
                      <a:pt x="33" y="5"/>
                    </a:lnTo>
                    <a:lnTo>
                      <a:pt x="22" y="9"/>
                    </a:lnTo>
                    <a:lnTo>
                      <a:pt x="13" y="17"/>
                    </a:lnTo>
                    <a:lnTo>
                      <a:pt x="2" y="20"/>
                    </a:lnTo>
                    <a:lnTo>
                      <a:pt x="0" y="20"/>
                    </a:lnTo>
                    <a:lnTo>
                      <a:pt x="7" y="42"/>
                    </a:lnTo>
                    <a:close/>
                  </a:path>
                </a:pathLst>
              </a:custGeom>
              <a:solidFill>
                <a:srgbClr val="000000"/>
              </a:solidFill>
              <a:ln w="9525">
                <a:noFill/>
                <a:round/>
                <a:headEnd/>
                <a:tailEnd/>
              </a:ln>
            </p:spPr>
            <p:txBody>
              <a:bodyPr/>
              <a:lstStyle/>
              <a:p>
                <a:endParaRPr lang="en-US"/>
              </a:p>
            </p:txBody>
          </p:sp>
          <p:sp>
            <p:nvSpPr>
              <p:cNvPr id="25743" name="Freeform 106"/>
              <p:cNvSpPr>
                <a:spLocks/>
              </p:cNvSpPr>
              <p:nvPr/>
            </p:nvSpPr>
            <p:spPr bwMode="auto">
              <a:xfrm>
                <a:off x="2172" y="3511"/>
                <a:ext cx="39" cy="13"/>
              </a:xfrm>
              <a:custGeom>
                <a:avLst/>
                <a:gdLst>
                  <a:gd name="T0" fmla="*/ 0 w 79"/>
                  <a:gd name="T1" fmla="*/ 0 h 27"/>
                  <a:gd name="T2" fmla="*/ 0 w 79"/>
                  <a:gd name="T3" fmla="*/ 0 h 27"/>
                  <a:gd name="T4" fmla="*/ 0 w 79"/>
                  <a:gd name="T5" fmla="*/ 0 h 27"/>
                  <a:gd name="T6" fmla="*/ 0 w 79"/>
                  <a:gd name="T7" fmla="*/ 0 h 27"/>
                  <a:gd name="T8" fmla="*/ 0 w 79"/>
                  <a:gd name="T9" fmla="*/ 0 h 27"/>
                  <a:gd name="T10" fmla="*/ 0 w 79"/>
                  <a:gd name="T11" fmla="*/ 0 h 27"/>
                  <a:gd name="T12" fmla="*/ 0 w 79"/>
                  <a:gd name="T13" fmla="*/ 0 h 27"/>
                  <a:gd name="T14" fmla="*/ 0 w 79"/>
                  <a:gd name="T15" fmla="*/ 0 h 27"/>
                  <a:gd name="T16" fmla="*/ 0 w 79"/>
                  <a:gd name="T17" fmla="*/ 0 h 27"/>
                  <a:gd name="T18" fmla="*/ 0 w 79"/>
                  <a:gd name="T19" fmla="*/ 0 h 27"/>
                  <a:gd name="T20" fmla="*/ 0 w 79"/>
                  <a:gd name="T21" fmla="*/ 0 h 27"/>
                  <a:gd name="T22" fmla="*/ 0 w 79"/>
                  <a:gd name="T23" fmla="*/ 0 h 27"/>
                  <a:gd name="T24" fmla="*/ 0 w 79"/>
                  <a:gd name="T25" fmla="*/ 0 h 27"/>
                  <a:gd name="T26" fmla="*/ 0 w 79"/>
                  <a:gd name="T27" fmla="*/ 0 h 27"/>
                  <a:gd name="T28" fmla="*/ 0 w 79"/>
                  <a:gd name="T29" fmla="*/ 0 h 27"/>
                  <a:gd name="T30" fmla="*/ 0 w 79"/>
                  <a:gd name="T31" fmla="*/ 0 h 27"/>
                  <a:gd name="T32" fmla="*/ 0 w 79"/>
                  <a:gd name="T33" fmla="*/ 0 h 27"/>
                  <a:gd name="T34" fmla="*/ 0 w 79"/>
                  <a:gd name="T35" fmla="*/ 0 h 27"/>
                  <a:gd name="T36" fmla="*/ 0 w 79"/>
                  <a:gd name="T37" fmla="*/ 0 h 27"/>
                  <a:gd name="T38" fmla="*/ 0 w 79"/>
                  <a:gd name="T39" fmla="*/ 0 h 27"/>
                  <a:gd name="T40" fmla="*/ 0 w 79"/>
                  <a:gd name="T41" fmla="*/ 0 h 27"/>
                  <a:gd name="T42" fmla="*/ 0 w 79"/>
                  <a:gd name="T43" fmla="*/ 0 h 27"/>
                  <a:gd name="T44" fmla="*/ 0 w 79"/>
                  <a:gd name="T45" fmla="*/ 0 h 27"/>
                  <a:gd name="T46" fmla="*/ 0 w 79"/>
                  <a:gd name="T47" fmla="*/ 0 h 27"/>
                  <a:gd name="T48" fmla="*/ 0 w 79"/>
                  <a:gd name="T49" fmla="*/ 0 h 27"/>
                  <a:gd name="T50" fmla="*/ 0 w 79"/>
                  <a:gd name="T51" fmla="*/ 0 h 2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9"/>
                  <a:gd name="T79" fmla="*/ 0 h 27"/>
                  <a:gd name="T80" fmla="*/ 79 w 79"/>
                  <a:gd name="T81" fmla="*/ 27 h 2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9" h="27">
                    <a:moveTo>
                      <a:pt x="21" y="21"/>
                    </a:moveTo>
                    <a:lnTo>
                      <a:pt x="11" y="27"/>
                    </a:lnTo>
                    <a:lnTo>
                      <a:pt x="13" y="27"/>
                    </a:lnTo>
                    <a:lnTo>
                      <a:pt x="18" y="27"/>
                    </a:lnTo>
                    <a:lnTo>
                      <a:pt x="25" y="27"/>
                    </a:lnTo>
                    <a:lnTo>
                      <a:pt x="35" y="27"/>
                    </a:lnTo>
                    <a:lnTo>
                      <a:pt x="46" y="27"/>
                    </a:lnTo>
                    <a:lnTo>
                      <a:pt x="58" y="25"/>
                    </a:lnTo>
                    <a:lnTo>
                      <a:pt x="68" y="24"/>
                    </a:lnTo>
                    <a:lnTo>
                      <a:pt x="79" y="22"/>
                    </a:lnTo>
                    <a:lnTo>
                      <a:pt x="72" y="0"/>
                    </a:lnTo>
                    <a:lnTo>
                      <a:pt x="65" y="2"/>
                    </a:lnTo>
                    <a:lnTo>
                      <a:pt x="55" y="4"/>
                    </a:lnTo>
                    <a:lnTo>
                      <a:pt x="46" y="5"/>
                    </a:lnTo>
                    <a:lnTo>
                      <a:pt x="35" y="5"/>
                    </a:lnTo>
                    <a:lnTo>
                      <a:pt x="25" y="5"/>
                    </a:lnTo>
                    <a:lnTo>
                      <a:pt x="18" y="5"/>
                    </a:lnTo>
                    <a:lnTo>
                      <a:pt x="13" y="5"/>
                    </a:lnTo>
                    <a:lnTo>
                      <a:pt x="11" y="5"/>
                    </a:lnTo>
                    <a:lnTo>
                      <a:pt x="2" y="11"/>
                    </a:lnTo>
                    <a:lnTo>
                      <a:pt x="11" y="5"/>
                    </a:lnTo>
                    <a:lnTo>
                      <a:pt x="4" y="8"/>
                    </a:lnTo>
                    <a:lnTo>
                      <a:pt x="0" y="16"/>
                    </a:lnTo>
                    <a:lnTo>
                      <a:pt x="4" y="24"/>
                    </a:lnTo>
                    <a:lnTo>
                      <a:pt x="11" y="27"/>
                    </a:lnTo>
                    <a:lnTo>
                      <a:pt x="21" y="21"/>
                    </a:lnTo>
                    <a:close/>
                  </a:path>
                </a:pathLst>
              </a:custGeom>
              <a:solidFill>
                <a:srgbClr val="000000"/>
              </a:solidFill>
              <a:ln w="9525">
                <a:noFill/>
                <a:round/>
                <a:headEnd/>
                <a:tailEnd/>
              </a:ln>
            </p:spPr>
            <p:txBody>
              <a:bodyPr/>
              <a:lstStyle/>
              <a:p>
                <a:endParaRPr lang="en-US"/>
              </a:p>
            </p:txBody>
          </p:sp>
          <p:sp>
            <p:nvSpPr>
              <p:cNvPr id="25744" name="Freeform 107"/>
              <p:cNvSpPr>
                <a:spLocks/>
              </p:cNvSpPr>
              <p:nvPr/>
            </p:nvSpPr>
            <p:spPr bwMode="auto">
              <a:xfrm>
                <a:off x="1990" y="3505"/>
                <a:ext cx="272" cy="336"/>
              </a:xfrm>
              <a:custGeom>
                <a:avLst/>
                <a:gdLst>
                  <a:gd name="T0" fmla="*/ 1 w 543"/>
                  <a:gd name="T1" fmla="*/ 1 h 672"/>
                  <a:gd name="T2" fmla="*/ 1 w 543"/>
                  <a:gd name="T3" fmla="*/ 1 h 672"/>
                  <a:gd name="T4" fmla="*/ 1 w 543"/>
                  <a:gd name="T5" fmla="*/ 1 h 672"/>
                  <a:gd name="T6" fmla="*/ 1 w 543"/>
                  <a:gd name="T7" fmla="*/ 1 h 672"/>
                  <a:gd name="T8" fmla="*/ 1 w 543"/>
                  <a:gd name="T9" fmla="*/ 1 h 672"/>
                  <a:gd name="T10" fmla="*/ 1 w 543"/>
                  <a:gd name="T11" fmla="*/ 1 h 672"/>
                  <a:gd name="T12" fmla="*/ 1 w 543"/>
                  <a:gd name="T13" fmla="*/ 1 h 672"/>
                  <a:gd name="T14" fmla="*/ 1 w 543"/>
                  <a:gd name="T15" fmla="*/ 1 h 672"/>
                  <a:gd name="T16" fmla="*/ 1 w 543"/>
                  <a:gd name="T17" fmla="*/ 1 h 672"/>
                  <a:gd name="T18" fmla="*/ 1 w 543"/>
                  <a:gd name="T19" fmla="*/ 1 h 672"/>
                  <a:gd name="T20" fmla="*/ 1 w 543"/>
                  <a:gd name="T21" fmla="*/ 1 h 672"/>
                  <a:gd name="T22" fmla="*/ 1 w 543"/>
                  <a:gd name="T23" fmla="*/ 1 h 672"/>
                  <a:gd name="T24" fmla="*/ 1 w 543"/>
                  <a:gd name="T25" fmla="*/ 1 h 672"/>
                  <a:gd name="T26" fmla="*/ 1 w 543"/>
                  <a:gd name="T27" fmla="*/ 1 h 672"/>
                  <a:gd name="T28" fmla="*/ 1 w 543"/>
                  <a:gd name="T29" fmla="*/ 1 h 672"/>
                  <a:gd name="T30" fmla="*/ 1 w 543"/>
                  <a:gd name="T31" fmla="*/ 1 h 672"/>
                  <a:gd name="T32" fmla="*/ 1 w 543"/>
                  <a:gd name="T33" fmla="*/ 1 h 672"/>
                  <a:gd name="T34" fmla="*/ 1 w 543"/>
                  <a:gd name="T35" fmla="*/ 1 h 672"/>
                  <a:gd name="T36" fmla="*/ 1 w 543"/>
                  <a:gd name="T37" fmla="*/ 1 h 672"/>
                  <a:gd name="T38" fmla="*/ 1 w 543"/>
                  <a:gd name="T39" fmla="*/ 1 h 672"/>
                  <a:gd name="T40" fmla="*/ 1 w 543"/>
                  <a:gd name="T41" fmla="*/ 1 h 672"/>
                  <a:gd name="T42" fmla="*/ 1 w 543"/>
                  <a:gd name="T43" fmla="*/ 1 h 672"/>
                  <a:gd name="T44" fmla="*/ 1 w 543"/>
                  <a:gd name="T45" fmla="*/ 0 h 672"/>
                  <a:gd name="T46" fmla="*/ 1 w 543"/>
                  <a:gd name="T47" fmla="*/ 1 h 672"/>
                  <a:gd name="T48" fmla="*/ 1 w 543"/>
                  <a:gd name="T49" fmla="*/ 1 h 672"/>
                  <a:gd name="T50" fmla="*/ 1 w 543"/>
                  <a:gd name="T51" fmla="*/ 1 h 672"/>
                  <a:gd name="T52" fmla="*/ 1 w 543"/>
                  <a:gd name="T53" fmla="*/ 1 h 672"/>
                  <a:gd name="T54" fmla="*/ 1 w 543"/>
                  <a:gd name="T55" fmla="*/ 1 h 672"/>
                  <a:gd name="T56" fmla="*/ 1 w 543"/>
                  <a:gd name="T57" fmla="*/ 1 h 672"/>
                  <a:gd name="T58" fmla="*/ 1 w 543"/>
                  <a:gd name="T59" fmla="*/ 1 h 672"/>
                  <a:gd name="T60" fmla="*/ 1 w 543"/>
                  <a:gd name="T61" fmla="*/ 1 h 672"/>
                  <a:gd name="T62" fmla="*/ 1 w 543"/>
                  <a:gd name="T63" fmla="*/ 1 h 672"/>
                  <a:gd name="T64" fmla="*/ 1 w 543"/>
                  <a:gd name="T65" fmla="*/ 1 h 672"/>
                  <a:gd name="T66" fmla="*/ 1 w 543"/>
                  <a:gd name="T67" fmla="*/ 1 h 672"/>
                  <a:gd name="T68" fmla="*/ 1 w 543"/>
                  <a:gd name="T69" fmla="*/ 1 h 672"/>
                  <a:gd name="T70" fmla="*/ 1 w 543"/>
                  <a:gd name="T71" fmla="*/ 1 h 672"/>
                  <a:gd name="T72" fmla="*/ 1 w 543"/>
                  <a:gd name="T73" fmla="*/ 1 h 672"/>
                  <a:gd name="T74" fmla="*/ 1 w 543"/>
                  <a:gd name="T75" fmla="*/ 1 h 672"/>
                  <a:gd name="T76" fmla="*/ 1 w 543"/>
                  <a:gd name="T77" fmla="*/ 1 h 672"/>
                  <a:gd name="T78" fmla="*/ 1 w 543"/>
                  <a:gd name="T79" fmla="*/ 1 h 672"/>
                  <a:gd name="T80" fmla="*/ 1 w 543"/>
                  <a:gd name="T81" fmla="*/ 1 h 672"/>
                  <a:gd name="T82" fmla="*/ 1 w 543"/>
                  <a:gd name="T83" fmla="*/ 1 h 672"/>
                  <a:gd name="T84" fmla="*/ 1 w 543"/>
                  <a:gd name="T85" fmla="*/ 1 h 672"/>
                  <a:gd name="T86" fmla="*/ 1 w 543"/>
                  <a:gd name="T87" fmla="*/ 1 h 672"/>
                  <a:gd name="T88" fmla="*/ 1 w 543"/>
                  <a:gd name="T89" fmla="*/ 1 h 672"/>
                  <a:gd name="T90" fmla="*/ 1 w 543"/>
                  <a:gd name="T91" fmla="*/ 1 h 672"/>
                  <a:gd name="T92" fmla="*/ 0 w 543"/>
                  <a:gd name="T93" fmla="*/ 1 h 672"/>
                  <a:gd name="T94" fmla="*/ 0 w 543"/>
                  <a:gd name="T95" fmla="*/ 1 h 672"/>
                  <a:gd name="T96" fmla="*/ 1 w 543"/>
                  <a:gd name="T97" fmla="*/ 1 h 672"/>
                  <a:gd name="T98" fmla="*/ 1 w 543"/>
                  <a:gd name="T99" fmla="*/ 1 h 672"/>
                  <a:gd name="T100" fmla="*/ 1 w 543"/>
                  <a:gd name="T101" fmla="*/ 1 h 672"/>
                  <a:gd name="T102" fmla="*/ 1 w 543"/>
                  <a:gd name="T103" fmla="*/ 1 h 672"/>
                  <a:gd name="T104" fmla="*/ 1 w 543"/>
                  <a:gd name="T105" fmla="*/ 1 h 672"/>
                  <a:gd name="T106" fmla="*/ 1 w 543"/>
                  <a:gd name="T107" fmla="*/ 1 h 672"/>
                  <a:gd name="T108" fmla="*/ 1 w 543"/>
                  <a:gd name="T109" fmla="*/ 1 h 672"/>
                  <a:gd name="T110" fmla="*/ 1 w 543"/>
                  <a:gd name="T111" fmla="*/ 1 h 672"/>
                  <a:gd name="T112" fmla="*/ 1 w 543"/>
                  <a:gd name="T113" fmla="*/ 1 h 672"/>
                  <a:gd name="T114" fmla="*/ 1 w 543"/>
                  <a:gd name="T115" fmla="*/ 1 h 672"/>
                  <a:gd name="T116" fmla="*/ 1 w 543"/>
                  <a:gd name="T117" fmla="*/ 1 h 672"/>
                  <a:gd name="T118" fmla="*/ 1 w 543"/>
                  <a:gd name="T119" fmla="*/ 1 h 672"/>
                  <a:gd name="T120" fmla="*/ 1 w 543"/>
                  <a:gd name="T121" fmla="*/ 1 h 67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3"/>
                  <a:gd name="T184" fmla="*/ 0 h 672"/>
                  <a:gd name="T185" fmla="*/ 543 w 543"/>
                  <a:gd name="T186" fmla="*/ 672 h 67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3" h="672">
                    <a:moveTo>
                      <a:pt x="343" y="431"/>
                    </a:moveTo>
                    <a:lnTo>
                      <a:pt x="329" y="424"/>
                    </a:lnTo>
                    <a:lnTo>
                      <a:pt x="316" y="417"/>
                    </a:lnTo>
                    <a:lnTo>
                      <a:pt x="307" y="410"/>
                    </a:lnTo>
                    <a:lnTo>
                      <a:pt x="301" y="403"/>
                    </a:lnTo>
                    <a:lnTo>
                      <a:pt x="298" y="396"/>
                    </a:lnTo>
                    <a:lnTo>
                      <a:pt x="296" y="392"/>
                    </a:lnTo>
                    <a:lnTo>
                      <a:pt x="296" y="390"/>
                    </a:lnTo>
                    <a:lnTo>
                      <a:pt x="291" y="266"/>
                    </a:lnTo>
                    <a:lnTo>
                      <a:pt x="293" y="265"/>
                    </a:lnTo>
                    <a:lnTo>
                      <a:pt x="299" y="260"/>
                    </a:lnTo>
                    <a:lnTo>
                      <a:pt x="305" y="254"/>
                    </a:lnTo>
                    <a:lnTo>
                      <a:pt x="313" y="248"/>
                    </a:lnTo>
                    <a:lnTo>
                      <a:pt x="321" y="241"/>
                    </a:lnTo>
                    <a:lnTo>
                      <a:pt x="327" y="237"/>
                    </a:lnTo>
                    <a:lnTo>
                      <a:pt x="331" y="234"/>
                    </a:lnTo>
                    <a:lnTo>
                      <a:pt x="331" y="235"/>
                    </a:lnTo>
                    <a:lnTo>
                      <a:pt x="321" y="243"/>
                    </a:lnTo>
                    <a:lnTo>
                      <a:pt x="309" y="254"/>
                    </a:lnTo>
                    <a:lnTo>
                      <a:pt x="296" y="263"/>
                    </a:lnTo>
                    <a:lnTo>
                      <a:pt x="291" y="266"/>
                    </a:lnTo>
                    <a:lnTo>
                      <a:pt x="257" y="266"/>
                    </a:lnTo>
                    <a:lnTo>
                      <a:pt x="255" y="263"/>
                    </a:lnTo>
                    <a:lnTo>
                      <a:pt x="251" y="257"/>
                    </a:lnTo>
                    <a:lnTo>
                      <a:pt x="246" y="249"/>
                    </a:lnTo>
                    <a:lnTo>
                      <a:pt x="240" y="241"/>
                    </a:lnTo>
                    <a:lnTo>
                      <a:pt x="233" y="230"/>
                    </a:lnTo>
                    <a:lnTo>
                      <a:pt x="229" y="218"/>
                    </a:lnTo>
                    <a:lnTo>
                      <a:pt x="224" y="205"/>
                    </a:lnTo>
                    <a:lnTo>
                      <a:pt x="222" y="201"/>
                    </a:lnTo>
                    <a:lnTo>
                      <a:pt x="224" y="198"/>
                    </a:lnTo>
                    <a:lnTo>
                      <a:pt x="230" y="187"/>
                    </a:lnTo>
                    <a:lnTo>
                      <a:pt x="240" y="174"/>
                    </a:lnTo>
                    <a:lnTo>
                      <a:pt x="251" y="160"/>
                    </a:lnTo>
                    <a:lnTo>
                      <a:pt x="258" y="151"/>
                    </a:lnTo>
                    <a:lnTo>
                      <a:pt x="266" y="138"/>
                    </a:lnTo>
                    <a:lnTo>
                      <a:pt x="277" y="124"/>
                    </a:lnTo>
                    <a:lnTo>
                      <a:pt x="287" y="107"/>
                    </a:lnTo>
                    <a:lnTo>
                      <a:pt x="298" y="93"/>
                    </a:lnTo>
                    <a:lnTo>
                      <a:pt x="307" y="79"/>
                    </a:lnTo>
                    <a:lnTo>
                      <a:pt x="315" y="68"/>
                    </a:lnTo>
                    <a:lnTo>
                      <a:pt x="321" y="60"/>
                    </a:lnTo>
                    <a:lnTo>
                      <a:pt x="334" y="52"/>
                    </a:lnTo>
                    <a:lnTo>
                      <a:pt x="346" y="47"/>
                    </a:lnTo>
                    <a:lnTo>
                      <a:pt x="357" y="46"/>
                    </a:lnTo>
                    <a:lnTo>
                      <a:pt x="362" y="46"/>
                    </a:lnTo>
                    <a:lnTo>
                      <a:pt x="365" y="47"/>
                    </a:lnTo>
                    <a:lnTo>
                      <a:pt x="371" y="49"/>
                    </a:lnTo>
                    <a:lnTo>
                      <a:pt x="382" y="52"/>
                    </a:lnTo>
                    <a:lnTo>
                      <a:pt x="393" y="54"/>
                    </a:lnTo>
                    <a:lnTo>
                      <a:pt x="399" y="54"/>
                    </a:lnTo>
                    <a:lnTo>
                      <a:pt x="409" y="54"/>
                    </a:lnTo>
                    <a:lnTo>
                      <a:pt x="418" y="52"/>
                    </a:lnTo>
                    <a:lnTo>
                      <a:pt x="428" y="51"/>
                    </a:lnTo>
                    <a:lnTo>
                      <a:pt x="437" y="49"/>
                    </a:lnTo>
                    <a:lnTo>
                      <a:pt x="448" y="46"/>
                    </a:lnTo>
                    <a:lnTo>
                      <a:pt x="457" y="44"/>
                    </a:lnTo>
                    <a:lnTo>
                      <a:pt x="465" y="41"/>
                    </a:lnTo>
                    <a:lnTo>
                      <a:pt x="478" y="35"/>
                    </a:lnTo>
                    <a:lnTo>
                      <a:pt x="487" y="29"/>
                    </a:lnTo>
                    <a:lnTo>
                      <a:pt x="492" y="24"/>
                    </a:lnTo>
                    <a:lnTo>
                      <a:pt x="493" y="22"/>
                    </a:lnTo>
                    <a:lnTo>
                      <a:pt x="492" y="19"/>
                    </a:lnTo>
                    <a:lnTo>
                      <a:pt x="489" y="13"/>
                    </a:lnTo>
                    <a:lnTo>
                      <a:pt x="486" y="5"/>
                    </a:lnTo>
                    <a:lnTo>
                      <a:pt x="487" y="2"/>
                    </a:lnTo>
                    <a:lnTo>
                      <a:pt x="490" y="0"/>
                    </a:lnTo>
                    <a:lnTo>
                      <a:pt x="496" y="0"/>
                    </a:lnTo>
                    <a:lnTo>
                      <a:pt x="503" y="2"/>
                    </a:lnTo>
                    <a:lnTo>
                      <a:pt x="511" y="2"/>
                    </a:lnTo>
                    <a:lnTo>
                      <a:pt x="517" y="4"/>
                    </a:lnTo>
                    <a:lnTo>
                      <a:pt x="525" y="5"/>
                    </a:lnTo>
                    <a:lnTo>
                      <a:pt x="531" y="7"/>
                    </a:lnTo>
                    <a:lnTo>
                      <a:pt x="536" y="8"/>
                    </a:lnTo>
                    <a:lnTo>
                      <a:pt x="539" y="15"/>
                    </a:lnTo>
                    <a:lnTo>
                      <a:pt x="540" y="25"/>
                    </a:lnTo>
                    <a:lnTo>
                      <a:pt x="542" y="41"/>
                    </a:lnTo>
                    <a:lnTo>
                      <a:pt x="543" y="58"/>
                    </a:lnTo>
                    <a:lnTo>
                      <a:pt x="543" y="76"/>
                    </a:lnTo>
                    <a:lnTo>
                      <a:pt x="543" y="91"/>
                    </a:lnTo>
                    <a:lnTo>
                      <a:pt x="543" y="101"/>
                    </a:lnTo>
                    <a:lnTo>
                      <a:pt x="543" y="105"/>
                    </a:lnTo>
                    <a:lnTo>
                      <a:pt x="543" y="110"/>
                    </a:lnTo>
                    <a:lnTo>
                      <a:pt x="543" y="121"/>
                    </a:lnTo>
                    <a:lnTo>
                      <a:pt x="543" y="138"/>
                    </a:lnTo>
                    <a:lnTo>
                      <a:pt x="542" y="162"/>
                    </a:lnTo>
                    <a:lnTo>
                      <a:pt x="540" y="190"/>
                    </a:lnTo>
                    <a:lnTo>
                      <a:pt x="539" y="219"/>
                    </a:lnTo>
                    <a:lnTo>
                      <a:pt x="536" y="252"/>
                    </a:lnTo>
                    <a:lnTo>
                      <a:pt x="531" y="287"/>
                    </a:lnTo>
                    <a:lnTo>
                      <a:pt x="526" y="321"/>
                    </a:lnTo>
                    <a:lnTo>
                      <a:pt x="520" y="356"/>
                    </a:lnTo>
                    <a:lnTo>
                      <a:pt x="512" y="387"/>
                    </a:lnTo>
                    <a:lnTo>
                      <a:pt x="504" y="417"/>
                    </a:lnTo>
                    <a:lnTo>
                      <a:pt x="493" y="442"/>
                    </a:lnTo>
                    <a:lnTo>
                      <a:pt x="481" y="460"/>
                    </a:lnTo>
                    <a:lnTo>
                      <a:pt x="467" y="475"/>
                    </a:lnTo>
                    <a:lnTo>
                      <a:pt x="451" y="482"/>
                    </a:lnTo>
                    <a:lnTo>
                      <a:pt x="418" y="489"/>
                    </a:lnTo>
                    <a:lnTo>
                      <a:pt x="387" y="493"/>
                    </a:lnTo>
                    <a:lnTo>
                      <a:pt x="359" y="496"/>
                    </a:lnTo>
                    <a:lnTo>
                      <a:pt x="331" y="498"/>
                    </a:lnTo>
                    <a:lnTo>
                      <a:pt x="305" y="500"/>
                    </a:lnTo>
                    <a:lnTo>
                      <a:pt x="282" y="498"/>
                    </a:lnTo>
                    <a:lnTo>
                      <a:pt x="260" y="495"/>
                    </a:lnTo>
                    <a:lnTo>
                      <a:pt x="240" y="490"/>
                    </a:lnTo>
                    <a:lnTo>
                      <a:pt x="221" y="484"/>
                    </a:lnTo>
                    <a:lnTo>
                      <a:pt x="204" y="479"/>
                    </a:lnTo>
                    <a:lnTo>
                      <a:pt x="186" y="476"/>
                    </a:lnTo>
                    <a:lnTo>
                      <a:pt x="169" y="473"/>
                    </a:lnTo>
                    <a:lnTo>
                      <a:pt x="155" y="471"/>
                    </a:lnTo>
                    <a:lnTo>
                      <a:pt x="144" y="470"/>
                    </a:lnTo>
                    <a:lnTo>
                      <a:pt x="133" y="470"/>
                    </a:lnTo>
                    <a:lnTo>
                      <a:pt x="127" y="470"/>
                    </a:lnTo>
                    <a:lnTo>
                      <a:pt x="119" y="471"/>
                    </a:lnTo>
                    <a:lnTo>
                      <a:pt x="114" y="473"/>
                    </a:lnTo>
                    <a:lnTo>
                      <a:pt x="113" y="475"/>
                    </a:lnTo>
                    <a:lnTo>
                      <a:pt x="113" y="476"/>
                    </a:lnTo>
                    <a:lnTo>
                      <a:pt x="111" y="489"/>
                    </a:lnTo>
                    <a:lnTo>
                      <a:pt x="118" y="659"/>
                    </a:lnTo>
                    <a:lnTo>
                      <a:pt x="116" y="659"/>
                    </a:lnTo>
                    <a:lnTo>
                      <a:pt x="114" y="662"/>
                    </a:lnTo>
                    <a:lnTo>
                      <a:pt x="110" y="664"/>
                    </a:lnTo>
                    <a:lnTo>
                      <a:pt x="102" y="667"/>
                    </a:lnTo>
                    <a:lnTo>
                      <a:pt x="94" y="669"/>
                    </a:lnTo>
                    <a:lnTo>
                      <a:pt x="83" y="672"/>
                    </a:lnTo>
                    <a:lnTo>
                      <a:pt x="72" y="672"/>
                    </a:lnTo>
                    <a:lnTo>
                      <a:pt x="58" y="672"/>
                    </a:lnTo>
                    <a:lnTo>
                      <a:pt x="35" y="669"/>
                    </a:lnTo>
                    <a:lnTo>
                      <a:pt x="22" y="665"/>
                    </a:lnTo>
                    <a:lnTo>
                      <a:pt x="16" y="664"/>
                    </a:lnTo>
                    <a:lnTo>
                      <a:pt x="14" y="662"/>
                    </a:lnTo>
                    <a:lnTo>
                      <a:pt x="14" y="656"/>
                    </a:lnTo>
                    <a:lnTo>
                      <a:pt x="11" y="642"/>
                    </a:lnTo>
                    <a:lnTo>
                      <a:pt x="10" y="620"/>
                    </a:lnTo>
                    <a:lnTo>
                      <a:pt x="6" y="595"/>
                    </a:lnTo>
                    <a:lnTo>
                      <a:pt x="3" y="567"/>
                    </a:lnTo>
                    <a:lnTo>
                      <a:pt x="2" y="540"/>
                    </a:lnTo>
                    <a:lnTo>
                      <a:pt x="0" y="517"/>
                    </a:lnTo>
                    <a:lnTo>
                      <a:pt x="0" y="500"/>
                    </a:lnTo>
                    <a:lnTo>
                      <a:pt x="0" y="485"/>
                    </a:lnTo>
                    <a:lnTo>
                      <a:pt x="0" y="468"/>
                    </a:lnTo>
                    <a:lnTo>
                      <a:pt x="0" y="451"/>
                    </a:lnTo>
                    <a:lnTo>
                      <a:pt x="0" y="434"/>
                    </a:lnTo>
                    <a:lnTo>
                      <a:pt x="2" y="418"/>
                    </a:lnTo>
                    <a:lnTo>
                      <a:pt x="5" y="403"/>
                    </a:lnTo>
                    <a:lnTo>
                      <a:pt x="11" y="390"/>
                    </a:lnTo>
                    <a:lnTo>
                      <a:pt x="20" y="381"/>
                    </a:lnTo>
                    <a:lnTo>
                      <a:pt x="35" y="373"/>
                    </a:lnTo>
                    <a:lnTo>
                      <a:pt x="55" y="367"/>
                    </a:lnTo>
                    <a:lnTo>
                      <a:pt x="78" y="360"/>
                    </a:lnTo>
                    <a:lnTo>
                      <a:pt x="108" y="356"/>
                    </a:lnTo>
                    <a:lnTo>
                      <a:pt x="139" y="352"/>
                    </a:lnTo>
                    <a:lnTo>
                      <a:pt x="174" y="352"/>
                    </a:lnTo>
                    <a:lnTo>
                      <a:pt x="212" y="354"/>
                    </a:lnTo>
                    <a:lnTo>
                      <a:pt x="251" y="357"/>
                    </a:lnTo>
                    <a:lnTo>
                      <a:pt x="248" y="357"/>
                    </a:lnTo>
                    <a:lnTo>
                      <a:pt x="241" y="356"/>
                    </a:lnTo>
                    <a:lnTo>
                      <a:pt x="232" y="356"/>
                    </a:lnTo>
                    <a:lnTo>
                      <a:pt x="219" y="354"/>
                    </a:lnTo>
                    <a:lnTo>
                      <a:pt x="205" y="354"/>
                    </a:lnTo>
                    <a:lnTo>
                      <a:pt x="190" y="352"/>
                    </a:lnTo>
                    <a:lnTo>
                      <a:pt x="174" y="352"/>
                    </a:lnTo>
                    <a:lnTo>
                      <a:pt x="158" y="352"/>
                    </a:lnTo>
                    <a:lnTo>
                      <a:pt x="135" y="352"/>
                    </a:lnTo>
                    <a:lnTo>
                      <a:pt x="122" y="354"/>
                    </a:lnTo>
                    <a:lnTo>
                      <a:pt x="118" y="356"/>
                    </a:lnTo>
                    <a:lnTo>
                      <a:pt x="116" y="356"/>
                    </a:lnTo>
                    <a:lnTo>
                      <a:pt x="113" y="343"/>
                    </a:lnTo>
                    <a:lnTo>
                      <a:pt x="113" y="342"/>
                    </a:lnTo>
                    <a:lnTo>
                      <a:pt x="114" y="335"/>
                    </a:lnTo>
                    <a:lnTo>
                      <a:pt x="121" y="327"/>
                    </a:lnTo>
                    <a:lnTo>
                      <a:pt x="135" y="321"/>
                    </a:lnTo>
                    <a:lnTo>
                      <a:pt x="149" y="318"/>
                    </a:lnTo>
                    <a:lnTo>
                      <a:pt x="168" y="315"/>
                    </a:lnTo>
                    <a:lnTo>
                      <a:pt x="191" y="310"/>
                    </a:lnTo>
                    <a:lnTo>
                      <a:pt x="216" y="307"/>
                    </a:lnTo>
                    <a:lnTo>
                      <a:pt x="241" y="304"/>
                    </a:lnTo>
                    <a:lnTo>
                      <a:pt x="263" y="301"/>
                    </a:lnTo>
                    <a:lnTo>
                      <a:pt x="280" y="299"/>
                    </a:lnTo>
                    <a:lnTo>
                      <a:pt x="291" y="299"/>
                    </a:lnTo>
                    <a:lnTo>
                      <a:pt x="343" y="431"/>
                    </a:lnTo>
                    <a:close/>
                  </a:path>
                </a:pathLst>
              </a:custGeom>
              <a:solidFill>
                <a:srgbClr val="00FFB2"/>
              </a:solidFill>
              <a:ln w="9525">
                <a:noFill/>
                <a:round/>
                <a:headEnd/>
                <a:tailEnd/>
              </a:ln>
            </p:spPr>
            <p:txBody>
              <a:bodyPr/>
              <a:lstStyle/>
              <a:p>
                <a:endParaRPr lang="en-US"/>
              </a:p>
            </p:txBody>
          </p:sp>
          <p:sp>
            <p:nvSpPr>
              <p:cNvPr id="25745" name="Freeform 108"/>
              <p:cNvSpPr>
                <a:spLocks/>
              </p:cNvSpPr>
              <p:nvPr/>
            </p:nvSpPr>
            <p:spPr bwMode="auto">
              <a:xfrm>
                <a:off x="2136" y="3703"/>
                <a:ext cx="27" cy="23"/>
              </a:xfrm>
              <a:custGeom>
                <a:avLst/>
                <a:gdLst>
                  <a:gd name="T0" fmla="*/ 0 w 55"/>
                  <a:gd name="T1" fmla="*/ 1 h 46"/>
                  <a:gd name="T2" fmla="*/ 0 w 55"/>
                  <a:gd name="T3" fmla="*/ 1 h 46"/>
                  <a:gd name="T4" fmla="*/ 0 w 55"/>
                  <a:gd name="T5" fmla="*/ 1 h 46"/>
                  <a:gd name="T6" fmla="*/ 0 w 55"/>
                  <a:gd name="T7" fmla="*/ 1 h 46"/>
                  <a:gd name="T8" fmla="*/ 0 w 55"/>
                  <a:gd name="T9" fmla="*/ 1 h 46"/>
                  <a:gd name="T10" fmla="*/ 0 w 55"/>
                  <a:gd name="T11" fmla="*/ 1 h 46"/>
                  <a:gd name="T12" fmla="*/ 0 w 55"/>
                  <a:gd name="T13" fmla="*/ 1 h 46"/>
                  <a:gd name="T14" fmla="*/ 0 w 55"/>
                  <a:gd name="T15" fmla="*/ 1 h 46"/>
                  <a:gd name="T16" fmla="*/ 0 w 55"/>
                  <a:gd name="T17" fmla="*/ 1 h 46"/>
                  <a:gd name="T18" fmla="*/ 0 w 55"/>
                  <a:gd name="T19" fmla="*/ 1 h 46"/>
                  <a:gd name="T20" fmla="*/ 0 w 55"/>
                  <a:gd name="T21" fmla="*/ 0 h 46"/>
                  <a:gd name="T22" fmla="*/ 0 w 55"/>
                  <a:gd name="T23" fmla="*/ 1 h 46"/>
                  <a:gd name="T24" fmla="*/ 0 w 55"/>
                  <a:gd name="T25" fmla="*/ 1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46"/>
                  <a:gd name="T41" fmla="*/ 55 w 55"/>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46">
                    <a:moveTo>
                      <a:pt x="0" y="11"/>
                    </a:moveTo>
                    <a:lnTo>
                      <a:pt x="0" y="13"/>
                    </a:lnTo>
                    <a:lnTo>
                      <a:pt x="8" y="22"/>
                    </a:lnTo>
                    <a:lnTo>
                      <a:pt x="19" y="30"/>
                    </a:lnTo>
                    <a:lnTo>
                      <a:pt x="33" y="38"/>
                    </a:lnTo>
                    <a:lnTo>
                      <a:pt x="49" y="46"/>
                    </a:lnTo>
                    <a:lnTo>
                      <a:pt x="55" y="24"/>
                    </a:lnTo>
                    <a:lnTo>
                      <a:pt x="43" y="19"/>
                    </a:lnTo>
                    <a:lnTo>
                      <a:pt x="32" y="11"/>
                    </a:lnTo>
                    <a:lnTo>
                      <a:pt x="24" y="7"/>
                    </a:lnTo>
                    <a:lnTo>
                      <a:pt x="19" y="0"/>
                    </a:lnTo>
                    <a:lnTo>
                      <a:pt x="19" y="2"/>
                    </a:lnTo>
                    <a:lnTo>
                      <a:pt x="0" y="11"/>
                    </a:lnTo>
                    <a:close/>
                  </a:path>
                </a:pathLst>
              </a:custGeom>
              <a:solidFill>
                <a:srgbClr val="000000"/>
              </a:solidFill>
              <a:ln w="9525">
                <a:noFill/>
                <a:round/>
                <a:headEnd/>
                <a:tailEnd/>
              </a:ln>
            </p:spPr>
            <p:txBody>
              <a:bodyPr/>
              <a:lstStyle/>
              <a:p>
                <a:endParaRPr lang="en-US"/>
              </a:p>
            </p:txBody>
          </p:sp>
          <p:sp>
            <p:nvSpPr>
              <p:cNvPr id="25746" name="Freeform 109"/>
              <p:cNvSpPr>
                <a:spLocks/>
              </p:cNvSpPr>
              <p:nvPr/>
            </p:nvSpPr>
            <p:spPr bwMode="auto">
              <a:xfrm>
                <a:off x="2133" y="3695"/>
                <a:ext cx="12" cy="14"/>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1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0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0" y="11"/>
                    </a:moveTo>
                    <a:lnTo>
                      <a:pt x="3" y="3"/>
                    </a:lnTo>
                    <a:lnTo>
                      <a:pt x="0" y="11"/>
                    </a:lnTo>
                    <a:lnTo>
                      <a:pt x="0" y="16"/>
                    </a:lnTo>
                    <a:lnTo>
                      <a:pt x="3" y="22"/>
                    </a:lnTo>
                    <a:lnTo>
                      <a:pt x="6" y="28"/>
                    </a:lnTo>
                    <a:lnTo>
                      <a:pt x="25" y="19"/>
                    </a:lnTo>
                    <a:lnTo>
                      <a:pt x="22" y="13"/>
                    </a:lnTo>
                    <a:lnTo>
                      <a:pt x="22" y="9"/>
                    </a:lnTo>
                    <a:lnTo>
                      <a:pt x="22" y="11"/>
                    </a:lnTo>
                    <a:lnTo>
                      <a:pt x="19" y="19"/>
                    </a:lnTo>
                    <a:lnTo>
                      <a:pt x="22" y="11"/>
                    </a:lnTo>
                    <a:lnTo>
                      <a:pt x="19" y="19"/>
                    </a:lnTo>
                    <a:lnTo>
                      <a:pt x="22" y="11"/>
                    </a:lnTo>
                    <a:lnTo>
                      <a:pt x="19" y="3"/>
                    </a:lnTo>
                    <a:lnTo>
                      <a:pt x="11" y="0"/>
                    </a:lnTo>
                    <a:lnTo>
                      <a:pt x="3" y="3"/>
                    </a:lnTo>
                    <a:lnTo>
                      <a:pt x="0" y="11"/>
                    </a:lnTo>
                    <a:close/>
                  </a:path>
                </a:pathLst>
              </a:custGeom>
              <a:solidFill>
                <a:srgbClr val="000000"/>
              </a:solidFill>
              <a:ln w="9525">
                <a:noFill/>
                <a:round/>
                <a:headEnd/>
                <a:tailEnd/>
              </a:ln>
            </p:spPr>
            <p:txBody>
              <a:bodyPr/>
              <a:lstStyle/>
              <a:p>
                <a:endParaRPr lang="en-US"/>
              </a:p>
            </p:txBody>
          </p:sp>
          <p:sp>
            <p:nvSpPr>
              <p:cNvPr id="25747" name="Freeform 110"/>
              <p:cNvSpPr>
                <a:spLocks/>
              </p:cNvSpPr>
              <p:nvPr/>
            </p:nvSpPr>
            <p:spPr bwMode="auto">
              <a:xfrm>
                <a:off x="2130" y="3633"/>
                <a:ext cx="14" cy="67"/>
              </a:xfrm>
              <a:custGeom>
                <a:avLst/>
                <a:gdLst>
                  <a:gd name="T0" fmla="*/ 1 w 27"/>
                  <a:gd name="T1" fmla="*/ 0 h 135"/>
                  <a:gd name="T2" fmla="*/ 0 w 27"/>
                  <a:gd name="T3" fmla="*/ 0 h 135"/>
                  <a:gd name="T4" fmla="*/ 1 w 27"/>
                  <a:gd name="T5" fmla="*/ 0 h 135"/>
                  <a:gd name="T6" fmla="*/ 1 w 27"/>
                  <a:gd name="T7" fmla="*/ 0 h 135"/>
                  <a:gd name="T8" fmla="*/ 1 w 27"/>
                  <a:gd name="T9" fmla="*/ 0 h 135"/>
                  <a:gd name="T10" fmla="*/ 1 w 27"/>
                  <a:gd name="T11" fmla="*/ 0 h 135"/>
                  <a:gd name="T12" fmla="*/ 1 w 27"/>
                  <a:gd name="T13" fmla="*/ 0 h 135"/>
                  <a:gd name="T14" fmla="*/ 1 w 27"/>
                  <a:gd name="T15" fmla="*/ 0 h 135"/>
                  <a:gd name="T16" fmla="*/ 1 w 27"/>
                  <a:gd name="T17" fmla="*/ 0 h 135"/>
                  <a:gd name="T18" fmla="*/ 1 w 27"/>
                  <a:gd name="T19" fmla="*/ 0 h 135"/>
                  <a:gd name="T20" fmla="*/ 0 w 27"/>
                  <a:gd name="T21" fmla="*/ 0 h 135"/>
                  <a:gd name="T22" fmla="*/ 1 w 27"/>
                  <a:gd name="T23" fmla="*/ 0 h 1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35"/>
                  <a:gd name="T38" fmla="*/ 27 w 27"/>
                  <a:gd name="T39" fmla="*/ 135 h 1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35">
                    <a:moveTo>
                      <a:pt x="4" y="4"/>
                    </a:moveTo>
                    <a:lnTo>
                      <a:pt x="0" y="11"/>
                    </a:lnTo>
                    <a:lnTo>
                      <a:pt x="5" y="135"/>
                    </a:lnTo>
                    <a:lnTo>
                      <a:pt x="27" y="135"/>
                    </a:lnTo>
                    <a:lnTo>
                      <a:pt x="22" y="11"/>
                    </a:lnTo>
                    <a:lnTo>
                      <a:pt x="19" y="19"/>
                    </a:lnTo>
                    <a:lnTo>
                      <a:pt x="22" y="11"/>
                    </a:lnTo>
                    <a:lnTo>
                      <a:pt x="19" y="4"/>
                    </a:lnTo>
                    <a:lnTo>
                      <a:pt x="11" y="0"/>
                    </a:lnTo>
                    <a:lnTo>
                      <a:pt x="4" y="4"/>
                    </a:lnTo>
                    <a:lnTo>
                      <a:pt x="0" y="11"/>
                    </a:lnTo>
                    <a:lnTo>
                      <a:pt x="4" y="4"/>
                    </a:lnTo>
                    <a:close/>
                  </a:path>
                </a:pathLst>
              </a:custGeom>
              <a:solidFill>
                <a:srgbClr val="000000"/>
              </a:solidFill>
              <a:ln w="9525">
                <a:noFill/>
                <a:round/>
                <a:headEnd/>
                <a:tailEnd/>
              </a:ln>
            </p:spPr>
            <p:txBody>
              <a:bodyPr/>
              <a:lstStyle/>
              <a:p>
                <a:endParaRPr lang="en-US"/>
              </a:p>
            </p:txBody>
          </p:sp>
          <p:sp>
            <p:nvSpPr>
              <p:cNvPr id="25748" name="Freeform 111"/>
              <p:cNvSpPr>
                <a:spLocks/>
              </p:cNvSpPr>
              <p:nvPr/>
            </p:nvSpPr>
            <p:spPr bwMode="auto">
              <a:xfrm>
                <a:off x="2132" y="3617"/>
                <a:ext cx="27" cy="25"/>
              </a:xfrm>
              <a:custGeom>
                <a:avLst/>
                <a:gdLst>
                  <a:gd name="T0" fmla="*/ 1 w 54"/>
                  <a:gd name="T1" fmla="*/ 1 h 50"/>
                  <a:gd name="T2" fmla="*/ 1 w 54"/>
                  <a:gd name="T3" fmla="*/ 1 h 50"/>
                  <a:gd name="T4" fmla="*/ 1 w 54"/>
                  <a:gd name="T5" fmla="*/ 0 h 50"/>
                  <a:gd name="T6" fmla="*/ 1 w 54"/>
                  <a:gd name="T7" fmla="*/ 1 h 50"/>
                  <a:gd name="T8" fmla="*/ 1 w 54"/>
                  <a:gd name="T9" fmla="*/ 1 h 50"/>
                  <a:gd name="T10" fmla="*/ 1 w 54"/>
                  <a:gd name="T11" fmla="*/ 1 h 50"/>
                  <a:gd name="T12" fmla="*/ 1 w 54"/>
                  <a:gd name="T13" fmla="*/ 1 h 50"/>
                  <a:gd name="T14" fmla="*/ 1 w 54"/>
                  <a:gd name="T15" fmla="*/ 1 h 50"/>
                  <a:gd name="T16" fmla="*/ 1 w 54"/>
                  <a:gd name="T17" fmla="*/ 1 h 50"/>
                  <a:gd name="T18" fmla="*/ 0 w 54"/>
                  <a:gd name="T19" fmla="*/ 1 h 50"/>
                  <a:gd name="T20" fmla="*/ 1 w 54"/>
                  <a:gd name="T21" fmla="*/ 1 h 50"/>
                  <a:gd name="T22" fmla="*/ 1 w 54"/>
                  <a:gd name="T23" fmla="*/ 1 h 50"/>
                  <a:gd name="T24" fmla="*/ 1 w 54"/>
                  <a:gd name="T25" fmla="*/ 1 h 50"/>
                  <a:gd name="T26" fmla="*/ 1 w 54"/>
                  <a:gd name="T27" fmla="*/ 1 h 50"/>
                  <a:gd name="T28" fmla="*/ 1 w 54"/>
                  <a:gd name="T29" fmla="*/ 1 h 50"/>
                  <a:gd name="T30" fmla="*/ 1 w 54"/>
                  <a:gd name="T31" fmla="*/ 1 h 50"/>
                  <a:gd name="T32" fmla="*/ 1 w 54"/>
                  <a:gd name="T33" fmla="*/ 1 h 50"/>
                  <a:gd name="T34" fmla="*/ 1 w 54"/>
                  <a:gd name="T35" fmla="*/ 1 h 50"/>
                  <a:gd name="T36" fmla="*/ 1 w 54"/>
                  <a:gd name="T37" fmla="*/ 1 h 50"/>
                  <a:gd name="T38" fmla="*/ 1 w 54"/>
                  <a:gd name="T39" fmla="*/ 1 h 50"/>
                  <a:gd name="T40" fmla="*/ 1 w 54"/>
                  <a:gd name="T41" fmla="*/ 1 h 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50"/>
                  <a:gd name="T65" fmla="*/ 54 w 54"/>
                  <a:gd name="T66" fmla="*/ 50 h 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50">
                    <a:moveTo>
                      <a:pt x="54" y="17"/>
                    </a:moveTo>
                    <a:lnTo>
                      <a:pt x="54" y="17"/>
                    </a:lnTo>
                    <a:lnTo>
                      <a:pt x="42" y="0"/>
                    </a:lnTo>
                    <a:lnTo>
                      <a:pt x="37" y="5"/>
                    </a:lnTo>
                    <a:lnTo>
                      <a:pt x="31" y="8"/>
                    </a:lnTo>
                    <a:lnTo>
                      <a:pt x="23" y="16"/>
                    </a:lnTo>
                    <a:lnTo>
                      <a:pt x="14" y="22"/>
                    </a:lnTo>
                    <a:lnTo>
                      <a:pt x="7" y="28"/>
                    </a:lnTo>
                    <a:lnTo>
                      <a:pt x="3" y="33"/>
                    </a:lnTo>
                    <a:lnTo>
                      <a:pt x="0" y="35"/>
                    </a:lnTo>
                    <a:lnTo>
                      <a:pt x="15" y="50"/>
                    </a:lnTo>
                    <a:lnTo>
                      <a:pt x="15" y="49"/>
                    </a:lnTo>
                    <a:lnTo>
                      <a:pt x="23" y="44"/>
                    </a:lnTo>
                    <a:lnTo>
                      <a:pt x="29" y="38"/>
                    </a:lnTo>
                    <a:lnTo>
                      <a:pt x="36" y="31"/>
                    </a:lnTo>
                    <a:lnTo>
                      <a:pt x="43" y="27"/>
                    </a:lnTo>
                    <a:lnTo>
                      <a:pt x="50" y="21"/>
                    </a:lnTo>
                    <a:lnTo>
                      <a:pt x="51" y="19"/>
                    </a:lnTo>
                    <a:lnTo>
                      <a:pt x="39" y="5"/>
                    </a:lnTo>
                    <a:lnTo>
                      <a:pt x="54" y="17"/>
                    </a:lnTo>
                    <a:close/>
                  </a:path>
                </a:pathLst>
              </a:custGeom>
              <a:solidFill>
                <a:srgbClr val="000000"/>
              </a:solidFill>
              <a:ln w="9525">
                <a:noFill/>
                <a:round/>
                <a:headEnd/>
                <a:tailEnd/>
              </a:ln>
            </p:spPr>
            <p:txBody>
              <a:bodyPr/>
              <a:lstStyle/>
              <a:p>
                <a:endParaRPr lang="en-US"/>
              </a:p>
            </p:txBody>
          </p:sp>
          <p:sp>
            <p:nvSpPr>
              <p:cNvPr id="25749" name="Freeform 112"/>
              <p:cNvSpPr>
                <a:spLocks/>
              </p:cNvSpPr>
              <p:nvPr/>
            </p:nvSpPr>
            <p:spPr bwMode="auto">
              <a:xfrm>
                <a:off x="2130" y="3619"/>
                <a:ext cx="29" cy="25"/>
              </a:xfrm>
              <a:custGeom>
                <a:avLst/>
                <a:gdLst>
                  <a:gd name="T0" fmla="*/ 1 w 58"/>
                  <a:gd name="T1" fmla="*/ 1 h 48"/>
                  <a:gd name="T2" fmla="*/ 1 w 58"/>
                  <a:gd name="T3" fmla="*/ 1 h 48"/>
                  <a:gd name="T4" fmla="*/ 1 w 58"/>
                  <a:gd name="T5" fmla="*/ 1 h 48"/>
                  <a:gd name="T6" fmla="*/ 1 w 58"/>
                  <a:gd name="T7" fmla="*/ 1 h 48"/>
                  <a:gd name="T8" fmla="*/ 1 w 58"/>
                  <a:gd name="T9" fmla="*/ 1 h 48"/>
                  <a:gd name="T10" fmla="*/ 1 w 58"/>
                  <a:gd name="T11" fmla="*/ 1 h 48"/>
                  <a:gd name="T12" fmla="*/ 1 w 58"/>
                  <a:gd name="T13" fmla="*/ 0 h 48"/>
                  <a:gd name="T14" fmla="*/ 1 w 58"/>
                  <a:gd name="T15" fmla="*/ 1 h 48"/>
                  <a:gd name="T16" fmla="*/ 1 w 58"/>
                  <a:gd name="T17" fmla="*/ 1 h 48"/>
                  <a:gd name="T18" fmla="*/ 1 w 58"/>
                  <a:gd name="T19" fmla="*/ 1 h 48"/>
                  <a:gd name="T20" fmla="*/ 1 w 58"/>
                  <a:gd name="T21" fmla="*/ 1 h 48"/>
                  <a:gd name="T22" fmla="*/ 1 w 58"/>
                  <a:gd name="T23" fmla="*/ 1 h 48"/>
                  <a:gd name="T24" fmla="*/ 1 w 58"/>
                  <a:gd name="T25" fmla="*/ 1 h 48"/>
                  <a:gd name="T26" fmla="*/ 0 w 58"/>
                  <a:gd name="T27" fmla="*/ 1 h 48"/>
                  <a:gd name="T28" fmla="*/ 1 w 58"/>
                  <a:gd name="T29" fmla="*/ 1 h 48"/>
                  <a:gd name="T30" fmla="*/ 1 w 58"/>
                  <a:gd name="T31" fmla="*/ 1 h 48"/>
                  <a:gd name="T32" fmla="*/ 1 w 58"/>
                  <a:gd name="T33" fmla="*/ 1 h 48"/>
                  <a:gd name="T34" fmla="*/ 1 w 58"/>
                  <a:gd name="T35" fmla="*/ 1 h 4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8"/>
                  <a:gd name="T55" fmla="*/ 0 h 48"/>
                  <a:gd name="T56" fmla="*/ 58 w 58"/>
                  <a:gd name="T57" fmla="*/ 48 h 4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8" h="48">
                    <a:moveTo>
                      <a:pt x="11" y="48"/>
                    </a:moveTo>
                    <a:lnTo>
                      <a:pt x="18" y="47"/>
                    </a:lnTo>
                    <a:lnTo>
                      <a:pt x="22" y="44"/>
                    </a:lnTo>
                    <a:lnTo>
                      <a:pt x="35" y="33"/>
                    </a:lnTo>
                    <a:lnTo>
                      <a:pt x="49" y="22"/>
                    </a:lnTo>
                    <a:lnTo>
                      <a:pt x="58" y="12"/>
                    </a:lnTo>
                    <a:lnTo>
                      <a:pt x="43" y="0"/>
                    </a:lnTo>
                    <a:lnTo>
                      <a:pt x="33" y="6"/>
                    </a:lnTo>
                    <a:lnTo>
                      <a:pt x="22" y="17"/>
                    </a:lnTo>
                    <a:lnTo>
                      <a:pt x="10" y="25"/>
                    </a:lnTo>
                    <a:lnTo>
                      <a:pt x="5" y="28"/>
                    </a:lnTo>
                    <a:lnTo>
                      <a:pt x="11" y="26"/>
                    </a:lnTo>
                    <a:lnTo>
                      <a:pt x="5" y="28"/>
                    </a:lnTo>
                    <a:lnTo>
                      <a:pt x="0" y="36"/>
                    </a:lnTo>
                    <a:lnTo>
                      <a:pt x="2" y="44"/>
                    </a:lnTo>
                    <a:lnTo>
                      <a:pt x="8" y="48"/>
                    </a:lnTo>
                    <a:lnTo>
                      <a:pt x="18" y="47"/>
                    </a:lnTo>
                    <a:lnTo>
                      <a:pt x="11" y="48"/>
                    </a:lnTo>
                    <a:close/>
                  </a:path>
                </a:pathLst>
              </a:custGeom>
              <a:solidFill>
                <a:srgbClr val="000000"/>
              </a:solidFill>
              <a:ln w="9525">
                <a:noFill/>
                <a:round/>
                <a:headEnd/>
                <a:tailEnd/>
              </a:ln>
            </p:spPr>
            <p:txBody>
              <a:bodyPr/>
              <a:lstStyle/>
              <a:p>
                <a:endParaRPr lang="en-US"/>
              </a:p>
            </p:txBody>
          </p:sp>
          <p:sp>
            <p:nvSpPr>
              <p:cNvPr id="25750" name="Freeform 113"/>
              <p:cNvSpPr>
                <a:spLocks/>
              </p:cNvSpPr>
              <p:nvPr/>
            </p:nvSpPr>
            <p:spPr bwMode="auto">
              <a:xfrm>
                <a:off x="2113" y="3633"/>
                <a:ext cx="23" cy="11"/>
              </a:xfrm>
              <a:custGeom>
                <a:avLst/>
                <a:gdLst>
                  <a:gd name="T0" fmla="*/ 1 w 45"/>
                  <a:gd name="T1" fmla="*/ 1 h 22"/>
                  <a:gd name="T2" fmla="*/ 1 w 45"/>
                  <a:gd name="T3" fmla="*/ 1 h 22"/>
                  <a:gd name="T4" fmla="*/ 1 w 45"/>
                  <a:gd name="T5" fmla="*/ 1 h 22"/>
                  <a:gd name="T6" fmla="*/ 1 w 45"/>
                  <a:gd name="T7" fmla="*/ 0 h 22"/>
                  <a:gd name="T8" fmla="*/ 1 w 45"/>
                  <a:gd name="T9" fmla="*/ 0 h 22"/>
                  <a:gd name="T10" fmla="*/ 1 w 45"/>
                  <a:gd name="T11" fmla="*/ 1 h 22"/>
                  <a:gd name="T12" fmla="*/ 1 w 45"/>
                  <a:gd name="T13" fmla="*/ 0 h 22"/>
                  <a:gd name="T14" fmla="*/ 1 w 45"/>
                  <a:gd name="T15" fmla="*/ 1 h 22"/>
                  <a:gd name="T16" fmla="*/ 0 w 45"/>
                  <a:gd name="T17" fmla="*/ 1 h 22"/>
                  <a:gd name="T18" fmla="*/ 1 w 45"/>
                  <a:gd name="T19" fmla="*/ 1 h 22"/>
                  <a:gd name="T20" fmla="*/ 1 w 45"/>
                  <a:gd name="T21" fmla="*/ 1 h 22"/>
                  <a:gd name="T22" fmla="*/ 1 w 45"/>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5"/>
                  <a:gd name="T37" fmla="*/ 0 h 22"/>
                  <a:gd name="T38" fmla="*/ 45 w 45"/>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5" h="22">
                    <a:moveTo>
                      <a:pt x="2" y="18"/>
                    </a:moveTo>
                    <a:lnTo>
                      <a:pt x="11" y="22"/>
                    </a:lnTo>
                    <a:lnTo>
                      <a:pt x="45" y="22"/>
                    </a:lnTo>
                    <a:lnTo>
                      <a:pt x="45" y="0"/>
                    </a:lnTo>
                    <a:lnTo>
                      <a:pt x="11" y="0"/>
                    </a:lnTo>
                    <a:lnTo>
                      <a:pt x="20" y="5"/>
                    </a:lnTo>
                    <a:lnTo>
                      <a:pt x="11" y="0"/>
                    </a:lnTo>
                    <a:lnTo>
                      <a:pt x="3" y="4"/>
                    </a:lnTo>
                    <a:lnTo>
                      <a:pt x="0" y="11"/>
                    </a:lnTo>
                    <a:lnTo>
                      <a:pt x="3" y="19"/>
                    </a:lnTo>
                    <a:lnTo>
                      <a:pt x="11" y="22"/>
                    </a:lnTo>
                    <a:lnTo>
                      <a:pt x="2" y="18"/>
                    </a:lnTo>
                    <a:close/>
                  </a:path>
                </a:pathLst>
              </a:custGeom>
              <a:solidFill>
                <a:srgbClr val="000000"/>
              </a:solidFill>
              <a:ln w="9525">
                <a:noFill/>
                <a:round/>
                <a:headEnd/>
                <a:tailEnd/>
              </a:ln>
            </p:spPr>
            <p:txBody>
              <a:bodyPr/>
              <a:lstStyle/>
              <a:p>
                <a:endParaRPr lang="en-US"/>
              </a:p>
            </p:txBody>
          </p:sp>
          <p:sp>
            <p:nvSpPr>
              <p:cNvPr id="25751" name="Freeform 114"/>
              <p:cNvSpPr>
                <a:spLocks/>
              </p:cNvSpPr>
              <p:nvPr/>
            </p:nvSpPr>
            <p:spPr bwMode="auto">
              <a:xfrm>
                <a:off x="2106" y="3623"/>
                <a:ext cx="17" cy="18"/>
              </a:xfrm>
              <a:custGeom>
                <a:avLst/>
                <a:gdLst>
                  <a:gd name="T0" fmla="*/ 0 w 34"/>
                  <a:gd name="T1" fmla="*/ 0 h 38"/>
                  <a:gd name="T2" fmla="*/ 0 w 34"/>
                  <a:gd name="T3" fmla="*/ 0 h 38"/>
                  <a:gd name="T4" fmla="*/ 1 w 34"/>
                  <a:gd name="T5" fmla="*/ 0 h 38"/>
                  <a:gd name="T6" fmla="*/ 1 w 34"/>
                  <a:gd name="T7" fmla="*/ 0 h 38"/>
                  <a:gd name="T8" fmla="*/ 1 w 34"/>
                  <a:gd name="T9" fmla="*/ 0 h 38"/>
                  <a:gd name="T10" fmla="*/ 1 w 34"/>
                  <a:gd name="T11" fmla="*/ 0 h 38"/>
                  <a:gd name="T12" fmla="*/ 1 w 34"/>
                  <a:gd name="T13" fmla="*/ 0 h 38"/>
                  <a:gd name="T14" fmla="*/ 1 w 34"/>
                  <a:gd name="T15" fmla="*/ 0 h 38"/>
                  <a:gd name="T16" fmla="*/ 1 w 34"/>
                  <a:gd name="T17" fmla="*/ 0 h 38"/>
                  <a:gd name="T18" fmla="*/ 1 w 34"/>
                  <a:gd name="T19" fmla="*/ 0 h 38"/>
                  <a:gd name="T20" fmla="*/ 1 w 34"/>
                  <a:gd name="T21" fmla="*/ 0 h 38"/>
                  <a:gd name="T22" fmla="*/ 1 w 34"/>
                  <a:gd name="T23" fmla="*/ 0 h 38"/>
                  <a:gd name="T24" fmla="*/ 0 w 34"/>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38"/>
                  <a:gd name="T41" fmla="*/ 34 w 34"/>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38">
                    <a:moveTo>
                      <a:pt x="0" y="13"/>
                    </a:moveTo>
                    <a:lnTo>
                      <a:pt x="0" y="13"/>
                    </a:lnTo>
                    <a:lnTo>
                      <a:pt x="5" y="20"/>
                    </a:lnTo>
                    <a:lnTo>
                      <a:pt x="9" y="28"/>
                    </a:lnTo>
                    <a:lnTo>
                      <a:pt x="14" y="35"/>
                    </a:lnTo>
                    <a:lnTo>
                      <a:pt x="16" y="38"/>
                    </a:lnTo>
                    <a:lnTo>
                      <a:pt x="34" y="25"/>
                    </a:lnTo>
                    <a:lnTo>
                      <a:pt x="33" y="22"/>
                    </a:lnTo>
                    <a:lnTo>
                      <a:pt x="28" y="16"/>
                    </a:lnTo>
                    <a:lnTo>
                      <a:pt x="23" y="8"/>
                    </a:lnTo>
                    <a:lnTo>
                      <a:pt x="16" y="0"/>
                    </a:lnTo>
                    <a:lnTo>
                      <a:pt x="0" y="13"/>
                    </a:lnTo>
                    <a:close/>
                  </a:path>
                </a:pathLst>
              </a:custGeom>
              <a:solidFill>
                <a:srgbClr val="000000"/>
              </a:solidFill>
              <a:ln w="9525">
                <a:noFill/>
                <a:round/>
                <a:headEnd/>
                <a:tailEnd/>
              </a:ln>
            </p:spPr>
            <p:txBody>
              <a:bodyPr/>
              <a:lstStyle/>
              <a:p>
                <a:endParaRPr lang="en-US"/>
              </a:p>
            </p:txBody>
          </p:sp>
          <p:sp>
            <p:nvSpPr>
              <p:cNvPr id="25752" name="Freeform 115"/>
              <p:cNvSpPr>
                <a:spLocks/>
              </p:cNvSpPr>
              <p:nvPr/>
            </p:nvSpPr>
            <p:spPr bwMode="auto">
              <a:xfrm>
                <a:off x="2096" y="3600"/>
                <a:ext cx="18" cy="29"/>
              </a:xfrm>
              <a:custGeom>
                <a:avLst/>
                <a:gdLst>
                  <a:gd name="T0" fmla="*/ 1 w 36"/>
                  <a:gd name="T1" fmla="*/ 1 h 58"/>
                  <a:gd name="T2" fmla="*/ 0 w 36"/>
                  <a:gd name="T3" fmla="*/ 1 h 58"/>
                  <a:gd name="T4" fmla="*/ 1 w 36"/>
                  <a:gd name="T5" fmla="*/ 1 h 58"/>
                  <a:gd name="T6" fmla="*/ 1 w 36"/>
                  <a:gd name="T7" fmla="*/ 1 h 58"/>
                  <a:gd name="T8" fmla="*/ 1 w 36"/>
                  <a:gd name="T9" fmla="*/ 1 h 58"/>
                  <a:gd name="T10" fmla="*/ 1 w 36"/>
                  <a:gd name="T11" fmla="*/ 1 h 58"/>
                  <a:gd name="T12" fmla="*/ 1 w 36"/>
                  <a:gd name="T13" fmla="*/ 1 h 58"/>
                  <a:gd name="T14" fmla="*/ 1 w 36"/>
                  <a:gd name="T15" fmla="*/ 1 h 58"/>
                  <a:gd name="T16" fmla="*/ 1 w 36"/>
                  <a:gd name="T17" fmla="*/ 1 h 58"/>
                  <a:gd name="T18" fmla="*/ 1 w 36"/>
                  <a:gd name="T19" fmla="*/ 1 h 58"/>
                  <a:gd name="T20" fmla="*/ 1 w 36"/>
                  <a:gd name="T21" fmla="*/ 1 h 58"/>
                  <a:gd name="T22" fmla="*/ 1 w 36"/>
                  <a:gd name="T23" fmla="*/ 1 h 58"/>
                  <a:gd name="T24" fmla="*/ 1 w 36"/>
                  <a:gd name="T25" fmla="*/ 1 h 58"/>
                  <a:gd name="T26" fmla="*/ 1 w 36"/>
                  <a:gd name="T27" fmla="*/ 1 h 58"/>
                  <a:gd name="T28" fmla="*/ 1 w 36"/>
                  <a:gd name="T29" fmla="*/ 0 h 58"/>
                  <a:gd name="T30" fmla="*/ 1 w 36"/>
                  <a:gd name="T31" fmla="*/ 1 h 58"/>
                  <a:gd name="T32" fmla="*/ 0 w 36"/>
                  <a:gd name="T33" fmla="*/ 1 h 58"/>
                  <a:gd name="T34" fmla="*/ 1 w 36"/>
                  <a:gd name="T35" fmla="*/ 1 h 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6"/>
                  <a:gd name="T55" fmla="*/ 0 h 58"/>
                  <a:gd name="T56" fmla="*/ 36 w 36"/>
                  <a:gd name="T57" fmla="*/ 58 h 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6" h="58">
                    <a:moveTo>
                      <a:pt x="1" y="6"/>
                    </a:moveTo>
                    <a:lnTo>
                      <a:pt x="0" y="14"/>
                    </a:lnTo>
                    <a:lnTo>
                      <a:pt x="1" y="19"/>
                    </a:lnTo>
                    <a:lnTo>
                      <a:pt x="6" y="31"/>
                    </a:lnTo>
                    <a:lnTo>
                      <a:pt x="12" y="45"/>
                    </a:lnTo>
                    <a:lnTo>
                      <a:pt x="20" y="58"/>
                    </a:lnTo>
                    <a:lnTo>
                      <a:pt x="36" y="45"/>
                    </a:lnTo>
                    <a:lnTo>
                      <a:pt x="31" y="36"/>
                    </a:lnTo>
                    <a:lnTo>
                      <a:pt x="28" y="25"/>
                    </a:lnTo>
                    <a:lnTo>
                      <a:pt x="23" y="12"/>
                    </a:lnTo>
                    <a:lnTo>
                      <a:pt x="21" y="8"/>
                    </a:lnTo>
                    <a:lnTo>
                      <a:pt x="20" y="15"/>
                    </a:lnTo>
                    <a:lnTo>
                      <a:pt x="21" y="8"/>
                    </a:lnTo>
                    <a:lnTo>
                      <a:pt x="17" y="1"/>
                    </a:lnTo>
                    <a:lnTo>
                      <a:pt x="9" y="0"/>
                    </a:lnTo>
                    <a:lnTo>
                      <a:pt x="1" y="4"/>
                    </a:lnTo>
                    <a:lnTo>
                      <a:pt x="0" y="14"/>
                    </a:lnTo>
                    <a:lnTo>
                      <a:pt x="1" y="6"/>
                    </a:lnTo>
                    <a:close/>
                  </a:path>
                </a:pathLst>
              </a:custGeom>
              <a:solidFill>
                <a:srgbClr val="000000"/>
              </a:solidFill>
              <a:ln w="9525">
                <a:noFill/>
                <a:round/>
                <a:headEnd/>
                <a:tailEnd/>
              </a:ln>
            </p:spPr>
            <p:txBody>
              <a:bodyPr/>
              <a:lstStyle/>
              <a:p>
                <a:endParaRPr lang="en-US"/>
              </a:p>
            </p:txBody>
          </p:sp>
          <p:sp>
            <p:nvSpPr>
              <p:cNvPr id="25753" name="Freeform 116"/>
              <p:cNvSpPr>
                <a:spLocks/>
              </p:cNvSpPr>
              <p:nvPr/>
            </p:nvSpPr>
            <p:spPr bwMode="auto">
              <a:xfrm>
                <a:off x="2097" y="3581"/>
                <a:ext cx="22" cy="27"/>
              </a:xfrm>
              <a:custGeom>
                <a:avLst/>
                <a:gdLst>
                  <a:gd name="T0" fmla="*/ 0 w 45"/>
                  <a:gd name="T1" fmla="*/ 0 h 53"/>
                  <a:gd name="T2" fmla="*/ 0 w 45"/>
                  <a:gd name="T3" fmla="*/ 1 h 53"/>
                  <a:gd name="T4" fmla="*/ 0 w 45"/>
                  <a:gd name="T5" fmla="*/ 1 h 53"/>
                  <a:gd name="T6" fmla="*/ 0 w 45"/>
                  <a:gd name="T7" fmla="*/ 1 h 53"/>
                  <a:gd name="T8" fmla="*/ 0 w 45"/>
                  <a:gd name="T9" fmla="*/ 1 h 53"/>
                  <a:gd name="T10" fmla="*/ 0 w 45"/>
                  <a:gd name="T11" fmla="*/ 1 h 53"/>
                  <a:gd name="T12" fmla="*/ 0 w 45"/>
                  <a:gd name="T13" fmla="*/ 1 h 53"/>
                  <a:gd name="T14" fmla="*/ 0 w 45"/>
                  <a:gd name="T15" fmla="*/ 1 h 53"/>
                  <a:gd name="T16" fmla="*/ 0 w 45"/>
                  <a:gd name="T17" fmla="*/ 1 h 53"/>
                  <a:gd name="T18" fmla="*/ 0 w 45"/>
                  <a:gd name="T19" fmla="*/ 1 h 53"/>
                  <a:gd name="T20" fmla="*/ 0 w 45"/>
                  <a:gd name="T21" fmla="*/ 1 h 53"/>
                  <a:gd name="T22" fmla="*/ 0 w 45"/>
                  <a:gd name="T23" fmla="*/ 1 h 53"/>
                  <a:gd name="T24" fmla="*/ 0 w 45"/>
                  <a:gd name="T25" fmla="*/ 0 h 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53"/>
                  <a:gd name="T41" fmla="*/ 45 w 45"/>
                  <a:gd name="T42" fmla="*/ 53 h 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53">
                    <a:moveTo>
                      <a:pt x="30" y="0"/>
                    </a:moveTo>
                    <a:lnTo>
                      <a:pt x="30" y="2"/>
                    </a:lnTo>
                    <a:lnTo>
                      <a:pt x="17" y="16"/>
                    </a:lnTo>
                    <a:lnTo>
                      <a:pt x="8" y="28"/>
                    </a:lnTo>
                    <a:lnTo>
                      <a:pt x="2" y="41"/>
                    </a:lnTo>
                    <a:lnTo>
                      <a:pt x="0" y="44"/>
                    </a:lnTo>
                    <a:lnTo>
                      <a:pt x="19" y="53"/>
                    </a:lnTo>
                    <a:lnTo>
                      <a:pt x="20" y="50"/>
                    </a:lnTo>
                    <a:lnTo>
                      <a:pt x="27" y="41"/>
                    </a:lnTo>
                    <a:lnTo>
                      <a:pt x="36" y="28"/>
                    </a:lnTo>
                    <a:lnTo>
                      <a:pt x="45" y="14"/>
                    </a:lnTo>
                    <a:lnTo>
                      <a:pt x="45" y="16"/>
                    </a:lnTo>
                    <a:lnTo>
                      <a:pt x="30" y="0"/>
                    </a:lnTo>
                    <a:close/>
                  </a:path>
                </a:pathLst>
              </a:custGeom>
              <a:solidFill>
                <a:srgbClr val="000000"/>
              </a:solidFill>
              <a:ln w="9525">
                <a:noFill/>
                <a:round/>
                <a:headEnd/>
                <a:tailEnd/>
              </a:ln>
            </p:spPr>
            <p:txBody>
              <a:bodyPr/>
              <a:lstStyle/>
              <a:p>
                <a:endParaRPr lang="en-US"/>
              </a:p>
            </p:txBody>
          </p:sp>
          <p:sp>
            <p:nvSpPr>
              <p:cNvPr id="25754" name="Freeform 117"/>
              <p:cNvSpPr>
                <a:spLocks/>
              </p:cNvSpPr>
              <p:nvPr/>
            </p:nvSpPr>
            <p:spPr bwMode="auto">
              <a:xfrm>
                <a:off x="2111" y="3531"/>
                <a:ext cx="43" cy="58"/>
              </a:xfrm>
              <a:custGeom>
                <a:avLst/>
                <a:gdLst>
                  <a:gd name="T0" fmla="*/ 1 w 86"/>
                  <a:gd name="T1" fmla="*/ 0 h 116"/>
                  <a:gd name="T2" fmla="*/ 1 w 86"/>
                  <a:gd name="T3" fmla="*/ 0 h 116"/>
                  <a:gd name="T4" fmla="*/ 1 w 86"/>
                  <a:gd name="T5" fmla="*/ 1 h 116"/>
                  <a:gd name="T6" fmla="*/ 1 w 86"/>
                  <a:gd name="T7" fmla="*/ 1 h 116"/>
                  <a:gd name="T8" fmla="*/ 1 w 86"/>
                  <a:gd name="T9" fmla="*/ 1 h 116"/>
                  <a:gd name="T10" fmla="*/ 1 w 86"/>
                  <a:gd name="T11" fmla="*/ 1 h 116"/>
                  <a:gd name="T12" fmla="*/ 1 w 86"/>
                  <a:gd name="T13" fmla="*/ 1 h 116"/>
                  <a:gd name="T14" fmla="*/ 1 w 86"/>
                  <a:gd name="T15" fmla="*/ 1 h 116"/>
                  <a:gd name="T16" fmla="*/ 1 w 86"/>
                  <a:gd name="T17" fmla="*/ 1 h 116"/>
                  <a:gd name="T18" fmla="*/ 0 w 86"/>
                  <a:gd name="T19" fmla="*/ 1 h 116"/>
                  <a:gd name="T20" fmla="*/ 1 w 86"/>
                  <a:gd name="T21" fmla="*/ 1 h 116"/>
                  <a:gd name="T22" fmla="*/ 1 w 86"/>
                  <a:gd name="T23" fmla="*/ 1 h 116"/>
                  <a:gd name="T24" fmla="*/ 1 w 86"/>
                  <a:gd name="T25" fmla="*/ 1 h 116"/>
                  <a:gd name="T26" fmla="*/ 1 w 86"/>
                  <a:gd name="T27" fmla="*/ 1 h 116"/>
                  <a:gd name="T28" fmla="*/ 1 w 86"/>
                  <a:gd name="T29" fmla="*/ 1 h 116"/>
                  <a:gd name="T30" fmla="*/ 1 w 86"/>
                  <a:gd name="T31" fmla="*/ 1 h 116"/>
                  <a:gd name="T32" fmla="*/ 1 w 86"/>
                  <a:gd name="T33" fmla="*/ 1 h 116"/>
                  <a:gd name="T34" fmla="*/ 1 w 86"/>
                  <a:gd name="T35" fmla="*/ 1 h 116"/>
                  <a:gd name="T36" fmla="*/ 1 w 86"/>
                  <a:gd name="T37" fmla="*/ 1 h 116"/>
                  <a:gd name="T38" fmla="*/ 1 w 86"/>
                  <a:gd name="T39" fmla="*/ 1 h 116"/>
                  <a:gd name="T40" fmla="*/ 1 w 86"/>
                  <a:gd name="T41" fmla="*/ 0 h 1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6"/>
                  <a:gd name="T64" fmla="*/ 0 h 116"/>
                  <a:gd name="T65" fmla="*/ 86 w 86"/>
                  <a:gd name="T66" fmla="*/ 116 h 1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6" h="116">
                    <a:moveTo>
                      <a:pt x="70" y="0"/>
                    </a:moveTo>
                    <a:lnTo>
                      <a:pt x="70" y="0"/>
                    </a:lnTo>
                    <a:lnTo>
                      <a:pt x="62" y="9"/>
                    </a:lnTo>
                    <a:lnTo>
                      <a:pt x="55" y="20"/>
                    </a:lnTo>
                    <a:lnTo>
                      <a:pt x="45" y="35"/>
                    </a:lnTo>
                    <a:lnTo>
                      <a:pt x="34" y="49"/>
                    </a:lnTo>
                    <a:lnTo>
                      <a:pt x="25" y="66"/>
                    </a:lnTo>
                    <a:lnTo>
                      <a:pt x="14" y="80"/>
                    </a:lnTo>
                    <a:lnTo>
                      <a:pt x="6" y="92"/>
                    </a:lnTo>
                    <a:lnTo>
                      <a:pt x="0" y="100"/>
                    </a:lnTo>
                    <a:lnTo>
                      <a:pt x="15" y="116"/>
                    </a:lnTo>
                    <a:lnTo>
                      <a:pt x="25" y="105"/>
                    </a:lnTo>
                    <a:lnTo>
                      <a:pt x="33" y="92"/>
                    </a:lnTo>
                    <a:lnTo>
                      <a:pt x="44" y="78"/>
                    </a:lnTo>
                    <a:lnTo>
                      <a:pt x="53" y="61"/>
                    </a:lnTo>
                    <a:lnTo>
                      <a:pt x="64" y="47"/>
                    </a:lnTo>
                    <a:lnTo>
                      <a:pt x="73" y="33"/>
                    </a:lnTo>
                    <a:lnTo>
                      <a:pt x="81" y="22"/>
                    </a:lnTo>
                    <a:lnTo>
                      <a:pt x="86" y="16"/>
                    </a:lnTo>
                    <a:lnTo>
                      <a:pt x="70" y="0"/>
                    </a:lnTo>
                    <a:close/>
                  </a:path>
                </a:pathLst>
              </a:custGeom>
              <a:solidFill>
                <a:srgbClr val="000000"/>
              </a:solidFill>
              <a:ln w="9525">
                <a:noFill/>
                <a:round/>
                <a:headEnd/>
                <a:tailEnd/>
              </a:ln>
            </p:spPr>
            <p:txBody>
              <a:bodyPr/>
              <a:lstStyle/>
              <a:p>
                <a:endParaRPr lang="en-US"/>
              </a:p>
            </p:txBody>
          </p:sp>
          <p:sp>
            <p:nvSpPr>
              <p:cNvPr id="25755" name="Freeform 118"/>
              <p:cNvSpPr>
                <a:spLocks/>
              </p:cNvSpPr>
              <p:nvPr/>
            </p:nvSpPr>
            <p:spPr bwMode="auto">
              <a:xfrm>
                <a:off x="2147" y="3522"/>
                <a:ext cx="29" cy="17"/>
              </a:xfrm>
              <a:custGeom>
                <a:avLst/>
                <a:gdLst>
                  <a:gd name="T0" fmla="*/ 0 w 60"/>
                  <a:gd name="T1" fmla="*/ 1 h 33"/>
                  <a:gd name="T2" fmla="*/ 0 w 60"/>
                  <a:gd name="T3" fmla="*/ 0 h 33"/>
                  <a:gd name="T4" fmla="*/ 0 w 60"/>
                  <a:gd name="T5" fmla="*/ 0 h 33"/>
                  <a:gd name="T6" fmla="*/ 0 w 60"/>
                  <a:gd name="T7" fmla="*/ 1 h 33"/>
                  <a:gd name="T8" fmla="*/ 0 w 60"/>
                  <a:gd name="T9" fmla="*/ 1 h 33"/>
                  <a:gd name="T10" fmla="*/ 0 w 60"/>
                  <a:gd name="T11" fmla="*/ 1 h 33"/>
                  <a:gd name="T12" fmla="*/ 0 w 60"/>
                  <a:gd name="T13" fmla="*/ 1 h 33"/>
                  <a:gd name="T14" fmla="*/ 0 w 60"/>
                  <a:gd name="T15" fmla="*/ 1 h 33"/>
                  <a:gd name="T16" fmla="*/ 0 w 60"/>
                  <a:gd name="T17" fmla="*/ 1 h 33"/>
                  <a:gd name="T18" fmla="*/ 0 w 60"/>
                  <a:gd name="T19" fmla="*/ 1 h 33"/>
                  <a:gd name="T20" fmla="*/ 0 w 60"/>
                  <a:gd name="T21" fmla="*/ 1 h 33"/>
                  <a:gd name="T22" fmla="*/ 0 w 60"/>
                  <a:gd name="T23" fmla="*/ 1 h 33"/>
                  <a:gd name="T24" fmla="*/ 0 w 60"/>
                  <a:gd name="T25" fmla="*/ 1 h 33"/>
                  <a:gd name="T26" fmla="*/ 0 w 60"/>
                  <a:gd name="T27" fmla="*/ 1 h 33"/>
                  <a:gd name="T28" fmla="*/ 0 w 60"/>
                  <a:gd name="T29" fmla="*/ 1 h 33"/>
                  <a:gd name="T30" fmla="*/ 0 w 60"/>
                  <a:gd name="T31" fmla="*/ 1 h 33"/>
                  <a:gd name="T32" fmla="*/ 0 w 60"/>
                  <a:gd name="T33" fmla="*/ 0 h 33"/>
                  <a:gd name="T34" fmla="*/ 0 w 60"/>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33"/>
                  <a:gd name="T56" fmla="*/ 60 w 60"/>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33">
                    <a:moveTo>
                      <a:pt x="54" y="1"/>
                    </a:moveTo>
                    <a:lnTo>
                      <a:pt x="49" y="0"/>
                    </a:lnTo>
                    <a:lnTo>
                      <a:pt x="43" y="0"/>
                    </a:lnTo>
                    <a:lnTo>
                      <a:pt x="30" y="1"/>
                    </a:lnTo>
                    <a:lnTo>
                      <a:pt x="16" y="8"/>
                    </a:lnTo>
                    <a:lnTo>
                      <a:pt x="0" y="17"/>
                    </a:lnTo>
                    <a:lnTo>
                      <a:pt x="16" y="33"/>
                    </a:lnTo>
                    <a:lnTo>
                      <a:pt x="25" y="26"/>
                    </a:lnTo>
                    <a:lnTo>
                      <a:pt x="36" y="23"/>
                    </a:lnTo>
                    <a:lnTo>
                      <a:pt x="46" y="22"/>
                    </a:lnTo>
                    <a:lnTo>
                      <a:pt x="49" y="22"/>
                    </a:lnTo>
                    <a:lnTo>
                      <a:pt x="44" y="20"/>
                    </a:lnTo>
                    <a:lnTo>
                      <a:pt x="49" y="22"/>
                    </a:lnTo>
                    <a:lnTo>
                      <a:pt x="57" y="19"/>
                    </a:lnTo>
                    <a:lnTo>
                      <a:pt x="60" y="11"/>
                    </a:lnTo>
                    <a:lnTo>
                      <a:pt x="57" y="3"/>
                    </a:lnTo>
                    <a:lnTo>
                      <a:pt x="49" y="0"/>
                    </a:lnTo>
                    <a:lnTo>
                      <a:pt x="54" y="1"/>
                    </a:lnTo>
                    <a:close/>
                  </a:path>
                </a:pathLst>
              </a:custGeom>
              <a:solidFill>
                <a:srgbClr val="000000"/>
              </a:solidFill>
              <a:ln w="9525">
                <a:noFill/>
                <a:round/>
                <a:headEnd/>
                <a:tailEnd/>
              </a:ln>
            </p:spPr>
            <p:txBody>
              <a:bodyPr/>
              <a:lstStyle/>
              <a:p>
                <a:endParaRPr lang="en-US"/>
              </a:p>
            </p:txBody>
          </p:sp>
          <p:sp>
            <p:nvSpPr>
              <p:cNvPr id="25756" name="Freeform 119"/>
              <p:cNvSpPr>
                <a:spLocks/>
              </p:cNvSpPr>
              <p:nvPr/>
            </p:nvSpPr>
            <p:spPr bwMode="auto">
              <a:xfrm>
                <a:off x="2169" y="3523"/>
                <a:ext cx="18" cy="14"/>
              </a:xfrm>
              <a:custGeom>
                <a:avLst/>
                <a:gdLst>
                  <a:gd name="T0" fmla="*/ 0 w 38"/>
                  <a:gd name="T1" fmla="*/ 0 h 29"/>
                  <a:gd name="T2" fmla="*/ 0 w 38"/>
                  <a:gd name="T3" fmla="*/ 0 h 29"/>
                  <a:gd name="T4" fmla="*/ 0 w 38"/>
                  <a:gd name="T5" fmla="*/ 0 h 29"/>
                  <a:gd name="T6" fmla="*/ 0 w 38"/>
                  <a:gd name="T7" fmla="*/ 0 h 29"/>
                  <a:gd name="T8" fmla="*/ 0 w 38"/>
                  <a:gd name="T9" fmla="*/ 0 h 29"/>
                  <a:gd name="T10" fmla="*/ 0 w 38"/>
                  <a:gd name="T11" fmla="*/ 0 h 29"/>
                  <a:gd name="T12" fmla="*/ 0 w 38"/>
                  <a:gd name="T13" fmla="*/ 0 h 29"/>
                  <a:gd name="T14" fmla="*/ 0 w 38"/>
                  <a:gd name="T15" fmla="*/ 0 h 29"/>
                  <a:gd name="T16" fmla="*/ 0 w 38"/>
                  <a:gd name="T17" fmla="*/ 0 h 29"/>
                  <a:gd name="T18" fmla="*/ 0 w 38"/>
                  <a:gd name="T19" fmla="*/ 0 h 29"/>
                  <a:gd name="T20" fmla="*/ 0 w 38"/>
                  <a:gd name="T21" fmla="*/ 0 h 29"/>
                  <a:gd name="T22" fmla="*/ 0 w 38"/>
                  <a:gd name="T23" fmla="*/ 0 h 29"/>
                  <a:gd name="T24" fmla="*/ 0 w 38"/>
                  <a:gd name="T25" fmla="*/ 0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29"/>
                  <a:gd name="T41" fmla="*/ 38 w 38"/>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29">
                    <a:moveTo>
                      <a:pt x="38" y="7"/>
                    </a:moveTo>
                    <a:lnTo>
                      <a:pt x="38" y="7"/>
                    </a:lnTo>
                    <a:lnTo>
                      <a:pt x="27" y="5"/>
                    </a:lnTo>
                    <a:lnTo>
                      <a:pt x="17" y="2"/>
                    </a:lnTo>
                    <a:lnTo>
                      <a:pt x="11" y="0"/>
                    </a:lnTo>
                    <a:lnTo>
                      <a:pt x="10" y="0"/>
                    </a:lnTo>
                    <a:lnTo>
                      <a:pt x="0" y="19"/>
                    </a:lnTo>
                    <a:lnTo>
                      <a:pt x="5" y="22"/>
                    </a:lnTo>
                    <a:lnTo>
                      <a:pt x="11" y="24"/>
                    </a:lnTo>
                    <a:lnTo>
                      <a:pt x="24" y="27"/>
                    </a:lnTo>
                    <a:lnTo>
                      <a:pt x="35" y="29"/>
                    </a:lnTo>
                    <a:lnTo>
                      <a:pt x="38" y="7"/>
                    </a:lnTo>
                    <a:close/>
                  </a:path>
                </a:pathLst>
              </a:custGeom>
              <a:solidFill>
                <a:srgbClr val="000000"/>
              </a:solidFill>
              <a:ln w="9525">
                <a:noFill/>
                <a:round/>
                <a:headEnd/>
                <a:tailEnd/>
              </a:ln>
            </p:spPr>
            <p:txBody>
              <a:bodyPr/>
              <a:lstStyle/>
              <a:p>
                <a:endParaRPr lang="en-US"/>
              </a:p>
            </p:txBody>
          </p:sp>
          <p:sp>
            <p:nvSpPr>
              <p:cNvPr id="25757" name="Freeform 120"/>
              <p:cNvSpPr>
                <a:spLocks/>
              </p:cNvSpPr>
              <p:nvPr/>
            </p:nvSpPr>
            <p:spPr bwMode="auto">
              <a:xfrm>
                <a:off x="2186" y="3520"/>
                <a:ext cx="38" cy="17"/>
              </a:xfrm>
              <a:custGeom>
                <a:avLst/>
                <a:gdLst>
                  <a:gd name="T0" fmla="*/ 1 w 76"/>
                  <a:gd name="T1" fmla="*/ 0 h 35"/>
                  <a:gd name="T2" fmla="*/ 1 w 76"/>
                  <a:gd name="T3" fmla="*/ 0 h 35"/>
                  <a:gd name="T4" fmla="*/ 1 w 76"/>
                  <a:gd name="T5" fmla="*/ 0 h 35"/>
                  <a:gd name="T6" fmla="*/ 1 w 76"/>
                  <a:gd name="T7" fmla="*/ 0 h 35"/>
                  <a:gd name="T8" fmla="*/ 1 w 76"/>
                  <a:gd name="T9" fmla="*/ 0 h 35"/>
                  <a:gd name="T10" fmla="*/ 1 w 76"/>
                  <a:gd name="T11" fmla="*/ 0 h 35"/>
                  <a:gd name="T12" fmla="*/ 1 w 76"/>
                  <a:gd name="T13" fmla="*/ 0 h 35"/>
                  <a:gd name="T14" fmla="*/ 1 w 76"/>
                  <a:gd name="T15" fmla="*/ 0 h 35"/>
                  <a:gd name="T16" fmla="*/ 1 w 76"/>
                  <a:gd name="T17" fmla="*/ 0 h 35"/>
                  <a:gd name="T18" fmla="*/ 1 w 76"/>
                  <a:gd name="T19" fmla="*/ 0 h 35"/>
                  <a:gd name="T20" fmla="*/ 0 w 76"/>
                  <a:gd name="T21" fmla="*/ 0 h 35"/>
                  <a:gd name="T22" fmla="*/ 1 w 76"/>
                  <a:gd name="T23" fmla="*/ 0 h 35"/>
                  <a:gd name="T24" fmla="*/ 1 w 76"/>
                  <a:gd name="T25" fmla="*/ 0 h 35"/>
                  <a:gd name="T26" fmla="*/ 1 w 76"/>
                  <a:gd name="T27" fmla="*/ 0 h 35"/>
                  <a:gd name="T28" fmla="*/ 1 w 76"/>
                  <a:gd name="T29" fmla="*/ 0 h 35"/>
                  <a:gd name="T30" fmla="*/ 1 w 76"/>
                  <a:gd name="T31" fmla="*/ 0 h 35"/>
                  <a:gd name="T32" fmla="*/ 1 w 76"/>
                  <a:gd name="T33" fmla="*/ 0 h 35"/>
                  <a:gd name="T34" fmla="*/ 1 w 76"/>
                  <a:gd name="T35" fmla="*/ 0 h 35"/>
                  <a:gd name="T36" fmla="*/ 1 w 76"/>
                  <a:gd name="T37" fmla="*/ 0 h 35"/>
                  <a:gd name="T38" fmla="*/ 1 w 76"/>
                  <a:gd name="T39" fmla="*/ 0 h 35"/>
                  <a:gd name="T40" fmla="*/ 1 w 76"/>
                  <a:gd name="T41" fmla="*/ 0 h 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35"/>
                  <a:gd name="T65" fmla="*/ 76 w 76"/>
                  <a:gd name="T66" fmla="*/ 35 h 3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35">
                    <a:moveTo>
                      <a:pt x="70" y="0"/>
                    </a:moveTo>
                    <a:lnTo>
                      <a:pt x="70" y="0"/>
                    </a:lnTo>
                    <a:lnTo>
                      <a:pt x="62" y="3"/>
                    </a:lnTo>
                    <a:lnTo>
                      <a:pt x="53" y="5"/>
                    </a:lnTo>
                    <a:lnTo>
                      <a:pt x="42" y="8"/>
                    </a:lnTo>
                    <a:lnTo>
                      <a:pt x="34" y="10"/>
                    </a:lnTo>
                    <a:lnTo>
                      <a:pt x="25" y="11"/>
                    </a:lnTo>
                    <a:lnTo>
                      <a:pt x="15" y="13"/>
                    </a:lnTo>
                    <a:lnTo>
                      <a:pt x="7" y="13"/>
                    </a:lnTo>
                    <a:lnTo>
                      <a:pt x="3" y="13"/>
                    </a:lnTo>
                    <a:lnTo>
                      <a:pt x="0" y="35"/>
                    </a:lnTo>
                    <a:lnTo>
                      <a:pt x="7" y="35"/>
                    </a:lnTo>
                    <a:lnTo>
                      <a:pt x="18" y="35"/>
                    </a:lnTo>
                    <a:lnTo>
                      <a:pt x="28" y="33"/>
                    </a:lnTo>
                    <a:lnTo>
                      <a:pt x="37" y="31"/>
                    </a:lnTo>
                    <a:lnTo>
                      <a:pt x="48" y="30"/>
                    </a:lnTo>
                    <a:lnTo>
                      <a:pt x="59" y="27"/>
                    </a:lnTo>
                    <a:lnTo>
                      <a:pt x="68" y="25"/>
                    </a:lnTo>
                    <a:lnTo>
                      <a:pt x="76" y="22"/>
                    </a:lnTo>
                    <a:lnTo>
                      <a:pt x="70" y="0"/>
                    </a:lnTo>
                    <a:close/>
                  </a:path>
                </a:pathLst>
              </a:custGeom>
              <a:solidFill>
                <a:srgbClr val="000000"/>
              </a:solidFill>
              <a:ln w="9525">
                <a:noFill/>
                <a:round/>
                <a:headEnd/>
                <a:tailEnd/>
              </a:ln>
            </p:spPr>
            <p:txBody>
              <a:bodyPr/>
              <a:lstStyle/>
              <a:p>
                <a:endParaRPr lang="en-US"/>
              </a:p>
            </p:txBody>
          </p:sp>
          <p:sp>
            <p:nvSpPr>
              <p:cNvPr id="25758" name="Freeform 121"/>
              <p:cNvSpPr>
                <a:spLocks/>
              </p:cNvSpPr>
              <p:nvPr/>
            </p:nvSpPr>
            <p:spPr bwMode="auto">
              <a:xfrm>
                <a:off x="2221" y="3511"/>
                <a:ext cx="21" cy="20"/>
              </a:xfrm>
              <a:custGeom>
                <a:avLst/>
                <a:gdLst>
                  <a:gd name="T0" fmla="*/ 1 w 42"/>
                  <a:gd name="T1" fmla="*/ 0 h 41"/>
                  <a:gd name="T2" fmla="*/ 1 w 42"/>
                  <a:gd name="T3" fmla="*/ 0 h 41"/>
                  <a:gd name="T4" fmla="*/ 1 w 42"/>
                  <a:gd name="T5" fmla="*/ 0 h 41"/>
                  <a:gd name="T6" fmla="*/ 1 w 42"/>
                  <a:gd name="T7" fmla="*/ 0 h 41"/>
                  <a:gd name="T8" fmla="*/ 1 w 42"/>
                  <a:gd name="T9" fmla="*/ 0 h 41"/>
                  <a:gd name="T10" fmla="*/ 0 w 42"/>
                  <a:gd name="T11" fmla="*/ 0 h 41"/>
                  <a:gd name="T12" fmla="*/ 1 w 42"/>
                  <a:gd name="T13" fmla="*/ 0 h 41"/>
                  <a:gd name="T14" fmla="*/ 1 w 42"/>
                  <a:gd name="T15" fmla="*/ 0 h 41"/>
                  <a:gd name="T16" fmla="*/ 1 w 42"/>
                  <a:gd name="T17" fmla="*/ 0 h 41"/>
                  <a:gd name="T18" fmla="*/ 1 w 42"/>
                  <a:gd name="T19" fmla="*/ 0 h 41"/>
                  <a:gd name="T20" fmla="*/ 1 w 42"/>
                  <a:gd name="T21" fmla="*/ 0 h 41"/>
                  <a:gd name="T22" fmla="*/ 1 w 42"/>
                  <a:gd name="T23" fmla="*/ 0 h 41"/>
                  <a:gd name="T24" fmla="*/ 1 w 42"/>
                  <a:gd name="T25" fmla="*/ 0 h 41"/>
                  <a:gd name="T26" fmla="*/ 1 w 42"/>
                  <a:gd name="T27" fmla="*/ 0 h 41"/>
                  <a:gd name="T28" fmla="*/ 1 w 42"/>
                  <a:gd name="T29" fmla="*/ 0 h 41"/>
                  <a:gd name="T30" fmla="*/ 1 w 42"/>
                  <a:gd name="T31" fmla="*/ 0 h 41"/>
                  <a:gd name="T32" fmla="*/ 1 w 42"/>
                  <a:gd name="T33" fmla="*/ 0 h 41"/>
                  <a:gd name="T34" fmla="*/ 1 w 42"/>
                  <a:gd name="T35" fmla="*/ 0 h 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2"/>
                  <a:gd name="T55" fmla="*/ 0 h 41"/>
                  <a:gd name="T56" fmla="*/ 42 w 42"/>
                  <a:gd name="T57" fmla="*/ 41 h 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2" h="41">
                    <a:moveTo>
                      <a:pt x="22" y="18"/>
                    </a:moveTo>
                    <a:lnTo>
                      <a:pt x="22" y="5"/>
                    </a:lnTo>
                    <a:lnTo>
                      <a:pt x="19" y="8"/>
                    </a:lnTo>
                    <a:lnTo>
                      <a:pt x="11" y="14"/>
                    </a:lnTo>
                    <a:lnTo>
                      <a:pt x="0" y="19"/>
                    </a:lnTo>
                    <a:lnTo>
                      <a:pt x="6" y="41"/>
                    </a:lnTo>
                    <a:lnTo>
                      <a:pt x="20" y="33"/>
                    </a:lnTo>
                    <a:lnTo>
                      <a:pt x="31" y="27"/>
                    </a:lnTo>
                    <a:lnTo>
                      <a:pt x="38" y="21"/>
                    </a:lnTo>
                    <a:lnTo>
                      <a:pt x="41" y="18"/>
                    </a:lnTo>
                    <a:lnTo>
                      <a:pt x="41" y="5"/>
                    </a:lnTo>
                    <a:lnTo>
                      <a:pt x="41" y="18"/>
                    </a:lnTo>
                    <a:lnTo>
                      <a:pt x="42" y="8"/>
                    </a:lnTo>
                    <a:lnTo>
                      <a:pt x="38" y="2"/>
                    </a:lnTo>
                    <a:lnTo>
                      <a:pt x="30" y="0"/>
                    </a:lnTo>
                    <a:lnTo>
                      <a:pt x="22" y="5"/>
                    </a:lnTo>
                    <a:lnTo>
                      <a:pt x="22" y="18"/>
                    </a:lnTo>
                    <a:close/>
                  </a:path>
                </a:pathLst>
              </a:custGeom>
              <a:solidFill>
                <a:srgbClr val="000000"/>
              </a:solidFill>
              <a:ln w="9525">
                <a:noFill/>
                <a:round/>
                <a:headEnd/>
                <a:tailEnd/>
              </a:ln>
            </p:spPr>
            <p:txBody>
              <a:bodyPr/>
              <a:lstStyle/>
              <a:p>
                <a:endParaRPr lang="en-US"/>
              </a:p>
            </p:txBody>
          </p:sp>
          <p:sp>
            <p:nvSpPr>
              <p:cNvPr id="25759" name="Freeform 122"/>
              <p:cNvSpPr>
                <a:spLocks/>
              </p:cNvSpPr>
              <p:nvPr/>
            </p:nvSpPr>
            <p:spPr bwMode="auto">
              <a:xfrm>
                <a:off x="2227" y="3501"/>
                <a:ext cx="14" cy="18"/>
              </a:xfrm>
              <a:custGeom>
                <a:avLst/>
                <a:gdLst>
                  <a:gd name="T0" fmla="*/ 1 w 28"/>
                  <a:gd name="T1" fmla="*/ 0 h 38"/>
                  <a:gd name="T2" fmla="*/ 1 w 28"/>
                  <a:gd name="T3" fmla="*/ 0 h 38"/>
                  <a:gd name="T4" fmla="*/ 0 w 28"/>
                  <a:gd name="T5" fmla="*/ 0 h 38"/>
                  <a:gd name="T6" fmla="*/ 1 w 28"/>
                  <a:gd name="T7" fmla="*/ 0 h 38"/>
                  <a:gd name="T8" fmla="*/ 1 w 28"/>
                  <a:gd name="T9" fmla="*/ 0 h 38"/>
                  <a:gd name="T10" fmla="*/ 1 w 28"/>
                  <a:gd name="T11" fmla="*/ 0 h 38"/>
                  <a:gd name="T12" fmla="*/ 1 w 28"/>
                  <a:gd name="T13" fmla="*/ 0 h 38"/>
                  <a:gd name="T14" fmla="*/ 1 w 28"/>
                  <a:gd name="T15" fmla="*/ 0 h 38"/>
                  <a:gd name="T16" fmla="*/ 1 w 28"/>
                  <a:gd name="T17" fmla="*/ 0 h 38"/>
                  <a:gd name="T18" fmla="*/ 1 w 28"/>
                  <a:gd name="T19" fmla="*/ 0 h 38"/>
                  <a:gd name="T20" fmla="*/ 1 w 28"/>
                  <a:gd name="T21" fmla="*/ 0 h 38"/>
                  <a:gd name="T22" fmla="*/ 1 w 28"/>
                  <a:gd name="T23" fmla="*/ 0 h 38"/>
                  <a:gd name="T24" fmla="*/ 1 w 28"/>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8"/>
                  <a:gd name="T41" fmla="*/ 28 w 28"/>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8">
                    <a:moveTo>
                      <a:pt x="7" y="2"/>
                    </a:moveTo>
                    <a:lnTo>
                      <a:pt x="9" y="0"/>
                    </a:lnTo>
                    <a:lnTo>
                      <a:pt x="0" y="16"/>
                    </a:lnTo>
                    <a:lnTo>
                      <a:pt x="4" y="27"/>
                    </a:lnTo>
                    <a:lnTo>
                      <a:pt x="7" y="33"/>
                    </a:lnTo>
                    <a:lnTo>
                      <a:pt x="9" y="38"/>
                    </a:lnTo>
                    <a:lnTo>
                      <a:pt x="28" y="25"/>
                    </a:lnTo>
                    <a:lnTo>
                      <a:pt x="26" y="24"/>
                    </a:lnTo>
                    <a:lnTo>
                      <a:pt x="23" y="17"/>
                    </a:lnTo>
                    <a:lnTo>
                      <a:pt x="21" y="13"/>
                    </a:lnTo>
                    <a:lnTo>
                      <a:pt x="15" y="22"/>
                    </a:lnTo>
                    <a:lnTo>
                      <a:pt x="17" y="20"/>
                    </a:lnTo>
                    <a:lnTo>
                      <a:pt x="7" y="2"/>
                    </a:lnTo>
                    <a:close/>
                  </a:path>
                </a:pathLst>
              </a:custGeom>
              <a:solidFill>
                <a:srgbClr val="000000"/>
              </a:solidFill>
              <a:ln w="9525">
                <a:noFill/>
                <a:round/>
                <a:headEnd/>
                <a:tailEnd/>
              </a:ln>
            </p:spPr>
            <p:txBody>
              <a:bodyPr/>
              <a:lstStyle/>
              <a:p>
                <a:endParaRPr lang="en-US"/>
              </a:p>
            </p:txBody>
          </p:sp>
          <p:sp>
            <p:nvSpPr>
              <p:cNvPr id="25760" name="Freeform 123"/>
              <p:cNvSpPr>
                <a:spLocks/>
              </p:cNvSpPr>
              <p:nvPr/>
            </p:nvSpPr>
            <p:spPr bwMode="auto">
              <a:xfrm>
                <a:off x="2231" y="3500"/>
                <a:ext cx="29" cy="14"/>
              </a:xfrm>
              <a:custGeom>
                <a:avLst/>
                <a:gdLst>
                  <a:gd name="T0" fmla="*/ 1 w 58"/>
                  <a:gd name="T1" fmla="*/ 0 h 29"/>
                  <a:gd name="T2" fmla="*/ 1 w 58"/>
                  <a:gd name="T3" fmla="*/ 0 h 29"/>
                  <a:gd name="T4" fmla="*/ 1 w 58"/>
                  <a:gd name="T5" fmla="*/ 0 h 29"/>
                  <a:gd name="T6" fmla="*/ 1 w 58"/>
                  <a:gd name="T7" fmla="*/ 0 h 29"/>
                  <a:gd name="T8" fmla="*/ 1 w 58"/>
                  <a:gd name="T9" fmla="*/ 0 h 29"/>
                  <a:gd name="T10" fmla="*/ 1 w 58"/>
                  <a:gd name="T11" fmla="*/ 0 h 29"/>
                  <a:gd name="T12" fmla="*/ 1 w 58"/>
                  <a:gd name="T13" fmla="*/ 0 h 29"/>
                  <a:gd name="T14" fmla="*/ 1 w 58"/>
                  <a:gd name="T15" fmla="*/ 0 h 29"/>
                  <a:gd name="T16" fmla="*/ 1 w 58"/>
                  <a:gd name="T17" fmla="*/ 0 h 29"/>
                  <a:gd name="T18" fmla="*/ 0 w 58"/>
                  <a:gd name="T19" fmla="*/ 0 h 29"/>
                  <a:gd name="T20" fmla="*/ 1 w 58"/>
                  <a:gd name="T21" fmla="*/ 0 h 29"/>
                  <a:gd name="T22" fmla="*/ 1 w 58"/>
                  <a:gd name="T23" fmla="*/ 0 h 29"/>
                  <a:gd name="T24" fmla="*/ 1 w 58"/>
                  <a:gd name="T25" fmla="*/ 0 h 29"/>
                  <a:gd name="T26" fmla="*/ 1 w 58"/>
                  <a:gd name="T27" fmla="*/ 0 h 29"/>
                  <a:gd name="T28" fmla="*/ 1 w 58"/>
                  <a:gd name="T29" fmla="*/ 0 h 29"/>
                  <a:gd name="T30" fmla="*/ 1 w 58"/>
                  <a:gd name="T31" fmla="*/ 0 h 29"/>
                  <a:gd name="T32" fmla="*/ 1 w 58"/>
                  <a:gd name="T33" fmla="*/ 0 h 29"/>
                  <a:gd name="T34" fmla="*/ 1 w 58"/>
                  <a:gd name="T35" fmla="*/ 0 h 29"/>
                  <a:gd name="T36" fmla="*/ 1 w 58"/>
                  <a:gd name="T37" fmla="*/ 0 h 29"/>
                  <a:gd name="T38" fmla="*/ 1 w 58"/>
                  <a:gd name="T39" fmla="*/ 0 h 29"/>
                  <a:gd name="T40" fmla="*/ 1 w 58"/>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29"/>
                  <a:gd name="T65" fmla="*/ 58 w 58"/>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29">
                    <a:moveTo>
                      <a:pt x="58" y="10"/>
                    </a:moveTo>
                    <a:lnTo>
                      <a:pt x="58" y="10"/>
                    </a:lnTo>
                    <a:lnTo>
                      <a:pt x="52" y="7"/>
                    </a:lnTo>
                    <a:lnTo>
                      <a:pt x="46" y="5"/>
                    </a:lnTo>
                    <a:lnTo>
                      <a:pt x="38" y="4"/>
                    </a:lnTo>
                    <a:lnTo>
                      <a:pt x="30" y="2"/>
                    </a:lnTo>
                    <a:lnTo>
                      <a:pt x="22" y="2"/>
                    </a:lnTo>
                    <a:lnTo>
                      <a:pt x="16" y="0"/>
                    </a:lnTo>
                    <a:lnTo>
                      <a:pt x="7" y="0"/>
                    </a:lnTo>
                    <a:lnTo>
                      <a:pt x="0" y="4"/>
                    </a:lnTo>
                    <a:lnTo>
                      <a:pt x="10" y="22"/>
                    </a:lnTo>
                    <a:lnTo>
                      <a:pt x="13" y="22"/>
                    </a:lnTo>
                    <a:lnTo>
                      <a:pt x="19" y="24"/>
                    </a:lnTo>
                    <a:lnTo>
                      <a:pt x="27" y="24"/>
                    </a:lnTo>
                    <a:lnTo>
                      <a:pt x="32" y="26"/>
                    </a:lnTo>
                    <a:lnTo>
                      <a:pt x="40" y="27"/>
                    </a:lnTo>
                    <a:lnTo>
                      <a:pt x="46" y="29"/>
                    </a:lnTo>
                    <a:lnTo>
                      <a:pt x="49" y="29"/>
                    </a:lnTo>
                    <a:lnTo>
                      <a:pt x="58" y="10"/>
                    </a:lnTo>
                    <a:close/>
                  </a:path>
                </a:pathLst>
              </a:custGeom>
              <a:solidFill>
                <a:srgbClr val="000000"/>
              </a:solidFill>
              <a:ln w="9525">
                <a:noFill/>
                <a:round/>
                <a:headEnd/>
                <a:tailEnd/>
              </a:ln>
            </p:spPr>
            <p:txBody>
              <a:bodyPr/>
              <a:lstStyle/>
              <a:p>
                <a:endParaRPr lang="en-US"/>
              </a:p>
            </p:txBody>
          </p:sp>
          <p:sp>
            <p:nvSpPr>
              <p:cNvPr id="25761" name="Freeform 124"/>
              <p:cNvSpPr>
                <a:spLocks/>
              </p:cNvSpPr>
              <p:nvPr/>
            </p:nvSpPr>
            <p:spPr bwMode="auto">
              <a:xfrm>
                <a:off x="2254" y="3504"/>
                <a:ext cx="13" cy="59"/>
              </a:xfrm>
              <a:custGeom>
                <a:avLst/>
                <a:gdLst>
                  <a:gd name="T0" fmla="*/ 1 w 26"/>
                  <a:gd name="T1" fmla="*/ 1 h 117"/>
                  <a:gd name="T2" fmla="*/ 1 w 26"/>
                  <a:gd name="T3" fmla="*/ 1 h 117"/>
                  <a:gd name="T4" fmla="*/ 1 w 26"/>
                  <a:gd name="T5" fmla="*/ 1 h 117"/>
                  <a:gd name="T6" fmla="*/ 1 w 26"/>
                  <a:gd name="T7" fmla="*/ 1 h 117"/>
                  <a:gd name="T8" fmla="*/ 1 w 26"/>
                  <a:gd name="T9" fmla="*/ 1 h 117"/>
                  <a:gd name="T10" fmla="*/ 1 w 26"/>
                  <a:gd name="T11" fmla="*/ 1 h 117"/>
                  <a:gd name="T12" fmla="*/ 1 w 26"/>
                  <a:gd name="T13" fmla="*/ 1 h 117"/>
                  <a:gd name="T14" fmla="*/ 1 w 26"/>
                  <a:gd name="T15" fmla="*/ 1 h 117"/>
                  <a:gd name="T16" fmla="*/ 1 w 26"/>
                  <a:gd name="T17" fmla="*/ 1 h 117"/>
                  <a:gd name="T18" fmla="*/ 1 w 26"/>
                  <a:gd name="T19" fmla="*/ 0 h 117"/>
                  <a:gd name="T20" fmla="*/ 1 w 26"/>
                  <a:gd name="T21" fmla="*/ 1 h 117"/>
                  <a:gd name="T22" fmla="*/ 0 w 26"/>
                  <a:gd name="T23" fmla="*/ 1 h 117"/>
                  <a:gd name="T24" fmla="*/ 1 w 26"/>
                  <a:gd name="T25" fmla="*/ 1 h 117"/>
                  <a:gd name="T26" fmla="*/ 1 w 26"/>
                  <a:gd name="T27" fmla="*/ 1 h 117"/>
                  <a:gd name="T28" fmla="*/ 1 w 26"/>
                  <a:gd name="T29" fmla="*/ 1 h 117"/>
                  <a:gd name="T30" fmla="*/ 1 w 26"/>
                  <a:gd name="T31" fmla="*/ 1 h 117"/>
                  <a:gd name="T32" fmla="*/ 1 w 26"/>
                  <a:gd name="T33" fmla="*/ 1 h 117"/>
                  <a:gd name="T34" fmla="*/ 1 w 26"/>
                  <a:gd name="T35" fmla="*/ 1 h 117"/>
                  <a:gd name="T36" fmla="*/ 1 w 26"/>
                  <a:gd name="T37" fmla="*/ 1 h 117"/>
                  <a:gd name="T38" fmla="*/ 1 w 26"/>
                  <a:gd name="T39" fmla="*/ 1 h 117"/>
                  <a:gd name="T40" fmla="*/ 1 w 26"/>
                  <a:gd name="T41" fmla="*/ 1 h 117"/>
                  <a:gd name="T42" fmla="*/ 1 w 26"/>
                  <a:gd name="T43" fmla="*/ 1 h 117"/>
                  <a:gd name="T44" fmla="*/ 1 w 26"/>
                  <a:gd name="T45" fmla="*/ 1 h 117"/>
                  <a:gd name="T46" fmla="*/ 1 w 26"/>
                  <a:gd name="T47" fmla="*/ 1 h 117"/>
                  <a:gd name="T48" fmla="*/ 1 w 26"/>
                  <a:gd name="T49" fmla="*/ 1 h 1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
                  <a:gd name="T76" fmla="*/ 0 h 117"/>
                  <a:gd name="T77" fmla="*/ 26 w 26"/>
                  <a:gd name="T78" fmla="*/ 117 h 11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 h="117">
                    <a:moveTo>
                      <a:pt x="26" y="106"/>
                    </a:moveTo>
                    <a:lnTo>
                      <a:pt x="26" y="106"/>
                    </a:lnTo>
                    <a:lnTo>
                      <a:pt x="26" y="102"/>
                    </a:lnTo>
                    <a:lnTo>
                      <a:pt x="26" y="92"/>
                    </a:lnTo>
                    <a:lnTo>
                      <a:pt x="26" y="77"/>
                    </a:lnTo>
                    <a:lnTo>
                      <a:pt x="26" y="59"/>
                    </a:lnTo>
                    <a:lnTo>
                      <a:pt x="25" y="41"/>
                    </a:lnTo>
                    <a:lnTo>
                      <a:pt x="23" y="25"/>
                    </a:lnTo>
                    <a:lnTo>
                      <a:pt x="22" y="12"/>
                    </a:lnTo>
                    <a:lnTo>
                      <a:pt x="12" y="0"/>
                    </a:lnTo>
                    <a:lnTo>
                      <a:pt x="3" y="19"/>
                    </a:lnTo>
                    <a:lnTo>
                      <a:pt x="0" y="19"/>
                    </a:lnTo>
                    <a:lnTo>
                      <a:pt x="1" y="28"/>
                    </a:lnTo>
                    <a:lnTo>
                      <a:pt x="3" y="44"/>
                    </a:lnTo>
                    <a:lnTo>
                      <a:pt x="4" y="59"/>
                    </a:lnTo>
                    <a:lnTo>
                      <a:pt x="4" y="77"/>
                    </a:lnTo>
                    <a:lnTo>
                      <a:pt x="4" y="92"/>
                    </a:lnTo>
                    <a:lnTo>
                      <a:pt x="4" y="102"/>
                    </a:lnTo>
                    <a:lnTo>
                      <a:pt x="4" y="106"/>
                    </a:lnTo>
                    <a:lnTo>
                      <a:pt x="8" y="114"/>
                    </a:lnTo>
                    <a:lnTo>
                      <a:pt x="15" y="117"/>
                    </a:lnTo>
                    <a:lnTo>
                      <a:pt x="23" y="114"/>
                    </a:lnTo>
                    <a:lnTo>
                      <a:pt x="26" y="106"/>
                    </a:lnTo>
                    <a:close/>
                  </a:path>
                </a:pathLst>
              </a:custGeom>
              <a:solidFill>
                <a:srgbClr val="000000"/>
              </a:solidFill>
              <a:ln w="9525">
                <a:noFill/>
                <a:round/>
                <a:headEnd/>
                <a:tailEnd/>
              </a:ln>
            </p:spPr>
            <p:txBody>
              <a:bodyPr/>
              <a:lstStyle/>
              <a:p>
                <a:endParaRPr lang="en-US"/>
              </a:p>
            </p:txBody>
          </p:sp>
          <p:sp>
            <p:nvSpPr>
              <p:cNvPr id="25762" name="Freeform 125"/>
              <p:cNvSpPr>
                <a:spLocks/>
              </p:cNvSpPr>
              <p:nvPr/>
            </p:nvSpPr>
            <p:spPr bwMode="auto">
              <a:xfrm>
                <a:off x="2215" y="3558"/>
                <a:ext cx="52" cy="194"/>
              </a:xfrm>
              <a:custGeom>
                <a:avLst/>
                <a:gdLst>
                  <a:gd name="T0" fmla="*/ 1 w 104"/>
                  <a:gd name="T1" fmla="*/ 1 h 388"/>
                  <a:gd name="T2" fmla="*/ 1 w 104"/>
                  <a:gd name="T3" fmla="*/ 1 h 388"/>
                  <a:gd name="T4" fmla="*/ 1 w 104"/>
                  <a:gd name="T5" fmla="*/ 1 h 388"/>
                  <a:gd name="T6" fmla="*/ 1 w 104"/>
                  <a:gd name="T7" fmla="*/ 1 h 388"/>
                  <a:gd name="T8" fmla="*/ 1 w 104"/>
                  <a:gd name="T9" fmla="*/ 1 h 388"/>
                  <a:gd name="T10" fmla="*/ 1 w 104"/>
                  <a:gd name="T11" fmla="*/ 1 h 388"/>
                  <a:gd name="T12" fmla="*/ 1 w 104"/>
                  <a:gd name="T13" fmla="*/ 1 h 388"/>
                  <a:gd name="T14" fmla="*/ 1 w 104"/>
                  <a:gd name="T15" fmla="*/ 1 h 388"/>
                  <a:gd name="T16" fmla="*/ 1 w 104"/>
                  <a:gd name="T17" fmla="*/ 1 h 388"/>
                  <a:gd name="T18" fmla="*/ 1 w 104"/>
                  <a:gd name="T19" fmla="*/ 1 h 388"/>
                  <a:gd name="T20" fmla="*/ 1 w 104"/>
                  <a:gd name="T21" fmla="*/ 1 h 388"/>
                  <a:gd name="T22" fmla="*/ 1 w 104"/>
                  <a:gd name="T23" fmla="*/ 1 h 388"/>
                  <a:gd name="T24" fmla="*/ 1 w 104"/>
                  <a:gd name="T25" fmla="*/ 1 h 388"/>
                  <a:gd name="T26" fmla="*/ 1 w 104"/>
                  <a:gd name="T27" fmla="*/ 1 h 388"/>
                  <a:gd name="T28" fmla="*/ 1 w 104"/>
                  <a:gd name="T29" fmla="*/ 1 h 388"/>
                  <a:gd name="T30" fmla="*/ 1 w 104"/>
                  <a:gd name="T31" fmla="*/ 1 h 388"/>
                  <a:gd name="T32" fmla="*/ 1 w 104"/>
                  <a:gd name="T33" fmla="*/ 1 h 388"/>
                  <a:gd name="T34" fmla="*/ 1 w 104"/>
                  <a:gd name="T35" fmla="*/ 0 h 388"/>
                  <a:gd name="T36" fmla="*/ 1 w 104"/>
                  <a:gd name="T37" fmla="*/ 0 h 388"/>
                  <a:gd name="T38" fmla="*/ 1 w 104"/>
                  <a:gd name="T39" fmla="*/ 1 h 388"/>
                  <a:gd name="T40" fmla="*/ 1 w 104"/>
                  <a:gd name="T41" fmla="*/ 1 h 388"/>
                  <a:gd name="T42" fmla="*/ 1 w 104"/>
                  <a:gd name="T43" fmla="*/ 1 h 388"/>
                  <a:gd name="T44" fmla="*/ 1 w 104"/>
                  <a:gd name="T45" fmla="*/ 1 h 388"/>
                  <a:gd name="T46" fmla="*/ 1 w 104"/>
                  <a:gd name="T47" fmla="*/ 1 h 388"/>
                  <a:gd name="T48" fmla="*/ 1 w 104"/>
                  <a:gd name="T49" fmla="*/ 1 h 388"/>
                  <a:gd name="T50" fmla="*/ 1 w 104"/>
                  <a:gd name="T51" fmla="*/ 1 h 388"/>
                  <a:gd name="T52" fmla="*/ 1 w 104"/>
                  <a:gd name="T53" fmla="*/ 1 h 388"/>
                  <a:gd name="T54" fmla="*/ 1 w 104"/>
                  <a:gd name="T55" fmla="*/ 1 h 388"/>
                  <a:gd name="T56" fmla="*/ 1 w 104"/>
                  <a:gd name="T57" fmla="*/ 1 h 388"/>
                  <a:gd name="T58" fmla="*/ 1 w 104"/>
                  <a:gd name="T59" fmla="*/ 1 h 388"/>
                  <a:gd name="T60" fmla="*/ 1 w 104"/>
                  <a:gd name="T61" fmla="*/ 1 h 388"/>
                  <a:gd name="T62" fmla="*/ 1 w 104"/>
                  <a:gd name="T63" fmla="*/ 1 h 388"/>
                  <a:gd name="T64" fmla="*/ 1 w 104"/>
                  <a:gd name="T65" fmla="*/ 1 h 388"/>
                  <a:gd name="T66" fmla="*/ 1 w 104"/>
                  <a:gd name="T67" fmla="*/ 1 h 388"/>
                  <a:gd name="T68" fmla="*/ 0 w 104"/>
                  <a:gd name="T69" fmla="*/ 1 h 388"/>
                  <a:gd name="T70" fmla="*/ 0 w 104"/>
                  <a:gd name="T71" fmla="*/ 1 h 388"/>
                  <a:gd name="T72" fmla="*/ 1 w 104"/>
                  <a:gd name="T73" fmla="*/ 1 h 3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4"/>
                  <a:gd name="T112" fmla="*/ 0 h 388"/>
                  <a:gd name="T113" fmla="*/ 104 w 104"/>
                  <a:gd name="T114" fmla="*/ 388 h 3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4" h="388">
                    <a:moveTo>
                      <a:pt x="3" y="388"/>
                    </a:moveTo>
                    <a:lnTo>
                      <a:pt x="3" y="388"/>
                    </a:lnTo>
                    <a:lnTo>
                      <a:pt x="23" y="379"/>
                    </a:lnTo>
                    <a:lnTo>
                      <a:pt x="39" y="362"/>
                    </a:lnTo>
                    <a:lnTo>
                      <a:pt x="53" y="341"/>
                    </a:lnTo>
                    <a:lnTo>
                      <a:pt x="65" y="315"/>
                    </a:lnTo>
                    <a:lnTo>
                      <a:pt x="73" y="285"/>
                    </a:lnTo>
                    <a:lnTo>
                      <a:pt x="81" y="252"/>
                    </a:lnTo>
                    <a:lnTo>
                      <a:pt x="87" y="218"/>
                    </a:lnTo>
                    <a:lnTo>
                      <a:pt x="92" y="183"/>
                    </a:lnTo>
                    <a:lnTo>
                      <a:pt x="97" y="149"/>
                    </a:lnTo>
                    <a:lnTo>
                      <a:pt x="100" y="116"/>
                    </a:lnTo>
                    <a:lnTo>
                      <a:pt x="101" y="85"/>
                    </a:lnTo>
                    <a:lnTo>
                      <a:pt x="103" y="57"/>
                    </a:lnTo>
                    <a:lnTo>
                      <a:pt x="104" y="33"/>
                    </a:lnTo>
                    <a:lnTo>
                      <a:pt x="104" y="16"/>
                    </a:lnTo>
                    <a:lnTo>
                      <a:pt x="104" y="5"/>
                    </a:lnTo>
                    <a:lnTo>
                      <a:pt x="104" y="0"/>
                    </a:lnTo>
                    <a:lnTo>
                      <a:pt x="82" y="0"/>
                    </a:lnTo>
                    <a:lnTo>
                      <a:pt x="82" y="5"/>
                    </a:lnTo>
                    <a:lnTo>
                      <a:pt x="82" y="16"/>
                    </a:lnTo>
                    <a:lnTo>
                      <a:pt x="82" y="33"/>
                    </a:lnTo>
                    <a:lnTo>
                      <a:pt x="81" y="57"/>
                    </a:lnTo>
                    <a:lnTo>
                      <a:pt x="79" y="85"/>
                    </a:lnTo>
                    <a:lnTo>
                      <a:pt x="78" y="113"/>
                    </a:lnTo>
                    <a:lnTo>
                      <a:pt x="75" y="146"/>
                    </a:lnTo>
                    <a:lnTo>
                      <a:pt x="70" y="180"/>
                    </a:lnTo>
                    <a:lnTo>
                      <a:pt x="65" y="215"/>
                    </a:lnTo>
                    <a:lnTo>
                      <a:pt x="59" y="249"/>
                    </a:lnTo>
                    <a:lnTo>
                      <a:pt x="51" y="279"/>
                    </a:lnTo>
                    <a:lnTo>
                      <a:pt x="43" y="308"/>
                    </a:lnTo>
                    <a:lnTo>
                      <a:pt x="34" y="332"/>
                    </a:lnTo>
                    <a:lnTo>
                      <a:pt x="23" y="349"/>
                    </a:lnTo>
                    <a:lnTo>
                      <a:pt x="10" y="360"/>
                    </a:lnTo>
                    <a:lnTo>
                      <a:pt x="0" y="366"/>
                    </a:lnTo>
                    <a:lnTo>
                      <a:pt x="3" y="388"/>
                    </a:lnTo>
                    <a:close/>
                  </a:path>
                </a:pathLst>
              </a:custGeom>
              <a:solidFill>
                <a:srgbClr val="000000"/>
              </a:solidFill>
              <a:ln w="9525">
                <a:noFill/>
                <a:round/>
                <a:headEnd/>
                <a:tailEnd/>
              </a:ln>
            </p:spPr>
            <p:txBody>
              <a:bodyPr/>
              <a:lstStyle/>
              <a:p>
                <a:endParaRPr lang="en-US"/>
              </a:p>
            </p:txBody>
          </p:sp>
          <p:sp>
            <p:nvSpPr>
              <p:cNvPr id="25763" name="Freeform 126"/>
              <p:cNvSpPr>
                <a:spLocks/>
              </p:cNvSpPr>
              <p:nvPr/>
            </p:nvSpPr>
            <p:spPr bwMode="auto">
              <a:xfrm>
                <a:off x="2108" y="3741"/>
                <a:ext cx="108" cy="19"/>
              </a:xfrm>
              <a:custGeom>
                <a:avLst/>
                <a:gdLst>
                  <a:gd name="T0" fmla="*/ 0 w 216"/>
                  <a:gd name="T1" fmla="*/ 0 h 40"/>
                  <a:gd name="T2" fmla="*/ 0 w 216"/>
                  <a:gd name="T3" fmla="*/ 0 h 40"/>
                  <a:gd name="T4" fmla="*/ 1 w 216"/>
                  <a:gd name="T5" fmla="*/ 0 h 40"/>
                  <a:gd name="T6" fmla="*/ 1 w 216"/>
                  <a:gd name="T7" fmla="*/ 0 h 40"/>
                  <a:gd name="T8" fmla="*/ 1 w 216"/>
                  <a:gd name="T9" fmla="*/ 0 h 40"/>
                  <a:gd name="T10" fmla="*/ 1 w 216"/>
                  <a:gd name="T11" fmla="*/ 0 h 40"/>
                  <a:gd name="T12" fmla="*/ 1 w 216"/>
                  <a:gd name="T13" fmla="*/ 0 h 40"/>
                  <a:gd name="T14" fmla="*/ 1 w 216"/>
                  <a:gd name="T15" fmla="*/ 0 h 40"/>
                  <a:gd name="T16" fmla="*/ 1 w 216"/>
                  <a:gd name="T17" fmla="*/ 0 h 40"/>
                  <a:gd name="T18" fmla="*/ 1 w 216"/>
                  <a:gd name="T19" fmla="*/ 0 h 40"/>
                  <a:gd name="T20" fmla="*/ 1 w 216"/>
                  <a:gd name="T21" fmla="*/ 0 h 40"/>
                  <a:gd name="T22" fmla="*/ 1 w 216"/>
                  <a:gd name="T23" fmla="*/ 0 h 40"/>
                  <a:gd name="T24" fmla="*/ 1 w 216"/>
                  <a:gd name="T25" fmla="*/ 0 h 40"/>
                  <a:gd name="T26" fmla="*/ 1 w 216"/>
                  <a:gd name="T27" fmla="*/ 0 h 40"/>
                  <a:gd name="T28" fmla="*/ 1 w 216"/>
                  <a:gd name="T29" fmla="*/ 0 h 40"/>
                  <a:gd name="T30" fmla="*/ 1 w 216"/>
                  <a:gd name="T31" fmla="*/ 0 h 40"/>
                  <a:gd name="T32" fmla="*/ 1 w 216"/>
                  <a:gd name="T33" fmla="*/ 0 h 40"/>
                  <a:gd name="T34" fmla="*/ 1 w 216"/>
                  <a:gd name="T35" fmla="*/ 0 h 40"/>
                  <a:gd name="T36" fmla="*/ 1 w 216"/>
                  <a:gd name="T37" fmla="*/ 0 h 40"/>
                  <a:gd name="T38" fmla="*/ 1 w 216"/>
                  <a:gd name="T39" fmla="*/ 0 h 40"/>
                  <a:gd name="T40" fmla="*/ 0 w 216"/>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6"/>
                  <a:gd name="T64" fmla="*/ 0 h 40"/>
                  <a:gd name="T65" fmla="*/ 216 w 216"/>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6" h="40">
                    <a:moveTo>
                      <a:pt x="0" y="30"/>
                    </a:moveTo>
                    <a:lnTo>
                      <a:pt x="0" y="30"/>
                    </a:lnTo>
                    <a:lnTo>
                      <a:pt x="21" y="35"/>
                    </a:lnTo>
                    <a:lnTo>
                      <a:pt x="43" y="38"/>
                    </a:lnTo>
                    <a:lnTo>
                      <a:pt x="68" y="40"/>
                    </a:lnTo>
                    <a:lnTo>
                      <a:pt x="94" y="38"/>
                    </a:lnTo>
                    <a:lnTo>
                      <a:pt x="123" y="36"/>
                    </a:lnTo>
                    <a:lnTo>
                      <a:pt x="151" y="33"/>
                    </a:lnTo>
                    <a:lnTo>
                      <a:pt x="183" y="29"/>
                    </a:lnTo>
                    <a:lnTo>
                      <a:pt x="216" y="22"/>
                    </a:lnTo>
                    <a:lnTo>
                      <a:pt x="213" y="0"/>
                    </a:lnTo>
                    <a:lnTo>
                      <a:pt x="180" y="7"/>
                    </a:lnTo>
                    <a:lnTo>
                      <a:pt x="148" y="11"/>
                    </a:lnTo>
                    <a:lnTo>
                      <a:pt x="120" y="14"/>
                    </a:lnTo>
                    <a:lnTo>
                      <a:pt x="94" y="16"/>
                    </a:lnTo>
                    <a:lnTo>
                      <a:pt x="68" y="18"/>
                    </a:lnTo>
                    <a:lnTo>
                      <a:pt x="47" y="16"/>
                    </a:lnTo>
                    <a:lnTo>
                      <a:pt x="25" y="13"/>
                    </a:lnTo>
                    <a:lnTo>
                      <a:pt x="6" y="8"/>
                    </a:lnTo>
                    <a:lnTo>
                      <a:pt x="0" y="30"/>
                    </a:lnTo>
                    <a:close/>
                  </a:path>
                </a:pathLst>
              </a:custGeom>
              <a:solidFill>
                <a:srgbClr val="000000"/>
              </a:solidFill>
              <a:ln w="9525">
                <a:noFill/>
                <a:round/>
                <a:headEnd/>
                <a:tailEnd/>
              </a:ln>
            </p:spPr>
            <p:txBody>
              <a:bodyPr/>
              <a:lstStyle/>
              <a:p>
                <a:endParaRPr lang="en-US"/>
              </a:p>
            </p:txBody>
          </p:sp>
          <p:sp>
            <p:nvSpPr>
              <p:cNvPr id="25764" name="Freeform 127"/>
              <p:cNvSpPr>
                <a:spLocks/>
              </p:cNvSpPr>
              <p:nvPr/>
            </p:nvSpPr>
            <p:spPr bwMode="auto">
              <a:xfrm>
                <a:off x="2053" y="3734"/>
                <a:ext cx="58" cy="22"/>
              </a:xfrm>
              <a:custGeom>
                <a:avLst/>
                <a:gdLst>
                  <a:gd name="T0" fmla="*/ 0 w 116"/>
                  <a:gd name="T1" fmla="*/ 1 h 42"/>
                  <a:gd name="T2" fmla="*/ 0 w 116"/>
                  <a:gd name="T3" fmla="*/ 1 h 42"/>
                  <a:gd name="T4" fmla="*/ 1 w 116"/>
                  <a:gd name="T5" fmla="*/ 1 h 42"/>
                  <a:gd name="T6" fmla="*/ 1 w 116"/>
                  <a:gd name="T7" fmla="*/ 1 h 42"/>
                  <a:gd name="T8" fmla="*/ 1 w 116"/>
                  <a:gd name="T9" fmla="*/ 1 h 42"/>
                  <a:gd name="T10" fmla="*/ 1 w 116"/>
                  <a:gd name="T11" fmla="*/ 1 h 42"/>
                  <a:gd name="T12" fmla="*/ 1 w 116"/>
                  <a:gd name="T13" fmla="*/ 1 h 42"/>
                  <a:gd name="T14" fmla="*/ 1 w 116"/>
                  <a:gd name="T15" fmla="*/ 1 h 42"/>
                  <a:gd name="T16" fmla="*/ 1 w 116"/>
                  <a:gd name="T17" fmla="*/ 1 h 42"/>
                  <a:gd name="T18" fmla="*/ 1 w 116"/>
                  <a:gd name="T19" fmla="*/ 1 h 42"/>
                  <a:gd name="T20" fmla="*/ 1 w 116"/>
                  <a:gd name="T21" fmla="*/ 1 h 42"/>
                  <a:gd name="T22" fmla="*/ 1 w 116"/>
                  <a:gd name="T23" fmla="*/ 1 h 42"/>
                  <a:gd name="T24" fmla="*/ 1 w 116"/>
                  <a:gd name="T25" fmla="*/ 1 h 42"/>
                  <a:gd name="T26" fmla="*/ 1 w 116"/>
                  <a:gd name="T27" fmla="*/ 1 h 42"/>
                  <a:gd name="T28" fmla="*/ 1 w 116"/>
                  <a:gd name="T29" fmla="*/ 1 h 42"/>
                  <a:gd name="T30" fmla="*/ 1 w 116"/>
                  <a:gd name="T31" fmla="*/ 1 h 42"/>
                  <a:gd name="T32" fmla="*/ 1 w 116"/>
                  <a:gd name="T33" fmla="*/ 0 h 42"/>
                  <a:gd name="T34" fmla="*/ 1 w 116"/>
                  <a:gd name="T35" fmla="*/ 0 h 42"/>
                  <a:gd name="T36" fmla="*/ 0 w 116"/>
                  <a:gd name="T37" fmla="*/ 0 h 42"/>
                  <a:gd name="T38" fmla="*/ 0 w 116"/>
                  <a:gd name="T39" fmla="*/ 0 h 42"/>
                  <a:gd name="T40" fmla="*/ 0 w 116"/>
                  <a:gd name="T41" fmla="*/ 1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6"/>
                  <a:gd name="T64" fmla="*/ 0 h 42"/>
                  <a:gd name="T65" fmla="*/ 116 w 116"/>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6" h="42">
                    <a:moveTo>
                      <a:pt x="0" y="22"/>
                    </a:moveTo>
                    <a:lnTo>
                      <a:pt x="0" y="22"/>
                    </a:lnTo>
                    <a:lnTo>
                      <a:pt x="6" y="22"/>
                    </a:lnTo>
                    <a:lnTo>
                      <a:pt x="17" y="22"/>
                    </a:lnTo>
                    <a:lnTo>
                      <a:pt x="27" y="23"/>
                    </a:lnTo>
                    <a:lnTo>
                      <a:pt x="41" y="25"/>
                    </a:lnTo>
                    <a:lnTo>
                      <a:pt x="58" y="28"/>
                    </a:lnTo>
                    <a:lnTo>
                      <a:pt x="74" y="31"/>
                    </a:lnTo>
                    <a:lnTo>
                      <a:pt x="91" y="36"/>
                    </a:lnTo>
                    <a:lnTo>
                      <a:pt x="110" y="42"/>
                    </a:lnTo>
                    <a:lnTo>
                      <a:pt x="116" y="20"/>
                    </a:lnTo>
                    <a:lnTo>
                      <a:pt x="97" y="14"/>
                    </a:lnTo>
                    <a:lnTo>
                      <a:pt x="80" y="9"/>
                    </a:lnTo>
                    <a:lnTo>
                      <a:pt x="61" y="6"/>
                    </a:lnTo>
                    <a:lnTo>
                      <a:pt x="44" y="3"/>
                    </a:lnTo>
                    <a:lnTo>
                      <a:pt x="30" y="1"/>
                    </a:lnTo>
                    <a:lnTo>
                      <a:pt x="17" y="0"/>
                    </a:lnTo>
                    <a:lnTo>
                      <a:pt x="6" y="0"/>
                    </a:lnTo>
                    <a:lnTo>
                      <a:pt x="0" y="0"/>
                    </a:lnTo>
                    <a:lnTo>
                      <a:pt x="0" y="22"/>
                    </a:lnTo>
                    <a:close/>
                  </a:path>
                </a:pathLst>
              </a:custGeom>
              <a:solidFill>
                <a:srgbClr val="000000"/>
              </a:solidFill>
              <a:ln w="9525">
                <a:noFill/>
                <a:round/>
                <a:headEnd/>
                <a:tailEnd/>
              </a:ln>
            </p:spPr>
            <p:txBody>
              <a:bodyPr/>
              <a:lstStyle/>
              <a:p>
                <a:endParaRPr lang="en-US"/>
              </a:p>
            </p:txBody>
          </p:sp>
          <p:sp>
            <p:nvSpPr>
              <p:cNvPr id="25765" name="Freeform 128"/>
              <p:cNvSpPr>
                <a:spLocks/>
              </p:cNvSpPr>
              <p:nvPr/>
            </p:nvSpPr>
            <p:spPr bwMode="auto">
              <a:xfrm>
                <a:off x="2041" y="3734"/>
                <a:ext cx="12" cy="15"/>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0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1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22" y="19"/>
                    </a:moveTo>
                    <a:lnTo>
                      <a:pt x="22" y="17"/>
                    </a:lnTo>
                    <a:lnTo>
                      <a:pt x="20" y="20"/>
                    </a:lnTo>
                    <a:lnTo>
                      <a:pt x="17" y="23"/>
                    </a:lnTo>
                    <a:lnTo>
                      <a:pt x="20" y="23"/>
                    </a:lnTo>
                    <a:lnTo>
                      <a:pt x="25" y="22"/>
                    </a:lnTo>
                    <a:lnTo>
                      <a:pt x="25" y="0"/>
                    </a:lnTo>
                    <a:lnTo>
                      <a:pt x="14" y="1"/>
                    </a:lnTo>
                    <a:lnTo>
                      <a:pt x="8" y="5"/>
                    </a:lnTo>
                    <a:lnTo>
                      <a:pt x="1" y="11"/>
                    </a:lnTo>
                    <a:lnTo>
                      <a:pt x="0" y="17"/>
                    </a:lnTo>
                    <a:lnTo>
                      <a:pt x="0" y="16"/>
                    </a:lnTo>
                    <a:lnTo>
                      <a:pt x="0" y="17"/>
                    </a:lnTo>
                    <a:lnTo>
                      <a:pt x="3" y="25"/>
                    </a:lnTo>
                    <a:lnTo>
                      <a:pt x="11" y="28"/>
                    </a:lnTo>
                    <a:lnTo>
                      <a:pt x="19" y="25"/>
                    </a:lnTo>
                    <a:lnTo>
                      <a:pt x="22" y="17"/>
                    </a:lnTo>
                    <a:lnTo>
                      <a:pt x="22" y="19"/>
                    </a:lnTo>
                    <a:close/>
                  </a:path>
                </a:pathLst>
              </a:custGeom>
              <a:solidFill>
                <a:srgbClr val="000000"/>
              </a:solidFill>
              <a:ln w="9525">
                <a:noFill/>
                <a:round/>
                <a:headEnd/>
                <a:tailEnd/>
              </a:ln>
            </p:spPr>
            <p:txBody>
              <a:bodyPr/>
              <a:lstStyle/>
              <a:p>
                <a:endParaRPr lang="en-US"/>
              </a:p>
            </p:txBody>
          </p:sp>
          <p:sp>
            <p:nvSpPr>
              <p:cNvPr id="25766" name="Freeform 129"/>
              <p:cNvSpPr>
                <a:spLocks/>
              </p:cNvSpPr>
              <p:nvPr/>
            </p:nvSpPr>
            <p:spPr bwMode="auto">
              <a:xfrm>
                <a:off x="2040" y="3742"/>
                <a:ext cx="12" cy="13"/>
              </a:xfrm>
              <a:custGeom>
                <a:avLst/>
                <a:gdLst>
                  <a:gd name="T0" fmla="*/ 1 w 24"/>
                  <a:gd name="T1" fmla="*/ 1 h 25"/>
                  <a:gd name="T2" fmla="*/ 1 w 24"/>
                  <a:gd name="T3" fmla="*/ 1 h 25"/>
                  <a:gd name="T4" fmla="*/ 1 w 24"/>
                  <a:gd name="T5" fmla="*/ 1 h 25"/>
                  <a:gd name="T6" fmla="*/ 1 w 24"/>
                  <a:gd name="T7" fmla="*/ 0 h 25"/>
                  <a:gd name="T8" fmla="*/ 0 w 24"/>
                  <a:gd name="T9" fmla="*/ 1 h 25"/>
                  <a:gd name="T10" fmla="*/ 0 w 24"/>
                  <a:gd name="T11" fmla="*/ 1 h 25"/>
                  <a:gd name="T12" fmla="*/ 0 w 24"/>
                  <a:gd name="T13" fmla="*/ 1 h 25"/>
                  <a:gd name="T14" fmla="*/ 1 w 24"/>
                  <a:gd name="T15" fmla="*/ 1 h 25"/>
                  <a:gd name="T16" fmla="*/ 1 w 24"/>
                  <a:gd name="T17" fmla="*/ 1 h 25"/>
                  <a:gd name="T18" fmla="*/ 1 w 24"/>
                  <a:gd name="T19" fmla="*/ 1 h 25"/>
                  <a:gd name="T20" fmla="*/ 1 w 24"/>
                  <a:gd name="T21" fmla="*/ 1 h 25"/>
                  <a:gd name="T22" fmla="*/ 1 w 24"/>
                  <a:gd name="T23" fmla="*/ 1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5"/>
                  <a:gd name="T38" fmla="*/ 24 w 24"/>
                  <a:gd name="T39" fmla="*/ 25 h 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5">
                    <a:moveTo>
                      <a:pt x="22" y="14"/>
                    </a:moveTo>
                    <a:lnTo>
                      <a:pt x="22" y="15"/>
                    </a:lnTo>
                    <a:lnTo>
                      <a:pt x="24" y="3"/>
                    </a:lnTo>
                    <a:lnTo>
                      <a:pt x="2" y="0"/>
                    </a:lnTo>
                    <a:lnTo>
                      <a:pt x="0" y="12"/>
                    </a:lnTo>
                    <a:lnTo>
                      <a:pt x="0" y="14"/>
                    </a:lnTo>
                    <a:lnTo>
                      <a:pt x="0" y="12"/>
                    </a:lnTo>
                    <a:lnTo>
                      <a:pt x="3" y="20"/>
                    </a:lnTo>
                    <a:lnTo>
                      <a:pt x="10" y="25"/>
                    </a:lnTo>
                    <a:lnTo>
                      <a:pt x="18" y="23"/>
                    </a:lnTo>
                    <a:lnTo>
                      <a:pt x="22" y="15"/>
                    </a:lnTo>
                    <a:lnTo>
                      <a:pt x="22" y="14"/>
                    </a:lnTo>
                    <a:close/>
                  </a:path>
                </a:pathLst>
              </a:custGeom>
              <a:solidFill>
                <a:srgbClr val="000000"/>
              </a:solidFill>
              <a:ln w="9525">
                <a:noFill/>
                <a:round/>
                <a:headEnd/>
                <a:tailEnd/>
              </a:ln>
            </p:spPr>
            <p:txBody>
              <a:bodyPr/>
              <a:lstStyle/>
              <a:p>
                <a:endParaRPr lang="en-US"/>
              </a:p>
            </p:txBody>
          </p:sp>
          <p:sp>
            <p:nvSpPr>
              <p:cNvPr id="25767" name="Freeform 130"/>
              <p:cNvSpPr>
                <a:spLocks/>
              </p:cNvSpPr>
              <p:nvPr/>
            </p:nvSpPr>
            <p:spPr bwMode="auto">
              <a:xfrm>
                <a:off x="2040" y="3749"/>
                <a:ext cx="14" cy="91"/>
              </a:xfrm>
              <a:custGeom>
                <a:avLst/>
                <a:gdLst>
                  <a:gd name="T0" fmla="*/ 0 w 29"/>
                  <a:gd name="T1" fmla="*/ 1 h 181"/>
                  <a:gd name="T2" fmla="*/ 0 w 29"/>
                  <a:gd name="T3" fmla="*/ 1 h 181"/>
                  <a:gd name="T4" fmla="*/ 0 w 29"/>
                  <a:gd name="T5" fmla="*/ 0 h 181"/>
                  <a:gd name="T6" fmla="*/ 0 w 29"/>
                  <a:gd name="T7" fmla="*/ 0 h 181"/>
                  <a:gd name="T8" fmla="*/ 0 w 29"/>
                  <a:gd name="T9" fmla="*/ 1 h 181"/>
                  <a:gd name="T10" fmla="*/ 0 w 29"/>
                  <a:gd name="T11" fmla="*/ 1 h 181"/>
                  <a:gd name="T12" fmla="*/ 0 w 29"/>
                  <a:gd name="T13" fmla="*/ 1 h 181"/>
                  <a:gd name="T14" fmla="*/ 0 w 29"/>
                  <a:gd name="T15" fmla="*/ 1 h 181"/>
                  <a:gd name="T16" fmla="*/ 0 w 29"/>
                  <a:gd name="T17" fmla="*/ 1 h 181"/>
                  <a:gd name="T18" fmla="*/ 0 w 29"/>
                  <a:gd name="T19" fmla="*/ 1 h 181"/>
                  <a:gd name="T20" fmla="*/ 0 w 29"/>
                  <a:gd name="T21" fmla="*/ 1 h 181"/>
                  <a:gd name="T22" fmla="*/ 0 w 29"/>
                  <a:gd name="T23" fmla="*/ 1 h 1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
                  <a:gd name="T37" fmla="*/ 0 h 181"/>
                  <a:gd name="T38" fmla="*/ 29 w 29"/>
                  <a:gd name="T39" fmla="*/ 181 h 1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 h="181">
                    <a:moveTo>
                      <a:pt x="24" y="180"/>
                    </a:moveTo>
                    <a:lnTo>
                      <a:pt x="29" y="170"/>
                    </a:lnTo>
                    <a:lnTo>
                      <a:pt x="22" y="0"/>
                    </a:lnTo>
                    <a:lnTo>
                      <a:pt x="0" y="0"/>
                    </a:lnTo>
                    <a:lnTo>
                      <a:pt x="7" y="170"/>
                    </a:lnTo>
                    <a:lnTo>
                      <a:pt x="11" y="161"/>
                    </a:lnTo>
                    <a:lnTo>
                      <a:pt x="7" y="170"/>
                    </a:lnTo>
                    <a:lnTo>
                      <a:pt x="10" y="178"/>
                    </a:lnTo>
                    <a:lnTo>
                      <a:pt x="18" y="181"/>
                    </a:lnTo>
                    <a:lnTo>
                      <a:pt x="25" y="178"/>
                    </a:lnTo>
                    <a:lnTo>
                      <a:pt x="29" y="170"/>
                    </a:lnTo>
                    <a:lnTo>
                      <a:pt x="24" y="180"/>
                    </a:lnTo>
                    <a:close/>
                  </a:path>
                </a:pathLst>
              </a:custGeom>
              <a:solidFill>
                <a:srgbClr val="000000"/>
              </a:solidFill>
              <a:ln w="9525">
                <a:noFill/>
                <a:round/>
                <a:headEnd/>
                <a:tailEnd/>
              </a:ln>
            </p:spPr>
            <p:txBody>
              <a:bodyPr/>
              <a:lstStyle/>
              <a:p>
                <a:endParaRPr lang="en-US"/>
              </a:p>
            </p:txBody>
          </p:sp>
          <p:sp>
            <p:nvSpPr>
              <p:cNvPr id="25768" name="Freeform 131"/>
              <p:cNvSpPr>
                <a:spLocks/>
              </p:cNvSpPr>
              <p:nvPr/>
            </p:nvSpPr>
            <p:spPr bwMode="auto">
              <a:xfrm>
                <a:off x="2018" y="3830"/>
                <a:ext cx="34" cy="16"/>
              </a:xfrm>
              <a:custGeom>
                <a:avLst/>
                <a:gdLst>
                  <a:gd name="T0" fmla="*/ 0 w 67"/>
                  <a:gd name="T1" fmla="*/ 0 h 33"/>
                  <a:gd name="T2" fmla="*/ 0 w 67"/>
                  <a:gd name="T3" fmla="*/ 0 h 33"/>
                  <a:gd name="T4" fmla="*/ 1 w 67"/>
                  <a:gd name="T5" fmla="*/ 0 h 33"/>
                  <a:gd name="T6" fmla="*/ 1 w 67"/>
                  <a:gd name="T7" fmla="*/ 0 h 33"/>
                  <a:gd name="T8" fmla="*/ 1 w 67"/>
                  <a:gd name="T9" fmla="*/ 0 h 33"/>
                  <a:gd name="T10" fmla="*/ 1 w 67"/>
                  <a:gd name="T11" fmla="*/ 0 h 33"/>
                  <a:gd name="T12" fmla="*/ 1 w 67"/>
                  <a:gd name="T13" fmla="*/ 0 h 33"/>
                  <a:gd name="T14" fmla="*/ 1 w 67"/>
                  <a:gd name="T15" fmla="*/ 0 h 33"/>
                  <a:gd name="T16" fmla="*/ 1 w 67"/>
                  <a:gd name="T17" fmla="*/ 0 h 33"/>
                  <a:gd name="T18" fmla="*/ 1 w 67"/>
                  <a:gd name="T19" fmla="*/ 0 h 33"/>
                  <a:gd name="T20" fmla="*/ 1 w 67"/>
                  <a:gd name="T21" fmla="*/ 0 h 33"/>
                  <a:gd name="T22" fmla="*/ 1 w 67"/>
                  <a:gd name="T23" fmla="*/ 0 h 33"/>
                  <a:gd name="T24" fmla="*/ 1 w 67"/>
                  <a:gd name="T25" fmla="*/ 0 h 33"/>
                  <a:gd name="T26" fmla="*/ 1 w 67"/>
                  <a:gd name="T27" fmla="*/ 0 h 33"/>
                  <a:gd name="T28" fmla="*/ 1 w 67"/>
                  <a:gd name="T29" fmla="*/ 0 h 33"/>
                  <a:gd name="T30" fmla="*/ 1 w 67"/>
                  <a:gd name="T31" fmla="*/ 0 h 33"/>
                  <a:gd name="T32" fmla="*/ 1 w 67"/>
                  <a:gd name="T33" fmla="*/ 0 h 33"/>
                  <a:gd name="T34" fmla="*/ 1 w 67"/>
                  <a:gd name="T35" fmla="*/ 0 h 33"/>
                  <a:gd name="T36" fmla="*/ 1 w 67"/>
                  <a:gd name="T37" fmla="*/ 0 h 33"/>
                  <a:gd name="T38" fmla="*/ 1 w 67"/>
                  <a:gd name="T39" fmla="*/ 0 h 33"/>
                  <a:gd name="T40" fmla="*/ 0 w 67"/>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33"/>
                  <a:gd name="T65" fmla="*/ 67 w 67"/>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33">
                    <a:moveTo>
                      <a:pt x="0" y="33"/>
                    </a:moveTo>
                    <a:lnTo>
                      <a:pt x="0" y="33"/>
                    </a:lnTo>
                    <a:lnTo>
                      <a:pt x="15" y="33"/>
                    </a:lnTo>
                    <a:lnTo>
                      <a:pt x="28" y="33"/>
                    </a:lnTo>
                    <a:lnTo>
                      <a:pt x="40" y="29"/>
                    </a:lnTo>
                    <a:lnTo>
                      <a:pt x="48" y="28"/>
                    </a:lnTo>
                    <a:lnTo>
                      <a:pt x="56" y="25"/>
                    </a:lnTo>
                    <a:lnTo>
                      <a:pt x="64" y="22"/>
                    </a:lnTo>
                    <a:lnTo>
                      <a:pt x="67" y="17"/>
                    </a:lnTo>
                    <a:lnTo>
                      <a:pt x="67" y="19"/>
                    </a:lnTo>
                    <a:lnTo>
                      <a:pt x="54" y="0"/>
                    </a:lnTo>
                    <a:lnTo>
                      <a:pt x="51" y="1"/>
                    </a:lnTo>
                    <a:lnTo>
                      <a:pt x="51" y="3"/>
                    </a:lnTo>
                    <a:lnTo>
                      <a:pt x="50" y="3"/>
                    </a:lnTo>
                    <a:lnTo>
                      <a:pt x="42" y="6"/>
                    </a:lnTo>
                    <a:lnTo>
                      <a:pt x="34" y="8"/>
                    </a:lnTo>
                    <a:lnTo>
                      <a:pt x="25" y="11"/>
                    </a:lnTo>
                    <a:lnTo>
                      <a:pt x="15" y="11"/>
                    </a:lnTo>
                    <a:lnTo>
                      <a:pt x="3" y="11"/>
                    </a:lnTo>
                    <a:lnTo>
                      <a:pt x="0" y="33"/>
                    </a:lnTo>
                    <a:close/>
                  </a:path>
                </a:pathLst>
              </a:custGeom>
              <a:solidFill>
                <a:srgbClr val="000000"/>
              </a:solidFill>
              <a:ln w="9525">
                <a:noFill/>
                <a:round/>
                <a:headEnd/>
                <a:tailEnd/>
              </a:ln>
            </p:spPr>
            <p:txBody>
              <a:bodyPr/>
              <a:lstStyle/>
              <a:p>
                <a:endParaRPr lang="en-US"/>
              </a:p>
            </p:txBody>
          </p:sp>
          <p:sp>
            <p:nvSpPr>
              <p:cNvPr id="25769" name="Freeform 132"/>
              <p:cNvSpPr>
                <a:spLocks/>
              </p:cNvSpPr>
              <p:nvPr/>
            </p:nvSpPr>
            <p:spPr bwMode="auto">
              <a:xfrm>
                <a:off x="1992" y="3831"/>
                <a:ext cx="28" cy="15"/>
              </a:xfrm>
              <a:custGeom>
                <a:avLst/>
                <a:gdLst>
                  <a:gd name="T0" fmla="*/ 0 w 57"/>
                  <a:gd name="T1" fmla="*/ 0 h 32"/>
                  <a:gd name="T2" fmla="*/ 0 w 57"/>
                  <a:gd name="T3" fmla="*/ 0 h 32"/>
                  <a:gd name="T4" fmla="*/ 0 w 57"/>
                  <a:gd name="T5" fmla="*/ 0 h 32"/>
                  <a:gd name="T6" fmla="*/ 0 w 57"/>
                  <a:gd name="T7" fmla="*/ 0 h 32"/>
                  <a:gd name="T8" fmla="*/ 0 w 57"/>
                  <a:gd name="T9" fmla="*/ 0 h 32"/>
                  <a:gd name="T10" fmla="*/ 0 w 57"/>
                  <a:gd name="T11" fmla="*/ 0 h 32"/>
                  <a:gd name="T12" fmla="*/ 0 w 57"/>
                  <a:gd name="T13" fmla="*/ 0 h 32"/>
                  <a:gd name="T14" fmla="*/ 0 w 57"/>
                  <a:gd name="T15" fmla="*/ 0 h 32"/>
                  <a:gd name="T16" fmla="*/ 0 w 57"/>
                  <a:gd name="T17" fmla="*/ 0 h 32"/>
                  <a:gd name="T18" fmla="*/ 0 w 57"/>
                  <a:gd name="T19" fmla="*/ 0 h 32"/>
                  <a:gd name="T20" fmla="*/ 0 w 57"/>
                  <a:gd name="T21" fmla="*/ 0 h 32"/>
                  <a:gd name="T22" fmla="*/ 0 w 57"/>
                  <a:gd name="T23" fmla="*/ 0 h 32"/>
                  <a:gd name="T24" fmla="*/ 0 w 57"/>
                  <a:gd name="T25" fmla="*/ 0 h 32"/>
                  <a:gd name="T26" fmla="*/ 0 w 57"/>
                  <a:gd name="T27" fmla="*/ 0 h 32"/>
                  <a:gd name="T28" fmla="*/ 0 w 57"/>
                  <a:gd name="T29" fmla="*/ 0 h 32"/>
                  <a:gd name="T30" fmla="*/ 0 w 57"/>
                  <a:gd name="T31" fmla="*/ 0 h 32"/>
                  <a:gd name="T32" fmla="*/ 0 w 57"/>
                  <a:gd name="T33" fmla="*/ 0 h 32"/>
                  <a:gd name="T34" fmla="*/ 0 w 57"/>
                  <a:gd name="T35" fmla="*/ 0 h 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
                  <a:gd name="T55" fmla="*/ 0 h 32"/>
                  <a:gd name="T56" fmla="*/ 57 w 57"/>
                  <a:gd name="T57" fmla="*/ 32 h 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 h="32">
                    <a:moveTo>
                      <a:pt x="0" y="13"/>
                    </a:moveTo>
                    <a:lnTo>
                      <a:pt x="2" y="18"/>
                    </a:lnTo>
                    <a:lnTo>
                      <a:pt x="8" y="24"/>
                    </a:lnTo>
                    <a:lnTo>
                      <a:pt x="16" y="25"/>
                    </a:lnTo>
                    <a:lnTo>
                      <a:pt x="30" y="28"/>
                    </a:lnTo>
                    <a:lnTo>
                      <a:pt x="54" y="32"/>
                    </a:lnTo>
                    <a:lnTo>
                      <a:pt x="57" y="10"/>
                    </a:lnTo>
                    <a:lnTo>
                      <a:pt x="33" y="7"/>
                    </a:lnTo>
                    <a:lnTo>
                      <a:pt x="22" y="3"/>
                    </a:lnTo>
                    <a:lnTo>
                      <a:pt x="17" y="2"/>
                    </a:lnTo>
                    <a:lnTo>
                      <a:pt x="21" y="5"/>
                    </a:lnTo>
                    <a:lnTo>
                      <a:pt x="22" y="10"/>
                    </a:lnTo>
                    <a:lnTo>
                      <a:pt x="21" y="5"/>
                    </a:lnTo>
                    <a:lnTo>
                      <a:pt x="13" y="0"/>
                    </a:lnTo>
                    <a:lnTo>
                      <a:pt x="5" y="2"/>
                    </a:lnTo>
                    <a:lnTo>
                      <a:pt x="0" y="8"/>
                    </a:lnTo>
                    <a:lnTo>
                      <a:pt x="2" y="18"/>
                    </a:lnTo>
                    <a:lnTo>
                      <a:pt x="0" y="13"/>
                    </a:lnTo>
                    <a:close/>
                  </a:path>
                </a:pathLst>
              </a:custGeom>
              <a:solidFill>
                <a:srgbClr val="000000"/>
              </a:solidFill>
              <a:ln w="9525">
                <a:noFill/>
                <a:round/>
                <a:headEnd/>
                <a:tailEnd/>
              </a:ln>
            </p:spPr>
            <p:txBody>
              <a:bodyPr/>
              <a:lstStyle/>
              <a:p>
                <a:endParaRPr lang="en-US"/>
              </a:p>
            </p:txBody>
          </p:sp>
          <p:sp>
            <p:nvSpPr>
              <p:cNvPr id="25770" name="Freeform 133"/>
              <p:cNvSpPr>
                <a:spLocks/>
              </p:cNvSpPr>
              <p:nvPr/>
            </p:nvSpPr>
            <p:spPr bwMode="auto">
              <a:xfrm>
                <a:off x="1985" y="3754"/>
                <a:ext cx="18" cy="83"/>
              </a:xfrm>
              <a:custGeom>
                <a:avLst/>
                <a:gdLst>
                  <a:gd name="T0" fmla="*/ 0 w 36"/>
                  <a:gd name="T1" fmla="*/ 0 h 166"/>
                  <a:gd name="T2" fmla="*/ 0 w 36"/>
                  <a:gd name="T3" fmla="*/ 0 h 166"/>
                  <a:gd name="T4" fmla="*/ 0 w 36"/>
                  <a:gd name="T5" fmla="*/ 1 h 166"/>
                  <a:gd name="T6" fmla="*/ 1 w 36"/>
                  <a:gd name="T7" fmla="*/ 1 h 166"/>
                  <a:gd name="T8" fmla="*/ 1 w 36"/>
                  <a:gd name="T9" fmla="*/ 1 h 166"/>
                  <a:gd name="T10" fmla="*/ 1 w 36"/>
                  <a:gd name="T11" fmla="*/ 1 h 166"/>
                  <a:gd name="T12" fmla="*/ 1 w 36"/>
                  <a:gd name="T13" fmla="*/ 1 h 166"/>
                  <a:gd name="T14" fmla="*/ 1 w 36"/>
                  <a:gd name="T15" fmla="*/ 1 h 166"/>
                  <a:gd name="T16" fmla="*/ 1 w 36"/>
                  <a:gd name="T17" fmla="*/ 1 h 166"/>
                  <a:gd name="T18" fmla="*/ 1 w 36"/>
                  <a:gd name="T19" fmla="*/ 1 h 166"/>
                  <a:gd name="T20" fmla="*/ 1 w 36"/>
                  <a:gd name="T21" fmla="*/ 1 h 166"/>
                  <a:gd name="T22" fmla="*/ 1 w 36"/>
                  <a:gd name="T23" fmla="*/ 1 h 166"/>
                  <a:gd name="T24" fmla="*/ 1 w 36"/>
                  <a:gd name="T25" fmla="*/ 1 h 166"/>
                  <a:gd name="T26" fmla="*/ 1 w 36"/>
                  <a:gd name="T27" fmla="*/ 1 h 166"/>
                  <a:gd name="T28" fmla="*/ 1 w 36"/>
                  <a:gd name="T29" fmla="*/ 1 h 166"/>
                  <a:gd name="T30" fmla="*/ 1 w 36"/>
                  <a:gd name="T31" fmla="*/ 1 h 166"/>
                  <a:gd name="T32" fmla="*/ 1 w 36"/>
                  <a:gd name="T33" fmla="*/ 1 h 166"/>
                  <a:gd name="T34" fmla="*/ 1 w 36"/>
                  <a:gd name="T35" fmla="*/ 1 h 166"/>
                  <a:gd name="T36" fmla="*/ 1 w 36"/>
                  <a:gd name="T37" fmla="*/ 1 h 166"/>
                  <a:gd name="T38" fmla="*/ 1 w 36"/>
                  <a:gd name="T39" fmla="*/ 1 h 166"/>
                  <a:gd name="T40" fmla="*/ 0 w 36"/>
                  <a:gd name="T41" fmla="*/ 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6"/>
                  <a:gd name="T64" fmla="*/ 0 h 166"/>
                  <a:gd name="T65" fmla="*/ 36 w 36"/>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6" h="166">
                    <a:moveTo>
                      <a:pt x="0" y="0"/>
                    </a:moveTo>
                    <a:lnTo>
                      <a:pt x="0" y="0"/>
                    </a:lnTo>
                    <a:lnTo>
                      <a:pt x="0" y="19"/>
                    </a:lnTo>
                    <a:lnTo>
                      <a:pt x="2" y="42"/>
                    </a:lnTo>
                    <a:lnTo>
                      <a:pt x="3" y="70"/>
                    </a:lnTo>
                    <a:lnTo>
                      <a:pt x="6" y="99"/>
                    </a:lnTo>
                    <a:lnTo>
                      <a:pt x="10" y="124"/>
                    </a:lnTo>
                    <a:lnTo>
                      <a:pt x="11" y="145"/>
                    </a:lnTo>
                    <a:lnTo>
                      <a:pt x="14" y="160"/>
                    </a:lnTo>
                    <a:lnTo>
                      <a:pt x="14" y="166"/>
                    </a:lnTo>
                    <a:lnTo>
                      <a:pt x="36" y="163"/>
                    </a:lnTo>
                    <a:lnTo>
                      <a:pt x="36" y="156"/>
                    </a:lnTo>
                    <a:lnTo>
                      <a:pt x="33" y="142"/>
                    </a:lnTo>
                    <a:lnTo>
                      <a:pt x="31" y="120"/>
                    </a:lnTo>
                    <a:lnTo>
                      <a:pt x="28" y="95"/>
                    </a:lnTo>
                    <a:lnTo>
                      <a:pt x="25" y="67"/>
                    </a:lnTo>
                    <a:lnTo>
                      <a:pt x="24" y="42"/>
                    </a:lnTo>
                    <a:lnTo>
                      <a:pt x="22" y="19"/>
                    </a:lnTo>
                    <a:lnTo>
                      <a:pt x="22" y="3"/>
                    </a:lnTo>
                    <a:lnTo>
                      <a:pt x="0" y="0"/>
                    </a:lnTo>
                    <a:close/>
                  </a:path>
                </a:pathLst>
              </a:custGeom>
              <a:solidFill>
                <a:srgbClr val="000000"/>
              </a:solidFill>
              <a:ln w="9525">
                <a:noFill/>
                <a:round/>
                <a:headEnd/>
                <a:tailEnd/>
              </a:ln>
            </p:spPr>
            <p:txBody>
              <a:bodyPr/>
              <a:lstStyle/>
              <a:p>
                <a:endParaRPr lang="en-US"/>
              </a:p>
            </p:txBody>
          </p:sp>
          <p:sp>
            <p:nvSpPr>
              <p:cNvPr id="25771" name="Freeform 134"/>
              <p:cNvSpPr>
                <a:spLocks/>
              </p:cNvSpPr>
              <p:nvPr/>
            </p:nvSpPr>
            <p:spPr bwMode="auto">
              <a:xfrm>
                <a:off x="1985" y="3691"/>
                <a:ext cx="18" cy="65"/>
              </a:xfrm>
              <a:custGeom>
                <a:avLst/>
                <a:gdLst>
                  <a:gd name="T0" fmla="*/ 0 w 38"/>
                  <a:gd name="T1" fmla="*/ 0 h 130"/>
                  <a:gd name="T2" fmla="*/ 0 w 38"/>
                  <a:gd name="T3" fmla="*/ 0 h 130"/>
                  <a:gd name="T4" fmla="*/ 0 w 38"/>
                  <a:gd name="T5" fmla="*/ 1 h 130"/>
                  <a:gd name="T6" fmla="*/ 0 w 38"/>
                  <a:gd name="T7" fmla="*/ 1 h 130"/>
                  <a:gd name="T8" fmla="*/ 0 w 38"/>
                  <a:gd name="T9" fmla="*/ 1 h 130"/>
                  <a:gd name="T10" fmla="*/ 0 w 38"/>
                  <a:gd name="T11" fmla="*/ 1 h 130"/>
                  <a:gd name="T12" fmla="*/ 0 w 38"/>
                  <a:gd name="T13" fmla="*/ 1 h 130"/>
                  <a:gd name="T14" fmla="*/ 0 w 38"/>
                  <a:gd name="T15" fmla="*/ 1 h 130"/>
                  <a:gd name="T16" fmla="*/ 0 w 38"/>
                  <a:gd name="T17" fmla="*/ 1 h 130"/>
                  <a:gd name="T18" fmla="*/ 0 w 38"/>
                  <a:gd name="T19" fmla="*/ 1 h 130"/>
                  <a:gd name="T20" fmla="*/ 0 w 38"/>
                  <a:gd name="T21" fmla="*/ 1 h 130"/>
                  <a:gd name="T22" fmla="*/ 0 w 38"/>
                  <a:gd name="T23" fmla="*/ 1 h 130"/>
                  <a:gd name="T24" fmla="*/ 0 w 38"/>
                  <a:gd name="T25" fmla="*/ 1 h 130"/>
                  <a:gd name="T26" fmla="*/ 0 w 38"/>
                  <a:gd name="T27" fmla="*/ 1 h 130"/>
                  <a:gd name="T28" fmla="*/ 0 w 38"/>
                  <a:gd name="T29" fmla="*/ 1 h 130"/>
                  <a:gd name="T30" fmla="*/ 0 w 38"/>
                  <a:gd name="T31" fmla="*/ 1 h 130"/>
                  <a:gd name="T32" fmla="*/ 0 w 38"/>
                  <a:gd name="T33" fmla="*/ 1 h 130"/>
                  <a:gd name="T34" fmla="*/ 0 w 38"/>
                  <a:gd name="T35" fmla="*/ 1 h 130"/>
                  <a:gd name="T36" fmla="*/ 0 w 38"/>
                  <a:gd name="T37" fmla="*/ 1 h 130"/>
                  <a:gd name="T38" fmla="*/ 0 w 38"/>
                  <a:gd name="T39" fmla="*/ 1 h 130"/>
                  <a:gd name="T40" fmla="*/ 0 w 38"/>
                  <a:gd name="T41" fmla="*/ 0 h 1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8"/>
                  <a:gd name="T64" fmla="*/ 0 h 130"/>
                  <a:gd name="T65" fmla="*/ 38 w 38"/>
                  <a:gd name="T66" fmla="*/ 130 h 1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8" h="130">
                    <a:moveTo>
                      <a:pt x="25" y="0"/>
                    </a:moveTo>
                    <a:lnTo>
                      <a:pt x="25" y="0"/>
                    </a:lnTo>
                    <a:lnTo>
                      <a:pt x="13" y="13"/>
                    </a:lnTo>
                    <a:lnTo>
                      <a:pt x="5" y="28"/>
                    </a:lnTo>
                    <a:lnTo>
                      <a:pt x="2" y="46"/>
                    </a:lnTo>
                    <a:lnTo>
                      <a:pt x="0" y="63"/>
                    </a:lnTo>
                    <a:lnTo>
                      <a:pt x="0" y="80"/>
                    </a:lnTo>
                    <a:lnTo>
                      <a:pt x="0" y="97"/>
                    </a:lnTo>
                    <a:lnTo>
                      <a:pt x="0" y="114"/>
                    </a:lnTo>
                    <a:lnTo>
                      <a:pt x="0" y="127"/>
                    </a:lnTo>
                    <a:lnTo>
                      <a:pt x="22" y="130"/>
                    </a:lnTo>
                    <a:lnTo>
                      <a:pt x="22" y="114"/>
                    </a:lnTo>
                    <a:lnTo>
                      <a:pt x="22" y="97"/>
                    </a:lnTo>
                    <a:lnTo>
                      <a:pt x="22" y="80"/>
                    </a:lnTo>
                    <a:lnTo>
                      <a:pt x="22" y="63"/>
                    </a:lnTo>
                    <a:lnTo>
                      <a:pt x="24" y="49"/>
                    </a:lnTo>
                    <a:lnTo>
                      <a:pt x="27" y="35"/>
                    </a:lnTo>
                    <a:lnTo>
                      <a:pt x="31" y="25"/>
                    </a:lnTo>
                    <a:lnTo>
                      <a:pt x="38" y="19"/>
                    </a:lnTo>
                    <a:lnTo>
                      <a:pt x="25" y="0"/>
                    </a:lnTo>
                    <a:close/>
                  </a:path>
                </a:pathLst>
              </a:custGeom>
              <a:solidFill>
                <a:srgbClr val="000000"/>
              </a:solidFill>
              <a:ln w="9525">
                <a:noFill/>
                <a:round/>
                <a:headEnd/>
                <a:tailEnd/>
              </a:ln>
            </p:spPr>
            <p:txBody>
              <a:bodyPr/>
              <a:lstStyle/>
              <a:p>
                <a:endParaRPr lang="en-US"/>
              </a:p>
            </p:txBody>
          </p:sp>
          <p:sp>
            <p:nvSpPr>
              <p:cNvPr id="25772" name="Freeform 135"/>
              <p:cNvSpPr>
                <a:spLocks/>
              </p:cNvSpPr>
              <p:nvPr/>
            </p:nvSpPr>
            <p:spPr bwMode="auto">
              <a:xfrm>
                <a:off x="1997" y="3676"/>
                <a:ext cx="119" cy="24"/>
              </a:xfrm>
              <a:custGeom>
                <a:avLst/>
                <a:gdLst>
                  <a:gd name="T0" fmla="*/ 1 w 238"/>
                  <a:gd name="T1" fmla="*/ 1 h 48"/>
                  <a:gd name="T2" fmla="*/ 1 w 238"/>
                  <a:gd name="T3" fmla="*/ 1 h 48"/>
                  <a:gd name="T4" fmla="*/ 1 w 238"/>
                  <a:gd name="T5" fmla="*/ 1 h 48"/>
                  <a:gd name="T6" fmla="*/ 1 w 238"/>
                  <a:gd name="T7" fmla="*/ 0 h 48"/>
                  <a:gd name="T8" fmla="*/ 1 w 238"/>
                  <a:gd name="T9" fmla="*/ 0 h 48"/>
                  <a:gd name="T10" fmla="*/ 1 w 238"/>
                  <a:gd name="T11" fmla="*/ 1 h 48"/>
                  <a:gd name="T12" fmla="*/ 1 w 238"/>
                  <a:gd name="T13" fmla="*/ 1 h 48"/>
                  <a:gd name="T14" fmla="*/ 1 w 238"/>
                  <a:gd name="T15" fmla="*/ 1 h 48"/>
                  <a:gd name="T16" fmla="*/ 1 w 238"/>
                  <a:gd name="T17" fmla="*/ 1 h 48"/>
                  <a:gd name="T18" fmla="*/ 0 w 238"/>
                  <a:gd name="T19" fmla="*/ 1 h 48"/>
                  <a:gd name="T20" fmla="*/ 1 w 238"/>
                  <a:gd name="T21" fmla="*/ 1 h 48"/>
                  <a:gd name="T22" fmla="*/ 1 w 238"/>
                  <a:gd name="T23" fmla="*/ 1 h 48"/>
                  <a:gd name="T24" fmla="*/ 1 w 238"/>
                  <a:gd name="T25" fmla="*/ 1 h 48"/>
                  <a:gd name="T26" fmla="*/ 1 w 238"/>
                  <a:gd name="T27" fmla="*/ 1 h 48"/>
                  <a:gd name="T28" fmla="*/ 1 w 238"/>
                  <a:gd name="T29" fmla="*/ 1 h 48"/>
                  <a:gd name="T30" fmla="*/ 1 w 238"/>
                  <a:gd name="T31" fmla="*/ 1 h 48"/>
                  <a:gd name="T32" fmla="*/ 1 w 238"/>
                  <a:gd name="T33" fmla="*/ 1 h 48"/>
                  <a:gd name="T34" fmla="*/ 1 w 238"/>
                  <a:gd name="T35" fmla="*/ 1 h 48"/>
                  <a:gd name="T36" fmla="*/ 1 w 238"/>
                  <a:gd name="T37" fmla="*/ 1 h 48"/>
                  <a:gd name="T38" fmla="*/ 1 w 238"/>
                  <a:gd name="T39" fmla="*/ 1 h 48"/>
                  <a:gd name="T40" fmla="*/ 1 w 238"/>
                  <a:gd name="T41" fmla="*/ 1 h 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38"/>
                  <a:gd name="T64" fmla="*/ 0 h 48"/>
                  <a:gd name="T65" fmla="*/ 238 w 238"/>
                  <a:gd name="T66" fmla="*/ 48 h 4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38" h="48">
                    <a:moveTo>
                      <a:pt x="235" y="26"/>
                    </a:moveTo>
                    <a:lnTo>
                      <a:pt x="238" y="4"/>
                    </a:lnTo>
                    <a:lnTo>
                      <a:pt x="198" y="1"/>
                    </a:lnTo>
                    <a:lnTo>
                      <a:pt x="160" y="0"/>
                    </a:lnTo>
                    <a:lnTo>
                      <a:pt x="125" y="0"/>
                    </a:lnTo>
                    <a:lnTo>
                      <a:pt x="93" y="3"/>
                    </a:lnTo>
                    <a:lnTo>
                      <a:pt x="63" y="7"/>
                    </a:lnTo>
                    <a:lnTo>
                      <a:pt x="38" y="14"/>
                    </a:lnTo>
                    <a:lnTo>
                      <a:pt x="16" y="21"/>
                    </a:lnTo>
                    <a:lnTo>
                      <a:pt x="0" y="29"/>
                    </a:lnTo>
                    <a:lnTo>
                      <a:pt x="13" y="48"/>
                    </a:lnTo>
                    <a:lnTo>
                      <a:pt x="25" y="40"/>
                    </a:lnTo>
                    <a:lnTo>
                      <a:pt x="44" y="36"/>
                    </a:lnTo>
                    <a:lnTo>
                      <a:pt x="66" y="29"/>
                    </a:lnTo>
                    <a:lnTo>
                      <a:pt x="96" y="25"/>
                    </a:lnTo>
                    <a:lnTo>
                      <a:pt x="125" y="21"/>
                    </a:lnTo>
                    <a:lnTo>
                      <a:pt x="160" y="21"/>
                    </a:lnTo>
                    <a:lnTo>
                      <a:pt x="198" y="23"/>
                    </a:lnTo>
                    <a:lnTo>
                      <a:pt x="235" y="26"/>
                    </a:lnTo>
                    <a:lnTo>
                      <a:pt x="238" y="4"/>
                    </a:lnTo>
                    <a:lnTo>
                      <a:pt x="235" y="26"/>
                    </a:lnTo>
                    <a:close/>
                  </a:path>
                </a:pathLst>
              </a:custGeom>
              <a:solidFill>
                <a:srgbClr val="000000"/>
              </a:solidFill>
              <a:ln w="9525">
                <a:noFill/>
                <a:round/>
                <a:headEnd/>
                <a:tailEnd/>
              </a:ln>
            </p:spPr>
            <p:txBody>
              <a:bodyPr/>
              <a:lstStyle/>
              <a:p>
                <a:endParaRPr lang="en-US"/>
              </a:p>
            </p:txBody>
          </p:sp>
          <p:sp>
            <p:nvSpPr>
              <p:cNvPr id="25773" name="Freeform 136"/>
              <p:cNvSpPr>
                <a:spLocks/>
              </p:cNvSpPr>
              <p:nvPr/>
            </p:nvSpPr>
            <p:spPr bwMode="auto">
              <a:xfrm>
                <a:off x="2069" y="3676"/>
                <a:ext cx="47" cy="13"/>
              </a:xfrm>
              <a:custGeom>
                <a:avLst/>
                <a:gdLst>
                  <a:gd name="T0" fmla="*/ 0 w 94"/>
                  <a:gd name="T1" fmla="*/ 1 h 26"/>
                  <a:gd name="T2" fmla="*/ 0 w 94"/>
                  <a:gd name="T3" fmla="*/ 1 h 26"/>
                  <a:gd name="T4" fmla="*/ 1 w 94"/>
                  <a:gd name="T5" fmla="*/ 1 h 26"/>
                  <a:gd name="T6" fmla="*/ 1 w 94"/>
                  <a:gd name="T7" fmla="*/ 1 h 26"/>
                  <a:gd name="T8" fmla="*/ 1 w 94"/>
                  <a:gd name="T9" fmla="*/ 1 h 26"/>
                  <a:gd name="T10" fmla="*/ 1 w 94"/>
                  <a:gd name="T11" fmla="*/ 1 h 26"/>
                  <a:gd name="T12" fmla="*/ 1 w 94"/>
                  <a:gd name="T13" fmla="*/ 1 h 26"/>
                  <a:gd name="T14" fmla="*/ 1 w 94"/>
                  <a:gd name="T15" fmla="*/ 1 h 26"/>
                  <a:gd name="T16" fmla="*/ 1 w 94"/>
                  <a:gd name="T17" fmla="*/ 1 h 26"/>
                  <a:gd name="T18" fmla="*/ 1 w 94"/>
                  <a:gd name="T19" fmla="*/ 1 h 26"/>
                  <a:gd name="T20" fmla="*/ 1 w 94"/>
                  <a:gd name="T21" fmla="*/ 1 h 26"/>
                  <a:gd name="T22" fmla="*/ 1 w 94"/>
                  <a:gd name="T23" fmla="*/ 1 h 26"/>
                  <a:gd name="T24" fmla="*/ 1 w 94"/>
                  <a:gd name="T25" fmla="*/ 1 h 26"/>
                  <a:gd name="T26" fmla="*/ 1 w 94"/>
                  <a:gd name="T27" fmla="*/ 1 h 26"/>
                  <a:gd name="T28" fmla="*/ 1 w 94"/>
                  <a:gd name="T29" fmla="*/ 1 h 26"/>
                  <a:gd name="T30" fmla="*/ 1 w 94"/>
                  <a:gd name="T31" fmla="*/ 1 h 26"/>
                  <a:gd name="T32" fmla="*/ 1 w 94"/>
                  <a:gd name="T33" fmla="*/ 0 h 26"/>
                  <a:gd name="T34" fmla="*/ 1 w 94"/>
                  <a:gd name="T35" fmla="*/ 0 h 26"/>
                  <a:gd name="T36" fmla="*/ 0 w 94"/>
                  <a:gd name="T37" fmla="*/ 0 h 26"/>
                  <a:gd name="T38" fmla="*/ 0 w 94"/>
                  <a:gd name="T39" fmla="*/ 0 h 26"/>
                  <a:gd name="T40" fmla="*/ 0 w 94"/>
                  <a:gd name="T41" fmla="*/ 1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26"/>
                  <a:gd name="T65" fmla="*/ 94 w 94"/>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26">
                    <a:moveTo>
                      <a:pt x="0" y="21"/>
                    </a:moveTo>
                    <a:lnTo>
                      <a:pt x="0" y="21"/>
                    </a:lnTo>
                    <a:lnTo>
                      <a:pt x="16" y="21"/>
                    </a:lnTo>
                    <a:lnTo>
                      <a:pt x="32" y="21"/>
                    </a:lnTo>
                    <a:lnTo>
                      <a:pt x="47" y="23"/>
                    </a:lnTo>
                    <a:lnTo>
                      <a:pt x="61" y="23"/>
                    </a:lnTo>
                    <a:lnTo>
                      <a:pt x="74" y="25"/>
                    </a:lnTo>
                    <a:lnTo>
                      <a:pt x="82" y="25"/>
                    </a:lnTo>
                    <a:lnTo>
                      <a:pt x="88" y="26"/>
                    </a:lnTo>
                    <a:lnTo>
                      <a:pt x="91" y="26"/>
                    </a:lnTo>
                    <a:lnTo>
                      <a:pt x="94" y="4"/>
                    </a:lnTo>
                    <a:lnTo>
                      <a:pt x="91" y="4"/>
                    </a:lnTo>
                    <a:lnTo>
                      <a:pt x="85" y="3"/>
                    </a:lnTo>
                    <a:lnTo>
                      <a:pt x="74" y="3"/>
                    </a:lnTo>
                    <a:lnTo>
                      <a:pt x="61" y="1"/>
                    </a:lnTo>
                    <a:lnTo>
                      <a:pt x="47" y="1"/>
                    </a:lnTo>
                    <a:lnTo>
                      <a:pt x="32" y="0"/>
                    </a:lnTo>
                    <a:lnTo>
                      <a:pt x="16" y="0"/>
                    </a:lnTo>
                    <a:lnTo>
                      <a:pt x="0" y="0"/>
                    </a:lnTo>
                    <a:lnTo>
                      <a:pt x="0" y="21"/>
                    </a:lnTo>
                    <a:close/>
                  </a:path>
                </a:pathLst>
              </a:custGeom>
              <a:solidFill>
                <a:srgbClr val="000000"/>
              </a:solidFill>
              <a:ln w="9525">
                <a:noFill/>
                <a:round/>
                <a:headEnd/>
                <a:tailEnd/>
              </a:ln>
            </p:spPr>
            <p:txBody>
              <a:bodyPr/>
              <a:lstStyle/>
              <a:p>
                <a:endParaRPr lang="en-US"/>
              </a:p>
            </p:txBody>
          </p:sp>
          <p:sp>
            <p:nvSpPr>
              <p:cNvPr id="25774" name="Freeform 137"/>
              <p:cNvSpPr>
                <a:spLocks/>
              </p:cNvSpPr>
              <p:nvPr/>
            </p:nvSpPr>
            <p:spPr bwMode="auto">
              <a:xfrm>
                <a:off x="2043" y="3676"/>
                <a:ext cx="26" cy="12"/>
              </a:xfrm>
              <a:custGeom>
                <a:avLst/>
                <a:gdLst>
                  <a:gd name="T0" fmla="*/ 0 w 53"/>
                  <a:gd name="T1" fmla="*/ 0 h 25"/>
                  <a:gd name="T2" fmla="*/ 0 w 53"/>
                  <a:gd name="T3" fmla="*/ 0 h 25"/>
                  <a:gd name="T4" fmla="*/ 0 w 53"/>
                  <a:gd name="T5" fmla="*/ 0 h 25"/>
                  <a:gd name="T6" fmla="*/ 0 w 53"/>
                  <a:gd name="T7" fmla="*/ 0 h 25"/>
                  <a:gd name="T8" fmla="*/ 0 w 53"/>
                  <a:gd name="T9" fmla="*/ 0 h 25"/>
                  <a:gd name="T10" fmla="*/ 0 w 53"/>
                  <a:gd name="T11" fmla="*/ 0 h 25"/>
                  <a:gd name="T12" fmla="*/ 0 w 53"/>
                  <a:gd name="T13" fmla="*/ 0 h 25"/>
                  <a:gd name="T14" fmla="*/ 0 w 53"/>
                  <a:gd name="T15" fmla="*/ 0 h 25"/>
                  <a:gd name="T16" fmla="*/ 0 w 53"/>
                  <a:gd name="T17" fmla="*/ 0 h 25"/>
                  <a:gd name="T18" fmla="*/ 0 w 53"/>
                  <a:gd name="T19" fmla="*/ 0 h 25"/>
                  <a:gd name="T20" fmla="*/ 0 w 53"/>
                  <a:gd name="T21" fmla="*/ 0 h 25"/>
                  <a:gd name="T22" fmla="*/ 0 w 53"/>
                  <a:gd name="T23" fmla="*/ 0 h 25"/>
                  <a:gd name="T24" fmla="*/ 0 w 53"/>
                  <a:gd name="T25" fmla="*/ 0 h 25"/>
                  <a:gd name="T26" fmla="*/ 0 w 53"/>
                  <a:gd name="T27" fmla="*/ 0 h 25"/>
                  <a:gd name="T28" fmla="*/ 0 w 53"/>
                  <a:gd name="T29" fmla="*/ 0 h 25"/>
                  <a:gd name="T30" fmla="*/ 0 w 53"/>
                  <a:gd name="T31" fmla="*/ 0 h 25"/>
                  <a:gd name="T32" fmla="*/ 0 w 53"/>
                  <a:gd name="T33" fmla="*/ 0 h 25"/>
                  <a:gd name="T34" fmla="*/ 0 w 53"/>
                  <a:gd name="T35" fmla="*/ 0 h 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3"/>
                  <a:gd name="T55" fmla="*/ 0 h 25"/>
                  <a:gd name="T56" fmla="*/ 53 w 53"/>
                  <a:gd name="T57" fmla="*/ 25 h 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3" h="25">
                    <a:moveTo>
                      <a:pt x="0" y="17"/>
                    </a:moveTo>
                    <a:lnTo>
                      <a:pt x="19" y="21"/>
                    </a:lnTo>
                    <a:lnTo>
                      <a:pt x="16" y="25"/>
                    </a:lnTo>
                    <a:lnTo>
                      <a:pt x="19" y="23"/>
                    </a:lnTo>
                    <a:lnTo>
                      <a:pt x="30" y="21"/>
                    </a:lnTo>
                    <a:lnTo>
                      <a:pt x="53" y="21"/>
                    </a:lnTo>
                    <a:lnTo>
                      <a:pt x="53" y="0"/>
                    </a:lnTo>
                    <a:lnTo>
                      <a:pt x="30" y="0"/>
                    </a:lnTo>
                    <a:lnTo>
                      <a:pt x="16" y="1"/>
                    </a:lnTo>
                    <a:lnTo>
                      <a:pt x="9" y="3"/>
                    </a:lnTo>
                    <a:lnTo>
                      <a:pt x="3" y="6"/>
                    </a:lnTo>
                    <a:lnTo>
                      <a:pt x="22" y="10"/>
                    </a:lnTo>
                    <a:lnTo>
                      <a:pt x="3" y="6"/>
                    </a:lnTo>
                    <a:lnTo>
                      <a:pt x="0" y="14"/>
                    </a:lnTo>
                    <a:lnTo>
                      <a:pt x="5" y="20"/>
                    </a:lnTo>
                    <a:lnTo>
                      <a:pt x="11" y="25"/>
                    </a:lnTo>
                    <a:lnTo>
                      <a:pt x="19" y="21"/>
                    </a:lnTo>
                    <a:lnTo>
                      <a:pt x="0" y="17"/>
                    </a:lnTo>
                    <a:close/>
                  </a:path>
                </a:pathLst>
              </a:custGeom>
              <a:solidFill>
                <a:srgbClr val="000000"/>
              </a:solidFill>
              <a:ln w="9525">
                <a:noFill/>
                <a:round/>
                <a:headEnd/>
                <a:tailEnd/>
              </a:ln>
            </p:spPr>
            <p:txBody>
              <a:bodyPr/>
              <a:lstStyle/>
              <a:p>
                <a:endParaRPr lang="en-US"/>
              </a:p>
            </p:txBody>
          </p:sp>
          <p:sp>
            <p:nvSpPr>
              <p:cNvPr id="25775" name="Freeform 138"/>
              <p:cNvSpPr>
                <a:spLocks/>
              </p:cNvSpPr>
              <p:nvPr/>
            </p:nvSpPr>
            <p:spPr bwMode="auto">
              <a:xfrm>
                <a:off x="2041" y="3671"/>
                <a:ext cx="12" cy="13"/>
              </a:xfrm>
              <a:custGeom>
                <a:avLst/>
                <a:gdLst>
                  <a:gd name="T0" fmla="*/ 0 w 25"/>
                  <a:gd name="T1" fmla="*/ 0 h 27"/>
                  <a:gd name="T2" fmla="*/ 0 w 25"/>
                  <a:gd name="T3" fmla="*/ 0 h 27"/>
                  <a:gd name="T4" fmla="*/ 0 w 25"/>
                  <a:gd name="T5" fmla="*/ 0 h 27"/>
                  <a:gd name="T6" fmla="*/ 0 w 25"/>
                  <a:gd name="T7" fmla="*/ 0 h 27"/>
                  <a:gd name="T8" fmla="*/ 0 w 25"/>
                  <a:gd name="T9" fmla="*/ 0 h 27"/>
                  <a:gd name="T10" fmla="*/ 0 w 25"/>
                  <a:gd name="T11" fmla="*/ 0 h 27"/>
                  <a:gd name="T12" fmla="*/ 0 w 25"/>
                  <a:gd name="T13" fmla="*/ 0 h 27"/>
                  <a:gd name="T14" fmla="*/ 0 w 25"/>
                  <a:gd name="T15" fmla="*/ 0 h 27"/>
                  <a:gd name="T16" fmla="*/ 0 w 25"/>
                  <a:gd name="T17" fmla="*/ 0 h 27"/>
                  <a:gd name="T18" fmla="*/ 0 w 25"/>
                  <a:gd name="T19" fmla="*/ 0 h 27"/>
                  <a:gd name="T20" fmla="*/ 0 w 25"/>
                  <a:gd name="T21" fmla="*/ 0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27"/>
                  <a:gd name="T35" fmla="*/ 25 w 25"/>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27">
                    <a:moveTo>
                      <a:pt x="0" y="14"/>
                    </a:moveTo>
                    <a:lnTo>
                      <a:pt x="0" y="14"/>
                    </a:lnTo>
                    <a:lnTo>
                      <a:pt x="3" y="27"/>
                    </a:lnTo>
                    <a:lnTo>
                      <a:pt x="25" y="20"/>
                    </a:lnTo>
                    <a:lnTo>
                      <a:pt x="22" y="8"/>
                    </a:lnTo>
                    <a:lnTo>
                      <a:pt x="17" y="2"/>
                    </a:lnTo>
                    <a:lnTo>
                      <a:pt x="9" y="0"/>
                    </a:lnTo>
                    <a:lnTo>
                      <a:pt x="1" y="5"/>
                    </a:lnTo>
                    <a:lnTo>
                      <a:pt x="0" y="14"/>
                    </a:lnTo>
                    <a:close/>
                  </a:path>
                </a:pathLst>
              </a:custGeom>
              <a:solidFill>
                <a:srgbClr val="000000"/>
              </a:solidFill>
              <a:ln w="9525">
                <a:noFill/>
                <a:round/>
                <a:headEnd/>
                <a:tailEnd/>
              </a:ln>
            </p:spPr>
            <p:txBody>
              <a:bodyPr/>
              <a:lstStyle/>
              <a:p>
                <a:endParaRPr lang="en-US"/>
              </a:p>
            </p:txBody>
          </p:sp>
          <p:sp>
            <p:nvSpPr>
              <p:cNvPr id="25776" name="Freeform 139"/>
              <p:cNvSpPr>
                <a:spLocks/>
              </p:cNvSpPr>
              <p:nvPr/>
            </p:nvSpPr>
            <p:spPr bwMode="auto">
              <a:xfrm>
                <a:off x="2041" y="3660"/>
                <a:ext cx="18" cy="18"/>
              </a:xfrm>
              <a:custGeom>
                <a:avLst/>
                <a:gdLst>
                  <a:gd name="T0" fmla="*/ 1 w 36"/>
                  <a:gd name="T1" fmla="*/ 0 h 36"/>
                  <a:gd name="T2" fmla="*/ 1 w 36"/>
                  <a:gd name="T3" fmla="*/ 0 h 36"/>
                  <a:gd name="T4" fmla="*/ 1 w 36"/>
                  <a:gd name="T5" fmla="*/ 1 h 36"/>
                  <a:gd name="T6" fmla="*/ 1 w 36"/>
                  <a:gd name="T7" fmla="*/ 1 h 36"/>
                  <a:gd name="T8" fmla="*/ 0 w 36"/>
                  <a:gd name="T9" fmla="*/ 1 h 36"/>
                  <a:gd name="T10" fmla="*/ 0 w 36"/>
                  <a:gd name="T11" fmla="*/ 1 h 36"/>
                  <a:gd name="T12" fmla="*/ 1 w 36"/>
                  <a:gd name="T13" fmla="*/ 1 h 36"/>
                  <a:gd name="T14" fmla="*/ 1 w 36"/>
                  <a:gd name="T15" fmla="*/ 1 h 36"/>
                  <a:gd name="T16" fmla="*/ 1 w 36"/>
                  <a:gd name="T17" fmla="*/ 1 h 36"/>
                  <a:gd name="T18" fmla="*/ 1 w 36"/>
                  <a:gd name="T19" fmla="*/ 1 h 36"/>
                  <a:gd name="T20" fmla="*/ 1 w 36"/>
                  <a:gd name="T21" fmla="*/ 1 h 36"/>
                  <a:gd name="T22" fmla="*/ 1 w 36"/>
                  <a:gd name="T23" fmla="*/ 1 h 36"/>
                  <a:gd name="T24" fmla="*/ 1 w 36"/>
                  <a:gd name="T25" fmla="*/ 0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
                  <a:gd name="T40" fmla="*/ 0 h 36"/>
                  <a:gd name="T41" fmla="*/ 36 w 36"/>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 h="36">
                    <a:moveTo>
                      <a:pt x="30" y="0"/>
                    </a:moveTo>
                    <a:lnTo>
                      <a:pt x="30" y="0"/>
                    </a:lnTo>
                    <a:lnTo>
                      <a:pt x="12" y="8"/>
                    </a:lnTo>
                    <a:lnTo>
                      <a:pt x="3" y="21"/>
                    </a:lnTo>
                    <a:lnTo>
                      <a:pt x="0" y="30"/>
                    </a:lnTo>
                    <a:lnTo>
                      <a:pt x="0" y="36"/>
                    </a:lnTo>
                    <a:lnTo>
                      <a:pt x="22" y="30"/>
                    </a:lnTo>
                    <a:lnTo>
                      <a:pt x="22" y="33"/>
                    </a:lnTo>
                    <a:lnTo>
                      <a:pt x="22" y="30"/>
                    </a:lnTo>
                    <a:lnTo>
                      <a:pt x="25" y="27"/>
                    </a:lnTo>
                    <a:lnTo>
                      <a:pt x="36" y="22"/>
                    </a:lnTo>
                    <a:lnTo>
                      <a:pt x="30" y="0"/>
                    </a:lnTo>
                    <a:close/>
                  </a:path>
                </a:pathLst>
              </a:custGeom>
              <a:solidFill>
                <a:srgbClr val="000000"/>
              </a:solidFill>
              <a:ln w="9525">
                <a:noFill/>
                <a:round/>
                <a:headEnd/>
                <a:tailEnd/>
              </a:ln>
            </p:spPr>
            <p:txBody>
              <a:bodyPr/>
              <a:lstStyle/>
              <a:p>
                <a:endParaRPr lang="en-US"/>
              </a:p>
            </p:txBody>
          </p:sp>
          <p:sp>
            <p:nvSpPr>
              <p:cNvPr id="25777" name="Freeform 140"/>
              <p:cNvSpPr>
                <a:spLocks/>
              </p:cNvSpPr>
              <p:nvPr/>
            </p:nvSpPr>
            <p:spPr bwMode="auto">
              <a:xfrm>
                <a:off x="2056" y="3649"/>
                <a:ext cx="80" cy="22"/>
              </a:xfrm>
              <a:custGeom>
                <a:avLst/>
                <a:gdLst>
                  <a:gd name="T0" fmla="*/ 0 w 161"/>
                  <a:gd name="T1" fmla="*/ 0 h 44"/>
                  <a:gd name="T2" fmla="*/ 0 w 161"/>
                  <a:gd name="T3" fmla="*/ 0 h 44"/>
                  <a:gd name="T4" fmla="*/ 0 w 161"/>
                  <a:gd name="T5" fmla="*/ 1 h 44"/>
                  <a:gd name="T6" fmla="*/ 0 w 161"/>
                  <a:gd name="T7" fmla="*/ 1 h 44"/>
                  <a:gd name="T8" fmla="*/ 0 w 161"/>
                  <a:gd name="T9" fmla="*/ 1 h 44"/>
                  <a:gd name="T10" fmla="*/ 0 w 161"/>
                  <a:gd name="T11" fmla="*/ 1 h 44"/>
                  <a:gd name="T12" fmla="*/ 0 w 161"/>
                  <a:gd name="T13" fmla="*/ 1 h 44"/>
                  <a:gd name="T14" fmla="*/ 0 w 161"/>
                  <a:gd name="T15" fmla="*/ 1 h 44"/>
                  <a:gd name="T16" fmla="*/ 0 w 161"/>
                  <a:gd name="T17" fmla="*/ 1 h 44"/>
                  <a:gd name="T18" fmla="*/ 0 w 161"/>
                  <a:gd name="T19" fmla="*/ 1 h 44"/>
                  <a:gd name="T20" fmla="*/ 0 w 161"/>
                  <a:gd name="T21" fmla="*/ 1 h 44"/>
                  <a:gd name="T22" fmla="*/ 0 w 161"/>
                  <a:gd name="T23" fmla="*/ 1 h 44"/>
                  <a:gd name="T24" fmla="*/ 0 w 161"/>
                  <a:gd name="T25" fmla="*/ 1 h 44"/>
                  <a:gd name="T26" fmla="*/ 0 w 161"/>
                  <a:gd name="T27" fmla="*/ 1 h 44"/>
                  <a:gd name="T28" fmla="*/ 0 w 161"/>
                  <a:gd name="T29" fmla="*/ 1 h 44"/>
                  <a:gd name="T30" fmla="*/ 0 w 161"/>
                  <a:gd name="T31" fmla="*/ 1 h 44"/>
                  <a:gd name="T32" fmla="*/ 0 w 161"/>
                  <a:gd name="T33" fmla="*/ 1 h 44"/>
                  <a:gd name="T34" fmla="*/ 0 w 161"/>
                  <a:gd name="T35" fmla="*/ 1 h 44"/>
                  <a:gd name="T36" fmla="*/ 0 w 161"/>
                  <a:gd name="T37" fmla="*/ 0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1"/>
                  <a:gd name="T58" fmla="*/ 0 h 44"/>
                  <a:gd name="T59" fmla="*/ 161 w 161"/>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1" h="44">
                    <a:moveTo>
                      <a:pt x="161" y="0"/>
                    </a:moveTo>
                    <a:lnTo>
                      <a:pt x="148" y="0"/>
                    </a:lnTo>
                    <a:lnTo>
                      <a:pt x="130" y="2"/>
                    </a:lnTo>
                    <a:lnTo>
                      <a:pt x="108" y="5"/>
                    </a:lnTo>
                    <a:lnTo>
                      <a:pt x="83" y="8"/>
                    </a:lnTo>
                    <a:lnTo>
                      <a:pt x="58" y="11"/>
                    </a:lnTo>
                    <a:lnTo>
                      <a:pt x="34" y="16"/>
                    </a:lnTo>
                    <a:lnTo>
                      <a:pt x="15" y="19"/>
                    </a:lnTo>
                    <a:lnTo>
                      <a:pt x="0" y="22"/>
                    </a:lnTo>
                    <a:lnTo>
                      <a:pt x="6" y="44"/>
                    </a:lnTo>
                    <a:lnTo>
                      <a:pt x="18" y="41"/>
                    </a:lnTo>
                    <a:lnTo>
                      <a:pt x="37" y="38"/>
                    </a:lnTo>
                    <a:lnTo>
                      <a:pt x="61" y="33"/>
                    </a:lnTo>
                    <a:lnTo>
                      <a:pt x="86" y="30"/>
                    </a:lnTo>
                    <a:lnTo>
                      <a:pt x="111" y="27"/>
                    </a:lnTo>
                    <a:lnTo>
                      <a:pt x="133" y="24"/>
                    </a:lnTo>
                    <a:lnTo>
                      <a:pt x="148" y="22"/>
                    </a:lnTo>
                    <a:lnTo>
                      <a:pt x="158" y="22"/>
                    </a:lnTo>
                    <a:lnTo>
                      <a:pt x="161" y="0"/>
                    </a:lnTo>
                    <a:close/>
                  </a:path>
                </a:pathLst>
              </a:custGeom>
              <a:solidFill>
                <a:srgbClr val="000000"/>
              </a:solidFill>
              <a:ln w="9525">
                <a:noFill/>
                <a:round/>
                <a:headEnd/>
                <a:tailEnd/>
              </a:ln>
            </p:spPr>
            <p:txBody>
              <a:bodyPr/>
              <a:lstStyle/>
              <a:p>
                <a:endParaRPr lang="en-US"/>
              </a:p>
            </p:txBody>
          </p:sp>
          <p:sp>
            <p:nvSpPr>
              <p:cNvPr id="25778" name="Freeform 141"/>
              <p:cNvSpPr>
                <a:spLocks/>
              </p:cNvSpPr>
              <p:nvPr/>
            </p:nvSpPr>
            <p:spPr bwMode="auto">
              <a:xfrm>
                <a:off x="2160" y="3770"/>
                <a:ext cx="21" cy="68"/>
              </a:xfrm>
              <a:custGeom>
                <a:avLst/>
                <a:gdLst>
                  <a:gd name="T0" fmla="*/ 0 w 42"/>
                  <a:gd name="T1" fmla="*/ 0 h 138"/>
                  <a:gd name="T2" fmla="*/ 0 w 42"/>
                  <a:gd name="T3" fmla="*/ 0 h 138"/>
                  <a:gd name="T4" fmla="*/ 0 w 42"/>
                  <a:gd name="T5" fmla="*/ 0 h 138"/>
                  <a:gd name="T6" fmla="*/ 1 w 42"/>
                  <a:gd name="T7" fmla="*/ 0 h 138"/>
                  <a:gd name="T8" fmla="*/ 1 w 42"/>
                  <a:gd name="T9" fmla="*/ 0 h 138"/>
                  <a:gd name="T10" fmla="*/ 1 w 42"/>
                  <a:gd name="T11" fmla="*/ 0 h 138"/>
                  <a:gd name="T12" fmla="*/ 1 w 42"/>
                  <a:gd name="T13" fmla="*/ 0 h 138"/>
                  <a:gd name="T14" fmla="*/ 1 w 42"/>
                  <a:gd name="T15" fmla="*/ 0 h 138"/>
                  <a:gd name="T16" fmla="*/ 1 w 42"/>
                  <a:gd name="T17" fmla="*/ 0 h 138"/>
                  <a:gd name="T18" fmla="*/ 1 w 42"/>
                  <a:gd name="T19" fmla="*/ 0 h 138"/>
                  <a:gd name="T20" fmla="*/ 1 w 42"/>
                  <a:gd name="T21" fmla="*/ 0 h 138"/>
                  <a:gd name="T22" fmla="*/ 0 w 42"/>
                  <a:gd name="T23" fmla="*/ 0 h 1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138"/>
                  <a:gd name="T38" fmla="*/ 42 w 42"/>
                  <a:gd name="T39" fmla="*/ 138 h 1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138">
                    <a:moveTo>
                      <a:pt x="0" y="2"/>
                    </a:moveTo>
                    <a:lnTo>
                      <a:pt x="0" y="121"/>
                    </a:lnTo>
                    <a:lnTo>
                      <a:pt x="0" y="124"/>
                    </a:lnTo>
                    <a:lnTo>
                      <a:pt x="3" y="129"/>
                    </a:lnTo>
                    <a:lnTo>
                      <a:pt x="9" y="135"/>
                    </a:lnTo>
                    <a:lnTo>
                      <a:pt x="22" y="138"/>
                    </a:lnTo>
                    <a:lnTo>
                      <a:pt x="34" y="135"/>
                    </a:lnTo>
                    <a:lnTo>
                      <a:pt x="41" y="129"/>
                    </a:lnTo>
                    <a:lnTo>
                      <a:pt x="42" y="121"/>
                    </a:lnTo>
                    <a:lnTo>
                      <a:pt x="42" y="118"/>
                    </a:lnTo>
                    <a:lnTo>
                      <a:pt x="42" y="0"/>
                    </a:lnTo>
                    <a:lnTo>
                      <a:pt x="0" y="2"/>
                    </a:lnTo>
                    <a:close/>
                  </a:path>
                </a:pathLst>
              </a:custGeom>
              <a:solidFill>
                <a:srgbClr val="FF7226"/>
              </a:solidFill>
              <a:ln w="9525">
                <a:noFill/>
                <a:round/>
                <a:headEnd/>
                <a:tailEnd/>
              </a:ln>
            </p:spPr>
            <p:txBody>
              <a:bodyPr/>
              <a:lstStyle/>
              <a:p>
                <a:endParaRPr lang="en-US"/>
              </a:p>
            </p:txBody>
          </p:sp>
          <p:sp>
            <p:nvSpPr>
              <p:cNvPr id="25779" name="Freeform 142"/>
              <p:cNvSpPr>
                <a:spLocks/>
              </p:cNvSpPr>
              <p:nvPr/>
            </p:nvSpPr>
            <p:spPr bwMode="auto">
              <a:xfrm>
                <a:off x="2154" y="3770"/>
                <a:ext cx="11" cy="65"/>
              </a:xfrm>
              <a:custGeom>
                <a:avLst/>
                <a:gdLst>
                  <a:gd name="T0" fmla="*/ 1 w 22"/>
                  <a:gd name="T1" fmla="*/ 1 h 130"/>
                  <a:gd name="T2" fmla="*/ 1 w 22"/>
                  <a:gd name="T3" fmla="*/ 1 h 130"/>
                  <a:gd name="T4" fmla="*/ 1 w 22"/>
                  <a:gd name="T5" fmla="*/ 0 h 130"/>
                  <a:gd name="T6" fmla="*/ 0 w 22"/>
                  <a:gd name="T7" fmla="*/ 0 h 130"/>
                  <a:gd name="T8" fmla="*/ 0 w 22"/>
                  <a:gd name="T9" fmla="*/ 1 h 130"/>
                  <a:gd name="T10" fmla="*/ 0 w 22"/>
                  <a:gd name="T11" fmla="*/ 1 h 130"/>
                  <a:gd name="T12" fmla="*/ 0 w 22"/>
                  <a:gd name="T13" fmla="*/ 1 h 130"/>
                  <a:gd name="T14" fmla="*/ 1 w 22"/>
                  <a:gd name="T15" fmla="*/ 1 h 130"/>
                  <a:gd name="T16" fmla="*/ 1 w 22"/>
                  <a:gd name="T17" fmla="*/ 1 h 130"/>
                  <a:gd name="T18" fmla="*/ 1 w 22"/>
                  <a:gd name="T19" fmla="*/ 1 h 130"/>
                  <a:gd name="T20" fmla="*/ 1 w 22"/>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
                  <a:gd name="T34" fmla="*/ 0 h 130"/>
                  <a:gd name="T35" fmla="*/ 22 w 22"/>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 h="130">
                    <a:moveTo>
                      <a:pt x="22" y="119"/>
                    </a:moveTo>
                    <a:lnTo>
                      <a:pt x="22" y="119"/>
                    </a:lnTo>
                    <a:lnTo>
                      <a:pt x="22" y="0"/>
                    </a:lnTo>
                    <a:lnTo>
                      <a:pt x="0" y="0"/>
                    </a:lnTo>
                    <a:lnTo>
                      <a:pt x="0" y="119"/>
                    </a:lnTo>
                    <a:lnTo>
                      <a:pt x="3" y="127"/>
                    </a:lnTo>
                    <a:lnTo>
                      <a:pt x="11" y="130"/>
                    </a:lnTo>
                    <a:lnTo>
                      <a:pt x="19" y="127"/>
                    </a:lnTo>
                    <a:lnTo>
                      <a:pt x="22" y="119"/>
                    </a:lnTo>
                    <a:close/>
                  </a:path>
                </a:pathLst>
              </a:custGeom>
              <a:solidFill>
                <a:srgbClr val="000000"/>
              </a:solidFill>
              <a:ln w="9525">
                <a:noFill/>
                <a:round/>
                <a:headEnd/>
                <a:tailEnd/>
              </a:ln>
            </p:spPr>
            <p:txBody>
              <a:bodyPr/>
              <a:lstStyle/>
              <a:p>
                <a:endParaRPr lang="en-US"/>
              </a:p>
            </p:txBody>
          </p:sp>
          <p:sp>
            <p:nvSpPr>
              <p:cNvPr id="25780" name="Freeform 143"/>
              <p:cNvSpPr>
                <a:spLocks/>
              </p:cNvSpPr>
              <p:nvPr/>
            </p:nvSpPr>
            <p:spPr bwMode="auto">
              <a:xfrm>
                <a:off x="2154" y="3829"/>
                <a:ext cx="17" cy="15"/>
              </a:xfrm>
              <a:custGeom>
                <a:avLst/>
                <a:gdLst>
                  <a:gd name="T0" fmla="*/ 1 w 33"/>
                  <a:gd name="T1" fmla="*/ 1 h 30"/>
                  <a:gd name="T2" fmla="*/ 1 w 33"/>
                  <a:gd name="T3" fmla="*/ 1 h 30"/>
                  <a:gd name="T4" fmla="*/ 1 w 33"/>
                  <a:gd name="T5" fmla="*/ 1 h 30"/>
                  <a:gd name="T6" fmla="*/ 1 w 33"/>
                  <a:gd name="T7" fmla="*/ 1 h 30"/>
                  <a:gd name="T8" fmla="*/ 1 w 33"/>
                  <a:gd name="T9" fmla="*/ 0 h 30"/>
                  <a:gd name="T10" fmla="*/ 1 w 33"/>
                  <a:gd name="T11" fmla="*/ 1 h 30"/>
                  <a:gd name="T12" fmla="*/ 0 w 33"/>
                  <a:gd name="T13" fmla="*/ 1 h 30"/>
                  <a:gd name="T14" fmla="*/ 0 w 33"/>
                  <a:gd name="T15" fmla="*/ 1 h 30"/>
                  <a:gd name="T16" fmla="*/ 1 w 33"/>
                  <a:gd name="T17" fmla="*/ 1 h 30"/>
                  <a:gd name="T18" fmla="*/ 1 w 33"/>
                  <a:gd name="T19" fmla="*/ 1 h 30"/>
                  <a:gd name="T20" fmla="*/ 1 w 33"/>
                  <a:gd name="T21" fmla="*/ 1 h 30"/>
                  <a:gd name="T22" fmla="*/ 1 w 33"/>
                  <a:gd name="T23" fmla="*/ 1 h 30"/>
                  <a:gd name="T24" fmla="*/ 1 w 33"/>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0"/>
                  <a:gd name="T41" fmla="*/ 33 w 33"/>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0">
                    <a:moveTo>
                      <a:pt x="33" y="8"/>
                    </a:moveTo>
                    <a:lnTo>
                      <a:pt x="33" y="8"/>
                    </a:lnTo>
                    <a:lnTo>
                      <a:pt x="25" y="6"/>
                    </a:lnTo>
                    <a:lnTo>
                      <a:pt x="22" y="2"/>
                    </a:lnTo>
                    <a:lnTo>
                      <a:pt x="22" y="0"/>
                    </a:lnTo>
                    <a:lnTo>
                      <a:pt x="22" y="2"/>
                    </a:lnTo>
                    <a:lnTo>
                      <a:pt x="0" y="2"/>
                    </a:lnTo>
                    <a:lnTo>
                      <a:pt x="0" y="10"/>
                    </a:lnTo>
                    <a:lnTo>
                      <a:pt x="6" y="17"/>
                    </a:lnTo>
                    <a:lnTo>
                      <a:pt x="16" y="25"/>
                    </a:lnTo>
                    <a:lnTo>
                      <a:pt x="33" y="30"/>
                    </a:lnTo>
                    <a:lnTo>
                      <a:pt x="33" y="8"/>
                    </a:lnTo>
                    <a:close/>
                  </a:path>
                </a:pathLst>
              </a:custGeom>
              <a:solidFill>
                <a:srgbClr val="000000"/>
              </a:solidFill>
              <a:ln w="9525">
                <a:noFill/>
                <a:round/>
                <a:headEnd/>
                <a:tailEnd/>
              </a:ln>
            </p:spPr>
            <p:txBody>
              <a:bodyPr/>
              <a:lstStyle/>
              <a:p>
                <a:endParaRPr lang="en-US"/>
              </a:p>
            </p:txBody>
          </p:sp>
          <p:sp>
            <p:nvSpPr>
              <p:cNvPr id="25781" name="Freeform 144"/>
              <p:cNvSpPr>
                <a:spLocks/>
              </p:cNvSpPr>
              <p:nvPr/>
            </p:nvSpPr>
            <p:spPr bwMode="auto">
              <a:xfrm>
                <a:off x="2171" y="3823"/>
                <a:ext cx="16" cy="21"/>
              </a:xfrm>
              <a:custGeom>
                <a:avLst/>
                <a:gdLst>
                  <a:gd name="T0" fmla="*/ 1 w 31"/>
                  <a:gd name="T1" fmla="*/ 1 h 42"/>
                  <a:gd name="T2" fmla="*/ 1 w 31"/>
                  <a:gd name="T3" fmla="*/ 1 h 42"/>
                  <a:gd name="T4" fmla="*/ 1 w 31"/>
                  <a:gd name="T5" fmla="*/ 1 h 42"/>
                  <a:gd name="T6" fmla="*/ 1 w 31"/>
                  <a:gd name="T7" fmla="*/ 1 h 42"/>
                  <a:gd name="T8" fmla="*/ 1 w 31"/>
                  <a:gd name="T9" fmla="*/ 1 h 42"/>
                  <a:gd name="T10" fmla="*/ 0 w 31"/>
                  <a:gd name="T11" fmla="*/ 1 h 42"/>
                  <a:gd name="T12" fmla="*/ 0 w 31"/>
                  <a:gd name="T13" fmla="*/ 1 h 42"/>
                  <a:gd name="T14" fmla="*/ 1 w 31"/>
                  <a:gd name="T15" fmla="*/ 1 h 42"/>
                  <a:gd name="T16" fmla="*/ 1 w 31"/>
                  <a:gd name="T17" fmla="*/ 1 h 42"/>
                  <a:gd name="T18" fmla="*/ 1 w 31"/>
                  <a:gd name="T19" fmla="*/ 1 h 42"/>
                  <a:gd name="T20" fmla="*/ 1 w 31"/>
                  <a:gd name="T21" fmla="*/ 1 h 42"/>
                  <a:gd name="T22" fmla="*/ 1 w 31"/>
                  <a:gd name="T23" fmla="*/ 1 h 42"/>
                  <a:gd name="T24" fmla="*/ 1 w 31"/>
                  <a:gd name="T25" fmla="*/ 1 h 42"/>
                  <a:gd name="T26" fmla="*/ 1 w 31"/>
                  <a:gd name="T27" fmla="*/ 1 h 42"/>
                  <a:gd name="T28" fmla="*/ 1 w 31"/>
                  <a:gd name="T29" fmla="*/ 0 h 42"/>
                  <a:gd name="T30" fmla="*/ 1 w 31"/>
                  <a:gd name="T31" fmla="*/ 1 h 42"/>
                  <a:gd name="T32" fmla="*/ 1 w 31"/>
                  <a:gd name="T33" fmla="*/ 1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42"/>
                  <a:gd name="T53" fmla="*/ 31 w 31"/>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42">
                    <a:moveTo>
                      <a:pt x="9" y="11"/>
                    </a:moveTo>
                    <a:lnTo>
                      <a:pt x="9" y="11"/>
                    </a:lnTo>
                    <a:lnTo>
                      <a:pt x="9" y="12"/>
                    </a:lnTo>
                    <a:lnTo>
                      <a:pt x="9" y="17"/>
                    </a:lnTo>
                    <a:lnTo>
                      <a:pt x="8" y="18"/>
                    </a:lnTo>
                    <a:lnTo>
                      <a:pt x="0" y="20"/>
                    </a:lnTo>
                    <a:lnTo>
                      <a:pt x="0" y="42"/>
                    </a:lnTo>
                    <a:lnTo>
                      <a:pt x="17" y="37"/>
                    </a:lnTo>
                    <a:lnTo>
                      <a:pt x="28" y="26"/>
                    </a:lnTo>
                    <a:lnTo>
                      <a:pt x="31" y="15"/>
                    </a:lnTo>
                    <a:lnTo>
                      <a:pt x="31" y="11"/>
                    </a:lnTo>
                    <a:lnTo>
                      <a:pt x="28" y="3"/>
                    </a:lnTo>
                    <a:lnTo>
                      <a:pt x="20" y="0"/>
                    </a:lnTo>
                    <a:lnTo>
                      <a:pt x="12" y="3"/>
                    </a:lnTo>
                    <a:lnTo>
                      <a:pt x="9" y="11"/>
                    </a:lnTo>
                    <a:close/>
                  </a:path>
                </a:pathLst>
              </a:custGeom>
              <a:solidFill>
                <a:srgbClr val="000000"/>
              </a:solidFill>
              <a:ln w="9525">
                <a:noFill/>
                <a:round/>
                <a:headEnd/>
                <a:tailEnd/>
              </a:ln>
            </p:spPr>
            <p:txBody>
              <a:bodyPr/>
              <a:lstStyle/>
              <a:p>
                <a:endParaRPr lang="en-US"/>
              </a:p>
            </p:txBody>
          </p:sp>
          <p:sp>
            <p:nvSpPr>
              <p:cNvPr id="25782" name="Freeform 145"/>
              <p:cNvSpPr>
                <a:spLocks/>
              </p:cNvSpPr>
              <p:nvPr/>
            </p:nvSpPr>
            <p:spPr bwMode="auto">
              <a:xfrm>
                <a:off x="2176" y="3764"/>
                <a:ext cx="11" cy="64"/>
              </a:xfrm>
              <a:custGeom>
                <a:avLst/>
                <a:gdLst>
                  <a:gd name="T0" fmla="*/ 1 w 22"/>
                  <a:gd name="T1" fmla="*/ 0 h 129"/>
                  <a:gd name="T2" fmla="*/ 0 w 22"/>
                  <a:gd name="T3" fmla="*/ 0 h 129"/>
                  <a:gd name="T4" fmla="*/ 0 w 22"/>
                  <a:gd name="T5" fmla="*/ 0 h 129"/>
                  <a:gd name="T6" fmla="*/ 1 w 22"/>
                  <a:gd name="T7" fmla="*/ 0 h 129"/>
                  <a:gd name="T8" fmla="*/ 1 w 22"/>
                  <a:gd name="T9" fmla="*/ 0 h 129"/>
                  <a:gd name="T10" fmla="*/ 1 w 22"/>
                  <a:gd name="T11" fmla="*/ 0 h 129"/>
                  <a:gd name="T12" fmla="*/ 1 w 22"/>
                  <a:gd name="T13" fmla="*/ 0 h 129"/>
                  <a:gd name="T14" fmla="*/ 1 w 22"/>
                  <a:gd name="T15" fmla="*/ 0 h 129"/>
                  <a:gd name="T16" fmla="*/ 1 w 22"/>
                  <a:gd name="T17" fmla="*/ 0 h 129"/>
                  <a:gd name="T18" fmla="*/ 1 w 22"/>
                  <a:gd name="T19" fmla="*/ 0 h 129"/>
                  <a:gd name="T20" fmla="*/ 0 w 22"/>
                  <a:gd name="T21" fmla="*/ 0 h 129"/>
                  <a:gd name="T22" fmla="*/ 1 w 22"/>
                  <a:gd name="T23" fmla="*/ 0 h 1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29"/>
                  <a:gd name="T38" fmla="*/ 22 w 22"/>
                  <a:gd name="T39" fmla="*/ 129 h 1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29">
                    <a:moveTo>
                      <a:pt x="11" y="22"/>
                    </a:moveTo>
                    <a:lnTo>
                      <a:pt x="0" y="11"/>
                    </a:lnTo>
                    <a:lnTo>
                      <a:pt x="0" y="129"/>
                    </a:lnTo>
                    <a:lnTo>
                      <a:pt x="22" y="129"/>
                    </a:lnTo>
                    <a:lnTo>
                      <a:pt x="22" y="11"/>
                    </a:lnTo>
                    <a:lnTo>
                      <a:pt x="11" y="0"/>
                    </a:lnTo>
                    <a:lnTo>
                      <a:pt x="22" y="11"/>
                    </a:lnTo>
                    <a:lnTo>
                      <a:pt x="19" y="3"/>
                    </a:lnTo>
                    <a:lnTo>
                      <a:pt x="11" y="0"/>
                    </a:lnTo>
                    <a:lnTo>
                      <a:pt x="3" y="3"/>
                    </a:lnTo>
                    <a:lnTo>
                      <a:pt x="0" y="11"/>
                    </a:lnTo>
                    <a:lnTo>
                      <a:pt x="11" y="22"/>
                    </a:lnTo>
                    <a:close/>
                  </a:path>
                </a:pathLst>
              </a:custGeom>
              <a:solidFill>
                <a:srgbClr val="000000"/>
              </a:solidFill>
              <a:ln w="9525">
                <a:noFill/>
                <a:round/>
                <a:headEnd/>
                <a:tailEnd/>
              </a:ln>
            </p:spPr>
            <p:txBody>
              <a:bodyPr/>
              <a:lstStyle/>
              <a:p>
                <a:endParaRPr lang="en-US"/>
              </a:p>
            </p:txBody>
          </p:sp>
          <p:sp>
            <p:nvSpPr>
              <p:cNvPr id="25783" name="Freeform 146"/>
              <p:cNvSpPr>
                <a:spLocks/>
              </p:cNvSpPr>
              <p:nvPr/>
            </p:nvSpPr>
            <p:spPr bwMode="auto">
              <a:xfrm>
                <a:off x="2154" y="3764"/>
                <a:ext cx="27" cy="12"/>
              </a:xfrm>
              <a:custGeom>
                <a:avLst/>
                <a:gdLst>
                  <a:gd name="T0" fmla="*/ 1 w 53"/>
                  <a:gd name="T1" fmla="*/ 1 h 24"/>
                  <a:gd name="T2" fmla="*/ 1 w 53"/>
                  <a:gd name="T3" fmla="*/ 1 h 24"/>
                  <a:gd name="T4" fmla="*/ 1 w 53"/>
                  <a:gd name="T5" fmla="*/ 1 h 24"/>
                  <a:gd name="T6" fmla="*/ 1 w 53"/>
                  <a:gd name="T7" fmla="*/ 0 h 24"/>
                  <a:gd name="T8" fmla="*/ 1 w 53"/>
                  <a:gd name="T9" fmla="*/ 1 h 24"/>
                  <a:gd name="T10" fmla="*/ 0 w 53"/>
                  <a:gd name="T11" fmla="*/ 1 h 24"/>
                  <a:gd name="T12" fmla="*/ 1 w 53"/>
                  <a:gd name="T13" fmla="*/ 1 h 24"/>
                  <a:gd name="T14" fmla="*/ 1 w 53"/>
                  <a:gd name="T15" fmla="*/ 1 h 24"/>
                  <a:gd name="T16" fmla="*/ 0 w 53"/>
                  <a:gd name="T17" fmla="*/ 1 h 24"/>
                  <a:gd name="T18" fmla="*/ 1 w 53"/>
                  <a:gd name="T19" fmla="*/ 1 h 24"/>
                  <a:gd name="T20" fmla="*/ 1 w 53"/>
                  <a:gd name="T21" fmla="*/ 1 h 24"/>
                  <a:gd name="T22" fmla="*/ 1 w 53"/>
                  <a:gd name="T23" fmla="*/ 1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
                  <a:gd name="T37" fmla="*/ 0 h 24"/>
                  <a:gd name="T38" fmla="*/ 53 w 53"/>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 h="24">
                    <a:moveTo>
                      <a:pt x="22" y="13"/>
                    </a:moveTo>
                    <a:lnTo>
                      <a:pt x="11" y="24"/>
                    </a:lnTo>
                    <a:lnTo>
                      <a:pt x="53" y="22"/>
                    </a:lnTo>
                    <a:lnTo>
                      <a:pt x="53" y="0"/>
                    </a:lnTo>
                    <a:lnTo>
                      <a:pt x="11" y="2"/>
                    </a:lnTo>
                    <a:lnTo>
                      <a:pt x="0" y="13"/>
                    </a:lnTo>
                    <a:lnTo>
                      <a:pt x="11" y="2"/>
                    </a:lnTo>
                    <a:lnTo>
                      <a:pt x="3" y="5"/>
                    </a:lnTo>
                    <a:lnTo>
                      <a:pt x="0" y="13"/>
                    </a:lnTo>
                    <a:lnTo>
                      <a:pt x="3" y="21"/>
                    </a:lnTo>
                    <a:lnTo>
                      <a:pt x="11" y="24"/>
                    </a:lnTo>
                    <a:lnTo>
                      <a:pt x="22" y="13"/>
                    </a:lnTo>
                    <a:close/>
                  </a:path>
                </a:pathLst>
              </a:custGeom>
              <a:solidFill>
                <a:srgbClr val="000000"/>
              </a:solidFill>
              <a:ln w="9525">
                <a:noFill/>
                <a:round/>
                <a:headEnd/>
                <a:tailEnd/>
              </a:ln>
            </p:spPr>
            <p:txBody>
              <a:bodyPr/>
              <a:lstStyle/>
              <a:p>
                <a:endParaRPr lang="en-US"/>
              </a:p>
            </p:txBody>
          </p:sp>
          <p:sp>
            <p:nvSpPr>
              <p:cNvPr id="25784" name="Freeform 147"/>
              <p:cNvSpPr>
                <a:spLocks/>
              </p:cNvSpPr>
              <p:nvPr/>
            </p:nvSpPr>
            <p:spPr bwMode="auto">
              <a:xfrm>
                <a:off x="2168" y="3561"/>
                <a:ext cx="105" cy="191"/>
              </a:xfrm>
              <a:custGeom>
                <a:avLst/>
                <a:gdLst>
                  <a:gd name="T0" fmla="*/ 0 w 211"/>
                  <a:gd name="T1" fmla="*/ 1 h 381"/>
                  <a:gd name="T2" fmla="*/ 0 w 211"/>
                  <a:gd name="T3" fmla="*/ 1 h 381"/>
                  <a:gd name="T4" fmla="*/ 0 w 211"/>
                  <a:gd name="T5" fmla="*/ 1 h 381"/>
                  <a:gd name="T6" fmla="*/ 0 w 211"/>
                  <a:gd name="T7" fmla="*/ 1 h 381"/>
                  <a:gd name="T8" fmla="*/ 0 w 211"/>
                  <a:gd name="T9" fmla="*/ 1 h 381"/>
                  <a:gd name="T10" fmla="*/ 0 w 211"/>
                  <a:gd name="T11" fmla="*/ 1 h 381"/>
                  <a:gd name="T12" fmla="*/ 0 w 211"/>
                  <a:gd name="T13" fmla="*/ 1 h 381"/>
                  <a:gd name="T14" fmla="*/ 0 w 211"/>
                  <a:gd name="T15" fmla="*/ 1 h 381"/>
                  <a:gd name="T16" fmla="*/ 0 w 211"/>
                  <a:gd name="T17" fmla="*/ 1 h 381"/>
                  <a:gd name="T18" fmla="*/ 0 w 211"/>
                  <a:gd name="T19" fmla="*/ 1 h 381"/>
                  <a:gd name="T20" fmla="*/ 0 w 211"/>
                  <a:gd name="T21" fmla="*/ 1 h 381"/>
                  <a:gd name="T22" fmla="*/ 0 w 211"/>
                  <a:gd name="T23" fmla="*/ 1 h 381"/>
                  <a:gd name="T24" fmla="*/ 0 w 211"/>
                  <a:gd name="T25" fmla="*/ 1 h 381"/>
                  <a:gd name="T26" fmla="*/ 0 w 211"/>
                  <a:gd name="T27" fmla="*/ 1 h 381"/>
                  <a:gd name="T28" fmla="*/ 0 w 211"/>
                  <a:gd name="T29" fmla="*/ 1 h 381"/>
                  <a:gd name="T30" fmla="*/ 0 w 211"/>
                  <a:gd name="T31" fmla="*/ 1 h 381"/>
                  <a:gd name="T32" fmla="*/ 0 w 211"/>
                  <a:gd name="T33" fmla="*/ 1 h 381"/>
                  <a:gd name="T34" fmla="*/ 0 w 211"/>
                  <a:gd name="T35" fmla="*/ 1 h 381"/>
                  <a:gd name="T36" fmla="*/ 0 w 211"/>
                  <a:gd name="T37" fmla="*/ 1 h 381"/>
                  <a:gd name="T38" fmla="*/ 0 w 211"/>
                  <a:gd name="T39" fmla="*/ 1 h 381"/>
                  <a:gd name="T40" fmla="*/ 0 w 211"/>
                  <a:gd name="T41" fmla="*/ 1 h 381"/>
                  <a:gd name="T42" fmla="*/ 0 w 211"/>
                  <a:gd name="T43" fmla="*/ 1 h 381"/>
                  <a:gd name="T44" fmla="*/ 0 w 211"/>
                  <a:gd name="T45" fmla="*/ 1 h 381"/>
                  <a:gd name="T46" fmla="*/ 0 w 211"/>
                  <a:gd name="T47" fmla="*/ 1 h 381"/>
                  <a:gd name="T48" fmla="*/ 0 w 211"/>
                  <a:gd name="T49" fmla="*/ 1 h 381"/>
                  <a:gd name="T50" fmla="*/ 0 w 211"/>
                  <a:gd name="T51" fmla="*/ 1 h 381"/>
                  <a:gd name="T52" fmla="*/ 0 w 211"/>
                  <a:gd name="T53" fmla="*/ 1 h 381"/>
                  <a:gd name="T54" fmla="*/ 0 w 211"/>
                  <a:gd name="T55" fmla="*/ 1 h 381"/>
                  <a:gd name="T56" fmla="*/ 0 w 211"/>
                  <a:gd name="T57" fmla="*/ 1 h 381"/>
                  <a:gd name="T58" fmla="*/ 0 w 211"/>
                  <a:gd name="T59" fmla="*/ 1 h 381"/>
                  <a:gd name="T60" fmla="*/ 0 w 211"/>
                  <a:gd name="T61" fmla="*/ 1 h 381"/>
                  <a:gd name="T62" fmla="*/ 0 w 211"/>
                  <a:gd name="T63" fmla="*/ 1 h 38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381"/>
                  <a:gd name="T98" fmla="*/ 211 w 211"/>
                  <a:gd name="T99" fmla="*/ 381 h 38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381">
                    <a:moveTo>
                      <a:pt x="114" y="359"/>
                    </a:moveTo>
                    <a:lnTo>
                      <a:pt x="122" y="356"/>
                    </a:lnTo>
                    <a:lnTo>
                      <a:pt x="131" y="348"/>
                    </a:lnTo>
                    <a:lnTo>
                      <a:pt x="145" y="337"/>
                    </a:lnTo>
                    <a:lnTo>
                      <a:pt x="161" y="319"/>
                    </a:lnTo>
                    <a:lnTo>
                      <a:pt x="175" y="294"/>
                    </a:lnTo>
                    <a:lnTo>
                      <a:pt x="189" y="259"/>
                    </a:lnTo>
                    <a:lnTo>
                      <a:pt x="198" y="214"/>
                    </a:lnTo>
                    <a:lnTo>
                      <a:pt x="206" y="156"/>
                    </a:lnTo>
                    <a:lnTo>
                      <a:pt x="209" y="101"/>
                    </a:lnTo>
                    <a:lnTo>
                      <a:pt x="211" y="62"/>
                    </a:lnTo>
                    <a:lnTo>
                      <a:pt x="211" y="36"/>
                    </a:lnTo>
                    <a:lnTo>
                      <a:pt x="211" y="20"/>
                    </a:lnTo>
                    <a:lnTo>
                      <a:pt x="211" y="12"/>
                    </a:lnTo>
                    <a:lnTo>
                      <a:pt x="209" y="9"/>
                    </a:lnTo>
                    <a:lnTo>
                      <a:pt x="208" y="10"/>
                    </a:lnTo>
                    <a:lnTo>
                      <a:pt x="206" y="9"/>
                    </a:lnTo>
                    <a:lnTo>
                      <a:pt x="205" y="4"/>
                    </a:lnTo>
                    <a:lnTo>
                      <a:pt x="200" y="1"/>
                    </a:lnTo>
                    <a:lnTo>
                      <a:pt x="194" y="0"/>
                    </a:lnTo>
                    <a:lnTo>
                      <a:pt x="187" y="1"/>
                    </a:lnTo>
                    <a:lnTo>
                      <a:pt x="181" y="4"/>
                    </a:lnTo>
                    <a:lnTo>
                      <a:pt x="175" y="7"/>
                    </a:lnTo>
                    <a:lnTo>
                      <a:pt x="170" y="12"/>
                    </a:lnTo>
                    <a:lnTo>
                      <a:pt x="167" y="18"/>
                    </a:lnTo>
                    <a:lnTo>
                      <a:pt x="159" y="26"/>
                    </a:lnTo>
                    <a:lnTo>
                      <a:pt x="148" y="36"/>
                    </a:lnTo>
                    <a:lnTo>
                      <a:pt x="133" y="45"/>
                    </a:lnTo>
                    <a:lnTo>
                      <a:pt x="123" y="48"/>
                    </a:lnTo>
                    <a:lnTo>
                      <a:pt x="112" y="53"/>
                    </a:lnTo>
                    <a:lnTo>
                      <a:pt x="101" y="56"/>
                    </a:lnTo>
                    <a:lnTo>
                      <a:pt x="90" y="59"/>
                    </a:lnTo>
                    <a:lnTo>
                      <a:pt x="79" y="62"/>
                    </a:lnTo>
                    <a:lnTo>
                      <a:pt x="70" y="65"/>
                    </a:lnTo>
                    <a:lnTo>
                      <a:pt x="62" y="67"/>
                    </a:lnTo>
                    <a:lnTo>
                      <a:pt x="57" y="68"/>
                    </a:lnTo>
                    <a:lnTo>
                      <a:pt x="51" y="70"/>
                    </a:lnTo>
                    <a:lnTo>
                      <a:pt x="47" y="73"/>
                    </a:lnTo>
                    <a:lnTo>
                      <a:pt x="43" y="75"/>
                    </a:lnTo>
                    <a:lnTo>
                      <a:pt x="40" y="78"/>
                    </a:lnTo>
                    <a:lnTo>
                      <a:pt x="36" y="86"/>
                    </a:lnTo>
                    <a:lnTo>
                      <a:pt x="28" y="100"/>
                    </a:lnTo>
                    <a:lnTo>
                      <a:pt x="21" y="120"/>
                    </a:lnTo>
                    <a:lnTo>
                      <a:pt x="14" y="143"/>
                    </a:lnTo>
                    <a:lnTo>
                      <a:pt x="7" y="169"/>
                    </a:lnTo>
                    <a:lnTo>
                      <a:pt x="3" y="194"/>
                    </a:lnTo>
                    <a:lnTo>
                      <a:pt x="0" y="215"/>
                    </a:lnTo>
                    <a:lnTo>
                      <a:pt x="0" y="234"/>
                    </a:lnTo>
                    <a:lnTo>
                      <a:pt x="1" y="251"/>
                    </a:lnTo>
                    <a:lnTo>
                      <a:pt x="4" y="273"/>
                    </a:lnTo>
                    <a:lnTo>
                      <a:pt x="7" y="297"/>
                    </a:lnTo>
                    <a:lnTo>
                      <a:pt x="11" y="322"/>
                    </a:lnTo>
                    <a:lnTo>
                      <a:pt x="15" y="344"/>
                    </a:lnTo>
                    <a:lnTo>
                      <a:pt x="20" y="363"/>
                    </a:lnTo>
                    <a:lnTo>
                      <a:pt x="26" y="375"/>
                    </a:lnTo>
                    <a:lnTo>
                      <a:pt x="31" y="381"/>
                    </a:lnTo>
                    <a:lnTo>
                      <a:pt x="37" y="381"/>
                    </a:lnTo>
                    <a:lnTo>
                      <a:pt x="47" y="381"/>
                    </a:lnTo>
                    <a:lnTo>
                      <a:pt x="59" y="378"/>
                    </a:lnTo>
                    <a:lnTo>
                      <a:pt x="72" y="375"/>
                    </a:lnTo>
                    <a:lnTo>
                      <a:pt x="86" y="370"/>
                    </a:lnTo>
                    <a:lnTo>
                      <a:pt x="98" y="367"/>
                    </a:lnTo>
                    <a:lnTo>
                      <a:pt x="108" y="363"/>
                    </a:lnTo>
                    <a:lnTo>
                      <a:pt x="114" y="359"/>
                    </a:lnTo>
                    <a:close/>
                  </a:path>
                </a:pathLst>
              </a:custGeom>
              <a:solidFill>
                <a:srgbClr val="FF7226"/>
              </a:solidFill>
              <a:ln w="9525">
                <a:noFill/>
                <a:round/>
                <a:headEnd/>
                <a:tailEnd/>
              </a:ln>
            </p:spPr>
            <p:txBody>
              <a:bodyPr/>
              <a:lstStyle/>
              <a:p>
                <a:endParaRPr lang="en-US"/>
              </a:p>
            </p:txBody>
          </p:sp>
          <p:sp>
            <p:nvSpPr>
              <p:cNvPr id="25785" name="Freeform 148"/>
              <p:cNvSpPr>
                <a:spLocks/>
              </p:cNvSpPr>
              <p:nvPr/>
            </p:nvSpPr>
            <p:spPr bwMode="auto">
              <a:xfrm>
                <a:off x="2223" y="3639"/>
                <a:ext cx="54" cy="106"/>
              </a:xfrm>
              <a:custGeom>
                <a:avLst/>
                <a:gdLst>
                  <a:gd name="T0" fmla="*/ 1 w 108"/>
                  <a:gd name="T1" fmla="*/ 0 h 213"/>
                  <a:gd name="T2" fmla="*/ 1 w 108"/>
                  <a:gd name="T3" fmla="*/ 0 h 213"/>
                  <a:gd name="T4" fmla="*/ 1 w 108"/>
                  <a:gd name="T5" fmla="*/ 0 h 213"/>
                  <a:gd name="T6" fmla="*/ 1 w 108"/>
                  <a:gd name="T7" fmla="*/ 0 h 213"/>
                  <a:gd name="T8" fmla="*/ 1 w 108"/>
                  <a:gd name="T9" fmla="*/ 0 h 213"/>
                  <a:gd name="T10" fmla="*/ 1 w 108"/>
                  <a:gd name="T11" fmla="*/ 0 h 213"/>
                  <a:gd name="T12" fmla="*/ 1 w 108"/>
                  <a:gd name="T13" fmla="*/ 0 h 213"/>
                  <a:gd name="T14" fmla="*/ 1 w 108"/>
                  <a:gd name="T15" fmla="*/ 0 h 213"/>
                  <a:gd name="T16" fmla="*/ 1 w 108"/>
                  <a:gd name="T17" fmla="*/ 0 h 213"/>
                  <a:gd name="T18" fmla="*/ 0 w 108"/>
                  <a:gd name="T19" fmla="*/ 0 h 213"/>
                  <a:gd name="T20" fmla="*/ 1 w 108"/>
                  <a:gd name="T21" fmla="*/ 0 h 213"/>
                  <a:gd name="T22" fmla="*/ 1 w 108"/>
                  <a:gd name="T23" fmla="*/ 0 h 213"/>
                  <a:gd name="T24" fmla="*/ 1 w 108"/>
                  <a:gd name="T25" fmla="*/ 0 h 213"/>
                  <a:gd name="T26" fmla="*/ 1 w 108"/>
                  <a:gd name="T27" fmla="*/ 0 h 213"/>
                  <a:gd name="T28" fmla="*/ 1 w 108"/>
                  <a:gd name="T29" fmla="*/ 0 h 213"/>
                  <a:gd name="T30" fmla="*/ 1 w 108"/>
                  <a:gd name="T31" fmla="*/ 0 h 213"/>
                  <a:gd name="T32" fmla="*/ 1 w 108"/>
                  <a:gd name="T33" fmla="*/ 0 h 213"/>
                  <a:gd name="T34" fmla="*/ 1 w 108"/>
                  <a:gd name="T35" fmla="*/ 0 h 213"/>
                  <a:gd name="T36" fmla="*/ 1 w 108"/>
                  <a:gd name="T37" fmla="*/ 0 h 213"/>
                  <a:gd name="T38" fmla="*/ 1 w 108"/>
                  <a:gd name="T39" fmla="*/ 0 h 213"/>
                  <a:gd name="T40" fmla="*/ 1 w 108"/>
                  <a:gd name="T41" fmla="*/ 0 h 2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8"/>
                  <a:gd name="T64" fmla="*/ 0 h 213"/>
                  <a:gd name="T65" fmla="*/ 108 w 108"/>
                  <a:gd name="T66" fmla="*/ 213 h 21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8" h="213">
                    <a:moveTo>
                      <a:pt x="86" y="0"/>
                    </a:moveTo>
                    <a:lnTo>
                      <a:pt x="86" y="0"/>
                    </a:lnTo>
                    <a:lnTo>
                      <a:pt x="78" y="56"/>
                    </a:lnTo>
                    <a:lnTo>
                      <a:pt x="69" y="100"/>
                    </a:lnTo>
                    <a:lnTo>
                      <a:pt x="57" y="133"/>
                    </a:lnTo>
                    <a:lnTo>
                      <a:pt x="42" y="156"/>
                    </a:lnTo>
                    <a:lnTo>
                      <a:pt x="28" y="174"/>
                    </a:lnTo>
                    <a:lnTo>
                      <a:pt x="16" y="185"/>
                    </a:lnTo>
                    <a:lnTo>
                      <a:pt x="6" y="191"/>
                    </a:lnTo>
                    <a:lnTo>
                      <a:pt x="0" y="194"/>
                    </a:lnTo>
                    <a:lnTo>
                      <a:pt x="10" y="213"/>
                    </a:lnTo>
                    <a:lnTo>
                      <a:pt x="19" y="210"/>
                    </a:lnTo>
                    <a:lnTo>
                      <a:pt x="28" y="200"/>
                    </a:lnTo>
                    <a:lnTo>
                      <a:pt x="44" y="189"/>
                    </a:lnTo>
                    <a:lnTo>
                      <a:pt x="61" y="169"/>
                    </a:lnTo>
                    <a:lnTo>
                      <a:pt x="75" y="142"/>
                    </a:lnTo>
                    <a:lnTo>
                      <a:pt x="91" y="106"/>
                    </a:lnTo>
                    <a:lnTo>
                      <a:pt x="100" y="59"/>
                    </a:lnTo>
                    <a:lnTo>
                      <a:pt x="108" y="0"/>
                    </a:lnTo>
                    <a:lnTo>
                      <a:pt x="86" y="0"/>
                    </a:lnTo>
                    <a:close/>
                  </a:path>
                </a:pathLst>
              </a:custGeom>
              <a:solidFill>
                <a:srgbClr val="000000"/>
              </a:solidFill>
              <a:ln w="9525">
                <a:noFill/>
                <a:round/>
                <a:headEnd/>
                <a:tailEnd/>
              </a:ln>
            </p:spPr>
            <p:txBody>
              <a:bodyPr/>
              <a:lstStyle/>
              <a:p>
                <a:endParaRPr lang="en-US"/>
              </a:p>
            </p:txBody>
          </p:sp>
          <p:sp>
            <p:nvSpPr>
              <p:cNvPr id="25786" name="Freeform 149"/>
              <p:cNvSpPr>
                <a:spLocks/>
              </p:cNvSpPr>
              <p:nvPr/>
            </p:nvSpPr>
            <p:spPr bwMode="auto">
              <a:xfrm>
                <a:off x="2266" y="3561"/>
                <a:ext cx="13" cy="78"/>
              </a:xfrm>
              <a:custGeom>
                <a:avLst/>
                <a:gdLst>
                  <a:gd name="T0" fmla="*/ 0 w 27"/>
                  <a:gd name="T1" fmla="*/ 1 h 156"/>
                  <a:gd name="T2" fmla="*/ 0 w 27"/>
                  <a:gd name="T3" fmla="*/ 1 h 156"/>
                  <a:gd name="T4" fmla="*/ 0 w 27"/>
                  <a:gd name="T5" fmla="*/ 1 h 156"/>
                  <a:gd name="T6" fmla="*/ 0 w 27"/>
                  <a:gd name="T7" fmla="*/ 1 h 156"/>
                  <a:gd name="T8" fmla="*/ 0 w 27"/>
                  <a:gd name="T9" fmla="*/ 1 h 156"/>
                  <a:gd name="T10" fmla="*/ 0 w 27"/>
                  <a:gd name="T11" fmla="*/ 1 h 156"/>
                  <a:gd name="T12" fmla="*/ 0 w 27"/>
                  <a:gd name="T13" fmla="*/ 1 h 156"/>
                  <a:gd name="T14" fmla="*/ 0 w 27"/>
                  <a:gd name="T15" fmla="*/ 1 h 156"/>
                  <a:gd name="T16" fmla="*/ 0 w 27"/>
                  <a:gd name="T17" fmla="*/ 1 h 156"/>
                  <a:gd name="T18" fmla="*/ 0 w 27"/>
                  <a:gd name="T19" fmla="*/ 1 h 156"/>
                  <a:gd name="T20" fmla="*/ 0 w 27"/>
                  <a:gd name="T21" fmla="*/ 1 h 156"/>
                  <a:gd name="T22" fmla="*/ 0 w 27"/>
                  <a:gd name="T23" fmla="*/ 1 h 156"/>
                  <a:gd name="T24" fmla="*/ 0 w 27"/>
                  <a:gd name="T25" fmla="*/ 1 h 156"/>
                  <a:gd name="T26" fmla="*/ 0 w 27"/>
                  <a:gd name="T27" fmla="*/ 1 h 156"/>
                  <a:gd name="T28" fmla="*/ 0 w 27"/>
                  <a:gd name="T29" fmla="*/ 1 h 156"/>
                  <a:gd name="T30" fmla="*/ 0 w 27"/>
                  <a:gd name="T31" fmla="*/ 1 h 156"/>
                  <a:gd name="T32" fmla="*/ 0 w 27"/>
                  <a:gd name="T33" fmla="*/ 0 h 156"/>
                  <a:gd name="T34" fmla="*/ 0 w 27"/>
                  <a:gd name="T35" fmla="*/ 1 h 156"/>
                  <a:gd name="T36" fmla="*/ 0 w 27"/>
                  <a:gd name="T37" fmla="*/ 1 h 156"/>
                  <a:gd name="T38" fmla="*/ 0 w 27"/>
                  <a:gd name="T39" fmla="*/ 1 h 156"/>
                  <a:gd name="T40" fmla="*/ 0 w 27"/>
                  <a:gd name="T41" fmla="*/ 1 h 156"/>
                  <a:gd name="T42" fmla="*/ 0 w 27"/>
                  <a:gd name="T43" fmla="*/ 1 h 156"/>
                  <a:gd name="T44" fmla="*/ 0 w 27"/>
                  <a:gd name="T45" fmla="*/ 1 h 156"/>
                  <a:gd name="T46" fmla="*/ 0 w 27"/>
                  <a:gd name="T47" fmla="*/ 1 h 156"/>
                  <a:gd name="T48" fmla="*/ 0 w 27"/>
                  <a:gd name="T49" fmla="*/ 1 h 156"/>
                  <a:gd name="T50" fmla="*/ 0 w 27"/>
                  <a:gd name="T51" fmla="*/ 1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7"/>
                  <a:gd name="T79" fmla="*/ 0 h 156"/>
                  <a:gd name="T80" fmla="*/ 27 w 27"/>
                  <a:gd name="T81" fmla="*/ 156 h 15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7" h="156">
                    <a:moveTo>
                      <a:pt x="3" y="15"/>
                    </a:moveTo>
                    <a:lnTo>
                      <a:pt x="22" y="15"/>
                    </a:lnTo>
                    <a:lnTo>
                      <a:pt x="21" y="18"/>
                    </a:lnTo>
                    <a:lnTo>
                      <a:pt x="10" y="18"/>
                    </a:lnTo>
                    <a:lnTo>
                      <a:pt x="5" y="14"/>
                    </a:lnTo>
                    <a:lnTo>
                      <a:pt x="5" y="20"/>
                    </a:lnTo>
                    <a:lnTo>
                      <a:pt x="5" y="36"/>
                    </a:lnTo>
                    <a:lnTo>
                      <a:pt x="5" y="62"/>
                    </a:lnTo>
                    <a:lnTo>
                      <a:pt x="3" y="101"/>
                    </a:lnTo>
                    <a:lnTo>
                      <a:pt x="0" y="156"/>
                    </a:lnTo>
                    <a:lnTo>
                      <a:pt x="22" y="156"/>
                    </a:lnTo>
                    <a:lnTo>
                      <a:pt x="25" y="101"/>
                    </a:lnTo>
                    <a:lnTo>
                      <a:pt x="27" y="62"/>
                    </a:lnTo>
                    <a:lnTo>
                      <a:pt x="27" y="36"/>
                    </a:lnTo>
                    <a:lnTo>
                      <a:pt x="27" y="20"/>
                    </a:lnTo>
                    <a:lnTo>
                      <a:pt x="27" y="10"/>
                    </a:lnTo>
                    <a:lnTo>
                      <a:pt x="19" y="0"/>
                    </a:lnTo>
                    <a:lnTo>
                      <a:pt x="5" y="3"/>
                    </a:lnTo>
                    <a:lnTo>
                      <a:pt x="3" y="6"/>
                    </a:lnTo>
                    <a:lnTo>
                      <a:pt x="22" y="6"/>
                    </a:lnTo>
                    <a:lnTo>
                      <a:pt x="2" y="6"/>
                    </a:lnTo>
                    <a:lnTo>
                      <a:pt x="2" y="15"/>
                    </a:lnTo>
                    <a:lnTo>
                      <a:pt x="8" y="21"/>
                    </a:lnTo>
                    <a:lnTo>
                      <a:pt x="18" y="21"/>
                    </a:lnTo>
                    <a:lnTo>
                      <a:pt x="24" y="15"/>
                    </a:lnTo>
                    <a:lnTo>
                      <a:pt x="3" y="15"/>
                    </a:lnTo>
                    <a:close/>
                  </a:path>
                </a:pathLst>
              </a:custGeom>
              <a:solidFill>
                <a:srgbClr val="000000"/>
              </a:solidFill>
              <a:ln w="9525">
                <a:noFill/>
                <a:round/>
                <a:headEnd/>
                <a:tailEnd/>
              </a:ln>
            </p:spPr>
            <p:txBody>
              <a:bodyPr/>
              <a:lstStyle/>
              <a:p>
                <a:endParaRPr lang="en-US"/>
              </a:p>
            </p:txBody>
          </p:sp>
          <p:sp>
            <p:nvSpPr>
              <p:cNvPr id="25787" name="Freeform 150"/>
              <p:cNvSpPr>
                <a:spLocks/>
              </p:cNvSpPr>
              <p:nvPr/>
            </p:nvSpPr>
            <p:spPr bwMode="auto">
              <a:xfrm>
                <a:off x="2265" y="3555"/>
                <a:ext cx="12" cy="14"/>
              </a:xfrm>
              <a:custGeom>
                <a:avLst/>
                <a:gdLst>
                  <a:gd name="T0" fmla="*/ 0 w 23"/>
                  <a:gd name="T1" fmla="*/ 1 h 26"/>
                  <a:gd name="T2" fmla="*/ 0 w 23"/>
                  <a:gd name="T3" fmla="*/ 1 h 26"/>
                  <a:gd name="T4" fmla="*/ 1 w 23"/>
                  <a:gd name="T5" fmla="*/ 1 h 26"/>
                  <a:gd name="T6" fmla="*/ 1 w 23"/>
                  <a:gd name="T7" fmla="*/ 1 h 26"/>
                  <a:gd name="T8" fmla="*/ 1 w 23"/>
                  <a:gd name="T9" fmla="*/ 1 h 26"/>
                  <a:gd name="T10" fmla="*/ 1 w 23"/>
                  <a:gd name="T11" fmla="*/ 1 h 26"/>
                  <a:gd name="T12" fmla="*/ 1 w 23"/>
                  <a:gd name="T13" fmla="*/ 1 h 26"/>
                  <a:gd name="T14" fmla="*/ 1 w 23"/>
                  <a:gd name="T15" fmla="*/ 1 h 26"/>
                  <a:gd name="T16" fmla="*/ 1 w 23"/>
                  <a:gd name="T17" fmla="*/ 1 h 26"/>
                  <a:gd name="T18" fmla="*/ 1 w 23"/>
                  <a:gd name="T19" fmla="*/ 1 h 26"/>
                  <a:gd name="T20" fmla="*/ 0 w 23"/>
                  <a:gd name="T21" fmla="*/ 0 h 26"/>
                  <a:gd name="T22" fmla="*/ 0 w 23"/>
                  <a:gd name="T23" fmla="*/ 0 h 26"/>
                  <a:gd name="T24" fmla="*/ 0 w 23"/>
                  <a:gd name="T25" fmla="*/ 1 h 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6"/>
                  <a:gd name="T41" fmla="*/ 23 w 23"/>
                  <a:gd name="T42" fmla="*/ 26 h 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6">
                    <a:moveTo>
                      <a:pt x="0" y="21"/>
                    </a:moveTo>
                    <a:lnTo>
                      <a:pt x="0" y="21"/>
                    </a:lnTo>
                    <a:lnTo>
                      <a:pt x="1" y="21"/>
                    </a:lnTo>
                    <a:lnTo>
                      <a:pt x="3" y="21"/>
                    </a:lnTo>
                    <a:lnTo>
                      <a:pt x="3" y="25"/>
                    </a:lnTo>
                    <a:lnTo>
                      <a:pt x="4" y="26"/>
                    </a:lnTo>
                    <a:lnTo>
                      <a:pt x="23" y="17"/>
                    </a:lnTo>
                    <a:lnTo>
                      <a:pt x="22" y="15"/>
                    </a:lnTo>
                    <a:lnTo>
                      <a:pt x="19" y="9"/>
                    </a:lnTo>
                    <a:lnTo>
                      <a:pt x="11" y="3"/>
                    </a:lnTo>
                    <a:lnTo>
                      <a:pt x="0" y="0"/>
                    </a:lnTo>
                    <a:lnTo>
                      <a:pt x="0" y="21"/>
                    </a:lnTo>
                    <a:close/>
                  </a:path>
                </a:pathLst>
              </a:custGeom>
              <a:solidFill>
                <a:srgbClr val="000000"/>
              </a:solidFill>
              <a:ln w="9525">
                <a:noFill/>
                <a:round/>
                <a:headEnd/>
                <a:tailEnd/>
              </a:ln>
            </p:spPr>
            <p:txBody>
              <a:bodyPr/>
              <a:lstStyle/>
              <a:p>
                <a:endParaRPr lang="en-US"/>
              </a:p>
            </p:txBody>
          </p:sp>
          <p:sp>
            <p:nvSpPr>
              <p:cNvPr id="25788" name="Freeform 151"/>
              <p:cNvSpPr>
                <a:spLocks/>
              </p:cNvSpPr>
              <p:nvPr/>
            </p:nvSpPr>
            <p:spPr bwMode="auto">
              <a:xfrm>
                <a:off x="2248" y="3555"/>
                <a:ext cx="17" cy="16"/>
              </a:xfrm>
              <a:custGeom>
                <a:avLst/>
                <a:gdLst>
                  <a:gd name="T0" fmla="*/ 1 w 33"/>
                  <a:gd name="T1" fmla="*/ 1 h 31"/>
                  <a:gd name="T2" fmla="*/ 1 w 33"/>
                  <a:gd name="T3" fmla="*/ 1 h 31"/>
                  <a:gd name="T4" fmla="*/ 1 w 33"/>
                  <a:gd name="T5" fmla="*/ 1 h 31"/>
                  <a:gd name="T6" fmla="*/ 1 w 33"/>
                  <a:gd name="T7" fmla="*/ 1 h 31"/>
                  <a:gd name="T8" fmla="*/ 1 w 33"/>
                  <a:gd name="T9" fmla="*/ 1 h 31"/>
                  <a:gd name="T10" fmla="*/ 1 w 33"/>
                  <a:gd name="T11" fmla="*/ 1 h 31"/>
                  <a:gd name="T12" fmla="*/ 1 w 33"/>
                  <a:gd name="T13" fmla="*/ 0 h 31"/>
                  <a:gd name="T14" fmla="*/ 1 w 33"/>
                  <a:gd name="T15" fmla="*/ 1 h 31"/>
                  <a:gd name="T16" fmla="*/ 1 w 33"/>
                  <a:gd name="T17" fmla="*/ 1 h 31"/>
                  <a:gd name="T18" fmla="*/ 1 w 33"/>
                  <a:gd name="T19" fmla="*/ 1 h 31"/>
                  <a:gd name="T20" fmla="*/ 1 w 33"/>
                  <a:gd name="T21" fmla="*/ 1 h 31"/>
                  <a:gd name="T22" fmla="*/ 0 w 33"/>
                  <a:gd name="T23" fmla="*/ 1 h 31"/>
                  <a:gd name="T24" fmla="*/ 1 w 33"/>
                  <a:gd name="T25" fmla="*/ 1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1"/>
                  <a:gd name="T41" fmla="*/ 33 w 33"/>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1">
                    <a:moveTo>
                      <a:pt x="19" y="28"/>
                    </a:moveTo>
                    <a:lnTo>
                      <a:pt x="17" y="31"/>
                    </a:lnTo>
                    <a:lnTo>
                      <a:pt x="20" y="28"/>
                    </a:lnTo>
                    <a:lnTo>
                      <a:pt x="25" y="25"/>
                    </a:lnTo>
                    <a:lnTo>
                      <a:pt x="30" y="23"/>
                    </a:lnTo>
                    <a:lnTo>
                      <a:pt x="33" y="21"/>
                    </a:lnTo>
                    <a:lnTo>
                      <a:pt x="33" y="0"/>
                    </a:lnTo>
                    <a:lnTo>
                      <a:pt x="23" y="1"/>
                    </a:lnTo>
                    <a:lnTo>
                      <a:pt x="15" y="6"/>
                    </a:lnTo>
                    <a:lnTo>
                      <a:pt x="8" y="9"/>
                    </a:lnTo>
                    <a:lnTo>
                      <a:pt x="1" y="15"/>
                    </a:lnTo>
                    <a:lnTo>
                      <a:pt x="0" y="18"/>
                    </a:lnTo>
                    <a:lnTo>
                      <a:pt x="19" y="28"/>
                    </a:lnTo>
                    <a:close/>
                  </a:path>
                </a:pathLst>
              </a:custGeom>
              <a:solidFill>
                <a:srgbClr val="000000"/>
              </a:solidFill>
              <a:ln w="9525">
                <a:noFill/>
                <a:round/>
                <a:headEnd/>
                <a:tailEnd/>
              </a:ln>
            </p:spPr>
            <p:txBody>
              <a:bodyPr/>
              <a:lstStyle/>
              <a:p>
                <a:endParaRPr lang="en-US"/>
              </a:p>
            </p:txBody>
          </p:sp>
          <p:sp>
            <p:nvSpPr>
              <p:cNvPr id="25789" name="Freeform 152"/>
              <p:cNvSpPr>
                <a:spLocks/>
              </p:cNvSpPr>
              <p:nvPr/>
            </p:nvSpPr>
            <p:spPr bwMode="auto">
              <a:xfrm>
                <a:off x="2232" y="3565"/>
                <a:ext cx="26" cy="23"/>
              </a:xfrm>
              <a:custGeom>
                <a:avLst/>
                <a:gdLst>
                  <a:gd name="T0" fmla="*/ 1 w 52"/>
                  <a:gd name="T1" fmla="*/ 0 h 47"/>
                  <a:gd name="T2" fmla="*/ 1 w 52"/>
                  <a:gd name="T3" fmla="*/ 0 h 47"/>
                  <a:gd name="T4" fmla="*/ 1 w 52"/>
                  <a:gd name="T5" fmla="*/ 0 h 47"/>
                  <a:gd name="T6" fmla="*/ 1 w 52"/>
                  <a:gd name="T7" fmla="*/ 0 h 47"/>
                  <a:gd name="T8" fmla="*/ 1 w 52"/>
                  <a:gd name="T9" fmla="*/ 0 h 47"/>
                  <a:gd name="T10" fmla="*/ 1 w 52"/>
                  <a:gd name="T11" fmla="*/ 0 h 47"/>
                  <a:gd name="T12" fmla="*/ 1 w 52"/>
                  <a:gd name="T13" fmla="*/ 0 h 47"/>
                  <a:gd name="T14" fmla="*/ 1 w 52"/>
                  <a:gd name="T15" fmla="*/ 0 h 47"/>
                  <a:gd name="T16" fmla="*/ 1 w 52"/>
                  <a:gd name="T17" fmla="*/ 0 h 47"/>
                  <a:gd name="T18" fmla="*/ 1 w 52"/>
                  <a:gd name="T19" fmla="*/ 0 h 47"/>
                  <a:gd name="T20" fmla="*/ 0 w 52"/>
                  <a:gd name="T21" fmla="*/ 0 h 47"/>
                  <a:gd name="T22" fmla="*/ 0 w 52"/>
                  <a:gd name="T23" fmla="*/ 0 h 47"/>
                  <a:gd name="T24" fmla="*/ 1 w 52"/>
                  <a:gd name="T25" fmla="*/ 0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47"/>
                  <a:gd name="T41" fmla="*/ 52 w 52"/>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47">
                    <a:moveTo>
                      <a:pt x="9" y="47"/>
                    </a:moveTo>
                    <a:lnTo>
                      <a:pt x="9" y="47"/>
                    </a:lnTo>
                    <a:lnTo>
                      <a:pt x="27" y="38"/>
                    </a:lnTo>
                    <a:lnTo>
                      <a:pt x="39" y="27"/>
                    </a:lnTo>
                    <a:lnTo>
                      <a:pt x="48" y="18"/>
                    </a:lnTo>
                    <a:lnTo>
                      <a:pt x="52" y="10"/>
                    </a:lnTo>
                    <a:lnTo>
                      <a:pt x="33" y="0"/>
                    </a:lnTo>
                    <a:lnTo>
                      <a:pt x="30" y="5"/>
                    </a:lnTo>
                    <a:lnTo>
                      <a:pt x="23" y="11"/>
                    </a:lnTo>
                    <a:lnTo>
                      <a:pt x="14" y="19"/>
                    </a:lnTo>
                    <a:lnTo>
                      <a:pt x="0" y="29"/>
                    </a:lnTo>
                    <a:lnTo>
                      <a:pt x="9" y="47"/>
                    </a:lnTo>
                    <a:close/>
                  </a:path>
                </a:pathLst>
              </a:custGeom>
              <a:solidFill>
                <a:srgbClr val="000000"/>
              </a:solidFill>
              <a:ln w="9525">
                <a:noFill/>
                <a:round/>
                <a:headEnd/>
                <a:tailEnd/>
              </a:ln>
            </p:spPr>
            <p:txBody>
              <a:bodyPr/>
              <a:lstStyle/>
              <a:p>
                <a:endParaRPr lang="en-US"/>
              </a:p>
            </p:txBody>
          </p:sp>
          <p:sp>
            <p:nvSpPr>
              <p:cNvPr id="25790" name="Freeform 153"/>
              <p:cNvSpPr>
                <a:spLocks/>
              </p:cNvSpPr>
              <p:nvPr/>
            </p:nvSpPr>
            <p:spPr bwMode="auto">
              <a:xfrm>
                <a:off x="2196" y="3579"/>
                <a:ext cx="41" cy="22"/>
              </a:xfrm>
              <a:custGeom>
                <a:avLst/>
                <a:gdLst>
                  <a:gd name="T0" fmla="*/ 1 w 81"/>
                  <a:gd name="T1" fmla="*/ 1 h 43"/>
                  <a:gd name="T2" fmla="*/ 1 w 81"/>
                  <a:gd name="T3" fmla="*/ 1 h 43"/>
                  <a:gd name="T4" fmla="*/ 1 w 81"/>
                  <a:gd name="T5" fmla="*/ 1 h 43"/>
                  <a:gd name="T6" fmla="*/ 1 w 81"/>
                  <a:gd name="T7" fmla="*/ 1 h 43"/>
                  <a:gd name="T8" fmla="*/ 1 w 81"/>
                  <a:gd name="T9" fmla="*/ 1 h 43"/>
                  <a:gd name="T10" fmla="*/ 1 w 81"/>
                  <a:gd name="T11" fmla="*/ 1 h 43"/>
                  <a:gd name="T12" fmla="*/ 1 w 81"/>
                  <a:gd name="T13" fmla="*/ 1 h 43"/>
                  <a:gd name="T14" fmla="*/ 1 w 81"/>
                  <a:gd name="T15" fmla="*/ 1 h 43"/>
                  <a:gd name="T16" fmla="*/ 1 w 81"/>
                  <a:gd name="T17" fmla="*/ 1 h 43"/>
                  <a:gd name="T18" fmla="*/ 1 w 81"/>
                  <a:gd name="T19" fmla="*/ 1 h 43"/>
                  <a:gd name="T20" fmla="*/ 1 w 81"/>
                  <a:gd name="T21" fmla="*/ 0 h 43"/>
                  <a:gd name="T22" fmla="*/ 1 w 81"/>
                  <a:gd name="T23" fmla="*/ 1 h 43"/>
                  <a:gd name="T24" fmla="*/ 1 w 81"/>
                  <a:gd name="T25" fmla="*/ 1 h 43"/>
                  <a:gd name="T26" fmla="*/ 1 w 81"/>
                  <a:gd name="T27" fmla="*/ 1 h 43"/>
                  <a:gd name="T28" fmla="*/ 1 w 81"/>
                  <a:gd name="T29" fmla="*/ 1 h 43"/>
                  <a:gd name="T30" fmla="*/ 1 w 81"/>
                  <a:gd name="T31" fmla="*/ 1 h 43"/>
                  <a:gd name="T32" fmla="*/ 1 w 81"/>
                  <a:gd name="T33" fmla="*/ 1 h 43"/>
                  <a:gd name="T34" fmla="*/ 1 w 81"/>
                  <a:gd name="T35" fmla="*/ 1 h 43"/>
                  <a:gd name="T36" fmla="*/ 0 w 81"/>
                  <a:gd name="T37" fmla="*/ 1 h 43"/>
                  <a:gd name="T38" fmla="*/ 0 w 81"/>
                  <a:gd name="T39" fmla="*/ 1 h 43"/>
                  <a:gd name="T40" fmla="*/ 1 w 81"/>
                  <a:gd name="T41" fmla="*/ 1 h 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43"/>
                  <a:gd name="T65" fmla="*/ 81 w 81"/>
                  <a:gd name="T66" fmla="*/ 43 h 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43">
                    <a:moveTo>
                      <a:pt x="3" y="43"/>
                    </a:moveTo>
                    <a:lnTo>
                      <a:pt x="3" y="43"/>
                    </a:lnTo>
                    <a:lnTo>
                      <a:pt x="9" y="42"/>
                    </a:lnTo>
                    <a:lnTo>
                      <a:pt x="17" y="40"/>
                    </a:lnTo>
                    <a:lnTo>
                      <a:pt x="27" y="37"/>
                    </a:lnTo>
                    <a:lnTo>
                      <a:pt x="38" y="34"/>
                    </a:lnTo>
                    <a:lnTo>
                      <a:pt x="48" y="31"/>
                    </a:lnTo>
                    <a:lnTo>
                      <a:pt x="59" y="28"/>
                    </a:lnTo>
                    <a:lnTo>
                      <a:pt x="70" y="23"/>
                    </a:lnTo>
                    <a:lnTo>
                      <a:pt x="81" y="18"/>
                    </a:lnTo>
                    <a:lnTo>
                      <a:pt x="72" y="0"/>
                    </a:lnTo>
                    <a:lnTo>
                      <a:pt x="64" y="1"/>
                    </a:lnTo>
                    <a:lnTo>
                      <a:pt x="53" y="6"/>
                    </a:lnTo>
                    <a:lnTo>
                      <a:pt x="42" y="9"/>
                    </a:lnTo>
                    <a:lnTo>
                      <a:pt x="31" y="12"/>
                    </a:lnTo>
                    <a:lnTo>
                      <a:pt x="20" y="15"/>
                    </a:lnTo>
                    <a:lnTo>
                      <a:pt x="11" y="18"/>
                    </a:lnTo>
                    <a:lnTo>
                      <a:pt x="3" y="20"/>
                    </a:lnTo>
                    <a:lnTo>
                      <a:pt x="0" y="21"/>
                    </a:lnTo>
                    <a:lnTo>
                      <a:pt x="3" y="43"/>
                    </a:lnTo>
                    <a:close/>
                  </a:path>
                </a:pathLst>
              </a:custGeom>
              <a:solidFill>
                <a:srgbClr val="000000"/>
              </a:solidFill>
              <a:ln w="9525">
                <a:noFill/>
                <a:round/>
                <a:headEnd/>
                <a:tailEnd/>
              </a:ln>
            </p:spPr>
            <p:txBody>
              <a:bodyPr/>
              <a:lstStyle/>
              <a:p>
                <a:endParaRPr lang="en-US"/>
              </a:p>
            </p:txBody>
          </p:sp>
          <p:sp>
            <p:nvSpPr>
              <p:cNvPr id="25791" name="Freeform 154"/>
              <p:cNvSpPr>
                <a:spLocks/>
              </p:cNvSpPr>
              <p:nvPr/>
            </p:nvSpPr>
            <p:spPr bwMode="auto">
              <a:xfrm>
                <a:off x="2184" y="3590"/>
                <a:ext cx="14" cy="15"/>
              </a:xfrm>
              <a:custGeom>
                <a:avLst/>
                <a:gdLst>
                  <a:gd name="T0" fmla="*/ 1 w 27"/>
                  <a:gd name="T1" fmla="*/ 1 h 30"/>
                  <a:gd name="T2" fmla="*/ 1 w 27"/>
                  <a:gd name="T3" fmla="*/ 1 h 30"/>
                  <a:gd name="T4" fmla="*/ 1 w 27"/>
                  <a:gd name="T5" fmla="*/ 1 h 30"/>
                  <a:gd name="T6" fmla="*/ 1 w 27"/>
                  <a:gd name="T7" fmla="*/ 1 h 30"/>
                  <a:gd name="T8" fmla="*/ 1 w 27"/>
                  <a:gd name="T9" fmla="*/ 1 h 30"/>
                  <a:gd name="T10" fmla="*/ 1 w 27"/>
                  <a:gd name="T11" fmla="*/ 1 h 30"/>
                  <a:gd name="T12" fmla="*/ 1 w 27"/>
                  <a:gd name="T13" fmla="*/ 0 h 30"/>
                  <a:gd name="T14" fmla="*/ 1 w 27"/>
                  <a:gd name="T15" fmla="*/ 1 h 30"/>
                  <a:gd name="T16" fmla="*/ 1 w 27"/>
                  <a:gd name="T17" fmla="*/ 1 h 30"/>
                  <a:gd name="T18" fmla="*/ 1 w 27"/>
                  <a:gd name="T19" fmla="*/ 1 h 30"/>
                  <a:gd name="T20" fmla="*/ 0 w 27"/>
                  <a:gd name="T21" fmla="*/ 1 h 30"/>
                  <a:gd name="T22" fmla="*/ 1 w 27"/>
                  <a:gd name="T23" fmla="*/ 1 h 30"/>
                  <a:gd name="T24" fmla="*/ 1 w 27"/>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30"/>
                  <a:gd name="T41" fmla="*/ 27 w 27"/>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30">
                    <a:moveTo>
                      <a:pt x="15" y="30"/>
                    </a:moveTo>
                    <a:lnTo>
                      <a:pt x="16" y="29"/>
                    </a:lnTo>
                    <a:lnTo>
                      <a:pt x="18" y="27"/>
                    </a:lnTo>
                    <a:lnTo>
                      <a:pt x="21" y="25"/>
                    </a:lnTo>
                    <a:lnTo>
                      <a:pt x="24" y="22"/>
                    </a:lnTo>
                    <a:lnTo>
                      <a:pt x="27" y="22"/>
                    </a:lnTo>
                    <a:lnTo>
                      <a:pt x="24" y="0"/>
                    </a:lnTo>
                    <a:lnTo>
                      <a:pt x="15" y="4"/>
                    </a:lnTo>
                    <a:lnTo>
                      <a:pt x="8" y="7"/>
                    </a:lnTo>
                    <a:lnTo>
                      <a:pt x="5" y="8"/>
                    </a:lnTo>
                    <a:lnTo>
                      <a:pt x="0" y="13"/>
                    </a:lnTo>
                    <a:lnTo>
                      <a:pt x="2" y="11"/>
                    </a:lnTo>
                    <a:lnTo>
                      <a:pt x="15" y="30"/>
                    </a:lnTo>
                    <a:close/>
                  </a:path>
                </a:pathLst>
              </a:custGeom>
              <a:solidFill>
                <a:srgbClr val="000000"/>
              </a:solidFill>
              <a:ln w="9525">
                <a:noFill/>
                <a:round/>
                <a:headEnd/>
                <a:tailEnd/>
              </a:ln>
            </p:spPr>
            <p:txBody>
              <a:bodyPr/>
              <a:lstStyle/>
              <a:p>
                <a:endParaRPr lang="en-US"/>
              </a:p>
            </p:txBody>
          </p:sp>
          <p:sp>
            <p:nvSpPr>
              <p:cNvPr id="25792" name="Freeform 155"/>
              <p:cNvSpPr>
                <a:spLocks/>
              </p:cNvSpPr>
              <p:nvPr/>
            </p:nvSpPr>
            <p:spPr bwMode="auto">
              <a:xfrm>
                <a:off x="2162" y="3595"/>
                <a:ext cx="29" cy="84"/>
              </a:xfrm>
              <a:custGeom>
                <a:avLst/>
                <a:gdLst>
                  <a:gd name="T0" fmla="*/ 1 w 58"/>
                  <a:gd name="T1" fmla="*/ 1 h 168"/>
                  <a:gd name="T2" fmla="*/ 1 w 58"/>
                  <a:gd name="T3" fmla="*/ 1 h 168"/>
                  <a:gd name="T4" fmla="*/ 1 w 58"/>
                  <a:gd name="T5" fmla="*/ 1 h 168"/>
                  <a:gd name="T6" fmla="*/ 1 w 58"/>
                  <a:gd name="T7" fmla="*/ 1 h 168"/>
                  <a:gd name="T8" fmla="*/ 1 w 58"/>
                  <a:gd name="T9" fmla="*/ 1 h 168"/>
                  <a:gd name="T10" fmla="*/ 1 w 58"/>
                  <a:gd name="T11" fmla="*/ 1 h 168"/>
                  <a:gd name="T12" fmla="*/ 1 w 58"/>
                  <a:gd name="T13" fmla="*/ 1 h 168"/>
                  <a:gd name="T14" fmla="*/ 1 w 58"/>
                  <a:gd name="T15" fmla="*/ 1 h 168"/>
                  <a:gd name="T16" fmla="*/ 1 w 58"/>
                  <a:gd name="T17" fmla="*/ 1 h 168"/>
                  <a:gd name="T18" fmla="*/ 1 w 58"/>
                  <a:gd name="T19" fmla="*/ 1 h 168"/>
                  <a:gd name="T20" fmla="*/ 1 w 58"/>
                  <a:gd name="T21" fmla="*/ 0 h 168"/>
                  <a:gd name="T22" fmla="*/ 1 w 58"/>
                  <a:gd name="T23" fmla="*/ 1 h 168"/>
                  <a:gd name="T24" fmla="*/ 1 w 58"/>
                  <a:gd name="T25" fmla="*/ 1 h 168"/>
                  <a:gd name="T26" fmla="*/ 1 w 58"/>
                  <a:gd name="T27" fmla="*/ 1 h 168"/>
                  <a:gd name="T28" fmla="*/ 1 w 58"/>
                  <a:gd name="T29" fmla="*/ 1 h 168"/>
                  <a:gd name="T30" fmla="*/ 1 w 58"/>
                  <a:gd name="T31" fmla="*/ 1 h 168"/>
                  <a:gd name="T32" fmla="*/ 1 w 58"/>
                  <a:gd name="T33" fmla="*/ 1 h 168"/>
                  <a:gd name="T34" fmla="*/ 0 w 58"/>
                  <a:gd name="T35" fmla="*/ 1 h 168"/>
                  <a:gd name="T36" fmla="*/ 0 w 58"/>
                  <a:gd name="T37" fmla="*/ 1 h 168"/>
                  <a:gd name="T38" fmla="*/ 0 w 58"/>
                  <a:gd name="T39" fmla="*/ 1 h 168"/>
                  <a:gd name="T40" fmla="*/ 1 w 58"/>
                  <a:gd name="T41" fmla="*/ 1 h 1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168"/>
                  <a:gd name="T65" fmla="*/ 58 w 58"/>
                  <a:gd name="T66" fmla="*/ 168 h 1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168">
                    <a:moveTo>
                      <a:pt x="22" y="165"/>
                    </a:moveTo>
                    <a:lnTo>
                      <a:pt x="22" y="165"/>
                    </a:lnTo>
                    <a:lnTo>
                      <a:pt x="22" y="149"/>
                    </a:lnTo>
                    <a:lnTo>
                      <a:pt x="25" y="127"/>
                    </a:lnTo>
                    <a:lnTo>
                      <a:pt x="29" y="102"/>
                    </a:lnTo>
                    <a:lnTo>
                      <a:pt x="36" y="79"/>
                    </a:lnTo>
                    <a:lnTo>
                      <a:pt x="43" y="55"/>
                    </a:lnTo>
                    <a:lnTo>
                      <a:pt x="48" y="36"/>
                    </a:lnTo>
                    <a:lnTo>
                      <a:pt x="56" y="22"/>
                    </a:lnTo>
                    <a:lnTo>
                      <a:pt x="58" y="19"/>
                    </a:lnTo>
                    <a:lnTo>
                      <a:pt x="45" y="0"/>
                    </a:lnTo>
                    <a:lnTo>
                      <a:pt x="37" y="13"/>
                    </a:lnTo>
                    <a:lnTo>
                      <a:pt x="29" y="27"/>
                    </a:lnTo>
                    <a:lnTo>
                      <a:pt x="22" y="49"/>
                    </a:lnTo>
                    <a:lnTo>
                      <a:pt x="14" y="72"/>
                    </a:lnTo>
                    <a:lnTo>
                      <a:pt x="7" y="99"/>
                    </a:lnTo>
                    <a:lnTo>
                      <a:pt x="3" y="124"/>
                    </a:lnTo>
                    <a:lnTo>
                      <a:pt x="0" y="146"/>
                    </a:lnTo>
                    <a:lnTo>
                      <a:pt x="0" y="168"/>
                    </a:lnTo>
                    <a:lnTo>
                      <a:pt x="22" y="165"/>
                    </a:lnTo>
                    <a:close/>
                  </a:path>
                </a:pathLst>
              </a:custGeom>
              <a:solidFill>
                <a:srgbClr val="000000"/>
              </a:solidFill>
              <a:ln w="9525">
                <a:noFill/>
                <a:round/>
                <a:headEnd/>
                <a:tailEnd/>
              </a:ln>
            </p:spPr>
            <p:txBody>
              <a:bodyPr/>
              <a:lstStyle/>
              <a:p>
                <a:endParaRPr lang="en-US"/>
              </a:p>
            </p:txBody>
          </p:sp>
          <p:sp>
            <p:nvSpPr>
              <p:cNvPr id="25793" name="Freeform 156"/>
              <p:cNvSpPr>
                <a:spLocks/>
              </p:cNvSpPr>
              <p:nvPr/>
            </p:nvSpPr>
            <p:spPr bwMode="auto">
              <a:xfrm>
                <a:off x="2162" y="3677"/>
                <a:ext cx="24" cy="80"/>
              </a:xfrm>
              <a:custGeom>
                <a:avLst/>
                <a:gdLst>
                  <a:gd name="T0" fmla="*/ 1 w 47"/>
                  <a:gd name="T1" fmla="*/ 1 h 159"/>
                  <a:gd name="T2" fmla="*/ 1 w 47"/>
                  <a:gd name="T3" fmla="*/ 1 h 159"/>
                  <a:gd name="T4" fmla="*/ 1 w 47"/>
                  <a:gd name="T5" fmla="*/ 1 h 159"/>
                  <a:gd name="T6" fmla="*/ 1 w 47"/>
                  <a:gd name="T7" fmla="*/ 1 h 159"/>
                  <a:gd name="T8" fmla="*/ 1 w 47"/>
                  <a:gd name="T9" fmla="*/ 1 h 159"/>
                  <a:gd name="T10" fmla="*/ 1 w 47"/>
                  <a:gd name="T11" fmla="*/ 1 h 159"/>
                  <a:gd name="T12" fmla="*/ 1 w 47"/>
                  <a:gd name="T13" fmla="*/ 1 h 159"/>
                  <a:gd name="T14" fmla="*/ 1 w 47"/>
                  <a:gd name="T15" fmla="*/ 1 h 159"/>
                  <a:gd name="T16" fmla="*/ 1 w 47"/>
                  <a:gd name="T17" fmla="*/ 1 h 159"/>
                  <a:gd name="T18" fmla="*/ 1 w 47"/>
                  <a:gd name="T19" fmla="*/ 0 h 159"/>
                  <a:gd name="T20" fmla="*/ 0 w 47"/>
                  <a:gd name="T21" fmla="*/ 1 h 159"/>
                  <a:gd name="T22" fmla="*/ 1 w 47"/>
                  <a:gd name="T23" fmla="*/ 1 h 159"/>
                  <a:gd name="T24" fmla="*/ 1 w 47"/>
                  <a:gd name="T25" fmla="*/ 1 h 159"/>
                  <a:gd name="T26" fmla="*/ 1 w 47"/>
                  <a:gd name="T27" fmla="*/ 1 h 159"/>
                  <a:gd name="T28" fmla="*/ 1 w 47"/>
                  <a:gd name="T29" fmla="*/ 1 h 159"/>
                  <a:gd name="T30" fmla="*/ 1 w 47"/>
                  <a:gd name="T31" fmla="*/ 1 h 159"/>
                  <a:gd name="T32" fmla="*/ 1 w 47"/>
                  <a:gd name="T33" fmla="*/ 1 h 159"/>
                  <a:gd name="T34" fmla="*/ 1 w 47"/>
                  <a:gd name="T35" fmla="*/ 1 h 159"/>
                  <a:gd name="T36" fmla="*/ 1 w 47"/>
                  <a:gd name="T37" fmla="*/ 1 h 159"/>
                  <a:gd name="T38" fmla="*/ 1 w 47"/>
                  <a:gd name="T39" fmla="*/ 1 h 159"/>
                  <a:gd name="T40" fmla="*/ 1 w 47"/>
                  <a:gd name="T41" fmla="*/ 1 h 1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159"/>
                  <a:gd name="T65" fmla="*/ 47 w 47"/>
                  <a:gd name="T66" fmla="*/ 159 h 15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159">
                    <a:moveTo>
                      <a:pt x="47" y="139"/>
                    </a:moveTo>
                    <a:lnTo>
                      <a:pt x="45" y="137"/>
                    </a:lnTo>
                    <a:lnTo>
                      <a:pt x="47" y="136"/>
                    </a:lnTo>
                    <a:lnTo>
                      <a:pt x="42" y="126"/>
                    </a:lnTo>
                    <a:lnTo>
                      <a:pt x="37" y="108"/>
                    </a:lnTo>
                    <a:lnTo>
                      <a:pt x="32" y="87"/>
                    </a:lnTo>
                    <a:lnTo>
                      <a:pt x="29" y="62"/>
                    </a:lnTo>
                    <a:lnTo>
                      <a:pt x="26" y="39"/>
                    </a:lnTo>
                    <a:lnTo>
                      <a:pt x="23" y="17"/>
                    </a:lnTo>
                    <a:lnTo>
                      <a:pt x="22" y="0"/>
                    </a:lnTo>
                    <a:lnTo>
                      <a:pt x="0" y="3"/>
                    </a:lnTo>
                    <a:lnTo>
                      <a:pt x="1" y="20"/>
                    </a:lnTo>
                    <a:lnTo>
                      <a:pt x="4" y="42"/>
                    </a:lnTo>
                    <a:lnTo>
                      <a:pt x="7" y="65"/>
                    </a:lnTo>
                    <a:lnTo>
                      <a:pt x="11" y="90"/>
                    </a:lnTo>
                    <a:lnTo>
                      <a:pt x="15" y="114"/>
                    </a:lnTo>
                    <a:lnTo>
                      <a:pt x="20" y="133"/>
                    </a:lnTo>
                    <a:lnTo>
                      <a:pt x="28" y="148"/>
                    </a:lnTo>
                    <a:lnTo>
                      <a:pt x="39" y="159"/>
                    </a:lnTo>
                    <a:lnTo>
                      <a:pt x="37" y="158"/>
                    </a:lnTo>
                    <a:lnTo>
                      <a:pt x="47" y="139"/>
                    </a:lnTo>
                    <a:close/>
                  </a:path>
                </a:pathLst>
              </a:custGeom>
              <a:solidFill>
                <a:srgbClr val="000000"/>
              </a:solidFill>
              <a:ln w="9525">
                <a:noFill/>
                <a:round/>
                <a:headEnd/>
                <a:tailEnd/>
              </a:ln>
            </p:spPr>
            <p:txBody>
              <a:bodyPr/>
              <a:lstStyle/>
              <a:p>
                <a:endParaRPr lang="en-US"/>
              </a:p>
            </p:txBody>
          </p:sp>
          <p:sp>
            <p:nvSpPr>
              <p:cNvPr id="25794" name="Freeform 157"/>
              <p:cNvSpPr>
                <a:spLocks/>
              </p:cNvSpPr>
              <p:nvPr/>
            </p:nvSpPr>
            <p:spPr bwMode="auto">
              <a:xfrm>
                <a:off x="2181" y="3736"/>
                <a:ext cx="47" cy="21"/>
              </a:xfrm>
              <a:custGeom>
                <a:avLst/>
                <a:gdLst>
                  <a:gd name="T0" fmla="*/ 1 w 94"/>
                  <a:gd name="T1" fmla="*/ 0 h 42"/>
                  <a:gd name="T2" fmla="*/ 1 w 94"/>
                  <a:gd name="T3" fmla="*/ 0 h 42"/>
                  <a:gd name="T4" fmla="*/ 1 w 94"/>
                  <a:gd name="T5" fmla="*/ 1 h 42"/>
                  <a:gd name="T6" fmla="*/ 1 w 94"/>
                  <a:gd name="T7" fmla="*/ 1 h 42"/>
                  <a:gd name="T8" fmla="*/ 1 w 94"/>
                  <a:gd name="T9" fmla="*/ 1 h 42"/>
                  <a:gd name="T10" fmla="*/ 1 w 94"/>
                  <a:gd name="T11" fmla="*/ 1 h 42"/>
                  <a:gd name="T12" fmla="*/ 1 w 94"/>
                  <a:gd name="T13" fmla="*/ 1 h 42"/>
                  <a:gd name="T14" fmla="*/ 1 w 94"/>
                  <a:gd name="T15" fmla="*/ 1 h 42"/>
                  <a:gd name="T16" fmla="*/ 1 w 94"/>
                  <a:gd name="T17" fmla="*/ 1 h 42"/>
                  <a:gd name="T18" fmla="*/ 1 w 94"/>
                  <a:gd name="T19" fmla="*/ 1 h 42"/>
                  <a:gd name="T20" fmla="*/ 0 w 94"/>
                  <a:gd name="T21" fmla="*/ 1 h 42"/>
                  <a:gd name="T22" fmla="*/ 1 w 94"/>
                  <a:gd name="T23" fmla="*/ 1 h 42"/>
                  <a:gd name="T24" fmla="*/ 1 w 94"/>
                  <a:gd name="T25" fmla="*/ 1 h 42"/>
                  <a:gd name="T26" fmla="*/ 1 w 94"/>
                  <a:gd name="T27" fmla="*/ 1 h 42"/>
                  <a:gd name="T28" fmla="*/ 1 w 94"/>
                  <a:gd name="T29" fmla="*/ 1 h 42"/>
                  <a:gd name="T30" fmla="*/ 1 w 94"/>
                  <a:gd name="T31" fmla="*/ 1 h 42"/>
                  <a:gd name="T32" fmla="*/ 1 w 94"/>
                  <a:gd name="T33" fmla="*/ 1 h 42"/>
                  <a:gd name="T34" fmla="*/ 1 w 94"/>
                  <a:gd name="T35" fmla="*/ 1 h 42"/>
                  <a:gd name="T36" fmla="*/ 1 w 94"/>
                  <a:gd name="T37" fmla="*/ 1 h 42"/>
                  <a:gd name="T38" fmla="*/ 1 w 94"/>
                  <a:gd name="T39" fmla="*/ 1 h 42"/>
                  <a:gd name="T40" fmla="*/ 1 w 94"/>
                  <a:gd name="T41" fmla="*/ 0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42"/>
                  <a:gd name="T65" fmla="*/ 94 w 94"/>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42">
                    <a:moveTo>
                      <a:pt x="83" y="0"/>
                    </a:moveTo>
                    <a:lnTo>
                      <a:pt x="82" y="0"/>
                    </a:lnTo>
                    <a:lnTo>
                      <a:pt x="77" y="3"/>
                    </a:lnTo>
                    <a:lnTo>
                      <a:pt x="69" y="6"/>
                    </a:lnTo>
                    <a:lnTo>
                      <a:pt x="57" y="9"/>
                    </a:lnTo>
                    <a:lnTo>
                      <a:pt x="42" y="14"/>
                    </a:lnTo>
                    <a:lnTo>
                      <a:pt x="30" y="17"/>
                    </a:lnTo>
                    <a:lnTo>
                      <a:pt x="19" y="20"/>
                    </a:lnTo>
                    <a:lnTo>
                      <a:pt x="11" y="20"/>
                    </a:lnTo>
                    <a:lnTo>
                      <a:pt x="10" y="22"/>
                    </a:lnTo>
                    <a:lnTo>
                      <a:pt x="0" y="41"/>
                    </a:lnTo>
                    <a:lnTo>
                      <a:pt x="11" y="42"/>
                    </a:lnTo>
                    <a:lnTo>
                      <a:pt x="22" y="42"/>
                    </a:lnTo>
                    <a:lnTo>
                      <a:pt x="36" y="39"/>
                    </a:lnTo>
                    <a:lnTo>
                      <a:pt x="49" y="36"/>
                    </a:lnTo>
                    <a:lnTo>
                      <a:pt x="63" y="31"/>
                    </a:lnTo>
                    <a:lnTo>
                      <a:pt x="75" y="28"/>
                    </a:lnTo>
                    <a:lnTo>
                      <a:pt x="86" y="22"/>
                    </a:lnTo>
                    <a:lnTo>
                      <a:pt x="94" y="19"/>
                    </a:lnTo>
                    <a:lnTo>
                      <a:pt x="93" y="19"/>
                    </a:lnTo>
                    <a:lnTo>
                      <a:pt x="83" y="0"/>
                    </a:lnTo>
                    <a:close/>
                  </a:path>
                </a:pathLst>
              </a:custGeom>
              <a:solidFill>
                <a:srgbClr val="000000"/>
              </a:solidFill>
              <a:ln w="9525">
                <a:noFill/>
                <a:round/>
                <a:headEnd/>
                <a:tailEnd/>
              </a:ln>
            </p:spPr>
            <p:txBody>
              <a:bodyPr/>
              <a:lstStyle/>
              <a:p>
                <a:endParaRPr lang="en-US"/>
              </a:p>
            </p:txBody>
          </p:sp>
          <p:sp>
            <p:nvSpPr>
              <p:cNvPr id="25795" name="Freeform 158"/>
              <p:cNvSpPr>
                <a:spLocks/>
              </p:cNvSpPr>
              <p:nvPr/>
            </p:nvSpPr>
            <p:spPr bwMode="auto">
              <a:xfrm>
                <a:off x="2086" y="3813"/>
                <a:ext cx="162" cy="77"/>
              </a:xfrm>
              <a:custGeom>
                <a:avLst/>
                <a:gdLst>
                  <a:gd name="T0" fmla="*/ 0 w 326"/>
                  <a:gd name="T1" fmla="*/ 0 h 155"/>
                  <a:gd name="T2" fmla="*/ 0 w 326"/>
                  <a:gd name="T3" fmla="*/ 0 h 155"/>
                  <a:gd name="T4" fmla="*/ 0 w 326"/>
                  <a:gd name="T5" fmla="*/ 0 h 155"/>
                  <a:gd name="T6" fmla="*/ 0 w 326"/>
                  <a:gd name="T7" fmla="*/ 0 h 155"/>
                  <a:gd name="T8" fmla="*/ 0 w 326"/>
                  <a:gd name="T9" fmla="*/ 0 h 155"/>
                  <a:gd name="T10" fmla="*/ 0 w 326"/>
                  <a:gd name="T11" fmla="*/ 0 h 155"/>
                  <a:gd name="T12" fmla="*/ 0 w 326"/>
                  <a:gd name="T13" fmla="*/ 0 h 155"/>
                  <a:gd name="T14" fmla="*/ 0 w 326"/>
                  <a:gd name="T15" fmla="*/ 0 h 155"/>
                  <a:gd name="T16" fmla="*/ 0 w 326"/>
                  <a:gd name="T17" fmla="*/ 0 h 155"/>
                  <a:gd name="T18" fmla="*/ 0 w 326"/>
                  <a:gd name="T19" fmla="*/ 0 h 155"/>
                  <a:gd name="T20" fmla="*/ 0 w 326"/>
                  <a:gd name="T21" fmla="*/ 0 h 155"/>
                  <a:gd name="T22" fmla="*/ 0 w 326"/>
                  <a:gd name="T23" fmla="*/ 0 h 155"/>
                  <a:gd name="T24" fmla="*/ 0 w 326"/>
                  <a:gd name="T25" fmla="*/ 0 h 155"/>
                  <a:gd name="T26" fmla="*/ 0 w 326"/>
                  <a:gd name="T27" fmla="*/ 0 h 155"/>
                  <a:gd name="T28" fmla="*/ 0 w 326"/>
                  <a:gd name="T29" fmla="*/ 0 h 15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6"/>
                  <a:gd name="T46" fmla="*/ 0 h 155"/>
                  <a:gd name="T47" fmla="*/ 326 w 326"/>
                  <a:gd name="T48" fmla="*/ 155 h 15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6" h="155">
                    <a:moveTo>
                      <a:pt x="144" y="32"/>
                    </a:moveTo>
                    <a:lnTo>
                      <a:pt x="0" y="0"/>
                    </a:lnTo>
                    <a:lnTo>
                      <a:pt x="0" y="21"/>
                    </a:lnTo>
                    <a:lnTo>
                      <a:pt x="118" y="61"/>
                    </a:lnTo>
                    <a:lnTo>
                      <a:pt x="49" y="155"/>
                    </a:lnTo>
                    <a:lnTo>
                      <a:pt x="71" y="155"/>
                    </a:lnTo>
                    <a:lnTo>
                      <a:pt x="160" y="75"/>
                    </a:lnTo>
                    <a:lnTo>
                      <a:pt x="165" y="75"/>
                    </a:lnTo>
                    <a:lnTo>
                      <a:pt x="254" y="155"/>
                    </a:lnTo>
                    <a:lnTo>
                      <a:pt x="276" y="155"/>
                    </a:lnTo>
                    <a:lnTo>
                      <a:pt x="208" y="61"/>
                    </a:lnTo>
                    <a:lnTo>
                      <a:pt x="326" y="21"/>
                    </a:lnTo>
                    <a:lnTo>
                      <a:pt x="326" y="0"/>
                    </a:lnTo>
                    <a:lnTo>
                      <a:pt x="180" y="32"/>
                    </a:lnTo>
                    <a:lnTo>
                      <a:pt x="144" y="32"/>
                    </a:lnTo>
                    <a:close/>
                  </a:path>
                </a:pathLst>
              </a:custGeom>
              <a:solidFill>
                <a:srgbClr val="FF7226"/>
              </a:solidFill>
              <a:ln w="9525">
                <a:noFill/>
                <a:round/>
                <a:headEnd/>
                <a:tailEnd/>
              </a:ln>
            </p:spPr>
            <p:txBody>
              <a:bodyPr/>
              <a:lstStyle/>
              <a:p>
                <a:endParaRPr lang="en-US"/>
              </a:p>
            </p:txBody>
          </p:sp>
          <p:sp>
            <p:nvSpPr>
              <p:cNvPr id="25796" name="Freeform 159"/>
              <p:cNvSpPr>
                <a:spLocks/>
              </p:cNvSpPr>
              <p:nvPr/>
            </p:nvSpPr>
            <p:spPr bwMode="auto">
              <a:xfrm>
                <a:off x="2080" y="3807"/>
                <a:ext cx="78" cy="27"/>
              </a:xfrm>
              <a:custGeom>
                <a:avLst/>
                <a:gdLst>
                  <a:gd name="T0" fmla="*/ 0 w 157"/>
                  <a:gd name="T1" fmla="*/ 1 h 54"/>
                  <a:gd name="T2" fmla="*/ 0 w 157"/>
                  <a:gd name="T3" fmla="*/ 1 h 54"/>
                  <a:gd name="T4" fmla="*/ 0 w 157"/>
                  <a:gd name="T5" fmla="*/ 1 h 54"/>
                  <a:gd name="T6" fmla="*/ 0 w 157"/>
                  <a:gd name="T7" fmla="*/ 1 h 54"/>
                  <a:gd name="T8" fmla="*/ 0 w 157"/>
                  <a:gd name="T9" fmla="*/ 0 h 54"/>
                  <a:gd name="T10" fmla="*/ 0 w 157"/>
                  <a:gd name="T11" fmla="*/ 1 h 54"/>
                  <a:gd name="T12" fmla="*/ 0 w 157"/>
                  <a:gd name="T13" fmla="*/ 0 h 54"/>
                  <a:gd name="T14" fmla="*/ 0 w 157"/>
                  <a:gd name="T15" fmla="*/ 1 h 54"/>
                  <a:gd name="T16" fmla="*/ 0 w 157"/>
                  <a:gd name="T17" fmla="*/ 1 h 54"/>
                  <a:gd name="T18" fmla="*/ 0 w 157"/>
                  <a:gd name="T19" fmla="*/ 1 h 54"/>
                  <a:gd name="T20" fmla="*/ 0 w 157"/>
                  <a:gd name="T21" fmla="*/ 1 h 54"/>
                  <a:gd name="T22" fmla="*/ 0 w 157"/>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7"/>
                  <a:gd name="T37" fmla="*/ 0 h 54"/>
                  <a:gd name="T38" fmla="*/ 157 w 157"/>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7" h="54">
                    <a:moveTo>
                      <a:pt x="22" y="11"/>
                    </a:moveTo>
                    <a:lnTo>
                      <a:pt x="10" y="22"/>
                    </a:lnTo>
                    <a:lnTo>
                      <a:pt x="154" y="54"/>
                    </a:lnTo>
                    <a:lnTo>
                      <a:pt x="157" y="32"/>
                    </a:lnTo>
                    <a:lnTo>
                      <a:pt x="13" y="0"/>
                    </a:lnTo>
                    <a:lnTo>
                      <a:pt x="0" y="11"/>
                    </a:lnTo>
                    <a:lnTo>
                      <a:pt x="13" y="0"/>
                    </a:lnTo>
                    <a:lnTo>
                      <a:pt x="5" y="4"/>
                    </a:lnTo>
                    <a:lnTo>
                      <a:pt x="0" y="10"/>
                    </a:lnTo>
                    <a:lnTo>
                      <a:pt x="2" y="18"/>
                    </a:lnTo>
                    <a:lnTo>
                      <a:pt x="10" y="22"/>
                    </a:lnTo>
                    <a:lnTo>
                      <a:pt x="22" y="11"/>
                    </a:lnTo>
                    <a:close/>
                  </a:path>
                </a:pathLst>
              </a:custGeom>
              <a:solidFill>
                <a:srgbClr val="000000"/>
              </a:solidFill>
              <a:ln w="9525">
                <a:noFill/>
                <a:round/>
                <a:headEnd/>
                <a:tailEnd/>
              </a:ln>
            </p:spPr>
            <p:txBody>
              <a:bodyPr/>
              <a:lstStyle/>
              <a:p>
                <a:endParaRPr lang="en-US"/>
              </a:p>
            </p:txBody>
          </p:sp>
          <p:sp>
            <p:nvSpPr>
              <p:cNvPr id="25797" name="Freeform 160"/>
              <p:cNvSpPr>
                <a:spLocks/>
              </p:cNvSpPr>
              <p:nvPr/>
            </p:nvSpPr>
            <p:spPr bwMode="auto">
              <a:xfrm>
                <a:off x="2080" y="3813"/>
                <a:ext cx="11" cy="15"/>
              </a:xfrm>
              <a:custGeom>
                <a:avLst/>
                <a:gdLst>
                  <a:gd name="T0" fmla="*/ 1 w 22"/>
                  <a:gd name="T1" fmla="*/ 0 h 32"/>
                  <a:gd name="T2" fmla="*/ 1 w 22"/>
                  <a:gd name="T3" fmla="*/ 0 h 32"/>
                  <a:gd name="T4" fmla="*/ 1 w 22"/>
                  <a:gd name="T5" fmla="*/ 0 h 32"/>
                  <a:gd name="T6" fmla="*/ 0 w 22"/>
                  <a:gd name="T7" fmla="*/ 0 h 32"/>
                  <a:gd name="T8" fmla="*/ 0 w 22"/>
                  <a:gd name="T9" fmla="*/ 0 h 32"/>
                  <a:gd name="T10" fmla="*/ 1 w 22"/>
                  <a:gd name="T11" fmla="*/ 0 h 32"/>
                  <a:gd name="T12" fmla="*/ 0 w 22"/>
                  <a:gd name="T13" fmla="*/ 0 h 32"/>
                  <a:gd name="T14" fmla="*/ 1 w 22"/>
                  <a:gd name="T15" fmla="*/ 0 h 32"/>
                  <a:gd name="T16" fmla="*/ 1 w 22"/>
                  <a:gd name="T17" fmla="*/ 0 h 32"/>
                  <a:gd name="T18" fmla="*/ 1 w 22"/>
                  <a:gd name="T19" fmla="*/ 0 h 32"/>
                  <a:gd name="T20" fmla="*/ 1 w 22"/>
                  <a:gd name="T21" fmla="*/ 0 h 32"/>
                  <a:gd name="T22" fmla="*/ 1 w 22"/>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4" y="10"/>
                    </a:moveTo>
                    <a:lnTo>
                      <a:pt x="22" y="21"/>
                    </a:lnTo>
                    <a:lnTo>
                      <a:pt x="22" y="0"/>
                    </a:lnTo>
                    <a:lnTo>
                      <a:pt x="0" y="0"/>
                    </a:lnTo>
                    <a:lnTo>
                      <a:pt x="0" y="21"/>
                    </a:lnTo>
                    <a:lnTo>
                      <a:pt x="8" y="32"/>
                    </a:lnTo>
                    <a:lnTo>
                      <a:pt x="0" y="21"/>
                    </a:lnTo>
                    <a:lnTo>
                      <a:pt x="3" y="28"/>
                    </a:lnTo>
                    <a:lnTo>
                      <a:pt x="11" y="32"/>
                    </a:lnTo>
                    <a:lnTo>
                      <a:pt x="19" y="28"/>
                    </a:lnTo>
                    <a:lnTo>
                      <a:pt x="22" y="21"/>
                    </a:lnTo>
                    <a:lnTo>
                      <a:pt x="14" y="10"/>
                    </a:lnTo>
                    <a:close/>
                  </a:path>
                </a:pathLst>
              </a:custGeom>
              <a:solidFill>
                <a:srgbClr val="000000"/>
              </a:solidFill>
              <a:ln w="9525">
                <a:noFill/>
                <a:round/>
                <a:headEnd/>
                <a:tailEnd/>
              </a:ln>
            </p:spPr>
            <p:txBody>
              <a:bodyPr/>
              <a:lstStyle/>
              <a:p>
                <a:endParaRPr lang="en-US"/>
              </a:p>
            </p:txBody>
          </p:sp>
          <p:sp>
            <p:nvSpPr>
              <p:cNvPr id="25798" name="Freeform 161"/>
              <p:cNvSpPr>
                <a:spLocks/>
              </p:cNvSpPr>
              <p:nvPr/>
            </p:nvSpPr>
            <p:spPr bwMode="auto">
              <a:xfrm>
                <a:off x="2084" y="3817"/>
                <a:ext cx="66" cy="32"/>
              </a:xfrm>
              <a:custGeom>
                <a:avLst/>
                <a:gdLst>
                  <a:gd name="T0" fmla="*/ 1 w 132"/>
                  <a:gd name="T1" fmla="*/ 1 h 62"/>
                  <a:gd name="T2" fmla="*/ 1 w 132"/>
                  <a:gd name="T3" fmla="*/ 1 h 62"/>
                  <a:gd name="T4" fmla="*/ 1 w 132"/>
                  <a:gd name="T5" fmla="*/ 0 h 62"/>
                  <a:gd name="T6" fmla="*/ 0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1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30" y="58"/>
                    </a:moveTo>
                    <a:lnTo>
                      <a:pt x="124" y="40"/>
                    </a:lnTo>
                    <a:lnTo>
                      <a:pt x="6" y="0"/>
                    </a:lnTo>
                    <a:lnTo>
                      <a:pt x="0" y="22"/>
                    </a:lnTo>
                    <a:lnTo>
                      <a:pt x="117" y="62"/>
                    </a:lnTo>
                    <a:lnTo>
                      <a:pt x="111" y="45"/>
                    </a:lnTo>
                    <a:lnTo>
                      <a:pt x="117" y="62"/>
                    </a:lnTo>
                    <a:lnTo>
                      <a:pt x="127" y="61"/>
                    </a:lnTo>
                    <a:lnTo>
                      <a:pt x="132" y="53"/>
                    </a:lnTo>
                    <a:lnTo>
                      <a:pt x="130" y="45"/>
                    </a:lnTo>
                    <a:lnTo>
                      <a:pt x="124" y="40"/>
                    </a:lnTo>
                    <a:lnTo>
                      <a:pt x="130" y="58"/>
                    </a:lnTo>
                    <a:close/>
                  </a:path>
                </a:pathLst>
              </a:custGeom>
              <a:solidFill>
                <a:srgbClr val="000000"/>
              </a:solidFill>
              <a:ln w="9525">
                <a:noFill/>
                <a:round/>
                <a:headEnd/>
                <a:tailEnd/>
              </a:ln>
            </p:spPr>
            <p:txBody>
              <a:bodyPr/>
              <a:lstStyle/>
              <a:p>
                <a:endParaRPr lang="en-US"/>
              </a:p>
            </p:txBody>
          </p:sp>
          <p:sp>
            <p:nvSpPr>
              <p:cNvPr id="25799" name="Freeform 162"/>
              <p:cNvSpPr>
                <a:spLocks/>
              </p:cNvSpPr>
              <p:nvPr/>
            </p:nvSpPr>
            <p:spPr bwMode="auto">
              <a:xfrm>
                <a:off x="2104" y="3840"/>
                <a:ext cx="45" cy="56"/>
              </a:xfrm>
              <a:custGeom>
                <a:avLst/>
                <a:gdLst>
                  <a:gd name="T0" fmla="*/ 1 w 89"/>
                  <a:gd name="T1" fmla="*/ 1 h 111"/>
                  <a:gd name="T2" fmla="*/ 1 w 89"/>
                  <a:gd name="T3" fmla="*/ 1 h 111"/>
                  <a:gd name="T4" fmla="*/ 1 w 89"/>
                  <a:gd name="T5" fmla="*/ 1 h 111"/>
                  <a:gd name="T6" fmla="*/ 1 w 89"/>
                  <a:gd name="T7" fmla="*/ 0 h 111"/>
                  <a:gd name="T8" fmla="*/ 1 w 89"/>
                  <a:gd name="T9" fmla="*/ 1 h 111"/>
                  <a:gd name="T10" fmla="*/ 1 w 89"/>
                  <a:gd name="T11" fmla="*/ 1 h 111"/>
                  <a:gd name="T12" fmla="*/ 1 w 89"/>
                  <a:gd name="T13" fmla="*/ 1 h 111"/>
                  <a:gd name="T14" fmla="*/ 0 w 89"/>
                  <a:gd name="T15" fmla="*/ 1 h 111"/>
                  <a:gd name="T16" fmla="*/ 1 w 89"/>
                  <a:gd name="T17" fmla="*/ 1 h 111"/>
                  <a:gd name="T18" fmla="*/ 1 w 89"/>
                  <a:gd name="T19" fmla="*/ 1 h 111"/>
                  <a:gd name="T20" fmla="*/ 1 w 89"/>
                  <a:gd name="T21" fmla="*/ 1 h 111"/>
                  <a:gd name="T22" fmla="*/ 1 w 89"/>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9"/>
                  <a:gd name="T37" fmla="*/ 0 h 111"/>
                  <a:gd name="T38" fmla="*/ 89 w 89"/>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9" h="111">
                    <a:moveTo>
                      <a:pt x="11" y="89"/>
                    </a:moveTo>
                    <a:lnTo>
                      <a:pt x="20" y="106"/>
                    </a:lnTo>
                    <a:lnTo>
                      <a:pt x="89" y="13"/>
                    </a:lnTo>
                    <a:lnTo>
                      <a:pt x="70" y="0"/>
                    </a:lnTo>
                    <a:lnTo>
                      <a:pt x="1" y="94"/>
                    </a:lnTo>
                    <a:lnTo>
                      <a:pt x="11" y="111"/>
                    </a:lnTo>
                    <a:lnTo>
                      <a:pt x="1" y="94"/>
                    </a:lnTo>
                    <a:lnTo>
                      <a:pt x="0" y="103"/>
                    </a:lnTo>
                    <a:lnTo>
                      <a:pt x="4" y="110"/>
                    </a:lnTo>
                    <a:lnTo>
                      <a:pt x="12" y="111"/>
                    </a:lnTo>
                    <a:lnTo>
                      <a:pt x="20" y="106"/>
                    </a:lnTo>
                    <a:lnTo>
                      <a:pt x="11" y="89"/>
                    </a:lnTo>
                    <a:close/>
                  </a:path>
                </a:pathLst>
              </a:custGeom>
              <a:solidFill>
                <a:srgbClr val="000000"/>
              </a:solidFill>
              <a:ln w="9525">
                <a:noFill/>
                <a:round/>
                <a:headEnd/>
                <a:tailEnd/>
              </a:ln>
            </p:spPr>
            <p:txBody>
              <a:bodyPr/>
              <a:lstStyle/>
              <a:p>
                <a:endParaRPr lang="en-US"/>
              </a:p>
            </p:txBody>
          </p:sp>
          <p:sp>
            <p:nvSpPr>
              <p:cNvPr id="25800" name="Freeform 163"/>
              <p:cNvSpPr>
                <a:spLocks/>
              </p:cNvSpPr>
              <p:nvPr/>
            </p:nvSpPr>
            <p:spPr bwMode="auto">
              <a:xfrm>
                <a:off x="2110" y="3885"/>
                <a:ext cx="16" cy="11"/>
              </a:xfrm>
              <a:custGeom>
                <a:avLst/>
                <a:gdLst>
                  <a:gd name="T0" fmla="*/ 0 w 33"/>
                  <a:gd name="T1" fmla="*/ 1 h 22"/>
                  <a:gd name="T2" fmla="*/ 0 w 33"/>
                  <a:gd name="T3" fmla="*/ 0 h 22"/>
                  <a:gd name="T4" fmla="*/ 0 w 33"/>
                  <a:gd name="T5" fmla="*/ 0 h 22"/>
                  <a:gd name="T6" fmla="*/ 0 w 33"/>
                  <a:gd name="T7" fmla="*/ 1 h 22"/>
                  <a:gd name="T8" fmla="*/ 0 w 33"/>
                  <a:gd name="T9" fmla="*/ 1 h 22"/>
                  <a:gd name="T10" fmla="*/ 0 w 33"/>
                  <a:gd name="T11" fmla="*/ 1 h 22"/>
                  <a:gd name="T12" fmla="*/ 0 w 33"/>
                  <a:gd name="T13" fmla="*/ 1 h 22"/>
                  <a:gd name="T14" fmla="*/ 0 w 33"/>
                  <a:gd name="T15" fmla="*/ 1 h 22"/>
                  <a:gd name="T16" fmla="*/ 0 w 33"/>
                  <a:gd name="T17" fmla="*/ 1 h 22"/>
                  <a:gd name="T18" fmla="*/ 0 w 33"/>
                  <a:gd name="T19" fmla="*/ 1 h 22"/>
                  <a:gd name="T20" fmla="*/ 0 w 33"/>
                  <a:gd name="T21" fmla="*/ 0 h 22"/>
                  <a:gd name="T22" fmla="*/ 0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4" y="3"/>
                    </a:moveTo>
                    <a:lnTo>
                      <a:pt x="22" y="0"/>
                    </a:lnTo>
                    <a:lnTo>
                      <a:pt x="0" y="0"/>
                    </a:lnTo>
                    <a:lnTo>
                      <a:pt x="0" y="22"/>
                    </a:lnTo>
                    <a:lnTo>
                      <a:pt x="22" y="22"/>
                    </a:lnTo>
                    <a:lnTo>
                      <a:pt x="29" y="19"/>
                    </a:lnTo>
                    <a:lnTo>
                      <a:pt x="22" y="22"/>
                    </a:lnTo>
                    <a:lnTo>
                      <a:pt x="29" y="19"/>
                    </a:lnTo>
                    <a:lnTo>
                      <a:pt x="33" y="11"/>
                    </a:lnTo>
                    <a:lnTo>
                      <a:pt x="29" y="3"/>
                    </a:lnTo>
                    <a:lnTo>
                      <a:pt x="22" y="0"/>
                    </a:lnTo>
                    <a:lnTo>
                      <a:pt x="14" y="3"/>
                    </a:lnTo>
                    <a:close/>
                  </a:path>
                </a:pathLst>
              </a:custGeom>
              <a:solidFill>
                <a:srgbClr val="000000"/>
              </a:solidFill>
              <a:ln w="9525">
                <a:noFill/>
                <a:round/>
                <a:headEnd/>
                <a:tailEnd/>
              </a:ln>
            </p:spPr>
            <p:txBody>
              <a:bodyPr/>
              <a:lstStyle/>
              <a:p>
                <a:endParaRPr lang="en-US"/>
              </a:p>
            </p:txBody>
          </p:sp>
          <p:sp>
            <p:nvSpPr>
              <p:cNvPr id="25801" name="Freeform 164"/>
              <p:cNvSpPr>
                <a:spLocks/>
              </p:cNvSpPr>
              <p:nvPr/>
            </p:nvSpPr>
            <p:spPr bwMode="auto">
              <a:xfrm>
                <a:off x="2117" y="3845"/>
                <a:ext cx="54" cy="49"/>
              </a:xfrm>
              <a:custGeom>
                <a:avLst/>
                <a:gdLst>
                  <a:gd name="T0" fmla="*/ 1 w 108"/>
                  <a:gd name="T1" fmla="*/ 0 h 99"/>
                  <a:gd name="T2" fmla="*/ 1 w 108"/>
                  <a:gd name="T3" fmla="*/ 0 h 99"/>
                  <a:gd name="T4" fmla="*/ 0 w 108"/>
                  <a:gd name="T5" fmla="*/ 0 h 99"/>
                  <a:gd name="T6" fmla="*/ 1 w 108"/>
                  <a:gd name="T7" fmla="*/ 0 h 99"/>
                  <a:gd name="T8" fmla="*/ 1 w 108"/>
                  <a:gd name="T9" fmla="*/ 0 h 99"/>
                  <a:gd name="T10" fmla="*/ 1 w 108"/>
                  <a:gd name="T11" fmla="*/ 0 h 99"/>
                  <a:gd name="T12" fmla="*/ 1 w 108"/>
                  <a:gd name="T13" fmla="*/ 0 h 99"/>
                  <a:gd name="T14" fmla="*/ 1 w 108"/>
                  <a:gd name="T15" fmla="*/ 0 h 99"/>
                  <a:gd name="T16" fmla="*/ 1 w 108"/>
                  <a:gd name="T17" fmla="*/ 0 h 99"/>
                  <a:gd name="T18" fmla="*/ 1 w 108"/>
                  <a:gd name="T19" fmla="*/ 0 h 99"/>
                  <a:gd name="T20" fmla="*/ 1 w 108"/>
                  <a:gd name="T21" fmla="*/ 0 h 99"/>
                  <a:gd name="T22" fmla="*/ 1 w 108"/>
                  <a:gd name="T23" fmla="*/ 0 h 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9"/>
                  <a:gd name="T38" fmla="*/ 108 w 108"/>
                  <a:gd name="T39" fmla="*/ 99 h 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9">
                    <a:moveTo>
                      <a:pt x="97" y="0"/>
                    </a:moveTo>
                    <a:lnTo>
                      <a:pt x="89" y="4"/>
                    </a:lnTo>
                    <a:lnTo>
                      <a:pt x="0" y="83"/>
                    </a:lnTo>
                    <a:lnTo>
                      <a:pt x="15" y="99"/>
                    </a:lnTo>
                    <a:lnTo>
                      <a:pt x="105" y="19"/>
                    </a:lnTo>
                    <a:lnTo>
                      <a:pt x="97" y="22"/>
                    </a:lnTo>
                    <a:lnTo>
                      <a:pt x="105" y="19"/>
                    </a:lnTo>
                    <a:lnTo>
                      <a:pt x="108" y="11"/>
                    </a:lnTo>
                    <a:lnTo>
                      <a:pt x="105" y="4"/>
                    </a:lnTo>
                    <a:lnTo>
                      <a:pt x="97" y="0"/>
                    </a:lnTo>
                    <a:lnTo>
                      <a:pt x="89" y="4"/>
                    </a:lnTo>
                    <a:lnTo>
                      <a:pt x="97" y="0"/>
                    </a:lnTo>
                    <a:close/>
                  </a:path>
                </a:pathLst>
              </a:custGeom>
              <a:solidFill>
                <a:srgbClr val="000000"/>
              </a:solidFill>
              <a:ln w="9525">
                <a:noFill/>
                <a:round/>
                <a:headEnd/>
                <a:tailEnd/>
              </a:ln>
            </p:spPr>
            <p:txBody>
              <a:bodyPr/>
              <a:lstStyle/>
              <a:p>
                <a:endParaRPr lang="en-US"/>
              </a:p>
            </p:txBody>
          </p:sp>
          <p:sp>
            <p:nvSpPr>
              <p:cNvPr id="25802" name="Freeform 165"/>
              <p:cNvSpPr>
                <a:spLocks/>
              </p:cNvSpPr>
              <p:nvPr/>
            </p:nvSpPr>
            <p:spPr bwMode="auto">
              <a:xfrm>
                <a:off x="2164" y="3845"/>
                <a:ext cx="9" cy="11"/>
              </a:xfrm>
              <a:custGeom>
                <a:avLst/>
                <a:gdLst>
                  <a:gd name="T0" fmla="*/ 0 w 19"/>
                  <a:gd name="T1" fmla="*/ 1 h 22"/>
                  <a:gd name="T2" fmla="*/ 0 w 19"/>
                  <a:gd name="T3" fmla="*/ 0 h 22"/>
                  <a:gd name="T4" fmla="*/ 0 w 19"/>
                  <a:gd name="T5" fmla="*/ 0 h 22"/>
                  <a:gd name="T6" fmla="*/ 0 w 19"/>
                  <a:gd name="T7" fmla="*/ 1 h 22"/>
                  <a:gd name="T8" fmla="*/ 0 w 19"/>
                  <a:gd name="T9" fmla="*/ 1 h 22"/>
                  <a:gd name="T10" fmla="*/ 0 w 19"/>
                  <a:gd name="T11" fmla="*/ 1 h 22"/>
                  <a:gd name="T12" fmla="*/ 0 w 19"/>
                  <a:gd name="T13" fmla="*/ 1 h 22"/>
                  <a:gd name="T14" fmla="*/ 0 w 19"/>
                  <a:gd name="T15" fmla="*/ 1 h 22"/>
                  <a:gd name="T16" fmla="*/ 0 w 19"/>
                  <a:gd name="T17" fmla="*/ 1 h 22"/>
                  <a:gd name="T18" fmla="*/ 0 w 19"/>
                  <a:gd name="T19" fmla="*/ 1 h 22"/>
                  <a:gd name="T20" fmla="*/ 0 w 19"/>
                  <a:gd name="T21" fmla="*/ 0 h 22"/>
                  <a:gd name="T22" fmla="*/ 0 w 19"/>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2"/>
                  <a:gd name="T38" fmla="*/ 19 w 19"/>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2">
                    <a:moveTo>
                      <a:pt x="15" y="4"/>
                    </a:moveTo>
                    <a:lnTo>
                      <a:pt x="8" y="0"/>
                    </a:lnTo>
                    <a:lnTo>
                      <a:pt x="3" y="0"/>
                    </a:lnTo>
                    <a:lnTo>
                      <a:pt x="3" y="22"/>
                    </a:lnTo>
                    <a:lnTo>
                      <a:pt x="8" y="22"/>
                    </a:lnTo>
                    <a:lnTo>
                      <a:pt x="0" y="19"/>
                    </a:lnTo>
                    <a:lnTo>
                      <a:pt x="8" y="22"/>
                    </a:lnTo>
                    <a:lnTo>
                      <a:pt x="15" y="19"/>
                    </a:lnTo>
                    <a:lnTo>
                      <a:pt x="19" y="11"/>
                    </a:lnTo>
                    <a:lnTo>
                      <a:pt x="15" y="4"/>
                    </a:lnTo>
                    <a:lnTo>
                      <a:pt x="8" y="0"/>
                    </a:lnTo>
                    <a:lnTo>
                      <a:pt x="15" y="4"/>
                    </a:lnTo>
                    <a:close/>
                  </a:path>
                </a:pathLst>
              </a:custGeom>
              <a:solidFill>
                <a:srgbClr val="000000"/>
              </a:solidFill>
              <a:ln w="9525">
                <a:noFill/>
                <a:round/>
                <a:headEnd/>
                <a:tailEnd/>
              </a:ln>
            </p:spPr>
            <p:txBody>
              <a:bodyPr/>
              <a:lstStyle/>
              <a:p>
                <a:endParaRPr lang="en-US"/>
              </a:p>
            </p:txBody>
          </p:sp>
          <p:sp>
            <p:nvSpPr>
              <p:cNvPr id="25803" name="Freeform 166"/>
              <p:cNvSpPr>
                <a:spLocks/>
              </p:cNvSpPr>
              <p:nvPr/>
            </p:nvSpPr>
            <p:spPr bwMode="auto">
              <a:xfrm>
                <a:off x="2164" y="3846"/>
                <a:ext cx="54" cy="50"/>
              </a:xfrm>
              <a:custGeom>
                <a:avLst/>
                <a:gdLst>
                  <a:gd name="T0" fmla="*/ 1 w 108"/>
                  <a:gd name="T1" fmla="*/ 1 h 98"/>
                  <a:gd name="T2" fmla="*/ 1 w 108"/>
                  <a:gd name="T3" fmla="*/ 1 h 98"/>
                  <a:gd name="T4" fmla="*/ 1 w 108"/>
                  <a:gd name="T5" fmla="*/ 0 h 98"/>
                  <a:gd name="T6" fmla="*/ 0 w 108"/>
                  <a:gd name="T7" fmla="*/ 1 h 98"/>
                  <a:gd name="T8" fmla="*/ 1 w 108"/>
                  <a:gd name="T9" fmla="*/ 1 h 98"/>
                  <a:gd name="T10" fmla="*/ 1 w 108"/>
                  <a:gd name="T11" fmla="*/ 1 h 98"/>
                  <a:gd name="T12" fmla="*/ 1 w 108"/>
                  <a:gd name="T13" fmla="*/ 1 h 98"/>
                  <a:gd name="T14" fmla="*/ 1 w 108"/>
                  <a:gd name="T15" fmla="*/ 1 h 98"/>
                  <a:gd name="T16" fmla="*/ 1 w 108"/>
                  <a:gd name="T17" fmla="*/ 1 h 98"/>
                  <a:gd name="T18" fmla="*/ 1 w 108"/>
                  <a:gd name="T19" fmla="*/ 1 h 98"/>
                  <a:gd name="T20" fmla="*/ 1 w 108"/>
                  <a:gd name="T21" fmla="*/ 1 h 98"/>
                  <a:gd name="T22" fmla="*/ 1 w 108"/>
                  <a:gd name="T23" fmla="*/ 1 h 9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8"/>
                  <a:gd name="T38" fmla="*/ 108 w 108"/>
                  <a:gd name="T39" fmla="*/ 98 h 9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8">
                    <a:moveTo>
                      <a:pt x="97" y="76"/>
                    </a:moveTo>
                    <a:lnTo>
                      <a:pt x="105" y="79"/>
                    </a:lnTo>
                    <a:lnTo>
                      <a:pt x="15" y="0"/>
                    </a:lnTo>
                    <a:lnTo>
                      <a:pt x="0" y="15"/>
                    </a:lnTo>
                    <a:lnTo>
                      <a:pt x="89" y="95"/>
                    </a:lnTo>
                    <a:lnTo>
                      <a:pt x="97" y="98"/>
                    </a:lnTo>
                    <a:lnTo>
                      <a:pt x="89" y="95"/>
                    </a:lnTo>
                    <a:lnTo>
                      <a:pt x="97" y="98"/>
                    </a:lnTo>
                    <a:lnTo>
                      <a:pt x="105" y="93"/>
                    </a:lnTo>
                    <a:lnTo>
                      <a:pt x="108" y="87"/>
                    </a:lnTo>
                    <a:lnTo>
                      <a:pt x="105" y="79"/>
                    </a:lnTo>
                    <a:lnTo>
                      <a:pt x="97" y="76"/>
                    </a:lnTo>
                    <a:close/>
                  </a:path>
                </a:pathLst>
              </a:custGeom>
              <a:solidFill>
                <a:srgbClr val="000000"/>
              </a:solidFill>
              <a:ln w="9525">
                <a:noFill/>
                <a:round/>
                <a:headEnd/>
                <a:tailEnd/>
              </a:ln>
            </p:spPr>
            <p:txBody>
              <a:bodyPr/>
              <a:lstStyle/>
              <a:p>
                <a:endParaRPr lang="en-US"/>
              </a:p>
            </p:txBody>
          </p:sp>
          <p:sp>
            <p:nvSpPr>
              <p:cNvPr id="25804" name="Freeform 167"/>
              <p:cNvSpPr>
                <a:spLocks/>
              </p:cNvSpPr>
              <p:nvPr/>
            </p:nvSpPr>
            <p:spPr bwMode="auto">
              <a:xfrm>
                <a:off x="2212" y="3885"/>
                <a:ext cx="17" cy="11"/>
              </a:xfrm>
              <a:custGeom>
                <a:avLst/>
                <a:gdLst>
                  <a:gd name="T0" fmla="*/ 1 w 33"/>
                  <a:gd name="T1" fmla="*/ 1 h 22"/>
                  <a:gd name="T2" fmla="*/ 1 w 33"/>
                  <a:gd name="T3" fmla="*/ 0 h 22"/>
                  <a:gd name="T4" fmla="*/ 0 w 33"/>
                  <a:gd name="T5" fmla="*/ 0 h 22"/>
                  <a:gd name="T6" fmla="*/ 0 w 33"/>
                  <a:gd name="T7" fmla="*/ 1 h 22"/>
                  <a:gd name="T8" fmla="*/ 1 w 33"/>
                  <a:gd name="T9" fmla="*/ 1 h 22"/>
                  <a:gd name="T10" fmla="*/ 1 w 33"/>
                  <a:gd name="T11" fmla="*/ 1 h 22"/>
                  <a:gd name="T12" fmla="*/ 1 w 33"/>
                  <a:gd name="T13" fmla="*/ 1 h 22"/>
                  <a:gd name="T14" fmla="*/ 1 w 33"/>
                  <a:gd name="T15" fmla="*/ 1 h 22"/>
                  <a:gd name="T16" fmla="*/ 1 w 33"/>
                  <a:gd name="T17" fmla="*/ 1 h 22"/>
                  <a:gd name="T18" fmla="*/ 1 w 33"/>
                  <a:gd name="T19" fmla="*/ 1 h 22"/>
                  <a:gd name="T20" fmla="*/ 1 w 33"/>
                  <a:gd name="T21" fmla="*/ 0 h 22"/>
                  <a:gd name="T22" fmla="*/ 1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2" y="17"/>
                    </a:moveTo>
                    <a:lnTo>
                      <a:pt x="22" y="0"/>
                    </a:lnTo>
                    <a:lnTo>
                      <a:pt x="0" y="0"/>
                    </a:lnTo>
                    <a:lnTo>
                      <a:pt x="0" y="22"/>
                    </a:lnTo>
                    <a:lnTo>
                      <a:pt x="22" y="22"/>
                    </a:lnTo>
                    <a:lnTo>
                      <a:pt x="31" y="5"/>
                    </a:lnTo>
                    <a:lnTo>
                      <a:pt x="22" y="22"/>
                    </a:lnTo>
                    <a:lnTo>
                      <a:pt x="30" y="19"/>
                    </a:lnTo>
                    <a:lnTo>
                      <a:pt x="33" y="11"/>
                    </a:lnTo>
                    <a:lnTo>
                      <a:pt x="30" y="3"/>
                    </a:lnTo>
                    <a:lnTo>
                      <a:pt x="22" y="0"/>
                    </a:lnTo>
                    <a:lnTo>
                      <a:pt x="12" y="17"/>
                    </a:lnTo>
                    <a:close/>
                  </a:path>
                </a:pathLst>
              </a:custGeom>
              <a:solidFill>
                <a:srgbClr val="000000"/>
              </a:solidFill>
              <a:ln w="9525">
                <a:noFill/>
                <a:round/>
                <a:headEnd/>
                <a:tailEnd/>
              </a:ln>
            </p:spPr>
            <p:txBody>
              <a:bodyPr/>
              <a:lstStyle/>
              <a:p>
                <a:endParaRPr lang="en-US"/>
              </a:p>
            </p:txBody>
          </p:sp>
          <p:sp>
            <p:nvSpPr>
              <p:cNvPr id="25805" name="Freeform 168"/>
              <p:cNvSpPr>
                <a:spLocks/>
              </p:cNvSpPr>
              <p:nvPr/>
            </p:nvSpPr>
            <p:spPr bwMode="auto">
              <a:xfrm>
                <a:off x="2184" y="3838"/>
                <a:ext cx="44" cy="55"/>
              </a:xfrm>
              <a:custGeom>
                <a:avLst/>
                <a:gdLst>
                  <a:gd name="T0" fmla="*/ 1 w 88"/>
                  <a:gd name="T1" fmla="*/ 0 h 111"/>
                  <a:gd name="T2" fmla="*/ 1 w 88"/>
                  <a:gd name="T3" fmla="*/ 0 h 111"/>
                  <a:gd name="T4" fmla="*/ 1 w 88"/>
                  <a:gd name="T5" fmla="*/ 0 h 111"/>
                  <a:gd name="T6" fmla="*/ 1 w 88"/>
                  <a:gd name="T7" fmla="*/ 0 h 111"/>
                  <a:gd name="T8" fmla="*/ 1 w 88"/>
                  <a:gd name="T9" fmla="*/ 0 h 111"/>
                  <a:gd name="T10" fmla="*/ 1 w 88"/>
                  <a:gd name="T11" fmla="*/ 0 h 111"/>
                  <a:gd name="T12" fmla="*/ 1 w 88"/>
                  <a:gd name="T13" fmla="*/ 0 h 111"/>
                  <a:gd name="T14" fmla="*/ 1 w 88"/>
                  <a:gd name="T15" fmla="*/ 0 h 111"/>
                  <a:gd name="T16" fmla="*/ 1 w 88"/>
                  <a:gd name="T17" fmla="*/ 0 h 111"/>
                  <a:gd name="T18" fmla="*/ 0 w 88"/>
                  <a:gd name="T19" fmla="*/ 0 h 111"/>
                  <a:gd name="T20" fmla="*/ 1 w 88"/>
                  <a:gd name="T21" fmla="*/ 0 h 111"/>
                  <a:gd name="T22" fmla="*/ 1 w 88"/>
                  <a:gd name="T23" fmla="*/ 0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8"/>
                  <a:gd name="T37" fmla="*/ 0 h 111"/>
                  <a:gd name="T38" fmla="*/ 88 w 88"/>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8" h="111">
                    <a:moveTo>
                      <a:pt x="8" y="0"/>
                    </a:moveTo>
                    <a:lnTo>
                      <a:pt x="2" y="18"/>
                    </a:lnTo>
                    <a:lnTo>
                      <a:pt x="69" y="111"/>
                    </a:lnTo>
                    <a:lnTo>
                      <a:pt x="88" y="99"/>
                    </a:lnTo>
                    <a:lnTo>
                      <a:pt x="21" y="5"/>
                    </a:lnTo>
                    <a:lnTo>
                      <a:pt x="15" y="22"/>
                    </a:lnTo>
                    <a:lnTo>
                      <a:pt x="21" y="5"/>
                    </a:lnTo>
                    <a:lnTo>
                      <a:pt x="13" y="0"/>
                    </a:lnTo>
                    <a:lnTo>
                      <a:pt x="5" y="2"/>
                    </a:lnTo>
                    <a:lnTo>
                      <a:pt x="0" y="8"/>
                    </a:lnTo>
                    <a:lnTo>
                      <a:pt x="2" y="18"/>
                    </a:lnTo>
                    <a:lnTo>
                      <a:pt x="8" y="0"/>
                    </a:lnTo>
                    <a:close/>
                  </a:path>
                </a:pathLst>
              </a:custGeom>
              <a:solidFill>
                <a:srgbClr val="000000"/>
              </a:solidFill>
              <a:ln w="9525">
                <a:noFill/>
                <a:round/>
                <a:headEnd/>
                <a:tailEnd/>
              </a:ln>
            </p:spPr>
            <p:txBody>
              <a:bodyPr/>
              <a:lstStyle/>
              <a:p>
                <a:endParaRPr lang="en-US"/>
              </a:p>
            </p:txBody>
          </p:sp>
          <p:sp>
            <p:nvSpPr>
              <p:cNvPr id="25806" name="Freeform 169"/>
              <p:cNvSpPr>
                <a:spLocks/>
              </p:cNvSpPr>
              <p:nvPr/>
            </p:nvSpPr>
            <p:spPr bwMode="auto">
              <a:xfrm>
                <a:off x="2188" y="3817"/>
                <a:ext cx="66" cy="32"/>
              </a:xfrm>
              <a:custGeom>
                <a:avLst/>
                <a:gdLst>
                  <a:gd name="T0" fmla="*/ 1 w 132"/>
                  <a:gd name="T1" fmla="*/ 1 h 62"/>
                  <a:gd name="T2" fmla="*/ 1 w 132"/>
                  <a:gd name="T3" fmla="*/ 0 h 62"/>
                  <a:gd name="T4" fmla="*/ 0 w 132"/>
                  <a:gd name="T5" fmla="*/ 1 h 62"/>
                  <a:gd name="T6" fmla="*/ 1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0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10" y="11"/>
                    </a:moveTo>
                    <a:lnTo>
                      <a:pt x="118" y="0"/>
                    </a:lnTo>
                    <a:lnTo>
                      <a:pt x="0" y="40"/>
                    </a:lnTo>
                    <a:lnTo>
                      <a:pt x="7" y="62"/>
                    </a:lnTo>
                    <a:lnTo>
                      <a:pt x="124" y="22"/>
                    </a:lnTo>
                    <a:lnTo>
                      <a:pt x="132" y="11"/>
                    </a:lnTo>
                    <a:lnTo>
                      <a:pt x="124" y="22"/>
                    </a:lnTo>
                    <a:lnTo>
                      <a:pt x="130" y="17"/>
                    </a:lnTo>
                    <a:lnTo>
                      <a:pt x="132" y="8"/>
                    </a:lnTo>
                    <a:lnTo>
                      <a:pt x="127" y="1"/>
                    </a:lnTo>
                    <a:lnTo>
                      <a:pt x="118" y="0"/>
                    </a:lnTo>
                    <a:lnTo>
                      <a:pt x="110" y="11"/>
                    </a:lnTo>
                    <a:close/>
                  </a:path>
                </a:pathLst>
              </a:custGeom>
              <a:solidFill>
                <a:srgbClr val="000000"/>
              </a:solidFill>
              <a:ln w="9525">
                <a:noFill/>
                <a:round/>
                <a:headEnd/>
                <a:tailEnd/>
              </a:ln>
            </p:spPr>
            <p:txBody>
              <a:bodyPr/>
              <a:lstStyle/>
              <a:p>
                <a:endParaRPr lang="en-US"/>
              </a:p>
            </p:txBody>
          </p:sp>
          <p:sp>
            <p:nvSpPr>
              <p:cNvPr id="25807" name="Freeform 170"/>
              <p:cNvSpPr>
                <a:spLocks/>
              </p:cNvSpPr>
              <p:nvPr/>
            </p:nvSpPr>
            <p:spPr bwMode="auto">
              <a:xfrm>
                <a:off x="2243" y="3807"/>
                <a:ext cx="11" cy="16"/>
              </a:xfrm>
              <a:custGeom>
                <a:avLst/>
                <a:gdLst>
                  <a:gd name="T0" fmla="*/ 1 w 22"/>
                  <a:gd name="T1" fmla="*/ 1 h 32"/>
                  <a:gd name="T2" fmla="*/ 0 w 22"/>
                  <a:gd name="T3" fmla="*/ 1 h 32"/>
                  <a:gd name="T4" fmla="*/ 0 w 22"/>
                  <a:gd name="T5" fmla="*/ 1 h 32"/>
                  <a:gd name="T6" fmla="*/ 1 w 22"/>
                  <a:gd name="T7" fmla="*/ 1 h 32"/>
                  <a:gd name="T8" fmla="*/ 1 w 22"/>
                  <a:gd name="T9" fmla="*/ 1 h 32"/>
                  <a:gd name="T10" fmla="*/ 1 w 22"/>
                  <a:gd name="T11" fmla="*/ 0 h 32"/>
                  <a:gd name="T12" fmla="*/ 1 w 22"/>
                  <a:gd name="T13" fmla="*/ 1 h 32"/>
                  <a:gd name="T14" fmla="*/ 1 w 22"/>
                  <a:gd name="T15" fmla="*/ 1 h 32"/>
                  <a:gd name="T16" fmla="*/ 1 w 22"/>
                  <a:gd name="T17" fmla="*/ 0 h 32"/>
                  <a:gd name="T18" fmla="*/ 1 w 22"/>
                  <a:gd name="T19" fmla="*/ 1 h 32"/>
                  <a:gd name="T20" fmla="*/ 0 w 22"/>
                  <a:gd name="T21" fmla="*/ 1 h 32"/>
                  <a:gd name="T22" fmla="*/ 1 w 22"/>
                  <a:gd name="T23" fmla="*/ 1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2" y="22"/>
                    </a:moveTo>
                    <a:lnTo>
                      <a:pt x="0" y="11"/>
                    </a:lnTo>
                    <a:lnTo>
                      <a:pt x="0" y="32"/>
                    </a:lnTo>
                    <a:lnTo>
                      <a:pt x="22" y="32"/>
                    </a:lnTo>
                    <a:lnTo>
                      <a:pt x="22" y="11"/>
                    </a:lnTo>
                    <a:lnTo>
                      <a:pt x="9" y="0"/>
                    </a:lnTo>
                    <a:lnTo>
                      <a:pt x="22" y="11"/>
                    </a:lnTo>
                    <a:lnTo>
                      <a:pt x="19" y="4"/>
                    </a:lnTo>
                    <a:lnTo>
                      <a:pt x="11" y="0"/>
                    </a:lnTo>
                    <a:lnTo>
                      <a:pt x="3" y="4"/>
                    </a:lnTo>
                    <a:lnTo>
                      <a:pt x="0" y="11"/>
                    </a:lnTo>
                    <a:lnTo>
                      <a:pt x="12" y="22"/>
                    </a:lnTo>
                    <a:close/>
                  </a:path>
                </a:pathLst>
              </a:custGeom>
              <a:solidFill>
                <a:srgbClr val="000000"/>
              </a:solidFill>
              <a:ln w="9525">
                <a:noFill/>
                <a:round/>
                <a:headEnd/>
                <a:tailEnd/>
              </a:ln>
            </p:spPr>
            <p:txBody>
              <a:bodyPr/>
              <a:lstStyle/>
              <a:p>
                <a:endParaRPr lang="en-US"/>
              </a:p>
            </p:txBody>
          </p:sp>
          <p:sp>
            <p:nvSpPr>
              <p:cNvPr id="25808" name="Freeform 171"/>
              <p:cNvSpPr>
                <a:spLocks/>
              </p:cNvSpPr>
              <p:nvPr/>
            </p:nvSpPr>
            <p:spPr bwMode="auto">
              <a:xfrm>
                <a:off x="2170" y="3807"/>
                <a:ext cx="79" cy="27"/>
              </a:xfrm>
              <a:custGeom>
                <a:avLst/>
                <a:gdLst>
                  <a:gd name="T0" fmla="*/ 1 w 158"/>
                  <a:gd name="T1" fmla="*/ 1 h 54"/>
                  <a:gd name="T2" fmla="*/ 1 w 158"/>
                  <a:gd name="T3" fmla="*/ 1 h 54"/>
                  <a:gd name="T4" fmla="*/ 1 w 158"/>
                  <a:gd name="T5" fmla="*/ 1 h 54"/>
                  <a:gd name="T6" fmla="*/ 1 w 158"/>
                  <a:gd name="T7" fmla="*/ 0 h 54"/>
                  <a:gd name="T8" fmla="*/ 1 w 158"/>
                  <a:gd name="T9" fmla="*/ 1 h 54"/>
                  <a:gd name="T10" fmla="*/ 1 w 158"/>
                  <a:gd name="T11" fmla="*/ 1 h 54"/>
                  <a:gd name="T12" fmla="*/ 1 w 158"/>
                  <a:gd name="T13" fmla="*/ 1 h 54"/>
                  <a:gd name="T14" fmla="*/ 1 w 158"/>
                  <a:gd name="T15" fmla="*/ 1 h 54"/>
                  <a:gd name="T16" fmla="*/ 0 w 158"/>
                  <a:gd name="T17" fmla="*/ 1 h 54"/>
                  <a:gd name="T18" fmla="*/ 1 w 158"/>
                  <a:gd name="T19" fmla="*/ 1 h 54"/>
                  <a:gd name="T20" fmla="*/ 1 w 158"/>
                  <a:gd name="T21" fmla="*/ 1 h 54"/>
                  <a:gd name="T22" fmla="*/ 1 w 158"/>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54"/>
                  <a:gd name="T38" fmla="*/ 158 w 158"/>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54">
                    <a:moveTo>
                      <a:pt x="11" y="54"/>
                    </a:moveTo>
                    <a:lnTo>
                      <a:pt x="13" y="54"/>
                    </a:lnTo>
                    <a:lnTo>
                      <a:pt x="158" y="22"/>
                    </a:lnTo>
                    <a:lnTo>
                      <a:pt x="155" y="0"/>
                    </a:lnTo>
                    <a:lnTo>
                      <a:pt x="10" y="32"/>
                    </a:lnTo>
                    <a:lnTo>
                      <a:pt x="11" y="32"/>
                    </a:lnTo>
                    <a:lnTo>
                      <a:pt x="10" y="32"/>
                    </a:lnTo>
                    <a:lnTo>
                      <a:pt x="2" y="36"/>
                    </a:lnTo>
                    <a:lnTo>
                      <a:pt x="0" y="44"/>
                    </a:lnTo>
                    <a:lnTo>
                      <a:pt x="5" y="50"/>
                    </a:lnTo>
                    <a:lnTo>
                      <a:pt x="13" y="54"/>
                    </a:lnTo>
                    <a:lnTo>
                      <a:pt x="11" y="54"/>
                    </a:lnTo>
                    <a:close/>
                  </a:path>
                </a:pathLst>
              </a:custGeom>
              <a:solidFill>
                <a:srgbClr val="000000"/>
              </a:solidFill>
              <a:ln w="9525">
                <a:noFill/>
                <a:round/>
                <a:headEnd/>
                <a:tailEnd/>
              </a:ln>
            </p:spPr>
            <p:txBody>
              <a:bodyPr/>
              <a:lstStyle/>
              <a:p>
                <a:endParaRPr lang="en-US"/>
              </a:p>
            </p:txBody>
          </p:sp>
          <p:sp>
            <p:nvSpPr>
              <p:cNvPr id="25809" name="Freeform 172"/>
              <p:cNvSpPr>
                <a:spLocks/>
              </p:cNvSpPr>
              <p:nvPr/>
            </p:nvSpPr>
            <p:spPr bwMode="auto">
              <a:xfrm>
                <a:off x="2152" y="3823"/>
                <a:ext cx="24" cy="11"/>
              </a:xfrm>
              <a:custGeom>
                <a:avLst/>
                <a:gdLst>
                  <a:gd name="T0" fmla="*/ 1 w 47"/>
                  <a:gd name="T1" fmla="*/ 1 h 22"/>
                  <a:gd name="T2" fmla="*/ 1 w 47"/>
                  <a:gd name="T3" fmla="*/ 1 h 22"/>
                  <a:gd name="T4" fmla="*/ 1 w 47"/>
                  <a:gd name="T5" fmla="*/ 1 h 22"/>
                  <a:gd name="T6" fmla="*/ 1 w 47"/>
                  <a:gd name="T7" fmla="*/ 0 h 22"/>
                  <a:gd name="T8" fmla="*/ 1 w 47"/>
                  <a:gd name="T9" fmla="*/ 0 h 22"/>
                  <a:gd name="T10" fmla="*/ 1 w 47"/>
                  <a:gd name="T11" fmla="*/ 0 h 22"/>
                  <a:gd name="T12" fmla="*/ 1 w 47"/>
                  <a:gd name="T13" fmla="*/ 0 h 22"/>
                  <a:gd name="T14" fmla="*/ 1 w 47"/>
                  <a:gd name="T15" fmla="*/ 1 h 22"/>
                  <a:gd name="T16" fmla="*/ 0 w 47"/>
                  <a:gd name="T17" fmla="*/ 1 h 22"/>
                  <a:gd name="T18" fmla="*/ 1 w 47"/>
                  <a:gd name="T19" fmla="*/ 1 h 22"/>
                  <a:gd name="T20" fmla="*/ 1 w 47"/>
                  <a:gd name="T21" fmla="*/ 1 h 22"/>
                  <a:gd name="T22" fmla="*/ 1 w 47"/>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
                  <a:gd name="T37" fmla="*/ 0 h 22"/>
                  <a:gd name="T38" fmla="*/ 47 w 47"/>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 h="22">
                    <a:moveTo>
                      <a:pt x="10" y="22"/>
                    </a:moveTo>
                    <a:lnTo>
                      <a:pt x="11" y="22"/>
                    </a:lnTo>
                    <a:lnTo>
                      <a:pt x="47" y="22"/>
                    </a:lnTo>
                    <a:lnTo>
                      <a:pt x="47" y="0"/>
                    </a:lnTo>
                    <a:lnTo>
                      <a:pt x="11" y="0"/>
                    </a:lnTo>
                    <a:lnTo>
                      <a:pt x="13" y="0"/>
                    </a:lnTo>
                    <a:lnTo>
                      <a:pt x="11" y="0"/>
                    </a:lnTo>
                    <a:lnTo>
                      <a:pt x="3" y="3"/>
                    </a:lnTo>
                    <a:lnTo>
                      <a:pt x="0" y="11"/>
                    </a:lnTo>
                    <a:lnTo>
                      <a:pt x="3" y="18"/>
                    </a:lnTo>
                    <a:lnTo>
                      <a:pt x="11" y="22"/>
                    </a:lnTo>
                    <a:lnTo>
                      <a:pt x="10" y="22"/>
                    </a:lnTo>
                    <a:close/>
                  </a:path>
                </a:pathLst>
              </a:custGeom>
              <a:solidFill>
                <a:srgbClr val="000000"/>
              </a:solidFill>
              <a:ln w="9525">
                <a:noFill/>
                <a:round/>
                <a:headEnd/>
                <a:tailEnd/>
              </a:ln>
            </p:spPr>
            <p:txBody>
              <a:bodyPr/>
              <a:lstStyle/>
              <a:p>
                <a:endParaRPr lang="en-US"/>
              </a:p>
            </p:txBody>
          </p:sp>
          <p:sp>
            <p:nvSpPr>
              <p:cNvPr id="25810" name="Line 173"/>
              <p:cNvSpPr>
                <a:spLocks noChangeShapeType="1"/>
              </p:cNvSpPr>
              <p:nvPr/>
            </p:nvSpPr>
            <p:spPr bwMode="auto">
              <a:xfrm flipV="1">
                <a:off x="1933" y="3548"/>
                <a:ext cx="130" cy="76"/>
              </a:xfrm>
              <a:prstGeom prst="line">
                <a:avLst/>
              </a:prstGeom>
              <a:noFill/>
              <a:ln w="0">
                <a:solidFill>
                  <a:srgbClr val="000000"/>
                </a:solidFill>
                <a:round/>
                <a:headEnd/>
                <a:tailEnd/>
              </a:ln>
            </p:spPr>
            <p:txBody>
              <a:bodyPr/>
              <a:lstStyle/>
              <a:p>
                <a:endParaRPr lang="en-US"/>
              </a:p>
            </p:txBody>
          </p:sp>
          <p:sp>
            <p:nvSpPr>
              <p:cNvPr id="25811" name="Line 174"/>
              <p:cNvSpPr>
                <a:spLocks noChangeShapeType="1"/>
              </p:cNvSpPr>
              <p:nvPr/>
            </p:nvSpPr>
            <p:spPr bwMode="auto">
              <a:xfrm flipV="1">
                <a:off x="1942" y="3553"/>
                <a:ext cx="129" cy="75"/>
              </a:xfrm>
              <a:prstGeom prst="line">
                <a:avLst/>
              </a:prstGeom>
              <a:noFill/>
              <a:ln w="0">
                <a:solidFill>
                  <a:srgbClr val="000000"/>
                </a:solidFill>
                <a:round/>
                <a:headEnd/>
                <a:tailEnd/>
              </a:ln>
            </p:spPr>
            <p:txBody>
              <a:bodyPr/>
              <a:lstStyle/>
              <a:p>
                <a:endParaRPr lang="en-US"/>
              </a:p>
            </p:txBody>
          </p:sp>
          <p:sp>
            <p:nvSpPr>
              <p:cNvPr id="25812" name="Line 175"/>
              <p:cNvSpPr>
                <a:spLocks noChangeShapeType="1"/>
              </p:cNvSpPr>
              <p:nvPr/>
            </p:nvSpPr>
            <p:spPr bwMode="auto">
              <a:xfrm flipV="1">
                <a:off x="1949" y="3560"/>
                <a:ext cx="130" cy="75"/>
              </a:xfrm>
              <a:prstGeom prst="line">
                <a:avLst/>
              </a:prstGeom>
              <a:noFill/>
              <a:ln w="0">
                <a:solidFill>
                  <a:srgbClr val="000000"/>
                </a:solidFill>
                <a:round/>
                <a:headEnd/>
                <a:tailEnd/>
              </a:ln>
            </p:spPr>
            <p:txBody>
              <a:bodyPr/>
              <a:lstStyle/>
              <a:p>
                <a:endParaRPr lang="en-US"/>
              </a:p>
            </p:txBody>
          </p:sp>
          <p:sp>
            <p:nvSpPr>
              <p:cNvPr id="25813" name="Line 176"/>
              <p:cNvSpPr>
                <a:spLocks noChangeShapeType="1"/>
              </p:cNvSpPr>
              <p:nvPr/>
            </p:nvSpPr>
            <p:spPr bwMode="auto">
              <a:xfrm flipV="1">
                <a:off x="2019" y="3512"/>
                <a:ext cx="18" cy="11"/>
              </a:xfrm>
              <a:prstGeom prst="line">
                <a:avLst/>
              </a:prstGeom>
              <a:noFill/>
              <a:ln w="0">
                <a:solidFill>
                  <a:srgbClr val="000000"/>
                </a:solidFill>
                <a:round/>
                <a:headEnd/>
                <a:tailEnd/>
              </a:ln>
            </p:spPr>
            <p:txBody>
              <a:bodyPr/>
              <a:lstStyle/>
              <a:p>
                <a:endParaRPr lang="en-US"/>
              </a:p>
            </p:txBody>
          </p:sp>
          <p:sp>
            <p:nvSpPr>
              <p:cNvPr id="25814" name="Freeform 177"/>
              <p:cNvSpPr>
                <a:spLocks/>
              </p:cNvSpPr>
              <p:nvPr/>
            </p:nvSpPr>
            <p:spPr bwMode="auto">
              <a:xfrm>
                <a:off x="1894" y="3369"/>
                <a:ext cx="130" cy="194"/>
              </a:xfrm>
              <a:custGeom>
                <a:avLst/>
                <a:gdLst>
                  <a:gd name="T0" fmla="*/ 1 w 259"/>
                  <a:gd name="T1" fmla="*/ 0 h 388"/>
                  <a:gd name="T2" fmla="*/ 1 w 259"/>
                  <a:gd name="T3" fmla="*/ 1 h 388"/>
                  <a:gd name="T4" fmla="*/ 0 w 259"/>
                  <a:gd name="T5" fmla="*/ 1 h 388"/>
                  <a:gd name="T6" fmla="*/ 0 w 259"/>
                  <a:gd name="T7" fmla="*/ 1 h 388"/>
                  <a:gd name="T8" fmla="*/ 1 w 259"/>
                  <a:gd name="T9" fmla="*/ 0 h 388"/>
                  <a:gd name="T10" fmla="*/ 0 60000 65536"/>
                  <a:gd name="T11" fmla="*/ 0 60000 65536"/>
                  <a:gd name="T12" fmla="*/ 0 60000 65536"/>
                  <a:gd name="T13" fmla="*/ 0 60000 65536"/>
                  <a:gd name="T14" fmla="*/ 0 60000 65536"/>
                  <a:gd name="T15" fmla="*/ 0 w 259"/>
                  <a:gd name="T16" fmla="*/ 0 h 388"/>
                  <a:gd name="T17" fmla="*/ 259 w 259"/>
                  <a:gd name="T18" fmla="*/ 388 h 388"/>
                </a:gdLst>
                <a:ahLst/>
                <a:cxnLst>
                  <a:cxn ang="T10">
                    <a:pos x="T0" y="T1"/>
                  </a:cxn>
                  <a:cxn ang="T11">
                    <a:pos x="T2" y="T3"/>
                  </a:cxn>
                  <a:cxn ang="T12">
                    <a:pos x="T4" y="T5"/>
                  </a:cxn>
                  <a:cxn ang="T13">
                    <a:pos x="T6" y="T7"/>
                  </a:cxn>
                  <a:cxn ang="T14">
                    <a:pos x="T8" y="T9"/>
                  </a:cxn>
                </a:cxnLst>
                <a:rect l="T15" t="T16" r="T17" b="T18"/>
                <a:pathLst>
                  <a:path w="259" h="388">
                    <a:moveTo>
                      <a:pt x="259" y="0"/>
                    </a:moveTo>
                    <a:lnTo>
                      <a:pt x="259" y="236"/>
                    </a:lnTo>
                    <a:lnTo>
                      <a:pt x="0" y="388"/>
                    </a:lnTo>
                    <a:lnTo>
                      <a:pt x="0" y="150"/>
                    </a:lnTo>
                    <a:lnTo>
                      <a:pt x="259" y="0"/>
                    </a:lnTo>
                    <a:close/>
                  </a:path>
                </a:pathLst>
              </a:custGeom>
              <a:solidFill>
                <a:srgbClr val="007FFF"/>
              </a:solidFill>
              <a:ln w="9525">
                <a:noFill/>
                <a:round/>
                <a:headEnd/>
                <a:tailEnd/>
              </a:ln>
            </p:spPr>
            <p:txBody>
              <a:bodyPr/>
              <a:lstStyle/>
              <a:p>
                <a:endParaRPr lang="en-US"/>
              </a:p>
            </p:txBody>
          </p:sp>
          <p:sp>
            <p:nvSpPr>
              <p:cNvPr id="25815" name="Freeform 178"/>
              <p:cNvSpPr>
                <a:spLocks/>
              </p:cNvSpPr>
              <p:nvPr/>
            </p:nvSpPr>
            <p:spPr bwMode="auto">
              <a:xfrm>
                <a:off x="2018" y="3369"/>
                <a:ext cx="11" cy="124"/>
              </a:xfrm>
              <a:custGeom>
                <a:avLst/>
                <a:gdLst>
                  <a:gd name="T0" fmla="*/ 1 w 21"/>
                  <a:gd name="T1" fmla="*/ 1 h 247"/>
                  <a:gd name="T2" fmla="*/ 1 w 21"/>
                  <a:gd name="T3" fmla="*/ 1 h 247"/>
                  <a:gd name="T4" fmla="*/ 1 w 21"/>
                  <a:gd name="T5" fmla="*/ 0 h 247"/>
                  <a:gd name="T6" fmla="*/ 0 w 21"/>
                  <a:gd name="T7" fmla="*/ 0 h 247"/>
                  <a:gd name="T8" fmla="*/ 0 w 21"/>
                  <a:gd name="T9" fmla="*/ 1 h 247"/>
                  <a:gd name="T10" fmla="*/ 1 w 21"/>
                  <a:gd name="T11" fmla="*/ 1 h 247"/>
                  <a:gd name="T12" fmla="*/ 0 w 21"/>
                  <a:gd name="T13" fmla="*/ 1 h 247"/>
                  <a:gd name="T14" fmla="*/ 1 w 21"/>
                  <a:gd name="T15" fmla="*/ 1 h 247"/>
                  <a:gd name="T16" fmla="*/ 1 w 21"/>
                  <a:gd name="T17" fmla="*/ 1 h 247"/>
                  <a:gd name="T18" fmla="*/ 1 w 21"/>
                  <a:gd name="T19" fmla="*/ 1 h 247"/>
                  <a:gd name="T20" fmla="*/ 1 w 21"/>
                  <a:gd name="T21" fmla="*/ 1 h 247"/>
                  <a:gd name="T22" fmla="*/ 1 w 21"/>
                  <a:gd name="T23" fmla="*/ 1 h 2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47"/>
                  <a:gd name="T38" fmla="*/ 21 w 21"/>
                  <a:gd name="T39" fmla="*/ 247 h 2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47">
                    <a:moveTo>
                      <a:pt x="17" y="246"/>
                    </a:moveTo>
                    <a:lnTo>
                      <a:pt x="21" y="236"/>
                    </a:lnTo>
                    <a:lnTo>
                      <a:pt x="21" y="0"/>
                    </a:lnTo>
                    <a:lnTo>
                      <a:pt x="0" y="0"/>
                    </a:lnTo>
                    <a:lnTo>
                      <a:pt x="0" y="236"/>
                    </a:lnTo>
                    <a:lnTo>
                      <a:pt x="4" y="227"/>
                    </a:lnTo>
                    <a:lnTo>
                      <a:pt x="0" y="236"/>
                    </a:lnTo>
                    <a:lnTo>
                      <a:pt x="3" y="244"/>
                    </a:lnTo>
                    <a:lnTo>
                      <a:pt x="10" y="247"/>
                    </a:lnTo>
                    <a:lnTo>
                      <a:pt x="18" y="244"/>
                    </a:lnTo>
                    <a:lnTo>
                      <a:pt x="21" y="236"/>
                    </a:lnTo>
                    <a:lnTo>
                      <a:pt x="17" y="246"/>
                    </a:lnTo>
                    <a:close/>
                  </a:path>
                </a:pathLst>
              </a:custGeom>
              <a:solidFill>
                <a:srgbClr val="000000"/>
              </a:solidFill>
              <a:ln w="9525">
                <a:noFill/>
                <a:round/>
                <a:headEnd/>
                <a:tailEnd/>
              </a:ln>
            </p:spPr>
            <p:txBody>
              <a:bodyPr/>
              <a:lstStyle/>
              <a:p>
                <a:endParaRPr lang="en-US"/>
              </a:p>
            </p:txBody>
          </p:sp>
          <p:sp>
            <p:nvSpPr>
              <p:cNvPr id="25816" name="Freeform 179"/>
              <p:cNvSpPr>
                <a:spLocks/>
              </p:cNvSpPr>
              <p:nvPr/>
            </p:nvSpPr>
            <p:spPr bwMode="auto">
              <a:xfrm>
                <a:off x="1888" y="3483"/>
                <a:ext cx="139" cy="86"/>
              </a:xfrm>
              <a:custGeom>
                <a:avLst/>
                <a:gdLst>
                  <a:gd name="T0" fmla="*/ 0 w 277"/>
                  <a:gd name="T1" fmla="*/ 1 h 172"/>
                  <a:gd name="T2" fmla="*/ 1 w 277"/>
                  <a:gd name="T3" fmla="*/ 1 h 172"/>
                  <a:gd name="T4" fmla="*/ 1 w 277"/>
                  <a:gd name="T5" fmla="*/ 1 h 172"/>
                  <a:gd name="T6" fmla="*/ 1 w 277"/>
                  <a:gd name="T7" fmla="*/ 0 h 172"/>
                  <a:gd name="T8" fmla="*/ 1 w 277"/>
                  <a:gd name="T9" fmla="*/ 1 h 172"/>
                  <a:gd name="T10" fmla="*/ 1 w 277"/>
                  <a:gd name="T11" fmla="*/ 1 h 172"/>
                  <a:gd name="T12" fmla="*/ 1 w 277"/>
                  <a:gd name="T13" fmla="*/ 1 h 172"/>
                  <a:gd name="T14" fmla="*/ 0 w 277"/>
                  <a:gd name="T15" fmla="*/ 1 h 172"/>
                  <a:gd name="T16" fmla="*/ 1 w 277"/>
                  <a:gd name="T17" fmla="*/ 1 h 172"/>
                  <a:gd name="T18" fmla="*/ 1 w 277"/>
                  <a:gd name="T19" fmla="*/ 1 h 172"/>
                  <a:gd name="T20" fmla="*/ 1 w 277"/>
                  <a:gd name="T21" fmla="*/ 1 h 172"/>
                  <a:gd name="T22" fmla="*/ 0 w 277"/>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2"/>
                  <a:gd name="T38" fmla="*/ 277 w 277"/>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2">
                    <a:moveTo>
                      <a:pt x="0" y="161"/>
                    </a:moveTo>
                    <a:lnTo>
                      <a:pt x="17" y="171"/>
                    </a:lnTo>
                    <a:lnTo>
                      <a:pt x="277" y="19"/>
                    </a:lnTo>
                    <a:lnTo>
                      <a:pt x="264" y="0"/>
                    </a:lnTo>
                    <a:lnTo>
                      <a:pt x="4" y="152"/>
                    </a:lnTo>
                    <a:lnTo>
                      <a:pt x="22" y="161"/>
                    </a:lnTo>
                    <a:lnTo>
                      <a:pt x="4" y="152"/>
                    </a:lnTo>
                    <a:lnTo>
                      <a:pt x="0" y="160"/>
                    </a:lnTo>
                    <a:lnTo>
                      <a:pt x="1" y="167"/>
                    </a:lnTo>
                    <a:lnTo>
                      <a:pt x="7" y="172"/>
                    </a:lnTo>
                    <a:lnTo>
                      <a:pt x="17" y="171"/>
                    </a:lnTo>
                    <a:lnTo>
                      <a:pt x="0" y="161"/>
                    </a:lnTo>
                    <a:close/>
                  </a:path>
                </a:pathLst>
              </a:custGeom>
              <a:solidFill>
                <a:srgbClr val="000000"/>
              </a:solidFill>
              <a:ln w="9525">
                <a:noFill/>
                <a:round/>
                <a:headEnd/>
                <a:tailEnd/>
              </a:ln>
            </p:spPr>
            <p:txBody>
              <a:bodyPr/>
              <a:lstStyle/>
              <a:p>
                <a:endParaRPr lang="en-US"/>
              </a:p>
            </p:txBody>
          </p:sp>
          <p:sp>
            <p:nvSpPr>
              <p:cNvPr id="25817" name="Freeform 180"/>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4" y="2"/>
                    </a:moveTo>
                    <a:lnTo>
                      <a:pt x="0" y="11"/>
                    </a:lnTo>
                    <a:lnTo>
                      <a:pt x="0" y="249"/>
                    </a:lnTo>
                    <a:lnTo>
                      <a:pt x="22" y="249"/>
                    </a:lnTo>
                    <a:lnTo>
                      <a:pt x="22" y="11"/>
                    </a:lnTo>
                    <a:lnTo>
                      <a:pt x="17" y="21"/>
                    </a:lnTo>
                    <a:lnTo>
                      <a:pt x="22" y="11"/>
                    </a:lnTo>
                    <a:lnTo>
                      <a:pt x="18" y="4"/>
                    </a:lnTo>
                    <a:lnTo>
                      <a:pt x="11" y="0"/>
                    </a:lnTo>
                    <a:lnTo>
                      <a:pt x="3" y="4"/>
                    </a:lnTo>
                    <a:lnTo>
                      <a:pt x="0" y="11"/>
                    </a:lnTo>
                    <a:lnTo>
                      <a:pt x="4" y="2"/>
                    </a:lnTo>
                    <a:close/>
                  </a:path>
                </a:pathLst>
              </a:custGeom>
              <a:solidFill>
                <a:srgbClr val="000000"/>
              </a:solidFill>
              <a:ln w="9525">
                <a:noFill/>
                <a:round/>
                <a:headEnd/>
                <a:tailEnd/>
              </a:ln>
            </p:spPr>
            <p:txBody>
              <a:bodyPr/>
              <a:lstStyle/>
              <a:p>
                <a:endParaRPr lang="en-US"/>
              </a:p>
            </p:txBody>
          </p:sp>
          <p:sp>
            <p:nvSpPr>
              <p:cNvPr id="25818" name="Freeform 181"/>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77" y="11"/>
                    </a:moveTo>
                    <a:lnTo>
                      <a:pt x="260" y="2"/>
                    </a:lnTo>
                    <a:lnTo>
                      <a:pt x="0" y="152"/>
                    </a:lnTo>
                    <a:lnTo>
                      <a:pt x="13" y="171"/>
                    </a:lnTo>
                    <a:lnTo>
                      <a:pt x="273" y="21"/>
                    </a:lnTo>
                    <a:lnTo>
                      <a:pt x="256" y="11"/>
                    </a:lnTo>
                    <a:lnTo>
                      <a:pt x="273" y="21"/>
                    </a:lnTo>
                    <a:lnTo>
                      <a:pt x="277" y="13"/>
                    </a:lnTo>
                    <a:lnTo>
                      <a:pt x="276" y="5"/>
                    </a:lnTo>
                    <a:lnTo>
                      <a:pt x="270" y="0"/>
                    </a:lnTo>
                    <a:lnTo>
                      <a:pt x="260" y="2"/>
                    </a:lnTo>
                    <a:lnTo>
                      <a:pt x="277" y="11"/>
                    </a:lnTo>
                    <a:close/>
                  </a:path>
                </a:pathLst>
              </a:custGeom>
              <a:solidFill>
                <a:srgbClr val="000000"/>
              </a:solidFill>
              <a:ln w="9525">
                <a:noFill/>
                <a:round/>
                <a:headEnd/>
                <a:tailEnd/>
              </a:ln>
            </p:spPr>
            <p:txBody>
              <a:bodyPr/>
              <a:lstStyle/>
              <a:p>
                <a:endParaRPr lang="en-US"/>
              </a:p>
            </p:txBody>
          </p:sp>
          <p:sp>
            <p:nvSpPr>
              <p:cNvPr id="25819" name="Freeform 182"/>
              <p:cNvSpPr>
                <a:spLocks/>
              </p:cNvSpPr>
              <p:nvPr/>
            </p:nvSpPr>
            <p:spPr bwMode="auto">
              <a:xfrm>
                <a:off x="1851" y="3349"/>
                <a:ext cx="173" cy="95"/>
              </a:xfrm>
              <a:custGeom>
                <a:avLst/>
                <a:gdLst>
                  <a:gd name="T0" fmla="*/ 1 w 344"/>
                  <a:gd name="T1" fmla="*/ 1 h 190"/>
                  <a:gd name="T2" fmla="*/ 1 w 344"/>
                  <a:gd name="T3" fmla="*/ 0 h 190"/>
                  <a:gd name="T4" fmla="*/ 0 w 344"/>
                  <a:gd name="T5" fmla="*/ 1 h 190"/>
                  <a:gd name="T6" fmla="*/ 1 w 344"/>
                  <a:gd name="T7" fmla="*/ 1 h 190"/>
                  <a:gd name="T8" fmla="*/ 1 w 344"/>
                  <a:gd name="T9" fmla="*/ 1 h 190"/>
                  <a:gd name="T10" fmla="*/ 0 60000 65536"/>
                  <a:gd name="T11" fmla="*/ 0 60000 65536"/>
                  <a:gd name="T12" fmla="*/ 0 60000 65536"/>
                  <a:gd name="T13" fmla="*/ 0 60000 65536"/>
                  <a:gd name="T14" fmla="*/ 0 60000 65536"/>
                  <a:gd name="T15" fmla="*/ 0 w 344"/>
                  <a:gd name="T16" fmla="*/ 0 h 190"/>
                  <a:gd name="T17" fmla="*/ 344 w 344"/>
                  <a:gd name="T18" fmla="*/ 190 h 190"/>
                </a:gdLst>
                <a:ahLst/>
                <a:cxnLst>
                  <a:cxn ang="T10">
                    <a:pos x="T0" y="T1"/>
                  </a:cxn>
                  <a:cxn ang="T11">
                    <a:pos x="T2" y="T3"/>
                  </a:cxn>
                  <a:cxn ang="T12">
                    <a:pos x="T4" y="T5"/>
                  </a:cxn>
                  <a:cxn ang="T13">
                    <a:pos x="T6" y="T7"/>
                  </a:cxn>
                  <a:cxn ang="T14">
                    <a:pos x="T8" y="T9"/>
                  </a:cxn>
                </a:cxnLst>
                <a:rect l="T15" t="T16" r="T17" b="T18"/>
                <a:pathLst>
                  <a:path w="344" h="190">
                    <a:moveTo>
                      <a:pt x="344" y="40"/>
                    </a:moveTo>
                    <a:lnTo>
                      <a:pt x="260" y="0"/>
                    </a:lnTo>
                    <a:lnTo>
                      <a:pt x="0" y="150"/>
                    </a:lnTo>
                    <a:lnTo>
                      <a:pt x="85" y="190"/>
                    </a:lnTo>
                    <a:lnTo>
                      <a:pt x="344" y="40"/>
                    </a:lnTo>
                    <a:close/>
                  </a:path>
                </a:pathLst>
              </a:custGeom>
              <a:solidFill>
                <a:srgbClr val="99D8FF"/>
              </a:solidFill>
              <a:ln w="9525">
                <a:noFill/>
                <a:round/>
                <a:headEnd/>
                <a:tailEnd/>
              </a:ln>
            </p:spPr>
            <p:txBody>
              <a:bodyPr/>
              <a:lstStyle/>
              <a:p>
                <a:endParaRPr lang="en-US"/>
              </a:p>
            </p:txBody>
          </p:sp>
          <p:sp>
            <p:nvSpPr>
              <p:cNvPr id="25820" name="Freeform 183"/>
              <p:cNvSpPr>
                <a:spLocks/>
              </p:cNvSpPr>
              <p:nvPr/>
            </p:nvSpPr>
            <p:spPr bwMode="auto">
              <a:xfrm>
                <a:off x="1976" y="3344"/>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1 w 100"/>
                  <a:gd name="T11" fmla="*/ 0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16" y="19"/>
                    </a:moveTo>
                    <a:lnTo>
                      <a:pt x="6" y="19"/>
                    </a:lnTo>
                    <a:lnTo>
                      <a:pt x="91" y="60"/>
                    </a:lnTo>
                    <a:lnTo>
                      <a:pt x="100" y="41"/>
                    </a:lnTo>
                    <a:lnTo>
                      <a:pt x="16" y="0"/>
                    </a:lnTo>
                    <a:lnTo>
                      <a:pt x="6" y="0"/>
                    </a:lnTo>
                    <a:lnTo>
                      <a:pt x="16" y="0"/>
                    </a:lnTo>
                    <a:lnTo>
                      <a:pt x="8" y="0"/>
                    </a:lnTo>
                    <a:lnTo>
                      <a:pt x="2" y="5"/>
                    </a:lnTo>
                    <a:lnTo>
                      <a:pt x="0" y="13"/>
                    </a:lnTo>
                    <a:lnTo>
                      <a:pt x="6" y="19"/>
                    </a:lnTo>
                    <a:lnTo>
                      <a:pt x="16" y="19"/>
                    </a:lnTo>
                    <a:close/>
                  </a:path>
                </a:pathLst>
              </a:custGeom>
              <a:solidFill>
                <a:srgbClr val="000000"/>
              </a:solidFill>
              <a:ln w="9525">
                <a:noFill/>
                <a:round/>
                <a:headEnd/>
                <a:tailEnd/>
              </a:ln>
            </p:spPr>
            <p:txBody>
              <a:bodyPr/>
              <a:lstStyle/>
              <a:p>
                <a:endParaRPr lang="en-US"/>
              </a:p>
            </p:txBody>
          </p:sp>
          <p:sp>
            <p:nvSpPr>
              <p:cNvPr id="25821" name="Freeform 184"/>
              <p:cNvSpPr>
                <a:spLocks/>
              </p:cNvSpPr>
              <p:nvPr/>
            </p:nvSpPr>
            <p:spPr bwMode="auto">
              <a:xfrm>
                <a:off x="1846" y="3344"/>
                <a:ext cx="138" cy="85"/>
              </a:xfrm>
              <a:custGeom>
                <a:avLst/>
                <a:gdLst>
                  <a:gd name="T0" fmla="*/ 1 w 276"/>
                  <a:gd name="T1" fmla="*/ 1 h 169"/>
                  <a:gd name="T2" fmla="*/ 1 w 276"/>
                  <a:gd name="T3" fmla="*/ 1 h 169"/>
                  <a:gd name="T4" fmla="*/ 1 w 276"/>
                  <a:gd name="T5" fmla="*/ 1 h 169"/>
                  <a:gd name="T6" fmla="*/ 1 w 276"/>
                  <a:gd name="T7" fmla="*/ 0 h 169"/>
                  <a:gd name="T8" fmla="*/ 1 w 276"/>
                  <a:gd name="T9" fmla="*/ 1 h 169"/>
                  <a:gd name="T10" fmla="*/ 1 w 276"/>
                  <a:gd name="T11" fmla="*/ 1 h 169"/>
                  <a:gd name="T12" fmla="*/ 1 w 276"/>
                  <a:gd name="T13" fmla="*/ 1 h 169"/>
                  <a:gd name="T14" fmla="*/ 0 w 276"/>
                  <a:gd name="T15" fmla="*/ 1 h 169"/>
                  <a:gd name="T16" fmla="*/ 1 w 276"/>
                  <a:gd name="T17" fmla="*/ 1 h 169"/>
                  <a:gd name="T18" fmla="*/ 1 w 276"/>
                  <a:gd name="T19" fmla="*/ 1 h 169"/>
                  <a:gd name="T20" fmla="*/ 1 w 276"/>
                  <a:gd name="T21" fmla="*/ 1 h 169"/>
                  <a:gd name="T22" fmla="*/ 1 w 276"/>
                  <a:gd name="T23" fmla="*/ 1 h 1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6"/>
                  <a:gd name="T37" fmla="*/ 0 h 169"/>
                  <a:gd name="T38" fmla="*/ 276 w 276"/>
                  <a:gd name="T39" fmla="*/ 169 h 1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6" h="169">
                    <a:moveTo>
                      <a:pt x="16" y="150"/>
                    </a:moveTo>
                    <a:lnTo>
                      <a:pt x="16" y="169"/>
                    </a:lnTo>
                    <a:lnTo>
                      <a:pt x="276" y="19"/>
                    </a:lnTo>
                    <a:lnTo>
                      <a:pt x="266" y="0"/>
                    </a:lnTo>
                    <a:lnTo>
                      <a:pt x="6" y="150"/>
                    </a:lnTo>
                    <a:lnTo>
                      <a:pt x="6" y="169"/>
                    </a:lnTo>
                    <a:lnTo>
                      <a:pt x="6" y="150"/>
                    </a:lnTo>
                    <a:lnTo>
                      <a:pt x="0" y="157"/>
                    </a:lnTo>
                    <a:lnTo>
                      <a:pt x="2" y="164"/>
                    </a:lnTo>
                    <a:lnTo>
                      <a:pt x="8" y="169"/>
                    </a:lnTo>
                    <a:lnTo>
                      <a:pt x="16" y="169"/>
                    </a:lnTo>
                    <a:lnTo>
                      <a:pt x="16" y="150"/>
                    </a:lnTo>
                    <a:close/>
                  </a:path>
                </a:pathLst>
              </a:custGeom>
              <a:solidFill>
                <a:srgbClr val="000000"/>
              </a:solidFill>
              <a:ln w="9525">
                <a:noFill/>
                <a:round/>
                <a:headEnd/>
                <a:tailEnd/>
              </a:ln>
            </p:spPr>
            <p:txBody>
              <a:bodyPr/>
              <a:lstStyle/>
              <a:p>
                <a:endParaRPr lang="en-US"/>
              </a:p>
            </p:txBody>
          </p:sp>
          <p:sp>
            <p:nvSpPr>
              <p:cNvPr id="25822" name="Freeform 185"/>
              <p:cNvSpPr>
                <a:spLocks/>
              </p:cNvSpPr>
              <p:nvPr/>
            </p:nvSpPr>
            <p:spPr bwMode="auto">
              <a:xfrm>
                <a:off x="1849" y="3419"/>
                <a:ext cx="50" cy="30"/>
              </a:xfrm>
              <a:custGeom>
                <a:avLst/>
                <a:gdLst>
                  <a:gd name="T0" fmla="*/ 0 w 101"/>
                  <a:gd name="T1" fmla="*/ 1 h 60"/>
                  <a:gd name="T2" fmla="*/ 0 w 101"/>
                  <a:gd name="T3" fmla="*/ 1 h 60"/>
                  <a:gd name="T4" fmla="*/ 0 w 101"/>
                  <a:gd name="T5" fmla="*/ 0 h 60"/>
                  <a:gd name="T6" fmla="*/ 0 w 101"/>
                  <a:gd name="T7" fmla="*/ 1 h 60"/>
                  <a:gd name="T8" fmla="*/ 0 w 101"/>
                  <a:gd name="T9" fmla="*/ 1 h 60"/>
                  <a:gd name="T10" fmla="*/ 0 w 101"/>
                  <a:gd name="T11" fmla="*/ 1 h 60"/>
                  <a:gd name="T12" fmla="*/ 0 w 101"/>
                  <a:gd name="T13" fmla="*/ 1 h 60"/>
                  <a:gd name="T14" fmla="*/ 0 w 101"/>
                  <a:gd name="T15" fmla="*/ 1 h 60"/>
                  <a:gd name="T16" fmla="*/ 0 w 101"/>
                  <a:gd name="T17" fmla="*/ 1 h 60"/>
                  <a:gd name="T18" fmla="*/ 0 w 101"/>
                  <a:gd name="T19" fmla="*/ 1 h 60"/>
                  <a:gd name="T20" fmla="*/ 0 w 101"/>
                  <a:gd name="T21" fmla="*/ 1 h 60"/>
                  <a:gd name="T22" fmla="*/ 0 w 101"/>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0"/>
                  <a:gd name="T38" fmla="*/ 101 w 101"/>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0">
                    <a:moveTo>
                      <a:pt x="83" y="41"/>
                    </a:moveTo>
                    <a:lnTo>
                      <a:pt x="94" y="41"/>
                    </a:lnTo>
                    <a:lnTo>
                      <a:pt x="10" y="0"/>
                    </a:lnTo>
                    <a:lnTo>
                      <a:pt x="0" y="19"/>
                    </a:lnTo>
                    <a:lnTo>
                      <a:pt x="85" y="60"/>
                    </a:lnTo>
                    <a:lnTo>
                      <a:pt x="96" y="60"/>
                    </a:lnTo>
                    <a:lnTo>
                      <a:pt x="85" y="60"/>
                    </a:lnTo>
                    <a:lnTo>
                      <a:pt x="93" y="60"/>
                    </a:lnTo>
                    <a:lnTo>
                      <a:pt x="99" y="55"/>
                    </a:lnTo>
                    <a:lnTo>
                      <a:pt x="101" y="47"/>
                    </a:lnTo>
                    <a:lnTo>
                      <a:pt x="94" y="41"/>
                    </a:lnTo>
                    <a:lnTo>
                      <a:pt x="83" y="41"/>
                    </a:lnTo>
                    <a:close/>
                  </a:path>
                </a:pathLst>
              </a:custGeom>
              <a:solidFill>
                <a:srgbClr val="000000"/>
              </a:solidFill>
              <a:ln w="9525">
                <a:noFill/>
                <a:round/>
                <a:headEnd/>
                <a:tailEnd/>
              </a:ln>
            </p:spPr>
            <p:txBody>
              <a:bodyPr/>
              <a:lstStyle/>
              <a:p>
                <a:endParaRPr lang="en-US"/>
              </a:p>
            </p:txBody>
          </p:sp>
          <p:sp>
            <p:nvSpPr>
              <p:cNvPr id="25823" name="Freeform 186"/>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62" y="21"/>
                    </a:moveTo>
                    <a:lnTo>
                      <a:pt x="260" y="2"/>
                    </a:lnTo>
                    <a:lnTo>
                      <a:pt x="0" y="152"/>
                    </a:lnTo>
                    <a:lnTo>
                      <a:pt x="13" y="171"/>
                    </a:lnTo>
                    <a:lnTo>
                      <a:pt x="273" y="21"/>
                    </a:lnTo>
                    <a:lnTo>
                      <a:pt x="271" y="2"/>
                    </a:lnTo>
                    <a:lnTo>
                      <a:pt x="273" y="21"/>
                    </a:lnTo>
                    <a:lnTo>
                      <a:pt x="277" y="13"/>
                    </a:lnTo>
                    <a:lnTo>
                      <a:pt x="276" y="5"/>
                    </a:lnTo>
                    <a:lnTo>
                      <a:pt x="270" y="0"/>
                    </a:lnTo>
                    <a:lnTo>
                      <a:pt x="260" y="2"/>
                    </a:lnTo>
                    <a:lnTo>
                      <a:pt x="262" y="21"/>
                    </a:lnTo>
                    <a:close/>
                  </a:path>
                </a:pathLst>
              </a:custGeom>
              <a:solidFill>
                <a:srgbClr val="000000"/>
              </a:solidFill>
              <a:ln w="9525">
                <a:noFill/>
                <a:round/>
                <a:headEnd/>
                <a:tailEnd/>
              </a:ln>
            </p:spPr>
            <p:txBody>
              <a:bodyPr/>
              <a:lstStyle/>
              <a:p>
                <a:endParaRPr lang="en-US"/>
              </a:p>
            </p:txBody>
          </p:sp>
          <p:sp>
            <p:nvSpPr>
              <p:cNvPr id="25824" name="Freeform 187"/>
              <p:cNvSpPr>
                <a:spLocks/>
              </p:cNvSpPr>
              <p:nvPr/>
            </p:nvSpPr>
            <p:spPr bwMode="auto">
              <a:xfrm>
                <a:off x="1797" y="3350"/>
                <a:ext cx="175" cy="82"/>
              </a:xfrm>
              <a:custGeom>
                <a:avLst/>
                <a:gdLst>
                  <a:gd name="T0" fmla="*/ 1 w 349"/>
                  <a:gd name="T1" fmla="*/ 0 h 166"/>
                  <a:gd name="T2" fmla="*/ 1 w 349"/>
                  <a:gd name="T3" fmla="*/ 0 h 166"/>
                  <a:gd name="T4" fmla="*/ 1 w 349"/>
                  <a:gd name="T5" fmla="*/ 0 h 166"/>
                  <a:gd name="T6" fmla="*/ 0 w 349"/>
                  <a:gd name="T7" fmla="*/ 0 h 166"/>
                  <a:gd name="T8" fmla="*/ 1 w 349"/>
                  <a:gd name="T9" fmla="*/ 0 h 166"/>
                  <a:gd name="T10" fmla="*/ 1 w 349"/>
                  <a:gd name="T11" fmla="*/ 0 h 166"/>
                  <a:gd name="T12" fmla="*/ 0 60000 65536"/>
                  <a:gd name="T13" fmla="*/ 0 60000 65536"/>
                  <a:gd name="T14" fmla="*/ 0 60000 65536"/>
                  <a:gd name="T15" fmla="*/ 0 60000 65536"/>
                  <a:gd name="T16" fmla="*/ 0 60000 65536"/>
                  <a:gd name="T17" fmla="*/ 0 60000 65536"/>
                  <a:gd name="T18" fmla="*/ 0 w 349"/>
                  <a:gd name="T19" fmla="*/ 0 h 166"/>
                  <a:gd name="T20" fmla="*/ 349 w 349"/>
                  <a:gd name="T21" fmla="*/ 166 h 166"/>
                </a:gdLst>
                <a:ahLst/>
                <a:cxnLst>
                  <a:cxn ang="T12">
                    <a:pos x="T0" y="T1"/>
                  </a:cxn>
                  <a:cxn ang="T13">
                    <a:pos x="T2" y="T3"/>
                  </a:cxn>
                  <a:cxn ang="T14">
                    <a:pos x="T4" y="T5"/>
                  </a:cxn>
                  <a:cxn ang="T15">
                    <a:pos x="T6" y="T7"/>
                  </a:cxn>
                  <a:cxn ang="T16">
                    <a:pos x="T8" y="T9"/>
                  </a:cxn>
                  <a:cxn ang="T17">
                    <a:pos x="T10" y="T11"/>
                  </a:cxn>
                </a:cxnLst>
                <a:rect l="T18" t="T19" r="T20" b="T21"/>
                <a:pathLst>
                  <a:path w="349" h="166">
                    <a:moveTo>
                      <a:pt x="349" y="9"/>
                    </a:moveTo>
                    <a:lnTo>
                      <a:pt x="110" y="149"/>
                    </a:lnTo>
                    <a:lnTo>
                      <a:pt x="108" y="166"/>
                    </a:lnTo>
                    <a:lnTo>
                      <a:pt x="0" y="157"/>
                    </a:lnTo>
                    <a:lnTo>
                      <a:pt x="266" y="0"/>
                    </a:lnTo>
                    <a:lnTo>
                      <a:pt x="349" y="9"/>
                    </a:lnTo>
                    <a:close/>
                  </a:path>
                </a:pathLst>
              </a:custGeom>
              <a:solidFill>
                <a:srgbClr val="99D8FF"/>
              </a:solidFill>
              <a:ln w="9525">
                <a:noFill/>
                <a:round/>
                <a:headEnd/>
                <a:tailEnd/>
              </a:ln>
            </p:spPr>
            <p:txBody>
              <a:bodyPr/>
              <a:lstStyle/>
              <a:p>
                <a:endParaRPr lang="en-US"/>
              </a:p>
            </p:txBody>
          </p:sp>
          <p:sp>
            <p:nvSpPr>
              <p:cNvPr id="25825" name="Freeform 188"/>
              <p:cNvSpPr>
                <a:spLocks/>
              </p:cNvSpPr>
              <p:nvPr/>
            </p:nvSpPr>
            <p:spPr bwMode="auto">
              <a:xfrm>
                <a:off x="1847" y="3350"/>
                <a:ext cx="127" cy="79"/>
              </a:xfrm>
              <a:custGeom>
                <a:avLst/>
                <a:gdLst>
                  <a:gd name="T0" fmla="*/ 0 w 255"/>
                  <a:gd name="T1" fmla="*/ 1 h 158"/>
                  <a:gd name="T2" fmla="*/ 0 w 255"/>
                  <a:gd name="T3" fmla="*/ 1 h 158"/>
                  <a:gd name="T4" fmla="*/ 0 w 255"/>
                  <a:gd name="T5" fmla="*/ 1 h 158"/>
                  <a:gd name="T6" fmla="*/ 0 w 255"/>
                  <a:gd name="T7" fmla="*/ 0 h 158"/>
                  <a:gd name="T8" fmla="*/ 0 w 255"/>
                  <a:gd name="T9" fmla="*/ 1 h 158"/>
                  <a:gd name="T10" fmla="*/ 0 w 255"/>
                  <a:gd name="T11" fmla="*/ 1 h 158"/>
                  <a:gd name="T12" fmla="*/ 0 w 255"/>
                  <a:gd name="T13" fmla="*/ 1 h 158"/>
                  <a:gd name="T14" fmla="*/ 0 w 255"/>
                  <a:gd name="T15" fmla="*/ 1 h 158"/>
                  <a:gd name="T16" fmla="*/ 0 w 255"/>
                  <a:gd name="T17" fmla="*/ 1 h 158"/>
                  <a:gd name="T18" fmla="*/ 0 w 255"/>
                  <a:gd name="T19" fmla="*/ 1 h 158"/>
                  <a:gd name="T20" fmla="*/ 0 w 255"/>
                  <a:gd name="T21" fmla="*/ 1 h 158"/>
                  <a:gd name="T22" fmla="*/ 0 w 255"/>
                  <a:gd name="T23" fmla="*/ 1 h 1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5"/>
                  <a:gd name="T37" fmla="*/ 0 h 158"/>
                  <a:gd name="T38" fmla="*/ 255 w 255"/>
                  <a:gd name="T39" fmla="*/ 158 h 1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5" h="158">
                    <a:moveTo>
                      <a:pt x="22" y="150"/>
                    </a:moveTo>
                    <a:lnTo>
                      <a:pt x="15" y="158"/>
                    </a:lnTo>
                    <a:lnTo>
                      <a:pt x="255" y="19"/>
                    </a:lnTo>
                    <a:lnTo>
                      <a:pt x="245" y="0"/>
                    </a:lnTo>
                    <a:lnTo>
                      <a:pt x="6" y="139"/>
                    </a:lnTo>
                    <a:lnTo>
                      <a:pt x="0" y="147"/>
                    </a:lnTo>
                    <a:lnTo>
                      <a:pt x="6" y="139"/>
                    </a:lnTo>
                    <a:lnTo>
                      <a:pt x="0" y="146"/>
                    </a:lnTo>
                    <a:lnTo>
                      <a:pt x="1" y="153"/>
                    </a:lnTo>
                    <a:lnTo>
                      <a:pt x="7" y="158"/>
                    </a:lnTo>
                    <a:lnTo>
                      <a:pt x="15" y="158"/>
                    </a:lnTo>
                    <a:lnTo>
                      <a:pt x="22" y="150"/>
                    </a:lnTo>
                    <a:close/>
                  </a:path>
                </a:pathLst>
              </a:custGeom>
              <a:solidFill>
                <a:srgbClr val="000000"/>
              </a:solidFill>
              <a:ln w="9525">
                <a:noFill/>
                <a:round/>
                <a:headEnd/>
                <a:tailEnd/>
              </a:ln>
            </p:spPr>
            <p:txBody>
              <a:bodyPr/>
              <a:lstStyle/>
              <a:p>
                <a:endParaRPr lang="en-US"/>
              </a:p>
            </p:txBody>
          </p:sp>
          <p:sp>
            <p:nvSpPr>
              <p:cNvPr id="25826" name="Freeform 189"/>
              <p:cNvSpPr>
                <a:spLocks/>
              </p:cNvSpPr>
              <p:nvPr/>
            </p:nvSpPr>
            <p:spPr bwMode="auto">
              <a:xfrm>
                <a:off x="1846" y="3423"/>
                <a:ext cx="12" cy="15"/>
              </a:xfrm>
              <a:custGeom>
                <a:avLst/>
                <a:gdLst>
                  <a:gd name="T0" fmla="*/ 1 w 24"/>
                  <a:gd name="T1" fmla="*/ 1 h 30"/>
                  <a:gd name="T2" fmla="*/ 1 w 24"/>
                  <a:gd name="T3" fmla="*/ 1 h 30"/>
                  <a:gd name="T4" fmla="*/ 1 w 24"/>
                  <a:gd name="T5" fmla="*/ 1 h 30"/>
                  <a:gd name="T6" fmla="*/ 1 w 24"/>
                  <a:gd name="T7" fmla="*/ 0 h 30"/>
                  <a:gd name="T8" fmla="*/ 0 w 24"/>
                  <a:gd name="T9" fmla="*/ 1 h 30"/>
                  <a:gd name="T10" fmla="*/ 1 w 24"/>
                  <a:gd name="T11" fmla="*/ 1 h 30"/>
                  <a:gd name="T12" fmla="*/ 0 w 24"/>
                  <a:gd name="T13" fmla="*/ 1 h 30"/>
                  <a:gd name="T14" fmla="*/ 1 w 24"/>
                  <a:gd name="T15" fmla="*/ 1 h 30"/>
                  <a:gd name="T16" fmla="*/ 1 w 24"/>
                  <a:gd name="T17" fmla="*/ 1 h 30"/>
                  <a:gd name="T18" fmla="*/ 1 w 24"/>
                  <a:gd name="T19" fmla="*/ 1 h 30"/>
                  <a:gd name="T20" fmla="*/ 1 w 24"/>
                  <a:gd name="T21" fmla="*/ 1 h 30"/>
                  <a:gd name="T22" fmla="*/ 1 w 24"/>
                  <a:gd name="T23" fmla="*/ 1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0"/>
                  <a:gd name="T38" fmla="*/ 24 w 24"/>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0">
                    <a:moveTo>
                      <a:pt x="9" y="30"/>
                    </a:moveTo>
                    <a:lnTo>
                      <a:pt x="22" y="21"/>
                    </a:lnTo>
                    <a:lnTo>
                      <a:pt x="24" y="3"/>
                    </a:lnTo>
                    <a:lnTo>
                      <a:pt x="2" y="0"/>
                    </a:lnTo>
                    <a:lnTo>
                      <a:pt x="0" y="17"/>
                    </a:lnTo>
                    <a:lnTo>
                      <a:pt x="13" y="8"/>
                    </a:lnTo>
                    <a:lnTo>
                      <a:pt x="0" y="17"/>
                    </a:lnTo>
                    <a:lnTo>
                      <a:pt x="3" y="25"/>
                    </a:lnTo>
                    <a:lnTo>
                      <a:pt x="9" y="30"/>
                    </a:lnTo>
                    <a:lnTo>
                      <a:pt x="17" y="28"/>
                    </a:lnTo>
                    <a:lnTo>
                      <a:pt x="22" y="21"/>
                    </a:lnTo>
                    <a:lnTo>
                      <a:pt x="9" y="30"/>
                    </a:lnTo>
                    <a:close/>
                  </a:path>
                </a:pathLst>
              </a:custGeom>
              <a:solidFill>
                <a:srgbClr val="000000"/>
              </a:solidFill>
              <a:ln w="9525">
                <a:noFill/>
                <a:round/>
                <a:headEnd/>
                <a:tailEnd/>
              </a:ln>
            </p:spPr>
            <p:txBody>
              <a:bodyPr/>
              <a:lstStyle/>
              <a:p>
                <a:endParaRPr lang="en-US"/>
              </a:p>
            </p:txBody>
          </p:sp>
          <p:sp>
            <p:nvSpPr>
              <p:cNvPr id="25827" name="Freeform 190"/>
              <p:cNvSpPr>
                <a:spLocks/>
              </p:cNvSpPr>
              <p:nvPr/>
            </p:nvSpPr>
            <p:spPr bwMode="auto">
              <a:xfrm>
                <a:off x="1792" y="3422"/>
                <a:ext cx="60" cy="16"/>
              </a:xfrm>
              <a:custGeom>
                <a:avLst/>
                <a:gdLst>
                  <a:gd name="T0" fmla="*/ 0 w 121"/>
                  <a:gd name="T1" fmla="*/ 1 h 31"/>
                  <a:gd name="T2" fmla="*/ 0 w 121"/>
                  <a:gd name="T3" fmla="*/ 1 h 31"/>
                  <a:gd name="T4" fmla="*/ 0 w 121"/>
                  <a:gd name="T5" fmla="*/ 1 h 31"/>
                  <a:gd name="T6" fmla="*/ 0 w 121"/>
                  <a:gd name="T7" fmla="*/ 1 h 31"/>
                  <a:gd name="T8" fmla="*/ 0 w 121"/>
                  <a:gd name="T9" fmla="*/ 0 h 31"/>
                  <a:gd name="T10" fmla="*/ 0 w 121"/>
                  <a:gd name="T11" fmla="*/ 1 h 31"/>
                  <a:gd name="T12" fmla="*/ 0 w 121"/>
                  <a:gd name="T13" fmla="*/ 0 h 31"/>
                  <a:gd name="T14" fmla="*/ 0 w 121"/>
                  <a:gd name="T15" fmla="*/ 1 h 31"/>
                  <a:gd name="T16" fmla="*/ 0 w 121"/>
                  <a:gd name="T17" fmla="*/ 1 h 31"/>
                  <a:gd name="T18" fmla="*/ 0 w 121"/>
                  <a:gd name="T19" fmla="*/ 1 h 31"/>
                  <a:gd name="T20" fmla="*/ 0 w 121"/>
                  <a:gd name="T21" fmla="*/ 1 h 31"/>
                  <a:gd name="T22" fmla="*/ 0 w 121"/>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
                  <a:gd name="T37" fmla="*/ 0 h 31"/>
                  <a:gd name="T38" fmla="*/ 121 w 12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 h="31">
                    <a:moveTo>
                      <a:pt x="5" y="1"/>
                    </a:moveTo>
                    <a:lnTo>
                      <a:pt x="9" y="22"/>
                    </a:lnTo>
                    <a:lnTo>
                      <a:pt x="117" y="31"/>
                    </a:lnTo>
                    <a:lnTo>
                      <a:pt x="121" y="9"/>
                    </a:lnTo>
                    <a:lnTo>
                      <a:pt x="13" y="0"/>
                    </a:lnTo>
                    <a:lnTo>
                      <a:pt x="17" y="20"/>
                    </a:lnTo>
                    <a:lnTo>
                      <a:pt x="13" y="0"/>
                    </a:lnTo>
                    <a:lnTo>
                      <a:pt x="5" y="3"/>
                    </a:lnTo>
                    <a:lnTo>
                      <a:pt x="0" y="9"/>
                    </a:lnTo>
                    <a:lnTo>
                      <a:pt x="2" y="17"/>
                    </a:lnTo>
                    <a:lnTo>
                      <a:pt x="9" y="22"/>
                    </a:lnTo>
                    <a:lnTo>
                      <a:pt x="5" y="1"/>
                    </a:lnTo>
                    <a:close/>
                  </a:path>
                </a:pathLst>
              </a:custGeom>
              <a:solidFill>
                <a:srgbClr val="000000"/>
              </a:solidFill>
              <a:ln w="9525">
                <a:noFill/>
                <a:round/>
                <a:headEnd/>
                <a:tailEnd/>
              </a:ln>
            </p:spPr>
            <p:txBody>
              <a:bodyPr/>
              <a:lstStyle/>
              <a:p>
                <a:endParaRPr lang="en-US"/>
              </a:p>
            </p:txBody>
          </p:sp>
          <p:sp>
            <p:nvSpPr>
              <p:cNvPr id="25828" name="Freeform 191"/>
              <p:cNvSpPr>
                <a:spLocks/>
              </p:cNvSpPr>
              <p:nvPr/>
            </p:nvSpPr>
            <p:spPr bwMode="auto">
              <a:xfrm>
                <a:off x="1794" y="3344"/>
                <a:ext cx="142" cy="88"/>
              </a:xfrm>
              <a:custGeom>
                <a:avLst/>
                <a:gdLst>
                  <a:gd name="T0" fmla="*/ 1 w 283"/>
                  <a:gd name="T1" fmla="*/ 0 h 177"/>
                  <a:gd name="T2" fmla="*/ 1 w 283"/>
                  <a:gd name="T3" fmla="*/ 0 h 177"/>
                  <a:gd name="T4" fmla="*/ 0 w 283"/>
                  <a:gd name="T5" fmla="*/ 0 h 177"/>
                  <a:gd name="T6" fmla="*/ 1 w 283"/>
                  <a:gd name="T7" fmla="*/ 0 h 177"/>
                  <a:gd name="T8" fmla="*/ 1 w 283"/>
                  <a:gd name="T9" fmla="*/ 0 h 177"/>
                  <a:gd name="T10" fmla="*/ 1 w 283"/>
                  <a:gd name="T11" fmla="*/ 0 h 177"/>
                  <a:gd name="T12" fmla="*/ 1 w 283"/>
                  <a:gd name="T13" fmla="*/ 0 h 177"/>
                  <a:gd name="T14" fmla="*/ 1 w 283"/>
                  <a:gd name="T15" fmla="*/ 0 h 177"/>
                  <a:gd name="T16" fmla="*/ 1 w 283"/>
                  <a:gd name="T17" fmla="*/ 0 h 177"/>
                  <a:gd name="T18" fmla="*/ 1 w 283"/>
                  <a:gd name="T19" fmla="*/ 0 h 177"/>
                  <a:gd name="T20" fmla="*/ 1 w 283"/>
                  <a:gd name="T21" fmla="*/ 0 h 177"/>
                  <a:gd name="T22" fmla="*/ 1 w 283"/>
                  <a:gd name="T23" fmla="*/ 0 h 1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3"/>
                  <a:gd name="T37" fmla="*/ 0 h 177"/>
                  <a:gd name="T38" fmla="*/ 283 w 283"/>
                  <a:gd name="T39" fmla="*/ 177 h 1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3" h="177">
                    <a:moveTo>
                      <a:pt x="274" y="0"/>
                    </a:moveTo>
                    <a:lnTo>
                      <a:pt x="266" y="2"/>
                    </a:lnTo>
                    <a:lnTo>
                      <a:pt x="0" y="158"/>
                    </a:lnTo>
                    <a:lnTo>
                      <a:pt x="12" y="177"/>
                    </a:lnTo>
                    <a:lnTo>
                      <a:pt x="278" y="20"/>
                    </a:lnTo>
                    <a:lnTo>
                      <a:pt x="271" y="22"/>
                    </a:lnTo>
                    <a:lnTo>
                      <a:pt x="278" y="20"/>
                    </a:lnTo>
                    <a:lnTo>
                      <a:pt x="283" y="13"/>
                    </a:lnTo>
                    <a:lnTo>
                      <a:pt x="282" y="5"/>
                    </a:lnTo>
                    <a:lnTo>
                      <a:pt x="275" y="0"/>
                    </a:lnTo>
                    <a:lnTo>
                      <a:pt x="266" y="2"/>
                    </a:lnTo>
                    <a:lnTo>
                      <a:pt x="274" y="0"/>
                    </a:lnTo>
                    <a:close/>
                  </a:path>
                </a:pathLst>
              </a:custGeom>
              <a:solidFill>
                <a:srgbClr val="000000"/>
              </a:solidFill>
              <a:ln w="9525">
                <a:noFill/>
                <a:round/>
                <a:headEnd/>
                <a:tailEnd/>
              </a:ln>
            </p:spPr>
            <p:txBody>
              <a:bodyPr/>
              <a:lstStyle/>
              <a:p>
                <a:endParaRPr lang="en-US"/>
              </a:p>
            </p:txBody>
          </p:sp>
          <p:sp>
            <p:nvSpPr>
              <p:cNvPr id="25829" name="Freeform 192"/>
              <p:cNvSpPr>
                <a:spLocks/>
              </p:cNvSpPr>
              <p:nvPr/>
            </p:nvSpPr>
            <p:spPr bwMode="auto">
              <a:xfrm>
                <a:off x="1930" y="3344"/>
                <a:ext cx="48" cy="16"/>
              </a:xfrm>
              <a:custGeom>
                <a:avLst/>
                <a:gdLst>
                  <a:gd name="T0" fmla="*/ 1 w 95"/>
                  <a:gd name="T1" fmla="*/ 1 h 31"/>
                  <a:gd name="T2" fmla="*/ 1 w 95"/>
                  <a:gd name="T3" fmla="*/ 1 h 31"/>
                  <a:gd name="T4" fmla="*/ 1 w 95"/>
                  <a:gd name="T5" fmla="*/ 0 h 31"/>
                  <a:gd name="T6" fmla="*/ 0 w 95"/>
                  <a:gd name="T7" fmla="*/ 1 h 31"/>
                  <a:gd name="T8" fmla="*/ 1 w 95"/>
                  <a:gd name="T9" fmla="*/ 1 h 31"/>
                  <a:gd name="T10" fmla="*/ 1 w 95"/>
                  <a:gd name="T11" fmla="*/ 1 h 31"/>
                  <a:gd name="T12" fmla="*/ 1 w 95"/>
                  <a:gd name="T13" fmla="*/ 1 h 31"/>
                  <a:gd name="T14" fmla="*/ 1 w 95"/>
                  <a:gd name="T15" fmla="*/ 1 h 31"/>
                  <a:gd name="T16" fmla="*/ 1 w 95"/>
                  <a:gd name="T17" fmla="*/ 1 h 31"/>
                  <a:gd name="T18" fmla="*/ 1 w 95"/>
                  <a:gd name="T19" fmla="*/ 1 h 31"/>
                  <a:gd name="T20" fmla="*/ 1 w 95"/>
                  <a:gd name="T21" fmla="*/ 1 h 31"/>
                  <a:gd name="T22" fmla="*/ 1 w 95"/>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5"/>
                  <a:gd name="T37" fmla="*/ 0 h 31"/>
                  <a:gd name="T38" fmla="*/ 95 w 95"/>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5" h="31">
                    <a:moveTo>
                      <a:pt x="89" y="30"/>
                    </a:moveTo>
                    <a:lnTo>
                      <a:pt x="86" y="10"/>
                    </a:lnTo>
                    <a:lnTo>
                      <a:pt x="3" y="0"/>
                    </a:lnTo>
                    <a:lnTo>
                      <a:pt x="0" y="22"/>
                    </a:lnTo>
                    <a:lnTo>
                      <a:pt x="83" y="31"/>
                    </a:lnTo>
                    <a:lnTo>
                      <a:pt x="79" y="11"/>
                    </a:lnTo>
                    <a:lnTo>
                      <a:pt x="83" y="31"/>
                    </a:lnTo>
                    <a:lnTo>
                      <a:pt x="90" y="28"/>
                    </a:lnTo>
                    <a:lnTo>
                      <a:pt x="95" y="22"/>
                    </a:lnTo>
                    <a:lnTo>
                      <a:pt x="94" y="14"/>
                    </a:lnTo>
                    <a:lnTo>
                      <a:pt x="86" y="10"/>
                    </a:lnTo>
                    <a:lnTo>
                      <a:pt x="89" y="30"/>
                    </a:lnTo>
                    <a:close/>
                  </a:path>
                </a:pathLst>
              </a:custGeom>
              <a:solidFill>
                <a:srgbClr val="000000"/>
              </a:solidFill>
              <a:ln w="9525">
                <a:noFill/>
                <a:round/>
                <a:headEnd/>
                <a:tailEnd/>
              </a:ln>
            </p:spPr>
            <p:txBody>
              <a:bodyPr/>
              <a:lstStyle/>
              <a:p>
                <a:endParaRPr lang="en-US"/>
              </a:p>
            </p:txBody>
          </p:sp>
          <p:sp>
            <p:nvSpPr>
              <p:cNvPr id="25830" name="Freeform 193"/>
              <p:cNvSpPr>
                <a:spLocks/>
              </p:cNvSpPr>
              <p:nvPr/>
            </p:nvSpPr>
            <p:spPr bwMode="auto">
              <a:xfrm>
                <a:off x="2152" y="3416"/>
                <a:ext cx="83" cy="90"/>
              </a:xfrm>
              <a:custGeom>
                <a:avLst/>
                <a:gdLst>
                  <a:gd name="T0" fmla="*/ 1 w 166"/>
                  <a:gd name="T1" fmla="*/ 1 h 180"/>
                  <a:gd name="T2" fmla="*/ 1 w 166"/>
                  <a:gd name="T3" fmla="*/ 1 h 180"/>
                  <a:gd name="T4" fmla="*/ 1 w 166"/>
                  <a:gd name="T5" fmla="*/ 1 h 180"/>
                  <a:gd name="T6" fmla="*/ 1 w 166"/>
                  <a:gd name="T7" fmla="*/ 1 h 180"/>
                  <a:gd name="T8" fmla="*/ 1 w 166"/>
                  <a:gd name="T9" fmla="*/ 1 h 180"/>
                  <a:gd name="T10" fmla="*/ 1 w 166"/>
                  <a:gd name="T11" fmla="*/ 1 h 180"/>
                  <a:gd name="T12" fmla="*/ 1 w 166"/>
                  <a:gd name="T13" fmla="*/ 1 h 180"/>
                  <a:gd name="T14" fmla="*/ 1 w 166"/>
                  <a:gd name="T15" fmla="*/ 1 h 180"/>
                  <a:gd name="T16" fmla="*/ 1 w 166"/>
                  <a:gd name="T17" fmla="*/ 1 h 180"/>
                  <a:gd name="T18" fmla="*/ 1 w 166"/>
                  <a:gd name="T19" fmla="*/ 1 h 180"/>
                  <a:gd name="T20" fmla="*/ 1 w 166"/>
                  <a:gd name="T21" fmla="*/ 1 h 180"/>
                  <a:gd name="T22" fmla="*/ 1 w 166"/>
                  <a:gd name="T23" fmla="*/ 1 h 180"/>
                  <a:gd name="T24" fmla="*/ 1 w 166"/>
                  <a:gd name="T25" fmla="*/ 1 h 180"/>
                  <a:gd name="T26" fmla="*/ 1 w 166"/>
                  <a:gd name="T27" fmla="*/ 1 h 180"/>
                  <a:gd name="T28" fmla="*/ 1 w 166"/>
                  <a:gd name="T29" fmla="*/ 0 h 180"/>
                  <a:gd name="T30" fmla="*/ 1 w 166"/>
                  <a:gd name="T31" fmla="*/ 0 h 180"/>
                  <a:gd name="T32" fmla="*/ 1 w 166"/>
                  <a:gd name="T33" fmla="*/ 0 h 180"/>
                  <a:gd name="T34" fmla="*/ 1 w 166"/>
                  <a:gd name="T35" fmla="*/ 0 h 180"/>
                  <a:gd name="T36" fmla="*/ 1 w 166"/>
                  <a:gd name="T37" fmla="*/ 1 h 180"/>
                  <a:gd name="T38" fmla="*/ 1 w 166"/>
                  <a:gd name="T39" fmla="*/ 1 h 180"/>
                  <a:gd name="T40" fmla="*/ 0 w 166"/>
                  <a:gd name="T41" fmla="*/ 1 h 180"/>
                  <a:gd name="T42" fmla="*/ 0 w 166"/>
                  <a:gd name="T43" fmla="*/ 1 h 180"/>
                  <a:gd name="T44" fmla="*/ 1 w 166"/>
                  <a:gd name="T45" fmla="*/ 1 h 180"/>
                  <a:gd name="T46" fmla="*/ 1 w 166"/>
                  <a:gd name="T47" fmla="*/ 1 h 180"/>
                  <a:gd name="T48" fmla="*/ 1 w 166"/>
                  <a:gd name="T49" fmla="*/ 1 h 180"/>
                  <a:gd name="T50" fmla="*/ 1 w 166"/>
                  <a:gd name="T51" fmla="*/ 1 h 180"/>
                  <a:gd name="T52" fmla="*/ 1 w 166"/>
                  <a:gd name="T53" fmla="*/ 1 h 180"/>
                  <a:gd name="T54" fmla="*/ 1 w 166"/>
                  <a:gd name="T55" fmla="*/ 1 h 180"/>
                  <a:gd name="T56" fmla="*/ 1 w 166"/>
                  <a:gd name="T57" fmla="*/ 1 h 180"/>
                  <a:gd name="T58" fmla="*/ 1 w 166"/>
                  <a:gd name="T59" fmla="*/ 1 h 180"/>
                  <a:gd name="T60" fmla="*/ 1 w 166"/>
                  <a:gd name="T61" fmla="*/ 1 h 180"/>
                  <a:gd name="T62" fmla="*/ 1 w 166"/>
                  <a:gd name="T63" fmla="*/ 1 h 180"/>
                  <a:gd name="T64" fmla="*/ 1 w 166"/>
                  <a:gd name="T65" fmla="*/ 1 h 180"/>
                  <a:gd name="T66" fmla="*/ 1 w 166"/>
                  <a:gd name="T67" fmla="*/ 1 h 18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6"/>
                  <a:gd name="T103" fmla="*/ 0 h 180"/>
                  <a:gd name="T104" fmla="*/ 166 w 166"/>
                  <a:gd name="T105" fmla="*/ 180 h 18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6" h="180">
                    <a:moveTo>
                      <a:pt x="72" y="180"/>
                    </a:moveTo>
                    <a:lnTo>
                      <a:pt x="77" y="180"/>
                    </a:lnTo>
                    <a:lnTo>
                      <a:pt x="88" y="180"/>
                    </a:lnTo>
                    <a:lnTo>
                      <a:pt x="100" y="180"/>
                    </a:lnTo>
                    <a:lnTo>
                      <a:pt x="111" y="178"/>
                    </a:lnTo>
                    <a:lnTo>
                      <a:pt x="119" y="177"/>
                    </a:lnTo>
                    <a:lnTo>
                      <a:pt x="124" y="174"/>
                    </a:lnTo>
                    <a:lnTo>
                      <a:pt x="130" y="171"/>
                    </a:lnTo>
                    <a:lnTo>
                      <a:pt x="135" y="169"/>
                    </a:lnTo>
                    <a:lnTo>
                      <a:pt x="140" y="169"/>
                    </a:lnTo>
                    <a:lnTo>
                      <a:pt x="146" y="169"/>
                    </a:lnTo>
                    <a:lnTo>
                      <a:pt x="151" y="169"/>
                    </a:lnTo>
                    <a:lnTo>
                      <a:pt x="152" y="169"/>
                    </a:lnTo>
                    <a:lnTo>
                      <a:pt x="154" y="164"/>
                    </a:lnTo>
                    <a:lnTo>
                      <a:pt x="157" y="153"/>
                    </a:lnTo>
                    <a:lnTo>
                      <a:pt x="160" y="141"/>
                    </a:lnTo>
                    <a:lnTo>
                      <a:pt x="162" y="128"/>
                    </a:lnTo>
                    <a:lnTo>
                      <a:pt x="162" y="121"/>
                    </a:lnTo>
                    <a:lnTo>
                      <a:pt x="163" y="106"/>
                    </a:lnTo>
                    <a:lnTo>
                      <a:pt x="165" y="89"/>
                    </a:lnTo>
                    <a:lnTo>
                      <a:pt x="166" y="70"/>
                    </a:lnTo>
                    <a:lnTo>
                      <a:pt x="166" y="52"/>
                    </a:lnTo>
                    <a:lnTo>
                      <a:pt x="163" y="35"/>
                    </a:lnTo>
                    <a:lnTo>
                      <a:pt x="158" y="20"/>
                    </a:lnTo>
                    <a:lnTo>
                      <a:pt x="151" y="13"/>
                    </a:lnTo>
                    <a:lnTo>
                      <a:pt x="141" y="8"/>
                    </a:lnTo>
                    <a:lnTo>
                      <a:pt x="130" y="5"/>
                    </a:lnTo>
                    <a:lnTo>
                      <a:pt x="121" y="3"/>
                    </a:lnTo>
                    <a:lnTo>
                      <a:pt x="111" y="2"/>
                    </a:lnTo>
                    <a:lnTo>
                      <a:pt x="104" y="0"/>
                    </a:lnTo>
                    <a:lnTo>
                      <a:pt x="96" y="0"/>
                    </a:lnTo>
                    <a:lnTo>
                      <a:pt x="88" y="0"/>
                    </a:lnTo>
                    <a:lnTo>
                      <a:pt x="83" y="0"/>
                    </a:lnTo>
                    <a:lnTo>
                      <a:pt x="77" y="0"/>
                    </a:lnTo>
                    <a:lnTo>
                      <a:pt x="68" y="0"/>
                    </a:lnTo>
                    <a:lnTo>
                      <a:pt x="57" y="0"/>
                    </a:lnTo>
                    <a:lnTo>
                      <a:pt x="44" y="2"/>
                    </a:lnTo>
                    <a:lnTo>
                      <a:pt x="30" y="5"/>
                    </a:lnTo>
                    <a:lnTo>
                      <a:pt x="19" y="8"/>
                    </a:lnTo>
                    <a:lnTo>
                      <a:pt x="10" y="14"/>
                    </a:lnTo>
                    <a:lnTo>
                      <a:pt x="3" y="22"/>
                    </a:lnTo>
                    <a:lnTo>
                      <a:pt x="0" y="30"/>
                    </a:lnTo>
                    <a:lnTo>
                      <a:pt x="0" y="38"/>
                    </a:lnTo>
                    <a:lnTo>
                      <a:pt x="0" y="45"/>
                    </a:lnTo>
                    <a:lnTo>
                      <a:pt x="2" y="53"/>
                    </a:lnTo>
                    <a:lnTo>
                      <a:pt x="3" y="60"/>
                    </a:lnTo>
                    <a:lnTo>
                      <a:pt x="5" y="66"/>
                    </a:lnTo>
                    <a:lnTo>
                      <a:pt x="8" y="70"/>
                    </a:lnTo>
                    <a:lnTo>
                      <a:pt x="10" y="74"/>
                    </a:lnTo>
                    <a:lnTo>
                      <a:pt x="14" y="80"/>
                    </a:lnTo>
                    <a:lnTo>
                      <a:pt x="19" y="88"/>
                    </a:lnTo>
                    <a:lnTo>
                      <a:pt x="22" y="96"/>
                    </a:lnTo>
                    <a:lnTo>
                      <a:pt x="24" y="102"/>
                    </a:lnTo>
                    <a:lnTo>
                      <a:pt x="24" y="106"/>
                    </a:lnTo>
                    <a:lnTo>
                      <a:pt x="24" y="113"/>
                    </a:lnTo>
                    <a:lnTo>
                      <a:pt x="24" y="119"/>
                    </a:lnTo>
                    <a:lnTo>
                      <a:pt x="24" y="121"/>
                    </a:lnTo>
                    <a:lnTo>
                      <a:pt x="25" y="121"/>
                    </a:lnTo>
                    <a:lnTo>
                      <a:pt x="30" y="122"/>
                    </a:lnTo>
                    <a:lnTo>
                      <a:pt x="35" y="122"/>
                    </a:lnTo>
                    <a:lnTo>
                      <a:pt x="41" y="124"/>
                    </a:lnTo>
                    <a:lnTo>
                      <a:pt x="46" y="127"/>
                    </a:lnTo>
                    <a:lnTo>
                      <a:pt x="49" y="133"/>
                    </a:lnTo>
                    <a:lnTo>
                      <a:pt x="53" y="142"/>
                    </a:lnTo>
                    <a:lnTo>
                      <a:pt x="57" y="152"/>
                    </a:lnTo>
                    <a:lnTo>
                      <a:pt x="61" y="163"/>
                    </a:lnTo>
                    <a:lnTo>
                      <a:pt x="66" y="171"/>
                    </a:lnTo>
                    <a:lnTo>
                      <a:pt x="71" y="177"/>
                    </a:lnTo>
                    <a:lnTo>
                      <a:pt x="72" y="180"/>
                    </a:lnTo>
                    <a:close/>
                  </a:path>
                </a:pathLst>
              </a:custGeom>
              <a:solidFill>
                <a:srgbClr val="994C19"/>
              </a:solidFill>
              <a:ln w="9525">
                <a:noFill/>
                <a:round/>
                <a:headEnd/>
                <a:tailEnd/>
              </a:ln>
            </p:spPr>
            <p:txBody>
              <a:bodyPr/>
              <a:lstStyle/>
              <a:p>
                <a:endParaRPr lang="en-US"/>
              </a:p>
            </p:txBody>
          </p:sp>
          <p:sp>
            <p:nvSpPr>
              <p:cNvPr id="25831" name="Freeform 194"/>
              <p:cNvSpPr>
                <a:spLocks/>
              </p:cNvSpPr>
              <p:nvPr/>
            </p:nvSpPr>
            <p:spPr bwMode="auto">
              <a:xfrm>
                <a:off x="2188" y="3500"/>
                <a:ext cx="20" cy="11"/>
              </a:xfrm>
              <a:custGeom>
                <a:avLst/>
                <a:gdLst>
                  <a:gd name="T0" fmla="*/ 0 w 41"/>
                  <a:gd name="T1" fmla="*/ 0 h 24"/>
                  <a:gd name="T2" fmla="*/ 0 w 41"/>
                  <a:gd name="T3" fmla="*/ 0 h 24"/>
                  <a:gd name="T4" fmla="*/ 0 w 41"/>
                  <a:gd name="T5" fmla="*/ 0 h 24"/>
                  <a:gd name="T6" fmla="*/ 0 w 41"/>
                  <a:gd name="T7" fmla="*/ 0 h 24"/>
                  <a:gd name="T8" fmla="*/ 0 w 41"/>
                  <a:gd name="T9" fmla="*/ 0 h 24"/>
                  <a:gd name="T10" fmla="*/ 0 w 41"/>
                  <a:gd name="T11" fmla="*/ 0 h 24"/>
                  <a:gd name="T12" fmla="*/ 0 w 41"/>
                  <a:gd name="T13" fmla="*/ 0 h 24"/>
                  <a:gd name="T14" fmla="*/ 0 w 41"/>
                  <a:gd name="T15" fmla="*/ 0 h 24"/>
                  <a:gd name="T16" fmla="*/ 0 w 41"/>
                  <a:gd name="T17" fmla="*/ 0 h 24"/>
                  <a:gd name="T18" fmla="*/ 0 w 41"/>
                  <a:gd name="T19" fmla="*/ 0 h 24"/>
                  <a:gd name="T20" fmla="*/ 0 w 41"/>
                  <a:gd name="T21" fmla="*/ 0 h 24"/>
                  <a:gd name="T22" fmla="*/ 0 w 41"/>
                  <a:gd name="T23" fmla="*/ 0 h 24"/>
                  <a:gd name="T24" fmla="*/ 0 w 41"/>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
                  <a:gd name="T40" fmla="*/ 0 h 24"/>
                  <a:gd name="T41" fmla="*/ 41 w 41"/>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 h="24">
                    <a:moveTo>
                      <a:pt x="38" y="0"/>
                    </a:moveTo>
                    <a:lnTo>
                      <a:pt x="38" y="0"/>
                    </a:lnTo>
                    <a:lnTo>
                      <a:pt x="28" y="2"/>
                    </a:lnTo>
                    <a:lnTo>
                      <a:pt x="16" y="2"/>
                    </a:lnTo>
                    <a:lnTo>
                      <a:pt x="5" y="2"/>
                    </a:lnTo>
                    <a:lnTo>
                      <a:pt x="0" y="2"/>
                    </a:lnTo>
                    <a:lnTo>
                      <a:pt x="0" y="24"/>
                    </a:lnTo>
                    <a:lnTo>
                      <a:pt x="5" y="24"/>
                    </a:lnTo>
                    <a:lnTo>
                      <a:pt x="16" y="24"/>
                    </a:lnTo>
                    <a:lnTo>
                      <a:pt x="28" y="24"/>
                    </a:lnTo>
                    <a:lnTo>
                      <a:pt x="41" y="22"/>
                    </a:lnTo>
                    <a:lnTo>
                      <a:pt x="38" y="0"/>
                    </a:lnTo>
                    <a:close/>
                  </a:path>
                </a:pathLst>
              </a:custGeom>
              <a:solidFill>
                <a:srgbClr val="000000"/>
              </a:solidFill>
              <a:ln w="9525">
                <a:noFill/>
                <a:round/>
                <a:headEnd/>
                <a:tailEnd/>
              </a:ln>
            </p:spPr>
            <p:txBody>
              <a:bodyPr/>
              <a:lstStyle/>
              <a:p>
                <a:endParaRPr lang="en-US"/>
              </a:p>
            </p:txBody>
          </p:sp>
          <p:sp>
            <p:nvSpPr>
              <p:cNvPr id="25832" name="Freeform 195"/>
              <p:cNvSpPr>
                <a:spLocks/>
              </p:cNvSpPr>
              <p:nvPr/>
            </p:nvSpPr>
            <p:spPr bwMode="auto">
              <a:xfrm>
                <a:off x="2207" y="3495"/>
                <a:ext cx="14" cy="16"/>
              </a:xfrm>
              <a:custGeom>
                <a:avLst/>
                <a:gdLst>
                  <a:gd name="T0" fmla="*/ 1 w 28"/>
                  <a:gd name="T1" fmla="*/ 0 h 31"/>
                  <a:gd name="T2" fmla="*/ 1 w 28"/>
                  <a:gd name="T3" fmla="*/ 0 h 31"/>
                  <a:gd name="T4" fmla="*/ 1 w 28"/>
                  <a:gd name="T5" fmla="*/ 1 h 31"/>
                  <a:gd name="T6" fmla="*/ 1 w 28"/>
                  <a:gd name="T7" fmla="*/ 1 h 31"/>
                  <a:gd name="T8" fmla="*/ 1 w 28"/>
                  <a:gd name="T9" fmla="*/ 1 h 31"/>
                  <a:gd name="T10" fmla="*/ 0 w 28"/>
                  <a:gd name="T11" fmla="*/ 1 h 31"/>
                  <a:gd name="T12" fmla="*/ 1 w 28"/>
                  <a:gd name="T13" fmla="*/ 1 h 31"/>
                  <a:gd name="T14" fmla="*/ 1 w 28"/>
                  <a:gd name="T15" fmla="*/ 1 h 31"/>
                  <a:gd name="T16" fmla="*/ 1 w 28"/>
                  <a:gd name="T17" fmla="*/ 1 h 31"/>
                  <a:gd name="T18" fmla="*/ 1 w 28"/>
                  <a:gd name="T19" fmla="*/ 1 h 31"/>
                  <a:gd name="T20" fmla="*/ 1 w 28"/>
                  <a:gd name="T21" fmla="*/ 1 h 31"/>
                  <a:gd name="T22" fmla="*/ 1 w 28"/>
                  <a:gd name="T23" fmla="*/ 1 h 31"/>
                  <a:gd name="T24" fmla="*/ 1 w 28"/>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1"/>
                  <a:gd name="T41" fmla="*/ 28 w 28"/>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1">
                    <a:moveTo>
                      <a:pt x="22" y="0"/>
                    </a:moveTo>
                    <a:lnTo>
                      <a:pt x="23" y="0"/>
                    </a:lnTo>
                    <a:lnTo>
                      <a:pt x="16" y="3"/>
                    </a:lnTo>
                    <a:lnTo>
                      <a:pt x="9" y="6"/>
                    </a:lnTo>
                    <a:lnTo>
                      <a:pt x="6" y="8"/>
                    </a:lnTo>
                    <a:lnTo>
                      <a:pt x="0" y="9"/>
                    </a:lnTo>
                    <a:lnTo>
                      <a:pt x="3" y="31"/>
                    </a:lnTo>
                    <a:lnTo>
                      <a:pt x="12" y="30"/>
                    </a:lnTo>
                    <a:lnTo>
                      <a:pt x="19" y="25"/>
                    </a:lnTo>
                    <a:lnTo>
                      <a:pt x="25" y="22"/>
                    </a:lnTo>
                    <a:lnTo>
                      <a:pt x="26" y="22"/>
                    </a:lnTo>
                    <a:lnTo>
                      <a:pt x="28" y="22"/>
                    </a:lnTo>
                    <a:lnTo>
                      <a:pt x="22" y="0"/>
                    </a:lnTo>
                    <a:close/>
                  </a:path>
                </a:pathLst>
              </a:custGeom>
              <a:solidFill>
                <a:srgbClr val="000000"/>
              </a:solidFill>
              <a:ln w="9525">
                <a:noFill/>
                <a:round/>
                <a:headEnd/>
                <a:tailEnd/>
              </a:ln>
            </p:spPr>
            <p:txBody>
              <a:bodyPr/>
              <a:lstStyle/>
              <a:p>
                <a:endParaRPr lang="en-US"/>
              </a:p>
            </p:txBody>
          </p:sp>
          <p:sp>
            <p:nvSpPr>
              <p:cNvPr id="25833" name="Freeform 196"/>
              <p:cNvSpPr>
                <a:spLocks/>
              </p:cNvSpPr>
              <p:nvPr/>
            </p:nvSpPr>
            <p:spPr bwMode="auto">
              <a:xfrm>
                <a:off x="2218" y="3495"/>
                <a:ext cx="16" cy="11"/>
              </a:xfrm>
              <a:custGeom>
                <a:avLst/>
                <a:gdLst>
                  <a:gd name="T0" fmla="*/ 1 w 31"/>
                  <a:gd name="T1" fmla="*/ 1 h 22"/>
                  <a:gd name="T2" fmla="*/ 1 w 31"/>
                  <a:gd name="T3" fmla="*/ 0 h 22"/>
                  <a:gd name="T4" fmla="*/ 1 w 31"/>
                  <a:gd name="T5" fmla="*/ 0 h 22"/>
                  <a:gd name="T6" fmla="*/ 1 w 31"/>
                  <a:gd name="T7" fmla="*/ 0 h 22"/>
                  <a:gd name="T8" fmla="*/ 1 w 31"/>
                  <a:gd name="T9" fmla="*/ 0 h 22"/>
                  <a:gd name="T10" fmla="*/ 0 w 31"/>
                  <a:gd name="T11" fmla="*/ 0 h 22"/>
                  <a:gd name="T12" fmla="*/ 1 w 31"/>
                  <a:gd name="T13" fmla="*/ 1 h 22"/>
                  <a:gd name="T14" fmla="*/ 1 w 31"/>
                  <a:gd name="T15" fmla="*/ 1 h 22"/>
                  <a:gd name="T16" fmla="*/ 1 w 31"/>
                  <a:gd name="T17" fmla="*/ 1 h 22"/>
                  <a:gd name="T18" fmla="*/ 1 w 31"/>
                  <a:gd name="T19" fmla="*/ 1 h 22"/>
                  <a:gd name="T20" fmla="*/ 1 w 31"/>
                  <a:gd name="T21" fmla="*/ 1 h 22"/>
                  <a:gd name="T22" fmla="*/ 1 w 31"/>
                  <a:gd name="T23" fmla="*/ 1 h 22"/>
                  <a:gd name="T24" fmla="*/ 1 w 31"/>
                  <a:gd name="T25" fmla="*/ 1 h 22"/>
                  <a:gd name="T26" fmla="*/ 1 w 31"/>
                  <a:gd name="T27" fmla="*/ 1 h 22"/>
                  <a:gd name="T28" fmla="*/ 1 w 31"/>
                  <a:gd name="T29" fmla="*/ 1 h 22"/>
                  <a:gd name="T30" fmla="*/ 1 w 31"/>
                  <a:gd name="T31" fmla="*/ 1 h 22"/>
                  <a:gd name="T32" fmla="*/ 1 w 31"/>
                  <a:gd name="T33" fmla="*/ 0 h 22"/>
                  <a:gd name="T34" fmla="*/ 1 w 31"/>
                  <a:gd name="T35" fmla="*/ 1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22"/>
                  <a:gd name="T56" fmla="*/ 31 w 31"/>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22">
                    <a:moveTo>
                      <a:pt x="9" y="8"/>
                    </a:moveTo>
                    <a:lnTo>
                      <a:pt x="22" y="0"/>
                    </a:lnTo>
                    <a:lnTo>
                      <a:pt x="19" y="0"/>
                    </a:lnTo>
                    <a:lnTo>
                      <a:pt x="14" y="0"/>
                    </a:lnTo>
                    <a:lnTo>
                      <a:pt x="8" y="0"/>
                    </a:lnTo>
                    <a:lnTo>
                      <a:pt x="0" y="0"/>
                    </a:lnTo>
                    <a:lnTo>
                      <a:pt x="6" y="22"/>
                    </a:lnTo>
                    <a:lnTo>
                      <a:pt x="8" y="22"/>
                    </a:lnTo>
                    <a:lnTo>
                      <a:pt x="14" y="22"/>
                    </a:lnTo>
                    <a:lnTo>
                      <a:pt x="19" y="22"/>
                    </a:lnTo>
                    <a:lnTo>
                      <a:pt x="31" y="14"/>
                    </a:lnTo>
                    <a:lnTo>
                      <a:pt x="19" y="22"/>
                    </a:lnTo>
                    <a:lnTo>
                      <a:pt x="26" y="19"/>
                    </a:lnTo>
                    <a:lnTo>
                      <a:pt x="31" y="13"/>
                    </a:lnTo>
                    <a:lnTo>
                      <a:pt x="30" y="5"/>
                    </a:lnTo>
                    <a:lnTo>
                      <a:pt x="22" y="0"/>
                    </a:lnTo>
                    <a:lnTo>
                      <a:pt x="9" y="8"/>
                    </a:lnTo>
                    <a:close/>
                  </a:path>
                </a:pathLst>
              </a:custGeom>
              <a:solidFill>
                <a:srgbClr val="000000"/>
              </a:solidFill>
              <a:ln w="9525">
                <a:noFill/>
                <a:round/>
                <a:headEnd/>
                <a:tailEnd/>
              </a:ln>
            </p:spPr>
            <p:txBody>
              <a:bodyPr/>
              <a:lstStyle/>
              <a:p>
                <a:endParaRPr lang="en-US"/>
              </a:p>
            </p:txBody>
          </p:sp>
          <p:sp>
            <p:nvSpPr>
              <p:cNvPr id="25834" name="Freeform 197"/>
              <p:cNvSpPr>
                <a:spLocks/>
              </p:cNvSpPr>
              <p:nvPr/>
            </p:nvSpPr>
            <p:spPr bwMode="auto">
              <a:xfrm>
                <a:off x="2223" y="3480"/>
                <a:ext cx="15" cy="22"/>
              </a:xfrm>
              <a:custGeom>
                <a:avLst/>
                <a:gdLst>
                  <a:gd name="T0" fmla="*/ 0 w 31"/>
                  <a:gd name="T1" fmla="*/ 0 h 44"/>
                  <a:gd name="T2" fmla="*/ 0 w 31"/>
                  <a:gd name="T3" fmla="*/ 0 h 44"/>
                  <a:gd name="T4" fmla="*/ 0 w 31"/>
                  <a:gd name="T5" fmla="*/ 1 h 44"/>
                  <a:gd name="T6" fmla="*/ 0 w 31"/>
                  <a:gd name="T7" fmla="*/ 1 h 44"/>
                  <a:gd name="T8" fmla="*/ 0 w 31"/>
                  <a:gd name="T9" fmla="*/ 1 h 44"/>
                  <a:gd name="T10" fmla="*/ 0 w 31"/>
                  <a:gd name="T11" fmla="*/ 1 h 44"/>
                  <a:gd name="T12" fmla="*/ 0 w 31"/>
                  <a:gd name="T13" fmla="*/ 1 h 44"/>
                  <a:gd name="T14" fmla="*/ 0 w 31"/>
                  <a:gd name="T15" fmla="*/ 1 h 44"/>
                  <a:gd name="T16" fmla="*/ 0 w 31"/>
                  <a:gd name="T17" fmla="*/ 1 h 44"/>
                  <a:gd name="T18" fmla="*/ 0 w 31"/>
                  <a:gd name="T19" fmla="*/ 1 h 44"/>
                  <a:gd name="T20" fmla="*/ 0 w 31"/>
                  <a:gd name="T21" fmla="*/ 0 h 44"/>
                  <a:gd name="T22" fmla="*/ 0 w 31"/>
                  <a:gd name="T23" fmla="*/ 0 h 44"/>
                  <a:gd name="T24" fmla="*/ 0 w 31"/>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44"/>
                  <a:gd name="T41" fmla="*/ 31 w 31"/>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44">
                    <a:moveTo>
                      <a:pt x="10" y="0"/>
                    </a:moveTo>
                    <a:lnTo>
                      <a:pt x="10" y="0"/>
                    </a:lnTo>
                    <a:lnTo>
                      <a:pt x="8" y="11"/>
                    </a:lnTo>
                    <a:lnTo>
                      <a:pt x="5" y="22"/>
                    </a:lnTo>
                    <a:lnTo>
                      <a:pt x="2" y="33"/>
                    </a:lnTo>
                    <a:lnTo>
                      <a:pt x="0" y="38"/>
                    </a:lnTo>
                    <a:lnTo>
                      <a:pt x="22" y="44"/>
                    </a:lnTo>
                    <a:lnTo>
                      <a:pt x="24" y="39"/>
                    </a:lnTo>
                    <a:lnTo>
                      <a:pt x="27" y="29"/>
                    </a:lnTo>
                    <a:lnTo>
                      <a:pt x="30" y="14"/>
                    </a:lnTo>
                    <a:lnTo>
                      <a:pt x="31" y="0"/>
                    </a:lnTo>
                    <a:lnTo>
                      <a:pt x="10" y="0"/>
                    </a:lnTo>
                    <a:close/>
                  </a:path>
                </a:pathLst>
              </a:custGeom>
              <a:solidFill>
                <a:srgbClr val="000000"/>
              </a:solidFill>
              <a:ln w="9525">
                <a:noFill/>
                <a:round/>
                <a:headEnd/>
                <a:tailEnd/>
              </a:ln>
            </p:spPr>
            <p:txBody>
              <a:bodyPr/>
              <a:lstStyle/>
              <a:p>
                <a:endParaRPr lang="en-US"/>
              </a:p>
            </p:txBody>
          </p:sp>
          <p:sp>
            <p:nvSpPr>
              <p:cNvPr id="25835" name="Freeform 198"/>
              <p:cNvSpPr>
                <a:spLocks/>
              </p:cNvSpPr>
              <p:nvPr/>
            </p:nvSpPr>
            <p:spPr bwMode="auto">
              <a:xfrm>
                <a:off x="2225" y="3418"/>
                <a:ext cx="16" cy="62"/>
              </a:xfrm>
              <a:custGeom>
                <a:avLst/>
                <a:gdLst>
                  <a:gd name="T0" fmla="*/ 0 w 31"/>
                  <a:gd name="T1" fmla="*/ 0 h 125"/>
                  <a:gd name="T2" fmla="*/ 0 w 31"/>
                  <a:gd name="T3" fmla="*/ 0 h 125"/>
                  <a:gd name="T4" fmla="*/ 1 w 31"/>
                  <a:gd name="T5" fmla="*/ 0 h 125"/>
                  <a:gd name="T6" fmla="*/ 1 w 31"/>
                  <a:gd name="T7" fmla="*/ 0 h 125"/>
                  <a:gd name="T8" fmla="*/ 1 w 31"/>
                  <a:gd name="T9" fmla="*/ 0 h 125"/>
                  <a:gd name="T10" fmla="*/ 1 w 31"/>
                  <a:gd name="T11" fmla="*/ 0 h 125"/>
                  <a:gd name="T12" fmla="*/ 1 w 31"/>
                  <a:gd name="T13" fmla="*/ 0 h 125"/>
                  <a:gd name="T14" fmla="*/ 1 w 31"/>
                  <a:gd name="T15" fmla="*/ 0 h 125"/>
                  <a:gd name="T16" fmla="*/ 1 w 31"/>
                  <a:gd name="T17" fmla="*/ 0 h 125"/>
                  <a:gd name="T18" fmla="*/ 1 w 31"/>
                  <a:gd name="T19" fmla="*/ 0 h 125"/>
                  <a:gd name="T20" fmla="*/ 1 w 31"/>
                  <a:gd name="T21" fmla="*/ 0 h 125"/>
                  <a:gd name="T22" fmla="*/ 1 w 31"/>
                  <a:gd name="T23" fmla="*/ 0 h 125"/>
                  <a:gd name="T24" fmla="*/ 1 w 31"/>
                  <a:gd name="T25" fmla="*/ 0 h 125"/>
                  <a:gd name="T26" fmla="*/ 1 w 31"/>
                  <a:gd name="T27" fmla="*/ 0 h 125"/>
                  <a:gd name="T28" fmla="*/ 1 w 31"/>
                  <a:gd name="T29" fmla="*/ 0 h 125"/>
                  <a:gd name="T30" fmla="*/ 1 w 31"/>
                  <a:gd name="T31" fmla="*/ 0 h 125"/>
                  <a:gd name="T32" fmla="*/ 1 w 31"/>
                  <a:gd name="T33" fmla="*/ 0 h 125"/>
                  <a:gd name="T34" fmla="*/ 1 w 31"/>
                  <a:gd name="T35" fmla="*/ 0 h 125"/>
                  <a:gd name="T36" fmla="*/ 1 w 31"/>
                  <a:gd name="T37" fmla="*/ 0 h 125"/>
                  <a:gd name="T38" fmla="*/ 1 w 31"/>
                  <a:gd name="T39" fmla="*/ 0 h 125"/>
                  <a:gd name="T40" fmla="*/ 0 w 31"/>
                  <a:gd name="T41" fmla="*/ 0 h 12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1"/>
                  <a:gd name="T64" fmla="*/ 0 h 125"/>
                  <a:gd name="T65" fmla="*/ 31 w 31"/>
                  <a:gd name="T66" fmla="*/ 125 h 12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1" h="125">
                    <a:moveTo>
                      <a:pt x="0" y="19"/>
                    </a:moveTo>
                    <a:lnTo>
                      <a:pt x="0" y="19"/>
                    </a:lnTo>
                    <a:lnTo>
                      <a:pt x="3" y="22"/>
                    </a:lnTo>
                    <a:lnTo>
                      <a:pt x="6" y="35"/>
                    </a:lnTo>
                    <a:lnTo>
                      <a:pt x="9" y="50"/>
                    </a:lnTo>
                    <a:lnTo>
                      <a:pt x="9" y="67"/>
                    </a:lnTo>
                    <a:lnTo>
                      <a:pt x="8" y="85"/>
                    </a:lnTo>
                    <a:lnTo>
                      <a:pt x="6" y="102"/>
                    </a:lnTo>
                    <a:lnTo>
                      <a:pt x="5" y="118"/>
                    </a:lnTo>
                    <a:lnTo>
                      <a:pt x="5" y="125"/>
                    </a:lnTo>
                    <a:lnTo>
                      <a:pt x="26" y="125"/>
                    </a:lnTo>
                    <a:lnTo>
                      <a:pt x="26" y="118"/>
                    </a:lnTo>
                    <a:lnTo>
                      <a:pt x="28" y="105"/>
                    </a:lnTo>
                    <a:lnTo>
                      <a:pt x="30" y="88"/>
                    </a:lnTo>
                    <a:lnTo>
                      <a:pt x="31" y="67"/>
                    </a:lnTo>
                    <a:lnTo>
                      <a:pt x="31" y="47"/>
                    </a:lnTo>
                    <a:lnTo>
                      <a:pt x="28" y="28"/>
                    </a:lnTo>
                    <a:lnTo>
                      <a:pt x="22" y="13"/>
                    </a:lnTo>
                    <a:lnTo>
                      <a:pt x="9" y="0"/>
                    </a:lnTo>
                    <a:lnTo>
                      <a:pt x="0" y="19"/>
                    </a:lnTo>
                    <a:close/>
                  </a:path>
                </a:pathLst>
              </a:custGeom>
              <a:solidFill>
                <a:srgbClr val="000000"/>
              </a:solidFill>
              <a:ln w="9525">
                <a:noFill/>
                <a:round/>
                <a:headEnd/>
                <a:tailEnd/>
              </a:ln>
            </p:spPr>
            <p:txBody>
              <a:bodyPr/>
              <a:lstStyle/>
              <a:p>
                <a:endParaRPr lang="en-US"/>
              </a:p>
            </p:txBody>
          </p:sp>
          <p:sp>
            <p:nvSpPr>
              <p:cNvPr id="25836" name="Freeform 199"/>
              <p:cNvSpPr>
                <a:spLocks/>
              </p:cNvSpPr>
              <p:nvPr/>
            </p:nvSpPr>
            <p:spPr bwMode="auto">
              <a:xfrm>
                <a:off x="2194" y="3411"/>
                <a:ext cx="36" cy="16"/>
              </a:xfrm>
              <a:custGeom>
                <a:avLst/>
                <a:gdLst>
                  <a:gd name="T0" fmla="*/ 0 w 72"/>
                  <a:gd name="T1" fmla="*/ 0 h 33"/>
                  <a:gd name="T2" fmla="*/ 0 w 72"/>
                  <a:gd name="T3" fmla="*/ 0 h 33"/>
                  <a:gd name="T4" fmla="*/ 1 w 72"/>
                  <a:gd name="T5" fmla="*/ 0 h 33"/>
                  <a:gd name="T6" fmla="*/ 1 w 72"/>
                  <a:gd name="T7" fmla="*/ 0 h 33"/>
                  <a:gd name="T8" fmla="*/ 1 w 72"/>
                  <a:gd name="T9" fmla="*/ 0 h 33"/>
                  <a:gd name="T10" fmla="*/ 1 w 72"/>
                  <a:gd name="T11" fmla="*/ 0 h 33"/>
                  <a:gd name="T12" fmla="*/ 1 w 72"/>
                  <a:gd name="T13" fmla="*/ 0 h 33"/>
                  <a:gd name="T14" fmla="*/ 1 w 72"/>
                  <a:gd name="T15" fmla="*/ 0 h 33"/>
                  <a:gd name="T16" fmla="*/ 1 w 72"/>
                  <a:gd name="T17" fmla="*/ 0 h 33"/>
                  <a:gd name="T18" fmla="*/ 1 w 72"/>
                  <a:gd name="T19" fmla="*/ 0 h 33"/>
                  <a:gd name="T20" fmla="*/ 1 w 72"/>
                  <a:gd name="T21" fmla="*/ 0 h 33"/>
                  <a:gd name="T22" fmla="*/ 1 w 72"/>
                  <a:gd name="T23" fmla="*/ 0 h 33"/>
                  <a:gd name="T24" fmla="*/ 1 w 72"/>
                  <a:gd name="T25" fmla="*/ 0 h 33"/>
                  <a:gd name="T26" fmla="*/ 1 w 72"/>
                  <a:gd name="T27" fmla="*/ 0 h 33"/>
                  <a:gd name="T28" fmla="*/ 1 w 72"/>
                  <a:gd name="T29" fmla="*/ 0 h 33"/>
                  <a:gd name="T30" fmla="*/ 1 w 72"/>
                  <a:gd name="T31" fmla="*/ 0 h 33"/>
                  <a:gd name="T32" fmla="*/ 1 w 72"/>
                  <a:gd name="T33" fmla="*/ 0 h 33"/>
                  <a:gd name="T34" fmla="*/ 1 w 72"/>
                  <a:gd name="T35" fmla="*/ 0 h 33"/>
                  <a:gd name="T36" fmla="*/ 0 w 72"/>
                  <a:gd name="T37" fmla="*/ 0 h 33"/>
                  <a:gd name="T38" fmla="*/ 0 w 72"/>
                  <a:gd name="T39" fmla="*/ 0 h 33"/>
                  <a:gd name="T40" fmla="*/ 0 w 72"/>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3"/>
                  <a:gd name="T65" fmla="*/ 72 w 72"/>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3">
                    <a:moveTo>
                      <a:pt x="0" y="22"/>
                    </a:moveTo>
                    <a:lnTo>
                      <a:pt x="0" y="22"/>
                    </a:lnTo>
                    <a:lnTo>
                      <a:pt x="5" y="22"/>
                    </a:lnTo>
                    <a:lnTo>
                      <a:pt x="13" y="22"/>
                    </a:lnTo>
                    <a:lnTo>
                      <a:pt x="19" y="22"/>
                    </a:lnTo>
                    <a:lnTo>
                      <a:pt x="27" y="24"/>
                    </a:lnTo>
                    <a:lnTo>
                      <a:pt x="36" y="25"/>
                    </a:lnTo>
                    <a:lnTo>
                      <a:pt x="44" y="27"/>
                    </a:lnTo>
                    <a:lnTo>
                      <a:pt x="55" y="30"/>
                    </a:lnTo>
                    <a:lnTo>
                      <a:pt x="63" y="33"/>
                    </a:lnTo>
                    <a:lnTo>
                      <a:pt x="72" y="14"/>
                    </a:lnTo>
                    <a:lnTo>
                      <a:pt x="61" y="8"/>
                    </a:lnTo>
                    <a:lnTo>
                      <a:pt x="50" y="5"/>
                    </a:lnTo>
                    <a:lnTo>
                      <a:pt x="39" y="3"/>
                    </a:lnTo>
                    <a:lnTo>
                      <a:pt x="30" y="2"/>
                    </a:lnTo>
                    <a:lnTo>
                      <a:pt x="22" y="0"/>
                    </a:lnTo>
                    <a:lnTo>
                      <a:pt x="13" y="0"/>
                    </a:lnTo>
                    <a:lnTo>
                      <a:pt x="5" y="0"/>
                    </a:lnTo>
                    <a:lnTo>
                      <a:pt x="0" y="0"/>
                    </a:lnTo>
                    <a:lnTo>
                      <a:pt x="0" y="22"/>
                    </a:lnTo>
                    <a:close/>
                  </a:path>
                </a:pathLst>
              </a:custGeom>
              <a:solidFill>
                <a:srgbClr val="000000"/>
              </a:solidFill>
              <a:ln w="9525">
                <a:noFill/>
                <a:round/>
                <a:headEnd/>
                <a:tailEnd/>
              </a:ln>
            </p:spPr>
            <p:txBody>
              <a:bodyPr/>
              <a:lstStyle/>
              <a:p>
                <a:endParaRPr lang="en-US"/>
              </a:p>
            </p:txBody>
          </p:sp>
          <p:sp>
            <p:nvSpPr>
              <p:cNvPr id="25837" name="Freeform 200"/>
              <p:cNvSpPr>
                <a:spLocks/>
              </p:cNvSpPr>
              <p:nvPr/>
            </p:nvSpPr>
            <p:spPr bwMode="auto">
              <a:xfrm>
                <a:off x="2149" y="3411"/>
                <a:ext cx="45" cy="18"/>
              </a:xfrm>
              <a:custGeom>
                <a:avLst/>
                <a:gdLst>
                  <a:gd name="T0" fmla="*/ 1 w 89"/>
                  <a:gd name="T1" fmla="*/ 0 h 38"/>
                  <a:gd name="T2" fmla="*/ 1 w 89"/>
                  <a:gd name="T3" fmla="*/ 0 h 38"/>
                  <a:gd name="T4" fmla="*/ 1 w 89"/>
                  <a:gd name="T5" fmla="*/ 0 h 38"/>
                  <a:gd name="T6" fmla="*/ 1 w 89"/>
                  <a:gd name="T7" fmla="*/ 0 h 38"/>
                  <a:gd name="T8" fmla="*/ 1 w 89"/>
                  <a:gd name="T9" fmla="*/ 0 h 38"/>
                  <a:gd name="T10" fmla="*/ 1 w 89"/>
                  <a:gd name="T11" fmla="*/ 0 h 38"/>
                  <a:gd name="T12" fmla="*/ 1 w 89"/>
                  <a:gd name="T13" fmla="*/ 0 h 38"/>
                  <a:gd name="T14" fmla="*/ 1 w 89"/>
                  <a:gd name="T15" fmla="*/ 0 h 38"/>
                  <a:gd name="T16" fmla="*/ 1 w 89"/>
                  <a:gd name="T17" fmla="*/ 0 h 38"/>
                  <a:gd name="T18" fmla="*/ 1 w 89"/>
                  <a:gd name="T19" fmla="*/ 0 h 38"/>
                  <a:gd name="T20" fmla="*/ 1 w 89"/>
                  <a:gd name="T21" fmla="*/ 0 h 38"/>
                  <a:gd name="T22" fmla="*/ 1 w 89"/>
                  <a:gd name="T23" fmla="*/ 0 h 38"/>
                  <a:gd name="T24" fmla="*/ 1 w 89"/>
                  <a:gd name="T25" fmla="*/ 0 h 38"/>
                  <a:gd name="T26" fmla="*/ 1 w 89"/>
                  <a:gd name="T27" fmla="*/ 0 h 38"/>
                  <a:gd name="T28" fmla="*/ 1 w 89"/>
                  <a:gd name="T29" fmla="*/ 0 h 38"/>
                  <a:gd name="T30" fmla="*/ 1 w 89"/>
                  <a:gd name="T31" fmla="*/ 0 h 38"/>
                  <a:gd name="T32" fmla="*/ 1 w 89"/>
                  <a:gd name="T33" fmla="*/ 0 h 38"/>
                  <a:gd name="T34" fmla="*/ 1 w 89"/>
                  <a:gd name="T35" fmla="*/ 0 h 38"/>
                  <a:gd name="T36" fmla="*/ 0 w 89"/>
                  <a:gd name="T37" fmla="*/ 0 h 38"/>
                  <a:gd name="T38" fmla="*/ 0 w 89"/>
                  <a:gd name="T39" fmla="*/ 0 h 38"/>
                  <a:gd name="T40" fmla="*/ 1 w 89"/>
                  <a:gd name="T41" fmla="*/ 0 h 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9"/>
                  <a:gd name="T64" fmla="*/ 0 h 38"/>
                  <a:gd name="T65" fmla="*/ 89 w 89"/>
                  <a:gd name="T66" fmla="*/ 38 h 3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9" h="38">
                    <a:moveTo>
                      <a:pt x="19" y="38"/>
                    </a:moveTo>
                    <a:lnTo>
                      <a:pt x="19" y="38"/>
                    </a:lnTo>
                    <a:lnTo>
                      <a:pt x="23" y="33"/>
                    </a:lnTo>
                    <a:lnTo>
                      <a:pt x="30" y="28"/>
                    </a:lnTo>
                    <a:lnTo>
                      <a:pt x="39" y="27"/>
                    </a:lnTo>
                    <a:lnTo>
                      <a:pt x="52" y="24"/>
                    </a:lnTo>
                    <a:lnTo>
                      <a:pt x="63" y="22"/>
                    </a:lnTo>
                    <a:lnTo>
                      <a:pt x="74" y="22"/>
                    </a:lnTo>
                    <a:lnTo>
                      <a:pt x="83" y="22"/>
                    </a:lnTo>
                    <a:lnTo>
                      <a:pt x="89" y="22"/>
                    </a:lnTo>
                    <a:lnTo>
                      <a:pt x="89" y="0"/>
                    </a:lnTo>
                    <a:lnTo>
                      <a:pt x="83" y="0"/>
                    </a:lnTo>
                    <a:lnTo>
                      <a:pt x="74" y="0"/>
                    </a:lnTo>
                    <a:lnTo>
                      <a:pt x="63" y="0"/>
                    </a:lnTo>
                    <a:lnTo>
                      <a:pt x="49" y="2"/>
                    </a:lnTo>
                    <a:lnTo>
                      <a:pt x="33" y="5"/>
                    </a:lnTo>
                    <a:lnTo>
                      <a:pt x="20" y="10"/>
                    </a:lnTo>
                    <a:lnTo>
                      <a:pt x="8" y="17"/>
                    </a:lnTo>
                    <a:lnTo>
                      <a:pt x="0" y="28"/>
                    </a:lnTo>
                    <a:lnTo>
                      <a:pt x="19" y="38"/>
                    </a:lnTo>
                    <a:close/>
                  </a:path>
                </a:pathLst>
              </a:custGeom>
              <a:solidFill>
                <a:srgbClr val="000000"/>
              </a:solidFill>
              <a:ln w="9525">
                <a:noFill/>
                <a:round/>
                <a:headEnd/>
                <a:tailEnd/>
              </a:ln>
            </p:spPr>
            <p:txBody>
              <a:bodyPr/>
              <a:lstStyle/>
              <a:p>
                <a:endParaRPr lang="en-US"/>
              </a:p>
            </p:txBody>
          </p:sp>
          <p:sp>
            <p:nvSpPr>
              <p:cNvPr id="25838" name="Freeform 201"/>
              <p:cNvSpPr>
                <a:spLocks/>
              </p:cNvSpPr>
              <p:nvPr/>
            </p:nvSpPr>
            <p:spPr bwMode="auto">
              <a:xfrm>
                <a:off x="2147" y="3425"/>
                <a:ext cx="15" cy="31"/>
              </a:xfrm>
              <a:custGeom>
                <a:avLst/>
                <a:gdLst>
                  <a:gd name="T0" fmla="*/ 1 w 30"/>
                  <a:gd name="T1" fmla="*/ 0 h 63"/>
                  <a:gd name="T2" fmla="*/ 1 w 30"/>
                  <a:gd name="T3" fmla="*/ 0 h 63"/>
                  <a:gd name="T4" fmla="*/ 1 w 30"/>
                  <a:gd name="T5" fmla="*/ 0 h 63"/>
                  <a:gd name="T6" fmla="*/ 1 w 30"/>
                  <a:gd name="T7" fmla="*/ 0 h 63"/>
                  <a:gd name="T8" fmla="*/ 1 w 30"/>
                  <a:gd name="T9" fmla="*/ 0 h 63"/>
                  <a:gd name="T10" fmla="*/ 1 w 30"/>
                  <a:gd name="T11" fmla="*/ 0 h 63"/>
                  <a:gd name="T12" fmla="*/ 1 w 30"/>
                  <a:gd name="T13" fmla="*/ 0 h 63"/>
                  <a:gd name="T14" fmla="*/ 1 w 30"/>
                  <a:gd name="T15" fmla="*/ 0 h 63"/>
                  <a:gd name="T16" fmla="*/ 1 w 30"/>
                  <a:gd name="T17" fmla="*/ 0 h 63"/>
                  <a:gd name="T18" fmla="*/ 1 w 30"/>
                  <a:gd name="T19" fmla="*/ 0 h 63"/>
                  <a:gd name="T20" fmla="*/ 1 w 30"/>
                  <a:gd name="T21" fmla="*/ 0 h 63"/>
                  <a:gd name="T22" fmla="*/ 0 w 30"/>
                  <a:gd name="T23" fmla="*/ 0 h 63"/>
                  <a:gd name="T24" fmla="*/ 0 w 30"/>
                  <a:gd name="T25" fmla="*/ 0 h 63"/>
                  <a:gd name="T26" fmla="*/ 0 w 30"/>
                  <a:gd name="T27" fmla="*/ 0 h 63"/>
                  <a:gd name="T28" fmla="*/ 1 w 30"/>
                  <a:gd name="T29" fmla="*/ 0 h 63"/>
                  <a:gd name="T30" fmla="*/ 1 w 30"/>
                  <a:gd name="T31" fmla="*/ 0 h 63"/>
                  <a:gd name="T32" fmla="*/ 1 w 30"/>
                  <a:gd name="T33" fmla="*/ 0 h 63"/>
                  <a:gd name="T34" fmla="*/ 1 w 30"/>
                  <a:gd name="T35" fmla="*/ 0 h 63"/>
                  <a:gd name="T36" fmla="*/ 1 w 30"/>
                  <a:gd name="T37" fmla="*/ 0 h 63"/>
                  <a:gd name="T38" fmla="*/ 1 w 30"/>
                  <a:gd name="T39" fmla="*/ 0 h 63"/>
                  <a:gd name="T40" fmla="*/ 1 w 30"/>
                  <a:gd name="T41" fmla="*/ 0 h 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63"/>
                  <a:gd name="T65" fmla="*/ 30 w 30"/>
                  <a:gd name="T66" fmla="*/ 63 h 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63">
                    <a:moveTo>
                      <a:pt x="30" y="50"/>
                    </a:moveTo>
                    <a:lnTo>
                      <a:pt x="30" y="50"/>
                    </a:lnTo>
                    <a:lnTo>
                      <a:pt x="28" y="47"/>
                    </a:lnTo>
                    <a:lnTo>
                      <a:pt x="25" y="44"/>
                    </a:lnTo>
                    <a:lnTo>
                      <a:pt x="25" y="39"/>
                    </a:lnTo>
                    <a:lnTo>
                      <a:pt x="24" y="33"/>
                    </a:lnTo>
                    <a:lnTo>
                      <a:pt x="22" y="27"/>
                    </a:lnTo>
                    <a:lnTo>
                      <a:pt x="22" y="21"/>
                    </a:lnTo>
                    <a:lnTo>
                      <a:pt x="22" y="14"/>
                    </a:lnTo>
                    <a:lnTo>
                      <a:pt x="24" y="10"/>
                    </a:lnTo>
                    <a:lnTo>
                      <a:pt x="5" y="0"/>
                    </a:lnTo>
                    <a:lnTo>
                      <a:pt x="0" y="11"/>
                    </a:lnTo>
                    <a:lnTo>
                      <a:pt x="0" y="21"/>
                    </a:lnTo>
                    <a:lnTo>
                      <a:pt x="0" y="30"/>
                    </a:lnTo>
                    <a:lnTo>
                      <a:pt x="2" y="39"/>
                    </a:lnTo>
                    <a:lnTo>
                      <a:pt x="3" y="46"/>
                    </a:lnTo>
                    <a:lnTo>
                      <a:pt x="7" y="53"/>
                    </a:lnTo>
                    <a:lnTo>
                      <a:pt x="10" y="60"/>
                    </a:lnTo>
                    <a:lnTo>
                      <a:pt x="11" y="63"/>
                    </a:lnTo>
                    <a:lnTo>
                      <a:pt x="30" y="50"/>
                    </a:lnTo>
                    <a:close/>
                  </a:path>
                </a:pathLst>
              </a:custGeom>
              <a:solidFill>
                <a:srgbClr val="000000"/>
              </a:solidFill>
              <a:ln w="9525">
                <a:noFill/>
                <a:round/>
                <a:headEnd/>
                <a:tailEnd/>
              </a:ln>
            </p:spPr>
            <p:txBody>
              <a:bodyPr/>
              <a:lstStyle/>
              <a:p>
                <a:endParaRPr lang="en-US"/>
              </a:p>
            </p:txBody>
          </p:sp>
          <p:sp>
            <p:nvSpPr>
              <p:cNvPr id="25839" name="Freeform 202"/>
              <p:cNvSpPr>
                <a:spLocks/>
              </p:cNvSpPr>
              <p:nvPr/>
            </p:nvSpPr>
            <p:spPr bwMode="auto">
              <a:xfrm>
                <a:off x="2152" y="3450"/>
                <a:ext cx="17" cy="18"/>
              </a:xfrm>
              <a:custGeom>
                <a:avLst/>
                <a:gdLst>
                  <a:gd name="T0" fmla="*/ 0 w 35"/>
                  <a:gd name="T1" fmla="*/ 0 h 38"/>
                  <a:gd name="T2" fmla="*/ 0 w 35"/>
                  <a:gd name="T3" fmla="*/ 0 h 38"/>
                  <a:gd name="T4" fmla="*/ 0 w 35"/>
                  <a:gd name="T5" fmla="*/ 0 h 38"/>
                  <a:gd name="T6" fmla="*/ 0 w 35"/>
                  <a:gd name="T7" fmla="*/ 0 h 38"/>
                  <a:gd name="T8" fmla="*/ 0 w 35"/>
                  <a:gd name="T9" fmla="*/ 0 h 38"/>
                  <a:gd name="T10" fmla="*/ 0 w 35"/>
                  <a:gd name="T11" fmla="*/ 0 h 38"/>
                  <a:gd name="T12" fmla="*/ 0 w 35"/>
                  <a:gd name="T13" fmla="*/ 0 h 38"/>
                  <a:gd name="T14" fmla="*/ 0 w 35"/>
                  <a:gd name="T15" fmla="*/ 0 h 38"/>
                  <a:gd name="T16" fmla="*/ 0 w 35"/>
                  <a:gd name="T17" fmla="*/ 0 h 38"/>
                  <a:gd name="T18" fmla="*/ 0 w 35"/>
                  <a:gd name="T19" fmla="*/ 0 h 38"/>
                  <a:gd name="T20" fmla="*/ 0 w 35"/>
                  <a:gd name="T21" fmla="*/ 0 h 38"/>
                  <a:gd name="T22" fmla="*/ 0 w 35"/>
                  <a:gd name="T23" fmla="*/ 0 h 38"/>
                  <a:gd name="T24" fmla="*/ 0 w 35"/>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38"/>
                  <a:gd name="T41" fmla="*/ 35 w 35"/>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38">
                    <a:moveTo>
                      <a:pt x="35" y="35"/>
                    </a:moveTo>
                    <a:lnTo>
                      <a:pt x="35" y="38"/>
                    </a:lnTo>
                    <a:lnTo>
                      <a:pt x="33" y="25"/>
                    </a:lnTo>
                    <a:lnTo>
                      <a:pt x="28" y="16"/>
                    </a:lnTo>
                    <a:lnTo>
                      <a:pt x="24" y="7"/>
                    </a:lnTo>
                    <a:lnTo>
                      <a:pt x="19" y="0"/>
                    </a:lnTo>
                    <a:lnTo>
                      <a:pt x="0" y="13"/>
                    </a:lnTo>
                    <a:lnTo>
                      <a:pt x="5" y="19"/>
                    </a:lnTo>
                    <a:lnTo>
                      <a:pt x="10" y="25"/>
                    </a:lnTo>
                    <a:lnTo>
                      <a:pt x="11" y="32"/>
                    </a:lnTo>
                    <a:lnTo>
                      <a:pt x="13" y="32"/>
                    </a:lnTo>
                    <a:lnTo>
                      <a:pt x="13" y="35"/>
                    </a:lnTo>
                    <a:lnTo>
                      <a:pt x="35" y="35"/>
                    </a:lnTo>
                    <a:close/>
                  </a:path>
                </a:pathLst>
              </a:custGeom>
              <a:solidFill>
                <a:srgbClr val="000000"/>
              </a:solidFill>
              <a:ln w="9525">
                <a:noFill/>
                <a:round/>
                <a:headEnd/>
                <a:tailEnd/>
              </a:ln>
            </p:spPr>
            <p:txBody>
              <a:bodyPr/>
              <a:lstStyle/>
              <a:p>
                <a:endParaRPr lang="en-US"/>
              </a:p>
            </p:txBody>
          </p:sp>
          <p:sp>
            <p:nvSpPr>
              <p:cNvPr id="25840" name="Freeform 203"/>
              <p:cNvSpPr>
                <a:spLocks/>
              </p:cNvSpPr>
              <p:nvPr/>
            </p:nvSpPr>
            <p:spPr bwMode="auto">
              <a:xfrm>
                <a:off x="2158" y="3467"/>
                <a:ext cx="11" cy="15"/>
              </a:xfrm>
              <a:custGeom>
                <a:avLst/>
                <a:gdLst>
                  <a:gd name="T0" fmla="*/ 1 w 22"/>
                  <a:gd name="T1" fmla="*/ 1 h 30"/>
                  <a:gd name="T2" fmla="*/ 1 w 22"/>
                  <a:gd name="T3" fmla="*/ 1 h 30"/>
                  <a:gd name="T4" fmla="*/ 1 w 22"/>
                  <a:gd name="T5" fmla="*/ 1 h 30"/>
                  <a:gd name="T6" fmla="*/ 1 w 22"/>
                  <a:gd name="T7" fmla="*/ 1 h 30"/>
                  <a:gd name="T8" fmla="*/ 1 w 22"/>
                  <a:gd name="T9" fmla="*/ 1 h 30"/>
                  <a:gd name="T10" fmla="*/ 1 w 22"/>
                  <a:gd name="T11" fmla="*/ 0 h 30"/>
                  <a:gd name="T12" fmla="*/ 0 w 22"/>
                  <a:gd name="T13" fmla="*/ 0 h 30"/>
                  <a:gd name="T14" fmla="*/ 0 w 22"/>
                  <a:gd name="T15" fmla="*/ 1 h 30"/>
                  <a:gd name="T16" fmla="*/ 0 w 22"/>
                  <a:gd name="T17" fmla="*/ 1 h 30"/>
                  <a:gd name="T18" fmla="*/ 0 w 22"/>
                  <a:gd name="T19" fmla="*/ 1 h 30"/>
                  <a:gd name="T20" fmla="*/ 0 w 22"/>
                  <a:gd name="T21" fmla="*/ 1 h 30"/>
                  <a:gd name="T22" fmla="*/ 1 w 22"/>
                  <a:gd name="T23" fmla="*/ 1 h 30"/>
                  <a:gd name="T24" fmla="*/ 0 w 22"/>
                  <a:gd name="T25" fmla="*/ 1 h 30"/>
                  <a:gd name="T26" fmla="*/ 1 w 22"/>
                  <a:gd name="T27" fmla="*/ 1 h 30"/>
                  <a:gd name="T28" fmla="*/ 1 w 22"/>
                  <a:gd name="T29" fmla="*/ 1 h 30"/>
                  <a:gd name="T30" fmla="*/ 1 w 22"/>
                  <a:gd name="T31" fmla="*/ 1 h 30"/>
                  <a:gd name="T32" fmla="*/ 1 w 22"/>
                  <a:gd name="T33" fmla="*/ 1 h 30"/>
                  <a:gd name="T34" fmla="*/ 1 w 22"/>
                  <a:gd name="T35" fmla="*/ 1 h 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
                  <a:gd name="T55" fmla="*/ 0 h 30"/>
                  <a:gd name="T56" fmla="*/ 22 w 22"/>
                  <a:gd name="T57" fmla="*/ 30 h 3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 h="30">
                    <a:moveTo>
                      <a:pt x="12" y="8"/>
                    </a:moveTo>
                    <a:lnTo>
                      <a:pt x="22" y="19"/>
                    </a:lnTo>
                    <a:lnTo>
                      <a:pt x="22" y="17"/>
                    </a:lnTo>
                    <a:lnTo>
                      <a:pt x="22" y="11"/>
                    </a:lnTo>
                    <a:lnTo>
                      <a:pt x="22" y="4"/>
                    </a:lnTo>
                    <a:lnTo>
                      <a:pt x="22" y="0"/>
                    </a:lnTo>
                    <a:lnTo>
                      <a:pt x="0" y="0"/>
                    </a:lnTo>
                    <a:lnTo>
                      <a:pt x="0" y="4"/>
                    </a:lnTo>
                    <a:lnTo>
                      <a:pt x="0" y="11"/>
                    </a:lnTo>
                    <a:lnTo>
                      <a:pt x="0" y="17"/>
                    </a:lnTo>
                    <a:lnTo>
                      <a:pt x="0" y="19"/>
                    </a:lnTo>
                    <a:lnTo>
                      <a:pt x="9" y="30"/>
                    </a:lnTo>
                    <a:lnTo>
                      <a:pt x="0" y="19"/>
                    </a:lnTo>
                    <a:lnTo>
                      <a:pt x="3" y="26"/>
                    </a:lnTo>
                    <a:lnTo>
                      <a:pt x="11" y="30"/>
                    </a:lnTo>
                    <a:lnTo>
                      <a:pt x="19" y="26"/>
                    </a:lnTo>
                    <a:lnTo>
                      <a:pt x="22" y="19"/>
                    </a:lnTo>
                    <a:lnTo>
                      <a:pt x="12" y="8"/>
                    </a:lnTo>
                    <a:close/>
                  </a:path>
                </a:pathLst>
              </a:custGeom>
              <a:solidFill>
                <a:srgbClr val="000000"/>
              </a:solidFill>
              <a:ln w="9525">
                <a:noFill/>
                <a:round/>
                <a:headEnd/>
                <a:tailEnd/>
              </a:ln>
            </p:spPr>
            <p:txBody>
              <a:bodyPr/>
              <a:lstStyle/>
              <a:p>
                <a:endParaRPr lang="en-US"/>
              </a:p>
            </p:txBody>
          </p:sp>
          <p:sp>
            <p:nvSpPr>
              <p:cNvPr id="25841" name="Freeform 204"/>
              <p:cNvSpPr>
                <a:spLocks/>
              </p:cNvSpPr>
              <p:nvPr/>
            </p:nvSpPr>
            <p:spPr bwMode="auto">
              <a:xfrm>
                <a:off x="2163" y="3471"/>
                <a:ext cx="12" cy="12"/>
              </a:xfrm>
              <a:custGeom>
                <a:avLst/>
                <a:gdLst>
                  <a:gd name="T0" fmla="*/ 1 w 24"/>
                  <a:gd name="T1" fmla="*/ 0 h 25"/>
                  <a:gd name="T2" fmla="*/ 1 w 24"/>
                  <a:gd name="T3" fmla="*/ 0 h 25"/>
                  <a:gd name="T4" fmla="*/ 1 w 24"/>
                  <a:gd name="T5" fmla="*/ 0 h 25"/>
                  <a:gd name="T6" fmla="*/ 1 w 24"/>
                  <a:gd name="T7" fmla="*/ 0 h 25"/>
                  <a:gd name="T8" fmla="*/ 1 w 24"/>
                  <a:gd name="T9" fmla="*/ 0 h 25"/>
                  <a:gd name="T10" fmla="*/ 1 w 24"/>
                  <a:gd name="T11" fmla="*/ 0 h 25"/>
                  <a:gd name="T12" fmla="*/ 0 w 24"/>
                  <a:gd name="T13" fmla="*/ 0 h 25"/>
                  <a:gd name="T14" fmla="*/ 0 w 24"/>
                  <a:gd name="T15" fmla="*/ 0 h 25"/>
                  <a:gd name="T16" fmla="*/ 1 w 24"/>
                  <a:gd name="T17" fmla="*/ 0 h 25"/>
                  <a:gd name="T18" fmla="*/ 1 w 24"/>
                  <a:gd name="T19" fmla="*/ 0 h 25"/>
                  <a:gd name="T20" fmla="*/ 1 w 24"/>
                  <a:gd name="T21" fmla="*/ 0 h 25"/>
                  <a:gd name="T22" fmla="*/ 1 w 24"/>
                  <a:gd name="T23" fmla="*/ 0 h 25"/>
                  <a:gd name="T24" fmla="*/ 1 w 24"/>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5"/>
                  <a:gd name="T41" fmla="*/ 24 w 24"/>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5">
                    <a:moveTo>
                      <a:pt x="24" y="4"/>
                    </a:moveTo>
                    <a:lnTo>
                      <a:pt x="21" y="3"/>
                    </a:lnTo>
                    <a:lnTo>
                      <a:pt x="14" y="1"/>
                    </a:lnTo>
                    <a:lnTo>
                      <a:pt x="10" y="1"/>
                    </a:lnTo>
                    <a:lnTo>
                      <a:pt x="6" y="0"/>
                    </a:lnTo>
                    <a:lnTo>
                      <a:pt x="3" y="0"/>
                    </a:lnTo>
                    <a:lnTo>
                      <a:pt x="0" y="22"/>
                    </a:lnTo>
                    <a:lnTo>
                      <a:pt x="6" y="23"/>
                    </a:lnTo>
                    <a:lnTo>
                      <a:pt x="11" y="23"/>
                    </a:lnTo>
                    <a:lnTo>
                      <a:pt x="17" y="25"/>
                    </a:lnTo>
                    <a:lnTo>
                      <a:pt x="14" y="23"/>
                    </a:lnTo>
                    <a:lnTo>
                      <a:pt x="24" y="4"/>
                    </a:lnTo>
                    <a:close/>
                  </a:path>
                </a:pathLst>
              </a:custGeom>
              <a:solidFill>
                <a:srgbClr val="000000"/>
              </a:solidFill>
              <a:ln w="9525">
                <a:noFill/>
                <a:round/>
                <a:headEnd/>
                <a:tailEnd/>
              </a:ln>
            </p:spPr>
            <p:txBody>
              <a:bodyPr/>
              <a:lstStyle/>
              <a:p>
                <a:endParaRPr lang="en-US"/>
              </a:p>
            </p:txBody>
          </p:sp>
          <p:sp>
            <p:nvSpPr>
              <p:cNvPr id="25842" name="Freeform 205"/>
              <p:cNvSpPr>
                <a:spLocks/>
              </p:cNvSpPr>
              <p:nvPr/>
            </p:nvSpPr>
            <p:spPr bwMode="auto">
              <a:xfrm>
                <a:off x="2170" y="3473"/>
                <a:ext cx="16" cy="20"/>
              </a:xfrm>
              <a:custGeom>
                <a:avLst/>
                <a:gdLst>
                  <a:gd name="T0" fmla="*/ 1 w 32"/>
                  <a:gd name="T1" fmla="*/ 0 h 41"/>
                  <a:gd name="T2" fmla="*/ 1 w 32"/>
                  <a:gd name="T3" fmla="*/ 0 h 41"/>
                  <a:gd name="T4" fmla="*/ 1 w 32"/>
                  <a:gd name="T5" fmla="*/ 0 h 41"/>
                  <a:gd name="T6" fmla="*/ 1 w 32"/>
                  <a:gd name="T7" fmla="*/ 0 h 41"/>
                  <a:gd name="T8" fmla="*/ 1 w 32"/>
                  <a:gd name="T9" fmla="*/ 0 h 41"/>
                  <a:gd name="T10" fmla="*/ 1 w 32"/>
                  <a:gd name="T11" fmla="*/ 0 h 41"/>
                  <a:gd name="T12" fmla="*/ 0 w 32"/>
                  <a:gd name="T13" fmla="*/ 0 h 41"/>
                  <a:gd name="T14" fmla="*/ 1 w 32"/>
                  <a:gd name="T15" fmla="*/ 0 h 41"/>
                  <a:gd name="T16" fmla="*/ 1 w 32"/>
                  <a:gd name="T17" fmla="*/ 0 h 41"/>
                  <a:gd name="T18" fmla="*/ 1 w 32"/>
                  <a:gd name="T19" fmla="*/ 0 h 41"/>
                  <a:gd name="T20" fmla="*/ 1 w 32"/>
                  <a:gd name="T21" fmla="*/ 0 h 41"/>
                  <a:gd name="T22" fmla="*/ 1 w 32"/>
                  <a:gd name="T23" fmla="*/ 0 h 41"/>
                  <a:gd name="T24" fmla="*/ 1 w 32"/>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
                  <a:gd name="T40" fmla="*/ 0 h 41"/>
                  <a:gd name="T41" fmla="*/ 32 w 32"/>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 h="41">
                    <a:moveTo>
                      <a:pt x="32" y="35"/>
                    </a:moveTo>
                    <a:lnTo>
                      <a:pt x="32" y="35"/>
                    </a:lnTo>
                    <a:lnTo>
                      <a:pt x="27" y="24"/>
                    </a:lnTo>
                    <a:lnTo>
                      <a:pt x="22" y="14"/>
                    </a:lnTo>
                    <a:lnTo>
                      <a:pt x="17" y="7"/>
                    </a:lnTo>
                    <a:lnTo>
                      <a:pt x="10" y="0"/>
                    </a:lnTo>
                    <a:lnTo>
                      <a:pt x="0" y="19"/>
                    </a:lnTo>
                    <a:lnTo>
                      <a:pt x="2" y="19"/>
                    </a:lnTo>
                    <a:lnTo>
                      <a:pt x="3" y="24"/>
                    </a:lnTo>
                    <a:lnTo>
                      <a:pt x="8" y="33"/>
                    </a:lnTo>
                    <a:lnTo>
                      <a:pt x="10" y="41"/>
                    </a:lnTo>
                    <a:lnTo>
                      <a:pt x="32" y="35"/>
                    </a:lnTo>
                    <a:close/>
                  </a:path>
                </a:pathLst>
              </a:custGeom>
              <a:solidFill>
                <a:srgbClr val="000000"/>
              </a:solidFill>
              <a:ln w="9525">
                <a:noFill/>
                <a:round/>
                <a:headEnd/>
                <a:tailEnd/>
              </a:ln>
            </p:spPr>
            <p:txBody>
              <a:bodyPr/>
              <a:lstStyle/>
              <a:p>
                <a:endParaRPr lang="en-US"/>
              </a:p>
            </p:txBody>
          </p:sp>
          <p:sp>
            <p:nvSpPr>
              <p:cNvPr id="25843" name="Freeform 206"/>
              <p:cNvSpPr>
                <a:spLocks/>
              </p:cNvSpPr>
              <p:nvPr/>
            </p:nvSpPr>
            <p:spPr bwMode="auto">
              <a:xfrm>
                <a:off x="2175" y="3490"/>
                <a:ext cx="19" cy="21"/>
              </a:xfrm>
              <a:custGeom>
                <a:avLst/>
                <a:gdLst>
                  <a:gd name="T0" fmla="*/ 1 w 37"/>
                  <a:gd name="T1" fmla="*/ 1 h 42"/>
                  <a:gd name="T2" fmla="*/ 1 w 37"/>
                  <a:gd name="T3" fmla="*/ 1 h 42"/>
                  <a:gd name="T4" fmla="*/ 1 w 37"/>
                  <a:gd name="T5" fmla="*/ 1 h 42"/>
                  <a:gd name="T6" fmla="*/ 1 w 37"/>
                  <a:gd name="T7" fmla="*/ 1 h 42"/>
                  <a:gd name="T8" fmla="*/ 1 w 37"/>
                  <a:gd name="T9" fmla="*/ 1 h 42"/>
                  <a:gd name="T10" fmla="*/ 1 w 37"/>
                  <a:gd name="T11" fmla="*/ 0 h 42"/>
                  <a:gd name="T12" fmla="*/ 0 w 37"/>
                  <a:gd name="T13" fmla="*/ 1 h 42"/>
                  <a:gd name="T14" fmla="*/ 1 w 37"/>
                  <a:gd name="T15" fmla="*/ 1 h 42"/>
                  <a:gd name="T16" fmla="*/ 1 w 37"/>
                  <a:gd name="T17" fmla="*/ 1 h 42"/>
                  <a:gd name="T18" fmla="*/ 1 w 37"/>
                  <a:gd name="T19" fmla="*/ 1 h 42"/>
                  <a:gd name="T20" fmla="*/ 1 w 37"/>
                  <a:gd name="T21" fmla="*/ 1 h 42"/>
                  <a:gd name="T22" fmla="*/ 1 w 37"/>
                  <a:gd name="T23" fmla="*/ 1 h 42"/>
                  <a:gd name="T24" fmla="*/ 1 w 37"/>
                  <a:gd name="T25" fmla="*/ 1 h 42"/>
                  <a:gd name="T26" fmla="*/ 1 w 37"/>
                  <a:gd name="T27" fmla="*/ 1 h 42"/>
                  <a:gd name="T28" fmla="*/ 1 w 37"/>
                  <a:gd name="T29" fmla="*/ 1 h 42"/>
                  <a:gd name="T30" fmla="*/ 1 w 37"/>
                  <a:gd name="T31" fmla="*/ 1 h 42"/>
                  <a:gd name="T32" fmla="*/ 1 w 37"/>
                  <a:gd name="T33" fmla="*/ 1 h 42"/>
                  <a:gd name="T34" fmla="*/ 1 w 37"/>
                  <a:gd name="T35" fmla="*/ 1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
                  <a:gd name="T55" fmla="*/ 0 h 42"/>
                  <a:gd name="T56" fmla="*/ 37 w 37"/>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 h="42">
                    <a:moveTo>
                      <a:pt x="26" y="20"/>
                    </a:moveTo>
                    <a:lnTo>
                      <a:pt x="36" y="25"/>
                    </a:lnTo>
                    <a:lnTo>
                      <a:pt x="34" y="22"/>
                    </a:lnTo>
                    <a:lnTo>
                      <a:pt x="29" y="15"/>
                    </a:lnTo>
                    <a:lnTo>
                      <a:pt x="25" y="9"/>
                    </a:lnTo>
                    <a:lnTo>
                      <a:pt x="22" y="0"/>
                    </a:lnTo>
                    <a:lnTo>
                      <a:pt x="0" y="6"/>
                    </a:lnTo>
                    <a:lnTo>
                      <a:pt x="6" y="18"/>
                    </a:lnTo>
                    <a:lnTo>
                      <a:pt x="11" y="28"/>
                    </a:lnTo>
                    <a:lnTo>
                      <a:pt x="15" y="34"/>
                    </a:lnTo>
                    <a:lnTo>
                      <a:pt x="17" y="37"/>
                    </a:lnTo>
                    <a:lnTo>
                      <a:pt x="26" y="42"/>
                    </a:lnTo>
                    <a:lnTo>
                      <a:pt x="17" y="37"/>
                    </a:lnTo>
                    <a:lnTo>
                      <a:pt x="25" y="42"/>
                    </a:lnTo>
                    <a:lnTo>
                      <a:pt x="33" y="40"/>
                    </a:lnTo>
                    <a:lnTo>
                      <a:pt x="37" y="34"/>
                    </a:lnTo>
                    <a:lnTo>
                      <a:pt x="36" y="25"/>
                    </a:lnTo>
                    <a:lnTo>
                      <a:pt x="26" y="20"/>
                    </a:lnTo>
                    <a:close/>
                  </a:path>
                </a:pathLst>
              </a:custGeom>
              <a:solidFill>
                <a:srgbClr val="000000"/>
              </a:solidFill>
              <a:ln w="9525">
                <a:noFill/>
                <a:round/>
                <a:headEnd/>
                <a:tailEnd/>
              </a:ln>
            </p:spPr>
            <p:txBody>
              <a:bodyPr/>
              <a:lstStyle/>
              <a:p>
                <a:endParaRPr lang="en-US"/>
              </a:p>
            </p:txBody>
          </p:sp>
        </p:grpSp>
        <p:sp>
          <p:nvSpPr>
            <p:cNvPr id="25612" name="Freeform 207"/>
            <p:cNvSpPr>
              <a:spLocks/>
            </p:cNvSpPr>
            <p:nvPr/>
          </p:nvSpPr>
          <p:spPr bwMode="auto">
            <a:xfrm>
              <a:off x="1851" y="3424"/>
              <a:ext cx="43" cy="139"/>
            </a:xfrm>
            <a:custGeom>
              <a:avLst/>
              <a:gdLst>
                <a:gd name="T0" fmla="*/ 0 w 85"/>
                <a:gd name="T1" fmla="*/ 0 h 278"/>
                <a:gd name="T2" fmla="*/ 0 w 85"/>
                <a:gd name="T3" fmla="*/ 1 h 278"/>
                <a:gd name="T4" fmla="*/ 1 w 85"/>
                <a:gd name="T5" fmla="*/ 1 h 278"/>
                <a:gd name="T6" fmla="*/ 1 w 85"/>
                <a:gd name="T7" fmla="*/ 1 h 278"/>
                <a:gd name="T8" fmla="*/ 0 w 85"/>
                <a:gd name="T9" fmla="*/ 0 h 278"/>
                <a:gd name="T10" fmla="*/ 0 60000 65536"/>
                <a:gd name="T11" fmla="*/ 0 60000 65536"/>
                <a:gd name="T12" fmla="*/ 0 60000 65536"/>
                <a:gd name="T13" fmla="*/ 0 60000 65536"/>
                <a:gd name="T14" fmla="*/ 0 60000 65536"/>
                <a:gd name="T15" fmla="*/ 0 w 85"/>
                <a:gd name="T16" fmla="*/ 0 h 278"/>
                <a:gd name="T17" fmla="*/ 85 w 85"/>
                <a:gd name="T18" fmla="*/ 278 h 278"/>
              </a:gdLst>
              <a:ahLst/>
              <a:cxnLst>
                <a:cxn ang="T10">
                  <a:pos x="T0" y="T1"/>
                </a:cxn>
                <a:cxn ang="T11">
                  <a:pos x="T2" y="T3"/>
                </a:cxn>
                <a:cxn ang="T12">
                  <a:pos x="T4" y="T5"/>
                </a:cxn>
                <a:cxn ang="T13">
                  <a:pos x="T6" y="T7"/>
                </a:cxn>
                <a:cxn ang="T14">
                  <a:pos x="T8" y="T9"/>
                </a:cxn>
              </a:cxnLst>
              <a:rect l="T15" t="T16" r="T17" b="T18"/>
              <a:pathLst>
                <a:path w="85" h="278">
                  <a:moveTo>
                    <a:pt x="0" y="0"/>
                  </a:moveTo>
                  <a:lnTo>
                    <a:pt x="0" y="234"/>
                  </a:lnTo>
                  <a:lnTo>
                    <a:pt x="85" y="278"/>
                  </a:lnTo>
                  <a:lnTo>
                    <a:pt x="85" y="40"/>
                  </a:lnTo>
                  <a:lnTo>
                    <a:pt x="0" y="0"/>
                  </a:lnTo>
                  <a:close/>
                </a:path>
              </a:pathLst>
            </a:custGeom>
            <a:solidFill>
              <a:srgbClr val="4CB2FF"/>
            </a:solidFill>
            <a:ln w="9525">
              <a:noFill/>
              <a:round/>
              <a:headEnd/>
              <a:tailEnd/>
            </a:ln>
          </p:spPr>
          <p:txBody>
            <a:bodyPr/>
            <a:lstStyle/>
            <a:p>
              <a:endParaRPr lang="en-US"/>
            </a:p>
          </p:txBody>
        </p:sp>
        <p:sp>
          <p:nvSpPr>
            <p:cNvPr id="25613" name="Freeform 208"/>
            <p:cNvSpPr>
              <a:spLocks/>
            </p:cNvSpPr>
            <p:nvPr/>
          </p:nvSpPr>
          <p:spPr bwMode="auto">
            <a:xfrm>
              <a:off x="1846" y="3424"/>
              <a:ext cx="11" cy="123"/>
            </a:xfrm>
            <a:custGeom>
              <a:avLst/>
              <a:gdLst>
                <a:gd name="T0" fmla="*/ 1 w 22"/>
                <a:gd name="T1" fmla="*/ 1 h 245"/>
                <a:gd name="T2" fmla="*/ 1 w 22"/>
                <a:gd name="T3" fmla="*/ 1 h 245"/>
                <a:gd name="T4" fmla="*/ 1 w 22"/>
                <a:gd name="T5" fmla="*/ 0 h 245"/>
                <a:gd name="T6" fmla="*/ 0 w 22"/>
                <a:gd name="T7" fmla="*/ 0 h 245"/>
                <a:gd name="T8" fmla="*/ 0 w 22"/>
                <a:gd name="T9" fmla="*/ 1 h 245"/>
                <a:gd name="T10" fmla="*/ 1 w 22"/>
                <a:gd name="T11" fmla="*/ 1 h 245"/>
                <a:gd name="T12" fmla="*/ 0 w 22"/>
                <a:gd name="T13" fmla="*/ 1 h 245"/>
                <a:gd name="T14" fmla="*/ 1 w 22"/>
                <a:gd name="T15" fmla="*/ 1 h 245"/>
                <a:gd name="T16" fmla="*/ 1 w 22"/>
                <a:gd name="T17" fmla="*/ 1 h 245"/>
                <a:gd name="T18" fmla="*/ 1 w 22"/>
                <a:gd name="T19" fmla="*/ 1 h 245"/>
                <a:gd name="T20" fmla="*/ 1 w 22"/>
                <a:gd name="T21" fmla="*/ 1 h 245"/>
                <a:gd name="T22" fmla="*/ 1 w 22"/>
                <a:gd name="T23" fmla="*/ 1 h 2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5"/>
                <a:gd name="T38" fmla="*/ 22 w 22"/>
                <a:gd name="T39" fmla="*/ 245 h 2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5">
                  <a:moveTo>
                    <a:pt x="16" y="225"/>
                  </a:moveTo>
                  <a:lnTo>
                    <a:pt x="22" y="234"/>
                  </a:lnTo>
                  <a:lnTo>
                    <a:pt x="22" y="0"/>
                  </a:lnTo>
                  <a:lnTo>
                    <a:pt x="0" y="0"/>
                  </a:lnTo>
                  <a:lnTo>
                    <a:pt x="0" y="234"/>
                  </a:lnTo>
                  <a:lnTo>
                    <a:pt x="6" y="244"/>
                  </a:lnTo>
                  <a:lnTo>
                    <a:pt x="0" y="234"/>
                  </a:lnTo>
                  <a:lnTo>
                    <a:pt x="3" y="242"/>
                  </a:lnTo>
                  <a:lnTo>
                    <a:pt x="11" y="245"/>
                  </a:lnTo>
                  <a:lnTo>
                    <a:pt x="19" y="242"/>
                  </a:lnTo>
                  <a:lnTo>
                    <a:pt x="22" y="234"/>
                  </a:lnTo>
                  <a:lnTo>
                    <a:pt x="16" y="225"/>
                  </a:lnTo>
                  <a:close/>
                </a:path>
              </a:pathLst>
            </a:custGeom>
            <a:solidFill>
              <a:srgbClr val="000000"/>
            </a:solidFill>
            <a:ln w="9525">
              <a:noFill/>
              <a:round/>
              <a:headEnd/>
              <a:tailEnd/>
            </a:ln>
          </p:spPr>
          <p:txBody>
            <a:bodyPr/>
            <a:lstStyle/>
            <a:p>
              <a:endParaRPr lang="en-US"/>
            </a:p>
          </p:txBody>
        </p:sp>
        <p:sp>
          <p:nvSpPr>
            <p:cNvPr id="25614" name="Freeform 209"/>
            <p:cNvSpPr>
              <a:spLocks/>
            </p:cNvSpPr>
            <p:nvPr/>
          </p:nvSpPr>
          <p:spPr bwMode="auto">
            <a:xfrm>
              <a:off x="1849" y="3537"/>
              <a:ext cx="50" cy="31"/>
            </a:xfrm>
            <a:custGeom>
              <a:avLst/>
              <a:gdLst>
                <a:gd name="T0" fmla="*/ 0 w 101"/>
                <a:gd name="T1" fmla="*/ 0 h 63"/>
                <a:gd name="T2" fmla="*/ 0 w 101"/>
                <a:gd name="T3" fmla="*/ 0 h 63"/>
                <a:gd name="T4" fmla="*/ 0 w 101"/>
                <a:gd name="T5" fmla="*/ 0 h 63"/>
                <a:gd name="T6" fmla="*/ 0 w 101"/>
                <a:gd name="T7" fmla="*/ 0 h 63"/>
                <a:gd name="T8" fmla="*/ 0 w 101"/>
                <a:gd name="T9" fmla="*/ 0 h 63"/>
                <a:gd name="T10" fmla="*/ 0 w 101"/>
                <a:gd name="T11" fmla="*/ 0 h 63"/>
                <a:gd name="T12" fmla="*/ 0 w 101"/>
                <a:gd name="T13" fmla="*/ 0 h 63"/>
                <a:gd name="T14" fmla="*/ 0 w 101"/>
                <a:gd name="T15" fmla="*/ 0 h 63"/>
                <a:gd name="T16" fmla="*/ 0 w 101"/>
                <a:gd name="T17" fmla="*/ 0 h 63"/>
                <a:gd name="T18" fmla="*/ 0 w 101"/>
                <a:gd name="T19" fmla="*/ 0 h 63"/>
                <a:gd name="T20" fmla="*/ 0 w 101"/>
                <a:gd name="T21" fmla="*/ 0 h 63"/>
                <a:gd name="T22" fmla="*/ 0 w 101"/>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3"/>
                <a:gd name="T38" fmla="*/ 101 w 101"/>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3">
                  <a:moveTo>
                    <a:pt x="79" y="53"/>
                  </a:moveTo>
                  <a:lnTo>
                    <a:pt x="94" y="44"/>
                  </a:lnTo>
                  <a:lnTo>
                    <a:pt x="10" y="0"/>
                  </a:lnTo>
                  <a:lnTo>
                    <a:pt x="0" y="19"/>
                  </a:lnTo>
                  <a:lnTo>
                    <a:pt x="85" y="63"/>
                  </a:lnTo>
                  <a:lnTo>
                    <a:pt x="101" y="53"/>
                  </a:lnTo>
                  <a:lnTo>
                    <a:pt x="85" y="63"/>
                  </a:lnTo>
                  <a:lnTo>
                    <a:pt x="93" y="63"/>
                  </a:lnTo>
                  <a:lnTo>
                    <a:pt x="99" y="58"/>
                  </a:lnTo>
                  <a:lnTo>
                    <a:pt x="101" y="50"/>
                  </a:lnTo>
                  <a:lnTo>
                    <a:pt x="94" y="44"/>
                  </a:lnTo>
                  <a:lnTo>
                    <a:pt x="79" y="53"/>
                  </a:lnTo>
                  <a:close/>
                </a:path>
              </a:pathLst>
            </a:custGeom>
            <a:solidFill>
              <a:srgbClr val="000000"/>
            </a:solidFill>
            <a:ln w="9525">
              <a:noFill/>
              <a:round/>
              <a:headEnd/>
              <a:tailEnd/>
            </a:ln>
          </p:spPr>
          <p:txBody>
            <a:bodyPr/>
            <a:lstStyle/>
            <a:p>
              <a:endParaRPr lang="en-US"/>
            </a:p>
          </p:txBody>
        </p:sp>
        <p:sp>
          <p:nvSpPr>
            <p:cNvPr id="25615" name="Freeform 210"/>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6" y="21"/>
                  </a:moveTo>
                  <a:lnTo>
                    <a:pt x="0" y="11"/>
                  </a:lnTo>
                  <a:lnTo>
                    <a:pt x="0" y="249"/>
                  </a:lnTo>
                  <a:lnTo>
                    <a:pt x="22" y="249"/>
                  </a:lnTo>
                  <a:lnTo>
                    <a:pt x="22" y="11"/>
                  </a:lnTo>
                  <a:lnTo>
                    <a:pt x="15" y="2"/>
                  </a:lnTo>
                  <a:lnTo>
                    <a:pt x="22" y="11"/>
                  </a:lnTo>
                  <a:lnTo>
                    <a:pt x="18" y="4"/>
                  </a:lnTo>
                  <a:lnTo>
                    <a:pt x="11" y="0"/>
                  </a:lnTo>
                  <a:lnTo>
                    <a:pt x="3" y="4"/>
                  </a:lnTo>
                  <a:lnTo>
                    <a:pt x="0" y="11"/>
                  </a:lnTo>
                  <a:lnTo>
                    <a:pt x="6" y="21"/>
                  </a:lnTo>
                  <a:close/>
                </a:path>
              </a:pathLst>
            </a:custGeom>
            <a:solidFill>
              <a:srgbClr val="000000"/>
            </a:solidFill>
            <a:ln w="9525">
              <a:noFill/>
              <a:round/>
              <a:headEnd/>
              <a:tailEnd/>
            </a:ln>
          </p:spPr>
          <p:txBody>
            <a:bodyPr/>
            <a:lstStyle/>
            <a:p>
              <a:endParaRPr lang="en-US"/>
            </a:p>
          </p:txBody>
        </p:sp>
        <p:sp>
          <p:nvSpPr>
            <p:cNvPr id="25616" name="Freeform 211"/>
            <p:cNvSpPr>
              <a:spLocks/>
            </p:cNvSpPr>
            <p:nvPr/>
          </p:nvSpPr>
          <p:spPr bwMode="auto">
            <a:xfrm>
              <a:off x="1846" y="3419"/>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0 w 100"/>
                <a:gd name="T11" fmla="*/ 1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22" y="10"/>
                  </a:moveTo>
                  <a:lnTo>
                    <a:pt x="6" y="19"/>
                  </a:lnTo>
                  <a:lnTo>
                    <a:pt x="91" y="60"/>
                  </a:lnTo>
                  <a:lnTo>
                    <a:pt x="100" y="41"/>
                  </a:lnTo>
                  <a:lnTo>
                    <a:pt x="16" y="0"/>
                  </a:lnTo>
                  <a:lnTo>
                    <a:pt x="0" y="10"/>
                  </a:lnTo>
                  <a:lnTo>
                    <a:pt x="16" y="0"/>
                  </a:lnTo>
                  <a:lnTo>
                    <a:pt x="8" y="0"/>
                  </a:lnTo>
                  <a:lnTo>
                    <a:pt x="2"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5617" name="Freeform 212"/>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close/>
                </a:path>
              </a:pathLst>
            </a:custGeom>
            <a:solidFill>
              <a:srgbClr val="B2B2B2"/>
            </a:solidFill>
            <a:ln w="9525">
              <a:noFill/>
              <a:round/>
              <a:headEnd/>
              <a:tailEnd/>
            </a:ln>
          </p:spPr>
          <p:txBody>
            <a:bodyPr/>
            <a:lstStyle/>
            <a:p>
              <a:endParaRPr lang="en-US"/>
            </a:p>
          </p:txBody>
        </p:sp>
        <p:sp>
          <p:nvSpPr>
            <p:cNvPr id="25618" name="Freeform 213"/>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path>
              </a:pathLst>
            </a:custGeom>
            <a:noFill/>
            <a:ln w="0">
              <a:solidFill>
                <a:srgbClr val="000000"/>
              </a:solidFill>
              <a:round/>
              <a:headEnd/>
              <a:tailEnd/>
            </a:ln>
          </p:spPr>
          <p:txBody>
            <a:bodyPr/>
            <a:lstStyle/>
            <a:p>
              <a:endParaRPr lang="en-US"/>
            </a:p>
          </p:txBody>
        </p:sp>
        <p:sp>
          <p:nvSpPr>
            <p:cNvPr id="25619" name="Freeform 214"/>
            <p:cNvSpPr>
              <a:spLocks/>
            </p:cNvSpPr>
            <p:nvPr/>
          </p:nvSpPr>
          <p:spPr bwMode="auto">
            <a:xfrm>
              <a:off x="1974" y="3604"/>
              <a:ext cx="142" cy="50"/>
            </a:xfrm>
            <a:custGeom>
              <a:avLst/>
              <a:gdLst>
                <a:gd name="T0" fmla="*/ 0 w 285"/>
                <a:gd name="T1" fmla="*/ 1 h 100"/>
                <a:gd name="T2" fmla="*/ 0 w 285"/>
                <a:gd name="T3" fmla="*/ 1 h 100"/>
                <a:gd name="T4" fmla="*/ 0 w 285"/>
                <a:gd name="T5" fmla="*/ 1 h 100"/>
                <a:gd name="T6" fmla="*/ 0 w 285"/>
                <a:gd name="T7" fmla="*/ 1 h 100"/>
                <a:gd name="T8" fmla="*/ 0 w 285"/>
                <a:gd name="T9" fmla="*/ 1 h 100"/>
                <a:gd name="T10" fmla="*/ 0 w 285"/>
                <a:gd name="T11" fmla="*/ 1 h 100"/>
                <a:gd name="T12" fmla="*/ 0 w 285"/>
                <a:gd name="T13" fmla="*/ 1 h 100"/>
                <a:gd name="T14" fmla="*/ 0 w 285"/>
                <a:gd name="T15" fmla="*/ 1 h 100"/>
                <a:gd name="T16" fmla="*/ 0 w 285"/>
                <a:gd name="T17" fmla="*/ 1 h 100"/>
                <a:gd name="T18" fmla="*/ 0 w 285"/>
                <a:gd name="T19" fmla="*/ 1 h 100"/>
                <a:gd name="T20" fmla="*/ 0 w 285"/>
                <a:gd name="T21" fmla="*/ 1 h 100"/>
                <a:gd name="T22" fmla="*/ 0 w 285"/>
                <a:gd name="T23" fmla="*/ 1 h 100"/>
                <a:gd name="T24" fmla="*/ 0 w 285"/>
                <a:gd name="T25" fmla="*/ 1 h 100"/>
                <a:gd name="T26" fmla="*/ 0 w 285"/>
                <a:gd name="T27" fmla="*/ 1 h 100"/>
                <a:gd name="T28" fmla="*/ 0 w 285"/>
                <a:gd name="T29" fmla="*/ 1 h 100"/>
                <a:gd name="T30" fmla="*/ 0 w 285"/>
                <a:gd name="T31" fmla="*/ 1 h 100"/>
                <a:gd name="T32" fmla="*/ 0 w 285"/>
                <a:gd name="T33" fmla="*/ 1 h 100"/>
                <a:gd name="T34" fmla="*/ 0 w 285"/>
                <a:gd name="T35" fmla="*/ 1 h 100"/>
                <a:gd name="T36" fmla="*/ 0 w 285"/>
                <a:gd name="T37" fmla="*/ 1 h 100"/>
                <a:gd name="T38" fmla="*/ 0 w 285"/>
                <a:gd name="T39" fmla="*/ 1 h 100"/>
                <a:gd name="T40" fmla="*/ 0 w 285"/>
                <a:gd name="T41" fmla="*/ 1 h 100"/>
                <a:gd name="T42" fmla="*/ 0 w 285"/>
                <a:gd name="T43" fmla="*/ 0 h 100"/>
                <a:gd name="T44" fmla="*/ 0 w 285"/>
                <a:gd name="T45" fmla="*/ 1 h 100"/>
                <a:gd name="T46" fmla="*/ 0 w 285"/>
                <a:gd name="T47" fmla="*/ 1 h 100"/>
                <a:gd name="T48" fmla="*/ 0 w 285"/>
                <a:gd name="T49" fmla="*/ 1 h 100"/>
                <a:gd name="T50" fmla="*/ 0 w 285"/>
                <a:gd name="T51" fmla="*/ 1 h 100"/>
                <a:gd name="T52" fmla="*/ 0 w 285"/>
                <a:gd name="T53" fmla="*/ 1 h 100"/>
                <a:gd name="T54" fmla="*/ 0 w 285"/>
                <a:gd name="T55" fmla="*/ 1 h 100"/>
                <a:gd name="T56" fmla="*/ 0 w 285"/>
                <a:gd name="T57" fmla="*/ 1 h 100"/>
                <a:gd name="T58" fmla="*/ 0 w 285"/>
                <a:gd name="T59" fmla="*/ 1 h 100"/>
                <a:gd name="T60" fmla="*/ 0 w 285"/>
                <a:gd name="T61" fmla="*/ 1 h 100"/>
                <a:gd name="T62" fmla="*/ 0 w 285"/>
                <a:gd name="T63" fmla="*/ 1 h 100"/>
                <a:gd name="T64" fmla="*/ 0 w 285"/>
                <a:gd name="T65" fmla="*/ 1 h 100"/>
                <a:gd name="T66" fmla="*/ 0 w 285"/>
                <a:gd name="T67" fmla="*/ 1 h 100"/>
                <a:gd name="T68" fmla="*/ 0 w 285"/>
                <a:gd name="T69" fmla="*/ 1 h 1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5"/>
                <a:gd name="T106" fmla="*/ 0 h 100"/>
                <a:gd name="T107" fmla="*/ 285 w 285"/>
                <a:gd name="T108" fmla="*/ 100 h 1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5" h="100">
                  <a:moveTo>
                    <a:pt x="284" y="65"/>
                  </a:moveTo>
                  <a:lnTo>
                    <a:pt x="224" y="98"/>
                  </a:lnTo>
                  <a:lnTo>
                    <a:pt x="215" y="100"/>
                  </a:lnTo>
                  <a:lnTo>
                    <a:pt x="208" y="98"/>
                  </a:lnTo>
                  <a:lnTo>
                    <a:pt x="191" y="95"/>
                  </a:lnTo>
                  <a:lnTo>
                    <a:pt x="168" y="90"/>
                  </a:lnTo>
                  <a:lnTo>
                    <a:pt x="140" y="84"/>
                  </a:lnTo>
                  <a:lnTo>
                    <a:pt x="110" y="78"/>
                  </a:lnTo>
                  <a:lnTo>
                    <a:pt x="83" y="72"/>
                  </a:lnTo>
                  <a:lnTo>
                    <a:pt x="61" y="65"/>
                  </a:lnTo>
                  <a:lnTo>
                    <a:pt x="47" y="62"/>
                  </a:lnTo>
                  <a:lnTo>
                    <a:pt x="22" y="57"/>
                  </a:lnTo>
                  <a:lnTo>
                    <a:pt x="19" y="57"/>
                  </a:lnTo>
                  <a:lnTo>
                    <a:pt x="21" y="64"/>
                  </a:lnTo>
                  <a:lnTo>
                    <a:pt x="16" y="65"/>
                  </a:lnTo>
                  <a:lnTo>
                    <a:pt x="14" y="65"/>
                  </a:lnTo>
                  <a:lnTo>
                    <a:pt x="10" y="62"/>
                  </a:lnTo>
                  <a:lnTo>
                    <a:pt x="7" y="59"/>
                  </a:lnTo>
                  <a:lnTo>
                    <a:pt x="3" y="54"/>
                  </a:lnTo>
                  <a:lnTo>
                    <a:pt x="2" y="50"/>
                  </a:lnTo>
                  <a:lnTo>
                    <a:pt x="0" y="47"/>
                  </a:lnTo>
                  <a:lnTo>
                    <a:pt x="0" y="45"/>
                  </a:lnTo>
                  <a:lnTo>
                    <a:pt x="2" y="43"/>
                  </a:lnTo>
                  <a:lnTo>
                    <a:pt x="5" y="42"/>
                  </a:lnTo>
                  <a:lnTo>
                    <a:pt x="5" y="37"/>
                  </a:lnTo>
                  <a:lnTo>
                    <a:pt x="7" y="34"/>
                  </a:lnTo>
                  <a:lnTo>
                    <a:pt x="8" y="32"/>
                  </a:lnTo>
                  <a:lnTo>
                    <a:pt x="11" y="29"/>
                  </a:lnTo>
                  <a:lnTo>
                    <a:pt x="14" y="26"/>
                  </a:lnTo>
                  <a:lnTo>
                    <a:pt x="19" y="23"/>
                  </a:lnTo>
                  <a:lnTo>
                    <a:pt x="22" y="20"/>
                  </a:lnTo>
                  <a:lnTo>
                    <a:pt x="25" y="18"/>
                  </a:lnTo>
                  <a:lnTo>
                    <a:pt x="28" y="14"/>
                  </a:lnTo>
                  <a:lnTo>
                    <a:pt x="30" y="11"/>
                  </a:lnTo>
                  <a:lnTo>
                    <a:pt x="33" y="7"/>
                  </a:lnTo>
                  <a:lnTo>
                    <a:pt x="39" y="9"/>
                  </a:lnTo>
                  <a:lnTo>
                    <a:pt x="50" y="14"/>
                  </a:lnTo>
                  <a:lnTo>
                    <a:pt x="58" y="18"/>
                  </a:lnTo>
                  <a:lnTo>
                    <a:pt x="63" y="20"/>
                  </a:lnTo>
                  <a:lnTo>
                    <a:pt x="60" y="17"/>
                  </a:lnTo>
                  <a:lnTo>
                    <a:pt x="61" y="6"/>
                  </a:lnTo>
                  <a:lnTo>
                    <a:pt x="61" y="4"/>
                  </a:lnTo>
                  <a:lnTo>
                    <a:pt x="63" y="3"/>
                  </a:lnTo>
                  <a:lnTo>
                    <a:pt x="66" y="0"/>
                  </a:lnTo>
                  <a:lnTo>
                    <a:pt x="68" y="0"/>
                  </a:lnTo>
                  <a:lnTo>
                    <a:pt x="69" y="1"/>
                  </a:lnTo>
                  <a:lnTo>
                    <a:pt x="71" y="4"/>
                  </a:lnTo>
                  <a:lnTo>
                    <a:pt x="71" y="6"/>
                  </a:lnTo>
                  <a:lnTo>
                    <a:pt x="69" y="9"/>
                  </a:lnTo>
                  <a:lnTo>
                    <a:pt x="71" y="14"/>
                  </a:lnTo>
                  <a:lnTo>
                    <a:pt x="74" y="20"/>
                  </a:lnTo>
                  <a:lnTo>
                    <a:pt x="77" y="26"/>
                  </a:lnTo>
                  <a:lnTo>
                    <a:pt x="82" y="29"/>
                  </a:lnTo>
                  <a:lnTo>
                    <a:pt x="90" y="31"/>
                  </a:lnTo>
                  <a:lnTo>
                    <a:pt x="104" y="32"/>
                  </a:lnTo>
                  <a:lnTo>
                    <a:pt x="124" y="34"/>
                  </a:lnTo>
                  <a:lnTo>
                    <a:pt x="147" y="37"/>
                  </a:lnTo>
                  <a:lnTo>
                    <a:pt x="169" y="39"/>
                  </a:lnTo>
                  <a:lnTo>
                    <a:pt x="190" y="40"/>
                  </a:lnTo>
                  <a:lnTo>
                    <a:pt x="204" y="42"/>
                  </a:lnTo>
                  <a:lnTo>
                    <a:pt x="208" y="42"/>
                  </a:lnTo>
                  <a:lnTo>
                    <a:pt x="212" y="39"/>
                  </a:lnTo>
                  <a:lnTo>
                    <a:pt x="221" y="32"/>
                  </a:lnTo>
                  <a:lnTo>
                    <a:pt x="230" y="25"/>
                  </a:lnTo>
                  <a:lnTo>
                    <a:pt x="241" y="20"/>
                  </a:lnTo>
                  <a:lnTo>
                    <a:pt x="249" y="15"/>
                  </a:lnTo>
                  <a:lnTo>
                    <a:pt x="254" y="9"/>
                  </a:lnTo>
                  <a:lnTo>
                    <a:pt x="255" y="6"/>
                  </a:lnTo>
                  <a:lnTo>
                    <a:pt x="257" y="4"/>
                  </a:lnTo>
                  <a:lnTo>
                    <a:pt x="285" y="61"/>
                  </a:lnTo>
                  <a:lnTo>
                    <a:pt x="284" y="65"/>
                  </a:lnTo>
                  <a:close/>
                </a:path>
              </a:pathLst>
            </a:custGeom>
            <a:solidFill>
              <a:srgbClr val="FFB27F"/>
            </a:solidFill>
            <a:ln w="9525">
              <a:noFill/>
              <a:round/>
              <a:headEnd/>
              <a:tailEnd/>
            </a:ln>
          </p:spPr>
          <p:txBody>
            <a:bodyPr/>
            <a:lstStyle/>
            <a:p>
              <a:endParaRPr lang="en-US"/>
            </a:p>
          </p:txBody>
        </p:sp>
        <p:sp>
          <p:nvSpPr>
            <p:cNvPr id="25620" name="Freeform 215"/>
            <p:cNvSpPr>
              <a:spLocks/>
            </p:cNvSpPr>
            <p:nvPr/>
          </p:nvSpPr>
          <p:spPr bwMode="auto">
            <a:xfrm>
              <a:off x="2080" y="3632"/>
              <a:ext cx="38" cy="27"/>
            </a:xfrm>
            <a:custGeom>
              <a:avLst/>
              <a:gdLst>
                <a:gd name="T0" fmla="*/ 1 w 75"/>
                <a:gd name="T1" fmla="*/ 1 h 53"/>
                <a:gd name="T2" fmla="*/ 1 w 75"/>
                <a:gd name="T3" fmla="*/ 1 h 53"/>
                <a:gd name="T4" fmla="*/ 1 w 75"/>
                <a:gd name="T5" fmla="*/ 1 h 53"/>
                <a:gd name="T6" fmla="*/ 1 w 75"/>
                <a:gd name="T7" fmla="*/ 0 h 53"/>
                <a:gd name="T8" fmla="*/ 1 w 75"/>
                <a:gd name="T9" fmla="*/ 1 h 53"/>
                <a:gd name="T10" fmla="*/ 1 w 75"/>
                <a:gd name="T11" fmla="*/ 1 h 53"/>
                <a:gd name="T12" fmla="*/ 1 w 75"/>
                <a:gd name="T13" fmla="*/ 1 h 53"/>
                <a:gd name="T14" fmla="*/ 0 w 75"/>
                <a:gd name="T15" fmla="*/ 1 h 53"/>
                <a:gd name="T16" fmla="*/ 1 w 75"/>
                <a:gd name="T17" fmla="*/ 1 h 53"/>
                <a:gd name="T18" fmla="*/ 1 w 75"/>
                <a:gd name="T19" fmla="*/ 1 h 53"/>
                <a:gd name="T20" fmla="*/ 1 w 75"/>
                <a:gd name="T21" fmla="*/ 1 h 53"/>
                <a:gd name="T22" fmla="*/ 1 w 75"/>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5"/>
                <a:gd name="T37" fmla="*/ 0 h 53"/>
                <a:gd name="T38" fmla="*/ 75 w 75"/>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5" h="53">
                  <a:moveTo>
                    <a:pt x="13" y="53"/>
                  </a:moveTo>
                  <a:lnTo>
                    <a:pt x="16" y="52"/>
                  </a:lnTo>
                  <a:lnTo>
                    <a:pt x="75" y="19"/>
                  </a:lnTo>
                  <a:lnTo>
                    <a:pt x="66" y="0"/>
                  </a:lnTo>
                  <a:lnTo>
                    <a:pt x="6" y="33"/>
                  </a:lnTo>
                  <a:lnTo>
                    <a:pt x="10" y="31"/>
                  </a:lnTo>
                  <a:lnTo>
                    <a:pt x="6" y="33"/>
                  </a:lnTo>
                  <a:lnTo>
                    <a:pt x="0" y="39"/>
                  </a:lnTo>
                  <a:lnTo>
                    <a:pt x="2" y="47"/>
                  </a:lnTo>
                  <a:lnTo>
                    <a:pt x="8" y="52"/>
                  </a:lnTo>
                  <a:lnTo>
                    <a:pt x="16" y="52"/>
                  </a:lnTo>
                  <a:lnTo>
                    <a:pt x="13" y="53"/>
                  </a:lnTo>
                  <a:close/>
                </a:path>
              </a:pathLst>
            </a:custGeom>
            <a:solidFill>
              <a:srgbClr val="000000"/>
            </a:solidFill>
            <a:ln w="9525">
              <a:noFill/>
              <a:round/>
              <a:headEnd/>
              <a:tailEnd/>
            </a:ln>
          </p:spPr>
          <p:txBody>
            <a:bodyPr/>
            <a:lstStyle/>
            <a:p>
              <a:endParaRPr lang="en-US"/>
            </a:p>
          </p:txBody>
        </p:sp>
        <p:sp>
          <p:nvSpPr>
            <p:cNvPr id="25621" name="Freeform 216"/>
            <p:cNvSpPr>
              <a:spLocks/>
            </p:cNvSpPr>
            <p:nvPr/>
          </p:nvSpPr>
          <p:spPr bwMode="auto">
            <a:xfrm>
              <a:off x="2075" y="3648"/>
              <a:ext cx="11" cy="11"/>
            </a:xfrm>
            <a:custGeom>
              <a:avLst/>
              <a:gdLst>
                <a:gd name="T0" fmla="*/ 1 w 22"/>
                <a:gd name="T1" fmla="*/ 0 h 24"/>
                <a:gd name="T2" fmla="*/ 1 w 22"/>
                <a:gd name="T3" fmla="*/ 0 h 24"/>
                <a:gd name="T4" fmla="*/ 1 w 22"/>
                <a:gd name="T5" fmla="*/ 0 h 24"/>
                <a:gd name="T6" fmla="*/ 1 w 22"/>
                <a:gd name="T7" fmla="*/ 0 h 24"/>
                <a:gd name="T8" fmla="*/ 1 w 22"/>
                <a:gd name="T9" fmla="*/ 0 h 24"/>
                <a:gd name="T10" fmla="*/ 1 w 22"/>
                <a:gd name="T11" fmla="*/ 0 h 24"/>
                <a:gd name="T12" fmla="*/ 1 w 22"/>
                <a:gd name="T13" fmla="*/ 0 h 24"/>
                <a:gd name="T14" fmla="*/ 1 w 22"/>
                <a:gd name="T15" fmla="*/ 0 h 24"/>
                <a:gd name="T16" fmla="*/ 0 w 22"/>
                <a:gd name="T17" fmla="*/ 0 h 24"/>
                <a:gd name="T18" fmla="*/ 1 w 22"/>
                <a:gd name="T19" fmla="*/ 0 h 24"/>
                <a:gd name="T20" fmla="*/ 1 w 22"/>
                <a:gd name="T21" fmla="*/ 0 h 24"/>
                <a:gd name="T22" fmla="*/ 1 w 22"/>
                <a:gd name="T23" fmla="*/ 0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
                <a:gd name="T38" fmla="*/ 22 w 22"/>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
                  <a:moveTo>
                    <a:pt x="9" y="24"/>
                  </a:moveTo>
                  <a:lnTo>
                    <a:pt x="12" y="24"/>
                  </a:lnTo>
                  <a:lnTo>
                    <a:pt x="22" y="22"/>
                  </a:lnTo>
                  <a:lnTo>
                    <a:pt x="19" y="0"/>
                  </a:lnTo>
                  <a:lnTo>
                    <a:pt x="9" y="2"/>
                  </a:lnTo>
                  <a:lnTo>
                    <a:pt x="12" y="2"/>
                  </a:lnTo>
                  <a:lnTo>
                    <a:pt x="9" y="2"/>
                  </a:lnTo>
                  <a:lnTo>
                    <a:pt x="1" y="6"/>
                  </a:lnTo>
                  <a:lnTo>
                    <a:pt x="0" y="14"/>
                  </a:lnTo>
                  <a:lnTo>
                    <a:pt x="4" y="21"/>
                  </a:lnTo>
                  <a:lnTo>
                    <a:pt x="12" y="24"/>
                  </a:lnTo>
                  <a:lnTo>
                    <a:pt x="9" y="24"/>
                  </a:lnTo>
                  <a:close/>
                </a:path>
              </a:pathLst>
            </a:custGeom>
            <a:solidFill>
              <a:srgbClr val="000000"/>
            </a:solidFill>
            <a:ln w="9525">
              <a:noFill/>
              <a:round/>
              <a:headEnd/>
              <a:tailEnd/>
            </a:ln>
          </p:spPr>
          <p:txBody>
            <a:bodyPr/>
            <a:lstStyle/>
            <a:p>
              <a:endParaRPr lang="en-US"/>
            </a:p>
          </p:txBody>
        </p:sp>
        <p:sp>
          <p:nvSpPr>
            <p:cNvPr id="25622" name="Freeform 217"/>
            <p:cNvSpPr>
              <a:spLocks/>
            </p:cNvSpPr>
            <p:nvPr/>
          </p:nvSpPr>
          <p:spPr bwMode="auto">
            <a:xfrm>
              <a:off x="1996" y="3630"/>
              <a:ext cx="86" cy="29"/>
            </a:xfrm>
            <a:custGeom>
              <a:avLst/>
              <a:gdLst>
                <a:gd name="T0" fmla="*/ 1 w 172"/>
                <a:gd name="T1" fmla="*/ 0 h 60"/>
                <a:gd name="T2" fmla="*/ 0 w 172"/>
                <a:gd name="T3" fmla="*/ 0 h 60"/>
                <a:gd name="T4" fmla="*/ 1 w 172"/>
                <a:gd name="T5" fmla="*/ 0 h 60"/>
                <a:gd name="T6" fmla="*/ 1 w 172"/>
                <a:gd name="T7" fmla="*/ 0 h 60"/>
                <a:gd name="T8" fmla="*/ 1 w 172"/>
                <a:gd name="T9" fmla="*/ 0 h 60"/>
                <a:gd name="T10" fmla="*/ 1 w 172"/>
                <a:gd name="T11" fmla="*/ 0 h 60"/>
                <a:gd name="T12" fmla="*/ 1 w 172"/>
                <a:gd name="T13" fmla="*/ 0 h 60"/>
                <a:gd name="T14" fmla="*/ 1 w 172"/>
                <a:gd name="T15" fmla="*/ 0 h 60"/>
                <a:gd name="T16" fmla="*/ 1 w 172"/>
                <a:gd name="T17" fmla="*/ 0 h 60"/>
                <a:gd name="T18" fmla="*/ 1 w 172"/>
                <a:gd name="T19" fmla="*/ 0 h 60"/>
                <a:gd name="T20" fmla="*/ 1 w 172"/>
                <a:gd name="T21" fmla="*/ 0 h 60"/>
                <a:gd name="T22" fmla="*/ 1 w 172"/>
                <a:gd name="T23" fmla="*/ 0 h 60"/>
                <a:gd name="T24" fmla="*/ 1 w 172"/>
                <a:gd name="T25" fmla="*/ 0 h 60"/>
                <a:gd name="T26" fmla="*/ 1 w 172"/>
                <a:gd name="T27" fmla="*/ 0 h 60"/>
                <a:gd name="T28" fmla="*/ 1 w 172"/>
                <a:gd name="T29" fmla="*/ 0 h 60"/>
                <a:gd name="T30" fmla="*/ 1 w 172"/>
                <a:gd name="T31" fmla="*/ 0 h 60"/>
                <a:gd name="T32" fmla="*/ 1 w 172"/>
                <a:gd name="T33" fmla="*/ 0 h 60"/>
                <a:gd name="T34" fmla="*/ 1 w 172"/>
                <a:gd name="T35" fmla="*/ 0 h 60"/>
                <a:gd name="T36" fmla="*/ 1 w 172"/>
                <a:gd name="T37" fmla="*/ 0 h 60"/>
                <a:gd name="T38" fmla="*/ 1 w 172"/>
                <a:gd name="T39" fmla="*/ 0 h 60"/>
                <a:gd name="T40" fmla="*/ 1 w 172"/>
                <a:gd name="T41" fmla="*/ 0 h 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2"/>
                <a:gd name="T64" fmla="*/ 0 h 60"/>
                <a:gd name="T65" fmla="*/ 172 w 172"/>
                <a:gd name="T66" fmla="*/ 60 h 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2" h="60">
                  <a:moveTo>
                    <a:pt x="2" y="22"/>
                  </a:moveTo>
                  <a:lnTo>
                    <a:pt x="0" y="22"/>
                  </a:lnTo>
                  <a:lnTo>
                    <a:pt x="14" y="25"/>
                  </a:lnTo>
                  <a:lnTo>
                    <a:pt x="36" y="32"/>
                  </a:lnTo>
                  <a:lnTo>
                    <a:pt x="63" y="38"/>
                  </a:lnTo>
                  <a:lnTo>
                    <a:pt x="94" y="44"/>
                  </a:lnTo>
                  <a:lnTo>
                    <a:pt x="122" y="50"/>
                  </a:lnTo>
                  <a:lnTo>
                    <a:pt x="146" y="55"/>
                  </a:lnTo>
                  <a:lnTo>
                    <a:pt x="163" y="58"/>
                  </a:lnTo>
                  <a:lnTo>
                    <a:pt x="169" y="60"/>
                  </a:lnTo>
                  <a:lnTo>
                    <a:pt x="172" y="38"/>
                  </a:lnTo>
                  <a:lnTo>
                    <a:pt x="166" y="36"/>
                  </a:lnTo>
                  <a:lnTo>
                    <a:pt x="149" y="33"/>
                  </a:lnTo>
                  <a:lnTo>
                    <a:pt x="125" y="28"/>
                  </a:lnTo>
                  <a:lnTo>
                    <a:pt x="97" y="22"/>
                  </a:lnTo>
                  <a:lnTo>
                    <a:pt x="69" y="16"/>
                  </a:lnTo>
                  <a:lnTo>
                    <a:pt x="42" y="10"/>
                  </a:lnTo>
                  <a:lnTo>
                    <a:pt x="20" y="3"/>
                  </a:lnTo>
                  <a:lnTo>
                    <a:pt x="6" y="0"/>
                  </a:lnTo>
                  <a:lnTo>
                    <a:pt x="5" y="0"/>
                  </a:lnTo>
                  <a:lnTo>
                    <a:pt x="2" y="22"/>
                  </a:lnTo>
                  <a:close/>
                </a:path>
              </a:pathLst>
            </a:custGeom>
            <a:solidFill>
              <a:srgbClr val="000000"/>
            </a:solidFill>
            <a:ln w="9525">
              <a:noFill/>
              <a:round/>
              <a:headEnd/>
              <a:tailEnd/>
            </a:ln>
          </p:spPr>
          <p:txBody>
            <a:bodyPr/>
            <a:lstStyle/>
            <a:p>
              <a:endParaRPr lang="en-US"/>
            </a:p>
          </p:txBody>
        </p:sp>
        <p:sp>
          <p:nvSpPr>
            <p:cNvPr id="25623" name="Freeform 218"/>
            <p:cNvSpPr>
              <a:spLocks/>
            </p:cNvSpPr>
            <p:nvPr/>
          </p:nvSpPr>
          <p:spPr bwMode="auto">
            <a:xfrm>
              <a:off x="1979" y="3627"/>
              <a:ext cx="19" cy="14"/>
            </a:xfrm>
            <a:custGeom>
              <a:avLst/>
              <a:gdLst>
                <a:gd name="T0" fmla="*/ 1 w 38"/>
                <a:gd name="T1" fmla="*/ 1 h 26"/>
                <a:gd name="T2" fmla="*/ 1 w 38"/>
                <a:gd name="T3" fmla="*/ 1 h 26"/>
                <a:gd name="T4" fmla="*/ 1 w 38"/>
                <a:gd name="T5" fmla="*/ 1 h 26"/>
                <a:gd name="T6" fmla="*/ 1 w 38"/>
                <a:gd name="T7" fmla="*/ 1 h 26"/>
                <a:gd name="T8" fmla="*/ 1 w 38"/>
                <a:gd name="T9" fmla="*/ 0 h 26"/>
                <a:gd name="T10" fmla="*/ 1 w 38"/>
                <a:gd name="T11" fmla="*/ 0 h 26"/>
                <a:gd name="T12" fmla="*/ 1 w 38"/>
                <a:gd name="T13" fmla="*/ 0 h 26"/>
                <a:gd name="T14" fmla="*/ 1 w 38"/>
                <a:gd name="T15" fmla="*/ 1 h 26"/>
                <a:gd name="T16" fmla="*/ 0 w 38"/>
                <a:gd name="T17" fmla="*/ 1 h 26"/>
                <a:gd name="T18" fmla="*/ 1 w 38"/>
                <a:gd name="T19" fmla="*/ 1 h 26"/>
                <a:gd name="T20" fmla="*/ 1 w 38"/>
                <a:gd name="T21" fmla="*/ 1 h 26"/>
                <a:gd name="T22" fmla="*/ 1 w 38"/>
                <a:gd name="T23" fmla="*/ 1 h 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26"/>
                <a:gd name="T38" fmla="*/ 38 w 38"/>
                <a:gd name="T39" fmla="*/ 26 h 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26">
                  <a:moveTo>
                    <a:pt x="11" y="21"/>
                  </a:moveTo>
                  <a:lnTo>
                    <a:pt x="10" y="21"/>
                  </a:lnTo>
                  <a:lnTo>
                    <a:pt x="35" y="26"/>
                  </a:lnTo>
                  <a:lnTo>
                    <a:pt x="38" y="4"/>
                  </a:lnTo>
                  <a:lnTo>
                    <a:pt x="13" y="0"/>
                  </a:lnTo>
                  <a:lnTo>
                    <a:pt x="11" y="0"/>
                  </a:lnTo>
                  <a:lnTo>
                    <a:pt x="13" y="0"/>
                  </a:lnTo>
                  <a:lnTo>
                    <a:pt x="5" y="3"/>
                  </a:lnTo>
                  <a:lnTo>
                    <a:pt x="0" y="9"/>
                  </a:lnTo>
                  <a:lnTo>
                    <a:pt x="2" y="17"/>
                  </a:lnTo>
                  <a:lnTo>
                    <a:pt x="10" y="21"/>
                  </a:lnTo>
                  <a:lnTo>
                    <a:pt x="11" y="21"/>
                  </a:lnTo>
                  <a:close/>
                </a:path>
              </a:pathLst>
            </a:custGeom>
            <a:solidFill>
              <a:srgbClr val="000000"/>
            </a:solidFill>
            <a:ln w="9525">
              <a:noFill/>
              <a:round/>
              <a:headEnd/>
              <a:tailEnd/>
            </a:ln>
          </p:spPr>
          <p:txBody>
            <a:bodyPr/>
            <a:lstStyle/>
            <a:p>
              <a:endParaRPr lang="en-US"/>
            </a:p>
          </p:txBody>
        </p:sp>
        <p:sp>
          <p:nvSpPr>
            <p:cNvPr id="25624" name="Freeform 219"/>
            <p:cNvSpPr>
              <a:spLocks/>
            </p:cNvSpPr>
            <p:nvPr/>
          </p:nvSpPr>
          <p:spPr bwMode="auto">
            <a:xfrm>
              <a:off x="1978" y="3627"/>
              <a:ext cx="11" cy="11"/>
            </a:xfrm>
            <a:custGeom>
              <a:avLst/>
              <a:gdLst>
                <a:gd name="T0" fmla="*/ 1 w 22"/>
                <a:gd name="T1" fmla="*/ 1 h 21"/>
                <a:gd name="T2" fmla="*/ 1 w 22"/>
                <a:gd name="T3" fmla="*/ 1 h 21"/>
                <a:gd name="T4" fmla="*/ 1 w 22"/>
                <a:gd name="T5" fmla="*/ 1 h 21"/>
                <a:gd name="T6" fmla="*/ 1 w 22"/>
                <a:gd name="T7" fmla="*/ 0 h 21"/>
                <a:gd name="T8" fmla="*/ 1 w 22"/>
                <a:gd name="T9" fmla="*/ 0 h 21"/>
                <a:gd name="T10" fmla="*/ 0 w 22"/>
                <a:gd name="T11" fmla="*/ 1 h 21"/>
                <a:gd name="T12" fmla="*/ 1 w 22"/>
                <a:gd name="T13" fmla="*/ 0 h 21"/>
                <a:gd name="T14" fmla="*/ 1 w 22"/>
                <a:gd name="T15" fmla="*/ 1 h 21"/>
                <a:gd name="T16" fmla="*/ 0 w 22"/>
                <a:gd name="T17" fmla="*/ 1 h 21"/>
                <a:gd name="T18" fmla="*/ 1 w 22"/>
                <a:gd name="T19" fmla="*/ 1 h 21"/>
                <a:gd name="T20" fmla="*/ 1 w 22"/>
                <a:gd name="T21" fmla="*/ 1 h 21"/>
                <a:gd name="T22" fmla="*/ 1 w 22"/>
                <a:gd name="T23" fmla="*/ 1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22" y="7"/>
                  </a:moveTo>
                  <a:lnTo>
                    <a:pt x="11" y="21"/>
                  </a:lnTo>
                  <a:lnTo>
                    <a:pt x="14" y="21"/>
                  </a:lnTo>
                  <a:lnTo>
                    <a:pt x="14" y="0"/>
                  </a:lnTo>
                  <a:lnTo>
                    <a:pt x="11" y="0"/>
                  </a:lnTo>
                  <a:lnTo>
                    <a:pt x="0" y="14"/>
                  </a:lnTo>
                  <a:lnTo>
                    <a:pt x="11" y="0"/>
                  </a:lnTo>
                  <a:lnTo>
                    <a:pt x="3" y="3"/>
                  </a:lnTo>
                  <a:lnTo>
                    <a:pt x="0" y="10"/>
                  </a:lnTo>
                  <a:lnTo>
                    <a:pt x="3" y="18"/>
                  </a:lnTo>
                  <a:lnTo>
                    <a:pt x="11" y="21"/>
                  </a:lnTo>
                  <a:lnTo>
                    <a:pt x="22" y="7"/>
                  </a:lnTo>
                  <a:close/>
                </a:path>
              </a:pathLst>
            </a:custGeom>
            <a:solidFill>
              <a:srgbClr val="000000"/>
            </a:solidFill>
            <a:ln w="9525">
              <a:noFill/>
              <a:round/>
              <a:headEnd/>
              <a:tailEnd/>
            </a:ln>
          </p:spPr>
          <p:txBody>
            <a:bodyPr/>
            <a:lstStyle/>
            <a:p>
              <a:endParaRPr lang="en-US"/>
            </a:p>
          </p:txBody>
        </p:sp>
        <p:sp>
          <p:nvSpPr>
            <p:cNvPr id="25625" name="Freeform 220"/>
            <p:cNvSpPr>
              <a:spLocks/>
            </p:cNvSpPr>
            <p:nvPr/>
          </p:nvSpPr>
          <p:spPr bwMode="auto">
            <a:xfrm>
              <a:off x="1978" y="3630"/>
              <a:ext cx="11" cy="11"/>
            </a:xfrm>
            <a:custGeom>
              <a:avLst/>
              <a:gdLst>
                <a:gd name="T0" fmla="*/ 0 w 24"/>
                <a:gd name="T1" fmla="*/ 1 h 22"/>
                <a:gd name="T2" fmla="*/ 0 w 24"/>
                <a:gd name="T3" fmla="*/ 1 h 22"/>
                <a:gd name="T4" fmla="*/ 0 w 24"/>
                <a:gd name="T5" fmla="*/ 1 h 22"/>
                <a:gd name="T6" fmla="*/ 0 w 24"/>
                <a:gd name="T7" fmla="*/ 1 h 22"/>
                <a:gd name="T8" fmla="*/ 0 w 24"/>
                <a:gd name="T9" fmla="*/ 1 h 22"/>
                <a:gd name="T10" fmla="*/ 0 w 24"/>
                <a:gd name="T11" fmla="*/ 0 h 22"/>
                <a:gd name="T12" fmla="*/ 0 w 24"/>
                <a:gd name="T13" fmla="*/ 1 h 22"/>
                <a:gd name="T14" fmla="*/ 0 w 24"/>
                <a:gd name="T15" fmla="*/ 1 h 22"/>
                <a:gd name="T16" fmla="*/ 0 w 24"/>
                <a:gd name="T17" fmla="*/ 1 h 22"/>
                <a:gd name="T18" fmla="*/ 0 w 24"/>
                <a:gd name="T19" fmla="*/ 1 h 22"/>
                <a:gd name="T20" fmla="*/ 0 w 24"/>
                <a:gd name="T21" fmla="*/ 1 h 22"/>
                <a:gd name="T22" fmla="*/ 0 w 24"/>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2"/>
                <a:gd name="T38" fmla="*/ 24 w 24"/>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2">
                  <a:moveTo>
                    <a:pt x="16" y="22"/>
                  </a:moveTo>
                  <a:lnTo>
                    <a:pt x="24" y="8"/>
                  </a:lnTo>
                  <a:lnTo>
                    <a:pt x="22" y="1"/>
                  </a:lnTo>
                  <a:lnTo>
                    <a:pt x="0" y="8"/>
                  </a:lnTo>
                  <a:lnTo>
                    <a:pt x="2" y="14"/>
                  </a:lnTo>
                  <a:lnTo>
                    <a:pt x="9" y="0"/>
                  </a:lnTo>
                  <a:lnTo>
                    <a:pt x="2" y="14"/>
                  </a:lnTo>
                  <a:lnTo>
                    <a:pt x="6" y="20"/>
                  </a:lnTo>
                  <a:lnTo>
                    <a:pt x="16" y="22"/>
                  </a:lnTo>
                  <a:lnTo>
                    <a:pt x="22" y="17"/>
                  </a:lnTo>
                  <a:lnTo>
                    <a:pt x="24" y="8"/>
                  </a:lnTo>
                  <a:lnTo>
                    <a:pt x="16" y="22"/>
                  </a:lnTo>
                  <a:close/>
                </a:path>
              </a:pathLst>
            </a:custGeom>
            <a:solidFill>
              <a:srgbClr val="000000"/>
            </a:solidFill>
            <a:ln w="9525">
              <a:noFill/>
              <a:round/>
              <a:headEnd/>
              <a:tailEnd/>
            </a:ln>
          </p:spPr>
          <p:txBody>
            <a:bodyPr/>
            <a:lstStyle/>
            <a:p>
              <a:endParaRPr lang="en-US"/>
            </a:p>
          </p:txBody>
        </p:sp>
        <p:sp>
          <p:nvSpPr>
            <p:cNvPr id="25626" name="Freeform 221"/>
            <p:cNvSpPr>
              <a:spLocks/>
            </p:cNvSpPr>
            <p:nvPr/>
          </p:nvSpPr>
          <p:spPr bwMode="auto">
            <a:xfrm>
              <a:off x="1976" y="3630"/>
              <a:ext cx="9" cy="12"/>
            </a:xfrm>
            <a:custGeom>
              <a:avLst/>
              <a:gdLst>
                <a:gd name="T0" fmla="*/ 0 w 19"/>
                <a:gd name="T1" fmla="*/ 1 h 23"/>
                <a:gd name="T2" fmla="*/ 0 w 19"/>
                <a:gd name="T3" fmla="*/ 1 h 23"/>
                <a:gd name="T4" fmla="*/ 0 w 19"/>
                <a:gd name="T5" fmla="*/ 1 h 23"/>
                <a:gd name="T6" fmla="*/ 0 w 19"/>
                <a:gd name="T7" fmla="*/ 0 h 23"/>
                <a:gd name="T8" fmla="*/ 0 w 19"/>
                <a:gd name="T9" fmla="*/ 1 h 23"/>
                <a:gd name="T10" fmla="*/ 0 w 19"/>
                <a:gd name="T11" fmla="*/ 1 h 23"/>
                <a:gd name="T12" fmla="*/ 0 w 19"/>
                <a:gd name="T13" fmla="*/ 1 h 23"/>
                <a:gd name="T14" fmla="*/ 0 w 19"/>
                <a:gd name="T15" fmla="*/ 1 h 23"/>
                <a:gd name="T16" fmla="*/ 0 w 19"/>
                <a:gd name="T17" fmla="*/ 1 h 23"/>
                <a:gd name="T18" fmla="*/ 0 w 19"/>
                <a:gd name="T19" fmla="*/ 1 h 23"/>
                <a:gd name="T20" fmla="*/ 0 w 19"/>
                <a:gd name="T21" fmla="*/ 1 h 23"/>
                <a:gd name="T22" fmla="*/ 0 w 19"/>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3"/>
                <a:gd name="T38" fmla="*/ 19 w 19"/>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3">
                  <a:moveTo>
                    <a:pt x="8" y="23"/>
                  </a:moveTo>
                  <a:lnTo>
                    <a:pt x="14" y="23"/>
                  </a:lnTo>
                  <a:lnTo>
                    <a:pt x="19" y="22"/>
                  </a:lnTo>
                  <a:lnTo>
                    <a:pt x="12" y="0"/>
                  </a:lnTo>
                  <a:lnTo>
                    <a:pt x="8" y="1"/>
                  </a:lnTo>
                  <a:lnTo>
                    <a:pt x="14" y="1"/>
                  </a:lnTo>
                  <a:lnTo>
                    <a:pt x="8" y="1"/>
                  </a:lnTo>
                  <a:lnTo>
                    <a:pt x="2" y="6"/>
                  </a:lnTo>
                  <a:lnTo>
                    <a:pt x="0" y="14"/>
                  </a:lnTo>
                  <a:lnTo>
                    <a:pt x="5" y="22"/>
                  </a:lnTo>
                  <a:lnTo>
                    <a:pt x="14" y="23"/>
                  </a:lnTo>
                  <a:lnTo>
                    <a:pt x="8" y="23"/>
                  </a:lnTo>
                  <a:close/>
                </a:path>
              </a:pathLst>
            </a:custGeom>
            <a:solidFill>
              <a:srgbClr val="000000"/>
            </a:solidFill>
            <a:ln w="9525">
              <a:noFill/>
              <a:round/>
              <a:headEnd/>
              <a:tailEnd/>
            </a:ln>
          </p:spPr>
          <p:txBody>
            <a:bodyPr/>
            <a:lstStyle/>
            <a:p>
              <a:endParaRPr lang="en-US"/>
            </a:p>
          </p:txBody>
        </p:sp>
        <p:sp>
          <p:nvSpPr>
            <p:cNvPr id="25627" name="Freeform 222"/>
            <p:cNvSpPr>
              <a:spLocks/>
            </p:cNvSpPr>
            <p:nvPr/>
          </p:nvSpPr>
          <p:spPr bwMode="auto">
            <a:xfrm>
              <a:off x="1970" y="3630"/>
              <a:ext cx="13" cy="12"/>
            </a:xfrm>
            <a:custGeom>
              <a:avLst/>
              <a:gdLst>
                <a:gd name="T0" fmla="*/ 0 w 27"/>
                <a:gd name="T1" fmla="*/ 0 h 25"/>
                <a:gd name="T2" fmla="*/ 0 w 27"/>
                <a:gd name="T3" fmla="*/ 0 h 25"/>
                <a:gd name="T4" fmla="*/ 0 w 27"/>
                <a:gd name="T5" fmla="*/ 0 h 25"/>
                <a:gd name="T6" fmla="*/ 0 w 27"/>
                <a:gd name="T7" fmla="*/ 0 h 25"/>
                <a:gd name="T8" fmla="*/ 0 w 27"/>
                <a:gd name="T9" fmla="*/ 0 h 25"/>
                <a:gd name="T10" fmla="*/ 0 w 27"/>
                <a:gd name="T11" fmla="*/ 0 h 25"/>
                <a:gd name="T12" fmla="*/ 0 w 27"/>
                <a:gd name="T13" fmla="*/ 0 h 25"/>
                <a:gd name="T14" fmla="*/ 0 w 27"/>
                <a:gd name="T15" fmla="*/ 0 h 25"/>
                <a:gd name="T16" fmla="*/ 0 w 27"/>
                <a:gd name="T17" fmla="*/ 0 h 25"/>
                <a:gd name="T18" fmla="*/ 0 w 27"/>
                <a:gd name="T19" fmla="*/ 0 h 25"/>
                <a:gd name="T20" fmla="*/ 0 w 27"/>
                <a:gd name="T21" fmla="*/ 0 h 25"/>
                <a:gd name="T22" fmla="*/ 0 w 27"/>
                <a:gd name="T23" fmla="*/ 0 h 25"/>
                <a:gd name="T24" fmla="*/ 0 w 27"/>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25"/>
                <a:gd name="T41" fmla="*/ 27 w 27"/>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25">
                  <a:moveTo>
                    <a:pt x="0" y="6"/>
                  </a:moveTo>
                  <a:lnTo>
                    <a:pt x="0" y="5"/>
                  </a:lnTo>
                  <a:lnTo>
                    <a:pt x="7" y="14"/>
                  </a:lnTo>
                  <a:lnTo>
                    <a:pt x="11" y="19"/>
                  </a:lnTo>
                  <a:lnTo>
                    <a:pt x="18" y="24"/>
                  </a:lnTo>
                  <a:lnTo>
                    <a:pt x="21" y="25"/>
                  </a:lnTo>
                  <a:lnTo>
                    <a:pt x="27" y="3"/>
                  </a:lnTo>
                  <a:lnTo>
                    <a:pt x="27" y="5"/>
                  </a:lnTo>
                  <a:lnTo>
                    <a:pt x="24" y="3"/>
                  </a:lnTo>
                  <a:lnTo>
                    <a:pt x="22" y="2"/>
                  </a:lnTo>
                  <a:lnTo>
                    <a:pt x="22" y="0"/>
                  </a:lnTo>
                  <a:lnTo>
                    <a:pt x="0" y="6"/>
                  </a:lnTo>
                  <a:close/>
                </a:path>
              </a:pathLst>
            </a:custGeom>
            <a:solidFill>
              <a:srgbClr val="000000"/>
            </a:solidFill>
            <a:ln w="9525">
              <a:noFill/>
              <a:round/>
              <a:headEnd/>
              <a:tailEnd/>
            </a:ln>
          </p:spPr>
          <p:txBody>
            <a:bodyPr/>
            <a:lstStyle/>
            <a:p>
              <a:endParaRPr lang="en-US"/>
            </a:p>
          </p:txBody>
        </p:sp>
        <p:sp>
          <p:nvSpPr>
            <p:cNvPr id="25628" name="Freeform 223"/>
            <p:cNvSpPr>
              <a:spLocks/>
            </p:cNvSpPr>
            <p:nvPr/>
          </p:nvSpPr>
          <p:spPr bwMode="auto">
            <a:xfrm>
              <a:off x="1968" y="3620"/>
              <a:ext cx="13" cy="13"/>
            </a:xfrm>
            <a:custGeom>
              <a:avLst/>
              <a:gdLst>
                <a:gd name="T0" fmla="*/ 1 w 25"/>
                <a:gd name="T1" fmla="*/ 0 h 25"/>
                <a:gd name="T2" fmla="*/ 1 w 25"/>
                <a:gd name="T3" fmla="*/ 1 h 25"/>
                <a:gd name="T4" fmla="*/ 1 w 25"/>
                <a:gd name="T5" fmla="*/ 1 h 25"/>
                <a:gd name="T6" fmla="*/ 0 w 25"/>
                <a:gd name="T7" fmla="*/ 1 h 25"/>
                <a:gd name="T8" fmla="*/ 1 w 25"/>
                <a:gd name="T9" fmla="*/ 1 h 25"/>
                <a:gd name="T10" fmla="*/ 1 w 25"/>
                <a:gd name="T11" fmla="*/ 1 h 25"/>
                <a:gd name="T12" fmla="*/ 1 w 25"/>
                <a:gd name="T13" fmla="*/ 1 h 25"/>
                <a:gd name="T14" fmla="*/ 1 w 25"/>
                <a:gd name="T15" fmla="*/ 1 h 25"/>
                <a:gd name="T16" fmla="*/ 1 w 25"/>
                <a:gd name="T17" fmla="*/ 1 h 25"/>
                <a:gd name="T18" fmla="*/ 1 w 25"/>
                <a:gd name="T19" fmla="*/ 1 h 25"/>
                <a:gd name="T20" fmla="*/ 1 w 25"/>
                <a:gd name="T21" fmla="*/ 1 h 25"/>
                <a:gd name="T22" fmla="*/ 1 w 25"/>
                <a:gd name="T23" fmla="*/ 1 h 25"/>
                <a:gd name="T24" fmla="*/ 1 w 25"/>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5"/>
                <a:gd name="T41" fmla="*/ 25 w 25"/>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5">
                  <a:moveTo>
                    <a:pt x="10" y="0"/>
                  </a:moveTo>
                  <a:lnTo>
                    <a:pt x="8" y="2"/>
                  </a:lnTo>
                  <a:lnTo>
                    <a:pt x="2" y="8"/>
                  </a:lnTo>
                  <a:lnTo>
                    <a:pt x="0" y="18"/>
                  </a:lnTo>
                  <a:lnTo>
                    <a:pt x="2" y="22"/>
                  </a:lnTo>
                  <a:lnTo>
                    <a:pt x="3" y="25"/>
                  </a:lnTo>
                  <a:lnTo>
                    <a:pt x="25" y="19"/>
                  </a:lnTo>
                  <a:lnTo>
                    <a:pt x="24" y="13"/>
                  </a:lnTo>
                  <a:lnTo>
                    <a:pt x="22" y="11"/>
                  </a:lnTo>
                  <a:lnTo>
                    <a:pt x="21" y="18"/>
                  </a:lnTo>
                  <a:lnTo>
                    <a:pt x="18" y="21"/>
                  </a:lnTo>
                  <a:lnTo>
                    <a:pt x="16" y="22"/>
                  </a:lnTo>
                  <a:lnTo>
                    <a:pt x="10" y="0"/>
                  </a:lnTo>
                  <a:close/>
                </a:path>
              </a:pathLst>
            </a:custGeom>
            <a:solidFill>
              <a:srgbClr val="000000"/>
            </a:solidFill>
            <a:ln w="9525">
              <a:noFill/>
              <a:round/>
              <a:headEnd/>
              <a:tailEnd/>
            </a:ln>
          </p:spPr>
          <p:txBody>
            <a:bodyPr/>
            <a:lstStyle/>
            <a:p>
              <a:endParaRPr lang="en-US"/>
            </a:p>
          </p:txBody>
        </p:sp>
        <p:sp>
          <p:nvSpPr>
            <p:cNvPr id="25629" name="Freeform 224"/>
            <p:cNvSpPr>
              <a:spLocks/>
            </p:cNvSpPr>
            <p:nvPr/>
          </p:nvSpPr>
          <p:spPr bwMode="auto">
            <a:xfrm>
              <a:off x="1970" y="3616"/>
              <a:ext cx="11" cy="15"/>
            </a:xfrm>
            <a:custGeom>
              <a:avLst/>
              <a:gdLst>
                <a:gd name="T0" fmla="*/ 1 w 22"/>
                <a:gd name="T1" fmla="*/ 0 h 31"/>
                <a:gd name="T2" fmla="*/ 1 w 22"/>
                <a:gd name="T3" fmla="*/ 0 h 31"/>
                <a:gd name="T4" fmla="*/ 1 w 22"/>
                <a:gd name="T5" fmla="*/ 0 h 31"/>
                <a:gd name="T6" fmla="*/ 0 w 22"/>
                <a:gd name="T7" fmla="*/ 0 h 31"/>
                <a:gd name="T8" fmla="*/ 1 w 22"/>
                <a:gd name="T9" fmla="*/ 0 h 31"/>
                <a:gd name="T10" fmla="*/ 1 w 22"/>
                <a:gd name="T11" fmla="*/ 0 h 31"/>
                <a:gd name="T12" fmla="*/ 1 w 22"/>
                <a:gd name="T13" fmla="*/ 0 h 31"/>
                <a:gd name="T14" fmla="*/ 1 w 22"/>
                <a:gd name="T15" fmla="*/ 0 h 31"/>
                <a:gd name="T16" fmla="*/ 1 w 22"/>
                <a:gd name="T17" fmla="*/ 0 h 31"/>
                <a:gd name="T18" fmla="*/ 1 w 22"/>
                <a:gd name="T19" fmla="*/ 0 h 31"/>
                <a:gd name="T20" fmla="*/ 1 w 22"/>
                <a:gd name="T21" fmla="*/ 0 h 31"/>
                <a:gd name="T22" fmla="*/ 1 w 22"/>
                <a:gd name="T23" fmla="*/ 0 h 31"/>
                <a:gd name="T24" fmla="*/ 1 w 22"/>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1"/>
                <a:gd name="T41" fmla="*/ 22 w 22"/>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1">
                  <a:moveTo>
                    <a:pt x="9" y="0"/>
                  </a:moveTo>
                  <a:lnTo>
                    <a:pt x="9" y="0"/>
                  </a:lnTo>
                  <a:lnTo>
                    <a:pt x="3" y="5"/>
                  </a:lnTo>
                  <a:lnTo>
                    <a:pt x="0" y="13"/>
                  </a:lnTo>
                  <a:lnTo>
                    <a:pt x="2" y="14"/>
                  </a:lnTo>
                  <a:lnTo>
                    <a:pt x="5" y="9"/>
                  </a:lnTo>
                  <a:lnTo>
                    <a:pt x="11" y="31"/>
                  </a:lnTo>
                  <a:lnTo>
                    <a:pt x="20" y="24"/>
                  </a:lnTo>
                  <a:lnTo>
                    <a:pt x="22" y="16"/>
                  </a:lnTo>
                  <a:lnTo>
                    <a:pt x="22" y="17"/>
                  </a:lnTo>
                  <a:lnTo>
                    <a:pt x="19" y="19"/>
                  </a:lnTo>
                  <a:lnTo>
                    <a:pt x="9" y="0"/>
                  </a:lnTo>
                  <a:close/>
                </a:path>
              </a:pathLst>
            </a:custGeom>
            <a:solidFill>
              <a:srgbClr val="000000"/>
            </a:solidFill>
            <a:ln w="9525">
              <a:noFill/>
              <a:round/>
              <a:headEnd/>
              <a:tailEnd/>
            </a:ln>
          </p:spPr>
          <p:txBody>
            <a:bodyPr/>
            <a:lstStyle/>
            <a:p>
              <a:endParaRPr lang="en-US"/>
            </a:p>
          </p:txBody>
        </p:sp>
        <p:sp>
          <p:nvSpPr>
            <p:cNvPr id="25630" name="Freeform 225"/>
            <p:cNvSpPr>
              <a:spLocks/>
            </p:cNvSpPr>
            <p:nvPr/>
          </p:nvSpPr>
          <p:spPr bwMode="auto">
            <a:xfrm>
              <a:off x="1975" y="3608"/>
              <a:ext cx="11" cy="17"/>
            </a:xfrm>
            <a:custGeom>
              <a:avLst/>
              <a:gdLst>
                <a:gd name="T0" fmla="*/ 1 w 22"/>
                <a:gd name="T1" fmla="*/ 0 h 33"/>
                <a:gd name="T2" fmla="*/ 1 w 22"/>
                <a:gd name="T3" fmla="*/ 0 h 33"/>
                <a:gd name="T4" fmla="*/ 1 w 22"/>
                <a:gd name="T5" fmla="*/ 1 h 33"/>
                <a:gd name="T6" fmla="*/ 1 w 22"/>
                <a:gd name="T7" fmla="*/ 1 h 33"/>
                <a:gd name="T8" fmla="*/ 0 w 22"/>
                <a:gd name="T9" fmla="*/ 1 h 33"/>
                <a:gd name="T10" fmla="*/ 0 w 22"/>
                <a:gd name="T11" fmla="*/ 1 h 33"/>
                <a:gd name="T12" fmla="*/ 1 w 22"/>
                <a:gd name="T13" fmla="*/ 1 h 33"/>
                <a:gd name="T14" fmla="*/ 1 w 22"/>
                <a:gd name="T15" fmla="*/ 1 h 33"/>
                <a:gd name="T16" fmla="*/ 1 w 22"/>
                <a:gd name="T17" fmla="*/ 1 h 33"/>
                <a:gd name="T18" fmla="*/ 1 w 22"/>
                <a:gd name="T19" fmla="*/ 1 h 33"/>
                <a:gd name="T20" fmla="*/ 1 w 22"/>
                <a:gd name="T21" fmla="*/ 1 h 33"/>
                <a:gd name="T22" fmla="*/ 1 w 22"/>
                <a:gd name="T23" fmla="*/ 1 h 33"/>
                <a:gd name="T24" fmla="*/ 1 w 22"/>
                <a:gd name="T25" fmla="*/ 0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3"/>
                <a:gd name="T41" fmla="*/ 22 w 22"/>
                <a:gd name="T42" fmla="*/ 33 h 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3">
                  <a:moveTo>
                    <a:pt x="19" y="0"/>
                  </a:moveTo>
                  <a:lnTo>
                    <a:pt x="16" y="0"/>
                  </a:lnTo>
                  <a:lnTo>
                    <a:pt x="10" y="6"/>
                  </a:lnTo>
                  <a:lnTo>
                    <a:pt x="5" y="9"/>
                  </a:lnTo>
                  <a:lnTo>
                    <a:pt x="0" y="12"/>
                  </a:lnTo>
                  <a:lnTo>
                    <a:pt x="0" y="14"/>
                  </a:lnTo>
                  <a:lnTo>
                    <a:pt x="10" y="33"/>
                  </a:lnTo>
                  <a:lnTo>
                    <a:pt x="16" y="28"/>
                  </a:lnTo>
                  <a:lnTo>
                    <a:pt x="18" y="25"/>
                  </a:lnTo>
                  <a:lnTo>
                    <a:pt x="22" y="22"/>
                  </a:lnTo>
                  <a:lnTo>
                    <a:pt x="19" y="22"/>
                  </a:lnTo>
                  <a:lnTo>
                    <a:pt x="19" y="0"/>
                  </a:lnTo>
                  <a:close/>
                </a:path>
              </a:pathLst>
            </a:custGeom>
            <a:solidFill>
              <a:srgbClr val="000000"/>
            </a:solidFill>
            <a:ln w="9525">
              <a:noFill/>
              <a:round/>
              <a:headEnd/>
              <a:tailEnd/>
            </a:ln>
          </p:spPr>
          <p:txBody>
            <a:bodyPr/>
            <a:lstStyle/>
            <a:p>
              <a:endParaRPr lang="en-US"/>
            </a:p>
          </p:txBody>
        </p:sp>
        <p:sp>
          <p:nvSpPr>
            <p:cNvPr id="25631" name="Freeform 226"/>
            <p:cNvSpPr>
              <a:spLocks/>
            </p:cNvSpPr>
            <p:nvPr/>
          </p:nvSpPr>
          <p:spPr bwMode="auto">
            <a:xfrm>
              <a:off x="1982" y="3602"/>
              <a:ext cx="11" cy="17"/>
            </a:xfrm>
            <a:custGeom>
              <a:avLst/>
              <a:gdLst>
                <a:gd name="T0" fmla="*/ 1 w 22"/>
                <a:gd name="T1" fmla="*/ 0 h 35"/>
                <a:gd name="T2" fmla="*/ 1 w 22"/>
                <a:gd name="T3" fmla="*/ 0 h 35"/>
                <a:gd name="T4" fmla="*/ 1 w 22"/>
                <a:gd name="T5" fmla="*/ 0 h 35"/>
                <a:gd name="T6" fmla="*/ 1 w 22"/>
                <a:gd name="T7" fmla="*/ 0 h 35"/>
                <a:gd name="T8" fmla="*/ 0 w 22"/>
                <a:gd name="T9" fmla="*/ 0 h 35"/>
                <a:gd name="T10" fmla="*/ 1 w 22"/>
                <a:gd name="T11" fmla="*/ 0 h 35"/>
                <a:gd name="T12" fmla="*/ 1 w 22"/>
                <a:gd name="T13" fmla="*/ 0 h 35"/>
                <a:gd name="T14" fmla="*/ 1 w 22"/>
                <a:gd name="T15" fmla="*/ 0 h 35"/>
                <a:gd name="T16" fmla="*/ 1 w 22"/>
                <a:gd name="T17" fmla="*/ 0 h 35"/>
                <a:gd name="T18" fmla="*/ 1 w 22"/>
                <a:gd name="T19" fmla="*/ 0 h 35"/>
                <a:gd name="T20" fmla="*/ 1 w 22"/>
                <a:gd name="T21" fmla="*/ 0 h 35"/>
                <a:gd name="T22" fmla="*/ 1 w 22"/>
                <a:gd name="T23" fmla="*/ 0 h 35"/>
                <a:gd name="T24" fmla="*/ 1 w 22"/>
                <a:gd name="T25" fmla="*/ 0 h 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5"/>
                <a:gd name="T41" fmla="*/ 22 w 22"/>
                <a:gd name="T42" fmla="*/ 35 h 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5">
                  <a:moveTo>
                    <a:pt x="13" y="0"/>
                  </a:moveTo>
                  <a:lnTo>
                    <a:pt x="13" y="0"/>
                  </a:lnTo>
                  <a:lnTo>
                    <a:pt x="4" y="8"/>
                  </a:lnTo>
                  <a:lnTo>
                    <a:pt x="2" y="11"/>
                  </a:lnTo>
                  <a:lnTo>
                    <a:pt x="0" y="15"/>
                  </a:lnTo>
                  <a:lnTo>
                    <a:pt x="5" y="13"/>
                  </a:lnTo>
                  <a:lnTo>
                    <a:pt x="5" y="35"/>
                  </a:lnTo>
                  <a:lnTo>
                    <a:pt x="16" y="30"/>
                  </a:lnTo>
                  <a:lnTo>
                    <a:pt x="21" y="24"/>
                  </a:lnTo>
                  <a:lnTo>
                    <a:pt x="22" y="21"/>
                  </a:lnTo>
                  <a:lnTo>
                    <a:pt x="19" y="22"/>
                  </a:lnTo>
                  <a:lnTo>
                    <a:pt x="13" y="0"/>
                  </a:lnTo>
                  <a:close/>
                </a:path>
              </a:pathLst>
            </a:custGeom>
            <a:solidFill>
              <a:srgbClr val="000000"/>
            </a:solidFill>
            <a:ln w="9525">
              <a:noFill/>
              <a:round/>
              <a:headEnd/>
              <a:tailEnd/>
            </a:ln>
          </p:spPr>
          <p:txBody>
            <a:bodyPr/>
            <a:lstStyle/>
            <a:p>
              <a:endParaRPr lang="en-US"/>
            </a:p>
          </p:txBody>
        </p:sp>
        <p:sp>
          <p:nvSpPr>
            <p:cNvPr id="25632" name="Freeform 227"/>
            <p:cNvSpPr>
              <a:spLocks/>
            </p:cNvSpPr>
            <p:nvPr/>
          </p:nvSpPr>
          <p:spPr bwMode="auto">
            <a:xfrm>
              <a:off x="1989" y="3602"/>
              <a:ext cx="21" cy="17"/>
            </a:xfrm>
            <a:custGeom>
              <a:avLst/>
              <a:gdLst>
                <a:gd name="T0" fmla="*/ 0 w 44"/>
                <a:gd name="T1" fmla="*/ 1 h 33"/>
                <a:gd name="T2" fmla="*/ 0 w 44"/>
                <a:gd name="T3" fmla="*/ 1 h 33"/>
                <a:gd name="T4" fmla="*/ 0 w 44"/>
                <a:gd name="T5" fmla="*/ 1 h 33"/>
                <a:gd name="T6" fmla="*/ 0 w 44"/>
                <a:gd name="T7" fmla="*/ 1 h 33"/>
                <a:gd name="T8" fmla="*/ 0 w 44"/>
                <a:gd name="T9" fmla="*/ 1 h 33"/>
                <a:gd name="T10" fmla="*/ 0 w 44"/>
                <a:gd name="T11" fmla="*/ 0 h 33"/>
                <a:gd name="T12" fmla="*/ 0 w 44"/>
                <a:gd name="T13" fmla="*/ 1 h 33"/>
                <a:gd name="T14" fmla="*/ 0 w 44"/>
                <a:gd name="T15" fmla="*/ 1 h 33"/>
                <a:gd name="T16" fmla="*/ 0 w 44"/>
                <a:gd name="T17" fmla="*/ 1 h 33"/>
                <a:gd name="T18" fmla="*/ 0 w 44"/>
                <a:gd name="T19" fmla="*/ 1 h 33"/>
                <a:gd name="T20" fmla="*/ 0 w 44"/>
                <a:gd name="T21" fmla="*/ 1 h 33"/>
                <a:gd name="T22" fmla="*/ 0 w 44"/>
                <a:gd name="T23" fmla="*/ 1 h 33"/>
                <a:gd name="T24" fmla="*/ 0 w 44"/>
                <a:gd name="T25" fmla="*/ 1 h 33"/>
                <a:gd name="T26" fmla="*/ 0 w 44"/>
                <a:gd name="T27" fmla="*/ 1 h 33"/>
                <a:gd name="T28" fmla="*/ 0 w 44"/>
                <a:gd name="T29" fmla="*/ 1 h 33"/>
                <a:gd name="T30" fmla="*/ 0 w 44"/>
                <a:gd name="T31" fmla="*/ 1 h 33"/>
                <a:gd name="T32" fmla="*/ 0 w 44"/>
                <a:gd name="T33" fmla="*/ 1 h 33"/>
                <a:gd name="T34" fmla="*/ 0 w 44"/>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4"/>
                <a:gd name="T55" fmla="*/ 0 h 33"/>
                <a:gd name="T56" fmla="*/ 44 w 44"/>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4" h="33">
                  <a:moveTo>
                    <a:pt x="25" y="32"/>
                  </a:moveTo>
                  <a:lnTo>
                    <a:pt x="38" y="15"/>
                  </a:lnTo>
                  <a:lnTo>
                    <a:pt x="33" y="13"/>
                  </a:lnTo>
                  <a:lnTo>
                    <a:pt x="25" y="8"/>
                  </a:lnTo>
                  <a:lnTo>
                    <a:pt x="13" y="2"/>
                  </a:lnTo>
                  <a:lnTo>
                    <a:pt x="0" y="0"/>
                  </a:lnTo>
                  <a:lnTo>
                    <a:pt x="6" y="22"/>
                  </a:lnTo>
                  <a:lnTo>
                    <a:pt x="6" y="24"/>
                  </a:lnTo>
                  <a:lnTo>
                    <a:pt x="16" y="27"/>
                  </a:lnTo>
                  <a:lnTo>
                    <a:pt x="23" y="32"/>
                  </a:lnTo>
                  <a:lnTo>
                    <a:pt x="28" y="33"/>
                  </a:lnTo>
                  <a:lnTo>
                    <a:pt x="41" y="16"/>
                  </a:lnTo>
                  <a:lnTo>
                    <a:pt x="28" y="33"/>
                  </a:lnTo>
                  <a:lnTo>
                    <a:pt x="36" y="33"/>
                  </a:lnTo>
                  <a:lnTo>
                    <a:pt x="42" y="29"/>
                  </a:lnTo>
                  <a:lnTo>
                    <a:pt x="44" y="21"/>
                  </a:lnTo>
                  <a:lnTo>
                    <a:pt x="38" y="15"/>
                  </a:lnTo>
                  <a:lnTo>
                    <a:pt x="25" y="32"/>
                  </a:lnTo>
                  <a:close/>
                </a:path>
              </a:pathLst>
            </a:custGeom>
            <a:solidFill>
              <a:srgbClr val="000000"/>
            </a:solidFill>
            <a:ln w="9525">
              <a:noFill/>
              <a:round/>
              <a:headEnd/>
              <a:tailEnd/>
            </a:ln>
          </p:spPr>
          <p:txBody>
            <a:bodyPr/>
            <a:lstStyle/>
            <a:p>
              <a:endParaRPr lang="en-US"/>
            </a:p>
          </p:txBody>
        </p:sp>
        <p:sp>
          <p:nvSpPr>
            <p:cNvPr id="25633" name="Freeform 228"/>
            <p:cNvSpPr>
              <a:spLocks/>
            </p:cNvSpPr>
            <p:nvPr/>
          </p:nvSpPr>
          <p:spPr bwMode="auto">
            <a:xfrm>
              <a:off x="1998" y="3607"/>
              <a:ext cx="11" cy="11"/>
            </a:xfrm>
            <a:custGeom>
              <a:avLst/>
              <a:gdLst>
                <a:gd name="T0" fmla="*/ 0 w 22"/>
                <a:gd name="T1" fmla="*/ 1 h 22"/>
                <a:gd name="T2" fmla="*/ 1 w 22"/>
                <a:gd name="T3" fmla="*/ 1 h 22"/>
                <a:gd name="T4" fmla="*/ 1 w 22"/>
                <a:gd name="T5" fmla="*/ 1 h 22"/>
                <a:gd name="T6" fmla="*/ 1 w 22"/>
                <a:gd name="T7" fmla="*/ 1 h 22"/>
                <a:gd name="T8" fmla="*/ 1 w 22"/>
                <a:gd name="T9" fmla="*/ 1 h 22"/>
                <a:gd name="T10" fmla="*/ 1 w 22"/>
                <a:gd name="T11" fmla="*/ 1 h 22"/>
                <a:gd name="T12" fmla="*/ 1 w 22"/>
                <a:gd name="T13" fmla="*/ 1 h 22"/>
                <a:gd name="T14" fmla="*/ 1 w 22"/>
                <a:gd name="T15" fmla="*/ 0 h 22"/>
                <a:gd name="T16" fmla="*/ 1 w 22"/>
                <a:gd name="T17" fmla="*/ 1 h 22"/>
                <a:gd name="T18" fmla="*/ 0 w 22"/>
                <a:gd name="T19" fmla="*/ 1 h 22"/>
                <a:gd name="T20" fmla="*/ 1 w 22"/>
                <a:gd name="T21" fmla="*/ 1 h 22"/>
                <a:gd name="T22" fmla="*/ 0 w 22"/>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2"/>
                <a:gd name="T38" fmla="*/ 22 w 22"/>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2">
                  <a:moveTo>
                    <a:pt x="0" y="9"/>
                  </a:moveTo>
                  <a:lnTo>
                    <a:pt x="3" y="19"/>
                  </a:lnTo>
                  <a:lnTo>
                    <a:pt x="6" y="22"/>
                  </a:lnTo>
                  <a:lnTo>
                    <a:pt x="22" y="6"/>
                  </a:lnTo>
                  <a:lnTo>
                    <a:pt x="19" y="3"/>
                  </a:lnTo>
                  <a:lnTo>
                    <a:pt x="22" y="12"/>
                  </a:lnTo>
                  <a:lnTo>
                    <a:pt x="19" y="3"/>
                  </a:lnTo>
                  <a:lnTo>
                    <a:pt x="11" y="0"/>
                  </a:lnTo>
                  <a:lnTo>
                    <a:pt x="4" y="3"/>
                  </a:lnTo>
                  <a:lnTo>
                    <a:pt x="0" y="11"/>
                  </a:lnTo>
                  <a:lnTo>
                    <a:pt x="3" y="19"/>
                  </a:lnTo>
                  <a:lnTo>
                    <a:pt x="0" y="9"/>
                  </a:lnTo>
                  <a:close/>
                </a:path>
              </a:pathLst>
            </a:custGeom>
            <a:solidFill>
              <a:srgbClr val="000000"/>
            </a:solidFill>
            <a:ln w="9525">
              <a:noFill/>
              <a:round/>
              <a:headEnd/>
              <a:tailEnd/>
            </a:ln>
          </p:spPr>
          <p:txBody>
            <a:bodyPr/>
            <a:lstStyle/>
            <a:p>
              <a:endParaRPr lang="en-US"/>
            </a:p>
          </p:txBody>
        </p:sp>
        <p:sp>
          <p:nvSpPr>
            <p:cNvPr id="25634" name="Freeform 229"/>
            <p:cNvSpPr>
              <a:spLocks/>
            </p:cNvSpPr>
            <p:nvPr/>
          </p:nvSpPr>
          <p:spPr bwMode="auto">
            <a:xfrm>
              <a:off x="1998" y="3601"/>
              <a:ext cx="12" cy="12"/>
            </a:xfrm>
            <a:custGeom>
              <a:avLst/>
              <a:gdLst>
                <a:gd name="T0" fmla="*/ 1 w 23"/>
                <a:gd name="T1" fmla="*/ 1 h 23"/>
                <a:gd name="T2" fmla="*/ 1 w 23"/>
                <a:gd name="T3" fmla="*/ 1 h 23"/>
                <a:gd name="T4" fmla="*/ 0 w 23"/>
                <a:gd name="T5" fmla="*/ 1 h 23"/>
                <a:gd name="T6" fmla="*/ 1 w 23"/>
                <a:gd name="T7" fmla="*/ 1 h 23"/>
                <a:gd name="T8" fmla="*/ 1 w 23"/>
                <a:gd name="T9" fmla="*/ 1 h 23"/>
                <a:gd name="T10" fmla="*/ 1 w 23"/>
                <a:gd name="T11" fmla="*/ 1 h 23"/>
                <a:gd name="T12" fmla="*/ 1 w 23"/>
                <a:gd name="T13" fmla="*/ 1 h 23"/>
                <a:gd name="T14" fmla="*/ 1 w 23"/>
                <a:gd name="T15" fmla="*/ 1 h 23"/>
                <a:gd name="T16" fmla="*/ 1 w 23"/>
                <a:gd name="T17" fmla="*/ 0 h 23"/>
                <a:gd name="T18" fmla="*/ 1 w 23"/>
                <a:gd name="T19" fmla="*/ 1 h 23"/>
                <a:gd name="T20" fmla="*/ 1 w 23"/>
                <a:gd name="T21" fmla="*/ 1 h 23"/>
                <a:gd name="T22" fmla="*/ 1 w 23"/>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
                <a:gd name="T37" fmla="*/ 0 h 23"/>
                <a:gd name="T38" fmla="*/ 23 w 23"/>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 h="23">
                  <a:moveTo>
                    <a:pt x="3" y="6"/>
                  </a:moveTo>
                  <a:lnTo>
                    <a:pt x="1" y="9"/>
                  </a:lnTo>
                  <a:lnTo>
                    <a:pt x="0" y="20"/>
                  </a:lnTo>
                  <a:lnTo>
                    <a:pt x="22" y="23"/>
                  </a:lnTo>
                  <a:lnTo>
                    <a:pt x="23" y="12"/>
                  </a:lnTo>
                  <a:lnTo>
                    <a:pt x="22" y="16"/>
                  </a:lnTo>
                  <a:lnTo>
                    <a:pt x="23" y="12"/>
                  </a:lnTo>
                  <a:lnTo>
                    <a:pt x="20" y="5"/>
                  </a:lnTo>
                  <a:lnTo>
                    <a:pt x="14" y="0"/>
                  </a:lnTo>
                  <a:lnTo>
                    <a:pt x="6" y="1"/>
                  </a:lnTo>
                  <a:lnTo>
                    <a:pt x="1" y="9"/>
                  </a:lnTo>
                  <a:lnTo>
                    <a:pt x="3" y="6"/>
                  </a:lnTo>
                  <a:close/>
                </a:path>
              </a:pathLst>
            </a:custGeom>
            <a:solidFill>
              <a:srgbClr val="000000"/>
            </a:solidFill>
            <a:ln w="9525">
              <a:noFill/>
              <a:round/>
              <a:headEnd/>
              <a:tailEnd/>
            </a:ln>
          </p:spPr>
          <p:txBody>
            <a:bodyPr/>
            <a:lstStyle/>
            <a:p>
              <a:endParaRPr lang="en-US"/>
            </a:p>
          </p:txBody>
        </p:sp>
        <p:sp>
          <p:nvSpPr>
            <p:cNvPr id="25635" name="Freeform 230"/>
            <p:cNvSpPr>
              <a:spLocks/>
            </p:cNvSpPr>
            <p:nvPr/>
          </p:nvSpPr>
          <p:spPr bwMode="auto">
            <a:xfrm>
              <a:off x="1999" y="3599"/>
              <a:ext cx="12" cy="10"/>
            </a:xfrm>
            <a:custGeom>
              <a:avLst/>
              <a:gdLst>
                <a:gd name="T0" fmla="*/ 1 w 23"/>
                <a:gd name="T1" fmla="*/ 0 h 21"/>
                <a:gd name="T2" fmla="*/ 1 w 23"/>
                <a:gd name="T3" fmla="*/ 0 h 21"/>
                <a:gd name="T4" fmla="*/ 1 w 23"/>
                <a:gd name="T5" fmla="*/ 0 h 21"/>
                <a:gd name="T6" fmla="*/ 1 w 23"/>
                <a:gd name="T7" fmla="*/ 0 h 21"/>
                <a:gd name="T8" fmla="*/ 0 w 23"/>
                <a:gd name="T9" fmla="*/ 0 h 21"/>
                <a:gd name="T10" fmla="*/ 0 w 23"/>
                <a:gd name="T11" fmla="*/ 0 h 21"/>
                <a:gd name="T12" fmla="*/ 1 w 23"/>
                <a:gd name="T13" fmla="*/ 0 h 21"/>
                <a:gd name="T14" fmla="*/ 1 w 23"/>
                <a:gd name="T15" fmla="*/ 0 h 21"/>
                <a:gd name="T16" fmla="*/ 1 w 23"/>
                <a:gd name="T17" fmla="*/ 0 h 21"/>
                <a:gd name="T18" fmla="*/ 1 w 23"/>
                <a:gd name="T19" fmla="*/ 0 h 21"/>
                <a:gd name="T20" fmla="*/ 1 w 23"/>
                <a:gd name="T21" fmla="*/ 0 h 21"/>
                <a:gd name="T22" fmla="*/ 1 w 23"/>
                <a:gd name="T23" fmla="*/ 0 h 21"/>
                <a:gd name="T24" fmla="*/ 1 w 23"/>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1"/>
                <a:gd name="T41" fmla="*/ 23 w 23"/>
                <a:gd name="T42" fmla="*/ 21 h 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1">
                  <a:moveTo>
                    <a:pt x="23" y="2"/>
                  </a:moveTo>
                  <a:lnTo>
                    <a:pt x="20" y="0"/>
                  </a:lnTo>
                  <a:lnTo>
                    <a:pt x="8" y="0"/>
                  </a:lnTo>
                  <a:lnTo>
                    <a:pt x="3" y="5"/>
                  </a:lnTo>
                  <a:lnTo>
                    <a:pt x="0" y="10"/>
                  </a:lnTo>
                  <a:lnTo>
                    <a:pt x="0" y="11"/>
                  </a:lnTo>
                  <a:lnTo>
                    <a:pt x="19" y="21"/>
                  </a:lnTo>
                  <a:lnTo>
                    <a:pt x="19" y="19"/>
                  </a:lnTo>
                  <a:lnTo>
                    <a:pt x="19" y="21"/>
                  </a:lnTo>
                  <a:lnTo>
                    <a:pt x="20" y="19"/>
                  </a:lnTo>
                  <a:lnTo>
                    <a:pt x="11" y="19"/>
                  </a:lnTo>
                  <a:lnTo>
                    <a:pt x="8" y="17"/>
                  </a:lnTo>
                  <a:lnTo>
                    <a:pt x="23" y="2"/>
                  </a:lnTo>
                  <a:close/>
                </a:path>
              </a:pathLst>
            </a:custGeom>
            <a:solidFill>
              <a:srgbClr val="000000"/>
            </a:solidFill>
            <a:ln w="9525">
              <a:noFill/>
              <a:round/>
              <a:headEnd/>
              <a:tailEnd/>
            </a:ln>
          </p:spPr>
          <p:txBody>
            <a:bodyPr/>
            <a:lstStyle/>
            <a:p>
              <a:endParaRPr lang="en-US"/>
            </a:p>
          </p:txBody>
        </p:sp>
        <p:sp>
          <p:nvSpPr>
            <p:cNvPr id="25636" name="Freeform 231"/>
            <p:cNvSpPr>
              <a:spLocks/>
            </p:cNvSpPr>
            <p:nvPr/>
          </p:nvSpPr>
          <p:spPr bwMode="auto">
            <a:xfrm>
              <a:off x="2003" y="3600"/>
              <a:ext cx="11" cy="10"/>
            </a:xfrm>
            <a:custGeom>
              <a:avLst/>
              <a:gdLst>
                <a:gd name="T0" fmla="*/ 0 w 24"/>
                <a:gd name="T1" fmla="*/ 1 h 20"/>
                <a:gd name="T2" fmla="*/ 0 w 24"/>
                <a:gd name="T3" fmla="*/ 1 h 20"/>
                <a:gd name="T4" fmla="*/ 0 w 24"/>
                <a:gd name="T5" fmla="*/ 1 h 20"/>
                <a:gd name="T6" fmla="*/ 0 w 24"/>
                <a:gd name="T7" fmla="*/ 1 h 20"/>
                <a:gd name="T8" fmla="*/ 0 w 24"/>
                <a:gd name="T9" fmla="*/ 1 h 20"/>
                <a:gd name="T10" fmla="*/ 0 w 24"/>
                <a:gd name="T11" fmla="*/ 0 h 20"/>
                <a:gd name="T12" fmla="*/ 0 w 24"/>
                <a:gd name="T13" fmla="*/ 1 h 20"/>
                <a:gd name="T14" fmla="*/ 0 w 24"/>
                <a:gd name="T15" fmla="*/ 1 h 20"/>
                <a:gd name="T16" fmla="*/ 0 w 24"/>
                <a:gd name="T17" fmla="*/ 1 h 20"/>
                <a:gd name="T18" fmla="*/ 0 w 24"/>
                <a:gd name="T19" fmla="*/ 1 h 20"/>
                <a:gd name="T20" fmla="*/ 0 w 24"/>
                <a:gd name="T21" fmla="*/ 1 h 20"/>
                <a:gd name="T22" fmla="*/ 0 w 24"/>
                <a:gd name="T23" fmla="*/ 1 h 20"/>
                <a:gd name="T24" fmla="*/ 0 w 24"/>
                <a:gd name="T25" fmla="*/ 1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0"/>
                <a:gd name="T41" fmla="*/ 24 w 24"/>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0">
                  <a:moveTo>
                    <a:pt x="22" y="17"/>
                  </a:moveTo>
                  <a:lnTo>
                    <a:pt x="22" y="20"/>
                  </a:lnTo>
                  <a:lnTo>
                    <a:pt x="24" y="17"/>
                  </a:lnTo>
                  <a:lnTo>
                    <a:pt x="24" y="9"/>
                  </a:lnTo>
                  <a:lnTo>
                    <a:pt x="21" y="3"/>
                  </a:lnTo>
                  <a:lnTo>
                    <a:pt x="17" y="0"/>
                  </a:lnTo>
                  <a:lnTo>
                    <a:pt x="2" y="15"/>
                  </a:lnTo>
                  <a:lnTo>
                    <a:pt x="2" y="11"/>
                  </a:lnTo>
                  <a:lnTo>
                    <a:pt x="0" y="14"/>
                  </a:lnTo>
                  <a:lnTo>
                    <a:pt x="0" y="17"/>
                  </a:lnTo>
                  <a:lnTo>
                    <a:pt x="22" y="17"/>
                  </a:lnTo>
                  <a:close/>
                </a:path>
              </a:pathLst>
            </a:custGeom>
            <a:solidFill>
              <a:srgbClr val="000000"/>
            </a:solidFill>
            <a:ln w="9525">
              <a:noFill/>
              <a:round/>
              <a:headEnd/>
              <a:tailEnd/>
            </a:ln>
          </p:spPr>
          <p:txBody>
            <a:bodyPr/>
            <a:lstStyle/>
            <a:p>
              <a:endParaRPr lang="en-US"/>
            </a:p>
          </p:txBody>
        </p:sp>
        <p:sp>
          <p:nvSpPr>
            <p:cNvPr id="25637" name="Freeform 232"/>
            <p:cNvSpPr>
              <a:spLocks/>
            </p:cNvSpPr>
            <p:nvPr/>
          </p:nvSpPr>
          <p:spPr bwMode="auto">
            <a:xfrm>
              <a:off x="2003" y="3608"/>
              <a:ext cx="14" cy="15"/>
            </a:xfrm>
            <a:custGeom>
              <a:avLst/>
              <a:gdLst>
                <a:gd name="T0" fmla="*/ 1 w 28"/>
                <a:gd name="T1" fmla="*/ 1 h 30"/>
                <a:gd name="T2" fmla="*/ 1 w 28"/>
                <a:gd name="T3" fmla="*/ 1 h 30"/>
                <a:gd name="T4" fmla="*/ 1 w 28"/>
                <a:gd name="T5" fmla="*/ 1 h 30"/>
                <a:gd name="T6" fmla="*/ 1 w 28"/>
                <a:gd name="T7" fmla="*/ 1 h 30"/>
                <a:gd name="T8" fmla="*/ 1 w 28"/>
                <a:gd name="T9" fmla="*/ 0 h 30"/>
                <a:gd name="T10" fmla="*/ 1 w 28"/>
                <a:gd name="T11" fmla="*/ 0 h 30"/>
                <a:gd name="T12" fmla="*/ 0 w 28"/>
                <a:gd name="T13" fmla="*/ 0 h 30"/>
                <a:gd name="T14" fmla="*/ 1 w 28"/>
                <a:gd name="T15" fmla="*/ 1 h 30"/>
                <a:gd name="T16" fmla="*/ 1 w 28"/>
                <a:gd name="T17" fmla="*/ 1 h 30"/>
                <a:gd name="T18" fmla="*/ 1 w 28"/>
                <a:gd name="T19" fmla="*/ 1 h 30"/>
                <a:gd name="T20" fmla="*/ 1 w 28"/>
                <a:gd name="T21" fmla="*/ 1 h 30"/>
                <a:gd name="T22" fmla="*/ 1 w 28"/>
                <a:gd name="T23" fmla="*/ 1 h 30"/>
                <a:gd name="T24" fmla="*/ 1 w 28"/>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0"/>
                <a:gd name="T41" fmla="*/ 28 w 28"/>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0">
                  <a:moveTo>
                    <a:pt x="28" y="11"/>
                  </a:moveTo>
                  <a:lnTo>
                    <a:pt x="28" y="11"/>
                  </a:lnTo>
                  <a:lnTo>
                    <a:pt x="27" y="11"/>
                  </a:lnTo>
                  <a:lnTo>
                    <a:pt x="25" y="6"/>
                  </a:lnTo>
                  <a:lnTo>
                    <a:pt x="22" y="0"/>
                  </a:lnTo>
                  <a:lnTo>
                    <a:pt x="0" y="0"/>
                  </a:lnTo>
                  <a:lnTo>
                    <a:pt x="3" y="9"/>
                  </a:lnTo>
                  <a:lnTo>
                    <a:pt x="6" y="16"/>
                  </a:lnTo>
                  <a:lnTo>
                    <a:pt x="11" y="23"/>
                  </a:lnTo>
                  <a:lnTo>
                    <a:pt x="19" y="30"/>
                  </a:lnTo>
                  <a:lnTo>
                    <a:pt x="28" y="11"/>
                  </a:lnTo>
                  <a:close/>
                </a:path>
              </a:pathLst>
            </a:custGeom>
            <a:solidFill>
              <a:srgbClr val="000000"/>
            </a:solidFill>
            <a:ln w="9525">
              <a:noFill/>
              <a:round/>
              <a:headEnd/>
              <a:tailEnd/>
            </a:ln>
          </p:spPr>
          <p:txBody>
            <a:bodyPr/>
            <a:lstStyle/>
            <a:p>
              <a:endParaRPr lang="en-US"/>
            </a:p>
          </p:txBody>
        </p:sp>
        <p:sp>
          <p:nvSpPr>
            <p:cNvPr id="25638" name="Freeform 233"/>
            <p:cNvSpPr>
              <a:spLocks/>
            </p:cNvSpPr>
            <p:nvPr/>
          </p:nvSpPr>
          <p:spPr bwMode="auto">
            <a:xfrm>
              <a:off x="2012" y="3614"/>
              <a:ext cx="71" cy="16"/>
            </a:xfrm>
            <a:custGeom>
              <a:avLst/>
              <a:gdLst>
                <a:gd name="T0" fmla="*/ 1 w 142"/>
                <a:gd name="T1" fmla="*/ 0 h 33"/>
                <a:gd name="T2" fmla="*/ 1 w 142"/>
                <a:gd name="T3" fmla="*/ 0 h 33"/>
                <a:gd name="T4" fmla="*/ 1 w 142"/>
                <a:gd name="T5" fmla="*/ 0 h 33"/>
                <a:gd name="T6" fmla="*/ 1 w 142"/>
                <a:gd name="T7" fmla="*/ 0 h 33"/>
                <a:gd name="T8" fmla="*/ 1 w 142"/>
                <a:gd name="T9" fmla="*/ 0 h 33"/>
                <a:gd name="T10" fmla="*/ 1 w 142"/>
                <a:gd name="T11" fmla="*/ 0 h 33"/>
                <a:gd name="T12" fmla="*/ 1 w 142"/>
                <a:gd name="T13" fmla="*/ 0 h 33"/>
                <a:gd name="T14" fmla="*/ 1 w 142"/>
                <a:gd name="T15" fmla="*/ 0 h 33"/>
                <a:gd name="T16" fmla="*/ 1 w 142"/>
                <a:gd name="T17" fmla="*/ 0 h 33"/>
                <a:gd name="T18" fmla="*/ 1 w 142"/>
                <a:gd name="T19" fmla="*/ 0 h 33"/>
                <a:gd name="T20" fmla="*/ 0 w 142"/>
                <a:gd name="T21" fmla="*/ 0 h 33"/>
                <a:gd name="T22" fmla="*/ 1 w 142"/>
                <a:gd name="T23" fmla="*/ 0 h 33"/>
                <a:gd name="T24" fmla="*/ 1 w 142"/>
                <a:gd name="T25" fmla="*/ 0 h 33"/>
                <a:gd name="T26" fmla="*/ 1 w 142"/>
                <a:gd name="T27" fmla="*/ 0 h 33"/>
                <a:gd name="T28" fmla="*/ 1 w 142"/>
                <a:gd name="T29" fmla="*/ 0 h 33"/>
                <a:gd name="T30" fmla="*/ 1 w 142"/>
                <a:gd name="T31" fmla="*/ 0 h 33"/>
                <a:gd name="T32" fmla="*/ 1 w 142"/>
                <a:gd name="T33" fmla="*/ 0 h 33"/>
                <a:gd name="T34" fmla="*/ 1 w 142"/>
                <a:gd name="T35" fmla="*/ 0 h 33"/>
                <a:gd name="T36" fmla="*/ 1 w 142"/>
                <a:gd name="T37" fmla="*/ 0 h 33"/>
                <a:gd name="T38" fmla="*/ 1 w 142"/>
                <a:gd name="T39" fmla="*/ 0 h 33"/>
                <a:gd name="T40" fmla="*/ 1 w 142"/>
                <a:gd name="T41" fmla="*/ 0 h 33"/>
                <a:gd name="T42" fmla="*/ 1 w 142"/>
                <a:gd name="T43" fmla="*/ 0 h 33"/>
                <a:gd name="T44" fmla="*/ 1 w 142"/>
                <a:gd name="T45" fmla="*/ 0 h 33"/>
                <a:gd name="T46" fmla="*/ 1 w 142"/>
                <a:gd name="T47" fmla="*/ 0 h 33"/>
                <a:gd name="T48" fmla="*/ 1 w 142"/>
                <a:gd name="T49" fmla="*/ 0 h 33"/>
                <a:gd name="T50" fmla="*/ 1 w 142"/>
                <a:gd name="T51" fmla="*/ 0 h 3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2"/>
                <a:gd name="T79" fmla="*/ 0 h 33"/>
                <a:gd name="T80" fmla="*/ 142 w 142"/>
                <a:gd name="T81" fmla="*/ 33 h 3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2" h="33">
                  <a:moveTo>
                    <a:pt x="124" y="14"/>
                  </a:moveTo>
                  <a:lnTo>
                    <a:pt x="133" y="11"/>
                  </a:lnTo>
                  <a:lnTo>
                    <a:pt x="128" y="11"/>
                  </a:lnTo>
                  <a:lnTo>
                    <a:pt x="114" y="9"/>
                  </a:lnTo>
                  <a:lnTo>
                    <a:pt x="92" y="8"/>
                  </a:lnTo>
                  <a:lnTo>
                    <a:pt x="72" y="6"/>
                  </a:lnTo>
                  <a:lnTo>
                    <a:pt x="49" y="3"/>
                  </a:lnTo>
                  <a:lnTo>
                    <a:pt x="28" y="1"/>
                  </a:lnTo>
                  <a:lnTo>
                    <a:pt x="14" y="0"/>
                  </a:lnTo>
                  <a:lnTo>
                    <a:pt x="9" y="0"/>
                  </a:lnTo>
                  <a:lnTo>
                    <a:pt x="0" y="19"/>
                  </a:lnTo>
                  <a:lnTo>
                    <a:pt x="11" y="22"/>
                  </a:lnTo>
                  <a:lnTo>
                    <a:pt x="25" y="23"/>
                  </a:lnTo>
                  <a:lnTo>
                    <a:pt x="45" y="25"/>
                  </a:lnTo>
                  <a:lnTo>
                    <a:pt x="69" y="28"/>
                  </a:lnTo>
                  <a:lnTo>
                    <a:pt x="92" y="30"/>
                  </a:lnTo>
                  <a:lnTo>
                    <a:pt x="111" y="31"/>
                  </a:lnTo>
                  <a:lnTo>
                    <a:pt x="125" y="33"/>
                  </a:lnTo>
                  <a:lnTo>
                    <a:pt x="130" y="33"/>
                  </a:lnTo>
                  <a:lnTo>
                    <a:pt x="139" y="30"/>
                  </a:lnTo>
                  <a:lnTo>
                    <a:pt x="130" y="33"/>
                  </a:lnTo>
                  <a:lnTo>
                    <a:pt x="138" y="30"/>
                  </a:lnTo>
                  <a:lnTo>
                    <a:pt x="142" y="23"/>
                  </a:lnTo>
                  <a:lnTo>
                    <a:pt x="141" y="16"/>
                  </a:lnTo>
                  <a:lnTo>
                    <a:pt x="133" y="11"/>
                  </a:lnTo>
                  <a:lnTo>
                    <a:pt x="124" y="14"/>
                  </a:lnTo>
                  <a:close/>
                </a:path>
              </a:pathLst>
            </a:custGeom>
            <a:solidFill>
              <a:srgbClr val="000000"/>
            </a:solidFill>
            <a:ln w="9525">
              <a:noFill/>
              <a:round/>
              <a:headEnd/>
              <a:tailEnd/>
            </a:ln>
          </p:spPr>
          <p:txBody>
            <a:bodyPr/>
            <a:lstStyle/>
            <a:p>
              <a:endParaRPr lang="en-US"/>
            </a:p>
          </p:txBody>
        </p:sp>
        <p:sp>
          <p:nvSpPr>
            <p:cNvPr id="25639" name="Freeform 234"/>
            <p:cNvSpPr>
              <a:spLocks/>
            </p:cNvSpPr>
            <p:nvPr/>
          </p:nvSpPr>
          <p:spPr bwMode="auto">
            <a:xfrm>
              <a:off x="2074" y="3608"/>
              <a:ext cx="23" cy="21"/>
            </a:xfrm>
            <a:custGeom>
              <a:avLst/>
              <a:gdLst>
                <a:gd name="T0" fmla="*/ 1 w 45"/>
                <a:gd name="T1" fmla="*/ 1 h 41"/>
                <a:gd name="T2" fmla="*/ 1 w 45"/>
                <a:gd name="T3" fmla="*/ 0 h 41"/>
                <a:gd name="T4" fmla="*/ 1 w 45"/>
                <a:gd name="T5" fmla="*/ 1 h 41"/>
                <a:gd name="T6" fmla="*/ 1 w 45"/>
                <a:gd name="T7" fmla="*/ 1 h 41"/>
                <a:gd name="T8" fmla="*/ 1 w 45"/>
                <a:gd name="T9" fmla="*/ 1 h 41"/>
                <a:gd name="T10" fmla="*/ 0 w 45"/>
                <a:gd name="T11" fmla="*/ 1 h 41"/>
                <a:gd name="T12" fmla="*/ 1 w 45"/>
                <a:gd name="T13" fmla="*/ 1 h 41"/>
                <a:gd name="T14" fmla="*/ 1 w 45"/>
                <a:gd name="T15" fmla="*/ 1 h 41"/>
                <a:gd name="T16" fmla="*/ 1 w 45"/>
                <a:gd name="T17" fmla="*/ 1 h 41"/>
                <a:gd name="T18" fmla="*/ 1 w 45"/>
                <a:gd name="T19" fmla="*/ 1 h 41"/>
                <a:gd name="T20" fmla="*/ 1 w 45"/>
                <a:gd name="T21" fmla="*/ 1 h 41"/>
                <a:gd name="T22" fmla="*/ 1 w 45"/>
                <a:gd name="T23" fmla="*/ 1 h 41"/>
                <a:gd name="T24" fmla="*/ 1 w 45"/>
                <a:gd name="T25" fmla="*/ 1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41"/>
                <a:gd name="T41" fmla="*/ 45 w 45"/>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41">
                  <a:moveTo>
                    <a:pt x="36" y="2"/>
                  </a:moveTo>
                  <a:lnTo>
                    <a:pt x="37" y="0"/>
                  </a:lnTo>
                  <a:lnTo>
                    <a:pt x="23" y="6"/>
                  </a:lnTo>
                  <a:lnTo>
                    <a:pt x="14" y="14"/>
                  </a:lnTo>
                  <a:lnTo>
                    <a:pt x="4" y="20"/>
                  </a:lnTo>
                  <a:lnTo>
                    <a:pt x="0" y="25"/>
                  </a:lnTo>
                  <a:lnTo>
                    <a:pt x="15" y="41"/>
                  </a:lnTo>
                  <a:lnTo>
                    <a:pt x="17" y="39"/>
                  </a:lnTo>
                  <a:lnTo>
                    <a:pt x="26" y="33"/>
                  </a:lnTo>
                  <a:lnTo>
                    <a:pt x="36" y="25"/>
                  </a:lnTo>
                  <a:lnTo>
                    <a:pt x="44" y="22"/>
                  </a:lnTo>
                  <a:lnTo>
                    <a:pt x="45" y="20"/>
                  </a:lnTo>
                  <a:lnTo>
                    <a:pt x="36" y="2"/>
                  </a:lnTo>
                  <a:close/>
                </a:path>
              </a:pathLst>
            </a:custGeom>
            <a:solidFill>
              <a:srgbClr val="000000"/>
            </a:solidFill>
            <a:ln w="9525">
              <a:noFill/>
              <a:round/>
              <a:headEnd/>
              <a:tailEnd/>
            </a:ln>
          </p:spPr>
          <p:txBody>
            <a:bodyPr/>
            <a:lstStyle/>
            <a:p>
              <a:endParaRPr lang="en-US"/>
            </a:p>
          </p:txBody>
        </p:sp>
        <p:sp>
          <p:nvSpPr>
            <p:cNvPr id="25640" name="Freeform 235"/>
            <p:cNvSpPr>
              <a:spLocks/>
            </p:cNvSpPr>
            <p:nvPr/>
          </p:nvSpPr>
          <p:spPr bwMode="auto">
            <a:xfrm>
              <a:off x="2092" y="3601"/>
              <a:ext cx="15" cy="18"/>
            </a:xfrm>
            <a:custGeom>
              <a:avLst/>
              <a:gdLst>
                <a:gd name="T0" fmla="*/ 1 w 29"/>
                <a:gd name="T1" fmla="*/ 1 h 36"/>
                <a:gd name="T2" fmla="*/ 1 w 29"/>
                <a:gd name="T3" fmla="*/ 1 h 36"/>
                <a:gd name="T4" fmla="*/ 1 w 29"/>
                <a:gd name="T5" fmla="*/ 1 h 36"/>
                <a:gd name="T6" fmla="*/ 1 w 29"/>
                <a:gd name="T7" fmla="*/ 1 h 36"/>
                <a:gd name="T8" fmla="*/ 1 w 29"/>
                <a:gd name="T9" fmla="*/ 1 h 36"/>
                <a:gd name="T10" fmla="*/ 0 w 29"/>
                <a:gd name="T11" fmla="*/ 1 h 36"/>
                <a:gd name="T12" fmla="*/ 1 w 29"/>
                <a:gd name="T13" fmla="*/ 1 h 36"/>
                <a:gd name="T14" fmla="*/ 1 w 29"/>
                <a:gd name="T15" fmla="*/ 1 h 36"/>
                <a:gd name="T16" fmla="*/ 1 w 29"/>
                <a:gd name="T17" fmla="*/ 1 h 36"/>
                <a:gd name="T18" fmla="*/ 1 w 29"/>
                <a:gd name="T19" fmla="*/ 1 h 36"/>
                <a:gd name="T20" fmla="*/ 1 w 29"/>
                <a:gd name="T21" fmla="*/ 1 h 36"/>
                <a:gd name="T22" fmla="*/ 1 w 29"/>
                <a:gd name="T23" fmla="*/ 1 h 36"/>
                <a:gd name="T24" fmla="*/ 1 w 29"/>
                <a:gd name="T25" fmla="*/ 1 h 36"/>
                <a:gd name="T26" fmla="*/ 1 w 29"/>
                <a:gd name="T27" fmla="*/ 1 h 36"/>
                <a:gd name="T28" fmla="*/ 1 w 29"/>
                <a:gd name="T29" fmla="*/ 1 h 36"/>
                <a:gd name="T30" fmla="*/ 1 w 29"/>
                <a:gd name="T31" fmla="*/ 0 h 36"/>
                <a:gd name="T32" fmla="*/ 1 w 29"/>
                <a:gd name="T33" fmla="*/ 1 h 36"/>
                <a:gd name="T34" fmla="*/ 1 w 29"/>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
                <a:gd name="T55" fmla="*/ 0 h 36"/>
                <a:gd name="T56" fmla="*/ 29 w 29"/>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 h="36">
                  <a:moveTo>
                    <a:pt x="29" y="7"/>
                  </a:moveTo>
                  <a:lnTo>
                    <a:pt x="11" y="7"/>
                  </a:lnTo>
                  <a:lnTo>
                    <a:pt x="9" y="7"/>
                  </a:lnTo>
                  <a:lnTo>
                    <a:pt x="8" y="10"/>
                  </a:lnTo>
                  <a:lnTo>
                    <a:pt x="4" y="14"/>
                  </a:lnTo>
                  <a:lnTo>
                    <a:pt x="0" y="18"/>
                  </a:lnTo>
                  <a:lnTo>
                    <a:pt x="9" y="36"/>
                  </a:lnTo>
                  <a:lnTo>
                    <a:pt x="20" y="30"/>
                  </a:lnTo>
                  <a:lnTo>
                    <a:pt x="26" y="22"/>
                  </a:lnTo>
                  <a:lnTo>
                    <a:pt x="28" y="19"/>
                  </a:lnTo>
                  <a:lnTo>
                    <a:pt x="29" y="16"/>
                  </a:lnTo>
                  <a:lnTo>
                    <a:pt x="11" y="16"/>
                  </a:lnTo>
                  <a:lnTo>
                    <a:pt x="29" y="16"/>
                  </a:lnTo>
                  <a:lnTo>
                    <a:pt x="29" y="8"/>
                  </a:lnTo>
                  <a:lnTo>
                    <a:pt x="25" y="2"/>
                  </a:lnTo>
                  <a:lnTo>
                    <a:pt x="17" y="0"/>
                  </a:lnTo>
                  <a:lnTo>
                    <a:pt x="11" y="7"/>
                  </a:lnTo>
                  <a:lnTo>
                    <a:pt x="29" y="7"/>
                  </a:lnTo>
                  <a:close/>
                </a:path>
              </a:pathLst>
            </a:custGeom>
            <a:solidFill>
              <a:srgbClr val="000000"/>
            </a:solidFill>
            <a:ln w="9525">
              <a:noFill/>
              <a:round/>
              <a:headEnd/>
              <a:tailEnd/>
            </a:ln>
          </p:spPr>
          <p:txBody>
            <a:bodyPr/>
            <a:lstStyle/>
            <a:p>
              <a:endParaRPr lang="en-US"/>
            </a:p>
          </p:txBody>
        </p:sp>
        <p:sp>
          <p:nvSpPr>
            <p:cNvPr id="25641" name="Freeform 236"/>
            <p:cNvSpPr>
              <a:spLocks/>
            </p:cNvSpPr>
            <p:nvPr/>
          </p:nvSpPr>
          <p:spPr bwMode="auto">
            <a:xfrm>
              <a:off x="2097" y="3604"/>
              <a:ext cx="24" cy="33"/>
            </a:xfrm>
            <a:custGeom>
              <a:avLst/>
              <a:gdLst>
                <a:gd name="T0" fmla="*/ 1 w 47"/>
                <a:gd name="T1" fmla="*/ 1 h 65"/>
                <a:gd name="T2" fmla="*/ 1 w 47"/>
                <a:gd name="T3" fmla="*/ 1 h 65"/>
                <a:gd name="T4" fmla="*/ 1 w 47"/>
                <a:gd name="T5" fmla="*/ 0 h 65"/>
                <a:gd name="T6" fmla="*/ 0 w 47"/>
                <a:gd name="T7" fmla="*/ 1 h 65"/>
                <a:gd name="T8" fmla="*/ 1 w 47"/>
                <a:gd name="T9" fmla="*/ 1 h 65"/>
                <a:gd name="T10" fmla="*/ 1 w 47"/>
                <a:gd name="T11" fmla="*/ 1 h 65"/>
                <a:gd name="T12" fmla="*/ 0 60000 65536"/>
                <a:gd name="T13" fmla="*/ 0 60000 65536"/>
                <a:gd name="T14" fmla="*/ 0 60000 65536"/>
                <a:gd name="T15" fmla="*/ 0 60000 65536"/>
                <a:gd name="T16" fmla="*/ 0 60000 65536"/>
                <a:gd name="T17" fmla="*/ 0 60000 65536"/>
                <a:gd name="T18" fmla="*/ 0 w 47"/>
                <a:gd name="T19" fmla="*/ 0 h 65"/>
                <a:gd name="T20" fmla="*/ 47 w 4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7" h="65">
                  <a:moveTo>
                    <a:pt x="37" y="61"/>
                  </a:moveTo>
                  <a:lnTo>
                    <a:pt x="47" y="56"/>
                  </a:lnTo>
                  <a:lnTo>
                    <a:pt x="18" y="0"/>
                  </a:lnTo>
                  <a:lnTo>
                    <a:pt x="0" y="9"/>
                  </a:lnTo>
                  <a:lnTo>
                    <a:pt x="28" y="65"/>
                  </a:lnTo>
                  <a:lnTo>
                    <a:pt x="37" y="61"/>
                  </a:lnTo>
                  <a:close/>
                </a:path>
              </a:pathLst>
            </a:custGeom>
            <a:solidFill>
              <a:srgbClr val="000000"/>
            </a:solidFill>
            <a:ln w="9525">
              <a:noFill/>
              <a:round/>
              <a:headEnd/>
              <a:tailEnd/>
            </a:ln>
          </p:spPr>
          <p:txBody>
            <a:bodyPr/>
            <a:lstStyle/>
            <a:p>
              <a:endParaRPr lang="en-US"/>
            </a:p>
          </p:txBody>
        </p:sp>
        <p:sp>
          <p:nvSpPr>
            <p:cNvPr id="25642" name="Freeform 237"/>
            <p:cNvSpPr>
              <a:spLocks/>
            </p:cNvSpPr>
            <p:nvPr/>
          </p:nvSpPr>
          <p:spPr bwMode="auto">
            <a:xfrm>
              <a:off x="2046" y="3834"/>
              <a:ext cx="1" cy="14"/>
            </a:xfrm>
            <a:custGeom>
              <a:avLst/>
              <a:gdLst>
                <a:gd name="T0" fmla="*/ 0 w 1"/>
                <a:gd name="T1" fmla="*/ 1 h 28"/>
                <a:gd name="T2" fmla="*/ 0 w 1"/>
                <a:gd name="T3" fmla="*/ 0 h 28"/>
                <a:gd name="T4" fmla="*/ 0 w 1"/>
                <a:gd name="T5" fmla="*/ 1 h 28"/>
                <a:gd name="T6" fmla="*/ 0 60000 65536"/>
                <a:gd name="T7" fmla="*/ 0 60000 65536"/>
                <a:gd name="T8" fmla="*/ 0 60000 65536"/>
                <a:gd name="T9" fmla="*/ 0 w 1"/>
                <a:gd name="T10" fmla="*/ 0 h 28"/>
                <a:gd name="T11" fmla="*/ 1 w 1"/>
                <a:gd name="T12" fmla="*/ 28 h 28"/>
              </a:gdLst>
              <a:ahLst/>
              <a:cxnLst>
                <a:cxn ang="T6">
                  <a:pos x="T0" y="T1"/>
                </a:cxn>
                <a:cxn ang="T7">
                  <a:pos x="T2" y="T3"/>
                </a:cxn>
                <a:cxn ang="T8">
                  <a:pos x="T4" y="T5"/>
                </a:cxn>
              </a:cxnLst>
              <a:rect l="T9" t="T10" r="T11" b="T12"/>
              <a:pathLst>
                <a:path w="1" h="28">
                  <a:moveTo>
                    <a:pt x="0" y="28"/>
                  </a:moveTo>
                  <a:lnTo>
                    <a:pt x="0" y="0"/>
                  </a:lnTo>
                  <a:lnTo>
                    <a:pt x="0" y="28"/>
                  </a:lnTo>
                  <a:close/>
                </a:path>
              </a:pathLst>
            </a:custGeom>
            <a:solidFill>
              <a:srgbClr val="FF7226"/>
            </a:solidFill>
            <a:ln w="9525">
              <a:noFill/>
              <a:round/>
              <a:headEnd/>
              <a:tailEnd/>
            </a:ln>
          </p:spPr>
          <p:txBody>
            <a:bodyPr/>
            <a:lstStyle/>
            <a:p>
              <a:endParaRPr lang="en-US"/>
            </a:p>
          </p:txBody>
        </p:sp>
        <p:sp>
          <p:nvSpPr>
            <p:cNvPr id="25643" name="Freeform 238"/>
            <p:cNvSpPr>
              <a:spLocks/>
            </p:cNvSpPr>
            <p:nvPr/>
          </p:nvSpPr>
          <p:spPr bwMode="auto">
            <a:xfrm>
              <a:off x="2040" y="3834"/>
              <a:ext cx="11" cy="14"/>
            </a:xfrm>
            <a:custGeom>
              <a:avLst/>
              <a:gdLst>
                <a:gd name="T0" fmla="*/ 1 w 22"/>
                <a:gd name="T1" fmla="*/ 0 h 28"/>
                <a:gd name="T2" fmla="*/ 0 w 22"/>
                <a:gd name="T3" fmla="*/ 0 h 28"/>
                <a:gd name="T4" fmla="*/ 0 w 22"/>
                <a:gd name="T5" fmla="*/ 1 h 28"/>
                <a:gd name="T6" fmla="*/ 1 w 22"/>
                <a:gd name="T7" fmla="*/ 1 h 28"/>
                <a:gd name="T8" fmla="*/ 1 w 22"/>
                <a:gd name="T9" fmla="*/ 0 h 28"/>
                <a:gd name="T10" fmla="*/ 1 w 22"/>
                <a:gd name="T11" fmla="*/ 0 h 28"/>
                <a:gd name="T12" fmla="*/ 0 60000 65536"/>
                <a:gd name="T13" fmla="*/ 0 60000 65536"/>
                <a:gd name="T14" fmla="*/ 0 60000 65536"/>
                <a:gd name="T15" fmla="*/ 0 60000 65536"/>
                <a:gd name="T16" fmla="*/ 0 60000 65536"/>
                <a:gd name="T17" fmla="*/ 0 60000 65536"/>
                <a:gd name="T18" fmla="*/ 0 w 22"/>
                <a:gd name="T19" fmla="*/ 0 h 28"/>
                <a:gd name="T20" fmla="*/ 22 w 22"/>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2" h="28">
                  <a:moveTo>
                    <a:pt x="11" y="0"/>
                  </a:moveTo>
                  <a:lnTo>
                    <a:pt x="0" y="0"/>
                  </a:lnTo>
                  <a:lnTo>
                    <a:pt x="0" y="28"/>
                  </a:lnTo>
                  <a:lnTo>
                    <a:pt x="22" y="28"/>
                  </a:lnTo>
                  <a:lnTo>
                    <a:pt x="22" y="0"/>
                  </a:lnTo>
                  <a:lnTo>
                    <a:pt x="11" y="0"/>
                  </a:lnTo>
                  <a:close/>
                </a:path>
              </a:pathLst>
            </a:custGeom>
            <a:solidFill>
              <a:srgbClr val="000000"/>
            </a:solidFill>
            <a:ln w="9525">
              <a:noFill/>
              <a:round/>
              <a:headEnd/>
              <a:tailEnd/>
            </a:ln>
          </p:spPr>
          <p:txBody>
            <a:bodyPr/>
            <a:lstStyle/>
            <a:p>
              <a:endParaRPr lang="en-US"/>
            </a:p>
          </p:txBody>
        </p:sp>
      </p:grpSp>
      <p:sp>
        <p:nvSpPr>
          <p:cNvPr id="25606" name="Line 239"/>
          <p:cNvSpPr>
            <a:spLocks noChangeShapeType="1"/>
          </p:cNvSpPr>
          <p:nvPr/>
        </p:nvSpPr>
        <p:spPr bwMode="auto">
          <a:xfrm>
            <a:off x="1981200" y="5638800"/>
            <a:ext cx="5562600" cy="38100"/>
          </a:xfrm>
          <a:prstGeom prst="line">
            <a:avLst/>
          </a:prstGeom>
          <a:noFill/>
          <a:ln w="12700" cap="sq">
            <a:solidFill>
              <a:schemeClr val="bg1"/>
            </a:solidFill>
            <a:round/>
            <a:headEnd type="none" w="sm" len="sm"/>
            <a:tailEnd type="none" w="sm" len="sm"/>
          </a:ln>
        </p:spPr>
        <p:txBody>
          <a:bodyPr wrap="none"/>
          <a:lstStyle/>
          <a:p>
            <a:endParaRPr lang="en-US"/>
          </a:p>
        </p:txBody>
      </p:sp>
      <p:sp>
        <p:nvSpPr>
          <p:cNvPr id="25607" name="Text Box 240"/>
          <p:cNvSpPr txBox="1">
            <a:spLocks noChangeArrowheads="1"/>
          </p:cNvSpPr>
          <p:nvPr/>
        </p:nvSpPr>
        <p:spPr bwMode="auto">
          <a:xfrm>
            <a:off x="7662863" y="4572000"/>
            <a:ext cx="660400" cy="369888"/>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RAS</a:t>
            </a:r>
          </a:p>
        </p:txBody>
      </p:sp>
      <p:pic>
        <p:nvPicPr>
          <p:cNvPr id="25608" name="Picture 241" descr="C:\My Documents\Ray\NETDRAW4\INTERNET\INTRNET.WMF"/>
          <p:cNvPicPr>
            <a:picLocks noChangeAspect="1" noChangeArrowheads="1"/>
          </p:cNvPicPr>
          <p:nvPr/>
        </p:nvPicPr>
        <p:blipFill>
          <a:blip r:embed="rId4" cstate="print"/>
          <a:srcRect/>
          <a:stretch>
            <a:fillRect/>
          </a:stretch>
        </p:blipFill>
        <p:spPr bwMode="auto">
          <a:xfrm>
            <a:off x="4918075" y="5183188"/>
            <a:ext cx="1600200" cy="985837"/>
          </a:xfrm>
          <a:prstGeom prst="rect">
            <a:avLst/>
          </a:prstGeom>
          <a:noFill/>
          <a:ln w="9525">
            <a:noFill/>
            <a:miter lim="800000"/>
            <a:headEnd/>
            <a:tailEnd/>
          </a:ln>
        </p:spPr>
      </p:pic>
      <p:pic>
        <p:nvPicPr>
          <p:cNvPr id="25609" name="Picture 242" descr="F:\NETDRAW4\ISOMETRC\FILSERVI.WMF"/>
          <p:cNvPicPr>
            <a:picLocks noChangeAspect="1" noChangeArrowheads="1"/>
          </p:cNvPicPr>
          <p:nvPr/>
        </p:nvPicPr>
        <p:blipFill>
          <a:blip r:embed="rId3" cstate="print"/>
          <a:srcRect/>
          <a:stretch>
            <a:fillRect/>
          </a:stretch>
        </p:blipFill>
        <p:spPr bwMode="auto">
          <a:xfrm>
            <a:off x="3055938" y="5045075"/>
            <a:ext cx="727075" cy="1262063"/>
          </a:xfrm>
          <a:prstGeom prst="rect">
            <a:avLst/>
          </a:prstGeom>
          <a:noFill/>
          <a:ln w="9525">
            <a:noFill/>
            <a:miter lim="800000"/>
            <a:headEnd/>
            <a:tailEnd/>
          </a:ln>
        </p:spPr>
      </p:pic>
      <p:sp>
        <p:nvSpPr>
          <p:cNvPr id="25610" name="Text Box 243"/>
          <p:cNvSpPr txBox="1">
            <a:spLocks noChangeArrowheads="1"/>
          </p:cNvSpPr>
          <p:nvPr/>
        </p:nvSpPr>
        <p:spPr bwMode="auto">
          <a:xfrm>
            <a:off x="2641600" y="4114800"/>
            <a:ext cx="1519238" cy="646113"/>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Access</a:t>
            </a:r>
          </a:p>
          <a:p>
            <a:pPr algn="ctr"/>
            <a:r>
              <a:rPr lang="en-US" altLang="en-US">
                <a:solidFill>
                  <a:schemeClr val="bg1"/>
                </a:solidFill>
              </a:rPr>
              <a:t>Concentrator</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smtClean="0"/>
              <a:t>PPTP</a:t>
            </a:r>
          </a:p>
        </p:txBody>
      </p:sp>
      <p:sp>
        <p:nvSpPr>
          <p:cNvPr id="16387" name="Rectangle 3"/>
          <p:cNvSpPr>
            <a:spLocks noGrp="1" noChangeArrowheads="1"/>
          </p:cNvSpPr>
          <p:nvPr>
            <p:ph type="body" idx="1"/>
          </p:nvPr>
        </p:nvSpPr>
        <p:spPr>
          <a:xfrm>
            <a:off x="1219200" y="1524000"/>
            <a:ext cx="7467600" cy="4876800"/>
          </a:xfrm>
        </p:spPr>
        <p:txBody>
          <a:bodyPr/>
          <a:lstStyle/>
          <a:p>
            <a:pPr eaLnBrk="1" hangingPunct="1">
              <a:defRPr/>
            </a:pPr>
            <a:r>
              <a:rPr lang="en-US" dirty="0" smtClean="0"/>
              <a:t>PPTP Operation</a:t>
            </a:r>
          </a:p>
          <a:p>
            <a:pPr lvl="1" eaLnBrk="1" hangingPunct="1">
              <a:defRPr/>
            </a:pPr>
            <a:r>
              <a:rPr lang="en-US" dirty="0" smtClean="0"/>
              <a:t>User dials into local PPTP </a:t>
            </a:r>
            <a:r>
              <a:rPr lang="en-US" i="1" dirty="0" smtClean="0"/>
              <a:t>access concentrator</a:t>
            </a:r>
            <a:r>
              <a:rPr lang="en-US" dirty="0" smtClean="0"/>
              <a:t> host</a:t>
            </a:r>
          </a:p>
          <a:p>
            <a:pPr lvl="1" eaLnBrk="1" hangingPunct="1">
              <a:defRPr/>
            </a:pPr>
            <a:r>
              <a:rPr lang="en-US" dirty="0" smtClean="0"/>
              <a:t>User sends the access concentrator a PPP frame within an IP packet</a:t>
            </a:r>
          </a:p>
        </p:txBody>
      </p:sp>
      <p:pic>
        <p:nvPicPr>
          <p:cNvPr id="26628" name="Picture 4" descr="F:\NETDRAW4\ISOMETRC\FILSERVI.WMF"/>
          <p:cNvPicPr>
            <a:picLocks noChangeAspect="1" noChangeArrowheads="1"/>
          </p:cNvPicPr>
          <p:nvPr/>
        </p:nvPicPr>
        <p:blipFill>
          <a:blip r:embed="rId3" cstate="print"/>
          <a:srcRect/>
          <a:stretch>
            <a:fillRect/>
          </a:stretch>
        </p:blipFill>
        <p:spPr bwMode="auto">
          <a:xfrm>
            <a:off x="7654925" y="5046663"/>
            <a:ext cx="727075" cy="1262062"/>
          </a:xfrm>
          <a:prstGeom prst="rect">
            <a:avLst/>
          </a:prstGeom>
          <a:noFill/>
          <a:ln w="9525">
            <a:noFill/>
            <a:miter lim="800000"/>
            <a:headEnd/>
            <a:tailEnd/>
          </a:ln>
        </p:spPr>
      </p:pic>
      <p:grpSp>
        <p:nvGrpSpPr>
          <p:cNvPr id="26629" name="Group 5"/>
          <p:cNvGrpSpPr>
            <a:grpSpLocks/>
          </p:cNvGrpSpPr>
          <p:nvPr/>
        </p:nvGrpSpPr>
        <p:grpSpPr bwMode="auto">
          <a:xfrm flipH="1">
            <a:off x="685800" y="5021263"/>
            <a:ext cx="1235075" cy="1025525"/>
            <a:chOff x="1531" y="3307"/>
            <a:chExt cx="778" cy="646"/>
          </a:xfrm>
        </p:grpSpPr>
        <p:grpSp>
          <p:nvGrpSpPr>
            <p:cNvPr id="26637" name="Group 6"/>
            <p:cNvGrpSpPr>
              <a:grpSpLocks/>
            </p:cNvGrpSpPr>
            <p:nvPr/>
          </p:nvGrpSpPr>
          <p:grpSpPr bwMode="auto">
            <a:xfrm>
              <a:off x="1531" y="3307"/>
              <a:ext cx="778" cy="646"/>
              <a:chOff x="1531" y="3307"/>
              <a:chExt cx="778" cy="646"/>
            </a:xfrm>
          </p:grpSpPr>
          <p:sp>
            <p:nvSpPr>
              <p:cNvPr id="26670" name="Freeform 7"/>
              <p:cNvSpPr>
                <a:spLocks/>
              </p:cNvSpPr>
              <p:nvPr/>
            </p:nvSpPr>
            <p:spPr bwMode="auto">
              <a:xfrm>
                <a:off x="1954" y="3823"/>
                <a:ext cx="117" cy="42"/>
              </a:xfrm>
              <a:custGeom>
                <a:avLst/>
                <a:gdLst>
                  <a:gd name="T0" fmla="*/ 0 w 235"/>
                  <a:gd name="T1" fmla="*/ 0 h 84"/>
                  <a:gd name="T2" fmla="*/ 0 w 235"/>
                  <a:gd name="T3" fmla="*/ 1 h 84"/>
                  <a:gd name="T4" fmla="*/ 0 w 235"/>
                  <a:gd name="T5" fmla="*/ 1 h 84"/>
                  <a:gd name="T6" fmla="*/ 0 w 235"/>
                  <a:gd name="T7" fmla="*/ 1 h 84"/>
                  <a:gd name="T8" fmla="*/ 0 w 235"/>
                  <a:gd name="T9" fmla="*/ 1 h 84"/>
                  <a:gd name="T10" fmla="*/ 0 w 235"/>
                  <a:gd name="T11" fmla="*/ 1 h 84"/>
                  <a:gd name="T12" fmla="*/ 0 w 235"/>
                  <a:gd name="T13" fmla="*/ 1 h 84"/>
                  <a:gd name="T14" fmla="*/ 0 w 235"/>
                  <a:gd name="T15" fmla="*/ 1 h 84"/>
                  <a:gd name="T16" fmla="*/ 0 w 235"/>
                  <a:gd name="T17" fmla="*/ 1 h 84"/>
                  <a:gd name="T18" fmla="*/ 0 w 235"/>
                  <a:gd name="T19" fmla="*/ 1 h 84"/>
                  <a:gd name="T20" fmla="*/ 0 w 235"/>
                  <a:gd name="T21" fmla="*/ 1 h 84"/>
                  <a:gd name="T22" fmla="*/ 0 w 235"/>
                  <a:gd name="T23" fmla="*/ 1 h 84"/>
                  <a:gd name="T24" fmla="*/ 0 w 235"/>
                  <a:gd name="T25" fmla="*/ 1 h 84"/>
                  <a:gd name="T26" fmla="*/ 0 w 235"/>
                  <a:gd name="T27" fmla="*/ 1 h 84"/>
                  <a:gd name="T28" fmla="*/ 0 w 235"/>
                  <a:gd name="T29" fmla="*/ 1 h 84"/>
                  <a:gd name="T30" fmla="*/ 0 w 235"/>
                  <a:gd name="T31" fmla="*/ 1 h 84"/>
                  <a:gd name="T32" fmla="*/ 0 w 235"/>
                  <a:gd name="T33" fmla="*/ 1 h 84"/>
                  <a:gd name="T34" fmla="*/ 0 w 235"/>
                  <a:gd name="T35" fmla="*/ 1 h 84"/>
                  <a:gd name="T36" fmla="*/ 0 w 235"/>
                  <a:gd name="T37" fmla="*/ 1 h 84"/>
                  <a:gd name="T38" fmla="*/ 0 w 235"/>
                  <a:gd name="T39" fmla="*/ 1 h 84"/>
                  <a:gd name="T40" fmla="*/ 0 w 235"/>
                  <a:gd name="T41" fmla="*/ 1 h 84"/>
                  <a:gd name="T42" fmla="*/ 0 w 235"/>
                  <a:gd name="T43" fmla="*/ 1 h 84"/>
                  <a:gd name="T44" fmla="*/ 0 w 235"/>
                  <a:gd name="T45" fmla="*/ 1 h 84"/>
                  <a:gd name="T46" fmla="*/ 0 w 235"/>
                  <a:gd name="T47" fmla="*/ 1 h 84"/>
                  <a:gd name="T48" fmla="*/ 0 w 235"/>
                  <a:gd name="T49" fmla="*/ 1 h 84"/>
                  <a:gd name="T50" fmla="*/ 0 w 235"/>
                  <a:gd name="T51" fmla="*/ 1 h 84"/>
                  <a:gd name="T52" fmla="*/ 0 w 235"/>
                  <a:gd name="T53" fmla="*/ 1 h 84"/>
                  <a:gd name="T54" fmla="*/ 0 w 235"/>
                  <a:gd name="T55" fmla="*/ 1 h 84"/>
                  <a:gd name="T56" fmla="*/ 0 w 235"/>
                  <a:gd name="T57" fmla="*/ 1 h 84"/>
                  <a:gd name="T58" fmla="*/ 0 w 235"/>
                  <a:gd name="T59" fmla="*/ 1 h 84"/>
                  <a:gd name="T60" fmla="*/ 0 w 235"/>
                  <a:gd name="T61" fmla="*/ 1 h 84"/>
                  <a:gd name="T62" fmla="*/ 0 w 235"/>
                  <a:gd name="T63" fmla="*/ 1 h 84"/>
                  <a:gd name="T64" fmla="*/ 0 w 235"/>
                  <a:gd name="T65" fmla="*/ 1 h 84"/>
                  <a:gd name="T66" fmla="*/ 0 w 235"/>
                  <a:gd name="T67" fmla="*/ 1 h 84"/>
                  <a:gd name="T68" fmla="*/ 0 w 235"/>
                  <a:gd name="T69" fmla="*/ 1 h 84"/>
                  <a:gd name="T70" fmla="*/ 0 w 235"/>
                  <a:gd name="T71" fmla="*/ 1 h 84"/>
                  <a:gd name="T72" fmla="*/ 0 w 235"/>
                  <a:gd name="T73" fmla="*/ 1 h 84"/>
                  <a:gd name="T74" fmla="*/ 0 w 235"/>
                  <a:gd name="T75" fmla="*/ 0 h 84"/>
                  <a:gd name="T76" fmla="*/ 0 w 235"/>
                  <a:gd name="T77" fmla="*/ 0 h 84"/>
                  <a:gd name="T78" fmla="*/ 0 w 235"/>
                  <a:gd name="T79" fmla="*/ 0 h 84"/>
                  <a:gd name="T80" fmla="*/ 0 w 235"/>
                  <a:gd name="T81" fmla="*/ 0 h 84"/>
                  <a:gd name="T82" fmla="*/ 0 w 235"/>
                  <a:gd name="T83" fmla="*/ 0 h 84"/>
                  <a:gd name="T84" fmla="*/ 0 w 235"/>
                  <a:gd name="T85" fmla="*/ 0 h 84"/>
                  <a:gd name="T86" fmla="*/ 0 w 235"/>
                  <a:gd name="T87" fmla="*/ 0 h 84"/>
                  <a:gd name="T88" fmla="*/ 0 w 235"/>
                  <a:gd name="T89" fmla="*/ 0 h 84"/>
                  <a:gd name="T90" fmla="*/ 0 w 235"/>
                  <a:gd name="T91" fmla="*/ 0 h 84"/>
                  <a:gd name="T92" fmla="*/ 0 w 235"/>
                  <a:gd name="T93" fmla="*/ 0 h 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35"/>
                  <a:gd name="T142" fmla="*/ 0 h 84"/>
                  <a:gd name="T143" fmla="*/ 235 w 235"/>
                  <a:gd name="T144" fmla="*/ 84 h 8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35" h="84">
                    <a:moveTo>
                      <a:pt x="235" y="0"/>
                    </a:moveTo>
                    <a:lnTo>
                      <a:pt x="233" y="39"/>
                    </a:lnTo>
                    <a:lnTo>
                      <a:pt x="233" y="40"/>
                    </a:lnTo>
                    <a:lnTo>
                      <a:pt x="230" y="47"/>
                    </a:lnTo>
                    <a:lnTo>
                      <a:pt x="224" y="51"/>
                    </a:lnTo>
                    <a:lnTo>
                      <a:pt x="213" y="54"/>
                    </a:lnTo>
                    <a:lnTo>
                      <a:pt x="201" y="54"/>
                    </a:lnTo>
                    <a:lnTo>
                      <a:pt x="193" y="54"/>
                    </a:lnTo>
                    <a:lnTo>
                      <a:pt x="186" y="53"/>
                    </a:lnTo>
                    <a:lnTo>
                      <a:pt x="185" y="53"/>
                    </a:lnTo>
                    <a:lnTo>
                      <a:pt x="182" y="75"/>
                    </a:lnTo>
                    <a:lnTo>
                      <a:pt x="180" y="76"/>
                    </a:lnTo>
                    <a:lnTo>
                      <a:pt x="174" y="79"/>
                    </a:lnTo>
                    <a:lnTo>
                      <a:pt x="161" y="83"/>
                    </a:lnTo>
                    <a:lnTo>
                      <a:pt x="143" y="84"/>
                    </a:lnTo>
                    <a:lnTo>
                      <a:pt x="122" y="83"/>
                    </a:lnTo>
                    <a:lnTo>
                      <a:pt x="108" y="78"/>
                    </a:lnTo>
                    <a:lnTo>
                      <a:pt x="100" y="75"/>
                    </a:lnTo>
                    <a:lnTo>
                      <a:pt x="99" y="73"/>
                    </a:lnTo>
                    <a:lnTo>
                      <a:pt x="96" y="73"/>
                    </a:lnTo>
                    <a:lnTo>
                      <a:pt x="86" y="72"/>
                    </a:lnTo>
                    <a:lnTo>
                      <a:pt x="72" y="70"/>
                    </a:lnTo>
                    <a:lnTo>
                      <a:pt x="56" y="67"/>
                    </a:lnTo>
                    <a:lnTo>
                      <a:pt x="39" y="62"/>
                    </a:lnTo>
                    <a:lnTo>
                      <a:pt x="24" y="56"/>
                    </a:lnTo>
                    <a:lnTo>
                      <a:pt x="13" y="47"/>
                    </a:lnTo>
                    <a:lnTo>
                      <a:pt x="5" y="36"/>
                    </a:lnTo>
                    <a:lnTo>
                      <a:pt x="0" y="20"/>
                    </a:lnTo>
                    <a:lnTo>
                      <a:pt x="2" y="15"/>
                    </a:lnTo>
                    <a:lnTo>
                      <a:pt x="6" y="18"/>
                    </a:lnTo>
                    <a:lnTo>
                      <a:pt x="8" y="20"/>
                    </a:lnTo>
                    <a:lnTo>
                      <a:pt x="10" y="18"/>
                    </a:lnTo>
                    <a:lnTo>
                      <a:pt x="14" y="17"/>
                    </a:lnTo>
                    <a:lnTo>
                      <a:pt x="22" y="14"/>
                    </a:lnTo>
                    <a:lnTo>
                      <a:pt x="31" y="9"/>
                    </a:lnTo>
                    <a:lnTo>
                      <a:pt x="44" y="6"/>
                    </a:lnTo>
                    <a:lnTo>
                      <a:pt x="58" y="3"/>
                    </a:lnTo>
                    <a:lnTo>
                      <a:pt x="75" y="0"/>
                    </a:lnTo>
                    <a:lnTo>
                      <a:pt x="92" y="0"/>
                    </a:lnTo>
                    <a:lnTo>
                      <a:pt x="113" y="0"/>
                    </a:lnTo>
                    <a:lnTo>
                      <a:pt x="136" y="0"/>
                    </a:lnTo>
                    <a:lnTo>
                      <a:pt x="160" y="0"/>
                    </a:lnTo>
                    <a:lnTo>
                      <a:pt x="183" y="0"/>
                    </a:lnTo>
                    <a:lnTo>
                      <a:pt x="204" y="0"/>
                    </a:lnTo>
                    <a:lnTo>
                      <a:pt x="219" y="0"/>
                    </a:lnTo>
                    <a:lnTo>
                      <a:pt x="230" y="0"/>
                    </a:lnTo>
                    <a:lnTo>
                      <a:pt x="235" y="0"/>
                    </a:lnTo>
                    <a:close/>
                  </a:path>
                </a:pathLst>
              </a:custGeom>
              <a:solidFill>
                <a:srgbClr val="7F2600"/>
              </a:solidFill>
              <a:ln w="9525">
                <a:noFill/>
                <a:round/>
                <a:headEnd/>
                <a:tailEnd/>
              </a:ln>
            </p:spPr>
            <p:txBody>
              <a:bodyPr/>
              <a:lstStyle/>
              <a:p>
                <a:endParaRPr lang="en-US"/>
              </a:p>
            </p:txBody>
          </p:sp>
          <p:sp>
            <p:nvSpPr>
              <p:cNvPr id="26671" name="Freeform 8"/>
              <p:cNvSpPr>
                <a:spLocks/>
              </p:cNvSpPr>
              <p:nvPr/>
            </p:nvSpPr>
            <p:spPr bwMode="auto">
              <a:xfrm>
                <a:off x="2065" y="3823"/>
                <a:ext cx="12" cy="25"/>
              </a:xfrm>
              <a:custGeom>
                <a:avLst/>
                <a:gdLst>
                  <a:gd name="T0" fmla="*/ 1 w 24"/>
                  <a:gd name="T1" fmla="*/ 1 h 50"/>
                  <a:gd name="T2" fmla="*/ 1 w 24"/>
                  <a:gd name="T3" fmla="*/ 1 h 50"/>
                  <a:gd name="T4" fmla="*/ 1 w 24"/>
                  <a:gd name="T5" fmla="*/ 0 h 50"/>
                  <a:gd name="T6" fmla="*/ 1 w 24"/>
                  <a:gd name="T7" fmla="*/ 0 h 50"/>
                  <a:gd name="T8" fmla="*/ 0 w 24"/>
                  <a:gd name="T9" fmla="*/ 1 h 50"/>
                  <a:gd name="T10" fmla="*/ 0 w 24"/>
                  <a:gd name="T11" fmla="*/ 1 h 50"/>
                  <a:gd name="T12" fmla="*/ 0 w 24"/>
                  <a:gd name="T13" fmla="*/ 1 h 50"/>
                  <a:gd name="T14" fmla="*/ 1 w 24"/>
                  <a:gd name="T15" fmla="*/ 1 h 50"/>
                  <a:gd name="T16" fmla="*/ 1 w 24"/>
                  <a:gd name="T17" fmla="*/ 1 h 50"/>
                  <a:gd name="T18" fmla="*/ 1 w 24"/>
                  <a:gd name="T19" fmla="*/ 1 h 50"/>
                  <a:gd name="T20" fmla="*/ 1 w 24"/>
                  <a:gd name="T21" fmla="*/ 1 h 50"/>
                  <a:gd name="T22" fmla="*/ 1 w 24"/>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50"/>
                  <a:gd name="T38" fmla="*/ 24 w 24"/>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50">
                    <a:moveTo>
                      <a:pt x="22" y="40"/>
                    </a:moveTo>
                    <a:lnTo>
                      <a:pt x="22" y="39"/>
                    </a:lnTo>
                    <a:lnTo>
                      <a:pt x="24" y="0"/>
                    </a:lnTo>
                    <a:lnTo>
                      <a:pt x="2" y="0"/>
                    </a:lnTo>
                    <a:lnTo>
                      <a:pt x="0" y="39"/>
                    </a:lnTo>
                    <a:lnTo>
                      <a:pt x="0" y="37"/>
                    </a:lnTo>
                    <a:lnTo>
                      <a:pt x="0" y="39"/>
                    </a:lnTo>
                    <a:lnTo>
                      <a:pt x="4" y="47"/>
                    </a:lnTo>
                    <a:lnTo>
                      <a:pt x="11" y="50"/>
                    </a:lnTo>
                    <a:lnTo>
                      <a:pt x="19" y="47"/>
                    </a:lnTo>
                    <a:lnTo>
                      <a:pt x="22" y="39"/>
                    </a:lnTo>
                    <a:lnTo>
                      <a:pt x="22" y="40"/>
                    </a:lnTo>
                    <a:close/>
                  </a:path>
                </a:pathLst>
              </a:custGeom>
              <a:solidFill>
                <a:srgbClr val="000000"/>
              </a:solidFill>
              <a:ln w="9525">
                <a:noFill/>
                <a:round/>
                <a:headEnd/>
                <a:tailEnd/>
              </a:ln>
            </p:spPr>
            <p:txBody>
              <a:bodyPr/>
              <a:lstStyle/>
              <a:p>
                <a:endParaRPr lang="en-US"/>
              </a:p>
            </p:txBody>
          </p:sp>
          <p:sp>
            <p:nvSpPr>
              <p:cNvPr id="26672" name="Freeform 9"/>
              <p:cNvSpPr>
                <a:spLocks/>
              </p:cNvSpPr>
              <p:nvPr/>
            </p:nvSpPr>
            <p:spPr bwMode="auto">
              <a:xfrm>
                <a:off x="2060" y="3841"/>
                <a:ext cx="16" cy="15"/>
              </a:xfrm>
              <a:custGeom>
                <a:avLst/>
                <a:gdLst>
                  <a:gd name="T0" fmla="*/ 0 w 33"/>
                  <a:gd name="T1" fmla="*/ 1 h 29"/>
                  <a:gd name="T2" fmla="*/ 0 w 33"/>
                  <a:gd name="T3" fmla="*/ 1 h 29"/>
                  <a:gd name="T4" fmla="*/ 0 w 33"/>
                  <a:gd name="T5" fmla="*/ 1 h 29"/>
                  <a:gd name="T6" fmla="*/ 0 w 33"/>
                  <a:gd name="T7" fmla="*/ 1 h 29"/>
                  <a:gd name="T8" fmla="*/ 0 w 33"/>
                  <a:gd name="T9" fmla="*/ 1 h 29"/>
                  <a:gd name="T10" fmla="*/ 0 w 33"/>
                  <a:gd name="T11" fmla="*/ 1 h 29"/>
                  <a:gd name="T12" fmla="*/ 0 w 33"/>
                  <a:gd name="T13" fmla="*/ 1 h 29"/>
                  <a:gd name="T14" fmla="*/ 0 w 33"/>
                  <a:gd name="T15" fmla="*/ 0 h 29"/>
                  <a:gd name="T16" fmla="*/ 0 w 33"/>
                  <a:gd name="T17" fmla="*/ 1 h 29"/>
                  <a:gd name="T18" fmla="*/ 0 w 33"/>
                  <a:gd name="T19" fmla="*/ 1 h 29"/>
                  <a:gd name="T20" fmla="*/ 0 w 33"/>
                  <a:gd name="T21" fmla="*/ 1 h 29"/>
                  <a:gd name="T22" fmla="*/ 0 w 33"/>
                  <a:gd name="T23" fmla="*/ 1 h 29"/>
                  <a:gd name="T24" fmla="*/ 0 w 33"/>
                  <a:gd name="T25" fmla="*/ 1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29"/>
                  <a:gd name="T41" fmla="*/ 33 w 33"/>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29">
                    <a:moveTo>
                      <a:pt x="4" y="29"/>
                    </a:moveTo>
                    <a:lnTo>
                      <a:pt x="4" y="29"/>
                    </a:lnTo>
                    <a:lnTo>
                      <a:pt x="18" y="25"/>
                    </a:lnTo>
                    <a:lnTo>
                      <a:pt x="27" y="18"/>
                    </a:lnTo>
                    <a:lnTo>
                      <a:pt x="33" y="9"/>
                    </a:lnTo>
                    <a:lnTo>
                      <a:pt x="33" y="4"/>
                    </a:lnTo>
                    <a:lnTo>
                      <a:pt x="11" y="1"/>
                    </a:lnTo>
                    <a:lnTo>
                      <a:pt x="11" y="0"/>
                    </a:lnTo>
                    <a:lnTo>
                      <a:pt x="11" y="3"/>
                    </a:lnTo>
                    <a:lnTo>
                      <a:pt x="8" y="6"/>
                    </a:lnTo>
                    <a:lnTo>
                      <a:pt x="0" y="7"/>
                    </a:lnTo>
                    <a:lnTo>
                      <a:pt x="4" y="29"/>
                    </a:lnTo>
                    <a:close/>
                  </a:path>
                </a:pathLst>
              </a:custGeom>
              <a:solidFill>
                <a:srgbClr val="000000"/>
              </a:solidFill>
              <a:ln w="9525">
                <a:noFill/>
                <a:round/>
                <a:headEnd/>
                <a:tailEnd/>
              </a:ln>
            </p:spPr>
            <p:txBody>
              <a:bodyPr/>
              <a:lstStyle/>
              <a:p>
                <a:endParaRPr lang="en-US"/>
              </a:p>
            </p:txBody>
          </p:sp>
          <p:sp>
            <p:nvSpPr>
              <p:cNvPr id="26673" name="Freeform 10"/>
              <p:cNvSpPr>
                <a:spLocks/>
              </p:cNvSpPr>
              <p:nvPr/>
            </p:nvSpPr>
            <p:spPr bwMode="auto">
              <a:xfrm>
                <a:off x="2041" y="3844"/>
                <a:ext cx="20" cy="12"/>
              </a:xfrm>
              <a:custGeom>
                <a:avLst/>
                <a:gdLst>
                  <a:gd name="T0" fmla="*/ 0 w 41"/>
                  <a:gd name="T1" fmla="*/ 1 h 23"/>
                  <a:gd name="T2" fmla="*/ 0 w 41"/>
                  <a:gd name="T3" fmla="*/ 1 h 23"/>
                  <a:gd name="T4" fmla="*/ 0 w 41"/>
                  <a:gd name="T5" fmla="*/ 1 h 23"/>
                  <a:gd name="T6" fmla="*/ 0 w 41"/>
                  <a:gd name="T7" fmla="*/ 1 h 23"/>
                  <a:gd name="T8" fmla="*/ 0 w 41"/>
                  <a:gd name="T9" fmla="*/ 1 h 23"/>
                  <a:gd name="T10" fmla="*/ 0 w 41"/>
                  <a:gd name="T11" fmla="*/ 1 h 23"/>
                  <a:gd name="T12" fmla="*/ 0 w 41"/>
                  <a:gd name="T13" fmla="*/ 1 h 23"/>
                  <a:gd name="T14" fmla="*/ 0 w 41"/>
                  <a:gd name="T15" fmla="*/ 1 h 23"/>
                  <a:gd name="T16" fmla="*/ 0 w 41"/>
                  <a:gd name="T17" fmla="*/ 1 h 23"/>
                  <a:gd name="T18" fmla="*/ 0 w 41"/>
                  <a:gd name="T19" fmla="*/ 0 h 23"/>
                  <a:gd name="T20" fmla="*/ 0 w 41"/>
                  <a:gd name="T21" fmla="*/ 0 h 23"/>
                  <a:gd name="T22" fmla="*/ 0 w 41"/>
                  <a:gd name="T23" fmla="*/ 1 h 23"/>
                  <a:gd name="T24" fmla="*/ 0 w 41"/>
                  <a:gd name="T25" fmla="*/ 0 h 23"/>
                  <a:gd name="T26" fmla="*/ 0 w 41"/>
                  <a:gd name="T27" fmla="*/ 1 h 23"/>
                  <a:gd name="T28" fmla="*/ 0 w 41"/>
                  <a:gd name="T29" fmla="*/ 1 h 23"/>
                  <a:gd name="T30" fmla="*/ 0 w 41"/>
                  <a:gd name="T31" fmla="*/ 1 h 23"/>
                  <a:gd name="T32" fmla="*/ 0 w 41"/>
                  <a:gd name="T33" fmla="*/ 1 h 23"/>
                  <a:gd name="T34" fmla="*/ 0 w 41"/>
                  <a:gd name="T35" fmla="*/ 1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23"/>
                  <a:gd name="T56" fmla="*/ 41 w 41"/>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23">
                    <a:moveTo>
                      <a:pt x="22" y="12"/>
                    </a:moveTo>
                    <a:lnTo>
                      <a:pt x="8" y="22"/>
                    </a:lnTo>
                    <a:lnTo>
                      <a:pt x="11" y="22"/>
                    </a:lnTo>
                    <a:lnTo>
                      <a:pt x="17" y="23"/>
                    </a:lnTo>
                    <a:lnTo>
                      <a:pt x="27" y="23"/>
                    </a:lnTo>
                    <a:lnTo>
                      <a:pt x="41" y="23"/>
                    </a:lnTo>
                    <a:lnTo>
                      <a:pt x="37" y="1"/>
                    </a:lnTo>
                    <a:lnTo>
                      <a:pt x="27" y="1"/>
                    </a:lnTo>
                    <a:lnTo>
                      <a:pt x="20" y="1"/>
                    </a:lnTo>
                    <a:lnTo>
                      <a:pt x="14" y="0"/>
                    </a:lnTo>
                    <a:lnTo>
                      <a:pt x="0" y="9"/>
                    </a:lnTo>
                    <a:lnTo>
                      <a:pt x="14" y="0"/>
                    </a:lnTo>
                    <a:lnTo>
                      <a:pt x="5" y="1"/>
                    </a:lnTo>
                    <a:lnTo>
                      <a:pt x="0" y="8"/>
                    </a:lnTo>
                    <a:lnTo>
                      <a:pt x="1" y="17"/>
                    </a:lnTo>
                    <a:lnTo>
                      <a:pt x="8" y="22"/>
                    </a:lnTo>
                    <a:lnTo>
                      <a:pt x="22" y="12"/>
                    </a:lnTo>
                    <a:close/>
                  </a:path>
                </a:pathLst>
              </a:custGeom>
              <a:solidFill>
                <a:srgbClr val="000000"/>
              </a:solidFill>
              <a:ln w="9525">
                <a:noFill/>
                <a:round/>
                <a:headEnd/>
                <a:tailEnd/>
              </a:ln>
            </p:spPr>
            <p:txBody>
              <a:bodyPr/>
              <a:lstStyle/>
              <a:p>
                <a:endParaRPr lang="en-US"/>
              </a:p>
            </p:txBody>
          </p:sp>
          <p:sp>
            <p:nvSpPr>
              <p:cNvPr id="26674" name="Freeform 11"/>
              <p:cNvSpPr>
                <a:spLocks/>
              </p:cNvSpPr>
              <p:nvPr/>
            </p:nvSpPr>
            <p:spPr bwMode="auto">
              <a:xfrm>
                <a:off x="2039" y="3849"/>
                <a:ext cx="13" cy="17"/>
              </a:xfrm>
              <a:custGeom>
                <a:avLst/>
                <a:gdLst>
                  <a:gd name="T0" fmla="*/ 1 w 25"/>
                  <a:gd name="T1" fmla="*/ 0 h 35"/>
                  <a:gd name="T2" fmla="*/ 1 w 25"/>
                  <a:gd name="T3" fmla="*/ 0 h 35"/>
                  <a:gd name="T4" fmla="*/ 1 w 25"/>
                  <a:gd name="T5" fmla="*/ 0 h 35"/>
                  <a:gd name="T6" fmla="*/ 1 w 25"/>
                  <a:gd name="T7" fmla="*/ 0 h 35"/>
                  <a:gd name="T8" fmla="*/ 0 w 25"/>
                  <a:gd name="T9" fmla="*/ 0 h 35"/>
                  <a:gd name="T10" fmla="*/ 1 w 25"/>
                  <a:gd name="T11" fmla="*/ 0 h 35"/>
                  <a:gd name="T12" fmla="*/ 0 w 25"/>
                  <a:gd name="T13" fmla="*/ 0 h 35"/>
                  <a:gd name="T14" fmla="*/ 1 w 25"/>
                  <a:gd name="T15" fmla="*/ 0 h 35"/>
                  <a:gd name="T16" fmla="*/ 1 w 25"/>
                  <a:gd name="T17" fmla="*/ 0 h 35"/>
                  <a:gd name="T18" fmla="*/ 1 w 25"/>
                  <a:gd name="T19" fmla="*/ 0 h 35"/>
                  <a:gd name="T20" fmla="*/ 1 w 25"/>
                  <a:gd name="T21" fmla="*/ 0 h 35"/>
                  <a:gd name="T22" fmla="*/ 1 w 25"/>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
                  <a:gd name="T37" fmla="*/ 0 h 35"/>
                  <a:gd name="T38" fmla="*/ 25 w 25"/>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 h="35">
                    <a:moveTo>
                      <a:pt x="19" y="30"/>
                    </a:moveTo>
                    <a:lnTo>
                      <a:pt x="22" y="25"/>
                    </a:lnTo>
                    <a:lnTo>
                      <a:pt x="25" y="3"/>
                    </a:lnTo>
                    <a:lnTo>
                      <a:pt x="3" y="0"/>
                    </a:lnTo>
                    <a:lnTo>
                      <a:pt x="0" y="22"/>
                    </a:lnTo>
                    <a:lnTo>
                      <a:pt x="3" y="18"/>
                    </a:lnTo>
                    <a:lnTo>
                      <a:pt x="0" y="22"/>
                    </a:lnTo>
                    <a:lnTo>
                      <a:pt x="3" y="30"/>
                    </a:lnTo>
                    <a:lnTo>
                      <a:pt x="9" y="35"/>
                    </a:lnTo>
                    <a:lnTo>
                      <a:pt x="17" y="33"/>
                    </a:lnTo>
                    <a:lnTo>
                      <a:pt x="22" y="25"/>
                    </a:lnTo>
                    <a:lnTo>
                      <a:pt x="19" y="30"/>
                    </a:lnTo>
                    <a:close/>
                  </a:path>
                </a:pathLst>
              </a:custGeom>
              <a:solidFill>
                <a:srgbClr val="000000"/>
              </a:solidFill>
              <a:ln w="9525">
                <a:noFill/>
                <a:round/>
                <a:headEnd/>
                <a:tailEnd/>
              </a:ln>
            </p:spPr>
            <p:txBody>
              <a:bodyPr/>
              <a:lstStyle/>
              <a:p>
                <a:endParaRPr lang="en-US"/>
              </a:p>
            </p:txBody>
          </p:sp>
          <p:sp>
            <p:nvSpPr>
              <p:cNvPr id="26675" name="Freeform 12"/>
              <p:cNvSpPr>
                <a:spLocks/>
              </p:cNvSpPr>
              <p:nvPr/>
            </p:nvSpPr>
            <p:spPr bwMode="auto">
              <a:xfrm>
                <a:off x="2025" y="3856"/>
                <a:ext cx="24" cy="15"/>
              </a:xfrm>
              <a:custGeom>
                <a:avLst/>
                <a:gdLst>
                  <a:gd name="T0" fmla="*/ 0 w 47"/>
                  <a:gd name="T1" fmla="*/ 1 h 28"/>
                  <a:gd name="T2" fmla="*/ 0 w 47"/>
                  <a:gd name="T3" fmla="*/ 1 h 28"/>
                  <a:gd name="T4" fmla="*/ 1 w 47"/>
                  <a:gd name="T5" fmla="*/ 1 h 28"/>
                  <a:gd name="T6" fmla="*/ 1 w 47"/>
                  <a:gd name="T7" fmla="*/ 1 h 28"/>
                  <a:gd name="T8" fmla="*/ 1 w 47"/>
                  <a:gd name="T9" fmla="*/ 1 h 28"/>
                  <a:gd name="T10" fmla="*/ 1 w 47"/>
                  <a:gd name="T11" fmla="*/ 1 h 28"/>
                  <a:gd name="T12" fmla="*/ 1 w 47"/>
                  <a:gd name="T13" fmla="*/ 1 h 28"/>
                  <a:gd name="T14" fmla="*/ 1 w 47"/>
                  <a:gd name="T15" fmla="*/ 0 h 28"/>
                  <a:gd name="T16" fmla="*/ 1 w 47"/>
                  <a:gd name="T17" fmla="*/ 1 h 28"/>
                  <a:gd name="T18" fmla="*/ 1 w 47"/>
                  <a:gd name="T19" fmla="*/ 1 h 28"/>
                  <a:gd name="T20" fmla="*/ 0 w 47"/>
                  <a:gd name="T21" fmla="*/ 1 h 28"/>
                  <a:gd name="T22" fmla="*/ 0 w 47"/>
                  <a:gd name="T23" fmla="*/ 1 h 28"/>
                  <a:gd name="T24" fmla="*/ 0 w 47"/>
                  <a:gd name="T25" fmla="*/ 1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
                  <a:gd name="T40" fmla="*/ 0 h 28"/>
                  <a:gd name="T41" fmla="*/ 47 w 47"/>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 h="28">
                    <a:moveTo>
                      <a:pt x="0" y="28"/>
                    </a:moveTo>
                    <a:lnTo>
                      <a:pt x="0" y="28"/>
                    </a:lnTo>
                    <a:lnTo>
                      <a:pt x="20" y="27"/>
                    </a:lnTo>
                    <a:lnTo>
                      <a:pt x="34" y="23"/>
                    </a:lnTo>
                    <a:lnTo>
                      <a:pt x="43" y="19"/>
                    </a:lnTo>
                    <a:lnTo>
                      <a:pt x="47" y="14"/>
                    </a:lnTo>
                    <a:lnTo>
                      <a:pt x="31" y="2"/>
                    </a:lnTo>
                    <a:lnTo>
                      <a:pt x="31" y="0"/>
                    </a:lnTo>
                    <a:lnTo>
                      <a:pt x="28" y="2"/>
                    </a:lnTo>
                    <a:lnTo>
                      <a:pt x="17" y="5"/>
                    </a:lnTo>
                    <a:lnTo>
                      <a:pt x="0" y="6"/>
                    </a:lnTo>
                    <a:lnTo>
                      <a:pt x="0" y="28"/>
                    </a:lnTo>
                    <a:close/>
                  </a:path>
                </a:pathLst>
              </a:custGeom>
              <a:solidFill>
                <a:srgbClr val="000000"/>
              </a:solidFill>
              <a:ln w="9525">
                <a:noFill/>
                <a:round/>
                <a:headEnd/>
                <a:tailEnd/>
              </a:ln>
            </p:spPr>
            <p:txBody>
              <a:bodyPr/>
              <a:lstStyle/>
              <a:p>
                <a:endParaRPr lang="en-US"/>
              </a:p>
            </p:txBody>
          </p:sp>
          <p:sp>
            <p:nvSpPr>
              <p:cNvPr id="26676" name="Freeform 13"/>
              <p:cNvSpPr>
                <a:spLocks/>
              </p:cNvSpPr>
              <p:nvPr/>
            </p:nvSpPr>
            <p:spPr bwMode="auto">
              <a:xfrm>
                <a:off x="1998" y="3854"/>
                <a:ext cx="27" cy="17"/>
              </a:xfrm>
              <a:custGeom>
                <a:avLst/>
                <a:gdLst>
                  <a:gd name="T0" fmla="*/ 0 w 55"/>
                  <a:gd name="T1" fmla="*/ 1 h 33"/>
                  <a:gd name="T2" fmla="*/ 0 w 55"/>
                  <a:gd name="T3" fmla="*/ 1 h 33"/>
                  <a:gd name="T4" fmla="*/ 0 w 55"/>
                  <a:gd name="T5" fmla="*/ 1 h 33"/>
                  <a:gd name="T6" fmla="*/ 0 w 55"/>
                  <a:gd name="T7" fmla="*/ 1 h 33"/>
                  <a:gd name="T8" fmla="*/ 0 w 55"/>
                  <a:gd name="T9" fmla="*/ 1 h 33"/>
                  <a:gd name="T10" fmla="*/ 0 w 55"/>
                  <a:gd name="T11" fmla="*/ 1 h 33"/>
                  <a:gd name="T12" fmla="*/ 0 w 55"/>
                  <a:gd name="T13" fmla="*/ 1 h 33"/>
                  <a:gd name="T14" fmla="*/ 0 w 55"/>
                  <a:gd name="T15" fmla="*/ 1 h 33"/>
                  <a:gd name="T16" fmla="*/ 0 w 55"/>
                  <a:gd name="T17" fmla="*/ 1 h 33"/>
                  <a:gd name="T18" fmla="*/ 0 w 55"/>
                  <a:gd name="T19" fmla="*/ 1 h 33"/>
                  <a:gd name="T20" fmla="*/ 0 w 55"/>
                  <a:gd name="T21" fmla="*/ 1 h 33"/>
                  <a:gd name="T22" fmla="*/ 0 w 55"/>
                  <a:gd name="T23" fmla="*/ 0 h 33"/>
                  <a:gd name="T24" fmla="*/ 0 w 55"/>
                  <a:gd name="T25" fmla="*/ 1 h 33"/>
                  <a:gd name="T26" fmla="*/ 0 w 55"/>
                  <a:gd name="T27" fmla="*/ 0 h 33"/>
                  <a:gd name="T28" fmla="*/ 0 w 55"/>
                  <a:gd name="T29" fmla="*/ 1 h 33"/>
                  <a:gd name="T30" fmla="*/ 0 w 55"/>
                  <a:gd name="T31" fmla="*/ 1 h 33"/>
                  <a:gd name="T32" fmla="*/ 0 w 55"/>
                  <a:gd name="T33" fmla="*/ 1 h 33"/>
                  <a:gd name="T34" fmla="*/ 0 w 55"/>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5"/>
                  <a:gd name="T55" fmla="*/ 0 h 33"/>
                  <a:gd name="T56" fmla="*/ 55 w 55"/>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5" h="33">
                    <a:moveTo>
                      <a:pt x="11" y="22"/>
                    </a:moveTo>
                    <a:lnTo>
                      <a:pt x="3" y="19"/>
                    </a:lnTo>
                    <a:lnTo>
                      <a:pt x="8" y="22"/>
                    </a:lnTo>
                    <a:lnTo>
                      <a:pt x="17" y="27"/>
                    </a:lnTo>
                    <a:lnTo>
                      <a:pt x="33" y="32"/>
                    </a:lnTo>
                    <a:lnTo>
                      <a:pt x="55" y="33"/>
                    </a:lnTo>
                    <a:lnTo>
                      <a:pt x="55" y="11"/>
                    </a:lnTo>
                    <a:lnTo>
                      <a:pt x="36" y="10"/>
                    </a:lnTo>
                    <a:lnTo>
                      <a:pt x="23" y="5"/>
                    </a:lnTo>
                    <a:lnTo>
                      <a:pt x="17" y="3"/>
                    </a:lnTo>
                    <a:lnTo>
                      <a:pt x="19" y="3"/>
                    </a:lnTo>
                    <a:lnTo>
                      <a:pt x="11" y="0"/>
                    </a:lnTo>
                    <a:lnTo>
                      <a:pt x="19" y="3"/>
                    </a:lnTo>
                    <a:lnTo>
                      <a:pt x="11" y="0"/>
                    </a:lnTo>
                    <a:lnTo>
                      <a:pt x="4" y="3"/>
                    </a:lnTo>
                    <a:lnTo>
                      <a:pt x="0" y="11"/>
                    </a:lnTo>
                    <a:lnTo>
                      <a:pt x="3" y="19"/>
                    </a:lnTo>
                    <a:lnTo>
                      <a:pt x="11" y="22"/>
                    </a:lnTo>
                    <a:close/>
                  </a:path>
                </a:pathLst>
              </a:custGeom>
              <a:solidFill>
                <a:srgbClr val="000000"/>
              </a:solidFill>
              <a:ln w="9525">
                <a:noFill/>
                <a:round/>
                <a:headEnd/>
                <a:tailEnd/>
              </a:ln>
            </p:spPr>
            <p:txBody>
              <a:bodyPr/>
              <a:lstStyle/>
              <a:p>
                <a:endParaRPr lang="en-US"/>
              </a:p>
            </p:txBody>
          </p:sp>
          <p:sp>
            <p:nvSpPr>
              <p:cNvPr id="26677" name="Freeform 14"/>
              <p:cNvSpPr>
                <a:spLocks/>
              </p:cNvSpPr>
              <p:nvPr/>
            </p:nvSpPr>
            <p:spPr bwMode="auto">
              <a:xfrm>
                <a:off x="1951" y="3838"/>
                <a:ext cx="52" cy="27"/>
              </a:xfrm>
              <a:custGeom>
                <a:avLst/>
                <a:gdLst>
                  <a:gd name="T0" fmla="*/ 0 w 105"/>
                  <a:gd name="T1" fmla="*/ 1 h 53"/>
                  <a:gd name="T2" fmla="*/ 0 w 105"/>
                  <a:gd name="T3" fmla="*/ 1 h 53"/>
                  <a:gd name="T4" fmla="*/ 0 w 105"/>
                  <a:gd name="T5" fmla="*/ 1 h 53"/>
                  <a:gd name="T6" fmla="*/ 0 w 105"/>
                  <a:gd name="T7" fmla="*/ 1 h 53"/>
                  <a:gd name="T8" fmla="*/ 0 w 105"/>
                  <a:gd name="T9" fmla="*/ 1 h 53"/>
                  <a:gd name="T10" fmla="*/ 0 w 105"/>
                  <a:gd name="T11" fmla="*/ 1 h 53"/>
                  <a:gd name="T12" fmla="*/ 0 w 105"/>
                  <a:gd name="T13" fmla="*/ 1 h 53"/>
                  <a:gd name="T14" fmla="*/ 0 w 105"/>
                  <a:gd name="T15" fmla="*/ 1 h 53"/>
                  <a:gd name="T16" fmla="*/ 0 w 105"/>
                  <a:gd name="T17" fmla="*/ 1 h 53"/>
                  <a:gd name="T18" fmla="*/ 0 w 105"/>
                  <a:gd name="T19" fmla="*/ 1 h 53"/>
                  <a:gd name="T20" fmla="*/ 0 w 105"/>
                  <a:gd name="T21" fmla="*/ 1 h 53"/>
                  <a:gd name="T22" fmla="*/ 0 w 105"/>
                  <a:gd name="T23" fmla="*/ 1 h 53"/>
                  <a:gd name="T24" fmla="*/ 0 w 105"/>
                  <a:gd name="T25" fmla="*/ 1 h 53"/>
                  <a:gd name="T26" fmla="*/ 0 w 105"/>
                  <a:gd name="T27" fmla="*/ 1 h 53"/>
                  <a:gd name="T28" fmla="*/ 0 w 105"/>
                  <a:gd name="T29" fmla="*/ 1 h 53"/>
                  <a:gd name="T30" fmla="*/ 0 w 105"/>
                  <a:gd name="T31" fmla="*/ 1 h 53"/>
                  <a:gd name="T32" fmla="*/ 0 w 105"/>
                  <a:gd name="T33" fmla="*/ 1 h 53"/>
                  <a:gd name="T34" fmla="*/ 0 w 105"/>
                  <a:gd name="T35" fmla="*/ 1 h 53"/>
                  <a:gd name="T36" fmla="*/ 0 w 105"/>
                  <a:gd name="T37" fmla="*/ 1 h 53"/>
                  <a:gd name="T38" fmla="*/ 0 w 105"/>
                  <a:gd name="T39" fmla="*/ 0 h 53"/>
                  <a:gd name="T40" fmla="*/ 0 w 105"/>
                  <a:gd name="T41" fmla="*/ 1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
                  <a:gd name="T64" fmla="*/ 0 h 53"/>
                  <a:gd name="T65" fmla="*/ 105 w 105"/>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 h="53">
                    <a:moveTo>
                      <a:pt x="1" y="9"/>
                    </a:moveTo>
                    <a:lnTo>
                      <a:pt x="0" y="8"/>
                    </a:lnTo>
                    <a:lnTo>
                      <a:pt x="11" y="23"/>
                    </a:lnTo>
                    <a:lnTo>
                      <a:pt x="23" y="34"/>
                    </a:lnTo>
                    <a:lnTo>
                      <a:pt x="42" y="42"/>
                    </a:lnTo>
                    <a:lnTo>
                      <a:pt x="59" y="47"/>
                    </a:lnTo>
                    <a:lnTo>
                      <a:pt x="77" y="50"/>
                    </a:lnTo>
                    <a:lnTo>
                      <a:pt x="91" y="52"/>
                    </a:lnTo>
                    <a:lnTo>
                      <a:pt x="100" y="53"/>
                    </a:lnTo>
                    <a:lnTo>
                      <a:pt x="105" y="53"/>
                    </a:lnTo>
                    <a:lnTo>
                      <a:pt x="105" y="31"/>
                    </a:lnTo>
                    <a:lnTo>
                      <a:pt x="103" y="31"/>
                    </a:lnTo>
                    <a:lnTo>
                      <a:pt x="94" y="30"/>
                    </a:lnTo>
                    <a:lnTo>
                      <a:pt x="80" y="28"/>
                    </a:lnTo>
                    <a:lnTo>
                      <a:pt x="66" y="25"/>
                    </a:lnTo>
                    <a:lnTo>
                      <a:pt x="48" y="20"/>
                    </a:lnTo>
                    <a:lnTo>
                      <a:pt x="36" y="16"/>
                    </a:lnTo>
                    <a:lnTo>
                      <a:pt x="26" y="8"/>
                    </a:lnTo>
                    <a:lnTo>
                      <a:pt x="22" y="2"/>
                    </a:lnTo>
                    <a:lnTo>
                      <a:pt x="20" y="0"/>
                    </a:lnTo>
                    <a:lnTo>
                      <a:pt x="1" y="9"/>
                    </a:lnTo>
                    <a:close/>
                  </a:path>
                </a:pathLst>
              </a:custGeom>
              <a:solidFill>
                <a:srgbClr val="000000"/>
              </a:solidFill>
              <a:ln w="9525">
                <a:noFill/>
                <a:round/>
                <a:headEnd/>
                <a:tailEnd/>
              </a:ln>
            </p:spPr>
            <p:txBody>
              <a:bodyPr/>
              <a:lstStyle/>
              <a:p>
                <a:endParaRPr lang="en-US"/>
              </a:p>
            </p:txBody>
          </p:sp>
          <p:sp>
            <p:nvSpPr>
              <p:cNvPr id="26678" name="Freeform 15"/>
              <p:cNvSpPr>
                <a:spLocks/>
              </p:cNvSpPr>
              <p:nvPr/>
            </p:nvSpPr>
            <p:spPr bwMode="auto">
              <a:xfrm>
                <a:off x="1949" y="3825"/>
                <a:ext cx="14" cy="18"/>
              </a:xfrm>
              <a:custGeom>
                <a:avLst/>
                <a:gdLst>
                  <a:gd name="T0" fmla="*/ 0 w 30"/>
                  <a:gd name="T1" fmla="*/ 1 h 36"/>
                  <a:gd name="T2" fmla="*/ 0 w 30"/>
                  <a:gd name="T3" fmla="*/ 1 h 36"/>
                  <a:gd name="T4" fmla="*/ 0 w 30"/>
                  <a:gd name="T5" fmla="*/ 1 h 36"/>
                  <a:gd name="T6" fmla="*/ 0 w 30"/>
                  <a:gd name="T7" fmla="*/ 0 h 36"/>
                  <a:gd name="T8" fmla="*/ 0 w 30"/>
                  <a:gd name="T9" fmla="*/ 1 h 36"/>
                  <a:gd name="T10" fmla="*/ 0 w 30"/>
                  <a:gd name="T11" fmla="*/ 1 h 36"/>
                  <a:gd name="T12" fmla="*/ 0 w 30"/>
                  <a:gd name="T13" fmla="*/ 1 h 36"/>
                  <a:gd name="T14" fmla="*/ 0 w 30"/>
                  <a:gd name="T15" fmla="*/ 1 h 36"/>
                  <a:gd name="T16" fmla="*/ 0 w 30"/>
                  <a:gd name="T17" fmla="*/ 1 h 36"/>
                  <a:gd name="T18" fmla="*/ 0 w 30"/>
                  <a:gd name="T19" fmla="*/ 1 h 36"/>
                  <a:gd name="T20" fmla="*/ 0 w 30"/>
                  <a:gd name="T21" fmla="*/ 1 h 36"/>
                  <a:gd name="T22" fmla="*/ 0 w 30"/>
                  <a:gd name="T23" fmla="*/ 1 h 36"/>
                  <a:gd name="T24" fmla="*/ 0 w 30"/>
                  <a:gd name="T25" fmla="*/ 1 h 36"/>
                  <a:gd name="T26" fmla="*/ 0 w 30"/>
                  <a:gd name="T27" fmla="*/ 1 h 36"/>
                  <a:gd name="T28" fmla="*/ 0 w 30"/>
                  <a:gd name="T29" fmla="*/ 1 h 36"/>
                  <a:gd name="T30" fmla="*/ 0 w 30"/>
                  <a:gd name="T31" fmla="*/ 1 h 36"/>
                  <a:gd name="T32" fmla="*/ 0 w 30"/>
                  <a:gd name="T33" fmla="*/ 1 h 36"/>
                  <a:gd name="T34" fmla="*/ 0 w 30"/>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0"/>
                  <a:gd name="T55" fmla="*/ 0 h 36"/>
                  <a:gd name="T56" fmla="*/ 30 w 30"/>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0" h="36">
                    <a:moveTo>
                      <a:pt x="13" y="7"/>
                    </a:moveTo>
                    <a:lnTo>
                      <a:pt x="27" y="8"/>
                    </a:lnTo>
                    <a:lnTo>
                      <a:pt x="24" y="5"/>
                    </a:lnTo>
                    <a:lnTo>
                      <a:pt x="10" y="0"/>
                    </a:lnTo>
                    <a:lnTo>
                      <a:pt x="0" y="18"/>
                    </a:lnTo>
                    <a:lnTo>
                      <a:pt x="6" y="36"/>
                    </a:lnTo>
                    <a:lnTo>
                      <a:pt x="25" y="27"/>
                    </a:lnTo>
                    <a:lnTo>
                      <a:pt x="22" y="14"/>
                    </a:lnTo>
                    <a:lnTo>
                      <a:pt x="16" y="22"/>
                    </a:lnTo>
                    <a:lnTo>
                      <a:pt x="11" y="24"/>
                    </a:lnTo>
                    <a:lnTo>
                      <a:pt x="25" y="25"/>
                    </a:lnTo>
                    <a:lnTo>
                      <a:pt x="11" y="24"/>
                    </a:lnTo>
                    <a:lnTo>
                      <a:pt x="19" y="27"/>
                    </a:lnTo>
                    <a:lnTo>
                      <a:pt x="27" y="22"/>
                    </a:lnTo>
                    <a:lnTo>
                      <a:pt x="30" y="16"/>
                    </a:lnTo>
                    <a:lnTo>
                      <a:pt x="27" y="8"/>
                    </a:lnTo>
                    <a:lnTo>
                      <a:pt x="13" y="7"/>
                    </a:lnTo>
                    <a:close/>
                  </a:path>
                </a:pathLst>
              </a:custGeom>
              <a:solidFill>
                <a:srgbClr val="000000"/>
              </a:solidFill>
              <a:ln w="9525">
                <a:noFill/>
                <a:round/>
                <a:headEnd/>
                <a:tailEnd/>
              </a:ln>
            </p:spPr>
            <p:txBody>
              <a:bodyPr/>
              <a:lstStyle/>
              <a:p>
                <a:endParaRPr lang="en-US"/>
              </a:p>
            </p:txBody>
          </p:sp>
          <p:sp>
            <p:nvSpPr>
              <p:cNvPr id="26679" name="Freeform 16"/>
              <p:cNvSpPr>
                <a:spLocks/>
              </p:cNvSpPr>
              <p:nvPr/>
            </p:nvSpPr>
            <p:spPr bwMode="auto">
              <a:xfrm>
                <a:off x="1955" y="3817"/>
                <a:ext cx="45" cy="21"/>
              </a:xfrm>
              <a:custGeom>
                <a:avLst/>
                <a:gdLst>
                  <a:gd name="T0" fmla="*/ 1 w 90"/>
                  <a:gd name="T1" fmla="*/ 0 h 40"/>
                  <a:gd name="T2" fmla="*/ 1 w 90"/>
                  <a:gd name="T3" fmla="*/ 0 h 40"/>
                  <a:gd name="T4" fmla="*/ 1 w 90"/>
                  <a:gd name="T5" fmla="*/ 0 h 40"/>
                  <a:gd name="T6" fmla="*/ 1 w 90"/>
                  <a:gd name="T7" fmla="*/ 1 h 40"/>
                  <a:gd name="T8" fmla="*/ 1 w 90"/>
                  <a:gd name="T9" fmla="*/ 1 h 40"/>
                  <a:gd name="T10" fmla="*/ 1 w 90"/>
                  <a:gd name="T11" fmla="*/ 1 h 40"/>
                  <a:gd name="T12" fmla="*/ 1 w 90"/>
                  <a:gd name="T13" fmla="*/ 1 h 40"/>
                  <a:gd name="T14" fmla="*/ 1 w 90"/>
                  <a:gd name="T15" fmla="*/ 1 h 40"/>
                  <a:gd name="T16" fmla="*/ 1 w 90"/>
                  <a:gd name="T17" fmla="*/ 1 h 40"/>
                  <a:gd name="T18" fmla="*/ 0 w 90"/>
                  <a:gd name="T19" fmla="*/ 1 h 40"/>
                  <a:gd name="T20" fmla="*/ 1 w 90"/>
                  <a:gd name="T21" fmla="*/ 1 h 40"/>
                  <a:gd name="T22" fmla="*/ 1 w 90"/>
                  <a:gd name="T23" fmla="*/ 1 h 40"/>
                  <a:gd name="T24" fmla="*/ 1 w 90"/>
                  <a:gd name="T25" fmla="*/ 1 h 40"/>
                  <a:gd name="T26" fmla="*/ 1 w 90"/>
                  <a:gd name="T27" fmla="*/ 1 h 40"/>
                  <a:gd name="T28" fmla="*/ 1 w 90"/>
                  <a:gd name="T29" fmla="*/ 1 h 40"/>
                  <a:gd name="T30" fmla="*/ 1 w 90"/>
                  <a:gd name="T31" fmla="*/ 1 h 40"/>
                  <a:gd name="T32" fmla="*/ 1 w 90"/>
                  <a:gd name="T33" fmla="*/ 1 h 40"/>
                  <a:gd name="T34" fmla="*/ 1 w 90"/>
                  <a:gd name="T35" fmla="*/ 1 h 40"/>
                  <a:gd name="T36" fmla="*/ 1 w 90"/>
                  <a:gd name="T37" fmla="*/ 1 h 40"/>
                  <a:gd name="T38" fmla="*/ 1 w 90"/>
                  <a:gd name="T39" fmla="*/ 1 h 40"/>
                  <a:gd name="T40" fmla="*/ 1 w 90"/>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0"/>
                  <a:gd name="T64" fmla="*/ 0 h 40"/>
                  <a:gd name="T65" fmla="*/ 90 w 90"/>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0" h="40">
                    <a:moveTo>
                      <a:pt x="90" y="0"/>
                    </a:moveTo>
                    <a:lnTo>
                      <a:pt x="90" y="0"/>
                    </a:lnTo>
                    <a:lnTo>
                      <a:pt x="72" y="0"/>
                    </a:lnTo>
                    <a:lnTo>
                      <a:pt x="54" y="3"/>
                    </a:lnTo>
                    <a:lnTo>
                      <a:pt x="39" y="6"/>
                    </a:lnTo>
                    <a:lnTo>
                      <a:pt x="26" y="9"/>
                    </a:lnTo>
                    <a:lnTo>
                      <a:pt x="15" y="15"/>
                    </a:lnTo>
                    <a:lnTo>
                      <a:pt x="9" y="17"/>
                    </a:lnTo>
                    <a:lnTo>
                      <a:pt x="3" y="20"/>
                    </a:lnTo>
                    <a:lnTo>
                      <a:pt x="0" y="22"/>
                    </a:lnTo>
                    <a:lnTo>
                      <a:pt x="12" y="40"/>
                    </a:lnTo>
                    <a:lnTo>
                      <a:pt x="12" y="39"/>
                    </a:lnTo>
                    <a:lnTo>
                      <a:pt x="15" y="39"/>
                    </a:lnTo>
                    <a:lnTo>
                      <a:pt x="25" y="34"/>
                    </a:lnTo>
                    <a:lnTo>
                      <a:pt x="33" y="31"/>
                    </a:lnTo>
                    <a:lnTo>
                      <a:pt x="45" y="28"/>
                    </a:lnTo>
                    <a:lnTo>
                      <a:pt x="58" y="25"/>
                    </a:lnTo>
                    <a:lnTo>
                      <a:pt x="75" y="22"/>
                    </a:lnTo>
                    <a:lnTo>
                      <a:pt x="90" y="22"/>
                    </a:lnTo>
                    <a:lnTo>
                      <a:pt x="90" y="0"/>
                    </a:lnTo>
                    <a:close/>
                  </a:path>
                </a:pathLst>
              </a:custGeom>
              <a:solidFill>
                <a:srgbClr val="000000"/>
              </a:solidFill>
              <a:ln w="9525">
                <a:noFill/>
                <a:round/>
                <a:headEnd/>
                <a:tailEnd/>
              </a:ln>
            </p:spPr>
            <p:txBody>
              <a:bodyPr/>
              <a:lstStyle/>
              <a:p>
                <a:endParaRPr lang="en-US"/>
              </a:p>
            </p:txBody>
          </p:sp>
          <p:sp>
            <p:nvSpPr>
              <p:cNvPr id="26680" name="Freeform 17"/>
              <p:cNvSpPr>
                <a:spLocks/>
              </p:cNvSpPr>
              <p:nvPr/>
            </p:nvSpPr>
            <p:spPr bwMode="auto">
              <a:xfrm>
                <a:off x="2000" y="3817"/>
                <a:ext cx="77" cy="11"/>
              </a:xfrm>
              <a:custGeom>
                <a:avLst/>
                <a:gdLst>
                  <a:gd name="T0" fmla="*/ 1 w 154"/>
                  <a:gd name="T1" fmla="*/ 1 h 22"/>
                  <a:gd name="T2" fmla="*/ 1 w 154"/>
                  <a:gd name="T3" fmla="*/ 0 h 22"/>
                  <a:gd name="T4" fmla="*/ 1 w 154"/>
                  <a:gd name="T5" fmla="*/ 0 h 22"/>
                  <a:gd name="T6" fmla="*/ 1 w 154"/>
                  <a:gd name="T7" fmla="*/ 0 h 22"/>
                  <a:gd name="T8" fmla="*/ 1 w 154"/>
                  <a:gd name="T9" fmla="*/ 0 h 22"/>
                  <a:gd name="T10" fmla="*/ 1 w 154"/>
                  <a:gd name="T11" fmla="*/ 0 h 22"/>
                  <a:gd name="T12" fmla="*/ 1 w 154"/>
                  <a:gd name="T13" fmla="*/ 0 h 22"/>
                  <a:gd name="T14" fmla="*/ 1 w 154"/>
                  <a:gd name="T15" fmla="*/ 0 h 22"/>
                  <a:gd name="T16" fmla="*/ 1 w 154"/>
                  <a:gd name="T17" fmla="*/ 0 h 22"/>
                  <a:gd name="T18" fmla="*/ 0 w 154"/>
                  <a:gd name="T19" fmla="*/ 0 h 22"/>
                  <a:gd name="T20" fmla="*/ 0 w 154"/>
                  <a:gd name="T21" fmla="*/ 1 h 22"/>
                  <a:gd name="T22" fmla="*/ 1 w 154"/>
                  <a:gd name="T23" fmla="*/ 1 h 22"/>
                  <a:gd name="T24" fmla="*/ 1 w 154"/>
                  <a:gd name="T25" fmla="*/ 1 h 22"/>
                  <a:gd name="T26" fmla="*/ 1 w 154"/>
                  <a:gd name="T27" fmla="*/ 1 h 22"/>
                  <a:gd name="T28" fmla="*/ 1 w 154"/>
                  <a:gd name="T29" fmla="*/ 1 h 22"/>
                  <a:gd name="T30" fmla="*/ 1 w 154"/>
                  <a:gd name="T31" fmla="*/ 1 h 22"/>
                  <a:gd name="T32" fmla="*/ 1 w 154"/>
                  <a:gd name="T33" fmla="*/ 1 h 22"/>
                  <a:gd name="T34" fmla="*/ 1 w 154"/>
                  <a:gd name="T35" fmla="*/ 1 h 22"/>
                  <a:gd name="T36" fmla="*/ 1 w 154"/>
                  <a:gd name="T37" fmla="*/ 1 h 22"/>
                  <a:gd name="T38" fmla="*/ 1 w 154"/>
                  <a:gd name="T39" fmla="*/ 1 h 22"/>
                  <a:gd name="T40" fmla="*/ 1 w 154"/>
                  <a:gd name="T41" fmla="*/ 1 h 22"/>
                  <a:gd name="T42" fmla="*/ 1 w 154"/>
                  <a:gd name="T43" fmla="*/ 1 h 22"/>
                  <a:gd name="T44" fmla="*/ 1 w 154"/>
                  <a:gd name="T45" fmla="*/ 1 h 22"/>
                  <a:gd name="T46" fmla="*/ 1 w 154"/>
                  <a:gd name="T47" fmla="*/ 1 h 22"/>
                  <a:gd name="T48" fmla="*/ 1 w 154"/>
                  <a:gd name="T49" fmla="*/ 0 h 22"/>
                  <a:gd name="T50" fmla="*/ 1 w 154"/>
                  <a:gd name="T51" fmla="*/ 1 h 2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22"/>
                  <a:gd name="T80" fmla="*/ 154 w 154"/>
                  <a:gd name="T81" fmla="*/ 22 h 2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22">
                    <a:moveTo>
                      <a:pt x="154" y="11"/>
                    </a:moveTo>
                    <a:lnTo>
                      <a:pt x="143" y="0"/>
                    </a:lnTo>
                    <a:lnTo>
                      <a:pt x="138" y="0"/>
                    </a:lnTo>
                    <a:lnTo>
                      <a:pt x="127" y="0"/>
                    </a:lnTo>
                    <a:lnTo>
                      <a:pt x="112" y="0"/>
                    </a:lnTo>
                    <a:lnTo>
                      <a:pt x="91" y="0"/>
                    </a:lnTo>
                    <a:lnTo>
                      <a:pt x="68" y="0"/>
                    </a:lnTo>
                    <a:lnTo>
                      <a:pt x="44" y="0"/>
                    </a:lnTo>
                    <a:lnTo>
                      <a:pt x="21" y="0"/>
                    </a:lnTo>
                    <a:lnTo>
                      <a:pt x="0" y="0"/>
                    </a:lnTo>
                    <a:lnTo>
                      <a:pt x="0" y="22"/>
                    </a:lnTo>
                    <a:lnTo>
                      <a:pt x="21" y="22"/>
                    </a:lnTo>
                    <a:lnTo>
                      <a:pt x="44" y="22"/>
                    </a:lnTo>
                    <a:lnTo>
                      <a:pt x="68" y="22"/>
                    </a:lnTo>
                    <a:lnTo>
                      <a:pt x="91" y="22"/>
                    </a:lnTo>
                    <a:lnTo>
                      <a:pt x="112" y="22"/>
                    </a:lnTo>
                    <a:lnTo>
                      <a:pt x="127" y="22"/>
                    </a:lnTo>
                    <a:lnTo>
                      <a:pt x="138" y="22"/>
                    </a:lnTo>
                    <a:lnTo>
                      <a:pt x="143" y="22"/>
                    </a:lnTo>
                    <a:lnTo>
                      <a:pt x="132" y="11"/>
                    </a:lnTo>
                    <a:lnTo>
                      <a:pt x="143" y="22"/>
                    </a:lnTo>
                    <a:lnTo>
                      <a:pt x="151" y="18"/>
                    </a:lnTo>
                    <a:lnTo>
                      <a:pt x="154" y="11"/>
                    </a:lnTo>
                    <a:lnTo>
                      <a:pt x="151" y="3"/>
                    </a:lnTo>
                    <a:lnTo>
                      <a:pt x="143" y="0"/>
                    </a:lnTo>
                    <a:lnTo>
                      <a:pt x="154" y="11"/>
                    </a:lnTo>
                    <a:close/>
                  </a:path>
                </a:pathLst>
              </a:custGeom>
              <a:solidFill>
                <a:srgbClr val="000000"/>
              </a:solidFill>
              <a:ln w="9525">
                <a:noFill/>
                <a:round/>
                <a:headEnd/>
                <a:tailEnd/>
              </a:ln>
            </p:spPr>
            <p:txBody>
              <a:bodyPr/>
              <a:lstStyle/>
              <a:p>
                <a:endParaRPr lang="en-US"/>
              </a:p>
            </p:txBody>
          </p:sp>
          <p:sp>
            <p:nvSpPr>
              <p:cNvPr id="26681" name="Freeform 18"/>
              <p:cNvSpPr>
                <a:spLocks/>
              </p:cNvSpPr>
              <p:nvPr/>
            </p:nvSpPr>
            <p:spPr bwMode="auto">
              <a:xfrm>
                <a:off x="2036" y="3731"/>
                <a:ext cx="42" cy="93"/>
              </a:xfrm>
              <a:custGeom>
                <a:avLst/>
                <a:gdLst>
                  <a:gd name="T0" fmla="*/ 1 w 82"/>
                  <a:gd name="T1" fmla="*/ 1 h 186"/>
                  <a:gd name="T2" fmla="*/ 1 w 82"/>
                  <a:gd name="T3" fmla="*/ 1 h 186"/>
                  <a:gd name="T4" fmla="*/ 1 w 82"/>
                  <a:gd name="T5" fmla="*/ 1 h 186"/>
                  <a:gd name="T6" fmla="*/ 1 w 82"/>
                  <a:gd name="T7" fmla="*/ 1 h 186"/>
                  <a:gd name="T8" fmla="*/ 1 w 82"/>
                  <a:gd name="T9" fmla="*/ 1 h 186"/>
                  <a:gd name="T10" fmla="*/ 1 w 82"/>
                  <a:gd name="T11" fmla="*/ 1 h 186"/>
                  <a:gd name="T12" fmla="*/ 1 w 82"/>
                  <a:gd name="T13" fmla="*/ 1 h 186"/>
                  <a:gd name="T14" fmla="*/ 1 w 82"/>
                  <a:gd name="T15" fmla="*/ 1 h 186"/>
                  <a:gd name="T16" fmla="*/ 1 w 82"/>
                  <a:gd name="T17" fmla="*/ 1 h 186"/>
                  <a:gd name="T18" fmla="*/ 1 w 82"/>
                  <a:gd name="T19" fmla="*/ 1 h 186"/>
                  <a:gd name="T20" fmla="*/ 1 w 82"/>
                  <a:gd name="T21" fmla="*/ 1 h 186"/>
                  <a:gd name="T22" fmla="*/ 1 w 82"/>
                  <a:gd name="T23" fmla="*/ 1 h 186"/>
                  <a:gd name="T24" fmla="*/ 1 w 82"/>
                  <a:gd name="T25" fmla="*/ 1 h 186"/>
                  <a:gd name="T26" fmla="*/ 1 w 82"/>
                  <a:gd name="T27" fmla="*/ 1 h 186"/>
                  <a:gd name="T28" fmla="*/ 1 w 82"/>
                  <a:gd name="T29" fmla="*/ 1 h 186"/>
                  <a:gd name="T30" fmla="*/ 1 w 82"/>
                  <a:gd name="T31" fmla="*/ 1 h 186"/>
                  <a:gd name="T32" fmla="*/ 1 w 82"/>
                  <a:gd name="T33" fmla="*/ 1 h 186"/>
                  <a:gd name="T34" fmla="*/ 1 w 82"/>
                  <a:gd name="T35" fmla="*/ 1 h 186"/>
                  <a:gd name="T36" fmla="*/ 1 w 82"/>
                  <a:gd name="T37" fmla="*/ 1 h 186"/>
                  <a:gd name="T38" fmla="*/ 1 w 82"/>
                  <a:gd name="T39" fmla="*/ 1 h 186"/>
                  <a:gd name="T40" fmla="*/ 1 w 82"/>
                  <a:gd name="T41" fmla="*/ 1 h 186"/>
                  <a:gd name="T42" fmla="*/ 1 w 82"/>
                  <a:gd name="T43" fmla="*/ 1 h 186"/>
                  <a:gd name="T44" fmla="*/ 1 w 82"/>
                  <a:gd name="T45" fmla="*/ 1 h 186"/>
                  <a:gd name="T46" fmla="*/ 1 w 82"/>
                  <a:gd name="T47" fmla="*/ 1 h 186"/>
                  <a:gd name="T48" fmla="*/ 1 w 82"/>
                  <a:gd name="T49" fmla="*/ 1 h 186"/>
                  <a:gd name="T50" fmla="*/ 1 w 82"/>
                  <a:gd name="T51" fmla="*/ 1 h 186"/>
                  <a:gd name="T52" fmla="*/ 1 w 82"/>
                  <a:gd name="T53" fmla="*/ 1 h 186"/>
                  <a:gd name="T54" fmla="*/ 1 w 82"/>
                  <a:gd name="T55" fmla="*/ 1 h 186"/>
                  <a:gd name="T56" fmla="*/ 1 w 82"/>
                  <a:gd name="T57" fmla="*/ 1 h 186"/>
                  <a:gd name="T58" fmla="*/ 1 w 82"/>
                  <a:gd name="T59" fmla="*/ 1 h 186"/>
                  <a:gd name="T60" fmla="*/ 0 w 82"/>
                  <a:gd name="T61" fmla="*/ 1 h 186"/>
                  <a:gd name="T62" fmla="*/ 0 w 82"/>
                  <a:gd name="T63" fmla="*/ 1 h 186"/>
                  <a:gd name="T64" fmla="*/ 0 w 82"/>
                  <a:gd name="T65" fmla="*/ 0 h 186"/>
                  <a:gd name="T66" fmla="*/ 1 w 82"/>
                  <a:gd name="T67" fmla="*/ 1 h 18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2"/>
                  <a:gd name="T103" fmla="*/ 0 h 186"/>
                  <a:gd name="T104" fmla="*/ 82 w 82"/>
                  <a:gd name="T105" fmla="*/ 186 h 18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2" h="186">
                    <a:moveTo>
                      <a:pt x="82" y="22"/>
                    </a:moveTo>
                    <a:lnTo>
                      <a:pt x="82" y="23"/>
                    </a:lnTo>
                    <a:lnTo>
                      <a:pt x="81" y="29"/>
                    </a:lnTo>
                    <a:lnTo>
                      <a:pt x="79" y="37"/>
                    </a:lnTo>
                    <a:lnTo>
                      <a:pt x="78" y="48"/>
                    </a:lnTo>
                    <a:lnTo>
                      <a:pt x="76" y="61"/>
                    </a:lnTo>
                    <a:lnTo>
                      <a:pt x="75" y="75"/>
                    </a:lnTo>
                    <a:lnTo>
                      <a:pt x="75" y="90"/>
                    </a:lnTo>
                    <a:lnTo>
                      <a:pt x="75" y="106"/>
                    </a:lnTo>
                    <a:lnTo>
                      <a:pt x="75" y="122"/>
                    </a:lnTo>
                    <a:lnTo>
                      <a:pt x="76" y="136"/>
                    </a:lnTo>
                    <a:lnTo>
                      <a:pt x="76" y="148"/>
                    </a:lnTo>
                    <a:lnTo>
                      <a:pt x="76" y="159"/>
                    </a:lnTo>
                    <a:lnTo>
                      <a:pt x="78" y="169"/>
                    </a:lnTo>
                    <a:lnTo>
                      <a:pt x="78" y="175"/>
                    </a:lnTo>
                    <a:lnTo>
                      <a:pt x="78" y="180"/>
                    </a:lnTo>
                    <a:lnTo>
                      <a:pt x="78" y="181"/>
                    </a:lnTo>
                    <a:lnTo>
                      <a:pt x="76" y="181"/>
                    </a:lnTo>
                    <a:lnTo>
                      <a:pt x="70" y="183"/>
                    </a:lnTo>
                    <a:lnTo>
                      <a:pt x="62" y="183"/>
                    </a:lnTo>
                    <a:lnTo>
                      <a:pt x="53" y="184"/>
                    </a:lnTo>
                    <a:lnTo>
                      <a:pt x="43" y="186"/>
                    </a:lnTo>
                    <a:lnTo>
                      <a:pt x="32" y="186"/>
                    </a:lnTo>
                    <a:lnTo>
                      <a:pt x="25" y="186"/>
                    </a:lnTo>
                    <a:lnTo>
                      <a:pt x="17" y="184"/>
                    </a:lnTo>
                    <a:lnTo>
                      <a:pt x="10" y="175"/>
                    </a:lnTo>
                    <a:lnTo>
                      <a:pt x="7" y="153"/>
                    </a:lnTo>
                    <a:lnTo>
                      <a:pt x="4" y="123"/>
                    </a:lnTo>
                    <a:lnTo>
                      <a:pt x="1" y="90"/>
                    </a:lnTo>
                    <a:lnTo>
                      <a:pt x="1" y="58"/>
                    </a:lnTo>
                    <a:lnTo>
                      <a:pt x="0" y="28"/>
                    </a:lnTo>
                    <a:lnTo>
                      <a:pt x="0" y="7"/>
                    </a:lnTo>
                    <a:lnTo>
                      <a:pt x="0" y="0"/>
                    </a:lnTo>
                    <a:lnTo>
                      <a:pt x="82" y="22"/>
                    </a:lnTo>
                    <a:close/>
                  </a:path>
                </a:pathLst>
              </a:custGeom>
              <a:solidFill>
                <a:srgbClr val="00FFB2"/>
              </a:solidFill>
              <a:ln w="9525">
                <a:noFill/>
                <a:round/>
                <a:headEnd/>
                <a:tailEnd/>
              </a:ln>
            </p:spPr>
            <p:txBody>
              <a:bodyPr/>
              <a:lstStyle/>
              <a:p>
                <a:endParaRPr lang="en-US"/>
              </a:p>
            </p:txBody>
          </p:sp>
          <p:sp>
            <p:nvSpPr>
              <p:cNvPr id="26682" name="Freeform 19"/>
              <p:cNvSpPr>
                <a:spLocks/>
              </p:cNvSpPr>
              <p:nvPr/>
            </p:nvSpPr>
            <p:spPr bwMode="auto">
              <a:xfrm>
                <a:off x="2068" y="3741"/>
                <a:ext cx="15" cy="44"/>
              </a:xfrm>
              <a:custGeom>
                <a:avLst/>
                <a:gdLst>
                  <a:gd name="T0" fmla="*/ 1 w 29"/>
                  <a:gd name="T1" fmla="*/ 1 h 88"/>
                  <a:gd name="T2" fmla="*/ 1 w 29"/>
                  <a:gd name="T3" fmla="*/ 1 h 88"/>
                  <a:gd name="T4" fmla="*/ 1 w 29"/>
                  <a:gd name="T5" fmla="*/ 1 h 88"/>
                  <a:gd name="T6" fmla="*/ 1 w 29"/>
                  <a:gd name="T7" fmla="*/ 1 h 88"/>
                  <a:gd name="T8" fmla="*/ 1 w 29"/>
                  <a:gd name="T9" fmla="*/ 1 h 88"/>
                  <a:gd name="T10" fmla="*/ 1 w 29"/>
                  <a:gd name="T11" fmla="*/ 1 h 88"/>
                  <a:gd name="T12" fmla="*/ 1 w 29"/>
                  <a:gd name="T13" fmla="*/ 1 h 88"/>
                  <a:gd name="T14" fmla="*/ 1 w 29"/>
                  <a:gd name="T15" fmla="*/ 1 h 88"/>
                  <a:gd name="T16" fmla="*/ 1 w 29"/>
                  <a:gd name="T17" fmla="*/ 1 h 88"/>
                  <a:gd name="T18" fmla="*/ 1 w 29"/>
                  <a:gd name="T19" fmla="*/ 1 h 88"/>
                  <a:gd name="T20" fmla="*/ 1 w 29"/>
                  <a:gd name="T21" fmla="*/ 0 h 88"/>
                  <a:gd name="T22" fmla="*/ 1 w 29"/>
                  <a:gd name="T23" fmla="*/ 1 h 88"/>
                  <a:gd name="T24" fmla="*/ 1 w 29"/>
                  <a:gd name="T25" fmla="*/ 1 h 88"/>
                  <a:gd name="T26" fmla="*/ 1 w 29"/>
                  <a:gd name="T27" fmla="*/ 1 h 88"/>
                  <a:gd name="T28" fmla="*/ 1 w 29"/>
                  <a:gd name="T29" fmla="*/ 1 h 88"/>
                  <a:gd name="T30" fmla="*/ 1 w 29"/>
                  <a:gd name="T31" fmla="*/ 1 h 88"/>
                  <a:gd name="T32" fmla="*/ 0 w 29"/>
                  <a:gd name="T33" fmla="*/ 1 h 88"/>
                  <a:gd name="T34" fmla="*/ 0 w 29"/>
                  <a:gd name="T35" fmla="*/ 1 h 88"/>
                  <a:gd name="T36" fmla="*/ 0 w 29"/>
                  <a:gd name="T37" fmla="*/ 1 h 88"/>
                  <a:gd name="T38" fmla="*/ 0 w 29"/>
                  <a:gd name="T39" fmla="*/ 1 h 88"/>
                  <a:gd name="T40" fmla="*/ 1 w 29"/>
                  <a:gd name="T41" fmla="*/ 1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9"/>
                  <a:gd name="T64" fmla="*/ 0 h 88"/>
                  <a:gd name="T65" fmla="*/ 29 w 29"/>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9" h="88">
                    <a:moveTo>
                      <a:pt x="22" y="88"/>
                    </a:moveTo>
                    <a:lnTo>
                      <a:pt x="22" y="88"/>
                    </a:lnTo>
                    <a:lnTo>
                      <a:pt x="22" y="72"/>
                    </a:lnTo>
                    <a:lnTo>
                      <a:pt x="22" y="57"/>
                    </a:lnTo>
                    <a:lnTo>
                      <a:pt x="23" y="44"/>
                    </a:lnTo>
                    <a:lnTo>
                      <a:pt x="25" y="32"/>
                    </a:lnTo>
                    <a:lnTo>
                      <a:pt x="26" y="21"/>
                    </a:lnTo>
                    <a:lnTo>
                      <a:pt x="28" y="14"/>
                    </a:lnTo>
                    <a:lnTo>
                      <a:pt x="29" y="7"/>
                    </a:lnTo>
                    <a:lnTo>
                      <a:pt x="8" y="0"/>
                    </a:lnTo>
                    <a:lnTo>
                      <a:pt x="8" y="4"/>
                    </a:lnTo>
                    <a:lnTo>
                      <a:pt x="6" y="8"/>
                    </a:lnTo>
                    <a:lnTo>
                      <a:pt x="4" y="18"/>
                    </a:lnTo>
                    <a:lnTo>
                      <a:pt x="3" y="29"/>
                    </a:lnTo>
                    <a:lnTo>
                      <a:pt x="1" y="41"/>
                    </a:lnTo>
                    <a:lnTo>
                      <a:pt x="0" y="57"/>
                    </a:lnTo>
                    <a:lnTo>
                      <a:pt x="0" y="72"/>
                    </a:lnTo>
                    <a:lnTo>
                      <a:pt x="0" y="88"/>
                    </a:lnTo>
                    <a:lnTo>
                      <a:pt x="22" y="88"/>
                    </a:lnTo>
                    <a:close/>
                  </a:path>
                </a:pathLst>
              </a:custGeom>
              <a:solidFill>
                <a:srgbClr val="000000"/>
              </a:solidFill>
              <a:ln w="9525">
                <a:noFill/>
                <a:round/>
                <a:headEnd/>
                <a:tailEnd/>
              </a:ln>
            </p:spPr>
            <p:txBody>
              <a:bodyPr/>
              <a:lstStyle/>
              <a:p>
                <a:endParaRPr lang="en-US"/>
              </a:p>
            </p:txBody>
          </p:sp>
          <p:sp>
            <p:nvSpPr>
              <p:cNvPr id="26683" name="Freeform 20"/>
              <p:cNvSpPr>
                <a:spLocks/>
              </p:cNvSpPr>
              <p:nvPr/>
            </p:nvSpPr>
            <p:spPr bwMode="auto">
              <a:xfrm>
                <a:off x="2068" y="3785"/>
                <a:ext cx="13" cy="43"/>
              </a:xfrm>
              <a:custGeom>
                <a:avLst/>
                <a:gdLst>
                  <a:gd name="T0" fmla="*/ 1 w 25"/>
                  <a:gd name="T1" fmla="*/ 1 h 86"/>
                  <a:gd name="T2" fmla="*/ 1 w 25"/>
                  <a:gd name="T3" fmla="*/ 1 h 86"/>
                  <a:gd name="T4" fmla="*/ 1 w 25"/>
                  <a:gd name="T5" fmla="*/ 1 h 86"/>
                  <a:gd name="T6" fmla="*/ 1 w 25"/>
                  <a:gd name="T7" fmla="*/ 1 h 86"/>
                  <a:gd name="T8" fmla="*/ 1 w 25"/>
                  <a:gd name="T9" fmla="*/ 1 h 86"/>
                  <a:gd name="T10" fmla="*/ 1 w 25"/>
                  <a:gd name="T11" fmla="*/ 1 h 86"/>
                  <a:gd name="T12" fmla="*/ 1 w 25"/>
                  <a:gd name="T13" fmla="*/ 1 h 86"/>
                  <a:gd name="T14" fmla="*/ 1 w 25"/>
                  <a:gd name="T15" fmla="*/ 1 h 86"/>
                  <a:gd name="T16" fmla="*/ 1 w 25"/>
                  <a:gd name="T17" fmla="*/ 1 h 86"/>
                  <a:gd name="T18" fmla="*/ 1 w 25"/>
                  <a:gd name="T19" fmla="*/ 0 h 86"/>
                  <a:gd name="T20" fmla="*/ 0 w 25"/>
                  <a:gd name="T21" fmla="*/ 0 h 86"/>
                  <a:gd name="T22" fmla="*/ 0 w 25"/>
                  <a:gd name="T23" fmla="*/ 1 h 86"/>
                  <a:gd name="T24" fmla="*/ 1 w 25"/>
                  <a:gd name="T25" fmla="*/ 1 h 86"/>
                  <a:gd name="T26" fmla="*/ 1 w 25"/>
                  <a:gd name="T27" fmla="*/ 1 h 86"/>
                  <a:gd name="T28" fmla="*/ 1 w 25"/>
                  <a:gd name="T29" fmla="*/ 1 h 86"/>
                  <a:gd name="T30" fmla="*/ 1 w 25"/>
                  <a:gd name="T31" fmla="*/ 1 h 86"/>
                  <a:gd name="T32" fmla="*/ 1 w 25"/>
                  <a:gd name="T33" fmla="*/ 1 h 86"/>
                  <a:gd name="T34" fmla="*/ 1 w 25"/>
                  <a:gd name="T35" fmla="*/ 1 h 86"/>
                  <a:gd name="T36" fmla="*/ 1 w 25"/>
                  <a:gd name="T37" fmla="*/ 1 h 86"/>
                  <a:gd name="T38" fmla="*/ 1 w 25"/>
                  <a:gd name="T39" fmla="*/ 1 h 86"/>
                  <a:gd name="T40" fmla="*/ 1 w 25"/>
                  <a:gd name="T41" fmla="*/ 1 h 86"/>
                  <a:gd name="T42" fmla="*/ 1 w 25"/>
                  <a:gd name="T43" fmla="*/ 1 h 86"/>
                  <a:gd name="T44" fmla="*/ 1 w 25"/>
                  <a:gd name="T45" fmla="*/ 1 h 86"/>
                  <a:gd name="T46" fmla="*/ 1 w 25"/>
                  <a:gd name="T47" fmla="*/ 1 h 86"/>
                  <a:gd name="T48" fmla="*/ 1 w 25"/>
                  <a:gd name="T49" fmla="*/ 1 h 86"/>
                  <a:gd name="T50" fmla="*/ 1 w 25"/>
                  <a:gd name="T51" fmla="*/ 1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
                  <a:gd name="T79" fmla="*/ 0 h 86"/>
                  <a:gd name="T80" fmla="*/ 25 w 25"/>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 h="86">
                    <a:moveTo>
                      <a:pt x="15" y="86"/>
                    </a:moveTo>
                    <a:lnTo>
                      <a:pt x="25" y="75"/>
                    </a:lnTo>
                    <a:lnTo>
                      <a:pt x="25" y="74"/>
                    </a:lnTo>
                    <a:lnTo>
                      <a:pt x="25" y="69"/>
                    </a:lnTo>
                    <a:lnTo>
                      <a:pt x="25" y="61"/>
                    </a:lnTo>
                    <a:lnTo>
                      <a:pt x="23" y="52"/>
                    </a:lnTo>
                    <a:lnTo>
                      <a:pt x="23" y="42"/>
                    </a:lnTo>
                    <a:lnTo>
                      <a:pt x="23" y="30"/>
                    </a:lnTo>
                    <a:lnTo>
                      <a:pt x="22" y="16"/>
                    </a:lnTo>
                    <a:lnTo>
                      <a:pt x="22" y="0"/>
                    </a:lnTo>
                    <a:lnTo>
                      <a:pt x="0" y="0"/>
                    </a:lnTo>
                    <a:lnTo>
                      <a:pt x="0" y="16"/>
                    </a:lnTo>
                    <a:lnTo>
                      <a:pt x="1" y="30"/>
                    </a:lnTo>
                    <a:lnTo>
                      <a:pt x="1" y="42"/>
                    </a:lnTo>
                    <a:lnTo>
                      <a:pt x="1" y="55"/>
                    </a:lnTo>
                    <a:lnTo>
                      <a:pt x="3" y="64"/>
                    </a:lnTo>
                    <a:lnTo>
                      <a:pt x="3" y="69"/>
                    </a:lnTo>
                    <a:lnTo>
                      <a:pt x="3" y="74"/>
                    </a:lnTo>
                    <a:lnTo>
                      <a:pt x="3" y="75"/>
                    </a:lnTo>
                    <a:lnTo>
                      <a:pt x="12" y="64"/>
                    </a:lnTo>
                    <a:lnTo>
                      <a:pt x="3" y="75"/>
                    </a:lnTo>
                    <a:lnTo>
                      <a:pt x="6" y="83"/>
                    </a:lnTo>
                    <a:lnTo>
                      <a:pt x="14" y="86"/>
                    </a:lnTo>
                    <a:lnTo>
                      <a:pt x="22" y="83"/>
                    </a:lnTo>
                    <a:lnTo>
                      <a:pt x="25" y="75"/>
                    </a:lnTo>
                    <a:lnTo>
                      <a:pt x="15" y="86"/>
                    </a:lnTo>
                    <a:close/>
                  </a:path>
                </a:pathLst>
              </a:custGeom>
              <a:solidFill>
                <a:srgbClr val="000000"/>
              </a:solidFill>
              <a:ln w="9525">
                <a:noFill/>
                <a:round/>
                <a:headEnd/>
                <a:tailEnd/>
              </a:ln>
            </p:spPr>
            <p:txBody>
              <a:bodyPr/>
              <a:lstStyle/>
              <a:p>
                <a:endParaRPr lang="en-US"/>
              </a:p>
            </p:txBody>
          </p:sp>
          <p:sp>
            <p:nvSpPr>
              <p:cNvPr id="26684" name="Freeform 21"/>
              <p:cNvSpPr>
                <a:spLocks/>
              </p:cNvSpPr>
              <p:nvPr/>
            </p:nvSpPr>
            <p:spPr bwMode="auto">
              <a:xfrm>
                <a:off x="2043" y="3817"/>
                <a:ext cx="33" cy="13"/>
              </a:xfrm>
              <a:custGeom>
                <a:avLst/>
                <a:gdLst>
                  <a:gd name="T0" fmla="*/ 0 w 65"/>
                  <a:gd name="T1" fmla="*/ 0 h 27"/>
                  <a:gd name="T2" fmla="*/ 0 w 65"/>
                  <a:gd name="T3" fmla="*/ 0 h 27"/>
                  <a:gd name="T4" fmla="*/ 1 w 65"/>
                  <a:gd name="T5" fmla="*/ 0 h 27"/>
                  <a:gd name="T6" fmla="*/ 1 w 65"/>
                  <a:gd name="T7" fmla="*/ 0 h 27"/>
                  <a:gd name="T8" fmla="*/ 1 w 65"/>
                  <a:gd name="T9" fmla="*/ 0 h 27"/>
                  <a:gd name="T10" fmla="*/ 1 w 65"/>
                  <a:gd name="T11" fmla="*/ 0 h 27"/>
                  <a:gd name="T12" fmla="*/ 1 w 65"/>
                  <a:gd name="T13" fmla="*/ 0 h 27"/>
                  <a:gd name="T14" fmla="*/ 1 w 65"/>
                  <a:gd name="T15" fmla="*/ 0 h 27"/>
                  <a:gd name="T16" fmla="*/ 1 w 65"/>
                  <a:gd name="T17" fmla="*/ 0 h 27"/>
                  <a:gd name="T18" fmla="*/ 1 w 65"/>
                  <a:gd name="T19" fmla="*/ 0 h 27"/>
                  <a:gd name="T20" fmla="*/ 1 w 65"/>
                  <a:gd name="T21" fmla="*/ 0 h 27"/>
                  <a:gd name="T22" fmla="*/ 1 w 65"/>
                  <a:gd name="T23" fmla="*/ 0 h 27"/>
                  <a:gd name="T24" fmla="*/ 1 w 65"/>
                  <a:gd name="T25" fmla="*/ 0 h 27"/>
                  <a:gd name="T26" fmla="*/ 1 w 65"/>
                  <a:gd name="T27" fmla="*/ 0 h 27"/>
                  <a:gd name="T28" fmla="*/ 1 w 65"/>
                  <a:gd name="T29" fmla="*/ 0 h 27"/>
                  <a:gd name="T30" fmla="*/ 1 w 65"/>
                  <a:gd name="T31" fmla="*/ 0 h 27"/>
                  <a:gd name="T32" fmla="*/ 1 w 65"/>
                  <a:gd name="T33" fmla="*/ 0 h 27"/>
                  <a:gd name="T34" fmla="*/ 1 w 65"/>
                  <a:gd name="T35" fmla="*/ 0 h 27"/>
                  <a:gd name="T36" fmla="*/ 1 w 65"/>
                  <a:gd name="T37" fmla="*/ 0 h 27"/>
                  <a:gd name="T38" fmla="*/ 1 w 65"/>
                  <a:gd name="T39" fmla="*/ 0 h 27"/>
                  <a:gd name="T40" fmla="*/ 0 w 65"/>
                  <a:gd name="T41" fmla="*/ 0 h 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
                  <a:gd name="T64" fmla="*/ 0 h 27"/>
                  <a:gd name="T65" fmla="*/ 65 w 65"/>
                  <a:gd name="T66" fmla="*/ 27 h 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 h="27">
                    <a:moveTo>
                      <a:pt x="0" y="25"/>
                    </a:moveTo>
                    <a:lnTo>
                      <a:pt x="0" y="25"/>
                    </a:lnTo>
                    <a:lnTo>
                      <a:pt x="9" y="27"/>
                    </a:lnTo>
                    <a:lnTo>
                      <a:pt x="18" y="27"/>
                    </a:lnTo>
                    <a:lnTo>
                      <a:pt x="31" y="27"/>
                    </a:lnTo>
                    <a:lnTo>
                      <a:pt x="40" y="25"/>
                    </a:lnTo>
                    <a:lnTo>
                      <a:pt x="50" y="24"/>
                    </a:lnTo>
                    <a:lnTo>
                      <a:pt x="58" y="24"/>
                    </a:lnTo>
                    <a:lnTo>
                      <a:pt x="64" y="22"/>
                    </a:lnTo>
                    <a:lnTo>
                      <a:pt x="65" y="22"/>
                    </a:lnTo>
                    <a:lnTo>
                      <a:pt x="62" y="0"/>
                    </a:lnTo>
                    <a:lnTo>
                      <a:pt x="61" y="0"/>
                    </a:lnTo>
                    <a:lnTo>
                      <a:pt x="54" y="2"/>
                    </a:lnTo>
                    <a:lnTo>
                      <a:pt x="47" y="2"/>
                    </a:lnTo>
                    <a:lnTo>
                      <a:pt x="37" y="3"/>
                    </a:lnTo>
                    <a:lnTo>
                      <a:pt x="28" y="5"/>
                    </a:lnTo>
                    <a:lnTo>
                      <a:pt x="18" y="5"/>
                    </a:lnTo>
                    <a:lnTo>
                      <a:pt x="12" y="5"/>
                    </a:lnTo>
                    <a:lnTo>
                      <a:pt x="6" y="3"/>
                    </a:lnTo>
                    <a:lnTo>
                      <a:pt x="0" y="25"/>
                    </a:lnTo>
                    <a:close/>
                  </a:path>
                </a:pathLst>
              </a:custGeom>
              <a:solidFill>
                <a:srgbClr val="000000"/>
              </a:solidFill>
              <a:ln w="9525">
                <a:noFill/>
                <a:round/>
                <a:headEnd/>
                <a:tailEnd/>
              </a:ln>
            </p:spPr>
            <p:txBody>
              <a:bodyPr/>
              <a:lstStyle/>
              <a:p>
                <a:endParaRPr lang="en-US"/>
              </a:p>
            </p:txBody>
          </p:sp>
          <p:sp>
            <p:nvSpPr>
              <p:cNvPr id="26685" name="Freeform 22"/>
              <p:cNvSpPr>
                <a:spLocks/>
              </p:cNvSpPr>
              <p:nvPr/>
            </p:nvSpPr>
            <p:spPr bwMode="auto">
              <a:xfrm>
                <a:off x="2031" y="3726"/>
                <a:ext cx="16" cy="103"/>
              </a:xfrm>
              <a:custGeom>
                <a:avLst/>
                <a:gdLst>
                  <a:gd name="T0" fmla="*/ 1 w 32"/>
                  <a:gd name="T1" fmla="*/ 0 h 206"/>
                  <a:gd name="T2" fmla="*/ 0 w 32"/>
                  <a:gd name="T3" fmla="*/ 1 h 206"/>
                  <a:gd name="T4" fmla="*/ 0 w 32"/>
                  <a:gd name="T5" fmla="*/ 1 h 206"/>
                  <a:gd name="T6" fmla="*/ 0 w 32"/>
                  <a:gd name="T7" fmla="*/ 1 h 206"/>
                  <a:gd name="T8" fmla="*/ 1 w 32"/>
                  <a:gd name="T9" fmla="*/ 1 h 206"/>
                  <a:gd name="T10" fmla="*/ 1 w 32"/>
                  <a:gd name="T11" fmla="*/ 1 h 206"/>
                  <a:gd name="T12" fmla="*/ 1 w 32"/>
                  <a:gd name="T13" fmla="*/ 1 h 206"/>
                  <a:gd name="T14" fmla="*/ 1 w 32"/>
                  <a:gd name="T15" fmla="*/ 1 h 206"/>
                  <a:gd name="T16" fmla="*/ 1 w 32"/>
                  <a:gd name="T17" fmla="*/ 1 h 206"/>
                  <a:gd name="T18" fmla="*/ 1 w 32"/>
                  <a:gd name="T19" fmla="*/ 1 h 206"/>
                  <a:gd name="T20" fmla="*/ 1 w 32"/>
                  <a:gd name="T21" fmla="*/ 1 h 206"/>
                  <a:gd name="T22" fmla="*/ 1 w 32"/>
                  <a:gd name="T23" fmla="*/ 1 h 206"/>
                  <a:gd name="T24" fmla="*/ 1 w 32"/>
                  <a:gd name="T25" fmla="*/ 1 h 206"/>
                  <a:gd name="T26" fmla="*/ 1 w 32"/>
                  <a:gd name="T27" fmla="*/ 1 h 206"/>
                  <a:gd name="T28" fmla="*/ 1 w 32"/>
                  <a:gd name="T29" fmla="*/ 1 h 206"/>
                  <a:gd name="T30" fmla="*/ 1 w 32"/>
                  <a:gd name="T31" fmla="*/ 1 h 206"/>
                  <a:gd name="T32" fmla="*/ 1 w 32"/>
                  <a:gd name="T33" fmla="*/ 1 h 206"/>
                  <a:gd name="T34" fmla="*/ 1 w 32"/>
                  <a:gd name="T35" fmla="*/ 1 h 206"/>
                  <a:gd name="T36" fmla="*/ 1 w 32"/>
                  <a:gd name="T37" fmla="*/ 1 h 206"/>
                  <a:gd name="T38" fmla="*/ 1 w 32"/>
                  <a:gd name="T39" fmla="*/ 1 h 206"/>
                  <a:gd name="T40" fmla="*/ 1 w 32"/>
                  <a:gd name="T41" fmla="*/ 1 h 206"/>
                  <a:gd name="T42" fmla="*/ 1 w 32"/>
                  <a:gd name="T43" fmla="*/ 1 h 206"/>
                  <a:gd name="T44" fmla="*/ 1 w 32"/>
                  <a:gd name="T45" fmla="*/ 0 h 206"/>
                  <a:gd name="T46" fmla="*/ 1 w 32"/>
                  <a:gd name="T47" fmla="*/ 1 h 206"/>
                  <a:gd name="T48" fmla="*/ 0 w 32"/>
                  <a:gd name="T49" fmla="*/ 1 h 206"/>
                  <a:gd name="T50" fmla="*/ 1 w 32"/>
                  <a:gd name="T51" fmla="*/ 0 h 20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
                  <a:gd name="T79" fmla="*/ 0 h 206"/>
                  <a:gd name="T80" fmla="*/ 32 w 32"/>
                  <a:gd name="T81" fmla="*/ 206 h 20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 h="206">
                    <a:moveTo>
                      <a:pt x="14" y="0"/>
                    </a:moveTo>
                    <a:lnTo>
                      <a:pt x="0" y="11"/>
                    </a:lnTo>
                    <a:lnTo>
                      <a:pt x="0" y="18"/>
                    </a:lnTo>
                    <a:lnTo>
                      <a:pt x="0" y="39"/>
                    </a:lnTo>
                    <a:lnTo>
                      <a:pt x="1" y="69"/>
                    </a:lnTo>
                    <a:lnTo>
                      <a:pt x="1" y="101"/>
                    </a:lnTo>
                    <a:lnTo>
                      <a:pt x="4" y="136"/>
                    </a:lnTo>
                    <a:lnTo>
                      <a:pt x="7" y="166"/>
                    </a:lnTo>
                    <a:lnTo>
                      <a:pt x="11" y="189"/>
                    </a:lnTo>
                    <a:lnTo>
                      <a:pt x="25" y="206"/>
                    </a:lnTo>
                    <a:lnTo>
                      <a:pt x="31" y="184"/>
                    </a:lnTo>
                    <a:lnTo>
                      <a:pt x="32" y="183"/>
                    </a:lnTo>
                    <a:lnTo>
                      <a:pt x="29" y="162"/>
                    </a:lnTo>
                    <a:lnTo>
                      <a:pt x="26" y="133"/>
                    </a:lnTo>
                    <a:lnTo>
                      <a:pt x="23" y="101"/>
                    </a:lnTo>
                    <a:lnTo>
                      <a:pt x="23" y="69"/>
                    </a:lnTo>
                    <a:lnTo>
                      <a:pt x="21" y="39"/>
                    </a:lnTo>
                    <a:lnTo>
                      <a:pt x="21" y="18"/>
                    </a:lnTo>
                    <a:lnTo>
                      <a:pt x="21" y="11"/>
                    </a:lnTo>
                    <a:lnTo>
                      <a:pt x="7" y="22"/>
                    </a:lnTo>
                    <a:lnTo>
                      <a:pt x="21" y="11"/>
                    </a:lnTo>
                    <a:lnTo>
                      <a:pt x="18" y="3"/>
                    </a:lnTo>
                    <a:lnTo>
                      <a:pt x="11" y="0"/>
                    </a:lnTo>
                    <a:lnTo>
                      <a:pt x="3" y="3"/>
                    </a:lnTo>
                    <a:lnTo>
                      <a:pt x="0" y="11"/>
                    </a:lnTo>
                    <a:lnTo>
                      <a:pt x="14" y="0"/>
                    </a:lnTo>
                    <a:close/>
                  </a:path>
                </a:pathLst>
              </a:custGeom>
              <a:solidFill>
                <a:srgbClr val="000000"/>
              </a:solidFill>
              <a:ln w="9525">
                <a:noFill/>
                <a:round/>
                <a:headEnd/>
                <a:tailEnd/>
              </a:ln>
            </p:spPr>
            <p:txBody>
              <a:bodyPr/>
              <a:lstStyle/>
              <a:p>
                <a:endParaRPr lang="en-US"/>
              </a:p>
            </p:txBody>
          </p:sp>
          <p:sp>
            <p:nvSpPr>
              <p:cNvPr id="26686" name="Freeform 23"/>
              <p:cNvSpPr>
                <a:spLocks/>
              </p:cNvSpPr>
              <p:nvPr/>
            </p:nvSpPr>
            <p:spPr bwMode="auto">
              <a:xfrm>
                <a:off x="2035" y="3726"/>
                <a:ext cx="48" cy="22"/>
              </a:xfrm>
              <a:custGeom>
                <a:avLst/>
                <a:gdLst>
                  <a:gd name="T0" fmla="*/ 0 w 97"/>
                  <a:gd name="T1" fmla="*/ 1 h 43"/>
                  <a:gd name="T2" fmla="*/ 0 w 97"/>
                  <a:gd name="T3" fmla="*/ 1 h 43"/>
                  <a:gd name="T4" fmla="*/ 0 w 97"/>
                  <a:gd name="T5" fmla="*/ 0 h 43"/>
                  <a:gd name="T6" fmla="*/ 0 w 97"/>
                  <a:gd name="T7" fmla="*/ 1 h 43"/>
                  <a:gd name="T8" fmla="*/ 0 w 97"/>
                  <a:gd name="T9" fmla="*/ 1 h 43"/>
                  <a:gd name="T10" fmla="*/ 0 w 97"/>
                  <a:gd name="T11" fmla="*/ 1 h 43"/>
                  <a:gd name="T12" fmla="*/ 0 w 97"/>
                  <a:gd name="T13" fmla="*/ 1 h 43"/>
                  <a:gd name="T14" fmla="*/ 0 w 97"/>
                  <a:gd name="T15" fmla="*/ 1 h 43"/>
                  <a:gd name="T16" fmla="*/ 0 w 97"/>
                  <a:gd name="T17" fmla="*/ 1 h 43"/>
                  <a:gd name="T18" fmla="*/ 0 w 97"/>
                  <a:gd name="T19" fmla="*/ 1 h 43"/>
                  <a:gd name="T20" fmla="*/ 0 w 97"/>
                  <a:gd name="T21" fmla="*/ 1 h 43"/>
                  <a:gd name="T22" fmla="*/ 0 w 97"/>
                  <a:gd name="T23" fmla="*/ 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7"/>
                  <a:gd name="T37" fmla="*/ 0 h 43"/>
                  <a:gd name="T38" fmla="*/ 97 w 97"/>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7" h="43">
                    <a:moveTo>
                      <a:pt x="97" y="36"/>
                    </a:moveTo>
                    <a:lnTo>
                      <a:pt x="90" y="22"/>
                    </a:lnTo>
                    <a:lnTo>
                      <a:pt x="7" y="0"/>
                    </a:lnTo>
                    <a:lnTo>
                      <a:pt x="0" y="22"/>
                    </a:lnTo>
                    <a:lnTo>
                      <a:pt x="83" y="43"/>
                    </a:lnTo>
                    <a:lnTo>
                      <a:pt x="76" y="29"/>
                    </a:lnTo>
                    <a:lnTo>
                      <a:pt x="83" y="43"/>
                    </a:lnTo>
                    <a:lnTo>
                      <a:pt x="93" y="42"/>
                    </a:lnTo>
                    <a:lnTo>
                      <a:pt x="97" y="34"/>
                    </a:lnTo>
                    <a:lnTo>
                      <a:pt x="96" y="26"/>
                    </a:lnTo>
                    <a:lnTo>
                      <a:pt x="90" y="22"/>
                    </a:lnTo>
                    <a:lnTo>
                      <a:pt x="97" y="36"/>
                    </a:lnTo>
                    <a:close/>
                  </a:path>
                </a:pathLst>
              </a:custGeom>
              <a:solidFill>
                <a:srgbClr val="000000"/>
              </a:solidFill>
              <a:ln w="9525">
                <a:noFill/>
                <a:round/>
                <a:headEnd/>
                <a:tailEnd/>
              </a:ln>
            </p:spPr>
            <p:txBody>
              <a:bodyPr/>
              <a:lstStyle/>
              <a:p>
                <a:endParaRPr lang="en-US"/>
              </a:p>
            </p:txBody>
          </p:sp>
          <p:sp>
            <p:nvSpPr>
              <p:cNvPr id="26687" name="Freeform 24"/>
              <p:cNvSpPr>
                <a:spLocks/>
              </p:cNvSpPr>
              <p:nvPr/>
            </p:nvSpPr>
            <p:spPr bwMode="auto">
              <a:xfrm>
                <a:off x="2099" y="3720"/>
                <a:ext cx="156" cy="50"/>
              </a:xfrm>
              <a:custGeom>
                <a:avLst/>
                <a:gdLst>
                  <a:gd name="T0" fmla="*/ 0 w 311"/>
                  <a:gd name="T1" fmla="*/ 1 h 98"/>
                  <a:gd name="T2" fmla="*/ 0 w 311"/>
                  <a:gd name="T3" fmla="*/ 1 h 98"/>
                  <a:gd name="T4" fmla="*/ 1 w 311"/>
                  <a:gd name="T5" fmla="*/ 1 h 98"/>
                  <a:gd name="T6" fmla="*/ 1 w 311"/>
                  <a:gd name="T7" fmla="*/ 1 h 98"/>
                  <a:gd name="T8" fmla="*/ 1 w 311"/>
                  <a:gd name="T9" fmla="*/ 1 h 98"/>
                  <a:gd name="T10" fmla="*/ 1 w 311"/>
                  <a:gd name="T11" fmla="*/ 1 h 98"/>
                  <a:gd name="T12" fmla="*/ 1 w 311"/>
                  <a:gd name="T13" fmla="*/ 1 h 98"/>
                  <a:gd name="T14" fmla="*/ 1 w 311"/>
                  <a:gd name="T15" fmla="*/ 1 h 98"/>
                  <a:gd name="T16" fmla="*/ 1 w 311"/>
                  <a:gd name="T17" fmla="*/ 1 h 98"/>
                  <a:gd name="T18" fmla="*/ 1 w 311"/>
                  <a:gd name="T19" fmla="*/ 1 h 98"/>
                  <a:gd name="T20" fmla="*/ 1 w 311"/>
                  <a:gd name="T21" fmla="*/ 1 h 98"/>
                  <a:gd name="T22" fmla="*/ 1 w 311"/>
                  <a:gd name="T23" fmla="*/ 1 h 98"/>
                  <a:gd name="T24" fmla="*/ 1 w 311"/>
                  <a:gd name="T25" fmla="*/ 1 h 98"/>
                  <a:gd name="T26" fmla="*/ 1 w 311"/>
                  <a:gd name="T27" fmla="*/ 1 h 98"/>
                  <a:gd name="T28" fmla="*/ 1 w 311"/>
                  <a:gd name="T29" fmla="*/ 1 h 98"/>
                  <a:gd name="T30" fmla="*/ 1 w 311"/>
                  <a:gd name="T31" fmla="*/ 1 h 98"/>
                  <a:gd name="T32" fmla="*/ 1 w 311"/>
                  <a:gd name="T33" fmla="*/ 1 h 98"/>
                  <a:gd name="T34" fmla="*/ 1 w 311"/>
                  <a:gd name="T35" fmla="*/ 1 h 98"/>
                  <a:gd name="T36" fmla="*/ 1 w 311"/>
                  <a:gd name="T37" fmla="*/ 1 h 98"/>
                  <a:gd name="T38" fmla="*/ 1 w 311"/>
                  <a:gd name="T39" fmla="*/ 1 h 98"/>
                  <a:gd name="T40" fmla="*/ 1 w 311"/>
                  <a:gd name="T41" fmla="*/ 1 h 98"/>
                  <a:gd name="T42" fmla="*/ 1 w 311"/>
                  <a:gd name="T43" fmla="*/ 0 h 98"/>
                  <a:gd name="T44" fmla="*/ 0 w 311"/>
                  <a:gd name="T45" fmla="*/ 1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1"/>
                  <a:gd name="T70" fmla="*/ 0 h 98"/>
                  <a:gd name="T71" fmla="*/ 311 w 311"/>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1" h="98">
                    <a:moveTo>
                      <a:pt x="0" y="53"/>
                    </a:moveTo>
                    <a:lnTo>
                      <a:pt x="0" y="65"/>
                    </a:lnTo>
                    <a:lnTo>
                      <a:pt x="3" y="67"/>
                    </a:lnTo>
                    <a:lnTo>
                      <a:pt x="9" y="70"/>
                    </a:lnTo>
                    <a:lnTo>
                      <a:pt x="22" y="76"/>
                    </a:lnTo>
                    <a:lnTo>
                      <a:pt x="39" y="83"/>
                    </a:lnTo>
                    <a:lnTo>
                      <a:pt x="61" y="89"/>
                    </a:lnTo>
                    <a:lnTo>
                      <a:pt x="87" y="94"/>
                    </a:lnTo>
                    <a:lnTo>
                      <a:pt x="119" y="97"/>
                    </a:lnTo>
                    <a:lnTo>
                      <a:pt x="153" y="98"/>
                    </a:lnTo>
                    <a:lnTo>
                      <a:pt x="188" y="95"/>
                    </a:lnTo>
                    <a:lnTo>
                      <a:pt x="219" y="89"/>
                    </a:lnTo>
                    <a:lnTo>
                      <a:pt x="246" y="80"/>
                    </a:lnTo>
                    <a:lnTo>
                      <a:pt x="268" y="67"/>
                    </a:lnTo>
                    <a:lnTo>
                      <a:pt x="285" y="54"/>
                    </a:lnTo>
                    <a:lnTo>
                      <a:pt x="297" y="42"/>
                    </a:lnTo>
                    <a:lnTo>
                      <a:pt x="305" y="33"/>
                    </a:lnTo>
                    <a:lnTo>
                      <a:pt x="310" y="25"/>
                    </a:lnTo>
                    <a:lnTo>
                      <a:pt x="311" y="15"/>
                    </a:lnTo>
                    <a:lnTo>
                      <a:pt x="308" y="8"/>
                    </a:lnTo>
                    <a:lnTo>
                      <a:pt x="304" y="1"/>
                    </a:lnTo>
                    <a:lnTo>
                      <a:pt x="300" y="0"/>
                    </a:lnTo>
                    <a:lnTo>
                      <a:pt x="0" y="53"/>
                    </a:lnTo>
                    <a:close/>
                  </a:path>
                </a:pathLst>
              </a:custGeom>
              <a:solidFill>
                <a:srgbClr val="FF7226"/>
              </a:solidFill>
              <a:ln w="9525">
                <a:noFill/>
                <a:round/>
                <a:headEnd/>
                <a:tailEnd/>
              </a:ln>
            </p:spPr>
            <p:txBody>
              <a:bodyPr/>
              <a:lstStyle/>
              <a:p>
                <a:endParaRPr lang="en-US"/>
              </a:p>
            </p:txBody>
          </p:sp>
          <p:sp>
            <p:nvSpPr>
              <p:cNvPr id="26688" name="Freeform 25"/>
              <p:cNvSpPr>
                <a:spLocks/>
              </p:cNvSpPr>
              <p:nvPr/>
            </p:nvSpPr>
            <p:spPr bwMode="auto">
              <a:xfrm>
                <a:off x="2093" y="3747"/>
                <a:ext cx="11" cy="12"/>
              </a:xfrm>
              <a:custGeom>
                <a:avLst/>
                <a:gdLst>
                  <a:gd name="T0" fmla="*/ 1 w 22"/>
                  <a:gd name="T1" fmla="*/ 1 h 23"/>
                  <a:gd name="T2" fmla="*/ 1 w 22"/>
                  <a:gd name="T3" fmla="*/ 1 h 23"/>
                  <a:gd name="T4" fmla="*/ 1 w 22"/>
                  <a:gd name="T5" fmla="*/ 0 h 23"/>
                  <a:gd name="T6" fmla="*/ 0 w 22"/>
                  <a:gd name="T7" fmla="*/ 0 h 23"/>
                  <a:gd name="T8" fmla="*/ 0 w 22"/>
                  <a:gd name="T9" fmla="*/ 1 h 23"/>
                  <a:gd name="T10" fmla="*/ 1 w 22"/>
                  <a:gd name="T11" fmla="*/ 1 h 23"/>
                  <a:gd name="T12" fmla="*/ 0 w 22"/>
                  <a:gd name="T13" fmla="*/ 1 h 23"/>
                  <a:gd name="T14" fmla="*/ 1 w 22"/>
                  <a:gd name="T15" fmla="*/ 1 h 23"/>
                  <a:gd name="T16" fmla="*/ 1 w 22"/>
                  <a:gd name="T17" fmla="*/ 1 h 23"/>
                  <a:gd name="T18" fmla="*/ 1 w 22"/>
                  <a:gd name="T19" fmla="*/ 1 h 23"/>
                  <a:gd name="T20" fmla="*/ 1 w 22"/>
                  <a:gd name="T21" fmla="*/ 1 h 23"/>
                  <a:gd name="T22" fmla="*/ 1 w 22"/>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3"/>
                  <a:gd name="T38" fmla="*/ 22 w 22"/>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3">
                    <a:moveTo>
                      <a:pt x="17" y="3"/>
                    </a:moveTo>
                    <a:lnTo>
                      <a:pt x="22" y="12"/>
                    </a:lnTo>
                    <a:lnTo>
                      <a:pt x="22" y="0"/>
                    </a:lnTo>
                    <a:lnTo>
                      <a:pt x="0" y="0"/>
                    </a:lnTo>
                    <a:lnTo>
                      <a:pt x="0" y="12"/>
                    </a:lnTo>
                    <a:lnTo>
                      <a:pt x="5" y="22"/>
                    </a:lnTo>
                    <a:lnTo>
                      <a:pt x="0" y="12"/>
                    </a:lnTo>
                    <a:lnTo>
                      <a:pt x="3" y="20"/>
                    </a:lnTo>
                    <a:lnTo>
                      <a:pt x="11" y="23"/>
                    </a:lnTo>
                    <a:lnTo>
                      <a:pt x="19" y="20"/>
                    </a:lnTo>
                    <a:lnTo>
                      <a:pt x="22" y="12"/>
                    </a:lnTo>
                    <a:lnTo>
                      <a:pt x="17" y="3"/>
                    </a:lnTo>
                    <a:close/>
                  </a:path>
                </a:pathLst>
              </a:custGeom>
              <a:solidFill>
                <a:srgbClr val="000000"/>
              </a:solidFill>
              <a:ln w="9525">
                <a:noFill/>
                <a:round/>
                <a:headEnd/>
                <a:tailEnd/>
              </a:ln>
            </p:spPr>
            <p:txBody>
              <a:bodyPr/>
              <a:lstStyle/>
              <a:p>
                <a:endParaRPr lang="en-US"/>
              </a:p>
            </p:txBody>
          </p:sp>
          <p:sp>
            <p:nvSpPr>
              <p:cNvPr id="26689" name="Freeform 26"/>
              <p:cNvSpPr>
                <a:spLocks/>
              </p:cNvSpPr>
              <p:nvPr/>
            </p:nvSpPr>
            <p:spPr bwMode="auto">
              <a:xfrm>
                <a:off x="2096" y="3749"/>
                <a:ext cx="80" cy="26"/>
              </a:xfrm>
              <a:custGeom>
                <a:avLst/>
                <a:gdLst>
                  <a:gd name="T0" fmla="*/ 1 w 159"/>
                  <a:gd name="T1" fmla="*/ 0 h 53"/>
                  <a:gd name="T2" fmla="*/ 1 w 159"/>
                  <a:gd name="T3" fmla="*/ 0 h 53"/>
                  <a:gd name="T4" fmla="*/ 1 w 159"/>
                  <a:gd name="T5" fmla="*/ 0 h 53"/>
                  <a:gd name="T6" fmla="*/ 1 w 159"/>
                  <a:gd name="T7" fmla="*/ 0 h 53"/>
                  <a:gd name="T8" fmla="*/ 1 w 159"/>
                  <a:gd name="T9" fmla="*/ 0 h 53"/>
                  <a:gd name="T10" fmla="*/ 1 w 159"/>
                  <a:gd name="T11" fmla="*/ 0 h 53"/>
                  <a:gd name="T12" fmla="*/ 1 w 159"/>
                  <a:gd name="T13" fmla="*/ 0 h 53"/>
                  <a:gd name="T14" fmla="*/ 1 w 159"/>
                  <a:gd name="T15" fmla="*/ 0 h 53"/>
                  <a:gd name="T16" fmla="*/ 1 w 159"/>
                  <a:gd name="T17" fmla="*/ 0 h 53"/>
                  <a:gd name="T18" fmla="*/ 1 w 159"/>
                  <a:gd name="T19" fmla="*/ 0 h 53"/>
                  <a:gd name="T20" fmla="*/ 0 w 159"/>
                  <a:gd name="T21" fmla="*/ 0 h 53"/>
                  <a:gd name="T22" fmla="*/ 1 w 159"/>
                  <a:gd name="T23" fmla="*/ 0 h 53"/>
                  <a:gd name="T24" fmla="*/ 1 w 159"/>
                  <a:gd name="T25" fmla="*/ 0 h 53"/>
                  <a:gd name="T26" fmla="*/ 1 w 159"/>
                  <a:gd name="T27" fmla="*/ 0 h 53"/>
                  <a:gd name="T28" fmla="*/ 1 w 159"/>
                  <a:gd name="T29" fmla="*/ 0 h 53"/>
                  <a:gd name="T30" fmla="*/ 1 w 159"/>
                  <a:gd name="T31" fmla="*/ 0 h 53"/>
                  <a:gd name="T32" fmla="*/ 1 w 159"/>
                  <a:gd name="T33" fmla="*/ 0 h 53"/>
                  <a:gd name="T34" fmla="*/ 1 w 159"/>
                  <a:gd name="T35" fmla="*/ 0 h 53"/>
                  <a:gd name="T36" fmla="*/ 1 w 159"/>
                  <a:gd name="T37" fmla="*/ 0 h 53"/>
                  <a:gd name="T38" fmla="*/ 1 w 159"/>
                  <a:gd name="T39" fmla="*/ 0 h 53"/>
                  <a:gd name="T40" fmla="*/ 1 w 159"/>
                  <a:gd name="T41" fmla="*/ 0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
                  <a:gd name="T64" fmla="*/ 0 h 53"/>
                  <a:gd name="T65" fmla="*/ 159 w 159"/>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 h="53">
                    <a:moveTo>
                      <a:pt x="159" y="31"/>
                    </a:moveTo>
                    <a:lnTo>
                      <a:pt x="159" y="31"/>
                    </a:lnTo>
                    <a:lnTo>
                      <a:pt x="125" y="30"/>
                    </a:lnTo>
                    <a:lnTo>
                      <a:pt x="95" y="27"/>
                    </a:lnTo>
                    <a:lnTo>
                      <a:pt x="70" y="22"/>
                    </a:lnTo>
                    <a:lnTo>
                      <a:pt x="48" y="16"/>
                    </a:lnTo>
                    <a:lnTo>
                      <a:pt x="32" y="11"/>
                    </a:lnTo>
                    <a:lnTo>
                      <a:pt x="20" y="5"/>
                    </a:lnTo>
                    <a:lnTo>
                      <a:pt x="14" y="2"/>
                    </a:lnTo>
                    <a:lnTo>
                      <a:pt x="12" y="0"/>
                    </a:lnTo>
                    <a:lnTo>
                      <a:pt x="0" y="19"/>
                    </a:lnTo>
                    <a:lnTo>
                      <a:pt x="4" y="20"/>
                    </a:lnTo>
                    <a:lnTo>
                      <a:pt x="10" y="24"/>
                    </a:lnTo>
                    <a:lnTo>
                      <a:pt x="23" y="30"/>
                    </a:lnTo>
                    <a:lnTo>
                      <a:pt x="42" y="38"/>
                    </a:lnTo>
                    <a:lnTo>
                      <a:pt x="64" y="44"/>
                    </a:lnTo>
                    <a:lnTo>
                      <a:pt x="92" y="49"/>
                    </a:lnTo>
                    <a:lnTo>
                      <a:pt x="125" y="52"/>
                    </a:lnTo>
                    <a:lnTo>
                      <a:pt x="159" y="53"/>
                    </a:lnTo>
                    <a:lnTo>
                      <a:pt x="159" y="31"/>
                    </a:lnTo>
                    <a:close/>
                  </a:path>
                </a:pathLst>
              </a:custGeom>
              <a:solidFill>
                <a:srgbClr val="000000"/>
              </a:solidFill>
              <a:ln w="9525">
                <a:noFill/>
                <a:round/>
                <a:headEnd/>
                <a:tailEnd/>
              </a:ln>
            </p:spPr>
            <p:txBody>
              <a:bodyPr/>
              <a:lstStyle/>
              <a:p>
                <a:endParaRPr lang="en-US"/>
              </a:p>
            </p:txBody>
          </p:sp>
          <p:sp>
            <p:nvSpPr>
              <p:cNvPr id="26690" name="Freeform 27"/>
              <p:cNvSpPr>
                <a:spLocks/>
              </p:cNvSpPr>
              <p:nvPr/>
            </p:nvSpPr>
            <p:spPr bwMode="auto">
              <a:xfrm>
                <a:off x="2176" y="3731"/>
                <a:ext cx="83" cy="44"/>
              </a:xfrm>
              <a:custGeom>
                <a:avLst/>
                <a:gdLst>
                  <a:gd name="T0" fmla="*/ 0 w 168"/>
                  <a:gd name="T1" fmla="*/ 0 h 89"/>
                  <a:gd name="T2" fmla="*/ 0 w 168"/>
                  <a:gd name="T3" fmla="*/ 0 h 89"/>
                  <a:gd name="T4" fmla="*/ 0 w 168"/>
                  <a:gd name="T5" fmla="*/ 0 h 89"/>
                  <a:gd name="T6" fmla="*/ 0 w 168"/>
                  <a:gd name="T7" fmla="*/ 0 h 89"/>
                  <a:gd name="T8" fmla="*/ 0 w 168"/>
                  <a:gd name="T9" fmla="*/ 0 h 89"/>
                  <a:gd name="T10" fmla="*/ 0 w 168"/>
                  <a:gd name="T11" fmla="*/ 0 h 89"/>
                  <a:gd name="T12" fmla="*/ 0 w 168"/>
                  <a:gd name="T13" fmla="*/ 0 h 89"/>
                  <a:gd name="T14" fmla="*/ 0 w 168"/>
                  <a:gd name="T15" fmla="*/ 0 h 89"/>
                  <a:gd name="T16" fmla="*/ 0 w 168"/>
                  <a:gd name="T17" fmla="*/ 0 h 89"/>
                  <a:gd name="T18" fmla="*/ 0 w 168"/>
                  <a:gd name="T19" fmla="*/ 0 h 89"/>
                  <a:gd name="T20" fmla="*/ 0 w 168"/>
                  <a:gd name="T21" fmla="*/ 0 h 89"/>
                  <a:gd name="T22" fmla="*/ 0 w 168"/>
                  <a:gd name="T23" fmla="*/ 0 h 89"/>
                  <a:gd name="T24" fmla="*/ 0 w 168"/>
                  <a:gd name="T25" fmla="*/ 0 h 89"/>
                  <a:gd name="T26" fmla="*/ 0 w 168"/>
                  <a:gd name="T27" fmla="*/ 0 h 89"/>
                  <a:gd name="T28" fmla="*/ 0 w 168"/>
                  <a:gd name="T29" fmla="*/ 0 h 89"/>
                  <a:gd name="T30" fmla="*/ 0 w 168"/>
                  <a:gd name="T31" fmla="*/ 0 h 89"/>
                  <a:gd name="T32" fmla="*/ 0 w 168"/>
                  <a:gd name="T33" fmla="*/ 0 h 89"/>
                  <a:gd name="T34" fmla="*/ 0 w 168"/>
                  <a:gd name="T35" fmla="*/ 0 h 89"/>
                  <a:gd name="T36" fmla="*/ 0 w 168"/>
                  <a:gd name="T37" fmla="*/ 0 h 89"/>
                  <a:gd name="T38" fmla="*/ 0 w 168"/>
                  <a:gd name="T39" fmla="*/ 0 h 89"/>
                  <a:gd name="T40" fmla="*/ 0 w 168"/>
                  <a:gd name="T41" fmla="*/ 0 h 8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8"/>
                  <a:gd name="T64" fmla="*/ 0 h 89"/>
                  <a:gd name="T65" fmla="*/ 168 w 168"/>
                  <a:gd name="T66" fmla="*/ 89 h 8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8" h="89">
                    <a:moveTo>
                      <a:pt x="147" y="0"/>
                    </a:moveTo>
                    <a:lnTo>
                      <a:pt x="146" y="2"/>
                    </a:lnTo>
                    <a:lnTo>
                      <a:pt x="143" y="6"/>
                    </a:lnTo>
                    <a:lnTo>
                      <a:pt x="136" y="14"/>
                    </a:lnTo>
                    <a:lnTo>
                      <a:pt x="124" y="27"/>
                    </a:lnTo>
                    <a:lnTo>
                      <a:pt x="108" y="38"/>
                    </a:lnTo>
                    <a:lnTo>
                      <a:pt x="88" y="50"/>
                    </a:lnTo>
                    <a:lnTo>
                      <a:pt x="63" y="58"/>
                    </a:lnTo>
                    <a:lnTo>
                      <a:pt x="33" y="64"/>
                    </a:lnTo>
                    <a:lnTo>
                      <a:pt x="0" y="67"/>
                    </a:lnTo>
                    <a:lnTo>
                      <a:pt x="0" y="89"/>
                    </a:lnTo>
                    <a:lnTo>
                      <a:pt x="36" y="86"/>
                    </a:lnTo>
                    <a:lnTo>
                      <a:pt x="69" y="80"/>
                    </a:lnTo>
                    <a:lnTo>
                      <a:pt x="97" y="69"/>
                    </a:lnTo>
                    <a:lnTo>
                      <a:pt x="121" y="56"/>
                    </a:lnTo>
                    <a:lnTo>
                      <a:pt x="140" y="42"/>
                    </a:lnTo>
                    <a:lnTo>
                      <a:pt x="152" y="30"/>
                    </a:lnTo>
                    <a:lnTo>
                      <a:pt x="161" y="19"/>
                    </a:lnTo>
                    <a:lnTo>
                      <a:pt x="168" y="8"/>
                    </a:lnTo>
                    <a:lnTo>
                      <a:pt x="166" y="9"/>
                    </a:lnTo>
                    <a:lnTo>
                      <a:pt x="147" y="0"/>
                    </a:lnTo>
                    <a:close/>
                  </a:path>
                </a:pathLst>
              </a:custGeom>
              <a:solidFill>
                <a:srgbClr val="000000"/>
              </a:solidFill>
              <a:ln w="9525">
                <a:noFill/>
                <a:round/>
                <a:headEnd/>
                <a:tailEnd/>
              </a:ln>
            </p:spPr>
            <p:txBody>
              <a:bodyPr/>
              <a:lstStyle/>
              <a:p>
                <a:endParaRPr lang="en-US"/>
              </a:p>
            </p:txBody>
          </p:sp>
          <p:sp>
            <p:nvSpPr>
              <p:cNvPr id="26691" name="Freeform 28"/>
              <p:cNvSpPr>
                <a:spLocks/>
              </p:cNvSpPr>
              <p:nvPr/>
            </p:nvSpPr>
            <p:spPr bwMode="auto">
              <a:xfrm>
                <a:off x="2244" y="3715"/>
                <a:ext cx="16" cy="20"/>
              </a:xfrm>
              <a:custGeom>
                <a:avLst/>
                <a:gdLst>
                  <a:gd name="T0" fmla="*/ 0 w 33"/>
                  <a:gd name="T1" fmla="*/ 1 h 40"/>
                  <a:gd name="T2" fmla="*/ 0 w 33"/>
                  <a:gd name="T3" fmla="*/ 1 h 40"/>
                  <a:gd name="T4" fmla="*/ 0 w 33"/>
                  <a:gd name="T5" fmla="*/ 1 h 40"/>
                  <a:gd name="T6" fmla="*/ 0 w 33"/>
                  <a:gd name="T7" fmla="*/ 1 h 40"/>
                  <a:gd name="T8" fmla="*/ 0 w 33"/>
                  <a:gd name="T9" fmla="*/ 1 h 40"/>
                  <a:gd name="T10" fmla="*/ 0 w 33"/>
                  <a:gd name="T11" fmla="*/ 1 h 40"/>
                  <a:gd name="T12" fmla="*/ 0 w 33"/>
                  <a:gd name="T13" fmla="*/ 1 h 40"/>
                  <a:gd name="T14" fmla="*/ 0 w 33"/>
                  <a:gd name="T15" fmla="*/ 1 h 40"/>
                  <a:gd name="T16" fmla="*/ 0 w 33"/>
                  <a:gd name="T17" fmla="*/ 1 h 40"/>
                  <a:gd name="T18" fmla="*/ 0 w 33"/>
                  <a:gd name="T19" fmla="*/ 1 h 40"/>
                  <a:gd name="T20" fmla="*/ 0 w 33"/>
                  <a:gd name="T21" fmla="*/ 1 h 40"/>
                  <a:gd name="T22" fmla="*/ 0 w 33"/>
                  <a:gd name="T23" fmla="*/ 0 h 40"/>
                  <a:gd name="T24" fmla="*/ 0 w 33"/>
                  <a:gd name="T25" fmla="*/ 1 h 40"/>
                  <a:gd name="T26" fmla="*/ 0 w 33"/>
                  <a:gd name="T27" fmla="*/ 0 h 40"/>
                  <a:gd name="T28" fmla="*/ 0 w 33"/>
                  <a:gd name="T29" fmla="*/ 1 h 40"/>
                  <a:gd name="T30" fmla="*/ 0 w 33"/>
                  <a:gd name="T31" fmla="*/ 1 h 40"/>
                  <a:gd name="T32" fmla="*/ 0 w 33"/>
                  <a:gd name="T33" fmla="*/ 1 h 40"/>
                  <a:gd name="T34" fmla="*/ 0 w 33"/>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
                  <a:gd name="T55" fmla="*/ 0 h 40"/>
                  <a:gd name="T56" fmla="*/ 33 w 33"/>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 h="40">
                    <a:moveTo>
                      <a:pt x="13" y="22"/>
                    </a:moveTo>
                    <a:lnTo>
                      <a:pt x="5" y="20"/>
                    </a:lnTo>
                    <a:lnTo>
                      <a:pt x="7" y="20"/>
                    </a:lnTo>
                    <a:lnTo>
                      <a:pt x="10" y="23"/>
                    </a:lnTo>
                    <a:lnTo>
                      <a:pt x="11" y="28"/>
                    </a:lnTo>
                    <a:lnTo>
                      <a:pt x="11" y="31"/>
                    </a:lnTo>
                    <a:lnTo>
                      <a:pt x="30" y="40"/>
                    </a:lnTo>
                    <a:lnTo>
                      <a:pt x="33" y="25"/>
                    </a:lnTo>
                    <a:lnTo>
                      <a:pt x="29" y="14"/>
                    </a:lnTo>
                    <a:lnTo>
                      <a:pt x="22" y="4"/>
                    </a:lnTo>
                    <a:lnTo>
                      <a:pt x="18" y="1"/>
                    </a:lnTo>
                    <a:lnTo>
                      <a:pt x="10" y="0"/>
                    </a:lnTo>
                    <a:lnTo>
                      <a:pt x="18" y="1"/>
                    </a:lnTo>
                    <a:lnTo>
                      <a:pt x="8" y="0"/>
                    </a:lnTo>
                    <a:lnTo>
                      <a:pt x="2" y="4"/>
                    </a:lnTo>
                    <a:lnTo>
                      <a:pt x="0" y="12"/>
                    </a:lnTo>
                    <a:lnTo>
                      <a:pt x="5" y="20"/>
                    </a:lnTo>
                    <a:lnTo>
                      <a:pt x="13" y="22"/>
                    </a:lnTo>
                    <a:close/>
                  </a:path>
                </a:pathLst>
              </a:custGeom>
              <a:solidFill>
                <a:srgbClr val="000000"/>
              </a:solidFill>
              <a:ln w="9525">
                <a:noFill/>
                <a:round/>
                <a:headEnd/>
                <a:tailEnd/>
              </a:ln>
            </p:spPr>
            <p:txBody>
              <a:bodyPr/>
              <a:lstStyle/>
              <a:p>
                <a:endParaRPr lang="en-US"/>
              </a:p>
            </p:txBody>
          </p:sp>
          <p:sp>
            <p:nvSpPr>
              <p:cNvPr id="26692" name="Freeform 29"/>
              <p:cNvSpPr>
                <a:spLocks/>
              </p:cNvSpPr>
              <p:nvPr/>
            </p:nvSpPr>
            <p:spPr bwMode="auto">
              <a:xfrm>
                <a:off x="2093" y="3715"/>
                <a:ext cx="157" cy="37"/>
              </a:xfrm>
              <a:custGeom>
                <a:avLst/>
                <a:gdLst>
                  <a:gd name="T0" fmla="*/ 1 w 313"/>
                  <a:gd name="T1" fmla="*/ 0 h 75"/>
                  <a:gd name="T2" fmla="*/ 1 w 313"/>
                  <a:gd name="T3" fmla="*/ 0 h 75"/>
                  <a:gd name="T4" fmla="*/ 1 w 313"/>
                  <a:gd name="T5" fmla="*/ 0 h 75"/>
                  <a:gd name="T6" fmla="*/ 1 w 313"/>
                  <a:gd name="T7" fmla="*/ 0 h 75"/>
                  <a:gd name="T8" fmla="*/ 1 w 313"/>
                  <a:gd name="T9" fmla="*/ 0 h 75"/>
                  <a:gd name="T10" fmla="*/ 0 w 313"/>
                  <a:gd name="T11" fmla="*/ 0 h 75"/>
                  <a:gd name="T12" fmla="*/ 1 w 313"/>
                  <a:gd name="T13" fmla="*/ 0 h 75"/>
                  <a:gd name="T14" fmla="*/ 1 w 313"/>
                  <a:gd name="T15" fmla="*/ 0 h 75"/>
                  <a:gd name="T16" fmla="*/ 0 w 313"/>
                  <a:gd name="T17" fmla="*/ 0 h 75"/>
                  <a:gd name="T18" fmla="*/ 1 w 313"/>
                  <a:gd name="T19" fmla="*/ 0 h 75"/>
                  <a:gd name="T20" fmla="*/ 1 w 313"/>
                  <a:gd name="T21" fmla="*/ 0 h 75"/>
                  <a:gd name="T22" fmla="*/ 1 w 313"/>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3"/>
                  <a:gd name="T37" fmla="*/ 0 h 75"/>
                  <a:gd name="T38" fmla="*/ 313 w 313"/>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3" h="75">
                    <a:moveTo>
                      <a:pt x="22" y="64"/>
                    </a:moveTo>
                    <a:lnTo>
                      <a:pt x="12" y="75"/>
                    </a:lnTo>
                    <a:lnTo>
                      <a:pt x="313" y="22"/>
                    </a:lnTo>
                    <a:lnTo>
                      <a:pt x="310" y="0"/>
                    </a:lnTo>
                    <a:lnTo>
                      <a:pt x="9" y="53"/>
                    </a:lnTo>
                    <a:lnTo>
                      <a:pt x="0" y="64"/>
                    </a:lnTo>
                    <a:lnTo>
                      <a:pt x="9" y="53"/>
                    </a:lnTo>
                    <a:lnTo>
                      <a:pt x="1" y="58"/>
                    </a:lnTo>
                    <a:lnTo>
                      <a:pt x="0" y="65"/>
                    </a:lnTo>
                    <a:lnTo>
                      <a:pt x="5" y="72"/>
                    </a:lnTo>
                    <a:lnTo>
                      <a:pt x="12" y="75"/>
                    </a:lnTo>
                    <a:lnTo>
                      <a:pt x="22" y="64"/>
                    </a:lnTo>
                    <a:close/>
                  </a:path>
                </a:pathLst>
              </a:custGeom>
              <a:solidFill>
                <a:srgbClr val="000000"/>
              </a:solidFill>
              <a:ln w="9525">
                <a:noFill/>
                <a:round/>
                <a:headEnd/>
                <a:tailEnd/>
              </a:ln>
            </p:spPr>
            <p:txBody>
              <a:bodyPr/>
              <a:lstStyle/>
              <a:p>
                <a:endParaRPr lang="en-US"/>
              </a:p>
            </p:txBody>
          </p:sp>
          <p:sp>
            <p:nvSpPr>
              <p:cNvPr id="26693" name="Freeform 30"/>
              <p:cNvSpPr>
                <a:spLocks/>
              </p:cNvSpPr>
              <p:nvPr/>
            </p:nvSpPr>
            <p:spPr bwMode="auto">
              <a:xfrm>
                <a:off x="1840" y="3694"/>
                <a:ext cx="123" cy="254"/>
              </a:xfrm>
              <a:custGeom>
                <a:avLst/>
                <a:gdLst>
                  <a:gd name="T0" fmla="*/ 1 w 245"/>
                  <a:gd name="T1" fmla="*/ 0 h 508"/>
                  <a:gd name="T2" fmla="*/ 1 w 245"/>
                  <a:gd name="T3" fmla="*/ 1 h 508"/>
                  <a:gd name="T4" fmla="*/ 0 w 245"/>
                  <a:gd name="T5" fmla="*/ 1 h 508"/>
                  <a:gd name="T6" fmla="*/ 0 w 245"/>
                  <a:gd name="T7" fmla="*/ 1 h 508"/>
                  <a:gd name="T8" fmla="*/ 1 w 245"/>
                  <a:gd name="T9" fmla="*/ 0 h 508"/>
                  <a:gd name="T10" fmla="*/ 0 60000 65536"/>
                  <a:gd name="T11" fmla="*/ 0 60000 65536"/>
                  <a:gd name="T12" fmla="*/ 0 60000 65536"/>
                  <a:gd name="T13" fmla="*/ 0 60000 65536"/>
                  <a:gd name="T14" fmla="*/ 0 60000 65536"/>
                  <a:gd name="T15" fmla="*/ 0 w 245"/>
                  <a:gd name="T16" fmla="*/ 0 h 508"/>
                  <a:gd name="T17" fmla="*/ 245 w 245"/>
                  <a:gd name="T18" fmla="*/ 508 h 508"/>
                </a:gdLst>
                <a:ahLst/>
                <a:cxnLst>
                  <a:cxn ang="T10">
                    <a:pos x="T0" y="T1"/>
                  </a:cxn>
                  <a:cxn ang="T11">
                    <a:pos x="T2" y="T3"/>
                  </a:cxn>
                  <a:cxn ang="T12">
                    <a:pos x="T4" y="T5"/>
                  </a:cxn>
                  <a:cxn ang="T13">
                    <a:pos x="T6" y="T7"/>
                  </a:cxn>
                  <a:cxn ang="T14">
                    <a:pos x="T8" y="T9"/>
                  </a:cxn>
                </a:cxnLst>
                <a:rect l="T15" t="T16" r="T17" b="T18"/>
                <a:pathLst>
                  <a:path w="245" h="508">
                    <a:moveTo>
                      <a:pt x="245" y="0"/>
                    </a:moveTo>
                    <a:lnTo>
                      <a:pt x="245" y="366"/>
                    </a:lnTo>
                    <a:lnTo>
                      <a:pt x="0" y="508"/>
                    </a:lnTo>
                    <a:lnTo>
                      <a:pt x="0" y="143"/>
                    </a:lnTo>
                    <a:lnTo>
                      <a:pt x="245" y="0"/>
                    </a:lnTo>
                    <a:close/>
                  </a:path>
                </a:pathLst>
              </a:custGeom>
              <a:solidFill>
                <a:srgbClr val="4CFF00"/>
              </a:solidFill>
              <a:ln w="9525">
                <a:noFill/>
                <a:round/>
                <a:headEnd/>
                <a:tailEnd/>
              </a:ln>
            </p:spPr>
            <p:txBody>
              <a:bodyPr/>
              <a:lstStyle/>
              <a:p>
                <a:endParaRPr lang="en-US"/>
              </a:p>
            </p:txBody>
          </p:sp>
          <p:sp>
            <p:nvSpPr>
              <p:cNvPr id="26694" name="Freeform 31"/>
              <p:cNvSpPr>
                <a:spLocks/>
              </p:cNvSpPr>
              <p:nvPr/>
            </p:nvSpPr>
            <p:spPr bwMode="auto">
              <a:xfrm>
                <a:off x="1957" y="3694"/>
                <a:ext cx="11" cy="188"/>
              </a:xfrm>
              <a:custGeom>
                <a:avLst/>
                <a:gdLst>
                  <a:gd name="T0" fmla="*/ 1 w 22"/>
                  <a:gd name="T1" fmla="*/ 0 h 377"/>
                  <a:gd name="T2" fmla="*/ 1 w 22"/>
                  <a:gd name="T3" fmla="*/ 0 h 377"/>
                  <a:gd name="T4" fmla="*/ 1 w 22"/>
                  <a:gd name="T5" fmla="*/ 0 h 377"/>
                  <a:gd name="T6" fmla="*/ 0 w 22"/>
                  <a:gd name="T7" fmla="*/ 0 h 377"/>
                  <a:gd name="T8" fmla="*/ 0 w 22"/>
                  <a:gd name="T9" fmla="*/ 0 h 377"/>
                  <a:gd name="T10" fmla="*/ 1 w 22"/>
                  <a:gd name="T11" fmla="*/ 0 h 377"/>
                  <a:gd name="T12" fmla="*/ 0 w 22"/>
                  <a:gd name="T13" fmla="*/ 0 h 377"/>
                  <a:gd name="T14" fmla="*/ 1 w 22"/>
                  <a:gd name="T15" fmla="*/ 0 h 377"/>
                  <a:gd name="T16" fmla="*/ 1 w 22"/>
                  <a:gd name="T17" fmla="*/ 0 h 377"/>
                  <a:gd name="T18" fmla="*/ 1 w 22"/>
                  <a:gd name="T19" fmla="*/ 0 h 377"/>
                  <a:gd name="T20" fmla="*/ 1 w 22"/>
                  <a:gd name="T21" fmla="*/ 0 h 377"/>
                  <a:gd name="T22" fmla="*/ 1 w 22"/>
                  <a:gd name="T23" fmla="*/ 0 h 3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7"/>
                  <a:gd name="T38" fmla="*/ 22 w 22"/>
                  <a:gd name="T39" fmla="*/ 377 h 3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7">
                    <a:moveTo>
                      <a:pt x="16" y="375"/>
                    </a:moveTo>
                    <a:lnTo>
                      <a:pt x="22" y="366"/>
                    </a:lnTo>
                    <a:lnTo>
                      <a:pt x="22" y="0"/>
                    </a:lnTo>
                    <a:lnTo>
                      <a:pt x="0" y="0"/>
                    </a:lnTo>
                    <a:lnTo>
                      <a:pt x="0" y="366"/>
                    </a:lnTo>
                    <a:lnTo>
                      <a:pt x="7" y="356"/>
                    </a:lnTo>
                    <a:lnTo>
                      <a:pt x="0" y="366"/>
                    </a:lnTo>
                    <a:lnTo>
                      <a:pt x="4" y="373"/>
                    </a:lnTo>
                    <a:lnTo>
                      <a:pt x="11" y="377"/>
                    </a:lnTo>
                    <a:lnTo>
                      <a:pt x="19" y="373"/>
                    </a:lnTo>
                    <a:lnTo>
                      <a:pt x="22" y="366"/>
                    </a:lnTo>
                    <a:lnTo>
                      <a:pt x="16" y="375"/>
                    </a:lnTo>
                    <a:close/>
                  </a:path>
                </a:pathLst>
              </a:custGeom>
              <a:solidFill>
                <a:srgbClr val="000000"/>
              </a:solidFill>
              <a:ln w="9525">
                <a:noFill/>
                <a:round/>
                <a:headEnd/>
                <a:tailEnd/>
              </a:ln>
            </p:spPr>
            <p:txBody>
              <a:bodyPr/>
              <a:lstStyle/>
              <a:p>
                <a:endParaRPr lang="en-US"/>
              </a:p>
            </p:txBody>
          </p:sp>
          <p:sp>
            <p:nvSpPr>
              <p:cNvPr id="26695" name="Freeform 32"/>
              <p:cNvSpPr>
                <a:spLocks/>
              </p:cNvSpPr>
              <p:nvPr/>
            </p:nvSpPr>
            <p:spPr bwMode="auto">
              <a:xfrm>
                <a:off x="1834" y="3872"/>
                <a:ext cx="131" cy="81"/>
              </a:xfrm>
              <a:custGeom>
                <a:avLst/>
                <a:gdLst>
                  <a:gd name="T0" fmla="*/ 0 w 261"/>
                  <a:gd name="T1" fmla="*/ 1 h 161"/>
                  <a:gd name="T2" fmla="*/ 1 w 261"/>
                  <a:gd name="T3" fmla="*/ 1 h 161"/>
                  <a:gd name="T4" fmla="*/ 1 w 261"/>
                  <a:gd name="T5" fmla="*/ 1 h 161"/>
                  <a:gd name="T6" fmla="*/ 1 w 261"/>
                  <a:gd name="T7" fmla="*/ 0 h 161"/>
                  <a:gd name="T8" fmla="*/ 1 w 261"/>
                  <a:gd name="T9" fmla="*/ 1 h 161"/>
                  <a:gd name="T10" fmla="*/ 1 w 261"/>
                  <a:gd name="T11" fmla="*/ 1 h 161"/>
                  <a:gd name="T12" fmla="*/ 1 w 261"/>
                  <a:gd name="T13" fmla="*/ 1 h 161"/>
                  <a:gd name="T14" fmla="*/ 0 w 261"/>
                  <a:gd name="T15" fmla="*/ 1 h 161"/>
                  <a:gd name="T16" fmla="*/ 1 w 261"/>
                  <a:gd name="T17" fmla="*/ 1 h 161"/>
                  <a:gd name="T18" fmla="*/ 1 w 261"/>
                  <a:gd name="T19" fmla="*/ 1 h 161"/>
                  <a:gd name="T20" fmla="*/ 1 w 261"/>
                  <a:gd name="T21" fmla="*/ 1 h 161"/>
                  <a:gd name="T22" fmla="*/ 0 w 261"/>
                  <a:gd name="T23" fmla="*/ 1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1"/>
                  <a:gd name="T37" fmla="*/ 0 h 161"/>
                  <a:gd name="T38" fmla="*/ 261 w 261"/>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1" h="161">
                    <a:moveTo>
                      <a:pt x="0" y="152"/>
                    </a:moveTo>
                    <a:lnTo>
                      <a:pt x="15" y="161"/>
                    </a:lnTo>
                    <a:lnTo>
                      <a:pt x="261" y="19"/>
                    </a:lnTo>
                    <a:lnTo>
                      <a:pt x="252" y="0"/>
                    </a:lnTo>
                    <a:lnTo>
                      <a:pt x="6" y="143"/>
                    </a:lnTo>
                    <a:lnTo>
                      <a:pt x="21" y="152"/>
                    </a:lnTo>
                    <a:lnTo>
                      <a:pt x="6" y="143"/>
                    </a:lnTo>
                    <a:lnTo>
                      <a:pt x="0" y="149"/>
                    </a:lnTo>
                    <a:lnTo>
                      <a:pt x="1" y="157"/>
                    </a:lnTo>
                    <a:lnTo>
                      <a:pt x="7" y="161"/>
                    </a:lnTo>
                    <a:lnTo>
                      <a:pt x="15" y="161"/>
                    </a:lnTo>
                    <a:lnTo>
                      <a:pt x="0" y="152"/>
                    </a:lnTo>
                    <a:close/>
                  </a:path>
                </a:pathLst>
              </a:custGeom>
              <a:solidFill>
                <a:srgbClr val="000000"/>
              </a:solidFill>
              <a:ln w="9525">
                <a:noFill/>
                <a:round/>
                <a:headEnd/>
                <a:tailEnd/>
              </a:ln>
            </p:spPr>
            <p:txBody>
              <a:bodyPr/>
              <a:lstStyle/>
              <a:p>
                <a:endParaRPr lang="en-US"/>
              </a:p>
            </p:txBody>
          </p:sp>
          <p:sp>
            <p:nvSpPr>
              <p:cNvPr id="26696" name="Freeform 33"/>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4" y="1"/>
                    </a:moveTo>
                    <a:lnTo>
                      <a:pt x="0" y="10"/>
                    </a:lnTo>
                    <a:lnTo>
                      <a:pt x="0" y="375"/>
                    </a:lnTo>
                    <a:lnTo>
                      <a:pt x="21" y="375"/>
                    </a:lnTo>
                    <a:lnTo>
                      <a:pt x="21" y="10"/>
                    </a:lnTo>
                    <a:lnTo>
                      <a:pt x="17" y="20"/>
                    </a:lnTo>
                    <a:lnTo>
                      <a:pt x="21" y="10"/>
                    </a:lnTo>
                    <a:lnTo>
                      <a:pt x="18" y="3"/>
                    </a:lnTo>
                    <a:lnTo>
                      <a:pt x="11" y="0"/>
                    </a:lnTo>
                    <a:lnTo>
                      <a:pt x="3" y="3"/>
                    </a:lnTo>
                    <a:lnTo>
                      <a:pt x="0" y="10"/>
                    </a:lnTo>
                    <a:lnTo>
                      <a:pt x="4" y="1"/>
                    </a:lnTo>
                    <a:close/>
                  </a:path>
                </a:pathLst>
              </a:custGeom>
              <a:solidFill>
                <a:srgbClr val="000000"/>
              </a:solidFill>
              <a:ln w="9525">
                <a:noFill/>
                <a:round/>
                <a:headEnd/>
                <a:tailEnd/>
              </a:ln>
            </p:spPr>
            <p:txBody>
              <a:bodyPr/>
              <a:lstStyle/>
              <a:p>
                <a:endParaRPr lang="en-US"/>
              </a:p>
            </p:txBody>
          </p:sp>
          <p:sp>
            <p:nvSpPr>
              <p:cNvPr id="26697" name="Freeform 34"/>
              <p:cNvSpPr>
                <a:spLocks/>
              </p:cNvSpPr>
              <p:nvPr/>
            </p:nvSpPr>
            <p:spPr bwMode="auto">
              <a:xfrm>
                <a:off x="1837" y="3688"/>
                <a:ext cx="131" cy="82"/>
              </a:xfrm>
              <a:custGeom>
                <a:avLst/>
                <a:gdLst>
                  <a:gd name="T0" fmla="*/ 0 w 263"/>
                  <a:gd name="T1" fmla="*/ 1 h 164"/>
                  <a:gd name="T2" fmla="*/ 0 w 263"/>
                  <a:gd name="T3" fmla="*/ 1 h 164"/>
                  <a:gd name="T4" fmla="*/ 0 w 263"/>
                  <a:gd name="T5" fmla="*/ 1 h 164"/>
                  <a:gd name="T6" fmla="*/ 0 w 263"/>
                  <a:gd name="T7" fmla="*/ 1 h 164"/>
                  <a:gd name="T8" fmla="*/ 0 w 263"/>
                  <a:gd name="T9" fmla="*/ 1 h 164"/>
                  <a:gd name="T10" fmla="*/ 0 w 263"/>
                  <a:gd name="T11" fmla="*/ 1 h 164"/>
                  <a:gd name="T12" fmla="*/ 0 w 263"/>
                  <a:gd name="T13" fmla="*/ 1 h 164"/>
                  <a:gd name="T14" fmla="*/ 0 w 263"/>
                  <a:gd name="T15" fmla="*/ 1 h 164"/>
                  <a:gd name="T16" fmla="*/ 0 w 263"/>
                  <a:gd name="T17" fmla="*/ 1 h 164"/>
                  <a:gd name="T18" fmla="*/ 0 w 263"/>
                  <a:gd name="T19" fmla="*/ 0 h 164"/>
                  <a:gd name="T20" fmla="*/ 0 w 263"/>
                  <a:gd name="T21" fmla="*/ 1 h 164"/>
                  <a:gd name="T22" fmla="*/ 0 w 263"/>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4"/>
                  <a:gd name="T38" fmla="*/ 263 w 263"/>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4">
                    <a:moveTo>
                      <a:pt x="263" y="11"/>
                    </a:moveTo>
                    <a:lnTo>
                      <a:pt x="246" y="1"/>
                    </a:lnTo>
                    <a:lnTo>
                      <a:pt x="0" y="145"/>
                    </a:lnTo>
                    <a:lnTo>
                      <a:pt x="13" y="164"/>
                    </a:lnTo>
                    <a:lnTo>
                      <a:pt x="259" y="20"/>
                    </a:lnTo>
                    <a:lnTo>
                      <a:pt x="241" y="11"/>
                    </a:lnTo>
                    <a:lnTo>
                      <a:pt x="259" y="20"/>
                    </a:lnTo>
                    <a:lnTo>
                      <a:pt x="263" y="12"/>
                    </a:lnTo>
                    <a:lnTo>
                      <a:pt x="262" y="4"/>
                    </a:lnTo>
                    <a:lnTo>
                      <a:pt x="255" y="0"/>
                    </a:lnTo>
                    <a:lnTo>
                      <a:pt x="246" y="1"/>
                    </a:lnTo>
                    <a:lnTo>
                      <a:pt x="263" y="11"/>
                    </a:lnTo>
                    <a:close/>
                  </a:path>
                </a:pathLst>
              </a:custGeom>
              <a:solidFill>
                <a:srgbClr val="000000"/>
              </a:solidFill>
              <a:ln w="9525">
                <a:noFill/>
                <a:round/>
                <a:headEnd/>
                <a:tailEnd/>
              </a:ln>
            </p:spPr>
            <p:txBody>
              <a:bodyPr/>
              <a:lstStyle/>
              <a:p>
                <a:endParaRPr lang="en-US"/>
              </a:p>
            </p:txBody>
          </p:sp>
          <p:sp>
            <p:nvSpPr>
              <p:cNvPr id="26698" name="Freeform 35"/>
              <p:cNvSpPr>
                <a:spLocks/>
              </p:cNvSpPr>
              <p:nvPr/>
            </p:nvSpPr>
            <p:spPr bwMode="auto">
              <a:xfrm>
                <a:off x="2169" y="3499"/>
                <a:ext cx="125" cy="253"/>
              </a:xfrm>
              <a:custGeom>
                <a:avLst/>
                <a:gdLst>
                  <a:gd name="T0" fmla="*/ 1 w 249"/>
                  <a:gd name="T1" fmla="*/ 0 h 507"/>
                  <a:gd name="T2" fmla="*/ 1 w 249"/>
                  <a:gd name="T3" fmla="*/ 0 h 507"/>
                  <a:gd name="T4" fmla="*/ 0 w 249"/>
                  <a:gd name="T5" fmla="*/ 0 h 507"/>
                  <a:gd name="T6" fmla="*/ 0 w 249"/>
                  <a:gd name="T7" fmla="*/ 0 h 507"/>
                  <a:gd name="T8" fmla="*/ 1 w 249"/>
                  <a:gd name="T9" fmla="*/ 0 h 507"/>
                  <a:gd name="T10" fmla="*/ 0 60000 65536"/>
                  <a:gd name="T11" fmla="*/ 0 60000 65536"/>
                  <a:gd name="T12" fmla="*/ 0 60000 65536"/>
                  <a:gd name="T13" fmla="*/ 0 60000 65536"/>
                  <a:gd name="T14" fmla="*/ 0 60000 65536"/>
                  <a:gd name="T15" fmla="*/ 0 w 249"/>
                  <a:gd name="T16" fmla="*/ 0 h 507"/>
                  <a:gd name="T17" fmla="*/ 249 w 249"/>
                  <a:gd name="T18" fmla="*/ 507 h 507"/>
                </a:gdLst>
                <a:ahLst/>
                <a:cxnLst>
                  <a:cxn ang="T10">
                    <a:pos x="T0" y="T1"/>
                  </a:cxn>
                  <a:cxn ang="T11">
                    <a:pos x="T2" y="T3"/>
                  </a:cxn>
                  <a:cxn ang="T12">
                    <a:pos x="T4" y="T5"/>
                  </a:cxn>
                  <a:cxn ang="T13">
                    <a:pos x="T6" y="T7"/>
                  </a:cxn>
                  <a:cxn ang="T14">
                    <a:pos x="T8" y="T9"/>
                  </a:cxn>
                </a:cxnLst>
                <a:rect l="T15" t="T16" r="T17" b="T18"/>
                <a:pathLst>
                  <a:path w="249" h="507">
                    <a:moveTo>
                      <a:pt x="249" y="0"/>
                    </a:moveTo>
                    <a:lnTo>
                      <a:pt x="247" y="364"/>
                    </a:lnTo>
                    <a:lnTo>
                      <a:pt x="0" y="507"/>
                    </a:lnTo>
                    <a:lnTo>
                      <a:pt x="0" y="144"/>
                    </a:lnTo>
                    <a:lnTo>
                      <a:pt x="249" y="0"/>
                    </a:lnTo>
                    <a:close/>
                  </a:path>
                </a:pathLst>
              </a:custGeom>
              <a:solidFill>
                <a:srgbClr val="4CFF00"/>
              </a:solidFill>
              <a:ln w="9525">
                <a:noFill/>
                <a:round/>
                <a:headEnd/>
                <a:tailEnd/>
              </a:ln>
            </p:spPr>
            <p:txBody>
              <a:bodyPr/>
              <a:lstStyle/>
              <a:p>
                <a:endParaRPr lang="en-US"/>
              </a:p>
            </p:txBody>
          </p:sp>
          <p:sp>
            <p:nvSpPr>
              <p:cNvPr id="26699" name="Freeform 36"/>
              <p:cNvSpPr>
                <a:spLocks/>
              </p:cNvSpPr>
              <p:nvPr/>
            </p:nvSpPr>
            <p:spPr bwMode="auto">
              <a:xfrm>
                <a:off x="2288" y="3499"/>
                <a:ext cx="11" cy="188"/>
              </a:xfrm>
              <a:custGeom>
                <a:avLst/>
                <a:gdLst>
                  <a:gd name="T0" fmla="*/ 0 w 24"/>
                  <a:gd name="T1" fmla="*/ 1 h 375"/>
                  <a:gd name="T2" fmla="*/ 0 w 24"/>
                  <a:gd name="T3" fmla="*/ 1 h 375"/>
                  <a:gd name="T4" fmla="*/ 0 w 24"/>
                  <a:gd name="T5" fmla="*/ 0 h 375"/>
                  <a:gd name="T6" fmla="*/ 0 w 24"/>
                  <a:gd name="T7" fmla="*/ 0 h 375"/>
                  <a:gd name="T8" fmla="*/ 0 w 24"/>
                  <a:gd name="T9" fmla="*/ 1 h 375"/>
                  <a:gd name="T10" fmla="*/ 0 w 24"/>
                  <a:gd name="T11" fmla="*/ 1 h 375"/>
                  <a:gd name="T12" fmla="*/ 0 w 24"/>
                  <a:gd name="T13" fmla="*/ 1 h 375"/>
                  <a:gd name="T14" fmla="*/ 0 w 24"/>
                  <a:gd name="T15" fmla="*/ 1 h 375"/>
                  <a:gd name="T16" fmla="*/ 0 w 24"/>
                  <a:gd name="T17" fmla="*/ 1 h 375"/>
                  <a:gd name="T18" fmla="*/ 0 w 24"/>
                  <a:gd name="T19" fmla="*/ 1 h 375"/>
                  <a:gd name="T20" fmla="*/ 0 w 24"/>
                  <a:gd name="T21" fmla="*/ 1 h 375"/>
                  <a:gd name="T22" fmla="*/ 0 w 24"/>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75"/>
                  <a:gd name="T38" fmla="*/ 24 w 24"/>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75">
                    <a:moveTo>
                      <a:pt x="16" y="374"/>
                    </a:moveTo>
                    <a:lnTo>
                      <a:pt x="22" y="364"/>
                    </a:lnTo>
                    <a:lnTo>
                      <a:pt x="24" y="0"/>
                    </a:lnTo>
                    <a:lnTo>
                      <a:pt x="2" y="0"/>
                    </a:lnTo>
                    <a:lnTo>
                      <a:pt x="0" y="364"/>
                    </a:lnTo>
                    <a:lnTo>
                      <a:pt x="6" y="355"/>
                    </a:lnTo>
                    <a:lnTo>
                      <a:pt x="0" y="364"/>
                    </a:lnTo>
                    <a:lnTo>
                      <a:pt x="3" y="372"/>
                    </a:lnTo>
                    <a:lnTo>
                      <a:pt x="11" y="375"/>
                    </a:lnTo>
                    <a:lnTo>
                      <a:pt x="19" y="372"/>
                    </a:lnTo>
                    <a:lnTo>
                      <a:pt x="22" y="364"/>
                    </a:lnTo>
                    <a:lnTo>
                      <a:pt x="16" y="374"/>
                    </a:lnTo>
                    <a:close/>
                  </a:path>
                </a:pathLst>
              </a:custGeom>
              <a:solidFill>
                <a:srgbClr val="000000"/>
              </a:solidFill>
              <a:ln w="9525">
                <a:noFill/>
                <a:round/>
                <a:headEnd/>
                <a:tailEnd/>
              </a:ln>
            </p:spPr>
            <p:txBody>
              <a:bodyPr/>
              <a:lstStyle/>
              <a:p>
                <a:endParaRPr lang="en-US"/>
              </a:p>
            </p:txBody>
          </p:sp>
          <p:sp>
            <p:nvSpPr>
              <p:cNvPr id="26700" name="Freeform 37"/>
              <p:cNvSpPr>
                <a:spLocks/>
              </p:cNvSpPr>
              <p:nvPr/>
            </p:nvSpPr>
            <p:spPr bwMode="auto">
              <a:xfrm>
                <a:off x="2164" y="3677"/>
                <a:ext cx="131" cy="80"/>
              </a:xfrm>
              <a:custGeom>
                <a:avLst/>
                <a:gdLst>
                  <a:gd name="T0" fmla="*/ 0 w 263"/>
                  <a:gd name="T1" fmla="*/ 0 h 161"/>
                  <a:gd name="T2" fmla="*/ 0 w 263"/>
                  <a:gd name="T3" fmla="*/ 0 h 161"/>
                  <a:gd name="T4" fmla="*/ 0 w 263"/>
                  <a:gd name="T5" fmla="*/ 0 h 161"/>
                  <a:gd name="T6" fmla="*/ 0 w 263"/>
                  <a:gd name="T7" fmla="*/ 0 h 161"/>
                  <a:gd name="T8" fmla="*/ 0 w 263"/>
                  <a:gd name="T9" fmla="*/ 0 h 161"/>
                  <a:gd name="T10" fmla="*/ 0 w 263"/>
                  <a:gd name="T11" fmla="*/ 0 h 161"/>
                  <a:gd name="T12" fmla="*/ 0 w 263"/>
                  <a:gd name="T13" fmla="*/ 0 h 161"/>
                  <a:gd name="T14" fmla="*/ 0 w 263"/>
                  <a:gd name="T15" fmla="*/ 0 h 161"/>
                  <a:gd name="T16" fmla="*/ 0 w 263"/>
                  <a:gd name="T17" fmla="*/ 0 h 161"/>
                  <a:gd name="T18" fmla="*/ 0 w 263"/>
                  <a:gd name="T19" fmla="*/ 0 h 161"/>
                  <a:gd name="T20" fmla="*/ 0 w 263"/>
                  <a:gd name="T21" fmla="*/ 0 h 161"/>
                  <a:gd name="T22" fmla="*/ 0 w 263"/>
                  <a:gd name="T23" fmla="*/ 0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1"/>
                  <a:gd name="T38" fmla="*/ 263 w 263"/>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1">
                    <a:moveTo>
                      <a:pt x="0" y="152"/>
                    </a:moveTo>
                    <a:lnTo>
                      <a:pt x="15" y="161"/>
                    </a:lnTo>
                    <a:lnTo>
                      <a:pt x="263" y="19"/>
                    </a:lnTo>
                    <a:lnTo>
                      <a:pt x="253" y="0"/>
                    </a:lnTo>
                    <a:lnTo>
                      <a:pt x="6" y="142"/>
                    </a:lnTo>
                    <a:lnTo>
                      <a:pt x="22" y="152"/>
                    </a:lnTo>
                    <a:lnTo>
                      <a:pt x="6" y="142"/>
                    </a:lnTo>
                    <a:lnTo>
                      <a:pt x="0" y="149"/>
                    </a:lnTo>
                    <a:lnTo>
                      <a:pt x="1" y="157"/>
                    </a:lnTo>
                    <a:lnTo>
                      <a:pt x="8" y="161"/>
                    </a:lnTo>
                    <a:lnTo>
                      <a:pt x="15" y="161"/>
                    </a:lnTo>
                    <a:lnTo>
                      <a:pt x="0" y="152"/>
                    </a:lnTo>
                    <a:close/>
                  </a:path>
                </a:pathLst>
              </a:custGeom>
              <a:solidFill>
                <a:srgbClr val="000000"/>
              </a:solidFill>
              <a:ln w="9525">
                <a:noFill/>
                <a:round/>
                <a:headEnd/>
                <a:tailEnd/>
              </a:ln>
            </p:spPr>
            <p:txBody>
              <a:bodyPr/>
              <a:lstStyle/>
              <a:p>
                <a:endParaRPr lang="en-US"/>
              </a:p>
            </p:txBody>
          </p:sp>
          <p:sp>
            <p:nvSpPr>
              <p:cNvPr id="26701" name="Freeform 38"/>
              <p:cNvSpPr>
                <a:spLocks/>
              </p:cNvSpPr>
              <p:nvPr/>
            </p:nvSpPr>
            <p:spPr bwMode="auto">
              <a:xfrm>
                <a:off x="2164" y="3565"/>
                <a:ext cx="11" cy="187"/>
              </a:xfrm>
              <a:custGeom>
                <a:avLst/>
                <a:gdLst>
                  <a:gd name="T0" fmla="*/ 1 w 22"/>
                  <a:gd name="T1" fmla="*/ 1 h 374"/>
                  <a:gd name="T2" fmla="*/ 0 w 22"/>
                  <a:gd name="T3" fmla="*/ 1 h 374"/>
                  <a:gd name="T4" fmla="*/ 0 w 22"/>
                  <a:gd name="T5" fmla="*/ 1 h 374"/>
                  <a:gd name="T6" fmla="*/ 1 w 22"/>
                  <a:gd name="T7" fmla="*/ 1 h 374"/>
                  <a:gd name="T8" fmla="*/ 1 w 22"/>
                  <a:gd name="T9" fmla="*/ 1 h 374"/>
                  <a:gd name="T10" fmla="*/ 1 w 22"/>
                  <a:gd name="T11" fmla="*/ 1 h 374"/>
                  <a:gd name="T12" fmla="*/ 1 w 22"/>
                  <a:gd name="T13" fmla="*/ 1 h 374"/>
                  <a:gd name="T14" fmla="*/ 1 w 22"/>
                  <a:gd name="T15" fmla="*/ 1 h 374"/>
                  <a:gd name="T16" fmla="*/ 1 w 22"/>
                  <a:gd name="T17" fmla="*/ 0 h 374"/>
                  <a:gd name="T18" fmla="*/ 1 w 22"/>
                  <a:gd name="T19" fmla="*/ 1 h 374"/>
                  <a:gd name="T20" fmla="*/ 0 w 22"/>
                  <a:gd name="T21" fmla="*/ 1 h 374"/>
                  <a:gd name="T22" fmla="*/ 1 w 22"/>
                  <a:gd name="T23" fmla="*/ 1 h 37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4"/>
                  <a:gd name="T38" fmla="*/ 22 w 22"/>
                  <a:gd name="T39" fmla="*/ 374 h 37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4">
                    <a:moveTo>
                      <a:pt x="4" y="1"/>
                    </a:moveTo>
                    <a:lnTo>
                      <a:pt x="0" y="11"/>
                    </a:lnTo>
                    <a:lnTo>
                      <a:pt x="0" y="374"/>
                    </a:lnTo>
                    <a:lnTo>
                      <a:pt x="22" y="374"/>
                    </a:lnTo>
                    <a:lnTo>
                      <a:pt x="22" y="11"/>
                    </a:lnTo>
                    <a:lnTo>
                      <a:pt x="17" y="20"/>
                    </a:lnTo>
                    <a:lnTo>
                      <a:pt x="22" y="11"/>
                    </a:lnTo>
                    <a:lnTo>
                      <a:pt x="19" y="3"/>
                    </a:lnTo>
                    <a:lnTo>
                      <a:pt x="11" y="0"/>
                    </a:lnTo>
                    <a:lnTo>
                      <a:pt x="3" y="3"/>
                    </a:lnTo>
                    <a:lnTo>
                      <a:pt x="0" y="11"/>
                    </a:lnTo>
                    <a:lnTo>
                      <a:pt x="4" y="1"/>
                    </a:lnTo>
                    <a:close/>
                  </a:path>
                </a:pathLst>
              </a:custGeom>
              <a:solidFill>
                <a:srgbClr val="000000"/>
              </a:solidFill>
              <a:ln w="9525">
                <a:noFill/>
                <a:round/>
                <a:headEnd/>
                <a:tailEnd/>
              </a:ln>
            </p:spPr>
            <p:txBody>
              <a:bodyPr/>
              <a:lstStyle/>
              <a:p>
                <a:endParaRPr lang="en-US"/>
              </a:p>
            </p:txBody>
          </p:sp>
          <p:sp>
            <p:nvSpPr>
              <p:cNvPr id="26702" name="Freeform 39"/>
              <p:cNvSpPr>
                <a:spLocks/>
              </p:cNvSpPr>
              <p:nvPr/>
            </p:nvSpPr>
            <p:spPr bwMode="auto">
              <a:xfrm>
                <a:off x="2166" y="3493"/>
                <a:ext cx="133" cy="83"/>
              </a:xfrm>
              <a:custGeom>
                <a:avLst/>
                <a:gdLst>
                  <a:gd name="T0" fmla="*/ 0 w 267"/>
                  <a:gd name="T1" fmla="*/ 1 h 164"/>
                  <a:gd name="T2" fmla="*/ 0 w 267"/>
                  <a:gd name="T3" fmla="*/ 1 h 164"/>
                  <a:gd name="T4" fmla="*/ 0 w 267"/>
                  <a:gd name="T5" fmla="*/ 1 h 164"/>
                  <a:gd name="T6" fmla="*/ 0 w 267"/>
                  <a:gd name="T7" fmla="*/ 1 h 164"/>
                  <a:gd name="T8" fmla="*/ 0 w 267"/>
                  <a:gd name="T9" fmla="*/ 1 h 164"/>
                  <a:gd name="T10" fmla="*/ 0 w 267"/>
                  <a:gd name="T11" fmla="*/ 1 h 164"/>
                  <a:gd name="T12" fmla="*/ 0 w 267"/>
                  <a:gd name="T13" fmla="*/ 1 h 164"/>
                  <a:gd name="T14" fmla="*/ 0 w 267"/>
                  <a:gd name="T15" fmla="*/ 1 h 164"/>
                  <a:gd name="T16" fmla="*/ 0 w 267"/>
                  <a:gd name="T17" fmla="*/ 1 h 164"/>
                  <a:gd name="T18" fmla="*/ 0 w 267"/>
                  <a:gd name="T19" fmla="*/ 0 h 164"/>
                  <a:gd name="T20" fmla="*/ 0 w 267"/>
                  <a:gd name="T21" fmla="*/ 1 h 164"/>
                  <a:gd name="T22" fmla="*/ 0 w 267"/>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7"/>
                  <a:gd name="T37" fmla="*/ 0 h 164"/>
                  <a:gd name="T38" fmla="*/ 267 w 267"/>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7" h="164">
                    <a:moveTo>
                      <a:pt x="267" y="11"/>
                    </a:moveTo>
                    <a:lnTo>
                      <a:pt x="249" y="2"/>
                    </a:lnTo>
                    <a:lnTo>
                      <a:pt x="0" y="145"/>
                    </a:lnTo>
                    <a:lnTo>
                      <a:pt x="13" y="164"/>
                    </a:lnTo>
                    <a:lnTo>
                      <a:pt x="262" y="20"/>
                    </a:lnTo>
                    <a:lnTo>
                      <a:pt x="245" y="11"/>
                    </a:lnTo>
                    <a:lnTo>
                      <a:pt x="262" y="20"/>
                    </a:lnTo>
                    <a:lnTo>
                      <a:pt x="267" y="12"/>
                    </a:lnTo>
                    <a:lnTo>
                      <a:pt x="265" y="5"/>
                    </a:lnTo>
                    <a:lnTo>
                      <a:pt x="259" y="0"/>
                    </a:lnTo>
                    <a:lnTo>
                      <a:pt x="249" y="2"/>
                    </a:lnTo>
                    <a:lnTo>
                      <a:pt x="267" y="11"/>
                    </a:lnTo>
                    <a:close/>
                  </a:path>
                </a:pathLst>
              </a:custGeom>
              <a:solidFill>
                <a:srgbClr val="000000"/>
              </a:solidFill>
              <a:ln w="9525">
                <a:noFill/>
                <a:round/>
                <a:headEnd/>
                <a:tailEnd/>
              </a:ln>
            </p:spPr>
            <p:txBody>
              <a:bodyPr/>
              <a:lstStyle/>
              <a:p>
                <a:endParaRPr lang="en-US"/>
              </a:p>
            </p:txBody>
          </p:sp>
          <p:sp>
            <p:nvSpPr>
              <p:cNvPr id="26703" name="Freeform 40"/>
              <p:cNvSpPr>
                <a:spLocks/>
              </p:cNvSpPr>
              <p:nvPr/>
            </p:nvSpPr>
            <p:spPr bwMode="auto">
              <a:xfrm>
                <a:off x="1536" y="3312"/>
                <a:ext cx="768" cy="440"/>
              </a:xfrm>
              <a:custGeom>
                <a:avLst/>
                <a:gdLst>
                  <a:gd name="T0" fmla="*/ 0 w 1536"/>
                  <a:gd name="T1" fmla="*/ 1 h 879"/>
                  <a:gd name="T2" fmla="*/ 1 w 1536"/>
                  <a:gd name="T3" fmla="*/ 0 h 879"/>
                  <a:gd name="T4" fmla="*/ 1 w 1536"/>
                  <a:gd name="T5" fmla="*/ 1 h 879"/>
                  <a:gd name="T6" fmla="*/ 1 w 1536"/>
                  <a:gd name="T7" fmla="*/ 1 h 879"/>
                  <a:gd name="T8" fmla="*/ 0 w 1536"/>
                  <a:gd name="T9" fmla="*/ 1 h 879"/>
                  <a:gd name="T10" fmla="*/ 0 60000 65536"/>
                  <a:gd name="T11" fmla="*/ 0 60000 65536"/>
                  <a:gd name="T12" fmla="*/ 0 60000 65536"/>
                  <a:gd name="T13" fmla="*/ 0 60000 65536"/>
                  <a:gd name="T14" fmla="*/ 0 60000 65536"/>
                  <a:gd name="T15" fmla="*/ 0 w 1536"/>
                  <a:gd name="T16" fmla="*/ 0 h 879"/>
                  <a:gd name="T17" fmla="*/ 1536 w 1536"/>
                  <a:gd name="T18" fmla="*/ 879 h 879"/>
                </a:gdLst>
                <a:ahLst/>
                <a:cxnLst>
                  <a:cxn ang="T10">
                    <a:pos x="T0" y="T1"/>
                  </a:cxn>
                  <a:cxn ang="T11">
                    <a:pos x="T2" y="T3"/>
                  </a:cxn>
                  <a:cxn ang="T12">
                    <a:pos x="T4" y="T5"/>
                  </a:cxn>
                  <a:cxn ang="T13">
                    <a:pos x="T6" y="T7"/>
                  </a:cxn>
                  <a:cxn ang="T14">
                    <a:pos x="T8" y="T9"/>
                  </a:cxn>
                </a:cxnLst>
                <a:rect l="T15" t="T16" r="T17" b="T18"/>
                <a:pathLst>
                  <a:path w="1536" h="879">
                    <a:moveTo>
                      <a:pt x="0" y="544"/>
                    </a:moveTo>
                    <a:lnTo>
                      <a:pt x="932" y="0"/>
                    </a:lnTo>
                    <a:lnTo>
                      <a:pt x="1536" y="335"/>
                    </a:lnTo>
                    <a:lnTo>
                      <a:pt x="608" y="879"/>
                    </a:lnTo>
                    <a:lnTo>
                      <a:pt x="0" y="544"/>
                    </a:lnTo>
                    <a:close/>
                  </a:path>
                </a:pathLst>
              </a:custGeom>
              <a:solidFill>
                <a:srgbClr val="B2FF4C"/>
              </a:solidFill>
              <a:ln w="9525">
                <a:noFill/>
                <a:round/>
                <a:headEnd/>
                <a:tailEnd/>
              </a:ln>
            </p:spPr>
            <p:txBody>
              <a:bodyPr/>
              <a:lstStyle/>
              <a:p>
                <a:endParaRPr lang="en-US"/>
              </a:p>
            </p:txBody>
          </p:sp>
          <p:sp>
            <p:nvSpPr>
              <p:cNvPr id="26704" name="Freeform 41"/>
              <p:cNvSpPr>
                <a:spLocks/>
              </p:cNvSpPr>
              <p:nvPr/>
            </p:nvSpPr>
            <p:spPr bwMode="auto">
              <a:xfrm>
                <a:off x="1533" y="3307"/>
                <a:ext cx="474" cy="282"/>
              </a:xfrm>
              <a:custGeom>
                <a:avLst/>
                <a:gdLst>
                  <a:gd name="T0" fmla="*/ 0 w 949"/>
                  <a:gd name="T1" fmla="*/ 0 h 565"/>
                  <a:gd name="T2" fmla="*/ 0 w 949"/>
                  <a:gd name="T3" fmla="*/ 0 h 565"/>
                  <a:gd name="T4" fmla="*/ 0 w 949"/>
                  <a:gd name="T5" fmla="*/ 0 h 565"/>
                  <a:gd name="T6" fmla="*/ 0 w 949"/>
                  <a:gd name="T7" fmla="*/ 0 h 565"/>
                  <a:gd name="T8" fmla="*/ 0 w 949"/>
                  <a:gd name="T9" fmla="*/ 0 h 565"/>
                  <a:gd name="T10" fmla="*/ 0 w 949"/>
                  <a:gd name="T11" fmla="*/ 0 h 565"/>
                  <a:gd name="T12" fmla="*/ 0 w 949"/>
                  <a:gd name="T13" fmla="*/ 0 h 565"/>
                  <a:gd name="T14" fmla="*/ 0 w 949"/>
                  <a:gd name="T15" fmla="*/ 0 h 565"/>
                  <a:gd name="T16" fmla="*/ 0 w 949"/>
                  <a:gd name="T17" fmla="*/ 0 h 565"/>
                  <a:gd name="T18" fmla="*/ 0 w 949"/>
                  <a:gd name="T19" fmla="*/ 0 h 565"/>
                  <a:gd name="T20" fmla="*/ 0 w 949"/>
                  <a:gd name="T21" fmla="*/ 0 h 565"/>
                  <a:gd name="T22" fmla="*/ 0 w 949"/>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9"/>
                  <a:gd name="T37" fmla="*/ 0 h 565"/>
                  <a:gd name="T38" fmla="*/ 949 w 949"/>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9" h="565">
                    <a:moveTo>
                      <a:pt x="942" y="2"/>
                    </a:moveTo>
                    <a:lnTo>
                      <a:pt x="931" y="2"/>
                    </a:lnTo>
                    <a:lnTo>
                      <a:pt x="0" y="546"/>
                    </a:lnTo>
                    <a:lnTo>
                      <a:pt x="12" y="565"/>
                    </a:lnTo>
                    <a:lnTo>
                      <a:pt x="944" y="20"/>
                    </a:lnTo>
                    <a:lnTo>
                      <a:pt x="933" y="20"/>
                    </a:lnTo>
                    <a:lnTo>
                      <a:pt x="944" y="20"/>
                    </a:lnTo>
                    <a:lnTo>
                      <a:pt x="949" y="13"/>
                    </a:lnTo>
                    <a:lnTo>
                      <a:pt x="947" y="5"/>
                    </a:lnTo>
                    <a:lnTo>
                      <a:pt x="941" y="0"/>
                    </a:lnTo>
                    <a:lnTo>
                      <a:pt x="931" y="2"/>
                    </a:lnTo>
                    <a:lnTo>
                      <a:pt x="942" y="2"/>
                    </a:lnTo>
                    <a:close/>
                  </a:path>
                </a:pathLst>
              </a:custGeom>
              <a:solidFill>
                <a:srgbClr val="000000"/>
              </a:solidFill>
              <a:ln w="9525">
                <a:noFill/>
                <a:round/>
                <a:headEnd/>
                <a:tailEnd/>
              </a:ln>
            </p:spPr>
            <p:txBody>
              <a:bodyPr/>
              <a:lstStyle/>
              <a:p>
                <a:endParaRPr lang="en-US"/>
              </a:p>
            </p:txBody>
          </p:sp>
          <p:sp>
            <p:nvSpPr>
              <p:cNvPr id="26705" name="Freeform 42"/>
              <p:cNvSpPr>
                <a:spLocks/>
              </p:cNvSpPr>
              <p:nvPr/>
            </p:nvSpPr>
            <p:spPr bwMode="auto">
              <a:xfrm>
                <a:off x="1999" y="3307"/>
                <a:ext cx="310" cy="177"/>
              </a:xfrm>
              <a:custGeom>
                <a:avLst/>
                <a:gdLst>
                  <a:gd name="T0" fmla="*/ 1 w 620"/>
                  <a:gd name="T1" fmla="*/ 1 h 353"/>
                  <a:gd name="T2" fmla="*/ 1 w 620"/>
                  <a:gd name="T3" fmla="*/ 1 h 353"/>
                  <a:gd name="T4" fmla="*/ 1 w 620"/>
                  <a:gd name="T5" fmla="*/ 0 h 353"/>
                  <a:gd name="T6" fmla="*/ 0 w 620"/>
                  <a:gd name="T7" fmla="*/ 1 h 353"/>
                  <a:gd name="T8" fmla="*/ 1 w 620"/>
                  <a:gd name="T9" fmla="*/ 1 h 353"/>
                  <a:gd name="T10" fmla="*/ 1 w 620"/>
                  <a:gd name="T11" fmla="*/ 1 h 353"/>
                  <a:gd name="T12" fmla="*/ 1 w 620"/>
                  <a:gd name="T13" fmla="*/ 1 h 353"/>
                  <a:gd name="T14" fmla="*/ 1 w 620"/>
                  <a:gd name="T15" fmla="*/ 1 h 353"/>
                  <a:gd name="T16" fmla="*/ 1 w 620"/>
                  <a:gd name="T17" fmla="*/ 1 h 353"/>
                  <a:gd name="T18" fmla="*/ 1 w 620"/>
                  <a:gd name="T19" fmla="*/ 1 h 353"/>
                  <a:gd name="T20" fmla="*/ 1 w 620"/>
                  <a:gd name="T21" fmla="*/ 1 h 353"/>
                  <a:gd name="T22" fmla="*/ 1 w 620"/>
                  <a:gd name="T23" fmla="*/ 1 h 3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0"/>
                  <a:gd name="T37" fmla="*/ 0 h 353"/>
                  <a:gd name="T38" fmla="*/ 620 w 620"/>
                  <a:gd name="T39" fmla="*/ 353 h 3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0" h="353">
                    <a:moveTo>
                      <a:pt x="615" y="353"/>
                    </a:moveTo>
                    <a:lnTo>
                      <a:pt x="614" y="334"/>
                    </a:lnTo>
                    <a:lnTo>
                      <a:pt x="9" y="0"/>
                    </a:lnTo>
                    <a:lnTo>
                      <a:pt x="0" y="18"/>
                    </a:lnTo>
                    <a:lnTo>
                      <a:pt x="604" y="353"/>
                    </a:lnTo>
                    <a:lnTo>
                      <a:pt x="603" y="334"/>
                    </a:lnTo>
                    <a:lnTo>
                      <a:pt x="604" y="353"/>
                    </a:lnTo>
                    <a:lnTo>
                      <a:pt x="612" y="353"/>
                    </a:lnTo>
                    <a:lnTo>
                      <a:pt x="618" y="349"/>
                    </a:lnTo>
                    <a:lnTo>
                      <a:pt x="620" y="341"/>
                    </a:lnTo>
                    <a:lnTo>
                      <a:pt x="614" y="334"/>
                    </a:lnTo>
                    <a:lnTo>
                      <a:pt x="615" y="353"/>
                    </a:lnTo>
                    <a:close/>
                  </a:path>
                </a:pathLst>
              </a:custGeom>
              <a:solidFill>
                <a:srgbClr val="000000"/>
              </a:solidFill>
              <a:ln w="9525">
                <a:noFill/>
                <a:round/>
                <a:headEnd/>
                <a:tailEnd/>
              </a:ln>
            </p:spPr>
            <p:txBody>
              <a:bodyPr/>
              <a:lstStyle/>
              <a:p>
                <a:endParaRPr lang="en-US"/>
              </a:p>
            </p:txBody>
          </p:sp>
          <p:sp>
            <p:nvSpPr>
              <p:cNvPr id="26706" name="Freeform 43"/>
              <p:cNvSpPr>
                <a:spLocks/>
              </p:cNvSpPr>
              <p:nvPr/>
            </p:nvSpPr>
            <p:spPr bwMode="auto">
              <a:xfrm>
                <a:off x="1834" y="3475"/>
                <a:ext cx="473" cy="282"/>
              </a:xfrm>
              <a:custGeom>
                <a:avLst/>
                <a:gdLst>
                  <a:gd name="T0" fmla="*/ 1 w 945"/>
                  <a:gd name="T1" fmla="*/ 0 h 565"/>
                  <a:gd name="T2" fmla="*/ 1 w 945"/>
                  <a:gd name="T3" fmla="*/ 0 h 565"/>
                  <a:gd name="T4" fmla="*/ 1 w 945"/>
                  <a:gd name="T5" fmla="*/ 0 h 565"/>
                  <a:gd name="T6" fmla="*/ 1 w 945"/>
                  <a:gd name="T7" fmla="*/ 0 h 565"/>
                  <a:gd name="T8" fmla="*/ 1 w 945"/>
                  <a:gd name="T9" fmla="*/ 0 h 565"/>
                  <a:gd name="T10" fmla="*/ 1 w 945"/>
                  <a:gd name="T11" fmla="*/ 0 h 565"/>
                  <a:gd name="T12" fmla="*/ 1 w 945"/>
                  <a:gd name="T13" fmla="*/ 0 h 565"/>
                  <a:gd name="T14" fmla="*/ 0 w 945"/>
                  <a:gd name="T15" fmla="*/ 0 h 565"/>
                  <a:gd name="T16" fmla="*/ 1 w 945"/>
                  <a:gd name="T17" fmla="*/ 0 h 565"/>
                  <a:gd name="T18" fmla="*/ 1 w 945"/>
                  <a:gd name="T19" fmla="*/ 0 h 565"/>
                  <a:gd name="T20" fmla="*/ 1 w 945"/>
                  <a:gd name="T21" fmla="*/ 0 h 565"/>
                  <a:gd name="T22" fmla="*/ 1 w 945"/>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5"/>
                  <a:gd name="T37" fmla="*/ 0 h 565"/>
                  <a:gd name="T38" fmla="*/ 945 w 945"/>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5" h="565">
                    <a:moveTo>
                      <a:pt x="6" y="564"/>
                    </a:moveTo>
                    <a:lnTo>
                      <a:pt x="17" y="564"/>
                    </a:lnTo>
                    <a:lnTo>
                      <a:pt x="945" y="19"/>
                    </a:lnTo>
                    <a:lnTo>
                      <a:pt x="933" y="0"/>
                    </a:lnTo>
                    <a:lnTo>
                      <a:pt x="4" y="545"/>
                    </a:lnTo>
                    <a:lnTo>
                      <a:pt x="15" y="545"/>
                    </a:lnTo>
                    <a:lnTo>
                      <a:pt x="4" y="545"/>
                    </a:lnTo>
                    <a:lnTo>
                      <a:pt x="0" y="553"/>
                    </a:lnTo>
                    <a:lnTo>
                      <a:pt x="1" y="561"/>
                    </a:lnTo>
                    <a:lnTo>
                      <a:pt x="7" y="565"/>
                    </a:lnTo>
                    <a:lnTo>
                      <a:pt x="17" y="564"/>
                    </a:lnTo>
                    <a:lnTo>
                      <a:pt x="6" y="564"/>
                    </a:lnTo>
                    <a:close/>
                  </a:path>
                </a:pathLst>
              </a:custGeom>
              <a:solidFill>
                <a:srgbClr val="000000"/>
              </a:solidFill>
              <a:ln w="9525">
                <a:noFill/>
                <a:round/>
                <a:headEnd/>
                <a:tailEnd/>
              </a:ln>
            </p:spPr>
            <p:txBody>
              <a:bodyPr/>
              <a:lstStyle/>
              <a:p>
                <a:endParaRPr lang="en-US"/>
              </a:p>
            </p:txBody>
          </p:sp>
          <p:sp>
            <p:nvSpPr>
              <p:cNvPr id="26707" name="Freeform 44"/>
              <p:cNvSpPr>
                <a:spLocks/>
              </p:cNvSpPr>
              <p:nvPr/>
            </p:nvSpPr>
            <p:spPr bwMode="auto">
              <a:xfrm>
                <a:off x="1531" y="3580"/>
                <a:ext cx="311" cy="176"/>
              </a:xfrm>
              <a:custGeom>
                <a:avLst/>
                <a:gdLst>
                  <a:gd name="T0" fmla="*/ 0 w 623"/>
                  <a:gd name="T1" fmla="*/ 0 h 354"/>
                  <a:gd name="T2" fmla="*/ 0 w 623"/>
                  <a:gd name="T3" fmla="*/ 0 h 354"/>
                  <a:gd name="T4" fmla="*/ 0 w 623"/>
                  <a:gd name="T5" fmla="*/ 0 h 354"/>
                  <a:gd name="T6" fmla="*/ 0 w 623"/>
                  <a:gd name="T7" fmla="*/ 0 h 354"/>
                  <a:gd name="T8" fmla="*/ 0 w 623"/>
                  <a:gd name="T9" fmla="*/ 0 h 354"/>
                  <a:gd name="T10" fmla="*/ 0 w 623"/>
                  <a:gd name="T11" fmla="*/ 0 h 354"/>
                  <a:gd name="T12" fmla="*/ 0 w 623"/>
                  <a:gd name="T13" fmla="*/ 0 h 354"/>
                  <a:gd name="T14" fmla="*/ 0 w 623"/>
                  <a:gd name="T15" fmla="*/ 0 h 354"/>
                  <a:gd name="T16" fmla="*/ 0 w 623"/>
                  <a:gd name="T17" fmla="*/ 0 h 354"/>
                  <a:gd name="T18" fmla="*/ 0 w 623"/>
                  <a:gd name="T19" fmla="*/ 0 h 354"/>
                  <a:gd name="T20" fmla="*/ 0 w 623"/>
                  <a:gd name="T21" fmla="*/ 0 h 354"/>
                  <a:gd name="T22" fmla="*/ 0 w 623"/>
                  <a:gd name="T23" fmla="*/ 0 h 3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3"/>
                  <a:gd name="T37" fmla="*/ 0 h 354"/>
                  <a:gd name="T38" fmla="*/ 623 w 623"/>
                  <a:gd name="T39" fmla="*/ 354 h 3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3" h="354">
                    <a:moveTo>
                      <a:pt x="5" y="0"/>
                    </a:moveTo>
                    <a:lnTo>
                      <a:pt x="6" y="19"/>
                    </a:lnTo>
                    <a:lnTo>
                      <a:pt x="614" y="354"/>
                    </a:lnTo>
                    <a:lnTo>
                      <a:pt x="623" y="335"/>
                    </a:lnTo>
                    <a:lnTo>
                      <a:pt x="16" y="0"/>
                    </a:lnTo>
                    <a:lnTo>
                      <a:pt x="17" y="19"/>
                    </a:lnTo>
                    <a:lnTo>
                      <a:pt x="16" y="0"/>
                    </a:lnTo>
                    <a:lnTo>
                      <a:pt x="8" y="0"/>
                    </a:lnTo>
                    <a:lnTo>
                      <a:pt x="2" y="5"/>
                    </a:lnTo>
                    <a:lnTo>
                      <a:pt x="0" y="13"/>
                    </a:lnTo>
                    <a:lnTo>
                      <a:pt x="6" y="19"/>
                    </a:lnTo>
                    <a:lnTo>
                      <a:pt x="5" y="0"/>
                    </a:lnTo>
                    <a:close/>
                  </a:path>
                </a:pathLst>
              </a:custGeom>
              <a:solidFill>
                <a:srgbClr val="000000"/>
              </a:solidFill>
              <a:ln w="9525">
                <a:noFill/>
                <a:round/>
                <a:headEnd/>
                <a:tailEnd/>
              </a:ln>
            </p:spPr>
            <p:txBody>
              <a:bodyPr/>
              <a:lstStyle/>
              <a:p>
                <a:endParaRPr lang="en-US"/>
              </a:p>
            </p:txBody>
          </p:sp>
          <p:sp>
            <p:nvSpPr>
              <p:cNvPr id="26708" name="Freeform 45"/>
              <p:cNvSpPr>
                <a:spLocks/>
              </p:cNvSpPr>
              <p:nvPr/>
            </p:nvSpPr>
            <p:spPr bwMode="auto">
              <a:xfrm>
                <a:off x="1555" y="3605"/>
                <a:ext cx="285" cy="343"/>
              </a:xfrm>
              <a:custGeom>
                <a:avLst/>
                <a:gdLst>
                  <a:gd name="T0" fmla="*/ 0 w 570"/>
                  <a:gd name="T1" fmla="*/ 0 h 685"/>
                  <a:gd name="T2" fmla="*/ 0 w 570"/>
                  <a:gd name="T3" fmla="*/ 1 h 685"/>
                  <a:gd name="T4" fmla="*/ 1 w 570"/>
                  <a:gd name="T5" fmla="*/ 1 h 685"/>
                  <a:gd name="T6" fmla="*/ 1 w 570"/>
                  <a:gd name="T7" fmla="*/ 1 h 685"/>
                  <a:gd name="T8" fmla="*/ 0 w 570"/>
                  <a:gd name="T9" fmla="*/ 0 h 685"/>
                  <a:gd name="T10" fmla="*/ 0 60000 65536"/>
                  <a:gd name="T11" fmla="*/ 0 60000 65536"/>
                  <a:gd name="T12" fmla="*/ 0 60000 65536"/>
                  <a:gd name="T13" fmla="*/ 0 60000 65536"/>
                  <a:gd name="T14" fmla="*/ 0 60000 65536"/>
                  <a:gd name="T15" fmla="*/ 0 w 570"/>
                  <a:gd name="T16" fmla="*/ 0 h 685"/>
                  <a:gd name="T17" fmla="*/ 570 w 570"/>
                  <a:gd name="T18" fmla="*/ 685 h 685"/>
                </a:gdLst>
                <a:ahLst/>
                <a:cxnLst>
                  <a:cxn ang="T10">
                    <a:pos x="T0" y="T1"/>
                  </a:cxn>
                  <a:cxn ang="T11">
                    <a:pos x="T2" y="T3"/>
                  </a:cxn>
                  <a:cxn ang="T12">
                    <a:pos x="T4" y="T5"/>
                  </a:cxn>
                  <a:cxn ang="T13">
                    <a:pos x="T6" y="T7"/>
                  </a:cxn>
                  <a:cxn ang="T14">
                    <a:pos x="T8" y="T9"/>
                  </a:cxn>
                </a:cxnLst>
                <a:rect l="T15" t="T16" r="T17" b="T18"/>
                <a:pathLst>
                  <a:path w="570" h="685">
                    <a:moveTo>
                      <a:pt x="0" y="0"/>
                    </a:moveTo>
                    <a:lnTo>
                      <a:pt x="0" y="364"/>
                    </a:lnTo>
                    <a:lnTo>
                      <a:pt x="570" y="685"/>
                    </a:lnTo>
                    <a:lnTo>
                      <a:pt x="570" y="320"/>
                    </a:lnTo>
                    <a:lnTo>
                      <a:pt x="0" y="0"/>
                    </a:lnTo>
                    <a:close/>
                  </a:path>
                </a:pathLst>
              </a:custGeom>
              <a:solidFill>
                <a:srgbClr val="8CFF00"/>
              </a:solidFill>
              <a:ln w="9525">
                <a:noFill/>
                <a:round/>
                <a:headEnd/>
                <a:tailEnd/>
              </a:ln>
            </p:spPr>
            <p:txBody>
              <a:bodyPr/>
              <a:lstStyle/>
              <a:p>
                <a:endParaRPr lang="en-US"/>
              </a:p>
            </p:txBody>
          </p:sp>
          <p:sp>
            <p:nvSpPr>
              <p:cNvPr id="26709" name="Freeform 46"/>
              <p:cNvSpPr>
                <a:spLocks/>
              </p:cNvSpPr>
              <p:nvPr/>
            </p:nvSpPr>
            <p:spPr bwMode="auto">
              <a:xfrm>
                <a:off x="1549" y="3605"/>
                <a:ext cx="11" cy="188"/>
              </a:xfrm>
              <a:custGeom>
                <a:avLst/>
                <a:gdLst>
                  <a:gd name="T0" fmla="*/ 1 w 22"/>
                  <a:gd name="T1" fmla="*/ 1 h 375"/>
                  <a:gd name="T2" fmla="*/ 1 w 22"/>
                  <a:gd name="T3" fmla="*/ 1 h 375"/>
                  <a:gd name="T4" fmla="*/ 1 w 22"/>
                  <a:gd name="T5" fmla="*/ 0 h 375"/>
                  <a:gd name="T6" fmla="*/ 0 w 22"/>
                  <a:gd name="T7" fmla="*/ 0 h 375"/>
                  <a:gd name="T8" fmla="*/ 0 w 22"/>
                  <a:gd name="T9" fmla="*/ 1 h 375"/>
                  <a:gd name="T10" fmla="*/ 1 w 22"/>
                  <a:gd name="T11" fmla="*/ 1 h 375"/>
                  <a:gd name="T12" fmla="*/ 0 w 22"/>
                  <a:gd name="T13" fmla="*/ 1 h 375"/>
                  <a:gd name="T14" fmla="*/ 1 w 22"/>
                  <a:gd name="T15" fmla="*/ 1 h 375"/>
                  <a:gd name="T16" fmla="*/ 1 w 22"/>
                  <a:gd name="T17" fmla="*/ 1 h 375"/>
                  <a:gd name="T18" fmla="*/ 1 w 22"/>
                  <a:gd name="T19" fmla="*/ 1 h 375"/>
                  <a:gd name="T20" fmla="*/ 1 w 22"/>
                  <a:gd name="T21" fmla="*/ 1 h 375"/>
                  <a:gd name="T22" fmla="*/ 1 w 22"/>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5"/>
                  <a:gd name="T38" fmla="*/ 22 w 22"/>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5">
                    <a:moveTo>
                      <a:pt x="15" y="355"/>
                    </a:moveTo>
                    <a:lnTo>
                      <a:pt x="22" y="364"/>
                    </a:lnTo>
                    <a:lnTo>
                      <a:pt x="22" y="0"/>
                    </a:lnTo>
                    <a:lnTo>
                      <a:pt x="0" y="0"/>
                    </a:lnTo>
                    <a:lnTo>
                      <a:pt x="0" y="364"/>
                    </a:lnTo>
                    <a:lnTo>
                      <a:pt x="6" y="374"/>
                    </a:lnTo>
                    <a:lnTo>
                      <a:pt x="0" y="364"/>
                    </a:lnTo>
                    <a:lnTo>
                      <a:pt x="3" y="372"/>
                    </a:lnTo>
                    <a:lnTo>
                      <a:pt x="11" y="375"/>
                    </a:lnTo>
                    <a:lnTo>
                      <a:pt x="18" y="372"/>
                    </a:lnTo>
                    <a:lnTo>
                      <a:pt x="22" y="364"/>
                    </a:lnTo>
                    <a:lnTo>
                      <a:pt x="15" y="355"/>
                    </a:lnTo>
                    <a:close/>
                  </a:path>
                </a:pathLst>
              </a:custGeom>
              <a:solidFill>
                <a:srgbClr val="000000"/>
              </a:solidFill>
              <a:ln w="9525">
                <a:noFill/>
                <a:round/>
                <a:headEnd/>
                <a:tailEnd/>
              </a:ln>
            </p:spPr>
            <p:txBody>
              <a:bodyPr/>
              <a:lstStyle/>
              <a:p>
                <a:endParaRPr lang="en-US"/>
              </a:p>
            </p:txBody>
          </p:sp>
          <p:sp>
            <p:nvSpPr>
              <p:cNvPr id="26710" name="Freeform 47"/>
              <p:cNvSpPr>
                <a:spLocks/>
              </p:cNvSpPr>
              <p:nvPr/>
            </p:nvSpPr>
            <p:spPr bwMode="auto">
              <a:xfrm>
                <a:off x="1552" y="3783"/>
                <a:ext cx="293" cy="170"/>
              </a:xfrm>
              <a:custGeom>
                <a:avLst/>
                <a:gdLst>
                  <a:gd name="T0" fmla="*/ 1 w 585"/>
                  <a:gd name="T1" fmla="*/ 1 h 339"/>
                  <a:gd name="T2" fmla="*/ 1 w 585"/>
                  <a:gd name="T3" fmla="*/ 1 h 339"/>
                  <a:gd name="T4" fmla="*/ 1 w 585"/>
                  <a:gd name="T5" fmla="*/ 0 h 339"/>
                  <a:gd name="T6" fmla="*/ 0 w 585"/>
                  <a:gd name="T7" fmla="*/ 1 h 339"/>
                  <a:gd name="T8" fmla="*/ 1 w 585"/>
                  <a:gd name="T9" fmla="*/ 1 h 339"/>
                  <a:gd name="T10" fmla="*/ 1 w 585"/>
                  <a:gd name="T11" fmla="*/ 1 h 339"/>
                  <a:gd name="T12" fmla="*/ 1 w 585"/>
                  <a:gd name="T13" fmla="*/ 1 h 339"/>
                  <a:gd name="T14" fmla="*/ 1 w 585"/>
                  <a:gd name="T15" fmla="*/ 1 h 339"/>
                  <a:gd name="T16" fmla="*/ 1 w 585"/>
                  <a:gd name="T17" fmla="*/ 1 h 339"/>
                  <a:gd name="T18" fmla="*/ 1 w 585"/>
                  <a:gd name="T19" fmla="*/ 1 h 339"/>
                  <a:gd name="T20" fmla="*/ 1 w 585"/>
                  <a:gd name="T21" fmla="*/ 1 h 339"/>
                  <a:gd name="T22" fmla="*/ 1 w 585"/>
                  <a:gd name="T23" fmla="*/ 1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39"/>
                  <a:gd name="T38" fmla="*/ 585 w 585"/>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39">
                    <a:moveTo>
                      <a:pt x="564" y="330"/>
                    </a:moveTo>
                    <a:lnTo>
                      <a:pt x="579" y="321"/>
                    </a:lnTo>
                    <a:lnTo>
                      <a:pt x="9" y="0"/>
                    </a:lnTo>
                    <a:lnTo>
                      <a:pt x="0" y="19"/>
                    </a:lnTo>
                    <a:lnTo>
                      <a:pt x="570" y="339"/>
                    </a:lnTo>
                    <a:lnTo>
                      <a:pt x="585" y="330"/>
                    </a:lnTo>
                    <a:lnTo>
                      <a:pt x="570" y="339"/>
                    </a:lnTo>
                    <a:lnTo>
                      <a:pt x="578" y="339"/>
                    </a:lnTo>
                    <a:lnTo>
                      <a:pt x="584" y="335"/>
                    </a:lnTo>
                    <a:lnTo>
                      <a:pt x="585" y="327"/>
                    </a:lnTo>
                    <a:lnTo>
                      <a:pt x="579" y="321"/>
                    </a:lnTo>
                    <a:lnTo>
                      <a:pt x="564" y="330"/>
                    </a:lnTo>
                    <a:close/>
                  </a:path>
                </a:pathLst>
              </a:custGeom>
              <a:solidFill>
                <a:srgbClr val="000000"/>
              </a:solidFill>
              <a:ln w="9525">
                <a:noFill/>
                <a:round/>
                <a:headEnd/>
                <a:tailEnd/>
              </a:ln>
            </p:spPr>
            <p:txBody>
              <a:bodyPr/>
              <a:lstStyle/>
              <a:p>
                <a:endParaRPr lang="en-US"/>
              </a:p>
            </p:txBody>
          </p:sp>
          <p:sp>
            <p:nvSpPr>
              <p:cNvPr id="26711" name="Freeform 48"/>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6" y="20"/>
                    </a:moveTo>
                    <a:lnTo>
                      <a:pt x="0" y="10"/>
                    </a:lnTo>
                    <a:lnTo>
                      <a:pt x="0" y="375"/>
                    </a:lnTo>
                    <a:lnTo>
                      <a:pt x="21" y="375"/>
                    </a:lnTo>
                    <a:lnTo>
                      <a:pt x="21" y="10"/>
                    </a:lnTo>
                    <a:lnTo>
                      <a:pt x="15" y="1"/>
                    </a:lnTo>
                    <a:lnTo>
                      <a:pt x="21" y="10"/>
                    </a:lnTo>
                    <a:lnTo>
                      <a:pt x="18" y="3"/>
                    </a:lnTo>
                    <a:lnTo>
                      <a:pt x="11" y="0"/>
                    </a:lnTo>
                    <a:lnTo>
                      <a:pt x="3" y="3"/>
                    </a:lnTo>
                    <a:lnTo>
                      <a:pt x="0" y="10"/>
                    </a:lnTo>
                    <a:lnTo>
                      <a:pt x="6" y="20"/>
                    </a:lnTo>
                    <a:close/>
                  </a:path>
                </a:pathLst>
              </a:custGeom>
              <a:solidFill>
                <a:srgbClr val="000000"/>
              </a:solidFill>
              <a:ln w="9525">
                <a:noFill/>
                <a:round/>
                <a:headEnd/>
                <a:tailEnd/>
              </a:ln>
            </p:spPr>
            <p:txBody>
              <a:bodyPr/>
              <a:lstStyle/>
              <a:p>
                <a:endParaRPr lang="en-US"/>
              </a:p>
            </p:txBody>
          </p:sp>
          <p:sp>
            <p:nvSpPr>
              <p:cNvPr id="26712" name="Freeform 49"/>
              <p:cNvSpPr>
                <a:spLocks/>
              </p:cNvSpPr>
              <p:nvPr/>
            </p:nvSpPr>
            <p:spPr bwMode="auto">
              <a:xfrm>
                <a:off x="1549" y="3601"/>
                <a:ext cx="293" cy="169"/>
              </a:xfrm>
              <a:custGeom>
                <a:avLst/>
                <a:gdLst>
                  <a:gd name="T0" fmla="*/ 1 w 585"/>
                  <a:gd name="T1" fmla="*/ 0 h 340"/>
                  <a:gd name="T2" fmla="*/ 1 w 585"/>
                  <a:gd name="T3" fmla="*/ 0 h 340"/>
                  <a:gd name="T4" fmla="*/ 1 w 585"/>
                  <a:gd name="T5" fmla="*/ 0 h 340"/>
                  <a:gd name="T6" fmla="*/ 1 w 585"/>
                  <a:gd name="T7" fmla="*/ 0 h 340"/>
                  <a:gd name="T8" fmla="*/ 1 w 585"/>
                  <a:gd name="T9" fmla="*/ 0 h 340"/>
                  <a:gd name="T10" fmla="*/ 0 w 585"/>
                  <a:gd name="T11" fmla="*/ 0 h 340"/>
                  <a:gd name="T12" fmla="*/ 1 w 585"/>
                  <a:gd name="T13" fmla="*/ 0 h 340"/>
                  <a:gd name="T14" fmla="*/ 1 w 585"/>
                  <a:gd name="T15" fmla="*/ 0 h 340"/>
                  <a:gd name="T16" fmla="*/ 1 w 585"/>
                  <a:gd name="T17" fmla="*/ 0 h 340"/>
                  <a:gd name="T18" fmla="*/ 0 w 585"/>
                  <a:gd name="T19" fmla="*/ 0 h 340"/>
                  <a:gd name="T20" fmla="*/ 1 w 585"/>
                  <a:gd name="T21" fmla="*/ 0 h 340"/>
                  <a:gd name="T22" fmla="*/ 1 w 585"/>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40"/>
                  <a:gd name="T38" fmla="*/ 585 w 585"/>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40">
                    <a:moveTo>
                      <a:pt x="22" y="10"/>
                    </a:moveTo>
                    <a:lnTo>
                      <a:pt x="6" y="19"/>
                    </a:lnTo>
                    <a:lnTo>
                      <a:pt x="576" y="340"/>
                    </a:lnTo>
                    <a:lnTo>
                      <a:pt x="585" y="321"/>
                    </a:lnTo>
                    <a:lnTo>
                      <a:pt x="15" y="0"/>
                    </a:lnTo>
                    <a:lnTo>
                      <a:pt x="0" y="10"/>
                    </a:lnTo>
                    <a:lnTo>
                      <a:pt x="15" y="0"/>
                    </a:lnTo>
                    <a:lnTo>
                      <a:pt x="7" y="0"/>
                    </a:lnTo>
                    <a:lnTo>
                      <a:pt x="1"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6713" name="Freeform 50"/>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close/>
                  </a:path>
                </a:pathLst>
              </a:custGeom>
              <a:solidFill>
                <a:srgbClr val="8CFF00"/>
              </a:solidFill>
              <a:ln w="9525">
                <a:noFill/>
                <a:round/>
                <a:headEnd/>
                <a:tailEnd/>
              </a:ln>
            </p:spPr>
            <p:txBody>
              <a:bodyPr/>
              <a:lstStyle/>
              <a:p>
                <a:endParaRPr lang="en-US"/>
              </a:p>
            </p:txBody>
          </p:sp>
          <p:sp>
            <p:nvSpPr>
              <p:cNvPr id="26714" name="Freeform 51"/>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path>
                </a:pathLst>
              </a:custGeom>
              <a:noFill/>
              <a:ln w="0">
                <a:solidFill>
                  <a:srgbClr val="000000"/>
                </a:solidFill>
                <a:round/>
                <a:headEnd/>
                <a:tailEnd/>
              </a:ln>
            </p:spPr>
            <p:txBody>
              <a:bodyPr/>
              <a:lstStyle/>
              <a:p>
                <a:endParaRPr lang="en-US"/>
              </a:p>
            </p:txBody>
          </p:sp>
          <p:sp>
            <p:nvSpPr>
              <p:cNvPr id="26715" name="Freeform 52"/>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close/>
                  </a:path>
                </a:pathLst>
              </a:custGeom>
              <a:solidFill>
                <a:srgbClr val="4CFF00"/>
              </a:solidFill>
              <a:ln w="9525">
                <a:noFill/>
                <a:round/>
                <a:headEnd/>
                <a:tailEnd/>
              </a:ln>
            </p:spPr>
            <p:txBody>
              <a:bodyPr/>
              <a:lstStyle/>
              <a:p>
                <a:endParaRPr lang="en-US"/>
              </a:p>
            </p:txBody>
          </p:sp>
          <p:sp>
            <p:nvSpPr>
              <p:cNvPr id="26716" name="Freeform 53"/>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path>
                </a:pathLst>
              </a:custGeom>
              <a:noFill/>
              <a:ln w="0">
                <a:solidFill>
                  <a:srgbClr val="000000"/>
                </a:solidFill>
                <a:round/>
                <a:headEnd/>
                <a:tailEnd/>
              </a:ln>
            </p:spPr>
            <p:txBody>
              <a:bodyPr/>
              <a:lstStyle/>
              <a:p>
                <a:endParaRPr lang="en-US"/>
              </a:p>
            </p:txBody>
          </p:sp>
          <p:sp>
            <p:nvSpPr>
              <p:cNvPr id="26717" name="Freeform 54"/>
              <p:cNvSpPr>
                <a:spLocks/>
              </p:cNvSpPr>
              <p:nvPr/>
            </p:nvSpPr>
            <p:spPr bwMode="auto">
              <a:xfrm>
                <a:off x="1892" y="3496"/>
                <a:ext cx="154" cy="125"/>
              </a:xfrm>
              <a:custGeom>
                <a:avLst/>
                <a:gdLst>
                  <a:gd name="T0" fmla="*/ 0 w 309"/>
                  <a:gd name="T1" fmla="*/ 0 h 250"/>
                  <a:gd name="T2" fmla="*/ 0 w 309"/>
                  <a:gd name="T3" fmla="*/ 1 h 250"/>
                  <a:gd name="T4" fmla="*/ 0 w 309"/>
                  <a:gd name="T5" fmla="*/ 1 h 250"/>
                  <a:gd name="T6" fmla="*/ 0 w 309"/>
                  <a:gd name="T7" fmla="*/ 1 h 250"/>
                  <a:gd name="T8" fmla="*/ 0 w 309"/>
                  <a:gd name="T9" fmla="*/ 0 h 250"/>
                  <a:gd name="T10" fmla="*/ 0 60000 65536"/>
                  <a:gd name="T11" fmla="*/ 0 60000 65536"/>
                  <a:gd name="T12" fmla="*/ 0 60000 65536"/>
                  <a:gd name="T13" fmla="*/ 0 60000 65536"/>
                  <a:gd name="T14" fmla="*/ 0 60000 65536"/>
                  <a:gd name="T15" fmla="*/ 0 w 309"/>
                  <a:gd name="T16" fmla="*/ 0 h 250"/>
                  <a:gd name="T17" fmla="*/ 309 w 309"/>
                  <a:gd name="T18" fmla="*/ 250 h 250"/>
                </a:gdLst>
                <a:ahLst/>
                <a:cxnLst>
                  <a:cxn ang="T10">
                    <a:pos x="T0" y="T1"/>
                  </a:cxn>
                  <a:cxn ang="T11">
                    <a:pos x="T2" y="T3"/>
                  </a:cxn>
                  <a:cxn ang="T12">
                    <a:pos x="T4" y="T5"/>
                  </a:cxn>
                  <a:cxn ang="T13">
                    <a:pos x="T6" y="T7"/>
                  </a:cxn>
                  <a:cxn ang="T14">
                    <a:pos x="T8" y="T9"/>
                  </a:cxn>
                </a:cxnLst>
                <a:rect l="T15" t="T16" r="T17" b="T18"/>
                <a:pathLst>
                  <a:path w="309" h="250">
                    <a:moveTo>
                      <a:pt x="309" y="0"/>
                    </a:moveTo>
                    <a:lnTo>
                      <a:pt x="309" y="64"/>
                    </a:lnTo>
                    <a:lnTo>
                      <a:pt x="0" y="250"/>
                    </a:lnTo>
                    <a:lnTo>
                      <a:pt x="0" y="186"/>
                    </a:lnTo>
                    <a:lnTo>
                      <a:pt x="309" y="0"/>
                    </a:lnTo>
                    <a:close/>
                  </a:path>
                </a:pathLst>
              </a:custGeom>
              <a:solidFill>
                <a:srgbClr val="007FFF"/>
              </a:solidFill>
              <a:ln w="9525">
                <a:noFill/>
                <a:round/>
                <a:headEnd/>
                <a:tailEnd/>
              </a:ln>
            </p:spPr>
            <p:txBody>
              <a:bodyPr/>
              <a:lstStyle/>
              <a:p>
                <a:endParaRPr lang="en-US"/>
              </a:p>
            </p:txBody>
          </p:sp>
          <p:sp>
            <p:nvSpPr>
              <p:cNvPr id="26718" name="Freeform 55"/>
              <p:cNvSpPr>
                <a:spLocks/>
              </p:cNvSpPr>
              <p:nvPr/>
            </p:nvSpPr>
            <p:spPr bwMode="auto">
              <a:xfrm>
                <a:off x="2041" y="3496"/>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7" y="73"/>
                    </a:moveTo>
                    <a:lnTo>
                      <a:pt x="22" y="64"/>
                    </a:lnTo>
                    <a:lnTo>
                      <a:pt x="22" y="0"/>
                    </a:lnTo>
                    <a:lnTo>
                      <a:pt x="0" y="0"/>
                    </a:lnTo>
                    <a:lnTo>
                      <a:pt x="0" y="64"/>
                    </a:lnTo>
                    <a:lnTo>
                      <a:pt x="5" y="54"/>
                    </a:lnTo>
                    <a:lnTo>
                      <a:pt x="0" y="64"/>
                    </a:lnTo>
                    <a:lnTo>
                      <a:pt x="3" y="72"/>
                    </a:lnTo>
                    <a:lnTo>
                      <a:pt x="11" y="75"/>
                    </a:lnTo>
                    <a:lnTo>
                      <a:pt x="19" y="72"/>
                    </a:lnTo>
                    <a:lnTo>
                      <a:pt x="22" y="64"/>
                    </a:lnTo>
                    <a:lnTo>
                      <a:pt x="17" y="73"/>
                    </a:lnTo>
                    <a:close/>
                  </a:path>
                </a:pathLst>
              </a:custGeom>
              <a:solidFill>
                <a:srgbClr val="000000"/>
              </a:solidFill>
              <a:ln w="9525">
                <a:noFill/>
                <a:round/>
                <a:headEnd/>
                <a:tailEnd/>
              </a:ln>
            </p:spPr>
            <p:txBody>
              <a:bodyPr/>
              <a:lstStyle/>
              <a:p>
                <a:endParaRPr lang="en-US"/>
              </a:p>
            </p:txBody>
          </p:sp>
          <p:sp>
            <p:nvSpPr>
              <p:cNvPr id="26719" name="Freeform 56"/>
              <p:cNvSpPr>
                <a:spLocks/>
              </p:cNvSpPr>
              <p:nvPr/>
            </p:nvSpPr>
            <p:spPr bwMode="auto">
              <a:xfrm>
                <a:off x="1887" y="3523"/>
                <a:ext cx="163" cy="103"/>
              </a:xfrm>
              <a:custGeom>
                <a:avLst/>
                <a:gdLst>
                  <a:gd name="T0" fmla="*/ 0 w 326"/>
                  <a:gd name="T1" fmla="*/ 0 h 207"/>
                  <a:gd name="T2" fmla="*/ 1 w 326"/>
                  <a:gd name="T3" fmla="*/ 0 h 207"/>
                  <a:gd name="T4" fmla="*/ 1 w 326"/>
                  <a:gd name="T5" fmla="*/ 0 h 207"/>
                  <a:gd name="T6" fmla="*/ 1 w 326"/>
                  <a:gd name="T7" fmla="*/ 0 h 207"/>
                  <a:gd name="T8" fmla="*/ 1 w 326"/>
                  <a:gd name="T9" fmla="*/ 0 h 207"/>
                  <a:gd name="T10" fmla="*/ 1 w 326"/>
                  <a:gd name="T11" fmla="*/ 0 h 207"/>
                  <a:gd name="T12" fmla="*/ 1 w 326"/>
                  <a:gd name="T13" fmla="*/ 0 h 207"/>
                  <a:gd name="T14" fmla="*/ 0 w 326"/>
                  <a:gd name="T15" fmla="*/ 0 h 207"/>
                  <a:gd name="T16" fmla="*/ 1 w 326"/>
                  <a:gd name="T17" fmla="*/ 0 h 207"/>
                  <a:gd name="T18" fmla="*/ 1 w 326"/>
                  <a:gd name="T19" fmla="*/ 0 h 207"/>
                  <a:gd name="T20" fmla="*/ 1 w 326"/>
                  <a:gd name="T21" fmla="*/ 0 h 207"/>
                  <a:gd name="T22" fmla="*/ 0 w 326"/>
                  <a:gd name="T23" fmla="*/ 0 h 2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7"/>
                  <a:gd name="T38" fmla="*/ 326 w 326"/>
                  <a:gd name="T39" fmla="*/ 207 h 2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7">
                    <a:moveTo>
                      <a:pt x="0" y="196"/>
                    </a:moveTo>
                    <a:lnTo>
                      <a:pt x="18" y="205"/>
                    </a:lnTo>
                    <a:lnTo>
                      <a:pt x="326" y="19"/>
                    </a:lnTo>
                    <a:lnTo>
                      <a:pt x="314" y="0"/>
                    </a:lnTo>
                    <a:lnTo>
                      <a:pt x="5" y="187"/>
                    </a:lnTo>
                    <a:lnTo>
                      <a:pt x="22" y="196"/>
                    </a:lnTo>
                    <a:lnTo>
                      <a:pt x="5" y="187"/>
                    </a:lnTo>
                    <a:lnTo>
                      <a:pt x="0" y="194"/>
                    </a:lnTo>
                    <a:lnTo>
                      <a:pt x="2" y="202"/>
                    </a:lnTo>
                    <a:lnTo>
                      <a:pt x="8" y="207"/>
                    </a:lnTo>
                    <a:lnTo>
                      <a:pt x="18" y="205"/>
                    </a:lnTo>
                    <a:lnTo>
                      <a:pt x="0" y="196"/>
                    </a:lnTo>
                    <a:close/>
                  </a:path>
                </a:pathLst>
              </a:custGeom>
              <a:solidFill>
                <a:srgbClr val="000000"/>
              </a:solidFill>
              <a:ln w="9525">
                <a:noFill/>
                <a:round/>
                <a:headEnd/>
                <a:tailEnd/>
              </a:ln>
            </p:spPr>
            <p:txBody>
              <a:bodyPr/>
              <a:lstStyle/>
              <a:p>
                <a:endParaRPr lang="en-US"/>
              </a:p>
            </p:txBody>
          </p:sp>
          <p:sp>
            <p:nvSpPr>
              <p:cNvPr id="26720" name="Freeform 57"/>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5" y="1"/>
                    </a:moveTo>
                    <a:lnTo>
                      <a:pt x="0" y="11"/>
                    </a:lnTo>
                    <a:lnTo>
                      <a:pt x="0" y="75"/>
                    </a:lnTo>
                    <a:lnTo>
                      <a:pt x="22" y="75"/>
                    </a:lnTo>
                    <a:lnTo>
                      <a:pt x="22" y="11"/>
                    </a:lnTo>
                    <a:lnTo>
                      <a:pt x="18" y="20"/>
                    </a:lnTo>
                    <a:lnTo>
                      <a:pt x="22" y="11"/>
                    </a:lnTo>
                    <a:lnTo>
                      <a:pt x="19" y="3"/>
                    </a:lnTo>
                    <a:lnTo>
                      <a:pt x="11" y="0"/>
                    </a:lnTo>
                    <a:lnTo>
                      <a:pt x="4" y="3"/>
                    </a:lnTo>
                    <a:lnTo>
                      <a:pt x="0" y="11"/>
                    </a:lnTo>
                    <a:lnTo>
                      <a:pt x="5" y="1"/>
                    </a:lnTo>
                    <a:close/>
                  </a:path>
                </a:pathLst>
              </a:custGeom>
              <a:solidFill>
                <a:srgbClr val="000000"/>
              </a:solidFill>
              <a:ln w="9525">
                <a:noFill/>
                <a:round/>
                <a:headEnd/>
                <a:tailEnd/>
              </a:ln>
            </p:spPr>
            <p:txBody>
              <a:bodyPr/>
              <a:lstStyle/>
              <a:p>
                <a:endParaRPr lang="en-US"/>
              </a:p>
            </p:txBody>
          </p:sp>
          <p:sp>
            <p:nvSpPr>
              <p:cNvPr id="26721" name="Freeform 58"/>
              <p:cNvSpPr>
                <a:spLocks/>
              </p:cNvSpPr>
              <p:nvPr/>
            </p:nvSpPr>
            <p:spPr bwMode="auto">
              <a:xfrm>
                <a:off x="1889" y="3490"/>
                <a:ext cx="163" cy="104"/>
              </a:xfrm>
              <a:custGeom>
                <a:avLst/>
                <a:gdLst>
                  <a:gd name="T0" fmla="*/ 1 w 326"/>
                  <a:gd name="T1" fmla="*/ 1 h 206"/>
                  <a:gd name="T2" fmla="*/ 1 w 326"/>
                  <a:gd name="T3" fmla="*/ 1 h 206"/>
                  <a:gd name="T4" fmla="*/ 0 w 326"/>
                  <a:gd name="T5" fmla="*/ 1 h 206"/>
                  <a:gd name="T6" fmla="*/ 1 w 326"/>
                  <a:gd name="T7" fmla="*/ 1 h 206"/>
                  <a:gd name="T8" fmla="*/ 1 w 326"/>
                  <a:gd name="T9" fmla="*/ 1 h 206"/>
                  <a:gd name="T10" fmla="*/ 1 w 326"/>
                  <a:gd name="T11" fmla="*/ 1 h 206"/>
                  <a:gd name="T12" fmla="*/ 1 w 326"/>
                  <a:gd name="T13" fmla="*/ 1 h 206"/>
                  <a:gd name="T14" fmla="*/ 1 w 326"/>
                  <a:gd name="T15" fmla="*/ 1 h 206"/>
                  <a:gd name="T16" fmla="*/ 1 w 326"/>
                  <a:gd name="T17" fmla="*/ 1 h 206"/>
                  <a:gd name="T18" fmla="*/ 1 w 326"/>
                  <a:gd name="T19" fmla="*/ 0 h 206"/>
                  <a:gd name="T20" fmla="*/ 1 w 326"/>
                  <a:gd name="T21" fmla="*/ 1 h 206"/>
                  <a:gd name="T22" fmla="*/ 1 w 326"/>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6"/>
                  <a:gd name="T38" fmla="*/ 326 w 326"/>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6">
                    <a:moveTo>
                      <a:pt x="326" y="11"/>
                    </a:moveTo>
                    <a:lnTo>
                      <a:pt x="309" y="1"/>
                    </a:lnTo>
                    <a:lnTo>
                      <a:pt x="0" y="187"/>
                    </a:lnTo>
                    <a:lnTo>
                      <a:pt x="13" y="206"/>
                    </a:lnTo>
                    <a:lnTo>
                      <a:pt x="321" y="20"/>
                    </a:lnTo>
                    <a:lnTo>
                      <a:pt x="304" y="11"/>
                    </a:lnTo>
                    <a:lnTo>
                      <a:pt x="321" y="20"/>
                    </a:lnTo>
                    <a:lnTo>
                      <a:pt x="326" y="12"/>
                    </a:lnTo>
                    <a:lnTo>
                      <a:pt x="324" y="4"/>
                    </a:lnTo>
                    <a:lnTo>
                      <a:pt x="318" y="0"/>
                    </a:lnTo>
                    <a:lnTo>
                      <a:pt x="309" y="1"/>
                    </a:lnTo>
                    <a:lnTo>
                      <a:pt x="326" y="11"/>
                    </a:lnTo>
                    <a:close/>
                  </a:path>
                </a:pathLst>
              </a:custGeom>
              <a:solidFill>
                <a:srgbClr val="000000"/>
              </a:solidFill>
              <a:ln w="9525">
                <a:noFill/>
                <a:round/>
                <a:headEnd/>
                <a:tailEnd/>
              </a:ln>
            </p:spPr>
            <p:txBody>
              <a:bodyPr/>
              <a:lstStyle/>
              <a:p>
                <a:endParaRPr lang="en-US"/>
              </a:p>
            </p:txBody>
          </p:sp>
          <p:sp>
            <p:nvSpPr>
              <p:cNvPr id="26722" name="Freeform 59"/>
              <p:cNvSpPr>
                <a:spLocks/>
              </p:cNvSpPr>
              <p:nvPr/>
            </p:nvSpPr>
            <p:spPr bwMode="auto">
              <a:xfrm>
                <a:off x="1765" y="3521"/>
                <a:ext cx="127" cy="100"/>
              </a:xfrm>
              <a:custGeom>
                <a:avLst/>
                <a:gdLst>
                  <a:gd name="T0" fmla="*/ 0 w 255"/>
                  <a:gd name="T1" fmla="*/ 0 h 200"/>
                  <a:gd name="T2" fmla="*/ 0 w 255"/>
                  <a:gd name="T3" fmla="*/ 1 h 200"/>
                  <a:gd name="T4" fmla="*/ 0 w 255"/>
                  <a:gd name="T5" fmla="*/ 1 h 200"/>
                  <a:gd name="T6" fmla="*/ 0 w 255"/>
                  <a:gd name="T7" fmla="*/ 1 h 200"/>
                  <a:gd name="T8" fmla="*/ 0 w 255"/>
                  <a:gd name="T9" fmla="*/ 0 h 200"/>
                  <a:gd name="T10" fmla="*/ 0 60000 65536"/>
                  <a:gd name="T11" fmla="*/ 0 60000 65536"/>
                  <a:gd name="T12" fmla="*/ 0 60000 65536"/>
                  <a:gd name="T13" fmla="*/ 0 60000 65536"/>
                  <a:gd name="T14" fmla="*/ 0 60000 65536"/>
                  <a:gd name="T15" fmla="*/ 0 w 255"/>
                  <a:gd name="T16" fmla="*/ 0 h 200"/>
                  <a:gd name="T17" fmla="*/ 255 w 255"/>
                  <a:gd name="T18" fmla="*/ 200 h 200"/>
                </a:gdLst>
                <a:ahLst/>
                <a:cxnLst>
                  <a:cxn ang="T10">
                    <a:pos x="T0" y="T1"/>
                  </a:cxn>
                  <a:cxn ang="T11">
                    <a:pos x="T2" y="T3"/>
                  </a:cxn>
                  <a:cxn ang="T12">
                    <a:pos x="T4" y="T5"/>
                  </a:cxn>
                  <a:cxn ang="T13">
                    <a:pos x="T6" y="T7"/>
                  </a:cxn>
                  <a:cxn ang="T14">
                    <a:pos x="T8" y="T9"/>
                  </a:cxn>
                </a:cxnLst>
                <a:rect l="T15" t="T16" r="T17" b="T18"/>
                <a:pathLst>
                  <a:path w="255" h="200">
                    <a:moveTo>
                      <a:pt x="0" y="0"/>
                    </a:moveTo>
                    <a:lnTo>
                      <a:pt x="0" y="64"/>
                    </a:lnTo>
                    <a:lnTo>
                      <a:pt x="255" y="200"/>
                    </a:lnTo>
                    <a:lnTo>
                      <a:pt x="255" y="136"/>
                    </a:lnTo>
                    <a:lnTo>
                      <a:pt x="0" y="0"/>
                    </a:lnTo>
                    <a:close/>
                  </a:path>
                </a:pathLst>
              </a:custGeom>
              <a:solidFill>
                <a:srgbClr val="4CB2FF"/>
              </a:solidFill>
              <a:ln w="9525">
                <a:noFill/>
                <a:round/>
                <a:headEnd/>
                <a:tailEnd/>
              </a:ln>
            </p:spPr>
            <p:txBody>
              <a:bodyPr/>
              <a:lstStyle/>
              <a:p>
                <a:endParaRPr lang="en-US"/>
              </a:p>
            </p:txBody>
          </p:sp>
          <p:sp>
            <p:nvSpPr>
              <p:cNvPr id="26723" name="Freeform 60"/>
              <p:cNvSpPr>
                <a:spLocks/>
              </p:cNvSpPr>
              <p:nvPr/>
            </p:nvSpPr>
            <p:spPr bwMode="auto">
              <a:xfrm>
                <a:off x="1759" y="3521"/>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6" y="55"/>
                    </a:moveTo>
                    <a:lnTo>
                      <a:pt x="22" y="64"/>
                    </a:lnTo>
                    <a:lnTo>
                      <a:pt x="22" y="0"/>
                    </a:lnTo>
                    <a:lnTo>
                      <a:pt x="0" y="0"/>
                    </a:lnTo>
                    <a:lnTo>
                      <a:pt x="0" y="64"/>
                    </a:lnTo>
                    <a:lnTo>
                      <a:pt x="7" y="73"/>
                    </a:lnTo>
                    <a:lnTo>
                      <a:pt x="0" y="64"/>
                    </a:lnTo>
                    <a:lnTo>
                      <a:pt x="3" y="72"/>
                    </a:lnTo>
                    <a:lnTo>
                      <a:pt x="11" y="75"/>
                    </a:lnTo>
                    <a:lnTo>
                      <a:pt x="19" y="72"/>
                    </a:lnTo>
                    <a:lnTo>
                      <a:pt x="22" y="64"/>
                    </a:lnTo>
                    <a:lnTo>
                      <a:pt x="16" y="55"/>
                    </a:lnTo>
                    <a:close/>
                  </a:path>
                </a:pathLst>
              </a:custGeom>
              <a:solidFill>
                <a:srgbClr val="000000"/>
              </a:solidFill>
              <a:ln w="9525">
                <a:noFill/>
                <a:round/>
                <a:headEnd/>
                <a:tailEnd/>
              </a:ln>
            </p:spPr>
            <p:txBody>
              <a:bodyPr/>
              <a:lstStyle/>
              <a:p>
                <a:endParaRPr lang="en-US"/>
              </a:p>
            </p:txBody>
          </p:sp>
          <p:sp>
            <p:nvSpPr>
              <p:cNvPr id="26724" name="Freeform 61"/>
              <p:cNvSpPr>
                <a:spLocks/>
              </p:cNvSpPr>
              <p:nvPr/>
            </p:nvSpPr>
            <p:spPr bwMode="auto">
              <a:xfrm>
                <a:off x="1762" y="3548"/>
                <a:ext cx="136" cy="78"/>
              </a:xfrm>
              <a:custGeom>
                <a:avLst/>
                <a:gdLst>
                  <a:gd name="T0" fmla="*/ 1 w 270"/>
                  <a:gd name="T1" fmla="*/ 1 h 154"/>
                  <a:gd name="T2" fmla="*/ 1 w 270"/>
                  <a:gd name="T3" fmla="*/ 1 h 154"/>
                  <a:gd name="T4" fmla="*/ 1 w 270"/>
                  <a:gd name="T5" fmla="*/ 0 h 154"/>
                  <a:gd name="T6" fmla="*/ 0 w 270"/>
                  <a:gd name="T7" fmla="*/ 1 h 154"/>
                  <a:gd name="T8" fmla="*/ 1 w 270"/>
                  <a:gd name="T9" fmla="*/ 1 h 154"/>
                  <a:gd name="T10" fmla="*/ 1 w 270"/>
                  <a:gd name="T11" fmla="*/ 1 h 154"/>
                  <a:gd name="T12" fmla="*/ 1 w 270"/>
                  <a:gd name="T13" fmla="*/ 1 h 154"/>
                  <a:gd name="T14" fmla="*/ 1 w 270"/>
                  <a:gd name="T15" fmla="*/ 1 h 154"/>
                  <a:gd name="T16" fmla="*/ 1 w 270"/>
                  <a:gd name="T17" fmla="*/ 1 h 154"/>
                  <a:gd name="T18" fmla="*/ 1 w 270"/>
                  <a:gd name="T19" fmla="*/ 1 h 154"/>
                  <a:gd name="T20" fmla="*/ 1 w 270"/>
                  <a:gd name="T21" fmla="*/ 1 h 154"/>
                  <a:gd name="T22" fmla="*/ 1 w 270"/>
                  <a:gd name="T23" fmla="*/ 1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0"/>
                  <a:gd name="T37" fmla="*/ 0 h 154"/>
                  <a:gd name="T38" fmla="*/ 270 w 270"/>
                  <a:gd name="T39" fmla="*/ 154 h 1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0" h="154">
                    <a:moveTo>
                      <a:pt x="248" y="145"/>
                    </a:moveTo>
                    <a:lnTo>
                      <a:pt x="264" y="136"/>
                    </a:lnTo>
                    <a:lnTo>
                      <a:pt x="9" y="0"/>
                    </a:lnTo>
                    <a:lnTo>
                      <a:pt x="0" y="18"/>
                    </a:lnTo>
                    <a:lnTo>
                      <a:pt x="255" y="154"/>
                    </a:lnTo>
                    <a:lnTo>
                      <a:pt x="270" y="145"/>
                    </a:lnTo>
                    <a:lnTo>
                      <a:pt x="255" y="154"/>
                    </a:lnTo>
                    <a:lnTo>
                      <a:pt x="263" y="154"/>
                    </a:lnTo>
                    <a:lnTo>
                      <a:pt x="269" y="150"/>
                    </a:lnTo>
                    <a:lnTo>
                      <a:pt x="270" y="142"/>
                    </a:lnTo>
                    <a:lnTo>
                      <a:pt x="264" y="136"/>
                    </a:lnTo>
                    <a:lnTo>
                      <a:pt x="248" y="145"/>
                    </a:lnTo>
                    <a:close/>
                  </a:path>
                </a:pathLst>
              </a:custGeom>
              <a:solidFill>
                <a:srgbClr val="000000"/>
              </a:solidFill>
              <a:ln w="9525">
                <a:noFill/>
                <a:round/>
                <a:headEnd/>
                <a:tailEnd/>
              </a:ln>
            </p:spPr>
            <p:txBody>
              <a:bodyPr/>
              <a:lstStyle/>
              <a:p>
                <a:endParaRPr lang="en-US"/>
              </a:p>
            </p:txBody>
          </p:sp>
          <p:sp>
            <p:nvSpPr>
              <p:cNvPr id="26725" name="Freeform 62"/>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7" y="20"/>
                    </a:moveTo>
                    <a:lnTo>
                      <a:pt x="0" y="11"/>
                    </a:lnTo>
                    <a:lnTo>
                      <a:pt x="0" y="75"/>
                    </a:lnTo>
                    <a:lnTo>
                      <a:pt x="22" y="75"/>
                    </a:lnTo>
                    <a:lnTo>
                      <a:pt x="22" y="11"/>
                    </a:lnTo>
                    <a:lnTo>
                      <a:pt x="16" y="1"/>
                    </a:lnTo>
                    <a:lnTo>
                      <a:pt x="22" y="11"/>
                    </a:lnTo>
                    <a:lnTo>
                      <a:pt x="19" y="3"/>
                    </a:lnTo>
                    <a:lnTo>
                      <a:pt x="11" y="0"/>
                    </a:lnTo>
                    <a:lnTo>
                      <a:pt x="4" y="3"/>
                    </a:lnTo>
                    <a:lnTo>
                      <a:pt x="0" y="11"/>
                    </a:lnTo>
                    <a:lnTo>
                      <a:pt x="7" y="20"/>
                    </a:lnTo>
                    <a:close/>
                  </a:path>
                </a:pathLst>
              </a:custGeom>
              <a:solidFill>
                <a:srgbClr val="000000"/>
              </a:solidFill>
              <a:ln w="9525">
                <a:noFill/>
                <a:round/>
                <a:headEnd/>
                <a:tailEnd/>
              </a:ln>
            </p:spPr>
            <p:txBody>
              <a:bodyPr/>
              <a:lstStyle/>
              <a:p>
                <a:endParaRPr lang="en-US"/>
              </a:p>
            </p:txBody>
          </p:sp>
          <p:sp>
            <p:nvSpPr>
              <p:cNvPr id="26726" name="Freeform 63"/>
              <p:cNvSpPr>
                <a:spLocks/>
              </p:cNvSpPr>
              <p:nvPr/>
            </p:nvSpPr>
            <p:spPr bwMode="auto">
              <a:xfrm>
                <a:off x="1759" y="3516"/>
                <a:ext cx="136" cy="78"/>
              </a:xfrm>
              <a:custGeom>
                <a:avLst/>
                <a:gdLst>
                  <a:gd name="T0" fmla="*/ 1 w 271"/>
                  <a:gd name="T1" fmla="*/ 1 h 155"/>
                  <a:gd name="T2" fmla="*/ 1 w 271"/>
                  <a:gd name="T3" fmla="*/ 1 h 155"/>
                  <a:gd name="T4" fmla="*/ 1 w 271"/>
                  <a:gd name="T5" fmla="*/ 1 h 155"/>
                  <a:gd name="T6" fmla="*/ 1 w 271"/>
                  <a:gd name="T7" fmla="*/ 1 h 155"/>
                  <a:gd name="T8" fmla="*/ 1 w 271"/>
                  <a:gd name="T9" fmla="*/ 0 h 155"/>
                  <a:gd name="T10" fmla="*/ 0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1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22" y="10"/>
                    </a:moveTo>
                    <a:lnTo>
                      <a:pt x="7" y="19"/>
                    </a:lnTo>
                    <a:lnTo>
                      <a:pt x="262" y="155"/>
                    </a:lnTo>
                    <a:lnTo>
                      <a:pt x="271" y="136"/>
                    </a:lnTo>
                    <a:lnTo>
                      <a:pt x="16" y="0"/>
                    </a:lnTo>
                    <a:lnTo>
                      <a:pt x="0" y="10"/>
                    </a:lnTo>
                    <a:lnTo>
                      <a:pt x="16" y="0"/>
                    </a:lnTo>
                    <a:lnTo>
                      <a:pt x="8" y="0"/>
                    </a:lnTo>
                    <a:lnTo>
                      <a:pt x="2" y="5"/>
                    </a:lnTo>
                    <a:lnTo>
                      <a:pt x="0" y="13"/>
                    </a:lnTo>
                    <a:lnTo>
                      <a:pt x="7" y="19"/>
                    </a:lnTo>
                    <a:lnTo>
                      <a:pt x="22" y="10"/>
                    </a:lnTo>
                    <a:close/>
                  </a:path>
                </a:pathLst>
              </a:custGeom>
              <a:solidFill>
                <a:srgbClr val="000000"/>
              </a:solidFill>
              <a:ln w="9525">
                <a:noFill/>
                <a:round/>
                <a:headEnd/>
                <a:tailEnd/>
              </a:ln>
            </p:spPr>
            <p:txBody>
              <a:bodyPr/>
              <a:lstStyle/>
              <a:p>
                <a:endParaRPr lang="en-US"/>
              </a:p>
            </p:txBody>
          </p:sp>
          <p:sp>
            <p:nvSpPr>
              <p:cNvPr id="26727" name="Freeform 64"/>
              <p:cNvSpPr>
                <a:spLocks/>
              </p:cNvSpPr>
              <p:nvPr/>
            </p:nvSpPr>
            <p:spPr bwMode="auto">
              <a:xfrm>
                <a:off x="1765" y="3428"/>
                <a:ext cx="281" cy="161"/>
              </a:xfrm>
              <a:custGeom>
                <a:avLst/>
                <a:gdLst>
                  <a:gd name="T0" fmla="*/ 0 w 564"/>
                  <a:gd name="T1" fmla="*/ 1 h 322"/>
                  <a:gd name="T2" fmla="*/ 0 w 564"/>
                  <a:gd name="T3" fmla="*/ 0 h 322"/>
                  <a:gd name="T4" fmla="*/ 0 w 564"/>
                  <a:gd name="T5" fmla="*/ 1 h 322"/>
                  <a:gd name="T6" fmla="*/ 0 w 564"/>
                  <a:gd name="T7" fmla="*/ 1 h 322"/>
                  <a:gd name="T8" fmla="*/ 0 w 564"/>
                  <a:gd name="T9" fmla="*/ 1 h 322"/>
                  <a:gd name="T10" fmla="*/ 0 60000 65536"/>
                  <a:gd name="T11" fmla="*/ 0 60000 65536"/>
                  <a:gd name="T12" fmla="*/ 0 60000 65536"/>
                  <a:gd name="T13" fmla="*/ 0 60000 65536"/>
                  <a:gd name="T14" fmla="*/ 0 60000 65536"/>
                  <a:gd name="T15" fmla="*/ 0 w 564"/>
                  <a:gd name="T16" fmla="*/ 0 h 322"/>
                  <a:gd name="T17" fmla="*/ 564 w 564"/>
                  <a:gd name="T18" fmla="*/ 322 h 322"/>
                </a:gdLst>
                <a:ahLst/>
                <a:cxnLst>
                  <a:cxn ang="T10">
                    <a:pos x="T0" y="T1"/>
                  </a:cxn>
                  <a:cxn ang="T11">
                    <a:pos x="T2" y="T3"/>
                  </a:cxn>
                  <a:cxn ang="T12">
                    <a:pos x="T4" y="T5"/>
                  </a:cxn>
                  <a:cxn ang="T13">
                    <a:pos x="T6" y="T7"/>
                  </a:cxn>
                  <a:cxn ang="T14">
                    <a:pos x="T8" y="T9"/>
                  </a:cxn>
                </a:cxnLst>
                <a:rect l="T15" t="T16" r="T17" b="T18"/>
                <a:pathLst>
                  <a:path w="564" h="322">
                    <a:moveTo>
                      <a:pt x="0" y="186"/>
                    </a:moveTo>
                    <a:lnTo>
                      <a:pt x="310" y="0"/>
                    </a:lnTo>
                    <a:lnTo>
                      <a:pt x="564" y="137"/>
                    </a:lnTo>
                    <a:lnTo>
                      <a:pt x="255" y="322"/>
                    </a:lnTo>
                    <a:lnTo>
                      <a:pt x="0" y="186"/>
                    </a:lnTo>
                    <a:close/>
                  </a:path>
                </a:pathLst>
              </a:custGeom>
              <a:solidFill>
                <a:srgbClr val="99D8FF"/>
              </a:solidFill>
              <a:ln w="9525">
                <a:noFill/>
                <a:round/>
                <a:headEnd/>
                <a:tailEnd/>
              </a:ln>
            </p:spPr>
            <p:txBody>
              <a:bodyPr/>
              <a:lstStyle/>
              <a:p>
                <a:endParaRPr lang="en-US"/>
              </a:p>
            </p:txBody>
          </p:sp>
          <p:sp>
            <p:nvSpPr>
              <p:cNvPr id="26728" name="Freeform 65"/>
              <p:cNvSpPr>
                <a:spLocks/>
              </p:cNvSpPr>
              <p:nvPr/>
            </p:nvSpPr>
            <p:spPr bwMode="auto">
              <a:xfrm>
                <a:off x="1761" y="3422"/>
                <a:ext cx="164" cy="104"/>
              </a:xfrm>
              <a:custGeom>
                <a:avLst/>
                <a:gdLst>
                  <a:gd name="T0" fmla="*/ 1 w 327"/>
                  <a:gd name="T1" fmla="*/ 1 h 206"/>
                  <a:gd name="T2" fmla="*/ 1 w 327"/>
                  <a:gd name="T3" fmla="*/ 1 h 206"/>
                  <a:gd name="T4" fmla="*/ 0 w 327"/>
                  <a:gd name="T5" fmla="*/ 1 h 206"/>
                  <a:gd name="T6" fmla="*/ 1 w 327"/>
                  <a:gd name="T7" fmla="*/ 1 h 206"/>
                  <a:gd name="T8" fmla="*/ 1 w 327"/>
                  <a:gd name="T9" fmla="*/ 1 h 206"/>
                  <a:gd name="T10" fmla="*/ 1 w 327"/>
                  <a:gd name="T11" fmla="*/ 1 h 206"/>
                  <a:gd name="T12" fmla="*/ 1 w 327"/>
                  <a:gd name="T13" fmla="*/ 1 h 206"/>
                  <a:gd name="T14" fmla="*/ 1 w 327"/>
                  <a:gd name="T15" fmla="*/ 1 h 206"/>
                  <a:gd name="T16" fmla="*/ 1 w 327"/>
                  <a:gd name="T17" fmla="*/ 1 h 206"/>
                  <a:gd name="T18" fmla="*/ 1 w 327"/>
                  <a:gd name="T19" fmla="*/ 0 h 206"/>
                  <a:gd name="T20" fmla="*/ 1 w 327"/>
                  <a:gd name="T21" fmla="*/ 1 h 206"/>
                  <a:gd name="T22" fmla="*/ 1 w 327"/>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7"/>
                  <a:gd name="T37" fmla="*/ 0 h 206"/>
                  <a:gd name="T38" fmla="*/ 327 w 327"/>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7" h="206">
                    <a:moveTo>
                      <a:pt x="321" y="1"/>
                    </a:moveTo>
                    <a:lnTo>
                      <a:pt x="310" y="1"/>
                    </a:lnTo>
                    <a:lnTo>
                      <a:pt x="0" y="187"/>
                    </a:lnTo>
                    <a:lnTo>
                      <a:pt x="12" y="206"/>
                    </a:lnTo>
                    <a:lnTo>
                      <a:pt x="322" y="20"/>
                    </a:lnTo>
                    <a:lnTo>
                      <a:pt x="312" y="20"/>
                    </a:lnTo>
                    <a:lnTo>
                      <a:pt x="322" y="20"/>
                    </a:lnTo>
                    <a:lnTo>
                      <a:pt x="327" y="12"/>
                    </a:lnTo>
                    <a:lnTo>
                      <a:pt x="326" y="4"/>
                    </a:lnTo>
                    <a:lnTo>
                      <a:pt x="319" y="0"/>
                    </a:lnTo>
                    <a:lnTo>
                      <a:pt x="310" y="1"/>
                    </a:lnTo>
                    <a:lnTo>
                      <a:pt x="321" y="1"/>
                    </a:lnTo>
                    <a:close/>
                  </a:path>
                </a:pathLst>
              </a:custGeom>
              <a:solidFill>
                <a:srgbClr val="000000"/>
              </a:solidFill>
              <a:ln w="9525">
                <a:noFill/>
                <a:round/>
                <a:headEnd/>
                <a:tailEnd/>
              </a:ln>
            </p:spPr>
            <p:txBody>
              <a:bodyPr/>
              <a:lstStyle/>
              <a:p>
                <a:endParaRPr lang="en-US"/>
              </a:p>
            </p:txBody>
          </p:sp>
          <p:sp>
            <p:nvSpPr>
              <p:cNvPr id="26729" name="Freeform 66"/>
              <p:cNvSpPr>
                <a:spLocks/>
              </p:cNvSpPr>
              <p:nvPr/>
            </p:nvSpPr>
            <p:spPr bwMode="auto">
              <a:xfrm>
                <a:off x="1917" y="3423"/>
                <a:ext cx="135" cy="78"/>
              </a:xfrm>
              <a:custGeom>
                <a:avLst/>
                <a:gdLst>
                  <a:gd name="T0" fmla="*/ 1 w 269"/>
                  <a:gd name="T1" fmla="*/ 0 h 157"/>
                  <a:gd name="T2" fmla="*/ 1 w 269"/>
                  <a:gd name="T3" fmla="*/ 0 h 157"/>
                  <a:gd name="T4" fmla="*/ 1 w 269"/>
                  <a:gd name="T5" fmla="*/ 0 h 157"/>
                  <a:gd name="T6" fmla="*/ 0 w 269"/>
                  <a:gd name="T7" fmla="*/ 0 h 157"/>
                  <a:gd name="T8" fmla="*/ 1 w 269"/>
                  <a:gd name="T9" fmla="*/ 0 h 157"/>
                  <a:gd name="T10" fmla="*/ 1 w 269"/>
                  <a:gd name="T11" fmla="*/ 0 h 157"/>
                  <a:gd name="T12" fmla="*/ 1 w 269"/>
                  <a:gd name="T13" fmla="*/ 0 h 157"/>
                  <a:gd name="T14" fmla="*/ 1 w 269"/>
                  <a:gd name="T15" fmla="*/ 0 h 157"/>
                  <a:gd name="T16" fmla="*/ 1 w 269"/>
                  <a:gd name="T17" fmla="*/ 0 h 157"/>
                  <a:gd name="T18" fmla="*/ 1 w 269"/>
                  <a:gd name="T19" fmla="*/ 0 h 157"/>
                  <a:gd name="T20" fmla="*/ 1 w 269"/>
                  <a:gd name="T21" fmla="*/ 0 h 157"/>
                  <a:gd name="T22" fmla="*/ 1 w 269"/>
                  <a:gd name="T23" fmla="*/ 0 h 15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9"/>
                  <a:gd name="T37" fmla="*/ 0 h 157"/>
                  <a:gd name="T38" fmla="*/ 269 w 269"/>
                  <a:gd name="T39" fmla="*/ 157 h 15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9" h="157">
                    <a:moveTo>
                      <a:pt x="264" y="157"/>
                    </a:moveTo>
                    <a:lnTo>
                      <a:pt x="263" y="138"/>
                    </a:lnTo>
                    <a:lnTo>
                      <a:pt x="9" y="0"/>
                    </a:lnTo>
                    <a:lnTo>
                      <a:pt x="0" y="19"/>
                    </a:lnTo>
                    <a:lnTo>
                      <a:pt x="253" y="157"/>
                    </a:lnTo>
                    <a:lnTo>
                      <a:pt x="252" y="138"/>
                    </a:lnTo>
                    <a:lnTo>
                      <a:pt x="253" y="157"/>
                    </a:lnTo>
                    <a:lnTo>
                      <a:pt x="261" y="157"/>
                    </a:lnTo>
                    <a:lnTo>
                      <a:pt x="267" y="152"/>
                    </a:lnTo>
                    <a:lnTo>
                      <a:pt x="269" y="144"/>
                    </a:lnTo>
                    <a:lnTo>
                      <a:pt x="263" y="138"/>
                    </a:lnTo>
                    <a:lnTo>
                      <a:pt x="264" y="157"/>
                    </a:lnTo>
                    <a:close/>
                  </a:path>
                </a:pathLst>
              </a:custGeom>
              <a:solidFill>
                <a:srgbClr val="000000"/>
              </a:solidFill>
              <a:ln w="9525">
                <a:noFill/>
                <a:round/>
                <a:headEnd/>
                <a:tailEnd/>
              </a:ln>
            </p:spPr>
            <p:txBody>
              <a:bodyPr/>
              <a:lstStyle/>
              <a:p>
                <a:endParaRPr lang="en-US"/>
              </a:p>
            </p:txBody>
          </p:sp>
          <p:sp>
            <p:nvSpPr>
              <p:cNvPr id="26730" name="Freeform 67"/>
              <p:cNvSpPr>
                <a:spLocks/>
              </p:cNvSpPr>
              <p:nvPr/>
            </p:nvSpPr>
            <p:spPr bwMode="auto">
              <a:xfrm>
                <a:off x="1887" y="3492"/>
                <a:ext cx="163" cy="102"/>
              </a:xfrm>
              <a:custGeom>
                <a:avLst/>
                <a:gdLst>
                  <a:gd name="T0" fmla="*/ 1 w 326"/>
                  <a:gd name="T1" fmla="*/ 0 h 205"/>
                  <a:gd name="T2" fmla="*/ 1 w 326"/>
                  <a:gd name="T3" fmla="*/ 0 h 205"/>
                  <a:gd name="T4" fmla="*/ 1 w 326"/>
                  <a:gd name="T5" fmla="*/ 0 h 205"/>
                  <a:gd name="T6" fmla="*/ 1 w 326"/>
                  <a:gd name="T7" fmla="*/ 0 h 205"/>
                  <a:gd name="T8" fmla="*/ 1 w 326"/>
                  <a:gd name="T9" fmla="*/ 0 h 205"/>
                  <a:gd name="T10" fmla="*/ 1 w 326"/>
                  <a:gd name="T11" fmla="*/ 0 h 205"/>
                  <a:gd name="T12" fmla="*/ 1 w 326"/>
                  <a:gd name="T13" fmla="*/ 0 h 205"/>
                  <a:gd name="T14" fmla="*/ 0 w 326"/>
                  <a:gd name="T15" fmla="*/ 0 h 205"/>
                  <a:gd name="T16" fmla="*/ 1 w 326"/>
                  <a:gd name="T17" fmla="*/ 0 h 205"/>
                  <a:gd name="T18" fmla="*/ 1 w 326"/>
                  <a:gd name="T19" fmla="*/ 0 h 205"/>
                  <a:gd name="T20" fmla="*/ 1 w 326"/>
                  <a:gd name="T21" fmla="*/ 0 h 205"/>
                  <a:gd name="T22" fmla="*/ 1 w 326"/>
                  <a:gd name="T23" fmla="*/ 0 h 2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5"/>
                  <a:gd name="T38" fmla="*/ 326 w 326"/>
                  <a:gd name="T39" fmla="*/ 205 h 20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5">
                    <a:moveTo>
                      <a:pt x="7" y="203"/>
                    </a:moveTo>
                    <a:lnTo>
                      <a:pt x="18" y="203"/>
                    </a:lnTo>
                    <a:lnTo>
                      <a:pt x="326" y="19"/>
                    </a:lnTo>
                    <a:lnTo>
                      <a:pt x="314" y="0"/>
                    </a:lnTo>
                    <a:lnTo>
                      <a:pt x="5" y="184"/>
                    </a:lnTo>
                    <a:lnTo>
                      <a:pt x="16" y="184"/>
                    </a:lnTo>
                    <a:lnTo>
                      <a:pt x="5" y="184"/>
                    </a:lnTo>
                    <a:lnTo>
                      <a:pt x="0" y="192"/>
                    </a:lnTo>
                    <a:lnTo>
                      <a:pt x="2" y="200"/>
                    </a:lnTo>
                    <a:lnTo>
                      <a:pt x="8" y="205"/>
                    </a:lnTo>
                    <a:lnTo>
                      <a:pt x="18" y="203"/>
                    </a:lnTo>
                    <a:lnTo>
                      <a:pt x="7" y="203"/>
                    </a:lnTo>
                    <a:close/>
                  </a:path>
                </a:pathLst>
              </a:custGeom>
              <a:solidFill>
                <a:srgbClr val="000000"/>
              </a:solidFill>
              <a:ln w="9525">
                <a:noFill/>
                <a:round/>
                <a:headEnd/>
                <a:tailEnd/>
              </a:ln>
            </p:spPr>
            <p:txBody>
              <a:bodyPr/>
              <a:lstStyle/>
              <a:p>
                <a:endParaRPr lang="en-US"/>
              </a:p>
            </p:txBody>
          </p:sp>
          <p:sp>
            <p:nvSpPr>
              <p:cNvPr id="26731" name="Freeform 68"/>
              <p:cNvSpPr>
                <a:spLocks/>
              </p:cNvSpPr>
              <p:nvPr/>
            </p:nvSpPr>
            <p:spPr bwMode="auto">
              <a:xfrm>
                <a:off x="1759" y="3516"/>
                <a:ext cx="136" cy="78"/>
              </a:xfrm>
              <a:custGeom>
                <a:avLst/>
                <a:gdLst>
                  <a:gd name="T0" fmla="*/ 1 w 271"/>
                  <a:gd name="T1" fmla="*/ 0 h 155"/>
                  <a:gd name="T2" fmla="*/ 1 w 271"/>
                  <a:gd name="T3" fmla="*/ 1 h 155"/>
                  <a:gd name="T4" fmla="*/ 1 w 271"/>
                  <a:gd name="T5" fmla="*/ 1 h 155"/>
                  <a:gd name="T6" fmla="*/ 1 w 271"/>
                  <a:gd name="T7" fmla="*/ 1 h 155"/>
                  <a:gd name="T8" fmla="*/ 1 w 271"/>
                  <a:gd name="T9" fmla="*/ 0 h 155"/>
                  <a:gd name="T10" fmla="*/ 1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0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5" y="0"/>
                    </a:moveTo>
                    <a:lnTo>
                      <a:pt x="7" y="19"/>
                    </a:lnTo>
                    <a:lnTo>
                      <a:pt x="262" y="155"/>
                    </a:lnTo>
                    <a:lnTo>
                      <a:pt x="271" y="136"/>
                    </a:lnTo>
                    <a:lnTo>
                      <a:pt x="16" y="0"/>
                    </a:lnTo>
                    <a:lnTo>
                      <a:pt x="17" y="19"/>
                    </a:lnTo>
                    <a:lnTo>
                      <a:pt x="16" y="0"/>
                    </a:lnTo>
                    <a:lnTo>
                      <a:pt x="8" y="0"/>
                    </a:lnTo>
                    <a:lnTo>
                      <a:pt x="2" y="5"/>
                    </a:lnTo>
                    <a:lnTo>
                      <a:pt x="0" y="13"/>
                    </a:lnTo>
                    <a:lnTo>
                      <a:pt x="7" y="19"/>
                    </a:lnTo>
                    <a:lnTo>
                      <a:pt x="5" y="0"/>
                    </a:lnTo>
                    <a:close/>
                  </a:path>
                </a:pathLst>
              </a:custGeom>
              <a:solidFill>
                <a:srgbClr val="000000"/>
              </a:solidFill>
              <a:ln w="9525">
                <a:noFill/>
                <a:round/>
                <a:headEnd/>
                <a:tailEnd/>
              </a:ln>
            </p:spPr>
            <p:txBody>
              <a:bodyPr/>
              <a:lstStyle/>
              <a:p>
                <a:endParaRPr lang="en-US"/>
              </a:p>
            </p:txBody>
          </p:sp>
          <p:sp>
            <p:nvSpPr>
              <p:cNvPr id="26732" name="Freeform 69"/>
              <p:cNvSpPr>
                <a:spLocks/>
              </p:cNvSpPr>
              <p:nvPr/>
            </p:nvSpPr>
            <p:spPr bwMode="auto">
              <a:xfrm>
                <a:off x="1797" y="3428"/>
                <a:ext cx="54" cy="98"/>
              </a:xfrm>
              <a:custGeom>
                <a:avLst/>
                <a:gdLst>
                  <a:gd name="T0" fmla="*/ 0 w 110"/>
                  <a:gd name="T1" fmla="*/ 0 h 197"/>
                  <a:gd name="T2" fmla="*/ 0 w 110"/>
                  <a:gd name="T3" fmla="*/ 0 h 197"/>
                  <a:gd name="T4" fmla="*/ 0 w 110"/>
                  <a:gd name="T5" fmla="*/ 0 h 197"/>
                  <a:gd name="T6" fmla="*/ 0 w 110"/>
                  <a:gd name="T7" fmla="*/ 0 h 197"/>
                  <a:gd name="T8" fmla="*/ 0 w 110"/>
                  <a:gd name="T9" fmla="*/ 0 h 197"/>
                  <a:gd name="T10" fmla="*/ 0 60000 65536"/>
                  <a:gd name="T11" fmla="*/ 0 60000 65536"/>
                  <a:gd name="T12" fmla="*/ 0 60000 65536"/>
                  <a:gd name="T13" fmla="*/ 0 60000 65536"/>
                  <a:gd name="T14" fmla="*/ 0 60000 65536"/>
                  <a:gd name="T15" fmla="*/ 0 w 110"/>
                  <a:gd name="T16" fmla="*/ 0 h 197"/>
                  <a:gd name="T17" fmla="*/ 110 w 110"/>
                  <a:gd name="T18" fmla="*/ 197 h 197"/>
                </a:gdLst>
                <a:ahLst/>
                <a:cxnLst>
                  <a:cxn ang="T10">
                    <a:pos x="T0" y="T1"/>
                  </a:cxn>
                  <a:cxn ang="T11">
                    <a:pos x="T2" y="T3"/>
                  </a:cxn>
                  <a:cxn ang="T12">
                    <a:pos x="T4" y="T5"/>
                  </a:cxn>
                  <a:cxn ang="T13">
                    <a:pos x="T6" y="T7"/>
                  </a:cxn>
                  <a:cxn ang="T14">
                    <a:pos x="T8" y="T9"/>
                  </a:cxn>
                </a:cxnLst>
                <a:rect l="T15" t="T16" r="T17" b="T18"/>
                <a:pathLst>
                  <a:path w="110" h="197">
                    <a:moveTo>
                      <a:pt x="110" y="197"/>
                    </a:moveTo>
                    <a:lnTo>
                      <a:pt x="110" y="9"/>
                    </a:lnTo>
                    <a:lnTo>
                      <a:pt x="0" y="0"/>
                    </a:lnTo>
                    <a:lnTo>
                      <a:pt x="0" y="139"/>
                    </a:lnTo>
                    <a:lnTo>
                      <a:pt x="110" y="197"/>
                    </a:lnTo>
                    <a:close/>
                  </a:path>
                </a:pathLst>
              </a:custGeom>
              <a:solidFill>
                <a:srgbClr val="4CB2FF"/>
              </a:solidFill>
              <a:ln w="9525">
                <a:noFill/>
                <a:round/>
                <a:headEnd/>
                <a:tailEnd/>
              </a:ln>
            </p:spPr>
            <p:txBody>
              <a:bodyPr/>
              <a:lstStyle/>
              <a:p>
                <a:endParaRPr lang="en-US"/>
              </a:p>
            </p:txBody>
          </p:sp>
          <p:sp>
            <p:nvSpPr>
              <p:cNvPr id="26733" name="Freeform 70"/>
              <p:cNvSpPr>
                <a:spLocks/>
              </p:cNvSpPr>
              <p:nvPr/>
            </p:nvSpPr>
            <p:spPr bwMode="auto">
              <a:xfrm>
                <a:off x="1846" y="3427"/>
                <a:ext cx="11" cy="99"/>
              </a:xfrm>
              <a:custGeom>
                <a:avLst/>
                <a:gdLst>
                  <a:gd name="T0" fmla="*/ 1 w 22"/>
                  <a:gd name="T1" fmla="*/ 0 h 199"/>
                  <a:gd name="T2" fmla="*/ 0 w 22"/>
                  <a:gd name="T3" fmla="*/ 0 h 199"/>
                  <a:gd name="T4" fmla="*/ 0 w 22"/>
                  <a:gd name="T5" fmla="*/ 0 h 199"/>
                  <a:gd name="T6" fmla="*/ 1 w 22"/>
                  <a:gd name="T7" fmla="*/ 0 h 199"/>
                  <a:gd name="T8" fmla="*/ 1 w 22"/>
                  <a:gd name="T9" fmla="*/ 0 h 199"/>
                  <a:gd name="T10" fmla="*/ 1 w 22"/>
                  <a:gd name="T11" fmla="*/ 0 h 199"/>
                  <a:gd name="T12" fmla="*/ 1 w 22"/>
                  <a:gd name="T13" fmla="*/ 0 h 199"/>
                  <a:gd name="T14" fmla="*/ 1 w 22"/>
                  <a:gd name="T15" fmla="*/ 0 h 199"/>
                  <a:gd name="T16" fmla="*/ 1 w 22"/>
                  <a:gd name="T17" fmla="*/ 0 h 199"/>
                  <a:gd name="T18" fmla="*/ 1 w 22"/>
                  <a:gd name="T19" fmla="*/ 0 h 199"/>
                  <a:gd name="T20" fmla="*/ 0 w 22"/>
                  <a:gd name="T21" fmla="*/ 0 h 199"/>
                  <a:gd name="T22" fmla="*/ 1 w 22"/>
                  <a:gd name="T23" fmla="*/ 0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99"/>
                  <a:gd name="T38" fmla="*/ 22 w 22"/>
                  <a:gd name="T39" fmla="*/ 199 h 1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99">
                    <a:moveTo>
                      <a:pt x="9" y="22"/>
                    </a:moveTo>
                    <a:lnTo>
                      <a:pt x="0" y="11"/>
                    </a:lnTo>
                    <a:lnTo>
                      <a:pt x="0" y="199"/>
                    </a:lnTo>
                    <a:lnTo>
                      <a:pt x="22" y="199"/>
                    </a:lnTo>
                    <a:lnTo>
                      <a:pt x="22" y="11"/>
                    </a:lnTo>
                    <a:lnTo>
                      <a:pt x="13" y="0"/>
                    </a:lnTo>
                    <a:lnTo>
                      <a:pt x="22" y="11"/>
                    </a:lnTo>
                    <a:lnTo>
                      <a:pt x="19" y="3"/>
                    </a:lnTo>
                    <a:lnTo>
                      <a:pt x="11" y="0"/>
                    </a:lnTo>
                    <a:lnTo>
                      <a:pt x="3" y="3"/>
                    </a:lnTo>
                    <a:lnTo>
                      <a:pt x="0" y="11"/>
                    </a:lnTo>
                    <a:lnTo>
                      <a:pt x="9" y="22"/>
                    </a:lnTo>
                    <a:close/>
                  </a:path>
                </a:pathLst>
              </a:custGeom>
              <a:solidFill>
                <a:srgbClr val="000000"/>
              </a:solidFill>
              <a:ln w="9525">
                <a:noFill/>
                <a:round/>
                <a:headEnd/>
                <a:tailEnd/>
              </a:ln>
            </p:spPr>
            <p:txBody>
              <a:bodyPr/>
              <a:lstStyle/>
              <a:p>
                <a:endParaRPr lang="en-US"/>
              </a:p>
            </p:txBody>
          </p:sp>
          <p:sp>
            <p:nvSpPr>
              <p:cNvPr id="26734" name="Freeform 71"/>
              <p:cNvSpPr>
                <a:spLocks/>
              </p:cNvSpPr>
              <p:nvPr/>
            </p:nvSpPr>
            <p:spPr bwMode="auto">
              <a:xfrm>
                <a:off x="1791" y="3422"/>
                <a:ext cx="61" cy="16"/>
              </a:xfrm>
              <a:custGeom>
                <a:avLst/>
                <a:gdLst>
                  <a:gd name="T0" fmla="*/ 0 w 123"/>
                  <a:gd name="T1" fmla="*/ 1 h 31"/>
                  <a:gd name="T2" fmla="*/ 0 w 123"/>
                  <a:gd name="T3" fmla="*/ 1 h 31"/>
                  <a:gd name="T4" fmla="*/ 0 w 123"/>
                  <a:gd name="T5" fmla="*/ 1 h 31"/>
                  <a:gd name="T6" fmla="*/ 0 w 123"/>
                  <a:gd name="T7" fmla="*/ 1 h 31"/>
                  <a:gd name="T8" fmla="*/ 0 w 123"/>
                  <a:gd name="T9" fmla="*/ 0 h 31"/>
                  <a:gd name="T10" fmla="*/ 0 w 123"/>
                  <a:gd name="T11" fmla="*/ 1 h 31"/>
                  <a:gd name="T12" fmla="*/ 0 w 123"/>
                  <a:gd name="T13" fmla="*/ 0 h 31"/>
                  <a:gd name="T14" fmla="*/ 0 w 123"/>
                  <a:gd name="T15" fmla="*/ 1 h 31"/>
                  <a:gd name="T16" fmla="*/ 0 w 123"/>
                  <a:gd name="T17" fmla="*/ 1 h 31"/>
                  <a:gd name="T18" fmla="*/ 0 w 123"/>
                  <a:gd name="T19" fmla="*/ 1 h 31"/>
                  <a:gd name="T20" fmla="*/ 0 w 123"/>
                  <a:gd name="T21" fmla="*/ 1 h 31"/>
                  <a:gd name="T22" fmla="*/ 0 w 123"/>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
                  <a:gd name="T37" fmla="*/ 0 h 31"/>
                  <a:gd name="T38" fmla="*/ 123 w 123"/>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 h="31">
                    <a:moveTo>
                      <a:pt x="22" y="11"/>
                    </a:moveTo>
                    <a:lnTo>
                      <a:pt x="10" y="22"/>
                    </a:lnTo>
                    <a:lnTo>
                      <a:pt x="119" y="31"/>
                    </a:lnTo>
                    <a:lnTo>
                      <a:pt x="123" y="9"/>
                    </a:lnTo>
                    <a:lnTo>
                      <a:pt x="13" y="0"/>
                    </a:lnTo>
                    <a:lnTo>
                      <a:pt x="0" y="11"/>
                    </a:lnTo>
                    <a:lnTo>
                      <a:pt x="13" y="0"/>
                    </a:lnTo>
                    <a:lnTo>
                      <a:pt x="5" y="3"/>
                    </a:lnTo>
                    <a:lnTo>
                      <a:pt x="0" y="9"/>
                    </a:lnTo>
                    <a:lnTo>
                      <a:pt x="2" y="17"/>
                    </a:lnTo>
                    <a:lnTo>
                      <a:pt x="10" y="22"/>
                    </a:lnTo>
                    <a:lnTo>
                      <a:pt x="22" y="11"/>
                    </a:lnTo>
                    <a:close/>
                  </a:path>
                </a:pathLst>
              </a:custGeom>
              <a:solidFill>
                <a:srgbClr val="000000"/>
              </a:solidFill>
              <a:ln w="9525">
                <a:noFill/>
                <a:round/>
                <a:headEnd/>
                <a:tailEnd/>
              </a:ln>
            </p:spPr>
            <p:txBody>
              <a:bodyPr/>
              <a:lstStyle/>
              <a:p>
                <a:endParaRPr lang="en-US"/>
              </a:p>
            </p:txBody>
          </p:sp>
          <p:sp>
            <p:nvSpPr>
              <p:cNvPr id="26735" name="Freeform 72"/>
              <p:cNvSpPr>
                <a:spLocks/>
              </p:cNvSpPr>
              <p:nvPr/>
            </p:nvSpPr>
            <p:spPr bwMode="auto">
              <a:xfrm>
                <a:off x="1791" y="3428"/>
                <a:ext cx="11" cy="75"/>
              </a:xfrm>
              <a:custGeom>
                <a:avLst/>
                <a:gdLst>
                  <a:gd name="T0" fmla="*/ 1 w 22"/>
                  <a:gd name="T1" fmla="*/ 1 h 150"/>
                  <a:gd name="T2" fmla="*/ 1 w 22"/>
                  <a:gd name="T3" fmla="*/ 1 h 150"/>
                  <a:gd name="T4" fmla="*/ 1 w 22"/>
                  <a:gd name="T5" fmla="*/ 0 h 150"/>
                  <a:gd name="T6" fmla="*/ 0 w 22"/>
                  <a:gd name="T7" fmla="*/ 0 h 150"/>
                  <a:gd name="T8" fmla="*/ 0 w 22"/>
                  <a:gd name="T9" fmla="*/ 1 h 150"/>
                  <a:gd name="T10" fmla="*/ 1 w 22"/>
                  <a:gd name="T11" fmla="*/ 1 h 150"/>
                  <a:gd name="T12" fmla="*/ 0 w 22"/>
                  <a:gd name="T13" fmla="*/ 1 h 150"/>
                  <a:gd name="T14" fmla="*/ 1 w 22"/>
                  <a:gd name="T15" fmla="*/ 1 h 150"/>
                  <a:gd name="T16" fmla="*/ 1 w 22"/>
                  <a:gd name="T17" fmla="*/ 1 h 150"/>
                  <a:gd name="T18" fmla="*/ 1 w 22"/>
                  <a:gd name="T19" fmla="*/ 1 h 150"/>
                  <a:gd name="T20" fmla="*/ 1 w 22"/>
                  <a:gd name="T21" fmla="*/ 1 h 150"/>
                  <a:gd name="T22" fmla="*/ 1 w 22"/>
                  <a:gd name="T23" fmla="*/ 1 h 1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50"/>
                  <a:gd name="T38" fmla="*/ 22 w 22"/>
                  <a:gd name="T39" fmla="*/ 150 h 1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50">
                    <a:moveTo>
                      <a:pt x="16" y="129"/>
                    </a:moveTo>
                    <a:lnTo>
                      <a:pt x="22" y="139"/>
                    </a:lnTo>
                    <a:lnTo>
                      <a:pt x="22" y="0"/>
                    </a:lnTo>
                    <a:lnTo>
                      <a:pt x="0" y="0"/>
                    </a:lnTo>
                    <a:lnTo>
                      <a:pt x="0" y="139"/>
                    </a:lnTo>
                    <a:lnTo>
                      <a:pt x="7" y="148"/>
                    </a:lnTo>
                    <a:lnTo>
                      <a:pt x="0" y="139"/>
                    </a:lnTo>
                    <a:lnTo>
                      <a:pt x="4" y="147"/>
                    </a:lnTo>
                    <a:lnTo>
                      <a:pt x="11" y="150"/>
                    </a:lnTo>
                    <a:lnTo>
                      <a:pt x="19" y="147"/>
                    </a:lnTo>
                    <a:lnTo>
                      <a:pt x="22" y="139"/>
                    </a:lnTo>
                    <a:lnTo>
                      <a:pt x="16" y="129"/>
                    </a:lnTo>
                    <a:close/>
                  </a:path>
                </a:pathLst>
              </a:custGeom>
              <a:solidFill>
                <a:srgbClr val="000000"/>
              </a:solidFill>
              <a:ln w="9525">
                <a:noFill/>
                <a:round/>
                <a:headEnd/>
                <a:tailEnd/>
              </a:ln>
            </p:spPr>
            <p:txBody>
              <a:bodyPr/>
              <a:lstStyle/>
              <a:p>
                <a:endParaRPr lang="en-US"/>
              </a:p>
            </p:txBody>
          </p:sp>
          <p:sp>
            <p:nvSpPr>
              <p:cNvPr id="26736" name="Freeform 73"/>
              <p:cNvSpPr>
                <a:spLocks/>
              </p:cNvSpPr>
              <p:nvPr/>
            </p:nvSpPr>
            <p:spPr bwMode="auto">
              <a:xfrm>
                <a:off x="1794" y="3493"/>
                <a:ext cx="63" cy="38"/>
              </a:xfrm>
              <a:custGeom>
                <a:avLst/>
                <a:gdLst>
                  <a:gd name="T0" fmla="*/ 1 w 125"/>
                  <a:gd name="T1" fmla="*/ 0 h 77"/>
                  <a:gd name="T2" fmla="*/ 1 w 125"/>
                  <a:gd name="T3" fmla="*/ 0 h 77"/>
                  <a:gd name="T4" fmla="*/ 1 w 125"/>
                  <a:gd name="T5" fmla="*/ 0 h 77"/>
                  <a:gd name="T6" fmla="*/ 0 w 125"/>
                  <a:gd name="T7" fmla="*/ 0 h 77"/>
                  <a:gd name="T8" fmla="*/ 1 w 125"/>
                  <a:gd name="T9" fmla="*/ 0 h 77"/>
                  <a:gd name="T10" fmla="*/ 1 w 125"/>
                  <a:gd name="T11" fmla="*/ 0 h 77"/>
                  <a:gd name="T12" fmla="*/ 1 w 125"/>
                  <a:gd name="T13" fmla="*/ 0 h 77"/>
                  <a:gd name="T14" fmla="*/ 1 w 125"/>
                  <a:gd name="T15" fmla="*/ 0 h 77"/>
                  <a:gd name="T16" fmla="*/ 1 w 125"/>
                  <a:gd name="T17" fmla="*/ 0 h 77"/>
                  <a:gd name="T18" fmla="*/ 1 w 125"/>
                  <a:gd name="T19" fmla="*/ 0 h 77"/>
                  <a:gd name="T20" fmla="*/ 1 w 125"/>
                  <a:gd name="T21" fmla="*/ 0 h 77"/>
                  <a:gd name="T22" fmla="*/ 1 w 125"/>
                  <a:gd name="T23" fmla="*/ 0 h 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5"/>
                  <a:gd name="T37" fmla="*/ 0 h 77"/>
                  <a:gd name="T38" fmla="*/ 125 w 125"/>
                  <a:gd name="T39" fmla="*/ 77 h 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5" h="77">
                    <a:moveTo>
                      <a:pt x="103" y="68"/>
                    </a:moveTo>
                    <a:lnTo>
                      <a:pt x="119" y="58"/>
                    </a:lnTo>
                    <a:lnTo>
                      <a:pt x="9" y="0"/>
                    </a:lnTo>
                    <a:lnTo>
                      <a:pt x="0" y="19"/>
                    </a:lnTo>
                    <a:lnTo>
                      <a:pt x="109" y="77"/>
                    </a:lnTo>
                    <a:lnTo>
                      <a:pt x="125" y="68"/>
                    </a:lnTo>
                    <a:lnTo>
                      <a:pt x="109" y="77"/>
                    </a:lnTo>
                    <a:lnTo>
                      <a:pt x="117" y="77"/>
                    </a:lnTo>
                    <a:lnTo>
                      <a:pt x="123" y="72"/>
                    </a:lnTo>
                    <a:lnTo>
                      <a:pt x="125" y="65"/>
                    </a:lnTo>
                    <a:lnTo>
                      <a:pt x="119" y="58"/>
                    </a:lnTo>
                    <a:lnTo>
                      <a:pt x="103" y="68"/>
                    </a:lnTo>
                    <a:close/>
                  </a:path>
                </a:pathLst>
              </a:custGeom>
              <a:solidFill>
                <a:srgbClr val="000000"/>
              </a:solidFill>
              <a:ln w="9525">
                <a:noFill/>
                <a:round/>
                <a:headEnd/>
                <a:tailEnd/>
              </a:ln>
            </p:spPr>
            <p:txBody>
              <a:bodyPr/>
              <a:lstStyle/>
              <a:p>
                <a:endParaRPr lang="en-US"/>
              </a:p>
            </p:txBody>
          </p:sp>
          <p:sp>
            <p:nvSpPr>
              <p:cNvPr id="26737" name="Freeform 74"/>
              <p:cNvSpPr>
                <a:spLocks/>
              </p:cNvSpPr>
              <p:nvPr/>
            </p:nvSpPr>
            <p:spPr bwMode="auto">
              <a:xfrm>
                <a:off x="1947" y="3542"/>
                <a:ext cx="40" cy="31"/>
              </a:xfrm>
              <a:custGeom>
                <a:avLst/>
                <a:gdLst>
                  <a:gd name="T0" fmla="*/ 1 w 80"/>
                  <a:gd name="T1" fmla="*/ 1 h 61"/>
                  <a:gd name="T2" fmla="*/ 1 w 80"/>
                  <a:gd name="T3" fmla="*/ 0 h 61"/>
                  <a:gd name="T4" fmla="*/ 0 w 80"/>
                  <a:gd name="T5" fmla="*/ 1 h 61"/>
                  <a:gd name="T6" fmla="*/ 0 w 80"/>
                  <a:gd name="T7" fmla="*/ 1 h 61"/>
                  <a:gd name="T8" fmla="*/ 1 w 80"/>
                  <a:gd name="T9" fmla="*/ 1 h 61"/>
                  <a:gd name="T10" fmla="*/ 0 60000 65536"/>
                  <a:gd name="T11" fmla="*/ 0 60000 65536"/>
                  <a:gd name="T12" fmla="*/ 0 60000 65536"/>
                  <a:gd name="T13" fmla="*/ 0 60000 65536"/>
                  <a:gd name="T14" fmla="*/ 0 60000 65536"/>
                  <a:gd name="T15" fmla="*/ 0 w 80"/>
                  <a:gd name="T16" fmla="*/ 0 h 61"/>
                  <a:gd name="T17" fmla="*/ 80 w 80"/>
                  <a:gd name="T18" fmla="*/ 61 h 61"/>
                </a:gdLst>
                <a:ahLst/>
                <a:cxnLst>
                  <a:cxn ang="T10">
                    <a:pos x="T0" y="T1"/>
                  </a:cxn>
                  <a:cxn ang="T11">
                    <a:pos x="T2" y="T3"/>
                  </a:cxn>
                  <a:cxn ang="T12">
                    <a:pos x="T4" y="T5"/>
                  </a:cxn>
                  <a:cxn ang="T13">
                    <a:pos x="T6" y="T7"/>
                  </a:cxn>
                  <a:cxn ang="T14">
                    <a:pos x="T8" y="T9"/>
                  </a:cxn>
                </a:cxnLst>
                <a:rect l="T15" t="T16" r="T17" b="T18"/>
                <a:pathLst>
                  <a:path w="80" h="61">
                    <a:moveTo>
                      <a:pt x="80" y="13"/>
                    </a:moveTo>
                    <a:lnTo>
                      <a:pt x="80" y="0"/>
                    </a:lnTo>
                    <a:lnTo>
                      <a:pt x="0" y="50"/>
                    </a:lnTo>
                    <a:lnTo>
                      <a:pt x="0" y="61"/>
                    </a:lnTo>
                    <a:lnTo>
                      <a:pt x="80" y="13"/>
                    </a:lnTo>
                  </a:path>
                </a:pathLst>
              </a:custGeom>
              <a:noFill/>
              <a:ln w="0">
                <a:solidFill>
                  <a:srgbClr val="000000"/>
                </a:solidFill>
                <a:round/>
                <a:headEnd/>
                <a:tailEnd/>
              </a:ln>
            </p:spPr>
            <p:txBody>
              <a:bodyPr/>
              <a:lstStyle/>
              <a:p>
                <a:endParaRPr lang="en-US"/>
              </a:p>
            </p:txBody>
          </p:sp>
          <p:sp>
            <p:nvSpPr>
              <p:cNvPr id="26738" name="Freeform 75"/>
              <p:cNvSpPr>
                <a:spLocks/>
              </p:cNvSpPr>
              <p:nvPr/>
            </p:nvSpPr>
            <p:spPr bwMode="auto">
              <a:xfrm>
                <a:off x="1995" y="3523"/>
                <a:ext cx="11" cy="32"/>
              </a:xfrm>
              <a:custGeom>
                <a:avLst/>
                <a:gdLst>
                  <a:gd name="T0" fmla="*/ 1 w 21"/>
                  <a:gd name="T1" fmla="*/ 0 h 65"/>
                  <a:gd name="T2" fmla="*/ 1 w 21"/>
                  <a:gd name="T3" fmla="*/ 0 h 65"/>
                  <a:gd name="T4" fmla="*/ 1 w 21"/>
                  <a:gd name="T5" fmla="*/ 0 h 65"/>
                  <a:gd name="T6" fmla="*/ 0 w 21"/>
                  <a:gd name="T7" fmla="*/ 0 h 65"/>
                  <a:gd name="T8" fmla="*/ 0 w 21"/>
                  <a:gd name="T9" fmla="*/ 0 h 65"/>
                  <a:gd name="T10" fmla="*/ 1 w 21"/>
                  <a:gd name="T11" fmla="*/ 0 h 65"/>
                  <a:gd name="T12" fmla="*/ 0 60000 65536"/>
                  <a:gd name="T13" fmla="*/ 0 60000 65536"/>
                  <a:gd name="T14" fmla="*/ 0 60000 65536"/>
                  <a:gd name="T15" fmla="*/ 0 60000 65536"/>
                  <a:gd name="T16" fmla="*/ 0 60000 65536"/>
                  <a:gd name="T17" fmla="*/ 0 60000 65536"/>
                  <a:gd name="T18" fmla="*/ 0 w 21"/>
                  <a:gd name="T19" fmla="*/ 0 h 65"/>
                  <a:gd name="T20" fmla="*/ 21 w 2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21" h="65">
                    <a:moveTo>
                      <a:pt x="10" y="65"/>
                    </a:moveTo>
                    <a:lnTo>
                      <a:pt x="21" y="65"/>
                    </a:lnTo>
                    <a:lnTo>
                      <a:pt x="21" y="0"/>
                    </a:lnTo>
                    <a:lnTo>
                      <a:pt x="0" y="0"/>
                    </a:lnTo>
                    <a:lnTo>
                      <a:pt x="0" y="65"/>
                    </a:lnTo>
                    <a:lnTo>
                      <a:pt x="10" y="65"/>
                    </a:lnTo>
                    <a:close/>
                  </a:path>
                </a:pathLst>
              </a:custGeom>
              <a:solidFill>
                <a:srgbClr val="000000"/>
              </a:solidFill>
              <a:ln w="9525">
                <a:noFill/>
                <a:round/>
                <a:headEnd/>
                <a:tailEnd/>
              </a:ln>
            </p:spPr>
            <p:txBody>
              <a:bodyPr/>
              <a:lstStyle/>
              <a:p>
                <a:endParaRPr lang="en-US"/>
              </a:p>
            </p:txBody>
          </p:sp>
          <p:sp>
            <p:nvSpPr>
              <p:cNvPr id="26739" name="Freeform 76"/>
              <p:cNvSpPr>
                <a:spLocks/>
              </p:cNvSpPr>
              <p:nvPr/>
            </p:nvSpPr>
            <p:spPr bwMode="auto">
              <a:xfrm>
                <a:off x="1952" y="3561"/>
                <a:ext cx="145" cy="93"/>
              </a:xfrm>
              <a:custGeom>
                <a:avLst/>
                <a:gdLst>
                  <a:gd name="T0" fmla="*/ 0 w 292"/>
                  <a:gd name="T1" fmla="*/ 1 h 186"/>
                  <a:gd name="T2" fmla="*/ 0 w 292"/>
                  <a:gd name="T3" fmla="*/ 0 h 186"/>
                  <a:gd name="T4" fmla="*/ 0 w 292"/>
                  <a:gd name="T5" fmla="*/ 1 h 186"/>
                  <a:gd name="T6" fmla="*/ 0 w 292"/>
                  <a:gd name="T7" fmla="*/ 1 h 186"/>
                  <a:gd name="T8" fmla="*/ 0 w 292"/>
                  <a:gd name="T9" fmla="*/ 1 h 186"/>
                  <a:gd name="T10" fmla="*/ 0 60000 65536"/>
                  <a:gd name="T11" fmla="*/ 0 60000 65536"/>
                  <a:gd name="T12" fmla="*/ 0 60000 65536"/>
                  <a:gd name="T13" fmla="*/ 0 60000 65536"/>
                  <a:gd name="T14" fmla="*/ 0 60000 65536"/>
                  <a:gd name="T15" fmla="*/ 0 w 292"/>
                  <a:gd name="T16" fmla="*/ 0 h 186"/>
                  <a:gd name="T17" fmla="*/ 292 w 292"/>
                  <a:gd name="T18" fmla="*/ 186 h 186"/>
                </a:gdLst>
                <a:ahLst/>
                <a:cxnLst>
                  <a:cxn ang="T10">
                    <a:pos x="T0" y="T1"/>
                  </a:cxn>
                  <a:cxn ang="T11">
                    <a:pos x="T2" y="T3"/>
                  </a:cxn>
                  <a:cxn ang="T12">
                    <a:pos x="T4" y="T5"/>
                  </a:cxn>
                  <a:cxn ang="T13">
                    <a:pos x="T6" y="T7"/>
                  </a:cxn>
                  <a:cxn ang="T14">
                    <a:pos x="T8" y="T9"/>
                  </a:cxn>
                </a:cxnLst>
                <a:rect l="T15" t="T16" r="T17" b="T18"/>
                <a:pathLst>
                  <a:path w="292" h="186">
                    <a:moveTo>
                      <a:pt x="292" y="20"/>
                    </a:moveTo>
                    <a:lnTo>
                      <a:pt x="292" y="0"/>
                    </a:lnTo>
                    <a:lnTo>
                      <a:pt x="0" y="165"/>
                    </a:lnTo>
                    <a:lnTo>
                      <a:pt x="0" y="186"/>
                    </a:lnTo>
                    <a:lnTo>
                      <a:pt x="292" y="20"/>
                    </a:lnTo>
                    <a:close/>
                  </a:path>
                </a:pathLst>
              </a:custGeom>
              <a:solidFill>
                <a:srgbClr val="007FFF"/>
              </a:solidFill>
              <a:ln w="9525">
                <a:noFill/>
                <a:round/>
                <a:headEnd/>
                <a:tailEnd/>
              </a:ln>
            </p:spPr>
            <p:txBody>
              <a:bodyPr/>
              <a:lstStyle/>
              <a:p>
                <a:endParaRPr lang="en-US"/>
              </a:p>
            </p:txBody>
          </p:sp>
          <p:sp>
            <p:nvSpPr>
              <p:cNvPr id="26740" name="Freeform 77"/>
              <p:cNvSpPr>
                <a:spLocks/>
              </p:cNvSpPr>
              <p:nvPr/>
            </p:nvSpPr>
            <p:spPr bwMode="auto">
              <a:xfrm>
                <a:off x="2093" y="3557"/>
                <a:ext cx="8" cy="14"/>
              </a:xfrm>
              <a:custGeom>
                <a:avLst/>
                <a:gdLst>
                  <a:gd name="T0" fmla="*/ 1 w 15"/>
                  <a:gd name="T1" fmla="*/ 1 h 28"/>
                  <a:gd name="T2" fmla="*/ 0 w 15"/>
                  <a:gd name="T3" fmla="*/ 1 h 28"/>
                  <a:gd name="T4" fmla="*/ 0 w 15"/>
                  <a:gd name="T5" fmla="*/ 1 h 28"/>
                  <a:gd name="T6" fmla="*/ 1 w 15"/>
                  <a:gd name="T7" fmla="*/ 1 h 28"/>
                  <a:gd name="T8" fmla="*/ 1 w 15"/>
                  <a:gd name="T9" fmla="*/ 1 h 28"/>
                  <a:gd name="T10" fmla="*/ 1 w 15"/>
                  <a:gd name="T11" fmla="*/ 1 h 28"/>
                  <a:gd name="T12" fmla="*/ 1 w 15"/>
                  <a:gd name="T13" fmla="*/ 1 h 28"/>
                  <a:gd name="T14" fmla="*/ 1 w 15"/>
                  <a:gd name="T15" fmla="*/ 1 h 28"/>
                  <a:gd name="T16" fmla="*/ 1 w 15"/>
                  <a:gd name="T17" fmla="*/ 0 h 28"/>
                  <a:gd name="T18" fmla="*/ 1 w 15"/>
                  <a:gd name="T19" fmla="*/ 1 h 28"/>
                  <a:gd name="T20" fmla="*/ 0 w 15"/>
                  <a:gd name="T21" fmla="*/ 1 h 28"/>
                  <a:gd name="T22" fmla="*/ 1 w 15"/>
                  <a:gd name="T23" fmla="*/ 1 h 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8"/>
                  <a:gd name="T38" fmla="*/ 15 w 15"/>
                  <a:gd name="T39" fmla="*/ 28 h 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8">
                    <a:moveTo>
                      <a:pt x="11" y="14"/>
                    </a:moveTo>
                    <a:lnTo>
                      <a:pt x="0" y="8"/>
                    </a:lnTo>
                    <a:lnTo>
                      <a:pt x="0" y="28"/>
                    </a:lnTo>
                    <a:lnTo>
                      <a:pt x="15" y="28"/>
                    </a:lnTo>
                    <a:lnTo>
                      <a:pt x="15" y="8"/>
                    </a:lnTo>
                    <a:lnTo>
                      <a:pt x="5" y="1"/>
                    </a:lnTo>
                    <a:lnTo>
                      <a:pt x="15" y="8"/>
                    </a:lnTo>
                    <a:lnTo>
                      <a:pt x="12" y="3"/>
                    </a:lnTo>
                    <a:lnTo>
                      <a:pt x="8" y="0"/>
                    </a:lnTo>
                    <a:lnTo>
                      <a:pt x="3" y="3"/>
                    </a:lnTo>
                    <a:lnTo>
                      <a:pt x="0" y="8"/>
                    </a:lnTo>
                    <a:lnTo>
                      <a:pt x="11" y="14"/>
                    </a:lnTo>
                    <a:close/>
                  </a:path>
                </a:pathLst>
              </a:custGeom>
              <a:solidFill>
                <a:srgbClr val="000000"/>
              </a:solidFill>
              <a:ln w="9525">
                <a:noFill/>
                <a:round/>
                <a:headEnd/>
                <a:tailEnd/>
              </a:ln>
            </p:spPr>
            <p:txBody>
              <a:bodyPr/>
              <a:lstStyle/>
              <a:p>
                <a:endParaRPr lang="en-US"/>
              </a:p>
            </p:txBody>
          </p:sp>
          <p:sp>
            <p:nvSpPr>
              <p:cNvPr id="26741" name="Freeform 78"/>
              <p:cNvSpPr>
                <a:spLocks/>
              </p:cNvSpPr>
              <p:nvPr/>
            </p:nvSpPr>
            <p:spPr bwMode="auto">
              <a:xfrm>
                <a:off x="1948" y="3558"/>
                <a:ext cx="151" cy="89"/>
              </a:xfrm>
              <a:custGeom>
                <a:avLst/>
                <a:gdLst>
                  <a:gd name="T0" fmla="*/ 1 w 302"/>
                  <a:gd name="T1" fmla="*/ 0 h 179"/>
                  <a:gd name="T2" fmla="*/ 1 w 302"/>
                  <a:gd name="T3" fmla="*/ 0 h 179"/>
                  <a:gd name="T4" fmla="*/ 1 w 302"/>
                  <a:gd name="T5" fmla="*/ 0 h 179"/>
                  <a:gd name="T6" fmla="*/ 1 w 302"/>
                  <a:gd name="T7" fmla="*/ 0 h 179"/>
                  <a:gd name="T8" fmla="*/ 1 w 302"/>
                  <a:gd name="T9" fmla="*/ 0 h 179"/>
                  <a:gd name="T10" fmla="*/ 0 w 302"/>
                  <a:gd name="T11" fmla="*/ 0 h 179"/>
                  <a:gd name="T12" fmla="*/ 1 w 302"/>
                  <a:gd name="T13" fmla="*/ 0 h 179"/>
                  <a:gd name="T14" fmla="*/ 1 w 302"/>
                  <a:gd name="T15" fmla="*/ 0 h 179"/>
                  <a:gd name="T16" fmla="*/ 1 w 302"/>
                  <a:gd name="T17" fmla="*/ 0 h 179"/>
                  <a:gd name="T18" fmla="*/ 1 w 302"/>
                  <a:gd name="T19" fmla="*/ 0 h 179"/>
                  <a:gd name="T20" fmla="*/ 1 w 302"/>
                  <a:gd name="T21" fmla="*/ 0 h 179"/>
                  <a:gd name="T22" fmla="*/ 1 w 302"/>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9"/>
                  <a:gd name="T38" fmla="*/ 302 w 302"/>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9">
                    <a:moveTo>
                      <a:pt x="15" y="172"/>
                    </a:moveTo>
                    <a:lnTo>
                      <a:pt x="11" y="179"/>
                    </a:lnTo>
                    <a:lnTo>
                      <a:pt x="302" y="13"/>
                    </a:lnTo>
                    <a:lnTo>
                      <a:pt x="296" y="0"/>
                    </a:lnTo>
                    <a:lnTo>
                      <a:pt x="4" y="166"/>
                    </a:lnTo>
                    <a:lnTo>
                      <a:pt x="0" y="172"/>
                    </a:lnTo>
                    <a:lnTo>
                      <a:pt x="4" y="166"/>
                    </a:lnTo>
                    <a:lnTo>
                      <a:pt x="1" y="169"/>
                    </a:lnTo>
                    <a:lnTo>
                      <a:pt x="1" y="174"/>
                    </a:lnTo>
                    <a:lnTo>
                      <a:pt x="6" y="179"/>
                    </a:lnTo>
                    <a:lnTo>
                      <a:pt x="11" y="179"/>
                    </a:lnTo>
                    <a:lnTo>
                      <a:pt x="15" y="172"/>
                    </a:lnTo>
                    <a:close/>
                  </a:path>
                </a:pathLst>
              </a:custGeom>
              <a:solidFill>
                <a:srgbClr val="000000"/>
              </a:solidFill>
              <a:ln w="9525">
                <a:noFill/>
                <a:round/>
                <a:headEnd/>
                <a:tailEnd/>
              </a:ln>
            </p:spPr>
            <p:txBody>
              <a:bodyPr/>
              <a:lstStyle/>
              <a:p>
                <a:endParaRPr lang="en-US"/>
              </a:p>
            </p:txBody>
          </p:sp>
          <p:sp>
            <p:nvSpPr>
              <p:cNvPr id="26742" name="Freeform 79"/>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4" y="14"/>
                    </a:moveTo>
                    <a:lnTo>
                      <a:pt x="15" y="21"/>
                    </a:lnTo>
                    <a:lnTo>
                      <a:pt x="15" y="0"/>
                    </a:lnTo>
                    <a:lnTo>
                      <a:pt x="0" y="0"/>
                    </a:lnTo>
                    <a:lnTo>
                      <a:pt x="0" y="21"/>
                    </a:lnTo>
                    <a:lnTo>
                      <a:pt x="11" y="27"/>
                    </a:lnTo>
                    <a:lnTo>
                      <a:pt x="0" y="21"/>
                    </a:lnTo>
                    <a:lnTo>
                      <a:pt x="3" y="25"/>
                    </a:lnTo>
                    <a:lnTo>
                      <a:pt x="7" y="27"/>
                    </a:lnTo>
                    <a:lnTo>
                      <a:pt x="12" y="25"/>
                    </a:lnTo>
                    <a:lnTo>
                      <a:pt x="15" y="21"/>
                    </a:lnTo>
                    <a:lnTo>
                      <a:pt x="4" y="14"/>
                    </a:lnTo>
                    <a:close/>
                  </a:path>
                </a:pathLst>
              </a:custGeom>
              <a:solidFill>
                <a:srgbClr val="000000"/>
              </a:solidFill>
              <a:ln w="9525">
                <a:noFill/>
                <a:round/>
                <a:headEnd/>
                <a:tailEnd/>
              </a:ln>
            </p:spPr>
            <p:txBody>
              <a:bodyPr/>
              <a:lstStyle/>
              <a:p>
                <a:endParaRPr lang="en-US"/>
              </a:p>
            </p:txBody>
          </p:sp>
          <p:sp>
            <p:nvSpPr>
              <p:cNvPr id="26743" name="Freeform 80"/>
              <p:cNvSpPr>
                <a:spLocks/>
              </p:cNvSpPr>
              <p:nvPr/>
            </p:nvSpPr>
            <p:spPr bwMode="auto">
              <a:xfrm>
                <a:off x="1950" y="3568"/>
                <a:ext cx="151" cy="89"/>
              </a:xfrm>
              <a:custGeom>
                <a:avLst/>
                <a:gdLst>
                  <a:gd name="T0" fmla="*/ 1 w 302"/>
                  <a:gd name="T1" fmla="*/ 1 h 178"/>
                  <a:gd name="T2" fmla="*/ 1 w 302"/>
                  <a:gd name="T3" fmla="*/ 0 h 178"/>
                  <a:gd name="T4" fmla="*/ 0 w 302"/>
                  <a:gd name="T5" fmla="*/ 1 h 178"/>
                  <a:gd name="T6" fmla="*/ 1 w 302"/>
                  <a:gd name="T7" fmla="*/ 1 h 178"/>
                  <a:gd name="T8" fmla="*/ 1 w 302"/>
                  <a:gd name="T9" fmla="*/ 1 h 178"/>
                  <a:gd name="T10" fmla="*/ 1 w 302"/>
                  <a:gd name="T11" fmla="*/ 1 h 178"/>
                  <a:gd name="T12" fmla="*/ 1 w 302"/>
                  <a:gd name="T13" fmla="*/ 1 h 178"/>
                  <a:gd name="T14" fmla="*/ 1 w 302"/>
                  <a:gd name="T15" fmla="*/ 1 h 178"/>
                  <a:gd name="T16" fmla="*/ 1 w 302"/>
                  <a:gd name="T17" fmla="*/ 1 h 178"/>
                  <a:gd name="T18" fmla="*/ 1 w 302"/>
                  <a:gd name="T19" fmla="*/ 0 h 178"/>
                  <a:gd name="T20" fmla="*/ 1 w 302"/>
                  <a:gd name="T21" fmla="*/ 0 h 178"/>
                  <a:gd name="T22" fmla="*/ 1 w 302"/>
                  <a:gd name="T23" fmla="*/ 1 h 1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8"/>
                  <a:gd name="T38" fmla="*/ 302 w 302"/>
                  <a:gd name="T39" fmla="*/ 178 h 17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8">
                    <a:moveTo>
                      <a:pt x="287" y="6"/>
                    </a:moveTo>
                    <a:lnTo>
                      <a:pt x="292" y="0"/>
                    </a:lnTo>
                    <a:lnTo>
                      <a:pt x="0" y="165"/>
                    </a:lnTo>
                    <a:lnTo>
                      <a:pt x="7" y="178"/>
                    </a:lnTo>
                    <a:lnTo>
                      <a:pt x="298" y="12"/>
                    </a:lnTo>
                    <a:lnTo>
                      <a:pt x="302" y="6"/>
                    </a:lnTo>
                    <a:lnTo>
                      <a:pt x="298" y="12"/>
                    </a:lnTo>
                    <a:lnTo>
                      <a:pt x="301" y="9"/>
                    </a:lnTo>
                    <a:lnTo>
                      <a:pt x="301" y="3"/>
                    </a:lnTo>
                    <a:lnTo>
                      <a:pt x="296" y="0"/>
                    </a:lnTo>
                    <a:lnTo>
                      <a:pt x="292" y="0"/>
                    </a:lnTo>
                    <a:lnTo>
                      <a:pt x="287" y="6"/>
                    </a:lnTo>
                    <a:close/>
                  </a:path>
                </a:pathLst>
              </a:custGeom>
              <a:solidFill>
                <a:srgbClr val="000000"/>
              </a:solidFill>
              <a:ln w="9525">
                <a:noFill/>
                <a:round/>
                <a:headEnd/>
                <a:tailEnd/>
              </a:ln>
            </p:spPr>
            <p:txBody>
              <a:bodyPr/>
              <a:lstStyle/>
              <a:p>
                <a:endParaRPr lang="en-US"/>
              </a:p>
            </p:txBody>
          </p:sp>
          <p:sp>
            <p:nvSpPr>
              <p:cNvPr id="26744" name="Freeform 81"/>
              <p:cNvSpPr>
                <a:spLocks/>
              </p:cNvSpPr>
              <p:nvPr/>
            </p:nvSpPr>
            <p:spPr bwMode="auto">
              <a:xfrm>
                <a:off x="1918" y="3536"/>
                <a:ext cx="179" cy="108"/>
              </a:xfrm>
              <a:custGeom>
                <a:avLst/>
                <a:gdLst>
                  <a:gd name="T0" fmla="*/ 0 w 359"/>
                  <a:gd name="T1" fmla="*/ 0 h 216"/>
                  <a:gd name="T2" fmla="*/ 0 w 359"/>
                  <a:gd name="T3" fmla="*/ 1 h 216"/>
                  <a:gd name="T4" fmla="*/ 0 w 359"/>
                  <a:gd name="T5" fmla="*/ 1 h 216"/>
                  <a:gd name="T6" fmla="*/ 0 w 359"/>
                  <a:gd name="T7" fmla="*/ 1 h 216"/>
                  <a:gd name="T8" fmla="*/ 0 w 359"/>
                  <a:gd name="T9" fmla="*/ 0 h 216"/>
                  <a:gd name="T10" fmla="*/ 0 60000 65536"/>
                  <a:gd name="T11" fmla="*/ 0 60000 65536"/>
                  <a:gd name="T12" fmla="*/ 0 60000 65536"/>
                  <a:gd name="T13" fmla="*/ 0 60000 65536"/>
                  <a:gd name="T14" fmla="*/ 0 60000 65536"/>
                  <a:gd name="T15" fmla="*/ 0 w 359"/>
                  <a:gd name="T16" fmla="*/ 0 h 216"/>
                  <a:gd name="T17" fmla="*/ 359 w 359"/>
                  <a:gd name="T18" fmla="*/ 216 h 216"/>
                </a:gdLst>
                <a:ahLst/>
                <a:cxnLst>
                  <a:cxn ang="T10">
                    <a:pos x="T0" y="T1"/>
                  </a:cxn>
                  <a:cxn ang="T11">
                    <a:pos x="T2" y="T3"/>
                  </a:cxn>
                  <a:cxn ang="T12">
                    <a:pos x="T4" y="T5"/>
                  </a:cxn>
                  <a:cxn ang="T13">
                    <a:pos x="T6" y="T7"/>
                  </a:cxn>
                  <a:cxn ang="T14">
                    <a:pos x="T8" y="T9"/>
                  </a:cxn>
                </a:cxnLst>
                <a:rect l="T15" t="T16" r="T17" b="T18"/>
                <a:pathLst>
                  <a:path w="359" h="216">
                    <a:moveTo>
                      <a:pt x="285" y="0"/>
                    </a:moveTo>
                    <a:lnTo>
                      <a:pt x="359" y="51"/>
                    </a:lnTo>
                    <a:lnTo>
                      <a:pt x="67" y="216"/>
                    </a:lnTo>
                    <a:lnTo>
                      <a:pt x="0" y="169"/>
                    </a:lnTo>
                    <a:lnTo>
                      <a:pt x="285" y="0"/>
                    </a:lnTo>
                    <a:close/>
                  </a:path>
                </a:pathLst>
              </a:custGeom>
              <a:solidFill>
                <a:srgbClr val="99D8FF"/>
              </a:solidFill>
              <a:ln w="9525">
                <a:noFill/>
                <a:round/>
                <a:headEnd/>
                <a:tailEnd/>
              </a:ln>
            </p:spPr>
            <p:txBody>
              <a:bodyPr/>
              <a:lstStyle/>
              <a:p>
                <a:endParaRPr lang="en-US"/>
              </a:p>
            </p:txBody>
          </p:sp>
          <p:sp>
            <p:nvSpPr>
              <p:cNvPr id="26745" name="Freeform 82"/>
              <p:cNvSpPr>
                <a:spLocks/>
              </p:cNvSpPr>
              <p:nvPr/>
            </p:nvSpPr>
            <p:spPr bwMode="auto">
              <a:xfrm>
                <a:off x="2058" y="3533"/>
                <a:ext cx="43" cy="32"/>
              </a:xfrm>
              <a:custGeom>
                <a:avLst/>
                <a:gdLst>
                  <a:gd name="T0" fmla="*/ 1 w 86"/>
                  <a:gd name="T1" fmla="*/ 1 h 64"/>
                  <a:gd name="T2" fmla="*/ 1 w 86"/>
                  <a:gd name="T3" fmla="*/ 1 h 64"/>
                  <a:gd name="T4" fmla="*/ 1 w 86"/>
                  <a:gd name="T5" fmla="*/ 0 h 64"/>
                  <a:gd name="T6" fmla="*/ 0 w 86"/>
                  <a:gd name="T7" fmla="*/ 1 h 64"/>
                  <a:gd name="T8" fmla="*/ 1 w 86"/>
                  <a:gd name="T9" fmla="*/ 1 h 64"/>
                  <a:gd name="T10" fmla="*/ 1 w 86"/>
                  <a:gd name="T11" fmla="*/ 1 h 64"/>
                  <a:gd name="T12" fmla="*/ 1 w 86"/>
                  <a:gd name="T13" fmla="*/ 1 h 64"/>
                  <a:gd name="T14" fmla="*/ 1 w 86"/>
                  <a:gd name="T15" fmla="*/ 1 h 64"/>
                  <a:gd name="T16" fmla="*/ 1 w 86"/>
                  <a:gd name="T17" fmla="*/ 1 h 64"/>
                  <a:gd name="T18" fmla="*/ 1 w 86"/>
                  <a:gd name="T19" fmla="*/ 1 h 64"/>
                  <a:gd name="T20" fmla="*/ 1 w 86"/>
                  <a:gd name="T21" fmla="*/ 1 h 64"/>
                  <a:gd name="T22" fmla="*/ 1 w 86"/>
                  <a:gd name="T23" fmla="*/ 1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
                  <a:gd name="T37" fmla="*/ 0 h 64"/>
                  <a:gd name="T38" fmla="*/ 86 w 86"/>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 h="64">
                    <a:moveTo>
                      <a:pt x="82" y="63"/>
                    </a:moveTo>
                    <a:lnTo>
                      <a:pt x="83" y="50"/>
                    </a:lnTo>
                    <a:lnTo>
                      <a:pt x="10" y="0"/>
                    </a:lnTo>
                    <a:lnTo>
                      <a:pt x="0" y="13"/>
                    </a:lnTo>
                    <a:lnTo>
                      <a:pt x="74" y="63"/>
                    </a:lnTo>
                    <a:lnTo>
                      <a:pt x="76" y="50"/>
                    </a:lnTo>
                    <a:lnTo>
                      <a:pt x="74" y="63"/>
                    </a:lnTo>
                    <a:lnTo>
                      <a:pt x="80" y="64"/>
                    </a:lnTo>
                    <a:lnTo>
                      <a:pt x="85" y="61"/>
                    </a:lnTo>
                    <a:lnTo>
                      <a:pt x="86" y="55"/>
                    </a:lnTo>
                    <a:lnTo>
                      <a:pt x="83" y="50"/>
                    </a:lnTo>
                    <a:lnTo>
                      <a:pt x="82" y="63"/>
                    </a:lnTo>
                    <a:close/>
                  </a:path>
                </a:pathLst>
              </a:custGeom>
              <a:solidFill>
                <a:srgbClr val="000000"/>
              </a:solidFill>
              <a:ln w="9525">
                <a:noFill/>
                <a:round/>
                <a:headEnd/>
                <a:tailEnd/>
              </a:ln>
            </p:spPr>
            <p:txBody>
              <a:bodyPr/>
              <a:lstStyle/>
              <a:p>
                <a:endParaRPr lang="en-US"/>
              </a:p>
            </p:txBody>
          </p:sp>
          <p:sp>
            <p:nvSpPr>
              <p:cNvPr id="26746" name="Freeform 83"/>
              <p:cNvSpPr>
                <a:spLocks/>
              </p:cNvSpPr>
              <p:nvPr/>
            </p:nvSpPr>
            <p:spPr bwMode="auto">
              <a:xfrm>
                <a:off x="1949" y="3558"/>
                <a:ext cx="150" cy="89"/>
              </a:xfrm>
              <a:custGeom>
                <a:avLst/>
                <a:gdLst>
                  <a:gd name="T0" fmla="*/ 0 w 301"/>
                  <a:gd name="T1" fmla="*/ 0 h 179"/>
                  <a:gd name="T2" fmla="*/ 0 w 301"/>
                  <a:gd name="T3" fmla="*/ 0 h 179"/>
                  <a:gd name="T4" fmla="*/ 0 w 301"/>
                  <a:gd name="T5" fmla="*/ 0 h 179"/>
                  <a:gd name="T6" fmla="*/ 0 w 301"/>
                  <a:gd name="T7" fmla="*/ 0 h 179"/>
                  <a:gd name="T8" fmla="*/ 0 w 301"/>
                  <a:gd name="T9" fmla="*/ 0 h 179"/>
                  <a:gd name="T10" fmla="*/ 0 w 301"/>
                  <a:gd name="T11" fmla="*/ 0 h 179"/>
                  <a:gd name="T12" fmla="*/ 0 w 301"/>
                  <a:gd name="T13" fmla="*/ 0 h 179"/>
                  <a:gd name="T14" fmla="*/ 0 w 301"/>
                  <a:gd name="T15" fmla="*/ 0 h 179"/>
                  <a:gd name="T16" fmla="*/ 0 w 301"/>
                  <a:gd name="T17" fmla="*/ 0 h 179"/>
                  <a:gd name="T18" fmla="*/ 0 w 301"/>
                  <a:gd name="T19" fmla="*/ 0 h 179"/>
                  <a:gd name="T20" fmla="*/ 0 w 301"/>
                  <a:gd name="T21" fmla="*/ 0 h 179"/>
                  <a:gd name="T22" fmla="*/ 0 w 301"/>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179"/>
                  <a:gd name="T38" fmla="*/ 301 w 301"/>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179">
                    <a:moveTo>
                      <a:pt x="2" y="179"/>
                    </a:moveTo>
                    <a:lnTo>
                      <a:pt x="10" y="179"/>
                    </a:lnTo>
                    <a:lnTo>
                      <a:pt x="301" y="13"/>
                    </a:lnTo>
                    <a:lnTo>
                      <a:pt x="295" y="0"/>
                    </a:lnTo>
                    <a:lnTo>
                      <a:pt x="3" y="166"/>
                    </a:lnTo>
                    <a:lnTo>
                      <a:pt x="11" y="166"/>
                    </a:lnTo>
                    <a:lnTo>
                      <a:pt x="3" y="166"/>
                    </a:lnTo>
                    <a:lnTo>
                      <a:pt x="0" y="169"/>
                    </a:lnTo>
                    <a:lnTo>
                      <a:pt x="0" y="174"/>
                    </a:lnTo>
                    <a:lnTo>
                      <a:pt x="5" y="179"/>
                    </a:lnTo>
                    <a:lnTo>
                      <a:pt x="10" y="179"/>
                    </a:lnTo>
                    <a:lnTo>
                      <a:pt x="2" y="179"/>
                    </a:lnTo>
                    <a:close/>
                  </a:path>
                </a:pathLst>
              </a:custGeom>
              <a:solidFill>
                <a:srgbClr val="000000"/>
              </a:solidFill>
              <a:ln w="9525">
                <a:noFill/>
                <a:round/>
                <a:headEnd/>
                <a:tailEnd/>
              </a:ln>
            </p:spPr>
            <p:txBody>
              <a:bodyPr/>
              <a:lstStyle/>
              <a:p>
                <a:endParaRPr lang="en-US"/>
              </a:p>
            </p:txBody>
          </p:sp>
          <p:sp>
            <p:nvSpPr>
              <p:cNvPr id="26747" name="Freeform 84"/>
              <p:cNvSpPr>
                <a:spLocks/>
              </p:cNvSpPr>
              <p:nvPr/>
            </p:nvSpPr>
            <p:spPr bwMode="auto">
              <a:xfrm>
                <a:off x="1914" y="3616"/>
                <a:ext cx="40" cy="31"/>
              </a:xfrm>
              <a:custGeom>
                <a:avLst/>
                <a:gdLst>
                  <a:gd name="T0" fmla="*/ 1 w 80"/>
                  <a:gd name="T1" fmla="*/ 1 h 61"/>
                  <a:gd name="T2" fmla="*/ 1 w 80"/>
                  <a:gd name="T3" fmla="*/ 1 h 61"/>
                  <a:gd name="T4" fmla="*/ 1 w 80"/>
                  <a:gd name="T5" fmla="*/ 1 h 61"/>
                  <a:gd name="T6" fmla="*/ 1 w 80"/>
                  <a:gd name="T7" fmla="*/ 1 h 61"/>
                  <a:gd name="T8" fmla="*/ 1 w 80"/>
                  <a:gd name="T9" fmla="*/ 1 h 61"/>
                  <a:gd name="T10" fmla="*/ 1 w 80"/>
                  <a:gd name="T11" fmla="*/ 1 h 61"/>
                  <a:gd name="T12" fmla="*/ 1 w 80"/>
                  <a:gd name="T13" fmla="*/ 1 h 61"/>
                  <a:gd name="T14" fmla="*/ 1 w 80"/>
                  <a:gd name="T15" fmla="*/ 0 h 61"/>
                  <a:gd name="T16" fmla="*/ 1 w 80"/>
                  <a:gd name="T17" fmla="*/ 1 h 61"/>
                  <a:gd name="T18" fmla="*/ 0 w 80"/>
                  <a:gd name="T19" fmla="*/ 1 h 61"/>
                  <a:gd name="T20" fmla="*/ 1 w 80"/>
                  <a:gd name="T21" fmla="*/ 1 h 61"/>
                  <a:gd name="T22" fmla="*/ 1 w 80"/>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0"/>
                  <a:gd name="T37" fmla="*/ 0 h 61"/>
                  <a:gd name="T38" fmla="*/ 80 w 80"/>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0" h="61">
                    <a:moveTo>
                      <a:pt x="3" y="1"/>
                    </a:moveTo>
                    <a:lnTo>
                      <a:pt x="3" y="14"/>
                    </a:lnTo>
                    <a:lnTo>
                      <a:pt x="71" y="61"/>
                    </a:lnTo>
                    <a:lnTo>
                      <a:pt x="80" y="48"/>
                    </a:lnTo>
                    <a:lnTo>
                      <a:pt x="13" y="1"/>
                    </a:lnTo>
                    <a:lnTo>
                      <a:pt x="13" y="14"/>
                    </a:lnTo>
                    <a:lnTo>
                      <a:pt x="13" y="1"/>
                    </a:lnTo>
                    <a:lnTo>
                      <a:pt x="7" y="0"/>
                    </a:lnTo>
                    <a:lnTo>
                      <a:pt x="2" y="3"/>
                    </a:lnTo>
                    <a:lnTo>
                      <a:pt x="0" y="7"/>
                    </a:lnTo>
                    <a:lnTo>
                      <a:pt x="3" y="14"/>
                    </a:lnTo>
                    <a:lnTo>
                      <a:pt x="3" y="1"/>
                    </a:lnTo>
                    <a:close/>
                  </a:path>
                </a:pathLst>
              </a:custGeom>
              <a:solidFill>
                <a:srgbClr val="000000"/>
              </a:solidFill>
              <a:ln w="9525">
                <a:noFill/>
                <a:round/>
                <a:headEnd/>
                <a:tailEnd/>
              </a:ln>
            </p:spPr>
            <p:txBody>
              <a:bodyPr/>
              <a:lstStyle/>
              <a:p>
                <a:endParaRPr lang="en-US"/>
              </a:p>
            </p:txBody>
          </p:sp>
          <p:sp>
            <p:nvSpPr>
              <p:cNvPr id="26748" name="Freeform 85"/>
              <p:cNvSpPr>
                <a:spLocks/>
              </p:cNvSpPr>
              <p:nvPr/>
            </p:nvSpPr>
            <p:spPr bwMode="auto">
              <a:xfrm>
                <a:off x="1916" y="3532"/>
                <a:ext cx="148" cy="91"/>
              </a:xfrm>
              <a:custGeom>
                <a:avLst/>
                <a:gdLst>
                  <a:gd name="T0" fmla="*/ 0 w 298"/>
                  <a:gd name="T1" fmla="*/ 0 h 183"/>
                  <a:gd name="T2" fmla="*/ 0 w 298"/>
                  <a:gd name="T3" fmla="*/ 0 h 183"/>
                  <a:gd name="T4" fmla="*/ 0 w 298"/>
                  <a:gd name="T5" fmla="*/ 0 h 183"/>
                  <a:gd name="T6" fmla="*/ 0 w 298"/>
                  <a:gd name="T7" fmla="*/ 0 h 183"/>
                  <a:gd name="T8" fmla="*/ 0 w 298"/>
                  <a:gd name="T9" fmla="*/ 0 h 183"/>
                  <a:gd name="T10" fmla="*/ 0 w 298"/>
                  <a:gd name="T11" fmla="*/ 0 h 183"/>
                  <a:gd name="T12" fmla="*/ 0 w 298"/>
                  <a:gd name="T13" fmla="*/ 0 h 183"/>
                  <a:gd name="T14" fmla="*/ 0 w 298"/>
                  <a:gd name="T15" fmla="*/ 0 h 183"/>
                  <a:gd name="T16" fmla="*/ 0 w 298"/>
                  <a:gd name="T17" fmla="*/ 0 h 183"/>
                  <a:gd name="T18" fmla="*/ 0 w 298"/>
                  <a:gd name="T19" fmla="*/ 0 h 183"/>
                  <a:gd name="T20" fmla="*/ 0 w 298"/>
                  <a:gd name="T21" fmla="*/ 0 h 183"/>
                  <a:gd name="T22" fmla="*/ 0 w 298"/>
                  <a:gd name="T23" fmla="*/ 0 h 1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8"/>
                  <a:gd name="T37" fmla="*/ 0 h 183"/>
                  <a:gd name="T38" fmla="*/ 298 w 298"/>
                  <a:gd name="T39" fmla="*/ 183 h 1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8" h="183">
                    <a:moveTo>
                      <a:pt x="295" y="1"/>
                    </a:moveTo>
                    <a:lnTo>
                      <a:pt x="285" y="1"/>
                    </a:lnTo>
                    <a:lnTo>
                      <a:pt x="0" y="170"/>
                    </a:lnTo>
                    <a:lnTo>
                      <a:pt x="10" y="183"/>
                    </a:lnTo>
                    <a:lnTo>
                      <a:pt x="295" y="14"/>
                    </a:lnTo>
                    <a:lnTo>
                      <a:pt x="285" y="14"/>
                    </a:lnTo>
                    <a:lnTo>
                      <a:pt x="295" y="14"/>
                    </a:lnTo>
                    <a:lnTo>
                      <a:pt x="298" y="7"/>
                    </a:lnTo>
                    <a:lnTo>
                      <a:pt x="296" y="3"/>
                    </a:lnTo>
                    <a:lnTo>
                      <a:pt x="292" y="0"/>
                    </a:lnTo>
                    <a:lnTo>
                      <a:pt x="285" y="1"/>
                    </a:lnTo>
                    <a:lnTo>
                      <a:pt x="295" y="1"/>
                    </a:lnTo>
                    <a:close/>
                  </a:path>
                </a:pathLst>
              </a:custGeom>
              <a:solidFill>
                <a:srgbClr val="000000"/>
              </a:solidFill>
              <a:ln w="9525">
                <a:noFill/>
                <a:round/>
                <a:headEnd/>
                <a:tailEnd/>
              </a:ln>
            </p:spPr>
            <p:txBody>
              <a:bodyPr/>
              <a:lstStyle/>
              <a:p>
                <a:endParaRPr lang="en-US"/>
              </a:p>
            </p:txBody>
          </p:sp>
          <p:sp>
            <p:nvSpPr>
              <p:cNvPr id="26749" name="Freeform 86"/>
              <p:cNvSpPr>
                <a:spLocks/>
              </p:cNvSpPr>
              <p:nvPr/>
            </p:nvSpPr>
            <p:spPr bwMode="auto">
              <a:xfrm>
                <a:off x="1919" y="3620"/>
                <a:ext cx="33" cy="34"/>
              </a:xfrm>
              <a:custGeom>
                <a:avLst/>
                <a:gdLst>
                  <a:gd name="T0" fmla="*/ 0 w 65"/>
                  <a:gd name="T1" fmla="*/ 1 h 68"/>
                  <a:gd name="T2" fmla="*/ 0 w 65"/>
                  <a:gd name="T3" fmla="*/ 0 h 68"/>
                  <a:gd name="T4" fmla="*/ 1 w 65"/>
                  <a:gd name="T5" fmla="*/ 1 h 68"/>
                  <a:gd name="T6" fmla="*/ 1 w 65"/>
                  <a:gd name="T7" fmla="*/ 1 h 68"/>
                  <a:gd name="T8" fmla="*/ 0 w 65"/>
                  <a:gd name="T9" fmla="*/ 1 h 68"/>
                  <a:gd name="T10" fmla="*/ 0 60000 65536"/>
                  <a:gd name="T11" fmla="*/ 0 60000 65536"/>
                  <a:gd name="T12" fmla="*/ 0 60000 65536"/>
                  <a:gd name="T13" fmla="*/ 0 60000 65536"/>
                  <a:gd name="T14" fmla="*/ 0 60000 65536"/>
                  <a:gd name="T15" fmla="*/ 0 w 65"/>
                  <a:gd name="T16" fmla="*/ 0 h 68"/>
                  <a:gd name="T17" fmla="*/ 65 w 65"/>
                  <a:gd name="T18" fmla="*/ 68 h 68"/>
                </a:gdLst>
                <a:ahLst/>
                <a:cxnLst>
                  <a:cxn ang="T10">
                    <a:pos x="T0" y="T1"/>
                  </a:cxn>
                  <a:cxn ang="T11">
                    <a:pos x="T2" y="T3"/>
                  </a:cxn>
                  <a:cxn ang="T12">
                    <a:pos x="T4" y="T5"/>
                  </a:cxn>
                  <a:cxn ang="T13">
                    <a:pos x="T6" y="T7"/>
                  </a:cxn>
                  <a:cxn ang="T14">
                    <a:pos x="T8" y="T9"/>
                  </a:cxn>
                </a:cxnLst>
                <a:rect l="T15" t="T16" r="T17" b="T18"/>
                <a:pathLst>
                  <a:path w="65" h="68">
                    <a:moveTo>
                      <a:pt x="0" y="29"/>
                    </a:moveTo>
                    <a:lnTo>
                      <a:pt x="0" y="0"/>
                    </a:lnTo>
                    <a:lnTo>
                      <a:pt x="65" y="47"/>
                    </a:lnTo>
                    <a:lnTo>
                      <a:pt x="65" y="68"/>
                    </a:lnTo>
                    <a:lnTo>
                      <a:pt x="0" y="29"/>
                    </a:lnTo>
                    <a:close/>
                  </a:path>
                </a:pathLst>
              </a:custGeom>
              <a:solidFill>
                <a:srgbClr val="4CB2FF"/>
              </a:solidFill>
              <a:ln w="9525">
                <a:noFill/>
                <a:round/>
                <a:headEnd/>
                <a:tailEnd/>
              </a:ln>
            </p:spPr>
            <p:txBody>
              <a:bodyPr/>
              <a:lstStyle/>
              <a:p>
                <a:endParaRPr lang="en-US"/>
              </a:p>
            </p:txBody>
          </p:sp>
          <p:sp>
            <p:nvSpPr>
              <p:cNvPr id="26750" name="Freeform 87"/>
              <p:cNvSpPr>
                <a:spLocks/>
              </p:cNvSpPr>
              <p:nvPr/>
            </p:nvSpPr>
            <p:spPr bwMode="auto">
              <a:xfrm>
                <a:off x="1915" y="3616"/>
                <a:ext cx="8" cy="18"/>
              </a:xfrm>
              <a:custGeom>
                <a:avLst/>
                <a:gdLst>
                  <a:gd name="T0" fmla="*/ 1 w 15"/>
                  <a:gd name="T1" fmla="*/ 1 h 36"/>
                  <a:gd name="T2" fmla="*/ 0 w 15"/>
                  <a:gd name="T3" fmla="*/ 1 h 36"/>
                  <a:gd name="T4" fmla="*/ 0 w 15"/>
                  <a:gd name="T5" fmla="*/ 1 h 36"/>
                  <a:gd name="T6" fmla="*/ 1 w 15"/>
                  <a:gd name="T7" fmla="*/ 1 h 36"/>
                  <a:gd name="T8" fmla="*/ 1 w 15"/>
                  <a:gd name="T9" fmla="*/ 1 h 36"/>
                  <a:gd name="T10" fmla="*/ 1 w 15"/>
                  <a:gd name="T11" fmla="*/ 1 h 36"/>
                  <a:gd name="T12" fmla="*/ 1 w 15"/>
                  <a:gd name="T13" fmla="*/ 1 h 36"/>
                  <a:gd name="T14" fmla="*/ 1 w 15"/>
                  <a:gd name="T15" fmla="*/ 1 h 36"/>
                  <a:gd name="T16" fmla="*/ 1 w 15"/>
                  <a:gd name="T17" fmla="*/ 0 h 36"/>
                  <a:gd name="T18" fmla="*/ 1 w 15"/>
                  <a:gd name="T19" fmla="*/ 1 h 36"/>
                  <a:gd name="T20" fmla="*/ 0 w 15"/>
                  <a:gd name="T21" fmla="*/ 1 h 36"/>
                  <a:gd name="T22" fmla="*/ 1 w 15"/>
                  <a:gd name="T23" fmla="*/ 1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36"/>
                  <a:gd name="T38" fmla="*/ 15 w 15"/>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36">
                    <a:moveTo>
                      <a:pt x="12" y="1"/>
                    </a:moveTo>
                    <a:lnTo>
                      <a:pt x="0" y="7"/>
                    </a:lnTo>
                    <a:lnTo>
                      <a:pt x="0" y="36"/>
                    </a:lnTo>
                    <a:lnTo>
                      <a:pt x="15" y="36"/>
                    </a:lnTo>
                    <a:lnTo>
                      <a:pt x="15" y="7"/>
                    </a:lnTo>
                    <a:lnTo>
                      <a:pt x="3" y="14"/>
                    </a:lnTo>
                    <a:lnTo>
                      <a:pt x="15" y="7"/>
                    </a:lnTo>
                    <a:lnTo>
                      <a:pt x="12" y="3"/>
                    </a:lnTo>
                    <a:lnTo>
                      <a:pt x="8" y="0"/>
                    </a:lnTo>
                    <a:lnTo>
                      <a:pt x="3" y="3"/>
                    </a:lnTo>
                    <a:lnTo>
                      <a:pt x="0" y="7"/>
                    </a:lnTo>
                    <a:lnTo>
                      <a:pt x="12" y="1"/>
                    </a:lnTo>
                    <a:close/>
                  </a:path>
                </a:pathLst>
              </a:custGeom>
              <a:solidFill>
                <a:srgbClr val="000000"/>
              </a:solidFill>
              <a:ln w="9525">
                <a:noFill/>
                <a:round/>
                <a:headEnd/>
                <a:tailEnd/>
              </a:ln>
            </p:spPr>
            <p:txBody>
              <a:bodyPr/>
              <a:lstStyle/>
              <a:p>
                <a:endParaRPr lang="en-US"/>
              </a:p>
            </p:txBody>
          </p:sp>
          <p:sp>
            <p:nvSpPr>
              <p:cNvPr id="26751" name="Freeform 88"/>
              <p:cNvSpPr>
                <a:spLocks/>
              </p:cNvSpPr>
              <p:nvPr/>
            </p:nvSpPr>
            <p:spPr bwMode="auto">
              <a:xfrm>
                <a:off x="1916" y="3617"/>
                <a:ext cx="40" cy="31"/>
              </a:xfrm>
              <a:custGeom>
                <a:avLst/>
                <a:gdLst>
                  <a:gd name="T0" fmla="*/ 1 w 78"/>
                  <a:gd name="T1" fmla="*/ 1 h 61"/>
                  <a:gd name="T2" fmla="*/ 1 w 78"/>
                  <a:gd name="T3" fmla="*/ 1 h 61"/>
                  <a:gd name="T4" fmla="*/ 1 w 78"/>
                  <a:gd name="T5" fmla="*/ 0 h 61"/>
                  <a:gd name="T6" fmla="*/ 0 w 78"/>
                  <a:gd name="T7" fmla="*/ 1 h 61"/>
                  <a:gd name="T8" fmla="*/ 1 w 78"/>
                  <a:gd name="T9" fmla="*/ 1 h 61"/>
                  <a:gd name="T10" fmla="*/ 1 w 78"/>
                  <a:gd name="T11" fmla="*/ 1 h 61"/>
                  <a:gd name="T12" fmla="*/ 1 w 78"/>
                  <a:gd name="T13" fmla="*/ 1 h 61"/>
                  <a:gd name="T14" fmla="*/ 1 w 78"/>
                  <a:gd name="T15" fmla="*/ 1 h 61"/>
                  <a:gd name="T16" fmla="*/ 1 w 78"/>
                  <a:gd name="T17" fmla="*/ 1 h 61"/>
                  <a:gd name="T18" fmla="*/ 1 w 78"/>
                  <a:gd name="T19" fmla="*/ 1 h 61"/>
                  <a:gd name="T20" fmla="*/ 1 w 78"/>
                  <a:gd name="T21" fmla="*/ 1 h 61"/>
                  <a:gd name="T22" fmla="*/ 1 w 78"/>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61"/>
                  <a:gd name="T38" fmla="*/ 78 w 78"/>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61">
                    <a:moveTo>
                      <a:pt x="78" y="53"/>
                    </a:moveTo>
                    <a:lnTo>
                      <a:pt x="75" y="47"/>
                    </a:lnTo>
                    <a:lnTo>
                      <a:pt x="9" y="0"/>
                    </a:lnTo>
                    <a:lnTo>
                      <a:pt x="0" y="13"/>
                    </a:lnTo>
                    <a:lnTo>
                      <a:pt x="66" y="60"/>
                    </a:lnTo>
                    <a:lnTo>
                      <a:pt x="63" y="53"/>
                    </a:lnTo>
                    <a:lnTo>
                      <a:pt x="66" y="60"/>
                    </a:lnTo>
                    <a:lnTo>
                      <a:pt x="72" y="61"/>
                    </a:lnTo>
                    <a:lnTo>
                      <a:pt x="77" y="58"/>
                    </a:lnTo>
                    <a:lnTo>
                      <a:pt x="78" y="52"/>
                    </a:lnTo>
                    <a:lnTo>
                      <a:pt x="75" y="47"/>
                    </a:lnTo>
                    <a:lnTo>
                      <a:pt x="78" y="53"/>
                    </a:lnTo>
                    <a:close/>
                  </a:path>
                </a:pathLst>
              </a:custGeom>
              <a:solidFill>
                <a:srgbClr val="000000"/>
              </a:solidFill>
              <a:ln w="9525">
                <a:noFill/>
                <a:round/>
                <a:headEnd/>
                <a:tailEnd/>
              </a:ln>
            </p:spPr>
            <p:txBody>
              <a:bodyPr/>
              <a:lstStyle/>
              <a:p>
                <a:endParaRPr lang="en-US"/>
              </a:p>
            </p:txBody>
          </p:sp>
          <p:sp>
            <p:nvSpPr>
              <p:cNvPr id="26752" name="Freeform 89"/>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3" y="27"/>
                    </a:moveTo>
                    <a:lnTo>
                      <a:pt x="15" y="21"/>
                    </a:lnTo>
                    <a:lnTo>
                      <a:pt x="15" y="0"/>
                    </a:lnTo>
                    <a:lnTo>
                      <a:pt x="0" y="0"/>
                    </a:lnTo>
                    <a:lnTo>
                      <a:pt x="0" y="21"/>
                    </a:lnTo>
                    <a:lnTo>
                      <a:pt x="12" y="14"/>
                    </a:lnTo>
                    <a:lnTo>
                      <a:pt x="0" y="21"/>
                    </a:lnTo>
                    <a:lnTo>
                      <a:pt x="3" y="25"/>
                    </a:lnTo>
                    <a:lnTo>
                      <a:pt x="7" y="27"/>
                    </a:lnTo>
                    <a:lnTo>
                      <a:pt x="12" y="25"/>
                    </a:lnTo>
                    <a:lnTo>
                      <a:pt x="15" y="21"/>
                    </a:lnTo>
                    <a:lnTo>
                      <a:pt x="3" y="27"/>
                    </a:lnTo>
                    <a:close/>
                  </a:path>
                </a:pathLst>
              </a:custGeom>
              <a:solidFill>
                <a:srgbClr val="000000"/>
              </a:solidFill>
              <a:ln w="9525">
                <a:noFill/>
                <a:round/>
                <a:headEnd/>
                <a:tailEnd/>
              </a:ln>
            </p:spPr>
            <p:txBody>
              <a:bodyPr/>
              <a:lstStyle/>
              <a:p>
                <a:endParaRPr lang="en-US"/>
              </a:p>
            </p:txBody>
          </p:sp>
          <p:sp>
            <p:nvSpPr>
              <p:cNvPr id="26753" name="Freeform 90"/>
              <p:cNvSpPr>
                <a:spLocks/>
              </p:cNvSpPr>
              <p:nvPr/>
            </p:nvSpPr>
            <p:spPr bwMode="auto">
              <a:xfrm>
                <a:off x="1915" y="3630"/>
                <a:ext cx="39" cy="27"/>
              </a:xfrm>
              <a:custGeom>
                <a:avLst/>
                <a:gdLst>
                  <a:gd name="T0" fmla="*/ 0 w 78"/>
                  <a:gd name="T1" fmla="*/ 1 h 53"/>
                  <a:gd name="T2" fmla="*/ 1 w 78"/>
                  <a:gd name="T3" fmla="*/ 1 h 53"/>
                  <a:gd name="T4" fmla="*/ 1 w 78"/>
                  <a:gd name="T5" fmla="*/ 1 h 53"/>
                  <a:gd name="T6" fmla="*/ 1 w 78"/>
                  <a:gd name="T7" fmla="*/ 1 h 53"/>
                  <a:gd name="T8" fmla="*/ 1 w 78"/>
                  <a:gd name="T9" fmla="*/ 1 h 53"/>
                  <a:gd name="T10" fmla="*/ 1 w 78"/>
                  <a:gd name="T11" fmla="*/ 1 h 53"/>
                  <a:gd name="T12" fmla="*/ 1 w 78"/>
                  <a:gd name="T13" fmla="*/ 1 h 53"/>
                  <a:gd name="T14" fmla="*/ 1 w 78"/>
                  <a:gd name="T15" fmla="*/ 0 h 53"/>
                  <a:gd name="T16" fmla="*/ 1 w 78"/>
                  <a:gd name="T17" fmla="*/ 1 h 53"/>
                  <a:gd name="T18" fmla="*/ 0 w 78"/>
                  <a:gd name="T19" fmla="*/ 1 h 53"/>
                  <a:gd name="T20" fmla="*/ 1 w 78"/>
                  <a:gd name="T21" fmla="*/ 1 h 53"/>
                  <a:gd name="T22" fmla="*/ 0 w 78"/>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53"/>
                  <a:gd name="T38" fmla="*/ 78 w 78"/>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53">
                    <a:moveTo>
                      <a:pt x="0" y="8"/>
                    </a:moveTo>
                    <a:lnTo>
                      <a:pt x="3" y="14"/>
                    </a:lnTo>
                    <a:lnTo>
                      <a:pt x="69" y="53"/>
                    </a:lnTo>
                    <a:lnTo>
                      <a:pt x="78" y="40"/>
                    </a:lnTo>
                    <a:lnTo>
                      <a:pt x="12" y="1"/>
                    </a:lnTo>
                    <a:lnTo>
                      <a:pt x="15" y="8"/>
                    </a:lnTo>
                    <a:lnTo>
                      <a:pt x="12" y="1"/>
                    </a:lnTo>
                    <a:lnTo>
                      <a:pt x="6" y="0"/>
                    </a:lnTo>
                    <a:lnTo>
                      <a:pt x="1" y="3"/>
                    </a:lnTo>
                    <a:lnTo>
                      <a:pt x="0" y="8"/>
                    </a:lnTo>
                    <a:lnTo>
                      <a:pt x="3" y="14"/>
                    </a:lnTo>
                    <a:lnTo>
                      <a:pt x="0" y="8"/>
                    </a:lnTo>
                    <a:close/>
                  </a:path>
                </a:pathLst>
              </a:custGeom>
              <a:solidFill>
                <a:srgbClr val="000000"/>
              </a:solidFill>
              <a:ln w="9525">
                <a:noFill/>
                <a:round/>
                <a:headEnd/>
                <a:tailEnd/>
              </a:ln>
            </p:spPr>
            <p:txBody>
              <a:bodyPr/>
              <a:lstStyle/>
              <a:p>
                <a:endParaRPr lang="en-US"/>
              </a:p>
            </p:txBody>
          </p:sp>
          <p:sp>
            <p:nvSpPr>
              <p:cNvPr id="26754" name="Freeform 91"/>
              <p:cNvSpPr>
                <a:spLocks/>
              </p:cNvSpPr>
              <p:nvPr/>
            </p:nvSpPr>
            <p:spPr bwMode="auto">
              <a:xfrm>
                <a:off x="2153" y="3445"/>
                <a:ext cx="76" cy="75"/>
              </a:xfrm>
              <a:custGeom>
                <a:avLst/>
                <a:gdLst>
                  <a:gd name="T0" fmla="*/ 0 w 152"/>
                  <a:gd name="T1" fmla="*/ 0 h 150"/>
                  <a:gd name="T2" fmla="*/ 0 w 152"/>
                  <a:gd name="T3" fmla="*/ 1 h 150"/>
                  <a:gd name="T4" fmla="*/ 1 w 152"/>
                  <a:gd name="T5" fmla="*/ 1 h 150"/>
                  <a:gd name="T6" fmla="*/ 1 w 152"/>
                  <a:gd name="T7" fmla="*/ 1 h 150"/>
                  <a:gd name="T8" fmla="*/ 1 w 152"/>
                  <a:gd name="T9" fmla="*/ 1 h 150"/>
                  <a:gd name="T10" fmla="*/ 1 w 152"/>
                  <a:gd name="T11" fmla="*/ 1 h 150"/>
                  <a:gd name="T12" fmla="*/ 1 w 152"/>
                  <a:gd name="T13" fmla="*/ 1 h 150"/>
                  <a:gd name="T14" fmla="*/ 1 w 152"/>
                  <a:gd name="T15" fmla="*/ 1 h 150"/>
                  <a:gd name="T16" fmla="*/ 1 w 152"/>
                  <a:gd name="T17" fmla="*/ 1 h 150"/>
                  <a:gd name="T18" fmla="*/ 1 w 152"/>
                  <a:gd name="T19" fmla="*/ 1 h 150"/>
                  <a:gd name="T20" fmla="*/ 1 w 152"/>
                  <a:gd name="T21" fmla="*/ 1 h 150"/>
                  <a:gd name="T22" fmla="*/ 1 w 152"/>
                  <a:gd name="T23" fmla="*/ 1 h 150"/>
                  <a:gd name="T24" fmla="*/ 1 w 152"/>
                  <a:gd name="T25" fmla="*/ 1 h 150"/>
                  <a:gd name="T26" fmla="*/ 1 w 152"/>
                  <a:gd name="T27" fmla="*/ 1 h 150"/>
                  <a:gd name="T28" fmla="*/ 1 w 152"/>
                  <a:gd name="T29" fmla="*/ 1 h 150"/>
                  <a:gd name="T30" fmla="*/ 1 w 152"/>
                  <a:gd name="T31" fmla="*/ 1 h 150"/>
                  <a:gd name="T32" fmla="*/ 1 w 152"/>
                  <a:gd name="T33" fmla="*/ 1 h 150"/>
                  <a:gd name="T34" fmla="*/ 1 w 152"/>
                  <a:gd name="T35" fmla="*/ 1 h 150"/>
                  <a:gd name="T36" fmla="*/ 1 w 152"/>
                  <a:gd name="T37" fmla="*/ 1 h 150"/>
                  <a:gd name="T38" fmla="*/ 1 w 152"/>
                  <a:gd name="T39" fmla="*/ 1 h 150"/>
                  <a:gd name="T40" fmla="*/ 1 w 152"/>
                  <a:gd name="T41" fmla="*/ 1 h 150"/>
                  <a:gd name="T42" fmla="*/ 1 w 152"/>
                  <a:gd name="T43" fmla="*/ 1 h 150"/>
                  <a:gd name="T44" fmla="*/ 1 w 152"/>
                  <a:gd name="T45" fmla="*/ 1 h 150"/>
                  <a:gd name="T46" fmla="*/ 1 w 152"/>
                  <a:gd name="T47" fmla="*/ 1 h 150"/>
                  <a:gd name="T48" fmla="*/ 1 w 152"/>
                  <a:gd name="T49" fmla="*/ 1 h 150"/>
                  <a:gd name="T50" fmla="*/ 1 w 152"/>
                  <a:gd name="T51" fmla="*/ 1 h 150"/>
                  <a:gd name="T52" fmla="*/ 1 w 152"/>
                  <a:gd name="T53" fmla="*/ 1 h 150"/>
                  <a:gd name="T54" fmla="*/ 1 w 152"/>
                  <a:gd name="T55" fmla="*/ 1 h 150"/>
                  <a:gd name="T56" fmla="*/ 1 w 152"/>
                  <a:gd name="T57" fmla="*/ 1 h 150"/>
                  <a:gd name="T58" fmla="*/ 1 w 152"/>
                  <a:gd name="T59" fmla="*/ 1 h 150"/>
                  <a:gd name="T60" fmla="*/ 1 w 152"/>
                  <a:gd name="T61" fmla="*/ 1 h 150"/>
                  <a:gd name="T62" fmla="*/ 1 w 152"/>
                  <a:gd name="T63" fmla="*/ 1 h 150"/>
                  <a:gd name="T64" fmla="*/ 1 w 152"/>
                  <a:gd name="T65" fmla="*/ 1 h 150"/>
                  <a:gd name="T66" fmla="*/ 1 w 152"/>
                  <a:gd name="T67" fmla="*/ 1 h 150"/>
                  <a:gd name="T68" fmla="*/ 0 w 152"/>
                  <a:gd name="T69" fmla="*/ 0 h 15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2"/>
                  <a:gd name="T106" fmla="*/ 0 h 150"/>
                  <a:gd name="T107" fmla="*/ 152 w 152"/>
                  <a:gd name="T108" fmla="*/ 150 h 15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2" h="150">
                    <a:moveTo>
                      <a:pt x="0" y="0"/>
                    </a:moveTo>
                    <a:lnTo>
                      <a:pt x="0" y="3"/>
                    </a:lnTo>
                    <a:lnTo>
                      <a:pt x="1" y="12"/>
                    </a:lnTo>
                    <a:lnTo>
                      <a:pt x="1" y="27"/>
                    </a:lnTo>
                    <a:lnTo>
                      <a:pt x="3" y="42"/>
                    </a:lnTo>
                    <a:lnTo>
                      <a:pt x="5" y="59"/>
                    </a:lnTo>
                    <a:lnTo>
                      <a:pt x="6" y="74"/>
                    </a:lnTo>
                    <a:lnTo>
                      <a:pt x="8" y="86"/>
                    </a:lnTo>
                    <a:lnTo>
                      <a:pt x="9" y="92"/>
                    </a:lnTo>
                    <a:lnTo>
                      <a:pt x="12" y="100"/>
                    </a:lnTo>
                    <a:lnTo>
                      <a:pt x="17" y="108"/>
                    </a:lnTo>
                    <a:lnTo>
                      <a:pt x="19" y="114"/>
                    </a:lnTo>
                    <a:lnTo>
                      <a:pt x="20" y="117"/>
                    </a:lnTo>
                    <a:lnTo>
                      <a:pt x="20" y="119"/>
                    </a:lnTo>
                    <a:lnTo>
                      <a:pt x="22" y="120"/>
                    </a:lnTo>
                    <a:lnTo>
                      <a:pt x="25" y="125"/>
                    </a:lnTo>
                    <a:lnTo>
                      <a:pt x="26" y="130"/>
                    </a:lnTo>
                    <a:lnTo>
                      <a:pt x="31" y="136"/>
                    </a:lnTo>
                    <a:lnTo>
                      <a:pt x="41" y="142"/>
                    </a:lnTo>
                    <a:lnTo>
                      <a:pt x="50" y="147"/>
                    </a:lnTo>
                    <a:lnTo>
                      <a:pt x="61" y="150"/>
                    </a:lnTo>
                    <a:lnTo>
                      <a:pt x="66" y="150"/>
                    </a:lnTo>
                    <a:lnTo>
                      <a:pt x="72" y="150"/>
                    </a:lnTo>
                    <a:lnTo>
                      <a:pt x="80" y="149"/>
                    </a:lnTo>
                    <a:lnTo>
                      <a:pt x="89" y="147"/>
                    </a:lnTo>
                    <a:lnTo>
                      <a:pt x="98" y="145"/>
                    </a:lnTo>
                    <a:lnTo>
                      <a:pt x="108" y="142"/>
                    </a:lnTo>
                    <a:lnTo>
                      <a:pt x="117" y="139"/>
                    </a:lnTo>
                    <a:lnTo>
                      <a:pt x="127" y="136"/>
                    </a:lnTo>
                    <a:lnTo>
                      <a:pt x="141" y="128"/>
                    </a:lnTo>
                    <a:lnTo>
                      <a:pt x="149" y="122"/>
                    </a:lnTo>
                    <a:lnTo>
                      <a:pt x="152" y="120"/>
                    </a:lnTo>
                    <a:lnTo>
                      <a:pt x="152" y="119"/>
                    </a:lnTo>
                    <a:lnTo>
                      <a:pt x="141" y="92"/>
                    </a:lnTo>
                    <a:lnTo>
                      <a:pt x="0" y="0"/>
                    </a:lnTo>
                    <a:close/>
                  </a:path>
                </a:pathLst>
              </a:custGeom>
              <a:solidFill>
                <a:srgbClr val="FFB27F"/>
              </a:solidFill>
              <a:ln w="9525">
                <a:noFill/>
                <a:round/>
                <a:headEnd/>
                <a:tailEnd/>
              </a:ln>
            </p:spPr>
            <p:txBody>
              <a:bodyPr/>
              <a:lstStyle/>
              <a:p>
                <a:endParaRPr lang="en-US"/>
              </a:p>
            </p:txBody>
          </p:sp>
          <p:sp>
            <p:nvSpPr>
              <p:cNvPr id="26755" name="Freeform 92"/>
              <p:cNvSpPr>
                <a:spLocks/>
              </p:cNvSpPr>
              <p:nvPr/>
            </p:nvSpPr>
            <p:spPr bwMode="auto">
              <a:xfrm>
                <a:off x="2147" y="3445"/>
                <a:ext cx="15" cy="48"/>
              </a:xfrm>
              <a:custGeom>
                <a:avLst/>
                <a:gdLst>
                  <a:gd name="T0" fmla="*/ 1 w 30"/>
                  <a:gd name="T1" fmla="*/ 0 h 97"/>
                  <a:gd name="T2" fmla="*/ 1 w 30"/>
                  <a:gd name="T3" fmla="*/ 0 h 97"/>
                  <a:gd name="T4" fmla="*/ 1 w 30"/>
                  <a:gd name="T5" fmla="*/ 0 h 97"/>
                  <a:gd name="T6" fmla="*/ 1 w 30"/>
                  <a:gd name="T7" fmla="*/ 0 h 97"/>
                  <a:gd name="T8" fmla="*/ 1 w 30"/>
                  <a:gd name="T9" fmla="*/ 0 h 97"/>
                  <a:gd name="T10" fmla="*/ 1 w 30"/>
                  <a:gd name="T11" fmla="*/ 0 h 97"/>
                  <a:gd name="T12" fmla="*/ 1 w 30"/>
                  <a:gd name="T13" fmla="*/ 0 h 97"/>
                  <a:gd name="T14" fmla="*/ 1 w 30"/>
                  <a:gd name="T15" fmla="*/ 0 h 97"/>
                  <a:gd name="T16" fmla="*/ 1 w 30"/>
                  <a:gd name="T17" fmla="*/ 0 h 97"/>
                  <a:gd name="T18" fmla="*/ 1 w 30"/>
                  <a:gd name="T19" fmla="*/ 0 h 97"/>
                  <a:gd name="T20" fmla="*/ 0 w 30"/>
                  <a:gd name="T21" fmla="*/ 0 h 97"/>
                  <a:gd name="T22" fmla="*/ 0 w 30"/>
                  <a:gd name="T23" fmla="*/ 0 h 97"/>
                  <a:gd name="T24" fmla="*/ 1 w 30"/>
                  <a:gd name="T25" fmla="*/ 0 h 97"/>
                  <a:gd name="T26" fmla="*/ 1 w 30"/>
                  <a:gd name="T27" fmla="*/ 0 h 97"/>
                  <a:gd name="T28" fmla="*/ 1 w 30"/>
                  <a:gd name="T29" fmla="*/ 0 h 97"/>
                  <a:gd name="T30" fmla="*/ 1 w 30"/>
                  <a:gd name="T31" fmla="*/ 0 h 97"/>
                  <a:gd name="T32" fmla="*/ 1 w 30"/>
                  <a:gd name="T33" fmla="*/ 0 h 97"/>
                  <a:gd name="T34" fmla="*/ 1 w 30"/>
                  <a:gd name="T35" fmla="*/ 0 h 97"/>
                  <a:gd name="T36" fmla="*/ 1 w 30"/>
                  <a:gd name="T37" fmla="*/ 0 h 97"/>
                  <a:gd name="T38" fmla="*/ 1 w 30"/>
                  <a:gd name="T39" fmla="*/ 0 h 97"/>
                  <a:gd name="T40" fmla="*/ 1 w 30"/>
                  <a:gd name="T41" fmla="*/ 0 h 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97"/>
                  <a:gd name="T65" fmla="*/ 30 w 30"/>
                  <a:gd name="T66" fmla="*/ 97 h 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97">
                    <a:moveTo>
                      <a:pt x="30" y="88"/>
                    </a:moveTo>
                    <a:lnTo>
                      <a:pt x="30" y="88"/>
                    </a:lnTo>
                    <a:lnTo>
                      <a:pt x="30" y="84"/>
                    </a:lnTo>
                    <a:lnTo>
                      <a:pt x="28" y="72"/>
                    </a:lnTo>
                    <a:lnTo>
                      <a:pt x="26" y="58"/>
                    </a:lnTo>
                    <a:lnTo>
                      <a:pt x="25" y="41"/>
                    </a:lnTo>
                    <a:lnTo>
                      <a:pt x="23" y="27"/>
                    </a:lnTo>
                    <a:lnTo>
                      <a:pt x="23" y="12"/>
                    </a:lnTo>
                    <a:lnTo>
                      <a:pt x="22" y="2"/>
                    </a:lnTo>
                    <a:lnTo>
                      <a:pt x="22" y="0"/>
                    </a:lnTo>
                    <a:lnTo>
                      <a:pt x="0" y="0"/>
                    </a:lnTo>
                    <a:lnTo>
                      <a:pt x="0" y="5"/>
                    </a:lnTo>
                    <a:lnTo>
                      <a:pt x="1" y="12"/>
                    </a:lnTo>
                    <a:lnTo>
                      <a:pt x="1" y="27"/>
                    </a:lnTo>
                    <a:lnTo>
                      <a:pt x="3" y="44"/>
                    </a:lnTo>
                    <a:lnTo>
                      <a:pt x="5" y="61"/>
                    </a:lnTo>
                    <a:lnTo>
                      <a:pt x="6" y="75"/>
                    </a:lnTo>
                    <a:lnTo>
                      <a:pt x="8" y="88"/>
                    </a:lnTo>
                    <a:lnTo>
                      <a:pt x="11" y="97"/>
                    </a:lnTo>
                    <a:lnTo>
                      <a:pt x="30" y="88"/>
                    </a:lnTo>
                    <a:close/>
                  </a:path>
                </a:pathLst>
              </a:custGeom>
              <a:solidFill>
                <a:srgbClr val="000000"/>
              </a:solidFill>
              <a:ln w="9525">
                <a:noFill/>
                <a:round/>
                <a:headEnd/>
                <a:tailEnd/>
              </a:ln>
            </p:spPr>
            <p:txBody>
              <a:bodyPr/>
              <a:lstStyle/>
              <a:p>
                <a:endParaRPr lang="en-US"/>
              </a:p>
            </p:txBody>
          </p:sp>
          <p:sp>
            <p:nvSpPr>
              <p:cNvPr id="26756" name="Freeform 93"/>
              <p:cNvSpPr>
                <a:spLocks/>
              </p:cNvSpPr>
              <p:nvPr/>
            </p:nvSpPr>
            <p:spPr bwMode="auto">
              <a:xfrm>
                <a:off x="2153" y="3489"/>
                <a:ext cx="16" cy="20"/>
              </a:xfrm>
              <a:custGeom>
                <a:avLst/>
                <a:gdLst>
                  <a:gd name="T0" fmla="*/ 1 w 31"/>
                  <a:gd name="T1" fmla="*/ 1 h 40"/>
                  <a:gd name="T2" fmla="*/ 1 w 31"/>
                  <a:gd name="T3" fmla="*/ 1 h 40"/>
                  <a:gd name="T4" fmla="*/ 1 w 31"/>
                  <a:gd name="T5" fmla="*/ 1 h 40"/>
                  <a:gd name="T6" fmla="*/ 1 w 31"/>
                  <a:gd name="T7" fmla="*/ 1 h 40"/>
                  <a:gd name="T8" fmla="*/ 1 w 31"/>
                  <a:gd name="T9" fmla="*/ 1 h 40"/>
                  <a:gd name="T10" fmla="*/ 1 w 31"/>
                  <a:gd name="T11" fmla="*/ 0 h 40"/>
                  <a:gd name="T12" fmla="*/ 0 w 31"/>
                  <a:gd name="T13" fmla="*/ 1 h 40"/>
                  <a:gd name="T14" fmla="*/ 1 w 31"/>
                  <a:gd name="T15" fmla="*/ 1 h 40"/>
                  <a:gd name="T16" fmla="*/ 1 w 31"/>
                  <a:gd name="T17" fmla="*/ 1 h 40"/>
                  <a:gd name="T18" fmla="*/ 1 w 31"/>
                  <a:gd name="T19" fmla="*/ 1 h 40"/>
                  <a:gd name="T20" fmla="*/ 1 w 31"/>
                  <a:gd name="T21" fmla="*/ 1 h 40"/>
                  <a:gd name="T22" fmla="*/ 1 w 31"/>
                  <a:gd name="T23" fmla="*/ 1 h 40"/>
                  <a:gd name="T24" fmla="*/ 1 w 31"/>
                  <a:gd name="T25" fmla="*/ 1 h 40"/>
                  <a:gd name="T26" fmla="*/ 1 w 31"/>
                  <a:gd name="T27" fmla="*/ 1 h 40"/>
                  <a:gd name="T28" fmla="*/ 1 w 31"/>
                  <a:gd name="T29" fmla="*/ 1 h 40"/>
                  <a:gd name="T30" fmla="*/ 1 w 31"/>
                  <a:gd name="T31" fmla="*/ 1 h 40"/>
                  <a:gd name="T32" fmla="*/ 1 w 31"/>
                  <a:gd name="T33" fmla="*/ 1 h 40"/>
                  <a:gd name="T34" fmla="*/ 1 w 31"/>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40"/>
                  <a:gd name="T56" fmla="*/ 31 w 31"/>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40">
                    <a:moveTo>
                      <a:pt x="30" y="23"/>
                    </a:moveTo>
                    <a:lnTo>
                      <a:pt x="30" y="25"/>
                    </a:lnTo>
                    <a:lnTo>
                      <a:pt x="30" y="23"/>
                    </a:lnTo>
                    <a:lnTo>
                      <a:pt x="26" y="15"/>
                    </a:lnTo>
                    <a:lnTo>
                      <a:pt x="22" y="7"/>
                    </a:lnTo>
                    <a:lnTo>
                      <a:pt x="19" y="0"/>
                    </a:lnTo>
                    <a:lnTo>
                      <a:pt x="0" y="9"/>
                    </a:lnTo>
                    <a:lnTo>
                      <a:pt x="3" y="17"/>
                    </a:lnTo>
                    <a:lnTo>
                      <a:pt x="8" y="25"/>
                    </a:lnTo>
                    <a:lnTo>
                      <a:pt x="8" y="29"/>
                    </a:lnTo>
                    <a:lnTo>
                      <a:pt x="11" y="34"/>
                    </a:lnTo>
                    <a:lnTo>
                      <a:pt x="11" y="36"/>
                    </a:lnTo>
                    <a:lnTo>
                      <a:pt x="9" y="34"/>
                    </a:lnTo>
                    <a:lnTo>
                      <a:pt x="15" y="40"/>
                    </a:lnTo>
                    <a:lnTo>
                      <a:pt x="25" y="40"/>
                    </a:lnTo>
                    <a:lnTo>
                      <a:pt x="31" y="34"/>
                    </a:lnTo>
                    <a:lnTo>
                      <a:pt x="31" y="25"/>
                    </a:lnTo>
                    <a:lnTo>
                      <a:pt x="30" y="23"/>
                    </a:lnTo>
                    <a:close/>
                  </a:path>
                </a:pathLst>
              </a:custGeom>
              <a:solidFill>
                <a:srgbClr val="000000"/>
              </a:solidFill>
              <a:ln w="9525">
                <a:noFill/>
                <a:round/>
                <a:headEnd/>
                <a:tailEnd/>
              </a:ln>
            </p:spPr>
            <p:txBody>
              <a:bodyPr/>
              <a:lstStyle/>
              <a:p>
                <a:endParaRPr lang="en-US"/>
              </a:p>
            </p:txBody>
          </p:sp>
          <p:sp>
            <p:nvSpPr>
              <p:cNvPr id="26757" name="Freeform 94"/>
              <p:cNvSpPr>
                <a:spLocks/>
              </p:cNvSpPr>
              <p:nvPr/>
            </p:nvSpPr>
            <p:spPr bwMode="auto">
              <a:xfrm>
                <a:off x="2158" y="3501"/>
                <a:ext cx="13" cy="11"/>
              </a:xfrm>
              <a:custGeom>
                <a:avLst/>
                <a:gdLst>
                  <a:gd name="T0" fmla="*/ 1 w 25"/>
                  <a:gd name="T1" fmla="*/ 0 h 24"/>
                  <a:gd name="T2" fmla="*/ 1 w 25"/>
                  <a:gd name="T3" fmla="*/ 0 h 24"/>
                  <a:gd name="T4" fmla="*/ 1 w 25"/>
                  <a:gd name="T5" fmla="*/ 0 h 24"/>
                  <a:gd name="T6" fmla="*/ 1 w 25"/>
                  <a:gd name="T7" fmla="*/ 0 h 24"/>
                  <a:gd name="T8" fmla="*/ 1 w 25"/>
                  <a:gd name="T9" fmla="*/ 0 h 24"/>
                  <a:gd name="T10" fmla="*/ 1 w 25"/>
                  <a:gd name="T11" fmla="*/ 0 h 24"/>
                  <a:gd name="T12" fmla="*/ 0 w 25"/>
                  <a:gd name="T13" fmla="*/ 0 h 24"/>
                  <a:gd name="T14" fmla="*/ 0 w 25"/>
                  <a:gd name="T15" fmla="*/ 0 h 24"/>
                  <a:gd name="T16" fmla="*/ 1 w 25"/>
                  <a:gd name="T17" fmla="*/ 0 h 24"/>
                  <a:gd name="T18" fmla="*/ 1 w 25"/>
                  <a:gd name="T19" fmla="*/ 0 h 24"/>
                  <a:gd name="T20" fmla="*/ 1 w 25"/>
                  <a:gd name="T21" fmla="*/ 0 h 24"/>
                  <a:gd name="T22" fmla="*/ 1 w 25"/>
                  <a:gd name="T23" fmla="*/ 0 h 24"/>
                  <a:gd name="T24" fmla="*/ 1 w 25"/>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4"/>
                  <a:gd name="T41" fmla="*/ 25 w 2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4">
                    <a:moveTo>
                      <a:pt x="25" y="14"/>
                    </a:moveTo>
                    <a:lnTo>
                      <a:pt x="25" y="14"/>
                    </a:lnTo>
                    <a:lnTo>
                      <a:pt x="23" y="9"/>
                    </a:lnTo>
                    <a:lnTo>
                      <a:pt x="20" y="3"/>
                    </a:lnTo>
                    <a:lnTo>
                      <a:pt x="19" y="3"/>
                    </a:lnTo>
                    <a:lnTo>
                      <a:pt x="19" y="0"/>
                    </a:lnTo>
                    <a:lnTo>
                      <a:pt x="0" y="13"/>
                    </a:lnTo>
                    <a:lnTo>
                      <a:pt x="1" y="16"/>
                    </a:lnTo>
                    <a:lnTo>
                      <a:pt x="4" y="19"/>
                    </a:lnTo>
                    <a:lnTo>
                      <a:pt x="6" y="24"/>
                    </a:lnTo>
                    <a:lnTo>
                      <a:pt x="25" y="14"/>
                    </a:lnTo>
                    <a:close/>
                  </a:path>
                </a:pathLst>
              </a:custGeom>
              <a:solidFill>
                <a:srgbClr val="000000"/>
              </a:solidFill>
              <a:ln w="9525">
                <a:noFill/>
                <a:round/>
                <a:headEnd/>
                <a:tailEnd/>
              </a:ln>
            </p:spPr>
            <p:txBody>
              <a:bodyPr/>
              <a:lstStyle/>
              <a:p>
                <a:endParaRPr lang="en-US"/>
              </a:p>
            </p:txBody>
          </p:sp>
          <p:sp>
            <p:nvSpPr>
              <p:cNvPr id="26758" name="Freeform 95"/>
              <p:cNvSpPr>
                <a:spLocks/>
              </p:cNvSpPr>
              <p:nvPr/>
            </p:nvSpPr>
            <p:spPr bwMode="auto">
              <a:xfrm>
                <a:off x="2162" y="3508"/>
                <a:ext cx="22" cy="18"/>
              </a:xfrm>
              <a:custGeom>
                <a:avLst/>
                <a:gdLst>
                  <a:gd name="T0" fmla="*/ 0 w 45"/>
                  <a:gd name="T1" fmla="*/ 1 h 36"/>
                  <a:gd name="T2" fmla="*/ 0 w 45"/>
                  <a:gd name="T3" fmla="*/ 1 h 36"/>
                  <a:gd name="T4" fmla="*/ 0 w 45"/>
                  <a:gd name="T5" fmla="*/ 1 h 36"/>
                  <a:gd name="T6" fmla="*/ 0 w 45"/>
                  <a:gd name="T7" fmla="*/ 1 h 36"/>
                  <a:gd name="T8" fmla="*/ 0 w 45"/>
                  <a:gd name="T9" fmla="*/ 1 h 36"/>
                  <a:gd name="T10" fmla="*/ 0 w 45"/>
                  <a:gd name="T11" fmla="*/ 0 h 36"/>
                  <a:gd name="T12" fmla="*/ 0 w 45"/>
                  <a:gd name="T13" fmla="*/ 1 h 36"/>
                  <a:gd name="T14" fmla="*/ 0 w 45"/>
                  <a:gd name="T15" fmla="*/ 1 h 36"/>
                  <a:gd name="T16" fmla="*/ 0 w 45"/>
                  <a:gd name="T17" fmla="*/ 1 h 36"/>
                  <a:gd name="T18" fmla="*/ 0 w 45"/>
                  <a:gd name="T19" fmla="*/ 1 h 36"/>
                  <a:gd name="T20" fmla="*/ 0 w 45"/>
                  <a:gd name="T21" fmla="*/ 1 h 36"/>
                  <a:gd name="T22" fmla="*/ 0 w 45"/>
                  <a:gd name="T23" fmla="*/ 1 h 36"/>
                  <a:gd name="T24" fmla="*/ 0 w 45"/>
                  <a:gd name="T25" fmla="*/ 1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36"/>
                  <a:gd name="T41" fmla="*/ 45 w 45"/>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36">
                    <a:moveTo>
                      <a:pt x="45" y="14"/>
                    </a:moveTo>
                    <a:lnTo>
                      <a:pt x="45" y="14"/>
                    </a:lnTo>
                    <a:lnTo>
                      <a:pt x="36" y="11"/>
                    </a:lnTo>
                    <a:lnTo>
                      <a:pt x="30" y="8"/>
                    </a:lnTo>
                    <a:lnTo>
                      <a:pt x="22" y="3"/>
                    </a:lnTo>
                    <a:lnTo>
                      <a:pt x="19" y="0"/>
                    </a:lnTo>
                    <a:lnTo>
                      <a:pt x="0" y="10"/>
                    </a:lnTo>
                    <a:lnTo>
                      <a:pt x="6" y="19"/>
                    </a:lnTo>
                    <a:lnTo>
                      <a:pt x="17" y="27"/>
                    </a:lnTo>
                    <a:lnTo>
                      <a:pt x="30" y="33"/>
                    </a:lnTo>
                    <a:lnTo>
                      <a:pt x="42" y="36"/>
                    </a:lnTo>
                    <a:lnTo>
                      <a:pt x="45" y="14"/>
                    </a:lnTo>
                    <a:close/>
                  </a:path>
                </a:pathLst>
              </a:custGeom>
              <a:solidFill>
                <a:srgbClr val="000000"/>
              </a:solidFill>
              <a:ln w="9525">
                <a:noFill/>
                <a:round/>
                <a:headEnd/>
                <a:tailEnd/>
              </a:ln>
            </p:spPr>
            <p:txBody>
              <a:bodyPr/>
              <a:lstStyle/>
              <a:p>
                <a:endParaRPr lang="en-US"/>
              </a:p>
            </p:txBody>
          </p:sp>
          <p:sp>
            <p:nvSpPr>
              <p:cNvPr id="26759" name="Freeform 96"/>
              <p:cNvSpPr>
                <a:spLocks/>
              </p:cNvSpPr>
              <p:nvPr/>
            </p:nvSpPr>
            <p:spPr bwMode="auto">
              <a:xfrm>
                <a:off x="2183" y="3508"/>
                <a:ext cx="36" cy="18"/>
              </a:xfrm>
              <a:custGeom>
                <a:avLst/>
                <a:gdLst>
                  <a:gd name="T0" fmla="*/ 1 w 72"/>
                  <a:gd name="T1" fmla="*/ 0 h 34"/>
                  <a:gd name="T2" fmla="*/ 1 w 72"/>
                  <a:gd name="T3" fmla="*/ 0 h 34"/>
                  <a:gd name="T4" fmla="*/ 1 w 72"/>
                  <a:gd name="T5" fmla="*/ 1 h 34"/>
                  <a:gd name="T6" fmla="*/ 1 w 72"/>
                  <a:gd name="T7" fmla="*/ 1 h 34"/>
                  <a:gd name="T8" fmla="*/ 1 w 72"/>
                  <a:gd name="T9" fmla="*/ 1 h 34"/>
                  <a:gd name="T10" fmla="*/ 1 w 72"/>
                  <a:gd name="T11" fmla="*/ 1 h 34"/>
                  <a:gd name="T12" fmla="*/ 1 w 72"/>
                  <a:gd name="T13" fmla="*/ 1 h 34"/>
                  <a:gd name="T14" fmla="*/ 1 w 72"/>
                  <a:gd name="T15" fmla="*/ 1 h 34"/>
                  <a:gd name="T16" fmla="*/ 1 w 72"/>
                  <a:gd name="T17" fmla="*/ 1 h 34"/>
                  <a:gd name="T18" fmla="*/ 1 w 72"/>
                  <a:gd name="T19" fmla="*/ 1 h 34"/>
                  <a:gd name="T20" fmla="*/ 0 w 72"/>
                  <a:gd name="T21" fmla="*/ 1 h 34"/>
                  <a:gd name="T22" fmla="*/ 1 w 72"/>
                  <a:gd name="T23" fmla="*/ 1 h 34"/>
                  <a:gd name="T24" fmla="*/ 1 w 72"/>
                  <a:gd name="T25" fmla="*/ 1 h 34"/>
                  <a:gd name="T26" fmla="*/ 1 w 72"/>
                  <a:gd name="T27" fmla="*/ 1 h 34"/>
                  <a:gd name="T28" fmla="*/ 1 w 72"/>
                  <a:gd name="T29" fmla="*/ 1 h 34"/>
                  <a:gd name="T30" fmla="*/ 1 w 72"/>
                  <a:gd name="T31" fmla="*/ 1 h 34"/>
                  <a:gd name="T32" fmla="*/ 1 w 72"/>
                  <a:gd name="T33" fmla="*/ 1 h 34"/>
                  <a:gd name="T34" fmla="*/ 1 w 72"/>
                  <a:gd name="T35" fmla="*/ 1 h 34"/>
                  <a:gd name="T36" fmla="*/ 1 w 72"/>
                  <a:gd name="T37" fmla="*/ 1 h 34"/>
                  <a:gd name="T38" fmla="*/ 1 w 72"/>
                  <a:gd name="T39" fmla="*/ 1 h 34"/>
                  <a:gd name="T40" fmla="*/ 1 w 72"/>
                  <a:gd name="T41" fmla="*/ 0 h 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4"/>
                  <a:gd name="T65" fmla="*/ 72 w 72"/>
                  <a:gd name="T66" fmla="*/ 34 h 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4">
                    <a:moveTo>
                      <a:pt x="63" y="0"/>
                    </a:moveTo>
                    <a:lnTo>
                      <a:pt x="63" y="0"/>
                    </a:lnTo>
                    <a:lnTo>
                      <a:pt x="55" y="1"/>
                    </a:lnTo>
                    <a:lnTo>
                      <a:pt x="46" y="4"/>
                    </a:lnTo>
                    <a:lnTo>
                      <a:pt x="36" y="8"/>
                    </a:lnTo>
                    <a:lnTo>
                      <a:pt x="28" y="9"/>
                    </a:lnTo>
                    <a:lnTo>
                      <a:pt x="19" y="11"/>
                    </a:lnTo>
                    <a:lnTo>
                      <a:pt x="11" y="12"/>
                    </a:lnTo>
                    <a:lnTo>
                      <a:pt x="7" y="12"/>
                    </a:lnTo>
                    <a:lnTo>
                      <a:pt x="3" y="12"/>
                    </a:lnTo>
                    <a:lnTo>
                      <a:pt x="0" y="34"/>
                    </a:lnTo>
                    <a:lnTo>
                      <a:pt x="7" y="34"/>
                    </a:lnTo>
                    <a:lnTo>
                      <a:pt x="14" y="34"/>
                    </a:lnTo>
                    <a:lnTo>
                      <a:pt x="22" y="33"/>
                    </a:lnTo>
                    <a:lnTo>
                      <a:pt x="32" y="31"/>
                    </a:lnTo>
                    <a:lnTo>
                      <a:pt x="43" y="29"/>
                    </a:lnTo>
                    <a:lnTo>
                      <a:pt x="52" y="26"/>
                    </a:lnTo>
                    <a:lnTo>
                      <a:pt x="61" y="23"/>
                    </a:lnTo>
                    <a:lnTo>
                      <a:pt x="72" y="18"/>
                    </a:lnTo>
                    <a:lnTo>
                      <a:pt x="63" y="0"/>
                    </a:lnTo>
                    <a:close/>
                  </a:path>
                </a:pathLst>
              </a:custGeom>
              <a:solidFill>
                <a:srgbClr val="000000"/>
              </a:solidFill>
              <a:ln w="9525">
                <a:noFill/>
                <a:round/>
                <a:headEnd/>
                <a:tailEnd/>
              </a:ln>
            </p:spPr>
            <p:txBody>
              <a:bodyPr/>
              <a:lstStyle/>
              <a:p>
                <a:endParaRPr lang="en-US"/>
              </a:p>
            </p:txBody>
          </p:sp>
          <p:sp>
            <p:nvSpPr>
              <p:cNvPr id="26760" name="Freeform 97"/>
              <p:cNvSpPr>
                <a:spLocks/>
              </p:cNvSpPr>
              <p:nvPr/>
            </p:nvSpPr>
            <p:spPr bwMode="auto">
              <a:xfrm>
                <a:off x="2214" y="3499"/>
                <a:ext cx="20" cy="19"/>
              </a:xfrm>
              <a:custGeom>
                <a:avLst/>
                <a:gdLst>
                  <a:gd name="T0" fmla="*/ 0 w 41"/>
                  <a:gd name="T1" fmla="*/ 1 h 37"/>
                  <a:gd name="T2" fmla="*/ 0 w 41"/>
                  <a:gd name="T3" fmla="*/ 1 h 37"/>
                  <a:gd name="T4" fmla="*/ 0 w 41"/>
                  <a:gd name="T5" fmla="*/ 1 h 37"/>
                  <a:gd name="T6" fmla="*/ 0 w 41"/>
                  <a:gd name="T7" fmla="*/ 1 h 37"/>
                  <a:gd name="T8" fmla="*/ 0 w 41"/>
                  <a:gd name="T9" fmla="*/ 1 h 37"/>
                  <a:gd name="T10" fmla="*/ 0 w 41"/>
                  <a:gd name="T11" fmla="*/ 1 h 37"/>
                  <a:gd name="T12" fmla="*/ 0 w 41"/>
                  <a:gd name="T13" fmla="*/ 1 h 37"/>
                  <a:gd name="T14" fmla="*/ 0 w 41"/>
                  <a:gd name="T15" fmla="*/ 1 h 37"/>
                  <a:gd name="T16" fmla="*/ 0 w 41"/>
                  <a:gd name="T17" fmla="*/ 1 h 37"/>
                  <a:gd name="T18" fmla="*/ 0 w 41"/>
                  <a:gd name="T19" fmla="*/ 1 h 37"/>
                  <a:gd name="T20" fmla="*/ 0 w 41"/>
                  <a:gd name="T21" fmla="*/ 1 h 37"/>
                  <a:gd name="T22" fmla="*/ 0 w 41"/>
                  <a:gd name="T23" fmla="*/ 1 h 37"/>
                  <a:gd name="T24" fmla="*/ 0 w 41"/>
                  <a:gd name="T25" fmla="*/ 1 h 37"/>
                  <a:gd name="T26" fmla="*/ 0 w 41"/>
                  <a:gd name="T27" fmla="*/ 1 h 37"/>
                  <a:gd name="T28" fmla="*/ 0 w 41"/>
                  <a:gd name="T29" fmla="*/ 0 h 37"/>
                  <a:gd name="T30" fmla="*/ 0 w 41"/>
                  <a:gd name="T31" fmla="*/ 1 h 37"/>
                  <a:gd name="T32" fmla="*/ 0 w 41"/>
                  <a:gd name="T33" fmla="*/ 1 h 37"/>
                  <a:gd name="T34" fmla="*/ 0 w 41"/>
                  <a:gd name="T35" fmla="*/ 1 h 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37"/>
                  <a:gd name="T56" fmla="*/ 41 w 41"/>
                  <a:gd name="T57" fmla="*/ 37 h 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37">
                    <a:moveTo>
                      <a:pt x="20" y="16"/>
                    </a:moveTo>
                    <a:lnTo>
                      <a:pt x="19" y="8"/>
                    </a:lnTo>
                    <a:lnTo>
                      <a:pt x="22" y="5"/>
                    </a:lnTo>
                    <a:lnTo>
                      <a:pt x="20" y="5"/>
                    </a:lnTo>
                    <a:lnTo>
                      <a:pt x="12" y="11"/>
                    </a:lnTo>
                    <a:lnTo>
                      <a:pt x="0" y="19"/>
                    </a:lnTo>
                    <a:lnTo>
                      <a:pt x="9" y="37"/>
                    </a:lnTo>
                    <a:lnTo>
                      <a:pt x="25" y="30"/>
                    </a:lnTo>
                    <a:lnTo>
                      <a:pt x="33" y="23"/>
                    </a:lnTo>
                    <a:lnTo>
                      <a:pt x="38" y="20"/>
                    </a:lnTo>
                    <a:lnTo>
                      <a:pt x="41" y="14"/>
                    </a:lnTo>
                    <a:lnTo>
                      <a:pt x="39" y="6"/>
                    </a:lnTo>
                    <a:lnTo>
                      <a:pt x="41" y="14"/>
                    </a:lnTo>
                    <a:lnTo>
                      <a:pt x="39" y="5"/>
                    </a:lnTo>
                    <a:lnTo>
                      <a:pt x="33" y="0"/>
                    </a:lnTo>
                    <a:lnTo>
                      <a:pt x="23" y="1"/>
                    </a:lnTo>
                    <a:lnTo>
                      <a:pt x="19" y="8"/>
                    </a:lnTo>
                    <a:lnTo>
                      <a:pt x="20" y="16"/>
                    </a:lnTo>
                    <a:close/>
                  </a:path>
                </a:pathLst>
              </a:custGeom>
              <a:solidFill>
                <a:srgbClr val="000000"/>
              </a:solidFill>
              <a:ln w="9525">
                <a:noFill/>
                <a:round/>
                <a:headEnd/>
                <a:tailEnd/>
              </a:ln>
            </p:spPr>
            <p:txBody>
              <a:bodyPr/>
              <a:lstStyle/>
              <a:p>
                <a:endParaRPr lang="en-US"/>
              </a:p>
            </p:txBody>
          </p:sp>
          <p:sp>
            <p:nvSpPr>
              <p:cNvPr id="26761" name="Freeform 98"/>
              <p:cNvSpPr>
                <a:spLocks/>
              </p:cNvSpPr>
              <p:nvPr/>
            </p:nvSpPr>
            <p:spPr bwMode="auto">
              <a:xfrm>
                <a:off x="2219" y="3486"/>
                <a:ext cx="15" cy="21"/>
              </a:xfrm>
              <a:custGeom>
                <a:avLst/>
                <a:gdLst>
                  <a:gd name="T0" fmla="*/ 1 w 30"/>
                  <a:gd name="T1" fmla="*/ 0 h 43"/>
                  <a:gd name="T2" fmla="*/ 0 w 30"/>
                  <a:gd name="T3" fmla="*/ 0 h 43"/>
                  <a:gd name="T4" fmla="*/ 1 w 30"/>
                  <a:gd name="T5" fmla="*/ 0 h 43"/>
                  <a:gd name="T6" fmla="*/ 1 w 30"/>
                  <a:gd name="T7" fmla="*/ 0 h 43"/>
                  <a:gd name="T8" fmla="*/ 1 w 30"/>
                  <a:gd name="T9" fmla="*/ 0 h 43"/>
                  <a:gd name="T10" fmla="*/ 1 w 30"/>
                  <a:gd name="T11" fmla="*/ 0 h 43"/>
                  <a:gd name="T12" fmla="*/ 1 w 30"/>
                  <a:gd name="T13" fmla="*/ 0 h 43"/>
                  <a:gd name="T14" fmla="*/ 1 w 30"/>
                  <a:gd name="T15" fmla="*/ 0 h 43"/>
                  <a:gd name="T16" fmla="*/ 1 w 30"/>
                  <a:gd name="T17" fmla="*/ 0 h 43"/>
                  <a:gd name="T18" fmla="*/ 0 w 30"/>
                  <a:gd name="T19" fmla="*/ 0 h 43"/>
                  <a:gd name="T20" fmla="*/ 0 w 30"/>
                  <a:gd name="T21" fmla="*/ 0 h 43"/>
                  <a:gd name="T22" fmla="*/ 1 w 30"/>
                  <a:gd name="T23" fmla="*/ 0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43"/>
                  <a:gd name="T38" fmla="*/ 30 w 30"/>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43">
                    <a:moveTo>
                      <a:pt x="3" y="21"/>
                    </a:moveTo>
                    <a:lnTo>
                      <a:pt x="0" y="16"/>
                    </a:lnTo>
                    <a:lnTo>
                      <a:pt x="11" y="43"/>
                    </a:lnTo>
                    <a:lnTo>
                      <a:pt x="30" y="33"/>
                    </a:lnTo>
                    <a:lnTo>
                      <a:pt x="19" y="7"/>
                    </a:lnTo>
                    <a:lnTo>
                      <a:pt x="16" y="2"/>
                    </a:lnTo>
                    <a:lnTo>
                      <a:pt x="19" y="7"/>
                    </a:lnTo>
                    <a:lnTo>
                      <a:pt x="13" y="0"/>
                    </a:lnTo>
                    <a:lnTo>
                      <a:pt x="5" y="2"/>
                    </a:lnTo>
                    <a:lnTo>
                      <a:pt x="0" y="8"/>
                    </a:lnTo>
                    <a:lnTo>
                      <a:pt x="0" y="16"/>
                    </a:lnTo>
                    <a:lnTo>
                      <a:pt x="3" y="21"/>
                    </a:lnTo>
                    <a:close/>
                  </a:path>
                </a:pathLst>
              </a:custGeom>
              <a:solidFill>
                <a:srgbClr val="000000"/>
              </a:solidFill>
              <a:ln w="9525">
                <a:noFill/>
                <a:round/>
                <a:headEnd/>
                <a:tailEnd/>
              </a:ln>
            </p:spPr>
            <p:txBody>
              <a:bodyPr/>
              <a:lstStyle/>
              <a:p>
                <a:endParaRPr lang="en-US"/>
              </a:p>
            </p:txBody>
          </p:sp>
          <p:sp>
            <p:nvSpPr>
              <p:cNvPr id="26762" name="Freeform 99"/>
              <p:cNvSpPr>
                <a:spLocks/>
              </p:cNvSpPr>
              <p:nvPr/>
            </p:nvSpPr>
            <p:spPr bwMode="auto">
              <a:xfrm>
                <a:off x="2147" y="3440"/>
                <a:ext cx="79" cy="56"/>
              </a:xfrm>
              <a:custGeom>
                <a:avLst/>
                <a:gdLst>
                  <a:gd name="T0" fmla="*/ 1 w 158"/>
                  <a:gd name="T1" fmla="*/ 0 h 113"/>
                  <a:gd name="T2" fmla="*/ 1 w 158"/>
                  <a:gd name="T3" fmla="*/ 0 h 113"/>
                  <a:gd name="T4" fmla="*/ 1 w 158"/>
                  <a:gd name="T5" fmla="*/ 0 h 113"/>
                  <a:gd name="T6" fmla="*/ 1 w 158"/>
                  <a:gd name="T7" fmla="*/ 0 h 113"/>
                  <a:gd name="T8" fmla="*/ 1 w 158"/>
                  <a:gd name="T9" fmla="*/ 0 h 113"/>
                  <a:gd name="T10" fmla="*/ 0 w 158"/>
                  <a:gd name="T11" fmla="*/ 0 h 113"/>
                  <a:gd name="T12" fmla="*/ 1 w 158"/>
                  <a:gd name="T13" fmla="*/ 0 h 113"/>
                  <a:gd name="T14" fmla="*/ 1 w 158"/>
                  <a:gd name="T15" fmla="*/ 0 h 113"/>
                  <a:gd name="T16" fmla="*/ 1 w 158"/>
                  <a:gd name="T17" fmla="*/ 0 h 113"/>
                  <a:gd name="T18" fmla="*/ 0 w 158"/>
                  <a:gd name="T19" fmla="*/ 0 h 113"/>
                  <a:gd name="T20" fmla="*/ 1 w 158"/>
                  <a:gd name="T21" fmla="*/ 0 h 113"/>
                  <a:gd name="T22" fmla="*/ 1 w 158"/>
                  <a:gd name="T23" fmla="*/ 0 h 11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113"/>
                  <a:gd name="T38" fmla="*/ 158 w 158"/>
                  <a:gd name="T39" fmla="*/ 113 h 11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113">
                    <a:moveTo>
                      <a:pt x="22" y="11"/>
                    </a:moveTo>
                    <a:lnTo>
                      <a:pt x="5" y="20"/>
                    </a:lnTo>
                    <a:lnTo>
                      <a:pt x="145" y="113"/>
                    </a:lnTo>
                    <a:lnTo>
                      <a:pt x="158" y="94"/>
                    </a:lnTo>
                    <a:lnTo>
                      <a:pt x="17" y="2"/>
                    </a:lnTo>
                    <a:lnTo>
                      <a:pt x="0" y="11"/>
                    </a:lnTo>
                    <a:lnTo>
                      <a:pt x="17" y="2"/>
                    </a:lnTo>
                    <a:lnTo>
                      <a:pt x="8" y="0"/>
                    </a:lnTo>
                    <a:lnTo>
                      <a:pt x="1" y="5"/>
                    </a:lnTo>
                    <a:lnTo>
                      <a:pt x="0" y="13"/>
                    </a:lnTo>
                    <a:lnTo>
                      <a:pt x="5" y="20"/>
                    </a:lnTo>
                    <a:lnTo>
                      <a:pt x="22" y="11"/>
                    </a:lnTo>
                    <a:close/>
                  </a:path>
                </a:pathLst>
              </a:custGeom>
              <a:solidFill>
                <a:srgbClr val="000000"/>
              </a:solidFill>
              <a:ln w="9525">
                <a:noFill/>
                <a:round/>
                <a:headEnd/>
                <a:tailEnd/>
              </a:ln>
            </p:spPr>
            <p:txBody>
              <a:bodyPr/>
              <a:lstStyle/>
              <a:p>
                <a:endParaRPr lang="en-US"/>
              </a:p>
            </p:txBody>
          </p:sp>
          <p:sp>
            <p:nvSpPr>
              <p:cNvPr id="26763" name="Freeform 100"/>
              <p:cNvSpPr>
                <a:spLocks/>
              </p:cNvSpPr>
              <p:nvPr/>
            </p:nvSpPr>
            <p:spPr bwMode="auto">
              <a:xfrm>
                <a:off x="2172" y="3506"/>
                <a:ext cx="65" cy="26"/>
              </a:xfrm>
              <a:custGeom>
                <a:avLst/>
                <a:gdLst>
                  <a:gd name="T0" fmla="*/ 1 w 128"/>
                  <a:gd name="T1" fmla="*/ 1 h 52"/>
                  <a:gd name="T2" fmla="*/ 0 w 128"/>
                  <a:gd name="T3" fmla="*/ 1 h 52"/>
                  <a:gd name="T4" fmla="*/ 1 w 128"/>
                  <a:gd name="T5" fmla="*/ 1 h 52"/>
                  <a:gd name="T6" fmla="*/ 1 w 128"/>
                  <a:gd name="T7" fmla="*/ 1 h 52"/>
                  <a:gd name="T8" fmla="*/ 1 w 128"/>
                  <a:gd name="T9" fmla="*/ 1 h 52"/>
                  <a:gd name="T10" fmla="*/ 1 w 128"/>
                  <a:gd name="T11" fmla="*/ 1 h 52"/>
                  <a:gd name="T12" fmla="*/ 1 w 128"/>
                  <a:gd name="T13" fmla="*/ 1 h 52"/>
                  <a:gd name="T14" fmla="*/ 1 w 128"/>
                  <a:gd name="T15" fmla="*/ 1 h 52"/>
                  <a:gd name="T16" fmla="*/ 1 w 128"/>
                  <a:gd name="T17" fmla="*/ 1 h 52"/>
                  <a:gd name="T18" fmla="*/ 1 w 128"/>
                  <a:gd name="T19" fmla="*/ 1 h 52"/>
                  <a:gd name="T20" fmla="*/ 1 w 128"/>
                  <a:gd name="T21" fmla="*/ 1 h 52"/>
                  <a:gd name="T22" fmla="*/ 1 w 128"/>
                  <a:gd name="T23" fmla="*/ 1 h 52"/>
                  <a:gd name="T24" fmla="*/ 1 w 128"/>
                  <a:gd name="T25" fmla="*/ 1 h 52"/>
                  <a:gd name="T26" fmla="*/ 1 w 128"/>
                  <a:gd name="T27" fmla="*/ 1 h 52"/>
                  <a:gd name="T28" fmla="*/ 1 w 128"/>
                  <a:gd name="T29" fmla="*/ 1 h 52"/>
                  <a:gd name="T30" fmla="*/ 1 w 128"/>
                  <a:gd name="T31" fmla="*/ 1 h 52"/>
                  <a:gd name="T32" fmla="*/ 1 w 128"/>
                  <a:gd name="T33" fmla="*/ 1 h 52"/>
                  <a:gd name="T34" fmla="*/ 1 w 128"/>
                  <a:gd name="T35" fmla="*/ 1 h 52"/>
                  <a:gd name="T36" fmla="*/ 1 w 128"/>
                  <a:gd name="T37" fmla="*/ 1 h 52"/>
                  <a:gd name="T38" fmla="*/ 1 w 128"/>
                  <a:gd name="T39" fmla="*/ 1 h 52"/>
                  <a:gd name="T40" fmla="*/ 1 w 128"/>
                  <a:gd name="T41" fmla="*/ 1 h 52"/>
                  <a:gd name="T42" fmla="*/ 1 w 128"/>
                  <a:gd name="T43" fmla="*/ 0 h 52"/>
                  <a:gd name="T44" fmla="*/ 1 w 128"/>
                  <a:gd name="T45" fmla="*/ 1 h 52"/>
                  <a:gd name="T46" fmla="*/ 1 w 128"/>
                  <a:gd name="T47" fmla="*/ 1 h 52"/>
                  <a:gd name="T48" fmla="*/ 1 w 128"/>
                  <a:gd name="T49" fmla="*/ 1 h 52"/>
                  <a:gd name="T50" fmla="*/ 1 w 128"/>
                  <a:gd name="T51" fmla="*/ 1 h 52"/>
                  <a:gd name="T52" fmla="*/ 1 w 128"/>
                  <a:gd name="T53" fmla="*/ 1 h 52"/>
                  <a:gd name="T54" fmla="*/ 1 w 128"/>
                  <a:gd name="T55" fmla="*/ 1 h 52"/>
                  <a:gd name="T56" fmla="*/ 1 w 128"/>
                  <a:gd name="T57" fmla="*/ 1 h 52"/>
                  <a:gd name="T58" fmla="*/ 1 w 128"/>
                  <a:gd name="T59" fmla="*/ 1 h 52"/>
                  <a:gd name="T60" fmla="*/ 1 w 128"/>
                  <a:gd name="T61" fmla="*/ 1 h 52"/>
                  <a:gd name="T62" fmla="*/ 1 w 128"/>
                  <a:gd name="T63" fmla="*/ 1 h 52"/>
                  <a:gd name="T64" fmla="*/ 1 w 128"/>
                  <a:gd name="T65" fmla="*/ 1 h 52"/>
                  <a:gd name="T66" fmla="*/ 1 w 128"/>
                  <a:gd name="T67" fmla="*/ 1 h 5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8"/>
                  <a:gd name="T103" fmla="*/ 0 h 52"/>
                  <a:gd name="T104" fmla="*/ 128 w 128"/>
                  <a:gd name="T105" fmla="*/ 52 h 5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8" h="52">
                    <a:moveTo>
                      <a:pt x="9" y="25"/>
                    </a:moveTo>
                    <a:lnTo>
                      <a:pt x="0" y="44"/>
                    </a:lnTo>
                    <a:lnTo>
                      <a:pt x="2" y="44"/>
                    </a:lnTo>
                    <a:lnTo>
                      <a:pt x="5" y="45"/>
                    </a:lnTo>
                    <a:lnTo>
                      <a:pt x="12" y="47"/>
                    </a:lnTo>
                    <a:lnTo>
                      <a:pt x="20" y="50"/>
                    </a:lnTo>
                    <a:lnTo>
                      <a:pt x="31" y="50"/>
                    </a:lnTo>
                    <a:lnTo>
                      <a:pt x="44" y="52"/>
                    </a:lnTo>
                    <a:lnTo>
                      <a:pt x="59" y="50"/>
                    </a:lnTo>
                    <a:lnTo>
                      <a:pt x="75" y="47"/>
                    </a:lnTo>
                    <a:lnTo>
                      <a:pt x="89" y="44"/>
                    </a:lnTo>
                    <a:lnTo>
                      <a:pt x="102" y="41"/>
                    </a:lnTo>
                    <a:lnTo>
                      <a:pt x="110" y="38"/>
                    </a:lnTo>
                    <a:lnTo>
                      <a:pt x="116" y="34"/>
                    </a:lnTo>
                    <a:lnTo>
                      <a:pt x="121" y="33"/>
                    </a:lnTo>
                    <a:lnTo>
                      <a:pt x="124" y="30"/>
                    </a:lnTo>
                    <a:lnTo>
                      <a:pt x="127" y="27"/>
                    </a:lnTo>
                    <a:lnTo>
                      <a:pt x="128" y="23"/>
                    </a:lnTo>
                    <a:lnTo>
                      <a:pt x="128" y="17"/>
                    </a:lnTo>
                    <a:lnTo>
                      <a:pt x="125" y="9"/>
                    </a:lnTo>
                    <a:lnTo>
                      <a:pt x="121" y="3"/>
                    </a:lnTo>
                    <a:lnTo>
                      <a:pt x="114" y="0"/>
                    </a:lnTo>
                    <a:lnTo>
                      <a:pt x="108" y="3"/>
                    </a:lnTo>
                    <a:lnTo>
                      <a:pt x="99" y="8"/>
                    </a:lnTo>
                    <a:lnTo>
                      <a:pt x="88" y="16"/>
                    </a:lnTo>
                    <a:lnTo>
                      <a:pt x="74" y="20"/>
                    </a:lnTo>
                    <a:lnTo>
                      <a:pt x="64" y="22"/>
                    </a:lnTo>
                    <a:lnTo>
                      <a:pt x="55" y="23"/>
                    </a:lnTo>
                    <a:lnTo>
                      <a:pt x="44" y="25"/>
                    </a:lnTo>
                    <a:lnTo>
                      <a:pt x="33" y="25"/>
                    </a:lnTo>
                    <a:lnTo>
                      <a:pt x="23" y="25"/>
                    </a:lnTo>
                    <a:lnTo>
                      <a:pt x="16" y="25"/>
                    </a:lnTo>
                    <a:lnTo>
                      <a:pt x="11" y="25"/>
                    </a:lnTo>
                    <a:lnTo>
                      <a:pt x="9" y="25"/>
                    </a:lnTo>
                    <a:close/>
                  </a:path>
                </a:pathLst>
              </a:custGeom>
              <a:solidFill>
                <a:srgbClr val="FF7226"/>
              </a:solidFill>
              <a:ln w="9525">
                <a:noFill/>
                <a:round/>
                <a:headEnd/>
                <a:tailEnd/>
              </a:ln>
            </p:spPr>
            <p:txBody>
              <a:bodyPr/>
              <a:lstStyle/>
              <a:p>
                <a:endParaRPr lang="en-US"/>
              </a:p>
            </p:txBody>
          </p:sp>
          <p:sp>
            <p:nvSpPr>
              <p:cNvPr id="26764" name="Freeform 101"/>
              <p:cNvSpPr>
                <a:spLocks/>
              </p:cNvSpPr>
              <p:nvPr/>
            </p:nvSpPr>
            <p:spPr bwMode="auto">
              <a:xfrm>
                <a:off x="2168" y="3516"/>
                <a:ext cx="14" cy="17"/>
              </a:xfrm>
              <a:custGeom>
                <a:avLst/>
                <a:gdLst>
                  <a:gd name="T0" fmla="*/ 1 w 28"/>
                  <a:gd name="T1" fmla="*/ 0 h 35"/>
                  <a:gd name="T2" fmla="*/ 1 w 28"/>
                  <a:gd name="T3" fmla="*/ 0 h 35"/>
                  <a:gd name="T4" fmla="*/ 1 w 28"/>
                  <a:gd name="T5" fmla="*/ 0 h 35"/>
                  <a:gd name="T6" fmla="*/ 1 w 28"/>
                  <a:gd name="T7" fmla="*/ 0 h 35"/>
                  <a:gd name="T8" fmla="*/ 0 w 28"/>
                  <a:gd name="T9" fmla="*/ 0 h 35"/>
                  <a:gd name="T10" fmla="*/ 1 w 28"/>
                  <a:gd name="T11" fmla="*/ 0 h 35"/>
                  <a:gd name="T12" fmla="*/ 0 w 28"/>
                  <a:gd name="T13" fmla="*/ 0 h 35"/>
                  <a:gd name="T14" fmla="*/ 0 w 28"/>
                  <a:gd name="T15" fmla="*/ 0 h 35"/>
                  <a:gd name="T16" fmla="*/ 1 w 28"/>
                  <a:gd name="T17" fmla="*/ 0 h 35"/>
                  <a:gd name="T18" fmla="*/ 1 w 28"/>
                  <a:gd name="T19" fmla="*/ 0 h 35"/>
                  <a:gd name="T20" fmla="*/ 1 w 28"/>
                  <a:gd name="T21" fmla="*/ 0 h 35"/>
                  <a:gd name="T22" fmla="*/ 1 w 28"/>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
                  <a:gd name="T37" fmla="*/ 0 h 35"/>
                  <a:gd name="T38" fmla="*/ 28 w 28"/>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 h="35">
                    <a:moveTo>
                      <a:pt x="14" y="14"/>
                    </a:moveTo>
                    <a:lnTo>
                      <a:pt x="18" y="29"/>
                    </a:lnTo>
                    <a:lnTo>
                      <a:pt x="28" y="10"/>
                    </a:lnTo>
                    <a:lnTo>
                      <a:pt x="9" y="0"/>
                    </a:lnTo>
                    <a:lnTo>
                      <a:pt x="0" y="19"/>
                    </a:lnTo>
                    <a:lnTo>
                      <a:pt x="4" y="33"/>
                    </a:lnTo>
                    <a:lnTo>
                      <a:pt x="0" y="19"/>
                    </a:lnTo>
                    <a:lnTo>
                      <a:pt x="0" y="27"/>
                    </a:lnTo>
                    <a:lnTo>
                      <a:pt x="4" y="33"/>
                    </a:lnTo>
                    <a:lnTo>
                      <a:pt x="12" y="35"/>
                    </a:lnTo>
                    <a:lnTo>
                      <a:pt x="18" y="29"/>
                    </a:lnTo>
                    <a:lnTo>
                      <a:pt x="14" y="14"/>
                    </a:lnTo>
                    <a:close/>
                  </a:path>
                </a:pathLst>
              </a:custGeom>
              <a:solidFill>
                <a:srgbClr val="000000"/>
              </a:solidFill>
              <a:ln w="9525">
                <a:noFill/>
                <a:round/>
                <a:headEnd/>
                <a:tailEnd/>
              </a:ln>
            </p:spPr>
            <p:txBody>
              <a:bodyPr/>
              <a:lstStyle/>
              <a:p>
                <a:endParaRPr lang="en-US"/>
              </a:p>
            </p:txBody>
          </p:sp>
          <p:sp>
            <p:nvSpPr>
              <p:cNvPr id="26765" name="Freeform 102"/>
              <p:cNvSpPr>
                <a:spLocks/>
              </p:cNvSpPr>
              <p:nvPr/>
            </p:nvSpPr>
            <p:spPr bwMode="auto">
              <a:xfrm>
                <a:off x="2170" y="3522"/>
                <a:ext cx="42" cy="15"/>
              </a:xfrm>
              <a:custGeom>
                <a:avLst/>
                <a:gdLst>
                  <a:gd name="T0" fmla="*/ 1 w 83"/>
                  <a:gd name="T1" fmla="*/ 1 h 30"/>
                  <a:gd name="T2" fmla="*/ 1 w 83"/>
                  <a:gd name="T3" fmla="*/ 1 h 30"/>
                  <a:gd name="T4" fmla="*/ 1 w 83"/>
                  <a:gd name="T5" fmla="*/ 1 h 30"/>
                  <a:gd name="T6" fmla="*/ 1 w 83"/>
                  <a:gd name="T7" fmla="*/ 1 h 30"/>
                  <a:gd name="T8" fmla="*/ 1 w 83"/>
                  <a:gd name="T9" fmla="*/ 1 h 30"/>
                  <a:gd name="T10" fmla="*/ 1 w 83"/>
                  <a:gd name="T11" fmla="*/ 1 h 30"/>
                  <a:gd name="T12" fmla="*/ 1 w 83"/>
                  <a:gd name="T13" fmla="*/ 1 h 30"/>
                  <a:gd name="T14" fmla="*/ 1 w 83"/>
                  <a:gd name="T15" fmla="*/ 1 h 30"/>
                  <a:gd name="T16" fmla="*/ 1 w 83"/>
                  <a:gd name="T17" fmla="*/ 0 h 30"/>
                  <a:gd name="T18" fmla="*/ 1 w 83"/>
                  <a:gd name="T19" fmla="*/ 1 h 30"/>
                  <a:gd name="T20" fmla="*/ 0 w 83"/>
                  <a:gd name="T21" fmla="*/ 1 h 30"/>
                  <a:gd name="T22" fmla="*/ 1 w 83"/>
                  <a:gd name="T23" fmla="*/ 1 h 30"/>
                  <a:gd name="T24" fmla="*/ 1 w 83"/>
                  <a:gd name="T25" fmla="*/ 1 h 30"/>
                  <a:gd name="T26" fmla="*/ 1 w 83"/>
                  <a:gd name="T27" fmla="*/ 1 h 30"/>
                  <a:gd name="T28" fmla="*/ 1 w 83"/>
                  <a:gd name="T29" fmla="*/ 1 h 30"/>
                  <a:gd name="T30" fmla="*/ 1 w 83"/>
                  <a:gd name="T31" fmla="*/ 1 h 30"/>
                  <a:gd name="T32" fmla="*/ 1 w 83"/>
                  <a:gd name="T33" fmla="*/ 1 h 30"/>
                  <a:gd name="T34" fmla="*/ 1 w 83"/>
                  <a:gd name="T35" fmla="*/ 1 h 30"/>
                  <a:gd name="T36" fmla="*/ 1 w 83"/>
                  <a:gd name="T37" fmla="*/ 1 h 30"/>
                  <a:gd name="T38" fmla="*/ 1 w 83"/>
                  <a:gd name="T39" fmla="*/ 1 h 30"/>
                  <a:gd name="T40" fmla="*/ 1 w 83"/>
                  <a:gd name="T41" fmla="*/ 1 h 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3"/>
                  <a:gd name="T64" fmla="*/ 0 h 30"/>
                  <a:gd name="T65" fmla="*/ 83 w 83"/>
                  <a:gd name="T66" fmla="*/ 30 h 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3" h="30">
                    <a:moveTo>
                      <a:pt x="79" y="3"/>
                    </a:moveTo>
                    <a:lnTo>
                      <a:pt x="77" y="3"/>
                    </a:lnTo>
                    <a:lnTo>
                      <a:pt x="63" y="6"/>
                    </a:lnTo>
                    <a:lnTo>
                      <a:pt x="49" y="8"/>
                    </a:lnTo>
                    <a:lnTo>
                      <a:pt x="36" y="6"/>
                    </a:lnTo>
                    <a:lnTo>
                      <a:pt x="27" y="6"/>
                    </a:lnTo>
                    <a:lnTo>
                      <a:pt x="21" y="3"/>
                    </a:lnTo>
                    <a:lnTo>
                      <a:pt x="13" y="1"/>
                    </a:lnTo>
                    <a:lnTo>
                      <a:pt x="10" y="0"/>
                    </a:lnTo>
                    <a:lnTo>
                      <a:pt x="10" y="1"/>
                    </a:lnTo>
                    <a:lnTo>
                      <a:pt x="0" y="20"/>
                    </a:lnTo>
                    <a:lnTo>
                      <a:pt x="3" y="22"/>
                    </a:lnTo>
                    <a:lnTo>
                      <a:pt x="7" y="23"/>
                    </a:lnTo>
                    <a:lnTo>
                      <a:pt x="14" y="25"/>
                    </a:lnTo>
                    <a:lnTo>
                      <a:pt x="24" y="28"/>
                    </a:lnTo>
                    <a:lnTo>
                      <a:pt x="36" y="28"/>
                    </a:lnTo>
                    <a:lnTo>
                      <a:pt x="49" y="30"/>
                    </a:lnTo>
                    <a:lnTo>
                      <a:pt x="66" y="28"/>
                    </a:lnTo>
                    <a:lnTo>
                      <a:pt x="83" y="25"/>
                    </a:lnTo>
                    <a:lnTo>
                      <a:pt x="82" y="25"/>
                    </a:lnTo>
                    <a:lnTo>
                      <a:pt x="79" y="3"/>
                    </a:lnTo>
                    <a:close/>
                  </a:path>
                </a:pathLst>
              </a:custGeom>
              <a:solidFill>
                <a:srgbClr val="000000"/>
              </a:solidFill>
              <a:ln w="9525">
                <a:noFill/>
                <a:round/>
                <a:headEnd/>
                <a:tailEnd/>
              </a:ln>
            </p:spPr>
            <p:txBody>
              <a:bodyPr/>
              <a:lstStyle/>
              <a:p>
                <a:endParaRPr lang="en-US"/>
              </a:p>
            </p:txBody>
          </p:sp>
          <p:sp>
            <p:nvSpPr>
              <p:cNvPr id="26766" name="Freeform 103"/>
              <p:cNvSpPr>
                <a:spLocks/>
              </p:cNvSpPr>
              <p:nvPr/>
            </p:nvSpPr>
            <p:spPr bwMode="auto">
              <a:xfrm>
                <a:off x="2209" y="3515"/>
                <a:ext cx="32" cy="20"/>
              </a:xfrm>
              <a:custGeom>
                <a:avLst/>
                <a:gdLst>
                  <a:gd name="T0" fmla="*/ 1 w 64"/>
                  <a:gd name="T1" fmla="*/ 0 h 41"/>
                  <a:gd name="T2" fmla="*/ 1 w 64"/>
                  <a:gd name="T3" fmla="*/ 0 h 41"/>
                  <a:gd name="T4" fmla="*/ 1 w 64"/>
                  <a:gd name="T5" fmla="*/ 0 h 41"/>
                  <a:gd name="T6" fmla="*/ 1 w 64"/>
                  <a:gd name="T7" fmla="*/ 0 h 41"/>
                  <a:gd name="T8" fmla="*/ 1 w 64"/>
                  <a:gd name="T9" fmla="*/ 0 h 41"/>
                  <a:gd name="T10" fmla="*/ 1 w 64"/>
                  <a:gd name="T11" fmla="*/ 0 h 41"/>
                  <a:gd name="T12" fmla="*/ 1 w 64"/>
                  <a:gd name="T13" fmla="*/ 0 h 41"/>
                  <a:gd name="T14" fmla="*/ 1 w 64"/>
                  <a:gd name="T15" fmla="*/ 0 h 41"/>
                  <a:gd name="T16" fmla="*/ 1 w 64"/>
                  <a:gd name="T17" fmla="*/ 0 h 41"/>
                  <a:gd name="T18" fmla="*/ 0 w 64"/>
                  <a:gd name="T19" fmla="*/ 0 h 41"/>
                  <a:gd name="T20" fmla="*/ 1 w 64"/>
                  <a:gd name="T21" fmla="*/ 0 h 41"/>
                  <a:gd name="T22" fmla="*/ 1 w 64"/>
                  <a:gd name="T23" fmla="*/ 0 h 41"/>
                  <a:gd name="T24" fmla="*/ 1 w 64"/>
                  <a:gd name="T25" fmla="*/ 0 h 41"/>
                  <a:gd name="T26" fmla="*/ 1 w 64"/>
                  <a:gd name="T27" fmla="*/ 0 h 41"/>
                  <a:gd name="T28" fmla="*/ 1 w 64"/>
                  <a:gd name="T29" fmla="*/ 0 h 41"/>
                  <a:gd name="T30" fmla="*/ 1 w 64"/>
                  <a:gd name="T31" fmla="*/ 0 h 41"/>
                  <a:gd name="T32" fmla="*/ 1 w 64"/>
                  <a:gd name="T33" fmla="*/ 0 h 41"/>
                  <a:gd name="T34" fmla="*/ 1 w 64"/>
                  <a:gd name="T35" fmla="*/ 0 h 41"/>
                  <a:gd name="T36" fmla="*/ 1 w 64"/>
                  <a:gd name="T37" fmla="*/ 0 h 41"/>
                  <a:gd name="T38" fmla="*/ 1 w 64"/>
                  <a:gd name="T39" fmla="*/ 0 h 41"/>
                  <a:gd name="T40" fmla="*/ 1 w 64"/>
                  <a:gd name="T41" fmla="*/ 0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41"/>
                  <a:gd name="T65" fmla="*/ 64 w 64"/>
                  <a:gd name="T66" fmla="*/ 41 h 4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41">
                    <a:moveTo>
                      <a:pt x="45" y="0"/>
                    </a:moveTo>
                    <a:lnTo>
                      <a:pt x="45" y="2"/>
                    </a:lnTo>
                    <a:lnTo>
                      <a:pt x="43" y="3"/>
                    </a:lnTo>
                    <a:lnTo>
                      <a:pt x="42" y="5"/>
                    </a:lnTo>
                    <a:lnTo>
                      <a:pt x="40" y="6"/>
                    </a:lnTo>
                    <a:lnTo>
                      <a:pt x="37" y="8"/>
                    </a:lnTo>
                    <a:lnTo>
                      <a:pt x="31" y="11"/>
                    </a:lnTo>
                    <a:lnTo>
                      <a:pt x="25" y="13"/>
                    </a:lnTo>
                    <a:lnTo>
                      <a:pt x="12" y="16"/>
                    </a:lnTo>
                    <a:lnTo>
                      <a:pt x="0" y="19"/>
                    </a:lnTo>
                    <a:lnTo>
                      <a:pt x="3" y="41"/>
                    </a:lnTo>
                    <a:lnTo>
                      <a:pt x="18" y="38"/>
                    </a:lnTo>
                    <a:lnTo>
                      <a:pt x="31" y="35"/>
                    </a:lnTo>
                    <a:lnTo>
                      <a:pt x="40" y="30"/>
                    </a:lnTo>
                    <a:lnTo>
                      <a:pt x="47" y="27"/>
                    </a:lnTo>
                    <a:lnTo>
                      <a:pt x="53" y="25"/>
                    </a:lnTo>
                    <a:lnTo>
                      <a:pt x="57" y="21"/>
                    </a:lnTo>
                    <a:lnTo>
                      <a:pt x="62" y="16"/>
                    </a:lnTo>
                    <a:lnTo>
                      <a:pt x="64" y="11"/>
                    </a:lnTo>
                    <a:lnTo>
                      <a:pt x="64" y="13"/>
                    </a:lnTo>
                    <a:lnTo>
                      <a:pt x="45" y="0"/>
                    </a:lnTo>
                    <a:close/>
                  </a:path>
                </a:pathLst>
              </a:custGeom>
              <a:solidFill>
                <a:srgbClr val="000000"/>
              </a:solidFill>
              <a:ln w="9525">
                <a:noFill/>
                <a:round/>
                <a:headEnd/>
                <a:tailEnd/>
              </a:ln>
            </p:spPr>
            <p:txBody>
              <a:bodyPr/>
              <a:lstStyle/>
              <a:p>
                <a:endParaRPr lang="en-US"/>
              </a:p>
            </p:txBody>
          </p:sp>
          <p:sp>
            <p:nvSpPr>
              <p:cNvPr id="26767" name="Freeform 104"/>
              <p:cNvSpPr>
                <a:spLocks/>
              </p:cNvSpPr>
              <p:nvPr/>
            </p:nvSpPr>
            <p:spPr bwMode="auto">
              <a:xfrm>
                <a:off x="2229" y="3501"/>
                <a:ext cx="13" cy="20"/>
              </a:xfrm>
              <a:custGeom>
                <a:avLst/>
                <a:gdLst>
                  <a:gd name="T0" fmla="*/ 1 w 26"/>
                  <a:gd name="T1" fmla="*/ 0 h 41"/>
                  <a:gd name="T2" fmla="*/ 1 w 26"/>
                  <a:gd name="T3" fmla="*/ 0 h 41"/>
                  <a:gd name="T4" fmla="*/ 0 w 26"/>
                  <a:gd name="T5" fmla="*/ 0 h 41"/>
                  <a:gd name="T6" fmla="*/ 1 w 26"/>
                  <a:gd name="T7" fmla="*/ 0 h 41"/>
                  <a:gd name="T8" fmla="*/ 1 w 26"/>
                  <a:gd name="T9" fmla="*/ 0 h 41"/>
                  <a:gd name="T10" fmla="*/ 1 w 26"/>
                  <a:gd name="T11" fmla="*/ 0 h 41"/>
                  <a:gd name="T12" fmla="*/ 1 w 26"/>
                  <a:gd name="T13" fmla="*/ 0 h 41"/>
                  <a:gd name="T14" fmla="*/ 1 w 26"/>
                  <a:gd name="T15" fmla="*/ 0 h 41"/>
                  <a:gd name="T16" fmla="*/ 1 w 26"/>
                  <a:gd name="T17" fmla="*/ 0 h 41"/>
                  <a:gd name="T18" fmla="*/ 1 w 26"/>
                  <a:gd name="T19" fmla="*/ 0 h 41"/>
                  <a:gd name="T20" fmla="*/ 1 w 26"/>
                  <a:gd name="T21" fmla="*/ 0 h 41"/>
                  <a:gd name="T22" fmla="*/ 1 w 26"/>
                  <a:gd name="T23" fmla="*/ 0 h 41"/>
                  <a:gd name="T24" fmla="*/ 1 w 26"/>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
                  <a:gd name="T40" fmla="*/ 0 h 41"/>
                  <a:gd name="T41" fmla="*/ 26 w 26"/>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 h="41">
                    <a:moveTo>
                      <a:pt x="1" y="22"/>
                    </a:moveTo>
                    <a:lnTo>
                      <a:pt x="1" y="22"/>
                    </a:lnTo>
                    <a:lnTo>
                      <a:pt x="0" y="22"/>
                    </a:lnTo>
                    <a:lnTo>
                      <a:pt x="3" y="25"/>
                    </a:lnTo>
                    <a:lnTo>
                      <a:pt x="4" y="31"/>
                    </a:lnTo>
                    <a:lnTo>
                      <a:pt x="6" y="28"/>
                    </a:lnTo>
                    <a:lnTo>
                      <a:pt x="25" y="41"/>
                    </a:lnTo>
                    <a:lnTo>
                      <a:pt x="26" y="25"/>
                    </a:lnTo>
                    <a:lnTo>
                      <a:pt x="22" y="16"/>
                    </a:lnTo>
                    <a:lnTo>
                      <a:pt x="15" y="6"/>
                    </a:lnTo>
                    <a:lnTo>
                      <a:pt x="1" y="0"/>
                    </a:lnTo>
                    <a:lnTo>
                      <a:pt x="1" y="22"/>
                    </a:lnTo>
                    <a:close/>
                  </a:path>
                </a:pathLst>
              </a:custGeom>
              <a:solidFill>
                <a:srgbClr val="000000"/>
              </a:solidFill>
              <a:ln w="9525">
                <a:noFill/>
                <a:round/>
                <a:headEnd/>
                <a:tailEnd/>
              </a:ln>
            </p:spPr>
            <p:txBody>
              <a:bodyPr/>
              <a:lstStyle/>
              <a:p>
                <a:endParaRPr lang="en-US"/>
              </a:p>
            </p:txBody>
          </p:sp>
          <p:sp>
            <p:nvSpPr>
              <p:cNvPr id="26768" name="Freeform 105"/>
              <p:cNvSpPr>
                <a:spLocks/>
              </p:cNvSpPr>
              <p:nvPr/>
            </p:nvSpPr>
            <p:spPr bwMode="auto">
              <a:xfrm>
                <a:off x="2208" y="3501"/>
                <a:ext cx="22" cy="21"/>
              </a:xfrm>
              <a:custGeom>
                <a:avLst/>
                <a:gdLst>
                  <a:gd name="T0" fmla="*/ 1 w 44"/>
                  <a:gd name="T1" fmla="*/ 1 h 42"/>
                  <a:gd name="T2" fmla="*/ 1 w 44"/>
                  <a:gd name="T3" fmla="*/ 1 h 42"/>
                  <a:gd name="T4" fmla="*/ 1 w 44"/>
                  <a:gd name="T5" fmla="*/ 1 h 42"/>
                  <a:gd name="T6" fmla="*/ 1 w 44"/>
                  <a:gd name="T7" fmla="*/ 1 h 42"/>
                  <a:gd name="T8" fmla="*/ 1 w 44"/>
                  <a:gd name="T9" fmla="*/ 1 h 42"/>
                  <a:gd name="T10" fmla="*/ 1 w 44"/>
                  <a:gd name="T11" fmla="*/ 1 h 42"/>
                  <a:gd name="T12" fmla="*/ 1 w 44"/>
                  <a:gd name="T13" fmla="*/ 0 h 42"/>
                  <a:gd name="T14" fmla="*/ 1 w 44"/>
                  <a:gd name="T15" fmla="*/ 1 h 42"/>
                  <a:gd name="T16" fmla="*/ 1 w 44"/>
                  <a:gd name="T17" fmla="*/ 1 h 42"/>
                  <a:gd name="T18" fmla="*/ 1 w 44"/>
                  <a:gd name="T19" fmla="*/ 1 h 42"/>
                  <a:gd name="T20" fmla="*/ 1 w 44"/>
                  <a:gd name="T21" fmla="*/ 1 h 42"/>
                  <a:gd name="T22" fmla="*/ 0 w 44"/>
                  <a:gd name="T23" fmla="*/ 1 h 42"/>
                  <a:gd name="T24" fmla="*/ 1 w 44"/>
                  <a:gd name="T25" fmla="*/ 1 h 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
                  <a:gd name="T40" fmla="*/ 0 h 42"/>
                  <a:gd name="T41" fmla="*/ 44 w 44"/>
                  <a:gd name="T42" fmla="*/ 42 h 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 h="42">
                    <a:moveTo>
                      <a:pt x="7" y="42"/>
                    </a:moveTo>
                    <a:lnTo>
                      <a:pt x="5" y="42"/>
                    </a:lnTo>
                    <a:lnTo>
                      <a:pt x="22" y="36"/>
                    </a:lnTo>
                    <a:lnTo>
                      <a:pt x="35" y="28"/>
                    </a:lnTo>
                    <a:lnTo>
                      <a:pt x="43" y="24"/>
                    </a:lnTo>
                    <a:lnTo>
                      <a:pt x="44" y="22"/>
                    </a:lnTo>
                    <a:lnTo>
                      <a:pt x="44" y="0"/>
                    </a:lnTo>
                    <a:lnTo>
                      <a:pt x="33" y="5"/>
                    </a:lnTo>
                    <a:lnTo>
                      <a:pt x="22" y="9"/>
                    </a:lnTo>
                    <a:lnTo>
                      <a:pt x="13" y="17"/>
                    </a:lnTo>
                    <a:lnTo>
                      <a:pt x="2" y="20"/>
                    </a:lnTo>
                    <a:lnTo>
                      <a:pt x="0" y="20"/>
                    </a:lnTo>
                    <a:lnTo>
                      <a:pt x="7" y="42"/>
                    </a:lnTo>
                    <a:close/>
                  </a:path>
                </a:pathLst>
              </a:custGeom>
              <a:solidFill>
                <a:srgbClr val="000000"/>
              </a:solidFill>
              <a:ln w="9525">
                <a:noFill/>
                <a:round/>
                <a:headEnd/>
                <a:tailEnd/>
              </a:ln>
            </p:spPr>
            <p:txBody>
              <a:bodyPr/>
              <a:lstStyle/>
              <a:p>
                <a:endParaRPr lang="en-US"/>
              </a:p>
            </p:txBody>
          </p:sp>
          <p:sp>
            <p:nvSpPr>
              <p:cNvPr id="26769" name="Freeform 106"/>
              <p:cNvSpPr>
                <a:spLocks/>
              </p:cNvSpPr>
              <p:nvPr/>
            </p:nvSpPr>
            <p:spPr bwMode="auto">
              <a:xfrm>
                <a:off x="2172" y="3511"/>
                <a:ext cx="39" cy="13"/>
              </a:xfrm>
              <a:custGeom>
                <a:avLst/>
                <a:gdLst>
                  <a:gd name="T0" fmla="*/ 0 w 79"/>
                  <a:gd name="T1" fmla="*/ 0 h 27"/>
                  <a:gd name="T2" fmla="*/ 0 w 79"/>
                  <a:gd name="T3" fmla="*/ 0 h 27"/>
                  <a:gd name="T4" fmla="*/ 0 w 79"/>
                  <a:gd name="T5" fmla="*/ 0 h 27"/>
                  <a:gd name="T6" fmla="*/ 0 w 79"/>
                  <a:gd name="T7" fmla="*/ 0 h 27"/>
                  <a:gd name="T8" fmla="*/ 0 w 79"/>
                  <a:gd name="T9" fmla="*/ 0 h 27"/>
                  <a:gd name="T10" fmla="*/ 0 w 79"/>
                  <a:gd name="T11" fmla="*/ 0 h 27"/>
                  <a:gd name="T12" fmla="*/ 0 w 79"/>
                  <a:gd name="T13" fmla="*/ 0 h 27"/>
                  <a:gd name="T14" fmla="*/ 0 w 79"/>
                  <a:gd name="T15" fmla="*/ 0 h 27"/>
                  <a:gd name="T16" fmla="*/ 0 w 79"/>
                  <a:gd name="T17" fmla="*/ 0 h 27"/>
                  <a:gd name="T18" fmla="*/ 0 w 79"/>
                  <a:gd name="T19" fmla="*/ 0 h 27"/>
                  <a:gd name="T20" fmla="*/ 0 w 79"/>
                  <a:gd name="T21" fmla="*/ 0 h 27"/>
                  <a:gd name="T22" fmla="*/ 0 w 79"/>
                  <a:gd name="T23" fmla="*/ 0 h 27"/>
                  <a:gd name="T24" fmla="*/ 0 w 79"/>
                  <a:gd name="T25" fmla="*/ 0 h 27"/>
                  <a:gd name="T26" fmla="*/ 0 w 79"/>
                  <a:gd name="T27" fmla="*/ 0 h 27"/>
                  <a:gd name="T28" fmla="*/ 0 w 79"/>
                  <a:gd name="T29" fmla="*/ 0 h 27"/>
                  <a:gd name="T30" fmla="*/ 0 w 79"/>
                  <a:gd name="T31" fmla="*/ 0 h 27"/>
                  <a:gd name="T32" fmla="*/ 0 w 79"/>
                  <a:gd name="T33" fmla="*/ 0 h 27"/>
                  <a:gd name="T34" fmla="*/ 0 w 79"/>
                  <a:gd name="T35" fmla="*/ 0 h 27"/>
                  <a:gd name="T36" fmla="*/ 0 w 79"/>
                  <a:gd name="T37" fmla="*/ 0 h 27"/>
                  <a:gd name="T38" fmla="*/ 0 w 79"/>
                  <a:gd name="T39" fmla="*/ 0 h 27"/>
                  <a:gd name="T40" fmla="*/ 0 w 79"/>
                  <a:gd name="T41" fmla="*/ 0 h 27"/>
                  <a:gd name="T42" fmla="*/ 0 w 79"/>
                  <a:gd name="T43" fmla="*/ 0 h 27"/>
                  <a:gd name="T44" fmla="*/ 0 w 79"/>
                  <a:gd name="T45" fmla="*/ 0 h 27"/>
                  <a:gd name="T46" fmla="*/ 0 w 79"/>
                  <a:gd name="T47" fmla="*/ 0 h 27"/>
                  <a:gd name="T48" fmla="*/ 0 w 79"/>
                  <a:gd name="T49" fmla="*/ 0 h 27"/>
                  <a:gd name="T50" fmla="*/ 0 w 79"/>
                  <a:gd name="T51" fmla="*/ 0 h 2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9"/>
                  <a:gd name="T79" fmla="*/ 0 h 27"/>
                  <a:gd name="T80" fmla="*/ 79 w 79"/>
                  <a:gd name="T81" fmla="*/ 27 h 2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9" h="27">
                    <a:moveTo>
                      <a:pt x="21" y="21"/>
                    </a:moveTo>
                    <a:lnTo>
                      <a:pt x="11" y="27"/>
                    </a:lnTo>
                    <a:lnTo>
                      <a:pt x="13" y="27"/>
                    </a:lnTo>
                    <a:lnTo>
                      <a:pt x="18" y="27"/>
                    </a:lnTo>
                    <a:lnTo>
                      <a:pt x="25" y="27"/>
                    </a:lnTo>
                    <a:lnTo>
                      <a:pt x="35" y="27"/>
                    </a:lnTo>
                    <a:lnTo>
                      <a:pt x="46" y="27"/>
                    </a:lnTo>
                    <a:lnTo>
                      <a:pt x="58" y="25"/>
                    </a:lnTo>
                    <a:lnTo>
                      <a:pt x="68" y="24"/>
                    </a:lnTo>
                    <a:lnTo>
                      <a:pt x="79" y="22"/>
                    </a:lnTo>
                    <a:lnTo>
                      <a:pt x="72" y="0"/>
                    </a:lnTo>
                    <a:lnTo>
                      <a:pt x="65" y="2"/>
                    </a:lnTo>
                    <a:lnTo>
                      <a:pt x="55" y="4"/>
                    </a:lnTo>
                    <a:lnTo>
                      <a:pt x="46" y="5"/>
                    </a:lnTo>
                    <a:lnTo>
                      <a:pt x="35" y="5"/>
                    </a:lnTo>
                    <a:lnTo>
                      <a:pt x="25" y="5"/>
                    </a:lnTo>
                    <a:lnTo>
                      <a:pt x="18" y="5"/>
                    </a:lnTo>
                    <a:lnTo>
                      <a:pt x="13" y="5"/>
                    </a:lnTo>
                    <a:lnTo>
                      <a:pt x="11" y="5"/>
                    </a:lnTo>
                    <a:lnTo>
                      <a:pt x="2" y="11"/>
                    </a:lnTo>
                    <a:lnTo>
                      <a:pt x="11" y="5"/>
                    </a:lnTo>
                    <a:lnTo>
                      <a:pt x="4" y="8"/>
                    </a:lnTo>
                    <a:lnTo>
                      <a:pt x="0" y="16"/>
                    </a:lnTo>
                    <a:lnTo>
                      <a:pt x="4" y="24"/>
                    </a:lnTo>
                    <a:lnTo>
                      <a:pt x="11" y="27"/>
                    </a:lnTo>
                    <a:lnTo>
                      <a:pt x="21" y="21"/>
                    </a:lnTo>
                    <a:close/>
                  </a:path>
                </a:pathLst>
              </a:custGeom>
              <a:solidFill>
                <a:srgbClr val="000000"/>
              </a:solidFill>
              <a:ln w="9525">
                <a:noFill/>
                <a:round/>
                <a:headEnd/>
                <a:tailEnd/>
              </a:ln>
            </p:spPr>
            <p:txBody>
              <a:bodyPr/>
              <a:lstStyle/>
              <a:p>
                <a:endParaRPr lang="en-US"/>
              </a:p>
            </p:txBody>
          </p:sp>
          <p:sp>
            <p:nvSpPr>
              <p:cNvPr id="26770" name="Freeform 107"/>
              <p:cNvSpPr>
                <a:spLocks/>
              </p:cNvSpPr>
              <p:nvPr/>
            </p:nvSpPr>
            <p:spPr bwMode="auto">
              <a:xfrm>
                <a:off x="1990" y="3505"/>
                <a:ext cx="272" cy="336"/>
              </a:xfrm>
              <a:custGeom>
                <a:avLst/>
                <a:gdLst>
                  <a:gd name="T0" fmla="*/ 1 w 543"/>
                  <a:gd name="T1" fmla="*/ 1 h 672"/>
                  <a:gd name="T2" fmla="*/ 1 w 543"/>
                  <a:gd name="T3" fmla="*/ 1 h 672"/>
                  <a:gd name="T4" fmla="*/ 1 w 543"/>
                  <a:gd name="T5" fmla="*/ 1 h 672"/>
                  <a:gd name="T6" fmla="*/ 1 w 543"/>
                  <a:gd name="T7" fmla="*/ 1 h 672"/>
                  <a:gd name="T8" fmla="*/ 1 w 543"/>
                  <a:gd name="T9" fmla="*/ 1 h 672"/>
                  <a:gd name="T10" fmla="*/ 1 w 543"/>
                  <a:gd name="T11" fmla="*/ 1 h 672"/>
                  <a:gd name="T12" fmla="*/ 1 w 543"/>
                  <a:gd name="T13" fmla="*/ 1 h 672"/>
                  <a:gd name="T14" fmla="*/ 1 w 543"/>
                  <a:gd name="T15" fmla="*/ 1 h 672"/>
                  <a:gd name="T16" fmla="*/ 1 w 543"/>
                  <a:gd name="T17" fmla="*/ 1 h 672"/>
                  <a:gd name="T18" fmla="*/ 1 w 543"/>
                  <a:gd name="T19" fmla="*/ 1 h 672"/>
                  <a:gd name="T20" fmla="*/ 1 w 543"/>
                  <a:gd name="T21" fmla="*/ 1 h 672"/>
                  <a:gd name="T22" fmla="*/ 1 w 543"/>
                  <a:gd name="T23" fmla="*/ 1 h 672"/>
                  <a:gd name="T24" fmla="*/ 1 w 543"/>
                  <a:gd name="T25" fmla="*/ 1 h 672"/>
                  <a:gd name="T26" fmla="*/ 1 w 543"/>
                  <a:gd name="T27" fmla="*/ 1 h 672"/>
                  <a:gd name="T28" fmla="*/ 1 w 543"/>
                  <a:gd name="T29" fmla="*/ 1 h 672"/>
                  <a:gd name="T30" fmla="*/ 1 w 543"/>
                  <a:gd name="T31" fmla="*/ 1 h 672"/>
                  <a:gd name="T32" fmla="*/ 1 w 543"/>
                  <a:gd name="T33" fmla="*/ 1 h 672"/>
                  <a:gd name="T34" fmla="*/ 1 w 543"/>
                  <a:gd name="T35" fmla="*/ 1 h 672"/>
                  <a:gd name="T36" fmla="*/ 1 w 543"/>
                  <a:gd name="T37" fmla="*/ 1 h 672"/>
                  <a:gd name="T38" fmla="*/ 1 w 543"/>
                  <a:gd name="T39" fmla="*/ 1 h 672"/>
                  <a:gd name="T40" fmla="*/ 1 w 543"/>
                  <a:gd name="T41" fmla="*/ 1 h 672"/>
                  <a:gd name="T42" fmla="*/ 1 w 543"/>
                  <a:gd name="T43" fmla="*/ 1 h 672"/>
                  <a:gd name="T44" fmla="*/ 1 w 543"/>
                  <a:gd name="T45" fmla="*/ 0 h 672"/>
                  <a:gd name="T46" fmla="*/ 1 w 543"/>
                  <a:gd name="T47" fmla="*/ 1 h 672"/>
                  <a:gd name="T48" fmla="*/ 1 w 543"/>
                  <a:gd name="T49" fmla="*/ 1 h 672"/>
                  <a:gd name="T50" fmla="*/ 1 w 543"/>
                  <a:gd name="T51" fmla="*/ 1 h 672"/>
                  <a:gd name="T52" fmla="*/ 1 w 543"/>
                  <a:gd name="T53" fmla="*/ 1 h 672"/>
                  <a:gd name="T54" fmla="*/ 1 w 543"/>
                  <a:gd name="T55" fmla="*/ 1 h 672"/>
                  <a:gd name="T56" fmla="*/ 1 w 543"/>
                  <a:gd name="T57" fmla="*/ 1 h 672"/>
                  <a:gd name="T58" fmla="*/ 1 w 543"/>
                  <a:gd name="T59" fmla="*/ 1 h 672"/>
                  <a:gd name="T60" fmla="*/ 1 w 543"/>
                  <a:gd name="T61" fmla="*/ 1 h 672"/>
                  <a:gd name="T62" fmla="*/ 1 w 543"/>
                  <a:gd name="T63" fmla="*/ 1 h 672"/>
                  <a:gd name="T64" fmla="*/ 1 w 543"/>
                  <a:gd name="T65" fmla="*/ 1 h 672"/>
                  <a:gd name="T66" fmla="*/ 1 w 543"/>
                  <a:gd name="T67" fmla="*/ 1 h 672"/>
                  <a:gd name="T68" fmla="*/ 1 w 543"/>
                  <a:gd name="T69" fmla="*/ 1 h 672"/>
                  <a:gd name="T70" fmla="*/ 1 w 543"/>
                  <a:gd name="T71" fmla="*/ 1 h 672"/>
                  <a:gd name="T72" fmla="*/ 1 w 543"/>
                  <a:gd name="T73" fmla="*/ 1 h 672"/>
                  <a:gd name="T74" fmla="*/ 1 w 543"/>
                  <a:gd name="T75" fmla="*/ 1 h 672"/>
                  <a:gd name="T76" fmla="*/ 1 w 543"/>
                  <a:gd name="T77" fmla="*/ 1 h 672"/>
                  <a:gd name="T78" fmla="*/ 1 w 543"/>
                  <a:gd name="T79" fmla="*/ 1 h 672"/>
                  <a:gd name="T80" fmla="*/ 1 w 543"/>
                  <a:gd name="T81" fmla="*/ 1 h 672"/>
                  <a:gd name="T82" fmla="*/ 1 w 543"/>
                  <a:gd name="T83" fmla="*/ 1 h 672"/>
                  <a:gd name="T84" fmla="*/ 1 w 543"/>
                  <a:gd name="T85" fmla="*/ 1 h 672"/>
                  <a:gd name="T86" fmla="*/ 1 w 543"/>
                  <a:gd name="T87" fmla="*/ 1 h 672"/>
                  <a:gd name="T88" fmla="*/ 1 w 543"/>
                  <a:gd name="T89" fmla="*/ 1 h 672"/>
                  <a:gd name="T90" fmla="*/ 1 w 543"/>
                  <a:gd name="T91" fmla="*/ 1 h 672"/>
                  <a:gd name="T92" fmla="*/ 0 w 543"/>
                  <a:gd name="T93" fmla="*/ 1 h 672"/>
                  <a:gd name="T94" fmla="*/ 0 w 543"/>
                  <a:gd name="T95" fmla="*/ 1 h 672"/>
                  <a:gd name="T96" fmla="*/ 1 w 543"/>
                  <a:gd name="T97" fmla="*/ 1 h 672"/>
                  <a:gd name="T98" fmla="*/ 1 w 543"/>
                  <a:gd name="T99" fmla="*/ 1 h 672"/>
                  <a:gd name="T100" fmla="*/ 1 w 543"/>
                  <a:gd name="T101" fmla="*/ 1 h 672"/>
                  <a:gd name="T102" fmla="*/ 1 w 543"/>
                  <a:gd name="T103" fmla="*/ 1 h 672"/>
                  <a:gd name="T104" fmla="*/ 1 w 543"/>
                  <a:gd name="T105" fmla="*/ 1 h 672"/>
                  <a:gd name="T106" fmla="*/ 1 w 543"/>
                  <a:gd name="T107" fmla="*/ 1 h 672"/>
                  <a:gd name="T108" fmla="*/ 1 w 543"/>
                  <a:gd name="T109" fmla="*/ 1 h 672"/>
                  <a:gd name="T110" fmla="*/ 1 w 543"/>
                  <a:gd name="T111" fmla="*/ 1 h 672"/>
                  <a:gd name="T112" fmla="*/ 1 w 543"/>
                  <a:gd name="T113" fmla="*/ 1 h 672"/>
                  <a:gd name="T114" fmla="*/ 1 w 543"/>
                  <a:gd name="T115" fmla="*/ 1 h 672"/>
                  <a:gd name="T116" fmla="*/ 1 w 543"/>
                  <a:gd name="T117" fmla="*/ 1 h 672"/>
                  <a:gd name="T118" fmla="*/ 1 w 543"/>
                  <a:gd name="T119" fmla="*/ 1 h 672"/>
                  <a:gd name="T120" fmla="*/ 1 w 543"/>
                  <a:gd name="T121" fmla="*/ 1 h 67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3"/>
                  <a:gd name="T184" fmla="*/ 0 h 672"/>
                  <a:gd name="T185" fmla="*/ 543 w 543"/>
                  <a:gd name="T186" fmla="*/ 672 h 67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3" h="672">
                    <a:moveTo>
                      <a:pt x="343" y="431"/>
                    </a:moveTo>
                    <a:lnTo>
                      <a:pt x="329" y="424"/>
                    </a:lnTo>
                    <a:lnTo>
                      <a:pt x="316" y="417"/>
                    </a:lnTo>
                    <a:lnTo>
                      <a:pt x="307" y="410"/>
                    </a:lnTo>
                    <a:lnTo>
                      <a:pt x="301" y="403"/>
                    </a:lnTo>
                    <a:lnTo>
                      <a:pt x="298" y="396"/>
                    </a:lnTo>
                    <a:lnTo>
                      <a:pt x="296" y="392"/>
                    </a:lnTo>
                    <a:lnTo>
                      <a:pt x="296" y="390"/>
                    </a:lnTo>
                    <a:lnTo>
                      <a:pt x="291" y="266"/>
                    </a:lnTo>
                    <a:lnTo>
                      <a:pt x="293" y="265"/>
                    </a:lnTo>
                    <a:lnTo>
                      <a:pt x="299" y="260"/>
                    </a:lnTo>
                    <a:lnTo>
                      <a:pt x="305" y="254"/>
                    </a:lnTo>
                    <a:lnTo>
                      <a:pt x="313" y="248"/>
                    </a:lnTo>
                    <a:lnTo>
                      <a:pt x="321" y="241"/>
                    </a:lnTo>
                    <a:lnTo>
                      <a:pt x="327" y="237"/>
                    </a:lnTo>
                    <a:lnTo>
                      <a:pt x="331" y="234"/>
                    </a:lnTo>
                    <a:lnTo>
                      <a:pt x="331" y="235"/>
                    </a:lnTo>
                    <a:lnTo>
                      <a:pt x="321" y="243"/>
                    </a:lnTo>
                    <a:lnTo>
                      <a:pt x="309" y="254"/>
                    </a:lnTo>
                    <a:lnTo>
                      <a:pt x="296" y="263"/>
                    </a:lnTo>
                    <a:lnTo>
                      <a:pt x="291" y="266"/>
                    </a:lnTo>
                    <a:lnTo>
                      <a:pt x="257" y="266"/>
                    </a:lnTo>
                    <a:lnTo>
                      <a:pt x="255" y="263"/>
                    </a:lnTo>
                    <a:lnTo>
                      <a:pt x="251" y="257"/>
                    </a:lnTo>
                    <a:lnTo>
                      <a:pt x="246" y="249"/>
                    </a:lnTo>
                    <a:lnTo>
                      <a:pt x="240" y="241"/>
                    </a:lnTo>
                    <a:lnTo>
                      <a:pt x="233" y="230"/>
                    </a:lnTo>
                    <a:lnTo>
                      <a:pt x="229" y="218"/>
                    </a:lnTo>
                    <a:lnTo>
                      <a:pt x="224" y="205"/>
                    </a:lnTo>
                    <a:lnTo>
                      <a:pt x="222" y="201"/>
                    </a:lnTo>
                    <a:lnTo>
                      <a:pt x="224" y="198"/>
                    </a:lnTo>
                    <a:lnTo>
                      <a:pt x="230" y="187"/>
                    </a:lnTo>
                    <a:lnTo>
                      <a:pt x="240" y="174"/>
                    </a:lnTo>
                    <a:lnTo>
                      <a:pt x="251" y="160"/>
                    </a:lnTo>
                    <a:lnTo>
                      <a:pt x="258" y="151"/>
                    </a:lnTo>
                    <a:lnTo>
                      <a:pt x="266" y="138"/>
                    </a:lnTo>
                    <a:lnTo>
                      <a:pt x="277" y="124"/>
                    </a:lnTo>
                    <a:lnTo>
                      <a:pt x="287" y="107"/>
                    </a:lnTo>
                    <a:lnTo>
                      <a:pt x="298" y="93"/>
                    </a:lnTo>
                    <a:lnTo>
                      <a:pt x="307" y="79"/>
                    </a:lnTo>
                    <a:lnTo>
                      <a:pt x="315" y="68"/>
                    </a:lnTo>
                    <a:lnTo>
                      <a:pt x="321" y="60"/>
                    </a:lnTo>
                    <a:lnTo>
                      <a:pt x="334" y="52"/>
                    </a:lnTo>
                    <a:lnTo>
                      <a:pt x="346" y="47"/>
                    </a:lnTo>
                    <a:lnTo>
                      <a:pt x="357" y="46"/>
                    </a:lnTo>
                    <a:lnTo>
                      <a:pt x="362" y="46"/>
                    </a:lnTo>
                    <a:lnTo>
                      <a:pt x="365" y="47"/>
                    </a:lnTo>
                    <a:lnTo>
                      <a:pt x="371" y="49"/>
                    </a:lnTo>
                    <a:lnTo>
                      <a:pt x="382" y="52"/>
                    </a:lnTo>
                    <a:lnTo>
                      <a:pt x="393" y="54"/>
                    </a:lnTo>
                    <a:lnTo>
                      <a:pt x="399" y="54"/>
                    </a:lnTo>
                    <a:lnTo>
                      <a:pt x="409" y="54"/>
                    </a:lnTo>
                    <a:lnTo>
                      <a:pt x="418" y="52"/>
                    </a:lnTo>
                    <a:lnTo>
                      <a:pt x="428" y="51"/>
                    </a:lnTo>
                    <a:lnTo>
                      <a:pt x="437" y="49"/>
                    </a:lnTo>
                    <a:lnTo>
                      <a:pt x="448" y="46"/>
                    </a:lnTo>
                    <a:lnTo>
                      <a:pt x="457" y="44"/>
                    </a:lnTo>
                    <a:lnTo>
                      <a:pt x="465" y="41"/>
                    </a:lnTo>
                    <a:lnTo>
                      <a:pt x="478" y="35"/>
                    </a:lnTo>
                    <a:lnTo>
                      <a:pt x="487" y="29"/>
                    </a:lnTo>
                    <a:lnTo>
                      <a:pt x="492" y="24"/>
                    </a:lnTo>
                    <a:lnTo>
                      <a:pt x="493" y="22"/>
                    </a:lnTo>
                    <a:lnTo>
                      <a:pt x="492" y="19"/>
                    </a:lnTo>
                    <a:lnTo>
                      <a:pt x="489" y="13"/>
                    </a:lnTo>
                    <a:lnTo>
                      <a:pt x="486" y="5"/>
                    </a:lnTo>
                    <a:lnTo>
                      <a:pt x="487" y="2"/>
                    </a:lnTo>
                    <a:lnTo>
                      <a:pt x="490" y="0"/>
                    </a:lnTo>
                    <a:lnTo>
                      <a:pt x="496" y="0"/>
                    </a:lnTo>
                    <a:lnTo>
                      <a:pt x="503" y="2"/>
                    </a:lnTo>
                    <a:lnTo>
                      <a:pt x="511" y="2"/>
                    </a:lnTo>
                    <a:lnTo>
                      <a:pt x="517" y="4"/>
                    </a:lnTo>
                    <a:lnTo>
                      <a:pt x="525" y="5"/>
                    </a:lnTo>
                    <a:lnTo>
                      <a:pt x="531" y="7"/>
                    </a:lnTo>
                    <a:lnTo>
                      <a:pt x="536" y="8"/>
                    </a:lnTo>
                    <a:lnTo>
                      <a:pt x="539" y="15"/>
                    </a:lnTo>
                    <a:lnTo>
                      <a:pt x="540" y="25"/>
                    </a:lnTo>
                    <a:lnTo>
                      <a:pt x="542" y="41"/>
                    </a:lnTo>
                    <a:lnTo>
                      <a:pt x="543" y="58"/>
                    </a:lnTo>
                    <a:lnTo>
                      <a:pt x="543" y="76"/>
                    </a:lnTo>
                    <a:lnTo>
                      <a:pt x="543" y="91"/>
                    </a:lnTo>
                    <a:lnTo>
                      <a:pt x="543" y="101"/>
                    </a:lnTo>
                    <a:lnTo>
                      <a:pt x="543" y="105"/>
                    </a:lnTo>
                    <a:lnTo>
                      <a:pt x="543" y="110"/>
                    </a:lnTo>
                    <a:lnTo>
                      <a:pt x="543" y="121"/>
                    </a:lnTo>
                    <a:lnTo>
                      <a:pt x="543" y="138"/>
                    </a:lnTo>
                    <a:lnTo>
                      <a:pt x="542" y="162"/>
                    </a:lnTo>
                    <a:lnTo>
                      <a:pt x="540" y="190"/>
                    </a:lnTo>
                    <a:lnTo>
                      <a:pt x="539" y="219"/>
                    </a:lnTo>
                    <a:lnTo>
                      <a:pt x="536" y="252"/>
                    </a:lnTo>
                    <a:lnTo>
                      <a:pt x="531" y="287"/>
                    </a:lnTo>
                    <a:lnTo>
                      <a:pt x="526" y="321"/>
                    </a:lnTo>
                    <a:lnTo>
                      <a:pt x="520" y="356"/>
                    </a:lnTo>
                    <a:lnTo>
                      <a:pt x="512" y="387"/>
                    </a:lnTo>
                    <a:lnTo>
                      <a:pt x="504" y="417"/>
                    </a:lnTo>
                    <a:lnTo>
                      <a:pt x="493" y="442"/>
                    </a:lnTo>
                    <a:lnTo>
                      <a:pt x="481" y="460"/>
                    </a:lnTo>
                    <a:lnTo>
                      <a:pt x="467" y="475"/>
                    </a:lnTo>
                    <a:lnTo>
                      <a:pt x="451" y="482"/>
                    </a:lnTo>
                    <a:lnTo>
                      <a:pt x="418" y="489"/>
                    </a:lnTo>
                    <a:lnTo>
                      <a:pt x="387" y="493"/>
                    </a:lnTo>
                    <a:lnTo>
                      <a:pt x="359" y="496"/>
                    </a:lnTo>
                    <a:lnTo>
                      <a:pt x="331" y="498"/>
                    </a:lnTo>
                    <a:lnTo>
                      <a:pt x="305" y="500"/>
                    </a:lnTo>
                    <a:lnTo>
                      <a:pt x="282" y="498"/>
                    </a:lnTo>
                    <a:lnTo>
                      <a:pt x="260" y="495"/>
                    </a:lnTo>
                    <a:lnTo>
                      <a:pt x="240" y="490"/>
                    </a:lnTo>
                    <a:lnTo>
                      <a:pt x="221" y="484"/>
                    </a:lnTo>
                    <a:lnTo>
                      <a:pt x="204" y="479"/>
                    </a:lnTo>
                    <a:lnTo>
                      <a:pt x="186" y="476"/>
                    </a:lnTo>
                    <a:lnTo>
                      <a:pt x="169" y="473"/>
                    </a:lnTo>
                    <a:lnTo>
                      <a:pt x="155" y="471"/>
                    </a:lnTo>
                    <a:lnTo>
                      <a:pt x="144" y="470"/>
                    </a:lnTo>
                    <a:lnTo>
                      <a:pt x="133" y="470"/>
                    </a:lnTo>
                    <a:lnTo>
                      <a:pt x="127" y="470"/>
                    </a:lnTo>
                    <a:lnTo>
                      <a:pt x="119" y="471"/>
                    </a:lnTo>
                    <a:lnTo>
                      <a:pt x="114" y="473"/>
                    </a:lnTo>
                    <a:lnTo>
                      <a:pt x="113" y="475"/>
                    </a:lnTo>
                    <a:lnTo>
                      <a:pt x="113" y="476"/>
                    </a:lnTo>
                    <a:lnTo>
                      <a:pt x="111" y="489"/>
                    </a:lnTo>
                    <a:lnTo>
                      <a:pt x="118" y="659"/>
                    </a:lnTo>
                    <a:lnTo>
                      <a:pt x="116" y="659"/>
                    </a:lnTo>
                    <a:lnTo>
                      <a:pt x="114" y="662"/>
                    </a:lnTo>
                    <a:lnTo>
                      <a:pt x="110" y="664"/>
                    </a:lnTo>
                    <a:lnTo>
                      <a:pt x="102" y="667"/>
                    </a:lnTo>
                    <a:lnTo>
                      <a:pt x="94" y="669"/>
                    </a:lnTo>
                    <a:lnTo>
                      <a:pt x="83" y="672"/>
                    </a:lnTo>
                    <a:lnTo>
                      <a:pt x="72" y="672"/>
                    </a:lnTo>
                    <a:lnTo>
                      <a:pt x="58" y="672"/>
                    </a:lnTo>
                    <a:lnTo>
                      <a:pt x="35" y="669"/>
                    </a:lnTo>
                    <a:lnTo>
                      <a:pt x="22" y="665"/>
                    </a:lnTo>
                    <a:lnTo>
                      <a:pt x="16" y="664"/>
                    </a:lnTo>
                    <a:lnTo>
                      <a:pt x="14" y="662"/>
                    </a:lnTo>
                    <a:lnTo>
                      <a:pt x="14" y="656"/>
                    </a:lnTo>
                    <a:lnTo>
                      <a:pt x="11" y="642"/>
                    </a:lnTo>
                    <a:lnTo>
                      <a:pt x="10" y="620"/>
                    </a:lnTo>
                    <a:lnTo>
                      <a:pt x="6" y="595"/>
                    </a:lnTo>
                    <a:lnTo>
                      <a:pt x="3" y="567"/>
                    </a:lnTo>
                    <a:lnTo>
                      <a:pt x="2" y="540"/>
                    </a:lnTo>
                    <a:lnTo>
                      <a:pt x="0" y="517"/>
                    </a:lnTo>
                    <a:lnTo>
                      <a:pt x="0" y="500"/>
                    </a:lnTo>
                    <a:lnTo>
                      <a:pt x="0" y="485"/>
                    </a:lnTo>
                    <a:lnTo>
                      <a:pt x="0" y="468"/>
                    </a:lnTo>
                    <a:lnTo>
                      <a:pt x="0" y="451"/>
                    </a:lnTo>
                    <a:lnTo>
                      <a:pt x="0" y="434"/>
                    </a:lnTo>
                    <a:lnTo>
                      <a:pt x="2" y="418"/>
                    </a:lnTo>
                    <a:lnTo>
                      <a:pt x="5" y="403"/>
                    </a:lnTo>
                    <a:lnTo>
                      <a:pt x="11" y="390"/>
                    </a:lnTo>
                    <a:lnTo>
                      <a:pt x="20" y="381"/>
                    </a:lnTo>
                    <a:lnTo>
                      <a:pt x="35" y="373"/>
                    </a:lnTo>
                    <a:lnTo>
                      <a:pt x="55" y="367"/>
                    </a:lnTo>
                    <a:lnTo>
                      <a:pt x="78" y="360"/>
                    </a:lnTo>
                    <a:lnTo>
                      <a:pt x="108" y="356"/>
                    </a:lnTo>
                    <a:lnTo>
                      <a:pt x="139" y="352"/>
                    </a:lnTo>
                    <a:lnTo>
                      <a:pt x="174" y="352"/>
                    </a:lnTo>
                    <a:lnTo>
                      <a:pt x="212" y="354"/>
                    </a:lnTo>
                    <a:lnTo>
                      <a:pt x="251" y="357"/>
                    </a:lnTo>
                    <a:lnTo>
                      <a:pt x="248" y="357"/>
                    </a:lnTo>
                    <a:lnTo>
                      <a:pt x="241" y="356"/>
                    </a:lnTo>
                    <a:lnTo>
                      <a:pt x="232" y="356"/>
                    </a:lnTo>
                    <a:lnTo>
                      <a:pt x="219" y="354"/>
                    </a:lnTo>
                    <a:lnTo>
                      <a:pt x="205" y="354"/>
                    </a:lnTo>
                    <a:lnTo>
                      <a:pt x="190" y="352"/>
                    </a:lnTo>
                    <a:lnTo>
                      <a:pt x="174" y="352"/>
                    </a:lnTo>
                    <a:lnTo>
                      <a:pt x="158" y="352"/>
                    </a:lnTo>
                    <a:lnTo>
                      <a:pt x="135" y="352"/>
                    </a:lnTo>
                    <a:lnTo>
                      <a:pt x="122" y="354"/>
                    </a:lnTo>
                    <a:lnTo>
                      <a:pt x="118" y="356"/>
                    </a:lnTo>
                    <a:lnTo>
                      <a:pt x="116" y="356"/>
                    </a:lnTo>
                    <a:lnTo>
                      <a:pt x="113" y="343"/>
                    </a:lnTo>
                    <a:lnTo>
                      <a:pt x="113" y="342"/>
                    </a:lnTo>
                    <a:lnTo>
                      <a:pt x="114" y="335"/>
                    </a:lnTo>
                    <a:lnTo>
                      <a:pt x="121" y="327"/>
                    </a:lnTo>
                    <a:lnTo>
                      <a:pt x="135" y="321"/>
                    </a:lnTo>
                    <a:lnTo>
                      <a:pt x="149" y="318"/>
                    </a:lnTo>
                    <a:lnTo>
                      <a:pt x="168" y="315"/>
                    </a:lnTo>
                    <a:lnTo>
                      <a:pt x="191" y="310"/>
                    </a:lnTo>
                    <a:lnTo>
                      <a:pt x="216" y="307"/>
                    </a:lnTo>
                    <a:lnTo>
                      <a:pt x="241" y="304"/>
                    </a:lnTo>
                    <a:lnTo>
                      <a:pt x="263" y="301"/>
                    </a:lnTo>
                    <a:lnTo>
                      <a:pt x="280" y="299"/>
                    </a:lnTo>
                    <a:lnTo>
                      <a:pt x="291" y="299"/>
                    </a:lnTo>
                    <a:lnTo>
                      <a:pt x="343" y="431"/>
                    </a:lnTo>
                    <a:close/>
                  </a:path>
                </a:pathLst>
              </a:custGeom>
              <a:solidFill>
                <a:srgbClr val="00FFB2"/>
              </a:solidFill>
              <a:ln w="9525">
                <a:noFill/>
                <a:round/>
                <a:headEnd/>
                <a:tailEnd/>
              </a:ln>
            </p:spPr>
            <p:txBody>
              <a:bodyPr/>
              <a:lstStyle/>
              <a:p>
                <a:endParaRPr lang="en-US"/>
              </a:p>
            </p:txBody>
          </p:sp>
          <p:sp>
            <p:nvSpPr>
              <p:cNvPr id="26771" name="Freeform 108"/>
              <p:cNvSpPr>
                <a:spLocks/>
              </p:cNvSpPr>
              <p:nvPr/>
            </p:nvSpPr>
            <p:spPr bwMode="auto">
              <a:xfrm>
                <a:off x="2136" y="3703"/>
                <a:ext cx="27" cy="23"/>
              </a:xfrm>
              <a:custGeom>
                <a:avLst/>
                <a:gdLst>
                  <a:gd name="T0" fmla="*/ 0 w 55"/>
                  <a:gd name="T1" fmla="*/ 1 h 46"/>
                  <a:gd name="T2" fmla="*/ 0 w 55"/>
                  <a:gd name="T3" fmla="*/ 1 h 46"/>
                  <a:gd name="T4" fmla="*/ 0 w 55"/>
                  <a:gd name="T5" fmla="*/ 1 h 46"/>
                  <a:gd name="T6" fmla="*/ 0 w 55"/>
                  <a:gd name="T7" fmla="*/ 1 h 46"/>
                  <a:gd name="T8" fmla="*/ 0 w 55"/>
                  <a:gd name="T9" fmla="*/ 1 h 46"/>
                  <a:gd name="T10" fmla="*/ 0 w 55"/>
                  <a:gd name="T11" fmla="*/ 1 h 46"/>
                  <a:gd name="T12" fmla="*/ 0 w 55"/>
                  <a:gd name="T13" fmla="*/ 1 h 46"/>
                  <a:gd name="T14" fmla="*/ 0 w 55"/>
                  <a:gd name="T15" fmla="*/ 1 h 46"/>
                  <a:gd name="T16" fmla="*/ 0 w 55"/>
                  <a:gd name="T17" fmla="*/ 1 h 46"/>
                  <a:gd name="T18" fmla="*/ 0 w 55"/>
                  <a:gd name="T19" fmla="*/ 1 h 46"/>
                  <a:gd name="T20" fmla="*/ 0 w 55"/>
                  <a:gd name="T21" fmla="*/ 0 h 46"/>
                  <a:gd name="T22" fmla="*/ 0 w 55"/>
                  <a:gd name="T23" fmla="*/ 1 h 46"/>
                  <a:gd name="T24" fmla="*/ 0 w 55"/>
                  <a:gd name="T25" fmla="*/ 1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46"/>
                  <a:gd name="T41" fmla="*/ 55 w 55"/>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46">
                    <a:moveTo>
                      <a:pt x="0" y="11"/>
                    </a:moveTo>
                    <a:lnTo>
                      <a:pt x="0" y="13"/>
                    </a:lnTo>
                    <a:lnTo>
                      <a:pt x="8" y="22"/>
                    </a:lnTo>
                    <a:lnTo>
                      <a:pt x="19" y="30"/>
                    </a:lnTo>
                    <a:lnTo>
                      <a:pt x="33" y="38"/>
                    </a:lnTo>
                    <a:lnTo>
                      <a:pt x="49" y="46"/>
                    </a:lnTo>
                    <a:lnTo>
                      <a:pt x="55" y="24"/>
                    </a:lnTo>
                    <a:lnTo>
                      <a:pt x="43" y="19"/>
                    </a:lnTo>
                    <a:lnTo>
                      <a:pt x="32" y="11"/>
                    </a:lnTo>
                    <a:lnTo>
                      <a:pt x="24" y="7"/>
                    </a:lnTo>
                    <a:lnTo>
                      <a:pt x="19" y="0"/>
                    </a:lnTo>
                    <a:lnTo>
                      <a:pt x="19" y="2"/>
                    </a:lnTo>
                    <a:lnTo>
                      <a:pt x="0" y="11"/>
                    </a:lnTo>
                    <a:close/>
                  </a:path>
                </a:pathLst>
              </a:custGeom>
              <a:solidFill>
                <a:srgbClr val="000000"/>
              </a:solidFill>
              <a:ln w="9525">
                <a:noFill/>
                <a:round/>
                <a:headEnd/>
                <a:tailEnd/>
              </a:ln>
            </p:spPr>
            <p:txBody>
              <a:bodyPr/>
              <a:lstStyle/>
              <a:p>
                <a:endParaRPr lang="en-US"/>
              </a:p>
            </p:txBody>
          </p:sp>
          <p:sp>
            <p:nvSpPr>
              <p:cNvPr id="26772" name="Freeform 109"/>
              <p:cNvSpPr>
                <a:spLocks/>
              </p:cNvSpPr>
              <p:nvPr/>
            </p:nvSpPr>
            <p:spPr bwMode="auto">
              <a:xfrm>
                <a:off x="2133" y="3695"/>
                <a:ext cx="12" cy="14"/>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1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0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0" y="11"/>
                    </a:moveTo>
                    <a:lnTo>
                      <a:pt x="3" y="3"/>
                    </a:lnTo>
                    <a:lnTo>
                      <a:pt x="0" y="11"/>
                    </a:lnTo>
                    <a:lnTo>
                      <a:pt x="0" y="16"/>
                    </a:lnTo>
                    <a:lnTo>
                      <a:pt x="3" y="22"/>
                    </a:lnTo>
                    <a:lnTo>
                      <a:pt x="6" y="28"/>
                    </a:lnTo>
                    <a:lnTo>
                      <a:pt x="25" y="19"/>
                    </a:lnTo>
                    <a:lnTo>
                      <a:pt x="22" y="13"/>
                    </a:lnTo>
                    <a:lnTo>
                      <a:pt x="22" y="9"/>
                    </a:lnTo>
                    <a:lnTo>
                      <a:pt x="22" y="11"/>
                    </a:lnTo>
                    <a:lnTo>
                      <a:pt x="19" y="19"/>
                    </a:lnTo>
                    <a:lnTo>
                      <a:pt x="22" y="11"/>
                    </a:lnTo>
                    <a:lnTo>
                      <a:pt x="19" y="19"/>
                    </a:lnTo>
                    <a:lnTo>
                      <a:pt x="22" y="11"/>
                    </a:lnTo>
                    <a:lnTo>
                      <a:pt x="19" y="3"/>
                    </a:lnTo>
                    <a:lnTo>
                      <a:pt x="11" y="0"/>
                    </a:lnTo>
                    <a:lnTo>
                      <a:pt x="3" y="3"/>
                    </a:lnTo>
                    <a:lnTo>
                      <a:pt x="0" y="11"/>
                    </a:lnTo>
                    <a:close/>
                  </a:path>
                </a:pathLst>
              </a:custGeom>
              <a:solidFill>
                <a:srgbClr val="000000"/>
              </a:solidFill>
              <a:ln w="9525">
                <a:noFill/>
                <a:round/>
                <a:headEnd/>
                <a:tailEnd/>
              </a:ln>
            </p:spPr>
            <p:txBody>
              <a:bodyPr/>
              <a:lstStyle/>
              <a:p>
                <a:endParaRPr lang="en-US"/>
              </a:p>
            </p:txBody>
          </p:sp>
          <p:sp>
            <p:nvSpPr>
              <p:cNvPr id="26773" name="Freeform 110"/>
              <p:cNvSpPr>
                <a:spLocks/>
              </p:cNvSpPr>
              <p:nvPr/>
            </p:nvSpPr>
            <p:spPr bwMode="auto">
              <a:xfrm>
                <a:off x="2130" y="3633"/>
                <a:ext cx="14" cy="67"/>
              </a:xfrm>
              <a:custGeom>
                <a:avLst/>
                <a:gdLst>
                  <a:gd name="T0" fmla="*/ 1 w 27"/>
                  <a:gd name="T1" fmla="*/ 0 h 135"/>
                  <a:gd name="T2" fmla="*/ 0 w 27"/>
                  <a:gd name="T3" fmla="*/ 0 h 135"/>
                  <a:gd name="T4" fmla="*/ 1 w 27"/>
                  <a:gd name="T5" fmla="*/ 0 h 135"/>
                  <a:gd name="T6" fmla="*/ 1 w 27"/>
                  <a:gd name="T7" fmla="*/ 0 h 135"/>
                  <a:gd name="T8" fmla="*/ 1 w 27"/>
                  <a:gd name="T9" fmla="*/ 0 h 135"/>
                  <a:gd name="T10" fmla="*/ 1 w 27"/>
                  <a:gd name="T11" fmla="*/ 0 h 135"/>
                  <a:gd name="T12" fmla="*/ 1 w 27"/>
                  <a:gd name="T13" fmla="*/ 0 h 135"/>
                  <a:gd name="T14" fmla="*/ 1 w 27"/>
                  <a:gd name="T15" fmla="*/ 0 h 135"/>
                  <a:gd name="T16" fmla="*/ 1 w 27"/>
                  <a:gd name="T17" fmla="*/ 0 h 135"/>
                  <a:gd name="T18" fmla="*/ 1 w 27"/>
                  <a:gd name="T19" fmla="*/ 0 h 135"/>
                  <a:gd name="T20" fmla="*/ 0 w 27"/>
                  <a:gd name="T21" fmla="*/ 0 h 135"/>
                  <a:gd name="T22" fmla="*/ 1 w 27"/>
                  <a:gd name="T23" fmla="*/ 0 h 1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35"/>
                  <a:gd name="T38" fmla="*/ 27 w 27"/>
                  <a:gd name="T39" fmla="*/ 135 h 1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35">
                    <a:moveTo>
                      <a:pt x="4" y="4"/>
                    </a:moveTo>
                    <a:lnTo>
                      <a:pt x="0" y="11"/>
                    </a:lnTo>
                    <a:lnTo>
                      <a:pt x="5" y="135"/>
                    </a:lnTo>
                    <a:lnTo>
                      <a:pt x="27" y="135"/>
                    </a:lnTo>
                    <a:lnTo>
                      <a:pt x="22" y="11"/>
                    </a:lnTo>
                    <a:lnTo>
                      <a:pt x="19" y="19"/>
                    </a:lnTo>
                    <a:lnTo>
                      <a:pt x="22" y="11"/>
                    </a:lnTo>
                    <a:lnTo>
                      <a:pt x="19" y="4"/>
                    </a:lnTo>
                    <a:lnTo>
                      <a:pt x="11" y="0"/>
                    </a:lnTo>
                    <a:lnTo>
                      <a:pt x="4" y="4"/>
                    </a:lnTo>
                    <a:lnTo>
                      <a:pt x="0" y="11"/>
                    </a:lnTo>
                    <a:lnTo>
                      <a:pt x="4" y="4"/>
                    </a:lnTo>
                    <a:close/>
                  </a:path>
                </a:pathLst>
              </a:custGeom>
              <a:solidFill>
                <a:srgbClr val="000000"/>
              </a:solidFill>
              <a:ln w="9525">
                <a:noFill/>
                <a:round/>
                <a:headEnd/>
                <a:tailEnd/>
              </a:ln>
            </p:spPr>
            <p:txBody>
              <a:bodyPr/>
              <a:lstStyle/>
              <a:p>
                <a:endParaRPr lang="en-US"/>
              </a:p>
            </p:txBody>
          </p:sp>
          <p:sp>
            <p:nvSpPr>
              <p:cNvPr id="26774" name="Freeform 111"/>
              <p:cNvSpPr>
                <a:spLocks/>
              </p:cNvSpPr>
              <p:nvPr/>
            </p:nvSpPr>
            <p:spPr bwMode="auto">
              <a:xfrm>
                <a:off x="2132" y="3617"/>
                <a:ext cx="27" cy="25"/>
              </a:xfrm>
              <a:custGeom>
                <a:avLst/>
                <a:gdLst>
                  <a:gd name="T0" fmla="*/ 1 w 54"/>
                  <a:gd name="T1" fmla="*/ 1 h 50"/>
                  <a:gd name="T2" fmla="*/ 1 w 54"/>
                  <a:gd name="T3" fmla="*/ 1 h 50"/>
                  <a:gd name="T4" fmla="*/ 1 w 54"/>
                  <a:gd name="T5" fmla="*/ 0 h 50"/>
                  <a:gd name="T6" fmla="*/ 1 w 54"/>
                  <a:gd name="T7" fmla="*/ 1 h 50"/>
                  <a:gd name="T8" fmla="*/ 1 w 54"/>
                  <a:gd name="T9" fmla="*/ 1 h 50"/>
                  <a:gd name="T10" fmla="*/ 1 w 54"/>
                  <a:gd name="T11" fmla="*/ 1 h 50"/>
                  <a:gd name="T12" fmla="*/ 1 w 54"/>
                  <a:gd name="T13" fmla="*/ 1 h 50"/>
                  <a:gd name="T14" fmla="*/ 1 w 54"/>
                  <a:gd name="T15" fmla="*/ 1 h 50"/>
                  <a:gd name="T16" fmla="*/ 1 w 54"/>
                  <a:gd name="T17" fmla="*/ 1 h 50"/>
                  <a:gd name="T18" fmla="*/ 0 w 54"/>
                  <a:gd name="T19" fmla="*/ 1 h 50"/>
                  <a:gd name="T20" fmla="*/ 1 w 54"/>
                  <a:gd name="T21" fmla="*/ 1 h 50"/>
                  <a:gd name="T22" fmla="*/ 1 w 54"/>
                  <a:gd name="T23" fmla="*/ 1 h 50"/>
                  <a:gd name="T24" fmla="*/ 1 w 54"/>
                  <a:gd name="T25" fmla="*/ 1 h 50"/>
                  <a:gd name="T26" fmla="*/ 1 w 54"/>
                  <a:gd name="T27" fmla="*/ 1 h 50"/>
                  <a:gd name="T28" fmla="*/ 1 w 54"/>
                  <a:gd name="T29" fmla="*/ 1 h 50"/>
                  <a:gd name="T30" fmla="*/ 1 w 54"/>
                  <a:gd name="T31" fmla="*/ 1 h 50"/>
                  <a:gd name="T32" fmla="*/ 1 w 54"/>
                  <a:gd name="T33" fmla="*/ 1 h 50"/>
                  <a:gd name="T34" fmla="*/ 1 w 54"/>
                  <a:gd name="T35" fmla="*/ 1 h 50"/>
                  <a:gd name="T36" fmla="*/ 1 w 54"/>
                  <a:gd name="T37" fmla="*/ 1 h 50"/>
                  <a:gd name="T38" fmla="*/ 1 w 54"/>
                  <a:gd name="T39" fmla="*/ 1 h 50"/>
                  <a:gd name="T40" fmla="*/ 1 w 54"/>
                  <a:gd name="T41" fmla="*/ 1 h 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50"/>
                  <a:gd name="T65" fmla="*/ 54 w 54"/>
                  <a:gd name="T66" fmla="*/ 50 h 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50">
                    <a:moveTo>
                      <a:pt x="54" y="17"/>
                    </a:moveTo>
                    <a:lnTo>
                      <a:pt x="54" y="17"/>
                    </a:lnTo>
                    <a:lnTo>
                      <a:pt x="42" y="0"/>
                    </a:lnTo>
                    <a:lnTo>
                      <a:pt x="37" y="5"/>
                    </a:lnTo>
                    <a:lnTo>
                      <a:pt x="31" y="8"/>
                    </a:lnTo>
                    <a:lnTo>
                      <a:pt x="23" y="16"/>
                    </a:lnTo>
                    <a:lnTo>
                      <a:pt x="14" y="22"/>
                    </a:lnTo>
                    <a:lnTo>
                      <a:pt x="7" y="28"/>
                    </a:lnTo>
                    <a:lnTo>
                      <a:pt x="3" y="33"/>
                    </a:lnTo>
                    <a:lnTo>
                      <a:pt x="0" y="35"/>
                    </a:lnTo>
                    <a:lnTo>
                      <a:pt x="15" y="50"/>
                    </a:lnTo>
                    <a:lnTo>
                      <a:pt x="15" y="49"/>
                    </a:lnTo>
                    <a:lnTo>
                      <a:pt x="23" y="44"/>
                    </a:lnTo>
                    <a:lnTo>
                      <a:pt x="29" y="38"/>
                    </a:lnTo>
                    <a:lnTo>
                      <a:pt x="36" y="31"/>
                    </a:lnTo>
                    <a:lnTo>
                      <a:pt x="43" y="27"/>
                    </a:lnTo>
                    <a:lnTo>
                      <a:pt x="50" y="21"/>
                    </a:lnTo>
                    <a:lnTo>
                      <a:pt x="51" y="19"/>
                    </a:lnTo>
                    <a:lnTo>
                      <a:pt x="39" y="5"/>
                    </a:lnTo>
                    <a:lnTo>
                      <a:pt x="54" y="17"/>
                    </a:lnTo>
                    <a:close/>
                  </a:path>
                </a:pathLst>
              </a:custGeom>
              <a:solidFill>
                <a:srgbClr val="000000"/>
              </a:solidFill>
              <a:ln w="9525">
                <a:noFill/>
                <a:round/>
                <a:headEnd/>
                <a:tailEnd/>
              </a:ln>
            </p:spPr>
            <p:txBody>
              <a:bodyPr/>
              <a:lstStyle/>
              <a:p>
                <a:endParaRPr lang="en-US"/>
              </a:p>
            </p:txBody>
          </p:sp>
          <p:sp>
            <p:nvSpPr>
              <p:cNvPr id="26775" name="Freeform 112"/>
              <p:cNvSpPr>
                <a:spLocks/>
              </p:cNvSpPr>
              <p:nvPr/>
            </p:nvSpPr>
            <p:spPr bwMode="auto">
              <a:xfrm>
                <a:off x="2130" y="3619"/>
                <a:ext cx="29" cy="25"/>
              </a:xfrm>
              <a:custGeom>
                <a:avLst/>
                <a:gdLst>
                  <a:gd name="T0" fmla="*/ 1 w 58"/>
                  <a:gd name="T1" fmla="*/ 1 h 48"/>
                  <a:gd name="T2" fmla="*/ 1 w 58"/>
                  <a:gd name="T3" fmla="*/ 1 h 48"/>
                  <a:gd name="T4" fmla="*/ 1 w 58"/>
                  <a:gd name="T5" fmla="*/ 1 h 48"/>
                  <a:gd name="T6" fmla="*/ 1 w 58"/>
                  <a:gd name="T7" fmla="*/ 1 h 48"/>
                  <a:gd name="T8" fmla="*/ 1 w 58"/>
                  <a:gd name="T9" fmla="*/ 1 h 48"/>
                  <a:gd name="T10" fmla="*/ 1 w 58"/>
                  <a:gd name="T11" fmla="*/ 1 h 48"/>
                  <a:gd name="T12" fmla="*/ 1 w 58"/>
                  <a:gd name="T13" fmla="*/ 0 h 48"/>
                  <a:gd name="T14" fmla="*/ 1 w 58"/>
                  <a:gd name="T15" fmla="*/ 1 h 48"/>
                  <a:gd name="T16" fmla="*/ 1 w 58"/>
                  <a:gd name="T17" fmla="*/ 1 h 48"/>
                  <a:gd name="T18" fmla="*/ 1 w 58"/>
                  <a:gd name="T19" fmla="*/ 1 h 48"/>
                  <a:gd name="T20" fmla="*/ 1 w 58"/>
                  <a:gd name="T21" fmla="*/ 1 h 48"/>
                  <a:gd name="T22" fmla="*/ 1 w 58"/>
                  <a:gd name="T23" fmla="*/ 1 h 48"/>
                  <a:gd name="T24" fmla="*/ 1 w 58"/>
                  <a:gd name="T25" fmla="*/ 1 h 48"/>
                  <a:gd name="T26" fmla="*/ 0 w 58"/>
                  <a:gd name="T27" fmla="*/ 1 h 48"/>
                  <a:gd name="T28" fmla="*/ 1 w 58"/>
                  <a:gd name="T29" fmla="*/ 1 h 48"/>
                  <a:gd name="T30" fmla="*/ 1 w 58"/>
                  <a:gd name="T31" fmla="*/ 1 h 48"/>
                  <a:gd name="T32" fmla="*/ 1 w 58"/>
                  <a:gd name="T33" fmla="*/ 1 h 48"/>
                  <a:gd name="T34" fmla="*/ 1 w 58"/>
                  <a:gd name="T35" fmla="*/ 1 h 4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8"/>
                  <a:gd name="T55" fmla="*/ 0 h 48"/>
                  <a:gd name="T56" fmla="*/ 58 w 58"/>
                  <a:gd name="T57" fmla="*/ 48 h 4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8" h="48">
                    <a:moveTo>
                      <a:pt x="11" y="48"/>
                    </a:moveTo>
                    <a:lnTo>
                      <a:pt x="18" y="47"/>
                    </a:lnTo>
                    <a:lnTo>
                      <a:pt x="22" y="44"/>
                    </a:lnTo>
                    <a:lnTo>
                      <a:pt x="35" y="33"/>
                    </a:lnTo>
                    <a:lnTo>
                      <a:pt x="49" y="22"/>
                    </a:lnTo>
                    <a:lnTo>
                      <a:pt x="58" y="12"/>
                    </a:lnTo>
                    <a:lnTo>
                      <a:pt x="43" y="0"/>
                    </a:lnTo>
                    <a:lnTo>
                      <a:pt x="33" y="6"/>
                    </a:lnTo>
                    <a:lnTo>
                      <a:pt x="22" y="17"/>
                    </a:lnTo>
                    <a:lnTo>
                      <a:pt x="10" y="25"/>
                    </a:lnTo>
                    <a:lnTo>
                      <a:pt x="5" y="28"/>
                    </a:lnTo>
                    <a:lnTo>
                      <a:pt x="11" y="26"/>
                    </a:lnTo>
                    <a:lnTo>
                      <a:pt x="5" y="28"/>
                    </a:lnTo>
                    <a:lnTo>
                      <a:pt x="0" y="36"/>
                    </a:lnTo>
                    <a:lnTo>
                      <a:pt x="2" y="44"/>
                    </a:lnTo>
                    <a:lnTo>
                      <a:pt x="8" y="48"/>
                    </a:lnTo>
                    <a:lnTo>
                      <a:pt x="18" y="47"/>
                    </a:lnTo>
                    <a:lnTo>
                      <a:pt x="11" y="48"/>
                    </a:lnTo>
                    <a:close/>
                  </a:path>
                </a:pathLst>
              </a:custGeom>
              <a:solidFill>
                <a:srgbClr val="000000"/>
              </a:solidFill>
              <a:ln w="9525">
                <a:noFill/>
                <a:round/>
                <a:headEnd/>
                <a:tailEnd/>
              </a:ln>
            </p:spPr>
            <p:txBody>
              <a:bodyPr/>
              <a:lstStyle/>
              <a:p>
                <a:endParaRPr lang="en-US"/>
              </a:p>
            </p:txBody>
          </p:sp>
          <p:sp>
            <p:nvSpPr>
              <p:cNvPr id="26776" name="Freeform 113"/>
              <p:cNvSpPr>
                <a:spLocks/>
              </p:cNvSpPr>
              <p:nvPr/>
            </p:nvSpPr>
            <p:spPr bwMode="auto">
              <a:xfrm>
                <a:off x="2113" y="3633"/>
                <a:ext cx="23" cy="11"/>
              </a:xfrm>
              <a:custGeom>
                <a:avLst/>
                <a:gdLst>
                  <a:gd name="T0" fmla="*/ 1 w 45"/>
                  <a:gd name="T1" fmla="*/ 1 h 22"/>
                  <a:gd name="T2" fmla="*/ 1 w 45"/>
                  <a:gd name="T3" fmla="*/ 1 h 22"/>
                  <a:gd name="T4" fmla="*/ 1 w 45"/>
                  <a:gd name="T5" fmla="*/ 1 h 22"/>
                  <a:gd name="T6" fmla="*/ 1 w 45"/>
                  <a:gd name="T7" fmla="*/ 0 h 22"/>
                  <a:gd name="T8" fmla="*/ 1 w 45"/>
                  <a:gd name="T9" fmla="*/ 0 h 22"/>
                  <a:gd name="T10" fmla="*/ 1 w 45"/>
                  <a:gd name="T11" fmla="*/ 1 h 22"/>
                  <a:gd name="T12" fmla="*/ 1 w 45"/>
                  <a:gd name="T13" fmla="*/ 0 h 22"/>
                  <a:gd name="T14" fmla="*/ 1 w 45"/>
                  <a:gd name="T15" fmla="*/ 1 h 22"/>
                  <a:gd name="T16" fmla="*/ 0 w 45"/>
                  <a:gd name="T17" fmla="*/ 1 h 22"/>
                  <a:gd name="T18" fmla="*/ 1 w 45"/>
                  <a:gd name="T19" fmla="*/ 1 h 22"/>
                  <a:gd name="T20" fmla="*/ 1 w 45"/>
                  <a:gd name="T21" fmla="*/ 1 h 22"/>
                  <a:gd name="T22" fmla="*/ 1 w 45"/>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5"/>
                  <a:gd name="T37" fmla="*/ 0 h 22"/>
                  <a:gd name="T38" fmla="*/ 45 w 45"/>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5" h="22">
                    <a:moveTo>
                      <a:pt x="2" y="18"/>
                    </a:moveTo>
                    <a:lnTo>
                      <a:pt x="11" y="22"/>
                    </a:lnTo>
                    <a:lnTo>
                      <a:pt x="45" y="22"/>
                    </a:lnTo>
                    <a:lnTo>
                      <a:pt x="45" y="0"/>
                    </a:lnTo>
                    <a:lnTo>
                      <a:pt x="11" y="0"/>
                    </a:lnTo>
                    <a:lnTo>
                      <a:pt x="20" y="5"/>
                    </a:lnTo>
                    <a:lnTo>
                      <a:pt x="11" y="0"/>
                    </a:lnTo>
                    <a:lnTo>
                      <a:pt x="3" y="4"/>
                    </a:lnTo>
                    <a:lnTo>
                      <a:pt x="0" y="11"/>
                    </a:lnTo>
                    <a:lnTo>
                      <a:pt x="3" y="19"/>
                    </a:lnTo>
                    <a:lnTo>
                      <a:pt x="11" y="22"/>
                    </a:lnTo>
                    <a:lnTo>
                      <a:pt x="2" y="18"/>
                    </a:lnTo>
                    <a:close/>
                  </a:path>
                </a:pathLst>
              </a:custGeom>
              <a:solidFill>
                <a:srgbClr val="000000"/>
              </a:solidFill>
              <a:ln w="9525">
                <a:noFill/>
                <a:round/>
                <a:headEnd/>
                <a:tailEnd/>
              </a:ln>
            </p:spPr>
            <p:txBody>
              <a:bodyPr/>
              <a:lstStyle/>
              <a:p>
                <a:endParaRPr lang="en-US"/>
              </a:p>
            </p:txBody>
          </p:sp>
          <p:sp>
            <p:nvSpPr>
              <p:cNvPr id="26777" name="Freeform 114"/>
              <p:cNvSpPr>
                <a:spLocks/>
              </p:cNvSpPr>
              <p:nvPr/>
            </p:nvSpPr>
            <p:spPr bwMode="auto">
              <a:xfrm>
                <a:off x="2106" y="3623"/>
                <a:ext cx="17" cy="18"/>
              </a:xfrm>
              <a:custGeom>
                <a:avLst/>
                <a:gdLst>
                  <a:gd name="T0" fmla="*/ 0 w 34"/>
                  <a:gd name="T1" fmla="*/ 0 h 38"/>
                  <a:gd name="T2" fmla="*/ 0 w 34"/>
                  <a:gd name="T3" fmla="*/ 0 h 38"/>
                  <a:gd name="T4" fmla="*/ 1 w 34"/>
                  <a:gd name="T5" fmla="*/ 0 h 38"/>
                  <a:gd name="T6" fmla="*/ 1 w 34"/>
                  <a:gd name="T7" fmla="*/ 0 h 38"/>
                  <a:gd name="T8" fmla="*/ 1 w 34"/>
                  <a:gd name="T9" fmla="*/ 0 h 38"/>
                  <a:gd name="T10" fmla="*/ 1 w 34"/>
                  <a:gd name="T11" fmla="*/ 0 h 38"/>
                  <a:gd name="T12" fmla="*/ 1 w 34"/>
                  <a:gd name="T13" fmla="*/ 0 h 38"/>
                  <a:gd name="T14" fmla="*/ 1 w 34"/>
                  <a:gd name="T15" fmla="*/ 0 h 38"/>
                  <a:gd name="T16" fmla="*/ 1 w 34"/>
                  <a:gd name="T17" fmla="*/ 0 h 38"/>
                  <a:gd name="T18" fmla="*/ 1 w 34"/>
                  <a:gd name="T19" fmla="*/ 0 h 38"/>
                  <a:gd name="T20" fmla="*/ 1 w 34"/>
                  <a:gd name="T21" fmla="*/ 0 h 38"/>
                  <a:gd name="T22" fmla="*/ 1 w 34"/>
                  <a:gd name="T23" fmla="*/ 0 h 38"/>
                  <a:gd name="T24" fmla="*/ 0 w 34"/>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38"/>
                  <a:gd name="T41" fmla="*/ 34 w 34"/>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38">
                    <a:moveTo>
                      <a:pt x="0" y="13"/>
                    </a:moveTo>
                    <a:lnTo>
                      <a:pt x="0" y="13"/>
                    </a:lnTo>
                    <a:lnTo>
                      <a:pt x="5" y="20"/>
                    </a:lnTo>
                    <a:lnTo>
                      <a:pt x="9" y="28"/>
                    </a:lnTo>
                    <a:lnTo>
                      <a:pt x="14" y="35"/>
                    </a:lnTo>
                    <a:lnTo>
                      <a:pt x="16" y="38"/>
                    </a:lnTo>
                    <a:lnTo>
                      <a:pt x="34" y="25"/>
                    </a:lnTo>
                    <a:lnTo>
                      <a:pt x="33" y="22"/>
                    </a:lnTo>
                    <a:lnTo>
                      <a:pt x="28" y="16"/>
                    </a:lnTo>
                    <a:lnTo>
                      <a:pt x="23" y="8"/>
                    </a:lnTo>
                    <a:lnTo>
                      <a:pt x="16" y="0"/>
                    </a:lnTo>
                    <a:lnTo>
                      <a:pt x="0" y="13"/>
                    </a:lnTo>
                    <a:close/>
                  </a:path>
                </a:pathLst>
              </a:custGeom>
              <a:solidFill>
                <a:srgbClr val="000000"/>
              </a:solidFill>
              <a:ln w="9525">
                <a:noFill/>
                <a:round/>
                <a:headEnd/>
                <a:tailEnd/>
              </a:ln>
            </p:spPr>
            <p:txBody>
              <a:bodyPr/>
              <a:lstStyle/>
              <a:p>
                <a:endParaRPr lang="en-US"/>
              </a:p>
            </p:txBody>
          </p:sp>
          <p:sp>
            <p:nvSpPr>
              <p:cNvPr id="26778" name="Freeform 115"/>
              <p:cNvSpPr>
                <a:spLocks/>
              </p:cNvSpPr>
              <p:nvPr/>
            </p:nvSpPr>
            <p:spPr bwMode="auto">
              <a:xfrm>
                <a:off x="2096" y="3600"/>
                <a:ext cx="18" cy="29"/>
              </a:xfrm>
              <a:custGeom>
                <a:avLst/>
                <a:gdLst>
                  <a:gd name="T0" fmla="*/ 1 w 36"/>
                  <a:gd name="T1" fmla="*/ 1 h 58"/>
                  <a:gd name="T2" fmla="*/ 0 w 36"/>
                  <a:gd name="T3" fmla="*/ 1 h 58"/>
                  <a:gd name="T4" fmla="*/ 1 w 36"/>
                  <a:gd name="T5" fmla="*/ 1 h 58"/>
                  <a:gd name="T6" fmla="*/ 1 w 36"/>
                  <a:gd name="T7" fmla="*/ 1 h 58"/>
                  <a:gd name="T8" fmla="*/ 1 w 36"/>
                  <a:gd name="T9" fmla="*/ 1 h 58"/>
                  <a:gd name="T10" fmla="*/ 1 w 36"/>
                  <a:gd name="T11" fmla="*/ 1 h 58"/>
                  <a:gd name="T12" fmla="*/ 1 w 36"/>
                  <a:gd name="T13" fmla="*/ 1 h 58"/>
                  <a:gd name="T14" fmla="*/ 1 w 36"/>
                  <a:gd name="T15" fmla="*/ 1 h 58"/>
                  <a:gd name="T16" fmla="*/ 1 w 36"/>
                  <a:gd name="T17" fmla="*/ 1 h 58"/>
                  <a:gd name="T18" fmla="*/ 1 w 36"/>
                  <a:gd name="T19" fmla="*/ 1 h 58"/>
                  <a:gd name="T20" fmla="*/ 1 w 36"/>
                  <a:gd name="T21" fmla="*/ 1 h 58"/>
                  <a:gd name="T22" fmla="*/ 1 w 36"/>
                  <a:gd name="T23" fmla="*/ 1 h 58"/>
                  <a:gd name="T24" fmla="*/ 1 w 36"/>
                  <a:gd name="T25" fmla="*/ 1 h 58"/>
                  <a:gd name="T26" fmla="*/ 1 w 36"/>
                  <a:gd name="T27" fmla="*/ 1 h 58"/>
                  <a:gd name="T28" fmla="*/ 1 w 36"/>
                  <a:gd name="T29" fmla="*/ 0 h 58"/>
                  <a:gd name="T30" fmla="*/ 1 w 36"/>
                  <a:gd name="T31" fmla="*/ 1 h 58"/>
                  <a:gd name="T32" fmla="*/ 0 w 36"/>
                  <a:gd name="T33" fmla="*/ 1 h 58"/>
                  <a:gd name="T34" fmla="*/ 1 w 36"/>
                  <a:gd name="T35" fmla="*/ 1 h 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6"/>
                  <a:gd name="T55" fmla="*/ 0 h 58"/>
                  <a:gd name="T56" fmla="*/ 36 w 36"/>
                  <a:gd name="T57" fmla="*/ 58 h 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6" h="58">
                    <a:moveTo>
                      <a:pt x="1" y="6"/>
                    </a:moveTo>
                    <a:lnTo>
                      <a:pt x="0" y="14"/>
                    </a:lnTo>
                    <a:lnTo>
                      <a:pt x="1" y="19"/>
                    </a:lnTo>
                    <a:lnTo>
                      <a:pt x="6" y="31"/>
                    </a:lnTo>
                    <a:lnTo>
                      <a:pt x="12" y="45"/>
                    </a:lnTo>
                    <a:lnTo>
                      <a:pt x="20" y="58"/>
                    </a:lnTo>
                    <a:lnTo>
                      <a:pt x="36" y="45"/>
                    </a:lnTo>
                    <a:lnTo>
                      <a:pt x="31" y="36"/>
                    </a:lnTo>
                    <a:lnTo>
                      <a:pt x="28" y="25"/>
                    </a:lnTo>
                    <a:lnTo>
                      <a:pt x="23" y="12"/>
                    </a:lnTo>
                    <a:lnTo>
                      <a:pt x="21" y="8"/>
                    </a:lnTo>
                    <a:lnTo>
                      <a:pt x="20" y="15"/>
                    </a:lnTo>
                    <a:lnTo>
                      <a:pt x="21" y="8"/>
                    </a:lnTo>
                    <a:lnTo>
                      <a:pt x="17" y="1"/>
                    </a:lnTo>
                    <a:lnTo>
                      <a:pt x="9" y="0"/>
                    </a:lnTo>
                    <a:lnTo>
                      <a:pt x="1" y="4"/>
                    </a:lnTo>
                    <a:lnTo>
                      <a:pt x="0" y="14"/>
                    </a:lnTo>
                    <a:lnTo>
                      <a:pt x="1" y="6"/>
                    </a:lnTo>
                    <a:close/>
                  </a:path>
                </a:pathLst>
              </a:custGeom>
              <a:solidFill>
                <a:srgbClr val="000000"/>
              </a:solidFill>
              <a:ln w="9525">
                <a:noFill/>
                <a:round/>
                <a:headEnd/>
                <a:tailEnd/>
              </a:ln>
            </p:spPr>
            <p:txBody>
              <a:bodyPr/>
              <a:lstStyle/>
              <a:p>
                <a:endParaRPr lang="en-US"/>
              </a:p>
            </p:txBody>
          </p:sp>
          <p:sp>
            <p:nvSpPr>
              <p:cNvPr id="26779" name="Freeform 116"/>
              <p:cNvSpPr>
                <a:spLocks/>
              </p:cNvSpPr>
              <p:nvPr/>
            </p:nvSpPr>
            <p:spPr bwMode="auto">
              <a:xfrm>
                <a:off x="2097" y="3581"/>
                <a:ext cx="22" cy="27"/>
              </a:xfrm>
              <a:custGeom>
                <a:avLst/>
                <a:gdLst>
                  <a:gd name="T0" fmla="*/ 0 w 45"/>
                  <a:gd name="T1" fmla="*/ 0 h 53"/>
                  <a:gd name="T2" fmla="*/ 0 w 45"/>
                  <a:gd name="T3" fmla="*/ 1 h 53"/>
                  <a:gd name="T4" fmla="*/ 0 w 45"/>
                  <a:gd name="T5" fmla="*/ 1 h 53"/>
                  <a:gd name="T6" fmla="*/ 0 w 45"/>
                  <a:gd name="T7" fmla="*/ 1 h 53"/>
                  <a:gd name="T8" fmla="*/ 0 w 45"/>
                  <a:gd name="T9" fmla="*/ 1 h 53"/>
                  <a:gd name="T10" fmla="*/ 0 w 45"/>
                  <a:gd name="T11" fmla="*/ 1 h 53"/>
                  <a:gd name="T12" fmla="*/ 0 w 45"/>
                  <a:gd name="T13" fmla="*/ 1 h 53"/>
                  <a:gd name="T14" fmla="*/ 0 w 45"/>
                  <a:gd name="T15" fmla="*/ 1 h 53"/>
                  <a:gd name="T16" fmla="*/ 0 w 45"/>
                  <a:gd name="T17" fmla="*/ 1 h 53"/>
                  <a:gd name="T18" fmla="*/ 0 w 45"/>
                  <a:gd name="T19" fmla="*/ 1 h 53"/>
                  <a:gd name="T20" fmla="*/ 0 w 45"/>
                  <a:gd name="T21" fmla="*/ 1 h 53"/>
                  <a:gd name="T22" fmla="*/ 0 w 45"/>
                  <a:gd name="T23" fmla="*/ 1 h 53"/>
                  <a:gd name="T24" fmla="*/ 0 w 45"/>
                  <a:gd name="T25" fmla="*/ 0 h 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53"/>
                  <a:gd name="T41" fmla="*/ 45 w 45"/>
                  <a:gd name="T42" fmla="*/ 53 h 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53">
                    <a:moveTo>
                      <a:pt x="30" y="0"/>
                    </a:moveTo>
                    <a:lnTo>
                      <a:pt x="30" y="2"/>
                    </a:lnTo>
                    <a:lnTo>
                      <a:pt x="17" y="16"/>
                    </a:lnTo>
                    <a:lnTo>
                      <a:pt x="8" y="28"/>
                    </a:lnTo>
                    <a:lnTo>
                      <a:pt x="2" y="41"/>
                    </a:lnTo>
                    <a:lnTo>
                      <a:pt x="0" y="44"/>
                    </a:lnTo>
                    <a:lnTo>
                      <a:pt x="19" y="53"/>
                    </a:lnTo>
                    <a:lnTo>
                      <a:pt x="20" y="50"/>
                    </a:lnTo>
                    <a:lnTo>
                      <a:pt x="27" y="41"/>
                    </a:lnTo>
                    <a:lnTo>
                      <a:pt x="36" y="28"/>
                    </a:lnTo>
                    <a:lnTo>
                      <a:pt x="45" y="14"/>
                    </a:lnTo>
                    <a:lnTo>
                      <a:pt x="45" y="16"/>
                    </a:lnTo>
                    <a:lnTo>
                      <a:pt x="30" y="0"/>
                    </a:lnTo>
                    <a:close/>
                  </a:path>
                </a:pathLst>
              </a:custGeom>
              <a:solidFill>
                <a:srgbClr val="000000"/>
              </a:solidFill>
              <a:ln w="9525">
                <a:noFill/>
                <a:round/>
                <a:headEnd/>
                <a:tailEnd/>
              </a:ln>
            </p:spPr>
            <p:txBody>
              <a:bodyPr/>
              <a:lstStyle/>
              <a:p>
                <a:endParaRPr lang="en-US"/>
              </a:p>
            </p:txBody>
          </p:sp>
          <p:sp>
            <p:nvSpPr>
              <p:cNvPr id="26780" name="Freeform 117"/>
              <p:cNvSpPr>
                <a:spLocks/>
              </p:cNvSpPr>
              <p:nvPr/>
            </p:nvSpPr>
            <p:spPr bwMode="auto">
              <a:xfrm>
                <a:off x="2111" y="3531"/>
                <a:ext cx="43" cy="58"/>
              </a:xfrm>
              <a:custGeom>
                <a:avLst/>
                <a:gdLst>
                  <a:gd name="T0" fmla="*/ 1 w 86"/>
                  <a:gd name="T1" fmla="*/ 0 h 116"/>
                  <a:gd name="T2" fmla="*/ 1 w 86"/>
                  <a:gd name="T3" fmla="*/ 0 h 116"/>
                  <a:gd name="T4" fmla="*/ 1 w 86"/>
                  <a:gd name="T5" fmla="*/ 1 h 116"/>
                  <a:gd name="T6" fmla="*/ 1 w 86"/>
                  <a:gd name="T7" fmla="*/ 1 h 116"/>
                  <a:gd name="T8" fmla="*/ 1 w 86"/>
                  <a:gd name="T9" fmla="*/ 1 h 116"/>
                  <a:gd name="T10" fmla="*/ 1 w 86"/>
                  <a:gd name="T11" fmla="*/ 1 h 116"/>
                  <a:gd name="T12" fmla="*/ 1 w 86"/>
                  <a:gd name="T13" fmla="*/ 1 h 116"/>
                  <a:gd name="T14" fmla="*/ 1 w 86"/>
                  <a:gd name="T15" fmla="*/ 1 h 116"/>
                  <a:gd name="T16" fmla="*/ 1 w 86"/>
                  <a:gd name="T17" fmla="*/ 1 h 116"/>
                  <a:gd name="T18" fmla="*/ 0 w 86"/>
                  <a:gd name="T19" fmla="*/ 1 h 116"/>
                  <a:gd name="T20" fmla="*/ 1 w 86"/>
                  <a:gd name="T21" fmla="*/ 1 h 116"/>
                  <a:gd name="T22" fmla="*/ 1 w 86"/>
                  <a:gd name="T23" fmla="*/ 1 h 116"/>
                  <a:gd name="T24" fmla="*/ 1 w 86"/>
                  <a:gd name="T25" fmla="*/ 1 h 116"/>
                  <a:gd name="T26" fmla="*/ 1 w 86"/>
                  <a:gd name="T27" fmla="*/ 1 h 116"/>
                  <a:gd name="T28" fmla="*/ 1 w 86"/>
                  <a:gd name="T29" fmla="*/ 1 h 116"/>
                  <a:gd name="T30" fmla="*/ 1 w 86"/>
                  <a:gd name="T31" fmla="*/ 1 h 116"/>
                  <a:gd name="T32" fmla="*/ 1 w 86"/>
                  <a:gd name="T33" fmla="*/ 1 h 116"/>
                  <a:gd name="T34" fmla="*/ 1 w 86"/>
                  <a:gd name="T35" fmla="*/ 1 h 116"/>
                  <a:gd name="T36" fmla="*/ 1 w 86"/>
                  <a:gd name="T37" fmla="*/ 1 h 116"/>
                  <a:gd name="T38" fmla="*/ 1 w 86"/>
                  <a:gd name="T39" fmla="*/ 1 h 116"/>
                  <a:gd name="T40" fmla="*/ 1 w 86"/>
                  <a:gd name="T41" fmla="*/ 0 h 1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6"/>
                  <a:gd name="T64" fmla="*/ 0 h 116"/>
                  <a:gd name="T65" fmla="*/ 86 w 86"/>
                  <a:gd name="T66" fmla="*/ 116 h 1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6" h="116">
                    <a:moveTo>
                      <a:pt x="70" y="0"/>
                    </a:moveTo>
                    <a:lnTo>
                      <a:pt x="70" y="0"/>
                    </a:lnTo>
                    <a:lnTo>
                      <a:pt x="62" y="9"/>
                    </a:lnTo>
                    <a:lnTo>
                      <a:pt x="55" y="20"/>
                    </a:lnTo>
                    <a:lnTo>
                      <a:pt x="45" y="35"/>
                    </a:lnTo>
                    <a:lnTo>
                      <a:pt x="34" y="49"/>
                    </a:lnTo>
                    <a:lnTo>
                      <a:pt x="25" y="66"/>
                    </a:lnTo>
                    <a:lnTo>
                      <a:pt x="14" y="80"/>
                    </a:lnTo>
                    <a:lnTo>
                      <a:pt x="6" y="92"/>
                    </a:lnTo>
                    <a:lnTo>
                      <a:pt x="0" y="100"/>
                    </a:lnTo>
                    <a:lnTo>
                      <a:pt x="15" y="116"/>
                    </a:lnTo>
                    <a:lnTo>
                      <a:pt x="25" y="105"/>
                    </a:lnTo>
                    <a:lnTo>
                      <a:pt x="33" y="92"/>
                    </a:lnTo>
                    <a:lnTo>
                      <a:pt x="44" y="78"/>
                    </a:lnTo>
                    <a:lnTo>
                      <a:pt x="53" y="61"/>
                    </a:lnTo>
                    <a:lnTo>
                      <a:pt x="64" y="47"/>
                    </a:lnTo>
                    <a:lnTo>
                      <a:pt x="73" y="33"/>
                    </a:lnTo>
                    <a:lnTo>
                      <a:pt x="81" y="22"/>
                    </a:lnTo>
                    <a:lnTo>
                      <a:pt x="86" y="16"/>
                    </a:lnTo>
                    <a:lnTo>
                      <a:pt x="70" y="0"/>
                    </a:lnTo>
                    <a:close/>
                  </a:path>
                </a:pathLst>
              </a:custGeom>
              <a:solidFill>
                <a:srgbClr val="000000"/>
              </a:solidFill>
              <a:ln w="9525">
                <a:noFill/>
                <a:round/>
                <a:headEnd/>
                <a:tailEnd/>
              </a:ln>
            </p:spPr>
            <p:txBody>
              <a:bodyPr/>
              <a:lstStyle/>
              <a:p>
                <a:endParaRPr lang="en-US"/>
              </a:p>
            </p:txBody>
          </p:sp>
          <p:sp>
            <p:nvSpPr>
              <p:cNvPr id="26781" name="Freeform 118"/>
              <p:cNvSpPr>
                <a:spLocks/>
              </p:cNvSpPr>
              <p:nvPr/>
            </p:nvSpPr>
            <p:spPr bwMode="auto">
              <a:xfrm>
                <a:off x="2147" y="3522"/>
                <a:ext cx="29" cy="17"/>
              </a:xfrm>
              <a:custGeom>
                <a:avLst/>
                <a:gdLst>
                  <a:gd name="T0" fmla="*/ 0 w 60"/>
                  <a:gd name="T1" fmla="*/ 1 h 33"/>
                  <a:gd name="T2" fmla="*/ 0 w 60"/>
                  <a:gd name="T3" fmla="*/ 0 h 33"/>
                  <a:gd name="T4" fmla="*/ 0 w 60"/>
                  <a:gd name="T5" fmla="*/ 0 h 33"/>
                  <a:gd name="T6" fmla="*/ 0 w 60"/>
                  <a:gd name="T7" fmla="*/ 1 h 33"/>
                  <a:gd name="T8" fmla="*/ 0 w 60"/>
                  <a:gd name="T9" fmla="*/ 1 h 33"/>
                  <a:gd name="T10" fmla="*/ 0 w 60"/>
                  <a:gd name="T11" fmla="*/ 1 h 33"/>
                  <a:gd name="T12" fmla="*/ 0 w 60"/>
                  <a:gd name="T13" fmla="*/ 1 h 33"/>
                  <a:gd name="T14" fmla="*/ 0 w 60"/>
                  <a:gd name="T15" fmla="*/ 1 h 33"/>
                  <a:gd name="T16" fmla="*/ 0 w 60"/>
                  <a:gd name="T17" fmla="*/ 1 h 33"/>
                  <a:gd name="T18" fmla="*/ 0 w 60"/>
                  <a:gd name="T19" fmla="*/ 1 h 33"/>
                  <a:gd name="T20" fmla="*/ 0 w 60"/>
                  <a:gd name="T21" fmla="*/ 1 h 33"/>
                  <a:gd name="T22" fmla="*/ 0 w 60"/>
                  <a:gd name="T23" fmla="*/ 1 h 33"/>
                  <a:gd name="T24" fmla="*/ 0 w 60"/>
                  <a:gd name="T25" fmla="*/ 1 h 33"/>
                  <a:gd name="T26" fmla="*/ 0 w 60"/>
                  <a:gd name="T27" fmla="*/ 1 h 33"/>
                  <a:gd name="T28" fmla="*/ 0 w 60"/>
                  <a:gd name="T29" fmla="*/ 1 h 33"/>
                  <a:gd name="T30" fmla="*/ 0 w 60"/>
                  <a:gd name="T31" fmla="*/ 1 h 33"/>
                  <a:gd name="T32" fmla="*/ 0 w 60"/>
                  <a:gd name="T33" fmla="*/ 0 h 33"/>
                  <a:gd name="T34" fmla="*/ 0 w 60"/>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33"/>
                  <a:gd name="T56" fmla="*/ 60 w 60"/>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33">
                    <a:moveTo>
                      <a:pt x="54" y="1"/>
                    </a:moveTo>
                    <a:lnTo>
                      <a:pt x="49" y="0"/>
                    </a:lnTo>
                    <a:lnTo>
                      <a:pt x="43" y="0"/>
                    </a:lnTo>
                    <a:lnTo>
                      <a:pt x="30" y="1"/>
                    </a:lnTo>
                    <a:lnTo>
                      <a:pt x="16" y="8"/>
                    </a:lnTo>
                    <a:lnTo>
                      <a:pt x="0" y="17"/>
                    </a:lnTo>
                    <a:lnTo>
                      <a:pt x="16" y="33"/>
                    </a:lnTo>
                    <a:lnTo>
                      <a:pt x="25" y="26"/>
                    </a:lnTo>
                    <a:lnTo>
                      <a:pt x="36" y="23"/>
                    </a:lnTo>
                    <a:lnTo>
                      <a:pt x="46" y="22"/>
                    </a:lnTo>
                    <a:lnTo>
                      <a:pt x="49" y="22"/>
                    </a:lnTo>
                    <a:lnTo>
                      <a:pt x="44" y="20"/>
                    </a:lnTo>
                    <a:lnTo>
                      <a:pt x="49" y="22"/>
                    </a:lnTo>
                    <a:lnTo>
                      <a:pt x="57" y="19"/>
                    </a:lnTo>
                    <a:lnTo>
                      <a:pt x="60" y="11"/>
                    </a:lnTo>
                    <a:lnTo>
                      <a:pt x="57" y="3"/>
                    </a:lnTo>
                    <a:lnTo>
                      <a:pt x="49" y="0"/>
                    </a:lnTo>
                    <a:lnTo>
                      <a:pt x="54" y="1"/>
                    </a:lnTo>
                    <a:close/>
                  </a:path>
                </a:pathLst>
              </a:custGeom>
              <a:solidFill>
                <a:srgbClr val="000000"/>
              </a:solidFill>
              <a:ln w="9525">
                <a:noFill/>
                <a:round/>
                <a:headEnd/>
                <a:tailEnd/>
              </a:ln>
            </p:spPr>
            <p:txBody>
              <a:bodyPr/>
              <a:lstStyle/>
              <a:p>
                <a:endParaRPr lang="en-US"/>
              </a:p>
            </p:txBody>
          </p:sp>
          <p:sp>
            <p:nvSpPr>
              <p:cNvPr id="26782" name="Freeform 119"/>
              <p:cNvSpPr>
                <a:spLocks/>
              </p:cNvSpPr>
              <p:nvPr/>
            </p:nvSpPr>
            <p:spPr bwMode="auto">
              <a:xfrm>
                <a:off x="2169" y="3523"/>
                <a:ext cx="18" cy="14"/>
              </a:xfrm>
              <a:custGeom>
                <a:avLst/>
                <a:gdLst>
                  <a:gd name="T0" fmla="*/ 0 w 38"/>
                  <a:gd name="T1" fmla="*/ 0 h 29"/>
                  <a:gd name="T2" fmla="*/ 0 w 38"/>
                  <a:gd name="T3" fmla="*/ 0 h 29"/>
                  <a:gd name="T4" fmla="*/ 0 w 38"/>
                  <a:gd name="T5" fmla="*/ 0 h 29"/>
                  <a:gd name="T6" fmla="*/ 0 w 38"/>
                  <a:gd name="T7" fmla="*/ 0 h 29"/>
                  <a:gd name="T8" fmla="*/ 0 w 38"/>
                  <a:gd name="T9" fmla="*/ 0 h 29"/>
                  <a:gd name="T10" fmla="*/ 0 w 38"/>
                  <a:gd name="T11" fmla="*/ 0 h 29"/>
                  <a:gd name="T12" fmla="*/ 0 w 38"/>
                  <a:gd name="T13" fmla="*/ 0 h 29"/>
                  <a:gd name="T14" fmla="*/ 0 w 38"/>
                  <a:gd name="T15" fmla="*/ 0 h 29"/>
                  <a:gd name="T16" fmla="*/ 0 w 38"/>
                  <a:gd name="T17" fmla="*/ 0 h 29"/>
                  <a:gd name="T18" fmla="*/ 0 w 38"/>
                  <a:gd name="T19" fmla="*/ 0 h 29"/>
                  <a:gd name="T20" fmla="*/ 0 w 38"/>
                  <a:gd name="T21" fmla="*/ 0 h 29"/>
                  <a:gd name="T22" fmla="*/ 0 w 38"/>
                  <a:gd name="T23" fmla="*/ 0 h 29"/>
                  <a:gd name="T24" fmla="*/ 0 w 38"/>
                  <a:gd name="T25" fmla="*/ 0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29"/>
                  <a:gd name="T41" fmla="*/ 38 w 38"/>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29">
                    <a:moveTo>
                      <a:pt x="38" y="7"/>
                    </a:moveTo>
                    <a:lnTo>
                      <a:pt x="38" y="7"/>
                    </a:lnTo>
                    <a:lnTo>
                      <a:pt x="27" y="5"/>
                    </a:lnTo>
                    <a:lnTo>
                      <a:pt x="17" y="2"/>
                    </a:lnTo>
                    <a:lnTo>
                      <a:pt x="11" y="0"/>
                    </a:lnTo>
                    <a:lnTo>
                      <a:pt x="10" y="0"/>
                    </a:lnTo>
                    <a:lnTo>
                      <a:pt x="0" y="19"/>
                    </a:lnTo>
                    <a:lnTo>
                      <a:pt x="5" y="22"/>
                    </a:lnTo>
                    <a:lnTo>
                      <a:pt x="11" y="24"/>
                    </a:lnTo>
                    <a:lnTo>
                      <a:pt x="24" y="27"/>
                    </a:lnTo>
                    <a:lnTo>
                      <a:pt x="35" y="29"/>
                    </a:lnTo>
                    <a:lnTo>
                      <a:pt x="38" y="7"/>
                    </a:lnTo>
                    <a:close/>
                  </a:path>
                </a:pathLst>
              </a:custGeom>
              <a:solidFill>
                <a:srgbClr val="000000"/>
              </a:solidFill>
              <a:ln w="9525">
                <a:noFill/>
                <a:round/>
                <a:headEnd/>
                <a:tailEnd/>
              </a:ln>
            </p:spPr>
            <p:txBody>
              <a:bodyPr/>
              <a:lstStyle/>
              <a:p>
                <a:endParaRPr lang="en-US"/>
              </a:p>
            </p:txBody>
          </p:sp>
          <p:sp>
            <p:nvSpPr>
              <p:cNvPr id="26783" name="Freeform 120"/>
              <p:cNvSpPr>
                <a:spLocks/>
              </p:cNvSpPr>
              <p:nvPr/>
            </p:nvSpPr>
            <p:spPr bwMode="auto">
              <a:xfrm>
                <a:off x="2186" y="3520"/>
                <a:ext cx="38" cy="17"/>
              </a:xfrm>
              <a:custGeom>
                <a:avLst/>
                <a:gdLst>
                  <a:gd name="T0" fmla="*/ 1 w 76"/>
                  <a:gd name="T1" fmla="*/ 0 h 35"/>
                  <a:gd name="T2" fmla="*/ 1 w 76"/>
                  <a:gd name="T3" fmla="*/ 0 h 35"/>
                  <a:gd name="T4" fmla="*/ 1 w 76"/>
                  <a:gd name="T5" fmla="*/ 0 h 35"/>
                  <a:gd name="T6" fmla="*/ 1 w 76"/>
                  <a:gd name="T7" fmla="*/ 0 h 35"/>
                  <a:gd name="T8" fmla="*/ 1 w 76"/>
                  <a:gd name="T9" fmla="*/ 0 h 35"/>
                  <a:gd name="T10" fmla="*/ 1 w 76"/>
                  <a:gd name="T11" fmla="*/ 0 h 35"/>
                  <a:gd name="T12" fmla="*/ 1 w 76"/>
                  <a:gd name="T13" fmla="*/ 0 h 35"/>
                  <a:gd name="T14" fmla="*/ 1 w 76"/>
                  <a:gd name="T15" fmla="*/ 0 h 35"/>
                  <a:gd name="T16" fmla="*/ 1 w 76"/>
                  <a:gd name="T17" fmla="*/ 0 h 35"/>
                  <a:gd name="T18" fmla="*/ 1 w 76"/>
                  <a:gd name="T19" fmla="*/ 0 h 35"/>
                  <a:gd name="T20" fmla="*/ 0 w 76"/>
                  <a:gd name="T21" fmla="*/ 0 h 35"/>
                  <a:gd name="T22" fmla="*/ 1 w 76"/>
                  <a:gd name="T23" fmla="*/ 0 h 35"/>
                  <a:gd name="T24" fmla="*/ 1 w 76"/>
                  <a:gd name="T25" fmla="*/ 0 h 35"/>
                  <a:gd name="T26" fmla="*/ 1 w 76"/>
                  <a:gd name="T27" fmla="*/ 0 h 35"/>
                  <a:gd name="T28" fmla="*/ 1 w 76"/>
                  <a:gd name="T29" fmla="*/ 0 h 35"/>
                  <a:gd name="T30" fmla="*/ 1 w 76"/>
                  <a:gd name="T31" fmla="*/ 0 h 35"/>
                  <a:gd name="T32" fmla="*/ 1 w 76"/>
                  <a:gd name="T33" fmla="*/ 0 h 35"/>
                  <a:gd name="T34" fmla="*/ 1 w 76"/>
                  <a:gd name="T35" fmla="*/ 0 h 35"/>
                  <a:gd name="T36" fmla="*/ 1 w 76"/>
                  <a:gd name="T37" fmla="*/ 0 h 35"/>
                  <a:gd name="T38" fmla="*/ 1 w 76"/>
                  <a:gd name="T39" fmla="*/ 0 h 35"/>
                  <a:gd name="T40" fmla="*/ 1 w 76"/>
                  <a:gd name="T41" fmla="*/ 0 h 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35"/>
                  <a:gd name="T65" fmla="*/ 76 w 76"/>
                  <a:gd name="T66" fmla="*/ 35 h 3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35">
                    <a:moveTo>
                      <a:pt x="70" y="0"/>
                    </a:moveTo>
                    <a:lnTo>
                      <a:pt x="70" y="0"/>
                    </a:lnTo>
                    <a:lnTo>
                      <a:pt x="62" y="3"/>
                    </a:lnTo>
                    <a:lnTo>
                      <a:pt x="53" y="5"/>
                    </a:lnTo>
                    <a:lnTo>
                      <a:pt x="42" y="8"/>
                    </a:lnTo>
                    <a:lnTo>
                      <a:pt x="34" y="10"/>
                    </a:lnTo>
                    <a:lnTo>
                      <a:pt x="25" y="11"/>
                    </a:lnTo>
                    <a:lnTo>
                      <a:pt x="15" y="13"/>
                    </a:lnTo>
                    <a:lnTo>
                      <a:pt x="7" y="13"/>
                    </a:lnTo>
                    <a:lnTo>
                      <a:pt x="3" y="13"/>
                    </a:lnTo>
                    <a:lnTo>
                      <a:pt x="0" y="35"/>
                    </a:lnTo>
                    <a:lnTo>
                      <a:pt x="7" y="35"/>
                    </a:lnTo>
                    <a:lnTo>
                      <a:pt x="18" y="35"/>
                    </a:lnTo>
                    <a:lnTo>
                      <a:pt x="28" y="33"/>
                    </a:lnTo>
                    <a:lnTo>
                      <a:pt x="37" y="31"/>
                    </a:lnTo>
                    <a:lnTo>
                      <a:pt x="48" y="30"/>
                    </a:lnTo>
                    <a:lnTo>
                      <a:pt x="59" y="27"/>
                    </a:lnTo>
                    <a:lnTo>
                      <a:pt x="68" y="25"/>
                    </a:lnTo>
                    <a:lnTo>
                      <a:pt x="76" y="22"/>
                    </a:lnTo>
                    <a:lnTo>
                      <a:pt x="70" y="0"/>
                    </a:lnTo>
                    <a:close/>
                  </a:path>
                </a:pathLst>
              </a:custGeom>
              <a:solidFill>
                <a:srgbClr val="000000"/>
              </a:solidFill>
              <a:ln w="9525">
                <a:noFill/>
                <a:round/>
                <a:headEnd/>
                <a:tailEnd/>
              </a:ln>
            </p:spPr>
            <p:txBody>
              <a:bodyPr/>
              <a:lstStyle/>
              <a:p>
                <a:endParaRPr lang="en-US"/>
              </a:p>
            </p:txBody>
          </p:sp>
          <p:sp>
            <p:nvSpPr>
              <p:cNvPr id="26784" name="Freeform 121"/>
              <p:cNvSpPr>
                <a:spLocks/>
              </p:cNvSpPr>
              <p:nvPr/>
            </p:nvSpPr>
            <p:spPr bwMode="auto">
              <a:xfrm>
                <a:off x="2221" y="3511"/>
                <a:ext cx="21" cy="20"/>
              </a:xfrm>
              <a:custGeom>
                <a:avLst/>
                <a:gdLst>
                  <a:gd name="T0" fmla="*/ 1 w 42"/>
                  <a:gd name="T1" fmla="*/ 0 h 41"/>
                  <a:gd name="T2" fmla="*/ 1 w 42"/>
                  <a:gd name="T3" fmla="*/ 0 h 41"/>
                  <a:gd name="T4" fmla="*/ 1 w 42"/>
                  <a:gd name="T5" fmla="*/ 0 h 41"/>
                  <a:gd name="T6" fmla="*/ 1 w 42"/>
                  <a:gd name="T7" fmla="*/ 0 h 41"/>
                  <a:gd name="T8" fmla="*/ 1 w 42"/>
                  <a:gd name="T9" fmla="*/ 0 h 41"/>
                  <a:gd name="T10" fmla="*/ 0 w 42"/>
                  <a:gd name="T11" fmla="*/ 0 h 41"/>
                  <a:gd name="T12" fmla="*/ 1 w 42"/>
                  <a:gd name="T13" fmla="*/ 0 h 41"/>
                  <a:gd name="T14" fmla="*/ 1 w 42"/>
                  <a:gd name="T15" fmla="*/ 0 h 41"/>
                  <a:gd name="T16" fmla="*/ 1 w 42"/>
                  <a:gd name="T17" fmla="*/ 0 h 41"/>
                  <a:gd name="T18" fmla="*/ 1 w 42"/>
                  <a:gd name="T19" fmla="*/ 0 h 41"/>
                  <a:gd name="T20" fmla="*/ 1 w 42"/>
                  <a:gd name="T21" fmla="*/ 0 h 41"/>
                  <a:gd name="T22" fmla="*/ 1 w 42"/>
                  <a:gd name="T23" fmla="*/ 0 h 41"/>
                  <a:gd name="T24" fmla="*/ 1 w 42"/>
                  <a:gd name="T25" fmla="*/ 0 h 41"/>
                  <a:gd name="T26" fmla="*/ 1 w 42"/>
                  <a:gd name="T27" fmla="*/ 0 h 41"/>
                  <a:gd name="T28" fmla="*/ 1 w 42"/>
                  <a:gd name="T29" fmla="*/ 0 h 41"/>
                  <a:gd name="T30" fmla="*/ 1 w 42"/>
                  <a:gd name="T31" fmla="*/ 0 h 41"/>
                  <a:gd name="T32" fmla="*/ 1 w 42"/>
                  <a:gd name="T33" fmla="*/ 0 h 41"/>
                  <a:gd name="T34" fmla="*/ 1 w 42"/>
                  <a:gd name="T35" fmla="*/ 0 h 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2"/>
                  <a:gd name="T55" fmla="*/ 0 h 41"/>
                  <a:gd name="T56" fmla="*/ 42 w 42"/>
                  <a:gd name="T57" fmla="*/ 41 h 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2" h="41">
                    <a:moveTo>
                      <a:pt x="22" y="18"/>
                    </a:moveTo>
                    <a:lnTo>
                      <a:pt x="22" y="5"/>
                    </a:lnTo>
                    <a:lnTo>
                      <a:pt x="19" y="8"/>
                    </a:lnTo>
                    <a:lnTo>
                      <a:pt x="11" y="14"/>
                    </a:lnTo>
                    <a:lnTo>
                      <a:pt x="0" y="19"/>
                    </a:lnTo>
                    <a:lnTo>
                      <a:pt x="6" y="41"/>
                    </a:lnTo>
                    <a:lnTo>
                      <a:pt x="20" y="33"/>
                    </a:lnTo>
                    <a:lnTo>
                      <a:pt x="31" y="27"/>
                    </a:lnTo>
                    <a:lnTo>
                      <a:pt x="38" y="21"/>
                    </a:lnTo>
                    <a:lnTo>
                      <a:pt x="41" y="18"/>
                    </a:lnTo>
                    <a:lnTo>
                      <a:pt x="41" y="5"/>
                    </a:lnTo>
                    <a:lnTo>
                      <a:pt x="41" y="18"/>
                    </a:lnTo>
                    <a:lnTo>
                      <a:pt x="42" y="8"/>
                    </a:lnTo>
                    <a:lnTo>
                      <a:pt x="38" y="2"/>
                    </a:lnTo>
                    <a:lnTo>
                      <a:pt x="30" y="0"/>
                    </a:lnTo>
                    <a:lnTo>
                      <a:pt x="22" y="5"/>
                    </a:lnTo>
                    <a:lnTo>
                      <a:pt x="22" y="18"/>
                    </a:lnTo>
                    <a:close/>
                  </a:path>
                </a:pathLst>
              </a:custGeom>
              <a:solidFill>
                <a:srgbClr val="000000"/>
              </a:solidFill>
              <a:ln w="9525">
                <a:noFill/>
                <a:round/>
                <a:headEnd/>
                <a:tailEnd/>
              </a:ln>
            </p:spPr>
            <p:txBody>
              <a:bodyPr/>
              <a:lstStyle/>
              <a:p>
                <a:endParaRPr lang="en-US"/>
              </a:p>
            </p:txBody>
          </p:sp>
          <p:sp>
            <p:nvSpPr>
              <p:cNvPr id="26785" name="Freeform 122"/>
              <p:cNvSpPr>
                <a:spLocks/>
              </p:cNvSpPr>
              <p:nvPr/>
            </p:nvSpPr>
            <p:spPr bwMode="auto">
              <a:xfrm>
                <a:off x="2227" y="3501"/>
                <a:ext cx="14" cy="18"/>
              </a:xfrm>
              <a:custGeom>
                <a:avLst/>
                <a:gdLst>
                  <a:gd name="T0" fmla="*/ 1 w 28"/>
                  <a:gd name="T1" fmla="*/ 0 h 38"/>
                  <a:gd name="T2" fmla="*/ 1 w 28"/>
                  <a:gd name="T3" fmla="*/ 0 h 38"/>
                  <a:gd name="T4" fmla="*/ 0 w 28"/>
                  <a:gd name="T5" fmla="*/ 0 h 38"/>
                  <a:gd name="T6" fmla="*/ 1 w 28"/>
                  <a:gd name="T7" fmla="*/ 0 h 38"/>
                  <a:gd name="T8" fmla="*/ 1 w 28"/>
                  <a:gd name="T9" fmla="*/ 0 h 38"/>
                  <a:gd name="T10" fmla="*/ 1 w 28"/>
                  <a:gd name="T11" fmla="*/ 0 h 38"/>
                  <a:gd name="T12" fmla="*/ 1 w 28"/>
                  <a:gd name="T13" fmla="*/ 0 h 38"/>
                  <a:gd name="T14" fmla="*/ 1 w 28"/>
                  <a:gd name="T15" fmla="*/ 0 h 38"/>
                  <a:gd name="T16" fmla="*/ 1 w 28"/>
                  <a:gd name="T17" fmla="*/ 0 h 38"/>
                  <a:gd name="T18" fmla="*/ 1 w 28"/>
                  <a:gd name="T19" fmla="*/ 0 h 38"/>
                  <a:gd name="T20" fmla="*/ 1 w 28"/>
                  <a:gd name="T21" fmla="*/ 0 h 38"/>
                  <a:gd name="T22" fmla="*/ 1 w 28"/>
                  <a:gd name="T23" fmla="*/ 0 h 38"/>
                  <a:gd name="T24" fmla="*/ 1 w 28"/>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8"/>
                  <a:gd name="T41" fmla="*/ 28 w 28"/>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8">
                    <a:moveTo>
                      <a:pt x="7" y="2"/>
                    </a:moveTo>
                    <a:lnTo>
                      <a:pt x="9" y="0"/>
                    </a:lnTo>
                    <a:lnTo>
                      <a:pt x="0" y="16"/>
                    </a:lnTo>
                    <a:lnTo>
                      <a:pt x="4" y="27"/>
                    </a:lnTo>
                    <a:lnTo>
                      <a:pt x="7" y="33"/>
                    </a:lnTo>
                    <a:lnTo>
                      <a:pt x="9" y="38"/>
                    </a:lnTo>
                    <a:lnTo>
                      <a:pt x="28" y="25"/>
                    </a:lnTo>
                    <a:lnTo>
                      <a:pt x="26" y="24"/>
                    </a:lnTo>
                    <a:lnTo>
                      <a:pt x="23" y="17"/>
                    </a:lnTo>
                    <a:lnTo>
                      <a:pt x="21" y="13"/>
                    </a:lnTo>
                    <a:lnTo>
                      <a:pt x="15" y="22"/>
                    </a:lnTo>
                    <a:lnTo>
                      <a:pt x="17" y="20"/>
                    </a:lnTo>
                    <a:lnTo>
                      <a:pt x="7" y="2"/>
                    </a:lnTo>
                    <a:close/>
                  </a:path>
                </a:pathLst>
              </a:custGeom>
              <a:solidFill>
                <a:srgbClr val="000000"/>
              </a:solidFill>
              <a:ln w="9525">
                <a:noFill/>
                <a:round/>
                <a:headEnd/>
                <a:tailEnd/>
              </a:ln>
            </p:spPr>
            <p:txBody>
              <a:bodyPr/>
              <a:lstStyle/>
              <a:p>
                <a:endParaRPr lang="en-US"/>
              </a:p>
            </p:txBody>
          </p:sp>
          <p:sp>
            <p:nvSpPr>
              <p:cNvPr id="26786" name="Freeform 123"/>
              <p:cNvSpPr>
                <a:spLocks/>
              </p:cNvSpPr>
              <p:nvPr/>
            </p:nvSpPr>
            <p:spPr bwMode="auto">
              <a:xfrm>
                <a:off x="2231" y="3500"/>
                <a:ext cx="29" cy="14"/>
              </a:xfrm>
              <a:custGeom>
                <a:avLst/>
                <a:gdLst>
                  <a:gd name="T0" fmla="*/ 1 w 58"/>
                  <a:gd name="T1" fmla="*/ 0 h 29"/>
                  <a:gd name="T2" fmla="*/ 1 w 58"/>
                  <a:gd name="T3" fmla="*/ 0 h 29"/>
                  <a:gd name="T4" fmla="*/ 1 w 58"/>
                  <a:gd name="T5" fmla="*/ 0 h 29"/>
                  <a:gd name="T6" fmla="*/ 1 w 58"/>
                  <a:gd name="T7" fmla="*/ 0 h 29"/>
                  <a:gd name="T8" fmla="*/ 1 w 58"/>
                  <a:gd name="T9" fmla="*/ 0 h 29"/>
                  <a:gd name="T10" fmla="*/ 1 w 58"/>
                  <a:gd name="T11" fmla="*/ 0 h 29"/>
                  <a:gd name="T12" fmla="*/ 1 w 58"/>
                  <a:gd name="T13" fmla="*/ 0 h 29"/>
                  <a:gd name="T14" fmla="*/ 1 w 58"/>
                  <a:gd name="T15" fmla="*/ 0 h 29"/>
                  <a:gd name="T16" fmla="*/ 1 w 58"/>
                  <a:gd name="T17" fmla="*/ 0 h 29"/>
                  <a:gd name="T18" fmla="*/ 0 w 58"/>
                  <a:gd name="T19" fmla="*/ 0 h 29"/>
                  <a:gd name="T20" fmla="*/ 1 w 58"/>
                  <a:gd name="T21" fmla="*/ 0 h 29"/>
                  <a:gd name="T22" fmla="*/ 1 w 58"/>
                  <a:gd name="T23" fmla="*/ 0 h 29"/>
                  <a:gd name="T24" fmla="*/ 1 w 58"/>
                  <a:gd name="T25" fmla="*/ 0 h 29"/>
                  <a:gd name="T26" fmla="*/ 1 w 58"/>
                  <a:gd name="T27" fmla="*/ 0 h 29"/>
                  <a:gd name="T28" fmla="*/ 1 w 58"/>
                  <a:gd name="T29" fmla="*/ 0 h 29"/>
                  <a:gd name="T30" fmla="*/ 1 w 58"/>
                  <a:gd name="T31" fmla="*/ 0 h 29"/>
                  <a:gd name="T32" fmla="*/ 1 w 58"/>
                  <a:gd name="T33" fmla="*/ 0 h 29"/>
                  <a:gd name="T34" fmla="*/ 1 w 58"/>
                  <a:gd name="T35" fmla="*/ 0 h 29"/>
                  <a:gd name="T36" fmla="*/ 1 w 58"/>
                  <a:gd name="T37" fmla="*/ 0 h 29"/>
                  <a:gd name="T38" fmla="*/ 1 w 58"/>
                  <a:gd name="T39" fmla="*/ 0 h 29"/>
                  <a:gd name="T40" fmla="*/ 1 w 58"/>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29"/>
                  <a:gd name="T65" fmla="*/ 58 w 58"/>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29">
                    <a:moveTo>
                      <a:pt x="58" y="10"/>
                    </a:moveTo>
                    <a:lnTo>
                      <a:pt x="58" y="10"/>
                    </a:lnTo>
                    <a:lnTo>
                      <a:pt x="52" y="7"/>
                    </a:lnTo>
                    <a:lnTo>
                      <a:pt x="46" y="5"/>
                    </a:lnTo>
                    <a:lnTo>
                      <a:pt x="38" y="4"/>
                    </a:lnTo>
                    <a:lnTo>
                      <a:pt x="30" y="2"/>
                    </a:lnTo>
                    <a:lnTo>
                      <a:pt x="22" y="2"/>
                    </a:lnTo>
                    <a:lnTo>
                      <a:pt x="16" y="0"/>
                    </a:lnTo>
                    <a:lnTo>
                      <a:pt x="7" y="0"/>
                    </a:lnTo>
                    <a:lnTo>
                      <a:pt x="0" y="4"/>
                    </a:lnTo>
                    <a:lnTo>
                      <a:pt x="10" y="22"/>
                    </a:lnTo>
                    <a:lnTo>
                      <a:pt x="13" y="22"/>
                    </a:lnTo>
                    <a:lnTo>
                      <a:pt x="19" y="24"/>
                    </a:lnTo>
                    <a:lnTo>
                      <a:pt x="27" y="24"/>
                    </a:lnTo>
                    <a:lnTo>
                      <a:pt x="32" y="26"/>
                    </a:lnTo>
                    <a:lnTo>
                      <a:pt x="40" y="27"/>
                    </a:lnTo>
                    <a:lnTo>
                      <a:pt x="46" y="29"/>
                    </a:lnTo>
                    <a:lnTo>
                      <a:pt x="49" y="29"/>
                    </a:lnTo>
                    <a:lnTo>
                      <a:pt x="58" y="10"/>
                    </a:lnTo>
                    <a:close/>
                  </a:path>
                </a:pathLst>
              </a:custGeom>
              <a:solidFill>
                <a:srgbClr val="000000"/>
              </a:solidFill>
              <a:ln w="9525">
                <a:noFill/>
                <a:round/>
                <a:headEnd/>
                <a:tailEnd/>
              </a:ln>
            </p:spPr>
            <p:txBody>
              <a:bodyPr/>
              <a:lstStyle/>
              <a:p>
                <a:endParaRPr lang="en-US"/>
              </a:p>
            </p:txBody>
          </p:sp>
          <p:sp>
            <p:nvSpPr>
              <p:cNvPr id="26787" name="Freeform 124"/>
              <p:cNvSpPr>
                <a:spLocks/>
              </p:cNvSpPr>
              <p:nvPr/>
            </p:nvSpPr>
            <p:spPr bwMode="auto">
              <a:xfrm>
                <a:off x="2254" y="3504"/>
                <a:ext cx="13" cy="59"/>
              </a:xfrm>
              <a:custGeom>
                <a:avLst/>
                <a:gdLst>
                  <a:gd name="T0" fmla="*/ 1 w 26"/>
                  <a:gd name="T1" fmla="*/ 1 h 117"/>
                  <a:gd name="T2" fmla="*/ 1 w 26"/>
                  <a:gd name="T3" fmla="*/ 1 h 117"/>
                  <a:gd name="T4" fmla="*/ 1 w 26"/>
                  <a:gd name="T5" fmla="*/ 1 h 117"/>
                  <a:gd name="T6" fmla="*/ 1 w 26"/>
                  <a:gd name="T7" fmla="*/ 1 h 117"/>
                  <a:gd name="T8" fmla="*/ 1 w 26"/>
                  <a:gd name="T9" fmla="*/ 1 h 117"/>
                  <a:gd name="T10" fmla="*/ 1 w 26"/>
                  <a:gd name="T11" fmla="*/ 1 h 117"/>
                  <a:gd name="T12" fmla="*/ 1 w 26"/>
                  <a:gd name="T13" fmla="*/ 1 h 117"/>
                  <a:gd name="T14" fmla="*/ 1 w 26"/>
                  <a:gd name="T15" fmla="*/ 1 h 117"/>
                  <a:gd name="T16" fmla="*/ 1 w 26"/>
                  <a:gd name="T17" fmla="*/ 1 h 117"/>
                  <a:gd name="T18" fmla="*/ 1 w 26"/>
                  <a:gd name="T19" fmla="*/ 0 h 117"/>
                  <a:gd name="T20" fmla="*/ 1 w 26"/>
                  <a:gd name="T21" fmla="*/ 1 h 117"/>
                  <a:gd name="T22" fmla="*/ 0 w 26"/>
                  <a:gd name="T23" fmla="*/ 1 h 117"/>
                  <a:gd name="T24" fmla="*/ 1 w 26"/>
                  <a:gd name="T25" fmla="*/ 1 h 117"/>
                  <a:gd name="T26" fmla="*/ 1 w 26"/>
                  <a:gd name="T27" fmla="*/ 1 h 117"/>
                  <a:gd name="T28" fmla="*/ 1 w 26"/>
                  <a:gd name="T29" fmla="*/ 1 h 117"/>
                  <a:gd name="T30" fmla="*/ 1 w 26"/>
                  <a:gd name="T31" fmla="*/ 1 h 117"/>
                  <a:gd name="T32" fmla="*/ 1 w 26"/>
                  <a:gd name="T33" fmla="*/ 1 h 117"/>
                  <a:gd name="T34" fmla="*/ 1 w 26"/>
                  <a:gd name="T35" fmla="*/ 1 h 117"/>
                  <a:gd name="T36" fmla="*/ 1 w 26"/>
                  <a:gd name="T37" fmla="*/ 1 h 117"/>
                  <a:gd name="T38" fmla="*/ 1 w 26"/>
                  <a:gd name="T39" fmla="*/ 1 h 117"/>
                  <a:gd name="T40" fmla="*/ 1 w 26"/>
                  <a:gd name="T41" fmla="*/ 1 h 117"/>
                  <a:gd name="T42" fmla="*/ 1 w 26"/>
                  <a:gd name="T43" fmla="*/ 1 h 117"/>
                  <a:gd name="T44" fmla="*/ 1 w 26"/>
                  <a:gd name="T45" fmla="*/ 1 h 117"/>
                  <a:gd name="T46" fmla="*/ 1 w 26"/>
                  <a:gd name="T47" fmla="*/ 1 h 117"/>
                  <a:gd name="T48" fmla="*/ 1 w 26"/>
                  <a:gd name="T49" fmla="*/ 1 h 1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
                  <a:gd name="T76" fmla="*/ 0 h 117"/>
                  <a:gd name="T77" fmla="*/ 26 w 26"/>
                  <a:gd name="T78" fmla="*/ 117 h 11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 h="117">
                    <a:moveTo>
                      <a:pt x="26" y="106"/>
                    </a:moveTo>
                    <a:lnTo>
                      <a:pt x="26" y="106"/>
                    </a:lnTo>
                    <a:lnTo>
                      <a:pt x="26" y="102"/>
                    </a:lnTo>
                    <a:lnTo>
                      <a:pt x="26" y="92"/>
                    </a:lnTo>
                    <a:lnTo>
                      <a:pt x="26" y="77"/>
                    </a:lnTo>
                    <a:lnTo>
                      <a:pt x="26" y="59"/>
                    </a:lnTo>
                    <a:lnTo>
                      <a:pt x="25" y="41"/>
                    </a:lnTo>
                    <a:lnTo>
                      <a:pt x="23" y="25"/>
                    </a:lnTo>
                    <a:lnTo>
                      <a:pt x="22" y="12"/>
                    </a:lnTo>
                    <a:lnTo>
                      <a:pt x="12" y="0"/>
                    </a:lnTo>
                    <a:lnTo>
                      <a:pt x="3" y="19"/>
                    </a:lnTo>
                    <a:lnTo>
                      <a:pt x="0" y="19"/>
                    </a:lnTo>
                    <a:lnTo>
                      <a:pt x="1" y="28"/>
                    </a:lnTo>
                    <a:lnTo>
                      <a:pt x="3" y="44"/>
                    </a:lnTo>
                    <a:lnTo>
                      <a:pt x="4" y="59"/>
                    </a:lnTo>
                    <a:lnTo>
                      <a:pt x="4" y="77"/>
                    </a:lnTo>
                    <a:lnTo>
                      <a:pt x="4" y="92"/>
                    </a:lnTo>
                    <a:lnTo>
                      <a:pt x="4" y="102"/>
                    </a:lnTo>
                    <a:lnTo>
                      <a:pt x="4" y="106"/>
                    </a:lnTo>
                    <a:lnTo>
                      <a:pt x="8" y="114"/>
                    </a:lnTo>
                    <a:lnTo>
                      <a:pt x="15" y="117"/>
                    </a:lnTo>
                    <a:lnTo>
                      <a:pt x="23" y="114"/>
                    </a:lnTo>
                    <a:lnTo>
                      <a:pt x="26" y="106"/>
                    </a:lnTo>
                    <a:close/>
                  </a:path>
                </a:pathLst>
              </a:custGeom>
              <a:solidFill>
                <a:srgbClr val="000000"/>
              </a:solidFill>
              <a:ln w="9525">
                <a:noFill/>
                <a:round/>
                <a:headEnd/>
                <a:tailEnd/>
              </a:ln>
            </p:spPr>
            <p:txBody>
              <a:bodyPr/>
              <a:lstStyle/>
              <a:p>
                <a:endParaRPr lang="en-US"/>
              </a:p>
            </p:txBody>
          </p:sp>
          <p:sp>
            <p:nvSpPr>
              <p:cNvPr id="26788" name="Freeform 125"/>
              <p:cNvSpPr>
                <a:spLocks/>
              </p:cNvSpPr>
              <p:nvPr/>
            </p:nvSpPr>
            <p:spPr bwMode="auto">
              <a:xfrm>
                <a:off x="2215" y="3558"/>
                <a:ext cx="52" cy="194"/>
              </a:xfrm>
              <a:custGeom>
                <a:avLst/>
                <a:gdLst>
                  <a:gd name="T0" fmla="*/ 1 w 104"/>
                  <a:gd name="T1" fmla="*/ 1 h 388"/>
                  <a:gd name="T2" fmla="*/ 1 w 104"/>
                  <a:gd name="T3" fmla="*/ 1 h 388"/>
                  <a:gd name="T4" fmla="*/ 1 w 104"/>
                  <a:gd name="T5" fmla="*/ 1 h 388"/>
                  <a:gd name="T6" fmla="*/ 1 w 104"/>
                  <a:gd name="T7" fmla="*/ 1 h 388"/>
                  <a:gd name="T8" fmla="*/ 1 w 104"/>
                  <a:gd name="T9" fmla="*/ 1 h 388"/>
                  <a:gd name="T10" fmla="*/ 1 w 104"/>
                  <a:gd name="T11" fmla="*/ 1 h 388"/>
                  <a:gd name="T12" fmla="*/ 1 w 104"/>
                  <a:gd name="T13" fmla="*/ 1 h 388"/>
                  <a:gd name="T14" fmla="*/ 1 w 104"/>
                  <a:gd name="T15" fmla="*/ 1 h 388"/>
                  <a:gd name="T16" fmla="*/ 1 w 104"/>
                  <a:gd name="T17" fmla="*/ 1 h 388"/>
                  <a:gd name="T18" fmla="*/ 1 w 104"/>
                  <a:gd name="T19" fmla="*/ 1 h 388"/>
                  <a:gd name="T20" fmla="*/ 1 w 104"/>
                  <a:gd name="T21" fmla="*/ 1 h 388"/>
                  <a:gd name="T22" fmla="*/ 1 w 104"/>
                  <a:gd name="T23" fmla="*/ 1 h 388"/>
                  <a:gd name="T24" fmla="*/ 1 w 104"/>
                  <a:gd name="T25" fmla="*/ 1 h 388"/>
                  <a:gd name="T26" fmla="*/ 1 w 104"/>
                  <a:gd name="T27" fmla="*/ 1 h 388"/>
                  <a:gd name="T28" fmla="*/ 1 w 104"/>
                  <a:gd name="T29" fmla="*/ 1 h 388"/>
                  <a:gd name="T30" fmla="*/ 1 w 104"/>
                  <a:gd name="T31" fmla="*/ 1 h 388"/>
                  <a:gd name="T32" fmla="*/ 1 w 104"/>
                  <a:gd name="T33" fmla="*/ 1 h 388"/>
                  <a:gd name="T34" fmla="*/ 1 w 104"/>
                  <a:gd name="T35" fmla="*/ 0 h 388"/>
                  <a:gd name="T36" fmla="*/ 1 w 104"/>
                  <a:gd name="T37" fmla="*/ 0 h 388"/>
                  <a:gd name="T38" fmla="*/ 1 w 104"/>
                  <a:gd name="T39" fmla="*/ 1 h 388"/>
                  <a:gd name="T40" fmla="*/ 1 w 104"/>
                  <a:gd name="T41" fmla="*/ 1 h 388"/>
                  <a:gd name="T42" fmla="*/ 1 w 104"/>
                  <a:gd name="T43" fmla="*/ 1 h 388"/>
                  <a:gd name="T44" fmla="*/ 1 w 104"/>
                  <a:gd name="T45" fmla="*/ 1 h 388"/>
                  <a:gd name="T46" fmla="*/ 1 w 104"/>
                  <a:gd name="T47" fmla="*/ 1 h 388"/>
                  <a:gd name="T48" fmla="*/ 1 w 104"/>
                  <a:gd name="T49" fmla="*/ 1 h 388"/>
                  <a:gd name="T50" fmla="*/ 1 w 104"/>
                  <a:gd name="T51" fmla="*/ 1 h 388"/>
                  <a:gd name="T52" fmla="*/ 1 w 104"/>
                  <a:gd name="T53" fmla="*/ 1 h 388"/>
                  <a:gd name="T54" fmla="*/ 1 w 104"/>
                  <a:gd name="T55" fmla="*/ 1 h 388"/>
                  <a:gd name="T56" fmla="*/ 1 w 104"/>
                  <a:gd name="T57" fmla="*/ 1 h 388"/>
                  <a:gd name="T58" fmla="*/ 1 w 104"/>
                  <a:gd name="T59" fmla="*/ 1 h 388"/>
                  <a:gd name="T60" fmla="*/ 1 w 104"/>
                  <a:gd name="T61" fmla="*/ 1 h 388"/>
                  <a:gd name="T62" fmla="*/ 1 w 104"/>
                  <a:gd name="T63" fmla="*/ 1 h 388"/>
                  <a:gd name="T64" fmla="*/ 1 w 104"/>
                  <a:gd name="T65" fmla="*/ 1 h 388"/>
                  <a:gd name="T66" fmla="*/ 1 w 104"/>
                  <a:gd name="T67" fmla="*/ 1 h 388"/>
                  <a:gd name="T68" fmla="*/ 0 w 104"/>
                  <a:gd name="T69" fmla="*/ 1 h 388"/>
                  <a:gd name="T70" fmla="*/ 0 w 104"/>
                  <a:gd name="T71" fmla="*/ 1 h 388"/>
                  <a:gd name="T72" fmla="*/ 1 w 104"/>
                  <a:gd name="T73" fmla="*/ 1 h 3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4"/>
                  <a:gd name="T112" fmla="*/ 0 h 388"/>
                  <a:gd name="T113" fmla="*/ 104 w 104"/>
                  <a:gd name="T114" fmla="*/ 388 h 3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4" h="388">
                    <a:moveTo>
                      <a:pt x="3" y="388"/>
                    </a:moveTo>
                    <a:lnTo>
                      <a:pt x="3" y="388"/>
                    </a:lnTo>
                    <a:lnTo>
                      <a:pt x="23" y="379"/>
                    </a:lnTo>
                    <a:lnTo>
                      <a:pt x="39" y="362"/>
                    </a:lnTo>
                    <a:lnTo>
                      <a:pt x="53" y="341"/>
                    </a:lnTo>
                    <a:lnTo>
                      <a:pt x="65" y="315"/>
                    </a:lnTo>
                    <a:lnTo>
                      <a:pt x="73" y="285"/>
                    </a:lnTo>
                    <a:lnTo>
                      <a:pt x="81" y="252"/>
                    </a:lnTo>
                    <a:lnTo>
                      <a:pt x="87" y="218"/>
                    </a:lnTo>
                    <a:lnTo>
                      <a:pt x="92" y="183"/>
                    </a:lnTo>
                    <a:lnTo>
                      <a:pt x="97" y="149"/>
                    </a:lnTo>
                    <a:lnTo>
                      <a:pt x="100" y="116"/>
                    </a:lnTo>
                    <a:lnTo>
                      <a:pt x="101" y="85"/>
                    </a:lnTo>
                    <a:lnTo>
                      <a:pt x="103" y="57"/>
                    </a:lnTo>
                    <a:lnTo>
                      <a:pt x="104" y="33"/>
                    </a:lnTo>
                    <a:lnTo>
                      <a:pt x="104" y="16"/>
                    </a:lnTo>
                    <a:lnTo>
                      <a:pt x="104" y="5"/>
                    </a:lnTo>
                    <a:lnTo>
                      <a:pt x="104" y="0"/>
                    </a:lnTo>
                    <a:lnTo>
                      <a:pt x="82" y="0"/>
                    </a:lnTo>
                    <a:lnTo>
                      <a:pt x="82" y="5"/>
                    </a:lnTo>
                    <a:lnTo>
                      <a:pt x="82" y="16"/>
                    </a:lnTo>
                    <a:lnTo>
                      <a:pt x="82" y="33"/>
                    </a:lnTo>
                    <a:lnTo>
                      <a:pt x="81" y="57"/>
                    </a:lnTo>
                    <a:lnTo>
                      <a:pt x="79" y="85"/>
                    </a:lnTo>
                    <a:lnTo>
                      <a:pt x="78" y="113"/>
                    </a:lnTo>
                    <a:lnTo>
                      <a:pt x="75" y="146"/>
                    </a:lnTo>
                    <a:lnTo>
                      <a:pt x="70" y="180"/>
                    </a:lnTo>
                    <a:lnTo>
                      <a:pt x="65" y="215"/>
                    </a:lnTo>
                    <a:lnTo>
                      <a:pt x="59" y="249"/>
                    </a:lnTo>
                    <a:lnTo>
                      <a:pt x="51" y="279"/>
                    </a:lnTo>
                    <a:lnTo>
                      <a:pt x="43" y="308"/>
                    </a:lnTo>
                    <a:lnTo>
                      <a:pt x="34" y="332"/>
                    </a:lnTo>
                    <a:lnTo>
                      <a:pt x="23" y="349"/>
                    </a:lnTo>
                    <a:lnTo>
                      <a:pt x="10" y="360"/>
                    </a:lnTo>
                    <a:lnTo>
                      <a:pt x="0" y="366"/>
                    </a:lnTo>
                    <a:lnTo>
                      <a:pt x="3" y="388"/>
                    </a:lnTo>
                    <a:close/>
                  </a:path>
                </a:pathLst>
              </a:custGeom>
              <a:solidFill>
                <a:srgbClr val="000000"/>
              </a:solidFill>
              <a:ln w="9525">
                <a:noFill/>
                <a:round/>
                <a:headEnd/>
                <a:tailEnd/>
              </a:ln>
            </p:spPr>
            <p:txBody>
              <a:bodyPr/>
              <a:lstStyle/>
              <a:p>
                <a:endParaRPr lang="en-US"/>
              </a:p>
            </p:txBody>
          </p:sp>
          <p:sp>
            <p:nvSpPr>
              <p:cNvPr id="26789" name="Freeform 126"/>
              <p:cNvSpPr>
                <a:spLocks/>
              </p:cNvSpPr>
              <p:nvPr/>
            </p:nvSpPr>
            <p:spPr bwMode="auto">
              <a:xfrm>
                <a:off x="2108" y="3741"/>
                <a:ext cx="108" cy="19"/>
              </a:xfrm>
              <a:custGeom>
                <a:avLst/>
                <a:gdLst>
                  <a:gd name="T0" fmla="*/ 0 w 216"/>
                  <a:gd name="T1" fmla="*/ 0 h 40"/>
                  <a:gd name="T2" fmla="*/ 0 w 216"/>
                  <a:gd name="T3" fmla="*/ 0 h 40"/>
                  <a:gd name="T4" fmla="*/ 1 w 216"/>
                  <a:gd name="T5" fmla="*/ 0 h 40"/>
                  <a:gd name="T6" fmla="*/ 1 w 216"/>
                  <a:gd name="T7" fmla="*/ 0 h 40"/>
                  <a:gd name="T8" fmla="*/ 1 w 216"/>
                  <a:gd name="T9" fmla="*/ 0 h 40"/>
                  <a:gd name="T10" fmla="*/ 1 w 216"/>
                  <a:gd name="T11" fmla="*/ 0 h 40"/>
                  <a:gd name="T12" fmla="*/ 1 w 216"/>
                  <a:gd name="T13" fmla="*/ 0 h 40"/>
                  <a:gd name="T14" fmla="*/ 1 w 216"/>
                  <a:gd name="T15" fmla="*/ 0 h 40"/>
                  <a:gd name="T16" fmla="*/ 1 w 216"/>
                  <a:gd name="T17" fmla="*/ 0 h 40"/>
                  <a:gd name="T18" fmla="*/ 1 w 216"/>
                  <a:gd name="T19" fmla="*/ 0 h 40"/>
                  <a:gd name="T20" fmla="*/ 1 w 216"/>
                  <a:gd name="T21" fmla="*/ 0 h 40"/>
                  <a:gd name="T22" fmla="*/ 1 w 216"/>
                  <a:gd name="T23" fmla="*/ 0 h 40"/>
                  <a:gd name="T24" fmla="*/ 1 w 216"/>
                  <a:gd name="T25" fmla="*/ 0 h 40"/>
                  <a:gd name="T26" fmla="*/ 1 w 216"/>
                  <a:gd name="T27" fmla="*/ 0 h 40"/>
                  <a:gd name="T28" fmla="*/ 1 w 216"/>
                  <a:gd name="T29" fmla="*/ 0 h 40"/>
                  <a:gd name="T30" fmla="*/ 1 w 216"/>
                  <a:gd name="T31" fmla="*/ 0 h 40"/>
                  <a:gd name="T32" fmla="*/ 1 w 216"/>
                  <a:gd name="T33" fmla="*/ 0 h 40"/>
                  <a:gd name="T34" fmla="*/ 1 w 216"/>
                  <a:gd name="T35" fmla="*/ 0 h 40"/>
                  <a:gd name="T36" fmla="*/ 1 w 216"/>
                  <a:gd name="T37" fmla="*/ 0 h 40"/>
                  <a:gd name="T38" fmla="*/ 1 w 216"/>
                  <a:gd name="T39" fmla="*/ 0 h 40"/>
                  <a:gd name="T40" fmla="*/ 0 w 216"/>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6"/>
                  <a:gd name="T64" fmla="*/ 0 h 40"/>
                  <a:gd name="T65" fmla="*/ 216 w 216"/>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6" h="40">
                    <a:moveTo>
                      <a:pt x="0" y="30"/>
                    </a:moveTo>
                    <a:lnTo>
                      <a:pt x="0" y="30"/>
                    </a:lnTo>
                    <a:lnTo>
                      <a:pt x="21" y="35"/>
                    </a:lnTo>
                    <a:lnTo>
                      <a:pt x="43" y="38"/>
                    </a:lnTo>
                    <a:lnTo>
                      <a:pt x="68" y="40"/>
                    </a:lnTo>
                    <a:lnTo>
                      <a:pt x="94" y="38"/>
                    </a:lnTo>
                    <a:lnTo>
                      <a:pt x="123" y="36"/>
                    </a:lnTo>
                    <a:lnTo>
                      <a:pt x="151" y="33"/>
                    </a:lnTo>
                    <a:lnTo>
                      <a:pt x="183" y="29"/>
                    </a:lnTo>
                    <a:lnTo>
                      <a:pt x="216" y="22"/>
                    </a:lnTo>
                    <a:lnTo>
                      <a:pt x="213" y="0"/>
                    </a:lnTo>
                    <a:lnTo>
                      <a:pt x="180" y="7"/>
                    </a:lnTo>
                    <a:lnTo>
                      <a:pt x="148" y="11"/>
                    </a:lnTo>
                    <a:lnTo>
                      <a:pt x="120" y="14"/>
                    </a:lnTo>
                    <a:lnTo>
                      <a:pt x="94" y="16"/>
                    </a:lnTo>
                    <a:lnTo>
                      <a:pt x="68" y="18"/>
                    </a:lnTo>
                    <a:lnTo>
                      <a:pt x="47" y="16"/>
                    </a:lnTo>
                    <a:lnTo>
                      <a:pt x="25" y="13"/>
                    </a:lnTo>
                    <a:lnTo>
                      <a:pt x="6" y="8"/>
                    </a:lnTo>
                    <a:lnTo>
                      <a:pt x="0" y="30"/>
                    </a:lnTo>
                    <a:close/>
                  </a:path>
                </a:pathLst>
              </a:custGeom>
              <a:solidFill>
                <a:srgbClr val="000000"/>
              </a:solidFill>
              <a:ln w="9525">
                <a:noFill/>
                <a:round/>
                <a:headEnd/>
                <a:tailEnd/>
              </a:ln>
            </p:spPr>
            <p:txBody>
              <a:bodyPr/>
              <a:lstStyle/>
              <a:p>
                <a:endParaRPr lang="en-US"/>
              </a:p>
            </p:txBody>
          </p:sp>
          <p:sp>
            <p:nvSpPr>
              <p:cNvPr id="26790" name="Freeform 127"/>
              <p:cNvSpPr>
                <a:spLocks/>
              </p:cNvSpPr>
              <p:nvPr/>
            </p:nvSpPr>
            <p:spPr bwMode="auto">
              <a:xfrm>
                <a:off x="2053" y="3734"/>
                <a:ext cx="58" cy="22"/>
              </a:xfrm>
              <a:custGeom>
                <a:avLst/>
                <a:gdLst>
                  <a:gd name="T0" fmla="*/ 0 w 116"/>
                  <a:gd name="T1" fmla="*/ 1 h 42"/>
                  <a:gd name="T2" fmla="*/ 0 w 116"/>
                  <a:gd name="T3" fmla="*/ 1 h 42"/>
                  <a:gd name="T4" fmla="*/ 1 w 116"/>
                  <a:gd name="T5" fmla="*/ 1 h 42"/>
                  <a:gd name="T6" fmla="*/ 1 w 116"/>
                  <a:gd name="T7" fmla="*/ 1 h 42"/>
                  <a:gd name="T8" fmla="*/ 1 w 116"/>
                  <a:gd name="T9" fmla="*/ 1 h 42"/>
                  <a:gd name="T10" fmla="*/ 1 w 116"/>
                  <a:gd name="T11" fmla="*/ 1 h 42"/>
                  <a:gd name="T12" fmla="*/ 1 w 116"/>
                  <a:gd name="T13" fmla="*/ 1 h 42"/>
                  <a:gd name="T14" fmla="*/ 1 w 116"/>
                  <a:gd name="T15" fmla="*/ 1 h 42"/>
                  <a:gd name="T16" fmla="*/ 1 w 116"/>
                  <a:gd name="T17" fmla="*/ 1 h 42"/>
                  <a:gd name="T18" fmla="*/ 1 w 116"/>
                  <a:gd name="T19" fmla="*/ 1 h 42"/>
                  <a:gd name="T20" fmla="*/ 1 w 116"/>
                  <a:gd name="T21" fmla="*/ 1 h 42"/>
                  <a:gd name="T22" fmla="*/ 1 w 116"/>
                  <a:gd name="T23" fmla="*/ 1 h 42"/>
                  <a:gd name="T24" fmla="*/ 1 w 116"/>
                  <a:gd name="T25" fmla="*/ 1 h 42"/>
                  <a:gd name="T26" fmla="*/ 1 w 116"/>
                  <a:gd name="T27" fmla="*/ 1 h 42"/>
                  <a:gd name="T28" fmla="*/ 1 w 116"/>
                  <a:gd name="T29" fmla="*/ 1 h 42"/>
                  <a:gd name="T30" fmla="*/ 1 w 116"/>
                  <a:gd name="T31" fmla="*/ 1 h 42"/>
                  <a:gd name="T32" fmla="*/ 1 w 116"/>
                  <a:gd name="T33" fmla="*/ 0 h 42"/>
                  <a:gd name="T34" fmla="*/ 1 w 116"/>
                  <a:gd name="T35" fmla="*/ 0 h 42"/>
                  <a:gd name="T36" fmla="*/ 0 w 116"/>
                  <a:gd name="T37" fmla="*/ 0 h 42"/>
                  <a:gd name="T38" fmla="*/ 0 w 116"/>
                  <a:gd name="T39" fmla="*/ 0 h 42"/>
                  <a:gd name="T40" fmla="*/ 0 w 116"/>
                  <a:gd name="T41" fmla="*/ 1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6"/>
                  <a:gd name="T64" fmla="*/ 0 h 42"/>
                  <a:gd name="T65" fmla="*/ 116 w 116"/>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6" h="42">
                    <a:moveTo>
                      <a:pt x="0" y="22"/>
                    </a:moveTo>
                    <a:lnTo>
                      <a:pt x="0" y="22"/>
                    </a:lnTo>
                    <a:lnTo>
                      <a:pt x="6" y="22"/>
                    </a:lnTo>
                    <a:lnTo>
                      <a:pt x="17" y="22"/>
                    </a:lnTo>
                    <a:lnTo>
                      <a:pt x="27" y="23"/>
                    </a:lnTo>
                    <a:lnTo>
                      <a:pt x="41" y="25"/>
                    </a:lnTo>
                    <a:lnTo>
                      <a:pt x="58" y="28"/>
                    </a:lnTo>
                    <a:lnTo>
                      <a:pt x="74" y="31"/>
                    </a:lnTo>
                    <a:lnTo>
                      <a:pt x="91" y="36"/>
                    </a:lnTo>
                    <a:lnTo>
                      <a:pt x="110" y="42"/>
                    </a:lnTo>
                    <a:lnTo>
                      <a:pt x="116" y="20"/>
                    </a:lnTo>
                    <a:lnTo>
                      <a:pt x="97" y="14"/>
                    </a:lnTo>
                    <a:lnTo>
                      <a:pt x="80" y="9"/>
                    </a:lnTo>
                    <a:lnTo>
                      <a:pt x="61" y="6"/>
                    </a:lnTo>
                    <a:lnTo>
                      <a:pt x="44" y="3"/>
                    </a:lnTo>
                    <a:lnTo>
                      <a:pt x="30" y="1"/>
                    </a:lnTo>
                    <a:lnTo>
                      <a:pt x="17" y="0"/>
                    </a:lnTo>
                    <a:lnTo>
                      <a:pt x="6" y="0"/>
                    </a:lnTo>
                    <a:lnTo>
                      <a:pt x="0" y="0"/>
                    </a:lnTo>
                    <a:lnTo>
                      <a:pt x="0" y="22"/>
                    </a:lnTo>
                    <a:close/>
                  </a:path>
                </a:pathLst>
              </a:custGeom>
              <a:solidFill>
                <a:srgbClr val="000000"/>
              </a:solidFill>
              <a:ln w="9525">
                <a:noFill/>
                <a:round/>
                <a:headEnd/>
                <a:tailEnd/>
              </a:ln>
            </p:spPr>
            <p:txBody>
              <a:bodyPr/>
              <a:lstStyle/>
              <a:p>
                <a:endParaRPr lang="en-US"/>
              </a:p>
            </p:txBody>
          </p:sp>
          <p:sp>
            <p:nvSpPr>
              <p:cNvPr id="26791" name="Freeform 128"/>
              <p:cNvSpPr>
                <a:spLocks/>
              </p:cNvSpPr>
              <p:nvPr/>
            </p:nvSpPr>
            <p:spPr bwMode="auto">
              <a:xfrm>
                <a:off x="2041" y="3734"/>
                <a:ext cx="12" cy="15"/>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0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1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22" y="19"/>
                    </a:moveTo>
                    <a:lnTo>
                      <a:pt x="22" y="17"/>
                    </a:lnTo>
                    <a:lnTo>
                      <a:pt x="20" y="20"/>
                    </a:lnTo>
                    <a:lnTo>
                      <a:pt x="17" y="23"/>
                    </a:lnTo>
                    <a:lnTo>
                      <a:pt x="20" y="23"/>
                    </a:lnTo>
                    <a:lnTo>
                      <a:pt x="25" y="22"/>
                    </a:lnTo>
                    <a:lnTo>
                      <a:pt x="25" y="0"/>
                    </a:lnTo>
                    <a:lnTo>
                      <a:pt x="14" y="1"/>
                    </a:lnTo>
                    <a:lnTo>
                      <a:pt x="8" y="5"/>
                    </a:lnTo>
                    <a:lnTo>
                      <a:pt x="1" y="11"/>
                    </a:lnTo>
                    <a:lnTo>
                      <a:pt x="0" y="17"/>
                    </a:lnTo>
                    <a:lnTo>
                      <a:pt x="0" y="16"/>
                    </a:lnTo>
                    <a:lnTo>
                      <a:pt x="0" y="17"/>
                    </a:lnTo>
                    <a:lnTo>
                      <a:pt x="3" y="25"/>
                    </a:lnTo>
                    <a:lnTo>
                      <a:pt x="11" y="28"/>
                    </a:lnTo>
                    <a:lnTo>
                      <a:pt x="19" y="25"/>
                    </a:lnTo>
                    <a:lnTo>
                      <a:pt x="22" y="17"/>
                    </a:lnTo>
                    <a:lnTo>
                      <a:pt x="22" y="19"/>
                    </a:lnTo>
                    <a:close/>
                  </a:path>
                </a:pathLst>
              </a:custGeom>
              <a:solidFill>
                <a:srgbClr val="000000"/>
              </a:solidFill>
              <a:ln w="9525">
                <a:noFill/>
                <a:round/>
                <a:headEnd/>
                <a:tailEnd/>
              </a:ln>
            </p:spPr>
            <p:txBody>
              <a:bodyPr/>
              <a:lstStyle/>
              <a:p>
                <a:endParaRPr lang="en-US"/>
              </a:p>
            </p:txBody>
          </p:sp>
          <p:sp>
            <p:nvSpPr>
              <p:cNvPr id="26792" name="Freeform 129"/>
              <p:cNvSpPr>
                <a:spLocks/>
              </p:cNvSpPr>
              <p:nvPr/>
            </p:nvSpPr>
            <p:spPr bwMode="auto">
              <a:xfrm>
                <a:off x="2040" y="3742"/>
                <a:ext cx="12" cy="13"/>
              </a:xfrm>
              <a:custGeom>
                <a:avLst/>
                <a:gdLst>
                  <a:gd name="T0" fmla="*/ 1 w 24"/>
                  <a:gd name="T1" fmla="*/ 1 h 25"/>
                  <a:gd name="T2" fmla="*/ 1 w 24"/>
                  <a:gd name="T3" fmla="*/ 1 h 25"/>
                  <a:gd name="T4" fmla="*/ 1 w 24"/>
                  <a:gd name="T5" fmla="*/ 1 h 25"/>
                  <a:gd name="T6" fmla="*/ 1 w 24"/>
                  <a:gd name="T7" fmla="*/ 0 h 25"/>
                  <a:gd name="T8" fmla="*/ 0 w 24"/>
                  <a:gd name="T9" fmla="*/ 1 h 25"/>
                  <a:gd name="T10" fmla="*/ 0 w 24"/>
                  <a:gd name="T11" fmla="*/ 1 h 25"/>
                  <a:gd name="T12" fmla="*/ 0 w 24"/>
                  <a:gd name="T13" fmla="*/ 1 h 25"/>
                  <a:gd name="T14" fmla="*/ 1 w 24"/>
                  <a:gd name="T15" fmla="*/ 1 h 25"/>
                  <a:gd name="T16" fmla="*/ 1 w 24"/>
                  <a:gd name="T17" fmla="*/ 1 h 25"/>
                  <a:gd name="T18" fmla="*/ 1 w 24"/>
                  <a:gd name="T19" fmla="*/ 1 h 25"/>
                  <a:gd name="T20" fmla="*/ 1 w 24"/>
                  <a:gd name="T21" fmla="*/ 1 h 25"/>
                  <a:gd name="T22" fmla="*/ 1 w 24"/>
                  <a:gd name="T23" fmla="*/ 1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5"/>
                  <a:gd name="T38" fmla="*/ 24 w 24"/>
                  <a:gd name="T39" fmla="*/ 25 h 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5">
                    <a:moveTo>
                      <a:pt x="22" y="14"/>
                    </a:moveTo>
                    <a:lnTo>
                      <a:pt x="22" y="15"/>
                    </a:lnTo>
                    <a:lnTo>
                      <a:pt x="24" y="3"/>
                    </a:lnTo>
                    <a:lnTo>
                      <a:pt x="2" y="0"/>
                    </a:lnTo>
                    <a:lnTo>
                      <a:pt x="0" y="12"/>
                    </a:lnTo>
                    <a:lnTo>
                      <a:pt x="0" y="14"/>
                    </a:lnTo>
                    <a:lnTo>
                      <a:pt x="0" y="12"/>
                    </a:lnTo>
                    <a:lnTo>
                      <a:pt x="3" y="20"/>
                    </a:lnTo>
                    <a:lnTo>
                      <a:pt x="10" y="25"/>
                    </a:lnTo>
                    <a:lnTo>
                      <a:pt x="18" y="23"/>
                    </a:lnTo>
                    <a:lnTo>
                      <a:pt x="22" y="15"/>
                    </a:lnTo>
                    <a:lnTo>
                      <a:pt x="22" y="14"/>
                    </a:lnTo>
                    <a:close/>
                  </a:path>
                </a:pathLst>
              </a:custGeom>
              <a:solidFill>
                <a:srgbClr val="000000"/>
              </a:solidFill>
              <a:ln w="9525">
                <a:noFill/>
                <a:round/>
                <a:headEnd/>
                <a:tailEnd/>
              </a:ln>
            </p:spPr>
            <p:txBody>
              <a:bodyPr/>
              <a:lstStyle/>
              <a:p>
                <a:endParaRPr lang="en-US"/>
              </a:p>
            </p:txBody>
          </p:sp>
          <p:sp>
            <p:nvSpPr>
              <p:cNvPr id="26793" name="Freeform 130"/>
              <p:cNvSpPr>
                <a:spLocks/>
              </p:cNvSpPr>
              <p:nvPr/>
            </p:nvSpPr>
            <p:spPr bwMode="auto">
              <a:xfrm>
                <a:off x="2040" y="3749"/>
                <a:ext cx="14" cy="91"/>
              </a:xfrm>
              <a:custGeom>
                <a:avLst/>
                <a:gdLst>
                  <a:gd name="T0" fmla="*/ 0 w 29"/>
                  <a:gd name="T1" fmla="*/ 1 h 181"/>
                  <a:gd name="T2" fmla="*/ 0 w 29"/>
                  <a:gd name="T3" fmla="*/ 1 h 181"/>
                  <a:gd name="T4" fmla="*/ 0 w 29"/>
                  <a:gd name="T5" fmla="*/ 0 h 181"/>
                  <a:gd name="T6" fmla="*/ 0 w 29"/>
                  <a:gd name="T7" fmla="*/ 0 h 181"/>
                  <a:gd name="T8" fmla="*/ 0 w 29"/>
                  <a:gd name="T9" fmla="*/ 1 h 181"/>
                  <a:gd name="T10" fmla="*/ 0 w 29"/>
                  <a:gd name="T11" fmla="*/ 1 h 181"/>
                  <a:gd name="T12" fmla="*/ 0 w 29"/>
                  <a:gd name="T13" fmla="*/ 1 h 181"/>
                  <a:gd name="T14" fmla="*/ 0 w 29"/>
                  <a:gd name="T15" fmla="*/ 1 h 181"/>
                  <a:gd name="T16" fmla="*/ 0 w 29"/>
                  <a:gd name="T17" fmla="*/ 1 h 181"/>
                  <a:gd name="T18" fmla="*/ 0 w 29"/>
                  <a:gd name="T19" fmla="*/ 1 h 181"/>
                  <a:gd name="T20" fmla="*/ 0 w 29"/>
                  <a:gd name="T21" fmla="*/ 1 h 181"/>
                  <a:gd name="T22" fmla="*/ 0 w 29"/>
                  <a:gd name="T23" fmla="*/ 1 h 1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
                  <a:gd name="T37" fmla="*/ 0 h 181"/>
                  <a:gd name="T38" fmla="*/ 29 w 29"/>
                  <a:gd name="T39" fmla="*/ 181 h 1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 h="181">
                    <a:moveTo>
                      <a:pt x="24" y="180"/>
                    </a:moveTo>
                    <a:lnTo>
                      <a:pt x="29" y="170"/>
                    </a:lnTo>
                    <a:lnTo>
                      <a:pt x="22" y="0"/>
                    </a:lnTo>
                    <a:lnTo>
                      <a:pt x="0" y="0"/>
                    </a:lnTo>
                    <a:lnTo>
                      <a:pt x="7" y="170"/>
                    </a:lnTo>
                    <a:lnTo>
                      <a:pt x="11" y="161"/>
                    </a:lnTo>
                    <a:lnTo>
                      <a:pt x="7" y="170"/>
                    </a:lnTo>
                    <a:lnTo>
                      <a:pt x="10" y="178"/>
                    </a:lnTo>
                    <a:lnTo>
                      <a:pt x="18" y="181"/>
                    </a:lnTo>
                    <a:lnTo>
                      <a:pt x="25" y="178"/>
                    </a:lnTo>
                    <a:lnTo>
                      <a:pt x="29" y="170"/>
                    </a:lnTo>
                    <a:lnTo>
                      <a:pt x="24" y="180"/>
                    </a:lnTo>
                    <a:close/>
                  </a:path>
                </a:pathLst>
              </a:custGeom>
              <a:solidFill>
                <a:srgbClr val="000000"/>
              </a:solidFill>
              <a:ln w="9525">
                <a:noFill/>
                <a:round/>
                <a:headEnd/>
                <a:tailEnd/>
              </a:ln>
            </p:spPr>
            <p:txBody>
              <a:bodyPr/>
              <a:lstStyle/>
              <a:p>
                <a:endParaRPr lang="en-US"/>
              </a:p>
            </p:txBody>
          </p:sp>
          <p:sp>
            <p:nvSpPr>
              <p:cNvPr id="26794" name="Freeform 131"/>
              <p:cNvSpPr>
                <a:spLocks/>
              </p:cNvSpPr>
              <p:nvPr/>
            </p:nvSpPr>
            <p:spPr bwMode="auto">
              <a:xfrm>
                <a:off x="2018" y="3830"/>
                <a:ext cx="34" cy="16"/>
              </a:xfrm>
              <a:custGeom>
                <a:avLst/>
                <a:gdLst>
                  <a:gd name="T0" fmla="*/ 0 w 67"/>
                  <a:gd name="T1" fmla="*/ 0 h 33"/>
                  <a:gd name="T2" fmla="*/ 0 w 67"/>
                  <a:gd name="T3" fmla="*/ 0 h 33"/>
                  <a:gd name="T4" fmla="*/ 1 w 67"/>
                  <a:gd name="T5" fmla="*/ 0 h 33"/>
                  <a:gd name="T6" fmla="*/ 1 w 67"/>
                  <a:gd name="T7" fmla="*/ 0 h 33"/>
                  <a:gd name="T8" fmla="*/ 1 w 67"/>
                  <a:gd name="T9" fmla="*/ 0 h 33"/>
                  <a:gd name="T10" fmla="*/ 1 w 67"/>
                  <a:gd name="T11" fmla="*/ 0 h 33"/>
                  <a:gd name="T12" fmla="*/ 1 w 67"/>
                  <a:gd name="T13" fmla="*/ 0 h 33"/>
                  <a:gd name="T14" fmla="*/ 1 w 67"/>
                  <a:gd name="T15" fmla="*/ 0 h 33"/>
                  <a:gd name="T16" fmla="*/ 1 w 67"/>
                  <a:gd name="T17" fmla="*/ 0 h 33"/>
                  <a:gd name="T18" fmla="*/ 1 w 67"/>
                  <a:gd name="T19" fmla="*/ 0 h 33"/>
                  <a:gd name="T20" fmla="*/ 1 w 67"/>
                  <a:gd name="T21" fmla="*/ 0 h 33"/>
                  <a:gd name="T22" fmla="*/ 1 w 67"/>
                  <a:gd name="T23" fmla="*/ 0 h 33"/>
                  <a:gd name="T24" fmla="*/ 1 w 67"/>
                  <a:gd name="T25" fmla="*/ 0 h 33"/>
                  <a:gd name="T26" fmla="*/ 1 w 67"/>
                  <a:gd name="T27" fmla="*/ 0 h 33"/>
                  <a:gd name="T28" fmla="*/ 1 w 67"/>
                  <a:gd name="T29" fmla="*/ 0 h 33"/>
                  <a:gd name="T30" fmla="*/ 1 w 67"/>
                  <a:gd name="T31" fmla="*/ 0 h 33"/>
                  <a:gd name="T32" fmla="*/ 1 w 67"/>
                  <a:gd name="T33" fmla="*/ 0 h 33"/>
                  <a:gd name="T34" fmla="*/ 1 w 67"/>
                  <a:gd name="T35" fmla="*/ 0 h 33"/>
                  <a:gd name="T36" fmla="*/ 1 w 67"/>
                  <a:gd name="T37" fmla="*/ 0 h 33"/>
                  <a:gd name="T38" fmla="*/ 1 w 67"/>
                  <a:gd name="T39" fmla="*/ 0 h 33"/>
                  <a:gd name="T40" fmla="*/ 0 w 67"/>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33"/>
                  <a:gd name="T65" fmla="*/ 67 w 67"/>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33">
                    <a:moveTo>
                      <a:pt x="0" y="33"/>
                    </a:moveTo>
                    <a:lnTo>
                      <a:pt x="0" y="33"/>
                    </a:lnTo>
                    <a:lnTo>
                      <a:pt x="15" y="33"/>
                    </a:lnTo>
                    <a:lnTo>
                      <a:pt x="28" y="33"/>
                    </a:lnTo>
                    <a:lnTo>
                      <a:pt x="40" y="29"/>
                    </a:lnTo>
                    <a:lnTo>
                      <a:pt x="48" y="28"/>
                    </a:lnTo>
                    <a:lnTo>
                      <a:pt x="56" y="25"/>
                    </a:lnTo>
                    <a:lnTo>
                      <a:pt x="64" y="22"/>
                    </a:lnTo>
                    <a:lnTo>
                      <a:pt x="67" y="17"/>
                    </a:lnTo>
                    <a:lnTo>
                      <a:pt x="67" y="19"/>
                    </a:lnTo>
                    <a:lnTo>
                      <a:pt x="54" y="0"/>
                    </a:lnTo>
                    <a:lnTo>
                      <a:pt x="51" y="1"/>
                    </a:lnTo>
                    <a:lnTo>
                      <a:pt x="51" y="3"/>
                    </a:lnTo>
                    <a:lnTo>
                      <a:pt x="50" y="3"/>
                    </a:lnTo>
                    <a:lnTo>
                      <a:pt x="42" y="6"/>
                    </a:lnTo>
                    <a:lnTo>
                      <a:pt x="34" y="8"/>
                    </a:lnTo>
                    <a:lnTo>
                      <a:pt x="25" y="11"/>
                    </a:lnTo>
                    <a:lnTo>
                      <a:pt x="15" y="11"/>
                    </a:lnTo>
                    <a:lnTo>
                      <a:pt x="3" y="11"/>
                    </a:lnTo>
                    <a:lnTo>
                      <a:pt x="0" y="33"/>
                    </a:lnTo>
                    <a:close/>
                  </a:path>
                </a:pathLst>
              </a:custGeom>
              <a:solidFill>
                <a:srgbClr val="000000"/>
              </a:solidFill>
              <a:ln w="9525">
                <a:noFill/>
                <a:round/>
                <a:headEnd/>
                <a:tailEnd/>
              </a:ln>
            </p:spPr>
            <p:txBody>
              <a:bodyPr/>
              <a:lstStyle/>
              <a:p>
                <a:endParaRPr lang="en-US"/>
              </a:p>
            </p:txBody>
          </p:sp>
          <p:sp>
            <p:nvSpPr>
              <p:cNvPr id="26795" name="Freeform 132"/>
              <p:cNvSpPr>
                <a:spLocks/>
              </p:cNvSpPr>
              <p:nvPr/>
            </p:nvSpPr>
            <p:spPr bwMode="auto">
              <a:xfrm>
                <a:off x="1992" y="3831"/>
                <a:ext cx="28" cy="15"/>
              </a:xfrm>
              <a:custGeom>
                <a:avLst/>
                <a:gdLst>
                  <a:gd name="T0" fmla="*/ 0 w 57"/>
                  <a:gd name="T1" fmla="*/ 0 h 32"/>
                  <a:gd name="T2" fmla="*/ 0 w 57"/>
                  <a:gd name="T3" fmla="*/ 0 h 32"/>
                  <a:gd name="T4" fmla="*/ 0 w 57"/>
                  <a:gd name="T5" fmla="*/ 0 h 32"/>
                  <a:gd name="T6" fmla="*/ 0 w 57"/>
                  <a:gd name="T7" fmla="*/ 0 h 32"/>
                  <a:gd name="T8" fmla="*/ 0 w 57"/>
                  <a:gd name="T9" fmla="*/ 0 h 32"/>
                  <a:gd name="T10" fmla="*/ 0 w 57"/>
                  <a:gd name="T11" fmla="*/ 0 h 32"/>
                  <a:gd name="T12" fmla="*/ 0 w 57"/>
                  <a:gd name="T13" fmla="*/ 0 h 32"/>
                  <a:gd name="T14" fmla="*/ 0 w 57"/>
                  <a:gd name="T15" fmla="*/ 0 h 32"/>
                  <a:gd name="T16" fmla="*/ 0 w 57"/>
                  <a:gd name="T17" fmla="*/ 0 h 32"/>
                  <a:gd name="T18" fmla="*/ 0 w 57"/>
                  <a:gd name="T19" fmla="*/ 0 h 32"/>
                  <a:gd name="T20" fmla="*/ 0 w 57"/>
                  <a:gd name="T21" fmla="*/ 0 h 32"/>
                  <a:gd name="T22" fmla="*/ 0 w 57"/>
                  <a:gd name="T23" fmla="*/ 0 h 32"/>
                  <a:gd name="T24" fmla="*/ 0 w 57"/>
                  <a:gd name="T25" fmla="*/ 0 h 32"/>
                  <a:gd name="T26" fmla="*/ 0 w 57"/>
                  <a:gd name="T27" fmla="*/ 0 h 32"/>
                  <a:gd name="T28" fmla="*/ 0 w 57"/>
                  <a:gd name="T29" fmla="*/ 0 h 32"/>
                  <a:gd name="T30" fmla="*/ 0 w 57"/>
                  <a:gd name="T31" fmla="*/ 0 h 32"/>
                  <a:gd name="T32" fmla="*/ 0 w 57"/>
                  <a:gd name="T33" fmla="*/ 0 h 32"/>
                  <a:gd name="T34" fmla="*/ 0 w 57"/>
                  <a:gd name="T35" fmla="*/ 0 h 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
                  <a:gd name="T55" fmla="*/ 0 h 32"/>
                  <a:gd name="T56" fmla="*/ 57 w 57"/>
                  <a:gd name="T57" fmla="*/ 32 h 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 h="32">
                    <a:moveTo>
                      <a:pt x="0" y="13"/>
                    </a:moveTo>
                    <a:lnTo>
                      <a:pt x="2" y="18"/>
                    </a:lnTo>
                    <a:lnTo>
                      <a:pt x="8" y="24"/>
                    </a:lnTo>
                    <a:lnTo>
                      <a:pt x="16" y="25"/>
                    </a:lnTo>
                    <a:lnTo>
                      <a:pt x="30" y="28"/>
                    </a:lnTo>
                    <a:lnTo>
                      <a:pt x="54" y="32"/>
                    </a:lnTo>
                    <a:lnTo>
                      <a:pt x="57" y="10"/>
                    </a:lnTo>
                    <a:lnTo>
                      <a:pt x="33" y="7"/>
                    </a:lnTo>
                    <a:lnTo>
                      <a:pt x="22" y="3"/>
                    </a:lnTo>
                    <a:lnTo>
                      <a:pt x="17" y="2"/>
                    </a:lnTo>
                    <a:lnTo>
                      <a:pt x="21" y="5"/>
                    </a:lnTo>
                    <a:lnTo>
                      <a:pt x="22" y="10"/>
                    </a:lnTo>
                    <a:lnTo>
                      <a:pt x="21" y="5"/>
                    </a:lnTo>
                    <a:lnTo>
                      <a:pt x="13" y="0"/>
                    </a:lnTo>
                    <a:lnTo>
                      <a:pt x="5" y="2"/>
                    </a:lnTo>
                    <a:lnTo>
                      <a:pt x="0" y="8"/>
                    </a:lnTo>
                    <a:lnTo>
                      <a:pt x="2" y="18"/>
                    </a:lnTo>
                    <a:lnTo>
                      <a:pt x="0" y="13"/>
                    </a:lnTo>
                    <a:close/>
                  </a:path>
                </a:pathLst>
              </a:custGeom>
              <a:solidFill>
                <a:srgbClr val="000000"/>
              </a:solidFill>
              <a:ln w="9525">
                <a:noFill/>
                <a:round/>
                <a:headEnd/>
                <a:tailEnd/>
              </a:ln>
            </p:spPr>
            <p:txBody>
              <a:bodyPr/>
              <a:lstStyle/>
              <a:p>
                <a:endParaRPr lang="en-US"/>
              </a:p>
            </p:txBody>
          </p:sp>
          <p:sp>
            <p:nvSpPr>
              <p:cNvPr id="26796" name="Freeform 133"/>
              <p:cNvSpPr>
                <a:spLocks/>
              </p:cNvSpPr>
              <p:nvPr/>
            </p:nvSpPr>
            <p:spPr bwMode="auto">
              <a:xfrm>
                <a:off x="1985" y="3754"/>
                <a:ext cx="18" cy="83"/>
              </a:xfrm>
              <a:custGeom>
                <a:avLst/>
                <a:gdLst>
                  <a:gd name="T0" fmla="*/ 0 w 36"/>
                  <a:gd name="T1" fmla="*/ 0 h 166"/>
                  <a:gd name="T2" fmla="*/ 0 w 36"/>
                  <a:gd name="T3" fmla="*/ 0 h 166"/>
                  <a:gd name="T4" fmla="*/ 0 w 36"/>
                  <a:gd name="T5" fmla="*/ 1 h 166"/>
                  <a:gd name="T6" fmla="*/ 1 w 36"/>
                  <a:gd name="T7" fmla="*/ 1 h 166"/>
                  <a:gd name="T8" fmla="*/ 1 w 36"/>
                  <a:gd name="T9" fmla="*/ 1 h 166"/>
                  <a:gd name="T10" fmla="*/ 1 w 36"/>
                  <a:gd name="T11" fmla="*/ 1 h 166"/>
                  <a:gd name="T12" fmla="*/ 1 w 36"/>
                  <a:gd name="T13" fmla="*/ 1 h 166"/>
                  <a:gd name="T14" fmla="*/ 1 w 36"/>
                  <a:gd name="T15" fmla="*/ 1 h 166"/>
                  <a:gd name="T16" fmla="*/ 1 w 36"/>
                  <a:gd name="T17" fmla="*/ 1 h 166"/>
                  <a:gd name="T18" fmla="*/ 1 w 36"/>
                  <a:gd name="T19" fmla="*/ 1 h 166"/>
                  <a:gd name="T20" fmla="*/ 1 w 36"/>
                  <a:gd name="T21" fmla="*/ 1 h 166"/>
                  <a:gd name="T22" fmla="*/ 1 w 36"/>
                  <a:gd name="T23" fmla="*/ 1 h 166"/>
                  <a:gd name="T24" fmla="*/ 1 w 36"/>
                  <a:gd name="T25" fmla="*/ 1 h 166"/>
                  <a:gd name="T26" fmla="*/ 1 w 36"/>
                  <a:gd name="T27" fmla="*/ 1 h 166"/>
                  <a:gd name="T28" fmla="*/ 1 w 36"/>
                  <a:gd name="T29" fmla="*/ 1 h 166"/>
                  <a:gd name="T30" fmla="*/ 1 w 36"/>
                  <a:gd name="T31" fmla="*/ 1 h 166"/>
                  <a:gd name="T32" fmla="*/ 1 w 36"/>
                  <a:gd name="T33" fmla="*/ 1 h 166"/>
                  <a:gd name="T34" fmla="*/ 1 w 36"/>
                  <a:gd name="T35" fmla="*/ 1 h 166"/>
                  <a:gd name="T36" fmla="*/ 1 w 36"/>
                  <a:gd name="T37" fmla="*/ 1 h 166"/>
                  <a:gd name="T38" fmla="*/ 1 w 36"/>
                  <a:gd name="T39" fmla="*/ 1 h 166"/>
                  <a:gd name="T40" fmla="*/ 0 w 36"/>
                  <a:gd name="T41" fmla="*/ 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6"/>
                  <a:gd name="T64" fmla="*/ 0 h 166"/>
                  <a:gd name="T65" fmla="*/ 36 w 36"/>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6" h="166">
                    <a:moveTo>
                      <a:pt x="0" y="0"/>
                    </a:moveTo>
                    <a:lnTo>
                      <a:pt x="0" y="0"/>
                    </a:lnTo>
                    <a:lnTo>
                      <a:pt x="0" y="19"/>
                    </a:lnTo>
                    <a:lnTo>
                      <a:pt x="2" y="42"/>
                    </a:lnTo>
                    <a:lnTo>
                      <a:pt x="3" y="70"/>
                    </a:lnTo>
                    <a:lnTo>
                      <a:pt x="6" y="99"/>
                    </a:lnTo>
                    <a:lnTo>
                      <a:pt x="10" y="124"/>
                    </a:lnTo>
                    <a:lnTo>
                      <a:pt x="11" y="145"/>
                    </a:lnTo>
                    <a:lnTo>
                      <a:pt x="14" y="160"/>
                    </a:lnTo>
                    <a:lnTo>
                      <a:pt x="14" y="166"/>
                    </a:lnTo>
                    <a:lnTo>
                      <a:pt x="36" y="163"/>
                    </a:lnTo>
                    <a:lnTo>
                      <a:pt x="36" y="156"/>
                    </a:lnTo>
                    <a:lnTo>
                      <a:pt x="33" y="142"/>
                    </a:lnTo>
                    <a:lnTo>
                      <a:pt x="31" y="120"/>
                    </a:lnTo>
                    <a:lnTo>
                      <a:pt x="28" y="95"/>
                    </a:lnTo>
                    <a:lnTo>
                      <a:pt x="25" y="67"/>
                    </a:lnTo>
                    <a:lnTo>
                      <a:pt x="24" y="42"/>
                    </a:lnTo>
                    <a:lnTo>
                      <a:pt x="22" y="19"/>
                    </a:lnTo>
                    <a:lnTo>
                      <a:pt x="22" y="3"/>
                    </a:lnTo>
                    <a:lnTo>
                      <a:pt x="0" y="0"/>
                    </a:lnTo>
                    <a:close/>
                  </a:path>
                </a:pathLst>
              </a:custGeom>
              <a:solidFill>
                <a:srgbClr val="000000"/>
              </a:solidFill>
              <a:ln w="9525">
                <a:noFill/>
                <a:round/>
                <a:headEnd/>
                <a:tailEnd/>
              </a:ln>
            </p:spPr>
            <p:txBody>
              <a:bodyPr/>
              <a:lstStyle/>
              <a:p>
                <a:endParaRPr lang="en-US"/>
              </a:p>
            </p:txBody>
          </p:sp>
          <p:sp>
            <p:nvSpPr>
              <p:cNvPr id="26797" name="Freeform 134"/>
              <p:cNvSpPr>
                <a:spLocks/>
              </p:cNvSpPr>
              <p:nvPr/>
            </p:nvSpPr>
            <p:spPr bwMode="auto">
              <a:xfrm>
                <a:off x="1985" y="3691"/>
                <a:ext cx="18" cy="65"/>
              </a:xfrm>
              <a:custGeom>
                <a:avLst/>
                <a:gdLst>
                  <a:gd name="T0" fmla="*/ 0 w 38"/>
                  <a:gd name="T1" fmla="*/ 0 h 130"/>
                  <a:gd name="T2" fmla="*/ 0 w 38"/>
                  <a:gd name="T3" fmla="*/ 0 h 130"/>
                  <a:gd name="T4" fmla="*/ 0 w 38"/>
                  <a:gd name="T5" fmla="*/ 1 h 130"/>
                  <a:gd name="T6" fmla="*/ 0 w 38"/>
                  <a:gd name="T7" fmla="*/ 1 h 130"/>
                  <a:gd name="T8" fmla="*/ 0 w 38"/>
                  <a:gd name="T9" fmla="*/ 1 h 130"/>
                  <a:gd name="T10" fmla="*/ 0 w 38"/>
                  <a:gd name="T11" fmla="*/ 1 h 130"/>
                  <a:gd name="T12" fmla="*/ 0 w 38"/>
                  <a:gd name="T13" fmla="*/ 1 h 130"/>
                  <a:gd name="T14" fmla="*/ 0 w 38"/>
                  <a:gd name="T15" fmla="*/ 1 h 130"/>
                  <a:gd name="T16" fmla="*/ 0 w 38"/>
                  <a:gd name="T17" fmla="*/ 1 h 130"/>
                  <a:gd name="T18" fmla="*/ 0 w 38"/>
                  <a:gd name="T19" fmla="*/ 1 h 130"/>
                  <a:gd name="T20" fmla="*/ 0 w 38"/>
                  <a:gd name="T21" fmla="*/ 1 h 130"/>
                  <a:gd name="T22" fmla="*/ 0 w 38"/>
                  <a:gd name="T23" fmla="*/ 1 h 130"/>
                  <a:gd name="T24" fmla="*/ 0 w 38"/>
                  <a:gd name="T25" fmla="*/ 1 h 130"/>
                  <a:gd name="T26" fmla="*/ 0 w 38"/>
                  <a:gd name="T27" fmla="*/ 1 h 130"/>
                  <a:gd name="T28" fmla="*/ 0 w 38"/>
                  <a:gd name="T29" fmla="*/ 1 h 130"/>
                  <a:gd name="T30" fmla="*/ 0 w 38"/>
                  <a:gd name="T31" fmla="*/ 1 h 130"/>
                  <a:gd name="T32" fmla="*/ 0 w 38"/>
                  <a:gd name="T33" fmla="*/ 1 h 130"/>
                  <a:gd name="T34" fmla="*/ 0 w 38"/>
                  <a:gd name="T35" fmla="*/ 1 h 130"/>
                  <a:gd name="T36" fmla="*/ 0 w 38"/>
                  <a:gd name="T37" fmla="*/ 1 h 130"/>
                  <a:gd name="T38" fmla="*/ 0 w 38"/>
                  <a:gd name="T39" fmla="*/ 1 h 130"/>
                  <a:gd name="T40" fmla="*/ 0 w 38"/>
                  <a:gd name="T41" fmla="*/ 0 h 1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8"/>
                  <a:gd name="T64" fmla="*/ 0 h 130"/>
                  <a:gd name="T65" fmla="*/ 38 w 38"/>
                  <a:gd name="T66" fmla="*/ 130 h 1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8" h="130">
                    <a:moveTo>
                      <a:pt x="25" y="0"/>
                    </a:moveTo>
                    <a:lnTo>
                      <a:pt x="25" y="0"/>
                    </a:lnTo>
                    <a:lnTo>
                      <a:pt x="13" y="13"/>
                    </a:lnTo>
                    <a:lnTo>
                      <a:pt x="5" y="28"/>
                    </a:lnTo>
                    <a:lnTo>
                      <a:pt x="2" y="46"/>
                    </a:lnTo>
                    <a:lnTo>
                      <a:pt x="0" y="63"/>
                    </a:lnTo>
                    <a:lnTo>
                      <a:pt x="0" y="80"/>
                    </a:lnTo>
                    <a:lnTo>
                      <a:pt x="0" y="97"/>
                    </a:lnTo>
                    <a:lnTo>
                      <a:pt x="0" y="114"/>
                    </a:lnTo>
                    <a:lnTo>
                      <a:pt x="0" y="127"/>
                    </a:lnTo>
                    <a:lnTo>
                      <a:pt x="22" y="130"/>
                    </a:lnTo>
                    <a:lnTo>
                      <a:pt x="22" y="114"/>
                    </a:lnTo>
                    <a:lnTo>
                      <a:pt x="22" y="97"/>
                    </a:lnTo>
                    <a:lnTo>
                      <a:pt x="22" y="80"/>
                    </a:lnTo>
                    <a:lnTo>
                      <a:pt x="22" y="63"/>
                    </a:lnTo>
                    <a:lnTo>
                      <a:pt x="24" y="49"/>
                    </a:lnTo>
                    <a:lnTo>
                      <a:pt x="27" y="35"/>
                    </a:lnTo>
                    <a:lnTo>
                      <a:pt x="31" y="25"/>
                    </a:lnTo>
                    <a:lnTo>
                      <a:pt x="38" y="19"/>
                    </a:lnTo>
                    <a:lnTo>
                      <a:pt x="25" y="0"/>
                    </a:lnTo>
                    <a:close/>
                  </a:path>
                </a:pathLst>
              </a:custGeom>
              <a:solidFill>
                <a:srgbClr val="000000"/>
              </a:solidFill>
              <a:ln w="9525">
                <a:noFill/>
                <a:round/>
                <a:headEnd/>
                <a:tailEnd/>
              </a:ln>
            </p:spPr>
            <p:txBody>
              <a:bodyPr/>
              <a:lstStyle/>
              <a:p>
                <a:endParaRPr lang="en-US"/>
              </a:p>
            </p:txBody>
          </p:sp>
          <p:sp>
            <p:nvSpPr>
              <p:cNvPr id="26798" name="Freeform 135"/>
              <p:cNvSpPr>
                <a:spLocks/>
              </p:cNvSpPr>
              <p:nvPr/>
            </p:nvSpPr>
            <p:spPr bwMode="auto">
              <a:xfrm>
                <a:off x="1997" y="3676"/>
                <a:ext cx="119" cy="24"/>
              </a:xfrm>
              <a:custGeom>
                <a:avLst/>
                <a:gdLst>
                  <a:gd name="T0" fmla="*/ 1 w 238"/>
                  <a:gd name="T1" fmla="*/ 1 h 48"/>
                  <a:gd name="T2" fmla="*/ 1 w 238"/>
                  <a:gd name="T3" fmla="*/ 1 h 48"/>
                  <a:gd name="T4" fmla="*/ 1 w 238"/>
                  <a:gd name="T5" fmla="*/ 1 h 48"/>
                  <a:gd name="T6" fmla="*/ 1 w 238"/>
                  <a:gd name="T7" fmla="*/ 0 h 48"/>
                  <a:gd name="T8" fmla="*/ 1 w 238"/>
                  <a:gd name="T9" fmla="*/ 0 h 48"/>
                  <a:gd name="T10" fmla="*/ 1 w 238"/>
                  <a:gd name="T11" fmla="*/ 1 h 48"/>
                  <a:gd name="T12" fmla="*/ 1 w 238"/>
                  <a:gd name="T13" fmla="*/ 1 h 48"/>
                  <a:gd name="T14" fmla="*/ 1 w 238"/>
                  <a:gd name="T15" fmla="*/ 1 h 48"/>
                  <a:gd name="T16" fmla="*/ 1 w 238"/>
                  <a:gd name="T17" fmla="*/ 1 h 48"/>
                  <a:gd name="T18" fmla="*/ 0 w 238"/>
                  <a:gd name="T19" fmla="*/ 1 h 48"/>
                  <a:gd name="T20" fmla="*/ 1 w 238"/>
                  <a:gd name="T21" fmla="*/ 1 h 48"/>
                  <a:gd name="T22" fmla="*/ 1 w 238"/>
                  <a:gd name="T23" fmla="*/ 1 h 48"/>
                  <a:gd name="T24" fmla="*/ 1 w 238"/>
                  <a:gd name="T25" fmla="*/ 1 h 48"/>
                  <a:gd name="T26" fmla="*/ 1 w 238"/>
                  <a:gd name="T27" fmla="*/ 1 h 48"/>
                  <a:gd name="T28" fmla="*/ 1 w 238"/>
                  <a:gd name="T29" fmla="*/ 1 h 48"/>
                  <a:gd name="T30" fmla="*/ 1 w 238"/>
                  <a:gd name="T31" fmla="*/ 1 h 48"/>
                  <a:gd name="T32" fmla="*/ 1 w 238"/>
                  <a:gd name="T33" fmla="*/ 1 h 48"/>
                  <a:gd name="T34" fmla="*/ 1 w 238"/>
                  <a:gd name="T35" fmla="*/ 1 h 48"/>
                  <a:gd name="T36" fmla="*/ 1 w 238"/>
                  <a:gd name="T37" fmla="*/ 1 h 48"/>
                  <a:gd name="T38" fmla="*/ 1 w 238"/>
                  <a:gd name="T39" fmla="*/ 1 h 48"/>
                  <a:gd name="T40" fmla="*/ 1 w 238"/>
                  <a:gd name="T41" fmla="*/ 1 h 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38"/>
                  <a:gd name="T64" fmla="*/ 0 h 48"/>
                  <a:gd name="T65" fmla="*/ 238 w 238"/>
                  <a:gd name="T66" fmla="*/ 48 h 4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38" h="48">
                    <a:moveTo>
                      <a:pt x="235" y="26"/>
                    </a:moveTo>
                    <a:lnTo>
                      <a:pt x="238" y="4"/>
                    </a:lnTo>
                    <a:lnTo>
                      <a:pt x="198" y="1"/>
                    </a:lnTo>
                    <a:lnTo>
                      <a:pt x="160" y="0"/>
                    </a:lnTo>
                    <a:lnTo>
                      <a:pt x="125" y="0"/>
                    </a:lnTo>
                    <a:lnTo>
                      <a:pt x="93" y="3"/>
                    </a:lnTo>
                    <a:lnTo>
                      <a:pt x="63" y="7"/>
                    </a:lnTo>
                    <a:lnTo>
                      <a:pt x="38" y="14"/>
                    </a:lnTo>
                    <a:lnTo>
                      <a:pt x="16" y="21"/>
                    </a:lnTo>
                    <a:lnTo>
                      <a:pt x="0" y="29"/>
                    </a:lnTo>
                    <a:lnTo>
                      <a:pt x="13" y="48"/>
                    </a:lnTo>
                    <a:lnTo>
                      <a:pt x="25" y="40"/>
                    </a:lnTo>
                    <a:lnTo>
                      <a:pt x="44" y="36"/>
                    </a:lnTo>
                    <a:lnTo>
                      <a:pt x="66" y="29"/>
                    </a:lnTo>
                    <a:lnTo>
                      <a:pt x="96" y="25"/>
                    </a:lnTo>
                    <a:lnTo>
                      <a:pt x="125" y="21"/>
                    </a:lnTo>
                    <a:lnTo>
                      <a:pt x="160" y="21"/>
                    </a:lnTo>
                    <a:lnTo>
                      <a:pt x="198" y="23"/>
                    </a:lnTo>
                    <a:lnTo>
                      <a:pt x="235" y="26"/>
                    </a:lnTo>
                    <a:lnTo>
                      <a:pt x="238" y="4"/>
                    </a:lnTo>
                    <a:lnTo>
                      <a:pt x="235" y="26"/>
                    </a:lnTo>
                    <a:close/>
                  </a:path>
                </a:pathLst>
              </a:custGeom>
              <a:solidFill>
                <a:srgbClr val="000000"/>
              </a:solidFill>
              <a:ln w="9525">
                <a:noFill/>
                <a:round/>
                <a:headEnd/>
                <a:tailEnd/>
              </a:ln>
            </p:spPr>
            <p:txBody>
              <a:bodyPr/>
              <a:lstStyle/>
              <a:p>
                <a:endParaRPr lang="en-US"/>
              </a:p>
            </p:txBody>
          </p:sp>
          <p:sp>
            <p:nvSpPr>
              <p:cNvPr id="26799" name="Freeform 136"/>
              <p:cNvSpPr>
                <a:spLocks/>
              </p:cNvSpPr>
              <p:nvPr/>
            </p:nvSpPr>
            <p:spPr bwMode="auto">
              <a:xfrm>
                <a:off x="2069" y="3676"/>
                <a:ext cx="47" cy="13"/>
              </a:xfrm>
              <a:custGeom>
                <a:avLst/>
                <a:gdLst>
                  <a:gd name="T0" fmla="*/ 0 w 94"/>
                  <a:gd name="T1" fmla="*/ 1 h 26"/>
                  <a:gd name="T2" fmla="*/ 0 w 94"/>
                  <a:gd name="T3" fmla="*/ 1 h 26"/>
                  <a:gd name="T4" fmla="*/ 1 w 94"/>
                  <a:gd name="T5" fmla="*/ 1 h 26"/>
                  <a:gd name="T6" fmla="*/ 1 w 94"/>
                  <a:gd name="T7" fmla="*/ 1 h 26"/>
                  <a:gd name="T8" fmla="*/ 1 w 94"/>
                  <a:gd name="T9" fmla="*/ 1 h 26"/>
                  <a:gd name="T10" fmla="*/ 1 w 94"/>
                  <a:gd name="T11" fmla="*/ 1 h 26"/>
                  <a:gd name="T12" fmla="*/ 1 w 94"/>
                  <a:gd name="T13" fmla="*/ 1 h 26"/>
                  <a:gd name="T14" fmla="*/ 1 w 94"/>
                  <a:gd name="T15" fmla="*/ 1 h 26"/>
                  <a:gd name="T16" fmla="*/ 1 w 94"/>
                  <a:gd name="T17" fmla="*/ 1 h 26"/>
                  <a:gd name="T18" fmla="*/ 1 w 94"/>
                  <a:gd name="T19" fmla="*/ 1 h 26"/>
                  <a:gd name="T20" fmla="*/ 1 w 94"/>
                  <a:gd name="T21" fmla="*/ 1 h 26"/>
                  <a:gd name="T22" fmla="*/ 1 w 94"/>
                  <a:gd name="T23" fmla="*/ 1 h 26"/>
                  <a:gd name="T24" fmla="*/ 1 w 94"/>
                  <a:gd name="T25" fmla="*/ 1 h 26"/>
                  <a:gd name="T26" fmla="*/ 1 w 94"/>
                  <a:gd name="T27" fmla="*/ 1 h 26"/>
                  <a:gd name="T28" fmla="*/ 1 w 94"/>
                  <a:gd name="T29" fmla="*/ 1 h 26"/>
                  <a:gd name="T30" fmla="*/ 1 w 94"/>
                  <a:gd name="T31" fmla="*/ 1 h 26"/>
                  <a:gd name="T32" fmla="*/ 1 w 94"/>
                  <a:gd name="T33" fmla="*/ 0 h 26"/>
                  <a:gd name="T34" fmla="*/ 1 w 94"/>
                  <a:gd name="T35" fmla="*/ 0 h 26"/>
                  <a:gd name="T36" fmla="*/ 0 w 94"/>
                  <a:gd name="T37" fmla="*/ 0 h 26"/>
                  <a:gd name="T38" fmla="*/ 0 w 94"/>
                  <a:gd name="T39" fmla="*/ 0 h 26"/>
                  <a:gd name="T40" fmla="*/ 0 w 94"/>
                  <a:gd name="T41" fmla="*/ 1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26"/>
                  <a:gd name="T65" fmla="*/ 94 w 94"/>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26">
                    <a:moveTo>
                      <a:pt x="0" y="21"/>
                    </a:moveTo>
                    <a:lnTo>
                      <a:pt x="0" y="21"/>
                    </a:lnTo>
                    <a:lnTo>
                      <a:pt x="16" y="21"/>
                    </a:lnTo>
                    <a:lnTo>
                      <a:pt x="32" y="21"/>
                    </a:lnTo>
                    <a:lnTo>
                      <a:pt x="47" y="23"/>
                    </a:lnTo>
                    <a:lnTo>
                      <a:pt x="61" y="23"/>
                    </a:lnTo>
                    <a:lnTo>
                      <a:pt x="74" y="25"/>
                    </a:lnTo>
                    <a:lnTo>
                      <a:pt x="82" y="25"/>
                    </a:lnTo>
                    <a:lnTo>
                      <a:pt x="88" y="26"/>
                    </a:lnTo>
                    <a:lnTo>
                      <a:pt x="91" y="26"/>
                    </a:lnTo>
                    <a:lnTo>
                      <a:pt x="94" y="4"/>
                    </a:lnTo>
                    <a:lnTo>
                      <a:pt x="91" y="4"/>
                    </a:lnTo>
                    <a:lnTo>
                      <a:pt x="85" y="3"/>
                    </a:lnTo>
                    <a:lnTo>
                      <a:pt x="74" y="3"/>
                    </a:lnTo>
                    <a:lnTo>
                      <a:pt x="61" y="1"/>
                    </a:lnTo>
                    <a:lnTo>
                      <a:pt x="47" y="1"/>
                    </a:lnTo>
                    <a:lnTo>
                      <a:pt x="32" y="0"/>
                    </a:lnTo>
                    <a:lnTo>
                      <a:pt x="16" y="0"/>
                    </a:lnTo>
                    <a:lnTo>
                      <a:pt x="0" y="0"/>
                    </a:lnTo>
                    <a:lnTo>
                      <a:pt x="0" y="21"/>
                    </a:lnTo>
                    <a:close/>
                  </a:path>
                </a:pathLst>
              </a:custGeom>
              <a:solidFill>
                <a:srgbClr val="000000"/>
              </a:solidFill>
              <a:ln w="9525">
                <a:noFill/>
                <a:round/>
                <a:headEnd/>
                <a:tailEnd/>
              </a:ln>
            </p:spPr>
            <p:txBody>
              <a:bodyPr/>
              <a:lstStyle/>
              <a:p>
                <a:endParaRPr lang="en-US"/>
              </a:p>
            </p:txBody>
          </p:sp>
          <p:sp>
            <p:nvSpPr>
              <p:cNvPr id="26800" name="Freeform 137"/>
              <p:cNvSpPr>
                <a:spLocks/>
              </p:cNvSpPr>
              <p:nvPr/>
            </p:nvSpPr>
            <p:spPr bwMode="auto">
              <a:xfrm>
                <a:off x="2043" y="3676"/>
                <a:ext cx="26" cy="12"/>
              </a:xfrm>
              <a:custGeom>
                <a:avLst/>
                <a:gdLst>
                  <a:gd name="T0" fmla="*/ 0 w 53"/>
                  <a:gd name="T1" fmla="*/ 0 h 25"/>
                  <a:gd name="T2" fmla="*/ 0 w 53"/>
                  <a:gd name="T3" fmla="*/ 0 h 25"/>
                  <a:gd name="T4" fmla="*/ 0 w 53"/>
                  <a:gd name="T5" fmla="*/ 0 h 25"/>
                  <a:gd name="T6" fmla="*/ 0 w 53"/>
                  <a:gd name="T7" fmla="*/ 0 h 25"/>
                  <a:gd name="T8" fmla="*/ 0 w 53"/>
                  <a:gd name="T9" fmla="*/ 0 h 25"/>
                  <a:gd name="T10" fmla="*/ 0 w 53"/>
                  <a:gd name="T11" fmla="*/ 0 h 25"/>
                  <a:gd name="T12" fmla="*/ 0 w 53"/>
                  <a:gd name="T13" fmla="*/ 0 h 25"/>
                  <a:gd name="T14" fmla="*/ 0 w 53"/>
                  <a:gd name="T15" fmla="*/ 0 h 25"/>
                  <a:gd name="T16" fmla="*/ 0 w 53"/>
                  <a:gd name="T17" fmla="*/ 0 h 25"/>
                  <a:gd name="T18" fmla="*/ 0 w 53"/>
                  <a:gd name="T19" fmla="*/ 0 h 25"/>
                  <a:gd name="T20" fmla="*/ 0 w 53"/>
                  <a:gd name="T21" fmla="*/ 0 h 25"/>
                  <a:gd name="T22" fmla="*/ 0 w 53"/>
                  <a:gd name="T23" fmla="*/ 0 h 25"/>
                  <a:gd name="T24" fmla="*/ 0 w 53"/>
                  <a:gd name="T25" fmla="*/ 0 h 25"/>
                  <a:gd name="T26" fmla="*/ 0 w 53"/>
                  <a:gd name="T27" fmla="*/ 0 h 25"/>
                  <a:gd name="T28" fmla="*/ 0 w 53"/>
                  <a:gd name="T29" fmla="*/ 0 h 25"/>
                  <a:gd name="T30" fmla="*/ 0 w 53"/>
                  <a:gd name="T31" fmla="*/ 0 h 25"/>
                  <a:gd name="T32" fmla="*/ 0 w 53"/>
                  <a:gd name="T33" fmla="*/ 0 h 25"/>
                  <a:gd name="T34" fmla="*/ 0 w 53"/>
                  <a:gd name="T35" fmla="*/ 0 h 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3"/>
                  <a:gd name="T55" fmla="*/ 0 h 25"/>
                  <a:gd name="T56" fmla="*/ 53 w 53"/>
                  <a:gd name="T57" fmla="*/ 25 h 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3" h="25">
                    <a:moveTo>
                      <a:pt x="0" y="17"/>
                    </a:moveTo>
                    <a:lnTo>
                      <a:pt x="19" y="21"/>
                    </a:lnTo>
                    <a:lnTo>
                      <a:pt x="16" y="25"/>
                    </a:lnTo>
                    <a:lnTo>
                      <a:pt x="19" y="23"/>
                    </a:lnTo>
                    <a:lnTo>
                      <a:pt x="30" y="21"/>
                    </a:lnTo>
                    <a:lnTo>
                      <a:pt x="53" y="21"/>
                    </a:lnTo>
                    <a:lnTo>
                      <a:pt x="53" y="0"/>
                    </a:lnTo>
                    <a:lnTo>
                      <a:pt x="30" y="0"/>
                    </a:lnTo>
                    <a:lnTo>
                      <a:pt x="16" y="1"/>
                    </a:lnTo>
                    <a:lnTo>
                      <a:pt x="9" y="3"/>
                    </a:lnTo>
                    <a:lnTo>
                      <a:pt x="3" y="6"/>
                    </a:lnTo>
                    <a:lnTo>
                      <a:pt x="22" y="10"/>
                    </a:lnTo>
                    <a:lnTo>
                      <a:pt x="3" y="6"/>
                    </a:lnTo>
                    <a:lnTo>
                      <a:pt x="0" y="14"/>
                    </a:lnTo>
                    <a:lnTo>
                      <a:pt x="5" y="20"/>
                    </a:lnTo>
                    <a:lnTo>
                      <a:pt x="11" y="25"/>
                    </a:lnTo>
                    <a:lnTo>
                      <a:pt x="19" y="21"/>
                    </a:lnTo>
                    <a:lnTo>
                      <a:pt x="0" y="17"/>
                    </a:lnTo>
                    <a:close/>
                  </a:path>
                </a:pathLst>
              </a:custGeom>
              <a:solidFill>
                <a:srgbClr val="000000"/>
              </a:solidFill>
              <a:ln w="9525">
                <a:noFill/>
                <a:round/>
                <a:headEnd/>
                <a:tailEnd/>
              </a:ln>
            </p:spPr>
            <p:txBody>
              <a:bodyPr/>
              <a:lstStyle/>
              <a:p>
                <a:endParaRPr lang="en-US"/>
              </a:p>
            </p:txBody>
          </p:sp>
          <p:sp>
            <p:nvSpPr>
              <p:cNvPr id="26801" name="Freeform 138"/>
              <p:cNvSpPr>
                <a:spLocks/>
              </p:cNvSpPr>
              <p:nvPr/>
            </p:nvSpPr>
            <p:spPr bwMode="auto">
              <a:xfrm>
                <a:off x="2041" y="3671"/>
                <a:ext cx="12" cy="13"/>
              </a:xfrm>
              <a:custGeom>
                <a:avLst/>
                <a:gdLst>
                  <a:gd name="T0" fmla="*/ 0 w 25"/>
                  <a:gd name="T1" fmla="*/ 0 h 27"/>
                  <a:gd name="T2" fmla="*/ 0 w 25"/>
                  <a:gd name="T3" fmla="*/ 0 h 27"/>
                  <a:gd name="T4" fmla="*/ 0 w 25"/>
                  <a:gd name="T5" fmla="*/ 0 h 27"/>
                  <a:gd name="T6" fmla="*/ 0 w 25"/>
                  <a:gd name="T7" fmla="*/ 0 h 27"/>
                  <a:gd name="T8" fmla="*/ 0 w 25"/>
                  <a:gd name="T9" fmla="*/ 0 h 27"/>
                  <a:gd name="T10" fmla="*/ 0 w 25"/>
                  <a:gd name="T11" fmla="*/ 0 h 27"/>
                  <a:gd name="T12" fmla="*/ 0 w 25"/>
                  <a:gd name="T13" fmla="*/ 0 h 27"/>
                  <a:gd name="T14" fmla="*/ 0 w 25"/>
                  <a:gd name="T15" fmla="*/ 0 h 27"/>
                  <a:gd name="T16" fmla="*/ 0 w 25"/>
                  <a:gd name="T17" fmla="*/ 0 h 27"/>
                  <a:gd name="T18" fmla="*/ 0 w 25"/>
                  <a:gd name="T19" fmla="*/ 0 h 27"/>
                  <a:gd name="T20" fmla="*/ 0 w 25"/>
                  <a:gd name="T21" fmla="*/ 0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27"/>
                  <a:gd name="T35" fmla="*/ 25 w 25"/>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27">
                    <a:moveTo>
                      <a:pt x="0" y="14"/>
                    </a:moveTo>
                    <a:lnTo>
                      <a:pt x="0" y="14"/>
                    </a:lnTo>
                    <a:lnTo>
                      <a:pt x="3" y="27"/>
                    </a:lnTo>
                    <a:lnTo>
                      <a:pt x="25" y="20"/>
                    </a:lnTo>
                    <a:lnTo>
                      <a:pt x="22" y="8"/>
                    </a:lnTo>
                    <a:lnTo>
                      <a:pt x="17" y="2"/>
                    </a:lnTo>
                    <a:lnTo>
                      <a:pt x="9" y="0"/>
                    </a:lnTo>
                    <a:lnTo>
                      <a:pt x="1" y="5"/>
                    </a:lnTo>
                    <a:lnTo>
                      <a:pt x="0" y="14"/>
                    </a:lnTo>
                    <a:close/>
                  </a:path>
                </a:pathLst>
              </a:custGeom>
              <a:solidFill>
                <a:srgbClr val="000000"/>
              </a:solidFill>
              <a:ln w="9525">
                <a:noFill/>
                <a:round/>
                <a:headEnd/>
                <a:tailEnd/>
              </a:ln>
            </p:spPr>
            <p:txBody>
              <a:bodyPr/>
              <a:lstStyle/>
              <a:p>
                <a:endParaRPr lang="en-US"/>
              </a:p>
            </p:txBody>
          </p:sp>
          <p:sp>
            <p:nvSpPr>
              <p:cNvPr id="26802" name="Freeform 139"/>
              <p:cNvSpPr>
                <a:spLocks/>
              </p:cNvSpPr>
              <p:nvPr/>
            </p:nvSpPr>
            <p:spPr bwMode="auto">
              <a:xfrm>
                <a:off x="2041" y="3660"/>
                <a:ext cx="18" cy="18"/>
              </a:xfrm>
              <a:custGeom>
                <a:avLst/>
                <a:gdLst>
                  <a:gd name="T0" fmla="*/ 1 w 36"/>
                  <a:gd name="T1" fmla="*/ 0 h 36"/>
                  <a:gd name="T2" fmla="*/ 1 w 36"/>
                  <a:gd name="T3" fmla="*/ 0 h 36"/>
                  <a:gd name="T4" fmla="*/ 1 w 36"/>
                  <a:gd name="T5" fmla="*/ 1 h 36"/>
                  <a:gd name="T6" fmla="*/ 1 w 36"/>
                  <a:gd name="T7" fmla="*/ 1 h 36"/>
                  <a:gd name="T8" fmla="*/ 0 w 36"/>
                  <a:gd name="T9" fmla="*/ 1 h 36"/>
                  <a:gd name="T10" fmla="*/ 0 w 36"/>
                  <a:gd name="T11" fmla="*/ 1 h 36"/>
                  <a:gd name="T12" fmla="*/ 1 w 36"/>
                  <a:gd name="T13" fmla="*/ 1 h 36"/>
                  <a:gd name="T14" fmla="*/ 1 w 36"/>
                  <a:gd name="T15" fmla="*/ 1 h 36"/>
                  <a:gd name="T16" fmla="*/ 1 w 36"/>
                  <a:gd name="T17" fmla="*/ 1 h 36"/>
                  <a:gd name="T18" fmla="*/ 1 w 36"/>
                  <a:gd name="T19" fmla="*/ 1 h 36"/>
                  <a:gd name="T20" fmla="*/ 1 w 36"/>
                  <a:gd name="T21" fmla="*/ 1 h 36"/>
                  <a:gd name="T22" fmla="*/ 1 w 36"/>
                  <a:gd name="T23" fmla="*/ 1 h 36"/>
                  <a:gd name="T24" fmla="*/ 1 w 36"/>
                  <a:gd name="T25" fmla="*/ 0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
                  <a:gd name="T40" fmla="*/ 0 h 36"/>
                  <a:gd name="T41" fmla="*/ 36 w 36"/>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 h="36">
                    <a:moveTo>
                      <a:pt x="30" y="0"/>
                    </a:moveTo>
                    <a:lnTo>
                      <a:pt x="30" y="0"/>
                    </a:lnTo>
                    <a:lnTo>
                      <a:pt x="12" y="8"/>
                    </a:lnTo>
                    <a:lnTo>
                      <a:pt x="3" y="21"/>
                    </a:lnTo>
                    <a:lnTo>
                      <a:pt x="0" y="30"/>
                    </a:lnTo>
                    <a:lnTo>
                      <a:pt x="0" y="36"/>
                    </a:lnTo>
                    <a:lnTo>
                      <a:pt x="22" y="30"/>
                    </a:lnTo>
                    <a:lnTo>
                      <a:pt x="22" y="33"/>
                    </a:lnTo>
                    <a:lnTo>
                      <a:pt x="22" y="30"/>
                    </a:lnTo>
                    <a:lnTo>
                      <a:pt x="25" y="27"/>
                    </a:lnTo>
                    <a:lnTo>
                      <a:pt x="36" y="22"/>
                    </a:lnTo>
                    <a:lnTo>
                      <a:pt x="30" y="0"/>
                    </a:lnTo>
                    <a:close/>
                  </a:path>
                </a:pathLst>
              </a:custGeom>
              <a:solidFill>
                <a:srgbClr val="000000"/>
              </a:solidFill>
              <a:ln w="9525">
                <a:noFill/>
                <a:round/>
                <a:headEnd/>
                <a:tailEnd/>
              </a:ln>
            </p:spPr>
            <p:txBody>
              <a:bodyPr/>
              <a:lstStyle/>
              <a:p>
                <a:endParaRPr lang="en-US"/>
              </a:p>
            </p:txBody>
          </p:sp>
          <p:sp>
            <p:nvSpPr>
              <p:cNvPr id="26803" name="Freeform 140"/>
              <p:cNvSpPr>
                <a:spLocks/>
              </p:cNvSpPr>
              <p:nvPr/>
            </p:nvSpPr>
            <p:spPr bwMode="auto">
              <a:xfrm>
                <a:off x="2056" y="3649"/>
                <a:ext cx="80" cy="22"/>
              </a:xfrm>
              <a:custGeom>
                <a:avLst/>
                <a:gdLst>
                  <a:gd name="T0" fmla="*/ 0 w 161"/>
                  <a:gd name="T1" fmla="*/ 0 h 44"/>
                  <a:gd name="T2" fmla="*/ 0 w 161"/>
                  <a:gd name="T3" fmla="*/ 0 h 44"/>
                  <a:gd name="T4" fmla="*/ 0 w 161"/>
                  <a:gd name="T5" fmla="*/ 1 h 44"/>
                  <a:gd name="T6" fmla="*/ 0 w 161"/>
                  <a:gd name="T7" fmla="*/ 1 h 44"/>
                  <a:gd name="T8" fmla="*/ 0 w 161"/>
                  <a:gd name="T9" fmla="*/ 1 h 44"/>
                  <a:gd name="T10" fmla="*/ 0 w 161"/>
                  <a:gd name="T11" fmla="*/ 1 h 44"/>
                  <a:gd name="T12" fmla="*/ 0 w 161"/>
                  <a:gd name="T13" fmla="*/ 1 h 44"/>
                  <a:gd name="T14" fmla="*/ 0 w 161"/>
                  <a:gd name="T15" fmla="*/ 1 h 44"/>
                  <a:gd name="T16" fmla="*/ 0 w 161"/>
                  <a:gd name="T17" fmla="*/ 1 h 44"/>
                  <a:gd name="T18" fmla="*/ 0 w 161"/>
                  <a:gd name="T19" fmla="*/ 1 h 44"/>
                  <a:gd name="T20" fmla="*/ 0 w 161"/>
                  <a:gd name="T21" fmla="*/ 1 h 44"/>
                  <a:gd name="T22" fmla="*/ 0 w 161"/>
                  <a:gd name="T23" fmla="*/ 1 h 44"/>
                  <a:gd name="T24" fmla="*/ 0 w 161"/>
                  <a:gd name="T25" fmla="*/ 1 h 44"/>
                  <a:gd name="T26" fmla="*/ 0 w 161"/>
                  <a:gd name="T27" fmla="*/ 1 h 44"/>
                  <a:gd name="T28" fmla="*/ 0 w 161"/>
                  <a:gd name="T29" fmla="*/ 1 h 44"/>
                  <a:gd name="T30" fmla="*/ 0 w 161"/>
                  <a:gd name="T31" fmla="*/ 1 h 44"/>
                  <a:gd name="T32" fmla="*/ 0 w 161"/>
                  <a:gd name="T33" fmla="*/ 1 h 44"/>
                  <a:gd name="T34" fmla="*/ 0 w 161"/>
                  <a:gd name="T35" fmla="*/ 1 h 44"/>
                  <a:gd name="T36" fmla="*/ 0 w 161"/>
                  <a:gd name="T37" fmla="*/ 0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1"/>
                  <a:gd name="T58" fmla="*/ 0 h 44"/>
                  <a:gd name="T59" fmla="*/ 161 w 161"/>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1" h="44">
                    <a:moveTo>
                      <a:pt x="161" y="0"/>
                    </a:moveTo>
                    <a:lnTo>
                      <a:pt x="148" y="0"/>
                    </a:lnTo>
                    <a:lnTo>
                      <a:pt x="130" y="2"/>
                    </a:lnTo>
                    <a:lnTo>
                      <a:pt x="108" y="5"/>
                    </a:lnTo>
                    <a:lnTo>
                      <a:pt x="83" y="8"/>
                    </a:lnTo>
                    <a:lnTo>
                      <a:pt x="58" y="11"/>
                    </a:lnTo>
                    <a:lnTo>
                      <a:pt x="34" y="16"/>
                    </a:lnTo>
                    <a:lnTo>
                      <a:pt x="15" y="19"/>
                    </a:lnTo>
                    <a:lnTo>
                      <a:pt x="0" y="22"/>
                    </a:lnTo>
                    <a:lnTo>
                      <a:pt x="6" y="44"/>
                    </a:lnTo>
                    <a:lnTo>
                      <a:pt x="18" y="41"/>
                    </a:lnTo>
                    <a:lnTo>
                      <a:pt x="37" y="38"/>
                    </a:lnTo>
                    <a:lnTo>
                      <a:pt x="61" y="33"/>
                    </a:lnTo>
                    <a:lnTo>
                      <a:pt x="86" y="30"/>
                    </a:lnTo>
                    <a:lnTo>
                      <a:pt x="111" y="27"/>
                    </a:lnTo>
                    <a:lnTo>
                      <a:pt x="133" y="24"/>
                    </a:lnTo>
                    <a:lnTo>
                      <a:pt x="148" y="22"/>
                    </a:lnTo>
                    <a:lnTo>
                      <a:pt x="158" y="22"/>
                    </a:lnTo>
                    <a:lnTo>
                      <a:pt x="161" y="0"/>
                    </a:lnTo>
                    <a:close/>
                  </a:path>
                </a:pathLst>
              </a:custGeom>
              <a:solidFill>
                <a:srgbClr val="000000"/>
              </a:solidFill>
              <a:ln w="9525">
                <a:noFill/>
                <a:round/>
                <a:headEnd/>
                <a:tailEnd/>
              </a:ln>
            </p:spPr>
            <p:txBody>
              <a:bodyPr/>
              <a:lstStyle/>
              <a:p>
                <a:endParaRPr lang="en-US"/>
              </a:p>
            </p:txBody>
          </p:sp>
          <p:sp>
            <p:nvSpPr>
              <p:cNvPr id="26804" name="Freeform 141"/>
              <p:cNvSpPr>
                <a:spLocks/>
              </p:cNvSpPr>
              <p:nvPr/>
            </p:nvSpPr>
            <p:spPr bwMode="auto">
              <a:xfrm>
                <a:off x="2160" y="3770"/>
                <a:ext cx="21" cy="68"/>
              </a:xfrm>
              <a:custGeom>
                <a:avLst/>
                <a:gdLst>
                  <a:gd name="T0" fmla="*/ 0 w 42"/>
                  <a:gd name="T1" fmla="*/ 0 h 138"/>
                  <a:gd name="T2" fmla="*/ 0 w 42"/>
                  <a:gd name="T3" fmla="*/ 0 h 138"/>
                  <a:gd name="T4" fmla="*/ 0 w 42"/>
                  <a:gd name="T5" fmla="*/ 0 h 138"/>
                  <a:gd name="T6" fmla="*/ 1 w 42"/>
                  <a:gd name="T7" fmla="*/ 0 h 138"/>
                  <a:gd name="T8" fmla="*/ 1 w 42"/>
                  <a:gd name="T9" fmla="*/ 0 h 138"/>
                  <a:gd name="T10" fmla="*/ 1 w 42"/>
                  <a:gd name="T11" fmla="*/ 0 h 138"/>
                  <a:gd name="T12" fmla="*/ 1 w 42"/>
                  <a:gd name="T13" fmla="*/ 0 h 138"/>
                  <a:gd name="T14" fmla="*/ 1 w 42"/>
                  <a:gd name="T15" fmla="*/ 0 h 138"/>
                  <a:gd name="T16" fmla="*/ 1 w 42"/>
                  <a:gd name="T17" fmla="*/ 0 h 138"/>
                  <a:gd name="T18" fmla="*/ 1 w 42"/>
                  <a:gd name="T19" fmla="*/ 0 h 138"/>
                  <a:gd name="T20" fmla="*/ 1 w 42"/>
                  <a:gd name="T21" fmla="*/ 0 h 138"/>
                  <a:gd name="T22" fmla="*/ 0 w 42"/>
                  <a:gd name="T23" fmla="*/ 0 h 1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138"/>
                  <a:gd name="T38" fmla="*/ 42 w 42"/>
                  <a:gd name="T39" fmla="*/ 138 h 1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138">
                    <a:moveTo>
                      <a:pt x="0" y="2"/>
                    </a:moveTo>
                    <a:lnTo>
                      <a:pt x="0" y="121"/>
                    </a:lnTo>
                    <a:lnTo>
                      <a:pt x="0" y="124"/>
                    </a:lnTo>
                    <a:lnTo>
                      <a:pt x="3" y="129"/>
                    </a:lnTo>
                    <a:lnTo>
                      <a:pt x="9" y="135"/>
                    </a:lnTo>
                    <a:lnTo>
                      <a:pt x="22" y="138"/>
                    </a:lnTo>
                    <a:lnTo>
                      <a:pt x="34" y="135"/>
                    </a:lnTo>
                    <a:lnTo>
                      <a:pt x="41" y="129"/>
                    </a:lnTo>
                    <a:lnTo>
                      <a:pt x="42" y="121"/>
                    </a:lnTo>
                    <a:lnTo>
                      <a:pt x="42" y="118"/>
                    </a:lnTo>
                    <a:lnTo>
                      <a:pt x="42" y="0"/>
                    </a:lnTo>
                    <a:lnTo>
                      <a:pt x="0" y="2"/>
                    </a:lnTo>
                    <a:close/>
                  </a:path>
                </a:pathLst>
              </a:custGeom>
              <a:solidFill>
                <a:srgbClr val="FF7226"/>
              </a:solidFill>
              <a:ln w="9525">
                <a:noFill/>
                <a:round/>
                <a:headEnd/>
                <a:tailEnd/>
              </a:ln>
            </p:spPr>
            <p:txBody>
              <a:bodyPr/>
              <a:lstStyle/>
              <a:p>
                <a:endParaRPr lang="en-US"/>
              </a:p>
            </p:txBody>
          </p:sp>
          <p:sp>
            <p:nvSpPr>
              <p:cNvPr id="26805" name="Freeform 142"/>
              <p:cNvSpPr>
                <a:spLocks/>
              </p:cNvSpPr>
              <p:nvPr/>
            </p:nvSpPr>
            <p:spPr bwMode="auto">
              <a:xfrm>
                <a:off x="2154" y="3770"/>
                <a:ext cx="11" cy="65"/>
              </a:xfrm>
              <a:custGeom>
                <a:avLst/>
                <a:gdLst>
                  <a:gd name="T0" fmla="*/ 1 w 22"/>
                  <a:gd name="T1" fmla="*/ 1 h 130"/>
                  <a:gd name="T2" fmla="*/ 1 w 22"/>
                  <a:gd name="T3" fmla="*/ 1 h 130"/>
                  <a:gd name="T4" fmla="*/ 1 w 22"/>
                  <a:gd name="T5" fmla="*/ 0 h 130"/>
                  <a:gd name="T6" fmla="*/ 0 w 22"/>
                  <a:gd name="T7" fmla="*/ 0 h 130"/>
                  <a:gd name="T8" fmla="*/ 0 w 22"/>
                  <a:gd name="T9" fmla="*/ 1 h 130"/>
                  <a:gd name="T10" fmla="*/ 0 w 22"/>
                  <a:gd name="T11" fmla="*/ 1 h 130"/>
                  <a:gd name="T12" fmla="*/ 0 w 22"/>
                  <a:gd name="T13" fmla="*/ 1 h 130"/>
                  <a:gd name="T14" fmla="*/ 1 w 22"/>
                  <a:gd name="T15" fmla="*/ 1 h 130"/>
                  <a:gd name="T16" fmla="*/ 1 w 22"/>
                  <a:gd name="T17" fmla="*/ 1 h 130"/>
                  <a:gd name="T18" fmla="*/ 1 w 22"/>
                  <a:gd name="T19" fmla="*/ 1 h 130"/>
                  <a:gd name="T20" fmla="*/ 1 w 22"/>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
                  <a:gd name="T34" fmla="*/ 0 h 130"/>
                  <a:gd name="T35" fmla="*/ 22 w 22"/>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 h="130">
                    <a:moveTo>
                      <a:pt x="22" y="119"/>
                    </a:moveTo>
                    <a:lnTo>
                      <a:pt x="22" y="119"/>
                    </a:lnTo>
                    <a:lnTo>
                      <a:pt x="22" y="0"/>
                    </a:lnTo>
                    <a:lnTo>
                      <a:pt x="0" y="0"/>
                    </a:lnTo>
                    <a:lnTo>
                      <a:pt x="0" y="119"/>
                    </a:lnTo>
                    <a:lnTo>
                      <a:pt x="3" y="127"/>
                    </a:lnTo>
                    <a:lnTo>
                      <a:pt x="11" y="130"/>
                    </a:lnTo>
                    <a:lnTo>
                      <a:pt x="19" y="127"/>
                    </a:lnTo>
                    <a:lnTo>
                      <a:pt x="22" y="119"/>
                    </a:lnTo>
                    <a:close/>
                  </a:path>
                </a:pathLst>
              </a:custGeom>
              <a:solidFill>
                <a:srgbClr val="000000"/>
              </a:solidFill>
              <a:ln w="9525">
                <a:noFill/>
                <a:round/>
                <a:headEnd/>
                <a:tailEnd/>
              </a:ln>
            </p:spPr>
            <p:txBody>
              <a:bodyPr/>
              <a:lstStyle/>
              <a:p>
                <a:endParaRPr lang="en-US"/>
              </a:p>
            </p:txBody>
          </p:sp>
          <p:sp>
            <p:nvSpPr>
              <p:cNvPr id="26806" name="Freeform 143"/>
              <p:cNvSpPr>
                <a:spLocks/>
              </p:cNvSpPr>
              <p:nvPr/>
            </p:nvSpPr>
            <p:spPr bwMode="auto">
              <a:xfrm>
                <a:off x="2154" y="3829"/>
                <a:ext cx="17" cy="15"/>
              </a:xfrm>
              <a:custGeom>
                <a:avLst/>
                <a:gdLst>
                  <a:gd name="T0" fmla="*/ 1 w 33"/>
                  <a:gd name="T1" fmla="*/ 1 h 30"/>
                  <a:gd name="T2" fmla="*/ 1 w 33"/>
                  <a:gd name="T3" fmla="*/ 1 h 30"/>
                  <a:gd name="T4" fmla="*/ 1 w 33"/>
                  <a:gd name="T5" fmla="*/ 1 h 30"/>
                  <a:gd name="T6" fmla="*/ 1 w 33"/>
                  <a:gd name="T7" fmla="*/ 1 h 30"/>
                  <a:gd name="T8" fmla="*/ 1 w 33"/>
                  <a:gd name="T9" fmla="*/ 0 h 30"/>
                  <a:gd name="T10" fmla="*/ 1 w 33"/>
                  <a:gd name="T11" fmla="*/ 1 h 30"/>
                  <a:gd name="T12" fmla="*/ 0 w 33"/>
                  <a:gd name="T13" fmla="*/ 1 h 30"/>
                  <a:gd name="T14" fmla="*/ 0 w 33"/>
                  <a:gd name="T15" fmla="*/ 1 h 30"/>
                  <a:gd name="T16" fmla="*/ 1 w 33"/>
                  <a:gd name="T17" fmla="*/ 1 h 30"/>
                  <a:gd name="T18" fmla="*/ 1 w 33"/>
                  <a:gd name="T19" fmla="*/ 1 h 30"/>
                  <a:gd name="T20" fmla="*/ 1 w 33"/>
                  <a:gd name="T21" fmla="*/ 1 h 30"/>
                  <a:gd name="T22" fmla="*/ 1 w 33"/>
                  <a:gd name="T23" fmla="*/ 1 h 30"/>
                  <a:gd name="T24" fmla="*/ 1 w 33"/>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0"/>
                  <a:gd name="T41" fmla="*/ 33 w 33"/>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0">
                    <a:moveTo>
                      <a:pt x="33" y="8"/>
                    </a:moveTo>
                    <a:lnTo>
                      <a:pt x="33" y="8"/>
                    </a:lnTo>
                    <a:lnTo>
                      <a:pt x="25" y="6"/>
                    </a:lnTo>
                    <a:lnTo>
                      <a:pt x="22" y="2"/>
                    </a:lnTo>
                    <a:lnTo>
                      <a:pt x="22" y="0"/>
                    </a:lnTo>
                    <a:lnTo>
                      <a:pt x="22" y="2"/>
                    </a:lnTo>
                    <a:lnTo>
                      <a:pt x="0" y="2"/>
                    </a:lnTo>
                    <a:lnTo>
                      <a:pt x="0" y="10"/>
                    </a:lnTo>
                    <a:lnTo>
                      <a:pt x="6" y="17"/>
                    </a:lnTo>
                    <a:lnTo>
                      <a:pt x="16" y="25"/>
                    </a:lnTo>
                    <a:lnTo>
                      <a:pt x="33" y="30"/>
                    </a:lnTo>
                    <a:lnTo>
                      <a:pt x="33" y="8"/>
                    </a:lnTo>
                    <a:close/>
                  </a:path>
                </a:pathLst>
              </a:custGeom>
              <a:solidFill>
                <a:srgbClr val="000000"/>
              </a:solidFill>
              <a:ln w="9525">
                <a:noFill/>
                <a:round/>
                <a:headEnd/>
                <a:tailEnd/>
              </a:ln>
            </p:spPr>
            <p:txBody>
              <a:bodyPr/>
              <a:lstStyle/>
              <a:p>
                <a:endParaRPr lang="en-US"/>
              </a:p>
            </p:txBody>
          </p:sp>
          <p:sp>
            <p:nvSpPr>
              <p:cNvPr id="26807" name="Freeform 144"/>
              <p:cNvSpPr>
                <a:spLocks/>
              </p:cNvSpPr>
              <p:nvPr/>
            </p:nvSpPr>
            <p:spPr bwMode="auto">
              <a:xfrm>
                <a:off x="2171" y="3823"/>
                <a:ext cx="16" cy="21"/>
              </a:xfrm>
              <a:custGeom>
                <a:avLst/>
                <a:gdLst>
                  <a:gd name="T0" fmla="*/ 1 w 31"/>
                  <a:gd name="T1" fmla="*/ 1 h 42"/>
                  <a:gd name="T2" fmla="*/ 1 w 31"/>
                  <a:gd name="T3" fmla="*/ 1 h 42"/>
                  <a:gd name="T4" fmla="*/ 1 w 31"/>
                  <a:gd name="T5" fmla="*/ 1 h 42"/>
                  <a:gd name="T6" fmla="*/ 1 w 31"/>
                  <a:gd name="T7" fmla="*/ 1 h 42"/>
                  <a:gd name="T8" fmla="*/ 1 w 31"/>
                  <a:gd name="T9" fmla="*/ 1 h 42"/>
                  <a:gd name="T10" fmla="*/ 0 w 31"/>
                  <a:gd name="T11" fmla="*/ 1 h 42"/>
                  <a:gd name="T12" fmla="*/ 0 w 31"/>
                  <a:gd name="T13" fmla="*/ 1 h 42"/>
                  <a:gd name="T14" fmla="*/ 1 w 31"/>
                  <a:gd name="T15" fmla="*/ 1 h 42"/>
                  <a:gd name="T16" fmla="*/ 1 w 31"/>
                  <a:gd name="T17" fmla="*/ 1 h 42"/>
                  <a:gd name="T18" fmla="*/ 1 w 31"/>
                  <a:gd name="T19" fmla="*/ 1 h 42"/>
                  <a:gd name="T20" fmla="*/ 1 w 31"/>
                  <a:gd name="T21" fmla="*/ 1 h 42"/>
                  <a:gd name="T22" fmla="*/ 1 w 31"/>
                  <a:gd name="T23" fmla="*/ 1 h 42"/>
                  <a:gd name="T24" fmla="*/ 1 w 31"/>
                  <a:gd name="T25" fmla="*/ 1 h 42"/>
                  <a:gd name="T26" fmla="*/ 1 w 31"/>
                  <a:gd name="T27" fmla="*/ 1 h 42"/>
                  <a:gd name="T28" fmla="*/ 1 w 31"/>
                  <a:gd name="T29" fmla="*/ 0 h 42"/>
                  <a:gd name="T30" fmla="*/ 1 w 31"/>
                  <a:gd name="T31" fmla="*/ 1 h 42"/>
                  <a:gd name="T32" fmla="*/ 1 w 31"/>
                  <a:gd name="T33" fmla="*/ 1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42"/>
                  <a:gd name="T53" fmla="*/ 31 w 31"/>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42">
                    <a:moveTo>
                      <a:pt x="9" y="11"/>
                    </a:moveTo>
                    <a:lnTo>
                      <a:pt x="9" y="11"/>
                    </a:lnTo>
                    <a:lnTo>
                      <a:pt x="9" y="12"/>
                    </a:lnTo>
                    <a:lnTo>
                      <a:pt x="9" y="17"/>
                    </a:lnTo>
                    <a:lnTo>
                      <a:pt x="8" y="18"/>
                    </a:lnTo>
                    <a:lnTo>
                      <a:pt x="0" y="20"/>
                    </a:lnTo>
                    <a:lnTo>
                      <a:pt x="0" y="42"/>
                    </a:lnTo>
                    <a:lnTo>
                      <a:pt x="17" y="37"/>
                    </a:lnTo>
                    <a:lnTo>
                      <a:pt x="28" y="26"/>
                    </a:lnTo>
                    <a:lnTo>
                      <a:pt x="31" y="15"/>
                    </a:lnTo>
                    <a:lnTo>
                      <a:pt x="31" y="11"/>
                    </a:lnTo>
                    <a:lnTo>
                      <a:pt x="28" y="3"/>
                    </a:lnTo>
                    <a:lnTo>
                      <a:pt x="20" y="0"/>
                    </a:lnTo>
                    <a:lnTo>
                      <a:pt x="12" y="3"/>
                    </a:lnTo>
                    <a:lnTo>
                      <a:pt x="9" y="11"/>
                    </a:lnTo>
                    <a:close/>
                  </a:path>
                </a:pathLst>
              </a:custGeom>
              <a:solidFill>
                <a:srgbClr val="000000"/>
              </a:solidFill>
              <a:ln w="9525">
                <a:noFill/>
                <a:round/>
                <a:headEnd/>
                <a:tailEnd/>
              </a:ln>
            </p:spPr>
            <p:txBody>
              <a:bodyPr/>
              <a:lstStyle/>
              <a:p>
                <a:endParaRPr lang="en-US"/>
              </a:p>
            </p:txBody>
          </p:sp>
          <p:sp>
            <p:nvSpPr>
              <p:cNvPr id="26808" name="Freeform 145"/>
              <p:cNvSpPr>
                <a:spLocks/>
              </p:cNvSpPr>
              <p:nvPr/>
            </p:nvSpPr>
            <p:spPr bwMode="auto">
              <a:xfrm>
                <a:off x="2176" y="3764"/>
                <a:ext cx="11" cy="64"/>
              </a:xfrm>
              <a:custGeom>
                <a:avLst/>
                <a:gdLst>
                  <a:gd name="T0" fmla="*/ 1 w 22"/>
                  <a:gd name="T1" fmla="*/ 0 h 129"/>
                  <a:gd name="T2" fmla="*/ 0 w 22"/>
                  <a:gd name="T3" fmla="*/ 0 h 129"/>
                  <a:gd name="T4" fmla="*/ 0 w 22"/>
                  <a:gd name="T5" fmla="*/ 0 h 129"/>
                  <a:gd name="T6" fmla="*/ 1 w 22"/>
                  <a:gd name="T7" fmla="*/ 0 h 129"/>
                  <a:gd name="T8" fmla="*/ 1 w 22"/>
                  <a:gd name="T9" fmla="*/ 0 h 129"/>
                  <a:gd name="T10" fmla="*/ 1 w 22"/>
                  <a:gd name="T11" fmla="*/ 0 h 129"/>
                  <a:gd name="T12" fmla="*/ 1 w 22"/>
                  <a:gd name="T13" fmla="*/ 0 h 129"/>
                  <a:gd name="T14" fmla="*/ 1 w 22"/>
                  <a:gd name="T15" fmla="*/ 0 h 129"/>
                  <a:gd name="T16" fmla="*/ 1 w 22"/>
                  <a:gd name="T17" fmla="*/ 0 h 129"/>
                  <a:gd name="T18" fmla="*/ 1 w 22"/>
                  <a:gd name="T19" fmla="*/ 0 h 129"/>
                  <a:gd name="T20" fmla="*/ 0 w 22"/>
                  <a:gd name="T21" fmla="*/ 0 h 129"/>
                  <a:gd name="T22" fmla="*/ 1 w 22"/>
                  <a:gd name="T23" fmla="*/ 0 h 1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29"/>
                  <a:gd name="T38" fmla="*/ 22 w 22"/>
                  <a:gd name="T39" fmla="*/ 129 h 1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29">
                    <a:moveTo>
                      <a:pt x="11" y="22"/>
                    </a:moveTo>
                    <a:lnTo>
                      <a:pt x="0" y="11"/>
                    </a:lnTo>
                    <a:lnTo>
                      <a:pt x="0" y="129"/>
                    </a:lnTo>
                    <a:lnTo>
                      <a:pt x="22" y="129"/>
                    </a:lnTo>
                    <a:lnTo>
                      <a:pt x="22" y="11"/>
                    </a:lnTo>
                    <a:lnTo>
                      <a:pt x="11" y="0"/>
                    </a:lnTo>
                    <a:lnTo>
                      <a:pt x="22" y="11"/>
                    </a:lnTo>
                    <a:lnTo>
                      <a:pt x="19" y="3"/>
                    </a:lnTo>
                    <a:lnTo>
                      <a:pt x="11" y="0"/>
                    </a:lnTo>
                    <a:lnTo>
                      <a:pt x="3" y="3"/>
                    </a:lnTo>
                    <a:lnTo>
                      <a:pt x="0" y="11"/>
                    </a:lnTo>
                    <a:lnTo>
                      <a:pt x="11" y="22"/>
                    </a:lnTo>
                    <a:close/>
                  </a:path>
                </a:pathLst>
              </a:custGeom>
              <a:solidFill>
                <a:srgbClr val="000000"/>
              </a:solidFill>
              <a:ln w="9525">
                <a:noFill/>
                <a:round/>
                <a:headEnd/>
                <a:tailEnd/>
              </a:ln>
            </p:spPr>
            <p:txBody>
              <a:bodyPr/>
              <a:lstStyle/>
              <a:p>
                <a:endParaRPr lang="en-US"/>
              </a:p>
            </p:txBody>
          </p:sp>
          <p:sp>
            <p:nvSpPr>
              <p:cNvPr id="26809" name="Freeform 146"/>
              <p:cNvSpPr>
                <a:spLocks/>
              </p:cNvSpPr>
              <p:nvPr/>
            </p:nvSpPr>
            <p:spPr bwMode="auto">
              <a:xfrm>
                <a:off x="2154" y="3764"/>
                <a:ext cx="27" cy="12"/>
              </a:xfrm>
              <a:custGeom>
                <a:avLst/>
                <a:gdLst>
                  <a:gd name="T0" fmla="*/ 1 w 53"/>
                  <a:gd name="T1" fmla="*/ 1 h 24"/>
                  <a:gd name="T2" fmla="*/ 1 w 53"/>
                  <a:gd name="T3" fmla="*/ 1 h 24"/>
                  <a:gd name="T4" fmla="*/ 1 w 53"/>
                  <a:gd name="T5" fmla="*/ 1 h 24"/>
                  <a:gd name="T6" fmla="*/ 1 w 53"/>
                  <a:gd name="T7" fmla="*/ 0 h 24"/>
                  <a:gd name="T8" fmla="*/ 1 w 53"/>
                  <a:gd name="T9" fmla="*/ 1 h 24"/>
                  <a:gd name="T10" fmla="*/ 0 w 53"/>
                  <a:gd name="T11" fmla="*/ 1 h 24"/>
                  <a:gd name="T12" fmla="*/ 1 w 53"/>
                  <a:gd name="T13" fmla="*/ 1 h 24"/>
                  <a:gd name="T14" fmla="*/ 1 w 53"/>
                  <a:gd name="T15" fmla="*/ 1 h 24"/>
                  <a:gd name="T16" fmla="*/ 0 w 53"/>
                  <a:gd name="T17" fmla="*/ 1 h 24"/>
                  <a:gd name="T18" fmla="*/ 1 w 53"/>
                  <a:gd name="T19" fmla="*/ 1 h 24"/>
                  <a:gd name="T20" fmla="*/ 1 w 53"/>
                  <a:gd name="T21" fmla="*/ 1 h 24"/>
                  <a:gd name="T22" fmla="*/ 1 w 53"/>
                  <a:gd name="T23" fmla="*/ 1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
                  <a:gd name="T37" fmla="*/ 0 h 24"/>
                  <a:gd name="T38" fmla="*/ 53 w 53"/>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 h="24">
                    <a:moveTo>
                      <a:pt x="22" y="13"/>
                    </a:moveTo>
                    <a:lnTo>
                      <a:pt x="11" y="24"/>
                    </a:lnTo>
                    <a:lnTo>
                      <a:pt x="53" y="22"/>
                    </a:lnTo>
                    <a:lnTo>
                      <a:pt x="53" y="0"/>
                    </a:lnTo>
                    <a:lnTo>
                      <a:pt x="11" y="2"/>
                    </a:lnTo>
                    <a:lnTo>
                      <a:pt x="0" y="13"/>
                    </a:lnTo>
                    <a:lnTo>
                      <a:pt x="11" y="2"/>
                    </a:lnTo>
                    <a:lnTo>
                      <a:pt x="3" y="5"/>
                    </a:lnTo>
                    <a:lnTo>
                      <a:pt x="0" y="13"/>
                    </a:lnTo>
                    <a:lnTo>
                      <a:pt x="3" y="21"/>
                    </a:lnTo>
                    <a:lnTo>
                      <a:pt x="11" y="24"/>
                    </a:lnTo>
                    <a:lnTo>
                      <a:pt x="22" y="13"/>
                    </a:lnTo>
                    <a:close/>
                  </a:path>
                </a:pathLst>
              </a:custGeom>
              <a:solidFill>
                <a:srgbClr val="000000"/>
              </a:solidFill>
              <a:ln w="9525">
                <a:noFill/>
                <a:round/>
                <a:headEnd/>
                <a:tailEnd/>
              </a:ln>
            </p:spPr>
            <p:txBody>
              <a:bodyPr/>
              <a:lstStyle/>
              <a:p>
                <a:endParaRPr lang="en-US"/>
              </a:p>
            </p:txBody>
          </p:sp>
          <p:sp>
            <p:nvSpPr>
              <p:cNvPr id="26810" name="Freeform 147"/>
              <p:cNvSpPr>
                <a:spLocks/>
              </p:cNvSpPr>
              <p:nvPr/>
            </p:nvSpPr>
            <p:spPr bwMode="auto">
              <a:xfrm>
                <a:off x="2168" y="3561"/>
                <a:ext cx="105" cy="191"/>
              </a:xfrm>
              <a:custGeom>
                <a:avLst/>
                <a:gdLst>
                  <a:gd name="T0" fmla="*/ 0 w 211"/>
                  <a:gd name="T1" fmla="*/ 1 h 381"/>
                  <a:gd name="T2" fmla="*/ 0 w 211"/>
                  <a:gd name="T3" fmla="*/ 1 h 381"/>
                  <a:gd name="T4" fmla="*/ 0 w 211"/>
                  <a:gd name="T5" fmla="*/ 1 h 381"/>
                  <a:gd name="T6" fmla="*/ 0 w 211"/>
                  <a:gd name="T7" fmla="*/ 1 h 381"/>
                  <a:gd name="T8" fmla="*/ 0 w 211"/>
                  <a:gd name="T9" fmla="*/ 1 h 381"/>
                  <a:gd name="T10" fmla="*/ 0 w 211"/>
                  <a:gd name="T11" fmla="*/ 1 h 381"/>
                  <a:gd name="T12" fmla="*/ 0 w 211"/>
                  <a:gd name="T13" fmla="*/ 1 h 381"/>
                  <a:gd name="T14" fmla="*/ 0 w 211"/>
                  <a:gd name="T15" fmla="*/ 1 h 381"/>
                  <a:gd name="T16" fmla="*/ 0 w 211"/>
                  <a:gd name="T17" fmla="*/ 1 h 381"/>
                  <a:gd name="T18" fmla="*/ 0 w 211"/>
                  <a:gd name="T19" fmla="*/ 1 h 381"/>
                  <a:gd name="T20" fmla="*/ 0 w 211"/>
                  <a:gd name="T21" fmla="*/ 1 h 381"/>
                  <a:gd name="T22" fmla="*/ 0 w 211"/>
                  <a:gd name="T23" fmla="*/ 1 h 381"/>
                  <a:gd name="T24" fmla="*/ 0 w 211"/>
                  <a:gd name="T25" fmla="*/ 1 h 381"/>
                  <a:gd name="T26" fmla="*/ 0 w 211"/>
                  <a:gd name="T27" fmla="*/ 1 h 381"/>
                  <a:gd name="T28" fmla="*/ 0 w 211"/>
                  <a:gd name="T29" fmla="*/ 1 h 381"/>
                  <a:gd name="T30" fmla="*/ 0 w 211"/>
                  <a:gd name="T31" fmla="*/ 1 h 381"/>
                  <a:gd name="T32" fmla="*/ 0 w 211"/>
                  <a:gd name="T33" fmla="*/ 1 h 381"/>
                  <a:gd name="T34" fmla="*/ 0 w 211"/>
                  <a:gd name="T35" fmla="*/ 1 h 381"/>
                  <a:gd name="T36" fmla="*/ 0 w 211"/>
                  <a:gd name="T37" fmla="*/ 1 h 381"/>
                  <a:gd name="T38" fmla="*/ 0 w 211"/>
                  <a:gd name="T39" fmla="*/ 1 h 381"/>
                  <a:gd name="T40" fmla="*/ 0 w 211"/>
                  <a:gd name="T41" fmla="*/ 1 h 381"/>
                  <a:gd name="T42" fmla="*/ 0 w 211"/>
                  <a:gd name="T43" fmla="*/ 1 h 381"/>
                  <a:gd name="T44" fmla="*/ 0 w 211"/>
                  <a:gd name="T45" fmla="*/ 1 h 381"/>
                  <a:gd name="T46" fmla="*/ 0 w 211"/>
                  <a:gd name="T47" fmla="*/ 1 h 381"/>
                  <a:gd name="T48" fmla="*/ 0 w 211"/>
                  <a:gd name="T49" fmla="*/ 1 h 381"/>
                  <a:gd name="T50" fmla="*/ 0 w 211"/>
                  <a:gd name="T51" fmla="*/ 1 h 381"/>
                  <a:gd name="T52" fmla="*/ 0 w 211"/>
                  <a:gd name="T53" fmla="*/ 1 h 381"/>
                  <a:gd name="T54" fmla="*/ 0 w 211"/>
                  <a:gd name="T55" fmla="*/ 1 h 381"/>
                  <a:gd name="T56" fmla="*/ 0 w 211"/>
                  <a:gd name="T57" fmla="*/ 1 h 381"/>
                  <a:gd name="T58" fmla="*/ 0 w 211"/>
                  <a:gd name="T59" fmla="*/ 1 h 381"/>
                  <a:gd name="T60" fmla="*/ 0 w 211"/>
                  <a:gd name="T61" fmla="*/ 1 h 381"/>
                  <a:gd name="T62" fmla="*/ 0 w 211"/>
                  <a:gd name="T63" fmla="*/ 1 h 38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381"/>
                  <a:gd name="T98" fmla="*/ 211 w 211"/>
                  <a:gd name="T99" fmla="*/ 381 h 38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381">
                    <a:moveTo>
                      <a:pt x="114" y="359"/>
                    </a:moveTo>
                    <a:lnTo>
                      <a:pt x="122" y="356"/>
                    </a:lnTo>
                    <a:lnTo>
                      <a:pt x="131" y="348"/>
                    </a:lnTo>
                    <a:lnTo>
                      <a:pt x="145" y="337"/>
                    </a:lnTo>
                    <a:lnTo>
                      <a:pt x="161" y="319"/>
                    </a:lnTo>
                    <a:lnTo>
                      <a:pt x="175" y="294"/>
                    </a:lnTo>
                    <a:lnTo>
                      <a:pt x="189" y="259"/>
                    </a:lnTo>
                    <a:lnTo>
                      <a:pt x="198" y="214"/>
                    </a:lnTo>
                    <a:lnTo>
                      <a:pt x="206" y="156"/>
                    </a:lnTo>
                    <a:lnTo>
                      <a:pt x="209" y="101"/>
                    </a:lnTo>
                    <a:lnTo>
                      <a:pt x="211" y="62"/>
                    </a:lnTo>
                    <a:lnTo>
                      <a:pt x="211" y="36"/>
                    </a:lnTo>
                    <a:lnTo>
                      <a:pt x="211" y="20"/>
                    </a:lnTo>
                    <a:lnTo>
                      <a:pt x="211" y="12"/>
                    </a:lnTo>
                    <a:lnTo>
                      <a:pt x="209" y="9"/>
                    </a:lnTo>
                    <a:lnTo>
                      <a:pt x="208" y="10"/>
                    </a:lnTo>
                    <a:lnTo>
                      <a:pt x="206" y="9"/>
                    </a:lnTo>
                    <a:lnTo>
                      <a:pt x="205" y="4"/>
                    </a:lnTo>
                    <a:lnTo>
                      <a:pt x="200" y="1"/>
                    </a:lnTo>
                    <a:lnTo>
                      <a:pt x="194" y="0"/>
                    </a:lnTo>
                    <a:lnTo>
                      <a:pt x="187" y="1"/>
                    </a:lnTo>
                    <a:lnTo>
                      <a:pt x="181" y="4"/>
                    </a:lnTo>
                    <a:lnTo>
                      <a:pt x="175" y="7"/>
                    </a:lnTo>
                    <a:lnTo>
                      <a:pt x="170" y="12"/>
                    </a:lnTo>
                    <a:lnTo>
                      <a:pt x="167" y="18"/>
                    </a:lnTo>
                    <a:lnTo>
                      <a:pt x="159" y="26"/>
                    </a:lnTo>
                    <a:lnTo>
                      <a:pt x="148" y="36"/>
                    </a:lnTo>
                    <a:lnTo>
                      <a:pt x="133" y="45"/>
                    </a:lnTo>
                    <a:lnTo>
                      <a:pt x="123" y="48"/>
                    </a:lnTo>
                    <a:lnTo>
                      <a:pt x="112" y="53"/>
                    </a:lnTo>
                    <a:lnTo>
                      <a:pt x="101" y="56"/>
                    </a:lnTo>
                    <a:lnTo>
                      <a:pt x="90" y="59"/>
                    </a:lnTo>
                    <a:lnTo>
                      <a:pt x="79" y="62"/>
                    </a:lnTo>
                    <a:lnTo>
                      <a:pt x="70" y="65"/>
                    </a:lnTo>
                    <a:lnTo>
                      <a:pt x="62" y="67"/>
                    </a:lnTo>
                    <a:lnTo>
                      <a:pt x="57" y="68"/>
                    </a:lnTo>
                    <a:lnTo>
                      <a:pt x="51" y="70"/>
                    </a:lnTo>
                    <a:lnTo>
                      <a:pt x="47" y="73"/>
                    </a:lnTo>
                    <a:lnTo>
                      <a:pt x="43" y="75"/>
                    </a:lnTo>
                    <a:lnTo>
                      <a:pt x="40" y="78"/>
                    </a:lnTo>
                    <a:lnTo>
                      <a:pt x="36" y="86"/>
                    </a:lnTo>
                    <a:lnTo>
                      <a:pt x="28" y="100"/>
                    </a:lnTo>
                    <a:lnTo>
                      <a:pt x="21" y="120"/>
                    </a:lnTo>
                    <a:lnTo>
                      <a:pt x="14" y="143"/>
                    </a:lnTo>
                    <a:lnTo>
                      <a:pt x="7" y="169"/>
                    </a:lnTo>
                    <a:lnTo>
                      <a:pt x="3" y="194"/>
                    </a:lnTo>
                    <a:lnTo>
                      <a:pt x="0" y="215"/>
                    </a:lnTo>
                    <a:lnTo>
                      <a:pt x="0" y="234"/>
                    </a:lnTo>
                    <a:lnTo>
                      <a:pt x="1" y="251"/>
                    </a:lnTo>
                    <a:lnTo>
                      <a:pt x="4" y="273"/>
                    </a:lnTo>
                    <a:lnTo>
                      <a:pt x="7" y="297"/>
                    </a:lnTo>
                    <a:lnTo>
                      <a:pt x="11" y="322"/>
                    </a:lnTo>
                    <a:lnTo>
                      <a:pt x="15" y="344"/>
                    </a:lnTo>
                    <a:lnTo>
                      <a:pt x="20" y="363"/>
                    </a:lnTo>
                    <a:lnTo>
                      <a:pt x="26" y="375"/>
                    </a:lnTo>
                    <a:lnTo>
                      <a:pt x="31" y="381"/>
                    </a:lnTo>
                    <a:lnTo>
                      <a:pt x="37" y="381"/>
                    </a:lnTo>
                    <a:lnTo>
                      <a:pt x="47" y="381"/>
                    </a:lnTo>
                    <a:lnTo>
                      <a:pt x="59" y="378"/>
                    </a:lnTo>
                    <a:lnTo>
                      <a:pt x="72" y="375"/>
                    </a:lnTo>
                    <a:lnTo>
                      <a:pt x="86" y="370"/>
                    </a:lnTo>
                    <a:lnTo>
                      <a:pt x="98" y="367"/>
                    </a:lnTo>
                    <a:lnTo>
                      <a:pt x="108" y="363"/>
                    </a:lnTo>
                    <a:lnTo>
                      <a:pt x="114" y="359"/>
                    </a:lnTo>
                    <a:close/>
                  </a:path>
                </a:pathLst>
              </a:custGeom>
              <a:solidFill>
                <a:srgbClr val="FF7226"/>
              </a:solidFill>
              <a:ln w="9525">
                <a:noFill/>
                <a:round/>
                <a:headEnd/>
                <a:tailEnd/>
              </a:ln>
            </p:spPr>
            <p:txBody>
              <a:bodyPr/>
              <a:lstStyle/>
              <a:p>
                <a:endParaRPr lang="en-US"/>
              </a:p>
            </p:txBody>
          </p:sp>
          <p:sp>
            <p:nvSpPr>
              <p:cNvPr id="26811" name="Freeform 148"/>
              <p:cNvSpPr>
                <a:spLocks/>
              </p:cNvSpPr>
              <p:nvPr/>
            </p:nvSpPr>
            <p:spPr bwMode="auto">
              <a:xfrm>
                <a:off x="2223" y="3639"/>
                <a:ext cx="54" cy="106"/>
              </a:xfrm>
              <a:custGeom>
                <a:avLst/>
                <a:gdLst>
                  <a:gd name="T0" fmla="*/ 1 w 108"/>
                  <a:gd name="T1" fmla="*/ 0 h 213"/>
                  <a:gd name="T2" fmla="*/ 1 w 108"/>
                  <a:gd name="T3" fmla="*/ 0 h 213"/>
                  <a:gd name="T4" fmla="*/ 1 w 108"/>
                  <a:gd name="T5" fmla="*/ 0 h 213"/>
                  <a:gd name="T6" fmla="*/ 1 w 108"/>
                  <a:gd name="T7" fmla="*/ 0 h 213"/>
                  <a:gd name="T8" fmla="*/ 1 w 108"/>
                  <a:gd name="T9" fmla="*/ 0 h 213"/>
                  <a:gd name="T10" fmla="*/ 1 w 108"/>
                  <a:gd name="T11" fmla="*/ 0 h 213"/>
                  <a:gd name="T12" fmla="*/ 1 w 108"/>
                  <a:gd name="T13" fmla="*/ 0 h 213"/>
                  <a:gd name="T14" fmla="*/ 1 w 108"/>
                  <a:gd name="T15" fmla="*/ 0 h 213"/>
                  <a:gd name="T16" fmla="*/ 1 w 108"/>
                  <a:gd name="T17" fmla="*/ 0 h 213"/>
                  <a:gd name="T18" fmla="*/ 0 w 108"/>
                  <a:gd name="T19" fmla="*/ 0 h 213"/>
                  <a:gd name="T20" fmla="*/ 1 w 108"/>
                  <a:gd name="T21" fmla="*/ 0 h 213"/>
                  <a:gd name="T22" fmla="*/ 1 w 108"/>
                  <a:gd name="T23" fmla="*/ 0 h 213"/>
                  <a:gd name="T24" fmla="*/ 1 w 108"/>
                  <a:gd name="T25" fmla="*/ 0 h 213"/>
                  <a:gd name="T26" fmla="*/ 1 w 108"/>
                  <a:gd name="T27" fmla="*/ 0 h 213"/>
                  <a:gd name="T28" fmla="*/ 1 w 108"/>
                  <a:gd name="T29" fmla="*/ 0 h 213"/>
                  <a:gd name="T30" fmla="*/ 1 w 108"/>
                  <a:gd name="T31" fmla="*/ 0 h 213"/>
                  <a:gd name="T32" fmla="*/ 1 w 108"/>
                  <a:gd name="T33" fmla="*/ 0 h 213"/>
                  <a:gd name="T34" fmla="*/ 1 w 108"/>
                  <a:gd name="T35" fmla="*/ 0 h 213"/>
                  <a:gd name="T36" fmla="*/ 1 w 108"/>
                  <a:gd name="T37" fmla="*/ 0 h 213"/>
                  <a:gd name="T38" fmla="*/ 1 w 108"/>
                  <a:gd name="T39" fmla="*/ 0 h 213"/>
                  <a:gd name="T40" fmla="*/ 1 w 108"/>
                  <a:gd name="T41" fmla="*/ 0 h 2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8"/>
                  <a:gd name="T64" fmla="*/ 0 h 213"/>
                  <a:gd name="T65" fmla="*/ 108 w 108"/>
                  <a:gd name="T66" fmla="*/ 213 h 21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8" h="213">
                    <a:moveTo>
                      <a:pt x="86" y="0"/>
                    </a:moveTo>
                    <a:lnTo>
                      <a:pt x="86" y="0"/>
                    </a:lnTo>
                    <a:lnTo>
                      <a:pt x="78" y="56"/>
                    </a:lnTo>
                    <a:lnTo>
                      <a:pt x="69" y="100"/>
                    </a:lnTo>
                    <a:lnTo>
                      <a:pt x="57" y="133"/>
                    </a:lnTo>
                    <a:lnTo>
                      <a:pt x="42" y="156"/>
                    </a:lnTo>
                    <a:lnTo>
                      <a:pt x="28" y="174"/>
                    </a:lnTo>
                    <a:lnTo>
                      <a:pt x="16" y="185"/>
                    </a:lnTo>
                    <a:lnTo>
                      <a:pt x="6" y="191"/>
                    </a:lnTo>
                    <a:lnTo>
                      <a:pt x="0" y="194"/>
                    </a:lnTo>
                    <a:lnTo>
                      <a:pt x="10" y="213"/>
                    </a:lnTo>
                    <a:lnTo>
                      <a:pt x="19" y="210"/>
                    </a:lnTo>
                    <a:lnTo>
                      <a:pt x="28" y="200"/>
                    </a:lnTo>
                    <a:lnTo>
                      <a:pt x="44" y="189"/>
                    </a:lnTo>
                    <a:lnTo>
                      <a:pt x="61" y="169"/>
                    </a:lnTo>
                    <a:lnTo>
                      <a:pt x="75" y="142"/>
                    </a:lnTo>
                    <a:lnTo>
                      <a:pt x="91" y="106"/>
                    </a:lnTo>
                    <a:lnTo>
                      <a:pt x="100" y="59"/>
                    </a:lnTo>
                    <a:lnTo>
                      <a:pt x="108" y="0"/>
                    </a:lnTo>
                    <a:lnTo>
                      <a:pt x="86" y="0"/>
                    </a:lnTo>
                    <a:close/>
                  </a:path>
                </a:pathLst>
              </a:custGeom>
              <a:solidFill>
                <a:srgbClr val="000000"/>
              </a:solidFill>
              <a:ln w="9525">
                <a:noFill/>
                <a:round/>
                <a:headEnd/>
                <a:tailEnd/>
              </a:ln>
            </p:spPr>
            <p:txBody>
              <a:bodyPr/>
              <a:lstStyle/>
              <a:p>
                <a:endParaRPr lang="en-US"/>
              </a:p>
            </p:txBody>
          </p:sp>
          <p:sp>
            <p:nvSpPr>
              <p:cNvPr id="26812" name="Freeform 149"/>
              <p:cNvSpPr>
                <a:spLocks/>
              </p:cNvSpPr>
              <p:nvPr/>
            </p:nvSpPr>
            <p:spPr bwMode="auto">
              <a:xfrm>
                <a:off x="2266" y="3561"/>
                <a:ext cx="13" cy="78"/>
              </a:xfrm>
              <a:custGeom>
                <a:avLst/>
                <a:gdLst>
                  <a:gd name="T0" fmla="*/ 0 w 27"/>
                  <a:gd name="T1" fmla="*/ 1 h 156"/>
                  <a:gd name="T2" fmla="*/ 0 w 27"/>
                  <a:gd name="T3" fmla="*/ 1 h 156"/>
                  <a:gd name="T4" fmla="*/ 0 w 27"/>
                  <a:gd name="T5" fmla="*/ 1 h 156"/>
                  <a:gd name="T6" fmla="*/ 0 w 27"/>
                  <a:gd name="T7" fmla="*/ 1 h 156"/>
                  <a:gd name="T8" fmla="*/ 0 w 27"/>
                  <a:gd name="T9" fmla="*/ 1 h 156"/>
                  <a:gd name="T10" fmla="*/ 0 w 27"/>
                  <a:gd name="T11" fmla="*/ 1 h 156"/>
                  <a:gd name="T12" fmla="*/ 0 w 27"/>
                  <a:gd name="T13" fmla="*/ 1 h 156"/>
                  <a:gd name="T14" fmla="*/ 0 w 27"/>
                  <a:gd name="T15" fmla="*/ 1 h 156"/>
                  <a:gd name="T16" fmla="*/ 0 w 27"/>
                  <a:gd name="T17" fmla="*/ 1 h 156"/>
                  <a:gd name="T18" fmla="*/ 0 w 27"/>
                  <a:gd name="T19" fmla="*/ 1 h 156"/>
                  <a:gd name="T20" fmla="*/ 0 w 27"/>
                  <a:gd name="T21" fmla="*/ 1 h 156"/>
                  <a:gd name="T22" fmla="*/ 0 w 27"/>
                  <a:gd name="T23" fmla="*/ 1 h 156"/>
                  <a:gd name="T24" fmla="*/ 0 w 27"/>
                  <a:gd name="T25" fmla="*/ 1 h 156"/>
                  <a:gd name="T26" fmla="*/ 0 w 27"/>
                  <a:gd name="T27" fmla="*/ 1 h 156"/>
                  <a:gd name="T28" fmla="*/ 0 w 27"/>
                  <a:gd name="T29" fmla="*/ 1 h 156"/>
                  <a:gd name="T30" fmla="*/ 0 w 27"/>
                  <a:gd name="T31" fmla="*/ 1 h 156"/>
                  <a:gd name="T32" fmla="*/ 0 w 27"/>
                  <a:gd name="T33" fmla="*/ 0 h 156"/>
                  <a:gd name="T34" fmla="*/ 0 w 27"/>
                  <a:gd name="T35" fmla="*/ 1 h 156"/>
                  <a:gd name="T36" fmla="*/ 0 w 27"/>
                  <a:gd name="T37" fmla="*/ 1 h 156"/>
                  <a:gd name="T38" fmla="*/ 0 w 27"/>
                  <a:gd name="T39" fmla="*/ 1 h 156"/>
                  <a:gd name="T40" fmla="*/ 0 w 27"/>
                  <a:gd name="T41" fmla="*/ 1 h 156"/>
                  <a:gd name="T42" fmla="*/ 0 w 27"/>
                  <a:gd name="T43" fmla="*/ 1 h 156"/>
                  <a:gd name="T44" fmla="*/ 0 w 27"/>
                  <a:gd name="T45" fmla="*/ 1 h 156"/>
                  <a:gd name="T46" fmla="*/ 0 w 27"/>
                  <a:gd name="T47" fmla="*/ 1 h 156"/>
                  <a:gd name="T48" fmla="*/ 0 w 27"/>
                  <a:gd name="T49" fmla="*/ 1 h 156"/>
                  <a:gd name="T50" fmla="*/ 0 w 27"/>
                  <a:gd name="T51" fmla="*/ 1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7"/>
                  <a:gd name="T79" fmla="*/ 0 h 156"/>
                  <a:gd name="T80" fmla="*/ 27 w 27"/>
                  <a:gd name="T81" fmla="*/ 156 h 15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7" h="156">
                    <a:moveTo>
                      <a:pt x="3" y="15"/>
                    </a:moveTo>
                    <a:lnTo>
                      <a:pt x="22" y="15"/>
                    </a:lnTo>
                    <a:lnTo>
                      <a:pt x="21" y="18"/>
                    </a:lnTo>
                    <a:lnTo>
                      <a:pt x="10" y="18"/>
                    </a:lnTo>
                    <a:lnTo>
                      <a:pt x="5" y="14"/>
                    </a:lnTo>
                    <a:lnTo>
                      <a:pt x="5" y="20"/>
                    </a:lnTo>
                    <a:lnTo>
                      <a:pt x="5" y="36"/>
                    </a:lnTo>
                    <a:lnTo>
                      <a:pt x="5" y="62"/>
                    </a:lnTo>
                    <a:lnTo>
                      <a:pt x="3" y="101"/>
                    </a:lnTo>
                    <a:lnTo>
                      <a:pt x="0" y="156"/>
                    </a:lnTo>
                    <a:lnTo>
                      <a:pt x="22" y="156"/>
                    </a:lnTo>
                    <a:lnTo>
                      <a:pt x="25" y="101"/>
                    </a:lnTo>
                    <a:lnTo>
                      <a:pt x="27" y="62"/>
                    </a:lnTo>
                    <a:lnTo>
                      <a:pt x="27" y="36"/>
                    </a:lnTo>
                    <a:lnTo>
                      <a:pt x="27" y="20"/>
                    </a:lnTo>
                    <a:lnTo>
                      <a:pt x="27" y="10"/>
                    </a:lnTo>
                    <a:lnTo>
                      <a:pt x="19" y="0"/>
                    </a:lnTo>
                    <a:lnTo>
                      <a:pt x="5" y="3"/>
                    </a:lnTo>
                    <a:lnTo>
                      <a:pt x="3" y="6"/>
                    </a:lnTo>
                    <a:lnTo>
                      <a:pt x="22" y="6"/>
                    </a:lnTo>
                    <a:lnTo>
                      <a:pt x="2" y="6"/>
                    </a:lnTo>
                    <a:lnTo>
                      <a:pt x="2" y="15"/>
                    </a:lnTo>
                    <a:lnTo>
                      <a:pt x="8" y="21"/>
                    </a:lnTo>
                    <a:lnTo>
                      <a:pt x="18" y="21"/>
                    </a:lnTo>
                    <a:lnTo>
                      <a:pt x="24" y="15"/>
                    </a:lnTo>
                    <a:lnTo>
                      <a:pt x="3" y="15"/>
                    </a:lnTo>
                    <a:close/>
                  </a:path>
                </a:pathLst>
              </a:custGeom>
              <a:solidFill>
                <a:srgbClr val="000000"/>
              </a:solidFill>
              <a:ln w="9525">
                <a:noFill/>
                <a:round/>
                <a:headEnd/>
                <a:tailEnd/>
              </a:ln>
            </p:spPr>
            <p:txBody>
              <a:bodyPr/>
              <a:lstStyle/>
              <a:p>
                <a:endParaRPr lang="en-US"/>
              </a:p>
            </p:txBody>
          </p:sp>
          <p:sp>
            <p:nvSpPr>
              <p:cNvPr id="26813" name="Freeform 150"/>
              <p:cNvSpPr>
                <a:spLocks/>
              </p:cNvSpPr>
              <p:nvPr/>
            </p:nvSpPr>
            <p:spPr bwMode="auto">
              <a:xfrm>
                <a:off x="2265" y="3555"/>
                <a:ext cx="12" cy="14"/>
              </a:xfrm>
              <a:custGeom>
                <a:avLst/>
                <a:gdLst>
                  <a:gd name="T0" fmla="*/ 0 w 23"/>
                  <a:gd name="T1" fmla="*/ 1 h 26"/>
                  <a:gd name="T2" fmla="*/ 0 w 23"/>
                  <a:gd name="T3" fmla="*/ 1 h 26"/>
                  <a:gd name="T4" fmla="*/ 1 w 23"/>
                  <a:gd name="T5" fmla="*/ 1 h 26"/>
                  <a:gd name="T6" fmla="*/ 1 w 23"/>
                  <a:gd name="T7" fmla="*/ 1 h 26"/>
                  <a:gd name="T8" fmla="*/ 1 w 23"/>
                  <a:gd name="T9" fmla="*/ 1 h 26"/>
                  <a:gd name="T10" fmla="*/ 1 w 23"/>
                  <a:gd name="T11" fmla="*/ 1 h 26"/>
                  <a:gd name="T12" fmla="*/ 1 w 23"/>
                  <a:gd name="T13" fmla="*/ 1 h 26"/>
                  <a:gd name="T14" fmla="*/ 1 w 23"/>
                  <a:gd name="T15" fmla="*/ 1 h 26"/>
                  <a:gd name="T16" fmla="*/ 1 w 23"/>
                  <a:gd name="T17" fmla="*/ 1 h 26"/>
                  <a:gd name="T18" fmla="*/ 1 w 23"/>
                  <a:gd name="T19" fmla="*/ 1 h 26"/>
                  <a:gd name="T20" fmla="*/ 0 w 23"/>
                  <a:gd name="T21" fmla="*/ 0 h 26"/>
                  <a:gd name="T22" fmla="*/ 0 w 23"/>
                  <a:gd name="T23" fmla="*/ 0 h 26"/>
                  <a:gd name="T24" fmla="*/ 0 w 23"/>
                  <a:gd name="T25" fmla="*/ 1 h 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6"/>
                  <a:gd name="T41" fmla="*/ 23 w 23"/>
                  <a:gd name="T42" fmla="*/ 26 h 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6">
                    <a:moveTo>
                      <a:pt x="0" y="21"/>
                    </a:moveTo>
                    <a:lnTo>
                      <a:pt x="0" y="21"/>
                    </a:lnTo>
                    <a:lnTo>
                      <a:pt x="1" y="21"/>
                    </a:lnTo>
                    <a:lnTo>
                      <a:pt x="3" y="21"/>
                    </a:lnTo>
                    <a:lnTo>
                      <a:pt x="3" y="25"/>
                    </a:lnTo>
                    <a:lnTo>
                      <a:pt x="4" y="26"/>
                    </a:lnTo>
                    <a:lnTo>
                      <a:pt x="23" y="17"/>
                    </a:lnTo>
                    <a:lnTo>
                      <a:pt x="22" y="15"/>
                    </a:lnTo>
                    <a:lnTo>
                      <a:pt x="19" y="9"/>
                    </a:lnTo>
                    <a:lnTo>
                      <a:pt x="11" y="3"/>
                    </a:lnTo>
                    <a:lnTo>
                      <a:pt x="0" y="0"/>
                    </a:lnTo>
                    <a:lnTo>
                      <a:pt x="0" y="21"/>
                    </a:lnTo>
                    <a:close/>
                  </a:path>
                </a:pathLst>
              </a:custGeom>
              <a:solidFill>
                <a:srgbClr val="000000"/>
              </a:solidFill>
              <a:ln w="9525">
                <a:noFill/>
                <a:round/>
                <a:headEnd/>
                <a:tailEnd/>
              </a:ln>
            </p:spPr>
            <p:txBody>
              <a:bodyPr/>
              <a:lstStyle/>
              <a:p>
                <a:endParaRPr lang="en-US"/>
              </a:p>
            </p:txBody>
          </p:sp>
          <p:sp>
            <p:nvSpPr>
              <p:cNvPr id="26814" name="Freeform 151"/>
              <p:cNvSpPr>
                <a:spLocks/>
              </p:cNvSpPr>
              <p:nvPr/>
            </p:nvSpPr>
            <p:spPr bwMode="auto">
              <a:xfrm>
                <a:off x="2248" y="3555"/>
                <a:ext cx="17" cy="16"/>
              </a:xfrm>
              <a:custGeom>
                <a:avLst/>
                <a:gdLst>
                  <a:gd name="T0" fmla="*/ 1 w 33"/>
                  <a:gd name="T1" fmla="*/ 1 h 31"/>
                  <a:gd name="T2" fmla="*/ 1 w 33"/>
                  <a:gd name="T3" fmla="*/ 1 h 31"/>
                  <a:gd name="T4" fmla="*/ 1 w 33"/>
                  <a:gd name="T5" fmla="*/ 1 h 31"/>
                  <a:gd name="T6" fmla="*/ 1 w 33"/>
                  <a:gd name="T7" fmla="*/ 1 h 31"/>
                  <a:gd name="T8" fmla="*/ 1 w 33"/>
                  <a:gd name="T9" fmla="*/ 1 h 31"/>
                  <a:gd name="T10" fmla="*/ 1 w 33"/>
                  <a:gd name="T11" fmla="*/ 1 h 31"/>
                  <a:gd name="T12" fmla="*/ 1 w 33"/>
                  <a:gd name="T13" fmla="*/ 0 h 31"/>
                  <a:gd name="T14" fmla="*/ 1 w 33"/>
                  <a:gd name="T15" fmla="*/ 1 h 31"/>
                  <a:gd name="T16" fmla="*/ 1 w 33"/>
                  <a:gd name="T17" fmla="*/ 1 h 31"/>
                  <a:gd name="T18" fmla="*/ 1 w 33"/>
                  <a:gd name="T19" fmla="*/ 1 h 31"/>
                  <a:gd name="T20" fmla="*/ 1 w 33"/>
                  <a:gd name="T21" fmla="*/ 1 h 31"/>
                  <a:gd name="T22" fmla="*/ 0 w 33"/>
                  <a:gd name="T23" fmla="*/ 1 h 31"/>
                  <a:gd name="T24" fmla="*/ 1 w 33"/>
                  <a:gd name="T25" fmla="*/ 1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1"/>
                  <a:gd name="T41" fmla="*/ 33 w 33"/>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1">
                    <a:moveTo>
                      <a:pt x="19" y="28"/>
                    </a:moveTo>
                    <a:lnTo>
                      <a:pt x="17" y="31"/>
                    </a:lnTo>
                    <a:lnTo>
                      <a:pt x="20" y="28"/>
                    </a:lnTo>
                    <a:lnTo>
                      <a:pt x="25" y="25"/>
                    </a:lnTo>
                    <a:lnTo>
                      <a:pt x="30" y="23"/>
                    </a:lnTo>
                    <a:lnTo>
                      <a:pt x="33" y="21"/>
                    </a:lnTo>
                    <a:lnTo>
                      <a:pt x="33" y="0"/>
                    </a:lnTo>
                    <a:lnTo>
                      <a:pt x="23" y="1"/>
                    </a:lnTo>
                    <a:lnTo>
                      <a:pt x="15" y="6"/>
                    </a:lnTo>
                    <a:lnTo>
                      <a:pt x="8" y="9"/>
                    </a:lnTo>
                    <a:lnTo>
                      <a:pt x="1" y="15"/>
                    </a:lnTo>
                    <a:lnTo>
                      <a:pt x="0" y="18"/>
                    </a:lnTo>
                    <a:lnTo>
                      <a:pt x="19" y="28"/>
                    </a:lnTo>
                    <a:close/>
                  </a:path>
                </a:pathLst>
              </a:custGeom>
              <a:solidFill>
                <a:srgbClr val="000000"/>
              </a:solidFill>
              <a:ln w="9525">
                <a:noFill/>
                <a:round/>
                <a:headEnd/>
                <a:tailEnd/>
              </a:ln>
            </p:spPr>
            <p:txBody>
              <a:bodyPr/>
              <a:lstStyle/>
              <a:p>
                <a:endParaRPr lang="en-US"/>
              </a:p>
            </p:txBody>
          </p:sp>
          <p:sp>
            <p:nvSpPr>
              <p:cNvPr id="26815" name="Freeform 152"/>
              <p:cNvSpPr>
                <a:spLocks/>
              </p:cNvSpPr>
              <p:nvPr/>
            </p:nvSpPr>
            <p:spPr bwMode="auto">
              <a:xfrm>
                <a:off x="2232" y="3565"/>
                <a:ext cx="26" cy="23"/>
              </a:xfrm>
              <a:custGeom>
                <a:avLst/>
                <a:gdLst>
                  <a:gd name="T0" fmla="*/ 1 w 52"/>
                  <a:gd name="T1" fmla="*/ 0 h 47"/>
                  <a:gd name="T2" fmla="*/ 1 w 52"/>
                  <a:gd name="T3" fmla="*/ 0 h 47"/>
                  <a:gd name="T4" fmla="*/ 1 w 52"/>
                  <a:gd name="T5" fmla="*/ 0 h 47"/>
                  <a:gd name="T6" fmla="*/ 1 w 52"/>
                  <a:gd name="T7" fmla="*/ 0 h 47"/>
                  <a:gd name="T8" fmla="*/ 1 w 52"/>
                  <a:gd name="T9" fmla="*/ 0 h 47"/>
                  <a:gd name="T10" fmla="*/ 1 w 52"/>
                  <a:gd name="T11" fmla="*/ 0 h 47"/>
                  <a:gd name="T12" fmla="*/ 1 w 52"/>
                  <a:gd name="T13" fmla="*/ 0 h 47"/>
                  <a:gd name="T14" fmla="*/ 1 w 52"/>
                  <a:gd name="T15" fmla="*/ 0 h 47"/>
                  <a:gd name="T16" fmla="*/ 1 w 52"/>
                  <a:gd name="T17" fmla="*/ 0 h 47"/>
                  <a:gd name="T18" fmla="*/ 1 w 52"/>
                  <a:gd name="T19" fmla="*/ 0 h 47"/>
                  <a:gd name="T20" fmla="*/ 0 w 52"/>
                  <a:gd name="T21" fmla="*/ 0 h 47"/>
                  <a:gd name="T22" fmla="*/ 0 w 52"/>
                  <a:gd name="T23" fmla="*/ 0 h 47"/>
                  <a:gd name="T24" fmla="*/ 1 w 52"/>
                  <a:gd name="T25" fmla="*/ 0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47"/>
                  <a:gd name="T41" fmla="*/ 52 w 52"/>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47">
                    <a:moveTo>
                      <a:pt x="9" y="47"/>
                    </a:moveTo>
                    <a:lnTo>
                      <a:pt x="9" y="47"/>
                    </a:lnTo>
                    <a:lnTo>
                      <a:pt x="27" y="38"/>
                    </a:lnTo>
                    <a:lnTo>
                      <a:pt x="39" y="27"/>
                    </a:lnTo>
                    <a:lnTo>
                      <a:pt x="48" y="18"/>
                    </a:lnTo>
                    <a:lnTo>
                      <a:pt x="52" y="10"/>
                    </a:lnTo>
                    <a:lnTo>
                      <a:pt x="33" y="0"/>
                    </a:lnTo>
                    <a:lnTo>
                      <a:pt x="30" y="5"/>
                    </a:lnTo>
                    <a:lnTo>
                      <a:pt x="23" y="11"/>
                    </a:lnTo>
                    <a:lnTo>
                      <a:pt x="14" y="19"/>
                    </a:lnTo>
                    <a:lnTo>
                      <a:pt x="0" y="29"/>
                    </a:lnTo>
                    <a:lnTo>
                      <a:pt x="9" y="47"/>
                    </a:lnTo>
                    <a:close/>
                  </a:path>
                </a:pathLst>
              </a:custGeom>
              <a:solidFill>
                <a:srgbClr val="000000"/>
              </a:solidFill>
              <a:ln w="9525">
                <a:noFill/>
                <a:round/>
                <a:headEnd/>
                <a:tailEnd/>
              </a:ln>
            </p:spPr>
            <p:txBody>
              <a:bodyPr/>
              <a:lstStyle/>
              <a:p>
                <a:endParaRPr lang="en-US"/>
              </a:p>
            </p:txBody>
          </p:sp>
          <p:sp>
            <p:nvSpPr>
              <p:cNvPr id="26816" name="Freeform 153"/>
              <p:cNvSpPr>
                <a:spLocks/>
              </p:cNvSpPr>
              <p:nvPr/>
            </p:nvSpPr>
            <p:spPr bwMode="auto">
              <a:xfrm>
                <a:off x="2196" y="3579"/>
                <a:ext cx="41" cy="22"/>
              </a:xfrm>
              <a:custGeom>
                <a:avLst/>
                <a:gdLst>
                  <a:gd name="T0" fmla="*/ 1 w 81"/>
                  <a:gd name="T1" fmla="*/ 1 h 43"/>
                  <a:gd name="T2" fmla="*/ 1 w 81"/>
                  <a:gd name="T3" fmla="*/ 1 h 43"/>
                  <a:gd name="T4" fmla="*/ 1 w 81"/>
                  <a:gd name="T5" fmla="*/ 1 h 43"/>
                  <a:gd name="T6" fmla="*/ 1 w 81"/>
                  <a:gd name="T7" fmla="*/ 1 h 43"/>
                  <a:gd name="T8" fmla="*/ 1 w 81"/>
                  <a:gd name="T9" fmla="*/ 1 h 43"/>
                  <a:gd name="T10" fmla="*/ 1 w 81"/>
                  <a:gd name="T11" fmla="*/ 1 h 43"/>
                  <a:gd name="T12" fmla="*/ 1 w 81"/>
                  <a:gd name="T13" fmla="*/ 1 h 43"/>
                  <a:gd name="T14" fmla="*/ 1 w 81"/>
                  <a:gd name="T15" fmla="*/ 1 h 43"/>
                  <a:gd name="T16" fmla="*/ 1 w 81"/>
                  <a:gd name="T17" fmla="*/ 1 h 43"/>
                  <a:gd name="T18" fmla="*/ 1 w 81"/>
                  <a:gd name="T19" fmla="*/ 1 h 43"/>
                  <a:gd name="T20" fmla="*/ 1 w 81"/>
                  <a:gd name="T21" fmla="*/ 0 h 43"/>
                  <a:gd name="T22" fmla="*/ 1 w 81"/>
                  <a:gd name="T23" fmla="*/ 1 h 43"/>
                  <a:gd name="T24" fmla="*/ 1 w 81"/>
                  <a:gd name="T25" fmla="*/ 1 h 43"/>
                  <a:gd name="T26" fmla="*/ 1 w 81"/>
                  <a:gd name="T27" fmla="*/ 1 h 43"/>
                  <a:gd name="T28" fmla="*/ 1 w 81"/>
                  <a:gd name="T29" fmla="*/ 1 h 43"/>
                  <a:gd name="T30" fmla="*/ 1 w 81"/>
                  <a:gd name="T31" fmla="*/ 1 h 43"/>
                  <a:gd name="T32" fmla="*/ 1 w 81"/>
                  <a:gd name="T33" fmla="*/ 1 h 43"/>
                  <a:gd name="T34" fmla="*/ 1 w 81"/>
                  <a:gd name="T35" fmla="*/ 1 h 43"/>
                  <a:gd name="T36" fmla="*/ 0 w 81"/>
                  <a:gd name="T37" fmla="*/ 1 h 43"/>
                  <a:gd name="T38" fmla="*/ 0 w 81"/>
                  <a:gd name="T39" fmla="*/ 1 h 43"/>
                  <a:gd name="T40" fmla="*/ 1 w 81"/>
                  <a:gd name="T41" fmla="*/ 1 h 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43"/>
                  <a:gd name="T65" fmla="*/ 81 w 81"/>
                  <a:gd name="T66" fmla="*/ 43 h 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43">
                    <a:moveTo>
                      <a:pt x="3" y="43"/>
                    </a:moveTo>
                    <a:lnTo>
                      <a:pt x="3" y="43"/>
                    </a:lnTo>
                    <a:lnTo>
                      <a:pt x="9" y="42"/>
                    </a:lnTo>
                    <a:lnTo>
                      <a:pt x="17" y="40"/>
                    </a:lnTo>
                    <a:lnTo>
                      <a:pt x="27" y="37"/>
                    </a:lnTo>
                    <a:lnTo>
                      <a:pt x="38" y="34"/>
                    </a:lnTo>
                    <a:lnTo>
                      <a:pt x="48" y="31"/>
                    </a:lnTo>
                    <a:lnTo>
                      <a:pt x="59" y="28"/>
                    </a:lnTo>
                    <a:lnTo>
                      <a:pt x="70" y="23"/>
                    </a:lnTo>
                    <a:lnTo>
                      <a:pt x="81" y="18"/>
                    </a:lnTo>
                    <a:lnTo>
                      <a:pt x="72" y="0"/>
                    </a:lnTo>
                    <a:lnTo>
                      <a:pt x="64" y="1"/>
                    </a:lnTo>
                    <a:lnTo>
                      <a:pt x="53" y="6"/>
                    </a:lnTo>
                    <a:lnTo>
                      <a:pt x="42" y="9"/>
                    </a:lnTo>
                    <a:lnTo>
                      <a:pt x="31" y="12"/>
                    </a:lnTo>
                    <a:lnTo>
                      <a:pt x="20" y="15"/>
                    </a:lnTo>
                    <a:lnTo>
                      <a:pt x="11" y="18"/>
                    </a:lnTo>
                    <a:lnTo>
                      <a:pt x="3" y="20"/>
                    </a:lnTo>
                    <a:lnTo>
                      <a:pt x="0" y="21"/>
                    </a:lnTo>
                    <a:lnTo>
                      <a:pt x="3" y="43"/>
                    </a:lnTo>
                    <a:close/>
                  </a:path>
                </a:pathLst>
              </a:custGeom>
              <a:solidFill>
                <a:srgbClr val="000000"/>
              </a:solidFill>
              <a:ln w="9525">
                <a:noFill/>
                <a:round/>
                <a:headEnd/>
                <a:tailEnd/>
              </a:ln>
            </p:spPr>
            <p:txBody>
              <a:bodyPr/>
              <a:lstStyle/>
              <a:p>
                <a:endParaRPr lang="en-US"/>
              </a:p>
            </p:txBody>
          </p:sp>
          <p:sp>
            <p:nvSpPr>
              <p:cNvPr id="26817" name="Freeform 154"/>
              <p:cNvSpPr>
                <a:spLocks/>
              </p:cNvSpPr>
              <p:nvPr/>
            </p:nvSpPr>
            <p:spPr bwMode="auto">
              <a:xfrm>
                <a:off x="2184" y="3590"/>
                <a:ext cx="14" cy="15"/>
              </a:xfrm>
              <a:custGeom>
                <a:avLst/>
                <a:gdLst>
                  <a:gd name="T0" fmla="*/ 1 w 27"/>
                  <a:gd name="T1" fmla="*/ 1 h 30"/>
                  <a:gd name="T2" fmla="*/ 1 w 27"/>
                  <a:gd name="T3" fmla="*/ 1 h 30"/>
                  <a:gd name="T4" fmla="*/ 1 w 27"/>
                  <a:gd name="T5" fmla="*/ 1 h 30"/>
                  <a:gd name="T6" fmla="*/ 1 w 27"/>
                  <a:gd name="T7" fmla="*/ 1 h 30"/>
                  <a:gd name="T8" fmla="*/ 1 w 27"/>
                  <a:gd name="T9" fmla="*/ 1 h 30"/>
                  <a:gd name="T10" fmla="*/ 1 w 27"/>
                  <a:gd name="T11" fmla="*/ 1 h 30"/>
                  <a:gd name="T12" fmla="*/ 1 w 27"/>
                  <a:gd name="T13" fmla="*/ 0 h 30"/>
                  <a:gd name="T14" fmla="*/ 1 w 27"/>
                  <a:gd name="T15" fmla="*/ 1 h 30"/>
                  <a:gd name="T16" fmla="*/ 1 w 27"/>
                  <a:gd name="T17" fmla="*/ 1 h 30"/>
                  <a:gd name="T18" fmla="*/ 1 w 27"/>
                  <a:gd name="T19" fmla="*/ 1 h 30"/>
                  <a:gd name="T20" fmla="*/ 0 w 27"/>
                  <a:gd name="T21" fmla="*/ 1 h 30"/>
                  <a:gd name="T22" fmla="*/ 1 w 27"/>
                  <a:gd name="T23" fmla="*/ 1 h 30"/>
                  <a:gd name="T24" fmla="*/ 1 w 27"/>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30"/>
                  <a:gd name="T41" fmla="*/ 27 w 27"/>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30">
                    <a:moveTo>
                      <a:pt x="15" y="30"/>
                    </a:moveTo>
                    <a:lnTo>
                      <a:pt x="16" y="29"/>
                    </a:lnTo>
                    <a:lnTo>
                      <a:pt x="18" y="27"/>
                    </a:lnTo>
                    <a:lnTo>
                      <a:pt x="21" y="25"/>
                    </a:lnTo>
                    <a:lnTo>
                      <a:pt x="24" y="22"/>
                    </a:lnTo>
                    <a:lnTo>
                      <a:pt x="27" y="22"/>
                    </a:lnTo>
                    <a:lnTo>
                      <a:pt x="24" y="0"/>
                    </a:lnTo>
                    <a:lnTo>
                      <a:pt x="15" y="4"/>
                    </a:lnTo>
                    <a:lnTo>
                      <a:pt x="8" y="7"/>
                    </a:lnTo>
                    <a:lnTo>
                      <a:pt x="5" y="8"/>
                    </a:lnTo>
                    <a:lnTo>
                      <a:pt x="0" y="13"/>
                    </a:lnTo>
                    <a:lnTo>
                      <a:pt x="2" y="11"/>
                    </a:lnTo>
                    <a:lnTo>
                      <a:pt x="15" y="30"/>
                    </a:lnTo>
                    <a:close/>
                  </a:path>
                </a:pathLst>
              </a:custGeom>
              <a:solidFill>
                <a:srgbClr val="000000"/>
              </a:solidFill>
              <a:ln w="9525">
                <a:noFill/>
                <a:round/>
                <a:headEnd/>
                <a:tailEnd/>
              </a:ln>
            </p:spPr>
            <p:txBody>
              <a:bodyPr/>
              <a:lstStyle/>
              <a:p>
                <a:endParaRPr lang="en-US"/>
              </a:p>
            </p:txBody>
          </p:sp>
          <p:sp>
            <p:nvSpPr>
              <p:cNvPr id="26818" name="Freeform 155"/>
              <p:cNvSpPr>
                <a:spLocks/>
              </p:cNvSpPr>
              <p:nvPr/>
            </p:nvSpPr>
            <p:spPr bwMode="auto">
              <a:xfrm>
                <a:off x="2162" y="3595"/>
                <a:ext cx="29" cy="84"/>
              </a:xfrm>
              <a:custGeom>
                <a:avLst/>
                <a:gdLst>
                  <a:gd name="T0" fmla="*/ 1 w 58"/>
                  <a:gd name="T1" fmla="*/ 1 h 168"/>
                  <a:gd name="T2" fmla="*/ 1 w 58"/>
                  <a:gd name="T3" fmla="*/ 1 h 168"/>
                  <a:gd name="T4" fmla="*/ 1 w 58"/>
                  <a:gd name="T5" fmla="*/ 1 h 168"/>
                  <a:gd name="T6" fmla="*/ 1 w 58"/>
                  <a:gd name="T7" fmla="*/ 1 h 168"/>
                  <a:gd name="T8" fmla="*/ 1 w 58"/>
                  <a:gd name="T9" fmla="*/ 1 h 168"/>
                  <a:gd name="T10" fmla="*/ 1 w 58"/>
                  <a:gd name="T11" fmla="*/ 1 h 168"/>
                  <a:gd name="T12" fmla="*/ 1 w 58"/>
                  <a:gd name="T13" fmla="*/ 1 h 168"/>
                  <a:gd name="T14" fmla="*/ 1 w 58"/>
                  <a:gd name="T15" fmla="*/ 1 h 168"/>
                  <a:gd name="T16" fmla="*/ 1 w 58"/>
                  <a:gd name="T17" fmla="*/ 1 h 168"/>
                  <a:gd name="T18" fmla="*/ 1 w 58"/>
                  <a:gd name="T19" fmla="*/ 1 h 168"/>
                  <a:gd name="T20" fmla="*/ 1 w 58"/>
                  <a:gd name="T21" fmla="*/ 0 h 168"/>
                  <a:gd name="T22" fmla="*/ 1 w 58"/>
                  <a:gd name="T23" fmla="*/ 1 h 168"/>
                  <a:gd name="T24" fmla="*/ 1 w 58"/>
                  <a:gd name="T25" fmla="*/ 1 h 168"/>
                  <a:gd name="T26" fmla="*/ 1 w 58"/>
                  <a:gd name="T27" fmla="*/ 1 h 168"/>
                  <a:gd name="T28" fmla="*/ 1 w 58"/>
                  <a:gd name="T29" fmla="*/ 1 h 168"/>
                  <a:gd name="T30" fmla="*/ 1 w 58"/>
                  <a:gd name="T31" fmla="*/ 1 h 168"/>
                  <a:gd name="T32" fmla="*/ 1 w 58"/>
                  <a:gd name="T33" fmla="*/ 1 h 168"/>
                  <a:gd name="T34" fmla="*/ 0 w 58"/>
                  <a:gd name="T35" fmla="*/ 1 h 168"/>
                  <a:gd name="T36" fmla="*/ 0 w 58"/>
                  <a:gd name="T37" fmla="*/ 1 h 168"/>
                  <a:gd name="T38" fmla="*/ 0 w 58"/>
                  <a:gd name="T39" fmla="*/ 1 h 168"/>
                  <a:gd name="T40" fmla="*/ 1 w 58"/>
                  <a:gd name="T41" fmla="*/ 1 h 1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168"/>
                  <a:gd name="T65" fmla="*/ 58 w 58"/>
                  <a:gd name="T66" fmla="*/ 168 h 1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168">
                    <a:moveTo>
                      <a:pt x="22" y="165"/>
                    </a:moveTo>
                    <a:lnTo>
                      <a:pt x="22" y="165"/>
                    </a:lnTo>
                    <a:lnTo>
                      <a:pt x="22" y="149"/>
                    </a:lnTo>
                    <a:lnTo>
                      <a:pt x="25" y="127"/>
                    </a:lnTo>
                    <a:lnTo>
                      <a:pt x="29" y="102"/>
                    </a:lnTo>
                    <a:lnTo>
                      <a:pt x="36" y="79"/>
                    </a:lnTo>
                    <a:lnTo>
                      <a:pt x="43" y="55"/>
                    </a:lnTo>
                    <a:lnTo>
                      <a:pt x="48" y="36"/>
                    </a:lnTo>
                    <a:lnTo>
                      <a:pt x="56" y="22"/>
                    </a:lnTo>
                    <a:lnTo>
                      <a:pt x="58" y="19"/>
                    </a:lnTo>
                    <a:lnTo>
                      <a:pt x="45" y="0"/>
                    </a:lnTo>
                    <a:lnTo>
                      <a:pt x="37" y="13"/>
                    </a:lnTo>
                    <a:lnTo>
                      <a:pt x="29" y="27"/>
                    </a:lnTo>
                    <a:lnTo>
                      <a:pt x="22" y="49"/>
                    </a:lnTo>
                    <a:lnTo>
                      <a:pt x="14" y="72"/>
                    </a:lnTo>
                    <a:lnTo>
                      <a:pt x="7" y="99"/>
                    </a:lnTo>
                    <a:lnTo>
                      <a:pt x="3" y="124"/>
                    </a:lnTo>
                    <a:lnTo>
                      <a:pt x="0" y="146"/>
                    </a:lnTo>
                    <a:lnTo>
                      <a:pt x="0" y="168"/>
                    </a:lnTo>
                    <a:lnTo>
                      <a:pt x="22" y="165"/>
                    </a:lnTo>
                    <a:close/>
                  </a:path>
                </a:pathLst>
              </a:custGeom>
              <a:solidFill>
                <a:srgbClr val="000000"/>
              </a:solidFill>
              <a:ln w="9525">
                <a:noFill/>
                <a:round/>
                <a:headEnd/>
                <a:tailEnd/>
              </a:ln>
            </p:spPr>
            <p:txBody>
              <a:bodyPr/>
              <a:lstStyle/>
              <a:p>
                <a:endParaRPr lang="en-US"/>
              </a:p>
            </p:txBody>
          </p:sp>
          <p:sp>
            <p:nvSpPr>
              <p:cNvPr id="26819" name="Freeform 156"/>
              <p:cNvSpPr>
                <a:spLocks/>
              </p:cNvSpPr>
              <p:nvPr/>
            </p:nvSpPr>
            <p:spPr bwMode="auto">
              <a:xfrm>
                <a:off x="2162" y="3677"/>
                <a:ext cx="24" cy="80"/>
              </a:xfrm>
              <a:custGeom>
                <a:avLst/>
                <a:gdLst>
                  <a:gd name="T0" fmla="*/ 1 w 47"/>
                  <a:gd name="T1" fmla="*/ 1 h 159"/>
                  <a:gd name="T2" fmla="*/ 1 w 47"/>
                  <a:gd name="T3" fmla="*/ 1 h 159"/>
                  <a:gd name="T4" fmla="*/ 1 w 47"/>
                  <a:gd name="T5" fmla="*/ 1 h 159"/>
                  <a:gd name="T6" fmla="*/ 1 w 47"/>
                  <a:gd name="T7" fmla="*/ 1 h 159"/>
                  <a:gd name="T8" fmla="*/ 1 w 47"/>
                  <a:gd name="T9" fmla="*/ 1 h 159"/>
                  <a:gd name="T10" fmla="*/ 1 w 47"/>
                  <a:gd name="T11" fmla="*/ 1 h 159"/>
                  <a:gd name="T12" fmla="*/ 1 w 47"/>
                  <a:gd name="T13" fmla="*/ 1 h 159"/>
                  <a:gd name="T14" fmla="*/ 1 w 47"/>
                  <a:gd name="T15" fmla="*/ 1 h 159"/>
                  <a:gd name="T16" fmla="*/ 1 w 47"/>
                  <a:gd name="T17" fmla="*/ 1 h 159"/>
                  <a:gd name="T18" fmla="*/ 1 w 47"/>
                  <a:gd name="T19" fmla="*/ 0 h 159"/>
                  <a:gd name="T20" fmla="*/ 0 w 47"/>
                  <a:gd name="T21" fmla="*/ 1 h 159"/>
                  <a:gd name="T22" fmla="*/ 1 w 47"/>
                  <a:gd name="T23" fmla="*/ 1 h 159"/>
                  <a:gd name="T24" fmla="*/ 1 w 47"/>
                  <a:gd name="T25" fmla="*/ 1 h 159"/>
                  <a:gd name="T26" fmla="*/ 1 w 47"/>
                  <a:gd name="T27" fmla="*/ 1 h 159"/>
                  <a:gd name="T28" fmla="*/ 1 w 47"/>
                  <a:gd name="T29" fmla="*/ 1 h 159"/>
                  <a:gd name="T30" fmla="*/ 1 w 47"/>
                  <a:gd name="T31" fmla="*/ 1 h 159"/>
                  <a:gd name="T32" fmla="*/ 1 w 47"/>
                  <a:gd name="T33" fmla="*/ 1 h 159"/>
                  <a:gd name="T34" fmla="*/ 1 w 47"/>
                  <a:gd name="T35" fmla="*/ 1 h 159"/>
                  <a:gd name="T36" fmla="*/ 1 w 47"/>
                  <a:gd name="T37" fmla="*/ 1 h 159"/>
                  <a:gd name="T38" fmla="*/ 1 w 47"/>
                  <a:gd name="T39" fmla="*/ 1 h 159"/>
                  <a:gd name="T40" fmla="*/ 1 w 47"/>
                  <a:gd name="T41" fmla="*/ 1 h 1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159"/>
                  <a:gd name="T65" fmla="*/ 47 w 47"/>
                  <a:gd name="T66" fmla="*/ 159 h 15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159">
                    <a:moveTo>
                      <a:pt x="47" y="139"/>
                    </a:moveTo>
                    <a:lnTo>
                      <a:pt x="45" y="137"/>
                    </a:lnTo>
                    <a:lnTo>
                      <a:pt x="47" y="136"/>
                    </a:lnTo>
                    <a:lnTo>
                      <a:pt x="42" y="126"/>
                    </a:lnTo>
                    <a:lnTo>
                      <a:pt x="37" y="108"/>
                    </a:lnTo>
                    <a:lnTo>
                      <a:pt x="32" y="87"/>
                    </a:lnTo>
                    <a:lnTo>
                      <a:pt x="29" y="62"/>
                    </a:lnTo>
                    <a:lnTo>
                      <a:pt x="26" y="39"/>
                    </a:lnTo>
                    <a:lnTo>
                      <a:pt x="23" y="17"/>
                    </a:lnTo>
                    <a:lnTo>
                      <a:pt x="22" y="0"/>
                    </a:lnTo>
                    <a:lnTo>
                      <a:pt x="0" y="3"/>
                    </a:lnTo>
                    <a:lnTo>
                      <a:pt x="1" y="20"/>
                    </a:lnTo>
                    <a:lnTo>
                      <a:pt x="4" y="42"/>
                    </a:lnTo>
                    <a:lnTo>
                      <a:pt x="7" y="65"/>
                    </a:lnTo>
                    <a:lnTo>
                      <a:pt x="11" y="90"/>
                    </a:lnTo>
                    <a:lnTo>
                      <a:pt x="15" y="114"/>
                    </a:lnTo>
                    <a:lnTo>
                      <a:pt x="20" y="133"/>
                    </a:lnTo>
                    <a:lnTo>
                      <a:pt x="28" y="148"/>
                    </a:lnTo>
                    <a:lnTo>
                      <a:pt x="39" y="159"/>
                    </a:lnTo>
                    <a:lnTo>
                      <a:pt x="37" y="158"/>
                    </a:lnTo>
                    <a:lnTo>
                      <a:pt x="47" y="139"/>
                    </a:lnTo>
                    <a:close/>
                  </a:path>
                </a:pathLst>
              </a:custGeom>
              <a:solidFill>
                <a:srgbClr val="000000"/>
              </a:solidFill>
              <a:ln w="9525">
                <a:noFill/>
                <a:round/>
                <a:headEnd/>
                <a:tailEnd/>
              </a:ln>
            </p:spPr>
            <p:txBody>
              <a:bodyPr/>
              <a:lstStyle/>
              <a:p>
                <a:endParaRPr lang="en-US"/>
              </a:p>
            </p:txBody>
          </p:sp>
          <p:sp>
            <p:nvSpPr>
              <p:cNvPr id="26820" name="Freeform 157"/>
              <p:cNvSpPr>
                <a:spLocks/>
              </p:cNvSpPr>
              <p:nvPr/>
            </p:nvSpPr>
            <p:spPr bwMode="auto">
              <a:xfrm>
                <a:off x="2181" y="3736"/>
                <a:ext cx="47" cy="21"/>
              </a:xfrm>
              <a:custGeom>
                <a:avLst/>
                <a:gdLst>
                  <a:gd name="T0" fmla="*/ 1 w 94"/>
                  <a:gd name="T1" fmla="*/ 0 h 42"/>
                  <a:gd name="T2" fmla="*/ 1 w 94"/>
                  <a:gd name="T3" fmla="*/ 0 h 42"/>
                  <a:gd name="T4" fmla="*/ 1 w 94"/>
                  <a:gd name="T5" fmla="*/ 1 h 42"/>
                  <a:gd name="T6" fmla="*/ 1 w 94"/>
                  <a:gd name="T7" fmla="*/ 1 h 42"/>
                  <a:gd name="T8" fmla="*/ 1 w 94"/>
                  <a:gd name="T9" fmla="*/ 1 h 42"/>
                  <a:gd name="T10" fmla="*/ 1 w 94"/>
                  <a:gd name="T11" fmla="*/ 1 h 42"/>
                  <a:gd name="T12" fmla="*/ 1 w 94"/>
                  <a:gd name="T13" fmla="*/ 1 h 42"/>
                  <a:gd name="T14" fmla="*/ 1 w 94"/>
                  <a:gd name="T15" fmla="*/ 1 h 42"/>
                  <a:gd name="T16" fmla="*/ 1 w 94"/>
                  <a:gd name="T17" fmla="*/ 1 h 42"/>
                  <a:gd name="T18" fmla="*/ 1 w 94"/>
                  <a:gd name="T19" fmla="*/ 1 h 42"/>
                  <a:gd name="T20" fmla="*/ 0 w 94"/>
                  <a:gd name="T21" fmla="*/ 1 h 42"/>
                  <a:gd name="T22" fmla="*/ 1 w 94"/>
                  <a:gd name="T23" fmla="*/ 1 h 42"/>
                  <a:gd name="T24" fmla="*/ 1 w 94"/>
                  <a:gd name="T25" fmla="*/ 1 h 42"/>
                  <a:gd name="T26" fmla="*/ 1 w 94"/>
                  <a:gd name="T27" fmla="*/ 1 h 42"/>
                  <a:gd name="T28" fmla="*/ 1 w 94"/>
                  <a:gd name="T29" fmla="*/ 1 h 42"/>
                  <a:gd name="T30" fmla="*/ 1 w 94"/>
                  <a:gd name="T31" fmla="*/ 1 h 42"/>
                  <a:gd name="T32" fmla="*/ 1 w 94"/>
                  <a:gd name="T33" fmla="*/ 1 h 42"/>
                  <a:gd name="T34" fmla="*/ 1 w 94"/>
                  <a:gd name="T35" fmla="*/ 1 h 42"/>
                  <a:gd name="T36" fmla="*/ 1 w 94"/>
                  <a:gd name="T37" fmla="*/ 1 h 42"/>
                  <a:gd name="T38" fmla="*/ 1 w 94"/>
                  <a:gd name="T39" fmla="*/ 1 h 42"/>
                  <a:gd name="T40" fmla="*/ 1 w 94"/>
                  <a:gd name="T41" fmla="*/ 0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42"/>
                  <a:gd name="T65" fmla="*/ 94 w 94"/>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42">
                    <a:moveTo>
                      <a:pt x="83" y="0"/>
                    </a:moveTo>
                    <a:lnTo>
                      <a:pt x="82" y="0"/>
                    </a:lnTo>
                    <a:lnTo>
                      <a:pt x="77" y="3"/>
                    </a:lnTo>
                    <a:lnTo>
                      <a:pt x="69" y="6"/>
                    </a:lnTo>
                    <a:lnTo>
                      <a:pt x="57" y="9"/>
                    </a:lnTo>
                    <a:lnTo>
                      <a:pt x="42" y="14"/>
                    </a:lnTo>
                    <a:lnTo>
                      <a:pt x="30" y="17"/>
                    </a:lnTo>
                    <a:lnTo>
                      <a:pt x="19" y="20"/>
                    </a:lnTo>
                    <a:lnTo>
                      <a:pt x="11" y="20"/>
                    </a:lnTo>
                    <a:lnTo>
                      <a:pt x="10" y="22"/>
                    </a:lnTo>
                    <a:lnTo>
                      <a:pt x="0" y="41"/>
                    </a:lnTo>
                    <a:lnTo>
                      <a:pt x="11" y="42"/>
                    </a:lnTo>
                    <a:lnTo>
                      <a:pt x="22" y="42"/>
                    </a:lnTo>
                    <a:lnTo>
                      <a:pt x="36" y="39"/>
                    </a:lnTo>
                    <a:lnTo>
                      <a:pt x="49" y="36"/>
                    </a:lnTo>
                    <a:lnTo>
                      <a:pt x="63" y="31"/>
                    </a:lnTo>
                    <a:lnTo>
                      <a:pt x="75" y="28"/>
                    </a:lnTo>
                    <a:lnTo>
                      <a:pt x="86" y="22"/>
                    </a:lnTo>
                    <a:lnTo>
                      <a:pt x="94" y="19"/>
                    </a:lnTo>
                    <a:lnTo>
                      <a:pt x="93" y="19"/>
                    </a:lnTo>
                    <a:lnTo>
                      <a:pt x="83" y="0"/>
                    </a:lnTo>
                    <a:close/>
                  </a:path>
                </a:pathLst>
              </a:custGeom>
              <a:solidFill>
                <a:srgbClr val="000000"/>
              </a:solidFill>
              <a:ln w="9525">
                <a:noFill/>
                <a:round/>
                <a:headEnd/>
                <a:tailEnd/>
              </a:ln>
            </p:spPr>
            <p:txBody>
              <a:bodyPr/>
              <a:lstStyle/>
              <a:p>
                <a:endParaRPr lang="en-US"/>
              </a:p>
            </p:txBody>
          </p:sp>
          <p:sp>
            <p:nvSpPr>
              <p:cNvPr id="26821" name="Freeform 158"/>
              <p:cNvSpPr>
                <a:spLocks/>
              </p:cNvSpPr>
              <p:nvPr/>
            </p:nvSpPr>
            <p:spPr bwMode="auto">
              <a:xfrm>
                <a:off x="2086" y="3813"/>
                <a:ext cx="162" cy="77"/>
              </a:xfrm>
              <a:custGeom>
                <a:avLst/>
                <a:gdLst>
                  <a:gd name="T0" fmla="*/ 0 w 326"/>
                  <a:gd name="T1" fmla="*/ 0 h 155"/>
                  <a:gd name="T2" fmla="*/ 0 w 326"/>
                  <a:gd name="T3" fmla="*/ 0 h 155"/>
                  <a:gd name="T4" fmla="*/ 0 w 326"/>
                  <a:gd name="T5" fmla="*/ 0 h 155"/>
                  <a:gd name="T6" fmla="*/ 0 w 326"/>
                  <a:gd name="T7" fmla="*/ 0 h 155"/>
                  <a:gd name="T8" fmla="*/ 0 w 326"/>
                  <a:gd name="T9" fmla="*/ 0 h 155"/>
                  <a:gd name="T10" fmla="*/ 0 w 326"/>
                  <a:gd name="T11" fmla="*/ 0 h 155"/>
                  <a:gd name="T12" fmla="*/ 0 w 326"/>
                  <a:gd name="T13" fmla="*/ 0 h 155"/>
                  <a:gd name="T14" fmla="*/ 0 w 326"/>
                  <a:gd name="T15" fmla="*/ 0 h 155"/>
                  <a:gd name="T16" fmla="*/ 0 w 326"/>
                  <a:gd name="T17" fmla="*/ 0 h 155"/>
                  <a:gd name="T18" fmla="*/ 0 w 326"/>
                  <a:gd name="T19" fmla="*/ 0 h 155"/>
                  <a:gd name="T20" fmla="*/ 0 w 326"/>
                  <a:gd name="T21" fmla="*/ 0 h 155"/>
                  <a:gd name="T22" fmla="*/ 0 w 326"/>
                  <a:gd name="T23" fmla="*/ 0 h 155"/>
                  <a:gd name="T24" fmla="*/ 0 w 326"/>
                  <a:gd name="T25" fmla="*/ 0 h 155"/>
                  <a:gd name="T26" fmla="*/ 0 w 326"/>
                  <a:gd name="T27" fmla="*/ 0 h 155"/>
                  <a:gd name="T28" fmla="*/ 0 w 326"/>
                  <a:gd name="T29" fmla="*/ 0 h 15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6"/>
                  <a:gd name="T46" fmla="*/ 0 h 155"/>
                  <a:gd name="T47" fmla="*/ 326 w 326"/>
                  <a:gd name="T48" fmla="*/ 155 h 15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6" h="155">
                    <a:moveTo>
                      <a:pt x="144" y="32"/>
                    </a:moveTo>
                    <a:lnTo>
                      <a:pt x="0" y="0"/>
                    </a:lnTo>
                    <a:lnTo>
                      <a:pt x="0" y="21"/>
                    </a:lnTo>
                    <a:lnTo>
                      <a:pt x="118" y="61"/>
                    </a:lnTo>
                    <a:lnTo>
                      <a:pt x="49" y="155"/>
                    </a:lnTo>
                    <a:lnTo>
                      <a:pt x="71" y="155"/>
                    </a:lnTo>
                    <a:lnTo>
                      <a:pt x="160" y="75"/>
                    </a:lnTo>
                    <a:lnTo>
                      <a:pt x="165" y="75"/>
                    </a:lnTo>
                    <a:lnTo>
                      <a:pt x="254" y="155"/>
                    </a:lnTo>
                    <a:lnTo>
                      <a:pt x="276" y="155"/>
                    </a:lnTo>
                    <a:lnTo>
                      <a:pt x="208" y="61"/>
                    </a:lnTo>
                    <a:lnTo>
                      <a:pt x="326" y="21"/>
                    </a:lnTo>
                    <a:lnTo>
                      <a:pt x="326" y="0"/>
                    </a:lnTo>
                    <a:lnTo>
                      <a:pt x="180" y="32"/>
                    </a:lnTo>
                    <a:lnTo>
                      <a:pt x="144" y="32"/>
                    </a:lnTo>
                    <a:close/>
                  </a:path>
                </a:pathLst>
              </a:custGeom>
              <a:solidFill>
                <a:srgbClr val="FF7226"/>
              </a:solidFill>
              <a:ln w="9525">
                <a:noFill/>
                <a:round/>
                <a:headEnd/>
                <a:tailEnd/>
              </a:ln>
            </p:spPr>
            <p:txBody>
              <a:bodyPr/>
              <a:lstStyle/>
              <a:p>
                <a:endParaRPr lang="en-US"/>
              </a:p>
            </p:txBody>
          </p:sp>
          <p:sp>
            <p:nvSpPr>
              <p:cNvPr id="26822" name="Freeform 159"/>
              <p:cNvSpPr>
                <a:spLocks/>
              </p:cNvSpPr>
              <p:nvPr/>
            </p:nvSpPr>
            <p:spPr bwMode="auto">
              <a:xfrm>
                <a:off x="2080" y="3807"/>
                <a:ext cx="78" cy="27"/>
              </a:xfrm>
              <a:custGeom>
                <a:avLst/>
                <a:gdLst>
                  <a:gd name="T0" fmla="*/ 0 w 157"/>
                  <a:gd name="T1" fmla="*/ 1 h 54"/>
                  <a:gd name="T2" fmla="*/ 0 w 157"/>
                  <a:gd name="T3" fmla="*/ 1 h 54"/>
                  <a:gd name="T4" fmla="*/ 0 w 157"/>
                  <a:gd name="T5" fmla="*/ 1 h 54"/>
                  <a:gd name="T6" fmla="*/ 0 w 157"/>
                  <a:gd name="T7" fmla="*/ 1 h 54"/>
                  <a:gd name="T8" fmla="*/ 0 w 157"/>
                  <a:gd name="T9" fmla="*/ 0 h 54"/>
                  <a:gd name="T10" fmla="*/ 0 w 157"/>
                  <a:gd name="T11" fmla="*/ 1 h 54"/>
                  <a:gd name="T12" fmla="*/ 0 w 157"/>
                  <a:gd name="T13" fmla="*/ 0 h 54"/>
                  <a:gd name="T14" fmla="*/ 0 w 157"/>
                  <a:gd name="T15" fmla="*/ 1 h 54"/>
                  <a:gd name="T16" fmla="*/ 0 w 157"/>
                  <a:gd name="T17" fmla="*/ 1 h 54"/>
                  <a:gd name="T18" fmla="*/ 0 w 157"/>
                  <a:gd name="T19" fmla="*/ 1 h 54"/>
                  <a:gd name="T20" fmla="*/ 0 w 157"/>
                  <a:gd name="T21" fmla="*/ 1 h 54"/>
                  <a:gd name="T22" fmla="*/ 0 w 157"/>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7"/>
                  <a:gd name="T37" fmla="*/ 0 h 54"/>
                  <a:gd name="T38" fmla="*/ 157 w 157"/>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7" h="54">
                    <a:moveTo>
                      <a:pt x="22" y="11"/>
                    </a:moveTo>
                    <a:lnTo>
                      <a:pt x="10" y="22"/>
                    </a:lnTo>
                    <a:lnTo>
                      <a:pt x="154" y="54"/>
                    </a:lnTo>
                    <a:lnTo>
                      <a:pt x="157" y="32"/>
                    </a:lnTo>
                    <a:lnTo>
                      <a:pt x="13" y="0"/>
                    </a:lnTo>
                    <a:lnTo>
                      <a:pt x="0" y="11"/>
                    </a:lnTo>
                    <a:lnTo>
                      <a:pt x="13" y="0"/>
                    </a:lnTo>
                    <a:lnTo>
                      <a:pt x="5" y="4"/>
                    </a:lnTo>
                    <a:lnTo>
                      <a:pt x="0" y="10"/>
                    </a:lnTo>
                    <a:lnTo>
                      <a:pt x="2" y="18"/>
                    </a:lnTo>
                    <a:lnTo>
                      <a:pt x="10" y="22"/>
                    </a:lnTo>
                    <a:lnTo>
                      <a:pt x="22" y="11"/>
                    </a:lnTo>
                    <a:close/>
                  </a:path>
                </a:pathLst>
              </a:custGeom>
              <a:solidFill>
                <a:srgbClr val="000000"/>
              </a:solidFill>
              <a:ln w="9525">
                <a:noFill/>
                <a:round/>
                <a:headEnd/>
                <a:tailEnd/>
              </a:ln>
            </p:spPr>
            <p:txBody>
              <a:bodyPr/>
              <a:lstStyle/>
              <a:p>
                <a:endParaRPr lang="en-US"/>
              </a:p>
            </p:txBody>
          </p:sp>
          <p:sp>
            <p:nvSpPr>
              <p:cNvPr id="26823" name="Freeform 160"/>
              <p:cNvSpPr>
                <a:spLocks/>
              </p:cNvSpPr>
              <p:nvPr/>
            </p:nvSpPr>
            <p:spPr bwMode="auto">
              <a:xfrm>
                <a:off x="2080" y="3813"/>
                <a:ext cx="11" cy="15"/>
              </a:xfrm>
              <a:custGeom>
                <a:avLst/>
                <a:gdLst>
                  <a:gd name="T0" fmla="*/ 1 w 22"/>
                  <a:gd name="T1" fmla="*/ 0 h 32"/>
                  <a:gd name="T2" fmla="*/ 1 w 22"/>
                  <a:gd name="T3" fmla="*/ 0 h 32"/>
                  <a:gd name="T4" fmla="*/ 1 w 22"/>
                  <a:gd name="T5" fmla="*/ 0 h 32"/>
                  <a:gd name="T6" fmla="*/ 0 w 22"/>
                  <a:gd name="T7" fmla="*/ 0 h 32"/>
                  <a:gd name="T8" fmla="*/ 0 w 22"/>
                  <a:gd name="T9" fmla="*/ 0 h 32"/>
                  <a:gd name="T10" fmla="*/ 1 w 22"/>
                  <a:gd name="T11" fmla="*/ 0 h 32"/>
                  <a:gd name="T12" fmla="*/ 0 w 22"/>
                  <a:gd name="T13" fmla="*/ 0 h 32"/>
                  <a:gd name="T14" fmla="*/ 1 w 22"/>
                  <a:gd name="T15" fmla="*/ 0 h 32"/>
                  <a:gd name="T16" fmla="*/ 1 w 22"/>
                  <a:gd name="T17" fmla="*/ 0 h 32"/>
                  <a:gd name="T18" fmla="*/ 1 w 22"/>
                  <a:gd name="T19" fmla="*/ 0 h 32"/>
                  <a:gd name="T20" fmla="*/ 1 w 22"/>
                  <a:gd name="T21" fmla="*/ 0 h 32"/>
                  <a:gd name="T22" fmla="*/ 1 w 22"/>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4" y="10"/>
                    </a:moveTo>
                    <a:lnTo>
                      <a:pt x="22" y="21"/>
                    </a:lnTo>
                    <a:lnTo>
                      <a:pt x="22" y="0"/>
                    </a:lnTo>
                    <a:lnTo>
                      <a:pt x="0" y="0"/>
                    </a:lnTo>
                    <a:lnTo>
                      <a:pt x="0" y="21"/>
                    </a:lnTo>
                    <a:lnTo>
                      <a:pt x="8" y="32"/>
                    </a:lnTo>
                    <a:lnTo>
                      <a:pt x="0" y="21"/>
                    </a:lnTo>
                    <a:lnTo>
                      <a:pt x="3" y="28"/>
                    </a:lnTo>
                    <a:lnTo>
                      <a:pt x="11" y="32"/>
                    </a:lnTo>
                    <a:lnTo>
                      <a:pt x="19" y="28"/>
                    </a:lnTo>
                    <a:lnTo>
                      <a:pt x="22" y="21"/>
                    </a:lnTo>
                    <a:lnTo>
                      <a:pt x="14" y="10"/>
                    </a:lnTo>
                    <a:close/>
                  </a:path>
                </a:pathLst>
              </a:custGeom>
              <a:solidFill>
                <a:srgbClr val="000000"/>
              </a:solidFill>
              <a:ln w="9525">
                <a:noFill/>
                <a:round/>
                <a:headEnd/>
                <a:tailEnd/>
              </a:ln>
            </p:spPr>
            <p:txBody>
              <a:bodyPr/>
              <a:lstStyle/>
              <a:p>
                <a:endParaRPr lang="en-US"/>
              </a:p>
            </p:txBody>
          </p:sp>
          <p:sp>
            <p:nvSpPr>
              <p:cNvPr id="26824" name="Freeform 161"/>
              <p:cNvSpPr>
                <a:spLocks/>
              </p:cNvSpPr>
              <p:nvPr/>
            </p:nvSpPr>
            <p:spPr bwMode="auto">
              <a:xfrm>
                <a:off x="2084" y="3817"/>
                <a:ext cx="66" cy="32"/>
              </a:xfrm>
              <a:custGeom>
                <a:avLst/>
                <a:gdLst>
                  <a:gd name="T0" fmla="*/ 1 w 132"/>
                  <a:gd name="T1" fmla="*/ 1 h 62"/>
                  <a:gd name="T2" fmla="*/ 1 w 132"/>
                  <a:gd name="T3" fmla="*/ 1 h 62"/>
                  <a:gd name="T4" fmla="*/ 1 w 132"/>
                  <a:gd name="T5" fmla="*/ 0 h 62"/>
                  <a:gd name="T6" fmla="*/ 0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1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30" y="58"/>
                    </a:moveTo>
                    <a:lnTo>
                      <a:pt x="124" y="40"/>
                    </a:lnTo>
                    <a:lnTo>
                      <a:pt x="6" y="0"/>
                    </a:lnTo>
                    <a:lnTo>
                      <a:pt x="0" y="22"/>
                    </a:lnTo>
                    <a:lnTo>
                      <a:pt x="117" y="62"/>
                    </a:lnTo>
                    <a:lnTo>
                      <a:pt x="111" y="45"/>
                    </a:lnTo>
                    <a:lnTo>
                      <a:pt x="117" y="62"/>
                    </a:lnTo>
                    <a:lnTo>
                      <a:pt x="127" y="61"/>
                    </a:lnTo>
                    <a:lnTo>
                      <a:pt x="132" y="53"/>
                    </a:lnTo>
                    <a:lnTo>
                      <a:pt x="130" y="45"/>
                    </a:lnTo>
                    <a:lnTo>
                      <a:pt x="124" y="40"/>
                    </a:lnTo>
                    <a:lnTo>
                      <a:pt x="130" y="58"/>
                    </a:lnTo>
                    <a:close/>
                  </a:path>
                </a:pathLst>
              </a:custGeom>
              <a:solidFill>
                <a:srgbClr val="000000"/>
              </a:solidFill>
              <a:ln w="9525">
                <a:noFill/>
                <a:round/>
                <a:headEnd/>
                <a:tailEnd/>
              </a:ln>
            </p:spPr>
            <p:txBody>
              <a:bodyPr/>
              <a:lstStyle/>
              <a:p>
                <a:endParaRPr lang="en-US"/>
              </a:p>
            </p:txBody>
          </p:sp>
          <p:sp>
            <p:nvSpPr>
              <p:cNvPr id="26825" name="Freeform 162"/>
              <p:cNvSpPr>
                <a:spLocks/>
              </p:cNvSpPr>
              <p:nvPr/>
            </p:nvSpPr>
            <p:spPr bwMode="auto">
              <a:xfrm>
                <a:off x="2104" y="3840"/>
                <a:ext cx="45" cy="56"/>
              </a:xfrm>
              <a:custGeom>
                <a:avLst/>
                <a:gdLst>
                  <a:gd name="T0" fmla="*/ 1 w 89"/>
                  <a:gd name="T1" fmla="*/ 1 h 111"/>
                  <a:gd name="T2" fmla="*/ 1 w 89"/>
                  <a:gd name="T3" fmla="*/ 1 h 111"/>
                  <a:gd name="T4" fmla="*/ 1 w 89"/>
                  <a:gd name="T5" fmla="*/ 1 h 111"/>
                  <a:gd name="T6" fmla="*/ 1 w 89"/>
                  <a:gd name="T7" fmla="*/ 0 h 111"/>
                  <a:gd name="T8" fmla="*/ 1 w 89"/>
                  <a:gd name="T9" fmla="*/ 1 h 111"/>
                  <a:gd name="T10" fmla="*/ 1 w 89"/>
                  <a:gd name="T11" fmla="*/ 1 h 111"/>
                  <a:gd name="T12" fmla="*/ 1 w 89"/>
                  <a:gd name="T13" fmla="*/ 1 h 111"/>
                  <a:gd name="T14" fmla="*/ 0 w 89"/>
                  <a:gd name="T15" fmla="*/ 1 h 111"/>
                  <a:gd name="T16" fmla="*/ 1 w 89"/>
                  <a:gd name="T17" fmla="*/ 1 h 111"/>
                  <a:gd name="T18" fmla="*/ 1 w 89"/>
                  <a:gd name="T19" fmla="*/ 1 h 111"/>
                  <a:gd name="T20" fmla="*/ 1 w 89"/>
                  <a:gd name="T21" fmla="*/ 1 h 111"/>
                  <a:gd name="T22" fmla="*/ 1 w 89"/>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9"/>
                  <a:gd name="T37" fmla="*/ 0 h 111"/>
                  <a:gd name="T38" fmla="*/ 89 w 89"/>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9" h="111">
                    <a:moveTo>
                      <a:pt x="11" y="89"/>
                    </a:moveTo>
                    <a:lnTo>
                      <a:pt x="20" y="106"/>
                    </a:lnTo>
                    <a:lnTo>
                      <a:pt x="89" y="13"/>
                    </a:lnTo>
                    <a:lnTo>
                      <a:pt x="70" y="0"/>
                    </a:lnTo>
                    <a:lnTo>
                      <a:pt x="1" y="94"/>
                    </a:lnTo>
                    <a:lnTo>
                      <a:pt x="11" y="111"/>
                    </a:lnTo>
                    <a:lnTo>
                      <a:pt x="1" y="94"/>
                    </a:lnTo>
                    <a:lnTo>
                      <a:pt x="0" y="103"/>
                    </a:lnTo>
                    <a:lnTo>
                      <a:pt x="4" y="110"/>
                    </a:lnTo>
                    <a:lnTo>
                      <a:pt x="12" y="111"/>
                    </a:lnTo>
                    <a:lnTo>
                      <a:pt x="20" y="106"/>
                    </a:lnTo>
                    <a:lnTo>
                      <a:pt x="11" y="89"/>
                    </a:lnTo>
                    <a:close/>
                  </a:path>
                </a:pathLst>
              </a:custGeom>
              <a:solidFill>
                <a:srgbClr val="000000"/>
              </a:solidFill>
              <a:ln w="9525">
                <a:noFill/>
                <a:round/>
                <a:headEnd/>
                <a:tailEnd/>
              </a:ln>
            </p:spPr>
            <p:txBody>
              <a:bodyPr/>
              <a:lstStyle/>
              <a:p>
                <a:endParaRPr lang="en-US"/>
              </a:p>
            </p:txBody>
          </p:sp>
          <p:sp>
            <p:nvSpPr>
              <p:cNvPr id="26826" name="Freeform 163"/>
              <p:cNvSpPr>
                <a:spLocks/>
              </p:cNvSpPr>
              <p:nvPr/>
            </p:nvSpPr>
            <p:spPr bwMode="auto">
              <a:xfrm>
                <a:off x="2110" y="3885"/>
                <a:ext cx="16" cy="11"/>
              </a:xfrm>
              <a:custGeom>
                <a:avLst/>
                <a:gdLst>
                  <a:gd name="T0" fmla="*/ 0 w 33"/>
                  <a:gd name="T1" fmla="*/ 1 h 22"/>
                  <a:gd name="T2" fmla="*/ 0 w 33"/>
                  <a:gd name="T3" fmla="*/ 0 h 22"/>
                  <a:gd name="T4" fmla="*/ 0 w 33"/>
                  <a:gd name="T5" fmla="*/ 0 h 22"/>
                  <a:gd name="T6" fmla="*/ 0 w 33"/>
                  <a:gd name="T7" fmla="*/ 1 h 22"/>
                  <a:gd name="T8" fmla="*/ 0 w 33"/>
                  <a:gd name="T9" fmla="*/ 1 h 22"/>
                  <a:gd name="T10" fmla="*/ 0 w 33"/>
                  <a:gd name="T11" fmla="*/ 1 h 22"/>
                  <a:gd name="T12" fmla="*/ 0 w 33"/>
                  <a:gd name="T13" fmla="*/ 1 h 22"/>
                  <a:gd name="T14" fmla="*/ 0 w 33"/>
                  <a:gd name="T15" fmla="*/ 1 h 22"/>
                  <a:gd name="T16" fmla="*/ 0 w 33"/>
                  <a:gd name="T17" fmla="*/ 1 h 22"/>
                  <a:gd name="T18" fmla="*/ 0 w 33"/>
                  <a:gd name="T19" fmla="*/ 1 h 22"/>
                  <a:gd name="T20" fmla="*/ 0 w 33"/>
                  <a:gd name="T21" fmla="*/ 0 h 22"/>
                  <a:gd name="T22" fmla="*/ 0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4" y="3"/>
                    </a:moveTo>
                    <a:lnTo>
                      <a:pt x="22" y="0"/>
                    </a:lnTo>
                    <a:lnTo>
                      <a:pt x="0" y="0"/>
                    </a:lnTo>
                    <a:lnTo>
                      <a:pt x="0" y="22"/>
                    </a:lnTo>
                    <a:lnTo>
                      <a:pt x="22" y="22"/>
                    </a:lnTo>
                    <a:lnTo>
                      <a:pt x="29" y="19"/>
                    </a:lnTo>
                    <a:lnTo>
                      <a:pt x="22" y="22"/>
                    </a:lnTo>
                    <a:lnTo>
                      <a:pt x="29" y="19"/>
                    </a:lnTo>
                    <a:lnTo>
                      <a:pt x="33" y="11"/>
                    </a:lnTo>
                    <a:lnTo>
                      <a:pt x="29" y="3"/>
                    </a:lnTo>
                    <a:lnTo>
                      <a:pt x="22" y="0"/>
                    </a:lnTo>
                    <a:lnTo>
                      <a:pt x="14" y="3"/>
                    </a:lnTo>
                    <a:close/>
                  </a:path>
                </a:pathLst>
              </a:custGeom>
              <a:solidFill>
                <a:srgbClr val="000000"/>
              </a:solidFill>
              <a:ln w="9525">
                <a:noFill/>
                <a:round/>
                <a:headEnd/>
                <a:tailEnd/>
              </a:ln>
            </p:spPr>
            <p:txBody>
              <a:bodyPr/>
              <a:lstStyle/>
              <a:p>
                <a:endParaRPr lang="en-US"/>
              </a:p>
            </p:txBody>
          </p:sp>
          <p:sp>
            <p:nvSpPr>
              <p:cNvPr id="26827" name="Freeform 164"/>
              <p:cNvSpPr>
                <a:spLocks/>
              </p:cNvSpPr>
              <p:nvPr/>
            </p:nvSpPr>
            <p:spPr bwMode="auto">
              <a:xfrm>
                <a:off x="2117" y="3845"/>
                <a:ext cx="54" cy="49"/>
              </a:xfrm>
              <a:custGeom>
                <a:avLst/>
                <a:gdLst>
                  <a:gd name="T0" fmla="*/ 1 w 108"/>
                  <a:gd name="T1" fmla="*/ 0 h 99"/>
                  <a:gd name="T2" fmla="*/ 1 w 108"/>
                  <a:gd name="T3" fmla="*/ 0 h 99"/>
                  <a:gd name="T4" fmla="*/ 0 w 108"/>
                  <a:gd name="T5" fmla="*/ 0 h 99"/>
                  <a:gd name="T6" fmla="*/ 1 w 108"/>
                  <a:gd name="T7" fmla="*/ 0 h 99"/>
                  <a:gd name="T8" fmla="*/ 1 w 108"/>
                  <a:gd name="T9" fmla="*/ 0 h 99"/>
                  <a:gd name="T10" fmla="*/ 1 w 108"/>
                  <a:gd name="T11" fmla="*/ 0 h 99"/>
                  <a:gd name="T12" fmla="*/ 1 w 108"/>
                  <a:gd name="T13" fmla="*/ 0 h 99"/>
                  <a:gd name="T14" fmla="*/ 1 w 108"/>
                  <a:gd name="T15" fmla="*/ 0 h 99"/>
                  <a:gd name="T16" fmla="*/ 1 w 108"/>
                  <a:gd name="T17" fmla="*/ 0 h 99"/>
                  <a:gd name="T18" fmla="*/ 1 w 108"/>
                  <a:gd name="T19" fmla="*/ 0 h 99"/>
                  <a:gd name="T20" fmla="*/ 1 w 108"/>
                  <a:gd name="T21" fmla="*/ 0 h 99"/>
                  <a:gd name="T22" fmla="*/ 1 w 108"/>
                  <a:gd name="T23" fmla="*/ 0 h 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9"/>
                  <a:gd name="T38" fmla="*/ 108 w 108"/>
                  <a:gd name="T39" fmla="*/ 99 h 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9">
                    <a:moveTo>
                      <a:pt x="97" y="0"/>
                    </a:moveTo>
                    <a:lnTo>
                      <a:pt x="89" y="4"/>
                    </a:lnTo>
                    <a:lnTo>
                      <a:pt x="0" y="83"/>
                    </a:lnTo>
                    <a:lnTo>
                      <a:pt x="15" y="99"/>
                    </a:lnTo>
                    <a:lnTo>
                      <a:pt x="105" y="19"/>
                    </a:lnTo>
                    <a:lnTo>
                      <a:pt x="97" y="22"/>
                    </a:lnTo>
                    <a:lnTo>
                      <a:pt x="105" y="19"/>
                    </a:lnTo>
                    <a:lnTo>
                      <a:pt x="108" y="11"/>
                    </a:lnTo>
                    <a:lnTo>
                      <a:pt x="105" y="4"/>
                    </a:lnTo>
                    <a:lnTo>
                      <a:pt x="97" y="0"/>
                    </a:lnTo>
                    <a:lnTo>
                      <a:pt x="89" y="4"/>
                    </a:lnTo>
                    <a:lnTo>
                      <a:pt x="97" y="0"/>
                    </a:lnTo>
                    <a:close/>
                  </a:path>
                </a:pathLst>
              </a:custGeom>
              <a:solidFill>
                <a:srgbClr val="000000"/>
              </a:solidFill>
              <a:ln w="9525">
                <a:noFill/>
                <a:round/>
                <a:headEnd/>
                <a:tailEnd/>
              </a:ln>
            </p:spPr>
            <p:txBody>
              <a:bodyPr/>
              <a:lstStyle/>
              <a:p>
                <a:endParaRPr lang="en-US"/>
              </a:p>
            </p:txBody>
          </p:sp>
          <p:sp>
            <p:nvSpPr>
              <p:cNvPr id="26828" name="Freeform 165"/>
              <p:cNvSpPr>
                <a:spLocks/>
              </p:cNvSpPr>
              <p:nvPr/>
            </p:nvSpPr>
            <p:spPr bwMode="auto">
              <a:xfrm>
                <a:off x="2164" y="3845"/>
                <a:ext cx="9" cy="11"/>
              </a:xfrm>
              <a:custGeom>
                <a:avLst/>
                <a:gdLst>
                  <a:gd name="T0" fmla="*/ 0 w 19"/>
                  <a:gd name="T1" fmla="*/ 1 h 22"/>
                  <a:gd name="T2" fmla="*/ 0 w 19"/>
                  <a:gd name="T3" fmla="*/ 0 h 22"/>
                  <a:gd name="T4" fmla="*/ 0 w 19"/>
                  <a:gd name="T5" fmla="*/ 0 h 22"/>
                  <a:gd name="T6" fmla="*/ 0 w 19"/>
                  <a:gd name="T7" fmla="*/ 1 h 22"/>
                  <a:gd name="T8" fmla="*/ 0 w 19"/>
                  <a:gd name="T9" fmla="*/ 1 h 22"/>
                  <a:gd name="T10" fmla="*/ 0 w 19"/>
                  <a:gd name="T11" fmla="*/ 1 h 22"/>
                  <a:gd name="T12" fmla="*/ 0 w 19"/>
                  <a:gd name="T13" fmla="*/ 1 h 22"/>
                  <a:gd name="T14" fmla="*/ 0 w 19"/>
                  <a:gd name="T15" fmla="*/ 1 h 22"/>
                  <a:gd name="T16" fmla="*/ 0 w 19"/>
                  <a:gd name="T17" fmla="*/ 1 h 22"/>
                  <a:gd name="T18" fmla="*/ 0 w 19"/>
                  <a:gd name="T19" fmla="*/ 1 h 22"/>
                  <a:gd name="T20" fmla="*/ 0 w 19"/>
                  <a:gd name="T21" fmla="*/ 0 h 22"/>
                  <a:gd name="T22" fmla="*/ 0 w 19"/>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2"/>
                  <a:gd name="T38" fmla="*/ 19 w 19"/>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2">
                    <a:moveTo>
                      <a:pt x="15" y="4"/>
                    </a:moveTo>
                    <a:lnTo>
                      <a:pt x="8" y="0"/>
                    </a:lnTo>
                    <a:lnTo>
                      <a:pt x="3" y="0"/>
                    </a:lnTo>
                    <a:lnTo>
                      <a:pt x="3" y="22"/>
                    </a:lnTo>
                    <a:lnTo>
                      <a:pt x="8" y="22"/>
                    </a:lnTo>
                    <a:lnTo>
                      <a:pt x="0" y="19"/>
                    </a:lnTo>
                    <a:lnTo>
                      <a:pt x="8" y="22"/>
                    </a:lnTo>
                    <a:lnTo>
                      <a:pt x="15" y="19"/>
                    </a:lnTo>
                    <a:lnTo>
                      <a:pt x="19" y="11"/>
                    </a:lnTo>
                    <a:lnTo>
                      <a:pt x="15" y="4"/>
                    </a:lnTo>
                    <a:lnTo>
                      <a:pt x="8" y="0"/>
                    </a:lnTo>
                    <a:lnTo>
                      <a:pt x="15" y="4"/>
                    </a:lnTo>
                    <a:close/>
                  </a:path>
                </a:pathLst>
              </a:custGeom>
              <a:solidFill>
                <a:srgbClr val="000000"/>
              </a:solidFill>
              <a:ln w="9525">
                <a:noFill/>
                <a:round/>
                <a:headEnd/>
                <a:tailEnd/>
              </a:ln>
            </p:spPr>
            <p:txBody>
              <a:bodyPr/>
              <a:lstStyle/>
              <a:p>
                <a:endParaRPr lang="en-US"/>
              </a:p>
            </p:txBody>
          </p:sp>
          <p:sp>
            <p:nvSpPr>
              <p:cNvPr id="26829" name="Freeform 166"/>
              <p:cNvSpPr>
                <a:spLocks/>
              </p:cNvSpPr>
              <p:nvPr/>
            </p:nvSpPr>
            <p:spPr bwMode="auto">
              <a:xfrm>
                <a:off x="2164" y="3846"/>
                <a:ext cx="54" cy="50"/>
              </a:xfrm>
              <a:custGeom>
                <a:avLst/>
                <a:gdLst>
                  <a:gd name="T0" fmla="*/ 1 w 108"/>
                  <a:gd name="T1" fmla="*/ 1 h 98"/>
                  <a:gd name="T2" fmla="*/ 1 w 108"/>
                  <a:gd name="T3" fmla="*/ 1 h 98"/>
                  <a:gd name="T4" fmla="*/ 1 w 108"/>
                  <a:gd name="T5" fmla="*/ 0 h 98"/>
                  <a:gd name="T6" fmla="*/ 0 w 108"/>
                  <a:gd name="T7" fmla="*/ 1 h 98"/>
                  <a:gd name="T8" fmla="*/ 1 w 108"/>
                  <a:gd name="T9" fmla="*/ 1 h 98"/>
                  <a:gd name="T10" fmla="*/ 1 w 108"/>
                  <a:gd name="T11" fmla="*/ 1 h 98"/>
                  <a:gd name="T12" fmla="*/ 1 w 108"/>
                  <a:gd name="T13" fmla="*/ 1 h 98"/>
                  <a:gd name="T14" fmla="*/ 1 w 108"/>
                  <a:gd name="T15" fmla="*/ 1 h 98"/>
                  <a:gd name="T16" fmla="*/ 1 w 108"/>
                  <a:gd name="T17" fmla="*/ 1 h 98"/>
                  <a:gd name="T18" fmla="*/ 1 w 108"/>
                  <a:gd name="T19" fmla="*/ 1 h 98"/>
                  <a:gd name="T20" fmla="*/ 1 w 108"/>
                  <a:gd name="T21" fmla="*/ 1 h 98"/>
                  <a:gd name="T22" fmla="*/ 1 w 108"/>
                  <a:gd name="T23" fmla="*/ 1 h 9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8"/>
                  <a:gd name="T38" fmla="*/ 108 w 108"/>
                  <a:gd name="T39" fmla="*/ 98 h 9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8">
                    <a:moveTo>
                      <a:pt x="97" y="76"/>
                    </a:moveTo>
                    <a:lnTo>
                      <a:pt x="105" y="79"/>
                    </a:lnTo>
                    <a:lnTo>
                      <a:pt x="15" y="0"/>
                    </a:lnTo>
                    <a:lnTo>
                      <a:pt x="0" y="15"/>
                    </a:lnTo>
                    <a:lnTo>
                      <a:pt x="89" y="95"/>
                    </a:lnTo>
                    <a:lnTo>
                      <a:pt x="97" y="98"/>
                    </a:lnTo>
                    <a:lnTo>
                      <a:pt x="89" y="95"/>
                    </a:lnTo>
                    <a:lnTo>
                      <a:pt x="97" y="98"/>
                    </a:lnTo>
                    <a:lnTo>
                      <a:pt x="105" y="93"/>
                    </a:lnTo>
                    <a:lnTo>
                      <a:pt x="108" y="87"/>
                    </a:lnTo>
                    <a:lnTo>
                      <a:pt x="105" y="79"/>
                    </a:lnTo>
                    <a:lnTo>
                      <a:pt x="97" y="76"/>
                    </a:lnTo>
                    <a:close/>
                  </a:path>
                </a:pathLst>
              </a:custGeom>
              <a:solidFill>
                <a:srgbClr val="000000"/>
              </a:solidFill>
              <a:ln w="9525">
                <a:noFill/>
                <a:round/>
                <a:headEnd/>
                <a:tailEnd/>
              </a:ln>
            </p:spPr>
            <p:txBody>
              <a:bodyPr/>
              <a:lstStyle/>
              <a:p>
                <a:endParaRPr lang="en-US"/>
              </a:p>
            </p:txBody>
          </p:sp>
          <p:sp>
            <p:nvSpPr>
              <p:cNvPr id="26830" name="Freeform 167"/>
              <p:cNvSpPr>
                <a:spLocks/>
              </p:cNvSpPr>
              <p:nvPr/>
            </p:nvSpPr>
            <p:spPr bwMode="auto">
              <a:xfrm>
                <a:off x="2212" y="3885"/>
                <a:ext cx="17" cy="11"/>
              </a:xfrm>
              <a:custGeom>
                <a:avLst/>
                <a:gdLst>
                  <a:gd name="T0" fmla="*/ 1 w 33"/>
                  <a:gd name="T1" fmla="*/ 1 h 22"/>
                  <a:gd name="T2" fmla="*/ 1 w 33"/>
                  <a:gd name="T3" fmla="*/ 0 h 22"/>
                  <a:gd name="T4" fmla="*/ 0 w 33"/>
                  <a:gd name="T5" fmla="*/ 0 h 22"/>
                  <a:gd name="T6" fmla="*/ 0 w 33"/>
                  <a:gd name="T7" fmla="*/ 1 h 22"/>
                  <a:gd name="T8" fmla="*/ 1 w 33"/>
                  <a:gd name="T9" fmla="*/ 1 h 22"/>
                  <a:gd name="T10" fmla="*/ 1 w 33"/>
                  <a:gd name="T11" fmla="*/ 1 h 22"/>
                  <a:gd name="T12" fmla="*/ 1 w 33"/>
                  <a:gd name="T13" fmla="*/ 1 h 22"/>
                  <a:gd name="T14" fmla="*/ 1 w 33"/>
                  <a:gd name="T15" fmla="*/ 1 h 22"/>
                  <a:gd name="T16" fmla="*/ 1 w 33"/>
                  <a:gd name="T17" fmla="*/ 1 h 22"/>
                  <a:gd name="T18" fmla="*/ 1 w 33"/>
                  <a:gd name="T19" fmla="*/ 1 h 22"/>
                  <a:gd name="T20" fmla="*/ 1 w 33"/>
                  <a:gd name="T21" fmla="*/ 0 h 22"/>
                  <a:gd name="T22" fmla="*/ 1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2" y="17"/>
                    </a:moveTo>
                    <a:lnTo>
                      <a:pt x="22" y="0"/>
                    </a:lnTo>
                    <a:lnTo>
                      <a:pt x="0" y="0"/>
                    </a:lnTo>
                    <a:lnTo>
                      <a:pt x="0" y="22"/>
                    </a:lnTo>
                    <a:lnTo>
                      <a:pt x="22" y="22"/>
                    </a:lnTo>
                    <a:lnTo>
                      <a:pt x="31" y="5"/>
                    </a:lnTo>
                    <a:lnTo>
                      <a:pt x="22" y="22"/>
                    </a:lnTo>
                    <a:lnTo>
                      <a:pt x="30" y="19"/>
                    </a:lnTo>
                    <a:lnTo>
                      <a:pt x="33" y="11"/>
                    </a:lnTo>
                    <a:lnTo>
                      <a:pt x="30" y="3"/>
                    </a:lnTo>
                    <a:lnTo>
                      <a:pt x="22" y="0"/>
                    </a:lnTo>
                    <a:lnTo>
                      <a:pt x="12" y="17"/>
                    </a:lnTo>
                    <a:close/>
                  </a:path>
                </a:pathLst>
              </a:custGeom>
              <a:solidFill>
                <a:srgbClr val="000000"/>
              </a:solidFill>
              <a:ln w="9525">
                <a:noFill/>
                <a:round/>
                <a:headEnd/>
                <a:tailEnd/>
              </a:ln>
            </p:spPr>
            <p:txBody>
              <a:bodyPr/>
              <a:lstStyle/>
              <a:p>
                <a:endParaRPr lang="en-US"/>
              </a:p>
            </p:txBody>
          </p:sp>
          <p:sp>
            <p:nvSpPr>
              <p:cNvPr id="26831" name="Freeform 168"/>
              <p:cNvSpPr>
                <a:spLocks/>
              </p:cNvSpPr>
              <p:nvPr/>
            </p:nvSpPr>
            <p:spPr bwMode="auto">
              <a:xfrm>
                <a:off x="2184" y="3838"/>
                <a:ext cx="44" cy="55"/>
              </a:xfrm>
              <a:custGeom>
                <a:avLst/>
                <a:gdLst>
                  <a:gd name="T0" fmla="*/ 1 w 88"/>
                  <a:gd name="T1" fmla="*/ 0 h 111"/>
                  <a:gd name="T2" fmla="*/ 1 w 88"/>
                  <a:gd name="T3" fmla="*/ 0 h 111"/>
                  <a:gd name="T4" fmla="*/ 1 w 88"/>
                  <a:gd name="T5" fmla="*/ 0 h 111"/>
                  <a:gd name="T6" fmla="*/ 1 w 88"/>
                  <a:gd name="T7" fmla="*/ 0 h 111"/>
                  <a:gd name="T8" fmla="*/ 1 w 88"/>
                  <a:gd name="T9" fmla="*/ 0 h 111"/>
                  <a:gd name="T10" fmla="*/ 1 w 88"/>
                  <a:gd name="T11" fmla="*/ 0 h 111"/>
                  <a:gd name="T12" fmla="*/ 1 w 88"/>
                  <a:gd name="T13" fmla="*/ 0 h 111"/>
                  <a:gd name="T14" fmla="*/ 1 w 88"/>
                  <a:gd name="T15" fmla="*/ 0 h 111"/>
                  <a:gd name="T16" fmla="*/ 1 w 88"/>
                  <a:gd name="T17" fmla="*/ 0 h 111"/>
                  <a:gd name="T18" fmla="*/ 0 w 88"/>
                  <a:gd name="T19" fmla="*/ 0 h 111"/>
                  <a:gd name="T20" fmla="*/ 1 w 88"/>
                  <a:gd name="T21" fmla="*/ 0 h 111"/>
                  <a:gd name="T22" fmla="*/ 1 w 88"/>
                  <a:gd name="T23" fmla="*/ 0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8"/>
                  <a:gd name="T37" fmla="*/ 0 h 111"/>
                  <a:gd name="T38" fmla="*/ 88 w 88"/>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8" h="111">
                    <a:moveTo>
                      <a:pt x="8" y="0"/>
                    </a:moveTo>
                    <a:lnTo>
                      <a:pt x="2" y="18"/>
                    </a:lnTo>
                    <a:lnTo>
                      <a:pt x="69" y="111"/>
                    </a:lnTo>
                    <a:lnTo>
                      <a:pt x="88" y="99"/>
                    </a:lnTo>
                    <a:lnTo>
                      <a:pt x="21" y="5"/>
                    </a:lnTo>
                    <a:lnTo>
                      <a:pt x="15" y="22"/>
                    </a:lnTo>
                    <a:lnTo>
                      <a:pt x="21" y="5"/>
                    </a:lnTo>
                    <a:lnTo>
                      <a:pt x="13" y="0"/>
                    </a:lnTo>
                    <a:lnTo>
                      <a:pt x="5" y="2"/>
                    </a:lnTo>
                    <a:lnTo>
                      <a:pt x="0" y="8"/>
                    </a:lnTo>
                    <a:lnTo>
                      <a:pt x="2" y="18"/>
                    </a:lnTo>
                    <a:lnTo>
                      <a:pt x="8" y="0"/>
                    </a:lnTo>
                    <a:close/>
                  </a:path>
                </a:pathLst>
              </a:custGeom>
              <a:solidFill>
                <a:srgbClr val="000000"/>
              </a:solidFill>
              <a:ln w="9525">
                <a:noFill/>
                <a:round/>
                <a:headEnd/>
                <a:tailEnd/>
              </a:ln>
            </p:spPr>
            <p:txBody>
              <a:bodyPr/>
              <a:lstStyle/>
              <a:p>
                <a:endParaRPr lang="en-US"/>
              </a:p>
            </p:txBody>
          </p:sp>
          <p:sp>
            <p:nvSpPr>
              <p:cNvPr id="26832" name="Freeform 169"/>
              <p:cNvSpPr>
                <a:spLocks/>
              </p:cNvSpPr>
              <p:nvPr/>
            </p:nvSpPr>
            <p:spPr bwMode="auto">
              <a:xfrm>
                <a:off x="2188" y="3817"/>
                <a:ext cx="66" cy="32"/>
              </a:xfrm>
              <a:custGeom>
                <a:avLst/>
                <a:gdLst>
                  <a:gd name="T0" fmla="*/ 1 w 132"/>
                  <a:gd name="T1" fmla="*/ 1 h 62"/>
                  <a:gd name="T2" fmla="*/ 1 w 132"/>
                  <a:gd name="T3" fmla="*/ 0 h 62"/>
                  <a:gd name="T4" fmla="*/ 0 w 132"/>
                  <a:gd name="T5" fmla="*/ 1 h 62"/>
                  <a:gd name="T6" fmla="*/ 1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0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10" y="11"/>
                    </a:moveTo>
                    <a:lnTo>
                      <a:pt x="118" y="0"/>
                    </a:lnTo>
                    <a:lnTo>
                      <a:pt x="0" y="40"/>
                    </a:lnTo>
                    <a:lnTo>
                      <a:pt x="7" y="62"/>
                    </a:lnTo>
                    <a:lnTo>
                      <a:pt x="124" y="22"/>
                    </a:lnTo>
                    <a:lnTo>
                      <a:pt x="132" y="11"/>
                    </a:lnTo>
                    <a:lnTo>
                      <a:pt x="124" y="22"/>
                    </a:lnTo>
                    <a:lnTo>
                      <a:pt x="130" y="17"/>
                    </a:lnTo>
                    <a:lnTo>
                      <a:pt x="132" y="8"/>
                    </a:lnTo>
                    <a:lnTo>
                      <a:pt x="127" y="1"/>
                    </a:lnTo>
                    <a:lnTo>
                      <a:pt x="118" y="0"/>
                    </a:lnTo>
                    <a:lnTo>
                      <a:pt x="110" y="11"/>
                    </a:lnTo>
                    <a:close/>
                  </a:path>
                </a:pathLst>
              </a:custGeom>
              <a:solidFill>
                <a:srgbClr val="000000"/>
              </a:solidFill>
              <a:ln w="9525">
                <a:noFill/>
                <a:round/>
                <a:headEnd/>
                <a:tailEnd/>
              </a:ln>
            </p:spPr>
            <p:txBody>
              <a:bodyPr/>
              <a:lstStyle/>
              <a:p>
                <a:endParaRPr lang="en-US"/>
              </a:p>
            </p:txBody>
          </p:sp>
          <p:sp>
            <p:nvSpPr>
              <p:cNvPr id="26833" name="Freeform 170"/>
              <p:cNvSpPr>
                <a:spLocks/>
              </p:cNvSpPr>
              <p:nvPr/>
            </p:nvSpPr>
            <p:spPr bwMode="auto">
              <a:xfrm>
                <a:off x="2243" y="3807"/>
                <a:ext cx="11" cy="16"/>
              </a:xfrm>
              <a:custGeom>
                <a:avLst/>
                <a:gdLst>
                  <a:gd name="T0" fmla="*/ 1 w 22"/>
                  <a:gd name="T1" fmla="*/ 1 h 32"/>
                  <a:gd name="T2" fmla="*/ 0 w 22"/>
                  <a:gd name="T3" fmla="*/ 1 h 32"/>
                  <a:gd name="T4" fmla="*/ 0 w 22"/>
                  <a:gd name="T5" fmla="*/ 1 h 32"/>
                  <a:gd name="T6" fmla="*/ 1 w 22"/>
                  <a:gd name="T7" fmla="*/ 1 h 32"/>
                  <a:gd name="T8" fmla="*/ 1 w 22"/>
                  <a:gd name="T9" fmla="*/ 1 h 32"/>
                  <a:gd name="T10" fmla="*/ 1 w 22"/>
                  <a:gd name="T11" fmla="*/ 0 h 32"/>
                  <a:gd name="T12" fmla="*/ 1 w 22"/>
                  <a:gd name="T13" fmla="*/ 1 h 32"/>
                  <a:gd name="T14" fmla="*/ 1 w 22"/>
                  <a:gd name="T15" fmla="*/ 1 h 32"/>
                  <a:gd name="T16" fmla="*/ 1 w 22"/>
                  <a:gd name="T17" fmla="*/ 0 h 32"/>
                  <a:gd name="T18" fmla="*/ 1 w 22"/>
                  <a:gd name="T19" fmla="*/ 1 h 32"/>
                  <a:gd name="T20" fmla="*/ 0 w 22"/>
                  <a:gd name="T21" fmla="*/ 1 h 32"/>
                  <a:gd name="T22" fmla="*/ 1 w 22"/>
                  <a:gd name="T23" fmla="*/ 1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2" y="22"/>
                    </a:moveTo>
                    <a:lnTo>
                      <a:pt x="0" y="11"/>
                    </a:lnTo>
                    <a:lnTo>
                      <a:pt x="0" y="32"/>
                    </a:lnTo>
                    <a:lnTo>
                      <a:pt x="22" y="32"/>
                    </a:lnTo>
                    <a:lnTo>
                      <a:pt x="22" y="11"/>
                    </a:lnTo>
                    <a:lnTo>
                      <a:pt x="9" y="0"/>
                    </a:lnTo>
                    <a:lnTo>
                      <a:pt x="22" y="11"/>
                    </a:lnTo>
                    <a:lnTo>
                      <a:pt x="19" y="4"/>
                    </a:lnTo>
                    <a:lnTo>
                      <a:pt x="11" y="0"/>
                    </a:lnTo>
                    <a:lnTo>
                      <a:pt x="3" y="4"/>
                    </a:lnTo>
                    <a:lnTo>
                      <a:pt x="0" y="11"/>
                    </a:lnTo>
                    <a:lnTo>
                      <a:pt x="12" y="22"/>
                    </a:lnTo>
                    <a:close/>
                  </a:path>
                </a:pathLst>
              </a:custGeom>
              <a:solidFill>
                <a:srgbClr val="000000"/>
              </a:solidFill>
              <a:ln w="9525">
                <a:noFill/>
                <a:round/>
                <a:headEnd/>
                <a:tailEnd/>
              </a:ln>
            </p:spPr>
            <p:txBody>
              <a:bodyPr/>
              <a:lstStyle/>
              <a:p>
                <a:endParaRPr lang="en-US"/>
              </a:p>
            </p:txBody>
          </p:sp>
          <p:sp>
            <p:nvSpPr>
              <p:cNvPr id="26834" name="Freeform 171"/>
              <p:cNvSpPr>
                <a:spLocks/>
              </p:cNvSpPr>
              <p:nvPr/>
            </p:nvSpPr>
            <p:spPr bwMode="auto">
              <a:xfrm>
                <a:off x="2170" y="3807"/>
                <a:ext cx="79" cy="27"/>
              </a:xfrm>
              <a:custGeom>
                <a:avLst/>
                <a:gdLst>
                  <a:gd name="T0" fmla="*/ 1 w 158"/>
                  <a:gd name="T1" fmla="*/ 1 h 54"/>
                  <a:gd name="T2" fmla="*/ 1 w 158"/>
                  <a:gd name="T3" fmla="*/ 1 h 54"/>
                  <a:gd name="T4" fmla="*/ 1 w 158"/>
                  <a:gd name="T5" fmla="*/ 1 h 54"/>
                  <a:gd name="T6" fmla="*/ 1 w 158"/>
                  <a:gd name="T7" fmla="*/ 0 h 54"/>
                  <a:gd name="T8" fmla="*/ 1 w 158"/>
                  <a:gd name="T9" fmla="*/ 1 h 54"/>
                  <a:gd name="T10" fmla="*/ 1 w 158"/>
                  <a:gd name="T11" fmla="*/ 1 h 54"/>
                  <a:gd name="T12" fmla="*/ 1 w 158"/>
                  <a:gd name="T13" fmla="*/ 1 h 54"/>
                  <a:gd name="T14" fmla="*/ 1 w 158"/>
                  <a:gd name="T15" fmla="*/ 1 h 54"/>
                  <a:gd name="T16" fmla="*/ 0 w 158"/>
                  <a:gd name="T17" fmla="*/ 1 h 54"/>
                  <a:gd name="T18" fmla="*/ 1 w 158"/>
                  <a:gd name="T19" fmla="*/ 1 h 54"/>
                  <a:gd name="T20" fmla="*/ 1 w 158"/>
                  <a:gd name="T21" fmla="*/ 1 h 54"/>
                  <a:gd name="T22" fmla="*/ 1 w 158"/>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54"/>
                  <a:gd name="T38" fmla="*/ 158 w 158"/>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54">
                    <a:moveTo>
                      <a:pt x="11" y="54"/>
                    </a:moveTo>
                    <a:lnTo>
                      <a:pt x="13" y="54"/>
                    </a:lnTo>
                    <a:lnTo>
                      <a:pt x="158" y="22"/>
                    </a:lnTo>
                    <a:lnTo>
                      <a:pt x="155" y="0"/>
                    </a:lnTo>
                    <a:lnTo>
                      <a:pt x="10" y="32"/>
                    </a:lnTo>
                    <a:lnTo>
                      <a:pt x="11" y="32"/>
                    </a:lnTo>
                    <a:lnTo>
                      <a:pt x="10" y="32"/>
                    </a:lnTo>
                    <a:lnTo>
                      <a:pt x="2" y="36"/>
                    </a:lnTo>
                    <a:lnTo>
                      <a:pt x="0" y="44"/>
                    </a:lnTo>
                    <a:lnTo>
                      <a:pt x="5" y="50"/>
                    </a:lnTo>
                    <a:lnTo>
                      <a:pt x="13" y="54"/>
                    </a:lnTo>
                    <a:lnTo>
                      <a:pt x="11" y="54"/>
                    </a:lnTo>
                    <a:close/>
                  </a:path>
                </a:pathLst>
              </a:custGeom>
              <a:solidFill>
                <a:srgbClr val="000000"/>
              </a:solidFill>
              <a:ln w="9525">
                <a:noFill/>
                <a:round/>
                <a:headEnd/>
                <a:tailEnd/>
              </a:ln>
            </p:spPr>
            <p:txBody>
              <a:bodyPr/>
              <a:lstStyle/>
              <a:p>
                <a:endParaRPr lang="en-US"/>
              </a:p>
            </p:txBody>
          </p:sp>
          <p:sp>
            <p:nvSpPr>
              <p:cNvPr id="26835" name="Freeform 172"/>
              <p:cNvSpPr>
                <a:spLocks/>
              </p:cNvSpPr>
              <p:nvPr/>
            </p:nvSpPr>
            <p:spPr bwMode="auto">
              <a:xfrm>
                <a:off x="2152" y="3823"/>
                <a:ext cx="24" cy="11"/>
              </a:xfrm>
              <a:custGeom>
                <a:avLst/>
                <a:gdLst>
                  <a:gd name="T0" fmla="*/ 1 w 47"/>
                  <a:gd name="T1" fmla="*/ 1 h 22"/>
                  <a:gd name="T2" fmla="*/ 1 w 47"/>
                  <a:gd name="T3" fmla="*/ 1 h 22"/>
                  <a:gd name="T4" fmla="*/ 1 w 47"/>
                  <a:gd name="T5" fmla="*/ 1 h 22"/>
                  <a:gd name="T6" fmla="*/ 1 w 47"/>
                  <a:gd name="T7" fmla="*/ 0 h 22"/>
                  <a:gd name="T8" fmla="*/ 1 w 47"/>
                  <a:gd name="T9" fmla="*/ 0 h 22"/>
                  <a:gd name="T10" fmla="*/ 1 w 47"/>
                  <a:gd name="T11" fmla="*/ 0 h 22"/>
                  <a:gd name="T12" fmla="*/ 1 w 47"/>
                  <a:gd name="T13" fmla="*/ 0 h 22"/>
                  <a:gd name="T14" fmla="*/ 1 w 47"/>
                  <a:gd name="T15" fmla="*/ 1 h 22"/>
                  <a:gd name="T16" fmla="*/ 0 w 47"/>
                  <a:gd name="T17" fmla="*/ 1 h 22"/>
                  <a:gd name="T18" fmla="*/ 1 w 47"/>
                  <a:gd name="T19" fmla="*/ 1 h 22"/>
                  <a:gd name="T20" fmla="*/ 1 w 47"/>
                  <a:gd name="T21" fmla="*/ 1 h 22"/>
                  <a:gd name="T22" fmla="*/ 1 w 47"/>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
                  <a:gd name="T37" fmla="*/ 0 h 22"/>
                  <a:gd name="T38" fmla="*/ 47 w 47"/>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 h="22">
                    <a:moveTo>
                      <a:pt x="10" y="22"/>
                    </a:moveTo>
                    <a:lnTo>
                      <a:pt x="11" y="22"/>
                    </a:lnTo>
                    <a:lnTo>
                      <a:pt x="47" y="22"/>
                    </a:lnTo>
                    <a:lnTo>
                      <a:pt x="47" y="0"/>
                    </a:lnTo>
                    <a:lnTo>
                      <a:pt x="11" y="0"/>
                    </a:lnTo>
                    <a:lnTo>
                      <a:pt x="13" y="0"/>
                    </a:lnTo>
                    <a:lnTo>
                      <a:pt x="11" y="0"/>
                    </a:lnTo>
                    <a:lnTo>
                      <a:pt x="3" y="3"/>
                    </a:lnTo>
                    <a:lnTo>
                      <a:pt x="0" y="11"/>
                    </a:lnTo>
                    <a:lnTo>
                      <a:pt x="3" y="18"/>
                    </a:lnTo>
                    <a:lnTo>
                      <a:pt x="11" y="22"/>
                    </a:lnTo>
                    <a:lnTo>
                      <a:pt x="10" y="22"/>
                    </a:lnTo>
                    <a:close/>
                  </a:path>
                </a:pathLst>
              </a:custGeom>
              <a:solidFill>
                <a:srgbClr val="000000"/>
              </a:solidFill>
              <a:ln w="9525">
                <a:noFill/>
                <a:round/>
                <a:headEnd/>
                <a:tailEnd/>
              </a:ln>
            </p:spPr>
            <p:txBody>
              <a:bodyPr/>
              <a:lstStyle/>
              <a:p>
                <a:endParaRPr lang="en-US"/>
              </a:p>
            </p:txBody>
          </p:sp>
          <p:sp>
            <p:nvSpPr>
              <p:cNvPr id="26836" name="Line 173"/>
              <p:cNvSpPr>
                <a:spLocks noChangeShapeType="1"/>
              </p:cNvSpPr>
              <p:nvPr/>
            </p:nvSpPr>
            <p:spPr bwMode="auto">
              <a:xfrm flipV="1">
                <a:off x="1933" y="3548"/>
                <a:ext cx="130" cy="76"/>
              </a:xfrm>
              <a:prstGeom prst="line">
                <a:avLst/>
              </a:prstGeom>
              <a:noFill/>
              <a:ln w="0">
                <a:solidFill>
                  <a:srgbClr val="000000"/>
                </a:solidFill>
                <a:round/>
                <a:headEnd/>
                <a:tailEnd/>
              </a:ln>
            </p:spPr>
            <p:txBody>
              <a:bodyPr/>
              <a:lstStyle/>
              <a:p>
                <a:endParaRPr lang="en-US"/>
              </a:p>
            </p:txBody>
          </p:sp>
          <p:sp>
            <p:nvSpPr>
              <p:cNvPr id="26837" name="Line 174"/>
              <p:cNvSpPr>
                <a:spLocks noChangeShapeType="1"/>
              </p:cNvSpPr>
              <p:nvPr/>
            </p:nvSpPr>
            <p:spPr bwMode="auto">
              <a:xfrm flipV="1">
                <a:off x="1942" y="3553"/>
                <a:ext cx="129" cy="75"/>
              </a:xfrm>
              <a:prstGeom prst="line">
                <a:avLst/>
              </a:prstGeom>
              <a:noFill/>
              <a:ln w="0">
                <a:solidFill>
                  <a:srgbClr val="000000"/>
                </a:solidFill>
                <a:round/>
                <a:headEnd/>
                <a:tailEnd/>
              </a:ln>
            </p:spPr>
            <p:txBody>
              <a:bodyPr/>
              <a:lstStyle/>
              <a:p>
                <a:endParaRPr lang="en-US"/>
              </a:p>
            </p:txBody>
          </p:sp>
          <p:sp>
            <p:nvSpPr>
              <p:cNvPr id="26838" name="Line 175"/>
              <p:cNvSpPr>
                <a:spLocks noChangeShapeType="1"/>
              </p:cNvSpPr>
              <p:nvPr/>
            </p:nvSpPr>
            <p:spPr bwMode="auto">
              <a:xfrm flipV="1">
                <a:off x="1949" y="3560"/>
                <a:ext cx="130" cy="75"/>
              </a:xfrm>
              <a:prstGeom prst="line">
                <a:avLst/>
              </a:prstGeom>
              <a:noFill/>
              <a:ln w="0">
                <a:solidFill>
                  <a:srgbClr val="000000"/>
                </a:solidFill>
                <a:round/>
                <a:headEnd/>
                <a:tailEnd/>
              </a:ln>
            </p:spPr>
            <p:txBody>
              <a:bodyPr/>
              <a:lstStyle/>
              <a:p>
                <a:endParaRPr lang="en-US"/>
              </a:p>
            </p:txBody>
          </p:sp>
          <p:sp>
            <p:nvSpPr>
              <p:cNvPr id="26839" name="Line 176"/>
              <p:cNvSpPr>
                <a:spLocks noChangeShapeType="1"/>
              </p:cNvSpPr>
              <p:nvPr/>
            </p:nvSpPr>
            <p:spPr bwMode="auto">
              <a:xfrm flipV="1">
                <a:off x="2019" y="3512"/>
                <a:ext cx="18" cy="11"/>
              </a:xfrm>
              <a:prstGeom prst="line">
                <a:avLst/>
              </a:prstGeom>
              <a:noFill/>
              <a:ln w="0">
                <a:solidFill>
                  <a:srgbClr val="000000"/>
                </a:solidFill>
                <a:round/>
                <a:headEnd/>
                <a:tailEnd/>
              </a:ln>
            </p:spPr>
            <p:txBody>
              <a:bodyPr/>
              <a:lstStyle/>
              <a:p>
                <a:endParaRPr lang="en-US"/>
              </a:p>
            </p:txBody>
          </p:sp>
          <p:sp>
            <p:nvSpPr>
              <p:cNvPr id="26840" name="Freeform 177"/>
              <p:cNvSpPr>
                <a:spLocks/>
              </p:cNvSpPr>
              <p:nvPr/>
            </p:nvSpPr>
            <p:spPr bwMode="auto">
              <a:xfrm>
                <a:off x="1894" y="3369"/>
                <a:ext cx="130" cy="194"/>
              </a:xfrm>
              <a:custGeom>
                <a:avLst/>
                <a:gdLst>
                  <a:gd name="T0" fmla="*/ 1 w 259"/>
                  <a:gd name="T1" fmla="*/ 0 h 388"/>
                  <a:gd name="T2" fmla="*/ 1 w 259"/>
                  <a:gd name="T3" fmla="*/ 1 h 388"/>
                  <a:gd name="T4" fmla="*/ 0 w 259"/>
                  <a:gd name="T5" fmla="*/ 1 h 388"/>
                  <a:gd name="T6" fmla="*/ 0 w 259"/>
                  <a:gd name="T7" fmla="*/ 1 h 388"/>
                  <a:gd name="T8" fmla="*/ 1 w 259"/>
                  <a:gd name="T9" fmla="*/ 0 h 388"/>
                  <a:gd name="T10" fmla="*/ 0 60000 65536"/>
                  <a:gd name="T11" fmla="*/ 0 60000 65536"/>
                  <a:gd name="T12" fmla="*/ 0 60000 65536"/>
                  <a:gd name="T13" fmla="*/ 0 60000 65536"/>
                  <a:gd name="T14" fmla="*/ 0 60000 65536"/>
                  <a:gd name="T15" fmla="*/ 0 w 259"/>
                  <a:gd name="T16" fmla="*/ 0 h 388"/>
                  <a:gd name="T17" fmla="*/ 259 w 259"/>
                  <a:gd name="T18" fmla="*/ 388 h 388"/>
                </a:gdLst>
                <a:ahLst/>
                <a:cxnLst>
                  <a:cxn ang="T10">
                    <a:pos x="T0" y="T1"/>
                  </a:cxn>
                  <a:cxn ang="T11">
                    <a:pos x="T2" y="T3"/>
                  </a:cxn>
                  <a:cxn ang="T12">
                    <a:pos x="T4" y="T5"/>
                  </a:cxn>
                  <a:cxn ang="T13">
                    <a:pos x="T6" y="T7"/>
                  </a:cxn>
                  <a:cxn ang="T14">
                    <a:pos x="T8" y="T9"/>
                  </a:cxn>
                </a:cxnLst>
                <a:rect l="T15" t="T16" r="T17" b="T18"/>
                <a:pathLst>
                  <a:path w="259" h="388">
                    <a:moveTo>
                      <a:pt x="259" y="0"/>
                    </a:moveTo>
                    <a:lnTo>
                      <a:pt x="259" y="236"/>
                    </a:lnTo>
                    <a:lnTo>
                      <a:pt x="0" y="388"/>
                    </a:lnTo>
                    <a:lnTo>
                      <a:pt x="0" y="150"/>
                    </a:lnTo>
                    <a:lnTo>
                      <a:pt x="259" y="0"/>
                    </a:lnTo>
                    <a:close/>
                  </a:path>
                </a:pathLst>
              </a:custGeom>
              <a:solidFill>
                <a:srgbClr val="007FFF"/>
              </a:solidFill>
              <a:ln w="9525">
                <a:noFill/>
                <a:round/>
                <a:headEnd/>
                <a:tailEnd/>
              </a:ln>
            </p:spPr>
            <p:txBody>
              <a:bodyPr/>
              <a:lstStyle/>
              <a:p>
                <a:endParaRPr lang="en-US"/>
              </a:p>
            </p:txBody>
          </p:sp>
          <p:sp>
            <p:nvSpPr>
              <p:cNvPr id="26841" name="Freeform 178"/>
              <p:cNvSpPr>
                <a:spLocks/>
              </p:cNvSpPr>
              <p:nvPr/>
            </p:nvSpPr>
            <p:spPr bwMode="auto">
              <a:xfrm>
                <a:off x="2018" y="3369"/>
                <a:ext cx="11" cy="124"/>
              </a:xfrm>
              <a:custGeom>
                <a:avLst/>
                <a:gdLst>
                  <a:gd name="T0" fmla="*/ 1 w 21"/>
                  <a:gd name="T1" fmla="*/ 1 h 247"/>
                  <a:gd name="T2" fmla="*/ 1 w 21"/>
                  <a:gd name="T3" fmla="*/ 1 h 247"/>
                  <a:gd name="T4" fmla="*/ 1 w 21"/>
                  <a:gd name="T5" fmla="*/ 0 h 247"/>
                  <a:gd name="T6" fmla="*/ 0 w 21"/>
                  <a:gd name="T7" fmla="*/ 0 h 247"/>
                  <a:gd name="T8" fmla="*/ 0 w 21"/>
                  <a:gd name="T9" fmla="*/ 1 h 247"/>
                  <a:gd name="T10" fmla="*/ 1 w 21"/>
                  <a:gd name="T11" fmla="*/ 1 h 247"/>
                  <a:gd name="T12" fmla="*/ 0 w 21"/>
                  <a:gd name="T13" fmla="*/ 1 h 247"/>
                  <a:gd name="T14" fmla="*/ 1 w 21"/>
                  <a:gd name="T15" fmla="*/ 1 h 247"/>
                  <a:gd name="T16" fmla="*/ 1 w 21"/>
                  <a:gd name="T17" fmla="*/ 1 h 247"/>
                  <a:gd name="T18" fmla="*/ 1 w 21"/>
                  <a:gd name="T19" fmla="*/ 1 h 247"/>
                  <a:gd name="T20" fmla="*/ 1 w 21"/>
                  <a:gd name="T21" fmla="*/ 1 h 247"/>
                  <a:gd name="T22" fmla="*/ 1 w 21"/>
                  <a:gd name="T23" fmla="*/ 1 h 2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47"/>
                  <a:gd name="T38" fmla="*/ 21 w 21"/>
                  <a:gd name="T39" fmla="*/ 247 h 2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47">
                    <a:moveTo>
                      <a:pt x="17" y="246"/>
                    </a:moveTo>
                    <a:lnTo>
                      <a:pt x="21" y="236"/>
                    </a:lnTo>
                    <a:lnTo>
                      <a:pt x="21" y="0"/>
                    </a:lnTo>
                    <a:lnTo>
                      <a:pt x="0" y="0"/>
                    </a:lnTo>
                    <a:lnTo>
                      <a:pt x="0" y="236"/>
                    </a:lnTo>
                    <a:lnTo>
                      <a:pt x="4" y="227"/>
                    </a:lnTo>
                    <a:lnTo>
                      <a:pt x="0" y="236"/>
                    </a:lnTo>
                    <a:lnTo>
                      <a:pt x="3" y="244"/>
                    </a:lnTo>
                    <a:lnTo>
                      <a:pt x="10" y="247"/>
                    </a:lnTo>
                    <a:lnTo>
                      <a:pt x="18" y="244"/>
                    </a:lnTo>
                    <a:lnTo>
                      <a:pt x="21" y="236"/>
                    </a:lnTo>
                    <a:lnTo>
                      <a:pt x="17" y="246"/>
                    </a:lnTo>
                    <a:close/>
                  </a:path>
                </a:pathLst>
              </a:custGeom>
              <a:solidFill>
                <a:srgbClr val="000000"/>
              </a:solidFill>
              <a:ln w="9525">
                <a:noFill/>
                <a:round/>
                <a:headEnd/>
                <a:tailEnd/>
              </a:ln>
            </p:spPr>
            <p:txBody>
              <a:bodyPr/>
              <a:lstStyle/>
              <a:p>
                <a:endParaRPr lang="en-US"/>
              </a:p>
            </p:txBody>
          </p:sp>
          <p:sp>
            <p:nvSpPr>
              <p:cNvPr id="26842" name="Freeform 179"/>
              <p:cNvSpPr>
                <a:spLocks/>
              </p:cNvSpPr>
              <p:nvPr/>
            </p:nvSpPr>
            <p:spPr bwMode="auto">
              <a:xfrm>
                <a:off x="1888" y="3483"/>
                <a:ext cx="139" cy="86"/>
              </a:xfrm>
              <a:custGeom>
                <a:avLst/>
                <a:gdLst>
                  <a:gd name="T0" fmla="*/ 0 w 277"/>
                  <a:gd name="T1" fmla="*/ 1 h 172"/>
                  <a:gd name="T2" fmla="*/ 1 w 277"/>
                  <a:gd name="T3" fmla="*/ 1 h 172"/>
                  <a:gd name="T4" fmla="*/ 1 w 277"/>
                  <a:gd name="T5" fmla="*/ 1 h 172"/>
                  <a:gd name="T6" fmla="*/ 1 w 277"/>
                  <a:gd name="T7" fmla="*/ 0 h 172"/>
                  <a:gd name="T8" fmla="*/ 1 w 277"/>
                  <a:gd name="T9" fmla="*/ 1 h 172"/>
                  <a:gd name="T10" fmla="*/ 1 w 277"/>
                  <a:gd name="T11" fmla="*/ 1 h 172"/>
                  <a:gd name="T12" fmla="*/ 1 w 277"/>
                  <a:gd name="T13" fmla="*/ 1 h 172"/>
                  <a:gd name="T14" fmla="*/ 0 w 277"/>
                  <a:gd name="T15" fmla="*/ 1 h 172"/>
                  <a:gd name="T16" fmla="*/ 1 w 277"/>
                  <a:gd name="T17" fmla="*/ 1 h 172"/>
                  <a:gd name="T18" fmla="*/ 1 w 277"/>
                  <a:gd name="T19" fmla="*/ 1 h 172"/>
                  <a:gd name="T20" fmla="*/ 1 w 277"/>
                  <a:gd name="T21" fmla="*/ 1 h 172"/>
                  <a:gd name="T22" fmla="*/ 0 w 277"/>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2"/>
                  <a:gd name="T38" fmla="*/ 277 w 277"/>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2">
                    <a:moveTo>
                      <a:pt x="0" y="161"/>
                    </a:moveTo>
                    <a:lnTo>
                      <a:pt x="17" y="171"/>
                    </a:lnTo>
                    <a:lnTo>
                      <a:pt x="277" y="19"/>
                    </a:lnTo>
                    <a:lnTo>
                      <a:pt x="264" y="0"/>
                    </a:lnTo>
                    <a:lnTo>
                      <a:pt x="4" y="152"/>
                    </a:lnTo>
                    <a:lnTo>
                      <a:pt x="22" y="161"/>
                    </a:lnTo>
                    <a:lnTo>
                      <a:pt x="4" y="152"/>
                    </a:lnTo>
                    <a:lnTo>
                      <a:pt x="0" y="160"/>
                    </a:lnTo>
                    <a:lnTo>
                      <a:pt x="1" y="167"/>
                    </a:lnTo>
                    <a:lnTo>
                      <a:pt x="7" y="172"/>
                    </a:lnTo>
                    <a:lnTo>
                      <a:pt x="17" y="171"/>
                    </a:lnTo>
                    <a:lnTo>
                      <a:pt x="0" y="161"/>
                    </a:lnTo>
                    <a:close/>
                  </a:path>
                </a:pathLst>
              </a:custGeom>
              <a:solidFill>
                <a:srgbClr val="000000"/>
              </a:solidFill>
              <a:ln w="9525">
                <a:noFill/>
                <a:round/>
                <a:headEnd/>
                <a:tailEnd/>
              </a:ln>
            </p:spPr>
            <p:txBody>
              <a:bodyPr/>
              <a:lstStyle/>
              <a:p>
                <a:endParaRPr lang="en-US"/>
              </a:p>
            </p:txBody>
          </p:sp>
          <p:sp>
            <p:nvSpPr>
              <p:cNvPr id="26843" name="Freeform 180"/>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4" y="2"/>
                    </a:moveTo>
                    <a:lnTo>
                      <a:pt x="0" y="11"/>
                    </a:lnTo>
                    <a:lnTo>
                      <a:pt x="0" y="249"/>
                    </a:lnTo>
                    <a:lnTo>
                      <a:pt x="22" y="249"/>
                    </a:lnTo>
                    <a:lnTo>
                      <a:pt x="22" y="11"/>
                    </a:lnTo>
                    <a:lnTo>
                      <a:pt x="17" y="21"/>
                    </a:lnTo>
                    <a:lnTo>
                      <a:pt x="22" y="11"/>
                    </a:lnTo>
                    <a:lnTo>
                      <a:pt x="18" y="4"/>
                    </a:lnTo>
                    <a:lnTo>
                      <a:pt x="11" y="0"/>
                    </a:lnTo>
                    <a:lnTo>
                      <a:pt x="3" y="4"/>
                    </a:lnTo>
                    <a:lnTo>
                      <a:pt x="0" y="11"/>
                    </a:lnTo>
                    <a:lnTo>
                      <a:pt x="4" y="2"/>
                    </a:lnTo>
                    <a:close/>
                  </a:path>
                </a:pathLst>
              </a:custGeom>
              <a:solidFill>
                <a:srgbClr val="000000"/>
              </a:solidFill>
              <a:ln w="9525">
                <a:noFill/>
                <a:round/>
                <a:headEnd/>
                <a:tailEnd/>
              </a:ln>
            </p:spPr>
            <p:txBody>
              <a:bodyPr/>
              <a:lstStyle/>
              <a:p>
                <a:endParaRPr lang="en-US"/>
              </a:p>
            </p:txBody>
          </p:sp>
          <p:sp>
            <p:nvSpPr>
              <p:cNvPr id="26844" name="Freeform 181"/>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77" y="11"/>
                    </a:moveTo>
                    <a:lnTo>
                      <a:pt x="260" y="2"/>
                    </a:lnTo>
                    <a:lnTo>
                      <a:pt x="0" y="152"/>
                    </a:lnTo>
                    <a:lnTo>
                      <a:pt x="13" y="171"/>
                    </a:lnTo>
                    <a:lnTo>
                      <a:pt x="273" y="21"/>
                    </a:lnTo>
                    <a:lnTo>
                      <a:pt x="256" y="11"/>
                    </a:lnTo>
                    <a:lnTo>
                      <a:pt x="273" y="21"/>
                    </a:lnTo>
                    <a:lnTo>
                      <a:pt x="277" y="13"/>
                    </a:lnTo>
                    <a:lnTo>
                      <a:pt x="276" y="5"/>
                    </a:lnTo>
                    <a:lnTo>
                      <a:pt x="270" y="0"/>
                    </a:lnTo>
                    <a:lnTo>
                      <a:pt x="260" y="2"/>
                    </a:lnTo>
                    <a:lnTo>
                      <a:pt x="277" y="11"/>
                    </a:lnTo>
                    <a:close/>
                  </a:path>
                </a:pathLst>
              </a:custGeom>
              <a:solidFill>
                <a:srgbClr val="000000"/>
              </a:solidFill>
              <a:ln w="9525">
                <a:noFill/>
                <a:round/>
                <a:headEnd/>
                <a:tailEnd/>
              </a:ln>
            </p:spPr>
            <p:txBody>
              <a:bodyPr/>
              <a:lstStyle/>
              <a:p>
                <a:endParaRPr lang="en-US"/>
              </a:p>
            </p:txBody>
          </p:sp>
          <p:sp>
            <p:nvSpPr>
              <p:cNvPr id="26845" name="Freeform 182"/>
              <p:cNvSpPr>
                <a:spLocks/>
              </p:cNvSpPr>
              <p:nvPr/>
            </p:nvSpPr>
            <p:spPr bwMode="auto">
              <a:xfrm>
                <a:off x="1851" y="3349"/>
                <a:ext cx="173" cy="95"/>
              </a:xfrm>
              <a:custGeom>
                <a:avLst/>
                <a:gdLst>
                  <a:gd name="T0" fmla="*/ 1 w 344"/>
                  <a:gd name="T1" fmla="*/ 1 h 190"/>
                  <a:gd name="T2" fmla="*/ 1 w 344"/>
                  <a:gd name="T3" fmla="*/ 0 h 190"/>
                  <a:gd name="T4" fmla="*/ 0 w 344"/>
                  <a:gd name="T5" fmla="*/ 1 h 190"/>
                  <a:gd name="T6" fmla="*/ 1 w 344"/>
                  <a:gd name="T7" fmla="*/ 1 h 190"/>
                  <a:gd name="T8" fmla="*/ 1 w 344"/>
                  <a:gd name="T9" fmla="*/ 1 h 190"/>
                  <a:gd name="T10" fmla="*/ 0 60000 65536"/>
                  <a:gd name="T11" fmla="*/ 0 60000 65536"/>
                  <a:gd name="T12" fmla="*/ 0 60000 65536"/>
                  <a:gd name="T13" fmla="*/ 0 60000 65536"/>
                  <a:gd name="T14" fmla="*/ 0 60000 65536"/>
                  <a:gd name="T15" fmla="*/ 0 w 344"/>
                  <a:gd name="T16" fmla="*/ 0 h 190"/>
                  <a:gd name="T17" fmla="*/ 344 w 344"/>
                  <a:gd name="T18" fmla="*/ 190 h 190"/>
                </a:gdLst>
                <a:ahLst/>
                <a:cxnLst>
                  <a:cxn ang="T10">
                    <a:pos x="T0" y="T1"/>
                  </a:cxn>
                  <a:cxn ang="T11">
                    <a:pos x="T2" y="T3"/>
                  </a:cxn>
                  <a:cxn ang="T12">
                    <a:pos x="T4" y="T5"/>
                  </a:cxn>
                  <a:cxn ang="T13">
                    <a:pos x="T6" y="T7"/>
                  </a:cxn>
                  <a:cxn ang="T14">
                    <a:pos x="T8" y="T9"/>
                  </a:cxn>
                </a:cxnLst>
                <a:rect l="T15" t="T16" r="T17" b="T18"/>
                <a:pathLst>
                  <a:path w="344" h="190">
                    <a:moveTo>
                      <a:pt x="344" y="40"/>
                    </a:moveTo>
                    <a:lnTo>
                      <a:pt x="260" y="0"/>
                    </a:lnTo>
                    <a:lnTo>
                      <a:pt x="0" y="150"/>
                    </a:lnTo>
                    <a:lnTo>
                      <a:pt x="85" y="190"/>
                    </a:lnTo>
                    <a:lnTo>
                      <a:pt x="344" y="40"/>
                    </a:lnTo>
                    <a:close/>
                  </a:path>
                </a:pathLst>
              </a:custGeom>
              <a:solidFill>
                <a:srgbClr val="99D8FF"/>
              </a:solidFill>
              <a:ln w="9525">
                <a:noFill/>
                <a:round/>
                <a:headEnd/>
                <a:tailEnd/>
              </a:ln>
            </p:spPr>
            <p:txBody>
              <a:bodyPr/>
              <a:lstStyle/>
              <a:p>
                <a:endParaRPr lang="en-US"/>
              </a:p>
            </p:txBody>
          </p:sp>
          <p:sp>
            <p:nvSpPr>
              <p:cNvPr id="26846" name="Freeform 183"/>
              <p:cNvSpPr>
                <a:spLocks/>
              </p:cNvSpPr>
              <p:nvPr/>
            </p:nvSpPr>
            <p:spPr bwMode="auto">
              <a:xfrm>
                <a:off x="1976" y="3344"/>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1 w 100"/>
                  <a:gd name="T11" fmla="*/ 0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16" y="19"/>
                    </a:moveTo>
                    <a:lnTo>
                      <a:pt x="6" y="19"/>
                    </a:lnTo>
                    <a:lnTo>
                      <a:pt x="91" y="60"/>
                    </a:lnTo>
                    <a:lnTo>
                      <a:pt x="100" y="41"/>
                    </a:lnTo>
                    <a:lnTo>
                      <a:pt x="16" y="0"/>
                    </a:lnTo>
                    <a:lnTo>
                      <a:pt x="6" y="0"/>
                    </a:lnTo>
                    <a:lnTo>
                      <a:pt x="16" y="0"/>
                    </a:lnTo>
                    <a:lnTo>
                      <a:pt x="8" y="0"/>
                    </a:lnTo>
                    <a:lnTo>
                      <a:pt x="2" y="5"/>
                    </a:lnTo>
                    <a:lnTo>
                      <a:pt x="0" y="13"/>
                    </a:lnTo>
                    <a:lnTo>
                      <a:pt x="6" y="19"/>
                    </a:lnTo>
                    <a:lnTo>
                      <a:pt x="16" y="19"/>
                    </a:lnTo>
                    <a:close/>
                  </a:path>
                </a:pathLst>
              </a:custGeom>
              <a:solidFill>
                <a:srgbClr val="000000"/>
              </a:solidFill>
              <a:ln w="9525">
                <a:noFill/>
                <a:round/>
                <a:headEnd/>
                <a:tailEnd/>
              </a:ln>
            </p:spPr>
            <p:txBody>
              <a:bodyPr/>
              <a:lstStyle/>
              <a:p>
                <a:endParaRPr lang="en-US"/>
              </a:p>
            </p:txBody>
          </p:sp>
          <p:sp>
            <p:nvSpPr>
              <p:cNvPr id="26847" name="Freeform 184"/>
              <p:cNvSpPr>
                <a:spLocks/>
              </p:cNvSpPr>
              <p:nvPr/>
            </p:nvSpPr>
            <p:spPr bwMode="auto">
              <a:xfrm>
                <a:off x="1846" y="3344"/>
                <a:ext cx="138" cy="85"/>
              </a:xfrm>
              <a:custGeom>
                <a:avLst/>
                <a:gdLst>
                  <a:gd name="T0" fmla="*/ 1 w 276"/>
                  <a:gd name="T1" fmla="*/ 1 h 169"/>
                  <a:gd name="T2" fmla="*/ 1 w 276"/>
                  <a:gd name="T3" fmla="*/ 1 h 169"/>
                  <a:gd name="T4" fmla="*/ 1 w 276"/>
                  <a:gd name="T5" fmla="*/ 1 h 169"/>
                  <a:gd name="T6" fmla="*/ 1 w 276"/>
                  <a:gd name="T7" fmla="*/ 0 h 169"/>
                  <a:gd name="T8" fmla="*/ 1 w 276"/>
                  <a:gd name="T9" fmla="*/ 1 h 169"/>
                  <a:gd name="T10" fmla="*/ 1 w 276"/>
                  <a:gd name="T11" fmla="*/ 1 h 169"/>
                  <a:gd name="T12" fmla="*/ 1 w 276"/>
                  <a:gd name="T13" fmla="*/ 1 h 169"/>
                  <a:gd name="T14" fmla="*/ 0 w 276"/>
                  <a:gd name="T15" fmla="*/ 1 h 169"/>
                  <a:gd name="T16" fmla="*/ 1 w 276"/>
                  <a:gd name="T17" fmla="*/ 1 h 169"/>
                  <a:gd name="T18" fmla="*/ 1 w 276"/>
                  <a:gd name="T19" fmla="*/ 1 h 169"/>
                  <a:gd name="T20" fmla="*/ 1 w 276"/>
                  <a:gd name="T21" fmla="*/ 1 h 169"/>
                  <a:gd name="T22" fmla="*/ 1 w 276"/>
                  <a:gd name="T23" fmla="*/ 1 h 1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6"/>
                  <a:gd name="T37" fmla="*/ 0 h 169"/>
                  <a:gd name="T38" fmla="*/ 276 w 276"/>
                  <a:gd name="T39" fmla="*/ 169 h 1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6" h="169">
                    <a:moveTo>
                      <a:pt x="16" y="150"/>
                    </a:moveTo>
                    <a:lnTo>
                      <a:pt x="16" y="169"/>
                    </a:lnTo>
                    <a:lnTo>
                      <a:pt x="276" y="19"/>
                    </a:lnTo>
                    <a:lnTo>
                      <a:pt x="266" y="0"/>
                    </a:lnTo>
                    <a:lnTo>
                      <a:pt x="6" y="150"/>
                    </a:lnTo>
                    <a:lnTo>
                      <a:pt x="6" y="169"/>
                    </a:lnTo>
                    <a:lnTo>
                      <a:pt x="6" y="150"/>
                    </a:lnTo>
                    <a:lnTo>
                      <a:pt x="0" y="157"/>
                    </a:lnTo>
                    <a:lnTo>
                      <a:pt x="2" y="164"/>
                    </a:lnTo>
                    <a:lnTo>
                      <a:pt x="8" y="169"/>
                    </a:lnTo>
                    <a:lnTo>
                      <a:pt x="16" y="169"/>
                    </a:lnTo>
                    <a:lnTo>
                      <a:pt x="16" y="150"/>
                    </a:lnTo>
                    <a:close/>
                  </a:path>
                </a:pathLst>
              </a:custGeom>
              <a:solidFill>
                <a:srgbClr val="000000"/>
              </a:solidFill>
              <a:ln w="9525">
                <a:noFill/>
                <a:round/>
                <a:headEnd/>
                <a:tailEnd/>
              </a:ln>
            </p:spPr>
            <p:txBody>
              <a:bodyPr/>
              <a:lstStyle/>
              <a:p>
                <a:endParaRPr lang="en-US"/>
              </a:p>
            </p:txBody>
          </p:sp>
          <p:sp>
            <p:nvSpPr>
              <p:cNvPr id="26848" name="Freeform 185"/>
              <p:cNvSpPr>
                <a:spLocks/>
              </p:cNvSpPr>
              <p:nvPr/>
            </p:nvSpPr>
            <p:spPr bwMode="auto">
              <a:xfrm>
                <a:off x="1849" y="3419"/>
                <a:ext cx="50" cy="30"/>
              </a:xfrm>
              <a:custGeom>
                <a:avLst/>
                <a:gdLst>
                  <a:gd name="T0" fmla="*/ 0 w 101"/>
                  <a:gd name="T1" fmla="*/ 1 h 60"/>
                  <a:gd name="T2" fmla="*/ 0 w 101"/>
                  <a:gd name="T3" fmla="*/ 1 h 60"/>
                  <a:gd name="T4" fmla="*/ 0 w 101"/>
                  <a:gd name="T5" fmla="*/ 0 h 60"/>
                  <a:gd name="T6" fmla="*/ 0 w 101"/>
                  <a:gd name="T7" fmla="*/ 1 h 60"/>
                  <a:gd name="T8" fmla="*/ 0 w 101"/>
                  <a:gd name="T9" fmla="*/ 1 h 60"/>
                  <a:gd name="T10" fmla="*/ 0 w 101"/>
                  <a:gd name="T11" fmla="*/ 1 h 60"/>
                  <a:gd name="T12" fmla="*/ 0 w 101"/>
                  <a:gd name="T13" fmla="*/ 1 h 60"/>
                  <a:gd name="T14" fmla="*/ 0 w 101"/>
                  <a:gd name="T15" fmla="*/ 1 h 60"/>
                  <a:gd name="T16" fmla="*/ 0 w 101"/>
                  <a:gd name="T17" fmla="*/ 1 h 60"/>
                  <a:gd name="T18" fmla="*/ 0 w 101"/>
                  <a:gd name="T19" fmla="*/ 1 h 60"/>
                  <a:gd name="T20" fmla="*/ 0 w 101"/>
                  <a:gd name="T21" fmla="*/ 1 h 60"/>
                  <a:gd name="T22" fmla="*/ 0 w 101"/>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0"/>
                  <a:gd name="T38" fmla="*/ 101 w 101"/>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0">
                    <a:moveTo>
                      <a:pt x="83" y="41"/>
                    </a:moveTo>
                    <a:lnTo>
                      <a:pt x="94" y="41"/>
                    </a:lnTo>
                    <a:lnTo>
                      <a:pt x="10" y="0"/>
                    </a:lnTo>
                    <a:lnTo>
                      <a:pt x="0" y="19"/>
                    </a:lnTo>
                    <a:lnTo>
                      <a:pt x="85" y="60"/>
                    </a:lnTo>
                    <a:lnTo>
                      <a:pt x="96" y="60"/>
                    </a:lnTo>
                    <a:lnTo>
                      <a:pt x="85" y="60"/>
                    </a:lnTo>
                    <a:lnTo>
                      <a:pt x="93" y="60"/>
                    </a:lnTo>
                    <a:lnTo>
                      <a:pt x="99" y="55"/>
                    </a:lnTo>
                    <a:lnTo>
                      <a:pt x="101" y="47"/>
                    </a:lnTo>
                    <a:lnTo>
                      <a:pt x="94" y="41"/>
                    </a:lnTo>
                    <a:lnTo>
                      <a:pt x="83" y="41"/>
                    </a:lnTo>
                    <a:close/>
                  </a:path>
                </a:pathLst>
              </a:custGeom>
              <a:solidFill>
                <a:srgbClr val="000000"/>
              </a:solidFill>
              <a:ln w="9525">
                <a:noFill/>
                <a:round/>
                <a:headEnd/>
                <a:tailEnd/>
              </a:ln>
            </p:spPr>
            <p:txBody>
              <a:bodyPr/>
              <a:lstStyle/>
              <a:p>
                <a:endParaRPr lang="en-US"/>
              </a:p>
            </p:txBody>
          </p:sp>
          <p:sp>
            <p:nvSpPr>
              <p:cNvPr id="26849" name="Freeform 186"/>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62" y="21"/>
                    </a:moveTo>
                    <a:lnTo>
                      <a:pt x="260" y="2"/>
                    </a:lnTo>
                    <a:lnTo>
                      <a:pt x="0" y="152"/>
                    </a:lnTo>
                    <a:lnTo>
                      <a:pt x="13" y="171"/>
                    </a:lnTo>
                    <a:lnTo>
                      <a:pt x="273" y="21"/>
                    </a:lnTo>
                    <a:lnTo>
                      <a:pt x="271" y="2"/>
                    </a:lnTo>
                    <a:lnTo>
                      <a:pt x="273" y="21"/>
                    </a:lnTo>
                    <a:lnTo>
                      <a:pt x="277" y="13"/>
                    </a:lnTo>
                    <a:lnTo>
                      <a:pt x="276" y="5"/>
                    </a:lnTo>
                    <a:lnTo>
                      <a:pt x="270" y="0"/>
                    </a:lnTo>
                    <a:lnTo>
                      <a:pt x="260" y="2"/>
                    </a:lnTo>
                    <a:lnTo>
                      <a:pt x="262" y="21"/>
                    </a:lnTo>
                    <a:close/>
                  </a:path>
                </a:pathLst>
              </a:custGeom>
              <a:solidFill>
                <a:srgbClr val="000000"/>
              </a:solidFill>
              <a:ln w="9525">
                <a:noFill/>
                <a:round/>
                <a:headEnd/>
                <a:tailEnd/>
              </a:ln>
            </p:spPr>
            <p:txBody>
              <a:bodyPr/>
              <a:lstStyle/>
              <a:p>
                <a:endParaRPr lang="en-US"/>
              </a:p>
            </p:txBody>
          </p:sp>
          <p:sp>
            <p:nvSpPr>
              <p:cNvPr id="26850" name="Freeform 187"/>
              <p:cNvSpPr>
                <a:spLocks/>
              </p:cNvSpPr>
              <p:nvPr/>
            </p:nvSpPr>
            <p:spPr bwMode="auto">
              <a:xfrm>
                <a:off x="1797" y="3350"/>
                <a:ext cx="175" cy="82"/>
              </a:xfrm>
              <a:custGeom>
                <a:avLst/>
                <a:gdLst>
                  <a:gd name="T0" fmla="*/ 1 w 349"/>
                  <a:gd name="T1" fmla="*/ 0 h 166"/>
                  <a:gd name="T2" fmla="*/ 1 w 349"/>
                  <a:gd name="T3" fmla="*/ 0 h 166"/>
                  <a:gd name="T4" fmla="*/ 1 w 349"/>
                  <a:gd name="T5" fmla="*/ 0 h 166"/>
                  <a:gd name="T6" fmla="*/ 0 w 349"/>
                  <a:gd name="T7" fmla="*/ 0 h 166"/>
                  <a:gd name="T8" fmla="*/ 1 w 349"/>
                  <a:gd name="T9" fmla="*/ 0 h 166"/>
                  <a:gd name="T10" fmla="*/ 1 w 349"/>
                  <a:gd name="T11" fmla="*/ 0 h 166"/>
                  <a:gd name="T12" fmla="*/ 0 60000 65536"/>
                  <a:gd name="T13" fmla="*/ 0 60000 65536"/>
                  <a:gd name="T14" fmla="*/ 0 60000 65536"/>
                  <a:gd name="T15" fmla="*/ 0 60000 65536"/>
                  <a:gd name="T16" fmla="*/ 0 60000 65536"/>
                  <a:gd name="T17" fmla="*/ 0 60000 65536"/>
                  <a:gd name="T18" fmla="*/ 0 w 349"/>
                  <a:gd name="T19" fmla="*/ 0 h 166"/>
                  <a:gd name="T20" fmla="*/ 349 w 349"/>
                  <a:gd name="T21" fmla="*/ 166 h 166"/>
                </a:gdLst>
                <a:ahLst/>
                <a:cxnLst>
                  <a:cxn ang="T12">
                    <a:pos x="T0" y="T1"/>
                  </a:cxn>
                  <a:cxn ang="T13">
                    <a:pos x="T2" y="T3"/>
                  </a:cxn>
                  <a:cxn ang="T14">
                    <a:pos x="T4" y="T5"/>
                  </a:cxn>
                  <a:cxn ang="T15">
                    <a:pos x="T6" y="T7"/>
                  </a:cxn>
                  <a:cxn ang="T16">
                    <a:pos x="T8" y="T9"/>
                  </a:cxn>
                  <a:cxn ang="T17">
                    <a:pos x="T10" y="T11"/>
                  </a:cxn>
                </a:cxnLst>
                <a:rect l="T18" t="T19" r="T20" b="T21"/>
                <a:pathLst>
                  <a:path w="349" h="166">
                    <a:moveTo>
                      <a:pt x="349" y="9"/>
                    </a:moveTo>
                    <a:lnTo>
                      <a:pt x="110" y="149"/>
                    </a:lnTo>
                    <a:lnTo>
                      <a:pt x="108" y="166"/>
                    </a:lnTo>
                    <a:lnTo>
                      <a:pt x="0" y="157"/>
                    </a:lnTo>
                    <a:lnTo>
                      <a:pt x="266" y="0"/>
                    </a:lnTo>
                    <a:lnTo>
                      <a:pt x="349" y="9"/>
                    </a:lnTo>
                    <a:close/>
                  </a:path>
                </a:pathLst>
              </a:custGeom>
              <a:solidFill>
                <a:srgbClr val="99D8FF"/>
              </a:solidFill>
              <a:ln w="9525">
                <a:noFill/>
                <a:round/>
                <a:headEnd/>
                <a:tailEnd/>
              </a:ln>
            </p:spPr>
            <p:txBody>
              <a:bodyPr/>
              <a:lstStyle/>
              <a:p>
                <a:endParaRPr lang="en-US"/>
              </a:p>
            </p:txBody>
          </p:sp>
          <p:sp>
            <p:nvSpPr>
              <p:cNvPr id="26851" name="Freeform 188"/>
              <p:cNvSpPr>
                <a:spLocks/>
              </p:cNvSpPr>
              <p:nvPr/>
            </p:nvSpPr>
            <p:spPr bwMode="auto">
              <a:xfrm>
                <a:off x="1847" y="3350"/>
                <a:ext cx="127" cy="79"/>
              </a:xfrm>
              <a:custGeom>
                <a:avLst/>
                <a:gdLst>
                  <a:gd name="T0" fmla="*/ 0 w 255"/>
                  <a:gd name="T1" fmla="*/ 1 h 158"/>
                  <a:gd name="T2" fmla="*/ 0 w 255"/>
                  <a:gd name="T3" fmla="*/ 1 h 158"/>
                  <a:gd name="T4" fmla="*/ 0 w 255"/>
                  <a:gd name="T5" fmla="*/ 1 h 158"/>
                  <a:gd name="T6" fmla="*/ 0 w 255"/>
                  <a:gd name="T7" fmla="*/ 0 h 158"/>
                  <a:gd name="T8" fmla="*/ 0 w 255"/>
                  <a:gd name="T9" fmla="*/ 1 h 158"/>
                  <a:gd name="T10" fmla="*/ 0 w 255"/>
                  <a:gd name="T11" fmla="*/ 1 h 158"/>
                  <a:gd name="T12" fmla="*/ 0 w 255"/>
                  <a:gd name="T13" fmla="*/ 1 h 158"/>
                  <a:gd name="T14" fmla="*/ 0 w 255"/>
                  <a:gd name="T15" fmla="*/ 1 h 158"/>
                  <a:gd name="T16" fmla="*/ 0 w 255"/>
                  <a:gd name="T17" fmla="*/ 1 h 158"/>
                  <a:gd name="T18" fmla="*/ 0 w 255"/>
                  <a:gd name="T19" fmla="*/ 1 h 158"/>
                  <a:gd name="T20" fmla="*/ 0 w 255"/>
                  <a:gd name="T21" fmla="*/ 1 h 158"/>
                  <a:gd name="T22" fmla="*/ 0 w 255"/>
                  <a:gd name="T23" fmla="*/ 1 h 1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5"/>
                  <a:gd name="T37" fmla="*/ 0 h 158"/>
                  <a:gd name="T38" fmla="*/ 255 w 255"/>
                  <a:gd name="T39" fmla="*/ 158 h 1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5" h="158">
                    <a:moveTo>
                      <a:pt x="22" y="150"/>
                    </a:moveTo>
                    <a:lnTo>
                      <a:pt x="15" y="158"/>
                    </a:lnTo>
                    <a:lnTo>
                      <a:pt x="255" y="19"/>
                    </a:lnTo>
                    <a:lnTo>
                      <a:pt x="245" y="0"/>
                    </a:lnTo>
                    <a:lnTo>
                      <a:pt x="6" y="139"/>
                    </a:lnTo>
                    <a:lnTo>
                      <a:pt x="0" y="147"/>
                    </a:lnTo>
                    <a:lnTo>
                      <a:pt x="6" y="139"/>
                    </a:lnTo>
                    <a:lnTo>
                      <a:pt x="0" y="146"/>
                    </a:lnTo>
                    <a:lnTo>
                      <a:pt x="1" y="153"/>
                    </a:lnTo>
                    <a:lnTo>
                      <a:pt x="7" y="158"/>
                    </a:lnTo>
                    <a:lnTo>
                      <a:pt x="15" y="158"/>
                    </a:lnTo>
                    <a:lnTo>
                      <a:pt x="22" y="150"/>
                    </a:lnTo>
                    <a:close/>
                  </a:path>
                </a:pathLst>
              </a:custGeom>
              <a:solidFill>
                <a:srgbClr val="000000"/>
              </a:solidFill>
              <a:ln w="9525">
                <a:noFill/>
                <a:round/>
                <a:headEnd/>
                <a:tailEnd/>
              </a:ln>
            </p:spPr>
            <p:txBody>
              <a:bodyPr/>
              <a:lstStyle/>
              <a:p>
                <a:endParaRPr lang="en-US"/>
              </a:p>
            </p:txBody>
          </p:sp>
          <p:sp>
            <p:nvSpPr>
              <p:cNvPr id="26852" name="Freeform 189"/>
              <p:cNvSpPr>
                <a:spLocks/>
              </p:cNvSpPr>
              <p:nvPr/>
            </p:nvSpPr>
            <p:spPr bwMode="auto">
              <a:xfrm>
                <a:off x="1846" y="3423"/>
                <a:ext cx="12" cy="15"/>
              </a:xfrm>
              <a:custGeom>
                <a:avLst/>
                <a:gdLst>
                  <a:gd name="T0" fmla="*/ 1 w 24"/>
                  <a:gd name="T1" fmla="*/ 1 h 30"/>
                  <a:gd name="T2" fmla="*/ 1 w 24"/>
                  <a:gd name="T3" fmla="*/ 1 h 30"/>
                  <a:gd name="T4" fmla="*/ 1 w 24"/>
                  <a:gd name="T5" fmla="*/ 1 h 30"/>
                  <a:gd name="T6" fmla="*/ 1 w 24"/>
                  <a:gd name="T7" fmla="*/ 0 h 30"/>
                  <a:gd name="T8" fmla="*/ 0 w 24"/>
                  <a:gd name="T9" fmla="*/ 1 h 30"/>
                  <a:gd name="T10" fmla="*/ 1 w 24"/>
                  <a:gd name="T11" fmla="*/ 1 h 30"/>
                  <a:gd name="T12" fmla="*/ 0 w 24"/>
                  <a:gd name="T13" fmla="*/ 1 h 30"/>
                  <a:gd name="T14" fmla="*/ 1 w 24"/>
                  <a:gd name="T15" fmla="*/ 1 h 30"/>
                  <a:gd name="T16" fmla="*/ 1 w 24"/>
                  <a:gd name="T17" fmla="*/ 1 h 30"/>
                  <a:gd name="T18" fmla="*/ 1 w 24"/>
                  <a:gd name="T19" fmla="*/ 1 h 30"/>
                  <a:gd name="T20" fmla="*/ 1 w 24"/>
                  <a:gd name="T21" fmla="*/ 1 h 30"/>
                  <a:gd name="T22" fmla="*/ 1 w 24"/>
                  <a:gd name="T23" fmla="*/ 1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0"/>
                  <a:gd name="T38" fmla="*/ 24 w 24"/>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0">
                    <a:moveTo>
                      <a:pt x="9" y="30"/>
                    </a:moveTo>
                    <a:lnTo>
                      <a:pt x="22" y="21"/>
                    </a:lnTo>
                    <a:lnTo>
                      <a:pt x="24" y="3"/>
                    </a:lnTo>
                    <a:lnTo>
                      <a:pt x="2" y="0"/>
                    </a:lnTo>
                    <a:lnTo>
                      <a:pt x="0" y="17"/>
                    </a:lnTo>
                    <a:lnTo>
                      <a:pt x="13" y="8"/>
                    </a:lnTo>
                    <a:lnTo>
                      <a:pt x="0" y="17"/>
                    </a:lnTo>
                    <a:lnTo>
                      <a:pt x="3" y="25"/>
                    </a:lnTo>
                    <a:lnTo>
                      <a:pt x="9" y="30"/>
                    </a:lnTo>
                    <a:lnTo>
                      <a:pt x="17" y="28"/>
                    </a:lnTo>
                    <a:lnTo>
                      <a:pt x="22" y="21"/>
                    </a:lnTo>
                    <a:lnTo>
                      <a:pt x="9" y="30"/>
                    </a:lnTo>
                    <a:close/>
                  </a:path>
                </a:pathLst>
              </a:custGeom>
              <a:solidFill>
                <a:srgbClr val="000000"/>
              </a:solidFill>
              <a:ln w="9525">
                <a:noFill/>
                <a:round/>
                <a:headEnd/>
                <a:tailEnd/>
              </a:ln>
            </p:spPr>
            <p:txBody>
              <a:bodyPr/>
              <a:lstStyle/>
              <a:p>
                <a:endParaRPr lang="en-US"/>
              </a:p>
            </p:txBody>
          </p:sp>
          <p:sp>
            <p:nvSpPr>
              <p:cNvPr id="26853" name="Freeform 190"/>
              <p:cNvSpPr>
                <a:spLocks/>
              </p:cNvSpPr>
              <p:nvPr/>
            </p:nvSpPr>
            <p:spPr bwMode="auto">
              <a:xfrm>
                <a:off x="1792" y="3422"/>
                <a:ext cx="60" cy="16"/>
              </a:xfrm>
              <a:custGeom>
                <a:avLst/>
                <a:gdLst>
                  <a:gd name="T0" fmla="*/ 0 w 121"/>
                  <a:gd name="T1" fmla="*/ 1 h 31"/>
                  <a:gd name="T2" fmla="*/ 0 w 121"/>
                  <a:gd name="T3" fmla="*/ 1 h 31"/>
                  <a:gd name="T4" fmla="*/ 0 w 121"/>
                  <a:gd name="T5" fmla="*/ 1 h 31"/>
                  <a:gd name="T6" fmla="*/ 0 w 121"/>
                  <a:gd name="T7" fmla="*/ 1 h 31"/>
                  <a:gd name="T8" fmla="*/ 0 w 121"/>
                  <a:gd name="T9" fmla="*/ 0 h 31"/>
                  <a:gd name="T10" fmla="*/ 0 w 121"/>
                  <a:gd name="T11" fmla="*/ 1 h 31"/>
                  <a:gd name="T12" fmla="*/ 0 w 121"/>
                  <a:gd name="T13" fmla="*/ 0 h 31"/>
                  <a:gd name="T14" fmla="*/ 0 w 121"/>
                  <a:gd name="T15" fmla="*/ 1 h 31"/>
                  <a:gd name="T16" fmla="*/ 0 w 121"/>
                  <a:gd name="T17" fmla="*/ 1 h 31"/>
                  <a:gd name="T18" fmla="*/ 0 w 121"/>
                  <a:gd name="T19" fmla="*/ 1 h 31"/>
                  <a:gd name="T20" fmla="*/ 0 w 121"/>
                  <a:gd name="T21" fmla="*/ 1 h 31"/>
                  <a:gd name="T22" fmla="*/ 0 w 121"/>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
                  <a:gd name="T37" fmla="*/ 0 h 31"/>
                  <a:gd name="T38" fmla="*/ 121 w 12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 h="31">
                    <a:moveTo>
                      <a:pt x="5" y="1"/>
                    </a:moveTo>
                    <a:lnTo>
                      <a:pt x="9" y="22"/>
                    </a:lnTo>
                    <a:lnTo>
                      <a:pt x="117" y="31"/>
                    </a:lnTo>
                    <a:lnTo>
                      <a:pt x="121" y="9"/>
                    </a:lnTo>
                    <a:lnTo>
                      <a:pt x="13" y="0"/>
                    </a:lnTo>
                    <a:lnTo>
                      <a:pt x="17" y="20"/>
                    </a:lnTo>
                    <a:lnTo>
                      <a:pt x="13" y="0"/>
                    </a:lnTo>
                    <a:lnTo>
                      <a:pt x="5" y="3"/>
                    </a:lnTo>
                    <a:lnTo>
                      <a:pt x="0" y="9"/>
                    </a:lnTo>
                    <a:lnTo>
                      <a:pt x="2" y="17"/>
                    </a:lnTo>
                    <a:lnTo>
                      <a:pt x="9" y="22"/>
                    </a:lnTo>
                    <a:lnTo>
                      <a:pt x="5" y="1"/>
                    </a:lnTo>
                    <a:close/>
                  </a:path>
                </a:pathLst>
              </a:custGeom>
              <a:solidFill>
                <a:srgbClr val="000000"/>
              </a:solidFill>
              <a:ln w="9525">
                <a:noFill/>
                <a:round/>
                <a:headEnd/>
                <a:tailEnd/>
              </a:ln>
            </p:spPr>
            <p:txBody>
              <a:bodyPr/>
              <a:lstStyle/>
              <a:p>
                <a:endParaRPr lang="en-US"/>
              </a:p>
            </p:txBody>
          </p:sp>
          <p:sp>
            <p:nvSpPr>
              <p:cNvPr id="26854" name="Freeform 191"/>
              <p:cNvSpPr>
                <a:spLocks/>
              </p:cNvSpPr>
              <p:nvPr/>
            </p:nvSpPr>
            <p:spPr bwMode="auto">
              <a:xfrm>
                <a:off x="1794" y="3344"/>
                <a:ext cx="142" cy="88"/>
              </a:xfrm>
              <a:custGeom>
                <a:avLst/>
                <a:gdLst>
                  <a:gd name="T0" fmla="*/ 1 w 283"/>
                  <a:gd name="T1" fmla="*/ 0 h 177"/>
                  <a:gd name="T2" fmla="*/ 1 w 283"/>
                  <a:gd name="T3" fmla="*/ 0 h 177"/>
                  <a:gd name="T4" fmla="*/ 0 w 283"/>
                  <a:gd name="T5" fmla="*/ 0 h 177"/>
                  <a:gd name="T6" fmla="*/ 1 w 283"/>
                  <a:gd name="T7" fmla="*/ 0 h 177"/>
                  <a:gd name="T8" fmla="*/ 1 w 283"/>
                  <a:gd name="T9" fmla="*/ 0 h 177"/>
                  <a:gd name="T10" fmla="*/ 1 w 283"/>
                  <a:gd name="T11" fmla="*/ 0 h 177"/>
                  <a:gd name="T12" fmla="*/ 1 w 283"/>
                  <a:gd name="T13" fmla="*/ 0 h 177"/>
                  <a:gd name="T14" fmla="*/ 1 w 283"/>
                  <a:gd name="T15" fmla="*/ 0 h 177"/>
                  <a:gd name="T16" fmla="*/ 1 w 283"/>
                  <a:gd name="T17" fmla="*/ 0 h 177"/>
                  <a:gd name="T18" fmla="*/ 1 w 283"/>
                  <a:gd name="T19" fmla="*/ 0 h 177"/>
                  <a:gd name="T20" fmla="*/ 1 w 283"/>
                  <a:gd name="T21" fmla="*/ 0 h 177"/>
                  <a:gd name="T22" fmla="*/ 1 w 283"/>
                  <a:gd name="T23" fmla="*/ 0 h 1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3"/>
                  <a:gd name="T37" fmla="*/ 0 h 177"/>
                  <a:gd name="T38" fmla="*/ 283 w 283"/>
                  <a:gd name="T39" fmla="*/ 177 h 1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3" h="177">
                    <a:moveTo>
                      <a:pt x="274" y="0"/>
                    </a:moveTo>
                    <a:lnTo>
                      <a:pt x="266" y="2"/>
                    </a:lnTo>
                    <a:lnTo>
                      <a:pt x="0" y="158"/>
                    </a:lnTo>
                    <a:lnTo>
                      <a:pt x="12" y="177"/>
                    </a:lnTo>
                    <a:lnTo>
                      <a:pt x="278" y="20"/>
                    </a:lnTo>
                    <a:lnTo>
                      <a:pt x="271" y="22"/>
                    </a:lnTo>
                    <a:lnTo>
                      <a:pt x="278" y="20"/>
                    </a:lnTo>
                    <a:lnTo>
                      <a:pt x="283" y="13"/>
                    </a:lnTo>
                    <a:lnTo>
                      <a:pt x="282" y="5"/>
                    </a:lnTo>
                    <a:lnTo>
                      <a:pt x="275" y="0"/>
                    </a:lnTo>
                    <a:lnTo>
                      <a:pt x="266" y="2"/>
                    </a:lnTo>
                    <a:lnTo>
                      <a:pt x="274" y="0"/>
                    </a:lnTo>
                    <a:close/>
                  </a:path>
                </a:pathLst>
              </a:custGeom>
              <a:solidFill>
                <a:srgbClr val="000000"/>
              </a:solidFill>
              <a:ln w="9525">
                <a:noFill/>
                <a:round/>
                <a:headEnd/>
                <a:tailEnd/>
              </a:ln>
            </p:spPr>
            <p:txBody>
              <a:bodyPr/>
              <a:lstStyle/>
              <a:p>
                <a:endParaRPr lang="en-US"/>
              </a:p>
            </p:txBody>
          </p:sp>
          <p:sp>
            <p:nvSpPr>
              <p:cNvPr id="26855" name="Freeform 192"/>
              <p:cNvSpPr>
                <a:spLocks/>
              </p:cNvSpPr>
              <p:nvPr/>
            </p:nvSpPr>
            <p:spPr bwMode="auto">
              <a:xfrm>
                <a:off x="1930" y="3344"/>
                <a:ext cx="48" cy="16"/>
              </a:xfrm>
              <a:custGeom>
                <a:avLst/>
                <a:gdLst>
                  <a:gd name="T0" fmla="*/ 1 w 95"/>
                  <a:gd name="T1" fmla="*/ 1 h 31"/>
                  <a:gd name="T2" fmla="*/ 1 w 95"/>
                  <a:gd name="T3" fmla="*/ 1 h 31"/>
                  <a:gd name="T4" fmla="*/ 1 w 95"/>
                  <a:gd name="T5" fmla="*/ 0 h 31"/>
                  <a:gd name="T6" fmla="*/ 0 w 95"/>
                  <a:gd name="T7" fmla="*/ 1 h 31"/>
                  <a:gd name="T8" fmla="*/ 1 w 95"/>
                  <a:gd name="T9" fmla="*/ 1 h 31"/>
                  <a:gd name="T10" fmla="*/ 1 w 95"/>
                  <a:gd name="T11" fmla="*/ 1 h 31"/>
                  <a:gd name="T12" fmla="*/ 1 w 95"/>
                  <a:gd name="T13" fmla="*/ 1 h 31"/>
                  <a:gd name="T14" fmla="*/ 1 w 95"/>
                  <a:gd name="T15" fmla="*/ 1 h 31"/>
                  <a:gd name="T16" fmla="*/ 1 w 95"/>
                  <a:gd name="T17" fmla="*/ 1 h 31"/>
                  <a:gd name="T18" fmla="*/ 1 w 95"/>
                  <a:gd name="T19" fmla="*/ 1 h 31"/>
                  <a:gd name="T20" fmla="*/ 1 w 95"/>
                  <a:gd name="T21" fmla="*/ 1 h 31"/>
                  <a:gd name="T22" fmla="*/ 1 w 95"/>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5"/>
                  <a:gd name="T37" fmla="*/ 0 h 31"/>
                  <a:gd name="T38" fmla="*/ 95 w 95"/>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5" h="31">
                    <a:moveTo>
                      <a:pt x="89" y="30"/>
                    </a:moveTo>
                    <a:lnTo>
                      <a:pt x="86" y="10"/>
                    </a:lnTo>
                    <a:lnTo>
                      <a:pt x="3" y="0"/>
                    </a:lnTo>
                    <a:lnTo>
                      <a:pt x="0" y="22"/>
                    </a:lnTo>
                    <a:lnTo>
                      <a:pt x="83" y="31"/>
                    </a:lnTo>
                    <a:lnTo>
                      <a:pt x="79" y="11"/>
                    </a:lnTo>
                    <a:lnTo>
                      <a:pt x="83" y="31"/>
                    </a:lnTo>
                    <a:lnTo>
                      <a:pt x="90" y="28"/>
                    </a:lnTo>
                    <a:lnTo>
                      <a:pt x="95" y="22"/>
                    </a:lnTo>
                    <a:lnTo>
                      <a:pt x="94" y="14"/>
                    </a:lnTo>
                    <a:lnTo>
                      <a:pt x="86" y="10"/>
                    </a:lnTo>
                    <a:lnTo>
                      <a:pt x="89" y="30"/>
                    </a:lnTo>
                    <a:close/>
                  </a:path>
                </a:pathLst>
              </a:custGeom>
              <a:solidFill>
                <a:srgbClr val="000000"/>
              </a:solidFill>
              <a:ln w="9525">
                <a:noFill/>
                <a:round/>
                <a:headEnd/>
                <a:tailEnd/>
              </a:ln>
            </p:spPr>
            <p:txBody>
              <a:bodyPr/>
              <a:lstStyle/>
              <a:p>
                <a:endParaRPr lang="en-US"/>
              </a:p>
            </p:txBody>
          </p:sp>
          <p:sp>
            <p:nvSpPr>
              <p:cNvPr id="26856" name="Freeform 193"/>
              <p:cNvSpPr>
                <a:spLocks/>
              </p:cNvSpPr>
              <p:nvPr/>
            </p:nvSpPr>
            <p:spPr bwMode="auto">
              <a:xfrm>
                <a:off x="2152" y="3416"/>
                <a:ext cx="83" cy="90"/>
              </a:xfrm>
              <a:custGeom>
                <a:avLst/>
                <a:gdLst>
                  <a:gd name="T0" fmla="*/ 1 w 166"/>
                  <a:gd name="T1" fmla="*/ 1 h 180"/>
                  <a:gd name="T2" fmla="*/ 1 w 166"/>
                  <a:gd name="T3" fmla="*/ 1 h 180"/>
                  <a:gd name="T4" fmla="*/ 1 w 166"/>
                  <a:gd name="T5" fmla="*/ 1 h 180"/>
                  <a:gd name="T6" fmla="*/ 1 w 166"/>
                  <a:gd name="T7" fmla="*/ 1 h 180"/>
                  <a:gd name="T8" fmla="*/ 1 w 166"/>
                  <a:gd name="T9" fmla="*/ 1 h 180"/>
                  <a:gd name="T10" fmla="*/ 1 w 166"/>
                  <a:gd name="T11" fmla="*/ 1 h 180"/>
                  <a:gd name="T12" fmla="*/ 1 w 166"/>
                  <a:gd name="T13" fmla="*/ 1 h 180"/>
                  <a:gd name="T14" fmla="*/ 1 w 166"/>
                  <a:gd name="T15" fmla="*/ 1 h 180"/>
                  <a:gd name="T16" fmla="*/ 1 w 166"/>
                  <a:gd name="T17" fmla="*/ 1 h 180"/>
                  <a:gd name="T18" fmla="*/ 1 w 166"/>
                  <a:gd name="T19" fmla="*/ 1 h 180"/>
                  <a:gd name="T20" fmla="*/ 1 w 166"/>
                  <a:gd name="T21" fmla="*/ 1 h 180"/>
                  <a:gd name="T22" fmla="*/ 1 w 166"/>
                  <a:gd name="T23" fmla="*/ 1 h 180"/>
                  <a:gd name="T24" fmla="*/ 1 w 166"/>
                  <a:gd name="T25" fmla="*/ 1 h 180"/>
                  <a:gd name="T26" fmla="*/ 1 w 166"/>
                  <a:gd name="T27" fmla="*/ 1 h 180"/>
                  <a:gd name="T28" fmla="*/ 1 w 166"/>
                  <a:gd name="T29" fmla="*/ 0 h 180"/>
                  <a:gd name="T30" fmla="*/ 1 w 166"/>
                  <a:gd name="T31" fmla="*/ 0 h 180"/>
                  <a:gd name="T32" fmla="*/ 1 w 166"/>
                  <a:gd name="T33" fmla="*/ 0 h 180"/>
                  <a:gd name="T34" fmla="*/ 1 w 166"/>
                  <a:gd name="T35" fmla="*/ 0 h 180"/>
                  <a:gd name="T36" fmla="*/ 1 w 166"/>
                  <a:gd name="T37" fmla="*/ 1 h 180"/>
                  <a:gd name="T38" fmla="*/ 1 w 166"/>
                  <a:gd name="T39" fmla="*/ 1 h 180"/>
                  <a:gd name="T40" fmla="*/ 0 w 166"/>
                  <a:gd name="T41" fmla="*/ 1 h 180"/>
                  <a:gd name="T42" fmla="*/ 0 w 166"/>
                  <a:gd name="T43" fmla="*/ 1 h 180"/>
                  <a:gd name="T44" fmla="*/ 1 w 166"/>
                  <a:gd name="T45" fmla="*/ 1 h 180"/>
                  <a:gd name="T46" fmla="*/ 1 w 166"/>
                  <a:gd name="T47" fmla="*/ 1 h 180"/>
                  <a:gd name="T48" fmla="*/ 1 w 166"/>
                  <a:gd name="T49" fmla="*/ 1 h 180"/>
                  <a:gd name="T50" fmla="*/ 1 w 166"/>
                  <a:gd name="T51" fmla="*/ 1 h 180"/>
                  <a:gd name="T52" fmla="*/ 1 w 166"/>
                  <a:gd name="T53" fmla="*/ 1 h 180"/>
                  <a:gd name="T54" fmla="*/ 1 w 166"/>
                  <a:gd name="T55" fmla="*/ 1 h 180"/>
                  <a:gd name="T56" fmla="*/ 1 w 166"/>
                  <a:gd name="T57" fmla="*/ 1 h 180"/>
                  <a:gd name="T58" fmla="*/ 1 w 166"/>
                  <a:gd name="T59" fmla="*/ 1 h 180"/>
                  <a:gd name="T60" fmla="*/ 1 w 166"/>
                  <a:gd name="T61" fmla="*/ 1 h 180"/>
                  <a:gd name="T62" fmla="*/ 1 w 166"/>
                  <a:gd name="T63" fmla="*/ 1 h 180"/>
                  <a:gd name="T64" fmla="*/ 1 w 166"/>
                  <a:gd name="T65" fmla="*/ 1 h 180"/>
                  <a:gd name="T66" fmla="*/ 1 w 166"/>
                  <a:gd name="T67" fmla="*/ 1 h 18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6"/>
                  <a:gd name="T103" fmla="*/ 0 h 180"/>
                  <a:gd name="T104" fmla="*/ 166 w 166"/>
                  <a:gd name="T105" fmla="*/ 180 h 18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6" h="180">
                    <a:moveTo>
                      <a:pt x="72" y="180"/>
                    </a:moveTo>
                    <a:lnTo>
                      <a:pt x="77" y="180"/>
                    </a:lnTo>
                    <a:lnTo>
                      <a:pt x="88" y="180"/>
                    </a:lnTo>
                    <a:lnTo>
                      <a:pt x="100" y="180"/>
                    </a:lnTo>
                    <a:lnTo>
                      <a:pt x="111" y="178"/>
                    </a:lnTo>
                    <a:lnTo>
                      <a:pt x="119" y="177"/>
                    </a:lnTo>
                    <a:lnTo>
                      <a:pt x="124" y="174"/>
                    </a:lnTo>
                    <a:lnTo>
                      <a:pt x="130" y="171"/>
                    </a:lnTo>
                    <a:lnTo>
                      <a:pt x="135" y="169"/>
                    </a:lnTo>
                    <a:lnTo>
                      <a:pt x="140" y="169"/>
                    </a:lnTo>
                    <a:lnTo>
                      <a:pt x="146" y="169"/>
                    </a:lnTo>
                    <a:lnTo>
                      <a:pt x="151" y="169"/>
                    </a:lnTo>
                    <a:lnTo>
                      <a:pt x="152" y="169"/>
                    </a:lnTo>
                    <a:lnTo>
                      <a:pt x="154" y="164"/>
                    </a:lnTo>
                    <a:lnTo>
                      <a:pt x="157" y="153"/>
                    </a:lnTo>
                    <a:lnTo>
                      <a:pt x="160" y="141"/>
                    </a:lnTo>
                    <a:lnTo>
                      <a:pt x="162" y="128"/>
                    </a:lnTo>
                    <a:lnTo>
                      <a:pt x="162" y="121"/>
                    </a:lnTo>
                    <a:lnTo>
                      <a:pt x="163" y="106"/>
                    </a:lnTo>
                    <a:lnTo>
                      <a:pt x="165" y="89"/>
                    </a:lnTo>
                    <a:lnTo>
                      <a:pt x="166" y="70"/>
                    </a:lnTo>
                    <a:lnTo>
                      <a:pt x="166" y="52"/>
                    </a:lnTo>
                    <a:lnTo>
                      <a:pt x="163" y="35"/>
                    </a:lnTo>
                    <a:lnTo>
                      <a:pt x="158" y="20"/>
                    </a:lnTo>
                    <a:lnTo>
                      <a:pt x="151" y="13"/>
                    </a:lnTo>
                    <a:lnTo>
                      <a:pt x="141" y="8"/>
                    </a:lnTo>
                    <a:lnTo>
                      <a:pt x="130" y="5"/>
                    </a:lnTo>
                    <a:lnTo>
                      <a:pt x="121" y="3"/>
                    </a:lnTo>
                    <a:lnTo>
                      <a:pt x="111" y="2"/>
                    </a:lnTo>
                    <a:lnTo>
                      <a:pt x="104" y="0"/>
                    </a:lnTo>
                    <a:lnTo>
                      <a:pt x="96" y="0"/>
                    </a:lnTo>
                    <a:lnTo>
                      <a:pt x="88" y="0"/>
                    </a:lnTo>
                    <a:lnTo>
                      <a:pt x="83" y="0"/>
                    </a:lnTo>
                    <a:lnTo>
                      <a:pt x="77" y="0"/>
                    </a:lnTo>
                    <a:lnTo>
                      <a:pt x="68" y="0"/>
                    </a:lnTo>
                    <a:lnTo>
                      <a:pt x="57" y="0"/>
                    </a:lnTo>
                    <a:lnTo>
                      <a:pt x="44" y="2"/>
                    </a:lnTo>
                    <a:lnTo>
                      <a:pt x="30" y="5"/>
                    </a:lnTo>
                    <a:lnTo>
                      <a:pt x="19" y="8"/>
                    </a:lnTo>
                    <a:lnTo>
                      <a:pt x="10" y="14"/>
                    </a:lnTo>
                    <a:lnTo>
                      <a:pt x="3" y="22"/>
                    </a:lnTo>
                    <a:lnTo>
                      <a:pt x="0" y="30"/>
                    </a:lnTo>
                    <a:lnTo>
                      <a:pt x="0" y="38"/>
                    </a:lnTo>
                    <a:lnTo>
                      <a:pt x="0" y="45"/>
                    </a:lnTo>
                    <a:lnTo>
                      <a:pt x="2" y="53"/>
                    </a:lnTo>
                    <a:lnTo>
                      <a:pt x="3" y="60"/>
                    </a:lnTo>
                    <a:lnTo>
                      <a:pt x="5" y="66"/>
                    </a:lnTo>
                    <a:lnTo>
                      <a:pt x="8" y="70"/>
                    </a:lnTo>
                    <a:lnTo>
                      <a:pt x="10" y="74"/>
                    </a:lnTo>
                    <a:lnTo>
                      <a:pt x="14" y="80"/>
                    </a:lnTo>
                    <a:lnTo>
                      <a:pt x="19" y="88"/>
                    </a:lnTo>
                    <a:lnTo>
                      <a:pt x="22" y="96"/>
                    </a:lnTo>
                    <a:lnTo>
                      <a:pt x="24" y="102"/>
                    </a:lnTo>
                    <a:lnTo>
                      <a:pt x="24" y="106"/>
                    </a:lnTo>
                    <a:lnTo>
                      <a:pt x="24" y="113"/>
                    </a:lnTo>
                    <a:lnTo>
                      <a:pt x="24" y="119"/>
                    </a:lnTo>
                    <a:lnTo>
                      <a:pt x="24" y="121"/>
                    </a:lnTo>
                    <a:lnTo>
                      <a:pt x="25" y="121"/>
                    </a:lnTo>
                    <a:lnTo>
                      <a:pt x="30" y="122"/>
                    </a:lnTo>
                    <a:lnTo>
                      <a:pt x="35" y="122"/>
                    </a:lnTo>
                    <a:lnTo>
                      <a:pt x="41" y="124"/>
                    </a:lnTo>
                    <a:lnTo>
                      <a:pt x="46" y="127"/>
                    </a:lnTo>
                    <a:lnTo>
                      <a:pt x="49" y="133"/>
                    </a:lnTo>
                    <a:lnTo>
                      <a:pt x="53" y="142"/>
                    </a:lnTo>
                    <a:lnTo>
                      <a:pt x="57" y="152"/>
                    </a:lnTo>
                    <a:lnTo>
                      <a:pt x="61" y="163"/>
                    </a:lnTo>
                    <a:lnTo>
                      <a:pt x="66" y="171"/>
                    </a:lnTo>
                    <a:lnTo>
                      <a:pt x="71" y="177"/>
                    </a:lnTo>
                    <a:lnTo>
                      <a:pt x="72" y="180"/>
                    </a:lnTo>
                    <a:close/>
                  </a:path>
                </a:pathLst>
              </a:custGeom>
              <a:solidFill>
                <a:srgbClr val="994C19"/>
              </a:solidFill>
              <a:ln w="9525">
                <a:noFill/>
                <a:round/>
                <a:headEnd/>
                <a:tailEnd/>
              </a:ln>
            </p:spPr>
            <p:txBody>
              <a:bodyPr/>
              <a:lstStyle/>
              <a:p>
                <a:endParaRPr lang="en-US"/>
              </a:p>
            </p:txBody>
          </p:sp>
          <p:sp>
            <p:nvSpPr>
              <p:cNvPr id="26857" name="Freeform 194"/>
              <p:cNvSpPr>
                <a:spLocks/>
              </p:cNvSpPr>
              <p:nvPr/>
            </p:nvSpPr>
            <p:spPr bwMode="auto">
              <a:xfrm>
                <a:off x="2188" y="3500"/>
                <a:ext cx="20" cy="11"/>
              </a:xfrm>
              <a:custGeom>
                <a:avLst/>
                <a:gdLst>
                  <a:gd name="T0" fmla="*/ 0 w 41"/>
                  <a:gd name="T1" fmla="*/ 0 h 24"/>
                  <a:gd name="T2" fmla="*/ 0 w 41"/>
                  <a:gd name="T3" fmla="*/ 0 h 24"/>
                  <a:gd name="T4" fmla="*/ 0 w 41"/>
                  <a:gd name="T5" fmla="*/ 0 h 24"/>
                  <a:gd name="T6" fmla="*/ 0 w 41"/>
                  <a:gd name="T7" fmla="*/ 0 h 24"/>
                  <a:gd name="T8" fmla="*/ 0 w 41"/>
                  <a:gd name="T9" fmla="*/ 0 h 24"/>
                  <a:gd name="T10" fmla="*/ 0 w 41"/>
                  <a:gd name="T11" fmla="*/ 0 h 24"/>
                  <a:gd name="T12" fmla="*/ 0 w 41"/>
                  <a:gd name="T13" fmla="*/ 0 h 24"/>
                  <a:gd name="T14" fmla="*/ 0 w 41"/>
                  <a:gd name="T15" fmla="*/ 0 h 24"/>
                  <a:gd name="T16" fmla="*/ 0 w 41"/>
                  <a:gd name="T17" fmla="*/ 0 h 24"/>
                  <a:gd name="T18" fmla="*/ 0 w 41"/>
                  <a:gd name="T19" fmla="*/ 0 h 24"/>
                  <a:gd name="T20" fmla="*/ 0 w 41"/>
                  <a:gd name="T21" fmla="*/ 0 h 24"/>
                  <a:gd name="T22" fmla="*/ 0 w 41"/>
                  <a:gd name="T23" fmla="*/ 0 h 24"/>
                  <a:gd name="T24" fmla="*/ 0 w 41"/>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
                  <a:gd name="T40" fmla="*/ 0 h 24"/>
                  <a:gd name="T41" fmla="*/ 41 w 41"/>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 h="24">
                    <a:moveTo>
                      <a:pt x="38" y="0"/>
                    </a:moveTo>
                    <a:lnTo>
                      <a:pt x="38" y="0"/>
                    </a:lnTo>
                    <a:lnTo>
                      <a:pt x="28" y="2"/>
                    </a:lnTo>
                    <a:lnTo>
                      <a:pt x="16" y="2"/>
                    </a:lnTo>
                    <a:lnTo>
                      <a:pt x="5" y="2"/>
                    </a:lnTo>
                    <a:lnTo>
                      <a:pt x="0" y="2"/>
                    </a:lnTo>
                    <a:lnTo>
                      <a:pt x="0" y="24"/>
                    </a:lnTo>
                    <a:lnTo>
                      <a:pt x="5" y="24"/>
                    </a:lnTo>
                    <a:lnTo>
                      <a:pt x="16" y="24"/>
                    </a:lnTo>
                    <a:lnTo>
                      <a:pt x="28" y="24"/>
                    </a:lnTo>
                    <a:lnTo>
                      <a:pt x="41" y="22"/>
                    </a:lnTo>
                    <a:lnTo>
                      <a:pt x="38" y="0"/>
                    </a:lnTo>
                    <a:close/>
                  </a:path>
                </a:pathLst>
              </a:custGeom>
              <a:solidFill>
                <a:srgbClr val="000000"/>
              </a:solidFill>
              <a:ln w="9525">
                <a:noFill/>
                <a:round/>
                <a:headEnd/>
                <a:tailEnd/>
              </a:ln>
            </p:spPr>
            <p:txBody>
              <a:bodyPr/>
              <a:lstStyle/>
              <a:p>
                <a:endParaRPr lang="en-US"/>
              </a:p>
            </p:txBody>
          </p:sp>
          <p:sp>
            <p:nvSpPr>
              <p:cNvPr id="26858" name="Freeform 195"/>
              <p:cNvSpPr>
                <a:spLocks/>
              </p:cNvSpPr>
              <p:nvPr/>
            </p:nvSpPr>
            <p:spPr bwMode="auto">
              <a:xfrm>
                <a:off x="2207" y="3495"/>
                <a:ext cx="14" cy="16"/>
              </a:xfrm>
              <a:custGeom>
                <a:avLst/>
                <a:gdLst>
                  <a:gd name="T0" fmla="*/ 1 w 28"/>
                  <a:gd name="T1" fmla="*/ 0 h 31"/>
                  <a:gd name="T2" fmla="*/ 1 w 28"/>
                  <a:gd name="T3" fmla="*/ 0 h 31"/>
                  <a:gd name="T4" fmla="*/ 1 w 28"/>
                  <a:gd name="T5" fmla="*/ 1 h 31"/>
                  <a:gd name="T6" fmla="*/ 1 w 28"/>
                  <a:gd name="T7" fmla="*/ 1 h 31"/>
                  <a:gd name="T8" fmla="*/ 1 w 28"/>
                  <a:gd name="T9" fmla="*/ 1 h 31"/>
                  <a:gd name="T10" fmla="*/ 0 w 28"/>
                  <a:gd name="T11" fmla="*/ 1 h 31"/>
                  <a:gd name="T12" fmla="*/ 1 w 28"/>
                  <a:gd name="T13" fmla="*/ 1 h 31"/>
                  <a:gd name="T14" fmla="*/ 1 w 28"/>
                  <a:gd name="T15" fmla="*/ 1 h 31"/>
                  <a:gd name="T16" fmla="*/ 1 w 28"/>
                  <a:gd name="T17" fmla="*/ 1 h 31"/>
                  <a:gd name="T18" fmla="*/ 1 w 28"/>
                  <a:gd name="T19" fmla="*/ 1 h 31"/>
                  <a:gd name="T20" fmla="*/ 1 w 28"/>
                  <a:gd name="T21" fmla="*/ 1 h 31"/>
                  <a:gd name="T22" fmla="*/ 1 w 28"/>
                  <a:gd name="T23" fmla="*/ 1 h 31"/>
                  <a:gd name="T24" fmla="*/ 1 w 28"/>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1"/>
                  <a:gd name="T41" fmla="*/ 28 w 28"/>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1">
                    <a:moveTo>
                      <a:pt x="22" y="0"/>
                    </a:moveTo>
                    <a:lnTo>
                      <a:pt x="23" y="0"/>
                    </a:lnTo>
                    <a:lnTo>
                      <a:pt x="16" y="3"/>
                    </a:lnTo>
                    <a:lnTo>
                      <a:pt x="9" y="6"/>
                    </a:lnTo>
                    <a:lnTo>
                      <a:pt x="6" y="8"/>
                    </a:lnTo>
                    <a:lnTo>
                      <a:pt x="0" y="9"/>
                    </a:lnTo>
                    <a:lnTo>
                      <a:pt x="3" y="31"/>
                    </a:lnTo>
                    <a:lnTo>
                      <a:pt x="12" y="30"/>
                    </a:lnTo>
                    <a:lnTo>
                      <a:pt x="19" y="25"/>
                    </a:lnTo>
                    <a:lnTo>
                      <a:pt x="25" y="22"/>
                    </a:lnTo>
                    <a:lnTo>
                      <a:pt x="26" y="22"/>
                    </a:lnTo>
                    <a:lnTo>
                      <a:pt x="28" y="22"/>
                    </a:lnTo>
                    <a:lnTo>
                      <a:pt x="22" y="0"/>
                    </a:lnTo>
                    <a:close/>
                  </a:path>
                </a:pathLst>
              </a:custGeom>
              <a:solidFill>
                <a:srgbClr val="000000"/>
              </a:solidFill>
              <a:ln w="9525">
                <a:noFill/>
                <a:round/>
                <a:headEnd/>
                <a:tailEnd/>
              </a:ln>
            </p:spPr>
            <p:txBody>
              <a:bodyPr/>
              <a:lstStyle/>
              <a:p>
                <a:endParaRPr lang="en-US"/>
              </a:p>
            </p:txBody>
          </p:sp>
          <p:sp>
            <p:nvSpPr>
              <p:cNvPr id="26859" name="Freeform 196"/>
              <p:cNvSpPr>
                <a:spLocks/>
              </p:cNvSpPr>
              <p:nvPr/>
            </p:nvSpPr>
            <p:spPr bwMode="auto">
              <a:xfrm>
                <a:off x="2218" y="3495"/>
                <a:ext cx="16" cy="11"/>
              </a:xfrm>
              <a:custGeom>
                <a:avLst/>
                <a:gdLst>
                  <a:gd name="T0" fmla="*/ 1 w 31"/>
                  <a:gd name="T1" fmla="*/ 1 h 22"/>
                  <a:gd name="T2" fmla="*/ 1 w 31"/>
                  <a:gd name="T3" fmla="*/ 0 h 22"/>
                  <a:gd name="T4" fmla="*/ 1 w 31"/>
                  <a:gd name="T5" fmla="*/ 0 h 22"/>
                  <a:gd name="T6" fmla="*/ 1 w 31"/>
                  <a:gd name="T7" fmla="*/ 0 h 22"/>
                  <a:gd name="T8" fmla="*/ 1 w 31"/>
                  <a:gd name="T9" fmla="*/ 0 h 22"/>
                  <a:gd name="T10" fmla="*/ 0 w 31"/>
                  <a:gd name="T11" fmla="*/ 0 h 22"/>
                  <a:gd name="T12" fmla="*/ 1 w 31"/>
                  <a:gd name="T13" fmla="*/ 1 h 22"/>
                  <a:gd name="T14" fmla="*/ 1 w 31"/>
                  <a:gd name="T15" fmla="*/ 1 h 22"/>
                  <a:gd name="T16" fmla="*/ 1 w 31"/>
                  <a:gd name="T17" fmla="*/ 1 h 22"/>
                  <a:gd name="T18" fmla="*/ 1 w 31"/>
                  <a:gd name="T19" fmla="*/ 1 h 22"/>
                  <a:gd name="T20" fmla="*/ 1 w 31"/>
                  <a:gd name="T21" fmla="*/ 1 h 22"/>
                  <a:gd name="T22" fmla="*/ 1 w 31"/>
                  <a:gd name="T23" fmla="*/ 1 h 22"/>
                  <a:gd name="T24" fmla="*/ 1 w 31"/>
                  <a:gd name="T25" fmla="*/ 1 h 22"/>
                  <a:gd name="T26" fmla="*/ 1 w 31"/>
                  <a:gd name="T27" fmla="*/ 1 h 22"/>
                  <a:gd name="T28" fmla="*/ 1 w 31"/>
                  <a:gd name="T29" fmla="*/ 1 h 22"/>
                  <a:gd name="T30" fmla="*/ 1 w 31"/>
                  <a:gd name="T31" fmla="*/ 1 h 22"/>
                  <a:gd name="T32" fmla="*/ 1 w 31"/>
                  <a:gd name="T33" fmla="*/ 0 h 22"/>
                  <a:gd name="T34" fmla="*/ 1 w 31"/>
                  <a:gd name="T35" fmla="*/ 1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22"/>
                  <a:gd name="T56" fmla="*/ 31 w 31"/>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22">
                    <a:moveTo>
                      <a:pt x="9" y="8"/>
                    </a:moveTo>
                    <a:lnTo>
                      <a:pt x="22" y="0"/>
                    </a:lnTo>
                    <a:lnTo>
                      <a:pt x="19" y="0"/>
                    </a:lnTo>
                    <a:lnTo>
                      <a:pt x="14" y="0"/>
                    </a:lnTo>
                    <a:lnTo>
                      <a:pt x="8" y="0"/>
                    </a:lnTo>
                    <a:lnTo>
                      <a:pt x="0" y="0"/>
                    </a:lnTo>
                    <a:lnTo>
                      <a:pt x="6" y="22"/>
                    </a:lnTo>
                    <a:lnTo>
                      <a:pt x="8" y="22"/>
                    </a:lnTo>
                    <a:lnTo>
                      <a:pt x="14" y="22"/>
                    </a:lnTo>
                    <a:lnTo>
                      <a:pt x="19" y="22"/>
                    </a:lnTo>
                    <a:lnTo>
                      <a:pt x="31" y="14"/>
                    </a:lnTo>
                    <a:lnTo>
                      <a:pt x="19" y="22"/>
                    </a:lnTo>
                    <a:lnTo>
                      <a:pt x="26" y="19"/>
                    </a:lnTo>
                    <a:lnTo>
                      <a:pt x="31" y="13"/>
                    </a:lnTo>
                    <a:lnTo>
                      <a:pt x="30" y="5"/>
                    </a:lnTo>
                    <a:lnTo>
                      <a:pt x="22" y="0"/>
                    </a:lnTo>
                    <a:lnTo>
                      <a:pt x="9" y="8"/>
                    </a:lnTo>
                    <a:close/>
                  </a:path>
                </a:pathLst>
              </a:custGeom>
              <a:solidFill>
                <a:srgbClr val="000000"/>
              </a:solidFill>
              <a:ln w="9525">
                <a:noFill/>
                <a:round/>
                <a:headEnd/>
                <a:tailEnd/>
              </a:ln>
            </p:spPr>
            <p:txBody>
              <a:bodyPr/>
              <a:lstStyle/>
              <a:p>
                <a:endParaRPr lang="en-US"/>
              </a:p>
            </p:txBody>
          </p:sp>
          <p:sp>
            <p:nvSpPr>
              <p:cNvPr id="26860" name="Freeform 197"/>
              <p:cNvSpPr>
                <a:spLocks/>
              </p:cNvSpPr>
              <p:nvPr/>
            </p:nvSpPr>
            <p:spPr bwMode="auto">
              <a:xfrm>
                <a:off x="2223" y="3480"/>
                <a:ext cx="15" cy="22"/>
              </a:xfrm>
              <a:custGeom>
                <a:avLst/>
                <a:gdLst>
                  <a:gd name="T0" fmla="*/ 0 w 31"/>
                  <a:gd name="T1" fmla="*/ 0 h 44"/>
                  <a:gd name="T2" fmla="*/ 0 w 31"/>
                  <a:gd name="T3" fmla="*/ 0 h 44"/>
                  <a:gd name="T4" fmla="*/ 0 w 31"/>
                  <a:gd name="T5" fmla="*/ 1 h 44"/>
                  <a:gd name="T6" fmla="*/ 0 w 31"/>
                  <a:gd name="T7" fmla="*/ 1 h 44"/>
                  <a:gd name="T8" fmla="*/ 0 w 31"/>
                  <a:gd name="T9" fmla="*/ 1 h 44"/>
                  <a:gd name="T10" fmla="*/ 0 w 31"/>
                  <a:gd name="T11" fmla="*/ 1 h 44"/>
                  <a:gd name="T12" fmla="*/ 0 w 31"/>
                  <a:gd name="T13" fmla="*/ 1 h 44"/>
                  <a:gd name="T14" fmla="*/ 0 w 31"/>
                  <a:gd name="T15" fmla="*/ 1 h 44"/>
                  <a:gd name="T16" fmla="*/ 0 w 31"/>
                  <a:gd name="T17" fmla="*/ 1 h 44"/>
                  <a:gd name="T18" fmla="*/ 0 w 31"/>
                  <a:gd name="T19" fmla="*/ 1 h 44"/>
                  <a:gd name="T20" fmla="*/ 0 w 31"/>
                  <a:gd name="T21" fmla="*/ 0 h 44"/>
                  <a:gd name="T22" fmla="*/ 0 w 31"/>
                  <a:gd name="T23" fmla="*/ 0 h 44"/>
                  <a:gd name="T24" fmla="*/ 0 w 31"/>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44"/>
                  <a:gd name="T41" fmla="*/ 31 w 31"/>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44">
                    <a:moveTo>
                      <a:pt x="10" y="0"/>
                    </a:moveTo>
                    <a:lnTo>
                      <a:pt x="10" y="0"/>
                    </a:lnTo>
                    <a:lnTo>
                      <a:pt x="8" y="11"/>
                    </a:lnTo>
                    <a:lnTo>
                      <a:pt x="5" y="22"/>
                    </a:lnTo>
                    <a:lnTo>
                      <a:pt x="2" y="33"/>
                    </a:lnTo>
                    <a:lnTo>
                      <a:pt x="0" y="38"/>
                    </a:lnTo>
                    <a:lnTo>
                      <a:pt x="22" y="44"/>
                    </a:lnTo>
                    <a:lnTo>
                      <a:pt x="24" y="39"/>
                    </a:lnTo>
                    <a:lnTo>
                      <a:pt x="27" y="29"/>
                    </a:lnTo>
                    <a:lnTo>
                      <a:pt x="30" y="14"/>
                    </a:lnTo>
                    <a:lnTo>
                      <a:pt x="31" y="0"/>
                    </a:lnTo>
                    <a:lnTo>
                      <a:pt x="10" y="0"/>
                    </a:lnTo>
                    <a:close/>
                  </a:path>
                </a:pathLst>
              </a:custGeom>
              <a:solidFill>
                <a:srgbClr val="000000"/>
              </a:solidFill>
              <a:ln w="9525">
                <a:noFill/>
                <a:round/>
                <a:headEnd/>
                <a:tailEnd/>
              </a:ln>
            </p:spPr>
            <p:txBody>
              <a:bodyPr/>
              <a:lstStyle/>
              <a:p>
                <a:endParaRPr lang="en-US"/>
              </a:p>
            </p:txBody>
          </p:sp>
          <p:sp>
            <p:nvSpPr>
              <p:cNvPr id="26861" name="Freeform 198"/>
              <p:cNvSpPr>
                <a:spLocks/>
              </p:cNvSpPr>
              <p:nvPr/>
            </p:nvSpPr>
            <p:spPr bwMode="auto">
              <a:xfrm>
                <a:off x="2225" y="3418"/>
                <a:ext cx="16" cy="62"/>
              </a:xfrm>
              <a:custGeom>
                <a:avLst/>
                <a:gdLst>
                  <a:gd name="T0" fmla="*/ 0 w 31"/>
                  <a:gd name="T1" fmla="*/ 0 h 125"/>
                  <a:gd name="T2" fmla="*/ 0 w 31"/>
                  <a:gd name="T3" fmla="*/ 0 h 125"/>
                  <a:gd name="T4" fmla="*/ 1 w 31"/>
                  <a:gd name="T5" fmla="*/ 0 h 125"/>
                  <a:gd name="T6" fmla="*/ 1 w 31"/>
                  <a:gd name="T7" fmla="*/ 0 h 125"/>
                  <a:gd name="T8" fmla="*/ 1 w 31"/>
                  <a:gd name="T9" fmla="*/ 0 h 125"/>
                  <a:gd name="T10" fmla="*/ 1 w 31"/>
                  <a:gd name="T11" fmla="*/ 0 h 125"/>
                  <a:gd name="T12" fmla="*/ 1 w 31"/>
                  <a:gd name="T13" fmla="*/ 0 h 125"/>
                  <a:gd name="T14" fmla="*/ 1 w 31"/>
                  <a:gd name="T15" fmla="*/ 0 h 125"/>
                  <a:gd name="T16" fmla="*/ 1 w 31"/>
                  <a:gd name="T17" fmla="*/ 0 h 125"/>
                  <a:gd name="T18" fmla="*/ 1 w 31"/>
                  <a:gd name="T19" fmla="*/ 0 h 125"/>
                  <a:gd name="T20" fmla="*/ 1 w 31"/>
                  <a:gd name="T21" fmla="*/ 0 h 125"/>
                  <a:gd name="T22" fmla="*/ 1 w 31"/>
                  <a:gd name="T23" fmla="*/ 0 h 125"/>
                  <a:gd name="T24" fmla="*/ 1 w 31"/>
                  <a:gd name="T25" fmla="*/ 0 h 125"/>
                  <a:gd name="T26" fmla="*/ 1 w 31"/>
                  <a:gd name="T27" fmla="*/ 0 h 125"/>
                  <a:gd name="T28" fmla="*/ 1 w 31"/>
                  <a:gd name="T29" fmla="*/ 0 h 125"/>
                  <a:gd name="T30" fmla="*/ 1 w 31"/>
                  <a:gd name="T31" fmla="*/ 0 h 125"/>
                  <a:gd name="T32" fmla="*/ 1 w 31"/>
                  <a:gd name="T33" fmla="*/ 0 h 125"/>
                  <a:gd name="T34" fmla="*/ 1 w 31"/>
                  <a:gd name="T35" fmla="*/ 0 h 125"/>
                  <a:gd name="T36" fmla="*/ 1 w 31"/>
                  <a:gd name="T37" fmla="*/ 0 h 125"/>
                  <a:gd name="T38" fmla="*/ 1 w 31"/>
                  <a:gd name="T39" fmla="*/ 0 h 125"/>
                  <a:gd name="T40" fmla="*/ 0 w 31"/>
                  <a:gd name="T41" fmla="*/ 0 h 12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1"/>
                  <a:gd name="T64" fmla="*/ 0 h 125"/>
                  <a:gd name="T65" fmla="*/ 31 w 31"/>
                  <a:gd name="T66" fmla="*/ 125 h 12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1" h="125">
                    <a:moveTo>
                      <a:pt x="0" y="19"/>
                    </a:moveTo>
                    <a:lnTo>
                      <a:pt x="0" y="19"/>
                    </a:lnTo>
                    <a:lnTo>
                      <a:pt x="3" y="22"/>
                    </a:lnTo>
                    <a:lnTo>
                      <a:pt x="6" y="35"/>
                    </a:lnTo>
                    <a:lnTo>
                      <a:pt x="9" y="50"/>
                    </a:lnTo>
                    <a:lnTo>
                      <a:pt x="9" y="67"/>
                    </a:lnTo>
                    <a:lnTo>
                      <a:pt x="8" y="85"/>
                    </a:lnTo>
                    <a:lnTo>
                      <a:pt x="6" y="102"/>
                    </a:lnTo>
                    <a:lnTo>
                      <a:pt x="5" y="118"/>
                    </a:lnTo>
                    <a:lnTo>
                      <a:pt x="5" y="125"/>
                    </a:lnTo>
                    <a:lnTo>
                      <a:pt x="26" y="125"/>
                    </a:lnTo>
                    <a:lnTo>
                      <a:pt x="26" y="118"/>
                    </a:lnTo>
                    <a:lnTo>
                      <a:pt x="28" y="105"/>
                    </a:lnTo>
                    <a:lnTo>
                      <a:pt x="30" y="88"/>
                    </a:lnTo>
                    <a:lnTo>
                      <a:pt x="31" y="67"/>
                    </a:lnTo>
                    <a:lnTo>
                      <a:pt x="31" y="47"/>
                    </a:lnTo>
                    <a:lnTo>
                      <a:pt x="28" y="28"/>
                    </a:lnTo>
                    <a:lnTo>
                      <a:pt x="22" y="13"/>
                    </a:lnTo>
                    <a:lnTo>
                      <a:pt x="9" y="0"/>
                    </a:lnTo>
                    <a:lnTo>
                      <a:pt x="0" y="19"/>
                    </a:lnTo>
                    <a:close/>
                  </a:path>
                </a:pathLst>
              </a:custGeom>
              <a:solidFill>
                <a:srgbClr val="000000"/>
              </a:solidFill>
              <a:ln w="9525">
                <a:noFill/>
                <a:round/>
                <a:headEnd/>
                <a:tailEnd/>
              </a:ln>
            </p:spPr>
            <p:txBody>
              <a:bodyPr/>
              <a:lstStyle/>
              <a:p>
                <a:endParaRPr lang="en-US"/>
              </a:p>
            </p:txBody>
          </p:sp>
          <p:sp>
            <p:nvSpPr>
              <p:cNvPr id="26862" name="Freeform 199"/>
              <p:cNvSpPr>
                <a:spLocks/>
              </p:cNvSpPr>
              <p:nvPr/>
            </p:nvSpPr>
            <p:spPr bwMode="auto">
              <a:xfrm>
                <a:off x="2194" y="3411"/>
                <a:ext cx="36" cy="16"/>
              </a:xfrm>
              <a:custGeom>
                <a:avLst/>
                <a:gdLst>
                  <a:gd name="T0" fmla="*/ 0 w 72"/>
                  <a:gd name="T1" fmla="*/ 0 h 33"/>
                  <a:gd name="T2" fmla="*/ 0 w 72"/>
                  <a:gd name="T3" fmla="*/ 0 h 33"/>
                  <a:gd name="T4" fmla="*/ 1 w 72"/>
                  <a:gd name="T5" fmla="*/ 0 h 33"/>
                  <a:gd name="T6" fmla="*/ 1 w 72"/>
                  <a:gd name="T7" fmla="*/ 0 h 33"/>
                  <a:gd name="T8" fmla="*/ 1 w 72"/>
                  <a:gd name="T9" fmla="*/ 0 h 33"/>
                  <a:gd name="T10" fmla="*/ 1 w 72"/>
                  <a:gd name="T11" fmla="*/ 0 h 33"/>
                  <a:gd name="T12" fmla="*/ 1 w 72"/>
                  <a:gd name="T13" fmla="*/ 0 h 33"/>
                  <a:gd name="T14" fmla="*/ 1 w 72"/>
                  <a:gd name="T15" fmla="*/ 0 h 33"/>
                  <a:gd name="T16" fmla="*/ 1 w 72"/>
                  <a:gd name="T17" fmla="*/ 0 h 33"/>
                  <a:gd name="T18" fmla="*/ 1 w 72"/>
                  <a:gd name="T19" fmla="*/ 0 h 33"/>
                  <a:gd name="T20" fmla="*/ 1 w 72"/>
                  <a:gd name="T21" fmla="*/ 0 h 33"/>
                  <a:gd name="T22" fmla="*/ 1 w 72"/>
                  <a:gd name="T23" fmla="*/ 0 h 33"/>
                  <a:gd name="T24" fmla="*/ 1 w 72"/>
                  <a:gd name="T25" fmla="*/ 0 h 33"/>
                  <a:gd name="T26" fmla="*/ 1 w 72"/>
                  <a:gd name="T27" fmla="*/ 0 h 33"/>
                  <a:gd name="T28" fmla="*/ 1 w 72"/>
                  <a:gd name="T29" fmla="*/ 0 h 33"/>
                  <a:gd name="T30" fmla="*/ 1 w 72"/>
                  <a:gd name="T31" fmla="*/ 0 h 33"/>
                  <a:gd name="T32" fmla="*/ 1 w 72"/>
                  <a:gd name="T33" fmla="*/ 0 h 33"/>
                  <a:gd name="T34" fmla="*/ 1 w 72"/>
                  <a:gd name="T35" fmla="*/ 0 h 33"/>
                  <a:gd name="T36" fmla="*/ 0 w 72"/>
                  <a:gd name="T37" fmla="*/ 0 h 33"/>
                  <a:gd name="T38" fmla="*/ 0 w 72"/>
                  <a:gd name="T39" fmla="*/ 0 h 33"/>
                  <a:gd name="T40" fmla="*/ 0 w 72"/>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3"/>
                  <a:gd name="T65" fmla="*/ 72 w 72"/>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3">
                    <a:moveTo>
                      <a:pt x="0" y="22"/>
                    </a:moveTo>
                    <a:lnTo>
                      <a:pt x="0" y="22"/>
                    </a:lnTo>
                    <a:lnTo>
                      <a:pt x="5" y="22"/>
                    </a:lnTo>
                    <a:lnTo>
                      <a:pt x="13" y="22"/>
                    </a:lnTo>
                    <a:lnTo>
                      <a:pt x="19" y="22"/>
                    </a:lnTo>
                    <a:lnTo>
                      <a:pt x="27" y="24"/>
                    </a:lnTo>
                    <a:lnTo>
                      <a:pt x="36" y="25"/>
                    </a:lnTo>
                    <a:lnTo>
                      <a:pt x="44" y="27"/>
                    </a:lnTo>
                    <a:lnTo>
                      <a:pt x="55" y="30"/>
                    </a:lnTo>
                    <a:lnTo>
                      <a:pt x="63" y="33"/>
                    </a:lnTo>
                    <a:lnTo>
                      <a:pt x="72" y="14"/>
                    </a:lnTo>
                    <a:lnTo>
                      <a:pt x="61" y="8"/>
                    </a:lnTo>
                    <a:lnTo>
                      <a:pt x="50" y="5"/>
                    </a:lnTo>
                    <a:lnTo>
                      <a:pt x="39" y="3"/>
                    </a:lnTo>
                    <a:lnTo>
                      <a:pt x="30" y="2"/>
                    </a:lnTo>
                    <a:lnTo>
                      <a:pt x="22" y="0"/>
                    </a:lnTo>
                    <a:lnTo>
                      <a:pt x="13" y="0"/>
                    </a:lnTo>
                    <a:lnTo>
                      <a:pt x="5" y="0"/>
                    </a:lnTo>
                    <a:lnTo>
                      <a:pt x="0" y="0"/>
                    </a:lnTo>
                    <a:lnTo>
                      <a:pt x="0" y="22"/>
                    </a:lnTo>
                    <a:close/>
                  </a:path>
                </a:pathLst>
              </a:custGeom>
              <a:solidFill>
                <a:srgbClr val="000000"/>
              </a:solidFill>
              <a:ln w="9525">
                <a:noFill/>
                <a:round/>
                <a:headEnd/>
                <a:tailEnd/>
              </a:ln>
            </p:spPr>
            <p:txBody>
              <a:bodyPr/>
              <a:lstStyle/>
              <a:p>
                <a:endParaRPr lang="en-US"/>
              </a:p>
            </p:txBody>
          </p:sp>
          <p:sp>
            <p:nvSpPr>
              <p:cNvPr id="26863" name="Freeform 200"/>
              <p:cNvSpPr>
                <a:spLocks/>
              </p:cNvSpPr>
              <p:nvPr/>
            </p:nvSpPr>
            <p:spPr bwMode="auto">
              <a:xfrm>
                <a:off x="2149" y="3411"/>
                <a:ext cx="45" cy="18"/>
              </a:xfrm>
              <a:custGeom>
                <a:avLst/>
                <a:gdLst>
                  <a:gd name="T0" fmla="*/ 1 w 89"/>
                  <a:gd name="T1" fmla="*/ 0 h 38"/>
                  <a:gd name="T2" fmla="*/ 1 w 89"/>
                  <a:gd name="T3" fmla="*/ 0 h 38"/>
                  <a:gd name="T4" fmla="*/ 1 w 89"/>
                  <a:gd name="T5" fmla="*/ 0 h 38"/>
                  <a:gd name="T6" fmla="*/ 1 w 89"/>
                  <a:gd name="T7" fmla="*/ 0 h 38"/>
                  <a:gd name="T8" fmla="*/ 1 w 89"/>
                  <a:gd name="T9" fmla="*/ 0 h 38"/>
                  <a:gd name="T10" fmla="*/ 1 w 89"/>
                  <a:gd name="T11" fmla="*/ 0 h 38"/>
                  <a:gd name="T12" fmla="*/ 1 w 89"/>
                  <a:gd name="T13" fmla="*/ 0 h 38"/>
                  <a:gd name="T14" fmla="*/ 1 w 89"/>
                  <a:gd name="T15" fmla="*/ 0 h 38"/>
                  <a:gd name="T16" fmla="*/ 1 w 89"/>
                  <a:gd name="T17" fmla="*/ 0 h 38"/>
                  <a:gd name="T18" fmla="*/ 1 w 89"/>
                  <a:gd name="T19" fmla="*/ 0 h 38"/>
                  <a:gd name="T20" fmla="*/ 1 w 89"/>
                  <a:gd name="T21" fmla="*/ 0 h 38"/>
                  <a:gd name="T22" fmla="*/ 1 w 89"/>
                  <a:gd name="T23" fmla="*/ 0 h 38"/>
                  <a:gd name="T24" fmla="*/ 1 w 89"/>
                  <a:gd name="T25" fmla="*/ 0 h 38"/>
                  <a:gd name="T26" fmla="*/ 1 w 89"/>
                  <a:gd name="T27" fmla="*/ 0 h 38"/>
                  <a:gd name="T28" fmla="*/ 1 w 89"/>
                  <a:gd name="T29" fmla="*/ 0 h 38"/>
                  <a:gd name="T30" fmla="*/ 1 w 89"/>
                  <a:gd name="T31" fmla="*/ 0 h 38"/>
                  <a:gd name="T32" fmla="*/ 1 w 89"/>
                  <a:gd name="T33" fmla="*/ 0 h 38"/>
                  <a:gd name="T34" fmla="*/ 1 w 89"/>
                  <a:gd name="T35" fmla="*/ 0 h 38"/>
                  <a:gd name="T36" fmla="*/ 0 w 89"/>
                  <a:gd name="T37" fmla="*/ 0 h 38"/>
                  <a:gd name="T38" fmla="*/ 0 w 89"/>
                  <a:gd name="T39" fmla="*/ 0 h 38"/>
                  <a:gd name="T40" fmla="*/ 1 w 89"/>
                  <a:gd name="T41" fmla="*/ 0 h 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9"/>
                  <a:gd name="T64" fmla="*/ 0 h 38"/>
                  <a:gd name="T65" fmla="*/ 89 w 89"/>
                  <a:gd name="T66" fmla="*/ 38 h 3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9" h="38">
                    <a:moveTo>
                      <a:pt x="19" y="38"/>
                    </a:moveTo>
                    <a:lnTo>
                      <a:pt x="19" y="38"/>
                    </a:lnTo>
                    <a:lnTo>
                      <a:pt x="23" y="33"/>
                    </a:lnTo>
                    <a:lnTo>
                      <a:pt x="30" y="28"/>
                    </a:lnTo>
                    <a:lnTo>
                      <a:pt x="39" y="27"/>
                    </a:lnTo>
                    <a:lnTo>
                      <a:pt x="52" y="24"/>
                    </a:lnTo>
                    <a:lnTo>
                      <a:pt x="63" y="22"/>
                    </a:lnTo>
                    <a:lnTo>
                      <a:pt x="74" y="22"/>
                    </a:lnTo>
                    <a:lnTo>
                      <a:pt x="83" y="22"/>
                    </a:lnTo>
                    <a:lnTo>
                      <a:pt x="89" y="22"/>
                    </a:lnTo>
                    <a:lnTo>
                      <a:pt x="89" y="0"/>
                    </a:lnTo>
                    <a:lnTo>
                      <a:pt x="83" y="0"/>
                    </a:lnTo>
                    <a:lnTo>
                      <a:pt x="74" y="0"/>
                    </a:lnTo>
                    <a:lnTo>
                      <a:pt x="63" y="0"/>
                    </a:lnTo>
                    <a:lnTo>
                      <a:pt x="49" y="2"/>
                    </a:lnTo>
                    <a:lnTo>
                      <a:pt x="33" y="5"/>
                    </a:lnTo>
                    <a:lnTo>
                      <a:pt x="20" y="10"/>
                    </a:lnTo>
                    <a:lnTo>
                      <a:pt x="8" y="17"/>
                    </a:lnTo>
                    <a:lnTo>
                      <a:pt x="0" y="28"/>
                    </a:lnTo>
                    <a:lnTo>
                      <a:pt x="19" y="38"/>
                    </a:lnTo>
                    <a:close/>
                  </a:path>
                </a:pathLst>
              </a:custGeom>
              <a:solidFill>
                <a:srgbClr val="000000"/>
              </a:solidFill>
              <a:ln w="9525">
                <a:noFill/>
                <a:round/>
                <a:headEnd/>
                <a:tailEnd/>
              </a:ln>
            </p:spPr>
            <p:txBody>
              <a:bodyPr/>
              <a:lstStyle/>
              <a:p>
                <a:endParaRPr lang="en-US"/>
              </a:p>
            </p:txBody>
          </p:sp>
          <p:sp>
            <p:nvSpPr>
              <p:cNvPr id="26864" name="Freeform 201"/>
              <p:cNvSpPr>
                <a:spLocks/>
              </p:cNvSpPr>
              <p:nvPr/>
            </p:nvSpPr>
            <p:spPr bwMode="auto">
              <a:xfrm>
                <a:off x="2147" y="3425"/>
                <a:ext cx="15" cy="31"/>
              </a:xfrm>
              <a:custGeom>
                <a:avLst/>
                <a:gdLst>
                  <a:gd name="T0" fmla="*/ 1 w 30"/>
                  <a:gd name="T1" fmla="*/ 0 h 63"/>
                  <a:gd name="T2" fmla="*/ 1 w 30"/>
                  <a:gd name="T3" fmla="*/ 0 h 63"/>
                  <a:gd name="T4" fmla="*/ 1 w 30"/>
                  <a:gd name="T5" fmla="*/ 0 h 63"/>
                  <a:gd name="T6" fmla="*/ 1 w 30"/>
                  <a:gd name="T7" fmla="*/ 0 h 63"/>
                  <a:gd name="T8" fmla="*/ 1 w 30"/>
                  <a:gd name="T9" fmla="*/ 0 h 63"/>
                  <a:gd name="T10" fmla="*/ 1 w 30"/>
                  <a:gd name="T11" fmla="*/ 0 h 63"/>
                  <a:gd name="T12" fmla="*/ 1 w 30"/>
                  <a:gd name="T13" fmla="*/ 0 h 63"/>
                  <a:gd name="T14" fmla="*/ 1 w 30"/>
                  <a:gd name="T15" fmla="*/ 0 h 63"/>
                  <a:gd name="T16" fmla="*/ 1 w 30"/>
                  <a:gd name="T17" fmla="*/ 0 h 63"/>
                  <a:gd name="T18" fmla="*/ 1 w 30"/>
                  <a:gd name="T19" fmla="*/ 0 h 63"/>
                  <a:gd name="T20" fmla="*/ 1 w 30"/>
                  <a:gd name="T21" fmla="*/ 0 h 63"/>
                  <a:gd name="T22" fmla="*/ 0 w 30"/>
                  <a:gd name="T23" fmla="*/ 0 h 63"/>
                  <a:gd name="T24" fmla="*/ 0 w 30"/>
                  <a:gd name="T25" fmla="*/ 0 h 63"/>
                  <a:gd name="T26" fmla="*/ 0 w 30"/>
                  <a:gd name="T27" fmla="*/ 0 h 63"/>
                  <a:gd name="T28" fmla="*/ 1 w 30"/>
                  <a:gd name="T29" fmla="*/ 0 h 63"/>
                  <a:gd name="T30" fmla="*/ 1 w 30"/>
                  <a:gd name="T31" fmla="*/ 0 h 63"/>
                  <a:gd name="T32" fmla="*/ 1 w 30"/>
                  <a:gd name="T33" fmla="*/ 0 h 63"/>
                  <a:gd name="T34" fmla="*/ 1 w 30"/>
                  <a:gd name="T35" fmla="*/ 0 h 63"/>
                  <a:gd name="T36" fmla="*/ 1 w 30"/>
                  <a:gd name="T37" fmla="*/ 0 h 63"/>
                  <a:gd name="T38" fmla="*/ 1 w 30"/>
                  <a:gd name="T39" fmla="*/ 0 h 63"/>
                  <a:gd name="T40" fmla="*/ 1 w 30"/>
                  <a:gd name="T41" fmla="*/ 0 h 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63"/>
                  <a:gd name="T65" fmla="*/ 30 w 30"/>
                  <a:gd name="T66" fmla="*/ 63 h 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63">
                    <a:moveTo>
                      <a:pt x="30" y="50"/>
                    </a:moveTo>
                    <a:lnTo>
                      <a:pt x="30" y="50"/>
                    </a:lnTo>
                    <a:lnTo>
                      <a:pt x="28" y="47"/>
                    </a:lnTo>
                    <a:lnTo>
                      <a:pt x="25" y="44"/>
                    </a:lnTo>
                    <a:lnTo>
                      <a:pt x="25" y="39"/>
                    </a:lnTo>
                    <a:lnTo>
                      <a:pt x="24" y="33"/>
                    </a:lnTo>
                    <a:lnTo>
                      <a:pt x="22" y="27"/>
                    </a:lnTo>
                    <a:lnTo>
                      <a:pt x="22" y="21"/>
                    </a:lnTo>
                    <a:lnTo>
                      <a:pt x="22" y="14"/>
                    </a:lnTo>
                    <a:lnTo>
                      <a:pt x="24" y="10"/>
                    </a:lnTo>
                    <a:lnTo>
                      <a:pt x="5" y="0"/>
                    </a:lnTo>
                    <a:lnTo>
                      <a:pt x="0" y="11"/>
                    </a:lnTo>
                    <a:lnTo>
                      <a:pt x="0" y="21"/>
                    </a:lnTo>
                    <a:lnTo>
                      <a:pt x="0" y="30"/>
                    </a:lnTo>
                    <a:lnTo>
                      <a:pt x="2" y="39"/>
                    </a:lnTo>
                    <a:lnTo>
                      <a:pt x="3" y="46"/>
                    </a:lnTo>
                    <a:lnTo>
                      <a:pt x="7" y="53"/>
                    </a:lnTo>
                    <a:lnTo>
                      <a:pt x="10" y="60"/>
                    </a:lnTo>
                    <a:lnTo>
                      <a:pt x="11" y="63"/>
                    </a:lnTo>
                    <a:lnTo>
                      <a:pt x="30" y="50"/>
                    </a:lnTo>
                    <a:close/>
                  </a:path>
                </a:pathLst>
              </a:custGeom>
              <a:solidFill>
                <a:srgbClr val="000000"/>
              </a:solidFill>
              <a:ln w="9525">
                <a:noFill/>
                <a:round/>
                <a:headEnd/>
                <a:tailEnd/>
              </a:ln>
            </p:spPr>
            <p:txBody>
              <a:bodyPr/>
              <a:lstStyle/>
              <a:p>
                <a:endParaRPr lang="en-US"/>
              </a:p>
            </p:txBody>
          </p:sp>
          <p:sp>
            <p:nvSpPr>
              <p:cNvPr id="26865" name="Freeform 202"/>
              <p:cNvSpPr>
                <a:spLocks/>
              </p:cNvSpPr>
              <p:nvPr/>
            </p:nvSpPr>
            <p:spPr bwMode="auto">
              <a:xfrm>
                <a:off x="2152" y="3450"/>
                <a:ext cx="17" cy="18"/>
              </a:xfrm>
              <a:custGeom>
                <a:avLst/>
                <a:gdLst>
                  <a:gd name="T0" fmla="*/ 0 w 35"/>
                  <a:gd name="T1" fmla="*/ 0 h 38"/>
                  <a:gd name="T2" fmla="*/ 0 w 35"/>
                  <a:gd name="T3" fmla="*/ 0 h 38"/>
                  <a:gd name="T4" fmla="*/ 0 w 35"/>
                  <a:gd name="T5" fmla="*/ 0 h 38"/>
                  <a:gd name="T6" fmla="*/ 0 w 35"/>
                  <a:gd name="T7" fmla="*/ 0 h 38"/>
                  <a:gd name="T8" fmla="*/ 0 w 35"/>
                  <a:gd name="T9" fmla="*/ 0 h 38"/>
                  <a:gd name="T10" fmla="*/ 0 w 35"/>
                  <a:gd name="T11" fmla="*/ 0 h 38"/>
                  <a:gd name="T12" fmla="*/ 0 w 35"/>
                  <a:gd name="T13" fmla="*/ 0 h 38"/>
                  <a:gd name="T14" fmla="*/ 0 w 35"/>
                  <a:gd name="T15" fmla="*/ 0 h 38"/>
                  <a:gd name="T16" fmla="*/ 0 w 35"/>
                  <a:gd name="T17" fmla="*/ 0 h 38"/>
                  <a:gd name="T18" fmla="*/ 0 w 35"/>
                  <a:gd name="T19" fmla="*/ 0 h 38"/>
                  <a:gd name="T20" fmla="*/ 0 w 35"/>
                  <a:gd name="T21" fmla="*/ 0 h 38"/>
                  <a:gd name="T22" fmla="*/ 0 w 35"/>
                  <a:gd name="T23" fmla="*/ 0 h 38"/>
                  <a:gd name="T24" fmla="*/ 0 w 35"/>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38"/>
                  <a:gd name="T41" fmla="*/ 35 w 35"/>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38">
                    <a:moveTo>
                      <a:pt x="35" y="35"/>
                    </a:moveTo>
                    <a:lnTo>
                      <a:pt x="35" y="38"/>
                    </a:lnTo>
                    <a:lnTo>
                      <a:pt x="33" y="25"/>
                    </a:lnTo>
                    <a:lnTo>
                      <a:pt x="28" y="16"/>
                    </a:lnTo>
                    <a:lnTo>
                      <a:pt x="24" y="7"/>
                    </a:lnTo>
                    <a:lnTo>
                      <a:pt x="19" y="0"/>
                    </a:lnTo>
                    <a:lnTo>
                      <a:pt x="0" y="13"/>
                    </a:lnTo>
                    <a:lnTo>
                      <a:pt x="5" y="19"/>
                    </a:lnTo>
                    <a:lnTo>
                      <a:pt x="10" y="25"/>
                    </a:lnTo>
                    <a:lnTo>
                      <a:pt x="11" y="32"/>
                    </a:lnTo>
                    <a:lnTo>
                      <a:pt x="13" y="32"/>
                    </a:lnTo>
                    <a:lnTo>
                      <a:pt x="13" y="35"/>
                    </a:lnTo>
                    <a:lnTo>
                      <a:pt x="35" y="35"/>
                    </a:lnTo>
                    <a:close/>
                  </a:path>
                </a:pathLst>
              </a:custGeom>
              <a:solidFill>
                <a:srgbClr val="000000"/>
              </a:solidFill>
              <a:ln w="9525">
                <a:noFill/>
                <a:round/>
                <a:headEnd/>
                <a:tailEnd/>
              </a:ln>
            </p:spPr>
            <p:txBody>
              <a:bodyPr/>
              <a:lstStyle/>
              <a:p>
                <a:endParaRPr lang="en-US"/>
              </a:p>
            </p:txBody>
          </p:sp>
          <p:sp>
            <p:nvSpPr>
              <p:cNvPr id="26866" name="Freeform 203"/>
              <p:cNvSpPr>
                <a:spLocks/>
              </p:cNvSpPr>
              <p:nvPr/>
            </p:nvSpPr>
            <p:spPr bwMode="auto">
              <a:xfrm>
                <a:off x="2158" y="3467"/>
                <a:ext cx="11" cy="15"/>
              </a:xfrm>
              <a:custGeom>
                <a:avLst/>
                <a:gdLst>
                  <a:gd name="T0" fmla="*/ 1 w 22"/>
                  <a:gd name="T1" fmla="*/ 1 h 30"/>
                  <a:gd name="T2" fmla="*/ 1 w 22"/>
                  <a:gd name="T3" fmla="*/ 1 h 30"/>
                  <a:gd name="T4" fmla="*/ 1 w 22"/>
                  <a:gd name="T5" fmla="*/ 1 h 30"/>
                  <a:gd name="T6" fmla="*/ 1 w 22"/>
                  <a:gd name="T7" fmla="*/ 1 h 30"/>
                  <a:gd name="T8" fmla="*/ 1 w 22"/>
                  <a:gd name="T9" fmla="*/ 1 h 30"/>
                  <a:gd name="T10" fmla="*/ 1 w 22"/>
                  <a:gd name="T11" fmla="*/ 0 h 30"/>
                  <a:gd name="T12" fmla="*/ 0 w 22"/>
                  <a:gd name="T13" fmla="*/ 0 h 30"/>
                  <a:gd name="T14" fmla="*/ 0 w 22"/>
                  <a:gd name="T15" fmla="*/ 1 h 30"/>
                  <a:gd name="T16" fmla="*/ 0 w 22"/>
                  <a:gd name="T17" fmla="*/ 1 h 30"/>
                  <a:gd name="T18" fmla="*/ 0 w 22"/>
                  <a:gd name="T19" fmla="*/ 1 h 30"/>
                  <a:gd name="T20" fmla="*/ 0 w 22"/>
                  <a:gd name="T21" fmla="*/ 1 h 30"/>
                  <a:gd name="T22" fmla="*/ 1 w 22"/>
                  <a:gd name="T23" fmla="*/ 1 h 30"/>
                  <a:gd name="T24" fmla="*/ 0 w 22"/>
                  <a:gd name="T25" fmla="*/ 1 h 30"/>
                  <a:gd name="T26" fmla="*/ 1 w 22"/>
                  <a:gd name="T27" fmla="*/ 1 h 30"/>
                  <a:gd name="T28" fmla="*/ 1 w 22"/>
                  <a:gd name="T29" fmla="*/ 1 h 30"/>
                  <a:gd name="T30" fmla="*/ 1 w 22"/>
                  <a:gd name="T31" fmla="*/ 1 h 30"/>
                  <a:gd name="T32" fmla="*/ 1 w 22"/>
                  <a:gd name="T33" fmla="*/ 1 h 30"/>
                  <a:gd name="T34" fmla="*/ 1 w 22"/>
                  <a:gd name="T35" fmla="*/ 1 h 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
                  <a:gd name="T55" fmla="*/ 0 h 30"/>
                  <a:gd name="T56" fmla="*/ 22 w 22"/>
                  <a:gd name="T57" fmla="*/ 30 h 3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 h="30">
                    <a:moveTo>
                      <a:pt x="12" y="8"/>
                    </a:moveTo>
                    <a:lnTo>
                      <a:pt x="22" y="19"/>
                    </a:lnTo>
                    <a:lnTo>
                      <a:pt x="22" y="17"/>
                    </a:lnTo>
                    <a:lnTo>
                      <a:pt x="22" y="11"/>
                    </a:lnTo>
                    <a:lnTo>
                      <a:pt x="22" y="4"/>
                    </a:lnTo>
                    <a:lnTo>
                      <a:pt x="22" y="0"/>
                    </a:lnTo>
                    <a:lnTo>
                      <a:pt x="0" y="0"/>
                    </a:lnTo>
                    <a:lnTo>
                      <a:pt x="0" y="4"/>
                    </a:lnTo>
                    <a:lnTo>
                      <a:pt x="0" y="11"/>
                    </a:lnTo>
                    <a:lnTo>
                      <a:pt x="0" y="17"/>
                    </a:lnTo>
                    <a:lnTo>
                      <a:pt x="0" y="19"/>
                    </a:lnTo>
                    <a:lnTo>
                      <a:pt x="9" y="30"/>
                    </a:lnTo>
                    <a:lnTo>
                      <a:pt x="0" y="19"/>
                    </a:lnTo>
                    <a:lnTo>
                      <a:pt x="3" y="26"/>
                    </a:lnTo>
                    <a:lnTo>
                      <a:pt x="11" y="30"/>
                    </a:lnTo>
                    <a:lnTo>
                      <a:pt x="19" y="26"/>
                    </a:lnTo>
                    <a:lnTo>
                      <a:pt x="22" y="19"/>
                    </a:lnTo>
                    <a:lnTo>
                      <a:pt x="12" y="8"/>
                    </a:lnTo>
                    <a:close/>
                  </a:path>
                </a:pathLst>
              </a:custGeom>
              <a:solidFill>
                <a:srgbClr val="000000"/>
              </a:solidFill>
              <a:ln w="9525">
                <a:noFill/>
                <a:round/>
                <a:headEnd/>
                <a:tailEnd/>
              </a:ln>
            </p:spPr>
            <p:txBody>
              <a:bodyPr/>
              <a:lstStyle/>
              <a:p>
                <a:endParaRPr lang="en-US"/>
              </a:p>
            </p:txBody>
          </p:sp>
          <p:sp>
            <p:nvSpPr>
              <p:cNvPr id="26867" name="Freeform 204"/>
              <p:cNvSpPr>
                <a:spLocks/>
              </p:cNvSpPr>
              <p:nvPr/>
            </p:nvSpPr>
            <p:spPr bwMode="auto">
              <a:xfrm>
                <a:off x="2163" y="3471"/>
                <a:ext cx="12" cy="12"/>
              </a:xfrm>
              <a:custGeom>
                <a:avLst/>
                <a:gdLst>
                  <a:gd name="T0" fmla="*/ 1 w 24"/>
                  <a:gd name="T1" fmla="*/ 0 h 25"/>
                  <a:gd name="T2" fmla="*/ 1 w 24"/>
                  <a:gd name="T3" fmla="*/ 0 h 25"/>
                  <a:gd name="T4" fmla="*/ 1 w 24"/>
                  <a:gd name="T5" fmla="*/ 0 h 25"/>
                  <a:gd name="T6" fmla="*/ 1 w 24"/>
                  <a:gd name="T7" fmla="*/ 0 h 25"/>
                  <a:gd name="T8" fmla="*/ 1 w 24"/>
                  <a:gd name="T9" fmla="*/ 0 h 25"/>
                  <a:gd name="T10" fmla="*/ 1 w 24"/>
                  <a:gd name="T11" fmla="*/ 0 h 25"/>
                  <a:gd name="T12" fmla="*/ 0 w 24"/>
                  <a:gd name="T13" fmla="*/ 0 h 25"/>
                  <a:gd name="T14" fmla="*/ 0 w 24"/>
                  <a:gd name="T15" fmla="*/ 0 h 25"/>
                  <a:gd name="T16" fmla="*/ 1 w 24"/>
                  <a:gd name="T17" fmla="*/ 0 h 25"/>
                  <a:gd name="T18" fmla="*/ 1 w 24"/>
                  <a:gd name="T19" fmla="*/ 0 h 25"/>
                  <a:gd name="T20" fmla="*/ 1 w 24"/>
                  <a:gd name="T21" fmla="*/ 0 h 25"/>
                  <a:gd name="T22" fmla="*/ 1 w 24"/>
                  <a:gd name="T23" fmla="*/ 0 h 25"/>
                  <a:gd name="T24" fmla="*/ 1 w 24"/>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5"/>
                  <a:gd name="T41" fmla="*/ 24 w 24"/>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5">
                    <a:moveTo>
                      <a:pt x="24" y="4"/>
                    </a:moveTo>
                    <a:lnTo>
                      <a:pt x="21" y="3"/>
                    </a:lnTo>
                    <a:lnTo>
                      <a:pt x="14" y="1"/>
                    </a:lnTo>
                    <a:lnTo>
                      <a:pt x="10" y="1"/>
                    </a:lnTo>
                    <a:lnTo>
                      <a:pt x="6" y="0"/>
                    </a:lnTo>
                    <a:lnTo>
                      <a:pt x="3" y="0"/>
                    </a:lnTo>
                    <a:lnTo>
                      <a:pt x="0" y="22"/>
                    </a:lnTo>
                    <a:lnTo>
                      <a:pt x="6" y="23"/>
                    </a:lnTo>
                    <a:lnTo>
                      <a:pt x="11" y="23"/>
                    </a:lnTo>
                    <a:lnTo>
                      <a:pt x="17" y="25"/>
                    </a:lnTo>
                    <a:lnTo>
                      <a:pt x="14" y="23"/>
                    </a:lnTo>
                    <a:lnTo>
                      <a:pt x="24" y="4"/>
                    </a:lnTo>
                    <a:close/>
                  </a:path>
                </a:pathLst>
              </a:custGeom>
              <a:solidFill>
                <a:srgbClr val="000000"/>
              </a:solidFill>
              <a:ln w="9525">
                <a:noFill/>
                <a:round/>
                <a:headEnd/>
                <a:tailEnd/>
              </a:ln>
            </p:spPr>
            <p:txBody>
              <a:bodyPr/>
              <a:lstStyle/>
              <a:p>
                <a:endParaRPr lang="en-US"/>
              </a:p>
            </p:txBody>
          </p:sp>
          <p:sp>
            <p:nvSpPr>
              <p:cNvPr id="26868" name="Freeform 205"/>
              <p:cNvSpPr>
                <a:spLocks/>
              </p:cNvSpPr>
              <p:nvPr/>
            </p:nvSpPr>
            <p:spPr bwMode="auto">
              <a:xfrm>
                <a:off x="2170" y="3473"/>
                <a:ext cx="16" cy="20"/>
              </a:xfrm>
              <a:custGeom>
                <a:avLst/>
                <a:gdLst>
                  <a:gd name="T0" fmla="*/ 1 w 32"/>
                  <a:gd name="T1" fmla="*/ 0 h 41"/>
                  <a:gd name="T2" fmla="*/ 1 w 32"/>
                  <a:gd name="T3" fmla="*/ 0 h 41"/>
                  <a:gd name="T4" fmla="*/ 1 w 32"/>
                  <a:gd name="T5" fmla="*/ 0 h 41"/>
                  <a:gd name="T6" fmla="*/ 1 w 32"/>
                  <a:gd name="T7" fmla="*/ 0 h 41"/>
                  <a:gd name="T8" fmla="*/ 1 w 32"/>
                  <a:gd name="T9" fmla="*/ 0 h 41"/>
                  <a:gd name="T10" fmla="*/ 1 w 32"/>
                  <a:gd name="T11" fmla="*/ 0 h 41"/>
                  <a:gd name="T12" fmla="*/ 0 w 32"/>
                  <a:gd name="T13" fmla="*/ 0 h 41"/>
                  <a:gd name="T14" fmla="*/ 1 w 32"/>
                  <a:gd name="T15" fmla="*/ 0 h 41"/>
                  <a:gd name="T16" fmla="*/ 1 w 32"/>
                  <a:gd name="T17" fmla="*/ 0 h 41"/>
                  <a:gd name="T18" fmla="*/ 1 w 32"/>
                  <a:gd name="T19" fmla="*/ 0 h 41"/>
                  <a:gd name="T20" fmla="*/ 1 w 32"/>
                  <a:gd name="T21" fmla="*/ 0 h 41"/>
                  <a:gd name="T22" fmla="*/ 1 w 32"/>
                  <a:gd name="T23" fmla="*/ 0 h 41"/>
                  <a:gd name="T24" fmla="*/ 1 w 32"/>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
                  <a:gd name="T40" fmla="*/ 0 h 41"/>
                  <a:gd name="T41" fmla="*/ 32 w 32"/>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 h="41">
                    <a:moveTo>
                      <a:pt x="32" y="35"/>
                    </a:moveTo>
                    <a:lnTo>
                      <a:pt x="32" y="35"/>
                    </a:lnTo>
                    <a:lnTo>
                      <a:pt x="27" y="24"/>
                    </a:lnTo>
                    <a:lnTo>
                      <a:pt x="22" y="14"/>
                    </a:lnTo>
                    <a:lnTo>
                      <a:pt x="17" y="7"/>
                    </a:lnTo>
                    <a:lnTo>
                      <a:pt x="10" y="0"/>
                    </a:lnTo>
                    <a:lnTo>
                      <a:pt x="0" y="19"/>
                    </a:lnTo>
                    <a:lnTo>
                      <a:pt x="2" y="19"/>
                    </a:lnTo>
                    <a:lnTo>
                      <a:pt x="3" y="24"/>
                    </a:lnTo>
                    <a:lnTo>
                      <a:pt x="8" y="33"/>
                    </a:lnTo>
                    <a:lnTo>
                      <a:pt x="10" y="41"/>
                    </a:lnTo>
                    <a:lnTo>
                      <a:pt x="32" y="35"/>
                    </a:lnTo>
                    <a:close/>
                  </a:path>
                </a:pathLst>
              </a:custGeom>
              <a:solidFill>
                <a:srgbClr val="000000"/>
              </a:solidFill>
              <a:ln w="9525">
                <a:noFill/>
                <a:round/>
                <a:headEnd/>
                <a:tailEnd/>
              </a:ln>
            </p:spPr>
            <p:txBody>
              <a:bodyPr/>
              <a:lstStyle/>
              <a:p>
                <a:endParaRPr lang="en-US"/>
              </a:p>
            </p:txBody>
          </p:sp>
          <p:sp>
            <p:nvSpPr>
              <p:cNvPr id="26869" name="Freeform 206"/>
              <p:cNvSpPr>
                <a:spLocks/>
              </p:cNvSpPr>
              <p:nvPr/>
            </p:nvSpPr>
            <p:spPr bwMode="auto">
              <a:xfrm>
                <a:off x="2175" y="3490"/>
                <a:ext cx="19" cy="21"/>
              </a:xfrm>
              <a:custGeom>
                <a:avLst/>
                <a:gdLst>
                  <a:gd name="T0" fmla="*/ 1 w 37"/>
                  <a:gd name="T1" fmla="*/ 1 h 42"/>
                  <a:gd name="T2" fmla="*/ 1 w 37"/>
                  <a:gd name="T3" fmla="*/ 1 h 42"/>
                  <a:gd name="T4" fmla="*/ 1 w 37"/>
                  <a:gd name="T5" fmla="*/ 1 h 42"/>
                  <a:gd name="T6" fmla="*/ 1 w 37"/>
                  <a:gd name="T7" fmla="*/ 1 h 42"/>
                  <a:gd name="T8" fmla="*/ 1 w 37"/>
                  <a:gd name="T9" fmla="*/ 1 h 42"/>
                  <a:gd name="T10" fmla="*/ 1 w 37"/>
                  <a:gd name="T11" fmla="*/ 0 h 42"/>
                  <a:gd name="T12" fmla="*/ 0 w 37"/>
                  <a:gd name="T13" fmla="*/ 1 h 42"/>
                  <a:gd name="T14" fmla="*/ 1 w 37"/>
                  <a:gd name="T15" fmla="*/ 1 h 42"/>
                  <a:gd name="T16" fmla="*/ 1 w 37"/>
                  <a:gd name="T17" fmla="*/ 1 h 42"/>
                  <a:gd name="T18" fmla="*/ 1 w 37"/>
                  <a:gd name="T19" fmla="*/ 1 h 42"/>
                  <a:gd name="T20" fmla="*/ 1 w 37"/>
                  <a:gd name="T21" fmla="*/ 1 h 42"/>
                  <a:gd name="T22" fmla="*/ 1 w 37"/>
                  <a:gd name="T23" fmla="*/ 1 h 42"/>
                  <a:gd name="T24" fmla="*/ 1 w 37"/>
                  <a:gd name="T25" fmla="*/ 1 h 42"/>
                  <a:gd name="T26" fmla="*/ 1 w 37"/>
                  <a:gd name="T27" fmla="*/ 1 h 42"/>
                  <a:gd name="T28" fmla="*/ 1 w 37"/>
                  <a:gd name="T29" fmla="*/ 1 h 42"/>
                  <a:gd name="T30" fmla="*/ 1 w 37"/>
                  <a:gd name="T31" fmla="*/ 1 h 42"/>
                  <a:gd name="T32" fmla="*/ 1 w 37"/>
                  <a:gd name="T33" fmla="*/ 1 h 42"/>
                  <a:gd name="T34" fmla="*/ 1 w 37"/>
                  <a:gd name="T35" fmla="*/ 1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
                  <a:gd name="T55" fmla="*/ 0 h 42"/>
                  <a:gd name="T56" fmla="*/ 37 w 37"/>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 h="42">
                    <a:moveTo>
                      <a:pt x="26" y="20"/>
                    </a:moveTo>
                    <a:lnTo>
                      <a:pt x="36" y="25"/>
                    </a:lnTo>
                    <a:lnTo>
                      <a:pt x="34" y="22"/>
                    </a:lnTo>
                    <a:lnTo>
                      <a:pt x="29" y="15"/>
                    </a:lnTo>
                    <a:lnTo>
                      <a:pt x="25" y="9"/>
                    </a:lnTo>
                    <a:lnTo>
                      <a:pt x="22" y="0"/>
                    </a:lnTo>
                    <a:lnTo>
                      <a:pt x="0" y="6"/>
                    </a:lnTo>
                    <a:lnTo>
                      <a:pt x="6" y="18"/>
                    </a:lnTo>
                    <a:lnTo>
                      <a:pt x="11" y="28"/>
                    </a:lnTo>
                    <a:lnTo>
                      <a:pt x="15" y="34"/>
                    </a:lnTo>
                    <a:lnTo>
                      <a:pt x="17" y="37"/>
                    </a:lnTo>
                    <a:lnTo>
                      <a:pt x="26" y="42"/>
                    </a:lnTo>
                    <a:lnTo>
                      <a:pt x="17" y="37"/>
                    </a:lnTo>
                    <a:lnTo>
                      <a:pt x="25" y="42"/>
                    </a:lnTo>
                    <a:lnTo>
                      <a:pt x="33" y="40"/>
                    </a:lnTo>
                    <a:lnTo>
                      <a:pt x="37" y="34"/>
                    </a:lnTo>
                    <a:lnTo>
                      <a:pt x="36" y="25"/>
                    </a:lnTo>
                    <a:lnTo>
                      <a:pt x="26" y="20"/>
                    </a:lnTo>
                    <a:close/>
                  </a:path>
                </a:pathLst>
              </a:custGeom>
              <a:solidFill>
                <a:srgbClr val="000000"/>
              </a:solidFill>
              <a:ln w="9525">
                <a:noFill/>
                <a:round/>
                <a:headEnd/>
                <a:tailEnd/>
              </a:ln>
            </p:spPr>
            <p:txBody>
              <a:bodyPr/>
              <a:lstStyle/>
              <a:p>
                <a:endParaRPr lang="en-US"/>
              </a:p>
            </p:txBody>
          </p:sp>
        </p:grpSp>
        <p:sp>
          <p:nvSpPr>
            <p:cNvPr id="26638" name="Freeform 207"/>
            <p:cNvSpPr>
              <a:spLocks/>
            </p:cNvSpPr>
            <p:nvPr/>
          </p:nvSpPr>
          <p:spPr bwMode="auto">
            <a:xfrm>
              <a:off x="1851" y="3424"/>
              <a:ext cx="43" cy="139"/>
            </a:xfrm>
            <a:custGeom>
              <a:avLst/>
              <a:gdLst>
                <a:gd name="T0" fmla="*/ 0 w 85"/>
                <a:gd name="T1" fmla="*/ 0 h 278"/>
                <a:gd name="T2" fmla="*/ 0 w 85"/>
                <a:gd name="T3" fmla="*/ 1 h 278"/>
                <a:gd name="T4" fmla="*/ 1 w 85"/>
                <a:gd name="T5" fmla="*/ 1 h 278"/>
                <a:gd name="T6" fmla="*/ 1 w 85"/>
                <a:gd name="T7" fmla="*/ 1 h 278"/>
                <a:gd name="T8" fmla="*/ 0 w 85"/>
                <a:gd name="T9" fmla="*/ 0 h 278"/>
                <a:gd name="T10" fmla="*/ 0 60000 65536"/>
                <a:gd name="T11" fmla="*/ 0 60000 65536"/>
                <a:gd name="T12" fmla="*/ 0 60000 65536"/>
                <a:gd name="T13" fmla="*/ 0 60000 65536"/>
                <a:gd name="T14" fmla="*/ 0 60000 65536"/>
                <a:gd name="T15" fmla="*/ 0 w 85"/>
                <a:gd name="T16" fmla="*/ 0 h 278"/>
                <a:gd name="T17" fmla="*/ 85 w 85"/>
                <a:gd name="T18" fmla="*/ 278 h 278"/>
              </a:gdLst>
              <a:ahLst/>
              <a:cxnLst>
                <a:cxn ang="T10">
                  <a:pos x="T0" y="T1"/>
                </a:cxn>
                <a:cxn ang="T11">
                  <a:pos x="T2" y="T3"/>
                </a:cxn>
                <a:cxn ang="T12">
                  <a:pos x="T4" y="T5"/>
                </a:cxn>
                <a:cxn ang="T13">
                  <a:pos x="T6" y="T7"/>
                </a:cxn>
                <a:cxn ang="T14">
                  <a:pos x="T8" y="T9"/>
                </a:cxn>
              </a:cxnLst>
              <a:rect l="T15" t="T16" r="T17" b="T18"/>
              <a:pathLst>
                <a:path w="85" h="278">
                  <a:moveTo>
                    <a:pt x="0" y="0"/>
                  </a:moveTo>
                  <a:lnTo>
                    <a:pt x="0" y="234"/>
                  </a:lnTo>
                  <a:lnTo>
                    <a:pt x="85" y="278"/>
                  </a:lnTo>
                  <a:lnTo>
                    <a:pt x="85" y="40"/>
                  </a:lnTo>
                  <a:lnTo>
                    <a:pt x="0" y="0"/>
                  </a:lnTo>
                  <a:close/>
                </a:path>
              </a:pathLst>
            </a:custGeom>
            <a:solidFill>
              <a:srgbClr val="4CB2FF"/>
            </a:solidFill>
            <a:ln w="9525">
              <a:noFill/>
              <a:round/>
              <a:headEnd/>
              <a:tailEnd/>
            </a:ln>
          </p:spPr>
          <p:txBody>
            <a:bodyPr/>
            <a:lstStyle/>
            <a:p>
              <a:endParaRPr lang="en-US"/>
            </a:p>
          </p:txBody>
        </p:sp>
        <p:sp>
          <p:nvSpPr>
            <p:cNvPr id="26639" name="Freeform 208"/>
            <p:cNvSpPr>
              <a:spLocks/>
            </p:cNvSpPr>
            <p:nvPr/>
          </p:nvSpPr>
          <p:spPr bwMode="auto">
            <a:xfrm>
              <a:off x="1846" y="3424"/>
              <a:ext cx="11" cy="123"/>
            </a:xfrm>
            <a:custGeom>
              <a:avLst/>
              <a:gdLst>
                <a:gd name="T0" fmla="*/ 1 w 22"/>
                <a:gd name="T1" fmla="*/ 1 h 245"/>
                <a:gd name="T2" fmla="*/ 1 w 22"/>
                <a:gd name="T3" fmla="*/ 1 h 245"/>
                <a:gd name="T4" fmla="*/ 1 w 22"/>
                <a:gd name="T5" fmla="*/ 0 h 245"/>
                <a:gd name="T6" fmla="*/ 0 w 22"/>
                <a:gd name="T7" fmla="*/ 0 h 245"/>
                <a:gd name="T8" fmla="*/ 0 w 22"/>
                <a:gd name="T9" fmla="*/ 1 h 245"/>
                <a:gd name="T10" fmla="*/ 1 w 22"/>
                <a:gd name="T11" fmla="*/ 1 h 245"/>
                <a:gd name="T12" fmla="*/ 0 w 22"/>
                <a:gd name="T13" fmla="*/ 1 h 245"/>
                <a:gd name="T14" fmla="*/ 1 w 22"/>
                <a:gd name="T15" fmla="*/ 1 h 245"/>
                <a:gd name="T16" fmla="*/ 1 w 22"/>
                <a:gd name="T17" fmla="*/ 1 h 245"/>
                <a:gd name="T18" fmla="*/ 1 w 22"/>
                <a:gd name="T19" fmla="*/ 1 h 245"/>
                <a:gd name="T20" fmla="*/ 1 w 22"/>
                <a:gd name="T21" fmla="*/ 1 h 245"/>
                <a:gd name="T22" fmla="*/ 1 w 22"/>
                <a:gd name="T23" fmla="*/ 1 h 2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5"/>
                <a:gd name="T38" fmla="*/ 22 w 22"/>
                <a:gd name="T39" fmla="*/ 245 h 2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5">
                  <a:moveTo>
                    <a:pt x="16" y="225"/>
                  </a:moveTo>
                  <a:lnTo>
                    <a:pt x="22" y="234"/>
                  </a:lnTo>
                  <a:lnTo>
                    <a:pt x="22" y="0"/>
                  </a:lnTo>
                  <a:lnTo>
                    <a:pt x="0" y="0"/>
                  </a:lnTo>
                  <a:lnTo>
                    <a:pt x="0" y="234"/>
                  </a:lnTo>
                  <a:lnTo>
                    <a:pt x="6" y="244"/>
                  </a:lnTo>
                  <a:lnTo>
                    <a:pt x="0" y="234"/>
                  </a:lnTo>
                  <a:lnTo>
                    <a:pt x="3" y="242"/>
                  </a:lnTo>
                  <a:lnTo>
                    <a:pt x="11" y="245"/>
                  </a:lnTo>
                  <a:lnTo>
                    <a:pt x="19" y="242"/>
                  </a:lnTo>
                  <a:lnTo>
                    <a:pt x="22" y="234"/>
                  </a:lnTo>
                  <a:lnTo>
                    <a:pt x="16" y="225"/>
                  </a:lnTo>
                  <a:close/>
                </a:path>
              </a:pathLst>
            </a:custGeom>
            <a:solidFill>
              <a:srgbClr val="000000"/>
            </a:solidFill>
            <a:ln w="9525">
              <a:noFill/>
              <a:round/>
              <a:headEnd/>
              <a:tailEnd/>
            </a:ln>
          </p:spPr>
          <p:txBody>
            <a:bodyPr/>
            <a:lstStyle/>
            <a:p>
              <a:endParaRPr lang="en-US"/>
            </a:p>
          </p:txBody>
        </p:sp>
        <p:sp>
          <p:nvSpPr>
            <p:cNvPr id="26640" name="Freeform 209"/>
            <p:cNvSpPr>
              <a:spLocks/>
            </p:cNvSpPr>
            <p:nvPr/>
          </p:nvSpPr>
          <p:spPr bwMode="auto">
            <a:xfrm>
              <a:off x="1849" y="3537"/>
              <a:ext cx="50" cy="31"/>
            </a:xfrm>
            <a:custGeom>
              <a:avLst/>
              <a:gdLst>
                <a:gd name="T0" fmla="*/ 0 w 101"/>
                <a:gd name="T1" fmla="*/ 0 h 63"/>
                <a:gd name="T2" fmla="*/ 0 w 101"/>
                <a:gd name="T3" fmla="*/ 0 h 63"/>
                <a:gd name="T4" fmla="*/ 0 w 101"/>
                <a:gd name="T5" fmla="*/ 0 h 63"/>
                <a:gd name="T6" fmla="*/ 0 w 101"/>
                <a:gd name="T7" fmla="*/ 0 h 63"/>
                <a:gd name="T8" fmla="*/ 0 w 101"/>
                <a:gd name="T9" fmla="*/ 0 h 63"/>
                <a:gd name="T10" fmla="*/ 0 w 101"/>
                <a:gd name="T11" fmla="*/ 0 h 63"/>
                <a:gd name="T12" fmla="*/ 0 w 101"/>
                <a:gd name="T13" fmla="*/ 0 h 63"/>
                <a:gd name="T14" fmla="*/ 0 w 101"/>
                <a:gd name="T15" fmla="*/ 0 h 63"/>
                <a:gd name="T16" fmla="*/ 0 w 101"/>
                <a:gd name="T17" fmla="*/ 0 h 63"/>
                <a:gd name="T18" fmla="*/ 0 w 101"/>
                <a:gd name="T19" fmla="*/ 0 h 63"/>
                <a:gd name="T20" fmla="*/ 0 w 101"/>
                <a:gd name="T21" fmla="*/ 0 h 63"/>
                <a:gd name="T22" fmla="*/ 0 w 101"/>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3"/>
                <a:gd name="T38" fmla="*/ 101 w 101"/>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3">
                  <a:moveTo>
                    <a:pt x="79" y="53"/>
                  </a:moveTo>
                  <a:lnTo>
                    <a:pt x="94" y="44"/>
                  </a:lnTo>
                  <a:lnTo>
                    <a:pt x="10" y="0"/>
                  </a:lnTo>
                  <a:lnTo>
                    <a:pt x="0" y="19"/>
                  </a:lnTo>
                  <a:lnTo>
                    <a:pt x="85" y="63"/>
                  </a:lnTo>
                  <a:lnTo>
                    <a:pt x="101" y="53"/>
                  </a:lnTo>
                  <a:lnTo>
                    <a:pt x="85" y="63"/>
                  </a:lnTo>
                  <a:lnTo>
                    <a:pt x="93" y="63"/>
                  </a:lnTo>
                  <a:lnTo>
                    <a:pt x="99" y="58"/>
                  </a:lnTo>
                  <a:lnTo>
                    <a:pt x="101" y="50"/>
                  </a:lnTo>
                  <a:lnTo>
                    <a:pt x="94" y="44"/>
                  </a:lnTo>
                  <a:lnTo>
                    <a:pt x="79" y="53"/>
                  </a:lnTo>
                  <a:close/>
                </a:path>
              </a:pathLst>
            </a:custGeom>
            <a:solidFill>
              <a:srgbClr val="000000"/>
            </a:solidFill>
            <a:ln w="9525">
              <a:noFill/>
              <a:round/>
              <a:headEnd/>
              <a:tailEnd/>
            </a:ln>
          </p:spPr>
          <p:txBody>
            <a:bodyPr/>
            <a:lstStyle/>
            <a:p>
              <a:endParaRPr lang="en-US"/>
            </a:p>
          </p:txBody>
        </p:sp>
        <p:sp>
          <p:nvSpPr>
            <p:cNvPr id="26641" name="Freeform 210"/>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6" y="21"/>
                  </a:moveTo>
                  <a:lnTo>
                    <a:pt x="0" y="11"/>
                  </a:lnTo>
                  <a:lnTo>
                    <a:pt x="0" y="249"/>
                  </a:lnTo>
                  <a:lnTo>
                    <a:pt x="22" y="249"/>
                  </a:lnTo>
                  <a:lnTo>
                    <a:pt x="22" y="11"/>
                  </a:lnTo>
                  <a:lnTo>
                    <a:pt x="15" y="2"/>
                  </a:lnTo>
                  <a:lnTo>
                    <a:pt x="22" y="11"/>
                  </a:lnTo>
                  <a:lnTo>
                    <a:pt x="18" y="4"/>
                  </a:lnTo>
                  <a:lnTo>
                    <a:pt x="11" y="0"/>
                  </a:lnTo>
                  <a:lnTo>
                    <a:pt x="3" y="4"/>
                  </a:lnTo>
                  <a:lnTo>
                    <a:pt x="0" y="11"/>
                  </a:lnTo>
                  <a:lnTo>
                    <a:pt x="6" y="21"/>
                  </a:lnTo>
                  <a:close/>
                </a:path>
              </a:pathLst>
            </a:custGeom>
            <a:solidFill>
              <a:srgbClr val="000000"/>
            </a:solidFill>
            <a:ln w="9525">
              <a:noFill/>
              <a:round/>
              <a:headEnd/>
              <a:tailEnd/>
            </a:ln>
          </p:spPr>
          <p:txBody>
            <a:bodyPr/>
            <a:lstStyle/>
            <a:p>
              <a:endParaRPr lang="en-US"/>
            </a:p>
          </p:txBody>
        </p:sp>
        <p:sp>
          <p:nvSpPr>
            <p:cNvPr id="26642" name="Freeform 211"/>
            <p:cNvSpPr>
              <a:spLocks/>
            </p:cNvSpPr>
            <p:nvPr/>
          </p:nvSpPr>
          <p:spPr bwMode="auto">
            <a:xfrm>
              <a:off x="1846" y="3419"/>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0 w 100"/>
                <a:gd name="T11" fmla="*/ 1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22" y="10"/>
                  </a:moveTo>
                  <a:lnTo>
                    <a:pt x="6" y="19"/>
                  </a:lnTo>
                  <a:lnTo>
                    <a:pt x="91" y="60"/>
                  </a:lnTo>
                  <a:lnTo>
                    <a:pt x="100" y="41"/>
                  </a:lnTo>
                  <a:lnTo>
                    <a:pt x="16" y="0"/>
                  </a:lnTo>
                  <a:lnTo>
                    <a:pt x="0" y="10"/>
                  </a:lnTo>
                  <a:lnTo>
                    <a:pt x="16" y="0"/>
                  </a:lnTo>
                  <a:lnTo>
                    <a:pt x="8" y="0"/>
                  </a:lnTo>
                  <a:lnTo>
                    <a:pt x="2"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6643" name="Freeform 212"/>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close/>
                </a:path>
              </a:pathLst>
            </a:custGeom>
            <a:solidFill>
              <a:srgbClr val="B2B2B2"/>
            </a:solidFill>
            <a:ln w="9525">
              <a:noFill/>
              <a:round/>
              <a:headEnd/>
              <a:tailEnd/>
            </a:ln>
          </p:spPr>
          <p:txBody>
            <a:bodyPr/>
            <a:lstStyle/>
            <a:p>
              <a:endParaRPr lang="en-US"/>
            </a:p>
          </p:txBody>
        </p:sp>
        <p:sp>
          <p:nvSpPr>
            <p:cNvPr id="26644" name="Freeform 213"/>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path>
              </a:pathLst>
            </a:custGeom>
            <a:noFill/>
            <a:ln w="0">
              <a:solidFill>
                <a:srgbClr val="000000"/>
              </a:solidFill>
              <a:round/>
              <a:headEnd/>
              <a:tailEnd/>
            </a:ln>
          </p:spPr>
          <p:txBody>
            <a:bodyPr/>
            <a:lstStyle/>
            <a:p>
              <a:endParaRPr lang="en-US"/>
            </a:p>
          </p:txBody>
        </p:sp>
        <p:sp>
          <p:nvSpPr>
            <p:cNvPr id="26645" name="Freeform 214"/>
            <p:cNvSpPr>
              <a:spLocks/>
            </p:cNvSpPr>
            <p:nvPr/>
          </p:nvSpPr>
          <p:spPr bwMode="auto">
            <a:xfrm>
              <a:off x="1974" y="3604"/>
              <a:ext cx="142" cy="50"/>
            </a:xfrm>
            <a:custGeom>
              <a:avLst/>
              <a:gdLst>
                <a:gd name="T0" fmla="*/ 0 w 285"/>
                <a:gd name="T1" fmla="*/ 1 h 100"/>
                <a:gd name="T2" fmla="*/ 0 w 285"/>
                <a:gd name="T3" fmla="*/ 1 h 100"/>
                <a:gd name="T4" fmla="*/ 0 w 285"/>
                <a:gd name="T5" fmla="*/ 1 h 100"/>
                <a:gd name="T6" fmla="*/ 0 w 285"/>
                <a:gd name="T7" fmla="*/ 1 h 100"/>
                <a:gd name="T8" fmla="*/ 0 w 285"/>
                <a:gd name="T9" fmla="*/ 1 h 100"/>
                <a:gd name="T10" fmla="*/ 0 w 285"/>
                <a:gd name="T11" fmla="*/ 1 h 100"/>
                <a:gd name="T12" fmla="*/ 0 w 285"/>
                <a:gd name="T13" fmla="*/ 1 h 100"/>
                <a:gd name="T14" fmla="*/ 0 w 285"/>
                <a:gd name="T15" fmla="*/ 1 h 100"/>
                <a:gd name="T16" fmla="*/ 0 w 285"/>
                <a:gd name="T17" fmla="*/ 1 h 100"/>
                <a:gd name="T18" fmla="*/ 0 w 285"/>
                <a:gd name="T19" fmla="*/ 1 h 100"/>
                <a:gd name="T20" fmla="*/ 0 w 285"/>
                <a:gd name="T21" fmla="*/ 1 h 100"/>
                <a:gd name="T22" fmla="*/ 0 w 285"/>
                <a:gd name="T23" fmla="*/ 1 h 100"/>
                <a:gd name="T24" fmla="*/ 0 w 285"/>
                <a:gd name="T25" fmla="*/ 1 h 100"/>
                <a:gd name="T26" fmla="*/ 0 w 285"/>
                <a:gd name="T27" fmla="*/ 1 h 100"/>
                <a:gd name="T28" fmla="*/ 0 w 285"/>
                <a:gd name="T29" fmla="*/ 1 h 100"/>
                <a:gd name="T30" fmla="*/ 0 w 285"/>
                <a:gd name="T31" fmla="*/ 1 h 100"/>
                <a:gd name="T32" fmla="*/ 0 w 285"/>
                <a:gd name="T33" fmla="*/ 1 h 100"/>
                <a:gd name="T34" fmla="*/ 0 w 285"/>
                <a:gd name="T35" fmla="*/ 1 h 100"/>
                <a:gd name="T36" fmla="*/ 0 w 285"/>
                <a:gd name="T37" fmla="*/ 1 h 100"/>
                <a:gd name="T38" fmla="*/ 0 w 285"/>
                <a:gd name="T39" fmla="*/ 1 h 100"/>
                <a:gd name="T40" fmla="*/ 0 w 285"/>
                <a:gd name="T41" fmla="*/ 1 h 100"/>
                <a:gd name="T42" fmla="*/ 0 w 285"/>
                <a:gd name="T43" fmla="*/ 0 h 100"/>
                <a:gd name="T44" fmla="*/ 0 w 285"/>
                <a:gd name="T45" fmla="*/ 1 h 100"/>
                <a:gd name="T46" fmla="*/ 0 w 285"/>
                <a:gd name="T47" fmla="*/ 1 h 100"/>
                <a:gd name="T48" fmla="*/ 0 w 285"/>
                <a:gd name="T49" fmla="*/ 1 h 100"/>
                <a:gd name="T50" fmla="*/ 0 w 285"/>
                <a:gd name="T51" fmla="*/ 1 h 100"/>
                <a:gd name="T52" fmla="*/ 0 w 285"/>
                <a:gd name="T53" fmla="*/ 1 h 100"/>
                <a:gd name="T54" fmla="*/ 0 w 285"/>
                <a:gd name="T55" fmla="*/ 1 h 100"/>
                <a:gd name="T56" fmla="*/ 0 w 285"/>
                <a:gd name="T57" fmla="*/ 1 h 100"/>
                <a:gd name="T58" fmla="*/ 0 w 285"/>
                <a:gd name="T59" fmla="*/ 1 h 100"/>
                <a:gd name="T60" fmla="*/ 0 w 285"/>
                <a:gd name="T61" fmla="*/ 1 h 100"/>
                <a:gd name="T62" fmla="*/ 0 w 285"/>
                <a:gd name="T63" fmla="*/ 1 h 100"/>
                <a:gd name="T64" fmla="*/ 0 w 285"/>
                <a:gd name="T65" fmla="*/ 1 h 100"/>
                <a:gd name="T66" fmla="*/ 0 w 285"/>
                <a:gd name="T67" fmla="*/ 1 h 100"/>
                <a:gd name="T68" fmla="*/ 0 w 285"/>
                <a:gd name="T69" fmla="*/ 1 h 1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5"/>
                <a:gd name="T106" fmla="*/ 0 h 100"/>
                <a:gd name="T107" fmla="*/ 285 w 285"/>
                <a:gd name="T108" fmla="*/ 100 h 1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5" h="100">
                  <a:moveTo>
                    <a:pt x="284" y="65"/>
                  </a:moveTo>
                  <a:lnTo>
                    <a:pt x="224" y="98"/>
                  </a:lnTo>
                  <a:lnTo>
                    <a:pt x="215" y="100"/>
                  </a:lnTo>
                  <a:lnTo>
                    <a:pt x="208" y="98"/>
                  </a:lnTo>
                  <a:lnTo>
                    <a:pt x="191" y="95"/>
                  </a:lnTo>
                  <a:lnTo>
                    <a:pt x="168" y="90"/>
                  </a:lnTo>
                  <a:lnTo>
                    <a:pt x="140" y="84"/>
                  </a:lnTo>
                  <a:lnTo>
                    <a:pt x="110" y="78"/>
                  </a:lnTo>
                  <a:lnTo>
                    <a:pt x="83" y="72"/>
                  </a:lnTo>
                  <a:lnTo>
                    <a:pt x="61" y="65"/>
                  </a:lnTo>
                  <a:lnTo>
                    <a:pt x="47" y="62"/>
                  </a:lnTo>
                  <a:lnTo>
                    <a:pt x="22" y="57"/>
                  </a:lnTo>
                  <a:lnTo>
                    <a:pt x="19" y="57"/>
                  </a:lnTo>
                  <a:lnTo>
                    <a:pt x="21" y="64"/>
                  </a:lnTo>
                  <a:lnTo>
                    <a:pt x="16" y="65"/>
                  </a:lnTo>
                  <a:lnTo>
                    <a:pt x="14" y="65"/>
                  </a:lnTo>
                  <a:lnTo>
                    <a:pt x="10" y="62"/>
                  </a:lnTo>
                  <a:lnTo>
                    <a:pt x="7" y="59"/>
                  </a:lnTo>
                  <a:lnTo>
                    <a:pt x="3" y="54"/>
                  </a:lnTo>
                  <a:lnTo>
                    <a:pt x="2" y="50"/>
                  </a:lnTo>
                  <a:lnTo>
                    <a:pt x="0" y="47"/>
                  </a:lnTo>
                  <a:lnTo>
                    <a:pt x="0" y="45"/>
                  </a:lnTo>
                  <a:lnTo>
                    <a:pt x="2" y="43"/>
                  </a:lnTo>
                  <a:lnTo>
                    <a:pt x="5" y="42"/>
                  </a:lnTo>
                  <a:lnTo>
                    <a:pt x="5" y="37"/>
                  </a:lnTo>
                  <a:lnTo>
                    <a:pt x="7" y="34"/>
                  </a:lnTo>
                  <a:lnTo>
                    <a:pt x="8" y="32"/>
                  </a:lnTo>
                  <a:lnTo>
                    <a:pt x="11" y="29"/>
                  </a:lnTo>
                  <a:lnTo>
                    <a:pt x="14" y="26"/>
                  </a:lnTo>
                  <a:lnTo>
                    <a:pt x="19" y="23"/>
                  </a:lnTo>
                  <a:lnTo>
                    <a:pt x="22" y="20"/>
                  </a:lnTo>
                  <a:lnTo>
                    <a:pt x="25" y="18"/>
                  </a:lnTo>
                  <a:lnTo>
                    <a:pt x="28" y="14"/>
                  </a:lnTo>
                  <a:lnTo>
                    <a:pt x="30" y="11"/>
                  </a:lnTo>
                  <a:lnTo>
                    <a:pt x="33" y="7"/>
                  </a:lnTo>
                  <a:lnTo>
                    <a:pt x="39" y="9"/>
                  </a:lnTo>
                  <a:lnTo>
                    <a:pt x="50" y="14"/>
                  </a:lnTo>
                  <a:lnTo>
                    <a:pt x="58" y="18"/>
                  </a:lnTo>
                  <a:lnTo>
                    <a:pt x="63" y="20"/>
                  </a:lnTo>
                  <a:lnTo>
                    <a:pt x="60" y="17"/>
                  </a:lnTo>
                  <a:lnTo>
                    <a:pt x="61" y="6"/>
                  </a:lnTo>
                  <a:lnTo>
                    <a:pt x="61" y="4"/>
                  </a:lnTo>
                  <a:lnTo>
                    <a:pt x="63" y="3"/>
                  </a:lnTo>
                  <a:lnTo>
                    <a:pt x="66" y="0"/>
                  </a:lnTo>
                  <a:lnTo>
                    <a:pt x="68" y="0"/>
                  </a:lnTo>
                  <a:lnTo>
                    <a:pt x="69" y="1"/>
                  </a:lnTo>
                  <a:lnTo>
                    <a:pt x="71" y="4"/>
                  </a:lnTo>
                  <a:lnTo>
                    <a:pt x="71" y="6"/>
                  </a:lnTo>
                  <a:lnTo>
                    <a:pt x="69" y="9"/>
                  </a:lnTo>
                  <a:lnTo>
                    <a:pt x="71" y="14"/>
                  </a:lnTo>
                  <a:lnTo>
                    <a:pt x="74" y="20"/>
                  </a:lnTo>
                  <a:lnTo>
                    <a:pt x="77" y="26"/>
                  </a:lnTo>
                  <a:lnTo>
                    <a:pt x="82" y="29"/>
                  </a:lnTo>
                  <a:lnTo>
                    <a:pt x="90" y="31"/>
                  </a:lnTo>
                  <a:lnTo>
                    <a:pt x="104" y="32"/>
                  </a:lnTo>
                  <a:lnTo>
                    <a:pt x="124" y="34"/>
                  </a:lnTo>
                  <a:lnTo>
                    <a:pt x="147" y="37"/>
                  </a:lnTo>
                  <a:lnTo>
                    <a:pt x="169" y="39"/>
                  </a:lnTo>
                  <a:lnTo>
                    <a:pt x="190" y="40"/>
                  </a:lnTo>
                  <a:lnTo>
                    <a:pt x="204" y="42"/>
                  </a:lnTo>
                  <a:lnTo>
                    <a:pt x="208" y="42"/>
                  </a:lnTo>
                  <a:lnTo>
                    <a:pt x="212" y="39"/>
                  </a:lnTo>
                  <a:lnTo>
                    <a:pt x="221" y="32"/>
                  </a:lnTo>
                  <a:lnTo>
                    <a:pt x="230" y="25"/>
                  </a:lnTo>
                  <a:lnTo>
                    <a:pt x="241" y="20"/>
                  </a:lnTo>
                  <a:lnTo>
                    <a:pt x="249" y="15"/>
                  </a:lnTo>
                  <a:lnTo>
                    <a:pt x="254" y="9"/>
                  </a:lnTo>
                  <a:lnTo>
                    <a:pt x="255" y="6"/>
                  </a:lnTo>
                  <a:lnTo>
                    <a:pt x="257" y="4"/>
                  </a:lnTo>
                  <a:lnTo>
                    <a:pt x="285" y="61"/>
                  </a:lnTo>
                  <a:lnTo>
                    <a:pt x="284" y="65"/>
                  </a:lnTo>
                  <a:close/>
                </a:path>
              </a:pathLst>
            </a:custGeom>
            <a:solidFill>
              <a:srgbClr val="FFB27F"/>
            </a:solidFill>
            <a:ln w="9525">
              <a:noFill/>
              <a:round/>
              <a:headEnd/>
              <a:tailEnd/>
            </a:ln>
          </p:spPr>
          <p:txBody>
            <a:bodyPr/>
            <a:lstStyle/>
            <a:p>
              <a:endParaRPr lang="en-US"/>
            </a:p>
          </p:txBody>
        </p:sp>
        <p:sp>
          <p:nvSpPr>
            <p:cNvPr id="26646" name="Freeform 215"/>
            <p:cNvSpPr>
              <a:spLocks/>
            </p:cNvSpPr>
            <p:nvPr/>
          </p:nvSpPr>
          <p:spPr bwMode="auto">
            <a:xfrm>
              <a:off x="2080" y="3632"/>
              <a:ext cx="38" cy="27"/>
            </a:xfrm>
            <a:custGeom>
              <a:avLst/>
              <a:gdLst>
                <a:gd name="T0" fmla="*/ 1 w 75"/>
                <a:gd name="T1" fmla="*/ 1 h 53"/>
                <a:gd name="T2" fmla="*/ 1 w 75"/>
                <a:gd name="T3" fmla="*/ 1 h 53"/>
                <a:gd name="T4" fmla="*/ 1 w 75"/>
                <a:gd name="T5" fmla="*/ 1 h 53"/>
                <a:gd name="T6" fmla="*/ 1 w 75"/>
                <a:gd name="T7" fmla="*/ 0 h 53"/>
                <a:gd name="T8" fmla="*/ 1 w 75"/>
                <a:gd name="T9" fmla="*/ 1 h 53"/>
                <a:gd name="T10" fmla="*/ 1 w 75"/>
                <a:gd name="T11" fmla="*/ 1 h 53"/>
                <a:gd name="T12" fmla="*/ 1 w 75"/>
                <a:gd name="T13" fmla="*/ 1 h 53"/>
                <a:gd name="T14" fmla="*/ 0 w 75"/>
                <a:gd name="T15" fmla="*/ 1 h 53"/>
                <a:gd name="T16" fmla="*/ 1 w 75"/>
                <a:gd name="T17" fmla="*/ 1 h 53"/>
                <a:gd name="T18" fmla="*/ 1 w 75"/>
                <a:gd name="T19" fmla="*/ 1 h 53"/>
                <a:gd name="T20" fmla="*/ 1 w 75"/>
                <a:gd name="T21" fmla="*/ 1 h 53"/>
                <a:gd name="T22" fmla="*/ 1 w 75"/>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5"/>
                <a:gd name="T37" fmla="*/ 0 h 53"/>
                <a:gd name="T38" fmla="*/ 75 w 75"/>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5" h="53">
                  <a:moveTo>
                    <a:pt x="13" y="53"/>
                  </a:moveTo>
                  <a:lnTo>
                    <a:pt x="16" y="52"/>
                  </a:lnTo>
                  <a:lnTo>
                    <a:pt x="75" y="19"/>
                  </a:lnTo>
                  <a:lnTo>
                    <a:pt x="66" y="0"/>
                  </a:lnTo>
                  <a:lnTo>
                    <a:pt x="6" y="33"/>
                  </a:lnTo>
                  <a:lnTo>
                    <a:pt x="10" y="31"/>
                  </a:lnTo>
                  <a:lnTo>
                    <a:pt x="6" y="33"/>
                  </a:lnTo>
                  <a:lnTo>
                    <a:pt x="0" y="39"/>
                  </a:lnTo>
                  <a:lnTo>
                    <a:pt x="2" y="47"/>
                  </a:lnTo>
                  <a:lnTo>
                    <a:pt x="8" y="52"/>
                  </a:lnTo>
                  <a:lnTo>
                    <a:pt x="16" y="52"/>
                  </a:lnTo>
                  <a:lnTo>
                    <a:pt x="13" y="53"/>
                  </a:lnTo>
                  <a:close/>
                </a:path>
              </a:pathLst>
            </a:custGeom>
            <a:solidFill>
              <a:srgbClr val="000000"/>
            </a:solidFill>
            <a:ln w="9525">
              <a:noFill/>
              <a:round/>
              <a:headEnd/>
              <a:tailEnd/>
            </a:ln>
          </p:spPr>
          <p:txBody>
            <a:bodyPr/>
            <a:lstStyle/>
            <a:p>
              <a:endParaRPr lang="en-US"/>
            </a:p>
          </p:txBody>
        </p:sp>
        <p:sp>
          <p:nvSpPr>
            <p:cNvPr id="26647" name="Freeform 216"/>
            <p:cNvSpPr>
              <a:spLocks/>
            </p:cNvSpPr>
            <p:nvPr/>
          </p:nvSpPr>
          <p:spPr bwMode="auto">
            <a:xfrm>
              <a:off x="2075" y="3648"/>
              <a:ext cx="11" cy="11"/>
            </a:xfrm>
            <a:custGeom>
              <a:avLst/>
              <a:gdLst>
                <a:gd name="T0" fmla="*/ 1 w 22"/>
                <a:gd name="T1" fmla="*/ 0 h 24"/>
                <a:gd name="T2" fmla="*/ 1 w 22"/>
                <a:gd name="T3" fmla="*/ 0 h 24"/>
                <a:gd name="T4" fmla="*/ 1 w 22"/>
                <a:gd name="T5" fmla="*/ 0 h 24"/>
                <a:gd name="T6" fmla="*/ 1 w 22"/>
                <a:gd name="T7" fmla="*/ 0 h 24"/>
                <a:gd name="T8" fmla="*/ 1 w 22"/>
                <a:gd name="T9" fmla="*/ 0 h 24"/>
                <a:gd name="T10" fmla="*/ 1 w 22"/>
                <a:gd name="T11" fmla="*/ 0 h 24"/>
                <a:gd name="T12" fmla="*/ 1 w 22"/>
                <a:gd name="T13" fmla="*/ 0 h 24"/>
                <a:gd name="T14" fmla="*/ 1 w 22"/>
                <a:gd name="T15" fmla="*/ 0 h 24"/>
                <a:gd name="T16" fmla="*/ 0 w 22"/>
                <a:gd name="T17" fmla="*/ 0 h 24"/>
                <a:gd name="T18" fmla="*/ 1 w 22"/>
                <a:gd name="T19" fmla="*/ 0 h 24"/>
                <a:gd name="T20" fmla="*/ 1 w 22"/>
                <a:gd name="T21" fmla="*/ 0 h 24"/>
                <a:gd name="T22" fmla="*/ 1 w 22"/>
                <a:gd name="T23" fmla="*/ 0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
                <a:gd name="T38" fmla="*/ 22 w 22"/>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
                  <a:moveTo>
                    <a:pt x="9" y="24"/>
                  </a:moveTo>
                  <a:lnTo>
                    <a:pt x="12" y="24"/>
                  </a:lnTo>
                  <a:lnTo>
                    <a:pt x="22" y="22"/>
                  </a:lnTo>
                  <a:lnTo>
                    <a:pt x="19" y="0"/>
                  </a:lnTo>
                  <a:lnTo>
                    <a:pt x="9" y="2"/>
                  </a:lnTo>
                  <a:lnTo>
                    <a:pt x="12" y="2"/>
                  </a:lnTo>
                  <a:lnTo>
                    <a:pt x="9" y="2"/>
                  </a:lnTo>
                  <a:lnTo>
                    <a:pt x="1" y="6"/>
                  </a:lnTo>
                  <a:lnTo>
                    <a:pt x="0" y="14"/>
                  </a:lnTo>
                  <a:lnTo>
                    <a:pt x="4" y="21"/>
                  </a:lnTo>
                  <a:lnTo>
                    <a:pt x="12" y="24"/>
                  </a:lnTo>
                  <a:lnTo>
                    <a:pt x="9" y="24"/>
                  </a:lnTo>
                  <a:close/>
                </a:path>
              </a:pathLst>
            </a:custGeom>
            <a:solidFill>
              <a:srgbClr val="000000"/>
            </a:solidFill>
            <a:ln w="9525">
              <a:noFill/>
              <a:round/>
              <a:headEnd/>
              <a:tailEnd/>
            </a:ln>
          </p:spPr>
          <p:txBody>
            <a:bodyPr/>
            <a:lstStyle/>
            <a:p>
              <a:endParaRPr lang="en-US"/>
            </a:p>
          </p:txBody>
        </p:sp>
        <p:sp>
          <p:nvSpPr>
            <p:cNvPr id="26648" name="Freeform 217"/>
            <p:cNvSpPr>
              <a:spLocks/>
            </p:cNvSpPr>
            <p:nvPr/>
          </p:nvSpPr>
          <p:spPr bwMode="auto">
            <a:xfrm>
              <a:off x="1996" y="3630"/>
              <a:ext cx="86" cy="29"/>
            </a:xfrm>
            <a:custGeom>
              <a:avLst/>
              <a:gdLst>
                <a:gd name="T0" fmla="*/ 1 w 172"/>
                <a:gd name="T1" fmla="*/ 0 h 60"/>
                <a:gd name="T2" fmla="*/ 0 w 172"/>
                <a:gd name="T3" fmla="*/ 0 h 60"/>
                <a:gd name="T4" fmla="*/ 1 w 172"/>
                <a:gd name="T5" fmla="*/ 0 h 60"/>
                <a:gd name="T6" fmla="*/ 1 w 172"/>
                <a:gd name="T7" fmla="*/ 0 h 60"/>
                <a:gd name="T8" fmla="*/ 1 w 172"/>
                <a:gd name="T9" fmla="*/ 0 h 60"/>
                <a:gd name="T10" fmla="*/ 1 w 172"/>
                <a:gd name="T11" fmla="*/ 0 h 60"/>
                <a:gd name="T12" fmla="*/ 1 w 172"/>
                <a:gd name="T13" fmla="*/ 0 h 60"/>
                <a:gd name="T14" fmla="*/ 1 w 172"/>
                <a:gd name="T15" fmla="*/ 0 h 60"/>
                <a:gd name="T16" fmla="*/ 1 w 172"/>
                <a:gd name="T17" fmla="*/ 0 h 60"/>
                <a:gd name="T18" fmla="*/ 1 w 172"/>
                <a:gd name="T19" fmla="*/ 0 h 60"/>
                <a:gd name="T20" fmla="*/ 1 w 172"/>
                <a:gd name="T21" fmla="*/ 0 h 60"/>
                <a:gd name="T22" fmla="*/ 1 w 172"/>
                <a:gd name="T23" fmla="*/ 0 h 60"/>
                <a:gd name="T24" fmla="*/ 1 w 172"/>
                <a:gd name="T25" fmla="*/ 0 h 60"/>
                <a:gd name="T26" fmla="*/ 1 w 172"/>
                <a:gd name="T27" fmla="*/ 0 h 60"/>
                <a:gd name="T28" fmla="*/ 1 w 172"/>
                <a:gd name="T29" fmla="*/ 0 h 60"/>
                <a:gd name="T30" fmla="*/ 1 w 172"/>
                <a:gd name="T31" fmla="*/ 0 h 60"/>
                <a:gd name="T32" fmla="*/ 1 w 172"/>
                <a:gd name="T33" fmla="*/ 0 h 60"/>
                <a:gd name="T34" fmla="*/ 1 w 172"/>
                <a:gd name="T35" fmla="*/ 0 h 60"/>
                <a:gd name="T36" fmla="*/ 1 w 172"/>
                <a:gd name="T37" fmla="*/ 0 h 60"/>
                <a:gd name="T38" fmla="*/ 1 w 172"/>
                <a:gd name="T39" fmla="*/ 0 h 60"/>
                <a:gd name="T40" fmla="*/ 1 w 172"/>
                <a:gd name="T41" fmla="*/ 0 h 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2"/>
                <a:gd name="T64" fmla="*/ 0 h 60"/>
                <a:gd name="T65" fmla="*/ 172 w 172"/>
                <a:gd name="T66" fmla="*/ 60 h 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2" h="60">
                  <a:moveTo>
                    <a:pt x="2" y="22"/>
                  </a:moveTo>
                  <a:lnTo>
                    <a:pt x="0" y="22"/>
                  </a:lnTo>
                  <a:lnTo>
                    <a:pt x="14" y="25"/>
                  </a:lnTo>
                  <a:lnTo>
                    <a:pt x="36" y="32"/>
                  </a:lnTo>
                  <a:lnTo>
                    <a:pt x="63" y="38"/>
                  </a:lnTo>
                  <a:lnTo>
                    <a:pt x="94" y="44"/>
                  </a:lnTo>
                  <a:lnTo>
                    <a:pt x="122" y="50"/>
                  </a:lnTo>
                  <a:lnTo>
                    <a:pt x="146" y="55"/>
                  </a:lnTo>
                  <a:lnTo>
                    <a:pt x="163" y="58"/>
                  </a:lnTo>
                  <a:lnTo>
                    <a:pt x="169" y="60"/>
                  </a:lnTo>
                  <a:lnTo>
                    <a:pt x="172" y="38"/>
                  </a:lnTo>
                  <a:lnTo>
                    <a:pt x="166" y="36"/>
                  </a:lnTo>
                  <a:lnTo>
                    <a:pt x="149" y="33"/>
                  </a:lnTo>
                  <a:lnTo>
                    <a:pt x="125" y="28"/>
                  </a:lnTo>
                  <a:lnTo>
                    <a:pt x="97" y="22"/>
                  </a:lnTo>
                  <a:lnTo>
                    <a:pt x="69" y="16"/>
                  </a:lnTo>
                  <a:lnTo>
                    <a:pt x="42" y="10"/>
                  </a:lnTo>
                  <a:lnTo>
                    <a:pt x="20" y="3"/>
                  </a:lnTo>
                  <a:lnTo>
                    <a:pt x="6" y="0"/>
                  </a:lnTo>
                  <a:lnTo>
                    <a:pt x="5" y="0"/>
                  </a:lnTo>
                  <a:lnTo>
                    <a:pt x="2" y="22"/>
                  </a:lnTo>
                  <a:close/>
                </a:path>
              </a:pathLst>
            </a:custGeom>
            <a:solidFill>
              <a:srgbClr val="000000"/>
            </a:solidFill>
            <a:ln w="9525">
              <a:noFill/>
              <a:round/>
              <a:headEnd/>
              <a:tailEnd/>
            </a:ln>
          </p:spPr>
          <p:txBody>
            <a:bodyPr/>
            <a:lstStyle/>
            <a:p>
              <a:endParaRPr lang="en-US"/>
            </a:p>
          </p:txBody>
        </p:sp>
        <p:sp>
          <p:nvSpPr>
            <p:cNvPr id="26649" name="Freeform 218"/>
            <p:cNvSpPr>
              <a:spLocks/>
            </p:cNvSpPr>
            <p:nvPr/>
          </p:nvSpPr>
          <p:spPr bwMode="auto">
            <a:xfrm>
              <a:off x="1979" y="3627"/>
              <a:ext cx="19" cy="14"/>
            </a:xfrm>
            <a:custGeom>
              <a:avLst/>
              <a:gdLst>
                <a:gd name="T0" fmla="*/ 1 w 38"/>
                <a:gd name="T1" fmla="*/ 1 h 26"/>
                <a:gd name="T2" fmla="*/ 1 w 38"/>
                <a:gd name="T3" fmla="*/ 1 h 26"/>
                <a:gd name="T4" fmla="*/ 1 w 38"/>
                <a:gd name="T5" fmla="*/ 1 h 26"/>
                <a:gd name="T6" fmla="*/ 1 w 38"/>
                <a:gd name="T7" fmla="*/ 1 h 26"/>
                <a:gd name="T8" fmla="*/ 1 w 38"/>
                <a:gd name="T9" fmla="*/ 0 h 26"/>
                <a:gd name="T10" fmla="*/ 1 w 38"/>
                <a:gd name="T11" fmla="*/ 0 h 26"/>
                <a:gd name="T12" fmla="*/ 1 w 38"/>
                <a:gd name="T13" fmla="*/ 0 h 26"/>
                <a:gd name="T14" fmla="*/ 1 w 38"/>
                <a:gd name="T15" fmla="*/ 1 h 26"/>
                <a:gd name="T16" fmla="*/ 0 w 38"/>
                <a:gd name="T17" fmla="*/ 1 h 26"/>
                <a:gd name="T18" fmla="*/ 1 w 38"/>
                <a:gd name="T19" fmla="*/ 1 h 26"/>
                <a:gd name="T20" fmla="*/ 1 w 38"/>
                <a:gd name="T21" fmla="*/ 1 h 26"/>
                <a:gd name="T22" fmla="*/ 1 w 38"/>
                <a:gd name="T23" fmla="*/ 1 h 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26"/>
                <a:gd name="T38" fmla="*/ 38 w 38"/>
                <a:gd name="T39" fmla="*/ 26 h 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26">
                  <a:moveTo>
                    <a:pt x="11" y="21"/>
                  </a:moveTo>
                  <a:lnTo>
                    <a:pt x="10" y="21"/>
                  </a:lnTo>
                  <a:lnTo>
                    <a:pt x="35" y="26"/>
                  </a:lnTo>
                  <a:lnTo>
                    <a:pt x="38" y="4"/>
                  </a:lnTo>
                  <a:lnTo>
                    <a:pt x="13" y="0"/>
                  </a:lnTo>
                  <a:lnTo>
                    <a:pt x="11" y="0"/>
                  </a:lnTo>
                  <a:lnTo>
                    <a:pt x="13" y="0"/>
                  </a:lnTo>
                  <a:lnTo>
                    <a:pt x="5" y="3"/>
                  </a:lnTo>
                  <a:lnTo>
                    <a:pt x="0" y="9"/>
                  </a:lnTo>
                  <a:lnTo>
                    <a:pt x="2" y="17"/>
                  </a:lnTo>
                  <a:lnTo>
                    <a:pt x="10" y="21"/>
                  </a:lnTo>
                  <a:lnTo>
                    <a:pt x="11" y="21"/>
                  </a:lnTo>
                  <a:close/>
                </a:path>
              </a:pathLst>
            </a:custGeom>
            <a:solidFill>
              <a:srgbClr val="000000"/>
            </a:solidFill>
            <a:ln w="9525">
              <a:noFill/>
              <a:round/>
              <a:headEnd/>
              <a:tailEnd/>
            </a:ln>
          </p:spPr>
          <p:txBody>
            <a:bodyPr/>
            <a:lstStyle/>
            <a:p>
              <a:endParaRPr lang="en-US"/>
            </a:p>
          </p:txBody>
        </p:sp>
        <p:sp>
          <p:nvSpPr>
            <p:cNvPr id="26650" name="Freeform 219"/>
            <p:cNvSpPr>
              <a:spLocks/>
            </p:cNvSpPr>
            <p:nvPr/>
          </p:nvSpPr>
          <p:spPr bwMode="auto">
            <a:xfrm>
              <a:off x="1978" y="3627"/>
              <a:ext cx="11" cy="11"/>
            </a:xfrm>
            <a:custGeom>
              <a:avLst/>
              <a:gdLst>
                <a:gd name="T0" fmla="*/ 1 w 22"/>
                <a:gd name="T1" fmla="*/ 1 h 21"/>
                <a:gd name="T2" fmla="*/ 1 w 22"/>
                <a:gd name="T3" fmla="*/ 1 h 21"/>
                <a:gd name="T4" fmla="*/ 1 w 22"/>
                <a:gd name="T5" fmla="*/ 1 h 21"/>
                <a:gd name="T6" fmla="*/ 1 w 22"/>
                <a:gd name="T7" fmla="*/ 0 h 21"/>
                <a:gd name="T8" fmla="*/ 1 w 22"/>
                <a:gd name="T9" fmla="*/ 0 h 21"/>
                <a:gd name="T10" fmla="*/ 0 w 22"/>
                <a:gd name="T11" fmla="*/ 1 h 21"/>
                <a:gd name="T12" fmla="*/ 1 w 22"/>
                <a:gd name="T13" fmla="*/ 0 h 21"/>
                <a:gd name="T14" fmla="*/ 1 w 22"/>
                <a:gd name="T15" fmla="*/ 1 h 21"/>
                <a:gd name="T16" fmla="*/ 0 w 22"/>
                <a:gd name="T17" fmla="*/ 1 h 21"/>
                <a:gd name="T18" fmla="*/ 1 w 22"/>
                <a:gd name="T19" fmla="*/ 1 h 21"/>
                <a:gd name="T20" fmla="*/ 1 w 22"/>
                <a:gd name="T21" fmla="*/ 1 h 21"/>
                <a:gd name="T22" fmla="*/ 1 w 22"/>
                <a:gd name="T23" fmla="*/ 1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22" y="7"/>
                  </a:moveTo>
                  <a:lnTo>
                    <a:pt x="11" y="21"/>
                  </a:lnTo>
                  <a:lnTo>
                    <a:pt x="14" y="21"/>
                  </a:lnTo>
                  <a:lnTo>
                    <a:pt x="14" y="0"/>
                  </a:lnTo>
                  <a:lnTo>
                    <a:pt x="11" y="0"/>
                  </a:lnTo>
                  <a:lnTo>
                    <a:pt x="0" y="14"/>
                  </a:lnTo>
                  <a:lnTo>
                    <a:pt x="11" y="0"/>
                  </a:lnTo>
                  <a:lnTo>
                    <a:pt x="3" y="3"/>
                  </a:lnTo>
                  <a:lnTo>
                    <a:pt x="0" y="10"/>
                  </a:lnTo>
                  <a:lnTo>
                    <a:pt x="3" y="18"/>
                  </a:lnTo>
                  <a:lnTo>
                    <a:pt x="11" y="21"/>
                  </a:lnTo>
                  <a:lnTo>
                    <a:pt x="22" y="7"/>
                  </a:lnTo>
                  <a:close/>
                </a:path>
              </a:pathLst>
            </a:custGeom>
            <a:solidFill>
              <a:srgbClr val="000000"/>
            </a:solidFill>
            <a:ln w="9525">
              <a:noFill/>
              <a:round/>
              <a:headEnd/>
              <a:tailEnd/>
            </a:ln>
          </p:spPr>
          <p:txBody>
            <a:bodyPr/>
            <a:lstStyle/>
            <a:p>
              <a:endParaRPr lang="en-US"/>
            </a:p>
          </p:txBody>
        </p:sp>
        <p:sp>
          <p:nvSpPr>
            <p:cNvPr id="26651" name="Freeform 220"/>
            <p:cNvSpPr>
              <a:spLocks/>
            </p:cNvSpPr>
            <p:nvPr/>
          </p:nvSpPr>
          <p:spPr bwMode="auto">
            <a:xfrm>
              <a:off x="1978" y="3630"/>
              <a:ext cx="11" cy="11"/>
            </a:xfrm>
            <a:custGeom>
              <a:avLst/>
              <a:gdLst>
                <a:gd name="T0" fmla="*/ 0 w 24"/>
                <a:gd name="T1" fmla="*/ 1 h 22"/>
                <a:gd name="T2" fmla="*/ 0 w 24"/>
                <a:gd name="T3" fmla="*/ 1 h 22"/>
                <a:gd name="T4" fmla="*/ 0 w 24"/>
                <a:gd name="T5" fmla="*/ 1 h 22"/>
                <a:gd name="T6" fmla="*/ 0 w 24"/>
                <a:gd name="T7" fmla="*/ 1 h 22"/>
                <a:gd name="T8" fmla="*/ 0 w 24"/>
                <a:gd name="T9" fmla="*/ 1 h 22"/>
                <a:gd name="T10" fmla="*/ 0 w 24"/>
                <a:gd name="T11" fmla="*/ 0 h 22"/>
                <a:gd name="T12" fmla="*/ 0 w 24"/>
                <a:gd name="T13" fmla="*/ 1 h 22"/>
                <a:gd name="T14" fmla="*/ 0 w 24"/>
                <a:gd name="T15" fmla="*/ 1 h 22"/>
                <a:gd name="T16" fmla="*/ 0 w 24"/>
                <a:gd name="T17" fmla="*/ 1 h 22"/>
                <a:gd name="T18" fmla="*/ 0 w 24"/>
                <a:gd name="T19" fmla="*/ 1 h 22"/>
                <a:gd name="T20" fmla="*/ 0 w 24"/>
                <a:gd name="T21" fmla="*/ 1 h 22"/>
                <a:gd name="T22" fmla="*/ 0 w 24"/>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2"/>
                <a:gd name="T38" fmla="*/ 24 w 24"/>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2">
                  <a:moveTo>
                    <a:pt x="16" y="22"/>
                  </a:moveTo>
                  <a:lnTo>
                    <a:pt x="24" y="8"/>
                  </a:lnTo>
                  <a:lnTo>
                    <a:pt x="22" y="1"/>
                  </a:lnTo>
                  <a:lnTo>
                    <a:pt x="0" y="8"/>
                  </a:lnTo>
                  <a:lnTo>
                    <a:pt x="2" y="14"/>
                  </a:lnTo>
                  <a:lnTo>
                    <a:pt x="9" y="0"/>
                  </a:lnTo>
                  <a:lnTo>
                    <a:pt x="2" y="14"/>
                  </a:lnTo>
                  <a:lnTo>
                    <a:pt x="6" y="20"/>
                  </a:lnTo>
                  <a:lnTo>
                    <a:pt x="16" y="22"/>
                  </a:lnTo>
                  <a:lnTo>
                    <a:pt x="22" y="17"/>
                  </a:lnTo>
                  <a:lnTo>
                    <a:pt x="24" y="8"/>
                  </a:lnTo>
                  <a:lnTo>
                    <a:pt x="16" y="22"/>
                  </a:lnTo>
                  <a:close/>
                </a:path>
              </a:pathLst>
            </a:custGeom>
            <a:solidFill>
              <a:srgbClr val="000000"/>
            </a:solidFill>
            <a:ln w="9525">
              <a:noFill/>
              <a:round/>
              <a:headEnd/>
              <a:tailEnd/>
            </a:ln>
          </p:spPr>
          <p:txBody>
            <a:bodyPr/>
            <a:lstStyle/>
            <a:p>
              <a:endParaRPr lang="en-US"/>
            </a:p>
          </p:txBody>
        </p:sp>
        <p:sp>
          <p:nvSpPr>
            <p:cNvPr id="26652" name="Freeform 221"/>
            <p:cNvSpPr>
              <a:spLocks/>
            </p:cNvSpPr>
            <p:nvPr/>
          </p:nvSpPr>
          <p:spPr bwMode="auto">
            <a:xfrm>
              <a:off x="1976" y="3630"/>
              <a:ext cx="9" cy="12"/>
            </a:xfrm>
            <a:custGeom>
              <a:avLst/>
              <a:gdLst>
                <a:gd name="T0" fmla="*/ 0 w 19"/>
                <a:gd name="T1" fmla="*/ 1 h 23"/>
                <a:gd name="T2" fmla="*/ 0 w 19"/>
                <a:gd name="T3" fmla="*/ 1 h 23"/>
                <a:gd name="T4" fmla="*/ 0 w 19"/>
                <a:gd name="T5" fmla="*/ 1 h 23"/>
                <a:gd name="T6" fmla="*/ 0 w 19"/>
                <a:gd name="T7" fmla="*/ 0 h 23"/>
                <a:gd name="T8" fmla="*/ 0 w 19"/>
                <a:gd name="T9" fmla="*/ 1 h 23"/>
                <a:gd name="T10" fmla="*/ 0 w 19"/>
                <a:gd name="T11" fmla="*/ 1 h 23"/>
                <a:gd name="T12" fmla="*/ 0 w 19"/>
                <a:gd name="T13" fmla="*/ 1 h 23"/>
                <a:gd name="T14" fmla="*/ 0 w 19"/>
                <a:gd name="T15" fmla="*/ 1 h 23"/>
                <a:gd name="T16" fmla="*/ 0 w 19"/>
                <a:gd name="T17" fmla="*/ 1 h 23"/>
                <a:gd name="T18" fmla="*/ 0 w 19"/>
                <a:gd name="T19" fmla="*/ 1 h 23"/>
                <a:gd name="T20" fmla="*/ 0 w 19"/>
                <a:gd name="T21" fmla="*/ 1 h 23"/>
                <a:gd name="T22" fmla="*/ 0 w 19"/>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3"/>
                <a:gd name="T38" fmla="*/ 19 w 19"/>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3">
                  <a:moveTo>
                    <a:pt x="8" y="23"/>
                  </a:moveTo>
                  <a:lnTo>
                    <a:pt x="14" y="23"/>
                  </a:lnTo>
                  <a:lnTo>
                    <a:pt x="19" y="22"/>
                  </a:lnTo>
                  <a:lnTo>
                    <a:pt x="12" y="0"/>
                  </a:lnTo>
                  <a:lnTo>
                    <a:pt x="8" y="1"/>
                  </a:lnTo>
                  <a:lnTo>
                    <a:pt x="14" y="1"/>
                  </a:lnTo>
                  <a:lnTo>
                    <a:pt x="8" y="1"/>
                  </a:lnTo>
                  <a:lnTo>
                    <a:pt x="2" y="6"/>
                  </a:lnTo>
                  <a:lnTo>
                    <a:pt x="0" y="14"/>
                  </a:lnTo>
                  <a:lnTo>
                    <a:pt x="5" y="22"/>
                  </a:lnTo>
                  <a:lnTo>
                    <a:pt x="14" y="23"/>
                  </a:lnTo>
                  <a:lnTo>
                    <a:pt x="8" y="23"/>
                  </a:lnTo>
                  <a:close/>
                </a:path>
              </a:pathLst>
            </a:custGeom>
            <a:solidFill>
              <a:srgbClr val="000000"/>
            </a:solidFill>
            <a:ln w="9525">
              <a:noFill/>
              <a:round/>
              <a:headEnd/>
              <a:tailEnd/>
            </a:ln>
          </p:spPr>
          <p:txBody>
            <a:bodyPr/>
            <a:lstStyle/>
            <a:p>
              <a:endParaRPr lang="en-US"/>
            </a:p>
          </p:txBody>
        </p:sp>
        <p:sp>
          <p:nvSpPr>
            <p:cNvPr id="26653" name="Freeform 222"/>
            <p:cNvSpPr>
              <a:spLocks/>
            </p:cNvSpPr>
            <p:nvPr/>
          </p:nvSpPr>
          <p:spPr bwMode="auto">
            <a:xfrm>
              <a:off x="1970" y="3630"/>
              <a:ext cx="13" cy="12"/>
            </a:xfrm>
            <a:custGeom>
              <a:avLst/>
              <a:gdLst>
                <a:gd name="T0" fmla="*/ 0 w 27"/>
                <a:gd name="T1" fmla="*/ 0 h 25"/>
                <a:gd name="T2" fmla="*/ 0 w 27"/>
                <a:gd name="T3" fmla="*/ 0 h 25"/>
                <a:gd name="T4" fmla="*/ 0 w 27"/>
                <a:gd name="T5" fmla="*/ 0 h 25"/>
                <a:gd name="T6" fmla="*/ 0 w 27"/>
                <a:gd name="T7" fmla="*/ 0 h 25"/>
                <a:gd name="T8" fmla="*/ 0 w 27"/>
                <a:gd name="T9" fmla="*/ 0 h 25"/>
                <a:gd name="T10" fmla="*/ 0 w 27"/>
                <a:gd name="T11" fmla="*/ 0 h 25"/>
                <a:gd name="T12" fmla="*/ 0 w 27"/>
                <a:gd name="T13" fmla="*/ 0 h 25"/>
                <a:gd name="T14" fmla="*/ 0 w 27"/>
                <a:gd name="T15" fmla="*/ 0 h 25"/>
                <a:gd name="T16" fmla="*/ 0 w 27"/>
                <a:gd name="T17" fmla="*/ 0 h 25"/>
                <a:gd name="T18" fmla="*/ 0 w 27"/>
                <a:gd name="T19" fmla="*/ 0 h 25"/>
                <a:gd name="T20" fmla="*/ 0 w 27"/>
                <a:gd name="T21" fmla="*/ 0 h 25"/>
                <a:gd name="T22" fmla="*/ 0 w 27"/>
                <a:gd name="T23" fmla="*/ 0 h 25"/>
                <a:gd name="T24" fmla="*/ 0 w 27"/>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25"/>
                <a:gd name="T41" fmla="*/ 27 w 27"/>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25">
                  <a:moveTo>
                    <a:pt x="0" y="6"/>
                  </a:moveTo>
                  <a:lnTo>
                    <a:pt x="0" y="5"/>
                  </a:lnTo>
                  <a:lnTo>
                    <a:pt x="7" y="14"/>
                  </a:lnTo>
                  <a:lnTo>
                    <a:pt x="11" y="19"/>
                  </a:lnTo>
                  <a:lnTo>
                    <a:pt x="18" y="24"/>
                  </a:lnTo>
                  <a:lnTo>
                    <a:pt x="21" y="25"/>
                  </a:lnTo>
                  <a:lnTo>
                    <a:pt x="27" y="3"/>
                  </a:lnTo>
                  <a:lnTo>
                    <a:pt x="27" y="5"/>
                  </a:lnTo>
                  <a:lnTo>
                    <a:pt x="24" y="3"/>
                  </a:lnTo>
                  <a:lnTo>
                    <a:pt x="22" y="2"/>
                  </a:lnTo>
                  <a:lnTo>
                    <a:pt x="22" y="0"/>
                  </a:lnTo>
                  <a:lnTo>
                    <a:pt x="0" y="6"/>
                  </a:lnTo>
                  <a:close/>
                </a:path>
              </a:pathLst>
            </a:custGeom>
            <a:solidFill>
              <a:srgbClr val="000000"/>
            </a:solidFill>
            <a:ln w="9525">
              <a:noFill/>
              <a:round/>
              <a:headEnd/>
              <a:tailEnd/>
            </a:ln>
          </p:spPr>
          <p:txBody>
            <a:bodyPr/>
            <a:lstStyle/>
            <a:p>
              <a:endParaRPr lang="en-US"/>
            </a:p>
          </p:txBody>
        </p:sp>
        <p:sp>
          <p:nvSpPr>
            <p:cNvPr id="26654" name="Freeform 223"/>
            <p:cNvSpPr>
              <a:spLocks/>
            </p:cNvSpPr>
            <p:nvPr/>
          </p:nvSpPr>
          <p:spPr bwMode="auto">
            <a:xfrm>
              <a:off x="1968" y="3620"/>
              <a:ext cx="13" cy="13"/>
            </a:xfrm>
            <a:custGeom>
              <a:avLst/>
              <a:gdLst>
                <a:gd name="T0" fmla="*/ 1 w 25"/>
                <a:gd name="T1" fmla="*/ 0 h 25"/>
                <a:gd name="T2" fmla="*/ 1 w 25"/>
                <a:gd name="T3" fmla="*/ 1 h 25"/>
                <a:gd name="T4" fmla="*/ 1 w 25"/>
                <a:gd name="T5" fmla="*/ 1 h 25"/>
                <a:gd name="T6" fmla="*/ 0 w 25"/>
                <a:gd name="T7" fmla="*/ 1 h 25"/>
                <a:gd name="T8" fmla="*/ 1 w 25"/>
                <a:gd name="T9" fmla="*/ 1 h 25"/>
                <a:gd name="T10" fmla="*/ 1 w 25"/>
                <a:gd name="T11" fmla="*/ 1 h 25"/>
                <a:gd name="T12" fmla="*/ 1 w 25"/>
                <a:gd name="T13" fmla="*/ 1 h 25"/>
                <a:gd name="T14" fmla="*/ 1 w 25"/>
                <a:gd name="T15" fmla="*/ 1 h 25"/>
                <a:gd name="T16" fmla="*/ 1 w 25"/>
                <a:gd name="T17" fmla="*/ 1 h 25"/>
                <a:gd name="T18" fmla="*/ 1 w 25"/>
                <a:gd name="T19" fmla="*/ 1 h 25"/>
                <a:gd name="T20" fmla="*/ 1 w 25"/>
                <a:gd name="T21" fmla="*/ 1 h 25"/>
                <a:gd name="T22" fmla="*/ 1 w 25"/>
                <a:gd name="T23" fmla="*/ 1 h 25"/>
                <a:gd name="T24" fmla="*/ 1 w 25"/>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5"/>
                <a:gd name="T41" fmla="*/ 25 w 25"/>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5">
                  <a:moveTo>
                    <a:pt x="10" y="0"/>
                  </a:moveTo>
                  <a:lnTo>
                    <a:pt x="8" y="2"/>
                  </a:lnTo>
                  <a:lnTo>
                    <a:pt x="2" y="8"/>
                  </a:lnTo>
                  <a:lnTo>
                    <a:pt x="0" y="18"/>
                  </a:lnTo>
                  <a:lnTo>
                    <a:pt x="2" y="22"/>
                  </a:lnTo>
                  <a:lnTo>
                    <a:pt x="3" y="25"/>
                  </a:lnTo>
                  <a:lnTo>
                    <a:pt x="25" y="19"/>
                  </a:lnTo>
                  <a:lnTo>
                    <a:pt x="24" y="13"/>
                  </a:lnTo>
                  <a:lnTo>
                    <a:pt x="22" y="11"/>
                  </a:lnTo>
                  <a:lnTo>
                    <a:pt x="21" y="18"/>
                  </a:lnTo>
                  <a:lnTo>
                    <a:pt x="18" y="21"/>
                  </a:lnTo>
                  <a:lnTo>
                    <a:pt x="16" y="22"/>
                  </a:lnTo>
                  <a:lnTo>
                    <a:pt x="10" y="0"/>
                  </a:lnTo>
                  <a:close/>
                </a:path>
              </a:pathLst>
            </a:custGeom>
            <a:solidFill>
              <a:srgbClr val="000000"/>
            </a:solidFill>
            <a:ln w="9525">
              <a:noFill/>
              <a:round/>
              <a:headEnd/>
              <a:tailEnd/>
            </a:ln>
          </p:spPr>
          <p:txBody>
            <a:bodyPr/>
            <a:lstStyle/>
            <a:p>
              <a:endParaRPr lang="en-US"/>
            </a:p>
          </p:txBody>
        </p:sp>
        <p:sp>
          <p:nvSpPr>
            <p:cNvPr id="26655" name="Freeform 224"/>
            <p:cNvSpPr>
              <a:spLocks/>
            </p:cNvSpPr>
            <p:nvPr/>
          </p:nvSpPr>
          <p:spPr bwMode="auto">
            <a:xfrm>
              <a:off x="1970" y="3616"/>
              <a:ext cx="11" cy="15"/>
            </a:xfrm>
            <a:custGeom>
              <a:avLst/>
              <a:gdLst>
                <a:gd name="T0" fmla="*/ 1 w 22"/>
                <a:gd name="T1" fmla="*/ 0 h 31"/>
                <a:gd name="T2" fmla="*/ 1 w 22"/>
                <a:gd name="T3" fmla="*/ 0 h 31"/>
                <a:gd name="T4" fmla="*/ 1 w 22"/>
                <a:gd name="T5" fmla="*/ 0 h 31"/>
                <a:gd name="T6" fmla="*/ 0 w 22"/>
                <a:gd name="T7" fmla="*/ 0 h 31"/>
                <a:gd name="T8" fmla="*/ 1 w 22"/>
                <a:gd name="T9" fmla="*/ 0 h 31"/>
                <a:gd name="T10" fmla="*/ 1 w 22"/>
                <a:gd name="T11" fmla="*/ 0 h 31"/>
                <a:gd name="T12" fmla="*/ 1 w 22"/>
                <a:gd name="T13" fmla="*/ 0 h 31"/>
                <a:gd name="T14" fmla="*/ 1 w 22"/>
                <a:gd name="T15" fmla="*/ 0 h 31"/>
                <a:gd name="T16" fmla="*/ 1 w 22"/>
                <a:gd name="T17" fmla="*/ 0 h 31"/>
                <a:gd name="T18" fmla="*/ 1 w 22"/>
                <a:gd name="T19" fmla="*/ 0 h 31"/>
                <a:gd name="T20" fmla="*/ 1 w 22"/>
                <a:gd name="T21" fmla="*/ 0 h 31"/>
                <a:gd name="T22" fmla="*/ 1 w 22"/>
                <a:gd name="T23" fmla="*/ 0 h 31"/>
                <a:gd name="T24" fmla="*/ 1 w 22"/>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1"/>
                <a:gd name="T41" fmla="*/ 22 w 22"/>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1">
                  <a:moveTo>
                    <a:pt x="9" y="0"/>
                  </a:moveTo>
                  <a:lnTo>
                    <a:pt x="9" y="0"/>
                  </a:lnTo>
                  <a:lnTo>
                    <a:pt x="3" y="5"/>
                  </a:lnTo>
                  <a:lnTo>
                    <a:pt x="0" y="13"/>
                  </a:lnTo>
                  <a:lnTo>
                    <a:pt x="2" y="14"/>
                  </a:lnTo>
                  <a:lnTo>
                    <a:pt x="5" y="9"/>
                  </a:lnTo>
                  <a:lnTo>
                    <a:pt x="11" y="31"/>
                  </a:lnTo>
                  <a:lnTo>
                    <a:pt x="20" y="24"/>
                  </a:lnTo>
                  <a:lnTo>
                    <a:pt x="22" y="16"/>
                  </a:lnTo>
                  <a:lnTo>
                    <a:pt x="22" y="17"/>
                  </a:lnTo>
                  <a:lnTo>
                    <a:pt x="19" y="19"/>
                  </a:lnTo>
                  <a:lnTo>
                    <a:pt x="9" y="0"/>
                  </a:lnTo>
                  <a:close/>
                </a:path>
              </a:pathLst>
            </a:custGeom>
            <a:solidFill>
              <a:srgbClr val="000000"/>
            </a:solidFill>
            <a:ln w="9525">
              <a:noFill/>
              <a:round/>
              <a:headEnd/>
              <a:tailEnd/>
            </a:ln>
          </p:spPr>
          <p:txBody>
            <a:bodyPr/>
            <a:lstStyle/>
            <a:p>
              <a:endParaRPr lang="en-US"/>
            </a:p>
          </p:txBody>
        </p:sp>
        <p:sp>
          <p:nvSpPr>
            <p:cNvPr id="26656" name="Freeform 225"/>
            <p:cNvSpPr>
              <a:spLocks/>
            </p:cNvSpPr>
            <p:nvPr/>
          </p:nvSpPr>
          <p:spPr bwMode="auto">
            <a:xfrm>
              <a:off x="1975" y="3608"/>
              <a:ext cx="11" cy="17"/>
            </a:xfrm>
            <a:custGeom>
              <a:avLst/>
              <a:gdLst>
                <a:gd name="T0" fmla="*/ 1 w 22"/>
                <a:gd name="T1" fmla="*/ 0 h 33"/>
                <a:gd name="T2" fmla="*/ 1 w 22"/>
                <a:gd name="T3" fmla="*/ 0 h 33"/>
                <a:gd name="T4" fmla="*/ 1 w 22"/>
                <a:gd name="T5" fmla="*/ 1 h 33"/>
                <a:gd name="T6" fmla="*/ 1 w 22"/>
                <a:gd name="T7" fmla="*/ 1 h 33"/>
                <a:gd name="T8" fmla="*/ 0 w 22"/>
                <a:gd name="T9" fmla="*/ 1 h 33"/>
                <a:gd name="T10" fmla="*/ 0 w 22"/>
                <a:gd name="T11" fmla="*/ 1 h 33"/>
                <a:gd name="T12" fmla="*/ 1 w 22"/>
                <a:gd name="T13" fmla="*/ 1 h 33"/>
                <a:gd name="T14" fmla="*/ 1 w 22"/>
                <a:gd name="T15" fmla="*/ 1 h 33"/>
                <a:gd name="T16" fmla="*/ 1 w 22"/>
                <a:gd name="T17" fmla="*/ 1 h 33"/>
                <a:gd name="T18" fmla="*/ 1 w 22"/>
                <a:gd name="T19" fmla="*/ 1 h 33"/>
                <a:gd name="T20" fmla="*/ 1 w 22"/>
                <a:gd name="T21" fmla="*/ 1 h 33"/>
                <a:gd name="T22" fmla="*/ 1 w 22"/>
                <a:gd name="T23" fmla="*/ 1 h 33"/>
                <a:gd name="T24" fmla="*/ 1 w 22"/>
                <a:gd name="T25" fmla="*/ 0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3"/>
                <a:gd name="T41" fmla="*/ 22 w 22"/>
                <a:gd name="T42" fmla="*/ 33 h 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3">
                  <a:moveTo>
                    <a:pt x="19" y="0"/>
                  </a:moveTo>
                  <a:lnTo>
                    <a:pt x="16" y="0"/>
                  </a:lnTo>
                  <a:lnTo>
                    <a:pt x="10" y="6"/>
                  </a:lnTo>
                  <a:lnTo>
                    <a:pt x="5" y="9"/>
                  </a:lnTo>
                  <a:lnTo>
                    <a:pt x="0" y="12"/>
                  </a:lnTo>
                  <a:lnTo>
                    <a:pt x="0" y="14"/>
                  </a:lnTo>
                  <a:lnTo>
                    <a:pt x="10" y="33"/>
                  </a:lnTo>
                  <a:lnTo>
                    <a:pt x="16" y="28"/>
                  </a:lnTo>
                  <a:lnTo>
                    <a:pt x="18" y="25"/>
                  </a:lnTo>
                  <a:lnTo>
                    <a:pt x="22" y="22"/>
                  </a:lnTo>
                  <a:lnTo>
                    <a:pt x="19" y="22"/>
                  </a:lnTo>
                  <a:lnTo>
                    <a:pt x="19" y="0"/>
                  </a:lnTo>
                  <a:close/>
                </a:path>
              </a:pathLst>
            </a:custGeom>
            <a:solidFill>
              <a:srgbClr val="000000"/>
            </a:solidFill>
            <a:ln w="9525">
              <a:noFill/>
              <a:round/>
              <a:headEnd/>
              <a:tailEnd/>
            </a:ln>
          </p:spPr>
          <p:txBody>
            <a:bodyPr/>
            <a:lstStyle/>
            <a:p>
              <a:endParaRPr lang="en-US"/>
            </a:p>
          </p:txBody>
        </p:sp>
        <p:sp>
          <p:nvSpPr>
            <p:cNvPr id="26657" name="Freeform 226"/>
            <p:cNvSpPr>
              <a:spLocks/>
            </p:cNvSpPr>
            <p:nvPr/>
          </p:nvSpPr>
          <p:spPr bwMode="auto">
            <a:xfrm>
              <a:off x="1982" y="3602"/>
              <a:ext cx="11" cy="17"/>
            </a:xfrm>
            <a:custGeom>
              <a:avLst/>
              <a:gdLst>
                <a:gd name="T0" fmla="*/ 1 w 22"/>
                <a:gd name="T1" fmla="*/ 0 h 35"/>
                <a:gd name="T2" fmla="*/ 1 w 22"/>
                <a:gd name="T3" fmla="*/ 0 h 35"/>
                <a:gd name="T4" fmla="*/ 1 w 22"/>
                <a:gd name="T5" fmla="*/ 0 h 35"/>
                <a:gd name="T6" fmla="*/ 1 w 22"/>
                <a:gd name="T7" fmla="*/ 0 h 35"/>
                <a:gd name="T8" fmla="*/ 0 w 22"/>
                <a:gd name="T9" fmla="*/ 0 h 35"/>
                <a:gd name="T10" fmla="*/ 1 w 22"/>
                <a:gd name="T11" fmla="*/ 0 h 35"/>
                <a:gd name="T12" fmla="*/ 1 w 22"/>
                <a:gd name="T13" fmla="*/ 0 h 35"/>
                <a:gd name="T14" fmla="*/ 1 w 22"/>
                <a:gd name="T15" fmla="*/ 0 h 35"/>
                <a:gd name="T16" fmla="*/ 1 w 22"/>
                <a:gd name="T17" fmla="*/ 0 h 35"/>
                <a:gd name="T18" fmla="*/ 1 w 22"/>
                <a:gd name="T19" fmla="*/ 0 h 35"/>
                <a:gd name="T20" fmla="*/ 1 w 22"/>
                <a:gd name="T21" fmla="*/ 0 h 35"/>
                <a:gd name="T22" fmla="*/ 1 w 22"/>
                <a:gd name="T23" fmla="*/ 0 h 35"/>
                <a:gd name="T24" fmla="*/ 1 w 22"/>
                <a:gd name="T25" fmla="*/ 0 h 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5"/>
                <a:gd name="T41" fmla="*/ 22 w 22"/>
                <a:gd name="T42" fmla="*/ 35 h 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5">
                  <a:moveTo>
                    <a:pt x="13" y="0"/>
                  </a:moveTo>
                  <a:lnTo>
                    <a:pt x="13" y="0"/>
                  </a:lnTo>
                  <a:lnTo>
                    <a:pt x="4" y="8"/>
                  </a:lnTo>
                  <a:lnTo>
                    <a:pt x="2" y="11"/>
                  </a:lnTo>
                  <a:lnTo>
                    <a:pt x="0" y="15"/>
                  </a:lnTo>
                  <a:lnTo>
                    <a:pt x="5" y="13"/>
                  </a:lnTo>
                  <a:lnTo>
                    <a:pt x="5" y="35"/>
                  </a:lnTo>
                  <a:lnTo>
                    <a:pt x="16" y="30"/>
                  </a:lnTo>
                  <a:lnTo>
                    <a:pt x="21" y="24"/>
                  </a:lnTo>
                  <a:lnTo>
                    <a:pt x="22" y="21"/>
                  </a:lnTo>
                  <a:lnTo>
                    <a:pt x="19" y="22"/>
                  </a:lnTo>
                  <a:lnTo>
                    <a:pt x="13" y="0"/>
                  </a:lnTo>
                  <a:close/>
                </a:path>
              </a:pathLst>
            </a:custGeom>
            <a:solidFill>
              <a:srgbClr val="000000"/>
            </a:solidFill>
            <a:ln w="9525">
              <a:noFill/>
              <a:round/>
              <a:headEnd/>
              <a:tailEnd/>
            </a:ln>
          </p:spPr>
          <p:txBody>
            <a:bodyPr/>
            <a:lstStyle/>
            <a:p>
              <a:endParaRPr lang="en-US"/>
            </a:p>
          </p:txBody>
        </p:sp>
        <p:sp>
          <p:nvSpPr>
            <p:cNvPr id="26658" name="Freeform 227"/>
            <p:cNvSpPr>
              <a:spLocks/>
            </p:cNvSpPr>
            <p:nvPr/>
          </p:nvSpPr>
          <p:spPr bwMode="auto">
            <a:xfrm>
              <a:off x="1989" y="3602"/>
              <a:ext cx="21" cy="17"/>
            </a:xfrm>
            <a:custGeom>
              <a:avLst/>
              <a:gdLst>
                <a:gd name="T0" fmla="*/ 0 w 44"/>
                <a:gd name="T1" fmla="*/ 1 h 33"/>
                <a:gd name="T2" fmla="*/ 0 w 44"/>
                <a:gd name="T3" fmla="*/ 1 h 33"/>
                <a:gd name="T4" fmla="*/ 0 w 44"/>
                <a:gd name="T5" fmla="*/ 1 h 33"/>
                <a:gd name="T6" fmla="*/ 0 w 44"/>
                <a:gd name="T7" fmla="*/ 1 h 33"/>
                <a:gd name="T8" fmla="*/ 0 w 44"/>
                <a:gd name="T9" fmla="*/ 1 h 33"/>
                <a:gd name="T10" fmla="*/ 0 w 44"/>
                <a:gd name="T11" fmla="*/ 0 h 33"/>
                <a:gd name="T12" fmla="*/ 0 w 44"/>
                <a:gd name="T13" fmla="*/ 1 h 33"/>
                <a:gd name="T14" fmla="*/ 0 w 44"/>
                <a:gd name="T15" fmla="*/ 1 h 33"/>
                <a:gd name="T16" fmla="*/ 0 w 44"/>
                <a:gd name="T17" fmla="*/ 1 h 33"/>
                <a:gd name="T18" fmla="*/ 0 w 44"/>
                <a:gd name="T19" fmla="*/ 1 h 33"/>
                <a:gd name="T20" fmla="*/ 0 w 44"/>
                <a:gd name="T21" fmla="*/ 1 h 33"/>
                <a:gd name="T22" fmla="*/ 0 w 44"/>
                <a:gd name="T23" fmla="*/ 1 h 33"/>
                <a:gd name="T24" fmla="*/ 0 w 44"/>
                <a:gd name="T25" fmla="*/ 1 h 33"/>
                <a:gd name="T26" fmla="*/ 0 w 44"/>
                <a:gd name="T27" fmla="*/ 1 h 33"/>
                <a:gd name="T28" fmla="*/ 0 w 44"/>
                <a:gd name="T29" fmla="*/ 1 h 33"/>
                <a:gd name="T30" fmla="*/ 0 w 44"/>
                <a:gd name="T31" fmla="*/ 1 h 33"/>
                <a:gd name="T32" fmla="*/ 0 w 44"/>
                <a:gd name="T33" fmla="*/ 1 h 33"/>
                <a:gd name="T34" fmla="*/ 0 w 44"/>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4"/>
                <a:gd name="T55" fmla="*/ 0 h 33"/>
                <a:gd name="T56" fmla="*/ 44 w 44"/>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4" h="33">
                  <a:moveTo>
                    <a:pt x="25" y="32"/>
                  </a:moveTo>
                  <a:lnTo>
                    <a:pt x="38" y="15"/>
                  </a:lnTo>
                  <a:lnTo>
                    <a:pt x="33" y="13"/>
                  </a:lnTo>
                  <a:lnTo>
                    <a:pt x="25" y="8"/>
                  </a:lnTo>
                  <a:lnTo>
                    <a:pt x="13" y="2"/>
                  </a:lnTo>
                  <a:lnTo>
                    <a:pt x="0" y="0"/>
                  </a:lnTo>
                  <a:lnTo>
                    <a:pt x="6" y="22"/>
                  </a:lnTo>
                  <a:lnTo>
                    <a:pt x="6" y="24"/>
                  </a:lnTo>
                  <a:lnTo>
                    <a:pt x="16" y="27"/>
                  </a:lnTo>
                  <a:lnTo>
                    <a:pt x="23" y="32"/>
                  </a:lnTo>
                  <a:lnTo>
                    <a:pt x="28" y="33"/>
                  </a:lnTo>
                  <a:lnTo>
                    <a:pt x="41" y="16"/>
                  </a:lnTo>
                  <a:lnTo>
                    <a:pt x="28" y="33"/>
                  </a:lnTo>
                  <a:lnTo>
                    <a:pt x="36" y="33"/>
                  </a:lnTo>
                  <a:lnTo>
                    <a:pt x="42" y="29"/>
                  </a:lnTo>
                  <a:lnTo>
                    <a:pt x="44" y="21"/>
                  </a:lnTo>
                  <a:lnTo>
                    <a:pt x="38" y="15"/>
                  </a:lnTo>
                  <a:lnTo>
                    <a:pt x="25" y="32"/>
                  </a:lnTo>
                  <a:close/>
                </a:path>
              </a:pathLst>
            </a:custGeom>
            <a:solidFill>
              <a:srgbClr val="000000"/>
            </a:solidFill>
            <a:ln w="9525">
              <a:noFill/>
              <a:round/>
              <a:headEnd/>
              <a:tailEnd/>
            </a:ln>
          </p:spPr>
          <p:txBody>
            <a:bodyPr/>
            <a:lstStyle/>
            <a:p>
              <a:endParaRPr lang="en-US"/>
            </a:p>
          </p:txBody>
        </p:sp>
        <p:sp>
          <p:nvSpPr>
            <p:cNvPr id="26659" name="Freeform 228"/>
            <p:cNvSpPr>
              <a:spLocks/>
            </p:cNvSpPr>
            <p:nvPr/>
          </p:nvSpPr>
          <p:spPr bwMode="auto">
            <a:xfrm>
              <a:off x="1998" y="3607"/>
              <a:ext cx="11" cy="11"/>
            </a:xfrm>
            <a:custGeom>
              <a:avLst/>
              <a:gdLst>
                <a:gd name="T0" fmla="*/ 0 w 22"/>
                <a:gd name="T1" fmla="*/ 1 h 22"/>
                <a:gd name="T2" fmla="*/ 1 w 22"/>
                <a:gd name="T3" fmla="*/ 1 h 22"/>
                <a:gd name="T4" fmla="*/ 1 w 22"/>
                <a:gd name="T5" fmla="*/ 1 h 22"/>
                <a:gd name="T6" fmla="*/ 1 w 22"/>
                <a:gd name="T7" fmla="*/ 1 h 22"/>
                <a:gd name="T8" fmla="*/ 1 w 22"/>
                <a:gd name="T9" fmla="*/ 1 h 22"/>
                <a:gd name="T10" fmla="*/ 1 w 22"/>
                <a:gd name="T11" fmla="*/ 1 h 22"/>
                <a:gd name="T12" fmla="*/ 1 w 22"/>
                <a:gd name="T13" fmla="*/ 1 h 22"/>
                <a:gd name="T14" fmla="*/ 1 w 22"/>
                <a:gd name="T15" fmla="*/ 0 h 22"/>
                <a:gd name="T16" fmla="*/ 1 w 22"/>
                <a:gd name="T17" fmla="*/ 1 h 22"/>
                <a:gd name="T18" fmla="*/ 0 w 22"/>
                <a:gd name="T19" fmla="*/ 1 h 22"/>
                <a:gd name="T20" fmla="*/ 1 w 22"/>
                <a:gd name="T21" fmla="*/ 1 h 22"/>
                <a:gd name="T22" fmla="*/ 0 w 22"/>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2"/>
                <a:gd name="T38" fmla="*/ 22 w 22"/>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2">
                  <a:moveTo>
                    <a:pt x="0" y="9"/>
                  </a:moveTo>
                  <a:lnTo>
                    <a:pt x="3" y="19"/>
                  </a:lnTo>
                  <a:lnTo>
                    <a:pt x="6" y="22"/>
                  </a:lnTo>
                  <a:lnTo>
                    <a:pt x="22" y="6"/>
                  </a:lnTo>
                  <a:lnTo>
                    <a:pt x="19" y="3"/>
                  </a:lnTo>
                  <a:lnTo>
                    <a:pt x="22" y="12"/>
                  </a:lnTo>
                  <a:lnTo>
                    <a:pt x="19" y="3"/>
                  </a:lnTo>
                  <a:lnTo>
                    <a:pt x="11" y="0"/>
                  </a:lnTo>
                  <a:lnTo>
                    <a:pt x="4" y="3"/>
                  </a:lnTo>
                  <a:lnTo>
                    <a:pt x="0" y="11"/>
                  </a:lnTo>
                  <a:lnTo>
                    <a:pt x="3" y="19"/>
                  </a:lnTo>
                  <a:lnTo>
                    <a:pt x="0" y="9"/>
                  </a:lnTo>
                  <a:close/>
                </a:path>
              </a:pathLst>
            </a:custGeom>
            <a:solidFill>
              <a:srgbClr val="000000"/>
            </a:solidFill>
            <a:ln w="9525">
              <a:noFill/>
              <a:round/>
              <a:headEnd/>
              <a:tailEnd/>
            </a:ln>
          </p:spPr>
          <p:txBody>
            <a:bodyPr/>
            <a:lstStyle/>
            <a:p>
              <a:endParaRPr lang="en-US"/>
            </a:p>
          </p:txBody>
        </p:sp>
        <p:sp>
          <p:nvSpPr>
            <p:cNvPr id="26660" name="Freeform 229"/>
            <p:cNvSpPr>
              <a:spLocks/>
            </p:cNvSpPr>
            <p:nvPr/>
          </p:nvSpPr>
          <p:spPr bwMode="auto">
            <a:xfrm>
              <a:off x="1998" y="3601"/>
              <a:ext cx="12" cy="12"/>
            </a:xfrm>
            <a:custGeom>
              <a:avLst/>
              <a:gdLst>
                <a:gd name="T0" fmla="*/ 1 w 23"/>
                <a:gd name="T1" fmla="*/ 1 h 23"/>
                <a:gd name="T2" fmla="*/ 1 w 23"/>
                <a:gd name="T3" fmla="*/ 1 h 23"/>
                <a:gd name="T4" fmla="*/ 0 w 23"/>
                <a:gd name="T5" fmla="*/ 1 h 23"/>
                <a:gd name="T6" fmla="*/ 1 w 23"/>
                <a:gd name="T7" fmla="*/ 1 h 23"/>
                <a:gd name="T8" fmla="*/ 1 w 23"/>
                <a:gd name="T9" fmla="*/ 1 h 23"/>
                <a:gd name="T10" fmla="*/ 1 w 23"/>
                <a:gd name="T11" fmla="*/ 1 h 23"/>
                <a:gd name="T12" fmla="*/ 1 w 23"/>
                <a:gd name="T13" fmla="*/ 1 h 23"/>
                <a:gd name="T14" fmla="*/ 1 w 23"/>
                <a:gd name="T15" fmla="*/ 1 h 23"/>
                <a:gd name="T16" fmla="*/ 1 w 23"/>
                <a:gd name="T17" fmla="*/ 0 h 23"/>
                <a:gd name="T18" fmla="*/ 1 w 23"/>
                <a:gd name="T19" fmla="*/ 1 h 23"/>
                <a:gd name="T20" fmla="*/ 1 w 23"/>
                <a:gd name="T21" fmla="*/ 1 h 23"/>
                <a:gd name="T22" fmla="*/ 1 w 23"/>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
                <a:gd name="T37" fmla="*/ 0 h 23"/>
                <a:gd name="T38" fmla="*/ 23 w 23"/>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 h="23">
                  <a:moveTo>
                    <a:pt x="3" y="6"/>
                  </a:moveTo>
                  <a:lnTo>
                    <a:pt x="1" y="9"/>
                  </a:lnTo>
                  <a:lnTo>
                    <a:pt x="0" y="20"/>
                  </a:lnTo>
                  <a:lnTo>
                    <a:pt x="22" y="23"/>
                  </a:lnTo>
                  <a:lnTo>
                    <a:pt x="23" y="12"/>
                  </a:lnTo>
                  <a:lnTo>
                    <a:pt x="22" y="16"/>
                  </a:lnTo>
                  <a:lnTo>
                    <a:pt x="23" y="12"/>
                  </a:lnTo>
                  <a:lnTo>
                    <a:pt x="20" y="5"/>
                  </a:lnTo>
                  <a:lnTo>
                    <a:pt x="14" y="0"/>
                  </a:lnTo>
                  <a:lnTo>
                    <a:pt x="6" y="1"/>
                  </a:lnTo>
                  <a:lnTo>
                    <a:pt x="1" y="9"/>
                  </a:lnTo>
                  <a:lnTo>
                    <a:pt x="3" y="6"/>
                  </a:lnTo>
                  <a:close/>
                </a:path>
              </a:pathLst>
            </a:custGeom>
            <a:solidFill>
              <a:srgbClr val="000000"/>
            </a:solidFill>
            <a:ln w="9525">
              <a:noFill/>
              <a:round/>
              <a:headEnd/>
              <a:tailEnd/>
            </a:ln>
          </p:spPr>
          <p:txBody>
            <a:bodyPr/>
            <a:lstStyle/>
            <a:p>
              <a:endParaRPr lang="en-US"/>
            </a:p>
          </p:txBody>
        </p:sp>
        <p:sp>
          <p:nvSpPr>
            <p:cNvPr id="26661" name="Freeform 230"/>
            <p:cNvSpPr>
              <a:spLocks/>
            </p:cNvSpPr>
            <p:nvPr/>
          </p:nvSpPr>
          <p:spPr bwMode="auto">
            <a:xfrm>
              <a:off x="1999" y="3599"/>
              <a:ext cx="12" cy="10"/>
            </a:xfrm>
            <a:custGeom>
              <a:avLst/>
              <a:gdLst>
                <a:gd name="T0" fmla="*/ 1 w 23"/>
                <a:gd name="T1" fmla="*/ 0 h 21"/>
                <a:gd name="T2" fmla="*/ 1 w 23"/>
                <a:gd name="T3" fmla="*/ 0 h 21"/>
                <a:gd name="T4" fmla="*/ 1 w 23"/>
                <a:gd name="T5" fmla="*/ 0 h 21"/>
                <a:gd name="T6" fmla="*/ 1 w 23"/>
                <a:gd name="T7" fmla="*/ 0 h 21"/>
                <a:gd name="T8" fmla="*/ 0 w 23"/>
                <a:gd name="T9" fmla="*/ 0 h 21"/>
                <a:gd name="T10" fmla="*/ 0 w 23"/>
                <a:gd name="T11" fmla="*/ 0 h 21"/>
                <a:gd name="T12" fmla="*/ 1 w 23"/>
                <a:gd name="T13" fmla="*/ 0 h 21"/>
                <a:gd name="T14" fmla="*/ 1 w 23"/>
                <a:gd name="T15" fmla="*/ 0 h 21"/>
                <a:gd name="T16" fmla="*/ 1 w 23"/>
                <a:gd name="T17" fmla="*/ 0 h 21"/>
                <a:gd name="T18" fmla="*/ 1 w 23"/>
                <a:gd name="T19" fmla="*/ 0 h 21"/>
                <a:gd name="T20" fmla="*/ 1 w 23"/>
                <a:gd name="T21" fmla="*/ 0 h 21"/>
                <a:gd name="T22" fmla="*/ 1 w 23"/>
                <a:gd name="T23" fmla="*/ 0 h 21"/>
                <a:gd name="T24" fmla="*/ 1 w 23"/>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1"/>
                <a:gd name="T41" fmla="*/ 23 w 23"/>
                <a:gd name="T42" fmla="*/ 21 h 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1">
                  <a:moveTo>
                    <a:pt x="23" y="2"/>
                  </a:moveTo>
                  <a:lnTo>
                    <a:pt x="20" y="0"/>
                  </a:lnTo>
                  <a:lnTo>
                    <a:pt x="8" y="0"/>
                  </a:lnTo>
                  <a:lnTo>
                    <a:pt x="3" y="5"/>
                  </a:lnTo>
                  <a:lnTo>
                    <a:pt x="0" y="10"/>
                  </a:lnTo>
                  <a:lnTo>
                    <a:pt x="0" y="11"/>
                  </a:lnTo>
                  <a:lnTo>
                    <a:pt x="19" y="21"/>
                  </a:lnTo>
                  <a:lnTo>
                    <a:pt x="19" y="19"/>
                  </a:lnTo>
                  <a:lnTo>
                    <a:pt x="19" y="21"/>
                  </a:lnTo>
                  <a:lnTo>
                    <a:pt x="20" y="19"/>
                  </a:lnTo>
                  <a:lnTo>
                    <a:pt x="11" y="19"/>
                  </a:lnTo>
                  <a:lnTo>
                    <a:pt x="8" y="17"/>
                  </a:lnTo>
                  <a:lnTo>
                    <a:pt x="23" y="2"/>
                  </a:lnTo>
                  <a:close/>
                </a:path>
              </a:pathLst>
            </a:custGeom>
            <a:solidFill>
              <a:srgbClr val="000000"/>
            </a:solidFill>
            <a:ln w="9525">
              <a:noFill/>
              <a:round/>
              <a:headEnd/>
              <a:tailEnd/>
            </a:ln>
          </p:spPr>
          <p:txBody>
            <a:bodyPr/>
            <a:lstStyle/>
            <a:p>
              <a:endParaRPr lang="en-US"/>
            </a:p>
          </p:txBody>
        </p:sp>
        <p:sp>
          <p:nvSpPr>
            <p:cNvPr id="26662" name="Freeform 231"/>
            <p:cNvSpPr>
              <a:spLocks/>
            </p:cNvSpPr>
            <p:nvPr/>
          </p:nvSpPr>
          <p:spPr bwMode="auto">
            <a:xfrm>
              <a:off x="2003" y="3600"/>
              <a:ext cx="11" cy="10"/>
            </a:xfrm>
            <a:custGeom>
              <a:avLst/>
              <a:gdLst>
                <a:gd name="T0" fmla="*/ 0 w 24"/>
                <a:gd name="T1" fmla="*/ 1 h 20"/>
                <a:gd name="T2" fmla="*/ 0 w 24"/>
                <a:gd name="T3" fmla="*/ 1 h 20"/>
                <a:gd name="T4" fmla="*/ 0 w 24"/>
                <a:gd name="T5" fmla="*/ 1 h 20"/>
                <a:gd name="T6" fmla="*/ 0 w 24"/>
                <a:gd name="T7" fmla="*/ 1 h 20"/>
                <a:gd name="T8" fmla="*/ 0 w 24"/>
                <a:gd name="T9" fmla="*/ 1 h 20"/>
                <a:gd name="T10" fmla="*/ 0 w 24"/>
                <a:gd name="T11" fmla="*/ 0 h 20"/>
                <a:gd name="T12" fmla="*/ 0 w 24"/>
                <a:gd name="T13" fmla="*/ 1 h 20"/>
                <a:gd name="T14" fmla="*/ 0 w 24"/>
                <a:gd name="T15" fmla="*/ 1 h 20"/>
                <a:gd name="T16" fmla="*/ 0 w 24"/>
                <a:gd name="T17" fmla="*/ 1 h 20"/>
                <a:gd name="T18" fmla="*/ 0 w 24"/>
                <a:gd name="T19" fmla="*/ 1 h 20"/>
                <a:gd name="T20" fmla="*/ 0 w 24"/>
                <a:gd name="T21" fmla="*/ 1 h 20"/>
                <a:gd name="T22" fmla="*/ 0 w 24"/>
                <a:gd name="T23" fmla="*/ 1 h 20"/>
                <a:gd name="T24" fmla="*/ 0 w 24"/>
                <a:gd name="T25" fmla="*/ 1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0"/>
                <a:gd name="T41" fmla="*/ 24 w 24"/>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0">
                  <a:moveTo>
                    <a:pt x="22" y="17"/>
                  </a:moveTo>
                  <a:lnTo>
                    <a:pt x="22" y="20"/>
                  </a:lnTo>
                  <a:lnTo>
                    <a:pt x="24" y="17"/>
                  </a:lnTo>
                  <a:lnTo>
                    <a:pt x="24" y="9"/>
                  </a:lnTo>
                  <a:lnTo>
                    <a:pt x="21" y="3"/>
                  </a:lnTo>
                  <a:lnTo>
                    <a:pt x="17" y="0"/>
                  </a:lnTo>
                  <a:lnTo>
                    <a:pt x="2" y="15"/>
                  </a:lnTo>
                  <a:lnTo>
                    <a:pt x="2" y="11"/>
                  </a:lnTo>
                  <a:lnTo>
                    <a:pt x="0" y="14"/>
                  </a:lnTo>
                  <a:lnTo>
                    <a:pt x="0" y="17"/>
                  </a:lnTo>
                  <a:lnTo>
                    <a:pt x="22" y="17"/>
                  </a:lnTo>
                  <a:close/>
                </a:path>
              </a:pathLst>
            </a:custGeom>
            <a:solidFill>
              <a:srgbClr val="000000"/>
            </a:solidFill>
            <a:ln w="9525">
              <a:noFill/>
              <a:round/>
              <a:headEnd/>
              <a:tailEnd/>
            </a:ln>
          </p:spPr>
          <p:txBody>
            <a:bodyPr/>
            <a:lstStyle/>
            <a:p>
              <a:endParaRPr lang="en-US"/>
            </a:p>
          </p:txBody>
        </p:sp>
        <p:sp>
          <p:nvSpPr>
            <p:cNvPr id="26663" name="Freeform 232"/>
            <p:cNvSpPr>
              <a:spLocks/>
            </p:cNvSpPr>
            <p:nvPr/>
          </p:nvSpPr>
          <p:spPr bwMode="auto">
            <a:xfrm>
              <a:off x="2003" y="3608"/>
              <a:ext cx="14" cy="15"/>
            </a:xfrm>
            <a:custGeom>
              <a:avLst/>
              <a:gdLst>
                <a:gd name="T0" fmla="*/ 1 w 28"/>
                <a:gd name="T1" fmla="*/ 1 h 30"/>
                <a:gd name="T2" fmla="*/ 1 w 28"/>
                <a:gd name="T3" fmla="*/ 1 h 30"/>
                <a:gd name="T4" fmla="*/ 1 w 28"/>
                <a:gd name="T5" fmla="*/ 1 h 30"/>
                <a:gd name="T6" fmla="*/ 1 w 28"/>
                <a:gd name="T7" fmla="*/ 1 h 30"/>
                <a:gd name="T8" fmla="*/ 1 w 28"/>
                <a:gd name="T9" fmla="*/ 0 h 30"/>
                <a:gd name="T10" fmla="*/ 1 w 28"/>
                <a:gd name="T11" fmla="*/ 0 h 30"/>
                <a:gd name="T12" fmla="*/ 0 w 28"/>
                <a:gd name="T13" fmla="*/ 0 h 30"/>
                <a:gd name="T14" fmla="*/ 1 w 28"/>
                <a:gd name="T15" fmla="*/ 1 h 30"/>
                <a:gd name="T16" fmla="*/ 1 w 28"/>
                <a:gd name="T17" fmla="*/ 1 h 30"/>
                <a:gd name="T18" fmla="*/ 1 w 28"/>
                <a:gd name="T19" fmla="*/ 1 h 30"/>
                <a:gd name="T20" fmla="*/ 1 w 28"/>
                <a:gd name="T21" fmla="*/ 1 h 30"/>
                <a:gd name="T22" fmla="*/ 1 w 28"/>
                <a:gd name="T23" fmla="*/ 1 h 30"/>
                <a:gd name="T24" fmla="*/ 1 w 28"/>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0"/>
                <a:gd name="T41" fmla="*/ 28 w 28"/>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0">
                  <a:moveTo>
                    <a:pt x="28" y="11"/>
                  </a:moveTo>
                  <a:lnTo>
                    <a:pt x="28" y="11"/>
                  </a:lnTo>
                  <a:lnTo>
                    <a:pt x="27" y="11"/>
                  </a:lnTo>
                  <a:lnTo>
                    <a:pt x="25" y="6"/>
                  </a:lnTo>
                  <a:lnTo>
                    <a:pt x="22" y="0"/>
                  </a:lnTo>
                  <a:lnTo>
                    <a:pt x="0" y="0"/>
                  </a:lnTo>
                  <a:lnTo>
                    <a:pt x="3" y="9"/>
                  </a:lnTo>
                  <a:lnTo>
                    <a:pt x="6" y="16"/>
                  </a:lnTo>
                  <a:lnTo>
                    <a:pt x="11" y="23"/>
                  </a:lnTo>
                  <a:lnTo>
                    <a:pt x="19" y="30"/>
                  </a:lnTo>
                  <a:lnTo>
                    <a:pt x="28" y="11"/>
                  </a:lnTo>
                  <a:close/>
                </a:path>
              </a:pathLst>
            </a:custGeom>
            <a:solidFill>
              <a:srgbClr val="000000"/>
            </a:solidFill>
            <a:ln w="9525">
              <a:noFill/>
              <a:round/>
              <a:headEnd/>
              <a:tailEnd/>
            </a:ln>
          </p:spPr>
          <p:txBody>
            <a:bodyPr/>
            <a:lstStyle/>
            <a:p>
              <a:endParaRPr lang="en-US"/>
            </a:p>
          </p:txBody>
        </p:sp>
        <p:sp>
          <p:nvSpPr>
            <p:cNvPr id="26664" name="Freeform 233"/>
            <p:cNvSpPr>
              <a:spLocks/>
            </p:cNvSpPr>
            <p:nvPr/>
          </p:nvSpPr>
          <p:spPr bwMode="auto">
            <a:xfrm>
              <a:off x="2012" y="3614"/>
              <a:ext cx="71" cy="16"/>
            </a:xfrm>
            <a:custGeom>
              <a:avLst/>
              <a:gdLst>
                <a:gd name="T0" fmla="*/ 1 w 142"/>
                <a:gd name="T1" fmla="*/ 0 h 33"/>
                <a:gd name="T2" fmla="*/ 1 w 142"/>
                <a:gd name="T3" fmla="*/ 0 h 33"/>
                <a:gd name="T4" fmla="*/ 1 w 142"/>
                <a:gd name="T5" fmla="*/ 0 h 33"/>
                <a:gd name="T6" fmla="*/ 1 w 142"/>
                <a:gd name="T7" fmla="*/ 0 h 33"/>
                <a:gd name="T8" fmla="*/ 1 w 142"/>
                <a:gd name="T9" fmla="*/ 0 h 33"/>
                <a:gd name="T10" fmla="*/ 1 w 142"/>
                <a:gd name="T11" fmla="*/ 0 h 33"/>
                <a:gd name="T12" fmla="*/ 1 w 142"/>
                <a:gd name="T13" fmla="*/ 0 h 33"/>
                <a:gd name="T14" fmla="*/ 1 w 142"/>
                <a:gd name="T15" fmla="*/ 0 h 33"/>
                <a:gd name="T16" fmla="*/ 1 w 142"/>
                <a:gd name="T17" fmla="*/ 0 h 33"/>
                <a:gd name="T18" fmla="*/ 1 w 142"/>
                <a:gd name="T19" fmla="*/ 0 h 33"/>
                <a:gd name="T20" fmla="*/ 0 w 142"/>
                <a:gd name="T21" fmla="*/ 0 h 33"/>
                <a:gd name="T22" fmla="*/ 1 w 142"/>
                <a:gd name="T23" fmla="*/ 0 h 33"/>
                <a:gd name="T24" fmla="*/ 1 w 142"/>
                <a:gd name="T25" fmla="*/ 0 h 33"/>
                <a:gd name="T26" fmla="*/ 1 w 142"/>
                <a:gd name="T27" fmla="*/ 0 h 33"/>
                <a:gd name="T28" fmla="*/ 1 w 142"/>
                <a:gd name="T29" fmla="*/ 0 h 33"/>
                <a:gd name="T30" fmla="*/ 1 w 142"/>
                <a:gd name="T31" fmla="*/ 0 h 33"/>
                <a:gd name="T32" fmla="*/ 1 w 142"/>
                <a:gd name="T33" fmla="*/ 0 h 33"/>
                <a:gd name="T34" fmla="*/ 1 w 142"/>
                <a:gd name="T35" fmla="*/ 0 h 33"/>
                <a:gd name="T36" fmla="*/ 1 w 142"/>
                <a:gd name="T37" fmla="*/ 0 h 33"/>
                <a:gd name="T38" fmla="*/ 1 w 142"/>
                <a:gd name="T39" fmla="*/ 0 h 33"/>
                <a:gd name="T40" fmla="*/ 1 w 142"/>
                <a:gd name="T41" fmla="*/ 0 h 33"/>
                <a:gd name="T42" fmla="*/ 1 w 142"/>
                <a:gd name="T43" fmla="*/ 0 h 33"/>
                <a:gd name="T44" fmla="*/ 1 w 142"/>
                <a:gd name="T45" fmla="*/ 0 h 33"/>
                <a:gd name="T46" fmla="*/ 1 w 142"/>
                <a:gd name="T47" fmla="*/ 0 h 33"/>
                <a:gd name="T48" fmla="*/ 1 w 142"/>
                <a:gd name="T49" fmla="*/ 0 h 33"/>
                <a:gd name="T50" fmla="*/ 1 w 142"/>
                <a:gd name="T51" fmla="*/ 0 h 3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2"/>
                <a:gd name="T79" fmla="*/ 0 h 33"/>
                <a:gd name="T80" fmla="*/ 142 w 142"/>
                <a:gd name="T81" fmla="*/ 33 h 3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2" h="33">
                  <a:moveTo>
                    <a:pt x="124" y="14"/>
                  </a:moveTo>
                  <a:lnTo>
                    <a:pt x="133" y="11"/>
                  </a:lnTo>
                  <a:lnTo>
                    <a:pt x="128" y="11"/>
                  </a:lnTo>
                  <a:lnTo>
                    <a:pt x="114" y="9"/>
                  </a:lnTo>
                  <a:lnTo>
                    <a:pt x="92" y="8"/>
                  </a:lnTo>
                  <a:lnTo>
                    <a:pt x="72" y="6"/>
                  </a:lnTo>
                  <a:lnTo>
                    <a:pt x="49" y="3"/>
                  </a:lnTo>
                  <a:lnTo>
                    <a:pt x="28" y="1"/>
                  </a:lnTo>
                  <a:lnTo>
                    <a:pt x="14" y="0"/>
                  </a:lnTo>
                  <a:lnTo>
                    <a:pt x="9" y="0"/>
                  </a:lnTo>
                  <a:lnTo>
                    <a:pt x="0" y="19"/>
                  </a:lnTo>
                  <a:lnTo>
                    <a:pt x="11" y="22"/>
                  </a:lnTo>
                  <a:lnTo>
                    <a:pt x="25" y="23"/>
                  </a:lnTo>
                  <a:lnTo>
                    <a:pt x="45" y="25"/>
                  </a:lnTo>
                  <a:lnTo>
                    <a:pt x="69" y="28"/>
                  </a:lnTo>
                  <a:lnTo>
                    <a:pt x="92" y="30"/>
                  </a:lnTo>
                  <a:lnTo>
                    <a:pt x="111" y="31"/>
                  </a:lnTo>
                  <a:lnTo>
                    <a:pt x="125" y="33"/>
                  </a:lnTo>
                  <a:lnTo>
                    <a:pt x="130" y="33"/>
                  </a:lnTo>
                  <a:lnTo>
                    <a:pt x="139" y="30"/>
                  </a:lnTo>
                  <a:lnTo>
                    <a:pt x="130" y="33"/>
                  </a:lnTo>
                  <a:lnTo>
                    <a:pt x="138" y="30"/>
                  </a:lnTo>
                  <a:lnTo>
                    <a:pt x="142" y="23"/>
                  </a:lnTo>
                  <a:lnTo>
                    <a:pt x="141" y="16"/>
                  </a:lnTo>
                  <a:lnTo>
                    <a:pt x="133" y="11"/>
                  </a:lnTo>
                  <a:lnTo>
                    <a:pt x="124" y="14"/>
                  </a:lnTo>
                  <a:close/>
                </a:path>
              </a:pathLst>
            </a:custGeom>
            <a:solidFill>
              <a:srgbClr val="000000"/>
            </a:solidFill>
            <a:ln w="9525">
              <a:noFill/>
              <a:round/>
              <a:headEnd/>
              <a:tailEnd/>
            </a:ln>
          </p:spPr>
          <p:txBody>
            <a:bodyPr/>
            <a:lstStyle/>
            <a:p>
              <a:endParaRPr lang="en-US"/>
            </a:p>
          </p:txBody>
        </p:sp>
        <p:sp>
          <p:nvSpPr>
            <p:cNvPr id="26665" name="Freeform 234"/>
            <p:cNvSpPr>
              <a:spLocks/>
            </p:cNvSpPr>
            <p:nvPr/>
          </p:nvSpPr>
          <p:spPr bwMode="auto">
            <a:xfrm>
              <a:off x="2074" y="3608"/>
              <a:ext cx="23" cy="21"/>
            </a:xfrm>
            <a:custGeom>
              <a:avLst/>
              <a:gdLst>
                <a:gd name="T0" fmla="*/ 1 w 45"/>
                <a:gd name="T1" fmla="*/ 1 h 41"/>
                <a:gd name="T2" fmla="*/ 1 w 45"/>
                <a:gd name="T3" fmla="*/ 0 h 41"/>
                <a:gd name="T4" fmla="*/ 1 w 45"/>
                <a:gd name="T5" fmla="*/ 1 h 41"/>
                <a:gd name="T6" fmla="*/ 1 w 45"/>
                <a:gd name="T7" fmla="*/ 1 h 41"/>
                <a:gd name="T8" fmla="*/ 1 w 45"/>
                <a:gd name="T9" fmla="*/ 1 h 41"/>
                <a:gd name="T10" fmla="*/ 0 w 45"/>
                <a:gd name="T11" fmla="*/ 1 h 41"/>
                <a:gd name="T12" fmla="*/ 1 w 45"/>
                <a:gd name="T13" fmla="*/ 1 h 41"/>
                <a:gd name="T14" fmla="*/ 1 w 45"/>
                <a:gd name="T15" fmla="*/ 1 h 41"/>
                <a:gd name="T16" fmla="*/ 1 w 45"/>
                <a:gd name="T17" fmla="*/ 1 h 41"/>
                <a:gd name="T18" fmla="*/ 1 w 45"/>
                <a:gd name="T19" fmla="*/ 1 h 41"/>
                <a:gd name="T20" fmla="*/ 1 w 45"/>
                <a:gd name="T21" fmla="*/ 1 h 41"/>
                <a:gd name="T22" fmla="*/ 1 w 45"/>
                <a:gd name="T23" fmla="*/ 1 h 41"/>
                <a:gd name="T24" fmla="*/ 1 w 45"/>
                <a:gd name="T25" fmla="*/ 1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41"/>
                <a:gd name="T41" fmla="*/ 45 w 45"/>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41">
                  <a:moveTo>
                    <a:pt x="36" y="2"/>
                  </a:moveTo>
                  <a:lnTo>
                    <a:pt x="37" y="0"/>
                  </a:lnTo>
                  <a:lnTo>
                    <a:pt x="23" y="6"/>
                  </a:lnTo>
                  <a:lnTo>
                    <a:pt x="14" y="14"/>
                  </a:lnTo>
                  <a:lnTo>
                    <a:pt x="4" y="20"/>
                  </a:lnTo>
                  <a:lnTo>
                    <a:pt x="0" y="25"/>
                  </a:lnTo>
                  <a:lnTo>
                    <a:pt x="15" y="41"/>
                  </a:lnTo>
                  <a:lnTo>
                    <a:pt x="17" y="39"/>
                  </a:lnTo>
                  <a:lnTo>
                    <a:pt x="26" y="33"/>
                  </a:lnTo>
                  <a:lnTo>
                    <a:pt x="36" y="25"/>
                  </a:lnTo>
                  <a:lnTo>
                    <a:pt x="44" y="22"/>
                  </a:lnTo>
                  <a:lnTo>
                    <a:pt x="45" y="20"/>
                  </a:lnTo>
                  <a:lnTo>
                    <a:pt x="36" y="2"/>
                  </a:lnTo>
                  <a:close/>
                </a:path>
              </a:pathLst>
            </a:custGeom>
            <a:solidFill>
              <a:srgbClr val="000000"/>
            </a:solidFill>
            <a:ln w="9525">
              <a:noFill/>
              <a:round/>
              <a:headEnd/>
              <a:tailEnd/>
            </a:ln>
          </p:spPr>
          <p:txBody>
            <a:bodyPr/>
            <a:lstStyle/>
            <a:p>
              <a:endParaRPr lang="en-US"/>
            </a:p>
          </p:txBody>
        </p:sp>
        <p:sp>
          <p:nvSpPr>
            <p:cNvPr id="26666" name="Freeform 235"/>
            <p:cNvSpPr>
              <a:spLocks/>
            </p:cNvSpPr>
            <p:nvPr/>
          </p:nvSpPr>
          <p:spPr bwMode="auto">
            <a:xfrm>
              <a:off x="2092" y="3601"/>
              <a:ext cx="15" cy="18"/>
            </a:xfrm>
            <a:custGeom>
              <a:avLst/>
              <a:gdLst>
                <a:gd name="T0" fmla="*/ 1 w 29"/>
                <a:gd name="T1" fmla="*/ 1 h 36"/>
                <a:gd name="T2" fmla="*/ 1 w 29"/>
                <a:gd name="T3" fmla="*/ 1 h 36"/>
                <a:gd name="T4" fmla="*/ 1 w 29"/>
                <a:gd name="T5" fmla="*/ 1 h 36"/>
                <a:gd name="T6" fmla="*/ 1 w 29"/>
                <a:gd name="T7" fmla="*/ 1 h 36"/>
                <a:gd name="T8" fmla="*/ 1 w 29"/>
                <a:gd name="T9" fmla="*/ 1 h 36"/>
                <a:gd name="T10" fmla="*/ 0 w 29"/>
                <a:gd name="T11" fmla="*/ 1 h 36"/>
                <a:gd name="T12" fmla="*/ 1 w 29"/>
                <a:gd name="T13" fmla="*/ 1 h 36"/>
                <a:gd name="T14" fmla="*/ 1 w 29"/>
                <a:gd name="T15" fmla="*/ 1 h 36"/>
                <a:gd name="T16" fmla="*/ 1 w 29"/>
                <a:gd name="T17" fmla="*/ 1 h 36"/>
                <a:gd name="T18" fmla="*/ 1 w 29"/>
                <a:gd name="T19" fmla="*/ 1 h 36"/>
                <a:gd name="T20" fmla="*/ 1 w 29"/>
                <a:gd name="T21" fmla="*/ 1 h 36"/>
                <a:gd name="T22" fmla="*/ 1 w 29"/>
                <a:gd name="T23" fmla="*/ 1 h 36"/>
                <a:gd name="T24" fmla="*/ 1 w 29"/>
                <a:gd name="T25" fmla="*/ 1 h 36"/>
                <a:gd name="T26" fmla="*/ 1 w 29"/>
                <a:gd name="T27" fmla="*/ 1 h 36"/>
                <a:gd name="T28" fmla="*/ 1 w 29"/>
                <a:gd name="T29" fmla="*/ 1 h 36"/>
                <a:gd name="T30" fmla="*/ 1 w 29"/>
                <a:gd name="T31" fmla="*/ 0 h 36"/>
                <a:gd name="T32" fmla="*/ 1 w 29"/>
                <a:gd name="T33" fmla="*/ 1 h 36"/>
                <a:gd name="T34" fmla="*/ 1 w 29"/>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
                <a:gd name="T55" fmla="*/ 0 h 36"/>
                <a:gd name="T56" fmla="*/ 29 w 29"/>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 h="36">
                  <a:moveTo>
                    <a:pt x="29" y="7"/>
                  </a:moveTo>
                  <a:lnTo>
                    <a:pt x="11" y="7"/>
                  </a:lnTo>
                  <a:lnTo>
                    <a:pt x="9" y="7"/>
                  </a:lnTo>
                  <a:lnTo>
                    <a:pt x="8" y="10"/>
                  </a:lnTo>
                  <a:lnTo>
                    <a:pt x="4" y="14"/>
                  </a:lnTo>
                  <a:lnTo>
                    <a:pt x="0" y="18"/>
                  </a:lnTo>
                  <a:lnTo>
                    <a:pt x="9" y="36"/>
                  </a:lnTo>
                  <a:lnTo>
                    <a:pt x="20" y="30"/>
                  </a:lnTo>
                  <a:lnTo>
                    <a:pt x="26" y="22"/>
                  </a:lnTo>
                  <a:lnTo>
                    <a:pt x="28" y="19"/>
                  </a:lnTo>
                  <a:lnTo>
                    <a:pt x="29" y="16"/>
                  </a:lnTo>
                  <a:lnTo>
                    <a:pt x="11" y="16"/>
                  </a:lnTo>
                  <a:lnTo>
                    <a:pt x="29" y="16"/>
                  </a:lnTo>
                  <a:lnTo>
                    <a:pt x="29" y="8"/>
                  </a:lnTo>
                  <a:lnTo>
                    <a:pt x="25" y="2"/>
                  </a:lnTo>
                  <a:lnTo>
                    <a:pt x="17" y="0"/>
                  </a:lnTo>
                  <a:lnTo>
                    <a:pt x="11" y="7"/>
                  </a:lnTo>
                  <a:lnTo>
                    <a:pt x="29" y="7"/>
                  </a:lnTo>
                  <a:close/>
                </a:path>
              </a:pathLst>
            </a:custGeom>
            <a:solidFill>
              <a:srgbClr val="000000"/>
            </a:solidFill>
            <a:ln w="9525">
              <a:noFill/>
              <a:round/>
              <a:headEnd/>
              <a:tailEnd/>
            </a:ln>
          </p:spPr>
          <p:txBody>
            <a:bodyPr/>
            <a:lstStyle/>
            <a:p>
              <a:endParaRPr lang="en-US"/>
            </a:p>
          </p:txBody>
        </p:sp>
        <p:sp>
          <p:nvSpPr>
            <p:cNvPr id="26667" name="Freeform 236"/>
            <p:cNvSpPr>
              <a:spLocks/>
            </p:cNvSpPr>
            <p:nvPr/>
          </p:nvSpPr>
          <p:spPr bwMode="auto">
            <a:xfrm>
              <a:off x="2097" y="3604"/>
              <a:ext cx="24" cy="33"/>
            </a:xfrm>
            <a:custGeom>
              <a:avLst/>
              <a:gdLst>
                <a:gd name="T0" fmla="*/ 1 w 47"/>
                <a:gd name="T1" fmla="*/ 1 h 65"/>
                <a:gd name="T2" fmla="*/ 1 w 47"/>
                <a:gd name="T3" fmla="*/ 1 h 65"/>
                <a:gd name="T4" fmla="*/ 1 w 47"/>
                <a:gd name="T5" fmla="*/ 0 h 65"/>
                <a:gd name="T6" fmla="*/ 0 w 47"/>
                <a:gd name="T7" fmla="*/ 1 h 65"/>
                <a:gd name="T8" fmla="*/ 1 w 47"/>
                <a:gd name="T9" fmla="*/ 1 h 65"/>
                <a:gd name="T10" fmla="*/ 1 w 47"/>
                <a:gd name="T11" fmla="*/ 1 h 65"/>
                <a:gd name="T12" fmla="*/ 0 60000 65536"/>
                <a:gd name="T13" fmla="*/ 0 60000 65536"/>
                <a:gd name="T14" fmla="*/ 0 60000 65536"/>
                <a:gd name="T15" fmla="*/ 0 60000 65536"/>
                <a:gd name="T16" fmla="*/ 0 60000 65536"/>
                <a:gd name="T17" fmla="*/ 0 60000 65536"/>
                <a:gd name="T18" fmla="*/ 0 w 47"/>
                <a:gd name="T19" fmla="*/ 0 h 65"/>
                <a:gd name="T20" fmla="*/ 47 w 4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7" h="65">
                  <a:moveTo>
                    <a:pt x="37" y="61"/>
                  </a:moveTo>
                  <a:lnTo>
                    <a:pt x="47" y="56"/>
                  </a:lnTo>
                  <a:lnTo>
                    <a:pt x="18" y="0"/>
                  </a:lnTo>
                  <a:lnTo>
                    <a:pt x="0" y="9"/>
                  </a:lnTo>
                  <a:lnTo>
                    <a:pt x="28" y="65"/>
                  </a:lnTo>
                  <a:lnTo>
                    <a:pt x="37" y="61"/>
                  </a:lnTo>
                  <a:close/>
                </a:path>
              </a:pathLst>
            </a:custGeom>
            <a:solidFill>
              <a:srgbClr val="000000"/>
            </a:solidFill>
            <a:ln w="9525">
              <a:noFill/>
              <a:round/>
              <a:headEnd/>
              <a:tailEnd/>
            </a:ln>
          </p:spPr>
          <p:txBody>
            <a:bodyPr/>
            <a:lstStyle/>
            <a:p>
              <a:endParaRPr lang="en-US"/>
            </a:p>
          </p:txBody>
        </p:sp>
        <p:sp>
          <p:nvSpPr>
            <p:cNvPr id="26668" name="Freeform 237"/>
            <p:cNvSpPr>
              <a:spLocks/>
            </p:cNvSpPr>
            <p:nvPr/>
          </p:nvSpPr>
          <p:spPr bwMode="auto">
            <a:xfrm>
              <a:off x="2046" y="3834"/>
              <a:ext cx="1" cy="14"/>
            </a:xfrm>
            <a:custGeom>
              <a:avLst/>
              <a:gdLst>
                <a:gd name="T0" fmla="*/ 0 w 1"/>
                <a:gd name="T1" fmla="*/ 1 h 28"/>
                <a:gd name="T2" fmla="*/ 0 w 1"/>
                <a:gd name="T3" fmla="*/ 0 h 28"/>
                <a:gd name="T4" fmla="*/ 0 w 1"/>
                <a:gd name="T5" fmla="*/ 1 h 28"/>
                <a:gd name="T6" fmla="*/ 0 60000 65536"/>
                <a:gd name="T7" fmla="*/ 0 60000 65536"/>
                <a:gd name="T8" fmla="*/ 0 60000 65536"/>
                <a:gd name="T9" fmla="*/ 0 w 1"/>
                <a:gd name="T10" fmla="*/ 0 h 28"/>
                <a:gd name="T11" fmla="*/ 1 w 1"/>
                <a:gd name="T12" fmla="*/ 28 h 28"/>
              </a:gdLst>
              <a:ahLst/>
              <a:cxnLst>
                <a:cxn ang="T6">
                  <a:pos x="T0" y="T1"/>
                </a:cxn>
                <a:cxn ang="T7">
                  <a:pos x="T2" y="T3"/>
                </a:cxn>
                <a:cxn ang="T8">
                  <a:pos x="T4" y="T5"/>
                </a:cxn>
              </a:cxnLst>
              <a:rect l="T9" t="T10" r="T11" b="T12"/>
              <a:pathLst>
                <a:path w="1" h="28">
                  <a:moveTo>
                    <a:pt x="0" y="28"/>
                  </a:moveTo>
                  <a:lnTo>
                    <a:pt x="0" y="0"/>
                  </a:lnTo>
                  <a:lnTo>
                    <a:pt x="0" y="28"/>
                  </a:lnTo>
                  <a:close/>
                </a:path>
              </a:pathLst>
            </a:custGeom>
            <a:solidFill>
              <a:srgbClr val="FF7226"/>
            </a:solidFill>
            <a:ln w="9525">
              <a:noFill/>
              <a:round/>
              <a:headEnd/>
              <a:tailEnd/>
            </a:ln>
          </p:spPr>
          <p:txBody>
            <a:bodyPr/>
            <a:lstStyle/>
            <a:p>
              <a:endParaRPr lang="en-US"/>
            </a:p>
          </p:txBody>
        </p:sp>
        <p:sp>
          <p:nvSpPr>
            <p:cNvPr id="26669" name="Freeform 238"/>
            <p:cNvSpPr>
              <a:spLocks/>
            </p:cNvSpPr>
            <p:nvPr/>
          </p:nvSpPr>
          <p:spPr bwMode="auto">
            <a:xfrm>
              <a:off x="2040" y="3834"/>
              <a:ext cx="11" cy="14"/>
            </a:xfrm>
            <a:custGeom>
              <a:avLst/>
              <a:gdLst>
                <a:gd name="T0" fmla="*/ 1 w 22"/>
                <a:gd name="T1" fmla="*/ 0 h 28"/>
                <a:gd name="T2" fmla="*/ 0 w 22"/>
                <a:gd name="T3" fmla="*/ 0 h 28"/>
                <a:gd name="T4" fmla="*/ 0 w 22"/>
                <a:gd name="T5" fmla="*/ 1 h 28"/>
                <a:gd name="T6" fmla="*/ 1 w 22"/>
                <a:gd name="T7" fmla="*/ 1 h 28"/>
                <a:gd name="T8" fmla="*/ 1 w 22"/>
                <a:gd name="T9" fmla="*/ 0 h 28"/>
                <a:gd name="T10" fmla="*/ 1 w 22"/>
                <a:gd name="T11" fmla="*/ 0 h 28"/>
                <a:gd name="T12" fmla="*/ 0 60000 65536"/>
                <a:gd name="T13" fmla="*/ 0 60000 65536"/>
                <a:gd name="T14" fmla="*/ 0 60000 65536"/>
                <a:gd name="T15" fmla="*/ 0 60000 65536"/>
                <a:gd name="T16" fmla="*/ 0 60000 65536"/>
                <a:gd name="T17" fmla="*/ 0 60000 65536"/>
                <a:gd name="T18" fmla="*/ 0 w 22"/>
                <a:gd name="T19" fmla="*/ 0 h 28"/>
                <a:gd name="T20" fmla="*/ 22 w 22"/>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2" h="28">
                  <a:moveTo>
                    <a:pt x="11" y="0"/>
                  </a:moveTo>
                  <a:lnTo>
                    <a:pt x="0" y="0"/>
                  </a:lnTo>
                  <a:lnTo>
                    <a:pt x="0" y="28"/>
                  </a:lnTo>
                  <a:lnTo>
                    <a:pt x="22" y="28"/>
                  </a:lnTo>
                  <a:lnTo>
                    <a:pt x="22" y="0"/>
                  </a:lnTo>
                  <a:lnTo>
                    <a:pt x="11" y="0"/>
                  </a:lnTo>
                  <a:close/>
                </a:path>
              </a:pathLst>
            </a:custGeom>
            <a:solidFill>
              <a:srgbClr val="000000"/>
            </a:solidFill>
            <a:ln w="9525">
              <a:noFill/>
              <a:round/>
              <a:headEnd/>
              <a:tailEnd/>
            </a:ln>
          </p:spPr>
          <p:txBody>
            <a:bodyPr/>
            <a:lstStyle/>
            <a:p>
              <a:endParaRPr lang="en-US"/>
            </a:p>
          </p:txBody>
        </p:sp>
      </p:grpSp>
      <p:sp>
        <p:nvSpPr>
          <p:cNvPr id="26630" name="Line 239"/>
          <p:cNvSpPr>
            <a:spLocks noChangeShapeType="1"/>
          </p:cNvSpPr>
          <p:nvPr/>
        </p:nvSpPr>
        <p:spPr bwMode="auto">
          <a:xfrm>
            <a:off x="1981200" y="5676900"/>
            <a:ext cx="5562600" cy="0"/>
          </a:xfrm>
          <a:prstGeom prst="line">
            <a:avLst/>
          </a:prstGeom>
          <a:noFill/>
          <a:ln w="12700" cap="sq">
            <a:solidFill>
              <a:schemeClr val="bg1"/>
            </a:solidFill>
            <a:round/>
            <a:headEnd type="none" w="sm" len="sm"/>
            <a:tailEnd type="none" w="sm" len="sm"/>
          </a:ln>
        </p:spPr>
        <p:txBody>
          <a:bodyPr wrap="none"/>
          <a:lstStyle/>
          <a:p>
            <a:endParaRPr lang="en-US"/>
          </a:p>
        </p:txBody>
      </p:sp>
      <p:sp>
        <p:nvSpPr>
          <p:cNvPr id="26631" name="Text Box 240"/>
          <p:cNvSpPr txBox="1">
            <a:spLocks noChangeArrowheads="1"/>
          </p:cNvSpPr>
          <p:nvPr/>
        </p:nvSpPr>
        <p:spPr bwMode="auto">
          <a:xfrm>
            <a:off x="7662863" y="4572000"/>
            <a:ext cx="660400" cy="369888"/>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RAS</a:t>
            </a:r>
          </a:p>
        </p:txBody>
      </p:sp>
      <p:pic>
        <p:nvPicPr>
          <p:cNvPr id="26632" name="Picture 241" descr="C:\My Documents\Ray\NETDRAW4\INTERNET\INTRNET.WMF"/>
          <p:cNvPicPr>
            <a:picLocks noChangeAspect="1" noChangeArrowheads="1"/>
          </p:cNvPicPr>
          <p:nvPr/>
        </p:nvPicPr>
        <p:blipFill>
          <a:blip r:embed="rId4" cstate="print"/>
          <a:srcRect/>
          <a:stretch>
            <a:fillRect/>
          </a:stretch>
        </p:blipFill>
        <p:spPr bwMode="auto">
          <a:xfrm>
            <a:off x="4918075" y="5183188"/>
            <a:ext cx="1600200" cy="985837"/>
          </a:xfrm>
          <a:prstGeom prst="rect">
            <a:avLst/>
          </a:prstGeom>
          <a:noFill/>
          <a:ln w="9525">
            <a:noFill/>
            <a:miter lim="800000"/>
            <a:headEnd/>
            <a:tailEnd/>
          </a:ln>
        </p:spPr>
      </p:pic>
      <p:pic>
        <p:nvPicPr>
          <p:cNvPr id="26633" name="Picture 242" descr="F:\NETDRAW4\ISOMETRC\FILSERVI.WMF"/>
          <p:cNvPicPr>
            <a:picLocks noChangeAspect="1" noChangeArrowheads="1"/>
          </p:cNvPicPr>
          <p:nvPr/>
        </p:nvPicPr>
        <p:blipFill>
          <a:blip r:embed="rId3" cstate="print"/>
          <a:srcRect/>
          <a:stretch>
            <a:fillRect/>
          </a:stretch>
        </p:blipFill>
        <p:spPr bwMode="auto">
          <a:xfrm>
            <a:off x="3055938" y="5045075"/>
            <a:ext cx="727075" cy="1262063"/>
          </a:xfrm>
          <a:prstGeom prst="rect">
            <a:avLst/>
          </a:prstGeom>
          <a:noFill/>
          <a:ln w="9525">
            <a:noFill/>
            <a:miter lim="800000"/>
            <a:headEnd/>
            <a:tailEnd/>
          </a:ln>
        </p:spPr>
      </p:pic>
      <p:sp>
        <p:nvSpPr>
          <p:cNvPr id="26634" name="Text Box 243"/>
          <p:cNvSpPr txBox="1">
            <a:spLocks noChangeArrowheads="1"/>
          </p:cNvSpPr>
          <p:nvPr/>
        </p:nvSpPr>
        <p:spPr bwMode="auto">
          <a:xfrm>
            <a:off x="2641600" y="4206875"/>
            <a:ext cx="1519238" cy="646113"/>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Access</a:t>
            </a:r>
          </a:p>
          <a:p>
            <a:pPr algn="ctr"/>
            <a:r>
              <a:rPr lang="en-US" altLang="en-US">
                <a:solidFill>
                  <a:schemeClr val="bg1"/>
                </a:solidFill>
              </a:rPr>
              <a:t>Concentrator</a:t>
            </a:r>
          </a:p>
        </p:txBody>
      </p:sp>
      <p:sp>
        <p:nvSpPr>
          <p:cNvPr id="26635" name="Rectangle 244"/>
          <p:cNvSpPr>
            <a:spLocks noChangeArrowheads="1"/>
          </p:cNvSpPr>
          <p:nvPr/>
        </p:nvSpPr>
        <p:spPr bwMode="auto">
          <a:xfrm>
            <a:off x="2057400" y="5867400"/>
            <a:ext cx="762000" cy="228600"/>
          </a:xfrm>
          <a:prstGeom prst="rect">
            <a:avLst/>
          </a:prstGeom>
          <a:solidFill>
            <a:schemeClr val="hlink"/>
          </a:solidFill>
          <a:ln w="12700" cap="sq">
            <a:solidFill>
              <a:schemeClr val="tx1"/>
            </a:solidFill>
            <a:miter lim="800000"/>
            <a:headEnd type="none" w="sm" len="sm"/>
            <a:tailEnd type="none" w="sm" len="sm"/>
          </a:ln>
        </p:spPr>
        <p:txBody>
          <a:bodyPr wrap="none" anchor="ctr"/>
          <a:lstStyle/>
          <a:p>
            <a:endParaRPr lang="en-US" altLang="en-US"/>
          </a:p>
        </p:txBody>
      </p:sp>
      <p:sp>
        <p:nvSpPr>
          <p:cNvPr id="26636" name="Text Box 245"/>
          <p:cNvSpPr txBox="1">
            <a:spLocks noChangeArrowheads="1"/>
          </p:cNvSpPr>
          <p:nvPr/>
        </p:nvSpPr>
        <p:spPr bwMode="auto">
          <a:xfrm>
            <a:off x="1997075" y="6213475"/>
            <a:ext cx="890588" cy="369888"/>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Packet</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4114800" y="5791200"/>
            <a:ext cx="1143000" cy="228600"/>
          </a:xfrm>
          <a:prstGeom prst="rect">
            <a:avLst/>
          </a:prstGeom>
          <a:solidFill>
            <a:schemeClr val="accent1"/>
          </a:solidFill>
          <a:ln w="12700" cap="sq">
            <a:solidFill>
              <a:schemeClr val="tx1"/>
            </a:solidFill>
            <a:miter lim="800000"/>
            <a:headEnd type="none" w="sm" len="sm"/>
            <a:tailEnd type="none" w="sm" len="sm"/>
          </a:ln>
        </p:spPr>
        <p:txBody>
          <a:bodyPr wrap="none" anchor="ctr"/>
          <a:lstStyle/>
          <a:p>
            <a:endParaRPr lang="en-US" altLang="en-US"/>
          </a:p>
        </p:txBody>
      </p:sp>
      <p:sp>
        <p:nvSpPr>
          <p:cNvPr id="27651" name="Rectangle 3"/>
          <p:cNvSpPr>
            <a:spLocks noGrp="1" noChangeArrowheads="1"/>
          </p:cNvSpPr>
          <p:nvPr>
            <p:ph type="title"/>
          </p:nvPr>
        </p:nvSpPr>
        <p:spPr/>
        <p:txBody>
          <a:bodyPr/>
          <a:lstStyle/>
          <a:p>
            <a:pPr eaLnBrk="1" hangingPunct="1"/>
            <a:r>
              <a:rPr lang="en-US" smtClean="0"/>
              <a:t>PPTP</a:t>
            </a:r>
          </a:p>
        </p:txBody>
      </p:sp>
      <p:sp>
        <p:nvSpPr>
          <p:cNvPr id="17412" name="Rectangle 4"/>
          <p:cNvSpPr>
            <a:spLocks noGrp="1" noChangeArrowheads="1"/>
          </p:cNvSpPr>
          <p:nvPr>
            <p:ph type="body" idx="1"/>
          </p:nvPr>
        </p:nvSpPr>
        <p:spPr>
          <a:xfrm>
            <a:off x="685800" y="1676400"/>
            <a:ext cx="7772400" cy="4114800"/>
          </a:xfrm>
        </p:spPr>
        <p:txBody>
          <a:bodyPr/>
          <a:lstStyle/>
          <a:p>
            <a:pPr eaLnBrk="1" hangingPunct="1">
              <a:defRPr/>
            </a:pPr>
            <a:r>
              <a:rPr lang="en-US" smtClean="0"/>
              <a:t>PPTP Operation</a:t>
            </a:r>
          </a:p>
          <a:p>
            <a:pPr lvl="1" eaLnBrk="1" hangingPunct="1">
              <a:defRPr/>
            </a:pPr>
            <a:r>
              <a:rPr lang="en-US" smtClean="0"/>
              <a:t>Access concentrator places incoming IP packet within another IP packet</a:t>
            </a:r>
          </a:p>
          <a:p>
            <a:pPr lvl="1" eaLnBrk="1" hangingPunct="1">
              <a:defRPr/>
            </a:pPr>
            <a:r>
              <a:rPr lang="en-US" smtClean="0"/>
              <a:t>Sends packet to the distant </a:t>
            </a:r>
            <a:r>
              <a:rPr lang="en-US" i="1" smtClean="0"/>
              <a:t>RAS</a:t>
            </a:r>
          </a:p>
        </p:txBody>
      </p:sp>
      <p:pic>
        <p:nvPicPr>
          <p:cNvPr id="27653" name="Picture 5" descr="F:\NETDRAW4\ISOMETRC\FILSERVI.WMF"/>
          <p:cNvPicPr>
            <a:picLocks noChangeAspect="1" noChangeArrowheads="1"/>
          </p:cNvPicPr>
          <p:nvPr/>
        </p:nvPicPr>
        <p:blipFill>
          <a:blip r:embed="rId3" cstate="print"/>
          <a:srcRect/>
          <a:stretch>
            <a:fillRect/>
          </a:stretch>
        </p:blipFill>
        <p:spPr bwMode="auto">
          <a:xfrm>
            <a:off x="7654925" y="4573588"/>
            <a:ext cx="727075" cy="1262062"/>
          </a:xfrm>
          <a:prstGeom prst="rect">
            <a:avLst/>
          </a:prstGeom>
          <a:noFill/>
          <a:ln w="9525">
            <a:noFill/>
            <a:miter lim="800000"/>
            <a:headEnd/>
            <a:tailEnd/>
          </a:ln>
        </p:spPr>
      </p:pic>
      <p:grpSp>
        <p:nvGrpSpPr>
          <p:cNvPr id="27654" name="Group 6"/>
          <p:cNvGrpSpPr>
            <a:grpSpLocks/>
          </p:cNvGrpSpPr>
          <p:nvPr/>
        </p:nvGrpSpPr>
        <p:grpSpPr bwMode="auto">
          <a:xfrm flipH="1">
            <a:off x="685800" y="4548188"/>
            <a:ext cx="1235075" cy="1025525"/>
            <a:chOff x="1531" y="3307"/>
            <a:chExt cx="778" cy="646"/>
          </a:xfrm>
        </p:grpSpPr>
        <p:grpSp>
          <p:nvGrpSpPr>
            <p:cNvPr id="27662" name="Group 7"/>
            <p:cNvGrpSpPr>
              <a:grpSpLocks/>
            </p:cNvGrpSpPr>
            <p:nvPr/>
          </p:nvGrpSpPr>
          <p:grpSpPr bwMode="auto">
            <a:xfrm>
              <a:off x="1531" y="3307"/>
              <a:ext cx="778" cy="646"/>
              <a:chOff x="1531" y="3307"/>
              <a:chExt cx="778" cy="646"/>
            </a:xfrm>
          </p:grpSpPr>
          <p:sp>
            <p:nvSpPr>
              <p:cNvPr id="27695" name="Freeform 8"/>
              <p:cNvSpPr>
                <a:spLocks/>
              </p:cNvSpPr>
              <p:nvPr/>
            </p:nvSpPr>
            <p:spPr bwMode="auto">
              <a:xfrm>
                <a:off x="1954" y="3823"/>
                <a:ext cx="117" cy="42"/>
              </a:xfrm>
              <a:custGeom>
                <a:avLst/>
                <a:gdLst>
                  <a:gd name="T0" fmla="*/ 0 w 235"/>
                  <a:gd name="T1" fmla="*/ 0 h 84"/>
                  <a:gd name="T2" fmla="*/ 0 w 235"/>
                  <a:gd name="T3" fmla="*/ 1 h 84"/>
                  <a:gd name="T4" fmla="*/ 0 w 235"/>
                  <a:gd name="T5" fmla="*/ 1 h 84"/>
                  <a:gd name="T6" fmla="*/ 0 w 235"/>
                  <a:gd name="T7" fmla="*/ 1 h 84"/>
                  <a:gd name="T8" fmla="*/ 0 w 235"/>
                  <a:gd name="T9" fmla="*/ 1 h 84"/>
                  <a:gd name="T10" fmla="*/ 0 w 235"/>
                  <a:gd name="T11" fmla="*/ 1 h 84"/>
                  <a:gd name="T12" fmla="*/ 0 w 235"/>
                  <a:gd name="T13" fmla="*/ 1 h 84"/>
                  <a:gd name="T14" fmla="*/ 0 w 235"/>
                  <a:gd name="T15" fmla="*/ 1 h 84"/>
                  <a:gd name="T16" fmla="*/ 0 w 235"/>
                  <a:gd name="T17" fmla="*/ 1 h 84"/>
                  <a:gd name="T18" fmla="*/ 0 w 235"/>
                  <a:gd name="T19" fmla="*/ 1 h 84"/>
                  <a:gd name="T20" fmla="*/ 0 w 235"/>
                  <a:gd name="T21" fmla="*/ 1 h 84"/>
                  <a:gd name="T22" fmla="*/ 0 w 235"/>
                  <a:gd name="T23" fmla="*/ 1 h 84"/>
                  <a:gd name="T24" fmla="*/ 0 w 235"/>
                  <a:gd name="T25" fmla="*/ 1 h 84"/>
                  <a:gd name="T26" fmla="*/ 0 w 235"/>
                  <a:gd name="T27" fmla="*/ 1 h 84"/>
                  <a:gd name="T28" fmla="*/ 0 w 235"/>
                  <a:gd name="T29" fmla="*/ 1 h 84"/>
                  <a:gd name="T30" fmla="*/ 0 w 235"/>
                  <a:gd name="T31" fmla="*/ 1 h 84"/>
                  <a:gd name="T32" fmla="*/ 0 w 235"/>
                  <a:gd name="T33" fmla="*/ 1 h 84"/>
                  <a:gd name="T34" fmla="*/ 0 w 235"/>
                  <a:gd name="T35" fmla="*/ 1 h 84"/>
                  <a:gd name="T36" fmla="*/ 0 w 235"/>
                  <a:gd name="T37" fmla="*/ 1 h 84"/>
                  <a:gd name="T38" fmla="*/ 0 w 235"/>
                  <a:gd name="T39" fmla="*/ 1 h 84"/>
                  <a:gd name="T40" fmla="*/ 0 w 235"/>
                  <a:gd name="T41" fmla="*/ 1 h 84"/>
                  <a:gd name="T42" fmla="*/ 0 w 235"/>
                  <a:gd name="T43" fmla="*/ 1 h 84"/>
                  <a:gd name="T44" fmla="*/ 0 w 235"/>
                  <a:gd name="T45" fmla="*/ 1 h 84"/>
                  <a:gd name="T46" fmla="*/ 0 w 235"/>
                  <a:gd name="T47" fmla="*/ 1 h 84"/>
                  <a:gd name="T48" fmla="*/ 0 w 235"/>
                  <a:gd name="T49" fmla="*/ 1 h 84"/>
                  <a:gd name="T50" fmla="*/ 0 w 235"/>
                  <a:gd name="T51" fmla="*/ 1 h 84"/>
                  <a:gd name="T52" fmla="*/ 0 w 235"/>
                  <a:gd name="T53" fmla="*/ 1 h 84"/>
                  <a:gd name="T54" fmla="*/ 0 w 235"/>
                  <a:gd name="T55" fmla="*/ 1 h 84"/>
                  <a:gd name="T56" fmla="*/ 0 w 235"/>
                  <a:gd name="T57" fmla="*/ 1 h 84"/>
                  <a:gd name="T58" fmla="*/ 0 w 235"/>
                  <a:gd name="T59" fmla="*/ 1 h 84"/>
                  <a:gd name="T60" fmla="*/ 0 w 235"/>
                  <a:gd name="T61" fmla="*/ 1 h 84"/>
                  <a:gd name="T62" fmla="*/ 0 w 235"/>
                  <a:gd name="T63" fmla="*/ 1 h 84"/>
                  <a:gd name="T64" fmla="*/ 0 w 235"/>
                  <a:gd name="T65" fmla="*/ 1 h 84"/>
                  <a:gd name="T66" fmla="*/ 0 w 235"/>
                  <a:gd name="T67" fmla="*/ 1 h 84"/>
                  <a:gd name="T68" fmla="*/ 0 w 235"/>
                  <a:gd name="T69" fmla="*/ 1 h 84"/>
                  <a:gd name="T70" fmla="*/ 0 w 235"/>
                  <a:gd name="T71" fmla="*/ 1 h 84"/>
                  <a:gd name="T72" fmla="*/ 0 w 235"/>
                  <a:gd name="T73" fmla="*/ 1 h 84"/>
                  <a:gd name="T74" fmla="*/ 0 w 235"/>
                  <a:gd name="T75" fmla="*/ 0 h 84"/>
                  <a:gd name="T76" fmla="*/ 0 w 235"/>
                  <a:gd name="T77" fmla="*/ 0 h 84"/>
                  <a:gd name="T78" fmla="*/ 0 w 235"/>
                  <a:gd name="T79" fmla="*/ 0 h 84"/>
                  <a:gd name="T80" fmla="*/ 0 w 235"/>
                  <a:gd name="T81" fmla="*/ 0 h 84"/>
                  <a:gd name="T82" fmla="*/ 0 w 235"/>
                  <a:gd name="T83" fmla="*/ 0 h 84"/>
                  <a:gd name="T84" fmla="*/ 0 w 235"/>
                  <a:gd name="T85" fmla="*/ 0 h 84"/>
                  <a:gd name="T86" fmla="*/ 0 w 235"/>
                  <a:gd name="T87" fmla="*/ 0 h 84"/>
                  <a:gd name="T88" fmla="*/ 0 w 235"/>
                  <a:gd name="T89" fmla="*/ 0 h 84"/>
                  <a:gd name="T90" fmla="*/ 0 w 235"/>
                  <a:gd name="T91" fmla="*/ 0 h 84"/>
                  <a:gd name="T92" fmla="*/ 0 w 235"/>
                  <a:gd name="T93" fmla="*/ 0 h 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35"/>
                  <a:gd name="T142" fmla="*/ 0 h 84"/>
                  <a:gd name="T143" fmla="*/ 235 w 235"/>
                  <a:gd name="T144" fmla="*/ 84 h 8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35" h="84">
                    <a:moveTo>
                      <a:pt x="235" y="0"/>
                    </a:moveTo>
                    <a:lnTo>
                      <a:pt x="233" y="39"/>
                    </a:lnTo>
                    <a:lnTo>
                      <a:pt x="233" y="40"/>
                    </a:lnTo>
                    <a:lnTo>
                      <a:pt x="230" y="47"/>
                    </a:lnTo>
                    <a:lnTo>
                      <a:pt x="224" y="51"/>
                    </a:lnTo>
                    <a:lnTo>
                      <a:pt x="213" y="54"/>
                    </a:lnTo>
                    <a:lnTo>
                      <a:pt x="201" y="54"/>
                    </a:lnTo>
                    <a:lnTo>
                      <a:pt x="193" y="54"/>
                    </a:lnTo>
                    <a:lnTo>
                      <a:pt x="186" y="53"/>
                    </a:lnTo>
                    <a:lnTo>
                      <a:pt x="185" y="53"/>
                    </a:lnTo>
                    <a:lnTo>
                      <a:pt x="182" y="75"/>
                    </a:lnTo>
                    <a:lnTo>
                      <a:pt x="180" y="76"/>
                    </a:lnTo>
                    <a:lnTo>
                      <a:pt x="174" y="79"/>
                    </a:lnTo>
                    <a:lnTo>
                      <a:pt x="161" y="83"/>
                    </a:lnTo>
                    <a:lnTo>
                      <a:pt x="143" y="84"/>
                    </a:lnTo>
                    <a:lnTo>
                      <a:pt x="122" y="83"/>
                    </a:lnTo>
                    <a:lnTo>
                      <a:pt x="108" y="78"/>
                    </a:lnTo>
                    <a:lnTo>
                      <a:pt x="100" y="75"/>
                    </a:lnTo>
                    <a:lnTo>
                      <a:pt x="99" y="73"/>
                    </a:lnTo>
                    <a:lnTo>
                      <a:pt x="96" y="73"/>
                    </a:lnTo>
                    <a:lnTo>
                      <a:pt x="86" y="72"/>
                    </a:lnTo>
                    <a:lnTo>
                      <a:pt x="72" y="70"/>
                    </a:lnTo>
                    <a:lnTo>
                      <a:pt x="56" y="67"/>
                    </a:lnTo>
                    <a:lnTo>
                      <a:pt x="39" y="62"/>
                    </a:lnTo>
                    <a:lnTo>
                      <a:pt x="24" y="56"/>
                    </a:lnTo>
                    <a:lnTo>
                      <a:pt x="13" y="47"/>
                    </a:lnTo>
                    <a:lnTo>
                      <a:pt x="5" y="36"/>
                    </a:lnTo>
                    <a:lnTo>
                      <a:pt x="0" y="20"/>
                    </a:lnTo>
                    <a:lnTo>
                      <a:pt x="2" y="15"/>
                    </a:lnTo>
                    <a:lnTo>
                      <a:pt x="6" y="18"/>
                    </a:lnTo>
                    <a:lnTo>
                      <a:pt x="8" y="20"/>
                    </a:lnTo>
                    <a:lnTo>
                      <a:pt x="10" y="18"/>
                    </a:lnTo>
                    <a:lnTo>
                      <a:pt x="14" y="17"/>
                    </a:lnTo>
                    <a:lnTo>
                      <a:pt x="22" y="14"/>
                    </a:lnTo>
                    <a:lnTo>
                      <a:pt x="31" y="9"/>
                    </a:lnTo>
                    <a:lnTo>
                      <a:pt x="44" y="6"/>
                    </a:lnTo>
                    <a:lnTo>
                      <a:pt x="58" y="3"/>
                    </a:lnTo>
                    <a:lnTo>
                      <a:pt x="75" y="0"/>
                    </a:lnTo>
                    <a:lnTo>
                      <a:pt x="92" y="0"/>
                    </a:lnTo>
                    <a:lnTo>
                      <a:pt x="113" y="0"/>
                    </a:lnTo>
                    <a:lnTo>
                      <a:pt x="136" y="0"/>
                    </a:lnTo>
                    <a:lnTo>
                      <a:pt x="160" y="0"/>
                    </a:lnTo>
                    <a:lnTo>
                      <a:pt x="183" y="0"/>
                    </a:lnTo>
                    <a:lnTo>
                      <a:pt x="204" y="0"/>
                    </a:lnTo>
                    <a:lnTo>
                      <a:pt x="219" y="0"/>
                    </a:lnTo>
                    <a:lnTo>
                      <a:pt x="230" y="0"/>
                    </a:lnTo>
                    <a:lnTo>
                      <a:pt x="235" y="0"/>
                    </a:lnTo>
                    <a:close/>
                  </a:path>
                </a:pathLst>
              </a:custGeom>
              <a:solidFill>
                <a:srgbClr val="7F2600"/>
              </a:solidFill>
              <a:ln w="9525">
                <a:noFill/>
                <a:round/>
                <a:headEnd/>
                <a:tailEnd/>
              </a:ln>
            </p:spPr>
            <p:txBody>
              <a:bodyPr/>
              <a:lstStyle/>
              <a:p>
                <a:endParaRPr lang="en-US"/>
              </a:p>
            </p:txBody>
          </p:sp>
          <p:sp>
            <p:nvSpPr>
              <p:cNvPr id="27696" name="Freeform 9"/>
              <p:cNvSpPr>
                <a:spLocks/>
              </p:cNvSpPr>
              <p:nvPr/>
            </p:nvSpPr>
            <p:spPr bwMode="auto">
              <a:xfrm>
                <a:off x="2065" y="3823"/>
                <a:ext cx="12" cy="25"/>
              </a:xfrm>
              <a:custGeom>
                <a:avLst/>
                <a:gdLst>
                  <a:gd name="T0" fmla="*/ 1 w 24"/>
                  <a:gd name="T1" fmla="*/ 1 h 50"/>
                  <a:gd name="T2" fmla="*/ 1 w 24"/>
                  <a:gd name="T3" fmla="*/ 1 h 50"/>
                  <a:gd name="T4" fmla="*/ 1 w 24"/>
                  <a:gd name="T5" fmla="*/ 0 h 50"/>
                  <a:gd name="T6" fmla="*/ 1 w 24"/>
                  <a:gd name="T7" fmla="*/ 0 h 50"/>
                  <a:gd name="T8" fmla="*/ 0 w 24"/>
                  <a:gd name="T9" fmla="*/ 1 h 50"/>
                  <a:gd name="T10" fmla="*/ 0 w 24"/>
                  <a:gd name="T11" fmla="*/ 1 h 50"/>
                  <a:gd name="T12" fmla="*/ 0 w 24"/>
                  <a:gd name="T13" fmla="*/ 1 h 50"/>
                  <a:gd name="T14" fmla="*/ 1 w 24"/>
                  <a:gd name="T15" fmla="*/ 1 h 50"/>
                  <a:gd name="T16" fmla="*/ 1 w 24"/>
                  <a:gd name="T17" fmla="*/ 1 h 50"/>
                  <a:gd name="T18" fmla="*/ 1 w 24"/>
                  <a:gd name="T19" fmla="*/ 1 h 50"/>
                  <a:gd name="T20" fmla="*/ 1 w 24"/>
                  <a:gd name="T21" fmla="*/ 1 h 50"/>
                  <a:gd name="T22" fmla="*/ 1 w 24"/>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50"/>
                  <a:gd name="T38" fmla="*/ 24 w 24"/>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50">
                    <a:moveTo>
                      <a:pt x="22" y="40"/>
                    </a:moveTo>
                    <a:lnTo>
                      <a:pt x="22" y="39"/>
                    </a:lnTo>
                    <a:lnTo>
                      <a:pt x="24" y="0"/>
                    </a:lnTo>
                    <a:lnTo>
                      <a:pt x="2" y="0"/>
                    </a:lnTo>
                    <a:lnTo>
                      <a:pt x="0" y="39"/>
                    </a:lnTo>
                    <a:lnTo>
                      <a:pt x="0" y="37"/>
                    </a:lnTo>
                    <a:lnTo>
                      <a:pt x="0" y="39"/>
                    </a:lnTo>
                    <a:lnTo>
                      <a:pt x="4" y="47"/>
                    </a:lnTo>
                    <a:lnTo>
                      <a:pt x="11" y="50"/>
                    </a:lnTo>
                    <a:lnTo>
                      <a:pt x="19" y="47"/>
                    </a:lnTo>
                    <a:lnTo>
                      <a:pt x="22" y="39"/>
                    </a:lnTo>
                    <a:lnTo>
                      <a:pt x="22" y="40"/>
                    </a:lnTo>
                    <a:close/>
                  </a:path>
                </a:pathLst>
              </a:custGeom>
              <a:solidFill>
                <a:srgbClr val="000000"/>
              </a:solidFill>
              <a:ln w="9525">
                <a:noFill/>
                <a:round/>
                <a:headEnd/>
                <a:tailEnd/>
              </a:ln>
            </p:spPr>
            <p:txBody>
              <a:bodyPr/>
              <a:lstStyle/>
              <a:p>
                <a:endParaRPr lang="en-US"/>
              </a:p>
            </p:txBody>
          </p:sp>
          <p:sp>
            <p:nvSpPr>
              <p:cNvPr id="27697" name="Freeform 10"/>
              <p:cNvSpPr>
                <a:spLocks/>
              </p:cNvSpPr>
              <p:nvPr/>
            </p:nvSpPr>
            <p:spPr bwMode="auto">
              <a:xfrm>
                <a:off x="2060" y="3841"/>
                <a:ext cx="16" cy="15"/>
              </a:xfrm>
              <a:custGeom>
                <a:avLst/>
                <a:gdLst>
                  <a:gd name="T0" fmla="*/ 0 w 33"/>
                  <a:gd name="T1" fmla="*/ 1 h 29"/>
                  <a:gd name="T2" fmla="*/ 0 w 33"/>
                  <a:gd name="T3" fmla="*/ 1 h 29"/>
                  <a:gd name="T4" fmla="*/ 0 w 33"/>
                  <a:gd name="T5" fmla="*/ 1 h 29"/>
                  <a:gd name="T6" fmla="*/ 0 w 33"/>
                  <a:gd name="T7" fmla="*/ 1 h 29"/>
                  <a:gd name="T8" fmla="*/ 0 w 33"/>
                  <a:gd name="T9" fmla="*/ 1 h 29"/>
                  <a:gd name="T10" fmla="*/ 0 w 33"/>
                  <a:gd name="T11" fmla="*/ 1 h 29"/>
                  <a:gd name="T12" fmla="*/ 0 w 33"/>
                  <a:gd name="T13" fmla="*/ 1 h 29"/>
                  <a:gd name="T14" fmla="*/ 0 w 33"/>
                  <a:gd name="T15" fmla="*/ 0 h 29"/>
                  <a:gd name="T16" fmla="*/ 0 w 33"/>
                  <a:gd name="T17" fmla="*/ 1 h 29"/>
                  <a:gd name="T18" fmla="*/ 0 w 33"/>
                  <a:gd name="T19" fmla="*/ 1 h 29"/>
                  <a:gd name="T20" fmla="*/ 0 w 33"/>
                  <a:gd name="T21" fmla="*/ 1 h 29"/>
                  <a:gd name="T22" fmla="*/ 0 w 33"/>
                  <a:gd name="T23" fmla="*/ 1 h 29"/>
                  <a:gd name="T24" fmla="*/ 0 w 33"/>
                  <a:gd name="T25" fmla="*/ 1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29"/>
                  <a:gd name="T41" fmla="*/ 33 w 33"/>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29">
                    <a:moveTo>
                      <a:pt x="4" y="29"/>
                    </a:moveTo>
                    <a:lnTo>
                      <a:pt x="4" y="29"/>
                    </a:lnTo>
                    <a:lnTo>
                      <a:pt x="18" y="25"/>
                    </a:lnTo>
                    <a:lnTo>
                      <a:pt x="27" y="18"/>
                    </a:lnTo>
                    <a:lnTo>
                      <a:pt x="33" y="9"/>
                    </a:lnTo>
                    <a:lnTo>
                      <a:pt x="33" y="4"/>
                    </a:lnTo>
                    <a:lnTo>
                      <a:pt x="11" y="1"/>
                    </a:lnTo>
                    <a:lnTo>
                      <a:pt x="11" y="0"/>
                    </a:lnTo>
                    <a:lnTo>
                      <a:pt x="11" y="3"/>
                    </a:lnTo>
                    <a:lnTo>
                      <a:pt x="8" y="6"/>
                    </a:lnTo>
                    <a:lnTo>
                      <a:pt x="0" y="7"/>
                    </a:lnTo>
                    <a:lnTo>
                      <a:pt x="4" y="29"/>
                    </a:lnTo>
                    <a:close/>
                  </a:path>
                </a:pathLst>
              </a:custGeom>
              <a:solidFill>
                <a:srgbClr val="000000"/>
              </a:solidFill>
              <a:ln w="9525">
                <a:noFill/>
                <a:round/>
                <a:headEnd/>
                <a:tailEnd/>
              </a:ln>
            </p:spPr>
            <p:txBody>
              <a:bodyPr/>
              <a:lstStyle/>
              <a:p>
                <a:endParaRPr lang="en-US"/>
              </a:p>
            </p:txBody>
          </p:sp>
          <p:sp>
            <p:nvSpPr>
              <p:cNvPr id="27698" name="Freeform 11"/>
              <p:cNvSpPr>
                <a:spLocks/>
              </p:cNvSpPr>
              <p:nvPr/>
            </p:nvSpPr>
            <p:spPr bwMode="auto">
              <a:xfrm>
                <a:off x="2041" y="3844"/>
                <a:ext cx="20" cy="12"/>
              </a:xfrm>
              <a:custGeom>
                <a:avLst/>
                <a:gdLst>
                  <a:gd name="T0" fmla="*/ 0 w 41"/>
                  <a:gd name="T1" fmla="*/ 1 h 23"/>
                  <a:gd name="T2" fmla="*/ 0 w 41"/>
                  <a:gd name="T3" fmla="*/ 1 h 23"/>
                  <a:gd name="T4" fmla="*/ 0 w 41"/>
                  <a:gd name="T5" fmla="*/ 1 h 23"/>
                  <a:gd name="T6" fmla="*/ 0 w 41"/>
                  <a:gd name="T7" fmla="*/ 1 h 23"/>
                  <a:gd name="T8" fmla="*/ 0 w 41"/>
                  <a:gd name="T9" fmla="*/ 1 h 23"/>
                  <a:gd name="T10" fmla="*/ 0 w 41"/>
                  <a:gd name="T11" fmla="*/ 1 h 23"/>
                  <a:gd name="T12" fmla="*/ 0 w 41"/>
                  <a:gd name="T13" fmla="*/ 1 h 23"/>
                  <a:gd name="T14" fmla="*/ 0 w 41"/>
                  <a:gd name="T15" fmla="*/ 1 h 23"/>
                  <a:gd name="T16" fmla="*/ 0 w 41"/>
                  <a:gd name="T17" fmla="*/ 1 h 23"/>
                  <a:gd name="T18" fmla="*/ 0 w 41"/>
                  <a:gd name="T19" fmla="*/ 0 h 23"/>
                  <a:gd name="T20" fmla="*/ 0 w 41"/>
                  <a:gd name="T21" fmla="*/ 0 h 23"/>
                  <a:gd name="T22" fmla="*/ 0 w 41"/>
                  <a:gd name="T23" fmla="*/ 1 h 23"/>
                  <a:gd name="T24" fmla="*/ 0 w 41"/>
                  <a:gd name="T25" fmla="*/ 0 h 23"/>
                  <a:gd name="T26" fmla="*/ 0 w 41"/>
                  <a:gd name="T27" fmla="*/ 1 h 23"/>
                  <a:gd name="T28" fmla="*/ 0 w 41"/>
                  <a:gd name="T29" fmla="*/ 1 h 23"/>
                  <a:gd name="T30" fmla="*/ 0 w 41"/>
                  <a:gd name="T31" fmla="*/ 1 h 23"/>
                  <a:gd name="T32" fmla="*/ 0 w 41"/>
                  <a:gd name="T33" fmla="*/ 1 h 23"/>
                  <a:gd name="T34" fmla="*/ 0 w 41"/>
                  <a:gd name="T35" fmla="*/ 1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23"/>
                  <a:gd name="T56" fmla="*/ 41 w 41"/>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23">
                    <a:moveTo>
                      <a:pt x="22" y="12"/>
                    </a:moveTo>
                    <a:lnTo>
                      <a:pt x="8" y="22"/>
                    </a:lnTo>
                    <a:lnTo>
                      <a:pt x="11" y="22"/>
                    </a:lnTo>
                    <a:lnTo>
                      <a:pt x="17" y="23"/>
                    </a:lnTo>
                    <a:lnTo>
                      <a:pt x="27" y="23"/>
                    </a:lnTo>
                    <a:lnTo>
                      <a:pt x="41" y="23"/>
                    </a:lnTo>
                    <a:lnTo>
                      <a:pt x="37" y="1"/>
                    </a:lnTo>
                    <a:lnTo>
                      <a:pt x="27" y="1"/>
                    </a:lnTo>
                    <a:lnTo>
                      <a:pt x="20" y="1"/>
                    </a:lnTo>
                    <a:lnTo>
                      <a:pt x="14" y="0"/>
                    </a:lnTo>
                    <a:lnTo>
                      <a:pt x="0" y="9"/>
                    </a:lnTo>
                    <a:lnTo>
                      <a:pt x="14" y="0"/>
                    </a:lnTo>
                    <a:lnTo>
                      <a:pt x="5" y="1"/>
                    </a:lnTo>
                    <a:lnTo>
                      <a:pt x="0" y="8"/>
                    </a:lnTo>
                    <a:lnTo>
                      <a:pt x="1" y="17"/>
                    </a:lnTo>
                    <a:lnTo>
                      <a:pt x="8" y="22"/>
                    </a:lnTo>
                    <a:lnTo>
                      <a:pt x="22" y="12"/>
                    </a:lnTo>
                    <a:close/>
                  </a:path>
                </a:pathLst>
              </a:custGeom>
              <a:solidFill>
                <a:srgbClr val="000000"/>
              </a:solidFill>
              <a:ln w="9525">
                <a:noFill/>
                <a:round/>
                <a:headEnd/>
                <a:tailEnd/>
              </a:ln>
            </p:spPr>
            <p:txBody>
              <a:bodyPr/>
              <a:lstStyle/>
              <a:p>
                <a:endParaRPr lang="en-US"/>
              </a:p>
            </p:txBody>
          </p:sp>
          <p:sp>
            <p:nvSpPr>
              <p:cNvPr id="27699" name="Freeform 12"/>
              <p:cNvSpPr>
                <a:spLocks/>
              </p:cNvSpPr>
              <p:nvPr/>
            </p:nvSpPr>
            <p:spPr bwMode="auto">
              <a:xfrm>
                <a:off x="2039" y="3849"/>
                <a:ext cx="13" cy="17"/>
              </a:xfrm>
              <a:custGeom>
                <a:avLst/>
                <a:gdLst>
                  <a:gd name="T0" fmla="*/ 1 w 25"/>
                  <a:gd name="T1" fmla="*/ 0 h 35"/>
                  <a:gd name="T2" fmla="*/ 1 w 25"/>
                  <a:gd name="T3" fmla="*/ 0 h 35"/>
                  <a:gd name="T4" fmla="*/ 1 w 25"/>
                  <a:gd name="T5" fmla="*/ 0 h 35"/>
                  <a:gd name="T6" fmla="*/ 1 w 25"/>
                  <a:gd name="T7" fmla="*/ 0 h 35"/>
                  <a:gd name="T8" fmla="*/ 0 w 25"/>
                  <a:gd name="T9" fmla="*/ 0 h 35"/>
                  <a:gd name="T10" fmla="*/ 1 w 25"/>
                  <a:gd name="T11" fmla="*/ 0 h 35"/>
                  <a:gd name="T12" fmla="*/ 0 w 25"/>
                  <a:gd name="T13" fmla="*/ 0 h 35"/>
                  <a:gd name="T14" fmla="*/ 1 w 25"/>
                  <a:gd name="T15" fmla="*/ 0 h 35"/>
                  <a:gd name="T16" fmla="*/ 1 w 25"/>
                  <a:gd name="T17" fmla="*/ 0 h 35"/>
                  <a:gd name="T18" fmla="*/ 1 w 25"/>
                  <a:gd name="T19" fmla="*/ 0 h 35"/>
                  <a:gd name="T20" fmla="*/ 1 w 25"/>
                  <a:gd name="T21" fmla="*/ 0 h 35"/>
                  <a:gd name="T22" fmla="*/ 1 w 25"/>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
                  <a:gd name="T37" fmla="*/ 0 h 35"/>
                  <a:gd name="T38" fmla="*/ 25 w 25"/>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 h="35">
                    <a:moveTo>
                      <a:pt x="19" y="30"/>
                    </a:moveTo>
                    <a:lnTo>
                      <a:pt x="22" y="25"/>
                    </a:lnTo>
                    <a:lnTo>
                      <a:pt x="25" y="3"/>
                    </a:lnTo>
                    <a:lnTo>
                      <a:pt x="3" y="0"/>
                    </a:lnTo>
                    <a:lnTo>
                      <a:pt x="0" y="22"/>
                    </a:lnTo>
                    <a:lnTo>
                      <a:pt x="3" y="18"/>
                    </a:lnTo>
                    <a:lnTo>
                      <a:pt x="0" y="22"/>
                    </a:lnTo>
                    <a:lnTo>
                      <a:pt x="3" y="30"/>
                    </a:lnTo>
                    <a:lnTo>
                      <a:pt x="9" y="35"/>
                    </a:lnTo>
                    <a:lnTo>
                      <a:pt x="17" y="33"/>
                    </a:lnTo>
                    <a:lnTo>
                      <a:pt x="22" y="25"/>
                    </a:lnTo>
                    <a:lnTo>
                      <a:pt x="19" y="30"/>
                    </a:lnTo>
                    <a:close/>
                  </a:path>
                </a:pathLst>
              </a:custGeom>
              <a:solidFill>
                <a:srgbClr val="000000"/>
              </a:solidFill>
              <a:ln w="9525">
                <a:noFill/>
                <a:round/>
                <a:headEnd/>
                <a:tailEnd/>
              </a:ln>
            </p:spPr>
            <p:txBody>
              <a:bodyPr/>
              <a:lstStyle/>
              <a:p>
                <a:endParaRPr lang="en-US"/>
              </a:p>
            </p:txBody>
          </p:sp>
          <p:sp>
            <p:nvSpPr>
              <p:cNvPr id="27700" name="Freeform 13"/>
              <p:cNvSpPr>
                <a:spLocks/>
              </p:cNvSpPr>
              <p:nvPr/>
            </p:nvSpPr>
            <p:spPr bwMode="auto">
              <a:xfrm>
                <a:off x="2025" y="3856"/>
                <a:ext cx="24" cy="15"/>
              </a:xfrm>
              <a:custGeom>
                <a:avLst/>
                <a:gdLst>
                  <a:gd name="T0" fmla="*/ 0 w 47"/>
                  <a:gd name="T1" fmla="*/ 1 h 28"/>
                  <a:gd name="T2" fmla="*/ 0 w 47"/>
                  <a:gd name="T3" fmla="*/ 1 h 28"/>
                  <a:gd name="T4" fmla="*/ 1 w 47"/>
                  <a:gd name="T5" fmla="*/ 1 h 28"/>
                  <a:gd name="T6" fmla="*/ 1 w 47"/>
                  <a:gd name="T7" fmla="*/ 1 h 28"/>
                  <a:gd name="T8" fmla="*/ 1 w 47"/>
                  <a:gd name="T9" fmla="*/ 1 h 28"/>
                  <a:gd name="T10" fmla="*/ 1 w 47"/>
                  <a:gd name="T11" fmla="*/ 1 h 28"/>
                  <a:gd name="T12" fmla="*/ 1 w 47"/>
                  <a:gd name="T13" fmla="*/ 1 h 28"/>
                  <a:gd name="T14" fmla="*/ 1 w 47"/>
                  <a:gd name="T15" fmla="*/ 0 h 28"/>
                  <a:gd name="T16" fmla="*/ 1 w 47"/>
                  <a:gd name="T17" fmla="*/ 1 h 28"/>
                  <a:gd name="T18" fmla="*/ 1 w 47"/>
                  <a:gd name="T19" fmla="*/ 1 h 28"/>
                  <a:gd name="T20" fmla="*/ 0 w 47"/>
                  <a:gd name="T21" fmla="*/ 1 h 28"/>
                  <a:gd name="T22" fmla="*/ 0 w 47"/>
                  <a:gd name="T23" fmla="*/ 1 h 28"/>
                  <a:gd name="T24" fmla="*/ 0 w 47"/>
                  <a:gd name="T25" fmla="*/ 1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
                  <a:gd name="T40" fmla="*/ 0 h 28"/>
                  <a:gd name="T41" fmla="*/ 47 w 47"/>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 h="28">
                    <a:moveTo>
                      <a:pt x="0" y="28"/>
                    </a:moveTo>
                    <a:lnTo>
                      <a:pt x="0" y="28"/>
                    </a:lnTo>
                    <a:lnTo>
                      <a:pt x="20" y="27"/>
                    </a:lnTo>
                    <a:lnTo>
                      <a:pt x="34" y="23"/>
                    </a:lnTo>
                    <a:lnTo>
                      <a:pt x="43" y="19"/>
                    </a:lnTo>
                    <a:lnTo>
                      <a:pt x="47" y="14"/>
                    </a:lnTo>
                    <a:lnTo>
                      <a:pt x="31" y="2"/>
                    </a:lnTo>
                    <a:lnTo>
                      <a:pt x="31" y="0"/>
                    </a:lnTo>
                    <a:lnTo>
                      <a:pt x="28" y="2"/>
                    </a:lnTo>
                    <a:lnTo>
                      <a:pt x="17" y="5"/>
                    </a:lnTo>
                    <a:lnTo>
                      <a:pt x="0" y="6"/>
                    </a:lnTo>
                    <a:lnTo>
                      <a:pt x="0" y="28"/>
                    </a:lnTo>
                    <a:close/>
                  </a:path>
                </a:pathLst>
              </a:custGeom>
              <a:solidFill>
                <a:srgbClr val="000000"/>
              </a:solidFill>
              <a:ln w="9525">
                <a:noFill/>
                <a:round/>
                <a:headEnd/>
                <a:tailEnd/>
              </a:ln>
            </p:spPr>
            <p:txBody>
              <a:bodyPr/>
              <a:lstStyle/>
              <a:p>
                <a:endParaRPr lang="en-US"/>
              </a:p>
            </p:txBody>
          </p:sp>
          <p:sp>
            <p:nvSpPr>
              <p:cNvPr id="27701" name="Freeform 14"/>
              <p:cNvSpPr>
                <a:spLocks/>
              </p:cNvSpPr>
              <p:nvPr/>
            </p:nvSpPr>
            <p:spPr bwMode="auto">
              <a:xfrm>
                <a:off x="1998" y="3854"/>
                <a:ext cx="27" cy="17"/>
              </a:xfrm>
              <a:custGeom>
                <a:avLst/>
                <a:gdLst>
                  <a:gd name="T0" fmla="*/ 0 w 55"/>
                  <a:gd name="T1" fmla="*/ 1 h 33"/>
                  <a:gd name="T2" fmla="*/ 0 w 55"/>
                  <a:gd name="T3" fmla="*/ 1 h 33"/>
                  <a:gd name="T4" fmla="*/ 0 w 55"/>
                  <a:gd name="T5" fmla="*/ 1 h 33"/>
                  <a:gd name="T6" fmla="*/ 0 w 55"/>
                  <a:gd name="T7" fmla="*/ 1 h 33"/>
                  <a:gd name="T8" fmla="*/ 0 w 55"/>
                  <a:gd name="T9" fmla="*/ 1 h 33"/>
                  <a:gd name="T10" fmla="*/ 0 w 55"/>
                  <a:gd name="T11" fmla="*/ 1 h 33"/>
                  <a:gd name="T12" fmla="*/ 0 w 55"/>
                  <a:gd name="T13" fmla="*/ 1 h 33"/>
                  <a:gd name="T14" fmla="*/ 0 w 55"/>
                  <a:gd name="T15" fmla="*/ 1 h 33"/>
                  <a:gd name="T16" fmla="*/ 0 w 55"/>
                  <a:gd name="T17" fmla="*/ 1 h 33"/>
                  <a:gd name="T18" fmla="*/ 0 w 55"/>
                  <a:gd name="T19" fmla="*/ 1 h 33"/>
                  <a:gd name="T20" fmla="*/ 0 w 55"/>
                  <a:gd name="T21" fmla="*/ 1 h 33"/>
                  <a:gd name="T22" fmla="*/ 0 w 55"/>
                  <a:gd name="T23" fmla="*/ 0 h 33"/>
                  <a:gd name="T24" fmla="*/ 0 w 55"/>
                  <a:gd name="T25" fmla="*/ 1 h 33"/>
                  <a:gd name="T26" fmla="*/ 0 w 55"/>
                  <a:gd name="T27" fmla="*/ 0 h 33"/>
                  <a:gd name="T28" fmla="*/ 0 w 55"/>
                  <a:gd name="T29" fmla="*/ 1 h 33"/>
                  <a:gd name="T30" fmla="*/ 0 w 55"/>
                  <a:gd name="T31" fmla="*/ 1 h 33"/>
                  <a:gd name="T32" fmla="*/ 0 w 55"/>
                  <a:gd name="T33" fmla="*/ 1 h 33"/>
                  <a:gd name="T34" fmla="*/ 0 w 55"/>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5"/>
                  <a:gd name="T55" fmla="*/ 0 h 33"/>
                  <a:gd name="T56" fmla="*/ 55 w 55"/>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5" h="33">
                    <a:moveTo>
                      <a:pt x="11" y="22"/>
                    </a:moveTo>
                    <a:lnTo>
                      <a:pt x="3" y="19"/>
                    </a:lnTo>
                    <a:lnTo>
                      <a:pt x="8" y="22"/>
                    </a:lnTo>
                    <a:lnTo>
                      <a:pt x="17" y="27"/>
                    </a:lnTo>
                    <a:lnTo>
                      <a:pt x="33" y="32"/>
                    </a:lnTo>
                    <a:lnTo>
                      <a:pt x="55" y="33"/>
                    </a:lnTo>
                    <a:lnTo>
                      <a:pt x="55" y="11"/>
                    </a:lnTo>
                    <a:lnTo>
                      <a:pt x="36" y="10"/>
                    </a:lnTo>
                    <a:lnTo>
                      <a:pt x="23" y="5"/>
                    </a:lnTo>
                    <a:lnTo>
                      <a:pt x="17" y="3"/>
                    </a:lnTo>
                    <a:lnTo>
                      <a:pt x="19" y="3"/>
                    </a:lnTo>
                    <a:lnTo>
                      <a:pt x="11" y="0"/>
                    </a:lnTo>
                    <a:lnTo>
                      <a:pt x="19" y="3"/>
                    </a:lnTo>
                    <a:lnTo>
                      <a:pt x="11" y="0"/>
                    </a:lnTo>
                    <a:lnTo>
                      <a:pt x="4" y="3"/>
                    </a:lnTo>
                    <a:lnTo>
                      <a:pt x="0" y="11"/>
                    </a:lnTo>
                    <a:lnTo>
                      <a:pt x="3" y="19"/>
                    </a:lnTo>
                    <a:lnTo>
                      <a:pt x="11" y="22"/>
                    </a:lnTo>
                    <a:close/>
                  </a:path>
                </a:pathLst>
              </a:custGeom>
              <a:solidFill>
                <a:srgbClr val="000000"/>
              </a:solidFill>
              <a:ln w="9525">
                <a:noFill/>
                <a:round/>
                <a:headEnd/>
                <a:tailEnd/>
              </a:ln>
            </p:spPr>
            <p:txBody>
              <a:bodyPr/>
              <a:lstStyle/>
              <a:p>
                <a:endParaRPr lang="en-US"/>
              </a:p>
            </p:txBody>
          </p:sp>
          <p:sp>
            <p:nvSpPr>
              <p:cNvPr id="27702" name="Freeform 15"/>
              <p:cNvSpPr>
                <a:spLocks/>
              </p:cNvSpPr>
              <p:nvPr/>
            </p:nvSpPr>
            <p:spPr bwMode="auto">
              <a:xfrm>
                <a:off x="1951" y="3838"/>
                <a:ext cx="52" cy="27"/>
              </a:xfrm>
              <a:custGeom>
                <a:avLst/>
                <a:gdLst>
                  <a:gd name="T0" fmla="*/ 0 w 105"/>
                  <a:gd name="T1" fmla="*/ 1 h 53"/>
                  <a:gd name="T2" fmla="*/ 0 w 105"/>
                  <a:gd name="T3" fmla="*/ 1 h 53"/>
                  <a:gd name="T4" fmla="*/ 0 w 105"/>
                  <a:gd name="T5" fmla="*/ 1 h 53"/>
                  <a:gd name="T6" fmla="*/ 0 w 105"/>
                  <a:gd name="T7" fmla="*/ 1 h 53"/>
                  <a:gd name="T8" fmla="*/ 0 w 105"/>
                  <a:gd name="T9" fmla="*/ 1 h 53"/>
                  <a:gd name="T10" fmla="*/ 0 w 105"/>
                  <a:gd name="T11" fmla="*/ 1 h 53"/>
                  <a:gd name="T12" fmla="*/ 0 w 105"/>
                  <a:gd name="T13" fmla="*/ 1 h 53"/>
                  <a:gd name="T14" fmla="*/ 0 w 105"/>
                  <a:gd name="T15" fmla="*/ 1 h 53"/>
                  <a:gd name="T16" fmla="*/ 0 w 105"/>
                  <a:gd name="T17" fmla="*/ 1 h 53"/>
                  <a:gd name="T18" fmla="*/ 0 w 105"/>
                  <a:gd name="T19" fmla="*/ 1 h 53"/>
                  <a:gd name="T20" fmla="*/ 0 w 105"/>
                  <a:gd name="T21" fmla="*/ 1 h 53"/>
                  <a:gd name="T22" fmla="*/ 0 w 105"/>
                  <a:gd name="T23" fmla="*/ 1 h 53"/>
                  <a:gd name="T24" fmla="*/ 0 w 105"/>
                  <a:gd name="T25" fmla="*/ 1 h 53"/>
                  <a:gd name="T26" fmla="*/ 0 w 105"/>
                  <a:gd name="T27" fmla="*/ 1 h 53"/>
                  <a:gd name="T28" fmla="*/ 0 w 105"/>
                  <a:gd name="T29" fmla="*/ 1 h 53"/>
                  <a:gd name="T30" fmla="*/ 0 w 105"/>
                  <a:gd name="T31" fmla="*/ 1 h 53"/>
                  <a:gd name="T32" fmla="*/ 0 w 105"/>
                  <a:gd name="T33" fmla="*/ 1 h 53"/>
                  <a:gd name="T34" fmla="*/ 0 w 105"/>
                  <a:gd name="T35" fmla="*/ 1 h 53"/>
                  <a:gd name="T36" fmla="*/ 0 w 105"/>
                  <a:gd name="T37" fmla="*/ 1 h 53"/>
                  <a:gd name="T38" fmla="*/ 0 w 105"/>
                  <a:gd name="T39" fmla="*/ 0 h 53"/>
                  <a:gd name="T40" fmla="*/ 0 w 105"/>
                  <a:gd name="T41" fmla="*/ 1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
                  <a:gd name="T64" fmla="*/ 0 h 53"/>
                  <a:gd name="T65" fmla="*/ 105 w 105"/>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 h="53">
                    <a:moveTo>
                      <a:pt x="1" y="9"/>
                    </a:moveTo>
                    <a:lnTo>
                      <a:pt x="0" y="8"/>
                    </a:lnTo>
                    <a:lnTo>
                      <a:pt x="11" y="23"/>
                    </a:lnTo>
                    <a:lnTo>
                      <a:pt x="23" y="34"/>
                    </a:lnTo>
                    <a:lnTo>
                      <a:pt x="42" y="42"/>
                    </a:lnTo>
                    <a:lnTo>
                      <a:pt x="59" y="47"/>
                    </a:lnTo>
                    <a:lnTo>
                      <a:pt x="77" y="50"/>
                    </a:lnTo>
                    <a:lnTo>
                      <a:pt x="91" y="52"/>
                    </a:lnTo>
                    <a:lnTo>
                      <a:pt x="100" y="53"/>
                    </a:lnTo>
                    <a:lnTo>
                      <a:pt x="105" y="53"/>
                    </a:lnTo>
                    <a:lnTo>
                      <a:pt x="105" y="31"/>
                    </a:lnTo>
                    <a:lnTo>
                      <a:pt x="103" y="31"/>
                    </a:lnTo>
                    <a:lnTo>
                      <a:pt x="94" y="30"/>
                    </a:lnTo>
                    <a:lnTo>
                      <a:pt x="80" y="28"/>
                    </a:lnTo>
                    <a:lnTo>
                      <a:pt x="66" y="25"/>
                    </a:lnTo>
                    <a:lnTo>
                      <a:pt x="48" y="20"/>
                    </a:lnTo>
                    <a:lnTo>
                      <a:pt x="36" y="16"/>
                    </a:lnTo>
                    <a:lnTo>
                      <a:pt x="26" y="8"/>
                    </a:lnTo>
                    <a:lnTo>
                      <a:pt x="22" y="2"/>
                    </a:lnTo>
                    <a:lnTo>
                      <a:pt x="20" y="0"/>
                    </a:lnTo>
                    <a:lnTo>
                      <a:pt x="1" y="9"/>
                    </a:lnTo>
                    <a:close/>
                  </a:path>
                </a:pathLst>
              </a:custGeom>
              <a:solidFill>
                <a:srgbClr val="000000"/>
              </a:solidFill>
              <a:ln w="9525">
                <a:noFill/>
                <a:round/>
                <a:headEnd/>
                <a:tailEnd/>
              </a:ln>
            </p:spPr>
            <p:txBody>
              <a:bodyPr/>
              <a:lstStyle/>
              <a:p>
                <a:endParaRPr lang="en-US"/>
              </a:p>
            </p:txBody>
          </p:sp>
          <p:sp>
            <p:nvSpPr>
              <p:cNvPr id="27703" name="Freeform 16"/>
              <p:cNvSpPr>
                <a:spLocks/>
              </p:cNvSpPr>
              <p:nvPr/>
            </p:nvSpPr>
            <p:spPr bwMode="auto">
              <a:xfrm>
                <a:off x="1949" y="3825"/>
                <a:ext cx="14" cy="18"/>
              </a:xfrm>
              <a:custGeom>
                <a:avLst/>
                <a:gdLst>
                  <a:gd name="T0" fmla="*/ 0 w 30"/>
                  <a:gd name="T1" fmla="*/ 1 h 36"/>
                  <a:gd name="T2" fmla="*/ 0 w 30"/>
                  <a:gd name="T3" fmla="*/ 1 h 36"/>
                  <a:gd name="T4" fmla="*/ 0 w 30"/>
                  <a:gd name="T5" fmla="*/ 1 h 36"/>
                  <a:gd name="T6" fmla="*/ 0 w 30"/>
                  <a:gd name="T7" fmla="*/ 0 h 36"/>
                  <a:gd name="T8" fmla="*/ 0 w 30"/>
                  <a:gd name="T9" fmla="*/ 1 h 36"/>
                  <a:gd name="T10" fmla="*/ 0 w 30"/>
                  <a:gd name="T11" fmla="*/ 1 h 36"/>
                  <a:gd name="T12" fmla="*/ 0 w 30"/>
                  <a:gd name="T13" fmla="*/ 1 h 36"/>
                  <a:gd name="T14" fmla="*/ 0 w 30"/>
                  <a:gd name="T15" fmla="*/ 1 h 36"/>
                  <a:gd name="T16" fmla="*/ 0 w 30"/>
                  <a:gd name="T17" fmla="*/ 1 h 36"/>
                  <a:gd name="T18" fmla="*/ 0 w 30"/>
                  <a:gd name="T19" fmla="*/ 1 h 36"/>
                  <a:gd name="T20" fmla="*/ 0 w 30"/>
                  <a:gd name="T21" fmla="*/ 1 h 36"/>
                  <a:gd name="T22" fmla="*/ 0 w 30"/>
                  <a:gd name="T23" fmla="*/ 1 h 36"/>
                  <a:gd name="T24" fmla="*/ 0 w 30"/>
                  <a:gd name="T25" fmla="*/ 1 h 36"/>
                  <a:gd name="T26" fmla="*/ 0 w 30"/>
                  <a:gd name="T27" fmla="*/ 1 h 36"/>
                  <a:gd name="T28" fmla="*/ 0 w 30"/>
                  <a:gd name="T29" fmla="*/ 1 h 36"/>
                  <a:gd name="T30" fmla="*/ 0 w 30"/>
                  <a:gd name="T31" fmla="*/ 1 h 36"/>
                  <a:gd name="T32" fmla="*/ 0 w 30"/>
                  <a:gd name="T33" fmla="*/ 1 h 36"/>
                  <a:gd name="T34" fmla="*/ 0 w 30"/>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0"/>
                  <a:gd name="T55" fmla="*/ 0 h 36"/>
                  <a:gd name="T56" fmla="*/ 30 w 30"/>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0" h="36">
                    <a:moveTo>
                      <a:pt x="13" y="7"/>
                    </a:moveTo>
                    <a:lnTo>
                      <a:pt x="27" y="8"/>
                    </a:lnTo>
                    <a:lnTo>
                      <a:pt x="24" y="5"/>
                    </a:lnTo>
                    <a:lnTo>
                      <a:pt x="10" y="0"/>
                    </a:lnTo>
                    <a:lnTo>
                      <a:pt x="0" y="18"/>
                    </a:lnTo>
                    <a:lnTo>
                      <a:pt x="6" y="36"/>
                    </a:lnTo>
                    <a:lnTo>
                      <a:pt x="25" y="27"/>
                    </a:lnTo>
                    <a:lnTo>
                      <a:pt x="22" y="14"/>
                    </a:lnTo>
                    <a:lnTo>
                      <a:pt x="16" y="22"/>
                    </a:lnTo>
                    <a:lnTo>
                      <a:pt x="11" y="24"/>
                    </a:lnTo>
                    <a:lnTo>
                      <a:pt x="25" y="25"/>
                    </a:lnTo>
                    <a:lnTo>
                      <a:pt x="11" y="24"/>
                    </a:lnTo>
                    <a:lnTo>
                      <a:pt x="19" y="27"/>
                    </a:lnTo>
                    <a:lnTo>
                      <a:pt x="27" y="22"/>
                    </a:lnTo>
                    <a:lnTo>
                      <a:pt x="30" y="16"/>
                    </a:lnTo>
                    <a:lnTo>
                      <a:pt x="27" y="8"/>
                    </a:lnTo>
                    <a:lnTo>
                      <a:pt x="13" y="7"/>
                    </a:lnTo>
                    <a:close/>
                  </a:path>
                </a:pathLst>
              </a:custGeom>
              <a:solidFill>
                <a:srgbClr val="000000"/>
              </a:solidFill>
              <a:ln w="9525">
                <a:noFill/>
                <a:round/>
                <a:headEnd/>
                <a:tailEnd/>
              </a:ln>
            </p:spPr>
            <p:txBody>
              <a:bodyPr/>
              <a:lstStyle/>
              <a:p>
                <a:endParaRPr lang="en-US"/>
              </a:p>
            </p:txBody>
          </p:sp>
          <p:sp>
            <p:nvSpPr>
              <p:cNvPr id="27704" name="Freeform 17"/>
              <p:cNvSpPr>
                <a:spLocks/>
              </p:cNvSpPr>
              <p:nvPr/>
            </p:nvSpPr>
            <p:spPr bwMode="auto">
              <a:xfrm>
                <a:off x="1955" y="3817"/>
                <a:ext cx="45" cy="21"/>
              </a:xfrm>
              <a:custGeom>
                <a:avLst/>
                <a:gdLst>
                  <a:gd name="T0" fmla="*/ 1 w 90"/>
                  <a:gd name="T1" fmla="*/ 0 h 40"/>
                  <a:gd name="T2" fmla="*/ 1 w 90"/>
                  <a:gd name="T3" fmla="*/ 0 h 40"/>
                  <a:gd name="T4" fmla="*/ 1 w 90"/>
                  <a:gd name="T5" fmla="*/ 0 h 40"/>
                  <a:gd name="T6" fmla="*/ 1 w 90"/>
                  <a:gd name="T7" fmla="*/ 1 h 40"/>
                  <a:gd name="T8" fmla="*/ 1 w 90"/>
                  <a:gd name="T9" fmla="*/ 1 h 40"/>
                  <a:gd name="T10" fmla="*/ 1 w 90"/>
                  <a:gd name="T11" fmla="*/ 1 h 40"/>
                  <a:gd name="T12" fmla="*/ 1 w 90"/>
                  <a:gd name="T13" fmla="*/ 1 h 40"/>
                  <a:gd name="T14" fmla="*/ 1 w 90"/>
                  <a:gd name="T15" fmla="*/ 1 h 40"/>
                  <a:gd name="T16" fmla="*/ 1 w 90"/>
                  <a:gd name="T17" fmla="*/ 1 h 40"/>
                  <a:gd name="T18" fmla="*/ 0 w 90"/>
                  <a:gd name="T19" fmla="*/ 1 h 40"/>
                  <a:gd name="T20" fmla="*/ 1 w 90"/>
                  <a:gd name="T21" fmla="*/ 1 h 40"/>
                  <a:gd name="T22" fmla="*/ 1 w 90"/>
                  <a:gd name="T23" fmla="*/ 1 h 40"/>
                  <a:gd name="T24" fmla="*/ 1 w 90"/>
                  <a:gd name="T25" fmla="*/ 1 h 40"/>
                  <a:gd name="T26" fmla="*/ 1 w 90"/>
                  <a:gd name="T27" fmla="*/ 1 h 40"/>
                  <a:gd name="T28" fmla="*/ 1 w 90"/>
                  <a:gd name="T29" fmla="*/ 1 h 40"/>
                  <a:gd name="T30" fmla="*/ 1 w 90"/>
                  <a:gd name="T31" fmla="*/ 1 h 40"/>
                  <a:gd name="T32" fmla="*/ 1 w 90"/>
                  <a:gd name="T33" fmla="*/ 1 h 40"/>
                  <a:gd name="T34" fmla="*/ 1 w 90"/>
                  <a:gd name="T35" fmla="*/ 1 h 40"/>
                  <a:gd name="T36" fmla="*/ 1 w 90"/>
                  <a:gd name="T37" fmla="*/ 1 h 40"/>
                  <a:gd name="T38" fmla="*/ 1 w 90"/>
                  <a:gd name="T39" fmla="*/ 1 h 40"/>
                  <a:gd name="T40" fmla="*/ 1 w 90"/>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0"/>
                  <a:gd name="T64" fmla="*/ 0 h 40"/>
                  <a:gd name="T65" fmla="*/ 90 w 90"/>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0" h="40">
                    <a:moveTo>
                      <a:pt x="90" y="0"/>
                    </a:moveTo>
                    <a:lnTo>
                      <a:pt x="90" y="0"/>
                    </a:lnTo>
                    <a:lnTo>
                      <a:pt x="72" y="0"/>
                    </a:lnTo>
                    <a:lnTo>
                      <a:pt x="54" y="3"/>
                    </a:lnTo>
                    <a:lnTo>
                      <a:pt x="39" y="6"/>
                    </a:lnTo>
                    <a:lnTo>
                      <a:pt x="26" y="9"/>
                    </a:lnTo>
                    <a:lnTo>
                      <a:pt x="15" y="15"/>
                    </a:lnTo>
                    <a:lnTo>
                      <a:pt x="9" y="17"/>
                    </a:lnTo>
                    <a:lnTo>
                      <a:pt x="3" y="20"/>
                    </a:lnTo>
                    <a:lnTo>
                      <a:pt x="0" y="22"/>
                    </a:lnTo>
                    <a:lnTo>
                      <a:pt x="12" y="40"/>
                    </a:lnTo>
                    <a:lnTo>
                      <a:pt x="12" y="39"/>
                    </a:lnTo>
                    <a:lnTo>
                      <a:pt x="15" y="39"/>
                    </a:lnTo>
                    <a:lnTo>
                      <a:pt x="25" y="34"/>
                    </a:lnTo>
                    <a:lnTo>
                      <a:pt x="33" y="31"/>
                    </a:lnTo>
                    <a:lnTo>
                      <a:pt x="45" y="28"/>
                    </a:lnTo>
                    <a:lnTo>
                      <a:pt x="58" y="25"/>
                    </a:lnTo>
                    <a:lnTo>
                      <a:pt x="75" y="22"/>
                    </a:lnTo>
                    <a:lnTo>
                      <a:pt x="90" y="22"/>
                    </a:lnTo>
                    <a:lnTo>
                      <a:pt x="90" y="0"/>
                    </a:lnTo>
                    <a:close/>
                  </a:path>
                </a:pathLst>
              </a:custGeom>
              <a:solidFill>
                <a:srgbClr val="000000"/>
              </a:solidFill>
              <a:ln w="9525">
                <a:noFill/>
                <a:round/>
                <a:headEnd/>
                <a:tailEnd/>
              </a:ln>
            </p:spPr>
            <p:txBody>
              <a:bodyPr/>
              <a:lstStyle/>
              <a:p>
                <a:endParaRPr lang="en-US"/>
              </a:p>
            </p:txBody>
          </p:sp>
          <p:sp>
            <p:nvSpPr>
              <p:cNvPr id="27705" name="Freeform 18"/>
              <p:cNvSpPr>
                <a:spLocks/>
              </p:cNvSpPr>
              <p:nvPr/>
            </p:nvSpPr>
            <p:spPr bwMode="auto">
              <a:xfrm>
                <a:off x="2000" y="3817"/>
                <a:ext cx="77" cy="11"/>
              </a:xfrm>
              <a:custGeom>
                <a:avLst/>
                <a:gdLst>
                  <a:gd name="T0" fmla="*/ 1 w 154"/>
                  <a:gd name="T1" fmla="*/ 1 h 22"/>
                  <a:gd name="T2" fmla="*/ 1 w 154"/>
                  <a:gd name="T3" fmla="*/ 0 h 22"/>
                  <a:gd name="T4" fmla="*/ 1 w 154"/>
                  <a:gd name="T5" fmla="*/ 0 h 22"/>
                  <a:gd name="T6" fmla="*/ 1 w 154"/>
                  <a:gd name="T7" fmla="*/ 0 h 22"/>
                  <a:gd name="T8" fmla="*/ 1 w 154"/>
                  <a:gd name="T9" fmla="*/ 0 h 22"/>
                  <a:gd name="T10" fmla="*/ 1 w 154"/>
                  <a:gd name="T11" fmla="*/ 0 h 22"/>
                  <a:gd name="T12" fmla="*/ 1 w 154"/>
                  <a:gd name="T13" fmla="*/ 0 h 22"/>
                  <a:gd name="T14" fmla="*/ 1 w 154"/>
                  <a:gd name="T15" fmla="*/ 0 h 22"/>
                  <a:gd name="T16" fmla="*/ 1 w 154"/>
                  <a:gd name="T17" fmla="*/ 0 h 22"/>
                  <a:gd name="T18" fmla="*/ 0 w 154"/>
                  <a:gd name="T19" fmla="*/ 0 h 22"/>
                  <a:gd name="T20" fmla="*/ 0 w 154"/>
                  <a:gd name="T21" fmla="*/ 1 h 22"/>
                  <a:gd name="T22" fmla="*/ 1 w 154"/>
                  <a:gd name="T23" fmla="*/ 1 h 22"/>
                  <a:gd name="T24" fmla="*/ 1 w 154"/>
                  <a:gd name="T25" fmla="*/ 1 h 22"/>
                  <a:gd name="T26" fmla="*/ 1 w 154"/>
                  <a:gd name="T27" fmla="*/ 1 h 22"/>
                  <a:gd name="T28" fmla="*/ 1 w 154"/>
                  <a:gd name="T29" fmla="*/ 1 h 22"/>
                  <a:gd name="T30" fmla="*/ 1 w 154"/>
                  <a:gd name="T31" fmla="*/ 1 h 22"/>
                  <a:gd name="T32" fmla="*/ 1 w 154"/>
                  <a:gd name="T33" fmla="*/ 1 h 22"/>
                  <a:gd name="T34" fmla="*/ 1 w 154"/>
                  <a:gd name="T35" fmla="*/ 1 h 22"/>
                  <a:gd name="T36" fmla="*/ 1 w 154"/>
                  <a:gd name="T37" fmla="*/ 1 h 22"/>
                  <a:gd name="T38" fmla="*/ 1 w 154"/>
                  <a:gd name="T39" fmla="*/ 1 h 22"/>
                  <a:gd name="T40" fmla="*/ 1 w 154"/>
                  <a:gd name="T41" fmla="*/ 1 h 22"/>
                  <a:gd name="T42" fmla="*/ 1 w 154"/>
                  <a:gd name="T43" fmla="*/ 1 h 22"/>
                  <a:gd name="T44" fmla="*/ 1 w 154"/>
                  <a:gd name="T45" fmla="*/ 1 h 22"/>
                  <a:gd name="T46" fmla="*/ 1 w 154"/>
                  <a:gd name="T47" fmla="*/ 1 h 22"/>
                  <a:gd name="T48" fmla="*/ 1 w 154"/>
                  <a:gd name="T49" fmla="*/ 0 h 22"/>
                  <a:gd name="T50" fmla="*/ 1 w 154"/>
                  <a:gd name="T51" fmla="*/ 1 h 2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22"/>
                  <a:gd name="T80" fmla="*/ 154 w 154"/>
                  <a:gd name="T81" fmla="*/ 22 h 2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22">
                    <a:moveTo>
                      <a:pt x="154" y="11"/>
                    </a:moveTo>
                    <a:lnTo>
                      <a:pt x="143" y="0"/>
                    </a:lnTo>
                    <a:lnTo>
                      <a:pt x="138" y="0"/>
                    </a:lnTo>
                    <a:lnTo>
                      <a:pt x="127" y="0"/>
                    </a:lnTo>
                    <a:lnTo>
                      <a:pt x="112" y="0"/>
                    </a:lnTo>
                    <a:lnTo>
                      <a:pt x="91" y="0"/>
                    </a:lnTo>
                    <a:lnTo>
                      <a:pt x="68" y="0"/>
                    </a:lnTo>
                    <a:lnTo>
                      <a:pt x="44" y="0"/>
                    </a:lnTo>
                    <a:lnTo>
                      <a:pt x="21" y="0"/>
                    </a:lnTo>
                    <a:lnTo>
                      <a:pt x="0" y="0"/>
                    </a:lnTo>
                    <a:lnTo>
                      <a:pt x="0" y="22"/>
                    </a:lnTo>
                    <a:lnTo>
                      <a:pt x="21" y="22"/>
                    </a:lnTo>
                    <a:lnTo>
                      <a:pt x="44" y="22"/>
                    </a:lnTo>
                    <a:lnTo>
                      <a:pt x="68" y="22"/>
                    </a:lnTo>
                    <a:lnTo>
                      <a:pt x="91" y="22"/>
                    </a:lnTo>
                    <a:lnTo>
                      <a:pt x="112" y="22"/>
                    </a:lnTo>
                    <a:lnTo>
                      <a:pt x="127" y="22"/>
                    </a:lnTo>
                    <a:lnTo>
                      <a:pt x="138" y="22"/>
                    </a:lnTo>
                    <a:lnTo>
                      <a:pt x="143" y="22"/>
                    </a:lnTo>
                    <a:lnTo>
                      <a:pt x="132" y="11"/>
                    </a:lnTo>
                    <a:lnTo>
                      <a:pt x="143" y="22"/>
                    </a:lnTo>
                    <a:lnTo>
                      <a:pt x="151" y="18"/>
                    </a:lnTo>
                    <a:lnTo>
                      <a:pt x="154" y="11"/>
                    </a:lnTo>
                    <a:lnTo>
                      <a:pt x="151" y="3"/>
                    </a:lnTo>
                    <a:lnTo>
                      <a:pt x="143" y="0"/>
                    </a:lnTo>
                    <a:lnTo>
                      <a:pt x="154" y="11"/>
                    </a:lnTo>
                    <a:close/>
                  </a:path>
                </a:pathLst>
              </a:custGeom>
              <a:solidFill>
                <a:srgbClr val="000000"/>
              </a:solidFill>
              <a:ln w="9525">
                <a:noFill/>
                <a:round/>
                <a:headEnd/>
                <a:tailEnd/>
              </a:ln>
            </p:spPr>
            <p:txBody>
              <a:bodyPr/>
              <a:lstStyle/>
              <a:p>
                <a:endParaRPr lang="en-US"/>
              </a:p>
            </p:txBody>
          </p:sp>
          <p:sp>
            <p:nvSpPr>
              <p:cNvPr id="27706" name="Freeform 19"/>
              <p:cNvSpPr>
                <a:spLocks/>
              </p:cNvSpPr>
              <p:nvPr/>
            </p:nvSpPr>
            <p:spPr bwMode="auto">
              <a:xfrm>
                <a:off x="2036" y="3731"/>
                <a:ext cx="42" cy="93"/>
              </a:xfrm>
              <a:custGeom>
                <a:avLst/>
                <a:gdLst>
                  <a:gd name="T0" fmla="*/ 1 w 82"/>
                  <a:gd name="T1" fmla="*/ 1 h 186"/>
                  <a:gd name="T2" fmla="*/ 1 w 82"/>
                  <a:gd name="T3" fmla="*/ 1 h 186"/>
                  <a:gd name="T4" fmla="*/ 1 w 82"/>
                  <a:gd name="T5" fmla="*/ 1 h 186"/>
                  <a:gd name="T6" fmla="*/ 1 w 82"/>
                  <a:gd name="T7" fmla="*/ 1 h 186"/>
                  <a:gd name="T8" fmla="*/ 1 w 82"/>
                  <a:gd name="T9" fmla="*/ 1 h 186"/>
                  <a:gd name="T10" fmla="*/ 1 w 82"/>
                  <a:gd name="T11" fmla="*/ 1 h 186"/>
                  <a:gd name="T12" fmla="*/ 1 w 82"/>
                  <a:gd name="T13" fmla="*/ 1 h 186"/>
                  <a:gd name="T14" fmla="*/ 1 w 82"/>
                  <a:gd name="T15" fmla="*/ 1 h 186"/>
                  <a:gd name="T16" fmla="*/ 1 w 82"/>
                  <a:gd name="T17" fmla="*/ 1 h 186"/>
                  <a:gd name="T18" fmla="*/ 1 w 82"/>
                  <a:gd name="T19" fmla="*/ 1 h 186"/>
                  <a:gd name="T20" fmla="*/ 1 w 82"/>
                  <a:gd name="T21" fmla="*/ 1 h 186"/>
                  <a:gd name="T22" fmla="*/ 1 w 82"/>
                  <a:gd name="T23" fmla="*/ 1 h 186"/>
                  <a:gd name="T24" fmla="*/ 1 w 82"/>
                  <a:gd name="T25" fmla="*/ 1 h 186"/>
                  <a:gd name="T26" fmla="*/ 1 w 82"/>
                  <a:gd name="T27" fmla="*/ 1 h 186"/>
                  <a:gd name="T28" fmla="*/ 1 w 82"/>
                  <a:gd name="T29" fmla="*/ 1 h 186"/>
                  <a:gd name="T30" fmla="*/ 1 w 82"/>
                  <a:gd name="T31" fmla="*/ 1 h 186"/>
                  <a:gd name="T32" fmla="*/ 1 w 82"/>
                  <a:gd name="T33" fmla="*/ 1 h 186"/>
                  <a:gd name="T34" fmla="*/ 1 w 82"/>
                  <a:gd name="T35" fmla="*/ 1 h 186"/>
                  <a:gd name="T36" fmla="*/ 1 w 82"/>
                  <a:gd name="T37" fmla="*/ 1 h 186"/>
                  <a:gd name="T38" fmla="*/ 1 w 82"/>
                  <a:gd name="T39" fmla="*/ 1 h 186"/>
                  <a:gd name="T40" fmla="*/ 1 w 82"/>
                  <a:gd name="T41" fmla="*/ 1 h 186"/>
                  <a:gd name="T42" fmla="*/ 1 w 82"/>
                  <a:gd name="T43" fmla="*/ 1 h 186"/>
                  <a:gd name="T44" fmla="*/ 1 w 82"/>
                  <a:gd name="T45" fmla="*/ 1 h 186"/>
                  <a:gd name="T46" fmla="*/ 1 w 82"/>
                  <a:gd name="T47" fmla="*/ 1 h 186"/>
                  <a:gd name="T48" fmla="*/ 1 w 82"/>
                  <a:gd name="T49" fmla="*/ 1 h 186"/>
                  <a:gd name="T50" fmla="*/ 1 w 82"/>
                  <a:gd name="T51" fmla="*/ 1 h 186"/>
                  <a:gd name="T52" fmla="*/ 1 w 82"/>
                  <a:gd name="T53" fmla="*/ 1 h 186"/>
                  <a:gd name="T54" fmla="*/ 1 w 82"/>
                  <a:gd name="T55" fmla="*/ 1 h 186"/>
                  <a:gd name="T56" fmla="*/ 1 w 82"/>
                  <a:gd name="T57" fmla="*/ 1 h 186"/>
                  <a:gd name="T58" fmla="*/ 1 w 82"/>
                  <a:gd name="T59" fmla="*/ 1 h 186"/>
                  <a:gd name="T60" fmla="*/ 0 w 82"/>
                  <a:gd name="T61" fmla="*/ 1 h 186"/>
                  <a:gd name="T62" fmla="*/ 0 w 82"/>
                  <a:gd name="T63" fmla="*/ 1 h 186"/>
                  <a:gd name="T64" fmla="*/ 0 w 82"/>
                  <a:gd name="T65" fmla="*/ 0 h 186"/>
                  <a:gd name="T66" fmla="*/ 1 w 82"/>
                  <a:gd name="T67" fmla="*/ 1 h 18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2"/>
                  <a:gd name="T103" fmla="*/ 0 h 186"/>
                  <a:gd name="T104" fmla="*/ 82 w 82"/>
                  <a:gd name="T105" fmla="*/ 186 h 18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2" h="186">
                    <a:moveTo>
                      <a:pt x="82" y="22"/>
                    </a:moveTo>
                    <a:lnTo>
                      <a:pt x="82" y="23"/>
                    </a:lnTo>
                    <a:lnTo>
                      <a:pt x="81" y="29"/>
                    </a:lnTo>
                    <a:lnTo>
                      <a:pt x="79" y="37"/>
                    </a:lnTo>
                    <a:lnTo>
                      <a:pt x="78" y="48"/>
                    </a:lnTo>
                    <a:lnTo>
                      <a:pt x="76" y="61"/>
                    </a:lnTo>
                    <a:lnTo>
                      <a:pt x="75" y="75"/>
                    </a:lnTo>
                    <a:lnTo>
                      <a:pt x="75" y="90"/>
                    </a:lnTo>
                    <a:lnTo>
                      <a:pt x="75" y="106"/>
                    </a:lnTo>
                    <a:lnTo>
                      <a:pt x="75" y="122"/>
                    </a:lnTo>
                    <a:lnTo>
                      <a:pt x="76" y="136"/>
                    </a:lnTo>
                    <a:lnTo>
                      <a:pt x="76" y="148"/>
                    </a:lnTo>
                    <a:lnTo>
                      <a:pt x="76" y="159"/>
                    </a:lnTo>
                    <a:lnTo>
                      <a:pt x="78" y="169"/>
                    </a:lnTo>
                    <a:lnTo>
                      <a:pt x="78" y="175"/>
                    </a:lnTo>
                    <a:lnTo>
                      <a:pt x="78" y="180"/>
                    </a:lnTo>
                    <a:lnTo>
                      <a:pt x="78" y="181"/>
                    </a:lnTo>
                    <a:lnTo>
                      <a:pt x="76" y="181"/>
                    </a:lnTo>
                    <a:lnTo>
                      <a:pt x="70" y="183"/>
                    </a:lnTo>
                    <a:lnTo>
                      <a:pt x="62" y="183"/>
                    </a:lnTo>
                    <a:lnTo>
                      <a:pt x="53" y="184"/>
                    </a:lnTo>
                    <a:lnTo>
                      <a:pt x="43" y="186"/>
                    </a:lnTo>
                    <a:lnTo>
                      <a:pt x="32" y="186"/>
                    </a:lnTo>
                    <a:lnTo>
                      <a:pt x="25" y="186"/>
                    </a:lnTo>
                    <a:lnTo>
                      <a:pt x="17" y="184"/>
                    </a:lnTo>
                    <a:lnTo>
                      <a:pt x="10" y="175"/>
                    </a:lnTo>
                    <a:lnTo>
                      <a:pt x="7" y="153"/>
                    </a:lnTo>
                    <a:lnTo>
                      <a:pt x="4" y="123"/>
                    </a:lnTo>
                    <a:lnTo>
                      <a:pt x="1" y="90"/>
                    </a:lnTo>
                    <a:lnTo>
                      <a:pt x="1" y="58"/>
                    </a:lnTo>
                    <a:lnTo>
                      <a:pt x="0" y="28"/>
                    </a:lnTo>
                    <a:lnTo>
                      <a:pt x="0" y="7"/>
                    </a:lnTo>
                    <a:lnTo>
                      <a:pt x="0" y="0"/>
                    </a:lnTo>
                    <a:lnTo>
                      <a:pt x="82" y="22"/>
                    </a:lnTo>
                    <a:close/>
                  </a:path>
                </a:pathLst>
              </a:custGeom>
              <a:solidFill>
                <a:srgbClr val="00FFB2"/>
              </a:solidFill>
              <a:ln w="9525">
                <a:noFill/>
                <a:round/>
                <a:headEnd/>
                <a:tailEnd/>
              </a:ln>
            </p:spPr>
            <p:txBody>
              <a:bodyPr/>
              <a:lstStyle/>
              <a:p>
                <a:endParaRPr lang="en-US"/>
              </a:p>
            </p:txBody>
          </p:sp>
          <p:sp>
            <p:nvSpPr>
              <p:cNvPr id="27707" name="Freeform 20"/>
              <p:cNvSpPr>
                <a:spLocks/>
              </p:cNvSpPr>
              <p:nvPr/>
            </p:nvSpPr>
            <p:spPr bwMode="auto">
              <a:xfrm>
                <a:off x="2068" y="3741"/>
                <a:ext cx="15" cy="44"/>
              </a:xfrm>
              <a:custGeom>
                <a:avLst/>
                <a:gdLst>
                  <a:gd name="T0" fmla="*/ 1 w 29"/>
                  <a:gd name="T1" fmla="*/ 1 h 88"/>
                  <a:gd name="T2" fmla="*/ 1 w 29"/>
                  <a:gd name="T3" fmla="*/ 1 h 88"/>
                  <a:gd name="T4" fmla="*/ 1 w 29"/>
                  <a:gd name="T5" fmla="*/ 1 h 88"/>
                  <a:gd name="T6" fmla="*/ 1 w 29"/>
                  <a:gd name="T7" fmla="*/ 1 h 88"/>
                  <a:gd name="T8" fmla="*/ 1 w 29"/>
                  <a:gd name="T9" fmla="*/ 1 h 88"/>
                  <a:gd name="T10" fmla="*/ 1 w 29"/>
                  <a:gd name="T11" fmla="*/ 1 h 88"/>
                  <a:gd name="T12" fmla="*/ 1 w 29"/>
                  <a:gd name="T13" fmla="*/ 1 h 88"/>
                  <a:gd name="T14" fmla="*/ 1 w 29"/>
                  <a:gd name="T15" fmla="*/ 1 h 88"/>
                  <a:gd name="T16" fmla="*/ 1 w 29"/>
                  <a:gd name="T17" fmla="*/ 1 h 88"/>
                  <a:gd name="T18" fmla="*/ 1 w 29"/>
                  <a:gd name="T19" fmla="*/ 1 h 88"/>
                  <a:gd name="T20" fmla="*/ 1 w 29"/>
                  <a:gd name="T21" fmla="*/ 0 h 88"/>
                  <a:gd name="T22" fmla="*/ 1 w 29"/>
                  <a:gd name="T23" fmla="*/ 1 h 88"/>
                  <a:gd name="T24" fmla="*/ 1 w 29"/>
                  <a:gd name="T25" fmla="*/ 1 h 88"/>
                  <a:gd name="T26" fmla="*/ 1 w 29"/>
                  <a:gd name="T27" fmla="*/ 1 h 88"/>
                  <a:gd name="T28" fmla="*/ 1 w 29"/>
                  <a:gd name="T29" fmla="*/ 1 h 88"/>
                  <a:gd name="T30" fmla="*/ 1 w 29"/>
                  <a:gd name="T31" fmla="*/ 1 h 88"/>
                  <a:gd name="T32" fmla="*/ 0 w 29"/>
                  <a:gd name="T33" fmla="*/ 1 h 88"/>
                  <a:gd name="T34" fmla="*/ 0 w 29"/>
                  <a:gd name="T35" fmla="*/ 1 h 88"/>
                  <a:gd name="T36" fmla="*/ 0 w 29"/>
                  <a:gd name="T37" fmla="*/ 1 h 88"/>
                  <a:gd name="T38" fmla="*/ 0 w 29"/>
                  <a:gd name="T39" fmla="*/ 1 h 88"/>
                  <a:gd name="T40" fmla="*/ 1 w 29"/>
                  <a:gd name="T41" fmla="*/ 1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9"/>
                  <a:gd name="T64" fmla="*/ 0 h 88"/>
                  <a:gd name="T65" fmla="*/ 29 w 29"/>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9" h="88">
                    <a:moveTo>
                      <a:pt x="22" y="88"/>
                    </a:moveTo>
                    <a:lnTo>
                      <a:pt x="22" y="88"/>
                    </a:lnTo>
                    <a:lnTo>
                      <a:pt x="22" y="72"/>
                    </a:lnTo>
                    <a:lnTo>
                      <a:pt x="22" y="57"/>
                    </a:lnTo>
                    <a:lnTo>
                      <a:pt x="23" y="44"/>
                    </a:lnTo>
                    <a:lnTo>
                      <a:pt x="25" y="32"/>
                    </a:lnTo>
                    <a:lnTo>
                      <a:pt x="26" y="21"/>
                    </a:lnTo>
                    <a:lnTo>
                      <a:pt x="28" y="14"/>
                    </a:lnTo>
                    <a:lnTo>
                      <a:pt x="29" y="7"/>
                    </a:lnTo>
                    <a:lnTo>
                      <a:pt x="8" y="0"/>
                    </a:lnTo>
                    <a:lnTo>
                      <a:pt x="8" y="4"/>
                    </a:lnTo>
                    <a:lnTo>
                      <a:pt x="6" y="8"/>
                    </a:lnTo>
                    <a:lnTo>
                      <a:pt x="4" y="18"/>
                    </a:lnTo>
                    <a:lnTo>
                      <a:pt x="3" y="29"/>
                    </a:lnTo>
                    <a:lnTo>
                      <a:pt x="1" y="41"/>
                    </a:lnTo>
                    <a:lnTo>
                      <a:pt x="0" y="57"/>
                    </a:lnTo>
                    <a:lnTo>
                      <a:pt x="0" y="72"/>
                    </a:lnTo>
                    <a:lnTo>
                      <a:pt x="0" y="88"/>
                    </a:lnTo>
                    <a:lnTo>
                      <a:pt x="22" y="88"/>
                    </a:lnTo>
                    <a:close/>
                  </a:path>
                </a:pathLst>
              </a:custGeom>
              <a:solidFill>
                <a:srgbClr val="000000"/>
              </a:solidFill>
              <a:ln w="9525">
                <a:noFill/>
                <a:round/>
                <a:headEnd/>
                <a:tailEnd/>
              </a:ln>
            </p:spPr>
            <p:txBody>
              <a:bodyPr/>
              <a:lstStyle/>
              <a:p>
                <a:endParaRPr lang="en-US"/>
              </a:p>
            </p:txBody>
          </p:sp>
          <p:sp>
            <p:nvSpPr>
              <p:cNvPr id="27708" name="Freeform 21"/>
              <p:cNvSpPr>
                <a:spLocks/>
              </p:cNvSpPr>
              <p:nvPr/>
            </p:nvSpPr>
            <p:spPr bwMode="auto">
              <a:xfrm>
                <a:off x="2068" y="3785"/>
                <a:ext cx="13" cy="43"/>
              </a:xfrm>
              <a:custGeom>
                <a:avLst/>
                <a:gdLst>
                  <a:gd name="T0" fmla="*/ 1 w 25"/>
                  <a:gd name="T1" fmla="*/ 1 h 86"/>
                  <a:gd name="T2" fmla="*/ 1 w 25"/>
                  <a:gd name="T3" fmla="*/ 1 h 86"/>
                  <a:gd name="T4" fmla="*/ 1 w 25"/>
                  <a:gd name="T5" fmla="*/ 1 h 86"/>
                  <a:gd name="T6" fmla="*/ 1 w 25"/>
                  <a:gd name="T7" fmla="*/ 1 h 86"/>
                  <a:gd name="T8" fmla="*/ 1 w 25"/>
                  <a:gd name="T9" fmla="*/ 1 h 86"/>
                  <a:gd name="T10" fmla="*/ 1 w 25"/>
                  <a:gd name="T11" fmla="*/ 1 h 86"/>
                  <a:gd name="T12" fmla="*/ 1 w 25"/>
                  <a:gd name="T13" fmla="*/ 1 h 86"/>
                  <a:gd name="T14" fmla="*/ 1 w 25"/>
                  <a:gd name="T15" fmla="*/ 1 h 86"/>
                  <a:gd name="T16" fmla="*/ 1 w 25"/>
                  <a:gd name="T17" fmla="*/ 1 h 86"/>
                  <a:gd name="T18" fmla="*/ 1 w 25"/>
                  <a:gd name="T19" fmla="*/ 0 h 86"/>
                  <a:gd name="T20" fmla="*/ 0 w 25"/>
                  <a:gd name="T21" fmla="*/ 0 h 86"/>
                  <a:gd name="T22" fmla="*/ 0 w 25"/>
                  <a:gd name="T23" fmla="*/ 1 h 86"/>
                  <a:gd name="T24" fmla="*/ 1 w 25"/>
                  <a:gd name="T25" fmla="*/ 1 h 86"/>
                  <a:gd name="T26" fmla="*/ 1 w 25"/>
                  <a:gd name="T27" fmla="*/ 1 h 86"/>
                  <a:gd name="T28" fmla="*/ 1 w 25"/>
                  <a:gd name="T29" fmla="*/ 1 h 86"/>
                  <a:gd name="T30" fmla="*/ 1 w 25"/>
                  <a:gd name="T31" fmla="*/ 1 h 86"/>
                  <a:gd name="T32" fmla="*/ 1 w 25"/>
                  <a:gd name="T33" fmla="*/ 1 h 86"/>
                  <a:gd name="T34" fmla="*/ 1 w 25"/>
                  <a:gd name="T35" fmla="*/ 1 h 86"/>
                  <a:gd name="T36" fmla="*/ 1 w 25"/>
                  <a:gd name="T37" fmla="*/ 1 h 86"/>
                  <a:gd name="T38" fmla="*/ 1 w 25"/>
                  <a:gd name="T39" fmla="*/ 1 h 86"/>
                  <a:gd name="T40" fmla="*/ 1 w 25"/>
                  <a:gd name="T41" fmla="*/ 1 h 86"/>
                  <a:gd name="T42" fmla="*/ 1 w 25"/>
                  <a:gd name="T43" fmla="*/ 1 h 86"/>
                  <a:gd name="T44" fmla="*/ 1 w 25"/>
                  <a:gd name="T45" fmla="*/ 1 h 86"/>
                  <a:gd name="T46" fmla="*/ 1 w 25"/>
                  <a:gd name="T47" fmla="*/ 1 h 86"/>
                  <a:gd name="T48" fmla="*/ 1 w 25"/>
                  <a:gd name="T49" fmla="*/ 1 h 86"/>
                  <a:gd name="T50" fmla="*/ 1 w 25"/>
                  <a:gd name="T51" fmla="*/ 1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
                  <a:gd name="T79" fmla="*/ 0 h 86"/>
                  <a:gd name="T80" fmla="*/ 25 w 25"/>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 h="86">
                    <a:moveTo>
                      <a:pt x="15" y="86"/>
                    </a:moveTo>
                    <a:lnTo>
                      <a:pt x="25" y="75"/>
                    </a:lnTo>
                    <a:lnTo>
                      <a:pt x="25" y="74"/>
                    </a:lnTo>
                    <a:lnTo>
                      <a:pt x="25" y="69"/>
                    </a:lnTo>
                    <a:lnTo>
                      <a:pt x="25" y="61"/>
                    </a:lnTo>
                    <a:lnTo>
                      <a:pt x="23" y="52"/>
                    </a:lnTo>
                    <a:lnTo>
                      <a:pt x="23" y="42"/>
                    </a:lnTo>
                    <a:lnTo>
                      <a:pt x="23" y="30"/>
                    </a:lnTo>
                    <a:lnTo>
                      <a:pt x="22" y="16"/>
                    </a:lnTo>
                    <a:lnTo>
                      <a:pt x="22" y="0"/>
                    </a:lnTo>
                    <a:lnTo>
                      <a:pt x="0" y="0"/>
                    </a:lnTo>
                    <a:lnTo>
                      <a:pt x="0" y="16"/>
                    </a:lnTo>
                    <a:lnTo>
                      <a:pt x="1" y="30"/>
                    </a:lnTo>
                    <a:lnTo>
                      <a:pt x="1" y="42"/>
                    </a:lnTo>
                    <a:lnTo>
                      <a:pt x="1" y="55"/>
                    </a:lnTo>
                    <a:lnTo>
                      <a:pt x="3" y="64"/>
                    </a:lnTo>
                    <a:lnTo>
                      <a:pt x="3" y="69"/>
                    </a:lnTo>
                    <a:lnTo>
                      <a:pt x="3" y="74"/>
                    </a:lnTo>
                    <a:lnTo>
                      <a:pt x="3" y="75"/>
                    </a:lnTo>
                    <a:lnTo>
                      <a:pt x="12" y="64"/>
                    </a:lnTo>
                    <a:lnTo>
                      <a:pt x="3" y="75"/>
                    </a:lnTo>
                    <a:lnTo>
                      <a:pt x="6" y="83"/>
                    </a:lnTo>
                    <a:lnTo>
                      <a:pt x="14" y="86"/>
                    </a:lnTo>
                    <a:lnTo>
                      <a:pt x="22" y="83"/>
                    </a:lnTo>
                    <a:lnTo>
                      <a:pt x="25" y="75"/>
                    </a:lnTo>
                    <a:lnTo>
                      <a:pt x="15" y="86"/>
                    </a:lnTo>
                    <a:close/>
                  </a:path>
                </a:pathLst>
              </a:custGeom>
              <a:solidFill>
                <a:srgbClr val="000000"/>
              </a:solidFill>
              <a:ln w="9525">
                <a:noFill/>
                <a:round/>
                <a:headEnd/>
                <a:tailEnd/>
              </a:ln>
            </p:spPr>
            <p:txBody>
              <a:bodyPr/>
              <a:lstStyle/>
              <a:p>
                <a:endParaRPr lang="en-US"/>
              </a:p>
            </p:txBody>
          </p:sp>
          <p:sp>
            <p:nvSpPr>
              <p:cNvPr id="27709" name="Freeform 22"/>
              <p:cNvSpPr>
                <a:spLocks/>
              </p:cNvSpPr>
              <p:nvPr/>
            </p:nvSpPr>
            <p:spPr bwMode="auto">
              <a:xfrm>
                <a:off x="2043" y="3817"/>
                <a:ext cx="33" cy="13"/>
              </a:xfrm>
              <a:custGeom>
                <a:avLst/>
                <a:gdLst>
                  <a:gd name="T0" fmla="*/ 0 w 65"/>
                  <a:gd name="T1" fmla="*/ 0 h 27"/>
                  <a:gd name="T2" fmla="*/ 0 w 65"/>
                  <a:gd name="T3" fmla="*/ 0 h 27"/>
                  <a:gd name="T4" fmla="*/ 1 w 65"/>
                  <a:gd name="T5" fmla="*/ 0 h 27"/>
                  <a:gd name="T6" fmla="*/ 1 w 65"/>
                  <a:gd name="T7" fmla="*/ 0 h 27"/>
                  <a:gd name="T8" fmla="*/ 1 w 65"/>
                  <a:gd name="T9" fmla="*/ 0 h 27"/>
                  <a:gd name="T10" fmla="*/ 1 w 65"/>
                  <a:gd name="T11" fmla="*/ 0 h 27"/>
                  <a:gd name="T12" fmla="*/ 1 w 65"/>
                  <a:gd name="T13" fmla="*/ 0 h 27"/>
                  <a:gd name="T14" fmla="*/ 1 w 65"/>
                  <a:gd name="T15" fmla="*/ 0 h 27"/>
                  <a:gd name="T16" fmla="*/ 1 w 65"/>
                  <a:gd name="T17" fmla="*/ 0 h 27"/>
                  <a:gd name="T18" fmla="*/ 1 w 65"/>
                  <a:gd name="T19" fmla="*/ 0 h 27"/>
                  <a:gd name="T20" fmla="*/ 1 w 65"/>
                  <a:gd name="T21" fmla="*/ 0 h 27"/>
                  <a:gd name="T22" fmla="*/ 1 w 65"/>
                  <a:gd name="T23" fmla="*/ 0 h 27"/>
                  <a:gd name="T24" fmla="*/ 1 w 65"/>
                  <a:gd name="T25" fmla="*/ 0 h 27"/>
                  <a:gd name="T26" fmla="*/ 1 w 65"/>
                  <a:gd name="T27" fmla="*/ 0 h 27"/>
                  <a:gd name="T28" fmla="*/ 1 w 65"/>
                  <a:gd name="T29" fmla="*/ 0 h 27"/>
                  <a:gd name="T30" fmla="*/ 1 w 65"/>
                  <a:gd name="T31" fmla="*/ 0 h 27"/>
                  <a:gd name="T32" fmla="*/ 1 w 65"/>
                  <a:gd name="T33" fmla="*/ 0 h 27"/>
                  <a:gd name="T34" fmla="*/ 1 w 65"/>
                  <a:gd name="T35" fmla="*/ 0 h 27"/>
                  <a:gd name="T36" fmla="*/ 1 w 65"/>
                  <a:gd name="T37" fmla="*/ 0 h 27"/>
                  <a:gd name="T38" fmla="*/ 1 w 65"/>
                  <a:gd name="T39" fmla="*/ 0 h 27"/>
                  <a:gd name="T40" fmla="*/ 0 w 65"/>
                  <a:gd name="T41" fmla="*/ 0 h 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
                  <a:gd name="T64" fmla="*/ 0 h 27"/>
                  <a:gd name="T65" fmla="*/ 65 w 65"/>
                  <a:gd name="T66" fmla="*/ 27 h 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 h="27">
                    <a:moveTo>
                      <a:pt x="0" y="25"/>
                    </a:moveTo>
                    <a:lnTo>
                      <a:pt x="0" y="25"/>
                    </a:lnTo>
                    <a:lnTo>
                      <a:pt x="9" y="27"/>
                    </a:lnTo>
                    <a:lnTo>
                      <a:pt x="18" y="27"/>
                    </a:lnTo>
                    <a:lnTo>
                      <a:pt x="31" y="27"/>
                    </a:lnTo>
                    <a:lnTo>
                      <a:pt x="40" y="25"/>
                    </a:lnTo>
                    <a:lnTo>
                      <a:pt x="50" y="24"/>
                    </a:lnTo>
                    <a:lnTo>
                      <a:pt x="58" y="24"/>
                    </a:lnTo>
                    <a:lnTo>
                      <a:pt x="64" y="22"/>
                    </a:lnTo>
                    <a:lnTo>
                      <a:pt x="65" y="22"/>
                    </a:lnTo>
                    <a:lnTo>
                      <a:pt x="62" y="0"/>
                    </a:lnTo>
                    <a:lnTo>
                      <a:pt x="61" y="0"/>
                    </a:lnTo>
                    <a:lnTo>
                      <a:pt x="54" y="2"/>
                    </a:lnTo>
                    <a:lnTo>
                      <a:pt x="47" y="2"/>
                    </a:lnTo>
                    <a:lnTo>
                      <a:pt x="37" y="3"/>
                    </a:lnTo>
                    <a:lnTo>
                      <a:pt x="28" y="5"/>
                    </a:lnTo>
                    <a:lnTo>
                      <a:pt x="18" y="5"/>
                    </a:lnTo>
                    <a:lnTo>
                      <a:pt x="12" y="5"/>
                    </a:lnTo>
                    <a:lnTo>
                      <a:pt x="6" y="3"/>
                    </a:lnTo>
                    <a:lnTo>
                      <a:pt x="0" y="25"/>
                    </a:lnTo>
                    <a:close/>
                  </a:path>
                </a:pathLst>
              </a:custGeom>
              <a:solidFill>
                <a:srgbClr val="000000"/>
              </a:solidFill>
              <a:ln w="9525">
                <a:noFill/>
                <a:round/>
                <a:headEnd/>
                <a:tailEnd/>
              </a:ln>
            </p:spPr>
            <p:txBody>
              <a:bodyPr/>
              <a:lstStyle/>
              <a:p>
                <a:endParaRPr lang="en-US"/>
              </a:p>
            </p:txBody>
          </p:sp>
          <p:sp>
            <p:nvSpPr>
              <p:cNvPr id="27710" name="Freeform 23"/>
              <p:cNvSpPr>
                <a:spLocks/>
              </p:cNvSpPr>
              <p:nvPr/>
            </p:nvSpPr>
            <p:spPr bwMode="auto">
              <a:xfrm>
                <a:off x="2031" y="3726"/>
                <a:ext cx="16" cy="103"/>
              </a:xfrm>
              <a:custGeom>
                <a:avLst/>
                <a:gdLst>
                  <a:gd name="T0" fmla="*/ 1 w 32"/>
                  <a:gd name="T1" fmla="*/ 0 h 206"/>
                  <a:gd name="T2" fmla="*/ 0 w 32"/>
                  <a:gd name="T3" fmla="*/ 1 h 206"/>
                  <a:gd name="T4" fmla="*/ 0 w 32"/>
                  <a:gd name="T5" fmla="*/ 1 h 206"/>
                  <a:gd name="T6" fmla="*/ 0 w 32"/>
                  <a:gd name="T7" fmla="*/ 1 h 206"/>
                  <a:gd name="T8" fmla="*/ 1 w 32"/>
                  <a:gd name="T9" fmla="*/ 1 h 206"/>
                  <a:gd name="T10" fmla="*/ 1 w 32"/>
                  <a:gd name="T11" fmla="*/ 1 h 206"/>
                  <a:gd name="T12" fmla="*/ 1 w 32"/>
                  <a:gd name="T13" fmla="*/ 1 h 206"/>
                  <a:gd name="T14" fmla="*/ 1 w 32"/>
                  <a:gd name="T15" fmla="*/ 1 h 206"/>
                  <a:gd name="T16" fmla="*/ 1 w 32"/>
                  <a:gd name="T17" fmla="*/ 1 h 206"/>
                  <a:gd name="T18" fmla="*/ 1 w 32"/>
                  <a:gd name="T19" fmla="*/ 1 h 206"/>
                  <a:gd name="T20" fmla="*/ 1 w 32"/>
                  <a:gd name="T21" fmla="*/ 1 h 206"/>
                  <a:gd name="T22" fmla="*/ 1 w 32"/>
                  <a:gd name="T23" fmla="*/ 1 h 206"/>
                  <a:gd name="T24" fmla="*/ 1 w 32"/>
                  <a:gd name="T25" fmla="*/ 1 h 206"/>
                  <a:gd name="T26" fmla="*/ 1 w 32"/>
                  <a:gd name="T27" fmla="*/ 1 h 206"/>
                  <a:gd name="T28" fmla="*/ 1 w 32"/>
                  <a:gd name="T29" fmla="*/ 1 h 206"/>
                  <a:gd name="T30" fmla="*/ 1 w 32"/>
                  <a:gd name="T31" fmla="*/ 1 h 206"/>
                  <a:gd name="T32" fmla="*/ 1 w 32"/>
                  <a:gd name="T33" fmla="*/ 1 h 206"/>
                  <a:gd name="T34" fmla="*/ 1 w 32"/>
                  <a:gd name="T35" fmla="*/ 1 h 206"/>
                  <a:gd name="T36" fmla="*/ 1 w 32"/>
                  <a:gd name="T37" fmla="*/ 1 h 206"/>
                  <a:gd name="T38" fmla="*/ 1 w 32"/>
                  <a:gd name="T39" fmla="*/ 1 h 206"/>
                  <a:gd name="T40" fmla="*/ 1 w 32"/>
                  <a:gd name="T41" fmla="*/ 1 h 206"/>
                  <a:gd name="T42" fmla="*/ 1 w 32"/>
                  <a:gd name="T43" fmla="*/ 1 h 206"/>
                  <a:gd name="T44" fmla="*/ 1 w 32"/>
                  <a:gd name="T45" fmla="*/ 0 h 206"/>
                  <a:gd name="T46" fmla="*/ 1 w 32"/>
                  <a:gd name="T47" fmla="*/ 1 h 206"/>
                  <a:gd name="T48" fmla="*/ 0 w 32"/>
                  <a:gd name="T49" fmla="*/ 1 h 206"/>
                  <a:gd name="T50" fmla="*/ 1 w 32"/>
                  <a:gd name="T51" fmla="*/ 0 h 20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
                  <a:gd name="T79" fmla="*/ 0 h 206"/>
                  <a:gd name="T80" fmla="*/ 32 w 32"/>
                  <a:gd name="T81" fmla="*/ 206 h 20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 h="206">
                    <a:moveTo>
                      <a:pt x="14" y="0"/>
                    </a:moveTo>
                    <a:lnTo>
                      <a:pt x="0" y="11"/>
                    </a:lnTo>
                    <a:lnTo>
                      <a:pt x="0" y="18"/>
                    </a:lnTo>
                    <a:lnTo>
                      <a:pt x="0" y="39"/>
                    </a:lnTo>
                    <a:lnTo>
                      <a:pt x="1" y="69"/>
                    </a:lnTo>
                    <a:lnTo>
                      <a:pt x="1" y="101"/>
                    </a:lnTo>
                    <a:lnTo>
                      <a:pt x="4" y="136"/>
                    </a:lnTo>
                    <a:lnTo>
                      <a:pt x="7" y="166"/>
                    </a:lnTo>
                    <a:lnTo>
                      <a:pt x="11" y="189"/>
                    </a:lnTo>
                    <a:lnTo>
                      <a:pt x="25" y="206"/>
                    </a:lnTo>
                    <a:lnTo>
                      <a:pt x="31" y="184"/>
                    </a:lnTo>
                    <a:lnTo>
                      <a:pt x="32" y="183"/>
                    </a:lnTo>
                    <a:lnTo>
                      <a:pt x="29" y="162"/>
                    </a:lnTo>
                    <a:lnTo>
                      <a:pt x="26" y="133"/>
                    </a:lnTo>
                    <a:lnTo>
                      <a:pt x="23" y="101"/>
                    </a:lnTo>
                    <a:lnTo>
                      <a:pt x="23" y="69"/>
                    </a:lnTo>
                    <a:lnTo>
                      <a:pt x="21" y="39"/>
                    </a:lnTo>
                    <a:lnTo>
                      <a:pt x="21" y="18"/>
                    </a:lnTo>
                    <a:lnTo>
                      <a:pt x="21" y="11"/>
                    </a:lnTo>
                    <a:lnTo>
                      <a:pt x="7" y="22"/>
                    </a:lnTo>
                    <a:lnTo>
                      <a:pt x="21" y="11"/>
                    </a:lnTo>
                    <a:lnTo>
                      <a:pt x="18" y="3"/>
                    </a:lnTo>
                    <a:lnTo>
                      <a:pt x="11" y="0"/>
                    </a:lnTo>
                    <a:lnTo>
                      <a:pt x="3" y="3"/>
                    </a:lnTo>
                    <a:lnTo>
                      <a:pt x="0" y="11"/>
                    </a:lnTo>
                    <a:lnTo>
                      <a:pt x="14" y="0"/>
                    </a:lnTo>
                    <a:close/>
                  </a:path>
                </a:pathLst>
              </a:custGeom>
              <a:solidFill>
                <a:srgbClr val="000000"/>
              </a:solidFill>
              <a:ln w="9525">
                <a:noFill/>
                <a:round/>
                <a:headEnd/>
                <a:tailEnd/>
              </a:ln>
            </p:spPr>
            <p:txBody>
              <a:bodyPr/>
              <a:lstStyle/>
              <a:p>
                <a:endParaRPr lang="en-US"/>
              </a:p>
            </p:txBody>
          </p:sp>
          <p:sp>
            <p:nvSpPr>
              <p:cNvPr id="27711" name="Freeform 24"/>
              <p:cNvSpPr>
                <a:spLocks/>
              </p:cNvSpPr>
              <p:nvPr/>
            </p:nvSpPr>
            <p:spPr bwMode="auto">
              <a:xfrm>
                <a:off x="2035" y="3726"/>
                <a:ext cx="48" cy="22"/>
              </a:xfrm>
              <a:custGeom>
                <a:avLst/>
                <a:gdLst>
                  <a:gd name="T0" fmla="*/ 0 w 97"/>
                  <a:gd name="T1" fmla="*/ 1 h 43"/>
                  <a:gd name="T2" fmla="*/ 0 w 97"/>
                  <a:gd name="T3" fmla="*/ 1 h 43"/>
                  <a:gd name="T4" fmla="*/ 0 w 97"/>
                  <a:gd name="T5" fmla="*/ 0 h 43"/>
                  <a:gd name="T6" fmla="*/ 0 w 97"/>
                  <a:gd name="T7" fmla="*/ 1 h 43"/>
                  <a:gd name="T8" fmla="*/ 0 w 97"/>
                  <a:gd name="T9" fmla="*/ 1 h 43"/>
                  <a:gd name="T10" fmla="*/ 0 w 97"/>
                  <a:gd name="T11" fmla="*/ 1 h 43"/>
                  <a:gd name="T12" fmla="*/ 0 w 97"/>
                  <a:gd name="T13" fmla="*/ 1 h 43"/>
                  <a:gd name="T14" fmla="*/ 0 w 97"/>
                  <a:gd name="T15" fmla="*/ 1 h 43"/>
                  <a:gd name="T16" fmla="*/ 0 w 97"/>
                  <a:gd name="T17" fmla="*/ 1 h 43"/>
                  <a:gd name="T18" fmla="*/ 0 w 97"/>
                  <a:gd name="T19" fmla="*/ 1 h 43"/>
                  <a:gd name="T20" fmla="*/ 0 w 97"/>
                  <a:gd name="T21" fmla="*/ 1 h 43"/>
                  <a:gd name="T22" fmla="*/ 0 w 97"/>
                  <a:gd name="T23" fmla="*/ 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7"/>
                  <a:gd name="T37" fmla="*/ 0 h 43"/>
                  <a:gd name="T38" fmla="*/ 97 w 97"/>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7" h="43">
                    <a:moveTo>
                      <a:pt x="97" y="36"/>
                    </a:moveTo>
                    <a:lnTo>
                      <a:pt x="90" y="22"/>
                    </a:lnTo>
                    <a:lnTo>
                      <a:pt x="7" y="0"/>
                    </a:lnTo>
                    <a:lnTo>
                      <a:pt x="0" y="22"/>
                    </a:lnTo>
                    <a:lnTo>
                      <a:pt x="83" y="43"/>
                    </a:lnTo>
                    <a:lnTo>
                      <a:pt x="76" y="29"/>
                    </a:lnTo>
                    <a:lnTo>
                      <a:pt x="83" y="43"/>
                    </a:lnTo>
                    <a:lnTo>
                      <a:pt x="93" y="42"/>
                    </a:lnTo>
                    <a:lnTo>
                      <a:pt x="97" y="34"/>
                    </a:lnTo>
                    <a:lnTo>
                      <a:pt x="96" y="26"/>
                    </a:lnTo>
                    <a:lnTo>
                      <a:pt x="90" y="22"/>
                    </a:lnTo>
                    <a:lnTo>
                      <a:pt x="97" y="36"/>
                    </a:lnTo>
                    <a:close/>
                  </a:path>
                </a:pathLst>
              </a:custGeom>
              <a:solidFill>
                <a:srgbClr val="000000"/>
              </a:solidFill>
              <a:ln w="9525">
                <a:noFill/>
                <a:round/>
                <a:headEnd/>
                <a:tailEnd/>
              </a:ln>
            </p:spPr>
            <p:txBody>
              <a:bodyPr/>
              <a:lstStyle/>
              <a:p>
                <a:endParaRPr lang="en-US"/>
              </a:p>
            </p:txBody>
          </p:sp>
          <p:sp>
            <p:nvSpPr>
              <p:cNvPr id="27712" name="Freeform 25"/>
              <p:cNvSpPr>
                <a:spLocks/>
              </p:cNvSpPr>
              <p:nvPr/>
            </p:nvSpPr>
            <p:spPr bwMode="auto">
              <a:xfrm>
                <a:off x="2099" y="3720"/>
                <a:ext cx="156" cy="50"/>
              </a:xfrm>
              <a:custGeom>
                <a:avLst/>
                <a:gdLst>
                  <a:gd name="T0" fmla="*/ 0 w 311"/>
                  <a:gd name="T1" fmla="*/ 1 h 98"/>
                  <a:gd name="T2" fmla="*/ 0 w 311"/>
                  <a:gd name="T3" fmla="*/ 1 h 98"/>
                  <a:gd name="T4" fmla="*/ 1 w 311"/>
                  <a:gd name="T5" fmla="*/ 1 h 98"/>
                  <a:gd name="T6" fmla="*/ 1 w 311"/>
                  <a:gd name="T7" fmla="*/ 1 h 98"/>
                  <a:gd name="T8" fmla="*/ 1 w 311"/>
                  <a:gd name="T9" fmla="*/ 1 h 98"/>
                  <a:gd name="T10" fmla="*/ 1 w 311"/>
                  <a:gd name="T11" fmla="*/ 1 h 98"/>
                  <a:gd name="T12" fmla="*/ 1 w 311"/>
                  <a:gd name="T13" fmla="*/ 1 h 98"/>
                  <a:gd name="T14" fmla="*/ 1 w 311"/>
                  <a:gd name="T15" fmla="*/ 1 h 98"/>
                  <a:gd name="T16" fmla="*/ 1 w 311"/>
                  <a:gd name="T17" fmla="*/ 1 h 98"/>
                  <a:gd name="T18" fmla="*/ 1 w 311"/>
                  <a:gd name="T19" fmla="*/ 1 h 98"/>
                  <a:gd name="T20" fmla="*/ 1 w 311"/>
                  <a:gd name="T21" fmla="*/ 1 h 98"/>
                  <a:gd name="T22" fmla="*/ 1 w 311"/>
                  <a:gd name="T23" fmla="*/ 1 h 98"/>
                  <a:gd name="T24" fmla="*/ 1 w 311"/>
                  <a:gd name="T25" fmla="*/ 1 h 98"/>
                  <a:gd name="T26" fmla="*/ 1 w 311"/>
                  <a:gd name="T27" fmla="*/ 1 h 98"/>
                  <a:gd name="T28" fmla="*/ 1 w 311"/>
                  <a:gd name="T29" fmla="*/ 1 h 98"/>
                  <a:gd name="T30" fmla="*/ 1 w 311"/>
                  <a:gd name="T31" fmla="*/ 1 h 98"/>
                  <a:gd name="T32" fmla="*/ 1 w 311"/>
                  <a:gd name="T33" fmla="*/ 1 h 98"/>
                  <a:gd name="T34" fmla="*/ 1 w 311"/>
                  <a:gd name="T35" fmla="*/ 1 h 98"/>
                  <a:gd name="T36" fmla="*/ 1 w 311"/>
                  <a:gd name="T37" fmla="*/ 1 h 98"/>
                  <a:gd name="T38" fmla="*/ 1 w 311"/>
                  <a:gd name="T39" fmla="*/ 1 h 98"/>
                  <a:gd name="T40" fmla="*/ 1 w 311"/>
                  <a:gd name="T41" fmla="*/ 1 h 98"/>
                  <a:gd name="T42" fmla="*/ 1 w 311"/>
                  <a:gd name="T43" fmla="*/ 0 h 98"/>
                  <a:gd name="T44" fmla="*/ 0 w 311"/>
                  <a:gd name="T45" fmla="*/ 1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1"/>
                  <a:gd name="T70" fmla="*/ 0 h 98"/>
                  <a:gd name="T71" fmla="*/ 311 w 311"/>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1" h="98">
                    <a:moveTo>
                      <a:pt x="0" y="53"/>
                    </a:moveTo>
                    <a:lnTo>
                      <a:pt x="0" y="65"/>
                    </a:lnTo>
                    <a:lnTo>
                      <a:pt x="3" y="67"/>
                    </a:lnTo>
                    <a:lnTo>
                      <a:pt x="9" y="70"/>
                    </a:lnTo>
                    <a:lnTo>
                      <a:pt x="22" y="76"/>
                    </a:lnTo>
                    <a:lnTo>
                      <a:pt x="39" y="83"/>
                    </a:lnTo>
                    <a:lnTo>
                      <a:pt x="61" y="89"/>
                    </a:lnTo>
                    <a:lnTo>
                      <a:pt x="87" y="94"/>
                    </a:lnTo>
                    <a:lnTo>
                      <a:pt x="119" y="97"/>
                    </a:lnTo>
                    <a:lnTo>
                      <a:pt x="153" y="98"/>
                    </a:lnTo>
                    <a:lnTo>
                      <a:pt x="188" y="95"/>
                    </a:lnTo>
                    <a:lnTo>
                      <a:pt x="219" y="89"/>
                    </a:lnTo>
                    <a:lnTo>
                      <a:pt x="246" y="80"/>
                    </a:lnTo>
                    <a:lnTo>
                      <a:pt x="268" y="67"/>
                    </a:lnTo>
                    <a:lnTo>
                      <a:pt x="285" y="54"/>
                    </a:lnTo>
                    <a:lnTo>
                      <a:pt x="297" y="42"/>
                    </a:lnTo>
                    <a:lnTo>
                      <a:pt x="305" y="33"/>
                    </a:lnTo>
                    <a:lnTo>
                      <a:pt x="310" y="25"/>
                    </a:lnTo>
                    <a:lnTo>
                      <a:pt x="311" y="15"/>
                    </a:lnTo>
                    <a:lnTo>
                      <a:pt x="308" y="8"/>
                    </a:lnTo>
                    <a:lnTo>
                      <a:pt x="304" y="1"/>
                    </a:lnTo>
                    <a:lnTo>
                      <a:pt x="300" y="0"/>
                    </a:lnTo>
                    <a:lnTo>
                      <a:pt x="0" y="53"/>
                    </a:lnTo>
                    <a:close/>
                  </a:path>
                </a:pathLst>
              </a:custGeom>
              <a:solidFill>
                <a:srgbClr val="FF7226"/>
              </a:solidFill>
              <a:ln w="9525">
                <a:noFill/>
                <a:round/>
                <a:headEnd/>
                <a:tailEnd/>
              </a:ln>
            </p:spPr>
            <p:txBody>
              <a:bodyPr/>
              <a:lstStyle/>
              <a:p>
                <a:endParaRPr lang="en-US"/>
              </a:p>
            </p:txBody>
          </p:sp>
          <p:sp>
            <p:nvSpPr>
              <p:cNvPr id="27713" name="Freeform 26"/>
              <p:cNvSpPr>
                <a:spLocks/>
              </p:cNvSpPr>
              <p:nvPr/>
            </p:nvSpPr>
            <p:spPr bwMode="auto">
              <a:xfrm>
                <a:off x="2093" y="3747"/>
                <a:ext cx="11" cy="12"/>
              </a:xfrm>
              <a:custGeom>
                <a:avLst/>
                <a:gdLst>
                  <a:gd name="T0" fmla="*/ 1 w 22"/>
                  <a:gd name="T1" fmla="*/ 1 h 23"/>
                  <a:gd name="T2" fmla="*/ 1 w 22"/>
                  <a:gd name="T3" fmla="*/ 1 h 23"/>
                  <a:gd name="T4" fmla="*/ 1 w 22"/>
                  <a:gd name="T5" fmla="*/ 0 h 23"/>
                  <a:gd name="T6" fmla="*/ 0 w 22"/>
                  <a:gd name="T7" fmla="*/ 0 h 23"/>
                  <a:gd name="T8" fmla="*/ 0 w 22"/>
                  <a:gd name="T9" fmla="*/ 1 h 23"/>
                  <a:gd name="T10" fmla="*/ 1 w 22"/>
                  <a:gd name="T11" fmla="*/ 1 h 23"/>
                  <a:gd name="T12" fmla="*/ 0 w 22"/>
                  <a:gd name="T13" fmla="*/ 1 h 23"/>
                  <a:gd name="T14" fmla="*/ 1 w 22"/>
                  <a:gd name="T15" fmla="*/ 1 h 23"/>
                  <a:gd name="T16" fmla="*/ 1 w 22"/>
                  <a:gd name="T17" fmla="*/ 1 h 23"/>
                  <a:gd name="T18" fmla="*/ 1 w 22"/>
                  <a:gd name="T19" fmla="*/ 1 h 23"/>
                  <a:gd name="T20" fmla="*/ 1 w 22"/>
                  <a:gd name="T21" fmla="*/ 1 h 23"/>
                  <a:gd name="T22" fmla="*/ 1 w 22"/>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3"/>
                  <a:gd name="T38" fmla="*/ 22 w 22"/>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3">
                    <a:moveTo>
                      <a:pt x="17" y="3"/>
                    </a:moveTo>
                    <a:lnTo>
                      <a:pt x="22" y="12"/>
                    </a:lnTo>
                    <a:lnTo>
                      <a:pt x="22" y="0"/>
                    </a:lnTo>
                    <a:lnTo>
                      <a:pt x="0" y="0"/>
                    </a:lnTo>
                    <a:lnTo>
                      <a:pt x="0" y="12"/>
                    </a:lnTo>
                    <a:lnTo>
                      <a:pt x="5" y="22"/>
                    </a:lnTo>
                    <a:lnTo>
                      <a:pt x="0" y="12"/>
                    </a:lnTo>
                    <a:lnTo>
                      <a:pt x="3" y="20"/>
                    </a:lnTo>
                    <a:lnTo>
                      <a:pt x="11" y="23"/>
                    </a:lnTo>
                    <a:lnTo>
                      <a:pt x="19" y="20"/>
                    </a:lnTo>
                    <a:lnTo>
                      <a:pt x="22" y="12"/>
                    </a:lnTo>
                    <a:lnTo>
                      <a:pt x="17" y="3"/>
                    </a:lnTo>
                    <a:close/>
                  </a:path>
                </a:pathLst>
              </a:custGeom>
              <a:solidFill>
                <a:srgbClr val="000000"/>
              </a:solidFill>
              <a:ln w="9525">
                <a:noFill/>
                <a:round/>
                <a:headEnd/>
                <a:tailEnd/>
              </a:ln>
            </p:spPr>
            <p:txBody>
              <a:bodyPr/>
              <a:lstStyle/>
              <a:p>
                <a:endParaRPr lang="en-US"/>
              </a:p>
            </p:txBody>
          </p:sp>
          <p:sp>
            <p:nvSpPr>
              <p:cNvPr id="27714" name="Freeform 27"/>
              <p:cNvSpPr>
                <a:spLocks/>
              </p:cNvSpPr>
              <p:nvPr/>
            </p:nvSpPr>
            <p:spPr bwMode="auto">
              <a:xfrm>
                <a:off x="2096" y="3749"/>
                <a:ext cx="80" cy="26"/>
              </a:xfrm>
              <a:custGeom>
                <a:avLst/>
                <a:gdLst>
                  <a:gd name="T0" fmla="*/ 1 w 159"/>
                  <a:gd name="T1" fmla="*/ 0 h 53"/>
                  <a:gd name="T2" fmla="*/ 1 w 159"/>
                  <a:gd name="T3" fmla="*/ 0 h 53"/>
                  <a:gd name="T4" fmla="*/ 1 w 159"/>
                  <a:gd name="T5" fmla="*/ 0 h 53"/>
                  <a:gd name="T6" fmla="*/ 1 w 159"/>
                  <a:gd name="T7" fmla="*/ 0 h 53"/>
                  <a:gd name="T8" fmla="*/ 1 w 159"/>
                  <a:gd name="T9" fmla="*/ 0 h 53"/>
                  <a:gd name="T10" fmla="*/ 1 w 159"/>
                  <a:gd name="T11" fmla="*/ 0 h 53"/>
                  <a:gd name="T12" fmla="*/ 1 w 159"/>
                  <a:gd name="T13" fmla="*/ 0 h 53"/>
                  <a:gd name="T14" fmla="*/ 1 w 159"/>
                  <a:gd name="T15" fmla="*/ 0 h 53"/>
                  <a:gd name="T16" fmla="*/ 1 w 159"/>
                  <a:gd name="T17" fmla="*/ 0 h 53"/>
                  <a:gd name="T18" fmla="*/ 1 w 159"/>
                  <a:gd name="T19" fmla="*/ 0 h 53"/>
                  <a:gd name="T20" fmla="*/ 0 w 159"/>
                  <a:gd name="T21" fmla="*/ 0 h 53"/>
                  <a:gd name="T22" fmla="*/ 1 w 159"/>
                  <a:gd name="T23" fmla="*/ 0 h 53"/>
                  <a:gd name="T24" fmla="*/ 1 w 159"/>
                  <a:gd name="T25" fmla="*/ 0 h 53"/>
                  <a:gd name="T26" fmla="*/ 1 w 159"/>
                  <a:gd name="T27" fmla="*/ 0 h 53"/>
                  <a:gd name="T28" fmla="*/ 1 w 159"/>
                  <a:gd name="T29" fmla="*/ 0 h 53"/>
                  <a:gd name="T30" fmla="*/ 1 w 159"/>
                  <a:gd name="T31" fmla="*/ 0 h 53"/>
                  <a:gd name="T32" fmla="*/ 1 w 159"/>
                  <a:gd name="T33" fmla="*/ 0 h 53"/>
                  <a:gd name="T34" fmla="*/ 1 w 159"/>
                  <a:gd name="T35" fmla="*/ 0 h 53"/>
                  <a:gd name="T36" fmla="*/ 1 w 159"/>
                  <a:gd name="T37" fmla="*/ 0 h 53"/>
                  <a:gd name="T38" fmla="*/ 1 w 159"/>
                  <a:gd name="T39" fmla="*/ 0 h 53"/>
                  <a:gd name="T40" fmla="*/ 1 w 159"/>
                  <a:gd name="T41" fmla="*/ 0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
                  <a:gd name="T64" fmla="*/ 0 h 53"/>
                  <a:gd name="T65" fmla="*/ 159 w 159"/>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 h="53">
                    <a:moveTo>
                      <a:pt x="159" y="31"/>
                    </a:moveTo>
                    <a:lnTo>
                      <a:pt x="159" y="31"/>
                    </a:lnTo>
                    <a:lnTo>
                      <a:pt x="125" y="30"/>
                    </a:lnTo>
                    <a:lnTo>
                      <a:pt x="95" y="27"/>
                    </a:lnTo>
                    <a:lnTo>
                      <a:pt x="70" y="22"/>
                    </a:lnTo>
                    <a:lnTo>
                      <a:pt x="48" y="16"/>
                    </a:lnTo>
                    <a:lnTo>
                      <a:pt x="32" y="11"/>
                    </a:lnTo>
                    <a:lnTo>
                      <a:pt x="20" y="5"/>
                    </a:lnTo>
                    <a:lnTo>
                      <a:pt x="14" y="2"/>
                    </a:lnTo>
                    <a:lnTo>
                      <a:pt x="12" y="0"/>
                    </a:lnTo>
                    <a:lnTo>
                      <a:pt x="0" y="19"/>
                    </a:lnTo>
                    <a:lnTo>
                      <a:pt x="4" y="20"/>
                    </a:lnTo>
                    <a:lnTo>
                      <a:pt x="10" y="24"/>
                    </a:lnTo>
                    <a:lnTo>
                      <a:pt x="23" y="30"/>
                    </a:lnTo>
                    <a:lnTo>
                      <a:pt x="42" y="38"/>
                    </a:lnTo>
                    <a:lnTo>
                      <a:pt x="64" y="44"/>
                    </a:lnTo>
                    <a:lnTo>
                      <a:pt x="92" y="49"/>
                    </a:lnTo>
                    <a:lnTo>
                      <a:pt x="125" y="52"/>
                    </a:lnTo>
                    <a:lnTo>
                      <a:pt x="159" y="53"/>
                    </a:lnTo>
                    <a:lnTo>
                      <a:pt x="159" y="31"/>
                    </a:lnTo>
                    <a:close/>
                  </a:path>
                </a:pathLst>
              </a:custGeom>
              <a:solidFill>
                <a:srgbClr val="000000"/>
              </a:solidFill>
              <a:ln w="9525">
                <a:noFill/>
                <a:round/>
                <a:headEnd/>
                <a:tailEnd/>
              </a:ln>
            </p:spPr>
            <p:txBody>
              <a:bodyPr/>
              <a:lstStyle/>
              <a:p>
                <a:endParaRPr lang="en-US"/>
              </a:p>
            </p:txBody>
          </p:sp>
          <p:sp>
            <p:nvSpPr>
              <p:cNvPr id="27715" name="Freeform 28"/>
              <p:cNvSpPr>
                <a:spLocks/>
              </p:cNvSpPr>
              <p:nvPr/>
            </p:nvSpPr>
            <p:spPr bwMode="auto">
              <a:xfrm>
                <a:off x="2176" y="3731"/>
                <a:ext cx="83" cy="44"/>
              </a:xfrm>
              <a:custGeom>
                <a:avLst/>
                <a:gdLst>
                  <a:gd name="T0" fmla="*/ 0 w 168"/>
                  <a:gd name="T1" fmla="*/ 0 h 89"/>
                  <a:gd name="T2" fmla="*/ 0 w 168"/>
                  <a:gd name="T3" fmla="*/ 0 h 89"/>
                  <a:gd name="T4" fmla="*/ 0 w 168"/>
                  <a:gd name="T5" fmla="*/ 0 h 89"/>
                  <a:gd name="T6" fmla="*/ 0 w 168"/>
                  <a:gd name="T7" fmla="*/ 0 h 89"/>
                  <a:gd name="T8" fmla="*/ 0 w 168"/>
                  <a:gd name="T9" fmla="*/ 0 h 89"/>
                  <a:gd name="T10" fmla="*/ 0 w 168"/>
                  <a:gd name="T11" fmla="*/ 0 h 89"/>
                  <a:gd name="T12" fmla="*/ 0 w 168"/>
                  <a:gd name="T13" fmla="*/ 0 h 89"/>
                  <a:gd name="T14" fmla="*/ 0 w 168"/>
                  <a:gd name="T15" fmla="*/ 0 h 89"/>
                  <a:gd name="T16" fmla="*/ 0 w 168"/>
                  <a:gd name="T17" fmla="*/ 0 h 89"/>
                  <a:gd name="T18" fmla="*/ 0 w 168"/>
                  <a:gd name="T19" fmla="*/ 0 h 89"/>
                  <a:gd name="T20" fmla="*/ 0 w 168"/>
                  <a:gd name="T21" fmla="*/ 0 h 89"/>
                  <a:gd name="T22" fmla="*/ 0 w 168"/>
                  <a:gd name="T23" fmla="*/ 0 h 89"/>
                  <a:gd name="T24" fmla="*/ 0 w 168"/>
                  <a:gd name="T25" fmla="*/ 0 h 89"/>
                  <a:gd name="T26" fmla="*/ 0 w 168"/>
                  <a:gd name="T27" fmla="*/ 0 h 89"/>
                  <a:gd name="T28" fmla="*/ 0 w 168"/>
                  <a:gd name="T29" fmla="*/ 0 h 89"/>
                  <a:gd name="T30" fmla="*/ 0 w 168"/>
                  <a:gd name="T31" fmla="*/ 0 h 89"/>
                  <a:gd name="T32" fmla="*/ 0 w 168"/>
                  <a:gd name="T33" fmla="*/ 0 h 89"/>
                  <a:gd name="T34" fmla="*/ 0 w 168"/>
                  <a:gd name="T35" fmla="*/ 0 h 89"/>
                  <a:gd name="T36" fmla="*/ 0 w 168"/>
                  <a:gd name="T37" fmla="*/ 0 h 89"/>
                  <a:gd name="T38" fmla="*/ 0 w 168"/>
                  <a:gd name="T39" fmla="*/ 0 h 89"/>
                  <a:gd name="T40" fmla="*/ 0 w 168"/>
                  <a:gd name="T41" fmla="*/ 0 h 8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8"/>
                  <a:gd name="T64" fmla="*/ 0 h 89"/>
                  <a:gd name="T65" fmla="*/ 168 w 168"/>
                  <a:gd name="T66" fmla="*/ 89 h 8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8" h="89">
                    <a:moveTo>
                      <a:pt x="147" y="0"/>
                    </a:moveTo>
                    <a:lnTo>
                      <a:pt x="146" y="2"/>
                    </a:lnTo>
                    <a:lnTo>
                      <a:pt x="143" y="6"/>
                    </a:lnTo>
                    <a:lnTo>
                      <a:pt x="136" y="14"/>
                    </a:lnTo>
                    <a:lnTo>
                      <a:pt x="124" y="27"/>
                    </a:lnTo>
                    <a:lnTo>
                      <a:pt x="108" y="38"/>
                    </a:lnTo>
                    <a:lnTo>
                      <a:pt x="88" y="50"/>
                    </a:lnTo>
                    <a:lnTo>
                      <a:pt x="63" y="58"/>
                    </a:lnTo>
                    <a:lnTo>
                      <a:pt x="33" y="64"/>
                    </a:lnTo>
                    <a:lnTo>
                      <a:pt x="0" y="67"/>
                    </a:lnTo>
                    <a:lnTo>
                      <a:pt x="0" y="89"/>
                    </a:lnTo>
                    <a:lnTo>
                      <a:pt x="36" y="86"/>
                    </a:lnTo>
                    <a:lnTo>
                      <a:pt x="69" y="80"/>
                    </a:lnTo>
                    <a:lnTo>
                      <a:pt x="97" y="69"/>
                    </a:lnTo>
                    <a:lnTo>
                      <a:pt x="121" y="56"/>
                    </a:lnTo>
                    <a:lnTo>
                      <a:pt x="140" y="42"/>
                    </a:lnTo>
                    <a:lnTo>
                      <a:pt x="152" y="30"/>
                    </a:lnTo>
                    <a:lnTo>
                      <a:pt x="161" y="19"/>
                    </a:lnTo>
                    <a:lnTo>
                      <a:pt x="168" y="8"/>
                    </a:lnTo>
                    <a:lnTo>
                      <a:pt x="166" y="9"/>
                    </a:lnTo>
                    <a:lnTo>
                      <a:pt x="147" y="0"/>
                    </a:lnTo>
                    <a:close/>
                  </a:path>
                </a:pathLst>
              </a:custGeom>
              <a:solidFill>
                <a:srgbClr val="000000"/>
              </a:solidFill>
              <a:ln w="9525">
                <a:noFill/>
                <a:round/>
                <a:headEnd/>
                <a:tailEnd/>
              </a:ln>
            </p:spPr>
            <p:txBody>
              <a:bodyPr/>
              <a:lstStyle/>
              <a:p>
                <a:endParaRPr lang="en-US"/>
              </a:p>
            </p:txBody>
          </p:sp>
          <p:sp>
            <p:nvSpPr>
              <p:cNvPr id="27716" name="Freeform 29"/>
              <p:cNvSpPr>
                <a:spLocks/>
              </p:cNvSpPr>
              <p:nvPr/>
            </p:nvSpPr>
            <p:spPr bwMode="auto">
              <a:xfrm>
                <a:off x="2244" y="3715"/>
                <a:ext cx="16" cy="20"/>
              </a:xfrm>
              <a:custGeom>
                <a:avLst/>
                <a:gdLst>
                  <a:gd name="T0" fmla="*/ 0 w 33"/>
                  <a:gd name="T1" fmla="*/ 1 h 40"/>
                  <a:gd name="T2" fmla="*/ 0 w 33"/>
                  <a:gd name="T3" fmla="*/ 1 h 40"/>
                  <a:gd name="T4" fmla="*/ 0 w 33"/>
                  <a:gd name="T5" fmla="*/ 1 h 40"/>
                  <a:gd name="T6" fmla="*/ 0 w 33"/>
                  <a:gd name="T7" fmla="*/ 1 h 40"/>
                  <a:gd name="T8" fmla="*/ 0 w 33"/>
                  <a:gd name="T9" fmla="*/ 1 h 40"/>
                  <a:gd name="T10" fmla="*/ 0 w 33"/>
                  <a:gd name="T11" fmla="*/ 1 h 40"/>
                  <a:gd name="T12" fmla="*/ 0 w 33"/>
                  <a:gd name="T13" fmla="*/ 1 h 40"/>
                  <a:gd name="T14" fmla="*/ 0 w 33"/>
                  <a:gd name="T15" fmla="*/ 1 h 40"/>
                  <a:gd name="T16" fmla="*/ 0 w 33"/>
                  <a:gd name="T17" fmla="*/ 1 h 40"/>
                  <a:gd name="T18" fmla="*/ 0 w 33"/>
                  <a:gd name="T19" fmla="*/ 1 h 40"/>
                  <a:gd name="T20" fmla="*/ 0 w 33"/>
                  <a:gd name="T21" fmla="*/ 1 h 40"/>
                  <a:gd name="T22" fmla="*/ 0 w 33"/>
                  <a:gd name="T23" fmla="*/ 0 h 40"/>
                  <a:gd name="T24" fmla="*/ 0 w 33"/>
                  <a:gd name="T25" fmla="*/ 1 h 40"/>
                  <a:gd name="T26" fmla="*/ 0 w 33"/>
                  <a:gd name="T27" fmla="*/ 0 h 40"/>
                  <a:gd name="T28" fmla="*/ 0 w 33"/>
                  <a:gd name="T29" fmla="*/ 1 h 40"/>
                  <a:gd name="T30" fmla="*/ 0 w 33"/>
                  <a:gd name="T31" fmla="*/ 1 h 40"/>
                  <a:gd name="T32" fmla="*/ 0 w 33"/>
                  <a:gd name="T33" fmla="*/ 1 h 40"/>
                  <a:gd name="T34" fmla="*/ 0 w 33"/>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
                  <a:gd name="T55" fmla="*/ 0 h 40"/>
                  <a:gd name="T56" fmla="*/ 33 w 33"/>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 h="40">
                    <a:moveTo>
                      <a:pt x="13" y="22"/>
                    </a:moveTo>
                    <a:lnTo>
                      <a:pt x="5" y="20"/>
                    </a:lnTo>
                    <a:lnTo>
                      <a:pt x="7" y="20"/>
                    </a:lnTo>
                    <a:lnTo>
                      <a:pt x="10" y="23"/>
                    </a:lnTo>
                    <a:lnTo>
                      <a:pt x="11" y="28"/>
                    </a:lnTo>
                    <a:lnTo>
                      <a:pt x="11" y="31"/>
                    </a:lnTo>
                    <a:lnTo>
                      <a:pt x="30" y="40"/>
                    </a:lnTo>
                    <a:lnTo>
                      <a:pt x="33" y="25"/>
                    </a:lnTo>
                    <a:lnTo>
                      <a:pt x="29" y="14"/>
                    </a:lnTo>
                    <a:lnTo>
                      <a:pt x="22" y="4"/>
                    </a:lnTo>
                    <a:lnTo>
                      <a:pt x="18" y="1"/>
                    </a:lnTo>
                    <a:lnTo>
                      <a:pt x="10" y="0"/>
                    </a:lnTo>
                    <a:lnTo>
                      <a:pt x="18" y="1"/>
                    </a:lnTo>
                    <a:lnTo>
                      <a:pt x="8" y="0"/>
                    </a:lnTo>
                    <a:lnTo>
                      <a:pt x="2" y="4"/>
                    </a:lnTo>
                    <a:lnTo>
                      <a:pt x="0" y="12"/>
                    </a:lnTo>
                    <a:lnTo>
                      <a:pt x="5" y="20"/>
                    </a:lnTo>
                    <a:lnTo>
                      <a:pt x="13" y="22"/>
                    </a:lnTo>
                    <a:close/>
                  </a:path>
                </a:pathLst>
              </a:custGeom>
              <a:solidFill>
                <a:srgbClr val="000000"/>
              </a:solidFill>
              <a:ln w="9525">
                <a:noFill/>
                <a:round/>
                <a:headEnd/>
                <a:tailEnd/>
              </a:ln>
            </p:spPr>
            <p:txBody>
              <a:bodyPr/>
              <a:lstStyle/>
              <a:p>
                <a:endParaRPr lang="en-US"/>
              </a:p>
            </p:txBody>
          </p:sp>
          <p:sp>
            <p:nvSpPr>
              <p:cNvPr id="27717" name="Freeform 30"/>
              <p:cNvSpPr>
                <a:spLocks/>
              </p:cNvSpPr>
              <p:nvPr/>
            </p:nvSpPr>
            <p:spPr bwMode="auto">
              <a:xfrm>
                <a:off x="2093" y="3715"/>
                <a:ext cx="157" cy="37"/>
              </a:xfrm>
              <a:custGeom>
                <a:avLst/>
                <a:gdLst>
                  <a:gd name="T0" fmla="*/ 1 w 313"/>
                  <a:gd name="T1" fmla="*/ 0 h 75"/>
                  <a:gd name="T2" fmla="*/ 1 w 313"/>
                  <a:gd name="T3" fmla="*/ 0 h 75"/>
                  <a:gd name="T4" fmla="*/ 1 w 313"/>
                  <a:gd name="T5" fmla="*/ 0 h 75"/>
                  <a:gd name="T6" fmla="*/ 1 w 313"/>
                  <a:gd name="T7" fmla="*/ 0 h 75"/>
                  <a:gd name="T8" fmla="*/ 1 w 313"/>
                  <a:gd name="T9" fmla="*/ 0 h 75"/>
                  <a:gd name="T10" fmla="*/ 0 w 313"/>
                  <a:gd name="T11" fmla="*/ 0 h 75"/>
                  <a:gd name="T12" fmla="*/ 1 w 313"/>
                  <a:gd name="T13" fmla="*/ 0 h 75"/>
                  <a:gd name="T14" fmla="*/ 1 w 313"/>
                  <a:gd name="T15" fmla="*/ 0 h 75"/>
                  <a:gd name="T16" fmla="*/ 0 w 313"/>
                  <a:gd name="T17" fmla="*/ 0 h 75"/>
                  <a:gd name="T18" fmla="*/ 1 w 313"/>
                  <a:gd name="T19" fmla="*/ 0 h 75"/>
                  <a:gd name="T20" fmla="*/ 1 w 313"/>
                  <a:gd name="T21" fmla="*/ 0 h 75"/>
                  <a:gd name="T22" fmla="*/ 1 w 313"/>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3"/>
                  <a:gd name="T37" fmla="*/ 0 h 75"/>
                  <a:gd name="T38" fmla="*/ 313 w 313"/>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3" h="75">
                    <a:moveTo>
                      <a:pt x="22" y="64"/>
                    </a:moveTo>
                    <a:lnTo>
                      <a:pt x="12" y="75"/>
                    </a:lnTo>
                    <a:lnTo>
                      <a:pt x="313" y="22"/>
                    </a:lnTo>
                    <a:lnTo>
                      <a:pt x="310" y="0"/>
                    </a:lnTo>
                    <a:lnTo>
                      <a:pt x="9" y="53"/>
                    </a:lnTo>
                    <a:lnTo>
                      <a:pt x="0" y="64"/>
                    </a:lnTo>
                    <a:lnTo>
                      <a:pt x="9" y="53"/>
                    </a:lnTo>
                    <a:lnTo>
                      <a:pt x="1" y="58"/>
                    </a:lnTo>
                    <a:lnTo>
                      <a:pt x="0" y="65"/>
                    </a:lnTo>
                    <a:lnTo>
                      <a:pt x="5" y="72"/>
                    </a:lnTo>
                    <a:lnTo>
                      <a:pt x="12" y="75"/>
                    </a:lnTo>
                    <a:lnTo>
                      <a:pt x="22" y="64"/>
                    </a:lnTo>
                    <a:close/>
                  </a:path>
                </a:pathLst>
              </a:custGeom>
              <a:solidFill>
                <a:srgbClr val="000000"/>
              </a:solidFill>
              <a:ln w="9525">
                <a:noFill/>
                <a:round/>
                <a:headEnd/>
                <a:tailEnd/>
              </a:ln>
            </p:spPr>
            <p:txBody>
              <a:bodyPr/>
              <a:lstStyle/>
              <a:p>
                <a:endParaRPr lang="en-US"/>
              </a:p>
            </p:txBody>
          </p:sp>
          <p:sp>
            <p:nvSpPr>
              <p:cNvPr id="27718" name="Freeform 31"/>
              <p:cNvSpPr>
                <a:spLocks/>
              </p:cNvSpPr>
              <p:nvPr/>
            </p:nvSpPr>
            <p:spPr bwMode="auto">
              <a:xfrm>
                <a:off x="1840" y="3694"/>
                <a:ext cx="123" cy="254"/>
              </a:xfrm>
              <a:custGeom>
                <a:avLst/>
                <a:gdLst>
                  <a:gd name="T0" fmla="*/ 1 w 245"/>
                  <a:gd name="T1" fmla="*/ 0 h 508"/>
                  <a:gd name="T2" fmla="*/ 1 w 245"/>
                  <a:gd name="T3" fmla="*/ 1 h 508"/>
                  <a:gd name="T4" fmla="*/ 0 w 245"/>
                  <a:gd name="T5" fmla="*/ 1 h 508"/>
                  <a:gd name="T6" fmla="*/ 0 w 245"/>
                  <a:gd name="T7" fmla="*/ 1 h 508"/>
                  <a:gd name="T8" fmla="*/ 1 w 245"/>
                  <a:gd name="T9" fmla="*/ 0 h 508"/>
                  <a:gd name="T10" fmla="*/ 0 60000 65536"/>
                  <a:gd name="T11" fmla="*/ 0 60000 65536"/>
                  <a:gd name="T12" fmla="*/ 0 60000 65536"/>
                  <a:gd name="T13" fmla="*/ 0 60000 65536"/>
                  <a:gd name="T14" fmla="*/ 0 60000 65536"/>
                  <a:gd name="T15" fmla="*/ 0 w 245"/>
                  <a:gd name="T16" fmla="*/ 0 h 508"/>
                  <a:gd name="T17" fmla="*/ 245 w 245"/>
                  <a:gd name="T18" fmla="*/ 508 h 508"/>
                </a:gdLst>
                <a:ahLst/>
                <a:cxnLst>
                  <a:cxn ang="T10">
                    <a:pos x="T0" y="T1"/>
                  </a:cxn>
                  <a:cxn ang="T11">
                    <a:pos x="T2" y="T3"/>
                  </a:cxn>
                  <a:cxn ang="T12">
                    <a:pos x="T4" y="T5"/>
                  </a:cxn>
                  <a:cxn ang="T13">
                    <a:pos x="T6" y="T7"/>
                  </a:cxn>
                  <a:cxn ang="T14">
                    <a:pos x="T8" y="T9"/>
                  </a:cxn>
                </a:cxnLst>
                <a:rect l="T15" t="T16" r="T17" b="T18"/>
                <a:pathLst>
                  <a:path w="245" h="508">
                    <a:moveTo>
                      <a:pt x="245" y="0"/>
                    </a:moveTo>
                    <a:lnTo>
                      <a:pt x="245" y="366"/>
                    </a:lnTo>
                    <a:lnTo>
                      <a:pt x="0" y="508"/>
                    </a:lnTo>
                    <a:lnTo>
                      <a:pt x="0" y="143"/>
                    </a:lnTo>
                    <a:lnTo>
                      <a:pt x="245" y="0"/>
                    </a:lnTo>
                    <a:close/>
                  </a:path>
                </a:pathLst>
              </a:custGeom>
              <a:solidFill>
                <a:srgbClr val="4CFF00"/>
              </a:solidFill>
              <a:ln w="9525">
                <a:noFill/>
                <a:round/>
                <a:headEnd/>
                <a:tailEnd/>
              </a:ln>
            </p:spPr>
            <p:txBody>
              <a:bodyPr/>
              <a:lstStyle/>
              <a:p>
                <a:endParaRPr lang="en-US"/>
              </a:p>
            </p:txBody>
          </p:sp>
          <p:sp>
            <p:nvSpPr>
              <p:cNvPr id="27719" name="Freeform 32"/>
              <p:cNvSpPr>
                <a:spLocks/>
              </p:cNvSpPr>
              <p:nvPr/>
            </p:nvSpPr>
            <p:spPr bwMode="auto">
              <a:xfrm>
                <a:off x="1957" y="3694"/>
                <a:ext cx="11" cy="188"/>
              </a:xfrm>
              <a:custGeom>
                <a:avLst/>
                <a:gdLst>
                  <a:gd name="T0" fmla="*/ 1 w 22"/>
                  <a:gd name="T1" fmla="*/ 0 h 377"/>
                  <a:gd name="T2" fmla="*/ 1 w 22"/>
                  <a:gd name="T3" fmla="*/ 0 h 377"/>
                  <a:gd name="T4" fmla="*/ 1 w 22"/>
                  <a:gd name="T5" fmla="*/ 0 h 377"/>
                  <a:gd name="T6" fmla="*/ 0 w 22"/>
                  <a:gd name="T7" fmla="*/ 0 h 377"/>
                  <a:gd name="T8" fmla="*/ 0 w 22"/>
                  <a:gd name="T9" fmla="*/ 0 h 377"/>
                  <a:gd name="T10" fmla="*/ 1 w 22"/>
                  <a:gd name="T11" fmla="*/ 0 h 377"/>
                  <a:gd name="T12" fmla="*/ 0 w 22"/>
                  <a:gd name="T13" fmla="*/ 0 h 377"/>
                  <a:gd name="T14" fmla="*/ 1 w 22"/>
                  <a:gd name="T15" fmla="*/ 0 h 377"/>
                  <a:gd name="T16" fmla="*/ 1 w 22"/>
                  <a:gd name="T17" fmla="*/ 0 h 377"/>
                  <a:gd name="T18" fmla="*/ 1 w 22"/>
                  <a:gd name="T19" fmla="*/ 0 h 377"/>
                  <a:gd name="T20" fmla="*/ 1 w 22"/>
                  <a:gd name="T21" fmla="*/ 0 h 377"/>
                  <a:gd name="T22" fmla="*/ 1 w 22"/>
                  <a:gd name="T23" fmla="*/ 0 h 3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7"/>
                  <a:gd name="T38" fmla="*/ 22 w 22"/>
                  <a:gd name="T39" fmla="*/ 377 h 3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7">
                    <a:moveTo>
                      <a:pt x="16" y="375"/>
                    </a:moveTo>
                    <a:lnTo>
                      <a:pt x="22" y="366"/>
                    </a:lnTo>
                    <a:lnTo>
                      <a:pt x="22" y="0"/>
                    </a:lnTo>
                    <a:lnTo>
                      <a:pt x="0" y="0"/>
                    </a:lnTo>
                    <a:lnTo>
                      <a:pt x="0" y="366"/>
                    </a:lnTo>
                    <a:lnTo>
                      <a:pt x="7" y="356"/>
                    </a:lnTo>
                    <a:lnTo>
                      <a:pt x="0" y="366"/>
                    </a:lnTo>
                    <a:lnTo>
                      <a:pt x="4" y="373"/>
                    </a:lnTo>
                    <a:lnTo>
                      <a:pt x="11" y="377"/>
                    </a:lnTo>
                    <a:lnTo>
                      <a:pt x="19" y="373"/>
                    </a:lnTo>
                    <a:lnTo>
                      <a:pt x="22" y="366"/>
                    </a:lnTo>
                    <a:lnTo>
                      <a:pt x="16" y="375"/>
                    </a:lnTo>
                    <a:close/>
                  </a:path>
                </a:pathLst>
              </a:custGeom>
              <a:solidFill>
                <a:srgbClr val="000000"/>
              </a:solidFill>
              <a:ln w="9525">
                <a:noFill/>
                <a:round/>
                <a:headEnd/>
                <a:tailEnd/>
              </a:ln>
            </p:spPr>
            <p:txBody>
              <a:bodyPr/>
              <a:lstStyle/>
              <a:p>
                <a:endParaRPr lang="en-US"/>
              </a:p>
            </p:txBody>
          </p:sp>
          <p:sp>
            <p:nvSpPr>
              <p:cNvPr id="27720" name="Freeform 33"/>
              <p:cNvSpPr>
                <a:spLocks/>
              </p:cNvSpPr>
              <p:nvPr/>
            </p:nvSpPr>
            <p:spPr bwMode="auto">
              <a:xfrm>
                <a:off x="1834" y="3872"/>
                <a:ext cx="131" cy="81"/>
              </a:xfrm>
              <a:custGeom>
                <a:avLst/>
                <a:gdLst>
                  <a:gd name="T0" fmla="*/ 0 w 261"/>
                  <a:gd name="T1" fmla="*/ 1 h 161"/>
                  <a:gd name="T2" fmla="*/ 1 w 261"/>
                  <a:gd name="T3" fmla="*/ 1 h 161"/>
                  <a:gd name="T4" fmla="*/ 1 w 261"/>
                  <a:gd name="T5" fmla="*/ 1 h 161"/>
                  <a:gd name="T6" fmla="*/ 1 w 261"/>
                  <a:gd name="T7" fmla="*/ 0 h 161"/>
                  <a:gd name="T8" fmla="*/ 1 w 261"/>
                  <a:gd name="T9" fmla="*/ 1 h 161"/>
                  <a:gd name="T10" fmla="*/ 1 w 261"/>
                  <a:gd name="T11" fmla="*/ 1 h 161"/>
                  <a:gd name="T12" fmla="*/ 1 w 261"/>
                  <a:gd name="T13" fmla="*/ 1 h 161"/>
                  <a:gd name="T14" fmla="*/ 0 w 261"/>
                  <a:gd name="T15" fmla="*/ 1 h 161"/>
                  <a:gd name="T16" fmla="*/ 1 w 261"/>
                  <a:gd name="T17" fmla="*/ 1 h 161"/>
                  <a:gd name="T18" fmla="*/ 1 w 261"/>
                  <a:gd name="T19" fmla="*/ 1 h 161"/>
                  <a:gd name="T20" fmla="*/ 1 w 261"/>
                  <a:gd name="T21" fmla="*/ 1 h 161"/>
                  <a:gd name="T22" fmla="*/ 0 w 261"/>
                  <a:gd name="T23" fmla="*/ 1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1"/>
                  <a:gd name="T37" fmla="*/ 0 h 161"/>
                  <a:gd name="T38" fmla="*/ 261 w 261"/>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1" h="161">
                    <a:moveTo>
                      <a:pt x="0" y="152"/>
                    </a:moveTo>
                    <a:lnTo>
                      <a:pt x="15" y="161"/>
                    </a:lnTo>
                    <a:lnTo>
                      <a:pt x="261" y="19"/>
                    </a:lnTo>
                    <a:lnTo>
                      <a:pt x="252" y="0"/>
                    </a:lnTo>
                    <a:lnTo>
                      <a:pt x="6" y="143"/>
                    </a:lnTo>
                    <a:lnTo>
                      <a:pt x="21" y="152"/>
                    </a:lnTo>
                    <a:lnTo>
                      <a:pt x="6" y="143"/>
                    </a:lnTo>
                    <a:lnTo>
                      <a:pt x="0" y="149"/>
                    </a:lnTo>
                    <a:lnTo>
                      <a:pt x="1" y="157"/>
                    </a:lnTo>
                    <a:lnTo>
                      <a:pt x="7" y="161"/>
                    </a:lnTo>
                    <a:lnTo>
                      <a:pt x="15" y="161"/>
                    </a:lnTo>
                    <a:lnTo>
                      <a:pt x="0" y="152"/>
                    </a:lnTo>
                    <a:close/>
                  </a:path>
                </a:pathLst>
              </a:custGeom>
              <a:solidFill>
                <a:srgbClr val="000000"/>
              </a:solidFill>
              <a:ln w="9525">
                <a:noFill/>
                <a:round/>
                <a:headEnd/>
                <a:tailEnd/>
              </a:ln>
            </p:spPr>
            <p:txBody>
              <a:bodyPr/>
              <a:lstStyle/>
              <a:p>
                <a:endParaRPr lang="en-US"/>
              </a:p>
            </p:txBody>
          </p:sp>
          <p:sp>
            <p:nvSpPr>
              <p:cNvPr id="27721" name="Freeform 34"/>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4" y="1"/>
                    </a:moveTo>
                    <a:lnTo>
                      <a:pt x="0" y="10"/>
                    </a:lnTo>
                    <a:lnTo>
                      <a:pt x="0" y="375"/>
                    </a:lnTo>
                    <a:lnTo>
                      <a:pt x="21" y="375"/>
                    </a:lnTo>
                    <a:lnTo>
                      <a:pt x="21" y="10"/>
                    </a:lnTo>
                    <a:lnTo>
                      <a:pt x="17" y="20"/>
                    </a:lnTo>
                    <a:lnTo>
                      <a:pt x="21" y="10"/>
                    </a:lnTo>
                    <a:lnTo>
                      <a:pt x="18" y="3"/>
                    </a:lnTo>
                    <a:lnTo>
                      <a:pt x="11" y="0"/>
                    </a:lnTo>
                    <a:lnTo>
                      <a:pt x="3" y="3"/>
                    </a:lnTo>
                    <a:lnTo>
                      <a:pt x="0" y="10"/>
                    </a:lnTo>
                    <a:lnTo>
                      <a:pt x="4" y="1"/>
                    </a:lnTo>
                    <a:close/>
                  </a:path>
                </a:pathLst>
              </a:custGeom>
              <a:solidFill>
                <a:srgbClr val="000000"/>
              </a:solidFill>
              <a:ln w="9525">
                <a:noFill/>
                <a:round/>
                <a:headEnd/>
                <a:tailEnd/>
              </a:ln>
            </p:spPr>
            <p:txBody>
              <a:bodyPr/>
              <a:lstStyle/>
              <a:p>
                <a:endParaRPr lang="en-US"/>
              </a:p>
            </p:txBody>
          </p:sp>
          <p:sp>
            <p:nvSpPr>
              <p:cNvPr id="27722" name="Freeform 35"/>
              <p:cNvSpPr>
                <a:spLocks/>
              </p:cNvSpPr>
              <p:nvPr/>
            </p:nvSpPr>
            <p:spPr bwMode="auto">
              <a:xfrm>
                <a:off x="1837" y="3688"/>
                <a:ext cx="131" cy="82"/>
              </a:xfrm>
              <a:custGeom>
                <a:avLst/>
                <a:gdLst>
                  <a:gd name="T0" fmla="*/ 0 w 263"/>
                  <a:gd name="T1" fmla="*/ 1 h 164"/>
                  <a:gd name="T2" fmla="*/ 0 w 263"/>
                  <a:gd name="T3" fmla="*/ 1 h 164"/>
                  <a:gd name="T4" fmla="*/ 0 w 263"/>
                  <a:gd name="T5" fmla="*/ 1 h 164"/>
                  <a:gd name="T6" fmla="*/ 0 w 263"/>
                  <a:gd name="T7" fmla="*/ 1 h 164"/>
                  <a:gd name="T8" fmla="*/ 0 w 263"/>
                  <a:gd name="T9" fmla="*/ 1 h 164"/>
                  <a:gd name="T10" fmla="*/ 0 w 263"/>
                  <a:gd name="T11" fmla="*/ 1 h 164"/>
                  <a:gd name="T12" fmla="*/ 0 w 263"/>
                  <a:gd name="T13" fmla="*/ 1 h 164"/>
                  <a:gd name="T14" fmla="*/ 0 w 263"/>
                  <a:gd name="T15" fmla="*/ 1 h 164"/>
                  <a:gd name="T16" fmla="*/ 0 w 263"/>
                  <a:gd name="T17" fmla="*/ 1 h 164"/>
                  <a:gd name="T18" fmla="*/ 0 w 263"/>
                  <a:gd name="T19" fmla="*/ 0 h 164"/>
                  <a:gd name="T20" fmla="*/ 0 w 263"/>
                  <a:gd name="T21" fmla="*/ 1 h 164"/>
                  <a:gd name="T22" fmla="*/ 0 w 263"/>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4"/>
                  <a:gd name="T38" fmla="*/ 263 w 263"/>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4">
                    <a:moveTo>
                      <a:pt x="263" y="11"/>
                    </a:moveTo>
                    <a:lnTo>
                      <a:pt x="246" y="1"/>
                    </a:lnTo>
                    <a:lnTo>
                      <a:pt x="0" y="145"/>
                    </a:lnTo>
                    <a:lnTo>
                      <a:pt x="13" y="164"/>
                    </a:lnTo>
                    <a:lnTo>
                      <a:pt x="259" y="20"/>
                    </a:lnTo>
                    <a:lnTo>
                      <a:pt x="241" y="11"/>
                    </a:lnTo>
                    <a:lnTo>
                      <a:pt x="259" y="20"/>
                    </a:lnTo>
                    <a:lnTo>
                      <a:pt x="263" y="12"/>
                    </a:lnTo>
                    <a:lnTo>
                      <a:pt x="262" y="4"/>
                    </a:lnTo>
                    <a:lnTo>
                      <a:pt x="255" y="0"/>
                    </a:lnTo>
                    <a:lnTo>
                      <a:pt x="246" y="1"/>
                    </a:lnTo>
                    <a:lnTo>
                      <a:pt x="263" y="11"/>
                    </a:lnTo>
                    <a:close/>
                  </a:path>
                </a:pathLst>
              </a:custGeom>
              <a:solidFill>
                <a:srgbClr val="000000"/>
              </a:solidFill>
              <a:ln w="9525">
                <a:noFill/>
                <a:round/>
                <a:headEnd/>
                <a:tailEnd/>
              </a:ln>
            </p:spPr>
            <p:txBody>
              <a:bodyPr/>
              <a:lstStyle/>
              <a:p>
                <a:endParaRPr lang="en-US"/>
              </a:p>
            </p:txBody>
          </p:sp>
          <p:sp>
            <p:nvSpPr>
              <p:cNvPr id="27723" name="Freeform 36"/>
              <p:cNvSpPr>
                <a:spLocks/>
              </p:cNvSpPr>
              <p:nvPr/>
            </p:nvSpPr>
            <p:spPr bwMode="auto">
              <a:xfrm>
                <a:off x="2169" y="3499"/>
                <a:ext cx="125" cy="253"/>
              </a:xfrm>
              <a:custGeom>
                <a:avLst/>
                <a:gdLst>
                  <a:gd name="T0" fmla="*/ 1 w 249"/>
                  <a:gd name="T1" fmla="*/ 0 h 507"/>
                  <a:gd name="T2" fmla="*/ 1 w 249"/>
                  <a:gd name="T3" fmla="*/ 0 h 507"/>
                  <a:gd name="T4" fmla="*/ 0 w 249"/>
                  <a:gd name="T5" fmla="*/ 0 h 507"/>
                  <a:gd name="T6" fmla="*/ 0 w 249"/>
                  <a:gd name="T7" fmla="*/ 0 h 507"/>
                  <a:gd name="T8" fmla="*/ 1 w 249"/>
                  <a:gd name="T9" fmla="*/ 0 h 507"/>
                  <a:gd name="T10" fmla="*/ 0 60000 65536"/>
                  <a:gd name="T11" fmla="*/ 0 60000 65536"/>
                  <a:gd name="T12" fmla="*/ 0 60000 65536"/>
                  <a:gd name="T13" fmla="*/ 0 60000 65536"/>
                  <a:gd name="T14" fmla="*/ 0 60000 65536"/>
                  <a:gd name="T15" fmla="*/ 0 w 249"/>
                  <a:gd name="T16" fmla="*/ 0 h 507"/>
                  <a:gd name="T17" fmla="*/ 249 w 249"/>
                  <a:gd name="T18" fmla="*/ 507 h 507"/>
                </a:gdLst>
                <a:ahLst/>
                <a:cxnLst>
                  <a:cxn ang="T10">
                    <a:pos x="T0" y="T1"/>
                  </a:cxn>
                  <a:cxn ang="T11">
                    <a:pos x="T2" y="T3"/>
                  </a:cxn>
                  <a:cxn ang="T12">
                    <a:pos x="T4" y="T5"/>
                  </a:cxn>
                  <a:cxn ang="T13">
                    <a:pos x="T6" y="T7"/>
                  </a:cxn>
                  <a:cxn ang="T14">
                    <a:pos x="T8" y="T9"/>
                  </a:cxn>
                </a:cxnLst>
                <a:rect l="T15" t="T16" r="T17" b="T18"/>
                <a:pathLst>
                  <a:path w="249" h="507">
                    <a:moveTo>
                      <a:pt x="249" y="0"/>
                    </a:moveTo>
                    <a:lnTo>
                      <a:pt x="247" y="364"/>
                    </a:lnTo>
                    <a:lnTo>
                      <a:pt x="0" y="507"/>
                    </a:lnTo>
                    <a:lnTo>
                      <a:pt x="0" y="144"/>
                    </a:lnTo>
                    <a:lnTo>
                      <a:pt x="249" y="0"/>
                    </a:lnTo>
                    <a:close/>
                  </a:path>
                </a:pathLst>
              </a:custGeom>
              <a:solidFill>
                <a:srgbClr val="4CFF00"/>
              </a:solidFill>
              <a:ln w="9525">
                <a:noFill/>
                <a:round/>
                <a:headEnd/>
                <a:tailEnd/>
              </a:ln>
            </p:spPr>
            <p:txBody>
              <a:bodyPr/>
              <a:lstStyle/>
              <a:p>
                <a:endParaRPr lang="en-US"/>
              </a:p>
            </p:txBody>
          </p:sp>
          <p:sp>
            <p:nvSpPr>
              <p:cNvPr id="27724" name="Freeform 37"/>
              <p:cNvSpPr>
                <a:spLocks/>
              </p:cNvSpPr>
              <p:nvPr/>
            </p:nvSpPr>
            <p:spPr bwMode="auto">
              <a:xfrm>
                <a:off x="2288" y="3499"/>
                <a:ext cx="11" cy="188"/>
              </a:xfrm>
              <a:custGeom>
                <a:avLst/>
                <a:gdLst>
                  <a:gd name="T0" fmla="*/ 0 w 24"/>
                  <a:gd name="T1" fmla="*/ 1 h 375"/>
                  <a:gd name="T2" fmla="*/ 0 w 24"/>
                  <a:gd name="T3" fmla="*/ 1 h 375"/>
                  <a:gd name="T4" fmla="*/ 0 w 24"/>
                  <a:gd name="T5" fmla="*/ 0 h 375"/>
                  <a:gd name="T6" fmla="*/ 0 w 24"/>
                  <a:gd name="T7" fmla="*/ 0 h 375"/>
                  <a:gd name="T8" fmla="*/ 0 w 24"/>
                  <a:gd name="T9" fmla="*/ 1 h 375"/>
                  <a:gd name="T10" fmla="*/ 0 w 24"/>
                  <a:gd name="T11" fmla="*/ 1 h 375"/>
                  <a:gd name="T12" fmla="*/ 0 w 24"/>
                  <a:gd name="T13" fmla="*/ 1 h 375"/>
                  <a:gd name="T14" fmla="*/ 0 w 24"/>
                  <a:gd name="T15" fmla="*/ 1 h 375"/>
                  <a:gd name="T16" fmla="*/ 0 w 24"/>
                  <a:gd name="T17" fmla="*/ 1 h 375"/>
                  <a:gd name="T18" fmla="*/ 0 w 24"/>
                  <a:gd name="T19" fmla="*/ 1 h 375"/>
                  <a:gd name="T20" fmla="*/ 0 w 24"/>
                  <a:gd name="T21" fmla="*/ 1 h 375"/>
                  <a:gd name="T22" fmla="*/ 0 w 24"/>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75"/>
                  <a:gd name="T38" fmla="*/ 24 w 24"/>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75">
                    <a:moveTo>
                      <a:pt x="16" y="374"/>
                    </a:moveTo>
                    <a:lnTo>
                      <a:pt x="22" y="364"/>
                    </a:lnTo>
                    <a:lnTo>
                      <a:pt x="24" y="0"/>
                    </a:lnTo>
                    <a:lnTo>
                      <a:pt x="2" y="0"/>
                    </a:lnTo>
                    <a:lnTo>
                      <a:pt x="0" y="364"/>
                    </a:lnTo>
                    <a:lnTo>
                      <a:pt x="6" y="355"/>
                    </a:lnTo>
                    <a:lnTo>
                      <a:pt x="0" y="364"/>
                    </a:lnTo>
                    <a:lnTo>
                      <a:pt x="3" y="372"/>
                    </a:lnTo>
                    <a:lnTo>
                      <a:pt x="11" y="375"/>
                    </a:lnTo>
                    <a:lnTo>
                      <a:pt x="19" y="372"/>
                    </a:lnTo>
                    <a:lnTo>
                      <a:pt x="22" y="364"/>
                    </a:lnTo>
                    <a:lnTo>
                      <a:pt x="16" y="374"/>
                    </a:lnTo>
                    <a:close/>
                  </a:path>
                </a:pathLst>
              </a:custGeom>
              <a:solidFill>
                <a:srgbClr val="000000"/>
              </a:solidFill>
              <a:ln w="9525">
                <a:noFill/>
                <a:round/>
                <a:headEnd/>
                <a:tailEnd/>
              </a:ln>
            </p:spPr>
            <p:txBody>
              <a:bodyPr/>
              <a:lstStyle/>
              <a:p>
                <a:endParaRPr lang="en-US"/>
              </a:p>
            </p:txBody>
          </p:sp>
          <p:sp>
            <p:nvSpPr>
              <p:cNvPr id="27725" name="Freeform 38"/>
              <p:cNvSpPr>
                <a:spLocks/>
              </p:cNvSpPr>
              <p:nvPr/>
            </p:nvSpPr>
            <p:spPr bwMode="auto">
              <a:xfrm>
                <a:off x="2164" y="3677"/>
                <a:ext cx="131" cy="80"/>
              </a:xfrm>
              <a:custGeom>
                <a:avLst/>
                <a:gdLst>
                  <a:gd name="T0" fmla="*/ 0 w 263"/>
                  <a:gd name="T1" fmla="*/ 0 h 161"/>
                  <a:gd name="T2" fmla="*/ 0 w 263"/>
                  <a:gd name="T3" fmla="*/ 0 h 161"/>
                  <a:gd name="T4" fmla="*/ 0 w 263"/>
                  <a:gd name="T5" fmla="*/ 0 h 161"/>
                  <a:gd name="T6" fmla="*/ 0 w 263"/>
                  <a:gd name="T7" fmla="*/ 0 h 161"/>
                  <a:gd name="T8" fmla="*/ 0 w 263"/>
                  <a:gd name="T9" fmla="*/ 0 h 161"/>
                  <a:gd name="T10" fmla="*/ 0 w 263"/>
                  <a:gd name="T11" fmla="*/ 0 h 161"/>
                  <a:gd name="T12" fmla="*/ 0 w 263"/>
                  <a:gd name="T13" fmla="*/ 0 h 161"/>
                  <a:gd name="T14" fmla="*/ 0 w 263"/>
                  <a:gd name="T15" fmla="*/ 0 h 161"/>
                  <a:gd name="T16" fmla="*/ 0 w 263"/>
                  <a:gd name="T17" fmla="*/ 0 h 161"/>
                  <a:gd name="T18" fmla="*/ 0 w 263"/>
                  <a:gd name="T19" fmla="*/ 0 h 161"/>
                  <a:gd name="T20" fmla="*/ 0 w 263"/>
                  <a:gd name="T21" fmla="*/ 0 h 161"/>
                  <a:gd name="T22" fmla="*/ 0 w 263"/>
                  <a:gd name="T23" fmla="*/ 0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1"/>
                  <a:gd name="T38" fmla="*/ 263 w 263"/>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1">
                    <a:moveTo>
                      <a:pt x="0" y="152"/>
                    </a:moveTo>
                    <a:lnTo>
                      <a:pt x="15" y="161"/>
                    </a:lnTo>
                    <a:lnTo>
                      <a:pt x="263" y="19"/>
                    </a:lnTo>
                    <a:lnTo>
                      <a:pt x="253" y="0"/>
                    </a:lnTo>
                    <a:lnTo>
                      <a:pt x="6" y="142"/>
                    </a:lnTo>
                    <a:lnTo>
                      <a:pt x="22" y="152"/>
                    </a:lnTo>
                    <a:lnTo>
                      <a:pt x="6" y="142"/>
                    </a:lnTo>
                    <a:lnTo>
                      <a:pt x="0" y="149"/>
                    </a:lnTo>
                    <a:lnTo>
                      <a:pt x="1" y="157"/>
                    </a:lnTo>
                    <a:lnTo>
                      <a:pt x="8" y="161"/>
                    </a:lnTo>
                    <a:lnTo>
                      <a:pt x="15" y="161"/>
                    </a:lnTo>
                    <a:lnTo>
                      <a:pt x="0" y="152"/>
                    </a:lnTo>
                    <a:close/>
                  </a:path>
                </a:pathLst>
              </a:custGeom>
              <a:solidFill>
                <a:srgbClr val="000000"/>
              </a:solidFill>
              <a:ln w="9525">
                <a:noFill/>
                <a:round/>
                <a:headEnd/>
                <a:tailEnd/>
              </a:ln>
            </p:spPr>
            <p:txBody>
              <a:bodyPr/>
              <a:lstStyle/>
              <a:p>
                <a:endParaRPr lang="en-US"/>
              </a:p>
            </p:txBody>
          </p:sp>
          <p:sp>
            <p:nvSpPr>
              <p:cNvPr id="27726" name="Freeform 39"/>
              <p:cNvSpPr>
                <a:spLocks/>
              </p:cNvSpPr>
              <p:nvPr/>
            </p:nvSpPr>
            <p:spPr bwMode="auto">
              <a:xfrm>
                <a:off x="2164" y="3565"/>
                <a:ext cx="11" cy="187"/>
              </a:xfrm>
              <a:custGeom>
                <a:avLst/>
                <a:gdLst>
                  <a:gd name="T0" fmla="*/ 1 w 22"/>
                  <a:gd name="T1" fmla="*/ 1 h 374"/>
                  <a:gd name="T2" fmla="*/ 0 w 22"/>
                  <a:gd name="T3" fmla="*/ 1 h 374"/>
                  <a:gd name="T4" fmla="*/ 0 w 22"/>
                  <a:gd name="T5" fmla="*/ 1 h 374"/>
                  <a:gd name="T6" fmla="*/ 1 w 22"/>
                  <a:gd name="T7" fmla="*/ 1 h 374"/>
                  <a:gd name="T8" fmla="*/ 1 w 22"/>
                  <a:gd name="T9" fmla="*/ 1 h 374"/>
                  <a:gd name="T10" fmla="*/ 1 w 22"/>
                  <a:gd name="T11" fmla="*/ 1 h 374"/>
                  <a:gd name="T12" fmla="*/ 1 w 22"/>
                  <a:gd name="T13" fmla="*/ 1 h 374"/>
                  <a:gd name="T14" fmla="*/ 1 w 22"/>
                  <a:gd name="T15" fmla="*/ 1 h 374"/>
                  <a:gd name="T16" fmla="*/ 1 w 22"/>
                  <a:gd name="T17" fmla="*/ 0 h 374"/>
                  <a:gd name="T18" fmla="*/ 1 w 22"/>
                  <a:gd name="T19" fmla="*/ 1 h 374"/>
                  <a:gd name="T20" fmla="*/ 0 w 22"/>
                  <a:gd name="T21" fmla="*/ 1 h 374"/>
                  <a:gd name="T22" fmla="*/ 1 w 22"/>
                  <a:gd name="T23" fmla="*/ 1 h 37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4"/>
                  <a:gd name="T38" fmla="*/ 22 w 22"/>
                  <a:gd name="T39" fmla="*/ 374 h 37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4">
                    <a:moveTo>
                      <a:pt x="4" y="1"/>
                    </a:moveTo>
                    <a:lnTo>
                      <a:pt x="0" y="11"/>
                    </a:lnTo>
                    <a:lnTo>
                      <a:pt x="0" y="374"/>
                    </a:lnTo>
                    <a:lnTo>
                      <a:pt x="22" y="374"/>
                    </a:lnTo>
                    <a:lnTo>
                      <a:pt x="22" y="11"/>
                    </a:lnTo>
                    <a:lnTo>
                      <a:pt x="17" y="20"/>
                    </a:lnTo>
                    <a:lnTo>
                      <a:pt x="22" y="11"/>
                    </a:lnTo>
                    <a:lnTo>
                      <a:pt x="19" y="3"/>
                    </a:lnTo>
                    <a:lnTo>
                      <a:pt x="11" y="0"/>
                    </a:lnTo>
                    <a:lnTo>
                      <a:pt x="3" y="3"/>
                    </a:lnTo>
                    <a:lnTo>
                      <a:pt x="0" y="11"/>
                    </a:lnTo>
                    <a:lnTo>
                      <a:pt x="4" y="1"/>
                    </a:lnTo>
                    <a:close/>
                  </a:path>
                </a:pathLst>
              </a:custGeom>
              <a:solidFill>
                <a:srgbClr val="000000"/>
              </a:solidFill>
              <a:ln w="9525">
                <a:noFill/>
                <a:round/>
                <a:headEnd/>
                <a:tailEnd/>
              </a:ln>
            </p:spPr>
            <p:txBody>
              <a:bodyPr/>
              <a:lstStyle/>
              <a:p>
                <a:endParaRPr lang="en-US"/>
              </a:p>
            </p:txBody>
          </p:sp>
          <p:sp>
            <p:nvSpPr>
              <p:cNvPr id="27727" name="Freeform 40"/>
              <p:cNvSpPr>
                <a:spLocks/>
              </p:cNvSpPr>
              <p:nvPr/>
            </p:nvSpPr>
            <p:spPr bwMode="auto">
              <a:xfrm>
                <a:off x="2166" y="3493"/>
                <a:ext cx="133" cy="83"/>
              </a:xfrm>
              <a:custGeom>
                <a:avLst/>
                <a:gdLst>
                  <a:gd name="T0" fmla="*/ 0 w 267"/>
                  <a:gd name="T1" fmla="*/ 1 h 164"/>
                  <a:gd name="T2" fmla="*/ 0 w 267"/>
                  <a:gd name="T3" fmla="*/ 1 h 164"/>
                  <a:gd name="T4" fmla="*/ 0 w 267"/>
                  <a:gd name="T5" fmla="*/ 1 h 164"/>
                  <a:gd name="T6" fmla="*/ 0 w 267"/>
                  <a:gd name="T7" fmla="*/ 1 h 164"/>
                  <a:gd name="T8" fmla="*/ 0 w 267"/>
                  <a:gd name="T9" fmla="*/ 1 h 164"/>
                  <a:gd name="T10" fmla="*/ 0 w 267"/>
                  <a:gd name="T11" fmla="*/ 1 h 164"/>
                  <a:gd name="T12" fmla="*/ 0 w 267"/>
                  <a:gd name="T13" fmla="*/ 1 h 164"/>
                  <a:gd name="T14" fmla="*/ 0 w 267"/>
                  <a:gd name="T15" fmla="*/ 1 h 164"/>
                  <a:gd name="T16" fmla="*/ 0 w 267"/>
                  <a:gd name="T17" fmla="*/ 1 h 164"/>
                  <a:gd name="T18" fmla="*/ 0 w 267"/>
                  <a:gd name="T19" fmla="*/ 0 h 164"/>
                  <a:gd name="T20" fmla="*/ 0 w 267"/>
                  <a:gd name="T21" fmla="*/ 1 h 164"/>
                  <a:gd name="T22" fmla="*/ 0 w 267"/>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7"/>
                  <a:gd name="T37" fmla="*/ 0 h 164"/>
                  <a:gd name="T38" fmla="*/ 267 w 267"/>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7" h="164">
                    <a:moveTo>
                      <a:pt x="267" y="11"/>
                    </a:moveTo>
                    <a:lnTo>
                      <a:pt x="249" y="2"/>
                    </a:lnTo>
                    <a:lnTo>
                      <a:pt x="0" y="145"/>
                    </a:lnTo>
                    <a:lnTo>
                      <a:pt x="13" y="164"/>
                    </a:lnTo>
                    <a:lnTo>
                      <a:pt x="262" y="20"/>
                    </a:lnTo>
                    <a:lnTo>
                      <a:pt x="245" y="11"/>
                    </a:lnTo>
                    <a:lnTo>
                      <a:pt x="262" y="20"/>
                    </a:lnTo>
                    <a:lnTo>
                      <a:pt x="267" y="12"/>
                    </a:lnTo>
                    <a:lnTo>
                      <a:pt x="265" y="5"/>
                    </a:lnTo>
                    <a:lnTo>
                      <a:pt x="259" y="0"/>
                    </a:lnTo>
                    <a:lnTo>
                      <a:pt x="249" y="2"/>
                    </a:lnTo>
                    <a:lnTo>
                      <a:pt x="267" y="11"/>
                    </a:lnTo>
                    <a:close/>
                  </a:path>
                </a:pathLst>
              </a:custGeom>
              <a:solidFill>
                <a:srgbClr val="000000"/>
              </a:solidFill>
              <a:ln w="9525">
                <a:noFill/>
                <a:round/>
                <a:headEnd/>
                <a:tailEnd/>
              </a:ln>
            </p:spPr>
            <p:txBody>
              <a:bodyPr/>
              <a:lstStyle/>
              <a:p>
                <a:endParaRPr lang="en-US"/>
              </a:p>
            </p:txBody>
          </p:sp>
          <p:sp>
            <p:nvSpPr>
              <p:cNvPr id="27728" name="Freeform 41"/>
              <p:cNvSpPr>
                <a:spLocks/>
              </p:cNvSpPr>
              <p:nvPr/>
            </p:nvSpPr>
            <p:spPr bwMode="auto">
              <a:xfrm>
                <a:off x="1536" y="3312"/>
                <a:ext cx="768" cy="440"/>
              </a:xfrm>
              <a:custGeom>
                <a:avLst/>
                <a:gdLst>
                  <a:gd name="T0" fmla="*/ 0 w 1536"/>
                  <a:gd name="T1" fmla="*/ 1 h 879"/>
                  <a:gd name="T2" fmla="*/ 1 w 1536"/>
                  <a:gd name="T3" fmla="*/ 0 h 879"/>
                  <a:gd name="T4" fmla="*/ 1 w 1536"/>
                  <a:gd name="T5" fmla="*/ 1 h 879"/>
                  <a:gd name="T6" fmla="*/ 1 w 1536"/>
                  <a:gd name="T7" fmla="*/ 1 h 879"/>
                  <a:gd name="T8" fmla="*/ 0 w 1536"/>
                  <a:gd name="T9" fmla="*/ 1 h 879"/>
                  <a:gd name="T10" fmla="*/ 0 60000 65536"/>
                  <a:gd name="T11" fmla="*/ 0 60000 65536"/>
                  <a:gd name="T12" fmla="*/ 0 60000 65536"/>
                  <a:gd name="T13" fmla="*/ 0 60000 65536"/>
                  <a:gd name="T14" fmla="*/ 0 60000 65536"/>
                  <a:gd name="T15" fmla="*/ 0 w 1536"/>
                  <a:gd name="T16" fmla="*/ 0 h 879"/>
                  <a:gd name="T17" fmla="*/ 1536 w 1536"/>
                  <a:gd name="T18" fmla="*/ 879 h 879"/>
                </a:gdLst>
                <a:ahLst/>
                <a:cxnLst>
                  <a:cxn ang="T10">
                    <a:pos x="T0" y="T1"/>
                  </a:cxn>
                  <a:cxn ang="T11">
                    <a:pos x="T2" y="T3"/>
                  </a:cxn>
                  <a:cxn ang="T12">
                    <a:pos x="T4" y="T5"/>
                  </a:cxn>
                  <a:cxn ang="T13">
                    <a:pos x="T6" y="T7"/>
                  </a:cxn>
                  <a:cxn ang="T14">
                    <a:pos x="T8" y="T9"/>
                  </a:cxn>
                </a:cxnLst>
                <a:rect l="T15" t="T16" r="T17" b="T18"/>
                <a:pathLst>
                  <a:path w="1536" h="879">
                    <a:moveTo>
                      <a:pt x="0" y="544"/>
                    </a:moveTo>
                    <a:lnTo>
                      <a:pt x="932" y="0"/>
                    </a:lnTo>
                    <a:lnTo>
                      <a:pt x="1536" y="335"/>
                    </a:lnTo>
                    <a:lnTo>
                      <a:pt x="608" y="879"/>
                    </a:lnTo>
                    <a:lnTo>
                      <a:pt x="0" y="544"/>
                    </a:lnTo>
                    <a:close/>
                  </a:path>
                </a:pathLst>
              </a:custGeom>
              <a:solidFill>
                <a:srgbClr val="B2FF4C"/>
              </a:solidFill>
              <a:ln w="9525">
                <a:noFill/>
                <a:round/>
                <a:headEnd/>
                <a:tailEnd/>
              </a:ln>
            </p:spPr>
            <p:txBody>
              <a:bodyPr/>
              <a:lstStyle/>
              <a:p>
                <a:endParaRPr lang="en-US"/>
              </a:p>
            </p:txBody>
          </p:sp>
          <p:sp>
            <p:nvSpPr>
              <p:cNvPr id="27729" name="Freeform 42"/>
              <p:cNvSpPr>
                <a:spLocks/>
              </p:cNvSpPr>
              <p:nvPr/>
            </p:nvSpPr>
            <p:spPr bwMode="auto">
              <a:xfrm>
                <a:off x="1533" y="3307"/>
                <a:ext cx="474" cy="282"/>
              </a:xfrm>
              <a:custGeom>
                <a:avLst/>
                <a:gdLst>
                  <a:gd name="T0" fmla="*/ 0 w 949"/>
                  <a:gd name="T1" fmla="*/ 0 h 565"/>
                  <a:gd name="T2" fmla="*/ 0 w 949"/>
                  <a:gd name="T3" fmla="*/ 0 h 565"/>
                  <a:gd name="T4" fmla="*/ 0 w 949"/>
                  <a:gd name="T5" fmla="*/ 0 h 565"/>
                  <a:gd name="T6" fmla="*/ 0 w 949"/>
                  <a:gd name="T7" fmla="*/ 0 h 565"/>
                  <a:gd name="T8" fmla="*/ 0 w 949"/>
                  <a:gd name="T9" fmla="*/ 0 h 565"/>
                  <a:gd name="T10" fmla="*/ 0 w 949"/>
                  <a:gd name="T11" fmla="*/ 0 h 565"/>
                  <a:gd name="T12" fmla="*/ 0 w 949"/>
                  <a:gd name="T13" fmla="*/ 0 h 565"/>
                  <a:gd name="T14" fmla="*/ 0 w 949"/>
                  <a:gd name="T15" fmla="*/ 0 h 565"/>
                  <a:gd name="T16" fmla="*/ 0 w 949"/>
                  <a:gd name="T17" fmla="*/ 0 h 565"/>
                  <a:gd name="T18" fmla="*/ 0 w 949"/>
                  <a:gd name="T19" fmla="*/ 0 h 565"/>
                  <a:gd name="T20" fmla="*/ 0 w 949"/>
                  <a:gd name="T21" fmla="*/ 0 h 565"/>
                  <a:gd name="T22" fmla="*/ 0 w 949"/>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9"/>
                  <a:gd name="T37" fmla="*/ 0 h 565"/>
                  <a:gd name="T38" fmla="*/ 949 w 949"/>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9" h="565">
                    <a:moveTo>
                      <a:pt x="942" y="2"/>
                    </a:moveTo>
                    <a:lnTo>
                      <a:pt x="931" y="2"/>
                    </a:lnTo>
                    <a:lnTo>
                      <a:pt x="0" y="546"/>
                    </a:lnTo>
                    <a:lnTo>
                      <a:pt x="12" y="565"/>
                    </a:lnTo>
                    <a:lnTo>
                      <a:pt x="944" y="20"/>
                    </a:lnTo>
                    <a:lnTo>
                      <a:pt x="933" y="20"/>
                    </a:lnTo>
                    <a:lnTo>
                      <a:pt x="944" y="20"/>
                    </a:lnTo>
                    <a:lnTo>
                      <a:pt x="949" y="13"/>
                    </a:lnTo>
                    <a:lnTo>
                      <a:pt x="947" y="5"/>
                    </a:lnTo>
                    <a:lnTo>
                      <a:pt x="941" y="0"/>
                    </a:lnTo>
                    <a:lnTo>
                      <a:pt x="931" y="2"/>
                    </a:lnTo>
                    <a:lnTo>
                      <a:pt x="942" y="2"/>
                    </a:lnTo>
                    <a:close/>
                  </a:path>
                </a:pathLst>
              </a:custGeom>
              <a:solidFill>
                <a:srgbClr val="000000"/>
              </a:solidFill>
              <a:ln w="9525">
                <a:noFill/>
                <a:round/>
                <a:headEnd/>
                <a:tailEnd/>
              </a:ln>
            </p:spPr>
            <p:txBody>
              <a:bodyPr/>
              <a:lstStyle/>
              <a:p>
                <a:endParaRPr lang="en-US"/>
              </a:p>
            </p:txBody>
          </p:sp>
          <p:sp>
            <p:nvSpPr>
              <p:cNvPr id="27730" name="Freeform 43"/>
              <p:cNvSpPr>
                <a:spLocks/>
              </p:cNvSpPr>
              <p:nvPr/>
            </p:nvSpPr>
            <p:spPr bwMode="auto">
              <a:xfrm>
                <a:off x="1999" y="3307"/>
                <a:ext cx="310" cy="177"/>
              </a:xfrm>
              <a:custGeom>
                <a:avLst/>
                <a:gdLst>
                  <a:gd name="T0" fmla="*/ 1 w 620"/>
                  <a:gd name="T1" fmla="*/ 1 h 353"/>
                  <a:gd name="T2" fmla="*/ 1 w 620"/>
                  <a:gd name="T3" fmla="*/ 1 h 353"/>
                  <a:gd name="T4" fmla="*/ 1 w 620"/>
                  <a:gd name="T5" fmla="*/ 0 h 353"/>
                  <a:gd name="T6" fmla="*/ 0 w 620"/>
                  <a:gd name="T7" fmla="*/ 1 h 353"/>
                  <a:gd name="T8" fmla="*/ 1 w 620"/>
                  <a:gd name="T9" fmla="*/ 1 h 353"/>
                  <a:gd name="T10" fmla="*/ 1 w 620"/>
                  <a:gd name="T11" fmla="*/ 1 h 353"/>
                  <a:gd name="T12" fmla="*/ 1 w 620"/>
                  <a:gd name="T13" fmla="*/ 1 h 353"/>
                  <a:gd name="T14" fmla="*/ 1 w 620"/>
                  <a:gd name="T15" fmla="*/ 1 h 353"/>
                  <a:gd name="T16" fmla="*/ 1 w 620"/>
                  <a:gd name="T17" fmla="*/ 1 h 353"/>
                  <a:gd name="T18" fmla="*/ 1 w 620"/>
                  <a:gd name="T19" fmla="*/ 1 h 353"/>
                  <a:gd name="T20" fmla="*/ 1 w 620"/>
                  <a:gd name="T21" fmla="*/ 1 h 353"/>
                  <a:gd name="T22" fmla="*/ 1 w 620"/>
                  <a:gd name="T23" fmla="*/ 1 h 3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0"/>
                  <a:gd name="T37" fmla="*/ 0 h 353"/>
                  <a:gd name="T38" fmla="*/ 620 w 620"/>
                  <a:gd name="T39" fmla="*/ 353 h 3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0" h="353">
                    <a:moveTo>
                      <a:pt x="615" y="353"/>
                    </a:moveTo>
                    <a:lnTo>
                      <a:pt x="614" y="334"/>
                    </a:lnTo>
                    <a:lnTo>
                      <a:pt x="9" y="0"/>
                    </a:lnTo>
                    <a:lnTo>
                      <a:pt x="0" y="18"/>
                    </a:lnTo>
                    <a:lnTo>
                      <a:pt x="604" y="353"/>
                    </a:lnTo>
                    <a:lnTo>
                      <a:pt x="603" y="334"/>
                    </a:lnTo>
                    <a:lnTo>
                      <a:pt x="604" y="353"/>
                    </a:lnTo>
                    <a:lnTo>
                      <a:pt x="612" y="353"/>
                    </a:lnTo>
                    <a:lnTo>
                      <a:pt x="618" y="349"/>
                    </a:lnTo>
                    <a:lnTo>
                      <a:pt x="620" y="341"/>
                    </a:lnTo>
                    <a:lnTo>
                      <a:pt x="614" y="334"/>
                    </a:lnTo>
                    <a:lnTo>
                      <a:pt x="615" y="353"/>
                    </a:lnTo>
                    <a:close/>
                  </a:path>
                </a:pathLst>
              </a:custGeom>
              <a:solidFill>
                <a:srgbClr val="000000"/>
              </a:solidFill>
              <a:ln w="9525">
                <a:noFill/>
                <a:round/>
                <a:headEnd/>
                <a:tailEnd/>
              </a:ln>
            </p:spPr>
            <p:txBody>
              <a:bodyPr/>
              <a:lstStyle/>
              <a:p>
                <a:endParaRPr lang="en-US"/>
              </a:p>
            </p:txBody>
          </p:sp>
          <p:sp>
            <p:nvSpPr>
              <p:cNvPr id="27731" name="Freeform 44"/>
              <p:cNvSpPr>
                <a:spLocks/>
              </p:cNvSpPr>
              <p:nvPr/>
            </p:nvSpPr>
            <p:spPr bwMode="auto">
              <a:xfrm>
                <a:off x="1834" y="3475"/>
                <a:ext cx="473" cy="282"/>
              </a:xfrm>
              <a:custGeom>
                <a:avLst/>
                <a:gdLst>
                  <a:gd name="T0" fmla="*/ 1 w 945"/>
                  <a:gd name="T1" fmla="*/ 0 h 565"/>
                  <a:gd name="T2" fmla="*/ 1 w 945"/>
                  <a:gd name="T3" fmla="*/ 0 h 565"/>
                  <a:gd name="T4" fmla="*/ 1 w 945"/>
                  <a:gd name="T5" fmla="*/ 0 h 565"/>
                  <a:gd name="T6" fmla="*/ 1 w 945"/>
                  <a:gd name="T7" fmla="*/ 0 h 565"/>
                  <a:gd name="T8" fmla="*/ 1 w 945"/>
                  <a:gd name="T9" fmla="*/ 0 h 565"/>
                  <a:gd name="T10" fmla="*/ 1 w 945"/>
                  <a:gd name="T11" fmla="*/ 0 h 565"/>
                  <a:gd name="T12" fmla="*/ 1 w 945"/>
                  <a:gd name="T13" fmla="*/ 0 h 565"/>
                  <a:gd name="T14" fmla="*/ 0 w 945"/>
                  <a:gd name="T15" fmla="*/ 0 h 565"/>
                  <a:gd name="T16" fmla="*/ 1 w 945"/>
                  <a:gd name="T17" fmla="*/ 0 h 565"/>
                  <a:gd name="T18" fmla="*/ 1 w 945"/>
                  <a:gd name="T19" fmla="*/ 0 h 565"/>
                  <a:gd name="T20" fmla="*/ 1 w 945"/>
                  <a:gd name="T21" fmla="*/ 0 h 565"/>
                  <a:gd name="T22" fmla="*/ 1 w 945"/>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5"/>
                  <a:gd name="T37" fmla="*/ 0 h 565"/>
                  <a:gd name="T38" fmla="*/ 945 w 945"/>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5" h="565">
                    <a:moveTo>
                      <a:pt x="6" y="564"/>
                    </a:moveTo>
                    <a:lnTo>
                      <a:pt x="17" y="564"/>
                    </a:lnTo>
                    <a:lnTo>
                      <a:pt x="945" y="19"/>
                    </a:lnTo>
                    <a:lnTo>
                      <a:pt x="933" y="0"/>
                    </a:lnTo>
                    <a:lnTo>
                      <a:pt x="4" y="545"/>
                    </a:lnTo>
                    <a:lnTo>
                      <a:pt x="15" y="545"/>
                    </a:lnTo>
                    <a:lnTo>
                      <a:pt x="4" y="545"/>
                    </a:lnTo>
                    <a:lnTo>
                      <a:pt x="0" y="553"/>
                    </a:lnTo>
                    <a:lnTo>
                      <a:pt x="1" y="561"/>
                    </a:lnTo>
                    <a:lnTo>
                      <a:pt x="7" y="565"/>
                    </a:lnTo>
                    <a:lnTo>
                      <a:pt x="17" y="564"/>
                    </a:lnTo>
                    <a:lnTo>
                      <a:pt x="6" y="564"/>
                    </a:lnTo>
                    <a:close/>
                  </a:path>
                </a:pathLst>
              </a:custGeom>
              <a:solidFill>
                <a:srgbClr val="000000"/>
              </a:solidFill>
              <a:ln w="9525">
                <a:noFill/>
                <a:round/>
                <a:headEnd/>
                <a:tailEnd/>
              </a:ln>
            </p:spPr>
            <p:txBody>
              <a:bodyPr/>
              <a:lstStyle/>
              <a:p>
                <a:endParaRPr lang="en-US"/>
              </a:p>
            </p:txBody>
          </p:sp>
          <p:sp>
            <p:nvSpPr>
              <p:cNvPr id="27732" name="Freeform 45"/>
              <p:cNvSpPr>
                <a:spLocks/>
              </p:cNvSpPr>
              <p:nvPr/>
            </p:nvSpPr>
            <p:spPr bwMode="auto">
              <a:xfrm>
                <a:off x="1531" y="3580"/>
                <a:ext cx="311" cy="176"/>
              </a:xfrm>
              <a:custGeom>
                <a:avLst/>
                <a:gdLst>
                  <a:gd name="T0" fmla="*/ 0 w 623"/>
                  <a:gd name="T1" fmla="*/ 0 h 354"/>
                  <a:gd name="T2" fmla="*/ 0 w 623"/>
                  <a:gd name="T3" fmla="*/ 0 h 354"/>
                  <a:gd name="T4" fmla="*/ 0 w 623"/>
                  <a:gd name="T5" fmla="*/ 0 h 354"/>
                  <a:gd name="T6" fmla="*/ 0 w 623"/>
                  <a:gd name="T7" fmla="*/ 0 h 354"/>
                  <a:gd name="T8" fmla="*/ 0 w 623"/>
                  <a:gd name="T9" fmla="*/ 0 h 354"/>
                  <a:gd name="T10" fmla="*/ 0 w 623"/>
                  <a:gd name="T11" fmla="*/ 0 h 354"/>
                  <a:gd name="T12" fmla="*/ 0 w 623"/>
                  <a:gd name="T13" fmla="*/ 0 h 354"/>
                  <a:gd name="T14" fmla="*/ 0 w 623"/>
                  <a:gd name="T15" fmla="*/ 0 h 354"/>
                  <a:gd name="T16" fmla="*/ 0 w 623"/>
                  <a:gd name="T17" fmla="*/ 0 h 354"/>
                  <a:gd name="T18" fmla="*/ 0 w 623"/>
                  <a:gd name="T19" fmla="*/ 0 h 354"/>
                  <a:gd name="T20" fmla="*/ 0 w 623"/>
                  <a:gd name="T21" fmla="*/ 0 h 354"/>
                  <a:gd name="T22" fmla="*/ 0 w 623"/>
                  <a:gd name="T23" fmla="*/ 0 h 3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3"/>
                  <a:gd name="T37" fmla="*/ 0 h 354"/>
                  <a:gd name="T38" fmla="*/ 623 w 623"/>
                  <a:gd name="T39" fmla="*/ 354 h 3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3" h="354">
                    <a:moveTo>
                      <a:pt x="5" y="0"/>
                    </a:moveTo>
                    <a:lnTo>
                      <a:pt x="6" y="19"/>
                    </a:lnTo>
                    <a:lnTo>
                      <a:pt x="614" y="354"/>
                    </a:lnTo>
                    <a:lnTo>
                      <a:pt x="623" y="335"/>
                    </a:lnTo>
                    <a:lnTo>
                      <a:pt x="16" y="0"/>
                    </a:lnTo>
                    <a:lnTo>
                      <a:pt x="17" y="19"/>
                    </a:lnTo>
                    <a:lnTo>
                      <a:pt x="16" y="0"/>
                    </a:lnTo>
                    <a:lnTo>
                      <a:pt x="8" y="0"/>
                    </a:lnTo>
                    <a:lnTo>
                      <a:pt x="2" y="5"/>
                    </a:lnTo>
                    <a:lnTo>
                      <a:pt x="0" y="13"/>
                    </a:lnTo>
                    <a:lnTo>
                      <a:pt x="6" y="19"/>
                    </a:lnTo>
                    <a:lnTo>
                      <a:pt x="5" y="0"/>
                    </a:lnTo>
                    <a:close/>
                  </a:path>
                </a:pathLst>
              </a:custGeom>
              <a:solidFill>
                <a:srgbClr val="000000"/>
              </a:solidFill>
              <a:ln w="9525">
                <a:noFill/>
                <a:round/>
                <a:headEnd/>
                <a:tailEnd/>
              </a:ln>
            </p:spPr>
            <p:txBody>
              <a:bodyPr/>
              <a:lstStyle/>
              <a:p>
                <a:endParaRPr lang="en-US"/>
              </a:p>
            </p:txBody>
          </p:sp>
          <p:sp>
            <p:nvSpPr>
              <p:cNvPr id="27733" name="Freeform 46"/>
              <p:cNvSpPr>
                <a:spLocks/>
              </p:cNvSpPr>
              <p:nvPr/>
            </p:nvSpPr>
            <p:spPr bwMode="auto">
              <a:xfrm>
                <a:off x="1555" y="3605"/>
                <a:ext cx="285" cy="343"/>
              </a:xfrm>
              <a:custGeom>
                <a:avLst/>
                <a:gdLst>
                  <a:gd name="T0" fmla="*/ 0 w 570"/>
                  <a:gd name="T1" fmla="*/ 0 h 685"/>
                  <a:gd name="T2" fmla="*/ 0 w 570"/>
                  <a:gd name="T3" fmla="*/ 1 h 685"/>
                  <a:gd name="T4" fmla="*/ 1 w 570"/>
                  <a:gd name="T5" fmla="*/ 1 h 685"/>
                  <a:gd name="T6" fmla="*/ 1 w 570"/>
                  <a:gd name="T7" fmla="*/ 1 h 685"/>
                  <a:gd name="T8" fmla="*/ 0 w 570"/>
                  <a:gd name="T9" fmla="*/ 0 h 685"/>
                  <a:gd name="T10" fmla="*/ 0 60000 65536"/>
                  <a:gd name="T11" fmla="*/ 0 60000 65536"/>
                  <a:gd name="T12" fmla="*/ 0 60000 65536"/>
                  <a:gd name="T13" fmla="*/ 0 60000 65536"/>
                  <a:gd name="T14" fmla="*/ 0 60000 65536"/>
                  <a:gd name="T15" fmla="*/ 0 w 570"/>
                  <a:gd name="T16" fmla="*/ 0 h 685"/>
                  <a:gd name="T17" fmla="*/ 570 w 570"/>
                  <a:gd name="T18" fmla="*/ 685 h 685"/>
                </a:gdLst>
                <a:ahLst/>
                <a:cxnLst>
                  <a:cxn ang="T10">
                    <a:pos x="T0" y="T1"/>
                  </a:cxn>
                  <a:cxn ang="T11">
                    <a:pos x="T2" y="T3"/>
                  </a:cxn>
                  <a:cxn ang="T12">
                    <a:pos x="T4" y="T5"/>
                  </a:cxn>
                  <a:cxn ang="T13">
                    <a:pos x="T6" y="T7"/>
                  </a:cxn>
                  <a:cxn ang="T14">
                    <a:pos x="T8" y="T9"/>
                  </a:cxn>
                </a:cxnLst>
                <a:rect l="T15" t="T16" r="T17" b="T18"/>
                <a:pathLst>
                  <a:path w="570" h="685">
                    <a:moveTo>
                      <a:pt x="0" y="0"/>
                    </a:moveTo>
                    <a:lnTo>
                      <a:pt x="0" y="364"/>
                    </a:lnTo>
                    <a:lnTo>
                      <a:pt x="570" y="685"/>
                    </a:lnTo>
                    <a:lnTo>
                      <a:pt x="570" y="320"/>
                    </a:lnTo>
                    <a:lnTo>
                      <a:pt x="0" y="0"/>
                    </a:lnTo>
                    <a:close/>
                  </a:path>
                </a:pathLst>
              </a:custGeom>
              <a:solidFill>
                <a:srgbClr val="8CFF00"/>
              </a:solidFill>
              <a:ln w="9525">
                <a:noFill/>
                <a:round/>
                <a:headEnd/>
                <a:tailEnd/>
              </a:ln>
            </p:spPr>
            <p:txBody>
              <a:bodyPr/>
              <a:lstStyle/>
              <a:p>
                <a:endParaRPr lang="en-US"/>
              </a:p>
            </p:txBody>
          </p:sp>
          <p:sp>
            <p:nvSpPr>
              <p:cNvPr id="27734" name="Freeform 47"/>
              <p:cNvSpPr>
                <a:spLocks/>
              </p:cNvSpPr>
              <p:nvPr/>
            </p:nvSpPr>
            <p:spPr bwMode="auto">
              <a:xfrm>
                <a:off x="1549" y="3605"/>
                <a:ext cx="11" cy="188"/>
              </a:xfrm>
              <a:custGeom>
                <a:avLst/>
                <a:gdLst>
                  <a:gd name="T0" fmla="*/ 1 w 22"/>
                  <a:gd name="T1" fmla="*/ 1 h 375"/>
                  <a:gd name="T2" fmla="*/ 1 w 22"/>
                  <a:gd name="T3" fmla="*/ 1 h 375"/>
                  <a:gd name="T4" fmla="*/ 1 w 22"/>
                  <a:gd name="T5" fmla="*/ 0 h 375"/>
                  <a:gd name="T6" fmla="*/ 0 w 22"/>
                  <a:gd name="T7" fmla="*/ 0 h 375"/>
                  <a:gd name="T8" fmla="*/ 0 w 22"/>
                  <a:gd name="T9" fmla="*/ 1 h 375"/>
                  <a:gd name="T10" fmla="*/ 1 w 22"/>
                  <a:gd name="T11" fmla="*/ 1 h 375"/>
                  <a:gd name="T12" fmla="*/ 0 w 22"/>
                  <a:gd name="T13" fmla="*/ 1 h 375"/>
                  <a:gd name="T14" fmla="*/ 1 w 22"/>
                  <a:gd name="T15" fmla="*/ 1 h 375"/>
                  <a:gd name="T16" fmla="*/ 1 w 22"/>
                  <a:gd name="T17" fmla="*/ 1 h 375"/>
                  <a:gd name="T18" fmla="*/ 1 w 22"/>
                  <a:gd name="T19" fmla="*/ 1 h 375"/>
                  <a:gd name="T20" fmla="*/ 1 w 22"/>
                  <a:gd name="T21" fmla="*/ 1 h 375"/>
                  <a:gd name="T22" fmla="*/ 1 w 22"/>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5"/>
                  <a:gd name="T38" fmla="*/ 22 w 22"/>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5">
                    <a:moveTo>
                      <a:pt x="15" y="355"/>
                    </a:moveTo>
                    <a:lnTo>
                      <a:pt x="22" y="364"/>
                    </a:lnTo>
                    <a:lnTo>
                      <a:pt x="22" y="0"/>
                    </a:lnTo>
                    <a:lnTo>
                      <a:pt x="0" y="0"/>
                    </a:lnTo>
                    <a:lnTo>
                      <a:pt x="0" y="364"/>
                    </a:lnTo>
                    <a:lnTo>
                      <a:pt x="6" y="374"/>
                    </a:lnTo>
                    <a:lnTo>
                      <a:pt x="0" y="364"/>
                    </a:lnTo>
                    <a:lnTo>
                      <a:pt x="3" y="372"/>
                    </a:lnTo>
                    <a:lnTo>
                      <a:pt x="11" y="375"/>
                    </a:lnTo>
                    <a:lnTo>
                      <a:pt x="18" y="372"/>
                    </a:lnTo>
                    <a:lnTo>
                      <a:pt x="22" y="364"/>
                    </a:lnTo>
                    <a:lnTo>
                      <a:pt x="15" y="355"/>
                    </a:lnTo>
                    <a:close/>
                  </a:path>
                </a:pathLst>
              </a:custGeom>
              <a:solidFill>
                <a:srgbClr val="000000"/>
              </a:solidFill>
              <a:ln w="9525">
                <a:noFill/>
                <a:round/>
                <a:headEnd/>
                <a:tailEnd/>
              </a:ln>
            </p:spPr>
            <p:txBody>
              <a:bodyPr/>
              <a:lstStyle/>
              <a:p>
                <a:endParaRPr lang="en-US"/>
              </a:p>
            </p:txBody>
          </p:sp>
          <p:sp>
            <p:nvSpPr>
              <p:cNvPr id="27735" name="Freeform 48"/>
              <p:cNvSpPr>
                <a:spLocks/>
              </p:cNvSpPr>
              <p:nvPr/>
            </p:nvSpPr>
            <p:spPr bwMode="auto">
              <a:xfrm>
                <a:off x="1552" y="3783"/>
                <a:ext cx="293" cy="170"/>
              </a:xfrm>
              <a:custGeom>
                <a:avLst/>
                <a:gdLst>
                  <a:gd name="T0" fmla="*/ 1 w 585"/>
                  <a:gd name="T1" fmla="*/ 1 h 339"/>
                  <a:gd name="T2" fmla="*/ 1 w 585"/>
                  <a:gd name="T3" fmla="*/ 1 h 339"/>
                  <a:gd name="T4" fmla="*/ 1 w 585"/>
                  <a:gd name="T5" fmla="*/ 0 h 339"/>
                  <a:gd name="T6" fmla="*/ 0 w 585"/>
                  <a:gd name="T7" fmla="*/ 1 h 339"/>
                  <a:gd name="T8" fmla="*/ 1 w 585"/>
                  <a:gd name="T9" fmla="*/ 1 h 339"/>
                  <a:gd name="T10" fmla="*/ 1 w 585"/>
                  <a:gd name="T11" fmla="*/ 1 h 339"/>
                  <a:gd name="T12" fmla="*/ 1 w 585"/>
                  <a:gd name="T13" fmla="*/ 1 h 339"/>
                  <a:gd name="T14" fmla="*/ 1 w 585"/>
                  <a:gd name="T15" fmla="*/ 1 h 339"/>
                  <a:gd name="T16" fmla="*/ 1 w 585"/>
                  <a:gd name="T17" fmla="*/ 1 h 339"/>
                  <a:gd name="T18" fmla="*/ 1 w 585"/>
                  <a:gd name="T19" fmla="*/ 1 h 339"/>
                  <a:gd name="T20" fmla="*/ 1 w 585"/>
                  <a:gd name="T21" fmla="*/ 1 h 339"/>
                  <a:gd name="T22" fmla="*/ 1 w 585"/>
                  <a:gd name="T23" fmla="*/ 1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39"/>
                  <a:gd name="T38" fmla="*/ 585 w 585"/>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39">
                    <a:moveTo>
                      <a:pt x="564" y="330"/>
                    </a:moveTo>
                    <a:lnTo>
                      <a:pt x="579" y="321"/>
                    </a:lnTo>
                    <a:lnTo>
                      <a:pt x="9" y="0"/>
                    </a:lnTo>
                    <a:lnTo>
                      <a:pt x="0" y="19"/>
                    </a:lnTo>
                    <a:lnTo>
                      <a:pt x="570" y="339"/>
                    </a:lnTo>
                    <a:lnTo>
                      <a:pt x="585" y="330"/>
                    </a:lnTo>
                    <a:lnTo>
                      <a:pt x="570" y="339"/>
                    </a:lnTo>
                    <a:lnTo>
                      <a:pt x="578" y="339"/>
                    </a:lnTo>
                    <a:lnTo>
                      <a:pt x="584" y="335"/>
                    </a:lnTo>
                    <a:lnTo>
                      <a:pt x="585" y="327"/>
                    </a:lnTo>
                    <a:lnTo>
                      <a:pt x="579" y="321"/>
                    </a:lnTo>
                    <a:lnTo>
                      <a:pt x="564" y="330"/>
                    </a:lnTo>
                    <a:close/>
                  </a:path>
                </a:pathLst>
              </a:custGeom>
              <a:solidFill>
                <a:srgbClr val="000000"/>
              </a:solidFill>
              <a:ln w="9525">
                <a:noFill/>
                <a:round/>
                <a:headEnd/>
                <a:tailEnd/>
              </a:ln>
            </p:spPr>
            <p:txBody>
              <a:bodyPr/>
              <a:lstStyle/>
              <a:p>
                <a:endParaRPr lang="en-US"/>
              </a:p>
            </p:txBody>
          </p:sp>
          <p:sp>
            <p:nvSpPr>
              <p:cNvPr id="27736" name="Freeform 49"/>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6" y="20"/>
                    </a:moveTo>
                    <a:lnTo>
                      <a:pt x="0" y="10"/>
                    </a:lnTo>
                    <a:lnTo>
                      <a:pt x="0" y="375"/>
                    </a:lnTo>
                    <a:lnTo>
                      <a:pt x="21" y="375"/>
                    </a:lnTo>
                    <a:lnTo>
                      <a:pt x="21" y="10"/>
                    </a:lnTo>
                    <a:lnTo>
                      <a:pt x="15" y="1"/>
                    </a:lnTo>
                    <a:lnTo>
                      <a:pt x="21" y="10"/>
                    </a:lnTo>
                    <a:lnTo>
                      <a:pt x="18" y="3"/>
                    </a:lnTo>
                    <a:lnTo>
                      <a:pt x="11" y="0"/>
                    </a:lnTo>
                    <a:lnTo>
                      <a:pt x="3" y="3"/>
                    </a:lnTo>
                    <a:lnTo>
                      <a:pt x="0" y="10"/>
                    </a:lnTo>
                    <a:lnTo>
                      <a:pt x="6" y="20"/>
                    </a:lnTo>
                    <a:close/>
                  </a:path>
                </a:pathLst>
              </a:custGeom>
              <a:solidFill>
                <a:srgbClr val="000000"/>
              </a:solidFill>
              <a:ln w="9525">
                <a:noFill/>
                <a:round/>
                <a:headEnd/>
                <a:tailEnd/>
              </a:ln>
            </p:spPr>
            <p:txBody>
              <a:bodyPr/>
              <a:lstStyle/>
              <a:p>
                <a:endParaRPr lang="en-US"/>
              </a:p>
            </p:txBody>
          </p:sp>
          <p:sp>
            <p:nvSpPr>
              <p:cNvPr id="27737" name="Freeform 50"/>
              <p:cNvSpPr>
                <a:spLocks/>
              </p:cNvSpPr>
              <p:nvPr/>
            </p:nvSpPr>
            <p:spPr bwMode="auto">
              <a:xfrm>
                <a:off x="1549" y="3601"/>
                <a:ext cx="293" cy="169"/>
              </a:xfrm>
              <a:custGeom>
                <a:avLst/>
                <a:gdLst>
                  <a:gd name="T0" fmla="*/ 1 w 585"/>
                  <a:gd name="T1" fmla="*/ 0 h 340"/>
                  <a:gd name="T2" fmla="*/ 1 w 585"/>
                  <a:gd name="T3" fmla="*/ 0 h 340"/>
                  <a:gd name="T4" fmla="*/ 1 w 585"/>
                  <a:gd name="T5" fmla="*/ 0 h 340"/>
                  <a:gd name="T6" fmla="*/ 1 w 585"/>
                  <a:gd name="T7" fmla="*/ 0 h 340"/>
                  <a:gd name="T8" fmla="*/ 1 w 585"/>
                  <a:gd name="T9" fmla="*/ 0 h 340"/>
                  <a:gd name="T10" fmla="*/ 0 w 585"/>
                  <a:gd name="T11" fmla="*/ 0 h 340"/>
                  <a:gd name="T12" fmla="*/ 1 w 585"/>
                  <a:gd name="T13" fmla="*/ 0 h 340"/>
                  <a:gd name="T14" fmla="*/ 1 w 585"/>
                  <a:gd name="T15" fmla="*/ 0 h 340"/>
                  <a:gd name="T16" fmla="*/ 1 w 585"/>
                  <a:gd name="T17" fmla="*/ 0 h 340"/>
                  <a:gd name="T18" fmla="*/ 0 w 585"/>
                  <a:gd name="T19" fmla="*/ 0 h 340"/>
                  <a:gd name="T20" fmla="*/ 1 w 585"/>
                  <a:gd name="T21" fmla="*/ 0 h 340"/>
                  <a:gd name="T22" fmla="*/ 1 w 585"/>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40"/>
                  <a:gd name="T38" fmla="*/ 585 w 585"/>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40">
                    <a:moveTo>
                      <a:pt x="22" y="10"/>
                    </a:moveTo>
                    <a:lnTo>
                      <a:pt x="6" y="19"/>
                    </a:lnTo>
                    <a:lnTo>
                      <a:pt x="576" y="340"/>
                    </a:lnTo>
                    <a:lnTo>
                      <a:pt x="585" y="321"/>
                    </a:lnTo>
                    <a:lnTo>
                      <a:pt x="15" y="0"/>
                    </a:lnTo>
                    <a:lnTo>
                      <a:pt x="0" y="10"/>
                    </a:lnTo>
                    <a:lnTo>
                      <a:pt x="15" y="0"/>
                    </a:lnTo>
                    <a:lnTo>
                      <a:pt x="7" y="0"/>
                    </a:lnTo>
                    <a:lnTo>
                      <a:pt x="1"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7738" name="Freeform 51"/>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close/>
                  </a:path>
                </a:pathLst>
              </a:custGeom>
              <a:solidFill>
                <a:srgbClr val="8CFF00"/>
              </a:solidFill>
              <a:ln w="9525">
                <a:noFill/>
                <a:round/>
                <a:headEnd/>
                <a:tailEnd/>
              </a:ln>
            </p:spPr>
            <p:txBody>
              <a:bodyPr/>
              <a:lstStyle/>
              <a:p>
                <a:endParaRPr lang="en-US"/>
              </a:p>
            </p:txBody>
          </p:sp>
          <p:sp>
            <p:nvSpPr>
              <p:cNvPr id="27739" name="Freeform 52"/>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path>
                </a:pathLst>
              </a:custGeom>
              <a:noFill/>
              <a:ln w="0">
                <a:solidFill>
                  <a:srgbClr val="000000"/>
                </a:solidFill>
                <a:round/>
                <a:headEnd/>
                <a:tailEnd/>
              </a:ln>
            </p:spPr>
            <p:txBody>
              <a:bodyPr/>
              <a:lstStyle/>
              <a:p>
                <a:endParaRPr lang="en-US"/>
              </a:p>
            </p:txBody>
          </p:sp>
          <p:sp>
            <p:nvSpPr>
              <p:cNvPr id="27740" name="Freeform 53"/>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close/>
                  </a:path>
                </a:pathLst>
              </a:custGeom>
              <a:solidFill>
                <a:srgbClr val="4CFF00"/>
              </a:solidFill>
              <a:ln w="9525">
                <a:noFill/>
                <a:round/>
                <a:headEnd/>
                <a:tailEnd/>
              </a:ln>
            </p:spPr>
            <p:txBody>
              <a:bodyPr/>
              <a:lstStyle/>
              <a:p>
                <a:endParaRPr lang="en-US"/>
              </a:p>
            </p:txBody>
          </p:sp>
          <p:sp>
            <p:nvSpPr>
              <p:cNvPr id="27741" name="Freeform 54"/>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path>
                </a:pathLst>
              </a:custGeom>
              <a:noFill/>
              <a:ln w="0">
                <a:solidFill>
                  <a:srgbClr val="000000"/>
                </a:solidFill>
                <a:round/>
                <a:headEnd/>
                <a:tailEnd/>
              </a:ln>
            </p:spPr>
            <p:txBody>
              <a:bodyPr/>
              <a:lstStyle/>
              <a:p>
                <a:endParaRPr lang="en-US"/>
              </a:p>
            </p:txBody>
          </p:sp>
          <p:sp>
            <p:nvSpPr>
              <p:cNvPr id="27742" name="Freeform 55"/>
              <p:cNvSpPr>
                <a:spLocks/>
              </p:cNvSpPr>
              <p:nvPr/>
            </p:nvSpPr>
            <p:spPr bwMode="auto">
              <a:xfrm>
                <a:off x="1892" y="3496"/>
                <a:ext cx="154" cy="125"/>
              </a:xfrm>
              <a:custGeom>
                <a:avLst/>
                <a:gdLst>
                  <a:gd name="T0" fmla="*/ 0 w 309"/>
                  <a:gd name="T1" fmla="*/ 0 h 250"/>
                  <a:gd name="T2" fmla="*/ 0 w 309"/>
                  <a:gd name="T3" fmla="*/ 1 h 250"/>
                  <a:gd name="T4" fmla="*/ 0 w 309"/>
                  <a:gd name="T5" fmla="*/ 1 h 250"/>
                  <a:gd name="T6" fmla="*/ 0 w 309"/>
                  <a:gd name="T7" fmla="*/ 1 h 250"/>
                  <a:gd name="T8" fmla="*/ 0 w 309"/>
                  <a:gd name="T9" fmla="*/ 0 h 250"/>
                  <a:gd name="T10" fmla="*/ 0 60000 65536"/>
                  <a:gd name="T11" fmla="*/ 0 60000 65536"/>
                  <a:gd name="T12" fmla="*/ 0 60000 65536"/>
                  <a:gd name="T13" fmla="*/ 0 60000 65536"/>
                  <a:gd name="T14" fmla="*/ 0 60000 65536"/>
                  <a:gd name="T15" fmla="*/ 0 w 309"/>
                  <a:gd name="T16" fmla="*/ 0 h 250"/>
                  <a:gd name="T17" fmla="*/ 309 w 309"/>
                  <a:gd name="T18" fmla="*/ 250 h 250"/>
                </a:gdLst>
                <a:ahLst/>
                <a:cxnLst>
                  <a:cxn ang="T10">
                    <a:pos x="T0" y="T1"/>
                  </a:cxn>
                  <a:cxn ang="T11">
                    <a:pos x="T2" y="T3"/>
                  </a:cxn>
                  <a:cxn ang="T12">
                    <a:pos x="T4" y="T5"/>
                  </a:cxn>
                  <a:cxn ang="T13">
                    <a:pos x="T6" y="T7"/>
                  </a:cxn>
                  <a:cxn ang="T14">
                    <a:pos x="T8" y="T9"/>
                  </a:cxn>
                </a:cxnLst>
                <a:rect l="T15" t="T16" r="T17" b="T18"/>
                <a:pathLst>
                  <a:path w="309" h="250">
                    <a:moveTo>
                      <a:pt x="309" y="0"/>
                    </a:moveTo>
                    <a:lnTo>
                      <a:pt x="309" y="64"/>
                    </a:lnTo>
                    <a:lnTo>
                      <a:pt x="0" y="250"/>
                    </a:lnTo>
                    <a:lnTo>
                      <a:pt x="0" y="186"/>
                    </a:lnTo>
                    <a:lnTo>
                      <a:pt x="309" y="0"/>
                    </a:lnTo>
                    <a:close/>
                  </a:path>
                </a:pathLst>
              </a:custGeom>
              <a:solidFill>
                <a:srgbClr val="007FFF"/>
              </a:solidFill>
              <a:ln w="9525">
                <a:noFill/>
                <a:round/>
                <a:headEnd/>
                <a:tailEnd/>
              </a:ln>
            </p:spPr>
            <p:txBody>
              <a:bodyPr/>
              <a:lstStyle/>
              <a:p>
                <a:endParaRPr lang="en-US"/>
              </a:p>
            </p:txBody>
          </p:sp>
          <p:sp>
            <p:nvSpPr>
              <p:cNvPr id="27743" name="Freeform 56"/>
              <p:cNvSpPr>
                <a:spLocks/>
              </p:cNvSpPr>
              <p:nvPr/>
            </p:nvSpPr>
            <p:spPr bwMode="auto">
              <a:xfrm>
                <a:off x="2041" y="3496"/>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7" y="73"/>
                    </a:moveTo>
                    <a:lnTo>
                      <a:pt x="22" y="64"/>
                    </a:lnTo>
                    <a:lnTo>
                      <a:pt x="22" y="0"/>
                    </a:lnTo>
                    <a:lnTo>
                      <a:pt x="0" y="0"/>
                    </a:lnTo>
                    <a:lnTo>
                      <a:pt x="0" y="64"/>
                    </a:lnTo>
                    <a:lnTo>
                      <a:pt x="5" y="54"/>
                    </a:lnTo>
                    <a:lnTo>
                      <a:pt x="0" y="64"/>
                    </a:lnTo>
                    <a:lnTo>
                      <a:pt x="3" y="72"/>
                    </a:lnTo>
                    <a:lnTo>
                      <a:pt x="11" y="75"/>
                    </a:lnTo>
                    <a:lnTo>
                      <a:pt x="19" y="72"/>
                    </a:lnTo>
                    <a:lnTo>
                      <a:pt x="22" y="64"/>
                    </a:lnTo>
                    <a:lnTo>
                      <a:pt x="17" y="73"/>
                    </a:lnTo>
                    <a:close/>
                  </a:path>
                </a:pathLst>
              </a:custGeom>
              <a:solidFill>
                <a:srgbClr val="000000"/>
              </a:solidFill>
              <a:ln w="9525">
                <a:noFill/>
                <a:round/>
                <a:headEnd/>
                <a:tailEnd/>
              </a:ln>
            </p:spPr>
            <p:txBody>
              <a:bodyPr/>
              <a:lstStyle/>
              <a:p>
                <a:endParaRPr lang="en-US"/>
              </a:p>
            </p:txBody>
          </p:sp>
          <p:sp>
            <p:nvSpPr>
              <p:cNvPr id="27744" name="Freeform 57"/>
              <p:cNvSpPr>
                <a:spLocks/>
              </p:cNvSpPr>
              <p:nvPr/>
            </p:nvSpPr>
            <p:spPr bwMode="auto">
              <a:xfrm>
                <a:off x="1887" y="3523"/>
                <a:ext cx="163" cy="103"/>
              </a:xfrm>
              <a:custGeom>
                <a:avLst/>
                <a:gdLst>
                  <a:gd name="T0" fmla="*/ 0 w 326"/>
                  <a:gd name="T1" fmla="*/ 0 h 207"/>
                  <a:gd name="T2" fmla="*/ 1 w 326"/>
                  <a:gd name="T3" fmla="*/ 0 h 207"/>
                  <a:gd name="T4" fmla="*/ 1 w 326"/>
                  <a:gd name="T5" fmla="*/ 0 h 207"/>
                  <a:gd name="T6" fmla="*/ 1 w 326"/>
                  <a:gd name="T7" fmla="*/ 0 h 207"/>
                  <a:gd name="T8" fmla="*/ 1 w 326"/>
                  <a:gd name="T9" fmla="*/ 0 h 207"/>
                  <a:gd name="T10" fmla="*/ 1 w 326"/>
                  <a:gd name="T11" fmla="*/ 0 h 207"/>
                  <a:gd name="T12" fmla="*/ 1 w 326"/>
                  <a:gd name="T13" fmla="*/ 0 h 207"/>
                  <a:gd name="T14" fmla="*/ 0 w 326"/>
                  <a:gd name="T15" fmla="*/ 0 h 207"/>
                  <a:gd name="T16" fmla="*/ 1 w 326"/>
                  <a:gd name="T17" fmla="*/ 0 h 207"/>
                  <a:gd name="T18" fmla="*/ 1 w 326"/>
                  <a:gd name="T19" fmla="*/ 0 h 207"/>
                  <a:gd name="T20" fmla="*/ 1 w 326"/>
                  <a:gd name="T21" fmla="*/ 0 h 207"/>
                  <a:gd name="T22" fmla="*/ 0 w 326"/>
                  <a:gd name="T23" fmla="*/ 0 h 2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7"/>
                  <a:gd name="T38" fmla="*/ 326 w 326"/>
                  <a:gd name="T39" fmla="*/ 207 h 2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7">
                    <a:moveTo>
                      <a:pt x="0" y="196"/>
                    </a:moveTo>
                    <a:lnTo>
                      <a:pt x="18" y="205"/>
                    </a:lnTo>
                    <a:lnTo>
                      <a:pt x="326" y="19"/>
                    </a:lnTo>
                    <a:lnTo>
                      <a:pt x="314" y="0"/>
                    </a:lnTo>
                    <a:lnTo>
                      <a:pt x="5" y="187"/>
                    </a:lnTo>
                    <a:lnTo>
                      <a:pt x="22" y="196"/>
                    </a:lnTo>
                    <a:lnTo>
                      <a:pt x="5" y="187"/>
                    </a:lnTo>
                    <a:lnTo>
                      <a:pt x="0" y="194"/>
                    </a:lnTo>
                    <a:lnTo>
                      <a:pt x="2" y="202"/>
                    </a:lnTo>
                    <a:lnTo>
                      <a:pt x="8" y="207"/>
                    </a:lnTo>
                    <a:lnTo>
                      <a:pt x="18" y="205"/>
                    </a:lnTo>
                    <a:lnTo>
                      <a:pt x="0" y="196"/>
                    </a:lnTo>
                    <a:close/>
                  </a:path>
                </a:pathLst>
              </a:custGeom>
              <a:solidFill>
                <a:srgbClr val="000000"/>
              </a:solidFill>
              <a:ln w="9525">
                <a:noFill/>
                <a:round/>
                <a:headEnd/>
                <a:tailEnd/>
              </a:ln>
            </p:spPr>
            <p:txBody>
              <a:bodyPr/>
              <a:lstStyle/>
              <a:p>
                <a:endParaRPr lang="en-US"/>
              </a:p>
            </p:txBody>
          </p:sp>
          <p:sp>
            <p:nvSpPr>
              <p:cNvPr id="27745" name="Freeform 58"/>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5" y="1"/>
                    </a:moveTo>
                    <a:lnTo>
                      <a:pt x="0" y="11"/>
                    </a:lnTo>
                    <a:lnTo>
                      <a:pt x="0" y="75"/>
                    </a:lnTo>
                    <a:lnTo>
                      <a:pt x="22" y="75"/>
                    </a:lnTo>
                    <a:lnTo>
                      <a:pt x="22" y="11"/>
                    </a:lnTo>
                    <a:lnTo>
                      <a:pt x="18" y="20"/>
                    </a:lnTo>
                    <a:lnTo>
                      <a:pt x="22" y="11"/>
                    </a:lnTo>
                    <a:lnTo>
                      <a:pt x="19" y="3"/>
                    </a:lnTo>
                    <a:lnTo>
                      <a:pt x="11" y="0"/>
                    </a:lnTo>
                    <a:lnTo>
                      <a:pt x="4" y="3"/>
                    </a:lnTo>
                    <a:lnTo>
                      <a:pt x="0" y="11"/>
                    </a:lnTo>
                    <a:lnTo>
                      <a:pt x="5" y="1"/>
                    </a:lnTo>
                    <a:close/>
                  </a:path>
                </a:pathLst>
              </a:custGeom>
              <a:solidFill>
                <a:srgbClr val="000000"/>
              </a:solidFill>
              <a:ln w="9525">
                <a:noFill/>
                <a:round/>
                <a:headEnd/>
                <a:tailEnd/>
              </a:ln>
            </p:spPr>
            <p:txBody>
              <a:bodyPr/>
              <a:lstStyle/>
              <a:p>
                <a:endParaRPr lang="en-US"/>
              </a:p>
            </p:txBody>
          </p:sp>
          <p:sp>
            <p:nvSpPr>
              <p:cNvPr id="27746" name="Freeform 59"/>
              <p:cNvSpPr>
                <a:spLocks/>
              </p:cNvSpPr>
              <p:nvPr/>
            </p:nvSpPr>
            <p:spPr bwMode="auto">
              <a:xfrm>
                <a:off x="1889" y="3490"/>
                <a:ext cx="163" cy="104"/>
              </a:xfrm>
              <a:custGeom>
                <a:avLst/>
                <a:gdLst>
                  <a:gd name="T0" fmla="*/ 1 w 326"/>
                  <a:gd name="T1" fmla="*/ 1 h 206"/>
                  <a:gd name="T2" fmla="*/ 1 w 326"/>
                  <a:gd name="T3" fmla="*/ 1 h 206"/>
                  <a:gd name="T4" fmla="*/ 0 w 326"/>
                  <a:gd name="T5" fmla="*/ 1 h 206"/>
                  <a:gd name="T6" fmla="*/ 1 w 326"/>
                  <a:gd name="T7" fmla="*/ 1 h 206"/>
                  <a:gd name="T8" fmla="*/ 1 w 326"/>
                  <a:gd name="T9" fmla="*/ 1 h 206"/>
                  <a:gd name="T10" fmla="*/ 1 w 326"/>
                  <a:gd name="T11" fmla="*/ 1 h 206"/>
                  <a:gd name="T12" fmla="*/ 1 w 326"/>
                  <a:gd name="T13" fmla="*/ 1 h 206"/>
                  <a:gd name="T14" fmla="*/ 1 w 326"/>
                  <a:gd name="T15" fmla="*/ 1 h 206"/>
                  <a:gd name="T16" fmla="*/ 1 w 326"/>
                  <a:gd name="T17" fmla="*/ 1 h 206"/>
                  <a:gd name="T18" fmla="*/ 1 w 326"/>
                  <a:gd name="T19" fmla="*/ 0 h 206"/>
                  <a:gd name="T20" fmla="*/ 1 w 326"/>
                  <a:gd name="T21" fmla="*/ 1 h 206"/>
                  <a:gd name="T22" fmla="*/ 1 w 326"/>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6"/>
                  <a:gd name="T38" fmla="*/ 326 w 326"/>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6">
                    <a:moveTo>
                      <a:pt x="326" y="11"/>
                    </a:moveTo>
                    <a:lnTo>
                      <a:pt x="309" y="1"/>
                    </a:lnTo>
                    <a:lnTo>
                      <a:pt x="0" y="187"/>
                    </a:lnTo>
                    <a:lnTo>
                      <a:pt x="13" y="206"/>
                    </a:lnTo>
                    <a:lnTo>
                      <a:pt x="321" y="20"/>
                    </a:lnTo>
                    <a:lnTo>
                      <a:pt x="304" y="11"/>
                    </a:lnTo>
                    <a:lnTo>
                      <a:pt x="321" y="20"/>
                    </a:lnTo>
                    <a:lnTo>
                      <a:pt x="326" y="12"/>
                    </a:lnTo>
                    <a:lnTo>
                      <a:pt x="324" y="4"/>
                    </a:lnTo>
                    <a:lnTo>
                      <a:pt x="318" y="0"/>
                    </a:lnTo>
                    <a:lnTo>
                      <a:pt x="309" y="1"/>
                    </a:lnTo>
                    <a:lnTo>
                      <a:pt x="326" y="11"/>
                    </a:lnTo>
                    <a:close/>
                  </a:path>
                </a:pathLst>
              </a:custGeom>
              <a:solidFill>
                <a:srgbClr val="000000"/>
              </a:solidFill>
              <a:ln w="9525">
                <a:noFill/>
                <a:round/>
                <a:headEnd/>
                <a:tailEnd/>
              </a:ln>
            </p:spPr>
            <p:txBody>
              <a:bodyPr/>
              <a:lstStyle/>
              <a:p>
                <a:endParaRPr lang="en-US"/>
              </a:p>
            </p:txBody>
          </p:sp>
          <p:sp>
            <p:nvSpPr>
              <p:cNvPr id="27747" name="Freeform 60"/>
              <p:cNvSpPr>
                <a:spLocks/>
              </p:cNvSpPr>
              <p:nvPr/>
            </p:nvSpPr>
            <p:spPr bwMode="auto">
              <a:xfrm>
                <a:off x="1765" y="3521"/>
                <a:ext cx="127" cy="100"/>
              </a:xfrm>
              <a:custGeom>
                <a:avLst/>
                <a:gdLst>
                  <a:gd name="T0" fmla="*/ 0 w 255"/>
                  <a:gd name="T1" fmla="*/ 0 h 200"/>
                  <a:gd name="T2" fmla="*/ 0 w 255"/>
                  <a:gd name="T3" fmla="*/ 1 h 200"/>
                  <a:gd name="T4" fmla="*/ 0 w 255"/>
                  <a:gd name="T5" fmla="*/ 1 h 200"/>
                  <a:gd name="T6" fmla="*/ 0 w 255"/>
                  <a:gd name="T7" fmla="*/ 1 h 200"/>
                  <a:gd name="T8" fmla="*/ 0 w 255"/>
                  <a:gd name="T9" fmla="*/ 0 h 200"/>
                  <a:gd name="T10" fmla="*/ 0 60000 65536"/>
                  <a:gd name="T11" fmla="*/ 0 60000 65536"/>
                  <a:gd name="T12" fmla="*/ 0 60000 65536"/>
                  <a:gd name="T13" fmla="*/ 0 60000 65536"/>
                  <a:gd name="T14" fmla="*/ 0 60000 65536"/>
                  <a:gd name="T15" fmla="*/ 0 w 255"/>
                  <a:gd name="T16" fmla="*/ 0 h 200"/>
                  <a:gd name="T17" fmla="*/ 255 w 255"/>
                  <a:gd name="T18" fmla="*/ 200 h 200"/>
                </a:gdLst>
                <a:ahLst/>
                <a:cxnLst>
                  <a:cxn ang="T10">
                    <a:pos x="T0" y="T1"/>
                  </a:cxn>
                  <a:cxn ang="T11">
                    <a:pos x="T2" y="T3"/>
                  </a:cxn>
                  <a:cxn ang="T12">
                    <a:pos x="T4" y="T5"/>
                  </a:cxn>
                  <a:cxn ang="T13">
                    <a:pos x="T6" y="T7"/>
                  </a:cxn>
                  <a:cxn ang="T14">
                    <a:pos x="T8" y="T9"/>
                  </a:cxn>
                </a:cxnLst>
                <a:rect l="T15" t="T16" r="T17" b="T18"/>
                <a:pathLst>
                  <a:path w="255" h="200">
                    <a:moveTo>
                      <a:pt x="0" y="0"/>
                    </a:moveTo>
                    <a:lnTo>
                      <a:pt x="0" y="64"/>
                    </a:lnTo>
                    <a:lnTo>
                      <a:pt x="255" y="200"/>
                    </a:lnTo>
                    <a:lnTo>
                      <a:pt x="255" y="136"/>
                    </a:lnTo>
                    <a:lnTo>
                      <a:pt x="0" y="0"/>
                    </a:lnTo>
                    <a:close/>
                  </a:path>
                </a:pathLst>
              </a:custGeom>
              <a:solidFill>
                <a:srgbClr val="4CB2FF"/>
              </a:solidFill>
              <a:ln w="9525">
                <a:noFill/>
                <a:round/>
                <a:headEnd/>
                <a:tailEnd/>
              </a:ln>
            </p:spPr>
            <p:txBody>
              <a:bodyPr/>
              <a:lstStyle/>
              <a:p>
                <a:endParaRPr lang="en-US"/>
              </a:p>
            </p:txBody>
          </p:sp>
          <p:sp>
            <p:nvSpPr>
              <p:cNvPr id="27748" name="Freeform 61"/>
              <p:cNvSpPr>
                <a:spLocks/>
              </p:cNvSpPr>
              <p:nvPr/>
            </p:nvSpPr>
            <p:spPr bwMode="auto">
              <a:xfrm>
                <a:off x="1759" y="3521"/>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6" y="55"/>
                    </a:moveTo>
                    <a:lnTo>
                      <a:pt x="22" y="64"/>
                    </a:lnTo>
                    <a:lnTo>
                      <a:pt x="22" y="0"/>
                    </a:lnTo>
                    <a:lnTo>
                      <a:pt x="0" y="0"/>
                    </a:lnTo>
                    <a:lnTo>
                      <a:pt x="0" y="64"/>
                    </a:lnTo>
                    <a:lnTo>
                      <a:pt x="7" y="73"/>
                    </a:lnTo>
                    <a:lnTo>
                      <a:pt x="0" y="64"/>
                    </a:lnTo>
                    <a:lnTo>
                      <a:pt x="3" y="72"/>
                    </a:lnTo>
                    <a:lnTo>
                      <a:pt x="11" y="75"/>
                    </a:lnTo>
                    <a:lnTo>
                      <a:pt x="19" y="72"/>
                    </a:lnTo>
                    <a:lnTo>
                      <a:pt x="22" y="64"/>
                    </a:lnTo>
                    <a:lnTo>
                      <a:pt x="16" y="55"/>
                    </a:lnTo>
                    <a:close/>
                  </a:path>
                </a:pathLst>
              </a:custGeom>
              <a:solidFill>
                <a:srgbClr val="000000"/>
              </a:solidFill>
              <a:ln w="9525">
                <a:noFill/>
                <a:round/>
                <a:headEnd/>
                <a:tailEnd/>
              </a:ln>
            </p:spPr>
            <p:txBody>
              <a:bodyPr/>
              <a:lstStyle/>
              <a:p>
                <a:endParaRPr lang="en-US"/>
              </a:p>
            </p:txBody>
          </p:sp>
          <p:sp>
            <p:nvSpPr>
              <p:cNvPr id="27749" name="Freeform 62"/>
              <p:cNvSpPr>
                <a:spLocks/>
              </p:cNvSpPr>
              <p:nvPr/>
            </p:nvSpPr>
            <p:spPr bwMode="auto">
              <a:xfrm>
                <a:off x="1762" y="3548"/>
                <a:ext cx="136" cy="78"/>
              </a:xfrm>
              <a:custGeom>
                <a:avLst/>
                <a:gdLst>
                  <a:gd name="T0" fmla="*/ 1 w 270"/>
                  <a:gd name="T1" fmla="*/ 1 h 154"/>
                  <a:gd name="T2" fmla="*/ 1 w 270"/>
                  <a:gd name="T3" fmla="*/ 1 h 154"/>
                  <a:gd name="T4" fmla="*/ 1 w 270"/>
                  <a:gd name="T5" fmla="*/ 0 h 154"/>
                  <a:gd name="T6" fmla="*/ 0 w 270"/>
                  <a:gd name="T7" fmla="*/ 1 h 154"/>
                  <a:gd name="T8" fmla="*/ 1 w 270"/>
                  <a:gd name="T9" fmla="*/ 1 h 154"/>
                  <a:gd name="T10" fmla="*/ 1 w 270"/>
                  <a:gd name="T11" fmla="*/ 1 h 154"/>
                  <a:gd name="T12" fmla="*/ 1 w 270"/>
                  <a:gd name="T13" fmla="*/ 1 h 154"/>
                  <a:gd name="T14" fmla="*/ 1 w 270"/>
                  <a:gd name="T15" fmla="*/ 1 h 154"/>
                  <a:gd name="T16" fmla="*/ 1 w 270"/>
                  <a:gd name="T17" fmla="*/ 1 h 154"/>
                  <a:gd name="T18" fmla="*/ 1 w 270"/>
                  <a:gd name="T19" fmla="*/ 1 h 154"/>
                  <a:gd name="T20" fmla="*/ 1 w 270"/>
                  <a:gd name="T21" fmla="*/ 1 h 154"/>
                  <a:gd name="T22" fmla="*/ 1 w 270"/>
                  <a:gd name="T23" fmla="*/ 1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0"/>
                  <a:gd name="T37" fmla="*/ 0 h 154"/>
                  <a:gd name="T38" fmla="*/ 270 w 270"/>
                  <a:gd name="T39" fmla="*/ 154 h 1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0" h="154">
                    <a:moveTo>
                      <a:pt x="248" y="145"/>
                    </a:moveTo>
                    <a:lnTo>
                      <a:pt x="264" y="136"/>
                    </a:lnTo>
                    <a:lnTo>
                      <a:pt x="9" y="0"/>
                    </a:lnTo>
                    <a:lnTo>
                      <a:pt x="0" y="18"/>
                    </a:lnTo>
                    <a:lnTo>
                      <a:pt x="255" y="154"/>
                    </a:lnTo>
                    <a:lnTo>
                      <a:pt x="270" y="145"/>
                    </a:lnTo>
                    <a:lnTo>
                      <a:pt x="255" y="154"/>
                    </a:lnTo>
                    <a:lnTo>
                      <a:pt x="263" y="154"/>
                    </a:lnTo>
                    <a:lnTo>
                      <a:pt x="269" y="150"/>
                    </a:lnTo>
                    <a:lnTo>
                      <a:pt x="270" y="142"/>
                    </a:lnTo>
                    <a:lnTo>
                      <a:pt x="264" y="136"/>
                    </a:lnTo>
                    <a:lnTo>
                      <a:pt x="248" y="145"/>
                    </a:lnTo>
                    <a:close/>
                  </a:path>
                </a:pathLst>
              </a:custGeom>
              <a:solidFill>
                <a:srgbClr val="000000"/>
              </a:solidFill>
              <a:ln w="9525">
                <a:noFill/>
                <a:round/>
                <a:headEnd/>
                <a:tailEnd/>
              </a:ln>
            </p:spPr>
            <p:txBody>
              <a:bodyPr/>
              <a:lstStyle/>
              <a:p>
                <a:endParaRPr lang="en-US"/>
              </a:p>
            </p:txBody>
          </p:sp>
          <p:sp>
            <p:nvSpPr>
              <p:cNvPr id="27750" name="Freeform 63"/>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7" y="20"/>
                    </a:moveTo>
                    <a:lnTo>
                      <a:pt x="0" y="11"/>
                    </a:lnTo>
                    <a:lnTo>
                      <a:pt x="0" y="75"/>
                    </a:lnTo>
                    <a:lnTo>
                      <a:pt x="22" y="75"/>
                    </a:lnTo>
                    <a:lnTo>
                      <a:pt x="22" y="11"/>
                    </a:lnTo>
                    <a:lnTo>
                      <a:pt x="16" y="1"/>
                    </a:lnTo>
                    <a:lnTo>
                      <a:pt x="22" y="11"/>
                    </a:lnTo>
                    <a:lnTo>
                      <a:pt x="19" y="3"/>
                    </a:lnTo>
                    <a:lnTo>
                      <a:pt x="11" y="0"/>
                    </a:lnTo>
                    <a:lnTo>
                      <a:pt x="4" y="3"/>
                    </a:lnTo>
                    <a:lnTo>
                      <a:pt x="0" y="11"/>
                    </a:lnTo>
                    <a:lnTo>
                      <a:pt x="7" y="20"/>
                    </a:lnTo>
                    <a:close/>
                  </a:path>
                </a:pathLst>
              </a:custGeom>
              <a:solidFill>
                <a:srgbClr val="000000"/>
              </a:solidFill>
              <a:ln w="9525">
                <a:noFill/>
                <a:round/>
                <a:headEnd/>
                <a:tailEnd/>
              </a:ln>
            </p:spPr>
            <p:txBody>
              <a:bodyPr/>
              <a:lstStyle/>
              <a:p>
                <a:endParaRPr lang="en-US"/>
              </a:p>
            </p:txBody>
          </p:sp>
          <p:sp>
            <p:nvSpPr>
              <p:cNvPr id="27751" name="Freeform 64"/>
              <p:cNvSpPr>
                <a:spLocks/>
              </p:cNvSpPr>
              <p:nvPr/>
            </p:nvSpPr>
            <p:spPr bwMode="auto">
              <a:xfrm>
                <a:off x="1759" y="3516"/>
                <a:ext cx="136" cy="78"/>
              </a:xfrm>
              <a:custGeom>
                <a:avLst/>
                <a:gdLst>
                  <a:gd name="T0" fmla="*/ 1 w 271"/>
                  <a:gd name="T1" fmla="*/ 1 h 155"/>
                  <a:gd name="T2" fmla="*/ 1 w 271"/>
                  <a:gd name="T3" fmla="*/ 1 h 155"/>
                  <a:gd name="T4" fmla="*/ 1 w 271"/>
                  <a:gd name="T5" fmla="*/ 1 h 155"/>
                  <a:gd name="T6" fmla="*/ 1 w 271"/>
                  <a:gd name="T7" fmla="*/ 1 h 155"/>
                  <a:gd name="T8" fmla="*/ 1 w 271"/>
                  <a:gd name="T9" fmla="*/ 0 h 155"/>
                  <a:gd name="T10" fmla="*/ 0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1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22" y="10"/>
                    </a:moveTo>
                    <a:lnTo>
                      <a:pt x="7" y="19"/>
                    </a:lnTo>
                    <a:lnTo>
                      <a:pt x="262" y="155"/>
                    </a:lnTo>
                    <a:lnTo>
                      <a:pt x="271" y="136"/>
                    </a:lnTo>
                    <a:lnTo>
                      <a:pt x="16" y="0"/>
                    </a:lnTo>
                    <a:lnTo>
                      <a:pt x="0" y="10"/>
                    </a:lnTo>
                    <a:lnTo>
                      <a:pt x="16" y="0"/>
                    </a:lnTo>
                    <a:lnTo>
                      <a:pt x="8" y="0"/>
                    </a:lnTo>
                    <a:lnTo>
                      <a:pt x="2" y="5"/>
                    </a:lnTo>
                    <a:lnTo>
                      <a:pt x="0" y="13"/>
                    </a:lnTo>
                    <a:lnTo>
                      <a:pt x="7" y="19"/>
                    </a:lnTo>
                    <a:lnTo>
                      <a:pt x="22" y="10"/>
                    </a:lnTo>
                    <a:close/>
                  </a:path>
                </a:pathLst>
              </a:custGeom>
              <a:solidFill>
                <a:srgbClr val="000000"/>
              </a:solidFill>
              <a:ln w="9525">
                <a:noFill/>
                <a:round/>
                <a:headEnd/>
                <a:tailEnd/>
              </a:ln>
            </p:spPr>
            <p:txBody>
              <a:bodyPr/>
              <a:lstStyle/>
              <a:p>
                <a:endParaRPr lang="en-US"/>
              </a:p>
            </p:txBody>
          </p:sp>
          <p:sp>
            <p:nvSpPr>
              <p:cNvPr id="27752" name="Freeform 65"/>
              <p:cNvSpPr>
                <a:spLocks/>
              </p:cNvSpPr>
              <p:nvPr/>
            </p:nvSpPr>
            <p:spPr bwMode="auto">
              <a:xfrm>
                <a:off x="1765" y="3428"/>
                <a:ext cx="281" cy="161"/>
              </a:xfrm>
              <a:custGeom>
                <a:avLst/>
                <a:gdLst>
                  <a:gd name="T0" fmla="*/ 0 w 564"/>
                  <a:gd name="T1" fmla="*/ 1 h 322"/>
                  <a:gd name="T2" fmla="*/ 0 w 564"/>
                  <a:gd name="T3" fmla="*/ 0 h 322"/>
                  <a:gd name="T4" fmla="*/ 0 w 564"/>
                  <a:gd name="T5" fmla="*/ 1 h 322"/>
                  <a:gd name="T6" fmla="*/ 0 w 564"/>
                  <a:gd name="T7" fmla="*/ 1 h 322"/>
                  <a:gd name="T8" fmla="*/ 0 w 564"/>
                  <a:gd name="T9" fmla="*/ 1 h 322"/>
                  <a:gd name="T10" fmla="*/ 0 60000 65536"/>
                  <a:gd name="T11" fmla="*/ 0 60000 65536"/>
                  <a:gd name="T12" fmla="*/ 0 60000 65536"/>
                  <a:gd name="T13" fmla="*/ 0 60000 65536"/>
                  <a:gd name="T14" fmla="*/ 0 60000 65536"/>
                  <a:gd name="T15" fmla="*/ 0 w 564"/>
                  <a:gd name="T16" fmla="*/ 0 h 322"/>
                  <a:gd name="T17" fmla="*/ 564 w 564"/>
                  <a:gd name="T18" fmla="*/ 322 h 322"/>
                </a:gdLst>
                <a:ahLst/>
                <a:cxnLst>
                  <a:cxn ang="T10">
                    <a:pos x="T0" y="T1"/>
                  </a:cxn>
                  <a:cxn ang="T11">
                    <a:pos x="T2" y="T3"/>
                  </a:cxn>
                  <a:cxn ang="T12">
                    <a:pos x="T4" y="T5"/>
                  </a:cxn>
                  <a:cxn ang="T13">
                    <a:pos x="T6" y="T7"/>
                  </a:cxn>
                  <a:cxn ang="T14">
                    <a:pos x="T8" y="T9"/>
                  </a:cxn>
                </a:cxnLst>
                <a:rect l="T15" t="T16" r="T17" b="T18"/>
                <a:pathLst>
                  <a:path w="564" h="322">
                    <a:moveTo>
                      <a:pt x="0" y="186"/>
                    </a:moveTo>
                    <a:lnTo>
                      <a:pt x="310" y="0"/>
                    </a:lnTo>
                    <a:lnTo>
                      <a:pt x="564" y="137"/>
                    </a:lnTo>
                    <a:lnTo>
                      <a:pt x="255" y="322"/>
                    </a:lnTo>
                    <a:lnTo>
                      <a:pt x="0" y="186"/>
                    </a:lnTo>
                    <a:close/>
                  </a:path>
                </a:pathLst>
              </a:custGeom>
              <a:solidFill>
                <a:srgbClr val="99D8FF"/>
              </a:solidFill>
              <a:ln w="9525">
                <a:noFill/>
                <a:round/>
                <a:headEnd/>
                <a:tailEnd/>
              </a:ln>
            </p:spPr>
            <p:txBody>
              <a:bodyPr/>
              <a:lstStyle/>
              <a:p>
                <a:endParaRPr lang="en-US"/>
              </a:p>
            </p:txBody>
          </p:sp>
          <p:sp>
            <p:nvSpPr>
              <p:cNvPr id="27753" name="Freeform 66"/>
              <p:cNvSpPr>
                <a:spLocks/>
              </p:cNvSpPr>
              <p:nvPr/>
            </p:nvSpPr>
            <p:spPr bwMode="auto">
              <a:xfrm>
                <a:off x="1761" y="3422"/>
                <a:ext cx="164" cy="104"/>
              </a:xfrm>
              <a:custGeom>
                <a:avLst/>
                <a:gdLst>
                  <a:gd name="T0" fmla="*/ 1 w 327"/>
                  <a:gd name="T1" fmla="*/ 1 h 206"/>
                  <a:gd name="T2" fmla="*/ 1 w 327"/>
                  <a:gd name="T3" fmla="*/ 1 h 206"/>
                  <a:gd name="T4" fmla="*/ 0 w 327"/>
                  <a:gd name="T5" fmla="*/ 1 h 206"/>
                  <a:gd name="T6" fmla="*/ 1 w 327"/>
                  <a:gd name="T7" fmla="*/ 1 h 206"/>
                  <a:gd name="T8" fmla="*/ 1 w 327"/>
                  <a:gd name="T9" fmla="*/ 1 h 206"/>
                  <a:gd name="T10" fmla="*/ 1 w 327"/>
                  <a:gd name="T11" fmla="*/ 1 h 206"/>
                  <a:gd name="T12" fmla="*/ 1 w 327"/>
                  <a:gd name="T13" fmla="*/ 1 h 206"/>
                  <a:gd name="T14" fmla="*/ 1 w 327"/>
                  <a:gd name="T15" fmla="*/ 1 h 206"/>
                  <a:gd name="T16" fmla="*/ 1 w 327"/>
                  <a:gd name="T17" fmla="*/ 1 h 206"/>
                  <a:gd name="T18" fmla="*/ 1 w 327"/>
                  <a:gd name="T19" fmla="*/ 0 h 206"/>
                  <a:gd name="T20" fmla="*/ 1 w 327"/>
                  <a:gd name="T21" fmla="*/ 1 h 206"/>
                  <a:gd name="T22" fmla="*/ 1 w 327"/>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7"/>
                  <a:gd name="T37" fmla="*/ 0 h 206"/>
                  <a:gd name="T38" fmla="*/ 327 w 327"/>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7" h="206">
                    <a:moveTo>
                      <a:pt x="321" y="1"/>
                    </a:moveTo>
                    <a:lnTo>
                      <a:pt x="310" y="1"/>
                    </a:lnTo>
                    <a:lnTo>
                      <a:pt x="0" y="187"/>
                    </a:lnTo>
                    <a:lnTo>
                      <a:pt x="12" y="206"/>
                    </a:lnTo>
                    <a:lnTo>
                      <a:pt x="322" y="20"/>
                    </a:lnTo>
                    <a:lnTo>
                      <a:pt x="312" y="20"/>
                    </a:lnTo>
                    <a:lnTo>
                      <a:pt x="322" y="20"/>
                    </a:lnTo>
                    <a:lnTo>
                      <a:pt x="327" y="12"/>
                    </a:lnTo>
                    <a:lnTo>
                      <a:pt x="326" y="4"/>
                    </a:lnTo>
                    <a:lnTo>
                      <a:pt x="319" y="0"/>
                    </a:lnTo>
                    <a:lnTo>
                      <a:pt x="310" y="1"/>
                    </a:lnTo>
                    <a:lnTo>
                      <a:pt x="321" y="1"/>
                    </a:lnTo>
                    <a:close/>
                  </a:path>
                </a:pathLst>
              </a:custGeom>
              <a:solidFill>
                <a:srgbClr val="000000"/>
              </a:solidFill>
              <a:ln w="9525">
                <a:noFill/>
                <a:round/>
                <a:headEnd/>
                <a:tailEnd/>
              </a:ln>
            </p:spPr>
            <p:txBody>
              <a:bodyPr/>
              <a:lstStyle/>
              <a:p>
                <a:endParaRPr lang="en-US"/>
              </a:p>
            </p:txBody>
          </p:sp>
          <p:sp>
            <p:nvSpPr>
              <p:cNvPr id="27754" name="Freeform 67"/>
              <p:cNvSpPr>
                <a:spLocks/>
              </p:cNvSpPr>
              <p:nvPr/>
            </p:nvSpPr>
            <p:spPr bwMode="auto">
              <a:xfrm>
                <a:off x="1917" y="3423"/>
                <a:ext cx="135" cy="78"/>
              </a:xfrm>
              <a:custGeom>
                <a:avLst/>
                <a:gdLst>
                  <a:gd name="T0" fmla="*/ 1 w 269"/>
                  <a:gd name="T1" fmla="*/ 0 h 157"/>
                  <a:gd name="T2" fmla="*/ 1 w 269"/>
                  <a:gd name="T3" fmla="*/ 0 h 157"/>
                  <a:gd name="T4" fmla="*/ 1 w 269"/>
                  <a:gd name="T5" fmla="*/ 0 h 157"/>
                  <a:gd name="T6" fmla="*/ 0 w 269"/>
                  <a:gd name="T7" fmla="*/ 0 h 157"/>
                  <a:gd name="T8" fmla="*/ 1 w 269"/>
                  <a:gd name="T9" fmla="*/ 0 h 157"/>
                  <a:gd name="T10" fmla="*/ 1 w 269"/>
                  <a:gd name="T11" fmla="*/ 0 h 157"/>
                  <a:gd name="T12" fmla="*/ 1 w 269"/>
                  <a:gd name="T13" fmla="*/ 0 h 157"/>
                  <a:gd name="T14" fmla="*/ 1 w 269"/>
                  <a:gd name="T15" fmla="*/ 0 h 157"/>
                  <a:gd name="T16" fmla="*/ 1 w 269"/>
                  <a:gd name="T17" fmla="*/ 0 h 157"/>
                  <a:gd name="T18" fmla="*/ 1 w 269"/>
                  <a:gd name="T19" fmla="*/ 0 h 157"/>
                  <a:gd name="T20" fmla="*/ 1 w 269"/>
                  <a:gd name="T21" fmla="*/ 0 h 157"/>
                  <a:gd name="T22" fmla="*/ 1 w 269"/>
                  <a:gd name="T23" fmla="*/ 0 h 15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9"/>
                  <a:gd name="T37" fmla="*/ 0 h 157"/>
                  <a:gd name="T38" fmla="*/ 269 w 269"/>
                  <a:gd name="T39" fmla="*/ 157 h 15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9" h="157">
                    <a:moveTo>
                      <a:pt x="264" y="157"/>
                    </a:moveTo>
                    <a:lnTo>
                      <a:pt x="263" y="138"/>
                    </a:lnTo>
                    <a:lnTo>
                      <a:pt x="9" y="0"/>
                    </a:lnTo>
                    <a:lnTo>
                      <a:pt x="0" y="19"/>
                    </a:lnTo>
                    <a:lnTo>
                      <a:pt x="253" y="157"/>
                    </a:lnTo>
                    <a:lnTo>
                      <a:pt x="252" y="138"/>
                    </a:lnTo>
                    <a:lnTo>
                      <a:pt x="253" y="157"/>
                    </a:lnTo>
                    <a:lnTo>
                      <a:pt x="261" y="157"/>
                    </a:lnTo>
                    <a:lnTo>
                      <a:pt x="267" y="152"/>
                    </a:lnTo>
                    <a:lnTo>
                      <a:pt x="269" y="144"/>
                    </a:lnTo>
                    <a:lnTo>
                      <a:pt x="263" y="138"/>
                    </a:lnTo>
                    <a:lnTo>
                      <a:pt x="264" y="157"/>
                    </a:lnTo>
                    <a:close/>
                  </a:path>
                </a:pathLst>
              </a:custGeom>
              <a:solidFill>
                <a:srgbClr val="000000"/>
              </a:solidFill>
              <a:ln w="9525">
                <a:noFill/>
                <a:round/>
                <a:headEnd/>
                <a:tailEnd/>
              </a:ln>
            </p:spPr>
            <p:txBody>
              <a:bodyPr/>
              <a:lstStyle/>
              <a:p>
                <a:endParaRPr lang="en-US"/>
              </a:p>
            </p:txBody>
          </p:sp>
          <p:sp>
            <p:nvSpPr>
              <p:cNvPr id="27755" name="Freeform 68"/>
              <p:cNvSpPr>
                <a:spLocks/>
              </p:cNvSpPr>
              <p:nvPr/>
            </p:nvSpPr>
            <p:spPr bwMode="auto">
              <a:xfrm>
                <a:off x="1887" y="3492"/>
                <a:ext cx="163" cy="102"/>
              </a:xfrm>
              <a:custGeom>
                <a:avLst/>
                <a:gdLst>
                  <a:gd name="T0" fmla="*/ 1 w 326"/>
                  <a:gd name="T1" fmla="*/ 0 h 205"/>
                  <a:gd name="T2" fmla="*/ 1 w 326"/>
                  <a:gd name="T3" fmla="*/ 0 h 205"/>
                  <a:gd name="T4" fmla="*/ 1 w 326"/>
                  <a:gd name="T5" fmla="*/ 0 h 205"/>
                  <a:gd name="T6" fmla="*/ 1 w 326"/>
                  <a:gd name="T7" fmla="*/ 0 h 205"/>
                  <a:gd name="T8" fmla="*/ 1 w 326"/>
                  <a:gd name="T9" fmla="*/ 0 h 205"/>
                  <a:gd name="T10" fmla="*/ 1 w 326"/>
                  <a:gd name="T11" fmla="*/ 0 h 205"/>
                  <a:gd name="T12" fmla="*/ 1 w 326"/>
                  <a:gd name="T13" fmla="*/ 0 h 205"/>
                  <a:gd name="T14" fmla="*/ 0 w 326"/>
                  <a:gd name="T15" fmla="*/ 0 h 205"/>
                  <a:gd name="T16" fmla="*/ 1 w 326"/>
                  <a:gd name="T17" fmla="*/ 0 h 205"/>
                  <a:gd name="T18" fmla="*/ 1 w 326"/>
                  <a:gd name="T19" fmla="*/ 0 h 205"/>
                  <a:gd name="T20" fmla="*/ 1 w 326"/>
                  <a:gd name="T21" fmla="*/ 0 h 205"/>
                  <a:gd name="T22" fmla="*/ 1 w 326"/>
                  <a:gd name="T23" fmla="*/ 0 h 2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5"/>
                  <a:gd name="T38" fmla="*/ 326 w 326"/>
                  <a:gd name="T39" fmla="*/ 205 h 20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5">
                    <a:moveTo>
                      <a:pt x="7" y="203"/>
                    </a:moveTo>
                    <a:lnTo>
                      <a:pt x="18" y="203"/>
                    </a:lnTo>
                    <a:lnTo>
                      <a:pt x="326" y="19"/>
                    </a:lnTo>
                    <a:lnTo>
                      <a:pt x="314" y="0"/>
                    </a:lnTo>
                    <a:lnTo>
                      <a:pt x="5" y="184"/>
                    </a:lnTo>
                    <a:lnTo>
                      <a:pt x="16" y="184"/>
                    </a:lnTo>
                    <a:lnTo>
                      <a:pt x="5" y="184"/>
                    </a:lnTo>
                    <a:lnTo>
                      <a:pt x="0" y="192"/>
                    </a:lnTo>
                    <a:lnTo>
                      <a:pt x="2" y="200"/>
                    </a:lnTo>
                    <a:lnTo>
                      <a:pt x="8" y="205"/>
                    </a:lnTo>
                    <a:lnTo>
                      <a:pt x="18" y="203"/>
                    </a:lnTo>
                    <a:lnTo>
                      <a:pt x="7" y="203"/>
                    </a:lnTo>
                    <a:close/>
                  </a:path>
                </a:pathLst>
              </a:custGeom>
              <a:solidFill>
                <a:srgbClr val="000000"/>
              </a:solidFill>
              <a:ln w="9525">
                <a:noFill/>
                <a:round/>
                <a:headEnd/>
                <a:tailEnd/>
              </a:ln>
            </p:spPr>
            <p:txBody>
              <a:bodyPr/>
              <a:lstStyle/>
              <a:p>
                <a:endParaRPr lang="en-US"/>
              </a:p>
            </p:txBody>
          </p:sp>
          <p:sp>
            <p:nvSpPr>
              <p:cNvPr id="27756" name="Freeform 69"/>
              <p:cNvSpPr>
                <a:spLocks/>
              </p:cNvSpPr>
              <p:nvPr/>
            </p:nvSpPr>
            <p:spPr bwMode="auto">
              <a:xfrm>
                <a:off x="1759" y="3516"/>
                <a:ext cx="136" cy="78"/>
              </a:xfrm>
              <a:custGeom>
                <a:avLst/>
                <a:gdLst>
                  <a:gd name="T0" fmla="*/ 1 w 271"/>
                  <a:gd name="T1" fmla="*/ 0 h 155"/>
                  <a:gd name="T2" fmla="*/ 1 w 271"/>
                  <a:gd name="T3" fmla="*/ 1 h 155"/>
                  <a:gd name="T4" fmla="*/ 1 w 271"/>
                  <a:gd name="T5" fmla="*/ 1 h 155"/>
                  <a:gd name="T6" fmla="*/ 1 w 271"/>
                  <a:gd name="T7" fmla="*/ 1 h 155"/>
                  <a:gd name="T8" fmla="*/ 1 w 271"/>
                  <a:gd name="T9" fmla="*/ 0 h 155"/>
                  <a:gd name="T10" fmla="*/ 1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0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5" y="0"/>
                    </a:moveTo>
                    <a:lnTo>
                      <a:pt x="7" y="19"/>
                    </a:lnTo>
                    <a:lnTo>
                      <a:pt x="262" y="155"/>
                    </a:lnTo>
                    <a:lnTo>
                      <a:pt x="271" y="136"/>
                    </a:lnTo>
                    <a:lnTo>
                      <a:pt x="16" y="0"/>
                    </a:lnTo>
                    <a:lnTo>
                      <a:pt x="17" y="19"/>
                    </a:lnTo>
                    <a:lnTo>
                      <a:pt x="16" y="0"/>
                    </a:lnTo>
                    <a:lnTo>
                      <a:pt x="8" y="0"/>
                    </a:lnTo>
                    <a:lnTo>
                      <a:pt x="2" y="5"/>
                    </a:lnTo>
                    <a:lnTo>
                      <a:pt x="0" y="13"/>
                    </a:lnTo>
                    <a:lnTo>
                      <a:pt x="7" y="19"/>
                    </a:lnTo>
                    <a:lnTo>
                      <a:pt x="5" y="0"/>
                    </a:lnTo>
                    <a:close/>
                  </a:path>
                </a:pathLst>
              </a:custGeom>
              <a:solidFill>
                <a:srgbClr val="000000"/>
              </a:solidFill>
              <a:ln w="9525">
                <a:noFill/>
                <a:round/>
                <a:headEnd/>
                <a:tailEnd/>
              </a:ln>
            </p:spPr>
            <p:txBody>
              <a:bodyPr/>
              <a:lstStyle/>
              <a:p>
                <a:endParaRPr lang="en-US"/>
              </a:p>
            </p:txBody>
          </p:sp>
          <p:sp>
            <p:nvSpPr>
              <p:cNvPr id="27757" name="Freeform 70"/>
              <p:cNvSpPr>
                <a:spLocks/>
              </p:cNvSpPr>
              <p:nvPr/>
            </p:nvSpPr>
            <p:spPr bwMode="auto">
              <a:xfrm>
                <a:off x="1797" y="3428"/>
                <a:ext cx="54" cy="98"/>
              </a:xfrm>
              <a:custGeom>
                <a:avLst/>
                <a:gdLst>
                  <a:gd name="T0" fmla="*/ 0 w 110"/>
                  <a:gd name="T1" fmla="*/ 0 h 197"/>
                  <a:gd name="T2" fmla="*/ 0 w 110"/>
                  <a:gd name="T3" fmla="*/ 0 h 197"/>
                  <a:gd name="T4" fmla="*/ 0 w 110"/>
                  <a:gd name="T5" fmla="*/ 0 h 197"/>
                  <a:gd name="T6" fmla="*/ 0 w 110"/>
                  <a:gd name="T7" fmla="*/ 0 h 197"/>
                  <a:gd name="T8" fmla="*/ 0 w 110"/>
                  <a:gd name="T9" fmla="*/ 0 h 197"/>
                  <a:gd name="T10" fmla="*/ 0 60000 65536"/>
                  <a:gd name="T11" fmla="*/ 0 60000 65536"/>
                  <a:gd name="T12" fmla="*/ 0 60000 65536"/>
                  <a:gd name="T13" fmla="*/ 0 60000 65536"/>
                  <a:gd name="T14" fmla="*/ 0 60000 65536"/>
                  <a:gd name="T15" fmla="*/ 0 w 110"/>
                  <a:gd name="T16" fmla="*/ 0 h 197"/>
                  <a:gd name="T17" fmla="*/ 110 w 110"/>
                  <a:gd name="T18" fmla="*/ 197 h 197"/>
                </a:gdLst>
                <a:ahLst/>
                <a:cxnLst>
                  <a:cxn ang="T10">
                    <a:pos x="T0" y="T1"/>
                  </a:cxn>
                  <a:cxn ang="T11">
                    <a:pos x="T2" y="T3"/>
                  </a:cxn>
                  <a:cxn ang="T12">
                    <a:pos x="T4" y="T5"/>
                  </a:cxn>
                  <a:cxn ang="T13">
                    <a:pos x="T6" y="T7"/>
                  </a:cxn>
                  <a:cxn ang="T14">
                    <a:pos x="T8" y="T9"/>
                  </a:cxn>
                </a:cxnLst>
                <a:rect l="T15" t="T16" r="T17" b="T18"/>
                <a:pathLst>
                  <a:path w="110" h="197">
                    <a:moveTo>
                      <a:pt x="110" y="197"/>
                    </a:moveTo>
                    <a:lnTo>
                      <a:pt x="110" y="9"/>
                    </a:lnTo>
                    <a:lnTo>
                      <a:pt x="0" y="0"/>
                    </a:lnTo>
                    <a:lnTo>
                      <a:pt x="0" y="139"/>
                    </a:lnTo>
                    <a:lnTo>
                      <a:pt x="110" y="197"/>
                    </a:lnTo>
                    <a:close/>
                  </a:path>
                </a:pathLst>
              </a:custGeom>
              <a:solidFill>
                <a:srgbClr val="4CB2FF"/>
              </a:solidFill>
              <a:ln w="9525">
                <a:noFill/>
                <a:round/>
                <a:headEnd/>
                <a:tailEnd/>
              </a:ln>
            </p:spPr>
            <p:txBody>
              <a:bodyPr/>
              <a:lstStyle/>
              <a:p>
                <a:endParaRPr lang="en-US"/>
              </a:p>
            </p:txBody>
          </p:sp>
          <p:sp>
            <p:nvSpPr>
              <p:cNvPr id="27758" name="Freeform 71"/>
              <p:cNvSpPr>
                <a:spLocks/>
              </p:cNvSpPr>
              <p:nvPr/>
            </p:nvSpPr>
            <p:spPr bwMode="auto">
              <a:xfrm>
                <a:off x="1846" y="3427"/>
                <a:ext cx="11" cy="99"/>
              </a:xfrm>
              <a:custGeom>
                <a:avLst/>
                <a:gdLst>
                  <a:gd name="T0" fmla="*/ 1 w 22"/>
                  <a:gd name="T1" fmla="*/ 0 h 199"/>
                  <a:gd name="T2" fmla="*/ 0 w 22"/>
                  <a:gd name="T3" fmla="*/ 0 h 199"/>
                  <a:gd name="T4" fmla="*/ 0 w 22"/>
                  <a:gd name="T5" fmla="*/ 0 h 199"/>
                  <a:gd name="T6" fmla="*/ 1 w 22"/>
                  <a:gd name="T7" fmla="*/ 0 h 199"/>
                  <a:gd name="T8" fmla="*/ 1 w 22"/>
                  <a:gd name="T9" fmla="*/ 0 h 199"/>
                  <a:gd name="T10" fmla="*/ 1 w 22"/>
                  <a:gd name="T11" fmla="*/ 0 h 199"/>
                  <a:gd name="T12" fmla="*/ 1 w 22"/>
                  <a:gd name="T13" fmla="*/ 0 h 199"/>
                  <a:gd name="T14" fmla="*/ 1 w 22"/>
                  <a:gd name="T15" fmla="*/ 0 h 199"/>
                  <a:gd name="T16" fmla="*/ 1 w 22"/>
                  <a:gd name="T17" fmla="*/ 0 h 199"/>
                  <a:gd name="T18" fmla="*/ 1 w 22"/>
                  <a:gd name="T19" fmla="*/ 0 h 199"/>
                  <a:gd name="T20" fmla="*/ 0 w 22"/>
                  <a:gd name="T21" fmla="*/ 0 h 199"/>
                  <a:gd name="T22" fmla="*/ 1 w 22"/>
                  <a:gd name="T23" fmla="*/ 0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99"/>
                  <a:gd name="T38" fmla="*/ 22 w 22"/>
                  <a:gd name="T39" fmla="*/ 199 h 1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99">
                    <a:moveTo>
                      <a:pt x="9" y="22"/>
                    </a:moveTo>
                    <a:lnTo>
                      <a:pt x="0" y="11"/>
                    </a:lnTo>
                    <a:lnTo>
                      <a:pt x="0" y="199"/>
                    </a:lnTo>
                    <a:lnTo>
                      <a:pt x="22" y="199"/>
                    </a:lnTo>
                    <a:lnTo>
                      <a:pt x="22" y="11"/>
                    </a:lnTo>
                    <a:lnTo>
                      <a:pt x="13" y="0"/>
                    </a:lnTo>
                    <a:lnTo>
                      <a:pt x="22" y="11"/>
                    </a:lnTo>
                    <a:lnTo>
                      <a:pt x="19" y="3"/>
                    </a:lnTo>
                    <a:lnTo>
                      <a:pt x="11" y="0"/>
                    </a:lnTo>
                    <a:lnTo>
                      <a:pt x="3" y="3"/>
                    </a:lnTo>
                    <a:lnTo>
                      <a:pt x="0" y="11"/>
                    </a:lnTo>
                    <a:lnTo>
                      <a:pt x="9" y="22"/>
                    </a:lnTo>
                    <a:close/>
                  </a:path>
                </a:pathLst>
              </a:custGeom>
              <a:solidFill>
                <a:srgbClr val="000000"/>
              </a:solidFill>
              <a:ln w="9525">
                <a:noFill/>
                <a:round/>
                <a:headEnd/>
                <a:tailEnd/>
              </a:ln>
            </p:spPr>
            <p:txBody>
              <a:bodyPr/>
              <a:lstStyle/>
              <a:p>
                <a:endParaRPr lang="en-US"/>
              </a:p>
            </p:txBody>
          </p:sp>
          <p:sp>
            <p:nvSpPr>
              <p:cNvPr id="27759" name="Freeform 72"/>
              <p:cNvSpPr>
                <a:spLocks/>
              </p:cNvSpPr>
              <p:nvPr/>
            </p:nvSpPr>
            <p:spPr bwMode="auto">
              <a:xfrm>
                <a:off x="1791" y="3422"/>
                <a:ext cx="61" cy="16"/>
              </a:xfrm>
              <a:custGeom>
                <a:avLst/>
                <a:gdLst>
                  <a:gd name="T0" fmla="*/ 0 w 123"/>
                  <a:gd name="T1" fmla="*/ 1 h 31"/>
                  <a:gd name="T2" fmla="*/ 0 w 123"/>
                  <a:gd name="T3" fmla="*/ 1 h 31"/>
                  <a:gd name="T4" fmla="*/ 0 w 123"/>
                  <a:gd name="T5" fmla="*/ 1 h 31"/>
                  <a:gd name="T6" fmla="*/ 0 w 123"/>
                  <a:gd name="T7" fmla="*/ 1 h 31"/>
                  <a:gd name="T8" fmla="*/ 0 w 123"/>
                  <a:gd name="T9" fmla="*/ 0 h 31"/>
                  <a:gd name="T10" fmla="*/ 0 w 123"/>
                  <a:gd name="T11" fmla="*/ 1 h 31"/>
                  <a:gd name="T12" fmla="*/ 0 w 123"/>
                  <a:gd name="T13" fmla="*/ 0 h 31"/>
                  <a:gd name="T14" fmla="*/ 0 w 123"/>
                  <a:gd name="T15" fmla="*/ 1 h 31"/>
                  <a:gd name="T16" fmla="*/ 0 w 123"/>
                  <a:gd name="T17" fmla="*/ 1 h 31"/>
                  <a:gd name="T18" fmla="*/ 0 w 123"/>
                  <a:gd name="T19" fmla="*/ 1 h 31"/>
                  <a:gd name="T20" fmla="*/ 0 w 123"/>
                  <a:gd name="T21" fmla="*/ 1 h 31"/>
                  <a:gd name="T22" fmla="*/ 0 w 123"/>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
                  <a:gd name="T37" fmla="*/ 0 h 31"/>
                  <a:gd name="T38" fmla="*/ 123 w 123"/>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 h="31">
                    <a:moveTo>
                      <a:pt x="22" y="11"/>
                    </a:moveTo>
                    <a:lnTo>
                      <a:pt x="10" y="22"/>
                    </a:lnTo>
                    <a:lnTo>
                      <a:pt x="119" y="31"/>
                    </a:lnTo>
                    <a:lnTo>
                      <a:pt x="123" y="9"/>
                    </a:lnTo>
                    <a:lnTo>
                      <a:pt x="13" y="0"/>
                    </a:lnTo>
                    <a:lnTo>
                      <a:pt x="0" y="11"/>
                    </a:lnTo>
                    <a:lnTo>
                      <a:pt x="13" y="0"/>
                    </a:lnTo>
                    <a:lnTo>
                      <a:pt x="5" y="3"/>
                    </a:lnTo>
                    <a:lnTo>
                      <a:pt x="0" y="9"/>
                    </a:lnTo>
                    <a:lnTo>
                      <a:pt x="2" y="17"/>
                    </a:lnTo>
                    <a:lnTo>
                      <a:pt x="10" y="22"/>
                    </a:lnTo>
                    <a:lnTo>
                      <a:pt x="22" y="11"/>
                    </a:lnTo>
                    <a:close/>
                  </a:path>
                </a:pathLst>
              </a:custGeom>
              <a:solidFill>
                <a:srgbClr val="000000"/>
              </a:solidFill>
              <a:ln w="9525">
                <a:noFill/>
                <a:round/>
                <a:headEnd/>
                <a:tailEnd/>
              </a:ln>
            </p:spPr>
            <p:txBody>
              <a:bodyPr/>
              <a:lstStyle/>
              <a:p>
                <a:endParaRPr lang="en-US"/>
              </a:p>
            </p:txBody>
          </p:sp>
          <p:sp>
            <p:nvSpPr>
              <p:cNvPr id="27760" name="Freeform 73"/>
              <p:cNvSpPr>
                <a:spLocks/>
              </p:cNvSpPr>
              <p:nvPr/>
            </p:nvSpPr>
            <p:spPr bwMode="auto">
              <a:xfrm>
                <a:off x="1791" y="3428"/>
                <a:ext cx="11" cy="75"/>
              </a:xfrm>
              <a:custGeom>
                <a:avLst/>
                <a:gdLst>
                  <a:gd name="T0" fmla="*/ 1 w 22"/>
                  <a:gd name="T1" fmla="*/ 1 h 150"/>
                  <a:gd name="T2" fmla="*/ 1 w 22"/>
                  <a:gd name="T3" fmla="*/ 1 h 150"/>
                  <a:gd name="T4" fmla="*/ 1 w 22"/>
                  <a:gd name="T5" fmla="*/ 0 h 150"/>
                  <a:gd name="T6" fmla="*/ 0 w 22"/>
                  <a:gd name="T7" fmla="*/ 0 h 150"/>
                  <a:gd name="T8" fmla="*/ 0 w 22"/>
                  <a:gd name="T9" fmla="*/ 1 h 150"/>
                  <a:gd name="T10" fmla="*/ 1 w 22"/>
                  <a:gd name="T11" fmla="*/ 1 h 150"/>
                  <a:gd name="T12" fmla="*/ 0 w 22"/>
                  <a:gd name="T13" fmla="*/ 1 h 150"/>
                  <a:gd name="T14" fmla="*/ 1 w 22"/>
                  <a:gd name="T15" fmla="*/ 1 h 150"/>
                  <a:gd name="T16" fmla="*/ 1 w 22"/>
                  <a:gd name="T17" fmla="*/ 1 h 150"/>
                  <a:gd name="T18" fmla="*/ 1 w 22"/>
                  <a:gd name="T19" fmla="*/ 1 h 150"/>
                  <a:gd name="T20" fmla="*/ 1 w 22"/>
                  <a:gd name="T21" fmla="*/ 1 h 150"/>
                  <a:gd name="T22" fmla="*/ 1 w 22"/>
                  <a:gd name="T23" fmla="*/ 1 h 1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50"/>
                  <a:gd name="T38" fmla="*/ 22 w 22"/>
                  <a:gd name="T39" fmla="*/ 150 h 1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50">
                    <a:moveTo>
                      <a:pt x="16" y="129"/>
                    </a:moveTo>
                    <a:lnTo>
                      <a:pt x="22" y="139"/>
                    </a:lnTo>
                    <a:lnTo>
                      <a:pt x="22" y="0"/>
                    </a:lnTo>
                    <a:lnTo>
                      <a:pt x="0" y="0"/>
                    </a:lnTo>
                    <a:lnTo>
                      <a:pt x="0" y="139"/>
                    </a:lnTo>
                    <a:lnTo>
                      <a:pt x="7" y="148"/>
                    </a:lnTo>
                    <a:lnTo>
                      <a:pt x="0" y="139"/>
                    </a:lnTo>
                    <a:lnTo>
                      <a:pt x="4" y="147"/>
                    </a:lnTo>
                    <a:lnTo>
                      <a:pt x="11" y="150"/>
                    </a:lnTo>
                    <a:lnTo>
                      <a:pt x="19" y="147"/>
                    </a:lnTo>
                    <a:lnTo>
                      <a:pt x="22" y="139"/>
                    </a:lnTo>
                    <a:lnTo>
                      <a:pt x="16" y="129"/>
                    </a:lnTo>
                    <a:close/>
                  </a:path>
                </a:pathLst>
              </a:custGeom>
              <a:solidFill>
                <a:srgbClr val="000000"/>
              </a:solidFill>
              <a:ln w="9525">
                <a:noFill/>
                <a:round/>
                <a:headEnd/>
                <a:tailEnd/>
              </a:ln>
            </p:spPr>
            <p:txBody>
              <a:bodyPr/>
              <a:lstStyle/>
              <a:p>
                <a:endParaRPr lang="en-US"/>
              </a:p>
            </p:txBody>
          </p:sp>
          <p:sp>
            <p:nvSpPr>
              <p:cNvPr id="27761" name="Freeform 74"/>
              <p:cNvSpPr>
                <a:spLocks/>
              </p:cNvSpPr>
              <p:nvPr/>
            </p:nvSpPr>
            <p:spPr bwMode="auto">
              <a:xfrm>
                <a:off x="1794" y="3493"/>
                <a:ext cx="63" cy="38"/>
              </a:xfrm>
              <a:custGeom>
                <a:avLst/>
                <a:gdLst>
                  <a:gd name="T0" fmla="*/ 1 w 125"/>
                  <a:gd name="T1" fmla="*/ 0 h 77"/>
                  <a:gd name="T2" fmla="*/ 1 w 125"/>
                  <a:gd name="T3" fmla="*/ 0 h 77"/>
                  <a:gd name="T4" fmla="*/ 1 w 125"/>
                  <a:gd name="T5" fmla="*/ 0 h 77"/>
                  <a:gd name="T6" fmla="*/ 0 w 125"/>
                  <a:gd name="T7" fmla="*/ 0 h 77"/>
                  <a:gd name="T8" fmla="*/ 1 w 125"/>
                  <a:gd name="T9" fmla="*/ 0 h 77"/>
                  <a:gd name="T10" fmla="*/ 1 w 125"/>
                  <a:gd name="T11" fmla="*/ 0 h 77"/>
                  <a:gd name="T12" fmla="*/ 1 w 125"/>
                  <a:gd name="T13" fmla="*/ 0 h 77"/>
                  <a:gd name="T14" fmla="*/ 1 w 125"/>
                  <a:gd name="T15" fmla="*/ 0 h 77"/>
                  <a:gd name="T16" fmla="*/ 1 w 125"/>
                  <a:gd name="T17" fmla="*/ 0 h 77"/>
                  <a:gd name="T18" fmla="*/ 1 w 125"/>
                  <a:gd name="T19" fmla="*/ 0 h 77"/>
                  <a:gd name="T20" fmla="*/ 1 w 125"/>
                  <a:gd name="T21" fmla="*/ 0 h 77"/>
                  <a:gd name="T22" fmla="*/ 1 w 125"/>
                  <a:gd name="T23" fmla="*/ 0 h 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5"/>
                  <a:gd name="T37" fmla="*/ 0 h 77"/>
                  <a:gd name="T38" fmla="*/ 125 w 125"/>
                  <a:gd name="T39" fmla="*/ 77 h 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5" h="77">
                    <a:moveTo>
                      <a:pt x="103" y="68"/>
                    </a:moveTo>
                    <a:lnTo>
                      <a:pt x="119" y="58"/>
                    </a:lnTo>
                    <a:lnTo>
                      <a:pt x="9" y="0"/>
                    </a:lnTo>
                    <a:lnTo>
                      <a:pt x="0" y="19"/>
                    </a:lnTo>
                    <a:lnTo>
                      <a:pt x="109" y="77"/>
                    </a:lnTo>
                    <a:lnTo>
                      <a:pt x="125" y="68"/>
                    </a:lnTo>
                    <a:lnTo>
                      <a:pt x="109" y="77"/>
                    </a:lnTo>
                    <a:lnTo>
                      <a:pt x="117" y="77"/>
                    </a:lnTo>
                    <a:lnTo>
                      <a:pt x="123" y="72"/>
                    </a:lnTo>
                    <a:lnTo>
                      <a:pt x="125" y="65"/>
                    </a:lnTo>
                    <a:lnTo>
                      <a:pt x="119" y="58"/>
                    </a:lnTo>
                    <a:lnTo>
                      <a:pt x="103" y="68"/>
                    </a:lnTo>
                    <a:close/>
                  </a:path>
                </a:pathLst>
              </a:custGeom>
              <a:solidFill>
                <a:srgbClr val="000000"/>
              </a:solidFill>
              <a:ln w="9525">
                <a:noFill/>
                <a:round/>
                <a:headEnd/>
                <a:tailEnd/>
              </a:ln>
            </p:spPr>
            <p:txBody>
              <a:bodyPr/>
              <a:lstStyle/>
              <a:p>
                <a:endParaRPr lang="en-US"/>
              </a:p>
            </p:txBody>
          </p:sp>
          <p:sp>
            <p:nvSpPr>
              <p:cNvPr id="27762" name="Freeform 75"/>
              <p:cNvSpPr>
                <a:spLocks/>
              </p:cNvSpPr>
              <p:nvPr/>
            </p:nvSpPr>
            <p:spPr bwMode="auto">
              <a:xfrm>
                <a:off x="1947" y="3542"/>
                <a:ext cx="40" cy="31"/>
              </a:xfrm>
              <a:custGeom>
                <a:avLst/>
                <a:gdLst>
                  <a:gd name="T0" fmla="*/ 1 w 80"/>
                  <a:gd name="T1" fmla="*/ 1 h 61"/>
                  <a:gd name="T2" fmla="*/ 1 w 80"/>
                  <a:gd name="T3" fmla="*/ 0 h 61"/>
                  <a:gd name="T4" fmla="*/ 0 w 80"/>
                  <a:gd name="T5" fmla="*/ 1 h 61"/>
                  <a:gd name="T6" fmla="*/ 0 w 80"/>
                  <a:gd name="T7" fmla="*/ 1 h 61"/>
                  <a:gd name="T8" fmla="*/ 1 w 80"/>
                  <a:gd name="T9" fmla="*/ 1 h 61"/>
                  <a:gd name="T10" fmla="*/ 0 60000 65536"/>
                  <a:gd name="T11" fmla="*/ 0 60000 65536"/>
                  <a:gd name="T12" fmla="*/ 0 60000 65536"/>
                  <a:gd name="T13" fmla="*/ 0 60000 65536"/>
                  <a:gd name="T14" fmla="*/ 0 60000 65536"/>
                  <a:gd name="T15" fmla="*/ 0 w 80"/>
                  <a:gd name="T16" fmla="*/ 0 h 61"/>
                  <a:gd name="T17" fmla="*/ 80 w 80"/>
                  <a:gd name="T18" fmla="*/ 61 h 61"/>
                </a:gdLst>
                <a:ahLst/>
                <a:cxnLst>
                  <a:cxn ang="T10">
                    <a:pos x="T0" y="T1"/>
                  </a:cxn>
                  <a:cxn ang="T11">
                    <a:pos x="T2" y="T3"/>
                  </a:cxn>
                  <a:cxn ang="T12">
                    <a:pos x="T4" y="T5"/>
                  </a:cxn>
                  <a:cxn ang="T13">
                    <a:pos x="T6" y="T7"/>
                  </a:cxn>
                  <a:cxn ang="T14">
                    <a:pos x="T8" y="T9"/>
                  </a:cxn>
                </a:cxnLst>
                <a:rect l="T15" t="T16" r="T17" b="T18"/>
                <a:pathLst>
                  <a:path w="80" h="61">
                    <a:moveTo>
                      <a:pt x="80" y="13"/>
                    </a:moveTo>
                    <a:lnTo>
                      <a:pt x="80" y="0"/>
                    </a:lnTo>
                    <a:lnTo>
                      <a:pt x="0" y="50"/>
                    </a:lnTo>
                    <a:lnTo>
                      <a:pt x="0" y="61"/>
                    </a:lnTo>
                    <a:lnTo>
                      <a:pt x="80" y="13"/>
                    </a:lnTo>
                  </a:path>
                </a:pathLst>
              </a:custGeom>
              <a:noFill/>
              <a:ln w="0">
                <a:solidFill>
                  <a:srgbClr val="000000"/>
                </a:solidFill>
                <a:round/>
                <a:headEnd/>
                <a:tailEnd/>
              </a:ln>
            </p:spPr>
            <p:txBody>
              <a:bodyPr/>
              <a:lstStyle/>
              <a:p>
                <a:endParaRPr lang="en-US"/>
              </a:p>
            </p:txBody>
          </p:sp>
          <p:sp>
            <p:nvSpPr>
              <p:cNvPr id="27763" name="Freeform 76"/>
              <p:cNvSpPr>
                <a:spLocks/>
              </p:cNvSpPr>
              <p:nvPr/>
            </p:nvSpPr>
            <p:spPr bwMode="auto">
              <a:xfrm>
                <a:off x="1995" y="3523"/>
                <a:ext cx="11" cy="32"/>
              </a:xfrm>
              <a:custGeom>
                <a:avLst/>
                <a:gdLst>
                  <a:gd name="T0" fmla="*/ 1 w 21"/>
                  <a:gd name="T1" fmla="*/ 0 h 65"/>
                  <a:gd name="T2" fmla="*/ 1 w 21"/>
                  <a:gd name="T3" fmla="*/ 0 h 65"/>
                  <a:gd name="T4" fmla="*/ 1 w 21"/>
                  <a:gd name="T5" fmla="*/ 0 h 65"/>
                  <a:gd name="T6" fmla="*/ 0 w 21"/>
                  <a:gd name="T7" fmla="*/ 0 h 65"/>
                  <a:gd name="T8" fmla="*/ 0 w 21"/>
                  <a:gd name="T9" fmla="*/ 0 h 65"/>
                  <a:gd name="T10" fmla="*/ 1 w 21"/>
                  <a:gd name="T11" fmla="*/ 0 h 65"/>
                  <a:gd name="T12" fmla="*/ 0 60000 65536"/>
                  <a:gd name="T13" fmla="*/ 0 60000 65536"/>
                  <a:gd name="T14" fmla="*/ 0 60000 65536"/>
                  <a:gd name="T15" fmla="*/ 0 60000 65536"/>
                  <a:gd name="T16" fmla="*/ 0 60000 65536"/>
                  <a:gd name="T17" fmla="*/ 0 60000 65536"/>
                  <a:gd name="T18" fmla="*/ 0 w 21"/>
                  <a:gd name="T19" fmla="*/ 0 h 65"/>
                  <a:gd name="T20" fmla="*/ 21 w 2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21" h="65">
                    <a:moveTo>
                      <a:pt x="10" y="65"/>
                    </a:moveTo>
                    <a:lnTo>
                      <a:pt x="21" y="65"/>
                    </a:lnTo>
                    <a:lnTo>
                      <a:pt x="21" y="0"/>
                    </a:lnTo>
                    <a:lnTo>
                      <a:pt x="0" y="0"/>
                    </a:lnTo>
                    <a:lnTo>
                      <a:pt x="0" y="65"/>
                    </a:lnTo>
                    <a:lnTo>
                      <a:pt x="10" y="65"/>
                    </a:lnTo>
                    <a:close/>
                  </a:path>
                </a:pathLst>
              </a:custGeom>
              <a:solidFill>
                <a:srgbClr val="000000"/>
              </a:solidFill>
              <a:ln w="9525">
                <a:noFill/>
                <a:round/>
                <a:headEnd/>
                <a:tailEnd/>
              </a:ln>
            </p:spPr>
            <p:txBody>
              <a:bodyPr/>
              <a:lstStyle/>
              <a:p>
                <a:endParaRPr lang="en-US"/>
              </a:p>
            </p:txBody>
          </p:sp>
          <p:sp>
            <p:nvSpPr>
              <p:cNvPr id="27764" name="Freeform 77"/>
              <p:cNvSpPr>
                <a:spLocks/>
              </p:cNvSpPr>
              <p:nvPr/>
            </p:nvSpPr>
            <p:spPr bwMode="auto">
              <a:xfrm>
                <a:off x="1952" y="3561"/>
                <a:ext cx="145" cy="93"/>
              </a:xfrm>
              <a:custGeom>
                <a:avLst/>
                <a:gdLst>
                  <a:gd name="T0" fmla="*/ 0 w 292"/>
                  <a:gd name="T1" fmla="*/ 1 h 186"/>
                  <a:gd name="T2" fmla="*/ 0 w 292"/>
                  <a:gd name="T3" fmla="*/ 0 h 186"/>
                  <a:gd name="T4" fmla="*/ 0 w 292"/>
                  <a:gd name="T5" fmla="*/ 1 h 186"/>
                  <a:gd name="T6" fmla="*/ 0 w 292"/>
                  <a:gd name="T7" fmla="*/ 1 h 186"/>
                  <a:gd name="T8" fmla="*/ 0 w 292"/>
                  <a:gd name="T9" fmla="*/ 1 h 186"/>
                  <a:gd name="T10" fmla="*/ 0 60000 65536"/>
                  <a:gd name="T11" fmla="*/ 0 60000 65536"/>
                  <a:gd name="T12" fmla="*/ 0 60000 65536"/>
                  <a:gd name="T13" fmla="*/ 0 60000 65536"/>
                  <a:gd name="T14" fmla="*/ 0 60000 65536"/>
                  <a:gd name="T15" fmla="*/ 0 w 292"/>
                  <a:gd name="T16" fmla="*/ 0 h 186"/>
                  <a:gd name="T17" fmla="*/ 292 w 292"/>
                  <a:gd name="T18" fmla="*/ 186 h 186"/>
                </a:gdLst>
                <a:ahLst/>
                <a:cxnLst>
                  <a:cxn ang="T10">
                    <a:pos x="T0" y="T1"/>
                  </a:cxn>
                  <a:cxn ang="T11">
                    <a:pos x="T2" y="T3"/>
                  </a:cxn>
                  <a:cxn ang="T12">
                    <a:pos x="T4" y="T5"/>
                  </a:cxn>
                  <a:cxn ang="T13">
                    <a:pos x="T6" y="T7"/>
                  </a:cxn>
                  <a:cxn ang="T14">
                    <a:pos x="T8" y="T9"/>
                  </a:cxn>
                </a:cxnLst>
                <a:rect l="T15" t="T16" r="T17" b="T18"/>
                <a:pathLst>
                  <a:path w="292" h="186">
                    <a:moveTo>
                      <a:pt x="292" y="20"/>
                    </a:moveTo>
                    <a:lnTo>
                      <a:pt x="292" y="0"/>
                    </a:lnTo>
                    <a:lnTo>
                      <a:pt x="0" y="165"/>
                    </a:lnTo>
                    <a:lnTo>
                      <a:pt x="0" y="186"/>
                    </a:lnTo>
                    <a:lnTo>
                      <a:pt x="292" y="20"/>
                    </a:lnTo>
                    <a:close/>
                  </a:path>
                </a:pathLst>
              </a:custGeom>
              <a:solidFill>
                <a:srgbClr val="007FFF"/>
              </a:solidFill>
              <a:ln w="9525">
                <a:noFill/>
                <a:round/>
                <a:headEnd/>
                <a:tailEnd/>
              </a:ln>
            </p:spPr>
            <p:txBody>
              <a:bodyPr/>
              <a:lstStyle/>
              <a:p>
                <a:endParaRPr lang="en-US"/>
              </a:p>
            </p:txBody>
          </p:sp>
          <p:sp>
            <p:nvSpPr>
              <p:cNvPr id="27765" name="Freeform 78"/>
              <p:cNvSpPr>
                <a:spLocks/>
              </p:cNvSpPr>
              <p:nvPr/>
            </p:nvSpPr>
            <p:spPr bwMode="auto">
              <a:xfrm>
                <a:off x="2093" y="3557"/>
                <a:ext cx="8" cy="14"/>
              </a:xfrm>
              <a:custGeom>
                <a:avLst/>
                <a:gdLst>
                  <a:gd name="T0" fmla="*/ 1 w 15"/>
                  <a:gd name="T1" fmla="*/ 1 h 28"/>
                  <a:gd name="T2" fmla="*/ 0 w 15"/>
                  <a:gd name="T3" fmla="*/ 1 h 28"/>
                  <a:gd name="T4" fmla="*/ 0 w 15"/>
                  <a:gd name="T5" fmla="*/ 1 h 28"/>
                  <a:gd name="T6" fmla="*/ 1 w 15"/>
                  <a:gd name="T7" fmla="*/ 1 h 28"/>
                  <a:gd name="T8" fmla="*/ 1 w 15"/>
                  <a:gd name="T9" fmla="*/ 1 h 28"/>
                  <a:gd name="T10" fmla="*/ 1 w 15"/>
                  <a:gd name="T11" fmla="*/ 1 h 28"/>
                  <a:gd name="T12" fmla="*/ 1 w 15"/>
                  <a:gd name="T13" fmla="*/ 1 h 28"/>
                  <a:gd name="T14" fmla="*/ 1 w 15"/>
                  <a:gd name="T15" fmla="*/ 1 h 28"/>
                  <a:gd name="T16" fmla="*/ 1 w 15"/>
                  <a:gd name="T17" fmla="*/ 0 h 28"/>
                  <a:gd name="T18" fmla="*/ 1 w 15"/>
                  <a:gd name="T19" fmla="*/ 1 h 28"/>
                  <a:gd name="T20" fmla="*/ 0 w 15"/>
                  <a:gd name="T21" fmla="*/ 1 h 28"/>
                  <a:gd name="T22" fmla="*/ 1 w 15"/>
                  <a:gd name="T23" fmla="*/ 1 h 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8"/>
                  <a:gd name="T38" fmla="*/ 15 w 15"/>
                  <a:gd name="T39" fmla="*/ 28 h 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8">
                    <a:moveTo>
                      <a:pt x="11" y="14"/>
                    </a:moveTo>
                    <a:lnTo>
                      <a:pt x="0" y="8"/>
                    </a:lnTo>
                    <a:lnTo>
                      <a:pt x="0" y="28"/>
                    </a:lnTo>
                    <a:lnTo>
                      <a:pt x="15" y="28"/>
                    </a:lnTo>
                    <a:lnTo>
                      <a:pt x="15" y="8"/>
                    </a:lnTo>
                    <a:lnTo>
                      <a:pt x="5" y="1"/>
                    </a:lnTo>
                    <a:lnTo>
                      <a:pt x="15" y="8"/>
                    </a:lnTo>
                    <a:lnTo>
                      <a:pt x="12" y="3"/>
                    </a:lnTo>
                    <a:lnTo>
                      <a:pt x="8" y="0"/>
                    </a:lnTo>
                    <a:lnTo>
                      <a:pt x="3" y="3"/>
                    </a:lnTo>
                    <a:lnTo>
                      <a:pt x="0" y="8"/>
                    </a:lnTo>
                    <a:lnTo>
                      <a:pt x="11" y="14"/>
                    </a:lnTo>
                    <a:close/>
                  </a:path>
                </a:pathLst>
              </a:custGeom>
              <a:solidFill>
                <a:srgbClr val="000000"/>
              </a:solidFill>
              <a:ln w="9525">
                <a:noFill/>
                <a:round/>
                <a:headEnd/>
                <a:tailEnd/>
              </a:ln>
            </p:spPr>
            <p:txBody>
              <a:bodyPr/>
              <a:lstStyle/>
              <a:p>
                <a:endParaRPr lang="en-US"/>
              </a:p>
            </p:txBody>
          </p:sp>
          <p:sp>
            <p:nvSpPr>
              <p:cNvPr id="27766" name="Freeform 79"/>
              <p:cNvSpPr>
                <a:spLocks/>
              </p:cNvSpPr>
              <p:nvPr/>
            </p:nvSpPr>
            <p:spPr bwMode="auto">
              <a:xfrm>
                <a:off x="1948" y="3558"/>
                <a:ext cx="151" cy="89"/>
              </a:xfrm>
              <a:custGeom>
                <a:avLst/>
                <a:gdLst>
                  <a:gd name="T0" fmla="*/ 1 w 302"/>
                  <a:gd name="T1" fmla="*/ 0 h 179"/>
                  <a:gd name="T2" fmla="*/ 1 w 302"/>
                  <a:gd name="T3" fmla="*/ 0 h 179"/>
                  <a:gd name="T4" fmla="*/ 1 w 302"/>
                  <a:gd name="T5" fmla="*/ 0 h 179"/>
                  <a:gd name="T6" fmla="*/ 1 w 302"/>
                  <a:gd name="T7" fmla="*/ 0 h 179"/>
                  <a:gd name="T8" fmla="*/ 1 w 302"/>
                  <a:gd name="T9" fmla="*/ 0 h 179"/>
                  <a:gd name="T10" fmla="*/ 0 w 302"/>
                  <a:gd name="T11" fmla="*/ 0 h 179"/>
                  <a:gd name="T12" fmla="*/ 1 w 302"/>
                  <a:gd name="T13" fmla="*/ 0 h 179"/>
                  <a:gd name="T14" fmla="*/ 1 w 302"/>
                  <a:gd name="T15" fmla="*/ 0 h 179"/>
                  <a:gd name="T16" fmla="*/ 1 w 302"/>
                  <a:gd name="T17" fmla="*/ 0 h 179"/>
                  <a:gd name="T18" fmla="*/ 1 w 302"/>
                  <a:gd name="T19" fmla="*/ 0 h 179"/>
                  <a:gd name="T20" fmla="*/ 1 w 302"/>
                  <a:gd name="T21" fmla="*/ 0 h 179"/>
                  <a:gd name="T22" fmla="*/ 1 w 302"/>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9"/>
                  <a:gd name="T38" fmla="*/ 302 w 302"/>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9">
                    <a:moveTo>
                      <a:pt x="15" y="172"/>
                    </a:moveTo>
                    <a:lnTo>
                      <a:pt x="11" y="179"/>
                    </a:lnTo>
                    <a:lnTo>
                      <a:pt x="302" y="13"/>
                    </a:lnTo>
                    <a:lnTo>
                      <a:pt x="296" y="0"/>
                    </a:lnTo>
                    <a:lnTo>
                      <a:pt x="4" y="166"/>
                    </a:lnTo>
                    <a:lnTo>
                      <a:pt x="0" y="172"/>
                    </a:lnTo>
                    <a:lnTo>
                      <a:pt x="4" y="166"/>
                    </a:lnTo>
                    <a:lnTo>
                      <a:pt x="1" y="169"/>
                    </a:lnTo>
                    <a:lnTo>
                      <a:pt x="1" y="174"/>
                    </a:lnTo>
                    <a:lnTo>
                      <a:pt x="6" y="179"/>
                    </a:lnTo>
                    <a:lnTo>
                      <a:pt x="11" y="179"/>
                    </a:lnTo>
                    <a:lnTo>
                      <a:pt x="15" y="172"/>
                    </a:lnTo>
                    <a:close/>
                  </a:path>
                </a:pathLst>
              </a:custGeom>
              <a:solidFill>
                <a:srgbClr val="000000"/>
              </a:solidFill>
              <a:ln w="9525">
                <a:noFill/>
                <a:round/>
                <a:headEnd/>
                <a:tailEnd/>
              </a:ln>
            </p:spPr>
            <p:txBody>
              <a:bodyPr/>
              <a:lstStyle/>
              <a:p>
                <a:endParaRPr lang="en-US"/>
              </a:p>
            </p:txBody>
          </p:sp>
          <p:sp>
            <p:nvSpPr>
              <p:cNvPr id="27767" name="Freeform 80"/>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4" y="14"/>
                    </a:moveTo>
                    <a:lnTo>
                      <a:pt x="15" y="21"/>
                    </a:lnTo>
                    <a:lnTo>
                      <a:pt x="15" y="0"/>
                    </a:lnTo>
                    <a:lnTo>
                      <a:pt x="0" y="0"/>
                    </a:lnTo>
                    <a:lnTo>
                      <a:pt x="0" y="21"/>
                    </a:lnTo>
                    <a:lnTo>
                      <a:pt x="11" y="27"/>
                    </a:lnTo>
                    <a:lnTo>
                      <a:pt x="0" y="21"/>
                    </a:lnTo>
                    <a:lnTo>
                      <a:pt x="3" y="25"/>
                    </a:lnTo>
                    <a:lnTo>
                      <a:pt x="7" y="27"/>
                    </a:lnTo>
                    <a:lnTo>
                      <a:pt x="12" y="25"/>
                    </a:lnTo>
                    <a:lnTo>
                      <a:pt x="15" y="21"/>
                    </a:lnTo>
                    <a:lnTo>
                      <a:pt x="4" y="14"/>
                    </a:lnTo>
                    <a:close/>
                  </a:path>
                </a:pathLst>
              </a:custGeom>
              <a:solidFill>
                <a:srgbClr val="000000"/>
              </a:solidFill>
              <a:ln w="9525">
                <a:noFill/>
                <a:round/>
                <a:headEnd/>
                <a:tailEnd/>
              </a:ln>
            </p:spPr>
            <p:txBody>
              <a:bodyPr/>
              <a:lstStyle/>
              <a:p>
                <a:endParaRPr lang="en-US"/>
              </a:p>
            </p:txBody>
          </p:sp>
          <p:sp>
            <p:nvSpPr>
              <p:cNvPr id="27768" name="Freeform 81"/>
              <p:cNvSpPr>
                <a:spLocks/>
              </p:cNvSpPr>
              <p:nvPr/>
            </p:nvSpPr>
            <p:spPr bwMode="auto">
              <a:xfrm>
                <a:off x="1950" y="3568"/>
                <a:ext cx="151" cy="89"/>
              </a:xfrm>
              <a:custGeom>
                <a:avLst/>
                <a:gdLst>
                  <a:gd name="T0" fmla="*/ 1 w 302"/>
                  <a:gd name="T1" fmla="*/ 1 h 178"/>
                  <a:gd name="T2" fmla="*/ 1 w 302"/>
                  <a:gd name="T3" fmla="*/ 0 h 178"/>
                  <a:gd name="T4" fmla="*/ 0 w 302"/>
                  <a:gd name="T5" fmla="*/ 1 h 178"/>
                  <a:gd name="T6" fmla="*/ 1 w 302"/>
                  <a:gd name="T7" fmla="*/ 1 h 178"/>
                  <a:gd name="T8" fmla="*/ 1 w 302"/>
                  <a:gd name="T9" fmla="*/ 1 h 178"/>
                  <a:gd name="T10" fmla="*/ 1 w 302"/>
                  <a:gd name="T11" fmla="*/ 1 h 178"/>
                  <a:gd name="T12" fmla="*/ 1 w 302"/>
                  <a:gd name="T13" fmla="*/ 1 h 178"/>
                  <a:gd name="T14" fmla="*/ 1 w 302"/>
                  <a:gd name="T15" fmla="*/ 1 h 178"/>
                  <a:gd name="T16" fmla="*/ 1 w 302"/>
                  <a:gd name="T17" fmla="*/ 1 h 178"/>
                  <a:gd name="T18" fmla="*/ 1 w 302"/>
                  <a:gd name="T19" fmla="*/ 0 h 178"/>
                  <a:gd name="T20" fmla="*/ 1 w 302"/>
                  <a:gd name="T21" fmla="*/ 0 h 178"/>
                  <a:gd name="T22" fmla="*/ 1 w 302"/>
                  <a:gd name="T23" fmla="*/ 1 h 1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8"/>
                  <a:gd name="T38" fmla="*/ 302 w 302"/>
                  <a:gd name="T39" fmla="*/ 178 h 17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8">
                    <a:moveTo>
                      <a:pt x="287" y="6"/>
                    </a:moveTo>
                    <a:lnTo>
                      <a:pt x="292" y="0"/>
                    </a:lnTo>
                    <a:lnTo>
                      <a:pt x="0" y="165"/>
                    </a:lnTo>
                    <a:lnTo>
                      <a:pt x="7" y="178"/>
                    </a:lnTo>
                    <a:lnTo>
                      <a:pt x="298" y="12"/>
                    </a:lnTo>
                    <a:lnTo>
                      <a:pt x="302" y="6"/>
                    </a:lnTo>
                    <a:lnTo>
                      <a:pt x="298" y="12"/>
                    </a:lnTo>
                    <a:lnTo>
                      <a:pt x="301" y="9"/>
                    </a:lnTo>
                    <a:lnTo>
                      <a:pt x="301" y="3"/>
                    </a:lnTo>
                    <a:lnTo>
                      <a:pt x="296" y="0"/>
                    </a:lnTo>
                    <a:lnTo>
                      <a:pt x="292" y="0"/>
                    </a:lnTo>
                    <a:lnTo>
                      <a:pt x="287" y="6"/>
                    </a:lnTo>
                    <a:close/>
                  </a:path>
                </a:pathLst>
              </a:custGeom>
              <a:solidFill>
                <a:srgbClr val="000000"/>
              </a:solidFill>
              <a:ln w="9525">
                <a:noFill/>
                <a:round/>
                <a:headEnd/>
                <a:tailEnd/>
              </a:ln>
            </p:spPr>
            <p:txBody>
              <a:bodyPr/>
              <a:lstStyle/>
              <a:p>
                <a:endParaRPr lang="en-US"/>
              </a:p>
            </p:txBody>
          </p:sp>
          <p:sp>
            <p:nvSpPr>
              <p:cNvPr id="27769" name="Freeform 82"/>
              <p:cNvSpPr>
                <a:spLocks/>
              </p:cNvSpPr>
              <p:nvPr/>
            </p:nvSpPr>
            <p:spPr bwMode="auto">
              <a:xfrm>
                <a:off x="1918" y="3536"/>
                <a:ext cx="179" cy="108"/>
              </a:xfrm>
              <a:custGeom>
                <a:avLst/>
                <a:gdLst>
                  <a:gd name="T0" fmla="*/ 0 w 359"/>
                  <a:gd name="T1" fmla="*/ 0 h 216"/>
                  <a:gd name="T2" fmla="*/ 0 w 359"/>
                  <a:gd name="T3" fmla="*/ 1 h 216"/>
                  <a:gd name="T4" fmla="*/ 0 w 359"/>
                  <a:gd name="T5" fmla="*/ 1 h 216"/>
                  <a:gd name="T6" fmla="*/ 0 w 359"/>
                  <a:gd name="T7" fmla="*/ 1 h 216"/>
                  <a:gd name="T8" fmla="*/ 0 w 359"/>
                  <a:gd name="T9" fmla="*/ 0 h 216"/>
                  <a:gd name="T10" fmla="*/ 0 60000 65536"/>
                  <a:gd name="T11" fmla="*/ 0 60000 65536"/>
                  <a:gd name="T12" fmla="*/ 0 60000 65536"/>
                  <a:gd name="T13" fmla="*/ 0 60000 65536"/>
                  <a:gd name="T14" fmla="*/ 0 60000 65536"/>
                  <a:gd name="T15" fmla="*/ 0 w 359"/>
                  <a:gd name="T16" fmla="*/ 0 h 216"/>
                  <a:gd name="T17" fmla="*/ 359 w 359"/>
                  <a:gd name="T18" fmla="*/ 216 h 216"/>
                </a:gdLst>
                <a:ahLst/>
                <a:cxnLst>
                  <a:cxn ang="T10">
                    <a:pos x="T0" y="T1"/>
                  </a:cxn>
                  <a:cxn ang="T11">
                    <a:pos x="T2" y="T3"/>
                  </a:cxn>
                  <a:cxn ang="T12">
                    <a:pos x="T4" y="T5"/>
                  </a:cxn>
                  <a:cxn ang="T13">
                    <a:pos x="T6" y="T7"/>
                  </a:cxn>
                  <a:cxn ang="T14">
                    <a:pos x="T8" y="T9"/>
                  </a:cxn>
                </a:cxnLst>
                <a:rect l="T15" t="T16" r="T17" b="T18"/>
                <a:pathLst>
                  <a:path w="359" h="216">
                    <a:moveTo>
                      <a:pt x="285" y="0"/>
                    </a:moveTo>
                    <a:lnTo>
                      <a:pt x="359" y="51"/>
                    </a:lnTo>
                    <a:lnTo>
                      <a:pt x="67" y="216"/>
                    </a:lnTo>
                    <a:lnTo>
                      <a:pt x="0" y="169"/>
                    </a:lnTo>
                    <a:lnTo>
                      <a:pt x="285" y="0"/>
                    </a:lnTo>
                    <a:close/>
                  </a:path>
                </a:pathLst>
              </a:custGeom>
              <a:solidFill>
                <a:srgbClr val="99D8FF"/>
              </a:solidFill>
              <a:ln w="9525">
                <a:noFill/>
                <a:round/>
                <a:headEnd/>
                <a:tailEnd/>
              </a:ln>
            </p:spPr>
            <p:txBody>
              <a:bodyPr/>
              <a:lstStyle/>
              <a:p>
                <a:endParaRPr lang="en-US"/>
              </a:p>
            </p:txBody>
          </p:sp>
          <p:sp>
            <p:nvSpPr>
              <p:cNvPr id="27770" name="Freeform 83"/>
              <p:cNvSpPr>
                <a:spLocks/>
              </p:cNvSpPr>
              <p:nvPr/>
            </p:nvSpPr>
            <p:spPr bwMode="auto">
              <a:xfrm>
                <a:off x="2058" y="3533"/>
                <a:ext cx="43" cy="32"/>
              </a:xfrm>
              <a:custGeom>
                <a:avLst/>
                <a:gdLst>
                  <a:gd name="T0" fmla="*/ 1 w 86"/>
                  <a:gd name="T1" fmla="*/ 1 h 64"/>
                  <a:gd name="T2" fmla="*/ 1 w 86"/>
                  <a:gd name="T3" fmla="*/ 1 h 64"/>
                  <a:gd name="T4" fmla="*/ 1 w 86"/>
                  <a:gd name="T5" fmla="*/ 0 h 64"/>
                  <a:gd name="T6" fmla="*/ 0 w 86"/>
                  <a:gd name="T7" fmla="*/ 1 h 64"/>
                  <a:gd name="T8" fmla="*/ 1 w 86"/>
                  <a:gd name="T9" fmla="*/ 1 h 64"/>
                  <a:gd name="T10" fmla="*/ 1 w 86"/>
                  <a:gd name="T11" fmla="*/ 1 h 64"/>
                  <a:gd name="T12" fmla="*/ 1 w 86"/>
                  <a:gd name="T13" fmla="*/ 1 h 64"/>
                  <a:gd name="T14" fmla="*/ 1 w 86"/>
                  <a:gd name="T15" fmla="*/ 1 h 64"/>
                  <a:gd name="T16" fmla="*/ 1 w 86"/>
                  <a:gd name="T17" fmla="*/ 1 h 64"/>
                  <a:gd name="T18" fmla="*/ 1 w 86"/>
                  <a:gd name="T19" fmla="*/ 1 h 64"/>
                  <a:gd name="T20" fmla="*/ 1 w 86"/>
                  <a:gd name="T21" fmla="*/ 1 h 64"/>
                  <a:gd name="T22" fmla="*/ 1 w 86"/>
                  <a:gd name="T23" fmla="*/ 1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
                  <a:gd name="T37" fmla="*/ 0 h 64"/>
                  <a:gd name="T38" fmla="*/ 86 w 86"/>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 h="64">
                    <a:moveTo>
                      <a:pt x="82" y="63"/>
                    </a:moveTo>
                    <a:lnTo>
                      <a:pt x="83" y="50"/>
                    </a:lnTo>
                    <a:lnTo>
                      <a:pt x="10" y="0"/>
                    </a:lnTo>
                    <a:lnTo>
                      <a:pt x="0" y="13"/>
                    </a:lnTo>
                    <a:lnTo>
                      <a:pt x="74" y="63"/>
                    </a:lnTo>
                    <a:lnTo>
                      <a:pt x="76" y="50"/>
                    </a:lnTo>
                    <a:lnTo>
                      <a:pt x="74" y="63"/>
                    </a:lnTo>
                    <a:lnTo>
                      <a:pt x="80" y="64"/>
                    </a:lnTo>
                    <a:lnTo>
                      <a:pt x="85" y="61"/>
                    </a:lnTo>
                    <a:lnTo>
                      <a:pt x="86" y="55"/>
                    </a:lnTo>
                    <a:lnTo>
                      <a:pt x="83" y="50"/>
                    </a:lnTo>
                    <a:lnTo>
                      <a:pt x="82" y="63"/>
                    </a:lnTo>
                    <a:close/>
                  </a:path>
                </a:pathLst>
              </a:custGeom>
              <a:solidFill>
                <a:srgbClr val="000000"/>
              </a:solidFill>
              <a:ln w="9525">
                <a:noFill/>
                <a:round/>
                <a:headEnd/>
                <a:tailEnd/>
              </a:ln>
            </p:spPr>
            <p:txBody>
              <a:bodyPr/>
              <a:lstStyle/>
              <a:p>
                <a:endParaRPr lang="en-US"/>
              </a:p>
            </p:txBody>
          </p:sp>
          <p:sp>
            <p:nvSpPr>
              <p:cNvPr id="27771" name="Freeform 84"/>
              <p:cNvSpPr>
                <a:spLocks/>
              </p:cNvSpPr>
              <p:nvPr/>
            </p:nvSpPr>
            <p:spPr bwMode="auto">
              <a:xfrm>
                <a:off x="1949" y="3558"/>
                <a:ext cx="150" cy="89"/>
              </a:xfrm>
              <a:custGeom>
                <a:avLst/>
                <a:gdLst>
                  <a:gd name="T0" fmla="*/ 0 w 301"/>
                  <a:gd name="T1" fmla="*/ 0 h 179"/>
                  <a:gd name="T2" fmla="*/ 0 w 301"/>
                  <a:gd name="T3" fmla="*/ 0 h 179"/>
                  <a:gd name="T4" fmla="*/ 0 w 301"/>
                  <a:gd name="T5" fmla="*/ 0 h 179"/>
                  <a:gd name="T6" fmla="*/ 0 w 301"/>
                  <a:gd name="T7" fmla="*/ 0 h 179"/>
                  <a:gd name="T8" fmla="*/ 0 w 301"/>
                  <a:gd name="T9" fmla="*/ 0 h 179"/>
                  <a:gd name="T10" fmla="*/ 0 w 301"/>
                  <a:gd name="T11" fmla="*/ 0 h 179"/>
                  <a:gd name="T12" fmla="*/ 0 w 301"/>
                  <a:gd name="T13" fmla="*/ 0 h 179"/>
                  <a:gd name="T14" fmla="*/ 0 w 301"/>
                  <a:gd name="T15" fmla="*/ 0 h 179"/>
                  <a:gd name="T16" fmla="*/ 0 w 301"/>
                  <a:gd name="T17" fmla="*/ 0 h 179"/>
                  <a:gd name="T18" fmla="*/ 0 w 301"/>
                  <a:gd name="T19" fmla="*/ 0 h 179"/>
                  <a:gd name="T20" fmla="*/ 0 w 301"/>
                  <a:gd name="T21" fmla="*/ 0 h 179"/>
                  <a:gd name="T22" fmla="*/ 0 w 301"/>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179"/>
                  <a:gd name="T38" fmla="*/ 301 w 301"/>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179">
                    <a:moveTo>
                      <a:pt x="2" y="179"/>
                    </a:moveTo>
                    <a:lnTo>
                      <a:pt x="10" y="179"/>
                    </a:lnTo>
                    <a:lnTo>
                      <a:pt x="301" y="13"/>
                    </a:lnTo>
                    <a:lnTo>
                      <a:pt x="295" y="0"/>
                    </a:lnTo>
                    <a:lnTo>
                      <a:pt x="3" y="166"/>
                    </a:lnTo>
                    <a:lnTo>
                      <a:pt x="11" y="166"/>
                    </a:lnTo>
                    <a:lnTo>
                      <a:pt x="3" y="166"/>
                    </a:lnTo>
                    <a:lnTo>
                      <a:pt x="0" y="169"/>
                    </a:lnTo>
                    <a:lnTo>
                      <a:pt x="0" y="174"/>
                    </a:lnTo>
                    <a:lnTo>
                      <a:pt x="5" y="179"/>
                    </a:lnTo>
                    <a:lnTo>
                      <a:pt x="10" y="179"/>
                    </a:lnTo>
                    <a:lnTo>
                      <a:pt x="2" y="179"/>
                    </a:lnTo>
                    <a:close/>
                  </a:path>
                </a:pathLst>
              </a:custGeom>
              <a:solidFill>
                <a:srgbClr val="000000"/>
              </a:solidFill>
              <a:ln w="9525">
                <a:noFill/>
                <a:round/>
                <a:headEnd/>
                <a:tailEnd/>
              </a:ln>
            </p:spPr>
            <p:txBody>
              <a:bodyPr/>
              <a:lstStyle/>
              <a:p>
                <a:endParaRPr lang="en-US"/>
              </a:p>
            </p:txBody>
          </p:sp>
          <p:sp>
            <p:nvSpPr>
              <p:cNvPr id="27772" name="Freeform 85"/>
              <p:cNvSpPr>
                <a:spLocks/>
              </p:cNvSpPr>
              <p:nvPr/>
            </p:nvSpPr>
            <p:spPr bwMode="auto">
              <a:xfrm>
                <a:off x="1914" y="3616"/>
                <a:ext cx="40" cy="31"/>
              </a:xfrm>
              <a:custGeom>
                <a:avLst/>
                <a:gdLst>
                  <a:gd name="T0" fmla="*/ 1 w 80"/>
                  <a:gd name="T1" fmla="*/ 1 h 61"/>
                  <a:gd name="T2" fmla="*/ 1 w 80"/>
                  <a:gd name="T3" fmla="*/ 1 h 61"/>
                  <a:gd name="T4" fmla="*/ 1 w 80"/>
                  <a:gd name="T5" fmla="*/ 1 h 61"/>
                  <a:gd name="T6" fmla="*/ 1 w 80"/>
                  <a:gd name="T7" fmla="*/ 1 h 61"/>
                  <a:gd name="T8" fmla="*/ 1 w 80"/>
                  <a:gd name="T9" fmla="*/ 1 h 61"/>
                  <a:gd name="T10" fmla="*/ 1 w 80"/>
                  <a:gd name="T11" fmla="*/ 1 h 61"/>
                  <a:gd name="T12" fmla="*/ 1 w 80"/>
                  <a:gd name="T13" fmla="*/ 1 h 61"/>
                  <a:gd name="T14" fmla="*/ 1 w 80"/>
                  <a:gd name="T15" fmla="*/ 0 h 61"/>
                  <a:gd name="T16" fmla="*/ 1 w 80"/>
                  <a:gd name="T17" fmla="*/ 1 h 61"/>
                  <a:gd name="T18" fmla="*/ 0 w 80"/>
                  <a:gd name="T19" fmla="*/ 1 h 61"/>
                  <a:gd name="T20" fmla="*/ 1 w 80"/>
                  <a:gd name="T21" fmla="*/ 1 h 61"/>
                  <a:gd name="T22" fmla="*/ 1 w 80"/>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0"/>
                  <a:gd name="T37" fmla="*/ 0 h 61"/>
                  <a:gd name="T38" fmla="*/ 80 w 80"/>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0" h="61">
                    <a:moveTo>
                      <a:pt x="3" y="1"/>
                    </a:moveTo>
                    <a:lnTo>
                      <a:pt x="3" y="14"/>
                    </a:lnTo>
                    <a:lnTo>
                      <a:pt x="71" y="61"/>
                    </a:lnTo>
                    <a:lnTo>
                      <a:pt x="80" y="48"/>
                    </a:lnTo>
                    <a:lnTo>
                      <a:pt x="13" y="1"/>
                    </a:lnTo>
                    <a:lnTo>
                      <a:pt x="13" y="14"/>
                    </a:lnTo>
                    <a:lnTo>
                      <a:pt x="13" y="1"/>
                    </a:lnTo>
                    <a:lnTo>
                      <a:pt x="7" y="0"/>
                    </a:lnTo>
                    <a:lnTo>
                      <a:pt x="2" y="3"/>
                    </a:lnTo>
                    <a:lnTo>
                      <a:pt x="0" y="7"/>
                    </a:lnTo>
                    <a:lnTo>
                      <a:pt x="3" y="14"/>
                    </a:lnTo>
                    <a:lnTo>
                      <a:pt x="3" y="1"/>
                    </a:lnTo>
                    <a:close/>
                  </a:path>
                </a:pathLst>
              </a:custGeom>
              <a:solidFill>
                <a:srgbClr val="000000"/>
              </a:solidFill>
              <a:ln w="9525">
                <a:noFill/>
                <a:round/>
                <a:headEnd/>
                <a:tailEnd/>
              </a:ln>
            </p:spPr>
            <p:txBody>
              <a:bodyPr/>
              <a:lstStyle/>
              <a:p>
                <a:endParaRPr lang="en-US"/>
              </a:p>
            </p:txBody>
          </p:sp>
          <p:sp>
            <p:nvSpPr>
              <p:cNvPr id="27773" name="Freeform 86"/>
              <p:cNvSpPr>
                <a:spLocks/>
              </p:cNvSpPr>
              <p:nvPr/>
            </p:nvSpPr>
            <p:spPr bwMode="auto">
              <a:xfrm>
                <a:off x="1916" y="3532"/>
                <a:ext cx="148" cy="91"/>
              </a:xfrm>
              <a:custGeom>
                <a:avLst/>
                <a:gdLst>
                  <a:gd name="T0" fmla="*/ 0 w 298"/>
                  <a:gd name="T1" fmla="*/ 0 h 183"/>
                  <a:gd name="T2" fmla="*/ 0 w 298"/>
                  <a:gd name="T3" fmla="*/ 0 h 183"/>
                  <a:gd name="T4" fmla="*/ 0 w 298"/>
                  <a:gd name="T5" fmla="*/ 0 h 183"/>
                  <a:gd name="T6" fmla="*/ 0 w 298"/>
                  <a:gd name="T7" fmla="*/ 0 h 183"/>
                  <a:gd name="T8" fmla="*/ 0 w 298"/>
                  <a:gd name="T9" fmla="*/ 0 h 183"/>
                  <a:gd name="T10" fmla="*/ 0 w 298"/>
                  <a:gd name="T11" fmla="*/ 0 h 183"/>
                  <a:gd name="T12" fmla="*/ 0 w 298"/>
                  <a:gd name="T13" fmla="*/ 0 h 183"/>
                  <a:gd name="T14" fmla="*/ 0 w 298"/>
                  <a:gd name="T15" fmla="*/ 0 h 183"/>
                  <a:gd name="T16" fmla="*/ 0 w 298"/>
                  <a:gd name="T17" fmla="*/ 0 h 183"/>
                  <a:gd name="T18" fmla="*/ 0 w 298"/>
                  <a:gd name="T19" fmla="*/ 0 h 183"/>
                  <a:gd name="T20" fmla="*/ 0 w 298"/>
                  <a:gd name="T21" fmla="*/ 0 h 183"/>
                  <a:gd name="T22" fmla="*/ 0 w 298"/>
                  <a:gd name="T23" fmla="*/ 0 h 1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8"/>
                  <a:gd name="T37" fmla="*/ 0 h 183"/>
                  <a:gd name="T38" fmla="*/ 298 w 298"/>
                  <a:gd name="T39" fmla="*/ 183 h 1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8" h="183">
                    <a:moveTo>
                      <a:pt x="295" y="1"/>
                    </a:moveTo>
                    <a:lnTo>
                      <a:pt x="285" y="1"/>
                    </a:lnTo>
                    <a:lnTo>
                      <a:pt x="0" y="170"/>
                    </a:lnTo>
                    <a:lnTo>
                      <a:pt x="10" y="183"/>
                    </a:lnTo>
                    <a:lnTo>
                      <a:pt x="295" y="14"/>
                    </a:lnTo>
                    <a:lnTo>
                      <a:pt x="285" y="14"/>
                    </a:lnTo>
                    <a:lnTo>
                      <a:pt x="295" y="14"/>
                    </a:lnTo>
                    <a:lnTo>
                      <a:pt x="298" y="7"/>
                    </a:lnTo>
                    <a:lnTo>
                      <a:pt x="296" y="3"/>
                    </a:lnTo>
                    <a:lnTo>
                      <a:pt x="292" y="0"/>
                    </a:lnTo>
                    <a:lnTo>
                      <a:pt x="285" y="1"/>
                    </a:lnTo>
                    <a:lnTo>
                      <a:pt x="295" y="1"/>
                    </a:lnTo>
                    <a:close/>
                  </a:path>
                </a:pathLst>
              </a:custGeom>
              <a:solidFill>
                <a:srgbClr val="000000"/>
              </a:solidFill>
              <a:ln w="9525">
                <a:noFill/>
                <a:round/>
                <a:headEnd/>
                <a:tailEnd/>
              </a:ln>
            </p:spPr>
            <p:txBody>
              <a:bodyPr/>
              <a:lstStyle/>
              <a:p>
                <a:endParaRPr lang="en-US"/>
              </a:p>
            </p:txBody>
          </p:sp>
          <p:sp>
            <p:nvSpPr>
              <p:cNvPr id="27774" name="Freeform 87"/>
              <p:cNvSpPr>
                <a:spLocks/>
              </p:cNvSpPr>
              <p:nvPr/>
            </p:nvSpPr>
            <p:spPr bwMode="auto">
              <a:xfrm>
                <a:off x="1919" y="3620"/>
                <a:ext cx="33" cy="34"/>
              </a:xfrm>
              <a:custGeom>
                <a:avLst/>
                <a:gdLst>
                  <a:gd name="T0" fmla="*/ 0 w 65"/>
                  <a:gd name="T1" fmla="*/ 1 h 68"/>
                  <a:gd name="T2" fmla="*/ 0 w 65"/>
                  <a:gd name="T3" fmla="*/ 0 h 68"/>
                  <a:gd name="T4" fmla="*/ 1 w 65"/>
                  <a:gd name="T5" fmla="*/ 1 h 68"/>
                  <a:gd name="T6" fmla="*/ 1 w 65"/>
                  <a:gd name="T7" fmla="*/ 1 h 68"/>
                  <a:gd name="T8" fmla="*/ 0 w 65"/>
                  <a:gd name="T9" fmla="*/ 1 h 68"/>
                  <a:gd name="T10" fmla="*/ 0 60000 65536"/>
                  <a:gd name="T11" fmla="*/ 0 60000 65536"/>
                  <a:gd name="T12" fmla="*/ 0 60000 65536"/>
                  <a:gd name="T13" fmla="*/ 0 60000 65536"/>
                  <a:gd name="T14" fmla="*/ 0 60000 65536"/>
                  <a:gd name="T15" fmla="*/ 0 w 65"/>
                  <a:gd name="T16" fmla="*/ 0 h 68"/>
                  <a:gd name="T17" fmla="*/ 65 w 65"/>
                  <a:gd name="T18" fmla="*/ 68 h 68"/>
                </a:gdLst>
                <a:ahLst/>
                <a:cxnLst>
                  <a:cxn ang="T10">
                    <a:pos x="T0" y="T1"/>
                  </a:cxn>
                  <a:cxn ang="T11">
                    <a:pos x="T2" y="T3"/>
                  </a:cxn>
                  <a:cxn ang="T12">
                    <a:pos x="T4" y="T5"/>
                  </a:cxn>
                  <a:cxn ang="T13">
                    <a:pos x="T6" y="T7"/>
                  </a:cxn>
                  <a:cxn ang="T14">
                    <a:pos x="T8" y="T9"/>
                  </a:cxn>
                </a:cxnLst>
                <a:rect l="T15" t="T16" r="T17" b="T18"/>
                <a:pathLst>
                  <a:path w="65" h="68">
                    <a:moveTo>
                      <a:pt x="0" y="29"/>
                    </a:moveTo>
                    <a:lnTo>
                      <a:pt x="0" y="0"/>
                    </a:lnTo>
                    <a:lnTo>
                      <a:pt x="65" y="47"/>
                    </a:lnTo>
                    <a:lnTo>
                      <a:pt x="65" y="68"/>
                    </a:lnTo>
                    <a:lnTo>
                      <a:pt x="0" y="29"/>
                    </a:lnTo>
                    <a:close/>
                  </a:path>
                </a:pathLst>
              </a:custGeom>
              <a:solidFill>
                <a:srgbClr val="4CB2FF"/>
              </a:solidFill>
              <a:ln w="9525">
                <a:noFill/>
                <a:round/>
                <a:headEnd/>
                <a:tailEnd/>
              </a:ln>
            </p:spPr>
            <p:txBody>
              <a:bodyPr/>
              <a:lstStyle/>
              <a:p>
                <a:endParaRPr lang="en-US"/>
              </a:p>
            </p:txBody>
          </p:sp>
          <p:sp>
            <p:nvSpPr>
              <p:cNvPr id="27775" name="Freeform 88"/>
              <p:cNvSpPr>
                <a:spLocks/>
              </p:cNvSpPr>
              <p:nvPr/>
            </p:nvSpPr>
            <p:spPr bwMode="auto">
              <a:xfrm>
                <a:off x="1915" y="3616"/>
                <a:ext cx="8" cy="18"/>
              </a:xfrm>
              <a:custGeom>
                <a:avLst/>
                <a:gdLst>
                  <a:gd name="T0" fmla="*/ 1 w 15"/>
                  <a:gd name="T1" fmla="*/ 1 h 36"/>
                  <a:gd name="T2" fmla="*/ 0 w 15"/>
                  <a:gd name="T3" fmla="*/ 1 h 36"/>
                  <a:gd name="T4" fmla="*/ 0 w 15"/>
                  <a:gd name="T5" fmla="*/ 1 h 36"/>
                  <a:gd name="T6" fmla="*/ 1 w 15"/>
                  <a:gd name="T7" fmla="*/ 1 h 36"/>
                  <a:gd name="T8" fmla="*/ 1 w 15"/>
                  <a:gd name="T9" fmla="*/ 1 h 36"/>
                  <a:gd name="T10" fmla="*/ 1 w 15"/>
                  <a:gd name="T11" fmla="*/ 1 h 36"/>
                  <a:gd name="T12" fmla="*/ 1 w 15"/>
                  <a:gd name="T13" fmla="*/ 1 h 36"/>
                  <a:gd name="T14" fmla="*/ 1 w 15"/>
                  <a:gd name="T15" fmla="*/ 1 h 36"/>
                  <a:gd name="T16" fmla="*/ 1 w 15"/>
                  <a:gd name="T17" fmla="*/ 0 h 36"/>
                  <a:gd name="T18" fmla="*/ 1 w 15"/>
                  <a:gd name="T19" fmla="*/ 1 h 36"/>
                  <a:gd name="T20" fmla="*/ 0 w 15"/>
                  <a:gd name="T21" fmla="*/ 1 h 36"/>
                  <a:gd name="T22" fmla="*/ 1 w 15"/>
                  <a:gd name="T23" fmla="*/ 1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36"/>
                  <a:gd name="T38" fmla="*/ 15 w 15"/>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36">
                    <a:moveTo>
                      <a:pt x="12" y="1"/>
                    </a:moveTo>
                    <a:lnTo>
                      <a:pt x="0" y="7"/>
                    </a:lnTo>
                    <a:lnTo>
                      <a:pt x="0" y="36"/>
                    </a:lnTo>
                    <a:lnTo>
                      <a:pt x="15" y="36"/>
                    </a:lnTo>
                    <a:lnTo>
                      <a:pt x="15" y="7"/>
                    </a:lnTo>
                    <a:lnTo>
                      <a:pt x="3" y="14"/>
                    </a:lnTo>
                    <a:lnTo>
                      <a:pt x="15" y="7"/>
                    </a:lnTo>
                    <a:lnTo>
                      <a:pt x="12" y="3"/>
                    </a:lnTo>
                    <a:lnTo>
                      <a:pt x="8" y="0"/>
                    </a:lnTo>
                    <a:lnTo>
                      <a:pt x="3" y="3"/>
                    </a:lnTo>
                    <a:lnTo>
                      <a:pt x="0" y="7"/>
                    </a:lnTo>
                    <a:lnTo>
                      <a:pt x="12" y="1"/>
                    </a:lnTo>
                    <a:close/>
                  </a:path>
                </a:pathLst>
              </a:custGeom>
              <a:solidFill>
                <a:srgbClr val="000000"/>
              </a:solidFill>
              <a:ln w="9525">
                <a:noFill/>
                <a:round/>
                <a:headEnd/>
                <a:tailEnd/>
              </a:ln>
            </p:spPr>
            <p:txBody>
              <a:bodyPr/>
              <a:lstStyle/>
              <a:p>
                <a:endParaRPr lang="en-US"/>
              </a:p>
            </p:txBody>
          </p:sp>
          <p:sp>
            <p:nvSpPr>
              <p:cNvPr id="27776" name="Freeform 89"/>
              <p:cNvSpPr>
                <a:spLocks/>
              </p:cNvSpPr>
              <p:nvPr/>
            </p:nvSpPr>
            <p:spPr bwMode="auto">
              <a:xfrm>
                <a:off x="1916" y="3617"/>
                <a:ext cx="40" cy="31"/>
              </a:xfrm>
              <a:custGeom>
                <a:avLst/>
                <a:gdLst>
                  <a:gd name="T0" fmla="*/ 1 w 78"/>
                  <a:gd name="T1" fmla="*/ 1 h 61"/>
                  <a:gd name="T2" fmla="*/ 1 w 78"/>
                  <a:gd name="T3" fmla="*/ 1 h 61"/>
                  <a:gd name="T4" fmla="*/ 1 w 78"/>
                  <a:gd name="T5" fmla="*/ 0 h 61"/>
                  <a:gd name="T6" fmla="*/ 0 w 78"/>
                  <a:gd name="T7" fmla="*/ 1 h 61"/>
                  <a:gd name="T8" fmla="*/ 1 w 78"/>
                  <a:gd name="T9" fmla="*/ 1 h 61"/>
                  <a:gd name="T10" fmla="*/ 1 w 78"/>
                  <a:gd name="T11" fmla="*/ 1 h 61"/>
                  <a:gd name="T12" fmla="*/ 1 w 78"/>
                  <a:gd name="T13" fmla="*/ 1 h 61"/>
                  <a:gd name="T14" fmla="*/ 1 w 78"/>
                  <a:gd name="T15" fmla="*/ 1 h 61"/>
                  <a:gd name="T16" fmla="*/ 1 w 78"/>
                  <a:gd name="T17" fmla="*/ 1 h 61"/>
                  <a:gd name="T18" fmla="*/ 1 w 78"/>
                  <a:gd name="T19" fmla="*/ 1 h 61"/>
                  <a:gd name="T20" fmla="*/ 1 w 78"/>
                  <a:gd name="T21" fmla="*/ 1 h 61"/>
                  <a:gd name="T22" fmla="*/ 1 w 78"/>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61"/>
                  <a:gd name="T38" fmla="*/ 78 w 78"/>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61">
                    <a:moveTo>
                      <a:pt x="78" y="53"/>
                    </a:moveTo>
                    <a:lnTo>
                      <a:pt x="75" y="47"/>
                    </a:lnTo>
                    <a:lnTo>
                      <a:pt x="9" y="0"/>
                    </a:lnTo>
                    <a:lnTo>
                      <a:pt x="0" y="13"/>
                    </a:lnTo>
                    <a:lnTo>
                      <a:pt x="66" y="60"/>
                    </a:lnTo>
                    <a:lnTo>
                      <a:pt x="63" y="53"/>
                    </a:lnTo>
                    <a:lnTo>
                      <a:pt x="66" y="60"/>
                    </a:lnTo>
                    <a:lnTo>
                      <a:pt x="72" y="61"/>
                    </a:lnTo>
                    <a:lnTo>
                      <a:pt x="77" y="58"/>
                    </a:lnTo>
                    <a:lnTo>
                      <a:pt x="78" y="52"/>
                    </a:lnTo>
                    <a:lnTo>
                      <a:pt x="75" y="47"/>
                    </a:lnTo>
                    <a:lnTo>
                      <a:pt x="78" y="53"/>
                    </a:lnTo>
                    <a:close/>
                  </a:path>
                </a:pathLst>
              </a:custGeom>
              <a:solidFill>
                <a:srgbClr val="000000"/>
              </a:solidFill>
              <a:ln w="9525">
                <a:noFill/>
                <a:round/>
                <a:headEnd/>
                <a:tailEnd/>
              </a:ln>
            </p:spPr>
            <p:txBody>
              <a:bodyPr/>
              <a:lstStyle/>
              <a:p>
                <a:endParaRPr lang="en-US"/>
              </a:p>
            </p:txBody>
          </p:sp>
          <p:sp>
            <p:nvSpPr>
              <p:cNvPr id="27777" name="Freeform 90"/>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3" y="27"/>
                    </a:moveTo>
                    <a:lnTo>
                      <a:pt x="15" y="21"/>
                    </a:lnTo>
                    <a:lnTo>
                      <a:pt x="15" y="0"/>
                    </a:lnTo>
                    <a:lnTo>
                      <a:pt x="0" y="0"/>
                    </a:lnTo>
                    <a:lnTo>
                      <a:pt x="0" y="21"/>
                    </a:lnTo>
                    <a:lnTo>
                      <a:pt x="12" y="14"/>
                    </a:lnTo>
                    <a:lnTo>
                      <a:pt x="0" y="21"/>
                    </a:lnTo>
                    <a:lnTo>
                      <a:pt x="3" y="25"/>
                    </a:lnTo>
                    <a:lnTo>
                      <a:pt x="7" y="27"/>
                    </a:lnTo>
                    <a:lnTo>
                      <a:pt x="12" y="25"/>
                    </a:lnTo>
                    <a:lnTo>
                      <a:pt x="15" y="21"/>
                    </a:lnTo>
                    <a:lnTo>
                      <a:pt x="3" y="27"/>
                    </a:lnTo>
                    <a:close/>
                  </a:path>
                </a:pathLst>
              </a:custGeom>
              <a:solidFill>
                <a:srgbClr val="000000"/>
              </a:solidFill>
              <a:ln w="9525">
                <a:noFill/>
                <a:round/>
                <a:headEnd/>
                <a:tailEnd/>
              </a:ln>
            </p:spPr>
            <p:txBody>
              <a:bodyPr/>
              <a:lstStyle/>
              <a:p>
                <a:endParaRPr lang="en-US"/>
              </a:p>
            </p:txBody>
          </p:sp>
          <p:sp>
            <p:nvSpPr>
              <p:cNvPr id="27778" name="Freeform 91"/>
              <p:cNvSpPr>
                <a:spLocks/>
              </p:cNvSpPr>
              <p:nvPr/>
            </p:nvSpPr>
            <p:spPr bwMode="auto">
              <a:xfrm>
                <a:off x="1915" y="3630"/>
                <a:ext cx="39" cy="27"/>
              </a:xfrm>
              <a:custGeom>
                <a:avLst/>
                <a:gdLst>
                  <a:gd name="T0" fmla="*/ 0 w 78"/>
                  <a:gd name="T1" fmla="*/ 1 h 53"/>
                  <a:gd name="T2" fmla="*/ 1 w 78"/>
                  <a:gd name="T3" fmla="*/ 1 h 53"/>
                  <a:gd name="T4" fmla="*/ 1 w 78"/>
                  <a:gd name="T5" fmla="*/ 1 h 53"/>
                  <a:gd name="T6" fmla="*/ 1 w 78"/>
                  <a:gd name="T7" fmla="*/ 1 h 53"/>
                  <a:gd name="T8" fmla="*/ 1 w 78"/>
                  <a:gd name="T9" fmla="*/ 1 h 53"/>
                  <a:gd name="T10" fmla="*/ 1 w 78"/>
                  <a:gd name="T11" fmla="*/ 1 h 53"/>
                  <a:gd name="T12" fmla="*/ 1 w 78"/>
                  <a:gd name="T13" fmla="*/ 1 h 53"/>
                  <a:gd name="T14" fmla="*/ 1 w 78"/>
                  <a:gd name="T15" fmla="*/ 0 h 53"/>
                  <a:gd name="T16" fmla="*/ 1 w 78"/>
                  <a:gd name="T17" fmla="*/ 1 h 53"/>
                  <a:gd name="T18" fmla="*/ 0 w 78"/>
                  <a:gd name="T19" fmla="*/ 1 h 53"/>
                  <a:gd name="T20" fmla="*/ 1 w 78"/>
                  <a:gd name="T21" fmla="*/ 1 h 53"/>
                  <a:gd name="T22" fmla="*/ 0 w 78"/>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53"/>
                  <a:gd name="T38" fmla="*/ 78 w 78"/>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53">
                    <a:moveTo>
                      <a:pt x="0" y="8"/>
                    </a:moveTo>
                    <a:lnTo>
                      <a:pt x="3" y="14"/>
                    </a:lnTo>
                    <a:lnTo>
                      <a:pt x="69" y="53"/>
                    </a:lnTo>
                    <a:lnTo>
                      <a:pt x="78" y="40"/>
                    </a:lnTo>
                    <a:lnTo>
                      <a:pt x="12" y="1"/>
                    </a:lnTo>
                    <a:lnTo>
                      <a:pt x="15" y="8"/>
                    </a:lnTo>
                    <a:lnTo>
                      <a:pt x="12" y="1"/>
                    </a:lnTo>
                    <a:lnTo>
                      <a:pt x="6" y="0"/>
                    </a:lnTo>
                    <a:lnTo>
                      <a:pt x="1" y="3"/>
                    </a:lnTo>
                    <a:lnTo>
                      <a:pt x="0" y="8"/>
                    </a:lnTo>
                    <a:lnTo>
                      <a:pt x="3" y="14"/>
                    </a:lnTo>
                    <a:lnTo>
                      <a:pt x="0" y="8"/>
                    </a:lnTo>
                    <a:close/>
                  </a:path>
                </a:pathLst>
              </a:custGeom>
              <a:solidFill>
                <a:srgbClr val="000000"/>
              </a:solidFill>
              <a:ln w="9525">
                <a:noFill/>
                <a:round/>
                <a:headEnd/>
                <a:tailEnd/>
              </a:ln>
            </p:spPr>
            <p:txBody>
              <a:bodyPr/>
              <a:lstStyle/>
              <a:p>
                <a:endParaRPr lang="en-US"/>
              </a:p>
            </p:txBody>
          </p:sp>
          <p:sp>
            <p:nvSpPr>
              <p:cNvPr id="27779" name="Freeform 92"/>
              <p:cNvSpPr>
                <a:spLocks/>
              </p:cNvSpPr>
              <p:nvPr/>
            </p:nvSpPr>
            <p:spPr bwMode="auto">
              <a:xfrm>
                <a:off x="2153" y="3445"/>
                <a:ext cx="76" cy="75"/>
              </a:xfrm>
              <a:custGeom>
                <a:avLst/>
                <a:gdLst>
                  <a:gd name="T0" fmla="*/ 0 w 152"/>
                  <a:gd name="T1" fmla="*/ 0 h 150"/>
                  <a:gd name="T2" fmla="*/ 0 w 152"/>
                  <a:gd name="T3" fmla="*/ 1 h 150"/>
                  <a:gd name="T4" fmla="*/ 1 w 152"/>
                  <a:gd name="T5" fmla="*/ 1 h 150"/>
                  <a:gd name="T6" fmla="*/ 1 w 152"/>
                  <a:gd name="T7" fmla="*/ 1 h 150"/>
                  <a:gd name="T8" fmla="*/ 1 w 152"/>
                  <a:gd name="T9" fmla="*/ 1 h 150"/>
                  <a:gd name="T10" fmla="*/ 1 w 152"/>
                  <a:gd name="T11" fmla="*/ 1 h 150"/>
                  <a:gd name="T12" fmla="*/ 1 w 152"/>
                  <a:gd name="T13" fmla="*/ 1 h 150"/>
                  <a:gd name="T14" fmla="*/ 1 w 152"/>
                  <a:gd name="T15" fmla="*/ 1 h 150"/>
                  <a:gd name="T16" fmla="*/ 1 w 152"/>
                  <a:gd name="T17" fmla="*/ 1 h 150"/>
                  <a:gd name="T18" fmla="*/ 1 w 152"/>
                  <a:gd name="T19" fmla="*/ 1 h 150"/>
                  <a:gd name="T20" fmla="*/ 1 w 152"/>
                  <a:gd name="T21" fmla="*/ 1 h 150"/>
                  <a:gd name="T22" fmla="*/ 1 w 152"/>
                  <a:gd name="T23" fmla="*/ 1 h 150"/>
                  <a:gd name="T24" fmla="*/ 1 w 152"/>
                  <a:gd name="T25" fmla="*/ 1 h 150"/>
                  <a:gd name="T26" fmla="*/ 1 w 152"/>
                  <a:gd name="T27" fmla="*/ 1 h 150"/>
                  <a:gd name="T28" fmla="*/ 1 w 152"/>
                  <a:gd name="T29" fmla="*/ 1 h 150"/>
                  <a:gd name="T30" fmla="*/ 1 w 152"/>
                  <a:gd name="T31" fmla="*/ 1 h 150"/>
                  <a:gd name="T32" fmla="*/ 1 w 152"/>
                  <a:gd name="T33" fmla="*/ 1 h 150"/>
                  <a:gd name="T34" fmla="*/ 1 w 152"/>
                  <a:gd name="T35" fmla="*/ 1 h 150"/>
                  <a:gd name="T36" fmla="*/ 1 w 152"/>
                  <a:gd name="T37" fmla="*/ 1 h 150"/>
                  <a:gd name="T38" fmla="*/ 1 w 152"/>
                  <a:gd name="T39" fmla="*/ 1 h 150"/>
                  <a:gd name="T40" fmla="*/ 1 w 152"/>
                  <a:gd name="T41" fmla="*/ 1 h 150"/>
                  <a:gd name="T42" fmla="*/ 1 w 152"/>
                  <a:gd name="T43" fmla="*/ 1 h 150"/>
                  <a:gd name="T44" fmla="*/ 1 w 152"/>
                  <a:gd name="T45" fmla="*/ 1 h 150"/>
                  <a:gd name="T46" fmla="*/ 1 w 152"/>
                  <a:gd name="T47" fmla="*/ 1 h 150"/>
                  <a:gd name="T48" fmla="*/ 1 w 152"/>
                  <a:gd name="T49" fmla="*/ 1 h 150"/>
                  <a:gd name="T50" fmla="*/ 1 w 152"/>
                  <a:gd name="T51" fmla="*/ 1 h 150"/>
                  <a:gd name="T52" fmla="*/ 1 w 152"/>
                  <a:gd name="T53" fmla="*/ 1 h 150"/>
                  <a:gd name="T54" fmla="*/ 1 w 152"/>
                  <a:gd name="T55" fmla="*/ 1 h 150"/>
                  <a:gd name="T56" fmla="*/ 1 w 152"/>
                  <a:gd name="T57" fmla="*/ 1 h 150"/>
                  <a:gd name="T58" fmla="*/ 1 w 152"/>
                  <a:gd name="T59" fmla="*/ 1 h 150"/>
                  <a:gd name="T60" fmla="*/ 1 w 152"/>
                  <a:gd name="T61" fmla="*/ 1 h 150"/>
                  <a:gd name="T62" fmla="*/ 1 w 152"/>
                  <a:gd name="T63" fmla="*/ 1 h 150"/>
                  <a:gd name="T64" fmla="*/ 1 w 152"/>
                  <a:gd name="T65" fmla="*/ 1 h 150"/>
                  <a:gd name="T66" fmla="*/ 1 w 152"/>
                  <a:gd name="T67" fmla="*/ 1 h 150"/>
                  <a:gd name="T68" fmla="*/ 0 w 152"/>
                  <a:gd name="T69" fmla="*/ 0 h 15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2"/>
                  <a:gd name="T106" fmla="*/ 0 h 150"/>
                  <a:gd name="T107" fmla="*/ 152 w 152"/>
                  <a:gd name="T108" fmla="*/ 150 h 15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2" h="150">
                    <a:moveTo>
                      <a:pt x="0" y="0"/>
                    </a:moveTo>
                    <a:lnTo>
                      <a:pt x="0" y="3"/>
                    </a:lnTo>
                    <a:lnTo>
                      <a:pt x="1" y="12"/>
                    </a:lnTo>
                    <a:lnTo>
                      <a:pt x="1" y="27"/>
                    </a:lnTo>
                    <a:lnTo>
                      <a:pt x="3" y="42"/>
                    </a:lnTo>
                    <a:lnTo>
                      <a:pt x="5" y="59"/>
                    </a:lnTo>
                    <a:lnTo>
                      <a:pt x="6" y="74"/>
                    </a:lnTo>
                    <a:lnTo>
                      <a:pt x="8" y="86"/>
                    </a:lnTo>
                    <a:lnTo>
                      <a:pt x="9" y="92"/>
                    </a:lnTo>
                    <a:lnTo>
                      <a:pt x="12" y="100"/>
                    </a:lnTo>
                    <a:lnTo>
                      <a:pt x="17" y="108"/>
                    </a:lnTo>
                    <a:lnTo>
                      <a:pt x="19" y="114"/>
                    </a:lnTo>
                    <a:lnTo>
                      <a:pt x="20" y="117"/>
                    </a:lnTo>
                    <a:lnTo>
                      <a:pt x="20" y="119"/>
                    </a:lnTo>
                    <a:lnTo>
                      <a:pt x="22" y="120"/>
                    </a:lnTo>
                    <a:lnTo>
                      <a:pt x="25" y="125"/>
                    </a:lnTo>
                    <a:lnTo>
                      <a:pt x="26" y="130"/>
                    </a:lnTo>
                    <a:lnTo>
                      <a:pt x="31" y="136"/>
                    </a:lnTo>
                    <a:lnTo>
                      <a:pt x="41" y="142"/>
                    </a:lnTo>
                    <a:lnTo>
                      <a:pt x="50" y="147"/>
                    </a:lnTo>
                    <a:lnTo>
                      <a:pt x="61" y="150"/>
                    </a:lnTo>
                    <a:lnTo>
                      <a:pt x="66" y="150"/>
                    </a:lnTo>
                    <a:lnTo>
                      <a:pt x="72" y="150"/>
                    </a:lnTo>
                    <a:lnTo>
                      <a:pt x="80" y="149"/>
                    </a:lnTo>
                    <a:lnTo>
                      <a:pt x="89" y="147"/>
                    </a:lnTo>
                    <a:lnTo>
                      <a:pt x="98" y="145"/>
                    </a:lnTo>
                    <a:lnTo>
                      <a:pt x="108" y="142"/>
                    </a:lnTo>
                    <a:lnTo>
                      <a:pt x="117" y="139"/>
                    </a:lnTo>
                    <a:lnTo>
                      <a:pt x="127" y="136"/>
                    </a:lnTo>
                    <a:lnTo>
                      <a:pt x="141" y="128"/>
                    </a:lnTo>
                    <a:lnTo>
                      <a:pt x="149" y="122"/>
                    </a:lnTo>
                    <a:lnTo>
                      <a:pt x="152" y="120"/>
                    </a:lnTo>
                    <a:lnTo>
                      <a:pt x="152" y="119"/>
                    </a:lnTo>
                    <a:lnTo>
                      <a:pt x="141" y="92"/>
                    </a:lnTo>
                    <a:lnTo>
                      <a:pt x="0" y="0"/>
                    </a:lnTo>
                    <a:close/>
                  </a:path>
                </a:pathLst>
              </a:custGeom>
              <a:solidFill>
                <a:srgbClr val="FFB27F"/>
              </a:solidFill>
              <a:ln w="9525">
                <a:noFill/>
                <a:round/>
                <a:headEnd/>
                <a:tailEnd/>
              </a:ln>
            </p:spPr>
            <p:txBody>
              <a:bodyPr/>
              <a:lstStyle/>
              <a:p>
                <a:endParaRPr lang="en-US"/>
              </a:p>
            </p:txBody>
          </p:sp>
          <p:sp>
            <p:nvSpPr>
              <p:cNvPr id="27780" name="Freeform 93"/>
              <p:cNvSpPr>
                <a:spLocks/>
              </p:cNvSpPr>
              <p:nvPr/>
            </p:nvSpPr>
            <p:spPr bwMode="auto">
              <a:xfrm>
                <a:off x="2147" y="3445"/>
                <a:ext cx="15" cy="48"/>
              </a:xfrm>
              <a:custGeom>
                <a:avLst/>
                <a:gdLst>
                  <a:gd name="T0" fmla="*/ 1 w 30"/>
                  <a:gd name="T1" fmla="*/ 0 h 97"/>
                  <a:gd name="T2" fmla="*/ 1 w 30"/>
                  <a:gd name="T3" fmla="*/ 0 h 97"/>
                  <a:gd name="T4" fmla="*/ 1 w 30"/>
                  <a:gd name="T5" fmla="*/ 0 h 97"/>
                  <a:gd name="T6" fmla="*/ 1 w 30"/>
                  <a:gd name="T7" fmla="*/ 0 h 97"/>
                  <a:gd name="T8" fmla="*/ 1 w 30"/>
                  <a:gd name="T9" fmla="*/ 0 h 97"/>
                  <a:gd name="T10" fmla="*/ 1 w 30"/>
                  <a:gd name="T11" fmla="*/ 0 h 97"/>
                  <a:gd name="T12" fmla="*/ 1 w 30"/>
                  <a:gd name="T13" fmla="*/ 0 h 97"/>
                  <a:gd name="T14" fmla="*/ 1 w 30"/>
                  <a:gd name="T15" fmla="*/ 0 h 97"/>
                  <a:gd name="T16" fmla="*/ 1 w 30"/>
                  <a:gd name="T17" fmla="*/ 0 h 97"/>
                  <a:gd name="T18" fmla="*/ 1 w 30"/>
                  <a:gd name="T19" fmla="*/ 0 h 97"/>
                  <a:gd name="T20" fmla="*/ 0 w 30"/>
                  <a:gd name="T21" fmla="*/ 0 h 97"/>
                  <a:gd name="T22" fmla="*/ 0 w 30"/>
                  <a:gd name="T23" fmla="*/ 0 h 97"/>
                  <a:gd name="T24" fmla="*/ 1 w 30"/>
                  <a:gd name="T25" fmla="*/ 0 h 97"/>
                  <a:gd name="T26" fmla="*/ 1 w 30"/>
                  <a:gd name="T27" fmla="*/ 0 h 97"/>
                  <a:gd name="T28" fmla="*/ 1 w 30"/>
                  <a:gd name="T29" fmla="*/ 0 h 97"/>
                  <a:gd name="T30" fmla="*/ 1 w 30"/>
                  <a:gd name="T31" fmla="*/ 0 h 97"/>
                  <a:gd name="T32" fmla="*/ 1 w 30"/>
                  <a:gd name="T33" fmla="*/ 0 h 97"/>
                  <a:gd name="T34" fmla="*/ 1 w 30"/>
                  <a:gd name="T35" fmla="*/ 0 h 97"/>
                  <a:gd name="T36" fmla="*/ 1 w 30"/>
                  <a:gd name="T37" fmla="*/ 0 h 97"/>
                  <a:gd name="T38" fmla="*/ 1 w 30"/>
                  <a:gd name="T39" fmla="*/ 0 h 97"/>
                  <a:gd name="T40" fmla="*/ 1 w 30"/>
                  <a:gd name="T41" fmla="*/ 0 h 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97"/>
                  <a:gd name="T65" fmla="*/ 30 w 30"/>
                  <a:gd name="T66" fmla="*/ 97 h 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97">
                    <a:moveTo>
                      <a:pt x="30" y="88"/>
                    </a:moveTo>
                    <a:lnTo>
                      <a:pt x="30" y="88"/>
                    </a:lnTo>
                    <a:lnTo>
                      <a:pt x="30" y="84"/>
                    </a:lnTo>
                    <a:lnTo>
                      <a:pt x="28" y="72"/>
                    </a:lnTo>
                    <a:lnTo>
                      <a:pt x="26" y="58"/>
                    </a:lnTo>
                    <a:lnTo>
                      <a:pt x="25" y="41"/>
                    </a:lnTo>
                    <a:lnTo>
                      <a:pt x="23" y="27"/>
                    </a:lnTo>
                    <a:lnTo>
                      <a:pt x="23" y="12"/>
                    </a:lnTo>
                    <a:lnTo>
                      <a:pt x="22" y="2"/>
                    </a:lnTo>
                    <a:lnTo>
                      <a:pt x="22" y="0"/>
                    </a:lnTo>
                    <a:lnTo>
                      <a:pt x="0" y="0"/>
                    </a:lnTo>
                    <a:lnTo>
                      <a:pt x="0" y="5"/>
                    </a:lnTo>
                    <a:lnTo>
                      <a:pt x="1" y="12"/>
                    </a:lnTo>
                    <a:lnTo>
                      <a:pt x="1" y="27"/>
                    </a:lnTo>
                    <a:lnTo>
                      <a:pt x="3" y="44"/>
                    </a:lnTo>
                    <a:lnTo>
                      <a:pt x="5" y="61"/>
                    </a:lnTo>
                    <a:lnTo>
                      <a:pt x="6" y="75"/>
                    </a:lnTo>
                    <a:lnTo>
                      <a:pt x="8" y="88"/>
                    </a:lnTo>
                    <a:lnTo>
                      <a:pt x="11" y="97"/>
                    </a:lnTo>
                    <a:lnTo>
                      <a:pt x="30" y="88"/>
                    </a:lnTo>
                    <a:close/>
                  </a:path>
                </a:pathLst>
              </a:custGeom>
              <a:solidFill>
                <a:srgbClr val="000000"/>
              </a:solidFill>
              <a:ln w="9525">
                <a:noFill/>
                <a:round/>
                <a:headEnd/>
                <a:tailEnd/>
              </a:ln>
            </p:spPr>
            <p:txBody>
              <a:bodyPr/>
              <a:lstStyle/>
              <a:p>
                <a:endParaRPr lang="en-US"/>
              </a:p>
            </p:txBody>
          </p:sp>
          <p:sp>
            <p:nvSpPr>
              <p:cNvPr id="27781" name="Freeform 94"/>
              <p:cNvSpPr>
                <a:spLocks/>
              </p:cNvSpPr>
              <p:nvPr/>
            </p:nvSpPr>
            <p:spPr bwMode="auto">
              <a:xfrm>
                <a:off x="2153" y="3489"/>
                <a:ext cx="16" cy="20"/>
              </a:xfrm>
              <a:custGeom>
                <a:avLst/>
                <a:gdLst>
                  <a:gd name="T0" fmla="*/ 1 w 31"/>
                  <a:gd name="T1" fmla="*/ 1 h 40"/>
                  <a:gd name="T2" fmla="*/ 1 w 31"/>
                  <a:gd name="T3" fmla="*/ 1 h 40"/>
                  <a:gd name="T4" fmla="*/ 1 w 31"/>
                  <a:gd name="T5" fmla="*/ 1 h 40"/>
                  <a:gd name="T6" fmla="*/ 1 w 31"/>
                  <a:gd name="T7" fmla="*/ 1 h 40"/>
                  <a:gd name="T8" fmla="*/ 1 w 31"/>
                  <a:gd name="T9" fmla="*/ 1 h 40"/>
                  <a:gd name="T10" fmla="*/ 1 w 31"/>
                  <a:gd name="T11" fmla="*/ 0 h 40"/>
                  <a:gd name="T12" fmla="*/ 0 w 31"/>
                  <a:gd name="T13" fmla="*/ 1 h 40"/>
                  <a:gd name="T14" fmla="*/ 1 w 31"/>
                  <a:gd name="T15" fmla="*/ 1 h 40"/>
                  <a:gd name="T16" fmla="*/ 1 w 31"/>
                  <a:gd name="T17" fmla="*/ 1 h 40"/>
                  <a:gd name="T18" fmla="*/ 1 w 31"/>
                  <a:gd name="T19" fmla="*/ 1 h 40"/>
                  <a:gd name="T20" fmla="*/ 1 w 31"/>
                  <a:gd name="T21" fmla="*/ 1 h 40"/>
                  <a:gd name="T22" fmla="*/ 1 w 31"/>
                  <a:gd name="T23" fmla="*/ 1 h 40"/>
                  <a:gd name="T24" fmla="*/ 1 w 31"/>
                  <a:gd name="T25" fmla="*/ 1 h 40"/>
                  <a:gd name="T26" fmla="*/ 1 w 31"/>
                  <a:gd name="T27" fmla="*/ 1 h 40"/>
                  <a:gd name="T28" fmla="*/ 1 w 31"/>
                  <a:gd name="T29" fmla="*/ 1 h 40"/>
                  <a:gd name="T30" fmla="*/ 1 w 31"/>
                  <a:gd name="T31" fmla="*/ 1 h 40"/>
                  <a:gd name="T32" fmla="*/ 1 w 31"/>
                  <a:gd name="T33" fmla="*/ 1 h 40"/>
                  <a:gd name="T34" fmla="*/ 1 w 31"/>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40"/>
                  <a:gd name="T56" fmla="*/ 31 w 31"/>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40">
                    <a:moveTo>
                      <a:pt x="30" y="23"/>
                    </a:moveTo>
                    <a:lnTo>
                      <a:pt x="30" y="25"/>
                    </a:lnTo>
                    <a:lnTo>
                      <a:pt x="30" y="23"/>
                    </a:lnTo>
                    <a:lnTo>
                      <a:pt x="26" y="15"/>
                    </a:lnTo>
                    <a:lnTo>
                      <a:pt x="22" y="7"/>
                    </a:lnTo>
                    <a:lnTo>
                      <a:pt x="19" y="0"/>
                    </a:lnTo>
                    <a:lnTo>
                      <a:pt x="0" y="9"/>
                    </a:lnTo>
                    <a:lnTo>
                      <a:pt x="3" y="17"/>
                    </a:lnTo>
                    <a:lnTo>
                      <a:pt x="8" y="25"/>
                    </a:lnTo>
                    <a:lnTo>
                      <a:pt x="8" y="29"/>
                    </a:lnTo>
                    <a:lnTo>
                      <a:pt x="11" y="34"/>
                    </a:lnTo>
                    <a:lnTo>
                      <a:pt x="11" y="36"/>
                    </a:lnTo>
                    <a:lnTo>
                      <a:pt x="9" y="34"/>
                    </a:lnTo>
                    <a:lnTo>
                      <a:pt x="15" y="40"/>
                    </a:lnTo>
                    <a:lnTo>
                      <a:pt x="25" y="40"/>
                    </a:lnTo>
                    <a:lnTo>
                      <a:pt x="31" y="34"/>
                    </a:lnTo>
                    <a:lnTo>
                      <a:pt x="31" y="25"/>
                    </a:lnTo>
                    <a:lnTo>
                      <a:pt x="30" y="23"/>
                    </a:lnTo>
                    <a:close/>
                  </a:path>
                </a:pathLst>
              </a:custGeom>
              <a:solidFill>
                <a:srgbClr val="000000"/>
              </a:solidFill>
              <a:ln w="9525">
                <a:noFill/>
                <a:round/>
                <a:headEnd/>
                <a:tailEnd/>
              </a:ln>
            </p:spPr>
            <p:txBody>
              <a:bodyPr/>
              <a:lstStyle/>
              <a:p>
                <a:endParaRPr lang="en-US"/>
              </a:p>
            </p:txBody>
          </p:sp>
          <p:sp>
            <p:nvSpPr>
              <p:cNvPr id="27782" name="Freeform 95"/>
              <p:cNvSpPr>
                <a:spLocks/>
              </p:cNvSpPr>
              <p:nvPr/>
            </p:nvSpPr>
            <p:spPr bwMode="auto">
              <a:xfrm>
                <a:off x="2158" y="3501"/>
                <a:ext cx="13" cy="11"/>
              </a:xfrm>
              <a:custGeom>
                <a:avLst/>
                <a:gdLst>
                  <a:gd name="T0" fmla="*/ 1 w 25"/>
                  <a:gd name="T1" fmla="*/ 0 h 24"/>
                  <a:gd name="T2" fmla="*/ 1 w 25"/>
                  <a:gd name="T3" fmla="*/ 0 h 24"/>
                  <a:gd name="T4" fmla="*/ 1 w 25"/>
                  <a:gd name="T5" fmla="*/ 0 h 24"/>
                  <a:gd name="T6" fmla="*/ 1 w 25"/>
                  <a:gd name="T7" fmla="*/ 0 h 24"/>
                  <a:gd name="T8" fmla="*/ 1 w 25"/>
                  <a:gd name="T9" fmla="*/ 0 h 24"/>
                  <a:gd name="T10" fmla="*/ 1 w 25"/>
                  <a:gd name="T11" fmla="*/ 0 h 24"/>
                  <a:gd name="T12" fmla="*/ 0 w 25"/>
                  <a:gd name="T13" fmla="*/ 0 h 24"/>
                  <a:gd name="T14" fmla="*/ 0 w 25"/>
                  <a:gd name="T15" fmla="*/ 0 h 24"/>
                  <a:gd name="T16" fmla="*/ 1 w 25"/>
                  <a:gd name="T17" fmla="*/ 0 h 24"/>
                  <a:gd name="T18" fmla="*/ 1 w 25"/>
                  <a:gd name="T19" fmla="*/ 0 h 24"/>
                  <a:gd name="T20" fmla="*/ 1 w 25"/>
                  <a:gd name="T21" fmla="*/ 0 h 24"/>
                  <a:gd name="T22" fmla="*/ 1 w 25"/>
                  <a:gd name="T23" fmla="*/ 0 h 24"/>
                  <a:gd name="T24" fmla="*/ 1 w 25"/>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4"/>
                  <a:gd name="T41" fmla="*/ 25 w 2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4">
                    <a:moveTo>
                      <a:pt x="25" y="14"/>
                    </a:moveTo>
                    <a:lnTo>
                      <a:pt x="25" y="14"/>
                    </a:lnTo>
                    <a:lnTo>
                      <a:pt x="23" y="9"/>
                    </a:lnTo>
                    <a:lnTo>
                      <a:pt x="20" y="3"/>
                    </a:lnTo>
                    <a:lnTo>
                      <a:pt x="19" y="3"/>
                    </a:lnTo>
                    <a:lnTo>
                      <a:pt x="19" y="0"/>
                    </a:lnTo>
                    <a:lnTo>
                      <a:pt x="0" y="13"/>
                    </a:lnTo>
                    <a:lnTo>
                      <a:pt x="1" y="16"/>
                    </a:lnTo>
                    <a:lnTo>
                      <a:pt x="4" y="19"/>
                    </a:lnTo>
                    <a:lnTo>
                      <a:pt x="6" y="24"/>
                    </a:lnTo>
                    <a:lnTo>
                      <a:pt x="25" y="14"/>
                    </a:lnTo>
                    <a:close/>
                  </a:path>
                </a:pathLst>
              </a:custGeom>
              <a:solidFill>
                <a:srgbClr val="000000"/>
              </a:solidFill>
              <a:ln w="9525">
                <a:noFill/>
                <a:round/>
                <a:headEnd/>
                <a:tailEnd/>
              </a:ln>
            </p:spPr>
            <p:txBody>
              <a:bodyPr/>
              <a:lstStyle/>
              <a:p>
                <a:endParaRPr lang="en-US"/>
              </a:p>
            </p:txBody>
          </p:sp>
          <p:sp>
            <p:nvSpPr>
              <p:cNvPr id="27783" name="Freeform 96"/>
              <p:cNvSpPr>
                <a:spLocks/>
              </p:cNvSpPr>
              <p:nvPr/>
            </p:nvSpPr>
            <p:spPr bwMode="auto">
              <a:xfrm>
                <a:off x="2162" y="3508"/>
                <a:ext cx="22" cy="18"/>
              </a:xfrm>
              <a:custGeom>
                <a:avLst/>
                <a:gdLst>
                  <a:gd name="T0" fmla="*/ 0 w 45"/>
                  <a:gd name="T1" fmla="*/ 1 h 36"/>
                  <a:gd name="T2" fmla="*/ 0 w 45"/>
                  <a:gd name="T3" fmla="*/ 1 h 36"/>
                  <a:gd name="T4" fmla="*/ 0 w 45"/>
                  <a:gd name="T5" fmla="*/ 1 h 36"/>
                  <a:gd name="T6" fmla="*/ 0 w 45"/>
                  <a:gd name="T7" fmla="*/ 1 h 36"/>
                  <a:gd name="T8" fmla="*/ 0 w 45"/>
                  <a:gd name="T9" fmla="*/ 1 h 36"/>
                  <a:gd name="T10" fmla="*/ 0 w 45"/>
                  <a:gd name="T11" fmla="*/ 0 h 36"/>
                  <a:gd name="T12" fmla="*/ 0 w 45"/>
                  <a:gd name="T13" fmla="*/ 1 h 36"/>
                  <a:gd name="T14" fmla="*/ 0 w 45"/>
                  <a:gd name="T15" fmla="*/ 1 h 36"/>
                  <a:gd name="T16" fmla="*/ 0 w 45"/>
                  <a:gd name="T17" fmla="*/ 1 h 36"/>
                  <a:gd name="T18" fmla="*/ 0 w 45"/>
                  <a:gd name="T19" fmla="*/ 1 h 36"/>
                  <a:gd name="T20" fmla="*/ 0 w 45"/>
                  <a:gd name="T21" fmla="*/ 1 h 36"/>
                  <a:gd name="T22" fmla="*/ 0 w 45"/>
                  <a:gd name="T23" fmla="*/ 1 h 36"/>
                  <a:gd name="T24" fmla="*/ 0 w 45"/>
                  <a:gd name="T25" fmla="*/ 1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36"/>
                  <a:gd name="T41" fmla="*/ 45 w 45"/>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36">
                    <a:moveTo>
                      <a:pt x="45" y="14"/>
                    </a:moveTo>
                    <a:lnTo>
                      <a:pt x="45" y="14"/>
                    </a:lnTo>
                    <a:lnTo>
                      <a:pt x="36" y="11"/>
                    </a:lnTo>
                    <a:lnTo>
                      <a:pt x="30" y="8"/>
                    </a:lnTo>
                    <a:lnTo>
                      <a:pt x="22" y="3"/>
                    </a:lnTo>
                    <a:lnTo>
                      <a:pt x="19" y="0"/>
                    </a:lnTo>
                    <a:lnTo>
                      <a:pt x="0" y="10"/>
                    </a:lnTo>
                    <a:lnTo>
                      <a:pt x="6" y="19"/>
                    </a:lnTo>
                    <a:lnTo>
                      <a:pt x="17" y="27"/>
                    </a:lnTo>
                    <a:lnTo>
                      <a:pt x="30" y="33"/>
                    </a:lnTo>
                    <a:lnTo>
                      <a:pt x="42" y="36"/>
                    </a:lnTo>
                    <a:lnTo>
                      <a:pt x="45" y="14"/>
                    </a:lnTo>
                    <a:close/>
                  </a:path>
                </a:pathLst>
              </a:custGeom>
              <a:solidFill>
                <a:srgbClr val="000000"/>
              </a:solidFill>
              <a:ln w="9525">
                <a:noFill/>
                <a:round/>
                <a:headEnd/>
                <a:tailEnd/>
              </a:ln>
            </p:spPr>
            <p:txBody>
              <a:bodyPr/>
              <a:lstStyle/>
              <a:p>
                <a:endParaRPr lang="en-US"/>
              </a:p>
            </p:txBody>
          </p:sp>
          <p:sp>
            <p:nvSpPr>
              <p:cNvPr id="27784" name="Freeform 97"/>
              <p:cNvSpPr>
                <a:spLocks/>
              </p:cNvSpPr>
              <p:nvPr/>
            </p:nvSpPr>
            <p:spPr bwMode="auto">
              <a:xfrm>
                <a:off x="2183" y="3508"/>
                <a:ext cx="36" cy="18"/>
              </a:xfrm>
              <a:custGeom>
                <a:avLst/>
                <a:gdLst>
                  <a:gd name="T0" fmla="*/ 1 w 72"/>
                  <a:gd name="T1" fmla="*/ 0 h 34"/>
                  <a:gd name="T2" fmla="*/ 1 w 72"/>
                  <a:gd name="T3" fmla="*/ 0 h 34"/>
                  <a:gd name="T4" fmla="*/ 1 w 72"/>
                  <a:gd name="T5" fmla="*/ 1 h 34"/>
                  <a:gd name="T6" fmla="*/ 1 w 72"/>
                  <a:gd name="T7" fmla="*/ 1 h 34"/>
                  <a:gd name="T8" fmla="*/ 1 w 72"/>
                  <a:gd name="T9" fmla="*/ 1 h 34"/>
                  <a:gd name="T10" fmla="*/ 1 w 72"/>
                  <a:gd name="T11" fmla="*/ 1 h 34"/>
                  <a:gd name="T12" fmla="*/ 1 w 72"/>
                  <a:gd name="T13" fmla="*/ 1 h 34"/>
                  <a:gd name="T14" fmla="*/ 1 w 72"/>
                  <a:gd name="T15" fmla="*/ 1 h 34"/>
                  <a:gd name="T16" fmla="*/ 1 w 72"/>
                  <a:gd name="T17" fmla="*/ 1 h 34"/>
                  <a:gd name="T18" fmla="*/ 1 w 72"/>
                  <a:gd name="T19" fmla="*/ 1 h 34"/>
                  <a:gd name="T20" fmla="*/ 0 w 72"/>
                  <a:gd name="T21" fmla="*/ 1 h 34"/>
                  <a:gd name="T22" fmla="*/ 1 w 72"/>
                  <a:gd name="T23" fmla="*/ 1 h 34"/>
                  <a:gd name="T24" fmla="*/ 1 w 72"/>
                  <a:gd name="T25" fmla="*/ 1 h 34"/>
                  <a:gd name="T26" fmla="*/ 1 w 72"/>
                  <a:gd name="T27" fmla="*/ 1 h 34"/>
                  <a:gd name="T28" fmla="*/ 1 w 72"/>
                  <a:gd name="T29" fmla="*/ 1 h 34"/>
                  <a:gd name="T30" fmla="*/ 1 w 72"/>
                  <a:gd name="T31" fmla="*/ 1 h 34"/>
                  <a:gd name="T32" fmla="*/ 1 w 72"/>
                  <a:gd name="T33" fmla="*/ 1 h 34"/>
                  <a:gd name="T34" fmla="*/ 1 w 72"/>
                  <a:gd name="T35" fmla="*/ 1 h 34"/>
                  <a:gd name="T36" fmla="*/ 1 w 72"/>
                  <a:gd name="T37" fmla="*/ 1 h 34"/>
                  <a:gd name="T38" fmla="*/ 1 w 72"/>
                  <a:gd name="T39" fmla="*/ 1 h 34"/>
                  <a:gd name="T40" fmla="*/ 1 w 72"/>
                  <a:gd name="T41" fmla="*/ 0 h 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4"/>
                  <a:gd name="T65" fmla="*/ 72 w 72"/>
                  <a:gd name="T66" fmla="*/ 34 h 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4">
                    <a:moveTo>
                      <a:pt x="63" y="0"/>
                    </a:moveTo>
                    <a:lnTo>
                      <a:pt x="63" y="0"/>
                    </a:lnTo>
                    <a:lnTo>
                      <a:pt x="55" y="1"/>
                    </a:lnTo>
                    <a:lnTo>
                      <a:pt x="46" y="4"/>
                    </a:lnTo>
                    <a:lnTo>
                      <a:pt x="36" y="8"/>
                    </a:lnTo>
                    <a:lnTo>
                      <a:pt x="28" y="9"/>
                    </a:lnTo>
                    <a:lnTo>
                      <a:pt x="19" y="11"/>
                    </a:lnTo>
                    <a:lnTo>
                      <a:pt x="11" y="12"/>
                    </a:lnTo>
                    <a:lnTo>
                      <a:pt x="7" y="12"/>
                    </a:lnTo>
                    <a:lnTo>
                      <a:pt x="3" y="12"/>
                    </a:lnTo>
                    <a:lnTo>
                      <a:pt x="0" y="34"/>
                    </a:lnTo>
                    <a:lnTo>
                      <a:pt x="7" y="34"/>
                    </a:lnTo>
                    <a:lnTo>
                      <a:pt x="14" y="34"/>
                    </a:lnTo>
                    <a:lnTo>
                      <a:pt x="22" y="33"/>
                    </a:lnTo>
                    <a:lnTo>
                      <a:pt x="32" y="31"/>
                    </a:lnTo>
                    <a:lnTo>
                      <a:pt x="43" y="29"/>
                    </a:lnTo>
                    <a:lnTo>
                      <a:pt x="52" y="26"/>
                    </a:lnTo>
                    <a:lnTo>
                      <a:pt x="61" y="23"/>
                    </a:lnTo>
                    <a:lnTo>
                      <a:pt x="72" y="18"/>
                    </a:lnTo>
                    <a:lnTo>
                      <a:pt x="63" y="0"/>
                    </a:lnTo>
                    <a:close/>
                  </a:path>
                </a:pathLst>
              </a:custGeom>
              <a:solidFill>
                <a:srgbClr val="000000"/>
              </a:solidFill>
              <a:ln w="9525">
                <a:noFill/>
                <a:round/>
                <a:headEnd/>
                <a:tailEnd/>
              </a:ln>
            </p:spPr>
            <p:txBody>
              <a:bodyPr/>
              <a:lstStyle/>
              <a:p>
                <a:endParaRPr lang="en-US"/>
              </a:p>
            </p:txBody>
          </p:sp>
          <p:sp>
            <p:nvSpPr>
              <p:cNvPr id="27785" name="Freeform 98"/>
              <p:cNvSpPr>
                <a:spLocks/>
              </p:cNvSpPr>
              <p:nvPr/>
            </p:nvSpPr>
            <p:spPr bwMode="auto">
              <a:xfrm>
                <a:off x="2214" y="3499"/>
                <a:ext cx="20" cy="19"/>
              </a:xfrm>
              <a:custGeom>
                <a:avLst/>
                <a:gdLst>
                  <a:gd name="T0" fmla="*/ 0 w 41"/>
                  <a:gd name="T1" fmla="*/ 1 h 37"/>
                  <a:gd name="T2" fmla="*/ 0 w 41"/>
                  <a:gd name="T3" fmla="*/ 1 h 37"/>
                  <a:gd name="T4" fmla="*/ 0 w 41"/>
                  <a:gd name="T5" fmla="*/ 1 h 37"/>
                  <a:gd name="T6" fmla="*/ 0 w 41"/>
                  <a:gd name="T7" fmla="*/ 1 h 37"/>
                  <a:gd name="T8" fmla="*/ 0 w 41"/>
                  <a:gd name="T9" fmla="*/ 1 h 37"/>
                  <a:gd name="T10" fmla="*/ 0 w 41"/>
                  <a:gd name="T11" fmla="*/ 1 h 37"/>
                  <a:gd name="T12" fmla="*/ 0 w 41"/>
                  <a:gd name="T13" fmla="*/ 1 h 37"/>
                  <a:gd name="T14" fmla="*/ 0 w 41"/>
                  <a:gd name="T15" fmla="*/ 1 h 37"/>
                  <a:gd name="T16" fmla="*/ 0 w 41"/>
                  <a:gd name="T17" fmla="*/ 1 h 37"/>
                  <a:gd name="T18" fmla="*/ 0 w 41"/>
                  <a:gd name="T19" fmla="*/ 1 h 37"/>
                  <a:gd name="T20" fmla="*/ 0 w 41"/>
                  <a:gd name="T21" fmla="*/ 1 h 37"/>
                  <a:gd name="T22" fmla="*/ 0 w 41"/>
                  <a:gd name="T23" fmla="*/ 1 h 37"/>
                  <a:gd name="T24" fmla="*/ 0 w 41"/>
                  <a:gd name="T25" fmla="*/ 1 h 37"/>
                  <a:gd name="T26" fmla="*/ 0 w 41"/>
                  <a:gd name="T27" fmla="*/ 1 h 37"/>
                  <a:gd name="T28" fmla="*/ 0 w 41"/>
                  <a:gd name="T29" fmla="*/ 0 h 37"/>
                  <a:gd name="T30" fmla="*/ 0 w 41"/>
                  <a:gd name="T31" fmla="*/ 1 h 37"/>
                  <a:gd name="T32" fmla="*/ 0 w 41"/>
                  <a:gd name="T33" fmla="*/ 1 h 37"/>
                  <a:gd name="T34" fmla="*/ 0 w 41"/>
                  <a:gd name="T35" fmla="*/ 1 h 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37"/>
                  <a:gd name="T56" fmla="*/ 41 w 41"/>
                  <a:gd name="T57" fmla="*/ 37 h 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37">
                    <a:moveTo>
                      <a:pt x="20" y="16"/>
                    </a:moveTo>
                    <a:lnTo>
                      <a:pt x="19" y="8"/>
                    </a:lnTo>
                    <a:lnTo>
                      <a:pt x="22" y="5"/>
                    </a:lnTo>
                    <a:lnTo>
                      <a:pt x="20" y="5"/>
                    </a:lnTo>
                    <a:lnTo>
                      <a:pt x="12" y="11"/>
                    </a:lnTo>
                    <a:lnTo>
                      <a:pt x="0" y="19"/>
                    </a:lnTo>
                    <a:lnTo>
                      <a:pt x="9" y="37"/>
                    </a:lnTo>
                    <a:lnTo>
                      <a:pt x="25" y="30"/>
                    </a:lnTo>
                    <a:lnTo>
                      <a:pt x="33" y="23"/>
                    </a:lnTo>
                    <a:lnTo>
                      <a:pt x="38" y="20"/>
                    </a:lnTo>
                    <a:lnTo>
                      <a:pt x="41" y="14"/>
                    </a:lnTo>
                    <a:lnTo>
                      <a:pt x="39" y="6"/>
                    </a:lnTo>
                    <a:lnTo>
                      <a:pt x="41" y="14"/>
                    </a:lnTo>
                    <a:lnTo>
                      <a:pt x="39" y="5"/>
                    </a:lnTo>
                    <a:lnTo>
                      <a:pt x="33" y="0"/>
                    </a:lnTo>
                    <a:lnTo>
                      <a:pt x="23" y="1"/>
                    </a:lnTo>
                    <a:lnTo>
                      <a:pt x="19" y="8"/>
                    </a:lnTo>
                    <a:lnTo>
                      <a:pt x="20" y="16"/>
                    </a:lnTo>
                    <a:close/>
                  </a:path>
                </a:pathLst>
              </a:custGeom>
              <a:solidFill>
                <a:srgbClr val="000000"/>
              </a:solidFill>
              <a:ln w="9525">
                <a:noFill/>
                <a:round/>
                <a:headEnd/>
                <a:tailEnd/>
              </a:ln>
            </p:spPr>
            <p:txBody>
              <a:bodyPr/>
              <a:lstStyle/>
              <a:p>
                <a:endParaRPr lang="en-US"/>
              </a:p>
            </p:txBody>
          </p:sp>
          <p:sp>
            <p:nvSpPr>
              <p:cNvPr id="27786" name="Freeform 99"/>
              <p:cNvSpPr>
                <a:spLocks/>
              </p:cNvSpPr>
              <p:nvPr/>
            </p:nvSpPr>
            <p:spPr bwMode="auto">
              <a:xfrm>
                <a:off x="2219" y="3486"/>
                <a:ext cx="15" cy="21"/>
              </a:xfrm>
              <a:custGeom>
                <a:avLst/>
                <a:gdLst>
                  <a:gd name="T0" fmla="*/ 1 w 30"/>
                  <a:gd name="T1" fmla="*/ 0 h 43"/>
                  <a:gd name="T2" fmla="*/ 0 w 30"/>
                  <a:gd name="T3" fmla="*/ 0 h 43"/>
                  <a:gd name="T4" fmla="*/ 1 w 30"/>
                  <a:gd name="T5" fmla="*/ 0 h 43"/>
                  <a:gd name="T6" fmla="*/ 1 w 30"/>
                  <a:gd name="T7" fmla="*/ 0 h 43"/>
                  <a:gd name="T8" fmla="*/ 1 w 30"/>
                  <a:gd name="T9" fmla="*/ 0 h 43"/>
                  <a:gd name="T10" fmla="*/ 1 w 30"/>
                  <a:gd name="T11" fmla="*/ 0 h 43"/>
                  <a:gd name="T12" fmla="*/ 1 w 30"/>
                  <a:gd name="T13" fmla="*/ 0 h 43"/>
                  <a:gd name="T14" fmla="*/ 1 w 30"/>
                  <a:gd name="T15" fmla="*/ 0 h 43"/>
                  <a:gd name="T16" fmla="*/ 1 w 30"/>
                  <a:gd name="T17" fmla="*/ 0 h 43"/>
                  <a:gd name="T18" fmla="*/ 0 w 30"/>
                  <a:gd name="T19" fmla="*/ 0 h 43"/>
                  <a:gd name="T20" fmla="*/ 0 w 30"/>
                  <a:gd name="T21" fmla="*/ 0 h 43"/>
                  <a:gd name="T22" fmla="*/ 1 w 30"/>
                  <a:gd name="T23" fmla="*/ 0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43"/>
                  <a:gd name="T38" fmla="*/ 30 w 30"/>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43">
                    <a:moveTo>
                      <a:pt x="3" y="21"/>
                    </a:moveTo>
                    <a:lnTo>
                      <a:pt x="0" y="16"/>
                    </a:lnTo>
                    <a:lnTo>
                      <a:pt x="11" y="43"/>
                    </a:lnTo>
                    <a:lnTo>
                      <a:pt x="30" y="33"/>
                    </a:lnTo>
                    <a:lnTo>
                      <a:pt x="19" y="7"/>
                    </a:lnTo>
                    <a:lnTo>
                      <a:pt x="16" y="2"/>
                    </a:lnTo>
                    <a:lnTo>
                      <a:pt x="19" y="7"/>
                    </a:lnTo>
                    <a:lnTo>
                      <a:pt x="13" y="0"/>
                    </a:lnTo>
                    <a:lnTo>
                      <a:pt x="5" y="2"/>
                    </a:lnTo>
                    <a:lnTo>
                      <a:pt x="0" y="8"/>
                    </a:lnTo>
                    <a:lnTo>
                      <a:pt x="0" y="16"/>
                    </a:lnTo>
                    <a:lnTo>
                      <a:pt x="3" y="21"/>
                    </a:lnTo>
                    <a:close/>
                  </a:path>
                </a:pathLst>
              </a:custGeom>
              <a:solidFill>
                <a:srgbClr val="000000"/>
              </a:solidFill>
              <a:ln w="9525">
                <a:noFill/>
                <a:round/>
                <a:headEnd/>
                <a:tailEnd/>
              </a:ln>
            </p:spPr>
            <p:txBody>
              <a:bodyPr/>
              <a:lstStyle/>
              <a:p>
                <a:endParaRPr lang="en-US"/>
              </a:p>
            </p:txBody>
          </p:sp>
          <p:sp>
            <p:nvSpPr>
              <p:cNvPr id="27787" name="Freeform 100"/>
              <p:cNvSpPr>
                <a:spLocks/>
              </p:cNvSpPr>
              <p:nvPr/>
            </p:nvSpPr>
            <p:spPr bwMode="auto">
              <a:xfrm>
                <a:off x="2147" y="3440"/>
                <a:ext cx="79" cy="56"/>
              </a:xfrm>
              <a:custGeom>
                <a:avLst/>
                <a:gdLst>
                  <a:gd name="T0" fmla="*/ 1 w 158"/>
                  <a:gd name="T1" fmla="*/ 0 h 113"/>
                  <a:gd name="T2" fmla="*/ 1 w 158"/>
                  <a:gd name="T3" fmla="*/ 0 h 113"/>
                  <a:gd name="T4" fmla="*/ 1 w 158"/>
                  <a:gd name="T5" fmla="*/ 0 h 113"/>
                  <a:gd name="T6" fmla="*/ 1 w 158"/>
                  <a:gd name="T7" fmla="*/ 0 h 113"/>
                  <a:gd name="T8" fmla="*/ 1 w 158"/>
                  <a:gd name="T9" fmla="*/ 0 h 113"/>
                  <a:gd name="T10" fmla="*/ 0 w 158"/>
                  <a:gd name="T11" fmla="*/ 0 h 113"/>
                  <a:gd name="T12" fmla="*/ 1 w 158"/>
                  <a:gd name="T13" fmla="*/ 0 h 113"/>
                  <a:gd name="T14" fmla="*/ 1 w 158"/>
                  <a:gd name="T15" fmla="*/ 0 h 113"/>
                  <a:gd name="T16" fmla="*/ 1 w 158"/>
                  <a:gd name="T17" fmla="*/ 0 h 113"/>
                  <a:gd name="T18" fmla="*/ 0 w 158"/>
                  <a:gd name="T19" fmla="*/ 0 h 113"/>
                  <a:gd name="T20" fmla="*/ 1 w 158"/>
                  <a:gd name="T21" fmla="*/ 0 h 113"/>
                  <a:gd name="T22" fmla="*/ 1 w 158"/>
                  <a:gd name="T23" fmla="*/ 0 h 11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113"/>
                  <a:gd name="T38" fmla="*/ 158 w 158"/>
                  <a:gd name="T39" fmla="*/ 113 h 11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113">
                    <a:moveTo>
                      <a:pt x="22" y="11"/>
                    </a:moveTo>
                    <a:lnTo>
                      <a:pt x="5" y="20"/>
                    </a:lnTo>
                    <a:lnTo>
                      <a:pt x="145" y="113"/>
                    </a:lnTo>
                    <a:lnTo>
                      <a:pt x="158" y="94"/>
                    </a:lnTo>
                    <a:lnTo>
                      <a:pt x="17" y="2"/>
                    </a:lnTo>
                    <a:lnTo>
                      <a:pt x="0" y="11"/>
                    </a:lnTo>
                    <a:lnTo>
                      <a:pt x="17" y="2"/>
                    </a:lnTo>
                    <a:lnTo>
                      <a:pt x="8" y="0"/>
                    </a:lnTo>
                    <a:lnTo>
                      <a:pt x="1" y="5"/>
                    </a:lnTo>
                    <a:lnTo>
                      <a:pt x="0" y="13"/>
                    </a:lnTo>
                    <a:lnTo>
                      <a:pt x="5" y="20"/>
                    </a:lnTo>
                    <a:lnTo>
                      <a:pt x="22" y="11"/>
                    </a:lnTo>
                    <a:close/>
                  </a:path>
                </a:pathLst>
              </a:custGeom>
              <a:solidFill>
                <a:srgbClr val="000000"/>
              </a:solidFill>
              <a:ln w="9525">
                <a:noFill/>
                <a:round/>
                <a:headEnd/>
                <a:tailEnd/>
              </a:ln>
            </p:spPr>
            <p:txBody>
              <a:bodyPr/>
              <a:lstStyle/>
              <a:p>
                <a:endParaRPr lang="en-US"/>
              </a:p>
            </p:txBody>
          </p:sp>
          <p:sp>
            <p:nvSpPr>
              <p:cNvPr id="27788" name="Freeform 101"/>
              <p:cNvSpPr>
                <a:spLocks/>
              </p:cNvSpPr>
              <p:nvPr/>
            </p:nvSpPr>
            <p:spPr bwMode="auto">
              <a:xfrm>
                <a:off x="2172" y="3506"/>
                <a:ext cx="65" cy="26"/>
              </a:xfrm>
              <a:custGeom>
                <a:avLst/>
                <a:gdLst>
                  <a:gd name="T0" fmla="*/ 1 w 128"/>
                  <a:gd name="T1" fmla="*/ 1 h 52"/>
                  <a:gd name="T2" fmla="*/ 0 w 128"/>
                  <a:gd name="T3" fmla="*/ 1 h 52"/>
                  <a:gd name="T4" fmla="*/ 1 w 128"/>
                  <a:gd name="T5" fmla="*/ 1 h 52"/>
                  <a:gd name="T6" fmla="*/ 1 w 128"/>
                  <a:gd name="T7" fmla="*/ 1 h 52"/>
                  <a:gd name="T8" fmla="*/ 1 w 128"/>
                  <a:gd name="T9" fmla="*/ 1 h 52"/>
                  <a:gd name="T10" fmla="*/ 1 w 128"/>
                  <a:gd name="T11" fmla="*/ 1 h 52"/>
                  <a:gd name="T12" fmla="*/ 1 w 128"/>
                  <a:gd name="T13" fmla="*/ 1 h 52"/>
                  <a:gd name="T14" fmla="*/ 1 w 128"/>
                  <a:gd name="T15" fmla="*/ 1 h 52"/>
                  <a:gd name="T16" fmla="*/ 1 w 128"/>
                  <a:gd name="T17" fmla="*/ 1 h 52"/>
                  <a:gd name="T18" fmla="*/ 1 w 128"/>
                  <a:gd name="T19" fmla="*/ 1 h 52"/>
                  <a:gd name="T20" fmla="*/ 1 w 128"/>
                  <a:gd name="T21" fmla="*/ 1 h 52"/>
                  <a:gd name="T22" fmla="*/ 1 w 128"/>
                  <a:gd name="T23" fmla="*/ 1 h 52"/>
                  <a:gd name="T24" fmla="*/ 1 w 128"/>
                  <a:gd name="T25" fmla="*/ 1 h 52"/>
                  <a:gd name="T26" fmla="*/ 1 w 128"/>
                  <a:gd name="T27" fmla="*/ 1 h 52"/>
                  <a:gd name="T28" fmla="*/ 1 w 128"/>
                  <a:gd name="T29" fmla="*/ 1 h 52"/>
                  <a:gd name="T30" fmla="*/ 1 w 128"/>
                  <a:gd name="T31" fmla="*/ 1 h 52"/>
                  <a:gd name="T32" fmla="*/ 1 w 128"/>
                  <a:gd name="T33" fmla="*/ 1 h 52"/>
                  <a:gd name="T34" fmla="*/ 1 w 128"/>
                  <a:gd name="T35" fmla="*/ 1 h 52"/>
                  <a:gd name="T36" fmla="*/ 1 w 128"/>
                  <a:gd name="T37" fmla="*/ 1 h 52"/>
                  <a:gd name="T38" fmla="*/ 1 w 128"/>
                  <a:gd name="T39" fmla="*/ 1 h 52"/>
                  <a:gd name="T40" fmla="*/ 1 w 128"/>
                  <a:gd name="T41" fmla="*/ 1 h 52"/>
                  <a:gd name="T42" fmla="*/ 1 w 128"/>
                  <a:gd name="T43" fmla="*/ 0 h 52"/>
                  <a:gd name="T44" fmla="*/ 1 w 128"/>
                  <a:gd name="T45" fmla="*/ 1 h 52"/>
                  <a:gd name="T46" fmla="*/ 1 w 128"/>
                  <a:gd name="T47" fmla="*/ 1 h 52"/>
                  <a:gd name="T48" fmla="*/ 1 w 128"/>
                  <a:gd name="T49" fmla="*/ 1 h 52"/>
                  <a:gd name="T50" fmla="*/ 1 w 128"/>
                  <a:gd name="T51" fmla="*/ 1 h 52"/>
                  <a:gd name="T52" fmla="*/ 1 w 128"/>
                  <a:gd name="T53" fmla="*/ 1 h 52"/>
                  <a:gd name="T54" fmla="*/ 1 w 128"/>
                  <a:gd name="T55" fmla="*/ 1 h 52"/>
                  <a:gd name="T56" fmla="*/ 1 w 128"/>
                  <a:gd name="T57" fmla="*/ 1 h 52"/>
                  <a:gd name="T58" fmla="*/ 1 w 128"/>
                  <a:gd name="T59" fmla="*/ 1 h 52"/>
                  <a:gd name="T60" fmla="*/ 1 w 128"/>
                  <a:gd name="T61" fmla="*/ 1 h 52"/>
                  <a:gd name="T62" fmla="*/ 1 w 128"/>
                  <a:gd name="T63" fmla="*/ 1 h 52"/>
                  <a:gd name="T64" fmla="*/ 1 w 128"/>
                  <a:gd name="T65" fmla="*/ 1 h 52"/>
                  <a:gd name="T66" fmla="*/ 1 w 128"/>
                  <a:gd name="T67" fmla="*/ 1 h 5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8"/>
                  <a:gd name="T103" fmla="*/ 0 h 52"/>
                  <a:gd name="T104" fmla="*/ 128 w 128"/>
                  <a:gd name="T105" fmla="*/ 52 h 5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8" h="52">
                    <a:moveTo>
                      <a:pt x="9" y="25"/>
                    </a:moveTo>
                    <a:lnTo>
                      <a:pt x="0" y="44"/>
                    </a:lnTo>
                    <a:lnTo>
                      <a:pt x="2" y="44"/>
                    </a:lnTo>
                    <a:lnTo>
                      <a:pt x="5" y="45"/>
                    </a:lnTo>
                    <a:lnTo>
                      <a:pt x="12" y="47"/>
                    </a:lnTo>
                    <a:lnTo>
                      <a:pt x="20" y="50"/>
                    </a:lnTo>
                    <a:lnTo>
                      <a:pt x="31" y="50"/>
                    </a:lnTo>
                    <a:lnTo>
                      <a:pt x="44" y="52"/>
                    </a:lnTo>
                    <a:lnTo>
                      <a:pt x="59" y="50"/>
                    </a:lnTo>
                    <a:lnTo>
                      <a:pt x="75" y="47"/>
                    </a:lnTo>
                    <a:lnTo>
                      <a:pt x="89" y="44"/>
                    </a:lnTo>
                    <a:lnTo>
                      <a:pt x="102" y="41"/>
                    </a:lnTo>
                    <a:lnTo>
                      <a:pt x="110" y="38"/>
                    </a:lnTo>
                    <a:lnTo>
                      <a:pt x="116" y="34"/>
                    </a:lnTo>
                    <a:lnTo>
                      <a:pt x="121" y="33"/>
                    </a:lnTo>
                    <a:lnTo>
                      <a:pt x="124" y="30"/>
                    </a:lnTo>
                    <a:lnTo>
                      <a:pt x="127" y="27"/>
                    </a:lnTo>
                    <a:lnTo>
                      <a:pt x="128" y="23"/>
                    </a:lnTo>
                    <a:lnTo>
                      <a:pt x="128" y="17"/>
                    </a:lnTo>
                    <a:lnTo>
                      <a:pt x="125" y="9"/>
                    </a:lnTo>
                    <a:lnTo>
                      <a:pt x="121" y="3"/>
                    </a:lnTo>
                    <a:lnTo>
                      <a:pt x="114" y="0"/>
                    </a:lnTo>
                    <a:lnTo>
                      <a:pt x="108" y="3"/>
                    </a:lnTo>
                    <a:lnTo>
                      <a:pt x="99" y="8"/>
                    </a:lnTo>
                    <a:lnTo>
                      <a:pt x="88" y="16"/>
                    </a:lnTo>
                    <a:lnTo>
                      <a:pt x="74" y="20"/>
                    </a:lnTo>
                    <a:lnTo>
                      <a:pt x="64" y="22"/>
                    </a:lnTo>
                    <a:lnTo>
                      <a:pt x="55" y="23"/>
                    </a:lnTo>
                    <a:lnTo>
                      <a:pt x="44" y="25"/>
                    </a:lnTo>
                    <a:lnTo>
                      <a:pt x="33" y="25"/>
                    </a:lnTo>
                    <a:lnTo>
                      <a:pt x="23" y="25"/>
                    </a:lnTo>
                    <a:lnTo>
                      <a:pt x="16" y="25"/>
                    </a:lnTo>
                    <a:lnTo>
                      <a:pt x="11" y="25"/>
                    </a:lnTo>
                    <a:lnTo>
                      <a:pt x="9" y="25"/>
                    </a:lnTo>
                    <a:close/>
                  </a:path>
                </a:pathLst>
              </a:custGeom>
              <a:solidFill>
                <a:srgbClr val="FF7226"/>
              </a:solidFill>
              <a:ln w="9525">
                <a:noFill/>
                <a:round/>
                <a:headEnd/>
                <a:tailEnd/>
              </a:ln>
            </p:spPr>
            <p:txBody>
              <a:bodyPr/>
              <a:lstStyle/>
              <a:p>
                <a:endParaRPr lang="en-US"/>
              </a:p>
            </p:txBody>
          </p:sp>
          <p:sp>
            <p:nvSpPr>
              <p:cNvPr id="27789" name="Freeform 102"/>
              <p:cNvSpPr>
                <a:spLocks/>
              </p:cNvSpPr>
              <p:nvPr/>
            </p:nvSpPr>
            <p:spPr bwMode="auto">
              <a:xfrm>
                <a:off x="2168" y="3516"/>
                <a:ext cx="14" cy="17"/>
              </a:xfrm>
              <a:custGeom>
                <a:avLst/>
                <a:gdLst>
                  <a:gd name="T0" fmla="*/ 1 w 28"/>
                  <a:gd name="T1" fmla="*/ 0 h 35"/>
                  <a:gd name="T2" fmla="*/ 1 w 28"/>
                  <a:gd name="T3" fmla="*/ 0 h 35"/>
                  <a:gd name="T4" fmla="*/ 1 w 28"/>
                  <a:gd name="T5" fmla="*/ 0 h 35"/>
                  <a:gd name="T6" fmla="*/ 1 w 28"/>
                  <a:gd name="T7" fmla="*/ 0 h 35"/>
                  <a:gd name="T8" fmla="*/ 0 w 28"/>
                  <a:gd name="T9" fmla="*/ 0 h 35"/>
                  <a:gd name="T10" fmla="*/ 1 w 28"/>
                  <a:gd name="T11" fmla="*/ 0 h 35"/>
                  <a:gd name="T12" fmla="*/ 0 w 28"/>
                  <a:gd name="T13" fmla="*/ 0 h 35"/>
                  <a:gd name="T14" fmla="*/ 0 w 28"/>
                  <a:gd name="T15" fmla="*/ 0 h 35"/>
                  <a:gd name="T16" fmla="*/ 1 w 28"/>
                  <a:gd name="T17" fmla="*/ 0 h 35"/>
                  <a:gd name="T18" fmla="*/ 1 w 28"/>
                  <a:gd name="T19" fmla="*/ 0 h 35"/>
                  <a:gd name="T20" fmla="*/ 1 w 28"/>
                  <a:gd name="T21" fmla="*/ 0 h 35"/>
                  <a:gd name="T22" fmla="*/ 1 w 28"/>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
                  <a:gd name="T37" fmla="*/ 0 h 35"/>
                  <a:gd name="T38" fmla="*/ 28 w 28"/>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 h="35">
                    <a:moveTo>
                      <a:pt x="14" y="14"/>
                    </a:moveTo>
                    <a:lnTo>
                      <a:pt x="18" y="29"/>
                    </a:lnTo>
                    <a:lnTo>
                      <a:pt x="28" y="10"/>
                    </a:lnTo>
                    <a:lnTo>
                      <a:pt x="9" y="0"/>
                    </a:lnTo>
                    <a:lnTo>
                      <a:pt x="0" y="19"/>
                    </a:lnTo>
                    <a:lnTo>
                      <a:pt x="4" y="33"/>
                    </a:lnTo>
                    <a:lnTo>
                      <a:pt x="0" y="19"/>
                    </a:lnTo>
                    <a:lnTo>
                      <a:pt x="0" y="27"/>
                    </a:lnTo>
                    <a:lnTo>
                      <a:pt x="4" y="33"/>
                    </a:lnTo>
                    <a:lnTo>
                      <a:pt x="12" y="35"/>
                    </a:lnTo>
                    <a:lnTo>
                      <a:pt x="18" y="29"/>
                    </a:lnTo>
                    <a:lnTo>
                      <a:pt x="14" y="14"/>
                    </a:lnTo>
                    <a:close/>
                  </a:path>
                </a:pathLst>
              </a:custGeom>
              <a:solidFill>
                <a:srgbClr val="000000"/>
              </a:solidFill>
              <a:ln w="9525">
                <a:noFill/>
                <a:round/>
                <a:headEnd/>
                <a:tailEnd/>
              </a:ln>
            </p:spPr>
            <p:txBody>
              <a:bodyPr/>
              <a:lstStyle/>
              <a:p>
                <a:endParaRPr lang="en-US"/>
              </a:p>
            </p:txBody>
          </p:sp>
          <p:sp>
            <p:nvSpPr>
              <p:cNvPr id="27790" name="Freeform 103"/>
              <p:cNvSpPr>
                <a:spLocks/>
              </p:cNvSpPr>
              <p:nvPr/>
            </p:nvSpPr>
            <p:spPr bwMode="auto">
              <a:xfrm>
                <a:off x="2170" y="3522"/>
                <a:ext cx="42" cy="15"/>
              </a:xfrm>
              <a:custGeom>
                <a:avLst/>
                <a:gdLst>
                  <a:gd name="T0" fmla="*/ 1 w 83"/>
                  <a:gd name="T1" fmla="*/ 1 h 30"/>
                  <a:gd name="T2" fmla="*/ 1 w 83"/>
                  <a:gd name="T3" fmla="*/ 1 h 30"/>
                  <a:gd name="T4" fmla="*/ 1 w 83"/>
                  <a:gd name="T5" fmla="*/ 1 h 30"/>
                  <a:gd name="T6" fmla="*/ 1 w 83"/>
                  <a:gd name="T7" fmla="*/ 1 h 30"/>
                  <a:gd name="T8" fmla="*/ 1 w 83"/>
                  <a:gd name="T9" fmla="*/ 1 h 30"/>
                  <a:gd name="T10" fmla="*/ 1 w 83"/>
                  <a:gd name="T11" fmla="*/ 1 h 30"/>
                  <a:gd name="T12" fmla="*/ 1 w 83"/>
                  <a:gd name="T13" fmla="*/ 1 h 30"/>
                  <a:gd name="T14" fmla="*/ 1 w 83"/>
                  <a:gd name="T15" fmla="*/ 1 h 30"/>
                  <a:gd name="T16" fmla="*/ 1 w 83"/>
                  <a:gd name="T17" fmla="*/ 0 h 30"/>
                  <a:gd name="T18" fmla="*/ 1 w 83"/>
                  <a:gd name="T19" fmla="*/ 1 h 30"/>
                  <a:gd name="T20" fmla="*/ 0 w 83"/>
                  <a:gd name="T21" fmla="*/ 1 h 30"/>
                  <a:gd name="T22" fmla="*/ 1 w 83"/>
                  <a:gd name="T23" fmla="*/ 1 h 30"/>
                  <a:gd name="T24" fmla="*/ 1 w 83"/>
                  <a:gd name="T25" fmla="*/ 1 h 30"/>
                  <a:gd name="T26" fmla="*/ 1 w 83"/>
                  <a:gd name="T27" fmla="*/ 1 h 30"/>
                  <a:gd name="T28" fmla="*/ 1 w 83"/>
                  <a:gd name="T29" fmla="*/ 1 h 30"/>
                  <a:gd name="T30" fmla="*/ 1 w 83"/>
                  <a:gd name="T31" fmla="*/ 1 h 30"/>
                  <a:gd name="T32" fmla="*/ 1 w 83"/>
                  <a:gd name="T33" fmla="*/ 1 h 30"/>
                  <a:gd name="T34" fmla="*/ 1 w 83"/>
                  <a:gd name="T35" fmla="*/ 1 h 30"/>
                  <a:gd name="T36" fmla="*/ 1 w 83"/>
                  <a:gd name="T37" fmla="*/ 1 h 30"/>
                  <a:gd name="T38" fmla="*/ 1 w 83"/>
                  <a:gd name="T39" fmla="*/ 1 h 30"/>
                  <a:gd name="T40" fmla="*/ 1 w 83"/>
                  <a:gd name="T41" fmla="*/ 1 h 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3"/>
                  <a:gd name="T64" fmla="*/ 0 h 30"/>
                  <a:gd name="T65" fmla="*/ 83 w 83"/>
                  <a:gd name="T66" fmla="*/ 30 h 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3" h="30">
                    <a:moveTo>
                      <a:pt x="79" y="3"/>
                    </a:moveTo>
                    <a:lnTo>
                      <a:pt x="77" y="3"/>
                    </a:lnTo>
                    <a:lnTo>
                      <a:pt x="63" y="6"/>
                    </a:lnTo>
                    <a:lnTo>
                      <a:pt x="49" y="8"/>
                    </a:lnTo>
                    <a:lnTo>
                      <a:pt x="36" y="6"/>
                    </a:lnTo>
                    <a:lnTo>
                      <a:pt x="27" y="6"/>
                    </a:lnTo>
                    <a:lnTo>
                      <a:pt x="21" y="3"/>
                    </a:lnTo>
                    <a:lnTo>
                      <a:pt x="13" y="1"/>
                    </a:lnTo>
                    <a:lnTo>
                      <a:pt x="10" y="0"/>
                    </a:lnTo>
                    <a:lnTo>
                      <a:pt x="10" y="1"/>
                    </a:lnTo>
                    <a:lnTo>
                      <a:pt x="0" y="20"/>
                    </a:lnTo>
                    <a:lnTo>
                      <a:pt x="3" y="22"/>
                    </a:lnTo>
                    <a:lnTo>
                      <a:pt x="7" y="23"/>
                    </a:lnTo>
                    <a:lnTo>
                      <a:pt x="14" y="25"/>
                    </a:lnTo>
                    <a:lnTo>
                      <a:pt x="24" y="28"/>
                    </a:lnTo>
                    <a:lnTo>
                      <a:pt x="36" y="28"/>
                    </a:lnTo>
                    <a:lnTo>
                      <a:pt x="49" y="30"/>
                    </a:lnTo>
                    <a:lnTo>
                      <a:pt x="66" y="28"/>
                    </a:lnTo>
                    <a:lnTo>
                      <a:pt x="83" y="25"/>
                    </a:lnTo>
                    <a:lnTo>
                      <a:pt x="82" y="25"/>
                    </a:lnTo>
                    <a:lnTo>
                      <a:pt x="79" y="3"/>
                    </a:lnTo>
                    <a:close/>
                  </a:path>
                </a:pathLst>
              </a:custGeom>
              <a:solidFill>
                <a:srgbClr val="000000"/>
              </a:solidFill>
              <a:ln w="9525">
                <a:noFill/>
                <a:round/>
                <a:headEnd/>
                <a:tailEnd/>
              </a:ln>
            </p:spPr>
            <p:txBody>
              <a:bodyPr/>
              <a:lstStyle/>
              <a:p>
                <a:endParaRPr lang="en-US"/>
              </a:p>
            </p:txBody>
          </p:sp>
          <p:sp>
            <p:nvSpPr>
              <p:cNvPr id="27791" name="Freeform 104"/>
              <p:cNvSpPr>
                <a:spLocks/>
              </p:cNvSpPr>
              <p:nvPr/>
            </p:nvSpPr>
            <p:spPr bwMode="auto">
              <a:xfrm>
                <a:off x="2209" y="3515"/>
                <a:ext cx="32" cy="20"/>
              </a:xfrm>
              <a:custGeom>
                <a:avLst/>
                <a:gdLst>
                  <a:gd name="T0" fmla="*/ 1 w 64"/>
                  <a:gd name="T1" fmla="*/ 0 h 41"/>
                  <a:gd name="T2" fmla="*/ 1 w 64"/>
                  <a:gd name="T3" fmla="*/ 0 h 41"/>
                  <a:gd name="T4" fmla="*/ 1 w 64"/>
                  <a:gd name="T5" fmla="*/ 0 h 41"/>
                  <a:gd name="T6" fmla="*/ 1 w 64"/>
                  <a:gd name="T7" fmla="*/ 0 h 41"/>
                  <a:gd name="T8" fmla="*/ 1 w 64"/>
                  <a:gd name="T9" fmla="*/ 0 h 41"/>
                  <a:gd name="T10" fmla="*/ 1 w 64"/>
                  <a:gd name="T11" fmla="*/ 0 h 41"/>
                  <a:gd name="T12" fmla="*/ 1 w 64"/>
                  <a:gd name="T13" fmla="*/ 0 h 41"/>
                  <a:gd name="T14" fmla="*/ 1 w 64"/>
                  <a:gd name="T15" fmla="*/ 0 h 41"/>
                  <a:gd name="T16" fmla="*/ 1 w 64"/>
                  <a:gd name="T17" fmla="*/ 0 h 41"/>
                  <a:gd name="T18" fmla="*/ 0 w 64"/>
                  <a:gd name="T19" fmla="*/ 0 h 41"/>
                  <a:gd name="T20" fmla="*/ 1 w 64"/>
                  <a:gd name="T21" fmla="*/ 0 h 41"/>
                  <a:gd name="T22" fmla="*/ 1 w 64"/>
                  <a:gd name="T23" fmla="*/ 0 h 41"/>
                  <a:gd name="T24" fmla="*/ 1 w 64"/>
                  <a:gd name="T25" fmla="*/ 0 h 41"/>
                  <a:gd name="T26" fmla="*/ 1 w 64"/>
                  <a:gd name="T27" fmla="*/ 0 h 41"/>
                  <a:gd name="T28" fmla="*/ 1 w 64"/>
                  <a:gd name="T29" fmla="*/ 0 h 41"/>
                  <a:gd name="T30" fmla="*/ 1 w 64"/>
                  <a:gd name="T31" fmla="*/ 0 h 41"/>
                  <a:gd name="T32" fmla="*/ 1 w 64"/>
                  <a:gd name="T33" fmla="*/ 0 h 41"/>
                  <a:gd name="T34" fmla="*/ 1 w 64"/>
                  <a:gd name="T35" fmla="*/ 0 h 41"/>
                  <a:gd name="T36" fmla="*/ 1 w 64"/>
                  <a:gd name="T37" fmla="*/ 0 h 41"/>
                  <a:gd name="T38" fmla="*/ 1 w 64"/>
                  <a:gd name="T39" fmla="*/ 0 h 41"/>
                  <a:gd name="T40" fmla="*/ 1 w 64"/>
                  <a:gd name="T41" fmla="*/ 0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41"/>
                  <a:gd name="T65" fmla="*/ 64 w 64"/>
                  <a:gd name="T66" fmla="*/ 41 h 4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41">
                    <a:moveTo>
                      <a:pt x="45" y="0"/>
                    </a:moveTo>
                    <a:lnTo>
                      <a:pt x="45" y="2"/>
                    </a:lnTo>
                    <a:lnTo>
                      <a:pt x="43" y="3"/>
                    </a:lnTo>
                    <a:lnTo>
                      <a:pt x="42" y="5"/>
                    </a:lnTo>
                    <a:lnTo>
                      <a:pt x="40" y="6"/>
                    </a:lnTo>
                    <a:lnTo>
                      <a:pt x="37" y="8"/>
                    </a:lnTo>
                    <a:lnTo>
                      <a:pt x="31" y="11"/>
                    </a:lnTo>
                    <a:lnTo>
                      <a:pt x="25" y="13"/>
                    </a:lnTo>
                    <a:lnTo>
                      <a:pt x="12" y="16"/>
                    </a:lnTo>
                    <a:lnTo>
                      <a:pt x="0" y="19"/>
                    </a:lnTo>
                    <a:lnTo>
                      <a:pt x="3" y="41"/>
                    </a:lnTo>
                    <a:lnTo>
                      <a:pt x="18" y="38"/>
                    </a:lnTo>
                    <a:lnTo>
                      <a:pt x="31" y="35"/>
                    </a:lnTo>
                    <a:lnTo>
                      <a:pt x="40" y="30"/>
                    </a:lnTo>
                    <a:lnTo>
                      <a:pt x="47" y="27"/>
                    </a:lnTo>
                    <a:lnTo>
                      <a:pt x="53" y="25"/>
                    </a:lnTo>
                    <a:lnTo>
                      <a:pt x="57" y="21"/>
                    </a:lnTo>
                    <a:lnTo>
                      <a:pt x="62" y="16"/>
                    </a:lnTo>
                    <a:lnTo>
                      <a:pt x="64" y="11"/>
                    </a:lnTo>
                    <a:lnTo>
                      <a:pt x="64" y="13"/>
                    </a:lnTo>
                    <a:lnTo>
                      <a:pt x="45" y="0"/>
                    </a:lnTo>
                    <a:close/>
                  </a:path>
                </a:pathLst>
              </a:custGeom>
              <a:solidFill>
                <a:srgbClr val="000000"/>
              </a:solidFill>
              <a:ln w="9525">
                <a:noFill/>
                <a:round/>
                <a:headEnd/>
                <a:tailEnd/>
              </a:ln>
            </p:spPr>
            <p:txBody>
              <a:bodyPr/>
              <a:lstStyle/>
              <a:p>
                <a:endParaRPr lang="en-US"/>
              </a:p>
            </p:txBody>
          </p:sp>
          <p:sp>
            <p:nvSpPr>
              <p:cNvPr id="27792" name="Freeform 105"/>
              <p:cNvSpPr>
                <a:spLocks/>
              </p:cNvSpPr>
              <p:nvPr/>
            </p:nvSpPr>
            <p:spPr bwMode="auto">
              <a:xfrm>
                <a:off x="2229" y="3501"/>
                <a:ext cx="13" cy="20"/>
              </a:xfrm>
              <a:custGeom>
                <a:avLst/>
                <a:gdLst>
                  <a:gd name="T0" fmla="*/ 1 w 26"/>
                  <a:gd name="T1" fmla="*/ 0 h 41"/>
                  <a:gd name="T2" fmla="*/ 1 w 26"/>
                  <a:gd name="T3" fmla="*/ 0 h 41"/>
                  <a:gd name="T4" fmla="*/ 0 w 26"/>
                  <a:gd name="T5" fmla="*/ 0 h 41"/>
                  <a:gd name="T6" fmla="*/ 1 w 26"/>
                  <a:gd name="T7" fmla="*/ 0 h 41"/>
                  <a:gd name="T8" fmla="*/ 1 w 26"/>
                  <a:gd name="T9" fmla="*/ 0 h 41"/>
                  <a:gd name="T10" fmla="*/ 1 w 26"/>
                  <a:gd name="T11" fmla="*/ 0 h 41"/>
                  <a:gd name="T12" fmla="*/ 1 w 26"/>
                  <a:gd name="T13" fmla="*/ 0 h 41"/>
                  <a:gd name="T14" fmla="*/ 1 w 26"/>
                  <a:gd name="T15" fmla="*/ 0 h 41"/>
                  <a:gd name="T16" fmla="*/ 1 w 26"/>
                  <a:gd name="T17" fmla="*/ 0 h 41"/>
                  <a:gd name="T18" fmla="*/ 1 w 26"/>
                  <a:gd name="T19" fmla="*/ 0 h 41"/>
                  <a:gd name="T20" fmla="*/ 1 w 26"/>
                  <a:gd name="T21" fmla="*/ 0 h 41"/>
                  <a:gd name="T22" fmla="*/ 1 w 26"/>
                  <a:gd name="T23" fmla="*/ 0 h 41"/>
                  <a:gd name="T24" fmla="*/ 1 w 26"/>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
                  <a:gd name="T40" fmla="*/ 0 h 41"/>
                  <a:gd name="T41" fmla="*/ 26 w 26"/>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 h="41">
                    <a:moveTo>
                      <a:pt x="1" y="22"/>
                    </a:moveTo>
                    <a:lnTo>
                      <a:pt x="1" y="22"/>
                    </a:lnTo>
                    <a:lnTo>
                      <a:pt x="0" y="22"/>
                    </a:lnTo>
                    <a:lnTo>
                      <a:pt x="3" y="25"/>
                    </a:lnTo>
                    <a:lnTo>
                      <a:pt x="4" y="31"/>
                    </a:lnTo>
                    <a:lnTo>
                      <a:pt x="6" y="28"/>
                    </a:lnTo>
                    <a:lnTo>
                      <a:pt x="25" y="41"/>
                    </a:lnTo>
                    <a:lnTo>
                      <a:pt x="26" y="25"/>
                    </a:lnTo>
                    <a:lnTo>
                      <a:pt x="22" y="16"/>
                    </a:lnTo>
                    <a:lnTo>
                      <a:pt x="15" y="6"/>
                    </a:lnTo>
                    <a:lnTo>
                      <a:pt x="1" y="0"/>
                    </a:lnTo>
                    <a:lnTo>
                      <a:pt x="1" y="22"/>
                    </a:lnTo>
                    <a:close/>
                  </a:path>
                </a:pathLst>
              </a:custGeom>
              <a:solidFill>
                <a:srgbClr val="000000"/>
              </a:solidFill>
              <a:ln w="9525">
                <a:noFill/>
                <a:round/>
                <a:headEnd/>
                <a:tailEnd/>
              </a:ln>
            </p:spPr>
            <p:txBody>
              <a:bodyPr/>
              <a:lstStyle/>
              <a:p>
                <a:endParaRPr lang="en-US"/>
              </a:p>
            </p:txBody>
          </p:sp>
          <p:sp>
            <p:nvSpPr>
              <p:cNvPr id="27793" name="Freeform 106"/>
              <p:cNvSpPr>
                <a:spLocks/>
              </p:cNvSpPr>
              <p:nvPr/>
            </p:nvSpPr>
            <p:spPr bwMode="auto">
              <a:xfrm>
                <a:off x="2208" y="3501"/>
                <a:ext cx="22" cy="21"/>
              </a:xfrm>
              <a:custGeom>
                <a:avLst/>
                <a:gdLst>
                  <a:gd name="T0" fmla="*/ 1 w 44"/>
                  <a:gd name="T1" fmla="*/ 1 h 42"/>
                  <a:gd name="T2" fmla="*/ 1 w 44"/>
                  <a:gd name="T3" fmla="*/ 1 h 42"/>
                  <a:gd name="T4" fmla="*/ 1 w 44"/>
                  <a:gd name="T5" fmla="*/ 1 h 42"/>
                  <a:gd name="T6" fmla="*/ 1 w 44"/>
                  <a:gd name="T7" fmla="*/ 1 h 42"/>
                  <a:gd name="T8" fmla="*/ 1 w 44"/>
                  <a:gd name="T9" fmla="*/ 1 h 42"/>
                  <a:gd name="T10" fmla="*/ 1 w 44"/>
                  <a:gd name="T11" fmla="*/ 1 h 42"/>
                  <a:gd name="T12" fmla="*/ 1 w 44"/>
                  <a:gd name="T13" fmla="*/ 0 h 42"/>
                  <a:gd name="T14" fmla="*/ 1 w 44"/>
                  <a:gd name="T15" fmla="*/ 1 h 42"/>
                  <a:gd name="T16" fmla="*/ 1 w 44"/>
                  <a:gd name="T17" fmla="*/ 1 h 42"/>
                  <a:gd name="T18" fmla="*/ 1 w 44"/>
                  <a:gd name="T19" fmla="*/ 1 h 42"/>
                  <a:gd name="T20" fmla="*/ 1 w 44"/>
                  <a:gd name="T21" fmla="*/ 1 h 42"/>
                  <a:gd name="T22" fmla="*/ 0 w 44"/>
                  <a:gd name="T23" fmla="*/ 1 h 42"/>
                  <a:gd name="T24" fmla="*/ 1 w 44"/>
                  <a:gd name="T25" fmla="*/ 1 h 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
                  <a:gd name="T40" fmla="*/ 0 h 42"/>
                  <a:gd name="T41" fmla="*/ 44 w 44"/>
                  <a:gd name="T42" fmla="*/ 42 h 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 h="42">
                    <a:moveTo>
                      <a:pt x="7" y="42"/>
                    </a:moveTo>
                    <a:lnTo>
                      <a:pt x="5" y="42"/>
                    </a:lnTo>
                    <a:lnTo>
                      <a:pt x="22" y="36"/>
                    </a:lnTo>
                    <a:lnTo>
                      <a:pt x="35" y="28"/>
                    </a:lnTo>
                    <a:lnTo>
                      <a:pt x="43" y="24"/>
                    </a:lnTo>
                    <a:lnTo>
                      <a:pt x="44" y="22"/>
                    </a:lnTo>
                    <a:lnTo>
                      <a:pt x="44" y="0"/>
                    </a:lnTo>
                    <a:lnTo>
                      <a:pt x="33" y="5"/>
                    </a:lnTo>
                    <a:lnTo>
                      <a:pt x="22" y="9"/>
                    </a:lnTo>
                    <a:lnTo>
                      <a:pt x="13" y="17"/>
                    </a:lnTo>
                    <a:lnTo>
                      <a:pt x="2" y="20"/>
                    </a:lnTo>
                    <a:lnTo>
                      <a:pt x="0" y="20"/>
                    </a:lnTo>
                    <a:lnTo>
                      <a:pt x="7" y="42"/>
                    </a:lnTo>
                    <a:close/>
                  </a:path>
                </a:pathLst>
              </a:custGeom>
              <a:solidFill>
                <a:srgbClr val="000000"/>
              </a:solidFill>
              <a:ln w="9525">
                <a:noFill/>
                <a:round/>
                <a:headEnd/>
                <a:tailEnd/>
              </a:ln>
            </p:spPr>
            <p:txBody>
              <a:bodyPr/>
              <a:lstStyle/>
              <a:p>
                <a:endParaRPr lang="en-US"/>
              </a:p>
            </p:txBody>
          </p:sp>
          <p:sp>
            <p:nvSpPr>
              <p:cNvPr id="27794" name="Freeform 107"/>
              <p:cNvSpPr>
                <a:spLocks/>
              </p:cNvSpPr>
              <p:nvPr/>
            </p:nvSpPr>
            <p:spPr bwMode="auto">
              <a:xfrm>
                <a:off x="2172" y="3511"/>
                <a:ext cx="39" cy="13"/>
              </a:xfrm>
              <a:custGeom>
                <a:avLst/>
                <a:gdLst>
                  <a:gd name="T0" fmla="*/ 0 w 79"/>
                  <a:gd name="T1" fmla="*/ 0 h 27"/>
                  <a:gd name="T2" fmla="*/ 0 w 79"/>
                  <a:gd name="T3" fmla="*/ 0 h 27"/>
                  <a:gd name="T4" fmla="*/ 0 w 79"/>
                  <a:gd name="T5" fmla="*/ 0 h 27"/>
                  <a:gd name="T6" fmla="*/ 0 w 79"/>
                  <a:gd name="T7" fmla="*/ 0 h 27"/>
                  <a:gd name="T8" fmla="*/ 0 w 79"/>
                  <a:gd name="T9" fmla="*/ 0 h 27"/>
                  <a:gd name="T10" fmla="*/ 0 w 79"/>
                  <a:gd name="T11" fmla="*/ 0 h 27"/>
                  <a:gd name="T12" fmla="*/ 0 w 79"/>
                  <a:gd name="T13" fmla="*/ 0 h 27"/>
                  <a:gd name="T14" fmla="*/ 0 w 79"/>
                  <a:gd name="T15" fmla="*/ 0 h 27"/>
                  <a:gd name="T16" fmla="*/ 0 w 79"/>
                  <a:gd name="T17" fmla="*/ 0 h 27"/>
                  <a:gd name="T18" fmla="*/ 0 w 79"/>
                  <a:gd name="T19" fmla="*/ 0 h 27"/>
                  <a:gd name="T20" fmla="*/ 0 w 79"/>
                  <a:gd name="T21" fmla="*/ 0 h 27"/>
                  <a:gd name="T22" fmla="*/ 0 w 79"/>
                  <a:gd name="T23" fmla="*/ 0 h 27"/>
                  <a:gd name="T24" fmla="*/ 0 w 79"/>
                  <a:gd name="T25" fmla="*/ 0 h 27"/>
                  <a:gd name="T26" fmla="*/ 0 w 79"/>
                  <a:gd name="T27" fmla="*/ 0 h 27"/>
                  <a:gd name="T28" fmla="*/ 0 w 79"/>
                  <a:gd name="T29" fmla="*/ 0 h 27"/>
                  <a:gd name="T30" fmla="*/ 0 w 79"/>
                  <a:gd name="T31" fmla="*/ 0 h 27"/>
                  <a:gd name="T32" fmla="*/ 0 w 79"/>
                  <a:gd name="T33" fmla="*/ 0 h 27"/>
                  <a:gd name="T34" fmla="*/ 0 w 79"/>
                  <a:gd name="T35" fmla="*/ 0 h 27"/>
                  <a:gd name="T36" fmla="*/ 0 w 79"/>
                  <a:gd name="T37" fmla="*/ 0 h 27"/>
                  <a:gd name="T38" fmla="*/ 0 w 79"/>
                  <a:gd name="T39" fmla="*/ 0 h 27"/>
                  <a:gd name="T40" fmla="*/ 0 w 79"/>
                  <a:gd name="T41" fmla="*/ 0 h 27"/>
                  <a:gd name="T42" fmla="*/ 0 w 79"/>
                  <a:gd name="T43" fmla="*/ 0 h 27"/>
                  <a:gd name="T44" fmla="*/ 0 w 79"/>
                  <a:gd name="T45" fmla="*/ 0 h 27"/>
                  <a:gd name="T46" fmla="*/ 0 w 79"/>
                  <a:gd name="T47" fmla="*/ 0 h 27"/>
                  <a:gd name="T48" fmla="*/ 0 w 79"/>
                  <a:gd name="T49" fmla="*/ 0 h 27"/>
                  <a:gd name="T50" fmla="*/ 0 w 79"/>
                  <a:gd name="T51" fmla="*/ 0 h 2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9"/>
                  <a:gd name="T79" fmla="*/ 0 h 27"/>
                  <a:gd name="T80" fmla="*/ 79 w 79"/>
                  <a:gd name="T81" fmla="*/ 27 h 2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9" h="27">
                    <a:moveTo>
                      <a:pt x="21" y="21"/>
                    </a:moveTo>
                    <a:lnTo>
                      <a:pt x="11" y="27"/>
                    </a:lnTo>
                    <a:lnTo>
                      <a:pt x="13" y="27"/>
                    </a:lnTo>
                    <a:lnTo>
                      <a:pt x="18" y="27"/>
                    </a:lnTo>
                    <a:lnTo>
                      <a:pt x="25" y="27"/>
                    </a:lnTo>
                    <a:lnTo>
                      <a:pt x="35" y="27"/>
                    </a:lnTo>
                    <a:lnTo>
                      <a:pt x="46" y="27"/>
                    </a:lnTo>
                    <a:lnTo>
                      <a:pt x="58" y="25"/>
                    </a:lnTo>
                    <a:lnTo>
                      <a:pt x="68" y="24"/>
                    </a:lnTo>
                    <a:lnTo>
                      <a:pt x="79" y="22"/>
                    </a:lnTo>
                    <a:lnTo>
                      <a:pt x="72" y="0"/>
                    </a:lnTo>
                    <a:lnTo>
                      <a:pt x="65" y="2"/>
                    </a:lnTo>
                    <a:lnTo>
                      <a:pt x="55" y="4"/>
                    </a:lnTo>
                    <a:lnTo>
                      <a:pt x="46" y="5"/>
                    </a:lnTo>
                    <a:lnTo>
                      <a:pt x="35" y="5"/>
                    </a:lnTo>
                    <a:lnTo>
                      <a:pt x="25" y="5"/>
                    </a:lnTo>
                    <a:lnTo>
                      <a:pt x="18" y="5"/>
                    </a:lnTo>
                    <a:lnTo>
                      <a:pt x="13" y="5"/>
                    </a:lnTo>
                    <a:lnTo>
                      <a:pt x="11" y="5"/>
                    </a:lnTo>
                    <a:lnTo>
                      <a:pt x="2" y="11"/>
                    </a:lnTo>
                    <a:lnTo>
                      <a:pt x="11" y="5"/>
                    </a:lnTo>
                    <a:lnTo>
                      <a:pt x="4" y="8"/>
                    </a:lnTo>
                    <a:lnTo>
                      <a:pt x="0" y="16"/>
                    </a:lnTo>
                    <a:lnTo>
                      <a:pt x="4" y="24"/>
                    </a:lnTo>
                    <a:lnTo>
                      <a:pt x="11" y="27"/>
                    </a:lnTo>
                    <a:lnTo>
                      <a:pt x="21" y="21"/>
                    </a:lnTo>
                    <a:close/>
                  </a:path>
                </a:pathLst>
              </a:custGeom>
              <a:solidFill>
                <a:srgbClr val="000000"/>
              </a:solidFill>
              <a:ln w="9525">
                <a:noFill/>
                <a:round/>
                <a:headEnd/>
                <a:tailEnd/>
              </a:ln>
            </p:spPr>
            <p:txBody>
              <a:bodyPr/>
              <a:lstStyle/>
              <a:p>
                <a:endParaRPr lang="en-US"/>
              </a:p>
            </p:txBody>
          </p:sp>
          <p:sp>
            <p:nvSpPr>
              <p:cNvPr id="27795" name="Freeform 108"/>
              <p:cNvSpPr>
                <a:spLocks/>
              </p:cNvSpPr>
              <p:nvPr/>
            </p:nvSpPr>
            <p:spPr bwMode="auto">
              <a:xfrm>
                <a:off x="1990" y="3505"/>
                <a:ext cx="272" cy="336"/>
              </a:xfrm>
              <a:custGeom>
                <a:avLst/>
                <a:gdLst>
                  <a:gd name="T0" fmla="*/ 1 w 543"/>
                  <a:gd name="T1" fmla="*/ 1 h 672"/>
                  <a:gd name="T2" fmla="*/ 1 w 543"/>
                  <a:gd name="T3" fmla="*/ 1 h 672"/>
                  <a:gd name="T4" fmla="*/ 1 w 543"/>
                  <a:gd name="T5" fmla="*/ 1 h 672"/>
                  <a:gd name="T6" fmla="*/ 1 w 543"/>
                  <a:gd name="T7" fmla="*/ 1 h 672"/>
                  <a:gd name="T8" fmla="*/ 1 w 543"/>
                  <a:gd name="T9" fmla="*/ 1 h 672"/>
                  <a:gd name="T10" fmla="*/ 1 w 543"/>
                  <a:gd name="T11" fmla="*/ 1 h 672"/>
                  <a:gd name="T12" fmla="*/ 1 w 543"/>
                  <a:gd name="T13" fmla="*/ 1 h 672"/>
                  <a:gd name="T14" fmla="*/ 1 w 543"/>
                  <a:gd name="T15" fmla="*/ 1 h 672"/>
                  <a:gd name="T16" fmla="*/ 1 w 543"/>
                  <a:gd name="T17" fmla="*/ 1 h 672"/>
                  <a:gd name="T18" fmla="*/ 1 w 543"/>
                  <a:gd name="T19" fmla="*/ 1 h 672"/>
                  <a:gd name="T20" fmla="*/ 1 w 543"/>
                  <a:gd name="T21" fmla="*/ 1 h 672"/>
                  <a:gd name="T22" fmla="*/ 1 w 543"/>
                  <a:gd name="T23" fmla="*/ 1 h 672"/>
                  <a:gd name="T24" fmla="*/ 1 w 543"/>
                  <a:gd name="T25" fmla="*/ 1 h 672"/>
                  <a:gd name="T26" fmla="*/ 1 w 543"/>
                  <a:gd name="T27" fmla="*/ 1 h 672"/>
                  <a:gd name="T28" fmla="*/ 1 w 543"/>
                  <a:gd name="T29" fmla="*/ 1 h 672"/>
                  <a:gd name="T30" fmla="*/ 1 w 543"/>
                  <a:gd name="T31" fmla="*/ 1 h 672"/>
                  <a:gd name="T32" fmla="*/ 1 w 543"/>
                  <a:gd name="T33" fmla="*/ 1 h 672"/>
                  <a:gd name="T34" fmla="*/ 1 w 543"/>
                  <a:gd name="T35" fmla="*/ 1 h 672"/>
                  <a:gd name="T36" fmla="*/ 1 w 543"/>
                  <a:gd name="T37" fmla="*/ 1 h 672"/>
                  <a:gd name="T38" fmla="*/ 1 w 543"/>
                  <a:gd name="T39" fmla="*/ 1 h 672"/>
                  <a:gd name="T40" fmla="*/ 1 w 543"/>
                  <a:gd name="T41" fmla="*/ 1 h 672"/>
                  <a:gd name="T42" fmla="*/ 1 w 543"/>
                  <a:gd name="T43" fmla="*/ 1 h 672"/>
                  <a:gd name="T44" fmla="*/ 1 w 543"/>
                  <a:gd name="T45" fmla="*/ 0 h 672"/>
                  <a:gd name="T46" fmla="*/ 1 w 543"/>
                  <a:gd name="T47" fmla="*/ 1 h 672"/>
                  <a:gd name="T48" fmla="*/ 1 w 543"/>
                  <a:gd name="T49" fmla="*/ 1 h 672"/>
                  <a:gd name="T50" fmla="*/ 1 w 543"/>
                  <a:gd name="T51" fmla="*/ 1 h 672"/>
                  <a:gd name="T52" fmla="*/ 1 w 543"/>
                  <a:gd name="T53" fmla="*/ 1 h 672"/>
                  <a:gd name="T54" fmla="*/ 1 w 543"/>
                  <a:gd name="T55" fmla="*/ 1 h 672"/>
                  <a:gd name="T56" fmla="*/ 1 w 543"/>
                  <a:gd name="T57" fmla="*/ 1 h 672"/>
                  <a:gd name="T58" fmla="*/ 1 w 543"/>
                  <a:gd name="T59" fmla="*/ 1 h 672"/>
                  <a:gd name="T60" fmla="*/ 1 w 543"/>
                  <a:gd name="T61" fmla="*/ 1 h 672"/>
                  <a:gd name="T62" fmla="*/ 1 w 543"/>
                  <a:gd name="T63" fmla="*/ 1 h 672"/>
                  <a:gd name="T64" fmla="*/ 1 w 543"/>
                  <a:gd name="T65" fmla="*/ 1 h 672"/>
                  <a:gd name="T66" fmla="*/ 1 w 543"/>
                  <a:gd name="T67" fmla="*/ 1 h 672"/>
                  <a:gd name="T68" fmla="*/ 1 w 543"/>
                  <a:gd name="T69" fmla="*/ 1 h 672"/>
                  <a:gd name="T70" fmla="*/ 1 w 543"/>
                  <a:gd name="T71" fmla="*/ 1 h 672"/>
                  <a:gd name="T72" fmla="*/ 1 w 543"/>
                  <a:gd name="T73" fmla="*/ 1 h 672"/>
                  <a:gd name="T74" fmla="*/ 1 w 543"/>
                  <a:gd name="T75" fmla="*/ 1 h 672"/>
                  <a:gd name="T76" fmla="*/ 1 w 543"/>
                  <a:gd name="T77" fmla="*/ 1 h 672"/>
                  <a:gd name="T78" fmla="*/ 1 w 543"/>
                  <a:gd name="T79" fmla="*/ 1 h 672"/>
                  <a:gd name="T80" fmla="*/ 1 w 543"/>
                  <a:gd name="T81" fmla="*/ 1 h 672"/>
                  <a:gd name="T82" fmla="*/ 1 w 543"/>
                  <a:gd name="T83" fmla="*/ 1 h 672"/>
                  <a:gd name="T84" fmla="*/ 1 w 543"/>
                  <a:gd name="T85" fmla="*/ 1 h 672"/>
                  <a:gd name="T86" fmla="*/ 1 w 543"/>
                  <a:gd name="T87" fmla="*/ 1 h 672"/>
                  <a:gd name="T88" fmla="*/ 1 w 543"/>
                  <a:gd name="T89" fmla="*/ 1 h 672"/>
                  <a:gd name="T90" fmla="*/ 1 w 543"/>
                  <a:gd name="T91" fmla="*/ 1 h 672"/>
                  <a:gd name="T92" fmla="*/ 0 w 543"/>
                  <a:gd name="T93" fmla="*/ 1 h 672"/>
                  <a:gd name="T94" fmla="*/ 0 w 543"/>
                  <a:gd name="T95" fmla="*/ 1 h 672"/>
                  <a:gd name="T96" fmla="*/ 1 w 543"/>
                  <a:gd name="T97" fmla="*/ 1 h 672"/>
                  <a:gd name="T98" fmla="*/ 1 w 543"/>
                  <a:gd name="T99" fmla="*/ 1 h 672"/>
                  <a:gd name="T100" fmla="*/ 1 w 543"/>
                  <a:gd name="T101" fmla="*/ 1 h 672"/>
                  <a:gd name="T102" fmla="*/ 1 w 543"/>
                  <a:gd name="T103" fmla="*/ 1 h 672"/>
                  <a:gd name="T104" fmla="*/ 1 w 543"/>
                  <a:gd name="T105" fmla="*/ 1 h 672"/>
                  <a:gd name="T106" fmla="*/ 1 w 543"/>
                  <a:gd name="T107" fmla="*/ 1 h 672"/>
                  <a:gd name="T108" fmla="*/ 1 w 543"/>
                  <a:gd name="T109" fmla="*/ 1 h 672"/>
                  <a:gd name="T110" fmla="*/ 1 w 543"/>
                  <a:gd name="T111" fmla="*/ 1 h 672"/>
                  <a:gd name="T112" fmla="*/ 1 w 543"/>
                  <a:gd name="T113" fmla="*/ 1 h 672"/>
                  <a:gd name="T114" fmla="*/ 1 w 543"/>
                  <a:gd name="T115" fmla="*/ 1 h 672"/>
                  <a:gd name="T116" fmla="*/ 1 w 543"/>
                  <a:gd name="T117" fmla="*/ 1 h 672"/>
                  <a:gd name="T118" fmla="*/ 1 w 543"/>
                  <a:gd name="T119" fmla="*/ 1 h 672"/>
                  <a:gd name="T120" fmla="*/ 1 w 543"/>
                  <a:gd name="T121" fmla="*/ 1 h 67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3"/>
                  <a:gd name="T184" fmla="*/ 0 h 672"/>
                  <a:gd name="T185" fmla="*/ 543 w 543"/>
                  <a:gd name="T186" fmla="*/ 672 h 67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3" h="672">
                    <a:moveTo>
                      <a:pt x="343" y="431"/>
                    </a:moveTo>
                    <a:lnTo>
                      <a:pt x="329" y="424"/>
                    </a:lnTo>
                    <a:lnTo>
                      <a:pt x="316" y="417"/>
                    </a:lnTo>
                    <a:lnTo>
                      <a:pt x="307" y="410"/>
                    </a:lnTo>
                    <a:lnTo>
                      <a:pt x="301" y="403"/>
                    </a:lnTo>
                    <a:lnTo>
                      <a:pt x="298" y="396"/>
                    </a:lnTo>
                    <a:lnTo>
                      <a:pt x="296" y="392"/>
                    </a:lnTo>
                    <a:lnTo>
                      <a:pt x="296" y="390"/>
                    </a:lnTo>
                    <a:lnTo>
                      <a:pt x="291" y="266"/>
                    </a:lnTo>
                    <a:lnTo>
                      <a:pt x="293" y="265"/>
                    </a:lnTo>
                    <a:lnTo>
                      <a:pt x="299" y="260"/>
                    </a:lnTo>
                    <a:lnTo>
                      <a:pt x="305" y="254"/>
                    </a:lnTo>
                    <a:lnTo>
                      <a:pt x="313" y="248"/>
                    </a:lnTo>
                    <a:lnTo>
                      <a:pt x="321" y="241"/>
                    </a:lnTo>
                    <a:lnTo>
                      <a:pt x="327" y="237"/>
                    </a:lnTo>
                    <a:lnTo>
                      <a:pt x="331" y="234"/>
                    </a:lnTo>
                    <a:lnTo>
                      <a:pt x="331" y="235"/>
                    </a:lnTo>
                    <a:lnTo>
                      <a:pt x="321" y="243"/>
                    </a:lnTo>
                    <a:lnTo>
                      <a:pt x="309" y="254"/>
                    </a:lnTo>
                    <a:lnTo>
                      <a:pt x="296" y="263"/>
                    </a:lnTo>
                    <a:lnTo>
                      <a:pt x="291" y="266"/>
                    </a:lnTo>
                    <a:lnTo>
                      <a:pt x="257" y="266"/>
                    </a:lnTo>
                    <a:lnTo>
                      <a:pt x="255" y="263"/>
                    </a:lnTo>
                    <a:lnTo>
                      <a:pt x="251" y="257"/>
                    </a:lnTo>
                    <a:lnTo>
                      <a:pt x="246" y="249"/>
                    </a:lnTo>
                    <a:lnTo>
                      <a:pt x="240" y="241"/>
                    </a:lnTo>
                    <a:lnTo>
                      <a:pt x="233" y="230"/>
                    </a:lnTo>
                    <a:lnTo>
                      <a:pt x="229" y="218"/>
                    </a:lnTo>
                    <a:lnTo>
                      <a:pt x="224" y="205"/>
                    </a:lnTo>
                    <a:lnTo>
                      <a:pt x="222" y="201"/>
                    </a:lnTo>
                    <a:lnTo>
                      <a:pt x="224" y="198"/>
                    </a:lnTo>
                    <a:lnTo>
                      <a:pt x="230" y="187"/>
                    </a:lnTo>
                    <a:lnTo>
                      <a:pt x="240" y="174"/>
                    </a:lnTo>
                    <a:lnTo>
                      <a:pt x="251" y="160"/>
                    </a:lnTo>
                    <a:lnTo>
                      <a:pt x="258" y="151"/>
                    </a:lnTo>
                    <a:lnTo>
                      <a:pt x="266" y="138"/>
                    </a:lnTo>
                    <a:lnTo>
                      <a:pt x="277" y="124"/>
                    </a:lnTo>
                    <a:lnTo>
                      <a:pt x="287" y="107"/>
                    </a:lnTo>
                    <a:lnTo>
                      <a:pt x="298" y="93"/>
                    </a:lnTo>
                    <a:lnTo>
                      <a:pt x="307" y="79"/>
                    </a:lnTo>
                    <a:lnTo>
                      <a:pt x="315" y="68"/>
                    </a:lnTo>
                    <a:lnTo>
                      <a:pt x="321" y="60"/>
                    </a:lnTo>
                    <a:lnTo>
                      <a:pt x="334" y="52"/>
                    </a:lnTo>
                    <a:lnTo>
                      <a:pt x="346" y="47"/>
                    </a:lnTo>
                    <a:lnTo>
                      <a:pt x="357" y="46"/>
                    </a:lnTo>
                    <a:lnTo>
                      <a:pt x="362" y="46"/>
                    </a:lnTo>
                    <a:lnTo>
                      <a:pt x="365" y="47"/>
                    </a:lnTo>
                    <a:lnTo>
                      <a:pt x="371" y="49"/>
                    </a:lnTo>
                    <a:lnTo>
                      <a:pt x="382" y="52"/>
                    </a:lnTo>
                    <a:lnTo>
                      <a:pt x="393" y="54"/>
                    </a:lnTo>
                    <a:lnTo>
                      <a:pt x="399" y="54"/>
                    </a:lnTo>
                    <a:lnTo>
                      <a:pt x="409" y="54"/>
                    </a:lnTo>
                    <a:lnTo>
                      <a:pt x="418" y="52"/>
                    </a:lnTo>
                    <a:lnTo>
                      <a:pt x="428" y="51"/>
                    </a:lnTo>
                    <a:lnTo>
                      <a:pt x="437" y="49"/>
                    </a:lnTo>
                    <a:lnTo>
                      <a:pt x="448" y="46"/>
                    </a:lnTo>
                    <a:lnTo>
                      <a:pt x="457" y="44"/>
                    </a:lnTo>
                    <a:lnTo>
                      <a:pt x="465" y="41"/>
                    </a:lnTo>
                    <a:lnTo>
                      <a:pt x="478" y="35"/>
                    </a:lnTo>
                    <a:lnTo>
                      <a:pt x="487" y="29"/>
                    </a:lnTo>
                    <a:lnTo>
                      <a:pt x="492" y="24"/>
                    </a:lnTo>
                    <a:lnTo>
                      <a:pt x="493" y="22"/>
                    </a:lnTo>
                    <a:lnTo>
                      <a:pt x="492" y="19"/>
                    </a:lnTo>
                    <a:lnTo>
                      <a:pt x="489" y="13"/>
                    </a:lnTo>
                    <a:lnTo>
                      <a:pt x="486" y="5"/>
                    </a:lnTo>
                    <a:lnTo>
                      <a:pt x="487" y="2"/>
                    </a:lnTo>
                    <a:lnTo>
                      <a:pt x="490" y="0"/>
                    </a:lnTo>
                    <a:lnTo>
                      <a:pt x="496" y="0"/>
                    </a:lnTo>
                    <a:lnTo>
                      <a:pt x="503" y="2"/>
                    </a:lnTo>
                    <a:lnTo>
                      <a:pt x="511" y="2"/>
                    </a:lnTo>
                    <a:lnTo>
                      <a:pt x="517" y="4"/>
                    </a:lnTo>
                    <a:lnTo>
                      <a:pt x="525" y="5"/>
                    </a:lnTo>
                    <a:lnTo>
                      <a:pt x="531" y="7"/>
                    </a:lnTo>
                    <a:lnTo>
                      <a:pt x="536" y="8"/>
                    </a:lnTo>
                    <a:lnTo>
                      <a:pt x="539" y="15"/>
                    </a:lnTo>
                    <a:lnTo>
                      <a:pt x="540" y="25"/>
                    </a:lnTo>
                    <a:lnTo>
                      <a:pt x="542" y="41"/>
                    </a:lnTo>
                    <a:lnTo>
                      <a:pt x="543" y="58"/>
                    </a:lnTo>
                    <a:lnTo>
                      <a:pt x="543" y="76"/>
                    </a:lnTo>
                    <a:lnTo>
                      <a:pt x="543" y="91"/>
                    </a:lnTo>
                    <a:lnTo>
                      <a:pt x="543" y="101"/>
                    </a:lnTo>
                    <a:lnTo>
                      <a:pt x="543" y="105"/>
                    </a:lnTo>
                    <a:lnTo>
                      <a:pt x="543" y="110"/>
                    </a:lnTo>
                    <a:lnTo>
                      <a:pt x="543" y="121"/>
                    </a:lnTo>
                    <a:lnTo>
                      <a:pt x="543" y="138"/>
                    </a:lnTo>
                    <a:lnTo>
                      <a:pt x="542" y="162"/>
                    </a:lnTo>
                    <a:lnTo>
                      <a:pt x="540" y="190"/>
                    </a:lnTo>
                    <a:lnTo>
                      <a:pt x="539" y="219"/>
                    </a:lnTo>
                    <a:lnTo>
                      <a:pt x="536" y="252"/>
                    </a:lnTo>
                    <a:lnTo>
                      <a:pt x="531" y="287"/>
                    </a:lnTo>
                    <a:lnTo>
                      <a:pt x="526" y="321"/>
                    </a:lnTo>
                    <a:lnTo>
                      <a:pt x="520" y="356"/>
                    </a:lnTo>
                    <a:lnTo>
                      <a:pt x="512" y="387"/>
                    </a:lnTo>
                    <a:lnTo>
                      <a:pt x="504" y="417"/>
                    </a:lnTo>
                    <a:lnTo>
                      <a:pt x="493" y="442"/>
                    </a:lnTo>
                    <a:lnTo>
                      <a:pt x="481" y="460"/>
                    </a:lnTo>
                    <a:lnTo>
                      <a:pt x="467" y="475"/>
                    </a:lnTo>
                    <a:lnTo>
                      <a:pt x="451" y="482"/>
                    </a:lnTo>
                    <a:lnTo>
                      <a:pt x="418" y="489"/>
                    </a:lnTo>
                    <a:lnTo>
                      <a:pt x="387" y="493"/>
                    </a:lnTo>
                    <a:lnTo>
                      <a:pt x="359" y="496"/>
                    </a:lnTo>
                    <a:lnTo>
                      <a:pt x="331" y="498"/>
                    </a:lnTo>
                    <a:lnTo>
                      <a:pt x="305" y="500"/>
                    </a:lnTo>
                    <a:lnTo>
                      <a:pt x="282" y="498"/>
                    </a:lnTo>
                    <a:lnTo>
                      <a:pt x="260" y="495"/>
                    </a:lnTo>
                    <a:lnTo>
                      <a:pt x="240" y="490"/>
                    </a:lnTo>
                    <a:lnTo>
                      <a:pt x="221" y="484"/>
                    </a:lnTo>
                    <a:lnTo>
                      <a:pt x="204" y="479"/>
                    </a:lnTo>
                    <a:lnTo>
                      <a:pt x="186" y="476"/>
                    </a:lnTo>
                    <a:lnTo>
                      <a:pt x="169" y="473"/>
                    </a:lnTo>
                    <a:lnTo>
                      <a:pt x="155" y="471"/>
                    </a:lnTo>
                    <a:lnTo>
                      <a:pt x="144" y="470"/>
                    </a:lnTo>
                    <a:lnTo>
                      <a:pt x="133" y="470"/>
                    </a:lnTo>
                    <a:lnTo>
                      <a:pt x="127" y="470"/>
                    </a:lnTo>
                    <a:lnTo>
                      <a:pt x="119" y="471"/>
                    </a:lnTo>
                    <a:lnTo>
                      <a:pt x="114" y="473"/>
                    </a:lnTo>
                    <a:lnTo>
                      <a:pt x="113" y="475"/>
                    </a:lnTo>
                    <a:lnTo>
                      <a:pt x="113" y="476"/>
                    </a:lnTo>
                    <a:lnTo>
                      <a:pt x="111" y="489"/>
                    </a:lnTo>
                    <a:lnTo>
                      <a:pt x="118" y="659"/>
                    </a:lnTo>
                    <a:lnTo>
                      <a:pt x="116" y="659"/>
                    </a:lnTo>
                    <a:lnTo>
                      <a:pt x="114" y="662"/>
                    </a:lnTo>
                    <a:lnTo>
                      <a:pt x="110" y="664"/>
                    </a:lnTo>
                    <a:lnTo>
                      <a:pt x="102" y="667"/>
                    </a:lnTo>
                    <a:lnTo>
                      <a:pt x="94" y="669"/>
                    </a:lnTo>
                    <a:lnTo>
                      <a:pt x="83" y="672"/>
                    </a:lnTo>
                    <a:lnTo>
                      <a:pt x="72" y="672"/>
                    </a:lnTo>
                    <a:lnTo>
                      <a:pt x="58" y="672"/>
                    </a:lnTo>
                    <a:lnTo>
                      <a:pt x="35" y="669"/>
                    </a:lnTo>
                    <a:lnTo>
                      <a:pt x="22" y="665"/>
                    </a:lnTo>
                    <a:lnTo>
                      <a:pt x="16" y="664"/>
                    </a:lnTo>
                    <a:lnTo>
                      <a:pt x="14" y="662"/>
                    </a:lnTo>
                    <a:lnTo>
                      <a:pt x="14" y="656"/>
                    </a:lnTo>
                    <a:lnTo>
                      <a:pt x="11" y="642"/>
                    </a:lnTo>
                    <a:lnTo>
                      <a:pt x="10" y="620"/>
                    </a:lnTo>
                    <a:lnTo>
                      <a:pt x="6" y="595"/>
                    </a:lnTo>
                    <a:lnTo>
                      <a:pt x="3" y="567"/>
                    </a:lnTo>
                    <a:lnTo>
                      <a:pt x="2" y="540"/>
                    </a:lnTo>
                    <a:lnTo>
                      <a:pt x="0" y="517"/>
                    </a:lnTo>
                    <a:lnTo>
                      <a:pt x="0" y="500"/>
                    </a:lnTo>
                    <a:lnTo>
                      <a:pt x="0" y="485"/>
                    </a:lnTo>
                    <a:lnTo>
                      <a:pt x="0" y="468"/>
                    </a:lnTo>
                    <a:lnTo>
                      <a:pt x="0" y="451"/>
                    </a:lnTo>
                    <a:lnTo>
                      <a:pt x="0" y="434"/>
                    </a:lnTo>
                    <a:lnTo>
                      <a:pt x="2" y="418"/>
                    </a:lnTo>
                    <a:lnTo>
                      <a:pt x="5" y="403"/>
                    </a:lnTo>
                    <a:lnTo>
                      <a:pt x="11" y="390"/>
                    </a:lnTo>
                    <a:lnTo>
                      <a:pt x="20" y="381"/>
                    </a:lnTo>
                    <a:lnTo>
                      <a:pt x="35" y="373"/>
                    </a:lnTo>
                    <a:lnTo>
                      <a:pt x="55" y="367"/>
                    </a:lnTo>
                    <a:lnTo>
                      <a:pt x="78" y="360"/>
                    </a:lnTo>
                    <a:lnTo>
                      <a:pt x="108" y="356"/>
                    </a:lnTo>
                    <a:lnTo>
                      <a:pt x="139" y="352"/>
                    </a:lnTo>
                    <a:lnTo>
                      <a:pt x="174" y="352"/>
                    </a:lnTo>
                    <a:lnTo>
                      <a:pt x="212" y="354"/>
                    </a:lnTo>
                    <a:lnTo>
                      <a:pt x="251" y="357"/>
                    </a:lnTo>
                    <a:lnTo>
                      <a:pt x="248" y="357"/>
                    </a:lnTo>
                    <a:lnTo>
                      <a:pt x="241" y="356"/>
                    </a:lnTo>
                    <a:lnTo>
                      <a:pt x="232" y="356"/>
                    </a:lnTo>
                    <a:lnTo>
                      <a:pt x="219" y="354"/>
                    </a:lnTo>
                    <a:lnTo>
                      <a:pt x="205" y="354"/>
                    </a:lnTo>
                    <a:lnTo>
                      <a:pt x="190" y="352"/>
                    </a:lnTo>
                    <a:lnTo>
                      <a:pt x="174" y="352"/>
                    </a:lnTo>
                    <a:lnTo>
                      <a:pt x="158" y="352"/>
                    </a:lnTo>
                    <a:lnTo>
                      <a:pt x="135" y="352"/>
                    </a:lnTo>
                    <a:lnTo>
                      <a:pt x="122" y="354"/>
                    </a:lnTo>
                    <a:lnTo>
                      <a:pt x="118" y="356"/>
                    </a:lnTo>
                    <a:lnTo>
                      <a:pt x="116" y="356"/>
                    </a:lnTo>
                    <a:lnTo>
                      <a:pt x="113" y="343"/>
                    </a:lnTo>
                    <a:lnTo>
                      <a:pt x="113" y="342"/>
                    </a:lnTo>
                    <a:lnTo>
                      <a:pt x="114" y="335"/>
                    </a:lnTo>
                    <a:lnTo>
                      <a:pt x="121" y="327"/>
                    </a:lnTo>
                    <a:lnTo>
                      <a:pt x="135" y="321"/>
                    </a:lnTo>
                    <a:lnTo>
                      <a:pt x="149" y="318"/>
                    </a:lnTo>
                    <a:lnTo>
                      <a:pt x="168" y="315"/>
                    </a:lnTo>
                    <a:lnTo>
                      <a:pt x="191" y="310"/>
                    </a:lnTo>
                    <a:lnTo>
                      <a:pt x="216" y="307"/>
                    </a:lnTo>
                    <a:lnTo>
                      <a:pt x="241" y="304"/>
                    </a:lnTo>
                    <a:lnTo>
                      <a:pt x="263" y="301"/>
                    </a:lnTo>
                    <a:lnTo>
                      <a:pt x="280" y="299"/>
                    </a:lnTo>
                    <a:lnTo>
                      <a:pt x="291" y="299"/>
                    </a:lnTo>
                    <a:lnTo>
                      <a:pt x="343" y="431"/>
                    </a:lnTo>
                    <a:close/>
                  </a:path>
                </a:pathLst>
              </a:custGeom>
              <a:solidFill>
                <a:srgbClr val="00FFB2"/>
              </a:solidFill>
              <a:ln w="9525">
                <a:noFill/>
                <a:round/>
                <a:headEnd/>
                <a:tailEnd/>
              </a:ln>
            </p:spPr>
            <p:txBody>
              <a:bodyPr/>
              <a:lstStyle/>
              <a:p>
                <a:endParaRPr lang="en-US"/>
              </a:p>
            </p:txBody>
          </p:sp>
          <p:sp>
            <p:nvSpPr>
              <p:cNvPr id="27796" name="Freeform 109"/>
              <p:cNvSpPr>
                <a:spLocks/>
              </p:cNvSpPr>
              <p:nvPr/>
            </p:nvSpPr>
            <p:spPr bwMode="auto">
              <a:xfrm>
                <a:off x="2136" y="3703"/>
                <a:ext cx="27" cy="23"/>
              </a:xfrm>
              <a:custGeom>
                <a:avLst/>
                <a:gdLst>
                  <a:gd name="T0" fmla="*/ 0 w 55"/>
                  <a:gd name="T1" fmla="*/ 1 h 46"/>
                  <a:gd name="T2" fmla="*/ 0 w 55"/>
                  <a:gd name="T3" fmla="*/ 1 h 46"/>
                  <a:gd name="T4" fmla="*/ 0 w 55"/>
                  <a:gd name="T5" fmla="*/ 1 h 46"/>
                  <a:gd name="T6" fmla="*/ 0 w 55"/>
                  <a:gd name="T7" fmla="*/ 1 h 46"/>
                  <a:gd name="T8" fmla="*/ 0 w 55"/>
                  <a:gd name="T9" fmla="*/ 1 h 46"/>
                  <a:gd name="T10" fmla="*/ 0 w 55"/>
                  <a:gd name="T11" fmla="*/ 1 h 46"/>
                  <a:gd name="T12" fmla="*/ 0 w 55"/>
                  <a:gd name="T13" fmla="*/ 1 h 46"/>
                  <a:gd name="T14" fmla="*/ 0 w 55"/>
                  <a:gd name="T15" fmla="*/ 1 h 46"/>
                  <a:gd name="T16" fmla="*/ 0 w 55"/>
                  <a:gd name="T17" fmla="*/ 1 h 46"/>
                  <a:gd name="T18" fmla="*/ 0 w 55"/>
                  <a:gd name="T19" fmla="*/ 1 h 46"/>
                  <a:gd name="T20" fmla="*/ 0 w 55"/>
                  <a:gd name="T21" fmla="*/ 0 h 46"/>
                  <a:gd name="T22" fmla="*/ 0 w 55"/>
                  <a:gd name="T23" fmla="*/ 1 h 46"/>
                  <a:gd name="T24" fmla="*/ 0 w 55"/>
                  <a:gd name="T25" fmla="*/ 1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46"/>
                  <a:gd name="T41" fmla="*/ 55 w 55"/>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46">
                    <a:moveTo>
                      <a:pt x="0" y="11"/>
                    </a:moveTo>
                    <a:lnTo>
                      <a:pt x="0" y="13"/>
                    </a:lnTo>
                    <a:lnTo>
                      <a:pt x="8" y="22"/>
                    </a:lnTo>
                    <a:lnTo>
                      <a:pt x="19" y="30"/>
                    </a:lnTo>
                    <a:lnTo>
                      <a:pt x="33" y="38"/>
                    </a:lnTo>
                    <a:lnTo>
                      <a:pt x="49" y="46"/>
                    </a:lnTo>
                    <a:lnTo>
                      <a:pt x="55" y="24"/>
                    </a:lnTo>
                    <a:lnTo>
                      <a:pt x="43" y="19"/>
                    </a:lnTo>
                    <a:lnTo>
                      <a:pt x="32" y="11"/>
                    </a:lnTo>
                    <a:lnTo>
                      <a:pt x="24" y="7"/>
                    </a:lnTo>
                    <a:lnTo>
                      <a:pt x="19" y="0"/>
                    </a:lnTo>
                    <a:lnTo>
                      <a:pt x="19" y="2"/>
                    </a:lnTo>
                    <a:lnTo>
                      <a:pt x="0" y="11"/>
                    </a:lnTo>
                    <a:close/>
                  </a:path>
                </a:pathLst>
              </a:custGeom>
              <a:solidFill>
                <a:srgbClr val="000000"/>
              </a:solidFill>
              <a:ln w="9525">
                <a:noFill/>
                <a:round/>
                <a:headEnd/>
                <a:tailEnd/>
              </a:ln>
            </p:spPr>
            <p:txBody>
              <a:bodyPr/>
              <a:lstStyle/>
              <a:p>
                <a:endParaRPr lang="en-US"/>
              </a:p>
            </p:txBody>
          </p:sp>
          <p:sp>
            <p:nvSpPr>
              <p:cNvPr id="27797" name="Freeform 110"/>
              <p:cNvSpPr>
                <a:spLocks/>
              </p:cNvSpPr>
              <p:nvPr/>
            </p:nvSpPr>
            <p:spPr bwMode="auto">
              <a:xfrm>
                <a:off x="2133" y="3695"/>
                <a:ext cx="12" cy="14"/>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1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0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0" y="11"/>
                    </a:moveTo>
                    <a:lnTo>
                      <a:pt x="3" y="3"/>
                    </a:lnTo>
                    <a:lnTo>
                      <a:pt x="0" y="11"/>
                    </a:lnTo>
                    <a:lnTo>
                      <a:pt x="0" y="16"/>
                    </a:lnTo>
                    <a:lnTo>
                      <a:pt x="3" y="22"/>
                    </a:lnTo>
                    <a:lnTo>
                      <a:pt x="6" y="28"/>
                    </a:lnTo>
                    <a:lnTo>
                      <a:pt x="25" y="19"/>
                    </a:lnTo>
                    <a:lnTo>
                      <a:pt x="22" y="13"/>
                    </a:lnTo>
                    <a:lnTo>
                      <a:pt x="22" y="9"/>
                    </a:lnTo>
                    <a:lnTo>
                      <a:pt x="22" y="11"/>
                    </a:lnTo>
                    <a:lnTo>
                      <a:pt x="19" y="19"/>
                    </a:lnTo>
                    <a:lnTo>
                      <a:pt x="22" y="11"/>
                    </a:lnTo>
                    <a:lnTo>
                      <a:pt x="19" y="19"/>
                    </a:lnTo>
                    <a:lnTo>
                      <a:pt x="22" y="11"/>
                    </a:lnTo>
                    <a:lnTo>
                      <a:pt x="19" y="3"/>
                    </a:lnTo>
                    <a:lnTo>
                      <a:pt x="11" y="0"/>
                    </a:lnTo>
                    <a:lnTo>
                      <a:pt x="3" y="3"/>
                    </a:lnTo>
                    <a:lnTo>
                      <a:pt x="0" y="11"/>
                    </a:lnTo>
                    <a:close/>
                  </a:path>
                </a:pathLst>
              </a:custGeom>
              <a:solidFill>
                <a:srgbClr val="000000"/>
              </a:solidFill>
              <a:ln w="9525">
                <a:noFill/>
                <a:round/>
                <a:headEnd/>
                <a:tailEnd/>
              </a:ln>
            </p:spPr>
            <p:txBody>
              <a:bodyPr/>
              <a:lstStyle/>
              <a:p>
                <a:endParaRPr lang="en-US"/>
              </a:p>
            </p:txBody>
          </p:sp>
          <p:sp>
            <p:nvSpPr>
              <p:cNvPr id="27798" name="Freeform 111"/>
              <p:cNvSpPr>
                <a:spLocks/>
              </p:cNvSpPr>
              <p:nvPr/>
            </p:nvSpPr>
            <p:spPr bwMode="auto">
              <a:xfrm>
                <a:off x="2130" y="3633"/>
                <a:ext cx="14" cy="67"/>
              </a:xfrm>
              <a:custGeom>
                <a:avLst/>
                <a:gdLst>
                  <a:gd name="T0" fmla="*/ 1 w 27"/>
                  <a:gd name="T1" fmla="*/ 0 h 135"/>
                  <a:gd name="T2" fmla="*/ 0 w 27"/>
                  <a:gd name="T3" fmla="*/ 0 h 135"/>
                  <a:gd name="T4" fmla="*/ 1 w 27"/>
                  <a:gd name="T5" fmla="*/ 0 h 135"/>
                  <a:gd name="T6" fmla="*/ 1 w 27"/>
                  <a:gd name="T7" fmla="*/ 0 h 135"/>
                  <a:gd name="T8" fmla="*/ 1 w 27"/>
                  <a:gd name="T9" fmla="*/ 0 h 135"/>
                  <a:gd name="T10" fmla="*/ 1 w 27"/>
                  <a:gd name="T11" fmla="*/ 0 h 135"/>
                  <a:gd name="T12" fmla="*/ 1 w 27"/>
                  <a:gd name="T13" fmla="*/ 0 h 135"/>
                  <a:gd name="T14" fmla="*/ 1 w 27"/>
                  <a:gd name="T15" fmla="*/ 0 h 135"/>
                  <a:gd name="T16" fmla="*/ 1 w 27"/>
                  <a:gd name="T17" fmla="*/ 0 h 135"/>
                  <a:gd name="T18" fmla="*/ 1 w 27"/>
                  <a:gd name="T19" fmla="*/ 0 h 135"/>
                  <a:gd name="T20" fmla="*/ 0 w 27"/>
                  <a:gd name="T21" fmla="*/ 0 h 135"/>
                  <a:gd name="T22" fmla="*/ 1 w 27"/>
                  <a:gd name="T23" fmla="*/ 0 h 1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35"/>
                  <a:gd name="T38" fmla="*/ 27 w 27"/>
                  <a:gd name="T39" fmla="*/ 135 h 1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35">
                    <a:moveTo>
                      <a:pt x="4" y="4"/>
                    </a:moveTo>
                    <a:lnTo>
                      <a:pt x="0" y="11"/>
                    </a:lnTo>
                    <a:lnTo>
                      <a:pt x="5" y="135"/>
                    </a:lnTo>
                    <a:lnTo>
                      <a:pt x="27" y="135"/>
                    </a:lnTo>
                    <a:lnTo>
                      <a:pt x="22" y="11"/>
                    </a:lnTo>
                    <a:lnTo>
                      <a:pt x="19" y="19"/>
                    </a:lnTo>
                    <a:lnTo>
                      <a:pt x="22" y="11"/>
                    </a:lnTo>
                    <a:lnTo>
                      <a:pt x="19" y="4"/>
                    </a:lnTo>
                    <a:lnTo>
                      <a:pt x="11" y="0"/>
                    </a:lnTo>
                    <a:lnTo>
                      <a:pt x="4" y="4"/>
                    </a:lnTo>
                    <a:lnTo>
                      <a:pt x="0" y="11"/>
                    </a:lnTo>
                    <a:lnTo>
                      <a:pt x="4" y="4"/>
                    </a:lnTo>
                    <a:close/>
                  </a:path>
                </a:pathLst>
              </a:custGeom>
              <a:solidFill>
                <a:srgbClr val="000000"/>
              </a:solidFill>
              <a:ln w="9525">
                <a:noFill/>
                <a:round/>
                <a:headEnd/>
                <a:tailEnd/>
              </a:ln>
            </p:spPr>
            <p:txBody>
              <a:bodyPr/>
              <a:lstStyle/>
              <a:p>
                <a:endParaRPr lang="en-US"/>
              </a:p>
            </p:txBody>
          </p:sp>
          <p:sp>
            <p:nvSpPr>
              <p:cNvPr id="27799" name="Freeform 112"/>
              <p:cNvSpPr>
                <a:spLocks/>
              </p:cNvSpPr>
              <p:nvPr/>
            </p:nvSpPr>
            <p:spPr bwMode="auto">
              <a:xfrm>
                <a:off x="2132" y="3617"/>
                <a:ext cx="27" cy="25"/>
              </a:xfrm>
              <a:custGeom>
                <a:avLst/>
                <a:gdLst>
                  <a:gd name="T0" fmla="*/ 1 w 54"/>
                  <a:gd name="T1" fmla="*/ 1 h 50"/>
                  <a:gd name="T2" fmla="*/ 1 w 54"/>
                  <a:gd name="T3" fmla="*/ 1 h 50"/>
                  <a:gd name="T4" fmla="*/ 1 w 54"/>
                  <a:gd name="T5" fmla="*/ 0 h 50"/>
                  <a:gd name="T6" fmla="*/ 1 w 54"/>
                  <a:gd name="T7" fmla="*/ 1 h 50"/>
                  <a:gd name="T8" fmla="*/ 1 w 54"/>
                  <a:gd name="T9" fmla="*/ 1 h 50"/>
                  <a:gd name="T10" fmla="*/ 1 w 54"/>
                  <a:gd name="T11" fmla="*/ 1 h 50"/>
                  <a:gd name="T12" fmla="*/ 1 w 54"/>
                  <a:gd name="T13" fmla="*/ 1 h 50"/>
                  <a:gd name="T14" fmla="*/ 1 w 54"/>
                  <a:gd name="T15" fmla="*/ 1 h 50"/>
                  <a:gd name="T16" fmla="*/ 1 w 54"/>
                  <a:gd name="T17" fmla="*/ 1 h 50"/>
                  <a:gd name="T18" fmla="*/ 0 w 54"/>
                  <a:gd name="T19" fmla="*/ 1 h 50"/>
                  <a:gd name="T20" fmla="*/ 1 w 54"/>
                  <a:gd name="T21" fmla="*/ 1 h 50"/>
                  <a:gd name="T22" fmla="*/ 1 w 54"/>
                  <a:gd name="T23" fmla="*/ 1 h 50"/>
                  <a:gd name="T24" fmla="*/ 1 w 54"/>
                  <a:gd name="T25" fmla="*/ 1 h 50"/>
                  <a:gd name="T26" fmla="*/ 1 w 54"/>
                  <a:gd name="T27" fmla="*/ 1 h 50"/>
                  <a:gd name="T28" fmla="*/ 1 w 54"/>
                  <a:gd name="T29" fmla="*/ 1 h 50"/>
                  <a:gd name="T30" fmla="*/ 1 w 54"/>
                  <a:gd name="T31" fmla="*/ 1 h 50"/>
                  <a:gd name="T32" fmla="*/ 1 w 54"/>
                  <a:gd name="T33" fmla="*/ 1 h 50"/>
                  <a:gd name="T34" fmla="*/ 1 w 54"/>
                  <a:gd name="T35" fmla="*/ 1 h 50"/>
                  <a:gd name="T36" fmla="*/ 1 w 54"/>
                  <a:gd name="T37" fmla="*/ 1 h 50"/>
                  <a:gd name="T38" fmla="*/ 1 w 54"/>
                  <a:gd name="T39" fmla="*/ 1 h 50"/>
                  <a:gd name="T40" fmla="*/ 1 w 54"/>
                  <a:gd name="T41" fmla="*/ 1 h 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50"/>
                  <a:gd name="T65" fmla="*/ 54 w 54"/>
                  <a:gd name="T66" fmla="*/ 50 h 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50">
                    <a:moveTo>
                      <a:pt x="54" y="17"/>
                    </a:moveTo>
                    <a:lnTo>
                      <a:pt x="54" y="17"/>
                    </a:lnTo>
                    <a:lnTo>
                      <a:pt x="42" y="0"/>
                    </a:lnTo>
                    <a:lnTo>
                      <a:pt x="37" y="5"/>
                    </a:lnTo>
                    <a:lnTo>
                      <a:pt x="31" y="8"/>
                    </a:lnTo>
                    <a:lnTo>
                      <a:pt x="23" y="16"/>
                    </a:lnTo>
                    <a:lnTo>
                      <a:pt x="14" y="22"/>
                    </a:lnTo>
                    <a:lnTo>
                      <a:pt x="7" y="28"/>
                    </a:lnTo>
                    <a:lnTo>
                      <a:pt x="3" y="33"/>
                    </a:lnTo>
                    <a:lnTo>
                      <a:pt x="0" y="35"/>
                    </a:lnTo>
                    <a:lnTo>
                      <a:pt x="15" y="50"/>
                    </a:lnTo>
                    <a:lnTo>
                      <a:pt x="15" y="49"/>
                    </a:lnTo>
                    <a:lnTo>
                      <a:pt x="23" y="44"/>
                    </a:lnTo>
                    <a:lnTo>
                      <a:pt x="29" y="38"/>
                    </a:lnTo>
                    <a:lnTo>
                      <a:pt x="36" y="31"/>
                    </a:lnTo>
                    <a:lnTo>
                      <a:pt x="43" y="27"/>
                    </a:lnTo>
                    <a:lnTo>
                      <a:pt x="50" y="21"/>
                    </a:lnTo>
                    <a:lnTo>
                      <a:pt x="51" y="19"/>
                    </a:lnTo>
                    <a:lnTo>
                      <a:pt x="39" y="5"/>
                    </a:lnTo>
                    <a:lnTo>
                      <a:pt x="54" y="17"/>
                    </a:lnTo>
                    <a:close/>
                  </a:path>
                </a:pathLst>
              </a:custGeom>
              <a:solidFill>
                <a:srgbClr val="000000"/>
              </a:solidFill>
              <a:ln w="9525">
                <a:noFill/>
                <a:round/>
                <a:headEnd/>
                <a:tailEnd/>
              </a:ln>
            </p:spPr>
            <p:txBody>
              <a:bodyPr/>
              <a:lstStyle/>
              <a:p>
                <a:endParaRPr lang="en-US"/>
              </a:p>
            </p:txBody>
          </p:sp>
          <p:sp>
            <p:nvSpPr>
              <p:cNvPr id="27800" name="Freeform 113"/>
              <p:cNvSpPr>
                <a:spLocks/>
              </p:cNvSpPr>
              <p:nvPr/>
            </p:nvSpPr>
            <p:spPr bwMode="auto">
              <a:xfrm>
                <a:off x="2130" y="3619"/>
                <a:ext cx="29" cy="25"/>
              </a:xfrm>
              <a:custGeom>
                <a:avLst/>
                <a:gdLst>
                  <a:gd name="T0" fmla="*/ 1 w 58"/>
                  <a:gd name="T1" fmla="*/ 1 h 48"/>
                  <a:gd name="T2" fmla="*/ 1 w 58"/>
                  <a:gd name="T3" fmla="*/ 1 h 48"/>
                  <a:gd name="T4" fmla="*/ 1 w 58"/>
                  <a:gd name="T5" fmla="*/ 1 h 48"/>
                  <a:gd name="T6" fmla="*/ 1 w 58"/>
                  <a:gd name="T7" fmla="*/ 1 h 48"/>
                  <a:gd name="T8" fmla="*/ 1 w 58"/>
                  <a:gd name="T9" fmla="*/ 1 h 48"/>
                  <a:gd name="T10" fmla="*/ 1 w 58"/>
                  <a:gd name="T11" fmla="*/ 1 h 48"/>
                  <a:gd name="T12" fmla="*/ 1 w 58"/>
                  <a:gd name="T13" fmla="*/ 0 h 48"/>
                  <a:gd name="T14" fmla="*/ 1 w 58"/>
                  <a:gd name="T15" fmla="*/ 1 h 48"/>
                  <a:gd name="T16" fmla="*/ 1 w 58"/>
                  <a:gd name="T17" fmla="*/ 1 h 48"/>
                  <a:gd name="T18" fmla="*/ 1 w 58"/>
                  <a:gd name="T19" fmla="*/ 1 h 48"/>
                  <a:gd name="T20" fmla="*/ 1 w 58"/>
                  <a:gd name="T21" fmla="*/ 1 h 48"/>
                  <a:gd name="T22" fmla="*/ 1 w 58"/>
                  <a:gd name="T23" fmla="*/ 1 h 48"/>
                  <a:gd name="T24" fmla="*/ 1 w 58"/>
                  <a:gd name="T25" fmla="*/ 1 h 48"/>
                  <a:gd name="T26" fmla="*/ 0 w 58"/>
                  <a:gd name="T27" fmla="*/ 1 h 48"/>
                  <a:gd name="T28" fmla="*/ 1 w 58"/>
                  <a:gd name="T29" fmla="*/ 1 h 48"/>
                  <a:gd name="T30" fmla="*/ 1 w 58"/>
                  <a:gd name="T31" fmla="*/ 1 h 48"/>
                  <a:gd name="T32" fmla="*/ 1 w 58"/>
                  <a:gd name="T33" fmla="*/ 1 h 48"/>
                  <a:gd name="T34" fmla="*/ 1 w 58"/>
                  <a:gd name="T35" fmla="*/ 1 h 4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8"/>
                  <a:gd name="T55" fmla="*/ 0 h 48"/>
                  <a:gd name="T56" fmla="*/ 58 w 58"/>
                  <a:gd name="T57" fmla="*/ 48 h 4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8" h="48">
                    <a:moveTo>
                      <a:pt x="11" y="48"/>
                    </a:moveTo>
                    <a:lnTo>
                      <a:pt x="18" y="47"/>
                    </a:lnTo>
                    <a:lnTo>
                      <a:pt x="22" y="44"/>
                    </a:lnTo>
                    <a:lnTo>
                      <a:pt x="35" y="33"/>
                    </a:lnTo>
                    <a:lnTo>
                      <a:pt x="49" y="22"/>
                    </a:lnTo>
                    <a:lnTo>
                      <a:pt x="58" y="12"/>
                    </a:lnTo>
                    <a:lnTo>
                      <a:pt x="43" y="0"/>
                    </a:lnTo>
                    <a:lnTo>
                      <a:pt x="33" y="6"/>
                    </a:lnTo>
                    <a:lnTo>
                      <a:pt x="22" y="17"/>
                    </a:lnTo>
                    <a:lnTo>
                      <a:pt x="10" y="25"/>
                    </a:lnTo>
                    <a:lnTo>
                      <a:pt x="5" y="28"/>
                    </a:lnTo>
                    <a:lnTo>
                      <a:pt x="11" y="26"/>
                    </a:lnTo>
                    <a:lnTo>
                      <a:pt x="5" y="28"/>
                    </a:lnTo>
                    <a:lnTo>
                      <a:pt x="0" y="36"/>
                    </a:lnTo>
                    <a:lnTo>
                      <a:pt x="2" y="44"/>
                    </a:lnTo>
                    <a:lnTo>
                      <a:pt x="8" y="48"/>
                    </a:lnTo>
                    <a:lnTo>
                      <a:pt x="18" y="47"/>
                    </a:lnTo>
                    <a:lnTo>
                      <a:pt x="11" y="48"/>
                    </a:lnTo>
                    <a:close/>
                  </a:path>
                </a:pathLst>
              </a:custGeom>
              <a:solidFill>
                <a:srgbClr val="000000"/>
              </a:solidFill>
              <a:ln w="9525">
                <a:noFill/>
                <a:round/>
                <a:headEnd/>
                <a:tailEnd/>
              </a:ln>
            </p:spPr>
            <p:txBody>
              <a:bodyPr/>
              <a:lstStyle/>
              <a:p>
                <a:endParaRPr lang="en-US"/>
              </a:p>
            </p:txBody>
          </p:sp>
          <p:sp>
            <p:nvSpPr>
              <p:cNvPr id="27801" name="Freeform 114"/>
              <p:cNvSpPr>
                <a:spLocks/>
              </p:cNvSpPr>
              <p:nvPr/>
            </p:nvSpPr>
            <p:spPr bwMode="auto">
              <a:xfrm>
                <a:off x="2113" y="3633"/>
                <a:ext cx="23" cy="11"/>
              </a:xfrm>
              <a:custGeom>
                <a:avLst/>
                <a:gdLst>
                  <a:gd name="T0" fmla="*/ 1 w 45"/>
                  <a:gd name="T1" fmla="*/ 1 h 22"/>
                  <a:gd name="T2" fmla="*/ 1 w 45"/>
                  <a:gd name="T3" fmla="*/ 1 h 22"/>
                  <a:gd name="T4" fmla="*/ 1 w 45"/>
                  <a:gd name="T5" fmla="*/ 1 h 22"/>
                  <a:gd name="T6" fmla="*/ 1 w 45"/>
                  <a:gd name="T7" fmla="*/ 0 h 22"/>
                  <a:gd name="T8" fmla="*/ 1 w 45"/>
                  <a:gd name="T9" fmla="*/ 0 h 22"/>
                  <a:gd name="T10" fmla="*/ 1 w 45"/>
                  <a:gd name="T11" fmla="*/ 1 h 22"/>
                  <a:gd name="T12" fmla="*/ 1 w 45"/>
                  <a:gd name="T13" fmla="*/ 0 h 22"/>
                  <a:gd name="T14" fmla="*/ 1 w 45"/>
                  <a:gd name="T15" fmla="*/ 1 h 22"/>
                  <a:gd name="T16" fmla="*/ 0 w 45"/>
                  <a:gd name="T17" fmla="*/ 1 h 22"/>
                  <a:gd name="T18" fmla="*/ 1 w 45"/>
                  <a:gd name="T19" fmla="*/ 1 h 22"/>
                  <a:gd name="T20" fmla="*/ 1 w 45"/>
                  <a:gd name="T21" fmla="*/ 1 h 22"/>
                  <a:gd name="T22" fmla="*/ 1 w 45"/>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5"/>
                  <a:gd name="T37" fmla="*/ 0 h 22"/>
                  <a:gd name="T38" fmla="*/ 45 w 45"/>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5" h="22">
                    <a:moveTo>
                      <a:pt x="2" y="18"/>
                    </a:moveTo>
                    <a:lnTo>
                      <a:pt x="11" y="22"/>
                    </a:lnTo>
                    <a:lnTo>
                      <a:pt x="45" y="22"/>
                    </a:lnTo>
                    <a:lnTo>
                      <a:pt x="45" y="0"/>
                    </a:lnTo>
                    <a:lnTo>
                      <a:pt x="11" y="0"/>
                    </a:lnTo>
                    <a:lnTo>
                      <a:pt x="20" y="5"/>
                    </a:lnTo>
                    <a:lnTo>
                      <a:pt x="11" y="0"/>
                    </a:lnTo>
                    <a:lnTo>
                      <a:pt x="3" y="4"/>
                    </a:lnTo>
                    <a:lnTo>
                      <a:pt x="0" y="11"/>
                    </a:lnTo>
                    <a:lnTo>
                      <a:pt x="3" y="19"/>
                    </a:lnTo>
                    <a:lnTo>
                      <a:pt x="11" y="22"/>
                    </a:lnTo>
                    <a:lnTo>
                      <a:pt x="2" y="18"/>
                    </a:lnTo>
                    <a:close/>
                  </a:path>
                </a:pathLst>
              </a:custGeom>
              <a:solidFill>
                <a:srgbClr val="000000"/>
              </a:solidFill>
              <a:ln w="9525">
                <a:noFill/>
                <a:round/>
                <a:headEnd/>
                <a:tailEnd/>
              </a:ln>
            </p:spPr>
            <p:txBody>
              <a:bodyPr/>
              <a:lstStyle/>
              <a:p>
                <a:endParaRPr lang="en-US"/>
              </a:p>
            </p:txBody>
          </p:sp>
          <p:sp>
            <p:nvSpPr>
              <p:cNvPr id="27802" name="Freeform 115"/>
              <p:cNvSpPr>
                <a:spLocks/>
              </p:cNvSpPr>
              <p:nvPr/>
            </p:nvSpPr>
            <p:spPr bwMode="auto">
              <a:xfrm>
                <a:off x="2106" y="3623"/>
                <a:ext cx="17" cy="18"/>
              </a:xfrm>
              <a:custGeom>
                <a:avLst/>
                <a:gdLst>
                  <a:gd name="T0" fmla="*/ 0 w 34"/>
                  <a:gd name="T1" fmla="*/ 0 h 38"/>
                  <a:gd name="T2" fmla="*/ 0 w 34"/>
                  <a:gd name="T3" fmla="*/ 0 h 38"/>
                  <a:gd name="T4" fmla="*/ 1 w 34"/>
                  <a:gd name="T5" fmla="*/ 0 h 38"/>
                  <a:gd name="T6" fmla="*/ 1 w 34"/>
                  <a:gd name="T7" fmla="*/ 0 h 38"/>
                  <a:gd name="T8" fmla="*/ 1 w 34"/>
                  <a:gd name="T9" fmla="*/ 0 h 38"/>
                  <a:gd name="T10" fmla="*/ 1 w 34"/>
                  <a:gd name="T11" fmla="*/ 0 h 38"/>
                  <a:gd name="T12" fmla="*/ 1 w 34"/>
                  <a:gd name="T13" fmla="*/ 0 h 38"/>
                  <a:gd name="T14" fmla="*/ 1 w 34"/>
                  <a:gd name="T15" fmla="*/ 0 h 38"/>
                  <a:gd name="T16" fmla="*/ 1 w 34"/>
                  <a:gd name="T17" fmla="*/ 0 h 38"/>
                  <a:gd name="T18" fmla="*/ 1 w 34"/>
                  <a:gd name="T19" fmla="*/ 0 h 38"/>
                  <a:gd name="T20" fmla="*/ 1 w 34"/>
                  <a:gd name="T21" fmla="*/ 0 h 38"/>
                  <a:gd name="T22" fmla="*/ 1 w 34"/>
                  <a:gd name="T23" fmla="*/ 0 h 38"/>
                  <a:gd name="T24" fmla="*/ 0 w 34"/>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38"/>
                  <a:gd name="T41" fmla="*/ 34 w 34"/>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38">
                    <a:moveTo>
                      <a:pt x="0" y="13"/>
                    </a:moveTo>
                    <a:lnTo>
                      <a:pt x="0" y="13"/>
                    </a:lnTo>
                    <a:lnTo>
                      <a:pt x="5" y="20"/>
                    </a:lnTo>
                    <a:lnTo>
                      <a:pt x="9" y="28"/>
                    </a:lnTo>
                    <a:lnTo>
                      <a:pt x="14" y="35"/>
                    </a:lnTo>
                    <a:lnTo>
                      <a:pt x="16" y="38"/>
                    </a:lnTo>
                    <a:lnTo>
                      <a:pt x="34" y="25"/>
                    </a:lnTo>
                    <a:lnTo>
                      <a:pt x="33" y="22"/>
                    </a:lnTo>
                    <a:lnTo>
                      <a:pt x="28" y="16"/>
                    </a:lnTo>
                    <a:lnTo>
                      <a:pt x="23" y="8"/>
                    </a:lnTo>
                    <a:lnTo>
                      <a:pt x="16" y="0"/>
                    </a:lnTo>
                    <a:lnTo>
                      <a:pt x="0" y="13"/>
                    </a:lnTo>
                    <a:close/>
                  </a:path>
                </a:pathLst>
              </a:custGeom>
              <a:solidFill>
                <a:srgbClr val="000000"/>
              </a:solidFill>
              <a:ln w="9525">
                <a:noFill/>
                <a:round/>
                <a:headEnd/>
                <a:tailEnd/>
              </a:ln>
            </p:spPr>
            <p:txBody>
              <a:bodyPr/>
              <a:lstStyle/>
              <a:p>
                <a:endParaRPr lang="en-US"/>
              </a:p>
            </p:txBody>
          </p:sp>
          <p:sp>
            <p:nvSpPr>
              <p:cNvPr id="27803" name="Freeform 116"/>
              <p:cNvSpPr>
                <a:spLocks/>
              </p:cNvSpPr>
              <p:nvPr/>
            </p:nvSpPr>
            <p:spPr bwMode="auto">
              <a:xfrm>
                <a:off x="2096" y="3600"/>
                <a:ext cx="18" cy="29"/>
              </a:xfrm>
              <a:custGeom>
                <a:avLst/>
                <a:gdLst>
                  <a:gd name="T0" fmla="*/ 1 w 36"/>
                  <a:gd name="T1" fmla="*/ 1 h 58"/>
                  <a:gd name="T2" fmla="*/ 0 w 36"/>
                  <a:gd name="T3" fmla="*/ 1 h 58"/>
                  <a:gd name="T4" fmla="*/ 1 w 36"/>
                  <a:gd name="T5" fmla="*/ 1 h 58"/>
                  <a:gd name="T6" fmla="*/ 1 w 36"/>
                  <a:gd name="T7" fmla="*/ 1 h 58"/>
                  <a:gd name="T8" fmla="*/ 1 w 36"/>
                  <a:gd name="T9" fmla="*/ 1 h 58"/>
                  <a:gd name="T10" fmla="*/ 1 w 36"/>
                  <a:gd name="T11" fmla="*/ 1 h 58"/>
                  <a:gd name="T12" fmla="*/ 1 w 36"/>
                  <a:gd name="T13" fmla="*/ 1 h 58"/>
                  <a:gd name="T14" fmla="*/ 1 w 36"/>
                  <a:gd name="T15" fmla="*/ 1 h 58"/>
                  <a:gd name="T16" fmla="*/ 1 w 36"/>
                  <a:gd name="T17" fmla="*/ 1 h 58"/>
                  <a:gd name="T18" fmla="*/ 1 w 36"/>
                  <a:gd name="T19" fmla="*/ 1 h 58"/>
                  <a:gd name="T20" fmla="*/ 1 w 36"/>
                  <a:gd name="T21" fmla="*/ 1 h 58"/>
                  <a:gd name="T22" fmla="*/ 1 w 36"/>
                  <a:gd name="T23" fmla="*/ 1 h 58"/>
                  <a:gd name="T24" fmla="*/ 1 w 36"/>
                  <a:gd name="T25" fmla="*/ 1 h 58"/>
                  <a:gd name="T26" fmla="*/ 1 w 36"/>
                  <a:gd name="T27" fmla="*/ 1 h 58"/>
                  <a:gd name="T28" fmla="*/ 1 w 36"/>
                  <a:gd name="T29" fmla="*/ 0 h 58"/>
                  <a:gd name="T30" fmla="*/ 1 w 36"/>
                  <a:gd name="T31" fmla="*/ 1 h 58"/>
                  <a:gd name="T32" fmla="*/ 0 w 36"/>
                  <a:gd name="T33" fmla="*/ 1 h 58"/>
                  <a:gd name="T34" fmla="*/ 1 w 36"/>
                  <a:gd name="T35" fmla="*/ 1 h 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6"/>
                  <a:gd name="T55" fmla="*/ 0 h 58"/>
                  <a:gd name="T56" fmla="*/ 36 w 36"/>
                  <a:gd name="T57" fmla="*/ 58 h 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6" h="58">
                    <a:moveTo>
                      <a:pt x="1" y="6"/>
                    </a:moveTo>
                    <a:lnTo>
                      <a:pt x="0" y="14"/>
                    </a:lnTo>
                    <a:lnTo>
                      <a:pt x="1" y="19"/>
                    </a:lnTo>
                    <a:lnTo>
                      <a:pt x="6" y="31"/>
                    </a:lnTo>
                    <a:lnTo>
                      <a:pt x="12" y="45"/>
                    </a:lnTo>
                    <a:lnTo>
                      <a:pt x="20" y="58"/>
                    </a:lnTo>
                    <a:lnTo>
                      <a:pt x="36" y="45"/>
                    </a:lnTo>
                    <a:lnTo>
                      <a:pt x="31" y="36"/>
                    </a:lnTo>
                    <a:lnTo>
                      <a:pt x="28" y="25"/>
                    </a:lnTo>
                    <a:lnTo>
                      <a:pt x="23" y="12"/>
                    </a:lnTo>
                    <a:lnTo>
                      <a:pt x="21" y="8"/>
                    </a:lnTo>
                    <a:lnTo>
                      <a:pt x="20" y="15"/>
                    </a:lnTo>
                    <a:lnTo>
                      <a:pt x="21" y="8"/>
                    </a:lnTo>
                    <a:lnTo>
                      <a:pt x="17" y="1"/>
                    </a:lnTo>
                    <a:lnTo>
                      <a:pt x="9" y="0"/>
                    </a:lnTo>
                    <a:lnTo>
                      <a:pt x="1" y="4"/>
                    </a:lnTo>
                    <a:lnTo>
                      <a:pt x="0" y="14"/>
                    </a:lnTo>
                    <a:lnTo>
                      <a:pt x="1" y="6"/>
                    </a:lnTo>
                    <a:close/>
                  </a:path>
                </a:pathLst>
              </a:custGeom>
              <a:solidFill>
                <a:srgbClr val="000000"/>
              </a:solidFill>
              <a:ln w="9525">
                <a:noFill/>
                <a:round/>
                <a:headEnd/>
                <a:tailEnd/>
              </a:ln>
            </p:spPr>
            <p:txBody>
              <a:bodyPr/>
              <a:lstStyle/>
              <a:p>
                <a:endParaRPr lang="en-US"/>
              </a:p>
            </p:txBody>
          </p:sp>
          <p:sp>
            <p:nvSpPr>
              <p:cNvPr id="27804" name="Freeform 117"/>
              <p:cNvSpPr>
                <a:spLocks/>
              </p:cNvSpPr>
              <p:nvPr/>
            </p:nvSpPr>
            <p:spPr bwMode="auto">
              <a:xfrm>
                <a:off x="2097" y="3581"/>
                <a:ext cx="22" cy="27"/>
              </a:xfrm>
              <a:custGeom>
                <a:avLst/>
                <a:gdLst>
                  <a:gd name="T0" fmla="*/ 0 w 45"/>
                  <a:gd name="T1" fmla="*/ 0 h 53"/>
                  <a:gd name="T2" fmla="*/ 0 w 45"/>
                  <a:gd name="T3" fmla="*/ 1 h 53"/>
                  <a:gd name="T4" fmla="*/ 0 w 45"/>
                  <a:gd name="T5" fmla="*/ 1 h 53"/>
                  <a:gd name="T6" fmla="*/ 0 w 45"/>
                  <a:gd name="T7" fmla="*/ 1 h 53"/>
                  <a:gd name="T8" fmla="*/ 0 w 45"/>
                  <a:gd name="T9" fmla="*/ 1 h 53"/>
                  <a:gd name="T10" fmla="*/ 0 w 45"/>
                  <a:gd name="T11" fmla="*/ 1 h 53"/>
                  <a:gd name="T12" fmla="*/ 0 w 45"/>
                  <a:gd name="T13" fmla="*/ 1 h 53"/>
                  <a:gd name="T14" fmla="*/ 0 w 45"/>
                  <a:gd name="T15" fmla="*/ 1 h 53"/>
                  <a:gd name="T16" fmla="*/ 0 w 45"/>
                  <a:gd name="T17" fmla="*/ 1 h 53"/>
                  <a:gd name="T18" fmla="*/ 0 w 45"/>
                  <a:gd name="T19" fmla="*/ 1 h 53"/>
                  <a:gd name="T20" fmla="*/ 0 w 45"/>
                  <a:gd name="T21" fmla="*/ 1 h 53"/>
                  <a:gd name="T22" fmla="*/ 0 w 45"/>
                  <a:gd name="T23" fmla="*/ 1 h 53"/>
                  <a:gd name="T24" fmla="*/ 0 w 45"/>
                  <a:gd name="T25" fmla="*/ 0 h 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53"/>
                  <a:gd name="T41" fmla="*/ 45 w 45"/>
                  <a:gd name="T42" fmla="*/ 53 h 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53">
                    <a:moveTo>
                      <a:pt x="30" y="0"/>
                    </a:moveTo>
                    <a:lnTo>
                      <a:pt x="30" y="2"/>
                    </a:lnTo>
                    <a:lnTo>
                      <a:pt x="17" y="16"/>
                    </a:lnTo>
                    <a:lnTo>
                      <a:pt x="8" y="28"/>
                    </a:lnTo>
                    <a:lnTo>
                      <a:pt x="2" y="41"/>
                    </a:lnTo>
                    <a:lnTo>
                      <a:pt x="0" y="44"/>
                    </a:lnTo>
                    <a:lnTo>
                      <a:pt x="19" y="53"/>
                    </a:lnTo>
                    <a:lnTo>
                      <a:pt x="20" y="50"/>
                    </a:lnTo>
                    <a:lnTo>
                      <a:pt x="27" y="41"/>
                    </a:lnTo>
                    <a:lnTo>
                      <a:pt x="36" y="28"/>
                    </a:lnTo>
                    <a:lnTo>
                      <a:pt x="45" y="14"/>
                    </a:lnTo>
                    <a:lnTo>
                      <a:pt x="45" y="16"/>
                    </a:lnTo>
                    <a:lnTo>
                      <a:pt x="30" y="0"/>
                    </a:lnTo>
                    <a:close/>
                  </a:path>
                </a:pathLst>
              </a:custGeom>
              <a:solidFill>
                <a:srgbClr val="000000"/>
              </a:solidFill>
              <a:ln w="9525">
                <a:noFill/>
                <a:round/>
                <a:headEnd/>
                <a:tailEnd/>
              </a:ln>
            </p:spPr>
            <p:txBody>
              <a:bodyPr/>
              <a:lstStyle/>
              <a:p>
                <a:endParaRPr lang="en-US"/>
              </a:p>
            </p:txBody>
          </p:sp>
          <p:sp>
            <p:nvSpPr>
              <p:cNvPr id="27805" name="Freeform 118"/>
              <p:cNvSpPr>
                <a:spLocks/>
              </p:cNvSpPr>
              <p:nvPr/>
            </p:nvSpPr>
            <p:spPr bwMode="auto">
              <a:xfrm>
                <a:off x="2111" y="3531"/>
                <a:ext cx="43" cy="58"/>
              </a:xfrm>
              <a:custGeom>
                <a:avLst/>
                <a:gdLst>
                  <a:gd name="T0" fmla="*/ 1 w 86"/>
                  <a:gd name="T1" fmla="*/ 0 h 116"/>
                  <a:gd name="T2" fmla="*/ 1 w 86"/>
                  <a:gd name="T3" fmla="*/ 0 h 116"/>
                  <a:gd name="T4" fmla="*/ 1 w 86"/>
                  <a:gd name="T5" fmla="*/ 1 h 116"/>
                  <a:gd name="T6" fmla="*/ 1 w 86"/>
                  <a:gd name="T7" fmla="*/ 1 h 116"/>
                  <a:gd name="T8" fmla="*/ 1 w 86"/>
                  <a:gd name="T9" fmla="*/ 1 h 116"/>
                  <a:gd name="T10" fmla="*/ 1 w 86"/>
                  <a:gd name="T11" fmla="*/ 1 h 116"/>
                  <a:gd name="T12" fmla="*/ 1 w 86"/>
                  <a:gd name="T13" fmla="*/ 1 h 116"/>
                  <a:gd name="T14" fmla="*/ 1 w 86"/>
                  <a:gd name="T15" fmla="*/ 1 h 116"/>
                  <a:gd name="T16" fmla="*/ 1 w 86"/>
                  <a:gd name="T17" fmla="*/ 1 h 116"/>
                  <a:gd name="T18" fmla="*/ 0 w 86"/>
                  <a:gd name="T19" fmla="*/ 1 h 116"/>
                  <a:gd name="T20" fmla="*/ 1 w 86"/>
                  <a:gd name="T21" fmla="*/ 1 h 116"/>
                  <a:gd name="T22" fmla="*/ 1 w 86"/>
                  <a:gd name="T23" fmla="*/ 1 h 116"/>
                  <a:gd name="T24" fmla="*/ 1 w 86"/>
                  <a:gd name="T25" fmla="*/ 1 h 116"/>
                  <a:gd name="T26" fmla="*/ 1 w 86"/>
                  <a:gd name="T27" fmla="*/ 1 h 116"/>
                  <a:gd name="T28" fmla="*/ 1 w 86"/>
                  <a:gd name="T29" fmla="*/ 1 h 116"/>
                  <a:gd name="T30" fmla="*/ 1 w 86"/>
                  <a:gd name="T31" fmla="*/ 1 h 116"/>
                  <a:gd name="T32" fmla="*/ 1 w 86"/>
                  <a:gd name="T33" fmla="*/ 1 h 116"/>
                  <a:gd name="T34" fmla="*/ 1 w 86"/>
                  <a:gd name="T35" fmla="*/ 1 h 116"/>
                  <a:gd name="T36" fmla="*/ 1 w 86"/>
                  <a:gd name="T37" fmla="*/ 1 h 116"/>
                  <a:gd name="T38" fmla="*/ 1 w 86"/>
                  <a:gd name="T39" fmla="*/ 1 h 116"/>
                  <a:gd name="T40" fmla="*/ 1 w 86"/>
                  <a:gd name="T41" fmla="*/ 0 h 1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6"/>
                  <a:gd name="T64" fmla="*/ 0 h 116"/>
                  <a:gd name="T65" fmla="*/ 86 w 86"/>
                  <a:gd name="T66" fmla="*/ 116 h 1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6" h="116">
                    <a:moveTo>
                      <a:pt x="70" y="0"/>
                    </a:moveTo>
                    <a:lnTo>
                      <a:pt x="70" y="0"/>
                    </a:lnTo>
                    <a:lnTo>
                      <a:pt x="62" y="9"/>
                    </a:lnTo>
                    <a:lnTo>
                      <a:pt x="55" y="20"/>
                    </a:lnTo>
                    <a:lnTo>
                      <a:pt x="45" y="35"/>
                    </a:lnTo>
                    <a:lnTo>
                      <a:pt x="34" y="49"/>
                    </a:lnTo>
                    <a:lnTo>
                      <a:pt x="25" y="66"/>
                    </a:lnTo>
                    <a:lnTo>
                      <a:pt x="14" y="80"/>
                    </a:lnTo>
                    <a:lnTo>
                      <a:pt x="6" y="92"/>
                    </a:lnTo>
                    <a:lnTo>
                      <a:pt x="0" y="100"/>
                    </a:lnTo>
                    <a:lnTo>
                      <a:pt x="15" y="116"/>
                    </a:lnTo>
                    <a:lnTo>
                      <a:pt x="25" y="105"/>
                    </a:lnTo>
                    <a:lnTo>
                      <a:pt x="33" y="92"/>
                    </a:lnTo>
                    <a:lnTo>
                      <a:pt x="44" y="78"/>
                    </a:lnTo>
                    <a:lnTo>
                      <a:pt x="53" y="61"/>
                    </a:lnTo>
                    <a:lnTo>
                      <a:pt x="64" y="47"/>
                    </a:lnTo>
                    <a:lnTo>
                      <a:pt x="73" y="33"/>
                    </a:lnTo>
                    <a:lnTo>
                      <a:pt x="81" y="22"/>
                    </a:lnTo>
                    <a:lnTo>
                      <a:pt x="86" y="16"/>
                    </a:lnTo>
                    <a:lnTo>
                      <a:pt x="70" y="0"/>
                    </a:lnTo>
                    <a:close/>
                  </a:path>
                </a:pathLst>
              </a:custGeom>
              <a:solidFill>
                <a:srgbClr val="000000"/>
              </a:solidFill>
              <a:ln w="9525">
                <a:noFill/>
                <a:round/>
                <a:headEnd/>
                <a:tailEnd/>
              </a:ln>
            </p:spPr>
            <p:txBody>
              <a:bodyPr/>
              <a:lstStyle/>
              <a:p>
                <a:endParaRPr lang="en-US"/>
              </a:p>
            </p:txBody>
          </p:sp>
          <p:sp>
            <p:nvSpPr>
              <p:cNvPr id="27806" name="Freeform 119"/>
              <p:cNvSpPr>
                <a:spLocks/>
              </p:cNvSpPr>
              <p:nvPr/>
            </p:nvSpPr>
            <p:spPr bwMode="auto">
              <a:xfrm>
                <a:off x="2147" y="3522"/>
                <a:ext cx="29" cy="17"/>
              </a:xfrm>
              <a:custGeom>
                <a:avLst/>
                <a:gdLst>
                  <a:gd name="T0" fmla="*/ 0 w 60"/>
                  <a:gd name="T1" fmla="*/ 1 h 33"/>
                  <a:gd name="T2" fmla="*/ 0 w 60"/>
                  <a:gd name="T3" fmla="*/ 0 h 33"/>
                  <a:gd name="T4" fmla="*/ 0 w 60"/>
                  <a:gd name="T5" fmla="*/ 0 h 33"/>
                  <a:gd name="T6" fmla="*/ 0 w 60"/>
                  <a:gd name="T7" fmla="*/ 1 h 33"/>
                  <a:gd name="T8" fmla="*/ 0 w 60"/>
                  <a:gd name="T9" fmla="*/ 1 h 33"/>
                  <a:gd name="T10" fmla="*/ 0 w 60"/>
                  <a:gd name="T11" fmla="*/ 1 h 33"/>
                  <a:gd name="T12" fmla="*/ 0 w 60"/>
                  <a:gd name="T13" fmla="*/ 1 h 33"/>
                  <a:gd name="T14" fmla="*/ 0 w 60"/>
                  <a:gd name="T15" fmla="*/ 1 h 33"/>
                  <a:gd name="T16" fmla="*/ 0 w 60"/>
                  <a:gd name="T17" fmla="*/ 1 h 33"/>
                  <a:gd name="T18" fmla="*/ 0 w 60"/>
                  <a:gd name="T19" fmla="*/ 1 h 33"/>
                  <a:gd name="T20" fmla="*/ 0 w 60"/>
                  <a:gd name="T21" fmla="*/ 1 h 33"/>
                  <a:gd name="T22" fmla="*/ 0 w 60"/>
                  <a:gd name="T23" fmla="*/ 1 h 33"/>
                  <a:gd name="T24" fmla="*/ 0 w 60"/>
                  <a:gd name="T25" fmla="*/ 1 h 33"/>
                  <a:gd name="T26" fmla="*/ 0 w 60"/>
                  <a:gd name="T27" fmla="*/ 1 h 33"/>
                  <a:gd name="T28" fmla="*/ 0 w 60"/>
                  <a:gd name="T29" fmla="*/ 1 h 33"/>
                  <a:gd name="T30" fmla="*/ 0 w 60"/>
                  <a:gd name="T31" fmla="*/ 1 h 33"/>
                  <a:gd name="T32" fmla="*/ 0 w 60"/>
                  <a:gd name="T33" fmla="*/ 0 h 33"/>
                  <a:gd name="T34" fmla="*/ 0 w 60"/>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33"/>
                  <a:gd name="T56" fmla="*/ 60 w 60"/>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33">
                    <a:moveTo>
                      <a:pt x="54" y="1"/>
                    </a:moveTo>
                    <a:lnTo>
                      <a:pt x="49" y="0"/>
                    </a:lnTo>
                    <a:lnTo>
                      <a:pt x="43" y="0"/>
                    </a:lnTo>
                    <a:lnTo>
                      <a:pt x="30" y="1"/>
                    </a:lnTo>
                    <a:lnTo>
                      <a:pt x="16" y="8"/>
                    </a:lnTo>
                    <a:lnTo>
                      <a:pt x="0" y="17"/>
                    </a:lnTo>
                    <a:lnTo>
                      <a:pt x="16" y="33"/>
                    </a:lnTo>
                    <a:lnTo>
                      <a:pt x="25" y="26"/>
                    </a:lnTo>
                    <a:lnTo>
                      <a:pt x="36" y="23"/>
                    </a:lnTo>
                    <a:lnTo>
                      <a:pt x="46" y="22"/>
                    </a:lnTo>
                    <a:lnTo>
                      <a:pt x="49" y="22"/>
                    </a:lnTo>
                    <a:lnTo>
                      <a:pt x="44" y="20"/>
                    </a:lnTo>
                    <a:lnTo>
                      <a:pt x="49" y="22"/>
                    </a:lnTo>
                    <a:lnTo>
                      <a:pt x="57" y="19"/>
                    </a:lnTo>
                    <a:lnTo>
                      <a:pt x="60" y="11"/>
                    </a:lnTo>
                    <a:lnTo>
                      <a:pt x="57" y="3"/>
                    </a:lnTo>
                    <a:lnTo>
                      <a:pt x="49" y="0"/>
                    </a:lnTo>
                    <a:lnTo>
                      <a:pt x="54" y="1"/>
                    </a:lnTo>
                    <a:close/>
                  </a:path>
                </a:pathLst>
              </a:custGeom>
              <a:solidFill>
                <a:srgbClr val="000000"/>
              </a:solidFill>
              <a:ln w="9525">
                <a:noFill/>
                <a:round/>
                <a:headEnd/>
                <a:tailEnd/>
              </a:ln>
            </p:spPr>
            <p:txBody>
              <a:bodyPr/>
              <a:lstStyle/>
              <a:p>
                <a:endParaRPr lang="en-US"/>
              </a:p>
            </p:txBody>
          </p:sp>
          <p:sp>
            <p:nvSpPr>
              <p:cNvPr id="27807" name="Freeform 120"/>
              <p:cNvSpPr>
                <a:spLocks/>
              </p:cNvSpPr>
              <p:nvPr/>
            </p:nvSpPr>
            <p:spPr bwMode="auto">
              <a:xfrm>
                <a:off x="2169" y="3523"/>
                <a:ext cx="18" cy="14"/>
              </a:xfrm>
              <a:custGeom>
                <a:avLst/>
                <a:gdLst>
                  <a:gd name="T0" fmla="*/ 0 w 38"/>
                  <a:gd name="T1" fmla="*/ 0 h 29"/>
                  <a:gd name="T2" fmla="*/ 0 w 38"/>
                  <a:gd name="T3" fmla="*/ 0 h 29"/>
                  <a:gd name="T4" fmla="*/ 0 w 38"/>
                  <a:gd name="T5" fmla="*/ 0 h 29"/>
                  <a:gd name="T6" fmla="*/ 0 w 38"/>
                  <a:gd name="T7" fmla="*/ 0 h 29"/>
                  <a:gd name="T8" fmla="*/ 0 w 38"/>
                  <a:gd name="T9" fmla="*/ 0 h 29"/>
                  <a:gd name="T10" fmla="*/ 0 w 38"/>
                  <a:gd name="T11" fmla="*/ 0 h 29"/>
                  <a:gd name="T12" fmla="*/ 0 w 38"/>
                  <a:gd name="T13" fmla="*/ 0 h 29"/>
                  <a:gd name="T14" fmla="*/ 0 w 38"/>
                  <a:gd name="T15" fmla="*/ 0 h 29"/>
                  <a:gd name="T16" fmla="*/ 0 w 38"/>
                  <a:gd name="T17" fmla="*/ 0 h 29"/>
                  <a:gd name="T18" fmla="*/ 0 w 38"/>
                  <a:gd name="T19" fmla="*/ 0 h 29"/>
                  <a:gd name="T20" fmla="*/ 0 w 38"/>
                  <a:gd name="T21" fmla="*/ 0 h 29"/>
                  <a:gd name="T22" fmla="*/ 0 w 38"/>
                  <a:gd name="T23" fmla="*/ 0 h 29"/>
                  <a:gd name="T24" fmla="*/ 0 w 38"/>
                  <a:gd name="T25" fmla="*/ 0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29"/>
                  <a:gd name="T41" fmla="*/ 38 w 38"/>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29">
                    <a:moveTo>
                      <a:pt x="38" y="7"/>
                    </a:moveTo>
                    <a:lnTo>
                      <a:pt x="38" y="7"/>
                    </a:lnTo>
                    <a:lnTo>
                      <a:pt x="27" y="5"/>
                    </a:lnTo>
                    <a:lnTo>
                      <a:pt x="17" y="2"/>
                    </a:lnTo>
                    <a:lnTo>
                      <a:pt x="11" y="0"/>
                    </a:lnTo>
                    <a:lnTo>
                      <a:pt x="10" y="0"/>
                    </a:lnTo>
                    <a:lnTo>
                      <a:pt x="0" y="19"/>
                    </a:lnTo>
                    <a:lnTo>
                      <a:pt x="5" y="22"/>
                    </a:lnTo>
                    <a:lnTo>
                      <a:pt x="11" y="24"/>
                    </a:lnTo>
                    <a:lnTo>
                      <a:pt x="24" y="27"/>
                    </a:lnTo>
                    <a:lnTo>
                      <a:pt x="35" y="29"/>
                    </a:lnTo>
                    <a:lnTo>
                      <a:pt x="38" y="7"/>
                    </a:lnTo>
                    <a:close/>
                  </a:path>
                </a:pathLst>
              </a:custGeom>
              <a:solidFill>
                <a:srgbClr val="000000"/>
              </a:solidFill>
              <a:ln w="9525">
                <a:noFill/>
                <a:round/>
                <a:headEnd/>
                <a:tailEnd/>
              </a:ln>
            </p:spPr>
            <p:txBody>
              <a:bodyPr/>
              <a:lstStyle/>
              <a:p>
                <a:endParaRPr lang="en-US"/>
              </a:p>
            </p:txBody>
          </p:sp>
          <p:sp>
            <p:nvSpPr>
              <p:cNvPr id="27808" name="Freeform 121"/>
              <p:cNvSpPr>
                <a:spLocks/>
              </p:cNvSpPr>
              <p:nvPr/>
            </p:nvSpPr>
            <p:spPr bwMode="auto">
              <a:xfrm>
                <a:off x="2186" y="3520"/>
                <a:ext cx="38" cy="17"/>
              </a:xfrm>
              <a:custGeom>
                <a:avLst/>
                <a:gdLst>
                  <a:gd name="T0" fmla="*/ 1 w 76"/>
                  <a:gd name="T1" fmla="*/ 0 h 35"/>
                  <a:gd name="T2" fmla="*/ 1 w 76"/>
                  <a:gd name="T3" fmla="*/ 0 h 35"/>
                  <a:gd name="T4" fmla="*/ 1 w 76"/>
                  <a:gd name="T5" fmla="*/ 0 h 35"/>
                  <a:gd name="T6" fmla="*/ 1 w 76"/>
                  <a:gd name="T7" fmla="*/ 0 h 35"/>
                  <a:gd name="T8" fmla="*/ 1 w 76"/>
                  <a:gd name="T9" fmla="*/ 0 h 35"/>
                  <a:gd name="T10" fmla="*/ 1 w 76"/>
                  <a:gd name="T11" fmla="*/ 0 h 35"/>
                  <a:gd name="T12" fmla="*/ 1 w 76"/>
                  <a:gd name="T13" fmla="*/ 0 h 35"/>
                  <a:gd name="T14" fmla="*/ 1 w 76"/>
                  <a:gd name="T15" fmla="*/ 0 h 35"/>
                  <a:gd name="T16" fmla="*/ 1 w 76"/>
                  <a:gd name="T17" fmla="*/ 0 h 35"/>
                  <a:gd name="T18" fmla="*/ 1 w 76"/>
                  <a:gd name="T19" fmla="*/ 0 h 35"/>
                  <a:gd name="T20" fmla="*/ 0 w 76"/>
                  <a:gd name="T21" fmla="*/ 0 h 35"/>
                  <a:gd name="T22" fmla="*/ 1 w 76"/>
                  <a:gd name="T23" fmla="*/ 0 h 35"/>
                  <a:gd name="T24" fmla="*/ 1 w 76"/>
                  <a:gd name="T25" fmla="*/ 0 h 35"/>
                  <a:gd name="T26" fmla="*/ 1 w 76"/>
                  <a:gd name="T27" fmla="*/ 0 h 35"/>
                  <a:gd name="T28" fmla="*/ 1 w 76"/>
                  <a:gd name="T29" fmla="*/ 0 h 35"/>
                  <a:gd name="T30" fmla="*/ 1 w 76"/>
                  <a:gd name="T31" fmla="*/ 0 h 35"/>
                  <a:gd name="T32" fmla="*/ 1 w 76"/>
                  <a:gd name="T33" fmla="*/ 0 h 35"/>
                  <a:gd name="T34" fmla="*/ 1 w 76"/>
                  <a:gd name="T35" fmla="*/ 0 h 35"/>
                  <a:gd name="T36" fmla="*/ 1 w 76"/>
                  <a:gd name="T37" fmla="*/ 0 h 35"/>
                  <a:gd name="T38" fmla="*/ 1 w 76"/>
                  <a:gd name="T39" fmla="*/ 0 h 35"/>
                  <a:gd name="T40" fmla="*/ 1 w 76"/>
                  <a:gd name="T41" fmla="*/ 0 h 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35"/>
                  <a:gd name="T65" fmla="*/ 76 w 76"/>
                  <a:gd name="T66" fmla="*/ 35 h 3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35">
                    <a:moveTo>
                      <a:pt x="70" y="0"/>
                    </a:moveTo>
                    <a:lnTo>
                      <a:pt x="70" y="0"/>
                    </a:lnTo>
                    <a:lnTo>
                      <a:pt x="62" y="3"/>
                    </a:lnTo>
                    <a:lnTo>
                      <a:pt x="53" y="5"/>
                    </a:lnTo>
                    <a:lnTo>
                      <a:pt x="42" y="8"/>
                    </a:lnTo>
                    <a:lnTo>
                      <a:pt x="34" y="10"/>
                    </a:lnTo>
                    <a:lnTo>
                      <a:pt x="25" y="11"/>
                    </a:lnTo>
                    <a:lnTo>
                      <a:pt x="15" y="13"/>
                    </a:lnTo>
                    <a:lnTo>
                      <a:pt x="7" y="13"/>
                    </a:lnTo>
                    <a:lnTo>
                      <a:pt x="3" y="13"/>
                    </a:lnTo>
                    <a:lnTo>
                      <a:pt x="0" y="35"/>
                    </a:lnTo>
                    <a:lnTo>
                      <a:pt x="7" y="35"/>
                    </a:lnTo>
                    <a:lnTo>
                      <a:pt x="18" y="35"/>
                    </a:lnTo>
                    <a:lnTo>
                      <a:pt x="28" y="33"/>
                    </a:lnTo>
                    <a:lnTo>
                      <a:pt x="37" y="31"/>
                    </a:lnTo>
                    <a:lnTo>
                      <a:pt x="48" y="30"/>
                    </a:lnTo>
                    <a:lnTo>
                      <a:pt x="59" y="27"/>
                    </a:lnTo>
                    <a:lnTo>
                      <a:pt x="68" y="25"/>
                    </a:lnTo>
                    <a:lnTo>
                      <a:pt x="76" y="22"/>
                    </a:lnTo>
                    <a:lnTo>
                      <a:pt x="70" y="0"/>
                    </a:lnTo>
                    <a:close/>
                  </a:path>
                </a:pathLst>
              </a:custGeom>
              <a:solidFill>
                <a:srgbClr val="000000"/>
              </a:solidFill>
              <a:ln w="9525">
                <a:noFill/>
                <a:round/>
                <a:headEnd/>
                <a:tailEnd/>
              </a:ln>
            </p:spPr>
            <p:txBody>
              <a:bodyPr/>
              <a:lstStyle/>
              <a:p>
                <a:endParaRPr lang="en-US"/>
              </a:p>
            </p:txBody>
          </p:sp>
          <p:sp>
            <p:nvSpPr>
              <p:cNvPr id="27809" name="Freeform 122"/>
              <p:cNvSpPr>
                <a:spLocks/>
              </p:cNvSpPr>
              <p:nvPr/>
            </p:nvSpPr>
            <p:spPr bwMode="auto">
              <a:xfrm>
                <a:off x="2221" y="3511"/>
                <a:ext cx="21" cy="20"/>
              </a:xfrm>
              <a:custGeom>
                <a:avLst/>
                <a:gdLst>
                  <a:gd name="T0" fmla="*/ 1 w 42"/>
                  <a:gd name="T1" fmla="*/ 0 h 41"/>
                  <a:gd name="T2" fmla="*/ 1 w 42"/>
                  <a:gd name="T3" fmla="*/ 0 h 41"/>
                  <a:gd name="T4" fmla="*/ 1 w 42"/>
                  <a:gd name="T5" fmla="*/ 0 h 41"/>
                  <a:gd name="T6" fmla="*/ 1 w 42"/>
                  <a:gd name="T7" fmla="*/ 0 h 41"/>
                  <a:gd name="T8" fmla="*/ 1 w 42"/>
                  <a:gd name="T9" fmla="*/ 0 h 41"/>
                  <a:gd name="T10" fmla="*/ 0 w 42"/>
                  <a:gd name="T11" fmla="*/ 0 h 41"/>
                  <a:gd name="T12" fmla="*/ 1 w 42"/>
                  <a:gd name="T13" fmla="*/ 0 h 41"/>
                  <a:gd name="T14" fmla="*/ 1 w 42"/>
                  <a:gd name="T15" fmla="*/ 0 h 41"/>
                  <a:gd name="T16" fmla="*/ 1 w 42"/>
                  <a:gd name="T17" fmla="*/ 0 h 41"/>
                  <a:gd name="T18" fmla="*/ 1 w 42"/>
                  <a:gd name="T19" fmla="*/ 0 h 41"/>
                  <a:gd name="T20" fmla="*/ 1 w 42"/>
                  <a:gd name="T21" fmla="*/ 0 h 41"/>
                  <a:gd name="T22" fmla="*/ 1 w 42"/>
                  <a:gd name="T23" fmla="*/ 0 h 41"/>
                  <a:gd name="T24" fmla="*/ 1 w 42"/>
                  <a:gd name="T25" fmla="*/ 0 h 41"/>
                  <a:gd name="T26" fmla="*/ 1 w 42"/>
                  <a:gd name="T27" fmla="*/ 0 h 41"/>
                  <a:gd name="T28" fmla="*/ 1 w 42"/>
                  <a:gd name="T29" fmla="*/ 0 h 41"/>
                  <a:gd name="T30" fmla="*/ 1 w 42"/>
                  <a:gd name="T31" fmla="*/ 0 h 41"/>
                  <a:gd name="T32" fmla="*/ 1 w 42"/>
                  <a:gd name="T33" fmla="*/ 0 h 41"/>
                  <a:gd name="T34" fmla="*/ 1 w 42"/>
                  <a:gd name="T35" fmla="*/ 0 h 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2"/>
                  <a:gd name="T55" fmla="*/ 0 h 41"/>
                  <a:gd name="T56" fmla="*/ 42 w 42"/>
                  <a:gd name="T57" fmla="*/ 41 h 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2" h="41">
                    <a:moveTo>
                      <a:pt x="22" y="18"/>
                    </a:moveTo>
                    <a:lnTo>
                      <a:pt x="22" y="5"/>
                    </a:lnTo>
                    <a:lnTo>
                      <a:pt x="19" y="8"/>
                    </a:lnTo>
                    <a:lnTo>
                      <a:pt x="11" y="14"/>
                    </a:lnTo>
                    <a:lnTo>
                      <a:pt x="0" y="19"/>
                    </a:lnTo>
                    <a:lnTo>
                      <a:pt x="6" y="41"/>
                    </a:lnTo>
                    <a:lnTo>
                      <a:pt x="20" y="33"/>
                    </a:lnTo>
                    <a:lnTo>
                      <a:pt x="31" y="27"/>
                    </a:lnTo>
                    <a:lnTo>
                      <a:pt x="38" y="21"/>
                    </a:lnTo>
                    <a:lnTo>
                      <a:pt x="41" y="18"/>
                    </a:lnTo>
                    <a:lnTo>
                      <a:pt x="41" y="5"/>
                    </a:lnTo>
                    <a:lnTo>
                      <a:pt x="41" y="18"/>
                    </a:lnTo>
                    <a:lnTo>
                      <a:pt x="42" y="8"/>
                    </a:lnTo>
                    <a:lnTo>
                      <a:pt x="38" y="2"/>
                    </a:lnTo>
                    <a:lnTo>
                      <a:pt x="30" y="0"/>
                    </a:lnTo>
                    <a:lnTo>
                      <a:pt x="22" y="5"/>
                    </a:lnTo>
                    <a:lnTo>
                      <a:pt x="22" y="18"/>
                    </a:lnTo>
                    <a:close/>
                  </a:path>
                </a:pathLst>
              </a:custGeom>
              <a:solidFill>
                <a:srgbClr val="000000"/>
              </a:solidFill>
              <a:ln w="9525">
                <a:noFill/>
                <a:round/>
                <a:headEnd/>
                <a:tailEnd/>
              </a:ln>
            </p:spPr>
            <p:txBody>
              <a:bodyPr/>
              <a:lstStyle/>
              <a:p>
                <a:endParaRPr lang="en-US"/>
              </a:p>
            </p:txBody>
          </p:sp>
          <p:sp>
            <p:nvSpPr>
              <p:cNvPr id="27810" name="Freeform 123"/>
              <p:cNvSpPr>
                <a:spLocks/>
              </p:cNvSpPr>
              <p:nvPr/>
            </p:nvSpPr>
            <p:spPr bwMode="auto">
              <a:xfrm>
                <a:off x="2227" y="3501"/>
                <a:ext cx="14" cy="18"/>
              </a:xfrm>
              <a:custGeom>
                <a:avLst/>
                <a:gdLst>
                  <a:gd name="T0" fmla="*/ 1 w 28"/>
                  <a:gd name="T1" fmla="*/ 0 h 38"/>
                  <a:gd name="T2" fmla="*/ 1 w 28"/>
                  <a:gd name="T3" fmla="*/ 0 h 38"/>
                  <a:gd name="T4" fmla="*/ 0 w 28"/>
                  <a:gd name="T5" fmla="*/ 0 h 38"/>
                  <a:gd name="T6" fmla="*/ 1 w 28"/>
                  <a:gd name="T7" fmla="*/ 0 h 38"/>
                  <a:gd name="T8" fmla="*/ 1 w 28"/>
                  <a:gd name="T9" fmla="*/ 0 h 38"/>
                  <a:gd name="T10" fmla="*/ 1 w 28"/>
                  <a:gd name="T11" fmla="*/ 0 h 38"/>
                  <a:gd name="T12" fmla="*/ 1 w 28"/>
                  <a:gd name="T13" fmla="*/ 0 h 38"/>
                  <a:gd name="T14" fmla="*/ 1 w 28"/>
                  <a:gd name="T15" fmla="*/ 0 h 38"/>
                  <a:gd name="T16" fmla="*/ 1 w 28"/>
                  <a:gd name="T17" fmla="*/ 0 h 38"/>
                  <a:gd name="T18" fmla="*/ 1 w 28"/>
                  <a:gd name="T19" fmla="*/ 0 h 38"/>
                  <a:gd name="T20" fmla="*/ 1 w 28"/>
                  <a:gd name="T21" fmla="*/ 0 h 38"/>
                  <a:gd name="T22" fmla="*/ 1 w 28"/>
                  <a:gd name="T23" fmla="*/ 0 h 38"/>
                  <a:gd name="T24" fmla="*/ 1 w 28"/>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8"/>
                  <a:gd name="T41" fmla="*/ 28 w 28"/>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8">
                    <a:moveTo>
                      <a:pt x="7" y="2"/>
                    </a:moveTo>
                    <a:lnTo>
                      <a:pt x="9" y="0"/>
                    </a:lnTo>
                    <a:lnTo>
                      <a:pt x="0" y="16"/>
                    </a:lnTo>
                    <a:lnTo>
                      <a:pt x="4" y="27"/>
                    </a:lnTo>
                    <a:lnTo>
                      <a:pt x="7" y="33"/>
                    </a:lnTo>
                    <a:lnTo>
                      <a:pt x="9" y="38"/>
                    </a:lnTo>
                    <a:lnTo>
                      <a:pt x="28" y="25"/>
                    </a:lnTo>
                    <a:lnTo>
                      <a:pt x="26" y="24"/>
                    </a:lnTo>
                    <a:lnTo>
                      <a:pt x="23" y="17"/>
                    </a:lnTo>
                    <a:lnTo>
                      <a:pt x="21" y="13"/>
                    </a:lnTo>
                    <a:lnTo>
                      <a:pt x="15" y="22"/>
                    </a:lnTo>
                    <a:lnTo>
                      <a:pt x="17" y="20"/>
                    </a:lnTo>
                    <a:lnTo>
                      <a:pt x="7" y="2"/>
                    </a:lnTo>
                    <a:close/>
                  </a:path>
                </a:pathLst>
              </a:custGeom>
              <a:solidFill>
                <a:srgbClr val="000000"/>
              </a:solidFill>
              <a:ln w="9525">
                <a:noFill/>
                <a:round/>
                <a:headEnd/>
                <a:tailEnd/>
              </a:ln>
            </p:spPr>
            <p:txBody>
              <a:bodyPr/>
              <a:lstStyle/>
              <a:p>
                <a:endParaRPr lang="en-US"/>
              </a:p>
            </p:txBody>
          </p:sp>
          <p:sp>
            <p:nvSpPr>
              <p:cNvPr id="27811" name="Freeform 124"/>
              <p:cNvSpPr>
                <a:spLocks/>
              </p:cNvSpPr>
              <p:nvPr/>
            </p:nvSpPr>
            <p:spPr bwMode="auto">
              <a:xfrm>
                <a:off x="2231" y="3500"/>
                <a:ext cx="29" cy="14"/>
              </a:xfrm>
              <a:custGeom>
                <a:avLst/>
                <a:gdLst>
                  <a:gd name="T0" fmla="*/ 1 w 58"/>
                  <a:gd name="T1" fmla="*/ 0 h 29"/>
                  <a:gd name="T2" fmla="*/ 1 w 58"/>
                  <a:gd name="T3" fmla="*/ 0 h 29"/>
                  <a:gd name="T4" fmla="*/ 1 w 58"/>
                  <a:gd name="T5" fmla="*/ 0 h 29"/>
                  <a:gd name="T6" fmla="*/ 1 w 58"/>
                  <a:gd name="T7" fmla="*/ 0 h 29"/>
                  <a:gd name="T8" fmla="*/ 1 w 58"/>
                  <a:gd name="T9" fmla="*/ 0 h 29"/>
                  <a:gd name="T10" fmla="*/ 1 w 58"/>
                  <a:gd name="T11" fmla="*/ 0 h 29"/>
                  <a:gd name="T12" fmla="*/ 1 w 58"/>
                  <a:gd name="T13" fmla="*/ 0 h 29"/>
                  <a:gd name="T14" fmla="*/ 1 w 58"/>
                  <a:gd name="T15" fmla="*/ 0 h 29"/>
                  <a:gd name="T16" fmla="*/ 1 w 58"/>
                  <a:gd name="T17" fmla="*/ 0 h 29"/>
                  <a:gd name="T18" fmla="*/ 0 w 58"/>
                  <a:gd name="T19" fmla="*/ 0 h 29"/>
                  <a:gd name="T20" fmla="*/ 1 w 58"/>
                  <a:gd name="T21" fmla="*/ 0 h 29"/>
                  <a:gd name="T22" fmla="*/ 1 w 58"/>
                  <a:gd name="T23" fmla="*/ 0 h 29"/>
                  <a:gd name="T24" fmla="*/ 1 w 58"/>
                  <a:gd name="T25" fmla="*/ 0 h 29"/>
                  <a:gd name="T26" fmla="*/ 1 w 58"/>
                  <a:gd name="T27" fmla="*/ 0 h 29"/>
                  <a:gd name="T28" fmla="*/ 1 w 58"/>
                  <a:gd name="T29" fmla="*/ 0 h 29"/>
                  <a:gd name="T30" fmla="*/ 1 w 58"/>
                  <a:gd name="T31" fmla="*/ 0 h 29"/>
                  <a:gd name="T32" fmla="*/ 1 w 58"/>
                  <a:gd name="T33" fmla="*/ 0 h 29"/>
                  <a:gd name="T34" fmla="*/ 1 w 58"/>
                  <a:gd name="T35" fmla="*/ 0 h 29"/>
                  <a:gd name="T36" fmla="*/ 1 w 58"/>
                  <a:gd name="T37" fmla="*/ 0 h 29"/>
                  <a:gd name="T38" fmla="*/ 1 w 58"/>
                  <a:gd name="T39" fmla="*/ 0 h 29"/>
                  <a:gd name="T40" fmla="*/ 1 w 58"/>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29"/>
                  <a:gd name="T65" fmla="*/ 58 w 58"/>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29">
                    <a:moveTo>
                      <a:pt x="58" y="10"/>
                    </a:moveTo>
                    <a:lnTo>
                      <a:pt x="58" y="10"/>
                    </a:lnTo>
                    <a:lnTo>
                      <a:pt x="52" y="7"/>
                    </a:lnTo>
                    <a:lnTo>
                      <a:pt x="46" y="5"/>
                    </a:lnTo>
                    <a:lnTo>
                      <a:pt x="38" y="4"/>
                    </a:lnTo>
                    <a:lnTo>
                      <a:pt x="30" y="2"/>
                    </a:lnTo>
                    <a:lnTo>
                      <a:pt x="22" y="2"/>
                    </a:lnTo>
                    <a:lnTo>
                      <a:pt x="16" y="0"/>
                    </a:lnTo>
                    <a:lnTo>
                      <a:pt x="7" y="0"/>
                    </a:lnTo>
                    <a:lnTo>
                      <a:pt x="0" y="4"/>
                    </a:lnTo>
                    <a:lnTo>
                      <a:pt x="10" y="22"/>
                    </a:lnTo>
                    <a:lnTo>
                      <a:pt x="13" y="22"/>
                    </a:lnTo>
                    <a:lnTo>
                      <a:pt x="19" y="24"/>
                    </a:lnTo>
                    <a:lnTo>
                      <a:pt x="27" y="24"/>
                    </a:lnTo>
                    <a:lnTo>
                      <a:pt x="32" y="26"/>
                    </a:lnTo>
                    <a:lnTo>
                      <a:pt x="40" y="27"/>
                    </a:lnTo>
                    <a:lnTo>
                      <a:pt x="46" y="29"/>
                    </a:lnTo>
                    <a:lnTo>
                      <a:pt x="49" y="29"/>
                    </a:lnTo>
                    <a:lnTo>
                      <a:pt x="58" y="10"/>
                    </a:lnTo>
                    <a:close/>
                  </a:path>
                </a:pathLst>
              </a:custGeom>
              <a:solidFill>
                <a:srgbClr val="000000"/>
              </a:solidFill>
              <a:ln w="9525">
                <a:noFill/>
                <a:round/>
                <a:headEnd/>
                <a:tailEnd/>
              </a:ln>
            </p:spPr>
            <p:txBody>
              <a:bodyPr/>
              <a:lstStyle/>
              <a:p>
                <a:endParaRPr lang="en-US"/>
              </a:p>
            </p:txBody>
          </p:sp>
          <p:sp>
            <p:nvSpPr>
              <p:cNvPr id="27812" name="Freeform 125"/>
              <p:cNvSpPr>
                <a:spLocks/>
              </p:cNvSpPr>
              <p:nvPr/>
            </p:nvSpPr>
            <p:spPr bwMode="auto">
              <a:xfrm>
                <a:off x="2254" y="3504"/>
                <a:ext cx="13" cy="59"/>
              </a:xfrm>
              <a:custGeom>
                <a:avLst/>
                <a:gdLst>
                  <a:gd name="T0" fmla="*/ 1 w 26"/>
                  <a:gd name="T1" fmla="*/ 1 h 117"/>
                  <a:gd name="T2" fmla="*/ 1 w 26"/>
                  <a:gd name="T3" fmla="*/ 1 h 117"/>
                  <a:gd name="T4" fmla="*/ 1 w 26"/>
                  <a:gd name="T5" fmla="*/ 1 h 117"/>
                  <a:gd name="T6" fmla="*/ 1 w 26"/>
                  <a:gd name="T7" fmla="*/ 1 h 117"/>
                  <a:gd name="T8" fmla="*/ 1 w 26"/>
                  <a:gd name="T9" fmla="*/ 1 h 117"/>
                  <a:gd name="T10" fmla="*/ 1 w 26"/>
                  <a:gd name="T11" fmla="*/ 1 h 117"/>
                  <a:gd name="T12" fmla="*/ 1 w 26"/>
                  <a:gd name="T13" fmla="*/ 1 h 117"/>
                  <a:gd name="T14" fmla="*/ 1 w 26"/>
                  <a:gd name="T15" fmla="*/ 1 h 117"/>
                  <a:gd name="T16" fmla="*/ 1 w 26"/>
                  <a:gd name="T17" fmla="*/ 1 h 117"/>
                  <a:gd name="T18" fmla="*/ 1 w 26"/>
                  <a:gd name="T19" fmla="*/ 0 h 117"/>
                  <a:gd name="T20" fmla="*/ 1 w 26"/>
                  <a:gd name="T21" fmla="*/ 1 h 117"/>
                  <a:gd name="T22" fmla="*/ 0 w 26"/>
                  <a:gd name="T23" fmla="*/ 1 h 117"/>
                  <a:gd name="T24" fmla="*/ 1 w 26"/>
                  <a:gd name="T25" fmla="*/ 1 h 117"/>
                  <a:gd name="T26" fmla="*/ 1 w 26"/>
                  <a:gd name="T27" fmla="*/ 1 h 117"/>
                  <a:gd name="T28" fmla="*/ 1 w 26"/>
                  <a:gd name="T29" fmla="*/ 1 h 117"/>
                  <a:gd name="T30" fmla="*/ 1 w 26"/>
                  <a:gd name="T31" fmla="*/ 1 h 117"/>
                  <a:gd name="T32" fmla="*/ 1 w 26"/>
                  <a:gd name="T33" fmla="*/ 1 h 117"/>
                  <a:gd name="T34" fmla="*/ 1 w 26"/>
                  <a:gd name="T35" fmla="*/ 1 h 117"/>
                  <a:gd name="T36" fmla="*/ 1 w 26"/>
                  <a:gd name="T37" fmla="*/ 1 h 117"/>
                  <a:gd name="T38" fmla="*/ 1 w 26"/>
                  <a:gd name="T39" fmla="*/ 1 h 117"/>
                  <a:gd name="T40" fmla="*/ 1 w 26"/>
                  <a:gd name="T41" fmla="*/ 1 h 117"/>
                  <a:gd name="T42" fmla="*/ 1 w 26"/>
                  <a:gd name="T43" fmla="*/ 1 h 117"/>
                  <a:gd name="T44" fmla="*/ 1 w 26"/>
                  <a:gd name="T45" fmla="*/ 1 h 117"/>
                  <a:gd name="T46" fmla="*/ 1 w 26"/>
                  <a:gd name="T47" fmla="*/ 1 h 117"/>
                  <a:gd name="T48" fmla="*/ 1 w 26"/>
                  <a:gd name="T49" fmla="*/ 1 h 1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
                  <a:gd name="T76" fmla="*/ 0 h 117"/>
                  <a:gd name="T77" fmla="*/ 26 w 26"/>
                  <a:gd name="T78" fmla="*/ 117 h 11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 h="117">
                    <a:moveTo>
                      <a:pt x="26" y="106"/>
                    </a:moveTo>
                    <a:lnTo>
                      <a:pt x="26" y="106"/>
                    </a:lnTo>
                    <a:lnTo>
                      <a:pt x="26" y="102"/>
                    </a:lnTo>
                    <a:lnTo>
                      <a:pt x="26" y="92"/>
                    </a:lnTo>
                    <a:lnTo>
                      <a:pt x="26" y="77"/>
                    </a:lnTo>
                    <a:lnTo>
                      <a:pt x="26" y="59"/>
                    </a:lnTo>
                    <a:lnTo>
                      <a:pt x="25" y="41"/>
                    </a:lnTo>
                    <a:lnTo>
                      <a:pt x="23" y="25"/>
                    </a:lnTo>
                    <a:lnTo>
                      <a:pt x="22" y="12"/>
                    </a:lnTo>
                    <a:lnTo>
                      <a:pt x="12" y="0"/>
                    </a:lnTo>
                    <a:lnTo>
                      <a:pt x="3" y="19"/>
                    </a:lnTo>
                    <a:lnTo>
                      <a:pt x="0" y="19"/>
                    </a:lnTo>
                    <a:lnTo>
                      <a:pt x="1" y="28"/>
                    </a:lnTo>
                    <a:lnTo>
                      <a:pt x="3" y="44"/>
                    </a:lnTo>
                    <a:lnTo>
                      <a:pt x="4" y="59"/>
                    </a:lnTo>
                    <a:lnTo>
                      <a:pt x="4" y="77"/>
                    </a:lnTo>
                    <a:lnTo>
                      <a:pt x="4" y="92"/>
                    </a:lnTo>
                    <a:lnTo>
                      <a:pt x="4" y="102"/>
                    </a:lnTo>
                    <a:lnTo>
                      <a:pt x="4" y="106"/>
                    </a:lnTo>
                    <a:lnTo>
                      <a:pt x="8" y="114"/>
                    </a:lnTo>
                    <a:lnTo>
                      <a:pt x="15" y="117"/>
                    </a:lnTo>
                    <a:lnTo>
                      <a:pt x="23" y="114"/>
                    </a:lnTo>
                    <a:lnTo>
                      <a:pt x="26" y="106"/>
                    </a:lnTo>
                    <a:close/>
                  </a:path>
                </a:pathLst>
              </a:custGeom>
              <a:solidFill>
                <a:srgbClr val="000000"/>
              </a:solidFill>
              <a:ln w="9525">
                <a:noFill/>
                <a:round/>
                <a:headEnd/>
                <a:tailEnd/>
              </a:ln>
            </p:spPr>
            <p:txBody>
              <a:bodyPr/>
              <a:lstStyle/>
              <a:p>
                <a:endParaRPr lang="en-US"/>
              </a:p>
            </p:txBody>
          </p:sp>
          <p:sp>
            <p:nvSpPr>
              <p:cNvPr id="27813" name="Freeform 126"/>
              <p:cNvSpPr>
                <a:spLocks/>
              </p:cNvSpPr>
              <p:nvPr/>
            </p:nvSpPr>
            <p:spPr bwMode="auto">
              <a:xfrm>
                <a:off x="2215" y="3558"/>
                <a:ext cx="52" cy="194"/>
              </a:xfrm>
              <a:custGeom>
                <a:avLst/>
                <a:gdLst>
                  <a:gd name="T0" fmla="*/ 1 w 104"/>
                  <a:gd name="T1" fmla="*/ 1 h 388"/>
                  <a:gd name="T2" fmla="*/ 1 w 104"/>
                  <a:gd name="T3" fmla="*/ 1 h 388"/>
                  <a:gd name="T4" fmla="*/ 1 w 104"/>
                  <a:gd name="T5" fmla="*/ 1 h 388"/>
                  <a:gd name="T6" fmla="*/ 1 w 104"/>
                  <a:gd name="T7" fmla="*/ 1 h 388"/>
                  <a:gd name="T8" fmla="*/ 1 w 104"/>
                  <a:gd name="T9" fmla="*/ 1 h 388"/>
                  <a:gd name="T10" fmla="*/ 1 w 104"/>
                  <a:gd name="T11" fmla="*/ 1 h 388"/>
                  <a:gd name="T12" fmla="*/ 1 w 104"/>
                  <a:gd name="T13" fmla="*/ 1 h 388"/>
                  <a:gd name="T14" fmla="*/ 1 w 104"/>
                  <a:gd name="T15" fmla="*/ 1 h 388"/>
                  <a:gd name="T16" fmla="*/ 1 w 104"/>
                  <a:gd name="T17" fmla="*/ 1 h 388"/>
                  <a:gd name="T18" fmla="*/ 1 w 104"/>
                  <a:gd name="T19" fmla="*/ 1 h 388"/>
                  <a:gd name="T20" fmla="*/ 1 w 104"/>
                  <a:gd name="T21" fmla="*/ 1 h 388"/>
                  <a:gd name="T22" fmla="*/ 1 w 104"/>
                  <a:gd name="T23" fmla="*/ 1 h 388"/>
                  <a:gd name="T24" fmla="*/ 1 w 104"/>
                  <a:gd name="T25" fmla="*/ 1 h 388"/>
                  <a:gd name="T26" fmla="*/ 1 w 104"/>
                  <a:gd name="T27" fmla="*/ 1 h 388"/>
                  <a:gd name="T28" fmla="*/ 1 w 104"/>
                  <a:gd name="T29" fmla="*/ 1 h 388"/>
                  <a:gd name="T30" fmla="*/ 1 w 104"/>
                  <a:gd name="T31" fmla="*/ 1 h 388"/>
                  <a:gd name="T32" fmla="*/ 1 w 104"/>
                  <a:gd name="T33" fmla="*/ 1 h 388"/>
                  <a:gd name="T34" fmla="*/ 1 w 104"/>
                  <a:gd name="T35" fmla="*/ 0 h 388"/>
                  <a:gd name="T36" fmla="*/ 1 w 104"/>
                  <a:gd name="T37" fmla="*/ 0 h 388"/>
                  <a:gd name="T38" fmla="*/ 1 w 104"/>
                  <a:gd name="T39" fmla="*/ 1 h 388"/>
                  <a:gd name="T40" fmla="*/ 1 w 104"/>
                  <a:gd name="T41" fmla="*/ 1 h 388"/>
                  <a:gd name="T42" fmla="*/ 1 w 104"/>
                  <a:gd name="T43" fmla="*/ 1 h 388"/>
                  <a:gd name="T44" fmla="*/ 1 w 104"/>
                  <a:gd name="T45" fmla="*/ 1 h 388"/>
                  <a:gd name="T46" fmla="*/ 1 w 104"/>
                  <a:gd name="T47" fmla="*/ 1 h 388"/>
                  <a:gd name="T48" fmla="*/ 1 w 104"/>
                  <a:gd name="T49" fmla="*/ 1 h 388"/>
                  <a:gd name="T50" fmla="*/ 1 w 104"/>
                  <a:gd name="T51" fmla="*/ 1 h 388"/>
                  <a:gd name="T52" fmla="*/ 1 w 104"/>
                  <a:gd name="T53" fmla="*/ 1 h 388"/>
                  <a:gd name="T54" fmla="*/ 1 w 104"/>
                  <a:gd name="T55" fmla="*/ 1 h 388"/>
                  <a:gd name="T56" fmla="*/ 1 w 104"/>
                  <a:gd name="T57" fmla="*/ 1 h 388"/>
                  <a:gd name="T58" fmla="*/ 1 w 104"/>
                  <a:gd name="T59" fmla="*/ 1 h 388"/>
                  <a:gd name="T60" fmla="*/ 1 w 104"/>
                  <a:gd name="T61" fmla="*/ 1 h 388"/>
                  <a:gd name="T62" fmla="*/ 1 w 104"/>
                  <a:gd name="T63" fmla="*/ 1 h 388"/>
                  <a:gd name="T64" fmla="*/ 1 w 104"/>
                  <a:gd name="T65" fmla="*/ 1 h 388"/>
                  <a:gd name="T66" fmla="*/ 1 w 104"/>
                  <a:gd name="T67" fmla="*/ 1 h 388"/>
                  <a:gd name="T68" fmla="*/ 0 w 104"/>
                  <a:gd name="T69" fmla="*/ 1 h 388"/>
                  <a:gd name="T70" fmla="*/ 0 w 104"/>
                  <a:gd name="T71" fmla="*/ 1 h 388"/>
                  <a:gd name="T72" fmla="*/ 1 w 104"/>
                  <a:gd name="T73" fmla="*/ 1 h 3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4"/>
                  <a:gd name="T112" fmla="*/ 0 h 388"/>
                  <a:gd name="T113" fmla="*/ 104 w 104"/>
                  <a:gd name="T114" fmla="*/ 388 h 3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4" h="388">
                    <a:moveTo>
                      <a:pt x="3" y="388"/>
                    </a:moveTo>
                    <a:lnTo>
                      <a:pt x="3" y="388"/>
                    </a:lnTo>
                    <a:lnTo>
                      <a:pt x="23" y="379"/>
                    </a:lnTo>
                    <a:lnTo>
                      <a:pt x="39" y="362"/>
                    </a:lnTo>
                    <a:lnTo>
                      <a:pt x="53" y="341"/>
                    </a:lnTo>
                    <a:lnTo>
                      <a:pt x="65" y="315"/>
                    </a:lnTo>
                    <a:lnTo>
                      <a:pt x="73" y="285"/>
                    </a:lnTo>
                    <a:lnTo>
                      <a:pt x="81" y="252"/>
                    </a:lnTo>
                    <a:lnTo>
                      <a:pt x="87" y="218"/>
                    </a:lnTo>
                    <a:lnTo>
                      <a:pt x="92" y="183"/>
                    </a:lnTo>
                    <a:lnTo>
                      <a:pt x="97" y="149"/>
                    </a:lnTo>
                    <a:lnTo>
                      <a:pt x="100" y="116"/>
                    </a:lnTo>
                    <a:lnTo>
                      <a:pt x="101" y="85"/>
                    </a:lnTo>
                    <a:lnTo>
                      <a:pt x="103" y="57"/>
                    </a:lnTo>
                    <a:lnTo>
                      <a:pt x="104" y="33"/>
                    </a:lnTo>
                    <a:lnTo>
                      <a:pt x="104" y="16"/>
                    </a:lnTo>
                    <a:lnTo>
                      <a:pt x="104" y="5"/>
                    </a:lnTo>
                    <a:lnTo>
                      <a:pt x="104" y="0"/>
                    </a:lnTo>
                    <a:lnTo>
                      <a:pt x="82" y="0"/>
                    </a:lnTo>
                    <a:lnTo>
                      <a:pt x="82" y="5"/>
                    </a:lnTo>
                    <a:lnTo>
                      <a:pt x="82" y="16"/>
                    </a:lnTo>
                    <a:lnTo>
                      <a:pt x="82" y="33"/>
                    </a:lnTo>
                    <a:lnTo>
                      <a:pt x="81" y="57"/>
                    </a:lnTo>
                    <a:lnTo>
                      <a:pt x="79" y="85"/>
                    </a:lnTo>
                    <a:lnTo>
                      <a:pt x="78" y="113"/>
                    </a:lnTo>
                    <a:lnTo>
                      <a:pt x="75" y="146"/>
                    </a:lnTo>
                    <a:lnTo>
                      <a:pt x="70" y="180"/>
                    </a:lnTo>
                    <a:lnTo>
                      <a:pt x="65" y="215"/>
                    </a:lnTo>
                    <a:lnTo>
                      <a:pt x="59" y="249"/>
                    </a:lnTo>
                    <a:lnTo>
                      <a:pt x="51" y="279"/>
                    </a:lnTo>
                    <a:lnTo>
                      <a:pt x="43" y="308"/>
                    </a:lnTo>
                    <a:lnTo>
                      <a:pt x="34" y="332"/>
                    </a:lnTo>
                    <a:lnTo>
                      <a:pt x="23" y="349"/>
                    </a:lnTo>
                    <a:lnTo>
                      <a:pt x="10" y="360"/>
                    </a:lnTo>
                    <a:lnTo>
                      <a:pt x="0" y="366"/>
                    </a:lnTo>
                    <a:lnTo>
                      <a:pt x="3" y="388"/>
                    </a:lnTo>
                    <a:close/>
                  </a:path>
                </a:pathLst>
              </a:custGeom>
              <a:solidFill>
                <a:srgbClr val="000000"/>
              </a:solidFill>
              <a:ln w="9525">
                <a:noFill/>
                <a:round/>
                <a:headEnd/>
                <a:tailEnd/>
              </a:ln>
            </p:spPr>
            <p:txBody>
              <a:bodyPr/>
              <a:lstStyle/>
              <a:p>
                <a:endParaRPr lang="en-US"/>
              </a:p>
            </p:txBody>
          </p:sp>
          <p:sp>
            <p:nvSpPr>
              <p:cNvPr id="27814" name="Freeform 127"/>
              <p:cNvSpPr>
                <a:spLocks/>
              </p:cNvSpPr>
              <p:nvPr/>
            </p:nvSpPr>
            <p:spPr bwMode="auto">
              <a:xfrm>
                <a:off x="2108" y="3741"/>
                <a:ext cx="108" cy="19"/>
              </a:xfrm>
              <a:custGeom>
                <a:avLst/>
                <a:gdLst>
                  <a:gd name="T0" fmla="*/ 0 w 216"/>
                  <a:gd name="T1" fmla="*/ 0 h 40"/>
                  <a:gd name="T2" fmla="*/ 0 w 216"/>
                  <a:gd name="T3" fmla="*/ 0 h 40"/>
                  <a:gd name="T4" fmla="*/ 1 w 216"/>
                  <a:gd name="T5" fmla="*/ 0 h 40"/>
                  <a:gd name="T6" fmla="*/ 1 w 216"/>
                  <a:gd name="T7" fmla="*/ 0 h 40"/>
                  <a:gd name="T8" fmla="*/ 1 w 216"/>
                  <a:gd name="T9" fmla="*/ 0 h 40"/>
                  <a:gd name="T10" fmla="*/ 1 w 216"/>
                  <a:gd name="T11" fmla="*/ 0 h 40"/>
                  <a:gd name="T12" fmla="*/ 1 w 216"/>
                  <a:gd name="T13" fmla="*/ 0 h 40"/>
                  <a:gd name="T14" fmla="*/ 1 w 216"/>
                  <a:gd name="T15" fmla="*/ 0 h 40"/>
                  <a:gd name="T16" fmla="*/ 1 w 216"/>
                  <a:gd name="T17" fmla="*/ 0 h 40"/>
                  <a:gd name="T18" fmla="*/ 1 w 216"/>
                  <a:gd name="T19" fmla="*/ 0 h 40"/>
                  <a:gd name="T20" fmla="*/ 1 w 216"/>
                  <a:gd name="T21" fmla="*/ 0 h 40"/>
                  <a:gd name="T22" fmla="*/ 1 w 216"/>
                  <a:gd name="T23" fmla="*/ 0 h 40"/>
                  <a:gd name="T24" fmla="*/ 1 w 216"/>
                  <a:gd name="T25" fmla="*/ 0 h 40"/>
                  <a:gd name="T26" fmla="*/ 1 w 216"/>
                  <a:gd name="T27" fmla="*/ 0 h 40"/>
                  <a:gd name="T28" fmla="*/ 1 w 216"/>
                  <a:gd name="T29" fmla="*/ 0 h 40"/>
                  <a:gd name="T30" fmla="*/ 1 w 216"/>
                  <a:gd name="T31" fmla="*/ 0 h 40"/>
                  <a:gd name="T32" fmla="*/ 1 w 216"/>
                  <a:gd name="T33" fmla="*/ 0 h 40"/>
                  <a:gd name="T34" fmla="*/ 1 w 216"/>
                  <a:gd name="T35" fmla="*/ 0 h 40"/>
                  <a:gd name="T36" fmla="*/ 1 w 216"/>
                  <a:gd name="T37" fmla="*/ 0 h 40"/>
                  <a:gd name="T38" fmla="*/ 1 w 216"/>
                  <a:gd name="T39" fmla="*/ 0 h 40"/>
                  <a:gd name="T40" fmla="*/ 0 w 216"/>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6"/>
                  <a:gd name="T64" fmla="*/ 0 h 40"/>
                  <a:gd name="T65" fmla="*/ 216 w 216"/>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6" h="40">
                    <a:moveTo>
                      <a:pt x="0" y="30"/>
                    </a:moveTo>
                    <a:lnTo>
                      <a:pt x="0" y="30"/>
                    </a:lnTo>
                    <a:lnTo>
                      <a:pt x="21" y="35"/>
                    </a:lnTo>
                    <a:lnTo>
                      <a:pt x="43" y="38"/>
                    </a:lnTo>
                    <a:lnTo>
                      <a:pt x="68" y="40"/>
                    </a:lnTo>
                    <a:lnTo>
                      <a:pt x="94" y="38"/>
                    </a:lnTo>
                    <a:lnTo>
                      <a:pt x="123" y="36"/>
                    </a:lnTo>
                    <a:lnTo>
                      <a:pt x="151" y="33"/>
                    </a:lnTo>
                    <a:lnTo>
                      <a:pt x="183" y="29"/>
                    </a:lnTo>
                    <a:lnTo>
                      <a:pt x="216" y="22"/>
                    </a:lnTo>
                    <a:lnTo>
                      <a:pt x="213" y="0"/>
                    </a:lnTo>
                    <a:lnTo>
                      <a:pt x="180" y="7"/>
                    </a:lnTo>
                    <a:lnTo>
                      <a:pt x="148" y="11"/>
                    </a:lnTo>
                    <a:lnTo>
                      <a:pt x="120" y="14"/>
                    </a:lnTo>
                    <a:lnTo>
                      <a:pt x="94" y="16"/>
                    </a:lnTo>
                    <a:lnTo>
                      <a:pt x="68" y="18"/>
                    </a:lnTo>
                    <a:lnTo>
                      <a:pt x="47" y="16"/>
                    </a:lnTo>
                    <a:lnTo>
                      <a:pt x="25" y="13"/>
                    </a:lnTo>
                    <a:lnTo>
                      <a:pt x="6" y="8"/>
                    </a:lnTo>
                    <a:lnTo>
                      <a:pt x="0" y="30"/>
                    </a:lnTo>
                    <a:close/>
                  </a:path>
                </a:pathLst>
              </a:custGeom>
              <a:solidFill>
                <a:srgbClr val="000000"/>
              </a:solidFill>
              <a:ln w="9525">
                <a:noFill/>
                <a:round/>
                <a:headEnd/>
                <a:tailEnd/>
              </a:ln>
            </p:spPr>
            <p:txBody>
              <a:bodyPr/>
              <a:lstStyle/>
              <a:p>
                <a:endParaRPr lang="en-US"/>
              </a:p>
            </p:txBody>
          </p:sp>
          <p:sp>
            <p:nvSpPr>
              <p:cNvPr id="27815" name="Freeform 128"/>
              <p:cNvSpPr>
                <a:spLocks/>
              </p:cNvSpPr>
              <p:nvPr/>
            </p:nvSpPr>
            <p:spPr bwMode="auto">
              <a:xfrm>
                <a:off x="2053" y="3734"/>
                <a:ext cx="58" cy="22"/>
              </a:xfrm>
              <a:custGeom>
                <a:avLst/>
                <a:gdLst>
                  <a:gd name="T0" fmla="*/ 0 w 116"/>
                  <a:gd name="T1" fmla="*/ 1 h 42"/>
                  <a:gd name="T2" fmla="*/ 0 w 116"/>
                  <a:gd name="T3" fmla="*/ 1 h 42"/>
                  <a:gd name="T4" fmla="*/ 1 w 116"/>
                  <a:gd name="T5" fmla="*/ 1 h 42"/>
                  <a:gd name="T6" fmla="*/ 1 w 116"/>
                  <a:gd name="T7" fmla="*/ 1 h 42"/>
                  <a:gd name="T8" fmla="*/ 1 w 116"/>
                  <a:gd name="T9" fmla="*/ 1 h 42"/>
                  <a:gd name="T10" fmla="*/ 1 w 116"/>
                  <a:gd name="T11" fmla="*/ 1 h 42"/>
                  <a:gd name="T12" fmla="*/ 1 w 116"/>
                  <a:gd name="T13" fmla="*/ 1 h 42"/>
                  <a:gd name="T14" fmla="*/ 1 w 116"/>
                  <a:gd name="T15" fmla="*/ 1 h 42"/>
                  <a:gd name="T16" fmla="*/ 1 w 116"/>
                  <a:gd name="T17" fmla="*/ 1 h 42"/>
                  <a:gd name="T18" fmla="*/ 1 w 116"/>
                  <a:gd name="T19" fmla="*/ 1 h 42"/>
                  <a:gd name="T20" fmla="*/ 1 w 116"/>
                  <a:gd name="T21" fmla="*/ 1 h 42"/>
                  <a:gd name="T22" fmla="*/ 1 w 116"/>
                  <a:gd name="T23" fmla="*/ 1 h 42"/>
                  <a:gd name="T24" fmla="*/ 1 w 116"/>
                  <a:gd name="T25" fmla="*/ 1 h 42"/>
                  <a:gd name="T26" fmla="*/ 1 w 116"/>
                  <a:gd name="T27" fmla="*/ 1 h 42"/>
                  <a:gd name="T28" fmla="*/ 1 w 116"/>
                  <a:gd name="T29" fmla="*/ 1 h 42"/>
                  <a:gd name="T30" fmla="*/ 1 w 116"/>
                  <a:gd name="T31" fmla="*/ 1 h 42"/>
                  <a:gd name="T32" fmla="*/ 1 w 116"/>
                  <a:gd name="T33" fmla="*/ 0 h 42"/>
                  <a:gd name="T34" fmla="*/ 1 w 116"/>
                  <a:gd name="T35" fmla="*/ 0 h 42"/>
                  <a:gd name="T36" fmla="*/ 0 w 116"/>
                  <a:gd name="T37" fmla="*/ 0 h 42"/>
                  <a:gd name="T38" fmla="*/ 0 w 116"/>
                  <a:gd name="T39" fmla="*/ 0 h 42"/>
                  <a:gd name="T40" fmla="*/ 0 w 116"/>
                  <a:gd name="T41" fmla="*/ 1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6"/>
                  <a:gd name="T64" fmla="*/ 0 h 42"/>
                  <a:gd name="T65" fmla="*/ 116 w 116"/>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6" h="42">
                    <a:moveTo>
                      <a:pt x="0" y="22"/>
                    </a:moveTo>
                    <a:lnTo>
                      <a:pt x="0" y="22"/>
                    </a:lnTo>
                    <a:lnTo>
                      <a:pt x="6" y="22"/>
                    </a:lnTo>
                    <a:lnTo>
                      <a:pt x="17" y="22"/>
                    </a:lnTo>
                    <a:lnTo>
                      <a:pt x="27" y="23"/>
                    </a:lnTo>
                    <a:lnTo>
                      <a:pt x="41" y="25"/>
                    </a:lnTo>
                    <a:lnTo>
                      <a:pt x="58" y="28"/>
                    </a:lnTo>
                    <a:lnTo>
                      <a:pt x="74" y="31"/>
                    </a:lnTo>
                    <a:lnTo>
                      <a:pt x="91" y="36"/>
                    </a:lnTo>
                    <a:lnTo>
                      <a:pt x="110" y="42"/>
                    </a:lnTo>
                    <a:lnTo>
                      <a:pt x="116" y="20"/>
                    </a:lnTo>
                    <a:lnTo>
                      <a:pt x="97" y="14"/>
                    </a:lnTo>
                    <a:lnTo>
                      <a:pt x="80" y="9"/>
                    </a:lnTo>
                    <a:lnTo>
                      <a:pt x="61" y="6"/>
                    </a:lnTo>
                    <a:lnTo>
                      <a:pt x="44" y="3"/>
                    </a:lnTo>
                    <a:lnTo>
                      <a:pt x="30" y="1"/>
                    </a:lnTo>
                    <a:lnTo>
                      <a:pt x="17" y="0"/>
                    </a:lnTo>
                    <a:lnTo>
                      <a:pt x="6" y="0"/>
                    </a:lnTo>
                    <a:lnTo>
                      <a:pt x="0" y="0"/>
                    </a:lnTo>
                    <a:lnTo>
                      <a:pt x="0" y="22"/>
                    </a:lnTo>
                    <a:close/>
                  </a:path>
                </a:pathLst>
              </a:custGeom>
              <a:solidFill>
                <a:srgbClr val="000000"/>
              </a:solidFill>
              <a:ln w="9525">
                <a:noFill/>
                <a:round/>
                <a:headEnd/>
                <a:tailEnd/>
              </a:ln>
            </p:spPr>
            <p:txBody>
              <a:bodyPr/>
              <a:lstStyle/>
              <a:p>
                <a:endParaRPr lang="en-US"/>
              </a:p>
            </p:txBody>
          </p:sp>
          <p:sp>
            <p:nvSpPr>
              <p:cNvPr id="27816" name="Freeform 129"/>
              <p:cNvSpPr>
                <a:spLocks/>
              </p:cNvSpPr>
              <p:nvPr/>
            </p:nvSpPr>
            <p:spPr bwMode="auto">
              <a:xfrm>
                <a:off x="2041" y="3734"/>
                <a:ext cx="12" cy="15"/>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0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1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22" y="19"/>
                    </a:moveTo>
                    <a:lnTo>
                      <a:pt x="22" y="17"/>
                    </a:lnTo>
                    <a:lnTo>
                      <a:pt x="20" y="20"/>
                    </a:lnTo>
                    <a:lnTo>
                      <a:pt x="17" y="23"/>
                    </a:lnTo>
                    <a:lnTo>
                      <a:pt x="20" y="23"/>
                    </a:lnTo>
                    <a:lnTo>
                      <a:pt x="25" y="22"/>
                    </a:lnTo>
                    <a:lnTo>
                      <a:pt x="25" y="0"/>
                    </a:lnTo>
                    <a:lnTo>
                      <a:pt x="14" y="1"/>
                    </a:lnTo>
                    <a:lnTo>
                      <a:pt x="8" y="5"/>
                    </a:lnTo>
                    <a:lnTo>
                      <a:pt x="1" y="11"/>
                    </a:lnTo>
                    <a:lnTo>
                      <a:pt x="0" y="17"/>
                    </a:lnTo>
                    <a:lnTo>
                      <a:pt x="0" y="16"/>
                    </a:lnTo>
                    <a:lnTo>
                      <a:pt x="0" y="17"/>
                    </a:lnTo>
                    <a:lnTo>
                      <a:pt x="3" y="25"/>
                    </a:lnTo>
                    <a:lnTo>
                      <a:pt x="11" y="28"/>
                    </a:lnTo>
                    <a:lnTo>
                      <a:pt x="19" y="25"/>
                    </a:lnTo>
                    <a:lnTo>
                      <a:pt x="22" y="17"/>
                    </a:lnTo>
                    <a:lnTo>
                      <a:pt x="22" y="19"/>
                    </a:lnTo>
                    <a:close/>
                  </a:path>
                </a:pathLst>
              </a:custGeom>
              <a:solidFill>
                <a:srgbClr val="000000"/>
              </a:solidFill>
              <a:ln w="9525">
                <a:noFill/>
                <a:round/>
                <a:headEnd/>
                <a:tailEnd/>
              </a:ln>
            </p:spPr>
            <p:txBody>
              <a:bodyPr/>
              <a:lstStyle/>
              <a:p>
                <a:endParaRPr lang="en-US"/>
              </a:p>
            </p:txBody>
          </p:sp>
          <p:sp>
            <p:nvSpPr>
              <p:cNvPr id="27817" name="Freeform 130"/>
              <p:cNvSpPr>
                <a:spLocks/>
              </p:cNvSpPr>
              <p:nvPr/>
            </p:nvSpPr>
            <p:spPr bwMode="auto">
              <a:xfrm>
                <a:off x="2040" y="3742"/>
                <a:ext cx="12" cy="13"/>
              </a:xfrm>
              <a:custGeom>
                <a:avLst/>
                <a:gdLst>
                  <a:gd name="T0" fmla="*/ 1 w 24"/>
                  <a:gd name="T1" fmla="*/ 1 h 25"/>
                  <a:gd name="T2" fmla="*/ 1 w 24"/>
                  <a:gd name="T3" fmla="*/ 1 h 25"/>
                  <a:gd name="T4" fmla="*/ 1 w 24"/>
                  <a:gd name="T5" fmla="*/ 1 h 25"/>
                  <a:gd name="T6" fmla="*/ 1 w 24"/>
                  <a:gd name="T7" fmla="*/ 0 h 25"/>
                  <a:gd name="T8" fmla="*/ 0 w 24"/>
                  <a:gd name="T9" fmla="*/ 1 h 25"/>
                  <a:gd name="T10" fmla="*/ 0 w 24"/>
                  <a:gd name="T11" fmla="*/ 1 h 25"/>
                  <a:gd name="T12" fmla="*/ 0 w 24"/>
                  <a:gd name="T13" fmla="*/ 1 h 25"/>
                  <a:gd name="T14" fmla="*/ 1 w 24"/>
                  <a:gd name="T15" fmla="*/ 1 h 25"/>
                  <a:gd name="T16" fmla="*/ 1 w 24"/>
                  <a:gd name="T17" fmla="*/ 1 h 25"/>
                  <a:gd name="T18" fmla="*/ 1 w 24"/>
                  <a:gd name="T19" fmla="*/ 1 h 25"/>
                  <a:gd name="T20" fmla="*/ 1 w 24"/>
                  <a:gd name="T21" fmla="*/ 1 h 25"/>
                  <a:gd name="T22" fmla="*/ 1 w 24"/>
                  <a:gd name="T23" fmla="*/ 1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5"/>
                  <a:gd name="T38" fmla="*/ 24 w 24"/>
                  <a:gd name="T39" fmla="*/ 25 h 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5">
                    <a:moveTo>
                      <a:pt x="22" y="14"/>
                    </a:moveTo>
                    <a:lnTo>
                      <a:pt x="22" y="15"/>
                    </a:lnTo>
                    <a:lnTo>
                      <a:pt x="24" y="3"/>
                    </a:lnTo>
                    <a:lnTo>
                      <a:pt x="2" y="0"/>
                    </a:lnTo>
                    <a:lnTo>
                      <a:pt x="0" y="12"/>
                    </a:lnTo>
                    <a:lnTo>
                      <a:pt x="0" y="14"/>
                    </a:lnTo>
                    <a:lnTo>
                      <a:pt x="0" y="12"/>
                    </a:lnTo>
                    <a:lnTo>
                      <a:pt x="3" y="20"/>
                    </a:lnTo>
                    <a:lnTo>
                      <a:pt x="10" y="25"/>
                    </a:lnTo>
                    <a:lnTo>
                      <a:pt x="18" y="23"/>
                    </a:lnTo>
                    <a:lnTo>
                      <a:pt x="22" y="15"/>
                    </a:lnTo>
                    <a:lnTo>
                      <a:pt x="22" y="14"/>
                    </a:lnTo>
                    <a:close/>
                  </a:path>
                </a:pathLst>
              </a:custGeom>
              <a:solidFill>
                <a:srgbClr val="000000"/>
              </a:solidFill>
              <a:ln w="9525">
                <a:noFill/>
                <a:round/>
                <a:headEnd/>
                <a:tailEnd/>
              </a:ln>
            </p:spPr>
            <p:txBody>
              <a:bodyPr/>
              <a:lstStyle/>
              <a:p>
                <a:endParaRPr lang="en-US"/>
              </a:p>
            </p:txBody>
          </p:sp>
          <p:sp>
            <p:nvSpPr>
              <p:cNvPr id="27818" name="Freeform 131"/>
              <p:cNvSpPr>
                <a:spLocks/>
              </p:cNvSpPr>
              <p:nvPr/>
            </p:nvSpPr>
            <p:spPr bwMode="auto">
              <a:xfrm>
                <a:off x="2040" y="3749"/>
                <a:ext cx="14" cy="91"/>
              </a:xfrm>
              <a:custGeom>
                <a:avLst/>
                <a:gdLst>
                  <a:gd name="T0" fmla="*/ 0 w 29"/>
                  <a:gd name="T1" fmla="*/ 1 h 181"/>
                  <a:gd name="T2" fmla="*/ 0 w 29"/>
                  <a:gd name="T3" fmla="*/ 1 h 181"/>
                  <a:gd name="T4" fmla="*/ 0 w 29"/>
                  <a:gd name="T5" fmla="*/ 0 h 181"/>
                  <a:gd name="T6" fmla="*/ 0 w 29"/>
                  <a:gd name="T7" fmla="*/ 0 h 181"/>
                  <a:gd name="T8" fmla="*/ 0 w 29"/>
                  <a:gd name="T9" fmla="*/ 1 h 181"/>
                  <a:gd name="T10" fmla="*/ 0 w 29"/>
                  <a:gd name="T11" fmla="*/ 1 h 181"/>
                  <a:gd name="T12" fmla="*/ 0 w 29"/>
                  <a:gd name="T13" fmla="*/ 1 h 181"/>
                  <a:gd name="T14" fmla="*/ 0 w 29"/>
                  <a:gd name="T15" fmla="*/ 1 h 181"/>
                  <a:gd name="T16" fmla="*/ 0 w 29"/>
                  <a:gd name="T17" fmla="*/ 1 h 181"/>
                  <a:gd name="T18" fmla="*/ 0 w 29"/>
                  <a:gd name="T19" fmla="*/ 1 h 181"/>
                  <a:gd name="T20" fmla="*/ 0 w 29"/>
                  <a:gd name="T21" fmla="*/ 1 h 181"/>
                  <a:gd name="T22" fmla="*/ 0 w 29"/>
                  <a:gd name="T23" fmla="*/ 1 h 1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
                  <a:gd name="T37" fmla="*/ 0 h 181"/>
                  <a:gd name="T38" fmla="*/ 29 w 29"/>
                  <a:gd name="T39" fmla="*/ 181 h 1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 h="181">
                    <a:moveTo>
                      <a:pt x="24" y="180"/>
                    </a:moveTo>
                    <a:lnTo>
                      <a:pt x="29" y="170"/>
                    </a:lnTo>
                    <a:lnTo>
                      <a:pt x="22" y="0"/>
                    </a:lnTo>
                    <a:lnTo>
                      <a:pt x="0" y="0"/>
                    </a:lnTo>
                    <a:lnTo>
                      <a:pt x="7" y="170"/>
                    </a:lnTo>
                    <a:lnTo>
                      <a:pt x="11" y="161"/>
                    </a:lnTo>
                    <a:lnTo>
                      <a:pt x="7" y="170"/>
                    </a:lnTo>
                    <a:lnTo>
                      <a:pt x="10" y="178"/>
                    </a:lnTo>
                    <a:lnTo>
                      <a:pt x="18" y="181"/>
                    </a:lnTo>
                    <a:lnTo>
                      <a:pt x="25" y="178"/>
                    </a:lnTo>
                    <a:lnTo>
                      <a:pt x="29" y="170"/>
                    </a:lnTo>
                    <a:lnTo>
                      <a:pt x="24" y="180"/>
                    </a:lnTo>
                    <a:close/>
                  </a:path>
                </a:pathLst>
              </a:custGeom>
              <a:solidFill>
                <a:srgbClr val="000000"/>
              </a:solidFill>
              <a:ln w="9525">
                <a:noFill/>
                <a:round/>
                <a:headEnd/>
                <a:tailEnd/>
              </a:ln>
            </p:spPr>
            <p:txBody>
              <a:bodyPr/>
              <a:lstStyle/>
              <a:p>
                <a:endParaRPr lang="en-US"/>
              </a:p>
            </p:txBody>
          </p:sp>
          <p:sp>
            <p:nvSpPr>
              <p:cNvPr id="27819" name="Freeform 132"/>
              <p:cNvSpPr>
                <a:spLocks/>
              </p:cNvSpPr>
              <p:nvPr/>
            </p:nvSpPr>
            <p:spPr bwMode="auto">
              <a:xfrm>
                <a:off x="2018" y="3830"/>
                <a:ext cx="34" cy="16"/>
              </a:xfrm>
              <a:custGeom>
                <a:avLst/>
                <a:gdLst>
                  <a:gd name="T0" fmla="*/ 0 w 67"/>
                  <a:gd name="T1" fmla="*/ 0 h 33"/>
                  <a:gd name="T2" fmla="*/ 0 w 67"/>
                  <a:gd name="T3" fmla="*/ 0 h 33"/>
                  <a:gd name="T4" fmla="*/ 1 w 67"/>
                  <a:gd name="T5" fmla="*/ 0 h 33"/>
                  <a:gd name="T6" fmla="*/ 1 w 67"/>
                  <a:gd name="T7" fmla="*/ 0 h 33"/>
                  <a:gd name="T8" fmla="*/ 1 w 67"/>
                  <a:gd name="T9" fmla="*/ 0 h 33"/>
                  <a:gd name="T10" fmla="*/ 1 w 67"/>
                  <a:gd name="T11" fmla="*/ 0 h 33"/>
                  <a:gd name="T12" fmla="*/ 1 w 67"/>
                  <a:gd name="T13" fmla="*/ 0 h 33"/>
                  <a:gd name="T14" fmla="*/ 1 w 67"/>
                  <a:gd name="T15" fmla="*/ 0 h 33"/>
                  <a:gd name="T16" fmla="*/ 1 w 67"/>
                  <a:gd name="T17" fmla="*/ 0 h 33"/>
                  <a:gd name="T18" fmla="*/ 1 w 67"/>
                  <a:gd name="T19" fmla="*/ 0 h 33"/>
                  <a:gd name="T20" fmla="*/ 1 w 67"/>
                  <a:gd name="T21" fmla="*/ 0 h 33"/>
                  <a:gd name="T22" fmla="*/ 1 w 67"/>
                  <a:gd name="T23" fmla="*/ 0 h 33"/>
                  <a:gd name="T24" fmla="*/ 1 w 67"/>
                  <a:gd name="T25" fmla="*/ 0 h 33"/>
                  <a:gd name="T26" fmla="*/ 1 w 67"/>
                  <a:gd name="T27" fmla="*/ 0 h 33"/>
                  <a:gd name="T28" fmla="*/ 1 w 67"/>
                  <a:gd name="T29" fmla="*/ 0 h 33"/>
                  <a:gd name="T30" fmla="*/ 1 w 67"/>
                  <a:gd name="T31" fmla="*/ 0 h 33"/>
                  <a:gd name="T32" fmla="*/ 1 w 67"/>
                  <a:gd name="T33" fmla="*/ 0 h 33"/>
                  <a:gd name="T34" fmla="*/ 1 w 67"/>
                  <a:gd name="T35" fmla="*/ 0 h 33"/>
                  <a:gd name="T36" fmla="*/ 1 w 67"/>
                  <a:gd name="T37" fmla="*/ 0 h 33"/>
                  <a:gd name="T38" fmla="*/ 1 w 67"/>
                  <a:gd name="T39" fmla="*/ 0 h 33"/>
                  <a:gd name="T40" fmla="*/ 0 w 67"/>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33"/>
                  <a:gd name="T65" fmla="*/ 67 w 67"/>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33">
                    <a:moveTo>
                      <a:pt x="0" y="33"/>
                    </a:moveTo>
                    <a:lnTo>
                      <a:pt x="0" y="33"/>
                    </a:lnTo>
                    <a:lnTo>
                      <a:pt x="15" y="33"/>
                    </a:lnTo>
                    <a:lnTo>
                      <a:pt x="28" y="33"/>
                    </a:lnTo>
                    <a:lnTo>
                      <a:pt x="40" y="29"/>
                    </a:lnTo>
                    <a:lnTo>
                      <a:pt x="48" y="28"/>
                    </a:lnTo>
                    <a:lnTo>
                      <a:pt x="56" y="25"/>
                    </a:lnTo>
                    <a:lnTo>
                      <a:pt x="64" y="22"/>
                    </a:lnTo>
                    <a:lnTo>
                      <a:pt x="67" y="17"/>
                    </a:lnTo>
                    <a:lnTo>
                      <a:pt x="67" y="19"/>
                    </a:lnTo>
                    <a:lnTo>
                      <a:pt x="54" y="0"/>
                    </a:lnTo>
                    <a:lnTo>
                      <a:pt x="51" y="1"/>
                    </a:lnTo>
                    <a:lnTo>
                      <a:pt x="51" y="3"/>
                    </a:lnTo>
                    <a:lnTo>
                      <a:pt x="50" y="3"/>
                    </a:lnTo>
                    <a:lnTo>
                      <a:pt x="42" y="6"/>
                    </a:lnTo>
                    <a:lnTo>
                      <a:pt x="34" y="8"/>
                    </a:lnTo>
                    <a:lnTo>
                      <a:pt x="25" y="11"/>
                    </a:lnTo>
                    <a:lnTo>
                      <a:pt x="15" y="11"/>
                    </a:lnTo>
                    <a:lnTo>
                      <a:pt x="3" y="11"/>
                    </a:lnTo>
                    <a:lnTo>
                      <a:pt x="0" y="33"/>
                    </a:lnTo>
                    <a:close/>
                  </a:path>
                </a:pathLst>
              </a:custGeom>
              <a:solidFill>
                <a:srgbClr val="000000"/>
              </a:solidFill>
              <a:ln w="9525">
                <a:noFill/>
                <a:round/>
                <a:headEnd/>
                <a:tailEnd/>
              </a:ln>
            </p:spPr>
            <p:txBody>
              <a:bodyPr/>
              <a:lstStyle/>
              <a:p>
                <a:endParaRPr lang="en-US"/>
              </a:p>
            </p:txBody>
          </p:sp>
          <p:sp>
            <p:nvSpPr>
              <p:cNvPr id="27820" name="Freeform 133"/>
              <p:cNvSpPr>
                <a:spLocks/>
              </p:cNvSpPr>
              <p:nvPr/>
            </p:nvSpPr>
            <p:spPr bwMode="auto">
              <a:xfrm>
                <a:off x="1992" y="3831"/>
                <a:ext cx="28" cy="15"/>
              </a:xfrm>
              <a:custGeom>
                <a:avLst/>
                <a:gdLst>
                  <a:gd name="T0" fmla="*/ 0 w 57"/>
                  <a:gd name="T1" fmla="*/ 0 h 32"/>
                  <a:gd name="T2" fmla="*/ 0 w 57"/>
                  <a:gd name="T3" fmla="*/ 0 h 32"/>
                  <a:gd name="T4" fmla="*/ 0 w 57"/>
                  <a:gd name="T5" fmla="*/ 0 h 32"/>
                  <a:gd name="T6" fmla="*/ 0 w 57"/>
                  <a:gd name="T7" fmla="*/ 0 h 32"/>
                  <a:gd name="T8" fmla="*/ 0 w 57"/>
                  <a:gd name="T9" fmla="*/ 0 h 32"/>
                  <a:gd name="T10" fmla="*/ 0 w 57"/>
                  <a:gd name="T11" fmla="*/ 0 h 32"/>
                  <a:gd name="T12" fmla="*/ 0 w 57"/>
                  <a:gd name="T13" fmla="*/ 0 h 32"/>
                  <a:gd name="T14" fmla="*/ 0 w 57"/>
                  <a:gd name="T15" fmla="*/ 0 h 32"/>
                  <a:gd name="T16" fmla="*/ 0 w 57"/>
                  <a:gd name="T17" fmla="*/ 0 h 32"/>
                  <a:gd name="T18" fmla="*/ 0 w 57"/>
                  <a:gd name="T19" fmla="*/ 0 h 32"/>
                  <a:gd name="T20" fmla="*/ 0 w 57"/>
                  <a:gd name="T21" fmla="*/ 0 h 32"/>
                  <a:gd name="T22" fmla="*/ 0 w 57"/>
                  <a:gd name="T23" fmla="*/ 0 h 32"/>
                  <a:gd name="T24" fmla="*/ 0 w 57"/>
                  <a:gd name="T25" fmla="*/ 0 h 32"/>
                  <a:gd name="T26" fmla="*/ 0 w 57"/>
                  <a:gd name="T27" fmla="*/ 0 h 32"/>
                  <a:gd name="T28" fmla="*/ 0 w 57"/>
                  <a:gd name="T29" fmla="*/ 0 h 32"/>
                  <a:gd name="T30" fmla="*/ 0 w 57"/>
                  <a:gd name="T31" fmla="*/ 0 h 32"/>
                  <a:gd name="T32" fmla="*/ 0 w 57"/>
                  <a:gd name="T33" fmla="*/ 0 h 32"/>
                  <a:gd name="T34" fmla="*/ 0 w 57"/>
                  <a:gd name="T35" fmla="*/ 0 h 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
                  <a:gd name="T55" fmla="*/ 0 h 32"/>
                  <a:gd name="T56" fmla="*/ 57 w 57"/>
                  <a:gd name="T57" fmla="*/ 32 h 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 h="32">
                    <a:moveTo>
                      <a:pt x="0" y="13"/>
                    </a:moveTo>
                    <a:lnTo>
                      <a:pt x="2" y="18"/>
                    </a:lnTo>
                    <a:lnTo>
                      <a:pt x="8" y="24"/>
                    </a:lnTo>
                    <a:lnTo>
                      <a:pt x="16" y="25"/>
                    </a:lnTo>
                    <a:lnTo>
                      <a:pt x="30" y="28"/>
                    </a:lnTo>
                    <a:lnTo>
                      <a:pt x="54" y="32"/>
                    </a:lnTo>
                    <a:lnTo>
                      <a:pt x="57" y="10"/>
                    </a:lnTo>
                    <a:lnTo>
                      <a:pt x="33" y="7"/>
                    </a:lnTo>
                    <a:lnTo>
                      <a:pt x="22" y="3"/>
                    </a:lnTo>
                    <a:lnTo>
                      <a:pt x="17" y="2"/>
                    </a:lnTo>
                    <a:lnTo>
                      <a:pt x="21" y="5"/>
                    </a:lnTo>
                    <a:lnTo>
                      <a:pt x="22" y="10"/>
                    </a:lnTo>
                    <a:lnTo>
                      <a:pt x="21" y="5"/>
                    </a:lnTo>
                    <a:lnTo>
                      <a:pt x="13" y="0"/>
                    </a:lnTo>
                    <a:lnTo>
                      <a:pt x="5" y="2"/>
                    </a:lnTo>
                    <a:lnTo>
                      <a:pt x="0" y="8"/>
                    </a:lnTo>
                    <a:lnTo>
                      <a:pt x="2" y="18"/>
                    </a:lnTo>
                    <a:lnTo>
                      <a:pt x="0" y="13"/>
                    </a:lnTo>
                    <a:close/>
                  </a:path>
                </a:pathLst>
              </a:custGeom>
              <a:solidFill>
                <a:srgbClr val="000000"/>
              </a:solidFill>
              <a:ln w="9525">
                <a:noFill/>
                <a:round/>
                <a:headEnd/>
                <a:tailEnd/>
              </a:ln>
            </p:spPr>
            <p:txBody>
              <a:bodyPr/>
              <a:lstStyle/>
              <a:p>
                <a:endParaRPr lang="en-US"/>
              </a:p>
            </p:txBody>
          </p:sp>
          <p:sp>
            <p:nvSpPr>
              <p:cNvPr id="27821" name="Freeform 134"/>
              <p:cNvSpPr>
                <a:spLocks/>
              </p:cNvSpPr>
              <p:nvPr/>
            </p:nvSpPr>
            <p:spPr bwMode="auto">
              <a:xfrm>
                <a:off x="1985" y="3754"/>
                <a:ext cx="18" cy="83"/>
              </a:xfrm>
              <a:custGeom>
                <a:avLst/>
                <a:gdLst>
                  <a:gd name="T0" fmla="*/ 0 w 36"/>
                  <a:gd name="T1" fmla="*/ 0 h 166"/>
                  <a:gd name="T2" fmla="*/ 0 w 36"/>
                  <a:gd name="T3" fmla="*/ 0 h 166"/>
                  <a:gd name="T4" fmla="*/ 0 w 36"/>
                  <a:gd name="T5" fmla="*/ 1 h 166"/>
                  <a:gd name="T6" fmla="*/ 1 w 36"/>
                  <a:gd name="T7" fmla="*/ 1 h 166"/>
                  <a:gd name="T8" fmla="*/ 1 w 36"/>
                  <a:gd name="T9" fmla="*/ 1 h 166"/>
                  <a:gd name="T10" fmla="*/ 1 w 36"/>
                  <a:gd name="T11" fmla="*/ 1 h 166"/>
                  <a:gd name="T12" fmla="*/ 1 w 36"/>
                  <a:gd name="T13" fmla="*/ 1 h 166"/>
                  <a:gd name="T14" fmla="*/ 1 w 36"/>
                  <a:gd name="T15" fmla="*/ 1 h 166"/>
                  <a:gd name="T16" fmla="*/ 1 w 36"/>
                  <a:gd name="T17" fmla="*/ 1 h 166"/>
                  <a:gd name="T18" fmla="*/ 1 w 36"/>
                  <a:gd name="T19" fmla="*/ 1 h 166"/>
                  <a:gd name="T20" fmla="*/ 1 w 36"/>
                  <a:gd name="T21" fmla="*/ 1 h 166"/>
                  <a:gd name="T22" fmla="*/ 1 w 36"/>
                  <a:gd name="T23" fmla="*/ 1 h 166"/>
                  <a:gd name="T24" fmla="*/ 1 w 36"/>
                  <a:gd name="T25" fmla="*/ 1 h 166"/>
                  <a:gd name="T26" fmla="*/ 1 w 36"/>
                  <a:gd name="T27" fmla="*/ 1 h 166"/>
                  <a:gd name="T28" fmla="*/ 1 w 36"/>
                  <a:gd name="T29" fmla="*/ 1 h 166"/>
                  <a:gd name="T30" fmla="*/ 1 w 36"/>
                  <a:gd name="T31" fmla="*/ 1 h 166"/>
                  <a:gd name="T32" fmla="*/ 1 w 36"/>
                  <a:gd name="T33" fmla="*/ 1 h 166"/>
                  <a:gd name="T34" fmla="*/ 1 w 36"/>
                  <a:gd name="T35" fmla="*/ 1 h 166"/>
                  <a:gd name="T36" fmla="*/ 1 w 36"/>
                  <a:gd name="T37" fmla="*/ 1 h 166"/>
                  <a:gd name="T38" fmla="*/ 1 w 36"/>
                  <a:gd name="T39" fmla="*/ 1 h 166"/>
                  <a:gd name="T40" fmla="*/ 0 w 36"/>
                  <a:gd name="T41" fmla="*/ 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6"/>
                  <a:gd name="T64" fmla="*/ 0 h 166"/>
                  <a:gd name="T65" fmla="*/ 36 w 36"/>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6" h="166">
                    <a:moveTo>
                      <a:pt x="0" y="0"/>
                    </a:moveTo>
                    <a:lnTo>
                      <a:pt x="0" y="0"/>
                    </a:lnTo>
                    <a:lnTo>
                      <a:pt x="0" y="19"/>
                    </a:lnTo>
                    <a:lnTo>
                      <a:pt x="2" y="42"/>
                    </a:lnTo>
                    <a:lnTo>
                      <a:pt x="3" y="70"/>
                    </a:lnTo>
                    <a:lnTo>
                      <a:pt x="6" y="99"/>
                    </a:lnTo>
                    <a:lnTo>
                      <a:pt x="10" y="124"/>
                    </a:lnTo>
                    <a:lnTo>
                      <a:pt x="11" y="145"/>
                    </a:lnTo>
                    <a:lnTo>
                      <a:pt x="14" y="160"/>
                    </a:lnTo>
                    <a:lnTo>
                      <a:pt x="14" y="166"/>
                    </a:lnTo>
                    <a:lnTo>
                      <a:pt x="36" y="163"/>
                    </a:lnTo>
                    <a:lnTo>
                      <a:pt x="36" y="156"/>
                    </a:lnTo>
                    <a:lnTo>
                      <a:pt x="33" y="142"/>
                    </a:lnTo>
                    <a:lnTo>
                      <a:pt x="31" y="120"/>
                    </a:lnTo>
                    <a:lnTo>
                      <a:pt x="28" y="95"/>
                    </a:lnTo>
                    <a:lnTo>
                      <a:pt x="25" y="67"/>
                    </a:lnTo>
                    <a:lnTo>
                      <a:pt x="24" y="42"/>
                    </a:lnTo>
                    <a:lnTo>
                      <a:pt x="22" y="19"/>
                    </a:lnTo>
                    <a:lnTo>
                      <a:pt x="22" y="3"/>
                    </a:lnTo>
                    <a:lnTo>
                      <a:pt x="0" y="0"/>
                    </a:lnTo>
                    <a:close/>
                  </a:path>
                </a:pathLst>
              </a:custGeom>
              <a:solidFill>
                <a:srgbClr val="000000"/>
              </a:solidFill>
              <a:ln w="9525">
                <a:noFill/>
                <a:round/>
                <a:headEnd/>
                <a:tailEnd/>
              </a:ln>
            </p:spPr>
            <p:txBody>
              <a:bodyPr/>
              <a:lstStyle/>
              <a:p>
                <a:endParaRPr lang="en-US"/>
              </a:p>
            </p:txBody>
          </p:sp>
          <p:sp>
            <p:nvSpPr>
              <p:cNvPr id="27822" name="Freeform 135"/>
              <p:cNvSpPr>
                <a:spLocks/>
              </p:cNvSpPr>
              <p:nvPr/>
            </p:nvSpPr>
            <p:spPr bwMode="auto">
              <a:xfrm>
                <a:off x="1985" y="3691"/>
                <a:ext cx="18" cy="65"/>
              </a:xfrm>
              <a:custGeom>
                <a:avLst/>
                <a:gdLst>
                  <a:gd name="T0" fmla="*/ 0 w 38"/>
                  <a:gd name="T1" fmla="*/ 0 h 130"/>
                  <a:gd name="T2" fmla="*/ 0 w 38"/>
                  <a:gd name="T3" fmla="*/ 0 h 130"/>
                  <a:gd name="T4" fmla="*/ 0 w 38"/>
                  <a:gd name="T5" fmla="*/ 1 h 130"/>
                  <a:gd name="T6" fmla="*/ 0 w 38"/>
                  <a:gd name="T7" fmla="*/ 1 h 130"/>
                  <a:gd name="T8" fmla="*/ 0 w 38"/>
                  <a:gd name="T9" fmla="*/ 1 h 130"/>
                  <a:gd name="T10" fmla="*/ 0 w 38"/>
                  <a:gd name="T11" fmla="*/ 1 h 130"/>
                  <a:gd name="T12" fmla="*/ 0 w 38"/>
                  <a:gd name="T13" fmla="*/ 1 h 130"/>
                  <a:gd name="T14" fmla="*/ 0 w 38"/>
                  <a:gd name="T15" fmla="*/ 1 h 130"/>
                  <a:gd name="T16" fmla="*/ 0 w 38"/>
                  <a:gd name="T17" fmla="*/ 1 h 130"/>
                  <a:gd name="T18" fmla="*/ 0 w 38"/>
                  <a:gd name="T19" fmla="*/ 1 h 130"/>
                  <a:gd name="T20" fmla="*/ 0 w 38"/>
                  <a:gd name="T21" fmla="*/ 1 h 130"/>
                  <a:gd name="T22" fmla="*/ 0 w 38"/>
                  <a:gd name="T23" fmla="*/ 1 h 130"/>
                  <a:gd name="T24" fmla="*/ 0 w 38"/>
                  <a:gd name="T25" fmla="*/ 1 h 130"/>
                  <a:gd name="T26" fmla="*/ 0 w 38"/>
                  <a:gd name="T27" fmla="*/ 1 h 130"/>
                  <a:gd name="T28" fmla="*/ 0 w 38"/>
                  <a:gd name="T29" fmla="*/ 1 h 130"/>
                  <a:gd name="T30" fmla="*/ 0 w 38"/>
                  <a:gd name="T31" fmla="*/ 1 h 130"/>
                  <a:gd name="T32" fmla="*/ 0 w 38"/>
                  <a:gd name="T33" fmla="*/ 1 h 130"/>
                  <a:gd name="T34" fmla="*/ 0 w 38"/>
                  <a:gd name="T35" fmla="*/ 1 h 130"/>
                  <a:gd name="T36" fmla="*/ 0 w 38"/>
                  <a:gd name="T37" fmla="*/ 1 h 130"/>
                  <a:gd name="T38" fmla="*/ 0 w 38"/>
                  <a:gd name="T39" fmla="*/ 1 h 130"/>
                  <a:gd name="T40" fmla="*/ 0 w 38"/>
                  <a:gd name="T41" fmla="*/ 0 h 1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8"/>
                  <a:gd name="T64" fmla="*/ 0 h 130"/>
                  <a:gd name="T65" fmla="*/ 38 w 38"/>
                  <a:gd name="T66" fmla="*/ 130 h 1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8" h="130">
                    <a:moveTo>
                      <a:pt x="25" y="0"/>
                    </a:moveTo>
                    <a:lnTo>
                      <a:pt x="25" y="0"/>
                    </a:lnTo>
                    <a:lnTo>
                      <a:pt x="13" y="13"/>
                    </a:lnTo>
                    <a:lnTo>
                      <a:pt x="5" y="28"/>
                    </a:lnTo>
                    <a:lnTo>
                      <a:pt x="2" y="46"/>
                    </a:lnTo>
                    <a:lnTo>
                      <a:pt x="0" y="63"/>
                    </a:lnTo>
                    <a:lnTo>
                      <a:pt x="0" y="80"/>
                    </a:lnTo>
                    <a:lnTo>
                      <a:pt x="0" y="97"/>
                    </a:lnTo>
                    <a:lnTo>
                      <a:pt x="0" y="114"/>
                    </a:lnTo>
                    <a:lnTo>
                      <a:pt x="0" y="127"/>
                    </a:lnTo>
                    <a:lnTo>
                      <a:pt x="22" y="130"/>
                    </a:lnTo>
                    <a:lnTo>
                      <a:pt x="22" y="114"/>
                    </a:lnTo>
                    <a:lnTo>
                      <a:pt x="22" y="97"/>
                    </a:lnTo>
                    <a:lnTo>
                      <a:pt x="22" y="80"/>
                    </a:lnTo>
                    <a:lnTo>
                      <a:pt x="22" y="63"/>
                    </a:lnTo>
                    <a:lnTo>
                      <a:pt x="24" y="49"/>
                    </a:lnTo>
                    <a:lnTo>
                      <a:pt x="27" y="35"/>
                    </a:lnTo>
                    <a:lnTo>
                      <a:pt x="31" y="25"/>
                    </a:lnTo>
                    <a:lnTo>
                      <a:pt x="38" y="19"/>
                    </a:lnTo>
                    <a:lnTo>
                      <a:pt x="25" y="0"/>
                    </a:lnTo>
                    <a:close/>
                  </a:path>
                </a:pathLst>
              </a:custGeom>
              <a:solidFill>
                <a:srgbClr val="000000"/>
              </a:solidFill>
              <a:ln w="9525">
                <a:noFill/>
                <a:round/>
                <a:headEnd/>
                <a:tailEnd/>
              </a:ln>
            </p:spPr>
            <p:txBody>
              <a:bodyPr/>
              <a:lstStyle/>
              <a:p>
                <a:endParaRPr lang="en-US"/>
              </a:p>
            </p:txBody>
          </p:sp>
          <p:sp>
            <p:nvSpPr>
              <p:cNvPr id="27823" name="Freeform 136"/>
              <p:cNvSpPr>
                <a:spLocks/>
              </p:cNvSpPr>
              <p:nvPr/>
            </p:nvSpPr>
            <p:spPr bwMode="auto">
              <a:xfrm>
                <a:off x="1997" y="3676"/>
                <a:ext cx="119" cy="24"/>
              </a:xfrm>
              <a:custGeom>
                <a:avLst/>
                <a:gdLst>
                  <a:gd name="T0" fmla="*/ 1 w 238"/>
                  <a:gd name="T1" fmla="*/ 1 h 48"/>
                  <a:gd name="T2" fmla="*/ 1 w 238"/>
                  <a:gd name="T3" fmla="*/ 1 h 48"/>
                  <a:gd name="T4" fmla="*/ 1 w 238"/>
                  <a:gd name="T5" fmla="*/ 1 h 48"/>
                  <a:gd name="T6" fmla="*/ 1 w 238"/>
                  <a:gd name="T7" fmla="*/ 0 h 48"/>
                  <a:gd name="T8" fmla="*/ 1 w 238"/>
                  <a:gd name="T9" fmla="*/ 0 h 48"/>
                  <a:gd name="T10" fmla="*/ 1 w 238"/>
                  <a:gd name="T11" fmla="*/ 1 h 48"/>
                  <a:gd name="T12" fmla="*/ 1 w 238"/>
                  <a:gd name="T13" fmla="*/ 1 h 48"/>
                  <a:gd name="T14" fmla="*/ 1 w 238"/>
                  <a:gd name="T15" fmla="*/ 1 h 48"/>
                  <a:gd name="T16" fmla="*/ 1 w 238"/>
                  <a:gd name="T17" fmla="*/ 1 h 48"/>
                  <a:gd name="T18" fmla="*/ 0 w 238"/>
                  <a:gd name="T19" fmla="*/ 1 h 48"/>
                  <a:gd name="T20" fmla="*/ 1 w 238"/>
                  <a:gd name="T21" fmla="*/ 1 h 48"/>
                  <a:gd name="T22" fmla="*/ 1 w 238"/>
                  <a:gd name="T23" fmla="*/ 1 h 48"/>
                  <a:gd name="T24" fmla="*/ 1 w 238"/>
                  <a:gd name="T25" fmla="*/ 1 h 48"/>
                  <a:gd name="T26" fmla="*/ 1 w 238"/>
                  <a:gd name="T27" fmla="*/ 1 h 48"/>
                  <a:gd name="T28" fmla="*/ 1 w 238"/>
                  <a:gd name="T29" fmla="*/ 1 h 48"/>
                  <a:gd name="T30" fmla="*/ 1 w 238"/>
                  <a:gd name="T31" fmla="*/ 1 h 48"/>
                  <a:gd name="T32" fmla="*/ 1 w 238"/>
                  <a:gd name="T33" fmla="*/ 1 h 48"/>
                  <a:gd name="T34" fmla="*/ 1 w 238"/>
                  <a:gd name="T35" fmla="*/ 1 h 48"/>
                  <a:gd name="T36" fmla="*/ 1 w 238"/>
                  <a:gd name="T37" fmla="*/ 1 h 48"/>
                  <a:gd name="T38" fmla="*/ 1 w 238"/>
                  <a:gd name="T39" fmla="*/ 1 h 48"/>
                  <a:gd name="T40" fmla="*/ 1 w 238"/>
                  <a:gd name="T41" fmla="*/ 1 h 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38"/>
                  <a:gd name="T64" fmla="*/ 0 h 48"/>
                  <a:gd name="T65" fmla="*/ 238 w 238"/>
                  <a:gd name="T66" fmla="*/ 48 h 4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38" h="48">
                    <a:moveTo>
                      <a:pt x="235" y="26"/>
                    </a:moveTo>
                    <a:lnTo>
                      <a:pt x="238" y="4"/>
                    </a:lnTo>
                    <a:lnTo>
                      <a:pt x="198" y="1"/>
                    </a:lnTo>
                    <a:lnTo>
                      <a:pt x="160" y="0"/>
                    </a:lnTo>
                    <a:lnTo>
                      <a:pt x="125" y="0"/>
                    </a:lnTo>
                    <a:lnTo>
                      <a:pt x="93" y="3"/>
                    </a:lnTo>
                    <a:lnTo>
                      <a:pt x="63" y="7"/>
                    </a:lnTo>
                    <a:lnTo>
                      <a:pt x="38" y="14"/>
                    </a:lnTo>
                    <a:lnTo>
                      <a:pt x="16" y="21"/>
                    </a:lnTo>
                    <a:lnTo>
                      <a:pt x="0" y="29"/>
                    </a:lnTo>
                    <a:lnTo>
                      <a:pt x="13" y="48"/>
                    </a:lnTo>
                    <a:lnTo>
                      <a:pt x="25" y="40"/>
                    </a:lnTo>
                    <a:lnTo>
                      <a:pt x="44" y="36"/>
                    </a:lnTo>
                    <a:lnTo>
                      <a:pt x="66" y="29"/>
                    </a:lnTo>
                    <a:lnTo>
                      <a:pt x="96" y="25"/>
                    </a:lnTo>
                    <a:lnTo>
                      <a:pt x="125" y="21"/>
                    </a:lnTo>
                    <a:lnTo>
                      <a:pt x="160" y="21"/>
                    </a:lnTo>
                    <a:lnTo>
                      <a:pt x="198" y="23"/>
                    </a:lnTo>
                    <a:lnTo>
                      <a:pt x="235" y="26"/>
                    </a:lnTo>
                    <a:lnTo>
                      <a:pt x="238" y="4"/>
                    </a:lnTo>
                    <a:lnTo>
                      <a:pt x="235" y="26"/>
                    </a:lnTo>
                    <a:close/>
                  </a:path>
                </a:pathLst>
              </a:custGeom>
              <a:solidFill>
                <a:srgbClr val="000000"/>
              </a:solidFill>
              <a:ln w="9525">
                <a:noFill/>
                <a:round/>
                <a:headEnd/>
                <a:tailEnd/>
              </a:ln>
            </p:spPr>
            <p:txBody>
              <a:bodyPr/>
              <a:lstStyle/>
              <a:p>
                <a:endParaRPr lang="en-US"/>
              </a:p>
            </p:txBody>
          </p:sp>
          <p:sp>
            <p:nvSpPr>
              <p:cNvPr id="27824" name="Freeform 137"/>
              <p:cNvSpPr>
                <a:spLocks/>
              </p:cNvSpPr>
              <p:nvPr/>
            </p:nvSpPr>
            <p:spPr bwMode="auto">
              <a:xfrm>
                <a:off x="2069" y="3676"/>
                <a:ext cx="47" cy="13"/>
              </a:xfrm>
              <a:custGeom>
                <a:avLst/>
                <a:gdLst>
                  <a:gd name="T0" fmla="*/ 0 w 94"/>
                  <a:gd name="T1" fmla="*/ 1 h 26"/>
                  <a:gd name="T2" fmla="*/ 0 w 94"/>
                  <a:gd name="T3" fmla="*/ 1 h 26"/>
                  <a:gd name="T4" fmla="*/ 1 w 94"/>
                  <a:gd name="T5" fmla="*/ 1 h 26"/>
                  <a:gd name="T6" fmla="*/ 1 w 94"/>
                  <a:gd name="T7" fmla="*/ 1 h 26"/>
                  <a:gd name="T8" fmla="*/ 1 w 94"/>
                  <a:gd name="T9" fmla="*/ 1 h 26"/>
                  <a:gd name="T10" fmla="*/ 1 w 94"/>
                  <a:gd name="T11" fmla="*/ 1 h 26"/>
                  <a:gd name="T12" fmla="*/ 1 w 94"/>
                  <a:gd name="T13" fmla="*/ 1 h 26"/>
                  <a:gd name="T14" fmla="*/ 1 w 94"/>
                  <a:gd name="T15" fmla="*/ 1 h 26"/>
                  <a:gd name="T16" fmla="*/ 1 w 94"/>
                  <a:gd name="T17" fmla="*/ 1 h 26"/>
                  <a:gd name="T18" fmla="*/ 1 w 94"/>
                  <a:gd name="T19" fmla="*/ 1 h 26"/>
                  <a:gd name="T20" fmla="*/ 1 w 94"/>
                  <a:gd name="T21" fmla="*/ 1 h 26"/>
                  <a:gd name="T22" fmla="*/ 1 w 94"/>
                  <a:gd name="T23" fmla="*/ 1 h 26"/>
                  <a:gd name="T24" fmla="*/ 1 w 94"/>
                  <a:gd name="T25" fmla="*/ 1 h 26"/>
                  <a:gd name="T26" fmla="*/ 1 w 94"/>
                  <a:gd name="T27" fmla="*/ 1 h 26"/>
                  <a:gd name="T28" fmla="*/ 1 w 94"/>
                  <a:gd name="T29" fmla="*/ 1 h 26"/>
                  <a:gd name="T30" fmla="*/ 1 w 94"/>
                  <a:gd name="T31" fmla="*/ 1 h 26"/>
                  <a:gd name="T32" fmla="*/ 1 w 94"/>
                  <a:gd name="T33" fmla="*/ 0 h 26"/>
                  <a:gd name="T34" fmla="*/ 1 w 94"/>
                  <a:gd name="T35" fmla="*/ 0 h 26"/>
                  <a:gd name="T36" fmla="*/ 0 w 94"/>
                  <a:gd name="T37" fmla="*/ 0 h 26"/>
                  <a:gd name="T38" fmla="*/ 0 w 94"/>
                  <a:gd name="T39" fmla="*/ 0 h 26"/>
                  <a:gd name="T40" fmla="*/ 0 w 94"/>
                  <a:gd name="T41" fmla="*/ 1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26"/>
                  <a:gd name="T65" fmla="*/ 94 w 94"/>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26">
                    <a:moveTo>
                      <a:pt x="0" y="21"/>
                    </a:moveTo>
                    <a:lnTo>
                      <a:pt x="0" y="21"/>
                    </a:lnTo>
                    <a:lnTo>
                      <a:pt x="16" y="21"/>
                    </a:lnTo>
                    <a:lnTo>
                      <a:pt x="32" y="21"/>
                    </a:lnTo>
                    <a:lnTo>
                      <a:pt x="47" y="23"/>
                    </a:lnTo>
                    <a:lnTo>
                      <a:pt x="61" y="23"/>
                    </a:lnTo>
                    <a:lnTo>
                      <a:pt x="74" y="25"/>
                    </a:lnTo>
                    <a:lnTo>
                      <a:pt x="82" y="25"/>
                    </a:lnTo>
                    <a:lnTo>
                      <a:pt x="88" y="26"/>
                    </a:lnTo>
                    <a:lnTo>
                      <a:pt x="91" y="26"/>
                    </a:lnTo>
                    <a:lnTo>
                      <a:pt x="94" y="4"/>
                    </a:lnTo>
                    <a:lnTo>
                      <a:pt x="91" y="4"/>
                    </a:lnTo>
                    <a:lnTo>
                      <a:pt x="85" y="3"/>
                    </a:lnTo>
                    <a:lnTo>
                      <a:pt x="74" y="3"/>
                    </a:lnTo>
                    <a:lnTo>
                      <a:pt x="61" y="1"/>
                    </a:lnTo>
                    <a:lnTo>
                      <a:pt x="47" y="1"/>
                    </a:lnTo>
                    <a:lnTo>
                      <a:pt x="32" y="0"/>
                    </a:lnTo>
                    <a:lnTo>
                      <a:pt x="16" y="0"/>
                    </a:lnTo>
                    <a:lnTo>
                      <a:pt x="0" y="0"/>
                    </a:lnTo>
                    <a:lnTo>
                      <a:pt x="0" y="21"/>
                    </a:lnTo>
                    <a:close/>
                  </a:path>
                </a:pathLst>
              </a:custGeom>
              <a:solidFill>
                <a:srgbClr val="000000"/>
              </a:solidFill>
              <a:ln w="9525">
                <a:noFill/>
                <a:round/>
                <a:headEnd/>
                <a:tailEnd/>
              </a:ln>
            </p:spPr>
            <p:txBody>
              <a:bodyPr/>
              <a:lstStyle/>
              <a:p>
                <a:endParaRPr lang="en-US"/>
              </a:p>
            </p:txBody>
          </p:sp>
          <p:sp>
            <p:nvSpPr>
              <p:cNvPr id="27825" name="Freeform 138"/>
              <p:cNvSpPr>
                <a:spLocks/>
              </p:cNvSpPr>
              <p:nvPr/>
            </p:nvSpPr>
            <p:spPr bwMode="auto">
              <a:xfrm>
                <a:off x="2043" y="3676"/>
                <a:ext cx="26" cy="12"/>
              </a:xfrm>
              <a:custGeom>
                <a:avLst/>
                <a:gdLst>
                  <a:gd name="T0" fmla="*/ 0 w 53"/>
                  <a:gd name="T1" fmla="*/ 0 h 25"/>
                  <a:gd name="T2" fmla="*/ 0 w 53"/>
                  <a:gd name="T3" fmla="*/ 0 h 25"/>
                  <a:gd name="T4" fmla="*/ 0 w 53"/>
                  <a:gd name="T5" fmla="*/ 0 h 25"/>
                  <a:gd name="T6" fmla="*/ 0 w 53"/>
                  <a:gd name="T7" fmla="*/ 0 h 25"/>
                  <a:gd name="T8" fmla="*/ 0 w 53"/>
                  <a:gd name="T9" fmla="*/ 0 h 25"/>
                  <a:gd name="T10" fmla="*/ 0 w 53"/>
                  <a:gd name="T11" fmla="*/ 0 h 25"/>
                  <a:gd name="T12" fmla="*/ 0 w 53"/>
                  <a:gd name="T13" fmla="*/ 0 h 25"/>
                  <a:gd name="T14" fmla="*/ 0 w 53"/>
                  <a:gd name="T15" fmla="*/ 0 h 25"/>
                  <a:gd name="T16" fmla="*/ 0 w 53"/>
                  <a:gd name="T17" fmla="*/ 0 h 25"/>
                  <a:gd name="T18" fmla="*/ 0 w 53"/>
                  <a:gd name="T19" fmla="*/ 0 h 25"/>
                  <a:gd name="T20" fmla="*/ 0 w 53"/>
                  <a:gd name="T21" fmla="*/ 0 h 25"/>
                  <a:gd name="T22" fmla="*/ 0 w 53"/>
                  <a:gd name="T23" fmla="*/ 0 h 25"/>
                  <a:gd name="T24" fmla="*/ 0 w 53"/>
                  <a:gd name="T25" fmla="*/ 0 h 25"/>
                  <a:gd name="T26" fmla="*/ 0 w 53"/>
                  <a:gd name="T27" fmla="*/ 0 h 25"/>
                  <a:gd name="T28" fmla="*/ 0 w 53"/>
                  <a:gd name="T29" fmla="*/ 0 h 25"/>
                  <a:gd name="T30" fmla="*/ 0 w 53"/>
                  <a:gd name="T31" fmla="*/ 0 h 25"/>
                  <a:gd name="T32" fmla="*/ 0 w 53"/>
                  <a:gd name="T33" fmla="*/ 0 h 25"/>
                  <a:gd name="T34" fmla="*/ 0 w 53"/>
                  <a:gd name="T35" fmla="*/ 0 h 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3"/>
                  <a:gd name="T55" fmla="*/ 0 h 25"/>
                  <a:gd name="T56" fmla="*/ 53 w 53"/>
                  <a:gd name="T57" fmla="*/ 25 h 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3" h="25">
                    <a:moveTo>
                      <a:pt x="0" y="17"/>
                    </a:moveTo>
                    <a:lnTo>
                      <a:pt x="19" y="21"/>
                    </a:lnTo>
                    <a:lnTo>
                      <a:pt x="16" y="25"/>
                    </a:lnTo>
                    <a:lnTo>
                      <a:pt x="19" y="23"/>
                    </a:lnTo>
                    <a:lnTo>
                      <a:pt x="30" y="21"/>
                    </a:lnTo>
                    <a:lnTo>
                      <a:pt x="53" y="21"/>
                    </a:lnTo>
                    <a:lnTo>
                      <a:pt x="53" y="0"/>
                    </a:lnTo>
                    <a:lnTo>
                      <a:pt x="30" y="0"/>
                    </a:lnTo>
                    <a:lnTo>
                      <a:pt x="16" y="1"/>
                    </a:lnTo>
                    <a:lnTo>
                      <a:pt x="9" y="3"/>
                    </a:lnTo>
                    <a:lnTo>
                      <a:pt x="3" y="6"/>
                    </a:lnTo>
                    <a:lnTo>
                      <a:pt x="22" y="10"/>
                    </a:lnTo>
                    <a:lnTo>
                      <a:pt x="3" y="6"/>
                    </a:lnTo>
                    <a:lnTo>
                      <a:pt x="0" y="14"/>
                    </a:lnTo>
                    <a:lnTo>
                      <a:pt x="5" y="20"/>
                    </a:lnTo>
                    <a:lnTo>
                      <a:pt x="11" y="25"/>
                    </a:lnTo>
                    <a:lnTo>
                      <a:pt x="19" y="21"/>
                    </a:lnTo>
                    <a:lnTo>
                      <a:pt x="0" y="17"/>
                    </a:lnTo>
                    <a:close/>
                  </a:path>
                </a:pathLst>
              </a:custGeom>
              <a:solidFill>
                <a:srgbClr val="000000"/>
              </a:solidFill>
              <a:ln w="9525">
                <a:noFill/>
                <a:round/>
                <a:headEnd/>
                <a:tailEnd/>
              </a:ln>
            </p:spPr>
            <p:txBody>
              <a:bodyPr/>
              <a:lstStyle/>
              <a:p>
                <a:endParaRPr lang="en-US"/>
              </a:p>
            </p:txBody>
          </p:sp>
          <p:sp>
            <p:nvSpPr>
              <p:cNvPr id="27826" name="Freeform 139"/>
              <p:cNvSpPr>
                <a:spLocks/>
              </p:cNvSpPr>
              <p:nvPr/>
            </p:nvSpPr>
            <p:spPr bwMode="auto">
              <a:xfrm>
                <a:off x="2041" y="3671"/>
                <a:ext cx="12" cy="13"/>
              </a:xfrm>
              <a:custGeom>
                <a:avLst/>
                <a:gdLst>
                  <a:gd name="T0" fmla="*/ 0 w 25"/>
                  <a:gd name="T1" fmla="*/ 0 h 27"/>
                  <a:gd name="T2" fmla="*/ 0 w 25"/>
                  <a:gd name="T3" fmla="*/ 0 h 27"/>
                  <a:gd name="T4" fmla="*/ 0 w 25"/>
                  <a:gd name="T5" fmla="*/ 0 h 27"/>
                  <a:gd name="T6" fmla="*/ 0 w 25"/>
                  <a:gd name="T7" fmla="*/ 0 h 27"/>
                  <a:gd name="T8" fmla="*/ 0 w 25"/>
                  <a:gd name="T9" fmla="*/ 0 h 27"/>
                  <a:gd name="T10" fmla="*/ 0 w 25"/>
                  <a:gd name="T11" fmla="*/ 0 h 27"/>
                  <a:gd name="T12" fmla="*/ 0 w 25"/>
                  <a:gd name="T13" fmla="*/ 0 h 27"/>
                  <a:gd name="T14" fmla="*/ 0 w 25"/>
                  <a:gd name="T15" fmla="*/ 0 h 27"/>
                  <a:gd name="T16" fmla="*/ 0 w 25"/>
                  <a:gd name="T17" fmla="*/ 0 h 27"/>
                  <a:gd name="T18" fmla="*/ 0 w 25"/>
                  <a:gd name="T19" fmla="*/ 0 h 27"/>
                  <a:gd name="T20" fmla="*/ 0 w 25"/>
                  <a:gd name="T21" fmla="*/ 0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27"/>
                  <a:gd name="T35" fmla="*/ 25 w 25"/>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27">
                    <a:moveTo>
                      <a:pt x="0" y="14"/>
                    </a:moveTo>
                    <a:lnTo>
                      <a:pt x="0" y="14"/>
                    </a:lnTo>
                    <a:lnTo>
                      <a:pt x="3" y="27"/>
                    </a:lnTo>
                    <a:lnTo>
                      <a:pt x="25" y="20"/>
                    </a:lnTo>
                    <a:lnTo>
                      <a:pt x="22" y="8"/>
                    </a:lnTo>
                    <a:lnTo>
                      <a:pt x="17" y="2"/>
                    </a:lnTo>
                    <a:lnTo>
                      <a:pt x="9" y="0"/>
                    </a:lnTo>
                    <a:lnTo>
                      <a:pt x="1" y="5"/>
                    </a:lnTo>
                    <a:lnTo>
                      <a:pt x="0" y="14"/>
                    </a:lnTo>
                    <a:close/>
                  </a:path>
                </a:pathLst>
              </a:custGeom>
              <a:solidFill>
                <a:srgbClr val="000000"/>
              </a:solidFill>
              <a:ln w="9525">
                <a:noFill/>
                <a:round/>
                <a:headEnd/>
                <a:tailEnd/>
              </a:ln>
            </p:spPr>
            <p:txBody>
              <a:bodyPr/>
              <a:lstStyle/>
              <a:p>
                <a:endParaRPr lang="en-US"/>
              </a:p>
            </p:txBody>
          </p:sp>
          <p:sp>
            <p:nvSpPr>
              <p:cNvPr id="27827" name="Freeform 140"/>
              <p:cNvSpPr>
                <a:spLocks/>
              </p:cNvSpPr>
              <p:nvPr/>
            </p:nvSpPr>
            <p:spPr bwMode="auto">
              <a:xfrm>
                <a:off x="2041" y="3660"/>
                <a:ext cx="18" cy="18"/>
              </a:xfrm>
              <a:custGeom>
                <a:avLst/>
                <a:gdLst>
                  <a:gd name="T0" fmla="*/ 1 w 36"/>
                  <a:gd name="T1" fmla="*/ 0 h 36"/>
                  <a:gd name="T2" fmla="*/ 1 w 36"/>
                  <a:gd name="T3" fmla="*/ 0 h 36"/>
                  <a:gd name="T4" fmla="*/ 1 w 36"/>
                  <a:gd name="T5" fmla="*/ 1 h 36"/>
                  <a:gd name="T6" fmla="*/ 1 w 36"/>
                  <a:gd name="T7" fmla="*/ 1 h 36"/>
                  <a:gd name="T8" fmla="*/ 0 w 36"/>
                  <a:gd name="T9" fmla="*/ 1 h 36"/>
                  <a:gd name="T10" fmla="*/ 0 w 36"/>
                  <a:gd name="T11" fmla="*/ 1 h 36"/>
                  <a:gd name="T12" fmla="*/ 1 w 36"/>
                  <a:gd name="T13" fmla="*/ 1 h 36"/>
                  <a:gd name="T14" fmla="*/ 1 w 36"/>
                  <a:gd name="T15" fmla="*/ 1 h 36"/>
                  <a:gd name="T16" fmla="*/ 1 w 36"/>
                  <a:gd name="T17" fmla="*/ 1 h 36"/>
                  <a:gd name="T18" fmla="*/ 1 w 36"/>
                  <a:gd name="T19" fmla="*/ 1 h 36"/>
                  <a:gd name="T20" fmla="*/ 1 w 36"/>
                  <a:gd name="T21" fmla="*/ 1 h 36"/>
                  <a:gd name="T22" fmla="*/ 1 w 36"/>
                  <a:gd name="T23" fmla="*/ 1 h 36"/>
                  <a:gd name="T24" fmla="*/ 1 w 36"/>
                  <a:gd name="T25" fmla="*/ 0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
                  <a:gd name="T40" fmla="*/ 0 h 36"/>
                  <a:gd name="T41" fmla="*/ 36 w 36"/>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 h="36">
                    <a:moveTo>
                      <a:pt x="30" y="0"/>
                    </a:moveTo>
                    <a:lnTo>
                      <a:pt x="30" y="0"/>
                    </a:lnTo>
                    <a:lnTo>
                      <a:pt x="12" y="8"/>
                    </a:lnTo>
                    <a:lnTo>
                      <a:pt x="3" y="21"/>
                    </a:lnTo>
                    <a:lnTo>
                      <a:pt x="0" y="30"/>
                    </a:lnTo>
                    <a:lnTo>
                      <a:pt x="0" y="36"/>
                    </a:lnTo>
                    <a:lnTo>
                      <a:pt x="22" y="30"/>
                    </a:lnTo>
                    <a:lnTo>
                      <a:pt x="22" y="33"/>
                    </a:lnTo>
                    <a:lnTo>
                      <a:pt x="22" y="30"/>
                    </a:lnTo>
                    <a:lnTo>
                      <a:pt x="25" y="27"/>
                    </a:lnTo>
                    <a:lnTo>
                      <a:pt x="36" y="22"/>
                    </a:lnTo>
                    <a:lnTo>
                      <a:pt x="30" y="0"/>
                    </a:lnTo>
                    <a:close/>
                  </a:path>
                </a:pathLst>
              </a:custGeom>
              <a:solidFill>
                <a:srgbClr val="000000"/>
              </a:solidFill>
              <a:ln w="9525">
                <a:noFill/>
                <a:round/>
                <a:headEnd/>
                <a:tailEnd/>
              </a:ln>
            </p:spPr>
            <p:txBody>
              <a:bodyPr/>
              <a:lstStyle/>
              <a:p>
                <a:endParaRPr lang="en-US"/>
              </a:p>
            </p:txBody>
          </p:sp>
          <p:sp>
            <p:nvSpPr>
              <p:cNvPr id="27828" name="Freeform 141"/>
              <p:cNvSpPr>
                <a:spLocks/>
              </p:cNvSpPr>
              <p:nvPr/>
            </p:nvSpPr>
            <p:spPr bwMode="auto">
              <a:xfrm>
                <a:off x="2056" y="3649"/>
                <a:ext cx="80" cy="22"/>
              </a:xfrm>
              <a:custGeom>
                <a:avLst/>
                <a:gdLst>
                  <a:gd name="T0" fmla="*/ 0 w 161"/>
                  <a:gd name="T1" fmla="*/ 0 h 44"/>
                  <a:gd name="T2" fmla="*/ 0 w 161"/>
                  <a:gd name="T3" fmla="*/ 0 h 44"/>
                  <a:gd name="T4" fmla="*/ 0 w 161"/>
                  <a:gd name="T5" fmla="*/ 1 h 44"/>
                  <a:gd name="T6" fmla="*/ 0 w 161"/>
                  <a:gd name="T7" fmla="*/ 1 h 44"/>
                  <a:gd name="T8" fmla="*/ 0 w 161"/>
                  <a:gd name="T9" fmla="*/ 1 h 44"/>
                  <a:gd name="T10" fmla="*/ 0 w 161"/>
                  <a:gd name="T11" fmla="*/ 1 h 44"/>
                  <a:gd name="T12" fmla="*/ 0 w 161"/>
                  <a:gd name="T13" fmla="*/ 1 h 44"/>
                  <a:gd name="T14" fmla="*/ 0 w 161"/>
                  <a:gd name="T15" fmla="*/ 1 h 44"/>
                  <a:gd name="T16" fmla="*/ 0 w 161"/>
                  <a:gd name="T17" fmla="*/ 1 h 44"/>
                  <a:gd name="T18" fmla="*/ 0 w 161"/>
                  <a:gd name="T19" fmla="*/ 1 h 44"/>
                  <a:gd name="T20" fmla="*/ 0 w 161"/>
                  <a:gd name="T21" fmla="*/ 1 h 44"/>
                  <a:gd name="T22" fmla="*/ 0 w 161"/>
                  <a:gd name="T23" fmla="*/ 1 h 44"/>
                  <a:gd name="T24" fmla="*/ 0 w 161"/>
                  <a:gd name="T25" fmla="*/ 1 h 44"/>
                  <a:gd name="T26" fmla="*/ 0 w 161"/>
                  <a:gd name="T27" fmla="*/ 1 h 44"/>
                  <a:gd name="T28" fmla="*/ 0 w 161"/>
                  <a:gd name="T29" fmla="*/ 1 h 44"/>
                  <a:gd name="T30" fmla="*/ 0 w 161"/>
                  <a:gd name="T31" fmla="*/ 1 h 44"/>
                  <a:gd name="T32" fmla="*/ 0 w 161"/>
                  <a:gd name="T33" fmla="*/ 1 h 44"/>
                  <a:gd name="T34" fmla="*/ 0 w 161"/>
                  <a:gd name="T35" fmla="*/ 1 h 44"/>
                  <a:gd name="T36" fmla="*/ 0 w 161"/>
                  <a:gd name="T37" fmla="*/ 0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1"/>
                  <a:gd name="T58" fmla="*/ 0 h 44"/>
                  <a:gd name="T59" fmla="*/ 161 w 161"/>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1" h="44">
                    <a:moveTo>
                      <a:pt x="161" y="0"/>
                    </a:moveTo>
                    <a:lnTo>
                      <a:pt x="148" y="0"/>
                    </a:lnTo>
                    <a:lnTo>
                      <a:pt x="130" y="2"/>
                    </a:lnTo>
                    <a:lnTo>
                      <a:pt x="108" y="5"/>
                    </a:lnTo>
                    <a:lnTo>
                      <a:pt x="83" y="8"/>
                    </a:lnTo>
                    <a:lnTo>
                      <a:pt x="58" y="11"/>
                    </a:lnTo>
                    <a:lnTo>
                      <a:pt x="34" y="16"/>
                    </a:lnTo>
                    <a:lnTo>
                      <a:pt x="15" y="19"/>
                    </a:lnTo>
                    <a:lnTo>
                      <a:pt x="0" y="22"/>
                    </a:lnTo>
                    <a:lnTo>
                      <a:pt x="6" y="44"/>
                    </a:lnTo>
                    <a:lnTo>
                      <a:pt x="18" y="41"/>
                    </a:lnTo>
                    <a:lnTo>
                      <a:pt x="37" y="38"/>
                    </a:lnTo>
                    <a:lnTo>
                      <a:pt x="61" y="33"/>
                    </a:lnTo>
                    <a:lnTo>
                      <a:pt x="86" y="30"/>
                    </a:lnTo>
                    <a:lnTo>
                      <a:pt x="111" y="27"/>
                    </a:lnTo>
                    <a:lnTo>
                      <a:pt x="133" y="24"/>
                    </a:lnTo>
                    <a:lnTo>
                      <a:pt x="148" y="22"/>
                    </a:lnTo>
                    <a:lnTo>
                      <a:pt x="158" y="22"/>
                    </a:lnTo>
                    <a:lnTo>
                      <a:pt x="161" y="0"/>
                    </a:lnTo>
                    <a:close/>
                  </a:path>
                </a:pathLst>
              </a:custGeom>
              <a:solidFill>
                <a:srgbClr val="000000"/>
              </a:solidFill>
              <a:ln w="9525">
                <a:noFill/>
                <a:round/>
                <a:headEnd/>
                <a:tailEnd/>
              </a:ln>
            </p:spPr>
            <p:txBody>
              <a:bodyPr/>
              <a:lstStyle/>
              <a:p>
                <a:endParaRPr lang="en-US"/>
              </a:p>
            </p:txBody>
          </p:sp>
          <p:sp>
            <p:nvSpPr>
              <p:cNvPr id="27829" name="Freeform 142"/>
              <p:cNvSpPr>
                <a:spLocks/>
              </p:cNvSpPr>
              <p:nvPr/>
            </p:nvSpPr>
            <p:spPr bwMode="auto">
              <a:xfrm>
                <a:off x="2160" y="3770"/>
                <a:ext cx="21" cy="68"/>
              </a:xfrm>
              <a:custGeom>
                <a:avLst/>
                <a:gdLst>
                  <a:gd name="T0" fmla="*/ 0 w 42"/>
                  <a:gd name="T1" fmla="*/ 0 h 138"/>
                  <a:gd name="T2" fmla="*/ 0 w 42"/>
                  <a:gd name="T3" fmla="*/ 0 h 138"/>
                  <a:gd name="T4" fmla="*/ 0 w 42"/>
                  <a:gd name="T5" fmla="*/ 0 h 138"/>
                  <a:gd name="T6" fmla="*/ 1 w 42"/>
                  <a:gd name="T7" fmla="*/ 0 h 138"/>
                  <a:gd name="T8" fmla="*/ 1 w 42"/>
                  <a:gd name="T9" fmla="*/ 0 h 138"/>
                  <a:gd name="T10" fmla="*/ 1 w 42"/>
                  <a:gd name="T11" fmla="*/ 0 h 138"/>
                  <a:gd name="T12" fmla="*/ 1 w 42"/>
                  <a:gd name="T13" fmla="*/ 0 h 138"/>
                  <a:gd name="T14" fmla="*/ 1 w 42"/>
                  <a:gd name="T15" fmla="*/ 0 h 138"/>
                  <a:gd name="T16" fmla="*/ 1 w 42"/>
                  <a:gd name="T17" fmla="*/ 0 h 138"/>
                  <a:gd name="T18" fmla="*/ 1 w 42"/>
                  <a:gd name="T19" fmla="*/ 0 h 138"/>
                  <a:gd name="T20" fmla="*/ 1 w 42"/>
                  <a:gd name="T21" fmla="*/ 0 h 138"/>
                  <a:gd name="T22" fmla="*/ 0 w 42"/>
                  <a:gd name="T23" fmla="*/ 0 h 1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138"/>
                  <a:gd name="T38" fmla="*/ 42 w 42"/>
                  <a:gd name="T39" fmla="*/ 138 h 1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138">
                    <a:moveTo>
                      <a:pt x="0" y="2"/>
                    </a:moveTo>
                    <a:lnTo>
                      <a:pt x="0" y="121"/>
                    </a:lnTo>
                    <a:lnTo>
                      <a:pt x="0" y="124"/>
                    </a:lnTo>
                    <a:lnTo>
                      <a:pt x="3" y="129"/>
                    </a:lnTo>
                    <a:lnTo>
                      <a:pt x="9" y="135"/>
                    </a:lnTo>
                    <a:lnTo>
                      <a:pt x="22" y="138"/>
                    </a:lnTo>
                    <a:lnTo>
                      <a:pt x="34" y="135"/>
                    </a:lnTo>
                    <a:lnTo>
                      <a:pt x="41" y="129"/>
                    </a:lnTo>
                    <a:lnTo>
                      <a:pt x="42" y="121"/>
                    </a:lnTo>
                    <a:lnTo>
                      <a:pt x="42" y="118"/>
                    </a:lnTo>
                    <a:lnTo>
                      <a:pt x="42" y="0"/>
                    </a:lnTo>
                    <a:lnTo>
                      <a:pt x="0" y="2"/>
                    </a:lnTo>
                    <a:close/>
                  </a:path>
                </a:pathLst>
              </a:custGeom>
              <a:solidFill>
                <a:srgbClr val="FF7226"/>
              </a:solidFill>
              <a:ln w="9525">
                <a:noFill/>
                <a:round/>
                <a:headEnd/>
                <a:tailEnd/>
              </a:ln>
            </p:spPr>
            <p:txBody>
              <a:bodyPr/>
              <a:lstStyle/>
              <a:p>
                <a:endParaRPr lang="en-US"/>
              </a:p>
            </p:txBody>
          </p:sp>
          <p:sp>
            <p:nvSpPr>
              <p:cNvPr id="27830" name="Freeform 143"/>
              <p:cNvSpPr>
                <a:spLocks/>
              </p:cNvSpPr>
              <p:nvPr/>
            </p:nvSpPr>
            <p:spPr bwMode="auto">
              <a:xfrm>
                <a:off x="2154" y="3770"/>
                <a:ext cx="11" cy="65"/>
              </a:xfrm>
              <a:custGeom>
                <a:avLst/>
                <a:gdLst>
                  <a:gd name="T0" fmla="*/ 1 w 22"/>
                  <a:gd name="T1" fmla="*/ 1 h 130"/>
                  <a:gd name="T2" fmla="*/ 1 w 22"/>
                  <a:gd name="T3" fmla="*/ 1 h 130"/>
                  <a:gd name="T4" fmla="*/ 1 w 22"/>
                  <a:gd name="T5" fmla="*/ 0 h 130"/>
                  <a:gd name="T6" fmla="*/ 0 w 22"/>
                  <a:gd name="T7" fmla="*/ 0 h 130"/>
                  <a:gd name="T8" fmla="*/ 0 w 22"/>
                  <a:gd name="T9" fmla="*/ 1 h 130"/>
                  <a:gd name="T10" fmla="*/ 0 w 22"/>
                  <a:gd name="T11" fmla="*/ 1 h 130"/>
                  <a:gd name="T12" fmla="*/ 0 w 22"/>
                  <a:gd name="T13" fmla="*/ 1 h 130"/>
                  <a:gd name="T14" fmla="*/ 1 w 22"/>
                  <a:gd name="T15" fmla="*/ 1 h 130"/>
                  <a:gd name="T16" fmla="*/ 1 w 22"/>
                  <a:gd name="T17" fmla="*/ 1 h 130"/>
                  <a:gd name="T18" fmla="*/ 1 w 22"/>
                  <a:gd name="T19" fmla="*/ 1 h 130"/>
                  <a:gd name="T20" fmla="*/ 1 w 22"/>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
                  <a:gd name="T34" fmla="*/ 0 h 130"/>
                  <a:gd name="T35" fmla="*/ 22 w 22"/>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 h="130">
                    <a:moveTo>
                      <a:pt x="22" y="119"/>
                    </a:moveTo>
                    <a:lnTo>
                      <a:pt x="22" y="119"/>
                    </a:lnTo>
                    <a:lnTo>
                      <a:pt x="22" y="0"/>
                    </a:lnTo>
                    <a:lnTo>
                      <a:pt x="0" y="0"/>
                    </a:lnTo>
                    <a:lnTo>
                      <a:pt x="0" y="119"/>
                    </a:lnTo>
                    <a:lnTo>
                      <a:pt x="3" y="127"/>
                    </a:lnTo>
                    <a:lnTo>
                      <a:pt x="11" y="130"/>
                    </a:lnTo>
                    <a:lnTo>
                      <a:pt x="19" y="127"/>
                    </a:lnTo>
                    <a:lnTo>
                      <a:pt x="22" y="119"/>
                    </a:lnTo>
                    <a:close/>
                  </a:path>
                </a:pathLst>
              </a:custGeom>
              <a:solidFill>
                <a:srgbClr val="000000"/>
              </a:solidFill>
              <a:ln w="9525">
                <a:noFill/>
                <a:round/>
                <a:headEnd/>
                <a:tailEnd/>
              </a:ln>
            </p:spPr>
            <p:txBody>
              <a:bodyPr/>
              <a:lstStyle/>
              <a:p>
                <a:endParaRPr lang="en-US"/>
              </a:p>
            </p:txBody>
          </p:sp>
          <p:sp>
            <p:nvSpPr>
              <p:cNvPr id="27831" name="Freeform 144"/>
              <p:cNvSpPr>
                <a:spLocks/>
              </p:cNvSpPr>
              <p:nvPr/>
            </p:nvSpPr>
            <p:spPr bwMode="auto">
              <a:xfrm>
                <a:off x="2154" y="3829"/>
                <a:ext cx="17" cy="15"/>
              </a:xfrm>
              <a:custGeom>
                <a:avLst/>
                <a:gdLst>
                  <a:gd name="T0" fmla="*/ 1 w 33"/>
                  <a:gd name="T1" fmla="*/ 1 h 30"/>
                  <a:gd name="T2" fmla="*/ 1 w 33"/>
                  <a:gd name="T3" fmla="*/ 1 h 30"/>
                  <a:gd name="T4" fmla="*/ 1 w 33"/>
                  <a:gd name="T5" fmla="*/ 1 h 30"/>
                  <a:gd name="T6" fmla="*/ 1 w 33"/>
                  <a:gd name="T7" fmla="*/ 1 h 30"/>
                  <a:gd name="T8" fmla="*/ 1 w 33"/>
                  <a:gd name="T9" fmla="*/ 0 h 30"/>
                  <a:gd name="T10" fmla="*/ 1 w 33"/>
                  <a:gd name="T11" fmla="*/ 1 h 30"/>
                  <a:gd name="T12" fmla="*/ 0 w 33"/>
                  <a:gd name="T13" fmla="*/ 1 h 30"/>
                  <a:gd name="T14" fmla="*/ 0 w 33"/>
                  <a:gd name="T15" fmla="*/ 1 h 30"/>
                  <a:gd name="T16" fmla="*/ 1 w 33"/>
                  <a:gd name="T17" fmla="*/ 1 h 30"/>
                  <a:gd name="T18" fmla="*/ 1 w 33"/>
                  <a:gd name="T19" fmla="*/ 1 h 30"/>
                  <a:gd name="T20" fmla="*/ 1 w 33"/>
                  <a:gd name="T21" fmla="*/ 1 h 30"/>
                  <a:gd name="T22" fmla="*/ 1 w 33"/>
                  <a:gd name="T23" fmla="*/ 1 h 30"/>
                  <a:gd name="T24" fmla="*/ 1 w 33"/>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0"/>
                  <a:gd name="T41" fmla="*/ 33 w 33"/>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0">
                    <a:moveTo>
                      <a:pt x="33" y="8"/>
                    </a:moveTo>
                    <a:lnTo>
                      <a:pt x="33" y="8"/>
                    </a:lnTo>
                    <a:lnTo>
                      <a:pt x="25" y="6"/>
                    </a:lnTo>
                    <a:lnTo>
                      <a:pt x="22" y="2"/>
                    </a:lnTo>
                    <a:lnTo>
                      <a:pt x="22" y="0"/>
                    </a:lnTo>
                    <a:lnTo>
                      <a:pt x="22" y="2"/>
                    </a:lnTo>
                    <a:lnTo>
                      <a:pt x="0" y="2"/>
                    </a:lnTo>
                    <a:lnTo>
                      <a:pt x="0" y="10"/>
                    </a:lnTo>
                    <a:lnTo>
                      <a:pt x="6" y="17"/>
                    </a:lnTo>
                    <a:lnTo>
                      <a:pt x="16" y="25"/>
                    </a:lnTo>
                    <a:lnTo>
                      <a:pt x="33" y="30"/>
                    </a:lnTo>
                    <a:lnTo>
                      <a:pt x="33" y="8"/>
                    </a:lnTo>
                    <a:close/>
                  </a:path>
                </a:pathLst>
              </a:custGeom>
              <a:solidFill>
                <a:srgbClr val="000000"/>
              </a:solidFill>
              <a:ln w="9525">
                <a:noFill/>
                <a:round/>
                <a:headEnd/>
                <a:tailEnd/>
              </a:ln>
            </p:spPr>
            <p:txBody>
              <a:bodyPr/>
              <a:lstStyle/>
              <a:p>
                <a:endParaRPr lang="en-US"/>
              </a:p>
            </p:txBody>
          </p:sp>
          <p:sp>
            <p:nvSpPr>
              <p:cNvPr id="27832" name="Freeform 145"/>
              <p:cNvSpPr>
                <a:spLocks/>
              </p:cNvSpPr>
              <p:nvPr/>
            </p:nvSpPr>
            <p:spPr bwMode="auto">
              <a:xfrm>
                <a:off x="2171" y="3823"/>
                <a:ext cx="16" cy="21"/>
              </a:xfrm>
              <a:custGeom>
                <a:avLst/>
                <a:gdLst>
                  <a:gd name="T0" fmla="*/ 1 w 31"/>
                  <a:gd name="T1" fmla="*/ 1 h 42"/>
                  <a:gd name="T2" fmla="*/ 1 w 31"/>
                  <a:gd name="T3" fmla="*/ 1 h 42"/>
                  <a:gd name="T4" fmla="*/ 1 w 31"/>
                  <a:gd name="T5" fmla="*/ 1 h 42"/>
                  <a:gd name="T6" fmla="*/ 1 w 31"/>
                  <a:gd name="T7" fmla="*/ 1 h 42"/>
                  <a:gd name="T8" fmla="*/ 1 w 31"/>
                  <a:gd name="T9" fmla="*/ 1 h 42"/>
                  <a:gd name="T10" fmla="*/ 0 w 31"/>
                  <a:gd name="T11" fmla="*/ 1 h 42"/>
                  <a:gd name="T12" fmla="*/ 0 w 31"/>
                  <a:gd name="T13" fmla="*/ 1 h 42"/>
                  <a:gd name="T14" fmla="*/ 1 w 31"/>
                  <a:gd name="T15" fmla="*/ 1 h 42"/>
                  <a:gd name="T16" fmla="*/ 1 w 31"/>
                  <a:gd name="T17" fmla="*/ 1 h 42"/>
                  <a:gd name="T18" fmla="*/ 1 w 31"/>
                  <a:gd name="T19" fmla="*/ 1 h 42"/>
                  <a:gd name="T20" fmla="*/ 1 w 31"/>
                  <a:gd name="T21" fmla="*/ 1 h 42"/>
                  <a:gd name="T22" fmla="*/ 1 w 31"/>
                  <a:gd name="T23" fmla="*/ 1 h 42"/>
                  <a:gd name="T24" fmla="*/ 1 w 31"/>
                  <a:gd name="T25" fmla="*/ 1 h 42"/>
                  <a:gd name="T26" fmla="*/ 1 w 31"/>
                  <a:gd name="T27" fmla="*/ 1 h 42"/>
                  <a:gd name="T28" fmla="*/ 1 w 31"/>
                  <a:gd name="T29" fmla="*/ 0 h 42"/>
                  <a:gd name="T30" fmla="*/ 1 w 31"/>
                  <a:gd name="T31" fmla="*/ 1 h 42"/>
                  <a:gd name="T32" fmla="*/ 1 w 31"/>
                  <a:gd name="T33" fmla="*/ 1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42"/>
                  <a:gd name="T53" fmla="*/ 31 w 31"/>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42">
                    <a:moveTo>
                      <a:pt x="9" y="11"/>
                    </a:moveTo>
                    <a:lnTo>
                      <a:pt x="9" y="11"/>
                    </a:lnTo>
                    <a:lnTo>
                      <a:pt x="9" y="12"/>
                    </a:lnTo>
                    <a:lnTo>
                      <a:pt x="9" y="17"/>
                    </a:lnTo>
                    <a:lnTo>
                      <a:pt x="8" y="18"/>
                    </a:lnTo>
                    <a:lnTo>
                      <a:pt x="0" y="20"/>
                    </a:lnTo>
                    <a:lnTo>
                      <a:pt x="0" y="42"/>
                    </a:lnTo>
                    <a:lnTo>
                      <a:pt x="17" y="37"/>
                    </a:lnTo>
                    <a:lnTo>
                      <a:pt x="28" y="26"/>
                    </a:lnTo>
                    <a:lnTo>
                      <a:pt x="31" y="15"/>
                    </a:lnTo>
                    <a:lnTo>
                      <a:pt x="31" y="11"/>
                    </a:lnTo>
                    <a:lnTo>
                      <a:pt x="28" y="3"/>
                    </a:lnTo>
                    <a:lnTo>
                      <a:pt x="20" y="0"/>
                    </a:lnTo>
                    <a:lnTo>
                      <a:pt x="12" y="3"/>
                    </a:lnTo>
                    <a:lnTo>
                      <a:pt x="9" y="11"/>
                    </a:lnTo>
                    <a:close/>
                  </a:path>
                </a:pathLst>
              </a:custGeom>
              <a:solidFill>
                <a:srgbClr val="000000"/>
              </a:solidFill>
              <a:ln w="9525">
                <a:noFill/>
                <a:round/>
                <a:headEnd/>
                <a:tailEnd/>
              </a:ln>
            </p:spPr>
            <p:txBody>
              <a:bodyPr/>
              <a:lstStyle/>
              <a:p>
                <a:endParaRPr lang="en-US"/>
              </a:p>
            </p:txBody>
          </p:sp>
          <p:sp>
            <p:nvSpPr>
              <p:cNvPr id="27833" name="Freeform 146"/>
              <p:cNvSpPr>
                <a:spLocks/>
              </p:cNvSpPr>
              <p:nvPr/>
            </p:nvSpPr>
            <p:spPr bwMode="auto">
              <a:xfrm>
                <a:off x="2176" y="3764"/>
                <a:ext cx="11" cy="64"/>
              </a:xfrm>
              <a:custGeom>
                <a:avLst/>
                <a:gdLst>
                  <a:gd name="T0" fmla="*/ 1 w 22"/>
                  <a:gd name="T1" fmla="*/ 0 h 129"/>
                  <a:gd name="T2" fmla="*/ 0 w 22"/>
                  <a:gd name="T3" fmla="*/ 0 h 129"/>
                  <a:gd name="T4" fmla="*/ 0 w 22"/>
                  <a:gd name="T5" fmla="*/ 0 h 129"/>
                  <a:gd name="T6" fmla="*/ 1 w 22"/>
                  <a:gd name="T7" fmla="*/ 0 h 129"/>
                  <a:gd name="T8" fmla="*/ 1 w 22"/>
                  <a:gd name="T9" fmla="*/ 0 h 129"/>
                  <a:gd name="T10" fmla="*/ 1 w 22"/>
                  <a:gd name="T11" fmla="*/ 0 h 129"/>
                  <a:gd name="T12" fmla="*/ 1 w 22"/>
                  <a:gd name="T13" fmla="*/ 0 h 129"/>
                  <a:gd name="T14" fmla="*/ 1 w 22"/>
                  <a:gd name="T15" fmla="*/ 0 h 129"/>
                  <a:gd name="T16" fmla="*/ 1 w 22"/>
                  <a:gd name="T17" fmla="*/ 0 h 129"/>
                  <a:gd name="T18" fmla="*/ 1 w 22"/>
                  <a:gd name="T19" fmla="*/ 0 h 129"/>
                  <a:gd name="T20" fmla="*/ 0 w 22"/>
                  <a:gd name="T21" fmla="*/ 0 h 129"/>
                  <a:gd name="T22" fmla="*/ 1 w 22"/>
                  <a:gd name="T23" fmla="*/ 0 h 1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29"/>
                  <a:gd name="T38" fmla="*/ 22 w 22"/>
                  <a:gd name="T39" fmla="*/ 129 h 1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29">
                    <a:moveTo>
                      <a:pt x="11" y="22"/>
                    </a:moveTo>
                    <a:lnTo>
                      <a:pt x="0" y="11"/>
                    </a:lnTo>
                    <a:lnTo>
                      <a:pt x="0" y="129"/>
                    </a:lnTo>
                    <a:lnTo>
                      <a:pt x="22" y="129"/>
                    </a:lnTo>
                    <a:lnTo>
                      <a:pt x="22" y="11"/>
                    </a:lnTo>
                    <a:lnTo>
                      <a:pt x="11" y="0"/>
                    </a:lnTo>
                    <a:lnTo>
                      <a:pt x="22" y="11"/>
                    </a:lnTo>
                    <a:lnTo>
                      <a:pt x="19" y="3"/>
                    </a:lnTo>
                    <a:lnTo>
                      <a:pt x="11" y="0"/>
                    </a:lnTo>
                    <a:lnTo>
                      <a:pt x="3" y="3"/>
                    </a:lnTo>
                    <a:lnTo>
                      <a:pt x="0" y="11"/>
                    </a:lnTo>
                    <a:lnTo>
                      <a:pt x="11" y="22"/>
                    </a:lnTo>
                    <a:close/>
                  </a:path>
                </a:pathLst>
              </a:custGeom>
              <a:solidFill>
                <a:srgbClr val="000000"/>
              </a:solidFill>
              <a:ln w="9525">
                <a:noFill/>
                <a:round/>
                <a:headEnd/>
                <a:tailEnd/>
              </a:ln>
            </p:spPr>
            <p:txBody>
              <a:bodyPr/>
              <a:lstStyle/>
              <a:p>
                <a:endParaRPr lang="en-US"/>
              </a:p>
            </p:txBody>
          </p:sp>
          <p:sp>
            <p:nvSpPr>
              <p:cNvPr id="27834" name="Freeform 147"/>
              <p:cNvSpPr>
                <a:spLocks/>
              </p:cNvSpPr>
              <p:nvPr/>
            </p:nvSpPr>
            <p:spPr bwMode="auto">
              <a:xfrm>
                <a:off x="2154" y="3764"/>
                <a:ext cx="27" cy="12"/>
              </a:xfrm>
              <a:custGeom>
                <a:avLst/>
                <a:gdLst>
                  <a:gd name="T0" fmla="*/ 1 w 53"/>
                  <a:gd name="T1" fmla="*/ 1 h 24"/>
                  <a:gd name="T2" fmla="*/ 1 w 53"/>
                  <a:gd name="T3" fmla="*/ 1 h 24"/>
                  <a:gd name="T4" fmla="*/ 1 w 53"/>
                  <a:gd name="T5" fmla="*/ 1 h 24"/>
                  <a:gd name="T6" fmla="*/ 1 w 53"/>
                  <a:gd name="T7" fmla="*/ 0 h 24"/>
                  <a:gd name="T8" fmla="*/ 1 w 53"/>
                  <a:gd name="T9" fmla="*/ 1 h 24"/>
                  <a:gd name="T10" fmla="*/ 0 w 53"/>
                  <a:gd name="T11" fmla="*/ 1 h 24"/>
                  <a:gd name="T12" fmla="*/ 1 w 53"/>
                  <a:gd name="T13" fmla="*/ 1 h 24"/>
                  <a:gd name="T14" fmla="*/ 1 w 53"/>
                  <a:gd name="T15" fmla="*/ 1 h 24"/>
                  <a:gd name="T16" fmla="*/ 0 w 53"/>
                  <a:gd name="T17" fmla="*/ 1 h 24"/>
                  <a:gd name="T18" fmla="*/ 1 w 53"/>
                  <a:gd name="T19" fmla="*/ 1 h 24"/>
                  <a:gd name="T20" fmla="*/ 1 w 53"/>
                  <a:gd name="T21" fmla="*/ 1 h 24"/>
                  <a:gd name="T22" fmla="*/ 1 w 53"/>
                  <a:gd name="T23" fmla="*/ 1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
                  <a:gd name="T37" fmla="*/ 0 h 24"/>
                  <a:gd name="T38" fmla="*/ 53 w 53"/>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 h="24">
                    <a:moveTo>
                      <a:pt x="22" y="13"/>
                    </a:moveTo>
                    <a:lnTo>
                      <a:pt x="11" y="24"/>
                    </a:lnTo>
                    <a:lnTo>
                      <a:pt x="53" y="22"/>
                    </a:lnTo>
                    <a:lnTo>
                      <a:pt x="53" y="0"/>
                    </a:lnTo>
                    <a:lnTo>
                      <a:pt x="11" y="2"/>
                    </a:lnTo>
                    <a:lnTo>
                      <a:pt x="0" y="13"/>
                    </a:lnTo>
                    <a:lnTo>
                      <a:pt x="11" y="2"/>
                    </a:lnTo>
                    <a:lnTo>
                      <a:pt x="3" y="5"/>
                    </a:lnTo>
                    <a:lnTo>
                      <a:pt x="0" y="13"/>
                    </a:lnTo>
                    <a:lnTo>
                      <a:pt x="3" y="21"/>
                    </a:lnTo>
                    <a:lnTo>
                      <a:pt x="11" y="24"/>
                    </a:lnTo>
                    <a:lnTo>
                      <a:pt x="22" y="13"/>
                    </a:lnTo>
                    <a:close/>
                  </a:path>
                </a:pathLst>
              </a:custGeom>
              <a:solidFill>
                <a:srgbClr val="000000"/>
              </a:solidFill>
              <a:ln w="9525">
                <a:noFill/>
                <a:round/>
                <a:headEnd/>
                <a:tailEnd/>
              </a:ln>
            </p:spPr>
            <p:txBody>
              <a:bodyPr/>
              <a:lstStyle/>
              <a:p>
                <a:endParaRPr lang="en-US"/>
              </a:p>
            </p:txBody>
          </p:sp>
          <p:sp>
            <p:nvSpPr>
              <p:cNvPr id="27835" name="Freeform 148"/>
              <p:cNvSpPr>
                <a:spLocks/>
              </p:cNvSpPr>
              <p:nvPr/>
            </p:nvSpPr>
            <p:spPr bwMode="auto">
              <a:xfrm>
                <a:off x="2168" y="3561"/>
                <a:ext cx="105" cy="191"/>
              </a:xfrm>
              <a:custGeom>
                <a:avLst/>
                <a:gdLst>
                  <a:gd name="T0" fmla="*/ 0 w 211"/>
                  <a:gd name="T1" fmla="*/ 1 h 381"/>
                  <a:gd name="T2" fmla="*/ 0 w 211"/>
                  <a:gd name="T3" fmla="*/ 1 h 381"/>
                  <a:gd name="T4" fmla="*/ 0 w 211"/>
                  <a:gd name="T5" fmla="*/ 1 h 381"/>
                  <a:gd name="T6" fmla="*/ 0 w 211"/>
                  <a:gd name="T7" fmla="*/ 1 h 381"/>
                  <a:gd name="T8" fmla="*/ 0 w 211"/>
                  <a:gd name="T9" fmla="*/ 1 h 381"/>
                  <a:gd name="T10" fmla="*/ 0 w 211"/>
                  <a:gd name="T11" fmla="*/ 1 h 381"/>
                  <a:gd name="T12" fmla="*/ 0 w 211"/>
                  <a:gd name="T13" fmla="*/ 1 h 381"/>
                  <a:gd name="T14" fmla="*/ 0 w 211"/>
                  <a:gd name="T15" fmla="*/ 1 h 381"/>
                  <a:gd name="T16" fmla="*/ 0 w 211"/>
                  <a:gd name="T17" fmla="*/ 1 h 381"/>
                  <a:gd name="T18" fmla="*/ 0 w 211"/>
                  <a:gd name="T19" fmla="*/ 1 h 381"/>
                  <a:gd name="T20" fmla="*/ 0 w 211"/>
                  <a:gd name="T21" fmla="*/ 1 h 381"/>
                  <a:gd name="T22" fmla="*/ 0 w 211"/>
                  <a:gd name="T23" fmla="*/ 1 h 381"/>
                  <a:gd name="T24" fmla="*/ 0 w 211"/>
                  <a:gd name="T25" fmla="*/ 1 h 381"/>
                  <a:gd name="T26" fmla="*/ 0 w 211"/>
                  <a:gd name="T27" fmla="*/ 1 h 381"/>
                  <a:gd name="T28" fmla="*/ 0 w 211"/>
                  <a:gd name="T29" fmla="*/ 1 h 381"/>
                  <a:gd name="T30" fmla="*/ 0 w 211"/>
                  <a:gd name="T31" fmla="*/ 1 h 381"/>
                  <a:gd name="T32" fmla="*/ 0 w 211"/>
                  <a:gd name="T33" fmla="*/ 1 h 381"/>
                  <a:gd name="T34" fmla="*/ 0 w 211"/>
                  <a:gd name="T35" fmla="*/ 1 h 381"/>
                  <a:gd name="T36" fmla="*/ 0 w 211"/>
                  <a:gd name="T37" fmla="*/ 1 h 381"/>
                  <a:gd name="T38" fmla="*/ 0 w 211"/>
                  <a:gd name="T39" fmla="*/ 1 h 381"/>
                  <a:gd name="T40" fmla="*/ 0 w 211"/>
                  <a:gd name="T41" fmla="*/ 1 h 381"/>
                  <a:gd name="T42" fmla="*/ 0 w 211"/>
                  <a:gd name="T43" fmla="*/ 1 h 381"/>
                  <a:gd name="T44" fmla="*/ 0 w 211"/>
                  <a:gd name="T45" fmla="*/ 1 h 381"/>
                  <a:gd name="T46" fmla="*/ 0 w 211"/>
                  <a:gd name="T47" fmla="*/ 1 h 381"/>
                  <a:gd name="T48" fmla="*/ 0 w 211"/>
                  <a:gd name="T49" fmla="*/ 1 h 381"/>
                  <a:gd name="T50" fmla="*/ 0 w 211"/>
                  <a:gd name="T51" fmla="*/ 1 h 381"/>
                  <a:gd name="T52" fmla="*/ 0 w 211"/>
                  <a:gd name="T53" fmla="*/ 1 h 381"/>
                  <a:gd name="T54" fmla="*/ 0 w 211"/>
                  <a:gd name="T55" fmla="*/ 1 h 381"/>
                  <a:gd name="T56" fmla="*/ 0 w 211"/>
                  <a:gd name="T57" fmla="*/ 1 h 381"/>
                  <a:gd name="T58" fmla="*/ 0 w 211"/>
                  <a:gd name="T59" fmla="*/ 1 h 381"/>
                  <a:gd name="T60" fmla="*/ 0 w 211"/>
                  <a:gd name="T61" fmla="*/ 1 h 381"/>
                  <a:gd name="T62" fmla="*/ 0 w 211"/>
                  <a:gd name="T63" fmla="*/ 1 h 38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381"/>
                  <a:gd name="T98" fmla="*/ 211 w 211"/>
                  <a:gd name="T99" fmla="*/ 381 h 38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381">
                    <a:moveTo>
                      <a:pt x="114" y="359"/>
                    </a:moveTo>
                    <a:lnTo>
                      <a:pt x="122" y="356"/>
                    </a:lnTo>
                    <a:lnTo>
                      <a:pt x="131" y="348"/>
                    </a:lnTo>
                    <a:lnTo>
                      <a:pt x="145" y="337"/>
                    </a:lnTo>
                    <a:lnTo>
                      <a:pt x="161" y="319"/>
                    </a:lnTo>
                    <a:lnTo>
                      <a:pt x="175" y="294"/>
                    </a:lnTo>
                    <a:lnTo>
                      <a:pt x="189" y="259"/>
                    </a:lnTo>
                    <a:lnTo>
                      <a:pt x="198" y="214"/>
                    </a:lnTo>
                    <a:lnTo>
                      <a:pt x="206" y="156"/>
                    </a:lnTo>
                    <a:lnTo>
                      <a:pt x="209" y="101"/>
                    </a:lnTo>
                    <a:lnTo>
                      <a:pt x="211" y="62"/>
                    </a:lnTo>
                    <a:lnTo>
                      <a:pt x="211" y="36"/>
                    </a:lnTo>
                    <a:lnTo>
                      <a:pt x="211" y="20"/>
                    </a:lnTo>
                    <a:lnTo>
                      <a:pt x="211" y="12"/>
                    </a:lnTo>
                    <a:lnTo>
                      <a:pt x="209" y="9"/>
                    </a:lnTo>
                    <a:lnTo>
                      <a:pt x="208" y="10"/>
                    </a:lnTo>
                    <a:lnTo>
                      <a:pt x="206" y="9"/>
                    </a:lnTo>
                    <a:lnTo>
                      <a:pt x="205" y="4"/>
                    </a:lnTo>
                    <a:lnTo>
                      <a:pt x="200" y="1"/>
                    </a:lnTo>
                    <a:lnTo>
                      <a:pt x="194" y="0"/>
                    </a:lnTo>
                    <a:lnTo>
                      <a:pt x="187" y="1"/>
                    </a:lnTo>
                    <a:lnTo>
                      <a:pt x="181" y="4"/>
                    </a:lnTo>
                    <a:lnTo>
                      <a:pt x="175" y="7"/>
                    </a:lnTo>
                    <a:lnTo>
                      <a:pt x="170" y="12"/>
                    </a:lnTo>
                    <a:lnTo>
                      <a:pt x="167" y="18"/>
                    </a:lnTo>
                    <a:lnTo>
                      <a:pt x="159" y="26"/>
                    </a:lnTo>
                    <a:lnTo>
                      <a:pt x="148" y="36"/>
                    </a:lnTo>
                    <a:lnTo>
                      <a:pt x="133" y="45"/>
                    </a:lnTo>
                    <a:lnTo>
                      <a:pt x="123" y="48"/>
                    </a:lnTo>
                    <a:lnTo>
                      <a:pt x="112" y="53"/>
                    </a:lnTo>
                    <a:lnTo>
                      <a:pt x="101" y="56"/>
                    </a:lnTo>
                    <a:lnTo>
                      <a:pt x="90" y="59"/>
                    </a:lnTo>
                    <a:lnTo>
                      <a:pt x="79" y="62"/>
                    </a:lnTo>
                    <a:lnTo>
                      <a:pt x="70" y="65"/>
                    </a:lnTo>
                    <a:lnTo>
                      <a:pt x="62" y="67"/>
                    </a:lnTo>
                    <a:lnTo>
                      <a:pt x="57" y="68"/>
                    </a:lnTo>
                    <a:lnTo>
                      <a:pt x="51" y="70"/>
                    </a:lnTo>
                    <a:lnTo>
                      <a:pt x="47" y="73"/>
                    </a:lnTo>
                    <a:lnTo>
                      <a:pt x="43" y="75"/>
                    </a:lnTo>
                    <a:lnTo>
                      <a:pt x="40" y="78"/>
                    </a:lnTo>
                    <a:lnTo>
                      <a:pt x="36" y="86"/>
                    </a:lnTo>
                    <a:lnTo>
                      <a:pt x="28" y="100"/>
                    </a:lnTo>
                    <a:lnTo>
                      <a:pt x="21" y="120"/>
                    </a:lnTo>
                    <a:lnTo>
                      <a:pt x="14" y="143"/>
                    </a:lnTo>
                    <a:lnTo>
                      <a:pt x="7" y="169"/>
                    </a:lnTo>
                    <a:lnTo>
                      <a:pt x="3" y="194"/>
                    </a:lnTo>
                    <a:lnTo>
                      <a:pt x="0" y="215"/>
                    </a:lnTo>
                    <a:lnTo>
                      <a:pt x="0" y="234"/>
                    </a:lnTo>
                    <a:lnTo>
                      <a:pt x="1" y="251"/>
                    </a:lnTo>
                    <a:lnTo>
                      <a:pt x="4" y="273"/>
                    </a:lnTo>
                    <a:lnTo>
                      <a:pt x="7" y="297"/>
                    </a:lnTo>
                    <a:lnTo>
                      <a:pt x="11" y="322"/>
                    </a:lnTo>
                    <a:lnTo>
                      <a:pt x="15" y="344"/>
                    </a:lnTo>
                    <a:lnTo>
                      <a:pt x="20" y="363"/>
                    </a:lnTo>
                    <a:lnTo>
                      <a:pt x="26" y="375"/>
                    </a:lnTo>
                    <a:lnTo>
                      <a:pt x="31" y="381"/>
                    </a:lnTo>
                    <a:lnTo>
                      <a:pt x="37" y="381"/>
                    </a:lnTo>
                    <a:lnTo>
                      <a:pt x="47" y="381"/>
                    </a:lnTo>
                    <a:lnTo>
                      <a:pt x="59" y="378"/>
                    </a:lnTo>
                    <a:lnTo>
                      <a:pt x="72" y="375"/>
                    </a:lnTo>
                    <a:lnTo>
                      <a:pt x="86" y="370"/>
                    </a:lnTo>
                    <a:lnTo>
                      <a:pt x="98" y="367"/>
                    </a:lnTo>
                    <a:lnTo>
                      <a:pt x="108" y="363"/>
                    </a:lnTo>
                    <a:lnTo>
                      <a:pt x="114" y="359"/>
                    </a:lnTo>
                    <a:close/>
                  </a:path>
                </a:pathLst>
              </a:custGeom>
              <a:solidFill>
                <a:srgbClr val="FF7226"/>
              </a:solidFill>
              <a:ln w="9525">
                <a:noFill/>
                <a:round/>
                <a:headEnd/>
                <a:tailEnd/>
              </a:ln>
            </p:spPr>
            <p:txBody>
              <a:bodyPr/>
              <a:lstStyle/>
              <a:p>
                <a:endParaRPr lang="en-US"/>
              </a:p>
            </p:txBody>
          </p:sp>
          <p:sp>
            <p:nvSpPr>
              <p:cNvPr id="27836" name="Freeform 149"/>
              <p:cNvSpPr>
                <a:spLocks/>
              </p:cNvSpPr>
              <p:nvPr/>
            </p:nvSpPr>
            <p:spPr bwMode="auto">
              <a:xfrm>
                <a:off x="2223" y="3639"/>
                <a:ext cx="54" cy="106"/>
              </a:xfrm>
              <a:custGeom>
                <a:avLst/>
                <a:gdLst>
                  <a:gd name="T0" fmla="*/ 1 w 108"/>
                  <a:gd name="T1" fmla="*/ 0 h 213"/>
                  <a:gd name="T2" fmla="*/ 1 w 108"/>
                  <a:gd name="T3" fmla="*/ 0 h 213"/>
                  <a:gd name="T4" fmla="*/ 1 w 108"/>
                  <a:gd name="T5" fmla="*/ 0 h 213"/>
                  <a:gd name="T6" fmla="*/ 1 w 108"/>
                  <a:gd name="T7" fmla="*/ 0 h 213"/>
                  <a:gd name="T8" fmla="*/ 1 w 108"/>
                  <a:gd name="T9" fmla="*/ 0 h 213"/>
                  <a:gd name="T10" fmla="*/ 1 w 108"/>
                  <a:gd name="T11" fmla="*/ 0 h 213"/>
                  <a:gd name="T12" fmla="*/ 1 w 108"/>
                  <a:gd name="T13" fmla="*/ 0 h 213"/>
                  <a:gd name="T14" fmla="*/ 1 w 108"/>
                  <a:gd name="T15" fmla="*/ 0 h 213"/>
                  <a:gd name="T16" fmla="*/ 1 w 108"/>
                  <a:gd name="T17" fmla="*/ 0 h 213"/>
                  <a:gd name="T18" fmla="*/ 0 w 108"/>
                  <a:gd name="T19" fmla="*/ 0 h 213"/>
                  <a:gd name="T20" fmla="*/ 1 w 108"/>
                  <a:gd name="T21" fmla="*/ 0 h 213"/>
                  <a:gd name="T22" fmla="*/ 1 w 108"/>
                  <a:gd name="T23" fmla="*/ 0 h 213"/>
                  <a:gd name="T24" fmla="*/ 1 w 108"/>
                  <a:gd name="T25" fmla="*/ 0 h 213"/>
                  <a:gd name="T26" fmla="*/ 1 w 108"/>
                  <a:gd name="T27" fmla="*/ 0 h 213"/>
                  <a:gd name="T28" fmla="*/ 1 w 108"/>
                  <a:gd name="T29" fmla="*/ 0 h 213"/>
                  <a:gd name="T30" fmla="*/ 1 w 108"/>
                  <a:gd name="T31" fmla="*/ 0 h 213"/>
                  <a:gd name="T32" fmla="*/ 1 w 108"/>
                  <a:gd name="T33" fmla="*/ 0 h 213"/>
                  <a:gd name="T34" fmla="*/ 1 w 108"/>
                  <a:gd name="T35" fmla="*/ 0 h 213"/>
                  <a:gd name="T36" fmla="*/ 1 w 108"/>
                  <a:gd name="T37" fmla="*/ 0 h 213"/>
                  <a:gd name="T38" fmla="*/ 1 w 108"/>
                  <a:gd name="T39" fmla="*/ 0 h 213"/>
                  <a:gd name="T40" fmla="*/ 1 w 108"/>
                  <a:gd name="T41" fmla="*/ 0 h 2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8"/>
                  <a:gd name="T64" fmla="*/ 0 h 213"/>
                  <a:gd name="T65" fmla="*/ 108 w 108"/>
                  <a:gd name="T66" fmla="*/ 213 h 21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8" h="213">
                    <a:moveTo>
                      <a:pt x="86" y="0"/>
                    </a:moveTo>
                    <a:lnTo>
                      <a:pt x="86" y="0"/>
                    </a:lnTo>
                    <a:lnTo>
                      <a:pt x="78" y="56"/>
                    </a:lnTo>
                    <a:lnTo>
                      <a:pt x="69" y="100"/>
                    </a:lnTo>
                    <a:lnTo>
                      <a:pt x="57" y="133"/>
                    </a:lnTo>
                    <a:lnTo>
                      <a:pt x="42" y="156"/>
                    </a:lnTo>
                    <a:lnTo>
                      <a:pt x="28" y="174"/>
                    </a:lnTo>
                    <a:lnTo>
                      <a:pt x="16" y="185"/>
                    </a:lnTo>
                    <a:lnTo>
                      <a:pt x="6" y="191"/>
                    </a:lnTo>
                    <a:lnTo>
                      <a:pt x="0" y="194"/>
                    </a:lnTo>
                    <a:lnTo>
                      <a:pt x="10" y="213"/>
                    </a:lnTo>
                    <a:lnTo>
                      <a:pt x="19" y="210"/>
                    </a:lnTo>
                    <a:lnTo>
                      <a:pt x="28" y="200"/>
                    </a:lnTo>
                    <a:lnTo>
                      <a:pt x="44" y="189"/>
                    </a:lnTo>
                    <a:lnTo>
                      <a:pt x="61" y="169"/>
                    </a:lnTo>
                    <a:lnTo>
                      <a:pt x="75" y="142"/>
                    </a:lnTo>
                    <a:lnTo>
                      <a:pt x="91" y="106"/>
                    </a:lnTo>
                    <a:lnTo>
                      <a:pt x="100" y="59"/>
                    </a:lnTo>
                    <a:lnTo>
                      <a:pt x="108" y="0"/>
                    </a:lnTo>
                    <a:lnTo>
                      <a:pt x="86" y="0"/>
                    </a:lnTo>
                    <a:close/>
                  </a:path>
                </a:pathLst>
              </a:custGeom>
              <a:solidFill>
                <a:srgbClr val="000000"/>
              </a:solidFill>
              <a:ln w="9525">
                <a:noFill/>
                <a:round/>
                <a:headEnd/>
                <a:tailEnd/>
              </a:ln>
            </p:spPr>
            <p:txBody>
              <a:bodyPr/>
              <a:lstStyle/>
              <a:p>
                <a:endParaRPr lang="en-US"/>
              </a:p>
            </p:txBody>
          </p:sp>
          <p:sp>
            <p:nvSpPr>
              <p:cNvPr id="27837" name="Freeform 150"/>
              <p:cNvSpPr>
                <a:spLocks/>
              </p:cNvSpPr>
              <p:nvPr/>
            </p:nvSpPr>
            <p:spPr bwMode="auto">
              <a:xfrm>
                <a:off x="2266" y="3561"/>
                <a:ext cx="13" cy="78"/>
              </a:xfrm>
              <a:custGeom>
                <a:avLst/>
                <a:gdLst>
                  <a:gd name="T0" fmla="*/ 0 w 27"/>
                  <a:gd name="T1" fmla="*/ 1 h 156"/>
                  <a:gd name="T2" fmla="*/ 0 w 27"/>
                  <a:gd name="T3" fmla="*/ 1 h 156"/>
                  <a:gd name="T4" fmla="*/ 0 w 27"/>
                  <a:gd name="T5" fmla="*/ 1 h 156"/>
                  <a:gd name="T6" fmla="*/ 0 w 27"/>
                  <a:gd name="T7" fmla="*/ 1 h 156"/>
                  <a:gd name="T8" fmla="*/ 0 w 27"/>
                  <a:gd name="T9" fmla="*/ 1 h 156"/>
                  <a:gd name="T10" fmla="*/ 0 w 27"/>
                  <a:gd name="T11" fmla="*/ 1 h 156"/>
                  <a:gd name="T12" fmla="*/ 0 w 27"/>
                  <a:gd name="T13" fmla="*/ 1 h 156"/>
                  <a:gd name="T14" fmla="*/ 0 w 27"/>
                  <a:gd name="T15" fmla="*/ 1 h 156"/>
                  <a:gd name="T16" fmla="*/ 0 w 27"/>
                  <a:gd name="T17" fmla="*/ 1 h 156"/>
                  <a:gd name="T18" fmla="*/ 0 w 27"/>
                  <a:gd name="T19" fmla="*/ 1 h 156"/>
                  <a:gd name="T20" fmla="*/ 0 w 27"/>
                  <a:gd name="T21" fmla="*/ 1 h 156"/>
                  <a:gd name="T22" fmla="*/ 0 w 27"/>
                  <a:gd name="T23" fmla="*/ 1 h 156"/>
                  <a:gd name="T24" fmla="*/ 0 w 27"/>
                  <a:gd name="T25" fmla="*/ 1 h 156"/>
                  <a:gd name="T26" fmla="*/ 0 w 27"/>
                  <a:gd name="T27" fmla="*/ 1 h 156"/>
                  <a:gd name="T28" fmla="*/ 0 w 27"/>
                  <a:gd name="T29" fmla="*/ 1 h 156"/>
                  <a:gd name="T30" fmla="*/ 0 w 27"/>
                  <a:gd name="T31" fmla="*/ 1 h 156"/>
                  <a:gd name="T32" fmla="*/ 0 w 27"/>
                  <a:gd name="T33" fmla="*/ 0 h 156"/>
                  <a:gd name="T34" fmla="*/ 0 w 27"/>
                  <a:gd name="T35" fmla="*/ 1 h 156"/>
                  <a:gd name="T36" fmla="*/ 0 w 27"/>
                  <a:gd name="T37" fmla="*/ 1 h 156"/>
                  <a:gd name="T38" fmla="*/ 0 w 27"/>
                  <a:gd name="T39" fmla="*/ 1 h 156"/>
                  <a:gd name="T40" fmla="*/ 0 w 27"/>
                  <a:gd name="T41" fmla="*/ 1 h 156"/>
                  <a:gd name="T42" fmla="*/ 0 w 27"/>
                  <a:gd name="T43" fmla="*/ 1 h 156"/>
                  <a:gd name="T44" fmla="*/ 0 w 27"/>
                  <a:gd name="T45" fmla="*/ 1 h 156"/>
                  <a:gd name="T46" fmla="*/ 0 w 27"/>
                  <a:gd name="T47" fmla="*/ 1 h 156"/>
                  <a:gd name="T48" fmla="*/ 0 w 27"/>
                  <a:gd name="T49" fmla="*/ 1 h 156"/>
                  <a:gd name="T50" fmla="*/ 0 w 27"/>
                  <a:gd name="T51" fmla="*/ 1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7"/>
                  <a:gd name="T79" fmla="*/ 0 h 156"/>
                  <a:gd name="T80" fmla="*/ 27 w 27"/>
                  <a:gd name="T81" fmla="*/ 156 h 15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7" h="156">
                    <a:moveTo>
                      <a:pt x="3" y="15"/>
                    </a:moveTo>
                    <a:lnTo>
                      <a:pt x="22" y="15"/>
                    </a:lnTo>
                    <a:lnTo>
                      <a:pt x="21" y="18"/>
                    </a:lnTo>
                    <a:lnTo>
                      <a:pt x="10" y="18"/>
                    </a:lnTo>
                    <a:lnTo>
                      <a:pt x="5" y="14"/>
                    </a:lnTo>
                    <a:lnTo>
                      <a:pt x="5" y="20"/>
                    </a:lnTo>
                    <a:lnTo>
                      <a:pt x="5" y="36"/>
                    </a:lnTo>
                    <a:lnTo>
                      <a:pt x="5" y="62"/>
                    </a:lnTo>
                    <a:lnTo>
                      <a:pt x="3" y="101"/>
                    </a:lnTo>
                    <a:lnTo>
                      <a:pt x="0" y="156"/>
                    </a:lnTo>
                    <a:lnTo>
                      <a:pt x="22" y="156"/>
                    </a:lnTo>
                    <a:lnTo>
                      <a:pt x="25" y="101"/>
                    </a:lnTo>
                    <a:lnTo>
                      <a:pt x="27" y="62"/>
                    </a:lnTo>
                    <a:lnTo>
                      <a:pt x="27" y="36"/>
                    </a:lnTo>
                    <a:lnTo>
                      <a:pt x="27" y="20"/>
                    </a:lnTo>
                    <a:lnTo>
                      <a:pt x="27" y="10"/>
                    </a:lnTo>
                    <a:lnTo>
                      <a:pt x="19" y="0"/>
                    </a:lnTo>
                    <a:lnTo>
                      <a:pt x="5" y="3"/>
                    </a:lnTo>
                    <a:lnTo>
                      <a:pt x="3" y="6"/>
                    </a:lnTo>
                    <a:lnTo>
                      <a:pt x="22" y="6"/>
                    </a:lnTo>
                    <a:lnTo>
                      <a:pt x="2" y="6"/>
                    </a:lnTo>
                    <a:lnTo>
                      <a:pt x="2" y="15"/>
                    </a:lnTo>
                    <a:lnTo>
                      <a:pt x="8" y="21"/>
                    </a:lnTo>
                    <a:lnTo>
                      <a:pt x="18" y="21"/>
                    </a:lnTo>
                    <a:lnTo>
                      <a:pt x="24" y="15"/>
                    </a:lnTo>
                    <a:lnTo>
                      <a:pt x="3" y="15"/>
                    </a:lnTo>
                    <a:close/>
                  </a:path>
                </a:pathLst>
              </a:custGeom>
              <a:solidFill>
                <a:srgbClr val="000000"/>
              </a:solidFill>
              <a:ln w="9525">
                <a:noFill/>
                <a:round/>
                <a:headEnd/>
                <a:tailEnd/>
              </a:ln>
            </p:spPr>
            <p:txBody>
              <a:bodyPr/>
              <a:lstStyle/>
              <a:p>
                <a:endParaRPr lang="en-US"/>
              </a:p>
            </p:txBody>
          </p:sp>
          <p:sp>
            <p:nvSpPr>
              <p:cNvPr id="27838" name="Freeform 151"/>
              <p:cNvSpPr>
                <a:spLocks/>
              </p:cNvSpPr>
              <p:nvPr/>
            </p:nvSpPr>
            <p:spPr bwMode="auto">
              <a:xfrm>
                <a:off x="2265" y="3555"/>
                <a:ext cx="12" cy="14"/>
              </a:xfrm>
              <a:custGeom>
                <a:avLst/>
                <a:gdLst>
                  <a:gd name="T0" fmla="*/ 0 w 23"/>
                  <a:gd name="T1" fmla="*/ 1 h 26"/>
                  <a:gd name="T2" fmla="*/ 0 w 23"/>
                  <a:gd name="T3" fmla="*/ 1 h 26"/>
                  <a:gd name="T4" fmla="*/ 1 w 23"/>
                  <a:gd name="T5" fmla="*/ 1 h 26"/>
                  <a:gd name="T6" fmla="*/ 1 w 23"/>
                  <a:gd name="T7" fmla="*/ 1 h 26"/>
                  <a:gd name="T8" fmla="*/ 1 w 23"/>
                  <a:gd name="T9" fmla="*/ 1 h 26"/>
                  <a:gd name="T10" fmla="*/ 1 w 23"/>
                  <a:gd name="T11" fmla="*/ 1 h 26"/>
                  <a:gd name="T12" fmla="*/ 1 w 23"/>
                  <a:gd name="T13" fmla="*/ 1 h 26"/>
                  <a:gd name="T14" fmla="*/ 1 w 23"/>
                  <a:gd name="T15" fmla="*/ 1 h 26"/>
                  <a:gd name="T16" fmla="*/ 1 w 23"/>
                  <a:gd name="T17" fmla="*/ 1 h 26"/>
                  <a:gd name="T18" fmla="*/ 1 w 23"/>
                  <a:gd name="T19" fmla="*/ 1 h 26"/>
                  <a:gd name="T20" fmla="*/ 0 w 23"/>
                  <a:gd name="T21" fmla="*/ 0 h 26"/>
                  <a:gd name="T22" fmla="*/ 0 w 23"/>
                  <a:gd name="T23" fmla="*/ 0 h 26"/>
                  <a:gd name="T24" fmla="*/ 0 w 23"/>
                  <a:gd name="T25" fmla="*/ 1 h 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6"/>
                  <a:gd name="T41" fmla="*/ 23 w 23"/>
                  <a:gd name="T42" fmla="*/ 26 h 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6">
                    <a:moveTo>
                      <a:pt x="0" y="21"/>
                    </a:moveTo>
                    <a:lnTo>
                      <a:pt x="0" y="21"/>
                    </a:lnTo>
                    <a:lnTo>
                      <a:pt x="1" y="21"/>
                    </a:lnTo>
                    <a:lnTo>
                      <a:pt x="3" y="21"/>
                    </a:lnTo>
                    <a:lnTo>
                      <a:pt x="3" y="25"/>
                    </a:lnTo>
                    <a:lnTo>
                      <a:pt x="4" y="26"/>
                    </a:lnTo>
                    <a:lnTo>
                      <a:pt x="23" y="17"/>
                    </a:lnTo>
                    <a:lnTo>
                      <a:pt x="22" y="15"/>
                    </a:lnTo>
                    <a:lnTo>
                      <a:pt x="19" y="9"/>
                    </a:lnTo>
                    <a:lnTo>
                      <a:pt x="11" y="3"/>
                    </a:lnTo>
                    <a:lnTo>
                      <a:pt x="0" y="0"/>
                    </a:lnTo>
                    <a:lnTo>
                      <a:pt x="0" y="21"/>
                    </a:lnTo>
                    <a:close/>
                  </a:path>
                </a:pathLst>
              </a:custGeom>
              <a:solidFill>
                <a:srgbClr val="000000"/>
              </a:solidFill>
              <a:ln w="9525">
                <a:noFill/>
                <a:round/>
                <a:headEnd/>
                <a:tailEnd/>
              </a:ln>
            </p:spPr>
            <p:txBody>
              <a:bodyPr/>
              <a:lstStyle/>
              <a:p>
                <a:endParaRPr lang="en-US"/>
              </a:p>
            </p:txBody>
          </p:sp>
          <p:sp>
            <p:nvSpPr>
              <p:cNvPr id="27839" name="Freeform 152"/>
              <p:cNvSpPr>
                <a:spLocks/>
              </p:cNvSpPr>
              <p:nvPr/>
            </p:nvSpPr>
            <p:spPr bwMode="auto">
              <a:xfrm>
                <a:off x="2248" y="3555"/>
                <a:ext cx="17" cy="16"/>
              </a:xfrm>
              <a:custGeom>
                <a:avLst/>
                <a:gdLst>
                  <a:gd name="T0" fmla="*/ 1 w 33"/>
                  <a:gd name="T1" fmla="*/ 1 h 31"/>
                  <a:gd name="T2" fmla="*/ 1 w 33"/>
                  <a:gd name="T3" fmla="*/ 1 h 31"/>
                  <a:gd name="T4" fmla="*/ 1 w 33"/>
                  <a:gd name="T5" fmla="*/ 1 h 31"/>
                  <a:gd name="T6" fmla="*/ 1 w 33"/>
                  <a:gd name="T7" fmla="*/ 1 h 31"/>
                  <a:gd name="T8" fmla="*/ 1 w 33"/>
                  <a:gd name="T9" fmla="*/ 1 h 31"/>
                  <a:gd name="T10" fmla="*/ 1 w 33"/>
                  <a:gd name="T11" fmla="*/ 1 h 31"/>
                  <a:gd name="T12" fmla="*/ 1 w 33"/>
                  <a:gd name="T13" fmla="*/ 0 h 31"/>
                  <a:gd name="T14" fmla="*/ 1 w 33"/>
                  <a:gd name="T15" fmla="*/ 1 h 31"/>
                  <a:gd name="T16" fmla="*/ 1 w 33"/>
                  <a:gd name="T17" fmla="*/ 1 h 31"/>
                  <a:gd name="T18" fmla="*/ 1 w 33"/>
                  <a:gd name="T19" fmla="*/ 1 h 31"/>
                  <a:gd name="T20" fmla="*/ 1 w 33"/>
                  <a:gd name="T21" fmla="*/ 1 h 31"/>
                  <a:gd name="T22" fmla="*/ 0 w 33"/>
                  <a:gd name="T23" fmla="*/ 1 h 31"/>
                  <a:gd name="T24" fmla="*/ 1 w 33"/>
                  <a:gd name="T25" fmla="*/ 1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1"/>
                  <a:gd name="T41" fmla="*/ 33 w 33"/>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1">
                    <a:moveTo>
                      <a:pt x="19" y="28"/>
                    </a:moveTo>
                    <a:lnTo>
                      <a:pt x="17" y="31"/>
                    </a:lnTo>
                    <a:lnTo>
                      <a:pt x="20" y="28"/>
                    </a:lnTo>
                    <a:lnTo>
                      <a:pt x="25" y="25"/>
                    </a:lnTo>
                    <a:lnTo>
                      <a:pt x="30" y="23"/>
                    </a:lnTo>
                    <a:lnTo>
                      <a:pt x="33" y="21"/>
                    </a:lnTo>
                    <a:lnTo>
                      <a:pt x="33" y="0"/>
                    </a:lnTo>
                    <a:lnTo>
                      <a:pt x="23" y="1"/>
                    </a:lnTo>
                    <a:lnTo>
                      <a:pt x="15" y="6"/>
                    </a:lnTo>
                    <a:lnTo>
                      <a:pt x="8" y="9"/>
                    </a:lnTo>
                    <a:lnTo>
                      <a:pt x="1" y="15"/>
                    </a:lnTo>
                    <a:lnTo>
                      <a:pt x="0" y="18"/>
                    </a:lnTo>
                    <a:lnTo>
                      <a:pt x="19" y="28"/>
                    </a:lnTo>
                    <a:close/>
                  </a:path>
                </a:pathLst>
              </a:custGeom>
              <a:solidFill>
                <a:srgbClr val="000000"/>
              </a:solidFill>
              <a:ln w="9525">
                <a:noFill/>
                <a:round/>
                <a:headEnd/>
                <a:tailEnd/>
              </a:ln>
            </p:spPr>
            <p:txBody>
              <a:bodyPr/>
              <a:lstStyle/>
              <a:p>
                <a:endParaRPr lang="en-US"/>
              </a:p>
            </p:txBody>
          </p:sp>
          <p:sp>
            <p:nvSpPr>
              <p:cNvPr id="27840" name="Freeform 153"/>
              <p:cNvSpPr>
                <a:spLocks/>
              </p:cNvSpPr>
              <p:nvPr/>
            </p:nvSpPr>
            <p:spPr bwMode="auto">
              <a:xfrm>
                <a:off x="2232" y="3565"/>
                <a:ext cx="26" cy="23"/>
              </a:xfrm>
              <a:custGeom>
                <a:avLst/>
                <a:gdLst>
                  <a:gd name="T0" fmla="*/ 1 w 52"/>
                  <a:gd name="T1" fmla="*/ 0 h 47"/>
                  <a:gd name="T2" fmla="*/ 1 w 52"/>
                  <a:gd name="T3" fmla="*/ 0 h 47"/>
                  <a:gd name="T4" fmla="*/ 1 w 52"/>
                  <a:gd name="T5" fmla="*/ 0 h 47"/>
                  <a:gd name="T6" fmla="*/ 1 w 52"/>
                  <a:gd name="T7" fmla="*/ 0 h 47"/>
                  <a:gd name="T8" fmla="*/ 1 w 52"/>
                  <a:gd name="T9" fmla="*/ 0 h 47"/>
                  <a:gd name="T10" fmla="*/ 1 w 52"/>
                  <a:gd name="T11" fmla="*/ 0 h 47"/>
                  <a:gd name="T12" fmla="*/ 1 w 52"/>
                  <a:gd name="T13" fmla="*/ 0 h 47"/>
                  <a:gd name="T14" fmla="*/ 1 w 52"/>
                  <a:gd name="T15" fmla="*/ 0 h 47"/>
                  <a:gd name="T16" fmla="*/ 1 w 52"/>
                  <a:gd name="T17" fmla="*/ 0 h 47"/>
                  <a:gd name="T18" fmla="*/ 1 w 52"/>
                  <a:gd name="T19" fmla="*/ 0 h 47"/>
                  <a:gd name="T20" fmla="*/ 0 w 52"/>
                  <a:gd name="T21" fmla="*/ 0 h 47"/>
                  <a:gd name="T22" fmla="*/ 0 w 52"/>
                  <a:gd name="T23" fmla="*/ 0 h 47"/>
                  <a:gd name="T24" fmla="*/ 1 w 52"/>
                  <a:gd name="T25" fmla="*/ 0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47"/>
                  <a:gd name="T41" fmla="*/ 52 w 52"/>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47">
                    <a:moveTo>
                      <a:pt x="9" y="47"/>
                    </a:moveTo>
                    <a:lnTo>
                      <a:pt x="9" y="47"/>
                    </a:lnTo>
                    <a:lnTo>
                      <a:pt x="27" y="38"/>
                    </a:lnTo>
                    <a:lnTo>
                      <a:pt x="39" y="27"/>
                    </a:lnTo>
                    <a:lnTo>
                      <a:pt x="48" y="18"/>
                    </a:lnTo>
                    <a:lnTo>
                      <a:pt x="52" y="10"/>
                    </a:lnTo>
                    <a:lnTo>
                      <a:pt x="33" y="0"/>
                    </a:lnTo>
                    <a:lnTo>
                      <a:pt x="30" y="5"/>
                    </a:lnTo>
                    <a:lnTo>
                      <a:pt x="23" y="11"/>
                    </a:lnTo>
                    <a:lnTo>
                      <a:pt x="14" y="19"/>
                    </a:lnTo>
                    <a:lnTo>
                      <a:pt x="0" y="29"/>
                    </a:lnTo>
                    <a:lnTo>
                      <a:pt x="9" y="47"/>
                    </a:lnTo>
                    <a:close/>
                  </a:path>
                </a:pathLst>
              </a:custGeom>
              <a:solidFill>
                <a:srgbClr val="000000"/>
              </a:solidFill>
              <a:ln w="9525">
                <a:noFill/>
                <a:round/>
                <a:headEnd/>
                <a:tailEnd/>
              </a:ln>
            </p:spPr>
            <p:txBody>
              <a:bodyPr/>
              <a:lstStyle/>
              <a:p>
                <a:endParaRPr lang="en-US"/>
              </a:p>
            </p:txBody>
          </p:sp>
          <p:sp>
            <p:nvSpPr>
              <p:cNvPr id="27841" name="Freeform 154"/>
              <p:cNvSpPr>
                <a:spLocks/>
              </p:cNvSpPr>
              <p:nvPr/>
            </p:nvSpPr>
            <p:spPr bwMode="auto">
              <a:xfrm>
                <a:off x="2196" y="3579"/>
                <a:ext cx="41" cy="22"/>
              </a:xfrm>
              <a:custGeom>
                <a:avLst/>
                <a:gdLst>
                  <a:gd name="T0" fmla="*/ 1 w 81"/>
                  <a:gd name="T1" fmla="*/ 1 h 43"/>
                  <a:gd name="T2" fmla="*/ 1 w 81"/>
                  <a:gd name="T3" fmla="*/ 1 h 43"/>
                  <a:gd name="T4" fmla="*/ 1 w 81"/>
                  <a:gd name="T5" fmla="*/ 1 h 43"/>
                  <a:gd name="T6" fmla="*/ 1 w 81"/>
                  <a:gd name="T7" fmla="*/ 1 h 43"/>
                  <a:gd name="T8" fmla="*/ 1 w 81"/>
                  <a:gd name="T9" fmla="*/ 1 h 43"/>
                  <a:gd name="T10" fmla="*/ 1 w 81"/>
                  <a:gd name="T11" fmla="*/ 1 h 43"/>
                  <a:gd name="T12" fmla="*/ 1 w 81"/>
                  <a:gd name="T13" fmla="*/ 1 h 43"/>
                  <a:gd name="T14" fmla="*/ 1 w 81"/>
                  <a:gd name="T15" fmla="*/ 1 h 43"/>
                  <a:gd name="T16" fmla="*/ 1 w 81"/>
                  <a:gd name="T17" fmla="*/ 1 h 43"/>
                  <a:gd name="T18" fmla="*/ 1 w 81"/>
                  <a:gd name="T19" fmla="*/ 1 h 43"/>
                  <a:gd name="T20" fmla="*/ 1 w 81"/>
                  <a:gd name="T21" fmla="*/ 0 h 43"/>
                  <a:gd name="T22" fmla="*/ 1 w 81"/>
                  <a:gd name="T23" fmla="*/ 1 h 43"/>
                  <a:gd name="T24" fmla="*/ 1 w 81"/>
                  <a:gd name="T25" fmla="*/ 1 h 43"/>
                  <a:gd name="T26" fmla="*/ 1 w 81"/>
                  <a:gd name="T27" fmla="*/ 1 h 43"/>
                  <a:gd name="T28" fmla="*/ 1 w 81"/>
                  <a:gd name="T29" fmla="*/ 1 h 43"/>
                  <a:gd name="T30" fmla="*/ 1 w 81"/>
                  <a:gd name="T31" fmla="*/ 1 h 43"/>
                  <a:gd name="T32" fmla="*/ 1 w 81"/>
                  <a:gd name="T33" fmla="*/ 1 h 43"/>
                  <a:gd name="T34" fmla="*/ 1 w 81"/>
                  <a:gd name="T35" fmla="*/ 1 h 43"/>
                  <a:gd name="T36" fmla="*/ 0 w 81"/>
                  <a:gd name="T37" fmla="*/ 1 h 43"/>
                  <a:gd name="T38" fmla="*/ 0 w 81"/>
                  <a:gd name="T39" fmla="*/ 1 h 43"/>
                  <a:gd name="T40" fmla="*/ 1 w 81"/>
                  <a:gd name="T41" fmla="*/ 1 h 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43"/>
                  <a:gd name="T65" fmla="*/ 81 w 81"/>
                  <a:gd name="T66" fmla="*/ 43 h 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43">
                    <a:moveTo>
                      <a:pt x="3" y="43"/>
                    </a:moveTo>
                    <a:lnTo>
                      <a:pt x="3" y="43"/>
                    </a:lnTo>
                    <a:lnTo>
                      <a:pt x="9" y="42"/>
                    </a:lnTo>
                    <a:lnTo>
                      <a:pt x="17" y="40"/>
                    </a:lnTo>
                    <a:lnTo>
                      <a:pt x="27" y="37"/>
                    </a:lnTo>
                    <a:lnTo>
                      <a:pt x="38" y="34"/>
                    </a:lnTo>
                    <a:lnTo>
                      <a:pt x="48" y="31"/>
                    </a:lnTo>
                    <a:lnTo>
                      <a:pt x="59" y="28"/>
                    </a:lnTo>
                    <a:lnTo>
                      <a:pt x="70" y="23"/>
                    </a:lnTo>
                    <a:lnTo>
                      <a:pt x="81" y="18"/>
                    </a:lnTo>
                    <a:lnTo>
                      <a:pt x="72" y="0"/>
                    </a:lnTo>
                    <a:lnTo>
                      <a:pt x="64" y="1"/>
                    </a:lnTo>
                    <a:lnTo>
                      <a:pt x="53" y="6"/>
                    </a:lnTo>
                    <a:lnTo>
                      <a:pt x="42" y="9"/>
                    </a:lnTo>
                    <a:lnTo>
                      <a:pt x="31" y="12"/>
                    </a:lnTo>
                    <a:lnTo>
                      <a:pt x="20" y="15"/>
                    </a:lnTo>
                    <a:lnTo>
                      <a:pt x="11" y="18"/>
                    </a:lnTo>
                    <a:lnTo>
                      <a:pt x="3" y="20"/>
                    </a:lnTo>
                    <a:lnTo>
                      <a:pt x="0" y="21"/>
                    </a:lnTo>
                    <a:lnTo>
                      <a:pt x="3" y="43"/>
                    </a:lnTo>
                    <a:close/>
                  </a:path>
                </a:pathLst>
              </a:custGeom>
              <a:solidFill>
                <a:srgbClr val="000000"/>
              </a:solidFill>
              <a:ln w="9525">
                <a:noFill/>
                <a:round/>
                <a:headEnd/>
                <a:tailEnd/>
              </a:ln>
            </p:spPr>
            <p:txBody>
              <a:bodyPr/>
              <a:lstStyle/>
              <a:p>
                <a:endParaRPr lang="en-US"/>
              </a:p>
            </p:txBody>
          </p:sp>
          <p:sp>
            <p:nvSpPr>
              <p:cNvPr id="27842" name="Freeform 155"/>
              <p:cNvSpPr>
                <a:spLocks/>
              </p:cNvSpPr>
              <p:nvPr/>
            </p:nvSpPr>
            <p:spPr bwMode="auto">
              <a:xfrm>
                <a:off x="2184" y="3590"/>
                <a:ext cx="14" cy="15"/>
              </a:xfrm>
              <a:custGeom>
                <a:avLst/>
                <a:gdLst>
                  <a:gd name="T0" fmla="*/ 1 w 27"/>
                  <a:gd name="T1" fmla="*/ 1 h 30"/>
                  <a:gd name="T2" fmla="*/ 1 w 27"/>
                  <a:gd name="T3" fmla="*/ 1 h 30"/>
                  <a:gd name="T4" fmla="*/ 1 w 27"/>
                  <a:gd name="T5" fmla="*/ 1 h 30"/>
                  <a:gd name="T6" fmla="*/ 1 w 27"/>
                  <a:gd name="T7" fmla="*/ 1 h 30"/>
                  <a:gd name="T8" fmla="*/ 1 w 27"/>
                  <a:gd name="T9" fmla="*/ 1 h 30"/>
                  <a:gd name="T10" fmla="*/ 1 w 27"/>
                  <a:gd name="T11" fmla="*/ 1 h 30"/>
                  <a:gd name="T12" fmla="*/ 1 w 27"/>
                  <a:gd name="T13" fmla="*/ 0 h 30"/>
                  <a:gd name="T14" fmla="*/ 1 w 27"/>
                  <a:gd name="T15" fmla="*/ 1 h 30"/>
                  <a:gd name="T16" fmla="*/ 1 w 27"/>
                  <a:gd name="T17" fmla="*/ 1 h 30"/>
                  <a:gd name="T18" fmla="*/ 1 w 27"/>
                  <a:gd name="T19" fmla="*/ 1 h 30"/>
                  <a:gd name="T20" fmla="*/ 0 w 27"/>
                  <a:gd name="T21" fmla="*/ 1 h 30"/>
                  <a:gd name="T22" fmla="*/ 1 w 27"/>
                  <a:gd name="T23" fmla="*/ 1 h 30"/>
                  <a:gd name="T24" fmla="*/ 1 w 27"/>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30"/>
                  <a:gd name="T41" fmla="*/ 27 w 27"/>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30">
                    <a:moveTo>
                      <a:pt x="15" y="30"/>
                    </a:moveTo>
                    <a:lnTo>
                      <a:pt x="16" y="29"/>
                    </a:lnTo>
                    <a:lnTo>
                      <a:pt x="18" y="27"/>
                    </a:lnTo>
                    <a:lnTo>
                      <a:pt x="21" y="25"/>
                    </a:lnTo>
                    <a:lnTo>
                      <a:pt x="24" y="22"/>
                    </a:lnTo>
                    <a:lnTo>
                      <a:pt x="27" y="22"/>
                    </a:lnTo>
                    <a:lnTo>
                      <a:pt x="24" y="0"/>
                    </a:lnTo>
                    <a:lnTo>
                      <a:pt x="15" y="4"/>
                    </a:lnTo>
                    <a:lnTo>
                      <a:pt x="8" y="7"/>
                    </a:lnTo>
                    <a:lnTo>
                      <a:pt x="5" y="8"/>
                    </a:lnTo>
                    <a:lnTo>
                      <a:pt x="0" y="13"/>
                    </a:lnTo>
                    <a:lnTo>
                      <a:pt x="2" y="11"/>
                    </a:lnTo>
                    <a:lnTo>
                      <a:pt x="15" y="30"/>
                    </a:lnTo>
                    <a:close/>
                  </a:path>
                </a:pathLst>
              </a:custGeom>
              <a:solidFill>
                <a:srgbClr val="000000"/>
              </a:solidFill>
              <a:ln w="9525">
                <a:noFill/>
                <a:round/>
                <a:headEnd/>
                <a:tailEnd/>
              </a:ln>
            </p:spPr>
            <p:txBody>
              <a:bodyPr/>
              <a:lstStyle/>
              <a:p>
                <a:endParaRPr lang="en-US"/>
              </a:p>
            </p:txBody>
          </p:sp>
          <p:sp>
            <p:nvSpPr>
              <p:cNvPr id="27843" name="Freeform 156"/>
              <p:cNvSpPr>
                <a:spLocks/>
              </p:cNvSpPr>
              <p:nvPr/>
            </p:nvSpPr>
            <p:spPr bwMode="auto">
              <a:xfrm>
                <a:off x="2162" y="3595"/>
                <a:ext cx="29" cy="84"/>
              </a:xfrm>
              <a:custGeom>
                <a:avLst/>
                <a:gdLst>
                  <a:gd name="T0" fmla="*/ 1 w 58"/>
                  <a:gd name="T1" fmla="*/ 1 h 168"/>
                  <a:gd name="T2" fmla="*/ 1 w 58"/>
                  <a:gd name="T3" fmla="*/ 1 h 168"/>
                  <a:gd name="T4" fmla="*/ 1 w 58"/>
                  <a:gd name="T5" fmla="*/ 1 h 168"/>
                  <a:gd name="T6" fmla="*/ 1 w 58"/>
                  <a:gd name="T7" fmla="*/ 1 h 168"/>
                  <a:gd name="T8" fmla="*/ 1 w 58"/>
                  <a:gd name="T9" fmla="*/ 1 h 168"/>
                  <a:gd name="T10" fmla="*/ 1 w 58"/>
                  <a:gd name="T11" fmla="*/ 1 h 168"/>
                  <a:gd name="T12" fmla="*/ 1 w 58"/>
                  <a:gd name="T13" fmla="*/ 1 h 168"/>
                  <a:gd name="T14" fmla="*/ 1 w 58"/>
                  <a:gd name="T15" fmla="*/ 1 h 168"/>
                  <a:gd name="T16" fmla="*/ 1 w 58"/>
                  <a:gd name="T17" fmla="*/ 1 h 168"/>
                  <a:gd name="T18" fmla="*/ 1 w 58"/>
                  <a:gd name="T19" fmla="*/ 1 h 168"/>
                  <a:gd name="T20" fmla="*/ 1 w 58"/>
                  <a:gd name="T21" fmla="*/ 0 h 168"/>
                  <a:gd name="T22" fmla="*/ 1 w 58"/>
                  <a:gd name="T23" fmla="*/ 1 h 168"/>
                  <a:gd name="T24" fmla="*/ 1 w 58"/>
                  <a:gd name="T25" fmla="*/ 1 h 168"/>
                  <a:gd name="T26" fmla="*/ 1 w 58"/>
                  <a:gd name="T27" fmla="*/ 1 h 168"/>
                  <a:gd name="T28" fmla="*/ 1 w 58"/>
                  <a:gd name="T29" fmla="*/ 1 h 168"/>
                  <a:gd name="T30" fmla="*/ 1 w 58"/>
                  <a:gd name="T31" fmla="*/ 1 h 168"/>
                  <a:gd name="T32" fmla="*/ 1 w 58"/>
                  <a:gd name="T33" fmla="*/ 1 h 168"/>
                  <a:gd name="T34" fmla="*/ 0 w 58"/>
                  <a:gd name="T35" fmla="*/ 1 h 168"/>
                  <a:gd name="T36" fmla="*/ 0 w 58"/>
                  <a:gd name="T37" fmla="*/ 1 h 168"/>
                  <a:gd name="T38" fmla="*/ 0 w 58"/>
                  <a:gd name="T39" fmla="*/ 1 h 168"/>
                  <a:gd name="T40" fmla="*/ 1 w 58"/>
                  <a:gd name="T41" fmla="*/ 1 h 1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168"/>
                  <a:gd name="T65" fmla="*/ 58 w 58"/>
                  <a:gd name="T66" fmla="*/ 168 h 1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168">
                    <a:moveTo>
                      <a:pt x="22" y="165"/>
                    </a:moveTo>
                    <a:lnTo>
                      <a:pt x="22" y="165"/>
                    </a:lnTo>
                    <a:lnTo>
                      <a:pt x="22" y="149"/>
                    </a:lnTo>
                    <a:lnTo>
                      <a:pt x="25" y="127"/>
                    </a:lnTo>
                    <a:lnTo>
                      <a:pt x="29" y="102"/>
                    </a:lnTo>
                    <a:lnTo>
                      <a:pt x="36" y="79"/>
                    </a:lnTo>
                    <a:lnTo>
                      <a:pt x="43" y="55"/>
                    </a:lnTo>
                    <a:lnTo>
                      <a:pt x="48" y="36"/>
                    </a:lnTo>
                    <a:lnTo>
                      <a:pt x="56" y="22"/>
                    </a:lnTo>
                    <a:lnTo>
                      <a:pt x="58" y="19"/>
                    </a:lnTo>
                    <a:lnTo>
                      <a:pt x="45" y="0"/>
                    </a:lnTo>
                    <a:lnTo>
                      <a:pt x="37" y="13"/>
                    </a:lnTo>
                    <a:lnTo>
                      <a:pt x="29" y="27"/>
                    </a:lnTo>
                    <a:lnTo>
                      <a:pt x="22" y="49"/>
                    </a:lnTo>
                    <a:lnTo>
                      <a:pt x="14" y="72"/>
                    </a:lnTo>
                    <a:lnTo>
                      <a:pt x="7" y="99"/>
                    </a:lnTo>
                    <a:lnTo>
                      <a:pt x="3" y="124"/>
                    </a:lnTo>
                    <a:lnTo>
                      <a:pt x="0" y="146"/>
                    </a:lnTo>
                    <a:lnTo>
                      <a:pt x="0" y="168"/>
                    </a:lnTo>
                    <a:lnTo>
                      <a:pt x="22" y="165"/>
                    </a:lnTo>
                    <a:close/>
                  </a:path>
                </a:pathLst>
              </a:custGeom>
              <a:solidFill>
                <a:srgbClr val="000000"/>
              </a:solidFill>
              <a:ln w="9525">
                <a:noFill/>
                <a:round/>
                <a:headEnd/>
                <a:tailEnd/>
              </a:ln>
            </p:spPr>
            <p:txBody>
              <a:bodyPr/>
              <a:lstStyle/>
              <a:p>
                <a:endParaRPr lang="en-US"/>
              </a:p>
            </p:txBody>
          </p:sp>
          <p:sp>
            <p:nvSpPr>
              <p:cNvPr id="27844" name="Freeform 157"/>
              <p:cNvSpPr>
                <a:spLocks/>
              </p:cNvSpPr>
              <p:nvPr/>
            </p:nvSpPr>
            <p:spPr bwMode="auto">
              <a:xfrm>
                <a:off x="2162" y="3677"/>
                <a:ext cx="24" cy="80"/>
              </a:xfrm>
              <a:custGeom>
                <a:avLst/>
                <a:gdLst>
                  <a:gd name="T0" fmla="*/ 1 w 47"/>
                  <a:gd name="T1" fmla="*/ 1 h 159"/>
                  <a:gd name="T2" fmla="*/ 1 w 47"/>
                  <a:gd name="T3" fmla="*/ 1 h 159"/>
                  <a:gd name="T4" fmla="*/ 1 w 47"/>
                  <a:gd name="T5" fmla="*/ 1 h 159"/>
                  <a:gd name="T6" fmla="*/ 1 w 47"/>
                  <a:gd name="T7" fmla="*/ 1 h 159"/>
                  <a:gd name="T8" fmla="*/ 1 w 47"/>
                  <a:gd name="T9" fmla="*/ 1 h 159"/>
                  <a:gd name="T10" fmla="*/ 1 w 47"/>
                  <a:gd name="T11" fmla="*/ 1 h 159"/>
                  <a:gd name="T12" fmla="*/ 1 w 47"/>
                  <a:gd name="T13" fmla="*/ 1 h 159"/>
                  <a:gd name="T14" fmla="*/ 1 w 47"/>
                  <a:gd name="T15" fmla="*/ 1 h 159"/>
                  <a:gd name="T16" fmla="*/ 1 w 47"/>
                  <a:gd name="T17" fmla="*/ 1 h 159"/>
                  <a:gd name="T18" fmla="*/ 1 w 47"/>
                  <a:gd name="T19" fmla="*/ 0 h 159"/>
                  <a:gd name="T20" fmla="*/ 0 w 47"/>
                  <a:gd name="T21" fmla="*/ 1 h 159"/>
                  <a:gd name="T22" fmla="*/ 1 w 47"/>
                  <a:gd name="T23" fmla="*/ 1 h 159"/>
                  <a:gd name="T24" fmla="*/ 1 w 47"/>
                  <a:gd name="T25" fmla="*/ 1 h 159"/>
                  <a:gd name="T26" fmla="*/ 1 w 47"/>
                  <a:gd name="T27" fmla="*/ 1 h 159"/>
                  <a:gd name="T28" fmla="*/ 1 w 47"/>
                  <a:gd name="T29" fmla="*/ 1 h 159"/>
                  <a:gd name="T30" fmla="*/ 1 w 47"/>
                  <a:gd name="T31" fmla="*/ 1 h 159"/>
                  <a:gd name="T32" fmla="*/ 1 w 47"/>
                  <a:gd name="T33" fmla="*/ 1 h 159"/>
                  <a:gd name="T34" fmla="*/ 1 w 47"/>
                  <a:gd name="T35" fmla="*/ 1 h 159"/>
                  <a:gd name="T36" fmla="*/ 1 w 47"/>
                  <a:gd name="T37" fmla="*/ 1 h 159"/>
                  <a:gd name="T38" fmla="*/ 1 w 47"/>
                  <a:gd name="T39" fmla="*/ 1 h 159"/>
                  <a:gd name="T40" fmla="*/ 1 w 47"/>
                  <a:gd name="T41" fmla="*/ 1 h 1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159"/>
                  <a:gd name="T65" fmla="*/ 47 w 47"/>
                  <a:gd name="T66" fmla="*/ 159 h 15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159">
                    <a:moveTo>
                      <a:pt x="47" y="139"/>
                    </a:moveTo>
                    <a:lnTo>
                      <a:pt x="45" y="137"/>
                    </a:lnTo>
                    <a:lnTo>
                      <a:pt x="47" y="136"/>
                    </a:lnTo>
                    <a:lnTo>
                      <a:pt x="42" y="126"/>
                    </a:lnTo>
                    <a:lnTo>
                      <a:pt x="37" y="108"/>
                    </a:lnTo>
                    <a:lnTo>
                      <a:pt x="32" y="87"/>
                    </a:lnTo>
                    <a:lnTo>
                      <a:pt x="29" y="62"/>
                    </a:lnTo>
                    <a:lnTo>
                      <a:pt x="26" y="39"/>
                    </a:lnTo>
                    <a:lnTo>
                      <a:pt x="23" y="17"/>
                    </a:lnTo>
                    <a:lnTo>
                      <a:pt x="22" y="0"/>
                    </a:lnTo>
                    <a:lnTo>
                      <a:pt x="0" y="3"/>
                    </a:lnTo>
                    <a:lnTo>
                      <a:pt x="1" y="20"/>
                    </a:lnTo>
                    <a:lnTo>
                      <a:pt x="4" y="42"/>
                    </a:lnTo>
                    <a:lnTo>
                      <a:pt x="7" y="65"/>
                    </a:lnTo>
                    <a:lnTo>
                      <a:pt x="11" y="90"/>
                    </a:lnTo>
                    <a:lnTo>
                      <a:pt x="15" y="114"/>
                    </a:lnTo>
                    <a:lnTo>
                      <a:pt x="20" y="133"/>
                    </a:lnTo>
                    <a:lnTo>
                      <a:pt x="28" y="148"/>
                    </a:lnTo>
                    <a:lnTo>
                      <a:pt x="39" y="159"/>
                    </a:lnTo>
                    <a:lnTo>
                      <a:pt x="37" y="158"/>
                    </a:lnTo>
                    <a:lnTo>
                      <a:pt x="47" y="139"/>
                    </a:lnTo>
                    <a:close/>
                  </a:path>
                </a:pathLst>
              </a:custGeom>
              <a:solidFill>
                <a:srgbClr val="000000"/>
              </a:solidFill>
              <a:ln w="9525">
                <a:noFill/>
                <a:round/>
                <a:headEnd/>
                <a:tailEnd/>
              </a:ln>
            </p:spPr>
            <p:txBody>
              <a:bodyPr/>
              <a:lstStyle/>
              <a:p>
                <a:endParaRPr lang="en-US"/>
              </a:p>
            </p:txBody>
          </p:sp>
          <p:sp>
            <p:nvSpPr>
              <p:cNvPr id="27845" name="Freeform 158"/>
              <p:cNvSpPr>
                <a:spLocks/>
              </p:cNvSpPr>
              <p:nvPr/>
            </p:nvSpPr>
            <p:spPr bwMode="auto">
              <a:xfrm>
                <a:off x="2181" y="3736"/>
                <a:ext cx="47" cy="21"/>
              </a:xfrm>
              <a:custGeom>
                <a:avLst/>
                <a:gdLst>
                  <a:gd name="T0" fmla="*/ 1 w 94"/>
                  <a:gd name="T1" fmla="*/ 0 h 42"/>
                  <a:gd name="T2" fmla="*/ 1 w 94"/>
                  <a:gd name="T3" fmla="*/ 0 h 42"/>
                  <a:gd name="T4" fmla="*/ 1 w 94"/>
                  <a:gd name="T5" fmla="*/ 1 h 42"/>
                  <a:gd name="T6" fmla="*/ 1 w 94"/>
                  <a:gd name="T7" fmla="*/ 1 h 42"/>
                  <a:gd name="T8" fmla="*/ 1 w 94"/>
                  <a:gd name="T9" fmla="*/ 1 h 42"/>
                  <a:gd name="T10" fmla="*/ 1 w 94"/>
                  <a:gd name="T11" fmla="*/ 1 h 42"/>
                  <a:gd name="T12" fmla="*/ 1 w 94"/>
                  <a:gd name="T13" fmla="*/ 1 h 42"/>
                  <a:gd name="T14" fmla="*/ 1 w 94"/>
                  <a:gd name="T15" fmla="*/ 1 h 42"/>
                  <a:gd name="T16" fmla="*/ 1 w 94"/>
                  <a:gd name="T17" fmla="*/ 1 h 42"/>
                  <a:gd name="T18" fmla="*/ 1 w 94"/>
                  <a:gd name="T19" fmla="*/ 1 h 42"/>
                  <a:gd name="T20" fmla="*/ 0 w 94"/>
                  <a:gd name="T21" fmla="*/ 1 h 42"/>
                  <a:gd name="T22" fmla="*/ 1 w 94"/>
                  <a:gd name="T23" fmla="*/ 1 h 42"/>
                  <a:gd name="T24" fmla="*/ 1 w 94"/>
                  <a:gd name="T25" fmla="*/ 1 h 42"/>
                  <a:gd name="T26" fmla="*/ 1 w 94"/>
                  <a:gd name="T27" fmla="*/ 1 h 42"/>
                  <a:gd name="T28" fmla="*/ 1 w 94"/>
                  <a:gd name="T29" fmla="*/ 1 h 42"/>
                  <a:gd name="T30" fmla="*/ 1 w 94"/>
                  <a:gd name="T31" fmla="*/ 1 h 42"/>
                  <a:gd name="T32" fmla="*/ 1 w 94"/>
                  <a:gd name="T33" fmla="*/ 1 h 42"/>
                  <a:gd name="T34" fmla="*/ 1 w 94"/>
                  <a:gd name="T35" fmla="*/ 1 h 42"/>
                  <a:gd name="T36" fmla="*/ 1 w 94"/>
                  <a:gd name="T37" fmla="*/ 1 h 42"/>
                  <a:gd name="T38" fmla="*/ 1 w 94"/>
                  <a:gd name="T39" fmla="*/ 1 h 42"/>
                  <a:gd name="T40" fmla="*/ 1 w 94"/>
                  <a:gd name="T41" fmla="*/ 0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42"/>
                  <a:gd name="T65" fmla="*/ 94 w 94"/>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42">
                    <a:moveTo>
                      <a:pt x="83" y="0"/>
                    </a:moveTo>
                    <a:lnTo>
                      <a:pt x="82" y="0"/>
                    </a:lnTo>
                    <a:lnTo>
                      <a:pt x="77" y="3"/>
                    </a:lnTo>
                    <a:lnTo>
                      <a:pt x="69" y="6"/>
                    </a:lnTo>
                    <a:lnTo>
                      <a:pt x="57" y="9"/>
                    </a:lnTo>
                    <a:lnTo>
                      <a:pt x="42" y="14"/>
                    </a:lnTo>
                    <a:lnTo>
                      <a:pt x="30" y="17"/>
                    </a:lnTo>
                    <a:lnTo>
                      <a:pt x="19" y="20"/>
                    </a:lnTo>
                    <a:lnTo>
                      <a:pt x="11" y="20"/>
                    </a:lnTo>
                    <a:lnTo>
                      <a:pt x="10" y="22"/>
                    </a:lnTo>
                    <a:lnTo>
                      <a:pt x="0" y="41"/>
                    </a:lnTo>
                    <a:lnTo>
                      <a:pt x="11" y="42"/>
                    </a:lnTo>
                    <a:lnTo>
                      <a:pt x="22" y="42"/>
                    </a:lnTo>
                    <a:lnTo>
                      <a:pt x="36" y="39"/>
                    </a:lnTo>
                    <a:lnTo>
                      <a:pt x="49" y="36"/>
                    </a:lnTo>
                    <a:lnTo>
                      <a:pt x="63" y="31"/>
                    </a:lnTo>
                    <a:lnTo>
                      <a:pt x="75" y="28"/>
                    </a:lnTo>
                    <a:lnTo>
                      <a:pt x="86" y="22"/>
                    </a:lnTo>
                    <a:lnTo>
                      <a:pt x="94" y="19"/>
                    </a:lnTo>
                    <a:lnTo>
                      <a:pt x="93" y="19"/>
                    </a:lnTo>
                    <a:lnTo>
                      <a:pt x="83" y="0"/>
                    </a:lnTo>
                    <a:close/>
                  </a:path>
                </a:pathLst>
              </a:custGeom>
              <a:solidFill>
                <a:srgbClr val="000000"/>
              </a:solidFill>
              <a:ln w="9525">
                <a:noFill/>
                <a:round/>
                <a:headEnd/>
                <a:tailEnd/>
              </a:ln>
            </p:spPr>
            <p:txBody>
              <a:bodyPr/>
              <a:lstStyle/>
              <a:p>
                <a:endParaRPr lang="en-US"/>
              </a:p>
            </p:txBody>
          </p:sp>
          <p:sp>
            <p:nvSpPr>
              <p:cNvPr id="27846" name="Freeform 159"/>
              <p:cNvSpPr>
                <a:spLocks/>
              </p:cNvSpPr>
              <p:nvPr/>
            </p:nvSpPr>
            <p:spPr bwMode="auto">
              <a:xfrm>
                <a:off x="2086" y="3813"/>
                <a:ext cx="162" cy="77"/>
              </a:xfrm>
              <a:custGeom>
                <a:avLst/>
                <a:gdLst>
                  <a:gd name="T0" fmla="*/ 0 w 326"/>
                  <a:gd name="T1" fmla="*/ 0 h 155"/>
                  <a:gd name="T2" fmla="*/ 0 w 326"/>
                  <a:gd name="T3" fmla="*/ 0 h 155"/>
                  <a:gd name="T4" fmla="*/ 0 w 326"/>
                  <a:gd name="T5" fmla="*/ 0 h 155"/>
                  <a:gd name="T6" fmla="*/ 0 w 326"/>
                  <a:gd name="T7" fmla="*/ 0 h 155"/>
                  <a:gd name="T8" fmla="*/ 0 w 326"/>
                  <a:gd name="T9" fmla="*/ 0 h 155"/>
                  <a:gd name="T10" fmla="*/ 0 w 326"/>
                  <a:gd name="T11" fmla="*/ 0 h 155"/>
                  <a:gd name="T12" fmla="*/ 0 w 326"/>
                  <a:gd name="T13" fmla="*/ 0 h 155"/>
                  <a:gd name="T14" fmla="*/ 0 w 326"/>
                  <a:gd name="T15" fmla="*/ 0 h 155"/>
                  <a:gd name="T16" fmla="*/ 0 w 326"/>
                  <a:gd name="T17" fmla="*/ 0 h 155"/>
                  <a:gd name="T18" fmla="*/ 0 w 326"/>
                  <a:gd name="T19" fmla="*/ 0 h 155"/>
                  <a:gd name="T20" fmla="*/ 0 w 326"/>
                  <a:gd name="T21" fmla="*/ 0 h 155"/>
                  <a:gd name="T22" fmla="*/ 0 w 326"/>
                  <a:gd name="T23" fmla="*/ 0 h 155"/>
                  <a:gd name="T24" fmla="*/ 0 w 326"/>
                  <a:gd name="T25" fmla="*/ 0 h 155"/>
                  <a:gd name="T26" fmla="*/ 0 w 326"/>
                  <a:gd name="T27" fmla="*/ 0 h 155"/>
                  <a:gd name="T28" fmla="*/ 0 w 326"/>
                  <a:gd name="T29" fmla="*/ 0 h 15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6"/>
                  <a:gd name="T46" fmla="*/ 0 h 155"/>
                  <a:gd name="T47" fmla="*/ 326 w 326"/>
                  <a:gd name="T48" fmla="*/ 155 h 15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6" h="155">
                    <a:moveTo>
                      <a:pt x="144" y="32"/>
                    </a:moveTo>
                    <a:lnTo>
                      <a:pt x="0" y="0"/>
                    </a:lnTo>
                    <a:lnTo>
                      <a:pt x="0" y="21"/>
                    </a:lnTo>
                    <a:lnTo>
                      <a:pt x="118" y="61"/>
                    </a:lnTo>
                    <a:lnTo>
                      <a:pt x="49" y="155"/>
                    </a:lnTo>
                    <a:lnTo>
                      <a:pt x="71" y="155"/>
                    </a:lnTo>
                    <a:lnTo>
                      <a:pt x="160" y="75"/>
                    </a:lnTo>
                    <a:lnTo>
                      <a:pt x="165" y="75"/>
                    </a:lnTo>
                    <a:lnTo>
                      <a:pt x="254" y="155"/>
                    </a:lnTo>
                    <a:lnTo>
                      <a:pt x="276" y="155"/>
                    </a:lnTo>
                    <a:lnTo>
                      <a:pt x="208" y="61"/>
                    </a:lnTo>
                    <a:lnTo>
                      <a:pt x="326" y="21"/>
                    </a:lnTo>
                    <a:lnTo>
                      <a:pt x="326" y="0"/>
                    </a:lnTo>
                    <a:lnTo>
                      <a:pt x="180" y="32"/>
                    </a:lnTo>
                    <a:lnTo>
                      <a:pt x="144" y="32"/>
                    </a:lnTo>
                    <a:close/>
                  </a:path>
                </a:pathLst>
              </a:custGeom>
              <a:solidFill>
                <a:srgbClr val="FF7226"/>
              </a:solidFill>
              <a:ln w="9525">
                <a:noFill/>
                <a:round/>
                <a:headEnd/>
                <a:tailEnd/>
              </a:ln>
            </p:spPr>
            <p:txBody>
              <a:bodyPr/>
              <a:lstStyle/>
              <a:p>
                <a:endParaRPr lang="en-US"/>
              </a:p>
            </p:txBody>
          </p:sp>
          <p:sp>
            <p:nvSpPr>
              <p:cNvPr id="27847" name="Freeform 160"/>
              <p:cNvSpPr>
                <a:spLocks/>
              </p:cNvSpPr>
              <p:nvPr/>
            </p:nvSpPr>
            <p:spPr bwMode="auto">
              <a:xfrm>
                <a:off x="2080" y="3807"/>
                <a:ext cx="78" cy="27"/>
              </a:xfrm>
              <a:custGeom>
                <a:avLst/>
                <a:gdLst>
                  <a:gd name="T0" fmla="*/ 0 w 157"/>
                  <a:gd name="T1" fmla="*/ 1 h 54"/>
                  <a:gd name="T2" fmla="*/ 0 w 157"/>
                  <a:gd name="T3" fmla="*/ 1 h 54"/>
                  <a:gd name="T4" fmla="*/ 0 w 157"/>
                  <a:gd name="T5" fmla="*/ 1 h 54"/>
                  <a:gd name="T6" fmla="*/ 0 w 157"/>
                  <a:gd name="T7" fmla="*/ 1 h 54"/>
                  <a:gd name="T8" fmla="*/ 0 w 157"/>
                  <a:gd name="T9" fmla="*/ 0 h 54"/>
                  <a:gd name="T10" fmla="*/ 0 w 157"/>
                  <a:gd name="T11" fmla="*/ 1 h 54"/>
                  <a:gd name="T12" fmla="*/ 0 w 157"/>
                  <a:gd name="T13" fmla="*/ 0 h 54"/>
                  <a:gd name="T14" fmla="*/ 0 w 157"/>
                  <a:gd name="T15" fmla="*/ 1 h 54"/>
                  <a:gd name="T16" fmla="*/ 0 w 157"/>
                  <a:gd name="T17" fmla="*/ 1 h 54"/>
                  <a:gd name="T18" fmla="*/ 0 w 157"/>
                  <a:gd name="T19" fmla="*/ 1 h 54"/>
                  <a:gd name="T20" fmla="*/ 0 w 157"/>
                  <a:gd name="T21" fmla="*/ 1 h 54"/>
                  <a:gd name="T22" fmla="*/ 0 w 157"/>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7"/>
                  <a:gd name="T37" fmla="*/ 0 h 54"/>
                  <a:gd name="T38" fmla="*/ 157 w 157"/>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7" h="54">
                    <a:moveTo>
                      <a:pt x="22" y="11"/>
                    </a:moveTo>
                    <a:lnTo>
                      <a:pt x="10" y="22"/>
                    </a:lnTo>
                    <a:lnTo>
                      <a:pt x="154" y="54"/>
                    </a:lnTo>
                    <a:lnTo>
                      <a:pt x="157" y="32"/>
                    </a:lnTo>
                    <a:lnTo>
                      <a:pt x="13" y="0"/>
                    </a:lnTo>
                    <a:lnTo>
                      <a:pt x="0" y="11"/>
                    </a:lnTo>
                    <a:lnTo>
                      <a:pt x="13" y="0"/>
                    </a:lnTo>
                    <a:lnTo>
                      <a:pt x="5" y="4"/>
                    </a:lnTo>
                    <a:lnTo>
                      <a:pt x="0" y="10"/>
                    </a:lnTo>
                    <a:lnTo>
                      <a:pt x="2" y="18"/>
                    </a:lnTo>
                    <a:lnTo>
                      <a:pt x="10" y="22"/>
                    </a:lnTo>
                    <a:lnTo>
                      <a:pt x="22" y="11"/>
                    </a:lnTo>
                    <a:close/>
                  </a:path>
                </a:pathLst>
              </a:custGeom>
              <a:solidFill>
                <a:srgbClr val="000000"/>
              </a:solidFill>
              <a:ln w="9525">
                <a:noFill/>
                <a:round/>
                <a:headEnd/>
                <a:tailEnd/>
              </a:ln>
            </p:spPr>
            <p:txBody>
              <a:bodyPr/>
              <a:lstStyle/>
              <a:p>
                <a:endParaRPr lang="en-US"/>
              </a:p>
            </p:txBody>
          </p:sp>
          <p:sp>
            <p:nvSpPr>
              <p:cNvPr id="27848" name="Freeform 161"/>
              <p:cNvSpPr>
                <a:spLocks/>
              </p:cNvSpPr>
              <p:nvPr/>
            </p:nvSpPr>
            <p:spPr bwMode="auto">
              <a:xfrm>
                <a:off x="2080" y="3813"/>
                <a:ext cx="11" cy="15"/>
              </a:xfrm>
              <a:custGeom>
                <a:avLst/>
                <a:gdLst>
                  <a:gd name="T0" fmla="*/ 1 w 22"/>
                  <a:gd name="T1" fmla="*/ 0 h 32"/>
                  <a:gd name="T2" fmla="*/ 1 w 22"/>
                  <a:gd name="T3" fmla="*/ 0 h 32"/>
                  <a:gd name="T4" fmla="*/ 1 w 22"/>
                  <a:gd name="T5" fmla="*/ 0 h 32"/>
                  <a:gd name="T6" fmla="*/ 0 w 22"/>
                  <a:gd name="T7" fmla="*/ 0 h 32"/>
                  <a:gd name="T8" fmla="*/ 0 w 22"/>
                  <a:gd name="T9" fmla="*/ 0 h 32"/>
                  <a:gd name="T10" fmla="*/ 1 w 22"/>
                  <a:gd name="T11" fmla="*/ 0 h 32"/>
                  <a:gd name="T12" fmla="*/ 0 w 22"/>
                  <a:gd name="T13" fmla="*/ 0 h 32"/>
                  <a:gd name="T14" fmla="*/ 1 w 22"/>
                  <a:gd name="T15" fmla="*/ 0 h 32"/>
                  <a:gd name="T16" fmla="*/ 1 w 22"/>
                  <a:gd name="T17" fmla="*/ 0 h 32"/>
                  <a:gd name="T18" fmla="*/ 1 w 22"/>
                  <a:gd name="T19" fmla="*/ 0 h 32"/>
                  <a:gd name="T20" fmla="*/ 1 w 22"/>
                  <a:gd name="T21" fmla="*/ 0 h 32"/>
                  <a:gd name="T22" fmla="*/ 1 w 22"/>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4" y="10"/>
                    </a:moveTo>
                    <a:lnTo>
                      <a:pt x="22" y="21"/>
                    </a:lnTo>
                    <a:lnTo>
                      <a:pt x="22" y="0"/>
                    </a:lnTo>
                    <a:lnTo>
                      <a:pt x="0" y="0"/>
                    </a:lnTo>
                    <a:lnTo>
                      <a:pt x="0" y="21"/>
                    </a:lnTo>
                    <a:lnTo>
                      <a:pt x="8" y="32"/>
                    </a:lnTo>
                    <a:lnTo>
                      <a:pt x="0" y="21"/>
                    </a:lnTo>
                    <a:lnTo>
                      <a:pt x="3" y="28"/>
                    </a:lnTo>
                    <a:lnTo>
                      <a:pt x="11" y="32"/>
                    </a:lnTo>
                    <a:lnTo>
                      <a:pt x="19" y="28"/>
                    </a:lnTo>
                    <a:lnTo>
                      <a:pt x="22" y="21"/>
                    </a:lnTo>
                    <a:lnTo>
                      <a:pt x="14" y="10"/>
                    </a:lnTo>
                    <a:close/>
                  </a:path>
                </a:pathLst>
              </a:custGeom>
              <a:solidFill>
                <a:srgbClr val="000000"/>
              </a:solidFill>
              <a:ln w="9525">
                <a:noFill/>
                <a:round/>
                <a:headEnd/>
                <a:tailEnd/>
              </a:ln>
            </p:spPr>
            <p:txBody>
              <a:bodyPr/>
              <a:lstStyle/>
              <a:p>
                <a:endParaRPr lang="en-US"/>
              </a:p>
            </p:txBody>
          </p:sp>
          <p:sp>
            <p:nvSpPr>
              <p:cNvPr id="27849" name="Freeform 162"/>
              <p:cNvSpPr>
                <a:spLocks/>
              </p:cNvSpPr>
              <p:nvPr/>
            </p:nvSpPr>
            <p:spPr bwMode="auto">
              <a:xfrm>
                <a:off x="2084" y="3817"/>
                <a:ext cx="66" cy="32"/>
              </a:xfrm>
              <a:custGeom>
                <a:avLst/>
                <a:gdLst>
                  <a:gd name="T0" fmla="*/ 1 w 132"/>
                  <a:gd name="T1" fmla="*/ 1 h 62"/>
                  <a:gd name="T2" fmla="*/ 1 w 132"/>
                  <a:gd name="T3" fmla="*/ 1 h 62"/>
                  <a:gd name="T4" fmla="*/ 1 w 132"/>
                  <a:gd name="T5" fmla="*/ 0 h 62"/>
                  <a:gd name="T6" fmla="*/ 0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1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30" y="58"/>
                    </a:moveTo>
                    <a:lnTo>
                      <a:pt x="124" y="40"/>
                    </a:lnTo>
                    <a:lnTo>
                      <a:pt x="6" y="0"/>
                    </a:lnTo>
                    <a:lnTo>
                      <a:pt x="0" y="22"/>
                    </a:lnTo>
                    <a:lnTo>
                      <a:pt x="117" y="62"/>
                    </a:lnTo>
                    <a:lnTo>
                      <a:pt x="111" y="45"/>
                    </a:lnTo>
                    <a:lnTo>
                      <a:pt x="117" y="62"/>
                    </a:lnTo>
                    <a:lnTo>
                      <a:pt x="127" y="61"/>
                    </a:lnTo>
                    <a:lnTo>
                      <a:pt x="132" y="53"/>
                    </a:lnTo>
                    <a:lnTo>
                      <a:pt x="130" y="45"/>
                    </a:lnTo>
                    <a:lnTo>
                      <a:pt x="124" y="40"/>
                    </a:lnTo>
                    <a:lnTo>
                      <a:pt x="130" y="58"/>
                    </a:lnTo>
                    <a:close/>
                  </a:path>
                </a:pathLst>
              </a:custGeom>
              <a:solidFill>
                <a:srgbClr val="000000"/>
              </a:solidFill>
              <a:ln w="9525">
                <a:noFill/>
                <a:round/>
                <a:headEnd/>
                <a:tailEnd/>
              </a:ln>
            </p:spPr>
            <p:txBody>
              <a:bodyPr/>
              <a:lstStyle/>
              <a:p>
                <a:endParaRPr lang="en-US"/>
              </a:p>
            </p:txBody>
          </p:sp>
          <p:sp>
            <p:nvSpPr>
              <p:cNvPr id="27850" name="Freeform 163"/>
              <p:cNvSpPr>
                <a:spLocks/>
              </p:cNvSpPr>
              <p:nvPr/>
            </p:nvSpPr>
            <p:spPr bwMode="auto">
              <a:xfrm>
                <a:off x="2104" y="3840"/>
                <a:ext cx="45" cy="56"/>
              </a:xfrm>
              <a:custGeom>
                <a:avLst/>
                <a:gdLst>
                  <a:gd name="T0" fmla="*/ 1 w 89"/>
                  <a:gd name="T1" fmla="*/ 1 h 111"/>
                  <a:gd name="T2" fmla="*/ 1 w 89"/>
                  <a:gd name="T3" fmla="*/ 1 h 111"/>
                  <a:gd name="T4" fmla="*/ 1 w 89"/>
                  <a:gd name="T5" fmla="*/ 1 h 111"/>
                  <a:gd name="T6" fmla="*/ 1 w 89"/>
                  <a:gd name="T7" fmla="*/ 0 h 111"/>
                  <a:gd name="T8" fmla="*/ 1 w 89"/>
                  <a:gd name="T9" fmla="*/ 1 h 111"/>
                  <a:gd name="T10" fmla="*/ 1 w 89"/>
                  <a:gd name="T11" fmla="*/ 1 h 111"/>
                  <a:gd name="T12" fmla="*/ 1 w 89"/>
                  <a:gd name="T13" fmla="*/ 1 h 111"/>
                  <a:gd name="T14" fmla="*/ 0 w 89"/>
                  <a:gd name="T15" fmla="*/ 1 h 111"/>
                  <a:gd name="T16" fmla="*/ 1 w 89"/>
                  <a:gd name="T17" fmla="*/ 1 h 111"/>
                  <a:gd name="T18" fmla="*/ 1 w 89"/>
                  <a:gd name="T19" fmla="*/ 1 h 111"/>
                  <a:gd name="T20" fmla="*/ 1 w 89"/>
                  <a:gd name="T21" fmla="*/ 1 h 111"/>
                  <a:gd name="T22" fmla="*/ 1 w 89"/>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9"/>
                  <a:gd name="T37" fmla="*/ 0 h 111"/>
                  <a:gd name="T38" fmla="*/ 89 w 89"/>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9" h="111">
                    <a:moveTo>
                      <a:pt x="11" y="89"/>
                    </a:moveTo>
                    <a:lnTo>
                      <a:pt x="20" y="106"/>
                    </a:lnTo>
                    <a:lnTo>
                      <a:pt x="89" y="13"/>
                    </a:lnTo>
                    <a:lnTo>
                      <a:pt x="70" y="0"/>
                    </a:lnTo>
                    <a:lnTo>
                      <a:pt x="1" y="94"/>
                    </a:lnTo>
                    <a:lnTo>
                      <a:pt x="11" y="111"/>
                    </a:lnTo>
                    <a:lnTo>
                      <a:pt x="1" y="94"/>
                    </a:lnTo>
                    <a:lnTo>
                      <a:pt x="0" y="103"/>
                    </a:lnTo>
                    <a:lnTo>
                      <a:pt x="4" y="110"/>
                    </a:lnTo>
                    <a:lnTo>
                      <a:pt x="12" y="111"/>
                    </a:lnTo>
                    <a:lnTo>
                      <a:pt x="20" y="106"/>
                    </a:lnTo>
                    <a:lnTo>
                      <a:pt x="11" y="89"/>
                    </a:lnTo>
                    <a:close/>
                  </a:path>
                </a:pathLst>
              </a:custGeom>
              <a:solidFill>
                <a:srgbClr val="000000"/>
              </a:solidFill>
              <a:ln w="9525">
                <a:noFill/>
                <a:round/>
                <a:headEnd/>
                <a:tailEnd/>
              </a:ln>
            </p:spPr>
            <p:txBody>
              <a:bodyPr/>
              <a:lstStyle/>
              <a:p>
                <a:endParaRPr lang="en-US"/>
              </a:p>
            </p:txBody>
          </p:sp>
          <p:sp>
            <p:nvSpPr>
              <p:cNvPr id="27851" name="Freeform 164"/>
              <p:cNvSpPr>
                <a:spLocks/>
              </p:cNvSpPr>
              <p:nvPr/>
            </p:nvSpPr>
            <p:spPr bwMode="auto">
              <a:xfrm>
                <a:off x="2110" y="3885"/>
                <a:ext cx="16" cy="11"/>
              </a:xfrm>
              <a:custGeom>
                <a:avLst/>
                <a:gdLst>
                  <a:gd name="T0" fmla="*/ 0 w 33"/>
                  <a:gd name="T1" fmla="*/ 1 h 22"/>
                  <a:gd name="T2" fmla="*/ 0 w 33"/>
                  <a:gd name="T3" fmla="*/ 0 h 22"/>
                  <a:gd name="T4" fmla="*/ 0 w 33"/>
                  <a:gd name="T5" fmla="*/ 0 h 22"/>
                  <a:gd name="T6" fmla="*/ 0 w 33"/>
                  <a:gd name="T7" fmla="*/ 1 h 22"/>
                  <a:gd name="T8" fmla="*/ 0 w 33"/>
                  <a:gd name="T9" fmla="*/ 1 h 22"/>
                  <a:gd name="T10" fmla="*/ 0 w 33"/>
                  <a:gd name="T11" fmla="*/ 1 h 22"/>
                  <a:gd name="T12" fmla="*/ 0 w 33"/>
                  <a:gd name="T13" fmla="*/ 1 h 22"/>
                  <a:gd name="T14" fmla="*/ 0 w 33"/>
                  <a:gd name="T15" fmla="*/ 1 h 22"/>
                  <a:gd name="T16" fmla="*/ 0 w 33"/>
                  <a:gd name="T17" fmla="*/ 1 h 22"/>
                  <a:gd name="T18" fmla="*/ 0 w 33"/>
                  <a:gd name="T19" fmla="*/ 1 h 22"/>
                  <a:gd name="T20" fmla="*/ 0 w 33"/>
                  <a:gd name="T21" fmla="*/ 0 h 22"/>
                  <a:gd name="T22" fmla="*/ 0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4" y="3"/>
                    </a:moveTo>
                    <a:lnTo>
                      <a:pt x="22" y="0"/>
                    </a:lnTo>
                    <a:lnTo>
                      <a:pt x="0" y="0"/>
                    </a:lnTo>
                    <a:lnTo>
                      <a:pt x="0" y="22"/>
                    </a:lnTo>
                    <a:lnTo>
                      <a:pt x="22" y="22"/>
                    </a:lnTo>
                    <a:lnTo>
                      <a:pt x="29" y="19"/>
                    </a:lnTo>
                    <a:lnTo>
                      <a:pt x="22" y="22"/>
                    </a:lnTo>
                    <a:lnTo>
                      <a:pt x="29" y="19"/>
                    </a:lnTo>
                    <a:lnTo>
                      <a:pt x="33" y="11"/>
                    </a:lnTo>
                    <a:lnTo>
                      <a:pt x="29" y="3"/>
                    </a:lnTo>
                    <a:lnTo>
                      <a:pt x="22" y="0"/>
                    </a:lnTo>
                    <a:lnTo>
                      <a:pt x="14" y="3"/>
                    </a:lnTo>
                    <a:close/>
                  </a:path>
                </a:pathLst>
              </a:custGeom>
              <a:solidFill>
                <a:srgbClr val="000000"/>
              </a:solidFill>
              <a:ln w="9525">
                <a:noFill/>
                <a:round/>
                <a:headEnd/>
                <a:tailEnd/>
              </a:ln>
            </p:spPr>
            <p:txBody>
              <a:bodyPr/>
              <a:lstStyle/>
              <a:p>
                <a:endParaRPr lang="en-US"/>
              </a:p>
            </p:txBody>
          </p:sp>
          <p:sp>
            <p:nvSpPr>
              <p:cNvPr id="27852" name="Freeform 165"/>
              <p:cNvSpPr>
                <a:spLocks/>
              </p:cNvSpPr>
              <p:nvPr/>
            </p:nvSpPr>
            <p:spPr bwMode="auto">
              <a:xfrm>
                <a:off x="2117" y="3845"/>
                <a:ext cx="54" cy="49"/>
              </a:xfrm>
              <a:custGeom>
                <a:avLst/>
                <a:gdLst>
                  <a:gd name="T0" fmla="*/ 1 w 108"/>
                  <a:gd name="T1" fmla="*/ 0 h 99"/>
                  <a:gd name="T2" fmla="*/ 1 w 108"/>
                  <a:gd name="T3" fmla="*/ 0 h 99"/>
                  <a:gd name="T4" fmla="*/ 0 w 108"/>
                  <a:gd name="T5" fmla="*/ 0 h 99"/>
                  <a:gd name="T6" fmla="*/ 1 w 108"/>
                  <a:gd name="T7" fmla="*/ 0 h 99"/>
                  <a:gd name="T8" fmla="*/ 1 w 108"/>
                  <a:gd name="T9" fmla="*/ 0 h 99"/>
                  <a:gd name="T10" fmla="*/ 1 w 108"/>
                  <a:gd name="T11" fmla="*/ 0 h 99"/>
                  <a:gd name="T12" fmla="*/ 1 w 108"/>
                  <a:gd name="T13" fmla="*/ 0 h 99"/>
                  <a:gd name="T14" fmla="*/ 1 w 108"/>
                  <a:gd name="T15" fmla="*/ 0 h 99"/>
                  <a:gd name="T16" fmla="*/ 1 w 108"/>
                  <a:gd name="T17" fmla="*/ 0 h 99"/>
                  <a:gd name="T18" fmla="*/ 1 w 108"/>
                  <a:gd name="T19" fmla="*/ 0 h 99"/>
                  <a:gd name="T20" fmla="*/ 1 w 108"/>
                  <a:gd name="T21" fmla="*/ 0 h 99"/>
                  <a:gd name="T22" fmla="*/ 1 w 108"/>
                  <a:gd name="T23" fmla="*/ 0 h 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9"/>
                  <a:gd name="T38" fmla="*/ 108 w 108"/>
                  <a:gd name="T39" fmla="*/ 99 h 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9">
                    <a:moveTo>
                      <a:pt x="97" y="0"/>
                    </a:moveTo>
                    <a:lnTo>
                      <a:pt x="89" y="4"/>
                    </a:lnTo>
                    <a:lnTo>
                      <a:pt x="0" y="83"/>
                    </a:lnTo>
                    <a:lnTo>
                      <a:pt x="15" y="99"/>
                    </a:lnTo>
                    <a:lnTo>
                      <a:pt x="105" y="19"/>
                    </a:lnTo>
                    <a:lnTo>
                      <a:pt x="97" y="22"/>
                    </a:lnTo>
                    <a:lnTo>
                      <a:pt x="105" y="19"/>
                    </a:lnTo>
                    <a:lnTo>
                      <a:pt x="108" y="11"/>
                    </a:lnTo>
                    <a:lnTo>
                      <a:pt x="105" y="4"/>
                    </a:lnTo>
                    <a:lnTo>
                      <a:pt x="97" y="0"/>
                    </a:lnTo>
                    <a:lnTo>
                      <a:pt x="89" y="4"/>
                    </a:lnTo>
                    <a:lnTo>
                      <a:pt x="97" y="0"/>
                    </a:lnTo>
                    <a:close/>
                  </a:path>
                </a:pathLst>
              </a:custGeom>
              <a:solidFill>
                <a:srgbClr val="000000"/>
              </a:solidFill>
              <a:ln w="9525">
                <a:noFill/>
                <a:round/>
                <a:headEnd/>
                <a:tailEnd/>
              </a:ln>
            </p:spPr>
            <p:txBody>
              <a:bodyPr/>
              <a:lstStyle/>
              <a:p>
                <a:endParaRPr lang="en-US"/>
              </a:p>
            </p:txBody>
          </p:sp>
          <p:sp>
            <p:nvSpPr>
              <p:cNvPr id="27853" name="Freeform 166"/>
              <p:cNvSpPr>
                <a:spLocks/>
              </p:cNvSpPr>
              <p:nvPr/>
            </p:nvSpPr>
            <p:spPr bwMode="auto">
              <a:xfrm>
                <a:off x="2164" y="3845"/>
                <a:ext cx="9" cy="11"/>
              </a:xfrm>
              <a:custGeom>
                <a:avLst/>
                <a:gdLst>
                  <a:gd name="T0" fmla="*/ 0 w 19"/>
                  <a:gd name="T1" fmla="*/ 1 h 22"/>
                  <a:gd name="T2" fmla="*/ 0 w 19"/>
                  <a:gd name="T3" fmla="*/ 0 h 22"/>
                  <a:gd name="T4" fmla="*/ 0 w 19"/>
                  <a:gd name="T5" fmla="*/ 0 h 22"/>
                  <a:gd name="T6" fmla="*/ 0 w 19"/>
                  <a:gd name="T7" fmla="*/ 1 h 22"/>
                  <a:gd name="T8" fmla="*/ 0 w 19"/>
                  <a:gd name="T9" fmla="*/ 1 h 22"/>
                  <a:gd name="T10" fmla="*/ 0 w 19"/>
                  <a:gd name="T11" fmla="*/ 1 h 22"/>
                  <a:gd name="T12" fmla="*/ 0 w 19"/>
                  <a:gd name="T13" fmla="*/ 1 h 22"/>
                  <a:gd name="T14" fmla="*/ 0 w 19"/>
                  <a:gd name="T15" fmla="*/ 1 h 22"/>
                  <a:gd name="T16" fmla="*/ 0 w 19"/>
                  <a:gd name="T17" fmla="*/ 1 h 22"/>
                  <a:gd name="T18" fmla="*/ 0 w 19"/>
                  <a:gd name="T19" fmla="*/ 1 h 22"/>
                  <a:gd name="T20" fmla="*/ 0 w 19"/>
                  <a:gd name="T21" fmla="*/ 0 h 22"/>
                  <a:gd name="T22" fmla="*/ 0 w 19"/>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2"/>
                  <a:gd name="T38" fmla="*/ 19 w 19"/>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2">
                    <a:moveTo>
                      <a:pt x="15" y="4"/>
                    </a:moveTo>
                    <a:lnTo>
                      <a:pt x="8" y="0"/>
                    </a:lnTo>
                    <a:lnTo>
                      <a:pt x="3" y="0"/>
                    </a:lnTo>
                    <a:lnTo>
                      <a:pt x="3" y="22"/>
                    </a:lnTo>
                    <a:lnTo>
                      <a:pt x="8" y="22"/>
                    </a:lnTo>
                    <a:lnTo>
                      <a:pt x="0" y="19"/>
                    </a:lnTo>
                    <a:lnTo>
                      <a:pt x="8" y="22"/>
                    </a:lnTo>
                    <a:lnTo>
                      <a:pt x="15" y="19"/>
                    </a:lnTo>
                    <a:lnTo>
                      <a:pt x="19" y="11"/>
                    </a:lnTo>
                    <a:lnTo>
                      <a:pt x="15" y="4"/>
                    </a:lnTo>
                    <a:lnTo>
                      <a:pt x="8" y="0"/>
                    </a:lnTo>
                    <a:lnTo>
                      <a:pt x="15" y="4"/>
                    </a:lnTo>
                    <a:close/>
                  </a:path>
                </a:pathLst>
              </a:custGeom>
              <a:solidFill>
                <a:srgbClr val="000000"/>
              </a:solidFill>
              <a:ln w="9525">
                <a:noFill/>
                <a:round/>
                <a:headEnd/>
                <a:tailEnd/>
              </a:ln>
            </p:spPr>
            <p:txBody>
              <a:bodyPr/>
              <a:lstStyle/>
              <a:p>
                <a:endParaRPr lang="en-US"/>
              </a:p>
            </p:txBody>
          </p:sp>
          <p:sp>
            <p:nvSpPr>
              <p:cNvPr id="27854" name="Freeform 167"/>
              <p:cNvSpPr>
                <a:spLocks/>
              </p:cNvSpPr>
              <p:nvPr/>
            </p:nvSpPr>
            <p:spPr bwMode="auto">
              <a:xfrm>
                <a:off x="2164" y="3846"/>
                <a:ext cx="54" cy="50"/>
              </a:xfrm>
              <a:custGeom>
                <a:avLst/>
                <a:gdLst>
                  <a:gd name="T0" fmla="*/ 1 w 108"/>
                  <a:gd name="T1" fmla="*/ 1 h 98"/>
                  <a:gd name="T2" fmla="*/ 1 w 108"/>
                  <a:gd name="T3" fmla="*/ 1 h 98"/>
                  <a:gd name="T4" fmla="*/ 1 w 108"/>
                  <a:gd name="T5" fmla="*/ 0 h 98"/>
                  <a:gd name="T6" fmla="*/ 0 w 108"/>
                  <a:gd name="T7" fmla="*/ 1 h 98"/>
                  <a:gd name="T8" fmla="*/ 1 w 108"/>
                  <a:gd name="T9" fmla="*/ 1 h 98"/>
                  <a:gd name="T10" fmla="*/ 1 w 108"/>
                  <a:gd name="T11" fmla="*/ 1 h 98"/>
                  <a:gd name="T12" fmla="*/ 1 w 108"/>
                  <a:gd name="T13" fmla="*/ 1 h 98"/>
                  <a:gd name="T14" fmla="*/ 1 w 108"/>
                  <a:gd name="T15" fmla="*/ 1 h 98"/>
                  <a:gd name="T16" fmla="*/ 1 w 108"/>
                  <a:gd name="T17" fmla="*/ 1 h 98"/>
                  <a:gd name="T18" fmla="*/ 1 w 108"/>
                  <a:gd name="T19" fmla="*/ 1 h 98"/>
                  <a:gd name="T20" fmla="*/ 1 w 108"/>
                  <a:gd name="T21" fmla="*/ 1 h 98"/>
                  <a:gd name="T22" fmla="*/ 1 w 108"/>
                  <a:gd name="T23" fmla="*/ 1 h 9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8"/>
                  <a:gd name="T38" fmla="*/ 108 w 108"/>
                  <a:gd name="T39" fmla="*/ 98 h 9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8">
                    <a:moveTo>
                      <a:pt x="97" y="76"/>
                    </a:moveTo>
                    <a:lnTo>
                      <a:pt x="105" y="79"/>
                    </a:lnTo>
                    <a:lnTo>
                      <a:pt x="15" y="0"/>
                    </a:lnTo>
                    <a:lnTo>
                      <a:pt x="0" y="15"/>
                    </a:lnTo>
                    <a:lnTo>
                      <a:pt x="89" y="95"/>
                    </a:lnTo>
                    <a:lnTo>
                      <a:pt x="97" y="98"/>
                    </a:lnTo>
                    <a:lnTo>
                      <a:pt x="89" y="95"/>
                    </a:lnTo>
                    <a:lnTo>
                      <a:pt x="97" y="98"/>
                    </a:lnTo>
                    <a:lnTo>
                      <a:pt x="105" y="93"/>
                    </a:lnTo>
                    <a:lnTo>
                      <a:pt x="108" y="87"/>
                    </a:lnTo>
                    <a:lnTo>
                      <a:pt x="105" y="79"/>
                    </a:lnTo>
                    <a:lnTo>
                      <a:pt x="97" y="76"/>
                    </a:lnTo>
                    <a:close/>
                  </a:path>
                </a:pathLst>
              </a:custGeom>
              <a:solidFill>
                <a:srgbClr val="000000"/>
              </a:solidFill>
              <a:ln w="9525">
                <a:noFill/>
                <a:round/>
                <a:headEnd/>
                <a:tailEnd/>
              </a:ln>
            </p:spPr>
            <p:txBody>
              <a:bodyPr/>
              <a:lstStyle/>
              <a:p>
                <a:endParaRPr lang="en-US"/>
              </a:p>
            </p:txBody>
          </p:sp>
          <p:sp>
            <p:nvSpPr>
              <p:cNvPr id="27855" name="Freeform 168"/>
              <p:cNvSpPr>
                <a:spLocks/>
              </p:cNvSpPr>
              <p:nvPr/>
            </p:nvSpPr>
            <p:spPr bwMode="auto">
              <a:xfrm>
                <a:off x="2212" y="3885"/>
                <a:ext cx="17" cy="11"/>
              </a:xfrm>
              <a:custGeom>
                <a:avLst/>
                <a:gdLst>
                  <a:gd name="T0" fmla="*/ 1 w 33"/>
                  <a:gd name="T1" fmla="*/ 1 h 22"/>
                  <a:gd name="T2" fmla="*/ 1 w 33"/>
                  <a:gd name="T3" fmla="*/ 0 h 22"/>
                  <a:gd name="T4" fmla="*/ 0 w 33"/>
                  <a:gd name="T5" fmla="*/ 0 h 22"/>
                  <a:gd name="T6" fmla="*/ 0 w 33"/>
                  <a:gd name="T7" fmla="*/ 1 h 22"/>
                  <a:gd name="T8" fmla="*/ 1 w 33"/>
                  <a:gd name="T9" fmla="*/ 1 h 22"/>
                  <a:gd name="T10" fmla="*/ 1 w 33"/>
                  <a:gd name="T11" fmla="*/ 1 h 22"/>
                  <a:gd name="T12" fmla="*/ 1 w 33"/>
                  <a:gd name="T13" fmla="*/ 1 h 22"/>
                  <a:gd name="T14" fmla="*/ 1 w 33"/>
                  <a:gd name="T15" fmla="*/ 1 h 22"/>
                  <a:gd name="T16" fmla="*/ 1 w 33"/>
                  <a:gd name="T17" fmla="*/ 1 h 22"/>
                  <a:gd name="T18" fmla="*/ 1 w 33"/>
                  <a:gd name="T19" fmla="*/ 1 h 22"/>
                  <a:gd name="T20" fmla="*/ 1 w 33"/>
                  <a:gd name="T21" fmla="*/ 0 h 22"/>
                  <a:gd name="T22" fmla="*/ 1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2" y="17"/>
                    </a:moveTo>
                    <a:lnTo>
                      <a:pt x="22" y="0"/>
                    </a:lnTo>
                    <a:lnTo>
                      <a:pt x="0" y="0"/>
                    </a:lnTo>
                    <a:lnTo>
                      <a:pt x="0" y="22"/>
                    </a:lnTo>
                    <a:lnTo>
                      <a:pt x="22" y="22"/>
                    </a:lnTo>
                    <a:lnTo>
                      <a:pt x="31" y="5"/>
                    </a:lnTo>
                    <a:lnTo>
                      <a:pt x="22" y="22"/>
                    </a:lnTo>
                    <a:lnTo>
                      <a:pt x="30" y="19"/>
                    </a:lnTo>
                    <a:lnTo>
                      <a:pt x="33" y="11"/>
                    </a:lnTo>
                    <a:lnTo>
                      <a:pt x="30" y="3"/>
                    </a:lnTo>
                    <a:lnTo>
                      <a:pt x="22" y="0"/>
                    </a:lnTo>
                    <a:lnTo>
                      <a:pt x="12" y="17"/>
                    </a:lnTo>
                    <a:close/>
                  </a:path>
                </a:pathLst>
              </a:custGeom>
              <a:solidFill>
                <a:srgbClr val="000000"/>
              </a:solidFill>
              <a:ln w="9525">
                <a:noFill/>
                <a:round/>
                <a:headEnd/>
                <a:tailEnd/>
              </a:ln>
            </p:spPr>
            <p:txBody>
              <a:bodyPr/>
              <a:lstStyle/>
              <a:p>
                <a:endParaRPr lang="en-US"/>
              </a:p>
            </p:txBody>
          </p:sp>
          <p:sp>
            <p:nvSpPr>
              <p:cNvPr id="27856" name="Freeform 169"/>
              <p:cNvSpPr>
                <a:spLocks/>
              </p:cNvSpPr>
              <p:nvPr/>
            </p:nvSpPr>
            <p:spPr bwMode="auto">
              <a:xfrm>
                <a:off x="2184" y="3838"/>
                <a:ext cx="44" cy="55"/>
              </a:xfrm>
              <a:custGeom>
                <a:avLst/>
                <a:gdLst>
                  <a:gd name="T0" fmla="*/ 1 w 88"/>
                  <a:gd name="T1" fmla="*/ 0 h 111"/>
                  <a:gd name="T2" fmla="*/ 1 w 88"/>
                  <a:gd name="T3" fmla="*/ 0 h 111"/>
                  <a:gd name="T4" fmla="*/ 1 w 88"/>
                  <a:gd name="T5" fmla="*/ 0 h 111"/>
                  <a:gd name="T6" fmla="*/ 1 w 88"/>
                  <a:gd name="T7" fmla="*/ 0 h 111"/>
                  <a:gd name="T8" fmla="*/ 1 w 88"/>
                  <a:gd name="T9" fmla="*/ 0 h 111"/>
                  <a:gd name="T10" fmla="*/ 1 w 88"/>
                  <a:gd name="T11" fmla="*/ 0 h 111"/>
                  <a:gd name="T12" fmla="*/ 1 w 88"/>
                  <a:gd name="T13" fmla="*/ 0 h 111"/>
                  <a:gd name="T14" fmla="*/ 1 w 88"/>
                  <a:gd name="T15" fmla="*/ 0 h 111"/>
                  <a:gd name="T16" fmla="*/ 1 w 88"/>
                  <a:gd name="T17" fmla="*/ 0 h 111"/>
                  <a:gd name="T18" fmla="*/ 0 w 88"/>
                  <a:gd name="T19" fmla="*/ 0 h 111"/>
                  <a:gd name="T20" fmla="*/ 1 w 88"/>
                  <a:gd name="T21" fmla="*/ 0 h 111"/>
                  <a:gd name="T22" fmla="*/ 1 w 88"/>
                  <a:gd name="T23" fmla="*/ 0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8"/>
                  <a:gd name="T37" fmla="*/ 0 h 111"/>
                  <a:gd name="T38" fmla="*/ 88 w 88"/>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8" h="111">
                    <a:moveTo>
                      <a:pt x="8" y="0"/>
                    </a:moveTo>
                    <a:lnTo>
                      <a:pt x="2" y="18"/>
                    </a:lnTo>
                    <a:lnTo>
                      <a:pt x="69" y="111"/>
                    </a:lnTo>
                    <a:lnTo>
                      <a:pt x="88" y="99"/>
                    </a:lnTo>
                    <a:lnTo>
                      <a:pt x="21" y="5"/>
                    </a:lnTo>
                    <a:lnTo>
                      <a:pt x="15" y="22"/>
                    </a:lnTo>
                    <a:lnTo>
                      <a:pt x="21" y="5"/>
                    </a:lnTo>
                    <a:lnTo>
                      <a:pt x="13" y="0"/>
                    </a:lnTo>
                    <a:lnTo>
                      <a:pt x="5" y="2"/>
                    </a:lnTo>
                    <a:lnTo>
                      <a:pt x="0" y="8"/>
                    </a:lnTo>
                    <a:lnTo>
                      <a:pt x="2" y="18"/>
                    </a:lnTo>
                    <a:lnTo>
                      <a:pt x="8" y="0"/>
                    </a:lnTo>
                    <a:close/>
                  </a:path>
                </a:pathLst>
              </a:custGeom>
              <a:solidFill>
                <a:srgbClr val="000000"/>
              </a:solidFill>
              <a:ln w="9525">
                <a:noFill/>
                <a:round/>
                <a:headEnd/>
                <a:tailEnd/>
              </a:ln>
            </p:spPr>
            <p:txBody>
              <a:bodyPr/>
              <a:lstStyle/>
              <a:p>
                <a:endParaRPr lang="en-US"/>
              </a:p>
            </p:txBody>
          </p:sp>
          <p:sp>
            <p:nvSpPr>
              <p:cNvPr id="27857" name="Freeform 170"/>
              <p:cNvSpPr>
                <a:spLocks/>
              </p:cNvSpPr>
              <p:nvPr/>
            </p:nvSpPr>
            <p:spPr bwMode="auto">
              <a:xfrm>
                <a:off x="2188" y="3817"/>
                <a:ext cx="66" cy="32"/>
              </a:xfrm>
              <a:custGeom>
                <a:avLst/>
                <a:gdLst>
                  <a:gd name="T0" fmla="*/ 1 w 132"/>
                  <a:gd name="T1" fmla="*/ 1 h 62"/>
                  <a:gd name="T2" fmla="*/ 1 w 132"/>
                  <a:gd name="T3" fmla="*/ 0 h 62"/>
                  <a:gd name="T4" fmla="*/ 0 w 132"/>
                  <a:gd name="T5" fmla="*/ 1 h 62"/>
                  <a:gd name="T6" fmla="*/ 1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0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10" y="11"/>
                    </a:moveTo>
                    <a:lnTo>
                      <a:pt x="118" y="0"/>
                    </a:lnTo>
                    <a:lnTo>
                      <a:pt x="0" y="40"/>
                    </a:lnTo>
                    <a:lnTo>
                      <a:pt x="7" y="62"/>
                    </a:lnTo>
                    <a:lnTo>
                      <a:pt x="124" y="22"/>
                    </a:lnTo>
                    <a:lnTo>
                      <a:pt x="132" y="11"/>
                    </a:lnTo>
                    <a:lnTo>
                      <a:pt x="124" y="22"/>
                    </a:lnTo>
                    <a:lnTo>
                      <a:pt x="130" y="17"/>
                    </a:lnTo>
                    <a:lnTo>
                      <a:pt x="132" y="8"/>
                    </a:lnTo>
                    <a:lnTo>
                      <a:pt x="127" y="1"/>
                    </a:lnTo>
                    <a:lnTo>
                      <a:pt x="118" y="0"/>
                    </a:lnTo>
                    <a:lnTo>
                      <a:pt x="110" y="11"/>
                    </a:lnTo>
                    <a:close/>
                  </a:path>
                </a:pathLst>
              </a:custGeom>
              <a:solidFill>
                <a:srgbClr val="000000"/>
              </a:solidFill>
              <a:ln w="9525">
                <a:noFill/>
                <a:round/>
                <a:headEnd/>
                <a:tailEnd/>
              </a:ln>
            </p:spPr>
            <p:txBody>
              <a:bodyPr/>
              <a:lstStyle/>
              <a:p>
                <a:endParaRPr lang="en-US"/>
              </a:p>
            </p:txBody>
          </p:sp>
          <p:sp>
            <p:nvSpPr>
              <p:cNvPr id="27858" name="Freeform 171"/>
              <p:cNvSpPr>
                <a:spLocks/>
              </p:cNvSpPr>
              <p:nvPr/>
            </p:nvSpPr>
            <p:spPr bwMode="auto">
              <a:xfrm>
                <a:off x="2243" y="3807"/>
                <a:ext cx="11" cy="16"/>
              </a:xfrm>
              <a:custGeom>
                <a:avLst/>
                <a:gdLst>
                  <a:gd name="T0" fmla="*/ 1 w 22"/>
                  <a:gd name="T1" fmla="*/ 1 h 32"/>
                  <a:gd name="T2" fmla="*/ 0 w 22"/>
                  <a:gd name="T3" fmla="*/ 1 h 32"/>
                  <a:gd name="T4" fmla="*/ 0 w 22"/>
                  <a:gd name="T5" fmla="*/ 1 h 32"/>
                  <a:gd name="T6" fmla="*/ 1 w 22"/>
                  <a:gd name="T7" fmla="*/ 1 h 32"/>
                  <a:gd name="T8" fmla="*/ 1 w 22"/>
                  <a:gd name="T9" fmla="*/ 1 h 32"/>
                  <a:gd name="T10" fmla="*/ 1 w 22"/>
                  <a:gd name="T11" fmla="*/ 0 h 32"/>
                  <a:gd name="T12" fmla="*/ 1 w 22"/>
                  <a:gd name="T13" fmla="*/ 1 h 32"/>
                  <a:gd name="T14" fmla="*/ 1 w 22"/>
                  <a:gd name="T15" fmla="*/ 1 h 32"/>
                  <a:gd name="T16" fmla="*/ 1 w 22"/>
                  <a:gd name="T17" fmla="*/ 0 h 32"/>
                  <a:gd name="T18" fmla="*/ 1 w 22"/>
                  <a:gd name="T19" fmla="*/ 1 h 32"/>
                  <a:gd name="T20" fmla="*/ 0 w 22"/>
                  <a:gd name="T21" fmla="*/ 1 h 32"/>
                  <a:gd name="T22" fmla="*/ 1 w 22"/>
                  <a:gd name="T23" fmla="*/ 1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2" y="22"/>
                    </a:moveTo>
                    <a:lnTo>
                      <a:pt x="0" y="11"/>
                    </a:lnTo>
                    <a:lnTo>
                      <a:pt x="0" y="32"/>
                    </a:lnTo>
                    <a:lnTo>
                      <a:pt x="22" y="32"/>
                    </a:lnTo>
                    <a:lnTo>
                      <a:pt x="22" y="11"/>
                    </a:lnTo>
                    <a:lnTo>
                      <a:pt x="9" y="0"/>
                    </a:lnTo>
                    <a:lnTo>
                      <a:pt x="22" y="11"/>
                    </a:lnTo>
                    <a:lnTo>
                      <a:pt x="19" y="4"/>
                    </a:lnTo>
                    <a:lnTo>
                      <a:pt x="11" y="0"/>
                    </a:lnTo>
                    <a:lnTo>
                      <a:pt x="3" y="4"/>
                    </a:lnTo>
                    <a:lnTo>
                      <a:pt x="0" y="11"/>
                    </a:lnTo>
                    <a:lnTo>
                      <a:pt x="12" y="22"/>
                    </a:lnTo>
                    <a:close/>
                  </a:path>
                </a:pathLst>
              </a:custGeom>
              <a:solidFill>
                <a:srgbClr val="000000"/>
              </a:solidFill>
              <a:ln w="9525">
                <a:noFill/>
                <a:round/>
                <a:headEnd/>
                <a:tailEnd/>
              </a:ln>
            </p:spPr>
            <p:txBody>
              <a:bodyPr/>
              <a:lstStyle/>
              <a:p>
                <a:endParaRPr lang="en-US"/>
              </a:p>
            </p:txBody>
          </p:sp>
          <p:sp>
            <p:nvSpPr>
              <p:cNvPr id="27859" name="Freeform 172"/>
              <p:cNvSpPr>
                <a:spLocks/>
              </p:cNvSpPr>
              <p:nvPr/>
            </p:nvSpPr>
            <p:spPr bwMode="auto">
              <a:xfrm>
                <a:off x="2170" y="3807"/>
                <a:ext cx="79" cy="27"/>
              </a:xfrm>
              <a:custGeom>
                <a:avLst/>
                <a:gdLst>
                  <a:gd name="T0" fmla="*/ 1 w 158"/>
                  <a:gd name="T1" fmla="*/ 1 h 54"/>
                  <a:gd name="T2" fmla="*/ 1 w 158"/>
                  <a:gd name="T3" fmla="*/ 1 h 54"/>
                  <a:gd name="T4" fmla="*/ 1 w 158"/>
                  <a:gd name="T5" fmla="*/ 1 h 54"/>
                  <a:gd name="T6" fmla="*/ 1 w 158"/>
                  <a:gd name="T7" fmla="*/ 0 h 54"/>
                  <a:gd name="T8" fmla="*/ 1 w 158"/>
                  <a:gd name="T9" fmla="*/ 1 h 54"/>
                  <a:gd name="T10" fmla="*/ 1 w 158"/>
                  <a:gd name="T11" fmla="*/ 1 h 54"/>
                  <a:gd name="T12" fmla="*/ 1 w 158"/>
                  <a:gd name="T13" fmla="*/ 1 h 54"/>
                  <a:gd name="T14" fmla="*/ 1 w 158"/>
                  <a:gd name="T15" fmla="*/ 1 h 54"/>
                  <a:gd name="T16" fmla="*/ 0 w 158"/>
                  <a:gd name="T17" fmla="*/ 1 h 54"/>
                  <a:gd name="T18" fmla="*/ 1 w 158"/>
                  <a:gd name="T19" fmla="*/ 1 h 54"/>
                  <a:gd name="T20" fmla="*/ 1 w 158"/>
                  <a:gd name="T21" fmla="*/ 1 h 54"/>
                  <a:gd name="T22" fmla="*/ 1 w 158"/>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54"/>
                  <a:gd name="T38" fmla="*/ 158 w 158"/>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54">
                    <a:moveTo>
                      <a:pt x="11" y="54"/>
                    </a:moveTo>
                    <a:lnTo>
                      <a:pt x="13" y="54"/>
                    </a:lnTo>
                    <a:lnTo>
                      <a:pt x="158" y="22"/>
                    </a:lnTo>
                    <a:lnTo>
                      <a:pt x="155" y="0"/>
                    </a:lnTo>
                    <a:lnTo>
                      <a:pt x="10" y="32"/>
                    </a:lnTo>
                    <a:lnTo>
                      <a:pt x="11" y="32"/>
                    </a:lnTo>
                    <a:lnTo>
                      <a:pt x="10" y="32"/>
                    </a:lnTo>
                    <a:lnTo>
                      <a:pt x="2" y="36"/>
                    </a:lnTo>
                    <a:lnTo>
                      <a:pt x="0" y="44"/>
                    </a:lnTo>
                    <a:lnTo>
                      <a:pt x="5" y="50"/>
                    </a:lnTo>
                    <a:lnTo>
                      <a:pt x="13" y="54"/>
                    </a:lnTo>
                    <a:lnTo>
                      <a:pt x="11" y="54"/>
                    </a:lnTo>
                    <a:close/>
                  </a:path>
                </a:pathLst>
              </a:custGeom>
              <a:solidFill>
                <a:srgbClr val="000000"/>
              </a:solidFill>
              <a:ln w="9525">
                <a:noFill/>
                <a:round/>
                <a:headEnd/>
                <a:tailEnd/>
              </a:ln>
            </p:spPr>
            <p:txBody>
              <a:bodyPr/>
              <a:lstStyle/>
              <a:p>
                <a:endParaRPr lang="en-US"/>
              </a:p>
            </p:txBody>
          </p:sp>
          <p:sp>
            <p:nvSpPr>
              <p:cNvPr id="27860" name="Freeform 173"/>
              <p:cNvSpPr>
                <a:spLocks/>
              </p:cNvSpPr>
              <p:nvPr/>
            </p:nvSpPr>
            <p:spPr bwMode="auto">
              <a:xfrm>
                <a:off x="2152" y="3823"/>
                <a:ext cx="24" cy="11"/>
              </a:xfrm>
              <a:custGeom>
                <a:avLst/>
                <a:gdLst>
                  <a:gd name="T0" fmla="*/ 1 w 47"/>
                  <a:gd name="T1" fmla="*/ 1 h 22"/>
                  <a:gd name="T2" fmla="*/ 1 w 47"/>
                  <a:gd name="T3" fmla="*/ 1 h 22"/>
                  <a:gd name="T4" fmla="*/ 1 w 47"/>
                  <a:gd name="T5" fmla="*/ 1 h 22"/>
                  <a:gd name="T6" fmla="*/ 1 w 47"/>
                  <a:gd name="T7" fmla="*/ 0 h 22"/>
                  <a:gd name="T8" fmla="*/ 1 w 47"/>
                  <a:gd name="T9" fmla="*/ 0 h 22"/>
                  <a:gd name="T10" fmla="*/ 1 w 47"/>
                  <a:gd name="T11" fmla="*/ 0 h 22"/>
                  <a:gd name="T12" fmla="*/ 1 w 47"/>
                  <a:gd name="T13" fmla="*/ 0 h 22"/>
                  <a:gd name="T14" fmla="*/ 1 w 47"/>
                  <a:gd name="T15" fmla="*/ 1 h 22"/>
                  <a:gd name="T16" fmla="*/ 0 w 47"/>
                  <a:gd name="T17" fmla="*/ 1 h 22"/>
                  <a:gd name="T18" fmla="*/ 1 w 47"/>
                  <a:gd name="T19" fmla="*/ 1 h 22"/>
                  <a:gd name="T20" fmla="*/ 1 w 47"/>
                  <a:gd name="T21" fmla="*/ 1 h 22"/>
                  <a:gd name="T22" fmla="*/ 1 w 47"/>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
                  <a:gd name="T37" fmla="*/ 0 h 22"/>
                  <a:gd name="T38" fmla="*/ 47 w 47"/>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 h="22">
                    <a:moveTo>
                      <a:pt x="10" y="22"/>
                    </a:moveTo>
                    <a:lnTo>
                      <a:pt x="11" y="22"/>
                    </a:lnTo>
                    <a:lnTo>
                      <a:pt x="47" y="22"/>
                    </a:lnTo>
                    <a:lnTo>
                      <a:pt x="47" y="0"/>
                    </a:lnTo>
                    <a:lnTo>
                      <a:pt x="11" y="0"/>
                    </a:lnTo>
                    <a:lnTo>
                      <a:pt x="13" y="0"/>
                    </a:lnTo>
                    <a:lnTo>
                      <a:pt x="11" y="0"/>
                    </a:lnTo>
                    <a:lnTo>
                      <a:pt x="3" y="3"/>
                    </a:lnTo>
                    <a:lnTo>
                      <a:pt x="0" y="11"/>
                    </a:lnTo>
                    <a:lnTo>
                      <a:pt x="3" y="18"/>
                    </a:lnTo>
                    <a:lnTo>
                      <a:pt x="11" y="22"/>
                    </a:lnTo>
                    <a:lnTo>
                      <a:pt x="10" y="22"/>
                    </a:lnTo>
                    <a:close/>
                  </a:path>
                </a:pathLst>
              </a:custGeom>
              <a:solidFill>
                <a:srgbClr val="000000"/>
              </a:solidFill>
              <a:ln w="9525">
                <a:noFill/>
                <a:round/>
                <a:headEnd/>
                <a:tailEnd/>
              </a:ln>
            </p:spPr>
            <p:txBody>
              <a:bodyPr/>
              <a:lstStyle/>
              <a:p>
                <a:endParaRPr lang="en-US"/>
              </a:p>
            </p:txBody>
          </p:sp>
          <p:sp>
            <p:nvSpPr>
              <p:cNvPr id="27861" name="Line 174"/>
              <p:cNvSpPr>
                <a:spLocks noChangeShapeType="1"/>
              </p:cNvSpPr>
              <p:nvPr/>
            </p:nvSpPr>
            <p:spPr bwMode="auto">
              <a:xfrm flipV="1">
                <a:off x="1933" y="3548"/>
                <a:ext cx="130" cy="76"/>
              </a:xfrm>
              <a:prstGeom prst="line">
                <a:avLst/>
              </a:prstGeom>
              <a:noFill/>
              <a:ln w="0">
                <a:solidFill>
                  <a:srgbClr val="000000"/>
                </a:solidFill>
                <a:round/>
                <a:headEnd/>
                <a:tailEnd/>
              </a:ln>
            </p:spPr>
            <p:txBody>
              <a:bodyPr/>
              <a:lstStyle/>
              <a:p>
                <a:endParaRPr lang="en-US"/>
              </a:p>
            </p:txBody>
          </p:sp>
          <p:sp>
            <p:nvSpPr>
              <p:cNvPr id="27862" name="Line 175"/>
              <p:cNvSpPr>
                <a:spLocks noChangeShapeType="1"/>
              </p:cNvSpPr>
              <p:nvPr/>
            </p:nvSpPr>
            <p:spPr bwMode="auto">
              <a:xfrm flipV="1">
                <a:off x="1942" y="3553"/>
                <a:ext cx="129" cy="75"/>
              </a:xfrm>
              <a:prstGeom prst="line">
                <a:avLst/>
              </a:prstGeom>
              <a:noFill/>
              <a:ln w="0">
                <a:solidFill>
                  <a:srgbClr val="000000"/>
                </a:solidFill>
                <a:round/>
                <a:headEnd/>
                <a:tailEnd/>
              </a:ln>
            </p:spPr>
            <p:txBody>
              <a:bodyPr/>
              <a:lstStyle/>
              <a:p>
                <a:endParaRPr lang="en-US"/>
              </a:p>
            </p:txBody>
          </p:sp>
          <p:sp>
            <p:nvSpPr>
              <p:cNvPr id="27863" name="Line 176"/>
              <p:cNvSpPr>
                <a:spLocks noChangeShapeType="1"/>
              </p:cNvSpPr>
              <p:nvPr/>
            </p:nvSpPr>
            <p:spPr bwMode="auto">
              <a:xfrm flipV="1">
                <a:off x="1949" y="3560"/>
                <a:ext cx="130" cy="75"/>
              </a:xfrm>
              <a:prstGeom prst="line">
                <a:avLst/>
              </a:prstGeom>
              <a:noFill/>
              <a:ln w="0">
                <a:solidFill>
                  <a:srgbClr val="000000"/>
                </a:solidFill>
                <a:round/>
                <a:headEnd/>
                <a:tailEnd/>
              </a:ln>
            </p:spPr>
            <p:txBody>
              <a:bodyPr/>
              <a:lstStyle/>
              <a:p>
                <a:endParaRPr lang="en-US"/>
              </a:p>
            </p:txBody>
          </p:sp>
          <p:sp>
            <p:nvSpPr>
              <p:cNvPr id="27864" name="Line 177"/>
              <p:cNvSpPr>
                <a:spLocks noChangeShapeType="1"/>
              </p:cNvSpPr>
              <p:nvPr/>
            </p:nvSpPr>
            <p:spPr bwMode="auto">
              <a:xfrm flipV="1">
                <a:off x="2019" y="3512"/>
                <a:ext cx="18" cy="11"/>
              </a:xfrm>
              <a:prstGeom prst="line">
                <a:avLst/>
              </a:prstGeom>
              <a:noFill/>
              <a:ln w="0">
                <a:solidFill>
                  <a:srgbClr val="000000"/>
                </a:solidFill>
                <a:round/>
                <a:headEnd/>
                <a:tailEnd/>
              </a:ln>
            </p:spPr>
            <p:txBody>
              <a:bodyPr/>
              <a:lstStyle/>
              <a:p>
                <a:endParaRPr lang="en-US"/>
              </a:p>
            </p:txBody>
          </p:sp>
          <p:sp>
            <p:nvSpPr>
              <p:cNvPr id="27865" name="Freeform 178"/>
              <p:cNvSpPr>
                <a:spLocks/>
              </p:cNvSpPr>
              <p:nvPr/>
            </p:nvSpPr>
            <p:spPr bwMode="auto">
              <a:xfrm>
                <a:off x="1894" y="3369"/>
                <a:ext cx="130" cy="194"/>
              </a:xfrm>
              <a:custGeom>
                <a:avLst/>
                <a:gdLst>
                  <a:gd name="T0" fmla="*/ 1 w 259"/>
                  <a:gd name="T1" fmla="*/ 0 h 388"/>
                  <a:gd name="T2" fmla="*/ 1 w 259"/>
                  <a:gd name="T3" fmla="*/ 1 h 388"/>
                  <a:gd name="T4" fmla="*/ 0 w 259"/>
                  <a:gd name="T5" fmla="*/ 1 h 388"/>
                  <a:gd name="T6" fmla="*/ 0 w 259"/>
                  <a:gd name="T7" fmla="*/ 1 h 388"/>
                  <a:gd name="T8" fmla="*/ 1 w 259"/>
                  <a:gd name="T9" fmla="*/ 0 h 388"/>
                  <a:gd name="T10" fmla="*/ 0 60000 65536"/>
                  <a:gd name="T11" fmla="*/ 0 60000 65536"/>
                  <a:gd name="T12" fmla="*/ 0 60000 65536"/>
                  <a:gd name="T13" fmla="*/ 0 60000 65536"/>
                  <a:gd name="T14" fmla="*/ 0 60000 65536"/>
                  <a:gd name="T15" fmla="*/ 0 w 259"/>
                  <a:gd name="T16" fmla="*/ 0 h 388"/>
                  <a:gd name="T17" fmla="*/ 259 w 259"/>
                  <a:gd name="T18" fmla="*/ 388 h 388"/>
                </a:gdLst>
                <a:ahLst/>
                <a:cxnLst>
                  <a:cxn ang="T10">
                    <a:pos x="T0" y="T1"/>
                  </a:cxn>
                  <a:cxn ang="T11">
                    <a:pos x="T2" y="T3"/>
                  </a:cxn>
                  <a:cxn ang="T12">
                    <a:pos x="T4" y="T5"/>
                  </a:cxn>
                  <a:cxn ang="T13">
                    <a:pos x="T6" y="T7"/>
                  </a:cxn>
                  <a:cxn ang="T14">
                    <a:pos x="T8" y="T9"/>
                  </a:cxn>
                </a:cxnLst>
                <a:rect l="T15" t="T16" r="T17" b="T18"/>
                <a:pathLst>
                  <a:path w="259" h="388">
                    <a:moveTo>
                      <a:pt x="259" y="0"/>
                    </a:moveTo>
                    <a:lnTo>
                      <a:pt x="259" y="236"/>
                    </a:lnTo>
                    <a:lnTo>
                      <a:pt x="0" y="388"/>
                    </a:lnTo>
                    <a:lnTo>
                      <a:pt x="0" y="150"/>
                    </a:lnTo>
                    <a:lnTo>
                      <a:pt x="259" y="0"/>
                    </a:lnTo>
                    <a:close/>
                  </a:path>
                </a:pathLst>
              </a:custGeom>
              <a:solidFill>
                <a:srgbClr val="007FFF"/>
              </a:solidFill>
              <a:ln w="9525">
                <a:noFill/>
                <a:round/>
                <a:headEnd/>
                <a:tailEnd/>
              </a:ln>
            </p:spPr>
            <p:txBody>
              <a:bodyPr/>
              <a:lstStyle/>
              <a:p>
                <a:endParaRPr lang="en-US"/>
              </a:p>
            </p:txBody>
          </p:sp>
          <p:sp>
            <p:nvSpPr>
              <p:cNvPr id="27866" name="Freeform 179"/>
              <p:cNvSpPr>
                <a:spLocks/>
              </p:cNvSpPr>
              <p:nvPr/>
            </p:nvSpPr>
            <p:spPr bwMode="auto">
              <a:xfrm>
                <a:off x="2018" y="3369"/>
                <a:ext cx="11" cy="124"/>
              </a:xfrm>
              <a:custGeom>
                <a:avLst/>
                <a:gdLst>
                  <a:gd name="T0" fmla="*/ 1 w 21"/>
                  <a:gd name="T1" fmla="*/ 1 h 247"/>
                  <a:gd name="T2" fmla="*/ 1 w 21"/>
                  <a:gd name="T3" fmla="*/ 1 h 247"/>
                  <a:gd name="T4" fmla="*/ 1 w 21"/>
                  <a:gd name="T5" fmla="*/ 0 h 247"/>
                  <a:gd name="T6" fmla="*/ 0 w 21"/>
                  <a:gd name="T7" fmla="*/ 0 h 247"/>
                  <a:gd name="T8" fmla="*/ 0 w 21"/>
                  <a:gd name="T9" fmla="*/ 1 h 247"/>
                  <a:gd name="T10" fmla="*/ 1 w 21"/>
                  <a:gd name="T11" fmla="*/ 1 h 247"/>
                  <a:gd name="T12" fmla="*/ 0 w 21"/>
                  <a:gd name="T13" fmla="*/ 1 h 247"/>
                  <a:gd name="T14" fmla="*/ 1 w 21"/>
                  <a:gd name="T15" fmla="*/ 1 h 247"/>
                  <a:gd name="T16" fmla="*/ 1 w 21"/>
                  <a:gd name="T17" fmla="*/ 1 h 247"/>
                  <a:gd name="T18" fmla="*/ 1 w 21"/>
                  <a:gd name="T19" fmla="*/ 1 h 247"/>
                  <a:gd name="T20" fmla="*/ 1 w 21"/>
                  <a:gd name="T21" fmla="*/ 1 h 247"/>
                  <a:gd name="T22" fmla="*/ 1 w 21"/>
                  <a:gd name="T23" fmla="*/ 1 h 2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47"/>
                  <a:gd name="T38" fmla="*/ 21 w 21"/>
                  <a:gd name="T39" fmla="*/ 247 h 2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47">
                    <a:moveTo>
                      <a:pt x="17" y="246"/>
                    </a:moveTo>
                    <a:lnTo>
                      <a:pt x="21" y="236"/>
                    </a:lnTo>
                    <a:lnTo>
                      <a:pt x="21" y="0"/>
                    </a:lnTo>
                    <a:lnTo>
                      <a:pt x="0" y="0"/>
                    </a:lnTo>
                    <a:lnTo>
                      <a:pt x="0" y="236"/>
                    </a:lnTo>
                    <a:lnTo>
                      <a:pt x="4" y="227"/>
                    </a:lnTo>
                    <a:lnTo>
                      <a:pt x="0" y="236"/>
                    </a:lnTo>
                    <a:lnTo>
                      <a:pt x="3" y="244"/>
                    </a:lnTo>
                    <a:lnTo>
                      <a:pt x="10" y="247"/>
                    </a:lnTo>
                    <a:lnTo>
                      <a:pt x="18" y="244"/>
                    </a:lnTo>
                    <a:lnTo>
                      <a:pt x="21" y="236"/>
                    </a:lnTo>
                    <a:lnTo>
                      <a:pt x="17" y="246"/>
                    </a:lnTo>
                    <a:close/>
                  </a:path>
                </a:pathLst>
              </a:custGeom>
              <a:solidFill>
                <a:srgbClr val="000000"/>
              </a:solidFill>
              <a:ln w="9525">
                <a:noFill/>
                <a:round/>
                <a:headEnd/>
                <a:tailEnd/>
              </a:ln>
            </p:spPr>
            <p:txBody>
              <a:bodyPr/>
              <a:lstStyle/>
              <a:p>
                <a:endParaRPr lang="en-US"/>
              </a:p>
            </p:txBody>
          </p:sp>
          <p:sp>
            <p:nvSpPr>
              <p:cNvPr id="27867" name="Freeform 180"/>
              <p:cNvSpPr>
                <a:spLocks/>
              </p:cNvSpPr>
              <p:nvPr/>
            </p:nvSpPr>
            <p:spPr bwMode="auto">
              <a:xfrm>
                <a:off x="1888" y="3483"/>
                <a:ext cx="139" cy="86"/>
              </a:xfrm>
              <a:custGeom>
                <a:avLst/>
                <a:gdLst>
                  <a:gd name="T0" fmla="*/ 0 w 277"/>
                  <a:gd name="T1" fmla="*/ 1 h 172"/>
                  <a:gd name="T2" fmla="*/ 1 w 277"/>
                  <a:gd name="T3" fmla="*/ 1 h 172"/>
                  <a:gd name="T4" fmla="*/ 1 w 277"/>
                  <a:gd name="T5" fmla="*/ 1 h 172"/>
                  <a:gd name="T6" fmla="*/ 1 w 277"/>
                  <a:gd name="T7" fmla="*/ 0 h 172"/>
                  <a:gd name="T8" fmla="*/ 1 w 277"/>
                  <a:gd name="T9" fmla="*/ 1 h 172"/>
                  <a:gd name="T10" fmla="*/ 1 w 277"/>
                  <a:gd name="T11" fmla="*/ 1 h 172"/>
                  <a:gd name="T12" fmla="*/ 1 w 277"/>
                  <a:gd name="T13" fmla="*/ 1 h 172"/>
                  <a:gd name="T14" fmla="*/ 0 w 277"/>
                  <a:gd name="T15" fmla="*/ 1 h 172"/>
                  <a:gd name="T16" fmla="*/ 1 w 277"/>
                  <a:gd name="T17" fmla="*/ 1 h 172"/>
                  <a:gd name="T18" fmla="*/ 1 w 277"/>
                  <a:gd name="T19" fmla="*/ 1 h 172"/>
                  <a:gd name="T20" fmla="*/ 1 w 277"/>
                  <a:gd name="T21" fmla="*/ 1 h 172"/>
                  <a:gd name="T22" fmla="*/ 0 w 277"/>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2"/>
                  <a:gd name="T38" fmla="*/ 277 w 277"/>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2">
                    <a:moveTo>
                      <a:pt x="0" y="161"/>
                    </a:moveTo>
                    <a:lnTo>
                      <a:pt x="17" y="171"/>
                    </a:lnTo>
                    <a:lnTo>
                      <a:pt x="277" y="19"/>
                    </a:lnTo>
                    <a:lnTo>
                      <a:pt x="264" y="0"/>
                    </a:lnTo>
                    <a:lnTo>
                      <a:pt x="4" y="152"/>
                    </a:lnTo>
                    <a:lnTo>
                      <a:pt x="22" y="161"/>
                    </a:lnTo>
                    <a:lnTo>
                      <a:pt x="4" y="152"/>
                    </a:lnTo>
                    <a:lnTo>
                      <a:pt x="0" y="160"/>
                    </a:lnTo>
                    <a:lnTo>
                      <a:pt x="1" y="167"/>
                    </a:lnTo>
                    <a:lnTo>
                      <a:pt x="7" y="172"/>
                    </a:lnTo>
                    <a:lnTo>
                      <a:pt x="17" y="171"/>
                    </a:lnTo>
                    <a:lnTo>
                      <a:pt x="0" y="161"/>
                    </a:lnTo>
                    <a:close/>
                  </a:path>
                </a:pathLst>
              </a:custGeom>
              <a:solidFill>
                <a:srgbClr val="000000"/>
              </a:solidFill>
              <a:ln w="9525">
                <a:noFill/>
                <a:round/>
                <a:headEnd/>
                <a:tailEnd/>
              </a:ln>
            </p:spPr>
            <p:txBody>
              <a:bodyPr/>
              <a:lstStyle/>
              <a:p>
                <a:endParaRPr lang="en-US"/>
              </a:p>
            </p:txBody>
          </p:sp>
          <p:sp>
            <p:nvSpPr>
              <p:cNvPr id="27868" name="Freeform 181"/>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4" y="2"/>
                    </a:moveTo>
                    <a:lnTo>
                      <a:pt x="0" y="11"/>
                    </a:lnTo>
                    <a:lnTo>
                      <a:pt x="0" y="249"/>
                    </a:lnTo>
                    <a:lnTo>
                      <a:pt x="22" y="249"/>
                    </a:lnTo>
                    <a:lnTo>
                      <a:pt x="22" y="11"/>
                    </a:lnTo>
                    <a:lnTo>
                      <a:pt x="17" y="21"/>
                    </a:lnTo>
                    <a:lnTo>
                      <a:pt x="22" y="11"/>
                    </a:lnTo>
                    <a:lnTo>
                      <a:pt x="18" y="4"/>
                    </a:lnTo>
                    <a:lnTo>
                      <a:pt x="11" y="0"/>
                    </a:lnTo>
                    <a:lnTo>
                      <a:pt x="3" y="4"/>
                    </a:lnTo>
                    <a:lnTo>
                      <a:pt x="0" y="11"/>
                    </a:lnTo>
                    <a:lnTo>
                      <a:pt x="4" y="2"/>
                    </a:lnTo>
                    <a:close/>
                  </a:path>
                </a:pathLst>
              </a:custGeom>
              <a:solidFill>
                <a:srgbClr val="000000"/>
              </a:solidFill>
              <a:ln w="9525">
                <a:noFill/>
                <a:round/>
                <a:headEnd/>
                <a:tailEnd/>
              </a:ln>
            </p:spPr>
            <p:txBody>
              <a:bodyPr/>
              <a:lstStyle/>
              <a:p>
                <a:endParaRPr lang="en-US"/>
              </a:p>
            </p:txBody>
          </p:sp>
          <p:sp>
            <p:nvSpPr>
              <p:cNvPr id="27869" name="Freeform 182"/>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77" y="11"/>
                    </a:moveTo>
                    <a:lnTo>
                      <a:pt x="260" y="2"/>
                    </a:lnTo>
                    <a:lnTo>
                      <a:pt x="0" y="152"/>
                    </a:lnTo>
                    <a:lnTo>
                      <a:pt x="13" y="171"/>
                    </a:lnTo>
                    <a:lnTo>
                      <a:pt x="273" y="21"/>
                    </a:lnTo>
                    <a:lnTo>
                      <a:pt x="256" y="11"/>
                    </a:lnTo>
                    <a:lnTo>
                      <a:pt x="273" y="21"/>
                    </a:lnTo>
                    <a:lnTo>
                      <a:pt x="277" y="13"/>
                    </a:lnTo>
                    <a:lnTo>
                      <a:pt x="276" y="5"/>
                    </a:lnTo>
                    <a:lnTo>
                      <a:pt x="270" y="0"/>
                    </a:lnTo>
                    <a:lnTo>
                      <a:pt x="260" y="2"/>
                    </a:lnTo>
                    <a:lnTo>
                      <a:pt x="277" y="11"/>
                    </a:lnTo>
                    <a:close/>
                  </a:path>
                </a:pathLst>
              </a:custGeom>
              <a:solidFill>
                <a:srgbClr val="000000"/>
              </a:solidFill>
              <a:ln w="9525">
                <a:noFill/>
                <a:round/>
                <a:headEnd/>
                <a:tailEnd/>
              </a:ln>
            </p:spPr>
            <p:txBody>
              <a:bodyPr/>
              <a:lstStyle/>
              <a:p>
                <a:endParaRPr lang="en-US"/>
              </a:p>
            </p:txBody>
          </p:sp>
          <p:sp>
            <p:nvSpPr>
              <p:cNvPr id="27870" name="Freeform 183"/>
              <p:cNvSpPr>
                <a:spLocks/>
              </p:cNvSpPr>
              <p:nvPr/>
            </p:nvSpPr>
            <p:spPr bwMode="auto">
              <a:xfrm>
                <a:off x="1851" y="3349"/>
                <a:ext cx="173" cy="95"/>
              </a:xfrm>
              <a:custGeom>
                <a:avLst/>
                <a:gdLst>
                  <a:gd name="T0" fmla="*/ 1 w 344"/>
                  <a:gd name="T1" fmla="*/ 1 h 190"/>
                  <a:gd name="T2" fmla="*/ 1 w 344"/>
                  <a:gd name="T3" fmla="*/ 0 h 190"/>
                  <a:gd name="T4" fmla="*/ 0 w 344"/>
                  <a:gd name="T5" fmla="*/ 1 h 190"/>
                  <a:gd name="T6" fmla="*/ 1 w 344"/>
                  <a:gd name="T7" fmla="*/ 1 h 190"/>
                  <a:gd name="T8" fmla="*/ 1 w 344"/>
                  <a:gd name="T9" fmla="*/ 1 h 190"/>
                  <a:gd name="T10" fmla="*/ 0 60000 65536"/>
                  <a:gd name="T11" fmla="*/ 0 60000 65536"/>
                  <a:gd name="T12" fmla="*/ 0 60000 65536"/>
                  <a:gd name="T13" fmla="*/ 0 60000 65536"/>
                  <a:gd name="T14" fmla="*/ 0 60000 65536"/>
                  <a:gd name="T15" fmla="*/ 0 w 344"/>
                  <a:gd name="T16" fmla="*/ 0 h 190"/>
                  <a:gd name="T17" fmla="*/ 344 w 344"/>
                  <a:gd name="T18" fmla="*/ 190 h 190"/>
                </a:gdLst>
                <a:ahLst/>
                <a:cxnLst>
                  <a:cxn ang="T10">
                    <a:pos x="T0" y="T1"/>
                  </a:cxn>
                  <a:cxn ang="T11">
                    <a:pos x="T2" y="T3"/>
                  </a:cxn>
                  <a:cxn ang="T12">
                    <a:pos x="T4" y="T5"/>
                  </a:cxn>
                  <a:cxn ang="T13">
                    <a:pos x="T6" y="T7"/>
                  </a:cxn>
                  <a:cxn ang="T14">
                    <a:pos x="T8" y="T9"/>
                  </a:cxn>
                </a:cxnLst>
                <a:rect l="T15" t="T16" r="T17" b="T18"/>
                <a:pathLst>
                  <a:path w="344" h="190">
                    <a:moveTo>
                      <a:pt x="344" y="40"/>
                    </a:moveTo>
                    <a:lnTo>
                      <a:pt x="260" y="0"/>
                    </a:lnTo>
                    <a:lnTo>
                      <a:pt x="0" y="150"/>
                    </a:lnTo>
                    <a:lnTo>
                      <a:pt x="85" y="190"/>
                    </a:lnTo>
                    <a:lnTo>
                      <a:pt x="344" y="40"/>
                    </a:lnTo>
                    <a:close/>
                  </a:path>
                </a:pathLst>
              </a:custGeom>
              <a:solidFill>
                <a:srgbClr val="99D8FF"/>
              </a:solidFill>
              <a:ln w="9525">
                <a:noFill/>
                <a:round/>
                <a:headEnd/>
                <a:tailEnd/>
              </a:ln>
            </p:spPr>
            <p:txBody>
              <a:bodyPr/>
              <a:lstStyle/>
              <a:p>
                <a:endParaRPr lang="en-US"/>
              </a:p>
            </p:txBody>
          </p:sp>
          <p:sp>
            <p:nvSpPr>
              <p:cNvPr id="27871" name="Freeform 184"/>
              <p:cNvSpPr>
                <a:spLocks/>
              </p:cNvSpPr>
              <p:nvPr/>
            </p:nvSpPr>
            <p:spPr bwMode="auto">
              <a:xfrm>
                <a:off x="1976" y="3344"/>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1 w 100"/>
                  <a:gd name="T11" fmla="*/ 0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16" y="19"/>
                    </a:moveTo>
                    <a:lnTo>
                      <a:pt x="6" y="19"/>
                    </a:lnTo>
                    <a:lnTo>
                      <a:pt x="91" y="60"/>
                    </a:lnTo>
                    <a:lnTo>
                      <a:pt x="100" y="41"/>
                    </a:lnTo>
                    <a:lnTo>
                      <a:pt x="16" y="0"/>
                    </a:lnTo>
                    <a:lnTo>
                      <a:pt x="6" y="0"/>
                    </a:lnTo>
                    <a:lnTo>
                      <a:pt x="16" y="0"/>
                    </a:lnTo>
                    <a:lnTo>
                      <a:pt x="8" y="0"/>
                    </a:lnTo>
                    <a:lnTo>
                      <a:pt x="2" y="5"/>
                    </a:lnTo>
                    <a:lnTo>
                      <a:pt x="0" y="13"/>
                    </a:lnTo>
                    <a:lnTo>
                      <a:pt x="6" y="19"/>
                    </a:lnTo>
                    <a:lnTo>
                      <a:pt x="16" y="19"/>
                    </a:lnTo>
                    <a:close/>
                  </a:path>
                </a:pathLst>
              </a:custGeom>
              <a:solidFill>
                <a:srgbClr val="000000"/>
              </a:solidFill>
              <a:ln w="9525">
                <a:noFill/>
                <a:round/>
                <a:headEnd/>
                <a:tailEnd/>
              </a:ln>
            </p:spPr>
            <p:txBody>
              <a:bodyPr/>
              <a:lstStyle/>
              <a:p>
                <a:endParaRPr lang="en-US"/>
              </a:p>
            </p:txBody>
          </p:sp>
          <p:sp>
            <p:nvSpPr>
              <p:cNvPr id="27872" name="Freeform 185"/>
              <p:cNvSpPr>
                <a:spLocks/>
              </p:cNvSpPr>
              <p:nvPr/>
            </p:nvSpPr>
            <p:spPr bwMode="auto">
              <a:xfrm>
                <a:off x="1846" y="3344"/>
                <a:ext cx="138" cy="85"/>
              </a:xfrm>
              <a:custGeom>
                <a:avLst/>
                <a:gdLst>
                  <a:gd name="T0" fmla="*/ 1 w 276"/>
                  <a:gd name="T1" fmla="*/ 1 h 169"/>
                  <a:gd name="T2" fmla="*/ 1 w 276"/>
                  <a:gd name="T3" fmla="*/ 1 h 169"/>
                  <a:gd name="T4" fmla="*/ 1 w 276"/>
                  <a:gd name="T5" fmla="*/ 1 h 169"/>
                  <a:gd name="T6" fmla="*/ 1 w 276"/>
                  <a:gd name="T7" fmla="*/ 0 h 169"/>
                  <a:gd name="T8" fmla="*/ 1 w 276"/>
                  <a:gd name="T9" fmla="*/ 1 h 169"/>
                  <a:gd name="T10" fmla="*/ 1 w 276"/>
                  <a:gd name="T11" fmla="*/ 1 h 169"/>
                  <a:gd name="T12" fmla="*/ 1 w 276"/>
                  <a:gd name="T13" fmla="*/ 1 h 169"/>
                  <a:gd name="T14" fmla="*/ 0 w 276"/>
                  <a:gd name="T15" fmla="*/ 1 h 169"/>
                  <a:gd name="T16" fmla="*/ 1 w 276"/>
                  <a:gd name="T17" fmla="*/ 1 h 169"/>
                  <a:gd name="T18" fmla="*/ 1 w 276"/>
                  <a:gd name="T19" fmla="*/ 1 h 169"/>
                  <a:gd name="T20" fmla="*/ 1 w 276"/>
                  <a:gd name="T21" fmla="*/ 1 h 169"/>
                  <a:gd name="T22" fmla="*/ 1 w 276"/>
                  <a:gd name="T23" fmla="*/ 1 h 1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6"/>
                  <a:gd name="T37" fmla="*/ 0 h 169"/>
                  <a:gd name="T38" fmla="*/ 276 w 276"/>
                  <a:gd name="T39" fmla="*/ 169 h 1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6" h="169">
                    <a:moveTo>
                      <a:pt x="16" y="150"/>
                    </a:moveTo>
                    <a:lnTo>
                      <a:pt x="16" y="169"/>
                    </a:lnTo>
                    <a:lnTo>
                      <a:pt x="276" y="19"/>
                    </a:lnTo>
                    <a:lnTo>
                      <a:pt x="266" y="0"/>
                    </a:lnTo>
                    <a:lnTo>
                      <a:pt x="6" y="150"/>
                    </a:lnTo>
                    <a:lnTo>
                      <a:pt x="6" y="169"/>
                    </a:lnTo>
                    <a:lnTo>
                      <a:pt x="6" y="150"/>
                    </a:lnTo>
                    <a:lnTo>
                      <a:pt x="0" y="157"/>
                    </a:lnTo>
                    <a:lnTo>
                      <a:pt x="2" y="164"/>
                    </a:lnTo>
                    <a:lnTo>
                      <a:pt x="8" y="169"/>
                    </a:lnTo>
                    <a:lnTo>
                      <a:pt x="16" y="169"/>
                    </a:lnTo>
                    <a:lnTo>
                      <a:pt x="16" y="150"/>
                    </a:lnTo>
                    <a:close/>
                  </a:path>
                </a:pathLst>
              </a:custGeom>
              <a:solidFill>
                <a:srgbClr val="000000"/>
              </a:solidFill>
              <a:ln w="9525">
                <a:noFill/>
                <a:round/>
                <a:headEnd/>
                <a:tailEnd/>
              </a:ln>
            </p:spPr>
            <p:txBody>
              <a:bodyPr/>
              <a:lstStyle/>
              <a:p>
                <a:endParaRPr lang="en-US"/>
              </a:p>
            </p:txBody>
          </p:sp>
          <p:sp>
            <p:nvSpPr>
              <p:cNvPr id="27873" name="Freeform 186"/>
              <p:cNvSpPr>
                <a:spLocks/>
              </p:cNvSpPr>
              <p:nvPr/>
            </p:nvSpPr>
            <p:spPr bwMode="auto">
              <a:xfrm>
                <a:off x="1849" y="3419"/>
                <a:ext cx="50" cy="30"/>
              </a:xfrm>
              <a:custGeom>
                <a:avLst/>
                <a:gdLst>
                  <a:gd name="T0" fmla="*/ 0 w 101"/>
                  <a:gd name="T1" fmla="*/ 1 h 60"/>
                  <a:gd name="T2" fmla="*/ 0 w 101"/>
                  <a:gd name="T3" fmla="*/ 1 h 60"/>
                  <a:gd name="T4" fmla="*/ 0 w 101"/>
                  <a:gd name="T5" fmla="*/ 0 h 60"/>
                  <a:gd name="T6" fmla="*/ 0 w 101"/>
                  <a:gd name="T7" fmla="*/ 1 h 60"/>
                  <a:gd name="T8" fmla="*/ 0 w 101"/>
                  <a:gd name="T9" fmla="*/ 1 h 60"/>
                  <a:gd name="T10" fmla="*/ 0 w 101"/>
                  <a:gd name="T11" fmla="*/ 1 h 60"/>
                  <a:gd name="T12" fmla="*/ 0 w 101"/>
                  <a:gd name="T13" fmla="*/ 1 h 60"/>
                  <a:gd name="T14" fmla="*/ 0 w 101"/>
                  <a:gd name="T15" fmla="*/ 1 h 60"/>
                  <a:gd name="T16" fmla="*/ 0 w 101"/>
                  <a:gd name="T17" fmla="*/ 1 h 60"/>
                  <a:gd name="T18" fmla="*/ 0 w 101"/>
                  <a:gd name="T19" fmla="*/ 1 h 60"/>
                  <a:gd name="T20" fmla="*/ 0 w 101"/>
                  <a:gd name="T21" fmla="*/ 1 h 60"/>
                  <a:gd name="T22" fmla="*/ 0 w 101"/>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0"/>
                  <a:gd name="T38" fmla="*/ 101 w 101"/>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0">
                    <a:moveTo>
                      <a:pt x="83" y="41"/>
                    </a:moveTo>
                    <a:lnTo>
                      <a:pt x="94" y="41"/>
                    </a:lnTo>
                    <a:lnTo>
                      <a:pt x="10" y="0"/>
                    </a:lnTo>
                    <a:lnTo>
                      <a:pt x="0" y="19"/>
                    </a:lnTo>
                    <a:lnTo>
                      <a:pt x="85" y="60"/>
                    </a:lnTo>
                    <a:lnTo>
                      <a:pt x="96" y="60"/>
                    </a:lnTo>
                    <a:lnTo>
                      <a:pt x="85" y="60"/>
                    </a:lnTo>
                    <a:lnTo>
                      <a:pt x="93" y="60"/>
                    </a:lnTo>
                    <a:lnTo>
                      <a:pt x="99" y="55"/>
                    </a:lnTo>
                    <a:lnTo>
                      <a:pt x="101" y="47"/>
                    </a:lnTo>
                    <a:lnTo>
                      <a:pt x="94" y="41"/>
                    </a:lnTo>
                    <a:lnTo>
                      <a:pt x="83" y="41"/>
                    </a:lnTo>
                    <a:close/>
                  </a:path>
                </a:pathLst>
              </a:custGeom>
              <a:solidFill>
                <a:srgbClr val="000000"/>
              </a:solidFill>
              <a:ln w="9525">
                <a:noFill/>
                <a:round/>
                <a:headEnd/>
                <a:tailEnd/>
              </a:ln>
            </p:spPr>
            <p:txBody>
              <a:bodyPr/>
              <a:lstStyle/>
              <a:p>
                <a:endParaRPr lang="en-US"/>
              </a:p>
            </p:txBody>
          </p:sp>
          <p:sp>
            <p:nvSpPr>
              <p:cNvPr id="27874" name="Freeform 187"/>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62" y="21"/>
                    </a:moveTo>
                    <a:lnTo>
                      <a:pt x="260" y="2"/>
                    </a:lnTo>
                    <a:lnTo>
                      <a:pt x="0" y="152"/>
                    </a:lnTo>
                    <a:lnTo>
                      <a:pt x="13" y="171"/>
                    </a:lnTo>
                    <a:lnTo>
                      <a:pt x="273" y="21"/>
                    </a:lnTo>
                    <a:lnTo>
                      <a:pt x="271" y="2"/>
                    </a:lnTo>
                    <a:lnTo>
                      <a:pt x="273" y="21"/>
                    </a:lnTo>
                    <a:lnTo>
                      <a:pt x="277" y="13"/>
                    </a:lnTo>
                    <a:lnTo>
                      <a:pt x="276" y="5"/>
                    </a:lnTo>
                    <a:lnTo>
                      <a:pt x="270" y="0"/>
                    </a:lnTo>
                    <a:lnTo>
                      <a:pt x="260" y="2"/>
                    </a:lnTo>
                    <a:lnTo>
                      <a:pt x="262" y="21"/>
                    </a:lnTo>
                    <a:close/>
                  </a:path>
                </a:pathLst>
              </a:custGeom>
              <a:solidFill>
                <a:srgbClr val="000000"/>
              </a:solidFill>
              <a:ln w="9525">
                <a:noFill/>
                <a:round/>
                <a:headEnd/>
                <a:tailEnd/>
              </a:ln>
            </p:spPr>
            <p:txBody>
              <a:bodyPr/>
              <a:lstStyle/>
              <a:p>
                <a:endParaRPr lang="en-US"/>
              </a:p>
            </p:txBody>
          </p:sp>
          <p:sp>
            <p:nvSpPr>
              <p:cNvPr id="27875" name="Freeform 188"/>
              <p:cNvSpPr>
                <a:spLocks/>
              </p:cNvSpPr>
              <p:nvPr/>
            </p:nvSpPr>
            <p:spPr bwMode="auto">
              <a:xfrm>
                <a:off x="1797" y="3350"/>
                <a:ext cx="175" cy="82"/>
              </a:xfrm>
              <a:custGeom>
                <a:avLst/>
                <a:gdLst>
                  <a:gd name="T0" fmla="*/ 1 w 349"/>
                  <a:gd name="T1" fmla="*/ 0 h 166"/>
                  <a:gd name="T2" fmla="*/ 1 w 349"/>
                  <a:gd name="T3" fmla="*/ 0 h 166"/>
                  <a:gd name="T4" fmla="*/ 1 w 349"/>
                  <a:gd name="T5" fmla="*/ 0 h 166"/>
                  <a:gd name="T6" fmla="*/ 0 w 349"/>
                  <a:gd name="T7" fmla="*/ 0 h 166"/>
                  <a:gd name="T8" fmla="*/ 1 w 349"/>
                  <a:gd name="T9" fmla="*/ 0 h 166"/>
                  <a:gd name="T10" fmla="*/ 1 w 349"/>
                  <a:gd name="T11" fmla="*/ 0 h 166"/>
                  <a:gd name="T12" fmla="*/ 0 60000 65536"/>
                  <a:gd name="T13" fmla="*/ 0 60000 65536"/>
                  <a:gd name="T14" fmla="*/ 0 60000 65536"/>
                  <a:gd name="T15" fmla="*/ 0 60000 65536"/>
                  <a:gd name="T16" fmla="*/ 0 60000 65536"/>
                  <a:gd name="T17" fmla="*/ 0 60000 65536"/>
                  <a:gd name="T18" fmla="*/ 0 w 349"/>
                  <a:gd name="T19" fmla="*/ 0 h 166"/>
                  <a:gd name="T20" fmla="*/ 349 w 349"/>
                  <a:gd name="T21" fmla="*/ 166 h 166"/>
                </a:gdLst>
                <a:ahLst/>
                <a:cxnLst>
                  <a:cxn ang="T12">
                    <a:pos x="T0" y="T1"/>
                  </a:cxn>
                  <a:cxn ang="T13">
                    <a:pos x="T2" y="T3"/>
                  </a:cxn>
                  <a:cxn ang="T14">
                    <a:pos x="T4" y="T5"/>
                  </a:cxn>
                  <a:cxn ang="T15">
                    <a:pos x="T6" y="T7"/>
                  </a:cxn>
                  <a:cxn ang="T16">
                    <a:pos x="T8" y="T9"/>
                  </a:cxn>
                  <a:cxn ang="T17">
                    <a:pos x="T10" y="T11"/>
                  </a:cxn>
                </a:cxnLst>
                <a:rect l="T18" t="T19" r="T20" b="T21"/>
                <a:pathLst>
                  <a:path w="349" h="166">
                    <a:moveTo>
                      <a:pt x="349" y="9"/>
                    </a:moveTo>
                    <a:lnTo>
                      <a:pt x="110" y="149"/>
                    </a:lnTo>
                    <a:lnTo>
                      <a:pt x="108" y="166"/>
                    </a:lnTo>
                    <a:lnTo>
                      <a:pt x="0" y="157"/>
                    </a:lnTo>
                    <a:lnTo>
                      <a:pt x="266" y="0"/>
                    </a:lnTo>
                    <a:lnTo>
                      <a:pt x="349" y="9"/>
                    </a:lnTo>
                    <a:close/>
                  </a:path>
                </a:pathLst>
              </a:custGeom>
              <a:solidFill>
                <a:srgbClr val="99D8FF"/>
              </a:solidFill>
              <a:ln w="9525">
                <a:noFill/>
                <a:round/>
                <a:headEnd/>
                <a:tailEnd/>
              </a:ln>
            </p:spPr>
            <p:txBody>
              <a:bodyPr/>
              <a:lstStyle/>
              <a:p>
                <a:endParaRPr lang="en-US"/>
              </a:p>
            </p:txBody>
          </p:sp>
          <p:sp>
            <p:nvSpPr>
              <p:cNvPr id="27876" name="Freeform 189"/>
              <p:cNvSpPr>
                <a:spLocks/>
              </p:cNvSpPr>
              <p:nvPr/>
            </p:nvSpPr>
            <p:spPr bwMode="auto">
              <a:xfrm>
                <a:off x="1847" y="3350"/>
                <a:ext cx="127" cy="79"/>
              </a:xfrm>
              <a:custGeom>
                <a:avLst/>
                <a:gdLst>
                  <a:gd name="T0" fmla="*/ 0 w 255"/>
                  <a:gd name="T1" fmla="*/ 1 h 158"/>
                  <a:gd name="T2" fmla="*/ 0 w 255"/>
                  <a:gd name="T3" fmla="*/ 1 h 158"/>
                  <a:gd name="T4" fmla="*/ 0 w 255"/>
                  <a:gd name="T5" fmla="*/ 1 h 158"/>
                  <a:gd name="T6" fmla="*/ 0 w 255"/>
                  <a:gd name="T7" fmla="*/ 0 h 158"/>
                  <a:gd name="T8" fmla="*/ 0 w 255"/>
                  <a:gd name="T9" fmla="*/ 1 h 158"/>
                  <a:gd name="T10" fmla="*/ 0 w 255"/>
                  <a:gd name="T11" fmla="*/ 1 h 158"/>
                  <a:gd name="T12" fmla="*/ 0 w 255"/>
                  <a:gd name="T13" fmla="*/ 1 h 158"/>
                  <a:gd name="T14" fmla="*/ 0 w 255"/>
                  <a:gd name="T15" fmla="*/ 1 h 158"/>
                  <a:gd name="T16" fmla="*/ 0 w 255"/>
                  <a:gd name="T17" fmla="*/ 1 h 158"/>
                  <a:gd name="T18" fmla="*/ 0 w 255"/>
                  <a:gd name="T19" fmla="*/ 1 h 158"/>
                  <a:gd name="T20" fmla="*/ 0 w 255"/>
                  <a:gd name="T21" fmla="*/ 1 h 158"/>
                  <a:gd name="T22" fmla="*/ 0 w 255"/>
                  <a:gd name="T23" fmla="*/ 1 h 1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5"/>
                  <a:gd name="T37" fmla="*/ 0 h 158"/>
                  <a:gd name="T38" fmla="*/ 255 w 255"/>
                  <a:gd name="T39" fmla="*/ 158 h 1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5" h="158">
                    <a:moveTo>
                      <a:pt x="22" y="150"/>
                    </a:moveTo>
                    <a:lnTo>
                      <a:pt x="15" y="158"/>
                    </a:lnTo>
                    <a:lnTo>
                      <a:pt x="255" y="19"/>
                    </a:lnTo>
                    <a:lnTo>
                      <a:pt x="245" y="0"/>
                    </a:lnTo>
                    <a:lnTo>
                      <a:pt x="6" y="139"/>
                    </a:lnTo>
                    <a:lnTo>
                      <a:pt x="0" y="147"/>
                    </a:lnTo>
                    <a:lnTo>
                      <a:pt x="6" y="139"/>
                    </a:lnTo>
                    <a:lnTo>
                      <a:pt x="0" y="146"/>
                    </a:lnTo>
                    <a:lnTo>
                      <a:pt x="1" y="153"/>
                    </a:lnTo>
                    <a:lnTo>
                      <a:pt x="7" y="158"/>
                    </a:lnTo>
                    <a:lnTo>
                      <a:pt x="15" y="158"/>
                    </a:lnTo>
                    <a:lnTo>
                      <a:pt x="22" y="150"/>
                    </a:lnTo>
                    <a:close/>
                  </a:path>
                </a:pathLst>
              </a:custGeom>
              <a:solidFill>
                <a:srgbClr val="000000"/>
              </a:solidFill>
              <a:ln w="9525">
                <a:noFill/>
                <a:round/>
                <a:headEnd/>
                <a:tailEnd/>
              </a:ln>
            </p:spPr>
            <p:txBody>
              <a:bodyPr/>
              <a:lstStyle/>
              <a:p>
                <a:endParaRPr lang="en-US"/>
              </a:p>
            </p:txBody>
          </p:sp>
          <p:sp>
            <p:nvSpPr>
              <p:cNvPr id="27877" name="Freeform 190"/>
              <p:cNvSpPr>
                <a:spLocks/>
              </p:cNvSpPr>
              <p:nvPr/>
            </p:nvSpPr>
            <p:spPr bwMode="auto">
              <a:xfrm>
                <a:off x="1846" y="3423"/>
                <a:ext cx="12" cy="15"/>
              </a:xfrm>
              <a:custGeom>
                <a:avLst/>
                <a:gdLst>
                  <a:gd name="T0" fmla="*/ 1 w 24"/>
                  <a:gd name="T1" fmla="*/ 1 h 30"/>
                  <a:gd name="T2" fmla="*/ 1 w 24"/>
                  <a:gd name="T3" fmla="*/ 1 h 30"/>
                  <a:gd name="T4" fmla="*/ 1 w 24"/>
                  <a:gd name="T5" fmla="*/ 1 h 30"/>
                  <a:gd name="T6" fmla="*/ 1 w 24"/>
                  <a:gd name="T7" fmla="*/ 0 h 30"/>
                  <a:gd name="T8" fmla="*/ 0 w 24"/>
                  <a:gd name="T9" fmla="*/ 1 h 30"/>
                  <a:gd name="T10" fmla="*/ 1 w 24"/>
                  <a:gd name="T11" fmla="*/ 1 h 30"/>
                  <a:gd name="T12" fmla="*/ 0 w 24"/>
                  <a:gd name="T13" fmla="*/ 1 h 30"/>
                  <a:gd name="T14" fmla="*/ 1 w 24"/>
                  <a:gd name="T15" fmla="*/ 1 h 30"/>
                  <a:gd name="T16" fmla="*/ 1 w 24"/>
                  <a:gd name="T17" fmla="*/ 1 h 30"/>
                  <a:gd name="T18" fmla="*/ 1 w 24"/>
                  <a:gd name="T19" fmla="*/ 1 h 30"/>
                  <a:gd name="T20" fmla="*/ 1 w 24"/>
                  <a:gd name="T21" fmla="*/ 1 h 30"/>
                  <a:gd name="T22" fmla="*/ 1 w 24"/>
                  <a:gd name="T23" fmla="*/ 1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0"/>
                  <a:gd name="T38" fmla="*/ 24 w 24"/>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0">
                    <a:moveTo>
                      <a:pt x="9" y="30"/>
                    </a:moveTo>
                    <a:lnTo>
                      <a:pt x="22" y="21"/>
                    </a:lnTo>
                    <a:lnTo>
                      <a:pt x="24" y="3"/>
                    </a:lnTo>
                    <a:lnTo>
                      <a:pt x="2" y="0"/>
                    </a:lnTo>
                    <a:lnTo>
                      <a:pt x="0" y="17"/>
                    </a:lnTo>
                    <a:lnTo>
                      <a:pt x="13" y="8"/>
                    </a:lnTo>
                    <a:lnTo>
                      <a:pt x="0" y="17"/>
                    </a:lnTo>
                    <a:lnTo>
                      <a:pt x="3" y="25"/>
                    </a:lnTo>
                    <a:lnTo>
                      <a:pt x="9" y="30"/>
                    </a:lnTo>
                    <a:lnTo>
                      <a:pt x="17" y="28"/>
                    </a:lnTo>
                    <a:lnTo>
                      <a:pt x="22" y="21"/>
                    </a:lnTo>
                    <a:lnTo>
                      <a:pt x="9" y="30"/>
                    </a:lnTo>
                    <a:close/>
                  </a:path>
                </a:pathLst>
              </a:custGeom>
              <a:solidFill>
                <a:srgbClr val="000000"/>
              </a:solidFill>
              <a:ln w="9525">
                <a:noFill/>
                <a:round/>
                <a:headEnd/>
                <a:tailEnd/>
              </a:ln>
            </p:spPr>
            <p:txBody>
              <a:bodyPr/>
              <a:lstStyle/>
              <a:p>
                <a:endParaRPr lang="en-US"/>
              </a:p>
            </p:txBody>
          </p:sp>
          <p:sp>
            <p:nvSpPr>
              <p:cNvPr id="27878" name="Freeform 191"/>
              <p:cNvSpPr>
                <a:spLocks/>
              </p:cNvSpPr>
              <p:nvPr/>
            </p:nvSpPr>
            <p:spPr bwMode="auto">
              <a:xfrm>
                <a:off x="1792" y="3422"/>
                <a:ext cx="60" cy="16"/>
              </a:xfrm>
              <a:custGeom>
                <a:avLst/>
                <a:gdLst>
                  <a:gd name="T0" fmla="*/ 0 w 121"/>
                  <a:gd name="T1" fmla="*/ 1 h 31"/>
                  <a:gd name="T2" fmla="*/ 0 w 121"/>
                  <a:gd name="T3" fmla="*/ 1 h 31"/>
                  <a:gd name="T4" fmla="*/ 0 w 121"/>
                  <a:gd name="T5" fmla="*/ 1 h 31"/>
                  <a:gd name="T6" fmla="*/ 0 w 121"/>
                  <a:gd name="T7" fmla="*/ 1 h 31"/>
                  <a:gd name="T8" fmla="*/ 0 w 121"/>
                  <a:gd name="T9" fmla="*/ 0 h 31"/>
                  <a:gd name="T10" fmla="*/ 0 w 121"/>
                  <a:gd name="T11" fmla="*/ 1 h 31"/>
                  <a:gd name="T12" fmla="*/ 0 w 121"/>
                  <a:gd name="T13" fmla="*/ 0 h 31"/>
                  <a:gd name="T14" fmla="*/ 0 w 121"/>
                  <a:gd name="T15" fmla="*/ 1 h 31"/>
                  <a:gd name="T16" fmla="*/ 0 w 121"/>
                  <a:gd name="T17" fmla="*/ 1 h 31"/>
                  <a:gd name="T18" fmla="*/ 0 w 121"/>
                  <a:gd name="T19" fmla="*/ 1 h 31"/>
                  <a:gd name="T20" fmla="*/ 0 w 121"/>
                  <a:gd name="T21" fmla="*/ 1 h 31"/>
                  <a:gd name="T22" fmla="*/ 0 w 121"/>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
                  <a:gd name="T37" fmla="*/ 0 h 31"/>
                  <a:gd name="T38" fmla="*/ 121 w 12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 h="31">
                    <a:moveTo>
                      <a:pt x="5" y="1"/>
                    </a:moveTo>
                    <a:lnTo>
                      <a:pt x="9" y="22"/>
                    </a:lnTo>
                    <a:lnTo>
                      <a:pt x="117" y="31"/>
                    </a:lnTo>
                    <a:lnTo>
                      <a:pt x="121" y="9"/>
                    </a:lnTo>
                    <a:lnTo>
                      <a:pt x="13" y="0"/>
                    </a:lnTo>
                    <a:lnTo>
                      <a:pt x="17" y="20"/>
                    </a:lnTo>
                    <a:lnTo>
                      <a:pt x="13" y="0"/>
                    </a:lnTo>
                    <a:lnTo>
                      <a:pt x="5" y="3"/>
                    </a:lnTo>
                    <a:lnTo>
                      <a:pt x="0" y="9"/>
                    </a:lnTo>
                    <a:lnTo>
                      <a:pt x="2" y="17"/>
                    </a:lnTo>
                    <a:lnTo>
                      <a:pt x="9" y="22"/>
                    </a:lnTo>
                    <a:lnTo>
                      <a:pt x="5" y="1"/>
                    </a:lnTo>
                    <a:close/>
                  </a:path>
                </a:pathLst>
              </a:custGeom>
              <a:solidFill>
                <a:srgbClr val="000000"/>
              </a:solidFill>
              <a:ln w="9525">
                <a:noFill/>
                <a:round/>
                <a:headEnd/>
                <a:tailEnd/>
              </a:ln>
            </p:spPr>
            <p:txBody>
              <a:bodyPr/>
              <a:lstStyle/>
              <a:p>
                <a:endParaRPr lang="en-US"/>
              </a:p>
            </p:txBody>
          </p:sp>
          <p:sp>
            <p:nvSpPr>
              <p:cNvPr id="27879" name="Freeform 192"/>
              <p:cNvSpPr>
                <a:spLocks/>
              </p:cNvSpPr>
              <p:nvPr/>
            </p:nvSpPr>
            <p:spPr bwMode="auto">
              <a:xfrm>
                <a:off x="1794" y="3344"/>
                <a:ext cx="142" cy="88"/>
              </a:xfrm>
              <a:custGeom>
                <a:avLst/>
                <a:gdLst>
                  <a:gd name="T0" fmla="*/ 1 w 283"/>
                  <a:gd name="T1" fmla="*/ 0 h 177"/>
                  <a:gd name="T2" fmla="*/ 1 w 283"/>
                  <a:gd name="T3" fmla="*/ 0 h 177"/>
                  <a:gd name="T4" fmla="*/ 0 w 283"/>
                  <a:gd name="T5" fmla="*/ 0 h 177"/>
                  <a:gd name="T6" fmla="*/ 1 w 283"/>
                  <a:gd name="T7" fmla="*/ 0 h 177"/>
                  <a:gd name="T8" fmla="*/ 1 w 283"/>
                  <a:gd name="T9" fmla="*/ 0 h 177"/>
                  <a:gd name="T10" fmla="*/ 1 w 283"/>
                  <a:gd name="T11" fmla="*/ 0 h 177"/>
                  <a:gd name="T12" fmla="*/ 1 w 283"/>
                  <a:gd name="T13" fmla="*/ 0 h 177"/>
                  <a:gd name="T14" fmla="*/ 1 w 283"/>
                  <a:gd name="T15" fmla="*/ 0 h 177"/>
                  <a:gd name="T16" fmla="*/ 1 w 283"/>
                  <a:gd name="T17" fmla="*/ 0 h 177"/>
                  <a:gd name="T18" fmla="*/ 1 w 283"/>
                  <a:gd name="T19" fmla="*/ 0 h 177"/>
                  <a:gd name="T20" fmla="*/ 1 w 283"/>
                  <a:gd name="T21" fmla="*/ 0 h 177"/>
                  <a:gd name="T22" fmla="*/ 1 w 283"/>
                  <a:gd name="T23" fmla="*/ 0 h 1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3"/>
                  <a:gd name="T37" fmla="*/ 0 h 177"/>
                  <a:gd name="T38" fmla="*/ 283 w 283"/>
                  <a:gd name="T39" fmla="*/ 177 h 1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3" h="177">
                    <a:moveTo>
                      <a:pt x="274" y="0"/>
                    </a:moveTo>
                    <a:lnTo>
                      <a:pt x="266" y="2"/>
                    </a:lnTo>
                    <a:lnTo>
                      <a:pt x="0" y="158"/>
                    </a:lnTo>
                    <a:lnTo>
                      <a:pt x="12" y="177"/>
                    </a:lnTo>
                    <a:lnTo>
                      <a:pt x="278" y="20"/>
                    </a:lnTo>
                    <a:lnTo>
                      <a:pt x="271" y="22"/>
                    </a:lnTo>
                    <a:lnTo>
                      <a:pt x="278" y="20"/>
                    </a:lnTo>
                    <a:lnTo>
                      <a:pt x="283" y="13"/>
                    </a:lnTo>
                    <a:lnTo>
                      <a:pt x="282" y="5"/>
                    </a:lnTo>
                    <a:lnTo>
                      <a:pt x="275" y="0"/>
                    </a:lnTo>
                    <a:lnTo>
                      <a:pt x="266" y="2"/>
                    </a:lnTo>
                    <a:lnTo>
                      <a:pt x="274" y="0"/>
                    </a:lnTo>
                    <a:close/>
                  </a:path>
                </a:pathLst>
              </a:custGeom>
              <a:solidFill>
                <a:srgbClr val="000000"/>
              </a:solidFill>
              <a:ln w="9525">
                <a:noFill/>
                <a:round/>
                <a:headEnd/>
                <a:tailEnd/>
              </a:ln>
            </p:spPr>
            <p:txBody>
              <a:bodyPr/>
              <a:lstStyle/>
              <a:p>
                <a:endParaRPr lang="en-US"/>
              </a:p>
            </p:txBody>
          </p:sp>
          <p:sp>
            <p:nvSpPr>
              <p:cNvPr id="27880" name="Freeform 193"/>
              <p:cNvSpPr>
                <a:spLocks/>
              </p:cNvSpPr>
              <p:nvPr/>
            </p:nvSpPr>
            <p:spPr bwMode="auto">
              <a:xfrm>
                <a:off x="1930" y="3344"/>
                <a:ext cx="48" cy="16"/>
              </a:xfrm>
              <a:custGeom>
                <a:avLst/>
                <a:gdLst>
                  <a:gd name="T0" fmla="*/ 1 w 95"/>
                  <a:gd name="T1" fmla="*/ 1 h 31"/>
                  <a:gd name="T2" fmla="*/ 1 w 95"/>
                  <a:gd name="T3" fmla="*/ 1 h 31"/>
                  <a:gd name="T4" fmla="*/ 1 w 95"/>
                  <a:gd name="T5" fmla="*/ 0 h 31"/>
                  <a:gd name="T6" fmla="*/ 0 w 95"/>
                  <a:gd name="T7" fmla="*/ 1 h 31"/>
                  <a:gd name="T8" fmla="*/ 1 w 95"/>
                  <a:gd name="T9" fmla="*/ 1 h 31"/>
                  <a:gd name="T10" fmla="*/ 1 w 95"/>
                  <a:gd name="T11" fmla="*/ 1 h 31"/>
                  <a:gd name="T12" fmla="*/ 1 w 95"/>
                  <a:gd name="T13" fmla="*/ 1 h 31"/>
                  <a:gd name="T14" fmla="*/ 1 w 95"/>
                  <a:gd name="T15" fmla="*/ 1 h 31"/>
                  <a:gd name="T16" fmla="*/ 1 w 95"/>
                  <a:gd name="T17" fmla="*/ 1 h 31"/>
                  <a:gd name="T18" fmla="*/ 1 w 95"/>
                  <a:gd name="T19" fmla="*/ 1 h 31"/>
                  <a:gd name="T20" fmla="*/ 1 w 95"/>
                  <a:gd name="T21" fmla="*/ 1 h 31"/>
                  <a:gd name="T22" fmla="*/ 1 w 95"/>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5"/>
                  <a:gd name="T37" fmla="*/ 0 h 31"/>
                  <a:gd name="T38" fmla="*/ 95 w 95"/>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5" h="31">
                    <a:moveTo>
                      <a:pt x="89" y="30"/>
                    </a:moveTo>
                    <a:lnTo>
                      <a:pt x="86" y="10"/>
                    </a:lnTo>
                    <a:lnTo>
                      <a:pt x="3" y="0"/>
                    </a:lnTo>
                    <a:lnTo>
                      <a:pt x="0" y="22"/>
                    </a:lnTo>
                    <a:lnTo>
                      <a:pt x="83" y="31"/>
                    </a:lnTo>
                    <a:lnTo>
                      <a:pt x="79" y="11"/>
                    </a:lnTo>
                    <a:lnTo>
                      <a:pt x="83" y="31"/>
                    </a:lnTo>
                    <a:lnTo>
                      <a:pt x="90" y="28"/>
                    </a:lnTo>
                    <a:lnTo>
                      <a:pt x="95" y="22"/>
                    </a:lnTo>
                    <a:lnTo>
                      <a:pt x="94" y="14"/>
                    </a:lnTo>
                    <a:lnTo>
                      <a:pt x="86" y="10"/>
                    </a:lnTo>
                    <a:lnTo>
                      <a:pt x="89" y="30"/>
                    </a:lnTo>
                    <a:close/>
                  </a:path>
                </a:pathLst>
              </a:custGeom>
              <a:solidFill>
                <a:srgbClr val="000000"/>
              </a:solidFill>
              <a:ln w="9525">
                <a:noFill/>
                <a:round/>
                <a:headEnd/>
                <a:tailEnd/>
              </a:ln>
            </p:spPr>
            <p:txBody>
              <a:bodyPr/>
              <a:lstStyle/>
              <a:p>
                <a:endParaRPr lang="en-US"/>
              </a:p>
            </p:txBody>
          </p:sp>
          <p:sp>
            <p:nvSpPr>
              <p:cNvPr id="27881" name="Freeform 194"/>
              <p:cNvSpPr>
                <a:spLocks/>
              </p:cNvSpPr>
              <p:nvPr/>
            </p:nvSpPr>
            <p:spPr bwMode="auto">
              <a:xfrm>
                <a:off x="2152" y="3416"/>
                <a:ext cx="83" cy="90"/>
              </a:xfrm>
              <a:custGeom>
                <a:avLst/>
                <a:gdLst>
                  <a:gd name="T0" fmla="*/ 1 w 166"/>
                  <a:gd name="T1" fmla="*/ 1 h 180"/>
                  <a:gd name="T2" fmla="*/ 1 w 166"/>
                  <a:gd name="T3" fmla="*/ 1 h 180"/>
                  <a:gd name="T4" fmla="*/ 1 w 166"/>
                  <a:gd name="T5" fmla="*/ 1 h 180"/>
                  <a:gd name="T6" fmla="*/ 1 w 166"/>
                  <a:gd name="T7" fmla="*/ 1 h 180"/>
                  <a:gd name="T8" fmla="*/ 1 w 166"/>
                  <a:gd name="T9" fmla="*/ 1 h 180"/>
                  <a:gd name="T10" fmla="*/ 1 w 166"/>
                  <a:gd name="T11" fmla="*/ 1 h 180"/>
                  <a:gd name="T12" fmla="*/ 1 w 166"/>
                  <a:gd name="T13" fmla="*/ 1 h 180"/>
                  <a:gd name="T14" fmla="*/ 1 w 166"/>
                  <a:gd name="T15" fmla="*/ 1 h 180"/>
                  <a:gd name="T16" fmla="*/ 1 w 166"/>
                  <a:gd name="T17" fmla="*/ 1 h 180"/>
                  <a:gd name="T18" fmla="*/ 1 w 166"/>
                  <a:gd name="T19" fmla="*/ 1 h 180"/>
                  <a:gd name="T20" fmla="*/ 1 w 166"/>
                  <a:gd name="T21" fmla="*/ 1 h 180"/>
                  <a:gd name="T22" fmla="*/ 1 w 166"/>
                  <a:gd name="T23" fmla="*/ 1 h 180"/>
                  <a:gd name="T24" fmla="*/ 1 w 166"/>
                  <a:gd name="T25" fmla="*/ 1 h 180"/>
                  <a:gd name="T26" fmla="*/ 1 w 166"/>
                  <a:gd name="T27" fmla="*/ 1 h 180"/>
                  <a:gd name="T28" fmla="*/ 1 w 166"/>
                  <a:gd name="T29" fmla="*/ 0 h 180"/>
                  <a:gd name="T30" fmla="*/ 1 w 166"/>
                  <a:gd name="T31" fmla="*/ 0 h 180"/>
                  <a:gd name="T32" fmla="*/ 1 w 166"/>
                  <a:gd name="T33" fmla="*/ 0 h 180"/>
                  <a:gd name="T34" fmla="*/ 1 w 166"/>
                  <a:gd name="T35" fmla="*/ 0 h 180"/>
                  <a:gd name="T36" fmla="*/ 1 w 166"/>
                  <a:gd name="T37" fmla="*/ 1 h 180"/>
                  <a:gd name="T38" fmla="*/ 1 w 166"/>
                  <a:gd name="T39" fmla="*/ 1 h 180"/>
                  <a:gd name="T40" fmla="*/ 0 w 166"/>
                  <a:gd name="T41" fmla="*/ 1 h 180"/>
                  <a:gd name="T42" fmla="*/ 0 w 166"/>
                  <a:gd name="T43" fmla="*/ 1 h 180"/>
                  <a:gd name="T44" fmla="*/ 1 w 166"/>
                  <a:gd name="T45" fmla="*/ 1 h 180"/>
                  <a:gd name="T46" fmla="*/ 1 w 166"/>
                  <a:gd name="T47" fmla="*/ 1 h 180"/>
                  <a:gd name="T48" fmla="*/ 1 w 166"/>
                  <a:gd name="T49" fmla="*/ 1 h 180"/>
                  <a:gd name="T50" fmla="*/ 1 w 166"/>
                  <a:gd name="T51" fmla="*/ 1 h 180"/>
                  <a:gd name="T52" fmla="*/ 1 w 166"/>
                  <a:gd name="T53" fmla="*/ 1 h 180"/>
                  <a:gd name="T54" fmla="*/ 1 w 166"/>
                  <a:gd name="T55" fmla="*/ 1 h 180"/>
                  <a:gd name="T56" fmla="*/ 1 w 166"/>
                  <a:gd name="T57" fmla="*/ 1 h 180"/>
                  <a:gd name="T58" fmla="*/ 1 w 166"/>
                  <a:gd name="T59" fmla="*/ 1 h 180"/>
                  <a:gd name="T60" fmla="*/ 1 w 166"/>
                  <a:gd name="T61" fmla="*/ 1 h 180"/>
                  <a:gd name="T62" fmla="*/ 1 w 166"/>
                  <a:gd name="T63" fmla="*/ 1 h 180"/>
                  <a:gd name="T64" fmla="*/ 1 w 166"/>
                  <a:gd name="T65" fmla="*/ 1 h 180"/>
                  <a:gd name="T66" fmla="*/ 1 w 166"/>
                  <a:gd name="T67" fmla="*/ 1 h 18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6"/>
                  <a:gd name="T103" fmla="*/ 0 h 180"/>
                  <a:gd name="T104" fmla="*/ 166 w 166"/>
                  <a:gd name="T105" fmla="*/ 180 h 18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6" h="180">
                    <a:moveTo>
                      <a:pt x="72" y="180"/>
                    </a:moveTo>
                    <a:lnTo>
                      <a:pt x="77" y="180"/>
                    </a:lnTo>
                    <a:lnTo>
                      <a:pt x="88" y="180"/>
                    </a:lnTo>
                    <a:lnTo>
                      <a:pt x="100" y="180"/>
                    </a:lnTo>
                    <a:lnTo>
                      <a:pt x="111" y="178"/>
                    </a:lnTo>
                    <a:lnTo>
                      <a:pt x="119" y="177"/>
                    </a:lnTo>
                    <a:lnTo>
                      <a:pt x="124" y="174"/>
                    </a:lnTo>
                    <a:lnTo>
                      <a:pt x="130" y="171"/>
                    </a:lnTo>
                    <a:lnTo>
                      <a:pt x="135" y="169"/>
                    </a:lnTo>
                    <a:lnTo>
                      <a:pt x="140" y="169"/>
                    </a:lnTo>
                    <a:lnTo>
                      <a:pt x="146" y="169"/>
                    </a:lnTo>
                    <a:lnTo>
                      <a:pt x="151" y="169"/>
                    </a:lnTo>
                    <a:lnTo>
                      <a:pt x="152" y="169"/>
                    </a:lnTo>
                    <a:lnTo>
                      <a:pt x="154" y="164"/>
                    </a:lnTo>
                    <a:lnTo>
                      <a:pt x="157" y="153"/>
                    </a:lnTo>
                    <a:lnTo>
                      <a:pt x="160" y="141"/>
                    </a:lnTo>
                    <a:lnTo>
                      <a:pt x="162" y="128"/>
                    </a:lnTo>
                    <a:lnTo>
                      <a:pt x="162" y="121"/>
                    </a:lnTo>
                    <a:lnTo>
                      <a:pt x="163" y="106"/>
                    </a:lnTo>
                    <a:lnTo>
                      <a:pt x="165" y="89"/>
                    </a:lnTo>
                    <a:lnTo>
                      <a:pt x="166" y="70"/>
                    </a:lnTo>
                    <a:lnTo>
                      <a:pt x="166" y="52"/>
                    </a:lnTo>
                    <a:lnTo>
                      <a:pt x="163" y="35"/>
                    </a:lnTo>
                    <a:lnTo>
                      <a:pt x="158" y="20"/>
                    </a:lnTo>
                    <a:lnTo>
                      <a:pt x="151" y="13"/>
                    </a:lnTo>
                    <a:lnTo>
                      <a:pt x="141" y="8"/>
                    </a:lnTo>
                    <a:lnTo>
                      <a:pt x="130" y="5"/>
                    </a:lnTo>
                    <a:lnTo>
                      <a:pt x="121" y="3"/>
                    </a:lnTo>
                    <a:lnTo>
                      <a:pt x="111" y="2"/>
                    </a:lnTo>
                    <a:lnTo>
                      <a:pt x="104" y="0"/>
                    </a:lnTo>
                    <a:lnTo>
                      <a:pt x="96" y="0"/>
                    </a:lnTo>
                    <a:lnTo>
                      <a:pt x="88" y="0"/>
                    </a:lnTo>
                    <a:lnTo>
                      <a:pt x="83" y="0"/>
                    </a:lnTo>
                    <a:lnTo>
                      <a:pt x="77" y="0"/>
                    </a:lnTo>
                    <a:lnTo>
                      <a:pt x="68" y="0"/>
                    </a:lnTo>
                    <a:lnTo>
                      <a:pt x="57" y="0"/>
                    </a:lnTo>
                    <a:lnTo>
                      <a:pt x="44" y="2"/>
                    </a:lnTo>
                    <a:lnTo>
                      <a:pt x="30" y="5"/>
                    </a:lnTo>
                    <a:lnTo>
                      <a:pt x="19" y="8"/>
                    </a:lnTo>
                    <a:lnTo>
                      <a:pt x="10" y="14"/>
                    </a:lnTo>
                    <a:lnTo>
                      <a:pt x="3" y="22"/>
                    </a:lnTo>
                    <a:lnTo>
                      <a:pt x="0" y="30"/>
                    </a:lnTo>
                    <a:lnTo>
                      <a:pt x="0" y="38"/>
                    </a:lnTo>
                    <a:lnTo>
                      <a:pt x="0" y="45"/>
                    </a:lnTo>
                    <a:lnTo>
                      <a:pt x="2" y="53"/>
                    </a:lnTo>
                    <a:lnTo>
                      <a:pt x="3" y="60"/>
                    </a:lnTo>
                    <a:lnTo>
                      <a:pt x="5" y="66"/>
                    </a:lnTo>
                    <a:lnTo>
                      <a:pt x="8" y="70"/>
                    </a:lnTo>
                    <a:lnTo>
                      <a:pt x="10" y="74"/>
                    </a:lnTo>
                    <a:lnTo>
                      <a:pt x="14" y="80"/>
                    </a:lnTo>
                    <a:lnTo>
                      <a:pt x="19" y="88"/>
                    </a:lnTo>
                    <a:lnTo>
                      <a:pt x="22" y="96"/>
                    </a:lnTo>
                    <a:lnTo>
                      <a:pt x="24" y="102"/>
                    </a:lnTo>
                    <a:lnTo>
                      <a:pt x="24" y="106"/>
                    </a:lnTo>
                    <a:lnTo>
                      <a:pt x="24" y="113"/>
                    </a:lnTo>
                    <a:lnTo>
                      <a:pt x="24" y="119"/>
                    </a:lnTo>
                    <a:lnTo>
                      <a:pt x="24" y="121"/>
                    </a:lnTo>
                    <a:lnTo>
                      <a:pt x="25" y="121"/>
                    </a:lnTo>
                    <a:lnTo>
                      <a:pt x="30" y="122"/>
                    </a:lnTo>
                    <a:lnTo>
                      <a:pt x="35" y="122"/>
                    </a:lnTo>
                    <a:lnTo>
                      <a:pt x="41" y="124"/>
                    </a:lnTo>
                    <a:lnTo>
                      <a:pt x="46" y="127"/>
                    </a:lnTo>
                    <a:lnTo>
                      <a:pt x="49" y="133"/>
                    </a:lnTo>
                    <a:lnTo>
                      <a:pt x="53" y="142"/>
                    </a:lnTo>
                    <a:lnTo>
                      <a:pt x="57" y="152"/>
                    </a:lnTo>
                    <a:lnTo>
                      <a:pt x="61" y="163"/>
                    </a:lnTo>
                    <a:lnTo>
                      <a:pt x="66" y="171"/>
                    </a:lnTo>
                    <a:lnTo>
                      <a:pt x="71" y="177"/>
                    </a:lnTo>
                    <a:lnTo>
                      <a:pt x="72" y="180"/>
                    </a:lnTo>
                    <a:close/>
                  </a:path>
                </a:pathLst>
              </a:custGeom>
              <a:solidFill>
                <a:srgbClr val="994C19"/>
              </a:solidFill>
              <a:ln w="9525">
                <a:noFill/>
                <a:round/>
                <a:headEnd/>
                <a:tailEnd/>
              </a:ln>
            </p:spPr>
            <p:txBody>
              <a:bodyPr/>
              <a:lstStyle/>
              <a:p>
                <a:endParaRPr lang="en-US"/>
              </a:p>
            </p:txBody>
          </p:sp>
          <p:sp>
            <p:nvSpPr>
              <p:cNvPr id="27882" name="Freeform 195"/>
              <p:cNvSpPr>
                <a:spLocks/>
              </p:cNvSpPr>
              <p:nvPr/>
            </p:nvSpPr>
            <p:spPr bwMode="auto">
              <a:xfrm>
                <a:off x="2188" y="3500"/>
                <a:ext cx="20" cy="11"/>
              </a:xfrm>
              <a:custGeom>
                <a:avLst/>
                <a:gdLst>
                  <a:gd name="T0" fmla="*/ 0 w 41"/>
                  <a:gd name="T1" fmla="*/ 0 h 24"/>
                  <a:gd name="T2" fmla="*/ 0 w 41"/>
                  <a:gd name="T3" fmla="*/ 0 h 24"/>
                  <a:gd name="T4" fmla="*/ 0 w 41"/>
                  <a:gd name="T5" fmla="*/ 0 h 24"/>
                  <a:gd name="T6" fmla="*/ 0 w 41"/>
                  <a:gd name="T7" fmla="*/ 0 h 24"/>
                  <a:gd name="T8" fmla="*/ 0 w 41"/>
                  <a:gd name="T9" fmla="*/ 0 h 24"/>
                  <a:gd name="T10" fmla="*/ 0 w 41"/>
                  <a:gd name="T11" fmla="*/ 0 h 24"/>
                  <a:gd name="T12" fmla="*/ 0 w 41"/>
                  <a:gd name="T13" fmla="*/ 0 h 24"/>
                  <a:gd name="T14" fmla="*/ 0 w 41"/>
                  <a:gd name="T15" fmla="*/ 0 h 24"/>
                  <a:gd name="T16" fmla="*/ 0 w 41"/>
                  <a:gd name="T17" fmla="*/ 0 h 24"/>
                  <a:gd name="T18" fmla="*/ 0 w 41"/>
                  <a:gd name="T19" fmla="*/ 0 h 24"/>
                  <a:gd name="T20" fmla="*/ 0 w 41"/>
                  <a:gd name="T21" fmla="*/ 0 h 24"/>
                  <a:gd name="T22" fmla="*/ 0 w 41"/>
                  <a:gd name="T23" fmla="*/ 0 h 24"/>
                  <a:gd name="T24" fmla="*/ 0 w 41"/>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
                  <a:gd name="T40" fmla="*/ 0 h 24"/>
                  <a:gd name="T41" fmla="*/ 41 w 41"/>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 h="24">
                    <a:moveTo>
                      <a:pt x="38" y="0"/>
                    </a:moveTo>
                    <a:lnTo>
                      <a:pt x="38" y="0"/>
                    </a:lnTo>
                    <a:lnTo>
                      <a:pt x="28" y="2"/>
                    </a:lnTo>
                    <a:lnTo>
                      <a:pt x="16" y="2"/>
                    </a:lnTo>
                    <a:lnTo>
                      <a:pt x="5" y="2"/>
                    </a:lnTo>
                    <a:lnTo>
                      <a:pt x="0" y="2"/>
                    </a:lnTo>
                    <a:lnTo>
                      <a:pt x="0" y="24"/>
                    </a:lnTo>
                    <a:lnTo>
                      <a:pt x="5" y="24"/>
                    </a:lnTo>
                    <a:lnTo>
                      <a:pt x="16" y="24"/>
                    </a:lnTo>
                    <a:lnTo>
                      <a:pt x="28" y="24"/>
                    </a:lnTo>
                    <a:lnTo>
                      <a:pt x="41" y="22"/>
                    </a:lnTo>
                    <a:lnTo>
                      <a:pt x="38" y="0"/>
                    </a:lnTo>
                    <a:close/>
                  </a:path>
                </a:pathLst>
              </a:custGeom>
              <a:solidFill>
                <a:srgbClr val="000000"/>
              </a:solidFill>
              <a:ln w="9525">
                <a:noFill/>
                <a:round/>
                <a:headEnd/>
                <a:tailEnd/>
              </a:ln>
            </p:spPr>
            <p:txBody>
              <a:bodyPr/>
              <a:lstStyle/>
              <a:p>
                <a:endParaRPr lang="en-US"/>
              </a:p>
            </p:txBody>
          </p:sp>
          <p:sp>
            <p:nvSpPr>
              <p:cNvPr id="27883" name="Freeform 196"/>
              <p:cNvSpPr>
                <a:spLocks/>
              </p:cNvSpPr>
              <p:nvPr/>
            </p:nvSpPr>
            <p:spPr bwMode="auto">
              <a:xfrm>
                <a:off x="2207" y="3495"/>
                <a:ext cx="14" cy="16"/>
              </a:xfrm>
              <a:custGeom>
                <a:avLst/>
                <a:gdLst>
                  <a:gd name="T0" fmla="*/ 1 w 28"/>
                  <a:gd name="T1" fmla="*/ 0 h 31"/>
                  <a:gd name="T2" fmla="*/ 1 w 28"/>
                  <a:gd name="T3" fmla="*/ 0 h 31"/>
                  <a:gd name="T4" fmla="*/ 1 w 28"/>
                  <a:gd name="T5" fmla="*/ 1 h 31"/>
                  <a:gd name="T6" fmla="*/ 1 w 28"/>
                  <a:gd name="T7" fmla="*/ 1 h 31"/>
                  <a:gd name="T8" fmla="*/ 1 w 28"/>
                  <a:gd name="T9" fmla="*/ 1 h 31"/>
                  <a:gd name="T10" fmla="*/ 0 w 28"/>
                  <a:gd name="T11" fmla="*/ 1 h 31"/>
                  <a:gd name="T12" fmla="*/ 1 w 28"/>
                  <a:gd name="T13" fmla="*/ 1 h 31"/>
                  <a:gd name="T14" fmla="*/ 1 w 28"/>
                  <a:gd name="T15" fmla="*/ 1 h 31"/>
                  <a:gd name="T16" fmla="*/ 1 w 28"/>
                  <a:gd name="T17" fmla="*/ 1 h 31"/>
                  <a:gd name="T18" fmla="*/ 1 w 28"/>
                  <a:gd name="T19" fmla="*/ 1 h 31"/>
                  <a:gd name="T20" fmla="*/ 1 w 28"/>
                  <a:gd name="T21" fmla="*/ 1 h 31"/>
                  <a:gd name="T22" fmla="*/ 1 w 28"/>
                  <a:gd name="T23" fmla="*/ 1 h 31"/>
                  <a:gd name="T24" fmla="*/ 1 w 28"/>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1"/>
                  <a:gd name="T41" fmla="*/ 28 w 28"/>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1">
                    <a:moveTo>
                      <a:pt x="22" y="0"/>
                    </a:moveTo>
                    <a:lnTo>
                      <a:pt x="23" y="0"/>
                    </a:lnTo>
                    <a:lnTo>
                      <a:pt x="16" y="3"/>
                    </a:lnTo>
                    <a:lnTo>
                      <a:pt x="9" y="6"/>
                    </a:lnTo>
                    <a:lnTo>
                      <a:pt x="6" y="8"/>
                    </a:lnTo>
                    <a:lnTo>
                      <a:pt x="0" y="9"/>
                    </a:lnTo>
                    <a:lnTo>
                      <a:pt x="3" y="31"/>
                    </a:lnTo>
                    <a:lnTo>
                      <a:pt x="12" y="30"/>
                    </a:lnTo>
                    <a:lnTo>
                      <a:pt x="19" y="25"/>
                    </a:lnTo>
                    <a:lnTo>
                      <a:pt x="25" y="22"/>
                    </a:lnTo>
                    <a:lnTo>
                      <a:pt x="26" y="22"/>
                    </a:lnTo>
                    <a:lnTo>
                      <a:pt x="28" y="22"/>
                    </a:lnTo>
                    <a:lnTo>
                      <a:pt x="22" y="0"/>
                    </a:lnTo>
                    <a:close/>
                  </a:path>
                </a:pathLst>
              </a:custGeom>
              <a:solidFill>
                <a:srgbClr val="000000"/>
              </a:solidFill>
              <a:ln w="9525">
                <a:noFill/>
                <a:round/>
                <a:headEnd/>
                <a:tailEnd/>
              </a:ln>
            </p:spPr>
            <p:txBody>
              <a:bodyPr/>
              <a:lstStyle/>
              <a:p>
                <a:endParaRPr lang="en-US"/>
              </a:p>
            </p:txBody>
          </p:sp>
          <p:sp>
            <p:nvSpPr>
              <p:cNvPr id="27884" name="Freeform 197"/>
              <p:cNvSpPr>
                <a:spLocks/>
              </p:cNvSpPr>
              <p:nvPr/>
            </p:nvSpPr>
            <p:spPr bwMode="auto">
              <a:xfrm>
                <a:off x="2218" y="3495"/>
                <a:ext cx="16" cy="11"/>
              </a:xfrm>
              <a:custGeom>
                <a:avLst/>
                <a:gdLst>
                  <a:gd name="T0" fmla="*/ 1 w 31"/>
                  <a:gd name="T1" fmla="*/ 1 h 22"/>
                  <a:gd name="T2" fmla="*/ 1 w 31"/>
                  <a:gd name="T3" fmla="*/ 0 h 22"/>
                  <a:gd name="T4" fmla="*/ 1 w 31"/>
                  <a:gd name="T5" fmla="*/ 0 h 22"/>
                  <a:gd name="T6" fmla="*/ 1 w 31"/>
                  <a:gd name="T7" fmla="*/ 0 h 22"/>
                  <a:gd name="T8" fmla="*/ 1 w 31"/>
                  <a:gd name="T9" fmla="*/ 0 h 22"/>
                  <a:gd name="T10" fmla="*/ 0 w 31"/>
                  <a:gd name="T11" fmla="*/ 0 h 22"/>
                  <a:gd name="T12" fmla="*/ 1 w 31"/>
                  <a:gd name="T13" fmla="*/ 1 h 22"/>
                  <a:gd name="T14" fmla="*/ 1 w 31"/>
                  <a:gd name="T15" fmla="*/ 1 h 22"/>
                  <a:gd name="T16" fmla="*/ 1 w 31"/>
                  <a:gd name="T17" fmla="*/ 1 h 22"/>
                  <a:gd name="T18" fmla="*/ 1 w 31"/>
                  <a:gd name="T19" fmla="*/ 1 h 22"/>
                  <a:gd name="T20" fmla="*/ 1 w 31"/>
                  <a:gd name="T21" fmla="*/ 1 h 22"/>
                  <a:gd name="T22" fmla="*/ 1 w 31"/>
                  <a:gd name="T23" fmla="*/ 1 h 22"/>
                  <a:gd name="T24" fmla="*/ 1 w 31"/>
                  <a:gd name="T25" fmla="*/ 1 h 22"/>
                  <a:gd name="T26" fmla="*/ 1 w 31"/>
                  <a:gd name="T27" fmla="*/ 1 h 22"/>
                  <a:gd name="T28" fmla="*/ 1 w 31"/>
                  <a:gd name="T29" fmla="*/ 1 h 22"/>
                  <a:gd name="T30" fmla="*/ 1 w 31"/>
                  <a:gd name="T31" fmla="*/ 1 h 22"/>
                  <a:gd name="T32" fmla="*/ 1 w 31"/>
                  <a:gd name="T33" fmla="*/ 0 h 22"/>
                  <a:gd name="T34" fmla="*/ 1 w 31"/>
                  <a:gd name="T35" fmla="*/ 1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22"/>
                  <a:gd name="T56" fmla="*/ 31 w 31"/>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22">
                    <a:moveTo>
                      <a:pt x="9" y="8"/>
                    </a:moveTo>
                    <a:lnTo>
                      <a:pt x="22" y="0"/>
                    </a:lnTo>
                    <a:lnTo>
                      <a:pt x="19" y="0"/>
                    </a:lnTo>
                    <a:lnTo>
                      <a:pt x="14" y="0"/>
                    </a:lnTo>
                    <a:lnTo>
                      <a:pt x="8" y="0"/>
                    </a:lnTo>
                    <a:lnTo>
                      <a:pt x="0" y="0"/>
                    </a:lnTo>
                    <a:lnTo>
                      <a:pt x="6" y="22"/>
                    </a:lnTo>
                    <a:lnTo>
                      <a:pt x="8" y="22"/>
                    </a:lnTo>
                    <a:lnTo>
                      <a:pt x="14" y="22"/>
                    </a:lnTo>
                    <a:lnTo>
                      <a:pt x="19" y="22"/>
                    </a:lnTo>
                    <a:lnTo>
                      <a:pt x="31" y="14"/>
                    </a:lnTo>
                    <a:lnTo>
                      <a:pt x="19" y="22"/>
                    </a:lnTo>
                    <a:lnTo>
                      <a:pt x="26" y="19"/>
                    </a:lnTo>
                    <a:lnTo>
                      <a:pt x="31" y="13"/>
                    </a:lnTo>
                    <a:lnTo>
                      <a:pt x="30" y="5"/>
                    </a:lnTo>
                    <a:lnTo>
                      <a:pt x="22" y="0"/>
                    </a:lnTo>
                    <a:lnTo>
                      <a:pt x="9" y="8"/>
                    </a:lnTo>
                    <a:close/>
                  </a:path>
                </a:pathLst>
              </a:custGeom>
              <a:solidFill>
                <a:srgbClr val="000000"/>
              </a:solidFill>
              <a:ln w="9525">
                <a:noFill/>
                <a:round/>
                <a:headEnd/>
                <a:tailEnd/>
              </a:ln>
            </p:spPr>
            <p:txBody>
              <a:bodyPr/>
              <a:lstStyle/>
              <a:p>
                <a:endParaRPr lang="en-US"/>
              </a:p>
            </p:txBody>
          </p:sp>
          <p:sp>
            <p:nvSpPr>
              <p:cNvPr id="27885" name="Freeform 198"/>
              <p:cNvSpPr>
                <a:spLocks/>
              </p:cNvSpPr>
              <p:nvPr/>
            </p:nvSpPr>
            <p:spPr bwMode="auto">
              <a:xfrm>
                <a:off x="2223" y="3480"/>
                <a:ext cx="15" cy="22"/>
              </a:xfrm>
              <a:custGeom>
                <a:avLst/>
                <a:gdLst>
                  <a:gd name="T0" fmla="*/ 0 w 31"/>
                  <a:gd name="T1" fmla="*/ 0 h 44"/>
                  <a:gd name="T2" fmla="*/ 0 w 31"/>
                  <a:gd name="T3" fmla="*/ 0 h 44"/>
                  <a:gd name="T4" fmla="*/ 0 w 31"/>
                  <a:gd name="T5" fmla="*/ 1 h 44"/>
                  <a:gd name="T6" fmla="*/ 0 w 31"/>
                  <a:gd name="T7" fmla="*/ 1 h 44"/>
                  <a:gd name="T8" fmla="*/ 0 w 31"/>
                  <a:gd name="T9" fmla="*/ 1 h 44"/>
                  <a:gd name="T10" fmla="*/ 0 w 31"/>
                  <a:gd name="T11" fmla="*/ 1 h 44"/>
                  <a:gd name="T12" fmla="*/ 0 w 31"/>
                  <a:gd name="T13" fmla="*/ 1 h 44"/>
                  <a:gd name="T14" fmla="*/ 0 w 31"/>
                  <a:gd name="T15" fmla="*/ 1 h 44"/>
                  <a:gd name="T16" fmla="*/ 0 w 31"/>
                  <a:gd name="T17" fmla="*/ 1 h 44"/>
                  <a:gd name="T18" fmla="*/ 0 w 31"/>
                  <a:gd name="T19" fmla="*/ 1 h 44"/>
                  <a:gd name="T20" fmla="*/ 0 w 31"/>
                  <a:gd name="T21" fmla="*/ 0 h 44"/>
                  <a:gd name="T22" fmla="*/ 0 w 31"/>
                  <a:gd name="T23" fmla="*/ 0 h 44"/>
                  <a:gd name="T24" fmla="*/ 0 w 31"/>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44"/>
                  <a:gd name="T41" fmla="*/ 31 w 31"/>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44">
                    <a:moveTo>
                      <a:pt x="10" y="0"/>
                    </a:moveTo>
                    <a:lnTo>
                      <a:pt x="10" y="0"/>
                    </a:lnTo>
                    <a:lnTo>
                      <a:pt x="8" y="11"/>
                    </a:lnTo>
                    <a:lnTo>
                      <a:pt x="5" y="22"/>
                    </a:lnTo>
                    <a:lnTo>
                      <a:pt x="2" y="33"/>
                    </a:lnTo>
                    <a:lnTo>
                      <a:pt x="0" y="38"/>
                    </a:lnTo>
                    <a:lnTo>
                      <a:pt x="22" y="44"/>
                    </a:lnTo>
                    <a:lnTo>
                      <a:pt x="24" y="39"/>
                    </a:lnTo>
                    <a:lnTo>
                      <a:pt x="27" y="29"/>
                    </a:lnTo>
                    <a:lnTo>
                      <a:pt x="30" y="14"/>
                    </a:lnTo>
                    <a:lnTo>
                      <a:pt x="31" y="0"/>
                    </a:lnTo>
                    <a:lnTo>
                      <a:pt x="10" y="0"/>
                    </a:lnTo>
                    <a:close/>
                  </a:path>
                </a:pathLst>
              </a:custGeom>
              <a:solidFill>
                <a:srgbClr val="000000"/>
              </a:solidFill>
              <a:ln w="9525">
                <a:noFill/>
                <a:round/>
                <a:headEnd/>
                <a:tailEnd/>
              </a:ln>
            </p:spPr>
            <p:txBody>
              <a:bodyPr/>
              <a:lstStyle/>
              <a:p>
                <a:endParaRPr lang="en-US"/>
              </a:p>
            </p:txBody>
          </p:sp>
          <p:sp>
            <p:nvSpPr>
              <p:cNvPr id="27886" name="Freeform 199"/>
              <p:cNvSpPr>
                <a:spLocks/>
              </p:cNvSpPr>
              <p:nvPr/>
            </p:nvSpPr>
            <p:spPr bwMode="auto">
              <a:xfrm>
                <a:off x="2225" y="3418"/>
                <a:ext cx="16" cy="62"/>
              </a:xfrm>
              <a:custGeom>
                <a:avLst/>
                <a:gdLst>
                  <a:gd name="T0" fmla="*/ 0 w 31"/>
                  <a:gd name="T1" fmla="*/ 0 h 125"/>
                  <a:gd name="T2" fmla="*/ 0 w 31"/>
                  <a:gd name="T3" fmla="*/ 0 h 125"/>
                  <a:gd name="T4" fmla="*/ 1 w 31"/>
                  <a:gd name="T5" fmla="*/ 0 h 125"/>
                  <a:gd name="T6" fmla="*/ 1 w 31"/>
                  <a:gd name="T7" fmla="*/ 0 h 125"/>
                  <a:gd name="T8" fmla="*/ 1 w 31"/>
                  <a:gd name="T9" fmla="*/ 0 h 125"/>
                  <a:gd name="T10" fmla="*/ 1 w 31"/>
                  <a:gd name="T11" fmla="*/ 0 h 125"/>
                  <a:gd name="T12" fmla="*/ 1 w 31"/>
                  <a:gd name="T13" fmla="*/ 0 h 125"/>
                  <a:gd name="T14" fmla="*/ 1 w 31"/>
                  <a:gd name="T15" fmla="*/ 0 h 125"/>
                  <a:gd name="T16" fmla="*/ 1 w 31"/>
                  <a:gd name="T17" fmla="*/ 0 h 125"/>
                  <a:gd name="T18" fmla="*/ 1 w 31"/>
                  <a:gd name="T19" fmla="*/ 0 h 125"/>
                  <a:gd name="T20" fmla="*/ 1 w 31"/>
                  <a:gd name="T21" fmla="*/ 0 h 125"/>
                  <a:gd name="T22" fmla="*/ 1 w 31"/>
                  <a:gd name="T23" fmla="*/ 0 h 125"/>
                  <a:gd name="T24" fmla="*/ 1 w 31"/>
                  <a:gd name="T25" fmla="*/ 0 h 125"/>
                  <a:gd name="T26" fmla="*/ 1 w 31"/>
                  <a:gd name="T27" fmla="*/ 0 h 125"/>
                  <a:gd name="T28" fmla="*/ 1 w 31"/>
                  <a:gd name="T29" fmla="*/ 0 h 125"/>
                  <a:gd name="T30" fmla="*/ 1 w 31"/>
                  <a:gd name="T31" fmla="*/ 0 h 125"/>
                  <a:gd name="T32" fmla="*/ 1 w 31"/>
                  <a:gd name="T33" fmla="*/ 0 h 125"/>
                  <a:gd name="T34" fmla="*/ 1 w 31"/>
                  <a:gd name="T35" fmla="*/ 0 h 125"/>
                  <a:gd name="T36" fmla="*/ 1 w 31"/>
                  <a:gd name="T37" fmla="*/ 0 h 125"/>
                  <a:gd name="T38" fmla="*/ 1 w 31"/>
                  <a:gd name="T39" fmla="*/ 0 h 125"/>
                  <a:gd name="T40" fmla="*/ 0 w 31"/>
                  <a:gd name="T41" fmla="*/ 0 h 12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1"/>
                  <a:gd name="T64" fmla="*/ 0 h 125"/>
                  <a:gd name="T65" fmla="*/ 31 w 31"/>
                  <a:gd name="T66" fmla="*/ 125 h 12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1" h="125">
                    <a:moveTo>
                      <a:pt x="0" y="19"/>
                    </a:moveTo>
                    <a:lnTo>
                      <a:pt x="0" y="19"/>
                    </a:lnTo>
                    <a:lnTo>
                      <a:pt x="3" y="22"/>
                    </a:lnTo>
                    <a:lnTo>
                      <a:pt x="6" y="35"/>
                    </a:lnTo>
                    <a:lnTo>
                      <a:pt x="9" y="50"/>
                    </a:lnTo>
                    <a:lnTo>
                      <a:pt x="9" y="67"/>
                    </a:lnTo>
                    <a:lnTo>
                      <a:pt x="8" y="85"/>
                    </a:lnTo>
                    <a:lnTo>
                      <a:pt x="6" y="102"/>
                    </a:lnTo>
                    <a:lnTo>
                      <a:pt x="5" y="118"/>
                    </a:lnTo>
                    <a:lnTo>
                      <a:pt x="5" y="125"/>
                    </a:lnTo>
                    <a:lnTo>
                      <a:pt x="26" y="125"/>
                    </a:lnTo>
                    <a:lnTo>
                      <a:pt x="26" y="118"/>
                    </a:lnTo>
                    <a:lnTo>
                      <a:pt x="28" y="105"/>
                    </a:lnTo>
                    <a:lnTo>
                      <a:pt x="30" y="88"/>
                    </a:lnTo>
                    <a:lnTo>
                      <a:pt x="31" y="67"/>
                    </a:lnTo>
                    <a:lnTo>
                      <a:pt x="31" y="47"/>
                    </a:lnTo>
                    <a:lnTo>
                      <a:pt x="28" y="28"/>
                    </a:lnTo>
                    <a:lnTo>
                      <a:pt x="22" y="13"/>
                    </a:lnTo>
                    <a:lnTo>
                      <a:pt x="9" y="0"/>
                    </a:lnTo>
                    <a:lnTo>
                      <a:pt x="0" y="19"/>
                    </a:lnTo>
                    <a:close/>
                  </a:path>
                </a:pathLst>
              </a:custGeom>
              <a:solidFill>
                <a:srgbClr val="000000"/>
              </a:solidFill>
              <a:ln w="9525">
                <a:noFill/>
                <a:round/>
                <a:headEnd/>
                <a:tailEnd/>
              </a:ln>
            </p:spPr>
            <p:txBody>
              <a:bodyPr/>
              <a:lstStyle/>
              <a:p>
                <a:endParaRPr lang="en-US"/>
              </a:p>
            </p:txBody>
          </p:sp>
          <p:sp>
            <p:nvSpPr>
              <p:cNvPr id="27887" name="Freeform 200"/>
              <p:cNvSpPr>
                <a:spLocks/>
              </p:cNvSpPr>
              <p:nvPr/>
            </p:nvSpPr>
            <p:spPr bwMode="auto">
              <a:xfrm>
                <a:off x="2194" y="3411"/>
                <a:ext cx="36" cy="16"/>
              </a:xfrm>
              <a:custGeom>
                <a:avLst/>
                <a:gdLst>
                  <a:gd name="T0" fmla="*/ 0 w 72"/>
                  <a:gd name="T1" fmla="*/ 0 h 33"/>
                  <a:gd name="T2" fmla="*/ 0 w 72"/>
                  <a:gd name="T3" fmla="*/ 0 h 33"/>
                  <a:gd name="T4" fmla="*/ 1 w 72"/>
                  <a:gd name="T5" fmla="*/ 0 h 33"/>
                  <a:gd name="T6" fmla="*/ 1 w 72"/>
                  <a:gd name="T7" fmla="*/ 0 h 33"/>
                  <a:gd name="T8" fmla="*/ 1 w 72"/>
                  <a:gd name="T9" fmla="*/ 0 h 33"/>
                  <a:gd name="T10" fmla="*/ 1 w 72"/>
                  <a:gd name="T11" fmla="*/ 0 h 33"/>
                  <a:gd name="T12" fmla="*/ 1 w 72"/>
                  <a:gd name="T13" fmla="*/ 0 h 33"/>
                  <a:gd name="T14" fmla="*/ 1 w 72"/>
                  <a:gd name="T15" fmla="*/ 0 h 33"/>
                  <a:gd name="T16" fmla="*/ 1 w 72"/>
                  <a:gd name="T17" fmla="*/ 0 h 33"/>
                  <a:gd name="T18" fmla="*/ 1 w 72"/>
                  <a:gd name="T19" fmla="*/ 0 h 33"/>
                  <a:gd name="T20" fmla="*/ 1 w 72"/>
                  <a:gd name="T21" fmla="*/ 0 h 33"/>
                  <a:gd name="T22" fmla="*/ 1 w 72"/>
                  <a:gd name="T23" fmla="*/ 0 h 33"/>
                  <a:gd name="T24" fmla="*/ 1 w 72"/>
                  <a:gd name="T25" fmla="*/ 0 h 33"/>
                  <a:gd name="T26" fmla="*/ 1 w 72"/>
                  <a:gd name="T27" fmla="*/ 0 h 33"/>
                  <a:gd name="T28" fmla="*/ 1 w 72"/>
                  <a:gd name="T29" fmla="*/ 0 h 33"/>
                  <a:gd name="T30" fmla="*/ 1 w 72"/>
                  <a:gd name="T31" fmla="*/ 0 h 33"/>
                  <a:gd name="T32" fmla="*/ 1 w 72"/>
                  <a:gd name="T33" fmla="*/ 0 h 33"/>
                  <a:gd name="T34" fmla="*/ 1 w 72"/>
                  <a:gd name="T35" fmla="*/ 0 h 33"/>
                  <a:gd name="T36" fmla="*/ 0 w 72"/>
                  <a:gd name="T37" fmla="*/ 0 h 33"/>
                  <a:gd name="T38" fmla="*/ 0 w 72"/>
                  <a:gd name="T39" fmla="*/ 0 h 33"/>
                  <a:gd name="T40" fmla="*/ 0 w 72"/>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3"/>
                  <a:gd name="T65" fmla="*/ 72 w 72"/>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3">
                    <a:moveTo>
                      <a:pt x="0" y="22"/>
                    </a:moveTo>
                    <a:lnTo>
                      <a:pt x="0" y="22"/>
                    </a:lnTo>
                    <a:lnTo>
                      <a:pt x="5" y="22"/>
                    </a:lnTo>
                    <a:lnTo>
                      <a:pt x="13" y="22"/>
                    </a:lnTo>
                    <a:lnTo>
                      <a:pt x="19" y="22"/>
                    </a:lnTo>
                    <a:lnTo>
                      <a:pt x="27" y="24"/>
                    </a:lnTo>
                    <a:lnTo>
                      <a:pt x="36" y="25"/>
                    </a:lnTo>
                    <a:lnTo>
                      <a:pt x="44" y="27"/>
                    </a:lnTo>
                    <a:lnTo>
                      <a:pt x="55" y="30"/>
                    </a:lnTo>
                    <a:lnTo>
                      <a:pt x="63" y="33"/>
                    </a:lnTo>
                    <a:lnTo>
                      <a:pt x="72" y="14"/>
                    </a:lnTo>
                    <a:lnTo>
                      <a:pt x="61" y="8"/>
                    </a:lnTo>
                    <a:lnTo>
                      <a:pt x="50" y="5"/>
                    </a:lnTo>
                    <a:lnTo>
                      <a:pt x="39" y="3"/>
                    </a:lnTo>
                    <a:lnTo>
                      <a:pt x="30" y="2"/>
                    </a:lnTo>
                    <a:lnTo>
                      <a:pt x="22" y="0"/>
                    </a:lnTo>
                    <a:lnTo>
                      <a:pt x="13" y="0"/>
                    </a:lnTo>
                    <a:lnTo>
                      <a:pt x="5" y="0"/>
                    </a:lnTo>
                    <a:lnTo>
                      <a:pt x="0" y="0"/>
                    </a:lnTo>
                    <a:lnTo>
                      <a:pt x="0" y="22"/>
                    </a:lnTo>
                    <a:close/>
                  </a:path>
                </a:pathLst>
              </a:custGeom>
              <a:solidFill>
                <a:srgbClr val="000000"/>
              </a:solidFill>
              <a:ln w="9525">
                <a:noFill/>
                <a:round/>
                <a:headEnd/>
                <a:tailEnd/>
              </a:ln>
            </p:spPr>
            <p:txBody>
              <a:bodyPr/>
              <a:lstStyle/>
              <a:p>
                <a:endParaRPr lang="en-US"/>
              </a:p>
            </p:txBody>
          </p:sp>
          <p:sp>
            <p:nvSpPr>
              <p:cNvPr id="27888" name="Freeform 201"/>
              <p:cNvSpPr>
                <a:spLocks/>
              </p:cNvSpPr>
              <p:nvPr/>
            </p:nvSpPr>
            <p:spPr bwMode="auto">
              <a:xfrm>
                <a:off x="2149" y="3411"/>
                <a:ext cx="45" cy="18"/>
              </a:xfrm>
              <a:custGeom>
                <a:avLst/>
                <a:gdLst>
                  <a:gd name="T0" fmla="*/ 1 w 89"/>
                  <a:gd name="T1" fmla="*/ 0 h 38"/>
                  <a:gd name="T2" fmla="*/ 1 w 89"/>
                  <a:gd name="T3" fmla="*/ 0 h 38"/>
                  <a:gd name="T4" fmla="*/ 1 w 89"/>
                  <a:gd name="T5" fmla="*/ 0 h 38"/>
                  <a:gd name="T6" fmla="*/ 1 w 89"/>
                  <a:gd name="T7" fmla="*/ 0 h 38"/>
                  <a:gd name="T8" fmla="*/ 1 w 89"/>
                  <a:gd name="T9" fmla="*/ 0 h 38"/>
                  <a:gd name="T10" fmla="*/ 1 w 89"/>
                  <a:gd name="T11" fmla="*/ 0 h 38"/>
                  <a:gd name="T12" fmla="*/ 1 w 89"/>
                  <a:gd name="T13" fmla="*/ 0 h 38"/>
                  <a:gd name="T14" fmla="*/ 1 w 89"/>
                  <a:gd name="T15" fmla="*/ 0 h 38"/>
                  <a:gd name="T16" fmla="*/ 1 w 89"/>
                  <a:gd name="T17" fmla="*/ 0 h 38"/>
                  <a:gd name="T18" fmla="*/ 1 w 89"/>
                  <a:gd name="T19" fmla="*/ 0 h 38"/>
                  <a:gd name="T20" fmla="*/ 1 w 89"/>
                  <a:gd name="T21" fmla="*/ 0 h 38"/>
                  <a:gd name="T22" fmla="*/ 1 w 89"/>
                  <a:gd name="T23" fmla="*/ 0 h 38"/>
                  <a:gd name="T24" fmla="*/ 1 w 89"/>
                  <a:gd name="T25" fmla="*/ 0 h 38"/>
                  <a:gd name="T26" fmla="*/ 1 w 89"/>
                  <a:gd name="T27" fmla="*/ 0 h 38"/>
                  <a:gd name="T28" fmla="*/ 1 w 89"/>
                  <a:gd name="T29" fmla="*/ 0 h 38"/>
                  <a:gd name="T30" fmla="*/ 1 w 89"/>
                  <a:gd name="T31" fmla="*/ 0 h 38"/>
                  <a:gd name="T32" fmla="*/ 1 w 89"/>
                  <a:gd name="T33" fmla="*/ 0 h 38"/>
                  <a:gd name="T34" fmla="*/ 1 w 89"/>
                  <a:gd name="T35" fmla="*/ 0 h 38"/>
                  <a:gd name="T36" fmla="*/ 0 w 89"/>
                  <a:gd name="T37" fmla="*/ 0 h 38"/>
                  <a:gd name="T38" fmla="*/ 0 w 89"/>
                  <a:gd name="T39" fmla="*/ 0 h 38"/>
                  <a:gd name="T40" fmla="*/ 1 w 89"/>
                  <a:gd name="T41" fmla="*/ 0 h 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9"/>
                  <a:gd name="T64" fmla="*/ 0 h 38"/>
                  <a:gd name="T65" fmla="*/ 89 w 89"/>
                  <a:gd name="T66" fmla="*/ 38 h 3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9" h="38">
                    <a:moveTo>
                      <a:pt x="19" y="38"/>
                    </a:moveTo>
                    <a:lnTo>
                      <a:pt x="19" y="38"/>
                    </a:lnTo>
                    <a:lnTo>
                      <a:pt x="23" y="33"/>
                    </a:lnTo>
                    <a:lnTo>
                      <a:pt x="30" y="28"/>
                    </a:lnTo>
                    <a:lnTo>
                      <a:pt x="39" y="27"/>
                    </a:lnTo>
                    <a:lnTo>
                      <a:pt x="52" y="24"/>
                    </a:lnTo>
                    <a:lnTo>
                      <a:pt x="63" y="22"/>
                    </a:lnTo>
                    <a:lnTo>
                      <a:pt x="74" y="22"/>
                    </a:lnTo>
                    <a:lnTo>
                      <a:pt x="83" y="22"/>
                    </a:lnTo>
                    <a:lnTo>
                      <a:pt x="89" y="22"/>
                    </a:lnTo>
                    <a:lnTo>
                      <a:pt x="89" y="0"/>
                    </a:lnTo>
                    <a:lnTo>
                      <a:pt x="83" y="0"/>
                    </a:lnTo>
                    <a:lnTo>
                      <a:pt x="74" y="0"/>
                    </a:lnTo>
                    <a:lnTo>
                      <a:pt x="63" y="0"/>
                    </a:lnTo>
                    <a:lnTo>
                      <a:pt x="49" y="2"/>
                    </a:lnTo>
                    <a:lnTo>
                      <a:pt x="33" y="5"/>
                    </a:lnTo>
                    <a:lnTo>
                      <a:pt x="20" y="10"/>
                    </a:lnTo>
                    <a:lnTo>
                      <a:pt x="8" y="17"/>
                    </a:lnTo>
                    <a:lnTo>
                      <a:pt x="0" y="28"/>
                    </a:lnTo>
                    <a:lnTo>
                      <a:pt x="19" y="38"/>
                    </a:lnTo>
                    <a:close/>
                  </a:path>
                </a:pathLst>
              </a:custGeom>
              <a:solidFill>
                <a:srgbClr val="000000"/>
              </a:solidFill>
              <a:ln w="9525">
                <a:noFill/>
                <a:round/>
                <a:headEnd/>
                <a:tailEnd/>
              </a:ln>
            </p:spPr>
            <p:txBody>
              <a:bodyPr/>
              <a:lstStyle/>
              <a:p>
                <a:endParaRPr lang="en-US"/>
              </a:p>
            </p:txBody>
          </p:sp>
          <p:sp>
            <p:nvSpPr>
              <p:cNvPr id="27889" name="Freeform 202"/>
              <p:cNvSpPr>
                <a:spLocks/>
              </p:cNvSpPr>
              <p:nvPr/>
            </p:nvSpPr>
            <p:spPr bwMode="auto">
              <a:xfrm>
                <a:off x="2147" y="3425"/>
                <a:ext cx="15" cy="31"/>
              </a:xfrm>
              <a:custGeom>
                <a:avLst/>
                <a:gdLst>
                  <a:gd name="T0" fmla="*/ 1 w 30"/>
                  <a:gd name="T1" fmla="*/ 0 h 63"/>
                  <a:gd name="T2" fmla="*/ 1 w 30"/>
                  <a:gd name="T3" fmla="*/ 0 h 63"/>
                  <a:gd name="T4" fmla="*/ 1 w 30"/>
                  <a:gd name="T5" fmla="*/ 0 h 63"/>
                  <a:gd name="T6" fmla="*/ 1 w 30"/>
                  <a:gd name="T7" fmla="*/ 0 h 63"/>
                  <a:gd name="T8" fmla="*/ 1 w 30"/>
                  <a:gd name="T9" fmla="*/ 0 h 63"/>
                  <a:gd name="T10" fmla="*/ 1 w 30"/>
                  <a:gd name="T11" fmla="*/ 0 h 63"/>
                  <a:gd name="T12" fmla="*/ 1 w 30"/>
                  <a:gd name="T13" fmla="*/ 0 h 63"/>
                  <a:gd name="T14" fmla="*/ 1 w 30"/>
                  <a:gd name="T15" fmla="*/ 0 h 63"/>
                  <a:gd name="T16" fmla="*/ 1 w 30"/>
                  <a:gd name="T17" fmla="*/ 0 h 63"/>
                  <a:gd name="T18" fmla="*/ 1 w 30"/>
                  <a:gd name="T19" fmla="*/ 0 h 63"/>
                  <a:gd name="T20" fmla="*/ 1 w 30"/>
                  <a:gd name="T21" fmla="*/ 0 h 63"/>
                  <a:gd name="T22" fmla="*/ 0 w 30"/>
                  <a:gd name="T23" fmla="*/ 0 h 63"/>
                  <a:gd name="T24" fmla="*/ 0 w 30"/>
                  <a:gd name="T25" fmla="*/ 0 h 63"/>
                  <a:gd name="T26" fmla="*/ 0 w 30"/>
                  <a:gd name="T27" fmla="*/ 0 h 63"/>
                  <a:gd name="T28" fmla="*/ 1 w 30"/>
                  <a:gd name="T29" fmla="*/ 0 h 63"/>
                  <a:gd name="T30" fmla="*/ 1 w 30"/>
                  <a:gd name="T31" fmla="*/ 0 h 63"/>
                  <a:gd name="T32" fmla="*/ 1 w 30"/>
                  <a:gd name="T33" fmla="*/ 0 h 63"/>
                  <a:gd name="T34" fmla="*/ 1 w 30"/>
                  <a:gd name="T35" fmla="*/ 0 h 63"/>
                  <a:gd name="T36" fmla="*/ 1 w 30"/>
                  <a:gd name="T37" fmla="*/ 0 h 63"/>
                  <a:gd name="T38" fmla="*/ 1 w 30"/>
                  <a:gd name="T39" fmla="*/ 0 h 63"/>
                  <a:gd name="T40" fmla="*/ 1 w 30"/>
                  <a:gd name="T41" fmla="*/ 0 h 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63"/>
                  <a:gd name="T65" fmla="*/ 30 w 30"/>
                  <a:gd name="T66" fmla="*/ 63 h 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63">
                    <a:moveTo>
                      <a:pt x="30" y="50"/>
                    </a:moveTo>
                    <a:lnTo>
                      <a:pt x="30" y="50"/>
                    </a:lnTo>
                    <a:lnTo>
                      <a:pt x="28" y="47"/>
                    </a:lnTo>
                    <a:lnTo>
                      <a:pt x="25" y="44"/>
                    </a:lnTo>
                    <a:lnTo>
                      <a:pt x="25" y="39"/>
                    </a:lnTo>
                    <a:lnTo>
                      <a:pt x="24" y="33"/>
                    </a:lnTo>
                    <a:lnTo>
                      <a:pt x="22" y="27"/>
                    </a:lnTo>
                    <a:lnTo>
                      <a:pt x="22" y="21"/>
                    </a:lnTo>
                    <a:lnTo>
                      <a:pt x="22" y="14"/>
                    </a:lnTo>
                    <a:lnTo>
                      <a:pt x="24" y="10"/>
                    </a:lnTo>
                    <a:lnTo>
                      <a:pt x="5" y="0"/>
                    </a:lnTo>
                    <a:lnTo>
                      <a:pt x="0" y="11"/>
                    </a:lnTo>
                    <a:lnTo>
                      <a:pt x="0" y="21"/>
                    </a:lnTo>
                    <a:lnTo>
                      <a:pt x="0" y="30"/>
                    </a:lnTo>
                    <a:lnTo>
                      <a:pt x="2" y="39"/>
                    </a:lnTo>
                    <a:lnTo>
                      <a:pt x="3" y="46"/>
                    </a:lnTo>
                    <a:lnTo>
                      <a:pt x="7" y="53"/>
                    </a:lnTo>
                    <a:lnTo>
                      <a:pt x="10" y="60"/>
                    </a:lnTo>
                    <a:lnTo>
                      <a:pt x="11" y="63"/>
                    </a:lnTo>
                    <a:lnTo>
                      <a:pt x="30" y="50"/>
                    </a:lnTo>
                    <a:close/>
                  </a:path>
                </a:pathLst>
              </a:custGeom>
              <a:solidFill>
                <a:srgbClr val="000000"/>
              </a:solidFill>
              <a:ln w="9525">
                <a:noFill/>
                <a:round/>
                <a:headEnd/>
                <a:tailEnd/>
              </a:ln>
            </p:spPr>
            <p:txBody>
              <a:bodyPr/>
              <a:lstStyle/>
              <a:p>
                <a:endParaRPr lang="en-US"/>
              </a:p>
            </p:txBody>
          </p:sp>
          <p:sp>
            <p:nvSpPr>
              <p:cNvPr id="27890" name="Freeform 203"/>
              <p:cNvSpPr>
                <a:spLocks/>
              </p:cNvSpPr>
              <p:nvPr/>
            </p:nvSpPr>
            <p:spPr bwMode="auto">
              <a:xfrm>
                <a:off x="2152" y="3450"/>
                <a:ext cx="17" cy="18"/>
              </a:xfrm>
              <a:custGeom>
                <a:avLst/>
                <a:gdLst>
                  <a:gd name="T0" fmla="*/ 0 w 35"/>
                  <a:gd name="T1" fmla="*/ 0 h 38"/>
                  <a:gd name="T2" fmla="*/ 0 w 35"/>
                  <a:gd name="T3" fmla="*/ 0 h 38"/>
                  <a:gd name="T4" fmla="*/ 0 w 35"/>
                  <a:gd name="T5" fmla="*/ 0 h 38"/>
                  <a:gd name="T6" fmla="*/ 0 w 35"/>
                  <a:gd name="T7" fmla="*/ 0 h 38"/>
                  <a:gd name="T8" fmla="*/ 0 w 35"/>
                  <a:gd name="T9" fmla="*/ 0 h 38"/>
                  <a:gd name="T10" fmla="*/ 0 w 35"/>
                  <a:gd name="T11" fmla="*/ 0 h 38"/>
                  <a:gd name="T12" fmla="*/ 0 w 35"/>
                  <a:gd name="T13" fmla="*/ 0 h 38"/>
                  <a:gd name="T14" fmla="*/ 0 w 35"/>
                  <a:gd name="T15" fmla="*/ 0 h 38"/>
                  <a:gd name="T16" fmla="*/ 0 w 35"/>
                  <a:gd name="T17" fmla="*/ 0 h 38"/>
                  <a:gd name="T18" fmla="*/ 0 w 35"/>
                  <a:gd name="T19" fmla="*/ 0 h 38"/>
                  <a:gd name="T20" fmla="*/ 0 w 35"/>
                  <a:gd name="T21" fmla="*/ 0 h 38"/>
                  <a:gd name="T22" fmla="*/ 0 w 35"/>
                  <a:gd name="T23" fmla="*/ 0 h 38"/>
                  <a:gd name="T24" fmla="*/ 0 w 35"/>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38"/>
                  <a:gd name="T41" fmla="*/ 35 w 35"/>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38">
                    <a:moveTo>
                      <a:pt x="35" y="35"/>
                    </a:moveTo>
                    <a:lnTo>
                      <a:pt x="35" y="38"/>
                    </a:lnTo>
                    <a:lnTo>
                      <a:pt x="33" y="25"/>
                    </a:lnTo>
                    <a:lnTo>
                      <a:pt x="28" y="16"/>
                    </a:lnTo>
                    <a:lnTo>
                      <a:pt x="24" y="7"/>
                    </a:lnTo>
                    <a:lnTo>
                      <a:pt x="19" y="0"/>
                    </a:lnTo>
                    <a:lnTo>
                      <a:pt x="0" y="13"/>
                    </a:lnTo>
                    <a:lnTo>
                      <a:pt x="5" y="19"/>
                    </a:lnTo>
                    <a:lnTo>
                      <a:pt x="10" y="25"/>
                    </a:lnTo>
                    <a:lnTo>
                      <a:pt x="11" y="32"/>
                    </a:lnTo>
                    <a:lnTo>
                      <a:pt x="13" y="32"/>
                    </a:lnTo>
                    <a:lnTo>
                      <a:pt x="13" y="35"/>
                    </a:lnTo>
                    <a:lnTo>
                      <a:pt x="35" y="35"/>
                    </a:lnTo>
                    <a:close/>
                  </a:path>
                </a:pathLst>
              </a:custGeom>
              <a:solidFill>
                <a:srgbClr val="000000"/>
              </a:solidFill>
              <a:ln w="9525">
                <a:noFill/>
                <a:round/>
                <a:headEnd/>
                <a:tailEnd/>
              </a:ln>
            </p:spPr>
            <p:txBody>
              <a:bodyPr/>
              <a:lstStyle/>
              <a:p>
                <a:endParaRPr lang="en-US"/>
              </a:p>
            </p:txBody>
          </p:sp>
          <p:sp>
            <p:nvSpPr>
              <p:cNvPr id="27891" name="Freeform 204"/>
              <p:cNvSpPr>
                <a:spLocks/>
              </p:cNvSpPr>
              <p:nvPr/>
            </p:nvSpPr>
            <p:spPr bwMode="auto">
              <a:xfrm>
                <a:off x="2158" y="3467"/>
                <a:ext cx="11" cy="15"/>
              </a:xfrm>
              <a:custGeom>
                <a:avLst/>
                <a:gdLst>
                  <a:gd name="T0" fmla="*/ 1 w 22"/>
                  <a:gd name="T1" fmla="*/ 1 h 30"/>
                  <a:gd name="T2" fmla="*/ 1 w 22"/>
                  <a:gd name="T3" fmla="*/ 1 h 30"/>
                  <a:gd name="T4" fmla="*/ 1 w 22"/>
                  <a:gd name="T5" fmla="*/ 1 h 30"/>
                  <a:gd name="T6" fmla="*/ 1 w 22"/>
                  <a:gd name="T7" fmla="*/ 1 h 30"/>
                  <a:gd name="T8" fmla="*/ 1 w 22"/>
                  <a:gd name="T9" fmla="*/ 1 h 30"/>
                  <a:gd name="T10" fmla="*/ 1 w 22"/>
                  <a:gd name="T11" fmla="*/ 0 h 30"/>
                  <a:gd name="T12" fmla="*/ 0 w 22"/>
                  <a:gd name="T13" fmla="*/ 0 h 30"/>
                  <a:gd name="T14" fmla="*/ 0 w 22"/>
                  <a:gd name="T15" fmla="*/ 1 h 30"/>
                  <a:gd name="T16" fmla="*/ 0 w 22"/>
                  <a:gd name="T17" fmla="*/ 1 h 30"/>
                  <a:gd name="T18" fmla="*/ 0 w 22"/>
                  <a:gd name="T19" fmla="*/ 1 h 30"/>
                  <a:gd name="T20" fmla="*/ 0 w 22"/>
                  <a:gd name="T21" fmla="*/ 1 h 30"/>
                  <a:gd name="T22" fmla="*/ 1 w 22"/>
                  <a:gd name="T23" fmla="*/ 1 h 30"/>
                  <a:gd name="T24" fmla="*/ 0 w 22"/>
                  <a:gd name="T25" fmla="*/ 1 h 30"/>
                  <a:gd name="T26" fmla="*/ 1 w 22"/>
                  <a:gd name="T27" fmla="*/ 1 h 30"/>
                  <a:gd name="T28" fmla="*/ 1 w 22"/>
                  <a:gd name="T29" fmla="*/ 1 h 30"/>
                  <a:gd name="T30" fmla="*/ 1 w 22"/>
                  <a:gd name="T31" fmla="*/ 1 h 30"/>
                  <a:gd name="T32" fmla="*/ 1 w 22"/>
                  <a:gd name="T33" fmla="*/ 1 h 30"/>
                  <a:gd name="T34" fmla="*/ 1 w 22"/>
                  <a:gd name="T35" fmla="*/ 1 h 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
                  <a:gd name="T55" fmla="*/ 0 h 30"/>
                  <a:gd name="T56" fmla="*/ 22 w 22"/>
                  <a:gd name="T57" fmla="*/ 30 h 3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 h="30">
                    <a:moveTo>
                      <a:pt x="12" y="8"/>
                    </a:moveTo>
                    <a:lnTo>
                      <a:pt x="22" y="19"/>
                    </a:lnTo>
                    <a:lnTo>
                      <a:pt x="22" y="17"/>
                    </a:lnTo>
                    <a:lnTo>
                      <a:pt x="22" y="11"/>
                    </a:lnTo>
                    <a:lnTo>
                      <a:pt x="22" y="4"/>
                    </a:lnTo>
                    <a:lnTo>
                      <a:pt x="22" y="0"/>
                    </a:lnTo>
                    <a:lnTo>
                      <a:pt x="0" y="0"/>
                    </a:lnTo>
                    <a:lnTo>
                      <a:pt x="0" y="4"/>
                    </a:lnTo>
                    <a:lnTo>
                      <a:pt x="0" y="11"/>
                    </a:lnTo>
                    <a:lnTo>
                      <a:pt x="0" y="17"/>
                    </a:lnTo>
                    <a:lnTo>
                      <a:pt x="0" y="19"/>
                    </a:lnTo>
                    <a:lnTo>
                      <a:pt x="9" y="30"/>
                    </a:lnTo>
                    <a:lnTo>
                      <a:pt x="0" y="19"/>
                    </a:lnTo>
                    <a:lnTo>
                      <a:pt x="3" y="26"/>
                    </a:lnTo>
                    <a:lnTo>
                      <a:pt x="11" y="30"/>
                    </a:lnTo>
                    <a:lnTo>
                      <a:pt x="19" y="26"/>
                    </a:lnTo>
                    <a:lnTo>
                      <a:pt x="22" y="19"/>
                    </a:lnTo>
                    <a:lnTo>
                      <a:pt x="12" y="8"/>
                    </a:lnTo>
                    <a:close/>
                  </a:path>
                </a:pathLst>
              </a:custGeom>
              <a:solidFill>
                <a:srgbClr val="000000"/>
              </a:solidFill>
              <a:ln w="9525">
                <a:noFill/>
                <a:round/>
                <a:headEnd/>
                <a:tailEnd/>
              </a:ln>
            </p:spPr>
            <p:txBody>
              <a:bodyPr/>
              <a:lstStyle/>
              <a:p>
                <a:endParaRPr lang="en-US"/>
              </a:p>
            </p:txBody>
          </p:sp>
          <p:sp>
            <p:nvSpPr>
              <p:cNvPr id="27892" name="Freeform 205"/>
              <p:cNvSpPr>
                <a:spLocks/>
              </p:cNvSpPr>
              <p:nvPr/>
            </p:nvSpPr>
            <p:spPr bwMode="auto">
              <a:xfrm>
                <a:off x="2163" y="3471"/>
                <a:ext cx="12" cy="12"/>
              </a:xfrm>
              <a:custGeom>
                <a:avLst/>
                <a:gdLst>
                  <a:gd name="T0" fmla="*/ 1 w 24"/>
                  <a:gd name="T1" fmla="*/ 0 h 25"/>
                  <a:gd name="T2" fmla="*/ 1 w 24"/>
                  <a:gd name="T3" fmla="*/ 0 h 25"/>
                  <a:gd name="T4" fmla="*/ 1 w 24"/>
                  <a:gd name="T5" fmla="*/ 0 h 25"/>
                  <a:gd name="T6" fmla="*/ 1 w 24"/>
                  <a:gd name="T7" fmla="*/ 0 h 25"/>
                  <a:gd name="T8" fmla="*/ 1 w 24"/>
                  <a:gd name="T9" fmla="*/ 0 h 25"/>
                  <a:gd name="T10" fmla="*/ 1 w 24"/>
                  <a:gd name="T11" fmla="*/ 0 h 25"/>
                  <a:gd name="T12" fmla="*/ 0 w 24"/>
                  <a:gd name="T13" fmla="*/ 0 h 25"/>
                  <a:gd name="T14" fmla="*/ 0 w 24"/>
                  <a:gd name="T15" fmla="*/ 0 h 25"/>
                  <a:gd name="T16" fmla="*/ 1 w 24"/>
                  <a:gd name="T17" fmla="*/ 0 h 25"/>
                  <a:gd name="T18" fmla="*/ 1 w 24"/>
                  <a:gd name="T19" fmla="*/ 0 h 25"/>
                  <a:gd name="T20" fmla="*/ 1 w 24"/>
                  <a:gd name="T21" fmla="*/ 0 h 25"/>
                  <a:gd name="T22" fmla="*/ 1 w 24"/>
                  <a:gd name="T23" fmla="*/ 0 h 25"/>
                  <a:gd name="T24" fmla="*/ 1 w 24"/>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5"/>
                  <a:gd name="T41" fmla="*/ 24 w 24"/>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5">
                    <a:moveTo>
                      <a:pt x="24" y="4"/>
                    </a:moveTo>
                    <a:lnTo>
                      <a:pt x="21" y="3"/>
                    </a:lnTo>
                    <a:lnTo>
                      <a:pt x="14" y="1"/>
                    </a:lnTo>
                    <a:lnTo>
                      <a:pt x="10" y="1"/>
                    </a:lnTo>
                    <a:lnTo>
                      <a:pt x="6" y="0"/>
                    </a:lnTo>
                    <a:lnTo>
                      <a:pt x="3" y="0"/>
                    </a:lnTo>
                    <a:lnTo>
                      <a:pt x="0" y="22"/>
                    </a:lnTo>
                    <a:lnTo>
                      <a:pt x="6" y="23"/>
                    </a:lnTo>
                    <a:lnTo>
                      <a:pt x="11" y="23"/>
                    </a:lnTo>
                    <a:lnTo>
                      <a:pt x="17" y="25"/>
                    </a:lnTo>
                    <a:lnTo>
                      <a:pt x="14" y="23"/>
                    </a:lnTo>
                    <a:lnTo>
                      <a:pt x="24" y="4"/>
                    </a:lnTo>
                    <a:close/>
                  </a:path>
                </a:pathLst>
              </a:custGeom>
              <a:solidFill>
                <a:srgbClr val="000000"/>
              </a:solidFill>
              <a:ln w="9525">
                <a:noFill/>
                <a:round/>
                <a:headEnd/>
                <a:tailEnd/>
              </a:ln>
            </p:spPr>
            <p:txBody>
              <a:bodyPr/>
              <a:lstStyle/>
              <a:p>
                <a:endParaRPr lang="en-US"/>
              </a:p>
            </p:txBody>
          </p:sp>
          <p:sp>
            <p:nvSpPr>
              <p:cNvPr id="27893" name="Freeform 206"/>
              <p:cNvSpPr>
                <a:spLocks/>
              </p:cNvSpPr>
              <p:nvPr/>
            </p:nvSpPr>
            <p:spPr bwMode="auto">
              <a:xfrm>
                <a:off x="2170" y="3473"/>
                <a:ext cx="16" cy="20"/>
              </a:xfrm>
              <a:custGeom>
                <a:avLst/>
                <a:gdLst>
                  <a:gd name="T0" fmla="*/ 1 w 32"/>
                  <a:gd name="T1" fmla="*/ 0 h 41"/>
                  <a:gd name="T2" fmla="*/ 1 w 32"/>
                  <a:gd name="T3" fmla="*/ 0 h 41"/>
                  <a:gd name="T4" fmla="*/ 1 w 32"/>
                  <a:gd name="T5" fmla="*/ 0 h 41"/>
                  <a:gd name="T6" fmla="*/ 1 w 32"/>
                  <a:gd name="T7" fmla="*/ 0 h 41"/>
                  <a:gd name="T8" fmla="*/ 1 w 32"/>
                  <a:gd name="T9" fmla="*/ 0 h 41"/>
                  <a:gd name="T10" fmla="*/ 1 w 32"/>
                  <a:gd name="T11" fmla="*/ 0 h 41"/>
                  <a:gd name="T12" fmla="*/ 0 w 32"/>
                  <a:gd name="T13" fmla="*/ 0 h 41"/>
                  <a:gd name="T14" fmla="*/ 1 w 32"/>
                  <a:gd name="T15" fmla="*/ 0 h 41"/>
                  <a:gd name="T16" fmla="*/ 1 w 32"/>
                  <a:gd name="T17" fmla="*/ 0 h 41"/>
                  <a:gd name="T18" fmla="*/ 1 w 32"/>
                  <a:gd name="T19" fmla="*/ 0 h 41"/>
                  <a:gd name="T20" fmla="*/ 1 w 32"/>
                  <a:gd name="T21" fmla="*/ 0 h 41"/>
                  <a:gd name="T22" fmla="*/ 1 w 32"/>
                  <a:gd name="T23" fmla="*/ 0 h 41"/>
                  <a:gd name="T24" fmla="*/ 1 w 32"/>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
                  <a:gd name="T40" fmla="*/ 0 h 41"/>
                  <a:gd name="T41" fmla="*/ 32 w 32"/>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 h="41">
                    <a:moveTo>
                      <a:pt x="32" y="35"/>
                    </a:moveTo>
                    <a:lnTo>
                      <a:pt x="32" y="35"/>
                    </a:lnTo>
                    <a:lnTo>
                      <a:pt x="27" y="24"/>
                    </a:lnTo>
                    <a:lnTo>
                      <a:pt x="22" y="14"/>
                    </a:lnTo>
                    <a:lnTo>
                      <a:pt x="17" y="7"/>
                    </a:lnTo>
                    <a:lnTo>
                      <a:pt x="10" y="0"/>
                    </a:lnTo>
                    <a:lnTo>
                      <a:pt x="0" y="19"/>
                    </a:lnTo>
                    <a:lnTo>
                      <a:pt x="2" y="19"/>
                    </a:lnTo>
                    <a:lnTo>
                      <a:pt x="3" y="24"/>
                    </a:lnTo>
                    <a:lnTo>
                      <a:pt x="8" y="33"/>
                    </a:lnTo>
                    <a:lnTo>
                      <a:pt x="10" y="41"/>
                    </a:lnTo>
                    <a:lnTo>
                      <a:pt x="32" y="35"/>
                    </a:lnTo>
                    <a:close/>
                  </a:path>
                </a:pathLst>
              </a:custGeom>
              <a:solidFill>
                <a:srgbClr val="000000"/>
              </a:solidFill>
              <a:ln w="9525">
                <a:noFill/>
                <a:round/>
                <a:headEnd/>
                <a:tailEnd/>
              </a:ln>
            </p:spPr>
            <p:txBody>
              <a:bodyPr/>
              <a:lstStyle/>
              <a:p>
                <a:endParaRPr lang="en-US"/>
              </a:p>
            </p:txBody>
          </p:sp>
          <p:sp>
            <p:nvSpPr>
              <p:cNvPr id="27894" name="Freeform 207"/>
              <p:cNvSpPr>
                <a:spLocks/>
              </p:cNvSpPr>
              <p:nvPr/>
            </p:nvSpPr>
            <p:spPr bwMode="auto">
              <a:xfrm>
                <a:off x="2175" y="3490"/>
                <a:ext cx="19" cy="21"/>
              </a:xfrm>
              <a:custGeom>
                <a:avLst/>
                <a:gdLst>
                  <a:gd name="T0" fmla="*/ 1 w 37"/>
                  <a:gd name="T1" fmla="*/ 1 h 42"/>
                  <a:gd name="T2" fmla="*/ 1 w 37"/>
                  <a:gd name="T3" fmla="*/ 1 h 42"/>
                  <a:gd name="T4" fmla="*/ 1 w 37"/>
                  <a:gd name="T5" fmla="*/ 1 h 42"/>
                  <a:gd name="T6" fmla="*/ 1 w 37"/>
                  <a:gd name="T7" fmla="*/ 1 h 42"/>
                  <a:gd name="T8" fmla="*/ 1 w 37"/>
                  <a:gd name="T9" fmla="*/ 1 h 42"/>
                  <a:gd name="T10" fmla="*/ 1 w 37"/>
                  <a:gd name="T11" fmla="*/ 0 h 42"/>
                  <a:gd name="T12" fmla="*/ 0 w 37"/>
                  <a:gd name="T13" fmla="*/ 1 h 42"/>
                  <a:gd name="T14" fmla="*/ 1 w 37"/>
                  <a:gd name="T15" fmla="*/ 1 h 42"/>
                  <a:gd name="T16" fmla="*/ 1 w 37"/>
                  <a:gd name="T17" fmla="*/ 1 h 42"/>
                  <a:gd name="T18" fmla="*/ 1 w 37"/>
                  <a:gd name="T19" fmla="*/ 1 h 42"/>
                  <a:gd name="T20" fmla="*/ 1 w 37"/>
                  <a:gd name="T21" fmla="*/ 1 h 42"/>
                  <a:gd name="T22" fmla="*/ 1 w 37"/>
                  <a:gd name="T23" fmla="*/ 1 h 42"/>
                  <a:gd name="T24" fmla="*/ 1 w 37"/>
                  <a:gd name="T25" fmla="*/ 1 h 42"/>
                  <a:gd name="T26" fmla="*/ 1 w 37"/>
                  <a:gd name="T27" fmla="*/ 1 h 42"/>
                  <a:gd name="T28" fmla="*/ 1 w 37"/>
                  <a:gd name="T29" fmla="*/ 1 h 42"/>
                  <a:gd name="T30" fmla="*/ 1 w 37"/>
                  <a:gd name="T31" fmla="*/ 1 h 42"/>
                  <a:gd name="T32" fmla="*/ 1 w 37"/>
                  <a:gd name="T33" fmla="*/ 1 h 42"/>
                  <a:gd name="T34" fmla="*/ 1 w 37"/>
                  <a:gd name="T35" fmla="*/ 1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
                  <a:gd name="T55" fmla="*/ 0 h 42"/>
                  <a:gd name="T56" fmla="*/ 37 w 37"/>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 h="42">
                    <a:moveTo>
                      <a:pt x="26" y="20"/>
                    </a:moveTo>
                    <a:lnTo>
                      <a:pt x="36" y="25"/>
                    </a:lnTo>
                    <a:lnTo>
                      <a:pt x="34" y="22"/>
                    </a:lnTo>
                    <a:lnTo>
                      <a:pt x="29" y="15"/>
                    </a:lnTo>
                    <a:lnTo>
                      <a:pt x="25" y="9"/>
                    </a:lnTo>
                    <a:lnTo>
                      <a:pt x="22" y="0"/>
                    </a:lnTo>
                    <a:lnTo>
                      <a:pt x="0" y="6"/>
                    </a:lnTo>
                    <a:lnTo>
                      <a:pt x="6" y="18"/>
                    </a:lnTo>
                    <a:lnTo>
                      <a:pt x="11" y="28"/>
                    </a:lnTo>
                    <a:lnTo>
                      <a:pt x="15" y="34"/>
                    </a:lnTo>
                    <a:lnTo>
                      <a:pt x="17" y="37"/>
                    </a:lnTo>
                    <a:lnTo>
                      <a:pt x="26" y="42"/>
                    </a:lnTo>
                    <a:lnTo>
                      <a:pt x="17" y="37"/>
                    </a:lnTo>
                    <a:lnTo>
                      <a:pt x="25" y="42"/>
                    </a:lnTo>
                    <a:lnTo>
                      <a:pt x="33" y="40"/>
                    </a:lnTo>
                    <a:lnTo>
                      <a:pt x="37" y="34"/>
                    </a:lnTo>
                    <a:lnTo>
                      <a:pt x="36" y="25"/>
                    </a:lnTo>
                    <a:lnTo>
                      <a:pt x="26" y="20"/>
                    </a:lnTo>
                    <a:close/>
                  </a:path>
                </a:pathLst>
              </a:custGeom>
              <a:solidFill>
                <a:srgbClr val="000000"/>
              </a:solidFill>
              <a:ln w="9525">
                <a:noFill/>
                <a:round/>
                <a:headEnd/>
                <a:tailEnd/>
              </a:ln>
            </p:spPr>
            <p:txBody>
              <a:bodyPr/>
              <a:lstStyle/>
              <a:p>
                <a:endParaRPr lang="en-US"/>
              </a:p>
            </p:txBody>
          </p:sp>
        </p:grpSp>
        <p:sp>
          <p:nvSpPr>
            <p:cNvPr id="27663" name="Freeform 208"/>
            <p:cNvSpPr>
              <a:spLocks/>
            </p:cNvSpPr>
            <p:nvPr/>
          </p:nvSpPr>
          <p:spPr bwMode="auto">
            <a:xfrm>
              <a:off x="1851" y="3424"/>
              <a:ext cx="43" cy="139"/>
            </a:xfrm>
            <a:custGeom>
              <a:avLst/>
              <a:gdLst>
                <a:gd name="T0" fmla="*/ 0 w 85"/>
                <a:gd name="T1" fmla="*/ 0 h 278"/>
                <a:gd name="T2" fmla="*/ 0 w 85"/>
                <a:gd name="T3" fmla="*/ 1 h 278"/>
                <a:gd name="T4" fmla="*/ 1 w 85"/>
                <a:gd name="T5" fmla="*/ 1 h 278"/>
                <a:gd name="T6" fmla="*/ 1 w 85"/>
                <a:gd name="T7" fmla="*/ 1 h 278"/>
                <a:gd name="T8" fmla="*/ 0 w 85"/>
                <a:gd name="T9" fmla="*/ 0 h 278"/>
                <a:gd name="T10" fmla="*/ 0 60000 65536"/>
                <a:gd name="T11" fmla="*/ 0 60000 65536"/>
                <a:gd name="T12" fmla="*/ 0 60000 65536"/>
                <a:gd name="T13" fmla="*/ 0 60000 65536"/>
                <a:gd name="T14" fmla="*/ 0 60000 65536"/>
                <a:gd name="T15" fmla="*/ 0 w 85"/>
                <a:gd name="T16" fmla="*/ 0 h 278"/>
                <a:gd name="T17" fmla="*/ 85 w 85"/>
                <a:gd name="T18" fmla="*/ 278 h 278"/>
              </a:gdLst>
              <a:ahLst/>
              <a:cxnLst>
                <a:cxn ang="T10">
                  <a:pos x="T0" y="T1"/>
                </a:cxn>
                <a:cxn ang="T11">
                  <a:pos x="T2" y="T3"/>
                </a:cxn>
                <a:cxn ang="T12">
                  <a:pos x="T4" y="T5"/>
                </a:cxn>
                <a:cxn ang="T13">
                  <a:pos x="T6" y="T7"/>
                </a:cxn>
                <a:cxn ang="T14">
                  <a:pos x="T8" y="T9"/>
                </a:cxn>
              </a:cxnLst>
              <a:rect l="T15" t="T16" r="T17" b="T18"/>
              <a:pathLst>
                <a:path w="85" h="278">
                  <a:moveTo>
                    <a:pt x="0" y="0"/>
                  </a:moveTo>
                  <a:lnTo>
                    <a:pt x="0" y="234"/>
                  </a:lnTo>
                  <a:lnTo>
                    <a:pt x="85" y="278"/>
                  </a:lnTo>
                  <a:lnTo>
                    <a:pt x="85" y="40"/>
                  </a:lnTo>
                  <a:lnTo>
                    <a:pt x="0" y="0"/>
                  </a:lnTo>
                  <a:close/>
                </a:path>
              </a:pathLst>
            </a:custGeom>
            <a:solidFill>
              <a:srgbClr val="4CB2FF"/>
            </a:solidFill>
            <a:ln w="9525">
              <a:noFill/>
              <a:round/>
              <a:headEnd/>
              <a:tailEnd/>
            </a:ln>
          </p:spPr>
          <p:txBody>
            <a:bodyPr/>
            <a:lstStyle/>
            <a:p>
              <a:endParaRPr lang="en-US"/>
            </a:p>
          </p:txBody>
        </p:sp>
        <p:sp>
          <p:nvSpPr>
            <p:cNvPr id="27664" name="Freeform 209"/>
            <p:cNvSpPr>
              <a:spLocks/>
            </p:cNvSpPr>
            <p:nvPr/>
          </p:nvSpPr>
          <p:spPr bwMode="auto">
            <a:xfrm>
              <a:off x="1846" y="3424"/>
              <a:ext cx="11" cy="123"/>
            </a:xfrm>
            <a:custGeom>
              <a:avLst/>
              <a:gdLst>
                <a:gd name="T0" fmla="*/ 1 w 22"/>
                <a:gd name="T1" fmla="*/ 1 h 245"/>
                <a:gd name="T2" fmla="*/ 1 w 22"/>
                <a:gd name="T3" fmla="*/ 1 h 245"/>
                <a:gd name="T4" fmla="*/ 1 w 22"/>
                <a:gd name="T5" fmla="*/ 0 h 245"/>
                <a:gd name="T6" fmla="*/ 0 w 22"/>
                <a:gd name="T7" fmla="*/ 0 h 245"/>
                <a:gd name="T8" fmla="*/ 0 w 22"/>
                <a:gd name="T9" fmla="*/ 1 h 245"/>
                <a:gd name="T10" fmla="*/ 1 w 22"/>
                <a:gd name="T11" fmla="*/ 1 h 245"/>
                <a:gd name="T12" fmla="*/ 0 w 22"/>
                <a:gd name="T13" fmla="*/ 1 h 245"/>
                <a:gd name="T14" fmla="*/ 1 w 22"/>
                <a:gd name="T15" fmla="*/ 1 h 245"/>
                <a:gd name="T16" fmla="*/ 1 w 22"/>
                <a:gd name="T17" fmla="*/ 1 h 245"/>
                <a:gd name="T18" fmla="*/ 1 w 22"/>
                <a:gd name="T19" fmla="*/ 1 h 245"/>
                <a:gd name="T20" fmla="*/ 1 w 22"/>
                <a:gd name="T21" fmla="*/ 1 h 245"/>
                <a:gd name="T22" fmla="*/ 1 w 22"/>
                <a:gd name="T23" fmla="*/ 1 h 2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5"/>
                <a:gd name="T38" fmla="*/ 22 w 22"/>
                <a:gd name="T39" fmla="*/ 245 h 2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5">
                  <a:moveTo>
                    <a:pt x="16" y="225"/>
                  </a:moveTo>
                  <a:lnTo>
                    <a:pt x="22" y="234"/>
                  </a:lnTo>
                  <a:lnTo>
                    <a:pt x="22" y="0"/>
                  </a:lnTo>
                  <a:lnTo>
                    <a:pt x="0" y="0"/>
                  </a:lnTo>
                  <a:lnTo>
                    <a:pt x="0" y="234"/>
                  </a:lnTo>
                  <a:lnTo>
                    <a:pt x="6" y="244"/>
                  </a:lnTo>
                  <a:lnTo>
                    <a:pt x="0" y="234"/>
                  </a:lnTo>
                  <a:lnTo>
                    <a:pt x="3" y="242"/>
                  </a:lnTo>
                  <a:lnTo>
                    <a:pt x="11" y="245"/>
                  </a:lnTo>
                  <a:lnTo>
                    <a:pt x="19" y="242"/>
                  </a:lnTo>
                  <a:lnTo>
                    <a:pt x="22" y="234"/>
                  </a:lnTo>
                  <a:lnTo>
                    <a:pt x="16" y="225"/>
                  </a:lnTo>
                  <a:close/>
                </a:path>
              </a:pathLst>
            </a:custGeom>
            <a:solidFill>
              <a:srgbClr val="000000"/>
            </a:solidFill>
            <a:ln w="9525">
              <a:noFill/>
              <a:round/>
              <a:headEnd/>
              <a:tailEnd/>
            </a:ln>
          </p:spPr>
          <p:txBody>
            <a:bodyPr/>
            <a:lstStyle/>
            <a:p>
              <a:endParaRPr lang="en-US"/>
            </a:p>
          </p:txBody>
        </p:sp>
        <p:sp>
          <p:nvSpPr>
            <p:cNvPr id="27665" name="Freeform 210"/>
            <p:cNvSpPr>
              <a:spLocks/>
            </p:cNvSpPr>
            <p:nvPr/>
          </p:nvSpPr>
          <p:spPr bwMode="auto">
            <a:xfrm>
              <a:off x="1849" y="3537"/>
              <a:ext cx="50" cy="31"/>
            </a:xfrm>
            <a:custGeom>
              <a:avLst/>
              <a:gdLst>
                <a:gd name="T0" fmla="*/ 0 w 101"/>
                <a:gd name="T1" fmla="*/ 0 h 63"/>
                <a:gd name="T2" fmla="*/ 0 w 101"/>
                <a:gd name="T3" fmla="*/ 0 h 63"/>
                <a:gd name="T4" fmla="*/ 0 w 101"/>
                <a:gd name="T5" fmla="*/ 0 h 63"/>
                <a:gd name="T6" fmla="*/ 0 w 101"/>
                <a:gd name="T7" fmla="*/ 0 h 63"/>
                <a:gd name="T8" fmla="*/ 0 w 101"/>
                <a:gd name="T9" fmla="*/ 0 h 63"/>
                <a:gd name="T10" fmla="*/ 0 w 101"/>
                <a:gd name="T11" fmla="*/ 0 h 63"/>
                <a:gd name="T12" fmla="*/ 0 w 101"/>
                <a:gd name="T13" fmla="*/ 0 h 63"/>
                <a:gd name="T14" fmla="*/ 0 w 101"/>
                <a:gd name="T15" fmla="*/ 0 h 63"/>
                <a:gd name="T16" fmla="*/ 0 w 101"/>
                <a:gd name="T17" fmla="*/ 0 h 63"/>
                <a:gd name="T18" fmla="*/ 0 w 101"/>
                <a:gd name="T19" fmla="*/ 0 h 63"/>
                <a:gd name="T20" fmla="*/ 0 w 101"/>
                <a:gd name="T21" fmla="*/ 0 h 63"/>
                <a:gd name="T22" fmla="*/ 0 w 101"/>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3"/>
                <a:gd name="T38" fmla="*/ 101 w 101"/>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3">
                  <a:moveTo>
                    <a:pt x="79" y="53"/>
                  </a:moveTo>
                  <a:lnTo>
                    <a:pt x="94" y="44"/>
                  </a:lnTo>
                  <a:lnTo>
                    <a:pt x="10" y="0"/>
                  </a:lnTo>
                  <a:lnTo>
                    <a:pt x="0" y="19"/>
                  </a:lnTo>
                  <a:lnTo>
                    <a:pt x="85" y="63"/>
                  </a:lnTo>
                  <a:lnTo>
                    <a:pt x="101" y="53"/>
                  </a:lnTo>
                  <a:lnTo>
                    <a:pt x="85" y="63"/>
                  </a:lnTo>
                  <a:lnTo>
                    <a:pt x="93" y="63"/>
                  </a:lnTo>
                  <a:lnTo>
                    <a:pt x="99" y="58"/>
                  </a:lnTo>
                  <a:lnTo>
                    <a:pt x="101" y="50"/>
                  </a:lnTo>
                  <a:lnTo>
                    <a:pt x="94" y="44"/>
                  </a:lnTo>
                  <a:lnTo>
                    <a:pt x="79" y="53"/>
                  </a:lnTo>
                  <a:close/>
                </a:path>
              </a:pathLst>
            </a:custGeom>
            <a:solidFill>
              <a:srgbClr val="000000"/>
            </a:solidFill>
            <a:ln w="9525">
              <a:noFill/>
              <a:round/>
              <a:headEnd/>
              <a:tailEnd/>
            </a:ln>
          </p:spPr>
          <p:txBody>
            <a:bodyPr/>
            <a:lstStyle/>
            <a:p>
              <a:endParaRPr lang="en-US"/>
            </a:p>
          </p:txBody>
        </p:sp>
        <p:sp>
          <p:nvSpPr>
            <p:cNvPr id="27666" name="Freeform 211"/>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6" y="21"/>
                  </a:moveTo>
                  <a:lnTo>
                    <a:pt x="0" y="11"/>
                  </a:lnTo>
                  <a:lnTo>
                    <a:pt x="0" y="249"/>
                  </a:lnTo>
                  <a:lnTo>
                    <a:pt x="22" y="249"/>
                  </a:lnTo>
                  <a:lnTo>
                    <a:pt x="22" y="11"/>
                  </a:lnTo>
                  <a:lnTo>
                    <a:pt x="15" y="2"/>
                  </a:lnTo>
                  <a:lnTo>
                    <a:pt x="22" y="11"/>
                  </a:lnTo>
                  <a:lnTo>
                    <a:pt x="18" y="4"/>
                  </a:lnTo>
                  <a:lnTo>
                    <a:pt x="11" y="0"/>
                  </a:lnTo>
                  <a:lnTo>
                    <a:pt x="3" y="4"/>
                  </a:lnTo>
                  <a:lnTo>
                    <a:pt x="0" y="11"/>
                  </a:lnTo>
                  <a:lnTo>
                    <a:pt x="6" y="21"/>
                  </a:lnTo>
                  <a:close/>
                </a:path>
              </a:pathLst>
            </a:custGeom>
            <a:solidFill>
              <a:srgbClr val="000000"/>
            </a:solidFill>
            <a:ln w="9525">
              <a:noFill/>
              <a:round/>
              <a:headEnd/>
              <a:tailEnd/>
            </a:ln>
          </p:spPr>
          <p:txBody>
            <a:bodyPr/>
            <a:lstStyle/>
            <a:p>
              <a:endParaRPr lang="en-US"/>
            </a:p>
          </p:txBody>
        </p:sp>
        <p:sp>
          <p:nvSpPr>
            <p:cNvPr id="27667" name="Freeform 212"/>
            <p:cNvSpPr>
              <a:spLocks/>
            </p:cNvSpPr>
            <p:nvPr/>
          </p:nvSpPr>
          <p:spPr bwMode="auto">
            <a:xfrm>
              <a:off x="1846" y="3419"/>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0 w 100"/>
                <a:gd name="T11" fmla="*/ 1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22" y="10"/>
                  </a:moveTo>
                  <a:lnTo>
                    <a:pt x="6" y="19"/>
                  </a:lnTo>
                  <a:lnTo>
                    <a:pt x="91" y="60"/>
                  </a:lnTo>
                  <a:lnTo>
                    <a:pt x="100" y="41"/>
                  </a:lnTo>
                  <a:lnTo>
                    <a:pt x="16" y="0"/>
                  </a:lnTo>
                  <a:lnTo>
                    <a:pt x="0" y="10"/>
                  </a:lnTo>
                  <a:lnTo>
                    <a:pt x="16" y="0"/>
                  </a:lnTo>
                  <a:lnTo>
                    <a:pt x="8" y="0"/>
                  </a:lnTo>
                  <a:lnTo>
                    <a:pt x="2"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7668" name="Freeform 213"/>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close/>
                </a:path>
              </a:pathLst>
            </a:custGeom>
            <a:solidFill>
              <a:srgbClr val="B2B2B2"/>
            </a:solidFill>
            <a:ln w="9525">
              <a:noFill/>
              <a:round/>
              <a:headEnd/>
              <a:tailEnd/>
            </a:ln>
          </p:spPr>
          <p:txBody>
            <a:bodyPr/>
            <a:lstStyle/>
            <a:p>
              <a:endParaRPr lang="en-US"/>
            </a:p>
          </p:txBody>
        </p:sp>
        <p:sp>
          <p:nvSpPr>
            <p:cNvPr id="27669" name="Freeform 214"/>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path>
              </a:pathLst>
            </a:custGeom>
            <a:noFill/>
            <a:ln w="0">
              <a:solidFill>
                <a:srgbClr val="000000"/>
              </a:solidFill>
              <a:round/>
              <a:headEnd/>
              <a:tailEnd/>
            </a:ln>
          </p:spPr>
          <p:txBody>
            <a:bodyPr/>
            <a:lstStyle/>
            <a:p>
              <a:endParaRPr lang="en-US"/>
            </a:p>
          </p:txBody>
        </p:sp>
        <p:sp>
          <p:nvSpPr>
            <p:cNvPr id="27670" name="Freeform 215"/>
            <p:cNvSpPr>
              <a:spLocks/>
            </p:cNvSpPr>
            <p:nvPr/>
          </p:nvSpPr>
          <p:spPr bwMode="auto">
            <a:xfrm>
              <a:off x="1974" y="3604"/>
              <a:ext cx="142" cy="50"/>
            </a:xfrm>
            <a:custGeom>
              <a:avLst/>
              <a:gdLst>
                <a:gd name="T0" fmla="*/ 0 w 285"/>
                <a:gd name="T1" fmla="*/ 1 h 100"/>
                <a:gd name="T2" fmla="*/ 0 w 285"/>
                <a:gd name="T3" fmla="*/ 1 h 100"/>
                <a:gd name="T4" fmla="*/ 0 w 285"/>
                <a:gd name="T5" fmla="*/ 1 h 100"/>
                <a:gd name="T6" fmla="*/ 0 w 285"/>
                <a:gd name="T7" fmla="*/ 1 h 100"/>
                <a:gd name="T8" fmla="*/ 0 w 285"/>
                <a:gd name="T9" fmla="*/ 1 h 100"/>
                <a:gd name="T10" fmla="*/ 0 w 285"/>
                <a:gd name="T11" fmla="*/ 1 h 100"/>
                <a:gd name="T12" fmla="*/ 0 w 285"/>
                <a:gd name="T13" fmla="*/ 1 h 100"/>
                <a:gd name="T14" fmla="*/ 0 w 285"/>
                <a:gd name="T15" fmla="*/ 1 h 100"/>
                <a:gd name="T16" fmla="*/ 0 w 285"/>
                <a:gd name="T17" fmla="*/ 1 h 100"/>
                <a:gd name="T18" fmla="*/ 0 w 285"/>
                <a:gd name="T19" fmla="*/ 1 h 100"/>
                <a:gd name="T20" fmla="*/ 0 w 285"/>
                <a:gd name="T21" fmla="*/ 1 h 100"/>
                <a:gd name="T22" fmla="*/ 0 w 285"/>
                <a:gd name="T23" fmla="*/ 1 h 100"/>
                <a:gd name="T24" fmla="*/ 0 w 285"/>
                <a:gd name="T25" fmla="*/ 1 h 100"/>
                <a:gd name="T26" fmla="*/ 0 w 285"/>
                <a:gd name="T27" fmla="*/ 1 h 100"/>
                <a:gd name="T28" fmla="*/ 0 w 285"/>
                <a:gd name="T29" fmla="*/ 1 h 100"/>
                <a:gd name="T30" fmla="*/ 0 w 285"/>
                <a:gd name="T31" fmla="*/ 1 h 100"/>
                <a:gd name="T32" fmla="*/ 0 w 285"/>
                <a:gd name="T33" fmla="*/ 1 h 100"/>
                <a:gd name="T34" fmla="*/ 0 w 285"/>
                <a:gd name="T35" fmla="*/ 1 h 100"/>
                <a:gd name="T36" fmla="*/ 0 w 285"/>
                <a:gd name="T37" fmla="*/ 1 h 100"/>
                <a:gd name="T38" fmla="*/ 0 w 285"/>
                <a:gd name="T39" fmla="*/ 1 h 100"/>
                <a:gd name="T40" fmla="*/ 0 w 285"/>
                <a:gd name="T41" fmla="*/ 1 h 100"/>
                <a:gd name="T42" fmla="*/ 0 w 285"/>
                <a:gd name="T43" fmla="*/ 0 h 100"/>
                <a:gd name="T44" fmla="*/ 0 w 285"/>
                <a:gd name="T45" fmla="*/ 1 h 100"/>
                <a:gd name="T46" fmla="*/ 0 w 285"/>
                <a:gd name="T47" fmla="*/ 1 h 100"/>
                <a:gd name="T48" fmla="*/ 0 w 285"/>
                <a:gd name="T49" fmla="*/ 1 h 100"/>
                <a:gd name="T50" fmla="*/ 0 w 285"/>
                <a:gd name="T51" fmla="*/ 1 h 100"/>
                <a:gd name="T52" fmla="*/ 0 w 285"/>
                <a:gd name="T53" fmla="*/ 1 h 100"/>
                <a:gd name="T54" fmla="*/ 0 w 285"/>
                <a:gd name="T55" fmla="*/ 1 h 100"/>
                <a:gd name="T56" fmla="*/ 0 w 285"/>
                <a:gd name="T57" fmla="*/ 1 h 100"/>
                <a:gd name="T58" fmla="*/ 0 w 285"/>
                <a:gd name="T59" fmla="*/ 1 h 100"/>
                <a:gd name="T60" fmla="*/ 0 w 285"/>
                <a:gd name="T61" fmla="*/ 1 h 100"/>
                <a:gd name="T62" fmla="*/ 0 w 285"/>
                <a:gd name="T63" fmla="*/ 1 h 100"/>
                <a:gd name="T64" fmla="*/ 0 w 285"/>
                <a:gd name="T65" fmla="*/ 1 h 100"/>
                <a:gd name="T66" fmla="*/ 0 w 285"/>
                <a:gd name="T67" fmla="*/ 1 h 100"/>
                <a:gd name="T68" fmla="*/ 0 w 285"/>
                <a:gd name="T69" fmla="*/ 1 h 1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5"/>
                <a:gd name="T106" fmla="*/ 0 h 100"/>
                <a:gd name="T107" fmla="*/ 285 w 285"/>
                <a:gd name="T108" fmla="*/ 100 h 1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5" h="100">
                  <a:moveTo>
                    <a:pt x="284" y="65"/>
                  </a:moveTo>
                  <a:lnTo>
                    <a:pt x="224" y="98"/>
                  </a:lnTo>
                  <a:lnTo>
                    <a:pt x="215" y="100"/>
                  </a:lnTo>
                  <a:lnTo>
                    <a:pt x="208" y="98"/>
                  </a:lnTo>
                  <a:lnTo>
                    <a:pt x="191" y="95"/>
                  </a:lnTo>
                  <a:lnTo>
                    <a:pt x="168" y="90"/>
                  </a:lnTo>
                  <a:lnTo>
                    <a:pt x="140" y="84"/>
                  </a:lnTo>
                  <a:lnTo>
                    <a:pt x="110" y="78"/>
                  </a:lnTo>
                  <a:lnTo>
                    <a:pt x="83" y="72"/>
                  </a:lnTo>
                  <a:lnTo>
                    <a:pt x="61" y="65"/>
                  </a:lnTo>
                  <a:lnTo>
                    <a:pt x="47" y="62"/>
                  </a:lnTo>
                  <a:lnTo>
                    <a:pt x="22" y="57"/>
                  </a:lnTo>
                  <a:lnTo>
                    <a:pt x="19" y="57"/>
                  </a:lnTo>
                  <a:lnTo>
                    <a:pt x="21" y="64"/>
                  </a:lnTo>
                  <a:lnTo>
                    <a:pt x="16" y="65"/>
                  </a:lnTo>
                  <a:lnTo>
                    <a:pt x="14" y="65"/>
                  </a:lnTo>
                  <a:lnTo>
                    <a:pt x="10" y="62"/>
                  </a:lnTo>
                  <a:lnTo>
                    <a:pt x="7" y="59"/>
                  </a:lnTo>
                  <a:lnTo>
                    <a:pt x="3" y="54"/>
                  </a:lnTo>
                  <a:lnTo>
                    <a:pt x="2" y="50"/>
                  </a:lnTo>
                  <a:lnTo>
                    <a:pt x="0" y="47"/>
                  </a:lnTo>
                  <a:lnTo>
                    <a:pt x="0" y="45"/>
                  </a:lnTo>
                  <a:lnTo>
                    <a:pt x="2" y="43"/>
                  </a:lnTo>
                  <a:lnTo>
                    <a:pt x="5" y="42"/>
                  </a:lnTo>
                  <a:lnTo>
                    <a:pt x="5" y="37"/>
                  </a:lnTo>
                  <a:lnTo>
                    <a:pt x="7" y="34"/>
                  </a:lnTo>
                  <a:lnTo>
                    <a:pt x="8" y="32"/>
                  </a:lnTo>
                  <a:lnTo>
                    <a:pt x="11" y="29"/>
                  </a:lnTo>
                  <a:lnTo>
                    <a:pt x="14" y="26"/>
                  </a:lnTo>
                  <a:lnTo>
                    <a:pt x="19" y="23"/>
                  </a:lnTo>
                  <a:lnTo>
                    <a:pt x="22" y="20"/>
                  </a:lnTo>
                  <a:lnTo>
                    <a:pt x="25" y="18"/>
                  </a:lnTo>
                  <a:lnTo>
                    <a:pt x="28" y="14"/>
                  </a:lnTo>
                  <a:lnTo>
                    <a:pt x="30" y="11"/>
                  </a:lnTo>
                  <a:lnTo>
                    <a:pt x="33" y="7"/>
                  </a:lnTo>
                  <a:lnTo>
                    <a:pt x="39" y="9"/>
                  </a:lnTo>
                  <a:lnTo>
                    <a:pt x="50" y="14"/>
                  </a:lnTo>
                  <a:lnTo>
                    <a:pt x="58" y="18"/>
                  </a:lnTo>
                  <a:lnTo>
                    <a:pt x="63" y="20"/>
                  </a:lnTo>
                  <a:lnTo>
                    <a:pt x="60" y="17"/>
                  </a:lnTo>
                  <a:lnTo>
                    <a:pt x="61" y="6"/>
                  </a:lnTo>
                  <a:lnTo>
                    <a:pt x="61" y="4"/>
                  </a:lnTo>
                  <a:lnTo>
                    <a:pt x="63" y="3"/>
                  </a:lnTo>
                  <a:lnTo>
                    <a:pt x="66" y="0"/>
                  </a:lnTo>
                  <a:lnTo>
                    <a:pt x="68" y="0"/>
                  </a:lnTo>
                  <a:lnTo>
                    <a:pt x="69" y="1"/>
                  </a:lnTo>
                  <a:lnTo>
                    <a:pt x="71" y="4"/>
                  </a:lnTo>
                  <a:lnTo>
                    <a:pt x="71" y="6"/>
                  </a:lnTo>
                  <a:lnTo>
                    <a:pt x="69" y="9"/>
                  </a:lnTo>
                  <a:lnTo>
                    <a:pt x="71" y="14"/>
                  </a:lnTo>
                  <a:lnTo>
                    <a:pt x="74" y="20"/>
                  </a:lnTo>
                  <a:lnTo>
                    <a:pt x="77" y="26"/>
                  </a:lnTo>
                  <a:lnTo>
                    <a:pt x="82" y="29"/>
                  </a:lnTo>
                  <a:lnTo>
                    <a:pt x="90" y="31"/>
                  </a:lnTo>
                  <a:lnTo>
                    <a:pt x="104" y="32"/>
                  </a:lnTo>
                  <a:lnTo>
                    <a:pt x="124" y="34"/>
                  </a:lnTo>
                  <a:lnTo>
                    <a:pt x="147" y="37"/>
                  </a:lnTo>
                  <a:lnTo>
                    <a:pt x="169" y="39"/>
                  </a:lnTo>
                  <a:lnTo>
                    <a:pt x="190" y="40"/>
                  </a:lnTo>
                  <a:lnTo>
                    <a:pt x="204" y="42"/>
                  </a:lnTo>
                  <a:lnTo>
                    <a:pt x="208" y="42"/>
                  </a:lnTo>
                  <a:lnTo>
                    <a:pt x="212" y="39"/>
                  </a:lnTo>
                  <a:lnTo>
                    <a:pt x="221" y="32"/>
                  </a:lnTo>
                  <a:lnTo>
                    <a:pt x="230" y="25"/>
                  </a:lnTo>
                  <a:lnTo>
                    <a:pt x="241" y="20"/>
                  </a:lnTo>
                  <a:lnTo>
                    <a:pt x="249" y="15"/>
                  </a:lnTo>
                  <a:lnTo>
                    <a:pt x="254" y="9"/>
                  </a:lnTo>
                  <a:lnTo>
                    <a:pt x="255" y="6"/>
                  </a:lnTo>
                  <a:lnTo>
                    <a:pt x="257" y="4"/>
                  </a:lnTo>
                  <a:lnTo>
                    <a:pt x="285" y="61"/>
                  </a:lnTo>
                  <a:lnTo>
                    <a:pt x="284" y="65"/>
                  </a:lnTo>
                  <a:close/>
                </a:path>
              </a:pathLst>
            </a:custGeom>
            <a:solidFill>
              <a:srgbClr val="FFB27F"/>
            </a:solidFill>
            <a:ln w="9525">
              <a:noFill/>
              <a:round/>
              <a:headEnd/>
              <a:tailEnd/>
            </a:ln>
          </p:spPr>
          <p:txBody>
            <a:bodyPr/>
            <a:lstStyle/>
            <a:p>
              <a:endParaRPr lang="en-US"/>
            </a:p>
          </p:txBody>
        </p:sp>
        <p:sp>
          <p:nvSpPr>
            <p:cNvPr id="27671" name="Freeform 216"/>
            <p:cNvSpPr>
              <a:spLocks/>
            </p:cNvSpPr>
            <p:nvPr/>
          </p:nvSpPr>
          <p:spPr bwMode="auto">
            <a:xfrm>
              <a:off x="2080" y="3632"/>
              <a:ext cx="38" cy="27"/>
            </a:xfrm>
            <a:custGeom>
              <a:avLst/>
              <a:gdLst>
                <a:gd name="T0" fmla="*/ 1 w 75"/>
                <a:gd name="T1" fmla="*/ 1 h 53"/>
                <a:gd name="T2" fmla="*/ 1 w 75"/>
                <a:gd name="T3" fmla="*/ 1 h 53"/>
                <a:gd name="T4" fmla="*/ 1 w 75"/>
                <a:gd name="T5" fmla="*/ 1 h 53"/>
                <a:gd name="T6" fmla="*/ 1 w 75"/>
                <a:gd name="T7" fmla="*/ 0 h 53"/>
                <a:gd name="T8" fmla="*/ 1 w 75"/>
                <a:gd name="T9" fmla="*/ 1 h 53"/>
                <a:gd name="T10" fmla="*/ 1 w 75"/>
                <a:gd name="T11" fmla="*/ 1 h 53"/>
                <a:gd name="T12" fmla="*/ 1 w 75"/>
                <a:gd name="T13" fmla="*/ 1 h 53"/>
                <a:gd name="T14" fmla="*/ 0 w 75"/>
                <a:gd name="T15" fmla="*/ 1 h 53"/>
                <a:gd name="T16" fmla="*/ 1 w 75"/>
                <a:gd name="T17" fmla="*/ 1 h 53"/>
                <a:gd name="T18" fmla="*/ 1 w 75"/>
                <a:gd name="T19" fmla="*/ 1 h 53"/>
                <a:gd name="T20" fmla="*/ 1 w 75"/>
                <a:gd name="T21" fmla="*/ 1 h 53"/>
                <a:gd name="T22" fmla="*/ 1 w 75"/>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5"/>
                <a:gd name="T37" fmla="*/ 0 h 53"/>
                <a:gd name="T38" fmla="*/ 75 w 75"/>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5" h="53">
                  <a:moveTo>
                    <a:pt x="13" y="53"/>
                  </a:moveTo>
                  <a:lnTo>
                    <a:pt x="16" y="52"/>
                  </a:lnTo>
                  <a:lnTo>
                    <a:pt x="75" y="19"/>
                  </a:lnTo>
                  <a:lnTo>
                    <a:pt x="66" y="0"/>
                  </a:lnTo>
                  <a:lnTo>
                    <a:pt x="6" y="33"/>
                  </a:lnTo>
                  <a:lnTo>
                    <a:pt x="10" y="31"/>
                  </a:lnTo>
                  <a:lnTo>
                    <a:pt x="6" y="33"/>
                  </a:lnTo>
                  <a:lnTo>
                    <a:pt x="0" y="39"/>
                  </a:lnTo>
                  <a:lnTo>
                    <a:pt x="2" y="47"/>
                  </a:lnTo>
                  <a:lnTo>
                    <a:pt x="8" y="52"/>
                  </a:lnTo>
                  <a:lnTo>
                    <a:pt x="16" y="52"/>
                  </a:lnTo>
                  <a:lnTo>
                    <a:pt x="13" y="53"/>
                  </a:lnTo>
                  <a:close/>
                </a:path>
              </a:pathLst>
            </a:custGeom>
            <a:solidFill>
              <a:srgbClr val="000000"/>
            </a:solidFill>
            <a:ln w="9525">
              <a:noFill/>
              <a:round/>
              <a:headEnd/>
              <a:tailEnd/>
            </a:ln>
          </p:spPr>
          <p:txBody>
            <a:bodyPr/>
            <a:lstStyle/>
            <a:p>
              <a:endParaRPr lang="en-US"/>
            </a:p>
          </p:txBody>
        </p:sp>
        <p:sp>
          <p:nvSpPr>
            <p:cNvPr id="27672" name="Freeform 217"/>
            <p:cNvSpPr>
              <a:spLocks/>
            </p:cNvSpPr>
            <p:nvPr/>
          </p:nvSpPr>
          <p:spPr bwMode="auto">
            <a:xfrm>
              <a:off x="2075" y="3648"/>
              <a:ext cx="11" cy="11"/>
            </a:xfrm>
            <a:custGeom>
              <a:avLst/>
              <a:gdLst>
                <a:gd name="T0" fmla="*/ 1 w 22"/>
                <a:gd name="T1" fmla="*/ 0 h 24"/>
                <a:gd name="T2" fmla="*/ 1 w 22"/>
                <a:gd name="T3" fmla="*/ 0 h 24"/>
                <a:gd name="T4" fmla="*/ 1 w 22"/>
                <a:gd name="T5" fmla="*/ 0 h 24"/>
                <a:gd name="T6" fmla="*/ 1 w 22"/>
                <a:gd name="T7" fmla="*/ 0 h 24"/>
                <a:gd name="T8" fmla="*/ 1 w 22"/>
                <a:gd name="T9" fmla="*/ 0 h 24"/>
                <a:gd name="T10" fmla="*/ 1 w 22"/>
                <a:gd name="T11" fmla="*/ 0 h 24"/>
                <a:gd name="T12" fmla="*/ 1 w 22"/>
                <a:gd name="T13" fmla="*/ 0 h 24"/>
                <a:gd name="T14" fmla="*/ 1 w 22"/>
                <a:gd name="T15" fmla="*/ 0 h 24"/>
                <a:gd name="T16" fmla="*/ 0 w 22"/>
                <a:gd name="T17" fmla="*/ 0 h 24"/>
                <a:gd name="T18" fmla="*/ 1 w 22"/>
                <a:gd name="T19" fmla="*/ 0 h 24"/>
                <a:gd name="T20" fmla="*/ 1 w 22"/>
                <a:gd name="T21" fmla="*/ 0 h 24"/>
                <a:gd name="T22" fmla="*/ 1 w 22"/>
                <a:gd name="T23" fmla="*/ 0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
                <a:gd name="T38" fmla="*/ 22 w 22"/>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
                  <a:moveTo>
                    <a:pt x="9" y="24"/>
                  </a:moveTo>
                  <a:lnTo>
                    <a:pt x="12" y="24"/>
                  </a:lnTo>
                  <a:lnTo>
                    <a:pt x="22" y="22"/>
                  </a:lnTo>
                  <a:lnTo>
                    <a:pt x="19" y="0"/>
                  </a:lnTo>
                  <a:lnTo>
                    <a:pt x="9" y="2"/>
                  </a:lnTo>
                  <a:lnTo>
                    <a:pt x="12" y="2"/>
                  </a:lnTo>
                  <a:lnTo>
                    <a:pt x="9" y="2"/>
                  </a:lnTo>
                  <a:lnTo>
                    <a:pt x="1" y="6"/>
                  </a:lnTo>
                  <a:lnTo>
                    <a:pt x="0" y="14"/>
                  </a:lnTo>
                  <a:lnTo>
                    <a:pt x="4" y="21"/>
                  </a:lnTo>
                  <a:lnTo>
                    <a:pt x="12" y="24"/>
                  </a:lnTo>
                  <a:lnTo>
                    <a:pt x="9" y="24"/>
                  </a:lnTo>
                  <a:close/>
                </a:path>
              </a:pathLst>
            </a:custGeom>
            <a:solidFill>
              <a:srgbClr val="000000"/>
            </a:solidFill>
            <a:ln w="9525">
              <a:noFill/>
              <a:round/>
              <a:headEnd/>
              <a:tailEnd/>
            </a:ln>
          </p:spPr>
          <p:txBody>
            <a:bodyPr/>
            <a:lstStyle/>
            <a:p>
              <a:endParaRPr lang="en-US"/>
            </a:p>
          </p:txBody>
        </p:sp>
        <p:sp>
          <p:nvSpPr>
            <p:cNvPr id="27673" name="Freeform 218"/>
            <p:cNvSpPr>
              <a:spLocks/>
            </p:cNvSpPr>
            <p:nvPr/>
          </p:nvSpPr>
          <p:spPr bwMode="auto">
            <a:xfrm>
              <a:off x="1996" y="3630"/>
              <a:ext cx="86" cy="29"/>
            </a:xfrm>
            <a:custGeom>
              <a:avLst/>
              <a:gdLst>
                <a:gd name="T0" fmla="*/ 1 w 172"/>
                <a:gd name="T1" fmla="*/ 0 h 60"/>
                <a:gd name="T2" fmla="*/ 0 w 172"/>
                <a:gd name="T3" fmla="*/ 0 h 60"/>
                <a:gd name="T4" fmla="*/ 1 w 172"/>
                <a:gd name="T5" fmla="*/ 0 h 60"/>
                <a:gd name="T6" fmla="*/ 1 w 172"/>
                <a:gd name="T7" fmla="*/ 0 h 60"/>
                <a:gd name="T8" fmla="*/ 1 w 172"/>
                <a:gd name="T9" fmla="*/ 0 h 60"/>
                <a:gd name="T10" fmla="*/ 1 w 172"/>
                <a:gd name="T11" fmla="*/ 0 h 60"/>
                <a:gd name="T12" fmla="*/ 1 w 172"/>
                <a:gd name="T13" fmla="*/ 0 h 60"/>
                <a:gd name="T14" fmla="*/ 1 w 172"/>
                <a:gd name="T15" fmla="*/ 0 h 60"/>
                <a:gd name="T16" fmla="*/ 1 w 172"/>
                <a:gd name="T17" fmla="*/ 0 h 60"/>
                <a:gd name="T18" fmla="*/ 1 w 172"/>
                <a:gd name="T19" fmla="*/ 0 h 60"/>
                <a:gd name="T20" fmla="*/ 1 w 172"/>
                <a:gd name="T21" fmla="*/ 0 h 60"/>
                <a:gd name="T22" fmla="*/ 1 w 172"/>
                <a:gd name="T23" fmla="*/ 0 h 60"/>
                <a:gd name="T24" fmla="*/ 1 w 172"/>
                <a:gd name="T25" fmla="*/ 0 h 60"/>
                <a:gd name="T26" fmla="*/ 1 w 172"/>
                <a:gd name="T27" fmla="*/ 0 h 60"/>
                <a:gd name="T28" fmla="*/ 1 w 172"/>
                <a:gd name="T29" fmla="*/ 0 h 60"/>
                <a:gd name="T30" fmla="*/ 1 w 172"/>
                <a:gd name="T31" fmla="*/ 0 h 60"/>
                <a:gd name="T32" fmla="*/ 1 w 172"/>
                <a:gd name="T33" fmla="*/ 0 h 60"/>
                <a:gd name="T34" fmla="*/ 1 w 172"/>
                <a:gd name="T35" fmla="*/ 0 h 60"/>
                <a:gd name="T36" fmla="*/ 1 w 172"/>
                <a:gd name="T37" fmla="*/ 0 h 60"/>
                <a:gd name="T38" fmla="*/ 1 w 172"/>
                <a:gd name="T39" fmla="*/ 0 h 60"/>
                <a:gd name="T40" fmla="*/ 1 w 172"/>
                <a:gd name="T41" fmla="*/ 0 h 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2"/>
                <a:gd name="T64" fmla="*/ 0 h 60"/>
                <a:gd name="T65" fmla="*/ 172 w 172"/>
                <a:gd name="T66" fmla="*/ 60 h 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2" h="60">
                  <a:moveTo>
                    <a:pt x="2" y="22"/>
                  </a:moveTo>
                  <a:lnTo>
                    <a:pt x="0" y="22"/>
                  </a:lnTo>
                  <a:lnTo>
                    <a:pt x="14" y="25"/>
                  </a:lnTo>
                  <a:lnTo>
                    <a:pt x="36" y="32"/>
                  </a:lnTo>
                  <a:lnTo>
                    <a:pt x="63" y="38"/>
                  </a:lnTo>
                  <a:lnTo>
                    <a:pt x="94" y="44"/>
                  </a:lnTo>
                  <a:lnTo>
                    <a:pt x="122" y="50"/>
                  </a:lnTo>
                  <a:lnTo>
                    <a:pt x="146" y="55"/>
                  </a:lnTo>
                  <a:lnTo>
                    <a:pt x="163" y="58"/>
                  </a:lnTo>
                  <a:lnTo>
                    <a:pt x="169" y="60"/>
                  </a:lnTo>
                  <a:lnTo>
                    <a:pt x="172" y="38"/>
                  </a:lnTo>
                  <a:lnTo>
                    <a:pt x="166" y="36"/>
                  </a:lnTo>
                  <a:lnTo>
                    <a:pt x="149" y="33"/>
                  </a:lnTo>
                  <a:lnTo>
                    <a:pt x="125" y="28"/>
                  </a:lnTo>
                  <a:lnTo>
                    <a:pt x="97" y="22"/>
                  </a:lnTo>
                  <a:lnTo>
                    <a:pt x="69" y="16"/>
                  </a:lnTo>
                  <a:lnTo>
                    <a:pt x="42" y="10"/>
                  </a:lnTo>
                  <a:lnTo>
                    <a:pt x="20" y="3"/>
                  </a:lnTo>
                  <a:lnTo>
                    <a:pt x="6" y="0"/>
                  </a:lnTo>
                  <a:lnTo>
                    <a:pt x="5" y="0"/>
                  </a:lnTo>
                  <a:lnTo>
                    <a:pt x="2" y="22"/>
                  </a:lnTo>
                  <a:close/>
                </a:path>
              </a:pathLst>
            </a:custGeom>
            <a:solidFill>
              <a:srgbClr val="000000"/>
            </a:solidFill>
            <a:ln w="9525">
              <a:noFill/>
              <a:round/>
              <a:headEnd/>
              <a:tailEnd/>
            </a:ln>
          </p:spPr>
          <p:txBody>
            <a:bodyPr/>
            <a:lstStyle/>
            <a:p>
              <a:endParaRPr lang="en-US"/>
            </a:p>
          </p:txBody>
        </p:sp>
        <p:sp>
          <p:nvSpPr>
            <p:cNvPr id="27674" name="Freeform 219"/>
            <p:cNvSpPr>
              <a:spLocks/>
            </p:cNvSpPr>
            <p:nvPr/>
          </p:nvSpPr>
          <p:spPr bwMode="auto">
            <a:xfrm>
              <a:off x="1979" y="3627"/>
              <a:ext cx="19" cy="14"/>
            </a:xfrm>
            <a:custGeom>
              <a:avLst/>
              <a:gdLst>
                <a:gd name="T0" fmla="*/ 1 w 38"/>
                <a:gd name="T1" fmla="*/ 1 h 26"/>
                <a:gd name="T2" fmla="*/ 1 w 38"/>
                <a:gd name="T3" fmla="*/ 1 h 26"/>
                <a:gd name="T4" fmla="*/ 1 w 38"/>
                <a:gd name="T5" fmla="*/ 1 h 26"/>
                <a:gd name="T6" fmla="*/ 1 w 38"/>
                <a:gd name="T7" fmla="*/ 1 h 26"/>
                <a:gd name="T8" fmla="*/ 1 w 38"/>
                <a:gd name="T9" fmla="*/ 0 h 26"/>
                <a:gd name="T10" fmla="*/ 1 w 38"/>
                <a:gd name="T11" fmla="*/ 0 h 26"/>
                <a:gd name="T12" fmla="*/ 1 w 38"/>
                <a:gd name="T13" fmla="*/ 0 h 26"/>
                <a:gd name="T14" fmla="*/ 1 w 38"/>
                <a:gd name="T15" fmla="*/ 1 h 26"/>
                <a:gd name="T16" fmla="*/ 0 w 38"/>
                <a:gd name="T17" fmla="*/ 1 h 26"/>
                <a:gd name="T18" fmla="*/ 1 w 38"/>
                <a:gd name="T19" fmla="*/ 1 h 26"/>
                <a:gd name="T20" fmla="*/ 1 w 38"/>
                <a:gd name="T21" fmla="*/ 1 h 26"/>
                <a:gd name="T22" fmla="*/ 1 w 38"/>
                <a:gd name="T23" fmla="*/ 1 h 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26"/>
                <a:gd name="T38" fmla="*/ 38 w 38"/>
                <a:gd name="T39" fmla="*/ 26 h 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26">
                  <a:moveTo>
                    <a:pt x="11" y="21"/>
                  </a:moveTo>
                  <a:lnTo>
                    <a:pt x="10" y="21"/>
                  </a:lnTo>
                  <a:lnTo>
                    <a:pt x="35" y="26"/>
                  </a:lnTo>
                  <a:lnTo>
                    <a:pt x="38" y="4"/>
                  </a:lnTo>
                  <a:lnTo>
                    <a:pt x="13" y="0"/>
                  </a:lnTo>
                  <a:lnTo>
                    <a:pt x="11" y="0"/>
                  </a:lnTo>
                  <a:lnTo>
                    <a:pt x="13" y="0"/>
                  </a:lnTo>
                  <a:lnTo>
                    <a:pt x="5" y="3"/>
                  </a:lnTo>
                  <a:lnTo>
                    <a:pt x="0" y="9"/>
                  </a:lnTo>
                  <a:lnTo>
                    <a:pt x="2" y="17"/>
                  </a:lnTo>
                  <a:lnTo>
                    <a:pt x="10" y="21"/>
                  </a:lnTo>
                  <a:lnTo>
                    <a:pt x="11" y="21"/>
                  </a:lnTo>
                  <a:close/>
                </a:path>
              </a:pathLst>
            </a:custGeom>
            <a:solidFill>
              <a:srgbClr val="000000"/>
            </a:solidFill>
            <a:ln w="9525">
              <a:noFill/>
              <a:round/>
              <a:headEnd/>
              <a:tailEnd/>
            </a:ln>
          </p:spPr>
          <p:txBody>
            <a:bodyPr/>
            <a:lstStyle/>
            <a:p>
              <a:endParaRPr lang="en-US"/>
            </a:p>
          </p:txBody>
        </p:sp>
        <p:sp>
          <p:nvSpPr>
            <p:cNvPr id="27675" name="Freeform 220"/>
            <p:cNvSpPr>
              <a:spLocks/>
            </p:cNvSpPr>
            <p:nvPr/>
          </p:nvSpPr>
          <p:spPr bwMode="auto">
            <a:xfrm>
              <a:off x="1978" y="3627"/>
              <a:ext cx="11" cy="11"/>
            </a:xfrm>
            <a:custGeom>
              <a:avLst/>
              <a:gdLst>
                <a:gd name="T0" fmla="*/ 1 w 22"/>
                <a:gd name="T1" fmla="*/ 1 h 21"/>
                <a:gd name="T2" fmla="*/ 1 w 22"/>
                <a:gd name="T3" fmla="*/ 1 h 21"/>
                <a:gd name="T4" fmla="*/ 1 w 22"/>
                <a:gd name="T5" fmla="*/ 1 h 21"/>
                <a:gd name="T6" fmla="*/ 1 w 22"/>
                <a:gd name="T7" fmla="*/ 0 h 21"/>
                <a:gd name="T8" fmla="*/ 1 w 22"/>
                <a:gd name="T9" fmla="*/ 0 h 21"/>
                <a:gd name="T10" fmla="*/ 0 w 22"/>
                <a:gd name="T11" fmla="*/ 1 h 21"/>
                <a:gd name="T12" fmla="*/ 1 w 22"/>
                <a:gd name="T13" fmla="*/ 0 h 21"/>
                <a:gd name="T14" fmla="*/ 1 w 22"/>
                <a:gd name="T15" fmla="*/ 1 h 21"/>
                <a:gd name="T16" fmla="*/ 0 w 22"/>
                <a:gd name="T17" fmla="*/ 1 h 21"/>
                <a:gd name="T18" fmla="*/ 1 w 22"/>
                <a:gd name="T19" fmla="*/ 1 h 21"/>
                <a:gd name="T20" fmla="*/ 1 w 22"/>
                <a:gd name="T21" fmla="*/ 1 h 21"/>
                <a:gd name="T22" fmla="*/ 1 w 22"/>
                <a:gd name="T23" fmla="*/ 1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22" y="7"/>
                  </a:moveTo>
                  <a:lnTo>
                    <a:pt x="11" y="21"/>
                  </a:lnTo>
                  <a:lnTo>
                    <a:pt x="14" y="21"/>
                  </a:lnTo>
                  <a:lnTo>
                    <a:pt x="14" y="0"/>
                  </a:lnTo>
                  <a:lnTo>
                    <a:pt x="11" y="0"/>
                  </a:lnTo>
                  <a:lnTo>
                    <a:pt x="0" y="14"/>
                  </a:lnTo>
                  <a:lnTo>
                    <a:pt x="11" y="0"/>
                  </a:lnTo>
                  <a:lnTo>
                    <a:pt x="3" y="3"/>
                  </a:lnTo>
                  <a:lnTo>
                    <a:pt x="0" y="10"/>
                  </a:lnTo>
                  <a:lnTo>
                    <a:pt x="3" y="18"/>
                  </a:lnTo>
                  <a:lnTo>
                    <a:pt x="11" y="21"/>
                  </a:lnTo>
                  <a:lnTo>
                    <a:pt x="22" y="7"/>
                  </a:lnTo>
                  <a:close/>
                </a:path>
              </a:pathLst>
            </a:custGeom>
            <a:solidFill>
              <a:srgbClr val="000000"/>
            </a:solidFill>
            <a:ln w="9525">
              <a:noFill/>
              <a:round/>
              <a:headEnd/>
              <a:tailEnd/>
            </a:ln>
          </p:spPr>
          <p:txBody>
            <a:bodyPr/>
            <a:lstStyle/>
            <a:p>
              <a:endParaRPr lang="en-US"/>
            </a:p>
          </p:txBody>
        </p:sp>
        <p:sp>
          <p:nvSpPr>
            <p:cNvPr id="27676" name="Freeform 221"/>
            <p:cNvSpPr>
              <a:spLocks/>
            </p:cNvSpPr>
            <p:nvPr/>
          </p:nvSpPr>
          <p:spPr bwMode="auto">
            <a:xfrm>
              <a:off x="1978" y="3630"/>
              <a:ext cx="11" cy="11"/>
            </a:xfrm>
            <a:custGeom>
              <a:avLst/>
              <a:gdLst>
                <a:gd name="T0" fmla="*/ 0 w 24"/>
                <a:gd name="T1" fmla="*/ 1 h 22"/>
                <a:gd name="T2" fmla="*/ 0 w 24"/>
                <a:gd name="T3" fmla="*/ 1 h 22"/>
                <a:gd name="T4" fmla="*/ 0 w 24"/>
                <a:gd name="T5" fmla="*/ 1 h 22"/>
                <a:gd name="T6" fmla="*/ 0 w 24"/>
                <a:gd name="T7" fmla="*/ 1 h 22"/>
                <a:gd name="T8" fmla="*/ 0 w 24"/>
                <a:gd name="T9" fmla="*/ 1 h 22"/>
                <a:gd name="T10" fmla="*/ 0 w 24"/>
                <a:gd name="T11" fmla="*/ 0 h 22"/>
                <a:gd name="T12" fmla="*/ 0 w 24"/>
                <a:gd name="T13" fmla="*/ 1 h 22"/>
                <a:gd name="T14" fmla="*/ 0 w 24"/>
                <a:gd name="T15" fmla="*/ 1 h 22"/>
                <a:gd name="T16" fmla="*/ 0 w 24"/>
                <a:gd name="T17" fmla="*/ 1 h 22"/>
                <a:gd name="T18" fmla="*/ 0 w 24"/>
                <a:gd name="T19" fmla="*/ 1 h 22"/>
                <a:gd name="T20" fmla="*/ 0 w 24"/>
                <a:gd name="T21" fmla="*/ 1 h 22"/>
                <a:gd name="T22" fmla="*/ 0 w 24"/>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2"/>
                <a:gd name="T38" fmla="*/ 24 w 24"/>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2">
                  <a:moveTo>
                    <a:pt x="16" y="22"/>
                  </a:moveTo>
                  <a:lnTo>
                    <a:pt x="24" y="8"/>
                  </a:lnTo>
                  <a:lnTo>
                    <a:pt x="22" y="1"/>
                  </a:lnTo>
                  <a:lnTo>
                    <a:pt x="0" y="8"/>
                  </a:lnTo>
                  <a:lnTo>
                    <a:pt x="2" y="14"/>
                  </a:lnTo>
                  <a:lnTo>
                    <a:pt x="9" y="0"/>
                  </a:lnTo>
                  <a:lnTo>
                    <a:pt x="2" y="14"/>
                  </a:lnTo>
                  <a:lnTo>
                    <a:pt x="6" y="20"/>
                  </a:lnTo>
                  <a:lnTo>
                    <a:pt x="16" y="22"/>
                  </a:lnTo>
                  <a:lnTo>
                    <a:pt x="22" y="17"/>
                  </a:lnTo>
                  <a:lnTo>
                    <a:pt x="24" y="8"/>
                  </a:lnTo>
                  <a:lnTo>
                    <a:pt x="16" y="22"/>
                  </a:lnTo>
                  <a:close/>
                </a:path>
              </a:pathLst>
            </a:custGeom>
            <a:solidFill>
              <a:srgbClr val="000000"/>
            </a:solidFill>
            <a:ln w="9525">
              <a:noFill/>
              <a:round/>
              <a:headEnd/>
              <a:tailEnd/>
            </a:ln>
          </p:spPr>
          <p:txBody>
            <a:bodyPr/>
            <a:lstStyle/>
            <a:p>
              <a:endParaRPr lang="en-US"/>
            </a:p>
          </p:txBody>
        </p:sp>
        <p:sp>
          <p:nvSpPr>
            <p:cNvPr id="27677" name="Freeform 222"/>
            <p:cNvSpPr>
              <a:spLocks/>
            </p:cNvSpPr>
            <p:nvPr/>
          </p:nvSpPr>
          <p:spPr bwMode="auto">
            <a:xfrm>
              <a:off x="1976" y="3630"/>
              <a:ext cx="9" cy="12"/>
            </a:xfrm>
            <a:custGeom>
              <a:avLst/>
              <a:gdLst>
                <a:gd name="T0" fmla="*/ 0 w 19"/>
                <a:gd name="T1" fmla="*/ 1 h 23"/>
                <a:gd name="T2" fmla="*/ 0 w 19"/>
                <a:gd name="T3" fmla="*/ 1 h 23"/>
                <a:gd name="T4" fmla="*/ 0 w 19"/>
                <a:gd name="T5" fmla="*/ 1 h 23"/>
                <a:gd name="T6" fmla="*/ 0 w 19"/>
                <a:gd name="T7" fmla="*/ 0 h 23"/>
                <a:gd name="T8" fmla="*/ 0 w 19"/>
                <a:gd name="T9" fmla="*/ 1 h 23"/>
                <a:gd name="T10" fmla="*/ 0 w 19"/>
                <a:gd name="T11" fmla="*/ 1 h 23"/>
                <a:gd name="T12" fmla="*/ 0 w 19"/>
                <a:gd name="T13" fmla="*/ 1 h 23"/>
                <a:gd name="T14" fmla="*/ 0 w 19"/>
                <a:gd name="T15" fmla="*/ 1 h 23"/>
                <a:gd name="T16" fmla="*/ 0 w 19"/>
                <a:gd name="T17" fmla="*/ 1 h 23"/>
                <a:gd name="T18" fmla="*/ 0 w 19"/>
                <a:gd name="T19" fmla="*/ 1 h 23"/>
                <a:gd name="T20" fmla="*/ 0 w 19"/>
                <a:gd name="T21" fmla="*/ 1 h 23"/>
                <a:gd name="T22" fmla="*/ 0 w 19"/>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3"/>
                <a:gd name="T38" fmla="*/ 19 w 19"/>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3">
                  <a:moveTo>
                    <a:pt x="8" y="23"/>
                  </a:moveTo>
                  <a:lnTo>
                    <a:pt x="14" y="23"/>
                  </a:lnTo>
                  <a:lnTo>
                    <a:pt x="19" y="22"/>
                  </a:lnTo>
                  <a:lnTo>
                    <a:pt x="12" y="0"/>
                  </a:lnTo>
                  <a:lnTo>
                    <a:pt x="8" y="1"/>
                  </a:lnTo>
                  <a:lnTo>
                    <a:pt x="14" y="1"/>
                  </a:lnTo>
                  <a:lnTo>
                    <a:pt x="8" y="1"/>
                  </a:lnTo>
                  <a:lnTo>
                    <a:pt x="2" y="6"/>
                  </a:lnTo>
                  <a:lnTo>
                    <a:pt x="0" y="14"/>
                  </a:lnTo>
                  <a:lnTo>
                    <a:pt x="5" y="22"/>
                  </a:lnTo>
                  <a:lnTo>
                    <a:pt x="14" y="23"/>
                  </a:lnTo>
                  <a:lnTo>
                    <a:pt x="8" y="23"/>
                  </a:lnTo>
                  <a:close/>
                </a:path>
              </a:pathLst>
            </a:custGeom>
            <a:solidFill>
              <a:srgbClr val="000000"/>
            </a:solidFill>
            <a:ln w="9525">
              <a:noFill/>
              <a:round/>
              <a:headEnd/>
              <a:tailEnd/>
            </a:ln>
          </p:spPr>
          <p:txBody>
            <a:bodyPr/>
            <a:lstStyle/>
            <a:p>
              <a:endParaRPr lang="en-US"/>
            </a:p>
          </p:txBody>
        </p:sp>
        <p:sp>
          <p:nvSpPr>
            <p:cNvPr id="27678" name="Freeform 223"/>
            <p:cNvSpPr>
              <a:spLocks/>
            </p:cNvSpPr>
            <p:nvPr/>
          </p:nvSpPr>
          <p:spPr bwMode="auto">
            <a:xfrm>
              <a:off x="1970" y="3630"/>
              <a:ext cx="13" cy="12"/>
            </a:xfrm>
            <a:custGeom>
              <a:avLst/>
              <a:gdLst>
                <a:gd name="T0" fmla="*/ 0 w 27"/>
                <a:gd name="T1" fmla="*/ 0 h 25"/>
                <a:gd name="T2" fmla="*/ 0 w 27"/>
                <a:gd name="T3" fmla="*/ 0 h 25"/>
                <a:gd name="T4" fmla="*/ 0 w 27"/>
                <a:gd name="T5" fmla="*/ 0 h 25"/>
                <a:gd name="T6" fmla="*/ 0 w 27"/>
                <a:gd name="T7" fmla="*/ 0 h 25"/>
                <a:gd name="T8" fmla="*/ 0 w 27"/>
                <a:gd name="T9" fmla="*/ 0 h 25"/>
                <a:gd name="T10" fmla="*/ 0 w 27"/>
                <a:gd name="T11" fmla="*/ 0 h 25"/>
                <a:gd name="T12" fmla="*/ 0 w 27"/>
                <a:gd name="T13" fmla="*/ 0 h 25"/>
                <a:gd name="T14" fmla="*/ 0 w 27"/>
                <a:gd name="T15" fmla="*/ 0 h 25"/>
                <a:gd name="T16" fmla="*/ 0 w 27"/>
                <a:gd name="T17" fmla="*/ 0 h 25"/>
                <a:gd name="T18" fmla="*/ 0 w 27"/>
                <a:gd name="T19" fmla="*/ 0 h 25"/>
                <a:gd name="T20" fmla="*/ 0 w 27"/>
                <a:gd name="T21" fmla="*/ 0 h 25"/>
                <a:gd name="T22" fmla="*/ 0 w 27"/>
                <a:gd name="T23" fmla="*/ 0 h 25"/>
                <a:gd name="T24" fmla="*/ 0 w 27"/>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25"/>
                <a:gd name="T41" fmla="*/ 27 w 27"/>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25">
                  <a:moveTo>
                    <a:pt x="0" y="6"/>
                  </a:moveTo>
                  <a:lnTo>
                    <a:pt x="0" y="5"/>
                  </a:lnTo>
                  <a:lnTo>
                    <a:pt x="7" y="14"/>
                  </a:lnTo>
                  <a:lnTo>
                    <a:pt x="11" y="19"/>
                  </a:lnTo>
                  <a:lnTo>
                    <a:pt x="18" y="24"/>
                  </a:lnTo>
                  <a:lnTo>
                    <a:pt x="21" y="25"/>
                  </a:lnTo>
                  <a:lnTo>
                    <a:pt x="27" y="3"/>
                  </a:lnTo>
                  <a:lnTo>
                    <a:pt x="27" y="5"/>
                  </a:lnTo>
                  <a:lnTo>
                    <a:pt x="24" y="3"/>
                  </a:lnTo>
                  <a:lnTo>
                    <a:pt x="22" y="2"/>
                  </a:lnTo>
                  <a:lnTo>
                    <a:pt x="22" y="0"/>
                  </a:lnTo>
                  <a:lnTo>
                    <a:pt x="0" y="6"/>
                  </a:lnTo>
                  <a:close/>
                </a:path>
              </a:pathLst>
            </a:custGeom>
            <a:solidFill>
              <a:srgbClr val="000000"/>
            </a:solidFill>
            <a:ln w="9525">
              <a:noFill/>
              <a:round/>
              <a:headEnd/>
              <a:tailEnd/>
            </a:ln>
          </p:spPr>
          <p:txBody>
            <a:bodyPr/>
            <a:lstStyle/>
            <a:p>
              <a:endParaRPr lang="en-US"/>
            </a:p>
          </p:txBody>
        </p:sp>
        <p:sp>
          <p:nvSpPr>
            <p:cNvPr id="27679" name="Freeform 224"/>
            <p:cNvSpPr>
              <a:spLocks/>
            </p:cNvSpPr>
            <p:nvPr/>
          </p:nvSpPr>
          <p:spPr bwMode="auto">
            <a:xfrm>
              <a:off x="1968" y="3620"/>
              <a:ext cx="13" cy="13"/>
            </a:xfrm>
            <a:custGeom>
              <a:avLst/>
              <a:gdLst>
                <a:gd name="T0" fmla="*/ 1 w 25"/>
                <a:gd name="T1" fmla="*/ 0 h 25"/>
                <a:gd name="T2" fmla="*/ 1 w 25"/>
                <a:gd name="T3" fmla="*/ 1 h 25"/>
                <a:gd name="T4" fmla="*/ 1 w 25"/>
                <a:gd name="T5" fmla="*/ 1 h 25"/>
                <a:gd name="T6" fmla="*/ 0 w 25"/>
                <a:gd name="T7" fmla="*/ 1 h 25"/>
                <a:gd name="T8" fmla="*/ 1 w 25"/>
                <a:gd name="T9" fmla="*/ 1 h 25"/>
                <a:gd name="T10" fmla="*/ 1 w 25"/>
                <a:gd name="T11" fmla="*/ 1 h 25"/>
                <a:gd name="T12" fmla="*/ 1 w 25"/>
                <a:gd name="T13" fmla="*/ 1 h 25"/>
                <a:gd name="T14" fmla="*/ 1 w 25"/>
                <a:gd name="T15" fmla="*/ 1 h 25"/>
                <a:gd name="T16" fmla="*/ 1 w 25"/>
                <a:gd name="T17" fmla="*/ 1 h 25"/>
                <a:gd name="T18" fmla="*/ 1 w 25"/>
                <a:gd name="T19" fmla="*/ 1 h 25"/>
                <a:gd name="T20" fmla="*/ 1 w 25"/>
                <a:gd name="T21" fmla="*/ 1 h 25"/>
                <a:gd name="T22" fmla="*/ 1 w 25"/>
                <a:gd name="T23" fmla="*/ 1 h 25"/>
                <a:gd name="T24" fmla="*/ 1 w 25"/>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5"/>
                <a:gd name="T41" fmla="*/ 25 w 25"/>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5">
                  <a:moveTo>
                    <a:pt x="10" y="0"/>
                  </a:moveTo>
                  <a:lnTo>
                    <a:pt x="8" y="2"/>
                  </a:lnTo>
                  <a:lnTo>
                    <a:pt x="2" y="8"/>
                  </a:lnTo>
                  <a:lnTo>
                    <a:pt x="0" y="18"/>
                  </a:lnTo>
                  <a:lnTo>
                    <a:pt x="2" y="22"/>
                  </a:lnTo>
                  <a:lnTo>
                    <a:pt x="3" y="25"/>
                  </a:lnTo>
                  <a:lnTo>
                    <a:pt x="25" y="19"/>
                  </a:lnTo>
                  <a:lnTo>
                    <a:pt x="24" y="13"/>
                  </a:lnTo>
                  <a:lnTo>
                    <a:pt x="22" y="11"/>
                  </a:lnTo>
                  <a:lnTo>
                    <a:pt x="21" y="18"/>
                  </a:lnTo>
                  <a:lnTo>
                    <a:pt x="18" y="21"/>
                  </a:lnTo>
                  <a:lnTo>
                    <a:pt x="16" y="22"/>
                  </a:lnTo>
                  <a:lnTo>
                    <a:pt x="10" y="0"/>
                  </a:lnTo>
                  <a:close/>
                </a:path>
              </a:pathLst>
            </a:custGeom>
            <a:solidFill>
              <a:srgbClr val="000000"/>
            </a:solidFill>
            <a:ln w="9525">
              <a:noFill/>
              <a:round/>
              <a:headEnd/>
              <a:tailEnd/>
            </a:ln>
          </p:spPr>
          <p:txBody>
            <a:bodyPr/>
            <a:lstStyle/>
            <a:p>
              <a:endParaRPr lang="en-US"/>
            </a:p>
          </p:txBody>
        </p:sp>
        <p:sp>
          <p:nvSpPr>
            <p:cNvPr id="27680" name="Freeform 225"/>
            <p:cNvSpPr>
              <a:spLocks/>
            </p:cNvSpPr>
            <p:nvPr/>
          </p:nvSpPr>
          <p:spPr bwMode="auto">
            <a:xfrm>
              <a:off x="1970" y="3616"/>
              <a:ext cx="11" cy="15"/>
            </a:xfrm>
            <a:custGeom>
              <a:avLst/>
              <a:gdLst>
                <a:gd name="T0" fmla="*/ 1 w 22"/>
                <a:gd name="T1" fmla="*/ 0 h 31"/>
                <a:gd name="T2" fmla="*/ 1 w 22"/>
                <a:gd name="T3" fmla="*/ 0 h 31"/>
                <a:gd name="T4" fmla="*/ 1 w 22"/>
                <a:gd name="T5" fmla="*/ 0 h 31"/>
                <a:gd name="T6" fmla="*/ 0 w 22"/>
                <a:gd name="T7" fmla="*/ 0 h 31"/>
                <a:gd name="T8" fmla="*/ 1 w 22"/>
                <a:gd name="T9" fmla="*/ 0 h 31"/>
                <a:gd name="T10" fmla="*/ 1 w 22"/>
                <a:gd name="T11" fmla="*/ 0 h 31"/>
                <a:gd name="T12" fmla="*/ 1 w 22"/>
                <a:gd name="T13" fmla="*/ 0 h 31"/>
                <a:gd name="T14" fmla="*/ 1 w 22"/>
                <a:gd name="T15" fmla="*/ 0 h 31"/>
                <a:gd name="T16" fmla="*/ 1 w 22"/>
                <a:gd name="T17" fmla="*/ 0 h 31"/>
                <a:gd name="T18" fmla="*/ 1 w 22"/>
                <a:gd name="T19" fmla="*/ 0 h 31"/>
                <a:gd name="T20" fmla="*/ 1 w 22"/>
                <a:gd name="T21" fmla="*/ 0 h 31"/>
                <a:gd name="T22" fmla="*/ 1 w 22"/>
                <a:gd name="T23" fmla="*/ 0 h 31"/>
                <a:gd name="T24" fmla="*/ 1 w 22"/>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1"/>
                <a:gd name="T41" fmla="*/ 22 w 22"/>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1">
                  <a:moveTo>
                    <a:pt x="9" y="0"/>
                  </a:moveTo>
                  <a:lnTo>
                    <a:pt x="9" y="0"/>
                  </a:lnTo>
                  <a:lnTo>
                    <a:pt x="3" y="5"/>
                  </a:lnTo>
                  <a:lnTo>
                    <a:pt x="0" y="13"/>
                  </a:lnTo>
                  <a:lnTo>
                    <a:pt x="2" y="14"/>
                  </a:lnTo>
                  <a:lnTo>
                    <a:pt x="5" y="9"/>
                  </a:lnTo>
                  <a:lnTo>
                    <a:pt x="11" y="31"/>
                  </a:lnTo>
                  <a:lnTo>
                    <a:pt x="20" y="24"/>
                  </a:lnTo>
                  <a:lnTo>
                    <a:pt x="22" y="16"/>
                  </a:lnTo>
                  <a:lnTo>
                    <a:pt x="22" y="17"/>
                  </a:lnTo>
                  <a:lnTo>
                    <a:pt x="19" y="19"/>
                  </a:lnTo>
                  <a:lnTo>
                    <a:pt x="9" y="0"/>
                  </a:lnTo>
                  <a:close/>
                </a:path>
              </a:pathLst>
            </a:custGeom>
            <a:solidFill>
              <a:srgbClr val="000000"/>
            </a:solidFill>
            <a:ln w="9525">
              <a:noFill/>
              <a:round/>
              <a:headEnd/>
              <a:tailEnd/>
            </a:ln>
          </p:spPr>
          <p:txBody>
            <a:bodyPr/>
            <a:lstStyle/>
            <a:p>
              <a:endParaRPr lang="en-US"/>
            </a:p>
          </p:txBody>
        </p:sp>
        <p:sp>
          <p:nvSpPr>
            <p:cNvPr id="27681" name="Freeform 226"/>
            <p:cNvSpPr>
              <a:spLocks/>
            </p:cNvSpPr>
            <p:nvPr/>
          </p:nvSpPr>
          <p:spPr bwMode="auto">
            <a:xfrm>
              <a:off x="1975" y="3608"/>
              <a:ext cx="11" cy="17"/>
            </a:xfrm>
            <a:custGeom>
              <a:avLst/>
              <a:gdLst>
                <a:gd name="T0" fmla="*/ 1 w 22"/>
                <a:gd name="T1" fmla="*/ 0 h 33"/>
                <a:gd name="T2" fmla="*/ 1 w 22"/>
                <a:gd name="T3" fmla="*/ 0 h 33"/>
                <a:gd name="T4" fmla="*/ 1 w 22"/>
                <a:gd name="T5" fmla="*/ 1 h 33"/>
                <a:gd name="T6" fmla="*/ 1 w 22"/>
                <a:gd name="T7" fmla="*/ 1 h 33"/>
                <a:gd name="T8" fmla="*/ 0 w 22"/>
                <a:gd name="T9" fmla="*/ 1 h 33"/>
                <a:gd name="T10" fmla="*/ 0 w 22"/>
                <a:gd name="T11" fmla="*/ 1 h 33"/>
                <a:gd name="T12" fmla="*/ 1 w 22"/>
                <a:gd name="T13" fmla="*/ 1 h 33"/>
                <a:gd name="T14" fmla="*/ 1 w 22"/>
                <a:gd name="T15" fmla="*/ 1 h 33"/>
                <a:gd name="T16" fmla="*/ 1 w 22"/>
                <a:gd name="T17" fmla="*/ 1 h 33"/>
                <a:gd name="T18" fmla="*/ 1 w 22"/>
                <a:gd name="T19" fmla="*/ 1 h 33"/>
                <a:gd name="T20" fmla="*/ 1 w 22"/>
                <a:gd name="T21" fmla="*/ 1 h 33"/>
                <a:gd name="T22" fmla="*/ 1 w 22"/>
                <a:gd name="T23" fmla="*/ 1 h 33"/>
                <a:gd name="T24" fmla="*/ 1 w 22"/>
                <a:gd name="T25" fmla="*/ 0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3"/>
                <a:gd name="T41" fmla="*/ 22 w 22"/>
                <a:gd name="T42" fmla="*/ 33 h 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3">
                  <a:moveTo>
                    <a:pt x="19" y="0"/>
                  </a:moveTo>
                  <a:lnTo>
                    <a:pt x="16" y="0"/>
                  </a:lnTo>
                  <a:lnTo>
                    <a:pt x="10" y="6"/>
                  </a:lnTo>
                  <a:lnTo>
                    <a:pt x="5" y="9"/>
                  </a:lnTo>
                  <a:lnTo>
                    <a:pt x="0" y="12"/>
                  </a:lnTo>
                  <a:lnTo>
                    <a:pt x="0" y="14"/>
                  </a:lnTo>
                  <a:lnTo>
                    <a:pt x="10" y="33"/>
                  </a:lnTo>
                  <a:lnTo>
                    <a:pt x="16" y="28"/>
                  </a:lnTo>
                  <a:lnTo>
                    <a:pt x="18" y="25"/>
                  </a:lnTo>
                  <a:lnTo>
                    <a:pt x="22" y="22"/>
                  </a:lnTo>
                  <a:lnTo>
                    <a:pt x="19" y="22"/>
                  </a:lnTo>
                  <a:lnTo>
                    <a:pt x="19" y="0"/>
                  </a:lnTo>
                  <a:close/>
                </a:path>
              </a:pathLst>
            </a:custGeom>
            <a:solidFill>
              <a:srgbClr val="000000"/>
            </a:solidFill>
            <a:ln w="9525">
              <a:noFill/>
              <a:round/>
              <a:headEnd/>
              <a:tailEnd/>
            </a:ln>
          </p:spPr>
          <p:txBody>
            <a:bodyPr/>
            <a:lstStyle/>
            <a:p>
              <a:endParaRPr lang="en-US"/>
            </a:p>
          </p:txBody>
        </p:sp>
        <p:sp>
          <p:nvSpPr>
            <p:cNvPr id="27682" name="Freeform 227"/>
            <p:cNvSpPr>
              <a:spLocks/>
            </p:cNvSpPr>
            <p:nvPr/>
          </p:nvSpPr>
          <p:spPr bwMode="auto">
            <a:xfrm>
              <a:off x="1982" y="3602"/>
              <a:ext cx="11" cy="17"/>
            </a:xfrm>
            <a:custGeom>
              <a:avLst/>
              <a:gdLst>
                <a:gd name="T0" fmla="*/ 1 w 22"/>
                <a:gd name="T1" fmla="*/ 0 h 35"/>
                <a:gd name="T2" fmla="*/ 1 w 22"/>
                <a:gd name="T3" fmla="*/ 0 h 35"/>
                <a:gd name="T4" fmla="*/ 1 w 22"/>
                <a:gd name="T5" fmla="*/ 0 h 35"/>
                <a:gd name="T6" fmla="*/ 1 w 22"/>
                <a:gd name="T7" fmla="*/ 0 h 35"/>
                <a:gd name="T8" fmla="*/ 0 w 22"/>
                <a:gd name="T9" fmla="*/ 0 h 35"/>
                <a:gd name="T10" fmla="*/ 1 w 22"/>
                <a:gd name="T11" fmla="*/ 0 h 35"/>
                <a:gd name="T12" fmla="*/ 1 w 22"/>
                <a:gd name="T13" fmla="*/ 0 h 35"/>
                <a:gd name="T14" fmla="*/ 1 w 22"/>
                <a:gd name="T15" fmla="*/ 0 h 35"/>
                <a:gd name="T16" fmla="*/ 1 w 22"/>
                <a:gd name="T17" fmla="*/ 0 h 35"/>
                <a:gd name="T18" fmla="*/ 1 w 22"/>
                <a:gd name="T19" fmla="*/ 0 h 35"/>
                <a:gd name="T20" fmla="*/ 1 w 22"/>
                <a:gd name="T21" fmla="*/ 0 h 35"/>
                <a:gd name="T22" fmla="*/ 1 w 22"/>
                <a:gd name="T23" fmla="*/ 0 h 35"/>
                <a:gd name="T24" fmla="*/ 1 w 22"/>
                <a:gd name="T25" fmla="*/ 0 h 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5"/>
                <a:gd name="T41" fmla="*/ 22 w 22"/>
                <a:gd name="T42" fmla="*/ 35 h 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5">
                  <a:moveTo>
                    <a:pt x="13" y="0"/>
                  </a:moveTo>
                  <a:lnTo>
                    <a:pt x="13" y="0"/>
                  </a:lnTo>
                  <a:lnTo>
                    <a:pt x="4" y="8"/>
                  </a:lnTo>
                  <a:lnTo>
                    <a:pt x="2" y="11"/>
                  </a:lnTo>
                  <a:lnTo>
                    <a:pt x="0" y="15"/>
                  </a:lnTo>
                  <a:lnTo>
                    <a:pt x="5" y="13"/>
                  </a:lnTo>
                  <a:lnTo>
                    <a:pt x="5" y="35"/>
                  </a:lnTo>
                  <a:lnTo>
                    <a:pt x="16" y="30"/>
                  </a:lnTo>
                  <a:lnTo>
                    <a:pt x="21" y="24"/>
                  </a:lnTo>
                  <a:lnTo>
                    <a:pt x="22" y="21"/>
                  </a:lnTo>
                  <a:lnTo>
                    <a:pt x="19" y="22"/>
                  </a:lnTo>
                  <a:lnTo>
                    <a:pt x="13" y="0"/>
                  </a:lnTo>
                  <a:close/>
                </a:path>
              </a:pathLst>
            </a:custGeom>
            <a:solidFill>
              <a:srgbClr val="000000"/>
            </a:solidFill>
            <a:ln w="9525">
              <a:noFill/>
              <a:round/>
              <a:headEnd/>
              <a:tailEnd/>
            </a:ln>
          </p:spPr>
          <p:txBody>
            <a:bodyPr/>
            <a:lstStyle/>
            <a:p>
              <a:endParaRPr lang="en-US"/>
            </a:p>
          </p:txBody>
        </p:sp>
        <p:sp>
          <p:nvSpPr>
            <p:cNvPr id="27683" name="Freeform 228"/>
            <p:cNvSpPr>
              <a:spLocks/>
            </p:cNvSpPr>
            <p:nvPr/>
          </p:nvSpPr>
          <p:spPr bwMode="auto">
            <a:xfrm>
              <a:off x="1989" y="3602"/>
              <a:ext cx="21" cy="17"/>
            </a:xfrm>
            <a:custGeom>
              <a:avLst/>
              <a:gdLst>
                <a:gd name="T0" fmla="*/ 0 w 44"/>
                <a:gd name="T1" fmla="*/ 1 h 33"/>
                <a:gd name="T2" fmla="*/ 0 w 44"/>
                <a:gd name="T3" fmla="*/ 1 h 33"/>
                <a:gd name="T4" fmla="*/ 0 w 44"/>
                <a:gd name="T5" fmla="*/ 1 h 33"/>
                <a:gd name="T6" fmla="*/ 0 w 44"/>
                <a:gd name="T7" fmla="*/ 1 h 33"/>
                <a:gd name="T8" fmla="*/ 0 w 44"/>
                <a:gd name="T9" fmla="*/ 1 h 33"/>
                <a:gd name="T10" fmla="*/ 0 w 44"/>
                <a:gd name="T11" fmla="*/ 0 h 33"/>
                <a:gd name="T12" fmla="*/ 0 w 44"/>
                <a:gd name="T13" fmla="*/ 1 h 33"/>
                <a:gd name="T14" fmla="*/ 0 w 44"/>
                <a:gd name="T15" fmla="*/ 1 h 33"/>
                <a:gd name="T16" fmla="*/ 0 w 44"/>
                <a:gd name="T17" fmla="*/ 1 h 33"/>
                <a:gd name="T18" fmla="*/ 0 w 44"/>
                <a:gd name="T19" fmla="*/ 1 h 33"/>
                <a:gd name="T20" fmla="*/ 0 w 44"/>
                <a:gd name="T21" fmla="*/ 1 h 33"/>
                <a:gd name="T22" fmla="*/ 0 w 44"/>
                <a:gd name="T23" fmla="*/ 1 h 33"/>
                <a:gd name="T24" fmla="*/ 0 w 44"/>
                <a:gd name="T25" fmla="*/ 1 h 33"/>
                <a:gd name="T26" fmla="*/ 0 w 44"/>
                <a:gd name="T27" fmla="*/ 1 h 33"/>
                <a:gd name="T28" fmla="*/ 0 w 44"/>
                <a:gd name="T29" fmla="*/ 1 h 33"/>
                <a:gd name="T30" fmla="*/ 0 w 44"/>
                <a:gd name="T31" fmla="*/ 1 h 33"/>
                <a:gd name="T32" fmla="*/ 0 w 44"/>
                <a:gd name="T33" fmla="*/ 1 h 33"/>
                <a:gd name="T34" fmla="*/ 0 w 44"/>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4"/>
                <a:gd name="T55" fmla="*/ 0 h 33"/>
                <a:gd name="T56" fmla="*/ 44 w 44"/>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4" h="33">
                  <a:moveTo>
                    <a:pt x="25" y="32"/>
                  </a:moveTo>
                  <a:lnTo>
                    <a:pt x="38" y="15"/>
                  </a:lnTo>
                  <a:lnTo>
                    <a:pt x="33" y="13"/>
                  </a:lnTo>
                  <a:lnTo>
                    <a:pt x="25" y="8"/>
                  </a:lnTo>
                  <a:lnTo>
                    <a:pt x="13" y="2"/>
                  </a:lnTo>
                  <a:lnTo>
                    <a:pt x="0" y="0"/>
                  </a:lnTo>
                  <a:lnTo>
                    <a:pt x="6" y="22"/>
                  </a:lnTo>
                  <a:lnTo>
                    <a:pt x="6" y="24"/>
                  </a:lnTo>
                  <a:lnTo>
                    <a:pt x="16" y="27"/>
                  </a:lnTo>
                  <a:lnTo>
                    <a:pt x="23" y="32"/>
                  </a:lnTo>
                  <a:lnTo>
                    <a:pt x="28" y="33"/>
                  </a:lnTo>
                  <a:lnTo>
                    <a:pt x="41" y="16"/>
                  </a:lnTo>
                  <a:lnTo>
                    <a:pt x="28" y="33"/>
                  </a:lnTo>
                  <a:lnTo>
                    <a:pt x="36" y="33"/>
                  </a:lnTo>
                  <a:lnTo>
                    <a:pt x="42" y="29"/>
                  </a:lnTo>
                  <a:lnTo>
                    <a:pt x="44" y="21"/>
                  </a:lnTo>
                  <a:lnTo>
                    <a:pt x="38" y="15"/>
                  </a:lnTo>
                  <a:lnTo>
                    <a:pt x="25" y="32"/>
                  </a:lnTo>
                  <a:close/>
                </a:path>
              </a:pathLst>
            </a:custGeom>
            <a:solidFill>
              <a:srgbClr val="000000"/>
            </a:solidFill>
            <a:ln w="9525">
              <a:noFill/>
              <a:round/>
              <a:headEnd/>
              <a:tailEnd/>
            </a:ln>
          </p:spPr>
          <p:txBody>
            <a:bodyPr/>
            <a:lstStyle/>
            <a:p>
              <a:endParaRPr lang="en-US"/>
            </a:p>
          </p:txBody>
        </p:sp>
        <p:sp>
          <p:nvSpPr>
            <p:cNvPr id="27684" name="Freeform 229"/>
            <p:cNvSpPr>
              <a:spLocks/>
            </p:cNvSpPr>
            <p:nvPr/>
          </p:nvSpPr>
          <p:spPr bwMode="auto">
            <a:xfrm>
              <a:off x="1998" y="3607"/>
              <a:ext cx="11" cy="11"/>
            </a:xfrm>
            <a:custGeom>
              <a:avLst/>
              <a:gdLst>
                <a:gd name="T0" fmla="*/ 0 w 22"/>
                <a:gd name="T1" fmla="*/ 1 h 22"/>
                <a:gd name="T2" fmla="*/ 1 w 22"/>
                <a:gd name="T3" fmla="*/ 1 h 22"/>
                <a:gd name="T4" fmla="*/ 1 w 22"/>
                <a:gd name="T5" fmla="*/ 1 h 22"/>
                <a:gd name="T6" fmla="*/ 1 w 22"/>
                <a:gd name="T7" fmla="*/ 1 h 22"/>
                <a:gd name="T8" fmla="*/ 1 w 22"/>
                <a:gd name="T9" fmla="*/ 1 h 22"/>
                <a:gd name="T10" fmla="*/ 1 w 22"/>
                <a:gd name="T11" fmla="*/ 1 h 22"/>
                <a:gd name="T12" fmla="*/ 1 w 22"/>
                <a:gd name="T13" fmla="*/ 1 h 22"/>
                <a:gd name="T14" fmla="*/ 1 w 22"/>
                <a:gd name="T15" fmla="*/ 0 h 22"/>
                <a:gd name="T16" fmla="*/ 1 w 22"/>
                <a:gd name="T17" fmla="*/ 1 h 22"/>
                <a:gd name="T18" fmla="*/ 0 w 22"/>
                <a:gd name="T19" fmla="*/ 1 h 22"/>
                <a:gd name="T20" fmla="*/ 1 w 22"/>
                <a:gd name="T21" fmla="*/ 1 h 22"/>
                <a:gd name="T22" fmla="*/ 0 w 22"/>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2"/>
                <a:gd name="T38" fmla="*/ 22 w 22"/>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2">
                  <a:moveTo>
                    <a:pt x="0" y="9"/>
                  </a:moveTo>
                  <a:lnTo>
                    <a:pt x="3" y="19"/>
                  </a:lnTo>
                  <a:lnTo>
                    <a:pt x="6" y="22"/>
                  </a:lnTo>
                  <a:lnTo>
                    <a:pt x="22" y="6"/>
                  </a:lnTo>
                  <a:lnTo>
                    <a:pt x="19" y="3"/>
                  </a:lnTo>
                  <a:lnTo>
                    <a:pt x="22" y="12"/>
                  </a:lnTo>
                  <a:lnTo>
                    <a:pt x="19" y="3"/>
                  </a:lnTo>
                  <a:lnTo>
                    <a:pt x="11" y="0"/>
                  </a:lnTo>
                  <a:lnTo>
                    <a:pt x="4" y="3"/>
                  </a:lnTo>
                  <a:lnTo>
                    <a:pt x="0" y="11"/>
                  </a:lnTo>
                  <a:lnTo>
                    <a:pt x="3" y="19"/>
                  </a:lnTo>
                  <a:lnTo>
                    <a:pt x="0" y="9"/>
                  </a:lnTo>
                  <a:close/>
                </a:path>
              </a:pathLst>
            </a:custGeom>
            <a:solidFill>
              <a:srgbClr val="000000"/>
            </a:solidFill>
            <a:ln w="9525">
              <a:noFill/>
              <a:round/>
              <a:headEnd/>
              <a:tailEnd/>
            </a:ln>
          </p:spPr>
          <p:txBody>
            <a:bodyPr/>
            <a:lstStyle/>
            <a:p>
              <a:endParaRPr lang="en-US"/>
            </a:p>
          </p:txBody>
        </p:sp>
        <p:sp>
          <p:nvSpPr>
            <p:cNvPr id="27685" name="Freeform 230"/>
            <p:cNvSpPr>
              <a:spLocks/>
            </p:cNvSpPr>
            <p:nvPr/>
          </p:nvSpPr>
          <p:spPr bwMode="auto">
            <a:xfrm>
              <a:off x="1998" y="3601"/>
              <a:ext cx="12" cy="12"/>
            </a:xfrm>
            <a:custGeom>
              <a:avLst/>
              <a:gdLst>
                <a:gd name="T0" fmla="*/ 1 w 23"/>
                <a:gd name="T1" fmla="*/ 1 h 23"/>
                <a:gd name="T2" fmla="*/ 1 w 23"/>
                <a:gd name="T3" fmla="*/ 1 h 23"/>
                <a:gd name="T4" fmla="*/ 0 w 23"/>
                <a:gd name="T5" fmla="*/ 1 h 23"/>
                <a:gd name="T6" fmla="*/ 1 w 23"/>
                <a:gd name="T7" fmla="*/ 1 h 23"/>
                <a:gd name="T8" fmla="*/ 1 w 23"/>
                <a:gd name="T9" fmla="*/ 1 h 23"/>
                <a:gd name="T10" fmla="*/ 1 w 23"/>
                <a:gd name="T11" fmla="*/ 1 h 23"/>
                <a:gd name="T12" fmla="*/ 1 w 23"/>
                <a:gd name="T13" fmla="*/ 1 h 23"/>
                <a:gd name="T14" fmla="*/ 1 w 23"/>
                <a:gd name="T15" fmla="*/ 1 h 23"/>
                <a:gd name="T16" fmla="*/ 1 w 23"/>
                <a:gd name="T17" fmla="*/ 0 h 23"/>
                <a:gd name="T18" fmla="*/ 1 w 23"/>
                <a:gd name="T19" fmla="*/ 1 h 23"/>
                <a:gd name="T20" fmla="*/ 1 w 23"/>
                <a:gd name="T21" fmla="*/ 1 h 23"/>
                <a:gd name="T22" fmla="*/ 1 w 23"/>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
                <a:gd name="T37" fmla="*/ 0 h 23"/>
                <a:gd name="T38" fmla="*/ 23 w 23"/>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 h="23">
                  <a:moveTo>
                    <a:pt x="3" y="6"/>
                  </a:moveTo>
                  <a:lnTo>
                    <a:pt x="1" y="9"/>
                  </a:lnTo>
                  <a:lnTo>
                    <a:pt x="0" y="20"/>
                  </a:lnTo>
                  <a:lnTo>
                    <a:pt x="22" y="23"/>
                  </a:lnTo>
                  <a:lnTo>
                    <a:pt x="23" y="12"/>
                  </a:lnTo>
                  <a:lnTo>
                    <a:pt x="22" y="16"/>
                  </a:lnTo>
                  <a:lnTo>
                    <a:pt x="23" y="12"/>
                  </a:lnTo>
                  <a:lnTo>
                    <a:pt x="20" y="5"/>
                  </a:lnTo>
                  <a:lnTo>
                    <a:pt x="14" y="0"/>
                  </a:lnTo>
                  <a:lnTo>
                    <a:pt x="6" y="1"/>
                  </a:lnTo>
                  <a:lnTo>
                    <a:pt x="1" y="9"/>
                  </a:lnTo>
                  <a:lnTo>
                    <a:pt x="3" y="6"/>
                  </a:lnTo>
                  <a:close/>
                </a:path>
              </a:pathLst>
            </a:custGeom>
            <a:solidFill>
              <a:srgbClr val="000000"/>
            </a:solidFill>
            <a:ln w="9525">
              <a:noFill/>
              <a:round/>
              <a:headEnd/>
              <a:tailEnd/>
            </a:ln>
          </p:spPr>
          <p:txBody>
            <a:bodyPr/>
            <a:lstStyle/>
            <a:p>
              <a:endParaRPr lang="en-US"/>
            </a:p>
          </p:txBody>
        </p:sp>
        <p:sp>
          <p:nvSpPr>
            <p:cNvPr id="27686" name="Freeform 231"/>
            <p:cNvSpPr>
              <a:spLocks/>
            </p:cNvSpPr>
            <p:nvPr/>
          </p:nvSpPr>
          <p:spPr bwMode="auto">
            <a:xfrm>
              <a:off x="1999" y="3599"/>
              <a:ext cx="12" cy="10"/>
            </a:xfrm>
            <a:custGeom>
              <a:avLst/>
              <a:gdLst>
                <a:gd name="T0" fmla="*/ 1 w 23"/>
                <a:gd name="T1" fmla="*/ 0 h 21"/>
                <a:gd name="T2" fmla="*/ 1 w 23"/>
                <a:gd name="T3" fmla="*/ 0 h 21"/>
                <a:gd name="T4" fmla="*/ 1 w 23"/>
                <a:gd name="T5" fmla="*/ 0 h 21"/>
                <a:gd name="T6" fmla="*/ 1 w 23"/>
                <a:gd name="T7" fmla="*/ 0 h 21"/>
                <a:gd name="T8" fmla="*/ 0 w 23"/>
                <a:gd name="T9" fmla="*/ 0 h 21"/>
                <a:gd name="T10" fmla="*/ 0 w 23"/>
                <a:gd name="T11" fmla="*/ 0 h 21"/>
                <a:gd name="T12" fmla="*/ 1 w 23"/>
                <a:gd name="T13" fmla="*/ 0 h 21"/>
                <a:gd name="T14" fmla="*/ 1 w 23"/>
                <a:gd name="T15" fmla="*/ 0 h 21"/>
                <a:gd name="T16" fmla="*/ 1 w 23"/>
                <a:gd name="T17" fmla="*/ 0 h 21"/>
                <a:gd name="T18" fmla="*/ 1 w 23"/>
                <a:gd name="T19" fmla="*/ 0 h 21"/>
                <a:gd name="T20" fmla="*/ 1 w 23"/>
                <a:gd name="T21" fmla="*/ 0 h 21"/>
                <a:gd name="T22" fmla="*/ 1 w 23"/>
                <a:gd name="T23" fmla="*/ 0 h 21"/>
                <a:gd name="T24" fmla="*/ 1 w 23"/>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1"/>
                <a:gd name="T41" fmla="*/ 23 w 23"/>
                <a:gd name="T42" fmla="*/ 21 h 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1">
                  <a:moveTo>
                    <a:pt x="23" y="2"/>
                  </a:moveTo>
                  <a:lnTo>
                    <a:pt x="20" y="0"/>
                  </a:lnTo>
                  <a:lnTo>
                    <a:pt x="8" y="0"/>
                  </a:lnTo>
                  <a:lnTo>
                    <a:pt x="3" y="5"/>
                  </a:lnTo>
                  <a:lnTo>
                    <a:pt x="0" y="10"/>
                  </a:lnTo>
                  <a:lnTo>
                    <a:pt x="0" y="11"/>
                  </a:lnTo>
                  <a:lnTo>
                    <a:pt x="19" y="21"/>
                  </a:lnTo>
                  <a:lnTo>
                    <a:pt x="19" y="19"/>
                  </a:lnTo>
                  <a:lnTo>
                    <a:pt x="19" y="21"/>
                  </a:lnTo>
                  <a:lnTo>
                    <a:pt x="20" y="19"/>
                  </a:lnTo>
                  <a:lnTo>
                    <a:pt x="11" y="19"/>
                  </a:lnTo>
                  <a:lnTo>
                    <a:pt x="8" y="17"/>
                  </a:lnTo>
                  <a:lnTo>
                    <a:pt x="23" y="2"/>
                  </a:lnTo>
                  <a:close/>
                </a:path>
              </a:pathLst>
            </a:custGeom>
            <a:solidFill>
              <a:srgbClr val="000000"/>
            </a:solidFill>
            <a:ln w="9525">
              <a:noFill/>
              <a:round/>
              <a:headEnd/>
              <a:tailEnd/>
            </a:ln>
          </p:spPr>
          <p:txBody>
            <a:bodyPr/>
            <a:lstStyle/>
            <a:p>
              <a:endParaRPr lang="en-US"/>
            </a:p>
          </p:txBody>
        </p:sp>
        <p:sp>
          <p:nvSpPr>
            <p:cNvPr id="27687" name="Freeform 232"/>
            <p:cNvSpPr>
              <a:spLocks/>
            </p:cNvSpPr>
            <p:nvPr/>
          </p:nvSpPr>
          <p:spPr bwMode="auto">
            <a:xfrm>
              <a:off x="2003" y="3600"/>
              <a:ext cx="11" cy="10"/>
            </a:xfrm>
            <a:custGeom>
              <a:avLst/>
              <a:gdLst>
                <a:gd name="T0" fmla="*/ 0 w 24"/>
                <a:gd name="T1" fmla="*/ 1 h 20"/>
                <a:gd name="T2" fmla="*/ 0 w 24"/>
                <a:gd name="T3" fmla="*/ 1 h 20"/>
                <a:gd name="T4" fmla="*/ 0 w 24"/>
                <a:gd name="T5" fmla="*/ 1 h 20"/>
                <a:gd name="T6" fmla="*/ 0 w 24"/>
                <a:gd name="T7" fmla="*/ 1 h 20"/>
                <a:gd name="T8" fmla="*/ 0 w 24"/>
                <a:gd name="T9" fmla="*/ 1 h 20"/>
                <a:gd name="T10" fmla="*/ 0 w 24"/>
                <a:gd name="T11" fmla="*/ 0 h 20"/>
                <a:gd name="T12" fmla="*/ 0 w 24"/>
                <a:gd name="T13" fmla="*/ 1 h 20"/>
                <a:gd name="T14" fmla="*/ 0 w 24"/>
                <a:gd name="T15" fmla="*/ 1 h 20"/>
                <a:gd name="T16" fmla="*/ 0 w 24"/>
                <a:gd name="T17" fmla="*/ 1 h 20"/>
                <a:gd name="T18" fmla="*/ 0 w 24"/>
                <a:gd name="T19" fmla="*/ 1 h 20"/>
                <a:gd name="T20" fmla="*/ 0 w 24"/>
                <a:gd name="T21" fmla="*/ 1 h 20"/>
                <a:gd name="T22" fmla="*/ 0 w 24"/>
                <a:gd name="T23" fmla="*/ 1 h 20"/>
                <a:gd name="T24" fmla="*/ 0 w 24"/>
                <a:gd name="T25" fmla="*/ 1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0"/>
                <a:gd name="T41" fmla="*/ 24 w 24"/>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0">
                  <a:moveTo>
                    <a:pt x="22" y="17"/>
                  </a:moveTo>
                  <a:lnTo>
                    <a:pt x="22" y="20"/>
                  </a:lnTo>
                  <a:lnTo>
                    <a:pt x="24" y="17"/>
                  </a:lnTo>
                  <a:lnTo>
                    <a:pt x="24" y="9"/>
                  </a:lnTo>
                  <a:lnTo>
                    <a:pt x="21" y="3"/>
                  </a:lnTo>
                  <a:lnTo>
                    <a:pt x="17" y="0"/>
                  </a:lnTo>
                  <a:lnTo>
                    <a:pt x="2" y="15"/>
                  </a:lnTo>
                  <a:lnTo>
                    <a:pt x="2" y="11"/>
                  </a:lnTo>
                  <a:lnTo>
                    <a:pt x="0" y="14"/>
                  </a:lnTo>
                  <a:lnTo>
                    <a:pt x="0" y="17"/>
                  </a:lnTo>
                  <a:lnTo>
                    <a:pt x="22" y="17"/>
                  </a:lnTo>
                  <a:close/>
                </a:path>
              </a:pathLst>
            </a:custGeom>
            <a:solidFill>
              <a:srgbClr val="000000"/>
            </a:solidFill>
            <a:ln w="9525">
              <a:noFill/>
              <a:round/>
              <a:headEnd/>
              <a:tailEnd/>
            </a:ln>
          </p:spPr>
          <p:txBody>
            <a:bodyPr/>
            <a:lstStyle/>
            <a:p>
              <a:endParaRPr lang="en-US"/>
            </a:p>
          </p:txBody>
        </p:sp>
        <p:sp>
          <p:nvSpPr>
            <p:cNvPr id="27688" name="Freeform 233"/>
            <p:cNvSpPr>
              <a:spLocks/>
            </p:cNvSpPr>
            <p:nvPr/>
          </p:nvSpPr>
          <p:spPr bwMode="auto">
            <a:xfrm>
              <a:off x="2003" y="3608"/>
              <a:ext cx="14" cy="15"/>
            </a:xfrm>
            <a:custGeom>
              <a:avLst/>
              <a:gdLst>
                <a:gd name="T0" fmla="*/ 1 w 28"/>
                <a:gd name="T1" fmla="*/ 1 h 30"/>
                <a:gd name="T2" fmla="*/ 1 w 28"/>
                <a:gd name="T3" fmla="*/ 1 h 30"/>
                <a:gd name="T4" fmla="*/ 1 w 28"/>
                <a:gd name="T5" fmla="*/ 1 h 30"/>
                <a:gd name="T6" fmla="*/ 1 w 28"/>
                <a:gd name="T7" fmla="*/ 1 h 30"/>
                <a:gd name="T8" fmla="*/ 1 w 28"/>
                <a:gd name="T9" fmla="*/ 0 h 30"/>
                <a:gd name="T10" fmla="*/ 1 w 28"/>
                <a:gd name="T11" fmla="*/ 0 h 30"/>
                <a:gd name="T12" fmla="*/ 0 w 28"/>
                <a:gd name="T13" fmla="*/ 0 h 30"/>
                <a:gd name="T14" fmla="*/ 1 w 28"/>
                <a:gd name="T15" fmla="*/ 1 h 30"/>
                <a:gd name="T16" fmla="*/ 1 w 28"/>
                <a:gd name="T17" fmla="*/ 1 h 30"/>
                <a:gd name="T18" fmla="*/ 1 w 28"/>
                <a:gd name="T19" fmla="*/ 1 h 30"/>
                <a:gd name="T20" fmla="*/ 1 w 28"/>
                <a:gd name="T21" fmla="*/ 1 h 30"/>
                <a:gd name="T22" fmla="*/ 1 w 28"/>
                <a:gd name="T23" fmla="*/ 1 h 30"/>
                <a:gd name="T24" fmla="*/ 1 w 28"/>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0"/>
                <a:gd name="T41" fmla="*/ 28 w 28"/>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0">
                  <a:moveTo>
                    <a:pt x="28" y="11"/>
                  </a:moveTo>
                  <a:lnTo>
                    <a:pt x="28" y="11"/>
                  </a:lnTo>
                  <a:lnTo>
                    <a:pt x="27" y="11"/>
                  </a:lnTo>
                  <a:lnTo>
                    <a:pt x="25" y="6"/>
                  </a:lnTo>
                  <a:lnTo>
                    <a:pt x="22" y="0"/>
                  </a:lnTo>
                  <a:lnTo>
                    <a:pt x="0" y="0"/>
                  </a:lnTo>
                  <a:lnTo>
                    <a:pt x="3" y="9"/>
                  </a:lnTo>
                  <a:lnTo>
                    <a:pt x="6" y="16"/>
                  </a:lnTo>
                  <a:lnTo>
                    <a:pt x="11" y="23"/>
                  </a:lnTo>
                  <a:lnTo>
                    <a:pt x="19" y="30"/>
                  </a:lnTo>
                  <a:lnTo>
                    <a:pt x="28" y="11"/>
                  </a:lnTo>
                  <a:close/>
                </a:path>
              </a:pathLst>
            </a:custGeom>
            <a:solidFill>
              <a:srgbClr val="000000"/>
            </a:solidFill>
            <a:ln w="9525">
              <a:noFill/>
              <a:round/>
              <a:headEnd/>
              <a:tailEnd/>
            </a:ln>
          </p:spPr>
          <p:txBody>
            <a:bodyPr/>
            <a:lstStyle/>
            <a:p>
              <a:endParaRPr lang="en-US"/>
            </a:p>
          </p:txBody>
        </p:sp>
        <p:sp>
          <p:nvSpPr>
            <p:cNvPr id="27689" name="Freeform 234"/>
            <p:cNvSpPr>
              <a:spLocks/>
            </p:cNvSpPr>
            <p:nvPr/>
          </p:nvSpPr>
          <p:spPr bwMode="auto">
            <a:xfrm>
              <a:off x="2012" y="3614"/>
              <a:ext cx="71" cy="16"/>
            </a:xfrm>
            <a:custGeom>
              <a:avLst/>
              <a:gdLst>
                <a:gd name="T0" fmla="*/ 1 w 142"/>
                <a:gd name="T1" fmla="*/ 0 h 33"/>
                <a:gd name="T2" fmla="*/ 1 w 142"/>
                <a:gd name="T3" fmla="*/ 0 h 33"/>
                <a:gd name="T4" fmla="*/ 1 w 142"/>
                <a:gd name="T5" fmla="*/ 0 h 33"/>
                <a:gd name="T6" fmla="*/ 1 w 142"/>
                <a:gd name="T7" fmla="*/ 0 h 33"/>
                <a:gd name="T8" fmla="*/ 1 w 142"/>
                <a:gd name="T9" fmla="*/ 0 h 33"/>
                <a:gd name="T10" fmla="*/ 1 w 142"/>
                <a:gd name="T11" fmla="*/ 0 h 33"/>
                <a:gd name="T12" fmla="*/ 1 w 142"/>
                <a:gd name="T13" fmla="*/ 0 h 33"/>
                <a:gd name="T14" fmla="*/ 1 w 142"/>
                <a:gd name="T15" fmla="*/ 0 h 33"/>
                <a:gd name="T16" fmla="*/ 1 w 142"/>
                <a:gd name="T17" fmla="*/ 0 h 33"/>
                <a:gd name="T18" fmla="*/ 1 w 142"/>
                <a:gd name="T19" fmla="*/ 0 h 33"/>
                <a:gd name="T20" fmla="*/ 0 w 142"/>
                <a:gd name="T21" fmla="*/ 0 h 33"/>
                <a:gd name="T22" fmla="*/ 1 w 142"/>
                <a:gd name="T23" fmla="*/ 0 h 33"/>
                <a:gd name="T24" fmla="*/ 1 w 142"/>
                <a:gd name="T25" fmla="*/ 0 h 33"/>
                <a:gd name="T26" fmla="*/ 1 w 142"/>
                <a:gd name="T27" fmla="*/ 0 h 33"/>
                <a:gd name="T28" fmla="*/ 1 w 142"/>
                <a:gd name="T29" fmla="*/ 0 h 33"/>
                <a:gd name="T30" fmla="*/ 1 w 142"/>
                <a:gd name="T31" fmla="*/ 0 h 33"/>
                <a:gd name="T32" fmla="*/ 1 w 142"/>
                <a:gd name="T33" fmla="*/ 0 h 33"/>
                <a:gd name="T34" fmla="*/ 1 w 142"/>
                <a:gd name="T35" fmla="*/ 0 h 33"/>
                <a:gd name="T36" fmla="*/ 1 w 142"/>
                <a:gd name="T37" fmla="*/ 0 h 33"/>
                <a:gd name="T38" fmla="*/ 1 w 142"/>
                <a:gd name="T39" fmla="*/ 0 h 33"/>
                <a:gd name="T40" fmla="*/ 1 w 142"/>
                <a:gd name="T41" fmla="*/ 0 h 33"/>
                <a:gd name="T42" fmla="*/ 1 w 142"/>
                <a:gd name="T43" fmla="*/ 0 h 33"/>
                <a:gd name="T44" fmla="*/ 1 w 142"/>
                <a:gd name="T45" fmla="*/ 0 h 33"/>
                <a:gd name="T46" fmla="*/ 1 w 142"/>
                <a:gd name="T47" fmla="*/ 0 h 33"/>
                <a:gd name="T48" fmla="*/ 1 w 142"/>
                <a:gd name="T49" fmla="*/ 0 h 33"/>
                <a:gd name="T50" fmla="*/ 1 w 142"/>
                <a:gd name="T51" fmla="*/ 0 h 3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2"/>
                <a:gd name="T79" fmla="*/ 0 h 33"/>
                <a:gd name="T80" fmla="*/ 142 w 142"/>
                <a:gd name="T81" fmla="*/ 33 h 3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2" h="33">
                  <a:moveTo>
                    <a:pt x="124" y="14"/>
                  </a:moveTo>
                  <a:lnTo>
                    <a:pt x="133" y="11"/>
                  </a:lnTo>
                  <a:lnTo>
                    <a:pt x="128" y="11"/>
                  </a:lnTo>
                  <a:lnTo>
                    <a:pt x="114" y="9"/>
                  </a:lnTo>
                  <a:lnTo>
                    <a:pt x="92" y="8"/>
                  </a:lnTo>
                  <a:lnTo>
                    <a:pt x="72" y="6"/>
                  </a:lnTo>
                  <a:lnTo>
                    <a:pt x="49" y="3"/>
                  </a:lnTo>
                  <a:lnTo>
                    <a:pt x="28" y="1"/>
                  </a:lnTo>
                  <a:lnTo>
                    <a:pt x="14" y="0"/>
                  </a:lnTo>
                  <a:lnTo>
                    <a:pt x="9" y="0"/>
                  </a:lnTo>
                  <a:lnTo>
                    <a:pt x="0" y="19"/>
                  </a:lnTo>
                  <a:lnTo>
                    <a:pt x="11" y="22"/>
                  </a:lnTo>
                  <a:lnTo>
                    <a:pt x="25" y="23"/>
                  </a:lnTo>
                  <a:lnTo>
                    <a:pt x="45" y="25"/>
                  </a:lnTo>
                  <a:lnTo>
                    <a:pt x="69" y="28"/>
                  </a:lnTo>
                  <a:lnTo>
                    <a:pt x="92" y="30"/>
                  </a:lnTo>
                  <a:lnTo>
                    <a:pt x="111" y="31"/>
                  </a:lnTo>
                  <a:lnTo>
                    <a:pt x="125" y="33"/>
                  </a:lnTo>
                  <a:lnTo>
                    <a:pt x="130" y="33"/>
                  </a:lnTo>
                  <a:lnTo>
                    <a:pt x="139" y="30"/>
                  </a:lnTo>
                  <a:lnTo>
                    <a:pt x="130" y="33"/>
                  </a:lnTo>
                  <a:lnTo>
                    <a:pt x="138" y="30"/>
                  </a:lnTo>
                  <a:lnTo>
                    <a:pt x="142" y="23"/>
                  </a:lnTo>
                  <a:lnTo>
                    <a:pt x="141" y="16"/>
                  </a:lnTo>
                  <a:lnTo>
                    <a:pt x="133" y="11"/>
                  </a:lnTo>
                  <a:lnTo>
                    <a:pt x="124" y="14"/>
                  </a:lnTo>
                  <a:close/>
                </a:path>
              </a:pathLst>
            </a:custGeom>
            <a:solidFill>
              <a:srgbClr val="000000"/>
            </a:solidFill>
            <a:ln w="9525">
              <a:noFill/>
              <a:round/>
              <a:headEnd/>
              <a:tailEnd/>
            </a:ln>
          </p:spPr>
          <p:txBody>
            <a:bodyPr/>
            <a:lstStyle/>
            <a:p>
              <a:endParaRPr lang="en-US"/>
            </a:p>
          </p:txBody>
        </p:sp>
        <p:sp>
          <p:nvSpPr>
            <p:cNvPr id="27690" name="Freeform 235"/>
            <p:cNvSpPr>
              <a:spLocks/>
            </p:cNvSpPr>
            <p:nvPr/>
          </p:nvSpPr>
          <p:spPr bwMode="auto">
            <a:xfrm>
              <a:off x="2074" y="3608"/>
              <a:ext cx="23" cy="21"/>
            </a:xfrm>
            <a:custGeom>
              <a:avLst/>
              <a:gdLst>
                <a:gd name="T0" fmla="*/ 1 w 45"/>
                <a:gd name="T1" fmla="*/ 1 h 41"/>
                <a:gd name="T2" fmla="*/ 1 w 45"/>
                <a:gd name="T3" fmla="*/ 0 h 41"/>
                <a:gd name="T4" fmla="*/ 1 w 45"/>
                <a:gd name="T5" fmla="*/ 1 h 41"/>
                <a:gd name="T6" fmla="*/ 1 w 45"/>
                <a:gd name="T7" fmla="*/ 1 h 41"/>
                <a:gd name="T8" fmla="*/ 1 w 45"/>
                <a:gd name="T9" fmla="*/ 1 h 41"/>
                <a:gd name="T10" fmla="*/ 0 w 45"/>
                <a:gd name="T11" fmla="*/ 1 h 41"/>
                <a:gd name="T12" fmla="*/ 1 w 45"/>
                <a:gd name="T13" fmla="*/ 1 h 41"/>
                <a:gd name="T14" fmla="*/ 1 w 45"/>
                <a:gd name="T15" fmla="*/ 1 h 41"/>
                <a:gd name="T16" fmla="*/ 1 w 45"/>
                <a:gd name="T17" fmla="*/ 1 h 41"/>
                <a:gd name="T18" fmla="*/ 1 w 45"/>
                <a:gd name="T19" fmla="*/ 1 h 41"/>
                <a:gd name="T20" fmla="*/ 1 w 45"/>
                <a:gd name="T21" fmla="*/ 1 h 41"/>
                <a:gd name="T22" fmla="*/ 1 w 45"/>
                <a:gd name="T23" fmla="*/ 1 h 41"/>
                <a:gd name="T24" fmla="*/ 1 w 45"/>
                <a:gd name="T25" fmla="*/ 1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41"/>
                <a:gd name="T41" fmla="*/ 45 w 45"/>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41">
                  <a:moveTo>
                    <a:pt x="36" y="2"/>
                  </a:moveTo>
                  <a:lnTo>
                    <a:pt x="37" y="0"/>
                  </a:lnTo>
                  <a:lnTo>
                    <a:pt x="23" y="6"/>
                  </a:lnTo>
                  <a:lnTo>
                    <a:pt x="14" y="14"/>
                  </a:lnTo>
                  <a:lnTo>
                    <a:pt x="4" y="20"/>
                  </a:lnTo>
                  <a:lnTo>
                    <a:pt x="0" y="25"/>
                  </a:lnTo>
                  <a:lnTo>
                    <a:pt x="15" y="41"/>
                  </a:lnTo>
                  <a:lnTo>
                    <a:pt x="17" y="39"/>
                  </a:lnTo>
                  <a:lnTo>
                    <a:pt x="26" y="33"/>
                  </a:lnTo>
                  <a:lnTo>
                    <a:pt x="36" y="25"/>
                  </a:lnTo>
                  <a:lnTo>
                    <a:pt x="44" y="22"/>
                  </a:lnTo>
                  <a:lnTo>
                    <a:pt x="45" y="20"/>
                  </a:lnTo>
                  <a:lnTo>
                    <a:pt x="36" y="2"/>
                  </a:lnTo>
                  <a:close/>
                </a:path>
              </a:pathLst>
            </a:custGeom>
            <a:solidFill>
              <a:srgbClr val="000000"/>
            </a:solidFill>
            <a:ln w="9525">
              <a:noFill/>
              <a:round/>
              <a:headEnd/>
              <a:tailEnd/>
            </a:ln>
          </p:spPr>
          <p:txBody>
            <a:bodyPr/>
            <a:lstStyle/>
            <a:p>
              <a:endParaRPr lang="en-US"/>
            </a:p>
          </p:txBody>
        </p:sp>
        <p:sp>
          <p:nvSpPr>
            <p:cNvPr id="27691" name="Freeform 236"/>
            <p:cNvSpPr>
              <a:spLocks/>
            </p:cNvSpPr>
            <p:nvPr/>
          </p:nvSpPr>
          <p:spPr bwMode="auto">
            <a:xfrm>
              <a:off x="2092" y="3601"/>
              <a:ext cx="15" cy="18"/>
            </a:xfrm>
            <a:custGeom>
              <a:avLst/>
              <a:gdLst>
                <a:gd name="T0" fmla="*/ 1 w 29"/>
                <a:gd name="T1" fmla="*/ 1 h 36"/>
                <a:gd name="T2" fmla="*/ 1 w 29"/>
                <a:gd name="T3" fmla="*/ 1 h 36"/>
                <a:gd name="T4" fmla="*/ 1 w 29"/>
                <a:gd name="T5" fmla="*/ 1 h 36"/>
                <a:gd name="T6" fmla="*/ 1 w 29"/>
                <a:gd name="T7" fmla="*/ 1 h 36"/>
                <a:gd name="T8" fmla="*/ 1 w 29"/>
                <a:gd name="T9" fmla="*/ 1 h 36"/>
                <a:gd name="T10" fmla="*/ 0 w 29"/>
                <a:gd name="T11" fmla="*/ 1 h 36"/>
                <a:gd name="T12" fmla="*/ 1 w 29"/>
                <a:gd name="T13" fmla="*/ 1 h 36"/>
                <a:gd name="T14" fmla="*/ 1 w 29"/>
                <a:gd name="T15" fmla="*/ 1 h 36"/>
                <a:gd name="T16" fmla="*/ 1 w 29"/>
                <a:gd name="T17" fmla="*/ 1 h 36"/>
                <a:gd name="T18" fmla="*/ 1 w 29"/>
                <a:gd name="T19" fmla="*/ 1 h 36"/>
                <a:gd name="T20" fmla="*/ 1 w 29"/>
                <a:gd name="T21" fmla="*/ 1 h 36"/>
                <a:gd name="T22" fmla="*/ 1 w 29"/>
                <a:gd name="T23" fmla="*/ 1 h 36"/>
                <a:gd name="T24" fmla="*/ 1 w 29"/>
                <a:gd name="T25" fmla="*/ 1 h 36"/>
                <a:gd name="T26" fmla="*/ 1 w 29"/>
                <a:gd name="T27" fmla="*/ 1 h 36"/>
                <a:gd name="T28" fmla="*/ 1 w 29"/>
                <a:gd name="T29" fmla="*/ 1 h 36"/>
                <a:gd name="T30" fmla="*/ 1 w 29"/>
                <a:gd name="T31" fmla="*/ 0 h 36"/>
                <a:gd name="T32" fmla="*/ 1 w 29"/>
                <a:gd name="T33" fmla="*/ 1 h 36"/>
                <a:gd name="T34" fmla="*/ 1 w 29"/>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
                <a:gd name="T55" fmla="*/ 0 h 36"/>
                <a:gd name="T56" fmla="*/ 29 w 29"/>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 h="36">
                  <a:moveTo>
                    <a:pt x="29" y="7"/>
                  </a:moveTo>
                  <a:lnTo>
                    <a:pt x="11" y="7"/>
                  </a:lnTo>
                  <a:lnTo>
                    <a:pt x="9" y="7"/>
                  </a:lnTo>
                  <a:lnTo>
                    <a:pt x="8" y="10"/>
                  </a:lnTo>
                  <a:lnTo>
                    <a:pt x="4" y="14"/>
                  </a:lnTo>
                  <a:lnTo>
                    <a:pt x="0" y="18"/>
                  </a:lnTo>
                  <a:lnTo>
                    <a:pt x="9" y="36"/>
                  </a:lnTo>
                  <a:lnTo>
                    <a:pt x="20" y="30"/>
                  </a:lnTo>
                  <a:lnTo>
                    <a:pt x="26" y="22"/>
                  </a:lnTo>
                  <a:lnTo>
                    <a:pt x="28" y="19"/>
                  </a:lnTo>
                  <a:lnTo>
                    <a:pt x="29" y="16"/>
                  </a:lnTo>
                  <a:lnTo>
                    <a:pt x="11" y="16"/>
                  </a:lnTo>
                  <a:lnTo>
                    <a:pt x="29" y="16"/>
                  </a:lnTo>
                  <a:lnTo>
                    <a:pt x="29" y="8"/>
                  </a:lnTo>
                  <a:lnTo>
                    <a:pt x="25" y="2"/>
                  </a:lnTo>
                  <a:lnTo>
                    <a:pt x="17" y="0"/>
                  </a:lnTo>
                  <a:lnTo>
                    <a:pt x="11" y="7"/>
                  </a:lnTo>
                  <a:lnTo>
                    <a:pt x="29" y="7"/>
                  </a:lnTo>
                  <a:close/>
                </a:path>
              </a:pathLst>
            </a:custGeom>
            <a:solidFill>
              <a:srgbClr val="000000"/>
            </a:solidFill>
            <a:ln w="9525">
              <a:noFill/>
              <a:round/>
              <a:headEnd/>
              <a:tailEnd/>
            </a:ln>
          </p:spPr>
          <p:txBody>
            <a:bodyPr/>
            <a:lstStyle/>
            <a:p>
              <a:endParaRPr lang="en-US"/>
            </a:p>
          </p:txBody>
        </p:sp>
        <p:sp>
          <p:nvSpPr>
            <p:cNvPr id="27692" name="Freeform 237"/>
            <p:cNvSpPr>
              <a:spLocks/>
            </p:cNvSpPr>
            <p:nvPr/>
          </p:nvSpPr>
          <p:spPr bwMode="auto">
            <a:xfrm>
              <a:off x="2097" y="3604"/>
              <a:ext cx="24" cy="33"/>
            </a:xfrm>
            <a:custGeom>
              <a:avLst/>
              <a:gdLst>
                <a:gd name="T0" fmla="*/ 1 w 47"/>
                <a:gd name="T1" fmla="*/ 1 h 65"/>
                <a:gd name="T2" fmla="*/ 1 w 47"/>
                <a:gd name="T3" fmla="*/ 1 h 65"/>
                <a:gd name="T4" fmla="*/ 1 w 47"/>
                <a:gd name="T5" fmla="*/ 0 h 65"/>
                <a:gd name="T6" fmla="*/ 0 w 47"/>
                <a:gd name="T7" fmla="*/ 1 h 65"/>
                <a:gd name="T8" fmla="*/ 1 w 47"/>
                <a:gd name="T9" fmla="*/ 1 h 65"/>
                <a:gd name="T10" fmla="*/ 1 w 47"/>
                <a:gd name="T11" fmla="*/ 1 h 65"/>
                <a:gd name="T12" fmla="*/ 0 60000 65536"/>
                <a:gd name="T13" fmla="*/ 0 60000 65536"/>
                <a:gd name="T14" fmla="*/ 0 60000 65536"/>
                <a:gd name="T15" fmla="*/ 0 60000 65536"/>
                <a:gd name="T16" fmla="*/ 0 60000 65536"/>
                <a:gd name="T17" fmla="*/ 0 60000 65536"/>
                <a:gd name="T18" fmla="*/ 0 w 47"/>
                <a:gd name="T19" fmla="*/ 0 h 65"/>
                <a:gd name="T20" fmla="*/ 47 w 4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7" h="65">
                  <a:moveTo>
                    <a:pt x="37" y="61"/>
                  </a:moveTo>
                  <a:lnTo>
                    <a:pt x="47" y="56"/>
                  </a:lnTo>
                  <a:lnTo>
                    <a:pt x="18" y="0"/>
                  </a:lnTo>
                  <a:lnTo>
                    <a:pt x="0" y="9"/>
                  </a:lnTo>
                  <a:lnTo>
                    <a:pt x="28" y="65"/>
                  </a:lnTo>
                  <a:lnTo>
                    <a:pt x="37" y="61"/>
                  </a:lnTo>
                  <a:close/>
                </a:path>
              </a:pathLst>
            </a:custGeom>
            <a:solidFill>
              <a:srgbClr val="000000"/>
            </a:solidFill>
            <a:ln w="9525">
              <a:noFill/>
              <a:round/>
              <a:headEnd/>
              <a:tailEnd/>
            </a:ln>
          </p:spPr>
          <p:txBody>
            <a:bodyPr/>
            <a:lstStyle/>
            <a:p>
              <a:endParaRPr lang="en-US"/>
            </a:p>
          </p:txBody>
        </p:sp>
        <p:sp>
          <p:nvSpPr>
            <p:cNvPr id="27693" name="Freeform 238"/>
            <p:cNvSpPr>
              <a:spLocks/>
            </p:cNvSpPr>
            <p:nvPr/>
          </p:nvSpPr>
          <p:spPr bwMode="auto">
            <a:xfrm>
              <a:off x="2046" y="3834"/>
              <a:ext cx="1" cy="14"/>
            </a:xfrm>
            <a:custGeom>
              <a:avLst/>
              <a:gdLst>
                <a:gd name="T0" fmla="*/ 0 w 1"/>
                <a:gd name="T1" fmla="*/ 1 h 28"/>
                <a:gd name="T2" fmla="*/ 0 w 1"/>
                <a:gd name="T3" fmla="*/ 0 h 28"/>
                <a:gd name="T4" fmla="*/ 0 w 1"/>
                <a:gd name="T5" fmla="*/ 1 h 28"/>
                <a:gd name="T6" fmla="*/ 0 60000 65536"/>
                <a:gd name="T7" fmla="*/ 0 60000 65536"/>
                <a:gd name="T8" fmla="*/ 0 60000 65536"/>
                <a:gd name="T9" fmla="*/ 0 w 1"/>
                <a:gd name="T10" fmla="*/ 0 h 28"/>
                <a:gd name="T11" fmla="*/ 1 w 1"/>
                <a:gd name="T12" fmla="*/ 28 h 28"/>
              </a:gdLst>
              <a:ahLst/>
              <a:cxnLst>
                <a:cxn ang="T6">
                  <a:pos x="T0" y="T1"/>
                </a:cxn>
                <a:cxn ang="T7">
                  <a:pos x="T2" y="T3"/>
                </a:cxn>
                <a:cxn ang="T8">
                  <a:pos x="T4" y="T5"/>
                </a:cxn>
              </a:cxnLst>
              <a:rect l="T9" t="T10" r="T11" b="T12"/>
              <a:pathLst>
                <a:path w="1" h="28">
                  <a:moveTo>
                    <a:pt x="0" y="28"/>
                  </a:moveTo>
                  <a:lnTo>
                    <a:pt x="0" y="0"/>
                  </a:lnTo>
                  <a:lnTo>
                    <a:pt x="0" y="28"/>
                  </a:lnTo>
                  <a:close/>
                </a:path>
              </a:pathLst>
            </a:custGeom>
            <a:solidFill>
              <a:srgbClr val="FF7226"/>
            </a:solidFill>
            <a:ln w="9525">
              <a:noFill/>
              <a:round/>
              <a:headEnd/>
              <a:tailEnd/>
            </a:ln>
          </p:spPr>
          <p:txBody>
            <a:bodyPr/>
            <a:lstStyle/>
            <a:p>
              <a:endParaRPr lang="en-US"/>
            </a:p>
          </p:txBody>
        </p:sp>
        <p:sp>
          <p:nvSpPr>
            <p:cNvPr id="27694" name="Freeform 239"/>
            <p:cNvSpPr>
              <a:spLocks/>
            </p:cNvSpPr>
            <p:nvPr/>
          </p:nvSpPr>
          <p:spPr bwMode="auto">
            <a:xfrm>
              <a:off x="2040" y="3834"/>
              <a:ext cx="11" cy="14"/>
            </a:xfrm>
            <a:custGeom>
              <a:avLst/>
              <a:gdLst>
                <a:gd name="T0" fmla="*/ 1 w 22"/>
                <a:gd name="T1" fmla="*/ 0 h 28"/>
                <a:gd name="T2" fmla="*/ 0 w 22"/>
                <a:gd name="T3" fmla="*/ 0 h 28"/>
                <a:gd name="T4" fmla="*/ 0 w 22"/>
                <a:gd name="T5" fmla="*/ 1 h 28"/>
                <a:gd name="T6" fmla="*/ 1 w 22"/>
                <a:gd name="T7" fmla="*/ 1 h 28"/>
                <a:gd name="T8" fmla="*/ 1 w 22"/>
                <a:gd name="T9" fmla="*/ 0 h 28"/>
                <a:gd name="T10" fmla="*/ 1 w 22"/>
                <a:gd name="T11" fmla="*/ 0 h 28"/>
                <a:gd name="T12" fmla="*/ 0 60000 65536"/>
                <a:gd name="T13" fmla="*/ 0 60000 65536"/>
                <a:gd name="T14" fmla="*/ 0 60000 65536"/>
                <a:gd name="T15" fmla="*/ 0 60000 65536"/>
                <a:gd name="T16" fmla="*/ 0 60000 65536"/>
                <a:gd name="T17" fmla="*/ 0 60000 65536"/>
                <a:gd name="T18" fmla="*/ 0 w 22"/>
                <a:gd name="T19" fmla="*/ 0 h 28"/>
                <a:gd name="T20" fmla="*/ 22 w 22"/>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2" h="28">
                  <a:moveTo>
                    <a:pt x="11" y="0"/>
                  </a:moveTo>
                  <a:lnTo>
                    <a:pt x="0" y="0"/>
                  </a:lnTo>
                  <a:lnTo>
                    <a:pt x="0" y="28"/>
                  </a:lnTo>
                  <a:lnTo>
                    <a:pt x="22" y="28"/>
                  </a:lnTo>
                  <a:lnTo>
                    <a:pt x="22" y="0"/>
                  </a:lnTo>
                  <a:lnTo>
                    <a:pt x="11" y="0"/>
                  </a:lnTo>
                  <a:close/>
                </a:path>
              </a:pathLst>
            </a:custGeom>
            <a:solidFill>
              <a:srgbClr val="000000"/>
            </a:solidFill>
            <a:ln w="9525">
              <a:noFill/>
              <a:round/>
              <a:headEnd/>
              <a:tailEnd/>
            </a:ln>
          </p:spPr>
          <p:txBody>
            <a:bodyPr/>
            <a:lstStyle/>
            <a:p>
              <a:endParaRPr lang="en-US"/>
            </a:p>
          </p:txBody>
        </p:sp>
      </p:grpSp>
      <p:sp>
        <p:nvSpPr>
          <p:cNvPr id="27655" name="Line 240"/>
          <p:cNvSpPr>
            <a:spLocks noChangeShapeType="1"/>
          </p:cNvSpPr>
          <p:nvPr/>
        </p:nvSpPr>
        <p:spPr bwMode="auto">
          <a:xfrm>
            <a:off x="1981200" y="5203825"/>
            <a:ext cx="5562600" cy="0"/>
          </a:xfrm>
          <a:prstGeom prst="line">
            <a:avLst/>
          </a:prstGeom>
          <a:noFill/>
          <a:ln w="12700" cap="sq">
            <a:solidFill>
              <a:schemeClr val="bg1"/>
            </a:solidFill>
            <a:round/>
            <a:headEnd type="none" w="sm" len="sm"/>
            <a:tailEnd type="none" w="sm" len="sm"/>
          </a:ln>
        </p:spPr>
        <p:txBody>
          <a:bodyPr wrap="none"/>
          <a:lstStyle/>
          <a:p>
            <a:endParaRPr lang="en-US"/>
          </a:p>
        </p:txBody>
      </p:sp>
      <p:sp>
        <p:nvSpPr>
          <p:cNvPr id="27656" name="Text Box 241"/>
          <p:cNvSpPr txBox="1">
            <a:spLocks noChangeArrowheads="1"/>
          </p:cNvSpPr>
          <p:nvPr/>
        </p:nvSpPr>
        <p:spPr bwMode="auto">
          <a:xfrm>
            <a:off x="7662863" y="4098925"/>
            <a:ext cx="660400" cy="369888"/>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RAS</a:t>
            </a:r>
          </a:p>
        </p:txBody>
      </p:sp>
      <p:pic>
        <p:nvPicPr>
          <p:cNvPr id="27657" name="Picture 242" descr="C:\My Documents\Ray\NETDRAW4\INTERNET\INTRNET.WMF"/>
          <p:cNvPicPr>
            <a:picLocks noChangeAspect="1" noChangeArrowheads="1"/>
          </p:cNvPicPr>
          <p:nvPr/>
        </p:nvPicPr>
        <p:blipFill>
          <a:blip r:embed="rId4" cstate="print"/>
          <a:srcRect/>
          <a:stretch>
            <a:fillRect/>
          </a:stretch>
        </p:blipFill>
        <p:spPr bwMode="auto">
          <a:xfrm>
            <a:off x="4918075" y="4710113"/>
            <a:ext cx="1600200" cy="985837"/>
          </a:xfrm>
          <a:prstGeom prst="rect">
            <a:avLst/>
          </a:prstGeom>
          <a:noFill/>
          <a:ln w="9525">
            <a:noFill/>
            <a:miter lim="800000"/>
            <a:headEnd/>
            <a:tailEnd/>
          </a:ln>
        </p:spPr>
      </p:pic>
      <p:pic>
        <p:nvPicPr>
          <p:cNvPr id="27658" name="Picture 243" descr="F:\NETDRAW4\ISOMETRC\FILSERVI.WMF"/>
          <p:cNvPicPr>
            <a:picLocks noChangeAspect="1" noChangeArrowheads="1"/>
          </p:cNvPicPr>
          <p:nvPr/>
        </p:nvPicPr>
        <p:blipFill>
          <a:blip r:embed="rId3" cstate="print"/>
          <a:srcRect/>
          <a:stretch>
            <a:fillRect/>
          </a:stretch>
        </p:blipFill>
        <p:spPr bwMode="auto">
          <a:xfrm>
            <a:off x="3055938" y="4572000"/>
            <a:ext cx="727075" cy="1262063"/>
          </a:xfrm>
          <a:prstGeom prst="rect">
            <a:avLst/>
          </a:prstGeom>
          <a:noFill/>
          <a:ln w="9525">
            <a:noFill/>
            <a:miter lim="800000"/>
            <a:headEnd/>
            <a:tailEnd/>
          </a:ln>
        </p:spPr>
      </p:pic>
      <p:sp>
        <p:nvSpPr>
          <p:cNvPr id="27659" name="Text Box 244"/>
          <p:cNvSpPr txBox="1">
            <a:spLocks noChangeArrowheads="1"/>
          </p:cNvSpPr>
          <p:nvPr/>
        </p:nvSpPr>
        <p:spPr bwMode="auto">
          <a:xfrm>
            <a:off x="2641600" y="3733800"/>
            <a:ext cx="1519238" cy="646113"/>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Access</a:t>
            </a:r>
          </a:p>
          <a:p>
            <a:pPr algn="ctr"/>
            <a:r>
              <a:rPr lang="en-US" altLang="en-US">
                <a:solidFill>
                  <a:schemeClr val="bg1"/>
                </a:solidFill>
              </a:rPr>
              <a:t>Concentrator</a:t>
            </a:r>
          </a:p>
        </p:txBody>
      </p:sp>
      <p:sp>
        <p:nvSpPr>
          <p:cNvPr id="27660" name="Rectangle 245"/>
          <p:cNvSpPr>
            <a:spLocks noChangeArrowheads="1"/>
          </p:cNvSpPr>
          <p:nvPr/>
        </p:nvSpPr>
        <p:spPr bwMode="auto">
          <a:xfrm>
            <a:off x="4305300" y="5791200"/>
            <a:ext cx="762000" cy="228600"/>
          </a:xfrm>
          <a:prstGeom prst="rect">
            <a:avLst/>
          </a:prstGeom>
          <a:solidFill>
            <a:schemeClr val="hlink"/>
          </a:solidFill>
          <a:ln w="12700" cap="sq">
            <a:solidFill>
              <a:schemeClr val="tx1"/>
            </a:solidFill>
            <a:miter lim="800000"/>
            <a:headEnd type="none" w="sm" len="sm"/>
            <a:tailEnd type="none" w="sm" len="sm"/>
          </a:ln>
        </p:spPr>
        <p:txBody>
          <a:bodyPr wrap="none" anchor="ctr"/>
          <a:lstStyle/>
          <a:p>
            <a:endParaRPr lang="en-US" altLang="en-US"/>
          </a:p>
        </p:txBody>
      </p:sp>
      <p:sp>
        <p:nvSpPr>
          <p:cNvPr id="27661" name="Text Box 246"/>
          <p:cNvSpPr txBox="1">
            <a:spLocks noChangeArrowheads="1"/>
          </p:cNvSpPr>
          <p:nvPr/>
        </p:nvSpPr>
        <p:spPr bwMode="auto">
          <a:xfrm>
            <a:off x="3519488" y="6096000"/>
            <a:ext cx="2351087" cy="369888"/>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Encapsulated Packet</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6400800" y="5562600"/>
            <a:ext cx="1143000" cy="228600"/>
          </a:xfrm>
          <a:prstGeom prst="rect">
            <a:avLst/>
          </a:prstGeom>
          <a:solidFill>
            <a:schemeClr val="accent1"/>
          </a:solidFill>
          <a:ln w="12700" cap="sq">
            <a:solidFill>
              <a:schemeClr val="tx1"/>
            </a:solidFill>
            <a:miter lim="800000"/>
            <a:headEnd type="none" w="sm" len="sm"/>
            <a:tailEnd type="none" w="sm" len="sm"/>
          </a:ln>
        </p:spPr>
        <p:txBody>
          <a:bodyPr wrap="none" anchor="ctr"/>
          <a:lstStyle/>
          <a:p>
            <a:endParaRPr lang="en-US" altLang="en-US"/>
          </a:p>
        </p:txBody>
      </p:sp>
      <p:sp>
        <p:nvSpPr>
          <p:cNvPr id="28675" name="Rectangle 2"/>
          <p:cNvSpPr>
            <a:spLocks noGrp="1" noChangeArrowheads="1"/>
          </p:cNvSpPr>
          <p:nvPr>
            <p:ph type="title"/>
          </p:nvPr>
        </p:nvSpPr>
        <p:spPr/>
        <p:txBody>
          <a:bodyPr/>
          <a:lstStyle/>
          <a:p>
            <a:pPr eaLnBrk="1" hangingPunct="1"/>
            <a:r>
              <a:rPr lang="en-US" smtClean="0"/>
              <a:t>PPTP</a:t>
            </a:r>
          </a:p>
        </p:txBody>
      </p:sp>
      <p:sp>
        <p:nvSpPr>
          <p:cNvPr id="18436" name="Rectangle 3"/>
          <p:cNvSpPr>
            <a:spLocks noGrp="1" noChangeArrowheads="1"/>
          </p:cNvSpPr>
          <p:nvPr>
            <p:ph type="body" idx="1"/>
          </p:nvPr>
        </p:nvSpPr>
        <p:spPr>
          <a:xfrm>
            <a:off x="1219200" y="1524000"/>
            <a:ext cx="7467600" cy="4876800"/>
          </a:xfrm>
        </p:spPr>
        <p:txBody>
          <a:bodyPr/>
          <a:lstStyle/>
          <a:p>
            <a:pPr eaLnBrk="1" hangingPunct="1">
              <a:defRPr/>
            </a:pPr>
            <a:r>
              <a:rPr lang="en-US" dirty="0" smtClean="0"/>
              <a:t>PPTP Operation</a:t>
            </a:r>
          </a:p>
          <a:p>
            <a:pPr lvl="1" eaLnBrk="1" hangingPunct="1">
              <a:defRPr/>
            </a:pPr>
            <a:r>
              <a:rPr lang="en-US" dirty="0" smtClean="0"/>
              <a:t>Distant RAS removes the original packet</a:t>
            </a:r>
          </a:p>
          <a:p>
            <a:pPr lvl="1" eaLnBrk="1" hangingPunct="1">
              <a:defRPr/>
            </a:pPr>
            <a:r>
              <a:rPr lang="en-US" dirty="0" smtClean="0"/>
              <a:t>Deals with the PPP frame within the packet</a:t>
            </a:r>
          </a:p>
        </p:txBody>
      </p:sp>
      <p:pic>
        <p:nvPicPr>
          <p:cNvPr id="28677" name="Picture 4" descr="F:\NETDRAW4\ISOMETRC\FILSERVI.WMF"/>
          <p:cNvPicPr>
            <a:picLocks noChangeAspect="1" noChangeArrowheads="1"/>
          </p:cNvPicPr>
          <p:nvPr/>
        </p:nvPicPr>
        <p:blipFill>
          <a:blip r:embed="rId3" cstate="print"/>
          <a:srcRect/>
          <a:stretch>
            <a:fillRect/>
          </a:stretch>
        </p:blipFill>
        <p:spPr bwMode="auto">
          <a:xfrm>
            <a:off x="7654925" y="4573588"/>
            <a:ext cx="727075" cy="1262062"/>
          </a:xfrm>
          <a:prstGeom prst="rect">
            <a:avLst/>
          </a:prstGeom>
          <a:noFill/>
          <a:ln w="9525">
            <a:noFill/>
            <a:miter lim="800000"/>
            <a:headEnd/>
            <a:tailEnd/>
          </a:ln>
        </p:spPr>
      </p:pic>
      <p:grpSp>
        <p:nvGrpSpPr>
          <p:cNvPr id="28678" name="Group 5"/>
          <p:cNvGrpSpPr>
            <a:grpSpLocks/>
          </p:cNvGrpSpPr>
          <p:nvPr/>
        </p:nvGrpSpPr>
        <p:grpSpPr bwMode="auto">
          <a:xfrm flipH="1">
            <a:off x="685800" y="4548188"/>
            <a:ext cx="1235075" cy="1025525"/>
            <a:chOff x="1531" y="3307"/>
            <a:chExt cx="778" cy="646"/>
          </a:xfrm>
        </p:grpSpPr>
        <p:grpSp>
          <p:nvGrpSpPr>
            <p:cNvPr id="28684" name="Group 6"/>
            <p:cNvGrpSpPr>
              <a:grpSpLocks/>
            </p:cNvGrpSpPr>
            <p:nvPr/>
          </p:nvGrpSpPr>
          <p:grpSpPr bwMode="auto">
            <a:xfrm>
              <a:off x="1531" y="3307"/>
              <a:ext cx="778" cy="646"/>
              <a:chOff x="1531" y="3307"/>
              <a:chExt cx="778" cy="646"/>
            </a:xfrm>
          </p:grpSpPr>
          <p:sp>
            <p:nvSpPr>
              <p:cNvPr id="28717" name="Freeform 7"/>
              <p:cNvSpPr>
                <a:spLocks/>
              </p:cNvSpPr>
              <p:nvPr/>
            </p:nvSpPr>
            <p:spPr bwMode="auto">
              <a:xfrm>
                <a:off x="1954" y="3823"/>
                <a:ext cx="117" cy="42"/>
              </a:xfrm>
              <a:custGeom>
                <a:avLst/>
                <a:gdLst>
                  <a:gd name="T0" fmla="*/ 0 w 235"/>
                  <a:gd name="T1" fmla="*/ 0 h 84"/>
                  <a:gd name="T2" fmla="*/ 0 w 235"/>
                  <a:gd name="T3" fmla="*/ 1 h 84"/>
                  <a:gd name="T4" fmla="*/ 0 w 235"/>
                  <a:gd name="T5" fmla="*/ 1 h 84"/>
                  <a:gd name="T6" fmla="*/ 0 w 235"/>
                  <a:gd name="T7" fmla="*/ 1 h 84"/>
                  <a:gd name="T8" fmla="*/ 0 w 235"/>
                  <a:gd name="T9" fmla="*/ 1 h 84"/>
                  <a:gd name="T10" fmla="*/ 0 w 235"/>
                  <a:gd name="T11" fmla="*/ 1 h 84"/>
                  <a:gd name="T12" fmla="*/ 0 w 235"/>
                  <a:gd name="T13" fmla="*/ 1 h 84"/>
                  <a:gd name="T14" fmla="*/ 0 w 235"/>
                  <a:gd name="T15" fmla="*/ 1 h 84"/>
                  <a:gd name="T16" fmla="*/ 0 w 235"/>
                  <a:gd name="T17" fmla="*/ 1 h 84"/>
                  <a:gd name="T18" fmla="*/ 0 w 235"/>
                  <a:gd name="T19" fmla="*/ 1 h 84"/>
                  <a:gd name="T20" fmla="*/ 0 w 235"/>
                  <a:gd name="T21" fmla="*/ 1 h 84"/>
                  <a:gd name="T22" fmla="*/ 0 w 235"/>
                  <a:gd name="T23" fmla="*/ 1 h 84"/>
                  <a:gd name="T24" fmla="*/ 0 w 235"/>
                  <a:gd name="T25" fmla="*/ 1 h 84"/>
                  <a:gd name="T26" fmla="*/ 0 w 235"/>
                  <a:gd name="T27" fmla="*/ 1 h 84"/>
                  <a:gd name="T28" fmla="*/ 0 w 235"/>
                  <a:gd name="T29" fmla="*/ 1 h 84"/>
                  <a:gd name="T30" fmla="*/ 0 w 235"/>
                  <a:gd name="T31" fmla="*/ 1 h 84"/>
                  <a:gd name="T32" fmla="*/ 0 w 235"/>
                  <a:gd name="T33" fmla="*/ 1 h 84"/>
                  <a:gd name="T34" fmla="*/ 0 w 235"/>
                  <a:gd name="T35" fmla="*/ 1 h 84"/>
                  <a:gd name="T36" fmla="*/ 0 w 235"/>
                  <a:gd name="T37" fmla="*/ 1 h 84"/>
                  <a:gd name="T38" fmla="*/ 0 w 235"/>
                  <a:gd name="T39" fmla="*/ 1 h 84"/>
                  <a:gd name="T40" fmla="*/ 0 w 235"/>
                  <a:gd name="T41" fmla="*/ 1 h 84"/>
                  <a:gd name="T42" fmla="*/ 0 w 235"/>
                  <a:gd name="T43" fmla="*/ 1 h 84"/>
                  <a:gd name="T44" fmla="*/ 0 w 235"/>
                  <a:gd name="T45" fmla="*/ 1 h 84"/>
                  <a:gd name="T46" fmla="*/ 0 w 235"/>
                  <a:gd name="T47" fmla="*/ 1 h 84"/>
                  <a:gd name="T48" fmla="*/ 0 w 235"/>
                  <a:gd name="T49" fmla="*/ 1 h 84"/>
                  <a:gd name="T50" fmla="*/ 0 w 235"/>
                  <a:gd name="T51" fmla="*/ 1 h 84"/>
                  <a:gd name="T52" fmla="*/ 0 w 235"/>
                  <a:gd name="T53" fmla="*/ 1 h 84"/>
                  <a:gd name="T54" fmla="*/ 0 w 235"/>
                  <a:gd name="T55" fmla="*/ 1 h 84"/>
                  <a:gd name="T56" fmla="*/ 0 w 235"/>
                  <a:gd name="T57" fmla="*/ 1 h 84"/>
                  <a:gd name="T58" fmla="*/ 0 w 235"/>
                  <a:gd name="T59" fmla="*/ 1 h 84"/>
                  <a:gd name="T60" fmla="*/ 0 w 235"/>
                  <a:gd name="T61" fmla="*/ 1 h 84"/>
                  <a:gd name="T62" fmla="*/ 0 w 235"/>
                  <a:gd name="T63" fmla="*/ 1 h 84"/>
                  <a:gd name="T64" fmla="*/ 0 w 235"/>
                  <a:gd name="T65" fmla="*/ 1 h 84"/>
                  <a:gd name="T66" fmla="*/ 0 w 235"/>
                  <a:gd name="T67" fmla="*/ 1 h 84"/>
                  <a:gd name="T68" fmla="*/ 0 w 235"/>
                  <a:gd name="T69" fmla="*/ 1 h 84"/>
                  <a:gd name="T70" fmla="*/ 0 w 235"/>
                  <a:gd name="T71" fmla="*/ 1 h 84"/>
                  <a:gd name="T72" fmla="*/ 0 w 235"/>
                  <a:gd name="T73" fmla="*/ 1 h 84"/>
                  <a:gd name="T74" fmla="*/ 0 w 235"/>
                  <a:gd name="T75" fmla="*/ 0 h 84"/>
                  <a:gd name="T76" fmla="*/ 0 w 235"/>
                  <a:gd name="T77" fmla="*/ 0 h 84"/>
                  <a:gd name="T78" fmla="*/ 0 w 235"/>
                  <a:gd name="T79" fmla="*/ 0 h 84"/>
                  <a:gd name="T80" fmla="*/ 0 w 235"/>
                  <a:gd name="T81" fmla="*/ 0 h 84"/>
                  <a:gd name="T82" fmla="*/ 0 w 235"/>
                  <a:gd name="T83" fmla="*/ 0 h 84"/>
                  <a:gd name="T84" fmla="*/ 0 w 235"/>
                  <a:gd name="T85" fmla="*/ 0 h 84"/>
                  <a:gd name="T86" fmla="*/ 0 w 235"/>
                  <a:gd name="T87" fmla="*/ 0 h 84"/>
                  <a:gd name="T88" fmla="*/ 0 w 235"/>
                  <a:gd name="T89" fmla="*/ 0 h 84"/>
                  <a:gd name="T90" fmla="*/ 0 w 235"/>
                  <a:gd name="T91" fmla="*/ 0 h 84"/>
                  <a:gd name="T92" fmla="*/ 0 w 235"/>
                  <a:gd name="T93" fmla="*/ 0 h 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35"/>
                  <a:gd name="T142" fmla="*/ 0 h 84"/>
                  <a:gd name="T143" fmla="*/ 235 w 235"/>
                  <a:gd name="T144" fmla="*/ 84 h 8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35" h="84">
                    <a:moveTo>
                      <a:pt x="235" y="0"/>
                    </a:moveTo>
                    <a:lnTo>
                      <a:pt x="233" y="39"/>
                    </a:lnTo>
                    <a:lnTo>
                      <a:pt x="233" y="40"/>
                    </a:lnTo>
                    <a:lnTo>
                      <a:pt x="230" y="47"/>
                    </a:lnTo>
                    <a:lnTo>
                      <a:pt x="224" y="51"/>
                    </a:lnTo>
                    <a:lnTo>
                      <a:pt x="213" y="54"/>
                    </a:lnTo>
                    <a:lnTo>
                      <a:pt x="201" y="54"/>
                    </a:lnTo>
                    <a:lnTo>
                      <a:pt x="193" y="54"/>
                    </a:lnTo>
                    <a:lnTo>
                      <a:pt x="186" y="53"/>
                    </a:lnTo>
                    <a:lnTo>
                      <a:pt x="185" y="53"/>
                    </a:lnTo>
                    <a:lnTo>
                      <a:pt x="182" y="75"/>
                    </a:lnTo>
                    <a:lnTo>
                      <a:pt x="180" y="76"/>
                    </a:lnTo>
                    <a:lnTo>
                      <a:pt x="174" y="79"/>
                    </a:lnTo>
                    <a:lnTo>
                      <a:pt x="161" y="83"/>
                    </a:lnTo>
                    <a:lnTo>
                      <a:pt x="143" y="84"/>
                    </a:lnTo>
                    <a:lnTo>
                      <a:pt x="122" y="83"/>
                    </a:lnTo>
                    <a:lnTo>
                      <a:pt x="108" y="78"/>
                    </a:lnTo>
                    <a:lnTo>
                      <a:pt x="100" y="75"/>
                    </a:lnTo>
                    <a:lnTo>
                      <a:pt x="99" y="73"/>
                    </a:lnTo>
                    <a:lnTo>
                      <a:pt x="96" y="73"/>
                    </a:lnTo>
                    <a:lnTo>
                      <a:pt x="86" y="72"/>
                    </a:lnTo>
                    <a:lnTo>
                      <a:pt x="72" y="70"/>
                    </a:lnTo>
                    <a:lnTo>
                      <a:pt x="56" y="67"/>
                    </a:lnTo>
                    <a:lnTo>
                      <a:pt x="39" y="62"/>
                    </a:lnTo>
                    <a:lnTo>
                      <a:pt x="24" y="56"/>
                    </a:lnTo>
                    <a:lnTo>
                      <a:pt x="13" y="47"/>
                    </a:lnTo>
                    <a:lnTo>
                      <a:pt x="5" y="36"/>
                    </a:lnTo>
                    <a:lnTo>
                      <a:pt x="0" y="20"/>
                    </a:lnTo>
                    <a:lnTo>
                      <a:pt x="2" y="15"/>
                    </a:lnTo>
                    <a:lnTo>
                      <a:pt x="6" y="18"/>
                    </a:lnTo>
                    <a:lnTo>
                      <a:pt x="8" y="20"/>
                    </a:lnTo>
                    <a:lnTo>
                      <a:pt x="10" y="18"/>
                    </a:lnTo>
                    <a:lnTo>
                      <a:pt x="14" y="17"/>
                    </a:lnTo>
                    <a:lnTo>
                      <a:pt x="22" y="14"/>
                    </a:lnTo>
                    <a:lnTo>
                      <a:pt x="31" y="9"/>
                    </a:lnTo>
                    <a:lnTo>
                      <a:pt x="44" y="6"/>
                    </a:lnTo>
                    <a:lnTo>
                      <a:pt x="58" y="3"/>
                    </a:lnTo>
                    <a:lnTo>
                      <a:pt x="75" y="0"/>
                    </a:lnTo>
                    <a:lnTo>
                      <a:pt x="92" y="0"/>
                    </a:lnTo>
                    <a:lnTo>
                      <a:pt x="113" y="0"/>
                    </a:lnTo>
                    <a:lnTo>
                      <a:pt x="136" y="0"/>
                    </a:lnTo>
                    <a:lnTo>
                      <a:pt x="160" y="0"/>
                    </a:lnTo>
                    <a:lnTo>
                      <a:pt x="183" y="0"/>
                    </a:lnTo>
                    <a:lnTo>
                      <a:pt x="204" y="0"/>
                    </a:lnTo>
                    <a:lnTo>
                      <a:pt x="219" y="0"/>
                    </a:lnTo>
                    <a:lnTo>
                      <a:pt x="230" y="0"/>
                    </a:lnTo>
                    <a:lnTo>
                      <a:pt x="235" y="0"/>
                    </a:lnTo>
                    <a:close/>
                  </a:path>
                </a:pathLst>
              </a:custGeom>
              <a:solidFill>
                <a:srgbClr val="7F2600"/>
              </a:solidFill>
              <a:ln w="9525">
                <a:noFill/>
                <a:round/>
                <a:headEnd/>
                <a:tailEnd/>
              </a:ln>
            </p:spPr>
            <p:txBody>
              <a:bodyPr/>
              <a:lstStyle/>
              <a:p>
                <a:endParaRPr lang="en-US"/>
              </a:p>
            </p:txBody>
          </p:sp>
          <p:sp>
            <p:nvSpPr>
              <p:cNvPr id="28718" name="Freeform 8"/>
              <p:cNvSpPr>
                <a:spLocks/>
              </p:cNvSpPr>
              <p:nvPr/>
            </p:nvSpPr>
            <p:spPr bwMode="auto">
              <a:xfrm>
                <a:off x="2065" y="3823"/>
                <a:ext cx="12" cy="25"/>
              </a:xfrm>
              <a:custGeom>
                <a:avLst/>
                <a:gdLst>
                  <a:gd name="T0" fmla="*/ 1 w 24"/>
                  <a:gd name="T1" fmla="*/ 1 h 50"/>
                  <a:gd name="T2" fmla="*/ 1 w 24"/>
                  <a:gd name="T3" fmla="*/ 1 h 50"/>
                  <a:gd name="T4" fmla="*/ 1 w 24"/>
                  <a:gd name="T5" fmla="*/ 0 h 50"/>
                  <a:gd name="T6" fmla="*/ 1 w 24"/>
                  <a:gd name="T7" fmla="*/ 0 h 50"/>
                  <a:gd name="T8" fmla="*/ 0 w 24"/>
                  <a:gd name="T9" fmla="*/ 1 h 50"/>
                  <a:gd name="T10" fmla="*/ 0 w 24"/>
                  <a:gd name="T11" fmla="*/ 1 h 50"/>
                  <a:gd name="T12" fmla="*/ 0 w 24"/>
                  <a:gd name="T13" fmla="*/ 1 h 50"/>
                  <a:gd name="T14" fmla="*/ 1 w 24"/>
                  <a:gd name="T15" fmla="*/ 1 h 50"/>
                  <a:gd name="T16" fmla="*/ 1 w 24"/>
                  <a:gd name="T17" fmla="*/ 1 h 50"/>
                  <a:gd name="T18" fmla="*/ 1 w 24"/>
                  <a:gd name="T19" fmla="*/ 1 h 50"/>
                  <a:gd name="T20" fmla="*/ 1 w 24"/>
                  <a:gd name="T21" fmla="*/ 1 h 50"/>
                  <a:gd name="T22" fmla="*/ 1 w 24"/>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50"/>
                  <a:gd name="T38" fmla="*/ 24 w 24"/>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50">
                    <a:moveTo>
                      <a:pt x="22" y="40"/>
                    </a:moveTo>
                    <a:lnTo>
                      <a:pt x="22" y="39"/>
                    </a:lnTo>
                    <a:lnTo>
                      <a:pt x="24" y="0"/>
                    </a:lnTo>
                    <a:lnTo>
                      <a:pt x="2" y="0"/>
                    </a:lnTo>
                    <a:lnTo>
                      <a:pt x="0" y="39"/>
                    </a:lnTo>
                    <a:lnTo>
                      <a:pt x="0" y="37"/>
                    </a:lnTo>
                    <a:lnTo>
                      <a:pt x="0" y="39"/>
                    </a:lnTo>
                    <a:lnTo>
                      <a:pt x="4" y="47"/>
                    </a:lnTo>
                    <a:lnTo>
                      <a:pt x="11" y="50"/>
                    </a:lnTo>
                    <a:lnTo>
                      <a:pt x="19" y="47"/>
                    </a:lnTo>
                    <a:lnTo>
                      <a:pt x="22" y="39"/>
                    </a:lnTo>
                    <a:lnTo>
                      <a:pt x="22" y="40"/>
                    </a:lnTo>
                    <a:close/>
                  </a:path>
                </a:pathLst>
              </a:custGeom>
              <a:solidFill>
                <a:srgbClr val="000000"/>
              </a:solidFill>
              <a:ln w="9525">
                <a:noFill/>
                <a:round/>
                <a:headEnd/>
                <a:tailEnd/>
              </a:ln>
            </p:spPr>
            <p:txBody>
              <a:bodyPr/>
              <a:lstStyle/>
              <a:p>
                <a:endParaRPr lang="en-US"/>
              </a:p>
            </p:txBody>
          </p:sp>
          <p:sp>
            <p:nvSpPr>
              <p:cNvPr id="28719" name="Freeform 9"/>
              <p:cNvSpPr>
                <a:spLocks/>
              </p:cNvSpPr>
              <p:nvPr/>
            </p:nvSpPr>
            <p:spPr bwMode="auto">
              <a:xfrm>
                <a:off x="2060" y="3841"/>
                <a:ext cx="16" cy="15"/>
              </a:xfrm>
              <a:custGeom>
                <a:avLst/>
                <a:gdLst>
                  <a:gd name="T0" fmla="*/ 0 w 33"/>
                  <a:gd name="T1" fmla="*/ 1 h 29"/>
                  <a:gd name="T2" fmla="*/ 0 w 33"/>
                  <a:gd name="T3" fmla="*/ 1 h 29"/>
                  <a:gd name="T4" fmla="*/ 0 w 33"/>
                  <a:gd name="T5" fmla="*/ 1 h 29"/>
                  <a:gd name="T6" fmla="*/ 0 w 33"/>
                  <a:gd name="T7" fmla="*/ 1 h 29"/>
                  <a:gd name="T8" fmla="*/ 0 w 33"/>
                  <a:gd name="T9" fmla="*/ 1 h 29"/>
                  <a:gd name="T10" fmla="*/ 0 w 33"/>
                  <a:gd name="T11" fmla="*/ 1 h 29"/>
                  <a:gd name="T12" fmla="*/ 0 w 33"/>
                  <a:gd name="T13" fmla="*/ 1 h 29"/>
                  <a:gd name="T14" fmla="*/ 0 w 33"/>
                  <a:gd name="T15" fmla="*/ 0 h 29"/>
                  <a:gd name="T16" fmla="*/ 0 w 33"/>
                  <a:gd name="T17" fmla="*/ 1 h 29"/>
                  <a:gd name="T18" fmla="*/ 0 w 33"/>
                  <a:gd name="T19" fmla="*/ 1 h 29"/>
                  <a:gd name="T20" fmla="*/ 0 w 33"/>
                  <a:gd name="T21" fmla="*/ 1 h 29"/>
                  <a:gd name="T22" fmla="*/ 0 w 33"/>
                  <a:gd name="T23" fmla="*/ 1 h 29"/>
                  <a:gd name="T24" fmla="*/ 0 w 33"/>
                  <a:gd name="T25" fmla="*/ 1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29"/>
                  <a:gd name="T41" fmla="*/ 33 w 33"/>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29">
                    <a:moveTo>
                      <a:pt x="4" y="29"/>
                    </a:moveTo>
                    <a:lnTo>
                      <a:pt x="4" y="29"/>
                    </a:lnTo>
                    <a:lnTo>
                      <a:pt x="18" y="25"/>
                    </a:lnTo>
                    <a:lnTo>
                      <a:pt x="27" y="18"/>
                    </a:lnTo>
                    <a:lnTo>
                      <a:pt x="33" y="9"/>
                    </a:lnTo>
                    <a:lnTo>
                      <a:pt x="33" y="4"/>
                    </a:lnTo>
                    <a:lnTo>
                      <a:pt x="11" y="1"/>
                    </a:lnTo>
                    <a:lnTo>
                      <a:pt x="11" y="0"/>
                    </a:lnTo>
                    <a:lnTo>
                      <a:pt x="11" y="3"/>
                    </a:lnTo>
                    <a:lnTo>
                      <a:pt x="8" y="6"/>
                    </a:lnTo>
                    <a:lnTo>
                      <a:pt x="0" y="7"/>
                    </a:lnTo>
                    <a:lnTo>
                      <a:pt x="4" y="29"/>
                    </a:lnTo>
                    <a:close/>
                  </a:path>
                </a:pathLst>
              </a:custGeom>
              <a:solidFill>
                <a:srgbClr val="000000"/>
              </a:solidFill>
              <a:ln w="9525">
                <a:noFill/>
                <a:round/>
                <a:headEnd/>
                <a:tailEnd/>
              </a:ln>
            </p:spPr>
            <p:txBody>
              <a:bodyPr/>
              <a:lstStyle/>
              <a:p>
                <a:endParaRPr lang="en-US"/>
              </a:p>
            </p:txBody>
          </p:sp>
          <p:sp>
            <p:nvSpPr>
              <p:cNvPr id="28720" name="Freeform 10"/>
              <p:cNvSpPr>
                <a:spLocks/>
              </p:cNvSpPr>
              <p:nvPr/>
            </p:nvSpPr>
            <p:spPr bwMode="auto">
              <a:xfrm>
                <a:off x="2041" y="3844"/>
                <a:ext cx="20" cy="12"/>
              </a:xfrm>
              <a:custGeom>
                <a:avLst/>
                <a:gdLst>
                  <a:gd name="T0" fmla="*/ 0 w 41"/>
                  <a:gd name="T1" fmla="*/ 1 h 23"/>
                  <a:gd name="T2" fmla="*/ 0 w 41"/>
                  <a:gd name="T3" fmla="*/ 1 h 23"/>
                  <a:gd name="T4" fmla="*/ 0 w 41"/>
                  <a:gd name="T5" fmla="*/ 1 h 23"/>
                  <a:gd name="T6" fmla="*/ 0 w 41"/>
                  <a:gd name="T7" fmla="*/ 1 h 23"/>
                  <a:gd name="T8" fmla="*/ 0 w 41"/>
                  <a:gd name="T9" fmla="*/ 1 h 23"/>
                  <a:gd name="T10" fmla="*/ 0 w 41"/>
                  <a:gd name="T11" fmla="*/ 1 h 23"/>
                  <a:gd name="T12" fmla="*/ 0 w 41"/>
                  <a:gd name="T13" fmla="*/ 1 h 23"/>
                  <a:gd name="T14" fmla="*/ 0 w 41"/>
                  <a:gd name="T15" fmla="*/ 1 h 23"/>
                  <a:gd name="T16" fmla="*/ 0 w 41"/>
                  <a:gd name="T17" fmla="*/ 1 h 23"/>
                  <a:gd name="T18" fmla="*/ 0 w 41"/>
                  <a:gd name="T19" fmla="*/ 0 h 23"/>
                  <a:gd name="T20" fmla="*/ 0 w 41"/>
                  <a:gd name="T21" fmla="*/ 0 h 23"/>
                  <a:gd name="T22" fmla="*/ 0 w 41"/>
                  <a:gd name="T23" fmla="*/ 1 h 23"/>
                  <a:gd name="T24" fmla="*/ 0 w 41"/>
                  <a:gd name="T25" fmla="*/ 0 h 23"/>
                  <a:gd name="T26" fmla="*/ 0 w 41"/>
                  <a:gd name="T27" fmla="*/ 1 h 23"/>
                  <a:gd name="T28" fmla="*/ 0 w 41"/>
                  <a:gd name="T29" fmla="*/ 1 h 23"/>
                  <a:gd name="T30" fmla="*/ 0 w 41"/>
                  <a:gd name="T31" fmla="*/ 1 h 23"/>
                  <a:gd name="T32" fmla="*/ 0 w 41"/>
                  <a:gd name="T33" fmla="*/ 1 h 23"/>
                  <a:gd name="T34" fmla="*/ 0 w 41"/>
                  <a:gd name="T35" fmla="*/ 1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23"/>
                  <a:gd name="T56" fmla="*/ 41 w 41"/>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23">
                    <a:moveTo>
                      <a:pt x="22" y="12"/>
                    </a:moveTo>
                    <a:lnTo>
                      <a:pt x="8" y="22"/>
                    </a:lnTo>
                    <a:lnTo>
                      <a:pt x="11" y="22"/>
                    </a:lnTo>
                    <a:lnTo>
                      <a:pt x="17" y="23"/>
                    </a:lnTo>
                    <a:lnTo>
                      <a:pt x="27" y="23"/>
                    </a:lnTo>
                    <a:lnTo>
                      <a:pt x="41" y="23"/>
                    </a:lnTo>
                    <a:lnTo>
                      <a:pt x="37" y="1"/>
                    </a:lnTo>
                    <a:lnTo>
                      <a:pt x="27" y="1"/>
                    </a:lnTo>
                    <a:lnTo>
                      <a:pt x="20" y="1"/>
                    </a:lnTo>
                    <a:lnTo>
                      <a:pt x="14" y="0"/>
                    </a:lnTo>
                    <a:lnTo>
                      <a:pt x="0" y="9"/>
                    </a:lnTo>
                    <a:lnTo>
                      <a:pt x="14" y="0"/>
                    </a:lnTo>
                    <a:lnTo>
                      <a:pt x="5" y="1"/>
                    </a:lnTo>
                    <a:lnTo>
                      <a:pt x="0" y="8"/>
                    </a:lnTo>
                    <a:lnTo>
                      <a:pt x="1" y="17"/>
                    </a:lnTo>
                    <a:lnTo>
                      <a:pt x="8" y="22"/>
                    </a:lnTo>
                    <a:lnTo>
                      <a:pt x="22" y="12"/>
                    </a:lnTo>
                    <a:close/>
                  </a:path>
                </a:pathLst>
              </a:custGeom>
              <a:solidFill>
                <a:srgbClr val="000000"/>
              </a:solidFill>
              <a:ln w="9525">
                <a:noFill/>
                <a:round/>
                <a:headEnd/>
                <a:tailEnd/>
              </a:ln>
            </p:spPr>
            <p:txBody>
              <a:bodyPr/>
              <a:lstStyle/>
              <a:p>
                <a:endParaRPr lang="en-US"/>
              </a:p>
            </p:txBody>
          </p:sp>
          <p:sp>
            <p:nvSpPr>
              <p:cNvPr id="28721" name="Freeform 11"/>
              <p:cNvSpPr>
                <a:spLocks/>
              </p:cNvSpPr>
              <p:nvPr/>
            </p:nvSpPr>
            <p:spPr bwMode="auto">
              <a:xfrm>
                <a:off x="2039" y="3849"/>
                <a:ext cx="13" cy="17"/>
              </a:xfrm>
              <a:custGeom>
                <a:avLst/>
                <a:gdLst>
                  <a:gd name="T0" fmla="*/ 1 w 25"/>
                  <a:gd name="T1" fmla="*/ 0 h 35"/>
                  <a:gd name="T2" fmla="*/ 1 w 25"/>
                  <a:gd name="T3" fmla="*/ 0 h 35"/>
                  <a:gd name="T4" fmla="*/ 1 w 25"/>
                  <a:gd name="T5" fmla="*/ 0 h 35"/>
                  <a:gd name="T6" fmla="*/ 1 w 25"/>
                  <a:gd name="T7" fmla="*/ 0 h 35"/>
                  <a:gd name="T8" fmla="*/ 0 w 25"/>
                  <a:gd name="T9" fmla="*/ 0 h 35"/>
                  <a:gd name="T10" fmla="*/ 1 w 25"/>
                  <a:gd name="T11" fmla="*/ 0 h 35"/>
                  <a:gd name="T12" fmla="*/ 0 w 25"/>
                  <a:gd name="T13" fmla="*/ 0 h 35"/>
                  <a:gd name="T14" fmla="*/ 1 w 25"/>
                  <a:gd name="T15" fmla="*/ 0 h 35"/>
                  <a:gd name="T16" fmla="*/ 1 w 25"/>
                  <a:gd name="T17" fmla="*/ 0 h 35"/>
                  <a:gd name="T18" fmla="*/ 1 w 25"/>
                  <a:gd name="T19" fmla="*/ 0 h 35"/>
                  <a:gd name="T20" fmla="*/ 1 w 25"/>
                  <a:gd name="T21" fmla="*/ 0 h 35"/>
                  <a:gd name="T22" fmla="*/ 1 w 25"/>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
                  <a:gd name="T37" fmla="*/ 0 h 35"/>
                  <a:gd name="T38" fmla="*/ 25 w 25"/>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 h="35">
                    <a:moveTo>
                      <a:pt x="19" y="30"/>
                    </a:moveTo>
                    <a:lnTo>
                      <a:pt x="22" y="25"/>
                    </a:lnTo>
                    <a:lnTo>
                      <a:pt x="25" y="3"/>
                    </a:lnTo>
                    <a:lnTo>
                      <a:pt x="3" y="0"/>
                    </a:lnTo>
                    <a:lnTo>
                      <a:pt x="0" y="22"/>
                    </a:lnTo>
                    <a:lnTo>
                      <a:pt x="3" y="18"/>
                    </a:lnTo>
                    <a:lnTo>
                      <a:pt x="0" y="22"/>
                    </a:lnTo>
                    <a:lnTo>
                      <a:pt x="3" y="30"/>
                    </a:lnTo>
                    <a:lnTo>
                      <a:pt x="9" y="35"/>
                    </a:lnTo>
                    <a:lnTo>
                      <a:pt x="17" y="33"/>
                    </a:lnTo>
                    <a:lnTo>
                      <a:pt x="22" y="25"/>
                    </a:lnTo>
                    <a:lnTo>
                      <a:pt x="19" y="30"/>
                    </a:lnTo>
                    <a:close/>
                  </a:path>
                </a:pathLst>
              </a:custGeom>
              <a:solidFill>
                <a:srgbClr val="000000"/>
              </a:solidFill>
              <a:ln w="9525">
                <a:noFill/>
                <a:round/>
                <a:headEnd/>
                <a:tailEnd/>
              </a:ln>
            </p:spPr>
            <p:txBody>
              <a:bodyPr/>
              <a:lstStyle/>
              <a:p>
                <a:endParaRPr lang="en-US"/>
              </a:p>
            </p:txBody>
          </p:sp>
          <p:sp>
            <p:nvSpPr>
              <p:cNvPr id="28722" name="Freeform 12"/>
              <p:cNvSpPr>
                <a:spLocks/>
              </p:cNvSpPr>
              <p:nvPr/>
            </p:nvSpPr>
            <p:spPr bwMode="auto">
              <a:xfrm>
                <a:off x="2025" y="3856"/>
                <a:ext cx="24" cy="15"/>
              </a:xfrm>
              <a:custGeom>
                <a:avLst/>
                <a:gdLst>
                  <a:gd name="T0" fmla="*/ 0 w 47"/>
                  <a:gd name="T1" fmla="*/ 1 h 28"/>
                  <a:gd name="T2" fmla="*/ 0 w 47"/>
                  <a:gd name="T3" fmla="*/ 1 h 28"/>
                  <a:gd name="T4" fmla="*/ 1 w 47"/>
                  <a:gd name="T5" fmla="*/ 1 h 28"/>
                  <a:gd name="T6" fmla="*/ 1 w 47"/>
                  <a:gd name="T7" fmla="*/ 1 h 28"/>
                  <a:gd name="T8" fmla="*/ 1 w 47"/>
                  <a:gd name="T9" fmla="*/ 1 h 28"/>
                  <a:gd name="T10" fmla="*/ 1 w 47"/>
                  <a:gd name="T11" fmla="*/ 1 h 28"/>
                  <a:gd name="T12" fmla="*/ 1 w 47"/>
                  <a:gd name="T13" fmla="*/ 1 h 28"/>
                  <a:gd name="T14" fmla="*/ 1 w 47"/>
                  <a:gd name="T15" fmla="*/ 0 h 28"/>
                  <a:gd name="T16" fmla="*/ 1 w 47"/>
                  <a:gd name="T17" fmla="*/ 1 h 28"/>
                  <a:gd name="T18" fmla="*/ 1 w 47"/>
                  <a:gd name="T19" fmla="*/ 1 h 28"/>
                  <a:gd name="T20" fmla="*/ 0 w 47"/>
                  <a:gd name="T21" fmla="*/ 1 h 28"/>
                  <a:gd name="T22" fmla="*/ 0 w 47"/>
                  <a:gd name="T23" fmla="*/ 1 h 28"/>
                  <a:gd name="T24" fmla="*/ 0 w 47"/>
                  <a:gd name="T25" fmla="*/ 1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
                  <a:gd name="T40" fmla="*/ 0 h 28"/>
                  <a:gd name="T41" fmla="*/ 47 w 47"/>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 h="28">
                    <a:moveTo>
                      <a:pt x="0" y="28"/>
                    </a:moveTo>
                    <a:lnTo>
                      <a:pt x="0" y="28"/>
                    </a:lnTo>
                    <a:lnTo>
                      <a:pt x="20" y="27"/>
                    </a:lnTo>
                    <a:lnTo>
                      <a:pt x="34" y="23"/>
                    </a:lnTo>
                    <a:lnTo>
                      <a:pt x="43" y="19"/>
                    </a:lnTo>
                    <a:lnTo>
                      <a:pt x="47" y="14"/>
                    </a:lnTo>
                    <a:lnTo>
                      <a:pt x="31" y="2"/>
                    </a:lnTo>
                    <a:lnTo>
                      <a:pt x="31" y="0"/>
                    </a:lnTo>
                    <a:lnTo>
                      <a:pt x="28" y="2"/>
                    </a:lnTo>
                    <a:lnTo>
                      <a:pt x="17" y="5"/>
                    </a:lnTo>
                    <a:lnTo>
                      <a:pt x="0" y="6"/>
                    </a:lnTo>
                    <a:lnTo>
                      <a:pt x="0" y="28"/>
                    </a:lnTo>
                    <a:close/>
                  </a:path>
                </a:pathLst>
              </a:custGeom>
              <a:solidFill>
                <a:srgbClr val="000000"/>
              </a:solidFill>
              <a:ln w="9525">
                <a:noFill/>
                <a:round/>
                <a:headEnd/>
                <a:tailEnd/>
              </a:ln>
            </p:spPr>
            <p:txBody>
              <a:bodyPr/>
              <a:lstStyle/>
              <a:p>
                <a:endParaRPr lang="en-US"/>
              </a:p>
            </p:txBody>
          </p:sp>
          <p:sp>
            <p:nvSpPr>
              <p:cNvPr id="28723" name="Freeform 13"/>
              <p:cNvSpPr>
                <a:spLocks/>
              </p:cNvSpPr>
              <p:nvPr/>
            </p:nvSpPr>
            <p:spPr bwMode="auto">
              <a:xfrm>
                <a:off x="1998" y="3854"/>
                <a:ext cx="27" cy="17"/>
              </a:xfrm>
              <a:custGeom>
                <a:avLst/>
                <a:gdLst>
                  <a:gd name="T0" fmla="*/ 0 w 55"/>
                  <a:gd name="T1" fmla="*/ 1 h 33"/>
                  <a:gd name="T2" fmla="*/ 0 w 55"/>
                  <a:gd name="T3" fmla="*/ 1 h 33"/>
                  <a:gd name="T4" fmla="*/ 0 w 55"/>
                  <a:gd name="T5" fmla="*/ 1 h 33"/>
                  <a:gd name="T6" fmla="*/ 0 w 55"/>
                  <a:gd name="T7" fmla="*/ 1 h 33"/>
                  <a:gd name="T8" fmla="*/ 0 w 55"/>
                  <a:gd name="T9" fmla="*/ 1 h 33"/>
                  <a:gd name="T10" fmla="*/ 0 w 55"/>
                  <a:gd name="T11" fmla="*/ 1 h 33"/>
                  <a:gd name="T12" fmla="*/ 0 w 55"/>
                  <a:gd name="T13" fmla="*/ 1 h 33"/>
                  <a:gd name="T14" fmla="*/ 0 w 55"/>
                  <a:gd name="T15" fmla="*/ 1 h 33"/>
                  <a:gd name="T16" fmla="*/ 0 w 55"/>
                  <a:gd name="T17" fmla="*/ 1 h 33"/>
                  <a:gd name="T18" fmla="*/ 0 w 55"/>
                  <a:gd name="T19" fmla="*/ 1 h 33"/>
                  <a:gd name="T20" fmla="*/ 0 w 55"/>
                  <a:gd name="T21" fmla="*/ 1 h 33"/>
                  <a:gd name="T22" fmla="*/ 0 w 55"/>
                  <a:gd name="T23" fmla="*/ 0 h 33"/>
                  <a:gd name="T24" fmla="*/ 0 w 55"/>
                  <a:gd name="T25" fmla="*/ 1 h 33"/>
                  <a:gd name="T26" fmla="*/ 0 w 55"/>
                  <a:gd name="T27" fmla="*/ 0 h 33"/>
                  <a:gd name="T28" fmla="*/ 0 w 55"/>
                  <a:gd name="T29" fmla="*/ 1 h 33"/>
                  <a:gd name="T30" fmla="*/ 0 w 55"/>
                  <a:gd name="T31" fmla="*/ 1 h 33"/>
                  <a:gd name="T32" fmla="*/ 0 w 55"/>
                  <a:gd name="T33" fmla="*/ 1 h 33"/>
                  <a:gd name="T34" fmla="*/ 0 w 55"/>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5"/>
                  <a:gd name="T55" fmla="*/ 0 h 33"/>
                  <a:gd name="T56" fmla="*/ 55 w 55"/>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5" h="33">
                    <a:moveTo>
                      <a:pt x="11" y="22"/>
                    </a:moveTo>
                    <a:lnTo>
                      <a:pt x="3" y="19"/>
                    </a:lnTo>
                    <a:lnTo>
                      <a:pt x="8" y="22"/>
                    </a:lnTo>
                    <a:lnTo>
                      <a:pt x="17" y="27"/>
                    </a:lnTo>
                    <a:lnTo>
                      <a:pt x="33" y="32"/>
                    </a:lnTo>
                    <a:lnTo>
                      <a:pt x="55" y="33"/>
                    </a:lnTo>
                    <a:lnTo>
                      <a:pt x="55" y="11"/>
                    </a:lnTo>
                    <a:lnTo>
                      <a:pt x="36" y="10"/>
                    </a:lnTo>
                    <a:lnTo>
                      <a:pt x="23" y="5"/>
                    </a:lnTo>
                    <a:lnTo>
                      <a:pt x="17" y="3"/>
                    </a:lnTo>
                    <a:lnTo>
                      <a:pt x="19" y="3"/>
                    </a:lnTo>
                    <a:lnTo>
                      <a:pt x="11" y="0"/>
                    </a:lnTo>
                    <a:lnTo>
                      <a:pt x="19" y="3"/>
                    </a:lnTo>
                    <a:lnTo>
                      <a:pt x="11" y="0"/>
                    </a:lnTo>
                    <a:lnTo>
                      <a:pt x="4" y="3"/>
                    </a:lnTo>
                    <a:lnTo>
                      <a:pt x="0" y="11"/>
                    </a:lnTo>
                    <a:lnTo>
                      <a:pt x="3" y="19"/>
                    </a:lnTo>
                    <a:lnTo>
                      <a:pt x="11" y="22"/>
                    </a:lnTo>
                    <a:close/>
                  </a:path>
                </a:pathLst>
              </a:custGeom>
              <a:solidFill>
                <a:srgbClr val="000000"/>
              </a:solidFill>
              <a:ln w="9525">
                <a:noFill/>
                <a:round/>
                <a:headEnd/>
                <a:tailEnd/>
              </a:ln>
            </p:spPr>
            <p:txBody>
              <a:bodyPr/>
              <a:lstStyle/>
              <a:p>
                <a:endParaRPr lang="en-US"/>
              </a:p>
            </p:txBody>
          </p:sp>
          <p:sp>
            <p:nvSpPr>
              <p:cNvPr id="28724" name="Freeform 14"/>
              <p:cNvSpPr>
                <a:spLocks/>
              </p:cNvSpPr>
              <p:nvPr/>
            </p:nvSpPr>
            <p:spPr bwMode="auto">
              <a:xfrm>
                <a:off x="1951" y="3838"/>
                <a:ext cx="52" cy="27"/>
              </a:xfrm>
              <a:custGeom>
                <a:avLst/>
                <a:gdLst>
                  <a:gd name="T0" fmla="*/ 0 w 105"/>
                  <a:gd name="T1" fmla="*/ 1 h 53"/>
                  <a:gd name="T2" fmla="*/ 0 w 105"/>
                  <a:gd name="T3" fmla="*/ 1 h 53"/>
                  <a:gd name="T4" fmla="*/ 0 w 105"/>
                  <a:gd name="T5" fmla="*/ 1 h 53"/>
                  <a:gd name="T6" fmla="*/ 0 w 105"/>
                  <a:gd name="T7" fmla="*/ 1 h 53"/>
                  <a:gd name="T8" fmla="*/ 0 w 105"/>
                  <a:gd name="T9" fmla="*/ 1 h 53"/>
                  <a:gd name="T10" fmla="*/ 0 w 105"/>
                  <a:gd name="T11" fmla="*/ 1 h 53"/>
                  <a:gd name="T12" fmla="*/ 0 w 105"/>
                  <a:gd name="T13" fmla="*/ 1 h 53"/>
                  <a:gd name="T14" fmla="*/ 0 w 105"/>
                  <a:gd name="T15" fmla="*/ 1 h 53"/>
                  <a:gd name="T16" fmla="*/ 0 w 105"/>
                  <a:gd name="T17" fmla="*/ 1 h 53"/>
                  <a:gd name="T18" fmla="*/ 0 w 105"/>
                  <a:gd name="T19" fmla="*/ 1 h 53"/>
                  <a:gd name="T20" fmla="*/ 0 w 105"/>
                  <a:gd name="T21" fmla="*/ 1 h 53"/>
                  <a:gd name="T22" fmla="*/ 0 w 105"/>
                  <a:gd name="T23" fmla="*/ 1 h 53"/>
                  <a:gd name="T24" fmla="*/ 0 w 105"/>
                  <a:gd name="T25" fmla="*/ 1 h 53"/>
                  <a:gd name="T26" fmla="*/ 0 w 105"/>
                  <a:gd name="T27" fmla="*/ 1 h 53"/>
                  <a:gd name="T28" fmla="*/ 0 w 105"/>
                  <a:gd name="T29" fmla="*/ 1 h 53"/>
                  <a:gd name="T30" fmla="*/ 0 w 105"/>
                  <a:gd name="T31" fmla="*/ 1 h 53"/>
                  <a:gd name="T32" fmla="*/ 0 w 105"/>
                  <a:gd name="T33" fmla="*/ 1 h 53"/>
                  <a:gd name="T34" fmla="*/ 0 w 105"/>
                  <a:gd name="T35" fmla="*/ 1 h 53"/>
                  <a:gd name="T36" fmla="*/ 0 w 105"/>
                  <a:gd name="T37" fmla="*/ 1 h 53"/>
                  <a:gd name="T38" fmla="*/ 0 w 105"/>
                  <a:gd name="T39" fmla="*/ 0 h 53"/>
                  <a:gd name="T40" fmla="*/ 0 w 105"/>
                  <a:gd name="T41" fmla="*/ 1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
                  <a:gd name="T64" fmla="*/ 0 h 53"/>
                  <a:gd name="T65" fmla="*/ 105 w 105"/>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 h="53">
                    <a:moveTo>
                      <a:pt x="1" y="9"/>
                    </a:moveTo>
                    <a:lnTo>
                      <a:pt x="0" y="8"/>
                    </a:lnTo>
                    <a:lnTo>
                      <a:pt x="11" y="23"/>
                    </a:lnTo>
                    <a:lnTo>
                      <a:pt x="23" y="34"/>
                    </a:lnTo>
                    <a:lnTo>
                      <a:pt x="42" y="42"/>
                    </a:lnTo>
                    <a:lnTo>
                      <a:pt x="59" y="47"/>
                    </a:lnTo>
                    <a:lnTo>
                      <a:pt x="77" y="50"/>
                    </a:lnTo>
                    <a:lnTo>
                      <a:pt x="91" y="52"/>
                    </a:lnTo>
                    <a:lnTo>
                      <a:pt x="100" y="53"/>
                    </a:lnTo>
                    <a:lnTo>
                      <a:pt x="105" y="53"/>
                    </a:lnTo>
                    <a:lnTo>
                      <a:pt x="105" y="31"/>
                    </a:lnTo>
                    <a:lnTo>
                      <a:pt x="103" y="31"/>
                    </a:lnTo>
                    <a:lnTo>
                      <a:pt x="94" y="30"/>
                    </a:lnTo>
                    <a:lnTo>
                      <a:pt x="80" y="28"/>
                    </a:lnTo>
                    <a:lnTo>
                      <a:pt x="66" y="25"/>
                    </a:lnTo>
                    <a:lnTo>
                      <a:pt x="48" y="20"/>
                    </a:lnTo>
                    <a:lnTo>
                      <a:pt x="36" y="16"/>
                    </a:lnTo>
                    <a:lnTo>
                      <a:pt x="26" y="8"/>
                    </a:lnTo>
                    <a:lnTo>
                      <a:pt x="22" y="2"/>
                    </a:lnTo>
                    <a:lnTo>
                      <a:pt x="20" y="0"/>
                    </a:lnTo>
                    <a:lnTo>
                      <a:pt x="1" y="9"/>
                    </a:lnTo>
                    <a:close/>
                  </a:path>
                </a:pathLst>
              </a:custGeom>
              <a:solidFill>
                <a:srgbClr val="000000"/>
              </a:solidFill>
              <a:ln w="9525">
                <a:noFill/>
                <a:round/>
                <a:headEnd/>
                <a:tailEnd/>
              </a:ln>
            </p:spPr>
            <p:txBody>
              <a:bodyPr/>
              <a:lstStyle/>
              <a:p>
                <a:endParaRPr lang="en-US"/>
              </a:p>
            </p:txBody>
          </p:sp>
          <p:sp>
            <p:nvSpPr>
              <p:cNvPr id="28725" name="Freeform 15"/>
              <p:cNvSpPr>
                <a:spLocks/>
              </p:cNvSpPr>
              <p:nvPr/>
            </p:nvSpPr>
            <p:spPr bwMode="auto">
              <a:xfrm>
                <a:off x="1949" y="3825"/>
                <a:ext cx="14" cy="18"/>
              </a:xfrm>
              <a:custGeom>
                <a:avLst/>
                <a:gdLst>
                  <a:gd name="T0" fmla="*/ 0 w 30"/>
                  <a:gd name="T1" fmla="*/ 1 h 36"/>
                  <a:gd name="T2" fmla="*/ 0 w 30"/>
                  <a:gd name="T3" fmla="*/ 1 h 36"/>
                  <a:gd name="T4" fmla="*/ 0 w 30"/>
                  <a:gd name="T5" fmla="*/ 1 h 36"/>
                  <a:gd name="T6" fmla="*/ 0 w 30"/>
                  <a:gd name="T7" fmla="*/ 0 h 36"/>
                  <a:gd name="T8" fmla="*/ 0 w 30"/>
                  <a:gd name="T9" fmla="*/ 1 h 36"/>
                  <a:gd name="T10" fmla="*/ 0 w 30"/>
                  <a:gd name="T11" fmla="*/ 1 h 36"/>
                  <a:gd name="T12" fmla="*/ 0 w 30"/>
                  <a:gd name="T13" fmla="*/ 1 h 36"/>
                  <a:gd name="T14" fmla="*/ 0 w 30"/>
                  <a:gd name="T15" fmla="*/ 1 h 36"/>
                  <a:gd name="T16" fmla="*/ 0 w 30"/>
                  <a:gd name="T17" fmla="*/ 1 h 36"/>
                  <a:gd name="T18" fmla="*/ 0 w 30"/>
                  <a:gd name="T19" fmla="*/ 1 h 36"/>
                  <a:gd name="T20" fmla="*/ 0 w 30"/>
                  <a:gd name="T21" fmla="*/ 1 h 36"/>
                  <a:gd name="T22" fmla="*/ 0 w 30"/>
                  <a:gd name="T23" fmla="*/ 1 h 36"/>
                  <a:gd name="T24" fmla="*/ 0 w 30"/>
                  <a:gd name="T25" fmla="*/ 1 h 36"/>
                  <a:gd name="T26" fmla="*/ 0 w 30"/>
                  <a:gd name="T27" fmla="*/ 1 h 36"/>
                  <a:gd name="T28" fmla="*/ 0 w 30"/>
                  <a:gd name="T29" fmla="*/ 1 h 36"/>
                  <a:gd name="T30" fmla="*/ 0 w 30"/>
                  <a:gd name="T31" fmla="*/ 1 h 36"/>
                  <a:gd name="T32" fmla="*/ 0 w 30"/>
                  <a:gd name="T33" fmla="*/ 1 h 36"/>
                  <a:gd name="T34" fmla="*/ 0 w 30"/>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0"/>
                  <a:gd name="T55" fmla="*/ 0 h 36"/>
                  <a:gd name="T56" fmla="*/ 30 w 30"/>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0" h="36">
                    <a:moveTo>
                      <a:pt x="13" y="7"/>
                    </a:moveTo>
                    <a:lnTo>
                      <a:pt x="27" y="8"/>
                    </a:lnTo>
                    <a:lnTo>
                      <a:pt x="24" y="5"/>
                    </a:lnTo>
                    <a:lnTo>
                      <a:pt x="10" y="0"/>
                    </a:lnTo>
                    <a:lnTo>
                      <a:pt x="0" y="18"/>
                    </a:lnTo>
                    <a:lnTo>
                      <a:pt x="6" y="36"/>
                    </a:lnTo>
                    <a:lnTo>
                      <a:pt x="25" y="27"/>
                    </a:lnTo>
                    <a:lnTo>
                      <a:pt x="22" y="14"/>
                    </a:lnTo>
                    <a:lnTo>
                      <a:pt x="16" y="22"/>
                    </a:lnTo>
                    <a:lnTo>
                      <a:pt x="11" y="24"/>
                    </a:lnTo>
                    <a:lnTo>
                      <a:pt x="25" y="25"/>
                    </a:lnTo>
                    <a:lnTo>
                      <a:pt x="11" y="24"/>
                    </a:lnTo>
                    <a:lnTo>
                      <a:pt x="19" y="27"/>
                    </a:lnTo>
                    <a:lnTo>
                      <a:pt x="27" y="22"/>
                    </a:lnTo>
                    <a:lnTo>
                      <a:pt x="30" y="16"/>
                    </a:lnTo>
                    <a:lnTo>
                      <a:pt x="27" y="8"/>
                    </a:lnTo>
                    <a:lnTo>
                      <a:pt x="13" y="7"/>
                    </a:lnTo>
                    <a:close/>
                  </a:path>
                </a:pathLst>
              </a:custGeom>
              <a:solidFill>
                <a:srgbClr val="000000"/>
              </a:solidFill>
              <a:ln w="9525">
                <a:noFill/>
                <a:round/>
                <a:headEnd/>
                <a:tailEnd/>
              </a:ln>
            </p:spPr>
            <p:txBody>
              <a:bodyPr/>
              <a:lstStyle/>
              <a:p>
                <a:endParaRPr lang="en-US"/>
              </a:p>
            </p:txBody>
          </p:sp>
          <p:sp>
            <p:nvSpPr>
              <p:cNvPr id="28726" name="Freeform 16"/>
              <p:cNvSpPr>
                <a:spLocks/>
              </p:cNvSpPr>
              <p:nvPr/>
            </p:nvSpPr>
            <p:spPr bwMode="auto">
              <a:xfrm>
                <a:off x="1955" y="3817"/>
                <a:ext cx="45" cy="21"/>
              </a:xfrm>
              <a:custGeom>
                <a:avLst/>
                <a:gdLst>
                  <a:gd name="T0" fmla="*/ 1 w 90"/>
                  <a:gd name="T1" fmla="*/ 0 h 40"/>
                  <a:gd name="T2" fmla="*/ 1 w 90"/>
                  <a:gd name="T3" fmla="*/ 0 h 40"/>
                  <a:gd name="T4" fmla="*/ 1 w 90"/>
                  <a:gd name="T5" fmla="*/ 0 h 40"/>
                  <a:gd name="T6" fmla="*/ 1 w 90"/>
                  <a:gd name="T7" fmla="*/ 1 h 40"/>
                  <a:gd name="T8" fmla="*/ 1 w 90"/>
                  <a:gd name="T9" fmla="*/ 1 h 40"/>
                  <a:gd name="T10" fmla="*/ 1 w 90"/>
                  <a:gd name="T11" fmla="*/ 1 h 40"/>
                  <a:gd name="T12" fmla="*/ 1 w 90"/>
                  <a:gd name="T13" fmla="*/ 1 h 40"/>
                  <a:gd name="T14" fmla="*/ 1 w 90"/>
                  <a:gd name="T15" fmla="*/ 1 h 40"/>
                  <a:gd name="T16" fmla="*/ 1 w 90"/>
                  <a:gd name="T17" fmla="*/ 1 h 40"/>
                  <a:gd name="T18" fmla="*/ 0 w 90"/>
                  <a:gd name="T19" fmla="*/ 1 h 40"/>
                  <a:gd name="T20" fmla="*/ 1 w 90"/>
                  <a:gd name="T21" fmla="*/ 1 h 40"/>
                  <a:gd name="T22" fmla="*/ 1 w 90"/>
                  <a:gd name="T23" fmla="*/ 1 h 40"/>
                  <a:gd name="T24" fmla="*/ 1 w 90"/>
                  <a:gd name="T25" fmla="*/ 1 h 40"/>
                  <a:gd name="T26" fmla="*/ 1 w 90"/>
                  <a:gd name="T27" fmla="*/ 1 h 40"/>
                  <a:gd name="T28" fmla="*/ 1 w 90"/>
                  <a:gd name="T29" fmla="*/ 1 h 40"/>
                  <a:gd name="T30" fmla="*/ 1 w 90"/>
                  <a:gd name="T31" fmla="*/ 1 h 40"/>
                  <a:gd name="T32" fmla="*/ 1 w 90"/>
                  <a:gd name="T33" fmla="*/ 1 h 40"/>
                  <a:gd name="T34" fmla="*/ 1 w 90"/>
                  <a:gd name="T35" fmla="*/ 1 h 40"/>
                  <a:gd name="T36" fmla="*/ 1 w 90"/>
                  <a:gd name="T37" fmla="*/ 1 h 40"/>
                  <a:gd name="T38" fmla="*/ 1 w 90"/>
                  <a:gd name="T39" fmla="*/ 1 h 40"/>
                  <a:gd name="T40" fmla="*/ 1 w 90"/>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0"/>
                  <a:gd name="T64" fmla="*/ 0 h 40"/>
                  <a:gd name="T65" fmla="*/ 90 w 90"/>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0" h="40">
                    <a:moveTo>
                      <a:pt x="90" y="0"/>
                    </a:moveTo>
                    <a:lnTo>
                      <a:pt x="90" y="0"/>
                    </a:lnTo>
                    <a:lnTo>
                      <a:pt x="72" y="0"/>
                    </a:lnTo>
                    <a:lnTo>
                      <a:pt x="54" y="3"/>
                    </a:lnTo>
                    <a:lnTo>
                      <a:pt x="39" y="6"/>
                    </a:lnTo>
                    <a:lnTo>
                      <a:pt x="26" y="9"/>
                    </a:lnTo>
                    <a:lnTo>
                      <a:pt x="15" y="15"/>
                    </a:lnTo>
                    <a:lnTo>
                      <a:pt x="9" y="17"/>
                    </a:lnTo>
                    <a:lnTo>
                      <a:pt x="3" y="20"/>
                    </a:lnTo>
                    <a:lnTo>
                      <a:pt x="0" y="22"/>
                    </a:lnTo>
                    <a:lnTo>
                      <a:pt x="12" y="40"/>
                    </a:lnTo>
                    <a:lnTo>
                      <a:pt x="12" y="39"/>
                    </a:lnTo>
                    <a:lnTo>
                      <a:pt x="15" y="39"/>
                    </a:lnTo>
                    <a:lnTo>
                      <a:pt x="25" y="34"/>
                    </a:lnTo>
                    <a:lnTo>
                      <a:pt x="33" y="31"/>
                    </a:lnTo>
                    <a:lnTo>
                      <a:pt x="45" y="28"/>
                    </a:lnTo>
                    <a:lnTo>
                      <a:pt x="58" y="25"/>
                    </a:lnTo>
                    <a:lnTo>
                      <a:pt x="75" y="22"/>
                    </a:lnTo>
                    <a:lnTo>
                      <a:pt x="90" y="22"/>
                    </a:lnTo>
                    <a:lnTo>
                      <a:pt x="90" y="0"/>
                    </a:lnTo>
                    <a:close/>
                  </a:path>
                </a:pathLst>
              </a:custGeom>
              <a:solidFill>
                <a:srgbClr val="000000"/>
              </a:solidFill>
              <a:ln w="9525">
                <a:noFill/>
                <a:round/>
                <a:headEnd/>
                <a:tailEnd/>
              </a:ln>
            </p:spPr>
            <p:txBody>
              <a:bodyPr/>
              <a:lstStyle/>
              <a:p>
                <a:endParaRPr lang="en-US"/>
              </a:p>
            </p:txBody>
          </p:sp>
          <p:sp>
            <p:nvSpPr>
              <p:cNvPr id="28727" name="Freeform 17"/>
              <p:cNvSpPr>
                <a:spLocks/>
              </p:cNvSpPr>
              <p:nvPr/>
            </p:nvSpPr>
            <p:spPr bwMode="auto">
              <a:xfrm>
                <a:off x="2000" y="3817"/>
                <a:ext cx="77" cy="11"/>
              </a:xfrm>
              <a:custGeom>
                <a:avLst/>
                <a:gdLst>
                  <a:gd name="T0" fmla="*/ 1 w 154"/>
                  <a:gd name="T1" fmla="*/ 1 h 22"/>
                  <a:gd name="T2" fmla="*/ 1 w 154"/>
                  <a:gd name="T3" fmla="*/ 0 h 22"/>
                  <a:gd name="T4" fmla="*/ 1 w 154"/>
                  <a:gd name="T5" fmla="*/ 0 h 22"/>
                  <a:gd name="T6" fmla="*/ 1 w 154"/>
                  <a:gd name="T7" fmla="*/ 0 h 22"/>
                  <a:gd name="T8" fmla="*/ 1 w 154"/>
                  <a:gd name="T9" fmla="*/ 0 h 22"/>
                  <a:gd name="T10" fmla="*/ 1 w 154"/>
                  <a:gd name="T11" fmla="*/ 0 h 22"/>
                  <a:gd name="T12" fmla="*/ 1 w 154"/>
                  <a:gd name="T13" fmla="*/ 0 h 22"/>
                  <a:gd name="T14" fmla="*/ 1 w 154"/>
                  <a:gd name="T15" fmla="*/ 0 h 22"/>
                  <a:gd name="T16" fmla="*/ 1 w 154"/>
                  <a:gd name="T17" fmla="*/ 0 h 22"/>
                  <a:gd name="T18" fmla="*/ 0 w 154"/>
                  <a:gd name="T19" fmla="*/ 0 h 22"/>
                  <a:gd name="T20" fmla="*/ 0 w 154"/>
                  <a:gd name="T21" fmla="*/ 1 h 22"/>
                  <a:gd name="T22" fmla="*/ 1 w 154"/>
                  <a:gd name="T23" fmla="*/ 1 h 22"/>
                  <a:gd name="T24" fmla="*/ 1 w 154"/>
                  <a:gd name="T25" fmla="*/ 1 h 22"/>
                  <a:gd name="T26" fmla="*/ 1 w 154"/>
                  <a:gd name="T27" fmla="*/ 1 h 22"/>
                  <a:gd name="T28" fmla="*/ 1 w 154"/>
                  <a:gd name="T29" fmla="*/ 1 h 22"/>
                  <a:gd name="T30" fmla="*/ 1 w 154"/>
                  <a:gd name="T31" fmla="*/ 1 h 22"/>
                  <a:gd name="T32" fmla="*/ 1 w 154"/>
                  <a:gd name="T33" fmla="*/ 1 h 22"/>
                  <a:gd name="T34" fmla="*/ 1 w 154"/>
                  <a:gd name="T35" fmla="*/ 1 h 22"/>
                  <a:gd name="T36" fmla="*/ 1 w 154"/>
                  <a:gd name="T37" fmla="*/ 1 h 22"/>
                  <a:gd name="T38" fmla="*/ 1 w 154"/>
                  <a:gd name="T39" fmla="*/ 1 h 22"/>
                  <a:gd name="T40" fmla="*/ 1 w 154"/>
                  <a:gd name="T41" fmla="*/ 1 h 22"/>
                  <a:gd name="T42" fmla="*/ 1 w 154"/>
                  <a:gd name="T43" fmla="*/ 1 h 22"/>
                  <a:gd name="T44" fmla="*/ 1 w 154"/>
                  <a:gd name="T45" fmla="*/ 1 h 22"/>
                  <a:gd name="T46" fmla="*/ 1 w 154"/>
                  <a:gd name="T47" fmla="*/ 1 h 22"/>
                  <a:gd name="T48" fmla="*/ 1 w 154"/>
                  <a:gd name="T49" fmla="*/ 0 h 22"/>
                  <a:gd name="T50" fmla="*/ 1 w 154"/>
                  <a:gd name="T51" fmla="*/ 1 h 2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22"/>
                  <a:gd name="T80" fmla="*/ 154 w 154"/>
                  <a:gd name="T81" fmla="*/ 22 h 2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22">
                    <a:moveTo>
                      <a:pt x="154" y="11"/>
                    </a:moveTo>
                    <a:lnTo>
                      <a:pt x="143" y="0"/>
                    </a:lnTo>
                    <a:lnTo>
                      <a:pt x="138" y="0"/>
                    </a:lnTo>
                    <a:lnTo>
                      <a:pt x="127" y="0"/>
                    </a:lnTo>
                    <a:lnTo>
                      <a:pt x="112" y="0"/>
                    </a:lnTo>
                    <a:lnTo>
                      <a:pt x="91" y="0"/>
                    </a:lnTo>
                    <a:lnTo>
                      <a:pt x="68" y="0"/>
                    </a:lnTo>
                    <a:lnTo>
                      <a:pt x="44" y="0"/>
                    </a:lnTo>
                    <a:lnTo>
                      <a:pt x="21" y="0"/>
                    </a:lnTo>
                    <a:lnTo>
                      <a:pt x="0" y="0"/>
                    </a:lnTo>
                    <a:lnTo>
                      <a:pt x="0" y="22"/>
                    </a:lnTo>
                    <a:lnTo>
                      <a:pt x="21" y="22"/>
                    </a:lnTo>
                    <a:lnTo>
                      <a:pt x="44" y="22"/>
                    </a:lnTo>
                    <a:lnTo>
                      <a:pt x="68" y="22"/>
                    </a:lnTo>
                    <a:lnTo>
                      <a:pt x="91" y="22"/>
                    </a:lnTo>
                    <a:lnTo>
                      <a:pt x="112" y="22"/>
                    </a:lnTo>
                    <a:lnTo>
                      <a:pt x="127" y="22"/>
                    </a:lnTo>
                    <a:lnTo>
                      <a:pt x="138" y="22"/>
                    </a:lnTo>
                    <a:lnTo>
                      <a:pt x="143" y="22"/>
                    </a:lnTo>
                    <a:lnTo>
                      <a:pt x="132" y="11"/>
                    </a:lnTo>
                    <a:lnTo>
                      <a:pt x="143" y="22"/>
                    </a:lnTo>
                    <a:lnTo>
                      <a:pt x="151" y="18"/>
                    </a:lnTo>
                    <a:lnTo>
                      <a:pt x="154" y="11"/>
                    </a:lnTo>
                    <a:lnTo>
                      <a:pt x="151" y="3"/>
                    </a:lnTo>
                    <a:lnTo>
                      <a:pt x="143" y="0"/>
                    </a:lnTo>
                    <a:lnTo>
                      <a:pt x="154" y="11"/>
                    </a:lnTo>
                    <a:close/>
                  </a:path>
                </a:pathLst>
              </a:custGeom>
              <a:solidFill>
                <a:srgbClr val="000000"/>
              </a:solidFill>
              <a:ln w="9525">
                <a:noFill/>
                <a:round/>
                <a:headEnd/>
                <a:tailEnd/>
              </a:ln>
            </p:spPr>
            <p:txBody>
              <a:bodyPr/>
              <a:lstStyle/>
              <a:p>
                <a:endParaRPr lang="en-US"/>
              </a:p>
            </p:txBody>
          </p:sp>
          <p:sp>
            <p:nvSpPr>
              <p:cNvPr id="28728" name="Freeform 18"/>
              <p:cNvSpPr>
                <a:spLocks/>
              </p:cNvSpPr>
              <p:nvPr/>
            </p:nvSpPr>
            <p:spPr bwMode="auto">
              <a:xfrm>
                <a:off x="2036" y="3731"/>
                <a:ext cx="42" cy="93"/>
              </a:xfrm>
              <a:custGeom>
                <a:avLst/>
                <a:gdLst>
                  <a:gd name="T0" fmla="*/ 1 w 82"/>
                  <a:gd name="T1" fmla="*/ 1 h 186"/>
                  <a:gd name="T2" fmla="*/ 1 w 82"/>
                  <a:gd name="T3" fmla="*/ 1 h 186"/>
                  <a:gd name="T4" fmla="*/ 1 w 82"/>
                  <a:gd name="T5" fmla="*/ 1 h 186"/>
                  <a:gd name="T6" fmla="*/ 1 w 82"/>
                  <a:gd name="T7" fmla="*/ 1 h 186"/>
                  <a:gd name="T8" fmla="*/ 1 w 82"/>
                  <a:gd name="T9" fmla="*/ 1 h 186"/>
                  <a:gd name="T10" fmla="*/ 1 w 82"/>
                  <a:gd name="T11" fmla="*/ 1 h 186"/>
                  <a:gd name="T12" fmla="*/ 1 w 82"/>
                  <a:gd name="T13" fmla="*/ 1 h 186"/>
                  <a:gd name="T14" fmla="*/ 1 w 82"/>
                  <a:gd name="T15" fmla="*/ 1 h 186"/>
                  <a:gd name="T16" fmla="*/ 1 w 82"/>
                  <a:gd name="T17" fmla="*/ 1 h 186"/>
                  <a:gd name="T18" fmla="*/ 1 w 82"/>
                  <a:gd name="T19" fmla="*/ 1 h 186"/>
                  <a:gd name="T20" fmla="*/ 1 w 82"/>
                  <a:gd name="T21" fmla="*/ 1 h 186"/>
                  <a:gd name="T22" fmla="*/ 1 w 82"/>
                  <a:gd name="T23" fmla="*/ 1 h 186"/>
                  <a:gd name="T24" fmla="*/ 1 w 82"/>
                  <a:gd name="T25" fmla="*/ 1 h 186"/>
                  <a:gd name="T26" fmla="*/ 1 w 82"/>
                  <a:gd name="T27" fmla="*/ 1 h 186"/>
                  <a:gd name="T28" fmla="*/ 1 w 82"/>
                  <a:gd name="T29" fmla="*/ 1 h 186"/>
                  <a:gd name="T30" fmla="*/ 1 w 82"/>
                  <a:gd name="T31" fmla="*/ 1 h 186"/>
                  <a:gd name="T32" fmla="*/ 1 w 82"/>
                  <a:gd name="T33" fmla="*/ 1 h 186"/>
                  <a:gd name="T34" fmla="*/ 1 w 82"/>
                  <a:gd name="T35" fmla="*/ 1 h 186"/>
                  <a:gd name="T36" fmla="*/ 1 w 82"/>
                  <a:gd name="T37" fmla="*/ 1 h 186"/>
                  <a:gd name="T38" fmla="*/ 1 w 82"/>
                  <a:gd name="T39" fmla="*/ 1 h 186"/>
                  <a:gd name="T40" fmla="*/ 1 w 82"/>
                  <a:gd name="T41" fmla="*/ 1 h 186"/>
                  <a:gd name="T42" fmla="*/ 1 w 82"/>
                  <a:gd name="T43" fmla="*/ 1 h 186"/>
                  <a:gd name="T44" fmla="*/ 1 w 82"/>
                  <a:gd name="T45" fmla="*/ 1 h 186"/>
                  <a:gd name="T46" fmla="*/ 1 w 82"/>
                  <a:gd name="T47" fmla="*/ 1 h 186"/>
                  <a:gd name="T48" fmla="*/ 1 w 82"/>
                  <a:gd name="T49" fmla="*/ 1 h 186"/>
                  <a:gd name="T50" fmla="*/ 1 w 82"/>
                  <a:gd name="T51" fmla="*/ 1 h 186"/>
                  <a:gd name="T52" fmla="*/ 1 w 82"/>
                  <a:gd name="T53" fmla="*/ 1 h 186"/>
                  <a:gd name="T54" fmla="*/ 1 w 82"/>
                  <a:gd name="T55" fmla="*/ 1 h 186"/>
                  <a:gd name="T56" fmla="*/ 1 w 82"/>
                  <a:gd name="T57" fmla="*/ 1 h 186"/>
                  <a:gd name="T58" fmla="*/ 1 w 82"/>
                  <a:gd name="T59" fmla="*/ 1 h 186"/>
                  <a:gd name="T60" fmla="*/ 0 w 82"/>
                  <a:gd name="T61" fmla="*/ 1 h 186"/>
                  <a:gd name="T62" fmla="*/ 0 w 82"/>
                  <a:gd name="T63" fmla="*/ 1 h 186"/>
                  <a:gd name="T64" fmla="*/ 0 w 82"/>
                  <a:gd name="T65" fmla="*/ 0 h 186"/>
                  <a:gd name="T66" fmla="*/ 1 w 82"/>
                  <a:gd name="T67" fmla="*/ 1 h 18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2"/>
                  <a:gd name="T103" fmla="*/ 0 h 186"/>
                  <a:gd name="T104" fmla="*/ 82 w 82"/>
                  <a:gd name="T105" fmla="*/ 186 h 18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2" h="186">
                    <a:moveTo>
                      <a:pt x="82" y="22"/>
                    </a:moveTo>
                    <a:lnTo>
                      <a:pt x="82" y="23"/>
                    </a:lnTo>
                    <a:lnTo>
                      <a:pt x="81" y="29"/>
                    </a:lnTo>
                    <a:lnTo>
                      <a:pt x="79" y="37"/>
                    </a:lnTo>
                    <a:lnTo>
                      <a:pt x="78" y="48"/>
                    </a:lnTo>
                    <a:lnTo>
                      <a:pt x="76" y="61"/>
                    </a:lnTo>
                    <a:lnTo>
                      <a:pt x="75" y="75"/>
                    </a:lnTo>
                    <a:lnTo>
                      <a:pt x="75" y="90"/>
                    </a:lnTo>
                    <a:lnTo>
                      <a:pt x="75" y="106"/>
                    </a:lnTo>
                    <a:lnTo>
                      <a:pt x="75" y="122"/>
                    </a:lnTo>
                    <a:lnTo>
                      <a:pt x="76" y="136"/>
                    </a:lnTo>
                    <a:lnTo>
                      <a:pt x="76" y="148"/>
                    </a:lnTo>
                    <a:lnTo>
                      <a:pt x="76" y="159"/>
                    </a:lnTo>
                    <a:lnTo>
                      <a:pt x="78" y="169"/>
                    </a:lnTo>
                    <a:lnTo>
                      <a:pt x="78" y="175"/>
                    </a:lnTo>
                    <a:lnTo>
                      <a:pt x="78" y="180"/>
                    </a:lnTo>
                    <a:lnTo>
                      <a:pt x="78" y="181"/>
                    </a:lnTo>
                    <a:lnTo>
                      <a:pt x="76" y="181"/>
                    </a:lnTo>
                    <a:lnTo>
                      <a:pt x="70" y="183"/>
                    </a:lnTo>
                    <a:lnTo>
                      <a:pt x="62" y="183"/>
                    </a:lnTo>
                    <a:lnTo>
                      <a:pt x="53" y="184"/>
                    </a:lnTo>
                    <a:lnTo>
                      <a:pt x="43" y="186"/>
                    </a:lnTo>
                    <a:lnTo>
                      <a:pt x="32" y="186"/>
                    </a:lnTo>
                    <a:lnTo>
                      <a:pt x="25" y="186"/>
                    </a:lnTo>
                    <a:lnTo>
                      <a:pt x="17" y="184"/>
                    </a:lnTo>
                    <a:lnTo>
                      <a:pt x="10" y="175"/>
                    </a:lnTo>
                    <a:lnTo>
                      <a:pt x="7" y="153"/>
                    </a:lnTo>
                    <a:lnTo>
                      <a:pt x="4" y="123"/>
                    </a:lnTo>
                    <a:lnTo>
                      <a:pt x="1" y="90"/>
                    </a:lnTo>
                    <a:lnTo>
                      <a:pt x="1" y="58"/>
                    </a:lnTo>
                    <a:lnTo>
                      <a:pt x="0" y="28"/>
                    </a:lnTo>
                    <a:lnTo>
                      <a:pt x="0" y="7"/>
                    </a:lnTo>
                    <a:lnTo>
                      <a:pt x="0" y="0"/>
                    </a:lnTo>
                    <a:lnTo>
                      <a:pt x="82" y="22"/>
                    </a:lnTo>
                    <a:close/>
                  </a:path>
                </a:pathLst>
              </a:custGeom>
              <a:solidFill>
                <a:srgbClr val="00FFB2"/>
              </a:solidFill>
              <a:ln w="9525">
                <a:noFill/>
                <a:round/>
                <a:headEnd/>
                <a:tailEnd/>
              </a:ln>
            </p:spPr>
            <p:txBody>
              <a:bodyPr/>
              <a:lstStyle/>
              <a:p>
                <a:endParaRPr lang="en-US"/>
              </a:p>
            </p:txBody>
          </p:sp>
          <p:sp>
            <p:nvSpPr>
              <p:cNvPr id="28729" name="Freeform 19"/>
              <p:cNvSpPr>
                <a:spLocks/>
              </p:cNvSpPr>
              <p:nvPr/>
            </p:nvSpPr>
            <p:spPr bwMode="auto">
              <a:xfrm>
                <a:off x="2068" y="3741"/>
                <a:ext cx="15" cy="44"/>
              </a:xfrm>
              <a:custGeom>
                <a:avLst/>
                <a:gdLst>
                  <a:gd name="T0" fmla="*/ 1 w 29"/>
                  <a:gd name="T1" fmla="*/ 1 h 88"/>
                  <a:gd name="T2" fmla="*/ 1 w 29"/>
                  <a:gd name="T3" fmla="*/ 1 h 88"/>
                  <a:gd name="T4" fmla="*/ 1 w 29"/>
                  <a:gd name="T5" fmla="*/ 1 h 88"/>
                  <a:gd name="T6" fmla="*/ 1 w 29"/>
                  <a:gd name="T7" fmla="*/ 1 h 88"/>
                  <a:gd name="T8" fmla="*/ 1 w 29"/>
                  <a:gd name="T9" fmla="*/ 1 h 88"/>
                  <a:gd name="T10" fmla="*/ 1 w 29"/>
                  <a:gd name="T11" fmla="*/ 1 h 88"/>
                  <a:gd name="T12" fmla="*/ 1 w 29"/>
                  <a:gd name="T13" fmla="*/ 1 h 88"/>
                  <a:gd name="T14" fmla="*/ 1 w 29"/>
                  <a:gd name="T15" fmla="*/ 1 h 88"/>
                  <a:gd name="T16" fmla="*/ 1 w 29"/>
                  <a:gd name="T17" fmla="*/ 1 h 88"/>
                  <a:gd name="T18" fmla="*/ 1 w 29"/>
                  <a:gd name="T19" fmla="*/ 1 h 88"/>
                  <a:gd name="T20" fmla="*/ 1 w 29"/>
                  <a:gd name="T21" fmla="*/ 0 h 88"/>
                  <a:gd name="T22" fmla="*/ 1 w 29"/>
                  <a:gd name="T23" fmla="*/ 1 h 88"/>
                  <a:gd name="T24" fmla="*/ 1 w 29"/>
                  <a:gd name="T25" fmla="*/ 1 h 88"/>
                  <a:gd name="T26" fmla="*/ 1 w 29"/>
                  <a:gd name="T27" fmla="*/ 1 h 88"/>
                  <a:gd name="T28" fmla="*/ 1 w 29"/>
                  <a:gd name="T29" fmla="*/ 1 h 88"/>
                  <a:gd name="T30" fmla="*/ 1 w 29"/>
                  <a:gd name="T31" fmla="*/ 1 h 88"/>
                  <a:gd name="T32" fmla="*/ 0 w 29"/>
                  <a:gd name="T33" fmla="*/ 1 h 88"/>
                  <a:gd name="T34" fmla="*/ 0 w 29"/>
                  <a:gd name="T35" fmla="*/ 1 h 88"/>
                  <a:gd name="T36" fmla="*/ 0 w 29"/>
                  <a:gd name="T37" fmla="*/ 1 h 88"/>
                  <a:gd name="T38" fmla="*/ 0 w 29"/>
                  <a:gd name="T39" fmla="*/ 1 h 88"/>
                  <a:gd name="T40" fmla="*/ 1 w 29"/>
                  <a:gd name="T41" fmla="*/ 1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9"/>
                  <a:gd name="T64" fmla="*/ 0 h 88"/>
                  <a:gd name="T65" fmla="*/ 29 w 29"/>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9" h="88">
                    <a:moveTo>
                      <a:pt x="22" y="88"/>
                    </a:moveTo>
                    <a:lnTo>
                      <a:pt x="22" y="88"/>
                    </a:lnTo>
                    <a:lnTo>
                      <a:pt x="22" y="72"/>
                    </a:lnTo>
                    <a:lnTo>
                      <a:pt x="22" y="57"/>
                    </a:lnTo>
                    <a:lnTo>
                      <a:pt x="23" y="44"/>
                    </a:lnTo>
                    <a:lnTo>
                      <a:pt x="25" y="32"/>
                    </a:lnTo>
                    <a:lnTo>
                      <a:pt x="26" y="21"/>
                    </a:lnTo>
                    <a:lnTo>
                      <a:pt x="28" y="14"/>
                    </a:lnTo>
                    <a:lnTo>
                      <a:pt x="29" y="7"/>
                    </a:lnTo>
                    <a:lnTo>
                      <a:pt x="8" y="0"/>
                    </a:lnTo>
                    <a:lnTo>
                      <a:pt x="8" y="4"/>
                    </a:lnTo>
                    <a:lnTo>
                      <a:pt x="6" y="8"/>
                    </a:lnTo>
                    <a:lnTo>
                      <a:pt x="4" y="18"/>
                    </a:lnTo>
                    <a:lnTo>
                      <a:pt x="3" y="29"/>
                    </a:lnTo>
                    <a:lnTo>
                      <a:pt x="1" y="41"/>
                    </a:lnTo>
                    <a:lnTo>
                      <a:pt x="0" y="57"/>
                    </a:lnTo>
                    <a:lnTo>
                      <a:pt x="0" y="72"/>
                    </a:lnTo>
                    <a:lnTo>
                      <a:pt x="0" y="88"/>
                    </a:lnTo>
                    <a:lnTo>
                      <a:pt x="22" y="88"/>
                    </a:lnTo>
                    <a:close/>
                  </a:path>
                </a:pathLst>
              </a:custGeom>
              <a:solidFill>
                <a:srgbClr val="000000"/>
              </a:solidFill>
              <a:ln w="9525">
                <a:noFill/>
                <a:round/>
                <a:headEnd/>
                <a:tailEnd/>
              </a:ln>
            </p:spPr>
            <p:txBody>
              <a:bodyPr/>
              <a:lstStyle/>
              <a:p>
                <a:endParaRPr lang="en-US"/>
              </a:p>
            </p:txBody>
          </p:sp>
          <p:sp>
            <p:nvSpPr>
              <p:cNvPr id="28730" name="Freeform 20"/>
              <p:cNvSpPr>
                <a:spLocks/>
              </p:cNvSpPr>
              <p:nvPr/>
            </p:nvSpPr>
            <p:spPr bwMode="auto">
              <a:xfrm>
                <a:off x="2068" y="3785"/>
                <a:ext cx="13" cy="43"/>
              </a:xfrm>
              <a:custGeom>
                <a:avLst/>
                <a:gdLst>
                  <a:gd name="T0" fmla="*/ 1 w 25"/>
                  <a:gd name="T1" fmla="*/ 1 h 86"/>
                  <a:gd name="T2" fmla="*/ 1 w 25"/>
                  <a:gd name="T3" fmla="*/ 1 h 86"/>
                  <a:gd name="T4" fmla="*/ 1 w 25"/>
                  <a:gd name="T5" fmla="*/ 1 h 86"/>
                  <a:gd name="T6" fmla="*/ 1 w 25"/>
                  <a:gd name="T7" fmla="*/ 1 h 86"/>
                  <a:gd name="T8" fmla="*/ 1 w 25"/>
                  <a:gd name="T9" fmla="*/ 1 h 86"/>
                  <a:gd name="T10" fmla="*/ 1 w 25"/>
                  <a:gd name="T11" fmla="*/ 1 h 86"/>
                  <a:gd name="T12" fmla="*/ 1 w 25"/>
                  <a:gd name="T13" fmla="*/ 1 h 86"/>
                  <a:gd name="T14" fmla="*/ 1 w 25"/>
                  <a:gd name="T15" fmla="*/ 1 h 86"/>
                  <a:gd name="T16" fmla="*/ 1 w 25"/>
                  <a:gd name="T17" fmla="*/ 1 h 86"/>
                  <a:gd name="T18" fmla="*/ 1 w 25"/>
                  <a:gd name="T19" fmla="*/ 0 h 86"/>
                  <a:gd name="T20" fmla="*/ 0 w 25"/>
                  <a:gd name="T21" fmla="*/ 0 h 86"/>
                  <a:gd name="T22" fmla="*/ 0 w 25"/>
                  <a:gd name="T23" fmla="*/ 1 h 86"/>
                  <a:gd name="T24" fmla="*/ 1 w 25"/>
                  <a:gd name="T25" fmla="*/ 1 h 86"/>
                  <a:gd name="T26" fmla="*/ 1 w 25"/>
                  <a:gd name="T27" fmla="*/ 1 h 86"/>
                  <a:gd name="T28" fmla="*/ 1 w 25"/>
                  <a:gd name="T29" fmla="*/ 1 h 86"/>
                  <a:gd name="T30" fmla="*/ 1 w 25"/>
                  <a:gd name="T31" fmla="*/ 1 h 86"/>
                  <a:gd name="T32" fmla="*/ 1 w 25"/>
                  <a:gd name="T33" fmla="*/ 1 h 86"/>
                  <a:gd name="T34" fmla="*/ 1 w 25"/>
                  <a:gd name="T35" fmla="*/ 1 h 86"/>
                  <a:gd name="T36" fmla="*/ 1 w 25"/>
                  <a:gd name="T37" fmla="*/ 1 h 86"/>
                  <a:gd name="T38" fmla="*/ 1 w 25"/>
                  <a:gd name="T39" fmla="*/ 1 h 86"/>
                  <a:gd name="T40" fmla="*/ 1 w 25"/>
                  <a:gd name="T41" fmla="*/ 1 h 86"/>
                  <a:gd name="T42" fmla="*/ 1 w 25"/>
                  <a:gd name="T43" fmla="*/ 1 h 86"/>
                  <a:gd name="T44" fmla="*/ 1 w 25"/>
                  <a:gd name="T45" fmla="*/ 1 h 86"/>
                  <a:gd name="T46" fmla="*/ 1 w 25"/>
                  <a:gd name="T47" fmla="*/ 1 h 86"/>
                  <a:gd name="T48" fmla="*/ 1 w 25"/>
                  <a:gd name="T49" fmla="*/ 1 h 86"/>
                  <a:gd name="T50" fmla="*/ 1 w 25"/>
                  <a:gd name="T51" fmla="*/ 1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
                  <a:gd name="T79" fmla="*/ 0 h 86"/>
                  <a:gd name="T80" fmla="*/ 25 w 25"/>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 h="86">
                    <a:moveTo>
                      <a:pt x="15" y="86"/>
                    </a:moveTo>
                    <a:lnTo>
                      <a:pt x="25" y="75"/>
                    </a:lnTo>
                    <a:lnTo>
                      <a:pt x="25" y="74"/>
                    </a:lnTo>
                    <a:lnTo>
                      <a:pt x="25" y="69"/>
                    </a:lnTo>
                    <a:lnTo>
                      <a:pt x="25" y="61"/>
                    </a:lnTo>
                    <a:lnTo>
                      <a:pt x="23" y="52"/>
                    </a:lnTo>
                    <a:lnTo>
                      <a:pt x="23" y="42"/>
                    </a:lnTo>
                    <a:lnTo>
                      <a:pt x="23" y="30"/>
                    </a:lnTo>
                    <a:lnTo>
                      <a:pt x="22" y="16"/>
                    </a:lnTo>
                    <a:lnTo>
                      <a:pt x="22" y="0"/>
                    </a:lnTo>
                    <a:lnTo>
                      <a:pt x="0" y="0"/>
                    </a:lnTo>
                    <a:lnTo>
                      <a:pt x="0" y="16"/>
                    </a:lnTo>
                    <a:lnTo>
                      <a:pt x="1" y="30"/>
                    </a:lnTo>
                    <a:lnTo>
                      <a:pt x="1" y="42"/>
                    </a:lnTo>
                    <a:lnTo>
                      <a:pt x="1" y="55"/>
                    </a:lnTo>
                    <a:lnTo>
                      <a:pt x="3" y="64"/>
                    </a:lnTo>
                    <a:lnTo>
                      <a:pt x="3" y="69"/>
                    </a:lnTo>
                    <a:lnTo>
                      <a:pt x="3" y="74"/>
                    </a:lnTo>
                    <a:lnTo>
                      <a:pt x="3" y="75"/>
                    </a:lnTo>
                    <a:lnTo>
                      <a:pt x="12" y="64"/>
                    </a:lnTo>
                    <a:lnTo>
                      <a:pt x="3" y="75"/>
                    </a:lnTo>
                    <a:lnTo>
                      <a:pt x="6" y="83"/>
                    </a:lnTo>
                    <a:lnTo>
                      <a:pt x="14" y="86"/>
                    </a:lnTo>
                    <a:lnTo>
                      <a:pt x="22" y="83"/>
                    </a:lnTo>
                    <a:lnTo>
                      <a:pt x="25" y="75"/>
                    </a:lnTo>
                    <a:lnTo>
                      <a:pt x="15" y="86"/>
                    </a:lnTo>
                    <a:close/>
                  </a:path>
                </a:pathLst>
              </a:custGeom>
              <a:solidFill>
                <a:srgbClr val="000000"/>
              </a:solidFill>
              <a:ln w="9525">
                <a:noFill/>
                <a:round/>
                <a:headEnd/>
                <a:tailEnd/>
              </a:ln>
            </p:spPr>
            <p:txBody>
              <a:bodyPr/>
              <a:lstStyle/>
              <a:p>
                <a:endParaRPr lang="en-US"/>
              </a:p>
            </p:txBody>
          </p:sp>
          <p:sp>
            <p:nvSpPr>
              <p:cNvPr id="28731" name="Freeform 21"/>
              <p:cNvSpPr>
                <a:spLocks/>
              </p:cNvSpPr>
              <p:nvPr/>
            </p:nvSpPr>
            <p:spPr bwMode="auto">
              <a:xfrm>
                <a:off x="2043" y="3817"/>
                <a:ext cx="33" cy="13"/>
              </a:xfrm>
              <a:custGeom>
                <a:avLst/>
                <a:gdLst>
                  <a:gd name="T0" fmla="*/ 0 w 65"/>
                  <a:gd name="T1" fmla="*/ 0 h 27"/>
                  <a:gd name="T2" fmla="*/ 0 w 65"/>
                  <a:gd name="T3" fmla="*/ 0 h 27"/>
                  <a:gd name="T4" fmla="*/ 1 w 65"/>
                  <a:gd name="T5" fmla="*/ 0 h 27"/>
                  <a:gd name="T6" fmla="*/ 1 w 65"/>
                  <a:gd name="T7" fmla="*/ 0 h 27"/>
                  <a:gd name="T8" fmla="*/ 1 w 65"/>
                  <a:gd name="T9" fmla="*/ 0 h 27"/>
                  <a:gd name="T10" fmla="*/ 1 w 65"/>
                  <a:gd name="T11" fmla="*/ 0 h 27"/>
                  <a:gd name="T12" fmla="*/ 1 w 65"/>
                  <a:gd name="T13" fmla="*/ 0 h 27"/>
                  <a:gd name="T14" fmla="*/ 1 w 65"/>
                  <a:gd name="T15" fmla="*/ 0 h 27"/>
                  <a:gd name="T16" fmla="*/ 1 w 65"/>
                  <a:gd name="T17" fmla="*/ 0 h 27"/>
                  <a:gd name="T18" fmla="*/ 1 w 65"/>
                  <a:gd name="T19" fmla="*/ 0 h 27"/>
                  <a:gd name="T20" fmla="*/ 1 w 65"/>
                  <a:gd name="T21" fmla="*/ 0 h 27"/>
                  <a:gd name="T22" fmla="*/ 1 w 65"/>
                  <a:gd name="T23" fmla="*/ 0 h 27"/>
                  <a:gd name="T24" fmla="*/ 1 w 65"/>
                  <a:gd name="T25" fmla="*/ 0 h 27"/>
                  <a:gd name="T26" fmla="*/ 1 w 65"/>
                  <a:gd name="T27" fmla="*/ 0 h 27"/>
                  <a:gd name="T28" fmla="*/ 1 w 65"/>
                  <a:gd name="T29" fmla="*/ 0 h 27"/>
                  <a:gd name="T30" fmla="*/ 1 w 65"/>
                  <a:gd name="T31" fmla="*/ 0 h 27"/>
                  <a:gd name="T32" fmla="*/ 1 w 65"/>
                  <a:gd name="T33" fmla="*/ 0 h 27"/>
                  <a:gd name="T34" fmla="*/ 1 w 65"/>
                  <a:gd name="T35" fmla="*/ 0 h 27"/>
                  <a:gd name="T36" fmla="*/ 1 w 65"/>
                  <a:gd name="T37" fmla="*/ 0 h 27"/>
                  <a:gd name="T38" fmla="*/ 1 w 65"/>
                  <a:gd name="T39" fmla="*/ 0 h 27"/>
                  <a:gd name="T40" fmla="*/ 0 w 65"/>
                  <a:gd name="T41" fmla="*/ 0 h 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
                  <a:gd name="T64" fmla="*/ 0 h 27"/>
                  <a:gd name="T65" fmla="*/ 65 w 65"/>
                  <a:gd name="T66" fmla="*/ 27 h 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 h="27">
                    <a:moveTo>
                      <a:pt x="0" y="25"/>
                    </a:moveTo>
                    <a:lnTo>
                      <a:pt x="0" y="25"/>
                    </a:lnTo>
                    <a:lnTo>
                      <a:pt x="9" y="27"/>
                    </a:lnTo>
                    <a:lnTo>
                      <a:pt x="18" y="27"/>
                    </a:lnTo>
                    <a:lnTo>
                      <a:pt x="31" y="27"/>
                    </a:lnTo>
                    <a:lnTo>
                      <a:pt x="40" y="25"/>
                    </a:lnTo>
                    <a:lnTo>
                      <a:pt x="50" y="24"/>
                    </a:lnTo>
                    <a:lnTo>
                      <a:pt x="58" y="24"/>
                    </a:lnTo>
                    <a:lnTo>
                      <a:pt x="64" y="22"/>
                    </a:lnTo>
                    <a:lnTo>
                      <a:pt x="65" y="22"/>
                    </a:lnTo>
                    <a:lnTo>
                      <a:pt x="62" y="0"/>
                    </a:lnTo>
                    <a:lnTo>
                      <a:pt x="61" y="0"/>
                    </a:lnTo>
                    <a:lnTo>
                      <a:pt x="54" y="2"/>
                    </a:lnTo>
                    <a:lnTo>
                      <a:pt x="47" y="2"/>
                    </a:lnTo>
                    <a:lnTo>
                      <a:pt x="37" y="3"/>
                    </a:lnTo>
                    <a:lnTo>
                      <a:pt x="28" y="5"/>
                    </a:lnTo>
                    <a:lnTo>
                      <a:pt x="18" y="5"/>
                    </a:lnTo>
                    <a:lnTo>
                      <a:pt x="12" y="5"/>
                    </a:lnTo>
                    <a:lnTo>
                      <a:pt x="6" y="3"/>
                    </a:lnTo>
                    <a:lnTo>
                      <a:pt x="0" y="25"/>
                    </a:lnTo>
                    <a:close/>
                  </a:path>
                </a:pathLst>
              </a:custGeom>
              <a:solidFill>
                <a:srgbClr val="000000"/>
              </a:solidFill>
              <a:ln w="9525">
                <a:noFill/>
                <a:round/>
                <a:headEnd/>
                <a:tailEnd/>
              </a:ln>
            </p:spPr>
            <p:txBody>
              <a:bodyPr/>
              <a:lstStyle/>
              <a:p>
                <a:endParaRPr lang="en-US"/>
              </a:p>
            </p:txBody>
          </p:sp>
          <p:sp>
            <p:nvSpPr>
              <p:cNvPr id="28732" name="Freeform 22"/>
              <p:cNvSpPr>
                <a:spLocks/>
              </p:cNvSpPr>
              <p:nvPr/>
            </p:nvSpPr>
            <p:spPr bwMode="auto">
              <a:xfrm>
                <a:off x="2031" y="3726"/>
                <a:ext cx="16" cy="103"/>
              </a:xfrm>
              <a:custGeom>
                <a:avLst/>
                <a:gdLst>
                  <a:gd name="T0" fmla="*/ 1 w 32"/>
                  <a:gd name="T1" fmla="*/ 0 h 206"/>
                  <a:gd name="T2" fmla="*/ 0 w 32"/>
                  <a:gd name="T3" fmla="*/ 1 h 206"/>
                  <a:gd name="T4" fmla="*/ 0 w 32"/>
                  <a:gd name="T5" fmla="*/ 1 h 206"/>
                  <a:gd name="T6" fmla="*/ 0 w 32"/>
                  <a:gd name="T7" fmla="*/ 1 h 206"/>
                  <a:gd name="T8" fmla="*/ 1 w 32"/>
                  <a:gd name="T9" fmla="*/ 1 h 206"/>
                  <a:gd name="T10" fmla="*/ 1 w 32"/>
                  <a:gd name="T11" fmla="*/ 1 h 206"/>
                  <a:gd name="T12" fmla="*/ 1 w 32"/>
                  <a:gd name="T13" fmla="*/ 1 h 206"/>
                  <a:gd name="T14" fmla="*/ 1 w 32"/>
                  <a:gd name="T15" fmla="*/ 1 h 206"/>
                  <a:gd name="T16" fmla="*/ 1 w 32"/>
                  <a:gd name="T17" fmla="*/ 1 h 206"/>
                  <a:gd name="T18" fmla="*/ 1 w 32"/>
                  <a:gd name="T19" fmla="*/ 1 h 206"/>
                  <a:gd name="T20" fmla="*/ 1 w 32"/>
                  <a:gd name="T21" fmla="*/ 1 h 206"/>
                  <a:gd name="T22" fmla="*/ 1 w 32"/>
                  <a:gd name="T23" fmla="*/ 1 h 206"/>
                  <a:gd name="T24" fmla="*/ 1 w 32"/>
                  <a:gd name="T25" fmla="*/ 1 h 206"/>
                  <a:gd name="T26" fmla="*/ 1 w 32"/>
                  <a:gd name="T27" fmla="*/ 1 h 206"/>
                  <a:gd name="T28" fmla="*/ 1 w 32"/>
                  <a:gd name="T29" fmla="*/ 1 h 206"/>
                  <a:gd name="T30" fmla="*/ 1 w 32"/>
                  <a:gd name="T31" fmla="*/ 1 h 206"/>
                  <a:gd name="T32" fmla="*/ 1 w 32"/>
                  <a:gd name="T33" fmla="*/ 1 h 206"/>
                  <a:gd name="T34" fmla="*/ 1 w 32"/>
                  <a:gd name="T35" fmla="*/ 1 h 206"/>
                  <a:gd name="T36" fmla="*/ 1 w 32"/>
                  <a:gd name="T37" fmla="*/ 1 h 206"/>
                  <a:gd name="T38" fmla="*/ 1 w 32"/>
                  <a:gd name="T39" fmla="*/ 1 h 206"/>
                  <a:gd name="T40" fmla="*/ 1 w 32"/>
                  <a:gd name="T41" fmla="*/ 1 h 206"/>
                  <a:gd name="T42" fmla="*/ 1 w 32"/>
                  <a:gd name="T43" fmla="*/ 1 h 206"/>
                  <a:gd name="T44" fmla="*/ 1 w 32"/>
                  <a:gd name="T45" fmla="*/ 0 h 206"/>
                  <a:gd name="T46" fmla="*/ 1 w 32"/>
                  <a:gd name="T47" fmla="*/ 1 h 206"/>
                  <a:gd name="T48" fmla="*/ 0 w 32"/>
                  <a:gd name="T49" fmla="*/ 1 h 206"/>
                  <a:gd name="T50" fmla="*/ 1 w 32"/>
                  <a:gd name="T51" fmla="*/ 0 h 20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
                  <a:gd name="T79" fmla="*/ 0 h 206"/>
                  <a:gd name="T80" fmla="*/ 32 w 32"/>
                  <a:gd name="T81" fmla="*/ 206 h 20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 h="206">
                    <a:moveTo>
                      <a:pt x="14" y="0"/>
                    </a:moveTo>
                    <a:lnTo>
                      <a:pt x="0" y="11"/>
                    </a:lnTo>
                    <a:lnTo>
                      <a:pt x="0" y="18"/>
                    </a:lnTo>
                    <a:lnTo>
                      <a:pt x="0" y="39"/>
                    </a:lnTo>
                    <a:lnTo>
                      <a:pt x="1" y="69"/>
                    </a:lnTo>
                    <a:lnTo>
                      <a:pt x="1" y="101"/>
                    </a:lnTo>
                    <a:lnTo>
                      <a:pt x="4" y="136"/>
                    </a:lnTo>
                    <a:lnTo>
                      <a:pt x="7" y="166"/>
                    </a:lnTo>
                    <a:lnTo>
                      <a:pt x="11" y="189"/>
                    </a:lnTo>
                    <a:lnTo>
                      <a:pt x="25" y="206"/>
                    </a:lnTo>
                    <a:lnTo>
                      <a:pt x="31" y="184"/>
                    </a:lnTo>
                    <a:lnTo>
                      <a:pt x="32" y="183"/>
                    </a:lnTo>
                    <a:lnTo>
                      <a:pt x="29" y="162"/>
                    </a:lnTo>
                    <a:lnTo>
                      <a:pt x="26" y="133"/>
                    </a:lnTo>
                    <a:lnTo>
                      <a:pt x="23" y="101"/>
                    </a:lnTo>
                    <a:lnTo>
                      <a:pt x="23" y="69"/>
                    </a:lnTo>
                    <a:lnTo>
                      <a:pt x="21" y="39"/>
                    </a:lnTo>
                    <a:lnTo>
                      <a:pt x="21" y="18"/>
                    </a:lnTo>
                    <a:lnTo>
                      <a:pt x="21" y="11"/>
                    </a:lnTo>
                    <a:lnTo>
                      <a:pt x="7" y="22"/>
                    </a:lnTo>
                    <a:lnTo>
                      <a:pt x="21" y="11"/>
                    </a:lnTo>
                    <a:lnTo>
                      <a:pt x="18" y="3"/>
                    </a:lnTo>
                    <a:lnTo>
                      <a:pt x="11" y="0"/>
                    </a:lnTo>
                    <a:lnTo>
                      <a:pt x="3" y="3"/>
                    </a:lnTo>
                    <a:lnTo>
                      <a:pt x="0" y="11"/>
                    </a:lnTo>
                    <a:lnTo>
                      <a:pt x="14" y="0"/>
                    </a:lnTo>
                    <a:close/>
                  </a:path>
                </a:pathLst>
              </a:custGeom>
              <a:solidFill>
                <a:srgbClr val="000000"/>
              </a:solidFill>
              <a:ln w="9525">
                <a:noFill/>
                <a:round/>
                <a:headEnd/>
                <a:tailEnd/>
              </a:ln>
            </p:spPr>
            <p:txBody>
              <a:bodyPr/>
              <a:lstStyle/>
              <a:p>
                <a:endParaRPr lang="en-US"/>
              </a:p>
            </p:txBody>
          </p:sp>
          <p:sp>
            <p:nvSpPr>
              <p:cNvPr id="28733" name="Freeform 23"/>
              <p:cNvSpPr>
                <a:spLocks/>
              </p:cNvSpPr>
              <p:nvPr/>
            </p:nvSpPr>
            <p:spPr bwMode="auto">
              <a:xfrm>
                <a:off x="2035" y="3726"/>
                <a:ext cx="48" cy="22"/>
              </a:xfrm>
              <a:custGeom>
                <a:avLst/>
                <a:gdLst>
                  <a:gd name="T0" fmla="*/ 0 w 97"/>
                  <a:gd name="T1" fmla="*/ 1 h 43"/>
                  <a:gd name="T2" fmla="*/ 0 w 97"/>
                  <a:gd name="T3" fmla="*/ 1 h 43"/>
                  <a:gd name="T4" fmla="*/ 0 w 97"/>
                  <a:gd name="T5" fmla="*/ 0 h 43"/>
                  <a:gd name="T6" fmla="*/ 0 w 97"/>
                  <a:gd name="T7" fmla="*/ 1 h 43"/>
                  <a:gd name="T8" fmla="*/ 0 w 97"/>
                  <a:gd name="T9" fmla="*/ 1 h 43"/>
                  <a:gd name="T10" fmla="*/ 0 w 97"/>
                  <a:gd name="T11" fmla="*/ 1 h 43"/>
                  <a:gd name="T12" fmla="*/ 0 w 97"/>
                  <a:gd name="T13" fmla="*/ 1 h 43"/>
                  <a:gd name="T14" fmla="*/ 0 w 97"/>
                  <a:gd name="T15" fmla="*/ 1 h 43"/>
                  <a:gd name="T16" fmla="*/ 0 w 97"/>
                  <a:gd name="T17" fmla="*/ 1 h 43"/>
                  <a:gd name="T18" fmla="*/ 0 w 97"/>
                  <a:gd name="T19" fmla="*/ 1 h 43"/>
                  <a:gd name="T20" fmla="*/ 0 w 97"/>
                  <a:gd name="T21" fmla="*/ 1 h 43"/>
                  <a:gd name="T22" fmla="*/ 0 w 97"/>
                  <a:gd name="T23" fmla="*/ 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7"/>
                  <a:gd name="T37" fmla="*/ 0 h 43"/>
                  <a:gd name="T38" fmla="*/ 97 w 97"/>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7" h="43">
                    <a:moveTo>
                      <a:pt x="97" y="36"/>
                    </a:moveTo>
                    <a:lnTo>
                      <a:pt x="90" y="22"/>
                    </a:lnTo>
                    <a:lnTo>
                      <a:pt x="7" y="0"/>
                    </a:lnTo>
                    <a:lnTo>
                      <a:pt x="0" y="22"/>
                    </a:lnTo>
                    <a:lnTo>
                      <a:pt x="83" y="43"/>
                    </a:lnTo>
                    <a:lnTo>
                      <a:pt x="76" y="29"/>
                    </a:lnTo>
                    <a:lnTo>
                      <a:pt x="83" y="43"/>
                    </a:lnTo>
                    <a:lnTo>
                      <a:pt x="93" y="42"/>
                    </a:lnTo>
                    <a:lnTo>
                      <a:pt x="97" y="34"/>
                    </a:lnTo>
                    <a:lnTo>
                      <a:pt x="96" y="26"/>
                    </a:lnTo>
                    <a:lnTo>
                      <a:pt x="90" y="22"/>
                    </a:lnTo>
                    <a:lnTo>
                      <a:pt x="97" y="36"/>
                    </a:lnTo>
                    <a:close/>
                  </a:path>
                </a:pathLst>
              </a:custGeom>
              <a:solidFill>
                <a:srgbClr val="000000"/>
              </a:solidFill>
              <a:ln w="9525">
                <a:noFill/>
                <a:round/>
                <a:headEnd/>
                <a:tailEnd/>
              </a:ln>
            </p:spPr>
            <p:txBody>
              <a:bodyPr/>
              <a:lstStyle/>
              <a:p>
                <a:endParaRPr lang="en-US"/>
              </a:p>
            </p:txBody>
          </p:sp>
          <p:sp>
            <p:nvSpPr>
              <p:cNvPr id="28734" name="Freeform 24"/>
              <p:cNvSpPr>
                <a:spLocks/>
              </p:cNvSpPr>
              <p:nvPr/>
            </p:nvSpPr>
            <p:spPr bwMode="auto">
              <a:xfrm>
                <a:off x="2099" y="3720"/>
                <a:ext cx="156" cy="50"/>
              </a:xfrm>
              <a:custGeom>
                <a:avLst/>
                <a:gdLst>
                  <a:gd name="T0" fmla="*/ 0 w 311"/>
                  <a:gd name="T1" fmla="*/ 1 h 98"/>
                  <a:gd name="T2" fmla="*/ 0 w 311"/>
                  <a:gd name="T3" fmla="*/ 1 h 98"/>
                  <a:gd name="T4" fmla="*/ 1 w 311"/>
                  <a:gd name="T5" fmla="*/ 1 h 98"/>
                  <a:gd name="T6" fmla="*/ 1 w 311"/>
                  <a:gd name="T7" fmla="*/ 1 h 98"/>
                  <a:gd name="T8" fmla="*/ 1 w 311"/>
                  <a:gd name="T9" fmla="*/ 1 h 98"/>
                  <a:gd name="T10" fmla="*/ 1 w 311"/>
                  <a:gd name="T11" fmla="*/ 1 h 98"/>
                  <a:gd name="T12" fmla="*/ 1 w 311"/>
                  <a:gd name="T13" fmla="*/ 1 h 98"/>
                  <a:gd name="T14" fmla="*/ 1 w 311"/>
                  <a:gd name="T15" fmla="*/ 1 h 98"/>
                  <a:gd name="T16" fmla="*/ 1 w 311"/>
                  <a:gd name="T17" fmla="*/ 1 h 98"/>
                  <a:gd name="T18" fmla="*/ 1 w 311"/>
                  <a:gd name="T19" fmla="*/ 1 h 98"/>
                  <a:gd name="T20" fmla="*/ 1 w 311"/>
                  <a:gd name="T21" fmla="*/ 1 h 98"/>
                  <a:gd name="T22" fmla="*/ 1 w 311"/>
                  <a:gd name="T23" fmla="*/ 1 h 98"/>
                  <a:gd name="T24" fmla="*/ 1 w 311"/>
                  <a:gd name="T25" fmla="*/ 1 h 98"/>
                  <a:gd name="T26" fmla="*/ 1 w 311"/>
                  <a:gd name="T27" fmla="*/ 1 h 98"/>
                  <a:gd name="T28" fmla="*/ 1 w 311"/>
                  <a:gd name="T29" fmla="*/ 1 h 98"/>
                  <a:gd name="T30" fmla="*/ 1 w 311"/>
                  <a:gd name="T31" fmla="*/ 1 h 98"/>
                  <a:gd name="T32" fmla="*/ 1 w 311"/>
                  <a:gd name="T33" fmla="*/ 1 h 98"/>
                  <a:gd name="T34" fmla="*/ 1 w 311"/>
                  <a:gd name="T35" fmla="*/ 1 h 98"/>
                  <a:gd name="T36" fmla="*/ 1 w 311"/>
                  <a:gd name="T37" fmla="*/ 1 h 98"/>
                  <a:gd name="T38" fmla="*/ 1 w 311"/>
                  <a:gd name="T39" fmla="*/ 1 h 98"/>
                  <a:gd name="T40" fmla="*/ 1 w 311"/>
                  <a:gd name="T41" fmla="*/ 1 h 98"/>
                  <a:gd name="T42" fmla="*/ 1 w 311"/>
                  <a:gd name="T43" fmla="*/ 0 h 98"/>
                  <a:gd name="T44" fmla="*/ 0 w 311"/>
                  <a:gd name="T45" fmla="*/ 1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1"/>
                  <a:gd name="T70" fmla="*/ 0 h 98"/>
                  <a:gd name="T71" fmla="*/ 311 w 311"/>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1" h="98">
                    <a:moveTo>
                      <a:pt x="0" y="53"/>
                    </a:moveTo>
                    <a:lnTo>
                      <a:pt x="0" y="65"/>
                    </a:lnTo>
                    <a:lnTo>
                      <a:pt x="3" y="67"/>
                    </a:lnTo>
                    <a:lnTo>
                      <a:pt x="9" y="70"/>
                    </a:lnTo>
                    <a:lnTo>
                      <a:pt x="22" y="76"/>
                    </a:lnTo>
                    <a:lnTo>
                      <a:pt x="39" y="83"/>
                    </a:lnTo>
                    <a:lnTo>
                      <a:pt x="61" y="89"/>
                    </a:lnTo>
                    <a:lnTo>
                      <a:pt x="87" y="94"/>
                    </a:lnTo>
                    <a:lnTo>
                      <a:pt x="119" y="97"/>
                    </a:lnTo>
                    <a:lnTo>
                      <a:pt x="153" y="98"/>
                    </a:lnTo>
                    <a:lnTo>
                      <a:pt x="188" y="95"/>
                    </a:lnTo>
                    <a:lnTo>
                      <a:pt x="219" y="89"/>
                    </a:lnTo>
                    <a:lnTo>
                      <a:pt x="246" y="80"/>
                    </a:lnTo>
                    <a:lnTo>
                      <a:pt x="268" y="67"/>
                    </a:lnTo>
                    <a:lnTo>
                      <a:pt x="285" y="54"/>
                    </a:lnTo>
                    <a:lnTo>
                      <a:pt x="297" y="42"/>
                    </a:lnTo>
                    <a:lnTo>
                      <a:pt x="305" y="33"/>
                    </a:lnTo>
                    <a:lnTo>
                      <a:pt x="310" y="25"/>
                    </a:lnTo>
                    <a:lnTo>
                      <a:pt x="311" y="15"/>
                    </a:lnTo>
                    <a:lnTo>
                      <a:pt x="308" y="8"/>
                    </a:lnTo>
                    <a:lnTo>
                      <a:pt x="304" y="1"/>
                    </a:lnTo>
                    <a:lnTo>
                      <a:pt x="300" y="0"/>
                    </a:lnTo>
                    <a:lnTo>
                      <a:pt x="0" y="53"/>
                    </a:lnTo>
                    <a:close/>
                  </a:path>
                </a:pathLst>
              </a:custGeom>
              <a:solidFill>
                <a:srgbClr val="FF7226"/>
              </a:solidFill>
              <a:ln w="9525">
                <a:noFill/>
                <a:round/>
                <a:headEnd/>
                <a:tailEnd/>
              </a:ln>
            </p:spPr>
            <p:txBody>
              <a:bodyPr/>
              <a:lstStyle/>
              <a:p>
                <a:endParaRPr lang="en-US"/>
              </a:p>
            </p:txBody>
          </p:sp>
          <p:sp>
            <p:nvSpPr>
              <p:cNvPr id="28735" name="Freeform 25"/>
              <p:cNvSpPr>
                <a:spLocks/>
              </p:cNvSpPr>
              <p:nvPr/>
            </p:nvSpPr>
            <p:spPr bwMode="auto">
              <a:xfrm>
                <a:off x="2093" y="3747"/>
                <a:ext cx="11" cy="12"/>
              </a:xfrm>
              <a:custGeom>
                <a:avLst/>
                <a:gdLst>
                  <a:gd name="T0" fmla="*/ 1 w 22"/>
                  <a:gd name="T1" fmla="*/ 1 h 23"/>
                  <a:gd name="T2" fmla="*/ 1 w 22"/>
                  <a:gd name="T3" fmla="*/ 1 h 23"/>
                  <a:gd name="T4" fmla="*/ 1 w 22"/>
                  <a:gd name="T5" fmla="*/ 0 h 23"/>
                  <a:gd name="T6" fmla="*/ 0 w 22"/>
                  <a:gd name="T7" fmla="*/ 0 h 23"/>
                  <a:gd name="T8" fmla="*/ 0 w 22"/>
                  <a:gd name="T9" fmla="*/ 1 h 23"/>
                  <a:gd name="T10" fmla="*/ 1 w 22"/>
                  <a:gd name="T11" fmla="*/ 1 h 23"/>
                  <a:gd name="T12" fmla="*/ 0 w 22"/>
                  <a:gd name="T13" fmla="*/ 1 h 23"/>
                  <a:gd name="T14" fmla="*/ 1 w 22"/>
                  <a:gd name="T15" fmla="*/ 1 h 23"/>
                  <a:gd name="T16" fmla="*/ 1 w 22"/>
                  <a:gd name="T17" fmla="*/ 1 h 23"/>
                  <a:gd name="T18" fmla="*/ 1 w 22"/>
                  <a:gd name="T19" fmla="*/ 1 h 23"/>
                  <a:gd name="T20" fmla="*/ 1 w 22"/>
                  <a:gd name="T21" fmla="*/ 1 h 23"/>
                  <a:gd name="T22" fmla="*/ 1 w 22"/>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3"/>
                  <a:gd name="T38" fmla="*/ 22 w 22"/>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3">
                    <a:moveTo>
                      <a:pt x="17" y="3"/>
                    </a:moveTo>
                    <a:lnTo>
                      <a:pt x="22" y="12"/>
                    </a:lnTo>
                    <a:lnTo>
                      <a:pt x="22" y="0"/>
                    </a:lnTo>
                    <a:lnTo>
                      <a:pt x="0" y="0"/>
                    </a:lnTo>
                    <a:lnTo>
                      <a:pt x="0" y="12"/>
                    </a:lnTo>
                    <a:lnTo>
                      <a:pt x="5" y="22"/>
                    </a:lnTo>
                    <a:lnTo>
                      <a:pt x="0" y="12"/>
                    </a:lnTo>
                    <a:lnTo>
                      <a:pt x="3" y="20"/>
                    </a:lnTo>
                    <a:lnTo>
                      <a:pt x="11" y="23"/>
                    </a:lnTo>
                    <a:lnTo>
                      <a:pt x="19" y="20"/>
                    </a:lnTo>
                    <a:lnTo>
                      <a:pt x="22" y="12"/>
                    </a:lnTo>
                    <a:lnTo>
                      <a:pt x="17" y="3"/>
                    </a:lnTo>
                    <a:close/>
                  </a:path>
                </a:pathLst>
              </a:custGeom>
              <a:solidFill>
                <a:srgbClr val="000000"/>
              </a:solidFill>
              <a:ln w="9525">
                <a:noFill/>
                <a:round/>
                <a:headEnd/>
                <a:tailEnd/>
              </a:ln>
            </p:spPr>
            <p:txBody>
              <a:bodyPr/>
              <a:lstStyle/>
              <a:p>
                <a:endParaRPr lang="en-US"/>
              </a:p>
            </p:txBody>
          </p:sp>
          <p:sp>
            <p:nvSpPr>
              <p:cNvPr id="28736" name="Freeform 26"/>
              <p:cNvSpPr>
                <a:spLocks/>
              </p:cNvSpPr>
              <p:nvPr/>
            </p:nvSpPr>
            <p:spPr bwMode="auto">
              <a:xfrm>
                <a:off x="2096" y="3749"/>
                <a:ext cx="80" cy="26"/>
              </a:xfrm>
              <a:custGeom>
                <a:avLst/>
                <a:gdLst>
                  <a:gd name="T0" fmla="*/ 1 w 159"/>
                  <a:gd name="T1" fmla="*/ 0 h 53"/>
                  <a:gd name="T2" fmla="*/ 1 w 159"/>
                  <a:gd name="T3" fmla="*/ 0 h 53"/>
                  <a:gd name="T4" fmla="*/ 1 w 159"/>
                  <a:gd name="T5" fmla="*/ 0 h 53"/>
                  <a:gd name="T6" fmla="*/ 1 w 159"/>
                  <a:gd name="T7" fmla="*/ 0 h 53"/>
                  <a:gd name="T8" fmla="*/ 1 w 159"/>
                  <a:gd name="T9" fmla="*/ 0 h 53"/>
                  <a:gd name="T10" fmla="*/ 1 w 159"/>
                  <a:gd name="T11" fmla="*/ 0 h 53"/>
                  <a:gd name="T12" fmla="*/ 1 w 159"/>
                  <a:gd name="T13" fmla="*/ 0 h 53"/>
                  <a:gd name="T14" fmla="*/ 1 w 159"/>
                  <a:gd name="T15" fmla="*/ 0 h 53"/>
                  <a:gd name="T16" fmla="*/ 1 w 159"/>
                  <a:gd name="T17" fmla="*/ 0 h 53"/>
                  <a:gd name="T18" fmla="*/ 1 w 159"/>
                  <a:gd name="T19" fmla="*/ 0 h 53"/>
                  <a:gd name="T20" fmla="*/ 0 w 159"/>
                  <a:gd name="T21" fmla="*/ 0 h 53"/>
                  <a:gd name="T22" fmla="*/ 1 w 159"/>
                  <a:gd name="T23" fmla="*/ 0 h 53"/>
                  <a:gd name="T24" fmla="*/ 1 w 159"/>
                  <a:gd name="T25" fmla="*/ 0 h 53"/>
                  <a:gd name="T26" fmla="*/ 1 w 159"/>
                  <a:gd name="T27" fmla="*/ 0 h 53"/>
                  <a:gd name="T28" fmla="*/ 1 w 159"/>
                  <a:gd name="T29" fmla="*/ 0 h 53"/>
                  <a:gd name="T30" fmla="*/ 1 w 159"/>
                  <a:gd name="T31" fmla="*/ 0 h 53"/>
                  <a:gd name="T32" fmla="*/ 1 w 159"/>
                  <a:gd name="T33" fmla="*/ 0 h 53"/>
                  <a:gd name="T34" fmla="*/ 1 w 159"/>
                  <a:gd name="T35" fmla="*/ 0 h 53"/>
                  <a:gd name="T36" fmla="*/ 1 w 159"/>
                  <a:gd name="T37" fmla="*/ 0 h 53"/>
                  <a:gd name="T38" fmla="*/ 1 w 159"/>
                  <a:gd name="T39" fmla="*/ 0 h 53"/>
                  <a:gd name="T40" fmla="*/ 1 w 159"/>
                  <a:gd name="T41" fmla="*/ 0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
                  <a:gd name="T64" fmla="*/ 0 h 53"/>
                  <a:gd name="T65" fmla="*/ 159 w 159"/>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 h="53">
                    <a:moveTo>
                      <a:pt x="159" y="31"/>
                    </a:moveTo>
                    <a:lnTo>
                      <a:pt x="159" y="31"/>
                    </a:lnTo>
                    <a:lnTo>
                      <a:pt x="125" y="30"/>
                    </a:lnTo>
                    <a:lnTo>
                      <a:pt x="95" y="27"/>
                    </a:lnTo>
                    <a:lnTo>
                      <a:pt x="70" y="22"/>
                    </a:lnTo>
                    <a:lnTo>
                      <a:pt x="48" y="16"/>
                    </a:lnTo>
                    <a:lnTo>
                      <a:pt x="32" y="11"/>
                    </a:lnTo>
                    <a:lnTo>
                      <a:pt x="20" y="5"/>
                    </a:lnTo>
                    <a:lnTo>
                      <a:pt x="14" y="2"/>
                    </a:lnTo>
                    <a:lnTo>
                      <a:pt x="12" y="0"/>
                    </a:lnTo>
                    <a:lnTo>
                      <a:pt x="0" y="19"/>
                    </a:lnTo>
                    <a:lnTo>
                      <a:pt x="4" y="20"/>
                    </a:lnTo>
                    <a:lnTo>
                      <a:pt x="10" y="24"/>
                    </a:lnTo>
                    <a:lnTo>
                      <a:pt x="23" y="30"/>
                    </a:lnTo>
                    <a:lnTo>
                      <a:pt x="42" y="38"/>
                    </a:lnTo>
                    <a:lnTo>
                      <a:pt x="64" y="44"/>
                    </a:lnTo>
                    <a:lnTo>
                      <a:pt x="92" y="49"/>
                    </a:lnTo>
                    <a:lnTo>
                      <a:pt x="125" y="52"/>
                    </a:lnTo>
                    <a:lnTo>
                      <a:pt x="159" y="53"/>
                    </a:lnTo>
                    <a:lnTo>
                      <a:pt x="159" y="31"/>
                    </a:lnTo>
                    <a:close/>
                  </a:path>
                </a:pathLst>
              </a:custGeom>
              <a:solidFill>
                <a:srgbClr val="000000"/>
              </a:solidFill>
              <a:ln w="9525">
                <a:noFill/>
                <a:round/>
                <a:headEnd/>
                <a:tailEnd/>
              </a:ln>
            </p:spPr>
            <p:txBody>
              <a:bodyPr/>
              <a:lstStyle/>
              <a:p>
                <a:endParaRPr lang="en-US"/>
              </a:p>
            </p:txBody>
          </p:sp>
          <p:sp>
            <p:nvSpPr>
              <p:cNvPr id="28737" name="Freeform 27"/>
              <p:cNvSpPr>
                <a:spLocks/>
              </p:cNvSpPr>
              <p:nvPr/>
            </p:nvSpPr>
            <p:spPr bwMode="auto">
              <a:xfrm>
                <a:off x="2176" y="3731"/>
                <a:ext cx="83" cy="44"/>
              </a:xfrm>
              <a:custGeom>
                <a:avLst/>
                <a:gdLst>
                  <a:gd name="T0" fmla="*/ 0 w 168"/>
                  <a:gd name="T1" fmla="*/ 0 h 89"/>
                  <a:gd name="T2" fmla="*/ 0 w 168"/>
                  <a:gd name="T3" fmla="*/ 0 h 89"/>
                  <a:gd name="T4" fmla="*/ 0 w 168"/>
                  <a:gd name="T5" fmla="*/ 0 h 89"/>
                  <a:gd name="T6" fmla="*/ 0 w 168"/>
                  <a:gd name="T7" fmla="*/ 0 h 89"/>
                  <a:gd name="T8" fmla="*/ 0 w 168"/>
                  <a:gd name="T9" fmla="*/ 0 h 89"/>
                  <a:gd name="T10" fmla="*/ 0 w 168"/>
                  <a:gd name="T11" fmla="*/ 0 h 89"/>
                  <a:gd name="T12" fmla="*/ 0 w 168"/>
                  <a:gd name="T13" fmla="*/ 0 h 89"/>
                  <a:gd name="T14" fmla="*/ 0 w 168"/>
                  <a:gd name="T15" fmla="*/ 0 h 89"/>
                  <a:gd name="T16" fmla="*/ 0 w 168"/>
                  <a:gd name="T17" fmla="*/ 0 h 89"/>
                  <a:gd name="T18" fmla="*/ 0 w 168"/>
                  <a:gd name="T19" fmla="*/ 0 h 89"/>
                  <a:gd name="T20" fmla="*/ 0 w 168"/>
                  <a:gd name="T21" fmla="*/ 0 h 89"/>
                  <a:gd name="T22" fmla="*/ 0 w 168"/>
                  <a:gd name="T23" fmla="*/ 0 h 89"/>
                  <a:gd name="T24" fmla="*/ 0 w 168"/>
                  <a:gd name="T25" fmla="*/ 0 h 89"/>
                  <a:gd name="T26" fmla="*/ 0 w 168"/>
                  <a:gd name="T27" fmla="*/ 0 h 89"/>
                  <a:gd name="T28" fmla="*/ 0 w 168"/>
                  <a:gd name="T29" fmla="*/ 0 h 89"/>
                  <a:gd name="T30" fmla="*/ 0 w 168"/>
                  <a:gd name="T31" fmla="*/ 0 h 89"/>
                  <a:gd name="T32" fmla="*/ 0 w 168"/>
                  <a:gd name="T33" fmla="*/ 0 h 89"/>
                  <a:gd name="T34" fmla="*/ 0 w 168"/>
                  <a:gd name="T35" fmla="*/ 0 h 89"/>
                  <a:gd name="T36" fmla="*/ 0 w 168"/>
                  <a:gd name="T37" fmla="*/ 0 h 89"/>
                  <a:gd name="T38" fmla="*/ 0 w 168"/>
                  <a:gd name="T39" fmla="*/ 0 h 89"/>
                  <a:gd name="T40" fmla="*/ 0 w 168"/>
                  <a:gd name="T41" fmla="*/ 0 h 8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8"/>
                  <a:gd name="T64" fmla="*/ 0 h 89"/>
                  <a:gd name="T65" fmla="*/ 168 w 168"/>
                  <a:gd name="T66" fmla="*/ 89 h 8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8" h="89">
                    <a:moveTo>
                      <a:pt x="147" y="0"/>
                    </a:moveTo>
                    <a:lnTo>
                      <a:pt x="146" y="2"/>
                    </a:lnTo>
                    <a:lnTo>
                      <a:pt x="143" y="6"/>
                    </a:lnTo>
                    <a:lnTo>
                      <a:pt x="136" y="14"/>
                    </a:lnTo>
                    <a:lnTo>
                      <a:pt x="124" y="27"/>
                    </a:lnTo>
                    <a:lnTo>
                      <a:pt x="108" y="38"/>
                    </a:lnTo>
                    <a:lnTo>
                      <a:pt x="88" y="50"/>
                    </a:lnTo>
                    <a:lnTo>
                      <a:pt x="63" y="58"/>
                    </a:lnTo>
                    <a:lnTo>
                      <a:pt x="33" y="64"/>
                    </a:lnTo>
                    <a:lnTo>
                      <a:pt x="0" y="67"/>
                    </a:lnTo>
                    <a:lnTo>
                      <a:pt x="0" y="89"/>
                    </a:lnTo>
                    <a:lnTo>
                      <a:pt x="36" y="86"/>
                    </a:lnTo>
                    <a:lnTo>
                      <a:pt x="69" y="80"/>
                    </a:lnTo>
                    <a:lnTo>
                      <a:pt x="97" y="69"/>
                    </a:lnTo>
                    <a:lnTo>
                      <a:pt x="121" y="56"/>
                    </a:lnTo>
                    <a:lnTo>
                      <a:pt x="140" y="42"/>
                    </a:lnTo>
                    <a:lnTo>
                      <a:pt x="152" y="30"/>
                    </a:lnTo>
                    <a:lnTo>
                      <a:pt x="161" y="19"/>
                    </a:lnTo>
                    <a:lnTo>
                      <a:pt x="168" y="8"/>
                    </a:lnTo>
                    <a:lnTo>
                      <a:pt x="166" y="9"/>
                    </a:lnTo>
                    <a:lnTo>
                      <a:pt x="147" y="0"/>
                    </a:lnTo>
                    <a:close/>
                  </a:path>
                </a:pathLst>
              </a:custGeom>
              <a:solidFill>
                <a:srgbClr val="000000"/>
              </a:solidFill>
              <a:ln w="9525">
                <a:noFill/>
                <a:round/>
                <a:headEnd/>
                <a:tailEnd/>
              </a:ln>
            </p:spPr>
            <p:txBody>
              <a:bodyPr/>
              <a:lstStyle/>
              <a:p>
                <a:endParaRPr lang="en-US"/>
              </a:p>
            </p:txBody>
          </p:sp>
          <p:sp>
            <p:nvSpPr>
              <p:cNvPr id="28738" name="Freeform 28"/>
              <p:cNvSpPr>
                <a:spLocks/>
              </p:cNvSpPr>
              <p:nvPr/>
            </p:nvSpPr>
            <p:spPr bwMode="auto">
              <a:xfrm>
                <a:off x="2244" y="3715"/>
                <a:ext cx="16" cy="20"/>
              </a:xfrm>
              <a:custGeom>
                <a:avLst/>
                <a:gdLst>
                  <a:gd name="T0" fmla="*/ 0 w 33"/>
                  <a:gd name="T1" fmla="*/ 1 h 40"/>
                  <a:gd name="T2" fmla="*/ 0 w 33"/>
                  <a:gd name="T3" fmla="*/ 1 h 40"/>
                  <a:gd name="T4" fmla="*/ 0 w 33"/>
                  <a:gd name="T5" fmla="*/ 1 h 40"/>
                  <a:gd name="T6" fmla="*/ 0 w 33"/>
                  <a:gd name="T7" fmla="*/ 1 h 40"/>
                  <a:gd name="T8" fmla="*/ 0 w 33"/>
                  <a:gd name="T9" fmla="*/ 1 h 40"/>
                  <a:gd name="T10" fmla="*/ 0 w 33"/>
                  <a:gd name="T11" fmla="*/ 1 h 40"/>
                  <a:gd name="T12" fmla="*/ 0 w 33"/>
                  <a:gd name="T13" fmla="*/ 1 h 40"/>
                  <a:gd name="T14" fmla="*/ 0 w 33"/>
                  <a:gd name="T15" fmla="*/ 1 h 40"/>
                  <a:gd name="T16" fmla="*/ 0 w 33"/>
                  <a:gd name="T17" fmla="*/ 1 h 40"/>
                  <a:gd name="T18" fmla="*/ 0 w 33"/>
                  <a:gd name="T19" fmla="*/ 1 h 40"/>
                  <a:gd name="T20" fmla="*/ 0 w 33"/>
                  <a:gd name="T21" fmla="*/ 1 h 40"/>
                  <a:gd name="T22" fmla="*/ 0 w 33"/>
                  <a:gd name="T23" fmla="*/ 0 h 40"/>
                  <a:gd name="T24" fmla="*/ 0 w 33"/>
                  <a:gd name="T25" fmla="*/ 1 h 40"/>
                  <a:gd name="T26" fmla="*/ 0 w 33"/>
                  <a:gd name="T27" fmla="*/ 0 h 40"/>
                  <a:gd name="T28" fmla="*/ 0 w 33"/>
                  <a:gd name="T29" fmla="*/ 1 h 40"/>
                  <a:gd name="T30" fmla="*/ 0 w 33"/>
                  <a:gd name="T31" fmla="*/ 1 h 40"/>
                  <a:gd name="T32" fmla="*/ 0 w 33"/>
                  <a:gd name="T33" fmla="*/ 1 h 40"/>
                  <a:gd name="T34" fmla="*/ 0 w 33"/>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
                  <a:gd name="T55" fmla="*/ 0 h 40"/>
                  <a:gd name="T56" fmla="*/ 33 w 33"/>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 h="40">
                    <a:moveTo>
                      <a:pt x="13" y="22"/>
                    </a:moveTo>
                    <a:lnTo>
                      <a:pt x="5" y="20"/>
                    </a:lnTo>
                    <a:lnTo>
                      <a:pt x="7" y="20"/>
                    </a:lnTo>
                    <a:lnTo>
                      <a:pt x="10" y="23"/>
                    </a:lnTo>
                    <a:lnTo>
                      <a:pt x="11" y="28"/>
                    </a:lnTo>
                    <a:lnTo>
                      <a:pt x="11" y="31"/>
                    </a:lnTo>
                    <a:lnTo>
                      <a:pt x="30" y="40"/>
                    </a:lnTo>
                    <a:lnTo>
                      <a:pt x="33" y="25"/>
                    </a:lnTo>
                    <a:lnTo>
                      <a:pt x="29" y="14"/>
                    </a:lnTo>
                    <a:lnTo>
                      <a:pt x="22" y="4"/>
                    </a:lnTo>
                    <a:lnTo>
                      <a:pt x="18" y="1"/>
                    </a:lnTo>
                    <a:lnTo>
                      <a:pt x="10" y="0"/>
                    </a:lnTo>
                    <a:lnTo>
                      <a:pt x="18" y="1"/>
                    </a:lnTo>
                    <a:lnTo>
                      <a:pt x="8" y="0"/>
                    </a:lnTo>
                    <a:lnTo>
                      <a:pt x="2" y="4"/>
                    </a:lnTo>
                    <a:lnTo>
                      <a:pt x="0" y="12"/>
                    </a:lnTo>
                    <a:lnTo>
                      <a:pt x="5" y="20"/>
                    </a:lnTo>
                    <a:lnTo>
                      <a:pt x="13" y="22"/>
                    </a:lnTo>
                    <a:close/>
                  </a:path>
                </a:pathLst>
              </a:custGeom>
              <a:solidFill>
                <a:srgbClr val="000000"/>
              </a:solidFill>
              <a:ln w="9525">
                <a:noFill/>
                <a:round/>
                <a:headEnd/>
                <a:tailEnd/>
              </a:ln>
            </p:spPr>
            <p:txBody>
              <a:bodyPr/>
              <a:lstStyle/>
              <a:p>
                <a:endParaRPr lang="en-US"/>
              </a:p>
            </p:txBody>
          </p:sp>
          <p:sp>
            <p:nvSpPr>
              <p:cNvPr id="28739" name="Freeform 29"/>
              <p:cNvSpPr>
                <a:spLocks/>
              </p:cNvSpPr>
              <p:nvPr/>
            </p:nvSpPr>
            <p:spPr bwMode="auto">
              <a:xfrm>
                <a:off x="2093" y="3715"/>
                <a:ext cx="157" cy="37"/>
              </a:xfrm>
              <a:custGeom>
                <a:avLst/>
                <a:gdLst>
                  <a:gd name="T0" fmla="*/ 1 w 313"/>
                  <a:gd name="T1" fmla="*/ 0 h 75"/>
                  <a:gd name="T2" fmla="*/ 1 w 313"/>
                  <a:gd name="T3" fmla="*/ 0 h 75"/>
                  <a:gd name="T4" fmla="*/ 1 w 313"/>
                  <a:gd name="T5" fmla="*/ 0 h 75"/>
                  <a:gd name="T6" fmla="*/ 1 w 313"/>
                  <a:gd name="T7" fmla="*/ 0 h 75"/>
                  <a:gd name="T8" fmla="*/ 1 w 313"/>
                  <a:gd name="T9" fmla="*/ 0 h 75"/>
                  <a:gd name="T10" fmla="*/ 0 w 313"/>
                  <a:gd name="T11" fmla="*/ 0 h 75"/>
                  <a:gd name="T12" fmla="*/ 1 w 313"/>
                  <a:gd name="T13" fmla="*/ 0 h 75"/>
                  <a:gd name="T14" fmla="*/ 1 w 313"/>
                  <a:gd name="T15" fmla="*/ 0 h 75"/>
                  <a:gd name="T16" fmla="*/ 0 w 313"/>
                  <a:gd name="T17" fmla="*/ 0 h 75"/>
                  <a:gd name="T18" fmla="*/ 1 w 313"/>
                  <a:gd name="T19" fmla="*/ 0 h 75"/>
                  <a:gd name="T20" fmla="*/ 1 w 313"/>
                  <a:gd name="T21" fmla="*/ 0 h 75"/>
                  <a:gd name="T22" fmla="*/ 1 w 313"/>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3"/>
                  <a:gd name="T37" fmla="*/ 0 h 75"/>
                  <a:gd name="T38" fmla="*/ 313 w 313"/>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3" h="75">
                    <a:moveTo>
                      <a:pt x="22" y="64"/>
                    </a:moveTo>
                    <a:lnTo>
                      <a:pt x="12" y="75"/>
                    </a:lnTo>
                    <a:lnTo>
                      <a:pt x="313" y="22"/>
                    </a:lnTo>
                    <a:lnTo>
                      <a:pt x="310" y="0"/>
                    </a:lnTo>
                    <a:lnTo>
                      <a:pt x="9" y="53"/>
                    </a:lnTo>
                    <a:lnTo>
                      <a:pt x="0" y="64"/>
                    </a:lnTo>
                    <a:lnTo>
                      <a:pt x="9" y="53"/>
                    </a:lnTo>
                    <a:lnTo>
                      <a:pt x="1" y="58"/>
                    </a:lnTo>
                    <a:lnTo>
                      <a:pt x="0" y="65"/>
                    </a:lnTo>
                    <a:lnTo>
                      <a:pt x="5" y="72"/>
                    </a:lnTo>
                    <a:lnTo>
                      <a:pt x="12" y="75"/>
                    </a:lnTo>
                    <a:lnTo>
                      <a:pt x="22" y="64"/>
                    </a:lnTo>
                    <a:close/>
                  </a:path>
                </a:pathLst>
              </a:custGeom>
              <a:solidFill>
                <a:srgbClr val="000000"/>
              </a:solidFill>
              <a:ln w="9525">
                <a:noFill/>
                <a:round/>
                <a:headEnd/>
                <a:tailEnd/>
              </a:ln>
            </p:spPr>
            <p:txBody>
              <a:bodyPr/>
              <a:lstStyle/>
              <a:p>
                <a:endParaRPr lang="en-US"/>
              </a:p>
            </p:txBody>
          </p:sp>
          <p:sp>
            <p:nvSpPr>
              <p:cNvPr id="28740" name="Freeform 30"/>
              <p:cNvSpPr>
                <a:spLocks/>
              </p:cNvSpPr>
              <p:nvPr/>
            </p:nvSpPr>
            <p:spPr bwMode="auto">
              <a:xfrm>
                <a:off x="1840" y="3694"/>
                <a:ext cx="123" cy="254"/>
              </a:xfrm>
              <a:custGeom>
                <a:avLst/>
                <a:gdLst>
                  <a:gd name="T0" fmla="*/ 1 w 245"/>
                  <a:gd name="T1" fmla="*/ 0 h 508"/>
                  <a:gd name="T2" fmla="*/ 1 w 245"/>
                  <a:gd name="T3" fmla="*/ 1 h 508"/>
                  <a:gd name="T4" fmla="*/ 0 w 245"/>
                  <a:gd name="T5" fmla="*/ 1 h 508"/>
                  <a:gd name="T6" fmla="*/ 0 w 245"/>
                  <a:gd name="T7" fmla="*/ 1 h 508"/>
                  <a:gd name="T8" fmla="*/ 1 w 245"/>
                  <a:gd name="T9" fmla="*/ 0 h 508"/>
                  <a:gd name="T10" fmla="*/ 0 60000 65536"/>
                  <a:gd name="T11" fmla="*/ 0 60000 65536"/>
                  <a:gd name="T12" fmla="*/ 0 60000 65536"/>
                  <a:gd name="T13" fmla="*/ 0 60000 65536"/>
                  <a:gd name="T14" fmla="*/ 0 60000 65536"/>
                  <a:gd name="T15" fmla="*/ 0 w 245"/>
                  <a:gd name="T16" fmla="*/ 0 h 508"/>
                  <a:gd name="T17" fmla="*/ 245 w 245"/>
                  <a:gd name="T18" fmla="*/ 508 h 508"/>
                </a:gdLst>
                <a:ahLst/>
                <a:cxnLst>
                  <a:cxn ang="T10">
                    <a:pos x="T0" y="T1"/>
                  </a:cxn>
                  <a:cxn ang="T11">
                    <a:pos x="T2" y="T3"/>
                  </a:cxn>
                  <a:cxn ang="T12">
                    <a:pos x="T4" y="T5"/>
                  </a:cxn>
                  <a:cxn ang="T13">
                    <a:pos x="T6" y="T7"/>
                  </a:cxn>
                  <a:cxn ang="T14">
                    <a:pos x="T8" y="T9"/>
                  </a:cxn>
                </a:cxnLst>
                <a:rect l="T15" t="T16" r="T17" b="T18"/>
                <a:pathLst>
                  <a:path w="245" h="508">
                    <a:moveTo>
                      <a:pt x="245" y="0"/>
                    </a:moveTo>
                    <a:lnTo>
                      <a:pt x="245" y="366"/>
                    </a:lnTo>
                    <a:lnTo>
                      <a:pt x="0" y="508"/>
                    </a:lnTo>
                    <a:lnTo>
                      <a:pt x="0" y="143"/>
                    </a:lnTo>
                    <a:lnTo>
                      <a:pt x="245" y="0"/>
                    </a:lnTo>
                    <a:close/>
                  </a:path>
                </a:pathLst>
              </a:custGeom>
              <a:solidFill>
                <a:srgbClr val="4CFF00"/>
              </a:solidFill>
              <a:ln w="9525">
                <a:noFill/>
                <a:round/>
                <a:headEnd/>
                <a:tailEnd/>
              </a:ln>
            </p:spPr>
            <p:txBody>
              <a:bodyPr/>
              <a:lstStyle/>
              <a:p>
                <a:endParaRPr lang="en-US"/>
              </a:p>
            </p:txBody>
          </p:sp>
          <p:sp>
            <p:nvSpPr>
              <p:cNvPr id="28741" name="Freeform 31"/>
              <p:cNvSpPr>
                <a:spLocks/>
              </p:cNvSpPr>
              <p:nvPr/>
            </p:nvSpPr>
            <p:spPr bwMode="auto">
              <a:xfrm>
                <a:off x="1957" y="3694"/>
                <a:ext cx="11" cy="188"/>
              </a:xfrm>
              <a:custGeom>
                <a:avLst/>
                <a:gdLst>
                  <a:gd name="T0" fmla="*/ 1 w 22"/>
                  <a:gd name="T1" fmla="*/ 0 h 377"/>
                  <a:gd name="T2" fmla="*/ 1 w 22"/>
                  <a:gd name="T3" fmla="*/ 0 h 377"/>
                  <a:gd name="T4" fmla="*/ 1 w 22"/>
                  <a:gd name="T5" fmla="*/ 0 h 377"/>
                  <a:gd name="T6" fmla="*/ 0 w 22"/>
                  <a:gd name="T7" fmla="*/ 0 h 377"/>
                  <a:gd name="T8" fmla="*/ 0 w 22"/>
                  <a:gd name="T9" fmla="*/ 0 h 377"/>
                  <a:gd name="T10" fmla="*/ 1 w 22"/>
                  <a:gd name="T11" fmla="*/ 0 h 377"/>
                  <a:gd name="T12" fmla="*/ 0 w 22"/>
                  <a:gd name="T13" fmla="*/ 0 h 377"/>
                  <a:gd name="T14" fmla="*/ 1 w 22"/>
                  <a:gd name="T15" fmla="*/ 0 h 377"/>
                  <a:gd name="T16" fmla="*/ 1 w 22"/>
                  <a:gd name="T17" fmla="*/ 0 h 377"/>
                  <a:gd name="T18" fmla="*/ 1 w 22"/>
                  <a:gd name="T19" fmla="*/ 0 h 377"/>
                  <a:gd name="T20" fmla="*/ 1 w 22"/>
                  <a:gd name="T21" fmla="*/ 0 h 377"/>
                  <a:gd name="T22" fmla="*/ 1 w 22"/>
                  <a:gd name="T23" fmla="*/ 0 h 3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7"/>
                  <a:gd name="T38" fmla="*/ 22 w 22"/>
                  <a:gd name="T39" fmla="*/ 377 h 3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7">
                    <a:moveTo>
                      <a:pt x="16" y="375"/>
                    </a:moveTo>
                    <a:lnTo>
                      <a:pt x="22" y="366"/>
                    </a:lnTo>
                    <a:lnTo>
                      <a:pt x="22" y="0"/>
                    </a:lnTo>
                    <a:lnTo>
                      <a:pt x="0" y="0"/>
                    </a:lnTo>
                    <a:lnTo>
                      <a:pt x="0" y="366"/>
                    </a:lnTo>
                    <a:lnTo>
                      <a:pt x="7" y="356"/>
                    </a:lnTo>
                    <a:lnTo>
                      <a:pt x="0" y="366"/>
                    </a:lnTo>
                    <a:lnTo>
                      <a:pt x="4" y="373"/>
                    </a:lnTo>
                    <a:lnTo>
                      <a:pt x="11" y="377"/>
                    </a:lnTo>
                    <a:lnTo>
                      <a:pt x="19" y="373"/>
                    </a:lnTo>
                    <a:lnTo>
                      <a:pt x="22" y="366"/>
                    </a:lnTo>
                    <a:lnTo>
                      <a:pt x="16" y="375"/>
                    </a:lnTo>
                    <a:close/>
                  </a:path>
                </a:pathLst>
              </a:custGeom>
              <a:solidFill>
                <a:srgbClr val="000000"/>
              </a:solidFill>
              <a:ln w="9525">
                <a:noFill/>
                <a:round/>
                <a:headEnd/>
                <a:tailEnd/>
              </a:ln>
            </p:spPr>
            <p:txBody>
              <a:bodyPr/>
              <a:lstStyle/>
              <a:p>
                <a:endParaRPr lang="en-US"/>
              </a:p>
            </p:txBody>
          </p:sp>
          <p:sp>
            <p:nvSpPr>
              <p:cNvPr id="28742" name="Freeform 32"/>
              <p:cNvSpPr>
                <a:spLocks/>
              </p:cNvSpPr>
              <p:nvPr/>
            </p:nvSpPr>
            <p:spPr bwMode="auto">
              <a:xfrm>
                <a:off x="1834" y="3872"/>
                <a:ext cx="131" cy="81"/>
              </a:xfrm>
              <a:custGeom>
                <a:avLst/>
                <a:gdLst>
                  <a:gd name="T0" fmla="*/ 0 w 261"/>
                  <a:gd name="T1" fmla="*/ 1 h 161"/>
                  <a:gd name="T2" fmla="*/ 1 w 261"/>
                  <a:gd name="T3" fmla="*/ 1 h 161"/>
                  <a:gd name="T4" fmla="*/ 1 w 261"/>
                  <a:gd name="T5" fmla="*/ 1 h 161"/>
                  <a:gd name="T6" fmla="*/ 1 w 261"/>
                  <a:gd name="T7" fmla="*/ 0 h 161"/>
                  <a:gd name="T8" fmla="*/ 1 w 261"/>
                  <a:gd name="T9" fmla="*/ 1 h 161"/>
                  <a:gd name="T10" fmla="*/ 1 w 261"/>
                  <a:gd name="T11" fmla="*/ 1 h 161"/>
                  <a:gd name="T12" fmla="*/ 1 w 261"/>
                  <a:gd name="T13" fmla="*/ 1 h 161"/>
                  <a:gd name="T14" fmla="*/ 0 w 261"/>
                  <a:gd name="T15" fmla="*/ 1 h 161"/>
                  <a:gd name="T16" fmla="*/ 1 w 261"/>
                  <a:gd name="T17" fmla="*/ 1 h 161"/>
                  <a:gd name="T18" fmla="*/ 1 w 261"/>
                  <a:gd name="T19" fmla="*/ 1 h 161"/>
                  <a:gd name="T20" fmla="*/ 1 w 261"/>
                  <a:gd name="T21" fmla="*/ 1 h 161"/>
                  <a:gd name="T22" fmla="*/ 0 w 261"/>
                  <a:gd name="T23" fmla="*/ 1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1"/>
                  <a:gd name="T37" fmla="*/ 0 h 161"/>
                  <a:gd name="T38" fmla="*/ 261 w 261"/>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1" h="161">
                    <a:moveTo>
                      <a:pt x="0" y="152"/>
                    </a:moveTo>
                    <a:lnTo>
                      <a:pt x="15" y="161"/>
                    </a:lnTo>
                    <a:lnTo>
                      <a:pt x="261" y="19"/>
                    </a:lnTo>
                    <a:lnTo>
                      <a:pt x="252" y="0"/>
                    </a:lnTo>
                    <a:lnTo>
                      <a:pt x="6" y="143"/>
                    </a:lnTo>
                    <a:lnTo>
                      <a:pt x="21" y="152"/>
                    </a:lnTo>
                    <a:lnTo>
                      <a:pt x="6" y="143"/>
                    </a:lnTo>
                    <a:lnTo>
                      <a:pt x="0" y="149"/>
                    </a:lnTo>
                    <a:lnTo>
                      <a:pt x="1" y="157"/>
                    </a:lnTo>
                    <a:lnTo>
                      <a:pt x="7" y="161"/>
                    </a:lnTo>
                    <a:lnTo>
                      <a:pt x="15" y="161"/>
                    </a:lnTo>
                    <a:lnTo>
                      <a:pt x="0" y="152"/>
                    </a:lnTo>
                    <a:close/>
                  </a:path>
                </a:pathLst>
              </a:custGeom>
              <a:solidFill>
                <a:srgbClr val="000000"/>
              </a:solidFill>
              <a:ln w="9525">
                <a:noFill/>
                <a:round/>
                <a:headEnd/>
                <a:tailEnd/>
              </a:ln>
            </p:spPr>
            <p:txBody>
              <a:bodyPr/>
              <a:lstStyle/>
              <a:p>
                <a:endParaRPr lang="en-US"/>
              </a:p>
            </p:txBody>
          </p:sp>
          <p:sp>
            <p:nvSpPr>
              <p:cNvPr id="28743" name="Freeform 33"/>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4" y="1"/>
                    </a:moveTo>
                    <a:lnTo>
                      <a:pt x="0" y="10"/>
                    </a:lnTo>
                    <a:lnTo>
                      <a:pt x="0" y="375"/>
                    </a:lnTo>
                    <a:lnTo>
                      <a:pt x="21" y="375"/>
                    </a:lnTo>
                    <a:lnTo>
                      <a:pt x="21" y="10"/>
                    </a:lnTo>
                    <a:lnTo>
                      <a:pt x="17" y="20"/>
                    </a:lnTo>
                    <a:lnTo>
                      <a:pt x="21" y="10"/>
                    </a:lnTo>
                    <a:lnTo>
                      <a:pt x="18" y="3"/>
                    </a:lnTo>
                    <a:lnTo>
                      <a:pt x="11" y="0"/>
                    </a:lnTo>
                    <a:lnTo>
                      <a:pt x="3" y="3"/>
                    </a:lnTo>
                    <a:lnTo>
                      <a:pt x="0" y="10"/>
                    </a:lnTo>
                    <a:lnTo>
                      <a:pt x="4" y="1"/>
                    </a:lnTo>
                    <a:close/>
                  </a:path>
                </a:pathLst>
              </a:custGeom>
              <a:solidFill>
                <a:srgbClr val="000000"/>
              </a:solidFill>
              <a:ln w="9525">
                <a:noFill/>
                <a:round/>
                <a:headEnd/>
                <a:tailEnd/>
              </a:ln>
            </p:spPr>
            <p:txBody>
              <a:bodyPr/>
              <a:lstStyle/>
              <a:p>
                <a:endParaRPr lang="en-US"/>
              </a:p>
            </p:txBody>
          </p:sp>
          <p:sp>
            <p:nvSpPr>
              <p:cNvPr id="28744" name="Freeform 34"/>
              <p:cNvSpPr>
                <a:spLocks/>
              </p:cNvSpPr>
              <p:nvPr/>
            </p:nvSpPr>
            <p:spPr bwMode="auto">
              <a:xfrm>
                <a:off x="1837" y="3688"/>
                <a:ext cx="131" cy="82"/>
              </a:xfrm>
              <a:custGeom>
                <a:avLst/>
                <a:gdLst>
                  <a:gd name="T0" fmla="*/ 0 w 263"/>
                  <a:gd name="T1" fmla="*/ 1 h 164"/>
                  <a:gd name="T2" fmla="*/ 0 w 263"/>
                  <a:gd name="T3" fmla="*/ 1 h 164"/>
                  <a:gd name="T4" fmla="*/ 0 w 263"/>
                  <a:gd name="T5" fmla="*/ 1 h 164"/>
                  <a:gd name="T6" fmla="*/ 0 w 263"/>
                  <a:gd name="T7" fmla="*/ 1 h 164"/>
                  <a:gd name="T8" fmla="*/ 0 w 263"/>
                  <a:gd name="T9" fmla="*/ 1 h 164"/>
                  <a:gd name="T10" fmla="*/ 0 w 263"/>
                  <a:gd name="T11" fmla="*/ 1 h 164"/>
                  <a:gd name="T12" fmla="*/ 0 w 263"/>
                  <a:gd name="T13" fmla="*/ 1 h 164"/>
                  <a:gd name="T14" fmla="*/ 0 w 263"/>
                  <a:gd name="T15" fmla="*/ 1 h 164"/>
                  <a:gd name="T16" fmla="*/ 0 w 263"/>
                  <a:gd name="T17" fmla="*/ 1 h 164"/>
                  <a:gd name="T18" fmla="*/ 0 w 263"/>
                  <a:gd name="T19" fmla="*/ 0 h 164"/>
                  <a:gd name="T20" fmla="*/ 0 w 263"/>
                  <a:gd name="T21" fmla="*/ 1 h 164"/>
                  <a:gd name="T22" fmla="*/ 0 w 263"/>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4"/>
                  <a:gd name="T38" fmla="*/ 263 w 263"/>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4">
                    <a:moveTo>
                      <a:pt x="263" y="11"/>
                    </a:moveTo>
                    <a:lnTo>
                      <a:pt x="246" y="1"/>
                    </a:lnTo>
                    <a:lnTo>
                      <a:pt x="0" y="145"/>
                    </a:lnTo>
                    <a:lnTo>
                      <a:pt x="13" y="164"/>
                    </a:lnTo>
                    <a:lnTo>
                      <a:pt x="259" y="20"/>
                    </a:lnTo>
                    <a:lnTo>
                      <a:pt x="241" y="11"/>
                    </a:lnTo>
                    <a:lnTo>
                      <a:pt x="259" y="20"/>
                    </a:lnTo>
                    <a:lnTo>
                      <a:pt x="263" y="12"/>
                    </a:lnTo>
                    <a:lnTo>
                      <a:pt x="262" y="4"/>
                    </a:lnTo>
                    <a:lnTo>
                      <a:pt x="255" y="0"/>
                    </a:lnTo>
                    <a:lnTo>
                      <a:pt x="246" y="1"/>
                    </a:lnTo>
                    <a:lnTo>
                      <a:pt x="263" y="11"/>
                    </a:lnTo>
                    <a:close/>
                  </a:path>
                </a:pathLst>
              </a:custGeom>
              <a:solidFill>
                <a:srgbClr val="000000"/>
              </a:solidFill>
              <a:ln w="9525">
                <a:noFill/>
                <a:round/>
                <a:headEnd/>
                <a:tailEnd/>
              </a:ln>
            </p:spPr>
            <p:txBody>
              <a:bodyPr/>
              <a:lstStyle/>
              <a:p>
                <a:endParaRPr lang="en-US"/>
              </a:p>
            </p:txBody>
          </p:sp>
          <p:sp>
            <p:nvSpPr>
              <p:cNvPr id="28745" name="Freeform 35"/>
              <p:cNvSpPr>
                <a:spLocks/>
              </p:cNvSpPr>
              <p:nvPr/>
            </p:nvSpPr>
            <p:spPr bwMode="auto">
              <a:xfrm>
                <a:off x="2169" y="3499"/>
                <a:ext cx="125" cy="253"/>
              </a:xfrm>
              <a:custGeom>
                <a:avLst/>
                <a:gdLst>
                  <a:gd name="T0" fmla="*/ 1 w 249"/>
                  <a:gd name="T1" fmla="*/ 0 h 507"/>
                  <a:gd name="T2" fmla="*/ 1 w 249"/>
                  <a:gd name="T3" fmla="*/ 0 h 507"/>
                  <a:gd name="T4" fmla="*/ 0 w 249"/>
                  <a:gd name="T5" fmla="*/ 0 h 507"/>
                  <a:gd name="T6" fmla="*/ 0 w 249"/>
                  <a:gd name="T7" fmla="*/ 0 h 507"/>
                  <a:gd name="T8" fmla="*/ 1 w 249"/>
                  <a:gd name="T9" fmla="*/ 0 h 507"/>
                  <a:gd name="T10" fmla="*/ 0 60000 65536"/>
                  <a:gd name="T11" fmla="*/ 0 60000 65536"/>
                  <a:gd name="T12" fmla="*/ 0 60000 65536"/>
                  <a:gd name="T13" fmla="*/ 0 60000 65536"/>
                  <a:gd name="T14" fmla="*/ 0 60000 65536"/>
                  <a:gd name="T15" fmla="*/ 0 w 249"/>
                  <a:gd name="T16" fmla="*/ 0 h 507"/>
                  <a:gd name="T17" fmla="*/ 249 w 249"/>
                  <a:gd name="T18" fmla="*/ 507 h 507"/>
                </a:gdLst>
                <a:ahLst/>
                <a:cxnLst>
                  <a:cxn ang="T10">
                    <a:pos x="T0" y="T1"/>
                  </a:cxn>
                  <a:cxn ang="T11">
                    <a:pos x="T2" y="T3"/>
                  </a:cxn>
                  <a:cxn ang="T12">
                    <a:pos x="T4" y="T5"/>
                  </a:cxn>
                  <a:cxn ang="T13">
                    <a:pos x="T6" y="T7"/>
                  </a:cxn>
                  <a:cxn ang="T14">
                    <a:pos x="T8" y="T9"/>
                  </a:cxn>
                </a:cxnLst>
                <a:rect l="T15" t="T16" r="T17" b="T18"/>
                <a:pathLst>
                  <a:path w="249" h="507">
                    <a:moveTo>
                      <a:pt x="249" y="0"/>
                    </a:moveTo>
                    <a:lnTo>
                      <a:pt x="247" y="364"/>
                    </a:lnTo>
                    <a:lnTo>
                      <a:pt x="0" y="507"/>
                    </a:lnTo>
                    <a:lnTo>
                      <a:pt x="0" y="144"/>
                    </a:lnTo>
                    <a:lnTo>
                      <a:pt x="249" y="0"/>
                    </a:lnTo>
                    <a:close/>
                  </a:path>
                </a:pathLst>
              </a:custGeom>
              <a:solidFill>
                <a:srgbClr val="4CFF00"/>
              </a:solidFill>
              <a:ln w="9525">
                <a:noFill/>
                <a:round/>
                <a:headEnd/>
                <a:tailEnd/>
              </a:ln>
            </p:spPr>
            <p:txBody>
              <a:bodyPr/>
              <a:lstStyle/>
              <a:p>
                <a:endParaRPr lang="en-US"/>
              </a:p>
            </p:txBody>
          </p:sp>
          <p:sp>
            <p:nvSpPr>
              <p:cNvPr id="28746" name="Freeform 36"/>
              <p:cNvSpPr>
                <a:spLocks/>
              </p:cNvSpPr>
              <p:nvPr/>
            </p:nvSpPr>
            <p:spPr bwMode="auto">
              <a:xfrm>
                <a:off x="2288" y="3499"/>
                <a:ext cx="11" cy="188"/>
              </a:xfrm>
              <a:custGeom>
                <a:avLst/>
                <a:gdLst>
                  <a:gd name="T0" fmla="*/ 0 w 24"/>
                  <a:gd name="T1" fmla="*/ 1 h 375"/>
                  <a:gd name="T2" fmla="*/ 0 w 24"/>
                  <a:gd name="T3" fmla="*/ 1 h 375"/>
                  <a:gd name="T4" fmla="*/ 0 w 24"/>
                  <a:gd name="T5" fmla="*/ 0 h 375"/>
                  <a:gd name="T6" fmla="*/ 0 w 24"/>
                  <a:gd name="T7" fmla="*/ 0 h 375"/>
                  <a:gd name="T8" fmla="*/ 0 w 24"/>
                  <a:gd name="T9" fmla="*/ 1 h 375"/>
                  <a:gd name="T10" fmla="*/ 0 w 24"/>
                  <a:gd name="T11" fmla="*/ 1 h 375"/>
                  <a:gd name="T12" fmla="*/ 0 w 24"/>
                  <a:gd name="T13" fmla="*/ 1 h 375"/>
                  <a:gd name="T14" fmla="*/ 0 w 24"/>
                  <a:gd name="T15" fmla="*/ 1 h 375"/>
                  <a:gd name="T16" fmla="*/ 0 w 24"/>
                  <a:gd name="T17" fmla="*/ 1 h 375"/>
                  <a:gd name="T18" fmla="*/ 0 w 24"/>
                  <a:gd name="T19" fmla="*/ 1 h 375"/>
                  <a:gd name="T20" fmla="*/ 0 w 24"/>
                  <a:gd name="T21" fmla="*/ 1 h 375"/>
                  <a:gd name="T22" fmla="*/ 0 w 24"/>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75"/>
                  <a:gd name="T38" fmla="*/ 24 w 24"/>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75">
                    <a:moveTo>
                      <a:pt x="16" y="374"/>
                    </a:moveTo>
                    <a:lnTo>
                      <a:pt x="22" y="364"/>
                    </a:lnTo>
                    <a:lnTo>
                      <a:pt x="24" y="0"/>
                    </a:lnTo>
                    <a:lnTo>
                      <a:pt x="2" y="0"/>
                    </a:lnTo>
                    <a:lnTo>
                      <a:pt x="0" y="364"/>
                    </a:lnTo>
                    <a:lnTo>
                      <a:pt x="6" y="355"/>
                    </a:lnTo>
                    <a:lnTo>
                      <a:pt x="0" y="364"/>
                    </a:lnTo>
                    <a:lnTo>
                      <a:pt x="3" y="372"/>
                    </a:lnTo>
                    <a:lnTo>
                      <a:pt x="11" y="375"/>
                    </a:lnTo>
                    <a:lnTo>
                      <a:pt x="19" y="372"/>
                    </a:lnTo>
                    <a:lnTo>
                      <a:pt x="22" y="364"/>
                    </a:lnTo>
                    <a:lnTo>
                      <a:pt x="16" y="374"/>
                    </a:lnTo>
                    <a:close/>
                  </a:path>
                </a:pathLst>
              </a:custGeom>
              <a:solidFill>
                <a:srgbClr val="000000"/>
              </a:solidFill>
              <a:ln w="9525">
                <a:noFill/>
                <a:round/>
                <a:headEnd/>
                <a:tailEnd/>
              </a:ln>
            </p:spPr>
            <p:txBody>
              <a:bodyPr/>
              <a:lstStyle/>
              <a:p>
                <a:endParaRPr lang="en-US"/>
              </a:p>
            </p:txBody>
          </p:sp>
          <p:sp>
            <p:nvSpPr>
              <p:cNvPr id="28747" name="Freeform 37"/>
              <p:cNvSpPr>
                <a:spLocks/>
              </p:cNvSpPr>
              <p:nvPr/>
            </p:nvSpPr>
            <p:spPr bwMode="auto">
              <a:xfrm>
                <a:off x="2164" y="3677"/>
                <a:ext cx="131" cy="80"/>
              </a:xfrm>
              <a:custGeom>
                <a:avLst/>
                <a:gdLst>
                  <a:gd name="T0" fmla="*/ 0 w 263"/>
                  <a:gd name="T1" fmla="*/ 0 h 161"/>
                  <a:gd name="T2" fmla="*/ 0 w 263"/>
                  <a:gd name="T3" fmla="*/ 0 h 161"/>
                  <a:gd name="T4" fmla="*/ 0 w 263"/>
                  <a:gd name="T5" fmla="*/ 0 h 161"/>
                  <a:gd name="T6" fmla="*/ 0 w 263"/>
                  <a:gd name="T7" fmla="*/ 0 h 161"/>
                  <a:gd name="T8" fmla="*/ 0 w 263"/>
                  <a:gd name="T9" fmla="*/ 0 h 161"/>
                  <a:gd name="T10" fmla="*/ 0 w 263"/>
                  <a:gd name="T11" fmla="*/ 0 h 161"/>
                  <a:gd name="T12" fmla="*/ 0 w 263"/>
                  <a:gd name="T13" fmla="*/ 0 h 161"/>
                  <a:gd name="T14" fmla="*/ 0 w 263"/>
                  <a:gd name="T15" fmla="*/ 0 h 161"/>
                  <a:gd name="T16" fmla="*/ 0 w 263"/>
                  <a:gd name="T17" fmla="*/ 0 h 161"/>
                  <a:gd name="T18" fmla="*/ 0 w 263"/>
                  <a:gd name="T19" fmla="*/ 0 h 161"/>
                  <a:gd name="T20" fmla="*/ 0 w 263"/>
                  <a:gd name="T21" fmla="*/ 0 h 161"/>
                  <a:gd name="T22" fmla="*/ 0 w 263"/>
                  <a:gd name="T23" fmla="*/ 0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1"/>
                  <a:gd name="T38" fmla="*/ 263 w 263"/>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1">
                    <a:moveTo>
                      <a:pt x="0" y="152"/>
                    </a:moveTo>
                    <a:lnTo>
                      <a:pt x="15" y="161"/>
                    </a:lnTo>
                    <a:lnTo>
                      <a:pt x="263" y="19"/>
                    </a:lnTo>
                    <a:lnTo>
                      <a:pt x="253" y="0"/>
                    </a:lnTo>
                    <a:lnTo>
                      <a:pt x="6" y="142"/>
                    </a:lnTo>
                    <a:lnTo>
                      <a:pt x="22" y="152"/>
                    </a:lnTo>
                    <a:lnTo>
                      <a:pt x="6" y="142"/>
                    </a:lnTo>
                    <a:lnTo>
                      <a:pt x="0" y="149"/>
                    </a:lnTo>
                    <a:lnTo>
                      <a:pt x="1" y="157"/>
                    </a:lnTo>
                    <a:lnTo>
                      <a:pt x="8" y="161"/>
                    </a:lnTo>
                    <a:lnTo>
                      <a:pt x="15" y="161"/>
                    </a:lnTo>
                    <a:lnTo>
                      <a:pt x="0" y="152"/>
                    </a:lnTo>
                    <a:close/>
                  </a:path>
                </a:pathLst>
              </a:custGeom>
              <a:solidFill>
                <a:srgbClr val="000000"/>
              </a:solidFill>
              <a:ln w="9525">
                <a:noFill/>
                <a:round/>
                <a:headEnd/>
                <a:tailEnd/>
              </a:ln>
            </p:spPr>
            <p:txBody>
              <a:bodyPr/>
              <a:lstStyle/>
              <a:p>
                <a:endParaRPr lang="en-US"/>
              </a:p>
            </p:txBody>
          </p:sp>
          <p:sp>
            <p:nvSpPr>
              <p:cNvPr id="28748" name="Freeform 38"/>
              <p:cNvSpPr>
                <a:spLocks/>
              </p:cNvSpPr>
              <p:nvPr/>
            </p:nvSpPr>
            <p:spPr bwMode="auto">
              <a:xfrm>
                <a:off x="2164" y="3565"/>
                <a:ext cx="11" cy="187"/>
              </a:xfrm>
              <a:custGeom>
                <a:avLst/>
                <a:gdLst>
                  <a:gd name="T0" fmla="*/ 1 w 22"/>
                  <a:gd name="T1" fmla="*/ 1 h 374"/>
                  <a:gd name="T2" fmla="*/ 0 w 22"/>
                  <a:gd name="T3" fmla="*/ 1 h 374"/>
                  <a:gd name="T4" fmla="*/ 0 w 22"/>
                  <a:gd name="T5" fmla="*/ 1 h 374"/>
                  <a:gd name="T6" fmla="*/ 1 w 22"/>
                  <a:gd name="T7" fmla="*/ 1 h 374"/>
                  <a:gd name="T8" fmla="*/ 1 w 22"/>
                  <a:gd name="T9" fmla="*/ 1 h 374"/>
                  <a:gd name="T10" fmla="*/ 1 w 22"/>
                  <a:gd name="T11" fmla="*/ 1 h 374"/>
                  <a:gd name="T12" fmla="*/ 1 w 22"/>
                  <a:gd name="T13" fmla="*/ 1 h 374"/>
                  <a:gd name="T14" fmla="*/ 1 w 22"/>
                  <a:gd name="T15" fmla="*/ 1 h 374"/>
                  <a:gd name="T16" fmla="*/ 1 w 22"/>
                  <a:gd name="T17" fmla="*/ 0 h 374"/>
                  <a:gd name="T18" fmla="*/ 1 w 22"/>
                  <a:gd name="T19" fmla="*/ 1 h 374"/>
                  <a:gd name="T20" fmla="*/ 0 w 22"/>
                  <a:gd name="T21" fmla="*/ 1 h 374"/>
                  <a:gd name="T22" fmla="*/ 1 w 22"/>
                  <a:gd name="T23" fmla="*/ 1 h 37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4"/>
                  <a:gd name="T38" fmla="*/ 22 w 22"/>
                  <a:gd name="T39" fmla="*/ 374 h 37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4">
                    <a:moveTo>
                      <a:pt x="4" y="1"/>
                    </a:moveTo>
                    <a:lnTo>
                      <a:pt x="0" y="11"/>
                    </a:lnTo>
                    <a:lnTo>
                      <a:pt x="0" y="374"/>
                    </a:lnTo>
                    <a:lnTo>
                      <a:pt x="22" y="374"/>
                    </a:lnTo>
                    <a:lnTo>
                      <a:pt x="22" y="11"/>
                    </a:lnTo>
                    <a:lnTo>
                      <a:pt x="17" y="20"/>
                    </a:lnTo>
                    <a:lnTo>
                      <a:pt x="22" y="11"/>
                    </a:lnTo>
                    <a:lnTo>
                      <a:pt x="19" y="3"/>
                    </a:lnTo>
                    <a:lnTo>
                      <a:pt x="11" y="0"/>
                    </a:lnTo>
                    <a:lnTo>
                      <a:pt x="3" y="3"/>
                    </a:lnTo>
                    <a:lnTo>
                      <a:pt x="0" y="11"/>
                    </a:lnTo>
                    <a:lnTo>
                      <a:pt x="4" y="1"/>
                    </a:lnTo>
                    <a:close/>
                  </a:path>
                </a:pathLst>
              </a:custGeom>
              <a:solidFill>
                <a:srgbClr val="000000"/>
              </a:solidFill>
              <a:ln w="9525">
                <a:noFill/>
                <a:round/>
                <a:headEnd/>
                <a:tailEnd/>
              </a:ln>
            </p:spPr>
            <p:txBody>
              <a:bodyPr/>
              <a:lstStyle/>
              <a:p>
                <a:endParaRPr lang="en-US"/>
              </a:p>
            </p:txBody>
          </p:sp>
          <p:sp>
            <p:nvSpPr>
              <p:cNvPr id="28749" name="Freeform 39"/>
              <p:cNvSpPr>
                <a:spLocks/>
              </p:cNvSpPr>
              <p:nvPr/>
            </p:nvSpPr>
            <p:spPr bwMode="auto">
              <a:xfrm>
                <a:off x="2166" y="3493"/>
                <a:ext cx="133" cy="83"/>
              </a:xfrm>
              <a:custGeom>
                <a:avLst/>
                <a:gdLst>
                  <a:gd name="T0" fmla="*/ 0 w 267"/>
                  <a:gd name="T1" fmla="*/ 1 h 164"/>
                  <a:gd name="T2" fmla="*/ 0 w 267"/>
                  <a:gd name="T3" fmla="*/ 1 h 164"/>
                  <a:gd name="T4" fmla="*/ 0 w 267"/>
                  <a:gd name="T5" fmla="*/ 1 h 164"/>
                  <a:gd name="T6" fmla="*/ 0 w 267"/>
                  <a:gd name="T7" fmla="*/ 1 h 164"/>
                  <a:gd name="T8" fmla="*/ 0 w 267"/>
                  <a:gd name="T9" fmla="*/ 1 h 164"/>
                  <a:gd name="T10" fmla="*/ 0 w 267"/>
                  <a:gd name="T11" fmla="*/ 1 h 164"/>
                  <a:gd name="T12" fmla="*/ 0 w 267"/>
                  <a:gd name="T13" fmla="*/ 1 h 164"/>
                  <a:gd name="T14" fmla="*/ 0 w 267"/>
                  <a:gd name="T15" fmla="*/ 1 h 164"/>
                  <a:gd name="T16" fmla="*/ 0 w 267"/>
                  <a:gd name="T17" fmla="*/ 1 h 164"/>
                  <a:gd name="T18" fmla="*/ 0 w 267"/>
                  <a:gd name="T19" fmla="*/ 0 h 164"/>
                  <a:gd name="T20" fmla="*/ 0 w 267"/>
                  <a:gd name="T21" fmla="*/ 1 h 164"/>
                  <a:gd name="T22" fmla="*/ 0 w 267"/>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7"/>
                  <a:gd name="T37" fmla="*/ 0 h 164"/>
                  <a:gd name="T38" fmla="*/ 267 w 267"/>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7" h="164">
                    <a:moveTo>
                      <a:pt x="267" y="11"/>
                    </a:moveTo>
                    <a:lnTo>
                      <a:pt x="249" y="2"/>
                    </a:lnTo>
                    <a:lnTo>
                      <a:pt x="0" y="145"/>
                    </a:lnTo>
                    <a:lnTo>
                      <a:pt x="13" y="164"/>
                    </a:lnTo>
                    <a:lnTo>
                      <a:pt x="262" y="20"/>
                    </a:lnTo>
                    <a:lnTo>
                      <a:pt x="245" y="11"/>
                    </a:lnTo>
                    <a:lnTo>
                      <a:pt x="262" y="20"/>
                    </a:lnTo>
                    <a:lnTo>
                      <a:pt x="267" y="12"/>
                    </a:lnTo>
                    <a:lnTo>
                      <a:pt x="265" y="5"/>
                    </a:lnTo>
                    <a:lnTo>
                      <a:pt x="259" y="0"/>
                    </a:lnTo>
                    <a:lnTo>
                      <a:pt x="249" y="2"/>
                    </a:lnTo>
                    <a:lnTo>
                      <a:pt x="267" y="11"/>
                    </a:lnTo>
                    <a:close/>
                  </a:path>
                </a:pathLst>
              </a:custGeom>
              <a:solidFill>
                <a:srgbClr val="000000"/>
              </a:solidFill>
              <a:ln w="9525">
                <a:noFill/>
                <a:round/>
                <a:headEnd/>
                <a:tailEnd/>
              </a:ln>
            </p:spPr>
            <p:txBody>
              <a:bodyPr/>
              <a:lstStyle/>
              <a:p>
                <a:endParaRPr lang="en-US"/>
              </a:p>
            </p:txBody>
          </p:sp>
          <p:sp>
            <p:nvSpPr>
              <p:cNvPr id="28750" name="Freeform 40"/>
              <p:cNvSpPr>
                <a:spLocks/>
              </p:cNvSpPr>
              <p:nvPr/>
            </p:nvSpPr>
            <p:spPr bwMode="auto">
              <a:xfrm>
                <a:off x="1536" y="3312"/>
                <a:ext cx="768" cy="440"/>
              </a:xfrm>
              <a:custGeom>
                <a:avLst/>
                <a:gdLst>
                  <a:gd name="T0" fmla="*/ 0 w 1536"/>
                  <a:gd name="T1" fmla="*/ 1 h 879"/>
                  <a:gd name="T2" fmla="*/ 1 w 1536"/>
                  <a:gd name="T3" fmla="*/ 0 h 879"/>
                  <a:gd name="T4" fmla="*/ 1 w 1536"/>
                  <a:gd name="T5" fmla="*/ 1 h 879"/>
                  <a:gd name="T6" fmla="*/ 1 w 1536"/>
                  <a:gd name="T7" fmla="*/ 1 h 879"/>
                  <a:gd name="T8" fmla="*/ 0 w 1536"/>
                  <a:gd name="T9" fmla="*/ 1 h 879"/>
                  <a:gd name="T10" fmla="*/ 0 60000 65536"/>
                  <a:gd name="T11" fmla="*/ 0 60000 65536"/>
                  <a:gd name="T12" fmla="*/ 0 60000 65536"/>
                  <a:gd name="T13" fmla="*/ 0 60000 65536"/>
                  <a:gd name="T14" fmla="*/ 0 60000 65536"/>
                  <a:gd name="T15" fmla="*/ 0 w 1536"/>
                  <a:gd name="T16" fmla="*/ 0 h 879"/>
                  <a:gd name="T17" fmla="*/ 1536 w 1536"/>
                  <a:gd name="T18" fmla="*/ 879 h 879"/>
                </a:gdLst>
                <a:ahLst/>
                <a:cxnLst>
                  <a:cxn ang="T10">
                    <a:pos x="T0" y="T1"/>
                  </a:cxn>
                  <a:cxn ang="T11">
                    <a:pos x="T2" y="T3"/>
                  </a:cxn>
                  <a:cxn ang="T12">
                    <a:pos x="T4" y="T5"/>
                  </a:cxn>
                  <a:cxn ang="T13">
                    <a:pos x="T6" y="T7"/>
                  </a:cxn>
                  <a:cxn ang="T14">
                    <a:pos x="T8" y="T9"/>
                  </a:cxn>
                </a:cxnLst>
                <a:rect l="T15" t="T16" r="T17" b="T18"/>
                <a:pathLst>
                  <a:path w="1536" h="879">
                    <a:moveTo>
                      <a:pt x="0" y="544"/>
                    </a:moveTo>
                    <a:lnTo>
                      <a:pt x="932" y="0"/>
                    </a:lnTo>
                    <a:lnTo>
                      <a:pt x="1536" y="335"/>
                    </a:lnTo>
                    <a:lnTo>
                      <a:pt x="608" y="879"/>
                    </a:lnTo>
                    <a:lnTo>
                      <a:pt x="0" y="544"/>
                    </a:lnTo>
                    <a:close/>
                  </a:path>
                </a:pathLst>
              </a:custGeom>
              <a:solidFill>
                <a:srgbClr val="B2FF4C"/>
              </a:solidFill>
              <a:ln w="9525">
                <a:noFill/>
                <a:round/>
                <a:headEnd/>
                <a:tailEnd/>
              </a:ln>
            </p:spPr>
            <p:txBody>
              <a:bodyPr/>
              <a:lstStyle/>
              <a:p>
                <a:endParaRPr lang="en-US"/>
              </a:p>
            </p:txBody>
          </p:sp>
          <p:sp>
            <p:nvSpPr>
              <p:cNvPr id="28751" name="Freeform 41"/>
              <p:cNvSpPr>
                <a:spLocks/>
              </p:cNvSpPr>
              <p:nvPr/>
            </p:nvSpPr>
            <p:spPr bwMode="auto">
              <a:xfrm>
                <a:off x="1533" y="3307"/>
                <a:ext cx="474" cy="282"/>
              </a:xfrm>
              <a:custGeom>
                <a:avLst/>
                <a:gdLst>
                  <a:gd name="T0" fmla="*/ 0 w 949"/>
                  <a:gd name="T1" fmla="*/ 0 h 565"/>
                  <a:gd name="T2" fmla="*/ 0 w 949"/>
                  <a:gd name="T3" fmla="*/ 0 h 565"/>
                  <a:gd name="T4" fmla="*/ 0 w 949"/>
                  <a:gd name="T5" fmla="*/ 0 h 565"/>
                  <a:gd name="T6" fmla="*/ 0 w 949"/>
                  <a:gd name="T7" fmla="*/ 0 h 565"/>
                  <a:gd name="T8" fmla="*/ 0 w 949"/>
                  <a:gd name="T9" fmla="*/ 0 h 565"/>
                  <a:gd name="T10" fmla="*/ 0 w 949"/>
                  <a:gd name="T11" fmla="*/ 0 h 565"/>
                  <a:gd name="T12" fmla="*/ 0 w 949"/>
                  <a:gd name="T13" fmla="*/ 0 h 565"/>
                  <a:gd name="T14" fmla="*/ 0 w 949"/>
                  <a:gd name="T15" fmla="*/ 0 h 565"/>
                  <a:gd name="T16" fmla="*/ 0 w 949"/>
                  <a:gd name="T17" fmla="*/ 0 h 565"/>
                  <a:gd name="T18" fmla="*/ 0 w 949"/>
                  <a:gd name="T19" fmla="*/ 0 h 565"/>
                  <a:gd name="T20" fmla="*/ 0 w 949"/>
                  <a:gd name="T21" fmla="*/ 0 h 565"/>
                  <a:gd name="T22" fmla="*/ 0 w 949"/>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9"/>
                  <a:gd name="T37" fmla="*/ 0 h 565"/>
                  <a:gd name="T38" fmla="*/ 949 w 949"/>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9" h="565">
                    <a:moveTo>
                      <a:pt x="942" y="2"/>
                    </a:moveTo>
                    <a:lnTo>
                      <a:pt x="931" y="2"/>
                    </a:lnTo>
                    <a:lnTo>
                      <a:pt x="0" y="546"/>
                    </a:lnTo>
                    <a:lnTo>
                      <a:pt x="12" y="565"/>
                    </a:lnTo>
                    <a:lnTo>
                      <a:pt x="944" y="20"/>
                    </a:lnTo>
                    <a:lnTo>
                      <a:pt x="933" y="20"/>
                    </a:lnTo>
                    <a:lnTo>
                      <a:pt x="944" y="20"/>
                    </a:lnTo>
                    <a:lnTo>
                      <a:pt x="949" y="13"/>
                    </a:lnTo>
                    <a:lnTo>
                      <a:pt x="947" y="5"/>
                    </a:lnTo>
                    <a:lnTo>
                      <a:pt x="941" y="0"/>
                    </a:lnTo>
                    <a:lnTo>
                      <a:pt x="931" y="2"/>
                    </a:lnTo>
                    <a:lnTo>
                      <a:pt x="942" y="2"/>
                    </a:lnTo>
                    <a:close/>
                  </a:path>
                </a:pathLst>
              </a:custGeom>
              <a:solidFill>
                <a:srgbClr val="000000"/>
              </a:solidFill>
              <a:ln w="9525">
                <a:noFill/>
                <a:round/>
                <a:headEnd/>
                <a:tailEnd/>
              </a:ln>
            </p:spPr>
            <p:txBody>
              <a:bodyPr/>
              <a:lstStyle/>
              <a:p>
                <a:endParaRPr lang="en-US"/>
              </a:p>
            </p:txBody>
          </p:sp>
          <p:sp>
            <p:nvSpPr>
              <p:cNvPr id="28752" name="Freeform 42"/>
              <p:cNvSpPr>
                <a:spLocks/>
              </p:cNvSpPr>
              <p:nvPr/>
            </p:nvSpPr>
            <p:spPr bwMode="auto">
              <a:xfrm>
                <a:off x="1999" y="3307"/>
                <a:ext cx="310" cy="177"/>
              </a:xfrm>
              <a:custGeom>
                <a:avLst/>
                <a:gdLst>
                  <a:gd name="T0" fmla="*/ 1 w 620"/>
                  <a:gd name="T1" fmla="*/ 1 h 353"/>
                  <a:gd name="T2" fmla="*/ 1 w 620"/>
                  <a:gd name="T3" fmla="*/ 1 h 353"/>
                  <a:gd name="T4" fmla="*/ 1 w 620"/>
                  <a:gd name="T5" fmla="*/ 0 h 353"/>
                  <a:gd name="T6" fmla="*/ 0 w 620"/>
                  <a:gd name="T7" fmla="*/ 1 h 353"/>
                  <a:gd name="T8" fmla="*/ 1 w 620"/>
                  <a:gd name="T9" fmla="*/ 1 h 353"/>
                  <a:gd name="T10" fmla="*/ 1 w 620"/>
                  <a:gd name="T11" fmla="*/ 1 h 353"/>
                  <a:gd name="T12" fmla="*/ 1 w 620"/>
                  <a:gd name="T13" fmla="*/ 1 h 353"/>
                  <a:gd name="T14" fmla="*/ 1 w 620"/>
                  <a:gd name="T15" fmla="*/ 1 h 353"/>
                  <a:gd name="T16" fmla="*/ 1 w 620"/>
                  <a:gd name="T17" fmla="*/ 1 h 353"/>
                  <a:gd name="T18" fmla="*/ 1 w 620"/>
                  <a:gd name="T19" fmla="*/ 1 h 353"/>
                  <a:gd name="T20" fmla="*/ 1 w 620"/>
                  <a:gd name="T21" fmla="*/ 1 h 353"/>
                  <a:gd name="T22" fmla="*/ 1 w 620"/>
                  <a:gd name="T23" fmla="*/ 1 h 3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0"/>
                  <a:gd name="T37" fmla="*/ 0 h 353"/>
                  <a:gd name="T38" fmla="*/ 620 w 620"/>
                  <a:gd name="T39" fmla="*/ 353 h 3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0" h="353">
                    <a:moveTo>
                      <a:pt x="615" y="353"/>
                    </a:moveTo>
                    <a:lnTo>
                      <a:pt x="614" y="334"/>
                    </a:lnTo>
                    <a:lnTo>
                      <a:pt x="9" y="0"/>
                    </a:lnTo>
                    <a:lnTo>
                      <a:pt x="0" y="18"/>
                    </a:lnTo>
                    <a:lnTo>
                      <a:pt x="604" y="353"/>
                    </a:lnTo>
                    <a:lnTo>
                      <a:pt x="603" y="334"/>
                    </a:lnTo>
                    <a:lnTo>
                      <a:pt x="604" y="353"/>
                    </a:lnTo>
                    <a:lnTo>
                      <a:pt x="612" y="353"/>
                    </a:lnTo>
                    <a:lnTo>
                      <a:pt x="618" y="349"/>
                    </a:lnTo>
                    <a:lnTo>
                      <a:pt x="620" y="341"/>
                    </a:lnTo>
                    <a:lnTo>
                      <a:pt x="614" y="334"/>
                    </a:lnTo>
                    <a:lnTo>
                      <a:pt x="615" y="353"/>
                    </a:lnTo>
                    <a:close/>
                  </a:path>
                </a:pathLst>
              </a:custGeom>
              <a:solidFill>
                <a:srgbClr val="000000"/>
              </a:solidFill>
              <a:ln w="9525">
                <a:noFill/>
                <a:round/>
                <a:headEnd/>
                <a:tailEnd/>
              </a:ln>
            </p:spPr>
            <p:txBody>
              <a:bodyPr/>
              <a:lstStyle/>
              <a:p>
                <a:endParaRPr lang="en-US"/>
              </a:p>
            </p:txBody>
          </p:sp>
          <p:sp>
            <p:nvSpPr>
              <p:cNvPr id="28753" name="Freeform 43"/>
              <p:cNvSpPr>
                <a:spLocks/>
              </p:cNvSpPr>
              <p:nvPr/>
            </p:nvSpPr>
            <p:spPr bwMode="auto">
              <a:xfrm>
                <a:off x="1834" y="3475"/>
                <a:ext cx="473" cy="282"/>
              </a:xfrm>
              <a:custGeom>
                <a:avLst/>
                <a:gdLst>
                  <a:gd name="T0" fmla="*/ 1 w 945"/>
                  <a:gd name="T1" fmla="*/ 0 h 565"/>
                  <a:gd name="T2" fmla="*/ 1 w 945"/>
                  <a:gd name="T3" fmla="*/ 0 h 565"/>
                  <a:gd name="T4" fmla="*/ 1 w 945"/>
                  <a:gd name="T5" fmla="*/ 0 h 565"/>
                  <a:gd name="T6" fmla="*/ 1 w 945"/>
                  <a:gd name="T7" fmla="*/ 0 h 565"/>
                  <a:gd name="T8" fmla="*/ 1 w 945"/>
                  <a:gd name="T9" fmla="*/ 0 h 565"/>
                  <a:gd name="T10" fmla="*/ 1 w 945"/>
                  <a:gd name="T11" fmla="*/ 0 h 565"/>
                  <a:gd name="T12" fmla="*/ 1 w 945"/>
                  <a:gd name="T13" fmla="*/ 0 h 565"/>
                  <a:gd name="T14" fmla="*/ 0 w 945"/>
                  <a:gd name="T15" fmla="*/ 0 h 565"/>
                  <a:gd name="T16" fmla="*/ 1 w 945"/>
                  <a:gd name="T17" fmla="*/ 0 h 565"/>
                  <a:gd name="T18" fmla="*/ 1 w 945"/>
                  <a:gd name="T19" fmla="*/ 0 h 565"/>
                  <a:gd name="T20" fmla="*/ 1 w 945"/>
                  <a:gd name="T21" fmla="*/ 0 h 565"/>
                  <a:gd name="T22" fmla="*/ 1 w 945"/>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5"/>
                  <a:gd name="T37" fmla="*/ 0 h 565"/>
                  <a:gd name="T38" fmla="*/ 945 w 945"/>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5" h="565">
                    <a:moveTo>
                      <a:pt x="6" y="564"/>
                    </a:moveTo>
                    <a:lnTo>
                      <a:pt x="17" y="564"/>
                    </a:lnTo>
                    <a:lnTo>
                      <a:pt x="945" y="19"/>
                    </a:lnTo>
                    <a:lnTo>
                      <a:pt x="933" y="0"/>
                    </a:lnTo>
                    <a:lnTo>
                      <a:pt x="4" y="545"/>
                    </a:lnTo>
                    <a:lnTo>
                      <a:pt x="15" y="545"/>
                    </a:lnTo>
                    <a:lnTo>
                      <a:pt x="4" y="545"/>
                    </a:lnTo>
                    <a:lnTo>
                      <a:pt x="0" y="553"/>
                    </a:lnTo>
                    <a:lnTo>
                      <a:pt x="1" y="561"/>
                    </a:lnTo>
                    <a:lnTo>
                      <a:pt x="7" y="565"/>
                    </a:lnTo>
                    <a:lnTo>
                      <a:pt x="17" y="564"/>
                    </a:lnTo>
                    <a:lnTo>
                      <a:pt x="6" y="564"/>
                    </a:lnTo>
                    <a:close/>
                  </a:path>
                </a:pathLst>
              </a:custGeom>
              <a:solidFill>
                <a:srgbClr val="000000"/>
              </a:solidFill>
              <a:ln w="9525">
                <a:noFill/>
                <a:round/>
                <a:headEnd/>
                <a:tailEnd/>
              </a:ln>
            </p:spPr>
            <p:txBody>
              <a:bodyPr/>
              <a:lstStyle/>
              <a:p>
                <a:endParaRPr lang="en-US"/>
              </a:p>
            </p:txBody>
          </p:sp>
          <p:sp>
            <p:nvSpPr>
              <p:cNvPr id="28754" name="Freeform 44"/>
              <p:cNvSpPr>
                <a:spLocks/>
              </p:cNvSpPr>
              <p:nvPr/>
            </p:nvSpPr>
            <p:spPr bwMode="auto">
              <a:xfrm>
                <a:off x="1531" y="3580"/>
                <a:ext cx="311" cy="176"/>
              </a:xfrm>
              <a:custGeom>
                <a:avLst/>
                <a:gdLst>
                  <a:gd name="T0" fmla="*/ 0 w 623"/>
                  <a:gd name="T1" fmla="*/ 0 h 354"/>
                  <a:gd name="T2" fmla="*/ 0 w 623"/>
                  <a:gd name="T3" fmla="*/ 0 h 354"/>
                  <a:gd name="T4" fmla="*/ 0 w 623"/>
                  <a:gd name="T5" fmla="*/ 0 h 354"/>
                  <a:gd name="T6" fmla="*/ 0 w 623"/>
                  <a:gd name="T7" fmla="*/ 0 h 354"/>
                  <a:gd name="T8" fmla="*/ 0 w 623"/>
                  <a:gd name="T9" fmla="*/ 0 h 354"/>
                  <a:gd name="T10" fmla="*/ 0 w 623"/>
                  <a:gd name="T11" fmla="*/ 0 h 354"/>
                  <a:gd name="T12" fmla="*/ 0 w 623"/>
                  <a:gd name="T13" fmla="*/ 0 h 354"/>
                  <a:gd name="T14" fmla="*/ 0 w 623"/>
                  <a:gd name="T15" fmla="*/ 0 h 354"/>
                  <a:gd name="T16" fmla="*/ 0 w 623"/>
                  <a:gd name="T17" fmla="*/ 0 h 354"/>
                  <a:gd name="T18" fmla="*/ 0 w 623"/>
                  <a:gd name="T19" fmla="*/ 0 h 354"/>
                  <a:gd name="T20" fmla="*/ 0 w 623"/>
                  <a:gd name="T21" fmla="*/ 0 h 354"/>
                  <a:gd name="T22" fmla="*/ 0 w 623"/>
                  <a:gd name="T23" fmla="*/ 0 h 3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3"/>
                  <a:gd name="T37" fmla="*/ 0 h 354"/>
                  <a:gd name="T38" fmla="*/ 623 w 623"/>
                  <a:gd name="T39" fmla="*/ 354 h 3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3" h="354">
                    <a:moveTo>
                      <a:pt x="5" y="0"/>
                    </a:moveTo>
                    <a:lnTo>
                      <a:pt x="6" y="19"/>
                    </a:lnTo>
                    <a:lnTo>
                      <a:pt x="614" y="354"/>
                    </a:lnTo>
                    <a:lnTo>
                      <a:pt x="623" y="335"/>
                    </a:lnTo>
                    <a:lnTo>
                      <a:pt x="16" y="0"/>
                    </a:lnTo>
                    <a:lnTo>
                      <a:pt x="17" y="19"/>
                    </a:lnTo>
                    <a:lnTo>
                      <a:pt x="16" y="0"/>
                    </a:lnTo>
                    <a:lnTo>
                      <a:pt x="8" y="0"/>
                    </a:lnTo>
                    <a:lnTo>
                      <a:pt x="2" y="5"/>
                    </a:lnTo>
                    <a:lnTo>
                      <a:pt x="0" y="13"/>
                    </a:lnTo>
                    <a:lnTo>
                      <a:pt x="6" y="19"/>
                    </a:lnTo>
                    <a:lnTo>
                      <a:pt x="5" y="0"/>
                    </a:lnTo>
                    <a:close/>
                  </a:path>
                </a:pathLst>
              </a:custGeom>
              <a:solidFill>
                <a:srgbClr val="000000"/>
              </a:solidFill>
              <a:ln w="9525">
                <a:noFill/>
                <a:round/>
                <a:headEnd/>
                <a:tailEnd/>
              </a:ln>
            </p:spPr>
            <p:txBody>
              <a:bodyPr/>
              <a:lstStyle/>
              <a:p>
                <a:endParaRPr lang="en-US"/>
              </a:p>
            </p:txBody>
          </p:sp>
          <p:sp>
            <p:nvSpPr>
              <p:cNvPr id="28755" name="Freeform 45"/>
              <p:cNvSpPr>
                <a:spLocks/>
              </p:cNvSpPr>
              <p:nvPr/>
            </p:nvSpPr>
            <p:spPr bwMode="auto">
              <a:xfrm>
                <a:off x="1555" y="3605"/>
                <a:ext cx="285" cy="343"/>
              </a:xfrm>
              <a:custGeom>
                <a:avLst/>
                <a:gdLst>
                  <a:gd name="T0" fmla="*/ 0 w 570"/>
                  <a:gd name="T1" fmla="*/ 0 h 685"/>
                  <a:gd name="T2" fmla="*/ 0 w 570"/>
                  <a:gd name="T3" fmla="*/ 1 h 685"/>
                  <a:gd name="T4" fmla="*/ 1 w 570"/>
                  <a:gd name="T5" fmla="*/ 1 h 685"/>
                  <a:gd name="T6" fmla="*/ 1 w 570"/>
                  <a:gd name="T7" fmla="*/ 1 h 685"/>
                  <a:gd name="T8" fmla="*/ 0 w 570"/>
                  <a:gd name="T9" fmla="*/ 0 h 685"/>
                  <a:gd name="T10" fmla="*/ 0 60000 65536"/>
                  <a:gd name="T11" fmla="*/ 0 60000 65536"/>
                  <a:gd name="T12" fmla="*/ 0 60000 65536"/>
                  <a:gd name="T13" fmla="*/ 0 60000 65536"/>
                  <a:gd name="T14" fmla="*/ 0 60000 65536"/>
                  <a:gd name="T15" fmla="*/ 0 w 570"/>
                  <a:gd name="T16" fmla="*/ 0 h 685"/>
                  <a:gd name="T17" fmla="*/ 570 w 570"/>
                  <a:gd name="T18" fmla="*/ 685 h 685"/>
                </a:gdLst>
                <a:ahLst/>
                <a:cxnLst>
                  <a:cxn ang="T10">
                    <a:pos x="T0" y="T1"/>
                  </a:cxn>
                  <a:cxn ang="T11">
                    <a:pos x="T2" y="T3"/>
                  </a:cxn>
                  <a:cxn ang="T12">
                    <a:pos x="T4" y="T5"/>
                  </a:cxn>
                  <a:cxn ang="T13">
                    <a:pos x="T6" y="T7"/>
                  </a:cxn>
                  <a:cxn ang="T14">
                    <a:pos x="T8" y="T9"/>
                  </a:cxn>
                </a:cxnLst>
                <a:rect l="T15" t="T16" r="T17" b="T18"/>
                <a:pathLst>
                  <a:path w="570" h="685">
                    <a:moveTo>
                      <a:pt x="0" y="0"/>
                    </a:moveTo>
                    <a:lnTo>
                      <a:pt x="0" y="364"/>
                    </a:lnTo>
                    <a:lnTo>
                      <a:pt x="570" y="685"/>
                    </a:lnTo>
                    <a:lnTo>
                      <a:pt x="570" y="320"/>
                    </a:lnTo>
                    <a:lnTo>
                      <a:pt x="0" y="0"/>
                    </a:lnTo>
                    <a:close/>
                  </a:path>
                </a:pathLst>
              </a:custGeom>
              <a:solidFill>
                <a:srgbClr val="8CFF00"/>
              </a:solidFill>
              <a:ln w="9525">
                <a:noFill/>
                <a:round/>
                <a:headEnd/>
                <a:tailEnd/>
              </a:ln>
            </p:spPr>
            <p:txBody>
              <a:bodyPr/>
              <a:lstStyle/>
              <a:p>
                <a:endParaRPr lang="en-US"/>
              </a:p>
            </p:txBody>
          </p:sp>
          <p:sp>
            <p:nvSpPr>
              <p:cNvPr id="28756" name="Freeform 46"/>
              <p:cNvSpPr>
                <a:spLocks/>
              </p:cNvSpPr>
              <p:nvPr/>
            </p:nvSpPr>
            <p:spPr bwMode="auto">
              <a:xfrm>
                <a:off x="1549" y="3605"/>
                <a:ext cx="11" cy="188"/>
              </a:xfrm>
              <a:custGeom>
                <a:avLst/>
                <a:gdLst>
                  <a:gd name="T0" fmla="*/ 1 w 22"/>
                  <a:gd name="T1" fmla="*/ 1 h 375"/>
                  <a:gd name="T2" fmla="*/ 1 w 22"/>
                  <a:gd name="T3" fmla="*/ 1 h 375"/>
                  <a:gd name="T4" fmla="*/ 1 w 22"/>
                  <a:gd name="T5" fmla="*/ 0 h 375"/>
                  <a:gd name="T6" fmla="*/ 0 w 22"/>
                  <a:gd name="T7" fmla="*/ 0 h 375"/>
                  <a:gd name="T8" fmla="*/ 0 w 22"/>
                  <a:gd name="T9" fmla="*/ 1 h 375"/>
                  <a:gd name="T10" fmla="*/ 1 w 22"/>
                  <a:gd name="T11" fmla="*/ 1 h 375"/>
                  <a:gd name="T12" fmla="*/ 0 w 22"/>
                  <a:gd name="T13" fmla="*/ 1 h 375"/>
                  <a:gd name="T14" fmla="*/ 1 w 22"/>
                  <a:gd name="T15" fmla="*/ 1 h 375"/>
                  <a:gd name="T16" fmla="*/ 1 w 22"/>
                  <a:gd name="T17" fmla="*/ 1 h 375"/>
                  <a:gd name="T18" fmla="*/ 1 w 22"/>
                  <a:gd name="T19" fmla="*/ 1 h 375"/>
                  <a:gd name="T20" fmla="*/ 1 w 22"/>
                  <a:gd name="T21" fmla="*/ 1 h 375"/>
                  <a:gd name="T22" fmla="*/ 1 w 22"/>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5"/>
                  <a:gd name="T38" fmla="*/ 22 w 22"/>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5">
                    <a:moveTo>
                      <a:pt x="15" y="355"/>
                    </a:moveTo>
                    <a:lnTo>
                      <a:pt x="22" y="364"/>
                    </a:lnTo>
                    <a:lnTo>
                      <a:pt x="22" y="0"/>
                    </a:lnTo>
                    <a:lnTo>
                      <a:pt x="0" y="0"/>
                    </a:lnTo>
                    <a:lnTo>
                      <a:pt x="0" y="364"/>
                    </a:lnTo>
                    <a:lnTo>
                      <a:pt x="6" y="374"/>
                    </a:lnTo>
                    <a:lnTo>
                      <a:pt x="0" y="364"/>
                    </a:lnTo>
                    <a:lnTo>
                      <a:pt x="3" y="372"/>
                    </a:lnTo>
                    <a:lnTo>
                      <a:pt x="11" y="375"/>
                    </a:lnTo>
                    <a:lnTo>
                      <a:pt x="18" y="372"/>
                    </a:lnTo>
                    <a:lnTo>
                      <a:pt x="22" y="364"/>
                    </a:lnTo>
                    <a:lnTo>
                      <a:pt x="15" y="355"/>
                    </a:lnTo>
                    <a:close/>
                  </a:path>
                </a:pathLst>
              </a:custGeom>
              <a:solidFill>
                <a:srgbClr val="000000"/>
              </a:solidFill>
              <a:ln w="9525">
                <a:noFill/>
                <a:round/>
                <a:headEnd/>
                <a:tailEnd/>
              </a:ln>
            </p:spPr>
            <p:txBody>
              <a:bodyPr/>
              <a:lstStyle/>
              <a:p>
                <a:endParaRPr lang="en-US"/>
              </a:p>
            </p:txBody>
          </p:sp>
          <p:sp>
            <p:nvSpPr>
              <p:cNvPr id="28757" name="Freeform 47"/>
              <p:cNvSpPr>
                <a:spLocks/>
              </p:cNvSpPr>
              <p:nvPr/>
            </p:nvSpPr>
            <p:spPr bwMode="auto">
              <a:xfrm>
                <a:off x="1552" y="3783"/>
                <a:ext cx="293" cy="170"/>
              </a:xfrm>
              <a:custGeom>
                <a:avLst/>
                <a:gdLst>
                  <a:gd name="T0" fmla="*/ 1 w 585"/>
                  <a:gd name="T1" fmla="*/ 1 h 339"/>
                  <a:gd name="T2" fmla="*/ 1 w 585"/>
                  <a:gd name="T3" fmla="*/ 1 h 339"/>
                  <a:gd name="T4" fmla="*/ 1 w 585"/>
                  <a:gd name="T5" fmla="*/ 0 h 339"/>
                  <a:gd name="T6" fmla="*/ 0 w 585"/>
                  <a:gd name="T7" fmla="*/ 1 h 339"/>
                  <a:gd name="T8" fmla="*/ 1 w 585"/>
                  <a:gd name="T9" fmla="*/ 1 h 339"/>
                  <a:gd name="T10" fmla="*/ 1 w 585"/>
                  <a:gd name="T11" fmla="*/ 1 h 339"/>
                  <a:gd name="T12" fmla="*/ 1 w 585"/>
                  <a:gd name="T13" fmla="*/ 1 h 339"/>
                  <a:gd name="T14" fmla="*/ 1 w 585"/>
                  <a:gd name="T15" fmla="*/ 1 h 339"/>
                  <a:gd name="T16" fmla="*/ 1 w 585"/>
                  <a:gd name="T17" fmla="*/ 1 h 339"/>
                  <a:gd name="T18" fmla="*/ 1 w 585"/>
                  <a:gd name="T19" fmla="*/ 1 h 339"/>
                  <a:gd name="T20" fmla="*/ 1 w 585"/>
                  <a:gd name="T21" fmla="*/ 1 h 339"/>
                  <a:gd name="T22" fmla="*/ 1 w 585"/>
                  <a:gd name="T23" fmla="*/ 1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39"/>
                  <a:gd name="T38" fmla="*/ 585 w 585"/>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39">
                    <a:moveTo>
                      <a:pt x="564" y="330"/>
                    </a:moveTo>
                    <a:lnTo>
                      <a:pt x="579" y="321"/>
                    </a:lnTo>
                    <a:lnTo>
                      <a:pt x="9" y="0"/>
                    </a:lnTo>
                    <a:lnTo>
                      <a:pt x="0" y="19"/>
                    </a:lnTo>
                    <a:lnTo>
                      <a:pt x="570" y="339"/>
                    </a:lnTo>
                    <a:lnTo>
                      <a:pt x="585" y="330"/>
                    </a:lnTo>
                    <a:lnTo>
                      <a:pt x="570" y="339"/>
                    </a:lnTo>
                    <a:lnTo>
                      <a:pt x="578" y="339"/>
                    </a:lnTo>
                    <a:lnTo>
                      <a:pt x="584" y="335"/>
                    </a:lnTo>
                    <a:lnTo>
                      <a:pt x="585" y="327"/>
                    </a:lnTo>
                    <a:lnTo>
                      <a:pt x="579" y="321"/>
                    </a:lnTo>
                    <a:lnTo>
                      <a:pt x="564" y="330"/>
                    </a:lnTo>
                    <a:close/>
                  </a:path>
                </a:pathLst>
              </a:custGeom>
              <a:solidFill>
                <a:srgbClr val="000000"/>
              </a:solidFill>
              <a:ln w="9525">
                <a:noFill/>
                <a:round/>
                <a:headEnd/>
                <a:tailEnd/>
              </a:ln>
            </p:spPr>
            <p:txBody>
              <a:bodyPr/>
              <a:lstStyle/>
              <a:p>
                <a:endParaRPr lang="en-US"/>
              </a:p>
            </p:txBody>
          </p:sp>
          <p:sp>
            <p:nvSpPr>
              <p:cNvPr id="28758" name="Freeform 48"/>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6" y="20"/>
                    </a:moveTo>
                    <a:lnTo>
                      <a:pt x="0" y="10"/>
                    </a:lnTo>
                    <a:lnTo>
                      <a:pt x="0" y="375"/>
                    </a:lnTo>
                    <a:lnTo>
                      <a:pt x="21" y="375"/>
                    </a:lnTo>
                    <a:lnTo>
                      <a:pt x="21" y="10"/>
                    </a:lnTo>
                    <a:lnTo>
                      <a:pt x="15" y="1"/>
                    </a:lnTo>
                    <a:lnTo>
                      <a:pt x="21" y="10"/>
                    </a:lnTo>
                    <a:lnTo>
                      <a:pt x="18" y="3"/>
                    </a:lnTo>
                    <a:lnTo>
                      <a:pt x="11" y="0"/>
                    </a:lnTo>
                    <a:lnTo>
                      <a:pt x="3" y="3"/>
                    </a:lnTo>
                    <a:lnTo>
                      <a:pt x="0" y="10"/>
                    </a:lnTo>
                    <a:lnTo>
                      <a:pt x="6" y="20"/>
                    </a:lnTo>
                    <a:close/>
                  </a:path>
                </a:pathLst>
              </a:custGeom>
              <a:solidFill>
                <a:srgbClr val="000000"/>
              </a:solidFill>
              <a:ln w="9525">
                <a:noFill/>
                <a:round/>
                <a:headEnd/>
                <a:tailEnd/>
              </a:ln>
            </p:spPr>
            <p:txBody>
              <a:bodyPr/>
              <a:lstStyle/>
              <a:p>
                <a:endParaRPr lang="en-US"/>
              </a:p>
            </p:txBody>
          </p:sp>
          <p:sp>
            <p:nvSpPr>
              <p:cNvPr id="28759" name="Freeform 49"/>
              <p:cNvSpPr>
                <a:spLocks/>
              </p:cNvSpPr>
              <p:nvPr/>
            </p:nvSpPr>
            <p:spPr bwMode="auto">
              <a:xfrm>
                <a:off x="1549" y="3601"/>
                <a:ext cx="293" cy="169"/>
              </a:xfrm>
              <a:custGeom>
                <a:avLst/>
                <a:gdLst>
                  <a:gd name="T0" fmla="*/ 1 w 585"/>
                  <a:gd name="T1" fmla="*/ 0 h 340"/>
                  <a:gd name="T2" fmla="*/ 1 w 585"/>
                  <a:gd name="T3" fmla="*/ 0 h 340"/>
                  <a:gd name="T4" fmla="*/ 1 w 585"/>
                  <a:gd name="T5" fmla="*/ 0 h 340"/>
                  <a:gd name="T6" fmla="*/ 1 w 585"/>
                  <a:gd name="T7" fmla="*/ 0 h 340"/>
                  <a:gd name="T8" fmla="*/ 1 w 585"/>
                  <a:gd name="T9" fmla="*/ 0 h 340"/>
                  <a:gd name="T10" fmla="*/ 0 w 585"/>
                  <a:gd name="T11" fmla="*/ 0 h 340"/>
                  <a:gd name="T12" fmla="*/ 1 w 585"/>
                  <a:gd name="T13" fmla="*/ 0 h 340"/>
                  <a:gd name="T14" fmla="*/ 1 w 585"/>
                  <a:gd name="T15" fmla="*/ 0 h 340"/>
                  <a:gd name="T16" fmla="*/ 1 w 585"/>
                  <a:gd name="T17" fmla="*/ 0 h 340"/>
                  <a:gd name="T18" fmla="*/ 0 w 585"/>
                  <a:gd name="T19" fmla="*/ 0 h 340"/>
                  <a:gd name="T20" fmla="*/ 1 w 585"/>
                  <a:gd name="T21" fmla="*/ 0 h 340"/>
                  <a:gd name="T22" fmla="*/ 1 w 585"/>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40"/>
                  <a:gd name="T38" fmla="*/ 585 w 585"/>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40">
                    <a:moveTo>
                      <a:pt x="22" y="10"/>
                    </a:moveTo>
                    <a:lnTo>
                      <a:pt x="6" y="19"/>
                    </a:lnTo>
                    <a:lnTo>
                      <a:pt x="576" y="340"/>
                    </a:lnTo>
                    <a:lnTo>
                      <a:pt x="585" y="321"/>
                    </a:lnTo>
                    <a:lnTo>
                      <a:pt x="15" y="0"/>
                    </a:lnTo>
                    <a:lnTo>
                      <a:pt x="0" y="10"/>
                    </a:lnTo>
                    <a:lnTo>
                      <a:pt x="15" y="0"/>
                    </a:lnTo>
                    <a:lnTo>
                      <a:pt x="7" y="0"/>
                    </a:lnTo>
                    <a:lnTo>
                      <a:pt x="1"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8760" name="Freeform 50"/>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close/>
                  </a:path>
                </a:pathLst>
              </a:custGeom>
              <a:solidFill>
                <a:srgbClr val="8CFF00"/>
              </a:solidFill>
              <a:ln w="9525">
                <a:noFill/>
                <a:round/>
                <a:headEnd/>
                <a:tailEnd/>
              </a:ln>
            </p:spPr>
            <p:txBody>
              <a:bodyPr/>
              <a:lstStyle/>
              <a:p>
                <a:endParaRPr lang="en-US"/>
              </a:p>
            </p:txBody>
          </p:sp>
          <p:sp>
            <p:nvSpPr>
              <p:cNvPr id="28761" name="Freeform 51"/>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path>
                </a:pathLst>
              </a:custGeom>
              <a:noFill/>
              <a:ln w="0">
                <a:solidFill>
                  <a:srgbClr val="000000"/>
                </a:solidFill>
                <a:round/>
                <a:headEnd/>
                <a:tailEnd/>
              </a:ln>
            </p:spPr>
            <p:txBody>
              <a:bodyPr/>
              <a:lstStyle/>
              <a:p>
                <a:endParaRPr lang="en-US"/>
              </a:p>
            </p:txBody>
          </p:sp>
          <p:sp>
            <p:nvSpPr>
              <p:cNvPr id="28762" name="Freeform 52"/>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close/>
                  </a:path>
                </a:pathLst>
              </a:custGeom>
              <a:solidFill>
                <a:srgbClr val="4CFF00"/>
              </a:solidFill>
              <a:ln w="9525">
                <a:noFill/>
                <a:round/>
                <a:headEnd/>
                <a:tailEnd/>
              </a:ln>
            </p:spPr>
            <p:txBody>
              <a:bodyPr/>
              <a:lstStyle/>
              <a:p>
                <a:endParaRPr lang="en-US"/>
              </a:p>
            </p:txBody>
          </p:sp>
          <p:sp>
            <p:nvSpPr>
              <p:cNvPr id="28763" name="Freeform 53"/>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path>
                </a:pathLst>
              </a:custGeom>
              <a:noFill/>
              <a:ln w="0">
                <a:solidFill>
                  <a:srgbClr val="000000"/>
                </a:solidFill>
                <a:round/>
                <a:headEnd/>
                <a:tailEnd/>
              </a:ln>
            </p:spPr>
            <p:txBody>
              <a:bodyPr/>
              <a:lstStyle/>
              <a:p>
                <a:endParaRPr lang="en-US"/>
              </a:p>
            </p:txBody>
          </p:sp>
          <p:sp>
            <p:nvSpPr>
              <p:cNvPr id="28764" name="Freeform 54"/>
              <p:cNvSpPr>
                <a:spLocks/>
              </p:cNvSpPr>
              <p:nvPr/>
            </p:nvSpPr>
            <p:spPr bwMode="auto">
              <a:xfrm>
                <a:off x="1892" y="3496"/>
                <a:ext cx="154" cy="125"/>
              </a:xfrm>
              <a:custGeom>
                <a:avLst/>
                <a:gdLst>
                  <a:gd name="T0" fmla="*/ 0 w 309"/>
                  <a:gd name="T1" fmla="*/ 0 h 250"/>
                  <a:gd name="T2" fmla="*/ 0 w 309"/>
                  <a:gd name="T3" fmla="*/ 1 h 250"/>
                  <a:gd name="T4" fmla="*/ 0 w 309"/>
                  <a:gd name="T5" fmla="*/ 1 h 250"/>
                  <a:gd name="T6" fmla="*/ 0 w 309"/>
                  <a:gd name="T7" fmla="*/ 1 h 250"/>
                  <a:gd name="T8" fmla="*/ 0 w 309"/>
                  <a:gd name="T9" fmla="*/ 0 h 250"/>
                  <a:gd name="T10" fmla="*/ 0 60000 65536"/>
                  <a:gd name="T11" fmla="*/ 0 60000 65536"/>
                  <a:gd name="T12" fmla="*/ 0 60000 65536"/>
                  <a:gd name="T13" fmla="*/ 0 60000 65536"/>
                  <a:gd name="T14" fmla="*/ 0 60000 65536"/>
                  <a:gd name="T15" fmla="*/ 0 w 309"/>
                  <a:gd name="T16" fmla="*/ 0 h 250"/>
                  <a:gd name="T17" fmla="*/ 309 w 309"/>
                  <a:gd name="T18" fmla="*/ 250 h 250"/>
                </a:gdLst>
                <a:ahLst/>
                <a:cxnLst>
                  <a:cxn ang="T10">
                    <a:pos x="T0" y="T1"/>
                  </a:cxn>
                  <a:cxn ang="T11">
                    <a:pos x="T2" y="T3"/>
                  </a:cxn>
                  <a:cxn ang="T12">
                    <a:pos x="T4" y="T5"/>
                  </a:cxn>
                  <a:cxn ang="T13">
                    <a:pos x="T6" y="T7"/>
                  </a:cxn>
                  <a:cxn ang="T14">
                    <a:pos x="T8" y="T9"/>
                  </a:cxn>
                </a:cxnLst>
                <a:rect l="T15" t="T16" r="T17" b="T18"/>
                <a:pathLst>
                  <a:path w="309" h="250">
                    <a:moveTo>
                      <a:pt x="309" y="0"/>
                    </a:moveTo>
                    <a:lnTo>
                      <a:pt x="309" y="64"/>
                    </a:lnTo>
                    <a:lnTo>
                      <a:pt x="0" y="250"/>
                    </a:lnTo>
                    <a:lnTo>
                      <a:pt x="0" y="186"/>
                    </a:lnTo>
                    <a:lnTo>
                      <a:pt x="309" y="0"/>
                    </a:lnTo>
                    <a:close/>
                  </a:path>
                </a:pathLst>
              </a:custGeom>
              <a:solidFill>
                <a:srgbClr val="007FFF"/>
              </a:solidFill>
              <a:ln w="9525">
                <a:noFill/>
                <a:round/>
                <a:headEnd/>
                <a:tailEnd/>
              </a:ln>
            </p:spPr>
            <p:txBody>
              <a:bodyPr/>
              <a:lstStyle/>
              <a:p>
                <a:endParaRPr lang="en-US"/>
              </a:p>
            </p:txBody>
          </p:sp>
          <p:sp>
            <p:nvSpPr>
              <p:cNvPr id="28765" name="Freeform 55"/>
              <p:cNvSpPr>
                <a:spLocks/>
              </p:cNvSpPr>
              <p:nvPr/>
            </p:nvSpPr>
            <p:spPr bwMode="auto">
              <a:xfrm>
                <a:off x="2041" y="3496"/>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7" y="73"/>
                    </a:moveTo>
                    <a:lnTo>
                      <a:pt x="22" y="64"/>
                    </a:lnTo>
                    <a:lnTo>
                      <a:pt x="22" y="0"/>
                    </a:lnTo>
                    <a:lnTo>
                      <a:pt x="0" y="0"/>
                    </a:lnTo>
                    <a:lnTo>
                      <a:pt x="0" y="64"/>
                    </a:lnTo>
                    <a:lnTo>
                      <a:pt x="5" y="54"/>
                    </a:lnTo>
                    <a:lnTo>
                      <a:pt x="0" y="64"/>
                    </a:lnTo>
                    <a:lnTo>
                      <a:pt x="3" y="72"/>
                    </a:lnTo>
                    <a:lnTo>
                      <a:pt x="11" y="75"/>
                    </a:lnTo>
                    <a:lnTo>
                      <a:pt x="19" y="72"/>
                    </a:lnTo>
                    <a:lnTo>
                      <a:pt x="22" y="64"/>
                    </a:lnTo>
                    <a:lnTo>
                      <a:pt x="17" y="73"/>
                    </a:lnTo>
                    <a:close/>
                  </a:path>
                </a:pathLst>
              </a:custGeom>
              <a:solidFill>
                <a:srgbClr val="000000"/>
              </a:solidFill>
              <a:ln w="9525">
                <a:noFill/>
                <a:round/>
                <a:headEnd/>
                <a:tailEnd/>
              </a:ln>
            </p:spPr>
            <p:txBody>
              <a:bodyPr/>
              <a:lstStyle/>
              <a:p>
                <a:endParaRPr lang="en-US"/>
              </a:p>
            </p:txBody>
          </p:sp>
          <p:sp>
            <p:nvSpPr>
              <p:cNvPr id="28766" name="Freeform 56"/>
              <p:cNvSpPr>
                <a:spLocks/>
              </p:cNvSpPr>
              <p:nvPr/>
            </p:nvSpPr>
            <p:spPr bwMode="auto">
              <a:xfrm>
                <a:off x="1887" y="3523"/>
                <a:ext cx="163" cy="103"/>
              </a:xfrm>
              <a:custGeom>
                <a:avLst/>
                <a:gdLst>
                  <a:gd name="T0" fmla="*/ 0 w 326"/>
                  <a:gd name="T1" fmla="*/ 0 h 207"/>
                  <a:gd name="T2" fmla="*/ 1 w 326"/>
                  <a:gd name="T3" fmla="*/ 0 h 207"/>
                  <a:gd name="T4" fmla="*/ 1 w 326"/>
                  <a:gd name="T5" fmla="*/ 0 h 207"/>
                  <a:gd name="T6" fmla="*/ 1 w 326"/>
                  <a:gd name="T7" fmla="*/ 0 h 207"/>
                  <a:gd name="T8" fmla="*/ 1 w 326"/>
                  <a:gd name="T9" fmla="*/ 0 h 207"/>
                  <a:gd name="T10" fmla="*/ 1 w 326"/>
                  <a:gd name="T11" fmla="*/ 0 h 207"/>
                  <a:gd name="T12" fmla="*/ 1 w 326"/>
                  <a:gd name="T13" fmla="*/ 0 h 207"/>
                  <a:gd name="T14" fmla="*/ 0 w 326"/>
                  <a:gd name="T15" fmla="*/ 0 h 207"/>
                  <a:gd name="T16" fmla="*/ 1 w 326"/>
                  <a:gd name="T17" fmla="*/ 0 h 207"/>
                  <a:gd name="T18" fmla="*/ 1 w 326"/>
                  <a:gd name="T19" fmla="*/ 0 h 207"/>
                  <a:gd name="T20" fmla="*/ 1 w 326"/>
                  <a:gd name="T21" fmla="*/ 0 h 207"/>
                  <a:gd name="T22" fmla="*/ 0 w 326"/>
                  <a:gd name="T23" fmla="*/ 0 h 2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7"/>
                  <a:gd name="T38" fmla="*/ 326 w 326"/>
                  <a:gd name="T39" fmla="*/ 207 h 2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7">
                    <a:moveTo>
                      <a:pt x="0" y="196"/>
                    </a:moveTo>
                    <a:lnTo>
                      <a:pt x="18" y="205"/>
                    </a:lnTo>
                    <a:lnTo>
                      <a:pt x="326" y="19"/>
                    </a:lnTo>
                    <a:lnTo>
                      <a:pt x="314" y="0"/>
                    </a:lnTo>
                    <a:lnTo>
                      <a:pt x="5" y="187"/>
                    </a:lnTo>
                    <a:lnTo>
                      <a:pt x="22" y="196"/>
                    </a:lnTo>
                    <a:lnTo>
                      <a:pt x="5" y="187"/>
                    </a:lnTo>
                    <a:lnTo>
                      <a:pt x="0" y="194"/>
                    </a:lnTo>
                    <a:lnTo>
                      <a:pt x="2" y="202"/>
                    </a:lnTo>
                    <a:lnTo>
                      <a:pt x="8" y="207"/>
                    </a:lnTo>
                    <a:lnTo>
                      <a:pt x="18" y="205"/>
                    </a:lnTo>
                    <a:lnTo>
                      <a:pt x="0" y="196"/>
                    </a:lnTo>
                    <a:close/>
                  </a:path>
                </a:pathLst>
              </a:custGeom>
              <a:solidFill>
                <a:srgbClr val="000000"/>
              </a:solidFill>
              <a:ln w="9525">
                <a:noFill/>
                <a:round/>
                <a:headEnd/>
                <a:tailEnd/>
              </a:ln>
            </p:spPr>
            <p:txBody>
              <a:bodyPr/>
              <a:lstStyle/>
              <a:p>
                <a:endParaRPr lang="en-US"/>
              </a:p>
            </p:txBody>
          </p:sp>
          <p:sp>
            <p:nvSpPr>
              <p:cNvPr id="28767" name="Freeform 57"/>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5" y="1"/>
                    </a:moveTo>
                    <a:lnTo>
                      <a:pt x="0" y="11"/>
                    </a:lnTo>
                    <a:lnTo>
                      <a:pt x="0" y="75"/>
                    </a:lnTo>
                    <a:lnTo>
                      <a:pt x="22" y="75"/>
                    </a:lnTo>
                    <a:lnTo>
                      <a:pt x="22" y="11"/>
                    </a:lnTo>
                    <a:lnTo>
                      <a:pt x="18" y="20"/>
                    </a:lnTo>
                    <a:lnTo>
                      <a:pt x="22" y="11"/>
                    </a:lnTo>
                    <a:lnTo>
                      <a:pt x="19" y="3"/>
                    </a:lnTo>
                    <a:lnTo>
                      <a:pt x="11" y="0"/>
                    </a:lnTo>
                    <a:lnTo>
                      <a:pt x="4" y="3"/>
                    </a:lnTo>
                    <a:lnTo>
                      <a:pt x="0" y="11"/>
                    </a:lnTo>
                    <a:lnTo>
                      <a:pt x="5" y="1"/>
                    </a:lnTo>
                    <a:close/>
                  </a:path>
                </a:pathLst>
              </a:custGeom>
              <a:solidFill>
                <a:srgbClr val="000000"/>
              </a:solidFill>
              <a:ln w="9525">
                <a:noFill/>
                <a:round/>
                <a:headEnd/>
                <a:tailEnd/>
              </a:ln>
            </p:spPr>
            <p:txBody>
              <a:bodyPr/>
              <a:lstStyle/>
              <a:p>
                <a:endParaRPr lang="en-US"/>
              </a:p>
            </p:txBody>
          </p:sp>
          <p:sp>
            <p:nvSpPr>
              <p:cNvPr id="28768" name="Freeform 58"/>
              <p:cNvSpPr>
                <a:spLocks/>
              </p:cNvSpPr>
              <p:nvPr/>
            </p:nvSpPr>
            <p:spPr bwMode="auto">
              <a:xfrm>
                <a:off x="1889" y="3490"/>
                <a:ext cx="163" cy="104"/>
              </a:xfrm>
              <a:custGeom>
                <a:avLst/>
                <a:gdLst>
                  <a:gd name="T0" fmla="*/ 1 w 326"/>
                  <a:gd name="T1" fmla="*/ 1 h 206"/>
                  <a:gd name="T2" fmla="*/ 1 w 326"/>
                  <a:gd name="T3" fmla="*/ 1 h 206"/>
                  <a:gd name="T4" fmla="*/ 0 w 326"/>
                  <a:gd name="T5" fmla="*/ 1 h 206"/>
                  <a:gd name="T6" fmla="*/ 1 w 326"/>
                  <a:gd name="T7" fmla="*/ 1 h 206"/>
                  <a:gd name="T8" fmla="*/ 1 w 326"/>
                  <a:gd name="T9" fmla="*/ 1 h 206"/>
                  <a:gd name="T10" fmla="*/ 1 w 326"/>
                  <a:gd name="T11" fmla="*/ 1 h 206"/>
                  <a:gd name="T12" fmla="*/ 1 w 326"/>
                  <a:gd name="T13" fmla="*/ 1 h 206"/>
                  <a:gd name="T14" fmla="*/ 1 w 326"/>
                  <a:gd name="T15" fmla="*/ 1 h 206"/>
                  <a:gd name="T16" fmla="*/ 1 w 326"/>
                  <a:gd name="T17" fmla="*/ 1 h 206"/>
                  <a:gd name="T18" fmla="*/ 1 w 326"/>
                  <a:gd name="T19" fmla="*/ 0 h 206"/>
                  <a:gd name="T20" fmla="*/ 1 w 326"/>
                  <a:gd name="T21" fmla="*/ 1 h 206"/>
                  <a:gd name="T22" fmla="*/ 1 w 326"/>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6"/>
                  <a:gd name="T38" fmla="*/ 326 w 326"/>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6">
                    <a:moveTo>
                      <a:pt x="326" y="11"/>
                    </a:moveTo>
                    <a:lnTo>
                      <a:pt x="309" y="1"/>
                    </a:lnTo>
                    <a:lnTo>
                      <a:pt x="0" y="187"/>
                    </a:lnTo>
                    <a:lnTo>
                      <a:pt x="13" y="206"/>
                    </a:lnTo>
                    <a:lnTo>
                      <a:pt x="321" y="20"/>
                    </a:lnTo>
                    <a:lnTo>
                      <a:pt x="304" y="11"/>
                    </a:lnTo>
                    <a:lnTo>
                      <a:pt x="321" y="20"/>
                    </a:lnTo>
                    <a:lnTo>
                      <a:pt x="326" y="12"/>
                    </a:lnTo>
                    <a:lnTo>
                      <a:pt x="324" y="4"/>
                    </a:lnTo>
                    <a:lnTo>
                      <a:pt x="318" y="0"/>
                    </a:lnTo>
                    <a:lnTo>
                      <a:pt x="309" y="1"/>
                    </a:lnTo>
                    <a:lnTo>
                      <a:pt x="326" y="11"/>
                    </a:lnTo>
                    <a:close/>
                  </a:path>
                </a:pathLst>
              </a:custGeom>
              <a:solidFill>
                <a:srgbClr val="000000"/>
              </a:solidFill>
              <a:ln w="9525">
                <a:noFill/>
                <a:round/>
                <a:headEnd/>
                <a:tailEnd/>
              </a:ln>
            </p:spPr>
            <p:txBody>
              <a:bodyPr/>
              <a:lstStyle/>
              <a:p>
                <a:endParaRPr lang="en-US"/>
              </a:p>
            </p:txBody>
          </p:sp>
          <p:sp>
            <p:nvSpPr>
              <p:cNvPr id="28769" name="Freeform 59"/>
              <p:cNvSpPr>
                <a:spLocks/>
              </p:cNvSpPr>
              <p:nvPr/>
            </p:nvSpPr>
            <p:spPr bwMode="auto">
              <a:xfrm>
                <a:off x="1765" y="3521"/>
                <a:ext cx="127" cy="100"/>
              </a:xfrm>
              <a:custGeom>
                <a:avLst/>
                <a:gdLst>
                  <a:gd name="T0" fmla="*/ 0 w 255"/>
                  <a:gd name="T1" fmla="*/ 0 h 200"/>
                  <a:gd name="T2" fmla="*/ 0 w 255"/>
                  <a:gd name="T3" fmla="*/ 1 h 200"/>
                  <a:gd name="T4" fmla="*/ 0 w 255"/>
                  <a:gd name="T5" fmla="*/ 1 h 200"/>
                  <a:gd name="T6" fmla="*/ 0 w 255"/>
                  <a:gd name="T7" fmla="*/ 1 h 200"/>
                  <a:gd name="T8" fmla="*/ 0 w 255"/>
                  <a:gd name="T9" fmla="*/ 0 h 200"/>
                  <a:gd name="T10" fmla="*/ 0 60000 65536"/>
                  <a:gd name="T11" fmla="*/ 0 60000 65536"/>
                  <a:gd name="T12" fmla="*/ 0 60000 65536"/>
                  <a:gd name="T13" fmla="*/ 0 60000 65536"/>
                  <a:gd name="T14" fmla="*/ 0 60000 65536"/>
                  <a:gd name="T15" fmla="*/ 0 w 255"/>
                  <a:gd name="T16" fmla="*/ 0 h 200"/>
                  <a:gd name="T17" fmla="*/ 255 w 255"/>
                  <a:gd name="T18" fmla="*/ 200 h 200"/>
                </a:gdLst>
                <a:ahLst/>
                <a:cxnLst>
                  <a:cxn ang="T10">
                    <a:pos x="T0" y="T1"/>
                  </a:cxn>
                  <a:cxn ang="T11">
                    <a:pos x="T2" y="T3"/>
                  </a:cxn>
                  <a:cxn ang="T12">
                    <a:pos x="T4" y="T5"/>
                  </a:cxn>
                  <a:cxn ang="T13">
                    <a:pos x="T6" y="T7"/>
                  </a:cxn>
                  <a:cxn ang="T14">
                    <a:pos x="T8" y="T9"/>
                  </a:cxn>
                </a:cxnLst>
                <a:rect l="T15" t="T16" r="T17" b="T18"/>
                <a:pathLst>
                  <a:path w="255" h="200">
                    <a:moveTo>
                      <a:pt x="0" y="0"/>
                    </a:moveTo>
                    <a:lnTo>
                      <a:pt x="0" y="64"/>
                    </a:lnTo>
                    <a:lnTo>
                      <a:pt x="255" y="200"/>
                    </a:lnTo>
                    <a:lnTo>
                      <a:pt x="255" y="136"/>
                    </a:lnTo>
                    <a:lnTo>
                      <a:pt x="0" y="0"/>
                    </a:lnTo>
                    <a:close/>
                  </a:path>
                </a:pathLst>
              </a:custGeom>
              <a:solidFill>
                <a:srgbClr val="4CB2FF"/>
              </a:solidFill>
              <a:ln w="9525">
                <a:noFill/>
                <a:round/>
                <a:headEnd/>
                <a:tailEnd/>
              </a:ln>
            </p:spPr>
            <p:txBody>
              <a:bodyPr/>
              <a:lstStyle/>
              <a:p>
                <a:endParaRPr lang="en-US"/>
              </a:p>
            </p:txBody>
          </p:sp>
          <p:sp>
            <p:nvSpPr>
              <p:cNvPr id="28770" name="Freeform 60"/>
              <p:cNvSpPr>
                <a:spLocks/>
              </p:cNvSpPr>
              <p:nvPr/>
            </p:nvSpPr>
            <p:spPr bwMode="auto">
              <a:xfrm>
                <a:off x="1759" y="3521"/>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6" y="55"/>
                    </a:moveTo>
                    <a:lnTo>
                      <a:pt x="22" y="64"/>
                    </a:lnTo>
                    <a:lnTo>
                      <a:pt x="22" y="0"/>
                    </a:lnTo>
                    <a:lnTo>
                      <a:pt x="0" y="0"/>
                    </a:lnTo>
                    <a:lnTo>
                      <a:pt x="0" y="64"/>
                    </a:lnTo>
                    <a:lnTo>
                      <a:pt x="7" y="73"/>
                    </a:lnTo>
                    <a:lnTo>
                      <a:pt x="0" y="64"/>
                    </a:lnTo>
                    <a:lnTo>
                      <a:pt x="3" y="72"/>
                    </a:lnTo>
                    <a:lnTo>
                      <a:pt x="11" y="75"/>
                    </a:lnTo>
                    <a:lnTo>
                      <a:pt x="19" y="72"/>
                    </a:lnTo>
                    <a:lnTo>
                      <a:pt x="22" y="64"/>
                    </a:lnTo>
                    <a:lnTo>
                      <a:pt x="16" y="55"/>
                    </a:lnTo>
                    <a:close/>
                  </a:path>
                </a:pathLst>
              </a:custGeom>
              <a:solidFill>
                <a:srgbClr val="000000"/>
              </a:solidFill>
              <a:ln w="9525">
                <a:noFill/>
                <a:round/>
                <a:headEnd/>
                <a:tailEnd/>
              </a:ln>
            </p:spPr>
            <p:txBody>
              <a:bodyPr/>
              <a:lstStyle/>
              <a:p>
                <a:endParaRPr lang="en-US"/>
              </a:p>
            </p:txBody>
          </p:sp>
          <p:sp>
            <p:nvSpPr>
              <p:cNvPr id="28771" name="Freeform 61"/>
              <p:cNvSpPr>
                <a:spLocks/>
              </p:cNvSpPr>
              <p:nvPr/>
            </p:nvSpPr>
            <p:spPr bwMode="auto">
              <a:xfrm>
                <a:off x="1762" y="3548"/>
                <a:ext cx="136" cy="78"/>
              </a:xfrm>
              <a:custGeom>
                <a:avLst/>
                <a:gdLst>
                  <a:gd name="T0" fmla="*/ 1 w 270"/>
                  <a:gd name="T1" fmla="*/ 1 h 154"/>
                  <a:gd name="T2" fmla="*/ 1 w 270"/>
                  <a:gd name="T3" fmla="*/ 1 h 154"/>
                  <a:gd name="T4" fmla="*/ 1 w 270"/>
                  <a:gd name="T5" fmla="*/ 0 h 154"/>
                  <a:gd name="T6" fmla="*/ 0 w 270"/>
                  <a:gd name="T7" fmla="*/ 1 h 154"/>
                  <a:gd name="T8" fmla="*/ 1 w 270"/>
                  <a:gd name="T9" fmla="*/ 1 h 154"/>
                  <a:gd name="T10" fmla="*/ 1 w 270"/>
                  <a:gd name="T11" fmla="*/ 1 h 154"/>
                  <a:gd name="T12" fmla="*/ 1 w 270"/>
                  <a:gd name="T13" fmla="*/ 1 h 154"/>
                  <a:gd name="T14" fmla="*/ 1 w 270"/>
                  <a:gd name="T15" fmla="*/ 1 h 154"/>
                  <a:gd name="T16" fmla="*/ 1 w 270"/>
                  <a:gd name="T17" fmla="*/ 1 h 154"/>
                  <a:gd name="T18" fmla="*/ 1 w 270"/>
                  <a:gd name="T19" fmla="*/ 1 h 154"/>
                  <a:gd name="T20" fmla="*/ 1 w 270"/>
                  <a:gd name="T21" fmla="*/ 1 h 154"/>
                  <a:gd name="T22" fmla="*/ 1 w 270"/>
                  <a:gd name="T23" fmla="*/ 1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0"/>
                  <a:gd name="T37" fmla="*/ 0 h 154"/>
                  <a:gd name="T38" fmla="*/ 270 w 270"/>
                  <a:gd name="T39" fmla="*/ 154 h 1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0" h="154">
                    <a:moveTo>
                      <a:pt x="248" y="145"/>
                    </a:moveTo>
                    <a:lnTo>
                      <a:pt x="264" y="136"/>
                    </a:lnTo>
                    <a:lnTo>
                      <a:pt x="9" y="0"/>
                    </a:lnTo>
                    <a:lnTo>
                      <a:pt x="0" y="18"/>
                    </a:lnTo>
                    <a:lnTo>
                      <a:pt x="255" y="154"/>
                    </a:lnTo>
                    <a:lnTo>
                      <a:pt x="270" y="145"/>
                    </a:lnTo>
                    <a:lnTo>
                      <a:pt x="255" y="154"/>
                    </a:lnTo>
                    <a:lnTo>
                      <a:pt x="263" y="154"/>
                    </a:lnTo>
                    <a:lnTo>
                      <a:pt x="269" y="150"/>
                    </a:lnTo>
                    <a:lnTo>
                      <a:pt x="270" y="142"/>
                    </a:lnTo>
                    <a:lnTo>
                      <a:pt x="264" y="136"/>
                    </a:lnTo>
                    <a:lnTo>
                      <a:pt x="248" y="145"/>
                    </a:lnTo>
                    <a:close/>
                  </a:path>
                </a:pathLst>
              </a:custGeom>
              <a:solidFill>
                <a:srgbClr val="000000"/>
              </a:solidFill>
              <a:ln w="9525">
                <a:noFill/>
                <a:round/>
                <a:headEnd/>
                <a:tailEnd/>
              </a:ln>
            </p:spPr>
            <p:txBody>
              <a:bodyPr/>
              <a:lstStyle/>
              <a:p>
                <a:endParaRPr lang="en-US"/>
              </a:p>
            </p:txBody>
          </p:sp>
          <p:sp>
            <p:nvSpPr>
              <p:cNvPr id="28772" name="Freeform 62"/>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7" y="20"/>
                    </a:moveTo>
                    <a:lnTo>
                      <a:pt x="0" y="11"/>
                    </a:lnTo>
                    <a:lnTo>
                      <a:pt x="0" y="75"/>
                    </a:lnTo>
                    <a:lnTo>
                      <a:pt x="22" y="75"/>
                    </a:lnTo>
                    <a:lnTo>
                      <a:pt x="22" y="11"/>
                    </a:lnTo>
                    <a:lnTo>
                      <a:pt x="16" y="1"/>
                    </a:lnTo>
                    <a:lnTo>
                      <a:pt x="22" y="11"/>
                    </a:lnTo>
                    <a:lnTo>
                      <a:pt x="19" y="3"/>
                    </a:lnTo>
                    <a:lnTo>
                      <a:pt x="11" y="0"/>
                    </a:lnTo>
                    <a:lnTo>
                      <a:pt x="4" y="3"/>
                    </a:lnTo>
                    <a:lnTo>
                      <a:pt x="0" y="11"/>
                    </a:lnTo>
                    <a:lnTo>
                      <a:pt x="7" y="20"/>
                    </a:lnTo>
                    <a:close/>
                  </a:path>
                </a:pathLst>
              </a:custGeom>
              <a:solidFill>
                <a:srgbClr val="000000"/>
              </a:solidFill>
              <a:ln w="9525">
                <a:noFill/>
                <a:round/>
                <a:headEnd/>
                <a:tailEnd/>
              </a:ln>
            </p:spPr>
            <p:txBody>
              <a:bodyPr/>
              <a:lstStyle/>
              <a:p>
                <a:endParaRPr lang="en-US"/>
              </a:p>
            </p:txBody>
          </p:sp>
          <p:sp>
            <p:nvSpPr>
              <p:cNvPr id="28773" name="Freeform 63"/>
              <p:cNvSpPr>
                <a:spLocks/>
              </p:cNvSpPr>
              <p:nvPr/>
            </p:nvSpPr>
            <p:spPr bwMode="auto">
              <a:xfrm>
                <a:off x="1759" y="3516"/>
                <a:ext cx="136" cy="78"/>
              </a:xfrm>
              <a:custGeom>
                <a:avLst/>
                <a:gdLst>
                  <a:gd name="T0" fmla="*/ 1 w 271"/>
                  <a:gd name="T1" fmla="*/ 1 h 155"/>
                  <a:gd name="T2" fmla="*/ 1 w 271"/>
                  <a:gd name="T3" fmla="*/ 1 h 155"/>
                  <a:gd name="T4" fmla="*/ 1 w 271"/>
                  <a:gd name="T5" fmla="*/ 1 h 155"/>
                  <a:gd name="T6" fmla="*/ 1 w 271"/>
                  <a:gd name="T7" fmla="*/ 1 h 155"/>
                  <a:gd name="T8" fmla="*/ 1 w 271"/>
                  <a:gd name="T9" fmla="*/ 0 h 155"/>
                  <a:gd name="T10" fmla="*/ 0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1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22" y="10"/>
                    </a:moveTo>
                    <a:lnTo>
                      <a:pt x="7" y="19"/>
                    </a:lnTo>
                    <a:lnTo>
                      <a:pt x="262" y="155"/>
                    </a:lnTo>
                    <a:lnTo>
                      <a:pt x="271" y="136"/>
                    </a:lnTo>
                    <a:lnTo>
                      <a:pt x="16" y="0"/>
                    </a:lnTo>
                    <a:lnTo>
                      <a:pt x="0" y="10"/>
                    </a:lnTo>
                    <a:lnTo>
                      <a:pt x="16" y="0"/>
                    </a:lnTo>
                    <a:lnTo>
                      <a:pt x="8" y="0"/>
                    </a:lnTo>
                    <a:lnTo>
                      <a:pt x="2" y="5"/>
                    </a:lnTo>
                    <a:lnTo>
                      <a:pt x="0" y="13"/>
                    </a:lnTo>
                    <a:lnTo>
                      <a:pt x="7" y="19"/>
                    </a:lnTo>
                    <a:lnTo>
                      <a:pt x="22" y="10"/>
                    </a:lnTo>
                    <a:close/>
                  </a:path>
                </a:pathLst>
              </a:custGeom>
              <a:solidFill>
                <a:srgbClr val="000000"/>
              </a:solidFill>
              <a:ln w="9525">
                <a:noFill/>
                <a:round/>
                <a:headEnd/>
                <a:tailEnd/>
              </a:ln>
            </p:spPr>
            <p:txBody>
              <a:bodyPr/>
              <a:lstStyle/>
              <a:p>
                <a:endParaRPr lang="en-US"/>
              </a:p>
            </p:txBody>
          </p:sp>
          <p:sp>
            <p:nvSpPr>
              <p:cNvPr id="28774" name="Freeform 64"/>
              <p:cNvSpPr>
                <a:spLocks/>
              </p:cNvSpPr>
              <p:nvPr/>
            </p:nvSpPr>
            <p:spPr bwMode="auto">
              <a:xfrm>
                <a:off x="1765" y="3428"/>
                <a:ext cx="281" cy="161"/>
              </a:xfrm>
              <a:custGeom>
                <a:avLst/>
                <a:gdLst>
                  <a:gd name="T0" fmla="*/ 0 w 564"/>
                  <a:gd name="T1" fmla="*/ 1 h 322"/>
                  <a:gd name="T2" fmla="*/ 0 w 564"/>
                  <a:gd name="T3" fmla="*/ 0 h 322"/>
                  <a:gd name="T4" fmla="*/ 0 w 564"/>
                  <a:gd name="T5" fmla="*/ 1 h 322"/>
                  <a:gd name="T6" fmla="*/ 0 w 564"/>
                  <a:gd name="T7" fmla="*/ 1 h 322"/>
                  <a:gd name="T8" fmla="*/ 0 w 564"/>
                  <a:gd name="T9" fmla="*/ 1 h 322"/>
                  <a:gd name="T10" fmla="*/ 0 60000 65536"/>
                  <a:gd name="T11" fmla="*/ 0 60000 65536"/>
                  <a:gd name="T12" fmla="*/ 0 60000 65536"/>
                  <a:gd name="T13" fmla="*/ 0 60000 65536"/>
                  <a:gd name="T14" fmla="*/ 0 60000 65536"/>
                  <a:gd name="T15" fmla="*/ 0 w 564"/>
                  <a:gd name="T16" fmla="*/ 0 h 322"/>
                  <a:gd name="T17" fmla="*/ 564 w 564"/>
                  <a:gd name="T18" fmla="*/ 322 h 322"/>
                </a:gdLst>
                <a:ahLst/>
                <a:cxnLst>
                  <a:cxn ang="T10">
                    <a:pos x="T0" y="T1"/>
                  </a:cxn>
                  <a:cxn ang="T11">
                    <a:pos x="T2" y="T3"/>
                  </a:cxn>
                  <a:cxn ang="T12">
                    <a:pos x="T4" y="T5"/>
                  </a:cxn>
                  <a:cxn ang="T13">
                    <a:pos x="T6" y="T7"/>
                  </a:cxn>
                  <a:cxn ang="T14">
                    <a:pos x="T8" y="T9"/>
                  </a:cxn>
                </a:cxnLst>
                <a:rect l="T15" t="T16" r="T17" b="T18"/>
                <a:pathLst>
                  <a:path w="564" h="322">
                    <a:moveTo>
                      <a:pt x="0" y="186"/>
                    </a:moveTo>
                    <a:lnTo>
                      <a:pt x="310" y="0"/>
                    </a:lnTo>
                    <a:lnTo>
                      <a:pt x="564" y="137"/>
                    </a:lnTo>
                    <a:lnTo>
                      <a:pt x="255" y="322"/>
                    </a:lnTo>
                    <a:lnTo>
                      <a:pt x="0" y="186"/>
                    </a:lnTo>
                    <a:close/>
                  </a:path>
                </a:pathLst>
              </a:custGeom>
              <a:solidFill>
                <a:srgbClr val="99D8FF"/>
              </a:solidFill>
              <a:ln w="9525">
                <a:noFill/>
                <a:round/>
                <a:headEnd/>
                <a:tailEnd/>
              </a:ln>
            </p:spPr>
            <p:txBody>
              <a:bodyPr/>
              <a:lstStyle/>
              <a:p>
                <a:endParaRPr lang="en-US"/>
              </a:p>
            </p:txBody>
          </p:sp>
          <p:sp>
            <p:nvSpPr>
              <p:cNvPr id="28775" name="Freeform 65"/>
              <p:cNvSpPr>
                <a:spLocks/>
              </p:cNvSpPr>
              <p:nvPr/>
            </p:nvSpPr>
            <p:spPr bwMode="auto">
              <a:xfrm>
                <a:off x="1761" y="3422"/>
                <a:ext cx="164" cy="104"/>
              </a:xfrm>
              <a:custGeom>
                <a:avLst/>
                <a:gdLst>
                  <a:gd name="T0" fmla="*/ 1 w 327"/>
                  <a:gd name="T1" fmla="*/ 1 h 206"/>
                  <a:gd name="T2" fmla="*/ 1 w 327"/>
                  <a:gd name="T3" fmla="*/ 1 h 206"/>
                  <a:gd name="T4" fmla="*/ 0 w 327"/>
                  <a:gd name="T5" fmla="*/ 1 h 206"/>
                  <a:gd name="T6" fmla="*/ 1 w 327"/>
                  <a:gd name="T7" fmla="*/ 1 h 206"/>
                  <a:gd name="T8" fmla="*/ 1 w 327"/>
                  <a:gd name="T9" fmla="*/ 1 h 206"/>
                  <a:gd name="T10" fmla="*/ 1 w 327"/>
                  <a:gd name="T11" fmla="*/ 1 h 206"/>
                  <a:gd name="T12" fmla="*/ 1 w 327"/>
                  <a:gd name="T13" fmla="*/ 1 h 206"/>
                  <a:gd name="T14" fmla="*/ 1 w 327"/>
                  <a:gd name="T15" fmla="*/ 1 h 206"/>
                  <a:gd name="T16" fmla="*/ 1 w 327"/>
                  <a:gd name="T17" fmla="*/ 1 h 206"/>
                  <a:gd name="T18" fmla="*/ 1 w 327"/>
                  <a:gd name="T19" fmla="*/ 0 h 206"/>
                  <a:gd name="T20" fmla="*/ 1 w 327"/>
                  <a:gd name="T21" fmla="*/ 1 h 206"/>
                  <a:gd name="T22" fmla="*/ 1 w 327"/>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7"/>
                  <a:gd name="T37" fmla="*/ 0 h 206"/>
                  <a:gd name="T38" fmla="*/ 327 w 327"/>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7" h="206">
                    <a:moveTo>
                      <a:pt x="321" y="1"/>
                    </a:moveTo>
                    <a:lnTo>
                      <a:pt x="310" y="1"/>
                    </a:lnTo>
                    <a:lnTo>
                      <a:pt x="0" y="187"/>
                    </a:lnTo>
                    <a:lnTo>
                      <a:pt x="12" y="206"/>
                    </a:lnTo>
                    <a:lnTo>
                      <a:pt x="322" y="20"/>
                    </a:lnTo>
                    <a:lnTo>
                      <a:pt x="312" y="20"/>
                    </a:lnTo>
                    <a:lnTo>
                      <a:pt x="322" y="20"/>
                    </a:lnTo>
                    <a:lnTo>
                      <a:pt x="327" y="12"/>
                    </a:lnTo>
                    <a:lnTo>
                      <a:pt x="326" y="4"/>
                    </a:lnTo>
                    <a:lnTo>
                      <a:pt x="319" y="0"/>
                    </a:lnTo>
                    <a:lnTo>
                      <a:pt x="310" y="1"/>
                    </a:lnTo>
                    <a:lnTo>
                      <a:pt x="321" y="1"/>
                    </a:lnTo>
                    <a:close/>
                  </a:path>
                </a:pathLst>
              </a:custGeom>
              <a:solidFill>
                <a:srgbClr val="000000"/>
              </a:solidFill>
              <a:ln w="9525">
                <a:noFill/>
                <a:round/>
                <a:headEnd/>
                <a:tailEnd/>
              </a:ln>
            </p:spPr>
            <p:txBody>
              <a:bodyPr/>
              <a:lstStyle/>
              <a:p>
                <a:endParaRPr lang="en-US"/>
              </a:p>
            </p:txBody>
          </p:sp>
          <p:sp>
            <p:nvSpPr>
              <p:cNvPr id="28776" name="Freeform 66"/>
              <p:cNvSpPr>
                <a:spLocks/>
              </p:cNvSpPr>
              <p:nvPr/>
            </p:nvSpPr>
            <p:spPr bwMode="auto">
              <a:xfrm>
                <a:off x="1917" y="3423"/>
                <a:ext cx="135" cy="78"/>
              </a:xfrm>
              <a:custGeom>
                <a:avLst/>
                <a:gdLst>
                  <a:gd name="T0" fmla="*/ 1 w 269"/>
                  <a:gd name="T1" fmla="*/ 0 h 157"/>
                  <a:gd name="T2" fmla="*/ 1 w 269"/>
                  <a:gd name="T3" fmla="*/ 0 h 157"/>
                  <a:gd name="T4" fmla="*/ 1 w 269"/>
                  <a:gd name="T5" fmla="*/ 0 h 157"/>
                  <a:gd name="T6" fmla="*/ 0 w 269"/>
                  <a:gd name="T7" fmla="*/ 0 h 157"/>
                  <a:gd name="T8" fmla="*/ 1 w 269"/>
                  <a:gd name="T9" fmla="*/ 0 h 157"/>
                  <a:gd name="T10" fmla="*/ 1 w 269"/>
                  <a:gd name="T11" fmla="*/ 0 h 157"/>
                  <a:gd name="T12" fmla="*/ 1 w 269"/>
                  <a:gd name="T13" fmla="*/ 0 h 157"/>
                  <a:gd name="T14" fmla="*/ 1 w 269"/>
                  <a:gd name="T15" fmla="*/ 0 h 157"/>
                  <a:gd name="T16" fmla="*/ 1 w 269"/>
                  <a:gd name="T17" fmla="*/ 0 h 157"/>
                  <a:gd name="T18" fmla="*/ 1 w 269"/>
                  <a:gd name="T19" fmla="*/ 0 h 157"/>
                  <a:gd name="T20" fmla="*/ 1 w 269"/>
                  <a:gd name="T21" fmla="*/ 0 h 157"/>
                  <a:gd name="T22" fmla="*/ 1 w 269"/>
                  <a:gd name="T23" fmla="*/ 0 h 15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9"/>
                  <a:gd name="T37" fmla="*/ 0 h 157"/>
                  <a:gd name="T38" fmla="*/ 269 w 269"/>
                  <a:gd name="T39" fmla="*/ 157 h 15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9" h="157">
                    <a:moveTo>
                      <a:pt x="264" y="157"/>
                    </a:moveTo>
                    <a:lnTo>
                      <a:pt x="263" y="138"/>
                    </a:lnTo>
                    <a:lnTo>
                      <a:pt x="9" y="0"/>
                    </a:lnTo>
                    <a:lnTo>
                      <a:pt x="0" y="19"/>
                    </a:lnTo>
                    <a:lnTo>
                      <a:pt x="253" y="157"/>
                    </a:lnTo>
                    <a:lnTo>
                      <a:pt x="252" y="138"/>
                    </a:lnTo>
                    <a:lnTo>
                      <a:pt x="253" y="157"/>
                    </a:lnTo>
                    <a:lnTo>
                      <a:pt x="261" y="157"/>
                    </a:lnTo>
                    <a:lnTo>
                      <a:pt x="267" y="152"/>
                    </a:lnTo>
                    <a:lnTo>
                      <a:pt x="269" y="144"/>
                    </a:lnTo>
                    <a:lnTo>
                      <a:pt x="263" y="138"/>
                    </a:lnTo>
                    <a:lnTo>
                      <a:pt x="264" y="157"/>
                    </a:lnTo>
                    <a:close/>
                  </a:path>
                </a:pathLst>
              </a:custGeom>
              <a:solidFill>
                <a:srgbClr val="000000"/>
              </a:solidFill>
              <a:ln w="9525">
                <a:noFill/>
                <a:round/>
                <a:headEnd/>
                <a:tailEnd/>
              </a:ln>
            </p:spPr>
            <p:txBody>
              <a:bodyPr/>
              <a:lstStyle/>
              <a:p>
                <a:endParaRPr lang="en-US"/>
              </a:p>
            </p:txBody>
          </p:sp>
          <p:sp>
            <p:nvSpPr>
              <p:cNvPr id="28777" name="Freeform 67"/>
              <p:cNvSpPr>
                <a:spLocks/>
              </p:cNvSpPr>
              <p:nvPr/>
            </p:nvSpPr>
            <p:spPr bwMode="auto">
              <a:xfrm>
                <a:off x="1887" y="3492"/>
                <a:ext cx="163" cy="102"/>
              </a:xfrm>
              <a:custGeom>
                <a:avLst/>
                <a:gdLst>
                  <a:gd name="T0" fmla="*/ 1 w 326"/>
                  <a:gd name="T1" fmla="*/ 0 h 205"/>
                  <a:gd name="T2" fmla="*/ 1 w 326"/>
                  <a:gd name="T3" fmla="*/ 0 h 205"/>
                  <a:gd name="T4" fmla="*/ 1 w 326"/>
                  <a:gd name="T5" fmla="*/ 0 h 205"/>
                  <a:gd name="T6" fmla="*/ 1 w 326"/>
                  <a:gd name="T7" fmla="*/ 0 h 205"/>
                  <a:gd name="T8" fmla="*/ 1 w 326"/>
                  <a:gd name="T9" fmla="*/ 0 h 205"/>
                  <a:gd name="T10" fmla="*/ 1 w 326"/>
                  <a:gd name="T11" fmla="*/ 0 h 205"/>
                  <a:gd name="T12" fmla="*/ 1 w 326"/>
                  <a:gd name="T13" fmla="*/ 0 h 205"/>
                  <a:gd name="T14" fmla="*/ 0 w 326"/>
                  <a:gd name="T15" fmla="*/ 0 h 205"/>
                  <a:gd name="T16" fmla="*/ 1 w 326"/>
                  <a:gd name="T17" fmla="*/ 0 h 205"/>
                  <a:gd name="T18" fmla="*/ 1 w 326"/>
                  <a:gd name="T19" fmla="*/ 0 h 205"/>
                  <a:gd name="T20" fmla="*/ 1 w 326"/>
                  <a:gd name="T21" fmla="*/ 0 h 205"/>
                  <a:gd name="T22" fmla="*/ 1 w 326"/>
                  <a:gd name="T23" fmla="*/ 0 h 2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5"/>
                  <a:gd name="T38" fmla="*/ 326 w 326"/>
                  <a:gd name="T39" fmla="*/ 205 h 20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5">
                    <a:moveTo>
                      <a:pt x="7" y="203"/>
                    </a:moveTo>
                    <a:lnTo>
                      <a:pt x="18" y="203"/>
                    </a:lnTo>
                    <a:lnTo>
                      <a:pt x="326" y="19"/>
                    </a:lnTo>
                    <a:lnTo>
                      <a:pt x="314" y="0"/>
                    </a:lnTo>
                    <a:lnTo>
                      <a:pt x="5" y="184"/>
                    </a:lnTo>
                    <a:lnTo>
                      <a:pt x="16" y="184"/>
                    </a:lnTo>
                    <a:lnTo>
                      <a:pt x="5" y="184"/>
                    </a:lnTo>
                    <a:lnTo>
                      <a:pt x="0" y="192"/>
                    </a:lnTo>
                    <a:lnTo>
                      <a:pt x="2" y="200"/>
                    </a:lnTo>
                    <a:lnTo>
                      <a:pt x="8" y="205"/>
                    </a:lnTo>
                    <a:lnTo>
                      <a:pt x="18" y="203"/>
                    </a:lnTo>
                    <a:lnTo>
                      <a:pt x="7" y="203"/>
                    </a:lnTo>
                    <a:close/>
                  </a:path>
                </a:pathLst>
              </a:custGeom>
              <a:solidFill>
                <a:srgbClr val="000000"/>
              </a:solidFill>
              <a:ln w="9525">
                <a:noFill/>
                <a:round/>
                <a:headEnd/>
                <a:tailEnd/>
              </a:ln>
            </p:spPr>
            <p:txBody>
              <a:bodyPr/>
              <a:lstStyle/>
              <a:p>
                <a:endParaRPr lang="en-US"/>
              </a:p>
            </p:txBody>
          </p:sp>
          <p:sp>
            <p:nvSpPr>
              <p:cNvPr id="28778" name="Freeform 68"/>
              <p:cNvSpPr>
                <a:spLocks/>
              </p:cNvSpPr>
              <p:nvPr/>
            </p:nvSpPr>
            <p:spPr bwMode="auto">
              <a:xfrm>
                <a:off x="1759" y="3516"/>
                <a:ext cx="136" cy="78"/>
              </a:xfrm>
              <a:custGeom>
                <a:avLst/>
                <a:gdLst>
                  <a:gd name="T0" fmla="*/ 1 w 271"/>
                  <a:gd name="T1" fmla="*/ 0 h 155"/>
                  <a:gd name="T2" fmla="*/ 1 w 271"/>
                  <a:gd name="T3" fmla="*/ 1 h 155"/>
                  <a:gd name="T4" fmla="*/ 1 w 271"/>
                  <a:gd name="T5" fmla="*/ 1 h 155"/>
                  <a:gd name="T6" fmla="*/ 1 w 271"/>
                  <a:gd name="T7" fmla="*/ 1 h 155"/>
                  <a:gd name="T8" fmla="*/ 1 w 271"/>
                  <a:gd name="T9" fmla="*/ 0 h 155"/>
                  <a:gd name="T10" fmla="*/ 1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0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5" y="0"/>
                    </a:moveTo>
                    <a:lnTo>
                      <a:pt x="7" y="19"/>
                    </a:lnTo>
                    <a:lnTo>
                      <a:pt x="262" y="155"/>
                    </a:lnTo>
                    <a:lnTo>
                      <a:pt x="271" y="136"/>
                    </a:lnTo>
                    <a:lnTo>
                      <a:pt x="16" y="0"/>
                    </a:lnTo>
                    <a:lnTo>
                      <a:pt x="17" y="19"/>
                    </a:lnTo>
                    <a:lnTo>
                      <a:pt x="16" y="0"/>
                    </a:lnTo>
                    <a:lnTo>
                      <a:pt x="8" y="0"/>
                    </a:lnTo>
                    <a:lnTo>
                      <a:pt x="2" y="5"/>
                    </a:lnTo>
                    <a:lnTo>
                      <a:pt x="0" y="13"/>
                    </a:lnTo>
                    <a:lnTo>
                      <a:pt x="7" y="19"/>
                    </a:lnTo>
                    <a:lnTo>
                      <a:pt x="5" y="0"/>
                    </a:lnTo>
                    <a:close/>
                  </a:path>
                </a:pathLst>
              </a:custGeom>
              <a:solidFill>
                <a:srgbClr val="000000"/>
              </a:solidFill>
              <a:ln w="9525">
                <a:noFill/>
                <a:round/>
                <a:headEnd/>
                <a:tailEnd/>
              </a:ln>
            </p:spPr>
            <p:txBody>
              <a:bodyPr/>
              <a:lstStyle/>
              <a:p>
                <a:endParaRPr lang="en-US"/>
              </a:p>
            </p:txBody>
          </p:sp>
          <p:sp>
            <p:nvSpPr>
              <p:cNvPr id="28779" name="Freeform 69"/>
              <p:cNvSpPr>
                <a:spLocks/>
              </p:cNvSpPr>
              <p:nvPr/>
            </p:nvSpPr>
            <p:spPr bwMode="auto">
              <a:xfrm>
                <a:off x="1797" y="3428"/>
                <a:ext cx="54" cy="98"/>
              </a:xfrm>
              <a:custGeom>
                <a:avLst/>
                <a:gdLst>
                  <a:gd name="T0" fmla="*/ 0 w 110"/>
                  <a:gd name="T1" fmla="*/ 0 h 197"/>
                  <a:gd name="T2" fmla="*/ 0 w 110"/>
                  <a:gd name="T3" fmla="*/ 0 h 197"/>
                  <a:gd name="T4" fmla="*/ 0 w 110"/>
                  <a:gd name="T5" fmla="*/ 0 h 197"/>
                  <a:gd name="T6" fmla="*/ 0 w 110"/>
                  <a:gd name="T7" fmla="*/ 0 h 197"/>
                  <a:gd name="T8" fmla="*/ 0 w 110"/>
                  <a:gd name="T9" fmla="*/ 0 h 197"/>
                  <a:gd name="T10" fmla="*/ 0 60000 65536"/>
                  <a:gd name="T11" fmla="*/ 0 60000 65536"/>
                  <a:gd name="T12" fmla="*/ 0 60000 65536"/>
                  <a:gd name="T13" fmla="*/ 0 60000 65536"/>
                  <a:gd name="T14" fmla="*/ 0 60000 65536"/>
                  <a:gd name="T15" fmla="*/ 0 w 110"/>
                  <a:gd name="T16" fmla="*/ 0 h 197"/>
                  <a:gd name="T17" fmla="*/ 110 w 110"/>
                  <a:gd name="T18" fmla="*/ 197 h 197"/>
                </a:gdLst>
                <a:ahLst/>
                <a:cxnLst>
                  <a:cxn ang="T10">
                    <a:pos x="T0" y="T1"/>
                  </a:cxn>
                  <a:cxn ang="T11">
                    <a:pos x="T2" y="T3"/>
                  </a:cxn>
                  <a:cxn ang="T12">
                    <a:pos x="T4" y="T5"/>
                  </a:cxn>
                  <a:cxn ang="T13">
                    <a:pos x="T6" y="T7"/>
                  </a:cxn>
                  <a:cxn ang="T14">
                    <a:pos x="T8" y="T9"/>
                  </a:cxn>
                </a:cxnLst>
                <a:rect l="T15" t="T16" r="T17" b="T18"/>
                <a:pathLst>
                  <a:path w="110" h="197">
                    <a:moveTo>
                      <a:pt x="110" y="197"/>
                    </a:moveTo>
                    <a:lnTo>
                      <a:pt x="110" y="9"/>
                    </a:lnTo>
                    <a:lnTo>
                      <a:pt x="0" y="0"/>
                    </a:lnTo>
                    <a:lnTo>
                      <a:pt x="0" y="139"/>
                    </a:lnTo>
                    <a:lnTo>
                      <a:pt x="110" y="197"/>
                    </a:lnTo>
                    <a:close/>
                  </a:path>
                </a:pathLst>
              </a:custGeom>
              <a:solidFill>
                <a:srgbClr val="4CB2FF"/>
              </a:solidFill>
              <a:ln w="9525">
                <a:noFill/>
                <a:round/>
                <a:headEnd/>
                <a:tailEnd/>
              </a:ln>
            </p:spPr>
            <p:txBody>
              <a:bodyPr/>
              <a:lstStyle/>
              <a:p>
                <a:endParaRPr lang="en-US"/>
              </a:p>
            </p:txBody>
          </p:sp>
          <p:sp>
            <p:nvSpPr>
              <p:cNvPr id="28780" name="Freeform 70"/>
              <p:cNvSpPr>
                <a:spLocks/>
              </p:cNvSpPr>
              <p:nvPr/>
            </p:nvSpPr>
            <p:spPr bwMode="auto">
              <a:xfrm>
                <a:off x="1846" y="3427"/>
                <a:ext cx="11" cy="99"/>
              </a:xfrm>
              <a:custGeom>
                <a:avLst/>
                <a:gdLst>
                  <a:gd name="T0" fmla="*/ 1 w 22"/>
                  <a:gd name="T1" fmla="*/ 0 h 199"/>
                  <a:gd name="T2" fmla="*/ 0 w 22"/>
                  <a:gd name="T3" fmla="*/ 0 h 199"/>
                  <a:gd name="T4" fmla="*/ 0 w 22"/>
                  <a:gd name="T5" fmla="*/ 0 h 199"/>
                  <a:gd name="T6" fmla="*/ 1 w 22"/>
                  <a:gd name="T7" fmla="*/ 0 h 199"/>
                  <a:gd name="T8" fmla="*/ 1 w 22"/>
                  <a:gd name="T9" fmla="*/ 0 h 199"/>
                  <a:gd name="T10" fmla="*/ 1 w 22"/>
                  <a:gd name="T11" fmla="*/ 0 h 199"/>
                  <a:gd name="T12" fmla="*/ 1 w 22"/>
                  <a:gd name="T13" fmla="*/ 0 h 199"/>
                  <a:gd name="T14" fmla="*/ 1 w 22"/>
                  <a:gd name="T15" fmla="*/ 0 h 199"/>
                  <a:gd name="T16" fmla="*/ 1 w 22"/>
                  <a:gd name="T17" fmla="*/ 0 h 199"/>
                  <a:gd name="T18" fmla="*/ 1 w 22"/>
                  <a:gd name="T19" fmla="*/ 0 h 199"/>
                  <a:gd name="T20" fmla="*/ 0 w 22"/>
                  <a:gd name="T21" fmla="*/ 0 h 199"/>
                  <a:gd name="T22" fmla="*/ 1 w 22"/>
                  <a:gd name="T23" fmla="*/ 0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99"/>
                  <a:gd name="T38" fmla="*/ 22 w 22"/>
                  <a:gd name="T39" fmla="*/ 199 h 1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99">
                    <a:moveTo>
                      <a:pt x="9" y="22"/>
                    </a:moveTo>
                    <a:lnTo>
                      <a:pt x="0" y="11"/>
                    </a:lnTo>
                    <a:lnTo>
                      <a:pt x="0" y="199"/>
                    </a:lnTo>
                    <a:lnTo>
                      <a:pt x="22" y="199"/>
                    </a:lnTo>
                    <a:lnTo>
                      <a:pt x="22" y="11"/>
                    </a:lnTo>
                    <a:lnTo>
                      <a:pt x="13" y="0"/>
                    </a:lnTo>
                    <a:lnTo>
                      <a:pt x="22" y="11"/>
                    </a:lnTo>
                    <a:lnTo>
                      <a:pt x="19" y="3"/>
                    </a:lnTo>
                    <a:lnTo>
                      <a:pt x="11" y="0"/>
                    </a:lnTo>
                    <a:lnTo>
                      <a:pt x="3" y="3"/>
                    </a:lnTo>
                    <a:lnTo>
                      <a:pt x="0" y="11"/>
                    </a:lnTo>
                    <a:lnTo>
                      <a:pt x="9" y="22"/>
                    </a:lnTo>
                    <a:close/>
                  </a:path>
                </a:pathLst>
              </a:custGeom>
              <a:solidFill>
                <a:srgbClr val="000000"/>
              </a:solidFill>
              <a:ln w="9525">
                <a:noFill/>
                <a:round/>
                <a:headEnd/>
                <a:tailEnd/>
              </a:ln>
            </p:spPr>
            <p:txBody>
              <a:bodyPr/>
              <a:lstStyle/>
              <a:p>
                <a:endParaRPr lang="en-US"/>
              </a:p>
            </p:txBody>
          </p:sp>
          <p:sp>
            <p:nvSpPr>
              <p:cNvPr id="28781" name="Freeform 71"/>
              <p:cNvSpPr>
                <a:spLocks/>
              </p:cNvSpPr>
              <p:nvPr/>
            </p:nvSpPr>
            <p:spPr bwMode="auto">
              <a:xfrm>
                <a:off x="1791" y="3422"/>
                <a:ext cx="61" cy="16"/>
              </a:xfrm>
              <a:custGeom>
                <a:avLst/>
                <a:gdLst>
                  <a:gd name="T0" fmla="*/ 0 w 123"/>
                  <a:gd name="T1" fmla="*/ 1 h 31"/>
                  <a:gd name="T2" fmla="*/ 0 w 123"/>
                  <a:gd name="T3" fmla="*/ 1 h 31"/>
                  <a:gd name="T4" fmla="*/ 0 w 123"/>
                  <a:gd name="T5" fmla="*/ 1 h 31"/>
                  <a:gd name="T6" fmla="*/ 0 w 123"/>
                  <a:gd name="T7" fmla="*/ 1 h 31"/>
                  <a:gd name="T8" fmla="*/ 0 w 123"/>
                  <a:gd name="T9" fmla="*/ 0 h 31"/>
                  <a:gd name="T10" fmla="*/ 0 w 123"/>
                  <a:gd name="T11" fmla="*/ 1 h 31"/>
                  <a:gd name="T12" fmla="*/ 0 w 123"/>
                  <a:gd name="T13" fmla="*/ 0 h 31"/>
                  <a:gd name="T14" fmla="*/ 0 w 123"/>
                  <a:gd name="T15" fmla="*/ 1 h 31"/>
                  <a:gd name="T16" fmla="*/ 0 w 123"/>
                  <a:gd name="T17" fmla="*/ 1 h 31"/>
                  <a:gd name="T18" fmla="*/ 0 w 123"/>
                  <a:gd name="T19" fmla="*/ 1 h 31"/>
                  <a:gd name="T20" fmla="*/ 0 w 123"/>
                  <a:gd name="T21" fmla="*/ 1 h 31"/>
                  <a:gd name="T22" fmla="*/ 0 w 123"/>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
                  <a:gd name="T37" fmla="*/ 0 h 31"/>
                  <a:gd name="T38" fmla="*/ 123 w 123"/>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 h="31">
                    <a:moveTo>
                      <a:pt x="22" y="11"/>
                    </a:moveTo>
                    <a:lnTo>
                      <a:pt x="10" y="22"/>
                    </a:lnTo>
                    <a:lnTo>
                      <a:pt x="119" y="31"/>
                    </a:lnTo>
                    <a:lnTo>
                      <a:pt x="123" y="9"/>
                    </a:lnTo>
                    <a:lnTo>
                      <a:pt x="13" y="0"/>
                    </a:lnTo>
                    <a:lnTo>
                      <a:pt x="0" y="11"/>
                    </a:lnTo>
                    <a:lnTo>
                      <a:pt x="13" y="0"/>
                    </a:lnTo>
                    <a:lnTo>
                      <a:pt x="5" y="3"/>
                    </a:lnTo>
                    <a:lnTo>
                      <a:pt x="0" y="9"/>
                    </a:lnTo>
                    <a:lnTo>
                      <a:pt x="2" y="17"/>
                    </a:lnTo>
                    <a:lnTo>
                      <a:pt x="10" y="22"/>
                    </a:lnTo>
                    <a:lnTo>
                      <a:pt x="22" y="11"/>
                    </a:lnTo>
                    <a:close/>
                  </a:path>
                </a:pathLst>
              </a:custGeom>
              <a:solidFill>
                <a:srgbClr val="000000"/>
              </a:solidFill>
              <a:ln w="9525">
                <a:noFill/>
                <a:round/>
                <a:headEnd/>
                <a:tailEnd/>
              </a:ln>
            </p:spPr>
            <p:txBody>
              <a:bodyPr/>
              <a:lstStyle/>
              <a:p>
                <a:endParaRPr lang="en-US"/>
              </a:p>
            </p:txBody>
          </p:sp>
          <p:sp>
            <p:nvSpPr>
              <p:cNvPr id="28782" name="Freeform 72"/>
              <p:cNvSpPr>
                <a:spLocks/>
              </p:cNvSpPr>
              <p:nvPr/>
            </p:nvSpPr>
            <p:spPr bwMode="auto">
              <a:xfrm>
                <a:off x="1791" y="3428"/>
                <a:ext cx="11" cy="75"/>
              </a:xfrm>
              <a:custGeom>
                <a:avLst/>
                <a:gdLst>
                  <a:gd name="T0" fmla="*/ 1 w 22"/>
                  <a:gd name="T1" fmla="*/ 1 h 150"/>
                  <a:gd name="T2" fmla="*/ 1 w 22"/>
                  <a:gd name="T3" fmla="*/ 1 h 150"/>
                  <a:gd name="T4" fmla="*/ 1 w 22"/>
                  <a:gd name="T5" fmla="*/ 0 h 150"/>
                  <a:gd name="T6" fmla="*/ 0 w 22"/>
                  <a:gd name="T7" fmla="*/ 0 h 150"/>
                  <a:gd name="T8" fmla="*/ 0 w 22"/>
                  <a:gd name="T9" fmla="*/ 1 h 150"/>
                  <a:gd name="T10" fmla="*/ 1 w 22"/>
                  <a:gd name="T11" fmla="*/ 1 h 150"/>
                  <a:gd name="T12" fmla="*/ 0 w 22"/>
                  <a:gd name="T13" fmla="*/ 1 h 150"/>
                  <a:gd name="T14" fmla="*/ 1 w 22"/>
                  <a:gd name="T15" fmla="*/ 1 h 150"/>
                  <a:gd name="T16" fmla="*/ 1 w 22"/>
                  <a:gd name="T17" fmla="*/ 1 h 150"/>
                  <a:gd name="T18" fmla="*/ 1 w 22"/>
                  <a:gd name="T19" fmla="*/ 1 h 150"/>
                  <a:gd name="T20" fmla="*/ 1 w 22"/>
                  <a:gd name="T21" fmla="*/ 1 h 150"/>
                  <a:gd name="T22" fmla="*/ 1 w 22"/>
                  <a:gd name="T23" fmla="*/ 1 h 1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50"/>
                  <a:gd name="T38" fmla="*/ 22 w 22"/>
                  <a:gd name="T39" fmla="*/ 150 h 1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50">
                    <a:moveTo>
                      <a:pt x="16" y="129"/>
                    </a:moveTo>
                    <a:lnTo>
                      <a:pt x="22" y="139"/>
                    </a:lnTo>
                    <a:lnTo>
                      <a:pt x="22" y="0"/>
                    </a:lnTo>
                    <a:lnTo>
                      <a:pt x="0" y="0"/>
                    </a:lnTo>
                    <a:lnTo>
                      <a:pt x="0" y="139"/>
                    </a:lnTo>
                    <a:lnTo>
                      <a:pt x="7" y="148"/>
                    </a:lnTo>
                    <a:lnTo>
                      <a:pt x="0" y="139"/>
                    </a:lnTo>
                    <a:lnTo>
                      <a:pt x="4" y="147"/>
                    </a:lnTo>
                    <a:lnTo>
                      <a:pt x="11" y="150"/>
                    </a:lnTo>
                    <a:lnTo>
                      <a:pt x="19" y="147"/>
                    </a:lnTo>
                    <a:lnTo>
                      <a:pt x="22" y="139"/>
                    </a:lnTo>
                    <a:lnTo>
                      <a:pt x="16" y="129"/>
                    </a:lnTo>
                    <a:close/>
                  </a:path>
                </a:pathLst>
              </a:custGeom>
              <a:solidFill>
                <a:srgbClr val="000000"/>
              </a:solidFill>
              <a:ln w="9525">
                <a:noFill/>
                <a:round/>
                <a:headEnd/>
                <a:tailEnd/>
              </a:ln>
            </p:spPr>
            <p:txBody>
              <a:bodyPr/>
              <a:lstStyle/>
              <a:p>
                <a:endParaRPr lang="en-US"/>
              </a:p>
            </p:txBody>
          </p:sp>
          <p:sp>
            <p:nvSpPr>
              <p:cNvPr id="28783" name="Freeform 73"/>
              <p:cNvSpPr>
                <a:spLocks/>
              </p:cNvSpPr>
              <p:nvPr/>
            </p:nvSpPr>
            <p:spPr bwMode="auto">
              <a:xfrm>
                <a:off x="1794" y="3493"/>
                <a:ext cx="63" cy="38"/>
              </a:xfrm>
              <a:custGeom>
                <a:avLst/>
                <a:gdLst>
                  <a:gd name="T0" fmla="*/ 1 w 125"/>
                  <a:gd name="T1" fmla="*/ 0 h 77"/>
                  <a:gd name="T2" fmla="*/ 1 w 125"/>
                  <a:gd name="T3" fmla="*/ 0 h 77"/>
                  <a:gd name="T4" fmla="*/ 1 w 125"/>
                  <a:gd name="T5" fmla="*/ 0 h 77"/>
                  <a:gd name="T6" fmla="*/ 0 w 125"/>
                  <a:gd name="T7" fmla="*/ 0 h 77"/>
                  <a:gd name="T8" fmla="*/ 1 w 125"/>
                  <a:gd name="T9" fmla="*/ 0 h 77"/>
                  <a:gd name="T10" fmla="*/ 1 w 125"/>
                  <a:gd name="T11" fmla="*/ 0 h 77"/>
                  <a:gd name="T12" fmla="*/ 1 w 125"/>
                  <a:gd name="T13" fmla="*/ 0 h 77"/>
                  <a:gd name="T14" fmla="*/ 1 w 125"/>
                  <a:gd name="T15" fmla="*/ 0 h 77"/>
                  <a:gd name="T16" fmla="*/ 1 w 125"/>
                  <a:gd name="T17" fmla="*/ 0 h 77"/>
                  <a:gd name="T18" fmla="*/ 1 w 125"/>
                  <a:gd name="T19" fmla="*/ 0 h 77"/>
                  <a:gd name="T20" fmla="*/ 1 w 125"/>
                  <a:gd name="T21" fmla="*/ 0 h 77"/>
                  <a:gd name="T22" fmla="*/ 1 w 125"/>
                  <a:gd name="T23" fmla="*/ 0 h 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5"/>
                  <a:gd name="T37" fmla="*/ 0 h 77"/>
                  <a:gd name="T38" fmla="*/ 125 w 125"/>
                  <a:gd name="T39" fmla="*/ 77 h 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5" h="77">
                    <a:moveTo>
                      <a:pt x="103" y="68"/>
                    </a:moveTo>
                    <a:lnTo>
                      <a:pt x="119" y="58"/>
                    </a:lnTo>
                    <a:lnTo>
                      <a:pt x="9" y="0"/>
                    </a:lnTo>
                    <a:lnTo>
                      <a:pt x="0" y="19"/>
                    </a:lnTo>
                    <a:lnTo>
                      <a:pt x="109" y="77"/>
                    </a:lnTo>
                    <a:lnTo>
                      <a:pt x="125" y="68"/>
                    </a:lnTo>
                    <a:lnTo>
                      <a:pt x="109" y="77"/>
                    </a:lnTo>
                    <a:lnTo>
                      <a:pt x="117" y="77"/>
                    </a:lnTo>
                    <a:lnTo>
                      <a:pt x="123" y="72"/>
                    </a:lnTo>
                    <a:lnTo>
                      <a:pt x="125" y="65"/>
                    </a:lnTo>
                    <a:lnTo>
                      <a:pt x="119" y="58"/>
                    </a:lnTo>
                    <a:lnTo>
                      <a:pt x="103" y="68"/>
                    </a:lnTo>
                    <a:close/>
                  </a:path>
                </a:pathLst>
              </a:custGeom>
              <a:solidFill>
                <a:srgbClr val="000000"/>
              </a:solidFill>
              <a:ln w="9525">
                <a:noFill/>
                <a:round/>
                <a:headEnd/>
                <a:tailEnd/>
              </a:ln>
            </p:spPr>
            <p:txBody>
              <a:bodyPr/>
              <a:lstStyle/>
              <a:p>
                <a:endParaRPr lang="en-US"/>
              </a:p>
            </p:txBody>
          </p:sp>
          <p:sp>
            <p:nvSpPr>
              <p:cNvPr id="28784" name="Freeform 74"/>
              <p:cNvSpPr>
                <a:spLocks/>
              </p:cNvSpPr>
              <p:nvPr/>
            </p:nvSpPr>
            <p:spPr bwMode="auto">
              <a:xfrm>
                <a:off x="1947" y="3542"/>
                <a:ext cx="40" cy="31"/>
              </a:xfrm>
              <a:custGeom>
                <a:avLst/>
                <a:gdLst>
                  <a:gd name="T0" fmla="*/ 1 w 80"/>
                  <a:gd name="T1" fmla="*/ 1 h 61"/>
                  <a:gd name="T2" fmla="*/ 1 w 80"/>
                  <a:gd name="T3" fmla="*/ 0 h 61"/>
                  <a:gd name="T4" fmla="*/ 0 w 80"/>
                  <a:gd name="T5" fmla="*/ 1 h 61"/>
                  <a:gd name="T6" fmla="*/ 0 w 80"/>
                  <a:gd name="T7" fmla="*/ 1 h 61"/>
                  <a:gd name="T8" fmla="*/ 1 w 80"/>
                  <a:gd name="T9" fmla="*/ 1 h 61"/>
                  <a:gd name="T10" fmla="*/ 0 60000 65536"/>
                  <a:gd name="T11" fmla="*/ 0 60000 65536"/>
                  <a:gd name="T12" fmla="*/ 0 60000 65536"/>
                  <a:gd name="T13" fmla="*/ 0 60000 65536"/>
                  <a:gd name="T14" fmla="*/ 0 60000 65536"/>
                  <a:gd name="T15" fmla="*/ 0 w 80"/>
                  <a:gd name="T16" fmla="*/ 0 h 61"/>
                  <a:gd name="T17" fmla="*/ 80 w 80"/>
                  <a:gd name="T18" fmla="*/ 61 h 61"/>
                </a:gdLst>
                <a:ahLst/>
                <a:cxnLst>
                  <a:cxn ang="T10">
                    <a:pos x="T0" y="T1"/>
                  </a:cxn>
                  <a:cxn ang="T11">
                    <a:pos x="T2" y="T3"/>
                  </a:cxn>
                  <a:cxn ang="T12">
                    <a:pos x="T4" y="T5"/>
                  </a:cxn>
                  <a:cxn ang="T13">
                    <a:pos x="T6" y="T7"/>
                  </a:cxn>
                  <a:cxn ang="T14">
                    <a:pos x="T8" y="T9"/>
                  </a:cxn>
                </a:cxnLst>
                <a:rect l="T15" t="T16" r="T17" b="T18"/>
                <a:pathLst>
                  <a:path w="80" h="61">
                    <a:moveTo>
                      <a:pt x="80" y="13"/>
                    </a:moveTo>
                    <a:lnTo>
                      <a:pt x="80" y="0"/>
                    </a:lnTo>
                    <a:lnTo>
                      <a:pt x="0" y="50"/>
                    </a:lnTo>
                    <a:lnTo>
                      <a:pt x="0" y="61"/>
                    </a:lnTo>
                    <a:lnTo>
                      <a:pt x="80" y="13"/>
                    </a:lnTo>
                  </a:path>
                </a:pathLst>
              </a:custGeom>
              <a:noFill/>
              <a:ln w="0">
                <a:solidFill>
                  <a:srgbClr val="000000"/>
                </a:solidFill>
                <a:round/>
                <a:headEnd/>
                <a:tailEnd/>
              </a:ln>
            </p:spPr>
            <p:txBody>
              <a:bodyPr/>
              <a:lstStyle/>
              <a:p>
                <a:endParaRPr lang="en-US"/>
              </a:p>
            </p:txBody>
          </p:sp>
          <p:sp>
            <p:nvSpPr>
              <p:cNvPr id="28785" name="Freeform 75"/>
              <p:cNvSpPr>
                <a:spLocks/>
              </p:cNvSpPr>
              <p:nvPr/>
            </p:nvSpPr>
            <p:spPr bwMode="auto">
              <a:xfrm>
                <a:off x="1995" y="3523"/>
                <a:ext cx="11" cy="32"/>
              </a:xfrm>
              <a:custGeom>
                <a:avLst/>
                <a:gdLst>
                  <a:gd name="T0" fmla="*/ 1 w 21"/>
                  <a:gd name="T1" fmla="*/ 0 h 65"/>
                  <a:gd name="T2" fmla="*/ 1 w 21"/>
                  <a:gd name="T3" fmla="*/ 0 h 65"/>
                  <a:gd name="T4" fmla="*/ 1 w 21"/>
                  <a:gd name="T5" fmla="*/ 0 h 65"/>
                  <a:gd name="T6" fmla="*/ 0 w 21"/>
                  <a:gd name="T7" fmla="*/ 0 h 65"/>
                  <a:gd name="T8" fmla="*/ 0 w 21"/>
                  <a:gd name="T9" fmla="*/ 0 h 65"/>
                  <a:gd name="T10" fmla="*/ 1 w 21"/>
                  <a:gd name="T11" fmla="*/ 0 h 65"/>
                  <a:gd name="T12" fmla="*/ 0 60000 65536"/>
                  <a:gd name="T13" fmla="*/ 0 60000 65536"/>
                  <a:gd name="T14" fmla="*/ 0 60000 65536"/>
                  <a:gd name="T15" fmla="*/ 0 60000 65536"/>
                  <a:gd name="T16" fmla="*/ 0 60000 65536"/>
                  <a:gd name="T17" fmla="*/ 0 60000 65536"/>
                  <a:gd name="T18" fmla="*/ 0 w 21"/>
                  <a:gd name="T19" fmla="*/ 0 h 65"/>
                  <a:gd name="T20" fmla="*/ 21 w 2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21" h="65">
                    <a:moveTo>
                      <a:pt x="10" y="65"/>
                    </a:moveTo>
                    <a:lnTo>
                      <a:pt x="21" y="65"/>
                    </a:lnTo>
                    <a:lnTo>
                      <a:pt x="21" y="0"/>
                    </a:lnTo>
                    <a:lnTo>
                      <a:pt x="0" y="0"/>
                    </a:lnTo>
                    <a:lnTo>
                      <a:pt x="0" y="65"/>
                    </a:lnTo>
                    <a:lnTo>
                      <a:pt x="10" y="65"/>
                    </a:lnTo>
                    <a:close/>
                  </a:path>
                </a:pathLst>
              </a:custGeom>
              <a:solidFill>
                <a:srgbClr val="000000"/>
              </a:solidFill>
              <a:ln w="9525">
                <a:noFill/>
                <a:round/>
                <a:headEnd/>
                <a:tailEnd/>
              </a:ln>
            </p:spPr>
            <p:txBody>
              <a:bodyPr/>
              <a:lstStyle/>
              <a:p>
                <a:endParaRPr lang="en-US"/>
              </a:p>
            </p:txBody>
          </p:sp>
          <p:sp>
            <p:nvSpPr>
              <p:cNvPr id="28786" name="Freeform 76"/>
              <p:cNvSpPr>
                <a:spLocks/>
              </p:cNvSpPr>
              <p:nvPr/>
            </p:nvSpPr>
            <p:spPr bwMode="auto">
              <a:xfrm>
                <a:off x="1952" y="3561"/>
                <a:ext cx="145" cy="93"/>
              </a:xfrm>
              <a:custGeom>
                <a:avLst/>
                <a:gdLst>
                  <a:gd name="T0" fmla="*/ 0 w 292"/>
                  <a:gd name="T1" fmla="*/ 1 h 186"/>
                  <a:gd name="T2" fmla="*/ 0 w 292"/>
                  <a:gd name="T3" fmla="*/ 0 h 186"/>
                  <a:gd name="T4" fmla="*/ 0 w 292"/>
                  <a:gd name="T5" fmla="*/ 1 h 186"/>
                  <a:gd name="T6" fmla="*/ 0 w 292"/>
                  <a:gd name="T7" fmla="*/ 1 h 186"/>
                  <a:gd name="T8" fmla="*/ 0 w 292"/>
                  <a:gd name="T9" fmla="*/ 1 h 186"/>
                  <a:gd name="T10" fmla="*/ 0 60000 65536"/>
                  <a:gd name="T11" fmla="*/ 0 60000 65536"/>
                  <a:gd name="T12" fmla="*/ 0 60000 65536"/>
                  <a:gd name="T13" fmla="*/ 0 60000 65536"/>
                  <a:gd name="T14" fmla="*/ 0 60000 65536"/>
                  <a:gd name="T15" fmla="*/ 0 w 292"/>
                  <a:gd name="T16" fmla="*/ 0 h 186"/>
                  <a:gd name="T17" fmla="*/ 292 w 292"/>
                  <a:gd name="T18" fmla="*/ 186 h 186"/>
                </a:gdLst>
                <a:ahLst/>
                <a:cxnLst>
                  <a:cxn ang="T10">
                    <a:pos x="T0" y="T1"/>
                  </a:cxn>
                  <a:cxn ang="T11">
                    <a:pos x="T2" y="T3"/>
                  </a:cxn>
                  <a:cxn ang="T12">
                    <a:pos x="T4" y="T5"/>
                  </a:cxn>
                  <a:cxn ang="T13">
                    <a:pos x="T6" y="T7"/>
                  </a:cxn>
                  <a:cxn ang="T14">
                    <a:pos x="T8" y="T9"/>
                  </a:cxn>
                </a:cxnLst>
                <a:rect l="T15" t="T16" r="T17" b="T18"/>
                <a:pathLst>
                  <a:path w="292" h="186">
                    <a:moveTo>
                      <a:pt x="292" y="20"/>
                    </a:moveTo>
                    <a:lnTo>
                      <a:pt x="292" y="0"/>
                    </a:lnTo>
                    <a:lnTo>
                      <a:pt x="0" y="165"/>
                    </a:lnTo>
                    <a:lnTo>
                      <a:pt x="0" y="186"/>
                    </a:lnTo>
                    <a:lnTo>
                      <a:pt x="292" y="20"/>
                    </a:lnTo>
                    <a:close/>
                  </a:path>
                </a:pathLst>
              </a:custGeom>
              <a:solidFill>
                <a:srgbClr val="007FFF"/>
              </a:solidFill>
              <a:ln w="9525">
                <a:noFill/>
                <a:round/>
                <a:headEnd/>
                <a:tailEnd/>
              </a:ln>
            </p:spPr>
            <p:txBody>
              <a:bodyPr/>
              <a:lstStyle/>
              <a:p>
                <a:endParaRPr lang="en-US"/>
              </a:p>
            </p:txBody>
          </p:sp>
          <p:sp>
            <p:nvSpPr>
              <p:cNvPr id="28787" name="Freeform 77"/>
              <p:cNvSpPr>
                <a:spLocks/>
              </p:cNvSpPr>
              <p:nvPr/>
            </p:nvSpPr>
            <p:spPr bwMode="auto">
              <a:xfrm>
                <a:off x="2093" y="3557"/>
                <a:ext cx="8" cy="14"/>
              </a:xfrm>
              <a:custGeom>
                <a:avLst/>
                <a:gdLst>
                  <a:gd name="T0" fmla="*/ 1 w 15"/>
                  <a:gd name="T1" fmla="*/ 1 h 28"/>
                  <a:gd name="T2" fmla="*/ 0 w 15"/>
                  <a:gd name="T3" fmla="*/ 1 h 28"/>
                  <a:gd name="T4" fmla="*/ 0 w 15"/>
                  <a:gd name="T5" fmla="*/ 1 h 28"/>
                  <a:gd name="T6" fmla="*/ 1 w 15"/>
                  <a:gd name="T7" fmla="*/ 1 h 28"/>
                  <a:gd name="T8" fmla="*/ 1 w 15"/>
                  <a:gd name="T9" fmla="*/ 1 h 28"/>
                  <a:gd name="T10" fmla="*/ 1 w 15"/>
                  <a:gd name="T11" fmla="*/ 1 h 28"/>
                  <a:gd name="T12" fmla="*/ 1 w 15"/>
                  <a:gd name="T13" fmla="*/ 1 h 28"/>
                  <a:gd name="T14" fmla="*/ 1 w 15"/>
                  <a:gd name="T15" fmla="*/ 1 h 28"/>
                  <a:gd name="T16" fmla="*/ 1 w 15"/>
                  <a:gd name="T17" fmla="*/ 0 h 28"/>
                  <a:gd name="T18" fmla="*/ 1 w 15"/>
                  <a:gd name="T19" fmla="*/ 1 h 28"/>
                  <a:gd name="T20" fmla="*/ 0 w 15"/>
                  <a:gd name="T21" fmla="*/ 1 h 28"/>
                  <a:gd name="T22" fmla="*/ 1 w 15"/>
                  <a:gd name="T23" fmla="*/ 1 h 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8"/>
                  <a:gd name="T38" fmla="*/ 15 w 15"/>
                  <a:gd name="T39" fmla="*/ 28 h 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8">
                    <a:moveTo>
                      <a:pt x="11" y="14"/>
                    </a:moveTo>
                    <a:lnTo>
                      <a:pt x="0" y="8"/>
                    </a:lnTo>
                    <a:lnTo>
                      <a:pt x="0" y="28"/>
                    </a:lnTo>
                    <a:lnTo>
                      <a:pt x="15" y="28"/>
                    </a:lnTo>
                    <a:lnTo>
                      <a:pt x="15" y="8"/>
                    </a:lnTo>
                    <a:lnTo>
                      <a:pt x="5" y="1"/>
                    </a:lnTo>
                    <a:lnTo>
                      <a:pt x="15" y="8"/>
                    </a:lnTo>
                    <a:lnTo>
                      <a:pt x="12" y="3"/>
                    </a:lnTo>
                    <a:lnTo>
                      <a:pt x="8" y="0"/>
                    </a:lnTo>
                    <a:lnTo>
                      <a:pt x="3" y="3"/>
                    </a:lnTo>
                    <a:lnTo>
                      <a:pt x="0" y="8"/>
                    </a:lnTo>
                    <a:lnTo>
                      <a:pt x="11" y="14"/>
                    </a:lnTo>
                    <a:close/>
                  </a:path>
                </a:pathLst>
              </a:custGeom>
              <a:solidFill>
                <a:srgbClr val="000000"/>
              </a:solidFill>
              <a:ln w="9525">
                <a:noFill/>
                <a:round/>
                <a:headEnd/>
                <a:tailEnd/>
              </a:ln>
            </p:spPr>
            <p:txBody>
              <a:bodyPr/>
              <a:lstStyle/>
              <a:p>
                <a:endParaRPr lang="en-US"/>
              </a:p>
            </p:txBody>
          </p:sp>
          <p:sp>
            <p:nvSpPr>
              <p:cNvPr id="28788" name="Freeform 78"/>
              <p:cNvSpPr>
                <a:spLocks/>
              </p:cNvSpPr>
              <p:nvPr/>
            </p:nvSpPr>
            <p:spPr bwMode="auto">
              <a:xfrm>
                <a:off x="1948" y="3558"/>
                <a:ext cx="151" cy="89"/>
              </a:xfrm>
              <a:custGeom>
                <a:avLst/>
                <a:gdLst>
                  <a:gd name="T0" fmla="*/ 1 w 302"/>
                  <a:gd name="T1" fmla="*/ 0 h 179"/>
                  <a:gd name="T2" fmla="*/ 1 w 302"/>
                  <a:gd name="T3" fmla="*/ 0 h 179"/>
                  <a:gd name="T4" fmla="*/ 1 w 302"/>
                  <a:gd name="T5" fmla="*/ 0 h 179"/>
                  <a:gd name="T6" fmla="*/ 1 w 302"/>
                  <a:gd name="T7" fmla="*/ 0 h 179"/>
                  <a:gd name="T8" fmla="*/ 1 w 302"/>
                  <a:gd name="T9" fmla="*/ 0 h 179"/>
                  <a:gd name="T10" fmla="*/ 0 w 302"/>
                  <a:gd name="T11" fmla="*/ 0 h 179"/>
                  <a:gd name="T12" fmla="*/ 1 w 302"/>
                  <a:gd name="T13" fmla="*/ 0 h 179"/>
                  <a:gd name="T14" fmla="*/ 1 w 302"/>
                  <a:gd name="T15" fmla="*/ 0 h 179"/>
                  <a:gd name="T16" fmla="*/ 1 w 302"/>
                  <a:gd name="T17" fmla="*/ 0 h 179"/>
                  <a:gd name="T18" fmla="*/ 1 w 302"/>
                  <a:gd name="T19" fmla="*/ 0 h 179"/>
                  <a:gd name="T20" fmla="*/ 1 w 302"/>
                  <a:gd name="T21" fmla="*/ 0 h 179"/>
                  <a:gd name="T22" fmla="*/ 1 w 302"/>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9"/>
                  <a:gd name="T38" fmla="*/ 302 w 302"/>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9">
                    <a:moveTo>
                      <a:pt x="15" y="172"/>
                    </a:moveTo>
                    <a:lnTo>
                      <a:pt x="11" y="179"/>
                    </a:lnTo>
                    <a:lnTo>
                      <a:pt x="302" y="13"/>
                    </a:lnTo>
                    <a:lnTo>
                      <a:pt x="296" y="0"/>
                    </a:lnTo>
                    <a:lnTo>
                      <a:pt x="4" y="166"/>
                    </a:lnTo>
                    <a:lnTo>
                      <a:pt x="0" y="172"/>
                    </a:lnTo>
                    <a:lnTo>
                      <a:pt x="4" y="166"/>
                    </a:lnTo>
                    <a:lnTo>
                      <a:pt x="1" y="169"/>
                    </a:lnTo>
                    <a:lnTo>
                      <a:pt x="1" y="174"/>
                    </a:lnTo>
                    <a:lnTo>
                      <a:pt x="6" y="179"/>
                    </a:lnTo>
                    <a:lnTo>
                      <a:pt x="11" y="179"/>
                    </a:lnTo>
                    <a:lnTo>
                      <a:pt x="15" y="172"/>
                    </a:lnTo>
                    <a:close/>
                  </a:path>
                </a:pathLst>
              </a:custGeom>
              <a:solidFill>
                <a:srgbClr val="000000"/>
              </a:solidFill>
              <a:ln w="9525">
                <a:noFill/>
                <a:round/>
                <a:headEnd/>
                <a:tailEnd/>
              </a:ln>
            </p:spPr>
            <p:txBody>
              <a:bodyPr/>
              <a:lstStyle/>
              <a:p>
                <a:endParaRPr lang="en-US"/>
              </a:p>
            </p:txBody>
          </p:sp>
          <p:sp>
            <p:nvSpPr>
              <p:cNvPr id="28789" name="Freeform 79"/>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4" y="14"/>
                    </a:moveTo>
                    <a:lnTo>
                      <a:pt x="15" y="21"/>
                    </a:lnTo>
                    <a:lnTo>
                      <a:pt x="15" y="0"/>
                    </a:lnTo>
                    <a:lnTo>
                      <a:pt x="0" y="0"/>
                    </a:lnTo>
                    <a:lnTo>
                      <a:pt x="0" y="21"/>
                    </a:lnTo>
                    <a:lnTo>
                      <a:pt x="11" y="27"/>
                    </a:lnTo>
                    <a:lnTo>
                      <a:pt x="0" y="21"/>
                    </a:lnTo>
                    <a:lnTo>
                      <a:pt x="3" y="25"/>
                    </a:lnTo>
                    <a:lnTo>
                      <a:pt x="7" y="27"/>
                    </a:lnTo>
                    <a:lnTo>
                      <a:pt x="12" y="25"/>
                    </a:lnTo>
                    <a:lnTo>
                      <a:pt x="15" y="21"/>
                    </a:lnTo>
                    <a:lnTo>
                      <a:pt x="4" y="14"/>
                    </a:lnTo>
                    <a:close/>
                  </a:path>
                </a:pathLst>
              </a:custGeom>
              <a:solidFill>
                <a:srgbClr val="000000"/>
              </a:solidFill>
              <a:ln w="9525">
                <a:noFill/>
                <a:round/>
                <a:headEnd/>
                <a:tailEnd/>
              </a:ln>
            </p:spPr>
            <p:txBody>
              <a:bodyPr/>
              <a:lstStyle/>
              <a:p>
                <a:endParaRPr lang="en-US"/>
              </a:p>
            </p:txBody>
          </p:sp>
          <p:sp>
            <p:nvSpPr>
              <p:cNvPr id="28790" name="Freeform 80"/>
              <p:cNvSpPr>
                <a:spLocks/>
              </p:cNvSpPr>
              <p:nvPr/>
            </p:nvSpPr>
            <p:spPr bwMode="auto">
              <a:xfrm>
                <a:off x="1950" y="3568"/>
                <a:ext cx="151" cy="89"/>
              </a:xfrm>
              <a:custGeom>
                <a:avLst/>
                <a:gdLst>
                  <a:gd name="T0" fmla="*/ 1 w 302"/>
                  <a:gd name="T1" fmla="*/ 1 h 178"/>
                  <a:gd name="T2" fmla="*/ 1 w 302"/>
                  <a:gd name="T3" fmla="*/ 0 h 178"/>
                  <a:gd name="T4" fmla="*/ 0 w 302"/>
                  <a:gd name="T5" fmla="*/ 1 h 178"/>
                  <a:gd name="T6" fmla="*/ 1 w 302"/>
                  <a:gd name="T7" fmla="*/ 1 h 178"/>
                  <a:gd name="T8" fmla="*/ 1 w 302"/>
                  <a:gd name="T9" fmla="*/ 1 h 178"/>
                  <a:gd name="T10" fmla="*/ 1 w 302"/>
                  <a:gd name="T11" fmla="*/ 1 h 178"/>
                  <a:gd name="T12" fmla="*/ 1 w 302"/>
                  <a:gd name="T13" fmla="*/ 1 h 178"/>
                  <a:gd name="T14" fmla="*/ 1 w 302"/>
                  <a:gd name="T15" fmla="*/ 1 h 178"/>
                  <a:gd name="T16" fmla="*/ 1 w 302"/>
                  <a:gd name="T17" fmla="*/ 1 h 178"/>
                  <a:gd name="T18" fmla="*/ 1 w 302"/>
                  <a:gd name="T19" fmla="*/ 0 h 178"/>
                  <a:gd name="T20" fmla="*/ 1 w 302"/>
                  <a:gd name="T21" fmla="*/ 0 h 178"/>
                  <a:gd name="T22" fmla="*/ 1 w 302"/>
                  <a:gd name="T23" fmla="*/ 1 h 1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8"/>
                  <a:gd name="T38" fmla="*/ 302 w 302"/>
                  <a:gd name="T39" fmla="*/ 178 h 17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8">
                    <a:moveTo>
                      <a:pt x="287" y="6"/>
                    </a:moveTo>
                    <a:lnTo>
                      <a:pt x="292" y="0"/>
                    </a:lnTo>
                    <a:lnTo>
                      <a:pt x="0" y="165"/>
                    </a:lnTo>
                    <a:lnTo>
                      <a:pt x="7" y="178"/>
                    </a:lnTo>
                    <a:lnTo>
                      <a:pt x="298" y="12"/>
                    </a:lnTo>
                    <a:lnTo>
                      <a:pt x="302" y="6"/>
                    </a:lnTo>
                    <a:lnTo>
                      <a:pt x="298" y="12"/>
                    </a:lnTo>
                    <a:lnTo>
                      <a:pt x="301" y="9"/>
                    </a:lnTo>
                    <a:lnTo>
                      <a:pt x="301" y="3"/>
                    </a:lnTo>
                    <a:lnTo>
                      <a:pt x="296" y="0"/>
                    </a:lnTo>
                    <a:lnTo>
                      <a:pt x="292" y="0"/>
                    </a:lnTo>
                    <a:lnTo>
                      <a:pt x="287" y="6"/>
                    </a:lnTo>
                    <a:close/>
                  </a:path>
                </a:pathLst>
              </a:custGeom>
              <a:solidFill>
                <a:srgbClr val="000000"/>
              </a:solidFill>
              <a:ln w="9525">
                <a:noFill/>
                <a:round/>
                <a:headEnd/>
                <a:tailEnd/>
              </a:ln>
            </p:spPr>
            <p:txBody>
              <a:bodyPr/>
              <a:lstStyle/>
              <a:p>
                <a:endParaRPr lang="en-US"/>
              </a:p>
            </p:txBody>
          </p:sp>
          <p:sp>
            <p:nvSpPr>
              <p:cNvPr id="28791" name="Freeform 81"/>
              <p:cNvSpPr>
                <a:spLocks/>
              </p:cNvSpPr>
              <p:nvPr/>
            </p:nvSpPr>
            <p:spPr bwMode="auto">
              <a:xfrm>
                <a:off x="1918" y="3536"/>
                <a:ext cx="179" cy="108"/>
              </a:xfrm>
              <a:custGeom>
                <a:avLst/>
                <a:gdLst>
                  <a:gd name="T0" fmla="*/ 0 w 359"/>
                  <a:gd name="T1" fmla="*/ 0 h 216"/>
                  <a:gd name="T2" fmla="*/ 0 w 359"/>
                  <a:gd name="T3" fmla="*/ 1 h 216"/>
                  <a:gd name="T4" fmla="*/ 0 w 359"/>
                  <a:gd name="T5" fmla="*/ 1 h 216"/>
                  <a:gd name="T6" fmla="*/ 0 w 359"/>
                  <a:gd name="T7" fmla="*/ 1 h 216"/>
                  <a:gd name="T8" fmla="*/ 0 w 359"/>
                  <a:gd name="T9" fmla="*/ 0 h 216"/>
                  <a:gd name="T10" fmla="*/ 0 60000 65536"/>
                  <a:gd name="T11" fmla="*/ 0 60000 65536"/>
                  <a:gd name="T12" fmla="*/ 0 60000 65536"/>
                  <a:gd name="T13" fmla="*/ 0 60000 65536"/>
                  <a:gd name="T14" fmla="*/ 0 60000 65536"/>
                  <a:gd name="T15" fmla="*/ 0 w 359"/>
                  <a:gd name="T16" fmla="*/ 0 h 216"/>
                  <a:gd name="T17" fmla="*/ 359 w 359"/>
                  <a:gd name="T18" fmla="*/ 216 h 216"/>
                </a:gdLst>
                <a:ahLst/>
                <a:cxnLst>
                  <a:cxn ang="T10">
                    <a:pos x="T0" y="T1"/>
                  </a:cxn>
                  <a:cxn ang="T11">
                    <a:pos x="T2" y="T3"/>
                  </a:cxn>
                  <a:cxn ang="T12">
                    <a:pos x="T4" y="T5"/>
                  </a:cxn>
                  <a:cxn ang="T13">
                    <a:pos x="T6" y="T7"/>
                  </a:cxn>
                  <a:cxn ang="T14">
                    <a:pos x="T8" y="T9"/>
                  </a:cxn>
                </a:cxnLst>
                <a:rect l="T15" t="T16" r="T17" b="T18"/>
                <a:pathLst>
                  <a:path w="359" h="216">
                    <a:moveTo>
                      <a:pt x="285" y="0"/>
                    </a:moveTo>
                    <a:lnTo>
                      <a:pt x="359" y="51"/>
                    </a:lnTo>
                    <a:lnTo>
                      <a:pt x="67" y="216"/>
                    </a:lnTo>
                    <a:lnTo>
                      <a:pt x="0" y="169"/>
                    </a:lnTo>
                    <a:lnTo>
                      <a:pt x="285" y="0"/>
                    </a:lnTo>
                    <a:close/>
                  </a:path>
                </a:pathLst>
              </a:custGeom>
              <a:solidFill>
                <a:srgbClr val="99D8FF"/>
              </a:solidFill>
              <a:ln w="9525">
                <a:noFill/>
                <a:round/>
                <a:headEnd/>
                <a:tailEnd/>
              </a:ln>
            </p:spPr>
            <p:txBody>
              <a:bodyPr/>
              <a:lstStyle/>
              <a:p>
                <a:endParaRPr lang="en-US"/>
              </a:p>
            </p:txBody>
          </p:sp>
          <p:sp>
            <p:nvSpPr>
              <p:cNvPr id="28792" name="Freeform 82"/>
              <p:cNvSpPr>
                <a:spLocks/>
              </p:cNvSpPr>
              <p:nvPr/>
            </p:nvSpPr>
            <p:spPr bwMode="auto">
              <a:xfrm>
                <a:off x="2058" y="3533"/>
                <a:ext cx="43" cy="32"/>
              </a:xfrm>
              <a:custGeom>
                <a:avLst/>
                <a:gdLst>
                  <a:gd name="T0" fmla="*/ 1 w 86"/>
                  <a:gd name="T1" fmla="*/ 1 h 64"/>
                  <a:gd name="T2" fmla="*/ 1 w 86"/>
                  <a:gd name="T3" fmla="*/ 1 h 64"/>
                  <a:gd name="T4" fmla="*/ 1 w 86"/>
                  <a:gd name="T5" fmla="*/ 0 h 64"/>
                  <a:gd name="T6" fmla="*/ 0 w 86"/>
                  <a:gd name="T7" fmla="*/ 1 h 64"/>
                  <a:gd name="T8" fmla="*/ 1 w 86"/>
                  <a:gd name="T9" fmla="*/ 1 h 64"/>
                  <a:gd name="T10" fmla="*/ 1 w 86"/>
                  <a:gd name="T11" fmla="*/ 1 h 64"/>
                  <a:gd name="T12" fmla="*/ 1 w 86"/>
                  <a:gd name="T13" fmla="*/ 1 h 64"/>
                  <a:gd name="T14" fmla="*/ 1 w 86"/>
                  <a:gd name="T15" fmla="*/ 1 h 64"/>
                  <a:gd name="T16" fmla="*/ 1 w 86"/>
                  <a:gd name="T17" fmla="*/ 1 h 64"/>
                  <a:gd name="T18" fmla="*/ 1 w 86"/>
                  <a:gd name="T19" fmla="*/ 1 h 64"/>
                  <a:gd name="T20" fmla="*/ 1 w 86"/>
                  <a:gd name="T21" fmla="*/ 1 h 64"/>
                  <a:gd name="T22" fmla="*/ 1 w 86"/>
                  <a:gd name="T23" fmla="*/ 1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
                  <a:gd name="T37" fmla="*/ 0 h 64"/>
                  <a:gd name="T38" fmla="*/ 86 w 86"/>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 h="64">
                    <a:moveTo>
                      <a:pt x="82" y="63"/>
                    </a:moveTo>
                    <a:lnTo>
                      <a:pt x="83" y="50"/>
                    </a:lnTo>
                    <a:lnTo>
                      <a:pt x="10" y="0"/>
                    </a:lnTo>
                    <a:lnTo>
                      <a:pt x="0" y="13"/>
                    </a:lnTo>
                    <a:lnTo>
                      <a:pt x="74" y="63"/>
                    </a:lnTo>
                    <a:lnTo>
                      <a:pt x="76" y="50"/>
                    </a:lnTo>
                    <a:lnTo>
                      <a:pt x="74" y="63"/>
                    </a:lnTo>
                    <a:lnTo>
                      <a:pt x="80" y="64"/>
                    </a:lnTo>
                    <a:lnTo>
                      <a:pt x="85" y="61"/>
                    </a:lnTo>
                    <a:lnTo>
                      <a:pt x="86" y="55"/>
                    </a:lnTo>
                    <a:lnTo>
                      <a:pt x="83" y="50"/>
                    </a:lnTo>
                    <a:lnTo>
                      <a:pt x="82" y="63"/>
                    </a:lnTo>
                    <a:close/>
                  </a:path>
                </a:pathLst>
              </a:custGeom>
              <a:solidFill>
                <a:srgbClr val="000000"/>
              </a:solidFill>
              <a:ln w="9525">
                <a:noFill/>
                <a:round/>
                <a:headEnd/>
                <a:tailEnd/>
              </a:ln>
            </p:spPr>
            <p:txBody>
              <a:bodyPr/>
              <a:lstStyle/>
              <a:p>
                <a:endParaRPr lang="en-US"/>
              </a:p>
            </p:txBody>
          </p:sp>
          <p:sp>
            <p:nvSpPr>
              <p:cNvPr id="28793" name="Freeform 83"/>
              <p:cNvSpPr>
                <a:spLocks/>
              </p:cNvSpPr>
              <p:nvPr/>
            </p:nvSpPr>
            <p:spPr bwMode="auto">
              <a:xfrm>
                <a:off x="1949" y="3558"/>
                <a:ext cx="150" cy="89"/>
              </a:xfrm>
              <a:custGeom>
                <a:avLst/>
                <a:gdLst>
                  <a:gd name="T0" fmla="*/ 0 w 301"/>
                  <a:gd name="T1" fmla="*/ 0 h 179"/>
                  <a:gd name="T2" fmla="*/ 0 w 301"/>
                  <a:gd name="T3" fmla="*/ 0 h 179"/>
                  <a:gd name="T4" fmla="*/ 0 w 301"/>
                  <a:gd name="T5" fmla="*/ 0 h 179"/>
                  <a:gd name="T6" fmla="*/ 0 w 301"/>
                  <a:gd name="T7" fmla="*/ 0 h 179"/>
                  <a:gd name="T8" fmla="*/ 0 w 301"/>
                  <a:gd name="T9" fmla="*/ 0 h 179"/>
                  <a:gd name="T10" fmla="*/ 0 w 301"/>
                  <a:gd name="T11" fmla="*/ 0 h 179"/>
                  <a:gd name="T12" fmla="*/ 0 w 301"/>
                  <a:gd name="T13" fmla="*/ 0 h 179"/>
                  <a:gd name="T14" fmla="*/ 0 w 301"/>
                  <a:gd name="T15" fmla="*/ 0 h 179"/>
                  <a:gd name="T16" fmla="*/ 0 w 301"/>
                  <a:gd name="T17" fmla="*/ 0 h 179"/>
                  <a:gd name="T18" fmla="*/ 0 w 301"/>
                  <a:gd name="T19" fmla="*/ 0 h 179"/>
                  <a:gd name="T20" fmla="*/ 0 w 301"/>
                  <a:gd name="T21" fmla="*/ 0 h 179"/>
                  <a:gd name="T22" fmla="*/ 0 w 301"/>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179"/>
                  <a:gd name="T38" fmla="*/ 301 w 301"/>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179">
                    <a:moveTo>
                      <a:pt x="2" y="179"/>
                    </a:moveTo>
                    <a:lnTo>
                      <a:pt x="10" y="179"/>
                    </a:lnTo>
                    <a:lnTo>
                      <a:pt x="301" y="13"/>
                    </a:lnTo>
                    <a:lnTo>
                      <a:pt x="295" y="0"/>
                    </a:lnTo>
                    <a:lnTo>
                      <a:pt x="3" y="166"/>
                    </a:lnTo>
                    <a:lnTo>
                      <a:pt x="11" y="166"/>
                    </a:lnTo>
                    <a:lnTo>
                      <a:pt x="3" y="166"/>
                    </a:lnTo>
                    <a:lnTo>
                      <a:pt x="0" y="169"/>
                    </a:lnTo>
                    <a:lnTo>
                      <a:pt x="0" y="174"/>
                    </a:lnTo>
                    <a:lnTo>
                      <a:pt x="5" y="179"/>
                    </a:lnTo>
                    <a:lnTo>
                      <a:pt x="10" y="179"/>
                    </a:lnTo>
                    <a:lnTo>
                      <a:pt x="2" y="179"/>
                    </a:lnTo>
                    <a:close/>
                  </a:path>
                </a:pathLst>
              </a:custGeom>
              <a:solidFill>
                <a:srgbClr val="000000"/>
              </a:solidFill>
              <a:ln w="9525">
                <a:noFill/>
                <a:round/>
                <a:headEnd/>
                <a:tailEnd/>
              </a:ln>
            </p:spPr>
            <p:txBody>
              <a:bodyPr/>
              <a:lstStyle/>
              <a:p>
                <a:endParaRPr lang="en-US"/>
              </a:p>
            </p:txBody>
          </p:sp>
          <p:sp>
            <p:nvSpPr>
              <p:cNvPr id="28794" name="Freeform 84"/>
              <p:cNvSpPr>
                <a:spLocks/>
              </p:cNvSpPr>
              <p:nvPr/>
            </p:nvSpPr>
            <p:spPr bwMode="auto">
              <a:xfrm>
                <a:off x="1914" y="3616"/>
                <a:ext cx="40" cy="31"/>
              </a:xfrm>
              <a:custGeom>
                <a:avLst/>
                <a:gdLst>
                  <a:gd name="T0" fmla="*/ 1 w 80"/>
                  <a:gd name="T1" fmla="*/ 1 h 61"/>
                  <a:gd name="T2" fmla="*/ 1 w 80"/>
                  <a:gd name="T3" fmla="*/ 1 h 61"/>
                  <a:gd name="T4" fmla="*/ 1 w 80"/>
                  <a:gd name="T5" fmla="*/ 1 h 61"/>
                  <a:gd name="T6" fmla="*/ 1 w 80"/>
                  <a:gd name="T7" fmla="*/ 1 h 61"/>
                  <a:gd name="T8" fmla="*/ 1 w 80"/>
                  <a:gd name="T9" fmla="*/ 1 h 61"/>
                  <a:gd name="T10" fmla="*/ 1 w 80"/>
                  <a:gd name="T11" fmla="*/ 1 h 61"/>
                  <a:gd name="T12" fmla="*/ 1 w 80"/>
                  <a:gd name="T13" fmla="*/ 1 h 61"/>
                  <a:gd name="T14" fmla="*/ 1 w 80"/>
                  <a:gd name="T15" fmla="*/ 0 h 61"/>
                  <a:gd name="T16" fmla="*/ 1 w 80"/>
                  <a:gd name="T17" fmla="*/ 1 h 61"/>
                  <a:gd name="T18" fmla="*/ 0 w 80"/>
                  <a:gd name="T19" fmla="*/ 1 h 61"/>
                  <a:gd name="T20" fmla="*/ 1 w 80"/>
                  <a:gd name="T21" fmla="*/ 1 h 61"/>
                  <a:gd name="T22" fmla="*/ 1 w 80"/>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0"/>
                  <a:gd name="T37" fmla="*/ 0 h 61"/>
                  <a:gd name="T38" fmla="*/ 80 w 80"/>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0" h="61">
                    <a:moveTo>
                      <a:pt x="3" y="1"/>
                    </a:moveTo>
                    <a:lnTo>
                      <a:pt x="3" y="14"/>
                    </a:lnTo>
                    <a:lnTo>
                      <a:pt x="71" y="61"/>
                    </a:lnTo>
                    <a:lnTo>
                      <a:pt x="80" y="48"/>
                    </a:lnTo>
                    <a:lnTo>
                      <a:pt x="13" y="1"/>
                    </a:lnTo>
                    <a:lnTo>
                      <a:pt x="13" y="14"/>
                    </a:lnTo>
                    <a:lnTo>
                      <a:pt x="13" y="1"/>
                    </a:lnTo>
                    <a:lnTo>
                      <a:pt x="7" y="0"/>
                    </a:lnTo>
                    <a:lnTo>
                      <a:pt x="2" y="3"/>
                    </a:lnTo>
                    <a:lnTo>
                      <a:pt x="0" y="7"/>
                    </a:lnTo>
                    <a:lnTo>
                      <a:pt x="3" y="14"/>
                    </a:lnTo>
                    <a:lnTo>
                      <a:pt x="3" y="1"/>
                    </a:lnTo>
                    <a:close/>
                  </a:path>
                </a:pathLst>
              </a:custGeom>
              <a:solidFill>
                <a:srgbClr val="000000"/>
              </a:solidFill>
              <a:ln w="9525">
                <a:noFill/>
                <a:round/>
                <a:headEnd/>
                <a:tailEnd/>
              </a:ln>
            </p:spPr>
            <p:txBody>
              <a:bodyPr/>
              <a:lstStyle/>
              <a:p>
                <a:endParaRPr lang="en-US"/>
              </a:p>
            </p:txBody>
          </p:sp>
          <p:sp>
            <p:nvSpPr>
              <p:cNvPr id="28795" name="Freeform 85"/>
              <p:cNvSpPr>
                <a:spLocks/>
              </p:cNvSpPr>
              <p:nvPr/>
            </p:nvSpPr>
            <p:spPr bwMode="auto">
              <a:xfrm>
                <a:off x="1916" y="3532"/>
                <a:ext cx="148" cy="91"/>
              </a:xfrm>
              <a:custGeom>
                <a:avLst/>
                <a:gdLst>
                  <a:gd name="T0" fmla="*/ 0 w 298"/>
                  <a:gd name="T1" fmla="*/ 0 h 183"/>
                  <a:gd name="T2" fmla="*/ 0 w 298"/>
                  <a:gd name="T3" fmla="*/ 0 h 183"/>
                  <a:gd name="T4" fmla="*/ 0 w 298"/>
                  <a:gd name="T5" fmla="*/ 0 h 183"/>
                  <a:gd name="T6" fmla="*/ 0 w 298"/>
                  <a:gd name="T7" fmla="*/ 0 h 183"/>
                  <a:gd name="T8" fmla="*/ 0 w 298"/>
                  <a:gd name="T9" fmla="*/ 0 h 183"/>
                  <a:gd name="T10" fmla="*/ 0 w 298"/>
                  <a:gd name="T11" fmla="*/ 0 h 183"/>
                  <a:gd name="T12" fmla="*/ 0 w 298"/>
                  <a:gd name="T13" fmla="*/ 0 h 183"/>
                  <a:gd name="T14" fmla="*/ 0 w 298"/>
                  <a:gd name="T15" fmla="*/ 0 h 183"/>
                  <a:gd name="T16" fmla="*/ 0 w 298"/>
                  <a:gd name="T17" fmla="*/ 0 h 183"/>
                  <a:gd name="T18" fmla="*/ 0 w 298"/>
                  <a:gd name="T19" fmla="*/ 0 h 183"/>
                  <a:gd name="T20" fmla="*/ 0 w 298"/>
                  <a:gd name="T21" fmla="*/ 0 h 183"/>
                  <a:gd name="T22" fmla="*/ 0 w 298"/>
                  <a:gd name="T23" fmla="*/ 0 h 1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8"/>
                  <a:gd name="T37" fmla="*/ 0 h 183"/>
                  <a:gd name="T38" fmla="*/ 298 w 298"/>
                  <a:gd name="T39" fmla="*/ 183 h 1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8" h="183">
                    <a:moveTo>
                      <a:pt x="295" y="1"/>
                    </a:moveTo>
                    <a:lnTo>
                      <a:pt x="285" y="1"/>
                    </a:lnTo>
                    <a:lnTo>
                      <a:pt x="0" y="170"/>
                    </a:lnTo>
                    <a:lnTo>
                      <a:pt x="10" y="183"/>
                    </a:lnTo>
                    <a:lnTo>
                      <a:pt x="295" y="14"/>
                    </a:lnTo>
                    <a:lnTo>
                      <a:pt x="285" y="14"/>
                    </a:lnTo>
                    <a:lnTo>
                      <a:pt x="295" y="14"/>
                    </a:lnTo>
                    <a:lnTo>
                      <a:pt x="298" y="7"/>
                    </a:lnTo>
                    <a:lnTo>
                      <a:pt x="296" y="3"/>
                    </a:lnTo>
                    <a:lnTo>
                      <a:pt x="292" y="0"/>
                    </a:lnTo>
                    <a:lnTo>
                      <a:pt x="285" y="1"/>
                    </a:lnTo>
                    <a:lnTo>
                      <a:pt x="295" y="1"/>
                    </a:lnTo>
                    <a:close/>
                  </a:path>
                </a:pathLst>
              </a:custGeom>
              <a:solidFill>
                <a:srgbClr val="000000"/>
              </a:solidFill>
              <a:ln w="9525">
                <a:noFill/>
                <a:round/>
                <a:headEnd/>
                <a:tailEnd/>
              </a:ln>
            </p:spPr>
            <p:txBody>
              <a:bodyPr/>
              <a:lstStyle/>
              <a:p>
                <a:endParaRPr lang="en-US"/>
              </a:p>
            </p:txBody>
          </p:sp>
          <p:sp>
            <p:nvSpPr>
              <p:cNvPr id="28796" name="Freeform 86"/>
              <p:cNvSpPr>
                <a:spLocks/>
              </p:cNvSpPr>
              <p:nvPr/>
            </p:nvSpPr>
            <p:spPr bwMode="auto">
              <a:xfrm>
                <a:off x="1919" y="3620"/>
                <a:ext cx="33" cy="34"/>
              </a:xfrm>
              <a:custGeom>
                <a:avLst/>
                <a:gdLst>
                  <a:gd name="T0" fmla="*/ 0 w 65"/>
                  <a:gd name="T1" fmla="*/ 1 h 68"/>
                  <a:gd name="T2" fmla="*/ 0 w 65"/>
                  <a:gd name="T3" fmla="*/ 0 h 68"/>
                  <a:gd name="T4" fmla="*/ 1 w 65"/>
                  <a:gd name="T5" fmla="*/ 1 h 68"/>
                  <a:gd name="T6" fmla="*/ 1 w 65"/>
                  <a:gd name="T7" fmla="*/ 1 h 68"/>
                  <a:gd name="T8" fmla="*/ 0 w 65"/>
                  <a:gd name="T9" fmla="*/ 1 h 68"/>
                  <a:gd name="T10" fmla="*/ 0 60000 65536"/>
                  <a:gd name="T11" fmla="*/ 0 60000 65536"/>
                  <a:gd name="T12" fmla="*/ 0 60000 65536"/>
                  <a:gd name="T13" fmla="*/ 0 60000 65536"/>
                  <a:gd name="T14" fmla="*/ 0 60000 65536"/>
                  <a:gd name="T15" fmla="*/ 0 w 65"/>
                  <a:gd name="T16" fmla="*/ 0 h 68"/>
                  <a:gd name="T17" fmla="*/ 65 w 65"/>
                  <a:gd name="T18" fmla="*/ 68 h 68"/>
                </a:gdLst>
                <a:ahLst/>
                <a:cxnLst>
                  <a:cxn ang="T10">
                    <a:pos x="T0" y="T1"/>
                  </a:cxn>
                  <a:cxn ang="T11">
                    <a:pos x="T2" y="T3"/>
                  </a:cxn>
                  <a:cxn ang="T12">
                    <a:pos x="T4" y="T5"/>
                  </a:cxn>
                  <a:cxn ang="T13">
                    <a:pos x="T6" y="T7"/>
                  </a:cxn>
                  <a:cxn ang="T14">
                    <a:pos x="T8" y="T9"/>
                  </a:cxn>
                </a:cxnLst>
                <a:rect l="T15" t="T16" r="T17" b="T18"/>
                <a:pathLst>
                  <a:path w="65" h="68">
                    <a:moveTo>
                      <a:pt x="0" y="29"/>
                    </a:moveTo>
                    <a:lnTo>
                      <a:pt x="0" y="0"/>
                    </a:lnTo>
                    <a:lnTo>
                      <a:pt x="65" y="47"/>
                    </a:lnTo>
                    <a:lnTo>
                      <a:pt x="65" y="68"/>
                    </a:lnTo>
                    <a:lnTo>
                      <a:pt x="0" y="29"/>
                    </a:lnTo>
                    <a:close/>
                  </a:path>
                </a:pathLst>
              </a:custGeom>
              <a:solidFill>
                <a:srgbClr val="4CB2FF"/>
              </a:solidFill>
              <a:ln w="9525">
                <a:noFill/>
                <a:round/>
                <a:headEnd/>
                <a:tailEnd/>
              </a:ln>
            </p:spPr>
            <p:txBody>
              <a:bodyPr/>
              <a:lstStyle/>
              <a:p>
                <a:endParaRPr lang="en-US"/>
              </a:p>
            </p:txBody>
          </p:sp>
          <p:sp>
            <p:nvSpPr>
              <p:cNvPr id="28797" name="Freeform 87"/>
              <p:cNvSpPr>
                <a:spLocks/>
              </p:cNvSpPr>
              <p:nvPr/>
            </p:nvSpPr>
            <p:spPr bwMode="auto">
              <a:xfrm>
                <a:off x="1915" y="3616"/>
                <a:ext cx="8" cy="18"/>
              </a:xfrm>
              <a:custGeom>
                <a:avLst/>
                <a:gdLst>
                  <a:gd name="T0" fmla="*/ 1 w 15"/>
                  <a:gd name="T1" fmla="*/ 1 h 36"/>
                  <a:gd name="T2" fmla="*/ 0 w 15"/>
                  <a:gd name="T3" fmla="*/ 1 h 36"/>
                  <a:gd name="T4" fmla="*/ 0 w 15"/>
                  <a:gd name="T5" fmla="*/ 1 h 36"/>
                  <a:gd name="T6" fmla="*/ 1 w 15"/>
                  <a:gd name="T7" fmla="*/ 1 h 36"/>
                  <a:gd name="T8" fmla="*/ 1 w 15"/>
                  <a:gd name="T9" fmla="*/ 1 h 36"/>
                  <a:gd name="T10" fmla="*/ 1 w 15"/>
                  <a:gd name="T11" fmla="*/ 1 h 36"/>
                  <a:gd name="T12" fmla="*/ 1 w 15"/>
                  <a:gd name="T13" fmla="*/ 1 h 36"/>
                  <a:gd name="T14" fmla="*/ 1 w 15"/>
                  <a:gd name="T15" fmla="*/ 1 h 36"/>
                  <a:gd name="T16" fmla="*/ 1 w 15"/>
                  <a:gd name="T17" fmla="*/ 0 h 36"/>
                  <a:gd name="T18" fmla="*/ 1 w 15"/>
                  <a:gd name="T19" fmla="*/ 1 h 36"/>
                  <a:gd name="T20" fmla="*/ 0 w 15"/>
                  <a:gd name="T21" fmla="*/ 1 h 36"/>
                  <a:gd name="T22" fmla="*/ 1 w 15"/>
                  <a:gd name="T23" fmla="*/ 1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36"/>
                  <a:gd name="T38" fmla="*/ 15 w 15"/>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36">
                    <a:moveTo>
                      <a:pt x="12" y="1"/>
                    </a:moveTo>
                    <a:lnTo>
                      <a:pt x="0" y="7"/>
                    </a:lnTo>
                    <a:lnTo>
                      <a:pt x="0" y="36"/>
                    </a:lnTo>
                    <a:lnTo>
                      <a:pt x="15" y="36"/>
                    </a:lnTo>
                    <a:lnTo>
                      <a:pt x="15" y="7"/>
                    </a:lnTo>
                    <a:lnTo>
                      <a:pt x="3" y="14"/>
                    </a:lnTo>
                    <a:lnTo>
                      <a:pt x="15" y="7"/>
                    </a:lnTo>
                    <a:lnTo>
                      <a:pt x="12" y="3"/>
                    </a:lnTo>
                    <a:lnTo>
                      <a:pt x="8" y="0"/>
                    </a:lnTo>
                    <a:lnTo>
                      <a:pt x="3" y="3"/>
                    </a:lnTo>
                    <a:lnTo>
                      <a:pt x="0" y="7"/>
                    </a:lnTo>
                    <a:lnTo>
                      <a:pt x="12" y="1"/>
                    </a:lnTo>
                    <a:close/>
                  </a:path>
                </a:pathLst>
              </a:custGeom>
              <a:solidFill>
                <a:srgbClr val="000000"/>
              </a:solidFill>
              <a:ln w="9525">
                <a:noFill/>
                <a:round/>
                <a:headEnd/>
                <a:tailEnd/>
              </a:ln>
            </p:spPr>
            <p:txBody>
              <a:bodyPr/>
              <a:lstStyle/>
              <a:p>
                <a:endParaRPr lang="en-US"/>
              </a:p>
            </p:txBody>
          </p:sp>
          <p:sp>
            <p:nvSpPr>
              <p:cNvPr id="28798" name="Freeform 88"/>
              <p:cNvSpPr>
                <a:spLocks/>
              </p:cNvSpPr>
              <p:nvPr/>
            </p:nvSpPr>
            <p:spPr bwMode="auto">
              <a:xfrm>
                <a:off x="1916" y="3617"/>
                <a:ext cx="40" cy="31"/>
              </a:xfrm>
              <a:custGeom>
                <a:avLst/>
                <a:gdLst>
                  <a:gd name="T0" fmla="*/ 1 w 78"/>
                  <a:gd name="T1" fmla="*/ 1 h 61"/>
                  <a:gd name="T2" fmla="*/ 1 w 78"/>
                  <a:gd name="T3" fmla="*/ 1 h 61"/>
                  <a:gd name="T4" fmla="*/ 1 w 78"/>
                  <a:gd name="T5" fmla="*/ 0 h 61"/>
                  <a:gd name="T6" fmla="*/ 0 w 78"/>
                  <a:gd name="T7" fmla="*/ 1 h 61"/>
                  <a:gd name="T8" fmla="*/ 1 w 78"/>
                  <a:gd name="T9" fmla="*/ 1 h 61"/>
                  <a:gd name="T10" fmla="*/ 1 w 78"/>
                  <a:gd name="T11" fmla="*/ 1 h 61"/>
                  <a:gd name="T12" fmla="*/ 1 w 78"/>
                  <a:gd name="T13" fmla="*/ 1 h 61"/>
                  <a:gd name="T14" fmla="*/ 1 w 78"/>
                  <a:gd name="T15" fmla="*/ 1 h 61"/>
                  <a:gd name="T16" fmla="*/ 1 w 78"/>
                  <a:gd name="T17" fmla="*/ 1 h 61"/>
                  <a:gd name="T18" fmla="*/ 1 w 78"/>
                  <a:gd name="T19" fmla="*/ 1 h 61"/>
                  <a:gd name="T20" fmla="*/ 1 w 78"/>
                  <a:gd name="T21" fmla="*/ 1 h 61"/>
                  <a:gd name="T22" fmla="*/ 1 w 78"/>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61"/>
                  <a:gd name="T38" fmla="*/ 78 w 78"/>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61">
                    <a:moveTo>
                      <a:pt x="78" y="53"/>
                    </a:moveTo>
                    <a:lnTo>
                      <a:pt x="75" y="47"/>
                    </a:lnTo>
                    <a:lnTo>
                      <a:pt x="9" y="0"/>
                    </a:lnTo>
                    <a:lnTo>
                      <a:pt x="0" y="13"/>
                    </a:lnTo>
                    <a:lnTo>
                      <a:pt x="66" y="60"/>
                    </a:lnTo>
                    <a:lnTo>
                      <a:pt x="63" y="53"/>
                    </a:lnTo>
                    <a:lnTo>
                      <a:pt x="66" y="60"/>
                    </a:lnTo>
                    <a:lnTo>
                      <a:pt x="72" y="61"/>
                    </a:lnTo>
                    <a:lnTo>
                      <a:pt x="77" y="58"/>
                    </a:lnTo>
                    <a:lnTo>
                      <a:pt x="78" y="52"/>
                    </a:lnTo>
                    <a:lnTo>
                      <a:pt x="75" y="47"/>
                    </a:lnTo>
                    <a:lnTo>
                      <a:pt x="78" y="53"/>
                    </a:lnTo>
                    <a:close/>
                  </a:path>
                </a:pathLst>
              </a:custGeom>
              <a:solidFill>
                <a:srgbClr val="000000"/>
              </a:solidFill>
              <a:ln w="9525">
                <a:noFill/>
                <a:round/>
                <a:headEnd/>
                <a:tailEnd/>
              </a:ln>
            </p:spPr>
            <p:txBody>
              <a:bodyPr/>
              <a:lstStyle/>
              <a:p>
                <a:endParaRPr lang="en-US"/>
              </a:p>
            </p:txBody>
          </p:sp>
          <p:sp>
            <p:nvSpPr>
              <p:cNvPr id="28799" name="Freeform 89"/>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3" y="27"/>
                    </a:moveTo>
                    <a:lnTo>
                      <a:pt x="15" y="21"/>
                    </a:lnTo>
                    <a:lnTo>
                      <a:pt x="15" y="0"/>
                    </a:lnTo>
                    <a:lnTo>
                      <a:pt x="0" y="0"/>
                    </a:lnTo>
                    <a:lnTo>
                      <a:pt x="0" y="21"/>
                    </a:lnTo>
                    <a:lnTo>
                      <a:pt x="12" y="14"/>
                    </a:lnTo>
                    <a:lnTo>
                      <a:pt x="0" y="21"/>
                    </a:lnTo>
                    <a:lnTo>
                      <a:pt x="3" y="25"/>
                    </a:lnTo>
                    <a:lnTo>
                      <a:pt x="7" y="27"/>
                    </a:lnTo>
                    <a:lnTo>
                      <a:pt x="12" y="25"/>
                    </a:lnTo>
                    <a:lnTo>
                      <a:pt x="15" y="21"/>
                    </a:lnTo>
                    <a:lnTo>
                      <a:pt x="3" y="27"/>
                    </a:lnTo>
                    <a:close/>
                  </a:path>
                </a:pathLst>
              </a:custGeom>
              <a:solidFill>
                <a:srgbClr val="000000"/>
              </a:solidFill>
              <a:ln w="9525">
                <a:noFill/>
                <a:round/>
                <a:headEnd/>
                <a:tailEnd/>
              </a:ln>
            </p:spPr>
            <p:txBody>
              <a:bodyPr/>
              <a:lstStyle/>
              <a:p>
                <a:endParaRPr lang="en-US"/>
              </a:p>
            </p:txBody>
          </p:sp>
          <p:sp>
            <p:nvSpPr>
              <p:cNvPr id="28800" name="Freeform 90"/>
              <p:cNvSpPr>
                <a:spLocks/>
              </p:cNvSpPr>
              <p:nvPr/>
            </p:nvSpPr>
            <p:spPr bwMode="auto">
              <a:xfrm>
                <a:off x="1915" y="3630"/>
                <a:ext cx="39" cy="27"/>
              </a:xfrm>
              <a:custGeom>
                <a:avLst/>
                <a:gdLst>
                  <a:gd name="T0" fmla="*/ 0 w 78"/>
                  <a:gd name="T1" fmla="*/ 1 h 53"/>
                  <a:gd name="T2" fmla="*/ 1 w 78"/>
                  <a:gd name="T3" fmla="*/ 1 h 53"/>
                  <a:gd name="T4" fmla="*/ 1 w 78"/>
                  <a:gd name="T5" fmla="*/ 1 h 53"/>
                  <a:gd name="T6" fmla="*/ 1 w 78"/>
                  <a:gd name="T7" fmla="*/ 1 h 53"/>
                  <a:gd name="T8" fmla="*/ 1 w 78"/>
                  <a:gd name="T9" fmla="*/ 1 h 53"/>
                  <a:gd name="T10" fmla="*/ 1 w 78"/>
                  <a:gd name="T11" fmla="*/ 1 h 53"/>
                  <a:gd name="T12" fmla="*/ 1 w 78"/>
                  <a:gd name="T13" fmla="*/ 1 h 53"/>
                  <a:gd name="T14" fmla="*/ 1 w 78"/>
                  <a:gd name="T15" fmla="*/ 0 h 53"/>
                  <a:gd name="T16" fmla="*/ 1 w 78"/>
                  <a:gd name="T17" fmla="*/ 1 h 53"/>
                  <a:gd name="T18" fmla="*/ 0 w 78"/>
                  <a:gd name="T19" fmla="*/ 1 h 53"/>
                  <a:gd name="T20" fmla="*/ 1 w 78"/>
                  <a:gd name="T21" fmla="*/ 1 h 53"/>
                  <a:gd name="T22" fmla="*/ 0 w 78"/>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53"/>
                  <a:gd name="T38" fmla="*/ 78 w 78"/>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53">
                    <a:moveTo>
                      <a:pt x="0" y="8"/>
                    </a:moveTo>
                    <a:lnTo>
                      <a:pt x="3" y="14"/>
                    </a:lnTo>
                    <a:lnTo>
                      <a:pt x="69" y="53"/>
                    </a:lnTo>
                    <a:lnTo>
                      <a:pt x="78" y="40"/>
                    </a:lnTo>
                    <a:lnTo>
                      <a:pt x="12" y="1"/>
                    </a:lnTo>
                    <a:lnTo>
                      <a:pt x="15" y="8"/>
                    </a:lnTo>
                    <a:lnTo>
                      <a:pt x="12" y="1"/>
                    </a:lnTo>
                    <a:lnTo>
                      <a:pt x="6" y="0"/>
                    </a:lnTo>
                    <a:lnTo>
                      <a:pt x="1" y="3"/>
                    </a:lnTo>
                    <a:lnTo>
                      <a:pt x="0" y="8"/>
                    </a:lnTo>
                    <a:lnTo>
                      <a:pt x="3" y="14"/>
                    </a:lnTo>
                    <a:lnTo>
                      <a:pt x="0" y="8"/>
                    </a:lnTo>
                    <a:close/>
                  </a:path>
                </a:pathLst>
              </a:custGeom>
              <a:solidFill>
                <a:srgbClr val="000000"/>
              </a:solidFill>
              <a:ln w="9525">
                <a:noFill/>
                <a:round/>
                <a:headEnd/>
                <a:tailEnd/>
              </a:ln>
            </p:spPr>
            <p:txBody>
              <a:bodyPr/>
              <a:lstStyle/>
              <a:p>
                <a:endParaRPr lang="en-US"/>
              </a:p>
            </p:txBody>
          </p:sp>
          <p:sp>
            <p:nvSpPr>
              <p:cNvPr id="28801" name="Freeform 91"/>
              <p:cNvSpPr>
                <a:spLocks/>
              </p:cNvSpPr>
              <p:nvPr/>
            </p:nvSpPr>
            <p:spPr bwMode="auto">
              <a:xfrm>
                <a:off x="2153" y="3445"/>
                <a:ext cx="76" cy="75"/>
              </a:xfrm>
              <a:custGeom>
                <a:avLst/>
                <a:gdLst>
                  <a:gd name="T0" fmla="*/ 0 w 152"/>
                  <a:gd name="T1" fmla="*/ 0 h 150"/>
                  <a:gd name="T2" fmla="*/ 0 w 152"/>
                  <a:gd name="T3" fmla="*/ 1 h 150"/>
                  <a:gd name="T4" fmla="*/ 1 w 152"/>
                  <a:gd name="T5" fmla="*/ 1 h 150"/>
                  <a:gd name="T6" fmla="*/ 1 w 152"/>
                  <a:gd name="T7" fmla="*/ 1 h 150"/>
                  <a:gd name="T8" fmla="*/ 1 w 152"/>
                  <a:gd name="T9" fmla="*/ 1 h 150"/>
                  <a:gd name="T10" fmla="*/ 1 w 152"/>
                  <a:gd name="T11" fmla="*/ 1 h 150"/>
                  <a:gd name="T12" fmla="*/ 1 w 152"/>
                  <a:gd name="T13" fmla="*/ 1 h 150"/>
                  <a:gd name="T14" fmla="*/ 1 w 152"/>
                  <a:gd name="T15" fmla="*/ 1 h 150"/>
                  <a:gd name="T16" fmla="*/ 1 w 152"/>
                  <a:gd name="T17" fmla="*/ 1 h 150"/>
                  <a:gd name="T18" fmla="*/ 1 w 152"/>
                  <a:gd name="T19" fmla="*/ 1 h 150"/>
                  <a:gd name="T20" fmla="*/ 1 w 152"/>
                  <a:gd name="T21" fmla="*/ 1 h 150"/>
                  <a:gd name="T22" fmla="*/ 1 w 152"/>
                  <a:gd name="T23" fmla="*/ 1 h 150"/>
                  <a:gd name="T24" fmla="*/ 1 w 152"/>
                  <a:gd name="T25" fmla="*/ 1 h 150"/>
                  <a:gd name="T26" fmla="*/ 1 w 152"/>
                  <a:gd name="T27" fmla="*/ 1 h 150"/>
                  <a:gd name="T28" fmla="*/ 1 w 152"/>
                  <a:gd name="T29" fmla="*/ 1 h 150"/>
                  <a:gd name="T30" fmla="*/ 1 w 152"/>
                  <a:gd name="T31" fmla="*/ 1 h 150"/>
                  <a:gd name="T32" fmla="*/ 1 w 152"/>
                  <a:gd name="T33" fmla="*/ 1 h 150"/>
                  <a:gd name="T34" fmla="*/ 1 w 152"/>
                  <a:gd name="T35" fmla="*/ 1 h 150"/>
                  <a:gd name="T36" fmla="*/ 1 w 152"/>
                  <a:gd name="T37" fmla="*/ 1 h 150"/>
                  <a:gd name="T38" fmla="*/ 1 w 152"/>
                  <a:gd name="T39" fmla="*/ 1 h 150"/>
                  <a:gd name="T40" fmla="*/ 1 w 152"/>
                  <a:gd name="T41" fmla="*/ 1 h 150"/>
                  <a:gd name="T42" fmla="*/ 1 w 152"/>
                  <a:gd name="T43" fmla="*/ 1 h 150"/>
                  <a:gd name="T44" fmla="*/ 1 w 152"/>
                  <a:gd name="T45" fmla="*/ 1 h 150"/>
                  <a:gd name="T46" fmla="*/ 1 w 152"/>
                  <a:gd name="T47" fmla="*/ 1 h 150"/>
                  <a:gd name="T48" fmla="*/ 1 w 152"/>
                  <a:gd name="T49" fmla="*/ 1 h 150"/>
                  <a:gd name="T50" fmla="*/ 1 w 152"/>
                  <a:gd name="T51" fmla="*/ 1 h 150"/>
                  <a:gd name="T52" fmla="*/ 1 w 152"/>
                  <a:gd name="T53" fmla="*/ 1 h 150"/>
                  <a:gd name="T54" fmla="*/ 1 w 152"/>
                  <a:gd name="T55" fmla="*/ 1 h 150"/>
                  <a:gd name="T56" fmla="*/ 1 w 152"/>
                  <a:gd name="T57" fmla="*/ 1 h 150"/>
                  <a:gd name="T58" fmla="*/ 1 w 152"/>
                  <a:gd name="T59" fmla="*/ 1 h 150"/>
                  <a:gd name="T60" fmla="*/ 1 w 152"/>
                  <a:gd name="T61" fmla="*/ 1 h 150"/>
                  <a:gd name="T62" fmla="*/ 1 w 152"/>
                  <a:gd name="T63" fmla="*/ 1 h 150"/>
                  <a:gd name="T64" fmla="*/ 1 w 152"/>
                  <a:gd name="T65" fmla="*/ 1 h 150"/>
                  <a:gd name="T66" fmla="*/ 1 w 152"/>
                  <a:gd name="T67" fmla="*/ 1 h 150"/>
                  <a:gd name="T68" fmla="*/ 0 w 152"/>
                  <a:gd name="T69" fmla="*/ 0 h 15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2"/>
                  <a:gd name="T106" fmla="*/ 0 h 150"/>
                  <a:gd name="T107" fmla="*/ 152 w 152"/>
                  <a:gd name="T108" fmla="*/ 150 h 15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2" h="150">
                    <a:moveTo>
                      <a:pt x="0" y="0"/>
                    </a:moveTo>
                    <a:lnTo>
                      <a:pt x="0" y="3"/>
                    </a:lnTo>
                    <a:lnTo>
                      <a:pt x="1" y="12"/>
                    </a:lnTo>
                    <a:lnTo>
                      <a:pt x="1" y="27"/>
                    </a:lnTo>
                    <a:lnTo>
                      <a:pt x="3" y="42"/>
                    </a:lnTo>
                    <a:lnTo>
                      <a:pt x="5" y="59"/>
                    </a:lnTo>
                    <a:lnTo>
                      <a:pt x="6" y="74"/>
                    </a:lnTo>
                    <a:lnTo>
                      <a:pt x="8" y="86"/>
                    </a:lnTo>
                    <a:lnTo>
                      <a:pt x="9" y="92"/>
                    </a:lnTo>
                    <a:lnTo>
                      <a:pt x="12" y="100"/>
                    </a:lnTo>
                    <a:lnTo>
                      <a:pt x="17" y="108"/>
                    </a:lnTo>
                    <a:lnTo>
                      <a:pt x="19" y="114"/>
                    </a:lnTo>
                    <a:lnTo>
                      <a:pt x="20" y="117"/>
                    </a:lnTo>
                    <a:lnTo>
                      <a:pt x="20" y="119"/>
                    </a:lnTo>
                    <a:lnTo>
                      <a:pt x="22" y="120"/>
                    </a:lnTo>
                    <a:lnTo>
                      <a:pt x="25" y="125"/>
                    </a:lnTo>
                    <a:lnTo>
                      <a:pt x="26" y="130"/>
                    </a:lnTo>
                    <a:lnTo>
                      <a:pt x="31" y="136"/>
                    </a:lnTo>
                    <a:lnTo>
                      <a:pt x="41" y="142"/>
                    </a:lnTo>
                    <a:lnTo>
                      <a:pt x="50" y="147"/>
                    </a:lnTo>
                    <a:lnTo>
                      <a:pt x="61" y="150"/>
                    </a:lnTo>
                    <a:lnTo>
                      <a:pt x="66" y="150"/>
                    </a:lnTo>
                    <a:lnTo>
                      <a:pt x="72" y="150"/>
                    </a:lnTo>
                    <a:lnTo>
                      <a:pt x="80" y="149"/>
                    </a:lnTo>
                    <a:lnTo>
                      <a:pt x="89" y="147"/>
                    </a:lnTo>
                    <a:lnTo>
                      <a:pt x="98" y="145"/>
                    </a:lnTo>
                    <a:lnTo>
                      <a:pt x="108" y="142"/>
                    </a:lnTo>
                    <a:lnTo>
                      <a:pt x="117" y="139"/>
                    </a:lnTo>
                    <a:lnTo>
                      <a:pt x="127" y="136"/>
                    </a:lnTo>
                    <a:lnTo>
                      <a:pt x="141" y="128"/>
                    </a:lnTo>
                    <a:lnTo>
                      <a:pt x="149" y="122"/>
                    </a:lnTo>
                    <a:lnTo>
                      <a:pt x="152" y="120"/>
                    </a:lnTo>
                    <a:lnTo>
                      <a:pt x="152" y="119"/>
                    </a:lnTo>
                    <a:lnTo>
                      <a:pt x="141" y="92"/>
                    </a:lnTo>
                    <a:lnTo>
                      <a:pt x="0" y="0"/>
                    </a:lnTo>
                    <a:close/>
                  </a:path>
                </a:pathLst>
              </a:custGeom>
              <a:solidFill>
                <a:srgbClr val="FFB27F"/>
              </a:solidFill>
              <a:ln w="9525">
                <a:noFill/>
                <a:round/>
                <a:headEnd/>
                <a:tailEnd/>
              </a:ln>
            </p:spPr>
            <p:txBody>
              <a:bodyPr/>
              <a:lstStyle/>
              <a:p>
                <a:endParaRPr lang="en-US"/>
              </a:p>
            </p:txBody>
          </p:sp>
          <p:sp>
            <p:nvSpPr>
              <p:cNvPr id="28802" name="Freeform 92"/>
              <p:cNvSpPr>
                <a:spLocks/>
              </p:cNvSpPr>
              <p:nvPr/>
            </p:nvSpPr>
            <p:spPr bwMode="auto">
              <a:xfrm>
                <a:off x="2147" y="3445"/>
                <a:ext cx="15" cy="48"/>
              </a:xfrm>
              <a:custGeom>
                <a:avLst/>
                <a:gdLst>
                  <a:gd name="T0" fmla="*/ 1 w 30"/>
                  <a:gd name="T1" fmla="*/ 0 h 97"/>
                  <a:gd name="T2" fmla="*/ 1 w 30"/>
                  <a:gd name="T3" fmla="*/ 0 h 97"/>
                  <a:gd name="T4" fmla="*/ 1 w 30"/>
                  <a:gd name="T5" fmla="*/ 0 h 97"/>
                  <a:gd name="T6" fmla="*/ 1 w 30"/>
                  <a:gd name="T7" fmla="*/ 0 h 97"/>
                  <a:gd name="T8" fmla="*/ 1 w 30"/>
                  <a:gd name="T9" fmla="*/ 0 h 97"/>
                  <a:gd name="T10" fmla="*/ 1 w 30"/>
                  <a:gd name="T11" fmla="*/ 0 h 97"/>
                  <a:gd name="T12" fmla="*/ 1 w 30"/>
                  <a:gd name="T13" fmla="*/ 0 h 97"/>
                  <a:gd name="T14" fmla="*/ 1 w 30"/>
                  <a:gd name="T15" fmla="*/ 0 h 97"/>
                  <a:gd name="T16" fmla="*/ 1 w 30"/>
                  <a:gd name="T17" fmla="*/ 0 h 97"/>
                  <a:gd name="T18" fmla="*/ 1 w 30"/>
                  <a:gd name="T19" fmla="*/ 0 h 97"/>
                  <a:gd name="T20" fmla="*/ 0 w 30"/>
                  <a:gd name="T21" fmla="*/ 0 h 97"/>
                  <a:gd name="T22" fmla="*/ 0 w 30"/>
                  <a:gd name="T23" fmla="*/ 0 h 97"/>
                  <a:gd name="T24" fmla="*/ 1 w 30"/>
                  <a:gd name="T25" fmla="*/ 0 h 97"/>
                  <a:gd name="T26" fmla="*/ 1 w 30"/>
                  <a:gd name="T27" fmla="*/ 0 h 97"/>
                  <a:gd name="T28" fmla="*/ 1 w 30"/>
                  <a:gd name="T29" fmla="*/ 0 h 97"/>
                  <a:gd name="T30" fmla="*/ 1 w 30"/>
                  <a:gd name="T31" fmla="*/ 0 h 97"/>
                  <a:gd name="T32" fmla="*/ 1 w 30"/>
                  <a:gd name="T33" fmla="*/ 0 h 97"/>
                  <a:gd name="T34" fmla="*/ 1 w 30"/>
                  <a:gd name="T35" fmla="*/ 0 h 97"/>
                  <a:gd name="T36" fmla="*/ 1 w 30"/>
                  <a:gd name="T37" fmla="*/ 0 h 97"/>
                  <a:gd name="T38" fmla="*/ 1 w 30"/>
                  <a:gd name="T39" fmla="*/ 0 h 97"/>
                  <a:gd name="T40" fmla="*/ 1 w 30"/>
                  <a:gd name="T41" fmla="*/ 0 h 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97"/>
                  <a:gd name="T65" fmla="*/ 30 w 30"/>
                  <a:gd name="T66" fmla="*/ 97 h 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97">
                    <a:moveTo>
                      <a:pt x="30" y="88"/>
                    </a:moveTo>
                    <a:lnTo>
                      <a:pt x="30" y="88"/>
                    </a:lnTo>
                    <a:lnTo>
                      <a:pt x="30" y="84"/>
                    </a:lnTo>
                    <a:lnTo>
                      <a:pt x="28" y="72"/>
                    </a:lnTo>
                    <a:lnTo>
                      <a:pt x="26" y="58"/>
                    </a:lnTo>
                    <a:lnTo>
                      <a:pt x="25" y="41"/>
                    </a:lnTo>
                    <a:lnTo>
                      <a:pt x="23" y="27"/>
                    </a:lnTo>
                    <a:lnTo>
                      <a:pt x="23" y="12"/>
                    </a:lnTo>
                    <a:lnTo>
                      <a:pt x="22" y="2"/>
                    </a:lnTo>
                    <a:lnTo>
                      <a:pt x="22" y="0"/>
                    </a:lnTo>
                    <a:lnTo>
                      <a:pt x="0" y="0"/>
                    </a:lnTo>
                    <a:lnTo>
                      <a:pt x="0" y="5"/>
                    </a:lnTo>
                    <a:lnTo>
                      <a:pt x="1" y="12"/>
                    </a:lnTo>
                    <a:lnTo>
                      <a:pt x="1" y="27"/>
                    </a:lnTo>
                    <a:lnTo>
                      <a:pt x="3" y="44"/>
                    </a:lnTo>
                    <a:lnTo>
                      <a:pt x="5" y="61"/>
                    </a:lnTo>
                    <a:lnTo>
                      <a:pt x="6" y="75"/>
                    </a:lnTo>
                    <a:lnTo>
                      <a:pt x="8" y="88"/>
                    </a:lnTo>
                    <a:lnTo>
                      <a:pt x="11" y="97"/>
                    </a:lnTo>
                    <a:lnTo>
                      <a:pt x="30" y="88"/>
                    </a:lnTo>
                    <a:close/>
                  </a:path>
                </a:pathLst>
              </a:custGeom>
              <a:solidFill>
                <a:srgbClr val="000000"/>
              </a:solidFill>
              <a:ln w="9525">
                <a:noFill/>
                <a:round/>
                <a:headEnd/>
                <a:tailEnd/>
              </a:ln>
            </p:spPr>
            <p:txBody>
              <a:bodyPr/>
              <a:lstStyle/>
              <a:p>
                <a:endParaRPr lang="en-US"/>
              </a:p>
            </p:txBody>
          </p:sp>
          <p:sp>
            <p:nvSpPr>
              <p:cNvPr id="28803" name="Freeform 93"/>
              <p:cNvSpPr>
                <a:spLocks/>
              </p:cNvSpPr>
              <p:nvPr/>
            </p:nvSpPr>
            <p:spPr bwMode="auto">
              <a:xfrm>
                <a:off x="2153" y="3489"/>
                <a:ext cx="16" cy="20"/>
              </a:xfrm>
              <a:custGeom>
                <a:avLst/>
                <a:gdLst>
                  <a:gd name="T0" fmla="*/ 1 w 31"/>
                  <a:gd name="T1" fmla="*/ 1 h 40"/>
                  <a:gd name="T2" fmla="*/ 1 w 31"/>
                  <a:gd name="T3" fmla="*/ 1 h 40"/>
                  <a:gd name="T4" fmla="*/ 1 w 31"/>
                  <a:gd name="T5" fmla="*/ 1 h 40"/>
                  <a:gd name="T6" fmla="*/ 1 w 31"/>
                  <a:gd name="T7" fmla="*/ 1 h 40"/>
                  <a:gd name="T8" fmla="*/ 1 w 31"/>
                  <a:gd name="T9" fmla="*/ 1 h 40"/>
                  <a:gd name="T10" fmla="*/ 1 w 31"/>
                  <a:gd name="T11" fmla="*/ 0 h 40"/>
                  <a:gd name="T12" fmla="*/ 0 w 31"/>
                  <a:gd name="T13" fmla="*/ 1 h 40"/>
                  <a:gd name="T14" fmla="*/ 1 w 31"/>
                  <a:gd name="T15" fmla="*/ 1 h 40"/>
                  <a:gd name="T16" fmla="*/ 1 w 31"/>
                  <a:gd name="T17" fmla="*/ 1 h 40"/>
                  <a:gd name="T18" fmla="*/ 1 w 31"/>
                  <a:gd name="T19" fmla="*/ 1 h 40"/>
                  <a:gd name="T20" fmla="*/ 1 w 31"/>
                  <a:gd name="T21" fmla="*/ 1 h 40"/>
                  <a:gd name="T22" fmla="*/ 1 w 31"/>
                  <a:gd name="T23" fmla="*/ 1 h 40"/>
                  <a:gd name="T24" fmla="*/ 1 w 31"/>
                  <a:gd name="T25" fmla="*/ 1 h 40"/>
                  <a:gd name="T26" fmla="*/ 1 w 31"/>
                  <a:gd name="T27" fmla="*/ 1 h 40"/>
                  <a:gd name="T28" fmla="*/ 1 w 31"/>
                  <a:gd name="T29" fmla="*/ 1 h 40"/>
                  <a:gd name="T30" fmla="*/ 1 w 31"/>
                  <a:gd name="T31" fmla="*/ 1 h 40"/>
                  <a:gd name="T32" fmla="*/ 1 w 31"/>
                  <a:gd name="T33" fmla="*/ 1 h 40"/>
                  <a:gd name="T34" fmla="*/ 1 w 31"/>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40"/>
                  <a:gd name="T56" fmla="*/ 31 w 31"/>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40">
                    <a:moveTo>
                      <a:pt x="30" y="23"/>
                    </a:moveTo>
                    <a:lnTo>
                      <a:pt x="30" y="25"/>
                    </a:lnTo>
                    <a:lnTo>
                      <a:pt x="30" y="23"/>
                    </a:lnTo>
                    <a:lnTo>
                      <a:pt x="26" y="15"/>
                    </a:lnTo>
                    <a:lnTo>
                      <a:pt x="22" y="7"/>
                    </a:lnTo>
                    <a:lnTo>
                      <a:pt x="19" y="0"/>
                    </a:lnTo>
                    <a:lnTo>
                      <a:pt x="0" y="9"/>
                    </a:lnTo>
                    <a:lnTo>
                      <a:pt x="3" y="17"/>
                    </a:lnTo>
                    <a:lnTo>
                      <a:pt x="8" y="25"/>
                    </a:lnTo>
                    <a:lnTo>
                      <a:pt x="8" y="29"/>
                    </a:lnTo>
                    <a:lnTo>
                      <a:pt x="11" y="34"/>
                    </a:lnTo>
                    <a:lnTo>
                      <a:pt x="11" y="36"/>
                    </a:lnTo>
                    <a:lnTo>
                      <a:pt x="9" y="34"/>
                    </a:lnTo>
                    <a:lnTo>
                      <a:pt x="15" y="40"/>
                    </a:lnTo>
                    <a:lnTo>
                      <a:pt x="25" y="40"/>
                    </a:lnTo>
                    <a:lnTo>
                      <a:pt x="31" y="34"/>
                    </a:lnTo>
                    <a:lnTo>
                      <a:pt x="31" y="25"/>
                    </a:lnTo>
                    <a:lnTo>
                      <a:pt x="30" y="23"/>
                    </a:lnTo>
                    <a:close/>
                  </a:path>
                </a:pathLst>
              </a:custGeom>
              <a:solidFill>
                <a:srgbClr val="000000"/>
              </a:solidFill>
              <a:ln w="9525">
                <a:noFill/>
                <a:round/>
                <a:headEnd/>
                <a:tailEnd/>
              </a:ln>
            </p:spPr>
            <p:txBody>
              <a:bodyPr/>
              <a:lstStyle/>
              <a:p>
                <a:endParaRPr lang="en-US"/>
              </a:p>
            </p:txBody>
          </p:sp>
          <p:sp>
            <p:nvSpPr>
              <p:cNvPr id="28804" name="Freeform 94"/>
              <p:cNvSpPr>
                <a:spLocks/>
              </p:cNvSpPr>
              <p:nvPr/>
            </p:nvSpPr>
            <p:spPr bwMode="auto">
              <a:xfrm>
                <a:off x="2158" y="3501"/>
                <a:ext cx="13" cy="11"/>
              </a:xfrm>
              <a:custGeom>
                <a:avLst/>
                <a:gdLst>
                  <a:gd name="T0" fmla="*/ 1 w 25"/>
                  <a:gd name="T1" fmla="*/ 0 h 24"/>
                  <a:gd name="T2" fmla="*/ 1 w 25"/>
                  <a:gd name="T3" fmla="*/ 0 h 24"/>
                  <a:gd name="T4" fmla="*/ 1 w 25"/>
                  <a:gd name="T5" fmla="*/ 0 h 24"/>
                  <a:gd name="T6" fmla="*/ 1 w 25"/>
                  <a:gd name="T7" fmla="*/ 0 h 24"/>
                  <a:gd name="T8" fmla="*/ 1 w 25"/>
                  <a:gd name="T9" fmla="*/ 0 h 24"/>
                  <a:gd name="T10" fmla="*/ 1 w 25"/>
                  <a:gd name="T11" fmla="*/ 0 h 24"/>
                  <a:gd name="T12" fmla="*/ 0 w 25"/>
                  <a:gd name="T13" fmla="*/ 0 h 24"/>
                  <a:gd name="T14" fmla="*/ 0 w 25"/>
                  <a:gd name="T15" fmla="*/ 0 h 24"/>
                  <a:gd name="T16" fmla="*/ 1 w 25"/>
                  <a:gd name="T17" fmla="*/ 0 h 24"/>
                  <a:gd name="T18" fmla="*/ 1 w 25"/>
                  <a:gd name="T19" fmla="*/ 0 h 24"/>
                  <a:gd name="T20" fmla="*/ 1 w 25"/>
                  <a:gd name="T21" fmla="*/ 0 h 24"/>
                  <a:gd name="T22" fmla="*/ 1 w 25"/>
                  <a:gd name="T23" fmla="*/ 0 h 24"/>
                  <a:gd name="T24" fmla="*/ 1 w 25"/>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4"/>
                  <a:gd name="T41" fmla="*/ 25 w 2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4">
                    <a:moveTo>
                      <a:pt x="25" y="14"/>
                    </a:moveTo>
                    <a:lnTo>
                      <a:pt x="25" y="14"/>
                    </a:lnTo>
                    <a:lnTo>
                      <a:pt x="23" y="9"/>
                    </a:lnTo>
                    <a:lnTo>
                      <a:pt x="20" y="3"/>
                    </a:lnTo>
                    <a:lnTo>
                      <a:pt x="19" y="3"/>
                    </a:lnTo>
                    <a:lnTo>
                      <a:pt x="19" y="0"/>
                    </a:lnTo>
                    <a:lnTo>
                      <a:pt x="0" y="13"/>
                    </a:lnTo>
                    <a:lnTo>
                      <a:pt x="1" y="16"/>
                    </a:lnTo>
                    <a:lnTo>
                      <a:pt x="4" y="19"/>
                    </a:lnTo>
                    <a:lnTo>
                      <a:pt x="6" y="24"/>
                    </a:lnTo>
                    <a:lnTo>
                      <a:pt x="25" y="14"/>
                    </a:lnTo>
                    <a:close/>
                  </a:path>
                </a:pathLst>
              </a:custGeom>
              <a:solidFill>
                <a:srgbClr val="000000"/>
              </a:solidFill>
              <a:ln w="9525">
                <a:noFill/>
                <a:round/>
                <a:headEnd/>
                <a:tailEnd/>
              </a:ln>
            </p:spPr>
            <p:txBody>
              <a:bodyPr/>
              <a:lstStyle/>
              <a:p>
                <a:endParaRPr lang="en-US"/>
              </a:p>
            </p:txBody>
          </p:sp>
          <p:sp>
            <p:nvSpPr>
              <p:cNvPr id="28805" name="Freeform 95"/>
              <p:cNvSpPr>
                <a:spLocks/>
              </p:cNvSpPr>
              <p:nvPr/>
            </p:nvSpPr>
            <p:spPr bwMode="auto">
              <a:xfrm>
                <a:off x="2162" y="3508"/>
                <a:ext cx="22" cy="18"/>
              </a:xfrm>
              <a:custGeom>
                <a:avLst/>
                <a:gdLst>
                  <a:gd name="T0" fmla="*/ 0 w 45"/>
                  <a:gd name="T1" fmla="*/ 1 h 36"/>
                  <a:gd name="T2" fmla="*/ 0 w 45"/>
                  <a:gd name="T3" fmla="*/ 1 h 36"/>
                  <a:gd name="T4" fmla="*/ 0 w 45"/>
                  <a:gd name="T5" fmla="*/ 1 h 36"/>
                  <a:gd name="T6" fmla="*/ 0 w 45"/>
                  <a:gd name="T7" fmla="*/ 1 h 36"/>
                  <a:gd name="T8" fmla="*/ 0 w 45"/>
                  <a:gd name="T9" fmla="*/ 1 h 36"/>
                  <a:gd name="T10" fmla="*/ 0 w 45"/>
                  <a:gd name="T11" fmla="*/ 0 h 36"/>
                  <a:gd name="T12" fmla="*/ 0 w 45"/>
                  <a:gd name="T13" fmla="*/ 1 h 36"/>
                  <a:gd name="T14" fmla="*/ 0 w 45"/>
                  <a:gd name="T15" fmla="*/ 1 h 36"/>
                  <a:gd name="T16" fmla="*/ 0 w 45"/>
                  <a:gd name="T17" fmla="*/ 1 h 36"/>
                  <a:gd name="T18" fmla="*/ 0 w 45"/>
                  <a:gd name="T19" fmla="*/ 1 h 36"/>
                  <a:gd name="T20" fmla="*/ 0 w 45"/>
                  <a:gd name="T21" fmla="*/ 1 h 36"/>
                  <a:gd name="T22" fmla="*/ 0 w 45"/>
                  <a:gd name="T23" fmla="*/ 1 h 36"/>
                  <a:gd name="T24" fmla="*/ 0 w 45"/>
                  <a:gd name="T25" fmla="*/ 1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36"/>
                  <a:gd name="T41" fmla="*/ 45 w 45"/>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36">
                    <a:moveTo>
                      <a:pt x="45" y="14"/>
                    </a:moveTo>
                    <a:lnTo>
                      <a:pt x="45" y="14"/>
                    </a:lnTo>
                    <a:lnTo>
                      <a:pt x="36" y="11"/>
                    </a:lnTo>
                    <a:lnTo>
                      <a:pt x="30" y="8"/>
                    </a:lnTo>
                    <a:lnTo>
                      <a:pt x="22" y="3"/>
                    </a:lnTo>
                    <a:lnTo>
                      <a:pt x="19" y="0"/>
                    </a:lnTo>
                    <a:lnTo>
                      <a:pt x="0" y="10"/>
                    </a:lnTo>
                    <a:lnTo>
                      <a:pt x="6" y="19"/>
                    </a:lnTo>
                    <a:lnTo>
                      <a:pt x="17" y="27"/>
                    </a:lnTo>
                    <a:lnTo>
                      <a:pt x="30" y="33"/>
                    </a:lnTo>
                    <a:lnTo>
                      <a:pt x="42" y="36"/>
                    </a:lnTo>
                    <a:lnTo>
                      <a:pt x="45" y="14"/>
                    </a:lnTo>
                    <a:close/>
                  </a:path>
                </a:pathLst>
              </a:custGeom>
              <a:solidFill>
                <a:srgbClr val="000000"/>
              </a:solidFill>
              <a:ln w="9525">
                <a:noFill/>
                <a:round/>
                <a:headEnd/>
                <a:tailEnd/>
              </a:ln>
            </p:spPr>
            <p:txBody>
              <a:bodyPr/>
              <a:lstStyle/>
              <a:p>
                <a:endParaRPr lang="en-US"/>
              </a:p>
            </p:txBody>
          </p:sp>
          <p:sp>
            <p:nvSpPr>
              <p:cNvPr id="28806" name="Freeform 96"/>
              <p:cNvSpPr>
                <a:spLocks/>
              </p:cNvSpPr>
              <p:nvPr/>
            </p:nvSpPr>
            <p:spPr bwMode="auto">
              <a:xfrm>
                <a:off x="2183" y="3508"/>
                <a:ext cx="36" cy="18"/>
              </a:xfrm>
              <a:custGeom>
                <a:avLst/>
                <a:gdLst>
                  <a:gd name="T0" fmla="*/ 1 w 72"/>
                  <a:gd name="T1" fmla="*/ 0 h 34"/>
                  <a:gd name="T2" fmla="*/ 1 w 72"/>
                  <a:gd name="T3" fmla="*/ 0 h 34"/>
                  <a:gd name="T4" fmla="*/ 1 w 72"/>
                  <a:gd name="T5" fmla="*/ 1 h 34"/>
                  <a:gd name="T6" fmla="*/ 1 w 72"/>
                  <a:gd name="T7" fmla="*/ 1 h 34"/>
                  <a:gd name="T8" fmla="*/ 1 w 72"/>
                  <a:gd name="T9" fmla="*/ 1 h 34"/>
                  <a:gd name="T10" fmla="*/ 1 w 72"/>
                  <a:gd name="T11" fmla="*/ 1 h 34"/>
                  <a:gd name="T12" fmla="*/ 1 w 72"/>
                  <a:gd name="T13" fmla="*/ 1 h 34"/>
                  <a:gd name="T14" fmla="*/ 1 w 72"/>
                  <a:gd name="T15" fmla="*/ 1 h 34"/>
                  <a:gd name="T16" fmla="*/ 1 w 72"/>
                  <a:gd name="T17" fmla="*/ 1 h 34"/>
                  <a:gd name="T18" fmla="*/ 1 w 72"/>
                  <a:gd name="T19" fmla="*/ 1 h 34"/>
                  <a:gd name="T20" fmla="*/ 0 w 72"/>
                  <a:gd name="T21" fmla="*/ 1 h 34"/>
                  <a:gd name="T22" fmla="*/ 1 w 72"/>
                  <a:gd name="T23" fmla="*/ 1 h 34"/>
                  <a:gd name="T24" fmla="*/ 1 w 72"/>
                  <a:gd name="T25" fmla="*/ 1 h 34"/>
                  <a:gd name="T26" fmla="*/ 1 w 72"/>
                  <a:gd name="T27" fmla="*/ 1 h 34"/>
                  <a:gd name="T28" fmla="*/ 1 w 72"/>
                  <a:gd name="T29" fmla="*/ 1 h 34"/>
                  <a:gd name="T30" fmla="*/ 1 w 72"/>
                  <a:gd name="T31" fmla="*/ 1 h 34"/>
                  <a:gd name="T32" fmla="*/ 1 w 72"/>
                  <a:gd name="T33" fmla="*/ 1 h 34"/>
                  <a:gd name="T34" fmla="*/ 1 w 72"/>
                  <a:gd name="T35" fmla="*/ 1 h 34"/>
                  <a:gd name="T36" fmla="*/ 1 w 72"/>
                  <a:gd name="T37" fmla="*/ 1 h 34"/>
                  <a:gd name="T38" fmla="*/ 1 w 72"/>
                  <a:gd name="T39" fmla="*/ 1 h 34"/>
                  <a:gd name="T40" fmla="*/ 1 w 72"/>
                  <a:gd name="T41" fmla="*/ 0 h 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4"/>
                  <a:gd name="T65" fmla="*/ 72 w 72"/>
                  <a:gd name="T66" fmla="*/ 34 h 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4">
                    <a:moveTo>
                      <a:pt x="63" y="0"/>
                    </a:moveTo>
                    <a:lnTo>
                      <a:pt x="63" y="0"/>
                    </a:lnTo>
                    <a:lnTo>
                      <a:pt x="55" y="1"/>
                    </a:lnTo>
                    <a:lnTo>
                      <a:pt x="46" y="4"/>
                    </a:lnTo>
                    <a:lnTo>
                      <a:pt x="36" y="8"/>
                    </a:lnTo>
                    <a:lnTo>
                      <a:pt x="28" y="9"/>
                    </a:lnTo>
                    <a:lnTo>
                      <a:pt x="19" y="11"/>
                    </a:lnTo>
                    <a:lnTo>
                      <a:pt x="11" y="12"/>
                    </a:lnTo>
                    <a:lnTo>
                      <a:pt x="7" y="12"/>
                    </a:lnTo>
                    <a:lnTo>
                      <a:pt x="3" y="12"/>
                    </a:lnTo>
                    <a:lnTo>
                      <a:pt x="0" y="34"/>
                    </a:lnTo>
                    <a:lnTo>
                      <a:pt x="7" y="34"/>
                    </a:lnTo>
                    <a:lnTo>
                      <a:pt x="14" y="34"/>
                    </a:lnTo>
                    <a:lnTo>
                      <a:pt x="22" y="33"/>
                    </a:lnTo>
                    <a:lnTo>
                      <a:pt x="32" y="31"/>
                    </a:lnTo>
                    <a:lnTo>
                      <a:pt x="43" y="29"/>
                    </a:lnTo>
                    <a:lnTo>
                      <a:pt x="52" y="26"/>
                    </a:lnTo>
                    <a:lnTo>
                      <a:pt x="61" y="23"/>
                    </a:lnTo>
                    <a:lnTo>
                      <a:pt x="72" y="18"/>
                    </a:lnTo>
                    <a:lnTo>
                      <a:pt x="63" y="0"/>
                    </a:lnTo>
                    <a:close/>
                  </a:path>
                </a:pathLst>
              </a:custGeom>
              <a:solidFill>
                <a:srgbClr val="000000"/>
              </a:solidFill>
              <a:ln w="9525">
                <a:noFill/>
                <a:round/>
                <a:headEnd/>
                <a:tailEnd/>
              </a:ln>
            </p:spPr>
            <p:txBody>
              <a:bodyPr/>
              <a:lstStyle/>
              <a:p>
                <a:endParaRPr lang="en-US"/>
              </a:p>
            </p:txBody>
          </p:sp>
          <p:sp>
            <p:nvSpPr>
              <p:cNvPr id="28807" name="Freeform 97"/>
              <p:cNvSpPr>
                <a:spLocks/>
              </p:cNvSpPr>
              <p:nvPr/>
            </p:nvSpPr>
            <p:spPr bwMode="auto">
              <a:xfrm>
                <a:off x="2214" y="3499"/>
                <a:ext cx="20" cy="19"/>
              </a:xfrm>
              <a:custGeom>
                <a:avLst/>
                <a:gdLst>
                  <a:gd name="T0" fmla="*/ 0 w 41"/>
                  <a:gd name="T1" fmla="*/ 1 h 37"/>
                  <a:gd name="T2" fmla="*/ 0 w 41"/>
                  <a:gd name="T3" fmla="*/ 1 h 37"/>
                  <a:gd name="T4" fmla="*/ 0 w 41"/>
                  <a:gd name="T5" fmla="*/ 1 h 37"/>
                  <a:gd name="T6" fmla="*/ 0 w 41"/>
                  <a:gd name="T7" fmla="*/ 1 h 37"/>
                  <a:gd name="T8" fmla="*/ 0 w 41"/>
                  <a:gd name="T9" fmla="*/ 1 h 37"/>
                  <a:gd name="T10" fmla="*/ 0 w 41"/>
                  <a:gd name="T11" fmla="*/ 1 h 37"/>
                  <a:gd name="T12" fmla="*/ 0 w 41"/>
                  <a:gd name="T13" fmla="*/ 1 h 37"/>
                  <a:gd name="T14" fmla="*/ 0 w 41"/>
                  <a:gd name="T15" fmla="*/ 1 h 37"/>
                  <a:gd name="T16" fmla="*/ 0 w 41"/>
                  <a:gd name="T17" fmla="*/ 1 h 37"/>
                  <a:gd name="T18" fmla="*/ 0 w 41"/>
                  <a:gd name="T19" fmla="*/ 1 h 37"/>
                  <a:gd name="T20" fmla="*/ 0 w 41"/>
                  <a:gd name="T21" fmla="*/ 1 h 37"/>
                  <a:gd name="T22" fmla="*/ 0 w 41"/>
                  <a:gd name="T23" fmla="*/ 1 h 37"/>
                  <a:gd name="T24" fmla="*/ 0 w 41"/>
                  <a:gd name="T25" fmla="*/ 1 h 37"/>
                  <a:gd name="T26" fmla="*/ 0 w 41"/>
                  <a:gd name="T27" fmla="*/ 1 h 37"/>
                  <a:gd name="T28" fmla="*/ 0 w 41"/>
                  <a:gd name="T29" fmla="*/ 0 h 37"/>
                  <a:gd name="T30" fmla="*/ 0 w 41"/>
                  <a:gd name="T31" fmla="*/ 1 h 37"/>
                  <a:gd name="T32" fmla="*/ 0 w 41"/>
                  <a:gd name="T33" fmla="*/ 1 h 37"/>
                  <a:gd name="T34" fmla="*/ 0 w 41"/>
                  <a:gd name="T35" fmla="*/ 1 h 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37"/>
                  <a:gd name="T56" fmla="*/ 41 w 41"/>
                  <a:gd name="T57" fmla="*/ 37 h 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37">
                    <a:moveTo>
                      <a:pt x="20" y="16"/>
                    </a:moveTo>
                    <a:lnTo>
                      <a:pt x="19" y="8"/>
                    </a:lnTo>
                    <a:lnTo>
                      <a:pt x="22" y="5"/>
                    </a:lnTo>
                    <a:lnTo>
                      <a:pt x="20" y="5"/>
                    </a:lnTo>
                    <a:lnTo>
                      <a:pt x="12" y="11"/>
                    </a:lnTo>
                    <a:lnTo>
                      <a:pt x="0" y="19"/>
                    </a:lnTo>
                    <a:lnTo>
                      <a:pt x="9" y="37"/>
                    </a:lnTo>
                    <a:lnTo>
                      <a:pt x="25" y="30"/>
                    </a:lnTo>
                    <a:lnTo>
                      <a:pt x="33" y="23"/>
                    </a:lnTo>
                    <a:lnTo>
                      <a:pt x="38" y="20"/>
                    </a:lnTo>
                    <a:lnTo>
                      <a:pt x="41" y="14"/>
                    </a:lnTo>
                    <a:lnTo>
                      <a:pt x="39" y="6"/>
                    </a:lnTo>
                    <a:lnTo>
                      <a:pt x="41" y="14"/>
                    </a:lnTo>
                    <a:lnTo>
                      <a:pt x="39" y="5"/>
                    </a:lnTo>
                    <a:lnTo>
                      <a:pt x="33" y="0"/>
                    </a:lnTo>
                    <a:lnTo>
                      <a:pt x="23" y="1"/>
                    </a:lnTo>
                    <a:lnTo>
                      <a:pt x="19" y="8"/>
                    </a:lnTo>
                    <a:lnTo>
                      <a:pt x="20" y="16"/>
                    </a:lnTo>
                    <a:close/>
                  </a:path>
                </a:pathLst>
              </a:custGeom>
              <a:solidFill>
                <a:srgbClr val="000000"/>
              </a:solidFill>
              <a:ln w="9525">
                <a:noFill/>
                <a:round/>
                <a:headEnd/>
                <a:tailEnd/>
              </a:ln>
            </p:spPr>
            <p:txBody>
              <a:bodyPr/>
              <a:lstStyle/>
              <a:p>
                <a:endParaRPr lang="en-US"/>
              </a:p>
            </p:txBody>
          </p:sp>
          <p:sp>
            <p:nvSpPr>
              <p:cNvPr id="28808" name="Freeform 98"/>
              <p:cNvSpPr>
                <a:spLocks/>
              </p:cNvSpPr>
              <p:nvPr/>
            </p:nvSpPr>
            <p:spPr bwMode="auto">
              <a:xfrm>
                <a:off x="2219" y="3486"/>
                <a:ext cx="15" cy="21"/>
              </a:xfrm>
              <a:custGeom>
                <a:avLst/>
                <a:gdLst>
                  <a:gd name="T0" fmla="*/ 1 w 30"/>
                  <a:gd name="T1" fmla="*/ 0 h 43"/>
                  <a:gd name="T2" fmla="*/ 0 w 30"/>
                  <a:gd name="T3" fmla="*/ 0 h 43"/>
                  <a:gd name="T4" fmla="*/ 1 w 30"/>
                  <a:gd name="T5" fmla="*/ 0 h 43"/>
                  <a:gd name="T6" fmla="*/ 1 w 30"/>
                  <a:gd name="T7" fmla="*/ 0 h 43"/>
                  <a:gd name="T8" fmla="*/ 1 w 30"/>
                  <a:gd name="T9" fmla="*/ 0 h 43"/>
                  <a:gd name="T10" fmla="*/ 1 w 30"/>
                  <a:gd name="T11" fmla="*/ 0 h 43"/>
                  <a:gd name="T12" fmla="*/ 1 w 30"/>
                  <a:gd name="T13" fmla="*/ 0 h 43"/>
                  <a:gd name="T14" fmla="*/ 1 w 30"/>
                  <a:gd name="T15" fmla="*/ 0 h 43"/>
                  <a:gd name="T16" fmla="*/ 1 w 30"/>
                  <a:gd name="T17" fmla="*/ 0 h 43"/>
                  <a:gd name="T18" fmla="*/ 0 w 30"/>
                  <a:gd name="T19" fmla="*/ 0 h 43"/>
                  <a:gd name="T20" fmla="*/ 0 w 30"/>
                  <a:gd name="T21" fmla="*/ 0 h 43"/>
                  <a:gd name="T22" fmla="*/ 1 w 30"/>
                  <a:gd name="T23" fmla="*/ 0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43"/>
                  <a:gd name="T38" fmla="*/ 30 w 30"/>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43">
                    <a:moveTo>
                      <a:pt x="3" y="21"/>
                    </a:moveTo>
                    <a:lnTo>
                      <a:pt x="0" y="16"/>
                    </a:lnTo>
                    <a:lnTo>
                      <a:pt x="11" y="43"/>
                    </a:lnTo>
                    <a:lnTo>
                      <a:pt x="30" y="33"/>
                    </a:lnTo>
                    <a:lnTo>
                      <a:pt x="19" y="7"/>
                    </a:lnTo>
                    <a:lnTo>
                      <a:pt x="16" y="2"/>
                    </a:lnTo>
                    <a:lnTo>
                      <a:pt x="19" y="7"/>
                    </a:lnTo>
                    <a:lnTo>
                      <a:pt x="13" y="0"/>
                    </a:lnTo>
                    <a:lnTo>
                      <a:pt x="5" y="2"/>
                    </a:lnTo>
                    <a:lnTo>
                      <a:pt x="0" y="8"/>
                    </a:lnTo>
                    <a:lnTo>
                      <a:pt x="0" y="16"/>
                    </a:lnTo>
                    <a:lnTo>
                      <a:pt x="3" y="21"/>
                    </a:lnTo>
                    <a:close/>
                  </a:path>
                </a:pathLst>
              </a:custGeom>
              <a:solidFill>
                <a:srgbClr val="000000"/>
              </a:solidFill>
              <a:ln w="9525">
                <a:noFill/>
                <a:round/>
                <a:headEnd/>
                <a:tailEnd/>
              </a:ln>
            </p:spPr>
            <p:txBody>
              <a:bodyPr/>
              <a:lstStyle/>
              <a:p>
                <a:endParaRPr lang="en-US"/>
              </a:p>
            </p:txBody>
          </p:sp>
          <p:sp>
            <p:nvSpPr>
              <p:cNvPr id="28809" name="Freeform 99"/>
              <p:cNvSpPr>
                <a:spLocks/>
              </p:cNvSpPr>
              <p:nvPr/>
            </p:nvSpPr>
            <p:spPr bwMode="auto">
              <a:xfrm>
                <a:off x="2147" y="3440"/>
                <a:ext cx="79" cy="56"/>
              </a:xfrm>
              <a:custGeom>
                <a:avLst/>
                <a:gdLst>
                  <a:gd name="T0" fmla="*/ 1 w 158"/>
                  <a:gd name="T1" fmla="*/ 0 h 113"/>
                  <a:gd name="T2" fmla="*/ 1 w 158"/>
                  <a:gd name="T3" fmla="*/ 0 h 113"/>
                  <a:gd name="T4" fmla="*/ 1 w 158"/>
                  <a:gd name="T5" fmla="*/ 0 h 113"/>
                  <a:gd name="T6" fmla="*/ 1 w 158"/>
                  <a:gd name="T7" fmla="*/ 0 h 113"/>
                  <a:gd name="T8" fmla="*/ 1 w 158"/>
                  <a:gd name="T9" fmla="*/ 0 h 113"/>
                  <a:gd name="T10" fmla="*/ 0 w 158"/>
                  <a:gd name="T11" fmla="*/ 0 h 113"/>
                  <a:gd name="T12" fmla="*/ 1 w 158"/>
                  <a:gd name="T13" fmla="*/ 0 h 113"/>
                  <a:gd name="T14" fmla="*/ 1 w 158"/>
                  <a:gd name="T15" fmla="*/ 0 h 113"/>
                  <a:gd name="T16" fmla="*/ 1 w 158"/>
                  <a:gd name="T17" fmla="*/ 0 h 113"/>
                  <a:gd name="T18" fmla="*/ 0 w 158"/>
                  <a:gd name="T19" fmla="*/ 0 h 113"/>
                  <a:gd name="T20" fmla="*/ 1 w 158"/>
                  <a:gd name="T21" fmla="*/ 0 h 113"/>
                  <a:gd name="T22" fmla="*/ 1 w 158"/>
                  <a:gd name="T23" fmla="*/ 0 h 11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113"/>
                  <a:gd name="T38" fmla="*/ 158 w 158"/>
                  <a:gd name="T39" fmla="*/ 113 h 11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113">
                    <a:moveTo>
                      <a:pt x="22" y="11"/>
                    </a:moveTo>
                    <a:lnTo>
                      <a:pt x="5" y="20"/>
                    </a:lnTo>
                    <a:lnTo>
                      <a:pt x="145" y="113"/>
                    </a:lnTo>
                    <a:lnTo>
                      <a:pt x="158" y="94"/>
                    </a:lnTo>
                    <a:lnTo>
                      <a:pt x="17" y="2"/>
                    </a:lnTo>
                    <a:lnTo>
                      <a:pt x="0" y="11"/>
                    </a:lnTo>
                    <a:lnTo>
                      <a:pt x="17" y="2"/>
                    </a:lnTo>
                    <a:lnTo>
                      <a:pt x="8" y="0"/>
                    </a:lnTo>
                    <a:lnTo>
                      <a:pt x="1" y="5"/>
                    </a:lnTo>
                    <a:lnTo>
                      <a:pt x="0" y="13"/>
                    </a:lnTo>
                    <a:lnTo>
                      <a:pt x="5" y="20"/>
                    </a:lnTo>
                    <a:lnTo>
                      <a:pt x="22" y="11"/>
                    </a:lnTo>
                    <a:close/>
                  </a:path>
                </a:pathLst>
              </a:custGeom>
              <a:solidFill>
                <a:srgbClr val="000000"/>
              </a:solidFill>
              <a:ln w="9525">
                <a:noFill/>
                <a:round/>
                <a:headEnd/>
                <a:tailEnd/>
              </a:ln>
            </p:spPr>
            <p:txBody>
              <a:bodyPr/>
              <a:lstStyle/>
              <a:p>
                <a:endParaRPr lang="en-US"/>
              </a:p>
            </p:txBody>
          </p:sp>
          <p:sp>
            <p:nvSpPr>
              <p:cNvPr id="28810" name="Freeform 100"/>
              <p:cNvSpPr>
                <a:spLocks/>
              </p:cNvSpPr>
              <p:nvPr/>
            </p:nvSpPr>
            <p:spPr bwMode="auto">
              <a:xfrm>
                <a:off x="2172" y="3506"/>
                <a:ext cx="65" cy="26"/>
              </a:xfrm>
              <a:custGeom>
                <a:avLst/>
                <a:gdLst>
                  <a:gd name="T0" fmla="*/ 1 w 128"/>
                  <a:gd name="T1" fmla="*/ 1 h 52"/>
                  <a:gd name="T2" fmla="*/ 0 w 128"/>
                  <a:gd name="T3" fmla="*/ 1 h 52"/>
                  <a:gd name="T4" fmla="*/ 1 w 128"/>
                  <a:gd name="T5" fmla="*/ 1 h 52"/>
                  <a:gd name="T6" fmla="*/ 1 w 128"/>
                  <a:gd name="T7" fmla="*/ 1 h 52"/>
                  <a:gd name="T8" fmla="*/ 1 w 128"/>
                  <a:gd name="T9" fmla="*/ 1 h 52"/>
                  <a:gd name="T10" fmla="*/ 1 w 128"/>
                  <a:gd name="T11" fmla="*/ 1 h 52"/>
                  <a:gd name="T12" fmla="*/ 1 w 128"/>
                  <a:gd name="T13" fmla="*/ 1 h 52"/>
                  <a:gd name="T14" fmla="*/ 1 w 128"/>
                  <a:gd name="T15" fmla="*/ 1 h 52"/>
                  <a:gd name="T16" fmla="*/ 1 w 128"/>
                  <a:gd name="T17" fmla="*/ 1 h 52"/>
                  <a:gd name="T18" fmla="*/ 1 w 128"/>
                  <a:gd name="T19" fmla="*/ 1 h 52"/>
                  <a:gd name="T20" fmla="*/ 1 w 128"/>
                  <a:gd name="T21" fmla="*/ 1 h 52"/>
                  <a:gd name="T22" fmla="*/ 1 w 128"/>
                  <a:gd name="T23" fmla="*/ 1 h 52"/>
                  <a:gd name="T24" fmla="*/ 1 w 128"/>
                  <a:gd name="T25" fmla="*/ 1 h 52"/>
                  <a:gd name="T26" fmla="*/ 1 w 128"/>
                  <a:gd name="T27" fmla="*/ 1 h 52"/>
                  <a:gd name="T28" fmla="*/ 1 w 128"/>
                  <a:gd name="T29" fmla="*/ 1 h 52"/>
                  <a:gd name="T30" fmla="*/ 1 w 128"/>
                  <a:gd name="T31" fmla="*/ 1 h 52"/>
                  <a:gd name="T32" fmla="*/ 1 w 128"/>
                  <a:gd name="T33" fmla="*/ 1 h 52"/>
                  <a:gd name="T34" fmla="*/ 1 w 128"/>
                  <a:gd name="T35" fmla="*/ 1 h 52"/>
                  <a:gd name="T36" fmla="*/ 1 w 128"/>
                  <a:gd name="T37" fmla="*/ 1 h 52"/>
                  <a:gd name="T38" fmla="*/ 1 w 128"/>
                  <a:gd name="T39" fmla="*/ 1 h 52"/>
                  <a:gd name="T40" fmla="*/ 1 w 128"/>
                  <a:gd name="T41" fmla="*/ 1 h 52"/>
                  <a:gd name="T42" fmla="*/ 1 w 128"/>
                  <a:gd name="T43" fmla="*/ 0 h 52"/>
                  <a:gd name="T44" fmla="*/ 1 w 128"/>
                  <a:gd name="T45" fmla="*/ 1 h 52"/>
                  <a:gd name="T46" fmla="*/ 1 w 128"/>
                  <a:gd name="T47" fmla="*/ 1 h 52"/>
                  <a:gd name="T48" fmla="*/ 1 w 128"/>
                  <a:gd name="T49" fmla="*/ 1 h 52"/>
                  <a:gd name="T50" fmla="*/ 1 w 128"/>
                  <a:gd name="T51" fmla="*/ 1 h 52"/>
                  <a:gd name="T52" fmla="*/ 1 w 128"/>
                  <a:gd name="T53" fmla="*/ 1 h 52"/>
                  <a:gd name="T54" fmla="*/ 1 w 128"/>
                  <a:gd name="T55" fmla="*/ 1 h 52"/>
                  <a:gd name="T56" fmla="*/ 1 w 128"/>
                  <a:gd name="T57" fmla="*/ 1 h 52"/>
                  <a:gd name="T58" fmla="*/ 1 w 128"/>
                  <a:gd name="T59" fmla="*/ 1 h 52"/>
                  <a:gd name="T60" fmla="*/ 1 w 128"/>
                  <a:gd name="T61" fmla="*/ 1 h 52"/>
                  <a:gd name="T62" fmla="*/ 1 w 128"/>
                  <a:gd name="T63" fmla="*/ 1 h 52"/>
                  <a:gd name="T64" fmla="*/ 1 w 128"/>
                  <a:gd name="T65" fmla="*/ 1 h 52"/>
                  <a:gd name="T66" fmla="*/ 1 w 128"/>
                  <a:gd name="T67" fmla="*/ 1 h 5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8"/>
                  <a:gd name="T103" fmla="*/ 0 h 52"/>
                  <a:gd name="T104" fmla="*/ 128 w 128"/>
                  <a:gd name="T105" fmla="*/ 52 h 5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8" h="52">
                    <a:moveTo>
                      <a:pt x="9" y="25"/>
                    </a:moveTo>
                    <a:lnTo>
                      <a:pt x="0" y="44"/>
                    </a:lnTo>
                    <a:lnTo>
                      <a:pt x="2" y="44"/>
                    </a:lnTo>
                    <a:lnTo>
                      <a:pt x="5" y="45"/>
                    </a:lnTo>
                    <a:lnTo>
                      <a:pt x="12" y="47"/>
                    </a:lnTo>
                    <a:lnTo>
                      <a:pt x="20" y="50"/>
                    </a:lnTo>
                    <a:lnTo>
                      <a:pt x="31" y="50"/>
                    </a:lnTo>
                    <a:lnTo>
                      <a:pt x="44" y="52"/>
                    </a:lnTo>
                    <a:lnTo>
                      <a:pt x="59" y="50"/>
                    </a:lnTo>
                    <a:lnTo>
                      <a:pt x="75" y="47"/>
                    </a:lnTo>
                    <a:lnTo>
                      <a:pt x="89" y="44"/>
                    </a:lnTo>
                    <a:lnTo>
                      <a:pt x="102" y="41"/>
                    </a:lnTo>
                    <a:lnTo>
                      <a:pt x="110" y="38"/>
                    </a:lnTo>
                    <a:lnTo>
                      <a:pt x="116" y="34"/>
                    </a:lnTo>
                    <a:lnTo>
                      <a:pt x="121" y="33"/>
                    </a:lnTo>
                    <a:lnTo>
                      <a:pt x="124" y="30"/>
                    </a:lnTo>
                    <a:lnTo>
                      <a:pt x="127" y="27"/>
                    </a:lnTo>
                    <a:lnTo>
                      <a:pt x="128" y="23"/>
                    </a:lnTo>
                    <a:lnTo>
                      <a:pt x="128" y="17"/>
                    </a:lnTo>
                    <a:lnTo>
                      <a:pt x="125" y="9"/>
                    </a:lnTo>
                    <a:lnTo>
                      <a:pt x="121" y="3"/>
                    </a:lnTo>
                    <a:lnTo>
                      <a:pt x="114" y="0"/>
                    </a:lnTo>
                    <a:lnTo>
                      <a:pt x="108" y="3"/>
                    </a:lnTo>
                    <a:lnTo>
                      <a:pt x="99" y="8"/>
                    </a:lnTo>
                    <a:lnTo>
                      <a:pt x="88" y="16"/>
                    </a:lnTo>
                    <a:lnTo>
                      <a:pt x="74" y="20"/>
                    </a:lnTo>
                    <a:lnTo>
                      <a:pt x="64" y="22"/>
                    </a:lnTo>
                    <a:lnTo>
                      <a:pt x="55" y="23"/>
                    </a:lnTo>
                    <a:lnTo>
                      <a:pt x="44" y="25"/>
                    </a:lnTo>
                    <a:lnTo>
                      <a:pt x="33" y="25"/>
                    </a:lnTo>
                    <a:lnTo>
                      <a:pt x="23" y="25"/>
                    </a:lnTo>
                    <a:lnTo>
                      <a:pt x="16" y="25"/>
                    </a:lnTo>
                    <a:lnTo>
                      <a:pt x="11" y="25"/>
                    </a:lnTo>
                    <a:lnTo>
                      <a:pt x="9" y="25"/>
                    </a:lnTo>
                    <a:close/>
                  </a:path>
                </a:pathLst>
              </a:custGeom>
              <a:solidFill>
                <a:srgbClr val="FF7226"/>
              </a:solidFill>
              <a:ln w="9525">
                <a:noFill/>
                <a:round/>
                <a:headEnd/>
                <a:tailEnd/>
              </a:ln>
            </p:spPr>
            <p:txBody>
              <a:bodyPr/>
              <a:lstStyle/>
              <a:p>
                <a:endParaRPr lang="en-US"/>
              </a:p>
            </p:txBody>
          </p:sp>
          <p:sp>
            <p:nvSpPr>
              <p:cNvPr id="28811" name="Freeform 101"/>
              <p:cNvSpPr>
                <a:spLocks/>
              </p:cNvSpPr>
              <p:nvPr/>
            </p:nvSpPr>
            <p:spPr bwMode="auto">
              <a:xfrm>
                <a:off x="2168" y="3516"/>
                <a:ext cx="14" cy="17"/>
              </a:xfrm>
              <a:custGeom>
                <a:avLst/>
                <a:gdLst>
                  <a:gd name="T0" fmla="*/ 1 w 28"/>
                  <a:gd name="T1" fmla="*/ 0 h 35"/>
                  <a:gd name="T2" fmla="*/ 1 w 28"/>
                  <a:gd name="T3" fmla="*/ 0 h 35"/>
                  <a:gd name="T4" fmla="*/ 1 w 28"/>
                  <a:gd name="T5" fmla="*/ 0 h 35"/>
                  <a:gd name="T6" fmla="*/ 1 w 28"/>
                  <a:gd name="T7" fmla="*/ 0 h 35"/>
                  <a:gd name="T8" fmla="*/ 0 w 28"/>
                  <a:gd name="T9" fmla="*/ 0 h 35"/>
                  <a:gd name="T10" fmla="*/ 1 w 28"/>
                  <a:gd name="T11" fmla="*/ 0 h 35"/>
                  <a:gd name="T12" fmla="*/ 0 w 28"/>
                  <a:gd name="T13" fmla="*/ 0 h 35"/>
                  <a:gd name="T14" fmla="*/ 0 w 28"/>
                  <a:gd name="T15" fmla="*/ 0 h 35"/>
                  <a:gd name="T16" fmla="*/ 1 w 28"/>
                  <a:gd name="T17" fmla="*/ 0 h 35"/>
                  <a:gd name="T18" fmla="*/ 1 w 28"/>
                  <a:gd name="T19" fmla="*/ 0 h 35"/>
                  <a:gd name="T20" fmla="*/ 1 w 28"/>
                  <a:gd name="T21" fmla="*/ 0 h 35"/>
                  <a:gd name="T22" fmla="*/ 1 w 28"/>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
                  <a:gd name="T37" fmla="*/ 0 h 35"/>
                  <a:gd name="T38" fmla="*/ 28 w 28"/>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 h="35">
                    <a:moveTo>
                      <a:pt x="14" y="14"/>
                    </a:moveTo>
                    <a:lnTo>
                      <a:pt x="18" y="29"/>
                    </a:lnTo>
                    <a:lnTo>
                      <a:pt x="28" y="10"/>
                    </a:lnTo>
                    <a:lnTo>
                      <a:pt x="9" y="0"/>
                    </a:lnTo>
                    <a:lnTo>
                      <a:pt x="0" y="19"/>
                    </a:lnTo>
                    <a:lnTo>
                      <a:pt x="4" y="33"/>
                    </a:lnTo>
                    <a:lnTo>
                      <a:pt x="0" y="19"/>
                    </a:lnTo>
                    <a:lnTo>
                      <a:pt x="0" y="27"/>
                    </a:lnTo>
                    <a:lnTo>
                      <a:pt x="4" y="33"/>
                    </a:lnTo>
                    <a:lnTo>
                      <a:pt x="12" y="35"/>
                    </a:lnTo>
                    <a:lnTo>
                      <a:pt x="18" y="29"/>
                    </a:lnTo>
                    <a:lnTo>
                      <a:pt x="14" y="14"/>
                    </a:lnTo>
                    <a:close/>
                  </a:path>
                </a:pathLst>
              </a:custGeom>
              <a:solidFill>
                <a:srgbClr val="000000"/>
              </a:solidFill>
              <a:ln w="9525">
                <a:noFill/>
                <a:round/>
                <a:headEnd/>
                <a:tailEnd/>
              </a:ln>
            </p:spPr>
            <p:txBody>
              <a:bodyPr/>
              <a:lstStyle/>
              <a:p>
                <a:endParaRPr lang="en-US"/>
              </a:p>
            </p:txBody>
          </p:sp>
          <p:sp>
            <p:nvSpPr>
              <p:cNvPr id="28812" name="Freeform 102"/>
              <p:cNvSpPr>
                <a:spLocks/>
              </p:cNvSpPr>
              <p:nvPr/>
            </p:nvSpPr>
            <p:spPr bwMode="auto">
              <a:xfrm>
                <a:off x="2170" y="3522"/>
                <a:ext cx="42" cy="15"/>
              </a:xfrm>
              <a:custGeom>
                <a:avLst/>
                <a:gdLst>
                  <a:gd name="T0" fmla="*/ 1 w 83"/>
                  <a:gd name="T1" fmla="*/ 1 h 30"/>
                  <a:gd name="T2" fmla="*/ 1 w 83"/>
                  <a:gd name="T3" fmla="*/ 1 h 30"/>
                  <a:gd name="T4" fmla="*/ 1 w 83"/>
                  <a:gd name="T5" fmla="*/ 1 h 30"/>
                  <a:gd name="T6" fmla="*/ 1 w 83"/>
                  <a:gd name="T7" fmla="*/ 1 h 30"/>
                  <a:gd name="T8" fmla="*/ 1 w 83"/>
                  <a:gd name="T9" fmla="*/ 1 h 30"/>
                  <a:gd name="T10" fmla="*/ 1 w 83"/>
                  <a:gd name="T11" fmla="*/ 1 h 30"/>
                  <a:gd name="T12" fmla="*/ 1 w 83"/>
                  <a:gd name="T13" fmla="*/ 1 h 30"/>
                  <a:gd name="T14" fmla="*/ 1 w 83"/>
                  <a:gd name="T15" fmla="*/ 1 h 30"/>
                  <a:gd name="T16" fmla="*/ 1 w 83"/>
                  <a:gd name="T17" fmla="*/ 0 h 30"/>
                  <a:gd name="T18" fmla="*/ 1 w 83"/>
                  <a:gd name="T19" fmla="*/ 1 h 30"/>
                  <a:gd name="T20" fmla="*/ 0 w 83"/>
                  <a:gd name="T21" fmla="*/ 1 h 30"/>
                  <a:gd name="T22" fmla="*/ 1 w 83"/>
                  <a:gd name="T23" fmla="*/ 1 h 30"/>
                  <a:gd name="T24" fmla="*/ 1 w 83"/>
                  <a:gd name="T25" fmla="*/ 1 h 30"/>
                  <a:gd name="T26" fmla="*/ 1 w 83"/>
                  <a:gd name="T27" fmla="*/ 1 h 30"/>
                  <a:gd name="T28" fmla="*/ 1 w 83"/>
                  <a:gd name="T29" fmla="*/ 1 h 30"/>
                  <a:gd name="T30" fmla="*/ 1 w 83"/>
                  <a:gd name="T31" fmla="*/ 1 h 30"/>
                  <a:gd name="T32" fmla="*/ 1 w 83"/>
                  <a:gd name="T33" fmla="*/ 1 h 30"/>
                  <a:gd name="T34" fmla="*/ 1 w 83"/>
                  <a:gd name="T35" fmla="*/ 1 h 30"/>
                  <a:gd name="T36" fmla="*/ 1 w 83"/>
                  <a:gd name="T37" fmla="*/ 1 h 30"/>
                  <a:gd name="T38" fmla="*/ 1 w 83"/>
                  <a:gd name="T39" fmla="*/ 1 h 30"/>
                  <a:gd name="T40" fmla="*/ 1 w 83"/>
                  <a:gd name="T41" fmla="*/ 1 h 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3"/>
                  <a:gd name="T64" fmla="*/ 0 h 30"/>
                  <a:gd name="T65" fmla="*/ 83 w 83"/>
                  <a:gd name="T66" fmla="*/ 30 h 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3" h="30">
                    <a:moveTo>
                      <a:pt x="79" y="3"/>
                    </a:moveTo>
                    <a:lnTo>
                      <a:pt x="77" y="3"/>
                    </a:lnTo>
                    <a:lnTo>
                      <a:pt x="63" y="6"/>
                    </a:lnTo>
                    <a:lnTo>
                      <a:pt x="49" y="8"/>
                    </a:lnTo>
                    <a:lnTo>
                      <a:pt x="36" y="6"/>
                    </a:lnTo>
                    <a:lnTo>
                      <a:pt x="27" y="6"/>
                    </a:lnTo>
                    <a:lnTo>
                      <a:pt x="21" y="3"/>
                    </a:lnTo>
                    <a:lnTo>
                      <a:pt x="13" y="1"/>
                    </a:lnTo>
                    <a:lnTo>
                      <a:pt x="10" y="0"/>
                    </a:lnTo>
                    <a:lnTo>
                      <a:pt x="10" y="1"/>
                    </a:lnTo>
                    <a:lnTo>
                      <a:pt x="0" y="20"/>
                    </a:lnTo>
                    <a:lnTo>
                      <a:pt x="3" y="22"/>
                    </a:lnTo>
                    <a:lnTo>
                      <a:pt x="7" y="23"/>
                    </a:lnTo>
                    <a:lnTo>
                      <a:pt x="14" y="25"/>
                    </a:lnTo>
                    <a:lnTo>
                      <a:pt x="24" y="28"/>
                    </a:lnTo>
                    <a:lnTo>
                      <a:pt x="36" y="28"/>
                    </a:lnTo>
                    <a:lnTo>
                      <a:pt x="49" y="30"/>
                    </a:lnTo>
                    <a:lnTo>
                      <a:pt x="66" y="28"/>
                    </a:lnTo>
                    <a:lnTo>
                      <a:pt x="83" y="25"/>
                    </a:lnTo>
                    <a:lnTo>
                      <a:pt x="82" y="25"/>
                    </a:lnTo>
                    <a:lnTo>
                      <a:pt x="79" y="3"/>
                    </a:lnTo>
                    <a:close/>
                  </a:path>
                </a:pathLst>
              </a:custGeom>
              <a:solidFill>
                <a:srgbClr val="000000"/>
              </a:solidFill>
              <a:ln w="9525">
                <a:noFill/>
                <a:round/>
                <a:headEnd/>
                <a:tailEnd/>
              </a:ln>
            </p:spPr>
            <p:txBody>
              <a:bodyPr/>
              <a:lstStyle/>
              <a:p>
                <a:endParaRPr lang="en-US"/>
              </a:p>
            </p:txBody>
          </p:sp>
          <p:sp>
            <p:nvSpPr>
              <p:cNvPr id="28813" name="Freeform 103"/>
              <p:cNvSpPr>
                <a:spLocks/>
              </p:cNvSpPr>
              <p:nvPr/>
            </p:nvSpPr>
            <p:spPr bwMode="auto">
              <a:xfrm>
                <a:off x="2209" y="3515"/>
                <a:ext cx="32" cy="20"/>
              </a:xfrm>
              <a:custGeom>
                <a:avLst/>
                <a:gdLst>
                  <a:gd name="T0" fmla="*/ 1 w 64"/>
                  <a:gd name="T1" fmla="*/ 0 h 41"/>
                  <a:gd name="T2" fmla="*/ 1 w 64"/>
                  <a:gd name="T3" fmla="*/ 0 h 41"/>
                  <a:gd name="T4" fmla="*/ 1 w 64"/>
                  <a:gd name="T5" fmla="*/ 0 h 41"/>
                  <a:gd name="T6" fmla="*/ 1 w 64"/>
                  <a:gd name="T7" fmla="*/ 0 h 41"/>
                  <a:gd name="T8" fmla="*/ 1 w 64"/>
                  <a:gd name="T9" fmla="*/ 0 h 41"/>
                  <a:gd name="T10" fmla="*/ 1 w 64"/>
                  <a:gd name="T11" fmla="*/ 0 h 41"/>
                  <a:gd name="T12" fmla="*/ 1 w 64"/>
                  <a:gd name="T13" fmla="*/ 0 h 41"/>
                  <a:gd name="T14" fmla="*/ 1 w 64"/>
                  <a:gd name="T15" fmla="*/ 0 h 41"/>
                  <a:gd name="T16" fmla="*/ 1 w 64"/>
                  <a:gd name="T17" fmla="*/ 0 h 41"/>
                  <a:gd name="T18" fmla="*/ 0 w 64"/>
                  <a:gd name="T19" fmla="*/ 0 h 41"/>
                  <a:gd name="T20" fmla="*/ 1 w 64"/>
                  <a:gd name="T21" fmla="*/ 0 h 41"/>
                  <a:gd name="T22" fmla="*/ 1 w 64"/>
                  <a:gd name="T23" fmla="*/ 0 h 41"/>
                  <a:gd name="T24" fmla="*/ 1 w 64"/>
                  <a:gd name="T25" fmla="*/ 0 h 41"/>
                  <a:gd name="T26" fmla="*/ 1 w 64"/>
                  <a:gd name="T27" fmla="*/ 0 h 41"/>
                  <a:gd name="T28" fmla="*/ 1 w 64"/>
                  <a:gd name="T29" fmla="*/ 0 h 41"/>
                  <a:gd name="T30" fmla="*/ 1 w 64"/>
                  <a:gd name="T31" fmla="*/ 0 h 41"/>
                  <a:gd name="T32" fmla="*/ 1 w 64"/>
                  <a:gd name="T33" fmla="*/ 0 h 41"/>
                  <a:gd name="T34" fmla="*/ 1 w 64"/>
                  <a:gd name="T35" fmla="*/ 0 h 41"/>
                  <a:gd name="T36" fmla="*/ 1 w 64"/>
                  <a:gd name="T37" fmla="*/ 0 h 41"/>
                  <a:gd name="T38" fmla="*/ 1 w 64"/>
                  <a:gd name="T39" fmla="*/ 0 h 41"/>
                  <a:gd name="T40" fmla="*/ 1 w 64"/>
                  <a:gd name="T41" fmla="*/ 0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41"/>
                  <a:gd name="T65" fmla="*/ 64 w 64"/>
                  <a:gd name="T66" fmla="*/ 41 h 4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41">
                    <a:moveTo>
                      <a:pt x="45" y="0"/>
                    </a:moveTo>
                    <a:lnTo>
                      <a:pt x="45" y="2"/>
                    </a:lnTo>
                    <a:lnTo>
                      <a:pt x="43" y="3"/>
                    </a:lnTo>
                    <a:lnTo>
                      <a:pt x="42" y="5"/>
                    </a:lnTo>
                    <a:lnTo>
                      <a:pt x="40" y="6"/>
                    </a:lnTo>
                    <a:lnTo>
                      <a:pt x="37" y="8"/>
                    </a:lnTo>
                    <a:lnTo>
                      <a:pt x="31" y="11"/>
                    </a:lnTo>
                    <a:lnTo>
                      <a:pt x="25" y="13"/>
                    </a:lnTo>
                    <a:lnTo>
                      <a:pt x="12" y="16"/>
                    </a:lnTo>
                    <a:lnTo>
                      <a:pt x="0" y="19"/>
                    </a:lnTo>
                    <a:lnTo>
                      <a:pt x="3" y="41"/>
                    </a:lnTo>
                    <a:lnTo>
                      <a:pt x="18" y="38"/>
                    </a:lnTo>
                    <a:lnTo>
                      <a:pt x="31" y="35"/>
                    </a:lnTo>
                    <a:lnTo>
                      <a:pt x="40" y="30"/>
                    </a:lnTo>
                    <a:lnTo>
                      <a:pt x="47" y="27"/>
                    </a:lnTo>
                    <a:lnTo>
                      <a:pt x="53" y="25"/>
                    </a:lnTo>
                    <a:lnTo>
                      <a:pt x="57" y="21"/>
                    </a:lnTo>
                    <a:lnTo>
                      <a:pt x="62" y="16"/>
                    </a:lnTo>
                    <a:lnTo>
                      <a:pt x="64" y="11"/>
                    </a:lnTo>
                    <a:lnTo>
                      <a:pt x="64" y="13"/>
                    </a:lnTo>
                    <a:lnTo>
                      <a:pt x="45" y="0"/>
                    </a:lnTo>
                    <a:close/>
                  </a:path>
                </a:pathLst>
              </a:custGeom>
              <a:solidFill>
                <a:srgbClr val="000000"/>
              </a:solidFill>
              <a:ln w="9525">
                <a:noFill/>
                <a:round/>
                <a:headEnd/>
                <a:tailEnd/>
              </a:ln>
            </p:spPr>
            <p:txBody>
              <a:bodyPr/>
              <a:lstStyle/>
              <a:p>
                <a:endParaRPr lang="en-US"/>
              </a:p>
            </p:txBody>
          </p:sp>
          <p:sp>
            <p:nvSpPr>
              <p:cNvPr id="28814" name="Freeform 104"/>
              <p:cNvSpPr>
                <a:spLocks/>
              </p:cNvSpPr>
              <p:nvPr/>
            </p:nvSpPr>
            <p:spPr bwMode="auto">
              <a:xfrm>
                <a:off x="2229" y="3501"/>
                <a:ext cx="13" cy="20"/>
              </a:xfrm>
              <a:custGeom>
                <a:avLst/>
                <a:gdLst>
                  <a:gd name="T0" fmla="*/ 1 w 26"/>
                  <a:gd name="T1" fmla="*/ 0 h 41"/>
                  <a:gd name="T2" fmla="*/ 1 w 26"/>
                  <a:gd name="T3" fmla="*/ 0 h 41"/>
                  <a:gd name="T4" fmla="*/ 0 w 26"/>
                  <a:gd name="T5" fmla="*/ 0 h 41"/>
                  <a:gd name="T6" fmla="*/ 1 w 26"/>
                  <a:gd name="T7" fmla="*/ 0 h 41"/>
                  <a:gd name="T8" fmla="*/ 1 w 26"/>
                  <a:gd name="T9" fmla="*/ 0 h 41"/>
                  <a:gd name="T10" fmla="*/ 1 w 26"/>
                  <a:gd name="T11" fmla="*/ 0 h 41"/>
                  <a:gd name="T12" fmla="*/ 1 w 26"/>
                  <a:gd name="T13" fmla="*/ 0 h 41"/>
                  <a:gd name="T14" fmla="*/ 1 w 26"/>
                  <a:gd name="T15" fmla="*/ 0 h 41"/>
                  <a:gd name="T16" fmla="*/ 1 w 26"/>
                  <a:gd name="T17" fmla="*/ 0 h 41"/>
                  <a:gd name="T18" fmla="*/ 1 w 26"/>
                  <a:gd name="T19" fmla="*/ 0 h 41"/>
                  <a:gd name="T20" fmla="*/ 1 w 26"/>
                  <a:gd name="T21" fmla="*/ 0 h 41"/>
                  <a:gd name="T22" fmla="*/ 1 w 26"/>
                  <a:gd name="T23" fmla="*/ 0 h 41"/>
                  <a:gd name="T24" fmla="*/ 1 w 26"/>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
                  <a:gd name="T40" fmla="*/ 0 h 41"/>
                  <a:gd name="T41" fmla="*/ 26 w 26"/>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 h="41">
                    <a:moveTo>
                      <a:pt x="1" y="22"/>
                    </a:moveTo>
                    <a:lnTo>
                      <a:pt x="1" y="22"/>
                    </a:lnTo>
                    <a:lnTo>
                      <a:pt x="0" y="22"/>
                    </a:lnTo>
                    <a:lnTo>
                      <a:pt x="3" y="25"/>
                    </a:lnTo>
                    <a:lnTo>
                      <a:pt x="4" y="31"/>
                    </a:lnTo>
                    <a:lnTo>
                      <a:pt x="6" y="28"/>
                    </a:lnTo>
                    <a:lnTo>
                      <a:pt x="25" y="41"/>
                    </a:lnTo>
                    <a:lnTo>
                      <a:pt x="26" y="25"/>
                    </a:lnTo>
                    <a:lnTo>
                      <a:pt x="22" y="16"/>
                    </a:lnTo>
                    <a:lnTo>
                      <a:pt x="15" y="6"/>
                    </a:lnTo>
                    <a:lnTo>
                      <a:pt x="1" y="0"/>
                    </a:lnTo>
                    <a:lnTo>
                      <a:pt x="1" y="22"/>
                    </a:lnTo>
                    <a:close/>
                  </a:path>
                </a:pathLst>
              </a:custGeom>
              <a:solidFill>
                <a:srgbClr val="000000"/>
              </a:solidFill>
              <a:ln w="9525">
                <a:noFill/>
                <a:round/>
                <a:headEnd/>
                <a:tailEnd/>
              </a:ln>
            </p:spPr>
            <p:txBody>
              <a:bodyPr/>
              <a:lstStyle/>
              <a:p>
                <a:endParaRPr lang="en-US"/>
              </a:p>
            </p:txBody>
          </p:sp>
          <p:sp>
            <p:nvSpPr>
              <p:cNvPr id="28815" name="Freeform 105"/>
              <p:cNvSpPr>
                <a:spLocks/>
              </p:cNvSpPr>
              <p:nvPr/>
            </p:nvSpPr>
            <p:spPr bwMode="auto">
              <a:xfrm>
                <a:off x="2208" y="3501"/>
                <a:ext cx="22" cy="21"/>
              </a:xfrm>
              <a:custGeom>
                <a:avLst/>
                <a:gdLst>
                  <a:gd name="T0" fmla="*/ 1 w 44"/>
                  <a:gd name="T1" fmla="*/ 1 h 42"/>
                  <a:gd name="T2" fmla="*/ 1 w 44"/>
                  <a:gd name="T3" fmla="*/ 1 h 42"/>
                  <a:gd name="T4" fmla="*/ 1 w 44"/>
                  <a:gd name="T5" fmla="*/ 1 h 42"/>
                  <a:gd name="T6" fmla="*/ 1 w 44"/>
                  <a:gd name="T7" fmla="*/ 1 h 42"/>
                  <a:gd name="T8" fmla="*/ 1 w 44"/>
                  <a:gd name="T9" fmla="*/ 1 h 42"/>
                  <a:gd name="T10" fmla="*/ 1 w 44"/>
                  <a:gd name="T11" fmla="*/ 1 h 42"/>
                  <a:gd name="T12" fmla="*/ 1 w 44"/>
                  <a:gd name="T13" fmla="*/ 0 h 42"/>
                  <a:gd name="T14" fmla="*/ 1 w 44"/>
                  <a:gd name="T15" fmla="*/ 1 h 42"/>
                  <a:gd name="T16" fmla="*/ 1 w 44"/>
                  <a:gd name="T17" fmla="*/ 1 h 42"/>
                  <a:gd name="T18" fmla="*/ 1 w 44"/>
                  <a:gd name="T19" fmla="*/ 1 h 42"/>
                  <a:gd name="T20" fmla="*/ 1 w 44"/>
                  <a:gd name="T21" fmla="*/ 1 h 42"/>
                  <a:gd name="T22" fmla="*/ 0 w 44"/>
                  <a:gd name="T23" fmla="*/ 1 h 42"/>
                  <a:gd name="T24" fmla="*/ 1 w 44"/>
                  <a:gd name="T25" fmla="*/ 1 h 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
                  <a:gd name="T40" fmla="*/ 0 h 42"/>
                  <a:gd name="T41" fmla="*/ 44 w 44"/>
                  <a:gd name="T42" fmla="*/ 42 h 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 h="42">
                    <a:moveTo>
                      <a:pt x="7" y="42"/>
                    </a:moveTo>
                    <a:lnTo>
                      <a:pt x="5" y="42"/>
                    </a:lnTo>
                    <a:lnTo>
                      <a:pt x="22" y="36"/>
                    </a:lnTo>
                    <a:lnTo>
                      <a:pt x="35" y="28"/>
                    </a:lnTo>
                    <a:lnTo>
                      <a:pt x="43" y="24"/>
                    </a:lnTo>
                    <a:lnTo>
                      <a:pt x="44" y="22"/>
                    </a:lnTo>
                    <a:lnTo>
                      <a:pt x="44" y="0"/>
                    </a:lnTo>
                    <a:lnTo>
                      <a:pt x="33" y="5"/>
                    </a:lnTo>
                    <a:lnTo>
                      <a:pt x="22" y="9"/>
                    </a:lnTo>
                    <a:lnTo>
                      <a:pt x="13" y="17"/>
                    </a:lnTo>
                    <a:lnTo>
                      <a:pt x="2" y="20"/>
                    </a:lnTo>
                    <a:lnTo>
                      <a:pt x="0" y="20"/>
                    </a:lnTo>
                    <a:lnTo>
                      <a:pt x="7" y="42"/>
                    </a:lnTo>
                    <a:close/>
                  </a:path>
                </a:pathLst>
              </a:custGeom>
              <a:solidFill>
                <a:srgbClr val="000000"/>
              </a:solidFill>
              <a:ln w="9525">
                <a:noFill/>
                <a:round/>
                <a:headEnd/>
                <a:tailEnd/>
              </a:ln>
            </p:spPr>
            <p:txBody>
              <a:bodyPr/>
              <a:lstStyle/>
              <a:p>
                <a:endParaRPr lang="en-US"/>
              </a:p>
            </p:txBody>
          </p:sp>
          <p:sp>
            <p:nvSpPr>
              <p:cNvPr id="28816" name="Freeform 106"/>
              <p:cNvSpPr>
                <a:spLocks/>
              </p:cNvSpPr>
              <p:nvPr/>
            </p:nvSpPr>
            <p:spPr bwMode="auto">
              <a:xfrm>
                <a:off x="2172" y="3511"/>
                <a:ext cx="39" cy="13"/>
              </a:xfrm>
              <a:custGeom>
                <a:avLst/>
                <a:gdLst>
                  <a:gd name="T0" fmla="*/ 0 w 79"/>
                  <a:gd name="T1" fmla="*/ 0 h 27"/>
                  <a:gd name="T2" fmla="*/ 0 w 79"/>
                  <a:gd name="T3" fmla="*/ 0 h 27"/>
                  <a:gd name="T4" fmla="*/ 0 w 79"/>
                  <a:gd name="T5" fmla="*/ 0 h 27"/>
                  <a:gd name="T6" fmla="*/ 0 w 79"/>
                  <a:gd name="T7" fmla="*/ 0 h 27"/>
                  <a:gd name="T8" fmla="*/ 0 w 79"/>
                  <a:gd name="T9" fmla="*/ 0 h 27"/>
                  <a:gd name="T10" fmla="*/ 0 w 79"/>
                  <a:gd name="T11" fmla="*/ 0 h 27"/>
                  <a:gd name="T12" fmla="*/ 0 w 79"/>
                  <a:gd name="T13" fmla="*/ 0 h 27"/>
                  <a:gd name="T14" fmla="*/ 0 w 79"/>
                  <a:gd name="T15" fmla="*/ 0 h 27"/>
                  <a:gd name="T16" fmla="*/ 0 w 79"/>
                  <a:gd name="T17" fmla="*/ 0 h 27"/>
                  <a:gd name="T18" fmla="*/ 0 w 79"/>
                  <a:gd name="T19" fmla="*/ 0 h 27"/>
                  <a:gd name="T20" fmla="*/ 0 w 79"/>
                  <a:gd name="T21" fmla="*/ 0 h 27"/>
                  <a:gd name="T22" fmla="*/ 0 w 79"/>
                  <a:gd name="T23" fmla="*/ 0 h 27"/>
                  <a:gd name="T24" fmla="*/ 0 w 79"/>
                  <a:gd name="T25" fmla="*/ 0 h 27"/>
                  <a:gd name="T26" fmla="*/ 0 w 79"/>
                  <a:gd name="T27" fmla="*/ 0 h 27"/>
                  <a:gd name="T28" fmla="*/ 0 w 79"/>
                  <a:gd name="T29" fmla="*/ 0 h 27"/>
                  <a:gd name="T30" fmla="*/ 0 w 79"/>
                  <a:gd name="T31" fmla="*/ 0 h 27"/>
                  <a:gd name="T32" fmla="*/ 0 w 79"/>
                  <a:gd name="T33" fmla="*/ 0 h 27"/>
                  <a:gd name="T34" fmla="*/ 0 w 79"/>
                  <a:gd name="T35" fmla="*/ 0 h 27"/>
                  <a:gd name="T36" fmla="*/ 0 w 79"/>
                  <a:gd name="T37" fmla="*/ 0 h 27"/>
                  <a:gd name="T38" fmla="*/ 0 w 79"/>
                  <a:gd name="T39" fmla="*/ 0 h 27"/>
                  <a:gd name="T40" fmla="*/ 0 w 79"/>
                  <a:gd name="T41" fmla="*/ 0 h 27"/>
                  <a:gd name="T42" fmla="*/ 0 w 79"/>
                  <a:gd name="T43" fmla="*/ 0 h 27"/>
                  <a:gd name="T44" fmla="*/ 0 w 79"/>
                  <a:gd name="T45" fmla="*/ 0 h 27"/>
                  <a:gd name="T46" fmla="*/ 0 w 79"/>
                  <a:gd name="T47" fmla="*/ 0 h 27"/>
                  <a:gd name="T48" fmla="*/ 0 w 79"/>
                  <a:gd name="T49" fmla="*/ 0 h 27"/>
                  <a:gd name="T50" fmla="*/ 0 w 79"/>
                  <a:gd name="T51" fmla="*/ 0 h 2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9"/>
                  <a:gd name="T79" fmla="*/ 0 h 27"/>
                  <a:gd name="T80" fmla="*/ 79 w 79"/>
                  <a:gd name="T81" fmla="*/ 27 h 2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9" h="27">
                    <a:moveTo>
                      <a:pt x="21" y="21"/>
                    </a:moveTo>
                    <a:lnTo>
                      <a:pt x="11" y="27"/>
                    </a:lnTo>
                    <a:lnTo>
                      <a:pt x="13" y="27"/>
                    </a:lnTo>
                    <a:lnTo>
                      <a:pt x="18" y="27"/>
                    </a:lnTo>
                    <a:lnTo>
                      <a:pt x="25" y="27"/>
                    </a:lnTo>
                    <a:lnTo>
                      <a:pt x="35" y="27"/>
                    </a:lnTo>
                    <a:lnTo>
                      <a:pt x="46" y="27"/>
                    </a:lnTo>
                    <a:lnTo>
                      <a:pt x="58" y="25"/>
                    </a:lnTo>
                    <a:lnTo>
                      <a:pt x="68" y="24"/>
                    </a:lnTo>
                    <a:lnTo>
                      <a:pt x="79" y="22"/>
                    </a:lnTo>
                    <a:lnTo>
                      <a:pt x="72" y="0"/>
                    </a:lnTo>
                    <a:lnTo>
                      <a:pt x="65" y="2"/>
                    </a:lnTo>
                    <a:lnTo>
                      <a:pt x="55" y="4"/>
                    </a:lnTo>
                    <a:lnTo>
                      <a:pt x="46" y="5"/>
                    </a:lnTo>
                    <a:lnTo>
                      <a:pt x="35" y="5"/>
                    </a:lnTo>
                    <a:lnTo>
                      <a:pt x="25" y="5"/>
                    </a:lnTo>
                    <a:lnTo>
                      <a:pt x="18" y="5"/>
                    </a:lnTo>
                    <a:lnTo>
                      <a:pt x="13" y="5"/>
                    </a:lnTo>
                    <a:lnTo>
                      <a:pt x="11" y="5"/>
                    </a:lnTo>
                    <a:lnTo>
                      <a:pt x="2" y="11"/>
                    </a:lnTo>
                    <a:lnTo>
                      <a:pt x="11" y="5"/>
                    </a:lnTo>
                    <a:lnTo>
                      <a:pt x="4" y="8"/>
                    </a:lnTo>
                    <a:lnTo>
                      <a:pt x="0" y="16"/>
                    </a:lnTo>
                    <a:lnTo>
                      <a:pt x="4" y="24"/>
                    </a:lnTo>
                    <a:lnTo>
                      <a:pt x="11" y="27"/>
                    </a:lnTo>
                    <a:lnTo>
                      <a:pt x="21" y="21"/>
                    </a:lnTo>
                    <a:close/>
                  </a:path>
                </a:pathLst>
              </a:custGeom>
              <a:solidFill>
                <a:srgbClr val="000000"/>
              </a:solidFill>
              <a:ln w="9525">
                <a:noFill/>
                <a:round/>
                <a:headEnd/>
                <a:tailEnd/>
              </a:ln>
            </p:spPr>
            <p:txBody>
              <a:bodyPr/>
              <a:lstStyle/>
              <a:p>
                <a:endParaRPr lang="en-US"/>
              </a:p>
            </p:txBody>
          </p:sp>
          <p:sp>
            <p:nvSpPr>
              <p:cNvPr id="28817" name="Freeform 107"/>
              <p:cNvSpPr>
                <a:spLocks/>
              </p:cNvSpPr>
              <p:nvPr/>
            </p:nvSpPr>
            <p:spPr bwMode="auto">
              <a:xfrm>
                <a:off x="1990" y="3505"/>
                <a:ext cx="272" cy="336"/>
              </a:xfrm>
              <a:custGeom>
                <a:avLst/>
                <a:gdLst>
                  <a:gd name="T0" fmla="*/ 1 w 543"/>
                  <a:gd name="T1" fmla="*/ 1 h 672"/>
                  <a:gd name="T2" fmla="*/ 1 w 543"/>
                  <a:gd name="T3" fmla="*/ 1 h 672"/>
                  <a:gd name="T4" fmla="*/ 1 w 543"/>
                  <a:gd name="T5" fmla="*/ 1 h 672"/>
                  <a:gd name="T6" fmla="*/ 1 w 543"/>
                  <a:gd name="T7" fmla="*/ 1 h 672"/>
                  <a:gd name="T8" fmla="*/ 1 w 543"/>
                  <a:gd name="T9" fmla="*/ 1 h 672"/>
                  <a:gd name="T10" fmla="*/ 1 w 543"/>
                  <a:gd name="T11" fmla="*/ 1 h 672"/>
                  <a:gd name="T12" fmla="*/ 1 w 543"/>
                  <a:gd name="T13" fmla="*/ 1 h 672"/>
                  <a:gd name="T14" fmla="*/ 1 w 543"/>
                  <a:gd name="T15" fmla="*/ 1 h 672"/>
                  <a:gd name="T16" fmla="*/ 1 w 543"/>
                  <a:gd name="T17" fmla="*/ 1 h 672"/>
                  <a:gd name="T18" fmla="*/ 1 w 543"/>
                  <a:gd name="T19" fmla="*/ 1 h 672"/>
                  <a:gd name="T20" fmla="*/ 1 w 543"/>
                  <a:gd name="T21" fmla="*/ 1 h 672"/>
                  <a:gd name="T22" fmla="*/ 1 w 543"/>
                  <a:gd name="T23" fmla="*/ 1 h 672"/>
                  <a:gd name="T24" fmla="*/ 1 w 543"/>
                  <a:gd name="T25" fmla="*/ 1 h 672"/>
                  <a:gd name="T26" fmla="*/ 1 w 543"/>
                  <a:gd name="T27" fmla="*/ 1 h 672"/>
                  <a:gd name="T28" fmla="*/ 1 w 543"/>
                  <a:gd name="T29" fmla="*/ 1 h 672"/>
                  <a:gd name="T30" fmla="*/ 1 w 543"/>
                  <a:gd name="T31" fmla="*/ 1 h 672"/>
                  <a:gd name="T32" fmla="*/ 1 w 543"/>
                  <a:gd name="T33" fmla="*/ 1 h 672"/>
                  <a:gd name="T34" fmla="*/ 1 w 543"/>
                  <a:gd name="T35" fmla="*/ 1 h 672"/>
                  <a:gd name="T36" fmla="*/ 1 w 543"/>
                  <a:gd name="T37" fmla="*/ 1 h 672"/>
                  <a:gd name="T38" fmla="*/ 1 w 543"/>
                  <a:gd name="T39" fmla="*/ 1 h 672"/>
                  <a:gd name="T40" fmla="*/ 1 w 543"/>
                  <a:gd name="T41" fmla="*/ 1 h 672"/>
                  <a:gd name="T42" fmla="*/ 1 w 543"/>
                  <a:gd name="T43" fmla="*/ 1 h 672"/>
                  <a:gd name="T44" fmla="*/ 1 w 543"/>
                  <a:gd name="T45" fmla="*/ 0 h 672"/>
                  <a:gd name="T46" fmla="*/ 1 w 543"/>
                  <a:gd name="T47" fmla="*/ 1 h 672"/>
                  <a:gd name="T48" fmla="*/ 1 w 543"/>
                  <a:gd name="T49" fmla="*/ 1 h 672"/>
                  <a:gd name="T50" fmla="*/ 1 w 543"/>
                  <a:gd name="T51" fmla="*/ 1 h 672"/>
                  <a:gd name="T52" fmla="*/ 1 w 543"/>
                  <a:gd name="T53" fmla="*/ 1 h 672"/>
                  <a:gd name="T54" fmla="*/ 1 w 543"/>
                  <a:gd name="T55" fmla="*/ 1 h 672"/>
                  <a:gd name="T56" fmla="*/ 1 w 543"/>
                  <a:gd name="T57" fmla="*/ 1 h 672"/>
                  <a:gd name="T58" fmla="*/ 1 w 543"/>
                  <a:gd name="T59" fmla="*/ 1 h 672"/>
                  <a:gd name="T60" fmla="*/ 1 w 543"/>
                  <a:gd name="T61" fmla="*/ 1 h 672"/>
                  <a:gd name="T62" fmla="*/ 1 w 543"/>
                  <a:gd name="T63" fmla="*/ 1 h 672"/>
                  <a:gd name="T64" fmla="*/ 1 w 543"/>
                  <a:gd name="T65" fmla="*/ 1 h 672"/>
                  <a:gd name="T66" fmla="*/ 1 w 543"/>
                  <a:gd name="T67" fmla="*/ 1 h 672"/>
                  <a:gd name="T68" fmla="*/ 1 w 543"/>
                  <a:gd name="T69" fmla="*/ 1 h 672"/>
                  <a:gd name="T70" fmla="*/ 1 w 543"/>
                  <a:gd name="T71" fmla="*/ 1 h 672"/>
                  <a:gd name="T72" fmla="*/ 1 w 543"/>
                  <a:gd name="T73" fmla="*/ 1 h 672"/>
                  <a:gd name="T74" fmla="*/ 1 w 543"/>
                  <a:gd name="T75" fmla="*/ 1 h 672"/>
                  <a:gd name="T76" fmla="*/ 1 w 543"/>
                  <a:gd name="T77" fmla="*/ 1 h 672"/>
                  <a:gd name="T78" fmla="*/ 1 w 543"/>
                  <a:gd name="T79" fmla="*/ 1 h 672"/>
                  <a:gd name="T80" fmla="*/ 1 w 543"/>
                  <a:gd name="T81" fmla="*/ 1 h 672"/>
                  <a:gd name="T82" fmla="*/ 1 w 543"/>
                  <a:gd name="T83" fmla="*/ 1 h 672"/>
                  <a:gd name="T84" fmla="*/ 1 w 543"/>
                  <a:gd name="T85" fmla="*/ 1 h 672"/>
                  <a:gd name="T86" fmla="*/ 1 w 543"/>
                  <a:gd name="T87" fmla="*/ 1 h 672"/>
                  <a:gd name="T88" fmla="*/ 1 w 543"/>
                  <a:gd name="T89" fmla="*/ 1 h 672"/>
                  <a:gd name="T90" fmla="*/ 1 w 543"/>
                  <a:gd name="T91" fmla="*/ 1 h 672"/>
                  <a:gd name="T92" fmla="*/ 0 w 543"/>
                  <a:gd name="T93" fmla="*/ 1 h 672"/>
                  <a:gd name="T94" fmla="*/ 0 w 543"/>
                  <a:gd name="T95" fmla="*/ 1 h 672"/>
                  <a:gd name="T96" fmla="*/ 1 w 543"/>
                  <a:gd name="T97" fmla="*/ 1 h 672"/>
                  <a:gd name="T98" fmla="*/ 1 w 543"/>
                  <a:gd name="T99" fmla="*/ 1 h 672"/>
                  <a:gd name="T100" fmla="*/ 1 w 543"/>
                  <a:gd name="T101" fmla="*/ 1 h 672"/>
                  <a:gd name="T102" fmla="*/ 1 w 543"/>
                  <a:gd name="T103" fmla="*/ 1 h 672"/>
                  <a:gd name="T104" fmla="*/ 1 w 543"/>
                  <a:gd name="T105" fmla="*/ 1 h 672"/>
                  <a:gd name="T106" fmla="*/ 1 w 543"/>
                  <a:gd name="T107" fmla="*/ 1 h 672"/>
                  <a:gd name="T108" fmla="*/ 1 w 543"/>
                  <a:gd name="T109" fmla="*/ 1 h 672"/>
                  <a:gd name="T110" fmla="*/ 1 w 543"/>
                  <a:gd name="T111" fmla="*/ 1 h 672"/>
                  <a:gd name="T112" fmla="*/ 1 w 543"/>
                  <a:gd name="T113" fmla="*/ 1 h 672"/>
                  <a:gd name="T114" fmla="*/ 1 w 543"/>
                  <a:gd name="T115" fmla="*/ 1 h 672"/>
                  <a:gd name="T116" fmla="*/ 1 w 543"/>
                  <a:gd name="T117" fmla="*/ 1 h 672"/>
                  <a:gd name="T118" fmla="*/ 1 w 543"/>
                  <a:gd name="T119" fmla="*/ 1 h 672"/>
                  <a:gd name="T120" fmla="*/ 1 w 543"/>
                  <a:gd name="T121" fmla="*/ 1 h 67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3"/>
                  <a:gd name="T184" fmla="*/ 0 h 672"/>
                  <a:gd name="T185" fmla="*/ 543 w 543"/>
                  <a:gd name="T186" fmla="*/ 672 h 67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3" h="672">
                    <a:moveTo>
                      <a:pt x="343" y="431"/>
                    </a:moveTo>
                    <a:lnTo>
                      <a:pt x="329" y="424"/>
                    </a:lnTo>
                    <a:lnTo>
                      <a:pt x="316" y="417"/>
                    </a:lnTo>
                    <a:lnTo>
                      <a:pt x="307" y="410"/>
                    </a:lnTo>
                    <a:lnTo>
                      <a:pt x="301" y="403"/>
                    </a:lnTo>
                    <a:lnTo>
                      <a:pt x="298" y="396"/>
                    </a:lnTo>
                    <a:lnTo>
                      <a:pt x="296" y="392"/>
                    </a:lnTo>
                    <a:lnTo>
                      <a:pt x="296" y="390"/>
                    </a:lnTo>
                    <a:lnTo>
                      <a:pt x="291" y="266"/>
                    </a:lnTo>
                    <a:lnTo>
                      <a:pt x="293" y="265"/>
                    </a:lnTo>
                    <a:lnTo>
                      <a:pt x="299" y="260"/>
                    </a:lnTo>
                    <a:lnTo>
                      <a:pt x="305" y="254"/>
                    </a:lnTo>
                    <a:lnTo>
                      <a:pt x="313" y="248"/>
                    </a:lnTo>
                    <a:lnTo>
                      <a:pt x="321" y="241"/>
                    </a:lnTo>
                    <a:lnTo>
                      <a:pt x="327" y="237"/>
                    </a:lnTo>
                    <a:lnTo>
                      <a:pt x="331" y="234"/>
                    </a:lnTo>
                    <a:lnTo>
                      <a:pt x="331" y="235"/>
                    </a:lnTo>
                    <a:lnTo>
                      <a:pt x="321" y="243"/>
                    </a:lnTo>
                    <a:lnTo>
                      <a:pt x="309" y="254"/>
                    </a:lnTo>
                    <a:lnTo>
                      <a:pt x="296" y="263"/>
                    </a:lnTo>
                    <a:lnTo>
                      <a:pt x="291" y="266"/>
                    </a:lnTo>
                    <a:lnTo>
                      <a:pt x="257" y="266"/>
                    </a:lnTo>
                    <a:lnTo>
                      <a:pt x="255" y="263"/>
                    </a:lnTo>
                    <a:lnTo>
                      <a:pt x="251" y="257"/>
                    </a:lnTo>
                    <a:lnTo>
                      <a:pt x="246" y="249"/>
                    </a:lnTo>
                    <a:lnTo>
                      <a:pt x="240" y="241"/>
                    </a:lnTo>
                    <a:lnTo>
                      <a:pt x="233" y="230"/>
                    </a:lnTo>
                    <a:lnTo>
                      <a:pt x="229" y="218"/>
                    </a:lnTo>
                    <a:lnTo>
                      <a:pt x="224" y="205"/>
                    </a:lnTo>
                    <a:lnTo>
                      <a:pt x="222" y="201"/>
                    </a:lnTo>
                    <a:lnTo>
                      <a:pt x="224" y="198"/>
                    </a:lnTo>
                    <a:lnTo>
                      <a:pt x="230" y="187"/>
                    </a:lnTo>
                    <a:lnTo>
                      <a:pt x="240" y="174"/>
                    </a:lnTo>
                    <a:lnTo>
                      <a:pt x="251" y="160"/>
                    </a:lnTo>
                    <a:lnTo>
                      <a:pt x="258" y="151"/>
                    </a:lnTo>
                    <a:lnTo>
                      <a:pt x="266" y="138"/>
                    </a:lnTo>
                    <a:lnTo>
                      <a:pt x="277" y="124"/>
                    </a:lnTo>
                    <a:lnTo>
                      <a:pt x="287" y="107"/>
                    </a:lnTo>
                    <a:lnTo>
                      <a:pt x="298" y="93"/>
                    </a:lnTo>
                    <a:lnTo>
                      <a:pt x="307" y="79"/>
                    </a:lnTo>
                    <a:lnTo>
                      <a:pt x="315" y="68"/>
                    </a:lnTo>
                    <a:lnTo>
                      <a:pt x="321" y="60"/>
                    </a:lnTo>
                    <a:lnTo>
                      <a:pt x="334" y="52"/>
                    </a:lnTo>
                    <a:lnTo>
                      <a:pt x="346" y="47"/>
                    </a:lnTo>
                    <a:lnTo>
                      <a:pt x="357" y="46"/>
                    </a:lnTo>
                    <a:lnTo>
                      <a:pt x="362" y="46"/>
                    </a:lnTo>
                    <a:lnTo>
                      <a:pt x="365" y="47"/>
                    </a:lnTo>
                    <a:lnTo>
                      <a:pt x="371" y="49"/>
                    </a:lnTo>
                    <a:lnTo>
                      <a:pt x="382" y="52"/>
                    </a:lnTo>
                    <a:lnTo>
                      <a:pt x="393" y="54"/>
                    </a:lnTo>
                    <a:lnTo>
                      <a:pt x="399" y="54"/>
                    </a:lnTo>
                    <a:lnTo>
                      <a:pt x="409" y="54"/>
                    </a:lnTo>
                    <a:lnTo>
                      <a:pt x="418" y="52"/>
                    </a:lnTo>
                    <a:lnTo>
                      <a:pt x="428" y="51"/>
                    </a:lnTo>
                    <a:lnTo>
                      <a:pt x="437" y="49"/>
                    </a:lnTo>
                    <a:lnTo>
                      <a:pt x="448" y="46"/>
                    </a:lnTo>
                    <a:lnTo>
                      <a:pt x="457" y="44"/>
                    </a:lnTo>
                    <a:lnTo>
                      <a:pt x="465" y="41"/>
                    </a:lnTo>
                    <a:lnTo>
                      <a:pt x="478" y="35"/>
                    </a:lnTo>
                    <a:lnTo>
                      <a:pt x="487" y="29"/>
                    </a:lnTo>
                    <a:lnTo>
                      <a:pt x="492" y="24"/>
                    </a:lnTo>
                    <a:lnTo>
                      <a:pt x="493" y="22"/>
                    </a:lnTo>
                    <a:lnTo>
                      <a:pt x="492" y="19"/>
                    </a:lnTo>
                    <a:lnTo>
                      <a:pt x="489" y="13"/>
                    </a:lnTo>
                    <a:lnTo>
                      <a:pt x="486" y="5"/>
                    </a:lnTo>
                    <a:lnTo>
                      <a:pt x="487" y="2"/>
                    </a:lnTo>
                    <a:lnTo>
                      <a:pt x="490" y="0"/>
                    </a:lnTo>
                    <a:lnTo>
                      <a:pt x="496" y="0"/>
                    </a:lnTo>
                    <a:lnTo>
                      <a:pt x="503" y="2"/>
                    </a:lnTo>
                    <a:lnTo>
                      <a:pt x="511" y="2"/>
                    </a:lnTo>
                    <a:lnTo>
                      <a:pt x="517" y="4"/>
                    </a:lnTo>
                    <a:lnTo>
                      <a:pt x="525" y="5"/>
                    </a:lnTo>
                    <a:lnTo>
                      <a:pt x="531" y="7"/>
                    </a:lnTo>
                    <a:lnTo>
                      <a:pt x="536" y="8"/>
                    </a:lnTo>
                    <a:lnTo>
                      <a:pt x="539" y="15"/>
                    </a:lnTo>
                    <a:lnTo>
                      <a:pt x="540" y="25"/>
                    </a:lnTo>
                    <a:lnTo>
                      <a:pt x="542" y="41"/>
                    </a:lnTo>
                    <a:lnTo>
                      <a:pt x="543" y="58"/>
                    </a:lnTo>
                    <a:lnTo>
                      <a:pt x="543" y="76"/>
                    </a:lnTo>
                    <a:lnTo>
                      <a:pt x="543" y="91"/>
                    </a:lnTo>
                    <a:lnTo>
                      <a:pt x="543" y="101"/>
                    </a:lnTo>
                    <a:lnTo>
                      <a:pt x="543" y="105"/>
                    </a:lnTo>
                    <a:lnTo>
                      <a:pt x="543" y="110"/>
                    </a:lnTo>
                    <a:lnTo>
                      <a:pt x="543" y="121"/>
                    </a:lnTo>
                    <a:lnTo>
                      <a:pt x="543" y="138"/>
                    </a:lnTo>
                    <a:lnTo>
                      <a:pt x="542" y="162"/>
                    </a:lnTo>
                    <a:lnTo>
                      <a:pt x="540" y="190"/>
                    </a:lnTo>
                    <a:lnTo>
                      <a:pt x="539" y="219"/>
                    </a:lnTo>
                    <a:lnTo>
                      <a:pt x="536" y="252"/>
                    </a:lnTo>
                    <a:lnTo>
                      <a:pt x="531" y="287"/>
                    </a:lnTo>
                    <a:lnTo>
                      <a:pt x="526" y="321"/>
                    </a:lnTo>
                    <a:lnTo>
                      <a:pt x="520" y="356"/>
                    </a:lnTo>
                    <a:lnTo>
                      <a:pt x="512" y="387"/>
                    </a:lnTo>
                    <a:lnTo>
                      <a:pt x="504" y="417"/>
                    </a:lnTo>
                    <a:lnTo>
                      <a:pt x="493" y="442"/>
                    </a:lnTo>
                    <a:lnTo>
                      <a:pt x="481" y="460"/>
                    </a:lnTo>
                    <a:lnTo>
                      <a:pt x="467" y="475"/>
                    </a:lnTo>
                    <a:lnTo>
                      <a:pt x="451" y="482"/>
                    </a:lnTo>
                    <a:lnTo>
                      <a:pt x="418" y="489"/>
                    </a:lnTo>
                    <a:lnTo>
                      <a:pt x="387" y="493"/>
                    </a:lnTo>
                    <a:lnTo>
                      <a:pt x="359" y="496"/>
                    </a:lnTo>
                    <a:lnTo>
                      <a:pt x="331" y="498"/>
                    </a:lnTo>
                    <a:lnTo>
                      <a:pt x="305" y="500"/>
                    </a:lnTo>
                    <a:lnTo>
                      <a:pt x="282" y="498"/>
                    </a:lnTo>
                    <a:lnTo>
                      <a:pt x="260" y="495"/>
                    </a:lnTo>
                    <a:lnTo>
                      <a:pt x="240" y="490"/>
                    </a:lnTo>
                    <a:lnTo>
                      <a:pt x="221" y="484"/>
                    </a:lnTo>
                    <a:lnTo>
                      <a:pt x="204" y="479"/>
                    </a:lnTo>
                    <a:lnTo>
                      <a:pt x="186" y="476"/>
                    </a:lnTo>
                    <a:lnTo>
                      <a:pt x="169" y="473"/>
                    </a:lnTo>
                    <a:lnTo>
                      <a:pt x="155" y="471"/>
                    </a:lnTo>
                    <a:lnTo>
                      <a:pt x="144" y="470"/>
                    </a:lnTo>
                    <a:lnTo>
                      <a:pt x="133" y="470"/>
                    </a:lnTo>
                    <a:lnTo>
                      <a:pt x="127" y="470"/>
                    </a:lnTo>
                    <a:lnTo>
                      <a:pt x="119" y="471"/>
                    </a:lnTo>
                    <a:lnTo>
                      <a:pt x="114" y="473"/>
                    </a:lnTo>
                    <a:lnTo>
                      <a:pt x="113" y="475"/>
                    </a:lnTo>
                    <a:lnTo>
                      <a:pt x="113" y="476"/>
                    </a:lnTo>
                    <a:lnTo>
                      <a:pt x="111" y="489"/>
                    </a:lnTo>
                    <a:lnTo>
                      <a:pt x="118" y="659"/>
                    </a:lnTo>
                    <a:lnTo>
                      <a:pt x="116" y="659"/>
                    </a:lnTo>
                    <a:lnTo>
                      <a:pt x="114" y="662"/>
                    </a:lnTo>
                    <a:lnTo>
                      <a:pt x="110" y="664"/>
                    </a:lnTo>
                    <a:lnTo>
                      <a:pt x="102" y="667"/>
                    </a:lnTo>
                    <a:lnTo>
                      <a:pt x="94" y="669"/>
                    </a:lnTo>
                    <a:lnTo>
                      <a:pt x="83" y="672"/>
                    </a:lnTo>
                    <a:lnTo>
                      <a:pt x="72" y="672"/>
                    </a:lnTo>
                    <a:lnTo>
                      <a:pt x="58" y="672"/>
                    </a:lnTo>
                    <a:lnTo>
                      <a:pt x="35" y="669"/>
                    </a:lnTo>
                    <a:lnTo>
                      <a:pt x="22" y="665"/>
                    </a:lnTo>
                    <a:lnTo>
                      <a:pt x="16" y="664"/>
                    </a:lnTo>
                    <a:lnTo>
                      <a:pt x="14" y="662"/>
                    </a:lnTo>
                    <a:lnTo>
                      <a:pt x="14" y="656"/>
                    </a:lnTo>
                    <a:lnTo>
                      <a:pt x="11" y="642"/>
                    </a:lnTo>
                    <a:lnTo>
                      <a:pt x="10" y="620"/>
                    </a:lnTo>
                    <a:lnTo>
                      <a:pt x="6" y="595"/>
                    </a:lnTo>
                    <a:lnTo>
                      <a:pt x="3" y="567"/>
                    </a:lnTo>
                    <a:lnTo>
                      <a:pt x="2" y="540"/>
                    </a:lnTo>
                    <a:lnTo>
                      <a:pt x="0" y="517"/>
                    </a:lnTo>
                    <a:lnTo>
                      <a:pt x="0" y="500"/>
                    </a:lnTo>
                    <a:lnTo>
                      <a:pt x="0" y="485"/>
                    </a:lnTo>
                    <a:lnTo>
                      <a:pt x="0" y="468"/>
                    </a:lnTo>
                    <a:lnTo>
                      <a:pt x="0" y="451"/>
                    </a:lnTo>
                    <a:lnTo>
                      <a:pt x="0" y="434"/>
                    </a:lnTo>
                    <a:lnTo>
                      <a:pt x="2" y="418"/>
                    </a:lnTo>
                    <a:lnTo>
                      <a:pt x="5" y="403"/>
                    </a:lnTo>
                    <a:lnTo>
                      <a:pt x="11" y="390"/>
                    </a:lnTo>
                    <a:lnTo>
                      <a:pt x="20" y="381"/>
                    </a:lnTo>
                    <a:lnTo>
                      <a:pt x="35" y="373"/>
                    </a:lnTo>
                    <a:lnTo>
                      <a:pt x="55" y="367"/>
                    </a:lnTo>
                    <a:lnTo>
                      <a:pt x="78" y="360"/>
                    </a:lnTo>
                    <a:lnTo>
                      <a:pt x="108" y="356"/>
                    </a:lnTo>
                    <a:lnTo>
                      <a:pt x="139" y="352"/>
                    </a:lnTo>
                    <a:lnTo>
                      <a:pt x="174" y="352"/>
                    </a:lnTo>
                    <a:lnTo>
                      <a:pt x="212" y="354"/>
                    </a:lnTo>
                    <a:lnTo>
                      <a:pt x="251" y="357"/>
                    </a:lnTo>
                    <a:lnTo>
                      <a:pt x="248" y="357"/>
                    </a:lnTo>
                    <a:lnTo>
                      <a:pt x="241" y="356"/>
                    </a:lnTo>
                    <a:lnTo>
                      <a:pt x="232" y="356"/>
                    </a:lnTo>
                    <a:lnTo>
                      <a:pt x="219" y="354"/>
                    </a:lnTo>
                    <a:lnTo>
                      <a:pt x="205" y="354"/>
                    </a:lnTo>
                    <a:lnTo>
                      <a:pt x="190" y="352"/>
                    </a:lnTo>
                    <a:lnTo>
                      <a:pt x="174" y="352"/>
                    </a:lnTo>
                    <a:lnTo>
                      <a:pt x="158" y="352"/>
                    </a:lnTo>
                    <a:lnTo>
                      <a:pt x="135" y="352"/>
                    </a:lnTo>
                    <a:lnTo>
                      <a:pt x="122" y="354"/>
                    </a:lnTo>
                    <a:lnTo>
                      <a:pt x="118" y="356"/>
                    </a:lnTo>
                    <a:lnTo>
                      <a:pt x="116" y="356"/>
                    </a:lnTo>
                    <a:lnTo>
                      <a:pt x="113" y="343"/>
                    </a:lnTo>
                    <a:lnTo>
                      <a:pt x="113" y="342"/>
                    </a:lnTo>
                    <a:lnTo>
                      <a:pt x="114" y="335"/>
                    </a:lnTo>
                    <a:lnTo>
                      <a:pt x="121" y="327"/>
                    </a:lnTo>
                    <a:lnTo>
                      <a:pt x="135" y="321"/>
                    </a:lnTo>
                    <a:lnTo>
                      <a:pt x="149" y="318"/>
                    </a:lnTo>
                    <a:lnTo>
                      <a:pt x="168" y="315"/>
                    </a:lnTo>
                    <a:lnTo>
                      <a:pt x="191" y="310"/>
                    </a:lnTo>
                    <a:lnTo>
                      <a:pt x="216" y="307"/>
                    </a:lnTo>
                    <a:lnTo>
                      <a:pt x="241" y="304"/>
                    </a:lnTo>
                    <a:lnTo>
                      <a:pt x="263" y="301"/>
                    </a:lnTo>
                    <a:lnTo>
                      <a:pt x="280" y="299"/>
                    </a:lnTo>
                    <a:lnTo>
                      <a:pt x="291" y="299"/>
                    </a:lnTo>
                    <a:lnTo>
                      <a:pt x="343" y="431"/>
                    </a:lnTo>
                    <a:close/>
                  </a:path>
                </a:pathLst>
              </a:custGeom>
              <a:solidFill>
                <a:srgbClr val="00FFB2"/>
              </a:solidFill>
              <a:ln w="9525">
                <a:noFill/>
                <a:round/>
                <a:headEnd/>
                <a:tailEnd/>
              </a:ln>
            </p:spPr>
            <p:txBody>
              <a:bodyPr/>
              <a:lstStyle/>
              <a:p>
                <a:endParaRPr lang="en-US"/>
              </a:p>
            </p:txBody>
          </p:sp>
          <p:sp>
            <p:nvSpPr>
              <p:cNvPr id="28818" name="Freeform 108"/>
              <p:cNvSpPr>
                <a:spLocks/>
              </p:cNvSpPr>
              <p:nvPr/>
            </p:nvSpPr>
            <p:spPr bwMode="auto">
              <a:xfrm>
                <a:off x="2136" y="3703"/>
                <a:ext cx="27" cy="23"/>
              </a:xfrm>
              <a:custGeom>
                <a:avLst/>
                <a:gdLst>
                  <a:gd name="T0" fmla="*/ 0 w 55"/>
                  <a:gd name="T1" fmla="*/ 1 h 46"/>
                  <a:gd name="T2" fmla="*/ 0 w 55"/>
                  <a:gd name="T3" fmla="*/ 1 h 46"/>
                  <a:gd name="T4" fmla="*/ 0 w 55"/>
                  <a:gd name="T5" fmla="*/ 1 h 46"/>
                  <a:gd name="T6" fmla="*/ 0 w 55"/>
                  <a:gd name="T7" fmla="*/ 1 h 46"/>
                  <a:gd name="T8" fmla="*/ 0 w 55"/>
                  <a:gd name="T9" fmla="*/ 1 h 46"/>
                  <a:gd name="T10" fmla="*/ 0 w 55"/>
                  <a:gd name="T11" fmla="*/ 1 h 46"/>
                  <a:gd name="T12" fmla="*/ 0 w 55"/>
                  <a:gd name="T13" fmla="*/ 1 h 46"/>
                  <a:gd name="T14" fmla="*/ 0 w 55"/>
                  <a:gd name="T15" fmla="*/ 1 h 46"/>
                  <a:gd name="T16" fmla="*/ 0 w 55"/>
                  <a:gd name="T17" fmla="*/ 1 h 46"/>
                  <a:gd name="T18" fmla="*/ 0 w 55"/>
                  <a:gd name="T19" fmla="*/ 1 h 46"/>
                  <a:gd name="T20" fmla="*/ 0 w 55"/>
                  <a:gd name="T21" fmla="*/ 0 h 46"/>
                  <a:gd name="T22" fmla="*/ 0 w 55"/>
                  <a:gd name="T23" fmla="*/ 1 h 46"/>
                  <a:gd name="T24" fmla="*/ 0 w 55"/>
                  <a:gd name="T25" fmla="*/ 1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46"/>
                  <a:gd name="T41" fmla="*/ 55 w 55"/>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46">
                    <a:moveTo>
                      <a:pt x="0" y="11"/>
                    </a:moveTo>
                    <a:lnTo>
                      <a:pt x="0" y="13"/>
                    </a:lnTo>
                    <a:lnTo>
                      <a:pt x="8" y="22"/>
                    </a:lnTo>
                    <a:lnTo>
                      <a:pt x="19" y="30"/>
                    </a:lnTo>
                    <a:lnTo>
                      <a:pt x="33" y="38"/>
                    </a:lnTo>
                    <a:lnTo>
                      <a:pt x="49" y="46"/>
                    </a:lnTo>
                    <a:lnTo>
                      <a:pt x="55" y="24"/>
                    </a:lnTo>
                    <a:lnTo>
                      <a:pt x="43" y="19"/>
                    </a:lnTo>
                    <a:lnTo>
                      <a:pt x="32" y="11"/>
                    </a:lnTo>
                    <a:lnTo>
                      <a:pt x="24" y="7"/>
                    </a:lnTo>
                    <a:lnTo>
                      <a:pt x="19" y="0"/>
                    </a:lnTo>
                    <a:lnTo>
                      <a:pt x="19" y="2"/>
                    </a:lnTo>
                    <a:lnTo>
                      <a:pt x="0" y="11"/>
                    </a:lnTo>
                    <a:close/>
                  </a:path>
                </a:pathLst>
              </a:custGeom>
              <a:solidFill>
                <a:srgbClr val="000000"/>
              </a:solidFill>
              <a:ln w="9525">
                <a:noFill/>
                <a:round/>
                <a:headEnd/>
                <a:tailEnd/>
              </a:ln>
            </p:spPr>
            <p:txBody>
              <a:bodyPr/>
              <a:lstStyle/>
              <a:p>
                <a:endParaRPr lang="en-US"/>
              </a:p>
            </p:txBody>
          </p:sp>
          <p:sp>
            <p:nvSpPr>
              <p:cNvPr id="28819" name="Freeform 109"/>
              <p:cNvSpPr>
                <a:spLocks/>
              </p:cNvSpPr>
              <p:nvPr/>
            </p:nvSpPr>
            <p:spPr bwMode="auto">
              <a:xfrm>
                <a:off x="2133" y="3695"/>
                <a:ext cx="12" cy="14"/>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1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0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0" y="11"/>
                    </a:moveTo>
                    <a:lnTo>
                      <a:pt x="3" y="3"/>
                    </a:lnTo>
                    <a:lnTo>
                      <a:pt x="0" y="11"/>
                    </a:lnTo>
                    <a:lnTo>
                      <a:pt x="0" y="16"/>
                    </a:lnTo>
                    <a:lnTo>
                      <a:pt x="3" y="22"/>
                    </a:lnTo>
                    <a:lnTo>
                      <a:pt x="6" y="28"/>
                    </a:lnTo>
                    <a:lnTo>
                      <a:pt x="25" y="19"/>
                    </a:lnTo>
                    <a:lnTo>
                      <a:pt x="22" y="13"/>
                    </a:lnTo>
                    <a:lnTo>
                      <a:pt x="22" y="9"/>
                    </a:lnTo>
                    <a:lnTo>
                      <a:pt x="22" y="11"/>
                    </a:lnTo>
                    <a:lnTo>
                      <a:pt x="19" y="19"/>
                    </a:lnTo>
                    <a:lnTo>
                      <a:pt x="22" y="11"/>
                    </a:lnTo>
                    <a:lnTo>
                      <a:pt x="19" y="19"/>
                    </a:lnTo>
                    <a:lnTo>
                      <a:pt x="22" y="11"/>
                    </a:lnTo>
                    <a:lnTo>
                      <a:pt x="19" y="3"/>
                    </a:lnTo>
                    <a:lnTo>
                      <a:pt x="11" y="0"/>
                    </a:lnTo>
                    <a:lnTo>
                      <a:pt x="3" y="3"/>
                    </a:lnTo>
                    <a:lnTo>
                      <a:pt x="0" y="11"/>
                    </a:lnTo>
                    <a:close/>
                  </a:path>
                </a:pathLst>
              </a:custGeom>
              <a:solidFill>
                <a:srgbClr val="000000"/>
              </a:solidFill>
              <a:ln w="9525">
                <a:noFill/>
                <a:round/>
                <a:headEnd/>
                <a:tailEnd/>
              </a:ln>
            </p:spPr>
            <p:txBody>
              <a:bodyPr/>
              <a:lstStyle/>
              <a:p>
                <a:endParaRPr lang="en-US"/>
              </a:p>
            </p:txBody>
          </p:sp>
          <p:sp>
            <p:nvSpPr>
              <p:cNvPr id="28820" name="Freeform 110"/>
              <p:cNvSpPr>
                <a:spLocks/>
              </p:cNvSpPr>
              <p:nvPr/>
            </p:nvSpPr>
            <p:spPr bwMode="auto">
              <a:xfrm>
                <a:off x="2130" y="3633"/>
                <a:ext cx="14" cy="67"/>
              </a:xfrm>
              <a:custGeom>
                <a:avLst/>
                <a:gdLst>
                  <a:gd name="T0" fmla="*/ 1 w 27"/>
                  <a:gd name="T1" fmla="*/ 0 h 135"/>
                  <a:gd name="T2" fmla="*/ 0 w 27"/>
                  <a:gd name="T3" fmla="*/ 0 h 135"/>
                  <a:gd name="T4" fmla="*/ 1 w 27"/>
                  <a:gd name="T5" fmla="*/ 0 h 135"/>
                  <a:gd name="T6" fmla="*/ 1 w 27"/>
                  <a:gd name="T7" fmla="*/ 0 h 135"/>
                  <a:gd name="T8" fmla="*/ 1 w 27"/>
                  <a:gd name="T9" fmla="*/ 0 h 135"/>
                  <a:gd name="T10" fmla="*/ 1 w 27"/>
                  <a:gd name="T11" fmla="*/ 0 h 135"/>
                  <a:gd name="T12" fmla="*/ 1 w 27"/>
                  <a:gd name="T13" fmla="*/ 0 h 135"/>
                  <a:gd name="T14" fmla="*/ 1 w 27"/>
                  <a:gd name="T15" fmla="*/ 0 h 135"/>
                  <a:gd name="T16" fmla="*/ 1 w 27"/>
                  <a:gd name="T17" fmla="*/ 0 h 135"/>
                  <a:gd name="T18" fmla="*/ 1 w 27"/>
                  <a:gd name="T19" fmla="*/ 0 h 135"/>
                  <a:gd name="T20" fmla="*/ 0 w 27"/>
                  <a:gd name="T21" fmla="*/ 0 h 135"/>
                  <a:gd name="T22" fmla="*/ 1 w 27"/>
                  <a:gd name="T23" fmla="*/ 0 h 1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35"/>
                  <a:gd name="T38" fmla="*/ 27 w 27"/>
                  <a:gd name="T39" fmla="*/ 135 h 1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35">
                    <a:moveTo>
                      <a:pt x="4" y="4"/>
                    </a:moveTo>
                    <a:lnTo>
                      <a:pt x="0" y="11"/>
                    </a:lnTo>
                    <a:lnTo>
                      <a:pt x="5" y="135"/>
                    </a:lnTo>
                    <a:lnTo>
                      <a:pt x="27" y="135"/>
                    </a:lnTo>
                    <a:lnTo>
                      <a:pt x="22" y="11"/>
                    </a:lnTo>
                    <a:lnTo>
                      <a:pt x="19" y="19"/>
                    </a:lnTo>
                    <a:lnTo>
                      <a:pt x="22" y="11"/>
                    </a:lnTo>
                    <a:lnTo>
                      <a:pt x="19" y="4"/>
                    </a:lnTo>
                    <a:lnTo>
                      <a:pt x="11" y="0"/>
                    </a:lnTo>
                    <a:lnTo>
                      <a:pt x="4" y="4"/>
                    </a:lnTo>
                    <a:lnTo>
                      <a:pt x="0" y="11"/>
                    </a:lnTo>
                    <a:lnTo>
                      <a:pt x="4" y="4"/>
                    </a:lnTo>
                    <a:close/>
                  </a:path>
                </a:pathLst>
              </a:custGeom>
              <a:solidFill>
                <a:srgbClr val="000000"/>
              </a:solidFill>
              <a:ln w="9525">
                <a:noFill/>
                <a:round/>
                <a:headEnd/>
                <a:tailEnd/>
              </a:ln>
            </p:spPr>
            <p:txBody>
              <a:bodyPr/>
              <a:lstStyle/>
              <a:p>
                <a:endParaRPr lang="en-US"/>
              </a:p>
            </p:txBody>
          </p:sp>
          <p:sp>
            <p:nvSpPr>
              <p:cNvPr id="28821" name="Freeform 111"/>
              <p:cNvSpPr>
                <a:spLocks/>
              </p:cNvSpPr>
              <p:nvPr/>
            </p:nvSpPr>
            <p:spPr bwMode="auto">
              <a:xfrm>
                <a:off x="2132" y="3617"/>
                <a:ext cx="27" cy="25"/>
              </a:xfrm>
              <a:custGeom>
                <a:avLst/>
                <a:gdLst>
                  <a:gd name="T0" fmla="*/ 1 w 54"/>
                  <a:gd name="T1" fmla="*/ 1 h 50"/>
                  <a:gd name="T2" fmla="*/ 1 w 54"/>
                  <a:gd name="T3" fmla="*/ 1 h 50"/>
                  <a:gd name="T4" fmla="*/ 1 w 54"/>
                  <a:gd name="T5" fmla="*/ 0 h 50"/>
                  <a:gd name="T6" fmla="*/ 1 w 54"/>
                  <a:gd name="T7" fmla="*/ 1 h 50"/>
                  <a:gd name="T8" fmla="*/ 1 w 54"/>
                  <a:gd name="T9" fmla="*/ 1 h 50"/>
                  <a:gd name="T10" fmla="*/ 1 w 54"/>
                  <a:gd name="T11" fmla="*/ 1 h 50"/>
                  <a:gd name="T12" fmla="*/ 1 w 54"/>
                  <a:gd name="T13" fmla="*/ 1 h 50"/>
                  <a:gd name="T14" fmla="*/ 1 w 54"/>
                  <a:gd name="T15" fmla="*/ 1 h 50"/>
                  <a:gd name="T16" fmla="*/ 1 w 54"/>
                  <a:gd name="T17" fmla="*/ 1 h 50"/>
                  <a:gd name="T18" fmla="*/ 0 w 54"/>
                  <a:gd name="T19" fmla="*/ 1 h 50"/>
                  <a:gd name="T20" fmla="*/ 1 w 54"/>
                  <a:gd name="T21" fmla="*/ 1 h 50"/>
                  <a:gd name="T22" fmla="*/ 1 w 54"/>
                  <a:gd name="T23" fmla="*/ 1 h 50"/>
                  <a:gd name="T24" fmla="*/ 1 w 54"/>
                  <a:gd name="T25" fmla="*/ 1 h 50"/>
                  <a:gd name="T26" fmla="*/ 1 w 54"/>
                  <a:gd name="T27" fmla="*/ 1 h 50"/>
                  <a:gd name="T28" fmla="*/ 1 w 54"/>
                  <a:gd name="T29" fmla="*/ 1 h 50"/>
                  <a:gd name="T30" fmla="*/ 1 w 54"/>
                  <a:gd name="T31" fmla="*/ 1 h 50"/>
                  <a:gd name="T32" fmla="*/ 1 w 54"/>
                  <a:gd name="T33" fmla="*/ 1 h 50"/>
                  <a:gd name="T34" fmla="*/ 1 w 54"/>
                  <a:gd name="T35" fmla="*/ 1 h 50"/>
                  <a:gd name="T36" fmla="*/ 1 w 54"/>
                  <a:gd name="T37" fmla="*/ 1 h 50"/>
                  <a:gd name="T38" fmla="*/ 1 w 54"/>
                  <a:gd name="T39" fmla="*/ 1 h 50"/>
                  <a:gd name="T40" fmla="*/ 1 w 54"/>
                  <a:gd name="T41" fmla="*/ 1 h 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50"/>
                  <a:gd name="T65" fmla="*/ 54 w 54"/>
                  <a:gd name="T66" fmla="*/ 50 h 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50">
                    <a:moveTo>
                      <a:pt x="54" y="17"/>
                    </a:moveTo>
                    <a:lnTo>
                      <a:pt x="54" y="17"/>
                    </a:lnTo>
                    <a:lnTo>
                      <a:pt x="42" y="0"/>
                    </a:lnTo>
                    <a:lnTo>
                      <a:pt x="37" y="5"/>
                    </a:lnTo>
                    <a:lnTo>
                      <a:pt x="31" y="8"/>
                    </a:lnTo>
                    <a:lnTo>
                      <a:pt x="23" y="16"/>
                    </a:lnTo>
                    <a:lnTo>
                      <a:pt x="14" y="22"/>
                    </a:lnTo>
                    <a:lnTo>
                      <a:pt x="7" y="28"/>
                    </a:lnTo>
                    <a:lnTo>
                      <a:pt x="3" y="33"/>
                    </a:lnTo>
                    <a:lnTo>
                      <a:pt x="0" y="35"/>
                    </a:lnTo>
                    <a:lnTo>
                      <a:pt x="15" y="50"/>
                    </a:lnTo>
                    <a:lnTo>
                      <a:pt x="15" y="49"/>
                    </a:lnTo>
                    <a:lnTo>
                      <a:pt x="23" y="44"/>
                    </a:lnTo>
                    <a:lnTo>
                      <a:pt x="29" y="38"/>
                    </a:lnTo>
                    <a:lnTo>
                      <a:pt x="36" y="31"/>
                    </a:lnTo>
                    <a:lnTo>
                      <a:pt x="43" y="27"/>
                    </a:lnTo>
                    <a:lnTo>
                      <a:pt x="50" y="21"/>
                    </a:lnTo>
                    <a:lnTo>
                      <a:pt x="51" y="19"/>
                    </a:lnTo>
                    <a:lnTo>
                      <a:pt x="39" y="5"/>
                    </a:lnTo>
                    <a:lnTo>
                      <a:pt x="54" y="17"/>
                    </a:lnTo>
                    <a:close/>
                  </a:path>
                </a:pathLst>
              </a:custGeom>
              <a:solidFill>
                <a:srgbClr val="000000"/>
              </a:solidFill>
              <a:ln w="9525">
                <a:noFill/>
                <a:round/>
                <a:headEnd/>
                <a:tailEnd/>
              </a:ln>
            </p:spPr>
            <p:txBody>
              <a:bodyPr/>
              <a:lstStyle/>
              <a:p>
                <a:endParaRPr lang="en-US"/>
              </a:p>
            </p:txBody>
          </p:sp>
          <p:sp>
            <p:nvSpPr>
              <p:cNvPr id="28822" name="Freeform 112"/>
              <p:cNvSpPr>
                <a:spLocks/>
              </p:cNvSpPr>
              <p:nvPr/>
            </p:nvSpPr>
            <p:spPr bwMode="auto">
              <a:xfrm>
                <a:off x="2130" y="3619"/>
                <a:ext cx="29" cy="25"/>
              </a:xfrm>
              <a:custGeom>
                <a:avLst/>
                <a:gdLst>
                  <a:gd name="T0" fmla="*/ 1 w 58"/>
                  <a:gd name="T1" fmla="*/ 1 h 48"/>
                  <a:gd name="T2" fmla="*/ 1 w 58"/>
                  <a:gd name="T3" fmla="*/ 1 h 48"/>
                  <a:gd name="T4" fmla="*/ 1 w 58"/>
                  <a:gd name="T5" fmla="*/ 1 h 48"/>
                  <a:gd name="T6" fmla="*/ 1 w 58"/>
                  <a:gd name="T7" fmla="*/ 1 h 48"/>
                  <a:gd name="T8" fmla="*/ 1 w 58"/>
                  <a:gd name="T9" fmla="*/ 1 h 48"/>
                  <a:gd name="T10" fmla="*/ 1 w 58"/>
                  <a:gd name="T11" fmla="*/ 1 h 48"/>
                  <a:gd name="T12" fmla="*/ 1 w 58"/>
                  <a:gd name="T13" fmla="*/ 0 h 48"/>
                  <a:gd name="T14" fmla="*/ 1 w 58"/>
                  <a:gd name="T15" fmla="*/ 1 h 48"/>
                  <a:gd name="T16" fmla="*/ 1 w 58"/>
                  <a:gd name="T17" fmla="*/ 1 h 48"/>
                  <a:gd name="T18" fmla="*/ 1 w 58"/>
                  <a:gd name="T19" fmla="*/ 1 h 48"/>
                  <a:gd name="T20" fmla="*/ 1 w 58"/>
                  <a:gd name="T21" fmla="*/ 1 h 48"/>
                  <a:gd name="T22" fmla="*/ 1 w 58"/>
                  <a:gd name="T23" fmla="*/ 1 h 48"/>
                  <a:gd name="T24" fmla="*/ 1 w 58"/>
                  <a:gd name="T25" fmla="*/ 1 h 48"/>
                  <a:gd name="T26" fmla="*/ 0 w 58"/>
                  <a:gd name="T27" fmla="*/ 1 h 48"/>
                  <a:gd name="T28" fmla="*/ 1 w 58"/>
                  <a:gd name="T29" fmla="*/ 1 h 48"/>
                  <a:gd name="T30" fmla="*/ 1 w 58"/>
                  <a:gd name="T31" fmla="*/ 1 h 48"/>
                  <a:gd name="T32" fmla="*/ 1 w 58"/>
                  <a:gd name="T33" fmla="*/ 1 h 48"/>
                  <a:gd name="T34" fmla="*/ 1 w 58"/>
                  <a:gd name="T35" fmla="*/ 1 h 4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8"/>
                  <a:gd name="T55" fmla="*/ 0 h 48"/>
                  <a:gd name="T56" fmla="*/ 58 w 58"/>
                  <a:gd name="T57" fmla="*/ 48 h 4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8" h="48">
                    <a:moveTo>
                      <a:pt x="11" y="48"/>
                    </a:moveTo>
                    <a:lnTo>
                      <a:pt x="18" y="47"/>
                    </a:lnTo>
                    <a:lnTo>
                      <a:pt x="22" y="44"/>
                    </a:lnTo>
                    <a:lnTo>
                      <a:pt x="35" y="33"/>
                    </a:lnTo>
                    <a:lnTo>
                      <a:pt x="49" y="22"/>
                    </a:lnTo>
                    <a:lnTo>
                      <a:pt x="58" y="12"/>
                    </a:lnTo>
                    <a:lnTo>
                      <a:pt x="43" y="0"/>
                    </a:lnTo>
                    <a:lnTo>
                      <a:pt x="33" y="6"/>
                    </a:lnTo>
                    <a:lnTo>
                      <a:pt x="22" y="17"/>
                    </a:lnTo>
                    <a:lnTo>
                      <a:pt x="10" y="25"/>
                    </a:lnTo>
                    <a:lnTo>
                      <a:pt x="5" y="28"/>
                    </a:lnTo>
                    <a:lnTo>
                      <a:pt x="11" y="26"/>
                    </a:lnTo>
                    <a:lnTo>
                      <a:pt x="5" y="28"/>
                    </a:lnTo>
                    <a:lnTo>
                      <a:pt x="0" y="36"/>
                    </a:lnTo>
                    <a:lnTo>
                      <a:pt x="2" y="44"/>
                    </a:lnTo>
                    <a:lnTo>
                      <a:pt x="8" y="48"/>
                    </a:lnTo>
                    <a:lnTo>
                      <a:pt x="18" y="47"/>
                    </a:lnTo>
                    <a:lnTo>
                      <a:pt x="11" y="48"/>
                    </a:lnTo>
                    <a:close/>
                  </a:path>
                </a:pathLst>
              </a:custGeom>
              <a:solidFill>
                <a:srgbClr val="000000"/>
              </a:solidFill>
              <a:ln w="9525">
                <a:noFill/>
                <a:round/>
                <a:headEnd/>
                <a:tailEnd/>
              </a:ln>
            </p:spPr>
            <p:txBody>
              <a:bodyPr/>
              <a:lstStyle/>
              <a:p>
                <a:endParaRPr lang="en-US"/>
              </a:p>
            </p:txBody>
          </p:sp>
          <p:sp>
            <p:nvSpPr>
              <p:cNvPr id="28823" name="Freeform 113"/>
              <p:cNvSpPr>
                <a:spLocks/>
              </p:cNvSpPr>
              <p:nvPr/>
            </p:nvSpPr>
            <p:spPr bwMode="auto">
              <a:xfrm>
                <a:off x="2113" y="3633"/>
                <a:ext cx="23" cy="11"/>
              </a:xfrm>
              <a:custGeom>
                <a:avLst/>
                <a:gdLst>
                  <a:gd name="T0" fmla="*/ 1 w 45"/>
                  <a:gd name="T1" fmla="*/ 1 h 22"/>
                  <a:gd name="T2" fmla="*/ 1 w 45"/>
                  <a:gd name="T3" fmla="*/ 1 h 22"/>
                  <a:gd name="T4" fmla="*/ 1 w 45"/>
                  <a:gd name="T5" fmla="*/ 1 h 22"/>
                  <a:gd name="T6" fmla="*/ 1 w 45"/>
                  <a:gd name="T7" fmla="*/ 0 h 22"/>
                  <a:gd name="T8" fmla="*/ 1 w 45"/>
                  <a:gd name="T9" fmla="*/ 0 h 22"/>
                  <a:gd name="T10" fmla="*/ 1 w 45"/>
                  <a:gd name="T11" fmla="*/ 1 h 22"/>
                  <a:gd name="T12" fmla="*/ 1 w 45"/>
                  <a:gd name="T13" fmla="*/ 0 h 22"/>
                  <a:gd name="T14" fmla="*/ 1 w 45"/>
                  <a:gd name="T15" fmla="*/ 1 h 22"/>
                  <a:gd name="T16" fmla="*/ 0 w 45"/>
                  <a:gd name="T17" fmla="*/ 1 h 22"/>
                  <a:gd name="T18" fmla="*/ 1 w 45"/>
                  <a:gd name="T19" fmla="*/ 1 h 22"/>
                  <a:gd name="T20" fmla="*/ 1 w 45"/>
                  <a:gd name="T21" fmla="*/ 1 h 22"/>
                  <a:gd name="T22" fmla="*/ 1 w 45"/>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5"/>
                  <a:gd name="T37" fmla="*/ 0 h 22"/>
                  <a:gd name="T38" fmla="*/ 45 w 45"/>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5" h="22">
                    <a:moveTo>
                      <a:pt x="2" y="18"/>
                    </a:moveTo>
                    <a:lnTo>
                      <a:pt x="11" y="22"/>
                    </a:lnTo>
                    <a:lnTo>
                      <a:pt x="45" y="22"/>
                    </a:lnTo>
                    <a:lnTo>
                      <a:pt x="45" y="0"/>
                    </a:lnTo>
                    <a:lnTo>
                      <a:pt x="11" y="0"/>
                    </a:lnTo>
                    <a:lnTo>
                      <a:pt x="20" y="5"/>
                    </a:lnTo>
                    <a:lnTo>
                      <a:pt x="11" y="0"/>
                    </a:lnTo>
                    <a:lnTo>
                      <a:pt x="3" y="4"/>
                    </a:lnTo>
                    <a:lnTo>
                      <a:pt x="0" y="11"/>
                    </a:lnTo>
                    <a:lnTo>
                      <a:pt x="3" y="19"/>
                    </a:lnTo>
                    <a:lnTo>
                      <a:pt x="11" y="22"/>
                    </a:lnTo>
                    <a:lnTo>
                      <a:pt x="2" y="18"/>
                    </a:lnTo>
                    <a:close/>
                  </a:path>
                </a:pathLst>
              </a:custGeom>
              <a:solidFill>
                <a:srgbClr val="000000"/>
              </a:solidFill>
              <a:ln w="9525">
                <a:noFill/>
                <a:round/>
                <a:headEnd/>
                <a:tailEnd/>
              </a:ln>
            </p:spPr>
            <p:txBody>
              <a:bodyPr/>
              <a:lstStyle/>
              <a:p>
                <a:endParaRPr lang="en-US"/>
              </a:p>
            </p:txBody>
          </p:sp>
          <p:sp>
            <p:nvSpPr>
              <p:cNvPr id="28824" name="Freeform 114"/>
              <p:cNvSpPr>
                <a:spLocks/>
              </p:cNvSpPr>
              <p:nvPr/>
            </p:nvSpPr>
            <p:spPr bwMode="auto">
              <a:xfrm>
                <a:off x="2106" y="3623"/>
                <a:ext cx="17" cy="18"/>
              </a:xfrm>
              <a:custGeom>
                <a:avLst/>
                <a:gdLst>
                  <a:gd name="T0" fmla="*/ 0 w 34"/>
                  <a:gd name="T1" fmla="*/ 0 h 38"/>
                  <a:gd name="T2" fmla="*/ 0 w 34"/>
                  <a:gd name="T3" fmla="*/ 0 h 38"/>
                  <a:gd name="T4" fmla="*/ 1 w 34"/>
                  <a:gd name="T5" fmla="*/ 0 h 38"/>
                  <a:gd name="T6" fmla="*/ 1 w 34"/>
                  <a:gd name="T7" fmla="*/ 0 h 38"/>
                  <a:gd name="T8" fmla="*/ 1 w 34"/>
                  <a:gd name="T9" fmla="*/ 0 h 38"/>
                  <a:gd name="T10" fmla="*/ 1 w 34"/>
                  <a:gd name="T11" fmla="*/ 0 h 38"/>
                  <a:gd name="T12" fmla="*/ 1 w 34"/>
                  <a:gd name="T13" fmla="*/ 0 h 38"/>
                  <a:gd name="T14" fmla="*/ 1 w 34"/>
                  <a:gd name="T15" fmla="*/ 0 h 38"/>
                  <a:gd name="T16" fmla="*/ 1 w 34"/>
                  <a:gd name="T17" fmla="*/ 0 h 38"/>
                  <a:gd name="T18" fmla="*/ 1 w 34"/>
                  <a:gd name="T19" fmla="*/ 0 h 38"/>
                  <a:gd name="T20" fmla="*/ 1 w 34"/>
                  <a:gd name="T21" fmla="*/ 0 h 38"/>
                  <a:gd name="T22" fmla="*/ 1 w 34"/>
                  <a:gd name="T23" fmla="*/ 0 h 38"/>
                  <a:gd name="T24" fmla="*/ 0 w 34"/>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38"/>
                  <a:gd name="T41" fmla="*/ 34 w 34"/>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38">
                    <a:moveTo>
                      <a:pt x="0" y="13"/>
                    </a:moveTo>
                    <a:lnTo>
                      <a:pt x="0" y="13"/>
                    </a:lnTo>
                    <a:lnTo>
                      <a:pt x="5" y="20"/>
                    </a:lnTo>
                    <a:lnTo>
                      <a:pt x="9" y="28"/>
                    </a:lnTo>
                    <a:lnTo>
                      <a:pt x="14" y="35"/>
                    </a:lnTo>
                    <a:lnTo>
                      <a:pt x="16" y="38"/>
                    </a:lnTo>
                    <a:lnTo>
                      <a:pt x="34" y="25"/>
                    </a:lnTo>
                    <a:lnTo>
                      <a:pt x="33" y="22"/>
                    </a:lnTo>
                    <a:lnTo>
                      <a:pt x="28" y="16"/>
                    </a:lnTo>
                    <a:lnTo>
                      <a:pt x="23" y="8"/>
                    </a:lnTo>
                    <a:lnTo>
                      <a:pt x="16" y="0"/>
                    </a:lnTo>
                    <a:lnTo>
                      <a:pt x="0" y="13"/>
                    </a:lnTo>
                    <a:close/>
                  </a:path>
                </a:pathLst>
              </a:custGeom>
              <a:solidFill>
                <a:srgbClr val="000000"/>
              </a:solidFill>
              <a:ln w="9525">
                <a:noFill/>
                <a:round/>
                <a:headEnd/>
                <a:tailEnd/>
              </a:ln>
            </p:spPr>
            <p:txBody>
              <a:bodyPr/>
              <a:lstStyle/>
              <a:p>
                <a:endParaRPr lang="en-US"/>
              </a:p>
            </p:txBody>
          </p:sp>
          <p:sp>
            <p:nvSpPr>
              <p:cNvPr id="28825" name="Freeform 115"/>
              <p:cNvSpPr>
                <a:spLocks/>
              </p:cNvSpPr>
              <p:nvPr/>
            </p:nvSpPr>
            <p:spPr bwMode="auto">
              <a:xfrm>
                <a:off x="2096" y="3600"/>
                <a:ext cx="18" cy="29"/>
              </a:xfrm>
              <a:custGeom>
                <a:avLst/>
                <a:gdLst>
                  <a:gd name="T0" fmla="*/ 1 w 36"/>
                  <a:gd name="T1" fmla="*/ 1 h 58"/>
                  <a:gd name="T2" fmla="*/ 0 w 36"/>
                  <a:gd name="T3" fmla="*/ 1 h 58"/>
                  <a:gd name="T4" fmla="*/ 1 w 36"/>
                  <a:gd name="T5" fmla="*/ 1 h 58"/>
                  <a:gd name="T6" fmla="*/ 1 w 36"/>
                  <a:gd name="T7" fmla="*/ 1 h 58"/>
                  <a:gd name="T8" fmla="*/ 1 w 36"/>
                  <a:gd name="T9" fmla="*/ 1 h 58"/>
                  <a:gd name="T10" fmla="*/ 1 w 36"/>
                  <a:gd name="T11" fmla="*/ 1 h 58"/>
                  <a:gd name="T12" fmla="*/ 1 w 36"/>
                  <a:gd name="T13" fmla="*/ 1 h 58"/>
                  <a:gd name="T14" fmla="*/ 1 w 36"/>
                  <a:gd name="T15" fmla="*/ 1 h 58"/>
                  <a:gd name="T16" fmla="*/ 1 w 36"/>
                  <a:gd name="T17" fmla="*/ 1 h 58"/>
                  <a:gd name="T18" fmla="*/ 1 w 36"/>
                  <a:gd name="T19" fmla="*/ 1 h 58"/>
                  <a:gd name="T20" fmla="*/ 1 w 36"/>
                  <a:gd name="T21" fmla="*/ 1 h 58"/>
                  <a:gd name="T22" fmla="*/ 1 w 36"/>
                  <a:gd name="T23" fmla="*/ 1 h 58"/>
                  <a:gd name="T24" fmla="*/ 1 w 36"/>
                  <a:gd name="T25" fmla="*/ 1 h 58"/>
                  <a:gd name="T26" fmla="*/ 1 w 36"/>
                  <a:gd name="T27" fmla="*/ 1 h 58"/>
                  <a:gd name="T28" fmla="*/ 1 w 36"/>
                  <a:gd name="T29" fmla="*/ 0 h 58"/>
                  <a:gd name="T30" fmla="*/ 1 w 36"/>
                  <a:gd name="T31" fmla="*/ 1 h 58"/>
                  <a:gd name="T32" fmla="*/ 0 w 36"/>
                  <a:gd name="T33" fmla="*/ 1 h 58"/>
                  <a:gd name="T34" fmla="*/ 1 w 36"/>
                  <a:gd name="T35" fmla="*/ 1 h 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6"/>
                  <a:gd name="T55" fmla="*/ 0 h 58"/>
                  <a:gd name="T56" fmla="*/ 36 w 36"/>
                  <a:gd name="T57" fmla="*/ 58 h 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6" h="58">
                    <a:moveTo>
                      <a:pt x="1" y="6"/>
                    </a:moveTo>
                    <a:lnTo>
                      <a:pt x="0" y="14"/>
                    </a:lnTo>
                    <a:lnTo>
                      <a:pt x="1" y="19"/>
                    </a:lnTo>
                    <a:lnTo>
                      <a:pt x="6" y="31"/>
                    </a:lnTo>
                    <a:lnTo>
                      <a:pt x="12" y="45"/>
                    </a:lnTo>
                    <a:lnTo>
                      <a:pt x="20" y="58"/>
                    </a:lnTo>
                    <a:lnTo>
                      <a:pt x="36" y="45"/>
                    </a:lnTo>
                    <a:lnTo>
                      <a:pt x="31" y="36"/>
                    </a:lnTo>
                    <a:lnTo>
                      <a:pt x="28" y="25"/>
                    </a:lnTo>
                    <a:lnTo>
                      <a:pt x="23" y="12"/>
                    </a:lnTo>
                    <a:lnTo>
                      <a:pt x="21" y="8"/>
                    </a:lnTo>
                    <a:lnTo>
                      <a:pt x="20" y="15"/>
                    </a:lnTo>
                    <a:lnTo>
                      <a:pt x="21" y="8"/>
                    </a:lnTo>
                    <a:lnTo>
                      <a:pt x="17" y="1"/>
                    </a:lnTo>
                    <a:lnTo>
                      <a:pt x="9" y="0"/>
                    </a:lnTo>
                    <a:lnTo>
                      <a:pt x="1" y="4"/>
                    </a:lnTo>
                    <a:lnTo>
                      <a:pt x="0" y="14"/>
                    </a:lnTo>
                    <a:lnTo>
                      <a:pt x="1" y="6"/>
                    </a:lnTo>
                    <a:close/>
                  </a:path>
                </a:pathLst>
              </a:custGeom>
              <a:solidFill>
                <a:srgbClr val="000000"/>
              </a:solidFill>
              <a:ln w="9525">
                <a:noFill/>
                <a:round/>
                <a:headEnd/>
                <a:tailEnd/>
              </a:ln>
            </p:spPr>
            <p:txBody>
              <a:bodyPr/>
              <a:lstStyle/>
              <a:p>
                <a:endParaRPr lang="en-US"/>
              </a:p>
            </p:txBody>
          </p:sp>
          <p:sp>
            <p:nvSpPr>
              <p:cNvPr id="28826" name="Freeform 116"/>
              <p:cNvSpPr>
                <a:spLocks/>
              </p:cNvSpPr>
              <p:nvPr/>
            </p:nvSpPr>
            <p:spPr bwMode="auto">
              <a:xfrm>
                <a:off x="2097" y="3581"/>
                <a:ext cx="22" cy="27"/>
              </a:xfrm>
              <a:custGeom>
                <a:avLst/>
                <a:gdLst>
                  <a:gd name="T0" fmla="*/ 0 w 45"/>
                  <a:gd name="T1" fmla="*/ 0 h 53"/>
                  <a:gd name="T2" fmla="*/ 0 w 45"/>
                  <a:gd name="T3" fmla="*/ 1 h 53"/>
                  <a:gd name="T4" fmla="*/ 0 w 45"/>
                  <a:gd name="T5" fmla="*/ 1 h 53"/>
                  <a:gd name="T6" fmla="*/ 0 w 45"/>
                  <a:gd name="T7" fmla="*/ 1 h 53"/>
                  <a:gd name="T8" fmla="*/ 0 w 45"/>
                  <a:gd name="T9" fmla="*/ 1 h 53"/>
                  <a:gd name="T10" fmla="*/ 0 w 45"/>
                  <a:gd name="T11" fmla="*/ 1 h 53"/>
                  <a:gd name="T12" fmla="*/ 0 w 45"/>
                  <a:gd name="T13" fmla="*/ 1 h 53"/>
                  <a:gd name="T14" fmla="*/ 0 w 45"/>
                  <a:gd name="T15" fmla="*/ 1 h 53"/>
                  <a:gd name="T16" fmla="*/ 0 w 45"/>
                  <a:gd name="T17" fmla="*/ 1 h 53"/>
                  <a:gd name="T18" fmla="*/ 0 w 45"/>
                  <a:gd name="T19" fmla="*/ 1 h 53"/>
                  <a:gd name="T20" fmla="*/ 0 w 45"/>
                  <a:gd name="T21" fmla="*/ 1 h 53"/>
                  <a:gd name="T22" fmla="*/ 0 w 45"/>
                  <a:gd name="T23" fmla="*/ 1 h 53"/>
                  <a:gd name="T24" fmla="*/ 0 w 45"/>
                  <a:gd name="T25" fmla="*/ 0 h 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53"/>
                  <a:gd name="T41" fmla="*/ 45 w 45"/>
                  <a:gd name="T42" fmla="*/ 53 h 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53">
                    <a:moveTo>
                      <a:pt x="30" y="0"/>
                    </a:moveTo>
                    <a:lnTo>
                      <a:pt x="30" y="2"/>
                    </a:lnTo>
                    <a:lnTo>
                      <a:pt x="17" y="16"/>
                    </a:lnTo>
                    <a:lnTo>
                      <a:pt x="8" y="28"/>
                    </a:lnTo>
                    <a:lnTo>
                      <a:pt x="2" y="41"/>
                    </a:lnTo>
                    <a:lnTo>
                      <a:pt x="0" y="44"/>
                    </a:lnTo>
                    <a:lnTo>
                      <a:pt x="19" y="53"/>
                    </a:lnTo>
                    <a:lnTo>
                      <a:pt x="20" y="50"/>
                    </a:lnTo>
                    <a:lnTo>
                      <a:pt x="27" y="41"/>
                    </a:lnTo>
                    <a:lnTo>
                      <a:pt x="36" y="28"/>
                    </a:lnTo>
                    <a:lnTo>
                      <a:pt x="45" y="14"/>
                    </a:lnTo>
                    <a:lnTo>
                      <a:pt x="45" y="16"/>
                    </a:lnTo>
                    <a:lnTo>
                      <a:pt x="30" y="0"/>
                    </a:lnTo>
                    <a:close/>
                  </a:path>
                </a:pathLst>
              </a:custGeom>
              <a:solidFill>
                <a:srgbClr val="000000"/>
              </a:solidFill>
              <a:ln w="9525">
                <a:noFill/>
                <a:round/>
                <a:headEnd/>
                <a:tailEnd/>
              </a:ln>
            </p:spPr>
            <p:txBody>
              <a:bodyPr/>
              <a:lstStyle/>
              <a:p>
                <a:endParaRPr lang="en-US"/>
              </a:p>
            </p:txBody>
          </p:sp>
          <p:sp>
            <p:nvSpPr>
              <p:cNvPr id="28827" name="Freeform 117"/>
              <p:cNvSpPr>
                <a:spLocks/>
              </p:cNvSpPr>
              <p:nvPr/>
            </p:nvSpPr>
            <p:spPr bwMode="auto">
              <a:xfrm>
                <a:off x="2111" y="3531"/>
                <a:ext cx="43" cy="58"/>
              </a:xfrm>
              <a:custGeom>
                <a:avLst/>
                <a:gdLst>
                  <a:gd name="T0" fmla="*/ 1 w 86"/>
                  <a:gd name="T1" fmla="*/ 0 h 116"/>
                  <a:gd name="T2" fmla="*/ 1 w 86"/>
                  <a:gd name="T3" fmla="*/ 0 h 116"/>
                  <a:gd name="T4" fmla="*/ 1 w 86"/>
                  <a:gd name="T5" fmla="*/ 1 h 116"/>
                  <a:gd name="T6" fmla="*/ 1 w 86"/>
                  <a:gd name="T7" fmla="*/ 1 h 116"/>
                  <a:gd name="T8" fmla="*/ 1 w 86"/>
                  <a:gd name="T9" fmla="*/ 1 h 116"/>
                  <a:gd name="T10" fmla="*/ 1 w 86"/>
                  <a:gd name="T11" fmla="*/ 1 h 116"/>
                  <a:gd name="T12" fmla="*/ 1 w 86"/>
                  <a:gd name="T13" fmla="*/ 1 h 116"/>
                  <a:gd name="T14" fmla="*/ 1 w 86"/>
                  <a:gd name="T15" fmla="*/ 1 h 116"/>
                  <a:gd name="T16" fmla="*/ 1 w 86"/>
                  <a:gd name="T17" fmla="*/ 1 h 116"/>
                  <a:gd name="T18" fmla="*/ 0 w 86"/>
                  <a:gd name="T19" fmla="*/ 1 h 116"/>
                  <a:gd name="T20" fmla="*/ 1 w 86"/>
                  <a:gd name="T21" fmla="*/ 1 h 116"/>
                  <a:gd name="T22" fmla="*/ 1 w 86"/>
                  <a:gd name="T23" fmla="*/ 1 h 116"/>
                  <a:gd name="T24" fmla="*/ 1 w 86"/>
                  <a:gd name="T25" fmla="*/ 1 h 116"/>
                  <a:gd name="T26" fmla="*/ 1 w 86"/>
                  <a:gd name="T27" fmla="*/ 1 h 116"/>
                  <a:gd name="T28" fmla="*/ 1 w 86"/>
                  <a:gd name="T29" fmla="*/ 1 h 116"/>
                  <a:gd name="T30" fmla="*/ 1 w 86"/>
                  <a:gd name="T31" fmla="*/ 1 h 116"/>
                  <a:gd name="T32" fmla="*/ 1 w 86"/>
                  <a:gd name="T33" fmla="*/ 1 h 116"/>
                  <a:gd name="T34" fmla="*/ 1 w 86"/>
                  <a:gd name="T35" fmla="*/ 1 h 116"/>
                  <a:gd name="T36" fmla="*/ 1 w 86"/>
                  <a:gd name="T37" fmla="*/ 1 h 116"/>
                  <a:gd name="T38" fmla="*/ 1 w 86"/>
                  <a:gd name="T39" fmla="*/ 1 h 116"/>
                  <a:gd name="T40" fmla="*/ 1 w 86"/>
                  <a:gd name="T41" fmla="*/ 0 h 1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6"/>
                  <a:gd name="T64" fmla="*/ 0 h 116"/>
                  <a:gd name="T65" fmla="*/ 86 w 86"/>
                  <a:gd name="T66" fmla="*/ 116 h 1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6" h="116">
                    <a:moveTo>
                      <a:pt x="70" y="0"/>
                    </a:moveTo>
                    <a:lnTo>
                      <a:pt x="70" y="0"/>
                    </a:lnTo>
                    <a:lnTo>
                      <a:pt x="62" y="9"/>
                    </a:lnTo>
                    <a:lnTo>
                      <a:pt x="55" y="20"/>
                    </a:lnTo>
                    <a:lnTo>
                      <a:pt x="45" y="35"/>
                    </a:lnTo>
                    <a:lnTo>
                      <a:pt x="34" y="49"/>
                    </a:lnTo>
                    <a:lnTo>
                      <a:pt x="25" y="66"/>
                    </a:lnTo>
                    <a:lnTo>
                      <a:pt x="14" y="80"/>
                    </a:lnTo>
                    <a:lnTo>
                      <a:pt x="6" y="92"/>
                    </a:lnTo>
                    <a:lnTo>
                      <a:pt x="0" y="100"/>
                    </a:lnTo>
                    <a:lnTo>
                      <a:pt x="15" y="116"/>
                    </a:lnTo>
                    <a:lnTo>
                      <a:pt x="25" y="105"/>
                    </a:lnTo>
                    <a:lnTo>
                      <a:pt x="33" y="92"/>
                    </a:lnTo>
                    <a:lnTo>
                      <a:pt x="44" y="78"/>
                    </a:lnTo>
                    <a:lnTo>
                      <a:pt x="53" y="61"/>
                    </a:lnTo>
                    <a:lnTo>
                      <a:pt x="64" y="47"/>
                    </a:lnTo>
                    <a:lnTo>
                      <a:pt x="73" y="33"/>
                    </a:lnTo>
                    <a:lnTo>
                      <a:pt x="81" y="22"/>
                    </a:lnTo>
                    <a:lnTo>
                      <a:pt x="86" y="16"/>
                    </a:lnTo>
                    <a:lnTo>
                      <a:pt x="70" y="0"/>
                    </a:lnTo>
                    <a:close/>
                  </a:path>
                </a:pathLst>
              </a:custGeom>
              <a:solidFill>
                <a:srgbClr val="000000"/>
              </a:solidFill>
              <a:ln w="9525">
                <a:noFill/>
                <a:round/>
                <a:headEnd/>
                <a:tailEnd/>
              </a:ln>
            </p:spPr>
            <p:txBody>
              <a:bodyPr/>
              <a:lstStyle/>
              <a:p>
                <a:endParaRPr lang="en-US"/>
              </a:p>
            </p:txBody>
          </p:sp>
          <p:sp>
            <p:nvSpPr>
              <p:cNvPr id="28828" name="Freeform 118"/>
              <p:cNvSpPr>
                <a:spLocks/>
              </p:cNvSpPr>
              <p:nvPr/>
            </p:nvSpPr>
            <p:spPr bwMode="auto">
              <a:xfrm>
                <a:off x="2147" y="3522"/>
                <a:ext cx="29" cy="17"/>
              </a:xfrm>
              <a:custGeom>
                <a:avLst/>
                <a:gdLst>
                  <a:gd name="T0" fmla="*/ 0 w 60"/>
                  <a:gd name="T1" fmla="*/ 1 h 33"/>
                  <a:gd name="T2" fmla="*/ 0 w 60"/>
                  <a:gd name="T3" fmla="*/ 0 h 33"/>
                  <a:gd name="T4" fmla="*/ 0 w 60"/>
                  <a:gd name="T5" fmla="*/ 0 h 33"/>
                  <a:gd name="T6" fmla="*/ 0 w 60"/>
                  <a:gd name="T7" fmla="*/ 1 h 33"/>
                  <a:gd name="T8" fmla="*/ 0 w 60"/>
                  <a:gd name="T9" fmla="*/ 1 h 33"/>
                  <a:gd name="T10" fmla="*/ 0 w 60"/>
                  <a:gd name="T11" fmla="*/ 1 h 33"/>
                  <a:gd name="T12" fmla="*/ 0 w 60"/>
                  <a:gd name="T13" fmla="*/ 1 h 33"/>
                  <a:gd name="T14" fmla="*/ 0 w 60"/>
                  <a:gd name="T15" fmla="*/ 1 h 33"/>
                  <a:gd name="T16" fmla="*/ 0 w 60"/>
                  <a:gd name="T17" fmla="*/ 1 h 33"/>
                  <a:gd name="T18" fmla="*/ 0 w 60"/>
                  <a:gd name="T19" fmla="*/ 1 h 33"/>
                  <a:gd name="T20" fmla="*/ 0 w 60"/>
                  <a:gd name="T21" fmla="*/ 1 h 33"/>
                  <a:gd name="T22" fmla="*/ 0 w 60"/>
                  <a:gd name="T23" fmla="*/ 1 h 33"/>
                  <a:gd name="T24" fmla="*/ 0 w 60"/>
                  <a:gd name="T25" fmla="*/ 1 h 33"/>
                  <a:gd name="T26" fmla="*/ 0 w 60"/>
                  <a:gd name="T27" fmla="*/ 1 h 33"/>
                  <a:gd name="T28" fmla="*/ 0 w 60"/>
                  <a:gd name="T29" fmla="*/ 1 h 33"/>
                  <a:gd name="T30" fmla="*/ 0 w 60"/>
                  <a:gd name="T31" fmla="*/ 1 h 33"/>
                  <a:gd name="T32" fmla="*/ 0 w 60"/>
                  <a:gd name="T33" fmla="*/ 0 h 33"/>
                  <a:gd name="T34" fmla="*/ 0 w 60"/>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33"/>
                  <a:gd name="T56" fmla="*/ 60 w 60"/>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33">
                    <a:moveTo>
                      <a:pt x="54" y="1"/>
                    </a:moveTo>
                    <a:lnTo>
                      <a:pt x="49" y="0"/>
                    </a:lnTo>
                    <a:lnTo>
                      <a:pt x="43" y="0"/>
                    </a:lnTo>
                    <a:lnTo>
                      <a:pt x="30" y="1"/>
                    </a:lnTo>
                    <a:lnTo>
                      <a:pt x="16" y="8"/>
                    </a:lnTo>
                    <a:lnTo>
                      <a:pt x="0" y="17"/>
                    </a:lnTo>
                    <a:lnTo>
                      <a:pt x="16" y="33"/>
                    </a:lnTo>
                    <a:lnTo>
                      <a:pt x="25" y="26"/>
                    </a:lnTo>
                    <a:lnTo>
                      <a:pt x="36" y="23"/>
                    </a:lnTo>
                    <a:lnTo>
                      <a:pt x="46" y="22"/>
                    </a:lnTo>
                    <a:lnTo>
                      <a:pt x="49" y="22"/>
                    </a:lnTo>
                    <a:lnTo>
                      <a:pt x="44" y="20"/>
                    </a:lnTo>
                    <a:lnTo>
                      <a:pt x="49" y="22"/>
                    </a:lnTo>
                    <a:lnTo>
                      <a:pt x="57" y="19"/>
                    </a:lnTo>
                    <a:lnTo>
                      <a:pt x="60" y="11"/>
                    </a:lnTo>
                    <a:lnTo>
                      <a:pt x="57" y="3"/>
                    </a:lnTo>
                    <a:lnTo>
                      <a:pt x="49" y="0"/>
                    </a:lnTo>
                    <a:lnTo>
                      <a:pt x="54" y="1"/>
                    </a:lnTo>
                    <a:close/>
                  </a:path>
                </a:pathLst>
              </a:custGeom>
              <a:solidFill>
                <a:srgbClr val="000000"/>
              </a:solidFill>
              <a:ln w="9525">
                <a:noFill/>
                <a:round/>
                <a:headEnd/>
                <a:tailEnd/>
              </a:ln>
            </p:spPr>
            <p:txBody>
              <a:bodyPr/>
              <a:lstStyle/>
              <a:p>
                <a:endParaRPr lang="en-US"/>
              </a:p>
            </p:txBody>
          </p:sp>
          <p:sp>
            <p:nvSpPr>
              <p:cNvPr id="28829" name="Freeform 119"/>
              <p:cNvSpPr>
                <a:spLocks/>
              </p:cNvSpPr>
              <p:nvPr/>
            </p:nvSpPr>
            <p:spPr bwMode="auto">
              <a:xfrm>
                <a:off x="2169" y="3523"/>
                <a:ext cx="18" cy="14"/>
              </a:xfrm>
              <a:custGeom>
                <a:avLst/>
                <a:gdLst>
                  <a:gd name="T0" fmla="*/ 0 w 38"/>
                  <a:gd name="T1" fmla="*/ 0 h 29"/>
                  <a:gd name="T2" fmla="*/ 0 w 38"/>
                  <a:gd name="T3" fmla="*/ 0 h 29"/>
                  <a:gd name="T4" fmla="*/ 0 w 38"/>
                  <a:gd name="T5" fmla="*/ 0 h 29"/>
                  <a:gd name="T6" fmla="*/ 0 w 38"/>
                  <a:gd name="T7" fmla="*/ 0 h 29"/>
                  <a:gd name="T8" fmla="*/ 0 w 38"/>
                  <a:gd name="T9" fmla="*/ 0 h 29"/>
                  <a:gd name="T10" fmla="*/ 0 w 38"/>
                  <a:gd name="T11" fmla="*/ 0 h 29"/>
                  <a:gd name="T12" fmla="*/ 0 w 38"/>
                  <a:gd name="T13" fmla="*/ 0 h 29"/>
                  <a:gd name="T14" fmla="*/ 0 w 38"/>
                  <a:gd name="T15" fmla="*/ 0 h 29"/>
                  <a:gd name="T16" fmla="*/ 0 w 38"/>
                  <a:gd name="T17" fmla="*/ 0 h 29"/>
                  <a:gd name="T18" fmla="*/ 0 w 38"/>
                  <a:gd name="T19" fmla="*/ 0 h 29"/>
                  <a:gd name="T20" fmla="*/ 0 w 38"/>
                  <a:gd name="T21" fmla="*/ 0 h 29"/>
                  <a:gd name="T22" fmla="*/ 0 w 38"/>
                  <a:gd name="T23" fmla="*/ 0 h 29"/>
                  <a:gd name="T24" fmla="*/ 0 w 38"/>
                  <a:gd name="T25" fmla="*/ 0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29"/>
                  <a:gd name="T41" fmla="*/ 38 w 38"/>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29">
                    <a:moveTo>
                      <a:pt x="38" y="7"/>
                    </a:moveTo>
                    <a:lnTo>
                      <a:pt x="38" y="7"/>
                    </a:lnTo>
                    <a:lnTo>
                      <a:pt x="27" y="5"/>
                    </a:lnTo>
                    <a:lnTo>
                      <a:pt x="17" y="2"/>
                    </a:lnTo>
                    <a:lnTo>
                      <a:pt x="11" y="0"/>
                    </a:lnTo>
                    <a:lnTo>
                      <a:pt x="10" y="0"/>
                    </a:lnTo>
                    <a:lnTo>
                      <a:pt x="0" y="19"/>
                    </a:lnTo>
                    <a:lnTo>
                      <a:pt x="5" y="22"/>
                    </a:lnTo>
                    <a:lnTo>
                      <a:pt x="11" y="24"/>
                    </a:lnTo>
                    <a:lnTo>
                      <a:pt x="24" y="27"/>
                    </a:lnTo>
                    <a:lnTo>
                      <a:pt x="35" y="29"/>
                    </a:lnTo>
                    <a:lnTo>
                      <a:pt x="38" y="7"/>
                    </a:lnTo>
                    <a:close/>
                  </a:path>
                </a:pathLst>
              </a:custGeom>
              <a:solidFill>
                <a:srgbClr val="000000"/>
              </a:solidFill>
              <a:ln w="9525">
                <a:noFill/>
                <a:round/>
                <a:headEnd/>
                <a:tailEnd/>
              </a:ln>
            </p:spPr>
            <p:txBody>
              <a:bodyPr/>
              <a:lstStyle/>
              <a:p>
                <a:endParaRPr lang="en-US"/>
              </a:p>
            </p:txBody>
          </p:sp>
          <p:sp>
            <p:nvSpPr>
              <p:cNvPr id="28830" name="Freeform 120"/>
              <p:cNvSpPr>
                <a:spLocks/>
              </p:cNvSpPr>
              <p:nvPr/>
            </p:nvSpPr>
            <p:spPr bwMode="auto">
              <a:xfrm>
                <a:off x="2186" y="3520"/>
                <a:ext cx="38" cy="17"/>
              </a:xfrm>
              <a:custGeom>
                <a:avLst/>
                <a:gdLst>
                  <a:gd name="T0" fmla="*/ 1 w 76"/>
                  <a:gd name="T1" fmla="*/ 0 h 35"/>
                  <a:gd name="T2" fmla="*/ 1 w 76"/>
                  <a:gd name="T3" fmla="*/ 0 h 35"/>
                  <a:gd name="T4" fmla="*/ 1 w 76"/>
                  <a:gd name="T5" fmla="*/ 0 h 35"/>
                  <a:gd name="T6" fmla="*/ 1 w 76"/>
                  <a:gd name="T7" fmla="*/ 0 h 35"/>
                  <a:gd name="T8" fmla="*/ 1 w 76"/>
                  <a:gd name="T9" fmla="*/ 0 h 35"/>
                  <a:gd name="T10" fmla="*/ 1 w 76"/>
                  <a:gd name="T11" fmla="*/ 0 h 35"/>
                  <a:gd name="T12" fmla="*/ 1 w 76"/>
                  <a:gd name="T13" fmla="*/ 0 h 35"/>
                  <a:gd name="T14" fmla="*/ 1 w 76"/>
                  <a:gd name="T15" fmla="*/ 0 h 35"/>
                  <a:gd name="T16" fmla="*/ 1 w 76"/>
                  <a:gd name="T17" fmla="*/ 0 h 35"/>
                  <a:gd name="T18" fmla="*/ 1 w 76"/>
                  <a:gd name="T19" fmla="*/ 0 h 35"/>
                  <a:gd name="T20" fmla="*/ 0 w 76"/>
                  <a:gd name="T21" fmla="*/ 0 h 35"/>
                  <a:gd name="T22" fmla="*/ 1 w 76"/>
                  <a:gd name="T23" fmla="*/ 0 h 35"/>
                  <a:gd name="T24" fmla="*/ 1 w 76"/>
                  <a:gd name="T25" fmla="*/ 0 h 35"/>
                  <a:gd name="T26" fmla="*/ 1 w 76"/>
                  <a:gd name="T27" fmla="*/ 0 h 35"/>
                  <a:gd name="T28" fmla="*/ 1 w 76"/>
                  <a:gd name="T29" fmla="*/ 0 h 35"/>
                  <a:gd name="T30" fmla="*/ 1 w 76"/>
                  <a:gd name="T31" fmla="*/ 0 h 35"/>
                  <a:gd name="T32" fmla="*/ 1 w 76"/>
                  <a:gd name="T33" fmla="*/ 0 h 35"/>
                  <a:gd name="T34" fmla="*/ 1 w 76"/>
                  <a:gd name="T35" fmla="*/ 0 h 35"/>
                  <a:gd name="T36" fmla="*/ 1 w 76"/>
                  <a:gd name="T37" fmla="*/ 0 h 35"/>
                  <a:gd name="T38" fmla="*/ 1 w 76"/>
                  <a:gd name="T39" fmla="*/ 0 h 35"/>
                  <a:gd name="T40" fmla="*/ 1 w 76"/>
                  <a:gd name="T41" fmla="*/ 0 h 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35"/>
                  <a:gd name="T65" fmla="*/ 76 w 76"/>
                  <a:gd name="T66" fmla="*/ 35 h 3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35">
                    <a:moveTo>
                      <a:pt x="70" y="0"/>
                    </a:moveTo>
                    <a:lnTo>
                      <a:pt x="70" y="0"/>
                    </a:lnTo>
                    <a:lnTo>
                      <a:pt x="62" y="3"/>
                    </a:lnTo>
                    <a:lnTo>
                      <a:pt x="53" y="5"/>
                    </a:lnTo>
                    <a:lnTo>
                      <a:pt x="42" y="8"/>
                    </a:lnTo>
                    <a:lnTo>
                      <a:pt x="34" y="10"/>
                    </a:lnTo>
                    <a:lnTo>
                      <a:pt x="25" y="11"/>
                    </a:lnTo>
                    <a:lnTo>
                      <a:pt x="15" y="13"/>
                    </a:lnTo>
                    <a:lnTo>
                      <a:pt x="7" y="13"/>
                    </a:lnTo>
                    <a:lnTo>
                      <a:pt x="3" y="13"/>
                    </a:lnTo>
                    <a:lnTo>
                      <a:pt x="0" y="35"/>
                    </a:lnTo>
                    <a:lnTo>
                      <a:pt x="7" y="35"/>
                    </a:lnTo>
                    <a:lnTo>
                      <a:pt x="18" y="35"/>
                    </a:lnTo>
                    <a:lnTo>
                      <a:pt x="28" y="33"/>
                    </a:lnTo>
                    <a:lnTo>
                      <a:pt x="37" y="31"/>
                    </a:lnTo>
                    <a:lnTo>
                      <a:pt x="48" y="30"/>
                    </a:lnTo>
                    <a:lnTo>
                      <a:pt x="59" y="27"/>
                    </a:lnTo>
                    <a:lnTo>
                      <a:pt x="68" y="25"/>
                    </a:lnTo>
                    <a:lnTo>
                      <a:pt x="76" y="22"/>
                    </a:lnTo>
                    <a:lnTo>
                      <a:pt x="70" y="0"/>
                    </a:lnTo>
                    <a:close/>
                  </a:path>
                </a:pathLst>
              </a:custGeom>
              <a:solidFill>
                <a:srgbClr val="000000"/>
              </a:solidFill>
              <a:ln w="9525">
                <a:noFill/>
                <a:round/>
                <a:headEnd/>
                <a:tailEnd/>
              </a:ln>
            </p:spPr>
            <p:txBody>
              <a:bodyPr/>
              <a:lstStyle/>
              <a:p>
                <a:endParaRPr lang="en-US"/>
              </a:p>
            </p:txBody>
          </p:sp>
          <p:sp>
            <p:nvSpPr>
              <p:cNvPr id="28831" name="Freeform 121"/>
              <p:cNvSpPr>
                <a:spLocks/>
              </p:cNvSpPr>
              <p:nvPr/>
            </p:nvSpPr>
            <p:spPr bwMode="auto">
              <a:xfrm>
                <a:off x="2221" y="3511"/>
                <a:ext cx="21" cy="20"/>
              </a:xfrm>
              <a:custGeom>
                <a:avLst/>
                <a:gdLst>
                  <a:gd name="T0" fmla="*/ 1 w 42"/>
                  <a:gd name="T1" fmla="*/ 0 h 41"/>
                  <a:gd name="T2" fmla="*/ 1 w 42"/>
                  <a:gd name="T3" fmla="*/ 0 h 41"/>
                  <a:gd name="T4" fmla="*/ 1 w 42"/>
                  <a:gd name="T5" fmla="*/ 0 h 41"/>
                  <a:gd name="T6" fmla="*/ 1 w 42"/>
                  <a:gd name="T7" fmla="*/ 0 h 41"/>
                  <a:gd name="T8" fmla="*/ 1 w 42"/>
                  <a:gd name="T9" fmla="*/ 0 h 41"/>
                  <a:gd name="T10" fmla="*/ 0 w 42"/>
                  <a:gd name="T11" fmla="*/ 0 h 41"/>
                  <a:gd name="T12" fmla="*/ 1 w 42"/>
                  <a:gd name="T13" fmla="*/ 0 h 41"/>
                  <a:gd name="T14" fmla="*/ 1 w 42"/>
                  <a:gd name="T15" fmla="*/ 0 h 41"/>
                  <a:gd name="T16" fmla="*/ 1 w 42"/>
                  <a:gd name="T17" fmla="*/ 0 h 41"/>
                  <a:gd name="T18" fmla="*/ 1 w 42"/>
                  <a:gd name="T19" fmla="*/ 0 h 41"/>
                  <a:gd name="T20" fmla="*/ 1 w 42"/>
                  <a:gd name="T21" fmla="*/ 0 h 41"/>
                  <a:gd name="T22" fmla="*/ 1 w 42"/>
                  <a:gd name="T23" fmla="*/ 0 h 41"/>
                  <a:gd name="T24" fmla="*/ 1 w 42"/>
                  <a:gd name="T25" fmla="*/ 0 h 41"/>
                  <a:gd name="T26" fmla="*/ 1 w 42"/>
                  <a:gd name="T27" fmla="*/ 0 h 41"/>
                  <a:gd name="T28" fmla="*/ 1 w 42"/>
                  <a:gd name="T29" fmla="*/ 0 h 41"/>
                  <a:gd name="T30" fmla="*/ 1 w 42"/>
                  <a:gd name="T31" fmla="*/ 0 h 41"/>
                  <a:gd name="T32" fmla="*/ 1 w 42"/>
                  <a:gd name="T33" fmla="*/ 0 h 41"/>
                  <a:gd name="T34" fmla="*/ 1 w 42"/>
                  <a:gd name="T35" fmla="*/ 0 h 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2"/>
                  <a:gd name="T55" fmla="*/ 0 h 41"/>
                  <a:gd name="T56" fmla="*/ 42 w 42"/>
                  <a:gd name="T57" fmla="*/ 41 h 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2" h="41">
                    <a:moveTo>
                      <a:pt x="22" y="18"/>
                    </a:moveTo>
                    <a:lnTo>
                      <a:pt x="22" y="5"/>
                    </a:lnTo>
                    <a:lnTo>
                      <a:pt x="19" y="8"/>
                    </a:lnTo>
                    <a:lnTo>
                      <a:pt x="11" y="14"/>
                    </a:lnTo>
                    <a:lnTo>
                      <a:pt x="0" y="19"/>
                    </a:lnTo>
                    <a:lnTo>
                      <a:pt x="6" y="41"/>
                    </a:lnTo>
                    <a:lnTo>
                      <a:pt x="20" y="33"/>
                    </a:lnTo>
                    <a:lnTo>
                      <a:pt x="31" y="27"/>
                    </a:lnTo>
                    <a:lnTo>
                      <a:pt x="38" y="21"/>
                    </a:lnTo>
                    <a:lnTo>
                      <a:pt x="41" y="18"/>
                    </a:lnTo>
                    <a:lnTo>
                      <a:pt x="41" y="5"/>
                    </a:lnTo>
                    <a:lnTo>
                      <a:pt x="41" y="18"/>
                    </a:lnTo>
                    <a:lnTo>
                      <a:pt x="42" y="8"/>
                    </a:lnTo>
                    <a:lnTo>
                      <a:pt x="38" y="2"/>
                    </a:lnTo>
                    <a:lnTo>
                      <a:pt x="30" y="0"/>
                    </a:lnTo>
                    <a:lnTo>
                      <a:pt x="22" y="5"/>
                    </a:lnTo>
                    <a:lnTo>
                      <a:pt x="22" y="18"/>
                    </a:lnTo>
                    <a:close/>
                  </a:path>
                </a:pathLst>
              </a:custGeom>
              <a:solidFill>
                <a:srgbClr val="000000"/>
              </a:solidFill>
              <a:ln w="9525">
                <a:noFill/>
                <a:round/>
                <a:headEnd/>
                <a:tailEnd/>
              </a:ln>
            </p:spPr>
            <p:txBody>
              <a:bodyPr/>
              <a:lstStyle/>
              <a:p>
                <a:endParaRPr lang="en-US"/>
              </a:p>
            </p:txBody>
          </p:sp>
          <p:sp>
            <p:nvSpPr>
              <p:cNvPr id="28832" name="Freeform 122"/>
              <p:cNvSpPr>
                <a:spLocks/>
              </p:cNvSpPr>
              <p:nvPr/>
            </p:nvSpPr>
            <p:spPr bwMode="auto">
              <a:xfrm>
                <a:off x="2227" y="3501"/>
                <a:ext cx="14" cy="18"/>
              </a:xfrm>
              <a:custGeom>
                <a:avLst/>
                <a:gdLst>
                  <a:gd name="T0" fmla="*/ 1 w 28"/>
                  <a:gd name="T1" fmla="*/ 0 h 38"/>
                  <a:gd name="T2" fmla="*/ 1 w 28"/>
                  <a:gd name="T3" fmla="*/ 0 h 38"/>
                  <a:gd name="T4" fmla="*/ 0 w 28"/>
                  <a:gd name="T5" fmla="*/ 0 h 38"/>
                  <a:gd name="T6" fmla="*/ 1 w 28"/>
                  <a:gd name="T7" fmla="*/ 0 h 38"/>
                  <a:gd name="T8" fmla="*/ 1 w 28"/>
                  <a:gd name="T9" fmla="*/ 0 h 38"/>
                  <a:gd name="T10" fmla="*/ 1 w 28"/>
                  <a:gd name="T11" fmla="*/ 0 h 38"/>
                  <a:gd name="T12" fmla="*/ 1 w 28"/>
                  <a:gd name="T13" fmla="*/ 0 h 38"/>
                  <a:gd name="T14" fmla="*/ 1 w 28"/>
                  <a:gd name="T15" fmla="*/ 0 h 38"/>
                  <a:gd name="T16" fmla="*/ 1 w 28"/>
                  <a:gd name="T17" fmla="*/ 0 h 38"/>
                  <a:gd name="T18" fmla="*/ 1 w 28"/>
                  <a:gd name="T19" fmla="*/ 0 h 38"/>
                  <a:gd name="T20" fmla="*/ 1 w 28"/>
                  <a:gd name="T21" fmla="*/ 0 h 38"/>
                  <a:gd name="T22" fmla="*/ 1 w 28"/>
                  <a:gd name="T23" fmla="*/ 0 h 38"/>
                  <a:gd name="T24" fmla="*/ 1 w 28"/>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8"/>
                  <a:gd name="T41" fmla="*/ 28 w 28"/>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8">
                    <a:moveTo>
                      <a:pt x="7" y="2"/>
                    </a:moveTo>
                    <a:lnTo>
                      <a:pt x="9" y="0"/>
                    </a:lnTo>
                    <a:lnTo>
                      <a:pt x="0" y="16"/>
                    </a:lnTo>
                    <a:lnTo>
                      <a:pt x="4" y="27"/>
                    </a:lnTo>
                    <a:lnTo>
                      <a:pt x="7" y="33"/>
                    </a:lnTo>
                    <a:lnTo>
                      <a:pt x="9" y="38"/>
                    </a:lnTo>
                    <a:lnTo>
                      <a:pt x="28" y="25"/>
                    </a:lnTo>
                    <a:lnTo>
                      <a:pt x="26" y="24"/>
                    </a:lnTo>
                    <a:lnTo>
                      <a:pt x="23" y="17"/>
                    </a:lnTo>
                    <a:lnTo>
                      <a:pt x="21" y="13"/>
                    </a:lnTo>
                    <a:lnTo>
                      <a:pt x="15" y="22"/>
                    </a:lnTo>
                    <a:lnTo>
                      <a:pt x="17" y="20"/>
                    </a:lnTo>
                    <a:lnTo>
                      <a:pt x="7" y="2"/>
                    </a:lnTo>
                    <a:close/>
                  </a:path>
                </a:pathLst>
              </a:custGeom>
              <a:solidFill>
                <a:srgbClr val="000000"/>
              </a:solidFill>
              <a:ln w="9525">
                <a:noFill/>
                <a:round/>
                <a:headEnd/>
                <a:tailEnd/>
              </a:ln>
            </p:spPr>
            <p:txBody>
              <a:bodyPr/>
              <a:lstStyle/>
              <a:p>
                <a:endParaRPr lang="en-US"/>
              </a:p>
            </p:txBody>
          </p:sp>
          <p:sp>
            <p:nvSpPr>
              <p:cNvPr id="28833" name="Freeform 123"/>
              <p:cNvSpPr>
                <a:spLocks/>
              </p:cNvSpPr>
              <p:nvPr/>
            </p:nvSpPr>
            <p:spPr bwMode="auto">
              <a:xfrm>
                <a:off x="2231" y="3500"/>
                <a:ext cx="29" cy="14"/>
              </a:xfrm>
              <a:custGeom>
                <a:avLst/>
                <a:gdLst>
                  <a:gd name="T0" fmla="*/ 1 w 58"/>
                  <a:gd name="T1" fmla="*/ 0 h 29"/>
                  <a:gd name="T2" fmla="*/ 1 w 58"/>
                  <a:gd name="T3" fmla="*/ 0 h 29"/>
                  <a:gd name="T4" fmla="*/ 1 w 58"/>
                  <a:gd name="T5" fmla="*/ 0 h 29"/>
                  <a:gd name="T6" fmla="*/ 1 w 58"/>
                  <a:gd name="T7" fmla="*/ 0 h 29"/>
                  <a:gd name="T8" fmla="*/ 1 w 58"/>
                  <a:gd name="T9" fmla="*/ 0 h 29"/>
                  <a:gd name="T10" fmla="*/ 1 w 58"/>
                  <a:gd name="T11" fmla="*/ 0 h 29"/>
                  <a:gd name="T12" fmla="*/ 1 w 58"/>
                  <a:gd name="T13" fmla="*/ 0 h 29"/>
                  <a:gd name="T14" fmla="*/ 1 w 58"/>
                  <a:gd name="T15" fmla="*/ 0 h 29"/>
                  <a:gd name="T16" fmla="*/ 1 w 58"/>
                  <a:gd name="T17" fmla="*/ 0 h 29"/>
                  <a:gd name="T18" fmla="*/ 0 w 58"/>
                  <a:gd name="T19" fmla="*/ 0 h 29"/>
                  <a:gd name="T20" fmla="*/ 1 w 58"/>
                  <a:gd name="T21" fmla="*/ 0 h 29"/>
                  <a:gd name="T22" fmla="*/ 1 w 58"/>
                  <a:gd name="T23" fmla="*/ 0 h 29"/>
                  <a:gd name="T24" fmla="*/ 1 w 58"/>
                  <a:gd name="T25" fmla="*/ 0 h 29"/>
                  <a:gd name="T26" fmla="*/ 1 w 58"/>
                  <a:gd name="T27" fmla="*/ 0 h 29"/>
                  <a:gd name="T28" fmla="*/ 1 w 58"/>
                  <a:gd name="T29" fmla="*/ 0 h 29"/>
                  <a:gd name="T30" fmla="*/ 1 w 58"/>
                  <a:gd name="T31" fmla="*/ 0 h 29"/>
                  <a:gd name="T32" fmla="*/ 1 w 58"/>
                  <a:gd name="T33" fmla="*/ 0 h 29"/>
                  <a:gd name="T34" fmla="*/ 1 w 58"/>
                  <a:gd name="T35" fmla="*/ 0 h 29"/>
                  <a:gd name="T36" fmla="*/ 1 w 58"/>
                  <a:gd name="T37" fmla="*/ 0 h 29"/>
                  <a:gd name="T38" fmla="*/ 1 w 58"/>
                  <a:gd name="T39" fmla="*/ 0 h 29"/>
                  <a:gd name="T40" fmla="*/ 1 w 58"/>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29"/>
                  <a:gd name="T65" fmla="*/ 58 w 58"/>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29">
                    <a:moveTo>
                      <a:pt x="58" y="10"/>
                    </a:moveTo>
                    <a:lnTo>
                      <a:pt x="58" y="10"/>
                    </a:lnTo>
                    <a:lnTo>
                      <a:pt x="52" y="7"/>
                    </a:lnTo>
                    <a:lnTo>
                      <a:pt x="46" y="5"/>
                    </a:lnTo>
                    <a:lnTo>
                      <a:pt x="38" y="4"/>
                    </a:lnTo>
                    <a:lnTo>
                      <a:pt x="30" y="2"/>
                    </a:lnTo>
                    <a:lnTo>
                      <a:pt x="22" y="2"/>
                    </a:lnTo>
                    <a:lnTo>
                      <a:pt x="16" y="0"/>
                    </a:lnTo>
                    <a:lnTo>
                      <a:pt x="7" y="0"/>
                    </a:lnTo>
                    <a:lnTo>
                      <a:pt x="0" y="4"/>
                    </a:lnTo>
                    <a:lnTo>
                      <a:pt x="10" y="22"/>
                    </a:lnTo>
                    <a:lnTo>
                      <a:pt x="13" y="22"/>
                    </a:lnTo>
                    <a:lnTo>
                      <a:pt x="19" y="24"/>
                    </a:lnTo>
                    <a:lnTo>
                      <a:pt x="27" y="24"/>
                    </a:lnTo>
                    <a:lnTo>
                      <a:pt x="32" y="26"/>
                    </a:lnTo>
                    <a:lnTo>
                      <a:pt x="40" y="27"/>
                    </a:lnTo>
                    <a:lnTo>
                      <a:pt x="46" y="29"/>
                    </a:lnTo>
                    <a:lnTo>
                      <a:pt x="49" y="29"/>
                    </a:lnTo>
                    <a:lnTo>
                      <a:pt x="58" y="10"/>
                    </a:lnTo>
                    <a:close/>
                  </a:path>
                </a:pathLst>
              </a:custGeom>
              <a:solidFill>
                <a:srgbClr val="000000"/>
              </a:solidFill>
              <a:ln w="9525">
                <a:noFill/>
                <a:round/>
                <a:headEnd/>
                <a:tailEnd/>
              </a:ln>
            </p:spPr>
            <p:txBody>
              <a:bodyPr/>
              <a:lstStyle/>
              <a:p>
                <a:endParaRPr lang="en-US"/>
              </a:p>
            </p:txBody>
          </p:sp>
          <p:sp>
            <p:nvSpPr>
              <p:cNvPr id="28834" name="Freeform 124"/>
              <p:cNvSpPr>
                <a:spLocks/>
              </p:cNvSpPr>
              <p:nvPr/>
            </p:nvSpPr>
            <p:spPr bwMode="auto">
              <a:xfrm>
                <a:off x="2254" y="3504"/>
                <a:ext cx="13" cy="59"/>
              </a:xfrm>
              <a:custGeom>
                <a:avLst/>
                <a:gdLst>
                  <a:gd name="T0" fmla="*/ 1 w 26"/>
                  <a:gd name="T1" fmla="*/ 1 h 117"/>
                  <a:gd name="T2" fmla="*/ 1 w 26"/>
                  <a:gd name="T3" fmla="*/ 1 h 117"/>
                  <a:gd name="T4" fmla="*/ 1 w 26"/>
                  <a:gd name="T5" fmla="*/ 1 h 117"/>
                  <a:gd name="T6" fmla="*/ 1 w 26"/>
                  <a:gd name="T7" fmla="*/ 1 h 117"/>
                  <a:gd name="T8" fmla="*/ 1 w 26"/>
                  <a:gd name="T9" fmla="*/ 1 h 117"/>
                  <a:gd name="T10" fmla="*/ 1 w 26"/>
                  <a:gd name="T11" fmla="*/ 1 h 117"/>
                  <a:gd name="T12" fmla="*/ 1 w 26"/>
                  <a:gd name="T13" fmla="*/ 1 h 117"/>
                  <a:gd name="T14" fmla="*/ 1 w 26"/>
                  <a:gd name="T15" fmla="*/ 1 h 117"/>
                  <a:gd name="T16" fmla="*/ 1 w 26"/>
                  <a:gd name="T17" fmla="*/ 1 h 117"/>
                  <a:gd name="T18" fmla="*/ 1 w 26"/>
                  <a:gd name="T19" fmla="*/ 0 h 117"/>
                  <a:gd name="T20" fmla="*/ 1 w 26"/>
                  <a:gd name="T21" fmla="*/ 1 h 117"/>
                  <a:gd name="T22" fmla="*/ 0 w 26"/>
                  <a:gd name="T23" fmla="*/ 1 h 117"/>
                  <a:gd name="T24" fmla="*/ 1 w 26"/>
                  <a:gd name="T25" fmla="*/ 1 h 117"/>
                  <a:gd name="T26" fmla="*/ 1 w 26"/>
                  <a:gd name="T27" fmla="*/ 1 h 117"/>
                  <a:gd name="T28" fmla="*/ 1 w 26"/>
                  <a:gd name="T29" fmla="*/ 1 h 117"/>
                  <a:gd name="T30" fmla="*/ 1 w 26"/>
                  <a:gd name="T31" fmla="*/ 1 h 117"/>
                  <a:gd name="T32" fmla="*/ 1 w 26"/>
                  <a:gd name="T33" fmla="*/ 1 h 117"/>
                  <a:gd name="T34" fmla="*/ 1 w 26"/>
                  <a:gd name="T35" fmla="*/ 1 h 117"/>
                  <a:gd name="T36" fmla="*/ 1 w 26"/>
                  <a:gd name="T37" fmla="*/ 1 h 117"/>
                  <a:gd name="T38" fmla="*/ 1 w 26"/>
                  <a:gd name="T39" fmla="*/ 1 h 117"/>
                  <a:gd name="T40" fmla="*/ 1 w 26"/>
                  <a:gd name="T41" fmla="*/ 1 h 117"/>
                  <a:gd name="T42" fmla="*/ 1 w 26"/>
                  <a:gd name="T43" fmla="*/ 1 h 117"/>
                  <a:gd name="T44" fmla="*/ 1 w 26"/>
                  <a:gd name="T45" fmla="*/ 1 h 117"/>
                  <a:gd name="T46" fmla="*/ 1 w 26"/>
                  <a:gd name="T47" fmla="*/ 1 h 117"/>
                  <a:gd name="T48" fmla="*/ 1 w 26"/>
                  <a:gd name="T49" fmla="*/ 1 h 1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
                  <a:gd name="T76" fmla="*/ 0 h 117"/>
                  <a:gd name="T77" fmla="*/ 26 w 26"/>
                  <a:gd name="T78" fmla="*/ 117 h 11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 h="117">
                    <a:moveTo>
                      <a:pt x="26" y="106"/>
                    </a:moveTo>
                    <a:lnTo>
                      <a:pt x="26" y="106"/>
                    </a:lnTo>
                    <a:lnTo>
                      <a:pt x="26" y="102"/>
                    </a:lnTo>
                    <a:lnTo>
                      <a:pt x="26" y="92"/>
                    </a:lnTo>
                    <a:lnTo>
                      <a:pt x="26" y="77"/>
                    </a:lnTo>
                    <a:lnTo>
                      <a:pt x="26" y="59"/>
                    </a:lnTo>
                    <a:lnTo>
                      <a:pt x="25" y="41"/>
                    </a:lnTo>
                    <a:lnTo>
                      <a:pt x="23" y="25"/>
                    </a:lnTo>
                    <a:lnTo>
                      <a:pt x="22" y="12"/>
                    </a:lnTo>
                    <a:lnTo>
                      <a:pt x="12" y="0"/>
                    </a:lnTo>
                    <a:lnTo>
                      <a:pt x="3" y="19"/>
                    </a:lnTo>
                    <a:lnTo>
                      <a:pt x="0" y="19"/>
                    </a:lnTo>
                    <a:lnTo>
                      <a:pt x="1" y="28"/>
                    </a:lnTo>
                    <a:lnTo>
                      <a:pt x="3" y="44"/>
                    </a:lnTo>
                    <a:lnTo>
                      <a:pt x="4" y="59"/>
                    </a:lnTo>
                    <a:lnTo>
                      <a:pt x="4" y="77"/>
                    </a:lnTo>
                    <a:lnTo>
                      <a:pt x="4" y="92"/>
                    </a:lnTo>
                    <a:lnTo>
                      <a:pt x="4" y="102"/>
                    </a:lnTo>
                    <a:lnTo>
                      <a:pt x="4" y="106"/>
                    </a:lnTo>
                    <a:lnTo>
                      <a:pt x="8" y="114"/>
                    </a:lnTo>
                    <a:lnTo>
                      <a:pt x="15" y="117"/>
                    </a:lnTo>
                    <a:lnTo>
                      <a:pt x="23" y="114"/>
                    </a:lnTo>
                    <a:lnTo>
                      <a:pt x="26" y="106"/>
                    </a:lnTo>
                    <a:close/>
                  </a:path>
                </a:pathLst>
              </a:custGeom>
              <a:solidFill>
                <a:srgbClr val="000000"/>
              </a:solidFill>
              <a:ln w="9525">
                <a:noFill/>
                <a:round/>
                <a:headEnd/>
                <a:tailEnd/>
              </a:ln>
            </p:spPr>
            <p:txBody>
              <a:bodyPr/>
              <a:lstStyle/>
              <a:p>
                <a:endParaRPr lang="en-US"/>
              </a:p>
            </p:txBody>
          </p:sp>
          <p:sp>
            <p:nvSpPr>
              <p:cNvPr id="28835" name="Freeform 125"/>
              <p:cNvSpPr>
                <a:spLocks/>
              </p:cNvSpPr>
              <p:nvPr/>
            </p:nvSpPr>
            <p:spPr bwMode="auto">
              <a:xfrm>
                <a:off x="2215" y="3558"/>
                <a:ext cx="52" cy="194"/>
              </a:xfrm>
              <a:custGeom>
                <a:avLst/>
                <a:gdLst>
                  <a:gd name="T0" fmla="*/ 1 w 104"/>
                  <a:gd name="T1" fmla="*/ 1 h 388"/>
                  <a:gd name="T2" fmla="*/ 1 w 104"/>
                  <a:gd name="T3" fmla="*/ 1 h 388"/>
                  <a:gd name="T4" fmla="*/ 1 w 104"/>
                  <a:gd name="T5" fmla="*/ 1 h 388"/>
                  <a:gd name="T6" fmla="*/ 1 w 104"/>
                  <a:gd name="T7" fmla="*/ 1 h 388"/>
                  <a:gd name="T8" fmla="*/ 1 w 104"/>
                  <a:gd name="T9" fmla="*/ 1 h 388"/>
                  <a:gd name="T10" fmla="*/ 1 w 104"/>
                  <a:gd name="T11" fmla="*/ 1 h 388"/>
                  <a:gd name="T12" fmla="*/ 1 w 104"/>
                  <a:gd name="T13" fmla="*/ 1 h 388"/>
                  <a:gd name="T14" fmla="*/ 1 w 104"/>
                  <a:gd name="T15" fmla="*/ 1 h 388"/>
                  <a:gd name="T16" fmla="*/ 1 w 104"/>
                  <a:gd name="T17" fmla="*/ 1 h 388"/>
                  <a:gd name="T18" fmla="*/ 1 w 104"/>
                  <a:gd name="T19" fmla="*/ 1 h 388"/>
                  <a:gd name="T20" fmla="*/ 1 w 104"/>
                  <a:gd name="T21" fmla="*/ 1 h 388"/>
                  <a:gd name="T22" fmla="*/ 1 w 104"/>
                  <a:gd name="T23" fmla="*/ 1 h 388"/>
                  <a:gd name="T24" fmla="*/ 1 w 104"/>
                  <a:gd name="T25" fmla="*/ 1 h 388"/>
                  <a:gd name="T26" fmla="*/ 1 w 104"/>
                  <a:gd name="T27" fmla="*/ 1 h 388"/>
                  <a:gd name="T28" fmla="*/ 1 w 104"/>
                  <a:gd name="T29" fmla="*/ 1 h 388"/>
                  <a:gd name="T30" fmla="*/ 1 w 104"/>
                  <a:gd name="T31" fmla="*/ 1 h 388"/>
                  <a:gd name="T32" fmla="*/ 1 w 104"/>
                  <a:gd name="T33" fmla="*/ 1 h 388"/>
                  <a:gd name="T34" fmla="*/ 1 w 104"/>
                  <a:gd name="T35" fmla="*/ 0 h 388"/>
                  <a:gd name="T36" fmla="*/ 1 w 104"/>
                  <a:gd name="T37" fmla="*/ 0 h 388"/>
                  <a:gd name="T38" fmla="*/ 1 w 104"/>
                  <a:gd name="T39" fmla="*/ 1 h 388"/>
                  <a:gd name="T40" fmla="*/ 1 w 104"/>
                  <a:gd name="T41" fmla="*/ 1 h 388"/>
                  <a:gd name="T42" fmla="*/ 1 w 104"/>
                  <a:gd name="T43" fmla="*/ 1 h 388"/>
                  <a:gd name="T44" fmla="*/ 1 w 104"/>
                  <a:gd name="T45" fmla="*/ 1 h 388"/>
                  <a:gd name="T46" fmla="*/ 1 w 104"/>
                  <a:gd name="T47" fmla="*/ 1 h 388"/>
                  <a:gd name="T48" fmla="*/ 1 w 104"/>
                  <a:gd name="T49" fmla="*/ 1 h 388"/>
                  <a:gd name="T50" fmla="*/ 1 w 104"/>
                  <a:gd name="T51" fmla="*/ 1 h 388"/>
                  <a:gd name="T52" fmla="*/ 1 w 104"/>
                  <a:gd name="T53" fmla="*/ 1 h 388"/>
                  <a:gd name="T54" fmla="*/ 1 w 104"/>
                  <a:gd name="T55" fmla="*/ 1 h 388"/>
                  <a:gd name="T56" fmla="*/ 1 w 104"/>
                  <a:gd name="T57" fmla="*/ 1 h 388"/>
                  <a:gd name="T58" fmla="*/ 1 w 104"/>
                  <a:gd name="T59" fmla="*/ 1 h 388"/>
                  <a:gd name="T60" fmla="*/ 1 w 104"/>
                  <a:gd name="T61" fmla="*/ 1 h 388"/>
                  <a:gd name="T62" fmla="*/ 1 w 104"/>
                  <a:gd name="T63" fmla="*/ 1 h 388"/>
                  <a:gd name="T64" fmla="*/ 1 w 104"/>
                  <a:gd name="T65" fmla="*/ 1 h 388"/>
                  <a:gd name="T66" fmla="*/ 1 w 104"/>
                  <a:gd name="T67" fmla="*/ 1 h 388"/>
                  <a:gd name="T68" fmla="*/ 0 w 104"/>
                  <a:gd name="T69" fmla="*/ 1 h 388"/>
                  <a:gd name="T70" fmla="*/ 0 w 104"/>
                  <a:gd name="T71" fmla="*/ 1 h 388"/>
                  <a:gd name="T72" fmla="*/ 1 w 104"/>
                  <a:gd name="T73" fmla="*/ 1 h 3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4"/>
                  <a:gd name="T112" fmla="*/ 0 h 388"/>
                  <a:gd name="T113" fmla="*/ 104 w 104"/>
                  <a:gd name="T114" fmla="*/ 388 h 3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4" h="388">
                    <a:moveTo>
                      <a:pt x="3" y="388"/>
                    </a:moveTo>
                    <a:lnTo>
                      <a:pt x="3" y="388"/>
                    </a:lnTo>
                    <a:lnTo>
                      <a:pt x="23" y="379"/>
                    </a:lnTo>
                    <a:lnTo>
                      <a:pt x="39" y="362"/>
                    </a:lnTo>
                    <a:lnTo>
                      <a:pt x="53" y="341"/>
                    </a:lnTo>
                    <a:lnTo>
                      <a:pt x="65" y="315"/>
                    </a:lnTo>
                    <a:lnTo>
                      <a:pt x="73" y="285"/>
                    </a:lnTo>
                    <a:lnTo>
                      <a:pt x="81" y="252"/>
                    </a:lnTo>
                    <a:lnTo>
                      <a:pt x="87" y="218"/>
                    </a:lnTo>
                    <a:lnTo>
                      <a:pt x="92" y="183"/>
                    </a:lnTo>
                    <a:lnTo>
                      <a:pt x="97" y="149"/>
                    </a:lnTo>
                    <a:lnTo>
                      <a:pt x="100" y="116"/>
                    </a:lnTo>
                    <a:lnTo>
                      <a:pt x="101" y="85"/>
                    </a:lnTo>
                    <a:lnTo>
                      <a:pt x="103" y="57"/>
                    </a:lnTo>
                    <a:lnTo>
                      <a:pt x="104" y="33"/>
                    </a:lnTo>
                    <a:lnTo>
                      <a:pt x="104" y="16"/>
                    </a:lnTo>
                    <a:lnTo>
                      <a:pt x="104" y="5"/>
                    </a:lnTo>
                    <a:lnTo>
                      <a:pt x="104" y="0"/>
                    </a:lnTo>
                    <a:lnTo>
                      <a:pt x="82" y="0"/>
                    </a:lnTo>
                    <a:lnTo>
                      <a:pt x="82" y="5"/>
                    </a:lnTo>
                    <a:lnTo>
                      <a:pt x="82" y="16"/>
                    </a:lnTo>
                    <a:lnTo>
                      <a:pt x="82" y="33"/>
                    </a:lnTo>
                    <a:lnTo>
                      <a:pt x="81" y="57"/>
                    </a:lnTo>
                    <a:lnTo>
                      <a:pt x="79" y="85"/>
                    </a:lnTo>
                    <a:lnTo>
                      <a:pt x="78" y="113"/>
                    </a:lnTo>
                    <a:lnTo>
                      <a:pt x="75" y="146"/>
                    </a:lnTo>
                    <a:lnTo>
                      <a:pt x="70" y="180"/>
                    </a:lnTo>
                    <a:lnTo>
                      <a:pt x="65" y="215"/>
                    </a:lnTo>
                    <a:lnTo>
                      <a:pt x="59" y="249"/>
                    </a:lnTo>
                    <a:lnTo>
                      <a:pt x="51" y="279"/>
                    </a:lnTo>
                    <a:lnTo>
                      <a:pt x="43" y="308"/>
                    </a:lnTo>
                    <a:lnTo>
                      <a:pt x="34" y="332"/>
                    </a:lnTo>
                    <a:lnTo>
                      <a:pt x="23" y="349"/>
                    </a:lnTo>
                    <a:lnTo>
                      <a:pt x="10" y="360"/>
                    </a:lnTo>
                    <a:lnTo>
                      <a:pt x="0" y="366"/>
                    </a:lnTo>
                    <a:lnTo>
                      <a:pt x="3" y="388"/>
                    </a:lnTo>
                    <a:close/>
                  </a:path>
                </a:pathLst>
              </a:custGeom>
              <a:solidFill>
                <a:srgbClr val="000000"/>
              </a:solidFill>
              <a:ln w="9525">
                <a:noFill/>
                <a:round/>
                <a:headEnd/>
                <a:tailEnd/>
              </a:ln>
            </p:spPr>
            <p:txBody>
              <a:bodyPr/>
              <a:lstStyle/>
              <a:p>
                <a:endParaRPr lang="en-US"/>
              </a:p>
            </p:txBody>
          </p:sp>
          <p:sp>
            <p:nvSpPr>
              <p:cNvPr id="28836" name="Freeform 126"/>
              <p:cNvSpPr>
                <a:spLocks/>
              </p:cNvSpPr>
              <p:nvPr/>
            </p:nvSpPr>
            <p:spPr bwMode="auto">
              <a:xfrm>
                <a:off x="2108" y="3741"/>
                <a:ext cx="108" cy="19"/>
              </a:xfrm>
              <a:custGeom>
                <a:avLst/>
                <a:gdLst>
                  <a:gd name="T0" fmla="*/ 0 w 216"/>
                  <a:gd name="T1" fmla="*/ 0 h 40"/>
                  <a:gd name="T2" fmla="*/ 0 w 216"/>
                  <a:gd name="T3" fmla="*/ 0 h 40"/>
                  <a:gd name="T4" fmla="*/ 1 w 216"/>
                  <a:gd name="T5" fmla="*/ 0 h 40"/>
                  <a:gd name="T6" fmla="*/ 1 w 216"/>
                  <a:gd name="T7" fmla="*/ 0 h 40"/>
                  <a:gd name="T8" fmla="*/ 1 w 216"/>
                  <a:gd name="T9" fmla="*/ 0 h 40"/>
                  <a:gd name="T10" fmla="*/ 1 w 216"/>
                  <a:gd name="T11" fmla="*/ 0 h 40"/>
                  <a:gd name="T12" fmla="*/ 1 w 216"/>
                  <a:gd name="T13" fmla="*/ 0 h 40"/>
                  <a:gd name="T14" fmla="*/ 1 w 216"/>
                  <a:gd name="T15" fmla="*/ 0 h 40"/>
                  <a:gd name="T16" fmla="*/ 1 w 216"/>
                  <a:gd name="T17" fmla="*/ 0 h 40"/>
                  <a:gd name="T18" fmla="*/ 1 w 216"/>
                  <a:gd name="T19" fmla="*/ 0 h 40"/>
                  <a:gd name="T20" fmla="*/ 1 w 216"/>
                  <a:gd name="T21" fmla="*/ 0 h 40"/>
                  <a:gd name="T22" fmla="*/ 1 w 216"/>
                  <a:gd name="T23" fmla="*/ 0 h 40"/>
                  <a:gd name="T24" fmla="*/ 1 w 216"/>
                  <a:gd name="T25" fmla="*/ 0 h 40"/>
                  <a:gd name="T26" fmla="*/ 1 w 216"/>
                  <a:gd name="T27" fmla="*/ 0 h 40"/>
                  <a:gd name="T28" fmla="*/ 1 w 216"/>
                  <a:gd name="T29" fmla="*/ 0 h 40"/>
                  <a:gd name="T30" fmla="*/ 1 w 216"/>
                  <a:gd name="T31" fmla="*/ 0 h 40"/>
                  <a:gd name="T32" fmla="*/ 1 w 216"/>
                  <a:gd name="T33" fmla="*/ 0 h 40"/>
                  <a:gd name="T34" fmla="*/ 1 w 216"/>
                  <a:gd name="T35" fmla="*/ 0 h 40"/>
                  <a:gd name="T36" fmla="*/ 1 w 216"/>
                  <a:gd name="T37" fmla="*/ 0 h 40"/>
                  <a:gd name="T38" fmla="*/ 1 w 216"/>
                  <a:gd name="T39" fmla="*/ 0 h 40"/>
                  <a:gd name="T40" fmla="*/ 0 w 216"/>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6"/>
                  <a:gd name="T64" fmla="*/ 0 h 40"/>
                  <a:gd name="T65" fmla="*/ 216 w 216"/>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6" h="40">
                    <a:moveTo>
                      <a:pt x="0" y="30"/>
                    </a:moveTo>
                    <a:lnTo>
                      <a:pt x="0" y="30"/>
                    </a:lnTo>
                    <a:lnTo>
                      <a:pt x="21" y="35"/>
                    </a:lnTo>
                    <a:lnTo>
                      <a:pt x="43" y="38"/>
                    </a:lnTo>
                    <a:lnTo>
                      <a:pt x="68" y="40"/>
                    </a:lnTo>
                    <a:lnTo>
                      <a:pt x="94" y="38"/>
                    </a:lnTo>
                    <a:lnTo>
                      <a:pt x="123" y="36"/>
                    </a:lnTo>
                    <a:lnTo>
                      <a:pt x="151" y="33"/>
                    </a:lnTo>
                    <a:lnTo>
                      <a:pt x="183" y="29"/>
                    </a:lnTo>
                    <a:lnTo>
                      <a:pt x="216" y="22"/>
                    </a:lnTo>
                    <a:lnTo>
                      <a:pt x="213" y="0"/>
                    </a:lnTo>
                    <a:lnTo>
                      <a:pt x="180" y="7"/>
                    </a:lnTo>
                    <a:lnTo>
                      <a:pt x="148" y="11"/>
                    </a:lnTo>
                    <a:lnTo>
                      <a:pt x="120" y="14"/>
                    </a:lnTo>
                    <a:lnTo>
                      <a:pt x="94" y="16"/>
                    </a:lnTo>
                    <a:lnTo>
                      <a:pt x="68" y="18"/>
                    </a:lnTo>
                    <a:lnTo>
                      <a:pt x="47" y="16"/>
                    </a:lnTo>
                    <a:lnTo>
                      <a:pt x="25" y="13"/>
                    </a:lnTo>
                    <a:lnTo>
                      <a:pt x="6" y="8"/>
                    </a:lnTo>
                    <a:lnTo>
                      <a:pt x="0" y="30"/>
                    </a:lnTo>
                    <a:close/>
                  </a:path>
                </a:pathLst>
              </a:custGeom>
              <a:solidFill>
                <a:srgbClr val="000000"/>
              </a:solidFill>
              <a:ln w="9525">
                <a:noFill/>
                <a:round/>
                <a:headEnd/>
                <a:tailEnd/>
              </a:ln>
            </p:spPr>
            <p:txBody>
              <a:bodyPr/>
              <a:lstStyle/>
              <a:p>
                <a:endParaRPr lang="en-US"/>
              </a:p>
            </p:txBody>
          </p:sp>
          <p:sp>
            <p:nvSpPr>
              <p:cNvPr id="28837" name="Freeform 127"/>
              <p:cNvSpPr>
                <a:spLocks/>
              </p:cNvSpPr>
              <p:nvPr/>
            </p:nvSpPr>
            <p:spPr bwMode="auto">
              <a:xfrm>
                <a:off x="2053" y="3734"/>
                <a:ext cx="58" cy="22"/>
              </a:xfrm>
              <a:custGeom>
                <a:avLst/>
                <a:gdLst>
                  <a:gd name="T0" fmla="*/ 0 w 116"/>
                  <a:gd name="T1" fmla="*/ 1 h 42"/>
                  <a:gd name="T2" fmla="*/ 0 w 116"/>
                  <a:gd name="T3" fmla="*/ 1 h 42"/>
                  <a:gd name="T4" fmla="*/ 1 w 116"/>
                  <a:gd name="T5" fmla="*/ 1 h 42"/>
                  <a:gd name="T6" fmla="*/ 1 w 116"/>
                  <a:gd name="T7" fmla="*/ 1 h 42"/>
                  <a:gd name="T8" fmla="*/ 1 w 116"/>
                  <a:gd name="T9" fmla="*/ 1 h 42"/>
                  <a:gd name="T10" fmla="*/ 1 w 116"/>
                  <a:gd name="T11" fmla="*/ 1 h 42"/>
                  <a:gd name="T12" fmla="*/ 1 w 116"/>
                  <a:gd name="T13" fmla="*/ 1 h 42"/>
                  <a:gd name="T14" fmla="*/ 1 w 116"/>
                  <a:gd name="T15" fmla="*/ 1 h 42"/>
                  <a:gd name="T16" fmla="*/ 1 w 116"/>
                  <a:gd name="T17" fmla="*/ 1 h 42"/>
                  <a:gd name="T18" fmla="*/ 1 w 116"/>
                  <a:gd name="T19" fmla="*/ 1 h 42"/>
                  <a:gd name="T20" fmla="*/ 1 w 116"/>
                  <a:gd name="T21" fmla="*/ 1 h 42"/>
                  <a:gd name="T22" fmla="*/ 1 w 116"/>
                  <a:gd name="T23" fmla="*/ 1 h 42"/>
                  <a:gd name="T24" fmla="*/ 1 w 116"/>
                  <a:gd name="T25" fmla="*/ 1 h 42"/>
                  <a:gd name="T26" fmla="*/ 1 w 116"/>
                  <a:gd name="T27" fmla="*/ 1 h 42"/>
                  <a:gd name="T28" fmla="*/ 1 w 116"/>
                  <a:gd name="T29" fmla="*/ 1 h 42"/>
                  <a:gd name="T30" fmla="*/ 1 w 116"/>
                  <a:gd name="T31" fmla="*/ 1 h 42"/>
                  <a:gd name="T32" fmla="*/ 1 w 116"/>
                  <a:gd name="T33" fmla="*/ 0 h 42"/>
                  <a:gd name="T34" fmla="*/ 1 w 116"/>
                  <a:gd name="T35" fmla="*/ 0 h 42"/>
                  <a:gd name="T36" fmla="*/ 0 w 116"/>
                  <a:gd name="T37" fmla="*/ 0 h 42"/>
                  <a:gd name="T38" fmla="*/ 0 w 116"/>
                  <a:gd name="T39" fmla="*/ 0 h 42"/>
                  <a:gd name="T40" fmla="*/ 0 w 116"/>
                  <a:gd name="T41" fmla="*/ 1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6"/>
                  <a:gd name="T64" fmla="*/ 0 h 42"/>
                  <a:gd name="T65" fmla="*/ 116 w 116"/>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6" h="42">
                    <a:moveTo>
                      <a:pt x="0" y="22"/>
                    </a:moveTo>
                    <a:lnTo>
                      <a:pt x="0" y="22"/>
                    </a:lnTo>
                    <a:lnTo>
                      <a:pt x="6" y="22"/>
                    </a:lnTo>
                    <a:lnTo>
                      <a:pt x="17" y="22"/>
                    </a:lnTo>
                    <a:lnTo>
                      <a:pt x="27" y="23"/>
                    </a:lnTo>
                    <a:lnTo>
                      <a:pt x="41" y="25"/>
                    </a:lnTo>
                    <a:lnTo>
                      <a:pt x="58" y="28"/>
                    </a:lnTo>
                    <a:lnTo>
                      <a:pt x="74" y="31"/>
                    </a:lnTo>
                    <a:lnTo>
                      <a:pt x="91" y="36"/>
                    </a:lnTo>
                    <a:lnTo>
                      <a:pt x="110" y="42"/>
                    </a:lnTo>
                    <a:lnTo>
                      <a:pt x="116" y="20"/>
                    </a:lnTo>
                    <a:lnTo>
                      <a:pt x="97" y="14"/>
                    </a:lnTo>
                    <a:lnTo>
                      <a:pt x="80" y="9"/>
                    </a:lnTo>
                    <a:lnTo>
                      <a:pt x="61" y="6"/>
                    </a:lnTo>
                    <a:lnTo>
                      <a:pt x="44" y="3"/>
                    </a:lnTo>
                    <a:lnTo>
                      <a:pt x="30" y="1"/>
                    </a:lnTo>
                    <a:lnTo>
                      <a:pt x="17" y="0"/>
                    </a:lnTo>
                    <a:lnTo>
                      <a:pt x="6" y="0"/>
                    </a:lnTo>
                    <a:lnTo>
                      <a:pt x="0" y="0"/>
                    </a:lnTo>
                    <a:lnTo>
                      <a:pt x="0" y="22"/>
                    </a:lnTo>
                    <a:close/>
                  </a:path>
                </a:pathLst>
              </a:custGeom>
              <a:solidFill>
                <a:srgbClr val="000000"/>
              </a:solidFill>
              <a:ln w="9525">
                <a:noFill/>
                <a:round/>
                <a:headEnd/>
                <a:tailEnd/>
              </a:ln>
            </p:spPr>
            <p:txBody>
              <a:bodyPr/>
              <a:lstStyle/>
              <a:p>
                <a:endParaRPr lang="en-US"/>
              </a:p>
            </p:txBody>
          </p:sp>
          <p:sp>
            <p:nvSpPr>
              <p:cNvPr id="28838" name="Freeform 128"/>
              <p:cNvSpPr>
                <a:spLocks/>
              </p:cNvSpPr>
              <p:nvPr/>
            </p:nvSpPr>
            <p:spPr bwMode="auto">
              <a:xfrm>
                <a:off x="2041" y="3734"/>
                <a:ext cx="12" cy="15"/>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0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1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22" y="19"/>
                    </a:moveTo>
                    <a:lnTo>
                      <a:pt x="22" y="17"/>
                    </a:lnTo>
                    <a:lnTo>
                      <a:pt x="20" y="20"/>
                    </a:lnTo>
                    <a:lnTo>
                      <a:pt x="17" y="23"/>
                    </a:lnTo>
                    <a:lnTo>
                      <a:pt x="20" y="23"/>
                    </a:lnTo>
                    <a:lnTo>
                      <a:pt x="25" y="22"/>
                    </a:lnTo>
                    <a:lnTo>
                      <a:pt x="25" y="0"/>
                    </a:lnTo>
                    <a:lnTo>
                      <a:pt x="14" y="1"/>
                    </a:lnTo>
                    <a:lnTo>
                      <a:pt x="8" y="5"/>
                    </a:lnTo>
                    <a:lnTo>
                      <a:pt x="1" y="11"/>
                    </a:lnTo>
                    <a:lnTo>
                      <a:pt x="0" y="17"/>
                    </a:lnTo>
                    <a:lnTo>
                      <a:pt x="0" y="16"/>
                    </a:lnTo>
                    <a:lnTo>
                      <a:pt x="0" y="17"/>
                    </a:lnTo>
                    <a:lnTo>
                      <a:pt x="3" y="25"/>
                    </a:lnTo>
                    <a:lnTo>
                      <a:pt x="11" y="28"/>
                    </a:lnTo>
                    <a:lnTo>
                      <a:pt x="19" y="25"/>
                    </a:lnTo>
                    <a:lnTo>
                      <a:pt x="22" y="17"/>
                    </a:lnTo>
                    <a:lnTo>
                      <a:pt x="22" y="19"/>
                    </a:lnTo>
                    <a:close/>
                  </a:path>
                </a:pathLst>
              </a:custGeom>
              <a:solidFill>
                <a:srgbClr val="000000"/>
              </a:solidFill>
              <a:ln w="9525">
                <a:noFill/>
                <a:round/>
                <a:headEnd/>
                <a:tailEnd/>
              </a:ln>
            </p:spPr>
            <p:txBody>
              <a:bodyPr/>
              <a:lstStyle/>
              <a:p>
                <a:endParaRPr lang="en-US"/>
              </a:p>
            </p:txBody>
          </p:sp>
          <p:sp>
            <p:nvSpPr>
              <p:cNvPr id="28839" name="Freeform 129"/>
              <p:cNvSpPr>
                <a:spLocks/>
              </p:cNvSpPr>
              <p:nvPr/>
            </p:nvSpPr>
            <p:spPr bwMode="auto">
              <a:xfrm>
                <a:off x="2040" y="3742"/>
                <a:ext cx="12" cy="13"/>
              </a:xfrm>
              <a:custGeom>
                <a:avLst/>
                <a:gdLst>
                  <a:gd name="T0" fmla="*/ 1 w 24"/>
                  <a:gd name="T1" fmla="*/ 1 h 25"/>
                  <a:gd name="T2" fmla="*/ 1 w 24"/>
                  <a:gd name="T3" fmla="*/ 1 h 25"/>
                  <a:gd name="T4" fmla="*/ 1 w 24"/>
                  <a:gd name="T5" fmla="*/ 1 h 25"/>
                  <a:gd name="T6" fmla="*/ 1 w 24"/>
                  <a:gd name="T7" fmla="*/ 0 h 25"/>
                  <a:gd name="T8" fmla="*/ 0 w 24"/>
                  <a:gd name="T9" fmla="*/ 1 h 25"/>
                  <a:gd name="T10" fmla="*/ 0 w 24"/>
                  <a:gd name="T11" fmla="*/ 1 h 25"/>
                  <a:gd name="T12" fmla="*/ 0 w 24"/>
                  <a:gd name="T13" fmla="*/ 1 h 25"/>
                  <a:gd name="T14" fmla="*/ 1 w 24"/>
                  <a:gd name="T15" fmla="*/ 1 h 25"/>
                  <a:gd name="T16" fmla="*/ 1 w 24"/>
                  <a:gd name="T17" fmla="*/ 1 h 25"/>
                  <a:gd name="T18" fmla="*/ 1 w 24"/>
                  <a:gd name="T19" fmla="*/ 1 h 25"/>
                  <a:gd name="T20" fmla="*/ 1 w 24"/>
                  <a:gd name="T21" fmla="*/ 1 h 25"/>
                  <a:gd name="T22" fmla="*/ 1 w 24"/>
                  <a:gd name="T23" fmla="*/ 1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5"/>
                  <a:gd name="T38" fmla="*/ 24 w 24"/>
                  <a:gd name="T39" fmla="*/ 25 h 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5">
                    <a:moveTo>
                      <a:pt x="22" y="14"/>
                    </a:moveTo>
                    <a:lnTo>
                      <a:pt x="22" y="15"/>
                    </a:lnTo>
                    <a:lnTo>
                      <a:pt x="24" y="3"/>
                    </a:lnTo>
                    <a:lnTo>
                      <a:pt x="2" y="0"/>
                    </a:lnTo>
                    <a:lnTo>
                      <a:pt x="0" y="12"/>
                    </a:lnTo>
                    <a:lnTo>
                      <a:pt x="0" y="14"/>
                    </a:lnTo>
                    <a:lnTo>
                      <a:pt x="0" y="12"/>
                    </a:lnTo>
                    <a:lnTo>
                      <a:pt x="3" y="20"/>
                    </a:lnTo>
                    <a:lnTo>
                      <a:pt x="10" y="25"/>
                    </a:lnTo>
                    <a:lnTo>
                      <a:pt x="18" y="23"/>
                    </a:lnTo>
                    <a:lnTo>
                      <a:pt x="22" y="15"/>
                    </a:lnTo>
                    <a:lnTo>
                      <a:pt x="22" y="14"/>
                    </a:lnTo>
                    <a:close/>
                  </a:path>
                </a:pathLst>
              </a:custGeom>
              <a:solidFill>
                <a:srgbClr val="000000"/>
              </a:solidFill>
              <a:ln w="9525">
                <a:noFill/>
                <a:round/>
                <a:headEnd/>
                <a:tailEnd/>
              </a:ln>
            </p:spPr>
            <p:txBody>
              <a:bodyPr/>
              <a:lstStyle/>
              <a:p>
                <a:endParaRPr lang="en-US"/>
              </a:p>
            </p:txBody>
          </p:sp>
          <p:sp>
            <p:nvSpPr>
              <p:cNvPr id="28840" name="Freeform 130"/>
              <p:cNvSpPr>
                <a:spLocks/>
              </p:cNvSpPr>
              <p:nvPr/>
            </p:nvSpPr>
            <p:spPr bwMode="auto">
              <a:xfrm>
                <a:off x="2040" y="3749"/>
                <a:ext cx="14" cy="91"/>
              </a:xfrm>
              <a:custGeom>
                <a:avLst/>
                <a:gdLst>
                  <a:gd name="T0" fmla="*/ 0 w 29"/>
                  <a:gd name="T1" fmla="*/ 1 h 181"/>
                  <a:gd name="T2" fmla="*/ 0 w 29"/>
                  <a:gd name="T3" fmla="*/ 1 h 181"/>
                  <a:gd name="T4" fmla="*/ 0 w 29"/>
                  <a:gd name="T5" fmla="*/ 0 h 181"/>
                  <a:gd name="T6" fmla="*/ 0 w 29"/>
                  <a:gd name="T7" fmla="*/ 0 h 181"/>
                  <a:gd name="T8" fmla="*/ 0 w 29"/>
                  <a:gd name="T9" fmla="*/ 1 h 181"/>
                  <a:gd name="T10" fmla="*/ 0 w 29"/>
                  <a:gd name="T11" fmla="*/ 1 h 181"/>
                  <a:gd name="T12" fmla="*/ 0 w 29"/>
                  <a:gd name="T13" fmla="*/ 1 h 181"/>
                  <a:gd name="T14" fmla="*/ 0 w 29"/>
                  <a:gd name="T15" fmla="*/ 1 h 181"/>
                  <a:gd name="T16" fmla="*/ 0 w 29"/>
                  <a:gd name="T17" fmla="*/ 1 h 181"/>
                  <a:gd name="T18" fmla="*/ 0 w 29"/>
                  <a:gd name="T19" fmla="*/ 1 h 181"/>
                  <a:gd name="T20" fmla="*/ 0 w 29"/>
                  <a:gd name="T21" fmla="*/ 1 h 181"/>
                  <a:gd name="T22" fmla="*/ 0 w 29"/>
                  <a:gd name="T23" fmla="*/ 1 h 1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
                  <a:gd name="T37" fmla="*/ 0 h 181"/>
                  <a:gd name="T38" fmla="*/ 29 w 29"/>
                  <a:gd name="T39" fmla="*/ 181 h 1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 h="181">
                    <a:moveTo>
                      <a:pt x="24" y="180"/>
                    </a:moveTo>
                    <a:lnTo>
                      <a:pt x="29" y="170"/>
                    </a:lnTo>
                    <a:lnTo>
                      <a:pt x="22" y="0"/>
                    </a:lnTo>
                    <a:lnTo>
                      <a:pt x="0" y="0"/>
                    </a:lnTo>
                    <a:lnTo>
                      <a:pt x="7" y="170"/>
                    </a:lnTo>
                    <a:lnTo>
                      <a:pt x="11" y="161"/>
                    </a:lnTo>
                    <a:lnTo>
                      <a:pt x="7" y="170"/>
                    </a:lnTo>
                    <a:lnTo>
                      <a:pt x="10" y="178"/>
                    </a:lnTo>
                    <a:lnTo>
                      <a:pt x="18" y="181"/>
                    </a:lnTo>
                    <a:lnTo>
                      <a:pt x="25" y="178"/>
                    </a:lnTo>
                    <a:lnTo>
                      <a:pt x="29" y="170"/>
                    </a:lnTo>
                    <a:lnTo>
                      <a:pt x="24" y="180"/>
                    </a:lnTo>
                    <a:close/>
                  </a:path>
                </a:pathLst>
              </a:custGeom>
              <a:solidFill>
                <a:srgbClr val="000000"/>
              </a:solidFill>
              <a:ln w="9525">
                <a:noFill/>
                <a:round/>
                <a:headEnd/>
                <a:tailEnd/>
              </a:ln>
            </p:spPr>
            <p:txBody>
              <a:bodyPr/>
              <a:lstStyle/>
              <a:p>
                <a:endParaRPr lang="en-US"/>
              </a:p>
            </p:txBody>
          </p:sp>
          <p:sp>
            <p:nvSpPr>
              <p:cNvPr id="28841" name="Freeform 131"/>
              <p:cNvSpPr>
                <a:spLocks/>
              </p:cNvSpPr>
              <p:nvPr/>
            </p:nvSpPr>
            <p:spPr bwMode="auto">
              <a:xfrm>
                <a:off x="2018" y="3830"/>
                <a:ext cx="34" cy="16"/>
              </a:xfrm>
              <a:custGeom>
                <a:avLst/>
                <a:gdLst>
                  <a:gd name="T0" fmla="*/ 0 w 67"/>
                  <a:gd name="T1" fmla="*/ 0 h 33"/>
                  <a:gd name="T2" fmla="*/ 0 w 67"/>
                  <a:gd name="T3" fmla="*/ 0 h 33"/>
                  <a:gd name="T4" fmla="*/ 1 w 67"/>
                  <a:gd name="T5" fmla="*/ 0 h 33"/>
                  <a:gd name="T6" fmla="*/ 1 w 67"/>
                  <a:gd name="T7" fmla="*/ 0 h 33"/>
                  <a:gd name="T8" fmla="*/ 1 w 67"/>
                  <a:gd name="T9" fmla="*/ 0 h 33"/>
                  <a:gd name="T10" fmla="*/ 1 w 67"/>
                  <a:gd name="T11" fmla="*/ 0 h 33"/>
                  <a:gd name="T12" fmla="*/ 1 w 67"/>
                  <a:gd name="T13" fmla="*/ 0 h 33"/>
                  <a:gd name="T14" fmla="*/ 1 w 67"/>
                  <a:gd name="T15" fmla="*/ 0 h 33"/>
                  <a:gd name="T16" fmla="*/ 1 w 67"/>
                  <a:gd name="T17" fmla="*/ 0 h 33"/>
                  <a:gd name="T18" fmla="*/ 1 w 67"/>
                  <a:gd name="T19" fmla="*/ 0 h 33"/>
                  <a:gd name="T20" fmla="*/ 1 w 67"/>
                  <a:gd name="T21" fmla="*/ 0 h 33"/>
                  <a:gd name="T22" fmla="*/ 1 w 67"/>
                  <a:gd name="T23" fmla="*/ 0 h 33"/>
                  <a:gd name="T24" fmla="*/ 1 w 67"/>
                  <a:gd name="T25" fmla="*/ 0 h 33"/>
                  <a:gd name="T26" fmla="*/ 1 w 67"/>
                  <a:gd name="T27" fmla="*/ 0 h 33"/>
                  <a:gd name="T28" fmla="*/ 1 w 67"/>
                  <a:gd name="T29" fmla="*/ 0 h 33"/>
                  <a:gd name="T30" fmla="*/ 1 w 67"/>
                  <a:gd name="T31" fmla="*/ 0 h 33"/>
                  <a:gd name="T32" fmla="*/ 1 w 67"/>
                  <a:gd name="T33" fmla="*/ 0 h 33"/>
                  <a:gd name="T34" fmla="*/ 1 w 67"/>
                  <a:gd name="T35" fmla="*/ 0 h 33"/>
                  <a:gd name="T36" fmla="*/ 1 w 67"/>
                  <a:gd name="T37" fmla="*/ 0 h 33"/>
                  <a:gd name="T38" fmla="*/ 1 w 67"/>
                  <a:gd name="T39" fmla="*/ 0 h 33"/>
                  <a:gd name="T40" fmla="*/ 0 w 67"/>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33"/>
                  <a:gd name="T65" fmla="*/ 67 w 67"/>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33">
                    <a:moveTo>
                      <a:pt x="0" y="33"/>
                    </a:moveTo>
                    <a:lnTo>
                      <a:pt x="0" y="33"/>
                    </a:lnTo>
                    <a:lnTo>
                      <a:pt x="15" y="33"/>
                    </a:lnTo>
                    <a:lnTo>
                      <a:pt x="28" y="33"/>
                    </a:lnTo>
                    <a:lnTo>
                      <a:pt x="40" y="29"/>
                    </a:lnTo>
                    <a:lnTo>
                      <a:pt x="48" y="28"/>
                    </a:lnTo>
                    <a:lnTo>
                      <a:pt x="56" y="25"/>
                    </a:lnTo>
                    <a:lnTo>
                      <a:pt x="64" y="22"/>
                    </a:lnTo>
                    <a:lnTo>
                      <a:pt x="67" y="17"/>
                    </a:lnTo>
                    <a:lnTo>
                      <a:pt x="67" y="19"/>
                    </a:lnTo>
                    <a:lnTo>
                      <a:pt x="54" y="0"/>
                    </a:lnTo>
                    <a:lnTo>
                      <a:pt x="51" y="1"/>
                    </a:lnTo>
                    <a:lnTo>
                      <a:pt x="51" y="3"/>
                    </a:lnTo>
                    <a:lnTo>
                      <a:pt x="50" y="3"/>
                    </a:lnTo>
                    <a:lnTo>
                      <a:pt x="42" y="6"/>
                    </a:lnTo>
                    <a:lnTo>
                      <a:pt x="34" y="8"/>
                    </a:lnTo>
                    <a:lnTo>
                      <a:pt x="25" y="11"/>
                    </a:lnTo>
                    <a:lnTo>
                      <a:pt x="15" y="11"/>
                    </a:lnTo>
                    <a:lnTo>
                      <a:pt x="3" y="11"/>
                    </a:lnTo>
                    <a:lnTo>
                      <a:pt x="0" y="33"/>
                    </a:lnTo>
                    <a:close/>
                  </a:path>
                </a:pathLst>
              </a:custGeom>
              <a:solidFill>
                <a:srgbClr val="000000"/>
              </a:solidFill>
              <a:ln w="9525">
                <a:noFill/>
                <a:round/>
                <a:headEnd/>
                <a:tailEnd/>
              </a:ln>
            </p:spPr>
            <p:txBody>
              <a:bodyPr/>
              <a:lstStyle/>
              <a:p>
                <a:endParaRPr lang="en-US"/>
              </a:p>
            </p:txBody>
          </p:sp>
          <p:sp>
            <p:nvSpPr>
              <p:cNvPr id="28842" name="Freeform 132"/>
              <p:cNvSpPr>
                <a:spLocks/>
              </p:cNvSpPr>
              <p:nvPr/>
            </p:nvSpPr>
            <p:spPr bwMode="auto">
              <a:xfrm>
                <a:off x="1992" y="3831"/>
                <a:ext cx="28" cy="15"/>
              </a:xfrm>
              <a:custGeom>
                <a:avLst/>
                <a:gdLst>
                  <a:gd name="T0" fmla="*/ 0 w 57"/>
                  <a:gd name="T1" fmla="*/ 0 h 32"/>
                  <a:gd name="T2" fmla="*/ 0 w 57"/>
                  <a:gd name="T3" fmla="*/ 0 h 32"/>
                  <a:gd name="T4" fmla="*/ 0 w 57"/>
                  <a:gd name="T5" fmla="*/ 0 h 32"/>
                  <a:gd name="T6" fmla="*/ 0 w 57"/>
                  <a:gd name="T7" fmla="*/ 0 h 32"/>
                  <a:gd name="T8" fmla="*/ 0 w 57"/>
                  <a:gd name="T9" fmla="*/ 0 h 32"/>
                  <a:gd name="T10" fmla="*/ 0 w 57"/>
                  <a:gd name="T11" fmla="*/ 0 h 32"/>
                  <a:gd name="T12" fmla="*/ 0 w 57"/>
                  <a:gd name="T13" fmla="*/ 0 h 32"/>
                  <a:gd name="T14" fmla="*/ 0 w 57"/>
                  <a:gd name="T15" fmla="*/ 0 h 32"/>
                  <a:gd name="T16" fmla="*/ 0 w 57"/>
                  <a:gd name="T17" fmla="*/ 0 h 32"/>
                  <a:gd name="T18" fmla="*/ 0 w 57"/>
                  <a:gd name="T19" fmla="*/ 0 h 32"/>
                  <a:gd name="T20" fmla="*/ 0 w 57"/>
                  <a:gd name="T21" fmla="*/ 0 h 32"/>
                  <a:gd name="T22" fmla="*/ 0 w 57"/>
                  <a:gd name="T23" fmla="*/ 0 h 32"/>
                  <a:gd name="T24" fmla="*/ 0 w 57"/>
                  <a:gd name="T25" fmla="*/ 0 h 32"/>
                  <a:gd name="T26" fmla="*/ 0 w 57"/>
                  <a:gd name="T27" fmla="*/ 0 h 32"/>
                  <a:gd name="T28" fmla="*/ 0 w 57"/>
                  <a:gd name="T29" fmla="*/ 0 h 32"/>
                  <a:gd name="T30" fmla="*/ 0 w 57"/>
                  <a:gd name="T31" fmla="*/ 0 h 32"/>
                  <a:gd name="T32" fmla="*/ 0 w 57"/>
                  <a:gd name="T33" fmla="*/ 0 h 32"/>
                  <a:gd name="T34" fmla="*/ 0 w 57"/>
                  <a:gd name="T35" fmla="*/ 0 h 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
                  <a:gd name="T55" fmla="*/ 0 h 32"/>
                  <a:gd name="T56" fmla="*/ 57 w 57"/>
                  <a:gd name="T57" fmla="*/ 32 h 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 h="32">
                    <a:moveTo>
                      <a:pt x="0" y="13"/>
                    </a:moveTo>
                    <a:lnTo>
                      <a:pt x="2" y="18"/>
                    </a:lnTo>
                    <a:lnTo>
                      <a:pt x="8" y="24"/>
                    </a:lnTo>
                    <a:lnTo>
                      <a:pt x="16" y="25"/>
                    </a:lnTo>
                    <a:lnTo>
                      <a:pt x="30" y="28"/>
                    </a:lnTo>
                    <a:lnTo>
                      <a:pt x="54" y="32"/>
                    </a:lnTo>
                    <a:lnTo>
                      <a:pt x="57" y="10"/>
                    </a:lnTo>
                    <a:lnTo>
                      <a:pt x="33" y="7"/>
                    </a:lnTo>
                    <a:lnTo>
                      <a:pt x="22" y="3"/>
                    </a:lnTo>
                    <a:lnTo>
                      <a:pt x="17" y="2"/>
                    </a:lnTo>
                    <a:lnTo>
                      <a:pt x="21" y="5"/>
                    </a:lnTo>
                    <a:lnTo>
                      <a:pt x="22" y="10"/>
                    </a:lnTo>
                    <a:lnTo>
                      <a:pt x="21" y="5"/>
                    </a:lnTo>
                    <a:lnTo>
                      <a:pt x="13" y="0"/>
                    </a:lnTo>
                    <a:lnTo>
                      <a:pt x="5" y="2"/>
                    </a:lnTo>
                    <a:lnTo>
                      <a:pt x="0" y="8"/>
                    </a:lnTo>
                    <a:lnTo>
                      <a:pt x="2" y="18"/>
                    </a:lnTo>
                    <a:lnTo>
                      <a:pt x="0" y="13"/>
                    </a:lnTo>
                    <a:close/>
                  </a:path>
                </a:pathLst>
              </a:custGeom>
              <a:solidFill>
                <a:srgbClr val="000000"/>
              </a:solidFill>
              <a:ln w="9525">
                <a:noFill/>
                <a:round/>
                <a:headEnd/>
                <a:tailEnd/>
              </a:ln>
            </p:spPr>
            <p:txBody>
              <a:bodyPr/>
              <a:lstStyle/>
              <a:p>
                <a:endParaRPr lang="en-US"/>
              </a:p>
            </p:txBody>
          </p:sp>
          <p:sp>
            <p:nvSpPr>
              <p:cNvPr id="28843" name="Freeform 133"/>
              <p:cNvSpPr>
                <a:spLocks/>
              </p:cNvSpPr>
              <p:nvPr/>
            </p:nvSpPr>
            <p:spPr bwMode="auto">
              <a:xfrm>
                <a:off x="1985" y="3754"/>
                <a:ext cx="18" cy="83"/>
              </a:xfrm>
              <a:custGeom>
                <a:avLst/>
                <a:gdLst>
                  <a:gd name="T0" fmla="*/ 0 w 36"/>
                  <a:gd name="T1" fmla="*/ 0 h 166"/>
                  <a:gd name="T2" fmla="*/ 0 w 36"/>
                  <a:gd name="T3" fmla="*/ 0 h 166"/>
                  <a:gd name="T4" fmla="*/ 0 w 36"/>
                  <a:gd name="T5" fmla="*/ 1 h 166"/>
                  <a:gd name="T6" fmla="*/ 1 w 36"/>
                  <a:gd name="T7" fmla="*/ 1 h 166"/>
                  <a:gd name="T8" fmla="*/ 1 w 36"/>
                  <a:gd name="T9" fmla="*/ 1 h 166"/>
                  <a:gd name="T10" fmla="*/ 1 w 36"/>
                  <a:gd name="T11" fmla="*/ 1 h 166"/>
                  <a:gd name="T12" fmla="*/ 1 w 36"/>
                  <a:gd name="T13" fmla="*/ 1 h 166"/>
                  <a:gd name="T14" fmla="*/ 1 w 36"/>
                  <a:gd name="T15" fmla="*/ 1 h 166"/>
                  <a:gd name="T16" fmla="*/ 1 w 36"/>
                  <a:gd name="T17" fmla="*/ 1 h 166"/>
                  <a:gd name="T18" fmla="*/ 1 w 36"/>
                  <a:gd name="T19" fmla="*/ 1 h 166"/>
                  <a:gd name="T20" fmla="*/ 1 w 36"/>
                  <a:gd name="T21" fmla="*/ 1 h 166"/>
                  <a:gd name="T22" fmla="*/ 1 w 36"/>
                  <a:gd name="T23" fmla="*/ 1 h 166"/>
                  <a:gd name="T24" fmla="*/ 1 w 36"/>
                  <a:gd name="T25" fmla="*/ 1 h 166"/>
                  <a:gd name="T26" fmla="*/ 1 w 36"/>
                  <a:gd name="T27" fmla="*/ 1 h 166"/>
                  <a:gd name="T28" fmla="*/ 1 w 36"/>
                  <a:gd name="T29" fmla="*/ 1 h 166"/>
                  <a:gd name="T30" fmla="*/ 1 w 36"/>
                  <a:gd name="T31" fmla="*/ 1 h 166"/>
                  <a:gd name="T32" fmla="*/ 1 w 36"/>
                  <a:gd name="T33" fmla="*/ 1 h 166"/>
                  <a:gd name="T34" fmla="*/ 1 w 36"/>
                  <a:gd name="T35" fmla="*/ 1 h 166"/>
                  <a:gd name="T36" fmla="*/ 1 w 36"/>
                  <a:gd name="T37" fmla="*/ 1 h 166"/>
                  <a:gd name="T38" fmla="*/ 1 w 36"/>
                  <a:gd name="T39" fmla="*/ 1 h 166"/>
                  <a:gd name="T40" fmla="*/ 0 w 36"/>
                  <a:gd name="T41" fmla="*/ 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6"/>
                  <a:gd name="T64" fmla="*/ 0 h 166"/>
                  <a:gd name="T65" fmla="*/ 36 w 36"/>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6" h="166">
                    <a:moveTo>
                      <a:pt x="0" y="0"/>
                    </a:moveTo>
                    <a:lnTo>
                      <a:pt x="0" y="0"/>
                    </a:lnTo>
                    <a:lnTo>
                      <a:pt x="0" y="19"/>
                    </a:lnTo>
                    <a:lnTo>
                      <a:pt x="2" y="42"/>
                    </a:lnTo>
                    <a:lnTo>
                      <a:pt x="3" y="70"/>
                    </a:lnTo>
                    <a:lnTo>
                      <a:pt x="6" y="99"/>
                    </a:lnTo>
                    <a:lnTo>
                      <a:pt x="10" y="124"/>
                    </a:lnTo>
                    <a:lnTo>
                      <a:pt x="11" y="145"/>
                    </a:lnTo>
                    <a:lnTo>
                      <a:pt x="14" y="160"/>
                    </a:lnTo>
                    <a:lnTo>
                      <a:pt x="14" y="166"/>
                    </a:lnTo>
                    <a:lnTo>
                      <a:pt x="36" y="163"/>
                    </a:lnTo>
                    <a:lnTo>
                      <a:pt x="36" y="156"/>
                    </a:lnTo>
                    <a:lnTo>
                      <a:pt x="33" y="142"/>
                    </a:lnTo>
                    <a:lnTo>
                      <a:pt x="31" y="120"/>
                    </a:lnTo>
                    <a:lnTo>
                      <a:pt x="28" y="95"/>
                    </a:lnTo>
                    <a:lnTo>
                      <a:pt x="25" y="67"/>
                    </a:lnTo>
                    <a:lnTo>
                      <a:pt x="24" y="42"/>
                    </a:lnTo>
                    <a:lnTo>
                      <a:pt x="22" y="19"/>
                    </a:lnTo>
                    <a:lnTo>
                      <a:pt x="22" y="3"/>
                    </a:lnTo>
                    <a:lnTo>
                      <a:pt x="0" y="0"/>
                    </a:lnTo>
                    <a:close/>
                  </a:path>
                </a:pathLst>
              </a:custGeom>
              <a:solidFill>
                <a:srgbClr val="000000"/>
              </a:solidFill>
              <a:ln w="9525">
                <a:noFill/>
                <a:round/>
                <a:headEnd/>
                <a:tailEnd/>
              </a:ln>
            </p:spPr>
            <p:txBody>
              <a:bodyPr/>
              <a:lstStyle/>
              <a:p>
                <a:endParaRPr lang="en-US"/>
              </a:p>
            </p:txBody>
          </p:sp>
          <p:sp>
            <p:nvSpPr>
              <p:cNvPr id="28844" name="Freeform 134"/>
              <p:cNvSpPr>
                <a:spLocks/>
              </p:cNvSpPr>
              <p:nvPr/>
            </p:nvSpPr>
            <p:spPr bwMode="auto">
              <a:xfrm>
                <a:off x="1985" y="3691"/>
                <a:ext cx="18" cy="65"/>
              </a:xfrm>
              <a:custGeom>
                <a:avLst/>
                <a:gdLst>
                  <a:gd name="T0" fmla="*/ 0 w 38"/>
                  <a:gd name="T1" fmla="*/ 0 h 130"/>
                  <a:gd name="T2" fmla="*/ 0 w 38"/>
                  <a:gd name="T3" fmla="*/ 0 h 130"/>
                  <a:gd name="T4" fmla="*/ 0 w 38"/>
                  <a:gd name="T5" fmla="*/ 1 h 130"/>
                  <a:gd name="T6" fmla="*/ 0 w 38"/>
                  <a:gd name="T7" fmla="*/ 1 h 130"/>
                  <a:gd name="T8" fmla="*/ 0 w 38"/>
                  <a:gd name="T9" fmla="*/ 1 h 130"/>
                  <a:gd name="T10" fmla="*/ 0 w 38"/>
                  <a:gd name="T11" fmla="*/ 1 h 130"/>
                  <a:gd name="T12" fmla="*/ 0 w 38"/>
                  <a:gd name="T13" fmla="*/ 1 h 130"/>
                  <a:gd name="T14" fmla="*/ 0 w 38"/>
                  <a:gd name="T15" fmla="*/ 1 h 130"/>
                  <a:gd name="T16" fmla="*/ 0 w 38"/>
                  <a:gd name="T17" fmla="*/ 1 h 130"/>
                  <a:gd name="T18" fmla="*/ 0 w 38"/>
                  <a:gd name="T19" fmla="*/ 1 h 130"/>
                  <a:gd name="T20" fmla="*/ 0 w 38"/>
                  <a:gd name="T21" fmla="*/ 1 h 130"/>
                  <a:gd name="T22" fmla="*/ 0 w 38"/>
                  <a:gd name="T23" fmla="*/ 1 h 130"/>
                  <a:gd name="T24" fmla="*/ 0 w 38"/>
                  <a:gd name="T25" fmla="*/ 1 h 130"/>
                  <a:gd name="T26" fmla="*/ 0 w 38"/>
                  <a:gd name="T27" fmla="*/ 1 h 130"/>
                  <a:gd name="T28" fmla="*/ 0 w 38"/>
                  <a:gd name="T29" fmla="*/ 1 h 130"/>
                  <a:gd name="T30" fmla="*/ 0 w 38"/>
                  <a:gd name="T31" fmla="*/ 1 h 130"/>
                  <a:gd name="T32" fmla="*/ 0 w 38"/>
                  <a:gd name="T33" fmla="*/ 1 h 130"/>
                  <a:gd name="T34" fmla="*/ 0 w 38"/>
                  <a:gd name="T35" fmla="*/ 1 h 130"/>
                  <a:gd name="T36" fmla="*/ 0 w 38"/>
                  <a:gd name="T37" fmla="*/ 1 h 130"/>
                  <a:gd name="T38" fmla="*/ 0 w 38"/>
                  <a:gd name="T39" fmla="*/ 1 h 130"/>
                  <a:gd name="T40" fmla="*/ 0 w 38"/>
                  <a:gd name="T41" fmla="*/ 0 h 1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8"/>
                  <a:gd name="T64" fmla="*/ 0 h 130"/>
                  <a:gd name="T65" fmla="*/ 38 w 38"/>
                  <a:gd name="T66" fmla="*/ 130 h 1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8" h="130">
                    <a:moveTo>
                      <a:pt x="25" y="0"/>
                    </a:moveTo>
                    <a:lnTo>
                      <a:pt x="25" y="0"/>
                    </a:lnTo>
                    <a:lnTo>
                      <a:pt x="13" y="13"/>
                    </a:lnTo>
                    <a:lnTo>
                      <a:pt x="5" y="28"/>
                    </a:lnTo>
                    <a:lnTo>
                      <a:pt x="2" y="46"/>
                    </a:lnTo>
                    <a:lnTo>
                      <a:pt x="0" y="63"/>
                    </a:lnTo>
                    <a:lnTo>
                      <a:pt x="0" y="80"/>
                    </a:lnTo>
                    <a:lnTo>
                      <a:pt x="0" y="97"/>
                    </a:lnTo>
                    <a:lnTo>
                      <a:pt x="0" y="114"/>
                    </a:lnTo>
                    <a:lnTo>
                      <a:pt x="0" y="127"/>
                    </a:lnTo>
                    <a:lnTo>
                      <a:pt x="22" y="130"/>
                    </a:lnTo>
                    <a:lnTo>
                      <a:pt x="22" y="114"/>
                    </a:lnTo>
                    <a:lnTo>
                      <a:pt x="22" y="97"/>
                    </a:lnTo>
                    <a:lnTo>
                      <a:pt x="22" y="80"/>
                    </a:lnTo>
                    <a:lnTo>
                      <a:pt x="22" y="63"/>
                    </a:lnTo>
                    <a:lnTo>
                      <a:pt x="24" y="49"/>
                    </a:lnTo>
                    <a:lnTo>
                      <a:pt x="27" y="35"/>
                    </a:lnTo>
                    <a:lnTo>
                      <a:pt x="31" y="25"/>
                    </a:lnTo>
                    <a:lnTo>
                      <a:pt x="38" y="19"/>
                    </a:lnTo>
                    <a:lnTo>
                      <a:pt x="25" y="0"/>
                    </a:lnTo>
                    <a:close/>
                  </a:path>
                </a:pathLst>
              </a:custGeom>
              <a:solidFill>
                <a:srgbClr val="000000"/>
              </a:solidFill>
              <a:ln w="9525">
                <a:noFill/>
                <a:round/>
                <a:headEnd/>
                <a:tailEnd/>
              </a:ln>
            </p:spPr>
            <p:txBody>
              <a:bodyPr/>
              <a:lstStyle/>
              <a:p>
                <a:endParaRPr lang="en-US"/>
              </a:p>
            </p:txBody>
          </p:sp>
          <p:sp>
            <p:nvSpPr>
              <p:cNvPr id="28845" name="Freeform 135"/>
              <p:cNvSpPr>
                <a:spLocks/>
              </p:cNvSpPr>
              <p:nvPr/>
            </p:nvSpPr>
            <p:spPr bwMode="auto">
              <a:xfrm>
                <a:off x="1997" y="3676"/>
                <a:ext cx="119" cy="24"/>
              </a:xfrm>
              <a:custGeom>
                <a:avLst/>
                <a:gdLst>
                  <a:gd name="T0" fmla="*/ 1 w 238"/>
                  <a:gd name="T1" fmla="*/ 1 h 48"/>
                  <a:gd name="T2" fmla="*/ 1 w 238"/>
                  <a:gd name="T3" fmla="*/ 1 h 48"/>
                  <a:gd name="T4" fmla="*/ 1 w 238"/>
                  <a:gd name="T5" fmla="*/ 1 h 48"/>
                  <a:gd name="T6" fmla="*/ 1 w 238"/>
                  <a:gd name="T7" fmla="*/ 0 h 48"/>
                  <a:gd name="T8" fmla="*/ 1 w 238"/>
                  <a:gd name="T9" fmla="*/ 0 h 48"/>
                  <a:gd name="T10" fmla="*/ 1 w 238"/>
                  <a:gd name="T11" fmla="*/ 1 h 48"/>
                  <a:gd name="T12" fmla="*/ 1 w 238"/>
                  <a:gd name="T13" fmla="*/ 1 h 48"/>
                  <a:gd name="T14" fmla="*/ 1 w 238"/>
                  <a:gd name="T15" fmla="*/ 1 h 48"/>
                  <a:gd name="T16" fmla="*/ 1 w 238"/>
                  <a:gd name="T17" fmla="*/ 1 h 48"/>
                  <a:gd name="T18" fmla="*/ 0 w 238"/>
                  <a:gd name="T19" fmla="*/ 1 h 48"/>
                  <a:gd name="T20" fmla="*/ 1 w 238"/>
                  <a:gd name="T21" fmla="*/ 1 h 48"/>
                  <a:gd name="T22" fmla="*/ 1 w 238"/>
                  <a:gd name="T23" fmla="*/ 1 h 48"/>
                  <a:gd name="T24" fmla="*/ 1 w 238"/>
                  <a:gd name="T25" fmla="*/ 1 h 48"/>
                  <a:gd name="T26" fmla="*/ 1 w 238"/>
                  <a:gd name="T27" fmla="*/ 1 h 48"/>
                  <a:gd name="T28" fmla="*/ 1 w 238"/>
                  <a:gd name="T29" fmla="*/ 1 h 48"/>
                  <a:gd name="T30" fmla="*/ 1 w 238"/>
                  <a:gd name="T31" fmla="*/ 1 h 48"/>
                  <a:gd name="T32" fmla="*/ 1 w 238"/>
                  <a:gd name="T33" fmla="*/ 1 h 48"/>
                  <a:gd name="T34" fmla="*/ 1 w 238"/>
                  <a:gd name="T35" fmla="*/ 1 h 48"/>
                  <a:gd name="T36" fmla="*/ 1 w 238"/>
                  <a:gd name="T37" fmla="*/ 1 h 48"/>
                  <a:gd name="T38" fmla="*/ 1 w 238"/>
                  <a:gd name="T39" fmla="*/ 1 h 48"/>
                  <a:gd name="T40" fmla="*/ 1 w 238"/>
                  <a:gd name="T41" fmla="*/ 1 h 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38"/>
                  <a:gd name="T64" fmla="*/ 0 h 48"/>
                  <a:gd name="T65" fmla="*/ 238 w 238"/>
                  <a:gd name="T66" fmla="*/ 48 h 4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38" h="48">
                    <a:moveTo>
                      <a:pt x="235" y="26"/>
                    </a:moveTo>
                    <a:lnTo>
                      <a:pt x="238" y="4"/>
                    </a:lnTo>
                    <a:lnTo>
                      <a:pt x="198" y="1"/>
                    </a:lnTo>
                    <a:lnTo>
                      <a:pt x="160" y="0"/>
                    </a:lnTo>
                    <a:lnTo>
                      <a:pt x="125" y="0"/>
                    </a:lnTo>
                    <a:lnTo>
                      <a:pt x="93" y="3"/>
                    </a:lnTo>
                    <a:lnTo>
                      <a:pt x="63" y="7"/>
                    </a:lnTo>
                    <a:lnTo>
                      <a:pt x="38" y="14"/>
                    </a:lnTo>
                    <a:lnTo>
                      <a:pt x="16" y="21"/>
                    </a:lnTo>
                    <a:lnTo>
                      <a:pt x="0" y="29"/>
                    </a:lnTo>
                    <a:lnTo>
                      <a:pt x="13" y="48"/>
                    </a:lnTo>
                    <a:lnTo>
                      <a:pt x="25" y="40"/>
                    </a:lnTo>
                    <a:lnTo>
                      <a:pt x="44" y="36"/>
                    </a:lnTo>
                    <a:lnTo>
                      <a:pt x="66" y="29"/>
                    </a:lnTo>
                    <a:lnTo>
                      <a:pt x="96" y="25"/>
                    </a:lnTo>
                    <a:lnTo>
                      <a:pt x="125" y="21"/>
                    </a:lnTo>
                    <a:lnTo>
                      <a:pt x="160" y="21"/>
                    </a:lnTo>
                    <a:lnTo>
                      <a:pt x="198" y="23"/>
                    </a:lnTo>
                    <a:lnTo>
                      <a:pt x="235" y="26"/>
                    </a:lnTo>
                    <a:lnTo>
                      <a:pt x="238" y="4"/>
                    </a:lnTo>
                    <a:lnTo>
                      <a:pt x="235" y="26"/>
                    </a:lnTo>
                    <a:close/>
                  </a:path>
                </a:pathLst>
              </a:custGeom>
              <a:solidFill>
                <a:srgbClr val="000000"/>
              </a:solidFill>
              <a:ln w="9525">
                <a:noFill/>
                <a:round/>
                <a:headEnd/>
                <a:tailEnd/>
              </a:ln>
            </p:spPr>
            <p:txBody>
              <a:bodyPr/>
              <a:lstStyle/>
              <a:p>
                <a:endParaRPr lang="en-US"/>
              </a:p>
            </p:txBody>
          </p:sp>
          <p:sp>
            <p:nvSpPr>
              <p:cNvPr id="28846" name="Freeform 136"/>
              <p:cNvSpPr>
                <a:spLocks/>
              </p:cNvSpPr>
              <p:nvPr/>
            </p:nvSpPr>
            <p:spPr bwMode="auto">
              <a:xfrm>
                <a:off x="2069" y="3676"/>
                <a:ext cx="47" cy="13"/>
              </a:xfrm>
              <a:custGeom>
                <a:avLst/>
                <a:gdLst>
                  <a:gd name="T0" fmla="*/ 0 w 94"/>
                  <a:gd name="T1" fmla="*/ 1 h 26"/>
                  <a:gd name="T2" fmla="*/ 0 w 94"/>
                  <a:gd name="T3" fmla="*/ 1 h 26"/>
                  <a:gd name="T4" fmla="*/ 1 w 94"/>
                  <a:gd name="T5" fmla="*/ 1 h 26"/>
                  <a:gd name="T6" fmla="*/ 1 w 94"/>
                  <a:gd name="T7" fmla="*/ 1 h 26"/>
                  <a:gd name="T8" fmla="*/ 1 w 94"/>
                  <a:gd name="T9" fmla="*/ 1 h 26"/>
                  <a:gd name="T10" fmla="*/ 1 w 94"/>
                  <a:gd name="T11" fmla="*/ 1 h 26"/>
                  <a:gd name="T12" fmla="*/ 1 w 94"/>
                  <a:gd name="T13" fmla="*/ 1 h 26"/>
                  <a:gd name="T14" fmla="*/ 1 w 94"/>
                  <a:gd name="T15" fmla="*/ 1 h 26"/>
                  <a:gd name="T16" fmla="*/ 1 w 94"/>
                  <a:gd name="T17" fmla="*/ 1 h 26"/>
                  <a:gd name="T18" fmla="*/ 1 w 94"/>
                  <a:gd name="T19" fmla="*/ 1 h 26"/>
                  <a:gd name="T20" fmla="*/ 1 w 94"/>
                  <a:gd name="T21" fmla="*/ 1 h 26"/>
                  <a:gd name="T22" fmla="*/ 1 w 94"/>
                  <a:gd name="T23" fmla="*/ 1 h 26"/>
                  <a:gd name="T24" fmla="*/ 1 w 94"/>
                  <a:gd name="T25" fmla="*/ 1 h 26"/>
                  <a:gd name="T26" fmla="*/ 1 w 94"/>
                  <a:gd name="T27" fmla="*/ 1 h 26"/>
                  <a:gd name="T28" fmla="*/ 1 w 94"/>
                  <a:gd name="T29" fmla="*/ 1 h 26"/>
                  <a:gd name="T30" fmla="*/ 1 w 94"/>
                  <a:gd name="T31" fmla="*/ 1 h 26"/>
                  <a:gd name="T32" fmla="*/ 1 w 94"/>
                  <a:gd name="T33" fmla="*/ 0 h 26"/>
                  <a:gd name="T34" fmla="*/ 1 w 94"/>
                  <a:gd name="T35" fmla="*/ 0 h 26"/>
                  <a:gd name="T36" fmla="*/ 0 w 94"/>
                  <a:gd name="T37" fmla="*/ 0 h 26"/>
                  <a:gd name="T38" fmla="*/ 0 w 94"/>
                  <a:gd name="T39" fmla="*/ 0 h 26"/>
                  <a:gd name="T40" fmla="*/ 0 w 94"/>
                  <a:gd name="T41" fmla="*/ 1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26"/>
                  <a:gd name="T65" fmla="*/ 94 w 94"/>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26">
                    <a:moveTo>
                      <a:pt x="0" y="21"/>
                    </a:moveTo>
                    <a:lnTo>
                      <a:pt x="0" y="21"/>
                    </a:lnTo>
                    <a:lnTo>
                      <a:pt x="16" y="21"/>
                    </a:lnTo>
                    <a:lnTo>
                      <a:pt x="32" y="21"/>
                    </a:lnTo>
                    <a:lnTo>
                      <a:pt x="47" y="23"/>
                    </a:lnTo>
                    <a:lnTo>
                      <a:pt x="61" y="23"/>
                    </a:lnTo>
                    <a:lnTo>
                      <a:pt x="74" y="25"/>
                    </a:lnTo>
                    <a:lnTo>
                      <a:pt x="82" y="25"/>
                    </a:lnTo>
                    <a:lnTo>
                      <a:pt x="88" y="26"/>
                    </a:lnTo>
                    <a:lnTo>
                      <a:pt x="91" y="26"/>
                    </a:lnTo>
                    <a:lnTo>
                      <a:pt x="94" y="4"/>
                    </a:lnTo>
                    <a:lnTo>
                      <a:pt x="91" y="4"/>
                    </a:lnTo>
                    <a:lnTo>
                      <a:pt x="85" y="3"/>
                    </a:lnTo>
                    <a:lnTo>
                      <a:pt x="74" y="3"/>
                    </a:lnTo>
                    <a:lnTo>
                      <a:pt x="61" y="1"/>
                    </a:lnTo>
                    <a:lnTo>
                      <a:pt x="47" y="1"/>
                    </a:lnTo>
                    <a:lnTo>
                      <a:pt x="32" y="0"/>
                    </a:lnTo>
                    <a:lnTo>
                      <a:pt x="16" y="0"/>
                    </a:lnTo>
                    <a:lnTo>
                      <a:pt x="0" y="0"/>
                    </a:lnTo>
                    <a:lnTo>
                      <a:pt x="0" y="21"/>
                    </a:lnTo>
                    <a:close/>
                  </a:path>
                </a:pathLst>
              </a:custGeom>
              <a:solidFill>
                <a:srgbClr val="000000"/>
              </a:solidFill>
              <a:ln w="9525">
                <a:noFill/>
                <a:round/>
                <a:headEnd/>
                <a:tailEnd/>
              </a:ln>
            </p:spPr>
            <p:txBody>
              <a:bodyPr/>
              <a:lstStyle/>
              <a:p>
                <a:endParaRPr lang="en-US"/>
              </a:p>
            </p:txBody>
          </p:sp>
          <p:sp>
            <p:nvSpPr>
              <p:cNvPr id="28847" name="Freeform 137"/>
              <p:cNvSpPr>
                <a:spLocks/>
              </p:cNvSpPr>
              <p:nvPr/>
            </p:nvSpPr>
            <p:spPr bwMode="auto">
              <a:xfrm>
                <a:off x="2043" y="3676"/>
                <a:ext cx="26" cy="12"/>
              </a:xfrm>
              <a:custGeom>
                <a:avLst/>
                <a:gdLst>
                  <a:gd name="T0" fmla="*/ 0 w 53"/>
                  <a:gd name="T1" fmla="*/ 0 h 25"/>
                  <a:gd name="T2" fmla="*/ 0 w 53"/>
                  <a:gd name="T3" fmla="*/ 0 h 25"/>
                  <a:gd name="T4" fmla="*/ 0 w 53"/>
                  <a:gd name="T5" fmla="*/ 0 h 25"/>
                  <a:gd name="T6" fmla="*/ 0 w 53"/>
                  <a:gd name="T7" fmla="*/ 0 h 25"/>
                  <a:gd name="T8" fmla="*/ 0 w 53"/>
                  <a:gd name="T9" fmla="*/ 0 h 25"/>
                  <a:gd name="T10" fmla="*/ 0 w 53"/>
                  <a:gd name="T11" fmla="*/ 0 h 25"/>
                  <a:gd name="T12" fmla="*/ 0 w 53"/>
                  <a:gd name="T13" fmla="*/ 0 h 25"/>
                  <a:gd name="T14" fmla="*/ 0 w 53"/>
                  <a:gd name="T15" fmla="*/ 0 h 25"/>
                  <a:gd name="T16" fmla="*/ 0 w 53"/>
                  <a:gd name="T17" fmla="*/ 0 h 25"/>
                  <a:gd name="T18" fmla="*/ 0 w 53"/>
                  <a:gd name="T19" fmla="*/ 0 h 25"/>
                  <a:gd name="T20" fmla="*/ 0 w 53"/>
                  <a:gd name="T21" fmla="*/ 0 h 25"/>
                  <a:gd name="T22" fmla="*/ 0 w 53"/>
                  <a:gd name="T23" fmla="*/ 0 h 25"/>
                  <a:gd name="T24" fmla="*/ 0 w 53"/>
                  <a:gd name="T25" fmla="*/ 0 h 25"/>
                  <a:gd name="T26" fmla="*/ 0 w 53"/>
                  <a:gd name="T27" fmla="*/ 0 h 25"/>
                  <a:gd name="T28" fmla="*/ 0 w 53"/>
                  <a:gd name="T29" fmla="*/ 0 h 25"/>
                  <a:gd name="T30" fmla="*/ 0 w 53"/>
                  <a:gd name="T31" fmla="*/ 0 h 25"/>
                  <a:gd name="T32" fmla="*/ 0 w 53"/>
                  <a:gd name="T33" fmla="*/ 0 h 25"/>
                  <a:gd name="T34" fmla="*/ 0 w 53"/>
                  <a:gd name="T35" fmla="*/ 0 h 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3"/>
                  <a:gd name="T55" fmla="*/ 0 h 25"/>
                  <a:gd name="T56" fmla="*/ 53 w 53"/>
                  <a:gd name="T57" fmla="*/ 25 h 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3" h="25">
                    <a:moveTo>
                      <a:pt x="0" y="17"/>
                    </a:moveTo>
                    <a:lnTo>
                      <a:pt x="19" y="21"/>
                    </a:lnTo>
                    <a:lnTo>
                      <a:pt x="16" y="25"/>
                    </a:lnTo>
                    <a:lnTo>
                      <a:pt x="19" y="23"/>
                    </a:lnTo>
                    <a:lnTo>
                      <a:pt x="30" y="21"/>
                    </a:lnTo>
                    <a:lnTo>
                      <a:pt x="53" y="21"/>
                    </a:lnTo>
                    <a:lnTo>
                      <a:pt x="53" y="0"/>
                    </a:lnTo>
                    <a:lnTo>
                      <a:pt x="30" y="0"/>
                    </a:lnTo>
                    <a:lnTo>
                      <a:pt x="16" y="1"/>
                    </a:lnTo>
                    <a:lnTo>
                      <a:pt x="9" y="3"/>
                    </a:lnTo>
                    <a:lnTo>
                      <a:pt x="3" y="6"/>
                    </a:lnTo>
                    <a:lnTo>
                      <a:pt x="22" y="10"/>
                    </a:lnTo>
                    <a:lnTo>
                      <a:pt x="3" y="6"/>
                    </a:lnTo>
                    <a:lnTo>
                      <a:pt x="0" y="14"/>
                    </a:lnTo>
                    <a:lnTo>
                      <a:pt x="5" y="20"/>
                    </a:lnTo>
                    <a:lnTo>
                      <a:pt x="11" y="25"/>
                    </a:lnTo>
                    <a:lnTo>
                      <a:pt x="19" y="21"/>
                    </a:lnTo>
                    <a:lnTo>
                      <a:pt x="0" y="17"/>
                    </a:lnTo>
                    <a:close/>
                  </a:path>
                </a:pathLst>
              </a:custGeom>
              <a:solidFill>
                <a:srgbClr val="000000"/>
              </a:solidFill>
              <a:ln w="9525">
                <a:noFill/>
                <a:round/>
                <a:headEnd/>
                <a:tailEnd/>
              </a:ln>
            </p:spPr>
            <p:txBody>
              <a:bodyPr/>
              <a:lstStyle/>
              <a:p>
                <a:endParaRPr lang="en-US"/>
              </a:p>
            </p:txBody>
          </p:sp>
          <p:sp>
            <p:nvSpPr>
              <p:cNvPr id="28848" name="Freeform 138"/>
              <p:cNvSpPr>
                <a:spLocks/>
              </p:cNvSpPr>
              <p:nvPr/>
            </p:nvSpPr>
            <p:spPr bwMode="auto">
              <a:xfrm>
                <a:off x="2041" y="3671"/>
                <a:ext cx="12" cy="13"/>
              </a:xfrm>
              <a:custGeom>
                <a:avLst/>
                <a:gdLst>
                  <a:gd name="T0" fmla="*/ 0 w 25"/>
                  <a:gd name="T1" fmla="*/ 0 h 27"/>
                  <a:gd name="T2" fmla="*/ 0 w 25"/>
                  <a:gd name="T3" fmla="*/ 0 h 27"/>
                  <a:gd name="T4" fmla="*/ 0 w 25"/>
                  <a:gd name="T5" fmla="*/ 0 h 27"/>
                  <a:gd name="T6" fmla="*/ 0 w 25"/>
                  <a:gd name="T7" fmla="*/ 0 h 27"/>
                  <a:gd name="T8" fmla="*/ 0 w 25"/>
                  <a:gd name="T9" fmla="*/ 0 h 27"/>
                  <a:gd name="T10" fmla="*/ 0 w 25"/>
                  <a:gd name="T11" fmla="*/ 0 h 27"/>
                  <a:gd name="T12" fmla="*/ 0 w 25"/>
                  <a:gd name="T13" fmla="*/ 0 h 27"/>
                  <a:gd name="T14" fmla="*/ 0 w 25"/>
                  <a:gd name="T15" fmla="*/ 0 h 27"/>
                  <a:gd name="T16" fmla="*/ 0 w 25"/>
                  <a:gd name="T17" fmla="*/ 0 h 27"/>
                  <a:gd name="T18" fmla="*/ 0 w 25"/>
                  <a:gd name="T19" fmla="*/ 0 h 27"/>
                  <a:gd name="T20" fmla="*/ 0 w 25"/>
                  <a:gd name="T21" fmla="*/ 0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27"/>
                  <a:gd name="T35" fmla="*/ 25 w 25"/>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27">
                    <a:moveTo>
                      <a:pt x="0" y="14"/>
                    </a:moveTo>
                    <a:lnTo>
                      <a:pt x="0" y="14"/>
                    </a:lnTo>
                    <a:lnTo>
                      <a:pt x="3" y="27"/>
                    </a:lnTo>
                    <a:lnTo>
                      <a:pt x="25" y="20"/>
                    </a:lnTo>
                    <a:lnTo>
                      <a:pt x="22" y="8"/>
                    </a:lnTo>
                    <a:lnTo>
                      <a:pt x="17" y="2"/>
                    </a:lnTo>
                    <a:lnTo>
                      <a:pt x="9" y="0"/>
                    </a:lnTo>
                    <a:lnTo>
                      <a:pt x="1" y="5"/>
                    </a:lnTo>
                    <a:lnTo>
                      <a:pt x="0" y="14"/>
                    </a:lnTo>
                    <a:close/>
                  </a:path>
                </a:pathLst>
              </a:custGeom>
              <a:solidFill>
                <a:srgbClr val="000000"/>
              </a:solidFill>
              <a:ln w="9525">
                <a:noFill/>
                <a:round/>
                <a:headEnd/>
                <a:tailEnd/>
              </a:ln>
            </p:spPr>
            <p:txBody>
              <a:bodyPr/>
              <a:lstStyle/>
              <a:p>
                <a:endParaRPr lang="en-US"/>
              </a:p>
            </p:txBody>
          </p:sp>
          <p:sp>
            <p:nvSpPr>
              <p:cNvPr id="28849" name="Freeform 139"/>
              <p:cNvSpPr>
                <a:spLocks/>
              </p:cNvSpPr>
              <p:nvPr/>
            </p:nvSpPr>
            <p:spPr bwMode="auto">
              <a:xfrm>
                <a:off x="2041" y="3660"/>
                <a:ext cx="18" cy="18"/>
              </a:xfrm>
              <a:custGeom>
                <a:avLst/>
                <a:gdLst>
                  <a:gd name="T0" fmla="*/ 1 w 36"/>
                  <a:gd name="T1" fmla="*/ 0 h 36"/>
                  <a:gd name="T2" fmla="*/ 1 w 36"/>
                  <a:gd name="T3" fmla="*/ 0 h 36"/>
                  <a:gd name="T4" fmla="*/ 1 w 36"/>
                  <a:gd name="T5" fmla="*/ 1 h 36"/>
                  <a:gd name="T6" fmla="*/ 1 w 36"/>
                  <a:gd name="T7" fmla="*/ 1 h 36"/>
                  <a:gd name="T8" fmla="*/ 0 w 36"/>
                  <a:gd name="T9" fmla="*/ 1 h 36"/>
                  <a:gd name="T10" fmla="*/ 0 w 36"/>
                  <a:gd name="T11" fmla="*/ 1 h 36"/>
                  <a:gd name="T12" fmla="*/ 1 w 36"/>
                  <a:gd name="T13" fmla="*/ 1 h 36"/>
                  <a:gd name="T14" fmla="*/ 1 w 36"/>
                  <a:gd name="T15" fmla="*/ 1 h 36"/>
                  <a:gd name="T16" fmla="*/ 1 w 36"/>
                  <a:gd name="T17" fmla="*/ 1 h 36"/>
                  <a:gd name="T18" fmla="*/ 1 w 36"/>
                  <a:gd name="T19" fmla="*/ 1 h 36"/>
                  <a:gd name="T20" fmla="*/ 1 w 36"/>
                  <a:gd name="T21" fmla="*/ 1 h 36"/>
                  <a:gd name="T22" fmla="*/ 1 w 36"/>
                  <a:gd name="T23" fmla="*/ 1 h 36"/>
                  <a:gd name="T24" fmla="*/ 1 w 36"/>
                  <a:gd name="T25" fmla="*/ 0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
                  <a:gd name="T40" fmla="*/ 0 h 36"/>
                  <a:gd name="T41" fmla="*/ 36 w 36"/>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 h="36">
                    <a:moveTo>
                      <a:pt x="30" y="0"/>
                    </a:moveTo>
                    <a:lnTo>
                      <a:pt x="30" y="0"/>
                    </a:lnTo>
                    <a:lnTo>
                      <a:pt x="12" y="8"/>
                    </a:lnTo>
                    <a:lnTo>
                      <a:pt x="3" y="21"/>
                    </a:lnTo>
                    <a:lnTo>
                      <a:pt x="0" y="30"/>
                    </a:lnTo>
                    <a:lnTo>
                      <a:pt x="0" y="36"/>
                    </a:lnTo>
                    <a:lnTo>
                      <a:pt x="22" y="30"/>
                    </a:lnTo>
                    <a:lnTo>
                      <a:pt x="22" y="33"/>
                    </a:lnTo>
                    <a:lnTo>
                      <a:pt x="22" y="30"/>
                    </a:lnTo>
                    <a:lnTo>
                      <a:pt x="25" y="27"/>
                    </a:lnTo>
                    <a:lnTo>
                      <a:pt x="36" y="22"/>
                    </a:lnTo>
                    <a:lnTo>
                      <a:pt x="30" y="0"/>
                    </a:lnTo>
                    <a:close/>
                  </a:path>
                </a:pathLst>
              </a:custGeom>
              <a:solidFill>
                <a:srgbClr val="000000"/>
              </a:solidFill>
              <a:ln w="9525">
                <a:noFill/>
                <a:round/>
                <a:headEnd/>
                <a:tailEnd/>
              </a:ln>
            </p:spPr>
            <p:txBody>
              <a:bodyPr/>
              <a:lstStyle/>
              <a:p>
                <a:endParaRPr lang="en-US"/>
              </a:p>
            </p:txBody>
          </p:sp>
          <p:sp>
            <p:nvSpPr>
              <p:cNvPr id="28850" name="Freeform 140"/>
              <p:cNvSpPr>
                <a:spLocks/>
              </p:cNvSpPr>
              <p:nvPr/>
            </p:nvSpPr>
            <p:spPr bwMode="auto">
              <a:xfrm>
                <a:off x="2056" y="3649"/>
                <a:ext cx="80" cy="22"/>
              </a:xfrm>
              <a:custGeom>
                <a:avLst/>
                <a:gdLst>
                  <a:gd name="T0" fmla="*/ 0 w 161"/>
                  <a:gd name="T1" fmla="*/ 0 h 44"/>
                  <a:gd name="T2" fmla="*/ 0 w 161"/>
                  <a:gd name="T3" fmla="*/ 0 h 44"/>
                  <a:gd name="T4" fmla="*/ 0 w 161"/>
                  <a:gd name="T5" fmla="*/ 1 h 44"/>
                  <a:gd name="T6" fmla="*/ 0 w 161"/>
                  <a:gd name="T7" fmla="*/ 1 h 44"/>
                  <a:gd name="T8" fmla="*/ 0 w 161"/>
                  <a:gd name="T9" fmla="*/ 1 h 44"/>
                  <a:gd name="T10" fmla="*/ 0 w 161"/>
                  <a:gd name="T11" fmla="*/ 1 h 44"/>
                  <a:gd name="T12" fmla="*/ 0 w 161"/>
                  <a:gd name="T13" fmla="*/ 1 h 44"/>
                  <a:gd name="T14" fmla="*/ 0 w 161"/>
                  <a:gd name="T15" fmla="*/ 1 h 44"/>
                  <a:gd name="T16" fmla="*/ 0 w 161"/>
                  <a:gd name="T17" fmla="*/ 1 h 44"/>
                  <a:gd name="T18" fmla="*/ 0 w 161"/>
                  <a:gd name="T19" fmla="*/ 1 h 44"/>
                  <a:gd name="T20" fmla="*/ 0 w 161"/>
                  <a:gd name="T21" fmla="*/ 1 h 44"/>
                  <a:gd name="T22" fmla="*/ 0 w 161"/>
                  <a:gd name="T23" fmla="*/ 1 h 44"/>
                  <a:gd name="T24" fmla="*/ 0 w 161"/>
                  <a:gd name="T25" fmla="*/ 1 h 44"/>
                  <a:gd name="T26" fmla="*/ 0 w 161"/>
                  <a:gd name="T27" fmla="*/ 1 h 44"/>
                  <a:gd name="T28" fmla="*/ 0 w 161"/>
                  <a:gd name="T29" fmla="*/ 1 h 44"/>
                  <a:gd name="T30" fmla="*/ 0 w 161"/>
                  <a:gd name="T31" fmla="*/ 1 h 44"/>
                  <a:gd name="T32" fmla="*/ 0 w 161"/>
                  <a:gd name="T33" fmla="*/ 1 h 44"/>
                  <a:gd name="T34" fmla="*/ 0 w 161"/>
                  <a:gd name="T35" fmla="*/ 1 h 44"/>
                  <a:gd name="T36" fmla="*/ 0 w 161"/>
                  <a:gd name="T37" fmla="*/ 0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1"/>
                  <a:gd name="T58" fmla="*/ 0 h 44"/>
                  <a:gd name="T59" fmla="*/ 161 w 161"/>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1" h="44">
                    <a:moveTo>
                      <a:pt x="161" y="0"/>
                    </a:moveTo>
                    <a:lnTo>
                      <a:pt x="148" y="0"/>
                    </a:lnTo>
                    <a:lnTo>
                      <a:pt x="130" y="2"/>
                    </a:lnTo>
                    <a:lnTo>
                      <a:pt x="108" y="5"/>
                    </a:lnTo>
                    <a:lnTo>
                      <a:pt x="83" y="8"/>
                    </a:lnTo>
                    <a:lnTo>
                      <a:pt x="58" y="11"/>
                    </a:lnTo>
                    <a:lnTo>
                      <a:pt x="34" y="16"/>
                    </a:lnTo>
                    <a:lnTo>
                      <a:pt x="15" y="19"/>
                    </a:lnTo>
                    <a:lnTo>
                      <a:pt x="0" y="22"/>
                    </a:lnTo>
                    <a:lnTo>
                      <a:pt x="6" y="44"/>
                    </a:lnTo>
                    <a:lnTo>
                      <a:pt x="18" y="41"/>
                    </a:lnTo>
                    <a:lnTo>
                      <a:pt x="37" y="38"/>
                    </a:lnTo>
                    <a:lnTo>
                      <a:pt x="61" y="33"/>
                    </a:lnTo>
                    <a:lnTo>
                      <a:pt x="86" y="30"/>
                    </a:lnTo>
                    <a:lnTo>
                      <a:pt x="111" y="27"/>
                    </a:lnTo>
                    <a:lnTo>
                      <a:pt x="133" y="24"/>
                    </a:lnTo>
                    <a:lnTo>
                      <a:pt x="148" y="22"/>
                    </a:lnTo>
                    <a:lnTo>
                      <a:pt x="158" y="22"/>
                    </a:lnTo>
                    <a:lnTo>
                      <a:pt x="161" y="0"/>
                    </a:lnTo>
                    <a:close/>
                  </a:path>
                </a:pathLst>
              </a:custGeom>
              <a:solidFill>
                <a:srgbClr val="000000"/>
              </a:solidFill>
              <a:ln w="9525">
                <a:noFill/>
                <a:round/>
                <a:headEnd/>
                <a:tailEnd/>
              </a:ln>
            </p:spPr>
            <p:txBody>
              <a:bodyPr/>
              <a:lstStyle/>
              <a:p>
                <a:endParaRPr lang="en-US"/>
              </a:p>
            </p:txBody>
          </p:sp>
          <p:sp>
            <p:nvSpPr>
              <p:cNvPr id="28851" name="Freeform 141"/>
              <p:cNvSpPr>
                <a:spLocks/>
              </p:cNvSpPr>
              <p:nvPr/>
            </p:nvSpPr>
            <p:spPr bwMode="auto">
              <a:xfrm>
                <a:off x="2160" y="3770"/>
                <a:ext cx="21" cy="68"/>
              </a:xfrm>
              <a:custGeom>
                <a:avLst/>
                <a:gdLst>
                  <a:gd name="T0" fmla="*/ 0 w 42"/>
                  <a:gd name="T1" fmla="*/ 0 h 138"/>
                  <a:gd name="T2" fmla="*/ 0 w 42"/>
                  <a:gd name="T3" fmla="*/ 0 h 138"/>
                  <a:gd name="T4" fmla="*/ 0 w 42"/>
                  <a:gd name="T5" fmla="*/ 0 h 138"/>
                  <a:gd name="T6" fmla="*/ 1 w 42"/>
                  <a:gd name="T7" fmla="*/ 0 h 138"/>
                  <a:gd name="T8" fmla="*/ 1 w 42"/>
                  <a:gd name="T9" fmla="*/ 0 h 138"/>
                  <a:gd name="T10" fmla="*/ 1 w 42"/>
                  <a:gd name="T11" fmla="*/ 0 h 138"/>
                  <a:gd name="T12" fmla="*/ 1 w 42"/>
                  <a:gd name="T13" fmla="*/ 0 h 138"/>
                  <a:gd name="T14" fmla="*/ 1 w 42"/>
                  <a:gd name="T15" fmla="*/ 0 h 138"/>
                  <a:gd name="T16" fmla="*/ 1 w 42"/>
                  <a:gd name="T17" fmla="*/ 0 h 138"/>
                  <a:gd name="T18" fmla="*/ 1 w 42"/>
                  <a:gd name="T19" fmla="*/ 0 h 138"/>
                  <a:gd name="T20" fmla="*/ 1 w 42"/>
                  <a:gd name="T21" fmla="*/ 0 h 138"/>
                  <a:gd name="T22" fmla="*/ 0 w 42"/>
                  <a:gd name="T23" fmla="*/ 0 h 1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138"/>
                  <a:gd name="T38" fmla="*/ 42 w 42"/>
                  <a:gd name="T39" fmla="*/ 138 h 1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138">
                    <a:moveTo>
                      <a:pt x="0" y="2"/>
                    </a:moveTo>
                    <a:lnTo>
                      <a:pt x="0" y="121"/>
                    </a:lnTo>
                    <a:lnTo>
                      <a:pt x="0" y="124"/>
                    </a:lnTo>
                    <a:lnTo>
                      <a:pt x="3" y="129"/>
                    </a:lnTo>
                    <a:lnTo>
                      <a:pt x="9" y="135"/>
                    </a:lnTo>
                    <a:lnTo>
                      <a:pt x="22" y="138"/>
                    </a:lnTo>
                    <a:lnTo>
                      <a:pt x="34" y="135"/>
                    </a:lnTo>
                    <a:lnTo>
                      <a:pt x="41" y="129"/>
                    </a:lnTo>
                    <a:lnTo>
                      <a:pt x="42" y="121"/>
                    </a:lnTo>
                    <a:lnTo>
                      <a:pt x="42" y="118"/>
                    </a:lnTo>
                    <a:lnTo>
                      <a:pt x="42" y="0"/>
                    </a:lnTo>
                    <a:lnTo>
                      <a:pt x="0" y="2"/>
                    </a:lnTo>
                    <a:close/>
                  </a:path>
                </a:pathLst>
              </a:custGeom>
              <a:solidFill>
                <a:srgbClr val="FF7226"/>
              </a:solidFill>
              <a:ln w="9525">
                <a:noFill/>
                <a:round/>
                <a:headEnd/>
                <a:tailEnd/>
              </a:ln>
            </p:spPr>
            <p:txBody>
              <a:bodyPr/>
              <a:lstStyle/>
              <a:p>
                <a:endParaRPr lang="en-US"/>
              </a:p>
            </p:txBody>
          </p:sp>
          <p:sp>
            <p:nvSpPr>
              <p:cNvPr id="28852" name="Freeform 142"/>
              <p:cNvSpPr>
                <a:spLocks/>
              </p:cNvSpPr>
              <p:nvPr/>
            </p:nvSpPr>
            <p:spPr bwMode="auto">
              <a:xfrm>
                <a:off x="2154" y="3770"/>
                <a:ext cx="11" cy="65"/>
              </a:xfrm>
              <a:custGeom>
                <a:avLst/>
                <a:gdLst>
                  <a:gd name="T0" fmla="*/ 1 w 22"/>
                  <a:gd name="T1" fmla="*/ 1 h 130"/>
                  <a:gd name="T2" fmla="*/ 1 w 22"/>
                  <a:gd name="T3" fmla="*/ 1 h 130"/>
                  <a:gd name="T4" fmla="*/ 1 w 22"/>
                  <a:gd name="T5" fmla="*/ 0 h 130"/>
                  <a:gd name="T6" fmla="*/ 0 w 22"/>
                  <a:gd name="T7" fmla="*/ 0 h 130"/>
                  <a:gd name="T8" fmla="*/ 0 w 22"/>
                  <a:gd name="T9" fmla="*/ 1 h 130"/>
                  <a:gd name="T10" fmla="*/ 0 w 22"/>
                  <a:gd name="T11" fmla="*/ 1 h 130"/>
                  <a:gd name="T12" fmla="*/ 0 w 22"/>
                  <a:gd name="T13" fmla="*/ 1 h 130"/>
                  <a:gd name="T14" fmla="*/ 1 w 22"/>
                  <a:gd name="T15" fmla="*/ 1 h 130"/>
                  <a:gd name="T16" fmla="*/ 1 w 22"/>
                  <a:gd name="T17" fmla="*/ 1 h 130"/>
                  <a:gd name="T18" fmla="*/ 1 w 22"/>
                  <a:gd name="T19" fmla="*/ 1 h 130"/>
                  <a:gd name="T20" fmla="*/ 1 w 22"/>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
                  <a:gd name="T34" fmla="*/ 0 h 130"/>
                  <a:gd name="T35" fmla="*/ 22 w 22"/>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 h="130">
                    <a:moveTo>
                      <a:pt x="22" y="119"/>
                    </a:moveTo>
                    <a:lnTo>
                      <a:pt x="22" y="119"/>
                    </a:lnTo>
                    <a:lnTo>
                      <a:pt x="22" y="0"/>
                    </a:lnTo>
                    <a:lnTo>
                      <a:pt x="0" y="0"/>
                    </a:lnTo>
                    <a:lnTo>
                      <a:pt x="0" y="119"/>
                    </a:lnTo>
                    <a:lnTo>
                      <a:pt x="3" y="127"/>
                    </a:lnTo>
                    <a:lnTo>
                      <a:pt x="11" y="130"/>
                    </a:lnTo>
                    <a:lnTo>
                      <a:pt x="19" y="127"/>
                    </a:lnTo>
                    <a:lnTo>
                      <a:pt x="22" y="119"/>
                    </a:lnTo>
                    <a:close/>
                  </a:path>
                </a:pathLst>
              </a:custGeom>
              <a:solidFill>
                <a:srgbClr val="000000"/>
              </a:solidFill>
              <a:ln w="9525">
                <a:noFill/>
                <a:round/>
                <a:headEnd/>
                <a:tailEnd/>
              </a:ln>
            </p:spPr>
            <p:txBody>
              <a:bodyPr/>
              <a:lstStyle/>
              <a:p>
                <a:endParaRPr lang="en-US"/>
              </a:p>
            </p:txBody>
          </p:sp>
          <p:sp>
            <p:nvSpPr>
              <p:cNvPr id="28853" name="Freeform 143"/>
              <p:cNvSpPr>
                <a:spLocks/>
              </p:cNvSpPr>
              <p:nvPr/>
            </p:nvSpPr>
            <p:spPr bwMode="auto">
              <a:xfrm>
                <a:off x="2154" y="3829"/>
                <a:ext cx="17" cy="15"/>
              </a:xfrm>
              <a:custGeom>
                <a:avLst/>
                <a:gdLst>
                  <a:gd name="T0" fmla="*/ 1 w 33"/>
                  <a:gd name="T1" fmla="*/ 1 h 30"/>
                  <a:gd name="T2" fmla="*/ 1 w 33"/>
                  <a:gd name="T3" fmla="*/ 1 h 30"/>
                  <a:gd name="T4" fmla="*/ 1 w 33"/>
                  <a:gd name="T5" fmla="*/ 1 h 30"/>
                  <a:gd name="T6" fmla="*/ 1 w 33"/>
                  <a:gd name="T7" fmla="*/ 1 h 30"/>
                  <a:gd name="T8" fmla="*/ 1 w 33"/>
                  <a:gd name="T9" fmla="*/ 0 h 30"/>
                  <a:gd name="T10" fmla="*/ 1 w 33"/>
                  <a:gd name="T11" fmla="*/ 1 h 30"/>
                  <a:gd name="T12" fmla="*/ 0 w 33"/>
                  <a:gd name="T13" fmla="*/ 1 h 30"/>
                  <a:gd name="T14" fmla="*/ 0 w 33"/>
                  <a:gd name="T15" fmla="*/ 1 h 30"/>
                  <a:gd name="T16" fmla="*/ 1 w 33"/>
                  <a:gd name="T17" fmla="*/ 1 h 30"/>
                  <a:gd name="T18" fmla="*/ 1 w 33"/>
                  <a:gd name="T19" fmla="*/ 1 h 30"/>
                  <a:gd name="T20" fmla="*/ 1 w 33"/>
                  <a:gd name="T21" fmla="*/ 1 h 30"/>
                  <a:gd name="T22" fmla="*/ 1 w 33"/>
                  <a:gd name="T23" fmla="*/ 1 h 30"/>
                  <a:gd name="T24" fmla="*/ 1 w 33"/>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0"/>
                  <a:gd name="T41" fmla="*/ 33 w 33"/>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0">
                    <a:moveTo>
                      <a:pt x="33" y="8"/>
                    </a:moveTo>
                    <a:lnTo>
                      <a:pt x="33" y="8"/>
                    </a:lnTo>
                    <a:lnTo>
                      <a:pt x="25" y="6"/>
                    </a:lnTo>
                    <a:lnTo>
                      <a:pt x="22" y="2"/>
                    </a:lnTo>
                    <a:lnTo>
                      <a:pt x="22" y="0"/>
                    </a:lnTo>
                    <a:lnTo>
                      <a:pt x="22" y="2"/>
                    </a:lnTo>
                    <a:lnTo>
                      <a:pt x="0" y="2"/>
                    </a:lnTo>
                    <a:lnTo>
                      <a:pt x="0" y="10"/>
                    </a:lnTo>
                    <a:lnTo>
                      <a:pt x="6" y="17"/>
                    </a:lnTo>
                    <a:lnTo>
                      <a:pt x="16" y="25"/>
                    </a:lnTo>
                    <a:lnTo>
                      <a:pt x="33" y="30"/>
                    </a:lnTo>
                    <a:lnTo>
                      <a:pt x="33" y="8"/>
                    </a:lnTo>
                    <a:close/>
                  </a:path>
                </a:pathLst>
              </a:custGeom>
              <a:solidFill>
                <a:srgbClr val="000000"/>
              </a:solidFill>
              <a:ln w="9525">
                <a:noFill/>
                <a:round/>
                <a:headEnd/>
                <a:tailEnd/>
              </a:ln>
            </p:spPr>
            <p:txBody>
              <a:bodyPr/>
              <a:lstStyle/>
              <a:p>
                <a:endParaRPr lang="en-US"/>
              </a:p>
            </p:txBody>
          </p:sp>
          <p:sp>
            <p:nvSpPr>
              <p:cNvPr id="28854" name="Freeform 144"/>
              <p:cNvSpPr>
                <a:spLocks/>
              </p:cNvSpPr>
              <p:nvPr/>
            </p:nvSpPr>
            <p:spPr bwMode="auto">
              <a:xfrm>
                <a:off x="2171" y="3823"/>
                <a:ext cx="16" cy="21"/>
              </a:xfrm>
              <a:custGeom>
                <a:avLst/>
                <a:gdLst>
                  <a:gd name="T0" fmla="*/ 1 w 31"/>
                  <a:gd name="T1" fmla="*/ 1 h 42"/>
                  <a:gd name="T2" fmla="*/ 1 w 31"/>
                  <a:gd name="T3" fmla="*/ 1 h 42"/>
                  <a:gd name="T4" fmla="*/ 1 w 31"/>
                  <a:gd name="T5" fmla="*/ 1 h 42"/>
                  <a:gd name="T6" fmla="*/ 1 w 31"/>
                  <a:gd name="T7" fmla="*/ 1 h 42"/>
                  <a:gd name="T8" fmla="*/ 1 w 31"/>
                  <a:gd name="T9" fmla="*/ 1 h 42"/>
                  <a:gd name="T10" fmla="*/ 0 w 31"/>
                  <a:gd name="T11" fmla="*/ 1 h 42"/>
                  <a:gd name="T12" fmla="*/ 0 w 31"/>
                  <a:gd name="T13" fmla="*/ 1 h 42"/>
                  <a:gd name="T14" fmla="*/ 1 w 31"/>
                  <a:gd name="T15" fmla="*/ 1 h 42"/>
                  <a:gd name="T16" fmla="*/ 1 w 31"/>
                  <a:gd name="T17" fmla="*/ 1 h 42"/>
                  <a:gd name="T18" fmla="*/ 1 w 31"/>
                  <a:gd name="T19" fmla="*/ 1 h 42"/>
                  <a:gd name="T20" fmla="*/ 1 w 31"/>
                  <a:gd name="T21" fmla="*/ 1 h 42"/>
                  <a:gd name="T22" fmla="*/ 1 w 31"/>
                  <a:gd name="T23" fmla="*/ 1 h 42"/>
                  <a:gd name="T24" fmla="*/ 1 w 31"/>
                  <a:gd name="T25" fmla="*/ 1 h 42"/>
                  <a:gd name="T26" fmla="*/ 1 w 31"/>
                  <a:gd name="T27" fmla="*/ 1 h 42"/>
                  <a:gd name="T28" fmla="*/ 1 w 31"/>
                  <a:gd name="T29" fmla="*/ 0 h 42"/>
                  <a:gd name="T30" fmla="*/ 1 w 31"/>
                  <a:gd name="T31" fmla="*/ 1 h 42"/>
                  <a:gd name="T32" fmla="*/ 1 w 31"/>
                  <a:gd name="T33" fmla="*/ 1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42"/>
                  <a:gd name="T53" fmla="*/ 31 w 31"/>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42">
                    <a:moveTo>
                      <a:pt x="9" y="11"/>
                    </a:moveTo>
                    <a:lnTo>
                      <a:pt x="9" y="11"/>
                    </a:lnTo>
                    <a:lnTo>
                      <a:pt x="9" y="12"/>
                    </a:lnTo>
                    <a:lnTo>
                      <a:pt x="9" y="17"/>
                    </a:lnTo>
                    <a:lnTo>
                      <a:pt x="8" y="18"/>
                    </a:lnTo>
                    <a:lnTo>
                      <a:pt x="0" y="20"/>
                    </a:lnTo>
                    <a:lnTo>
                      <a:pt x="0" y="42"/>
                    </a:lnTo>
                    <a:lnTo>
                      <a:pt x="17" y="37"/>
                    </a:lnTo>
                    <a:lnTo>
                      <a:pt x="28" y="26"/>
                    </a:lnTo>
                    <a:lnTo>
                      <a:pt x="31" y="15"/>
                    </a:lnTo>
                    <a:lnTo>
                      <a:pt x="31" y="11"/>
                    </a:lnTo>
                    <a:lnTo>
                      <a:pt x="28" y="3"/>
                    </a:lnTo>
                    <a:lnTo>
                      <a:pt x="20" y="0"/>
                    </a:lnTo>
                    <a:lnTo>
                      <a:pt x="12" y="3"/>
                    </a:lnTo>
                    <a:lnTo>
                      <a:pt x="9" y="11"/>
                    </a:lnTo>
                    <a:close/>
                  </a:path>
                </a:pathLst>
              </a:custGeom>
              <a:solidFill>
                <a:srgbClr val="000000"/>
              </a:solidFill>
              <a:ln w="9525">
                <a:noFill/>
                <a:round/>
                <a:headEnd/>
                <a:tailEnd/>
              </a:ln>
            </p:spPr>
            <p:txBody>
              <a:bodyPr/>
              <a:lstStyle/>
              <a:p>
                <a:endParaRPr lang="en-US"/>
              </a:p>
            </p:txBody>
          </p:sp>
          <p:sp>
            <p:nvSpPr>
              <p:cNvPr id="28855" name="Freeform 145"/>
              <p:cNvSpPr>
                <a:spLocks/>
              </p:cNvSpPr>
              <p:nvPr/>
            </p:nvSpPr>
            <p:spPr bwMode="auto">
              <a:xfrm>
                <a:off x="2176" y="3764"/>
                <a:ext cx="11" cy="64"/>
              </a:xfrm>
              <a:custGeom>
                <a:avLst/>
                <a:gdLst>
                  <a:gd name="T0" fmla="*/ 1 w 22"/>
                  <a:gd name="T1" fmla="*/ 0 h 129"/>
                  <a:gd name="T2" fmla="*/ 0 w 22"/>
                  <a:gd name="T3" fmla="*/ 0 h 129"/>
                  <a:gd name="T4" fmla="*/ 0 w 22"/>
                  <a:gd name="T5" fmla="*/ 0 h 129"/>
                  <a:gd name="T6" fmla="*/ 1 w 22"/>
                  <a:gd name="T7" fmla="*/ 0 h 129"/>
                  <a:gd name="T8" fmla="*/ 1 w 22"/>
                  <a:gd name="T9" fmla="*/ 0 h 129"/>
                  <a:gd name="T10" fmla="*/ 1 w 22"/>
                  <a:gd name="T11" fmla="*/ 0 h 129"/>
                  <a:gd name="T12" fmla="*/ 1 w 22"/>
                  <a:gd name="T13" fmla="*/ 0 h 129"/>
                  <a:gd name="T14" fmla="*/ 1 w 22"/>
                  <a:gd name="T15" fmla="*/ 0 h 129"/>
                  <a:gd name="T16" fmla="*/ 1 w 22"/>
                  <a:gd name="T17" fmla="*/ 0 h 129"/>
                  <a:gd name="T18" fmla="*/ 1 w 22"/>
                  <a:gd name="T19" fmla="*/ 0 h 129"/>
                  <a:gd name="T20" fmla="*/ 0 w 22"/>
                  <a:gd name="T21" fmla="*/ 0 h 129"/>
                  <a:gd name="T22" fmla="*/ 1 w 22"/>
                  <a:gd name="T23" fmla="*/ 0 h 1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29"/>
                  <a:gd name="T38" fmla="*/ 22 w 22"/>
                  <a:gd name="T39" fmla="*/ 129 h 1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29">
                    <a:moveTo>
                      <a:pt x="11" y="22"/>
                    </a:moveTo>
                    <a:lnTo>
                      <a:pt x="0" y="11"/>
                    </a:lnTo>
                    <a:lnTo>
                      <a:pt x="0" y="129"/>
                    </a:lnTo>
                    <a:lnTo>
                      <a:pt x="22" y="129"/>
                    </a:lnTo>
                    <a:lnTo>
                      <a:pt x="22" y="11"/>
                    </a:lnTo>
                    <a:lnTo>
                      <a:pt x="11" y="0"/>
                    </a:lnTo>
                    <a:lnTo>
                      <a:pt x="22" y="11"/>
                    </a:lnTo>
                    <a:lnTo>
                      <a:pt x="19" y="3"/>
                    </a:lnTo>
                    <a:lnTo>
                      <a:pt x="11" y="0"/>
                    </a:lnTo>
                    <a:lnTo>
                      <a:pt x="3" y="3"/>
                    </a:lnTo>
                    <a:lnTo>
                      <a:pt x="0" y="11"/>
                    </a:lnTo>
                    <a:lnTo>
                      <a:pt x="11" y="22"/>
                    </a:lnTo>
                    <a:close/>
                  </a:path>
                </a:pathLst>
              </a:custGeom>
              <a:solidFill>
                <a:srgbClr val="000000"/>
              </a:solidFill>
              <a:ln w="9525">
                <a:noFill/>
                <a:round/>
                <a:headEnd/>
                <a:tailEnd/>
              </a:ln>
            </p:spPr>
            <p:txBody>
              <a:bodyPr/>
              <a:lstStyle/>
              <a:p>
                <a:endParaRPr lang="en-US"/>
              </a:p>
            </p:txBody>
          </p:sp>
          <p:sp>
            <p:nvSpPr>
              <p:cNvPr id="28856" name="Freeform 146"/>
              <p:cNvSpPr>
                <a:spLocks/>
              </p:cNvSpPr>
              <p:nvPr/>
            </p:nvSpPr>
            <p:spPr bwMode="auto">
              <a:xfrm>
                <a:off x="2154" y="3764"/>
                <a:ext cx="27" cy="12"/>
              </a:xfrm>
              <a:custGeom>
                <a:avLst/>
                <a:gdLst>
                  <a:gd name="T0" fmla="*/ 1 w 53"/>
                  <a:gd name="T1" fmla="*/ 1 h 24"/>
                  <a:gd name="T2" fmla="*/ 1 w 53"/>
                  <a:gd name="T3" fmla="*/ 1 h 24"/>
                  <a:gd name="T4" fmla="*/ 1 w 53"/>
                  <a:gd name="T5" fmla="*/ 1 h 24"/>
                  <a:gd name="T6" fmla="*/ 1 w 53"/>
                  <a:gd name="T7" fmla="*/ 0 h 24"/>
                  <a:gd name="T8" fmla="*/ 1 w 53"/>
                  <a:gd name="T9" fmla="*/ 1 h 24"/>
                  <a:gd name="T10" fmla="*/ 0 w 53"/>
                  <a:gd name="T11" fmla="*/ 1 h 24"/>
                  <a:gd name="T12" fmla="*/ 1 w 53"/>
                  <a:gd name="T13" fmla="*/ 1 h 24"/>
                  <a:gd name="T14" fmla="*/ 1 w 53"/>
                  <a:gd name="T15" fmla="*/ 1 h 24"/>
                  <a:gd name="T16" fmla="*/ 0 w 53"/>
                  <a:gd name="T17" fmla="*/ 1 h 24"/>
                  <a:gd name="T18" fmla="*/ 1 w 53"/>
                  <a:gd name="T19" fmla="*/ 1 h 24"/>
                  <a:gd name="T20" fmla="*/ 1 w 53"/>
                  <a:gd name="T21" fmla="*/ 1 h 24"/>
                  <a:gd name="T22" fmla="*/ 1 w 53"/>
                  <a:gd name="T23" fmla="*/ 1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
                  <a:gd name="T37" fmla="*/ 0 h 24"/>
                  <a:gd name="T38" fmla="*/ 53 w 53"/>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 h="24">
                    <a:moveTo>
                      <a:pt x="22" y="13"/>
                    </a:moveTo>
                    <a:lnTo>
                      <a:pt x="11" y="24"/>
                    </a:lnTo>
                    <a:lnTo>
                      <a:pt x="53" y="22"/>
                    </a:lnTo>
                    <a:lnTo>
                      <a:pt x="53" y="0"/>
                    </a:lnTo>
                    <a:lnTo>
                      <a:pt x="11" y="2"/>
                    </a:lnTo>
                    <a:lnTo>
                      <a:pt x="0" y="13"/>
                    </a:lnTo>
                    <a:lnTo>
                      <a:pt x="11" y="2"/>
                    </a:lnTo>
                    <a:lnTo>
                      <a:pt x="3" y="5"/>
                    </a:lnTo>
                    <a:lnTo>
                      <a:pt x="0" y="13"/>
                    </a:lnTo>
                    <a:lnTo>
                      <a:pt x="3" y="21"/>
                    </a:lnTo>
                    <a:lnTo>
                      <a:pt x="11" y="24"/>
                    </a:lnTo>
                    <a:lnTo>
                      <a:pt x="22" y="13"/>
                    </a:lnTo>
                    <a:close/>
                  </a:path>
                </a:pathLst>
              </a:custGeom>
              <a:solidFill>
                <a:srgbClr val="000000"/>
              </a:solidFill>
              <a:ln w="9525">
                <a:noFill/>
                <a:round/>
                <a:headEnd/>
                <a:tailEnd/>
              </a:ln>
            </p:spPr>
            <p:txBody>
              <a:bodyPr/>
              <a:lstStyle/>
              <a:p>
                <a:endParaRPr lang="en-US"/>
              </a:p>
            </p:txBody>
          </p:sp>
          <p:sp>
            <p:nvSpPr>
              <p:cNvPr id="28857" name="Freeform 147"/>
              <p:cNvSpPr>
                <a:spLocks/>
              </p:cNvSpPr>
              <p:nvPr/>
            </p:nvSpPr>
            <p:spPr bwMode="auto">
              <a:xfrm>
                <a:off x="2168" y="3561"/>
                <a:ext cx="105" cy="191"/>
              </a:xfrm>
              <a:custGeom>
                <a:avLst/>
                <a:gdLst>
                  <a:gd name="T0" fmla="*/ 0 w 211"/>
                  <a:gd name="T1" fmla="*/ 1 h 381"/>
                  <a:gd name="T2" fmla="*/ 0 w 211"/>
                  <a:gd name="T3" fmla="*/ 1 h 381"/>
                  <a:gd name="T4" fmla="*/ 0 w 211"/>
                  <a:gd name="T5" fmla="*/ 1 h 381"/>
                  <a:gd name="T6" fmla="*/ 0 w 211"/>
                  <a:gd name="T7" fmla="*/ 1 h 381"/>
                  <a:gd name="T8" fmla="*/ 0 w 211"/>
                  <a:gd name="T9" fmla="*/ 1 h 381"/>
                  <a:gd name="T10" fmla="*/ 0 w 211"/>
                  <a:gd name="T11" fmla="*/ 1 h 381"/>
                  <a:gd name="T12" fmla="*/ 0 w 211"/>
                  <a:gd name="T13" fmla="*/ 1 h 381"/>
                  <a:gd name="T14" fmla="*/ 0 w 211"/>
                  <a:gd name="T15" fmla="*/ 1 h 381"/>
                  <a:gd name="T16" fmla="*/ 0 w 211"/>
                  <a:gd name="T17" fmla="*/ 1 h 381"/>
                  <a:gd name="T18" fmla="*/ 0 w 211"/>
                  <a:gd name="T19" fmla="*/ 1 h 381"/>
                  <a:gd name="T20" fmla="*/ 0 w 211"/>
                  <a:gd name="T21" fmla="*/ 1 h 381"/>
                  <a:gd name="T22" fmla="*/ 0 w 211"/>
                  <a:gd name="T23" fmla="*/ 1 h 381"/>
                  <a:gd name="T24" fmla="*/ 0 w 211"/>
                  <a:gd name="T25" fmla="*/ 1 h 381"/>
                  <a:gd name="T26" fmla="*/ 0 w 211"/>
                  <a:gd name="T27" fmla="*/ 1 h 381"/>
                  <a:gd name="T28" fmla="*/ 0 w 211"/>
                  <a:gd name="T29" fmla="*/ 1 h 381"/>
                  <a:gd name="T30" fmla="*/ 0 w 211"/>
                  <a:gd name="T31" fmla="*/ 1 h 381"/>
                  <a:gd name="T32" fmla="*/ 0 w 211"/>
                  <a:gd name="T33" fmla="*/ 1 h 381"/>
                  <a:gd name="T34" fmla="*/ 0 w 211"/>
                  <a:gd name="T35" fmla="*/ 1 h 381"/>
                  <a:gd name="T36" fmla="*/ 0 w 211"/>
                  <a:gd name="T37" fmla="*/ 1 h 381"/>
                  <a:gd name="T38" fmla="*/ 0 w 211"/>
                  <a:gd name="T39" fmla="*/ 1 h 381"/>
                  <a:gd name="T40" fmla="*/ 0 w 211"/>
                  <a:gd name="T41" fmla="*/ 1 h 381"/>
                  <a:gd name="T42" fmla="*/ 0 w 211"/>
                  <a:gd name="T43" fmla="*/ 1 h 381"/>
                  <a:gd name="T44" fmla="*/ 0 w 211"/>
                  <a:gd name="T45" fmla="*/ 1 h 381"/>
                  <a:gd name="T46" fmla="*/ 0 w 211"/>
                  <a:gd name="T47" fmla="*/ 1 h 381"/>
                  <a:gd name="T48" fmla="*/ 0 w 211"/>
                  <a:gd name="T49" fmla="*/ 1 h 381"/>
                  <a:gd name="T50" fmla="*/ 0 w 211"/>
                  <a:gd name="T51" fmla="*/ 1 h 381"/>
                  <a:gd name="T52" fmla="*/ 0 w 211"/>
                  <a:gd name="T53" fmla="*/ 1 h 381"/>
                  <a:gd name="T54" fmla="*/ 0 w 211"/>
                  <a:gd name="T55" fmla="*/ 1 h 381"/>
                  <a:gd name="T56" fmla="*/ 0 w 211"/>
                  <a:gd name="T57" fmla="*/ 1 h 381"/>
                  <a:gd name="T58" fmla="*/ 0 w 211"/>
                  <a:gd name="T59" fmla="*/ 1 h 381"/>
                  <a:gd name="T60" fmla="*/ 0 w 211"/>
                  <a:gd name="T61" fmla="*/ 1 h 381"/>
                  <a:gd name="T62" fmla="*/ 0 w 211"/>
                  <a:gd name="T63" fmla="*/ 1 h 38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381"/>
                  <a:gd name="T98" fmla="*/ 211 w 211"/>
                  <a:gd name="T99" fmla="*/ 381 h 38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381">
                    <a:moveTo>
                      <a:pt x="114" y="359"/>
                    </a:moveTo>
                    <a:lnTo>
                      <a:pt x="122" y="356"/>
                    </a:lnTo>
                    <a:lnTo>
                      <a:pt x="131" y="348"/>
                    </a:lnTo>
                    <a:lnTo>
                      <a:pt x="145" y="337"/>
                    </a:lnTo>
                    <a:lnTo>
                      <a:pt x="161" y="319"/>
                    </a:lnTo>
                    <a:lnTo>
                      <a:pt x="175" y="294"/>
                    </a:lnTo>
                    <a:lnTo>
                      <a:pt x="189" y="259"/>
                    </a:lnTo>
                    <a:lnTo>
                      <a:pt x="198" y="214"/>
                    </a:lnTo>
                    <a:lnTo>
                      <a:pt x="206" y="156"/>
                    </a:lnTo>
                    <a:lnTo>
                      <a:pt x="209" y="101"/>
                    </a:lnTo>
                    <a:lnTo>
                      <a:pt x="211" y="62"/>
                    </a:lnTo>
                    <a:lnTo>
                      <a:pt x="211" y="36"/>
                    </a:lnTo>
                    <a:lnTo>
                      <a:pt x="211" y="20"/>
                    </a:lnTo>
                    <a:lnTo>
                      <a:pt x="211" y="12"/>
                    </a:lnTo>
                    <a:lnTo>
                      <a:pt x="209" y="9"/>
                    </a:lnTo>
                    <a:lnTo>
                      <a:pt x="208" y="10"/>
                    </a:lnTo>
                    <a:lnTo>
                      <a:pt x="206" y="9"/>
                    </a:lnTo>
                    <a:lnTo>
                      <a:pt x="205" y="4"/>
                    </a:lnTo>
                    <a:lnTo>
                      <a:pt x="200" y="1"/>
                    </a:lnTo>
                    <a:lnTo>
                      <a:pt x="194" y="0"/>
                    </a:lnTo>
                    <a:lnTo>
                      <a:pt x="187" y="1"/>
                    </a:lnTo>
                    <a:lnTo>
                      <a:pt x="181" y="4"/>
                    </a:lnTo>
                    <a:lnTo>
                      <a:pt x="175" y="7"/>
                    </a:lnTo>
                    <a:lnTo>
                      <a:pt x="170" y="12"/>
                    </a:lnTo>
                    <a:lnTo>
                      <a:pt x="167" y="18"/>
                    </a:lnTo>
                    <a:lnTo>
                      <a:pt x="159" y="26"/>
                    </a:lnTo>
                    <a:lnTo>
                      <a:pt x="148" y="36"/>
                    </a:lnTo>
                    <a:lnTo>
                      <a:pt x="133" y="45"/>
                    </a:lnTo>
                    <a:lnTo>
                      <a:pt x="123" y="48"/>
                    </a:lnTo>
                    <a:lnTo>
                      <a:pt x="112" y="53"/>
                    </a:lnTo>
                    <a:lnTo>
                      <a:pt x="101" y="56"/>
                    </a:lnTo>
                    <a:lnTo>
                      <a:pt x="90" y="59"/>
                    </a:lnTo>
                    <a:lnTo>
                      <a:pt x="79" y="62"/>
                    </a:lnTo>
                    <a:lnTo>
                      <a:pt x="70" y="65"/>
                    </a:lnTo>
                    <a:lnTo>
                      <a:pt x="62" y="67"/>
                    </a:lnTo>
                    <a:lnTo>
                      <a:pt x="57" y="68"/>
                    </a:lnTo>
                    <a:lnTo>
                      <a:pt x="51" y="70"/>
                    </a:lnTo>
                    <a:lnTo>
                      <a:pt x="47" y="73"/>
                    </a:lnTo>
                    <a:lnTo>
                      <a:pt x="43" y="75"/>
                    </a:lnTo>
                    <a:lnTo>
                      <a:pt x="40" y="78"/>
                    </a:lnTo>
                    <a:lnTo>
                      <a:pt x="36" y="86"/>
                    </a:lnTo>
                    <a:lnTo>
                      <a:pt x="28" y="100"/>
                    </a:lnTo>
                    <a:lnTo>
                      <a:pt x="21" y="120"/>
                    </a:lnTo>
                    <a:lnTo>
                      <a:pt x="14" y="143"/>
                    </a:lnTo>
                    <a:lnTo>
                      <a:pt x="7" y="169"/>
                    </a:lnTo>
                    <a:lnTo>
                      <a:pt x="3" y="194"/>
                    </a:lnTo>
                    <a:lnTo>
                      <a:pt x="0" y="215"/>
                    </a:lnTo>
                    <a:lnTo>
                      <a:pt x="0" y="234"/>
                    </a:lnTo>
                    <a:lnTo>
                      <a:pt x="1" y="251"/>
                    </a:lnTo>
                    <a:lnTo>
                      <a:pt x="4" y="273"/>
                    </a:lnTo>
                    <a:lnTo>
                      <a:pt x="7" y="297"/>
                    </a:lnTo>
                    <a:lnTo>
                      <a:pt x="11" y="322"/>
                    </a:lnTo>
                    <a:lnTo>
                      <a:pt x="15" y="344"/>
                    </a:lnTo>
                    <a:lnTo>
                      <a:pt x="20" y="363"/>
                    </a:lnTo>
                    <a:lnTo>
                      <a:pt x="26" y="375"/>
                    </a:lnTo>
                    <a:lnTo>
                      <a:pt x="31" y="381"/>
                    </a:lnTo>
                    <a:lnTo>
                      <a:pt x="37" y="381"/>
                    </a:lnTo>
                    <a:lnTo>
                      <a:pt x="47" y="381"/>
                    </a:lnTo>
                    <a:lnTo>
                      <a:pt x="59" y="378"/>
                    </a:lnTo>
                    <a:lnTo>
                      <a:pt x="72" y="375"/>
                    </a:lnTo>
                    <a:lnTo>
                      <a:pt x="86" y="370"/>
                    </a:lnTo>
                    <a:lnTo>
                      <a:pt x="98" y="367"/>
                    </a:lnTo>
                    <a:lnTo>
                      <a:pt x="108" y="363"/>
                    </a:lnTo>
                    <a:lnTo>
                      <a:pt x="114" y="359"/>
                    </a:lnTo>
                    <a:close/>
                  </a:path>
                </a:pathLst>
              </a:custGeom>
              <a:solidFill>
                <a:srgbClr val="FF7226"/>
              </a:solidFill>
              <a:ln w="9525">
                <a:noFill/>
                <a:round/>
                <a:headEnd/>
                <a:tailEnd/>
              </a:ln>
            </p:spPr>
            <p:txBody>
              <a:bodyPr/>
              <a:lstStyle/>
              <a:p>
                <a:endParaRPr lang="en-US"/>
              </a:p>
            </p:txBody>
          </p:sp>
          <p:sp>
            <p:nvSpPr>
              <p:cNvPr id="28858" name="Freeform 148"/>
              <p:cNvSpPr>
                <a:spLocks/>
              </p:cNvSpPr>
              <p:nvPr/>
            </p:nvSpPr>
            <p:spPr bwMode="auto">
              <a:xfrm>
                <a:off x="2223" y="3639"/>
                <a:ext cx="54" cy="106"/>
              </a:xfrm>
              <a:custGeom>
                <a:avLst/>
                <a:gdLst>
                  <a:gd name="T0" fmla="*/ 1 w 108"/>
                  <a:gd name="T1" fmla="*/ 0 h 213"/>
                  <a:gd name="T2" fmla="*/ 1 w 108"/>
                  <a:gd name="T3" fmla="*/ 0 h 213"/>
                  <a:gd name="T4" fmla="*/ 1 w 108"/>
                  <a:gd name="T5" fmla="*/ 0 h 213"/>
                  <a:gd name="T6" fmla="*/ 1 w 108"/>
                  <a:gd name="T7" fmla="*/ 0 h 213"/>
                  <a:gd name="T8" fmla="*/ 1 w 108"/>
                  <a:gd name="T9" fmla="*/ 0 h 213"/>
                  <a:gd name="T10" fmla="*/ 1 w 108"/>
                  <a:gd name="T11" fmla="*/ 0 h 213"/>
                  <a:gd name="T12" fmla="*/ 1 w 108"/>
                  <a:gd name="T13" fmla="*/ 0 h 213"/>
                  <a:gd name="T14" fmla="*/ 1 w 108"/>
                  <a:gd name="T15" fmla="*/ 0 h 213"/>
                  <a:gd name="T16" fmla="*/ 1 w 108"/>
                  <a:gd name="T17" fmla="*/ 0 h 213"/>
                  <a:gd name="T18" fmla="*/ 0 w 108"/>
                  <a:gd name="T19" fmla="*/ 0 h 213"/>
                  <a:gd name="T20" fmla="*/ 1 w 108"/>
                  <a:gd name="T21" fmla="*/ 0 h 213"/>
                  <a:gd name="T22" fmla="*/ 1 w 108"/>
                  <a:gd name="T23" fmla="*/ 0 h 213"/>
                  <a:gd name="T24" fmla="*/ 1 w 108"/>
                  <a:gd name="T25" fmla="*/ 0 h 213"/>
                  <a:gd name="T26" fmla="*/ 1 w 108"/>
                  <a:gd name="T27" fmla="*/ 0 h 213"/>
                  <a:gd name="T28" fmla="*/ 1 w 108"/>
                  <a:gd name="T29" fmla="*/ 0 h 213"/>
                  <a:gd name="T30" fmla="*/ 1 w 108"/>
                  <a:gd name="T31" fmla="*/ 0 h 213"/>
                  <a:gd name="T32" fmla="*/ 1 w 108"/>
                  <a:gd name="T33" fmla="*/ 0 h 213"/>
                  <a:gd name="T34" fmla="*/ 1 w 108"/>
                  <a:gd name="T35" fmla="*/ 0 h 213"/>
                  <a:gd name="T36" fmla="*/ 1 w 108"/>
                  <a:gd name="T37" fmla="*/ 0 h 213"/>
                  <a:gd name="T38" fmla="*/ 1 w 108"/>
                  <a:gd name="T39" fmla="*/ 0 h 213"/>
                  <a:gd name="T40" fmla="*/ 1 w 108"/>
                  <a:gd name="T41" fmla="*/ 0 h 2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8"/>
                  <a:gd name="T64" fmla="*/ 0 h 213"/>
                  <a:gd name="T65" fmla="*/ 108 w 108"/>
                  <a:gd name="T66" fmla="*/ 213 h 21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8" h="213">
                    <a:moveTo>
                      <a:pt x="86" y="0"/>
                    </a:moveTo>
                    <a:lnTo>
                      <a:pt x="86" y="0"/>
                    </a:lnTo>
                    <a:lnTo>
                      <a:pt x="78" y="56"/>
                    </a:lnTo>
                    <a:lnTo>
                      <a:pt x="69" y="100"/>
                    </a:lnTo>
                    <a:lnTo>
                      <a:pt x="57" y="133"/>
                    </a:lnTo>
                    <a:lnTo>
                      <a:pt x="42" y="156"/>
                    </a:lnTo>
                    <a:lnTo>
                      <a:pt x="28" y="174"/>
                    </a:lnTo>
                    <a:lnTo>
                      <a:pt x="16" y="185"/>
                    </a:lnTo>
                    <a:lnTo>
                      <a:pt x="6" y="191"/>
                    </a:lnTo>
                    <a:lnTo>
                      <a:pt x="0" y="194"/>
                    </a:lnTo>
                    <a:lnTo>
                      <a:pt x="10" y="213"/>
                    </a:lnTo>
                    <a:lnTo>
                      <a:pt x="19" y="210"/>
                    </a:lnTo>
                    <a:lnTo>
                      <a:pt x="28" y="200"/>
                    </a:lnTo>
                    <a:lnTo>
                      <a:pt x="44" y="189"/>
                    </a:lnTo>
                    <a:lnTo>
                      <a:pt x="61" y="169"/>
                    </a:lnTo>
                    <a:lnTo>
                      <a:pt x="75" y="142"/>
                    </a:lnTo>
                    <a:lnTo>
                      <a:pt x="91" y="106"/>
                    </a:lnTo>
                    <a:lnTo>
                      <a:pt x="100" y="59"/>
                    </a:lnTo>
                    <a:lnTo>
                      <a:pt x="108" y="0"/>
                    </a:lnTo>
                    <a:lnTo>
                      <a:pt x="86" y="0"/>
                    </a:lnTo>
                    <a:close/>
                  </a:path>
                </a:pathLst>
              </a:custGeom>
              <a:solidFill>
                <a:srgbClr val="000000"/>
              </a:solidFill>
              <a:ln w="9525">
                <a:noFill/>
                <a:round/>
                <a:headEnd/>
                <a:tailEnd/>
              </a:ln>
            </p:spPr>
            <p:txBody>
              <a:bodyPr/>
              <a:lstStyle/>
              <a:p>
                <a:endParaRPr lang="en-US"/>
              </a:p>
            </p:txBody>
          </p:sp>
          <p:sp>
            <p:nvSpPr>
              <p:cNvPr id="28859" name="Freeform 149"/>
              <p:cNvSpPr>
                <a:spLocks/>
              </p:cNvSpPr>
              <p:nvPr/>
            </p:nvSpPr>
            <p:spPr bwMode="auto">
              <a:xfrm>
                <a:off x="2266" y="3561"/>
                <a:ext cx="13" cy="78"/>
              </a:xfrm>
              <a:custGeom>
                <a:avLst/>
                <a:gdLst>
                  <a:gd name="T0" fmla="*/ 0 w 27"/>
                  <a:gd name="T1" fmla="*/ 1 h 156"/>
                  <a:gd name="T2" fmla="*/ 0 w 27"/>
                  <a:gd name="T3" fmla="*/ 1 h 156"/>
                  <a:gd name="T4" fmla="*/ 0 w 27"/>
                  <a:gd name="T5" fmla="*/ 1 h 156"/>
                  <a:gd name="T6" fmla="*/ 0 w 27"/>
                  <a:gd name="T7" fmla="*/ 1 h 156"/>
                  <a:gd name="T8" fmla="*/ 0 w 27"/>
                  <a:gd name="T9" fmla="*/ 1 h 156"/>
                  <a:gd name="T10" fmla="*/ 0 w 27"/>
                  <a:gd name="T11" fmla="*/ 1 h 156"/>
                  <a:gd name="T12" fmla="*/ 0 w 27"/>
                  <a:gd name="T13" fmla="*/ 1 h 156"/>
                  <a:gd name="T14" fmla="*/ 0 w 27"/>
                  <a:gd name="T15" fmla="*/ 1 h 156"/>
                  <a:gd name="T16" fmla="*/ 0 w 27"/>
                  <a:gd name="T17" fmla="*/ 1 h 156"/>
                  <a:gd name="T18" fmla="*/ 0 w 27"/>
                  <a:gd name="T19" fmla="*/ 1 h 156"/>
                  <a:gd name="T20" fmla="*/ 0 w 27"/>
                  <a:gd name="T21" fmla="*/ 1 h 156"/>
                  <a:gd name="T22" fmla="*/ 0 w 27"/>
                  <a:gd name="T23" fmla="*/ 1 h 156"/>
                  <a:gd name="T24" fmla="*/ 0 w 27"/>
                  <a:gd name="T25" fmla="*/ 1 h 156"/>
                  <a:gd name="T26" fmla="*/ 0 w 27"/>
                  <a:gd name="T27" fmla="*/ 1 h 156"/>
                  <a:gd name="T28" fmla="*/ 0 w 27"/>
                  <a:gd name="T29" fmla="*/ 1 h 156"/>
                  <a:gd name="T30" fmla="*/ 0 w 27"/>
                  <a:gd name="T31" fmla="*/ 1 h 156"/>
                  <a:gd name="T32" fmla="*/ 0 w 27"/>
                  <a:gd name="T33" fmla="*/ 0 h 156"/>
                  <a:gd name="T34" fmla="*/ 0 w 27"/>
                  <a:gd name="T35" fmla="*/ 1 h 156"/>
                  <a:gd name="T36" fmla="*/ 0 w 27"/>
                  <a:gd name="T37" fmla="*/ 1 h 156"/>
                  <a:gd name="T38" fmla="*/ 0 w 27"/>
                  <a:gd name="T39" fmla="*/ 1 h 156"/>
                  <a:gd name="T40" fmla="*/ 0 w 27"/>
                  <a:gd name="T41" fmla="*/ 1 h 156"/>
                  <a:gd name="T42" fmla="*/ 0 w 27"/>
                  <a:gd name="T43" fmla="*/ 1 h 156"/>
                  <a:gd name="T44" fmla="*/ 0 w 27"/>
                  <a:gd name="T45" fmla="*/ 1 h 156"/>
                  <a:gd name="T46" fmla="*/ 0 w 27"/>
                  <a:gd name="T47" fmla="*/ 1 h 156"/>
                  <a:gd name="T48" fmla="*/ 0 w 27"/>
                  <a:gd name="T49" fmla="*/ 1 h 156"/>
                  <a:gd name="T50" fmla="*/ 0 w 27"/>
                  <a:gd name="T51" fmla="*/ 1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7"/>
                  <a:gd name="T79" fmla="*/ 0 h 156"/>
                  <a:gd name="T80" fmla="*/ 27 w 27"/>
                  <a:gd name="T81" fmla="*/ 156 h 15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7" h="156">
                    <a:moveTo>
                      <a:pt x="3" y="15"/>
                    </a:moveTo>
                    <a:lnTo>
                      <a:pt x="22" y="15"/>
                    </a:lnTo>
                    <a:lnTo>
                      <a:pt x="21" y="18"/>
                    </a:lnTo>
                    <a:lnTo>
                      <a:pt x="10" y="18"/>
                    </a:lnTo>
                    <a:lnTo>
                      <a:pt x="5" y="14"/>
                    </a:lnTo>
                    <a:lnTo>
                      <a:pt x="5" y="20"/>
                    </a:lnTo>
                    <a:lnTo>
                      <a:pt x="5" y="36"/>
                    </a:lnTo>
                    <a:lnTo>
                      <a:pt x="5" y="62"/>
                    </a:lnTo>
                    <a:lnTo>
                      <a:pt x="3" y="101"/>
                    </a:lnTo>
                    <a:lnTo>
                      <a:pt x="0" y="156"/>
                    </a:lnTo>
                    <a:lnTo>
                      <a:pt x="22" y="156"/>
                    </a:lnTo>
                    <a:lnTo>
                      <a:pt x="25" y="101"/>
                    </a:lnTo>
                    <a:lnTo>
                      <a:pt x="27" y="62"/>
                    </a:lnTo>
                    <a:lnTo>
                      <a:pt x="27" y="36"/>
                    </a:lnTo>
                    <a:lnTo>
                      <a:pt x="27" y="20"/>
                    </a:lnTo>
                    <a:lnTo>
                      <a:pt x="27" y="10"/>
                    </a:lnTo>
                    <a:lnTo>
                      <a:pt x="19" y="0"/>
                    </a:lnTo>
                    <a:lnTo>
                      <a:pt x="5" y="3"/>
                    </a:lnTo>
                    <a:lnTo>
                      <a:pt x="3" y="6"/>
                    </a:lnTo>
                    <a:lnTo>
                      <a:pt x="22" y="6"/>
                    </a:lnTo>
                    <a:lnTo>
                      <a:pt x="2" y="6"/>
                    </a:lnTo>
                    <a:lnTo>
                      <a:pt x="2" y="15"/>
                    </a:lnTo>
                    <a:lnTo>
                      <a:pt x="8" y="21"/>
                    </a:lnTo>
                    <a:lnTo>
                      <a:pt x="18" y="21"/>
                    </a:lnTo>
                    <a:lnTo>
                      <a:pt x="24" y="15"/>
                    </a:lnTo>
                    <a:lnTo>
                      <a:pt x="3" y="15"/>
                    </a:lnTo>
                    <a:close/>
                  </a:path>
                </a:pathLst>
              </a:custGeom>
              <a:solidFill>
                <a:srgbClr val="000000"/>
              </a:solidFill>
              <a:ln w="9525">
                <a:noFill/>
                <a:round/>
                <a:headEnd/>
                <a:tailEnd/>
              </a:ln>
            </p:spPr>
            <p:txBody>
              <a:bodyPr/>
              <a:lstStyle/>
              <a:p>
                <a:endParaRPr lang="en-US"/>
              </a:p>
            </p:txBody>
          </p:sp>
          <p:sp>
            <p:nvSpPr>
              <p:cNvPr id="28860" name="Freeform 150"/>
              <p:cNvSpPr>
                <a:spLocks/>
              </p:cNvSpPr>
              <p:nvPr/>
            </p:nvSpPr>
            <p:spPr bwMode="auto">
              <a:xfrm>
                <a:off x="2265" y="3555"/>
                <a:ext cx="12" cy="14"/>
              </a:xfrm>
              <a:custGeom>
                <a:avLst/>
                <a:gdLst>
                  <a:gd name="T0" fmla="*/ 0 w 23"/>
                  <a:gd name="T1" fmla="*/ 1 h 26"/>
                  <a:gd name="T2" fmla="*/ 0 w 23"/>
                  <a:gd name="T3" fmla="*/ 1 h 26"/>
                  <a:gd name="T4" fmla="*/ 1 w 23"/>
                  <a:gd name="T5" fmla="*/ 1 h 26"/>
                  <a:gd name="T6" fmla="*/ 1 w 23"/>
                  <a:gd name="T7" fmla="*/ 1 h 26"/>
                  <a:gd name="T8" fmla="*/ 1 w 23"/>
                  <a:gd name="T9" fmla="*/ 1 h 26"/>
                  <a:gd name="T10" fmla="*/ 1 w 23"/>
                  <a:gd name="T11" fmla="*/ 1 h 26"/>
                  <a:gd name="T12" fmla="*/ 1 w 23"/>
                  <a:gd name="T13" fmla="*/ 1 h 26"/>
                  <a:gd name="T14" fmla="*/ 1 w 23"/>
                  <a:gd name="T15" fmla="*/ 1 h 26"/>
                  <a:gd name="T16" fmla="*/ 1 w 23"/>
                  <a:gd name="T17" fmla="*/ 1 h 26"/>
                  <a:gd name="T18" fmla="*/ 1 w 23"/>
                  <a:gd name="T19" fmla="*/ 1 h 26"/>
                  <a:gd name="T20" fmla="*/ 0 w 23"/>
                  <a:gd name="T21" fmla="*/ 0 h 26"/>
                  <a:gd name="T22" fmla="*/ 0 w 23"/>
                  <a:gd name="T23" fmla="*/ 0 h 26"/>
                  <a:gd name="T24" fmla="*/ 0 w 23"/>
                  <a:gd name="T25" fmla="*/ 1 h 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6"/>
                  <a:gd name="T41" fmla="*/ 23 w 23"/>
                  <a:gd name="T42" fmla="*/ 26 h 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6">
                    <a:moveTo>
                      <a:pt x="0" y="21"/>
                    </a:moveTo>
                    <a:lnTo>
                      <a:pt x="0" y="21"/>
                    </a:lnTo>
                    <a:lnTo>
                      <a:pt x="1" y="21"/>
                    </a:lnTo>
                    <a:lnTo>
                      <a:pt x="3" y="21"/>
                    </a:lnTo>
                    <a:lnTo>
                      <a:pt x="3" y="25"/>
                    </a:lnTo>
                    <a:lnTo>
                      <a:pt x="4" y="26"/>
                    </a:lnTo>
                    <a:lnTo>
                      <a:pt x="23" y="17"/>
                    </a:lnTo>
                    <a:lnTo>
                      <a:pt x="22" y="15"/>
                    </a:lnTo>
                    <a:lnTo>
                      <a:pt x="19" y="9"/>
                    </a:lnTo>
                    <a:lnTo>
                      <a:pt x="11" y="3"/>
                    </a:lnTo>
                    <a:lnTo>
                      <a:pt x="0" y="0"/>
                    </a:lnTo>
                    <a:lnTo>
                      <a:pt x="0" y="21"/>
                    </a:lnTo>
                    <a:close/>
                  </a:path>
                </a:pathLst>
              </a:custGeom>
              <a:solidFill>
                <a:srgbClr val="000000"/>
              </a:solidFill>
              <a:ln w="9525">
                <a:noFill/>
                <a:round/>
                <a:headEnd/>
                <a:tailEnd/>
              </a:ln>
            </p:spPr>
            <p:txBody>
              <a:bodyPr/>
              <a:lstStyle/>
              <a:p>
                <a:endParaRPr lang="en-US"/>
              </a:p>
            </p:txBody>
          </p:sp>
          <p:sp>
            <p:nvSpPr>
              <p:cNvPr id="28861" name="Freeform 151"/>
              <p:cNvSpPr>
                <a:spLocks/>
              </p:cNvSpPr>
              <p:nvPr/>
            </p:nvSpPr>
            <p:spPr bwMode="auto">
              <a:xfrm>
                <a:off x="2248" y="3555"/>
                <a:ext cx="17" cy="16"/>
              </a:xfrm>
              <a:custGeom>
                <a:avLst/>
                <a:gdLst>
                  <a:gd name="T0" fmla="*/ 1 w 33"/>
                  <a:gd name="T1" fmla="*/ 1 h 31"/>
                  <a:gd name="T2" fmla="*/ 1 w 33"/>
                  <a:gd name="T3" fmla="*/ 1 h 31"/>
                  <a:gd name="T4" fmla="*/ 1 w 33"/>
                  <a:gd name="T5" fmla="*/ 1 h 31"/>
                  <a:gd name="T6" fmla="*/ 1 w 33"/>
                  <a:gd name="T7" fmla="*/ 1 h 31"/>
                  <a:gd name="T8" fmla="*/ 1 w 33"/>
                  <a:gd name="T9" fmla="*/ 1 h 31"/>
                  <a:gd name="T10" fmla="*/ 1 w 33"/>
                  <a:gd name="T11" fmla="*/ 1 h 31"/>
                  <a:gd name="T12" fmla="*/ 1 w 33"/>
                  <a:gd name="T13" fmla="*/ 0 h 31"/>
                  <a:gd name="T14" fmla="*/ 1 w 33"/>
                  <a:gd name="T15" fmla="*/ 1 h 31"/>
                  <a:gd name="T16" fmla="*/ 1 w 33"/>
                  <a:gd name="T17" fmla="*/ 1 h 31"/>
                  <a:gd name="T18" fmla="*/ 1 w 33"/>
                  <a:gd name="T19" fmla="*/ 1 h 31"/>
                  <a:gd name="T20" fmla="*/ 1 w 33"/>
                  <a:gd name="T21" fmla="*/ 1 h 31"/>
                  <a:gd name="T22" fmla="*/ 0 w 33"/>
                  <a:gd name="T23" fmla="*/ 1 h 31"/>
                  <a:gd name="T24" fmla="*/ 1 w 33"/>
                  <a:gd name="T25" fmla="*/ 1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1"/>
                  <a:gd name="T41" fmla="*/ 33 w 33"/>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1">
                    <a:moveTo>
                      <a:pt x="19" y="28"/>
                    </a:moveTo>
                    <a:lnTo>
                      <a:pt x="17" y="31"/>
                    </a:lnTo>
                    <a:lnTo>
                      <a:pt x="20" y="28"/>
                    </a:lnTo>
                    <a:lnTo>
                      <a:pt x="25" y="25"/>
                    </a:lnTo>
                    <a:lnTo>
                      <a:pt x="30" y="23"/>
                    </a:lnTo>
                    <a:lnTo>
                      <a:pt x="33" y="21"/>
                    </a:lnTo>
                    <a:lnTo>
                      <a:pt x="33" y="0"/>
                    </a:lnTo>
                    <a:lnTo>
                      <a:pt x="23" y="1"/>
                    </a:lnTo>
                    <a:lnTo>
                      <a:pt x="15" y="6"/>
                    </a:lnTo>
                    <a:lnTo>
                      <a:pt x="8" y="9"/>
                    </a:lnTo>
                    <a:lnTo>
                      <a:pt x="1" y="15"/>
                    </a:lnTo>
                    <a:lnTo>
                      <a:pt x="0" y="18"/>
                    </a:lnTo>
                    <a:lnTo>
                      <a:pt x="19" y="28"/>
                    </a:lnTo>
                    <a:close/>
                  </a:path>
                </a:pathLst>
              </a:custGeom>
              <a:solidFill>
                <a:srgbClr val="000000"/>
              </a:solidFill>
              <a:ln w="9525">
                <a:noFill/>
                <a:round/>
                <a:headEnd/>
                <a:tailEnd/>
              </a:ln>
            </p:spPr>
            <p:txBody>
              <a:bodyPr/>
              <a:lstStyle/>
              <a:p>
                <a:endParaRPr lang="en-US"/>
              </a:p>
            </p:txBody>
          </p:sp>
          <p:sp>
            <p:nvSpPr>
              <p:cNvPr id="28862" name="Freeform 152"/>
              <p:cNvSpPr>
                <a:spLocks/>
              </p:cNvSpPr>
              <p:nvPr/>
            </p:nvSpPr>
            <p:spPr bwMode="auto">
              <a:xfrm>
                <a:off x="2232" y="3565"/>
                <a:ext cx="26" cy="23"/>
              </a:xfrm>
              <a:custGeom>
                <a:avLst/>
                <a:gdLst>
                  <a:gd name="T0" fmla="*/ 1 w 52"/>
                  <a:gd name="T1" fmla="*/ 0 h 47"/>
                  <a:gd name="T2" fmla="*/ 1 w 52"/>
                  <a:gd name="T3" fmla="*/ 0 h 47"/>
                  <a:gd name="T4" fmla="*/ 1 w 52"/>
                  <a:gd name="T5" fmla="*/ 0 h 47"/>
                  <a:gd name="T6" fmla="*/ 1 w 52"/>
                  <a:gd name="T7" fmla="*/ 0 h 47"/>
                  <a:gd name="T8" fmla="*/ 1 w 52"/>
                  <a:gd name="T9" fmla="*/ 0 h 47"/>
                  <a:gd name="T10" fmla="*/ 1 w 52"/>
                  <a:gd name="T11" fmla="*/ 0 h 47"/>
                  <a:gd name="T12" fmla="*/ 1 w 52"/>
                  <a:gd name="T13" fmla="*/ 0 h 47"/>
                  <a:gd name="T14" fmla="*/ 1 w 52"/>
                  <a:gd name="T15" fmla="*/ 0 h 47"/>
                  <a:gd name="T16" fmla="*/ 1 w 52"/>
                  <a:gd name="T17" fmla="*/ 0 h 47"/>
                  <a:gd name="T18" fmla="*/ 1 w 52"/>
                  <a:gd name="T19" fmla="*/ 0 h 47"/>
                  <a:gd name="T20" fmla="*/ 0 w 52"/>
                  <a:gd name="T21" fmla="*/ 0 h 47"/>
                  <a:gd name="T22" fmla="*/ 0 w 52"/>
                  <a:gd name="T23" fmla="*/ 0 h 47"/>
                  <a:gd name="T24" fmla="*/ 1 w 52"/>
                  <a:gd name="T25" fmla="*/ 0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47"/>
                  <a:gd name="T41" fmla="*/ 52 w 52"/>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47">
                    <a:moveTo>
                      <a:pt x="9" y="47"/>
                    </a:moveTo>
                    <a:lnTo>
                      <a:pt x="9" y="47"/>
                    </a:lnTo>
                    <a:lnTo>
                      <a:pt x="27" y="38"/>
                    </a:lnTo>
                    <a:lnTo>
                      <a:pt x="39" y="27"/>
                    </a:lnTo>
                    <a:lnTo>
                      <a:pt x="48" y="18"/>
                    </a:lnTo>
                    <a:lnTo>
                      <a:pt x="52" y="10"/>
                    </a:lnTo>
                    <a:lnTo>
                      <a:pt x="33" y="0"/>
                    </a:lnTo>
                    <a:lnTo>
                      <a:pt x="30" y="5"/>
                    </a:lnTo>
                    <a:lnTo>
                      <a:pt x="23" y="11"/>
                    </a:lnTo>
                    <a:lnTo>
                      <a:pt x="14" y="19"/>
                    </a:lnTo>
                    <a:lnTo>
                      <a:pt x="0" y="29"/>
                    </a:lnTo>
                    <a:lnTo>
                      <a:pt x="9" y="47"/>
                    </a:lnTo>
                    <a:close/>
                  </a:path>
                </a:pathLst>
              </a:custGeom>
              <a:solidFill>
                <a:srgbClr val="000000"/>
              </a:solidFill>
              <a:ln w="9525">
                <a:noFill/>
                <a:round/>
                <a:headEnd/>
                <a:tailEnd/>
              </a:ln>
            </p:spPr>
            <p:txBody>
              <a:bodyPr/>
              <a:lstStyle/>
              <a:p>
                <a:endParaRPr lang="en-US"/>
              </a:p>
            </p:txBody>
          </p:sp>
          <p:sp>
            <p:nvSpPr>
              <p:cNvPr id="28863" name="Freeform 153"/>
              <p:cNvSpPr>
                <a:spLocks/>
              </p:cNvSpPr>
              <p:nvPr/>
            </p:nvSpPr>
            <p:spPr bwMode="auto">
              <a:xfrm>
                <a:off x="2196" y="3579"/>
                <a:ext cx="41" cy="22"/>
              </a:xfrm>
              <a:custGeom>
                <a:avLst/>
                <a:gdLst>
                  <a:gd name="T0" fmla="*/ 1 w 81"/>
                  <a:gd name="T1" fmla="*/ 1 h 43"/>
                  <a:gd name="T2" fmla="*/ 1 w 81"/>
                  <a:gd name="T3" fmla="*/ 1 h 43"/>
                  <a:gd name="T4" fmla="*/ 1 w 81"/>
                  <a:gd name="T5" fmla="*/ 1 h 43"/>
                  <a:gd name="T6" fmla="*/ 1 w 81"/>
                  <a:gd name="T7" fmla="*/ 1 h 43"/>
                  <a:gd name="T8" fmla="*/ 1 w 81"/>
                  <a:gd name="T9" fmla="*/ 1 h 43"/>
                  <a:gd name="T10" fmla="*/ 1 w 81"/>
                  <a:gd name="T11" fmla="*/ 1 h 43"/>
                  <a:gd name="T12" fmla="*/ 1 w 81"/>
                  <a:gd name="T13" fmla="*/ 1 h 43"/>
                  <a:gd name="T14" fmla="*/ 1 w 81"/>
                  <a:gd name="T15" fmla="*/ 1 h 43"/>
                  <a:gd name="T16" fmla="*/ 1 w 81"/>
                  <a:gd name="T17" fmla="*/ 1 h 43"/>
                  <a:gd name="T18" fmla="*/ 1 w 81"/>
                  <a:gd name="T19" fmla="*/ 1 h 43"/>
                  <a:gd name="T20" fmla="*/ 1 w 81"/>
                  <a:gd name="T21" fmla="*/ 0 h 43"/>
                  <a:gd name="T22" fmla="*/ 1 w 81"/>
                  <a:gd name="T23" fmla="*/ 1 h 43"/>
                  <a:gd name="T24" fmla="*/ 1 w 81"/>
                  <a:gd name="T25" fmla="*/ 1 h 43"/>
                  <a:gd name="T26" fmla="*/ 1 w 81"/>
                  <a:gd name="T27" fmla="*/ 1 h 43"/>
                  <a:gd name="T28" fmla="*/ 1 w 81"/>
                  <a:gd name="T29" fmla="*/ 1 h 43"/>
                  <a:gd name="T30" fmla="*/ 1 w 81"/>
                  <a:gd name="T31" fmla="*/ 1 h 43"/>
                  <a:gd name="T32" fmla="*/ 1 w 81"/>
                  <a:gd name="T33" fmla="*/ 1 h 43"/>
                  <a:gd name="T34" fmla="*/ 1 w 81"/>
                  <a:gd name="T35" fmla="*/ 1 h 43"/>
                  <a:gd name="T36" fmla="*/ 0 w 81"/>
                  <a:gd name="T37" fmla="*/ 1 h 43"/>
                  <a:gd name="T38" fmla="*/ 0 w 81"/>
                  <a:gd name="T39" fmla="*/ 1 h 43"/>
                  <a:gd name="T40" fmla="*/ 1 w 81"/>
                  <a:gd name="T41" fmla="*/ 1 h 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43"/>
                  <a:gd name="T65" fmla="*/ 81 w 81"/>
                  <a:gd name="T66" fmla="*/ 43 h 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43">
                    <a:moveTo>
                      <a:pt x="3" y="43"/>
                    </a:moveTo>
                    <a:lnTo>
                      <a:pt x="3" y="43"/>
                    </a:lnTo>
                    <a:lnTo>
                      <a:pt x="9" y="42"/>
                    </a:lnTo>
                    <a:lnTo>
                      <a:pt x="17" y="40"/>
                    </a:lnTo>
                    <a:lnTo>
                      <a:pt x="27" y="37"/>
                    </a:lnTo>
                    <a:lnTo>
                      <a:pt x="38" y="34"/>
                    </a:lnTo>
                    <a:lnTo>
                      <a:pt x="48" y="31"/>
                    </a:lnTo>
                    <a:lnTo>
                      <a:pt x="59" y="28"/>
                    </a:lnTo>
                    <a:lnTo>
                      <a:pt x="70" y="23"/>
                    </a:lnTo>
                    <a:lnTo>
                      <a:pt x="81" y="18"/>
                    </a:lnTo>
                    <a:lnTo>
                      <a:pt x="72" y="0"/>
                    </a:lnTo>
                    <a:lnTo>
                      <a:pt x="64" y="1"/>
                    </a:lnTo>
                    <a:lnTo>
                      <a:pt x="53" y="6"/>
                    </a:lnTo>
                    <a:lnTo>
                      <a:pt x="42" y="9"/>
                    </a:lnTo>
                    <a:lnTo>
                      <a:pt x="31" y="12"/>
                    </a:lnTo>
                    <a:lnTo>
                      <a:pt x="20" y="15"/>
                    </a:lnTo>
                    <a:lnTo>
                      <a:pt x="11" y="18"/>
                    </a:lnTo>
                    <a:lnTo>
                      <a:pt x="3" y="20"/>
                    </a:lnTo>
                    <a:lnTo>
                      <a:pt x="0" y="21"/>
                    </a:lnTo>
                    <a:lnTo>
                      <a:pt x="3" y="43"/>
                    </a:lnTo>
                    <a:close/>
                  </a:path>
                </a:pathLst>
              </a:custGeom>
              <a:solidFill>
                <a:srgbClr val="000000"/>
              </a:solidFill>
              <a:ln w="9525">
                <a:noFill/>
                <a:round/>
                <a:headEnd/>
                <a:tailEnd/>
              </a:ln>
            </p:spPr>
            <p:txBody>
              <a:bodyPr/>
              <a:lstStyle/>
              <a:p>
                <a:endParaRPr lang="en-US"/>
              </a:p>
            </p:txBody>
          </p:sp>
          <p:sp>
            <p:nvSpPr>
              <p:cNvPr id="28864" name="Freeform 154"/>
              <p:cNvSpPr>
                <a:spLocks/>
              </p:cNvSpPr>
              <p:nvPr/>
            </p:nvSpPr>
            <p:spPr bwMode="auto">
              <a:xfrm>
                <a:off x="2184" y="3590"/>
                <a:ext cx="14" cy="15"/>
              </a:xfrm>
              <a:custGeom>
                <a:avLst/>
                <a:gdLst>
                  <a:gd name="T0" fmla="*/ 1 w 27"/>
                  <a:gd name="T1" fmla="*/ 1 h 30"/>
                  <a:gd name="T2" fmla="*/ 1 w 27"/>
                  <a:gd name="T3" fmla="*/ 1 h 30"/>
                  <a:gd name="T4" fmla="*/ 1 w 27"/>
                  <a:gd name="T5" fmla="*/ 1 h 30"/>
                  <a:gd name="T6" fmla="*/ 1 w 27"/>
                  <a:gd name="T7" fmla="*/ 1 h 30"/>
                  <a:gd name="T8" fmla="*/ 1 w 27"/>
                  <a:gd name="T9" fmla="*/ 1 h 30"/>
                  <a:gd name="T10" fmla="*/ 1 w 27"/>
                  <a:gd name="T11" fmla="*/ 1 h 30"/>
                  <a:gd name="T12" fmla="*/ 1 w 27"/>
                  <a:gd name="T13" fmla="*/ 0 h 30"/>
                  <a:gd name="T14" fmla="*/ 1 w 27"/>
                  <a:gd name="T15" fmla="*/ 1 h 30"/>
                  <a:gd name="T16" fmla="*/ 1 w 27"/>
                  <a:gd name="T17" fmla="*/ 1 h 30"/>
                  <a:gd name="T18" fmla="*/ 1 w 27"/>
                  <a:gd name="T19" fmla="*/ 1 h 30"/>
                  <a:gd name="T20" fmla="*/ 0 w 27"/>
                  <a:gd name="T21" fmla="*/ 1 h 30"/>
                  <a:gd name="T22" fmla="*/ 1 w 27"/>
                  <a:gd name="T23" fmla="*/ 1 h 30"/>
                  <a:gd name="T24" fmla="*/ 1 w 27"/>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30"/>
                  <a:gd name="T41" fmla="*/ 27 w 27"/>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30">
                    <a:moveTo>
                      <a:pt x="15" y="30"/>
                    </a:moveTo>
                    <a:lnTo>
                      <a:pt x="16" y="29"/>
                    </a:lnTo>
                    <a:lnTo>
                      <a:pt x="18" y="27"/>
                    </a:lnTo>
                    <a:lnTo>
                      <a:pt x="21" y="25"/>
                    </a:lnTo>
                    <a:lnTo>
                      <a:pt x="24" y="22"/>
                    </a:lnTo>
                    <a:lnTo>
                      <a:pt x="27" y="22"/>
                    </a:lnTo>
                    <a:lnTo>
                      <a:pt x="24" y="0"/>
                    </a:lnTo>
                    <a:lnTo>
                      <a:pt x="15" y="4"/>
                    </a:lnTo>
                    <a:lnTo>
                      <a:pt x="8" y="7"/>
                    </a:lnTo>
                    <a:lnTo>
                      <a:pt x="5" y="8"/>
                    </a:lnTo>
                    <a:lnTo>
                      <a:pt x="0" y="13"/>
                    </a:lnTo>
                    <a:lnTo>
                      <a:pt x="2" y="11"/>
                    </a:lnTo>
                    <a:lnTo>
                      <a:pt x="15" y="30"/>
                    </a:lnTo>
                    <a:close/>
                  </a:path>
                </a:pathLst>
              </a:custGeom>
              <a:solidFill>
                <a:srgbClr val="000000"/>
              </a:solidFill>
              <a:ln w="9525">
                <a:noFill/>
                <a:round/>
                <a:headEnd/>
                <a:tailEnd/>
              </a:ln>
            </p:spPr>
            <p:txBody>
              <a:bodyPr/>
              <a:lstStyle/>
              <a:p>
                <a:endParaRPr lang="en-US"/>
              </a:p>
            </p:txBody>
          </p:sp>
          <p:sp>
            <p:nvSpPr>
              <p:cNvPr id="28865" name="Freeform 155"/>
              <p:cNvSpPr>
                <a:spLocks/>
              </p:cNvSpPr>
              <p:nvPr/>
            </p:nvSpPr>
            <p:spPr bwMode="auto">
              <a:xfrm>
                <a:off x="2162" y="3595"/>
                <a:ext cx="29" cy="84"/>
              </a:xfrm>
              <a:custGeom>
                <a:avLst/>
                <a:gdLst>
                  <a:gd name="T0" fmla="*/ 1 w 58"/>
                  <a:gd name="T1" fmla="*/ 1 h 168"/>
                  <a:gd name="T2" fmla="*/ 1 w 58"/>
                  <a:gd name="T3" fmla="*/ 1 h 168"/>
                  <a:gd name="T4" fmla="*/ 1 w 58"/>
                  <a:gd name="T5" fmla="*/ 1 h 168"/>
                  <a:gd name="T6" fmla="*/ 1 w 58"/>
                  <a:gd name="T7" fmla="*/ 1 h 168"/>
                  <a:gd name="T8" fmla="*/ 1 w 58"/>
                  <a:gd name="T9" fmla="*/ 1 h 168"/>
                  <a:gd name="T10" fmla="*/ 1 w 58"/>
                  <a:gd name="T11" fmla="*/ 1 h 168"/>
                  <a:gd name="T12" fmla="*/ 1 w 58"/>
                  <a:gd name="T13" fmla="*/ 1 h 168"/>
                  <a:gd name="T14" fmla="*/ 1 w 58"/>
                  <a:gd name="T15" fmla="*/ 1 h 168"/>
                  <a:gd name="T16" fmla="*/ 1 w 58"/>
                  <a:gd name="T17" fmla="*/ 1 h 168"/>
                  <a:gd name="T18" fmla="*/ 1 w 58"/>
                  <a:gd name="T19" fmla="*/ 1 h 168"/>
                  <a:gd name="T20" fmla="*/ 1 w 58"/>
                  <a:gd name="T21" fmla="*/ 0 h 168"/>
                  <a:gd name="T22" fmla="*/ 1 w 58"/>
                  <a:gd name="T23" fmla="*/ 1 h 168"/>
                  <a:gd name="T24" fmla="*/ 1 w 58"/>
                  <a:gd name="T25" fmla="*/ 1 h 168"/>
                  <a:gd name="T26" fmla="*/ 1 w 58"/>
                  <a:gd name="T27" fmla="*/ 1 h 168"/>
                  <a:gd name="T28" fmla="*/ 1 w 58"/>
                  <a:gd name="T29" fmla="*/ 1 h 168"/>
                  <a:gd name="T30" fmla="*/ 1 w 58"/>
                  <a:gd name="T31" fmla="*/ 1 h 168"/>
                  <a:gd name="T32" fmla="*/ 1 w 58"/>
                  <a:gd name="T33" fmla="*/ 1 h 168"/>
                  <a:gd name="T34" fmla="*/ 0 w 58"/>
                  <a:gd name="T35" fmla="*/ 1 h 168"/>
                  <a:gd name="T36" fmla="*/ 0 w 58"/>
                  <a:gd name="T37" fmla="*/ 1 h 168"/>
                  <a:gd name="T38" fmla="*/ 0 w 58"/>
                  <a:gd name="T39" fmla="*/ 1 h 168"/>
                  <a:gd name="T40" fmla="*/ 1 w 58"/>
                  <a:gd name="T41" fmla="*/ 1 h 1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168"/>
                  <a:gd name="T65" fmla="*/ 58 w 58"/>
                  <a:gd name="T66" fmla="*/ 168 h 1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168">
                    <a:moveTo>
                      <a:pt x="22" y="165"/>
                    </a:moveTo>
                    <a:lnTo>
                      <a:pt x="22" y="165"/>
                    </a:lnTo>
                    <a:lnTo>
                      <a:pt x="22" y="149"/>
                    </a:lnTo>
                    <a:lnTo>
                      <a:pt x="25" y="127"/>
                    </a:lnTo>
                    <a:lnTo>
                      <a:pt x="29" y="102"/>
                    </a:lnTo>
                    <a:lnTo>
                      <a:pt x="36" y="79"/>
                    </a:lnTo>
                    <a:lnTo>
                      <a:pt x="43" y="55"/>
                    </a:lnTo>
                    <a:lnTo>
                      <a:pt x="48" y="36"/>
                    </a:lnTo>
                    <a:lnTo>
                      <a:pt x="56" y="22"/>
                    </a:lnTo>
                    <a:lnTo>
                      <a:pt x="58" y="19"/>
                    </a:lnTo>
                    <a:lnTo>
                      <a:pt x="45" y="0"/>
                    </a:lnTo>
                    <a:lnTo>
                      <a:pt x="37" y="13"/>
                    </a:lnTo>
                    <a:lnTo>
                      <a:pt x="29" y="27"/>
                    </a:lnTo>
                    <a:lnTo>
                      <a:pt x="22" y="49"/>
                    </a:lnTo>
                    <a:lnTo>
                      <a:pt x="14" y="72"/>
                    </a:lnTo>
                    <a:lnTo>
                      <a:pt x="7" y="99"/>
                    </a:lnTo>
                    <a:lnTo>
                      <a:pt x="3" y="124"/>
                    </a:lnTo>
                    <a:lnTo>
                      <a:pt x="0" y="146"/>
                    </a:lnTo>
                    <a:lnTo>
                      <a:pt x="0" y="168"/>
                    </a:lnTo>
                    <a:lnTo>
                      <a:pt x="22" y="165"/>
                    </a:lnTo>
                    <a:close/>
                  </a:path>
                </a:pathLst>
              </a:custGeom>
              <a:solidFill>
                <a:srgbClr val="000000"/>
              </a:solidFill>
              <a:ln w="9525">
                <a:noFill/>
                <a:round/>
                <a:headEnd/>
                <a:tailEnd/>
              </a:ln>
            </p:spPr>
            <p:txBody>
              <a:bodyPr/>
              <a:lstStyle/>
              <a:p>
                <a:endParaRPr lang="en-US"/>
              </a:p>
            </p:txBody>
          </p:sp>
          <p:sp>
            <p:nvSpPr>
              <p:cNvPr id="28866" name="Freeform 156"/>
              <p:cNvSpPr>
                <a:spLocks/>
              </p:cNvSpPr>
              <p:nvPr/>
            </p:nvSpPr>
            <p:spPr bwMode="auto">
              <a:xfrm>
                <a:off x="2162" y="3677"/>
                <a:ext cx="24" cy="80"/>
              </a:xfrm>
              <a:custGeom>
                <a:avLst/>
                <a:gdLst>
                  <a:gd name="T0" fmla="*/ 1 w 47"/>
                  <a:gd name="T1" fmla="*/ 1 h 159"/>
                  <a:gd name="T2" fmla="*/ 1 w 47"/>
                  <a:gd name="T3" fmla="*/ 1 h 159"/>
                  <a:gd name="T4" fmla="*/ 1 w 47"/>
                  <a:gd name="T5" fmla="*/ 1 h 159"/>
                  <a:gd name="T6" fmla="*/ 1 w 47"/>
                  <a:gd name="T7" fmla="*/ 1 h 159"/>
                  <a:gd name="T8" fmla="*/ 1 w 47"/>
                  <a:gd name="T9" fmla="*/ 1 h 159"/>
                  <a:gd name="T10" fmla="*/ 1 w 47"/>
                  <a:gd name="T11" fmla="*/ 1 h 159"/>
                  <a:gd name="T12" fmla="*/ 1 w 47"/>
                  <a:gd name="T13" fmla="*/ 1 h 159"/>
                  <a:gd name="T14" fmla="*/ 1 w 47"/>
                  <a:gd name="T15" fmla="*/ 1 h 159"/>
                  <a:gd name="T16" fmla="*/ 1 w 47"/>
                  <a:gd name="T17" fmla="*/ 1 h 159"/>
                  <a:gd name="T18" fmla="*/ 1 w 47"/>
                  <a:gd name="T19" fmla="*/ 0 h 159"/>
                  <a:gd name="T20" fmla="*/ 0 w 47"/>
                  <a:gd name="T21" fmla="*/ 1 h 159"/>
                  <a:gd name="T22" fmla="*/ 1 w 47"/>
                  <a:gd name="T23" fmla="*/ 1 h 159"/>
                  <a:gd name="T24" fmla="*/ 1 w 47"/>
                  <a:gd name="T25" fmla="*/ 1 h 159"/>
                  <a:gd name="T26" fmla="*/ 1 w 47"/>
                  <a:gd name="T27" fmla="*/ 1 h 159"/>
                  <a:gd name="T28" fmla="*/ 1 w 47"/>
                  <a:gd name="T29" fmla="*/ 1 h 159"/>
                  <a:gd name="T30" fmla="*/ 1 w 47"/>
                  <a:gd name="T31" fmla="*/ 1 h 159"/>
                  <a:gd name="T32" fmla="*/ 1 w 47"/>
                  <a:gd name="T33" fmla="*/ 1 h 159"/>
                  <a:gd name="T34" fmla="*/ 1 w 47"/>
                  <a:gd name="T35" fmla="*/ 1 h 159"/>
                  <a:gd name="T36" fmla="*/ 1 w 47"/>
                  <a:gd name="T37" fmla="*/ 1 h 159"/>
                  <a:gd name="T38" fmla="*/ 1 w 47"/>
                  <a:gd name="T39" fmla="*/ 1 h 159"/>
                  <a:gd name="T40" fmla="*/ 1 w 47"/>
                  <a:gd name="T41" fmla="*/ 1 h 1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159"/>
                  <a:gd name="T65" fmla="*/ 47 w 47"/>
                  <a:gd name="T66" fmla="*/ 159 h 15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159">
                    <a:moveTo>
                      <a:pt x="47" y="139"/>
                    </a:moveTo>
                    <a:lnTo>
                      <a:pt x="45" y="137"/>
                    </a:lnTo>
                    <a:lnTo>
                      <a:pt x="47" y="136"/>
                    </a:lnTo>
                    <a:lnTo>
                      <a:pt x="42" y="126"/>
                    </a:lnTo>
                    <a:lnTo>
                      <a:pt x="37" y="108"/>
                    </a:lnTo>
                    <a:lnTo>
                      <a:pt x="32" y="87"/>
                    </a:lnTo>
                    <a:lnTo>
                      <a:pt x="29" y="62"/>
                    </a:lnTo>
                    <a:lnTo>
                      <a:pt x="26" y="39"/>
                    </a:lnTo>
                    <a:lnTo>
                      <a:pt x="23" y="17"/>
                    </a:lnTo>
                    <a:lnTo>
                      <a:pt x="22" y="0"/>
                    </a:lnTo>
                    <a:lnTo>
                      <a:pt x="0" y="3"/>
                    </a:lnTo>
                    <a:lnTo>
                      <a:pt x="1" y="20"/>
                    </a:lnTo>
                    <a:lnTo>
                      <a:pt x="4" y="42"/>
                    </a:lnTo>
                    <a:lnTo>
                      <a:pt x="7" y="65"/>
                    </a:lnTo>
                    <a:lnTo>
                      <a:pt x="11" y="90"/>
                    </a:lnTo>
                    <a:lnTo>
                      <a:pt x="15" y="114"/>
                    </a:lnTo>
                    <a:lnTo>
                      <a:pt x="20" y="133"/>
                    </a:lnTo>
                    <a:lnTo>
                      <a:pt x="28" y="148"/>
                    </a:lnTo>
                    <a:lnTo>
                      <a:pt x="39" y="159"/>
                    </a:lnTo>
                    <a:lnTo>
                      <a:pt x="37" y="158"/>
                    </a:lnTo>
                    <a:lnTo>
                      <a:pt x="47" y="139"/>
                    </a:lnTo>
                    <a:close/>
                  </a:path>
                </a:pathLst>
              </a:custGeom>
              <a:solidFill>
                <a:srgbClr val="000000"/>
              </a:solidFill>
              <a:ln w="9525">
                <a:noFill/>
                <a:round/>
                <a:headEnd/>
                <a:tailEnd/>
              </a:ln>
            </p:spPr>
            <p:txBody>
              <a:bodyPr/>
              <a:lstStyle/>
              <a:p>
                <a:endParaRPr lang="en-US"/>
              </a:p>
            </p:txBody>
          </p:sp>
          <p:sp>
            <p:nvSpPr>
              <p:cNvPr id="28867" name="Freeform 157"/>
              <p:cNvSpPr>
                <a:spLocks/>
              </p:cNvSpPr>
              <p:nvPr/>
            </p:nvSpPr>
            <p:spPr bwMode="auto">
              <a:xfrm>
                <a:off x="2181" y="3736"/>
                <a:ext cx="47" cy="21"/>
              </a:xfrm>
              <a:custGeom>
                <a:avLst/>
                <a:gdLst>
                  <a:gd name="T0" fmla="*/ 1 w 94"/>
                  <a:gd name="T1" fmla="*/ 0 h 42"/>
                  <a:gd name="T2" fmla="*/ 1 w 94"/>
                  <a:gd name="T3" fmla="*/ 0 h 42"/>
                  <a:gd name="T4" fmla="*/ 1 w 94"/>
                  <a:gd name="T5" fmla="*/ 1 h 42"/>
                  <a:gd name="T6" fmla="*/ 1 w 94"/>
                  <a:gd name="T7" fmla="*/ 1 h 42"/>
                  <a:gd name="T8" fmla="*/ 1 w 94"/>
                  <a:gd name="T9" fmla="*/ 1 h 42"/>
                  <a:gd name="T10" fmla="*/ 1 w 94"/>
                  <a:gd name="T11" fmla="*/ 1 h 42"/>
                  <a:gd name="T12" fmla="*/ 1 w 94"/>
                  <a:gd name="T13" fmla="*/ 1 h 42"/>
                  <a:gd name="T14" fmla="*/ 1 w 94"/>
                  <a:gd name="T15" fmla="*/ 1 h 42"/>
                  <a:gd name="T16" fmla="*/ 1 w 94"/>
                  <a:gd name="T17" fmla="*/ 1 h 42"/>
                  <a:gd name="T18" fmla="*/ 1 w 94"/>
                  <a:gd name="T19" fmla="*/ 1 h 42"/>
                  <a:gd name="T20" fmla="*/ 0 w 94"/>
                  <a:gd name="T21" fmla="*/ 1 h 42"/>
                  <a:gd name="T22" fmla="*/ 1 w 94"/>
                  <a:gd name="T23" fmla="*/ 1 h 42"/>
                  <a:gd name="T24" fmla="*/ 1 w 94"/>
                  <a:gd name="T25" fmla="*/ 1 h 42"/>
                  <a:gd name="T26" fmla="*/ 1 w 94"/>
                  <a:gd name="T27" fmla="*/ 1 h 42"/>
                  <a:gd name="T28" fmla="*/ 1 w 94"/>
                  <a:gd name="T29" fmla="*/ 1 h 42"/>
                  <a:gd name="T30" fmla="*/ 1 w 94"/>
                  <a:gd name="T31" fmla="*/ 1 h 42"/>
                  <a:gd name="T32" fmla="*/ 1 w 94"/>
                  <a:gd name="T33" fmla="*/ 1 h 42"/>
                  <a:gd name="T34" fmla="*/ 1 w 94"/>
                  <a:gd name="T35" fmla="*/ 1 h 42"/>
                  <a:gd name="T36" fmla="*/ 1 w 94"/>
                  <a:gd name="T37" fmla="*/ 1 h 42"/>
                  <a:gd name="T38" fmla="*/ 1 w 94"/>
                  <a:gd name="T39" fmla="*/ 1 h 42"/>
                  <a:gd name="T40" fmla="*/ 1 w 94"/>
                  <a:gd name="T41" fmla="*/ 0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42"/>
                  <a:gd name="T65" fmla="*/ 94 w 94"/>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42">
                    <a:moveTo>
                      <a:pt x="83" y="0"/>
                    </a:moveTo>
                    <a:lnTo>
                      <a:pt x="82" y="0"/>
                    </a:lnTo>
                    <a:lnTo>
                      <a:pt x="77" y="3"/>
                    </a:lnTo>
                    <a:lnTo>
                      <a:pt x="69" y="6"/>
                    </a:lnTo>
                    <a:lnTo>
                      <a:pt x="57" y="9"/>
                    </a:lnTo>
                    <a:lnTo>
                      <a:pt x="42" y="14"/>
                    </a:lnTo>
                    <a:lnTo>
                      <a:pt x="30" y="17"/>
                    </a:lnTo>
                    <a:lnTo>
                      <a:pt x="19" y="20"/>
                    </a:lnTo>
                    <a:lnTo>
                      <a:pt x="11" y="20"/>
                    </a:lnTo>
                    <a:lnTo>
                      <a:pt x="10" y="22"/>
                    </a:lnTo>
                    <a:lnTo>
                      <a:pt x="0" y="41"/>
                    </a:lnTo>
                    <a:lnTo>
                      <a:pt x="11" y="42"/>
                    </a:lnTo>
                    <a:lnTo>
                      <a:pt x="22" y="42"/>
                    </a:lnTo>
                    <a:lnTo>
                      <a:pt x="36" y="39"/>
                    </a:lnTo>
                    <a:lnTo>
                      <a:pt x="49" y="36"/>
                    </a:lnTo>
                    <a:lnTo>
                      <a:pt x="63" y="31"/>
                    </a:lnTo>
                    <a:lnTo>
                      <a:pt x="75" y="28"/>
                    </a:lnTo>
                    <a:lnTo>
                      <a:pt x="86" y="22"/>
                    </a:lnTo>
                    <a:lnTo>
                      <a:pt x="94" y="19"/>
                    </a:lnTo>
                    <a:lnTo>
                      <a:pt x="93" y="19"/>
                    </a:lnTo>
                    <a:lnTo>
                      <a:pt x="83" y="0"/>
                    </a:lnTo>
                    <a:close/>
                  </a:path>
                </a:pathLst>
              </a:custGeom>
              <a:solidFill>
                <a:srgbClr val="000000"/>
              </a:solidFill>
              <a:ln w="9525">
                <a:noFill/>
                <a:round/>
                <a:headEnd/>
                <a:tailEnd/>
              </a:ln>
            </p:spPr>
            <p:txBody>
              <a:bodyPr/>
              <a:lstStyle/>
              <a:p>
                <a:endParaRPr lang="en-US"/>
              </a:p>
            </p:txBody>
          </p:sp>
          <p:sp>
            <p:nvSpPr>
              <p:cNvPr id="28868" name="Freeform 158"/>
              <p:cNvSpPr>
                <a:spLocks/>
              </p:cNvSpPr>
              <p:nvPr/>
            </p:nvSpPr>
            <p:spPr bwMode="auto">
              <a:xfrm>
                <a:off x="2086" y="3813"/>
                <a:ext cx="162" cy="77"/>
              </a:xfrm>
              <a:custGeom>
                <a:avLst/>
                <a:gdLst>
                  <a:gd name="T0" fmla="*/ 0 w 326"/>
                  <a:gd name="T1" fmla="*/ 0 h 155"/>
                  <a:gd name="T2" fmla="*/ 0 w 326"/>
                  <a:gd name="T3" fmla="*/ 0 h 155"/>
                  <a:gd name="T4" fmla="*/ 0 w 326"/>
                  <a:gd name="T5" fmla="*/ 0 h 155"/>
                  <a:gd name="T6" fmla="*/ 0 w 326"/>
                  <a:gd name="T7" fmla="*/ 0 h 155"/>
                  <a:gd name="T8" fmla="*/ 0 w 326"/>
                  <a:gd name="T9" fmla="*/ 0 h 155"/>
                  <a:gd name="T10" fmla="*/ 0 w 326"/>
                  <a:gd name="T11" fmla="*/ 0 h 155"/>
                  <a:gd name="T12" fmla="*/ 0 w 326"/>
                  <a:gd name="T13" fmla="*/ 0 h 155"/>
                  <a:gd name="T14" fmla="*/ 0 w 326"/>
                  <a:gd name="T15" fmla="*/ 0 h 155"/>
                  <a:gd name="T16" fmla="*/ 0 w 326"/>
                  <a:gd name="T17" fmla="*/ 0 h 155"/>
                  <a:gd name="T18" fmla="*/ 0 w 326"/>
                  <a:gd name="T19" fmla="*/ 0 h 155"/>
                  <a:gd name="T20" fmla="*/ 0 w 326"/>
                  <a:gd name="T21" fmla="*/ 0 h 155"/>
                  <a:gd name="T22" fmla="*/ 0 w 326"/>
                  <a:gd name="T23" fmla="*/ 0 h 155"/>
                  <a:gd name="T24" fmla="*/ 0 w 326"/>
                  <a:gd name="T25" fmla="*/ 0 h 155"/>
                  <a:gd name="T26" fmla="*/ 0 w 326"/>
                  <a:gd name="T27" fmla="*/ 0 h 155"/>
                  <a:gd name="T28" fmla="*/ 0 w 326"/>
                  <a:gd name="T29" fmla="*/ 0 h 15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6"/>
                  <a:gd name="T46" fmla="*/ 0 h 155"/>
                  <a:gd name="T47" fmla="*/ 326 w 326"/>
                  <a:gd name="T48" fmla="*/ 155 h 15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6" h="155">
                    <a:moveTo>
                      <a:pt x="144" y="32"/>
                    </a:moveTo>
                    <a:lnTo>
                      <a:pt x="0" y="0"/>
                    </a:lnTo>
                    <a:lnTo>
                      <a:pt x="0" y="21"/>
                    </a:lnTo>
                    <a:lnTo>
                      <a:pt x="118" y="61"/>
                    </a:lnTo>
                    <a:lnTo>
                      <a:pt x="49" y="155"/>
                    </a:lnTo>
                    <a:lnTo>
                      <a:pt x="71" y="155"/>
                    </a:lnTo>
                    <a:lnTo>
                      <a:pt x="160" y="75"/>
                    </a:lnTo>
                    <a:lnTo>
                      <a:pt x="165" y="75"/>
                    </a:lnTo>
                    <a:lnTo>
                      <a:pt x="254" y="155"/>
                    </a:lnTo>
                    <a:lnTo>
                      <a:pt x="276" y="155"/>
                    </a:lnTo>
                    <a:lnTo>
                      <a:pt x="208" y="61"/>
                    </a:lnTo>
                    <a:lnTo>
                      <a:pt x="326" y="21"/>
                    </a:lnTo>
                    <a:lnTo>
                      <a:pt x="326" y="0"/>
                    </a:lnTo>
                    <a:lnTo>
                      <a:pt x="180" y="32"/>
                    </a:lnTo>
                    <a:lnTo>
                      <a:pt x="144" y="32"/>
                    </a:lnTo>
                    <a:close/>
                  </a:path>
                </a:pathLst>
              </a:custGeom>
              <a:solidFill>
                <a:srgbClr val="FF7226"/>
              </a:solidFill>
              <a:ln w="9525">
                <a:noFill/>
                <a:round/>
                <a:headEnd/>
                <a:tailEnd/>
              </a:ln>
            </p:spPr>
            <p:txBody>
              <a:bodyPr/>
              <a:lstStyle/>
              <a:p>
                <a:endParaRPr lang="en-US"/>
              </a:p>
            </p:txBody>
          </p:sp>
          <p:sp>
            <p:nvSpPr>
              <p:cNvPr id="28869" name="Freeform 159"/>
              <p:cNvSpPr>
                <a:spLocks/>
              </p:cNvSpPr>
              <p:nvPr/>
            </p:nvSpPr>
            <p:spPr bwMode="auto">
              <a:xfrm>
                <a:off x="2080" y="3807"/>
                <a:ext cx="78" cy="27"/>
              </a:xfrm>
              <a:custGeom>
                <a:avLst/>
                <a:gdLst>
                  <a:gd name="T0" fmla="*/ 0 w 157"/>
                  <a:gd name="T1" fmla="*/ 1 h 54"/>
                  <a:gd name="T2" fmla="*/ 0 w 157"/>
                  <a:gd name="T3" fmla="*/ 1 h 54"/>
                  <a:gd name="T4" fmla="*/ 0 w 157"/>
                  <a:gd name="T5" fmla="*/ 1 h 54"/>
                  <a:gd name="T6" fmla="*/ 0 w 157"/>
                  <a:gd name="T7" fmla="*/ 1 h 54"/>
                  <a:gd name="T8" fmla="*/ 0 w 157"/>
                  <a:gd name="T9" fmla="*/ 0 h 54"/>
                  <a:gd name="T10" fmla="*/ 0 w 157"/>
                  <a:gd name="T11" fmla="*/ 1 h 54"/>
                  <a:gd name="T12" fmla="*/ 0 w 157"/>
                  <a:gd name="T13" fmla="*/ 0 h 54"/>
                  <a:gd name="T14" fmla="*/ 0 w 157"/>
                  <a:gd name="T15" fmla="*/ 1 h 54"/>
                  <a:gd name="T16" fmla="*/ 0 w 157"/>
                  <a:gd name="T17" fmla="*/ 1 h 54"/>
                  <a:gd name="T18" fmla="*/ 0 w 157"/>
                  <a:gd name="T19" fmla="*/ 1 h 54"/>
                  <a:gd name="T20" fmla="*/ 0 w 157"/>
                  <a:gd name="T21" fmla="*/ 1 h 54"/>
                  <a:gd name="T22" fmla="*/ 0 w 157"/>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7"/>
                  <a:gd name="T37" fmla="*/ 0 h 54"/>
                  <a:gd name="T38" fmla="*/ 157 w 157"/>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7" h="54">
                    <a:moveTo>
                      <a:pt x="22" y="11"/>
                    </a:moveTo>
                    <a:lnTo>
                      <a:pt x="10" y="22"/>
                    </a:lnTo>
                    <a:lnTo>
                      <a:pt x="154" y="54"/>
                    </a:lnTo>
                    <a:lnTo>
                      <a:pt x="157" y="32"/>
                    </a:lnTo>
                    <a:lnTo>
                      <a:pt x="13" y="0"/>
                    </a:lnTo>
                    <a:lnTo>
                      <a:pt x="0" y="11"/>
                    </a:lnTo>
                    <a:lnTo>
                      <a:pt x="13" y="0"/>
                    </a:lnTo>
                    <a:lnTo>
                      <a:pt x="5" y="4"/>
                    </a:lnTo>
                    <a:lnTo>
                      <a:pt x="0" y="10"/>
                    </a:lnTo>
                    <a:lnTo>
                      <a:pt x="2" y="18"/>
                    </a:lnTo>
                    <a:lnTo>
                      <a:pt x="10" y="22"/>
                    </a:lnTo>
                    <a:lnTo>
                      <a:pt x="22" y="11"/>
                    </a:lnTo>
                    <a:close/>
                  </a:path>
                </a:pathLst>
              </a:custGeom>
              <a:solidFill>
                <a:srgbClr val="000000"/>
              </a:solidFill>
              <a:ln w="9525">
                <a:noFill/>
                <a:round/>
                <a:headEnd/>
                <a:tailEnd/>
              </a:ln>
            </p:spPr>
            <p:txBody>
              <a:bodyPr/>
              <a:lstStyle/>
              <a:p>
                <a:endParaRPr lang="en-US"/>
              </a:p>
            </p:txBody>
          </p:sp>
          <p:sp>
            <p:nvSpPr>
              <p:cNvPr id="28870" name="Freeform 160"/>
              <p:cNvSpPr>
                <a:spLocks/>
              </p:cNvSpPr>
              <p:nvPr/>
            </p:nvSpPr>
            <p:spPr bwMode="auto">
              <a:xfrm>
                <a:off x="2080" y="3813"/>
                <a:ext cx="11" cy="15"/>
              </a:xfrm>
              <a:custGeom>
                <a:avLst/>
                <a:gdLst>
                  <a:gd name="T0" fmla="*/ 1 w 22"/>
                  <a:gd name="T1" fmla="*/ 0 h 32"/>
                  <a:gd name="T2" fmla="*/ 1 w 22"/>
                  <a:gd name="T3" fmla="*/ 0 h 32"/>
                  <a:gd name="T4" fmla="*/ 1 w 22"/>
                  <a:gd name="T5" fmla="*/ 0 h 32"/>
                  <a:gd name="T6" fmla="*/ 0 w 22"/>
                  <a:gd name="T7" fmla="*/ 0 h 32"/>
                  <a:gd name="T8" fmla="*/ 0 w 22"/>
                  <a:gd name="T9" fmla="*/ 0 h 32"/>
                  <a:gd name="T10" fmla="*/ 1 w 22"/>
                  <a:gd name="T11" fmla="*/ 0 h 32"/>
                  <a:gd name="T12" fmla="*/ 0 w 22"/>
                  <a:gd name="T13" fmla="*/ 0 h 32"/>
                  <a:gd name="T14" fmla="*/ 1 w 22"/>
                  <a:gd name="T15" fmla="*/ 0 h 32"/>
                  <a:gd name="T16" fmla="*/ 1 w 22"/>
                  <a:gd name="T17" fmla="*/ 0 h 32"/>
                  <a:gd name="T18" fmla="*/ 1 w 22"/>
                  <a:gd name="T19" fmla="*/ 0 h 32"/>
                  <a:gd name="T20" fmla="*/ 1 w 22"/>
                  <a:gd name="T21" fmla="*/ 0 h 32"/>
                  <a:gd name="T22" fmla="*/ 1 w 22"/>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4" y="10"/>
                    </a:moveTo>
                    <a:lnTo>
                      <a:pt x="22" y="21"/>
                    </a:lnTo>
                    <a:lnTo>
                      <a:pt x="22" y="0"/>
                    </a:lnTo>
                    <a:lnTo>
                      <a:pt x="0" y="0"/>
                    </a:lnTo>
                    <a:lnTo>
                      <a:pt x="0" y="21"/>
                    </a:lnTo>
                    <a:lnTo>
                      <a:pt x="8" y="32"/>
                    </a:lnTo>
                    <a:lnTo>
                      <a:pt x="0" y="21"/>
                    </a:lnTo>
                    <a:lnTo>
                      <a:pt x="3" y="28"/>
                    </a:lnTo>
                    <a:lnTo>
                      <a:pt x="11" y="32"/>
                    </a:lnTo>
                    <a:lnTo>
                      <a:pt x="19" y="28"/>
                    </a:lnTo>
                    <a:lnTo>
                      <a:pt x="22" y="21"/>
                    </a:lnTo>
                    <a:lnTo>
                      <a:pt x="14" y="10"/>
                    </a:lnTo>
                    <a:close/>
                  </a:path>
                </a:pathLst>
              </a:custGeom>
              <a:solidFill>
                <a:srgbClr val="000000"/>
              </a:solidFill>
              <a:ln w="9525">
                <a:noFill/>
                <a:round/>
                <a:headEnd/>
                <a:tailEnd/>
              </a:ln>
            </p:spPr>
            <p:txBody>
              <a:bodyPr/>
              <a:lstStyle/>
              <a:p>
                <a:endParaRPr lang="en-US"/>
              </a:p>
            </p:txBody>
          </p:sp>
          <p:sp>
            <p:nvSpPr>
              <p:cNvPr id="28871" name="Freeform 161"/>
              <p:cNvSpPr>
                <a:spLocks/>
              </p:cNvSpPr>
              <p:nvPr/>
            </p:nvSpPr>
            <p:spPr bwMode="auto">
              <a:xfrm>
                <a:off x="2084" y="3817"/>
                <a:ext cx="66" cy="32"/>
              </a:xfrm>
              <a:custGeom>
                <a:avLst/>
                <a:gdLst>
                  <a:gd name="T0" fmla="*/ 1 w 132"/>
                  <a:gd name="T1" fmla="*/ 1 h 62"/>
                  <a:gd name="T2" fmla="*/ 1 w 132"/>
                  <a:gd name="T3" fmla="*/ 1 h 62"/>
                  <a:gd name="T4" fmla="*/ 1 w 132"/>
                  <a:gd name="T5" fmla="*/ 0 h 62"/>
                  <a:gd name="T6" fmla="*/ 0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1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30" y="58"/>
                    </a:moveTo>
                    <a:lnTo>
                      <a:pt x="124" y="40"/>
                    </a:lnTo>
                    <a:lnTo>
                      <a:pt x="6" y="0"/>
                    </a:lnTo>
                    <a:lnTo>
                      <a:pt x="0" y="22"/>
                    </a:lnTo>
                    <a:lnTo>
                      <a:pt x="117" y="62"/>
                    </a:lnTo>
                    <a:lnTo>
                      <a:pt x="111" y="45"/>
                    </a:lnTo>
                    <a:lnTo>
                      <a:pt x="117" y="62"/>
                    </a:lnTo>
                    <a:lnTo>
                      <a:pt x="127" y="61"/>
                    </a:lnTo>
                    <a:lnTo>
                      <a:pt x="132" y="53"/>
                    </a:lnTo>
                    <a:lnTo>
                      <a:pt x="130" y="45"/>
                    </a:lnTo>
                    <a:lnTo>
                      <a:pt x="124" y="40"/>
                    </a:lnTo>
                    <a:lnTo>
                      <a:pt x="130" y="58"/>
                    </a:lnTo>
                    <a:close/>
                  </a:path>
                </a:pathLst>
              </a:custGeom>
              <a:solidFill>
                <a:srgbClr val="000000"/>
              </a:solidFill>
              <a:ln w="9525">
                <a:noFill/>
                <a:round/>
                <a:headEnd/>
                <a:tailEnd/>
              </a:ln>
            </p:spPr>
            <p:txBody>
              <a:bodyPr/>
              <a:lstStyle/>
              <a:p>
                <a:endParaRPr lang="en-US"/>
              </a:p>
            </p:txBody>
          </p:sp>
          <p:sp>
            <p:nvSpPr>
              <p:cNvPr id="28872" name="Freeform 162"/>
              <p:cNvSpPr>
                <a:spLocks/>
              </p:cNvSpPr>
              <p:nvPr/>
            </p:nvSpPr>
            <p:spPr bwMode="auto">
              <a:xfrm>
                <a:off x="2104" y="3840"/>
                <a:ext cx="45" cy="56"/>
              </a:xfrm>
              <a:custGeom>
                <a:avLst/>
                <a:gdLst>
                  <a:gd name="T0" fmla="*/ 1 w 89"/>
                  <a:gd name="T1" fmla="*/ 1 h 111"/>
                  <a:gd name="T2" fmla="*/ 1 w 89"/>
                  <a:gd name="T3" fmla="*/ 1 h 111"/>
                  <a:gd name="T4" fmla="*/ 1 w 89"/>
                  <a:gd name="T5" fmla="*/ 1 h 111"/>
                  <a:gd name="T6" fmla="*/ 1 w 89"/>
                  <a:gd name="T7" fmla="*/ 0 h 111"/>
                  <a:gd name="T8" fmla="*/ 1 w 89"/>
                  <a:gd name="T9" fmla="*/ 1 h 111"/>
                  <a:gd name="T10" fmla="*/ 1 w 89"/>
                  <a:gd name="T11" fmla="*/ 1 h 111"/>
                  <a:gd name="T12" fmla="*/ 1 w 89"/>
                  <a:gd name="T13" fmla="*/ 1 h 111"/>
                  <a:gd name="T14" fmla="*/ 0 w 89"/>
                  <a:gd name="T15" fmla="*/ 1 h 111"/>
                  <a:gd name="T16" fmla="*/ 1 w 89"/>
                  <a:gd name="T17" fmla="*/ 1 h 111"/>
                  <a:gd name="T18" fmla="*/ 1 w 89"/>
                  <a:gd name="T19" fmla="*/ 1 h 111"/>
                  <a:gd name="T20" fmla="*/ 1 w 89"/>
                  <a:gd name="T21" fmla="*/ 1 h 111"/>
                  <a:gd name="T22" fmla="*/ 1 w 89"/>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9"/>
                  <a:gd name="T37" fmla="*/ 0 h 111"/>
                  <a:gd name="T38" fmla="*/ 89 w 89"/>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9" h="111">
                    <a:moveTo>
                      <a:pt x="11" y="89"/>
                    </a:moveTo>
                    <a:lnTo>
                      <a:pt x="20" y="106"/>
                    </a:lnTo>
                    <a:lnTo>
                      <a:pt x="89" y="13"/>
                    </a:lnTo>
                    <a:lnTo>
                      <a:pt x="70" y="0"/>
                    </a:lnTo>
                    <a:lnTo>
                      <a:pt x="1" y="94"/>
                    </a:lnTo>
                    <a:lnTo>
                      <a:pt x="11" y="111"/>
                    </a:lnTo>
                    <a:lnTo>
                      <a:pt x="1" y="94"/>
                    </a:lnTo>
                    <a:lnTo>
                      <a:pt x="0" y="103"/>
                    </a:lnTo>
                    <a:lnTo>
                      <a:pt x="4" y="110"/>
                    </a:lnTo>
                    <a:lnTo>
                      <a:pt x="12" y="111"/>
                    </a:lnTo>
                    <a:lnTo>
                      <a:pt x="20" y="106"/>
                    </a:lnTo>
                    <a:lnTo>
                      <a:pt x="11" y="89"/>
                    </a:lnTo>
                    <a:close/>
                  </a:path>
                </a:pathLst>
              </a:custGeom>
              <a:solidFill>
                <a:srgbClr val="000000"/>
              </a:solidFill>
              <a:ln w="9525">
                <a:noFill/>
                <a:round/>
                <a:headEnd/>
                <a:tailEnd/>
              </a:ln>
            </p:spPr>
            <p:txBody>
              <a:bodyPr/>
              <a:lstStyle/>
              <a:p>
                <a:endParaRPr lang="en-US"/>
              </a:p>
            </p:txBody>
          </p:sp>
          <p:sp>
            <p:nvSpPr>
              <p:cNvPr id="28873" name="Freeform 163"/>
              <p:cNvSpPr>
                <a:spLocks/>
              </p:cNvSpPr>
              <p:nvPr/>
            </p:nvSpPr>
            <p:spPr bwMode="auto">
              <a:xfrm>
                <a:off x="2110" y="3885"/>
                <a:ext cx="16" cy="11"/>
              </a:xfrm>
              <a:custGeom>
                <a:avLst/>
                <a:gdLst>
                  <a:gd name="T0" fmla="*/ 0 w 33"/>
                  <a:gd name="T1" fmla="*/ 1 h 22"/>
                  <a:gd name="T2" fmla="*/ 0 w 33"/>
                  <a:gd name="T3" fmla="*/ 0 h 22"/>
                  <a:gd name="T4" fmla="*/ 0 w 33"/>
                  <a:gd name="T5" fmla="*/ 0 h 22"/>
                  <a:gd name="T6" fmla="*/ 0 w 33"/>
                  <a:gd name="T7" fmla="*/ 1 h 22"/>
                  <a:gd name="T8" fmla="*/ 0 w 33"/>
                  <a:gd name="T9" fmla="*/ 1 h 22"/>
                  <a:gd name="T10" fmla="*/ 0 w 33"/>
                  <a:gd name="T11" fmla="*/ 1 h 22"/>
                  <a:gd name="T12" fmla="*/ 0 w 33"/>
                  <a:gd name="T13" fmla="*/ 1 h 22"/>
                  <a:gd name="T14" fmla="*/ 0 w 33"/>
                  <a:gd name="T15" fmla="*/ 1 h 22"/>
                  <a:gd name="T16" fmla="*/ 0 w 33"/>
                  <a:gd name="T17" fmla="*/ 1 h 22"/>
                  <a:gd name="T18" fmla="*/ 0 w 33"/>
                  <a:gd name="T19" fmla="*/ 1 h 22"/>
                  <a:gd name="T20" fmla="*/ 0 w 33"/>
                  <a:gd name="T21" fmla="*/ 0 h 22"/>
                  <a:gd name="T22" fmla="*/ 0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4" y="3"/>
                    </a:moveTo>
                    <a:lnTo>
                      <a:pt x="22" y="0"/>
                    </a:lnTo>
                    <a:lnTo>
                      <a:pt x="0" y="0"/>
                    </a:lnTo>
                    <a:lnTo>
                      <a:pt x="0" y="22"/>
                    </a:lnTo>
                    <a:lnTo>
                      <a:pt x="22" y="22"/>
                    </a:lnTo>
                    <a:lnTo>
                      <a:pt x="29" y="19"/>
                    </a:lnTo>
                    <a:lnTo>
                      <a:pt x="22" y="22"/>
                    </a:lnTo>
                    <a:lnTo>
                      <a:pt x="29" y="19"/>
                    </a:lnTo>
                    <a:lnTo>
                      <a:pt x="33" y="11"/>
                    </a:lnTo>
                    <a:lnTo>
                      <a:pt x="29" y="3"/>
                    </a:lnTo>
                    <a:lnTo>
                      <a:pt x="22" y="0"/>
                    </a:lnTo>
                    <a:lnTo>
                      <a:pt x="14" y="3"/>
                    </a:lnTo>
                    <a:close/>
                  </a:path>
                </a:pathLst>
              </a:custGeom>
              <a:solidFill>
                <a:srgbClr val="000000"/>
              </a:solidFill>
              <a:ln w="9525">
                <a:noFill/>
                <a:round/>
                <a:headEnd/>
                <a:tailEnd/>
              </a:ln>
            </p:spPr>
            <p:txBody>
              <a:bodyPr/>
              <a:lstStyle/>
              <a:p>
                <a:endParaRPr lang="en-US"/>
              </a:p>
            </p:txBody>
          </p:sp>
          <p:sp>
            <p:nvSpPr>
              <p:cNvPr id="28874" name="Freeform 164"/>
              <p:cNvSpPr>
                <a:spLocks/>
              </p:cNvSpPr>
              <p:nvPr/>
            </p:nvSpPr>
            <p:spPr bwMode="auto">
              <a:xfrm>
                <a:off x="2117" y="3845"/>
                <a:ext cx="54" cy="49"/>
              </a:xfrm>
              <a:custGeom>
                <a:avLst/>
                <a:gdLst>
                  <a:gd name="T0" fmla="*/ 1 w 108"/>
                  <a:gd name="T1" fmla="*/ 0 h 99"/>
                  <a:gd name="T2" fmla="*/ 1 w 108"/>
                  <a:gd name="T3" fmla="*/ 0 h 99"/>
                  <a:gd name="T4" fmla="*/ 0 w 108"/>
                  <a:gd name="T5" fmla="*/ 0 h 99"/>
                  <a:gd name="T6" fmla="*/ 1 w 108"/>
                  <a:gd name="T7" fmla="*/ 0 h 99"/>
                  <a:gd name="T8" fmla="*/ 1 w 108"/>
                  <a:gd name="T9" fmla="*/ 0 h 99"/>
                  <a:gd name="T10" fmla="*/ 1 w 108"/>
                  <a:gd name="T11" fmla="*/ 0 h 99"/>
                  <a:gd name="T12" fmla="*/ 1 w 108"/>
                  <a:gd name="T13" fmla="*/ 0 h 99"/>
                  <a:gd name="T14" fmla="*/ 1 w 108"/>
                  <a:gd name="T15" fmla="*/ 0 h 99"/>
                  <a:gd name="T16" fmla="*/ 1 w 108"/>
                  <a:gd name="T17" fmla="*/ 0 h 99"/>
                  <a:gd name="T18" fmla="*/ 1 w 108"/>
                  <a:gd name="T19" fmla="*/ 0 h 99"/>
                  <a:gd name="T20" fmla="*/ 1 w 108"/>
                  <a:gd name="T21" fmla="*/ 0 h 99"/>
                  <a:gd name="T22" fmla="*/ 1 w 108"/>
                  <a:gd name="T23" fmla="*/ 0 h 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9"/>
                  <a:gd name="T38" fmla="*/ 108 w 108"/>
                  <a:gd name="T39" fmla="*/ 99 h 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9">
                    <a:moveTo>
                      <a:pt x="97" y="0"/>
                    </a:moveTo>
                    <a:lnTo>
                      <a:pt x="89" y="4"/>
                    </a:lnTo>
                    <a:lnTo>
                      <a:pt x="0" y="83"/>
                    </a:lnTo>
                    <a:lnTo>
                      <a:pt x="15" y="99"/>
                    </a:lnTo>
                    <a:lnTo>
                      <a:pt x="105" y="19"/>
                    </a:lnTo>
                    <a:lnTo>
                      <a:pt x="97" y="22"/>
                    </a:lnTo>
                    <a:lnTo>
                      <a:pt x="105" y="19"/>
                    </a:lnTo>
                    <a:lnTo>
                      <a:pt x="108" y="11"/>
                    </a:lnTo>
                    <a:lnTo>
                      <a:pt x="105" y="4"/>
                    </a:lnTo>
                    <a:lnTo>
                      <a:pt x="97" y="0"/>
                    </a:lnTo>
                    <a:lnTo>
                      <a:pt x="89" y="4"/>
                    </a:lnTo>
                    <a:lnTo>
                      <a:pt x="97" y="0"/>
                    </a:lnTo>
                    <a:close/>
                  </a:path>
                </a:pathLst>
              </a:custGeom>
              <a:solidFill>
                <a:srgbClr val="000000"/>
              </a:solidFill>
              <a:ln w="9525">
                <a:noFill/>
                <a:round/>
                <a:headEnd/>
                <a:tailEnd/>
              </a:ln>
            </p:spPr>
            <p:txBody>
              <a:bodyPr/>
              <a:lstStyle/>
              <a:p>
                <a:endParaRPr lang="en-US"/>
              </a:p>
            </p:txBody>
          </p:sp>
          <p:sp>
            <p:nvSpPr>
              <p:cNvPr id="28875" name="Freeform 165"/>
              <p:cNvSpPr>
                <a:spLocks/>
              </p:cNvSpPr>
              <p:nvPr/>
            </p:nvSpPr>
            <p:spPr bwMode="auto">
              <a:xfrm>
                <a:off x="2164" y="3845"/>
                <a:ext cx="9" cy="11"/>
              </a:xfrm>
              <a:custGeom>
                <a:avLst/>
                <a:gdLst>
                  <a:gd name="T0" fmla="*/ 0 w 19"/>
                  <a:gd name="T1" fmla="*/ 1 h 22"/>
                  <a:gd name="T2" fmla="*/ 0 w 19"/>
                  <a:gd name="T3" fmla="*/ 0 h 22"/>
                  <a:gd name="T4" fmla="*/ 0 w 19"/>
                  <a:gd name="T5" fmla="*/ 0 h 22"/>
                  <a:gd name="T6" fmla="*/ 0 w 19"/>
                  <a:gd name="T7" fmla="*/ 1 h 22"/>
                  <a:gd name="T8" fmla="*/ 0 w 19"/>
                  <a:gd name="T9" fmla="*/ 1 h 22"/>
                  <a:gd name="T10" fmla="*/ 0 w 19"/>
                  <a:gd name="T11" fmla="*/ 1 h 22"/>
                  <a:gd name="T12" fmla="*/ 0 w 19"/>
                  <a:gd name="T13" fmla="*/ 1 h 22"/>
                  <a:gd name="T14" fmla="*/ 0 w 19"/>
                  <a:gd name="T15" fmla="*/ 1 h 22"/>
                  <a:gd name="T16" fmla="*/ 0 w 19"/>
                  <a:gd name="T17" fmla="*/ 1 h 22"/>
                  <a:gd name="T18" fmla="*/ 0 w 19"/>
                  <a:gd name="T19" fmla="*/ 1 h 22"/>
                  <a:gd name="T20" fmla="*/ 0 w 19"/>
                  <a:gd name="T21" fmla="*/ 0 h 22"/>
                  <a:gd name="T22" fmla="*/ 0 w 19"/>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2"/>
                  <a:gd name="T38" fmla="*/ 19 w 19"/>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2">
                    <a:moveTo>
                      <a:pt x="15" y="4"/>
                    </a:moveTo>
                    <a:lnTo>
                      <a:pt x="8" y="0"/>
                    </a:lnTo>
                    <a:lnTo>
                      <a:pt x="3" y="0"/>
                    </a:lnTo>
                    <a:lnTo>
                      <a:pt x="3" y="22"/>
                    </a:lnTo>
                    <a:lnTo>
                      <a:pt x="8" y="22"/>
                    </a:lnTo>
                    <a:lnTo>
                      <a:pt x="0" y="19"/>
                    </a:lnTo>
                    <a:lnTo>
                      <a:pt x="8" y="22"/>
                    </a:lnTo>
                    <a:lnTo>
                      <a:pt x="15" y="19"/>
                    </a:lnTo>
                    <a:lnTo>
                      <a:pt x="19" y="11"/>
                    </a:lnTo>
                    <a:lnTo>
                      <a:pt x="15" y="4"/>
                    </a:lnTo>
                    <a:lnTo>
                      <a:pt x="8" y="0"/>
                    </a:lnTo>
                    <a:lnTo>
                      <a:pt x="15" y="4"/>
                    </a:lnTo>
                    <a:close/>
                  </a:path>
                </a:pathLst>
              </a:custGeom>
              <a:solidFill>
                <a:srgbClr val="000000"/>
              </a:solidFill>
              <a:ln w="9525">
                <a:noFill/>
                <a:round/>
                <a:headEnd/>
                <a:tailEnd/>
              </a:ln>
            </p:spPr>
            <p:txBody>
              <a:bodyPr/>
              <a:lstStyle/>
              <a:p>
                <a:endParaRPr lang="en-US"/>
              </a:p>
            </p:txBody>
          </p:sp>
          <p:sp>
            <p:nvSpPr>
              <p:cNvPr id="28876" name="Freeform 166"/>
              <p:cNvSpPr>
                <a:spLocks/>
              </p:cNvSpPr>
              <p:nvPr/>
            </p:nvSpPr>
            <p:spPr bwMode="auto">
              <a:xfrm>
                <a:off x="2164" y="3846"/>
                <a:ext cx="54" cy="50"/>
              </a:xfrm>
              <a:custGeom>
                <a:avLst/>
                <a:gdLst>
                  <a:gd name="T0" fmla="*/ 1 w 108"/>
                  <a:gd name="T1" fmla="*/ 1 h 98"/>
                  <a:gd name="T2" fmla="*/ 1 w 108"/>
                  <a:gd name="T3" fmla="*/ 1 h 98"/>
                  <a:gd name="T4" fmla="*/ 1 w 108"/>
                  <a:gd name="T5" fmla="*/ 0 h 98"/>
                  <a:gd name="T6" fmla="*/ 0 w 108"/>
                  <a:gd name="T7" fmla="*/ 1 h 98"/>
                  <a:gd name="T8" fmla="*/ 1 w 108"/>
                  <a:gd name="T9" fmla="*/ 1 h 98"/>
                  <a:gd name="T10" fmla="*/ 1 w 108"/>
                  <a:gd name="T11" fmla="*/ 1 h 98"/>
                  <a:gd name="T12" fmla="*/ 1 w 108"/>
                  <a:gd name="T13" fmla="*/ 1 h 98"/>
                  <a:gd name="T14" fmla="*/ 1 w 108"/>
                  <a:gd name="T15" fmla="*/ 1 h 98"/>
                  <a:gd name="T16" fmla="*/ 1 w 108"/>
                  <a:gd name="T17" fmla="*/ 1 h 98"/>
                  <a:gd name="T18" fmla="*/ 1 w 108"/>
                  <a:gd name="T19" fmla="*/ 1 h 98"/>
                  <a:gd name="T20" fmla="*/ 1 w 108"/>
                  <a:gd name="T21" fmla="*/ 1 h 98"/>
                  <a:gd name="T22" fmla="*/ 1 w 108"/>
                  <a:gd name="T23" fmla="*/ 1 h 9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8"/>
                  <a:gd name="T38" fmla="*/ 108 w 108"/>
                  <a:gd name="T39" fmla="*/ 98 h 9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8">
                    <a:moveTo>
                      <a:pt x="97" y="76"/>
                    </a:moveTo>
                    <a:lnTo>
                      <a:pt x="105" y="79"/>
                    </a:lnTo>
                    <a:lnTo>
                      <a:pt x="15" y="0"/>
                    </a:lnTo>
                    <a:lnTo>
                      <a:pt x="0" y="15"/>
                    </a:lnTo>
                    <a:lnTo>
                      <a:pt x="89" y="95"/>
                    </a:lnTo>
                    <a:lnTo>
                      <a:pt x="97" y="98"/>
                    </a:lnTo>
                    <a:lnTo>
                      <a:pt x="89" y="95"/>
                    </a:lnTo>
                    <a:lnTo>
                      <a:pt x="97" y="98"/>
                    </a:lnTo>
                    <a:lnTo>
                      <a:pt x="105" y="93"/>
                    </a:lnTo>
                    <a:lnTo>
                      <a:pt x="108" y="87"/>
                    </a:lnTo>
                    <a:lnTo>
                      <a:pt x="105" y="79"/>
                    </a:lnTo>
                    <a:lnTo>
                      <a:pt x="97" y="76"/>
                    </a:lnTo>
                    <a:close/>
                  </a:path>
                </a:pathLst>
              </a:custGeom>
              <a:solidFill>
                <a:srgbClr val="000000"/>
              </a:solidFill>
              <a:ln w="9525">
                <a:noFill/>
                <a:round/>
                <a:headEnd/>
                <a:tailEnd/>
              </a:ln>
            </p:spPr>
            <p:txBody>
              <a:bodyPr/>
              <a:lstStyle/>
              <a:p>
                <a:endParaRPr lang="en-US"/>
              </a:p>
            </p:txBody>
          </p:sp>
          <p:sp>
            <p:nvSpPr>
              <p:cNvPr id="28877" name="Freeform 167"/>
              <p:cNvSpPr>
                <a:spLocks/>
              </p:cNvSpPr>
              <p:nvPr/>
            </p:nvSpPr>
            <p:spPr bwMode="auto">
              <a:xfrm>
                <a:off x="2212" y="3885"/>
                <a:ext cx="17" cy="11"/>
              </a:xfrm>
              <a:custGeom>
                <a:avLst/>
                <a:gdLst>
                  <a:gd name="T0" fmla="*/ 1 w 33"/>
                  <a:gd name="T1" fmla="*/ 1 h 22"/>
                  <a:gd name="T2" fmla="*/ 1 w 33"/>
                  <a:gd name="T3" fmla="*/ 0 h 22"/>
                  <a:gd name="T4" fmla="*/ 0 w 33"/>
                  <a:gd name="T5" fmla="*/ 0 h 22"/>
                  <a:gd name="T6" fmla="*/ 0 w 33"/>
                  <a:gd name="T7" fmla="*/ 1 h 22"/>
                  <a:gd name="T8" fmla="*/ 1 w 33"/>
                  <a:gd name="T9" fmla="*/ 1 h 22"/>
                  <a:gd name="T10" fmla="*/ 1 w 33"/>
                  <a:gd name="T11" fmla="*/ 1 h 22"/>
                  <a:gd name="T12" fmla="*/ 1 w 33"/>
                  <a:gd name="T13" fmla="*/ 1 h 22"/>
                  <a:gd name="T14" fmla="*/ 1 w 33"/>
                  <a:gd name="T15" fmla="*/ 1 h 22"/>
                  <a:gd name="T16" fmla="*/ 1 w 33"/>
                  <a:gd name="T17" fmla="*/ 1 h 22"/>
                  <a:gd name="T18" fmla="*/ 1 w 33"/>
                  <a:gd name="T19" fmla="*/ 1 h 22"/>
                  <a:gd name="T20" fmla="*/ 1 w 33"/>
                  <a:gd name="T21" fmla="*/ 0 h 22"/>
                  <a:gd name="T22" fmla="*/ 1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2" y="17"/>
                    </a:moveTo>
                    <a:lnTo>
                      <a:pt x="22" y="0"/>
                    </a:lnTo>
                    <a:lnTo>
                      <a:pt x="0" y="0"/>
                    </a:lnTo>
                    <a:lnTo>
                      <a:pt x="0" y="22"/>
                    </a:lnTo>
                    <a:lnTo>
                      <a:pt x="22" y="22"/>
                    </a:lnTo>
                    <a:lnTo>
                      <a:pt x="31" y="5"/>
                    </a:lnTo>
                    <a:lnTo>
                      <a:pt x="22" y="22"/>
                    </a:lnTo>
                    <a:lnTo>
                      <a:pt x="30" y="19"/>
                    </a:lnTo>
                    <a:lnTo>
                      <a:pt x="33" y="11"/>
                    </a:lnTo>
                    <a:lnTo>
                      <a:pt x="30" y="3"/>
                    </a:lnTo>
                    <a:lnTo>
                      <a:pt x="22" y="0"/>
                    </a:lnTo>
                    <a:lnTo>
                      <a:pt x="12" y="17"/>
                    </a:lnTo>
                    <a:close/>
                  </a:path>
                </a:pathLst>
              </a:custGeom>
              <a:solidFill>
                <a:srgbClr val="000000"/>
              </a:solidFill>
              <a:ln w="9525">
                <a:noFill/>
                <a:round/>
                <a:headEnd/>
                <a:tailEnd/>
              </a:ln>
            </p:spPr>
            <p:txBody>
              <a:bodyPr/>
              <a:lstStyle/>
              <a:p>
                <a:endParaRPr lang="en-US"/>
              </a:p>
            </p:txBody>
          </p:sp>
          <p:sp>
            <p:nvSpPr>
              <p:cNvPr id="28878" name="Freeform 168"/>
              <p:cNvSpPr>
                <a:spLocks/>
              </p:cNvSpPr>
              <p:nvPr/>
            </p:nvSpPr>
            <p:spPr bwMode="auto">
              <a:xfrm>
                <a:off x="2184" y="3838"/>
                <a:ext cx="44" cy="55"/>
              </a:xfrm>
              <a:custGeom>
                <a:avLst/>
                <a:gdLst>
                  <a:gd name="T0" fmla="*/ 1 w 88"/>
                  <a:gd name="T1" fmla="*/ 0 h 111"/>
                  <a:gd name="T2" fmla="*/ 1 w 88"/>
                  <a:gd name="T3" fmla="*/ 0 h 111"/>
                  <a:gd name="T4" fmla="*/ 1 w 88"/>
                  <a:gd name="T5" fmla="*/ 0 h 111"/>
                  <a:gd name="T6" fmla="*/ 1 w 88"/>
                  <a:gd name="T7" fmla="*/ 0 h 111"/>
                  <a:gd name="T8" fmla="*/ 1 w 88"/>
                  <a:gd name="T9" fmla="*/ 0 h 111"/>
                  <a:gd name="T10" fmla="*/ 1 w 88"/>
                  <a:gd name="T11" fmla="*/ 0 h 111"/>
                  <a:gd name="T12" fmla="*/ 1 w 88"/>
                  <a:gd name="T13" fmla="*/ 0 h 111"/>
                  <a:gd name="T14" fmla="*/ 1 w 88"/>
                  <a:gd name="T15" fmla="*/ 0 h 111"/>
                  <a:gd name="T16" fmla="*/ 1 w 88"/>
                  <a:gd name="T17" fmla="*/ 0 h 111"/>
                  <a:gd name="T18" fmla="*/ 0 w 88"/>
                  <a:gd name="T19" fmla="*/ 0 h 111"/>
                  <a:gd name="T20" fmla="*/ 1 w 88"/>
                  <a:gd name="T21" fmla="*/ 0 h 111"/>
                  <a:gd name="T22" fmla="*/ 1 w 88"/>
                  <a:gd name="T23" fmla="*/ 0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8"/>
                  <a:gd name="T37" fmla="*/ 0 h 111"/>
                  <a:gd name="T38" fmla="*/ 88 w 88"/>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8" h="111">
                    <a:moveTo>
                      <a:pt x="8" y="0"/>
                    </a:moveTo>
                    <a:lnTo>
                      <a:pt x="2" y="18"/>
                    </a:lnTo>
                    <a:lnTo>
                      <a:pt x="69" y="111"/>
                    </a:lnTo>
                    <a:lnTo>
                      <a:pt x="88" y="99"/>
                    </a:lnTo>
                    <a:lnTo>
                      <a:pt x="21" y="5"/>
                    </a:lnTo>
                    <a:lnTo>
                      <a:pt x="15" y="22"/>
                    </a:lnTo>
                    <a:lnTo>
                      <a:pt x="21" y="5"/>
                    </a:lnTo>
                    <a:lnTo>
                      <a:pt x="13" y="0"/>
                    </a:lnTo>
                    <a:lnTo>
                      <a:pt x="5" y="2"/>
                    </a:lnTo>
                    <a:lnTo>
                      <a:pt x="0" y="8"/>
                    </a:lnTo>
                    <a:lnTo>
                      <a:pt x="2" y="18"/>
                    </a:lnTo>
                    <a:lnTo>
                      <a:pt x="8" y="0"/>
                    </a:lnTo>
                    <a:close/>
                  </a:path>
                </a:pathLst>
              </a:custGeom>
              <a:solidFill>
                <a:srgbClr val="000000"/>
              </a:solidFill>
              <a:ln w="9525">
                <a:noFill/>
                <a:round/>
                <a:headEnd/>
                <a:tailEnd/>
              </a:ln>
            </p:spPr>
            <p:txBody>
              <a:bodyPr/>
              <a:lstStyle/>
              <a:p>
                <a:endParaRPr lang="en-US"/>
              </a:p>
            </p:txBody>
          </p:sp>
          <p:sp>
            <p:nvSpPr>
              <p:cNvPr id="28879" name="Freeform 169"/>
              <p:cNvSpPr>
                <a:spLocks/>
              </p:cNvSpPr>
              <p:nvPr/>
            </p:nvSpPr>
            <p:spPr bwMode="auto">
              <a:xfrm>
                <a:off x="2188" y="3817"/>
                <a:ext cx="66" cy="32"/>
              </a:xfrm>
              <a:custGeom>
                <a:avLst/>
                <a:gdLst>
                  <a:gd name="T0" fmla="*/ 1 w 132"/>
                  <a:gd name="T1" fmla="*/ 1 h 62"/>
                  <a:gd name="T2" fmla="*/ 1 w 132"/>
                  <a:gd name="T3" fmla="*/ 0 h 62"/>
                  <a:gd name="T4" fmla="*/ 0 w 132"/>
                  <a:gd name="T5" fmla="*/ 1 h 62"/>
                  <a:gd name="T6" fmla="*/ 1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0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10" y="11"/>
                    </a:moveTo>
                    <a:lnTo>
                      <a:pt x="118" y="0"/>
                    </a:lnTo>
                    <a:lnTo>
                      <a:pt x="0" y="40"/>
                    </a:lnTo>
                    <a:lnTo>
                      <a:pt x="7" y="62"/>
                    </a:lnTo>
                    <a:lnTo>
                      <a:pt x="124" y="22"/>
                    </a:lnTo>
                    <a:lnTo>
                      <a:pt x="132" y="11"/>
                    </a:lnTo>
                    <a:lnTo>
                      <a:pt x="124" y="22"/>
                    </a:lnTo>
                    <a:lnTo>
                      <a:pt x="130" y="17"/>
                    </a:lnTo>
                    <a:lnTo>
                      <a:pt x="132" y="8"/>
                    </a:lnTo>
                    <a:lnTo>
                      <a:pt x="127" y="1"/>
                    </a:lnTo>
                    <a:lnTo>
                      <a:pt x="118" y="0"/>
                    </a:lnTo>
                    <a:lnTo>
                      <a:pt x="110" y="11"/>
                    </a:lnTo>
                    <a:close/>
                  </a:path>
                </a:pathLst>
              </a:custGeom>
              <a:solidFill>
                <a:srgbClr val="000000"/>
              </a:solidFill>
              <a:ln w="9525">
                <a:noFill/>
                <a:round/>
                <a:headEnd/>
                <a:tailEnd/>
              </a:ln>
            </p:spPr>
            <p:txBody>
              <a:bodyPr/>
              <a:lstStyle/>
              <a:p>
                <a:endParaRPr lang="en-US"/>
              </a:p>
            </p:txBody>
          </p:sp>
          <p:sp>
            <p:nvSpPr>
              <p:cNvPr id="28880" name="Freeform 170"/>
              <p:cNvSpPr>
                <a:spLocks/>
              </p:cNvSpPr>
              <p:nvPr/>
            </p:nvSpPr>
            <p:spPr bwMode="auto">
              <a:xfrm>
                <a:off x="2243" y="3807"/>
                <a:ext cx="11" cy="16"/>
              </a:xfrm>
              <a:custGeom>
                <a:avLst/>
                <a:gdLst>
                  <a:gd name="T0" fmla="*/ 1 w 22"/>
                  <a:gd name="T1" fmla="*/ 1 h 32"/>
                  <a:gd name="T2" fmla="*/ 0 w 22"/>
                  <a:gd name="T3" fmla="*/ 1 h 32"/>
                  <a:gd name="T4" fmla="*/ 0 w 22"/>
                  <a:gd name="T5" fmla="*/ 1 h 32"/>
                  <a:gd name="T6" fmla="*/ 1 w 22"/>
                  <a:gd name="T7" fmla="*/ 1 h 32"/>
                  <a:gd name="T8" fmla="*/ 1 w 22"/>
                  <a:gd name="T9" fmla="*/ 1 h 32"/>
                  <a:gd name="T10" fmla="*/ 1 w 22"/>
                  <a:gd name="T11" fmla="*/ 0 h 32"/>
                  <a:gd name="T12" fmla="*/ 1 w 22"/>
                  <a:gd name="T13" fmla="*/ 1 h 32"/>
                  <a:gd name="T14" fmla="*/ 1 w 22"/>
                  <a:gd name="T15" fmla="*/ 1 h 32"/>
                  <a:gd name="T16" fmla="*/ 1 w 22"/>
                  <a:gd name="T17" fmla="*/ 0 h 32"/>
                  <a:gd name="T18" fmla="*/ 1 w 22"/>
                  <a:gd name="T19" fmla="*/ 1 h 32"/>
                  <a:gd name="T20" fmla="*/ 0 w 22"/>
                  <a:gd name="T21" fmla="*/ 1 h 32"/>
                  <a:gd name="T22" fmla="*/ 1 w 22"/>
                  <a:gd name="T23" fmla="*/ 1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2" y="22"/>
                    </a:moveTo>
                    <a:lnTo>
                      <a:pt x="0" y="11"/>
                    </a:lnTo>
                    <a:lnTo>
                      <a:pt x="0" y="32"/>
                    </a:lnTo>
                    <a:lnTo>
                      <a:pt x="22" y="32"/>
                    </a:lnTo>
                    <a:lnTo>
                      <a:pt x="22" y="11"/>
                    </a:lnTo>
                    <a:lnTo>
                      <a:pt x="9" y="0"/>
                    </a:lnTo>
                    <a:lnTo>
                      <a:pt x="22" y="11"/>
                    </a:lnTo>
                    <a:lnTo>
                      <a:pt x="19" y="4"/>
                    </a:lnTo>
                    <a:lnTo>
                      <a:pt x="11" y="0"/>
                    </a:lnTo>
                    <a:lnTo>
                      <a:pt x="3" y="4"/>
                    </a:lnTo>
                    <a:lnTo>
                      <a:pt x="0" y="11"/>
                    </a:lnTo>
                    <a:lnTo>
                      <a:pt x="12" y="22"/>
                    </a:lnTo>
                    <a:close/>
                  </a:path>
                </a:pathLst>
              </a:custGeom>
              <a:solidFill>
                <a:srgbClr val="000000"/>
              </a:solidFill>
              <a:ln w="9525">
                <a:noFill/>
                <a:round/>
                <a:headEnd/>
                <a:tailEnd/>
              </a:ln>
            </p:spPr>
            <p:txBody>
              <a:bodyPr/>
              <a:lstStyle/>
              <a:p>
                <a:endParaRPr lang="en-US"/>
              </a:p>
            </p:txBody>
          </p:sp>
          <p:sp>
            <p:nvSpPr>
              <p:cNvPr id="28881" name="Freeform 171"/>
              <p:cNvSpPr>
                <a:spLocks/>
              </p:cNvSpPr>
              <p:nvPr/>
            </p:nvSpPr>
            <p:spPr bwMode="auto">
              <a:xfrm>
                <a:off x="2170" y="3807"/>
                <a:ext cx="79" cy="27"/>
              </a:xfrm>
              <a:custGeom>
                <a:avLst/>
                <a:gdLst>
                  <a:gd name="T0" fmla="*/ 1 w 158"/>
                  <a:gd name="T1" fmla="*/ 1 h 54"/>
                  <a:gd name="T2" fmla="*/ 1 w 158"/>
                  <a:gd name="T3" fmla="*/ 1 h 54"/>
                  <a:gd name="T4" fmla="*/ 1 w 158"/>
                  <a:gd name="T5" fmla="*/ 1 h 54"/>
                  <a:gd name="T6" fmla="*/ 1 w 158"/>
                  <a:gd name="T7" fmla="*/ 0 h 54"/>
                  <a:gd name="T8" fmla="*/ 1 w 158"/>
                  <a:gd name="T9" fmla="*/ 1 h 54"/>
                  <a:gd name="T10" fmla="*/ 1 w 158"/>
                  <a:gd name="T11" fmla="*/ 1 h 54"/>
                  <a:gd name="T12" fmla="*/ 1 w 158"/>
                  <a:gd name="T13" fmla="*/ 1 h 54"/>
                  <a:gd name="T14" fmla="*/ 1 w 158"/>
                  <a:gd name="T15" fmla="*/ 1 h 54"/>
                  <a:gd name="T16" fmla="*/ 0 w 158"/>
                  <a:gd name="T17" fmla="*/ 1 h 54"/>
                  <a:gd name="T18" fmla="*/ 1 w 158"/>
                  <a:gd name="T19" fmla="*/ 1 h 54"/>
                  <a:gd name="T20" fmla="*/ 1 w 158"/>
                  <a:gd name="T21" fmla="*/ 1 h 54"/>
                  <a:gd name="T22" fmla="*/ 1 w 158"/>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54"/>
                  <a:gd name="T38" fmla="*/ 158 w 158"/>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54">
                    <a:moveTo>
                      <a:pt x="11" y="54"/>
                    </a:moveTo>
                    <a:lnTo>
                      <a:pt x="13" y="54"/>
                    </a:lnTo>
                    <a:lnTo>
                      <a:pt x="158" y="22"/>
                    </a:lnTo>
                    <a:lnTo>
                      <a:pt x="155" y="0"/>
                    </a:lnTo>
                    <a:lnTo>
                      <a:pt x="10" y="32"/>
                    </a:lnTo>
                    <a:lnTo>
                      <a:pt x="11" y="32"/>
                    </a:lnTo>
                    <a:lnTo>
                      <a:pt x="10" y="32"/>
                    </a:lnTo>
                    <a:lnTo>
                      <a:pt x="2" y="36"/>
                    </a:lnTo>
                    <a:lnTo>
                      <a:pt x="0" y="44"/>
                    </a:lnTo>
                    <a:lnTo>
                      <a:pt x="5" y="50"/>
                    </a:lnTo>
                    <a:lnTo>
                      <a:pt x="13" y="54"/>
                    </a:lnTo>
                    <a:lnTo>
                      <a:pt x="11" y="54"/>
                    </a:lnTo>
                    <a:close/>
                  </a:path>
                </a:pathLst>
              </a:custGeom>
              <a:solidFill>
                <a:srgbClr val="000000"/>
              </a:solidFill>
              <a:ln w="9525">
                <a:noFill/>
                <a:round/>
                <a:headEnd/>
                <a:tailEnd/>
              </a:ln>
            </p:spPr>
            <p:txBody>
              <a:bodyPr/>
              <a:lstStyle/>
              <a:p>
                <a:endParaRPr lang="en-US"/>
              </a:p>
            </p:txBody>
          </p:sp>
          <p:sp>
            <p:nvSpPr>
              <p:cNvPr id="28882" name="Freeform 172"/>
              <p:cNvSpPr>
                <a:spLocks/>
              </p:cNvSpPr>
              <p:nvPr/>
            </p:nvSpPr>
            <p:spPr bwMode="auto">
              <a:xfrm>
                <a:off x="2152" y="3823"/>
                <a:ext cx="24" cy="11"/>
              </a:xfrm>
              <a:custGeom>
                <a:avLst/>
                <a:gdLst>
                  <a:gd name="T0" fmla="*/ 1 w 47"/>
                  <a:gd name="T1" fmla="*/ 1 h 22"/>
                  <a:gd name="T2" fmla="*/ 1 w 47"/>
                  <a:gd name="T3" fmla="*/ 1 h 22"/>
                  <a:gd name="T4" fmla="*/ 1 w 47"/>
                  <a:gd name="T5" fmla="*/ 1 h 22"/>
                  <a:gd name="T6" fmla="*/ 1 w 47"/>
                  <a:gd name="T7" fmla="*/ 0 h 22"/>
                  <a:gd name="T8" fmla="*/ 1 w 47"/>
                  <a:gd name="T9" fmla="*/ 0 h 22"/>
                  <a:gd name="T10" fmla="*/ 1 w 47"/>
                  <a:gd name="T11" fmla="*/ 0 h 22"/>
                  <a:gd name="T12" fmla="*/ 1 w 47"/>
                  <a:gd name="T13" fmla="*/ 0 h 22"/>
                  <a:gd name="T14" fmla="*/ 1 w 47"/>
                  <a:gd name="T15" fmla="*/ 1 h 22"/>
                  <a:gd name="T16" fmla="*/ 0 w 47"/>
                  <a:gd name="T17" fmla="*/ 1 h 22"/>
                  <a:gd name="T18" fmla="*/ 1 w 47"/>
                  <a:gd name="T19" fmla="*/ 1 h 22"/>
                  <a:gd name="T20" fmla="*/ 1 w 47"/>
                  <a:gd name="T21" fmla="*/ 1 h 22"/>
                  <a:gd name="T22" fmla="*/ 1 w 47"/>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
                  <a:gd name="T37" fmla="*/ 0 h 22"/>
                  <a:gd name="T38" fmla="*/ 47 w 47"/>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 h="22">
                    <a:moveTo>
                      <a:pt x="10" y="22"/>
                    </a:moveTo>
                    <a:lnTo>
                      <a:pt x="11" y="22"/>
                    </a:lnTo>
                    <a:lnTo>
                      <a:pt x="47" y="22"/>
                    </a:lnTo>
                    <a:lnTo>
                      <a:pt x="47" y="0"/>
                    </a:lnTo>
                    <a:lnTo>
                      <a:pt x="11" y="0"/>
                    </a:lnTo>
                    <a:lnTo>
                      <a:pt x="13" y="0"/>
                    </a:lnTo>
                    <a:lnTo>
                      <a:pt x="11" y="0"/>
                    </a:lnTo>
                    <a:lnTo>
                      <a:pt x="3" y="3"/>
                    </a:lnTo>
                    <a:lnTo>
                      <a:pt x="0" y="11"/>
                    </a:lnTo>
                    <a:lnTo>
                      <a:pt x="3" y="18"/>
                    </a:lnTo>
                    <a:lnTo>
                      <a:pt x="11" y="22"/>
                    </a:lnTo>
                    <a:lnTo>
                      <a:pt x="10" y="22"/>
                    </a:lnTo>
                    <a:close/>
                  </a:path>
                </a:pathLst>
              </a:custGeom>
              <a:solidFill>
                <a:srgbClr val="000000"/>
              </a:solidFill>
              <a:ln w="9525">
                <a:noFill/>
                <a:round/>
                <a:headEnd/>
                <a:tailEnd/>
              </a:ln>
            </p:spPr>
            <p:txBody>
              <a:bodyPr/>
              <a:lstStyle/>
              <a:p>
                <a:endParaRPr lang="en-US"/>
              </a:p>
            </p:txBody>
          </p:sp>
          <p:sp>
            <p:nvSpPr>
              <p:cNvPr id="28883" name="Line 173"/>
              <p:cNvSpPr>
                <a:spLocks noChangeShapeType="1"/>
              </p:cNvSpPr>
              <p:nvPr/>
            </p:nvSpPr>
            <p:spPr bwMode="auto">
              <a:xfrm flipV="1">
                <a:off x="1933" y="3548"/>
                <a:ext cx="130" cy="76"/>
              </a:xfrm>
              <a:prstGeom prst="line">
                <a:avLst/>
              </a:prstGeom>
              <a:noFill/>
              <a:ln w="0">
                <a:solidFill>
                  <a:srgbClr val="000000"/>
                </a:solidFill>
                <a:round/>
                <a:headEnd/>
                <a:tailEnd/>
              </a:ln>
            </p:spPr>
            <p:txBody>
              <a:bodyPr/>
              <a:lstStyle/>
              <a:p>
                <a:endParaRPr lang="en-US"/>
              </a:p>
            </p:txBody>
          </p:sp>
          <p:sp>
            <p:nvSpPr>
              <p:cNvPr id="28884" name="Line 174"/>
              <p:cNvSpPr>
                <a:spLocks noChangeShapeType="1"/>
              </p:cNvSpPr>
              <p:nvPr/>
            </p:nvSpPr>
            <p:spPr bwMode="auto">
              <a:xfrm flipV="1">
                <a:off x="1942" y="3553"/>
                <a:ext cx="129" cy="75"/>
              </a:xfrm>
              <a:prstGeom prst="line">
                <a:avLst/>
              </a:prstGeom>
              <a:noFill/>
              <a:ln w="0">
                <a:solidFill>
                  <a:srgbClr val="000000"/>
                </a:solidFill>
                <a:round/>
                <a:headEnd/>
                <a:tailEnd/>
              </a:ln>
            </p:spPr>
            <p:txBody>
              <a:bodyPr/>
              <a:lstStyle/>
              <a:p>
                <a:endParaRPr lang="en-US"/>
              </a:p>
            </p:txBody>
          </p:sp>
          <p:sp>
            <p:nvSpPr>
              <p:cNvPr id="28885" name="Line 175"/>
              <p:cNvSpPr>
                <a:spLocks noChangeShapeType="1"/>
              </p:cNvSpPr>
              <p:nvPr/>
            </p:nvSpPr>
            <p:spPr bwMode="auto">
              <a:xfrm flipV="1">
                <a:off x="1949" y="3560"/>
                <a:ext cx="130" cy="75"/>
              </a:xfrm>
              <a:prstGeom prst="line">
                <a:avLst/>
              </a:prstGeom>
              <a:noFill/>
              <a:ln w="0">
                <a:solidFill>
                  <a:srgbClr val="000000"/>
                </a:solidFill>
                <a:round/>
                <a:headEnd/>
                <a:tailEnd/>
              </a:ln>
            </p:spPr>
            <p:txBody>
              <a:bodyPr/>
              <a:lstStyle/>
              <a:p>
                <a:endParaRPr lang="en-US"/>
              </a:p>
            </p:txBody>
          </p:sp>
          <p:sp>
            <p:nvSpPr>
              <p:cNvPr id="28886" name="Line 176"/>
              <p:cNvSpPr>
                <a:spLocks noChangeShapeType="1"/>
              </p:cNvSpPr>
              <p:nvPr/>
            </p:nvSpPr>
            <p:spPr bwMode="auto">
              <a:xfrm flipV="1">
                <a:off x="2019" y="3512"/>
                <a:ext cx="18" cy="11"/>
              </a:xfrm>
              <a:prstGeom prst="line">
                <a:avLst/>
              </a:prstGeom>
              <a:noFill/>
              <a:ln w="0">
                <a:solidFill>
                  <a:srgbClr val="000000"/>
                </a:solidFill>
                <a:round/>
                <a:headEnd/>
                <a:tailEnd/>
              </a:ln>
            </p:spPr>
            <p:txBody>
              <a:bodyPr/>
              <a:lstStyle/>
              <a:p>
                <a:endParaRPr lang="en-US"/>
              </a:p>
            </p:txBody>
          </p:sp>
          <p:sp>
            <p:nvSpPr>
              <p:cNvPr id="28887" name="Freeform 177"/>
              <p:cNvSpPr>
                <a:spLocks/>
              </p:cNvSpPr>
              <p:nvPr/>
            </p:nvSpPr>
            <p:spPr bwMode="auto">
              <a:xfrm>
                <a:off x="1894" y="3369"/>
                <a:ext cx="130" cy="194"/>
              </a:xfrm>
              <a:custGeom>
                <a:avLst/>
                <a:gdLst>
                  <a:gd name="T0" fmla="*/ 1 w 259"/>
                  <a:gd name="T1" fmla="*/ 0 h 388"/>
                  <a:gd name="T2" fmla="*/ 1 w 259"/>
                  <a:gd name="T3" fmla="*/ 1 h 388"/>
                  <a:gd name="T4" fmla="*/ 0 w 259"/>
                  <a:gd name="T5" fmla="*/ 1 h 388"/>
                  <a:gd name="T6" fmla="*/ 0 w 259"/>
                  <a:gd name="T7" fmla="*/ 1 h 388"/>
                  <a:gd name="T8" fmla="*/ 1 w 259"/>
                  <a:gd name="T9" fmla="*/ 0 h 388"/>
                  <a:gd name="T10" fmla="*/ 0 60000 65536"/>
                  <a:gd name="T11" fmla="*/ 0 60000 65536"/>
                  <a:gd name="T12" fmla="*/ 0 60000 65536"/>
                  <a:gd name="T13" fmla="*/ 0 60000 65536"/>
                  <a:gd name="T14" fmla="*/ 0 60000 65536"/>
                  <a:gd name="T15" fmla="*/ 0 w 259"/>
                  <a:gd name="T16" fmla="*/ 0 h 388"/>
                  <a:gd name="T17" fmla="*/ 259 w 259"/>
                  <a:gd name="T18" fmla="*/ 388 h 388"/>
                </a:gdLst>
                <a:ahLst/>
                <a:cxnLst>
                  <a:cxn ang="T10">
                    <a:pos x="T0" y="T1"/>
                  </a:cxn>
                  <a:cxn ang="T11">
                    <a:pos x="T2" y="T3"/>
                  </a:cxn>
                  <a:cxn ang="T12">
                    <a:pos x="T4" y="T5"/>
                  </a:cxn>
                  <a:cxn ang="T13">
                    <a:pos x="T6" y="T7"/>
                  </a:cxn>
                  <a:cxn ang="T14">
                    <a:pos x="T8" y="T9"/>
                  </a:cxn>
                </a:cxnLst>
                <a:rect l="T15" t="T16" r="T17" b="T18"/>
                <a:pathLst>
                  <a:path w="259" h="388">
                    <a:moveTo>
                      <a:pt x="259" y="0"/>
                    </a:moveTo>
                    <a:lnTo>
                      <a:pt x="259" y="236"/>
                    </a:lnTo>
                    <a:lnTo>
                      <a:pt x="0" y="388"/>
                    </a:lnTo>
                    <a:lnTo>
                      <a:pt x="0" y="150"/>
                    </a:lnTo>
                    <a:lnTo>
                      <a:pt x="259" y="0"/>
                    </a:lnTo>
                    <a:close/>
                  </a:path>
                </a:pathLst>
              </a:custGeom>
              <a:solidFill>
                <a:srgbClr val="007FFF"/>
              </a:solidFill>
              <a:ln w="9525">
                <a:noFill/>
                <a:round/>
                <a:headEnd/>
                <a:tailEnd/>
              </a:ln>
            </p:spPr>
            <p:txBody>
              <a:bodyPr/>
              <a:lstStyle/>
              <a:p>
                <a:endParaRPr lang="en-US"/>
              </a:p>
            </p:txBody>
          </p:sp>
          <p:sp>
            <p:nvSpPr>
              <p:cNvPr id="28888" name="Freeform 178"/>
              <p:cNvSpPr>
                <a:spLocks/>
              </p:cNvSpPr>
              <p:nvPr/>
            </p:nvSpPr>
            <p:spPr bwMode="auto">
              <a:xfrm>
                <a:off x="2018" y="3369"/>
                <a:ext cx="11" cy="124"/>
              </a:xfrm>
              <a:custGeom>
                <a:avLst/>
                <a:gdLst>
                  <a:gd name="T0" fmla="*/ 1 w 21"/>
                  <a:gd name="T1" fmla="*/ 1 h 247"/>
                  <a:gd name="T2" fmla="*/ 1 w 21"/>
                  <a:gd name="T3" fmla="*/ 1 h 247"/>
                  <a:gd name="T4" fmla="*/ 1 w 21"/>
                  <a:gd name="T5" fmla="*/ 0 h 247"/>
                  <a:gd name="T6" fmla="*/ 0 w 21"/>
                  <a:gd name="T7" fmla="*/ 0 h 247"/>
                  <a:gd name="T8" fmla="*/ 0 w 21"/>
                  <a:gd name="T9" fmla="*/ 1 h 247"/>
                  <a:gd name="T10" fmla="*/ 1 w 21"/>
                  <a:gd name="T11" fmla="*/ 1 h 247"/>
                  <a:gd name="T12" fmla="*/ 0 w 21"/>
                  <a:gd name="T13" fmla="*/ 1 h 247"/>
                  <a:gd name="T14" fmla="*/ 1 w 21"/>
                  <a:gd name="T15" fmla="*/ 1 h 247"/>
                  <a:gd name="T16" fmla="*/ 1 w 21"/>
                  <a:gd name="T17" fmla="*/ 1 h 247"/>
                  <a:gd name="T18" fmla="*/ 1 w 21"/>
                  <a:gd name="T19" fmla="*/ 1 h 247"/>
                  <a:gd name="T20" fmla="*/ 1 w 21"/>
                  <a:gd name="T21" fmla="*/ 1 h 247"/>
                  <a:gd name="T22" fmla="*/ 1 w 21"/>
                  <a:gd name="T23" fmla="*/ 1 h 2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47"/>
                  <a:gd name="T38" fmla="*/ 21 w 21"/>
                  <a:gd name="T39" fmla="*/ 247 h 2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47">
                    <a:moveTo>
                      <a:pt x="17" y="246"/>
                    </a:moveTo>
                    <a:lnTo>
                      <a:pt x="21" y="236"/>
                    </a:lnTo>
                    <a:lnTo>
                      <a:pt x="21" y="0"/>
                    </a:lnTo>
                    <a:lnTo>
                      <a:pt x="0" y="0"/>
                    </a:lnTo>
                    <a:lnTo>
                      <a:pt x="0" y="236"/>
                    </a:lnTo>
                    <a:lnTo>
                      <a:pt x="4" y="227"/>
                    </a:lnTo>
                    <a:lnTo>
                      <a:pt x="0" y="236"/>
                    </a:lnTo>
                    <a:lnTo>
                      <a:pt x="3" y="244"/>
                    </a:lnTo>
                    <a:lnTo>
                      <a:pt x="10" y="247"/>
                    </a:lnTo>
                    <a:lnTo>
                      <a:pt x="18" y="244"/>
                    </a:lnTo>
                    <a:lnTo>
                      <a:pt x="21" y="236"/>
                    </a:lnTo>
                    <a:lnTo>
                      <a:pt x="17" y="246"/>
                    </a:lnTo>
                    <a:close/>
                  </a:path>
                </a:pathLst>
              </a:custGeom>
              <a:solidFill>
                <a:srgbClr val="000000"/>
              </a:solidFill>
              <a:ln w="9525">
                <a:noFill/>
                <a:round/>
                <a:headEnd/>
                <a:tailEnd/>
              </a:ln>
            </p:spPr>
            <p:txBody>
              <a:bodyPr/>
              <a:lstStyle/>
              <a:p>
                <a:endParaRPr lang="en-US"/>
              </a:p>
            </p:txBody>
          </p:sp>
          <p:sp>
            <p:nvSpPr>
              <p:cNvPr id="28889" name="Freeform 179"/>
              <p:cNvSpPr>
                <a:spLocks/>
              </p:cNvSpPr>
              <p:nvPr/>
            </p:nvSpPr>
            <p:spPr bwMode="auto">
              <a:xfrm>
                <a:off x="1888" y="3483"/>
                <a:ext cx="139" cy="86"/>
              </a:xfrm>
              <a:custGeom>
                <a:avLst/>
                <a:gdLst>
                  <a:gd name="T0" fmla="*/ 0 w 277"/>
                  <a:gd name="T1" fmla="*/ 1 h 172"/>
                  <a:gd name="T2" fmla="*/ 1 w 277"/>
                  <a:gd name="T3" fmla="*/ 1 h 172"/>
                  <a:gd name="T4" fmla="*/ 1 w 277"/>
                  <a:gd name="T5" fmla="*/ 1 h 172"/>
                  <a:gd name="T6" fmla="*/ 1 w 277"/>
                  <a:gd name="T7" fmla="*/ 0 h 172"/>
                  <a:gd name="T8" fmla="*/ 1 w 277"/>
                  <a:gd name="T9" fmla="*/ 1 h 172"/>
                  <a:gd name="T10" fmla="*/ 1 w 277"/>
                  <a:gd name="T11" fmla="*/ 1 h 172"/>
                  <a:gd name="T12" fmla="*/ 1 w 277"/>
                  <a:gd name="T13" fmla="*/ 1 h 172"/>
                  <a:gd name="T14" fmla="*/ 0 w 277"/>
                  <a:gd name="T15" fmla="*/ 1 h 172"/>
                  <a:gd name="T16" fmla="*/ 1 w 277"/>
                  <a:gd name="T17" fmla="*/ 1 h 172"/>
                  <a:gd name="T18" fmla="*/ 1 w 277"/>
                  <a:gd name="T19" fmla="*/ 1 h 172"/>
                  <a:gd name="T20" fmla="*/ 1 w 277"/>
                  <a:gd name="T21" fmla="*/ 1 h 172"/>
                  <a:gd name="T22" fmla="*/ 0 w 277"/>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2"/>
                  <a:gd name="T38" fmla="*/ 277 w 277"/>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2">
                    <a:moveTo>
                      <a:pt x="0" y="161"/>
                    </a:moveTo>
                    <a:lnTo>
                      <a:pt x="17" y="171"/>
                    </a:lnTo>
                    <a:lnTo>
                      <a:pt x="277" y="19"/>
                    </a:lnTo>
                    <a:lnTo>
                      <a:pt x="264" y="0"/>
                    </a:lnTo>
                    <a:lnTo>
                      <a:pt x="4" y="152"/>
                    </a:lnTo>
                    <a:lnTo>
                      <a:pt x="22" y="161"/>
                    </a:lnTo>
                    <a:lnTo>
                      <a:pt x="4" y="152"/>
                    </a:lnTo>
                    <a:lnTo>
                      <a:pt x="0" y="160"/>
                    </a:lnTo>
                    <a:lnTo>
                      <a:pt x="1" y="167"/>
                    </a:lnTo>
                    <a:lnTo>
                      <a:pt x="7" y="172"/>
                    </a:lnTo>
                    <a:lnTo>
                      <a:pt x="17" y="171"/>
                    </a:lnTo>
                    <a:lnTo>
                      <a:pt x="0" y="161"/>
                    </a:lnTo>
                    <a:close/>
                  </a:path>
                </a:pathLst>
              </a:custGeom>
              <a:solidFill>
                <a:srgbClr val="000000"/>
              </a:solidFill>
              <a:ln w="9525">
                <a:noFill/>
                <a:round/>
                <a:headEnd/>
                <a:tailEnd/>
              </a:ln>
            </p:spPr>
            <p:txBody>
              <a:bodyPr/>
              <a:lstStyle/>
              <a:p>
                <a:endParaRPr lang="en-US"/>
              </a:p>
            </p:txBody>
          </p:sp>
          <p:sp>
            <p:nvSpPr>
              <p:cNvPr id="28890" name="Freeform 180"/>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4" y="2"/>
                    </a:moveTo>
                    <a:lnTo>
                      <a:pt x="0" y="11"/>
                    </a:lnTo>
                    <a:lnTo>
                      <a:pt x="0" y="249"/>
                    </a:lnTo>
                    <a:lnTo>
                      <a:pt x="22" y="249"/>
                    </a:lnTo>
                    <a:lnTo>
                      <a:pt x="22" y="11"/>
                    </a:lnTo>
                    <a:lnTo>
                      <a:pt x="17" y="21"/>
                    </a:lnTo>
                    <a:lnTo>
                      <a:pt x="22" y="11"/>
                    </a:lnTo>
                    <a:lnTo>
                      <a:pt x="18" y="4"/>
                    </a:lnTo>
                    <a:lnTo>
                      <a:pt x="11" y="0"/>
                    </a:lnTo>
                    <a:lnTo>
                      <a:pt x="3" y="4"/>
                    </a:lnTo>
                    <a:lnTo>
                      <a:pt x="0" y="11"/>
                    </a:lnTo>
                    <a:lnTo>
                      <a:pt x="4" y="2"/>
                    </a:lnTo>
                    <a:close/>
                  </a:path>
                </a:pathLst>
              </a:custGeom>
              <a:solidFill>
                <a:srgbClr val="000000"/>
              </a:solidFill>
              <a:ln w="9525">
                <a:noFill/>
                <a:round/>
                <a:headEnd/>
                <a:tailEnd/>
              </a:ln>
            </p:spPr>
            <p:txBody>
              <a:bodyPr/>
              <a:lstStyle/>
              <a:p>
                <a:endParaRPr lang="en-US"/>
              </a:p>
            </p:txBody>
          </p:sp>
          <p:sp>
            <p:nvSpPr>
              <p:cNvPr id="28891" name="Freeform 181"/>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77" y="11"/>
                    </a:moveTo>
                    <a:lnTo>
                      <a:pt x="260" y="2"/>
                    </a:lnTo>
                    <a:lnTo>
                      <a:pt x="0" y="152"/>
                    </a:lnTo>
                    <a:lnTo>
                      <a:pt x="13" y="171"/>
                    </a:lnTo>
                    <a:lnTo>
                      <a:pt x="273" y="21"/>
                    </a:lnTo>
                    <a:lnTo>
                      <a:pt x="256" y="11"/>
                    </a:lnTo>
                    <a:lnTo>
                      <a:pt x="273" y="21"/>
                    </a:lnTo>
                    <a:lnTo>
                      <a:pt x="277" y="13"/>
                    </a:lnTo>
                    <a:lnTo>
                      <a:pt x="276" y="5"/>
                    </a:lnTo>
                    <a:lnTo>
                      <a:pt x="270" y="0"/>
                    </a:lnTo>
                    <a:lnTo>
                      <a:pt x="260" y="2"/>
                    </a:lnTo>
                    <a:lnTo>
                      <a:pt x="277" y="11"/>
                    </a:lnTo>
                    <a:close/>
                  </a:path>
                </a:pathLst>
              </a:custGeom>
              <a:solidFill>
                <a:srgbClr val="000000"/>
              </a:solidFill>
              <a:ln w="9525">
                <a:noFill/>
                <a:round/>
                <a:headEnd/>
                <a:tailEnd/>
              </a:ln>
            </p:spPr>
            <p:txBody>
              <a:bodyPr/>
              <a:lstStyle/>
              <a:p>
                <a:endParaRPr lang="en-US"/>
              </a:p>
            </p:txBody>
          </p:sp>
          <p:sp>
            <p:nvSpPr>
              <p:cNvPr id="28892" name="Freeform 182"/>
              <p:cNvSpPr>
                <a:spLocks/>
              </p:cNvSpPr>
              <p:nvPr/>
            </p:nvSpPr>
            <p:spPr bwMode="auto">
              <a:xfrm>
                <a:off x="1851" y="3349"/>
                <a:ext cx="173" cy="95"/>
              </a:xfrm>
              <a:custGeom>
                <a:avLst/>
                <a:gdLst>
                  <a:gd name="T0" fmla="*/ 1 w 344"/>
                  <a:gd name="T1" fmla="*/ 1 h 190"/>
                  <a:gd name="T2" fmla="*/ 1 w 344"/>
                  <a:gd name="T3" fmla="*/ 0 h 190"/>
                  <a:gd name="T4" fmla="*/ 0 w 344"/>
                  <a:gd name="T5" fmla="*/ 1 h 190"/>
                  <a:gd name="T6" fmla="*/ 1 w 344"/>
                  <a:gd name="T7" fmla="*/ 1 h 190"/>
                  <a:gd name="T8" fmla="*/ 1 w 344"/>
                  <a:gd name="T9" fmla="*/ 1 h 190"/>
                  <a:gd name="T10" fmla="*/ 0 60000 65536"/>
                  <a:gd name="T11" fmla="*/ 0 60000 65536"/>
                  <a:gd name="T12" fmla="*/ 0 60000 65536"/>
                  <a:gd name="T13" fmla="*/ 0 60000 65536"/>
                  <a:gd name="T14" fmla="*/ 0 60000 65536"/>
                  <a:gd name="T15" fmla="*/ 0 w 344"/>
                  <a:gd name="T16" fmla="*/ 0 h 190"/>
                  <a:gd name="T17" fmla="*/ 344 w 344"/>
                  <a:gd name="T18" fmla="*/ 190 h 190"/>
                </a:gdLst>
                <a:ahLst/>
                <a:cxnLst>
                  <a:cxn ang="T10">
                    <a:pos x="T0" y="T1"/>
                  </a:cxn>
                  <a:cxn ang="T11">
                    <a:pos x="T2" y="T3"/>
                  </a:cxn>
                  <a:cxn ang="T12">
                    <a:pos x="T4" y="T5"/>
                  </a:cxn>
                  <a:cxn ang="T13">
                    <a:pos x="T6" y="T7"/>
                  </a:cxn>
                  <a:cxn ang="T14">
                    <a:pos x="T8" y="T9"/>
                  </a:cxn>
                </a:cxnLst>
                <a:rect l="T15" t="T16" r="T17" b="T18"/>
                <a:pathLst>
                  <a:path w="344" h="190">
                    <a:moveTo>
                      <a:pt x="344" y="40"/>
                    </a:moveTo>
                    <a:lnTo>
                      <a:pt x="260" y="0"/>
                    </a:lnTo>
                    <a:lnTo>
                      <a:pt x="0" y="150"/>
                    </a:lnTo>
                    <a:lnTo>
                      <a:pt x="85" y="190"/>
                    </a:lnTo>
                    <a:lnTo>
                      <a:pt x="344" y="40"/>
                    </a:lnTo>
                    <a:close/>
                  </a:path>
                </a:pathLst>
              </a:custGeom>
              <a:solidFill>
                <a:srgbClr val="99D8FF"/>
              </a:solidFill>
              <a:ln w="9525">
                <a:noFill/>
                <a:round/>
                <a:headEnd/>
                <a:tailEnd/>
              </a:ln>
            </p:spPr>
            <p:txBody>
              <a:bodyPr/>
              <a:lstStyle/>
              <a:p>
                <a:endParaRPr lang="en-US"/>
              </a:p>
            </p:txBody>
          </p:sp>
          <p:sp>
            <p:nvSpPr>
              <p:cNvPr id="28893" name="Freeform 183"/>
              <p:cNvSpPr>
                <a:spLocks/>
              </p:cNvSpPr>
              <p:nvPr/>
            </p:nvSpPr>
            <p:spPr bwMode="auto">
              <a:xfrm>
                <a:off x="1976" y="3344"/>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1 w 100"/>
                  <a:gd name="T11" fmla="*/ 0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16" y="19"/>
                    </a:moveTo>
                    <a:lnTo>
                      <a:pt x="6" y="19"/>
                    </a:lnTo>
                    <a:lnTo>
                      <a:pt x="91" y="60"/>
                    </a:lnTo>
                    <a:lnTo>
                      <a:pt x="100" y="41"/>
                    </a:lnTo>
                    <a:lnTo>
                      <a:pt x="16" y="0"/>
                    </a:lnTo>
                    <a:lnTo>
                      <a:pt x="6" y="0"/>
                    </a:lnTo>
                    <a:lnTo>
                      <a:pt x="16" y="0"/>
                    </a:lnTo>
                    <a:lnTo>
                      <a:pt x="8" y="0"/>
                    </a:lnTo>
                    <a:lnTo>
                      <a:pt x="2" y="5"/>
                    </a:lnTo>
                    <a:lnTo>
                      <a:pt x="0" y="13"/>
                    </a:lnTo>
                    <a:lnTo>
                      <a:pt x="6" y="19"/>
                    </a:lnTo>
                    <a:lnTo>
                      <a:pt x="16" y="19"/>
                    </a:lnTo>
                    <a:close/>
                  </a:path>
                </a:pathLst>
              </a:custGeom>
              <a:solidFill>
                <a:srgbClr val="000000"/>
              </a:solidFill>
              <a:ln w="9525">
                <a:noFill/>
                <a:round/>
                <a:headEnd/>
                <a:tailEnd/>
              </a:ln>
            </p:spPr>
            <p:txBody>
              <a:bodyPr/>
              <a:lstStyle/>
              <a:p>
                <a:endParaRPr lang="en-US"/>
              </a:p>
            </p:txBody>
          </p:sp>
          <p:sp>
            <p:nvSpPr>
              <p:cNvPr id="28894" name="Freeform 184"/>
              <p:cNvSpPr>
                <a:spLocks/>
              </p:cNvSpPr>
              <p:nvPr/>
            </p:nvSpPr>
            <p:spPr bwMode="auto">
              <a:xfrm>
                <a:off x="1846" y="3344"/>
                <a:ext cx="138" cy="85"/>
              </a:xfrm>
              <a:custGeom>
                <a:avLst/>
                <a:gdLst>
                  <a:gd name="T0" fmla="*/ 1 w 276"/>
                  <a:gd name="T1" fmla="*/ 1 h 169"/>
                  <a:gd name="T2" fmla="*/ 1 w 276"/>
                  <a:gd name="T3" fmla="*/ 1 h 169"/>
                  <a:gd name="T4" fmla="*/ 1 w 276"/>
                  <a:gd name="T5" fmla="*/ 1 h 169"/>
                  <a:gd name="T6" fmla="*/ 1 w 276"/>
                  <a:gd name="T7" fmla="*/ 0 h 169"/>
                  <a:gd name="T8" fmla="*/ 1 w 276"/>
                  <a:gd name="T9" fmla="*/ 1 h 169"/>
                  <a:gd name="T10" fmla="*/ 1 w 276"/>
                  <a:gd name="T11" fmla="*/ 1 h 169"/>
                  <a:gd name="T12" fmla="*/ 1 w 276"/>
                  <a:gd name="T13" fmla="*/ 1 h 169"/>
                  <a:gd name="T14" fmla="*/ 0 w 276"/>
                  <a:gd name="T15" fmla="*/ 1 h 169"/>
                  <a:gd name="T16" fmla="*/ 1 w 276"/>
                  <a:gd name="T17" fmla="*/ 1 h 169"/>
                  <a:gd name="T18" fmla="*/ 1 w 276"/>
                  <a:gd name="T19" fmla="*/ 1 h 169"/>
                  <a:gd name="T20" fmla="*/ 1 w 276"/>
                  <a:gd name="T21" fmla="*/ 1 h 169"/>
                  <a:gd name="T22" fmla="*/ 1 w 276"/>
                  <a:gd name="T23" fmla="*/ 1 h 1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6"/>
                  <a:gd name="T37" fmla="*/ 0 h 169"/>
                  <a:gd name="T38" fmla="*/ 276 w 276"/>
                  <a:gd name="T39" fmla="*/ 169 h 1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6" h="169">
                    <a:moveTo>
                      <a:pt x="16" y="150"/>
                    </a:moveTo>
                    <a:lnTo>
                      <a:pt x="16" y="169"/>
                    </a:lnTo>
                    <a:lnTo>
                      <a:pt x="276" y="19"/>
                    </a:lnTo>
                    <a:lnTo>
                      <a:pt x="266" y="0"/>
                    </a:lnTo>
                    <a:lnTo>
                      <a:pt x="6" y="150"/>
                    </a:lnTo>
                    <a:lnTo>
                      <a:pt x="6" y="169"/>
                    </a:lnTo>
                    <a:lnTo>
                      <a:pt x="6" y="150"/>
                    </a:lnTo>
                    <a:lnTo>
                      <a:pt x="0" y="157"/>
                    </a:lnTo>
                    <a:lnTo>
                      <a:pt x="2" y="164"/>
                    </a:lnTo>
                    <a:lnTo>
                      <a:pt x="8" y="169"/>
                    </a:lnTo>
                    <a:lnTo>
                      <a:pt x="16" y="169"/>
                    </a:lnTo>
                    <a:lnTo>
                      <a:pt x="16" y="150"/>
                    </a:lnTo>
                    <a:close/>
                  </a:path>
                </a:pathLst>
              </a:custGeom>
              <a:solidFill>
                <a:srgbClr val="000000"/>
              </a:solidFill>
              <a:ln w="9525">
                <a:noFill/>
                <a:round/>
                <a:headEnd/>
                <a:tailEnd/>
              </a:ln>
            </p:spPr>
            <p:txBody>
              <a:bodyPr/>
              <a:lstStyle/>
              <a:p>
                <a:endParaRPr lang="en-US"/>
              </a:p>
            </p:txBody>
          </p:sp>
          <p:sp>
            <p:nvSpPr>
              <p:cNvPr id="28895" name="Freeform 185"/>
              <p:cNvSpPr>
                <a:spLocks/>
              </p:cNvSpPr>
              <p:nvPr/>
            </p:nvSpPr>
            <p:spPr bwMode="auto">
              <a:xfrm>
                <a:off x="1849" y="3419"/>
                <a:ext cx="50" cy="30"/>
              </a:xfrm>
              <a:custGeom>
                <a:avLst/>
                <a:gdLst>
                  <a:gd name="T0" fmla="*/ 0 w 101"/>
                  <a:gd name="T1" fmla="*/ 1 h 60"/>
                  <a:gd name="T2" fmla="*/ 0 w 101"/>
                  <a:gd name="T3" fmla="*/ 1 h 60"/>
                  <a:gd name="T4" fmla="*/ 0 w 101"/>
                  <a:gd name="T5" fmla="*/ 0 h 60"/>
                  <a:gd name="T6" fmla="*/ 0 w 101"/>
                  <a:gd name="T7" fmla="*/ 1 h 60"/>
                  <a:gd name="T8" fmla="*/ 0 w 101"/>
                  <a:gd name="T9" fmla="*/ 1 h 60"/>
                  <a:gd name="T10" fmla="*/ 0 w 101"/>
                  <a:gd name="T11" fmla="*/ 1 h 60"/>
                  <a:gd name="T12" fmla="*/ 0 w 101"/>
                  <a:gd name="T13" fmla="*/ 1 h 60"/>
                  <a:gd name="T14" fmla="*/ 0 w 101"/>
                  <a:gd name="T15" fmla="*/ 1 h 60"/>
                  <a:gd name="T16" fmla="*/ 0 w 101"/>
                  <a:gd name="T17" fmla="*/ 1 h 60"/>
                  <a:gd name="T18" fmla="*/ 0 w 101"/>
                  <a:gd name="T19" fmla="*/ 1 h 60"/>
                  <a:gd name="T20" fmla="*/ 0 w 101"/>
                  <a:gd name="T21" fmla="*/ 1 h 60"/>
                  <a:gd name="T22" fmla="*/ 0 w 101"/>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0"/>
                  <a:gd name="T38" fmla="*/ 101 w 101"/>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0">
                    <a:moveTo>
                      <a:pt x="83" y="41"/>
                    </a:moveTo>
                    <a:lnTo>
                      <a:pt x="94" y="41"/>
                    </a:lnTo>
                    <a:lnTo>
                      <a:pt x="10" y="0"/>
                    </a:lnTo>
                    <a:lnTo>
                      <a:pt x="0" y="19"/>
                    </a:lnTo>
                    <a:lnTo>
                      <a:pt x="85" y="60"/>
                    </a:lnTo>
                    <a:lnTo>
                      <a:pt x="96" y="60"/>
                    </a:lnTo>
                    <a:lnTo>
                      <a:pt x="85" y="60"/>
                    </a:lnTo>
                    <a:lnTo>
                      <a:pt x="93" y="60"/>
                    </a:lnTo>
                    <a:lnTo>
                      <a:pt x="99" y="55"/>
                    </a:lnTo>
                    <a:lnTo>
                      <a:pt x="101" y="47"/>
                    </a:lnTo>
                    <a:lnTo>
                      <a:pt x="94" y="41"/>
                    </a:lnTo>
                    <a:lnTo>
                      <a:pt x="83" y="41"/>
                    </a:lnTo>
                    <a:close/>
                  </a:path>
                </a:pathLst>
              </a:custGeom>
              <a:solidFill>
                <a:srgbClr val="000000"/>
              </a:solidFill>
              <a:ln w="9525">
                <a:noFill/>
                <a:round/>
                <a:headEnd/>
                <a:tailEnd/>
              </a:ln>
            </p:spPr>
            <p:txBody>
              <a:bodyPr/>
              <a:lstStyle/>
              <a:p>
                <a:endParaRPr lang="en-US"/>
              </a:p>
            </p:txBody>
          </p:sp>
          <p:sp>
            <p:nvSpPr>
              <p:cNvPr id="28896" name="Freeform 186"/>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62" y="21"/>
                    </a:moveTo>
                    <a:lnTo>
                      <a:pt x="260" y="2"/>
                    </a:lnTo>
                    <a:lnTo>
                      <a:pt x="0" y="152"/>
                    </a:lnTo>
                    <a:lnTo>
                      <a:pt x="13" y="171"/>
                    </a:lnTo>
                    <a:lnTo>
                      <a:pt x="273" y="21"/>
                    </a:lnTo>
                    <a:lnTo>
                      <a:pt x="271" y="2"/>
                    </a:lnTo>
                    <a:lnTo>
                      <a:pt x="273" y="21"/>
                    </a:lnTo>
                    <a:lnTo>
                      <a:pt x="277" y="13"/>
                    </a:lnTo>
                    <a:lnTo>
                      <a:pt x="276" y="5"/>
                    </a:lnTo>
                    <a:lnTo>
                      <a:pt x="270" y="0"/>
                    </a:lnTo>
                    <a:lnTo>
                      <a:pt x="260" y="2"/>
                    </a:lnTo>
                    <a:lnTo>
                      <a:pt x="262" y="21"/>
                    </a:lnTo>
                    <a:close/>
                  </a:path>
                </a:pathLst>
              </a:custGeom>
              <a:solidFill>
                <a:srgbClr val="000000"/>
              </a:solidFill>
              <a:ln w="9525">
                <a:noFill/>
                <a:round/>
                <a:headEnd/>
                <a:tailEnd/>
              </a:ln>
            </p:spPr>
            <p:txBody>
              <a:bodyPr/>
              <a:lstStyle/>
              <a:p>
                <a:endParaRPr lang="en-US"/>
              </a:p>
            </p:txBody>
          </p:sp>
          <p:sp>
            <p:nvSpPr>
              <p:cNvPr id="28897" name="Freeform 187"/>
              <p:cNvSpPr>
                <a:spLocks/>
              </p:cNvSpPr>
              <p:nvPr/>
            </p:nvSpPr>
            <p:spPr bwMode="auto">
              <a:xfrm>
                <a:off x="1797" y="3350"/>
                <a:ext cx="175" cy="82"/>
              </a:xfrm>
              <a:custGeom>
                <a:avLst/>
                <a:gdLst>
                  <a:gd name="T0" fmla="*/ 1 w 349"/>
                  <a:gd name="T1" fmla="*/ 0 h 166"/>
                  <a:gd name="T2" fmla="*/ 1 w 349"/>
                  <a:gd name="T3" fmla="*/ 0 h 166"/>
                  <a:gd name="T4" fmla="*/ 1 w 349"/>
                  <a:gd name="T5" fmla="*/ 0 h 166"/>
                  <a:gd name="T6" fmla="*/ 0 w 349"/>
                  <a:gd name="T7" fmla="*/ 0 h 166"/>
                  <a:gd name="T8" fmla="*/ 1 w 349"/>
                  <a:gd name="T9" fmla="*/ 0 h 166"/>
                  <a:gd name="T10" fmla="*/ 1 w 349"/>
                  <a:gd name="T11" fmla="*/ 0 h 166"/>
                  <a:gd name="T12" fmla="*/ 0 60000 65536"/>
                  <a:gd name="T13" fmla="*/ 0 60000 65536"/>
                  <a:gd name="T14" fmla="*/ 0 60000 65536"/>
                  <a:gd name="T15" fmla="*/ 0 60000 65536"/>
                  <a:gd name="T16" fmla="*/ 0 60000 65536"/>
                  <a:gd name="T17" fmla="*/ 0 60000 65536"/>
                  <a:gd name="T18" fmla="*/ 0 w 349"/>
                  <a:gd name="T19" fmla="*/ 0 h 166"/>
                  <a:gd name="T20" fmla="*/ 349 w 349"/>
                  <a:gd name="T21" fmla="*/ 166 h 166"/>
                </a:gdLst>
                <a:ahLst/>
                <a:cxnLst>
                  <a:cxn ang="T12">
                    <a:pos x="T0" y="T1"/>
                  </a:cxn>
                  <a:cxn ang="T13">
                    <a:pos x="T2" y="T3"/>
                  </a:cxn>
                  <a:cxn ang="T14">
                    <a:pos x="T4" y="T5"/>
                  </a:cxn>
                  <a:cxn ang="T15">
                    <a:pos x="T6" y="T7"/>
                  </a:cxn>
                  <a:cxn ang="T16">
                    <a:pos x="T8" y="T9"/>
                  </a:cxn>
                  <a:cxn ang="T17">
                    <a:pos x="T10" y="T11"/>
                  </a:cxn>
                </a:cxnLst>
                <a:rect l="T18" t="T19" r="T20" b="T21"/>
                <a:pathLst>
                  <a:path w="349" h="166">
                    <a:moveTo>
                      <a:pt x="349" y="9"/>
                    </a:moveTo>
                    <a:lnTo>
                      <a:pt x="110" y="149"/>
                    </a:lnTo>
                    <a:lnTo>
                      <a:pt x="108" y="166"/>
                    </a:lnTo>
                    <a:lnTo>
                      <a:pt x="0" y="157"/>
                    </a:lnTo>
                    <a:lnTo>
                      <a:pt x="266" y="0"/>
                    </a:lnTo>
                    <a:lnTo>
                      <a:pt x="349" y="9"/>
                    </a:lnTo>
                    <a:close/>
                  </a:path>
                </a:pathLst>
              </a:custGeom>
              <a:solidFill>
                <a:srgbClr val="99D8FF"/>
              </a:solidFill>
              <a:ln w="9525">
                <a:noFill/>
                <a:round/>
                <a:headEnd/>
                <a:tailEnd/>
              </a:ln>
            </p:spPr>
            <p:txBody>
              <a:bodyPr/>
              <a:lstStyle/>
              <a:p>
                <a:endParaRPr lang="en-US"/>
              </a:p>
            </p:txBody>
          </p:sp>
          <p:sp>
            <p:nvSpPr>
              <p:cNvPr id="28898" name="Freeform 188"/>
              <p:cNvSpPr>
                <a:spLocks/>
              </p:cNvSpPr>
              <p:nvPr/>
            </p:nvSpPr>
            <p:spPr bwMode="auto">
              <a:xfrm>
                <a:off x="1847" y="3350"/>
                <a:ext cx="127" cy="79"/>
              </a:xfrm>
              <a:custGeom>
                <a:avLst/>
                <a:gdLst>
                  <a:gd name="T0" fmla="*/ 0 w 255"/>
                  <a:gd name="T1" fmla="*/ 1 h 158"/>
                  <a:gd name="T2" fmla="*/ 0 w 255"/>
                  <a:gd name="T3" fmla="*/ 1 h 158"/>
                  <a:gd name="T4" fmla="*/ 0 w 255"/>
                  <a:gd name="T5" fmla="*/ 1 h 158"/>
                  <a:gd name="T6" fmla="*/ 0 w 255"/>
                  <a:gd name="T7" fmla="*/ 0 h 158"/>
                  <a:gd name="T8" fmla="*/ 0 w 255"/>
                  <a:gd name="T9" fmla="*/ 1 h 158"/>
                  <a:gd name="T10" fmla="*/ 0 w 255"/>
                  <a:gd name="T11" fmla="*/ 1 h 158"/>
                  <a:gd name="T12" fmla="*/ 0 w 255"/>
                  <a:gd name="T13" fmla="*/ 1 h 158"/>
                  <a:gd name="T14" fmla="*/ 0 w 255"/>
                  <a:gd name="T15" fmla="*/ 1 h 158"/>
                  <a:gd name="T16" fmla="*/ 0 w 255"/>
                  <a:gd name="T17" fmla="*/ 1 h 158"/>
                  <a:gd name="T18" fmla="*/ 0 w 255"/>
                  <a:gd name="T19" fmla="*/ 1 h 158"/>
                  <a:gd name="T20" fmla="*/ 0 w 255"/>
                  <a:gd name="T21" fmla="*/ 1 h 158"/>
                  <a:gd name="T22" fmla="*/ 0 w 255"/>
                  <a:gd name="T23" fmla="*/ 1 h 1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5"/>
                  <a:gd name="T37" fmla="*/ 0 h 158"/>
                  <a:gd name="T38" fmla="*/ 255 w 255"/>
                  <a:gd name="T39" fmla="*/ 158 h 1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5" h="158">
                    <a:moveTo>
                      <a:pt x="22" y="150"/>
                    </a:moveTo>
                    <a:lnTo>
                      <a:pt x="15" y="158"/>
                    </a:lnTo>
                    <a:lnTo>
                      <a:pt x="255" y="19"/>
                    </a:lnTo>
                    <a:lnTo>
                      <a:pt x="245" y="0"/>
                    </a:lnTo>
                    <a:lnTo>
                      <a:pt x="6" y="139"/>
                    </a:lnTo>
                    <a:lnTo>
                      <a:pt x="0" y="147"/>
                    </a:lnTo>
                    <a:lnTo>
                      <a:pt x="6" y="139"/>
                    </a:lnTo>
                    <a:lnTo>
                      <a:pt x="0" y="146"/>
                    </a:lnTo>
                    <a:lnTo>
                      <a:pt x="1" y="153"/>
                    </a:lnTo>
                    <a:lnTo>
                      <a:pt x="7" y="158"/>
                    </a:lnTo>
                    <a:lnTo>
                      <a:pt x="15" y="158"/>
                    </a:lnTo>
                    <a:lnTo>
                      <a:pt x="22" y="150"/>
                    </a:lnTo>
                    <a:close/>
                  </a:path>
                </a:pathLst>
              </a:custGeom>
              <a:solidFill>
                <a:srgbClr val="000000"/>
              </a:solidFill>
              <a:ln w="9525">
                <a:noFill/>
                <a:round/>
                <a:headEnd/>
                <a:tailEnd/>
              </a:ln>
            </p:spPr>
            <p:txBody>
              <a:bodyPr/>
              <a:lstStyle/>
              <a:p>
                <a:endParaRPr lang="en-US"/>
              </a:p>
            </p:txBody>
          </p:sp>
          <p:sp>
            <p:nvSpPr>
              <p:cNvPr id="28899" name="Freeform 189"/>
              <p:cNvSpPr>
                <a:spLocks/>
              </p:cNvSpPr>
              <p:nvPr/>
            </p:nvSpPr>
            <p:spPr bwMode="auto">
              <a:xfrm>
                <a:off x="1846" y="3423"/>
                <a:ext cx="12" cy="15"/>
              </a:xfrm>
              <a:custGeom>
                <a:avLst/>
                <a:gdLst>
                  <a:gd name="T0" fmla="*/ 1 w 24"/>
                  <a:gd name="T1" fmla="*/ 1 h 30"/>
                  <a:gd name="T2" fmla="*/ 1 w 24"/>
                  <a:gd name="T3" fmla="*/ 1 h 30"/>
                  <a:gd name="T4" fmla="*/ 1 w 24"/>
                  <a:gd name="T5" fmla="*/ 1 h 30"/>
                  <a:gd name="T6" fmla="*/ 1 w 24"/>
                  <a:gd name="T7" fmla="*/ 0 h 30"/>
                  <a:gd name="T8" fmla="*/ 0 w 24"/>
                  <a:gd name="T9" fmla="*/ 1 h 30"/>
                  <a:gd name="T10" fmla="*/ 1 w 24"/>
                  <a:gd name="T11" fmla="*/ 1 h 30"/>
                  <a:gd name="T12" fmla="*/ 0 w 24"/>
                  <a:gd name="T13" fmla="*/ 1 h 30"/>
                  <a:gd name="T14" fmla="*/ 1 w 24"/>
                  <a:gd name="T15" fmla="*/ 1 h 30"/>
                  <a:gd name="T16" fmla="*/ 1 w 24"/>
                  <a:gd name="T17" fmla="*/ 1 h 30"/>
                  <a:gd name="T18" fmla="*/ 1 w 24"/>
                  <a:gd name="T19" fmla="*/ 1 h 30"/>
                  <a:gd name="T20" fmla="*/ 1 w 24"/>
                  <a:gd name="T21" fmla="*/ 1 h 30"/>
                  <a:gd name="T22" fmla="*/ 1 w 24"/>
                  <a:gd name="T23" fmla="*/ 1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0"/>
                  <a:gd name="T38" fmla="*/ 24 w 24"/>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0">
                    <a:moveTo>
                      <a:pt x="9" y="30"/>
                    </a:moveTo>
                    <a:lnTo>
                      <a:pt x="22" y="21"/>
                    </a:lnTo>
                    <a:lnTo>
                      <a:pt x="24" y="3"/>
                    </a:lnTo>
                    <a:lnTo>
                      <a:pt x="2" y="0"/>
                    </a:lnTo>
                    <a:lnTo>
                      <a:pt x="0" y="17"/>
                    </a:lnTo>
                    <a:lnTo>
                      <a:pt x="13" y="8"/>
                    </a:lnTo>
                    <a:lnTo>
                      <a:pt x="0" y="17"/>
                    </a:lnTo>
                    <a:lnTo>
                      <a:pt x="3" y="25"/>
                    </a:lnTo>
                    <a:lnTo>
                      <a:pt x="9" y="30"/>
                    </a:lnTo>
                    <a:lnTo>
                      <a:pt x="17" y="28"/>
                    </a:lnTo>
                    <a:lnTo>
                      <a:pt x="22" y="21"/>
                    </a:lnTo>
                    <a:lnTo>
                      <a:pt x="9" y="30"/>
                    </a:lnTo>
                    <a:close/>
                  </a:path>
                </a:pathLst>
              </a:custGeom>
              <a:solidFill>
                <a:srgbClr val="000000"/>
              </a:solidFill>
              <a:ln w="9525">
                <a:noFill/>
                <a:round/>
                <a:headEnd/>
                <a:tailEnd/>
              </a:ln>
            </p:spPr>
            <p:txBody>
              <a:bodyPr/>
              <a:lstStyle/>
              <a:p>
                <a:endParaRPr lang="en-US"/>
              </a:p>
            </p:txBody>
          </p:sp>
          <p:sp>
            <p:nvSpPr>
              <p:cNvPr id="28900" name="Freeform 190"/>
              <p:cNvSpPr>
                <a:spLocks/>
              </p:cNvSpPr>
              <p:nvPr/>
            </p:nvSpPr>
            <p:spPr bwMode="auto">
              <a:xfrm>
                <a:off x="1792" y="3422"/>
                <a:ext cx="60" cy="16"/>
              </a:xfrm>
              <a:custGeom>
                <a:avLst/>
                <a:gdLst>
                  <a:gd name="T0" fmla="*/ 0 w 121"/>
                  <a:gd name="T1" fmla="*/ 1 h 31"/>
                  <a:gd name="T2" fmla="*/ 0 w 121"/>
                  <a:gd name="T3" fmla="*/ 1 h 31"/>
                  <a:gd name="T4" fmla="*/ 0 w 121"/>
                  <a:gd name="T5" fmla="*/ 1 h 31"/>
                  <a:gd name="T6" fmla="*/ 0 w 121"/>
                  <a:gd name="T7" fmla="*/ 1 h 31"/>
                  <a:gd name="T8" fmla="*/ 0 w 121"/>
                  <a:gd name="T9" fmla="*/ 0 h 31"/>
                  <a:gd name="T10" fmla="*/ 0 w 121"/>
                  <a:gd name="T11" fmla="*/ 1 h 31"/>
                  <a:gd name="T12" fmla="*/ 0 w 121"/>
                  <a:gd name="T13" fmla="*/ 0 h 31"/>
                  <a:gd name="T14" fmla="*/ 0 w 121"/>
                  <a:gd name="T15" fmla="*/ 1 h 31"/>
                  <a:gd name="T16" fmla="*/ 0 w 121"/>
                  <a:gd name="T17" fmla="*/ 1 h 31"/>
                  <a:gd name="T18" fmla="*/ 0 w 121"/>
                  <a:gd name="T19" fmla="*/ 1 h 31"/>
                  <a:gd name="T20" fmla="*/ 0 w 121"/>
                  <a:gd name="T21" fmla="*/ 1 h 31"/>
                  <a:gd name="T22" fmla="*/ 0 w 121"/>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
                  <a:gd name="T37" fmla="*/ 0 h 31"/>
                  <a:gd name="T38" fmla="*/ 121 w 12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 h="31">
                    <a:moveTo>
                      <a:pt x="5" y="1"/>
                    </a:moveTo>
                    <a:lnTo>
                      <a:pt x="9" y="22"/>
                    </a:lnTo>
                    <a:lnTo>
                      <a:pt x="117" y="31"/>
                    </a:lnTo>
                    <a:lnTo>
                      <a:pt x="121" y="9"/>
                    </a:lnTo>
                    <a:lnTo>
                      <a:pt x="13" y="0"/>
                    </a:lnTo>
                    <a:lnTo>
                      <a:pt x="17" y="20"/>
                    </a:lnTo>
                    <a:lnTo>
                      <a:pt x="13" y="0"/>
                    </a:lnTo>
                    <a:lnTo>
                      <a:pt x="5" y="3"/>
                    </a:lnTo>
                    <a:lnTo>
                      <a:pt x="0" y="9"/>
                    </a:lnTo>
                    <a:lnTo>
                      <a:pt x="2" y="17"/>
                    </a:lnTo>
                    <a:lnTo>
                      <a:pt x="9" y="22"/>
                    </a:lnTo>
                    <a:lnTo>
                      <a:pt x="5" y="1"/>
                    </a:lnTo>
                    <a:close/>
                  </a:path>
                </a:pathLst>
              </a:custGeom>
              <a:solidFill>
                <a:srgbClr val="000000"/>
              </a:solidFill>
              <a:ln w="9525">
                <a:noFill/>
                <a:round/>
                <a:headEnd/>
                <a:tailEnd/>
              </a:ln>
            </p:spPr>
            <p:txBody>
              <a:bodyPr/>
              <a:lstStyle/>
              <a:p>
                <a:endParaRPr lang="en-US"/>
              </a:p>
            </p:txBody>
          </p:sp>
          <p:sp>
            <p:nvSpPr>
              <p:cNvPr id="28901" name="Freeform 191"/>
              <p:cNvSpPr>
                <a:spLocks/>
              </p:cNvSpPr>
              <p:nvPr/>
            </p:nvSpPr>
            <p:spPr bwMode="auto">
              <a:xfrm>
                <a:off x="1794" y="3344"/>
                <a:ext cx="142" cy="88"/>
              </a:xfrm>
              <a:custGeom>
                <a:avLst/>
                <a:gdLst>
                  <a:gd name="T0" fmla="*/ 1 w 283"/>
                  <a:gd name="T1" fmla="*/ 0 h 177"/>
                  <a:gd name="T2" fmla="*/ 1 w 283"/>
                  <a:gd name="T3" fmla="*/ 0 h 177"/>
                  <a:gd name="T4" fmla="*/ 0 w 283"/>
                  <a:gd name="T5" fmla="*/ 0 h 177"/>
                  <a:gd name="T6" fmla="*/ 1 w 283"/>
                  <a:gd name="T7" fmla="*/ 0 h 177"/>
                  <a:gd name="T8" fmla="*/ 1 w 283"/>
                  <a:gd name="T9" fmla="*/ 0 h 177"/>
                  <a:gd name="T10" fmla="*/ 1 w 283"/>
                  <a:gd name="T11" fmla="*/ 0 h 177"/>
                  <a:gd name="T12" fmla="*/ 1 w 283"/>
                  <a:gd name="T13" fmla="*/ 0 h 177"/>
                  <a:gd name="T14" fmla="*/ 1 w 283"/>
                  <a:gd name="T15" fmla="*/ 0 h 177"/>
                  <a:gd name="T16" fmla="*/ 1 w 283"/>
                  <a:gd name="T17" fmla="*/ 0 h 177"/>
                  <a:gd name="T18" fmla="*/ 1 w 283"/>
                  <a:gd name="T19" fmla="*/ 0 h 177"/>
                  <a:gd name="T20" fmla="*/ 1 w 283"/>
                  <a:gd name="T21" fmla="*/ 0 h 177"/>
                  <a:gd name="T22" fmla="*/ 1 w 283"/>
                  <a:gd name="T23" fmla="*/ 0 h 1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3"/>
                  <a:gd name="T37" fmla="*/ 0 h 177"/>
                  <a:gd name="T38" fmla="*/ 283 w 283"/>
                  <a:gd name="T39" fmla="*/ 177 h 1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3" h="177">
                    <a:moveTo>
                      <a:pt x="274" y="0"/>
                    </a:moveTo>
                    <a:lnTo>
                      <a:pt x="266" y="2"/>
                    </a:lnTo>
                    <a:lnTo>
                      <a:pt x="0" y="158"/>
                    </a:lnTo>
                    <a:lnTo>
                      <a:pt x="12" y="177"/>
                    </a:lnTo>
                    <a:lnTo>
                      <a:pt x="278" y="20"/>
                    </a:lnTo>
                    <a:lnTo>
                      <a:pt x="271" y="22"/>
                    </a:lnTo>
                    <a:lnTo>
                      <a:pt x="278" y="20"/>
                    </a:lnTo>
                    <a:lnTo>
                      <a:pt x="283" y="13"/>
                    </a:lnTo>
                    <a:lnTo>
                      <a:pt x="282" y="5"/>
                    </a:lnTo>
                    <a:lnTo>
                      <a:pt x="275" y="0"/>
                    </a:lnTo>
                    <a:lnTo>
                      <a:pt x="266" y="2"/>
                    </a:lnTo>
                    <a:lnTo>
                      <a:pt x="274" y="0"/>
                    </a:lnTo>
                    <a:close/>
                  </a:path>
                </a:pathLst>
              </a:custGeom>
              <a:solidFill>
                <a:srgbClr val="000000"/>
              </a:solidFill>
              <a:ln w="9525">
                <a:noFill/>
                <a:round/>
                <a:headEnd/>
                <a:tailEnd/>
              </a:ln>
            </p:spPr>
            <p:txBody>
              <a:bodyPr/>
              <a:lstStyle/>
              <a:p>
                <a:endParaRPr lang="en-US"/>
              </a:p>
            </p:txBody>
          </p:sp>
          <p:sp>
            <p:nvSpPr>
              <p:cNvPr id="28902" name="Freeform 192"/>
              <p:cNvSpPr>
                <a:spLocks/>
              </p:cNvSpPr>
              <p:nvPr/>
            </p:nvSpPr>
            <p:spPr bwMode="auto">
              <a:xfrm>
                <a:off x="1930" y="3344"/>
                <a:ext cx="48" cy="16"/>
              </a:xfrm>
              <a:custGeom>
                <a:avLst/>
                <a:gdLst>
                  <a:gd name="T0" fmla="*/ 1 w 95"/>
                  <a:gd name="T1" fmla="*/ 1 h 31"/>
                  <a:gd name="T2" fmla="*/ 1 w 95"/>
                  <a:gd name="T3" fmla="*/ 1 h 31"/>
                  <a:gd name="T4" fmla="*/ 1 w 95"/>
                  <a:gd name="T5" fmla="*/ 0 h 31"/>
                  <a:gd name="T6" fmla="*/ 0 w 95"/>
                  <a:gd name="T7" fmla="*/ 1 h 31"/>
                  <a:gd name="T8" fmla="*/ 1 w 95"/>
                  <a:gd name="T9" fmla="*/ 1 h 31"/>
                  <a:gd name="T10" fmla="*/ 1 w 95"/>
                  <a:gd name="T11" fmla="*/ 1 h 31"/>
                  <a:gd name="T12" fmla="*/ 1 w 95"/>
                  <a:gd name="T13" fmla="*/ 1 h 31"/>
                  <a:gd name="T14" fmla="*/ 1 w 95"/>
                  <a:gd name="T15" fmla="*/ 1 h 31"/>
                  <a:gd name="T16" fmla="*/ 1 w 95"/>
                  <a:gd name="T17" fmla="*/ 1 h 31"/>
                  <a:gd name="T18" fmla="*/ 1 w 95"/>
                  <a:gd name="T19" fmla="*/ 1 h 31"/>
                  <a:gd name="T20" fmla="*/ 1 w 95"/>
                  <a:gd name="T21" fmla="*/ 1 h 31"/>
                  <a:gd name="T22" fmla="*/ 1 w 95"/>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5"/>
                  <a:gd name="T37" fmla="*/ 0 h 31"/>
                  <a:gd name="T38" fmla="*/ 95 w 95"/>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5" h="31">
                    <a:moveTo>
                      <a:pt x="89" y="30"/>
                    </a:moveTo>
                    <a:lnTo>
                      <a:pt x="86" y="10"/>
                    </a:lnTo>
                    <a:lnTo>
                      <a:pt x="3" y="0"/>
                    </a:lnTo>
                    <a:lnTo>
                      <a:pt x="0" y="22"/>
                    </a:lnTo>
                    <a:lnTo>
                      <a:pt x="83" y="31"/>
                    </a:lnTo>
                    <a:lnTo>
                      <a:pt x="79" y="11"/>
                    </a:lnTo>
                    <a:lnTo>
                      <a:pt x="83" y="31"/>
                    </a:lnTo>
                    <a:lnTo>
                      <a:pt x="90" y="28"/>
                    </a:lnTo>
                    <a:lnTo>
                      <a:pt x="95" y="22"/>
                    </a:lnTo>
                    <a:lnTo>
                      <a:pt x="94" y="14"/>
                    </a:lnTo>
                    <a:lnTo>
                      <a:pt x="86" y="10"/>
                    </a:lnTo>
                    <a:lnTo>
                      <a:pt x="89" y="30"/>
                    </a:lnTo>
                    <a:close/>
                  </a:path>
                </a:pathLst>
              </a:custGeom>
              <a:solidFill>
                <a:srgbClr val="000000"/>
              </a:solidFill>
              <a:ln w="9525">
                <a:noFill/>
                <a:round/>
                <a:headEnd/>
                <a:tailEnd/>
              </a:ln>
            </p:spPr>
            <p:txBody>
              <a:bodyPr/>
              <a:lstStyle/>
              <a:p>
                <a:endParaRPr lang="en-US"/>
              </a:p>
            </p:txBody>
          </p:sp>
          <p:sp>
            <p:nvSpPr>
              <p:cNvPr id="28903" name="Freeform 193"/>
              <p:cNvSpPr>
                <a:spLocks/>
              </p:cNvSpPr>
              <p:nvPr/>
            </p:nvSpPr>
            <p:spPr bwMode="auto">
              <a:xfrm>
                <a:off x="2152" y="3416"/>
                <a:ext cx="83" cy="90"/>
              </a:xfrm>
              <a:custGeom>
                <a:avLst/>
                <a:gdLst>
                  <a:gd name="T0" fmla="*/ 1 w 166"/>
                  <a:gd name="T1" fmla="*/ 1 h 180"/>
                  <a:gd name="T2" fmla="*/ 1 w 166"/>
                  <a:gd name="T3" fmla="*/ 1 h 180"/>
                  <a:gd name="T4" fmla="*/ 1 w 166"/>
                  <a:gd name="T5" fmla="*/ 1 h 180"/>
                  <a:gd name="T6" fmla="*/ 1 w 166"/>
                  <a:gd name="T7" fmla="*/ 1 h 180"/>
                  <a:gd name="T8" fmla="*/ 1 w 166"/>
                  <a:gd name="T9" fmla="*/ 1 h 180"/>
                  <a:gd name="T10" fmla="*/ 1 w 166"/>
                  <a:gd name="T11" fmla="*/ 1 h 180"/>
                  <a:gd name="T12" fmla="*/ 1 w 166"/>
                  <a:gd name="T13" fmla="*/ 1 h 180"/>
                  <a:gd name="T14" fmla="*/ 1 w 166"/>
                  <a:gd name="T15" fmla="*/ 1 h 180"/>
                  <a:gd name="T16" fmla="*/ 1 w 166"/>
                  <a:gd name="T17" fmla="*/ 1 h 180"/>
                  <a:gd name="T18" fmla="*/ 1 w 166"/>
                  <a:gd name="T19" fmla="*/ 1 h 180"/>
                  <a:gd name="T20" fmla="*/ 1 w 166"/>
                  <a:gd name="T21" fmla="*/ 1 h 180"/>
                  <a:gd name="T22" fmla="*/ 1 w 166"/>
                  <a:gd name="T23" fmla="*/ 1 h 180"/>
                  <a:gd name="T24" fmla="*/ 1 w 166"/>
                  <a:gd name="T25" fmla="*/ 1 h 180"/>
                  <a:gd name="T26" fmla="*/ 1 w 166"/>
                  <a:gd name="T27" fmla="*/ 1 h 180"/>
                  <a:gd name="T28" fmla="*/ 1 w 166"/>
                  <a:gd name="T29" fmla="*/ 0 h 180"/>
                  <a:gd name="T30" fmla="*/ 1 w 166"/>
                  <a:gd name="T31" fmla="*/ 0 h 180"/>
                  <a:gd name="T32" fmla="*/ 1 w 166"/>
                  <a:gd name="T33" fmla="*/ 0 h 180"/>
                  <a:gd name="T34" fmla="*/ 1 w 166"/>
                  <a:gd name="T35" fmla="*/ 0 h 180"/>
                  <a:gd name="T36" fmla="*/ 1 w 166"/>
                  <a:gd name="T37" fmla="*/ 1 h 180"/>
                  <a:gd name="T38" fmla="*/ 1 w 166"/>
                  <a:gd name="T39" fmla="*/ 1 h 180"/>
                  <a:gd name="T40" fmla="*/ 0 w 166"/>
                  <a:gd name="T41" fmla="*/ 1 h 180"/>
                  <a:gd name="T42" fmla="*/ 0 w 166"/>
                  <a:gd name="T43" fmla="*/ 1 h 180"/>
                  <a:gd name="T44" fmla="*/ 1 w 166"/>
                  <a:gd name="T45" fmla="*/ 1 h 180"/>
                  <a:gd name="T46" fmla="*/ 1 w 166"/>
                  <a:gd name="T47" fmla="*/ 1 h 180"/>
                  <a:gd name="T48" fmla="*/ 1 w 166"/>
                  <a:gd name="T49" fmla="*/ 1 h 180"/>
                  <a:gd name="T50" fmla="*/ 1 w 166"/>
                  <a:gd name="T51" fmla="*/ 1 h 180"/>
                  <a:gd name="T52" fmla="*/ 1 w 166"/>
                  <a:gd name="T53" fmla="*/ 1 h 180"/>
                  <a:gd name="T54" fmla="*/ 1 w 166"/>
                  <a:gd name="T55" fmla="*/ 1 h 180"/>
                  <a:gd name="T56" fmla="*/ 1 w 166"/>
                  <a:gd name="T57" fmla="*/ 1 h 180"/>
                  <a:gd name="T58" fmla="*/ 1 w 166"/>
                  <a:gd name="T59" fmla="*/ 1 h 180"/>
                  <a:gd name="T60" fmla="*/ 1 w 166"/>
                  <a:gd name="T61" fmla="*/ 1 h 180"/>
                  <a:gd name="T62" fmla="*/ 1 w 166"/>
                  <a:gd name="T63" fmla="*/ 1 h 180"/>
                  <a:gd name="T64" fmla="*/ 1 w 166"/>
                  <a:gd name="T65" fmla="*/ 1 h 180"/>
                  <a:gd name="T66" fmla="*/ 1 w 166"/>
                  <a:gd name="T67" fmla="*/ 1 h 18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6"/>
                  <a:gd name="T103" fmla="*/ 0 h 180"/>
                  <a:gd name="T104" fmla="*/ 166 w 166"/>
                  <a:gd name="T105" fmla="*/ 180 h 18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6" h="180">
                    <a:moveTo>
                      <a:pt x="72" y="180"/>
                    </a:moveTo>
                    <a:lnTo>
                      <a:pt x="77" y="180"/>
                    </a:lnTo>
                    <a:lnTo>
                      <a:pt x="88" y="180"/>
                    </a:lnTo>
                    <a:lnTo>
                      <a:pt x="100" y="180"/>
                    </a:lnTo>
                    <a:lnTo>
                      <a:pt x="111" y="178"/>
                    </a:lnTo>
                    <a:lnTo>
                      <a:pt x="119" y="177"/>
                    </a:lnTo>
                    <a:lnTo>
                      <a:pt x="124" y="174"/>
                    </a:lnTo>
                    <a:lnTo>
                      <a:pt x="130" y="171"/>
                    </a:lnTo>
                    <a:lnTo>
                      <a:pt x="135" y="169"/>
                    </a:lnTo>
                    <a:lnTo>
                      <a:pt x="140" y="169"/>
                    </a:lnTo>
                    <a:lnTo>
                      <a:pt x="146" y="169"/>
                    </a:lnTo>
                    <a:lnTo>
                      <a:pt x="151" y="169"/>
                    </a:lnTo>
                    <a:lnTo>
                      <a:pt x="152" y="169"/>
                    </a:lnTo>
                    <a:lnTo>
                      <a:pt x="154" y="164"/>
                    </a:lnTo>
                    <a:lnTo>
                      <a:pt x="157" y="153"/>
                    </a:lnTo>
                    <a:lnTo>
                      <a:pt x="160" y="141"/>
                    </a:lnTo>
                    <a:lnTo>
                      <a:pt x="162" y="128"/>
                    </a:lnTo>
                    <a:lnTo>
                      <a:pt x="162" y="121"/>
                    </a:lnTo>
                    <a:lnTo>
                      <a:pt x="163" y="106"/>
                    </a:lnTo>
                    <a:lnTo>
                      <a:pt x="165" y="89"/>
                    </a:lnTo>
                    <a:lnTo>
                      <a:pt x="166" y="70"/>
                    </a:lnTo>
                    <a:lnTo>
                      <a:pt x="166" y="52"/>
                    </a:lnTo>
                    <a:lnTo>
                      <a:pt x="163" y="35"/>
                    </a:lnTo>
                    <a:lnTo>
                      <a:pt x="158" y="20"/>
                    </a:lnTo>
                    <a:lnTo>
                      <a:pt x="151" y="13"/>
                    </a:lnTo>
                    <a:lnTo>
                      <a:pt x="141" y="8"/>
                    </a:lnTo>
                    <a:lnTo>
                      <a:pt x="130" y="5"/>
                    </a:lnTo>
                    <a:lnTo>
                      <a:pt x="121" y="3"/>
                    </a:lnTo>
                    <a:lnTo>
                      <a:pt x="111" y="2"/>
                    </a:lnTo>
                    <a:lnTo>
                      <a:pt x="104" y="0"/>
                    </a:lnTo>
                    <a:lnTo>
                      <a:pt x="96" y="0"/>
                    </a:lnTo>
                    <a:lnTo>
                      <a:pt x="88" y="0"/>
                    </a:lnTo>
                    <a:lnTo>
                      <a:pt x="83" y="0"/>
                    </a:lnTo>
                    <a:lnTo>
                      <a:pt x="77" y="0"/>
                    </a:lnTo>
                    <a:lnTo>
                      <a:pt x="68" y="0"/>
                    </a:lnTo>
                    <a:lnTo>
                      <a:pt x="57" y="0"/>
                    </a:lnTo>
                    <a:lnTo>
                      <a:pt x="44" y="2"/>
                    </a:lnTo>
                    <a:lnTo>
                      <a:pt x="30" y="5"/>
                    </a:lnTo>
                    <a:lnTo>
                      <a:pt x="19" y="8"/>
                    </a:lnTo>
                    <a:lnTo>
                      <a:pt x="10" y="14"/>
                    </a:lnTo>
                    <a:lnTo>
                      <a:pt x="3" y="22"/>
                    </a:lnTo>
                    <a:lnTo>
                      <a:pt x="0" y="30"/>
                    </a:lnTo>
                    <a:lnTo>
                      <a:pt x="0" y="38"/>
                    </a:lnTo>
                    <a:lnTo>
                      <a:pt x="0" y="45"/>
                    </a:lnTo>
                    <a:lnTo>
                      <a:pt x="2" y="53"/>
                    </a:lnTo>
                    <a:lnTo>
                      <a:pt x="3" y="60"/>
                    </a:lnTo>
                    <a:lnTo>
                      <a:pt x="5" y="66"/>
                    </a:lnTo>
                    <a:lnTo>
                      <a:pt x="8" y="70"/>
                    </a:lnTo>
                    <a:lnTo>
                      <a:pt x="10" y="74"/>
                    </a:lnTo>
                    <a:lnTo>
                      <a:pt x="14" y="80"/>
                    </a:lnTo>
                    <a:lnTo>
                      <a:pt x="19" y="88"/>
                    </a:lnTo>
                    <a:lnTo>
                      <a:pt x="22" y="96"/>
                    </a:lnTo>
                    <a:lnTo>
                      <a:pt x="24" y="102"/>
                    </a:lnTo>
                    <a:lnTo>
                      <a:pt x="24" y="106"/>
                    </a:lnTo>
                    <a:lnTo>
                      <a:pt x="24" y="113"/>
                    </a:lnTo>
                    <a:lnTo>
                      <a:pt x="24" y="119"/>
                    </a:lnTo>
                    <a:lnTo>
                      <a:pt x="24" y="121"/>
                    </a:lnTo>
                    <a:lnTo>
                      <a:pt x="25" y="121"/>
                    </a:lnTo>
                    <a:lnTo>
                      <a:pt x="30" y="122"/>
                    </a:lnTo>
                    <a:lnTo>
                      <a:pt x="35" y="122"/>
                    </a:lnTo>
                    <a:lnTo>
                      <a:pt x="41" y="124"/>
                    </a:lnTo>
                    <a:lnTo>
                      <a:pt x="46" y="127"/>
                    </a:lnTo>
                    <a:lnTo>
                      <a:pt x="49" y="133"/>
                    </a:lnTo>
                    <a:lnTo>
                      <a:pt x="53" y="142"/>
                    </a:lnTo>
                    <a:lnTo>
                      <a:pt x="57" y="152"/>
                    </a:lnTo>
                    <a:lnTo>
                      <a:pt x="61" y="163"/>
                    </a:lnTo>
                    <a:lnTo>
                      <a:pt x="66" y="171"/>
                    </a:lnTo>
                    <a:lnTo>
                      <a:pt x="71" y="177"/>
                    </a:lnTo>
                    <a:lnTo>
                      <a:pt x="72" y="180"/>
                    </a:lnTo>
                    <a:close/>
                  </a:path>
                </a:pathLst>
              </a:custGeom>
              <a:solidFill>
                <a:srgbClr val="994C19"/>
              </a:solidFill>
              <a:ln w="9525">
                <a:noFill/>
                <a:round/>
                <a:headEnd/>
                <a:tailEnd/>
              </a:ln>
            </p:spPr>
            <p:txBody>
              <a:bodyPr/>
              <a:lstStyle/>
              <a:p>
                <a:endParaRPr lang="en-US"/>
              </a:p>
            </p:txBody>
          </p:sp>
          <p:sp>
            <p:nvSpPr>
              <p:cNvPr id="28904" name="Freeform 194"/>
              <p:cNvSpPr>
                <a:spLocks/>
              </p:cNvSpPr>
              <p:nvPr/>
            </p:nvSpPr>
            <p:spPr bwMode="auto">
              <a:xfrm>
                <a:off x="2188" y="3500"/>
                <a:ext cx="20" cy="11"/>
              </a:xfrm>
              <a:custGeom>
                <a:avLst/>
                <a:gdLst>
                  <a:gd name="T0" fmla="*/ 0 w 41"/>
                  <a:gd name="T1" fmla="*/ 0 h 24"/>
                  <a:gd name="T2" fmla="*/ 0 w 41"/>
                  <a:gd name="T3" fmla="*/ 0 h 24"/>
                  <a:gd name="T4" fmla="*/ 0 w 41"/>
                  <a:gd name="T5" fmla="*/ 0 h 24"/>
                  <a:gd name="T6" fmla="*/ 0 w 41"/>
                  <a:gd name="T7" fmla="*/ 0 h 24"/>
                  <a:gd name="T8" fmla="*/ 0 w 41"/>
                  <a:gd name="T9" fmla="*/ 0 h 24"/>
                  <a:gd name="T10" fmla="*/ 0 w 41"/>
                  <a:gd name="T11" fmla="*/ 0 h 24"/>
                  <a:gd name="T12" fmla="*/ 0 w 41"/>
                  <a:gd name="T13" fmla="*/ 0 h 24"/>
                  <a:gd name="T14" fmla="*/ 0 w 41"/>
                  <a:gd name="T15" fmla="*/ 0 h 24"/>
                  <a:gd name="T16" fmla="*/ 0 w 41"/>
                  <a:gd name="T17" fmla="*/ 0 h 24"/>
                  <a:gd name="T18" fmla="*/ 0 w 41"/>
                  <a:gd name="T19" fmla="*/ 0 h 24"/>
                  <a:gd name="T20" fmla="*/ 0 w 41"/>
                  <a:gd name="T21" fmla="*/ 0 h 24"/>
                  <a:gd name="T22" fmla="*/ 0 w 41"/>
                  <a:gd name="T23" fmla="*/ 0 h 24"/>
                  <a:gd name="T24" fmla="*/ 0 w 41"/>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
                  <a:gd name="T40" fmla="*/ 0 h 24"/>
                  <a:gd name="T41" fmla="*/ 41 w 41"/>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 h="24">
                    <a:moveTo>
                      <a:pt x="38" y="0"/>
                    </a:moveTo>
                    <a:lnTo>
                      <a:pt x="38" y="0"/>
                    </a:lnTo>
                    <a:lnTo>
                      <a:pt x="28" y="2"/>
                    </a:lnTo>
                    <a:lnTo>
                      <a:pt x="16" y="2"/>
                    </a:lnTo>
                    <a:lnTo>
                      <a:pt x="5" y="2"/>
                    </a:lnTo>
                    <a:lnTo>
                      <a:pt x="0" y="2"/>
                    </a:lnTo>
                    <a:lnTo>
                      <a:pt x="0" y="24"/>
                    </a:lnTo>
                    <a:lnTo>
                      <a:pt x="5" y="24"/>
                    </a:lnTo>
                    <a:lnTo>
                      <a:pt x="16" y="24"/>
                    </a:lnTo>
                    <a:lnTo>
                      <a:pt x="28" y="24"/>
                    </a:lnTo>
                    <a:lnTo>
                      <a:pt x="41" y="22"/>
                    </a:lnTo>
                    <a:lnTo>
                      <a:pt x="38" y="0"/>
                    </a:lnTo>
                    <a:close/>
                  </a:path>
                </a:pathLst>
              </a:custGeom>
              <a:solidFill>
                <a:srgbClr val="000000"/>
              </a:solidFill>
              <a:ln w="9525">
                <a:noFill/>
                <a:round/>
                <a:headEnd/>
                <a:tailEnd/>
              </a:ln>
            </p:spPr>
            <p:txBody>
              <a:bodyPr/>
              <a:lstStyle/>
              <a:p>
                <a:endParaRPr lang="en-US"/>
              </a:p>
            </p:txBody>
          </p:sp>
          <p:sp>
            <p:nvSpPr>
              <p:cNvPr id="28905" name="Freeform 195"/>
              <p:cNvSpPr>
                <a:spLocks/>
              </p:cNvSpPr>
              <p:nvPr/>
            </p:nvSpPr>
            <p:spPr bwMode="auto">
              <a:xfrm>
                <a:off x="2207" y="3495"/>
                <a:ext cx="14" cy="16"/>
              </a:xfrm>
              <a:custGeom>
                <a:avLst/>
                <a:gdLst>
                  <a:gd name="T0" fmla="*/ 1 w 28"/>
                  <a:gd name="T1" fmla="*/ 0 h 31"/>
                  <a:gd name="T2" fmla="*/ 1 w 28"/>
                  <a:gd name="T3" fmla="*/ 0 h 31"/>
                  <a:gd name="T4" fmla="*/ 1 w 28"/>
                  <a:gd name="T5" fmla="*/ 1 h 31"/>
                  <a:gd name="T6" fmla="*/ 1 w 28"/>
                  <a:gd name="T7" fmla="*/ 1 h 31"/>
                  <a:gd name="T8" fmla="*/ 1 w 28"/>
                  <a:gd name="T9" fmla="*/ 1 h 31"/>
                  <a:gd name="T10" fmla="*/ 0 w 28"/>
                  <a:gd name="T11" fmla="*/ 1 h 31"/>
                  <a:gd name="T12" fmla="*/ 1 w 28"/>
                  <a:gd name="T13" fmla="*/ 1 h 31"/>
                  <a:gd name="T14" fmla="*/ 1 w 28"/>
                  <a:gd name="T15" fmla="*/ 1 h 31"/>
                  <a:gd name="T16" fmla="*/ 1 w 28"/>
                  <a:gd name="T17" fmla="*/ 1 h 31"/>
                  <a:gd name="T18" fmla="*/ 1 w 28"/>
                  <a:gd name="T19" fmla="*/ 1 h 31"/>
                  <a:gd name="T20" fmla="*/ 1 w 28"/>
                  <a:gd name="T21" fmla="*/ 1 h 31"/>
                  <a:gd name="T22" fmla="*/ 1 w 28"/>
                  <a:gd name="T23" fmla="*/ 1 h 31"/>
                  <a:gd name="T24" fmla="*/ 1 w 28"/>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1"/>
                  <a:gd name="T41" fmla="*/ 28 w 28"/>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1">
                    <a:moveTo>
                      <a:pt x="22" y="0"/>
                    </a:moveTo>
                    <a:lnTo>
                      <a:pt x="23" y="0"/>
                    </a:lnTo>
                    <a:lnTo>
                      <a:pt x="16" y="3"/>
                    </a:lnTo>
                    <a:lnTo>
                      <a:pt x="9" y="6"/>
                    </a:lnTo>
                    <a:lnTo>
                      <a:pt x="6" y="8"/>
                    </a:lnTo>
                    <a:lnTo>
                      <a:pt x="0" y="9"/>
                    </a:lnTo>
                    <a:lnTo>
                      <a:pt x="3" y="31"/>
                    </a:lnTo>
                    <a:lnTo>
                      <a:pt x="12" y="30"/>
                    </a:lnTo>
                    <a:lnTo>
                      <a:pt x="19" y="25"/>
                    </a:lnTo>
                    <a:lnTo>
                      <a:pt x="25" y="22"/>
                    </a:lnTo>
                    <a:lnTo>
                      <a:pt x="26" y="22"/>
                    </a:lnTo>
                    <a:lnTo>
                      <a:pt x="28" y="22"/>
                    </a:lnTo>
                    <a:lnTo>
                      <a:pt x="22" y="0"/>
                    </a:lnTo>
                    <a:close/>
                  </a:path>
                </a:pathLst>
              </a:custGeom>
              <a:solidFill>
                <a:srgbClr val="000000"/>
              </a:solidFill>
              <a:ln w="9525">
                <a:noFill/>
                <a:round/>
                <a:headEnd/>
                <a:tailEnd/>
              </a:ln>
            </p:spPr>
            <p:txBody>
              <a:bodyPr/>
              <a:lstStyle/>
              <a:p>
                <a:endParaRPr lang="en-US"/>
              </a:p>
            </p:txBody>
          </p:sp>
          <p:sp>
            <p:nvSpPr>
              <p:cNvPr id="28906" name="Freeform 196"/>
              <p:cNvSpPr>
                <a:spLocks/>
              </p:cNvSpPr>
              <p:nvPr/>
            </p:nvSpPr>
            <p:spPr bwMode="auto">
              <a:xfrm>
                <a:off x="2218" y="3495"/>
                <a:ext cx="16" cy="11"/>
              </a:xfrm>
              <a:custGeom>
                <a:avLst/>
                <a:gdLst>
                  <a:gd name="T0" fmla="*/ 1 w 31"/>
                  <a:gd name="T1" fmla="*/ 1 h 22"/>
                  <a:gd name="T2" fmla="*/ 1 w 31"/>
                  <a:gd name="T3" fmla="*/ 0 h 22"/>
                  <a:gd name="T4" fmla="*/ 1 w 31"/>
                  <a:gd name="T5" fmla="*/ 0 h 22"/>
                  <a:gd name="T6" fmla="*/ 1 w 31"/>
                  <a:gd name="T7" fmla="*/ 0 h 22"/>
                  <a:gd name="T8" fmla="*/ 1 w 31"/>
                  <a:gd name="T9" fmla="*/ 0 h 22"/>
                  <a:gd name="T10" fmla="*/ 0 w 31"/>
                  <a:gd name="T11" fmla="*/ 0 h 22"/>
                  <a:gd name="T12" fmla="*/ 1 w 31"/>
                  <a:gd name="T13" fmla="*/ 1 h 22"/>
                  <a:gd name="T14" fmla="*/ 1 w 31"/>
                  <a:gd name="T15" fmla="*/ 1 h 22"/>
                  <a:gd name="T16" fmla="*/ 1 w 31"/>
                  <a:gd name="T17" fmla="*/ 1 h 22"/>
                  <a:gd name="T18" fmla="*/ 1 w 31"/>
                  <a:gd name="T19" fmla="*/ 1 h 22"/>
                  <a:gd name="T20" fmla="*/ 1 w 31"/>
                  <a:gd name="T21" fmla="*/ 1 h 22"/>
                  <a:gd name="T22" fmla="*/ 1 w 31"/>
                  <a:gd name="T23" fmla="*/ 1 h 22"/>
                  <a:gd name="T24" fmla="*/ 1 w 31"/>
                  <a:gd name="T25" fmla="*/ 1 h 22"/>
                  <a:gd name="T26" fmla="*/ 1 w 31"/>
                  <a:gd name="T27" fmla="*/ 1 h 22"/>
                  <a:gd name="T28" fmla="*/ 1 w 31"/>
                  <a:gd name="T29" fmla="*/ 1 h 22"/>
                  <a:gd name="T30" fmla="*/ 1 w 31"/>
                  <a:gd name="T31" fmla="*/ 1 h 22"/>
                  <a:gd name="T32" fmla="*/ 1 w 31"/>
                  <a:gd name="T33" fmla="*/ 0 h 22"/>
                  <a:gd name="T34" fmla="*/ 1 w 31"/>
                  <a:gd name="T35" fmla="*/ 1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22"/>
                  <a:gd name="T56" fmla="*/ 31 w 31"/>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22">
                    <a:moveTo>
                      <a:pt x="9" y="8"/>
                    </a:moveTo>
                    <a:lnTo>
                      <a:pt x="22" y="0"/>
                    </a:lnTo>
                    <a:lnTo>
                      <a:pt x="19" y="0"/>
                    </a:lnTo>
                    <a:lnTo>
                      <a:pt x="14" y="0"/>
                    </a:lnTo>
                    <a:lnTo>
                      <a:pt x="8" y="0"/>
                    </a:lnTo>
                    <a:lnTo>
                      <a:pt x="0" y="0"/>
                    </a:lnTo>
                    <a:lnTo>
                      <a:pt x="6" y="22"/>
                    </a:lnTo>
                    <a:lnTo>
                      <a:pt x="8" y="22"/>
                    </a:lnTo>
                    <a:lnTo>
                      <a:pt x="14" y="22"/>
                    </a:lnTo>
                    <a:lnTo>
                      <a:pt x="19" y="22"/>
                    </a:lnTo>
                    <a:lnTo>
                      <a:pt x="31" y="14"/>
                    </a:lnTo>
                    <a:lnTo>
                      <a:pt x="19" y="22"/>
                    </a:lnTo>
                    <a:lnTo>
                      <a:pt x="26" y="19"/>
                    </a:lnTo>
                    <a:lnTo>
                      <a:pt x="31" y="13"/>
                    </a:lnTo>
                    <a:lnTo>
                      <a:pt x="30" y="5"/>
                    </a:lnTo>
                    <a:lnTo>
                      <a:pt x="22" y="0"/>
                    </a:lnTo>
                    <a:lnTo>
                      <a:pt x="9" y="8"/>
                    </a:lnTo>
                    <a:close/>
                  </a:path>
                </a:pathLst>
              </a:custGeom>
              <a:solidFill>
                <a:srgbClr val="000000"/>
              </a:solidFill>
              <a:ln w="9525">
                <a:noFill/>
                <a:round/>
                <a:headEnd/>
                <a:tailEnd/>
              </a:ln>
            </p:spPr>
            <p:txBody>
              <a:bodyPr/>
              <a:lstStyle/>
              <a:p>
                <a:endParaRPr lang="en-US"/>
              </a:p>
            </p:txBody>
          </p:sp>
          <p:sp>
            <p:nvSpPr>
              <p:cNvPr id="28907" name="Freeform 197"/>
              <p:cNvSpPr>
                <a:spLocks/>
              </p:cNvSpPr>
              <p:nvPr/>
            </p:nvSpPr>
            <p:spPr bwMode="auto">
              <a:xfrm>
                <a:off x="2223" y="3480"/>
                <a:ext cx="15" cy="22"/>
              </a:xfrm>
              <a:custGeom>
                <a:avLst/>
                <a:gdLst>
                  <a:gd name="T0" fmla="*/ 0 w 31"/>
                  <a:gd name="T1" fmla="*/ 0 h 44"/>
                  <a:gd name="T2" fmla="*/ 0 w 31"/>
                  <a:gd name="T3" fmla="*/ 0 h 44"/>
                  <a:gd name="T4" fmla="*/ 0 w 31"/>
                  <a:gd name="T5" fmla="*/ 1 h 44"/>
                  <a:gd name="T6" fmla="*/ 0 w 31"/>
                  <a:gd name="T7" fmla="*/ 1 h 44"/>
                  <a:gd name="T8" fmla="*/ 0 w 31"/>
                  <a:gd name="T9" fmla="*/ 1 h 44"/>
                  <a:gd name="T10" fmla="*/ 0 w 31"/>
                  <a:gd name="T11" fmla="*/ 1 h 44"/>
                  <a:gd name="T12" fmla="*/ 0 w 31"/>
                  <a:gd name="T13" fmla="*/ 1 h 44"/>
                  <a:gd name="T14" fmla="*/ 0 w 31"/>
                  <a:gd name="T15" fmla="*/ 1 h 44"/>
                  <a:gd name="T16" fmla="*/ 0 w 31"/>
                  <a:gd name="T17" fmla="*/ 1 h 44"/>
                  <a:gd name="T18" fmla="*/ 0 w 31"/>
                  <a:gd name="T19" fmla="*/ 1 h 44"/>
                  <a:gd name="T20" fmla="*/ 0 w 31"/>
                  <a:gd name="T21" fmla="*/ 0 h 44"/>
                  <a:gd name="T22" fmla="*/ 0 w 31"/>
                  <a:gd name="T23" fmla="*/ 0 h 44"/>
                  <a:gd name="T24" fmla="*/ 0 w 31"/>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44"/>
                  <a:gd name="T41" fmla="*/ 31 w 31"/>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44">
                    <a:moveTo>
                      <a:pt x="10" y="0"/>
                    </a:moveTo>
                    <a:lnTo>
                      <a:pt x="10" y="0"/>
                    </a:lnTo>
                    <a:lnTo>
                      <a:pt x="8" y="11"/>
                    </a:lnTo>
                    <a:lnTo>
                      <a:pt x="5" y="22"/>
                    </a:lnTo>
                    <a:lnTo>
                      <a:pt x="2" y="33"/>
                    </a:lnTo>
                    <a:lnTo>
                      <a:pt x="0" y="38"/>
                    </a:lnTo>
                    <a:lnTo>
                      <a:pt x="22" y="44"/>
                    </a:lnTo>
                    <a:lnTo>
                      <a:pt x="24" y="39"/>
                    </a:lnTo>
                    <a:lnTo>
                      <a:pt x="27" y="29"/>
                    </a:lnTo>
                    <a:lnTo>
                      <a:pt x="30" y="14"/>
                    </a:lnTo>
                    <a:lnTo>
                      <a:pt x="31" y="0"/>
                    </a:lnTo>
                    <a:lnTo>
                      <a:pt x="10" y="0"/>
                    </a:lnTo>
                    <a:close/>
                  </a:path>
                </a:pathLst>
              </a:custGeom>
              <a:solidFill>
                <a:srgbClr val="000000"/>
              </a:solidFill>
              <a:ln w="9525">
                <a:noFill/>
                <a:round/>
                <a:headEnd/>
                <a:tailEnd/>
              </a:ln>
            </p:spPr>
            <p:txBody>
              <a:bodyPr/>
              <a:lstStyle/>
              <a:p>
                <a:endParaRPr lang="en-US"/>
              </a:p>
            </p:txBody>
          </p:sp>
          <p:sp>
            <p:nvSpPr>
              <p:cNvPr id="28908" name="Freeform 198"/>
              <p:cNvSpPr>
                <a:spLocks/>
              </p:cNvSpPr>
              <p:nvPr/>
            </p:nvSpPr>
            <p:spPr bwMode="auto">
              <a:xfrm>
                <a:off x="2225" y="3418"/>
                <a:ext cx="16" cy="62"/>
              </a:xfrm>
              <a:custGeom>
                <a:avLst/>
                <a:gdLst>
                  <a:gd name="T0" fmla="*/ 0 w 31"/>
                  <a:gd name="T1" fmla="*/ 0 h 125"/>
                  <a:gd name="T2" fmla="*/ 0 w 31"/>
                  <a:gd name="T3" fmla="*/ 0 h 125"/>
                  <a:gd name="T4" fmla="*/ 1 w 31"/>
                  <a:gd name="T5" fmla="*/ 0 h 125"/>
                  <a:gd name="T6" fmla="*/ 1 w 31"/>
                  <a:gd name="T7" fmla="*/ 0 h 125"/>
                  <a:gd name="T8" fmla="*/ 1 w 31"/>
                  <a:gd name="T9" fmla="*/ 0 h 125"/>
                  <a:gd name="T10" fmla="*/ 1 w 31"/>
                  <a:gd name="T11" fmla="*/ 0 h 125"/>
                  <a:gd name="T12" fmla="*/ 1 w 31"/>
                  <a:gd name="T13" fmla="*/ 0 h 125"/>
                  <a:gd name="T14" fmla="*/ 1 w 31"/>
                  <a:gd name="T15" fmla="*/ 0 h 125"/>
                  <a:gd name="T16" fmla="*/ 1 w 31"/>
                  <a:gd name="T17" fmla="*/ 0 h 125"/>
                  <a:gd name="T18" fmla="*/ 1 w 31"/>
                  <a:gd name="T19" fmla="*/ 0 h 125"/>
                  <a:gd name="T20" fmla="*/ 1 w 31"/>
                  <a:gd name="T21" fmla="*/ 0 h 125"/>
                  <a:gd name="T22" fmla="*/ 1 w 31"/>
                  <a:gd name="T23" fmla="*/ 0 h 125"/>
                  <a:gd name="T24" fmla="*/ 1 w 31"/>
                  <a:gd name="T25" fmla="*/ 0 h 125"/>
                  <a:gd name="T26" fmla="*/ 1 w 31"/>
                  <a:gd name="T27" fmla="*/ 0 h 125"/>
                  <a:gd name="T28" fmla="*/ 1 w 31"/>
                  <a:gd name="T29" fmla="*/ 0 h 125"/>
                  <a:gd name="T30" fmla="*/ 1 w 31"/>
                  <a:gd name="T31" fmla="*/ 0 h 125"/>
                  <a:gd name="T32" fmla="*/ 1 w 31"/>
                  <a:gd name="T33" fmla="*/ 0 h 125"/>
                  <a:gd name="T34" fmla="*/ 1 w 31"/>
                  <a:gd name="T35" fmla="*/ 0 h 125"/>
                  <a:gd name="T36" fmla="*/ 1 w 31"/>
                  <a:gd name="T37" fmla="*/ 0 h 125"/>
                  <a:gd name="T38" fmla="*/ 1 w 31"/>
                  <a:gd name="T39" fmla="*/ 0 h 125"/>
                  <a:gd name="T40" fmla="*/ 0 w 31"/>
                  <a:gd name="T41" fmla="*/ 0 h 12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1"/>
                  <a:gd name="T64" fmla="*/ 0 h 125"/>
                  <a:gd name="T65" fmla="*/ 31 w 31"/>
                  <a:gd name="T66" fmla="*/ 125 h 12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1" h="125">
                    <a:moveTo>
                      <a:pt x="0" y="19"/>
                    </a:moveTo>
                    <a:lnTo>
                      <a:pt x="0" y="19"/>
                    </a:lnTo>
                    <a:lnTo>
                      <a:pt x="3" y="22"/>
                    </a:lnTo>
                    <a:lnTo>
                      <a:pt x="6" y="35"/>
                    </a:lnTo>
                    <a:lnTo>
                      <a:pt x="9" y="50"/>
                    </a:lnTo>
                    <a:lnTo>
                      <a:pt x="9" y="67"/>
                    </a:lnTo>
                    <a:lnTo>
                      <a:pt x="8" y="85"/>
                    </a:lnTo>
                    <a:lnTo>
                      <a:pt x="6" y="102"/>
                    </a:lnTo>
                    <a:lnTo>
                      <a:pt x="5" y="118"/>
                    </a:lnTo>
                    <a:lnTo>
                      <a:pt x="5" y="125"/>
                    </a:lnTo>
                    <a:lnTo>
                      <a:pt x="26" y="125"/>
                    </a:lnTo>
                    <a:lnTo>
                      <a:pt x="26" y="118"/>
                    </a:lnTo>
                    <a:lnTo>
                      <a:pt x="28" y="105"/>
                    </a:lnTo>
                    <a:lnTo>
                      <a:pt x="30" y="88"/>
                    </a:lnTo>
                    <a:lnTo>
                      <a:pt x="31" y="67"/>
                    </a:lnTo>
                    <a:lnTo>
                      <a:pt x="31" y="47"/>
                    </a:lnTo>
                    <a:lnTo>
                      <a:pt x="28" y="28"/>
                    </a:lnTo>
                    <a:lnTo>
                      <a:pt x="22" y="13"/>
                    </a:lnTo>
                    <a:lnTo>
                      <a:pt x="9" y="0"/>
                    </a:lnTo>
                    <a:lnTo>
                      <a:pt x="0" y="19"/>
                    </a:lnTo>
                    <a:close/>
                  </a:path>
                </a:pathLst>
              </a:custGeom>
              <a:solidFill>
                <a:srgbClr val="000000"/>
              </a:solidFill>
              <a:ln w="9525">
                <a:noFill/>
                <a:round/>
                <a:headEnd/>
                <a:tailEnd/>
              </a:ln>
            </p:spPr>
            <p:txBody>
              <a:bodyPr/>
              <a:lstStyle/>
              <a:p>
                <a:endParaRPr lang="en-US"/>
              </a:p>
            </p:txBody>
          </p:sp>
          <p:sp>
            <p:nvSpPr>
              <p:cNvPr id="28909" name="Freeform 199"/>
              <p:cNvSpPr>
                <a:spLocks/>
              </p:cNvSpPr>
              <p:nvPr/>
            </p:nvSpPr>
            <p:spPr bwMode="auto">
              <a:xfrm>
                <a:off x="2194" y="3411"/>
                <a:ext cx="36" cy="16"/>
              </a:xfrm>
              <a:custGeom>
                <a:avLst/>
                <a:gdLst>
                  <a:gd name="T0" fmla="*/ 0 w 72"/>
                  <a:gd name="T1" fmla="*/ 0 h 33"/>
                  <a:gd name="T2" fmla="*/ 0 w 72"/>
                  <a:gd name="T3" fmla="*/ 0 h 33"/>
                  <a:gd name="T4" fmla="*/ 1 w 72"/>
                  <a:gd name="T5" fmla="*/ 0 h 33"/>
                  <a:gd name="T6" fmla="*/ 1 w 72"/>
                  <a:gd name="T7" fmla="*/ 0 h 33"/>
                  <a:gd name="T8" fmla="*/ 1 w 72"/>
                  <a:gd name="T9" fmla="*/ 0 h 33"/>
                  <a:gd name="T10" fmla="*/ 1 w 72"/>
                  <a:gd name="T11" fmla="*/ 0 h 33"/>
                  <a:gd name="T12" fmla="*/ 1 w 72"/>
                  <a:gd name="T13" fmla="*/ 0 h 33"/>
                  <a:gd name="T14" fmla="*/ 1 w 72"/>
                  <a:gd name="T15" fmla="*/ 0 h 33"/>
                  <a:gd name="T16" fmla="*/ 1 w 72"/>
                  <a:gd name="T17" fmla="*/ 0 h 33"/>
                  <a:gd name="T18" fmla="*/ 1 w 72"/>
                  <a:gd name="T19" fmla="*/ 0 h 33"/>
                  <a:gd name="T20" fmla="*/ 1 w 72"/>
                  <a:gd name="T21" fmla="*/ 0 h 33"/>
                  <a:gd name="T22" fmla="*/ 1 w 72"/>
                  <a:gd name="T23" fmla="*/ 0 h 33"/>
                  <a:gd name="T24" fmla="*/ 1 w 72"/>
                  <a:gd name="T25" fmla="*/ 0 h 33"/>
                  <a:gd name="T26" fmla="*/ 1 w 72"/>
                  <a:gd name="T27" fmla="*/ 0 h 33"/>
                  <a:gd name="T28" fmla="*/ 1 w 72"/>
                  <a:gd name="T29" fmla="*/ 0 h 33"/>
                  <a:gd name="T30" fmla="*/ 1 w 72"/>
                  <a:gd name="T31" fmla="*/ 0 h 33"/>
                  <a:gd name="T32" fmla="*/ 1 w 72"/>
                  <a:gd name="T33" fmla="*/ 0 h 33"/>
                  <a:gd name="T34" fmla="*/ 1 w 72"/>
                  <a:gd name="T35" fmla="*/ 0 h 33"/>
                  <a:gd name="T36" fmla="*/ 0 w 72"/>
                  <a:gd name="T37" fmla="*/ 0 h 33"/>
                  <a:gd name="T38" fmla="*/ 0 w 72"/>
                  <a:gd name="T39" fmla="*/ 0 h 33"/>
                  <a:gd name="T40" fmla="*/ 0 w 72"/>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3"/>
                  <a:gd name="T65" fmla="*/ 72 w 72"/>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3">
                    <a:moveTo>
                      <a:pt x="0" y="22"/>
                    </a:moveTo>
                    <a:lnTo>
                      <a:pt x="0" y="22"/>
                    </a:lnTo>
                    <a:lnTo>
                      <a:pt x="5" y="22"/>
                    </a:lnTo>
                    <a:lnTo>
                      <a:pt x="13" y="22"/>
                    </a:lnTo>
                    <a:lnTo>
                      <a:pt x="19" y="22"/>
                    </a:lnTo>
                    <a:lnTo>
                      <a:pt x="27" y="24"/>
                    </a:lnTo>
                    <a:lnTo>
                      <a:pt x="36" y="25"/>
                    </a:lnTo>
                    <a:lnTo>
                      <a:pt x="44" y="27"/>
                    </a:lnTo>
                    <a:lnTo>
                      <a:pt x="55" y="30"/>
                    </a:lnTo>
                    <a:lnTo>
                      <a:pt x="63" y="33"/>
                    </a:lnTo>
                    <a:lnTo>
                      <a:pt x="72" y="14"/>
                    </a:lnTo>
                    <a:lnTo>
                      <a:pt x="61" y="8"/>
                    </a:lnTo>
                    <a:lnTo>
                      <a:pt x="50" y="5"/>
                    </a:lnTo>
                    <a:lnTo>
                      <a:pt x="39" y="3"/>
                    </a:lnTo>
                    <a:lnTo>
                      <a:pt x="30" y="2"/>
                    </a:lnTo>
                    <a:lnTo>
                      <a:pt x="22" y="0"/>
                    </a:lnTo>
                    <a:lnTo>
                      <a:pt x="13" y="0"/>
                    </a:lnTo>
                    <a:lnTo>
                      <a:pt x="5" y="0"/>
                    </a:lnTo>
                    <a:lnTo>
                      <a:pt x="0" y="0"/>
                    </a:lnTo>
                    <a:lnTo>
                      <a:pt x="0" y="22"/>
                    </a:lnTo>
                    <a:close/>
                  </a:path>
                </a:pathLst>
              </a:custGeom>
              <a:solidFill>
                <a:srgbClr val="000000"/>
              </a:solidFill>
              <a:ln w="9525">
                <a:noFill/>
                <a:round/>
                <a:headEnd/>
                <a:tailEnd/>
              </a:ln>
            </p:spPr>
            <p:txBody>
              <a:bodyPr/>
              <a:lstStyle/>
              <a:p>
                <a:endParaRPr lang="en-US"/>
              </a:p>
            </p:txBody>
          </p:sp>
          <p:sp>
            <p:nvSpPr>
              <p:cNvPr id="28910" name="Freeform 200"/>
              <p:cNvSpPr>
                <a:spLocks/>
              </p:cNvSpPr>
              <p:nvPr/>
            </p:nvSpPr>
            <p:spPr bwMode="auto">
              <a:xfrm>
                <a:off x="2149" y="3411"/>
                <a:ext cx="45" cy="18"/>
              </a:xfrm>
              <a:custGeom>
                <a:avLst/>
                <a:gdLst>
                  <a:gd name="T0" fmla="*/ 1 w 89"/>
                  <a:gd name="T1" fmla="*/ 0 h 38"/>
                  <a:gd name="T2" fmla="*/ 1 w 89"/>
                  <a:gd name="T3" fmla="*/ 0 h 38"/>
                  <a:gd name="T4" fmla="*/ 1 w 89"/>
                  <a:gd name="T5" fmla="*/ 0 h 38"/>
                  <a:gd name="T6" fmla="*/ 1 w 89"/>
                  <a:gd name="T7" fmla="*/ 0 h 38"/>
                  <a:gd name="T8" fmla="*/ 1 w 89"/>
                  <a:gd name="T9" fmla="*/ 0 h 38"/>
                  <a:gd name="T10" fmla="*/ 1 w 89"/>
                  <a:gd name="T11" fmla="*/ 0 h 38"/>
                  <a:gd name="T12" fmla="*/ 1 w 89"/>
                  <a:gd name="T13" fmla="*/ 0 h 38"/>
                  <a:gd name="T14" fmla="*/ 1 w 89"/>
                  <a:gd name="T15" fmla="*/ 0 h 38"/>
                  <a:gd name="T16" fmla="*/ 1 w 89"/>
                  <a:gd name="T17" fmla="*/ 0 h 38"/>
                  <a:gd name="T18" fmla="*/ 1 w 89"/>
                  <a:gd name="T19" fmla="*/ 0 h 38"/>
                  <a:gd name="T20" fmla="*/ 1 w 89"/>
                  <a:gd name="T21" fmla="*/ 0 h 38"/>
                  <a:gd name="T22" fmla="*/ 1 w 89"/>
                  <a:gd name="T23" fmla="*/ 0 h 38"/>
                  <a:gd name="T24" fmla="*/ 1 w 89"/>
                  <a:gd name="T25" fmla="*/ 0 h 38"/>
                  <a:gd name="T26" fmla="*/ 1 w 89"/>
                  <a:gd name="T27" fmla="*/ 0 h 38"/>
                  <a:gd name="T28" fmla="*/ 1 w 89"/>
                  <a:gd name="T29" fmla="*/ 0 h 38"/>
                  <a:gd name="T30" fmla="*/ 1 w 89"/>
                  <a:gd name="T31" fmla="*/ 0 h 38"/>
                  <a:gd name="T32" fmla="*/ 1 w 89"/>
                  <a:gd name="T33" fmla="*/ 0 h 38"/>
                  <a:gd name="T34" fmla="*/ 1 w 89"/>
                  <a:gd name="T35" fmla="*/ 0 h 38"/>
                  <a:gd name="T36" fmla="*/ 0 w 89"/>
                  <a:gd name="T37" fmla="*/ 0 h 38"/>
                  <a:gd name="T38" fmla="*/ 0 w 89"/>
                  <a:gd name="T39" fmla="*/ 0 h 38"/>
                  <a:gd name="T40" fmla="*/ 1 w 89"/>
                  <a:gd name="T41" fmla="*/ 0 h 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9"/>
                  <a:gd name="T64" fmla="*/ 0 h 38"/>
                  <a:gd name="T65" fmla="*/ 89 w 89"/>
                  <a:gd name="T66" fmla="*/ 38 h 3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9" h="38">
                    <a:moveTo>
                      <a:pt x="19" y="38"/>
                    </a:moveTo>
                    <a:lnTo>
                      <a:pt x="19" y="38"/>
                    </a:lnTo>
                    <a:lnTo>
                      <a:pt x="23" y="33"/>
                    </a:lnTo>
                    <a:lnTo>
                      <a:pt x="30" y="28"/>
                    </a:lnTo>
                    <a:lnTo>
                      <a:pt x="39" y="27"/>
                    </a:lnTo>
                    <a:lnTo>
                      <a:pt x="52" y="24"/>
                    </a:lnTo>
                    <a:lnTo>
                      <a:pt x="63" y="22"/>
                    </a:lnTo>
                    <a:lnTo>
                      <a:pt x="74" y="22"/>
                    </a:lnTo>
                    <a:lnTo>
                      <a:pt x="83" y="22"/>
                    </a:lnTo>
                    <a:lnTo>
                      <a:pt x="89" y="22"/>
                    </a:lnTo>
                    <a:lnTo>
                      <a:pt x="89" y="0"/>
                    </a:lnTo>
                    <a:lnTo>
                      <a:pt x="83" y="0"/>
                    </a:lnTo>
                    <a:lnTo>
                      <a:pt x="74" y="0"/>
                    </a:lnTo>
                    <a:lnTo>
                      <a:pt x="63" y="0"/>
                    </a:lnTo>
                    <a:lnTo>
                      <a:pt x="49" y="2"/>
                    </a:lnTo>
                    <a:lnTo>
                      <a:pt x="33" y="5"/>
                    </a:lnTo>
                    <a:lnTo>
                      <a:pt x="20" y="10"/>
                    </a:lnTo>
                    <a:lnTo>
                      <a:pt x="8" y="17"/>
                    </a:lnTo>
                    <a:lnTo>
                      <a:pt x="0" y="28"/>
                    </a:lnTo>
                    <a:lnTo>
                      <a:pt x="19" y="38"/>
                    </a:lnTo>
                    <a:close/>
                  </a:path>
                </a:pathLst>
              </a:custGeom>
              <a:solidFill>
                <a:srgbClr val="000000"/>
              </a:solidFill>
              <a:ln w="9525">
                <a:noFill/>
                <a:round/>
                <a:headEnd/>
                <a:tailEnd/>
              </a:ln>
            </p:spPr>
            <p:txBody>
              <a:bodyPr/>
              <a:lstStyle/>
              <a:p>
                <a:endParaRPr lang="en-US"/>
              </a:p>
            </p:txBody>
          </p:sp>
          <p:sp>
            <p:nvSpPr>
              <p:cNvPr id="28911" name="Freeform 201"/>
              <p:cNvSpPr>
                <a:spLocks/>
              </p:cNvSpPr>
              <p:nvPr/>
            </p:nvSpPr>
            <p:spPr bwMode="auto">
              <a:xfrm>
                <a:off x="2147" y="3425"/>
                <a:ext cx="15" cy="31"/>
              </a:xfrm>
              <a:custGeom>
                <a:avLst/>
                <a:gdLst>
                  <a:gd name="T0" fmla="*/ 1 w 30"/>
                  <a:gd name="T1" fmla="*/ 0 h 63"/>
                  <a:gd name="T2" fmla="*/ 1 w 30"/>
                  <a:gd name="T3" fmla="*/ 0 h 63"/>
                  <a:gd name="T4" fmla="*/ 1 w 30"/>
                  <a:gd name="T5" fmla="*/ 0 h 63"/>
                  <a:gd name="T6" fmla="*/ 1 w 30"/>
                  <a:gd name="T7" fmla="*/ 0 h 63"/>
                  <a:gd name="T8" fmla="*/ 1 w 30"/>
                  <a:gd name="T9" fmla="*/ 0 h 63"/>
                  <a:gd name="T10" fmla="*/ 1 w 30"/>
                  <a:gd name="T11" fmla="*/ 0 h 63"/>
                  <a:gd name="T12" fmla="*/ 1 w 30"/>
                  <a:gd name="T13" fmla="*/ 0 h 63"/>
                  <a:gd name="T14" fmla="*/ 1 w 30"/>
                  <a:gd name="T15" fmla="*/ 0 h 63"/>
                  <a:gd name="T16" fmla="*/ 1 w 30"/>
                  <a:gd name="T17" fmla="*/ 0 h 63"/>
                  <a:gd name="T18" fmla="*/ 1 w 30"/>
                  <a:gd name="T19" fmla="*/ 0 h 63"/>
                  <a:gd name="T20" fmla="*/ 1 w 30"/>
                  <a:gd name="T21" fmla="*/ 0 h 63"/>
                  <a:gd name="T22" fmla="*/ 0 w 30"/>
                  <a:gd name="T23" fmla="*/ 0 h 63"/>
                  <a:gd name="T24" fmla="*/ 0 w 30"/>
                  <a:gd name="T25" fmla="*/ 0 h 63"/>
                  <a:gd name="T26" fmla="*/ 0 w 30"/>
                  <a:gd name="T27" fmla="*/ 0 h 63"/>
                  <a:gd name="T28" fmla="*/ 1 w 30"/>
                  <a:gd name="T29" fmla="*/ 0 h 63"/>
                  <a:gd name="T30" fmla="*/ 1 w 30"/>
                  <a:gd name="T31" fmla="*/ 0 h 63"/>
                  <a:gd name="T32" fmla="*/ 1 w 30"/>
                  <a:gd name="T33" fmla="*/ 0 h 63"/>
                  <a:gd name="T34" fmla="*/ 1 w 30"/>
                  <a:gd name="T35" fmla="*/ 0 h 63"/>
                  <a:gd name="T36" fmla="*/ 1 w 30"/>
                  <a:gd name="T37" fmla="*/ 0 h 63"/>
                  <a:gd name="T38" fmla="*/ 1 w 30"/>
                  <a:gd name="T39" fmla="*/ 0 h 63"/>
                  <a:gd name="T40" fmla="*/ 1 w 30"/>
                  <a:gd name="T41" fmla="*/ 0 h 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63"/>
                  <a:gd name="T65" fmla="*/ 30 w 30"/>
                  <a:gd name="T66" fmla="*/ 63 h 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63">
                    <a:moveTo>
                      <a:pt x="30" y="50"/>
                    </a:moveTo>
                    <a:lnTo>
                      <a:pt x="30" y="50"/>
                    </a:lnTo>
                    <a:lnTo>
                      <a:pt x="28" y="47"/>
                    </a:lnTo>
                    <a:lnTo>
                      <a:pt x="25" y="44"/>
                    </a:lnTo>
                    <a:lnTo>
                      <a:pt x="25" y="39"/>
                    </a:lnTo>
                    <a:lnTo>
                      <a:pt x="24" y="33"/>
                    </a:lnTo>
                    <a:lnTo>
                      <a:pt x="22" y="27"/>
                    </a:lnTo>
                    <a:lnTo>
                      <a:pt x="22" y="21"/>
                    </a:lnTo>
                    <a:lnTo>
                      <a:pt x="22" y="14"/>
                    </a:lnTo>
                    <a:lnTo>
                      <a:pt x="24" y="10"/>
                    </a:lnTo>
                    <a:lnTo>
                      <a:pt x="5" y="0"/>
                    </a:lnTo>
                    <a:lnTo>
                      <a:pt x="0" y="11"/>
                    </a:lnTo>
                    <a:lnTo>
                      <a:pt x="0" y="21"/>
                    </a:lnTo>
                    <a:lnTo>
                      <a:pt x="0" y="30"/>
                    </a:lnTo>
                    <a:lnTo>
                      <a:pt x="2" y="39"/>
                    </a:lnTo>
                    <a:lnTo>
                      <a:pt x="3" y="46"/>
                    </a:lnTo>
                    <a:lnTo>
                      <a:pt x="7" y="53"/>
                    </a:lnTo>
                    <a:lnTo>
                      <a:pt x="10" y="60"/>
                    </a:lnTo>
                    <a:lnTo>
                      <a:pt x="11" y="63"/>
                    </a:lnTo>
                    <a:lnTo>
                      <a:pt x="30" y="50"/>
                    </a:lnTo>
                    <a:close/>
                  </a:path>
                </a:pathLst>
              </a:custGeom>
              <a:solidFill>
                <a:srgbClr val="000000"/>
              </a:solidFill>
              <a:ln w="9525">
                <a:noFill/>
                <a:round/>
                <a:headEnd/>
                <a:tailEnd/>
              </a:ln>
            </p:spPr>
            <p:txBody>
              <a:bodyPr/>
              <a:lstStyle/>
              <a:p>
                <a:endParaRPr lang="en-US"/>
              </a:p>
            </p:txBody>
          </p:sp>
          <p:sp>
            <p:nvSpPr>
              <p:cNvPr id="28912" name="Freeform 202"/>
              <p:cNvSpPr>
                <a:spLocks/>
              </p:cNvSpPr>
              <p:nvPr/>
            </p:nvSpPr>
            <p:spPr bwMode="auto">
              <a:xfrm>
                <a:off x="2152" y="3450"/>
                <a:ext cx="17" cy="18"/>
              </a:xfrm>
              <a:custGeom>
                <a:avLst/>
                <a:gdLst>
                  <a:gd name="T0" fmla="*/ 0 w 35"/>
                  <a:gd name="T1" fmla="*/ 0 h 38"/>
                  <a:gd name="T2" fmla="*/ 0 w 35"/>
                  <a:gd name="T3" fmla="*/ 0 h 38"/>
                  <a:gd name="T4" fmla="*/ 0 w 35"/>
                  <a:gd name="T5" fmla="*/ 0 h 38"/>
                  <a:gd name="T6" fmla="*/ 0 w 35"/>
                  <a:gd name="T7" fmla="*/ 0 h 38"/>
                  <a:gd name="T8" fmla="*/ 0 w 35"/>
                  <a:gd name="T9" fmla="*/ 0 h 38"/>
                  <a:gd name="T10" fmla="*/ 0 w 35"/>
                  <a:gd name="T11" fmla="*/ 0 h 38"/>
                  <a:gd name="T12" fmla="*/ 0 w 35"/>
                  <a:gd name="T13" fmla="*/ 0 h 38"/>
                  <a:gd name="T14" fmla="*/ 0 w 35"/>
                  <a:gd name="T15" fmla="*/ 0 h 38"/>
                  <a:gd name="T16" fmla="*/ 0 w 35"/>
                  <a:gd name="T17" fmla="*/ 0 h 38"/>
                  <a:gd name="T18" fmla="*/ 0 w 35"/>
                  <a:gd name="T19" fmla="*/ 0 h 38"/>
                  <a:gd name="T20" fmla="*/ 0 w 35"/>
                  <a:gd name="T21" fmla="*/ 0 h 38"/>
                  <a:gd name="T22" fmla="*/ 0 w 35"/>
                  <a:gd name="T23" fmla="*/ 0 h 38"/>
                  <a:gd name="T24" fmla="*/ 0 w 35"/>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38"/>
                  <a:gd name="T41" fmla="*/ 35 w 35"/>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38">
                    <a:moveTo>
                      <a:pt x="35" y="35"/>
                    </a:moveTo>
                    <a:lnTo>
                      <a:pt x="35" y="38"/>
                    </a:lnTo>
                    <a:lnTo>
                      <a:pt x="33" y="25"/>
                    </a:lnTo>
                    <a:lnTo>
                      <a:pt x="28" y="16"/>
                    </a:lnTo>
                    <a:lnTo>
                      <a:pt x="24" y="7"/>
                    </a:lnTo>
                    <a:lnTo>
                      <a:pt x="19" y="0"/>
                    </a:lnTo>
                    <a:lnTo>
                      <a:pt x="0" y="13"/>
                    </a:lnTo>
                    <a:lnTo>
                      <a:pt x="5" y="19"/>
                    </a:lnTo>
                    <a:lnTo>
                      <a:pt x="10" y="25"/>
                    </a:lnTo>
                    <a:lnTo>
                      <a:pt x="11" y="32"/>
                    </a:lnTo>
                    <a:lnTo>
                      <a:pt x="13" y="32"/>
                    </a:lnTo>
                    <a:lnTo>
                      <a:pt x="13" y="35"/>
                    </a:lnTo>
                    <a:lnTo>
                      <a:pt x="35" y="35"/>
                    </a:lnTo>
                    <a:close/>
                  </a:path>
                </a:pathLst>
              </a:custGeom>
              <a:solidFill>
                <a:srgbClr val="000000"/>
              </a:solidFill>
              <a:ln w="9525">
                <a:noFill/>
                <a:round/>
                <a:headEnd/>
                <a:tailEnd/>
              </a:ln>
            </p:spPr>
            <p:txBody>
              <a:bodyPr/>
              <a:lstStyle/>
              <a:p>
                <a:endParaRPr lang="en-US"/>
              </a:p>
            </p:txBody>
          </p:sp>
          <p:sp>
            <p:nvSpPr>
              <p:cNvPr id="28913" name="Freeform 203"/>
              <p:cNvSpPr>
                <a:spLocks/>
              </p:cNvSpPr>
              <p:nvPr/>
            </p:nvSpPr>
            <p:spPr bwMode="auto">
              <a:xfrm>
                <a:off x="2158" y="3467"/>
                <a:ext cx="11" cy="15"/>
              </a:xfrm>
              <a:custGeom>
                <a:avLst/>
                <a:gdLst>
                  <a:gd name="T0" fmla="*/ 1 w 22"/>
                  <a:gd name="T1" fmla="*/ 1 h 30"/>
                  <a:gd name="T2" fmla="*/ 1 w 22"/>
                  <a:gd name="T3" fmla="*/ 1 h 30"/>
                  <a:gd name="T4" fmla="*/ 1 w 22"/>
                  <a:gd name="T5" fmla="*/ 1 h 30"/>
                  <a:gd name="T6" fmla="*/ 1 w 22"/>
                  <a:gd name="T7" fmla="*/ 1 h 30"/>
                  <a:gd name="T8" fmla="*/ 1 w 22"/>
                  <a:gd name="T9" fmla="*/ 1 h 30"/>
                  <a:gd name="T10" fmla="*/ 1 w 22"/>
                  <a:gd name="T11" fmla="*/ 0 h 30"/>
                  <a:gd name="T12" fmla="*/ 0 w 22"/>
                  <a:gd name="T13" fmla="*/ 0 h 30"/>
                  <a:gd name="T14" fmla="*/ 0 w 22"/>
                  <a:gd name="T15" fmla="*/ 1 h 30"/>
                  <a:gd name="T16" fmla="*/ 0 w 22"/>
                  <a:gd name="T17" fmla="*/ 1 h 30"/>
                  <a:gd name="T18" fmla="*/ 0 w 22"/>
                  <a:gd name="T19" fmla="*/ 1 h 30"/>
                  <a:gd name="T20" fmla="*/ 0 w 22"/>
                  <a:gd name="T21" fmla="*/ 1 h 30"/>
                  <a:gd name="T22" fmla="*/ 1 w 22"/>
                  <a:gd name="T23" fmla="*/ 1 h 30"/>
                  <a:gd name="T24" fmla="*/ 0 w 22"/>
                  <a:gd name="T25" fmla="*/ 1 h 30"/>
                  <a:gd name="T26" fmla="*/ 1 w 22"/>
                  <a:gd name="T27" fmla="*/ 1 h 30"/>
                  <a:gd name="T28" fmla="*/ 1 w 22"/>
                  <a:gd name="T29" fmla="*/ 1 h 30"/>
                  <a:gd name="T30" fmla="*/ 1 w 22"/>
                  <a:gd name="T31" fmla="*/ 1 h 30"/>
                  <a:gd name="T32" fmla="*/ 1 w 22"/>
                  <a:gd name="T33" fmla="*/ 1 h 30"/>
                  <a:gd name="T34" fmla="*/ 1 w 22"/>
                  <a:gd name="T35" fmla="*/ 1 h 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
                  <a:gd name="T55" fmla="*/ 0 h 30"/>
                  <a:gd name="T56" fmla="*/ 22 w 22"/>
                  <a:gd name="T57" fmla="*/ 30 h 3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 h="30">
                    <a:moveTo>
                      <a:pt x="12" y="8"/>
                    </a:moveTo>
                    <a:lnTo>
                      <a:pt x="22" y="19"/>
                    </a:lnTo>
                    <a:lnTo>
                      <a:pt x="22" y="17"/>
                    </a:lnTo>
                    <a:lnTo>
                      <a:pt x="22" y="11"/>
                    </a:lnTo>
                    <a:lnTo>
                      <a:pt x="22" y="4"/>
                    </a:lnTo>
                    <a:lnTo>
                      <a:pt x="22" y="0"/>
                    </a:lnTo>
                    <a:lnTo>
                      <a:pt x="0" y="0"/>
                    </a:lnTo>
                    <a:lnTo>
                      <a:pt x="0" y="4"/>
                    </a:lnTo>
                    <a:lnTo>
                      <a:pt x="0" y="11"/>
                    </a:lnTo>
                    <a:lnTo>
                      <a:pt x="0" y="17"/>
                    </a:lnTo>
                    <a:lnTo>
                      <a:pt x="0" y="19"/>
                    </a:lnTo>
                    <a:lnTo>
                      <a:pt x="9" y="30"/>
                    </a:lnTo>
                    <a:lnTo>
                      <a:pt x="0" y="19"/>
                    </a:lnTo>
                    <a:lnTo>
                      <a:pt x="3" y="26"/>
                    </a:lnTo>
                    <a:lnTo>
                      <a:pt x="11" y="30"/>
                    </a:lnTo>
                    <a:lnTo>
                      <a:pt x="19" y="26"/>
                    </a:lnTo>
                    <a:lnTo>
                      <a:pt x="22" y="19"/>
                    </a:lnTo>
                    <a:lnTo>
                      <a:pt x="12" y="8"/>
                    </a:lnTo>
                    <a:close/>
                  </a:path>
                </a:pathLst>
              </a:custGeom>
              <a:solidFill>
                <a:srgbClr val="000000"/>
              </a:solidFill>
              <a:ln w="9525">
                <a:noFill/>
                <a:round/>
                <a:headEnd/>
                <a:tailEnd/>
              </a:ln>
            </p:spPr>
            <p:txBody>
              <a:bodyPr/>
              <a:lstStyle/>
              <a:p>
                <a:endParaRPr lang="en-US"/>
              </a:p>
            </p:txBody>
          </p:sp>
          <p:sp>
            <p:nvSpPr>
              <p:cNvPr id="28914" name="Freeform 204"/>
              <p:cNvSpPr>
                <a:spLocks/>
              </p:cNvSpPr>
              <p:nvPr/>
            </p:nvSpPr>
            <p:spPr bwMode="auto">
              <a:xfrm>
                <a:off x="2163" y="3471"/>
                <a:ext cx="12" cy="12"/>
              </a:xfrm>
              <a:custGeom>
                <a:avLst/>
                <a:gdLst>
                  <a:gd name="T0" fmla="*/ 1 w 24"/>
                  <a:gd name="T1" fmla="*/ 0 h 25"/>
                  <a:gd name="T2" fmla="*/ 1 w 24"/>
                  <a:gd name="T3" fmla="*/ 0 h 25"/>
                  <a:gd name="T4" fmla="*/ 1 w 24"/>
                  <a:gd name="T5" fmla="*/ 0 h 25"/>
                  <a:gd name="T6" fmla="*/ 1 w 24"/>
                  <a:gd name="T7" fmla="*/ 0 h 25"/>
                  <a:gd name="T8" fmla="*/ 1 w 24"/>
                  <a:gd name="T9" fmla="*/ 0 h 25"/>
                  <a:gd name="T10" fmla="*/ 1 w 24"/>
                  <a:gd name="T11" fmla="*/ 0 h 25"/>
                  <a:gd name="T12" fmla="*/ 0 w 24"/>
                  <a:gd name="T13" fmla="*/ 0 h 25"/>
                  <a:gd name="T14" fmla="*/ 0 w 24"/>
                  <a:gd name="T15" fmla="*/ 0 h 25"/>
                  <a:gd name="T16" fmla="*/ 1 w 24"/>
                  <a:gd name="T17" fmla="*/ 0 h 25"/>
                  <a:gd name="T18" fmla="*/ 1 w 24"/>
                  <a:gd name="T19" fmla="*/ 0 h 25"/>
                  <a:gd name="T20" fmla="*/ 1 w 24"/>
                  <a:gd name="T21" fmla="*/ 0 h 25"/>
                  <a:gd name="T22" fmla="*/ 1 w 24"/>
                  <a:gd name="T23" fmla="*/ 0 h 25"/>
                  <a:gd name="T24" fmla="*/ 1 w 24"/>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5"/>
                  <a:gd name="T41" fmla="*/ 24 w 24"/>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5">
                    <a:moveTo>
                      <a:pt x="24" y="4"/>
                    </a:moveTo>
                    <a:lnTo>
                      <a:pt x="21" y="3"/>
                    </a:lnTo>
                    <a:lnTo>
                      <a:pt x="14" y="1"/>
                    </a:lnTo>
                    <a:lnTo>
                      <a:pt x="10" y="1"/>
                    </a:lnTo>
                    <a:lnTo>
                      <a:pt x="6" y="0"/>
                    </a:lnTo>
                    <a:lnTo>
                      <a:pt x="3" y="0"/>
                    </a:lnTo>
                    <a:lnTo>
                      <a:pt x="0" y="22"/>
                    </a:lnTo>
                    <a:lnTo>
                      <a:pt x="6" y="23"/>
                    </a:lnTo>
                    <a:lnTo>
                      <a:pt x="11" y="23"/>
                    </a:lnTo>
                    <a:lnTo>
                      <a:pt x="17" y="25"/>
                    </a:lnTo>
                    <a:lnTo>
                      <a:pt x="14" y="23"/>
                    </a:lnTo>
                    <a:lnTo>
                      <a:pt x="24" y="4"/>
                    </a:lnTo>
                    <a:close/>
                  </a:path>
                </a:pathLst>
              </a:custGeom>
              <a:solidFill>
                <a:srgbClr val="000000"/>
              </a:solidFill>
              <a:ln w="9525">
                <a:noFill/>
                <a:round/>
                <a:headEnd/>
                <a:tailEnd/>
              </a:ln>
            </p:spPr>
            <p:txBody>
              <a:bodyPr/>
              <a:lstStyle/>
              <a:p>
                <a:endParaRPr lang="en-US"/>
              </a:p>
            </p:txBody>
          </p:sp>
          <p:sp>
            <p:nvSpPr>
              <p:cNvPr id="28915" name="Freeform 205"/>
              <p:cNvSpPr>
                <a:spLocks/>
              </p:cNvSpPr>
              <p:nvPr/>
            </p:nvSpPr>
            <p:spPr bwMode="auto">
              <a:xfrm>
                <a:off x="2170" y="3473"/>
                <a:ext cx="16" cy="20"/>
              </a:xfrm>
              <a:custGeom>
                <a:avLst/>
                <a:gdLst>
                  <a:gd name="T0" fmla="*/ 1 w 32"/>
                  <a:gd name="T1" fmla="*/ 0 h 41"/>
                  <a:gd name="T2" fmla="*/ 1 w 32"/>
                  <a:gd name="T3" fmla="*/ 0 h 41"/>
                  <a:gd name="T4" fmla="*/ 1 w 32"/>
                  <a:gd name="T5" fmla="*/ 0 h 41"/>
                  <a:gd name="T6" fmla="*/ 1 w 32"/>
                  <a:gd name="T7" fmla="*/ 0 h 41"/>
                  <a:gd name="T8" fmla="*/ 1 w 32"/>
                  <a:gd name="T9" fmla="*/ 0 h 41"/>
                  <a:gd name="T10" fmla="*/ 1 w 32"/>
                  <a:gd name="T11" fmla="*/ 0 h 41"/>
                  <a:gd name="T12" fmla="*/ 0 w 32"/>
                  <a:gd name="T13" fmla="*/ 0 h 41"/>
                  <a:gd name="T14" fmla="*/ 1 w 32"/>
                  <a:gd name="T15" fmla="*/ 0 h 41"/>
                  <a:gd name="T16" fmla="*/ 1 w 32"/>
                  <a:gd name="T17" fmla="*/ 0 h 41"/>
                  <a:gd name="T18" fmla="*/ 1 w 32"/>
                  <a:gd name="T19" fmla="*/ 0 h 41"/>
                  <a:gd name="T20" fmla="*/ 1 w 32"/>
                  <a:gd name="T21" fmla="*/ 0 h 41"/>
                  <a:gd name="T22" fmla="*/ 1 w 32"/>
                  <a:gd name="T23" fmla="*/ 0 h 41"/>
                  <a:gd name="T24" fmla="*/ 1 w 32"/>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
                  <a:gd name="T40" fmla="*/ 0 h 41"/>
                  <a:gd name="T41" fmla="*/ 32 w 32"/>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 h="41">
                    <a:moveTo>
                      <a:pt x="32" y="35"/>
                    </a:moveTo>
                    <a:lnTo>
                      <a:pt x="32" y="35"/>
                    </a:lnTo>
                    <a:lnTo>
                      <a:pt x="27" y="24"/>
                    </a:lnTo>
                    <a:lnTo>
                      <a:pt x="22" y="14"/>
                    </a:lnTo>
                    <a:lnTo>
                      <a:pt x="17" y="7"/>
                    </a:lnTo>
                    <a:lnTo>
                      <a:pt x="10" y="0"/>
                    </a:lnTo>
                    <a:lnTo>
                      <a:pt x="0" y="19"/>
                    </a:lnTo>
                    <a:lnTo>
                      <a:pt x="2" y="19"/>
                    </a:lnTo>
                    <a:lnTo>
                      <a:pt x="3" y="24"/>
                    </a:lnTo>
                    <a:lnTo>
                      <a:pt x="8" y="33"/>
                    </a:lnTo>
                    <a:lnTo>
                      <a:pt x="10" y="41"/>
                    </a:lnTo>
                    <a:lnTo>
                      <a:pt x="32" y="35"/>
                    </a:lnTo>
                    <a:close/>
                  </a:path>
                </a:pathLst>
              </a:custGeom>
              <a:solidFill>
                <a:srgbClr val="000000"/>
              </a:solidFill>
              <a:ln w="9525">
                <a:noFill/>
                <a:round/>
                <a:headEnd/>
                <a:tailEnd/>
              </a:ln>
            </p:spPr>
            <p:txBody>
              <a:bodyPr/>
              <a:lstStyle/>
              <a:p>
                <a:endParaRPr lang="en-US"/>
              </a:p>
            </p:txBody>
          </p:sp>
          <p:sp>
            <p:nvSpPr>
              <p:cNvPr id="28916" name="Freeform 206"/>
              <p:cNvSpPr>
                <a:spLocks/>
              </p:cNvSpPr>
              <p:nvPr/>
            </p:nvSpPr>
            <p:spPr bwMode="auto">
              <a:xfrm>
                <a:off x="2175" y="3490"/>
                <a:ext cx="19" cy="21"/>
              </a:xfrm>
              <a:custGeom>
                <a:avLst/>
                <a:gdLst>
                  <a:gd name="T0" fmla="*/ 1 w 37"/>
                  <a:gd name="T1" fmla="*/ 1 h 42"/>
                  <a:gd name="T2" fmla="*/ 1 w 37"/>
                  <a:gd name="T3" fmla="*/ 1 h 42"/>
                  <a:gd name="T4" fmla="*/ 1 w 37"/>
                  <a:gd name="T5" fmla="*/ 1 h 42"/>
                  <a:gd name="T6" fmla="*/ 1 w 37"/>
                  <a:gd name="T7" fmla="*/ 1 h 42"/>
                  <a:gd name="T8" fmla="*/ 1 w 37"/>
                  <a:gd name="T9" fmla="*/ 1 h 42"/>
                  <a:gd name="T10" fmla="*/ 1 w 37"/>
                  <a:gd name="T11" fmla="*/ 0 h 42"/>
                  <a:gd name="T12" fmla="*/ 0 w 37"/>
                  <a:gd name="T13" fmla="*/ 1 h 42"/>
                  <a:gd name="T14" fmla="*/ 1 w 37"/>
                  <a:gd name="T15" fmla="*/ 1 h 42"/>
                  <a:gd name="T16" fmla="*/ 1 w 37"/>
                  <a:gd name="T17" fmla="*/ 1 h 42"/>
                  <a:gd name="T18" fmla="*/ 1 w 37"/>
                  <a:gd name="T19" fmla="*/ 1 h 42"/>
                  <a:gd name="T20" fmla="*/ 1 w 37"/>
                  <a:gd name="T21" fmla="*/ 1 h 42"/>
                  <a:gd name="T22" fmla="*/ 1 w 37"/>
                  <a:gd name="T23" fmla="*/ 1 h 42"/>
                  <a:gd name="T24" fmla="*/ 1 w 37"/>
                  <a:gd name="T25" fmla="*/ 1 h 42"/>
                  <a:gd name="T26" fmla="*/ 1 w 37"/>
                  <a:gd name="T27" fmla="*/ 1 h 42"/>
                  <a:gd name="T28" fmla="*/ 1 w 37"/>
                  <a:gd name="T29" fmla="*/ 1 h 42"/>
                  <a:gd name="T30" fmla="*/ 1 w 37"/>
                  <a:gd name="T31" fmla="*/ 1 h 42"/>
                  <a:gd name="T32" fmla="*/ 1 w 37"/>
                  <a:gd name="T33" fmla="*/ 1 h 42"/>
                  <a:gd name="T34" fmla="*/ 1 w 37"/>
                  <a:gd name="T35" fmla="*/ 1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
                  <a:gd name="T55" fmla="*/ 0 h 42"/>
                  <a:gd name="T56" fmla="*/ 37 w 37"/>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 h="42">
                    <a:moveTo>
                      <a:pt x="26" y="20"/>
                    </a:moveTo>
                    <a:lnTo>
                      <a:pt x="36" y="25"/>
                    </a:lnTo>
                    <a:lnTo>
                      <a:pt x="34" y="22"/>
                    </a:lnTo>
                    <a:lnTo>
                      <a:pt x="29" y="15"/>
                    </a:lnTo>
                    <a:lnTo>
                      <a:pt x="25" y="9"/>
                    </a:lnTo>
                    <a:lnTo>
                      <a:pt x="22" y="0"/>
                    </a:lnTo>
                    <a:lnTo>
                      <a:pt x="0" y="6"/>
                    </a:lnTo>
                    <a:lnTo>
                      <a:pt x="6" y="18"/>
                    </a:lnTo>
                    <a:lnTo>
                      <a:pt x="11" y="28"/>
                    </a:lnTo>
                    <a:lnTo>
                      <a:pt x="15" y="34"/>
                    </a:lnTo>
                    <a:lnTo>
                      <a:pt x="17" y="37"/>
                    </a:lnTo>
                    <a:lnTo>
                      <a:pt x="26" y="42"/>
                    </a:lnTo>
                    <a:lnTo>
                      <a:pt x="17" y="37"/>
                    </a:lnTo>
                    <a:lnTo>
                      <a:pt x="25" y="42"/>
                    </a:lnTo>
                    <a:lnTo>
                      <a:pt x="33" y="40"/>
                    </a:lnTo>
                    <a:lnTo>
                      <a:pt x="37" y="34"/>
                    </a:lnTo>
                    <a:lnTo>
                      <a:pt x="36" y="25"/>
                    </a:lnTo>
                    <a:lnTo>
                      <a:pt x="26" y="20"/>
                    </a:lnTo>
                    <a:close/>
                  </a:path>
                </a:pathLst>
              </a:custGeom>
              <a:solidFill>
                <a:srgbClr val="000000"/>
              </a:solidFill>
              <a:ln w="9525">
                <a:noFill/>
                <a:round/>
                <a:headEnd/>
                <a:tailEnd/>
              </a:ln>
            </p:spPr>
            <p:txBody>
              <a:bodyPr/>
              <a:lstStyle/>
              <a:p>
                <a:endParaRPr lang="en-US"/>
              </a:p>
            </p:txBody>
          </p:sp>
        </p:grpSp>
        <p:sp>
          <p:nvSpPr>
            <p:cNvPr id="28685" name="Freeform 207"/>
            <p:cNvSpPr>
              <a:spLocks/>
            </p:cNvSpPr>
            <p:nvPr/>
          </p:nvSpPr>
          <p:spPr bwMode="auto">
            <a:xfrm>
              <a:off x="1851" y="3424"/>
              <a:ext cx="43" cy="139"/>
            </a:xfrm>
            <a:custGeom>
              <a:avLst/>
              <a:gdLst>
                <a:gd name="T0" fmla="*/ 0 w 85"/>
                <a:gd name="T1" fmla="*/ 0 h 278"/>
                <a:gd name="T2" fmla="*/ 0 w 85"/>
                <a:gd name="T3" fmla="*/ 1 h 278"/>
                <a:gd name="T4" fmla="*/ 1 w 85"/>
                <a:gd name="T5" fmla="*/ 1 h 278"/>
                <a:gd name="T6" fmla="*/ 1 w 85"/>
                <a:gd name="T7" fmla="*/ 1 h 278"/>
                <a:gd name="T8" fmla="*/ 0 w 85"/>
                <a:gd name="T9" fmla="*/ 0 h 278"/>
                <a:gd name="T10" fmla="*/ 0 60000 65536"/>
                <a:gd name="T11" fmla="*/ 0 60000 65536"/>
                <a:gd name="T12" fmla="*/ 0 60000 65536"/>
                <a:gd name="T13" fmla="*/ 0 60000 65536"/>
                <a:gd name="T14" fmla="*/ 0 60000 65536"/>
                <a:gd name="T15" fmla="*/ 0 w 85"/>
                <a:gd name="T16" fmla="*/ 0 h 278"/>
                <a:gd name="T17" fmla="*/ 85 w 85"/>
                <a:gd name="T18" fmla="*/ 278 h 278"/>
              </a:gdLst>
              <a:ahLst/>
              <a:cxnLst>
                <a:cxn ang="T10">
                  <a:pos x="T0" y="T1"/>
                </a:cxn>
                <a:cxn ang="T11">
                  <a:pos x="T2" y="T3"/>
                </a:cxn>
                <a:cxn ang="T12">
                  <a:pos x="T4" y="T5"/>
                </a:cxn>
                <a:cxn ang="T13">
                  <a:pos x="T6" y="T7"/>
                </a:cxn>
                <a:cxn ang="T14">
                  <a:pos x="T8" y="T9"/>
                </a:cxn>
              </a:cxnLst>
              <a:rect l="T15" t="T16" r="T17" b="T18"/>
              <a:pathLst>
                <a:path w="85" h="278">
                  <a:moveTo>
                    <a:pt x="0" y="0"/>
                  </a:moveTo>
                  <a:lnTo>
                    <a:pt x="0" y="234"/>
                  </a:lnTo>
                  <a:lnTo>
                    <a:pt x="85" y="278"/>
                  </a:lnTo>
                  <a:lnTo>
                    <a:pt x="85" y="40"/>
                  </a:lnTo>
                  <a:lnTo>
                    <a:pt x="0" y="0"/>
                  </a:lnTo>
                  <a:close/>
                </a:path>
              </a:pathLst>
            </a:custGeom>
            <a:solidFill>
              <a:srgbClr val="4CB2FF"/>
            </a:solidFill>
            <a:ln w="9525">
              <a:noFill/>
              <a:round/>
              <a:headEnd/>
              <a:tailEnd/>
            </a:ln>
          </p:spPr>
          <p:txBody>
            <a:bodyPr/>
            <a:lstStyle/>
            <a:p>
              <a:endParaRPr lang="en-US"/>
            </a:p>
          </p:txBody>
        </p:sp>
        <p:sp>
          <p:nvSpPr>
            <p:cNvPr id="28686" name="Freeform 208"/>
            <p:cNvSpPr>
              <a:spLocks/>
            </p:cNvSpPr>
            <p:nvPr/>
          </p:nvSpPr>
          <p:spPr bwMode="auto">
            <a:xfrm>
              <a:off x="1846" y="3424"/>
              <a:ext cx="11" cy="123"/>
            </a:xfrm>
            <a:custGeom>
              <a:avLst/>
              <a:gdLst>
                <a:gd name="T0" fmla="*/ 1 w 22"/>
                <a:gd name="T1" fmla="*/ 1 h 245"/>
                <a:gd name="T2" fmla="*/ 1 w 22"/>
                <a:gd name="T3" fmla="*/ 1 h 245"/>
                <a:gd name="T4" fmla="*/ 1 w 22"/>
                <a:gd name="T5" fmla="*/ 0 h 245"/>
                <a:gd name="T6" fmla="*/ 0 w 22"/>
                <a:gd name="T7" fmla="*/ 0 h 245"/>
                <a:gd name="T8" fmla="*/ 0 w 22"/>
                <a:gd name="T9" fmla="*/ 1 h 245"/>
                <a:gd name="T10" fmla="*/ 1 w 22"/>
                <a:gd name="T11" fmla="*/ 1 h 245"/>
                <a:gd name="T12" fmla="*/ 0 w 22"/>
                <a:gd name="T13" fmla="*/ 1 h 245"/>
                <a:gd name="T14" fmla="*/ 1 w 22"/>
                <a:gd name="T15" fmla="*/ 1 h 245"/>
                <a:gd name="T16" fmla="*/ 1 w 22"/>
                <a:gd name="T17" fmla="*/ 1 h 245"/>
                <a:gd name="T18" fmla="*/ 1 w 22"/>
                <a:gd name="T19" fmla="*/ 1 h 245"/>
                <a:gd name="T20" fmla="*/ 1 w 22"/>
                <a:gd name="T21" fmla="*/ 1 h 245"/>
                <a:gd name="T22" fmla="*/ 1 w 22"/>
                <a:gd name="T23" fmla="*/ 1 h 2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5"/>
                <a:gd name="T38" fmla="*/ 22 w 22"/>
                <a:gd name="T39" fmla="*/ 245 h 2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5">
                  <a:moveTo>
                    <a:pt x="16" y="225"/>
                  </a:moveTo>
                  <a:lnTo>
                    <a:pt x="22" y="234"/>
                  </a:lnTo>
                  <a:lnTo>
                    <a:pt x="22" y="0"/>
                  </a:lnTo>
                  <a:lnTo>
                    <a:pt x="0" y="0"/>
                  </a:lnTo>
                  <a:lnTo>
                    <a:pt x="0" y="234"/>
                  </a:lnTo>
                  <a:lnTo>
                    <a:pt x="6" y="244"/>
                  </a:lnTo>
                  <a:lnTo>
                    <a:pt x="0" y="234"/>
                  </a:lnTo>
                  <a:lnTo>
                    <a:pt x="3" y="242"/>
                  </a:lnTo>
                  <a:lnTo>
                    <a:pt x="11" y="245"/>
                  </a:lnTo>
                  <a:lnTo>
                    <a:pt x="19" y="242"/>
                  </a:lnTo>
                  <a:lnTo>
                    <a:pt x="22" y="234"/>
                  </a:lnTo>
                  <a:lnTo>
                    <a:pt x="16" y="225"/>
                  </a:lnTo>
                  <a:close/>
                </a:path>
              </a:pathLst>
            </a:custGeom>
            <a:solidFill>
              <a:srgbClr val="000000"/>
            </a:solidFill>
            <a:ln w="9525">
              <a:noFill/>
              <a:round/>
              <a:headEnd/>
              <a:tailEnd/>
            </a:ln>
          </p:spPr>
          <p:txBody>
            <a:bodyPr/>
            <a:lstStyle/>
            <a:p>
              <a:endParaRPr lang="en-US"/>
            </a:p>
          </p:txBody>
        </p:sp>
        <p:sp>
          <p:nvSpPr>
            <p:cNvPr id="28687" name="Freeform 209"/>
            <p:cNvSpPr>
              <a:spLocks/>
            </p:cNvSpPr>
            <p:nvPr/>
          </p:nvSpPr>
          <p:spPr bwMode="auto">
            <a:xfrm>
              <a:off x="1849" y="3537"/>
              <a:ext cx="50" cy="31"/>
            </a:xfrm>
            <a:custGeom>
              <a:avLst/>
              <a:gdLst>
                <a:gd name="T0" fmla="*/ 0 w 101"/>
                <a:gd name="T1" fmla="*/ 0 h 63"/>
                <a:gd name="T2" fmla="*/ 0 w 101"/>
                <a:gd name="T3" fmla="*/ 0 h 63"/>
                <a:gd name="T4" fmla="*/ 0 w 101"/>
                <a:gd name="T5" fmla="*/ 0 h 63"/>
                <a:gd name="T6" fmla="*/ 0 w 101"/>
                <a:gd name="T7" fmla="*/ 0 h 63"/>
                <a:gd name="T8" fmla="*/ 0 w 101"/>
                <a:gd name="T9" fmla="*/ 0 h 63"/>
                <a:gd name="T10" fmla="*/ 0 w 101"/>
                <a:gd name="T11" fmla="*/ 0 h 63"/>
                <a:gd name="T12" fmla="*/ 0 w 101"/>
                <a:gd name="T13" fmla="*/ 0 h 63"/>
                <a:gd name="T14" fmla="*/ 0 w 101"/>
                <a:gd name="T15" fmla="*/ 0 h 63"/>
                <a:gd name="T16" fmla="*/ 0 w 101"/>
                <a:gd name="T17" fmla="*/ 0 h 63"/>
                <a:gd name="T18" fmla="*/ 0 w 101"/>
                <a:gd name="T19" fmla="*/ 0 h 63"/>
                <a:gd name="T20" fmla="*/ 0 w 101"/>
                <a:gd name="T21" fmla="*/ 0 h 63"/>
                <a:gd name="T22" fmla="*/ 0 w 101"/>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3"/>
                <a:gd name="T38" fmla="*/ 101 w 101"/>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3">
                  <a:moveTo>
                    <a:pt x="79" y="53"/>
                  </a:moveTo>
                  <a:lnTo>
                    <a:pt x="94" y="44"/>
                  </a:lnTo>
                  <a:lnTo>
                    <a:pt x="10" y="0"/>
                  </a:lnTo>
                  <a:lnTo>
                    <a:pt x="0" y="19"/>
                  </a:lnTo>
                  <a:lnTo>
                    <a:pt x="85" y="63"/>
                  </a:lnTo>
                  <a:lnTo>
                    <a:pt x="101" y="53"/>
                  </a:lnTo>
                  <a:lnTo>
                    <a:pt x="85" y="63"/>
                  </a:lnTo>
                  <a:lnTo>
                    <a:pt x="93" y="63"/>
                  </a:lnTo>
                  <a:lnTo>
                    <a:pt x="99" y="58"/>
                  </a:lnTo>
                  <a:lnTo>
                    <a:pt x="101" y="50"/>
                  </a:lnTo>
                  <a:lnTo>
                    <a:pt x="94" y="44"/>
                  </a:lnTo>
                  <a:lnTo>
                    <a:pt x="79" y="53"/>
                  </a:lnTo>
                  <a:close/>
                </a:path>
              </a:pathLst>
            </a:custGeom>
            <a:solidFill>
              <a:srgbClr val="000000"/>
            </a:solidFill>
            <a:ln w="9525">
              <a:noFill/>
              <a:round/>
              <a:headEnd/>
              <a:tailEnd/>
            </a:ln>
          </p:spPr>
          <p:txBody>
            <a:bodyPr/>
            <a:lstStyle/>
            <a:p>
              <a:endParaRPr lang="en-US"/>
            </a:p>
          </p:txBody>
        </p:sp>
        <p:sp>
          <p:nvSpPr>
            <p:cNvPr id="28688" name="Freeform 210"/>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6" y="21"/>
                  </a:moveTo>
                  <a:lnTo>
                    <a:pt x="0" y="11"/>
                  </a:lnTo>
                  <a:lnTo>
                    <a:pt x="0" y="249"/>
                  </a:lnTo>
                  <a:lnTo>
                    <a:pt x="22" y="249"/>
                  </a:lnTo>
                  <a:lnTo>
                    <a:pt x="22" y="11"/>
                  </a:lnTo>
                  <a:lnTo>
                    <a:pt x="15" y="2"/>
                  </a:lnTo>
                  <a:lnTo>
                    <a:pt x="22" y="11"/>
                  </a:lnTo>
                  <a:lnTo>
                    <a:pt x="18" y="4"/>
                  </a:lnTo>
                  <a:lnTo>
                    <a:pt x="11" y="0"/>
                  </a:lnTo>
                  <a:lnTo>
                    <a:pt x="3" y="4"/>
                  </a:lnTo>
                  <a:lnTo>
                    <a:pt x="0" y="11"/>
                  </a:lnTo>
                  <a:lnTo>
                    <a:pt x="6" y="21"/>
                  </a:lnTo>
                  <a:close/>
                </a:path>
              </a:pathLst>
            </a:custGeom>
            <a:solidFill>
              <a:srgbClr val="000000"/>
            </a:solidFill>
            <a:ln w="9525">
              <a:noFill/>
              <a:round/>
              <a:headEnd/>
              <a:tailEnd/>
            </a:ln>
          </p:spPr>
          <p:txBody>
            <a:bodyPr/>
            <a:lstStyle/>
            <a:p>
              <a:endParaRPr lang="en-US"/>
            </a:p>
          </p:txBody>
        </p:sp>
        <p:sp>
          <p:nvSpPr>
            <p:cNvPr id="28689" name="Freeform 211"/>
            <p:cNvSpPr>
              <a:spLocks/>
            </p:cNvSpPr>
            <p:nvPr/>
          </p:nvSpPr>
          <p:spPr bwMode="auto">
            <a:xfrm>
              <a:off x="1846" y="3419"/>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0 w 100"/>
                <a:gd name="T11" fmla="*/ 1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22" y="10"/>
                  </a:moveTo>
                  <a:lnTo>
                    <a:pt x="6" y="19"/>
                  </a:lnTo>
                  <a:lnTo>
                    <a:pt x="91" y="60"/>
                  </a:lnTo>
                  <a:lnTo>
                    <a:pt x="100" y="41"/>
                  </a:lnTo>
                  <a:lnTo>
                    <a:pt x="16" y="0"/>
                  </a:lnTo>
                  <a:lnTo>
                    <a:pt x="0" y="10"/>
                  </a:lnTo>
                  <a:lnTo>
                    <a:pt x="16" y="0"/>
                  </a:lnTo>
                  <a:lnTo>
                    <a:pt x="8" y="0"/>
                  </a:lnTo>
                  <a:lnTo>
                    <a:pt x="2"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8690" name="Freeform 212"/>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close/>
                </a:path>
              </a:pathLst>
            </a:custGeom>
            <a:solidFill>
              <a:srgbClr val="B2B2B2"/>
            </a:solidFill>
            <a:ln w="9525">
              <a:noFill/>
              <a:round/>
              <a:headEnd/>
              <a:tailEnd/>
            </a:ln>
          </p:spPr>
          <p:txBody>
            <a:bodyPr/>
            <a:lstStyle/>
            <a:p>
              <a:endParaRPr lang="en-US"/>
            </a:p>
          </p:txBody>
        </p:sp>
        <p:sp>
          <p:nvSpPr>
            <p:cNvPr id="28691" name="Freeform 213"/>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path>
              </a:pathLst>
            </a:custGeom>
            <a:noFill/>
            <a:ln w="0">
              <a:solidFill>
                <a:srgbClr val="000000"/>
              </a:solidFill>
              <a:round/>
              <a:headEnd/>
              <a:tailEnd/>
            </a:ln>
          </p:spPr>
          <p:txBody>
            <a:bodyPr/>
            <a:lstStyle/>
            <a:p>
              <a:endParaRPr lang="en-US"/>
            </a:p>
          </p:txBody>
        </p:sp>
        <p:sp>
          <p:nvSpPr>
            <p:cNvPr id="28692" name="Freeform 214"/>
            <p:cNvSpPr>
              <a:spLocks/>
            </p:cNvSpPr>
            <p:nvPr/>
          </p:nvSpPr>
          <p:spPr bwMode="auto">
            <a:xfrm>
              <a:off x="1974" y="3604"/>
              <a:ext cx="142" cy="50"/>
            </a:xfrm>
            <a:custGeom>
              <a:avLst/>
              <a:gdLst>
                <a:gd name="T0" fmla="*/ 0 w 285"/>
                <a:gd name="T1" fmla="*/ 1 h 100"/>
                <a:gd name="T2" fmla="*/ 0 w 285"/>
                <a:gd name="T3" fmla="*/ 1 h 100"/>
                <a:gd name="T4" fmla="*/ 0 w 285"/>
                <a:gd name="T5" fmla="*/ 1 h 100"/>
                <a:gd name="T6" fmla="*/ 0 w 285"/>
                <a:gd name="T7" fmla="*/ 1 h 100"/>
                <a:gd name="T8" fmla="*/ 0 w 285"/>
                <a:gd name="T9" fmla="*/ 1 h 100"/>
                <a:gd name="T10" fmla="*/ 0 w 285"/>
                <a:gd name="T11" fmla="*/ 1 h 100"/>
                <a:gd name="T12" fmla="*/ 0 w 285"/>
                <a:gd name="T13" fmla="*/ 1 h 100"/>
                <a:gd name="T14" fmla="*/ 0 w 285"/>
                <a:gd name="T15" fmla="*/ 1 h 100"/>
                <a:gd name="T16" fmla="*/ 0 w 285"/>
                <a:gd name="T17" fmla="*/ 1 h 100"/>
                <a:gd name="T18" fmla="*/ 0 w 285"/>
                <a:gd name="T19" fmla="*/ 1 h 100"/>
                <a:gd name="T20" fmla="*/ 0 w 285"/>
                <a:gd name="T21" fmla="*/ 1 h 100"/>
                <a:gd name="T22" fmla="*/ 0 w 285"/>
                <a:gd name="T23" fmla="*/ 1 h 100"/>
                <a:gd name="T24" fmla="*/ 0 w 285"/>
                <a:gd name="T25" fmla="*/ 1 h 100"/>
                <a:gd name="T26" fmla="*/ 0 w 285"/>
                <a:gd name="T27" fmla="*/ 1 h 100"/>
                <a:gd name="T28" fmla="*/ 0 w 285"/>
                <a:gd name="T29" fmla="*/ 1 h 100"/>
                <a:gd name="T30" fmla="*/ 0 w 285"/>
                <a:gd name="T31" fmla="*/ 1 h 100"/>
                <a:gd name="T32" fmla="*/ 0 w 285"/>
                <a:gd name="T33" fmla="*/ 1 h 100"/>
                <a:gd name="T34" fmla="*/ 0 w 285"/>
                <a:gd name="T35" fmla="*/ 1 h 100"/>
                <a:gd name="T36" fmla="*/ 0 w 285"/>
                <a:gd name="T37" fmla="*/ 1 h 100"/>
                <a:gd name="T38" fmla="*/ 0 w 285"/>
                <a:gd name="T39" fmla="*/ 1 h 100"/>
                <a:gd name="T40" fmla="*/ 0 w 285"/>
                <a:gd name="T41" fmla="*/ 1 h 100"/>
                <a:gd name="T42" fmla="*/ 0 w 285"/>
                <a:gd name="T43" fmla="*/ 0 h 100"/>
                <a:gd name="T44" fmla="*/ 0 w 285"/>
                <a:gd name="T45" fmla="*/ 1 h 100"/>
                <a:gd name="T46" fmla="*/ 0 w 285"/>
                <a:gd name="T47" fmla="*/ 1 h 100"/>
                <a:gd name="T48" fmla="*/ 0 w 285"/>
                <a:gd name="T49" fmla="*/ 1 h 100"/>
                <a:gd name="T50" fmla="*/ 0 w 285"/>
                <a:gd name="T51" fmla="*/ 1 h 100"/>
                <a:gd name="T52" fmla="*/ 0 w 285"/>
                <a:gd name="T53" fmla="*/ 1 h 100"/>
                <a:gd name="T54" fmla="*/ 0 w 285"/>
                <a:gd name="T55" fmla="*/ 1 h 100"/>
                <a:gd name="T56" fmla="*/ 0 w 285"/>
                <a:gd name="T57" fmla="*/ 1 h 100"/>
                <a:gd name="T58" fmla="*/ 0 w 285"/>
                <a:gd name="T59" fmla="*/ 1 h 100"/>
                <a:gd name="T60" fmla="*/ 0 w 285"/>
                <a:gd name="T61" fmla="*/ 1 h 100"/>
                <a:gd name="T62" fmla="*/ 0 w 285"/>
                <a:gd name="T63" fmla="*/ 1 h 100"/>
                <a:gd name="T64" fmla="*/ 0 w 285"/>
                <a:gd name="T65" fmla="*/ 1 h 100"/>
                <a:gd name="T66" fmla="*/ 0 w 285"/>
                <a:gd name="T67" fmla="*/ 1 h 100"/>
                <a:gd name="T68" fmla="*/ 0 w 285"/>
                <a:gd name="T69" fmla="*/ 1 h 1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5"/>
                <a:gd name="T106" fmla="*/ 0 h 100"/>
                <a:gd name="T107" fmla="*/ 285 w 285"/>
                <a:gd name="T108" fmla="*/ 100 h 1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5" h="100">
                  <a:moveTo>
                    <a:pt x="284" y="65"/>
                  </a:moveTo>
                  <a:lnTo>
                    <a:pt x="224" y="98"/>
                  </a:lnTo>
                  <a:lnTo>
                    <a:pt x="215" y="100"/>
                  </a:lnTo>
                  <a:lnTo>
                    <a:pt x="208" y="98"/>
                  </a:lnTo>
                  <a:lnTo>
                    <a:pt x="191" y="95"/>
                  </a:lnTo>
                  <a:lnTo>
                    <a:pt x="168" y="90"/>
                  </a:lnTo>
                  <a:lnTo>
                    <a:pt x="140" y="84"/>
                  </a:lnTo>
                  <a:lnTo>
                    <a:pt x="110" y="78"/>
                  </a:lnTo>
                  <a:lnTo>
                    <a:pt x="83" y="72"/>
                  </a:lnTo>
                  <a:lnTo>
                    <a:pt x="61" y="65"/>
                  </a:lnTo>
                  <a:lnTo>
                    <a:pt x="47" y="62"/>
                  </a:lnTo>
                  <a:lnTo>
                    <a:pt x="22" y="57"/>
                  </a:lnTo>
                  <a:lnTo>
                    <a:pt x="19" y="57"/>
                  </a:lnTo>
                  <a:lnTo>
                    <a:pt x="21" y="64"/>
                  </a:lnTo>
                  <a:lnTo>
                    <a:pt x="16" y="65"/>
                  </a:lnTo>
                  <a:lnTo>
                    <a:pt x="14" y="65"/>
                  </a:lnTo>
                  <a:lnTo>
                    <a:pt x="10" y="62"/>
                  </a:lnTo>
                  <a:lnTo>
                    <a:pt x="7" y="59"/>
                  </a:lnTo>
                  <a:lnTo>
                    <a:pt x="3" y="54"/>
                  </a:lnTo>
                  <a:lnTo>
                    <a:pt x="2" y="50"/>
                  </a:lnTo>
                  <a:lnTo>
                    <a:pt x="0" y="47"/>
                  </a:lnTo>
                  <a:lnTo>
                    <a:pt x="0" y="45"/>
                  </a:lnTo>
                  <a:lnTo>
                    <a:pt x="2" y="43"/>
                  </a:lnTo>
                  <a:lnTo>
                    <a:pt x="5" y="42"/>
                  </a:lnTo>
                  <a:lnTo>
                    <a:pt x="5" y="37"/>
                  </a:lnTo>
                  <a:lnTo>
                    <a:pt x="7" y="34"/>
                  </a:lnTo>
                  <a:lnTo>
                    <a:pt x="8" y="32"/>
                  </a:lnTo>
                  <a:lnTo>
                    <a:pt x="11" y="29"/>
                  </a:lnTo>
                  <a:lnTo>
                    <a:pt x="14" y="26"/>
                  </a:lnTo>
                  <a:lnTo>
                    <a:pt x="19" y="23"/>
                  </a:lnTo>
                  <a:lnTo>
                    <a:pt x="22" y="20"/>
                  </a:lnTo>
                  <a:lnTo>
                    <a:pt x="25" y="18"/>
                  </a:lnTo>
                  <a:lnTo>
                    <a:pt x="28" y="14"/>
                  </a:lnTo>
                  <a:lnTo>
                    <a:pt x="30" y="11"/>
                  </a:lnTo>
                  <a:lnTo>
                    <a:pt x="33" y="7"/>
                  </a:lnTo>
                  <a:lnTo>
                    <a:pt x="39" y="9"/>
                  </a:lnTo>
                  <a:lnTo>
                    <a:pt x="50" y="14"/>
                  </a:lnTo>
                  <a:lnTo>
                    <a:pt x="58" y="18"/>
                  </a:lnTo>
                  <a:lnTo>
                    <a:pt x="63" y="20"/>
                  </a:lnTo>
                  <a:lnTo>
                    <a:pt x="60" y="17"/>
                  </a:lnTo>
                  <a:lnTo>
                    <a:pt x="61" y="6"/>
                  </a:lnTo>
                  <a:lnTo>
                    <a:pt x="61" y="4"/>
                  </a:lnTo>
                  <a:lnTo>
                    <a:pt x="63" y="3"/>
                  </a:lnTo>
                  <a:lnTo>
                    <a:pt x="66" y="0"/>
                  </a:lnTo>
                  <a:lnTo>
                    <a:pt x="68" y="0"/>
                  </a:lnTo>
                  <a:lnTo>
                    <a:pt x="69" y="1"/>
                  </a:lnTo>
                  <a:lnTo>
                    <a:pt x="71" y="4"/>
                  </a:lnTo>
                  <a:lnTo>
                    <a:pt x="71" y="6"/>
                  </a:lnTo>
                  <a:lnTo>
                    <a:pt x="69" y="9"/>
                  </a:lnTo>
                  <a:lnTo>
                    <a:pt x="71" y="14"/>
                  </a:lnTo>
                  <a:lnTo>
                    <a:pt x="74" y="20"/>
                  </a:lnTo>
                  <a:lnTo>
                    <a:pt x="77" y="26"/>
                  </a:lnTo>
                  <a:lnTo>
                    <a:pt x="82" y="29"/>
                  </a:lnTo>
                  <a:lnTo>
                    <a:pt x="90" y="31"/>
                  </a:lnTo>
                  <a:lnTo>
                    <a:pt x="104" y="32"/>
                  </a:lnTo>
                  <a:lnTo>
                    <a:pt x="124" y="34"/>
                  </a:lnTo>
                  <a:lnTo>
                    <a:pt x="147" y="37"/>
                  </a:lnTo>
                  <a:lnTo>
                    <a:pt x="169" y="39"/>
                  </a:lnTo>
                  <a:lnTo>
                    <a:pt x="190" y="40"/>
                  </a:lnTo>
                  <a:lnTo>
                    <a:pt x="204" y="42"/>
                  </a:lnTo>
                  <a:lnTo>
                    <a:pt x="208" y="42"/>
                  </a:lnTo>
                  <a:lnTo>
                    <a:pt x="212" y="39"/>
                  </a:lnTo>
                  <a:lnTo>
                    <a:pt x="221" y="32"/>
                  </a:lnTo>
                  <a:lnTo>
                    <a:pt x="230" y="25"/>
                  </a:lnTo>
                  <a:lnTo>
                    <a:pt x="241" y="20"/>
                  </a:lnTo>
                  <a:lnTo>
                    <a:pt x="249" y="15"/>
                  </a:lnTo>
                  <a:lnTo>
                    <a:pt x="254" y="9"/>
                  </a:lnTo>
                  <a:lnTo>
                    <a:pt x="255" y="6"/>
                  </a:lnTo>
                  <a:lnTo>
                    <a:pt x="257" y="4"/>
                  </a:lnTo>
                  <a:lnTo>
                    <a:pt x="285" y="61"/>
                  </a:lnTo>
                  <a:lnTo>
                    <a:pt x="284" y="65"/>
                  </a:lnTo>
                  <a:close/>
                </a:path>
              </a:pathLst>
            </a:custGeom>
            <a:solidFill>
              <a:srgbClr val="FFB27F"/>
            </a:solidFill>
            <a:ln w="9525">
              <a:noFill/>
              <a:round/>
              <a:headEnd/>
              <a:tailEnd/>
            </a:ln>
          </p:spPr>
          <p:txBody>
            <a:bodyPr/>
            <a:lstStyle/>
            <a:p>
              <a:endParaRPr lang="en-US"/>
            </a:p>
          </p:txBody>
        </p:sp>
        <p:sp>
          <p:nvSpPr>
            <p:cNvPr id="28693" name="Freeform 215"/>
            <p:cNvSpPr>
              <a:spLocks/>
            </p:cNvSpPr>
            <p:nvPr/>
          </p:nvSpPr>
          <p:spPr bwMode="auto">
            <a:xfrm>
              <a:off x="2080" y="3632"/>
              <a:ext cx="38" cy="27"/>
            </a:xfrm>
            <a:custGeom>
              <a:avLst/>
              <a:gdLst>
                <a:gd name="T0" fmla="*/ 1 w 75"/>
                <a:gd name="T1" fmla="*/ 1 h 53"/>
                <a:gd name="T2" fmla="*/ 1 w 75"/>
                <a:gd name="T3" fmla="*/ 1 h 53"/>
                <a:gd name="T4" fmla="*/ 1 w 75"/>
                <a:gd name="T5" fmla="*/ 1 h 53"/>
                <a:gd name="T6" fmla="*/ 1 w 75"/>
                <a:gd name="T7" fmla="*/ 0 h 53"/>
                <a:gd name="T8" fmla="*/ 1 w 75"/>
                <a:gd name="T9" fmla="*/ 1 h 53"/>
                <a:gd name="T10" fmla="*/ 1 w 75"/>
                <a:gd name="T11" fmla="*/ 1 h 53"/>
                <a:gd name="T12" fmla="*/ 1 w 75"/>
                <a:gd name="T13" fmla="*/ 1 h 53"/>
                <a:gd name="T14" fmla="*/ 0 w 75"/>
                <a:gd name="T15" fmla="*/ 1 h 53"/>
                <a:gd name="T16" fmla="*/ 1 w 75"/>
                <a:gd name="T17" fmla="*/ 1 h 53"/>
                <a:gd name="T18" fmla="*/ 1 w 75"/>
                <a:gd name="T19" fmla="*/ 1 h 53"/>
                <a:gd name="T20" fmla="*/ 1 w 75"/>
                <a:gd name="T21" fmla="*/ 1 h 53"/>
                <a:gd name="T22" fmla="*/ 1 w 75"/>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5"/>
                <a:gd name="T37" fmla="*/ 0 h 53"/>
                <a:gd name="T38" fmla="*/ 75 w 75"/>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5" h="53">
                  <a:moveTo>
                    <a:pt x="13" y="53"/>
                  </a:moveTo>
                  <a:lnTo>
                    <a:pt x="16" y="52"/>
                  </a:lnTo>
                  <a:lnTo>
                    <a:pt x="75" y="19"/>
                  </a:lnTo>
                  <a:lnTo>
                    <a:pt x="66" y="0"/>
                  </a:lnTo>
                  <a:lnTo>
                    <a:pt x="6" y="33"/>
                  </a:lnTo>
                  <a:lnTo>
                    <a:pt x="10" y="31"/>
                  </a:lnTo>
                  <a:lnTo>
                    <a:pt x="6" y="33"/>
                  </a:lnTo>
                  <a:lnTo>
                    <a:pt x="0" y="39"/>
                  </a:lnTo>
                  <a:lnTo>
                    <a:pt x="2" y="47"/>
                  </a:lnTo>
                  <a:lnTo>
                    <a:pt x="8" y="52"/>
                  </a:lnTo>
                  <a:lnTo>
                    <a:pt x="16" y="52"/>
                  </a:lnTo>
                  <a:lnTo>
                    <a:pt x="13" y="53"/>
                  </a:lnTo>
                  <a:close/>
                </a:path>
              </a:pathLst>
            </a:custGeom>
            <a:solidFill>
              <a:srgbClr val="000000"/>
            </a:solidFill>
            <a:ln w="9525">
              <a:noFill/>
              <a:round/>
              <a:headEnd/>
              <a:tailEnd/>
            </a:ln>
          </p:spPr>
          <p:txBody>
            <a:bodyPr/>
            <a:lstStyle/>
            <a:p>
              <a:endParaRPr lang="en-US"/>
            </a:p>
          </p:txBody>
        </p:sp>
        <p:sp>
          <p:nvSpPr>
            <p:cNvPr id="28694" name="Freeform 216"/>
            <p:cNvSpPr>
              <a:spLocks/>
            </p:cNvSpPr>
            <p:nvPr/>
          </p:nvSpPr>
          <p:spPr bwMode="auto">
            <a:xfrm>
              <a:off x="2075" y="3648"/>
              <a:ext cx="11" cy="11"/>
            </a:xfrm>
            <a:custGeom>
              <a:avLst/>
              <a:gdLst>
                <a:gd name="T0" fmla="*/ 1 w 22"/>
                <a:gd name="T1" fmla="*/ 0 h 24"/>
                <a:gd name="T2" fmla="*/ 1 w 22"/>
                <a:gd name="T3" fmla="*/ 0 h 24"/>
                <a:gd name="T4" fmla="*/ 1 w 22"/>
                <a:gd name="T5" fmla="*/ 0 h 24"/>
                <a:gd name="T6" fmla="*/ 1 w 22"/>
                <a:gd name="T7" fmla="*/ 0 h 24"/>
                <a:gd name="T8" fmla="*/ 1 w 22"/>
                <a:gd name="T9" fmla="*/ 0 h 24"/>
                <a:gd name="T10" fmla="*/ 1 w 22"/>
                <a:gd name="T11" fmla="*/ 0 h 24"/>
                <a:gd name="T12" fmla="*/ 1 w 22"/>
                <a:gd name="T13" fmla="*/ 0 h 24"/>
                <a:gd name="T14" fmla="*/ 1 w 22"/>
                <a:gd name="T15" fmla="*/ 0 h 24"/>
                <a:gd name="T16" fmla="*/ 0 w 22"/>
                <a:gd name="T17" fmla="*/ 0 h 24"/>
                <a:gd name="T18" fmla="*/ 1 w 22"/>
                <a:gd name="T19" fmla="*/ 0 h 24"/>
                <a:gd name="T20" fmla="*/ 1 w 22"/>
                <a:gd name="T21" fmla="*/ 0 h 24"/>
                <a:gd name="T22" fmla="*/ 1 w 22"/>
                <a:gd name="T23" fmla="*/ 0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
                <a:gd name="T38" fmla="*/ 22 w 22"/>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
                  <a:moveTo>
                    <a:pt x="9" y="24"/>
                  </a:moveTo>
                  <a:lnTo>
                    <a:pt x="12" y="24"/>
                  </a:lnTo>
                  <a:lnTo>
                    <a:pt x="22" y="22"/>
                  </a:lnTo>
                  <a:lnTo>
                    <a:pt x="19" y="0"/>
                  </a:lnTo>
                  <a:lnTo>
                    <a:pt x="9" y="2"/>
                  </a:lnTo>
                  <a:lnTo>
                    <a:pt x="12" y="2"/>
                  </a:lnTo>
                  <a:lnTo>
                    <a:pt x="9" y="2"/>
                  </a:lnTo>
                  <a:lnTo>
                    <a:pt x="1" y="6"/>
                  </a:lnTo>
                  <a:lnTo>
                    <a:pt x="0" y="14"/>
                  </a:lnTo>
                  <a:lnTo>
                    <a:pt x="4" y="21"/>
                  </a:lnTo>
                  <a:lnTo>
                    <a:pt x="12" y="24"/>
                  </a:lnTo>
                  <a:lnTo>
                    <a:pt x="9" y="24"/>
                  </a:lnTo>
                  <a:close/>
                </a:path>
              </a:pathLst>
            </a:custGeom>
            <a:solidFill>
              <a:srgbClr val="000000"/>
            </a:solidFill>
            <a:ln w="9525">
              <a:noFill/>
              <a:round/>
              <a:headEnd/>
              <a:tailEnd/>
            </a:ln>
          </p:spPr>
          <p:txBody>
            <a:bodyPr/>
            <a:lstStyle/>
            <a:p>
              <a:endParaRPr lang="en-US"/>
            </a:p>
          </p:txBody>
        </p:sp>
        <p:sp>
          <p:nvSpPr>
            <p:cNvPr id="28695" name="Freeform 217"/>
            <p:cNvSpPr>
              <a:spLocks/>
            </p:cNvSpPr>
            <p:nvPr/>
          </p:nvSpPr>
          <p:spPr bwMode="auto">
            <a:xfrm>
              <a:off x="1996" y="3630"/>
              <a:ext cx="86" cy="29"/>
            </a:xfrm>
            <a:custGeom>
              <a:avLst/>
              <a:gdLst>
                <a:gd name="T0" fmla="*/ 1 w 172"/>
                <a:gd name="T1" fmla="*/ 0 h 60"/>
                <a:gd name="T2" fmla="*/ 0 w 172"/>
                <a:gd name="T3" fmla="*/ 0 h 60"/>
                <a:gd name="T4" fmla="*/ 1 w 172"/>
                <a:gd name="T5" fmla="*/ 0 h 60"/>
                <a:gd name="T6" fmla="*/ 1 w 172"/>
                <a:gd name="T7" fmla="*/ 0 h 60"/>
                <a:gd name="T8" fmla="*/ 1 w 172"/>
                <a:gd name="T9" fmla="*/ 0 h 60"/>
                <a:gd name="T10" fmla="*/ 1 w 172"/>
                <a:gd name="T11" fmla="*/ 0 h 60"/>
                <a:gd name="T12" fmla="*/ 1 w 172"/>
                <a:gd name="T13" fmla="*/ 0 h 60"/>
                <a:gd name="T14" fmla="*/ 1 w 172"/>
                <a:gd name="T15" fmla="*/ 0 h 60"/>
                <a:gd name="T16" fmla="*/ 1 w 172"/>
                <a:gd name="T17" fmla="*/ 0 h 60"/>
                <a:gd name="T18" fmla="*/ 1 w 172"/>
                <a:gd name="T19" fmla="*/ 0 h 60"/>
                <a:gd name="T20" fmla="*/ 1 w 172"/>
                <a:gd name="T21" fmla="*/ 0 h 60"/>
                <a:gd name="T22" fmla="*/ 1 w 172"/>
                <a:gd name="T23" fmla="*/ 0 h 60"/>
                <a:gd name="T24" fmla="*/ 1 w 172"/>
                <a:gd name="T25" fmla="*/ 0 h 60"/>
                <a:gd name="T26" fmla="*/ 1 w 172"/>
                <a:gd name="T27" fmla="*/ 0 h 60"/>
                <a:gd name="T28" fmla="*/ 1 w 172"/>
                <a:gd name="T29" fmla="*/ 0 h 60"/>
                <a:gd name="T30" fmla="*/ 1 w 172"/>
                <a:gd name="T31" fmla="*/ 0 h 60"/>
                <a:gd name="T32" fmla="*/ 1 w 172"/>
                <a:gd name="T33" fmla="*/ 0 h 60"/>
                <a:gd name="T34" fmla="*/ 1 w 172"/>
                <a:gd name="T35" fmla="*/ 0 h 60"/>
                <a:gd name="T36" fmla="*/ 1 w 172"/>
                <a:gd name="T37" fmla="*/ 0 h 60"/>
                <a:gd name="T38" fmla="*/ 1 w 172"/>
                <a:gd name="T39" fmla="*/ 0 h 60"/>
                <a:gd name="T40" fmla="*/ 1 w 172"/>
                <a:gd name="T41" fmla="*/ 0 h 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2"/>
                <a:gd name="T64" fmla="*/ 0 h 60"/>
                <a:gd name="T65" fmla="*/ 172 w 172"/>
                <a:gd name="T66" fmla="*/ 60 h 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2" h="60">
                  <a:moveTo>
                    <a:pt x="2" y="22"/>
                  </a:moveTo>
                  <a:lnTo>
                    <a:pt x="0" y="22"/>
                  </a:lnTo>
                  <a:lnTo>
                    <a:pt x="14" y="25"/>
                  </a:lnTo>
                  <a:lnTo>
                    <a:pt x="36" y="32"/>
                  </a:lnTo>
                  <a:lnTo>
                    <a:pt x="63" y="38"/>
                  </a:lnTo>
                  <a:lnTo>
                    <a:pt x="94" y="44"/>
                  </a:lnTo>
                  <a:lnTo>
                    <a:pt x="122" y="50"/>
                  </a:lnTo>
                  <a:lnTo>
                    <a:pt x="146" y="55"/>
                  </a:lnTo>
                  <a:lnTo>
                    <a:pt x="163" y="58"/>
                  </a:lnTo>
                  <a:lnTo>
                    <a:pt x="169" y="60"/>
                  </a:lnTo>
                  <a:lnTo>
                    <a:pt x="172" y="38"/>
                  </a:lnTo>
                  <a:lnTo>
                    <a:pt x="166" y="36"/>
                  </a:lnTo>
                  <a:lnTo>
                    <a:pt x="149" y="33"/>
                  </a:lnTo>
                  <a:lnTo>
                    <a:pt x="125" y="28"/>
                  </a:lnTo>
                  <a:lnTo>
                    <a:pt x="97" y="22"/>
                  </a:lnTo>
                  <a:lnTo>
                    <a:pt x="69" y="16"/>
                  </a:lnTo>
                  <a:lnTo>
                    <a:pt x="42" y="10"/>
                  </a:lnTo>
                  <a:lnTo>
                    <a:pt x="20" y="3"/>
                  </a:lnTo>
                  <a:lnTo>
                    <a:pt x="6" y="0"/>
                  </a:lnTo>
                  <a:lnTo>
                    <a:pt x="5" y="0"/>
                  </a:lnTo>
                  <a:lnTo>
                    <a:pt x="2" y="22"/>
                  </a:lnTo>
                  <a:close/>
                </a:path>
              </a:pathLst>
            </a:custGeom>
            <a:solidFill>
              <a:srgbClr val="000000"/>
            </a:solidFill>
            <a:ln w="9525">
              <a:noFill/>
              <a:round/>
              <a:headEnd/>
              <a:tailEnd/>
            </a:ln>
          </p:spPr>
          <p:txBody>
            <a:bodyPr/>
            <a:lstStyle/>
            <a:p>
              <a:endParaRPr lang="en-US"/>
            </a:p>
          </p:txBody>
        </p:sp>
        <p:sp>
          <p:nvSpPr>
            <p:cNvPr id="28696" name="Freeform 218"/>
            <p:cNvSpPr>
              <a:spLocks/>
            </p:cNvSpPr>
            <p:nvPr/>
          </p:nvSpPr>
          <p:spPr bwMode="auto">
            <a:xfrm>
              <a:off x="1979" y="3627"/>
              <a:ext cx="19" cy="14"/>
            </a:xfrm>
            <a:custGeom>
              <a:avLst/>
              <a:gdLst>
                <a:gd name="T0" fmla="*/ 1 w 38"/>
                <a:gd name="T1" fmla="*/ 1 h 26"/>
                <a:gd name="T2" fmla="*/ 1 w 38"/>
                <a:gd name="T3" fmla="*/ 1 h 26"/>
                <a:gd name="T4" fmla="*/ 1 w 38"/>
                <a:gd name="T5" fmla="*/ 1 h 26"/>
                <a:gd name="T6" fmla="*/ 1 w 38"/>
                <a:gd name="T7" fmla="*/ 1 h 26"/>
                <a:gd name="T8" fmla="*/ 1 w 38"/>
                <a:gd name="T9" fmla="*/ 0 h 26"/>
                <a:gd name="T10" fmla="*/ 1 w 38"/>
                <a:gd name="T11" fmla="*/ 0 h 26"/>
                <a:gd name="T12" fmla="*/ 1 w 38"/>
                <a:gd name="T13" fmla="*/ 0 h 26"/>
                <a:gd name="T14" fmla="*/ 1 w 38"/>
                <a:gd name="T15" fmla="*/ 1 h 26"/>
                <a:gd name="T16" fmla="*/ 0 w 38"/>
                <a:gd name="T17" fmla="*/ 1 h 26"/>
                <a:gd name="T18" fmla="*/ 1 w 38"/>
                <a:gd name="T19" fmla="*/ 1 h 26"/>
                <a:gd name="T20" fmla="*/ 1 w 38"/>
                <a:gd name="T21" fmla="*/ 1 h 26"/>
                <a:gd name="T22" fmla="*/ 1 w 38"/>
                <a:gd name="T23" fmla="*/ 1 h 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26"/>
                <a:gd name="T38" fmla="*/ 38 w 38"/>
                <a:gd name="T39" fmla="*/ 26 h 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26">
                  <a:moveTo>
                    <a:pt x="11" y="21"/>
                  </a:moveTo>
                  <a:lnTo>
                    <a:pt x="10" y="21"/>
                  </a:lnTo>
                  <a:lnTo>
                    <a:pt x="35" y="26"/>
                  </a:lnTo>
                  <a:lnTo>
                    <a:pt x="38" y="4"/>
                  </a:lnTo>
                  <a:lnTo>
                    <a:pt x="13" y="0"/>
                  </a:lnTo>
                  <a:lnTo>
                    <a:pt x="11" y="0"/>
                  </a:lnTo>
                  <a:lnTo>
                    <a:pt x="13" y="0"/>
                  </a:lnTo>
                  <a:lnTo>
                    <a:pt x="5" y="3"/>
                  </a:lnTo>
                  <a:lnTo>
                    <a:pt x="0" y="9"/>
                  </a:lnTo>
                  <a:lnTo>
                    <a:pt x="2" y="17"/>
                  </a:lnTo>
                  <a:lnTo>
                    <a:pt x="10" y="21"/>
                  </a:lnTo>
                  <a:lnTo>
                    <a:pt x="11" y="21"/>
                  </a:lnTo>
                  <a:close/>
                </a:path>
              </a:pathLst>
            </a:custGeom>
            <a:solidFill>
              <a:srgbClr val="000000"/>
            </a:solidFill>
            <a:ln w="9525">
              <a:noFill/>
              <a:round/>
              <a:headEnd/>
              <a:tailEnd/>
            </a:ln>
          </p:spPr>
          <p:txBody>
            <a:bodyPr/>
            <a:lstStyle/>
            <a:p>
              <a:endParaRPr lang="en-US"/>
            </a:p>
          </p:txBody>
        </p:sp>
        <p:sp>
          <p:nvSpPr>
            <p:cNvPr id="28697" name="Freeform 219"/>
            <p:cNvSpPr>
              <a:spLocks/>
            </p:cNvSpPr>
            <p:nvPr/>
          </p:nvSpPr>
          <p:spPr bwMode="auto">
            <a:xfrm>
              <a:off x="1978" y="3627"/>
              <a:ext cx="11" cy="11"/>
            </a:xfrm>
            <a:custGeom>
              <a:avLst/>
              <a:gdLst>
                <a:gd name="T0" fmla="*/ 1 w 22"/>
                <a:gd name="T1" fmla="*/ 1 h 21"/>
                <a:gd name="T2" fmla="*/ 1 w 22"/>
                <a:gd name="T3" fmla="*/ 1 h 21"/>
                <a:gd name="T4" fmla="*/ 1 w 22"/>
                <a:gd name="T5" fmla="*/ 1 h 21"/>
                <a:gd name="T6" fmla="*/ 1 w 22"/>
                <a:gd name="T7" fmla="*/ 0 h 21"/>
                <a:gd name="T8" fmla="*/ 1 w 22"/>
                <a:gd name="T9" fmla="*/ 0 h 21"/>
                <a:gd name="T10" fmla="*/ 0 w 22"/>
                <a:gd name="T11" fmla="*/ 1 h 21"/>
                <a:gd name="T12" fmla="*/ 1 w 22"/>
                <a:gd name="T13" fmla="*/ 0 h 21"/>
                <a:gd name="T14" fmla="*/ 1 w 22"/>
                <a:gd name="T15" fmla="*/ 1 h 21"/>
                <a:gd name="T16" fmla="*/ 0 w 22"/>
                <a:gd name="T17" fmla="*/ 1 h 21"/>
                <a:gd name="T18" fmla="*/ 1 w 22"/>
                <a:gd name="T19" fmla="*/ 1 h 21"/>
                <a:gd name="T20" fmla="*/ 1 w 22"/>
                <a:gd name="T21" fmla="*/ 1 h 21"/>
                <a:gd name="T22" fmla="*/ 1 w 22"/>
                <a:gd name="T23" fmla="*/ 1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22" y="7"/>
                  </a:moveTo>
                  <a:lnTo>
                    <a:pt x="11" y="21"/>
                  </a:lnTo>
                  <a:lnTo>
                    <a:pt x="14" y="21"/>
                  </a:lnTo>
                  <a:lnTo>
                    <a:pt x="14" y="0"/>
                  </a:lnTo>
                  <a:lnTo>
                    <a:pt x="11" y="0"/>
                  </a:lnTo>
                  <a:lnTo>
                    <a:pt x="0" y="14"/>
                  </a:lnTo>
                  <a:lnTo>
                    <a:pt x="11" y="0"/>
                  </a:lnTo>
                  <a:lnTo>
                    <a:pt x="3" y="3"/>
                  </a:lnTo>
                  <a:lnTo>
                    <a:pt x="0" y="10"/>
                  </a:lnTo>
                  <a:lnTo>
                    <a:pt x="3" y="18"/>
                  </a:lnTo>
                  <a:lnTo>
                    <a:pt x="11" y="21"/>
                  </a:lnTo>
                  <a:lnTo>
                    <a:pt x="22" y="7"/>
                  </a:lnTo>
                  <a:close/>
                </a:path>
              </a:pathLst>
            </a:custGeom>
            <a:solidFill>
              <a:srgbClr val="000000"/>
            </a:solidFill>
            <a:ln w="9525">
              <a:noFill/>
              <a:round/>
              <a:headEnd/>
              <a:tailEnd/>
            </a:ln>
          </p:spPr>
          <p:txBody>
            <a:bodyPr/>
            <a:lstStyle/>
            <a:p>
              <a:endParaRPr lang="en-US"/>
            </a:p>
          </p:txBody>
        </p:sp>
        <p:sp>
          <p:nvSpPr>
            <p:cNvPr id="28698" name="Freeform 220"/>
            <p:cNvSpPr>
              <a:spLocks/>
            </p:cNvSpPr>
            <p:nvPr/>
          </p:nvSpPr>
          <p:spPr bwMode="auto">
            <a:xfrm>
              <a:off x="1978" y="3630"/>
              <a:ext cx="11" cy="11"/>
            </a:xfrm>
            <a:custGeom>
              <a:avLst/>
              <a:gdLst>
                <a:gd name="T0" fmla="*/ 0 w 24"/>
                <a:gd name="T1" fmla="*/ 1 h 22"/>
                <a:gd name="T2" fmla="*/ 0 w 24"/>
                <a:gd name="T3" fmla="*/ 1 h 22"/>
                <a:gd name="T4" fmla="*/ 0 w 24"/>
                <a:gd name="T5" fmla="*/ 1 h 22"/>
                <a:gd name="T6" fmla="*/ 0 w 24"/>
                <a:gd name="T7" fmla="*/ 1 h 22"/>
                <a:gd name="T8" fmla="*/ 0 w 24"/>
                <a:gd name="T9" fmla="*/ 1 h 22"/>
                <a:gd name="T10" fmla="*/ 0 w 24"/>
                <a:gd name="T11" fmla="*/ 0 h 22"/>
                <a:gd name="T12" fmla="*/ 0 w 24"/>
                <a:gd name="T13" fmla="*/ 1 h 22"/>
                <a:gd name="T14" fmla="*/ 0 w 24"/>
                <a:gd name="T15" fmla="*/ 1 h 22"/>
                <a:gd name="T16" fmla="*/ 0 w 24"/>
                <a:gd name="T17" fmla="*/ 1 h 22"/>
                <a:gd name="T18" fmla="*/ 0 w 24"/>
                <a:gd name="T19" fmla="*/ 1 h 22"/>
                <a:gd name="T20" fmla="*/ 0 w 24"/>
                <a:gd name="T21" fmla="*/ 1 h 22"/>
                <a:gd name="T22" fmla="*/ 0 w 24"/>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2"/>
                <a:gd name="T38" fmla="*/ 24 w 24"/>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2">
                  <a:moveTo>
                    <a:pt x="16" y="22"/>
                  </a:moveTo>
                  <a:lnTo>
                    <a:pt x="24" y="8"/>
                  </a:lnTo>
                  <a:lnTo>
                    <a:pt x="22" y="1"/>
                  </a:lnTo>
                  <a:lnTo>
                    <a:pt x="0" y="8"/>
                  </a:lnTo>
                  <a:lnTo>
                    <a:pt x="2" y="14"/>
                  </a:lnTo>
                  <a:lnTo>
                    <a:pt x="9" y="0"/>
                  </a:lnTo>
                  <a:lnTo>
                    <a:pt x="2" y="14"/>
                  </a:lnTo>
                  <a:lnTo>
                    <a:pt x="6" y="20"/>
                  </a:lnTo>
                  <a:lnTo>
                    <a:pt x="16" y="22"/>
                  </a:lnTo>
                  <a:lnTo>
                    <a:pt x="22" y="17"/>
                  </a:lnTo>
                  <a:lnTo>
                    <a:pt x="24" y="8"/>
                  </a:lnTo>
                  <a:lnTo>
                    <a:pt x="16" y="22"/>
                  </a:lnTo>
                  <a:close/>
                </a:path>
              </a:pathLst>
            </a:custGeom>
            <a:solidFill>
              <a:srgbClr val="000000"/>
            </a:solidFill>
            <a:ln w="9525">
              <a:noFill/>
              <a:round/>
              <a:headEnd/>
              <a:tailEnd/>
            </a:ln>
          </p:spPr>
          <p:txBody>
            <a:bodyPr/>
            <a:lstStyle/>
            <a:p>
              <a:endParaRPr lang="en-US"/>
            </a:p>
          </p:txBody>
        </p:sp>
        <p:sp>
          <p:nvSpPr>
            <p:cNvPr id="28699" name="Freeform 221"/>
            <p:cNvSpPr>
              <a:spLocks/>
            </p:cNvSpPr>
            <p:nvPr/>
          </p:nvSpPr>
          <p:spPr bwMode="auto">
            <a:xfrm>
              <a:off x="1976" y="3630"/>
              <a:ext cx="9" cy="12"/>
            </a:xfrm>
            <a:custGeom>
              <a:avLst/>
              <a:gdLst>
                <a:gd name="T0" fmla="*/ 0 w 19"/>
                <a:gd name="T1" fmla="*/ 1 h 23"/>
                <a:gd name="T2" fmla="*/ 0 w 19"/>
                <a:gd name="T3" fmla="*/ 1 h 23"/>
                <a:gd name="T4" fmla="*/ 0 w 19"/>
                <a:gd name="T5" fmla="*/ 1 h 23"/>
                <a:gd name="T6" fmla="*/ 0 w 19"/>
                <a:gd name="T7" fmla="*/ 0 h 23"/>
                <a:gd name="T8" fmla="*/ 0 w 19"/>
                <a:gd name="T9" fmla="*/ 1 h 23"/>
                <a:gd name="T10" fmla="*/ 0 w 19"/>
                <a:gd name="T11" fmla="*/ 1 h 23"/>
                <a:gd name="T12" fmla="*/ 0 w 19"/>
                <a:gd name="T13" fmla="*/ 1 h 23"/>
                <a:gd name="T14" fmla="*/ 0 w 19"/>
                <a:gd name="T15" fmla="*/ 1 h 23"/>
                <a:gd name="T16" fmla="*/ 0 w 19"/>
                <a:gd name="T17" fmla="*/ 1 h 23"/>
                <a:gd name="T18" fmla="*/ 0 w 19"/>
                <a:gd name="T19" fmla="*/ 1 h 23"/>
                <a:gd name="T20" fmla="*/ 0 w 19"/>
                <a:gd name="T21" fmla="*/ 1 h 23"/>
                <a:gd name="T22" fmla="*/ 0 w 19"/>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3"/>
                <a:gd name="T38" fmla="*/ 19 w 19"/>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3">
                  <a:moveTo>
                    <a:pt x="8" y="23"/>
                  </a:moveTo>
                  <a:lnTo>
                    <a:pt x="14" y="23"/>
                  </a:lnTo>
                  <a:lnTo>
                    <a:pt x="19" y="22"/>
                  </a:lnTo>
                  <a:lnTo>
                    <a:pt x="12" y="0"/>
                  </a:lnTo>
                  <a:lnTo>
                    <a:pt x="8" y="1"/>
                  </a:lnTo>
                  <a:lnTo>
                    <a:pt x="14" y="1"/>
                  </a:lnTo>
                  <a:lnTo>
                    <a:pt x="8" y="1"/>
                  </a:lnTo>
                  <a:lnTo>
                    <a:pt x="2" y="6"/>
                  </a:lnTo>
                  <a:lnTo>
                    <a:pt x="0" y="14"/>
                  </a:lnTo>
                  <a:lnTo>
                    <a:pt x="5" y="22"/>
                  </a:lnTo>
                  <a:lnTo>
                    <a:pt x="14" y="23"/>
                  </a:lnTo>
                  <a:lnTo>
                    <a:pt x="8" y="23"/>
                  </a:lnTo>
                  <a:close/>
                </a:path>
              </a:pathLst>
            </a:custGeom>
            <a:solidFill>
              <a:srgbClr val="000000"/>
            </a:solidFill>
            <a:ln w="9525">
              <a:noFill/>
              <a:round/>
              <a:headEnd/>
              <a:tailEnd/>
            </a:ln>
          </p:spPr>
          <p:txBody>
            <a:bodyPr/>
            <a:lstStyle/>
            <a:p>
              <a:endParaRPr lang="en-US"/>
            </a:p>
          </p:txBody>
        </p:sp>
        <p:sp>
          <p:nvSpPr>
            <p:cNvPr id="28700" name="Freeform 222"/>
            <p:cNvSpPr>
              <a:spLocks/>
            </p:cNvSpPr>
            <p:nvPr/>
          </p:nvSpPr>
          <p:spPr bwMode="auto">
            <a:xfrm>
              <a:off x="1970" y="3630"/>
              <a:ext cx="13" cy="12"/>
            </a:xfrm>
            <a:custGeom>
              <a:avLst/>
              <a:gdLst>
                <a:gd name="T0" fmla="*/ 0 w 27"/>
                <a:gd name="T1" fmla="*/ 0 h 25"/>
                <a:gd name="T2" fmla="*/ 0 w 27"/>
                <a:gd name="T3" fmla="*/ 0 h 25"/>
                <a:gd name="T4" fmla="*/ 0 w 27"/>
                <a:gd name="T5" fmla="*/ 0 h 25"/>
                <a:gd name="T6" fmla="*/ 0 w 27"/>
                <a:gd name="T7" fmla="*/ 0 h 25"/>
                <a:gd name="T8" fmla="*/ 0 w 27"/>
                <a:gd name="T9" fmla="*/ 0 h 25"/>
                <a:gd name="T10" fmla="*/ 0 w 27"/>
                <a:gd name="T11" fmla="*/ 0 h 25"/>
                <a:gd name="T12" fmla="*/ 0 w 27"/>
                <a:gd name="T13" fmla="*/ 0 h 25"/>
                <a:gd name="T14" fmla="*/ 0 w 27"/>
                <a:gd name="T15" fmla="*/ 0 h 25"/>
                <a:gd name="T16" fmla="*/ 0 w 27"/>
                <a:gd name="T17" fmla="*/ 0 h 25"/>
                <a:gd name="T18" fmla="*/ 0 w 27"/>
                <a:gd name="T19" fmla="*/ 0 h 25"/>
                <a:gd name="T20" fmla="*/ 0 w 27"/>
                <a:gd name="T21" fmla="*/ 0 h 25"/>
                <a:gd name="T22" fmla="*/ 0 w 27"/>
                <a:gd name="T23" fmla="*/ 0 h 25"/>
                <a:gd name="T24" fmla="*/ 0 w 27"/>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25"/>
                <a:gd name="T41" fmla="*/ 27 w 27"/>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25">
                  <a:moveTo>
                    <a:pt x="0" y="6"/>
                  </a:moveTo>
                  <a:lnTo>
                    <a:pt x="0" y="5"/>
                  </a:lnTo>
                  <a:lnTo>
                    <a:pt x="7" y="14"/>
                  </a:lnTo>
                  <a:lnTo>
                    <a:pt x="11" y="19"/>
                  </a:lnTo>
                  <a:lnTo>
                    <a:pt x="18" y="24"/>
                  </a:lnTo>
                  <a:lnTo>
                    <a:pt x="21" y="25"/>
                  </a:lnTo>
                  <a:lnTo>
                    <a:pt x="27" y="3"/>
                  </a:lnTo>
                  <a:lnTo>
                    <a:pt x="27" y="5"/>
                  </a:lnTo>
                  <a:lnTo>
                    <a:pt x="24" y="3"/>
                  </a:lnTo>
                  <a:lnTo>
                    <a:pt x="22" y="2"/>
                  </a:lnTo>
                  <a:lnTo>
                    <a:pt x="22" y="0"/>
                  </a:lnTo>
                  <a:lnTo>
                    <a:pt x="0" y="6"/>
                  </a:lnTo>
                  <a:close/>
                </a:path>
              </a:pathLst>
            </a:custGeom>
            <a:solidFill>
              <a:srgbClr val="000000"/>
            </a:solidFill>
            <a:ln w="9525">
              <a:noFill/>
              <a:round/>
              <a:headEnd/>
              <a:tailEnd/>
            </a:ln>
          </p:spPr>
          <p:txBody>
            <a:bodyPr/>
            <a:lstStyle/>
            <a:p>
              <a:endParaRPr lang="en-US"/>
            </a:p>
          </p:txBody>
        </p:sp>
        <p:sp>
          <p:nvSpPr>
            <p:cNvPr id="28701" name="Freeform 223"/>
            <p:cNvSpPr>
              <a:spLocks/>
            </p:cNvSpPr>
            <p:nvPr/>
          </p:nvSpPr>
          <p:spPr bwMode="auto">
            <a:xfrm>
              <a:off x="1968" y="3620"/>
              <a:ext cx="13" cy="13"/>
            </a:xfrm>
            <a:custGeom>
              <a:avLst/>
              <a:gdLst>
                <a:gd name="T0" fmla="*/ 1 w 25"/>
                <a:gd name="T1" fmla="*/ 0 h 25"/>
                <a:gd name="T2" fmla="*/ 1 w 25"/>
                <a:gd name="T3" fmla="*/ 1 h 25"/>
                <a:gd name="T4" fmla="*/ 1 w 25"/>
                <a:gd name="T5" fmla="*/ 1 h 25"/>
                <a:gd name="T6" fmla="*/ 0 w 25"/>
                <a:gd name="T7" fmla="*/ 1 h 25"/>
                <a:gd name="T8" fmla="*/ 1 w 25"/>
                <a:gd name="T9" fmla="*/ 1 h 25"/>
                <a:gd name="T10" fmla="*/ 1 w 25"/>
                <a:gd name="T11" fmla="*/ 1 h 25"/>
                <a:gd name="T12" fmla="*/ 1 w 25"/>
                <a:gd name="T13" fmla="*/ 1 h 25"/>
                <a:gd name="T14" fmla="*/ 1 w 25"/>
                <a:gd name="T15" fmla="*/ 1 h 25"/>
                <a:gd name="T16" fmla="*/ 1 w 25"/>
                <a:gd name="T17" fmla="*/ 1 h 25"/>
                <a:gd name="T18" fmla="*/ 1 w 25"/>
                <a:gd name="T19" fmla="*/ 1 h 25"/>
                <a:gd name="T20" fmla="*/ 1 w 25"/>
                <a:gd name="T21" fmla="*/ 1 h 25"/>
                <a:gd name="T22" fmla="*/ 1 w 25"/>
                <a:gd name="T23" fmla="*/ 1 h 25"/>
                <a:gd name="T24" fmla="*/ 1 w 25"/>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5"/>
                <a:gd name="T41" fmla="*/ 25 w 25"/>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5">
                  <a:moveTo>
                    <a:pt x="10" y="0"/>
                  </a:moveTo>
                  <a:lnTo>
                    <a:pt x="8" y="2"/>
                  </a:lnTo>
                  <a:lnTo>
                    <a:pt x="2" y="8"/>
                  </a:lnTo>
                  <a:lnTo>
                    <a:pt x="0" y="18"/>
                  </a:lnTo>
                  <a:lnTo>
                    <a:pt x="2" y="22"/>
                  </a:lnTo>
                  <a:lnTo>
                    <a:pt x="3" y="25"/>
                  </a:lnTo>
                  <a:lnTo>
                    <a:pt x="25" y="19"/>
                  </a:lnTo>
                  <a:lnTo>
                    <a:pt x="24" y="13"/>
                  </a:lnTo>
                  <a:lnTo>
                    <a:pt x="22" y="11"/>
                  </a:lnTo>
                  <a:lnTo>
                    <a:pt x="21" y="18"/>
                  </a:lnTo>
                  <a:lnTo>
                    <a:pt x="18" y="21"/>
                  </a:lnTo>
                  <a:lnTo>
                    <a:pt x="16" y="22"/>
                  </a:lnTo>
                  <a:lnTo>
                    <a:pt x="10" y="0"/>
                  </a:lnTo>
                  <a:close/>
                </a:path>
              </a:pathLst>
            </a:custGeom>
            <a:solidFill>
              <a:srgbClr val="000000"/>
            </a:solidFill>
            <a:ln w="9525">
              <a:noFill/>
              <a:round/>
              <a:headEnd/>
              <a:tailEnd/>
            </a:ln>
          </p:spPr>
          <p:txBody>
            <a:bodyPr/>
            <a:lstStyle/>
            <a:p>
              <a:endParaRPr lang="en-US"/>
            </a:p>
          </p:txBody>
        </p:sp>
        <p:sp>
          <p:nvSpPr>
            <p:cNvPr id="28702" name="Freeform 224"/>
            <p:cNvSpPr>
              <a:spLocks/>
            </p:cNvSpPr>
            <p:nvPr/>
          </p:nvSpPr>
          <p:spPr bwMode="auto">
            <a:xfrm>
              <a:off x="1970" y="3616"/>
              <a:ext cx="11" cy="15"/>
            </a:xfrm>
            <a:custGeom>
              <a:avLst/>
              <a:gdLst>
                <a:gd name="T0" fmla="*/ 1 w 22"/>
                <a:gd name="T1" fmla="*/ 0 h 31"/>
                <a:gd name="T2" fmla="*/ 1 w 22"/>
                <a:gd name="T3" fmla="*/ 0 h 31"/>
                <a:gd name="T4" fmla="*/ 1 w 22"/>
                <a:gd name="T5" fmla="*/ 0 h 31"/>
                <a:gd name="T6" fmla="*/ 0 w 22"/>
                <a:gd name="T7" fmla="*/ 0 h 31"/>
                <a:gd name="T8" fmla="*/ 1 w 22"/>
                <a:gd name="T9" fmla="*/ 0 h 31"/>
                <a:gd name="T10" fmla="*/ 1 w 22"/>
                <a:gd name="T11" fmla="*/ 0 h 31"/>
                <a:gd name="T12" fmla="*/ 1 w 22"/>
                <a:gd name="T13" fmla="*/ 0 h 31"/>
                <a:gd name="T14" fmla="*/ 1 w 22"/>
                <a:gd name="T15" fmla="*/ 0 h 31"/>
                <a:gd name="T16" fmla="*/ 1 w 22"/>
                <a:gd name="T17" fmla="*/ 0 h 31"/>
                <a:gd name="T18" fmla="*/ 1 w 22"/>
                <a:gd name="T19" fmla="*/ 0 h 31"/>
                <a:gd name="T20" fmla="*/ 1 w 22"/>
                <a:gd name="T21" fmla="*/ 0 h 31"/>
                <a:gd name="T22" fmla="*/ 1 w 22"/>
                <a:gd name="T23" fmla="*/ 0 h 31"/>
                <a:gd name="T24" fmla="*/ 1 w 22"/>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1"/>
                <a:gd name="T41" fmla="*/ 22 w 22"/>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1">
                  <a:moveTo>
                    <a:pt x="9" y="0"/>
                  </a:moveTo>
                  <a:lnTo>
                    <a:pt x="9" y="0"/>
                  </a:lnTo>
                  <a:lnTo>
                    <a:pt x="3" y="5"/>
                  </a:lnTo>
                  <a:lnTo>
                    <a:pt x="0" y="13"/>
                  </a:lnTo>
                  <a:lnTo>
                    <a:pt x="2" y="14"/>
                  </a:lnTo>
                  <a:lnTo>
                    <a:pt x="5" y="9"/>
                  </a:lnTo>
                  <a:lnTo>
                    <a:pt x="11" y="31"/>
                  </a:lnTo>
                  <a:lnTo>
                    <a:pt x="20" y="24"/>
                  </a:lnTo>
                  <a:lnTo>
                    <a:pt x="22" y="16"/>
                  </a:lnTo>
                  <a:lnTo>
                    <a:pt x="22" y="17"/>
                  </a:lnTo>
                  <a:lnTo>
                    <a:pt x="19" y="19"/>
                  </a:lnTo>
                  <a:lnTo>
                    <a:pt x="9" y="0"/>
                  </a:lnTo>
                  <a:close/>
                </a:path>
              </a:pathLst>
            </a:custGeom>
            <a:solidFill>
              <a:srgbClr val="000000"/>
            </a:solidFill>
            <a:ln w="9525">
              <a:noFill/>
              <a:round/>
              <a:headEnd/>
              <a:tailEnd/>
            </a:ln>
          </p:spPr>
          <p:txBody>
            <a:bodyPr/>
            <a:lstStyle/>
            <a:p>
              <a:endParaRPr lang="en-US"/>
            </a:p>
          </p:txBody>
        </p:sp>
        <p:sp>
          <p:nvSpPr>
            <p:cNvPr id="28703" name="Freeform 225"/>
            <p:cNvSpPr>
              <a:spLocks/>
            </p:cNvSpPr>
            <p:nvPr/>
          </p:nvSpPr>
          <p:spPr bwMode="auto">
            <a:xfrm>
              <a:off x="1975" y="3608"/>
              <a:ext cx="11" cy="17"/>
            </a:xfrm>
            <a:custGeom>
              <a:avLst/>
              <a:gdLst>
                <a:gd name="T0" fmla="*/ 1 w 22"/>
                <a:gd name="T1" fmla="*/ 0 h 33"/>
                <a:gd name="T2" fmla="*/ 1 w 22"/>
                <a:gd name="T3" fmla="*/ 0 h 33"/>
                <a:gd name="T4" fmla="*/ 1 w 22"/>
                <a:gd name="T5" fmla="*/ 1 h 33"/>
                <a:gd name="T6" fmla="*/ 1 w 22"/>
                <a:gd name="T7" fmla="*/ 1 h 33"/>
                <a:gd name="T8" fmla="*/ 0 w 22"/>
                <a:gd name="T9" fmla="*/ 1 h 33"/>
                <a:gd name="T10" fmla="*/ 0 w 22"/>
                <a:gd name="T11" fmla="*/ 1 h 33"/>
                <a:gd name="T12" fmla="*/ 1 w 22"/>
                <a:gd name="T13" fmla="*/ 1 h 33"/>
                <a:gd name="T14" fmla="*/ 1 w 22"/>
                <a:gd name="T15" fmla="*/ 1 h 33"/>
                <a:gd name="T16" fmla="*/ 1 w 22"/>
                <a:gd name="T17" fmla="*/ 1 h 33"/>
                <a:gd name="T18" fmla="*/ 1 w 22"/>
                <a:gd name="T19" fmla="*/ 1 h 33"/>
                <a:gd name="T20" fmla="*/ 1 w 22"/>
                <a:gd name="T21" fmla="*/ 1 h 33"/>
                <a:gd name="T22" fmla="*/ 1 w 22"/>
                <a:gd name="T23" fmla="*/ 1 h 33"/>
                <a:gd name="T24" fmla="*/ 1 w 22"/>
                <a:gd name="T25" fmla="*/ 0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3"/>
                <a:gd name="T41" fmla="*/ 22 w 22"/>
                <a:gd name="T42" fmla="*/ 33 h 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3">
                  <a:moveTo>
                    <a:pt x="19" y="0"/>
                  </a:moveTo>
                  <a:lnTo>
                    <a:pt x="16" y="0"/>
                  </a:lnTo>
                  <a:lnTo>
                    <a:pt x="10" y="6"/>
                  </a:lnTo>
                  <a:lnTo>
                    <a:pt x="5" y="9"/>
                  </a:lnTo>
                  <a:lnTo>
                    <a:pt x="0" y="12"/>
                  </a:lnTo>
                  <a:lnTo>
                    <a:pt x="0" y="14"/>
                  </a:lnTo>
                  <a:lnTo>
                    <a:pt x="10" y="33"/>
                  </a:lnTo>
                  <a:lnTo>
                    <a:pt x="16" y="28"/>
                  </a:lnTo>
                  <a:lnTo>
                    <a:pt x="18" y="25"/>
                  </a:lnTo>
                  <a:lnTo>
                    <a:pt x="22" y="22"/>
                  </a:lnTo>
                  <a:lnTo>
                    <a:pt x="19" y="22"/>
                  </a:lnTo>
                  <a:lnTo>
                    <a:pt x="19" y="0"/>
                  </a:lnTo>
                  <a:close/>
                </a:path>
              </a:pathLst>
            </a:custGeom>
            <a:solidFill>
              <a:srgbClr val="000000"/>
            </a:solidFill>
            <a:ln w="9525">
              <a:noFill/>
              <a:round/>
              <a:headEnd/>
              <a:tailEnd/>
            </a:ln>
          </p:spPr>
          <p:txBody>
            <a:bodyPr/>
            <a:lstStyle/>
            <a:p>
              <a:endParaRPr lang="en-US"/>
            </a:p>
          </p:txBody>
        </p:sp>
        <p:sp>
          <p:nvSpPr>
            <p:cNvPr id="28704" name="Freeform 226"/>
            <p:cNvSpPr>
              <a:spLocks/>
            </p:cNvSpPr>
            <p:nvPr/>
          </p:nvSpPr>
          <p:spPr bwMode="auto">
            <a:xfrm>
              <a:off x="1982" y="3602"/>
              <a:ext cx="11" cy="17"/>
            </a:xfrm>
            <a:custGeom>
              <a:avLst/>
              <a:gdLst>
                <a:gd name="T0" fmla="*/ 1 w 22"/>
                <a:gd name="T1" fmla="*/ 0 h 35"/>
                <a:gd name="T2" fmla="*/ 1 w 22"/>
                <a:gd name="T3" fmla="*/ 0 h 35"/>
                <a:gd name="T4" fmla="*/ 1 w 22"/>
                <a:gd name="T5" fmla="*/ 0 h 35"/>
                <a:gd name="T6" fmla="*/ 1 w 22"/>
                <a:gd name="T7" fmla="*/ 0 h 35"/>
                <a:gd name="T8" fmla="*/ 0 w 22"/>
                <a:gd name="T9" fmla="*/ 0 h 35"/>
                <a:gd name="T10" fmla="*/ 1 w 22"/>
                <a:gd name="T11" fmla="*/ 0 h 35"/>
                <a:gd name="T12" fmla="*/ 1 w 22"/>
                <a:gd name="T13" fmla="*/ 0 h 35"/>
                <a:gd name="T14" fmla="*/ 1 w 22"/>
                <a:gd name="T15" fmla="*/ 0 h 35"/>
                <a:gd name="T16" fmla="*/ 1 w 22"/>
                <a:gd name="T17" fmla="*/ 0 h 35"/>
                <a:gd name="T18" fmla="*/ 1 w 22"/>
                <a:gd name="T19" fmla="*/ 0 h 35"/>
                <a:gd name="T20" fmla="*/ 1 w 22"/>
                <a:gd name="T21" fmla="*/ 0 h 35"/>
                <a:gd name="T22" fmla="*/ 1 w 22"/>
                <a:gd name="T23" fmla="*/ 0 h 35"/>
                <a:gd name="T24" fmla="*/ 1 w 22"/>
                <a:gd name="T25" fmla="*/ 0 h 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5"/>
                <a:gd name="T41" fmla="*/ 22 w 22"/>
                <a:gd name="T42" fmla="*/ 35 h 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5">
                  <a:moveTo>
                    <a:pt x="13" y="0"/>
                  </a:moveTo>
                  <a:lnTo>
                    <a:pt x="13" y="0"/>
                  </a:lnTo>
                  <a:lnTo>
                    <a:pt x="4" y="8"/>
                  </a:lnTo>
                  <a:lnTo>
                    <a:pt x="2" y="11"/>
                  </a:lnTo>
                  <a:lnTo>
                    <a:pt x="0" y="15"/>
                  </a:lnTo>
                  <a:lnTo>
                    <a:pt x="5" y="13"/>
                  </a:lnTo>
                  <a:lnTo>
                    <a:pt x="5" y="35"/>
                  </a:lnTo>
                  <a:lnTo>
                    <a:pt x="16" y="30"/>
                  </a:lnTo>
                  <a:lnTo>
                    <a:pt x="21" y="24"/>
                  </a:lnTo>
                  <a:lnTo>
                    <a:pt x="22" y="21"/>
                  </a:lnTo>
                  <a:lnTo>
                    <a:pt x="19" y="22"/>
                  </a:lnTo>
                  <a:lnTo>
                    <a:pt x="13" y="0"/>
                  </a:lnTo>
                  <a:close/>
                </a:path>
              </a:pathLst>
            </a:custGeom>
            <a:solidFill>
              <a:srgbClr val="000000"/>
            </a:solidFill>
            <a:ln w="9525">
              <a:noFill/>
              <a:round/>
              <a:headEnd/>
              <a:tailEnd/>
            </a:ln>
          </p:spPr>
          <p:txBody>
            <a:bodyPr/>
            <a:lstStyle/>
            <a:p>
              <a:endParaRPr lang="en-US"/>
            </a:p>
          </p:txBody>
        </p:sp>
        <p:sp>
          <p:nvSpPr>
            <p:cNvPr id="28705" name="Freeform 227"/>
            <p:cNvSpPr>
              <a:spLocks/>
            </p:cNvSpPr>
            <p:nvPr/>
          </p:nvSpPr>
          <p:spPr bwMode="auto">
            <a:xfrm>
              <a:off x="1989" y="3602"/>
              <a:ext cx="21" cy="17"/>
            </a:xfrm>
            <a:custGeom>
              <a:avLst/>
              <a:gdLst>
                <a:gd name="T0" fmla="*/ 0 w 44"/>
                <a:gd name="T1" fmla="*/ 1 h 33"/>
                <a:gd name="T2" fmla="*/ 0 w 44"/>
                <a:gd name="T3" fmla="*/ 1 h 33"/>
                <a:gd name="T4" fmla="*/ 0 w 44"/>
                <a:gd name="T5" fmla="*/ 1 h 33"/>
                <a:gd name="T6" fmla="*/ 0 w 44"/>
                <a:gd name="T7" fmla="*/ 1 h 33"/>
                <a:gd name="T8" fmla="*/ 0 w 44"/>
                <a:gd name="T9" fmla="*/ 1 h 33"/>
                <a:gd name="T10" fmla="*/ 0 w 44"/>
                <a:gd name="T11" fmla="*/ 0 h 33"/>
                <a:gd name="T12" fmla="*/ 0 w 44"/>
                <a:gd name="T13" fmla="*/ 1 h 33"/>
                <a:gd name="T14" fmla="*/ 0 w 44"/>
                <a:gd name="T15" fmla="*/ 1 h 33"/>
                <a:gd name="T16" fmla="*/ 0 w 44"/>
                <a:gd name="T17" fmla="*/ 1 h 33"/>
                <a:gd name="T18" fmla="*/ 0 w 44"/>
                <a:gd name="T19" fmla="*/ 1 h 33"/>
                <a:gd name="T20" fmla="*/ 0 w 44"/>
                <a:gd name="T21" fmla="*/ 1 h 33"/>
                <a:gd name="T22" fmla="*/ 0 w 44"/>
                <a:gd name="T23" fmla="*/ 1 h 33"/>
                <a:gd name="T24" fmla="*/ 0 w 44"/>
                <a:gd name="T25" fmla="*/ 1 h 33"/>
                <a:gd name="T26" fmla="*/ 0 w 44"/>
                <a:gd name="T27" fmla="*/ 1 h 33"/>
                <a:gd name="T28" fmla="*/ 0 w 44"/>
                <a:gd name="T29" fmla="*/ 1 h 33"/>
                <a:gd name="T30" fmla="*/ 0 w 44"/>
                <a:gd name="T31" fmla="*/ 1 h 33"/>
                <a:gd name="T32" fmla="*/ 0 w 44"/>
                <a:gd name="T33" fmla="*/ 1 h 33"/>
                <a:gd name="T34" fmla="*/ 0 w 44"/>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4"/>
                <a:gd name="T55" fmla="*/ 0 h 33"/>
                <a:gd name="T56" fmla="*/ 44 w 44"/>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4" h="33">
                  <a:moveTo>
                    <a:pt x="25" y="32"/>
                  </a:moveTo>
                  <a:lnTo>
                    <a:pt x="38" y="15"/>
                  </a:lnTo>
                  <a:lnTo>
                    <a:pt x="33" y="13"/>
                  </a:lnTo>
                  <a:lnTo>
                    <a:pt x="25" y="8"/>
                  </a:lnTo>
                  <a:lnTo>
                    <a:pt x="13" y="2"/>
                  </a:lnTo>
                  <a:lnTo>
                    <a:pt x="0" y="0"/>
                  </a:lnTo>
                  <a:lnTo>
                    <a:pt x="6" y="22"/>
                  </a:lnTo>
                  <a:lnTo>
                    <a:pt x="6" y="24"/>
                  </a:lnTo>
                  <a:lnTo>
                    <a:pt x="16" y="27"/>
                  </a:lnTo>
                  <a:lnTo>
                    <a:pt x="23" y="32"/>
                  </a:lnTo>
                  <a:lnTo>
                    <a:pt x="28" y="33"/>
                  </a:lnTo>
                  <a:lnTo>
                    <a:pt x="41" y="16"/>
                  </a:lnTo>
                  <a:lnTo>
                    <a:pt x="28" y="33"/>
                  </a:lnTo>
                  <a:lnTo>
                    <a:pt x="36" y="33"/>
                  </a:lnTo>
                  <a:lnTo>
                    <a:pt x="42" y="29"/>
                  </a:lnTo>
                  <a:lnTo>
                    <a:pt x="44" y="21"/>
                  </a:lnTo>
                  <a:lnTo>
                    <a:pt x="38" y="15"/>
                  </a:lnTo>
                  <a:lnTo>
                    <a:pt x="25" y="32"/>
                  </a:lnTo>
                  <a:close/>
                </a:path>
              </a:pathLst>
            </a:custGeom>
            <a:solidFill>
              <a:srgbClr val="000000"/>
            </a:solidFill>
            <a:ln w="9525">
              <a:noFill/>
              <a:round/>
              <a:headEnd/>
              <a:tailEnd/>
            </a:ln>
          </p:spPr>
          <p:txBody>
            <a:bodyPr/>
            <a:lstStyle/>
            <a:p>
              <a:endParaRPr lang="en-US"/>
            </a:p>
          </p:txBody>
        </p:sp>
        <p:sp>
          <p:nvSpPr>
            <p:cNvPr id="28706" name="Freeform 228"/>
            <p:cNvSpPr>
              <a:spLocks/>
            </p:cNvSpPr>
            <p:nvPr/>
          </p:nvSpPr>
          <p:spPr bwMode="auto">
            <a:xfrm>
              <a:off x="1998" y="3607"/>
              <a:ext cx="11" cy="11"/>
            </a:xfrm>
            <a:custGeom>
              <a:avLst/>
              <a:gdLst>
                <a:gd name="T0" fmla="*/ 0 w 22"/>
                <a:gd name="T1" fmla="*/ 1 h 22"/>
                <a:gd name="T2" fmla="*/ 1 w 22"/>
                <a:gd name="T3" fmla="*/ 1 h 22"/>
                <a:gd name="T4" fmla="*/ 1 w 22"/>
                <a:gd name="T5" fmla="*/ 1 h 22"/>
                <a:gd name="T6" fmla="*/ 1 w 22"/>
                <a:gd name="T7" fmla="*/ 1 h 22"/>
                <a:gd name="T8" fmla="*/ 1 w 22"/>
                <a:gd name="T9" fmla="*/ 1 h 22"/>
                <a:gd name="T10" fmla="*/ 1 w 22"/>
                <a:gd name="T11" fmla="*/ 1 h 22"/>
                <a:gd name="T12" fmla="*/ 1 w 22"/>
                <a:gd name="T13" fmla="*/ 1 h 22"/>
                <a:gd name="T14" fmla="*/ 1 w 22"/>
                <a:gd name="T15" fmla="*/ 0 h 22"/>
                <a:gd name="T16" fmla="*/ 1 w 22"/>
                <a:gd name="T17" fmla="*/ 1 h 22"/>
                <a:gd name="T18" fmla="*/ 0 w 22"/>
                <a:gd name="T19" fmla="*/ 1 h 22"/>
                <a:gd name="T20" fmla="*/ 1 w 22"/>
                <a:gd name="T21" fmla="*/ 1 h 22"/>
                <a:gd name="T22" fmla="*/ 0 w 22"/>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2"/>
                <a:gd name="T38" fmla="*/ 22 w 22"/>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2">
                  <a:moveTo>
                    <a:pt x="0" y="9"/>
                  </a:moveTo>
                  <a:lnTo>
                    <a:pt x="3" y="19"/>
                  </a:lnTo>
                  <a:lnTo>
                    <a:pt x="6" y="22"/>
                  </a:lnTo>
                  <a:lnTo>
                    <a:pt x="22" y="6"/>
                  </a:lnTo>
                  <a:lnTo>
                    <a:pt x="19" y="3"/>
                  </a:lnTo>
                  <a:lnTo>
                    <a:pt x="22" y="12"/>
                  </a:lnTo>
                  <a:lnTo>
                    <a:pt x="19" y="3"/>
                  </a:lnTo>
                  <a:lnTo>
                    <a:pt x="11" y="0"/>
                  </a:lnTo>
                  <a:lnTo>
                    <a:pt x="4" y="3"/>
                  </a:lnTo>
                  <a:lnTo>
                    <a:pt x="0" y="11"/>
                  </a:lnTo>
                  <a:lnTo>
                    <a:pt x="3" y="19"/>
                  </a:lnTo>
                  <a:lnTo>
                    <a:pt x="0" y="9"/>
                  </a:lnTo>
                  <a:close/>
                </a:path>
              </a:pathLst>
            </a:custGeom>
            <a:solidFill>
              <a:srgbClr val="000000"/>
            </a:solidFill>
            <a:ln w="9525">
              <a:noFill/>
              <a:round/>
              <a:headEnd/>
              <a:tailEnd/>
            </a:ln>
          </p:spPr>
          <p:txBody>
            <a:bodyPr/>
            <a:lstStyle/>
            <a:p>
              <a:endParaRPr lang="en-US"/>
            </a:p>
          </p:txBody>
        </p:sp>
        <p:sp>
          <p:nvSpPr>
            <p:cNvPr id="28707" name="Freeform 229"/>
            <p:cNvSpPr>
              <a:spLocks/>
            </p:cNvSpPr>
            <p:nvPr/>
          </p:nvSpPr>
          <p:spPr bwMode="auto">
            <a:xfrm>
              <a:off x="1998" y="3601"/>
              <a:ext cx="12" cy="12"/>
            </a:xfrm>
            <a:custGeom>
              <a:avLst/>
              <a:gdLst>
                <a:gd name="T0" fmla="*/ 1 w 23"/>
                <a:gd name="T1" fmla="*/ 1 h 23"/>
                <a:gd name="T2" fmla="*/ 1 w 23"/>
                <a:gd name="T3" fmla="*/ 1 h 23"/>
                <a:gd name="T4" fmla="*/ 0 w 23"/>
                <a:gd name="T5" fmla="*/ 1 h 23"/>
                <a:gd name="T6" fmla="*/ 1 w 23"/>
                <a:gd name="T7" fmla="*/ 1 h 23"/>
                <a:gd name="T8" fmla="*/ 1 w 23"/>
                <a:gd name="T9" fmla="*/ 1 h 23"/>
                <a:gd name="T10" fmla="*/ 1 w 23"/>
                <a:gd name="T11" fmla="*/ 1 h 23"/>
                <a:gd name="T12" fmla="*/ 1 w 23"/>
                <a:gd name="T13" fmla="*/ 1 h 23"/>
                <a:gd name="T14" fmla="*/ 1 w 23"/>
                <a:gd name="T15" fmla="*/ 1 h 23"/>
                <a:gd name="T16" fmla="*/ 1 w 23"/>
                <a:gd name="T17" fmla="*/ 0 h 23"/>
                <a:gd name="T18" fmla="*/ 1 w 23"/>
                <a:gd name="T19" fmla="*/ 1 h 23"/>
                <a:gd name="T20" fmla="*/ 1 w 23"/>
                <a:gd name="T21" fmla="*/ 1 h 23"/>
                <a:gd name="T22" fmla="*/ 1 w 23"/>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
                <a:gd name="T37" fmla="*/ 0 h 23"/>
                <a:gd name="T38" fmla="*/ 23 w 23"/>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 h="23">
                  <a:moveTo>
                    <a:pt x="3" y="6"/>
                  </a:moveTo>
                  <a:lnTo>
                    <a:pt x="1" y="9"/>
                  </a:lnTo>
                  <a:lnTo>
                    <a:pt x="0" y="20"/>
                  </a:lnTo>
                  <a:lnTo>
                    <a:pt x="22" y="23"/>
                  </a:lnTo>
                  <a:lnTo>
                    <a:pt x="23" y="12"/>
                  </a:lnTo>
                  <a:lnTo>
                    <a:pt x="22" y="16"/>
                  </a:lnTo>
                  <a:lnTo>
                    <a:pt x="23" y="12"/>
                  </a:lnTo>
                  <a:lnTo>
                    <a:pt x="20" y="5"/>
                  </a:lnTo>
                  <a:lnTo>
                    <a:pt x="14" y="0"/>
                  </a:lnTo>
                  <a:lnTo>
                    <a:pt x="6" y="1"/>
                  </a:lnTo>
                  <a:lnTo>
                    <a:pt x="1" y="9"/>
                  </a:lnTo>
                  <a:lnTo>
                    <a:pt x="3" y="6"/>
                  </a:lnTo>
                  <a:close/>
                </a:path>
              </a:pathLst>
            </a:custGeom>
            <a:solidFill>
              <a:srgbClr val="000000"/>
            </a:solidFill>
            <a:ln w="9525">
              <a:noFill/>
              <a:round/>
              <a:headEnd/>
              <a:tailEnd/>
            </a:ln>
          </p:spPr>
          <p:txBody>
            <a:bodyPr/>
            <a:lstStyle/>
            <a:p>
              <a:endParaRPr lang="en-US"/>
            </a:p>
          </p:txBody>
        </p:sp>
        <p:sp>
          <p:nvSpPr>
            <p:cNvPr id="28708" name="Freeform 230"/>
            <p:cNvSpPr>
              <a:spLocks/>
            </p:cNvSpPr>
            <p:nvPr/>
          </p:nvSpPr>
          <p:spPr bwMode="auto">
            <a:xfrm>
              <a:off x="1999" y="3599"/>
              <a:ext cx="12" cy="10"/>
            </a:xfrm>
            <a:custGeom>
              <a:avLst/>
              <a:gdLst>
                <a:gd name="T0" fmla="*/ 1 w 23"/>
                <a:gd name="T1" fmla="*/ 0 h 21"/>
                <a:gd name="T2" fmla="*/ 1 w 23"/>
                <a:gd name="T3" fmla="*/ 0 h 21"/>
                <a:gd name="T4" fmla="*/ 1 w 23"/>
                <a:gd name="T5" fmla="*/ 0 h 21"/>
                <a:gd name="T6" fmla="*/ 1 w 23"/>
                <a:gd name="T7" fmla="*/ 0 h 21"/>
                <a:gd name="T8" fmla="*/ 0 w 23"/>
                <a:gd name="T9" fmla="*/ 0 h 21"/>
                <a:gd name="T10" fmla="*/ 0 w 23"/>
                <a:gd name="T11" fmla="*/ 0 h 21"/>
                <a:gd name="T12" fmla="*/ 1 w 23"/>
                <a:gd name="T13" fmla="*/ 0 h 21"/>
                <a:gd name="T14" fmla="*/ 1 w 23"/>
                <a:gd name="T15" fmla="*/ 0 h 21"/>
                <a:gd name="T16" fmla="*/ 1 w 23"/>
                <a:gd name="T17" fmla="*/ 0 h 21"/>
                <a:gd name="T18" fmla="*/ 1 w 23"/>
                <a:gd name="T19" fmla="*/ 0 h 21"/>
                <a:gd name="T20" fmla="*/ 1 w 23"/>
                <a:gd name="T21" fmla="*/ 0 h 21"/>
                <a:gd name="T22" fmla="*/ 1 w 23"/>
                <a:gd name="T23" fmla="*/ 0 h 21"/>
                <a:gd name="T24" fmla="*/ 1 w 23"/>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1"/>
                <a:gd name="T41" fmla="*/ 23 w 23"/>
                <a:gd name="T42" fmla="*/ 21 h 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1">
                  <a:moveTo>
                    <a:pt x="23" y="2"/>
                  </a:moveTo>
                  <a:lnTo>
                    <a:pt x="20" y="0"/>
                  </a:lnTo>
                  <a:lnTo>
                    <a:pt x="8" y="0"/>
                  </a:lnTo>
                  <a:lnTo>
                    <a:pt x="3" y="5"/>
                  </a:lnTo>
                  <a:lnTo>
                    <a:pt x="0" y="10"/>
                  </a:lnTo>
                  <a:lnTo>
                    <a:pt x="0" y="11"/>
                  </a:lnTo>
                  <a:lnTo>
                    <a:pt x="19" y="21"/>
                  </a:lnTo>
                  <a:lnTo>
                    <a:pt x="19" y="19"/>
                  </a:lnTo>
                  <a:lnTo>
                    <a:pt x="19" y="21"/>
                  </a:lnTo>
                  <a:lnTo>
                    <a:pt x="20" y="19"/>
                  </a:lnTo>
                  <a:lnTo>
                    <a:pt x="11" y="19"/>
                  </a:lnTo>
                  <a:lnTo>
                    <a:pt x="8" y="17"/>
                  </a:lnTo>
                  <a:lnTo>
                    <a:pt x="23" y="2"/>
                  </a:lnTo>
                  <a:close/>
                </a:path>
              </a:pathLst>
            </a:custGeom>
            <a:solidFill>
              <a:srgbClr val="000000"/>
            </a:solidFill>
            <a:ln w="9525">
              <a:noFill/>
              <a:round/>
              <a:headEnd/>
              <a:tailEnd/>
            </a:ln>
          </p:spPr>
          <p:txBody>
            <a:bodyPr/>
            <a:lstStyle/>
            <a:p>
              <a:endParaRPr lang="en-US"/>
            </a:p>
          </p:txBody>
        </p:sp>
        <p:sp>
          <p:nvSpPr>
            <p:cNvPr id="28709" name="Freeform 231"/>
            <p:cNvSpPr>
              <a:spLocks/>
            </p:cNvSpPr>
            <p:nvPr/>
          </p:nvSpPr>
          <p:spPr bwMode="auto">
            <a:xfrm>
              <a:off x="2003" y="3600"/>
              <a:ext cx="11" cy="10"/>
            </a:xfrm>
            <a:custGeom>
              <a:avLst/>
              <a:gdLst>
                <a:gd name="T0" fmla="*/ 0 w 24"/>
                <a:gd name="T1" fmla="*/ 1 h 20"/>
                <a:gd name="T2" fmla="*/ 0 w 24"/>
                <a:gd name="T3" fmla="*/ 1 h 20"/>
                <a:gd name="T4" fmla="*/ 0 w 24"/>
                <a:gd name="T5" fmla="*/ 1 h 20"/>
                <a:gd name="T6" fmla="*/ 0 w 24"/>
                <a:gd name="T7" fmla="*/ 1 h 20"/>
                <a:gd name="T8" fmla="*/ 0 w 24"/>
                <a:gd name="T9" fmla="*/ 1 h 20"/>
                <a:gd name="T10" fmla="*/ 0 w 24"/>
                <a:gd name="T11" fmla="*/ 0 h 20"/>
                <a:gd name="T12" fmla="*/ 0 w 24"/>
                <a:gd name="T13" fmla="*/ 1 h 20"/>
                <a:gd name="T14" fmla="*/ 0 w 24"/>
                <a:gd name="T15" fmla="*/ 1 h 20"/>
                <a:gd name="T16" fmla="*/ 0 w 24"/>
                <a:gd name="T17" fmla="*/ 1 h 20"/>
                <a:gd name="T18" fmla="*/ 0 w 24"/>
                <a:gd name="T19" fmla="*/ 1 h 20"/>
                <a:gd name="T20" fmla="*/ 0 w 24"/>
                <a:gd name="T21" fmla="*/ 1 h 20"/>
                <a:gd name="T22" fmla="*/ 0 w 24"/>
                <a:gd name="T23" fmla="*/ 1 h 20"/>
                <a:gd name="T24" fmla="*/ 0 w 24"/>
                <a:gd name="T25" fmla="*/ 1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0"/>
                <a:gd name="T41" fmla="*/ 24 w 24"/>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0">
                  <a:moveTo>
                    <a:pt x="22" y="17"/>
                  </a:moveTo>
                  <a:lnTo>
                    <a:pt x="22" y="20"/>
                  </a:lnTo>
                  <a:lnTo>
                    <a:pt x="24" y="17"/>
                  </a:lnTo>
                  <a:lnTo>
                    <a:pt x="24" y="9"/>
                  </a:lnTo>
                  <a:lnTo>
                    <a:pt x="21" y="3"/>
                  </a:lnTo>
                  <a:lnTo>
                    <a:pt x="17" y="0"/>
                  </a:lnTo>
                  <a:lnTo>
                    <a:pt x="2" y="15"/>
                  </a:lnTo>
                  <a:lnTo>
                    <a:pt x="2" y="11"/>
                  </a:lnTo>
                  <a:lnTo>
                    <a:pt x="0" y="14"/>
                  </a:lnTo>
                  <a:lnTo>
                    <a:pt x="0" y="17"/>
                  </a:lnTo>
                  <a:lnTo>
                    <a:pt x="22" y="17"/>
                  </a:lnTo>
                  <a:close/>
                </a:path>
              </a:pathLst>
            </a:custGeom>
            <a:solidFill>
              <a:srgbClr val="000000"/>
            </a:solidFill>
            <a:ln w="9525">
              <a:noFill/>
              <a:round/>
              <a:headEnd/>
              <a:tailEnd/>
            </a:ln>
          </p:spPr>
          <p:txBody>
            <a:bodyPr/>
            <a:lstStyle/>
            <a:p>
              <a:endParaRPr lang="en-US"/>
            </a:p>
          </p:txBody>
        </p:sp>
        <p:sp>
          <p:nvSpPr>
            <p:cNvPr id="28710" name="Freeform 232"/>
            <p:cNvSpPr>
              <a:spLocks/>
            </p:cNvSpPr>
            <p:nvPr/>
          </p:nvSpPr>
          <p:spPr bwMode="auto">
            <a:xfrm>
              <a:off x="2003" y="3608"/>
              <a:ext cx="14" cy="15"/>
            </a:xfrm>
            <a:custGeom>
              <a:avLst/>
              <a:gdLst>
                <a:gd name="T0" fmla="*/ 1 w 28"/>
                <a:gd name="T1" fmla="*/ 1 h 30"/>
                <a:gd name="T2" fmla="*/ 1 w 28"/>
                <a:gd name="T3" fmla="*/ 1 h 30"/>
                <a:gd name="T4" fmla="*/ 1 w 28"/>
                <a:gd name="T5" fmla="*/ 1 h 30"/>
                <a:gd name="T6" fmla="*/ 1 w 28"/>
                <a:gd name="T7" fmla="*/ 1 h 30"/>
                <a:gd name="T8" fmla="*/ 1 w 28"/>
                <a:gd name="T9" fmla="*/ 0 h 30"/>
                <a:gd name="T10" fmla="*/ 1 w 28"/>
                <a:gd name="T11" fmla="*/ 0 h 30"/>
                <a:gd name="T12" fmla="*/ 0 w 28"/>
                <a:gd name="T13" fmla="*/ 0 h 30"/>
                <a:gd name="T14" fmla="*/ 1 w 28"/>
                <a:gd name="T15" fmla="*/ 1 h 30"/>
                <a:gd name="T16" fmla="*/ 1 w 28"/>
                <a:gd name="T17" fmla="*/ 1 h 30"/>
                <a:gd name="T18" fmla="*/ 1 w 28"/>
                <a:gd name="T19" fmla="*/ 1 h 30"/>
                <a:gd name="T20" fmla="*/ 1 w 28"/>
                <a:gd name="T21" fmla="*/ 1 h 30"/>
                <a:gd name="T22" fmla="*/ 1 w 28"/>
                <a:gd name="T23" fmla="*/ 1 h 30"/>
                <a:gd name="T24" fmla="*/ 1 w 28"/>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0"/>
                <a:gd name="T41" fmla="*/ 28 w 28"/>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0">
                  <a:moveTo>
                    <a:pt x="28" y="11"/>
                  </a:moveTo>
                  <a:lnTo>
                    <a:pt x="28" y="11"/>
                  </a:lnTo>
                  <a:lnTo>
                    <a:pt x="27" y="11"/>
                  </a:lnTo>
                  <a:lnTo>
                    <a:pt x="25" y="6"/>
                  </a:lnTo>
                  <a:lnTo>
                    <a:pt x="22" y="0"/>
                  </a:lnTo>
                  <a:lnTo>
                    <a:pt x="0" y="0"/>
                  </a:lnTo>
                  <a:lnTo>
                    <a:pt x="3" y="9"/>
                  </a:lnTo>
                  <a:lnTo>
                    <a:pt x="6" y="16"/>
                  </a:lnTo>
                  <a:lnTo>
                    <a:pt x="11" y="23"/>
                  </a:lnTo>
                  <a:lnTo>
                    <a:pt x="19" y="30"/>
                  </a:lnTo>
                  <a:lnTo>
                    <a:pt x="28" y="11"/>
                  </a:lnTo>
                  <a:close/>
                </a:path>
              </a:pathLst>
            </a:custGeom>
            <a:solidFill>
              <a:srgbClr val="000000"/>
            </a:solidFill>
            <a:ln w="9525">
              <a:noFill/>
              <a:round/>
              <a:headEnd/>
              <a:tailEnd/>
            </a:ln>
          </p:spPr>
          <p:txBody>
            <a:bodyPr/>
            <a:lstStyle/>
            <a:p>
              <a:endParaRPr lang="en-US"/>
            </a:p>
          </p:txBody>
        </p:sp>
        <p:sp>
          <p:nvSpPr>
            <p:cNvPr id="28711" name="Freeform 233"/>
            <p:cNvSpPr>
              <a:spLocks/>
            </p:cNvSpPr>
            <p:nvPr/>
          </p:nvSpPr>
          <p:spPr bwMode="auto">
            <a:xfrm>
              <a:off x="2012" y="3614"/>
              <a:ext cx="71" cy="16"/>
            </a:xfrm>
            <a:custGeom>
              <a:avLst/>
              <a:gdLst>
                <a:gd name="T0" fmla="*/ 1 w 142"/>
                <a:gd name="T1" fmla="*/ 0 h 33"/>
                <a:gd name="T2" fmla="*/ 1 w 142"/>
                <a:gd name="T3" fmla="*/ 0 h 33"/>
                <a:gd name="T4" fmla="*/ 1 w 142"/>
                <a:gd name="T5" fmla="*/ 0 h 33"/>
                <a:gd name="T6" fmla="*/ 1 w 142"/>
                <a:gd name="T7" fmla="*/ 0 h 33"/>
                <a:gd name="T8" fmla="*/ 1 w 142"/>
                <a:gd name="T9" fmla="*/ 0 h 33"/>
                <a:gd name="T10" fmla="*/ 1 w 142"/>
                <a:gd name="T11" fmla="*/ 0 h 33"/>
                <a:gd name="T12" fmla="*/ 1 w 142"/>
                <a:gd name="T13" fmla="*/ 0 h 33"/>
                <a:gd name="T14" fmla="*/ 1 w 142"/>
                <a:gd name="T15" fmla="*/ 0 h 33"/>
                <a:gd name="T16" fmla="*/ 1 w 142"/>
                <a:gd name="T17" fmla="*/ 0 h 33"/>
                <a:gd name="T18" fmla="*/ 1 w 142"/>
                <a:gd name="T19" fmla="*/ 0 h 33"/>
                <a:gd name="T20" fmla="*/ 0 w 142"/>
                <a:gd name="T21" fmla="*/ 0 h 33"/>
                <a:gd name="T22" fmla="*/ 1 w 142"/>
                <a:gd name="T23" fmla="*/ 0 h 33"/>
                <a:gd name="T24" fmla="*/ 1 w 142"/>
                <a:gd name="T25" fmla="*/ 0 h 33"/>
                <a:gd name="T26" fmla="*/ 1 w 142"/>
                <a:gd name="T27" fmla="*/ 0 h 33"/>
                <a:gd name="T28" fmla="*/ 1 w 142"/>
                <a:gd name="T29" fmla="*/ 0 h 33"/>
                <a:gd name="T30" fmla="*/ 1 w 142"/>
                <a:gd name="T31" fmla="*/ 0 h 33"/>
                <a:gd name="T32" fmla="*/ 1 w 142"/>
                <a:gd name="T33" fmla="*/ 0 h 33"/>
                <a:gd name="T34" fmla="*/ 1 w 142"/>
                <a:gd name="T35" fmla="*/ 0 h 33"/>
                <a:gd name="T36" fmla="*/ 1 w 142"/>
                <a:gd name="T37" fmla="*/ 0 h 33"/>
                <a:gd name="T38" fmla="*/ 1 w 142"/>
                <a:gd name="T39" fmla="*/ 0 h 33"/>
                <a:gd name="T40" fmla="*/ 1 w 142"/>
                <a:gd name="T41" fmla="*/ 0 h 33"/>
                <a:gd name="T42" fmla="*/ 1 w 142"/>
                <a:gd name="T43" fmla="*/ 0 h 33"/>
                <a:gd name="T44" fmla="*/ 1 w 142"/>
                <a:gd name="T45" fmla="*/ 0 h 33"/>
                <a:gd name="T46" fmla="*/ 1 w 142"/>
                <a:gd name="T47" fmla="*/ 0 h 33"/>
                <a:gd name="T48" fmla="*/ 1 w 142"/>
                <a:gd name="T49" fmla="*/ 0 h 33"/>
                <a:gd name="T50" fmla="*/ 1 w 142"/>
                <a:gd name="T51" fmla="*/ 0 h 3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2"/>
                <a:gd name="T79" fmla="*/ 0 h 33"/>
                <a:gd name="T80" fmla="*/ 142 w 142"/>
                <a:gd name="T81" fmla="*/ 33 h 3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2" h="33">
                  <a:moveTo>
                    <a:pt x="124" y="14"/>
                  </a:moveTo>
                  <a:lnTo>
                    <a:pt x="133" y="11"/>
                  </a:lnTo>
                  <a:lnTo>
                    <a:pt x="128" y="11"/>
                  </a:lnTo>
                  <a:lnTo>
                    <a:pt x="114" y="9"/>
                  </a:lnTo>
                  <a:lnTo>
                    <a:pt x="92" y="8"/>
                  </a:lnTo>
                  <a:lnTo>
                    <a:pt x="72" y="6"/>
                  </a:lnTo>
                  <a:lnTo>
                    <a:pt x="49" y="3"/>
                  </a:lnTo>
                  <a:lnTo>
                    <a:pt x="28" y="1"/>
                  </a:lnTo>
                  <a:lnTo>
                    <a:pt x="14" y="0"/>
                  </a:lnTo>
                  <a:lnTo>
                    <a:pt x="9" y="0"/>
                  </a:lnTo>
                  <a:lnTo>
                    <a:pt x="0" y="19"/>
                  </a:lnTo>
                  <a:lnTo>
                    <a:pt x="11" y="22"/>
                  </a:lnTo>
                  <a:lnTo>
                    <a:pt x="25" y="23"/>
                  </a:lnTo>
                  <a:lnTo>
                    <a:pt x="45" y="25"/>
                  </a:lnTo>
                  <a:lnTo>
                    <a:pt x="69" y="28"/>
                  </a:lnTo>
                  <a:lnTo>
                    <a:pt x="92" y="30"/>
                  </a:lnTo>
                  <a:lnTo>
                    <a:pt x="111" y="31"/>
                  </a:lnTo>
                  <a:lnTo>
                    <a:pt x="125" y="33"/>
                  </a:lnTo>
                  <a:lnTo>
                    <a:pt x="130" y="33"/>
                  </a:lnTo>
                  <a:lnTo>
                    <a:pt x="139" y="30"/>
                  </a:lnTo>
                  <a:lnTo>
                    <a:pt x="130" y="33"/>
                  </a:lnTo>
                  <a:lnTo>
                    <a:pt x="138" y="30"/>
                  </a:lnTo>
                  <a:lnTo>
                    <a:pt x="142" y="23"/>
                  </a:lnTo>
                  <a:lnTo>
                    <a:pt x="141" y="16"/>
                  </a:lnTo>
                  <a:lnTo>
                    <a:pt x="133" y="11"/>
                  </a:lnTo>
                  <a:lnTo>
                    <a:pt x="124" y="14"/>
                  </a:lnTo>
                  <a:close/>
                </a:path>
              </a:pathLst>
            </a:custGeom>
            <a:solidFill>
              <a:srgbClr val="000000"/>
            </a:solidFill>
            <a:ln w="9525">
              <a:noFill/>
              <a:round/>
              <a:headEnd/>
              <a:tailEnd/>
            </a:ln>
          </p:spPr>
          <p:txBody>
            <a:bodyPr/>
            <a:lstStyle/>
            <a:p>
              <a:endParaRPr lang="en-US"/>
            </a:p>
          </p:txBody>
        </p:sp>
        <p:sp>
          <p:nvSpPr>
            <p:cNvPr id="28712" name="Freeform 234"/>
            <p:cNvSpPr>
              <a:spLocks/>
            </p:cNvSpPr>
            <p:nvPr/>
          </p:nvSpPr>
          <p:spPr bwMode="auto">
            <a:xfrm>
              <a:off x="2074" y="3608"/>
              <a:ext cx="23" cy="21"/>
            </a:xfrm>
            <a:custGeom>
              <a:avLst/>
              <a:gdLst>
                <a:gd name="T0" fmla="*/ 1 w 45"/>
                <a:gd name="T1" fmla="*/ 1 h 41"/>
                <a:gd name="T2" fmla="*/ 1 w 45"/>
                <a:gd name="T3" fmla="*/ 0 h 41"/>
                <a:gd name="T4" fmla="*/ 1 w 45"/>
                <a:gd name="T5" fmla="*/ 1 h 41"/>
                <a:gd name="T6" fmla="*/ 1 w 45"/>
                <a:gd name="T7" fmla="*/ 1 h 41"/>
                <a:gd name="T8" fmla="*/ 1 w 45"/>
                <a:gd name="T9" fmla="*/ 1 h 41"/>
                <a:gd name="T10" fmla="*/ 0 w 45"/>
                <a:gd name="T11" fmla="*/ 1 h 41"/>
                <a:gd name="T12" fmla="*/ 1 w 45"/>
                <a:gd name="T13" fmla="*/ 1 h 41"/>
                <a:gd name="T14" fmla="*/ 1 w 45"/>
                <a:gd name="T15" fmla="*/ 1 h 41"/>
                <a:gd name="T16" fmla="*/ 1 w 45"/>
                <a:gd name="T17" fmla="*/ 1 h 41"/>
                <a:gd name="T18" fmla="*/ 1 w 45"/>
                <a:gd name="T19" fmla="*/ 1 h 41"/>
                <a:gd name="T20" fmla="*/ 1 w 45"/>
                <a:gd name="T21" fmla="*/ 1 h 41"/>
                <a:gd name="T22" fmla="*/ 1 w 45"/>
                <a:gd name="T23" fmla="*/ 1 h 41"/>
                <a:gd name="T24" fmla="*/ 1 w 45"/>
                <a:gd name="T25" fmla="*/ 1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41"/>
                <a:gd name="T41" fmla="*/ 45 w 45"/>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41">
                  <a:moveTo>
                    <a:pt x="36" y="2"/>
                  </a:moveTo>
                  <a:lnTo>
                    <a:pt x="37" y="0"/>
                  </a:lnTo>
                  <a:lnTo>
                    <a:pt x="23" y="6"/>
                  </a:lnTo>
                  <a:lnTo>
                    <a:pt x="14" y="14"/>
                  </a:lnTo>
                  <a:lnTo>
                    <a:pt x="4" y="20"/>
                  </a:lnTo>
                  <a:lnTo>
                    <a:pt x="0" y="25"/>
                  </a:lnTo>
                  <a:lnTo>
                    <a:pt x="15" y="41"/>
                  </a:lnTo>
                  <a:lnTo>
                    <a:pt x="17" y="39"/>
                  </a:lnTo>
                  <a:lnTo>
                    <a:pt x="26" y="33"/>
                  </a:lnTo>
                  <a:lnTo>
                    <a:pt x="36" y="25"/>
                  </a:lnTo>
                  <a:lnTo>
                    <a:pt x="44" y="22"/>
                  </a:lnTo>
                  <a:lnTo>
                    <a:pt x="45" y="20"/>
                  </a:lnTo>
                  <a:lnTo>
                    <a:pt x="36" y="2"/>
                  </a:lnTo>
                  <a:close/>
                </a:path>
              </a:pathLst>
            </a:custGeom>
            <a:solidFill>
              <a:srgbClr val="000000"/>
            </a:solidFill>
            <a:ln w="9525">
              <a:noFill/>
              <a:round/>
              <a:headEnd/>
              <a:tailEnd/>
            </a:ln>
          </p:spPr>
          <p:txBody>
            <a:bodyPr/>
            <a:lstStyle/>
            <a:p>
              <a:endParaRPr lang="en-US"/>
            </a:p>
          </p:txBody>
        </p:sp>
        <p:sp>
          <p:nvSpPr>
            <p:cNvPr id="28713" name="Freeform 235"/>
            <p:cNvSpPr>
              <a:spLocks/>
            </p:cNvSpPr>
            <p:nvPr/>
          </p:nvSpPr>
          <p:spPr bwMode="auto">
            <a:xfrm>
              <a:off x="2092" y="3601"/>
              <a:ext cx="15" cy="18"/>
            </a:xfrm>
            <a:custGeom>
              <a:avLst/>
              <a:gdLst>
                <a:gd name="T0" fmla="*/ 1 w 29"/>
                <a:gd name="T1" fmla="*/ 1 h 36"/>
                <a:gd name="T2" fmla="*/ 1 w 29"/>
                <a:gd name="T3" fmla="*/ 1 h 36"/>
                <a:gd name="T4" fmla="*/ 1 w 29"/>
                <a:gd name="T5" fmla="*/ 1 h 36"/>
                <a:gd name="T6" fmla="*/ 1 w 29"/>
                <a:gd name="T7" fmla="*/ 1 h 36"/>
                <a:gd name="T8" fmla="*/ 1 w 29"/>
                <a:gd name="T9" fmla="*/ 1 h 36"/>
                <a:gd name="T10" fmla="*/ 0 w 29"/>
                <a:gd name="T11" fmla="*/ 1 h 36"/>
                <a:gd name="T12" fmla="*/ 1 w 29"/>
                <a:gd name="T13" fmla="*/ 1 h 36"/>
                <a:gd name="T14" fmla="*/ 1 w 29"/>
                <a:gd name="T15" fmla="*/ 1 h 36"/>
                <a:gd name="T16" fmla="*/ 1 w 29"/>
                <a:gd name="T17" fmla="*/ 1 h 36"/>
                <a:gd name="T18" fmla="*/ 1 w 29"/>
                <a:gd name="T19" fmla="*/ 1 h 36"/>
                <a:gd name="T20" fmla="*/ 1 w 29"/>
                <a:gd name="T21" fmla="*/ 1 h 36"/>
                <a:gd name="T22" fmla="*/ 1 w 29"/>
                <a:gd name="T23" fmla="*/ 1 h 36"/>
                <a:gd name="T24" fmla="*/ 1 w 29"/>
                <a:gd name="T25" fmla="*/ 1 h 36"/>
                <a:gd name="T26" fmla="*/ 1 w 29"/>
                <a:gd name="T27" fmla="*/ 1 h 36"/>
                <a:gd name="T28" fmla="*/ 1 w 29"/>
                <a:gd name="T29" fmla="*/ 1 h 36"/>
                <a:gd name="T30" fmla="*/ 1 w 29"/>
                <a:gd name="T31" fmla="*/ 0 h 36"/>
                <a:gd name="T32" fmla="*/ 1 w 29"/>
                <a:gd name="T33" fmla="*/ 1 h 36"/>
                <a:gd name="T34" fmla="*/ 1 w 29"/>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
                <a:gd name="T55" fmla="*/ 0 h 36"/>
                <a:gd name="T56" fmla="*/ 29 w 29"/>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 h="36">
                  <a:moveTo>
                    <a:pt x="29" y="7"/>
                  </a:moveTo>
                  <a:lnTo>
                    <a:pt x="11" y="7"/>
                  </a:lnTo>
                  <a:lnTo>
                    <a:pt x="9" y="7"/>
                  </a:lnTo>
                  <a:lnTo>
                    <a:pt x="8" y="10"/>
                  </a:lnTo>
                  <a:lnTo>
                    <a:pt x="4" y="14"/>
                  </a:lnTo>
                  <a:lnTo>
                    <a:pt x="0" y="18"/>
                  </a:lnTo>
                  <a:lnTo>
                    <a:pt x="9" y="36"/>
                  </a:lnTo>
                  <a:lnTo>
                    <a:pt x="20" y="30"/>
                  </a:lnTo>
                  <a:lnTo>
                    <a:pt x="26" y="22"/>
                  </a:lnTo>
                  <a:lnTo>
                    <a:pt x="28" y="19"/>
                  </a:lnTo>
                  <a:lnTo>
                    <a:pt x="29" y="16"/>
                  </a:lnTo>
                  <a:lnTo>
                    <a:pt x="11" y="16"/>
                  </a:lnTo>
                  <a:lnTo>
                    <a:pt x="29" y="16"/>
                  </a:lnTo>
                  <a:lnTo>
                    <a:pt x="29" y="8"/>
                  </a:lnTo>
                  <a:lnTo>
                    <a:pt x="25" y="2"/>
                  </a:lnTo>
                  <a:lnTo>
                    <a:pt x="17" y="0"/>
                  </a:lnTo>
                  <a:lnTo>
                    <a:pt x="11" y="7"/>
                  </a:lnTo>
                  <a:lnTo>
                    <a:pt x="29" y="7"/>
                  </a:lnTo>
                  <a:close/>
                </a:path>
              </a:pathLst>
            </a:custGeom>
            <a:solidFill>
              <a:srgbClr val="000000"/>
            </a:solidFill>
            <a:ln w="9525">
              <a:noFill/>
              <a:round/>
              <a:headEnd/>
              <a:tailEnd/>
            </a:ln>
          </p:spPr>
          <p:txBody>
            <a:bodyPr/>
            <a:lstStyle/>
            <a:p>
              <a:endParaRPr lang="en-US"/>
            </a:p>
          </p:txBody>
        </p:sp>
        <p:sp>
          <p:nvSpPr>
            <p:cNvPr id="28714" name="Freeform 236"/>
            <p:cNvSpPr>
              <a:spLocks/>
            </p:cNvSpPr>
            <p:nvPr/>
          </p:nvSpPr>
          <p:spPr bwMode="auto">
            <a:xfrm>
              <a:off x="2097" y="3604"/>
              <a:ext cx="24" cy="33"/>
            </a:xfrm>
            <a:custGeom>
              <a:avLst/>
              <a:gdLst>
                <a:gd name="T0" fmla="*/ 1 w 47"/>
                <a:gd name="T1" fmla="*/ 1 h 65"/>
                <a:gd name="T2" fmla="*/ 1 w 47"/>
                <a:gd name="T3" fmla="*/ 1 h 65"/>
                <a:gd name="T4" fmla="*/ 1 w 47"/>
                <a:gd name="T5" fmla="*/ 0 h 65"/>
                <a:gd name="T6" fmla="*/ 0 w 47"/>
                <a:gd name="T7" fmla="*/ 1 h 65"/>
                <a:gd name="T8" fmla="*/ 1 w 47"/>
                <a:gd name="T9" fmla="*/ 1 h 65"/>
                <a:gd name="T10" fmla="*/ 1 w 47"/>
                <a:gd name="T11" fmla="*/ 1 h 65"/>
                <a:gd name="T12" fmla="*/ 0 60000 65536"/>
                <a:gd name="T13" fmla="*/ 0 60000 65536"/>
                <a:gd name="T14" fmla="*/ 0 60000 65536"/>
                <a:gd name="T15" fmla="*/ 0 60000 65536"/>
                <a:gd name="T16" fmla="*/ 0 60000 65536"/>
                <a:gd name="T17" fmla="*/ 0 60000 65536"/>
                <a:gd name="T18" fmla="*/ 0 w 47"/>
                <a:gd name="T19" fmla="*/ 0 h 65"/>
                <a:gd name="T20" fmla="*/ 47 w 4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7" h="65">
                  <a:moveTo>
                    <a:pt x="37" y="61"/>
                  </a:moveTo>
                  <a:lnTo>
                    <a:pt x="47" y="56"/>
                  </a:lnTo>
                  <a:lnTo>
                    <a:pt x="18" y="0"/>
                  </a:lnTo>
                  <a:lnTo>
                    <a:pt x="0" y="9"/>
                  </a:lnTo>
                  <a:lnTo>
                    <a:pt x="28" y="65"/>
                  </a:lnTo>
                  <a:lnTo>
                    <a:pt x="37" y="61"/>
                  </a:lnTo>
                  <a:close/>
                </a:path>
              </a:pathLst>
            </a:custGeom>
            <a:solidFill>
              <a:srgbClr val="000000"/>
            </a:solidFill>
            <a:ln w="9525">
              <a:noFill/>
              <a:round/>
              <a:headEnd/>
              <a:tailEnd/>
            </a:ln>
          </p:spPr>
          <p:txBody>
            <a:bodyPr/>
            <a:lstStyle/>
            <a:p>
              <a:endParaRPr lang="en-US"/>
            </a:p>
          </p:txBody>
        </p:sp>
        <p:sp>
          <p:nvSpPr>
            <p:cNvPr id="28715" name="Freeform 237"/>
            <p:cNvSpPr>
              <a:spLocks/>
            </p:cNvSpPr>
            <p:nvPr/>
          </p:nvSpPr>
          <p:spPr bwMode="auto">
            <a:xfrm>
              <a:off x="2046" y="3834"/>
              <a:ext cx="1" cy="14"/>
            </a:xfrm>
            <a:custGeom>
              <a:avLst/>
              <a:gdLst>
                <a:gd name="T0" fmla="*/ 0 w 1"/>
                <a:gd name="T1" fmla="*/ 1 h 28"/>
                <a:gd name="T2" fmla="*/ 0 w 1"/>
                <a:gd name="T3" fmla="*/ 0 h 28"/>
                <a:gd name="T4" fmla="*/ 0 w 1"/>
                <a:gd name="T5" fmla="*/ 1 h 28"/>
                <a:gd name="T6" fmla="*/ 0 60000 65536"/>
                <a:gd name="T7" fmla="*/ 0 60000 65536"/>
                <a:gd name="T8" fmla="*/ 0 60000 65536"/>
                <a:gd name="T9" fmla="*/ 0 w 1"/>
                <a:gd name="T10" fmla="*/ 0 h 28"/>
                <a:gd name="T11" fmla="*/ 1 w 1"/>
                <a:gd name="T12" fmla="*/ 28 h 28"/>
              </a:gdLst>
              <a:ahLst/>
              <a:cxnLst>
                <a:cxn ang="T6">
                  <a:pos x="T0" y="T1"/>
                </a:cxn>
                <a:cxn ang="T7">
                  <a:pos x="T2" y="T3"/>
                </a:cxn>
                <a:cxn ang="T8">
                  <a:pos x="T4" y="T5"/>
                </a:cxn>
              </a:cxnLst>
              <a:rect l="T9" t="T10" r="T11" b="T12"/>
              <a:pathLst>
                <a:path w="1" h="28">
                  <a:moveTo>
                    <a:pt x="0" y="28"/>
                  </a:moveTo>
                  <a:lnTo>
                    <a:pt x="0" y="0"/>
                  </a:lnTo>
                  <a:lnTo>
                    <a:pt x="0" y="28"/>
                  </a:lnTo>
                  <a:close/>
                </a:path>
              </a:pathLst>
            </a:custGeom>
            <a:solidFill>
              <a:srgbClr val="FF7226"/>
            </a:solidFill>
            <a:ln w="9525">
              <a:noFill/>
              <a:round/>
              <a:headEnd/>
              <a:tailEnd/>
            </a:ln>
          </p:spPr>
          <p:txBody>
            <a:bodyPr/>
            <a:lstStyle/>
            <a:p>
              <a:endParaRPr lang="en-US"/>
            </a:p>
          </p:txBody>
        </p:sp>
        <p:sp>
          <p:nvSpPr>
            <p:cNvPr id="28716" name="Freeform 238"/>
            <p:cNvSpPr>
              <a:spLocks/>
            </p:cNvSpPr>
            <p:nvPr/>
          </p:nvSpPr>
          <p:spPr bwMode="auto">
            <a:xfrm>
              <a:off x="2040" y="3834"/>
              <a:ext cx="11" cy="14"/>
            </a:xfrm>
            <a:custGeom>
              <a:avLst/>
              <a:gdLst>
                <a:gd name="T0" fmla="*/ 1 w 22"/>
                <a:gd name="T1" fmla="*/ 0 h 28"/>
                <a:gd name="T2" fmla="*/ 0 w 22"/>
                <a:gd name="T3" fmla="*/ 0 h 28"/>
                <a:gd name="T4" fmla="*/ 0 w 22"/>
                <a:gd name="T5" fmla="*/ 1 h 28"/>
                <a:gd name="T6" fmla="*/ 1 w 22"/>
                <a:gd name="T7" fmla="*/ 1 h 28"/>
                <a:gd name="T8" fmla="*/ 1 w 22"/>
                <a:gd name="T9" fmla="*/ 0 h 28"/>
                <a:gd name="T10" fmla="*/ 1 w 22"/>
                <a:gd name="T11" fmla="*/ 0 h 28"/>
                <a:gd name="T12" fmla="*/ 0 60000 65536"/>
                <a:gd name="T13" fmla="*/ 0 60000 65536"/>
                <a:gd name="T14" fmla="*/ 0 60000 65536"/>
                <a:gd name="T15" fmla="*/ 0 60000 65536"/>
                <a:gd name="T16" fmla="*/ 0 60000 65536"/>
                <a:gd name="T17" fmla="*/ 0 60000 65536"/>
                <a:gd name="T18" fmla="*/ 0 w 22"/>
                <a:gd name="T19" fmla="*/ 0 h 28"/>
                <a:gd name="T20" fmla="*/ 22 w 22"/>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2" h="28">
                  <a:moveTo>
                    <a:pt x="11" y="0"/>
                  </a:moveTo>
                  <a:lnTo>
                    <a:pt x="0" y="0"/>
                  </a:lnTo>
                  <a:lnTo>
                    <a:pt x="0" y="28"/>
                  </a:lnTo>
                  <a:lnTo>
                    <a:pt x="22" y="28"/>
                  </a:lnTo>
                  <a:lnTo>
                    <a:pt x="22" y="0"/>
                  </a:lnTo>
                  <a:lnTo>
                    <a:pt x="11" y="0"/>
                  </a:lnTo>
                  <a:close/>
                </a:path>
              </a:pathLst>
            </a:custGeom>
            <a:solidFill>
              <a:srgbClr val="000000"/>
            </a:solidFill>
            <a:ln w="9525">
              <a:noFill/>
              <a:round/>
              <a:headEnd/>
              <a:tailEnd/>
            </a:ln>
          </p:spPr>
          <p:txBody>
            <a:bodyPr/>
            <a:lstStyle/>
            <a:p>
              <a:endParaRPr lang="en-US"/>
            </a:p>
          </p:txBody>
        </p:sp>
      </p:grpSp>
      <p:sp>
        <p:nvSpPr>
          <p:cNvPr id="28679" name="Line 239"/>
          <p:cNvSpPr>
            <a:spLocks noChangeShapeType="1"/>
          </p:cNvSpPr>
          <p:nvPr/>
        </p:nvSpPr>
        <p:spPr bwMode="auto">
          <a:xfrm>
            <a:off x="1981200" y="5203825"/>
            <a:ext cx="5562600" cy="0"/>
          </a:xfrm>
          <a:prstGeom prst="line">
            <a:avLst/>
          </a:prstGeom>
          <a:noFill/>
          <a:ln w="12700" cap="sq">
            <a:solidFill>
              <a:schemeClr val="bg1"/>
            </a:solidFill>
            <a:round/>
            <a:headEnd type="none" w="sm" len="sm"/>
            <a:tailEnd type="none" w="sm" len="sm"/>
          </a:ln>
        </p:spPr>
        <p:txBody>
          <a:bodyPr wrap="none"/>
          <a:lstStyle/>
          <a:p>
            <a:endParaRPr lang="en-US"/>
          </a:p>
        </p:txBody>
      </p:sp>
      <p:sp>
        <p:nvSpPr>
          <p:cNvPr id="28680" name="Text Box 240"/>
          <p:cNvSpPr txBox="1">
            <a:spLocks noChangeArrowheads="1"/>
          </p:cNvSpPr>
          <p:nvPr/>
        </p:nvSpPr>
        <p:spPr bwMode="auto">
          <a:xfrm>
            <a:off x="7662863" y="4098925"/>
            <a:ext cx="660400" cy="369888"/>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RAS</a:t>
            </a:r>
          </a:p>
        </p:txBody>
      </p:sp>
      <p:pic>
        <p:nvPicPr>
          <p:cNvPr id="28681" name="Picture 241" descr="C:\My Documents\Ray\NETDRAW4\INTERNET\INTRNET.WMF"/>
          <p:cNvPicPr>
            <a:picLocks noChangeAspect="1" noChangeArrowheads="1"/>
          </p:cNvPicPr>
          <p:nvPr/>
        </p:nvPicPr>
        <p:blipFill>
          <a:blip r:embed="rId4" cstate="print"/>
          <a:srcRect/>
          <a:stretch>
            <a:fillRect/>
          </a:stretch>
        </p:blipFill>
        <p:spPr bwMode="auto">
          <a:xfrm>
            <a:off x="4918075" y="4710113"/>
            <a:ext cx="1600200" cy="985837"/>
          </a:xfrm>
          <a:prstGeom prst="rect">
            <a:avLst/>
          </a:prstGeom>
          <a:noFill/>
          <a:ln w="9525">
            <a:noFill/>
            <a:miter lim="800000"/>
            <a:headEnd/>
            <a:tailEnd/>
          </a:ln>
        </p:spPr>
      </p:pic>
      <p:pic>
        <p:nvPicPr>
          <p:cNvPr id="28682" name="Picture 242" descr="F:\NETDRAW4\ISOMETRC\FILSERVI.WMF"/>
          <p:cNvPicPr>
            <a:picLocks noChangeAspect="1" noChangeArrowheads="1"/>
          </p:cNvPicPr>
          <p:nvPr/>
        </p:nvPicPr>
        <p:blipFill>
          <a:blip r:embed="rId3" cstate="print"/>
          <a:srcRect/>
          <a:stretch>
            <a:fillRect/>
          </a:stretch>
        </p:blipFill>
        <p:spPr bwMode="auto">
          <a:xfrm>
            <a:off x="3055938" y="4572000"/>
            <a:ext cx="727075" cy="1262063"/>
          </a:xfrm>
          <a:prstGeom prst="rect">
            <a:avLst/>
          </a:prstGeom>
          <a:noFill/>
          <a:ln w="9525">
            <a:noFill/>
            <a:miter lim="800000"/>
            <a:headEnd/>
            <a:tailEnd/>
          </a:ln>
        </p:spPr>
      </p:pic>
      <p:sp>
        <p:nvSpPr>
          <p:cNvPr id="28683" name="Rectangle 243"/>
          <p:cNvSpPr>
            <a:spLocks noChangeArrowheads="1"/>
          </p:cNvSpPr>
          <p:nvPr/>
        </p:nvSpPr>
        <p:spPr bwMode="auto">
          <a:xfrm>
            <a:off x="6629400" y="5562600"/>
            <a:ext cx="762000" cy="228600"/>
          </a:xfrm>
          <a:prstGeom prst="rect">
            <a:avLst/>
          </a:prstGeom>
          <a:solidFill>
            <a:schemeClr val="hlink"/>
          </a:solidFill>
          <a:ln w="12700" cap="sq">
            <a:solidFill>
              <a:schemeClr val="tx1"/>
            </a:solidFill>
            <a:miter lim="800000"/>
            <a:headEnd type="none" w="sm" len="sm"/>
            <a:tailEnd type="none" w="sm" len="sm"/>
          </a:ln>
        </p:spPr>
        <p:txBody>
          <a:bodyPr wrap="none" anchor="ctr"/>
          <a:lstStyle/>
          <a:p>
            <a:endParaRPr lang="en-US" altLang="en-US"/>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85800" y="609600"/>
            <a:ext cx="7772400" cy="685800"/>
          </a:xfrm>
        </p:spPr>
        <p:txBody>
          <a:bodyPr/>
          <a:lstStyle/>
          <a:p>
            <a:pPr eaLnBrk="1" hangingPunct="1"/>
            <a:r>
              <a:rPr lang="en-US" smtClean="0"/>
              <a:t>PPTP</a:t>
            </a:r>
          </a:p>
        </p:txBody>
      </p:sp>
      <p:sp>
        <p:nvSpPr>
          <p:cNvPr id="19459" name="Rectangle 3"/>
          <p:cNvSpPr>
            <a:spLocks noGrp="1" noChangeArrowheads="1"/>
          </p:cNvSpPr>
          <p:nvPr>
            <p:ph type="body" idx="1"/>
          </p:nvPr>
        </p:nvSpPr>
        <p:spPr>
          <a:xfrm>
            <a:off x="0" y="1143000"/>
            <a:ext cx="8458200" cy="4800600"/>
          </a:xfrm>
        </p:spPr>
        <p:txBody>
          <a:bodyPr/>
          <a:lstStyle/>
          <a:p>
            <a:pPr eaLnBrk="1" hangingPunct="1">
              <a:defRPr/>
            </a:pPr>
            <a:r>
              <a:rPr lang="en-US" dirty="0" smtClean="0"/>
              <a:t>PPTP Encapsulation</a:t>
            </a:r>
          </a:p>
          <a:p>
            <a:pPr lvl="1" eaLnBrk="1" hangingPunct="1">
              <a:defRPr/>
            </a:pPr>
            <a:r>
              <a:rPr lang="en-US" dirty="0" smtClean="0"/>
              <a:t>Access concentrator receives the original IP packet, which has the IP address of the access concentrator</a:t>
            </a:r>
          </a:p>
          <a:p>
            <a:pPr lvl="1" eaLnBrk="1" hangingPunct="1">
              <a:defRPr/>
            </a:pPr>
            <a:r>
              <a:rPr lang="en-US" dirty="0" smtClean="0"/>
              <a:t>Adds an </a:t>
            </a:r>
            <a:r>
              <a:rPr lang="en-US" i="1" dirty="0" smtClean="0"/>
              <a:t>enhanced general routing encapsulation (GRE)</a:t>
            </a:r>
            <a:r>
              <a:rPr lang="en-US" dirty="0" smtClean="0"/>
              <a:t> header for security</a:t>
            </a:r>
          </a:p>
          <a:p>
            <a:pPr lvl="1" eaLnBrk="1" hangingPunct="1">
              <a:defRPr/>
            </a:pPr>
            <a:r>
              <a:rPr lang="en-US" dirty="0" smtClean="0"/>
              <a:t>Adds a new IP header with the IP address of the RAS</a:t>
            </a:r>
          </a:p>
        </p:txBody>
      </p:sp>
      <p:sp>
        <p:nvSpPr>
          <p:cNvPr id="29700" name="Rectangle 4"/>
          <p:cNvSpPr>
            <a:spLocks noChangeArrowheads="1"/>
          </p:cNvSpPr>
          <p:nvPr/>
        </p:nvSpPr>
        <p:spPr bwMode="auto">
          <a:xfrm>
            <a:off x="2362200" y="4419600"/>
            <a:ext cx="3124200" cy="762000"/>
          </a:xfrm>
          <a:prstGeom prst="rect">
            <a:avLst/>
          </a:prstGeom>
          <a:solidFill>
            <a:srgbClr val="FFFF00"/>
          </a:solidFill>
          <a:ln w="12700" cap="sq">
            <a:solidFill>
              <a:schemeClr val="bg2"/>
            </a:solidFill>
            <a:miter lim="800000"/>
            <a:headEnd type="none" w="sm" len="sm"/>
            <a:tailEnd type="none" w="sm" len="sm"/>
          </a:ln>
        </p:spPr>
        <p:txBody>
          <a:bodyPr wrap="none" anchor="ctr"/>
          <a:lstStyle/>
          <a:p>
            <a:pPr algn="ctr"/>
            <a:r>
              <a:rPr lang="en-US" altLang="en-US">
                <a:solidFill>
                  <a:srgbClr val="FF0000"/>
                </a:solidFill>
              </a:rPr>
              <a:t>Original IP Packet</a:t>
            </a:r>
          </a:p>
        </p:txBody>
      </p:sp>
      <p:sp>
        <p:nvSpPr>
          <p:cNvPr id="29701" name="Rectangle 5"/>
          <p:cNvSpPr>
            <a:spLocks noChangeArrowheads="1"/>
          </p:cNvSpPr>
          <p:nvPr/>
        </p:nvSpPr>
        <p:spPr bwMode="auto">
          <a:xfrm>
            <a:off x="5486400" y="4419600"/>
            <a:ext cx="1828800" cy="762000"/>
          </a:xfrm>
          <a:prstGeom prst="rect">
            <a:avLst/>
          </a:prstGeom>
          <a:solidFill>
            <a:srgbClr val="FFFF00"/>
          </a:solidFill>
          <a:ln w="12700" cap="sq">
            <a:solidFill>
              <a:schemeClr val="bg2"/>
            </a:solidFill>
            <a:miter lim="800000"/>
            <a:headEnd type="none" w="sm" len="sm"/>
            <a:tailEnd type="none" w="sm" len="sm"/>
          </a:ln>
        </p:spPr>
        <p:txBody>
          <a:bodyPr wrap="none" anchor="ctr"/>
          <a:lstStyle/>
          <a:p>
            <a:pPr algn="ctr"/>
            <a:r>
              <a:rPr lang="en-US" altLang="en-US">
                <a:solidFill>
                  <a:srgbClr val="FF0000"/>
                </a:solidFill>
              </a:rPr>
              <a:t>Enhanced</a:t>
            </a:r>
          </a:p>
          <a:p>
            <a:pPr algn="ctr"/>
            <a:r>
              <a:rPr lang="en-US" altLang="en-US">
                <a:solidFill>
                  <a:srgbClr val="FF0000"/>
                </a:solidFill>
              </a:rPr>
              <a:t>GRE Header</a:t>
            </a:r>
          </a:p>
        </p:txBody>
      </p:sp>
      <p:sp>
        <p:nvSpPr>
          <p:cNvPr id="29702" name="Rectangle 6"/>
          <p:cNvSpPr>
            <a:spLocks noChangeArrowheads="1"/>
          </p:cNvSpPr>
          <p:nvPr/>
        </p:nvSpPr>
        <p:spPr bwMode="auto">
          <a:xfrm>
            <a:off x="7315200" y="4419600"/>
            <a:ext cx="1828800" cy="762000"/>
          </a:xfrm>
          <a:prstGeom prst="rect">
            <a:avLst/>
          </a:prstGeom>
          <a:solidFill>
            <a:srgbClr val="FFFF00"/>
          </a:solidFill>
          <a:ln w="12700" cap="sq">
            <a:solidFill>
              <a:schemeClr val="bg2"/>
            </a:solidFill>
            <a:miter lim="800000"/>
            <a:headEnd type="none" w="sm" len="sm"/>
            <a:tailEnd type="none" w="sm" len="sm"/>
          </a:ln>
        </p:spPr>
        <p:txBody>
          <a:bodyPr wrap="none" anchor="ctr"/>
          <a:lstStyle/>
          <a:p>
            <a:pPr algn="ctr"/>
            <a:r>
              <a:rPr lang="en-US" altLang="en-US">
                <a:solidFill>
                  <a:srgbClr val="FF0000"/>
                </a:solidFill>
              </a:rPr>
              <a:t>New</a:t>
            </a:r>
          </a:p>
          <a:p>
            <a:pPr algn="ctr"/>
            <a:r>
              <a:rPr lang="en-US" altLang="en-US">
                <a:solidFill>
                  <a:srgbClr val="FF0000"/>
                </a:solidFill>
              </a:rPr>
              <a:t>IP Header</a:t>
            </a:r>
          </a:p>
        </p:txBody>
      </p:sp>
      <p:grpSp>
        <p:nvGrpSpPr>
          <p:cNvPr id="29703" name="Group 249"/>
          <p:cNvGrpSpPr>
            <a:grpSpLocks/>
          </p:cNvGrpSpPr>
          <p:nvPr/>
        </p:nvGrpSpPr>
        <p:grpSpPr bwMode="auto">
          <a:xfrm>
            <a:off x="838200" y="4724400"/>
            <a:ext cx="7696200" cy="2185988"/>
            <a:chOff x="685800" y="4098925"/>
            <a:chExt cx="7696200" cy="2185988"/>
          </a:xfrm>
        </p:grpSpPr>
        <p:sp>
          <p:nvSpPr>
            <p:cNvPr id="29704" name="Rectangle 4"/>
            <p:cNvSpPr>
              <a:spLocks noChangeArrowheads="1"/>
            </p:cNvSpPr>
            <p:nvPr/>
          </p:nvSpPr>
          <p:spPr bwMode="auto">
            <a:xfrm>
              <a:off x="3886200" y="4953000"/>
              <a:ext cx="3429000" cy="457200"/>
            </a:xfrm>
            <a:prstGeom prst="rect">
              <a:avLst/>
            </a:prstGeom>
            <a:solidFill>
              <a:schemeClr val="accent1"/>
            </a:solidFill>
            <a:ln w="12700" cap="sq">
              <a:solidFill>
                <a:schemeClr val="tx1"/>
              </a:solidFill>
              <a:miter lim="800000"/>
              <a:headEnd type="none" w="sm" len="sm"/>
              <a:tailEnd type="none" w="sm" len="sm"/>
            </a:ln>
          </p:spPr>
          <p:txBody>
            <a:bodyPr wrap="none" anchor="ctr"/>
            <a:lstStyle/>
            <a:p>
              <a:endParaRPr lang="en-US" altLang="en-US"/>
            </a:p>
          </p:txBody>
        </p:sp>
        <p:pic>
          <p:nvPicPr>
            <p:cNvPr id="29705" name="Picture 5" descr="F:\NETDRAW4\ISOMETRC\FILSERVI.WMF"/>
            <p:cNvPicPr>
              <a:picLocks noChangeAspect="1" noChangeArrowheads="1"/>
            </p:cNvPicPr>
            <p:nvPr/>
          </p:nvPicPr>
          <p:blipFill>
            <a:blip r:embed="rId3" cstate="print"/>
            <a:srcRect/>
            <a:stretch>
              <a:fillRect/>
            </a:stretch>
          </p:blipFill>
          <p:spPr bwMode="auto">
            <a:xfrm>
              <a:off x="7654925" y="4573588"/>
              <a:ext cx="727075" cy="1262062"/>
            </a:xfrm>
            <a:prstGeom prst="rect">
              <a:avLst/>
            </a:prstGeom>
            <a:noFill/>
            <a:ln w="9525">
              <a:noFill/>
              <a:miter lim="800000"/>
              <a:headEnd/>
              <a:tailEnd/>
            </a:ln>
          </p:spPr>
        </p:pic>
        <p:grpSp>
          <p:nvGrpSpPr>
            <p:cNvPr id="29706" name="Group 6"/>
            <p:cNvGrpSpPr>
              <a:grpSpLocks/>
            </p:cNvGrpSpPr>
            <p:nvPr/>
          </p:nvGrpSpPr>
          <p:grpSpPr bwMode="auto">
            <a:xfrm flipH="1">
              <a:off x="685800" y="4548188"/>
              <a:ext cx="1235075" cy="1025525"/>
              <a:chOff x="1531" y="3307"/>
              <a:chExt cx="778" cy="646"/>
            </a:xfrm>
          </p:grpSpPr>
          <p:grpSp>
            <p:nvGrpSpPr>
              <p:cNvPr id="29714" name="Group 7"/>
              <p:cNvGrpSpPr>
                <a:grpSpLocks/>
              </p:cNvGrpSpPr>
              <p:nvPr/>
            </p:nvGrpSpPr>
            <p:grpSpPr bwMode="auto">
              <a:xfrm>
                <a:off x="1531" y="3307"/>
                <a:ext cx="778" cy="646"/>
                <a:chOff x="1531" y="3307"/>
                <a:chExt cx="778" cy="646"/>
              </a:xfrm>
            </p:grpSpPr>
            <p:sp>
              <p:nvSpPr>
                <p:cNvPr id="29747" name="Freeform 8"/>
                <p:cNvSpPr>
                  <a:spLocks/>
                </p:cNvSpPr>
                <p:nvPr/>
              </p:nvSpPr>
              <p:spPr bwMode="auto">
                <a:xfrm>
                  <a:off x="1954" y="3823"/>
                  <a:ext cx="117" cy="42"/>
                </a:xfrm>
                <a:custGeom>
                  <a:avLst/>
                  <a:gdLst>
                    <a:gd name="T0" fmla="*/ 0 w 235"/>
                    <a:gd name="T1" fmla="*/ 0 h 84"/>
                    <a:gd name="T2" fmla="*/ 0 w 235"/>
                    <a:gd name="T3" fmla="*/ 1 h 84"/>
                    <a:gd name="T4" fmla="*/ 0 w 235"/>
                    <a:gd name="T5" fmla="*/ 1 h 84"/>
                    <a:gd name="T6" fmla="*/ 0 w 235"/>
                    <a:gd name="T7" fmla="*/ 1 h 84"/>
                    <a:gd name="T8" fmla="*/ 0 w 235"/>
                    <a:gd name="T9" fmla="*/ 1 h 84"/>
                    <a:gd name="T10" fmla="*/ 0 w 235"/>
                    <a:gd name="T11" fmla="*/ 1 h 84"/>
                    <a:gd name="T12" fmla="*/ 0 w 235"/>
                    <a:gd name="T13" fmla="*/ 1 h 84"/>
                    <a:gd name="T14" fmla="*/ 0 w 235"/>
                    <a:gd name="T15" fmla="*/ 1 h 84"/>
                    <a:gd name="T16" fmla="*/ 0 w 235"/>
                    <a:gd name="T17" fmla="*/ 1 h 84"/>
                    <a:gd name="T18" fmla="*/ 0 w 235"/>
                    <a:gd name="T19" fmla="*/ 1 h 84"/>
                    <a:gd name="T20" fmla="*/ 0 w 235"/>
                    <a:gd name="T21" fmla="*/ 1 h 84"/>
                    <a:gd name="T22" fmla="*/ 0 w 235"/>
                    <a:gd name="T23" fmla="*/ 1 h 84"/>
                    <a:gd name="T24" fmla="*/ 0 w 235"/>
                    <a:gd name="T25" fmla="*/ 1 h 84"/>
                    <a:gd name="T26" fmla="*/ 0 w 235"/>
                    <a:gd name="T27" fmla="*/ 1 h 84"/>
                    <a:gd name="T28" fmla="*/ 0 w 235"/>
                    <a:gd name="T29" fmla="*/ 1 h 84"/>
                    <a:gd name="T30" fmla="*/ 0 w 235"/>
                    <a:gd name="T31" fmla="*/ 1 h 84"/>
                    <a:gd name="T32" fmla="*/ 0 w 235"/>
                    <a:gd name="T33" fmla="*/ 1 h 84"/>
                    <a:gd name="T34" fmla="*/ 0 w 235"/>
                    <a:gd name="T35" fmla="*/ 1 h 84"/>
                    <a:gd name="T36" fmla="*/ 0 w 235"/>
                    <a:gd name="T37" fmla="*/ 1 h 84"/>
                    <a:gd name="T38" fmla="*/ 0 w 235"/>
                    <a:gd name="T39" fmla="*/ 1 h 84"/>
                    <a:gd name="T40" fmla="*/ 0 w 235"/>
                    <a:gd name="T41" fmla="*/ 1 h 84"/>
                    <a:gd name="T42" fmla="*/ 0 w 235"/>
                    <a:gd name="T43" fmla="*/ 1 h 84"/>
                    <a:gd name="T44" fmla="*/ 0 w 235"/>
                    <a:gd name="T45" fmla="*/ 1 h 84"/>
                    <a:gd name="T46" fmla="*/ 0 w 235"/>
                    <a:gd name="T47" fmla="*/ 1 h 84"/>
                    <a:gd name="T48" fmla="*/ 0 w 235"/>
                    <a:gd name="T49" fmla="*/ 1 h 84"/>
                    <a:gd name="T50" fmla="*/ 0 w 235"/>
                    <a:gd name="T51" fmla="*/ 1 h 84"/>
                    <a:gd name="T52" fmla="*/ 0 w 235"/>
                    <a:gd name="T53" fmla="*/ 1 h 84"/>
                    <a:gd name="T54" fmla="*/ 0 w 235"/>
                    <a:gd name="T55" fmla="*/ 1 h 84"/>
                    <a:gd name="T56" fmla="*/ 0 w 235"/>
                    <a:gd name="T57" fmla="*/ 1 h 84"/>
                    <a:gd name="T58" fmla="*/ 0 w 235"/>
                    <a:gd name="T59" fmla="*/ 1 h 84"/>
                    <a:gd name="T60" fmla="*/ 0 w 235"/>
                    <a:gd name="T61" fmla="*/ 1 h 84"/>
                    <a:gd name="T62" fmla="*/ 0 w 235"/>
                    <a:gd name="T63" fmla="*/ 1 h 84"/>
                    <a:gd name="T64" fmla="*/ 0 w 235"/>
                    <a:gd name="T65" fmla="*/ 1 h 84"/>
                    <a:gd name="T66" fmla="*/ 0 w 235"/>
                    <a:gd name="T67" fmla="*/ 1 h 84"/>
                    <a:gd name="T68" fmla="*/ 0 w 235"/>
                    <a:gd name="T69" fmla="*/ 1 h 84"/>
                    <a:gd name="T70" fmla="*/ 0 w 235"/>
                    <a:gd name="T71" fmla="*/ 1 h 84"/>
                    <a:gd name="T72" fmla="*/ 0 w 235"/>
                    <a:gd name="T73" fmla="*/ 1 h 84"/>
                    <a:gd name="T74" fmla="*/ 0 w 235"/>
                    <a:gd name="T75" fmla="*/ 0 h 84"/>
                    <a:gd name="T76" fmla="*/ 0 w 235"/>
                    <a:gd name="T77" fmla="*/ 0 h 84"/>
                    <a:gd name="T78" fmla="*/ 0 w 235"/>
                    <a:gd name="T79" fmla="*/ 0 h 84"/>
                    <a:gd name="T80" fmla="*/ 0 w 235"/>
                    <a:gd name="T81" fmla="*/ 0 h 84"/>
                    <a:gd name="T82" fmla="*/ 0 w 235"/>
                    <a:gd name="T83" fmla="*/ 0 h 84"/>
                    <a:gd name="T84" fmla="*/ 0 w 235"/>
                    <a:gd name="T85" fmla="*/ 0 h 84"/>
                    <a:gd name="T86" fmla="*/ 0 w 235"/>
                    <a:gd name="T87" fmla="*/ 0 h 84"/>
                    <a:gd name="T88" fmla="*/ 0 w 235"/>
                    <a:gd name="T89" fmla="*/ 0 h 84"/>
                    <a:gd name="T90" fmla="*/ 0 w 235"/>
                    <a:gd name="T91" fmla="*/ 0 h 84"/>
                    <a:gd name="T92" fmla="*/ 0 w 235"/>
                    <a:gd name="T93" fmla="*/ 0 h 8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35"/>
                    <a:gd name="T142" fmla="*/ 0 h 84"/>
                    <a:gd name="T143" fmla="*/ 235 w 235"/>
                    <a:gd name="T144" fmla="*/ 84 h 8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35" h="84">
                      <a:moveTo>
                        <a:pt x="235" y="0"/>
                      </a:moveTo>
                      <a:lnTo>
                        <a:pt x="233" y="39"/>
                      </a:lnTo>
                      <a:lnTo>
                        <a:pt x="233" y="40"/>
                      </a:lnTo>
                      <a:lnTo>
                        <a:pt x="230" y="47"/>
                      </a:lnTo>
                      <a:lnTo>
                        <a:pt x="224" y="51"/>
                      </a:lnTo>
                      <a:lnTo>
                        <a:pt x="213" y="54"/>
                      </a:lnTo>
                      <a:lnTo>
                        <a:pt x="201" y="54"/>
                      </a:lnTo>
                      <a:lnTo>
                        <a:pt x="193" y="54"/>
                      </a:lnTo>
                      <a:lnTo>
                        <a:pt x="186" y="53"/>
                      </a:lnTo>
                      <a:lnTo>
                        <a:pt x="185" y="53"/>
                      </a:lnTo>
                      <a:lnTo>
                        <a:pt x="182" y="75"/>
                      </a:lnTo>
                      <a:lnTo>
                        <a:pt x="180" y="76"/>
                      </a:lnTo>
                      <a:lnTo>
                        <a:pt x="174" y="79"/>
                      </a:lnTo>
                      <a:lnTo>
                        <a:pt x="161" y="83"/>
                      </a:lnTo>
                      <a:lnTo>
                        <a:pt x="143" y="84"/>
                      </a:lnTo>
                      <a:lnTo>
                        <a:pt x="122" y="83"/>
                      </a:lnTo>
                      <a:lnTo>
                        <a:pt x="108" y="78"/>
                      </a:lnTo>
                      <a:lnTo>
                        <a:pt x="100" y="75"/>
                      </a:lnTo>
                      <a:lnTo>
                        <a:pt x="99" y="73"/>
                      </a:lnTo>
                      <a:lnTo>
                        <a:pt x="96" y="73"/>
                      </a:lnTo>
                      <a:lnTo>
                        <a:pt x="86" y="72"/>
                      </a:lnTo>
                      <a:lnTo>
                        <a:pt x="72" y="70"/>
                      </a:lnTo>
                      <a:lnTo>
                        <a:pt x="56" y="67"/>
                      </a:lnTo>
                      <a:lnTo>
                        <a:pt x="39" y="62"/>
                      </a:lnTo>
                      <a:lnTo>
                        <a:pt x="24" y="56"/>
                      </a:lnTo>
                      <a:lnTo>
                        <a:pt x="13" y="47"/>
                      </a:lnTo>
                      <a:lnTo>
                        <a:pt x="5" y="36"/>
                      </a:lnTo>
                      <a:lnTo>
                        <a:pt x="0" y="20"/>
                      </a:lnTo>
                      <a:lnTo>
                        <a:pt x="2" y="15"/>
                      </a:lnTo>
                      <a:lnTo>
                        <a:pt x="6" y="18"/>
                      </a:lnTo>
                      <a:lnTo>
                        <a:pt x="8" y="20"/>
                      </a:lnTo>
                      <a:lnTo>
                        <a:pt x="10" y="18"/>
                      </a:lnTo>
                      <a:lnTo>
                        <a:pt x="14" y="17"/>
                      </a:lnTo>
                      <a:lnTo>
                        <a:pt x="22" y="14"/>
                      </a:lnTo>
                      <a:lnTo>
                        <a:pt x="31" y="9"/>
                      </a:lnTo>
                      <a:lnTo>
                        <a:pt x="44" y="6"/>
                      </a:lnTo>
                      <a:lnTo>
                        <a:pt x="58" y="3"/>
                      </a:lnTo>
                      <a:lnTo>
                        <a:pt x="75" y="0"/>
                      </a:lnTo>
                      <a:lnTo>
                        <a:pt x="92" y="0"/>
                      </a:lnTo>
                      <a:lnTo>
                        <a:pt x="113" y="0"/>
                      </a:lnTo>
                      <a:lnTo>
                        <a:pt x="136" y="0"/>
                      </a:lnTo>
                      <a:lnTo>
                        <a:pt x="160" y="0"/>
                      </a:lnTo>
                      <a:lnTo>
                        <a:pt x="183" y="0"/>
                      </a:lnTo>
                      <a:lnTo>
                        <a:pt x="204" y="0"/>
                      </a:lnTo>
                      <a:lnTo>
                        <a:pt x="219" y="0"/>
                      </a:lnTo>
                      <a:lnTo>
                        <a:pt x="230" y="0"/>
                      </a:lnTo>
                      <a:lnTo>
                        <a:pt x="235" y="0"/>
                      </a:lnTo>
                      <a:close/>
                    </a:path>
                  </a:pathLst>
                </a:custGeom>
                <a:solidFill>
                  <a:srgbClr val="7F2600"/>
                </a:solidFill>
                <a:ln w="9525">
                  <a:noFill/>
                  <a:round/>
                  <a:headEnd/>
                  <a:tailEnd/>
                </a:ln>
              </p:spPr>
              <p:txBody>
                <a:bodyPr/>
                <a:lstStyle/>
                <a:p>
                  <a:endParaRPr lang="en-US"/>
                </a:p>
              </p:txBody>
            </p:sp>
            <p:sp>
              <p:nvSpPr>
                <p:cNvPr id="29748" name="Freeform 9"/>
                <p:cNvSpPr>
                  <a:spLocks/>
                </p:cNvSpPr>
                <p:nvPr/>
              </p:nvSpPr>
              <p:spPr bwMode="auto">
                <a:xfrm>
                  <a:off x="2065" y="3823"/>
                  <a:ext cx="12" cy="25"/>
                </a:xfrm>
                <a:custGeom>
                  <a:avLst/>
                  <a:gdLst>
                    <a:gd name="T0" fmla="*/ 1 w 24"/>
                    <a:gd name="T1" fmla="*/ 1 h 50"/>
                    <a:gd name="T2" fmla="*/ 1 w 24"/>
                    <a:gd name="T3" fmla="*/ 1 h 50"/>
                    <a:gd name="T4" fmla="*/ 1 w 24"/>
                    <a:gd name="T5" fmla="*/ 0 h 50"/>
                    <a:gd name="T6" fmla="*/ 1 w 24"/>
                    <a:gd name="T7" fmla="*/ 0 h 50"/>
                    <a:gd name="T8" fmla="*/ 0 w 24"/>
                    <a:gd name="T9" fmla="*/ 1 h 50"/>
                    <a:gd name="T10" fmla="*/ 0 w 24"/>
                    <a:gd name="T11" fmla="*/ 1 h 50"/>
                    <a:gd name="T12" fmla="*/ 0 w 24"/>
                    <a:gd name="T13" fmla="*/ 1 h 50"/>
                    <a:gd name="T14" fmla="*/ 1 w 24"/>
                    <a:gd name="T15" fmla="*/ 1 h 50"/>
                    <a:gd name="T16" fmla="*/ 1 w 24"/>
                    <a:gd name="T17" fmla="*/ 1 h 50"/>
                    <a:gd name="T18" fmla="*/ 1 w 24"/>
                    <a:gd name="T19" fmla="*/ 1 h 50"/>
                    <a:gd name="T20" fmla="*/ 1 w 24"/>
                    <a:gd name="T21" fmla="*/ 1 h 50"/>
                    <a:gd name="T22" fmla="*/ 1 w 24"/>
                    <a:gd name="T23" fmla="*/ 1 h 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50"/>
                    <a:gd name="T38" fmla="*/ 24 w 24"/>
                    <a:gd name="T39" fmla="*/ 50 h 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50">
                      <a:moveTo>
                        <a:pt x="22" y="40"/>
                      </a:moveTo>
                      <a:lnTo>
                        <a:pt x="22" y="39"/>
                      </a:lnTo>
                      <a:lnTo>
                        <a:pt x="24" y="0"/>
                      </a:lnTo>
                      <a:lnTo>
                        <a:pt x="2" y="0"/>
                      </a:lnTo>
                      <a:lnTo>
                        <a:pt x="0" y="39"/>
                      </a:lnTo>
                      <a:lnTo>
                        <a:pt x="0" y="37"/>
                      </a:lnTo>
                      <a:lnTo>
                        <a:pt x="0" y="39"/>
                      </a:lnTo>
                      <a:lnTo>
                        <a:pt x="4" y="47"/>
                      </a:lnTo>
                      <a:lnTo>
                        <a:pt x="11" y="50"/>
                      </a:lnTo>
                      <a:lnTo>
                        <a:pt x="19" y="47"/>
                      </a:lnTo>
                      <a:lnTo>
                        <a:pt x="22" y="39"/>
                      </a:lnTo>
                      <a:lnTo>
                        <a:pt x="22" y="40"/>
                      </a:lnTo>
                      <a:close/>
                    </a:path>
                  </a:pathLst>
                </a:custGeom>
                <a:solidFill>
                  <a:srgbClr val="000000"/>
                </a:solidFill>
                <a:ln w="9525">
                  <a:noFill/>
                  <a:round/>
                  <a:headEnd/>
                  <a:tailEnd/>
                </a:ln>
              </p:spPr>
              <p:txBody>
                <a:bodyPr/>
                <a:lstStyle/>
                <a:p>
                  <a:endParaRPr lang="en-US"/>
                </a:p>
              </p:txBody>
            </p:sp>
            <p:sp>
              <p:nvSpPr>
                <p:cNvPr id="29749" name="Freeform 10"/>
                <p:cNvSpPr>
                  <a:spLocks/>
                </p:cNvSpPr>
                <p:nvPr/>
              </p:nvSpPr>
              <p:spPr bwMode="auto">
                <a:xfrm>
                  <a:off x="2060" y="3841"/>
                  <a:ext cx="16" cy="15"/>
                </a:xfrm>
                <a:custGeom>
                  <a:avLst/>
                  <a:gdLst>
                    <a:gd name="T0" fmla="*/ 0 w 33"/>
                    <a:gd name="T1" fmla="*/ 1 h 29"/>
                    <a:gd name="T2" fmla="*/ 0 w 33"/>
                    <a:gd name="T3" fmla="*/ 1 h 29"/>
                    <a:gd name="T4" fmla="*/ 0 w 33"/>
                    <a:gd name="T5" fmla="*/ 1 h 29"/>
                    <a:gd name="T6" fmla="*/ 0 w 33"/>
                    <a:gd name="T7" fmla="*/ 1 h 29"/>
                    <a:gd name="T8" fmla="*/ 0 w 33"/>
                    <a:gd name="T9" fmla="*/ 1 h 29"/>
                    <a:gd name="T10" fmla="*/ 0 w 33"/>
                    <a:gd name="T11" fmla="*/ 1 h 29"/>
                    <a:gd name="T12" fmla="*/ 0 w 33"/>
                    <a:gd name="T13" fmla="*/ 1 h 29"/>
                    <a:gd name="T14" fmla="*/ 0 w 33"/>
                    <a:gd name="T15" fmla="*/ 0 h 29"/>
                    <a:gd name="T16" fmla="*/ 0 w 33"/>
                    <a:gd name="T17" fmla="*/ 1 h 29"/>
                    <a:gd name="T18" fmla="*/ 0 w 33"/>
                    <a:gd name="T19" fmla="*/ 1 h 29"/>
                    <a:gd name="T20" fmla="*/ 0 w 33"/>
                    <a:gd name="T21" fmla="*/ 1 h 29"/>
                    <a:gd name="T22" fmla="*/ 0 w 33"/>
                    <a:gd name="T23" fmla="*/ 1 h 29"/>
                    <a:gd name="T24" fmla="*/ 0 w 33"/>
                    <a:gd name="T25" fmla="*/ 1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29"/>
                    <a:gd name="T41" fmla="*/ 33 w 33"/>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29">
                      <a:moveTo>
                        <a:pt x="4" y="29"/>
                      </a:moveTo>
                      <a:lnTo>
                        <a:pt x="4" y="29"/>
                      </a:lnTo>
                      <a:lnTo>
                        <a:pt x="18" y="25"/>
                      </a:lnTo>
                      <a:lnTo>
                        <a:pt x="27" y="18"/>
                      </a:lnTo>
                      <a:lnTo>
                        <a:pt x="33" y="9"/>
                      </a:lnTo>
                      <a:lnTo>
                        <a:pt x="33" y="4"/>
                      </a:lnTo>
                      <a:lnTo>
                        <a:pt x="11" y="1"/>
                      </a:lnTo>
                      <a:lnTo>
                        <a:pt x="11" y="0"/>
                      </a:lnTo>
                      <a:lnTo>
                        <a:pt x="11" y="3"/>
                      </a:lnTo>
                      <a:lnTo>
                        <a:pt x="8" y="6"/>
                      </a:lnTo>
                      <a:lnTo>
                        <a:pt x="0" y="7"/>
                      </a:lnTo>
                      <a:lnTo>
                        <a:pt x="4" y="29"/>
                      </a:lnTo>
                      <a:close/>
                    </a:path>
                  </a:pathLst>
                </a:custGeom>
                <a:solidFill>
                  <a:srgbClr val="000000"/>
                </a:solidFill>
                <a:ln w="9525">
                  <a:noFill/>
                  <a:round/>
                  <a:headEnd/>
                  <a:tailEnd/>
                </a:ln>
              </p:spPr>
              <p:txBody>
                <a:bodyPr/>
                <a:lstStyle/>
                <a:p>
                  <a:endParaRPr lang="en-US"/>
                </a:p>
              </p:txBody>
            </p:sp>
            <p:sp>
              <p:nvSpPr>
                <p:cNvPr id="29750" name="Freeform 11"/>
                <p:cNvSpPr>
                  <a:spLocks/>
                </p:cNvSpPr>
                <p:nvPr/>
              </p:nvSpPr>
              <p:spPr bwMode="auto">
                <a:xfrm>
                  <a:off x="2041" y="3844"/>
                  <a:ext cx="20" cy="12"/>
                </a:xfrm>
                <a:custGeom>
                  <a:avLst/>
                  <a:gdLst>
                    <a:gd name="T0" fmla="*/ 0 w 41"/>
                    <a:gd name="T1" fmla="*/ 1 h 23"/>
                    <a:gd name="T2" fmla="*/ 0 w 41"/>
                    <a:gd name="T3" fmla="*/ 1 h 23"/>
                    <a:gd name="T4" fmla="*/ 0 w 41"/>
                    <a:gd name="T5" fmla="*/ 1 h 23"/>
                    <a:gd name="T6" fmla="*/ 0 w 41"/>
                    <a:gd name="T7" fmla="*/ 1 h 23"/>
                    <a:gd name="T8" fmla="*/ 0 w 41"/>
                    <a:gd name="T9" fmla="*/ 1 h 23"/>
                    <a:gd name="T10" fmla="*/ 0 w 41"/>
                    <a:gd name="T11" fmla="*/ 1 h 23"/>
                    <a:gd name="T12" fmla="*/ 0 w 41"/>
                    <a:gd name="T13" fmla="*/ 1 h 23"/>
                    <a:gd name="T14" fmla="*/ 0 w 41"/>
                    <a:gd name="T15" fmla="*/ 1 h 23"/>
                    <a:gd name="T16" fmla="*/ 0 w 41"/>
                    <a:gd name="T17" fmla="*/ 1 h 23"/>
                    <a:gd name="T18" fmla="*/ 0 w 41"/>
                    <a:gd name="T19" fmla="*/ 0 h 23"/>
                    <a:gd name="T20" fmla="*/ 0 w 41"/>
                    <a:gd name="T21" fmla="*/ 0 h 23"/>
                    <a:gd name="T22" fmla="*/ 0 w 41"/>
                    <a:gd name="T23" fmla="*/ 1 h 23"/>
                    <a:gd name="T24" fmla="*/ 0 w 41"/>
                    <a:gd name="T25" fmla="*/ 0 h 23"/>
                    <a:gd name="T26" fmla="*/ 0 w 41"/>
                    <a:gd name="T27" fmla="*/ 1 h 23"/>
                    <a:gd name="T28" fmla="*/ 0 w 41"/>
                    <a:gd name="T29" fmla="*/ 1 h 23"/>
                    <a:gd name="T30" fmla="*/ 0 w 41"/>
                    <a:gd name="T31" fmla="*/ 1 h 23"/>
                    <a:gd name="T32" fmla="*/ 0 w 41"/>
                    <a:gd name="T33" fmla="*/ 1 h 23"/>
                    <a:gd name="T34" fmla="*/ 0 w 41"/>
                    <a:gd name="T35" fmla="*/ 1 h 2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23"/>
                    <a:gd name="T56" fmla="*/ 41 w 41"/>
                    <a:gd name="T57" fmla="*/ 23 h 2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23">
                      <a:moveTo>
                        <a:pt x="22" y="12"/>
                      </a:moveTo>
                      <a:lnTo>
                        <a:pt x="8" y="22"/>
                      </a:lnTo>
                      <a:lnTo>
                        <a:pt x="11" y="22"/>
                      </a:lnTo>
                      <a:lnTo>
                        <a:pt x="17" y="23"/>
                      </a:lnTo>
                      <a:lnTo>
                        <a:pt x="27" y="23"/>
                      </a:lnTo>
                      <a:lnTo>
                        <a:pt x="41" y="23"/>
                      </a:lnTo>
                      <a:lnTo>
                        <a:pt x="37" y="1"/>
                      </a:lnTo>
                      <a:lnTo>
                        <a:pt x="27" y="1"/>
                      </a:lnTo>
                      <a:lnTo>
                        <a:pt x="20" y="1"/>
                      </a:lnTo>
                      <a:lnTo>
                        <a:pt x="14" y="0"/>
                      </a:lnTo>
                      <a:lnTo>
                        <a:pt x="0" y="9"/>
                      </a:lnTo>
                      <a:lnTo>
                        <a:pt x="14" y="0"/>
                      </a:lnTo>
                      <a:lnTo>
                        <a:pt x="5" y="1"/>
                      </a:lnTo>
                      <a:lnTo>
                        <a:pt x="0" y="8"/>
                      </a:lnTo>
                      <a:lnTo>
                        <a:pt x="1" y="17"/>
                      </a:lnTo>
                      <a:lnTo>
                        <a:pt x="8" y="22"/>
                      </a:lnTo>
                      <a:lnTo>
                        <a:pt x="22" y="12"/>
                      </a:lnTo>
                      <a:close/>
                    </a:path>
                  </a:pathLst>
                </a:custGeom>
                <a:solidFill>
                  <a:srgbClr val="000000"/>
                </a:solidFill>
                <a:ln w="9525">
                  <a:noFill/>
                  <a:round/>
                  <a:headEnd/>
                  <a:tailEnd/>
                </a:ln>
              </p:spPr>
              <p:txBody>
                <a:bodyPr/>
                <a:lstStyle/>
                <a:p>
                  <a:endParaRPr lang="en-US"/>
                </a:p>
              </p:txBody>
            </p:sp>
            <p:sp>
              <p:nvSpPr>
                <p:cNvPr id="29751" name="Freeform 12"/>
                <p:cNvSpPr>
                  <a:spLocks/>
                </p:cNvSpPr>
                <p:nvPr/>
              </p:nvSpPr>
              <p:spPr bwMode="auto">
                <a:xfrm>
                  <a:off x="2039" y="3849"/>
                  <a:ext cx="13" cy="17"/>
                </a:xfrm>
                <a:custGeom>
                  <a:avLst/>
                  <a:gdLst>
                    <a:gd name="T0" fmla="*/ 1 w 25"/>
                    <a:gd name="T1" fmla="*/ 0 h 35"/>
                    <a:gd name="T2" fmla="*/ 1 w 25"/>
                    <a:gd name="T3" fmla="*/ 0 h 35"/>
                    <a:gd name="T4" fmla="*/ 1 w 25"/>
                    <a:gd name="T5" fmla="*/ 0 h 35"/>
                    <a:gd name="T6" fmla="*/ 1 w 25"/>
                    <a:gd name="T7" fmla="*/ 0 h 35"/>
                    <a:gd name="T8" fmla="*/ 0 w 25"/>
                    <a:gd name="T9" fmla="*/ 0 h 35"/>
                    <a:gd name="T10" fmla="*/ 1 w 25"/>
                    <a:gd name="T11" fmla="*/ 0 h 35"/>
                    <a:gd name="T12" fmla="*/ 0 w 25"/>
                    <a:gd name="T13" fmla="*/ 0 h 35"/>
                    <a:gd name="T14" fmla="*/ 1 w 25"/>
                    <a:gd name="T15" fmla="*/ 0 h 35"/>
                    <a:gd name="T16" fmla="*/ 1 w 25"/>
                    <a:gd name="T17" fmla="*/ 0 h 35"/>
                    <a:gd name="T18" fmla="*/ 1 w 25"/>
                    <a:gd name="T19" fmla="*/ 0 h 35"/>
                    <a:gd name="T20" fmla="*/ 1 w 25"/>
                    <a:gd name="T21" fmla="*/ 0 h 35"/>
                    <a:gd name="T22" fmla="*/ 1 w 25"/>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
                    <a:gd name="T37" fmla="*/ 0 h 35"/>
                    <a:gd name="T38" fmla="*/ 25 w 25"/>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 h="35">
                      <a:moveTo>
                        <a:pt x="19" y="30"/>
                      </a:moveTo>
                      <a:lnTo>
                        <a:pt x="22" y="25"/>
                      </a:lnTo>
                      <a:lnTo>
                        <a:pt x="25" y="3"/>
                      </a:lnTo>
                      <a:lnTo>
                        <a:pt x="3" y="0"/>
                      </a:lnTo>
                      <a:lnTo>
                        <a:pt x="0" y="22"/>
                      </a:lnTo>
                      <a:lnTo>
                        <a:pt x="3" y="18"/>
                      </a:lnTo>
                      <a:lnTo>
                        <a:pt x="0" y="22"/>
                      </a:lnTo>
                      <a:lnTo>
                        <a:pt x="3" y="30"/>
                      </a:lnTo>
                      <a:lnTo>
                        <a:pt x="9" y="35"/>
                      </a:lnTo>
                      <a:lnTo>
                        <a:pt x="17" y="33"/>
                      </a:lnTo>
                      <a:lnTo>
                        <a:pt x="22" y="25"/>
                      </a:lnTo>
                      <a:lnTo>
                        <a:pt x="19" y="30"/>
                      </a:lnTo>
                      <a:close/>
                    </a:path>
                  </a:pathLst>
                </a:custGeom>
                <a:solidFill>
                  <a:srgbClr val="000000"/>
                </a:solidFill>
                <a:ln w="9525">
                  <a:noFill/>
                  <a:round/>
                  <a:headEnd/>
                  <a:tailEnd/>
                </a:ln>
              </p:spPr>
              <p:txBody>
                <a:bodyPr/>
                <a:lstStyle/>
                <a:p>
                  <a:endParaRPr lang="en-US"/>
                </a:p>
              </p:txBody>
            </p:sp>
            <p:sp>
              <p:nvSpPr>
                <p:cNvPr id="29752" name="Freeform 13"/>
                <p:cNvSpPr>
                  <a:spLocks/>
                </p:cNvSpPr>
                <p:nvPr/>
              </p:nvSpPr>
              <p:spPr bwMode="auto">
                <a:xfrm>
                  <a:off x="2025" y="3856"/>
                  <a:ext cx="24" cy="15"/>
                </a:xfrm>
                <a:custGeom>
                  <a:avLst/>
                  <a:gdLst>
                    <a:gd name="T0" fmla="*/ 0 w 47"/>
                    <a:gd name="T1" fmla="*/ 1 h 28"/>
                    <a:gd name="T2" fmla="*/ 0 w 47"/>
                    <a:gd name="T3" fmla="*/ 1 h 28"/>
                    <a:gd name="T4" fmla="*/ 1 w 47"/>
                    <a:gd name="T5" fmla="*/ 1 h 28"/>
                    <a:gd name="T6" fmla="*/ 1 w 47"/>
                    <a:gd name="T7" fmla="*/ 1 h 28"/>
                    <a:gd name="T8" fmla="*/ 1 w 47"/>
                    <a:gd name="T9" fmla="*/ 1 h 28"/>
                    <a:gd name="T10" fmla="*/ 1 w 47"/>
                    <a:gd name="T11" fmla="*/ 1 h 28"/>
                    <a:gd name="T12" fmla="*/ 1 w 47"/>
                    <a:gd name="T13" fmla="*/ 1 h 28"/>
                    <a:gd name="T14" fmla="*/ 1 w 47"/>
                    <a:gd name="T15" fmla="*/ 0 h 28"/>
                    <a:gd name="T16" fmla="*/ 1 w 47"/>
                    <a:gd name="T17" fmla="*/ 1 h 28"/>
                    <a:gd name="T18" fmla="*/ 1 w 47"/>
                    <a:gd name="T19" fmla="*/ 1 h 28"/>
                    <a:gd name="T20" fmla="*/ 0 w 47"/>
                    <a:gd name="T21" fmla="*/ 1 h 28"/>
                    <a:gd name="T22" fmla="*/ 0 w 47"/>
                    <a:gd name="T23" fmla="*/ 1 h 28"/>
                    <a:gd name="T24" fmla="*/ 0 w 47"/>
                    <a:gd name="T25" fmla="*/ 1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
                    <a:gd name="T40" fmla="*/ 0 h 28"/>
                    <a:gd name="T41" fmla="*/ 47 w 47"/>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 h="28">
                      <a:moveTo>
                        <a:pt x="0" y="28"/>
                      </a:moveTo>
                      <a:lnTo>
                        <a:pt x="0" y="28"/>
                      </a:lnTo>
                      <a:lnTo>
                        <a:pt x="20" y="27"/>
                      </a:lnTo>
                      <a:lnTo>
                        <a:pt x="34" y="23"/>
                      </a:lnTo>
                      <a:lnTo>
                        <a:pt x="43" y="19"/>
                      </a:lnTo>
                      <a:lnTo>
                        <a:pt x="47" y="14"/>
                      </a:lnTo>
                      <a:lnTo>
                        <a:pt x="31" y="2"/>
                      </a:lnTo>
                      <a:lnTo>
                        <a:pt x="31" y="0"/>
                      </a:lnTo>
                      <a:lnTo>
                        <a:pt x="28" y="2"/>
                      </a:lnTo>
                      <a:lnTo>
                        <a:pt x="17" y="5"/>
                      </a:lnTo>
                      <a:lnTo>
                        <a:pt x="0" y="6"/>
                      </a:lnTo>
                      <a:lnTo>
                        <a:pt x="0" y="28"/>
                      </a:lnTo>
                      <a:close/>
                    </a:path>
                  </a:pathLst>
                </a:custGeom>
                <a:solidFill>
                  <a:srgbClr val="000000"/>
                </a:solidFill>
                <a:ln w="9525">
                  <a:noFill/>
                  <a:round/>
                  <a:headEnd/>
                  <a:tailEnd/>
                </a:ln>
              </p:spPr>
              <p:txBody>
                <a:bodyPr/>
                <a:lstStyle/>
                <a:p>
                  <a:endParaRPr lang="en-US"/>
                </a:p>
              </p:txBody>
            </p:sp>
            <p:sp>
              <p:nvSpPr>
                <p:cNvPr id="29753" name="Freeform 14"/>
                <p:cNvSpPr>
                  <a:spLocks/>
                </p:cNvSpPr>
                <p:nvPr/>
              </p:nvSpPr>
              <p:spPr bwMode="auto">
                <a:xfrm>
                  <a:off x="1998" y="3854"/>
                  <a:ext cx="27" cy="17"/>
                </a:xfrm>
                <a:custGeom>
                  <a:avLst/>
                  <a:gdLst>
                    <a:gd name="T0" fmla="*/ 0 w 55"/>
                    <a:gd name="T1" fmla="*/ 1 h 33"/>
                    <a:gd name="T2" fmla="*/ 0 w 55"/>
                    <a:gd name="T3" fmla="*/ 1 h 33"/>
                    <a:gd name="T4" fmla="*/ 0 w 55"/>
                    <a:gd name="T5" fmla="*/ 1 h 33"/>
                    <a:gd name="T6" fmla="*/ 0 w 55"/>
                    <a:gd name="T7" fmla="*/ 1 h 33"/>
                    <a:gd name="T8" fmla="*/ 0 w 55"/>
                    <a:gd name="T9" fmla="*/ 1 h 33"/>
                    <a:gd name="T10" fmla="*/ 0 w 55"/>
                    <a:gd name="T11" fmla="*/ 1 h 33"/>
                    <a:gd name="T12" fmla="*/ 0 w 55"/>
                    <a:gd name="T13" fmla="*/ 1 h 33"/>
                    <a:gd name="T14" fmla="*/ 0 w 55"/>
                    <a:gd name="T15" fmla="*/ 1 h 33"/>
                    <a:gd name="T16" fmla="*/ 0 w 55"/>
                    <a:gd name="T17" fmla="*/ 1 h 33"/>
                    <a:gd name="T18" fmla="*/ 0 w 55"/>
                    <a:gd name="T19" fmla="*/ 1 h 33"/>
                    <a:gd name="T20" fmla="*/ 0 w 55"/>
                    <a:gd name="T21" fmla="*/ 1 h 33"/>
                    <a:gd name="T22" fmla="*/ 0 w 55"/>
                    <a:gd name="T23" fmla="*/ 0 h 33"/>
                    <a:gd name="T24" fmla="*/ 0 w 55"/>
                    <a:gd name="T25" fmla="*/ 1 h 33"/>
                    <a:gd name="T26" fmla="*/ 0 w 55"/>
                    <a:gd name="T27" fmla="*/ 0 h 33"/>
                    <a:gd name="T28" fmla="*/ 0 w 55"/>
                    <a:gd name="T29" fmla="*/ 1 h 33"/>
                    <a:gd name="T30" fmla="*/ 0 w 55"/>
                    <a:gd name="T31" fmla="*/ 1 h 33"/>
                    <a:gd name="T32" fmla="*/ 0 w 55"/>
                    <a:gd name="T33" fmla="*/ 1 h 33"/>
                    <a:gd name="T34" fmla="*/ 0 w 55"/>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5"/>
                    <a:gd name="T55" fmla="*/ 0 h 33"/>
                    <a:gd name="T56" fmla="*/ 55 w 55"/>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5" h="33">
                      <a:moveTo>
                        <a:pt x="11" y="22"/>
                      </a:moveTo>
                      <a:lnTo>
                        <a:pt x="3" y="19"/>
                      </a:lnTo>
                      <a:lnTo>
                        <a:pt x="8" y="22"/>
                      </a:lnTo>
                      <a:lnTo>
                        <a:pt x="17" y="27"/>
                      </a:lnTo>
                      <a:lnTo>
                        <a:pt x="33" y="32"/>
                      </a:lnTo>
                      <a:lnTo>
                        <a:pt x="55" y="33"/>
                      </a:lnTo>
                      <a:lnTo>
                        <a:pt x="55" y="11"/>
                      </a:lnTo>
                      <a:lnTo>
                        <a:pt x="36" y="10"/>
                      </a:lnTo>
                      <a:lnTo>
                        <a:pt x="23" y="5"/>
                      </a:lnTo>
                      <a:lnTo>
                        <a:pt x="17" y="3"/>
                      </a:lnTo>
                      <a:lnTo>
                        <a:pt x="19" y="3"/>
                      </a:lnTo>
                      <a:lnTo>
                        <a:pt x="11" y="0"/>
                      </a:lnTo>
                      <a:lnTo>
                        <a:pt x="19" y="3"/>
                      </a:lnTo>
                      <a:lnTo>
                        <a:pt x="11" y="0"/>
                      </a:lnTo>
                      <a:lnTo>
                        <a:pt x="4" y="3"/>
                      </a:lnTo>
                      <a:lnTo>
                        <a:pt x="0" y="11"/>
                      </a:lnTo>
                      <a:lnTo>
                        <a:pt x="3" y="19"/>
                      </a:lnTo>
                      <a:lnTo>
                        <a:pt x="11" y="22"/>
                      </a:lnTo>
                      <a:close/>
                    </a:path>
                  </a:pathLst>
                </a:custGeom>
                <a:solidFill>
                  <a:srgbClr val="000000"/>
                </a:solidFill>
                <a:ln w="9525">
                  <a:noFill/>
                  <a:round/>
                  <a:headEnd/>
                  <a:tailEnd/>
                </a:ln>
              </p:spPr>
              <p:txBody>
                <a:bodyPr/>
                <a:lstStyle/>
                <a:p>
                  <a:endParaRPr lang="en-US"/>
                </a:p>
              </p:txBody>
            </p:sp>
            <p:sp>
              <p:nvSpPr>
                <p:cNvPr id="29754" name="Freeform 15"/>
                <p:cNvSpPr>
                  <a:spLocks/>
                </p:cNvSpPr>
                <p:nvPr/>
              </p:nvSpPr>
              <p:spPr bwMode="auto">
                <a:xfrm>
                  <a:off x="1951" y="3838"/>
                  <a:ext cx="52" cy="27"/>
                </a:xfrm>
                <a:custGeom>
                  <a:avLst/>
                  <a:gdLst>
                    <a:gd name="T0" fmla="*/ 0 w 105"/>
                    <a:gd name="T1" fmla="*/ 1 h 53"/>
                    <a:gd name="T2" fmla="*/ 0 w 105"/>
                    <a:gd name="T3" fmla="*/ 1 h 53"/>
                    <a:gd name="T4" fmla="*/ 0 w 105"/>
                    <a:gd name="T5" fmla="*/ 1 h 53"/>
                    <a:gd name="T6" fmla="*/ 0 w 105"/>
                    <a:gd name="T7" fmla="*/ 1 h 53"/>
                    <a:gd name="T8" fmla="*/ 0 w 105"/>
                    <a:gd name="T9" fmla="*/ 1 h 53"/>
                    <a:gd name="T10" fmla="*/ 0 w 105"/>
                    <a:gd name="T11" fmla="*/ 1 h 53"/>
                    <a:gd name="T12" fmla="*/ 0 w 105"/>
                    <a:gd name="T13" fmla="*/ 1 h 53"/>
                    <a:gd name="T14" fmla="*/ 0 w 105"/>
                    <a:gd name="T15" fmla="*/ 1 h 53"/>
                    <a:gd name="T16" fmla="*/ 0 w 105"/>
                    <a:gd name="T17" fmla="*/ 1 h 53"/>
                    <a:gd name="T18" fmla="*/ 0 w 105"/>
                    <a:gd name="T19" fmla="*/ 1 h 53"/>
                    <a:gd name="T20" fmla="*/ 0 w 105"/>
                    <a:gd name="T21" fmla="*/ 1 h 53"/>
                    <a:gd name="T22" fmla="*/ 0 w 105"/>
                    <a:gd name="T23" fmla="*/ 1 h 53"/>
                    <a:gd name="T24" fmla="*/ 0 w 105"/>
                    <a:gd name="T25" fmla="*/ 1 h 53"/>
                    <a:gd name="T26" fmla="*/ 0 w 105"/>
                    <a:gd name="T27" fmla="*/ 1 h 53"/>
                    <a:gd name="T28" fmla="*/ 0 w 105"/>
                    <a:gd name="T29" fmla="*/ 1 h 53"/>
                    <a:gd name="T30" fmla="*/ 0 w 105"/>
                    <a:gd name="T31" fmla="*/ 1 h 53"/>
                    <a:gd name="T32" fmla="*/ 0 w 105"/>
                    <a:gd name="T33" fmla="*/ 1 h 53"/>
                    <a:gd name="T34" fmla="*/ 0 w 105"/>
                    <a:gd name="T35" fmla="*/ 1 h 53"/>
                    <a:gd name="T36" fmla="*/ 0 w 105"/>
                    <a:gd name="T37" fmla="*/ 1 h 53"/>
                    <a:gd name="T38" fmla="*/ 0 w 105"/>
                    <a:gd name="T39" fmla="*/ 0 h 53"/>
                    <a:gd name="T40" fmla="*/ 0 w 105"/>
                    <a:gd name="T41" fmla="*/ 1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5"/>
                    <a:gd name="T64" fmla="*/ 0 h 53"/>
                    <a:gd name="T65" fmla="*/ 105 w 105"/>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5" h="53">
                      <a:moveTo>
                        <a:pt x="1" y="9"/>
                      </a:moveTo>
                      <a:lnTo>
                        <a:pt x="0" y="8"/>
                      </a:lnTo>
                      <a:lnTo>
                        <a:pt x="11" y="23"/>
                      </a:lnTo>
                      <a:lnTo>
                        <a:pt x="23" y="34"/>
                      </a:lnTo>
                      <a:lnTo>
                        <a:pt x="42" y="42"/>
                      </a:lnTo>
                      <a:lnTo>
                        <a:pt x="59" y="47"/>
                      </a:lnTo>
                      <a:lnTo>
                        <a:pt x="77" y="50"/>
                      </a:lnTo>
                      <a:lnTo>
                        <a:pt x="91" y="52"/>
                      </a:lnTo>
                      <a:lnTo>
                        <a:pt x="100" y="53"/>
                      </a:lnTo>
                      <a:lnTo>
                        <a:pt x="105" y="53"/>
                      </a:lnTo>
                      <a:lnTo>
                        <a:pt x="105" y="31"/>
                      </a:lnTo>
                      <a:lnTo>
                        <a:pt x="103" y="31"/>
                      </a:lnTo>
                      <a:lnTo>
                        <a:pt x="94" y="30"/>
                      </a:lnTo>
                      <a:lnTo>
                        <a:pt x="80" y="28"/>
                      </a:lnTo>
                      <a:lnTo>
                        <a:pt x="66" y="25"/>
                      </a:lnTo>
                      <a:lnTo>
                        <a:pt x="48" y="20"/>
                      </a:lnTo>
                      <a:lnTo>
                        <a:pt x="36" y="16"/>
                      </a:lnTo>
                      <a:lnTo>
                        <a:pt x="26" y="8"/>
                      </a:lnTo>
                      <a:lnTo>
                        <a:pt x="22" y="2"/>
                      </a:lnTo>
                      <a:lnTo>
                        <a:pt x="20" y="0"/>
                      </a:lnTo>
                      <a:lnTo>
                        <a:pt x="1" y="9"/>
                      </a:lnTo>
                      <a:close/>
                    </a:path>
                  </a:pathLst>
                </a:custGeom>
                <a:solidFill>
                  <a:srgbClr val="000000"/>
                </a:solidFill>
                <a:ln w="9525">
                  <a:noFill/>
                  <a:round/>
                  <a:headEnd/>
                  <a:tailEnd/>
                </a:ln>
              </p:spPr>
              <p:txBody>
                <a:bodyPr/>
                <a:lstStyle/>
                <a:p>
                  <a:endParaRPr lang="en-US"/>
                </a:p>
              </p:txBody>
            </p:sp>
            <p:sp>
              <p:nvSpPr>
                <p:cNvPr id="29755" name="Freeform 16"/>
                <p:cNvSpPr>
                  <a:spLocks/>
                </p:cNvSpPr>
                <p:nvPr/>
              </p:nvSpPr>
              <p:spPr bwMode="auto">
                <a:xfrm>
                  <a:off x="1949" y="3825"/>
                  <a:ext cx="14" cy="18"/>
                </a:xfrm>
                <a:custGeom>
                  <a:avLst/>
                  <a:gdLst>
                    <a:gd name="T0" fmla="*/ 0 w 30"/>
                    <a:gd name="T1" fmla="*/ 1 h 36"/>
                    <a:gd name="T2" fmla="*/ 0 w 30"/>
                    <a:gd name="T3" fmla="*/ 1 h 36"/>
                    <a:gd name="T4" fmla="*/ 0 w 30"/>
                    <a:gd name="T5" fmla="*/ 1 h 36"/>
                    <a:gd name="T6" fmla="*/ 0 w 30"/>
                    <a:gd name="T7" fmla="*/ 0 h 36"/>
                    <a:gd name="T8" fmla="*/ 0 w 30"/>
                    <a:gd name="T9" fmla="*/ 1 h 36"/>
                    <a:gd name="T10" fmla="*/ 0 w 30"/>
                    <a:gd name="T11" fmla="*/ 1 h 36"/>
                    <a:gd name="T12" fmla="*/ 0 w 30"/>
                    <a:gd name="T13" fmla="*/ 1 h 36"/>
                    <a:gd name="T14" fmla="*/ 0 w 30"/>
                    <a:gd name="T15" fmla="*/ 1 h 36"/>
                    <a:gd name="T16" fmla="*/ 0 w 30"/>
                    <a:gd name="T17" fmla="*/ 1 h 36"/>
                    <a:gd name="T18" fmla="*/ 0 w 30"/>
                    <a:gd name="T19" fmla="*/ 1 h 36"/>
                    <a:gd name="T20" fmla="*/ 0 w 30"/>
                    <a:gd name="T21" fmla="*/ 1 h 36"/>
                    <a:gd name="T22" fmla="*/ 0 w 30"/>
                    <a:gd name="T23" fmla="*/ 1 h 36"/>
                    <a:gd name="T24" fmla="*/ 0 w 30"/>
                    <a:gd name="T25" fmla="*/ 1 h 36"/>
                    <a:gd name="T26" fmla="*/ 0 w 30"/>
                    <a:gd name="T27" fmla="*/ 1 h 36"/>
                    <a:gd name="T28" fmla="*/ 0 w 30"/>
                    <a:gd name="T29" fmla="*/ 1 h 36"/>
                    <a:gd name="T30" fmla="*/ 0 w 30"/>
                    <a:gd name="T31" fmla="*/ 1 h 36"/>
                    <a:gd name="T32" fmla="*/ 0 w 30"/>
                    <a:gd name="T33" fmla="*/ 1 h 36"/>
                    <a:gd name="T34" fmla="*/ 0 w 30"/>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0"/>
                    <a:gd name="T55" fmla="*/ 0 h 36"/>
                    <a:gd name="T56" fmla="*/ 30 w 30"/>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0" h="36">
                      <a:moveTo>
                        <a:pt x="13" y="7"/>
                      </a:moveTo>
                      <a:lnTo>
                        <a:pt x="27" y="8"/>
                      </a:lnTo>
                      <a:lnTo>
                        <a:pt x="24" y="5"/>
                      </a:lnTo>
                      <a:lnTo>
                        <a:pt x="10" y="0"/>
                      </a:lnTo>
                      <a:lnTo>
                        <a:pt x="0" y="18"/>
                      </a:lnTo>
                      <a:lnTo>
                        <a:pt x="6" y="36"/>
                      </a:lnTo>
                      <a:lnTo>
                        <a:pt x="25" y="27"/>
                      </a:lnTo>
                      <a:lnTo>
                        <a:pt x="22" y="14"/>
                      </a:lnTo>
                      <a:lnTo>
                        <a:pt x="16" y="22"/>
                      </a:lnTo>
                      <a:lnTo>
                        <a:pt x="11" y="24"/>
                      </a:lnTo>
                      <a:lnTo>
                        <a:pt x="25" y="25"/>
                      </a:lnTo>
                      <a:lnTo>
                        <a:pt x="11" y="24"/>
                      </a:lnTo>
                      <a:lnTo>
                        <a:pt x="19" y="27"/>
                      </a:lnTo>
                      <a:lnTo>
                        <a:pt x="27" y="22"/>
                      </a:lnTo>
                      <a:lnTo>
                        <a:pt x="30" y="16"/>
                      </a:lnTo>
                      <a:lnTo>
                        <a:pt x="27" y="8"/>
                      </a:lnTo>
                      <a:lnTo>
                        <a:pt x="13" y="7"/>
                      </a:lnTo>
                      <a:close/>
                    </a:path>
                  </a:pathLst>
                </a:custGeom>
                <a:solidFill>
                  <a:srgbClr val="000000"/>
                </a:solidFill>
                <a:ln w="9525">
                  <a:noFill/>
                  <a:round/>
                  <a:headEnd/>
                  <a:tailEnd/>
                </a:ln>
              </p:spPr>
              <p:txBody>
                <a:bodyPr/>
                <a:lstStyle/>
                <a:p>
                  <a:endParaRPr lang="en-US"/>
                </a:p>
              </p:txBody>
            </p:sp>
            <p:sp>
              <p:nvSpPr>
                <p:cNvPr id="29756" name="Freeform 17"/>
                <p:cNvSpPr>
                  <a:spLocks/>
                </p:cNvSpPr>
                <p:nvPr/>
              </p:nvSpPr>
              <p:spPr bwMode="auto">
                <a:xfrm>
                  <a:off x="1955" y="3817"/>
                  <a:ext cx="45" cy="21"/>
                </a:xfrm>
                <a:custGeom>
                  <a:avLst/>
                  <a:gdLst>
                    <a:gd name="T0" fmla="*/ 1 w 90"/>
                    <a:gd name="T1" fmla="*/ 0 h 40"/>
                    <a:gd name="T2" fmla="*/ 1 w 90"/>
                    <a:gd name="T3" fmla="*/ 0 h 40"/>
                    <a:gd name="T4" fmla="*/ 1 w 90"/>
                    <a:gd name="T5" fmla="*/ 0 h 40"/>
                    <a:gd name="T6" fmla="*/ 1 w 90"/>
                    <a:gd name="T7" fmla="*/ 1 h 40"/>
                    <a:gd name="T8" fmla="*/ 1 w 90"/>
                    <a:gd name="T9" fmla="*/ 1 h 40"/>
                    <a:gd name="T10" fmla="*/ 1 w 90"/>
                    <a:gd name="T11" fmla="*/ 1 h 40"/>
                    <a:gd name="T12" fmla="*/ 1 w 90"/>
                    <a:gd name="T13" fmla="*/ 1 h 40"/>
                    <a:gd name="T14" fmla="*/ 1 w 90"/>
                    <a:gd name="T15" fmla="*/ 1 h 40"/>
                    <a:gd name="T16" fmla="*/ 1 w 90"/>
                    <a:gd name="T17" fmla="*/ 1 h 40"/>
                    <a:gd name="T18" fmla="*/ 0 w 90"/>
                    <a:gd name="T19" fmla="*/ 1 h 40"/>
                    <a:gd name="T20" fmla="*/ 1 w 90"/>
                    <a:gd name="T21" fmla="*/ 1 h 40"/>
                    <a:gd name="T22" fmla="*/ 1 w 90"/>
                    <a:gd name="T23" fmla="*/ 1 h 40"/>
                    <a:gd name="T24" fmla="*/ 1 w 90"/>
                    <a:gd name="T25" fmla="*/ 1 h 40"/>
                    <a:gd name="T26" fmla="*/ 1 w 90"/>
                    <a:gd name="T27" fmla="*/ 1 h 40"/>
                    <a:gd name="T28" fmla="*/ 1 w 90"/>
                    <a:gd name="T29" fmla="*/ 1 h 40"/>
                    <a:gd name="T30" fmla="*/ 1 w 90"/>
                    <a:gd name="T31" fmla="*/ 1 h 40"/>
                    <a:gd name="T32" fmla="*/ 1 w 90"/>
                    <a:gd name="T33" fmla="*/ 1 h 40"/>
                    <a:gd name="T34" fmla="*/ 1 w 90"/>
                    <a:gd name="T35" fmla="*/ 1 h 40"/>
                    <a:gd name="T36" fmla="*/ 1 w 90"/>
                    <a:gd name="T37" fmla="*/ 1 h 40"/>
                    <a:gd name="T38" fmla="*/ 1 w 90"/>
                    <a:gd name="T39" fmla="*/ 1 h 40"/>
                    <a:gd name="T40" fmla="*/ 1 w 90"/>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0"/>
                    <a:gd name="T64" fmla="*/ 0 h 40"/>
                    <a:gd name="T65" fmla="*/ 90 w 90"/>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0" h="40">
                      <a:moveTo>
                        <a:pt x="90" y="0"/>
                      </a:moveTo>
                      <a:lnTo>
                        <a:pt x="90" y="0"/>
                      </a:lnTo>
                      <a:lnTo>
                        <a:pt x="72" y="0"/>
                      </a:lnTo>
                      <a:lnTo>
                        <a:pt x="54" y="3"/>
                      </a:lnTo>
                      <a:lnTo>
                        <a:pt x="39" y="6"/>
                      </a:lnTo>
                      <a:lnTo>
                        <a:pt x="26" y="9"/>
                      </a:lnTo>
                      <a:lnTo>
                        <a:pt x="15" y="15"/>
                      </a:lnTo>
                      <a:lnTo>
                        <a:pt x="9" y="17"/>
                      </a:lnTo>
                      <a:lnTo>
                        <a:pt x="3" y="20"/>
                      </a:lnTo>
                      <a:lnTo>
                        <a:pt x="0" y="22"/>
                      </a:lnTo>
                      <a:lnTo>
                        <a:pt x="12" y="40"/>
                      </a:lnTo>
                      <a:lnTo>
                        <a:pt x="12" y="39"/>
                      </a:lnTo>
                      <a:lnTo>
                        <a:pt x="15" y="39"/>
                      </a:lnTo>
                      <a:lnTo>
                        <a:pt x="25" y="34"/>
                      </a:lnTo>
                      <a:lnTo>
                        <a:pt x="33" y="31"/>
                      </a:lnTo>
                      <a:lnTo>
                        <a:pt x="45" y="28"/>
                      </a:lnTo>
                      <a:lnTo>
                        <a:pt x="58" y="25"/>
                      </a:lnTo>
                      <a:lnTo>
                        <a:pt x="75" y="22"/>
                      </a:lnTo>
                      <a:lnTo>
                        <a:pt x="90" y="22"/>
                      </a:lnTo>
                      <a:lnTo>
                        <a:pt x="90" y="0"/>
                      </a:lnTo>
                      <a:close/>
                    </a:path>
                  </a:pathLst>
                </a:custGeom>
                <a:solidFill>
                  <a:srgbClr val="000000"/>
                </a:solidFill>
                <a:ln w="9525">
                  <a:noFill/>
                  <a:round/>
                  <a:headEnd/>
                  <a:tailEnd/>
                </a:ln>
              </p:spPr>
              <p:txBody>
                <a:bodyPr/>
                <a:lstStyle/>
                <a:p>
                  <a:endParaRPr lang="en-US"/>
                </a:p>
              </p:txBody>
            </p:sp>
            <p:sp>
              <p:nvSpPr>
                <p:cNvPr id="29757" name="Freeform 18"/>
                <p:cNvSpPr>
                  <a:spLocks/>
                </p:cNvSpPr>
                <p:nvPr/>
              </p:nvSpPr>
              <p:spPr bwMode="auto">
                <a:xfrm>
                  <a:off x="2000" y="3817"/>
                  <a:ext cx="77" cy="11"/>
                </a:xfrm>
                <a:custGeom>
                  <a:avLst/>
                  <a:gdLst>
                    <a:gd name="T0" fmla="*/ 1 w 154"/>
                    <a:gd name="T1" fmla="*/ 1 h 22"/>
                    <a:gd name="T2" fmla="*/ 1 w 154"/>
                    <a:gd name="T3" fmla="*/ 0 h 22"/>
                    <a:gd name="T4" fmla="*/ 1 w 154"/>
                    <a:gd name="T5" fmla="*/ 0 h 22"/>
                    <a:gd name="T6" fmla="*/ 1 w 154"/>
                    <a:gd name="T7" fmla="*/ 0 h 22"/>
                    <a:gd name="T8" fmla="*/ 1 w 154"/>
                    <a:gd name="T9" fmla="*/ 0 h 22"/>
                    <a:gd name="T10" fmla="*/ 1 w 154"/>
                    <a:gd name="T11" fmla="*/ 0 h 22"/>
                    <a:gd name="T12" fmla="*/ 1 w 154"/>
                    <a:gd name="T13" fmla="*/ 0 h 22"/>
                    <a:gd name="T14" fmla="*/ 1 w 154"/>
                    <a:gd name="T15" fmla="*/ 0 h 22"/>
                    <a:gd name="T16" fmla="*/ 1 w 154"/>
                    <a:gd name="T17" fmla="*/ 0 h 22"/>
                    <a:gd name="T18" fmla="*/ 0 w 154"/>
                    <a:gd name="T19" fmla="*/ 0 h 22"/>
                    <a:gd name="T20" fmla="*/ 0 w 154"/>
                    <a:gd name="T21" fmla="*/ 1 h 22"/>
                    <a:gd name="T22" fmla="*/ 1 w 154"/>
                    <a:gd name="T23" fmla="*/ 1 h 22"/>
                    <a:gd name="T24" fmla="*/ 1 w 154"/>
                    <a:gd name="T25" fmla="*/ 1 h 22"/>
                    <a:gd name="T26" fmla="*/ 1 w 154"/>
                    <a:gd name="T27" fmla="*/ 1 h 22"/>
                    <a:gd name="T28" fmla="*/ 1 w 154"/>
                    <a:gd name="T29" fmla="*/ 1 h 22"/>
                    <a:gd name="T30" fmla="*/ 1 w 154"/>
                    <a:gd name="T31" fmla="*/ 1 h 22"/>
                    <a:gd name="T32" fmla="*/ 1 w 154"/>
                    <a:gd name="T33" fmla="*/ 1 h 22"/>
                    <a:gd name="T34" fmla="*/ 1 w 154"/>
                    <a:gd name="T35" fmla="*/ 1 h 22"/>
                    <a:gd name="T36" fmla="*/ 1 w 154"/>
                    <a:gd name="T37" fmla="*/ 1 h 22"/>
                    <a:gd name="T38" fmla="*/ 1 w 154"/>
                    <a:gd name="T39" fmla="*/ 1 h 22"/>
                    <a:gd name="T40" fmla="*/ 1 w 154"/>
                    <a:gd name="T41" fmla="*/ 1 h 22"/>
                    <a:gd name="T42" fmla="*/ 1 w 154"/>
                    <a:gd name="T43" fmla="*/ 1 h 22"/>
                    <a:gd name="T44" fmla="*/ 1 w 154"/>
                    <a:gd name="T45" fmla="*/ 1 h 22"/>
                    <a:gd name="T46" fmla="*/ 1 w 154"/>
                    <a:gd name="T47" fmla="*/ 1 h 22"/>
                    <a:gd name="T48" fmla="*/ 1 w 154"/>
                    <a:gd name="T49" fmla="*/ 0 h 22"/>
                    <a:gd name="T50" fmla="*/ 1 w 154"/>
                    <a:gd name="T51" fmla="*/ 1 h 2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4"/>
                    <a:gd name="T79" fmla="*/ 0 h 22"/>
                    <a:gd name="T80" fmla="*/ 154 w 154"/>
                    <a:gd name="T81" fmla="*/ 22 h 2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4" h="22">
                      <a:moveTo>
                        <a:pt x="154" y="11"/>
                      </a:moveTo>
                      <a:lnTo>
                        <a:pt x="143" y="0"/>
                      </a:lnTo>
                      <a:lnTo>
                        <a:pt x="138" y="0"/>
                      </a:lnTo>
                      <a:lnTo>
                        <a:pt x="127" y="0"/>
                      </a:lnTo>
                      <a:lnTo>
                        <a:pt x="112" y="0"/>
                      </a:lnTo>
                      <a:lnTo>
                        <a:pt x="91" y="0"/>
                      </a:lnTo>
                      <a:lnTo>
                        <a:pt x="68" y="0"/>
                      </a:lnTo>
                      <a:lnTo>
                        <a:pt x="44" y="0"/>
                      </a:lnTo>
                      <a:lnTo>
                        <a:pt x="21" y="0"/>
                      </a:lnTo>
                      <a:lnTo>
                        <a:pt x="0" y="0"/>
                      </a:lnTo>
                      <a:lnTo>
                        <a:pt x="0" y="22"/>
                      </a:lnTo>
                      <a:lnTo>
                        <a:pt x="21" y="22"/>
                      </a:lnTo>
                      <a:lnTo>
                        <a:pt x="44" y="22"/>
                      </a:lnTo>
                      <a:lnTo>
                        <a:pt x="68" y="22"/>
                      </a:lnTo>
                      <a:lnTo>
                        <a:pt x="91" y="22"/>
                      </a:lnTo>
                      <a:lnTo>
                        <a:pt x="112" y="22"/>
                      </a:lnTo>
                      <a:lnTo>
                        <a:pt x="127" y="22"/>
                      </a:lnTo>
                      <a:lnTo>
                        <a:pt x="138" y="22"/>
                      </a:lnTo>
                      <a:lnTo>
                        <a:pt x="143" y="22"/>
                      </a:lnTo>
                      <a:lnTo>
                        <a:pt x="132" y="11"/>
                      </a:lnTo>
                      <a:lnTo>
                        <a:pt x="143" y="22"/>
                      </a:lnTo>
                      <a:lnTo>
                        <a:pt x="151" y="18"/>
                      </a:lnTo>
                      <a:lnTo>
                        <a:pt x="154" y="11"/>
                      </a:lnTo>
                      <a:lnTo>
                        <a:pt x="151" y="3"/>
                      </a:lnTo>
                      <a:lnTo>
                        <a:pt x="143" y="0"/>
                      </a:lnTo>
                      <a:lnTo>
                        <a:pt x="154" y="11"/>
                      </a:lnTo>
                      <a:close/>
                    </a:path>
                  </a:pathLst>
                </a:custGeom>
                <a:solidFill>
                  <a:srgbClr val="000000"/>
                </a:solidFill>
                <a:ln w="9525">
                  <a:noFill/>
                  <a:round/>
                  <a:headEnd/>
                  <a:tailEnd/>
                </a:ln>
              </p:spPr>
              <p:txBody>
                <a:bodyPr/>
                <a:lstStyle/>
                <a:p>
                  <a:endParaRPr lang="en-US"/>
                </a:p>
              </p:txBody>
            </p:sp>
            <p:sp>
              <p:nvSpPr>
                <p:cNvPr id="29758" name="Freeform 19"/>
                <p:cNvSpPr>
                  <a:spLocks/>
                </p:cNvSpPr>
                <p:nvPr/>
              </p:nvSpPr>
              <p:spPr bwMode="auto">
                <a:xfrm>
                  <a:off x="2036" y="3731"/>
                  <a:ext cx="42" cy="93"/>
                </a:xfrm>
                <a:custGeom>
                  <a:avLst/>
                  <a:gdLst>
                    <a:gd name="T0" fmla="*/ 1 w 82"/>
                    <a:gd name="T1" fmla="*/ 1 h 186"/>
                    <a:gd name="T2" fmla="*/ 1 w 82"/>
                    <a:gd name="T3" fmla="*/ 1 h 186"/>
                    <a:gd name="T4" fmla="*/ 1 w 82"/>
                    <a:gd name="T5" fmla="*/ 1 h 186"/>
                    <a:gd name="T6" fmla="*/ 1 w 82"/>
                    <a:gd name="T7" fmla="*/ 1 h 186"/>
                    <a:gd name="T8" fmla="*/ 1 w 82"/>
                    <a:gd name="T9" fmla="*/ 1 h 186"/>
                    <a:gd name="T10" fmla="*/ 1 w 82"/>
                    <a:gd name="T11" fmla="*/ 1 h 186"/>
                    <a:gd name="T12" fmla="*/ 1 w 82"/>
                    <a:gd name="T13" fmla="*/ 1 h 186"/>
                    <a:gd name="T14" fmla="*/ 1 w 82"/>
                    <a:gd name="T15" fmla="*/ 1 h 186"/>
                    <a:gd name="T16" fmla="*/ 1 w 82"/>
                    <a:gd name="T17" fmla="*/ 1 h 186"/>
                    <a:gd name="T18" fmla="*/ 1 w 82"/>
                    <a:gd name="T19" fmla="*/ 1 h 186"/>
                    <a:gd name="T20" fmla="*/ 1 w 82"/>
                    <a:gd name="T21" fmla="*/ 1 h 186"/>
                    <a:gd name="T22" fmla="*/ 1 w 82"/>
                    <a:gd name="T23" fmla="*/ 1 h 186"/>
                    <a:gd name="T24" fmla="*/ 1 w 82"/>
                    <a:gd name="T25" fmla="*/ 1 h 186"/>
                    <a:gd name="T26" fmla="*/ 1 w 82"/>
                    <a:gd name="T27" fmla="*/ 1 h 186"/>
                    <a:gd name="T28" fmla="*/ 1 w 82"/>
                    <a:gd name="T29" fmla="*/ 1 h 186"/>
                    <a:gd name="T30" fmla="*/ 1 w 82"/>
                    <a:gd name="T31" fmla="*/ 1 h 186"/>
                    <a:gd name="T32" fmla="*/ 1 w 82"/>
                    <a:gd name="T33" fmla="*/ 1 h 186"/>
                    <a:gd name="T34" fmla="*/ 1 w 82"/>
                    <a:gd name="T35" fmla="*/ 1 h 186"/>
                    <a:gd name="T36" fmla="*/ 1 w 82"/>
                    <a:gd name="T37" fmla="*/ 1 h 186"/>
                    <a:gd name="T38" fmla="*/ 1 w 82"/>
                    <a:gd name="T39" fmla="*/ 1 h 186"/>
                    <a:gd name="T40" fmla="*/ 1 w 82"/>
                    <a:gd name="T41" fmla="*/ 1 h 186"/>
                    <a:gd name="T42" fmla="*/ 1 w 82"/>
                    <a:gd name="T43" fmla="*/ 1 h 186"/>
                    <a:gd name="T44" fmla="*/ 1 w 82"/>
                    <a:gd name="T45" fmla="*/ 1 h 186"/>
                    <a:gd name="T46" fmla="*/ 1 w 82"/>
                    <a:gd name="T47" fmla="*/ 1 h 186"/>
                    <a:gd name="T48" fmla="*/ 1 w 82"/>
                    <a:gd name="T49" fmla="*/ 1 h 186"/>
                    <a:gd name="T50" fmla="*/ 1 w 82"/>
                    <a:gd name="T51" fmla="*/ 1 h 186"/>
                    <a:gd name="T52" fmla="*/ 1 w 82"/>
                    <a:gd name="T53" fmla="*/ 1 h 186"/>
                    <a:gd name="T54" fmla="*/ 1 w 82"/>
                    <a:gd name="T55" fmla="*/ 1 h 186"/>
                    <a:gd name="T56" fmla="*/ 1 w 82"/>
                    <a:gd name="T57" fmla="*/ 1 h 186"/>
                    <a:gd name="T58" fmla="*/ 1 w 82"/>
                    <a:gd name="T59" fmla="*/ 1 h 186"/>
                    <a:gd name="T60" fmla="*/ 0 w 82"/>
                    <a:gd name="T61" fmla="*/ 1 h 186"/>
                    <a:gd name="T62" fmla="*/ 0 w 82"/>
                    <a:gd name="T63" fmla="*/ 1 h 186"/>
                    <a:gd name="T64" fmla="*/ 0 w 82"/>
                    <a:gd name="T65" fmla="*/ 0 h 186"/>
                    <a:gd name="T66" fmla="*/ 1 w 82"/>
                    <a:gd name="T67" fmla="*/ 1 h 18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2"/>
                    <a:gd name="T103" fmla="*/ 0 h 186"/>
                    <a:gd name="T104" fmla="*/ 82 w 82"/>
                    <a:gd name="T105" fmla="*/ 186 h 18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2" h="186">
                      <a:moveTo>
                        <a:pt x="82" y="22"/>
                      </a:moveTo>
                      <a:lnTo>
                        <a:pt x="82" y="23"/>
                      </a:lnTo>
                      <a:lnTo>
                        <a:pt x="81" y="29"/>
                      </a:lnTo>
                      <a:lnTo>
                        <a:pt x="79" y="37"/>
                      </a:lnTo>
                      <a:lnTo>
                        <a:pt x="78" y="48"/>
                      </a:lnTo>
                      <a:lnTo>
                        <a:pt x="76" y="61"/>
                      </a:lnTo>
                      <a:lnTo>
                        <a:pt x="75" y="75"/>
                      </a:lnTo>
                      <a:lnTo>
                        <a:pt x="75" y="90"/>
                      </a:lnTo>
                      <a:lnTo>
                        <a:pt x="75" y="106"/>
                      </a:lnTo>
                      <a:lnTo>
                        <a:pt x="75" y="122"/>
                      </a:lnTo>
                      <a:lnTo>
                        <a:pt x="76" y="136"/>
                      </a:lnTo>
                      <a:lnTo>
                        <a:pt x="76" y="148"/>
                      </a:lnTo>
                      <a:lnTo>
                        <a:pt x="76" y="159"/>
                      </a:lnTo>
                      <a:lnTo>
                        <a:pt x="78" y="169"/>
                      </a:lnTo>
                      <a:lnTo>
                        <a:pt x="78" y="175"/>
                      </a:lnTo>
                      <a:lnTo>
                        <a:pt x="78" y="180"/>
                      </a:lnTo>
                      <a:lnTo>
                        <a:pt x="78" y="181"/>
                      </a:lnTo>
                      <a:lnTo>
                        <a:pt x="76" y="181"/>
                      </a:lnTo>
                      <a:lnTo>
                        <a:pt x="70" y="183"/>
                      </a:lnTo>
                      <a:lnTo>
                        <a:pt x="62" y="183"/>
                      </a:lnTo>
                      <a:lnTo>
                        <a:pt x="53" y="184"/>
                      </a:lnTo>
                      <a:lnTo>
                        <a:pt x="43" y="186"/>
                      </a:lnTo>
                      <a:lnTo>
                        <a:pt x="32" y="186"/>
                      </a:lnTo>
                      <a:lnTo>
                        <a:pt x="25" y="186"/>
                      </a:lnTo>
                      <a:lnTo>
                        <a:pt x="17" y="184"/>
                      </a:lnTo>
                      <a:lnTo>
                        <a:pt x="10" y="175"/>
                      </a:lnTo>
                      <a:lnTo>
                        <a:pt x="7" y="153"/>
                      </a:lnTo>
                      <a:lnTo>
                        <a:pt x="4" y="123"/>
                      </a:lnTo>
                      <a:lnTo>
                        <a:pt x="1" y="90"/>
                      </a:lnTo>
                      <a:lnTo>
                        <a:pt x="1" y="58"/>
                      </a:lnTo>
                      <a:lnTo>
                        <a:pt x="0" y="28"/>
                      </a:lnTo>
                      <a:lnTo>
                        <a:pt x="0" y="7"/>
                      </a:lnTo>
                      <a:lnTo>
                        <a:pt x="0" y="0"/>
                      </a:lnTo>
                      <a:lnTo>
                        <a:pt x="82" y="22"/>
                      </a:lnTo>
                      <a:close/>
                    </a:path>
                  </a:pathLst>
                </a:custGeom>
                <a:solidFill>
                  <a:srgbClr val="00FFB2"/>
                </a:solidFill>
                <a:ln w="9525">
                  <a:noFill/>
                  <a:round/>
                  <a:headEnd/>
                  <a:tailEnd/>
                </a:ln>
              </p:spPr>
              <p:txBody>
                <a:bodyPr/>
                <a:lstStyle/>
                <a:p>
                  <a:endParaRPr lang="en-US"/>
                </a:p>
              </p:txBody>
            </p:sp>
            <p:sp>
              <p:nvSpPr>
                <p:cNvPr id="29759" name="Freeform 20"/>
                <p:cNvSpPr>
                  <a:spLocks/>
                </p:cNvSpPr>
                <p:nvPr/>
              </p:nvSpPr>
              <p:spPr bwMode="auto">
                <a:xfrm>
                  <a:off x="2068" y="3741"/>
                  <a:ext cx="15" cy="44"/>
                </a:xfrm>
                <a:custGeom>
                  <a:avLst/>
                  <a:gdLst>
                    <a:gd name="T0" fmla="*/ 1 w 29"/>
                    <a:gd name="T1" fmla="*/ 1 h 88"/>
                    <a:gd name="T2" fmla="*/ 1 w 29"/>
                    <a:gd name="T3" fmla="*/ 1 h 88"/>
                    <a:gd name="T4" fmla="*/ 1 w 29"/>
                    <a:gd name="T5" fmla="*/ 1 h 88"/>
                    <a:gd name="T6" fmla="*/ 1 w 29"/>
                    <a:gd name="T7" fmla="*/ 1 h 88"/>
                    <a:gd name="T8" fmla="*/ 1 w 29"/>
                    <a:gd name="T9" fmla="*/ 1 h 88"/>
                    <a:gd name="T10" fmla="*/ 1 w 29"/>
                    <a:gd name="T11" fmla="*/ 1 h 88"/>
                    <a:gd name="T12" fmla="*/ 1 w 29"/>
                    <a:gd name="T13" fmla="*/ 1 h 88"/>
                    <a:gd name="T14" fmla="*/ 1 w 29"/>
                    <a:gd name="T15" fmla="*/ 1 h 88"/>
                    <a:gd name="T16" fmla="*/ 1 w 29"/>
                    <a:gd name="T17" fmla="*/ 1 h 88"/>
                    <a:gd name="T18" fmla="*/ 1 w 29"/>
                    <a:gd name="T19" fmla="*/ 1 h 88"/>
                    <a:gd name="T20" fmla="*/ 1 w 29"/>
                    <a:gd name="T21" fmla="*/ 0 h 88"/>
                    <a:gd name="T22" fmla="*/ 1 w 29"/>
                    <a:gd name="T23" fmla="*/ 1 h 88"/>
                    <a:gd name="T24" fmla="*/ 1 w 29"/>
                    <a:gd name="T25" fmla="*/ 1 h 88"/>
                    <a:gd name="T26" fmla="*/ 1 w 29"/>
                    <a:gd name="T27" fmla="*/ 1 h 88"/>
                    <a:gd name="T28" fmla="*/ 1 w 29"/>
                    <a:gd name="T29" fmla="*/ 1 h 88"/>
                    <a:gd name="T30" fmla="*/ 1 w 29"/>
                    <a:gd name="T31" fmla="*/ 1 h 88"/>
                    <a:gd name="T32" fmla="*/ 0 w 29"/>
                    <a:gd name="T33" fmla="*/ 1 h 88"/>
                    <a:gd name="T34" fmla="*/ 0 w 29"/>
                    <a:gd name="T35" fmla="*/ 1 h 88"/>
                    <a:gd name="T36" fmla="*/ 0 w 29"/>
                    <a:gd name="T37" fmla="*/ 1 h 88"/>
                    <a:gd name="T38" fmla="*/ 0 w 29"/>
                    <a:gd name="T39" fmla="*/ 1 h 88"/>
                    <a:gd name="T40" fmla="*/ 1 w 29"/>
                    <a:gd name="T41" fmla="*/ 1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9"/>
                    <a:gd name="T64" fmla="*/ 0 h 88"/>
                    <a:gd name="T65" fmla="*/ 29 w 29"/>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9" h="88">
                      <a:moveTo>
                        <a:pt x="22" y="88"/>
                      </a:moveTo>
                      <a:lnTo>
                        <a:pt x="22" y="88"/>
                      </a:lnTo>
                      <a:lnTo>
                        <a:pt x="22" y="72"/>
                      </a:lnTo>
                      <a:lnTo>
                        <a:pt x="22" y="57"/>
                      </a:lnTo>
                      <a:lnTo>
                        <a:pt x="23" y="44"/>
                      </a:lnTo>
                      <a:lnTo>
                        <a:pt x="25" y="32"/>
                      </a:lnTo>
                      <a:lnTo>
                        <a:pt x="26" y="21"/>
                      </a:lnTo>
                      <a:lnTo>
                        <a:pt x="28" y="14"/>
                      </a:lnTo>
                      <a:lnTo>
                        <a:pt x="29" y="7"/>
                      </a:lnTo>
                      <a:lnTo>
                        <a:pt x="8" y="0"/>
                      </a:lnTo>
                      <a:lnTo>
                        <a:pt x="8" y="4"/>
                      </a:lnTo>
                      <a:lnTo>
                        <a:pt x="6" y="8"/>
                      </a:lnTo>
                      <a:lnTo>
                        <a:pt x="4" y="18"/>
                      </a:lnTo>
                      <a:lnTo>
                        <a:pt x="3" y="29"/>
                      </a:lnTo>
                      <a:lnTo>
                        <a:pt x="1" y="41"/>
                      </a:lnTo>
                      <a:lnTo>
                        <a:pt x="0" y="57"/>
                      </a:lnTo>
                      <a:lnTo>
                        <a:pt x="0" y="72"/>
                      </a:lnTo>
                      <a:lnTo>
                        <a:pt x="0" y="88"/>
                      </a:lnTo>
                      <a:lnTo>
                        <a:pt x="22" y="88"/>
                      </a:lnTo>
                      <a:close/>
                    </a:path>
                  </a:pathLst>
                </a:custGeom>
                <a:solidFill>
                  <a:srgbClr val="000000"/>
                </a:solidFill>
                <a:ln w="9525">
                  <a:noFill/>
                  <a:round/>
                  <a:headEnd/>
                  <a:tailEnd/>
                </a:ln>
              </p:spPr>
              <p:txBody>
                <a:bodyPr/>
                <a:lstStyle/>
                <a:p>
                  <a:endParaRPr lang="en-US"/>
                </a:p>
              </p:txBody>
            </p:sp>
            <p:sp>
              <p:nvSpPr>
                <p:cNvPr id="29760" name="Freeform 21"/>
                <p:cNvSpPr>
                  <a:spLocks/>
                </p:cNvSpPr>
                <p:nvPr/>
              </p:nvSpPr>
              <p:spPr bwMode="auto">
                <a:xfrm>
                  <a:off x="2068" y="3785"/>
                  <a:ext cx="13" cy="43"/>
                </a:xfrm>
                <a:custGeom>
                  <a:avLst/>
                  <a:gdLst>
                    <a:gd name="T0" fmla="*/ 1 w 25"/>
                    <a:gd name="T1" fmla="*/ 1 h 86"/>
                    <a:gd name="T2" fmla="*/ 1 w 25"/>
                    <a:gd name="T3" fmla="*/ 1 h 86"/>
                    <a:gd name="T4" fmla="*/ 1 w 25"/>
                    <a:gd name="T5" fmla="*/ 1 h 86"/>
                    <a:gd name="T6" fmla="*/ 1 w 25"/>
                    <a:gd name="T7" fmla="*/ 1 h 86"/>
                    <a:gd name="T8" fmla="*/ 1 w 25"/>
                    <a:gd name="T9" fmla="*/ 1 h 86"/>
                    <a:gd name="T10" fmla="*/ 1 w 25"/>
                    <a:gd name="T11" fmla="*/ 1 h 86"/>
                    <a:gd name="T12" fmla="*/ 1 w 25"/>
                    <a:gd name="T13" fmla="*/ 1 h 86"/>
                    <a:gd name="T14" fmla="*/ 1 w 25"/>
                    <a:gd name="T15" fmla="*/ 1 h 86"/>
                    <a:gd name="T16" fmla="*/ 1 w 25"/>
                    <a:gd name="T17" fmla="*/ 1 h 86"/>
                    <a:gd name="T18" fmla="*/ 1 w 25"/>
                    <a:gd name="T19" fmla="*/ 0 h 86"/>
                    <a:gd name="T20" fmla="*/ 0 w 25"/>
                    <a:gd name="T21" fmla="*/ 0 h 86"/>
                    <a:gd name="T22" fmla="*/ 0 w 25"/>
                    <a:gd name="T23" fmla="*/ 1 h 86"/>
                    <a:gd name="T24" fmla="*/ 1 w 25"/>
                    <a:gd name="T25" fmla="*/ 1 h 86"/>
                    <a:gd name="T26" fmla="*/ 1 w 25"/>
                    <a:gd name="T27" fmla="*/ 1 h 86"/>
                    <a:gd name="T28" fmla="*/ 1 w 25"/>
                    <a:gd name="T29" fmla="*/ 1 h 86"/>
                    <a:gd name="T30" fmla="*/ 1 w 25"/>
                    <a:gd name="T31" fmla="*/ 1 h 86"/>
                    <a:gd name="T32" fmla="*/ 1 w 25"/>
                    <a:gd name="T33" fmla="*/ 1 h 86"/>
                    <a:gd name="T34" fmla="*/ 1 w 25"/>
                    <a:gd name="T35" fmla="*/ 1 h 86"/>
                    <a:gd name="T36" fmla="*/ 1 w 25"/>
                    <a:gd name="T37" fmla="*/ 1 h 86"/>
                    <a:gd name="T38" fmla="*/ 1 w 25"/>
                    <a:gd name="T39" fmla="*/ 1 h 86"/>
                    <a:gd name="T40" fmla="*/ 1 w 25"/>
                    <a:gd name="T41" fmla="*/ 1 h 86"/>
                    <a:gd name="T42" fmla="*/ 1 w 25"/>
                    <a:gd name="T43" fmla="*/ 1 h 86"/>
                    <a:gd name="T44" fmla="*/ 1 w 25"/>
                    <a:gd name="T45" fmla="*/ 1 h 86"/>
                    <a:gd name="T46" fmla="*/ 1 w 25"/>
                    <a:gd name="T47" fmla="*/ 1 h 86"/>
                    <a:gd name="T48" fmla="*/ 1 w 25"/>
                    <a:gd name="T49" fmla="*/ 1 h 86"/>
                    <a:gd name="T50" fmla="*/ 1 w 25"/>
                    <a:gd name="T51" fmla="*/ 1 h 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5"/>
                    <a:gd name="T79" fmla="*/ 0 h 86"/>
                    <a:gd name="T80" fmla="*/ 25 w 25"/>
                    <a:gd name="T81" fmla="*/ 86 h 8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5" h="86">
                      <a:moveTo>
                        <a:pt x="15" y="86"/>
                      </a:moveTo>
                      <a:lnTo>
                        <a:pt x="25" y="75"/>
                      </a:lnTo>
                      <a:lnTo>
                        <a:pt x="25" y="74"/>
                      </a:lnTo>
                      <a:lnTo>
                        <a:pt x="25" y="69"/>
                      </a:lnTo>
                      <a:lnTo>
                        <a:pt x="25" y="61"/>
                      </a:lnTo>
                      <a:lnTo>
                        <a:pt x="23" y="52"/>
                      </a:lnTo>
                      <a:lnTo>
                        <a:pt x="23" y="42"/>
                      </a:lnTo>
                      <a:lnTo>
                        <a:pt x="23" y="30"/>
                      </a:lnTo>
                      <a:lnTo>
                        <a:pt x="22" y="16"/>
                      </a:lnTo>
                      <a:lnTo>
                        <a:pt x="22" y="0"/>
                      </a:lnTo>
                      <a:lnTo>
                        <a:pt x="0" y="0"/>
                      </a:lnTo>
                      <a:lnTo>
                        <a:pt x="0" y="16"/>
                      </a:lnTo>
                      <a:lnTo>
                        <a:pt x="1" y="30"/>
                      </a:lnTo>
                      <a:lnTo>
                        <a:pt x="1" y="42"/>
                      </a:lnTo>
                      <a:lnTo>
                        <a:pt x="1" y="55"/>
                      </a:lnTo>
                      <a:lnTo>
                        <a:pt x="3" y="64"/>
                      </a:lnTo>
                      <a:lnTo>
                        <a:pt x="3" y="69"/>
                      </a:lnTo>
                      <a:lnTo>
                        <a:pt x="3" y="74"/>
                      </a:lnTo>
                      <a:lnTo>
                        <a:pt x="3" y="75"/>
                      </a:lnTo>
                      <a:lnTo>
                        <a:pt x="12" y="64"/>
                      </a:lnTo>
                      <a:lnTo>
                        <a:pt x="3" y="75"/>
                      </a:lnTo>
                      <a:lnTo>
                        <a:pt x="6" y="83"/>
                      </a:lnTo>
                      <a:lnTo>
                        <a:pt x="14" y="86"/>
                      </a:lnTo>
                      <a:lnTo>
                        <a:pt x="22" y="83"/>
                      </a:lnTo>
                      <a:lnTo>
                        <a:pt x="25" y="75"/>
                      </a:lnTo>
                      <a:lnTo>
                        <a:pt x="15" y="86"/>
                      </a:lnTo>
                      <a:close/>
                    </a:path>
                  </a:pathLst>
                </a:custGeom>
                <a:solidFill>
                  <a:srgbClr val="000000"/>
                </a:solidFill>
                <a:ln w="9525">
                  <a:noFill/>
                  <a:round/>
                  <a:headEnd/>
                  <a:tailEnd/>
                </a:ln>
              </p:spPr>
              <p:txBody>
                <a:bodyPr/>
                <a:lstStyle/>
                <a:p>
                  <a:endParaRPr lang="en-US"/>
                </a:p>
              </p:txBody>
            </p:sp>
            <p:sp>
              <p:nvSpPr>
                <p:cNvPr id="29761" name="Freeform 22"/>
                <p:cNvSpPr>
                  <a:spLocks/>
                </p:cNvSpPr>
                <p:nvPr/>
              </p:nvSpPr>
              <p:spPr bwMode="auto">
                <a:xfrm>
                  <a:off x="2043" y="3817"/>
                  <a:ext cx="33" cy="13"/>
                </a:xfrm>
                <a:custGeom>
                  <a:avLst/>
                  <a:gdLst>
                    <a:gd name="T0" fmla="*/ 0 w 65"/>
                    <a:gd name="T1" fmla="*/ 0 h 27"/>
                    <a:gd name="T2" fmla="*/ 0 w 65"/>
                    <a:gd name="T3" fmla="*/ 0 h 27"/>
                    <a:gd name="T4" fmla="*/ 1 w 65"/>
                    <a:gd name="T5" fmla="*/ 0 h 27"/>
                    <a:gd name="T6" fmla="*/ 1 w 65"/>
                    <a:gd name="T7" fmla="*/ 0 h 27"/>
                    <a:gd name="T8" fmla="*/ 1 w 65"/>
                    <a:gd name="T9" fmla="*/ 0 h 27"/>
                    <a:gd name="T10" fmla="*/ 1 w 65"/>
                    <a:gd name="T11" fmla="*/ 0 h 27"/>
                    <a:gd name="T12" fmla="*/ 1 w 65"/>
                    <a:gd name="T13" fmla="*/ 0 h 27"/>
                    <a:gd name="T14" fmla="*/ 1 w 65"/>
                    <a:gd name="T15" fmla="*/ 0 h 27"/>
                    <a:gd name="T16" fmla="*/ 1 w 65"/>
                    <a:gd name="T17" fmla="*/ 0 h 27"/>
                    <a:gd name="T18" fmla="*/ 1 w 65"/>
                    <a:gd name="T19" fmla="*/ 0 h 27"/>
                    <a:gd name="T20" fmla="*/ 1 w 65"/>
                    <a:gd name="T21" fmla="*/ 0 h 27"/>
                    <a:gd name="T22" fmla="*/ 1 w 65"/>
                    <a:gd name="T23" fmla="*/ 0 h 27"/>
                    <a:gd name="T24" fmla="*/ 1 w 65"/>
                    <a:gd name="T25" fmla="*/ 0 h 27"/>
                    <a:gd name="T26" fmla="*/ 1 w 65"/>
                    <a:gd name="T27" fmla="*/ 0 h 27"/>
                    <a:gd name="T28" fmla="*/ 1 w 65"/>
                    <a:gd name="T29" fmla="*/ 0 h 27"/>
                    <a:gd name="T30" fmla="*/ 1 w 65"/>
                    <a:gd name="T31" fmla="*/ 0 h 27"/>
                    <a:gd name="T32" fmla="*/ 1 w 65"/>
                    <a:gd name="T33" fmla="*/ 0 h 27"/>
                    <a:gd name="T34" fmla="*/ 1 w 65"/>
                    <a:gd name="T35" fmla="*/ 0 h 27"/>
                    <a:gd name="T36" fmla="*/ 1 w 65"/>
                    <a:gd name="T37" fmla="*/ 0 h 27"/>
                    <a:gd name="T38" fmla="*/ 1 w 65"/>
                    <a:gd name="T39" fmla="*/ 0 h 27"/>
                    <a:gd name="T40" fmla="*/ 0 w 65"/>
                    <a:gd name="T41" fmla="*/ 0 h 2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
                    <a:gd name="T64" fmla="*/ 0 h 27"/>
                    <a:gd name="T65" fmla="*/ 65 w 65"/>
                    <a:gd name="T66" fmla="*/ 27 h 2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 h="27">
                      <a:moveTo>
                        <a:pt x="0" y="25"/>
                      </a:moveTo>
                      <a:lnTo>
                        <a:pt x="0" y="25"/>
                      </a:lnTo>
                      <a:lnTo>
                        <a:pt x="9" y="27"/>
                      </a:lnTo>
                      <a:lnTo>
                        <a:pt x="18" y="27"/>
                      </a:lnTo>
                      <a:lnTo>
                        <a:pt x="31" y="27"/>
                      </a:lnTo>
                      <a:lnTo>
                        <a:pt x="40" y="25"/>
                      </a:lnTo>
                      <a:lnTo>
                        <a:pt x="50" y="24"/>
                      </a:lnTo>
                      <a:lnTo>
                        <a:pt x="58" y="24"/>
                      </a:lnTo>
                      <a:lnTo>
                        <a:pt x="64" y="22"/>
                      </a:lnTo>
                      <a:lnTo>
                        <a:pt x="65" y="22"/>
                      </a:lnTo>
                      <a:lnTo>
                        <a:pt x="62" y="0"/>
                      </a:lnTo>
                      <a:lnTo>
                        <a:pt x="61" y="0"/>
                      </a:lnTo>
                      <a:lnTo>
                        <a:pt x="54" y="2"/>
                      </a:lnTo>
                      <a:lnTo>
                        <a:pt x="47" y="2"/>
                      </a:lnTo>
                      <a:lnTo>
                        <a:pt x="37" y="3"/>
                      </a:lnTo>
                      <a:lnTo>
                        <a:pt x="28" y="5"/>
                      </a:lnTo>
                      <a:lnTo>
                        <a:pt x="18" y="5"/>
                      </a:lnTo>
                      <a:lnTo>
                        <a:pt x="12" y="5"/>
                      </a:lnTo>
                      <a:lnTo>
                        <a:pt x="6" y="3"/>
                      </a:lnTo>
                      <a:lnTo>
                        <a:pt x="0" y="25"/>
                      </a:lnTo>
                      <a:close/>
                    </a:path>
                  </a:pathLst>
                </a:custGeom>
                <a:solidFill>
                  <a:srgbClr val="000000"/>
                </a:solidFill>
                <a:ln w="9525">
                  <a:noFill/>
                  <a:round/>
                  <a:headEnd/>
                  <a:tailEnd/>
                </a:ln>
              </p:spPr>
              <p:txBody>
                <a:bodyPr/>
                <a:lstStyle/>
                <a:p>
                  <a:endParaRPr lang="en-US"/>
                </a:p>
              </p:txBody>
            </p:sp>
            <p:sp>
              <p:nvSpPr>
                <p:cNvPr id="29762" name="Freeform 23"/>
                <p:cNvSpPr>
                  <a:spLocks/>
                </p:cNvSpPr>
                <p:nvPr/>
              </p:nvSpPr>
              <p:spPr bwMode="auto">
                <a:xfrm>
                  <a:off x="2031" y="3726"/>
                  <a:ext cx="16" cy="103"/>
                </a:xfrm>
                <a:custGeom>
                  <a:avLst/>
                  <a:gdLst>
                    <a:gd name="T0" fmla="*/ 1 w 32"/>
                    <a:gd name="T1" fmla="*/ 0 h 206"/>
                    <a:gd name="T2" fmla="*/ 0 w 32"/>
                    <a:gd name="T3" fmla="*/ 1 h 206"/>
                    <a:gd name="T4" fmla="*/ 0 w 32"/>
                    <a:gd name="T5" fmla="*/ 1 h 206"/>
                    <a:gd name="T6" fmla="*/ 0 w 32"/>
                    <a:gd name="T7" fmla="*/ 1 h 206"/>
                    <a:gd name="T8" fmla="*/ 1 w 32"/>
                    <a:gd name="T9" fmla="*/ 1 h 206"/>
                    <a:gd name="T10" fmla="*/ 1 w 32"/>
                    <a:gd name="T11" fmla="*/ 1 h 206"/>
                    <a:gd name="T12" fmla="*/ 1 w 32"/>
                    <a:gd name="T13" fmla="*/ 1 h 206"/>
                    <a:gd name="T14" fmla="*/ 1 w 32"/>
                    <a:gd name="T15" fmla="*/ 1 h 206"/>
                    <a:gd name="T16" fmla="*/ 1 w 32"/>
                    <a:gd name="T17" fmla="*/ 1 h 206"/>
                    <a:gd name="T18" fmla="*/ 1 w 32"/>
                    <a:gd name="T19" fmla="*/ 1 h 206"/>
                    <a:gd name="T20" fmla="*/ 1 w 32"/>
                    <a:gd name="T21" fmla="*/ 1 h 206"/>
                    <a:gd name="T22" fmla="*/ 1 w 32"/>
                    <a:gd name="T23" fmla="*/ 1 h 206"/>
                    <a:gd name="T24" fmla="*/ 1 w 32"/>
                    <a:gd name="T25" fmla="*/ 1 h 206"/>
                    <a:gd name="T26" fmla="*/ 1 w 32"/>
                    <a:gd name="T27" fmla="*/ 1 h 206"/>
                    <a:gd name="T28" fmla="*/ 1 w 32"/>
                    <a:gd name="T29" fmla="*/ 1 h 206"/>
                    <a:gd name="T30" fmla="*/ 1 w 32"/>
                    <a:gd name="T31" fmla="*/ 1 h 206"/>
                    <a:gd name="T32" fmla="*/ 1 w 32"/>
                    <a:gd name="T33" fmla="*/ 1 h 206"/>
                    <a:gd name="T34" fmla="*/ 1 w 32"/>
                    <a:gd name="T35" fmla="*/ 1 h 206"/>
                    <a:gd name="T36" fmla="*/ 1 w 32"/>
                    <a:gd name="T37" fmla="*/ 1 h 206"/>
                    <a:gd name="T38" fmla="*/ 1 w 32"/>
                    <a:gd name="T39" fmla="*/ 1 h 206"/>
                    <a:gd name="T40" fmla="*/ 1 w 32"/>
                    <a:gd name="T41" fmla="*/ 1 h 206"/>
                    <a:gd name="T42" fmla="*/ 1 w 32"/>
                    <a:gd name="T43" fmla="*/ 1 h 206"/>
                    <a:gd name="T44" fmla="*/ 1 w 32"/>
                    <a:gd name="T45" fmla="*/ 0 h 206"/>
                    <a:gd name="T46" fmla="*/ 1 w 32"/>
                    <a:gd name="T47" fmla="*/ 1 h 206"/>
                    <a:gd name="T48" fmla="*/ 0 w 32"/>
                    <a:gd name="T49" fmla="*/ 1 h 206"/>
                    <a:gd name="T50" fmla="*/ 1 w 32"/>
                    <a:gd name="T51" fmla="*/ 0 h 20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
                    <a:gd name="T79" fmla="*/ 0 h 206"/>
                    <a:gd name="T80" fmla="*/ 32 w 32"/>
                    <a:gd name="T81" fmla="*/ 206 h 20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 h="206">
                      <a:moveTo>
                        <a:pt x="14" y="0"/>
                      </a:moveTo>
                      <a:lnTo>
                        <a:pt x="0" y="11"/>
                      </a:lnTo>
                      <a:lnTo>
                        <a:pt x="0" y="18"/>
                      </a:lnTo>
                      <a:lnTo>
                        <a:pt x="0" y="39"/>
                      </a:lnTo>
                      <a:lnTo>
                        <a:pt x="1" y="69"/>
                      </a:lnTo>
                      <a:lnTo>
                        <a:pt x="1" y="101"/>
                      </a:lnTo>
                      <a:lnTo>
                        <a:pt x="4" y="136"/>
                      </a:lnTo>
                      <a:lnTo>
                        <a:pt x="7" y="166"/>
                      </a:lnTo>
                      <a:lnTo>
                        <a:pt x="11" y="189"/>
                      </a:lnTo>
                      <a:lnTo>
                        <a:pt x="25" y="206"/>
                      </a:lnTo>
                      <a:lnTo>
                        <a:pt x="31" y="184"/>
                      </a:lnTo>
                      <a:lnTo>
                        <a:pt x="32" y="183"/>
                      </a:lnTo>
                      <a:lnTo>
                        <a:pt x="29" y="162"/>
                      </a:lnTo>
                      <a:lnTo>
                        <a:pt x="26" y="133"/>
                      </a:lnTo>
                      <a:lnTo>
                        <a:pt x="23" y="101"/>
                      </a:lnTo>
                      <a:lnTo>
                        <a:pt x="23" y="69"/>
                      </a:lnTo>
                      <a:lnTo>
                        <a:pt x="21" y="39"/>
                      </a:lnTo>
                      <a:lnTo>
                        <a:pt x="21" y="18"/>
                      </a:lnTo>
                      <a:lnTo>
                        <a:pt x="21" y="11"/>
                      </a:lnTo>
                      <a:lnTo>
                        <a:pt x="7" y="22"/>
                      </a:lnTo>
                      <a:lnTo>
                        <a:pt x="21" y="11"/>
                      </a:lnTo>
                      <a:lnTo>
                        <a:pt x="18" y="3"/>
                      </a:lnTo>
                      <a:lnTo>
                        <a:pt x="11" y="0"/>
                      </a:lnTo>
                      <a:lnTo>
                        <a:pt x="3" y="3"/>
                      </a:lnTo>
                      <a:lnTo>
                        <a:pt x="0" y="11"/>
                      </a:lnTo>
                      <a:lnTo>
                        <a:pt x="14" y="0"/>
                      </a:lnTo>
                      <a:close/>
                    </a:path>
                  </a:pathLst>
                </a:custGeom>
                <a:solidFill>
                  <a:srgbClr val="000000"/>
                </a:solidFill>
                <a:ln w="9525">
                  <a:noFill/>
                  <a:round/>
                  <a:headEnd/>
                  <a:tailEnd/>
                </a:ln>
              </p:spPr>
              <p:txBody>
                <a:bodyPr/>
                <a:lstStyle/>
                <a:p>
                  <a:endParaRPr lang="en-US"/>
                </a:p>
              </p:txBody>
            </p:sp>
            <p:sp>
              <p:nvSpPr>
                <p:cNvPr id="29763" name="Freeform 24"/>
                <p:cNvSpPr>
                  <a:spLocks/>
                </p:cNvSpPr>
                <p:nvPr/>
              </p:nvSpPr>
              <p:spPr bwMode="auto">
                <a:xfrm>
                  <a:off x="2035" y="3726"/>
                  <a:ext cx="48" cy="22"/>
                </a:xfrm>
                <a:custGeom>
                  <a:avLst/>
                  <a:gdLst>
                    <a:gd name="T0" fmla="*/ 0 w 97"/>
                    <a:gd name="T1" fmla="*/ 1 h 43"/>
                    <a:gd name="T2" fmla="*/ 0 w 97"/>
                    <a:gd name="T3" fmla="*/ 1 h 43"/>
                    <a:gd name="T4" fmla="*/ 0 w 97"/>
                    <a:gd name="T5" fmla="*/ 0 h 43"/>
                    <a:gd name="T6" fmla="*/ 0 w 97"/>
                    <a:gd name="T7" fmla="*/ 1 h 43"/>
                    <a:gd name="T8" fmla="*/ 0 w 97"/>
                    <a:gd name="T9" fmla="*/ 1 h 43"/>
                    <a:gd name="T10" fmla="*/ 0 w 97"/>
                    <a:gd name="T11" fmla="*/ 1 h 43"/>
                    <a:gd name="T12" fmla="*/ 0 w 97"/>
                    <a:gd name="T13" fmla="*/ 1 h 43"/>
                    <a:gd name="T14" fmla="*/ 0 w 97"/>
                    <a:gd name="T15" fmla="*/ 1 h 43"/>
                    <a:gd name="T16" fmla="*/ 0 w 97"/>
                    <a:gd name="T17" fmla="*/ 1 h 43"/>
                    <a:gd name="T18" fmla="*/ 0 w 97"/>
                    <a:gd name="T19" fmla="*/ 1 h 43"/>
                    <a:gd name="T20" fmla="*/ 0 w 97"/>
                    <a:gd name="T21" fmla="*/ 1 h 43"/>
                    <a:gd name="T22" fmla="*/ 0 w 97"/>
                    <a:gd name="T23" fmla="*/ 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7"/>
                    <a:gd name="T37" fmla="*/ 0 h 43"/>
                    <a:gd name="T38" fmla="*/ 97 w 97"/>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7" h="43">
                      <a:moveTo>
                        <a:pt x="97" y="36"/>
                      </a:moveTo>
                      <a:lnTo>
                        <a:pt x="90" y="22"/>
                      </a:lnTo>
                      <a:lnTo>
                        <a:pt x="7" y="0"/>
                      </a:lnTo>
                      <a:lnTo>
                        <a:pt x="0" y="22"/>
                      </a:lnTo>
                      <a:lnTo>
                        <a:pt x="83" y="43"/>
                      </a:lnTo>
                      <a:lnTo>
                        <a:pt x="76" y="29"/>
                      </a:lnTo>
                      <a:lnTo>
                        <a:pt x="83" y="43"/>
                      </a:lnTo>
                      <a:lnTo>
                        <a:pt x="93" y="42"/>
                      </a:lnTo>
                      <a:lnTo>
                        <a:pt x="97" y="34"/>
                      </a:lnTo>
                      <a:lnTo>
                        <a:pt x="96" y="26"/>
                      </a:lnTo>
                      <a:lnTo>
                        <a:pt x="90" y="22"/>
                      </a:lnTo>
                      <a:lnTo>
                        <a:pt x="97" y="36"/>
                      </a:lnTo>
                      <a:close/>
                    </a:path>
                  </a:pathLst>
                </a:custGeom>
                <a:solidFill>
                  <a:srgbClr val="000000"/>
                </a:solidFill>
                <a:ln w="9525">
                  <a:noFill/>
                  <a:round/>
                  <a:headEnd/>
                  <a:tailEnd/>
                </a:ln>
              </p:spPr>
              <p:txBody>
                <a:bodyPr/>
                <a:lstStyle/>
                <a:p>
                  <a:endParaRPr lang="en-US"/>
                </a:p>
              </p:txBody>
            </p:sp>
            <p:sp>
              <p:nvSpPr>
                <p:cNvPr id="29764" name="Freeform 25"/>
                <p:cNvSpPr>
                  <a:spLocks/>
                </p:cNvSpPr>
                <p:nvPr/>
              </p:nvSpPr>
              <p:spPr bwMode="auto">
                <a:xfrm>
                  <a:off x="2099" y="3720"/>
                  <a:ext cx="156" cy="50"/>
                </a:xfrm>
                <a:custGeom>
                  <a:avLst/>
                  <a:gdLst>
                    <a:gd name="T0" fmla="*/ 0 w 311"/>
                    <a:gd name="T1" fmla="*/ 1 h 98"/>
                    <a:gd name="T2" fmla="*/ 0 w 311"/>
                    <a:gd name="T3" fmla="*/ 1 h 98"/>
                    <a:gd name="T4" fmla="*/ 1 w 311"/>
                    <a:gd name="T5" fmla="*/ 1 h 98"/>
                    <a:gd name="T6" fmla="*/ 1 w 311"/>
                    <a:gd name="T7" fmla="*/ 1 h 98"/>
                    <a:gd name="T8" fmla="*/ 1 w 311"/>
                    <a:gd name="T9" fmla="*/ 1 h 98"/>
                    <a:gd name="T10" fmla="*/ 1 w 311"/>
                    <a:gd name="T11" fmla="*/ 1 h 98"/>
                    <a:gd name="T12" fmla="*/ 1 w 311"/>
                    <a:gd name="T13" fmla="*/ 1 h 98"/>
                    <a:gd name="T14" fmla="*/ 1 w 311"/>
                    <a:gd name="T15" fmla="*/ 1 h 98"/>
                    <a:gd name="T16" fmla="*/ 1 w 311"/>
                    <a:gd name="T17" fmla="*/ 1 h 98"/>
                    <a:gd name="T18" fmla="*/ 1 w 311"/>
                    <a:gd name="T19" fmla="*/ 1 h 98"/>
                    <a:gd name="T20" fmla="*/ 1 w 311"/>
                    <a:gd name="T21" fmla="*/ 1 h 98"/>
                    <a:gd name="T22" fmla="*/ 1 w 311"/>
                    <a:gd name="T23" fmla="*/ 1 h 98"/>
                    <a:gd name="T24" fmla="*/ 1 w 311"/>
                    <a:gd name="T25" fmla="*/ 1 h 98"/>
                    <a:gd name="T26" fmla="*/ 1 w 311"/>
                    <a:gd name="T27" fmla="*/ 1 h 98"/>
                    <a:gd name="T28" fmla="*/ 1 w 311"/>
                    <a:gd name="T29" fmla="*/ 1 h 98"/>
                    <a:gd name="T30" fmla="*/ 1 w 311"/>
                    <a:gd name="T31" fmla="*/ 1 h 98"/>
                    <a:gd name="T32" fmla="*/ 1 w 311"/>
                    <a:gd name="T33" fmla="*/ 1 h 98"/>
                    <a:gd name="T34" fmla="*/ 1 w 311"/>
                    <a:gd name="T35" fmla="*/ 1 h 98"/>
                    <a:gd name="T36" fmla="*/ 1 w 311"/>
                    <a:gd name="T37" fmla="*/ 1 h 98"/>
                    <a:gd name="T38" fmla="*/ 1 w 311"/>
                    <a:gd name="T39" fmla="*/ 1 h 98"/>
                    <a:gd name="T40" fmla="*/ 1 w 311"/>
                    <a:gd name="T41" fmla="*/ 1 h 98"/>
                    <a:gd name="T42" fmla="*/ 1 w 311"/>
                    <a:gd name="T43" fmla="*/ 0 h 98"/>
                    <a:gd name="T44" fmla="*/ 0 w 311"/>
                    <a:gd name="T45" fmla="*/ 1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1"/>
                    <a:gd name="T70" fmla="*/ 0 h 98"/>
                    <a:gd name="T71" fmla="*/ 311 w 311"/>
                    <a:gd name="T72" fmla="*/ 98 h 9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1" h="98">
                      <a:moveTo>
                        <a:pt x="0" y="53"/>
                      </a:moveTo>
                      <a:lnTo>
                        <a:pt x="0" y="65"/>
                      </a:lnTo>
                      <a:lnTo>
                        <a:pt x="3" y="67"/>
                      </a:lnTo>
                      <a:lnTo>
                        <a:pt x="9" y="70"/>
                      </a:lnTo>
                      <a:lnTo>
                        <a:pt x="22" y="76"/>
                      </a:lnTo>
                      <a:lnTo>
                        <a:pt x="39" y="83"/>
                      </a:lnTo>
                      <a:lnTo>
                        <a:pt x="61" y="89"/>
                      </a:lnTo>
                      <a:lnTo>
                        <a:pt x="87" y="94"/>
                      </a:lnTo>
                      <a:lnTo>
                        <a:pt x="119" y="97"/>
                      </a:lnTo>
                      <a:lnTo>
                        <a:pt x="153" y="98"/>
                      </a:lnTo>
                      <a:lnTo>
                        <a:pt x="188" y="95"/>
                      </a:lnTo>
                      <a:lnTo>
                        <a:pt x="219" y="89"/>
                      </a:lnTo>
                      <a:lnTo>
                        <a:pt x="246" y="80"/>
                      </a:lnTo>
                      <a:lnTo>
                        <a:pt x="268" y="67"/>
                      </a:lnTo>
                      <a:lnTo>
                        <a:pt x="285" y="54"/>
                      </a:lnTo>
                      <a:lnTo>
                        <a:pt x="297" y="42"/>
                      </a:lnTo>
                      <a:lnTo>
                        <a:pt x="305" y="33"/>
                      </a:lnTo>
                      <a:lnTo>
                        <a:pt x="310" y="25"/>
                      </a:lnTo>
                      <a:lnTo>
                        <a:pt x="311" y="15"/>
                      </a:lnTo>
                      <a:lnTo>
                        <a:pt x="308" y="8"/>
                      </a:lnTo>
                      <a:lnTo>
                        <a:pt x="304" y="1"/>
                      </a:lnTo>
                      <a:lnTo>
                        <a:pt x="300" y="0"/>
                      </a:lnTo>
                      <a:lnTo>
                        <a:pt x="0" y="53"/>
                      </a:lnTo>
                      <a:close/>
                    </a:path>
                  </a:pathLst>
                </a:custGeom>
                <a:solidFill>
                  <a:srgbClr val="FF7226"/>
                </a:solidFill>
                <a:ln w="9525">
                  <a:noFill/>
                  <a:round/>
                  <a:headEnd/>
                  <a:tailEnd/>
                </a:ln>
              </p:spPr>
              <p:txBody>
                <a:bodyPr/>
                <a:lstStyle/>
                <a:p>
                  <a:endParaRPr lang="en-US"/>
                </a:p>
              </p:txBody>
            </p:sp>
            <p:sp>
              <p:nvSpPr>
                <p:cNvPr id="29765" name="Freeform 26"/>
                <p:cNvSpPr>
                  <a:spLocks/>
                </p:cNvSpPr>
                <p:nvPr/>
              </p:nvSpPr>
              <p:spPr bwMode="auto">
                <a:xfrm>
                  <a:off x="2093" y="3747"/>
                  <a:ext cx="11" cy="12"/>
                </a:xfrm>
                <a:custGeom>
                  <a:avLst/>
                  <a:gdLst>
                    <a:gd name="T0" fmla="*/ 1 w 22"/>
                    <a:gd name="T1" fmla="*/ 1 h 23"/>
                    <a:gd name="T2" fmla="*/ 1 w 22"/>
                    <a:gd name="T3" fmla="*/ 1 h 23"/>
                    <a:gd name="T4" fmla="*/ 1 w 22"/>
                    <a:gd name="T5" fmla="*/ 0 h 23"/>
                    <a:gd name="T6" fmla="*/ 0 w 22"/>
                    <a:gd name="T7" fmla="*/ 0 h 23"/>
                    <a:gd name="T8" fmla="*/ 0 w 22"/>
                    <a:gd name="T9" fmla="*/ 1 h 23"/>
                    <a:gd name="T10" fmla="*/ 1 w 22"/>
                    <a:gd name="T11" fmla="*/ 1 h 23"/>
                    <a:gd name="T12" fmla="*/ 0 w 22"/>
                    <a:gd name="T13" fmla="*/ 1 h 23"/>
                    <a:gd name="T14" fmla="*/ 1 w 22"/>
                    <a:gd name="T15" fmla="*/ 1 h 23"/>
                    <a:gd name="T16" fmla="*/ 1 w 22"/>
                    <a:gd name="T17" fmla="*/ 1 h 23"/>
                    <a:gd name="T18" fmla="*/ 1 w 22"/>
                    <a:gd name="T19" fmla="*/ 1 h 23"/>
                    <a:gd name="T20" fmla="*/ 1 w 22"/>
                    <a:gd name="T21" fmla="*/ 1 h 23"/>
                    <a:gd name="T22" fmla="*/ 1 w 22"/>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3"/>
                    <a:gd name="T38" fmla="*/ 22 w 22"/>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3">
                      <a:moveTo>
                        <a:pt x="17" y="3"/>
                      </a:moveTo>
                      <a:lnTo>
                        <a:pt x="22" y="12"/>
                      </a:lnTo>
                      <a:lnTo>
                        <a:pt x="22" y="0"/>
                      </a:lnTo>
                      <a:lnTo>
                        <a:pt x="0" y="0"/>
                      </a:lnTo>
                      <a:lnTo>
                        <a:pt x="0" y="12"/>
                      </a:lnTo>
                      <a:lnTo>
                        <a:pt x="5" y="22"/>
                      </a:lnTo>
                      <a:lnTo>
                        <a:pt x="0" y="12"/>
                      </a:lnTo>
                      <a:lnTo>
                        <a:pt x="3" y="20"/>
                      </a:lnTo>
                      <a:lnTo>
                        <a:pt x="11" y="23"/>
                      </a:lnTo>
                      <a:lnTo>
                        <a:pt x="19" y="20"/>
                      </a:lnTo>
                      <a:lnTo>
                        <a:pt x="22" y="12"/>
                      </a:lnTo>
                      <a:lnTo>
                        <a:pt x="17" y="3"/>
                      </a:lnTo>
                      <a:close/>
                    </a:path>
                  </a:pathLst>
                </a:custGeom>
                <a:solidFill>
                  <a:srgbClr val="000000"/>
                </a:solidFill>
                <a:ln w="9525">
                  <a:noFill/>
                  <a:round/>
                  <a:headEnd/>
                  <a:tailEnd/>
                </a:ln>
              </p:spPr>
              <p:txBody>
                <a:bodyPr/>
                <a:lstStyle/>
                <a:p>
                  <a:endParaRPr lang="en-US"/>
                </a:p>
              </p:txBody>
            </p:sp>
            <p:sp>
              <p:nvSpPr>
                <p:cNvPr id="29766" name="Freeform 27"/>
                <p:cNvSpPr>
                  <a:spLocks/>
                </p:cNvSpPr>
                <p:nvPr/>
              </p:nvSpPr>
              <p:spPr bwMode="auto">
                <a:xfrm>
                  <a:off x="2096" y="3749"/>
                  <a:ext cx="80" cy="26"/>
                </a:xfrm>
                <a:custGeom>
                  <a:avLst/>
                  <a:gdLst>
                    <a:gd name="T0" fmla="*/ 1 w 159"/>
                    <a:gd name="T1" fmla="*/ 0 h 53"/>
                    <a:gd name="T2" fmla="*/ 1 w 159"/>
                    <a:gd name="T3" fmla="*/ 0 h 53"/>
                    <a:gd name="T4" fmla="*/ 1 w 159"/>
                    <a:gd name="T5" fmla="*/ 0 h 53"/>
                    <a:gd name="T6" fmla="*/ 1 w 159"/>
                    <a:gd name="T7" fmla="*/ 0 h 53"/>
                    <a:gd name="T8" fmla="*/ 1 w 159"/>
                    <a:gd name="T9" fmla="*/ 0 h 53"/>
                    <a:gd name="T10" fmla="*/ 1 w 159"/>
                    <a:gd name="T11" fmla="*/ 0 h 53"/>
                    <a:gd name="T12" fmla="*/ 1 w 159"/>
                    <a:gd name="T13" fmla="*/ 0 h 53"/>
                    <a:gd name="T14" fmla="*/ 1 w 159"/>
                    <a:gd name="T15" fmla="*/ 0 h 53"/>
                    <a:gd name="T16" fmla="*/ 1 w 159"/>
                    <a:gd name="T17" fmla="*/ 0 h 53"/>
                    <a:gd name="T18" fmla="*/ 1 w 159"/>
                    <a:gd name="T19" fmla="*/ 0 h 53"/>
                    <a:gd name="T20" fmla="*/ 0 w 159"/>
                    <a:gd name="T21" fmla="*/ 0 h 53"/>
                    <a:gd name="T22" fmla="*/ 1 w 159"/>
                    <a:gd name="T23" fmla="*/ 0 h 53"/>
                    <a:gd name="T24" fmla="*/ 1 w 159"/>
                    <a:gd name="T25" fmla="*/ 0 h 53"/>
                    <a:gd name="T26" fmla="*/ 1 w 159"/>
                    <a:gd name="T27" fmla="*/ 0 h 53"/>
                    <a:gd name="T28" fmla="*/ 1 w 159"/>
                    <a:gd name="T29" fmla="*/ 0 h 53"/>
                    <a:gd name="T30" fmla="*/ 1 w 159"/>
                    <a:gd name="T31" fmla="*/ 0 h 53"/>
                    <a:gd name="T32" fmla="*/ 1 w 159"/>
                    <a:gd name="T33" fmla="*/ 0 h 53"/>
                    <a:gd name="T34" fmla="*/ 1 w 159"/>
                    <a:gd name="T35" fmla="*/ 0 h 53"/>
                    <a:gd name="T36" fmla="*/ 1 w 159"/>
                    <a:gd name="T37" fmla="*/ 0 h 53"/>
                    <a:gd name="T38" fmla="*/ 1 w 159"/>
                    <a:gd name="T39" fmla="*/ 0 h 53"/>
                    <a:gd name="T40" fmla="*/ 1 w 159"/>
                    <a:gd name="T41" fmla="*/ 0 h 5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
                    <a:gd name="T64" fmla="*/ 0 h 53"/>
                    <a:gd name="T65" fmla="*/ 159 w 159"/>
                    <a:gd name="T66" fmla="*/ 53 h 5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 h="53">
                      <a:moveTo>
                        <a:pt x="159" y="31"/>
                      </a:moveTo>
                      <a:lnTo>
                        <a:pt x="159" y="31"/>
                      </a:lnTo>
                      <a:lnTo>
                        <a:pt x="125" y="30"/>
                      </a:lnTo>
                      <a:lnTo>
                        <a:pt x="95" y="27"/>
                      </a:lnTo>
                      <a:lnTo>
                        <a:pt x="70" y="22"/>
                      </a:lnTo>
                      <a:lnTo>
                        <a:pt x="48" y="16"/>
                      </a:lnTo>
                      <a:lnTo>
                        <a:pt x="32" y="11"/>
                      </a:lnTo>
                      <a:lnTo>
                        <a:pt x="20" y="5"/>
                      </a:lnTo>
                      <a:lnTo>
                        <a:pt x="14" y="2"/>
                      </a:lnTo>
                      <a:lnTo>
                        <a:pt x="12" y="0"/>
                      </a:lnTo>
                      <a:lnTo>
                        <a:pt x="0" y="19"/>
                      </a:lnTo>
                      <a:lnTo>
                        <a:pt x="4" y="20"/>
                      </a:lnTo>
                      <a:lnTo>
                        <a:pt x="10" y="24"/>
                      </a:lnTo>
                      <a:lnTo>
                        <a:pt x="23" y="30"/>
                      </a:lnTo>
                      <a:lnTo>
                        <a:pt x="42" y="38"/>
                      </a:lnTo>
                      <a:lnTo>
                        <a:pt x="64" y="44"/>
                      </a:lnTo>
                      <a:lnTo>
                        <a:pt x="92" y="49"/>
                      </a:lnTo>
                      <a:lnTo>
                        <a:pt x="125" y="52"/>
                      </a:lnTo>
                      <a:lnTo>
                        <a:pt x="159" y="53"/>
                      </a:lnTo>
                      <a:lnTo>
                        <a:pt x="159" y="31"/>
                      </a:lnTo>
                      <a:close/>
                    </a:path>
                  </a:pathLst>
                </a:custGeom>
                <a:solidFill>
                  <a:srgbClr val="000000"/>
                </a:solidFill>
                <a:ln w="9525">
                  <a:noFill/>
                  <a:round/>
                  <a:headEnd/>
                  <a:tailEnd/>
                </a:ln>
              </p:spPr>
              <p:txBody>
                <a:bodyPr/>
                <a:lstStyle/>
                <a:p>
                  <a:endParaRPr lang="en-US"/>
                </a:p>
              </p:txBody>
            </p:sp>
            <p:sp>
              <p:nvSpPr>
                <p:cNvPr id="29767" name="Freeform 28"/>
                <p:cNvSpPr>
                  <a:spLocks/>
                </p:cNvSpPr>
                <p:nvPr/>
              </p:nvSpPr>
              <p:spPr bwMode="auto">
                <a:xfrm>
                  <a:off x="2176" y="3731"/>
                  <a:ext cx="83" cy="44"/>
                </a:xfrm>
                <a:custGeom>
                  <a:avLst/>
                  <a:gdLst>
                    <a:gd name="T0" fmla="*/ 0 w 168"/>
                    <a:gd name="T1" fmla="*/ 0 h 89"/>
                    <a:gd name="T2" fmla="*/ 0 w 168"/>
                    <a:gd name="T3" fmla="*/ 0 h 89"/>
                    <a:gd name="T4" fmla="*/ 0 w 168"/>
                    <a:gd name="T5" fmla="*/ 0 h 89"/>
                    <a:gd name="T6" fmla="*/ 0 w 168"/>
                    <a:gd name="T7" fmla="*/ 0 h 89"/>
                    <a:gd name="T8" fmla="*/ 0 w 168"/>
                    <a:gd name="T9" fmla="*/ 0 h 89"/>
                    <a:gd name="T10" fmla="*/ 0 w 168"/>
                    <a:gd name="T11" fmla="*/ 0 h 89"/>
                    <a:gd name="T12" fmla="*/ 0 w 168"/>
                    <a:gd name="T13" fmla="*/ 0 h 89"/>
                    <a:gd name="T14" fmla="*/ 0 w 168"/>
                    <a:gd name="T15" fmla="*/ 0 h 89"/>
                    <a:gd name="T16" fmla="*/ 0 w 168"/>
                    <a:gd name="T17" fmla="*/ 0 h 89"/>
                    <a:gd name="T18" fmla="*/ 0 w 168"/>
                    <a:gd name="T19" fmla="*/ 0 h 89"/>
                    <a:gd name="T20" fmla="*/ 0 w 168"/>
                    <a:gd name="T21" fmla="*/ 0 h 89"/>
                    <a:gd name="T22" fmla="*/ 0 w 168"/>
                    <a:gd name="T23" fmla="*/ 0 h 89"/>
                    <a:gd name="T24" fmla="*/ 0 w 168"/>
                    <a:gd name="T25" fmla="*/ 0 h 89"/>
                    <a:gd name="T26" fmla="*/ 0 w 168"/>
                    <a:gd name="T27" fmla="*/ 0 h 89"/>
                    <a:gd name="T28" fmla="*/ 0 w 168"/>
                    <a:gd name="T29" fmla="*/ 0 h 89"/>
                    <a:gd name="T30" fmla="*/ 0 w 168"/>
                    <a:gd name="T31" fmla="*/ 0 h 89"/>
                    <a:gd name="T32" fmla="*/ 0 w 168"/>
                    <a:gd name="T33" fmla="*/ 0 h 89"/>
                    <a:gd name="T34" fmla="*/ 0 w 168"/>
                    <a:gd name="T35" fmla="*/ 0 h 89"/>
                    <a:gd name="T36" fmla="*/ 0 w 168"/>
                    <a:gd name="T37" fmla="*/ 0 h 89"/>
                    <a:gd name="T38" fmla="*/ 0 w 168"/>
                    <a:gd name="T39" fmla="*/ 0 h 89"/>
                    <a:gd name="T40" fmla="*/ 0 w 168"/>
                    <a:gd name="T41" fmla="*/ 0 h 8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8"/>
                    <a:gd name="T64" fmla="*/ 0 h 89"/>
                    <a:gd name="T65" fmla="*/ 168 w 168"/>
                    <a:gd name="T66" fmla="*/ 89 h 8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8" h="89">
                      <a:moveTo>
                        <a:pt x="147" y="0"/>
                      </a:moveTo>
                      <a:lnTo>
                        <a:pt x="146" y="2"/>
                      </a:lnTo>
                      <a:lnTo>
                        <a:pt x="143" y="6"/>
                      </a:lnTo>
                      <a:lnTo>
                        <a:pt x="136" y="14"/>
                      </a:lnTo>
                      <a:lnTo>
                        <a:pt x="124" y="27"/>
                      </a:lnTo>
                      <a:lnTo>
                        <a:pt x="108" y="38"/>
                      </a:lnTo>
                      <a:lnTo>
                        <a:pt x="88" y="50"/>
                      </a:lnTo>
                      <a:lnTo>
                        <a:pt x="63" y="58"/>
                      </a:lnTo>
                      <a:lnTo>
                        <a:pt x="33" y="64"/>
                      </a:lnTo>
                      <a:lnTo>
                        <a:pt x="0" y="67"/>
                      </a:lnTo>
                      <a:lnTo>
                        <a:pt x="0" y="89"/>
                      </a:lnTo>
                      <a:lnTo>
                        <a:pt x="36" y="86"/>
                      </a:lnTo>
                      <a:lnTo>
                        <a:pt x="69" y="80"/>
                      </a:lnTo>
                      <a:lnTo>
                        <a:pt x="97" y="69"/>
                      </a:lnTo>
                      <a:lnTo>
                        <a:pt x="121" y="56"/>
                      </a:lnTo>
                      <a:lnTo>
                        <a:pt x="140" y="42"/>
                      </a:lnTo>
                      <a:lnTo>
                        <a:pt x="152" y="30"/>
                      </a:lnTo>
                      <a:lnTo>
                        <a:pt x="161" y="19"/>
                      </a:lnTo>
                      <a:lnTo>
                        <a:pt x="168" y="8"/>
                      </a:lnTo>
                      <a:lnTo>
                        <a:pt x="166" y="9"/>
                      </a:lnTo>
                      <a:lnTo>
                        <a:pt x="147" y="0"/>
                      </a:lnTo>
                      <a:close/>
                    </a:path>
                  </a:pathLst>
                </a:custGeom>
                <a:solidFill>
                  <a:srgbClr val="000000"/>
                </a:solidFill>
                <a:ln w="9525">
                  <a:noFill/>
                  <a:round/>
                  <a:headEnd/>
                  <a:tailEnd/>
                </a:ln>
              </p:spPr>
              <p:txBody>
                <a:bodyPr/>
                <a:lstStyle/>
                <a:p>
                  <a:endParaRPr lang="en-US"/>
                </a:p>
              </p:txBody>
            </p:sp>
            <p:sp>
              <p:nvSpPr>
                <p:cNvPr id="29768" name="Freeform 29"/>
                <p:cNvSpPr>
                  <a:spLocks/>
                </p:cNvSpPr>
                <p:nvPr/>
              </p:nvSpPr>
              <p:spPr bwMode="auto">
                <a:xfrm>
                  <a:off x="2244" y="3715"/>
                  <a:ext cx="16" cy="20"/>
                </a:xfrm>
                <a:custGeom>
                  <a:avLst/>
                  <a:gdLst>
                    <a:gd name="T0" fmla="*/ 0 w 33"/>
                    <a:gd name="T1" fmla="*/ 1 h 40"/>
                    <a:gd name="T2" fmla="*/ 0 w 33"/>
                    <a:gd name="T3" fmla="*/ 1 h 40"/>
                    <a:gd name="T4" fmla="*/ 0 w 33"/>
                    <a:gd name="T5" fmla="*/ 1 h 40"/>
                    <a:gd name="T6" fmla="*/ 0 w 33"/>
                    <a:gd name="T7" fmla="*/ 1 h 40"/>
                    <a:gd name="T8" fmla="*/ 0 w 33"/>
                    <a:gd name="T9" fmla="*/ 1 h 40"/>
                    <a:gd name="T10" fmla="*/ 0 w 33"/>
                    <a:gd name="T11" fmla="*/ 1 h 40"/>
                    <a:gd name="T12" fmla="*/ 0 w 33"/>
                    <a:gd name="T13" fmla="*/ 1 h 40"/>
                    <a:gd name="T14" fmla="*/ 0 w 33"/>
                    <a:gd name="T15" fmla="*/ 1 h 40"/>
                    <a:gd name="T16" fmla="*/ 0 w 33"/>
                    <a:gd name="T17" fmla="*/ 1 h 40"/>
                    <a:gd name="T18" fmla="*/ 0 w 33"/>
                    <a:gd name="T19" fmla="*/ 1 h 40"/>
                    <a:gd name="T20" fmla="*/ 0 w 33"/>
                    <a:gd name="T21" fmla="*/ 1 h 40"/>
                    <a:gd name="T22" fmla="*/ 0 w 33"/>
                    <a:gd name="T23" fmla="*/ 0 h 40"/>
                    <a:gd name="T24" fmla="*/ 0 w 33"/>
                    <a:gd name="T25" fmla="*/ 1 h 40"/>
                    <a:gd name="T26" fmla="*/ 0 w 33"/>
                    <a:gd name="T27" fmla="*/ 0 h 40"/>
                    <a:gd name="T28" fmla="*/ 0 w 33"/>
                    <a:gd name="T29" fmla="*/ 1 h 40"/>
                    <a:gd name="T30" fmla="*/ 0 w 33"/>
                    <a:gd name="T31" fmla="*/ 1 h 40"/>
                    <a:gd name="T32" fmla="*/ 0 w 33"/>
                    <a:gd name="T33" fmla="*/ 1 h 40"/>
                    <a:gd name="T34" fmla="*/ 0 w 33"/>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
                    <a:gd name="T55" fmla="*/ 0 h 40"/>
                    <a:gd name="T56" fmla="*/ 33 w 33"/>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 h="40">
                      <a:moveTo>
                        <a:pt x="13" y="22"/>
                      </a:moveTo>
                      <a:lnTo>
                        <a:pt x="5" y="20"/>
                      </a:lnTo>
                      <a:lnTo>
                        <a:pt x="7" y="20"/>
                      </a:lnTo>
                      <a:lnTo>
                        <a:pt x="10" y="23"/>
                      </a:lnTo>
                      <a:lnTo>
                        <a:pt x="11" y="28"/>
                      </a:lnTo>
                      <a:lnTo>
                        <a:pt x="11" y="31"/>
                      </a:lnTo>
                      <a:lnTo>
                        <a:pt x="30" y="40"/>
                      </a:lnTo>
                      <a:lnTo>
                        <a:pt x="33" y="25"/>
                      </a:lnTo>
                      <a:lnTo>
                        <a:pt x="29" y="14"/>
                      </a:lnTo>
                      <a:lnTo>
                        <a:pt x="22" y="4"/>
                      </a:lnTo>
                      <a:lnTo>
                        <a:pt x="18" y="1"/>
                      </a:lnTo>
                      <a:lnTo>
                        <a:pt x="10" y="0"/>
                      </a:lnTo>
                      <a:lnTo>
                        <a:pt x="18" y="1"/>
                      </a:lnTo>
                      <a:lnTo>
                        <a:pt x="8" y="0"/>
                      </a:lnTo>
                      <a:lnTo>
                        <a:pt x="2" y="4"/>
                      </a:lnTo>
                      <a:lnTo>
                        <a:pt x="0" y="12"/>
                      </a:lnTo>
                      <a:lnTo>
                        <a:pt x="5" y="20"/>
                      </a:lnTo>
                      <a:lnTo>
                        <a:pt x="13" y="22"/>
                      </a:lnTo>
                      <a:close/>
                    </a:path>
                  </a:pathLst>
                </a:custGeom>
                <a:solidFill>
                  <a:srgbClr val="000000"/>
                </a:solidFill>
                <a:ln w="9525">
                  <a:noFill/>
                  <a:round/>
                  <a:headEnd/>
                  <a:tailEnd/>
                </a:ln>
              </p:spPr>
              <p:txBody>
                <a:bodyPr/>
                <a:lstStyle/>
                <a:p>
                  <a:endParaRPr lang="en-US"/>
                </a:p>
              </p:txBody>
            </p:sp>
            <p:sp>
              <p:nvSpPr>
                <p:cNvPr id="29769" name="Freeform 30"/>
                <p:cNvSpPr>
                  <a:spLocks/>
                </p:cNvSpPr>
                <p:nvPr/>
              </p:nvSpPr>
              <p:spPr bwMode="auto">
                <a:xfrm>
                  <a:off x="2093" y="3715"/>
                  <a:ext cx="157" cy="37"/>
                </a:xfrm>
                <a:custGeom>
                  <a:avLst/>
                  <a:gdLst>
                    <a:gd name="T0" fmla="*/ 1 w 313"/>
                    <a:gd name="T1" fmla="*/ 0 h 75"/>
                    <a:gd name="T2" fmla="*/ 1 w 313"/>
                    <a:gd name="T3" fmla="*/ 0 h 75"/>
                    <a:gd name="T4" fmla="*/ 1 w 313"/>
                    <a:gd name="T5" fmla="*/ 0 h 75"/>
                    <a:gd name="T6" fmla="*/ 1 w 313"/>
                    <a:gd name="T7" fmla="*/ 0 h 75"/>
                    <a:gd name="T8" fmla="*/ 1 w 313"/>
                    <a:gd name="T9" fmla="*/ 0 h 75"/>
                    <a:gd name="T10" fmla="*/ 0 w 313"/>
                    <a:gd name="T11" fmla="*/ 0 h 75"/>
                    <a:gd name="T12" fmla="*/ 1 w 313"/>
                    <a:gd name="T13" fmla="*/ 0 h 75"/>
                    <a:gd name="T14" fmla="*/ 1 w 313"/>
                    <a:gd name="T15" fmla="*/ 0 h 75"/>
                    <a:gd name="T16" fmla="*/ 0 w 313"/>
                    <a:gd name="T17" fmla="*/ 0 h 75"/>
                    <a:gd name="T18" fmla="*/ 1 w 313"/>
                    <a:gd name="T19" fmla="*/ 0 h 75"/>
                    <a:gd name="T20" fmla="*/ 1 w 313"/>
                    <a:gd name="T21" fmla="*/ 0 h 75"/>
                    <a:gd name="T22" fmla="*/ 1 w 313"/>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3"/>
                    <a:gd name="T37" fmla="*/ 0 h 75"/>
                    <a:gd name="T38" fmla="*/ 313 w 313"/>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3" h="75">
                      <a:moveTo>
                        <a:pt x="22" y="64"/>
                      </a:moveTo>
                      <a:lnTo>
                        <a:pt x="12" y="75"/>
                      </a:lnTo>
                      <a:lnTo>
                        <a:pt x="313" y="22"/>
                      </a:lnTo>
                      <a:lnTo>
                        <a:pt x="310" y="0"/>
                      </a:lnTo>
                      <a:lnTo>
                        <a:pt x="9" y="53"/>
                      </a:lnTo>
                      <a:lnTo>
                        <a:pt x="0" y="64"/>
                      </a:lnTo>
                      <a:lnTo>
                        <a:pt x="9" y="53"/>
                      </a:lnTo>
                      <a:lnTo>
                        <a:pt x="1" y="58"/>
                      </a:lnTo>
                      <a:lnTo>
                        <a:pt x="0" y="65"/>
                      </a:lnTo>
                      <a:lnTo>
                        <a:pt x="5" y="72"/>
                      </a:lnTo>
                      <a:lnTo>
                        <a:pt x="12" y="75"/>
                      </a:lnTo>
                      <a:lnTo>
                        <a:pt x="22" y="64"/>
                      </a:lnTo>
                      <a:close/>
                    </a:path>
                  </a:pathLst>
                </a:custGeom>
                <a:solidFill>
                  <a:srgbClr val="000000"/>
                </a:solidFill>
                <a:ln w="9525">
                  <a:noFill/>
                  <a:round/>
                  <a:headEnd/>
                  <a:tailEnd/>
                </a:ln>
              </p:spPr>
              <p:txBody>
                <a:bodyPr/>
                <a:lstStyle/>
                <a:p>
                  <a:endParaRPr lang="en-US"/>
                </a:p>
              </p:txBody>
            </p:sp>
            <p:sp>
              <p:nvSpPr>
                <p:cNvPr id="29770" name="Freeform 31"/>
                <p:cNvSpPr>
                  <a:spLocks/>
                </p:cNvSpPr>
                <p:nvPr/>
              </p:nvSpPr>
              <p:spPr bwMode="auto">
                <a:xfrm>
                  <a:off x="1840" y="3694"/>
                  <a:ext cx="123" cy="254"/>
                </a:xfrm>
                <a:custGeom>
                  <a:avLst/>
                  <a:gdLst>
                    <a:gd name="T0" fmla="*/ 1 w 245"/>
                    <a:gd name="T1" fmla="*/ 0 h 508"/>
                    <a:gd name="T2" fmla="*/ 1 w 245"/>
                    <a:gd name="T3" fmla="*/ 1 h 508"/>
                    <a:gd name="T4" fmla="*/ 0 w 245"/>
                    <a:gd name="T5" fmla="*/ 1 h 508"/>
                    <a:gd name="T6" fmla="*/ 0 w 245"/>
                    <a:gd name="T7" fmla="*/ 1 h 508"/>
                    <a:gd name="T8" fmla="*/ 1 w 245"/>
                    <a:gd name="T9" fmla="*/ 0 h 508"/>
                    <a:gd name="T10" fmla="*/ 0 60000 65536"/>
                    <a:gd name="T11" fmla="*/ 0 60000 65536"/>
                    <a:gd name="T12" fmla="*/ 0 60000 65536"/>
                    <a:gd name="T13" fmla="*/ 0 60000 65536"/>
                    <a:gd name="T14" fmla="*/ 0 60000 65536"/>
                    <a:gd name="T15" fmla="*/ 0 w 245"/>
                    <a:gd name="T16" fmla="*/ 0 h 508"/>
                    <a:gd name="T17" fmla="*/ 245 w 245"/>
                    <a:gd name="T18" fmla="*/ 508 h 508"/>
                  </a:gdLst>
                  <a:ahLst/>
                  <a:cxnLst>
                    <a:cxn ang="T10">
                      <a:pos x="T0" y="T1"/>
                    </a:cxn>
                    <a:cxn ang="T11">
                      <a:pos x="T2" y="T3"/>
                    </a:cxn>
                    <a:cxn ang="T12">
                      <a:pos x="T4" y="T5"/>
                    </a:cxn>
                    <a:cxn ang="T13">
                      <a:pos x="T6" y="T7"/>
                    </a:cxn>
                    <a:cxn ang="T14">
                      <a:pos x="T8" y="T9"/>
                    </a:cxn>
                  </a:cxnLst>
                  <a:rect l="T15" t="T16" r="T17" b="T18"/>
                  <a:pathLst>
                    <a:path w="245" h="508">
                      <a:moveTo>
                        <a:pt x="245" y="0"/>
                      </a:moveTo>
                      <a:lnTo>
                        <a:pt x="245" y="366"/>
                      </a:lnTo>
                      <a:lnTo>
                        <a:pt x="0" y="508"/>
                      </a:lnTo>
                      <a:lnTo>
                        <a:pt x="0" y="143"/>
                      </a:lnTo>
                      <a:lnTo>
                        <a:pt x="245" y="0"/>
                      </a:lnTo>
                      <a:close/>
                    </a:path>
                  </a:pathLst>
                </a:custGeom>
                <a:solidFill>
                  <a:srgbClr val="4CFF00"/>
                </a:solidFill>
                <a:ln w="9525">
                  <a:noFill/>
                  <a:round/>
                  <a:headEnd/>
                  <a:tailEnd/>
                </a:ln>
              </p:spPr>
              <p:txBody>
                <a:bodyPr/>
                <a:lstStyle/>
                <a:p>
                  <a:endParaRPr lang="en-US"/>
                </a:p>
              </p:txBody>
            </p:sp>
            <p:sp>
              <p:nvSpPr>
                <p:cNvPr id="29771" name="Freeform 32"/>
                <p:cNvSpPr>
                  <a:spLocks/>
                </p:cNvSpPr>
                <p:nvPr/>
              </p:nvSpPr>
              <p:spPr bwMode="auto">
                <a:xfrm>
                  <a:off x="1957" y="3694"/>
                  <a:ext cx="11" cy="188"/>
                </a:xfrm>
                <a:custGeom>
                  <a:avLst/>
                  <a:gdLst>
                    <a:gd name="T0" fmla="*/ 1 w 22"/>
                    <a:gd name="T1" fmla="*/ 0 h 377"/>
                    <a:gd name="T2" fmla="*/ 1 w 22"/>
                    <a:gd name="T3" fmla="*/ 0 h 377"/>
                    <a:gd name="T4" fmla="*/ 1 w 22"/>
                    <a:gd name="T5" fmla="*/ 0 h 377"/>
                    <a:gd name="T6" fmla="*/ 0 w 22"/>
                    <a:gd name="T7" fmla="*/ 0 h 377"/>
                    <a:gd name="T8" fmla="*/ 0 w 22"/>
                    <a:gd name="T9" fmla="*/ 0 h 377"/>
                    <a:gd name="T10" fmla="*/ 1 w 22"/>
                    <a:gd name="T11" fmla="*/ 0 h 377"/>
                    <a:gd name="T12" fmla="*/ 0 w 22"/>
                    <a:gd name="T13" fmla="*/ 0 h 377"/>
                    <a:gd name="T14" fmla="*/ 1 w 22"/>
                    <a:gd name="T15" fmla="*/ 0 h 377"/>
                    <a:gd name="T16" fmla="*/ 1 w 22"/>
                    <a:gd name="T17" fmla="*/ 0 h 377"/>
                    <a:gd name="T18" fmla="*/ 1 w 22"/>
                    <a:gd name="T19" fmla="*/ 0 h 377"/>
                    <a:gd name="T20" fmla="*/ 1 w 22"/>
                    <a:gd name="T21" fmla="*/ 0 h 377"/>
                    <a:gd name="T22" fmla="*/ 1 w 22"/>
                    <a:gd name="T23" fmla="*/ 0 h 3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7"/>
                    <a:gd name="T38" fmla="*/ 22 w 22"/>
                    <a:gd name="T39" fmla="*/ 377 h 3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7">
                      <a:moveTo>
                        <a:pt x="16" y="375"/>
                      </a:moveTo>
                      <a:lnTo>
                        <a:pt x="22" y="366"/>
                      </a:lnTo>
                      <a:lnTo>
                        <a:pt x="22" y="0"/>
                      </a:lnTo>
                      <a:lnTo>
                        <a:pt x="0" y="0"/>
                      </a:lnTo>
                      <a:lnTo>
                        <a:pt x="0" y="366"/>
                      </a:lnTo>
                      <a:lnTo>
                        <a:pt x="7" y="356"/>
                      </a:lnTo>
                      <a:lnTo>
                        <a:pt x="0" y="366"/>
                      </a:lnTo>
                      <a:lnTo>
                        <a:pt x="4" y="373"/>
                      </a:lnTo>
                      <a:lnTo>
                        <a:pt x="11" y="377"/>
                      </a:lnTo>
                      <a:lnTo>
                        <a:pt x="19" y="373"/>
                      </a:lnTo>
                      <a:lnTo>
                        <a:pt x="22" y="366"/>
                      </a:lnTo>
                      <a:lnTo>
                        <a:pt x="16" y="375"/>
                      </a:lnTo>
                      <a:close/>
                    </a:path>
                  </a:pathLst>
                </a:custGeom>
                <a:solidFill>
                  <a:srgbClr val="000000"/>
                </a:solidFill>
                <a:ln w="9525">
                  <a:noFill/>
                  <a:round/>
                  <a:headEnd/>
                  <a:tailEnd/>
                </a:ln>
              </p:spPr>
              <p:txBody>
                <a:bodyPr/>
                <a:lstStyle/>
                <a:p>
                  <a:endParaRPr lang="en-US"/>
                </a:p>
              </p:txBody>
            </p:sp>
            <p:sp>
              <p:nvSpPr>
                <p:cNvPr id="29772" name="Freeform 33"/>
                <p:cNvSpPr>
                  <a:spLocks/>
                </p:cNvSpPr>
                <p:nvPr/>
              </p:nvSpPr>
              <p:spPr bwMode="auto">
                <a:xfrm>
                  <a:off x="1834" y="3872"/>
                  <a:ext cx="131" cy="81"/>
                </a:xfrm>
                <a:custGeom>
                  <a:avLst/>
                  <a:gdLst>
                    <a:gd name="T0" fmla="*/ 0 w 261"/>
                    <a:gd name="T1" fmla="*/ 1 h 161"/>
                    <a:gd name="T2" fmla="*/ 1 w 261"/>
                    <a:gd name="T3" fmla="*/ 1 h 161"/>
                    <a:gd name="T4" fmla="*/ 1 w 261"/>
                    <a:gd name="T5" fmla="*/ 1 h 161"/>
                    <a:gd name="T6" fmla="*/ 1 w 261"/>
                    <a:gd name="T7" fmla="*/ 0 h 161"/>
                    <a:gd name="T8" fmla="*/ 1 w 261"/>
                    <a:gd name="T9" fmla="*/ 1 h 161"/>
                    <a:gd name="T10" fmla="*/ 1 w 261"/>
                    <a:gd name="T11" fmla="*/ 1 h 161"/>
                    <a:gd name="T12" fmla="*/ 1 w 261"/>
                    <a:gd name="T13" fmla="*/ 1 h 161"/>
                    <a:gd name="T14" fmla="*/ 0 w 261"/>
                    <a:gd name="T15" fmla="*/ 1 h 161"/>
                    <a:gd name="T16" fmla="*/ 1 w 261"/>
                    <a:gd name="T17" fmla="*/ 1 h 161"/>
                    <a:gd name="T18" fmla="*/ 1 w 261"/>
                    <a:gd name="T19" fmla="*/ 1 h 161"/>
                    <a:gd name="T20" fmla="*/ 1 w 261"/>
                    <a:gd name="T21" fmla="*/ 1 h 161"/>
                    <a:gd name="T22" fmla="*/ 0 w 261"/>
                    <a:gd name="T23" fmla="*/ 1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1"/>
                    <a:gd name="T37" fmla="*/ 0 h 161"/>
                    <a:gd name="T38" fmla="*/ 261 w 261"/>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1" h="161">
                      <a:moveTo>
                        <a:pt x="0" y="152"/>
                      </a:moveTo>
                      <a:lnTo>
                        <a:pt x="15" y="161"/>
                      </a:lnTo>
                      <a:lnTo>
                        <a:pt x="261" y="19"/>
                      </a:lnTo>
                      <a:lnTo>
                        <a:pt x="252" y="0"/>
                      </a:lnTo>
                      <a:lnTo>
                        <a:pt x="6" y="143"/>
                      </a:lnTo>
                      <a:lnTo>
                        <a:pt x="21" y="152"/>
                      </a:lnTo>
                      <a:lnTo>
                        <a:pt x="6" y="143"/>
                      </a:lnTo>
                      <a:lnTo>
                        <a:pt x="0" y="149"/>
                      </a:lnTo>
                      <a:lnTo>
                        <a:pt x="1" y="157"/>
                      </a:lnTo>
                      <a:lnTo>
                        <a:pt x="7" y="161"/>
                      </a:lnTo>
                      <a:lnTo>
                        <a:pt x="15" y="161"/>
                      </a:lnTo>
                      <a:lnTo>
                        <a:pt x="0" y="152"/>
                      </a:lnTo>
                      <a:close/>
                    </a:path>
                  </a:pathLst>
                </a:custGeom>
                <a:solidFill>
                  <a:srgbClr val="000000"/>
                </a:solidFill>
                <a:ln w="9525">
                  <a:noFill/>
                  <a:round/>
                  <a:headEnd/>
                  <a:tailEnd/>
                </a:ln>
              </p:spPr>
              <p:txBody>
                <a:bodyPr/>
                <a:lstStyle/>
                <a:p>
                  <a:endParaRPr lang="en-US"/>
                </a:p>
              </p:txBody>
            </p:sp>
            <p:sp>
              <p:nvSpPr>
                <p:cNvPr id="29773" name="Freeform 34"/>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4" y="1"/>
                      </a:moveTo>
                      <a:lnTo>
                        <a:pt x="0" y="10"/>
                      </a:lnTo>
                      <a:lnTo>
                        <a:pt x="0" y="375"/>
                      </a:lnTo>
                      <a:lnTo>
                        <a:pt x="21" y="375"/>
                      </a:lnTo>
                      <a:lnTo>
                        <a:pt x="21" y="10"/>
                      </a:lnTo>
                      <a:lnTo>
                        <a:pt x="17" y="20"/>
                      </a:lnTo>
                      <a:lnTo>
                        <a:pt x="21" y="10"/>
                      </a:lnTo>
                      <a:lnTo>
                        <a:pt x="18" y="3"/>
                      </a:lnTo>
                      <a:lnTo>
                        <a:pt x="11" y="0"/>
                      </a:lnTo>
                      <a:lnTo>
                        <a:pt x="3" y="3"/>
                      </a:lnTo>
                      <a:lnTo>
                        <a:pt x="0" y="10"/>
                      </a:lnTo>
                      <a:lnTo>
                        <a:pt x="4" y="1"/>
                      </a:lnTo>
                      <a:close/>
                    </a:path>
                  </a:pathLst>
                </a:custGeom>
                <a:solidFill>
                  <a:srgbClr val="000000"/>
                </a:solidFill>
                <a:ln w="9525">
                  <a:noFill/>
                  <a:round/>
                  <a:headEnd/>
                  <a:tailEnd/>
                </a:ln>
              </p:spPr>
              <p:txBody>
                <a:bodyPr/>
                <a:lstStyle/>
                <a:p>
                  <a:endParaRPr lang="en-US"/>
                </a:p>
              </p:txBody>
            </p:sp>
            <p:sp>
              <p:nvSpPr>
                <p:cNvPr id="29774" name="Freeform 35"/>
                <p:cNvSpPr>
                  <a:spLocks/>
                </p:cNvSpPr>
                <p:nvPr/>
              </p:nvSpPr>
              <p:spPr bwMode="auto">
                <a:xfrm>
                  <a:off x="1837" y="3688"/>
                  <a:ext cx="131" cy="82"/>
                </a:xfrm>
                <a:custGeom>
                  <a:avLst/>
                  <a:gdLst>
                    <a:gd name="T0" fmla="*/ 0 w 263"/>
                    <a:gd name="T1" fmla="*/ 1 h 164"/>
                    <a:gd name="T2" fmla="*/ 0 w 263"/>
                    <a:gd name="T3" fmla="*/ 1 h 164"/>
                    <a:gd name="T4" fmla="*/ 0 w 263"/>
                    <a:gd name="T5" fmla="*/ 1 h 164"/>
                    <a:gd name="T6" fmla="*/ 0 w 263"/>
                    <a:gd name="T7" fmla="*/ 1 h 164"/>
                    <a:gd name="T8" fmla="*/ 0 w 263"/>
                    <a:gd name="T9" fmla="*/ 1 h 164"/>
                    <a:gd name="T10" fmla="*/ 0 w 263"/>
                    <a:gd name="T11" fmla="*/ 1 h 164"/>
                    <a:gd name="T12" fmla="*/ 0 w 263"/>
                    <a:gd name="T13" fmla="*/ 1 h 164"/>
                    <a:gd name="T14" fmla="*/ 0 w 263"/>
                    <a:gd name="T15" fmla="*/ 1 h 164"/>
                    <a:gd name="T16" fmla="*/ 0 w 263"/>
                    <a:gd name="T17" fmla="*/ 1 h 164"/>
                    <a:gd name="T18" fmla="*/ 0 w 263"/>
                    <a:gd name="T19" fmla="*/ 0 h 164"/>
                    <a:gd name="T20" fmla="*/ 0 w 263"/>
                    <a:gd name="T21" fmla="*/ 1 h 164"/>
                    <a:gd name="T22" fmla="*/ 0 w 263"/>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4"/>
                    <a:gd name="T38" fmla="*/ 263 w 263"/>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4">
                      <a:moveTo>
                        <a:pt x="263" y="11"/>
                      </a:moveTo>
                      <a:lnTo>
                        <a:pt x="246" y="1"/>
                      </a:lnTo>
                      <a:lnTo>
                        <a:pt x="0" y="145"/>
                      </a:lnTo>
                      <a:lnTo>
                        <a:pt x="13" y="164"/>
                      </a:lnTo>
                      <a:lnTo>
                        <a:pt x="259" y="20"/>
                      </a:lnTo>
                      <a:lnTo>
                        <a:pt x="241" y="11"/>
                      </a:lnTo>
                      <a:lnTo>
                        <a:pt x="259" y="20"/>
                      </a:lnTo>
                      <a:lnTo>
                        <a:pt x="263" y="12"/>
                      </a:lnTo>
                      <a:lnTo>
                        <a:pt x="262" y="4"/>
                      </a:lnTo>
                      <a:lnTo>
                        <a:pt x="255" y="0"/>
                      </a:lnTo>
                      <a:lnTo>
                        <a:pt x="246" y="1"/>
                      </a:lnTo>
                      <a:lnTo>
                        <a:pt x="263" y="11"/>
                      </a:lnTo>
                      <a:close/>
                    </a:path>
                  </a:pathLst>
                </a:custGeom>
                <a:solidFill>
                  <a:srgbClr val="000000"/>
                </a:solidFill>
                <a:ln w="9525">
                  <a:noFill/>
                  <a:round/>
                  <a:headEnd/>
                  <a:tailEnd/>
                </a:ln>
              </p:spPr>
              <p:txBody>
                <a:bodyPr/>
                <a:lstStyle/>
                <a:p>
                  <a:endParaRPr lang="en-US"/>
                </a:p>
              </p:txBody>
            </p:sp>
            <p:sp>
              <p:nvSpPr>
                <p:cNvPr id="29775" name="Freeform 36"/>
                <p:cNvSpPr>
                  <a:spLocks/>
                </p:cNvSpPr>
                <p:nvPr/>
              </p:nvSpPr>
              <p:spPr bwMode="auto">
                <a:xfrm>
                  <a:off x="2169" y="3499"/>
                  <a:ext cx="125" cy="253"/>
                </a:xfrm>
                <a:custGeom>
                  <a:avLst/>
                  <a:gdLst>
                    <a:gd name="T0" fmla="*/ 1 w 249"/>
                    <a:gd name="T1" fmla="*/ 0 h 507"/>
                    <a:gd name="T2" fmla="*/ 1 w 249"/>
                    <a:gd name="T3" fmla="*/ 0 h 507"/>
                    <a:gd name="T4" fmla="*/ 0 w 249"/>
                    <a:gd name="T5" fmla="*/ 0 h 507"/>
                    <a:gd name="T6" fmla="*/ 0 w 249"/>
                    <a:gd name="T7" fmla="*/ 0 h 507"/>
                    <a:gd name="T8" fmla="*/ 1 w 249"/>
                    <a:gd name="T9" fmla="*/ 0 h 507"/>
                    <a:gd name="T10" fmla="*/ 0 60000 65536"/>
                    <a:gd name="T11" fmla="*/ 0 60000 65536"/>
                    <a:gd name="T12" fmla="*/ 0 60000 65536"/>
                    <a:gd name="T13" fmla="*/ 0 60000 65536"/>
                    <a:gd name="T14" fmla="*/ 0 60000 65536"/>
                    <a:gd name="T15" fmla="*/ 0 w 249"/>
                    <a:gd name="T16" fmla="*/ 0 h 507"/>
                    <a:gd name="T17" fmla="*/ 249 w 249"/>
                    <a:gd name="T18" fmla="*/ 507 h 507"/>
                  </a:gdLst>
                  <a:ahLst/>
                  <a:cxnLst>
                    <a:cxn ang="T10">
                      <a:pos x="T0" y="T1"/>
                    </a:cxn>
                    <a:cxn ang="T11">
                      <a:pos x="T2" y="T3"/>
                    </a:cxn>
                    <a:cxn ang="T12">
                      <a:pos x="T4" y="T5"/>
                    </a:cxn>
                    <a:cxn ang="T13">
                      <a:pos x="T6" y="T7"/>
                    </a:cxn>
                    <a:cxn ang="T14">
                      <a:pos x="T8" y="T9"/>
                    </a:cxn>
                  </a:cxnLst>
                  <a:rect l="T15" t="T16" r="T17" b="T18"/>
                  <a:pathLst>
                    <a:path w="249" h="507">
                      <a:moveTo>
                        <a:pt x="249" y="0"/>
                      </a:moveTo>
                      <a:lnTo>
                        <a:pt x="247" y="364"/>
                      </a:lnTo>
                      <a:lnTo>
                        <a:pt x="0" y="507"/>
                      </a:lnTo>
                      <a:lnTo>
                        <a:pt x="0" y="144"/>
                      </a:lnTo>
                      <a:lnTo>
                        <a:pt x="249" y="0"/>
                      </a:lnTo>
                      <a:close/>
                    </a:path>
                  </a:pathLst>
                </a:custGeom>
                <a:solidFill>
                  <a:srgbClr val="4CFF00"/>
                </a:solidFill>
                <a:ln w="9525">
                  <a:noFill/>
                  <a:round/>
                  <a:headEnd/>
                  <a:tailEnd/>
                </a:ln>
              </p:spPr>
              <p:txBody>
                <a:bodyPr/>
                <a:lstStyle/>
                <a:p>
                  <a:endParaRPr lang="en-US"/>
                </a:p>
              </p:txBody>
            </p:sp>
            <p:sp>
              <p:nvSpPr>
                <p:cNvPr id="29776" name="Freeform 37"/>
                <p:cNvSpPr>
                  <a:spLocks/>
                </p:cNvSpPr>
                <p:nvPr/>
              </p:nvSpPr>
              <p:spPr bwMode="auto">
                <a:xfrm>
                  <a:off x="2288" y="3499"/>
                  <a:ext cx="11" cy="188"/>
                </a:xfrm>
                <a:custGeom>
                  <a:avLst/>
                  <a:gdLst>
                    <a:gd name="T0" fmla="*/ 0 w 24"/>
                    <a:gd name="T1" fmla="*/ 1 h 375"/>
                    <a:gd name="T2" fmla="*/ 0 w 24"/>
                    <a:gd name="T3" fmla="*/ 1 h 375"/>
                    <a:gd name="T4" fmla="*/ 0 w 24"/>
                    <a:gd name="T5" fmla="*/ 0 h 375"/>
                    <a:gd name="T6" fmla="*/ 0 w 24"/>
                    <a:gd name="T7" fmla="*/ 0 h 375"/>
                    <a:gd name="T8" fmla="*/ 0 w 24"/>
                    <a:gd name="T9" fmla="*/ 1 h 375"/>
                    <a:gd name="T10" fmla="*/ 0 w 24"/>
                    <a:gd name="T11" fmla="*/ 1 h 375"/>
                    <a:gd name="T12" fmla="*/ 0 w 24"/>
                    <a:gd name="T13" fmla="*/ 1 h 375"/>
                    <a:gd name="T14" fmla="*/ 0 w 24"/>
                    <a:gd name="T15" fmla="*/ 1 h 375"/>
                    <a:gd name="T16" fmla="*/ 0 w 24"/>
                    <a:gd name="T17" fmla="*/ 1 h 375"/>
                    <a:gd name="T18" fmla="*/ 0 w 24"/>
                    <a:gd name="T19" fmla="*/ 1 h 375"/>
                    <a:gd name="T20" fmla="*/ 0 w 24"/>
                    <a:gd name="T21" fmla="*/ 1 h 375"/>
                    <a:gd name="T22" fmla="*/ 0 w 24"/>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75"/>
                    <a:gd name="T38" fmla="*/ 24 w 24"/>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75">
                      <a:moveTo>
                        <a:pt x="16" y="374"/>
                      </a:moveTo>
                      <a:lnTo>
                        <a:pt x="22" y="364"/>
                      </a:lnTo>
                      <a:lnTo>
                        <a:pt x="24" y="0"/>
                      </a:lnTo>
                      <a:lnTo>
                        <a:pt x="2" y="0"/>
                      </a:lnTo>
                      <a:lnTo>
                        <a:pt x="0" y="364"/>
                      </a:lnTo>
                      <a:lnTo>
                        <a:pt x="6" y="355"/>
                      </a:lnTo>
                      <a:lnTo>
                        <a:pt x="0" y="364"/>
                      </a:lnTo>
                      <a:lnTo>
                        <a:pt x="3" y="372"/>
                      </a:lnTo>
                      <a:lnTo>
                        <a:pt x="11" y="375"/>
                      </a:lnTo>
                      <a:lnTo>
                        <a:pt x="19" y="372"/>
                      </a:lnTo>
                      <a:lnTo>
                        <a:pt x="22" y="364"/>
                      </a:lnTo>
                      <a:lnTo>
                        <a:pt x="16" y="374"/>
                      </a:lnTo>
                      <a:close/>
                    </a:path>
                  </a:pathLst>
                </a:custGeom>
                <a:solidFill>
                  <a:srgbClr val="000000"/>
                </a:solidFill>
                <a:ln w="9525">
                  <a:noFill/>
                  <a:round/>
                  <a:headEnd/>
                  <a:tailEnd/>
                </a:ln>
              </p:spPr>
              <p:txBody>
                <a:bodyPr/>
                <a:lstStyle/>
                <a:p>
                  <a:endParaRPr lang="en-US"/>
                </a:p>
              </p:txBody>
            </p:sp>
            <p:sp>
              <p:nvSpPr>
                <p:cNvPr id="29777" name="Freeform 38"/>
                <p:cNvSpPr>
                  <a:spLocks/>
                </p:cNvSpPr>
                <p:nvPr/>
              </p:nvSpPr>
              <p:spPr bwMode="auto">
                <a:xfrm>
                  <a:off x="2164" y="3677"/>
                  <a:ext cx="131" cy="80"/>
                </a:xfrm>
                <a:custGeom>
                  <a:avLst/>
                  <a:gdLst>
                    <a:gd name="T0" fmla="*/ 0 w 263"/>
                    <a:gd name="T1" fmla="*/ 0 h 161"/>
                    <a:gd name="T2" fmla="*/ 0 w 263"/>
                    <a:gd name="T3" fmla="*/ 0 h 161"/>
                    <a:gd name="T4" fmla="*/ 0 w 263"/>
                    <a:gd name="T5" fmla="*/ 0 h 161"/>
                    <a:gd name="T6" fmla="*/ 0 w 263"/>
                    <a:gd name="T7" fmla="*/ 0 h 161"/>
                    <a:gd name="T8" fmla="*/ 0 w 263"/>
                    <a:gd name="T9" fmla="*/ 0 h 161"/>
                    <a:gd name="T10" fmla="*/ 0 w 263"/>
                    <a:gd name="T11" fmla="*/ 0 h 161"/>
                    <a:gd name="T12" fmla="*/ 0 w 263"/>
                    <a:gd name="T13" fmla="*/ 0 h 161"/>
                    <a:gd name="T14" fmla="*/ 0 w 263"/>
                    <a:gd name="T15" fmla="*/ 0 h 161"/>
                    <a:gd name="T16" fmla="*/ 0 w 263"/>
                    <a:gd name="T17" fmla="*/ 0 h 161"/>
                    <a:gd name="T18" fmla="*/ 0 w 263"/>
                    <a:gd name="T19" fmla="*/ 0 h 161"/>
                    <a:gd name="T20" fmla="*/ 0 w 263"/>
                    <a:gd name="T21" fmla="*/ 0 h 161"/>
                    <a:gd name="T22" fmla="*/ 0 w 263"/>
                    <a:gd name="T23" fmla="*/ 0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3"/>
                    <a:gd name="T37" fmla="*/ 0 h 161"/>
                    <a:gd name="T38" fmla="*/ 263 w 263"/>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3" h="161">
                      <a:moveTo>
                        <a:pt x="0" y="152"/>
                      </a:moveTo>
                      <a:lnTo>
                        <a:pt x="15" y="161"/>
                      </a:lnTo>
                      <a:lnTo>
                        <a:pt x="263" y="19"/>
                      </a:lnTo>
                      <a:lnTo>
                        <a:pt x="253" y="0"/>
                      </a:lnTo>
                      <a:lnTo>
                        <a:pt x="6" y="142"/>
                      </a:lnTo>
                      <a:lnTo>
                        <a:pt x="22" y="152"/>
                      </a:lnTo>
                      <a:lnTo>
                        <a:pt x="6" y="142"/>
                      </a:lnTo>
                      <a:lnTo>
                        <a:pt x="0" y="149"/>
                      </a:lnTo>
                      <a:lnTo>
                        <a:pt x="1" y="157"/>
                      </a:lnTo>
                      <a:lnTo>
                        <a:pt x="8" y="161"/>
                      </a:lnTo>
                      <a:lnTo>
                        <a:pt x="15" y="161"/>
                      </a:lnTo>
                      <a:lnTo>
                        <a:pt x="0" y="152"/>
                      </a:lnTo>
                      <a:close/>
                    </a:path>
                  </a:pathLst>
                </a:custGeom>
                <a:solidFill>
                  <a:srgbClr val="000000"/>
                </a:solidFill>
                <a:ln w="9525">
                  <a:noFill/>
                  <a:round/>
                  <a:headEnd/>
                  <a:tailEnd/>
                </a:ln>
              </p:spPr>
              <p:txBody>
                <a:bodyPr/>
                <a:lstStyle/>
                <a:p>
                  <a:endParaRPr lang="en-US"/>
                </a:p>
              </p:txBody>
            </p:sp>
            <p:sp>
              <p:nvSpPr>
                <p:cNvPr id="29778" name="Freeform 39"/>
                <p:cNvSpPr>
                  <a:spLocks/>
                </p:cNvSpPr>
                <p:nvPr/>
              </p:nvSpPr>
              <p:spPr bwMode="auto">
                <a:xfrm>
                  <a:off x="2164" y="3565"/>
                  <a:ext cx="11" cy="187"/>
                </a:xfrm>
                <a:custGeom>
                  <a:avLst/>
                  <a:gdLst>
                    <a:gd name="T0" fmla="*/ 1 w 22"/>
                    <a:gd name="T1" fmla="*/ 1 h 374"/>
                    <a:gd name="T2" fmla="*/ 0 w 22"/>
                    <a:gd name="T3" fmla="*/ 1 h 374"/>
                    <a:gd name="T4" fmla="*/ 0 w 22"/>
                    <a:gd name="T5" fmla="*/ 1 h 374"/>
                    <a:gd name="T6" fmla="*/ 1 w 22"/>
                    <a:gd name="T7" fmla="*/ 1 h 374"/>
                    <a:gd name="T8" fmla="*/ 1 w 22"/>
                    <a:gd name="T9" fmla="*/ 1 h 374"/>
                    <a:gd name="T10" fmla="*/ 1 w 22"/>
                    <a:gd name="T11" fmla="*/ 1 h 374"/>
                    <a:gd name="T12" fmla="*/ 1 w 22"/>
                    <a:gd name="T13" fmla="*/ 1 h 374"/>
                    <a:gd name="T14" fmla="*/ 1 w 22"/>
                    <a:gd name="T15" fmla="*/ 1 h 374"/>
                    <a:gd name="T16" fmla="*/ 1 w 22"/>
                    <a:gd name="T17" fmla="*/ 0 h 374"/>
                    <a:gd name="T18" fmla="*/ 1 w 22"/>
                    <a:gd name="T19" fmla="*/ 1 h 374"/>
                    <a:gd name="T20" fmla="*/ 0 w 22"/>
                    <a:gd name="T21" fmla="*/ 1 h 374"/>
                    <a:gd name="T22" fmla="*/ 1 w 22"/>
                    <a:gd name="T23" fmla="*/ 1 h 37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4"/>
                    <a:gd name="T38" fmla="*/ 22 w 22"/>
                    <a:gd name="T39" fmla="*/ 374 h 37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4">
                      <a:moveTo>
                        <a:pt x="4" y="1"/>
                      </a:moveTo>
                      <a:lnTo>
                        <a:pt x="0" y="11"/>
                      </a:lnTo>
                      <a:lnTo>
                        <a:pt x="0" y="374"/>
                      </a:lnTo>
                      <a:lnTo>
                        <a:pt x="22" y="374"/>
                      </a:lnTo>
                      <a:lnTo>
                        <a:pt x="22" y="11"/>
                      </a:lnTo>
                      <a:lnTo>
                        <a:pt x="17" y="20"/>
                      </a:lnTo>
                      <a:lnTo>
                        <a:pt x="22" y="11"/>
                      </a:lnTo>
                      <a:lnTo>
                        <a:pt x="19" y="3"/>
                      </a:lnTo>
                      <a:lnTo>
                        <a:pt x="11" y="0"/>
                      </a:lnTo>
                      <a:lnTo>
                        <a:pt x="3" y="3"/>
                      </a:lnTo>
                      <a:lnTo>
                        <a:pt x="0" y="11"/>
                      </a:lnTo>
                      <a:lnTo>
                        <a:pt x="4" y="1"/>
                      </a:lnTo>
                      <a:close/>
                    </a:path>
                  </a:pathLst>
                </a:custGeom>
                <a:solidFill>
                  <a:srgbClr val="000000"/>
                </a:solidFill>
                <a:ln w="9525">
                  <a:noFill/>
                  <a:round/>
                  <a:headEnd/>
                  <a:tailEnd/>
                </a:ln>
              </p:spPr>
              <p:txBody>
                <a:bodyPr/>
                <a:lstStyle/>
                <a:p>
                  <a:endParaRPr lang="en-US"/>
                </a:p>
              </p:txBody>
            </p:sp>
            <p:sp>
              <p:nvSpPr>
                <p:cNvPr id="29779" name="Freeform 40"/>
                <p:cNvSpPr>
                  <a:spLocks/>
                </p:cNvSpPr>
                <p:nvPr/>
              </p:nvSpPr>
              <p:spPr bwMode="auto">
                <a:xfrm>
                  <a:off x="2166" y="3493"/>
                  <a:ext cx="133" cy="83"/>
                </a:xfrm>
                <a:custGeom>
                  <a:avLst/>
                  <a:gdLst>
                    <a:gd name="T0" fmla="*/ 0 w 267"/>
                    <a:gd name="T1" fmla="*/ 1 h 164"/>
                    <a:gd name="T2" fmla="*/ 0 w 267"/>
                    <a:gd name="T3" fmla="*/ 1 h 164"/>
                    <a:gd name="T4" fmla="*/ 0 w 267"/>
                    <a:gd name="T5" fmla="*/ 1 h 164"/>
                    <a:gd name="T6" fmla="*/ 0 w 267"/>
                    <a:gd name="T7" fmla="*/ 1 h 164"/>
                    <a:gd name="T8" fmla="*/ 0 w 267"/>
                    <a:gd name="T9" fmla="*/ 1 h 164"/>
                    <a:gd name="T10" fmla="*/ 0 w 267"/>
                    <a:gd name="T11" fmla="*/ 1 h 164"/>
                    <a:gd name="T12" fmla="*/ 0 w 267"/>
                    <a:gd name="T13" fmla="*/ 1 h 164"/>
                    <a:gd name="T14" fmla="*/ 0 w 267"/>
                    <a:gd name="T15" fmla="*/ 1 h 164"/>
                    <a:gd name="T16" fmla="*/ 0 w 267"/>
                    <a:gd name="T17" fmla="*/ 1 h 164"/>
                    <a:gd name="T18" fmla="*/ 0 w 267"/>
                    <a:gd name="T19" fmla="*/ 0 h 164"/>
                    <a:gd name="T20" fmla="*/ 0 w 267"/>
                    <a:gd name="T21" fmla="*/ 1 h 164"/>
                    <a:gd name="T22" fmla="*/ 0 w 267"/>
                    <a:gd name="T23" fmla="*/ 1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7"/>
                    <a:gd name="T37" fmla="*/ 0 h 164"/>
                    <a:gd name="T38" fmla="*/ 267 w 267"/>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7" h="164">
                      <a:moveTo>
                        <a:pt x="267" y="11"/>
                      </a:moveTo>
                      <a:lnTo>
                        <a:pt x="249" y="2"/>
                      </a:lnTo>
                      <a:lnTo>
                        <a:pt x="0" y="145"/>
                      </a:lnTo>
                      <a:lnTo>
                        <a:pt x="13" y="164"/>
                      </a:lnTo>
                      <a:lnTo>
                        <a:pt x="262" y="20"/>
                      </a:lnTo>
                      <a:lnTo>
                        <a:pt x="245" y="11"/>
                      </a:lnTo>
                      <a:lnTo>
                        <a:pt x="262" y="20"/>
                      </a:lnTo>
                      <a:lnTo>
                        <a:pt x="267" y="12"/>
                      </a:lnTo>
                      <a:lnTo>
                        <a:pt x="265" y="5"/>
                      </a:lnTo>
                      <a:lnTo>
                        <a:pt x="259" y="0"/>
                      </a:lnTo>
                      <a:lnTo>
                        <a:pt x="249" y="2"/>
                      </a:lnTo>
                      <a:lnTo>
                        <a:pt x="267" y="11"/>
                      </a:lnTo>
                      <a:close/>
                    </a:path>
                  </a:pathLst>
                </a:custGeom>
                <a:solidFill>
                  <a:srgbClr val="000000"/>
                </a:solidFill>
                <a:ln w="9525">
                  <a:noFill/>
                  <a:round/>
                  <a:headEnd/>
                  <a:tailEnd/>
                </a:ln>
              </p:spPr>
              <p:txBody>
                <a:bodyPr/>
                <a:lstStyle/>
                <a:p>
                  <a:endParaRPr lang="en-US"/>
                </a:p>
              </p:txBody>
            </p:sp>
            <p:sp>
              <p:nvSpPr>
                <p:cNvPr id="29780" name="Freeform 41"/>
                <p:cNvSpPr>
                  <a:spLocks/>
                </p:cNvSpPr>
                <p:nvPr/>
              </p:nvSpPr>
              <p:spPr bwMode="auto">
                <a:xfrm>
                  <a:off x="1536" y="3312"/>
                  <a:ext cx="768" cy="440"/>
                </a:xfrm>
                <a:custGeom>
                  <a:avLst/>
                  <a:gdLst>
                    <a:gd name="T0" fmla="*/ 0 w 1536"/>
                    <a:gd name="T1" fmla="*/ 1 h 879"/>
                    <a:gd name="T2" fmla="*/ 1 w 1536"/>
                    <a:gd name="T3" fmla="*/ 0 h 879"/>
                    <a:gd name="T4" fmla="*/ 1 w 1536"/>
                    <a:gd name="T5" fmla="*/ 1 h 879"/>
                    <a:gd name="T6" fmla="*/ 1 w 1536"/>
                    <a:gd name="T7" fmla="*/ 1 h 879"/>
                    <a:gd name="T8" fmla="*/ 0 w 1536"/>
                    <a:gd name="T9" fmla="*/ 1 h 879"/>
                    <a:gd name="T10" fmla="*/ 0 60000 65536"/>
                    <a:gd name="T11" fmla="*/ 0 60000 65536"/>
                    <a:gd name="T12" fmla="*/ 0 60000 65536"/>
                    <a:gd name="T13" fmla="*/ 0 60000 65536"/>
                    <a:gd name="T14" fmla="*/ 0 60000 65536"/>
                    <a:gd name="T15" fmla="*/ 0 w 1536"/>
                    <a:gd name="T16" fmla="*/ 0 h 879"/>
                    <a:gd name="T17" fmla="*/ 1536 w 1536"/>
                    <a:gd name="T18" fmla="*/ 879 h 879"/>
                  </a:gdLst>
                  <a:ahLst/>
                  <a:cxnLst>
                    <a:cxn ang="T10">
                      <a:pos x="T0" y="T1"/>
                    </a:cxn>
                    <a:cxn ang="T11">
                      <a:pos x="T2" y="T3"/>
                    </a:cxn>
                    <a:cxn ang="T12">
                      <a:pos x="T4" y="T5"/>
                    </a:cxn>
                    <a:cxn ang="T13">
                      <a:pos x="T6" y="T7"/>
                    </a:cxn>
                    <a:cxn ang="T14">
                      <a:pos x="T8" y="T9"/>
                    </a:cxn>
                  </a:cxnLst>
                  <a:rect l="T15" t="T16" r="T17" b="T18"/>
                  <a:pathLst>
                    <a:path w="1536" h="879">
                      <a:moveTo>
                        <a:pt x="0" y="544"/>
                      </a:moveTo>
                      <a:lnTo>
                        <a:pt x="932" y="0"/>
                      </a:lnTo>
                      <a:lnTo>
                        <a:pt x="1536" y="335"/>
                      </a:lnTo>
                      <a:lnTo>
                        <a:pt x="608" y="879"/>
                      </a:lnTo>
                      <a:lnTo>
                        <a:pt x="0" y="544"/>
                      </a:lnTo>
                      <a:close/>
                    </a:path>
                  </a:pathLst>
                </a:custGeom>
                <a:solidFill>
                  <a:srgbClr val="B2FF4C"/>
                </a:solidFill>
                <a:ln w="9525">
                  <a:noFill/>
                  <a:round/>
                  <a:headEnd/>
                  <a:tailEnd/>
                </a:ln>
              </p:spPr>
              <p:txBody>
                <a:bodyPr/>
                <a:lstStyle/>
                <a:p>
                  <a:endParaRPr lang="en-US"/>
                </a:p>
              </p:txBody>
            </p:sp>
            <p:sp>
              <p:nvSpPr>
                <p:cNvPr id="29781" name="Freeform 42"/>
                <p:cNvSpPr>
                  <a:spLocks/>
                </p:cNvSpPr>
                <p:nvPr/>
              </p:nvSpPr>
              <p:spPr bwMode="auto">
                <a:xfrm>
                  <a:off x="1533" y="3307"/>
                  <a:ext cx="474" cy="282"/>
                </a:xfrm>
                <a:custGeom>
                  <a:avLst/>
                  <a:gdLst>
                    <a:gd name="T0" fmla="*/ 0 w 949"/>
                    <a:gd name="T1" fmla="*/ 0 h 565"/>
                    <a:gd name="T2" fmla="*/ 0 w 949"/>
                    <a:gd name="T3" fmla="*/ 0 h 565"/>
                    <a:gd name="T4" fmla="*/ 0 w 949"/>
                    <a:gd name="T5" fmla="*/ 0 h 565"/>
                    <a:gd name="T6" fmla="*/ 0 w 949"/>
                    <a:gd name="T7" fmla="*/ 0 h 565"/>
                    <a:gd name="T8" fmla="*/ 0 w 949"/>
                    <a:gd name="T9" fmla="*/ 0 h 565"/>
                    <a:gd name="T10" fmla="*/ 0 w 949"/>
                    <a:gd name="T11" fmla="*/ 0 h 565"/>
                    <a:gd name="T12" fmla="*/ 0 w 949"/>
                    <a:gd name="T13" fmla="*/ 0 h 565"/>
                    <a:gd name="T14" fmla="*/ 0 w 949"/>
                    <a:gd name="T15" fmla="*/ 0 h 565"/>
                    <a:gd name="T16" fmla="*/ 0 w 949"/>
                    <a:gd name="T17" fmla="*/ 0 h 565"/>
                    <a:gd name="T18" fmla="*/ 0 w 949"/>
                    <a:gd name="T19" fmla="*/ 0 h 565"/>
                    <a:gd name="T20" fmla="*/ 0 w 949"/>
                    <a:gd name="T21" fmla="*/ 0 h 565"/>
                    <a:gd name="T22" fmla="*/ 0 w 949"/>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9"/>
                    <a:gd name="T37" fmla="*/ 0 h 565"/>
                    <a:gd name="T38" fmla="*/ 949 w 949"/>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9" h="565">
                      <a:moveTo>
                        <a:pt x="942" y="2"/>
                      </a:moveTo>
                      <a:lnTo>
                        <a:pt x="931" y="2"/>
                      </a:lnTo>
                      <a:lnTo>
                        <a:pt x="0" y="546"/>
                      </a:lnTo>
                      <a:lnTo>
                        <a:pt x="12" y="565"/>
                      </a:lnTo>
                      <a:lnTo>
                        <a:pt x="944" y="20"/>
                      </a:lnTo>
                      <a:lnTo>
                        <a:pt x="933" y="20"/>
                      </a:lnTo>
                      <a:lnTo>
                        <a:pt x="944" y="20"/>
                      </a:lnTo>
                      <a:lnTo>
                        <a:pt x="949" y="13"/>
                      </a:lnTo>
                      <a:lnTo>
                        <a:pt x="947" y="5"/>
                      </a:lnTo>
                      <a:lnTo>
                        <a:pt x="941" y="0"/>
                      </a:lnTo>
                      <a:lnTo>
                        <a:pt x="931" y="2"/>
                      </a:lnTo>
                      <a:lnTo>
                        <a:pt x="942" y="2"/>
                      </a:lnTo>
                      <a:close/>
                    </a:path>
                  </a:pathLst>
                </a:custGeom>
                <a:solidFill>
                  <a:srgbClr val="000000"/>
                </a:solidFill>
                <a:ln w="9525">
                  <a:noFill/>
                  <a:round/>
                  <a:headEnd/>
                  <a:tailEnd/>
                </a:ln>
              </p:spPr>
              <p:txBody>
                <a:bodyPr/>
                <a:lstStyle/>
                <a:p>
                  <a:endParaRPr lang="en-US"/>
                </a:p>
              </p:txBody>
            </p:sp>
            <p:sp>
              <p:nvSpPr>
                <p:cNvPr id="29782" name="Freeform 43"/>
                <p:cNvSpPr>
                  <a:spLocks/>
                </p:cNvSpPr>
                <p:nvPr/>
              </p:nvSpPr>
              <p:spPr bwMode="auto">
                <a:xfrm>
                  <a:off x="1999" y="3307"/>
                  <a:ext cx="310" cy="177"/>
                </a:xfrm>
                <a:custGeom>
                  <a:avLst/>
                  <a:gdLst>
                    <a:gd name="T0" fmla="*/ 1 w 620"/>
                    <a:gd name="T1" fmla="*/ 1 h 353"/>
                    <a:gd name="T2" fmla="*/ 1 w 620"/>
                    <a:gd name="T3" fmla="*/ 1 h 353"/>
                    <a:gd name="T4" fmla="*/ 1 w 620"/>
                    <a:gd name="T5" fmla="*/ 0 h 353"/>
                    <a:gd name="T6" fmla="*/ 0 w 620"/>
                    <a:gd name="T7" fmla="*/ 1 h 353"/>
                    <a:gd name="T8" fmla="*/ 1 w 620"/>
                    <a:gd name="T9" fmla="*/ 1 h 353"/>
                    <a:gd name="T10" fmla="*/ 1 w 620"/>
                    <a:gd name="T11" fmla="*/ 1 h 353"/>
                    <a:gd name="T12" fmla="*/ 1 w 620"/>
                    <a:gd name="T13" fmla="*/ 1 h 353"/>
                    <a:gd name="T14" fmla="*/ 1 w 620"/>
                    <a:gd name="T15" fmla="*/ 1 h 353"/>
                    <a:gd name="T16" fmla="*/ 1 w 620"/>
                    <a:gd name="T17" fmla="*/ 1 h 353"/>
                    <a:gd name="T18" fmla="*/ 1 w 620"/>
                    <a:gd name="T19" fmla="*/ 1 h 353"/>
                    <a:gd name="T20" fmla="*/ 1 w 620"/>
                    <a:gd name="T21" fmla="*/ 1 h 353"/>
                    <a:gd name="T22" fmla="*/ 1 w 620"/>
                    <a:gd name="T23" fmla="*/ 1 h 3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0"/>
                    <a:gd name="T37" fmla="*/ 0 h 353"/>
                    <a:gd name="T38" fmla="*/ 620 w 620"/>
                    <a:gd name="T39" fmla="*/ 353 h 3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0" h="353">
                      <a:moveTo>
                        <a:pt x="615" y="353"/>
                      </a:moveTo>
                      <a:lnTo>
                        <a:pt x="614" y="334"/>
                      </a:lnTo>
                      <a:lnTo>
                        <a:pt x="9" y="0"/>
                      </a:lnTo>
                      <a:lnTo>
                        <a:pt x="0" y="18"/>
                      </a:lnTo>
                      <a:lnTo>
                        <a:pt x="604" y="353"/>
                      </a:lnTo>
                      <a:lnTo>
                        <a:pt x="603" y="334"/>
                      </a:lnTo>
                      <a:lnTo>
                        <a:pt x="604" y="353"/>
                      </a:lnTo>
                      <a:lnTo>
                        <a:pt x="612" y="353"/>
                      </a:lnTo>
                      <a:lnTo>
                        <a:pt x="618" y="349"/>
                      </a:lnTo>
                      <a:lnTo>
                        <a:pt x="620" y="341"/>
                      </a:lnTo>
                      <a:lnTo>
                        <a:pt x="614" y="334"/>
                      </a:lnTo>
                      <a:lnTo>
                        <a:pt x="615" y="353"/>
                      </a:lnTo>
                      <a:close/>
                    </a:path>
                  </a:pathLst>
                </a:custGeom>
                <a:solidFill>
                  <a:srgbClr val="000000"/>
                </a:solidFill>
                <a:ln w="9525">
                  <a:noFill/>
                  <a:round/>
                  <a:headEnd/>
                  <a:tailEnd/>
                </a:ln>
              </p:spPr>
              <p:txBody>
                <a:bodyPr/>
                <a:lstStyle/>
                <a:p>
                  <a:endParaRPr lang="en-US"/>
                </a:p>
              </p:txBody>
            </p:sp>
            <p:sp>
              <p:nvSpPr>
                <p:cNvPr id="29783" name="Freeform 44"/>
                <p:cNvSpPr>
                  <a:spLocks/>
                </p:cNvSpPr>
                <p:nvPr/>
              </p:nvSpPr>
              <p:spPr bwMode="auto">
                <a:xfrm>
                  <a:off x="1834" y="3475"/>
                  <a:ext cx="473" cy="282"/>
                </a:xfrm>
                <a:custGeom>
                  <a:avLst/>
                  <a:gdLst>
                    <a:gd name="T0" fmla="*/ 1 w 945"/>
                    <a:gd name="T1" fmla="*/ 0 h 565"/>
                    <a:gd name="T2" fmla="*/ 1 w 945"/>
                    <a:gd name="T3" fmla="*/ 0 h 565"/>
                    <a:gd name="T4" fmla="*/ 1 w 945"/>
                    <a:gd name="T5" fmla="*/ 0 h 565"/>
                    <a:gd name="T6" fmla="*/ 1 w 945"/>
                    <a:gd name="T7" fmla="*/ 0 h 565"/>
                    <a:gd name="T8" fmla="*/ 1 w 945"/>
                    <a:gd name="T9" fmla="*/ 0 h 565"/>
                    <a:gd name="T10" fmla="*/ 1 w 945"/>
                    <a:gd name="T11" fmla="*/ 0 h 565"/>
                    <a:gd name="T12" fmla="*/ 1 w 945"/>
                    <a:gd name="T13" fmla="*/ 0 h 565"/>
                    <a:gd name="T14" fmla="*/ 0 w 945"/>
                    <a:gd name="T15" fmla="*/ 0 h 565"/>
                    <a:gd name="T16" fmla="*/ 1 w 945"/>
                    <a:gd name="T17" fmla="*/ 0 h 565"/>
                    <a:gd name="T18" fmla="*/ 1 w 945"/>
                    <a:gd name="T19" fmla="*/ 0 h 565"/>
                    <a:gd name="T20" fmla="*/ 1 w 945"/>
                    <a:gd name="T21" fmla="*/ 0 h 565"/>
                    <a:gd name="T22" fmla="*/ 1 w 945"/>
                    <a:gd name="T23" fmla="*/ 0 h 5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5"/>
                    <a:gd name="T37" fmla="*/ 0 h 565"/>
                    <a:gd name="T38" fmla="*/ 945 w 945"/>
                    <a:gd name="T39" fmla="*/ 565 h 5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5" h="565">
                      <a:moveTo>
                        <a:pt x="6" y="564"/>
                      </a:moveTo>
                      <a:lnTo>
                        <a:pt x="17" y="564"/>
                      </a:lnTo>
                      <a:lnTo>
                        <a:pt x="945" y="19"/>
                      </a:lnTo>
                      <a:lnTo>
                        <a:pt x="933" y="0"/>
                      </a:lnTo>
                      <a:lnTo>
                        <a:pt x="4" y="545"/>
                      </a:lnTo>
                      <a:lnTo>
                        <a:pt x="15" y="545"/>
                      </a:lnTo>
                      <a:lnTo>
                        <a:pt x="4" y="545"/>
                      </a:lnTo>
                      <a:lnTo>
                        <a:pt x="0" y="553"/>
                      </a:lnTo>
                      <a:lnTo>
                        <a:pt x="1" y="561"/>
                      </a:lnTo>
                      <a:lnTo>
                        <a:pt x="7" y="565"/>
                      </a:lnTo>
                      <a:lnTo>
                        <a:pt x="17" y="564"/>
                      </a:lnTo>
                      <a:lnTo>
                        <a:pt x="6" y="564"/>
                      </a:lnTo>
                      <a:close/>
                    </a:path>
                  </a:pathLst>
                </a:custGeom>
                <a:solidFill>
                  <a:srgbClr val="000000"/>
                </a:solidFill>
                <a:ln w="9525">
                  <a:noFill/>
                  <a:round/>
                  <a:headEnd/>
                  <a:tailEnd/>
                </a:ln>
              </p:spPr>
              <p:txBody>
                <a:bodyPr/>
                <a:lstStyle/>
                <a:p>
                  <a:endParaRPr lang="en-US"/>
                </a:p>
              </p:txBody>
            </p:sp>
            <p:sp>
              <p:nvSpPr>
                <p:cNvPr id="29784" name="Freeform 45"/>
                <p:cNvSpPr>
                  <a:spLocks/>
                </p:cNvSpPr>
                <p:nvPr/>
              </p:nvSpPr>
              <p:spPr bwMode="auto">
                <a:xfrm>
                  <a:off x="1531" y="3580"/>
                  <a:ext cx="311" cy="176"/>
                </a:xfrm>
                <a:custGeom>
                  <a:avLst/>
                  <a:gdLst>
                    <a:gd name="T0" fmla="*/ 0 w 623"/>
                    <a:gd name="T1" fmla="*/ 0 h 354"/>
                    <a:gd name="T2" fmla="*/ 0 w 623"/>
                    <a:gd name="T3" fmla="*/ 0 h 354"/>
                    <a:gd name="T4" fmla="*/ 0 w 623"/>
                    <a:gd name="T5" fmla="*/ 0 h 354"/>
                    <a:gd name="T6" fmla="*/ 0 w 623"/>
                    <a:gd name="T7" fmla="*/ 0 h 354"/>
                    <a:gd name="T8" fmla="*/ 0 w 623"/>
                    <a:gd name="T9" fmla="*/ 0 h 354"/>
                    <a:gd name="T10" fmla="*/ 0 w 623"/>
                    <a:gd name="T11" fmla="*/ 0 h 354"/>
                    <a:gd name="T12" fmla="*/ 0 w 623"/>
                    <a:gd name="T13" fmla="*/ 0 h 354"/>
                    <a:gd name="T14" fmla="*/ 0 w 623"/>
                    <a:gd name="T15" fmla="*/ 0 h 354"/>
                    <a:gd name="T16" fmla="*/ 0 w 623"/>
                    <a:gd name="T17" fmla="*/ 0 h 354"/>
                    <a:gd name="T18" fmla="*/ 0 w 623"/>
                    <a:gd name="T19" fmla="*/ 0 h 354"/>
                    <a:gd name="T20" fmla="*/ 0 w 623"/>
                    <a:gd name="T21" fmla="*/ 0 h 354"/>
                    <a:gd name="T22" fmla="*/ 0 w 623"/>
                    <a:gd name="T23" fmla="*/ 0 h 3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3"/>
                    <a:gd name="T37" fmla="*/ 0 h 354"/>
                    <a:gd name="T38" fmla="*/ 623 w 623"/>
                    <a:gd name="T39" fmla="*/ 354 h 3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3" h="354">
                      <a:moveTo>
                        <a:pt x="5" y="0"/>
                      </a:moveTo>
                      <a:lnTo>
                        <a:pt x="6" y="19"/>
                      </a:lnTo>
                      <a:lnTo>
                        <a:pt x="614" y="354"/>
                      </a:lnTo>
                      <a:lnTo>
                        <a:pt x="623" y="335"/>
                      </a:lnTo>
                      <a:lnTo>
                        <a:pt x="16" y="0"/>
                      </a:lnTo>
                      <a:lnTo>
                        <a:pt x="17" y="19"/>
                      </a:lnTo>
                      <a:lnTo>
                        <a:pt x="16" y="0"/>
                      </a:lnTo>
                      <a:lnTo>
                        <a:pt x="8" y="0"/>
                      </a:lnTo>
                      <a:lnTo>
                        <a:pt x="2" y="5"/>
                      </a:lnTo>
                      <a:lnTo>
                        <a:pt x="0" y="13"/>
                      </a:lnTo>
                      <a:lnTo>
                        <a:pt x="6" y="19"/>
                      </a:lnTo>
                      <a:lnTo>
                        <a:pt x="5" y="0"/>
                      </a:lnTo>
                      <a:close/>
                    </a:path>
                  </a:pathLst>
                </a:custGeom>
                <a:solidFill>
                  <a:srgbClr val="000000"/>
                </a:solidFill>
                <a:ln w="9525">
                  <a:noFill/>
                  <a:round/>
                  <a:headEnd/>
                  <a:tailEnd/>
                </a:ln>
              </p:spPr>
              <p:txBody>
                <a:bodyPr/>
                <a:lstStyle/>
                <a:p>
                  <a:endParaRPr lang="en-US"/>
                </a:p>
              </p:txBody>
            </p:sp>
            <p:sp>
              <p:nvSpPr>
                <p:cNvPr id="29785" name="Freeform 46"/>
                <p:cNvSpPr>
                  <a:spLocks/>
                </p:cNvSpPr>
                <p:nvPr/>
              </p:nvSpPr>
              <p:spPr bwMode="auto">
                <a:xfrm>
                  <a:off x="1555" y="3605"/>
                  <a:ext cx="285" cy="343"/>
                </a:xfrm>
                <a:custGeom>
                  <a:avLst/>
                  <a:gdLst>
                    <a:gd name="T0" fmla="*/ 0 w 570"/>
                    <a:gd name="T1" fmla="*/ 0 h 685"/>
                    <a:gd name="T2" fmla="*/ 0 w 570"/>
                    <a:gd name="T3" fmla="*/ 1 h 685"/>
                    <a:gd name="T4" fmla="*/ 1 w 570"/>
                    <a:gd name="T5" fmla="*/ 1 h 685"/>
                    <a:gd name="T6" fmla="*/ 1 w 570"/>
                    <a:gd name="T7" fmla="*/ 1 h 685"/>
                    <a:gd name="T8" fmla="*/ 0 w 570"/>
                    <a:gd name="T9" fmla="*/ 0 h 685"/>
                    <a:gd name="T10" fmla="*/ 0 60000 65536"/>
                    <a:gd name="T11" fmla="*/ 0 60000 65536"/>
                    <a:gd name="T12" fmla="*/ 0 60000 65536"/>
                    <a:gd name="T13" fmla="*/ 0 60000 65536"/>
                    <a:gd name="T14" fmla="*/ 0 60000 65536"/>
                    <a:gd name="T15" fmla="*/ 0 w 570"/>
                    <a:gd name="T16" fmla="*/ 0 h 685"/>
                    <a:gd name="T17" fmla="*/ 570 w 570"/>
                    <a:gd name="T18" fmla="*/ 685 h 685"/>
                  </a:gdLst>
                  <a:ahLst/>
                  <a:cxnLst>
                    <a:cxn ang="T10">
                      <a:pos x="T0" y="T1"/>
                    </a:cxn>
                    <a:cxn ang="T11">
                      <a:pos x="T2" y="T3"/>
                    </a:cxn>
                    <a:cxn ang="T12">
                      <a:pos x="T4" y="T5"/>
                    </a:cxn>
                    <a:cxn ang="T13">
                      <a:pos x="T6" y="T7"/>
                    </a:cxn>
                    <a:cxn ang="T14">
                      <a:pos x="T8" y="T9"/>
                    </a:cxn>
                  </a:cxnLst>
                  <a:rect l="T15" t="T16" r="T17" b="T18"/>
                  <a:pathLst>
                    <a:path w="570" h="685">
                      <a:moveTo>
                        <a:pt x="0" y="0"/>
                      </a:moveTo>
                      <a:lnTo>
                        <a:pt x="0" y="364"/>
                      </a:lnTo>
                      <a:lnTo>
                        <a:pt x="570" y="685"/>
                      </a:lnTo>
                      <a:lnTo>
                        <a:pt x="570" y="320"/>
                      </a:lnTo>
                      <a:lnTo>
                        <a:pt x="0" y="0"/>
                      </a:lnTo>
                      <a:close/>
                    </a:path>
                  </a:pathLst>
                </a:custGeom>
                <a:solidFill>
                  <a:srgbClr val="8CFF00"/>
                </a:solidFill>
                <a:ln w="9525">
                  <a:noFill/>
                  <a:round/>
                  <a:headEnd/>
                  <a:tailEnd/>
                </a:ln>
              </p:spPr>
              <p:txBody>
                <a:bodyPr/>
                <a:lstStyle/>
                <a:p>
                  <a:endParaRPr lang="en-US"/>
                </a:p>
              </p:txBody>
            </p:sp>
            <p:sp>
              <p:nvSpPr>
                <p:cNvPr id="29786" name="Freeform 47"/>
                <p:cNvSpPr>
                  <a:spLocks/>
                </p:cNvSpPr>
                <p:nvPr/>
              </p:nvSpPr>
              <p:spPr bwMode="auto">
                <a:xfrm>
                  <a:off x="1549" y="3605"/>
                  <a:ext cx="11" cy="188"/>
                </a:xfrm>
                <a:custGeom>
                  <a:avLst/>
                  <a:gdLst>
                    <a:gd name="T0" fmla="*/ 1 w 22"/>
                    <a:gd name="T1" fmla="*/ 1 h 375"/>
                    <a:gd name="T2" fmla="*/ 1 w 22"/>
                    <a:gd name="T3" fmla="*/ 1 h 375"/>
                    <a:gd name="T4" fmla="*/ 1 w 22"/>
                    <a:gd name="T5" fmla="*/ 0 h 375"/>
                    <a:gd name="T6" fmla="*/ 0 w 22"/>
                    <a:gd name="T7" fmla="*/ 0 h 375"/>
                    <a:gd name="T8" fmla="*/ 0 w 22"/>
                    <a:gd name="T9" fmla="*/ 1 h 375"/>
                    <a:gd name="T10" fmla="*/ 1 w 22"/>
                    <a:gd name="T11" fmla="*/ 1 h 375"/>
                    <a:gd name="T12" fmla="*/ 0 w 22"/>
                    <a:gd name="T13" fmla="*/ 1 h 375"/>
                    <a:gd name="T14" fmla="*/ 1 w 22"/>
                    <a:gd name="T15" fmla="*/ 1 h 375"/>
                    <a:gd name="T16" fmla="*/ 1 w 22"/>
                    <a:gd name="T17" fmla="*/ 1 h 375"/>
                    <a:gd name="T18" fmla="*/ 1 w 22"/>
                    <a:gd name="T19" fmla="*/ 1 h 375"/>
                    <a:gd name="T20" fmla="*/ 1 w 22"/>
                    <a:gd name="T21" fmla="*/ 1 h 375"/>
                    <a:gd name="T22" fmla="*/ 1 w 22"/>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75"/>
                    <a:gd name="T38" fmla="*/ 22 w 22"/>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75">
                      <a:moveTo>
                        <a:pt x="15" y="355"/>
                      </a:moveTo>
                      <a:lnTo>
                        <a:pt x="22" y="364"/>
                      </a:lnTo>
                      <a:lnTo>
                        <a:pt x="22" y="0"/>
                      </a:lnTo>
                      <a:lnTo>
                        <a:pt x="0" y="0"/>
                      </a:lnTo>
                      <a:lnTo>
                        <a:pt x="0" y="364"/>
                      </a:lnTo>
                      <a:lnTo>
                        <a:pt x="6" y="374"/>
                      </a:lnTo>
                      <a:lnTo>
                        <a:pt x="0" y="364"/>
                      </a:lnTo>
                      <a:lnTo>
                        <a:pt x="3" y="372"/>
                      </a:lnTo>
                      <a:lnTo>
                        <a:pt x="11" y="375"/>
                      </a:lnTo>
                      <a:lnTo>
                        <a:pt x="18" y="372"/>
                      </a:lnTo>
                      <a:lnTo>
                        <a:pt x="22" y="364"/>
                      </a:lnTo>
                      <a:lnTo>
                        <a:pt x="15" y="355"/>
                      </a:lnTo>
                      <a:close/>
                    </a:path>
                  </a:pathLst>
                </a:custGeom>
                <a:solidFill>
                  <a:srgbClr val="000000"/>
                </a:solidFill>
                <a:ln w="9525">
                  <a:noFill/>
                  <a:round/>
                  <a:headEnd/>
                  <a:tailEnd/>
                </a:ln>
              </p:spPr>
              <p:txBody>
                <a:bodyPr/>
                <a:lstStyle/>
                <a:p>
                  <a:endParaRPr lang="en-US"/>
                </a:p>
              </p:txBody>
            </p:sp>
            <p:sp>
              <p:nvSpPr>
                <p:cNvPr id="29787" name="Freeform 48"/>
                <p:cNvSpPr>
                  <a:spLocks/>
                </p:cNvSpPr>
                <p:nvPr/>
              </p:nvSpPr>
              <p:spPr bwMode="auto">
                <a:xfrm>
                  <a:off x="1552" y="3783"/>
                  <a:ext cx="293" cy="170"/>
                </a:xfrm>
                <a:custGeom>
                  <a:avLst/>
                  <a:gdLst>
                    <a:gd name="T0" fmla="*/ 1 w 585"/>
                    <a:gd name="T1" fmla="*/ 1 h 339"/>
                    <a:gd name="T2" fmla="*/ 1 w 585"/>
                    <a:gd name="T3" fmla="*/ 1 h 339"/>
                    <a:gd name="T4" fmla="*/ 1 w 585"/>
                    <a:gd name="T5" fmla="*/ 0 h 339"/>
                    <a:gd name="T6" fmla="*/ 0 w 585"/>
                    <a:gd name="T7" fmla="*/ 1 h 339"/>
                    <a:gd name="T8" fmla="*/ 1 w 585"/>
                    <a:gd name="T9" fmla="*/ 1 h 339"/>
                    <a:gd name="T10" fmla="*/ 1 w 585"/>
                    <a:gd name="T11" fmla="*/ 1 h 339"/>
                    <a:gd name="T12" fmla="*/ 1 w 585"/>
                    <a:gd name="T13" fmla="*/ 1 h 339"/>
                    <a:gd name="T14" fmla="*/ 1 w 585"/>
                    <a:gd name="T15" fmla="*/ 1 h 339"/>
                    <a:gd name="T16" fmla="*/ 1 w 585"/>
                    <a:gd name="T17" fmla="*/ 1 h 339"/>
                    <a:gd name="T18" fmla="*/ 1 w 585"/>
                    <a:gd name="T19" fmla="*/ 1 h 339"/>
                    <a:gd name="T20" fmla="*/ 1 w 585"/>
                    <a:gd name="T21" fmla="*/ 1 h 339"/>
                    <a:gd name="T22" fmla="*/ 1 w 585"/>
                    <a:gd name="T23" fmla="*/ 1 h 3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39"/>
                    <a:gd name="T38" fmla="*/ 585 w 585"/>
                    <a:gd name="T39" fmla="*/ 339 h 3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39">
                      <a:moveTo>
                        <a:pt x="564" y="330"/>
                      </a:moveTo>
                      <a:lnTo>
                        <a:pt x="579" y="321"/>
                      </a:lnTo>
                      <a:lnTo>
                        <a:pt x="9" y="0"/>
                      </a:lnTo>
                      <a:lnTo>
                        <a:pt x="0" y="19"/>
                      </a:lnTo>
                      <a:lnTo>
                        <a:pt x="570" y="339"/>
                      </a:lnTo>
                      <a:lnTo>
                        <a:pt x="585" y="330"/>
                      </a:lnTo>
                      <a:lnTo>
                        <a:pt x="570" y="339"/>
                      </a:lnTo>
                      <a:lnTo>
                        <a:pt x="578" y="339"/>
                      </a:lnTo>
                      <a:lnTo>
                        <a:pt x="584" y="335"/>
                      </a:lnTo>
                      <a:lnTo>
                        <a:pt x="585" y="327"/>
                      </a:lnTo>
                      <a:lnTo>
                        <a:pt x="579" y="321"/>
                      </a:lnTo>
                      <a:lnTo>
                        <a:pt x="564" y="330"/>
                      </a:lnTo>
                      <a:close/>
                    </a:path>
                  </a:pathLst>
                </a:custGeom>
                <a:solidFill>
                  <a:srgbClr val="000000"/>
                </a:solidFill>
                <a:ln w="9525">
                  <a:noFill/>
                  <a:round/>
                  <a:headEnd/>
                  <a:tailEnd/>
                </a:ln>
              </p:spPr>
              <p:txBody>
                <a:bodyPr/>
                <a:lstStyle/>
                <a:p>
                  <a:endParaRPr lang="en-US"/>
                </a:p>
              </p:txBody>
            </p:sp>
            <p:sp>
              <p:nvSpPr>
                <p:cNvPr id="29788" name="Freeform 49"/>
                <p:cNvSpPr>
                  <a:spLocks/>
                </p:cNvSpPr>
                <p:nvPr/>
              </p:nvSpPr>
              <p:spPr bwMode="auto">
                <a:xfrm>
                  <a:off x="1834" y="3760"/>
                  <a:ext cx="11" cy="188"/>
                </a:xfrm>
                <a:custGeom>
                  <a:avLst/>
                  <a:gdLst>
                    <a:gd name="T0" fmla="*/ 1 w 21"/>
                    <a:gd name="T1" fmla="*/ 1 h 375"/>
                    <a:gd name="T2" fmla="*/ 0 w 21"/>
                    <a:gd name="T3" fmla="*/ 1 h 375"/>
                    <a:gd name="T4" fmla="*/ 0 w 21"/>
                    <a:gd name="T5" fmla="*/ 1 h 375"/>
                    <a:gd name="T6" fmla="*/ 1 w 21"/>
                    <a:gd name="T7" fmla="*/ 1 h 375"/>
                    <a:gd name="T8" fmla="*/ 1 w 21"/>
                    <a:gd name="T9" fmla="*/ 1 h 375"/>
                    <a:gd name="T10" fmla="*/ 1 w 21"/>
                    <a:gd name="T11" fmla="*/ 1 h 375"/>
                    <a:gd name="T12" fmla="*/ 1 w 21"/>
                    <a:gd name="T13" fmla="*/ 1 h 375"/>
                    <a:gd name="T14" fmla="*/ 1 w 21"/>
                    <a:gd name="T15" fmla="*/ 1 h 375"/>
                    <a:gd name="T16" fmla="*/ 1 w 21"/>
                    <a:gd name="T17" fmla="*/ 0 h 375"/>
                    <a:gd name="T18" fmla="*/ 1 w 21"/>
                    <a:gd name="T19" fmla="*/ 1 h 375"/>
                    <a:gd name="T20" fmla="*/ 0 w 21"/>
                    <a:gd name="T21" fmla="*/ 1 h 375"/>
                    <a:gd name="T22" fmla="*/ 1 w 21"/>
                    <a:gd name="T23" fmla="*/ 1 h 3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375"/>
                    <a:gd name="T38" fmla="*/ 21 w 21"/>
                    <a:gd name="T39" fmla="*/ 375 h 3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375">
                      <a:moveTo>
                        <a:pt x="6" y="20"/>
                      </a:moveTo>
                      <a:lnTo>
                        <a:pt x="0" y="10"/>
                      </a:lnTo>
                      <a:lnTo>
                        <a:pt x="0" y="375"/>
                      </a:lnTo>
                      <a:lnTo>
                        <a:pt x="21" y="375"/>
                      </a:lnTo>
                      <a:lnTo>
                        <a:pt x="21" y="10"/>
                      </a:lnTo>
                      <a:lnTo>
                        <a:pt x="15" y="1"/>
                      </a:lnTo>
                      <a:lnTo>
                        <a:pt x="21" y="10"/>
                      </a:lnTo>
                      <a:lnTo>
                        <a:pt x="18" y="3"/>
                      </a:lnTo>
                      <a:lnTo>
                        <a:pt x="11" y="0"/>
                      </a:lnTo>
                      <a:lnTo>
                        <a:pt x="3" y="3"/>
                      </a:lnTo>
                      <a:lnTo>
                        <a:pt x="0" y="10"/>
                      </a:lnTo>
                      <a:lnTo>
                        <a:pt x="6" y="20"/>
                      </a:lnTo>
                      <a:close/>
                    </a:path>
                  </a:pathLst>
                </a:custGeom>
                <a:solidFill>
                  <a:srgbClr val="000000"/>
                </a:solidFill>
                <a:ln w="9525">
                  <a:noFill/>
                  <a:round/>
                  <a:headEnd/>
                  <a:tailEnd/>
                </a:ln>
              </p:spPr>
              <p:txBody>
                <a:bodyPr/>
                <a:lstStyle/>
                <a:p>
                  <a:endParaRPr lang="en-US"/>
                </a:p>
              </p:txBody>
            </p:sp>
            <p:sp>
              <p:nvSpPr>
                <p:cNvPr id="29789" name="Freeform 50"/>
                <p:cNvSpPr>
                  <a:spLocks/>
                </p:cNvSpPr>
                <p:nvPr/>
              </p:nvSpPr>
              <p:spPr bwMode="auto">
                <a:xfrm>
                  <a:off x="1549" y="3601"/>
                  <a:ext cx="293" cy="169"/>
                </a:xfrm>
                <a:custGeom>
                  <a:avLst/>
                  <a:gdLst>
                    <a:gd name="T0" fmla="*/ 1 w 585"/>
                    <a:gd name="T1" fmla="*/ 0 h 340"/>
                    <a:gd name="T2" fmla="*/ 1 w 585"/>
                    <a:gd name="T3" fmla="*/ 0 h 340"/>
                    <a:gd name="T4" fmla="*/ 1 w 585"/>
                    <a:gd name="T5" fmla="*/ 0 h 340"/>
                    <a:gd name="T6" fmla="*/ 1 w 585"/>
                    <a:gd name="T7" fmla="*/ 0 h 340"/>
                    <a:gd name="T8" fmla="*/ 1 w 585"/>
                    <a:gd name="T9" fmla="*/ 0 h 340"/>
                    <a:gd name="T10" fmla="*/ 0 w 585"/>
                    <a:gd name="T11" fmla="*/ 0 h 340"/>
                    <a:gd name="T12" fmla="*/ 1 w 585"/>
                    <a:gd name="T13" fmla="*/ 0 h 340"/>
                    <a:gd name="T14" fmla="*/ 1 w 585"/>
                    <a:gd name="T15" fmla="*/ 0 h 340"/>
                    <a:gd name="T16" fmla="*/ 1 w 585"/>
                    <a:gd name="T17" fmla="*/ 0 h 340"/>
                    <a:gd name="T18" fmla="*/ 0 w 585"/>
                    <a:gd name="T19" fmla="*/ 0 h 340"/>
                    <a:gd name="T20" fmla="*/ 1 w 585"/>
                    <a:gd name="T21" fmla="*/ 0 h 340"/>
                    <a:gd name="T22" fmla="*/ 1 w 585"/>
                    <a:gd name="T23" fmla="*/ 0 h 3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5"/>
                    <a:gd name="T37" fmla="*/ 0 h 340"/>
                    <a:gd name="T38" fmla="*/ 585 w 585"/>
                    <a:gd name="T39" fmla="*/ 340 h 3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5" h="340">
                      <a:moveTo>
                        <a:pt x="22" y="10"/>
                      </a:moveTo>
                      <a:lnTo>
                        <a:pt x="6" y="19"/>
                      </a:lnTo>
                      <a:lnTo>
                        <a:pt x="576" y="340"/>
                      </a:lnTo>
                      <a:lnTo>
                        <a:pt x="585" y="321"/>
                      </a:lnTo>
                      <a:lnTo>
                        <a:pt x="15" y="0"/>
                      </a:lnTo>
                      <a:lnTo>
                        <a:pt x="0" y="10"/>
                      </a:lnTo>
                      <a:lnTo>
                        <a:pt x="15" y="0"/>
                      </a:lnTo>
                      <a:lnTo>
                        <a:pt x="7" y="0"/>
                      </a:lnTo>
                      <a:lnTo>
                        <a:pt x="1"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9790" name="Freeform 51"/>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close/>
                    </a:path>
                  </a:pathLst>
                </a:custGeom>
                <a:solidFill>
                  <a:srgbClr val="8CFF00"/>
                </a:solidFill>
                <a:ln w="9525">
                  <a:noFill/>
                  <a:round/>
                  <a:headEnd/>
                  <a:tailEnd/>
                </a:ln>
              </p:spPr>
              <p:txBody>
                <a:bodyPr/>
                <a:lstStyle/>
                <a:p>
                  <a:endParaRPr lang="en-US"/>
                </a:p>
              </p:txBody>
            </p:sp>
            <p:sp>
              <p:nvSpPr>
                <p:cNvPr id="29791" name="Freeform 52"/>
                <p:cNvSpPr>
                  <a:spLocks/>
                </p:cNvSpPr>
                <p:nvPr/>
              </p:nvSpPr>
              <p:spPr bwMode="auto">
                <a:xfrm>
                  <a:off x="1536" y="3584"/>
                  <a:ext cx="305" cy="181"/>
                </a:xfrm>
                <a:custGeom>
                  <a:avLst/>
                  <a:gdLst>
                    <a:gd name="T0" fmla="*/ 0 w 609"/>
                    <a:gd name="T1" fmla="*/ 1 h 362"/>
                    <a:gd name="T2" fmla="*/ 0 w 609"/>
                    <a:gd name="T3" fmla="*/ 0 h 362"/>
                    <a:gd name="T4" fmla="*/ 1 w 609"/>
                    <a:gd name="T5" fmla="*/ 1 h 362"/>
                    <a:gd name="T6" fmla="*/ 1 w 609"/>
                    <a:gd name="T7" fmla="*/ 1 h 362"/>
                    <a:gd name="T8" fmla="*/ 0 w 609"/>
                    <a:gd name="T9" fmla="*/ 1 h 362"/>
                    <a:gd name="T10" fmla="*/ 0 60000 65536"/>
                    <a:gd name="T11" fmla="*/ 0 60000 65536"/>
                    <a:gd name="T12" fmla="*/ 0 60000 65536"/>
                    <a:gd name="T13" fmla="*/ 0 60000 65536"/>
                    <a:gd name="T14" fmla="*/ 0 60000 65536"/>
                    <a:gd name="T15" fmla="*/ 0 w 609"/>
                    <a:gd name="T16" fmla="*/ 0 h 362"/>
                    <a:gd name="T17" fmla="*/ 609 w 609"/>
                    <a:gd name="T18" fmla="*/ 362 h 362"/>
                  </a:gdLst>
                  <a:ahLst/>
                  <a:cxnLst>
                    <a:cxn ang="T10">
                      <a:pos x="T0" y="T1"/>
                    </a:cxn>
                    <a:cxn ang="T11">
                      <a:pos x="T2" y="T3"/>
                    </a:cxn>
                    <a:cxn ang="T12">
                      <a:pos x="T4" y="T5"/>
                    </a:cxn>
                    <a:cxn ang="T13">
                      <a:pos x="T6" y="T7"/>
                    </a:cxn>
                    <a:cxn ang="T14">
                      <a:pos x="T8" y="T9"/>
                    </a:cxn>
                  </a:cxnLst>
                  <a:rect l="T15" t="T16" r="T17" b="T18"/>
                  <a:pathLst>
                    <a:path w="609" h="362">
                      <a:moveTo>
                        <a:pt x="0" y="32"/>
                      </a:moveTo>
                      <a:lnTo>
                        <a:pt x="0" y="0"/>
                      </a:lnTo>
                      <a:lnTo>
                        <a:pt x="609" y="337"/>
                      </a:lnTo>
                      <a:lnTo>
                        <a:pt x="608" y="362"/>
                      </a:lnTo>
                      <a:lnTo>
                        <a:pt x="0" y="32"/>
                      </a:lnTo>
                    </a:path>
                  </a:pathLst>
                </a:custGeom>
                <a:noFill/>
                <a:ln w="0">
                  <a:solidFill>
                    <a:srgbClr val="000000"/>
                  </a:solidFill>
                  <a:round/>
                  <a:headEnd/>
                  <a:tailEnd/>
                </a:ln>
              </p:spPr>
              <p:txBody>
                <a:bodyPr/>
                <a:lstStyle/>
                <a:p>
                  <a:endParaRPr lang="en-US"/>
                </a:p>
              </p:txBody>
            </p:sp>
            <p:sp>
              <p:nvSpPr>
                <p:cNvPr id="29792" name="Freeform 53"/>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close/>
                    </a:path>
                  </a:pathLst>
                </a:custGeom>
                <a:solidFill>
                  <a:srgbClr val="4CFF00"/>
                </a:solidFill>
                <a:ln w="9525">
                  <a:noFill/>
                  <a:round/>
                  <a:headEnd/>
                  <a:tailEnd/>
                </a:ln>
              </p:spPr>
              <p:txBody>
                <a:bodyPr/>
                <a:lstStyle/>
                <a:p>
                  <a:endParaRPr lang="en-US"/>
                </a:p>
              </p:txBody>
            </p:sp>
            <p:sp>
              <p:nvSpPr>
                <p:cNvPr id="29793" name="Freeform 54"/>
                <p:cNvSpPr>
                  <a:spLocks/>
                </p:cNvSpPr>
                <p:nvPr/>
              </p:nvSpPr>
              <p:spPr bwMode="auto">
                <a:xfrm>
                  <a:off x="1840" y="3479"/>
                  <a:ext cx="464" cy="287"/>
                </a:xfrm>
                <a:custGeom>
                  <a:avLst/>
                  <a:gdLst>
                    <a:gd name="T0" fmla="*/ 1 w 928"/>
                    <a:gd name="T1" fmla="*/ 1 h 572"/>
                    <a:gd name="T2" fmla="*/ 1 w 928"/>
                    <a:gd name="T3" fmla="*/ 0 h 572"/>
                    <a:gd name="T4" fmla="*/ 0 w 928"/>
                    <a:gd name="T5" fmla="*/ 1 h 572"/>
                    <a:gd name="T6" fmla="*/ 0 w 928"/>
                    <a:gd name="T7" fmla="*/ 1 h 572"/>
                    <a:gd name="T8" fmla="*/ 1 w 928"/>
                    <a:gd name="T9" fmla="*/ 1 h 572"/>
                    <a:gd name="T10" fmla="*/ 0 60000 65536"/>
                    <a:gd name="T11" fmla="*/ 0 60000 65536"/>
                    <a:gd name="T12" fmla="*/ 0 60000 65536"/>
                    <a:gd name="T13" fmla="*/ 0 60000 65536"/>
                    <a:gd name="T14" fmla="*/ 0 60000 65536"/>
                    <a:gd name="T15" fmla="*/ 0 w 928"/>
                    <a:gd name="T16" fmla="*/ 0 h 572"/>
                    <a:gd name="T17" fmla="*/ 928 w 928"/>
                    <a:gd name="T18" fmla="*/ 572 h 572"/>
                  </a:gdLst>
                  <a:ahLst/>
                  <a:cxnLst>
                    <a:cxn ang="T10">
                      <a:pos x="T0" y="T1"/>
                    </a:cxn>
                    <a:cxn ang="T11">
                      <a:pos x="T2" y="T3"/>
                    </a:cxn>
                    <a:cxn ang="T12">
                      <a:pos x="T4" y="T5"/>
                    </a:cxn>
                    <a:cxn ang="T13">
                      <a:pos x="T6" y="T7"/>
                    </a:cxn>
                    <a:cxn ang="T14">
                      <a:pos x="T8" y="T9"/>
                    </a:cxn>
                  </a:cxnLst>
                  <a:rect l="T15" t="T16" r="T17" b="T18"/>
                  <a:pathLst>
                    <a:path w="928" h="572">
                      <a:moveTo>
                        <a:pt x="928" y="26"/>
                      </a:moveTo>
                      <a:lnTo>
                        <a:pt x="928" y="0"/>
                      </a:lnTo>
                      <a:lnTo>
                        <a:pt x="0" y="543"/>
                      </a:lnTo>
                      <a:lnTo>
                        <a:pt x="0" y="572"/>
                      </a:lnTo>
                      <a:lnTo>
                        <a:pt x="928" y="26"/>
                      </a:lnTo>
                    </a:path>
                  </a:pathLst>
                </a:custGeom>
                <a:noFill/>
                <a:ln w="0">
                  <a:solidFill>
                    <a:srgbClr val="000000"/>
                  </a:solidFill>
                  <a:round/>
                  <a:headEnd/>
                  <a:tailEnd/>
                </a:ln>
              </p:spPr>
              <p:txBody>
                <a:bodyPr/>
                <a:lstStyle/>
                <a:p>
                  <a:endParaRPr lang="en-US"/>
                </a:p>
              </p:txBody>
            </p:sp>
            <p:sp>
              <p:nvSpPr>
                <p:cNvPr id="29794" name="Freeform 55"/>
                <p:cNvSpPr>
                  <a:spLocks/>
                </p:cNvSpPr>
                <p:nvPr/>
              </p:nvSpPr>
              <p:spPr bwMode="auto">
                <a:xfrm>
                  <a:off x="1892" y="3496"/>
                  <a:ext cx="154" cy="125"/>
                </a:xfrm>
                <a:custGeom>
                  <a:avLst/>
                  <a:gdLst>
                    <a:gd name="T0" fmla="*/ 0 w 309"/>
                    <a:gd name="T1" fmla="*/ 0 h 250"/>
                    <a:gd name="T2" fmla="*/ 0 w 309"/>
                    <a:gd name="T3" fmla="*/ 1 h 250"/>
                    <a:gd name="T4" fmla="*/ 0 w 309"/>
                    <a:gd name="T5" fmla="*/ 1 h 250"/>
                    <a:gd name="T6" fmla="*/ 0 w 309"/>
                    <a:gd name="T7" fmla="*/ 1 h 250"/>
                    <a:gd name="T8" fmla="*/ 0 w 309"/>
                    <a:gd name="T9" fmla="*/ 0 h 250"/>
                    <a:gd name="T10" fmla="*/ 0 60000 65536"/>
                    <a:gd name="T11" fmla="*/ 0 60000 65536"/>
                    <a:gd name="T12" fmla="*/ 0 60000 65536"/>
                    <a:gd name="T13" fmla="*/ 0 60000 65536"/>
                    <a:gd name="T14" fmla="*/ 0 60000 65536"/>
                    <a:gd name="T15" fmla="*/ 0 w 309"/>
                    <a:gd name="T16" fmla="*/ 0 h 250"/>
                    <a:gd name="T17" fmla="*/ 309 w 309"/>
                    <a:gd name="T18" fmla="*/ 250 h 250"/>
                  </a:gdLst>
                  <a:ahLst/>
                  <a:cxnLst>
                    <a:cxn ang="T10">
                      <a:pos x="T0" y="T1"/>
                    </a:cxn>
                    <a:cxn ang="T11">
                      <a:pos x="T2" y="T3"/>
                    </a:cxn>
                    <a:cxn ang="T12">
                      <a:pos x="T4" y="T5"/>
                    </a:cxn>
                    <a:cxn ang="T13">
                      <a:pos x="T6" y="T7"/>
                    </a:cxn>
                    <a:cxn ang="T14">
                      <a:pos x="T8" y="T9"/>
                    </a:cxn>
                  </a:cxnLst>
                  <a:rect l="T15" t="T16" r="T17" b="T18"/>
                  <a:pathLst>
                    <a:path w="309" h="250">
                      <a:moveTo>
                        <a:pt x="309" y="0"/>
                      </a:moveTo>
                      <a:lnTo>
                        <a:pt x="309" y="64"/>
                      </a:lnTo>
                      <a:lnTo>
                        <a:pt x="0" y="250"/>
                      </a:lnTo>
                      <a:lnTo>
                        <a:pt x="0" y="186"/>
                      </a:lnTo>
                      <a:lnTo>
                        <a:pt x="309" y="0"/>
                      </a:lnTo>
                      <a:close/>
                    </a:path>
                  </a:pathLst>
                </a:custGeom>
                <a:solidFill>
                  <a:srgbClr val="007FFF"/>
                </a:solidFill>
                <a:ln w="9525">
                  <a:noFill/>
                  <a:round/>
                  <a:headEnd/>
                  <a:tailEnd/>
                </a:ln>
              </p:spPr>
              <p:txBody>
                <a:bodyPr/>
                <a:lstStyle/>
                <a:p>
                  <a:endParaRPr lang="en-US"/>
                </a:p>
              </p:txBody>
            </p:sp>
            <p:sp>
              <p:nvSpPr>
                <p:cNvPr id="29795" name="Freeform 56"/>
                <p:cNvSpPr>
                  <a:spLocks/>
                </p:cNvSpPr>
                <p:nvPr/>
              </p:nvSpPr>
              <p:spPr bwMode="auto">
                <a:xfrm>
                  <a:off x="2041" y="3496"/>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7" y="73"/>
                      </a:moveTo>
                      <a:lnTo>
                        <a:pt x="22" y="64"/>
                      </a:lnTo>
                      <a:lnTo>
                        <a:pt x="22" y="0"/>
                      </a:lnTo>
                      <a:lnTo>
                        <a:pt x="0" y="0"/>
                      </a:lnTo>
                      <a:lnTo>
                        <a:pt x="0" y="64"/>
                      </a:lnTo>
                      <a:lnTo>
                        <a:pt x="5" y="54"/>
                      </a:lnTo>
                      <a:lnTo>
                        <a:pt x="0" y="64"/>
                      </a:lnTo>
                      <a:lnTo>
                        <a:pt x="3" y="72"/>
                      </a:lnTo>
                      <a:lnTo>
                        <a:pt x="11" y="75"/>
                      </a:lnTo>
                      <a:lnTo>
                        <a:pt x="19" y="72"/>
                      </a:lnTo>
                      <a:lnTo>
                        <a:pt x="22" y="64"/>
                      </a:lnTo>
                      <a:lnTo>
                        <a:pt x="17" y="73"/>
                      </a:lnTo>
                      <a:close/>
                    </a:path>
                  </a:pathLst>
                </a:custGeom>
                <a:solidFill>
                  <a:srgbClr val="000000"/>
                </a:solidFill>
                <a:ln w="9525">
                  <a:noFill/>
                  <a:round/>
                  <a:headEnd/>
                  <a:tailEnd/>
                </a:ln>
              </p:spPr>
              <p:txBody>
                <a:bodyPr/>
                <a:lstStyle/>
                <a:p>
                  <a:endParaRPr lang="en-US"/>
                </a:p>
              </p:txBody>
            </p:sp>
            <p:sp>
              <p:nvSpPr>
                <p:cNvPr id="29796" name="Freeform 57"/>
                <p:cNvSpPr>
                  <a:spLocks/>
                </p:cNvSpPr>
                <p:nvPr/>
              </p:nvSpPr>
              <p:spPr bwMode="auto">
                <a:xfrm>
                  <a:off x="1887" y="3523"/>
                  <a:ext cx="163" cy="103"/>
                </a:xfrm>
                <a:custGeom>
                  <a:avLst/>
                  <a:gdLst>
                    <a:gd name="T0" fmla="*/ 0 w 326"/>
                    <a:gd name="T1" fmla="*/ 0 h 207"/>
                    <a:gd name="T2" fmla="*/ 1 w 326"/>
                    <a:gd name="T3" fmla="*/ 0 h 207"/>
                    <a:gd name="T4" fmla="*/ 1 w 326"/>
                    <a:gd name="T5" fmla="*/ 0 h 207"/>
                    <a:gd name="T6" fmla="*/ 1 w 326"/>
                    <a:gd name="T7" fmla="*/ 0 h 207"/>
                    <a:gd name="T8" fmla="*/ 1 w 326"/>
                    <a:gd name="T9" fmla="*/ 0 h 207"/>
                    <a:gd name="T10" fmla="*/ 1 w 326"/>
                    <a:gd name="T11" fmla="*/ 0 h 207"/>
                    <a:gd name="T12" fmla="*/ 1 w 326"/>
                    <a:gd name="T13" fmla="*/ 0 h 207"/>
                    <a:gd name="T14" fmla="*/ 0 w 326"/>
                    <a:gd name="T15" fmla="*/ 0 h 207"/>
                    <a:gd name="T16" fmla="*/ 1 w 326"/>
                    <a:gd name="T17" fmla="*/ 0 h 207"/>
                    <a:gd name="T18" fmla="*/ 1 w 326"/>
                    <a:gd name="T19" fmla="*/ 0 h 207"/>
                    <a:gd name="T20" fmla="*/ 1 w 326"/>
                    <a:gd name="T21" fmla="*/ 0 h 207"/>
                    <a:gd name="T22" fmla="*/ 0 w 326"/>
                    <a:gd name="T23" fmla="*/ 0 h 20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7"/>
                    <a:gd name="T38" fmla="*/ 326 w 326"/>
                    <a:gd name="T39" fmla="*/ 207 h 20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7">
                      <a:moveTo>
                        <a:pt x="0" y="196"/>
                      </a:moveTo>
                      <a:lnTo>
                        <a:pt x="18" y="205"/>
                      </a:lnTo>
                      <a:lnTo>
                        <a:pt x="326" y="19"/>
                      </a:lnTo>
                      <a:lnTo>
                        <a:pt x="314" y="0"/>
                      </a:lnTo>
                      <a:lnTo>
                        <a:pt x="5" y="187"/>
                      </a:lnTo>
                      <a:lnTo>
                        <a:pt x="22" y="196"/>
                      </a:lnTo>
                      <a:lnTo>
                        <a:pt x="5" y="187"/>
                      </a:lnTo>
                      <a:lnTo>
                        <a:pt x="0" y="194"/>
                      </a:lnTo>
                      <a:lnTo>
                        <a:pt x="2" y="202"/>
                      </a:lnTo>
                      <a:lnTo>
                        <a:pt x="8" y="207"/>
                      </a:lnTo>
                      <a:lnTo>
                        <a:pt x="18" y="205"/>
                      </a:lnTo>
                      <a:lnTo>
                        <a:pt x="0" y="196"/>
                      </a:lnTo>
                      <a:close/>
                    </a:path>
                  </a:pathLst>
                </a:custGeom>
                <a:solidFill>
                  <a:srgbClr val="000000"/>
                </a:solidFill>
                <a:ln w="9525">
                  <a:noFill/>
                  <a:round/>
                  <a:headEnd/>
                  <a:tailEnd/>
                </a:ln>
              </p:spPr>
              <p:txBody>
                <a:bodyPr/>
                <a:lstStyle/>
                <a:p>
                  <a:endParaRPr lang="en-US"/>
                </a:p>
              </p:txBody>
            </p:sp>
            <p:sp>
              <p:nvSpPr>
                <p:cNvPr id="29797" name="Freeform 58"/>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5" y="1"/>
                      </a:moveTo>
                      <a:lnTo>
                        <a:pt x="0" y="11"/>
                      </a:lnTo>
                      <a:lnTo>
                        <a:pt x="0" y="75"/>
                      </a:lnTo>
                      <a:lnTo>
                        <a:pt x="22" y="75"/>
                      </a:lnTo>
                      <a:lnTo>
                        <a:pt x="22" y="11"/>
                      </a:lnTo>
                      <a:lnTo>
                        <a:pt x="18" y="20"/>
                      </a:lnTo>
                      <a:lnTo>
                        <a:pt x="22" y="11"/>
                      </a:lnTo>
                      <a:lnTo>
                        <a:pt x="19" y="3"/>
                      </a:lnTo>
                      <a:lnTo>
                        <a:pt x="11" y="0"/>
                      </a:lnTo>
                      <a:lnTo>
                        <a:pt x="4" y="3"/>
                      </a:lnTo>
                      <a:lnTo>
                        <a:pt x="0" y="11"/>
                      </a:lnTo>
                      <a:lnTo>
                        <a:pt x="5" y="1"/>
                      </a:lnTo>
                      <a:close/>
                    </a:path>
                  </a:pathLst>
                </a:custGeom>
                <a:solidFill>
                  <a:srgbClr val="000000"/>
                </a:solidFill>
                <a:ln w="9525">
                  <a:noFill/>
                  <a:round/>
                  <a:headEnd/>
                  <a:tailEnd/>
                </a:ln>
              </p:spPr>
              <p:txBody>
                <a:bodyPr/>
                <a:lstStyle/>
                <a:p>
                  <a:endParaRPr lang="en-US"/>
                </a:p>
              </p:txBody>
            </p:sp>
            <p:sp>
              <p:nvSpPr>
                <p:cNvPr id="29798" name="Freeform 59"/>
                <p:cNvSpPr>
                  <a:spLocks/>
                </p:cNvSpPr>
                <p:nvPr/>
              </p:nvSpPr>
              <p:spPr bwMode="auto">
                <a:xfrm>
                  <a:off x="1889" y="3490"/>
                  <a:ext cx="163" cy="104"/>
                </a:xfrm>
                <a:custGeom>
                  <a:avLst/>
                  <a:gdLst>
                    <a:gd name="T0" fmla="*/ 1 w 326"/>
                    <a:gd name="T1" fmla="*/ 1 h 206"/>
                    <a:gd name="T2" fmla="*/ 1 w 326"/>
                    <a:gd name="T3" fmla="*/ 1 h 206"/>
                    <a:gd name="T4" fmla="*/ 0 w 326"/>
                    <a:gd name="T5" fmla="*/ 1 h 206"/>
                    <a:gd name="T6" fmla="*/ 1 w 326"/>
                    <a:gd name="T7" fmla="*/ 1 h 206"/>
                    <a:gd name="T8" fmla="*/ 1 w 326"/>
                    <a:gd name="T9" fmla="*/ 1 h 206"/>
                    <a:gd name="T10" fmla="*/ 1 w 326"/>
                    <a:gd name="T11" fmla="*/ 1 h 206"/>
                    <a:gd name="T12" fmla="*/ 1 w 326"/>
                    <a:gd name="T13" fmla="*/ 1 h 206"/>
                    <a:gd name="T14" fmla="*/ 1 w 326"/>
                    <a:gd name="T15" fmla="*/ 1 h 206"/>
                    <a:gd name="T16" fmla="*/ 1 w 326"/>
                    <a:gd name="T17" fmla="*/ 1 h 206"/>
                    <a:gd name="T18" fmla="*/ 1 w 326"/>
                    <a:gd name="T19" fmla="*/ 0 h 206"/>
                    <a:gd name="T20" fmla="*/ 1 w 326"/>
                    <a:gd name="T21" fmla="*/ 1 h 206"/>
                    <a:gd name="T22" fmla="*/ 1 w 326"/>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6"/>
                    <a:gd name="T38" fmla="*/ 326 w 326"/>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6">
                      <a:moveTo>
                        <a:pt x="326" y="11"/>
                      </a:moveTo>
                      <a:lnTo>
                        <a:pt x="309" y="1"/>
                      </a:lnTo>
                      <a:lnTo>
                        <a:pt x="0" y="187"/>
                      </a:lnTo>
                      <a:lnTo>
                        <a:pt x="13" y="206"/>
                      </a:lnTo>
                      <a:lnTo>
                        <a:pt x="321" y="20"/>
                      </a:lnTo>
                      <a:lnTo>
                        <a:pt x="304" y="11"/>
                      </a:lnTo>
                      <a:lnTo>
                        <a:pt x="321" y="20"/>
                      </a:lnTo>
                      <a:lnTo>
                        <a:pt x="326" y="12"/>
                      </a:lnTo>
                      <a:lnTo>
                        <a:pt x="324" y="4"/>
                      </a:lnTo>
                      <a:lnTo>
                        <a:pt x="318" y="0"/>
                      </a:lnTo>
                      <a:lnTo>
                        <a:pt x="309" y="1"/>
                      </a:lnTo>
                      <a:lnTo>
                        <a:pt x="326" y="11"/>
                      </a:lnTo>
                      <a:close/>
                    </a:path>
                  </a:pathLst>
                </a:custGeom>
                <a:solidFill>
                  <a:srgbClr val="000000"/>
                </a:solidFill>
                <a:ln w="9525">
                  <a:noFill/>
                  <a:round/>
                  <a:headEnd/>
                  <a:tailEnd/>
                </a:ln>
              </p:spPr>
              <p:txBody>
                <a:bodyPr/>
                <a:lstStyle/>
                <a:p>
                  <a:endParaRPr lang="en-US"/>
                </a:p>
              </p:txBody>
            </p:sp>
            <p:sp>
              <p:nvSpPr>
                <p:cNvPr id="29799" name="Freeform 60"/>
                <p:cNvSpPr>
                  <a:spLocks/>
                </p:cNvSpPr>
                <p:nvPr/>
              </p:nvSpPr>
              <p:spPr bwMode="auto">
                <a:xfrm>
                  <a:off x="1765" y="3521"/>
                  <a:ext cx="127" cy="100"/>
                </a:xfrm>
                <a:custGeom>
                  <a:avLst/>
                  <a:gdLst>
                    <a:gd name="T0" fmla="*/ 0 w 255"/>
                    <a:gd name="T1" fmla="*/ 0 h 200"/>
                    <a:gd name="T2" fmla="*/ 0 w 255"/>
                    <a:gd name="T3" fmla="*/ 1 h 200"/>
                    <a:gd name="T4" fmla="*/ 0 w 255"/>
                    <a:gd name="T5" fmla="*/ 1 h 200"/>
                    <a:gd name="T6" fmla="*/ 0 w 255"/>
                    <a:gd name="T7" fmla="*/ 1 h 200"/>
                    <a:gd name="T8" fmla="*/ 0 w 255"/>
                    <a:gd name="T9" fmla="*/ 0 h 200"/>
                    <a:gd name="T10" fmla="*/ 0 60000 65536"/>
                    <a:gd name="T11" fmla="*/ 0 60000 65536"/>
                    <a:gd name="T12" fmla="*/ 0 60000 65536"/>
                    <a:gd name="T13" fmla="*/ 0 60000 65536"/>
                    <a:gd name="T14" fmla="*/ 0 60000 65536"/>
                    <a:gd name="T15" fmla="*/ 0 w 255"/>
                    <a:gd name="T16" fmla="*/ 0 h 200"/>
                    <a:gd name="T17" fmla="*/ 255 w 255"/>
                    <a:gd name="T18" fmla="*/ 200 h 200"/>
                  </a:gdLst>
                  <a:ahLst/>
                  <a:cxnLst>
                    <a:cxn ang="T10">
                      <a:pos x="T0" y="T1"/>
                    </a:cxn>
                    <a:cxn ang="T11">
                      <a:pos x="T2" y="T3"/>
                    </a:cxn>
                    <a:cxn ang="T12">
                      <a:pos x="T4" y="T5"/>
                    </a:cxn>
                    <a:cxn ang="T13">
                      <a:pos x="T6" y="T7"/>
                    </a:cxn>
                    <a:cxn ang="T14">
                      <a:pos x="T8" y="T9"/>
                    </a:cxn>
                  </a:cxnLst>
                  <a:rect l="T15" t="T16" r="T17" b="T18"/>
                  <a:pathLst>
                    <a:path w="255" h="200">
                      <a:moveTo>
                        <a:pt x="0" y="0"/>
                      </a:moveTo>
                      <a:lnTo>
                        <a:pt x="0" y="64"/>
                      </a:lnTo>
                      <a:lnTo>
                        <a:pt x="255" y="200"/>
                      </a:lnTo>
                      <a:lnTo>
                        <a:pt x="255" y="136"/>
                      </a:lnTo>
                      <a:lnTo>
                        <a:pt x="0" y="0"/>
                      </a:lnTo>
                      <a:close/>
                    </a:path>
                  </a:pathLst>
                </a:custGeom>
                <a:solidFill>
                  <a:srgbClr val="4CB2FF"/>
                </a:solidFill>
                <a:ln w="9525">
                  <a:noFill/>
                  <a:round/>
                  <a:headEnd/>
                  <a:tailEnd/>
                </a:ln>
              </p:spPr>
              <p:txBody>
                <a:bodyPr/>
                <a:lstStyle/>
                <a:p>
                  <a:endParaRPr lang="en-US"/>
                </a:p>
              </p:txBody>
            </p:sp>
            <p:sp>
              <p:nvSpPr>
                <p:cNvPr id="29800" name="Freeform 61"/>
                <p:cNvSpPr>
                  <a:spLocks/>
                </p:cNvSpPr>
                <p:nvPr/>
              </p:nvSpPr>
              <p:spPr bwMode="auto">
                <a:xfrm>
                  <a:off x="1759" y="3521"/>
                  <a:ext cx="11" cy="37"/>
                </a:xfrm>
                <a:custGeom>
                  <a:avLst/>
                  <a:gdLst>
                    <a:gd name="T0" fmla="*/ 1 w 22"/>
                    <a:gd name="T1" fmla="*/ 0 h 75"/>
                    <a:gd name="T2" fmla="*/ 1 w 22"/>
                    <a:gd name="T3" fmla="*/ 0 h 75"/>
                    <a:gd name="T4" fmla="*/ 1 w 22"/>
                    <a:gd name="T5" fmla="*/ 0 h 75"/>
                    <a:gd name="T6" fmla="*/ 0 w 22"/>
                    <a:gd name="T7" fmla="*/ 0 h 75"/>
                    <a:gd name="T8" fmla="*/ 0 w 22"/>
                    <a:gd name="T9" fmla="*/ 0 h 75"/>
                    <a:gd name="T10" fmla="*/ 1 w 22"/>
                    <a:gd name="T11" fmla="*/ 0 h 75"/>
                    <a:gd name="T12" fmla="*/ 0 w 22"/>
                    <a:gd name="T13" fmla="*/ 0 h 75"/>
                    <a:gd name="T14" fmla="*/ 1 w 22"/>
                    <a:gd name="T15" fmla="*/ 0 h 75"/>
                    <a:gd name="T16" fmla="*/ 1 w 22"/>
                    <a:gd name="T17" fmla="*/ 0 h 75"/>
                    <a:gd name="T18" fmla="*/ 1 w 22"/>
                    <a:gd name="T19" fmla="*/ 0 h 75"/>
                    <a:gd name="T20" fmla="*/ 1 w 22"/>
                    <a:gd name="T21" fmla="*/ 0 h 75"/>
                    <a:gd name="T22" fmla="*/ 1 w 22"/>
                    <a:gd name="T23" fmla="*/ 0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16" y="55"/>
                      </a:moveTo>
                      <a:lnTo>
                        <a:pt x="22" y="64"/>
                      </a:lnTo>
                      <a:lnTo>
                        <a:pt x="22" y="0"/>
                      </a:lnTo>
                      <a:lnTo>
                        <a:pt x="0" y="0"/>
                      </a:lnTo>
                      <a:lnTo>
                        <a:pt x="0" y="64"/>
                      </a:lnTo>
                      <a:lnTo>
                        <a:pt x="7" y="73"/>
                      </a:lnTo>
                      <a:lnTo>
                        <a:pt x="0" y="64"/>
                      </a:lnTo>
                      <a:lnTo>
                        <a:pt x="3" y="72"/>
                      </a:lnTo>
                      <a:lnTo>
                        <a:pt x="11" y="75"/>
                      </a:lnTo>
                      <a:lnTo>
                        <a:pt x="19" y="72"/>
                      </a:lnTo>
                      <a:lnTo>
                        <a:pt x="22" y="64"/>
                      </a:lnTo>
                      <a:lnTo>
                        <a:pt x="16" y="55"/>
                      </a:lnTo>
                      <a:close/>
                    </a:path>
                  </a:pathLst>
                </a:custGeom>
                <a:solidFill>
                  <a:srgbClr val="000000"/>
                </a:solidFill>
                <a:ln w="9525">
                  <a:noFill/>
                  <a:round/>
                  <a:headEnd/>
                  <a:tailEnd/>
                </a:ln>
              </p:spPr>
              <p:txBody>
                <a:bodyPr/>
                <a:lstStyle/>
                <a:p>
                  <a:endParaRPr lang="en-US"/>
                </a:p>
              </p:txBody>
            </p:sp>
            <p:sp>
              <p:nvSpPr>
                <p:cNvPr id="29801" name="Freeform 62"/>
                <p:cNvSpPr>
                  <a:spLocks/>
                </p:cNvSpPr>
                <p:nvPr/>
              </p:nvSpPr>
              <p:spPr bwMode="auto">
                <a:xfrm>
                  <a:off x="1762" y="3548"/>
                  <a:ext cx="136" cy="78"/>
                </a:xfrm>
                <a:custGeom>
                  <a:avLst/>
                  <a:gdLst>
                    <a:gd name="T0" fmla="*/ 1 w 270"/>
                    <a:gd name="T1" fmla="*/ 1 h 154"/>
                    <a:gd name="T2" fmla="*/ 1 w 270"/>
                    <a:gd name="T3" fmla="*/ 1 h 154"/>
                    <a:gd name="T4" fmla="*/ 1 w 270"/>
                    <a:gd name="T5" fmla="*/ 0 h 154"/>
                    <a:gd name="T6" fmla="*/ 0 w 270"/>
                    <a:gd name="T7" fmla="*/ 1 h 154"/>
                    <a:gd name="T8" fmla="*/ 1 w 270"/>
                    <a:gd name="T9" fmla="*/ 1 h 154"/>
                    <a:gd name="T10" fmla="*/ 1 w 270"/>
                    <a:gd name="T11" fmla="*/ 1 h 154"/>
                    <a:gd name="T12" fmla="*/ 1 w 270"/>
                    <a:gd name="T13" fmla="*/ 1 h 154"/>
                    <a:gd name="T14" fmla="*/ 1 w 270"/>
                    <a:gd name="T15" fmla="*/ 1 h 154"/>
                    <a:gd name="T16" fmla="*/ 1 w 270"/>
                    <a:gd name="T17" fmla="*/ 1 h 154"/>
                    <a:gd name="T18" fmla="*/ 1 w 270"/>
                    <a:gd name="T19" fmla="*/ 1 h 154"/>
                    <a:gd name="T20" fmla="*/ 1 w 270"/>
                    <a:gd name="T21" fmla="*/ 1 h 154"/>
                    <a:gd name="T22" fmla="*/ 1 w 270"/>
                    <a:gd name="T23" fmla="*/ 1 h 1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0"/>
                    <a:gd name="T37" fmla="*/ 0 h 154"/>
                    <a:gd name="T38" fmla="*/ 270 w 270"/>
                    <a:gd name="T39" fmla="*/ 154 h 1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0" h="154">
                      <a:moveTo>
                        <a:pt x="248" y="145"/>
                      </a:moveTo>
                      <a:lnTo>
                        <a:pt x="264" y="136"/>
                      </a:lnTo>
                      <a:lnTo>
                        <a:pt x="9" y="0"/>
                      </a:lnTo>
                      <a:lnTo>
                        <a:pt x="0" y="18"/>
                      </a:lnTo>
                      <a:lnTo>
                        <a:pt x="255" y="154"/>
                      </a:lnTo>
                      <a:lnTo>
                        <a:pt x="270" y="145"/>
                      </a:lnTo>
                      <a:lnTo>
                        <a:pt x="255" y="154"/>
                      </a:lnTo>
                      <a:lnTo>
                        <a:pt x="263" y="154"/>
                      </a:lnTo>
                      <a:lnTo>
                        <a:pt x="269" y="150"/>
                      </a:lnTo>
                      <a:lnTo>
                        <a:pt x="270" y="142"/>
                      </a:lnTo>
                      <a:lnTo>
                        <a:pt x="264" y="136"/>
                      </a:lnTo>
                      <a:lnTo>
                        <a:pt x="248" y="145"/>
                      </a:lnTo>
                      <a:close/>
                    </a:path>
                  </a:pathLst>
                </a:custGeom>
                <a:solidFill>
                  <a:srgbClr val="000000"/>
                </a:solidFill>
                <a:ln w="9525">
                  <a:noFill/>
                  <a:round/>
                  <a:headEnd/>
                  <a:tailEnd/>
                </a:ln>
              </p:spPr>
              <p:txBody>
                <a:bodyPr/>
                <a:lstStyle/>
                <a:p>
                  <a:endParaRPr lang="en-US"/>
                </a:p>
              </p:txBody>
            </p:sp>
            <p:sp>
              <p:nvSpPr>
                <p:cNvPr id="29802" name="Freeform 63"/>
                <p:cNvSpPr>
                  <a:spLocks/>
                </p:cNvSpPr>
                <p:nvPr/>
              </p:nvSpPr>
              <p:spPr bwMode="auto">
                <a:xfrm>
                  <a:off x="1887" y="3583"/>
                  <a:ext cx="11" cy="38"/>
                </a:xfrm>
                <a:custGeom>
                  <a:avLst/>
                  <a:gdLst>
                    <a:gd name="T0" fmla="*/ 1 w 22"/>
                    <a:gd name="T1" fmla="*/ 1 h 75"/>
                    <a:gd name="T2" fmla="*/ 0 w 22"/>
                    <a:gd name="T3" fmla="*/ 1 h 75"/>
                    <a:gd name="T4" fmla="*/ 0 w 22"/>
                    <a:gd name="T5" fmla="*/ 1 h 75"/>
                    <a:gd name="T6" fmla="*/ 1 w 22"/>
                    <a:gd name="T7" fmla="*/ 1 h 75"/>
                    <a:gd name="T8" fmla="*/ 1 w 22"/>
                    <a:gd name="T9" fmla="*/ 1 h 75"/>
                    <a:gd name="T10" fmla="*/ 1 w 22"/>
                    <a:gd name="T11" fmla="*/ 1 h 75"/>
                    <a:gd name="T12" fmla="*/ 1 w 22"/>
                    <a:gd name="T13" fmla="*/ 1 h 75"/>
                    <a:gd name="T14" fmla="*/ 1 w 22"/>
                    <a:gd name="T15" fmla="*/ 1 h 75"/>
                    <a:gd name="T16" fmla="*/ 1 w 22"/>
                    <a:gd name="T17" fmla="*/ 0 h 75"/>
                    <a:gd name="T18" fmla="*/ 1 w 22"/>
                    <a:gd name="T19" fmla="*/ 1 h 75"/>
                    <a:gd name="T20" fmla="*/ 0 w 22"/>
                    <a:gd name="T21" fmla="*/ 1 h 75"/>
                    <a:gd name="T22" fmla="*/ 1 w 22"/>
                    <a:gd name="T23" fmla="*/ 1 h 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75"/>
                    <a:gd name="T38" fmla="*/ 22 w 22"/>
                    <a:gd name="T39" fmla="*/ 75 h 7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75">
                      <a:moveTo>
                        <a:pt x="7" y="20"/>
                      </a:moveTo>
                      <a:lnTo>
                        <a:pt x="0" y="11"/>
                      </a:lnTo>
                      <a:lnTo>
                        <a:pt x="0" y="75"/>
                      </a:lnTo>
                      <a:lnTo>
                        <a:pt x="22" y="75"/>
                      </a:lnTo>
                      <a:lnTo>
                        <a:pt x="22" y="11"/>
                      </a:lnTo>
                      <a:lnTo>
                        <a:pt x="16" y="1"/>
                      </a:lnTo>
                      <a:lnTo>
                        <a:pt x="22" y="11"/>
                      </a:lnTo>
                      <a:lnTo>
                        <a:pt x="19" y="3"/>
                      </a:lnTo>
                      <a:lnTo>
                        <a:pt x="11" y="0"/>
                      </a:lnTo>
                      <a:lnTo>
                        <a:pt x="4" y="3"/>
                      </a:lnTo>
                      <a:lnTo>
                        <a:pt x="0" y="11"/>
                      </a:lnTo>
                      <a:lnTo>
                        <a:pt x="7" y="20"/>
                      </a:lnTo>
                      <a:close/>
                    </a:path>
                  </a:pathLst>
                </a:custGeom>
                <a:solidFill>
                  <a:srgbClr val="000000"/>
                </a:solidFill>
                <a:ln w="9525">
                  <a:noFill/>
                  <a:round/>
                  <a:headEnd/>
                  <a:tailEnd/>
                </a:ln>
              </p:spPr>
              <p:txBody>
                <a:bodyPr/>
                <a:lstStyle/>
                <a:p>
                  <a:endParaRPr lang="en-US"/>
                </a:p>
              </p:txBody>
            </p:sp>
            <p:sp>
              <p:nvSpPr>
                <p:cNvPr id="29803" name="Freeform 64"/>
                <p:cNvSpPr>
                  <a:spLocks/>
                </p:cNvSpPr>
                <p:nvPr/>
              </p:nvSpPr>
              <p:spPr bwMode="auto">
                <a:xfrm>
                  <a:off x="1759" y="3516"/>
                  <a:ext cx="136" cy="78"/>
                </a:xfrm>
                <a:custGeom>
                  <a:avLst/>
                  <a:gdLst>
                    <a:gd name="T0" fmla="*/ 1 w 271"/>
                    <a:gd name="T1" fmla="*/ 1 h 155"/>
                    <a:gd name="T2" fmla="*/ 1 w 271"/>
                    <a:gd name="T3" fmla="*/ 1 h 155"/>
                    <a:gd name="T4" fmla="*/ 1 w 271"/>
                    <a:gd name="T5" fmla="*/ 1 h 155"/>
                    <a:gd name="T6" fmla="*/ 1 w 271"/>
                    <a:gd name="T7" fmla="*/ 1 h 155"/>
                    <a:gd name="T8" fmla="*/ 1 w 271"/>
                    <a:gd name="T9" fmla="*/ 0 h 155"/>
                    <a:gd name="T10" fmla="*/ 0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1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22" y="10"/>
                      </a:moveTo>
                      <a:lnTo>
                        <a:pt x="7" y="19"/>
                      </a:lnTo>
                      <a:lnTo>
                        <a:pt x="262" y="155"/>
                      </a:lnTo>
                      <a:lnTo>
                        <a:pt x="271" y="136"/>
                      </a:lnTo>
                      <a:lnTo>
                        <a:pt x="16" y="0"/>
                      </a:lnTo>
                      <a:lnTo>
                        <a:pt x="0" y="10"/>
                      </a:lnTo>
                      <a:lnTo>
                        <a:pt x="16" y="0"/>
                      </a:lnTo>
                      <a:lnTo>
                        <a:pt x="8" y="0"/>
                      </a:lnTo>
                      <a:lnTo>
                        <a:pt x="2" y="5"/>
                      </a:lnTo>
                      <a:lnTo>
                        <a:pt x="0" y="13"/>
                      </a:lnTo>
                      <a:lnTo>
                        <a:pt x="7" y="19"/>
                      </a:lnTo>
                      <a:lnTo>
                        <a:pt x="22" y="10"/>
                      </a:lnTo>
                      <a:close/>
                    </a:path>
                  </a:pathLst>
                </a:custGeom>
                <a:solidFill>
                  <a:srgbClr val="000000"/>
                </a:solidFill>
                <a:ln w="9525">
                  <a:noFill/>
                  <a:round/>
                  <a:headEnd/>
                  <a:tailEnd/>
                </a:ln>
              </p:spPr>
              <p:txBody>
                <a:bodyPr/>
                <a:lstStyle/>
                <a:p>
                  <a:endParaRPr lang="en-US"/>
                </a:p>
              </p:txBody>
            </p:sp>
            <p:sp>
              <p:nvSpPr>
                <p:cNvPr id="29804" name="Freeform 65"/>
                <p:cNvSpPr>
                  <a:spLocks/>
                </p:cNvSpPr>
                <p:nvPr/>
              </p:nvSpPr>
              <p:spPr bwMode="auto">
                <a:xfrm>
                  <a:off x="1765" y="3428"/>
                  <a:ext cx="281" cy="161"/>
                </a:xfrm>
                <a:custGeom>
                  <a:avLst/>
                  <a:gdLst>
                    <a:gd name="T0" fmla="*/ 0 w 564"/>
                    <a:gd name="T1" fmla="*/ 1 h 322"/>
                    <a:gd name="T2" fmla="*/ 0 w 564"/>
                    <a:gd name="T3" fmla="*/ 0 h 322"/>
                    <a:gd name="T4" fmla="*/ 0 w 564"/>
                    <a:gd name="T5" fmla="*/ 1 h 322"/>
                    <a:gd name="T6" fmla="*/ 0 w 564"/>
                    <a:gd name="T7" fmla="*/ 1 h 322"/>
                    <a:gd name="T8" fmla="*/ 0 w 564"/>
                    <a:gd name="T9" fmla="*/ 1 h 322"/>
                    <a:gd name="T10" fmla="*/ 0 60000 65536"/>
                    <a:gd name="T11" fmla="*/ 0 60000 65536"/>
                    <a:gd name="T12" fmla="*/ 0 60000 65536"/>
                    <a:gd name="T13" fmla="*/ 0 60000 65536"/>
                    <a:gd name="T14" fmla="*/ 0 60000 65536"/>
                    <a:gd name="T15" fmla="*/ 0 w 564"/>
                    <a:gd name="T16" fmla="*/ 0 h 322"/>
                    <a:gd name="T17" fmla="*/ 564 w 564"/>
                    <a:gd name="T18" fmla="*/ 322 h 322"/>
                  </a:gdLst>
                  <a:ahLst/>
                  <a:cxnLst>
                    <a:cxn ang="T10">
                      <a:pos x="T0" y="T1"/>
                    </a:cxn>
                    <a:cxn ang="T11">
                      <a:pos x="T2" y="T3"/>
                    </a:cxn>
                    <a:cxn ang="T12">
                      <a:pos x="T4" y="T5"/>
                    </a:cxn>
                    <a:cxn ang="T13">
                      <a:pos x="T6" y="T7"/>
                    </a:cxn>
                    <a:cxn ang="T14">
                      <a:pos x="T8" y="T9"/>
                    </a:cxn>
                  </a:cxnLst>
                  <a:rect l="T15" t="T16" r="T17" b="T18"/>
                  <a:pathLst>
                    <a:path w="564" h="322">
                      <a:moveTo>
                        <a:pt x="0" y="186"/>
                      </a:moveTo>
                      <a:lnTo>
                        <a:pt x="310" y="0"/>
                      </a:lnTo>
                      <a:lnTo>
                        <a:pt x="564" y="137"/>
                      </a:lnTo>
                      <a:lnTo>
                        <a:pt x="255" y="322"/>
                      </a:lnTo>
                      <a:lnTo>
                        <a:pt x="0" y="186"/>
                      </a:lnTo>
                      <a:close/>
                    </a:path>
                  </a:pathLst>
                </a:custGeom>
                <a:solidFill>
                  <a:srgbClr val="99D8FF"/>
                </a:solidFill>
                <a:ln w="9525">
                  <a:noFill/>
                  <a:round/>
                  <a:headEnd/>
                  <a:tailEnd/>
                </a:ln>
              </p:spPr>
              <p:txBody>
                <a:bodyPr/>
                <a:lstStyle/>
                <a:p>
                  <a:endParaRPr lang="en-US"/>
                </a:p>
              </p:txBody>
            </p:sp>
            <p:sp>
              <p:nvSpPr>
                <p:cNvPr id="29805" name="Freeform 66"/>
                <p:cNvSpPr>
                  <a:spLocks/>
                </p:cNvSpPr>
                <p:nvPr/>
              </p:nvSpPr>
              <p:spPr bwMode="auto">
                <a:xfrm>
                  <a:off x="1761" y="3422"/>
                  <a:ext cx="164" cy="104"/>
                </a:xfrm>
                <a:custGeom>
                  <a:avLst/>
                  <a:gdLst>
                    <a:gd name="T0" fmla="*/ 1 w 327"/>
                    <a:gd name="T1" fmla="*/ 1 h 206"/>
                    <a:gd name="T2" fmla="*/ 1 w 327"/>
                    <a:gd name="T3" fmla="*/ 1 h 206"/>
                    <a:gd name="T4" fmla="*/ 0 w 327"/>
                    <a:gd name="T5" fmla="*/ 1 h 206"/>
                    <a:gd name="T6" fmla="*/ 1 w 327"/>
                    <a:gd name="T7" fmla="*/ 1 h 206"/>
                    <a:gd name="T8" fmla="*/ 1 w 327"/>
                    <a:gd name="T9" fmla="*/ 1 h 206"/>
                    <a:gd name="T10" fmla="*/ 1 w 327"/>
                    <a:gd name="T11" fmla="*/ 1 h 206"/>
                    <a:gd name="T12" fmla="*/ 1 w 327"/>
                    <a:gd name="T13" fmla="*/ 1 h 206"/>
                    <a:gd name="T14" fmla="*/ 1 w 327"/>
                    <a:gd name="T15" fmla="*/ 1 h 206"/>
                    <a:gd name="T16" fmla="*/ 1 w 327"/>
                    <a:gd name="T17" fmla="*/ 1 h 206"/>
                    <a:gd name="T18" fmla="*/ 1 w 327"/>
                    <a:gd name="T19" fmla="*/ 0 h 206"/>
                    <a:gd name="T20" fmla="*/ 1 w 327"/>
                    <a:gd name="T21" fmla="*/ 1 h 206"/>
                    <a:gd name="T22" fmla="*/ 1 w 327"/>
                    <a:gd name="T23" fmla="*/ 1 h 2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7"/>
                    <a:gd name="T37" fmla="*/ 0 h 206"/>
                    <a:gd name="T38" fmla="*/ 327 w 327"/>
                    <a:gd name="T39" fmla="*/ 206 h 2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7" h="206">
                      <a:moveTo>
                        <a:pt x="321" y="1"/>
                      </a:moveTo>
                      <a:lnTo>
                        <a:pt x="310" y="1"/>
                      </a:lnTo>
                      <a:lnTo>
                        <a:pt x="0" y="187"/>
                      </a:lnTo>
                      <a:lnTo>
                        <a:pt x="12" y="206"/>
                      </a:lnTo>
                      <a:lnTo>
                        <a:pt x="322" y="20"/>
                      </a:lnTo>
                      <a:lnTo>
                        <a:pt x="312" y="20"/>
                      </a:lnTo>
                      <a:lnTo>
                        <a:pt x="322" y="20"/>
                      </a:lnTo>
                      <a:lnTo>
                        <a:pt x="327" y="12"/>
                      </a:lnTo>
                      <a:lnTo>
                        <a:pt x="326" y="4"/>
                      </a:lnTo>
                      <a:lnTo>
                        <a:pt x="319" y="0"/>
                      </a:lnTo>
                      <a:lnTo>
                        <a:pt x="310" y="1"/>
                      </a:lnTo>
                      <a:lnTo>
                        <a:pt x="321" y="1"/>
                      </a:lnTo>
                      <a:close/>
                    </a:path>
                  </a:pathLst>
                </a:custGeom>
                <a:solidFill>
                  <a:srgbClr val="000000"/>
                </a:solidFill>
                <a:ln w="9525">
                  <a:noFill/>
                  <a:round/>
                  <a:headEnd/>
                  <a:tailEnd/>
                </a:ln>
              </p:spPr>
              <p:txBody>
                <a:bodyPr/>
                <a:lstStyle/>
                <a:p>
                  <a:endParaRPr lang="en-US"/>
                </a:p>
              </p:txBody>
            </p:sp>
            <p:sp>
              <p:nvSpPr>
                <p:cNvPr id="29806" name="Freeform 67"/>
                <p:cNvSpPr>
                  <a:spLocks/>
                </p:cNvSpPr>
                <p:nvPr/>
              </p:nvSpPr>
              <p:spPr bwMode="auto">
                <a:xfrm>
                  <a:off x="1917" y="3423"/>
                  <a:ext cx="135" cy="78"/>
                </a:xfrm>
                <a:custGeom>
                  <a:avLst/>
                  <a:gdLst>
                    <a:gd name="T0" fmla="*/ 1 w 269"/>
                    <a:gd name="T1" fmla="*/ 0 h 157"/>
                    <a:gd name="T2" fmla="*/ 1 w 269"/>
                    <a:gd name="T3" fmla="*/ 0 h 157"/>
                    <a:gd name="T4" fmla="*/ 1 w 269"/>
                    <a:gd name="T5" fmla="*/ 0 h 157"/>
                    <a:gd name="T6" fmla="*/ 0 w 269"/>
                    <a:gd name="T7" fmla="*/ 0 h 157"/>
                    <a:gd name="T8" fmla="*/ 1 w 269"/>
                    <a:gd name="T9" fmla="*/ 0 h 157"/>
                    <a:gd name="T10" fmla="*/ 1 w 269"/>
                    <a:gd name="T11" fmla="*/ 0 h 157"/>
                    <a:gd name="T12" fmla="*/ 1 w 269"/>
                    <a:gd name="T13" fmla="*/ 0 h 157"/>
                    <a:gd name="T14" fmla="*/ 1 w 269"/>
                    <a:gd name="T15" fmla="*/ 0 h 157"/>
                    <a:gd name="T16" fmla="*/ 1 w 269"/>
                    <a:gd name="T17" fmla="*/ 0 h 157"/>
                    <a:gd name="T18" fmla="*/ 1 w 269"/>
                    <a:gd name="T19" fmla="*/ 0 h 157"/>
                    <a:gd name="T20" fmla="*/ 1 w 269"/>
                    <a:gd name="T21" fmla="*/ 0 h 157"/>
                    <a:gd name="T22" fmla="*/ 1 w 269"/>
                    <a:gd name="T23" fmla="*/ 0 h 15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69"/>
                    <a:gd name="T37" fmla="*/ 0 h 157"/>
                    <a:gd name="T38" fmla="*/ 269 w 269"/>
                    <a:gd name="T39" fmla="*/ 157 h 15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69" h="157">
                      <a:moveTo>
                        <a:pt x="264" y="157"/>
                      </a:moveTo>
                      <a:lnTo>
                        <a:pt x="263" y="138"/>
                      </a:lnTo>
                      <a:lnTo>
                        <a:pt x="9" y="0"/>
                      </a:lnTo>
                      <a:lnTo>
                        <a:pt x="0" y="19"/>
                      </a:lnTo>
                      <a:lnTo>
                        <a:pt x="253" y="157"/>
                      </a:lnTo>
                      <a:lnTo>
                        <a:pt x="252" y="138"/>
                      </a:lnTo>
                      <a:lnTo>
                        <a:pt x="253" y="157"/>
                      </a:lnTo>
                      <a:lnTo>
                        <a:pt x="261" y="157"/>
                      </a:lnTo>
                      <a:lnTo>
                        <a:pt x="267" y="152"/>
                      </a:lnTo>
                      <a:lnTo>
                        <a:pt x="269" y="144"/>
                      </a:lnTo>
                      <a:lnTo>
                        <a:pt x="263" y="138"/>
                      </a:lnTo>
                      <a:lnTo>
                        <a:pt x="264" y="157"/>
                      </a:lnTo>
                      <a:close/>
                    </a:path>
                  </a:pathLst>
                </a:custGeom>
                <a:solidFill>
                  <a:srgbClr val="000000"/>
                </a:solidFill>
                <a:ln w="9525">
                  <a:noFill/>
                  <a:round/>
                  <a:headEnd/>
                  <a:tailEnd/>
                </a:ln>
              </p:spPr>
              <p:txBody>
                <a:bodyPr/>
                <a:lstStyle/>
                <a:p>
                  <a:endParaRPr lang="en-US"/>
                </a:p>
              </p:txBody>
            </p:sp>
            <p:sp>
              <p:nvSpPr>
                <p:cNvPr id="29807" name="Freeform 68"/>
                <p:cNvSpPr>
                  <a:spLocks/>
                </p:cNvSpPr>
                <p:nvPr/>
              </p:nvSpPr>
              <p:spPr bwMode="auto">
                <a:xfrm>
                  <a:off x="1887" y="3492"/>
                  <a:ext cx="163" cy="102"/>
                </a:xfrm>
                <a:custGeom>
                  <a:avLst/>
                  <a:gdLst>
                    <a:gd name="T0" fmla="*/ 1 w 326"/>
                    <a:gd name="T1" fmla="*/ 0 h 205"/>
                    <a:gd name="T2" fmla="*/ 1 w 326"/>
                    <a:gd name="T3" fmla="*/ 0 h 205"/>
                    <a:gd name="T4" fmla="*/ 1 w 326"/>
                    <a:gd name="T5" fmla="*/ 0 h 205"/>
                    <a:gd name="T6" fmla="*/ 1 w 326"/>
                    <a:gd name="T7" fmla="*/ 0 h 205"/>
                    <a:gd name="T8" fmla="*/ 1 w 326"/>
                    <a:gd name="T9" fmla="*/ 0 h 205"/>
                    <a:gd name="T10" fmla="*/ 1 w 326"/>
                    <a:gd name="T11" fmla="*/ 0 h 205"/>
                    <a:gd name="T12" fmla="*/ 1 w 326"/>
                    <a:gd name="T13" fmla="*/ 0 h 205"/>
                    <a:gd name="T14" fmla="*/ 0 w 326"/>
                    <a:gd name="T15" fmla="*/ 0 h 205"/>
                    <a:gd name="T16" fmla="*/ 1 w 326"/>
                    <a:gd name="T17" fmla="*/ 0 h 205"/>
                    <a:gd name="T18" fmla="*/ 1 w 326"/>
                    <a:gd name="T19" fmla="*/ 0 h 205"/>
                    <a:gd name="T20" fmla="*/ 1 w 326"/>
                    <a:gd name="T21" fmla="*/ 0 h 205"/>
                    <a:gd name="T22" fmla="*/ 1 w 326"/>
                    <a:gd name="T23" fmla="*/ 0 h 20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26"/>
                    <a:gd name="T37" fmla="*/ 0 h 205"/>
                    <a:gd name="T38" fmla="*/ 326 w 326"/>
                    <a:gd name="T39" fmla="*/ 205 h 20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26" h="205">
                      <a:moveTo>
                        <a:pt x="7" y="203"/>
                      </a:moveTo>
                      <a:lnTo>
                        <a:pt x="18" y="203"/>
                      </a:lnTo>
                      <a:lnTo>
                        <a:pt x="326" y="19"/>
                      </a:lnTo>
                      <a:lnTo>
                        <a:pt x="314" y="0"/>
                      </a:lnTo>
                      <a:lnTo>
                        <a:pt x="5" y="184"/>
                      </a:lnTo>
                      <a:lnTo>
                        <a:pt x="16" y="184"/>
                      </a:lnTo>
                      <a:lnTo>
                        <a:pt x="5" y="184"/>
                      </a:lnTo>
                      <a:lnTo>
                        <a:pt x="0" y="192"/>
                      </a:lnTo>
                      <a:lnTo>
                        <a:pt x="2" y="200"/>
                      </a:lnTo>
                      <a:lnTo>
                        <a:pt x="8" y="205"/>
                      </a:lnTo>
                      <a:lnTo>
                        <a:pt x="18" y="203"/>
                      </a:lnTo>
                      <a:lnTo>
                        <a:pt x="7" y="203"/>
                      </a:lnTo>
                      <a:close/>
                    </a:path>
                  </a:pathLst>
                </a:custGeom>
                <a:solidFill>
                  <a:srgbClr val="000000"/>
                </a:solidFill>
                <a:ln w="9525">
                  <a:noFill/>
                  <a:round/>
                  <a:headEnd/>
                  <a:tailEnd/>
                </a:ln>
              </p:spPr>
              <p:txBody>
                <a:bodyPr/>
                <a:lstStyle/>
                <a:p>
                  <a:endParaRPr lang="en-US"/>
                </a:p>
              </p:txBody>
            </p:sp>
            <p:sp>
              <p:nvSpPr>
                <p:cNvPr id="29808" name="Freeform 69"/>
                <p:cNvSpPr>
                  <a:spLocks/>
                </p:cNvSpPr>
                <p:nvPr/>
              </p:nvSpPr>
              <p:spPr bwMode="auto">
                <a:xfrm>
                  <a:off x="1759" y="3516"/>
                  <a:ext cx="136" cy="78"/>
                </a:xfrm>
                <a:custGeom>
                  <a:avLst/>
                  <a:gdLst>
                    <a:gd name="T0" fmla="*/ 1 w 271"/>
                    <a:gd name="T1" fmla="*/ 0 h 155"/>
                    <a:gd name="T2" fmla="*/ 1 w 271"/>
                    <a:gd name="T3" fmla="*/ 1 h 155"/>
                    <a:gd name="T4" fmla="*/ 1 w 271"/>
                    <a:gd name="T5" fmla="*/ 1 h 155"/>
                    <a:gd name="T6" fmla="*/ 1 w 271"/>
                    <a:gd name="T7" fmla="*/ 1 h 155"/>
                    <a:gd name="T8" fmla="*/ 1 w 271"/>
                    <a:gd name="T9" fmla="*/ 0 h 155"/>
                    <a:gd name="T10" fmla="*/ 1 w 271"/>
                    <a:gd name="T11" fmla="*/ 1 h 155"/>
                    <a:gd name="T12" fmla="*/ 1 w 271"/>
                    <a:gd name="T13" fmla="*/ 0 h 155"/>
                    <a:gd name="T14" fmla="*/ 1 w 271"/>
                    <a:gd name="T15" fmla="*/ 0 h 155"/>
                    <a:gd name="T16" fmla="*/ 1 w 271"/>
                    <a:gd name="T17" fmla="*/ 1 h 155"/>
                    <a:gd name="T18" fmla="*/ 0 w 271"/>
                    <a:gd name="T19" fmla="*/ 1 h 155"/>
                    <a:gd name="T20" fmla="*/ 1 w 271"/>
                    <a:gd name="T21" fmla="*/ 1 h 155"/>
                    <a:gd name="T22" fmla="*/ 1 w 271"/>
                    <a:gd name="T23" fmla="*/ 0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1"/>
                    <a:gd name="T37" fmla="*/ 0 h 155"/>
                    <a:gd name="T38" fmla="*/ 271 w 271"/>
                    <a:gd name="T39" fmla="*/ 155 h 1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1" h="155">
                      <a:moveTo>
                        <a:pt x="5" y="0"/>
                      </a:moveTo>
                      <a:lnTo>
                        <a:pt x="7" y="19"/>
                      </a:lnTo>
                      <a:lnTo>
                        <a:pt x="262" y="155"/>
                      </a:lnTo>
                      <a:lnTo>
                        <a:pt x="271" y="136"/>
                      </a:lnTo>
                      <a:lnTo>
                        <a:pt x="16" y="0"/>
                      </a:lnTo>
                      <a:lnTo>
                        <a:pt x="17" y="19"/>
                      </a:lnTo>
                      <a:lnTo>
                        <a:pt x="16" y="0"/>
                      </a:lnTo>
                      <a:lnTo>
                        <a:pt x="8" y="0"/>
                      </a:lnTo>
                      <a:lnTo>
                        <a:pt x="2" y="5"/>
                      </a:lnTo>
                      <a:lnTo>
                        <a:pt x="0" y="13"/>
                      </a:lnTo>
                      <a:lnTo>
                        <a:pt x="7" y="19"/>
                      </a:lnTo>
                      <a:lnTo>
                        <a:pt x="5" y="0"/>
                      </a:lnTo>
                      <a:close/>
                    </a:path>
                  </a:pathLst>
                </a:custGeom>
                <a:solidFill>
                  <a:srgbClr val="000000"/>
                </a:solidFill>
                <a:ln w="9525">
                  <a:noFill/>
                  <a:round/>
                  <a:headEnd/>
                  <a:tailEnd/>
                </a:ln>
              </p:spPr>
              <p:txBody>
                <a:bodyPr/>
                <a:lstStyle/>
                <a:p>
                  <a:endParaRPr lang="en-US"/>
                </a:p>
              </p:txBody>
            </p:sp>
            <p:sp>
              <p:nvSpPr>
                <p:cNvPr id="29809" name="Freeform 70"/>
                <p:cNvSpPr>
                  <a:spLocks/>
                </p:cNvSpPr>
                <p:nvPr/>
              </p:nvSpPr>
              <p:spPr bwMode="auto">
                <a:xfrm>
                  <a:off x="1797" y="3428"/>
                  <a:ext cx="54" cy="98"/>
                </a:xfrm>
                <a:custGeom>
                  <a:avLst/>
                  <a:gdLst>
                    <a:gd name="T0" fmla="*/ 0 w 110"/>
                    <a:gd name="T1" fmla="*/ 0 h 197"/>
                    <a:gd name="T2" fmla="*/ 0 w 110"/>
                    <a:gd name="T3" fmla="*/ 0 h 197"/>
                    <a:gd name="T4" fmla="*/ 0 w 110"/>
                    <a:gd name="T5" fmla="*/ 0 h 197"/>
                    <a:gd name="T6" fmla="*/ 0 w 110"/>
                    <a:gd name="T7" fmla="*/ 0 h 197"/>
                    <a:gd name="T8" fmla="*/ 0 w 110"/>
                    <a:gd name="T9" fmla="*/ 0 h 197"/>
                    <a:gd name="T10" fmla="*/ 0 60000 65536"/>
                    <a:gd name="T11" fmla="*/ 0 60000 65536"/>
                    <a:gd name="T12" fmla="*/ 0 60000 65536"/>
                    <a:gd name="T13" fmla="*/ 0 60000 65536"/>
                    <a:gd name="T14" fmla="*/ 0 60000 65536"/>
                    <a:gd name="T15" fmla="*/ 0 w 110"/>
                    <a:gd name="T16" fmla="*/ 0 h 197"/>
                    <a:gd name="T17" fmla="*/ 110 w 110"/>
                    <a:gd name="T18" fmla="*/ 197 h 197"/>
                  </a:gdLst>
                  <a:ahLst/>
                  <a:cxnLst>
                    <a:cxn ang="T10">
                      <a:pos x="T0" y="T1"/>
                    </a:cxn>
                    <a:cxn ang="T11">
                      <a:pos x="T2" y="T3"/>
                    </a:cxn>
                    <a:cxn ang="T12">
                      <a:pos x="T4" y="T5"/>
                    </a:cxn>
                    <a:cxn ang="T13">
                      <a:pos x="T6" y="T7"/>
                    </a:cxn>
                    <a:cxn ang="T14">
                      <a:pos x="T8" y="T9"/>
                    </a:cxn>
                  </a:cxnLst>
                  <a:rect l="T15" t="T16" r="T17" b="T18"/>
                  <a:pathLst>
                    <a:path w="110" h="197">
                      <a:moveTo>
                        <a:pt x="110" y="197"/>
                      </a:moveTo>
                      <a:lnTo>
                        <a:pt x="110" y="9"/>
                      </a:lnTo>
                      <a:lnTo>
                        <a:pt x="0" y="0"/>
                      </a:lnTo>
                      <a:lnTo>
                        <a:pt x="0" y="139"/>
                      </a:lnTo>
                      <a:lnTo>
                        <a:pt x="110" y="197"/>
                      </a:lnTo>
                      <a:close/>
                    </a:path>
                  </a:pathLst>
                </a:custGeom>
                <a:solidFill>
                  <a:srgbClr val="4CB2FF"/>
                </a:solidFill>
                <a:ln w="9525">
                  <a:noFill/>
                  <a:round/>
                  <a:headEnd/>
                  <a:tailEnd/>
                </a:ln>
              </p:spPr>
              <p:txBody>
                <a:bodyPr/>
                <a:lstStyle/>
                <a:p>
                  <a:endParaRPr lang="en-US"/>
                </a:p>
              </p:txBody>
            </p:sp>
            <p:sp>
              <p:nvSpPr>
                <p:cNvPr id="29810" name="Freeform 71"/>
                <p:cNvSpPr>
                  <a:spLocks/>
                </p:cNvSpPr>
                <p:nvPr/>
              </p:nvSpPr>
              <p:spPr bwMode="auto">
                <a:xfrm>
                  <a:off x="1846" y="3427"/>
                  <a:ext cx="11" cy="99"/>
                </a:xfrm>
                <a:custGeom>
                  <a:avLst/>
                  <a:gdLst>
                    <a:gd name="T0" fmla="*/ 1 w 22"/>
                    <a:gd name="T1" fmla="*/ 0 h 199"/>
                    <a:gd name="T2" fmla="*/ 0 w 22"/>
                    <a:gd name="T3" fmla="*/ 0 h 199"/>
                    <a:gd name="T4" fmla="*/ 0 w 22"/>
                    <a:gd name="T5" fmla="*/ 0 h 199"/>
                    <a:gd name="T6" fmla="*/ 1 w 22"/>
                    <a:gd name="T7" fmla="*/ 0 h 199"/>
                    <a:gd name="T8" fmla="*/ 1 w 22"/>
                    <a:gd name="T9" fmla="*/ 0 h 199"/>
                    <a:gd name="T10" fmla="*/ 1 w 22"/>
                    <a:gd name="T11" fmla="*/ 0 h 199"/>
                    <a:gd name="T12" fmla="*/ 1 w 22"/>
                    <a:gd name="T13" fmla="*/ 0 h 199"/>
                    <a:gd name="T14" fmla="*/ 1 w 22"/>
                    <a:gd name="T15" fmla="*/ 0 h 199"/>
                    <a:gd name="T16" fmla="*/ 1 w 22"/>
                    <a:gd name="T17" fmla="*/ 0 h 199"/>
                    <a:gd name="T18" fmla="*/ 1 w 22"/>
                    <a:gd name="T19" fmla="*/ 0 h 199"/>
                    <a:gd name="T20" fmla="*/ 0 w 22"/>
                    <a:gd name="T21" fmla="*/ 0 h 199"/>
                    <a:gd name="T22" fmla="*/ 1 w 22"/>
                    <a:gd name="T23" fmla="*/ 0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99"/>
                    <a:gd name="T38" fmla="*/ 22 w 22"/>
                    <a:gd name="T39" fmla="*/ 199 h 1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99">
                      <a:moveTo>
                        <a:pt x="9" y="22"/>
                      </a:moveTo>
                      <a:lnTo>
                        <a:pt x="0" y="11"/>
                      </a:lnTo>
                      <a:lnTo>
                        <a:pt x="0" y="199"/>
                      </a:lnTo>
                      <a:lnTo>
                        <a:pt x="22" y="199"/>
                      </a:lnTo>
                      <a:lnTo>
                        <a:pt x="22" y="11"/>
                      </a:lnTo>
                      <a:lnTo>
                        <a:pt x="13" y="0"/>
                      </a:lnTo>
                      <a:lnTo>
                        <a:pt x="22" y="11"/>
                      </a:lnTo>
                      <a:lnTo>
                        <a:pt x="19" y="3"/>
                      </a:lnTo>
                      <a:lnTo>
                        <a:pt x="11" y="0"/>
                      </a:lnTo>
                      <a:lnTo>
                        <a:pt x="3" y="3"/>
                      </a:lnTo>
                      <a:lnTo>
                        <a:pt x="0" y="11"/>
                      </a:lnTo>
                      <a:lnTo>
                        <a:pt x="9" y="22"/>
                      </a:lnTo>
                      <a:close/>
                    </a:path>
                  </a:pathLst>
                </a:custGeom>
                <a:solidFill>
                  <a:srgbClr val="000000"/>
                </a:solidFill>
                <a:ln w="9525">
                  <a:noFill/>
                  <a:round/>
                  <a:headEnd/>
                  <a:tailEnd/>
                </a:ln>
              </p:spPr>
              <p:txBody>
                <a:bodyPr/>
                <a:lstStyle/>
                <a:p>
                  <a:endParaRPr lang="en-US"/>
                </a:p>
              </p:txBody>
            </p:sp>
            <p:sp>
              <p:nvSpPr>
                <p:cNvPr id="29811" name="Freeform 72"/>
                <p:cNvSpPr>
                  <a:spLocks/>
                </p:cNvSpPr>
                <p:nvPr/>
              </p:nvSpPr>
              <p:spPr bwMode="auto">
                <a:xfrm>
                  <a:off x="1791" y="3422"/>
                  <a:ext cx="61" cy="16"/>
                </a:xfrm>
                <a:custGeom>
                  <a:avLst/>
                  <a:gdLst>
                    <a:gd name="T0" fmla="*/ 0 w 123"/>
                    <a:gd name="T1" fmla="*/ 1 h 31"/>
                    <a:gd name="T2" fmla="*/ 0 w 123"/>
                    <a:gd name="T3" fmla="*/ 1 h 31"/>
                    <a:gd name="T4" fmla="*/ 0 w 123"/>
                    <a:gd name="T5" fmla="*/ 1 h 31"/>
                    <a:gd name="T6" fmla="*/ 0 w 123"/>
                    <a:gd name="T7" fmla="*/ 1 h 31"/>
                    <a:gd name="T8" fmla="*/ 0 w 123"/>
                    <a:gd name="T9" fmla="*/ 0 h 31"/>
                    <a:gd name="T10" fmla="*/ 0 w 123"/>
                    <a:gd name="T11" fmla="*/ 1 h 31"/>
                    <a:gd name="T12" fmla="*/ 0 w 123"/>
                    <a:gd name="T13" fmla="*/ 0 h 31"/>
                    <a:gd name="T14" fmla="*/ 0 w 123"/>
                    <a:gd name="T15" fmla="*/ 1 h 31"/>
                    <a:gd name="T16" fmla="*/ 0 w 123"/>
                    <a:gd name="T17" fmla="*/ 1 h 31"/>
                    <a:gd name="T18" fmla="*/ 0 w 123"/>
                    <a:gd name="T19" fmla="*/ 1 h 31"/>
                    <a:gd name="T20" fmla="*/ 0 w 123"/>
                    <a:gd name="T21" fmla="*/ 1 h 31"/>
                    <a:gd name="T22" fmla="*/ 0 w 123"/>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3"/>
                    <a:gd name="T37" fmla="*/ 0 h 31"/>
                    <a:gd name="T38" fmla="*/ 123 w 123"/>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3" h="31">
                      <a:moveTo>
                        <a:pt x="22" y="11"/>
                      </a:moveTo>
                      <a:lnTo>
                        <a:pt x="10" y="22"/>
                      </a:lnTo>
                      <a:lnTo>
                        <a:pt x="119" y="31"/>
                      </a:lnTo>
                      <a:lnTo>
                        <a:pt x="123" y="9"/>
                      </a:lnTo>
                      <a:lnTo>
                        <a:pt x="13" y="0"/>
                      </a:lnTo>
                      <a:lnTo>
                        <a:pt x="0" y="11"/>
                      </a:lnTo>
                      <a:lnTo>
                        <a:pt x="13" y="0"/>
                      </a:lnTo>
                      <a:lnTo>
                        <a:pt x="5" y="3"/>
                      </a:lnTo>
                      <a:lnTo>
                        <a:pt x="0" y="9"/>
                      </a:lnTo>
                      <a:lnTo>
                        <a:pt x="2" y="17"/>
                      </a:lnTo>
                      <a:lnTo>
                        <a:pt x="10" y="22"/>
                      </a:lnTo>
                      <a:lnTo>
                        <a:pt x="22" y="11"/>
                      </a:lnTo>
                      <a:close/>
                    </a:path>
                  </a:pathLst>
                </a:custGeom>
                <a:solidFill>
                  <a:srgbClr val="000000"/>
                </a:solidFill>
                <a:ln w="9525">
                  <a:noFill/>
                  <a:round/>
                  <a:headEnd/>
                  <a:tailEnd/>
                </a:ln>
              </p:spPr>
              <p:txBody>
                <a:bodyPr/>
                <a:lstStyle/>
                <a:p>
                  <a:endParaRPr lang="en-US"/>
                </a:p>
              </p:txBody>
            </p:sp>
            <p:sp>
              <p:nvSpPr>
                <p:cNvPr id="29812" name="Freeform 73"/>
                <p:cNvSpPr>
                  <a:spLocks/>
                </p:cNvSpPr>
                <p:nvPr/>
              </p:nvSpPr>
              <p:spPr bwMode="auto">
                <a:xfrm>
                  <a:off x="1791" y="3428"/>
                  <a:ext cx="11" cy="75"/>
                </a:xfrm>
                <a:custGeom>
                  <a:avLst/>
                  <a:gdLst>
                    <a:gd name="T0" fmla="*/ 1 w 22"/>
                    <a:gd name="T1" fmla="*/ 1 h 150"/>
                    <a:gd name="T2" fmla="*/ 1 w 22"/>
                    <a:gd name="T3" fmla="*/ 1 h 150"/>
                    <a:gd name="T4" fmla="*/ 1 w 22"/>
                    <a:gd name="T5" fmla="*/ 0 h 150"/>
                    <a:gd name="T6" fmla="*/ 0 w 22"/>
                    <a:gd name="T7" fmla="*/ 0 h 150"/>
                    <a:gd name="T8" fmla="*/ 0 w 22"/>
                    <a:gd name="T9" fmla="*/ 1 h 150"/>
                    <a:gd name="T10" fmla="*/ 1 w 22"/>
                    <a:gd name="T11" fmla="*/ 1 h 150"/>
                    <a:gd name="T12" fmla="*/ 0 w 22"/>
                    <a:gd name="T13" fmla="*/ 1 h 150"/>
                    <a:gd name="T14" fmla="*/ 1 w 22"/>
                    <a:gd name="T15" fmla="*/ 1 h 150"/>
                    <a:gd name="T16" fmla="*/ 1 w 22"/>
                    <a:gd name="T17" fmla="*/ 1 h 150"/>
                    <a:gd name="T18" fmla="*/ 1 w 22"/>
                    <a:gd name="T19" fmla="*/ 1 h 150"/>
                    <a:gd name="T20" fmla="*/ 1 w 22"/>
                    <a:gd name="T21" fmla="*/ 1 h 150"/>
                    <a:gd name="T22" fmla="*/ 1 w 22"/>
                    <a:gd name="T23" fmla="*/ 1 h 15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50"/>
                    <a:gd name="T38" fmla="*/ 22 w 22"/>
                    <a:gd name="T39" fmla="*/ 150 h 15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50">
                      <a:moveTo>
                        <a:pt x="16" y="129"/>
                      </a:moveTo>
                      <a:lnTo>
                        <a:pt x="22" y="139"/>
                      </a:lnTo>
                      <a:lnTo>
                        <a:pt x="22" y="0"/>
                      </a:lnTo>
                      <a:lnTo>
                        <a:pt x="0" y="0"/>
                      </a:lnTo>
                      <a:lnTo>
                        <a:pt x="0" y="139"/>
                      </a:lnTo>
                      <a:lnTo>
                        <a:pt x="7" y="148"/>
                      </a:lnTo>
                      <a:lnTo>
                        <a:pt x="0" y="139"/>
                      </a:lnTo>
                      <a:lnTo>
                        <a:pt x="4" y="147"/>
                      </a:lnTo>
                      <a:lnTo>
                        <a:pt x="11" y="150"/>
                      </a:lnTo>
                      <a:lnTo>
                        <a:pt x="19" y="147"/>
                      </a:lnTo>
                      <a:lnTo>
                        <a:pt x="22" y="139"/>
                      </a:lnTo>
                      <a:lnTo>
                        <a:pt x="16" y="129"/>
                      </a:lnTo>
                      <a:close/>
                    </a:path>
                  </a:pathLst>
                </a:custGeom>
                <a:solidFill>
                  <a:srgbClr val="000000"/>
                </a:solidFill>
                <a:ln w="9525">
                  <a:noFill/>
                  <a:round/>
                  <a:headEnd/>
                  <a:tailEnd/>
                </a:ln>
              </p:spPr>
              <p:txBody>
                <a:bodyPr/>
                <a:lstStyle/>
                <a:p>
                  <a:endParaRPr lang="en-US"/>
                </a:p>
              </p:txBody>
            </p:sp>
            <p:sp>
              <p:nvSpPr>
                <p:cNvPr id="29813" name="Freeform 74"/>
                <p:cNvSpPr>
                  <a:spLocks/>
                </p:cNvSpPr>
                <p:nvPr/>
              </p:nvSpPr>
              <p:spPr bwMode="auto">
                <a:xfrm>
                  <a:off x="1794" y="3493"/>
                  <a:ext cx="63" cy="38"/>
                </a:xfrm>
                <a:custGeom>
                  <a:avLst/>
                  <a:gdLst>
                    <a:gd name="T0" fmla="*/ 1 w 125"/>
                    <a:gd name="T1" fmla="*/ 0 h 77"/>
                    <a:gd name="T2" fmla="*/ 1 w 125"/>
                    <a:gd name="T3" fmla="*/ 0 h 77"/>
                    <a:gd name="T4" fmla="*/ 1 w 125"/>
                    <a:gd name="T5" fmla="*/ 0 h 77"/>
                    <a:gd name="T6" fmla="*/ 0 w 125"/>
                    <a:gd name="T7" fmla="*/ 0 h 77"/>
                    <a:gd name="T8" fmla="*/ 1 w 125"/>
                    <a:gd name="T9" fmla="*/ 0 h 77"/>
                    <a:gd name="T10" fmla="*/ 1 w 125"/>
                    <a:gd name="T11" fmla="*/ 0 h 77"/>
                    <a:gd name="T12" fmla="*/ 1 w 125"/>
                    <a:gd name="T13" fmla="*/ 0 h 77"/>
                    <a:gd name="T14" fmla="*/ 1 w 125"/>
                    <a:gd name="T15" fmla="*/ 0 h 77"/>
                    <a:gd name="T16" fmla="*/ 1 w 125"/>
                    <a:gd name="T17" fmla="*/ 0 h 77"/>
                    <a:gd name="T18" fmla="*/ 1 w 125"/>
                    <a:gd name="T19" fmla="*/ 0 h 77"/>
                    <a:gd name="T20" fmla="*/ 1 w 125"/>
                    <a:gd name="T21" fmla="*/ 0 h 77"/>
                    <a:gd name="T22" fmla="*/ 1 w 125"/>
                    <a:gd name="T23" fmla="*/ 0 h 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5"/>
                    <a:gd name="T37" fmla="*/ 0 h 77"/>
                    <a:gd name="T38" fmla="*/ 125 w 125"/>
                    <a:gd name="T39" fmla="*/ 77 h 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5" h="77">
                      <a:moveTo>
                        <a:pt x="103" y="68"/>
                      </a:moveTo>
                      <a:lnTo>
                        <a:pt x="119" y="58"/>
                      </a:lnTo>
                      <a:lnTo>
                        <a:pt x="9" y="0"/>
                      </a:lnTo>
                      <a:lnTo>
                        <a:pt x="0" y="19"/>
                      </a:lnTo>
                      <a:lnTo>
                        <a:pt x="109" y="77"/>
                      </a:lnTo>
                      <a:lnTo>
                        <a:pt x="125" y="68"/>
                      </a:lnTo>
                      <a:lnTo>
                        <a:pt x="109" y="77"/>
                      </a:lnTo>
                      <a:lnTo>
                        <a:pt x="117" y="77"/>
                      </a:lnTo>
                      <a:lnTo>
                        <a:pt x="123" y="72"/>
                      </a:lnTo>
                      <a:lnTo>
                        <a:pt x="125" y="65"/>
                      </a:lnTo>
                      <a:lnTo>
                        <a:pt x="119" y="58"/>
                      </a:lnTo>
                      <a:lnTo>
                        <a:pt x="103" y="68"/>
                      </a:lnTo>
                      <a:close/>
                    </a:path>
                  </a:pathLst>
                </a:custGeom>
                <a:solidFill>
                  <a:srgbClr val="000000"/>
                </a:solidFill>
                <a:ln w="9525">
                  <a:noFill/>
                  <a:round/>
                  <a:headEnd/>
                  <a:tailEnd/>
                </a:ln>
              </p:spPr>
              <p:txBody>
                <a:bodyPr/>
                <a:lstStyle/>
                <a:p>
                  <a:endParaRPr lang="en-US"/>
                </a:p>
              </p:txBody>
            </p:sp>
            <p:sp>
              <p:nvSpPr>
                <p:cNvPr id="29814" name="Freeform 75"/>
                <p:cNvSpPr>
                  <a:spLocks/>
                </p:cNvSpPr>
                <p:nvPr/>
              </p:nvSpPr>
              <p:spPr bwMode="auto">
                <a:xfrm>
                  <a:off x="1947" y="3542"/>
                  <a:ext cx="40" cy="31"/>
                </a:xfrm>
                <a:custGeom>
                  <a:avLst/>
                  <a:gdLst>
                    <a:gd name="T0" fmla="*/ 1 w 80"/>
                    <a:gd name="T1" fmla="*/ 1 h 61"/>
                    <a:gd name="T2" fmla="*/ 1 w 80"/>
                    <a:gd name="T3" fmla="*/ 0 h 61"/>
                    <a:gd name="T4" fmla="*/ 0 w 80"/>
                    <a:gd name="T5" fmla="*/ 1 h 61"/>
                    <a:gd name="T6" fmla="*/ 0 w 80"/>
                    <a:gd name="T7" fmla="*/ 1 h 61"/>
                    <a:gd name="T8" fmla="*/ 1 w 80"/>
                    <a:gd name="T9" fmla="*/ 1 h 61"/>
                    <a:gd name="T10" fmla="*/ 0 60000 65536"/>
                    <a:gd name="T11" fmla="*/ 0 60000 65536"/>
                    <a:gd name="T12" fmla="*/ 0 60000 65536"/>
                    <a:gd name="T13" fmla="*/ 0 60000 65536"/>
                    <a:gd name="T14" fmla="*/ 0 60000 65536"/>
                    <a:gd name="T15" fmla="*/ 0 w 80"/>
                    <a:gd name="T16" fmla="*/ 0 h 61"/>
                    <a:gd name="T17" fmla="*/ 80 w 80"/>
                    <a:gd name="T18" fmla="*/ 61 h 61"/>
                  </a:gdLst>
                  <a:ahLst/>
                  <a:cxnLst>
                    <a:cxn ang="T10">
                      <a:pos x="T0" y="T1"/>
                    </a:cxn>
                    <a:cxn ang="T11">
                      <a:pos x="T2" y="T3"/>
                    </a:cxn>
                    <a:cxn ang="T12">
                      <a:pos x="T4" y="T5"/>
                    </a:cxn>
                    <a:cxn ang="T13">
                      <a:pos x="T6" y="T7"/>
                    </a:cxn>
                    <a:cxn ang="T14">
                      <a:pos x="T8" y="T9"/>
                    </a:cxn>
                  </a:cxnLst>
                  <a:rect l="T15" t="T16" r="T17" b="T18"/>
                  <a:pathLst>
                    <a:path w="80" h="61">
                      <a:moveTo>
                        <a:pt x="80" y="13"/>
                      </a:moveTo>
                      <a:lnTo>
                        <a:pt x="80" y="0"/>
                      </a:lnTo>
                      <a:lnTo>
                        <a:pt x="0" y="50"/>
                      </a:lnTo>
                      <a:lnTo>
                        <a:pt x="0" y="61"/>
                      </a:lnTo>
                      <a:lnTo>
                        <a:pt x="80" y="13"/>
                      </a:lnTo>
                    </a:path>
                  </a:pathLst>
                </a:custGeom>
                <a:noFill/>
                <a:ln w="0">
                  <a:solidFill>
                    <a:srgbClr val="000000"/>
                  </a:solidFill>
                  <a:round/>
                  <a:headEnd/>
                  <a:tailEnd/>
                </a:ln>
              </p:spPr>
              <p:txBody>
                <a:bodyPr/>
                <a:lstStyle/>
                <a:p>
                  <a:endParaRPr lang="en-US"/>
                </a:p>
              </p:txBody>
            </p:sp>
            <p:sp>
              <p:nvSpPr>
                <p:cNvPr id="29815" name="Freeform 76"/>
                <p:cNvSpPr>
                  <a:spLocks/>
                </p:cNvSpPr>
                <p:nvPr/>
              </p:nvSpPr>
              <p:spPr bwMode="auto">
                <a:xfrm>
                  <a:off x="1995" y="3523"/>
                  <a:ext cx="11" cy="32"/>
                </a:xfrm>
                <a:custGeom>
                  <a:avLst/>
                  <a:gdLst>
                    <a:gd name="T0" fmla="*/ 1 w 21"/>
                    <a:gd name="T1" fmla="*/ 0 h 65"/>
                    <a:gd name="T2" fmla="*/ 1 w 21"/>
                    <a:gd name="T3" fmla="*/ 0 h 65"/>
                    <a:gd name="T4" fmla="*/ 1 w 21"/>
                    <a:gd name="T5" fmla="*/ 0 h 65"/>
                    <a:gd name="T6" fmla="*/ 0 w 21"/>
                    <a:gd name="T7" fmla="*/ 0 h 65"/>
                    <a:gd name="T8" fmla="*/ 0 w 21"/>
                    <a:gd name="T9" fmla="*/ 0 h 65"/>
                    <a:gd name="T10" fmla="*/ 1 w 21"/>
                    <a:gd name="T11" fmla="*/ 0 h 65"/>
                    <a:gd name="T12" fmla="*/ 0 60000 65536"/>
                    <a:gd name="T13" fmla="*/ 0 60000 65536"/>
                    <a:gd name="T14" fmla="*/ 0 60000 65536"/>
                    <a:gd name="T15" fmla="*/ 0 60000 65536"/>
                    <a:gd name="T16" fmla="*/ 0 60000 65536"/>
                    <a:gd name="T17" fmla="*/ 0 60000 65536"/>
                    <a:gd name="T18" fmla="*/ 0 w 21"/>
                    <a:gd name="T19" fmla="*/ 0 h 65"/>
                    <a:gd name="T20" fmla="*/ 21 w 21"/>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21" h="65">
                      <a:moveTo>
                        <a:pt x="10" y="65"/>
                      </a:moveTo>
                      <a:lnTo>
                        <a:pt x="21" y="65"/>
                      </a:lnTo>
                      <a:lnTo>
                        <a:pt x="21" y="0"/>
                      </a:lnTo>
                      <a:lnTo>
                        <a:pt x="0" y="0"/>
                      </a:lnTo>
                      <a:lnTo>
                        <a:pt x="0" y="65"/>
                      </a:lnTo>
                      <a:lnTo>
                        <a:pt x="10" y="65"/>
                      </a:lnTo>
                      <a:close/>
                    </a:path>
                  </a:pathLst>
                </a:custGeom>
                <a:solidFill>
                  <a:srgbClr val="000000"/>
                </a:solidFill>
                <a:ln w="9525">
                  <a:noFill/>
                  <a:round/>
                  <a:headEnd/>
                  <a:tailEnd/>
                </a:ln>
              </p:spPr>
              <p:txBody>
                <a:bodyPr/>
                <a:lstStyle/>
                <a:p>
                  <a:endParaRPr lang="en-US"/>
                </a:p>
              </p:txBody>
            </p:sp>
            <p:sp>
              <p:nvSpPr>
                <p:cNvPr id="29816" name="Freeform 77"/>
                <p:cNvSpPr>
                  <a:spLocks/>
                </p:cNvSpPr>
                <p:nvPr/>
              </p:nvSpPr>
              <p:spPr bwMode="auto">
                <a:xfrm>
                  <a:off x="1952" y="3561"/>
                  <a:ext cx="145" cy="93"/>
                </a:xfrm>
                <a:custGeom>
                  <a:avLst/>
                  <a:gdLst>
                    <a:gd name="T0" fmla="*/ 0 w 292"/>
                    <a:gd name="T1" fmla="*/ 1 h 186"/>
                    <a:gd name="T2" fmla="*/ 0 w 292"/>
                    <a:gd name="T3" fmla="*/ 0 h 186"/>
                    <a:gd name="T4" fmla="*/ 0 w 292"/>
                    <a:gd name="T5" fmla="*/ 1 h 186"/>
                    <a:gd name="T6" fmla="*/ 0 w 292"/>
                    <a:gd name="T7" fmla="*/ 1 h 186"/>
                    <a:gd name="T8" fmla="*/ 0 w 292"/>
                    <a:gd name="T9" fmla="*/ 1 h 186"/>
                    <a:gd name="T10" fmla="*/ 0 60000 65536"/>
                    <a:gd name="T11" fmla="*/ 0 60000 65536"/>
                    <a:gd name="T12" fmla="*/ 0 60000 65536"/>
                    <a:gd name="T13" fmla="*/ 0 60000 65536"/>
                    <a:gd name="T14" fmla="*/ 0 60000 65536"/>
                    <a:gd name="T15" fmla="*/ 0 w 292"/>
                    <a:gd name="T16" fmla="*/ 0 h 186"/>
                    <a:gd name="T17" fmla="*/ 292 w 292"/>
                    <a:gd name="T18" fmla="*/ 186 h 186"/>
                  </a:gdLst>
                  <a:ahLst/>
                  <a:cxnLst>
                    <a:cxn ang="T10">
                      <a:pos x="T0" y="T1"/>
                    </a:cxn>
                    <a:cxn ang="T11">
                      <a:pos x="T2" y="T3"/>
                    </a:cxn>
                    <a:cxn ang="T12">
                      <a:pos x="T4" y="T5"/>
                    </a:cxn>
                    <a:cxn ang="T13">
                      <a:pos x="T6" y="T7"/>
                    </a:cxn>
                    <a:cxn ang="T14">
                      <a:pos x="T8" y="T9"/>
                    </a:cxn>
                  </a:cxnLst>
                  <a:rect l="T15" t="T16" r="T17" b="T18"/>
                  <a:pathLst>
                    <a:path w="292" h="186">
                      <a:moveTo>
                        <a:pt x="292" y="20"/>
                      </a:moveTo>
                      <a:lnTo>
                        <a:pt x="292" y="0"/>
                      </a:lnTo>
                      <a:lnTo>
                        <a:pt x="0" y="165"/>
                      </a:lnTo>
                      <a:lnTo>
                        <a:pt x="0" y="186"/>
                      </a:lnTo>
                      <a:lnTo>
                        <a:pt x="292" y="20"/>
                      </a:lnTo>
                      <a:close/>
                    </a:path>
                  </a:pathLst>
                </a:custGeom>
                <a:solidFill>
                  <a:srgbClr val="007FFF"/>
                </a:solidFill>
                <a:ln w="9525">
                  <a:noFill/>
                  <a:round/>
                  <a:headEnd/>
                  <a:tailEnd/>
                </a:ln>
              </p:spPr>
              <p:txBody>
                <a:bodyPr/>
                <a:lstStyle/>
                <a:p>
                  <a:endParaRPr lang="en-US"/>
                </a:p>
              </p:txBody>
            </p:sp>
            <p:sp>
              <p:nvSpPr>
                <p:cNvPr id="29817" name="Freeform 78"/>
                <p:cNvSpPr>
                  <a:spLocks/>
                </p:cNvSpPr>
                <p:nvPr/>
              </p:nvSpPr>
              <p:spPr bwMode="auto">
                <a:xfrm>
                  <a:off x="2093" y="3557"/>
                  <a:ext cx="8" cy="14"/>
                </a:xfrm>
                <a:custGeom>
                  <a:avLst/>
                  <a:gdLst>
                    <a:gd name="T0" fmla="*/ 1 w 15"/>
                    <a:gd name="T1" fmla="*/ 1 h 28"/>
                    <a:gd name="T2" fmla="*/ 0 w 15"/>
                    <a:gd name="T3" fmla="*/ 1 h 28"/>
                    <a:gd name="T4" fmla="*/ 0 w 15"/>
                    <a:gd name="T5" fmla="*/ 1 h 28"/>
                    <a:gd name="T6" fmla="*/ 1 w 15"/>
                    <a:gd name="T7" fmla="*/ 1 h 28"/>
                    <a:gd name="T8" fmla="*/ 1 w 15"/>
                    <a:gd name="T9" fmla="*/ 1 h 28"/>
                    <a:gd name="T10" fmla="*/ 1 w 15"/>
                    <a:gd name="T11" fmla="*/ 1 h 28"/>
                    <a:gd name="T12" fmla="*/ 1 w 15"/>
                    <a:gd name="T13" fmla="*/ 1 h 28"/>
                    <a:gd name="T14" fmla="*/ 1 w 15"/>
                    <a:gd name="T15" fmla="*/ 1 h 28"/>
                    <a:gd name="T16" fmla="*/ 1 w 15"/>
                    <a:gd name="T17" fmla="*/ 0 h 28"/>
                    <a:gd name="T18" fmla="*/ 1 w 15"/>
                    <a:gd name="T19" fmla="*/ 1 h 28"/>
                    <a:gd name="T20" fmla="*/ 0 w 15"/>
                    <a:gd name="T21" fmla="*/ 1 h 28"/>
                    <a:gd name="T22" fmla="*/ 1 w 15"/>
                    <a:gd name="T23" fmla="*/ 1 h 2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8"/>
                    <a:gd name="T38" fmla="*/ 15 w 15"/>
                    <a:gd name="T39" fmla="*/ 28 h 2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8">
                      <a:moveTo>
                        <a:pt x="11" y="14"/>
                      </a:moveTo>
                      <a:lnTo>
                        <a:pt x="0" y="8"/>
                      </a:lnTo>
                      <a:lnTo>
                        <a:pt x="0" y="28"/>
                      </a:lnTo>
                      <a:lnTo>
                        <a:pt x="15" y="28"/>
                      </a:lnTo>
                      <a:lnTo>
                        <a:pt x="15" y="8"/>
                      </a:lnTo>
                      <a:lnTo>
                        <a:pt x="5" y="1"/>
                      </a:lnTo>
                      <a:lnTo>
                        <a:pt x="15" y="8"/>
                      </a:lnTo>
                      <a:lnTo>
                        <a:pt x="12" y="3"/>
                      </a:lnTo>
                      <a:lnTo>
                        <a:pt x="8" y="0"/>
                      </a:lnTo>
                      <a:lnTo>
                        <a:pt x="3" y="3"/>
                      </a:lnTo>
                      <a:lnTo>
                        <a:pt x="0" y="8"/>
                      </a:lnTo>
                      <a:lnTo>
                        <a:pt x="11" y="14"/>
                      </a:lnTo>
                      <a:close/>
                    </a:path>
                  </a:pathLst>
                </a:custGeom>
                <a:solidFill>
                  <a:srgbClr val="000000"/>
                </a:solidFill>
                <a:ln w="9525">
                  <a:noFill/>
                  <a:round/>
                  <a:headEnd/>
                  <a:tailEnd/>
                </a:ln>
              </p:spPr>
              <p:txBody>
                <a:bodyPr/>
                <a:lstStyle/>
                <a:p>
                  <a:endParaRPr lang="en-US"/>
                </a:p>
              </p:txBody>
            </p:sp>
            <p:sp>
              <p:nvSpPr>
                <p:cNvPr id="29818" name="Freeform 79"/>
                <p:cNvSpPr>
                  <a:spLocks/>
                </p:cNvSpPr>
                <p:nvPr/>
              </p:nvSpPr>
              <p:spPr bwMode="auto">
                <a:xfrm>
                  <a:off x="1948" y="3558"/>
                  <a:ext cx="151" cy="89"/>
                </a:xfrm>
                <a:custGeom>
                  <a:avLst/>
                  <a:gdLst>
                    <a:gd name="T0" fmla="*/ 1 w 302"/>
                    <a:gd name="T1" fmla="*/ 0 h 179"/>
                    <a:gd name="T2" fmla="*/ 1 w 302"/>
                    <a:gd name="T3" fmla="*/ 0 h 179"/>
                    <a:gd name="T4" fmla="*/ 1 w 302"/>
                    <a:gd name="T5" fmla="*/ 0 h 179"/>
                    <a:gd name="T6" fmla="*/ 1 w 302"/>
                    <a:gd name="T7" fmla="*/ 0 h 179"/>
                    <a:gd name="T8" fmla="*/ 1 w 302"/>
                    <a:gd name="T9" fmla="*/ 0 h 179"/>
                    <a:gd name="T10" fmla="*/ 0 w 302"/>
                    <a:gd name="T11" fmla="*/ 0 h 179"/>
                    <a:gd name="T12" fmla="*/ 1 w 302"/>
                    <a:gd name="T13" fmla="*/ 0 h 179"/>
                    <a:gd name="T14" fmla="*/ 1 w 302"/>
                    <a:gd name="T15" fmla="*/ 0 h 179"/>
                    <a:gd name="T16" fmla="*/ 1 w 302"/>
                    <a:gd name="T17" fmla="*/ 0 h 179"/>
                    <a:gd name="T18" fmla="*/ 1 w 302"/>
                    <a:gd name="T19" fmla="*/ 0 h 179"/>
                    <a:gd name="T20" fmla="*/ 1 w 302"/>
                    <a:gd name="T21" fmla="*/ 0 h 179"/>
                    <a:gd name="T22" fmla="*/ 1 w 302"/>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9"/>
                    <a:gd name="T38" fmla="*/ 302 w 302"/>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9">
                      <a:moveTo>
                        <a:pt x="15" y="172"/>
                      </a:moveTo>
                      <a:lnTo>
                        <a:pt x="11" y="179"/>
                      </a:lnTo>
                      <a:lnTo>
                        <a:pt x="302" y="13"/>
                      </a:lnTo>
                      <a:lnTo>
                        <a:pt x="296" y="0"/>
                      </a:lnTo>
                      <a:lnTo>
                        <a:pt x="4" y="166"/>
                      </a:lnTo>
                      <a:lnTo>
                        <a:pt x="0" y="172"/>
                      </a:lnTo>
                      <a:lnTo>
                        <a:pt x="4" y="166"/>
                      </a:lnTo>
                      <a:lnTo>
                        <a:pt x="1" y="169"/>
                      </a:lnTo>
                      <a:lnTo>
                        <a:pt x="1" y="174"/>
                      </a:lnTo>
                      <a:lnTo>
                        <a:pt x="6" y="179"/>
                      </a:lnTo>
                      <a:lnTo>
                        <a:pt x="11" y="179"/>
                      </a:lnTo>
                      <a:lnTo>
                        <a:pt x="15" y="172"/>
                      </a:lnTo>
                      <a:close/>
                    </a:path>
                  </a:pathLst>
                </a:custGeom>
                <a:solidFill>
                  <a:srgbClr val="000000"/>
                </a:solidFill>
                <a:ln w="9525">
                  <a:noFill/>
                  <a:round/>
                  <a:headEnd/>
                  <a:tailEnd/>
                </a:ln>
              </p:spPr>
              <p:txBody>
                <a:bodyPr/>
                <a:lstStyle/>
                <a:p>
                  <a:endParaRPr lang="en-US"/>
                </a:p>
              </p:txBody>
            </p:sp>
            <p:sp>
              <p:nvSpPr>
                <p:cNvPr id="29819" name="Freeform 80"/>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4" y="14"/>
                      </a:moveTo>
                      <a:lnTo>
                        <a:pt x="15" y="21"/>
                      </a:lnTo>
                      <a:lnTo>
                        <a:pt x="15" y="0"/>
                      </a:lnTo>
                      <a:lnTo>
                        <a:pt x="0" y="0"/>
                      </a:lnTo>
                      <a:lnTo>
                        <a:pt x="0" y="21"/>
                      </a:lnTo>
                      <a:lnTo>
                        <a:pt x="11" y="27"/>
                      </a:lnTo>
                      <a:lnTo>
                        <a:pt x="0" y="21"/>
                      </a:lnTo>
                      <a:lnTo>
                        <a:pt x="3" y="25"/>
                      </a:lnTo>
                      <a:lnTo>
                        <a:pt x="7" y="27"/>
                      </a:lnTo>
                      <a:lnTo>
                        <a:pt x="12" y="25"/>
                      </a:lnTo>
                      <a:lnTo>
                        <a:pt x="15" y="21"/>
                      </a:lnTo>
                      <a:lnTo>
                        <a:pt x="4" y="14"/>
                      </a:lnTo>
                      <a:close/>
                    </a:path>
                  </a:pathLst>
                </a:custGeom>
                <a:solidFill>
                  <a:srgbClr val="000000"/>
                </a:solidFill>
                <a:ln w="9525">
                  <a:noFill/>
                  <a:round/>
                  <a:headEnd/>
                  <a:tailEnd/>
                </a:ln>
              </p:spPr>
              <p:txBody>
                <a:bodyPr/>
                <a:lstStyle/>
                <a:p>
                  <a:endParaRPr lang="en-US"/>
                </a:p>
              </p:txBody>
            </p:sp>
            <p:sp>
              <p:nvSpPr>
                <p:cNvPr id="29820" name="Freeform 81"/>
                <p:cNvSpPr>
                  <a:spLocks/>
                </p:cNvSpPr>
                <p:nvPr/>
              </p:nvSpPr>
              <p:spPr bwMode="auto">
                <a:xfrm>
                  <a:off x="1950" y="3568"/>
                  <a:ext cx="151" cy="89"/>
                </a:xfrm>
                <a:custGeom>
                  <a:avLst/>
                  <a:gdLst>
                    <a:gd name="T0" fmla="*/ 1 w 302"/>
                    <a:gd name="T1" fmla="*/ 1 h 178"/>
                    <a:gd name="T2" fmla="*/ 1 w 302"/>
                    <a:gd name="T3" fmla="*/ 0 h 178"/>
                    <a:gd name="T4" fmla="*/ 0 w 302"/>
                    <a:gd name="T5" fmla="*/ 1 h 178"/>
                    <a:gd name="T6" fmla="*/ 1 w 302"/>
                    <a:gd name="T7" fmla="*/ 1 h 178"/>
                    <a:gd name="T8" fmla="*/ 1 w 302"/>
                    <a:gd name="T9" fmla="*/ 1 h 178"/>
                    <a:gd name="T10" fmla="*/ 1 w 302"/>
                    <a:gd name="T11" fmla="*/ 1 h 178"/>
                    <a:gd name="T12" fmla="*/ 1 w 302"/>
                    <a:gd name="T13" fmla="*/ 1 h 178"/>
                    <a:gd name="T14" fmla="*/ 1 w 302"/>
                    <a:gd name="T15" fmla="*/ 1 h 178"/>
                    <a:gd name="T16" fmla="*/ 1 w 302"/>
                    <a:gd name="T17" fmla="*/ 1 h 178"/>
                    <a:gd name="T18" fmla="*/ 1 w 302"/>
                    <a:gd name="T19" fmla="*/ 0 h 178"/>
                    <a:gd name="T20" fmla="*/ 1 w 302"/>
                    <a:gd name="T21" fmla="*/ 0 h 178"/>
                    <a:gd name="T22" fmla="*/ 1 w 302"/>
                    <a:gd name="T23" fmla="*/ 1 h 1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2"/>
                    <a:gd name="T37" fmla="*/ 0 h 178"/>
                    <a:gd name="T38" fmla="*/ 302 w 302"/>
                    <a:gd name="T39" fmla="*/ 178 h 17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2" h="178">
                      <a:moveTo>
                        <a:pt x="287" y="6"/>
                      </a:moveTo>
                      <a:lnTo>
                        <a:pt x="292" y="0"/>
                      </a:lnTo>
                      <a:lnTo>
                        <a:pt x="0" y="165"/>
                      </a:lnTo>
                      <a:lnTo>
                        <a:pt x="7" y="178"/>
                      </a:lnTo>
                      <a:lnTo>
                        <a:pt x="298" y="12"/>
                      </a:lnTo>
                      <a:lnTo>
                        <a:pt x="302" y="6"/>
                      </a:lnTo>
                      <a:lnTo>
                        <a:pt x="298" y="12"/>
                      </a:lnTo>
                      <a:lnTo>
                        <a:pt x="301" y="9"/>
                      </a:lnTo>
                      <a:lnTo>
                        <a:pt x="301" y="3"/>
                      </a:lnTo>
                      <a:lnTo>
                        <a:pt x="296" y="0"/>
                      </a:lnTo>
                      <a:lnTo>
                        <a:pt x="292" y="0"/>
                      </a:lnTo>
                      <a:lnTo>
                        <a:pt x="287" y="6"/>
                      </a:lnTo>
                      <a:close/>
                    </a:path>
                  </a:pathLst>
                </a:custGeom>
                <a:solidFill>
                  <a:srgbClr val="000000"/>
                </a:solidFill>
                <a:ln w="9525">
                  <a:noFill/>
                  <a:round/>
                  <a:headEnd/>
                  <a:tailEnd/>
                </a:ln>
              </p:spPr>
              <p:txBody>
                <a:bodyPr/>
                <a:lstStyle/>
                <a:p>
                  <a:endParaRPr lang="en-US"/>
                </a:p>
              </p:txBody>
            </p:sp>
            <p:sp>
              <p:nvSpPr>
                <p:cNvPr id="29821" name="Freeform 82"/>
                <p:cNvSpPr>
                  <a:spLocks/>
                </p:cNvSpPr>
                <p:nvPr/>
              </p:nvSpPr>
              <p:spPr bwMode="auto">
                <a:xfrm>
                  <a:off x="1918" y="3536"/>
                  <a:ext cx="179" cy="108"/>
                </a:xfrm>
                <a:custGeom>
                  <a:avLst/>
                  <a:gdLst>
                    <a:gd name="T0" fmla="*/ 0 w 359"/>
                    <a:gd name="T1" fmla="*/ 0 h 216"/>
                    <a:gd name="T2" fmla="*/ 0 w 359"/>
                    <a:gd name="T3" fmla="*/ 1 h 216"/>
                    <a:gd name="T4" fmla="*/ 0 w 359"/>
                    <a:gd name="T5" fmla="*/ 1 h 216"/>
                    <a:gd name="T6" fmla="*/ 0 w 359"/>
                    <a:gd name="T7" fmla="*/ 1 h 216"/>
                    <a:gd name="T8" fmla="*/ 0 w 359"/>
                    <a:gd name="T9" fmla="*/ 0 h 216"/>
                    <a:gd name="T10" fmla="*/ 0 60000 65536"/>
                    <a:gd name="T11" fmla="*/ 0 60000 65536"/>
                    <a:gd name="T12" fmla="*/ 0 60000 65536"/>
                    <a:gd name="T13" fmla="*/ 0 60000 65536"/>
                    <a:gd name="T14" fmla="*/ 0 60000 65536"/>
                    <a:gd name="T15" fmla="*/ 0 w 359"/>
                    <a:gd name="T16" fmla="*/ 0 h 216"/>
                    <a:gd name="T17" fmla="*/ 359 w 359"/>
                    <a:gd name="T18" fmla="*/ 216 h 216"/>
                  </a:gdLst>
                  <a:ahLst/>
                  <a:cxnLst>
                    <a:cxn ang="T10">
                      <a:pos x="T0" y="T1"/>
                    </a:cxn>
                    <a:cxn ang="T11">
                      <a:pos x="T2" y="T3"/>
                    </a:cxn>
                    <a:cxn ang="T12">
                      <a:pos x="T4" y="T5"/>
                    </a:cxn>
                    <a:cxn ang="T13">
                      <a:pos x="T6" y="T7"/>
                    </a:cxn>
                    <a:cxn ang="T14">
                      <a:pos x="T8" y="T9"/>
                    </a:cxn>
                  </a:cxnLst>
                  <a:rect l="T15" t="T16" r="T17" b="T18"/>
                  <a:pathLst>
                    <a:path w="359" h="216">
                      <a:moveTo>
                        <a:pt x="285" y="0"/>
                      </a:moveTo>
                      <a:lnTo>
                        <a:pt x="359" y="51"/>
                      </a:lnTo>
                      <a:lnTo>
                        <a:pt x="67" y="216"/>
                      </a:lnTo>
                      <a:lnTo>
                        <a:pt x="0" y="169"/>
                      </a:lnTo>
                      <a:lnTo>
                        <a:pt x="285" y="0"/>
                      </a:lnTo>
                      <a:close/>
                    </a:path>
                  </a:pathLst>
                </a:custGeom>
                <a:solidFill>
                  <a:srgbClr val="99D8FF"/>
                </a:solidFill>
                <a:ln w="9525">
                  <a:noFill/>
                  <a:round/>
                  <a:headEnd/>
                  <a:tailEnd/>
                </a:ln>
              </p:spPr>
              <p:txBody>
                <a:bodyPr/>
                <a:lstStyle/>
                <a:p>
                  <a:endParaRPr lang="en-US"/>
                </a:p>
              </p:txBody>
            </p:sp>
            <p:sp>
              <p:nvSpPr>
                <p:cNvPr id="29822" name="Freeform 83"/>
                <p:cNvSpPr>
                  <a:spLocks/>
                </p:cNvSpPr>
                <p:nvPr/>
              </p:nvSpPr>
              <p:spPr bwMode="auto">
                <a:xfrm>
                  <a:off x="2058" y="3533"/>
                  <a:ext cx="43" cy="32"/>
                </a:xfrm>
                <a:custGeom>
                  <a:avLst/>
                  <a:gdLst>
                    <a:gd name="T0" fmla="*/ 1 w 86"/>
                    <a:gd name="T1" fmla="*/ 1 h 64"/>
                    <a:gd name="T2" fmla="*/ 1 w 86"/>
                    <a:gd name="T3" fmla="*/ 1 h 64"/>
                    <a:gd name="T4" fmla="*/ 1 w 86"/>
                    <a:gd name="T5" fmla="*/ 0 h 64"/>
                    <a:gd name="T6" fmla="*/ 0 w 86"/>
                    <a:gd name="T7" fmla="*/ 1 h 64"/>
                    <a:gd name="T8" fmla="*/ 1 w 86"/>
                    <a:gd name="T9" fmla="*/ 1 h 64"/>
                    <a:gd name="T10" fmla="*/ 1 w 86"/>
                    <a:gd name="T11" fmla="*/ 1 h 64"/>
                    <a:gd name="T12" fmla="*/ 1 w 86"/>
                    <a:gd name="T13" fmla="*/ 1 h 64"/>
                    <a:gd name="T14" fmla="*/ 1 w 86"/>
                    <a:gd name="T15" fmla="*/ 1 h 64"/>
                    <a:gd name="T16" fmla="*/ 1 w 86"/>
                    <a:gd name="T17" fmla="*/ 1 h 64"/>
                    <a:gd name="T18" fmla="*/ 1 w 86"/>
                    <a:gd name="T19" fmla="*/ 1 h 64"/>
                    <a:gd name="T20" fmla="*/ 1 w 86"/>
                    <a:gd name="T21" fmla="*/ 1 h 64"/>
                    <a:gd name="T22" fmla="*/ 1 w 86"/>
                    <a:gd name="T23" fmla="*/ 1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6"/>
                    <a:gd name="T37" fmla="*/ 0 h 64"/>
                    <a:gd name="T38" fmla="*/ 86 w 86"/>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6" h="64">
                      <a:moveTo>
                        <a:pt x="82" y="63"/>
                      </a:moveTo>
                      <a:lnTo>
                        <a:pt x="83" y="50"/>
                      </a:lnTo>
                      <a:lnTo>
                        <a:pt x="10" y="0"/>
                      </a:lnTo>
                      <a:lnTo>
                        <a:pt x="0" y="13"/>
                      </a:lnTo>
                      <a:lnTo>
                        <a:pt x="74" y="63"/>
                      </a:lnTo>
                      <a:lnTo>
                        <a:pt x="76" y="50"/>
                      </a:lnTo>
                      <a:lnTo>
                        <a:pt x="74" y="63"/>
                      </a:lnTo>
                      <a:lnTo>
                        <a:pt x="80" y="64"/>
                      </a:lnTo>
                      <a:lnTo>
                        <a:pt x="85" y="61"/>
                      </a:lnTo>
                      <a:lnTo>
                        <a:pt x="86" y="55"/>
                      </a:lnTo>
                      <a:lnTo>
                        <a:pt x="83" y="50"/>
                      </a:lnTo>
                      <a:lnTo>
                        <a:pt x="82" y="63"/>
                      </a:lnTo>
                      <a:close/>
                    </a:path>
                  </a:pathLst>
                </a:custGeom>
                <a:solidFill>
                  <a:srgbClr val="000000"/>
                </a:solidFill>
                <a:ln w="9525">
                  <a:noFill/>
                  <a:round/>
                  <a:headEnd/>
                  <a:tailEnd/>
                </a:ln>
              </p:spPr>
              <p:txBody>
                <a:bodyPr/>
                <a:lstStyle/>
                <a:p>
                  <a:endParaRPr lang="en-US"/>
                </a:p>
              </p:txBody>
            </p:sp>
            <p:sp>
              <p:nvSpPr>
                <p:cNvPr id="29823" name="Freeform 84"/>
                <p:cNvSpPr>
                  <a:spLocks/>
                </p:cNvSpPr>
                <p:nvPr/>
              </p:nvSpPr>
              <p:spPr bwMode="auto">
                <a:xfrm>
                  <a:off x="1949" y="3558"/>
                  <a:ext cx="150" cy="89"/>
                </a:xfrm>
                <a:custGeom>
                  <a:avLst/>
                  <a:gdLst>
                    <a:gd name="T0" fmla="*/ 0 w 301"/>
                    <a:gd name="T1" fmla="*/ 0 h 179"/>
                    <a:gd name="T2" fmla="*/ 0 w 301"/>
                    <a:gd name="T3" fmla="*/ 0 h 179"/>
                    <a:gd name="T4" fmla="*/ 0 w 301"/>
                    <a:gd name="T5" fmla="*/ 0 h 179"/>
                    <a:gd name="T6" fmla="*/ 0 w 301"/>
                    <a:gd name="T7" fmla="*/ 0 h 179"/>
                    <a:gd name="T8" fmla="*/ 0 w 301"/>
                    <a:gd name="T9" fmla="*/ 0 h 179"/>
                    <a:gd name="T10" fmla="*/ 0 w 301"/>
                    <a:gd name="T11" fmla="*/ 0 h 179"/>
                    <a:gd name="T12" fmla="*/ 0 w 301"/>
                    <a:gd name="T13" fmla="*/ 0 h 179"/>
                    <a:gd name="T14" fmla="*/ 0 w 301"/>
                    <a:gd name="T15" fmla="*/ 0 h 179"/>
                    <a:gd name="T16" fmla="*/ 0 w 301"/>
                    <a:gd name="T17" fmla="*/ 0 h 179"/>
                    <a:gd name="T18" fmla="*/ 0 w 301"/>
                    <a:gd name="T19" fmla="*/ 0 h 179"/>
                    <a:gd name="T20" fmla="*/ 0 w 301"/>
                    <a:gd name="T21" fmla="*/ 0 h 179"/>
                    <a:gd name="T22" fmla="*/ 0 w 301"/>
                    <a:gd name="T23" fmla="*/ 0 h 1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1"/>
                    <a:gd name="T37" fmla="*/ 0 h 179"/>
                    <a:gd name="T38" fmla="*/ 301 w 301"/>
                    <a:gd name="T39" fmla="*/ 179 h 17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1" h="179">
                      <a:moveTo>
                        <a:pt x="2" y="179"/>
                      </a:moveTo>
                      <a:lnTo>
                        <a:pt x="10" y="179"/>
                      </a:lnTo>
                      <a:lnTo>
                        <a:pt x="301" y="13"/>
                      </a:lnTo>
                      <a:lnTo>
                        <a:pt x="295" y="0"/>
                      </a:lnTo>
                      <a:lnTo>
                        <a:pt x="3" y="166"/>
                      </a:lnTo>
                      <a:lnTo>
                        <a:pt x="11" y="166"/>
                      </a:lnTo>
                      <a:lnTo>
                        <a:pt x="3" y="166"/>
                      </a:lnTo>
                      <a:lnTo>
                        <a:pt x="0" y="169"/>
                      </a:lnTo>
                      <a:lnTo>
                        <a:pt x="0" y="174"/>
                      </a:lnTo>
                      <a:lnTo>
                        <a:pt x="5" y="179"/>
                      </a:lnTo>
                      <a:lnTo>
                        <a:pt x="10" y="179"/>
                      </a:lnTo>
                      <a:lnTo>
                        <a:pt x="2" y="179"/>
                      </a:lnTo>
                      <a:close/>
                    </a:path>
                  </a:pathLst>
                </a:custGeom>
                <a:solidFill>
                  <a:srgbClr val="000000"/>
                </a:solidFill>
                <a:ln w="9525">
                  <a:noFill/>
                  <a:round/>
                  <a:headEnd/>
                  <a:tailEnd/>
                </a:ln>
              </p:spPr>
              <p:txBody>
                <a:bodyPr/>
                <a:lstStyle/>
                <a:p>
                  <a:endParaRPr lang="en-US"/>
                </a:p>
              </p:txBody>
            </p:sp>
            <p:sp>
              <p:nvSpPr>
                <p:cNvPr id="29824" name="Freeform 85"/>
                <p:cNvSpPr>
                  <a:spLocks/>
                </p:cNvSpPr>
                <p:nvPr/>
              </p:nvSpPr>
              <p:spPr bwMode="auto">
                <a:xfrm>
                  <a:off x="1914" y="3616"/>
                  <a:ext cx="40" cy="31"/>
                </a:xfrm>
                <a:custGeom>
                  <a:avLst/>
                  <a:gdLst>
                    <a:gd name="T0" fmla="*/ 1 w 80"/>
                    <a:gd name="T1" fmla="*/ 1 h 61"/>
                    <a:gd name="T2" fmla="*/ 1 w 80"/>
                    <a:gd name="T3" fmla="*/ 1 h 61"/>
                    <a:gd name="T4" fmla="*/ 1 w 80"/>
                    <a:gd name="T5" fmla="*/ 1 h 61"/>
                    <a:gd name="T6" fmla="*/ 1 w 80"/>
                    <a:gd name="T7" fmla="*/ 1 h 61"/>
                    <a:gd name="T8" fmla="*/ 1 w 80"/>
                    <a:gd name="T9" fmla="*/ 1 h 61"/>
                    <a:gd name="T10" fmla="*/ 1 w 80"/>
                    <a:gd name="T11" fmla="*/ 1 h 61"/>
                    <a:gd name="T12" fmla="*/ 1 w 80"/>
                    <a:gd name="T13" fmla="*/ 1 h 61"/>
                    <a:gd name="T14" fmla="*/ 1 w 80"/>
                    <a:gd name="T15" fmla="*/ 0 h 61"/>
                    <a:gd name="T16" fmla="*/ 1 w 80"/>
                    <a:gd name="T17" fmla="*/ 1 h 61"/>
                    <a:gd name="T18" fmla="*/ 0 w 80"/>
                    <a:gd name="T19" fmla="*/ 1 h 61"/>
                    <a:gd name="T20" fmla="*/ 1 w 80"/>
                    <a:gd name="T21" fmla="*/ 1 h 61"/>
                    <a:gd name="T22" fmla="*/ 1 w 80"/>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0"/>
                    <a:gd name="T37" fmla="*/ 0 h 61"/>
                    <a:gd name="T38" fmla="*/ 80 w 80"/>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0" h="61">
                      <a:moveTo>
                        <a:pt x="3" y="1"/>
                      </a:moveTo>
                      <a:lnTo>
                        <a:pt x="3" y="14"/>
                      </a:lnTo>
                      <a:lnTo>
                        <a:pt x="71" y="61"/>
                      </a:lnTo>
                      <a:lnTo>
                        <a:pt x="80" y="48"/>
                      </a:lnTo>
                      <a:lnTo>
                        <a:pt x="13" y="1"/>
                      </a:lnTo>
                      <a:lnTo>
                        <a:pt x="13" y="14"/>
                      </a:lnTo>
                      <a:lnTo>
                        <a:pt x="13" y="1"/>
                      </a:lnTo>
                      <a:lnTo>
                        <a:pt x="7" y="0"/>
                      </a:lnTo>
                      <a:lnTo>
                        <a:pt x="2" y="3"/>
                      </a:lnTo>
                      <a:lnTo>
                        <a:pt x="0" y="7"/>
                      </a:lnTo>
                      <a:lnTo>
                        <a:pt x="3" y="14"/>
                      </a:lnTo>
                      <a:lnTo>
                        <a:pt x="3" y="1"/>
                      </a:lnTo>
                      <a:close/>
                    </a:path>
                  </a:pathLst>
                </a:custGeom>
                <a:solidFill>
                  <a:srgbClr val="000000"/>
                </a:solidFill>
                <a:ln w="9525">
                  <a:noFill/>
                  <a:round/>
                  <a:headEnd/>
                  <a:tailEnd/>
                </a:ln>
              </p:spPr>
              <p:txBody>
                <a:bodyPr/>
                <a:lstStyle/>
                <a:p>
                  <a:endParaRPr lang="en-US"/>
                </a:p>
              </p:txBody>
            </p:sp>
            <p:sp>
              <p:nvSpPr>
                <p:cNvPr id="29825" name="Freeform 86"/>
                <p:cNvSpPr>
                  <a:spLocks/>
                </p:cNvSpPr>
                <p:nvPr/>
              </p:nvSpPr>
              <p:spPr bwMode="auto">
                <a:xfrm>
                  <a:off x="1916" y="3532"/>
                  <a:ext cx="148" cy="91"/>
                </a:xfrm>
                <a:custGeom>
                  <a:avLst/>
                  <a:gdLst>
                    <a:gd name="T0" fmla="*/ 0 w 298"/>
                    <a:gd name="T1" fmla="*/ 0 h 183"/>
                    <a:gd name="T2" fmla="*/ 0 w 298"/>
                    <a:gd name="T3" fmla="*/ 0 h 183"/>
                    <a:gd name="T4" fmla="*/ 0 w 298"/>
                    <a:gd name="T5" fmla="*/ 0 h 183"/>
                    <a:gd name="T6" fmla="*/ 0 w 298"/>
                    <a:gd name="T7" fmla="*/ 0 h 183"/>
                    <a:gd name="T8" fmla="*/ 0 w 298"/>
                    <a:gd name="T9" fmla="*/ 0 h 183"/>
                    <a:gd name="T10" fmla="*/ 0 w 298"/>
                    <a:gd name="T11" fmla="*/ 0 h 183"/>
                    <a:gd name="T12" fmla="*/ 0 w 298"/>
                    <a:gd name="T13" fmla="*/ 0 h 183"/>
                    <a:gd name="T14" fmla="*/ 0 w 298"/>
                    <a:gd name="T15" fmla="*/ 0 h 183"/>
                    <a:gd name="T16" fmla="*/ 0 w 298"/>
                    <a:gd name="T17" fmla="*/ 0 h 183"/>
                    <a:gd name="T18" fmla="*/ 0 w 298"/>
                    <a:gd name="T19" fmla="*/ 0 h 183"/>
                    <a:gd name="T20" fmla="*/ 0 w 298"/>
                    <a:gd name="T21" fmla="*/ 0 h 183"/>
                    <a:gd name="T22" fmla="*/ 0 w 298"/>
                    <a:gd name="T23" fmla="*/ 0 h 18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8"/>
                    <a:gd name="T37" fmla="*/ 0 h 183"/>
                    <a:gd name="T38" fmla="*/ 298 w 298"/>
                    <a:gd name="T39" fmla="*/ 183 h 18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8" h="183">
                      <a:moveTo>
                        <a:pt x="295" y="1"/>
                      </a:moveTo>
                      <a:lnTo>
                        <a:pt x="285" y="1"/>
                      </a:lnTo>
                      <a:lnTo>
                        <a:pt x="0" y="170"/>
                      </a:lnTo>
                      <a:lnTo>
                        <a:pt x="10" y="183"/>
                      </a:lnTo>
                      <a:lnTo>
                        <a:pt x="295" y="14"/>
                      </a:lnTo>
                      <a:lnTo>
                        <a:pt x="285" y="14"/>
                      </a:lnTo>
                      <a:lnTo>
                        <a:pt x="295" y="14"/>
                      </a:lnTo>
                      <a:lnTo>
                        <a:pt x="298" y="7"/>
                      </a:lnTo>
                      <a:lnTo>
                        <a:pt x="296" y="3"/>
                      </a:lnTo>
                      <a:lnTo>
                        <a:pt x="292" y="0"/>
                      </a:lnTo>
                      <a:lnTo>
                        <a:pt x="285" y="1"/>
                      </a:lnTo>
                      <a:lnTo>
                        <a:pt x="295" y="1"/>
                      </a:lnTo>
                      <a:close/>
                    </a:path>
                  </a:pathLst>
                </a:custGeom>
                <a:solidFill>
                  <a:srgbClr val="000000"/>
                </a:solidFill>
                <a:ln w="9525">
                  <a:noFill/>
                  <a:round/>
                  <a:headEnd/>
                  <a:tailEnd/>
                </a:ln>
              </p:spPr>
              <p:txBody>
                <a:bodyPr/>
                <a:lstStyle/>
                <a:p>
                  <a:endParaRPr lang="en-US"/>
                </a:p>
              </p:txBody>
            </p:sp>
            <p:sp>
              <p:nvSpPr>
                <p:cNvPr id="29826" name="Freeform 87"/>
                <p:cNvSpPr>
                  <a:spLocks/>
                </p:cNvSpPr>
                <p:nvPr/>
              </p:nvSpPr>
              <p:spPr bwMode="auto">
                <a:xfrm>
                  <a:off x="1919" y="3620"/>
                  <a:ext cx="33" cy="34"/>
                </a:xfrm>
                <a:custGeom>
                  <a:avLst/>
                  <a:gdLst>
                    <a:gd name="T0" fmla="*/ 0 w 65"/>
                    <a:gd name="T1" fmla="*/ 1 h 68"/>
                    <a:gd name="T2" fmla="*/ 0 w 65"/>
                    <a:gd name="T3" fmla="*/ 0 h 68"/>
                    <a:gd name="T4" fmla="*/ 1 w 65"/>
                    <a:gd name="T5" fmla="*/ 1 h 68"/>
                    <a:gd name="T6" fmla="*/ 1 w 65"/>
                    <a:gd name="T7" fmla="*/ 1 h 68"/>
                    <a:gd name="T8" fmla="*/ 0 w 65"/>
                    <a:gd name="T9" fmla="*/ 1 h 68"/>
                    <a:gd name="T10" fmla="*/ 0 60000 65536"/>
                    <a:gd name="T11" fmla="*/ 0 60000 65536"/>
                    <a:gd name="T12" fmla="*/ 0 60000 65536"/>
                    <a:gd name="T13" fmla="*/ 0 60000 65536"/>
                    <a:gd name="T14" fmla="*/ 0 60000 65536"/>
                    <a:gd name="T15" fmla="*/ 0 w 65"/>
                    <a:gd name="T16" fmla="*/ 0 h 68"/>
                    <a:gd name="T17" fmla="*/ 65 w 65"/>
                    <a:gd name="T18" fmla="*/ 68 h 68"/>
                  </a:gdLst>
                  <a:ahLst/>
                  <a:cxnLst>
                    <a:cxn ang="T10">
                      <a:pos x="T0" y="T1"/>
                    </a:cxn>
                    <a:cxn ang="T11">
                      <a:pos x="T2" y="T3"/>
                    </a:cxn>
                    <a:cxn ang="T12">
                      <a:pos x="T4" y="T5"/>
                    </a:cxn>
                    <a:cxn ang="T13">
                      <a:pos x="T6" y="T7"/>
                    </a:cxn>
                    <a:cxn ang="T14">
                      <a:pos x="T8" y="T9"/>
                    </a:cxn>
                  </a:cxnLst>
                  <a:rect l="T15" t="T16" r="T17" b="T18"/>
                  <a:pathLst>
                    <a:path w="65" h="68">
                      <a:moveTo>
                        <a:pt x="0" y="29"/>
                      </a:moveTo>
                      <a:lnTo>
                        <a:pt x="0" y="0"/>
                      </a:lnTo>
                      <a:lnTo>
                        <a:pt x="65" y="47"/>
                      </a:lnTo>
                      <a:lnTo>
                        <a:pt x="65" y="68"/>
                      </a:lnTo>
                      <a:lnTo>
                        <a:pt x="0" y="29"/>
                      </a:lnTo>
                      <a:close/>
                    </a:path>
                  </a:pathLst>
                </a:custGeom>
                <a:solidFill>
                  <a:srgbClr val="4CB2FF"/>
                </a:solidFill>
                <a:ln w="9525">
                  <a:noFill/>
                  <a:round/>
                  <a:headEnd/>
                  <a:tailEnd/>
                </a:ln>
              </p:spPr>
              <p:txBody>
                <a:bodyPr/>
                <a:lstStyle/>
                <a:p>
                  <a:endParaRPr lang="en-US"/>
                </a:p>
              </p:txBody>
            </p:sp>
            <p:sp>
              <p:nvSpPr>
                <p:cNvPr id="29827" name="Freeform 88"/>
                <p:cNvSpPr>
                  <a:spLocks/>
                </p:cNvSpPr>
                <p:nvPr/>
              </p:nvSpPr>
              <p:spPr bwMode="auto">
                <a:xfrm>
                  <a:off x="1915" y="3616"/>
                  <a:ext cx="8" cy="18"/>
                </a:xfrm>
                <a:custGeom>
                  <a:avLst/>
                  <a:gdLst>
                    <a:gd name="T0" fmla="*/ 1 w 15"/>
                    <a:gd name="T1" fmla="*/ 1 h 36"/>
                    <a:gd name="T2" fmla="*/ 0 w 15"/>
                    <a:gd name="T3" fmla="*/ 1 h 36"/>
                    <a:gd name="T4" fmla="*/ 0 w 15"/>
                    <a:gd name="T5" fmla="*/ 1 h 36"/>
                    <a:gd name="T6" fmla="*/ 1 w 15"/>
                    <a:gd name="T7" fmla="*/ 1 h 36"/>
                    <a:gd name="T8" fmla="*/ 1 w 15"/>
                    <a:gd name="T9" fmla="*/ 1 h 36"/>
                    <a:gd name="T10" fmla="*/ 1 w 15"/>
                    <a:gd name="T11" fmla="*/ 1 h 36"/>
                    <a:gd name="T12" fmla="*/ 1 w 15"/>
                    <a:gd name="T13" fmla="*/ 1 h 36"/>
                    <a:gd name="T14" fmla="*/ 1 w 15"/>
                    <a:gd name="T15" fmla="*/ 1 h 36"/>
                    <a:gd name="T16" fmla="*/ 1 w 15"/>
                    <a:gd name="T17" fmla="*/ 0 h 36"/>
                    <a:gd name="T18" fmla="*/ 1 w 15"/>
                    <a:gd name="T19" fmla="*/ 1 h 36"/>
                    <a:gd name="T20" fmla="*/ 0 w 15"/>
                    <a:gd name="T21" fmla="*/ 1 h 36"/>
                    <a:gd name="T22" fmla="*/ 1 w 15"/>
                    <a:gd name="T23" fmla="*/ 1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36"/>
                    <a:gd name="T38" fmla="*/ 15 w 15"/>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36">
                      <a:moveTo>
                        <a:pt x="12" y="1"/>
                      </a:moveTo>
                      <a:lnTo>
                        <a:pt x="0" y="7"/>
                      </a:lnTo>
                      <a:lnTo>
                        <a:pt x="0" y="36"/>
                      </a:lnTo>
                      <a:lnTo>
                        <a:pt x="15" y="36"/>
                      </a:lnTo>
                      <a:lnTo>
                        <a:pt x="15" y="7"/>
                      </a:lnTo>
                      <a:lnTo>
                        <a:pt x="3" y="14"/>
                      </a:lnTo>
                      <a:lnTo>
                        <a:pt x="15" y="7"/>
                      </a:lnTo>
                      <a:lnTo>
                        <a:pt x="12" y="3"/>
                      </a:lnTo>
                      <a:lnTo>
                        <a:pt x="8" y="0"/>
                      </a:lnTo>
                      <a:lnTo>
                        <a:pt x="3" y="3"/>
                      </a:lnTo>
                      <a:lnTo>
                        <a:pt x="0" y="7"/>
                      </a:lnTo>
                      <a:lnTo>
                        <a:pt x="12" y="1"/>
                      </a:lnTo>
                      <a:close/>
                    </a:path>
                  </a:pathLst>
                </a:custGeom>
                <a:solidFill>
                  <a:srgbClr val="000000"/>
                </a:solidFill>
                <a:ln w="9525">
                  <a:noFill/>
                  <a:round/>
                  <a:headEnd/>
                  <a:tailEnd/>
                </a:ln>
              </p:spPr>
              <p:txBody>
                <a:bodyPr/>
                <a:lstStyle/>
                <a:p>
                  <a:endParaRPr lang="en-US"/>
                </a:p>
              </p:txBody>
            </p:sp>
            <p:sp>
              <p:nvSpPr>
                <p:cNvPr id="29828" name="Freeform 89"/>
                <p:cNvSpPr>
                  <a:spLocks/>
                </p:cNvSpPr>
                <p:nvPr/>
              </p:nvSpPr>
              <p:spPr bwMode="auto">
                <a:xfrm>
                  <a:off x="1916" y="3617"/>
                  <a:ext cx="40" cy="31"/>
                </a:xfrm>
                <a:custGeom>
                  <a:avLst/>
                  <a:gdLst>
                    <a:gd name="T0" fmla="*/ 1 w 78"/>
                    <a:gd name="T1" fmla="*/ 1 h 61"/>
                    <a:gd name="T2" fmla="*/ 1 w 78"/>
                    <a:gd name="T3" fmla="*/ 1 h 61"/>
                    <a:gd name="T4" fmla="*/ 1 w 78"/>
                    <a:gd name="T5" fmla="*/ 0 h 61"/>
                    <a:gd name="T6" fmla="*/ 0 w 78"/>
                    <a:gd name="T7" fmla="*/ 1 h 61"/>
                    <a:gd name="T8" fmla="*/ 1 w 78"/>
                    <a:gd name="T9" fmla="*/ 1 h 61"/>
                    <a:gd name="T10" fmla="*/ 1 w 78"/>
                    <a:gd name="T11" fmla="*/ 1 h 61"/>
                    <a:gd name="T12" fmla="*/ 1 w 78"/>
                    <a:gd name="T13" fmla="*/ 1 h 61"/>
                    <a:gd name="T14" fmla="*/ 1 w 78"/>
                    <a:gd name="T15" fmla="*/ 1 h 61"/>
                    <a:gd name="T16" fmla="*/ 1 w 78"/>
                    <a:gd name="T17" fmla="*/ 1 h 61"/>
                    <a:gd name="T18" fmla="*/ 1 w 78"/>
                    <a:gd name="T19" fmla="*/ 1 h 61"/>
                    <a:gd name="T20" fmla="*/ 1 w 78"/>
                    <a:gd name="T21" fmla="*/ 1 h 61"/>
                    <a:gd name="T22" fmla="*/ 1 w 78"/>
                    <a:gd name="T23" fmla="*/ 1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61"/>
                    <a:gd name="T38" fmla="*/ 78 w 78"/>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61">
                      <a:moveTo>
                        <a:pt x="78" y="53"/>
                      </a:moveTo>
                      <a:lnTo>
                        <a:pt x="75" y="47"/>
                      </a:lnTo>
                      <a:lnTo>
                        <a:pt x="9" y="0"/>
                      </a:lnTo>
                      <a:lnTo>
                        <a:pt x="0" y="13"/>
                      </a:lnTo>
                      <a:lnTo>
                        <a:pt x="66" y="60"/>
                      </a:lnTo>
                      <a:lnTo>
                        <a:pt x="63" y="53"/>
                      </a:lnTo>
                      <a:lnTo>
                        <a:pt x="66" y="60"/>
                      </a:lnTo>
                      <a:lnTo>
                        <a:pt x="72" y="61"/>
                      </a:lnTo>
                      <a:lnTo>
                        <a:pt x="77" y="58"/>
                      </a:lnTo>
                      <a:lnTo>
                        <a:pt x="78" y="52"/>
                      </a:lnTo>
                      <a:lnTo>
                        <a:pt x="75" y="47"/>
                      </a:lnTo>
                      <a:lnTo>
                        <a:pt x="78" y="53"/>
                      </a:lnTo>
                      <a:close/>
                    </a:path>
                  </a:pathLst>
                </a:custGeom>
                <a:solidFill>
                  <a:srgbClr val="000000"/>
                </a:solidFill>
                <a:ln w="9525">
                  <a:noFill/>
                  <a:round/>
                  <a:headEnd/>
                  <a:tailEnd/>
                </a:ln>
              </p:spPr>
              <p:txBody>
                <a:bodyPr/>
                <a:lstStyle/>
                <a:p>
                  <a:endParaRPr lang="en-US"/>
                </a:p>
              </p:txBody>
            </p:sp>
            <p:sp>
              <p:nvSpPr>
                <p:cNvPr id="29829" name="Freeform 90"/>
                <p:cNvSpPr>
                  <a:spLocks/>
                </p:cNvSpPr>
                <p:nvPr/>
              </p:nvSpPr>
              <p:spPr bwMode="auto">
                <a:xfrm>
                  <a:off x="1948" y="3644"/>
                  <a:ext cx="8" cy="13"/>
                </a:xfrm>
                <a:custGeom>
                  <a:avLst/>
                  <a:gdLst>
                    <a:gd name="T0" fmla="*/ 1 w 15"/>
                    <a:gd name="T1" fmla="*/ 0 h 27"/>
                    <a:gd name="T2" fmla="*/ 1 w 15"/>
                    <a:gd name="T3" fmla="*/ 0 h 27"/>
                    <a:gd name="T4" fmla="*/ 1 w 15"/>
                    <a:gd name="T5" fmla="*/ 0 h 27"/>
                    <a:gd name="T6" fmla="*/ 0 w 15"/>
                    <a:gd name="T7" fmla="*/ 0 h 27"/>
                    <a:gd name="T8" fmla="*/ 0 w 15"/>
                    <a:gd name="T9" fmla="*/ 0 h 27"/>
                    <a:gd name="T10" fmla="*/ 1 w 15"/>
                    <a:gd name="T11" fmla="*/ 0 h 27"/>
                    <a:gd name="T12" fmla="*/ 0 w 15"/>
                    <a:gd name="T13" fmla="*/ 0 h 27"/>
                    <a:gd name="T14" fmla="*/ 1 w 15"/>
                    <a:gd name="T15" fmla="*/ 0 h 27"/>
                    <a:gd name="T16" fmla="*/ 1 w 15"/>
                    <a:gd name="T17" fmla="*/ 0 h 27"/>
                    <a:gd name="T18" fmla="*/ 1 w 15"/>
                    <a:gd name="T19" fmla="*/ 0 h 27"/>
                    <a:gd name="T20" fmla="*/ 1 w 15"/>
                    <a:gd name="T21" fmla="*/ 0 h 27"/>
                    <a:gd name="T22" fmla="*/ 1 w 15"/>
                    <a:gd name="T23" fmla="*/ 0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7"/>
                    <a:gd name="T38" fmla="*/ 15 w 15"/>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7">
                      <a:moveTo>
                        <a:pt x="3" y="27"/>
                      </a:moveTo>
                      <a:lnTo>
                        <a:pt x="15" y="21"/>
                      </a:lnTo>
                      <a:lnTo>
                        <a:pt x="15" y="0"/>
                      </a:lnTo>
                      <a:lnTo>
                        <a:pt x="0" y="0"/>
                      </a:lnTo>
                      <a:lnTo>
                        <a:pt x="0" y="21"/>
                      </a:lnTo>
                      <a:lnTo>
                        <a:pt x="12" y="14"/>
                      </a:lnTo>
                      <a:lnTo>
                        <a:pt x="0" y="21"/>
                      </a:lnTo>
                      <a:lnTo>
                        <a:pt x="3" y="25"/>
                      </a:lnTo>
                      <a:lnTo>
                        <a:pt x="7" y="27"/>
                      </a:lnTo>
                      <a:lnTo>
                        <a:pt x="12" y="25"/>
                      </a:lnTo>
                      <a:lnTo>
                        <a:pt x="15" y="21"/>
                      </a:lnTo>
                      <a:lnTo>
                        <a:pt x="3" y="27"/>
                      </a:lnTo>
                      <a:close/>
                    </a:path>
                  </a:pathLst>
                </a:custGeom>
                <a:solidFill>
                  <a:srgbClr val="000000"/>
                </a:solidFill>
                <a:ln w="9525">
                  <a:noFill/>
                  <a:round/>
                  <a:headEnd/>
                  <a:tailEnd/>
                </a:ln>
              </p:spPr>
              <p:txBody>
                <a:bodyPr/>
                <a:lstStyle/>
                <a:p>
                  <a:endParaRPr lang="en-US"/>
                </a:p>
              </p:txBody>
            </p:sp>
            <p:sp>
              <p:nvSpPr>
                <p:cNvPr id="29830" name="Freeform 91"/>
                <p:cNvSpPr>
                  <a:spLocks/>
                </p:cNvSpPr>
                <p:nvPr/>
              </p:nvSpPr>
              <p:spPr bwMode="auto">
                <a:xfrm>
                  <a:off x="1915" y="3630"/>
                  <a:ext cx="39" cy="27"/>
                </a:xfrm>
                <a:custGeom>
                  <a:avLst/>
                  <a:gdLst>
                    <a:gd name="T0" fmla="*/ 0 w 78"/>
                    <a:gd name="T1" fmla="*/ 1 h 53"/>
                    <a:gd name="T2" fmla="*/ 1 w 78"/>
                    <a:gd name="T3" fmla="*/ 1 h 53"/>
                    <a:gd name="T4" fmla="*/ 1 w 78"/>
                    <a:gd name="T5" fmla="*/ 1 h 53"/>
                    <a:gd name="T6" fmla="*/ 1 w 78"/>
                    <a:gd name="T7" fmla="*/ 1 h 53"/>
                    <a:gd name="T8" fmla="*/ 1 w 78"/>
                    <a:gd name="T9" fmla="*/ 1 h 53"/>
                    <a:gd name="T10" fmla="*/ 1 w 78"/>
                    <a:gd name="T11" fmla="*/ 1 h 53"/>
                    <a:gd name="T12" fmla="*/ 1 w 78"/>
                    <a:gd name="T13" fmla="*/ 1 h 53"/>
                    <a:gd name="T14" fmla="*/ 1 w 78"/>
                    <a:gd name="T15" fmla="*/ 0 h 53"/>
                    <a:gd name="T16" fmla="*/ 1 w 78"/>
                    <a:gd name="T17" fmla="*/ 1 h 53"/>
                    <a:gd name="T18" fmla="*/ 0 w 78"/>
                    <a:gd name="T19" fmla="*/ 1 h 53"/>
                    <a:gd name="T20" fmla="*/ 1 w 78"/>
                    <a:gd name="T21" fmla="*/ 1 h 53"/>
                    <a:gd name="T22" fmla="*/ 0 w 78"/>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
                    <a:gd name="T37" fmla="*/ 0 h 53"/>
                    <a:gd name="T38" fmla="*/ 78 w 78"/>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 h="53">
                      <a:moveTo>
                        <a:pt x="0" y="8"/>
                      </a:moveTo>
                      <a:lnTo>
                        <a:pt x="3" y="14"/>
                      </a:lnTo>
                      <a:lnTo>
                        <a:pt x="69" y="53"/>
                      </a:lnTo>
                      <a:lnTo>
                        <a:pt x="78" y="40"/>
                      </a:lnTo>
                      <a:lnTo>
                        <a:pt x="12" y="1"/>
                      </a:lnTo>
                      <a:lnTo>
                        <a:pt x="15" y="8"/>
                      </a:lnTo>
                      <a:lnTo>
                        <a:pt x="12" y="1"/>
                      </a:lnTo>
                      <a:lnTo>
                        <a:pt x="6" y="0"/>
                      </a:lnTo>
                      <a:lnTo>
                        <a:pt x="1" y="3"/>
                      </a:lnTo>
                      <a:lnTo>
                        <a:pt x="0" y="8"/>
                      </a:lnTo>
                      <a:lnTo>
                        <a:pt x="3" y="14"/>
                      </a:lnTo>
                      <a:lnTo>
                        <a:pt x="0" y="8"/>
                      </a:lnTo>
                      <a:close/>
                    </a:path>
                  </a:pathLst>
                </a:custGeom>
                <a:solidFill>
                  <a:srgbClr val="000000"/>
                </a:solidFill>
                <a:ln w="9525">
                  <a:noFill/>
                  <a:round/>
                  <a:headEnd/>
                  <a:tailEnd/>
                </a:ln>
              </p:spPr>
              <p:txBody>
                <a:bodyPr/>
                <a:lstStyle/>
                <a:p>
                  <a:endParaRPr lang="en-US"/>
                </a:p>
              </p:txBody>
            </p:sp>
            <p:sp>
              <p:nvSpPr>
                <p:cNvPr id="29831" name="Freeform 92"/>
                <p:cNvSpPr>
                  <a:spLocks/>
                </p:cNvSpPr>
                <p:nvPr/>
              </p:nvSpPr>
              <p:spPr bwMode="auto">
                <a:xfrm>
                  <a:off x="2153" y="3445"/>
                  <a:ext cx="76" cy="75"/>
                </a:xfrm>
                <a:custGeom>
                  <a:avLst/>
                  <a:gdLst>
                    <a:gd name="T0" fmla="*/ 0 w 152"/>
                    <a:gd name="T1" fmla="*/ 0 h 150"/>
                    <a:gd name="T2" fmla="*/ 0 w 152"/>
                    <a:gd name="T3" fmla="*/ 1 h 150"/>
                    <a:gd name="T4" fmla="*/ 1 w 152"/>
                    <a:gd name="T5" fmla="*/ 1 h 150"/>
                    <a:gd name="T6" fmla="*/ 1 w 152"/>
                    <a:gd name="T7" fmla="*/ 1 h 150"/>
                    <a:gd name="T8" fmla="*/ 1 w 152"/>
                    <a:gd name="T9" fmla="*/ 1 h 150"/>
                    <a:gd name="T10" fmla="*/ 1 w 152"/>
                    <a:gd name="T11" fmla="*/ 1 h 150"/>
                    <a:gd name="T12" fmla="*/ 1 w 152"/>
                    <a:gd name="T13" fmla="*/ 1 h 150"/>
                    <a:gd name="T14" fmla="*/ 1 w 152"/>
                    <a:gd name="T15" fmla="*/ 1 h 150"/>
                    <a:gd name="T16" fmla="*/ 1 w 152"/>
                    <a:gd name="T17" fmla="*/ 1 h 150"/>
                    <a:gd name="T18" fmla="*/ 1 w 152"/>
                    <a:gd name="T19" fmla="*/ 1 h 150"/>
                    <a:gd name="T20" fmla="*/ 1 w 152"/>
                    <a:gd name="T21" fmla="*/ 1 h 150"/>
                    <a:gd name="T22" fmla="*/ 1 w 152"/>
                    <a:gd name="T23" fmla="*/ 1 h 150"/>
                    <a:gd name="T24" fmla="*/ 1 w 152"/>
                    <a:gd name="T25" fmla="*/ 1 h 150"/>
                    <a:gd name="T26" fmla="*/ 1 w 152"/>
                    <a:gd name="T27" fmla="*/ 1 h 150"/>
                    <a:gd name="T28" fmla="*/ 1 w 152"/>
                    <a:gd name="T29" fmla="*/ 1 h 150"/>
                    <a:gd name="T30" fmla="*/ 1 w 152"/>
                    <a:gd name="T31" fmla="*/ 1 h 150"/>
                    <a:gd name="T32" fmla="*/ 1 w 152"/>
                    <a:gd name="T33" fmla="*/ 1 h 150"/>
                    <a:gd name="T34" fmla="*/ 1 w 152"/>
                    <a:gd name="T35" fmla="*/ 1 h 150"/>
                    <a:gd name="T36" fmla="*/ 1 w 152"/>
                    <a:gd name="T37" fmla="*/ 1 h 150"/>
                    <a:gd name="T38" fmla="*/ 1 w 152"/>
                    <a:gd name="T39" fmla="*/ 1 h 150"/>
                    <a:gd name="T40" fmla="*/ 1 w 152"/>
                    <a:gd name="T41" fmla="*/ 1 h 150"/>
                    <a:gd name="T42" fmla="*/ 1 w 152"/>
                    <a:gd name="T43" fmla="*/ 1 h 150"/>
                    <a:gd name="T44" fmla="*/ 1 w 152"/>
                    <a:gd name="T45" fmla="*/ 1 h 150"/>
                    <a:gd name="T46" fmla="*/ 1 w 152"/>
                    <a:gd name="T47" fmla="*/ 1 h 150"/>
                    <a:gd name="T48" fmla="*/ 1 w 152"/>
                    <a:gd name="T49" fmla="*/ 1 h 150"/>
                    <a:gd name="T50" fmla="*/ 1 w 152"/>
                    <a:gd name="T51" fmla="*/ 1 h 150"/>
                    <a:gd name="T52" fmla="*/ 1 w 152"/>
                    <a:gd name="T53" fmla="*/ 1 h 150"/>
                    <a:gd name="T54" fmla="*/ 1 w 152"/>
                    <a:gd name="T55" fmla="*/ 1 h 150"/>
                    <a:gd name="T56" fmla="*/ 1 w 152"/>
                    <a:gd name="T57" fmla="*/ 1 h 150"/>
                    <a:gd name="T58" fmla="*/ 1 w 152"/>
                    <a:gd name="T59" fmla="*/ 1 h 150"/>
                    <a:gd name="T60" fmla="*/ 1 w 152"/>
                    <a:gd name="T61" fmla="*/ 1 h 150"/>
                    <a:gd name="T62" fmla="*/ 1 w 152"/>
                    <a:gd name="T63" fmla="*/ 1 h 150"/>
                    <a:gd name="T64" fmla="*/ 1 w 152"/>
                    <a:gd name="T65" fmla="*/ 1 h 150"/>
                    <a:gd name="T66" fmla="*/ 1 w 152"/>
                    <a:gd name="T67" fmla="*/ 1 h 150"/>
                    <a:gd name="T68" fmla="*/ 0 w 152"/>
                    <a:gd name="T69" fmla="*/ 0 h 15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2"/>
                    <a:gd name="T106" fmla="*/ 0 h 150"/>
                    <a:gd name="T107" fmla="*/ 152 w 152"/>
                    <a:gd name="T108" fmla="*/ 150 h 15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2" h="150">
                      <a:moveTo>
                        <a:pt x="0" y="0"/>
                      </a:moveTo>
                      <a:lnTo>
                        <a:pt x="0" y="3"/>
                      </a:lnTo>
                      <a:lnTo>
                        <a:pt x="1" y="12"/>
                      </a:lnTo>
                      <a:lnTo>
                        <a:pt x="1" y="27"/>
                      </a:lnTo>
                      <a:lnTo>
                        <a:pt x="3" y="42"/>
                      </a:lnTo>
                      <a:lnTo>
                        <a:pt x="5" y="59"/>
                      </a:lnTo>
                      <a:lnTo>
                        <a:pt x="6" y="74"/>
                      </a:lnTo>
                      <a:lnTo>
                        <a:pt x="8" y="86"/>
                      </a:lnTo>
                      <a:lnTo>
                        <a:pt x="9" y="92"/>
                      </a:lnTo>
                      <a:lnTo>
                        <a:pt x="12" y="100"/>
                      </a:lnTo>
                      <a:lnTo>
                        <a:pt x="17" y="108"/>
                      </a:lnTo>
                      <a:lnTo>
                        <a:pt x="19" y="114"/>
                      </a:lnTo>
                      <a:lnTo>
                        <a:pt x="20" y="117"/>
                      </a:lnTo>
                      <a:lnTo>
                        <a:pt x="20" y="119"/>
                      </a:lnTo>
                      <a:lnTo>
                        <a:pt x="22" y="120"/>
                      </a:lnTo>
                      <a:lnTo>
                        <a:pt x="25" y="125"/>
                      </a:lnTo>
                      <a:lnTo>
                        <a:pt x="26" y="130"/>
                      </a:lnTo>
                      <a:lnTo>
                        <a:pt x="31" y="136"/>
                      </a:lnTo>
                      <a:lnTo>
                        <a:pt x="41" y="142"/>
                      </a:lnTo>
                      <a:lnTo>
                        <a:pt x="50" y="147"/>
                      </a:lnTo>
                      <a:lnTo>
                        <a:pt x="61" y="150"/>
                      </a:lnTo>
                      <a:lnTo>
                        <a:pt x="66" y="150"/>
                      </a:lnTo>
                      <a:lnTo>
                        <a:pt x="72" y="150"/>
                      </a:lnTo>
                      <a:lnTo>
                        <a:pt x="80" y="149"/>
                      </a:lnTo>
                      <a:lnTo>
                        <a:pt x="89" y="147"/>
                      </a:lnTo>
                      <a:lnTo>
                        <a:pt x="98" y="145"/>
                      </a:lnTo>
                      <a:lnTo>
                        <a:pt x="108" y="142"/>
                      </a:lnTo>
                      <a:lnTo>
                        <a:pt x="117" y="139"/>
                      </a:lnTo>
                      <a:lnTo>
                        <a:pt x="127" y="136"/>
                      </a:lnTo>
                      <a:lnTo>
                        <a:pt x="141" y="128"/>
                      </a:lnTo>
                      <a:lnTo>
                        <a:pt x="149" y="122"/>
                      </a:lnTo>
                      <a:lnTo>
                        <a:pt x="152" y="120"/>
                      </a:lnTo>
                      <a:lnTo>
                        <a:pt x="152" y="119"/>
                      </a:lnTo>
                      <a:lnTo>
                        <a:pt x="141" y="92"/>
                      </a:lnTo>
                      <a:lnTo>
                        <a:pt x="0" y="0"/>
                      </a:lnTo>
                      <a:close/>
                    </a:path>
                  </a:pathLst>
                </a:custGeom>
                <a:solidFill>
                  <a:srgbClr val="FFB27F"/>
                </a:solidFill>
                <a:ln w="9525">
                  <a:noFill/>
                  <a:round/>
                  <a:headEnd/>
                  <a:tailEnd/>
                </a:ln>
              </p:spPr>
              <p:txBody>
                <a:bodyPr/>
                <a:lstStyle/>
                <a:p>
                  <a:endParaRPr lang="en-US"/>
                </a:p>
              </p:txBody>
            </p:sp>
            <p:sp>
              <p:nvSpPr>
                <p:cNvPr id="29832" name="Freeform 93"/>
                <p:cNvSpPr>
                  <a:spLocks/>
                </p:cNvSpPr>
                <p:nvPr/>
              </p:nvSpPr>
              <p:spPr bwMode="auto">
                <a:xfrm>
                  <a:off x="2147" y="3445"/>
                  <a:ext cx="15" cy="48"/>
                </a:xfrm>
                <a:custGeom>
                  <a:avLst/>
                  <a:gdLst>
                    <a:gd name="T0" fmla="*/ 1 w 30"/>
                    <a:gd name="T1" fmla="*/ 0 h 97"/>
                    <a:gd name="T2" fmla="*/ 1 w 30"/>
                    <a:gd name="T3" fmla="*/ 0 h 97"/>
                    <a:gd name="T4" fmla="*/ 1 w 30"/>
                    <a:gd name="T5" fmla="*/ 0 h 97"/>
                    <a:gd name="T6" fmla="*/ 1 w 30"/>
                    <a:gd name="T7" fmla="*/ 0 h 97"/>
                    <a:gd name="T8" fmla="*/ 1 w 30"/>
                    <a:gd name="T9" fmla="*/ 0 h 97"/>
                    <a:gd name="T10" fmla="*/ 1 w 30"/>
                    <a:gd name="T11" fmla="*/ 0 h 97"/>
                    <a:gd name="T12" fmla="*/ 1 w 30"/>
                    <a:gd name="T13" fmla="*/ 0 h 97"/>
                    <a:gd name="T14" fmla="*/ 1 w 30"/>
                    <a:gd name="T15" fmla="*/ 0 h 97"/>
                    <a:gd name="T16" fmla="*/ 1 w 30"/>
                    <a:gd name="T17" fmla="*/ 0 h 97"/>
                    <a:gd name="T18" fmla="*/ 1 w 30"/>
                    <a:gd name="T19" fmla="*/ 0 h 97"/>
                    <a:gd name="T20" fmla="*/ 0 w 30"/>
                    <a:gd name="T21" fmla="*/ 0 h 97"/>
                    <a:gd name="T22" fmla="*/ 0 w 30"/>
                    <a:gd name="T23" fmla="*/ 0 h 97"/>
                    <a:gd name="T24" fmla="*/ 1 w 30"/>
                    <a:gd name="T25" fmla="*/ 0 h 97"/>
                    <a:gd name="T26" fmla="*/ 1 w 30"/>
                    <a:gd name="T27" fmla="*/ 0 h 97"/>
                    <a:gd name="T28" fmla="*/ 1 w 30"/>
                    <a:gd name="T29" fmla="*/ 0 h 97"/>
                    <a:gd name="T30" fmla="*/ 1 w 30"/>
                    <a:gd name="T31" fmla="*/ 0 h 97"/>
                    <a:gd name="T32" fmla="*/ 1 w 30"/>
                    <a:gd name="T33" fmla="*/ 0 h 97"/>
                    <a:gd name="T34" fmla="*/ 1 w 30"/>
                    <a:gd name="T35" fmla="*/ 0 h 97"/>
                    <a:gd name="T36" fmla="*/ 1 w 30"/>
                    <a:gd name="T37" fmla="*/ 0 h 97"/>
                    <a:gd name="T38" fmla="*/ 1 w 30"/>
                    <a:gd name="T39" fmla="*/ 0 h 97"/>
                    <a:gd name="T40" fmla="*/ 1 w 30"/>
                    <a:gd name="T41" fmla="*/ 0 h 9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97"/>
                    <a:gd name="T65" fmla="*/ 30 w 30"/>
                    <a:gd name="T66" fmla="*/ 97 h 9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97">
                      <a:moveTo>
                        <a:pt x="30" y="88"/>
                      </a:moveTo>
                      <a:lnTo>
                        <a:pt x="30" y="88"/>
                      </a:lnTo>
                      <a:lnTo>
                        <a:pt x="30" y="84"/>
                      </a:lnTo>
                      <a:lnTo>
                        <a:pt x="28" y="72"/>
                      </a:lnTo>
                      <a:lnTo>
                        <a:pt x="26" y="58"/>
                      </a:lnTo>
                      <a:lnTo>
                        <a:pt x="25" y="41"/>
                      </a:lnTo>
                      <a:lnTo>
                        <a:pt x="23" y="27"/>
                      </a:lnTo>
                      <a:lnTo>
                        <a:pt x="23" y="12"/>
                      </a:lnTo>
                      <a:lnTo>
                        <a:pt x="22" y="2"/>
                      </a:lnTo>
                      <a:lnTo>
                        <a:pt x="22" y="0"/>
                      </a:lnTo>
                      <a:lnTo>
                        <a:pt x="0" y="0"/>
                      </a:lnTo>
                      <a:lnTo>
                        <a:pt x="0" y="5"/>
                      </a:lnTo>
                      <a:lnTo>
                        <a:pt x="1" y="12"/>
                      </a:lnTo>
                      <a:lnTo>
                        <a:pt x="1" y="27"/>
                      </a:lnTo>
                      <a:lnTo>
                        <a:pt x="3" y="44"/>
                      </a:lnTo>
                      <a:lnTo>
                        <a:pt x="5" y="61"/>
                      </a:lnTo>
                      <a:lnTo>
                        <a:pt x="6" y="75"/>
                      </a:lnTo>
                      <a:lnTo>
                        <a:pt x="8" y="88"/>
                      </a:lnTo>
                      <a:lnTo>
                        <a:pt x="11" y="97"/>
                      </a:lnTo>
                      <a:lnTo>
                        <a:pt x="30" y="88"/>
                      </a:lnTo>
                      <a:close/>
                    </a:path>
                  </a:pathLst>
                </a:custGeom>
                <a:solidFill>
                  <a:srgbClr val="000000"/>
                </a:solidFill>
                <a:ln w="9525">
                  <a:noFill/>
                  <a:round/>
                  <a:headEnd/>
                  <a:tailEnd/>
                </a:ln>
              </p:spPr>
              <p:txBody>
                <a:bodyPr/>
                <a:lstStyle/>
                <a:p>
                  <a:endParaRPr lang="en-US"/>
                </a:p>
              </p:txBody>
            </p:sp>
            <p:sp>
              <p:nvSpPr>
                <p:cNvPr id="29833" name="Freeform 94"/>
                <p:cNvSpPr>
                  <a:spLocks/>
                </p:cNvSpPr>
                <p:nvPr/>
              </p:nvSpPr>
              <p:spPr bwMode="auto">
                <a:xfrm>
                  <a:off x="2153" y="3489"/>
                  <a:ext cx="16" cy="20"/>
                </a:xfrm>
                <a:custGeom>
                  <a:avLst/>
                  <a:gdLst>
                    <a:gd name="T0" fmla="*/ 1 w 31"/>
                    <a:gd name="T1" fmla="*/ 1 h 40"/>
                    <a:gd name="T2" fmla="*/ 1 w 31"/>
                    <a:gd name="T3" fmla="*/ 1 h 40"/>
                    <a:gd name="T4" fmla="*/ 1 w 31"/>
                    <a:gd name="T5" fmla="*/ 1 h 40"/>
                    <a:gd name="T6" fmla="*/ 1 w 31"/>
                    <a:gd name="T7" fmla="*/ 1 h 40"/>
                    <a:gd name="T8" fmla="*/ 1 w 31"/>
                    <a:gd name="T9" fmla="*/ 1 h 40"/>
                    <a:gd name="T10" fmla="*/ 1 w 31"/>
                    <a:gd name="T11" fmla="*/ 0 h 40"/>
                    <a:gd name="T12" fmla="*/ 0 w 31"/>
                    <a:gd name="T13" fmla="*/ 1 h 40"/>
                    <a:gd name="T14" fmla="*/ 1 w 31"/>
                    <a:gd name="T15" fmla="*/ 1 h 40"/>
                    <a:gd name="T16" fmla="*/ 1 w 31"/>
                    <a:gd name="T17" fmla="*/ 1 h 40"/>
                    <a:gd name="T18" fmla="*/ 1 w 31"/>
                    <a:gd name="T19" fmla="*/ 1 h 40"/>
                    <a:gd name="T20" fmla="*/ 1 w 31"/>
                    <a:gd name="T21" fmla="*/ 1 h 40"/>
                    <a:gd name="T22" fmla="*/ 1 w 31"/>
                    <a:gd name="T23" fmla="*/ 1 h 40"/>
                    <a:gd name="T24" fmla="*/ 1 w 31"/>
                    <a:gd name="T25" fmla="*/ 1 h 40"/>
                    <a:gd name="T26" fmla="*/ 1 w 31"/>
                    <a:gd name="T27" fmla="*/ 1 h 40"/>
                    <a:gd name="T28" fmla="*/ 1 w 31"/>
                    <a:gd name="T29" fmla="*/ 1 h 40"/>
                    <a:gd name="T30" fmla="*/ 1 w 31"/>
                    <a:gd name="T31" fmla="*/ 1 h 40"/>
                    <a:gd name="T32" fmla="*/ 1 w 31"/>
                    <a:gd name="T33" fmla="*/ 1 h 40"/>
                    <a:gd name="T34" fmla="*/ 1 w 31"/>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40"/>
                    <a:gd name="T56" fmla="*/ 31 w 31"/>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40">
                      <a:moveTo>
                        <a:pt x="30" y="23"/>
                      </a:moveTo>
                      <a:lnTo>
                        <a:pt x="30" y="25"/>
                      </a:lnTo>
                      <a:lnTo>
                        <a:pt x="30" y="23"/>
                      </a:lnTo>
                      <a:lnTo>
                        <a:pt x="26" y="15"/>
                      </a:lnTo>
                      <a:lnTo>
                        <a:pt x="22" y="7"/>
                      </a:lnTo>
                      <a:lnTo>
                        <a:pt x="19" y="0"/>
                      </a:lnTo>
                      <a:lnTo>
                        <a:pt x="0" y="9"/>
                      </a:lnTo>
                      <a:lnTo>
                        <a:pt x="3" y="17"/>
                      </a:lnTo>
                      <a:lnTo>
                        <a:pt x="8" y="25"/>
                      </a:lnTo>
                      <a:lnTo>
                        <a:pt x="8" y="29"/>
                      </a:lnTo>
                      <a:lnTo>
                        <a:pt x="11" y="34"/>
                      </a:lnTo>
                      <a:lnTo>
                        <a:pt x="11" y="36"/>
                      </a:lnTo>
                      <a:lnTo>
                        <a:pt x="9" y="34"/>
                      </a:lnTo>
                      <a:lnTo>
                        <a:pt x="15" y="40"/>
                      </a:lnTo>
                      <a:lnTo>
                        <a:pt x="25" y="40"/>
                      </a:lnTo>
                      <a:lnTo>
                        <a:pt x="31" y="34"/>
                      </a:lnTo>
                      <a:lnTo>
                        <a:pt x="31" y="25"/>
                      </a:lnTo>
                      <a:lnTo>
                        <a:pt x="30" y="23"/>
                      </a:lnTo>
                      <a:close/>
                    </a:path>
                  </a:pathLst>
                </a:custGeom>
                <a:solidFill>
                  <a:srgbClr val="000000"/>
                </a:solidFill>
                <a:ln w="9525">
                  <a:noFill/>
                  <a:round/>
                  <a:headEnd/>
                  <a:tailEnd/>
                </a:ln>
              </p:spPr>
              <p:txBody>
                <a:bodyPr/>
                <a:lstStyle/>
                <a:p>
                  <a:endParaRPr lang="en-US"/>
                </a:p>
              </p:txBody>
            </p:sp>
            <p:sp>
              <p:nvSpPr>
                <p:cNvPr id="29834" name="Freeform 95"/>
                <p:cNvSpPr>
                  <a:spLocks/>
                </p:cNvSpPr>
                <p:nvPr/>
              </p:nvSpPr>
              <p:spPr bwMode="auto">
                <a:xfrm>
                  <a:off x="2158" y="3501"/>
                  <a:ext cx="13" cy="11"/>
                </a:xfrm>
                <a:custGeom>
                  <a:avLst/>
                  <a:gdLst>
                    <a:gd name="T0" fmla="*/ 1 w 25"/>
                    <a:gd name="T1" fmla="*/ 0 h 24"/>
                    <a:gd name="T2" fmla="*/ 1 w 25"/>
                    <a:gd name="T3" fmla="*/ 0 h 24"/>
                    <a:gd name="T4" fmla="*/ 1 w 25"/>
                    <a:gd name="T5" fmla="*/ 0 h 24"/>
                    <a:gd name="T6" fmla="*/ 1 w 25"/>
                    <a:gd name="T7" fmla="*/ 0 h 24"/>
                    <a:gd name="T8" fmla="*/ 1 w 25"/>
                    <a:gd name="T9" fmla="*/ 0 h 24"/>
                    <a:gd name="T10" fmla="*/ 1 w 25"/>
                    <a:gd name="T11" fmla="*/ 0 h 24"/>
                    <a:gd name="T12" fmla="*/ 0 w 25"/>
                    <a:gd name="T13" fmla="*/ 0 h 24"/>
                    <a:gd name="T14" fmla="*/ 0 w 25"/>
                    <a:gd name="T15" fmla="*/ 0 h 24"/>
                    <a:gd name="T16" fmla="*/ 1 w 25"/>
                    <a:gd name="T17" fmla="*/ 0 h 24"/>
                    <a:gd name="T18" fmla="*/ 1 w 25"/>
                    <a:gd name="T19" fmla="*/ 0 h 24"/>
                    <a:gd name="T20" fmla="*/ 1 w 25"/>
                    <a:gd name="T21" fmla="*/ 0 h 24"/>
                    <a:gd name="T22" fmla="*/ 1 w 25"/>
                    <a:gd name="T23" fmla="*/ 0 h 24"/>
                    <a:gd name="T24" fmla="*/ 1 w 25"/>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4"/>
                    <a:gd name="T41" fmla="*/ 25 w 2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4">
                      <a:moveTo>
                        <a:pt x="25" y="14"/>
                      </a:moveTo>
                      <a:lnTo>
                        <a:pt x="25" y="14"/>
                      </a:lnTo>
                      <a:lnTo>
                        <a:pt x="23" y="9"/>
                      </a:lnTo>
                      <a:lnTo>
                        <a:pt x="20" y="3"/>
                      </a:lnTo>
                      <a:lnTo>
                        <a:pt x="19" y="3"/>
                      </a:lnTo>
                      <a:lnTo>
                        <a:pt x="19" y="0"/>
                      </a:lnTo>
                      <a:lnTo>
                        <a:pt x="0" y="13"/>
                      </a:lnTo>
                      <a:lnTo>
                        <a:pt x="1" y="16"/>
                      </a:lnTo>
                      <a:lnTo>
                        <a:pt x="4" y="19"/>
                      </a:lnTo>
                      <a:lnTo>
                        <a:pt x="6" y="24"/>
                      </a:lnTo>
                      <a:lnTo>
                        <a:pt x="25" y="14"/>
                      </a:lnTo>
                      <a:close/>
                    </a:path>
                  </a:pathLst>
                </a:custGeom>
                <a:solidFill>
                  <a:srgbClr val="000000"/>
                </a:solidFill>
                <a:ln w="9525">
                  <a:noFill/>
                  <a:round/>
                  <a:headEnd/>
                  <a:tailEnd/>
                </a:ln>
              </p:spPr>
              <p:txBody>
                <a:bodyPr/>
                <a:lstStyle/>
                <a:p>
                  <a:endParaRPr lang="en-US"/>
                </a:p>
              </p:txBody>
            </p:sp>
            <p:sp>
              <p:nvSpPr>
                <p:cNvPr id="29835" name="Freeform 96"/>
                <p:cNvSpPr>
                  <a:spLocks/>
                </p:cNvSpPr>
                <p:nvPr/>
              </p:nvSpPr>
              <p:spPr bwMode="auto">
                <a:xfrm>
                  <a:off x="2162" y="3508"/>
                  <a:ext cx="22" cy="18"/>
                </a:xfrm>
                <a:custGeom>
                  <a:avLst/>
                  <a:gdLst>
                    <a:gd name="T0" fmla="*/ 0 w 45"/>
                    <a:gd name="T1" fmla="*/ 1 h 36"/>
                    <a:gd name="T2" fmla="*/ 0 w 45"/>
                    <a:gd name="T3" fmla="*/ 1 h 36"/>
                    <a:gd name="T4" fmla="*/ 0 w 45"/>
                    <a:gd name="T5" fmla="*/ 1 h 36"/>
                    <a:gd name="T6" fmla="*/ 0 w 45"/>
                    <a:gd name="T7" fmla="*/ 1 h 36"/>
                    <a:gd name="T8" fmla="*/ 0 w 45"/>
                    <a:gd name="T9" fmla="*/ 1 h 36"/>
                    <a:gd name="T10" fmla="*/ 0 w 45"/>
                    <a:gd name="T11" fmla="*/ 0 h 36"/>
                    <a:gd name="T12" fmla="*/ 0 w 45"/>
                    <a:gd name="T13" fmla="*/ 1 h 36"/>
                    <a:gd name="T14" fmla="*/ 0 w 45"/>
                    <a:gd name="T15" fmla="*/ 1 h 36"/>
                    <a:gd name="T16" fmla="*/ 0 w 45"/>
                    <a:gd name="T17" fmla="*/ 1 h 36"/>
                    <a:gd name="T18" fmla="*/ 0 w 45"/>
                    <a:gd name="T19" fmla="*/ 1 h 36"/>
                    <a:gd name="T20" fmla="*/ 0 w 45"/>
                    <a:gd name="T21" fmla="*/ 1 h 36"/>
                    <a:gd name="T22" fmla="*/ 0 w 45"/>
                    <a:gd name="T23" fmla="*/ 1 h 36"/>
                    <a:gd name="T24" fmla="*/ 0 w 45"/>
                    <a:gd name="T25" fmla="*/ 1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36"/>
                    <a:gd name="T41" fmla="*/ 45 w 45"/>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36">
                      <a:moveTo>
                        <a:pt x="45" y="14"/>
                      </a:moveTo>
                      <a:lnTo>
                        <a:pt x="45" y="14"/>
                      </a:lnTo>
                      <a:lnTo>
                        <a:pt x="36" y="11"/>
                      </a:lnTo>
                      <a:lnTo>
                        <a:pt x="30" y="8"/>
                      </a:lnTo>
                      <a:lnTo>
                        <a:pt x="22" y="3"/>
                      </a:lnTo>
                      <a:lnTo>
                        <a:pt x="19" y="0"/>
                      </a:lnTo>
                      <a:lnTo>
                        <a:pt x="0" y="10"/>
                      </a:lnTo>
                      <a:lnTo>
                        <a:pt x="6" y="19"/>
                      </a:lnTo>
                      <a:lnTo>
                        <a:pt x="17" y="27"/>
                      </a:lnTo>
                      <a:lnTo>
                        <a:pt x="30" y="33"/>
                      </a:lnTo>
                      <a:lnTo>
                        <a:pt x="42" y="36"/>
                      </a:lnTo>
                      <a:lnTo>
                        <a:pt x="45" y="14"/>
                      </a:lnTo>
                      <a:close/>
                    </a:path>
                  </a:pathLst>
                </a:custGeom>
                <a:solidFill>
                  <a:srgbClr val="000000"/>
                </a:solidFill>
                <a:ln w="9525">
                  <a:noFill/>
                  <a:round/>
                  <a:headEnd/>
                  <a:tailEnd/>
                </a:ln>
              </p:spPr>
              <p:txBody>
                <a:bodyPr/>
                <a:lstStyle/>
                <a:p>
                  <a:endParaRPr lang="en-US"/>
                </a:p>
              </p:txBody>
            </p:sp>
            <p:sp>
              <p:nvSpPr>
                <p:cNvPr id="29836" name="Freeform 97"/>
                <p:cNvSpPr>
                  <a:spLocks/>
                </p:cNvSpPr>
                <p:nvPr/>
              </p:nvSpPr>
              <p:spPr bwMode="auto">
                <a:xfrm>
                  <a:off x="2183" y="3508"/>
                  <a:ext cx="36" cy="18"/>
                </a:xfrm>
                <a:custGeom>
                  <a:avLst/>
                  <a:gdLst>
                    <a:gd name="T0" fmla="*/ 1 w 72"/>
                    <a:gd name="T1" fmla="*/ 0 h 34"/>
                    <a:gd name="T2" fmla="*/ 1 w 72"/>
                    <a:gd name="T3" fmla="*/ 0 h 34"/>
                    <a:gd name="T4" fmla="*/ 1 w 72"/>
                    <a:gd name="T5" fmla="*/ 1 h 34"/>
                    <a:gd name="T6" fmla="*/ 1 w 72"/>
                    <a:gd name="T7" fmla="*/ 1 h 34"/>
                    <a:gd name="T8" fmla="*/ 1 w 72"/>
                    <a:gd name="T9" fmla="*/ 1 h 34"/>
                    <a:gd name="T10" fmla="*/ 1 w 72"/>
                    <a:gd name="T11" fmla="*/ 1 h 34"/>
                    <a:gd name="T12" fmla="*/ 1 w 72"/>
                    <a:gd name="T13" fmla="*/ 1 h 34"/>
                    <a:gd name="T14" fmla="*/ 1 w 72"/>
                    <a:gd name="T15" fmla="*/ 1 h 34"/>
                    <a:gd name="T16" fmla="*/ 1 w 72"/>
                    <a:gd name="T17" fmla="*/ 1 h 34"/>
                    <a:gd name="T18" fmla="*/ 1 w 72"/>
                    <a:gd name="T19" fmla="*/ 1 h 34"/>
                    <a:gd name="T20" fmla="*/ 0 w 72"/>
                    <a:gd name="T21" fmla="*/ 1 h 34"/>
                    <a:gd name="T22" fmla="*/ 1 w 72"/>
                    <a:gd name="T23" fmla="*/ 1 h 34"/>
                    <a:gd name="T24" fmla="*/ 1 w 72"/>
                    <a:gd name="T25" fmla="*/ 1 h 34"/>
                    <a:gd name="T26" fmla="*/ 1 w 72"/>
                    <a:gd name="T27" fmla="*/ 1 h 34"/>
                    <a:gd name="T28" fmla="*/ 1 w 72"/>
                    <a:gd name="T29" fmla="*/ 1 h 34"/>
                    <a:gd name="T30" fmla="*/ 1 w 72"/>
                    <a:gd name="T31" fmla="*/ 1 h 34"/>
                    <a:gd name="T32" fmla="*/ 1 w 72"/>
                    <a:gd name="T33" fmla="*/ 1 h 34"/>
                    <a:gd name="T34" fmla="*/ 1 w 72"/>
                    <a:gd name="T35" fmla="*/ 1 h 34"/>
                    <a:gd name="T36" fmla="*/ 1 w 72"/>
                    <a:gd name="T37" fmla="*/ 1 h 34"/>
                    <a:gd name="T38" fmla="*/ 1 w 72"/>
                    <a:gd name="T39" fmla="*/ 1 h 34"/>
                    <a:gd name="T40" fmla="*/ 1 w 72"/>
                    <a:gd name="T41" fmla="*/ 0 h 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4"/>
                    <a:gd name="T65" fmla="*/ 72 w 72"/>
                    <a:gd name="T66" fmla="*/ 34 h 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4">
                      <a:moveTo>
                        <a:pt x="63" y="0"/>
                      </a:moveTo>
                      <a:lnTo>
                        <a:pt x="63" y="0"/>
                      </a:lnTo>
                      <a:lnTo>
                        <a:pt x="55" y="1"/>
                      </a:lnTo>
                      <a:lnTo>
                        <a:pt x="46" y="4"/>
                      </a:lnTo>
                      <a:lnTo>
                        <a:pt x="36" y="8"/>
                      </a:lnTo>
                      <a:lnTo>
                        <a:pt x="28" y="9"/>
                      </a:lnTo>
                      <a:lnTo>
                        <a:pt x="19" y="11"/>
                      </a:lnTo>
                      <a:lnTo>
                        <a:pt x="11" y="12"/>
                      </a:lnTo>
                      <a:lnTo>
                        <a:pt x="7" y="12"/>
                      </a:lnTo>
                      <a:lnTo>
                        <a:pt x="3" y="12"/>
                      </a:lnTo>
                      <a:lnTo>
                        <a:pt x="0" y="34"/>
                      </a:lnTo>
                      <a:lnTo>
                        <a:pt x="7" y="34"/>
                      </a:lnTo>
                      <a:lnTo>
                        <a:pt x="14" y="34"/>
                      </a:lnTo>
                      <a:lnTo>
                        <a:pt x="22" y="33"/>
                      </a:lnTo>
                      <a:lnTo>
                        <a:pt x="32" y="31"/>
                      </a:lnTo>
                      <a:lnTo>
                        <a:pt x="43" y="29"/>
                      </a:lnTo>
                      <a:lnTo>
                        <a:pt x="52" y="26"/>
                      </a:lnTo>
                      <a:lnTo>
                        <a:pt x="61" y="23"/>
                      </a:lnTo>
                      <a:lnTo>
                        <a:pt x="72" y="18"/>
                      </a:lnTo>
                      <a:lnTo>
                        <a:pt x="63" y="0"/>
                      </a:lnTo>
                      <a:close/>
                    </a:path>
                  </a:pathLst>
                </a:custGeom>
                <a:solidFill>
                  <a:srgbClr val="000000"/>
                </a:solidFill>
                <a:ln w="9525">
                  <a:noFill/>
                  <a:round/>
                  <a:headEnd/>
                  <a:tailEnd/>
                </a:ln>
              </p:spPr>
              <p:txBody>
                <a:bodyPr/>
                <a:lstStyle/>
                <a:p>
                  <a:endParaRPr lang="en-US"/>
                </a:p>
              </p:txBody>
            </p:sp>
            <p:sp>
              <p:nvSpPr>
                <p:cNvPr id="29837" name="Freeform 98"/>
                <p:cNvSpPr>
                  <a:spLocks/>
                </p:cNvSpPr>
                <p:nvPr/>
              </p:nvSpPr>
              <p:spPr bwMode="auto">
                <a:xfrm>
                  <a:off x="2214" y="3499"/>
                  <a:ext cx="20" cy="19"/>
                </a:xfrm>
                <a:custGeom>
                  <a:avLst/>
                  <a:gdLst>
                    <a:gd name="T0" fmla="*/ 0 w 41"/>
                    <a:gd name="T1" fmla="*/ 1 h 37"/>
                    <a:gd name="T2" fmla="*/ 0 w 41"/>
                    <a:gd name="T3" fmla="*/ 1 h 37"/>
                    <a:gd name="T4" fmla="*/ 0 w 41"/>
                    <a:gd name="T5" fmla="*/ 1 h 37"/>
                    <a:gd name="T6" fmla="*/ 0 w 41"/>
                    <a:gd name="T7" fmla="*/ 1 h 37"/>
                    <a:gd name="T8" fmla="*/ 0 w 41"/>
                    <a:gd name="T9" fmla="*/ 1 h 37"/>
                    <a:gd name="T10" fmla="*/ 0 w 41"/>
                    <a:gd name="T11" fmla="*/ 1 h 37"/>
                    <a:gd name="T12" fmla="*/ 0 w 41"/>
                    <a:gd name="T13" fmla="*/ 1 h 37"/>
                    <a:gd name="T14" fmla="*/ 0 w 41"/>
                    <a:gd name="T15" fmla="*/ 1 h 37"/>
                    <a:gd name="T16" fmla="*/ 0 w 41"/>
                    <a:gd name="T17" fmla="*/ 1 h 37"/>
                    <a:gd name="T18" fmla="*/ 0 w 41"/>
                    <a:gd name="T19" fmla="*/ 1 h 37"/>
                    <a:gd name="T20" fmla="*/ 0 w 41"/>
                    <a:gd name="T21" fmla="*/ 1 h 37"/>
                    <a:gd name="T22" fmla="*/ 0 w 41"/>
                    <a:gd name="T23" fmla="*/ 1 h 37"/>
                    <a:gd name="T24" fmla="*/ 0 w 41"/>
                    <a:gd name="T25" fmla="*/ 1 h 37"/>
                    <a:gd name="T26" fmla="*/ 0 w 41"/>
                    <a:gd name="T27" fmla="*/ 1 h 37"/>
                    <a:gd name="T28" fmla="*/ 0 w 41"/>
                    <a:gd name="T29" fmla="*/ 0 h 37"/>
                    <a:gd name="T30" fmla="*/ 0 w 41"/>
                    <a:gd name="T31" fmla="*/ 1 h 37"/>
                    <a:gd name="T32" fmla="*/ 0 w 41"/>
                    <a:gd name="T33" fmla="*/ 1 h 37"/>
                    <a:gd name="T34" fmla="*/ 0 w 41"/>
                    <a:gd name="T35" fmla="*/ 1 h 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37"/>
                    <a:gd name="T56" fmla="*/ 41 w 41"/>
                    <a:gd name="T57" fmla="*/ 37 h 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37">
                      <a:moveTo>
                        <a:pt x="20" y="16"/>
                      </a:moveTo>
                      <a:lnTo>
                        <a:pt x="19" y="8"/>
                      </a:lnTo>
                      <a:lnTo>
                        <a:pt x="22" y="5"/>
                      </a:lnTo>
                      <a:lnTo>
                        <a:pt x="20" y="5"/>
                      </a:lnTo>
                      <a:lnTo>
                        <a:pt x="12" y="11"/>
                      </a:lnTo>
                      <a:lnTo>
                        <a:pt x="0" y="19"/>
                      </a:lnTo>
                      <a:lnTo>
                        <a:pt x="9" y="37"/>
                      </a:lnTo>
                      <a:lnTo>
                        <a:pt x="25" y="30"/>
                      </a:lnTo>
                      <a:lnTo>
                        <a:pt x="33" y="23"/>
                      </a:lnTo>
                      <a:lnTo>
                        <a:pt x="38" y="20"/>
                      </a:lnTo>
                      <a:lnTo>
                        <a:pt x="41" y="14"/>
                      </a:lnTo>
                      <a:lnTo>
                        <a:pt x="39" y="6"/>
                      </a:lnTo>
                      <a:lnTo>
                        <a:pt x="41" y="14"/>
                      </a:lnTo>
                      <a:lnTo>
                        <a:pt x="39" y="5"/>
                      </a:lnTo>
                      <a:lnTo>
                        <a:pt x="33" y="0"/>
                      </a:lnTo>
                      <a:lnTo>
                        <a:pt x="23" y="1"/>
                      </a:lnTo>
                      <a:lnTo>
                        <a:pt x="19" y="8"/>
                      </a:lnTo>
                      <a:lnTo>
                        <a:pt x="20" y="16"/>
                      </a:lnTo>
                      <a:close/>
                    </a:path>
                  </a:pathLst>
                </a:custGeom>
                <a:solidFill>
                  <a:srgbClr val="000000"/>
                </a:solidFill>
                <a:ln w="9525">
                  <a:noFill/>
                  <a:round/>
                  <a:headEnd/>
                  <a:tailEnd/>
                </a:ln>
              </p:spPr>
              <p:txBody>
                <a:bodyPr/>
                <a:lstStyle/>
                <a:p>
                  <a:endParaRPr lang="en-US"/>
                </a:p>
              </p:txBody>
            </p:sp>
            <p:sp>
              <p:nvSpPr>
                <p:cNvPr id="29838" name="Freeform 99"/>
                <p:cNvSpPr>
                  <a:spLocks/>
                </p:cNvSpPr>
                <p:nvPr/>
              </p:nvSpPr>
              <p:spPr bwMode="auto">
                <a:xfrm>
                  <a:off x="2219" y="3486"/>
                  <a:ext cx="15" cy="21"/>
                </a:xfrm>
                <a:custGeom>
                  <a:avLst/>
                  <a:gdLst>
                    <a:gd name="T0" fmla="*/ 1 w 30"/>
                    <a:gd name="T1" fmla="*/ 0 h 43"/>
                    <a:gd name="T2" fmla="*/ 0 w 30"/>
                    <a:gd name="T3" fmla="*/ 0 h 43"/>
                    <a:gd name="T4" fmla="*/ 1 w 30"/>
                    <a:gd name="T5" fmla="*/ 0 h 43"/>
                    <a:gd name="T6" fmla="*/ 1 w 30"/>
                    <a:gd name="T7" fmla="*/ 0 h 43"/>
                    <a:gd name="T8" fmla="*/ 1 w 30"/>
                    <a:gd name="T9" fmla="*/ 0 h 43"/>
                    <a:gd name="T10" fmla="*/ 1 w 30"/>
                    <a:gd name="T11" fmla="*/ 0 h 43"/>
                    <a:gd name="T12" fmla="*/ 1 w 30"/>
                    <a:gd name="T13" fmla="*/ 0 h 43"/>
                    <a:gd name="T14" fmla="*/ 1 w 30"/>
                    <a:gd name="T15" fmla="*/ 0 h 43"/>
                    <a:gd name="T16" fmla="*/ 1 w 30"/>
                    <a:gd name="T17" fmla="*/ 0 h 43"/>
                    <a:gd name="T18" fmla="*/ 0 w 30"/>
                    <a:gd name="T19" fmla="*/ 0 h 43"/>
                    <a:gd name="T20" fmla="*/ 0 w 30"/>
                    <a:gd name="T21" fmla="*/ 0 h 43"/>
                    <a:gd name="T22" fmla="*/ 1 w 30"/>
                    <a:gd name="T23" fmla="*/ 0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0"/>
                    <a:gd name="T37" fmla="*/ 0 h 43"/>
                    <a:gd name="T38" fmla="*/ 30 w 30"/>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0" h="43">
                      <a:moveTo>
                        <a:pt x="3" y="21"/>
                      </a:moveTo>
                      <a:lnTo>
                        <a:pt x="0" y="16"/>
                      </a:lnTo>
                      <a:lnTo>
                        <a:pt x="11" y="43"/>
                      </a:lnTo>
                      <a:lnTo>
                        <a:pt x="30" y="33"/>
                      </a:lnTo>
                      <a:lnTo>
                        <a:pt x="19" y="7"/>
                      </a:lnTo>
                      <a:lnTo>
                        <a:pt x="16" y="2"/>
                      </a:lnTo>
                      <a:lnTo>
                        <a:pt x="19" y="7"/>
                      </a:lnTo>
                      <a:lnTo>
                        <a:pt x="13" y="0"/>
                      </a:lnTo>
                      <a:lnTo>
                        <a:pt x="5" y="2"/>
                      </a:lnTo>
                      <a:lnTo>
                        <a:pt x="0" y="8"/>
                      </a:lnTo>
                      <a:lnTo>
                        <a:pt x="0" y="16"/>
                      </a:lnTo>
                      <a:lnTo>
                        <a:pt x="3" y="21"/>
                      </a:lnTo>
                      <a:close/>
                    </a:path>
                  </a:pathLst>
                </a:custGeom>
                <a:solidFill>
                  <a:srgbClr val="000000"/>
                </a:solidFill>
                <a:ln w="9525">
                  <a:noFill/>
                  <a:round/>
                  <a:headEnd/>
                  <a:tailEnd/>
                </a:ln>
              </p:spPr>
              <p:txBody>
                <a:bodyPr/>
                <a:lstStyle/>
                <a:p>
                  <a:endParaRPr lang="en-US"/>
                </a:p>
              </p:txBody>
            </p:sp>
            <p:sp>
              <p:nvSpPr>
                <p:cNvPr id="29839" name="Freeform 100"/>
                <p:cNvSpPr>
                  <a:spLocks/>
                </p:cNvSpPr>
                <p:nvPr/>
              </p:nvSpPr>
              <p:spPr bwMode="auto">
                <a:xfrm>
                  <a:off x="2147" y="3440"/>
                  <a:ext cx="79" cy="56"/>
                </a:xfrm>
                <a:custGeom>
                  <a:avLst/>
                  <a:gdLst>
                    <a:gd name="T0" fmla="*/ 1 w 158"/>
                    <a:gd name="T1" fmla="*/ 0 h 113"/>
                    <a:gd name="T2" fmla="*/ 1 w 158"/>
                    <a:gd name="T3" fmla="*/ 0 h 113"/>
                    <a:gd name="T4" fmla="*/ 1 w 158"/>
                    <a:gd name="T5" fmla="*/ 0 h 113"/>
                    <a:gd name="T6" fmla="*/ 1 w 158"/>
                    <a:gd name="T7" fmla="*/ 0 h 113"/>
                    <a:gd name="T8" fmla="*/ 1 w 158"/>
                    <a:gd name="T9" fmla="*/ 0 h 113"/>
                    <a:gd name="T10" fmla="*/ 0 w 158"/>
                    <a:gd name="T11" fmla="*/ 0 h 113"/>
                    <a:gd name="T12" fmla="*/ 1 w 158"/>
                    <a:gd name="T13" fmla="*/ 0 h 113"/>
                    <a:gd name="T14" fmla="*/ 1 w 158"/>
                    <a:gd name="T15" fmla="*/ 0 h 113"/>
                    <a:gd name="T16" fmla="*/ 1 w 158"/>
                    <a:gd name="T17" fmla="*/ 0 h 113"/>
                    <a:gd name="T18" fmla="*/ 0 w 158"/>
                    <a:gd name="T19" fmla="*/ 0 h 113"/>
                    <a:gd name="T20" fmla="*/ 1 w 158"/>
                    <a:gd name="T21" fmla="*/ 0 h 113"/>
                    <a:gd name="T22" fmla="*/ 1 w 158"/>
                    <a:gd name="T23" fmla="*/ 0 h 11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113"/>
                    <a:gd name="T38" fmla="*/ 158 w 158"/>
                    <a:gd name="T39" fmla="*/ 113 h 11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113">
                      <a:moveTo>
                        <a:pt x="22" y="11"/>
                      </a:moveTo>
                      <a:lnTo>
                        <a:pt x="5" y="20"/>
                      </a:lnTo>
                      <a:lnTo>
                        <a:pt x="145" y="113"/>
                      </a:lnTo>
                      <a:lnTo>
                        <a:pt x="158" y="94"/>
                      </a:lnTo>
                      <a:lnTo>
                        <a:pt x="17" y="2"/>
                      </a:lnTo>
                      <a:lnTo>
                        <a:pt x="0" y="11"/>
                      </a:lnTo>
                      <a:lnTo>
                        <a:pt x="17" y="2"/>
                      </a:lnTo>
                      <a:lnTo>
                        <a:pt x="8" y="0"/>
                      </a:lnTo>
                      <a:lnTo>
                        <a:pt x="1" y="5"/>
                      </a:lnTo>
                      <a:lnTo>
                        <a:pt x="0" y="13"/>
                      </a:lnTo>
                      <a:lnTo>
                        <a:pt x="5" y="20"/>
                      </a:lnTo>
                      <a:lnTo>
                        <a:pt x="22" y="11"/>
                      </a:lnTo>
                      <a:close/>
                    </a:path>
                  </a:pathLst>
                </a:custGeom>
                <a:solidFill>
                  <a:srgbClr val="000000"/>
                </a:solidFill>
                <a:ln w="9525">
                  <a:noFill/>
                  <a:round/>
                  <a:headEnd/>
                  <a:tailEnd/>
                </a:ln>
              </p:spPr>
              <p:txBody>
                <a:bodyPr/>
                <a:lstStyle/>
                <a:p>
                  <a:endParaRPr lang="en-US"/>
                </a:p>
              </p:txBody>
            </p:sp>
            <p:sp>
              <p:nvSpPr>
                <p:cNvPr id="29840" name="Freeform 101"/>
                <p:cNvSpPr>
                  <a:spLocks/>
                </p:cNvSpPr>
                <p:nvPr/>
              </p:nvSpPr>
              <p:spPr bwMode="auto">
                <a:xfrm>
                  <a:off x="2172" y="3506"/>
                  <a:ext cx="65" cy="26"/>
                </a:xfrm>
                <a:custGeom>
                  <a:avLst/>
                  <a:gdLst>
                    <a:gd name="T0" fmla="*/ 1 w 128"/>
                    <a:gd name="T1" fmla="*/ 1 h 52"/>
                    <a:gd name="T2" fmla="*/ 0 w 128"/>
                    <a:gd name="T3" fmla="*/ 1 h 52"/>
                    <a:gd name="T4" fmla="*/ 1 w 128"/>
                    <a:gd name="T5" fmla="*/ 1 h 52"/>
                    <a:gd name="T6" fmla="*/ 1 w 128"/>
                    <a:gd name="T7" fmla="*/ 1 h 52"/>
                    <a:gd name="T8" fmla="*/ 1 w 128"/>
                    <a:gd name="T9" fmla="*/ 1 h 52"/>
                    <a:gd name="T10" fmla="*/ 1 w 128"/>
                    <a:gd name="T11" fmla="*/ 1 h 52"/>
                    <a:gd name="T12" fmla="*/ 1 w 128"/>
                    <a:gd name="T13" fmla="*/ 1 h 52"/>
                    <a:gd name="T14" fmla="*/ 1 w 128"/>
                    <a:gd name="T15" fmla="*/ 1 h 52"/>
                    <a:gd name="T16" fmla="*/ 1 w 128"/>
                    <a:gd name="T17" fmla="*/ 1 h 52"/>
                    <a:gd name="T18" fmla="*/ 1 w 128"/>
                    <a:gd name="T19" fmla="*/ 1 h 52"/>
                    <a:gd name="T20" fmla="*/ 1 w 128"/>
                    <a:gd name="T21" fmla="*/ 1 h 52"/>
                    <a:gd name="T22" fmla="*/ 1 w 128"/>
                    <a:gd name="T23" fmla="*/ 1 h 52"/>
                    <a:gd name="T24" fmla="*/ 1 w 128"/>
                    <a:gd name="T25" fmla="*/ 1 h 52"/>
                    <a:gd name="T26" fmla="*/ 1 w 128"/>
                    <a:gd name="T27" fmla="*/ 1 h 52"/>
                    <a:gd name="T28" fmla="*/ 1 w 128"/>
                    <a:gd name="T29" fmla="*/ 1 h 52"/>
                    <a:gd name="T30" fmla="*/ 1 w 128"/>
                    <a:gd name="T31" fmla="*/ 1 h 52"/>
                    <a:gd name="T32" fmla="*/ 1 w 128"/>
                    <a:gd name="T33" fmla="*/ 1 h 52"/>
                    <a:gd name="T34" fmla="*/ 1 w 128"/>
                    <a:gd name="T35" fmla="*/ 1 h 52"/>
                    <a:gd name="T36" fmla="*/ 1 w 128"/>
                    <a:gd name="T37" fmla="*/ 1 h 52"/>
                    <a:gd name="T38" fmla="*/ 1 w 128"/>
                    <a:gd name="T39" fmla="*/ 1 h 52"/>
                    <a:gd name="T40" fmla="*/ 1 w 128"/>
                    <a:gd name="T41" fmla="*/ 1 h 52"/>
                    <a:gd name="T42" fmla="*/ 1 w 128"/>
                    <a:gd name="T43" fmla="*/ 0 h 52"/>
                    <a:gd name="T44" fmla="*/ 1 w 128"/>
                    <a:gd name="T45" fmla="*/ 1 h 52"/>
                    <a:gd name="T46" fmla="*/ 1 w 128"/>
                    <a:gd name="T47" fmla="*/ 1 h 52"/>
                    <a:gd name="T48" fmla="*/ 1 w 128"/>
                    <a:gd name="T49" fmla="*/ 1 h 52"/>
                    <a:gd name="T50" fmla="*/ 1 w 128"/>
                    <a:gd name="T51" fmla="*/ 1 h 52"/>
                    <a:gd name="T52" fmla="*/ 1 w 128"/>
                    <a:gd name="T53" fmla="*/ 1 h 52"/>
                    <a:gd name="T54" fmla="*/ 1 w 128"/>
                    <a:gd name="T55" fmla="*/ 1 h 52"/>
                    <a:gd name="T56" fmla="*/ 1 w 128"/>
                    <a:gd name="T57" fmla="*/ 1 h 52"/>
                    <a:gd name="T58" fmla="*/ 1 w 128"/>
                    <a:gd name="T59" fmla="*/ 1 h 52"/>
                    <a:gd name="T60" fmla="*/ 1 w 128"/>
                    <a:gd name="T61" fmla="*/ 1 h 52"/>
                    <a:gd name="T62" fmla="*/ 1 w 128"/>
                    <a:gd name="T63" fmla="*/ 1 h 52"/>
                    <a:gd name="T64" fmla="*/ 1 w 128"/>
                    <a:gd name="T65" fmla="*/ 1 h 52"/>
                    <a:gd name="T66" fmla="*/ 1 w 128"/>
                    <a:gd name="T67" fmla="*/ 1 h 5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8"/>
                    <a:gd name="T103" fmla="*/ 0 h 52"/>
                    <a:gd name="T104" fmla="*/ 128 w 128"/>
                    <a:gd name="T105" fmla="*/ 52 h 5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8" h="52">
                      <a:moveTo>
                        <a:pt x="9" y="25"/>
                      </a:moveTo>
                      <a:lnTo>
                        <a:pt x="0" y="44"/>
                      </a:lnTo>
                      <a:lnTo>
                        <a:pt x="2" y="44"/>
                      </a:lnTo>
                      <a:lnTo>
                        <a:pt x="5" y="45"/>
                      </a:lnTo>
                      <a:lnTo>
                        <a:pt x="12" y="47"/>
                      </a:lnTo>
                      <a:lnTo>
                        <a:pt x="20" y="50"/>
                      </a:lnTo>
                      <a:lnTo>
                        <a:pt x="31" y="50"/>
                      </a:lnTo>
                      <a:lnTo>
                        <a:pt x="44" y="52"/>
                      </a:lnTo>
                      <a:lnTo>
                        <a:pt x="59" y="50"/>
                      </a:lnTo>
                      <a:lnTo>
                        <a:pt x="75" y="47"/>
                      </a:lnTo>
                      <a:lnTo>
                        <a:pt x="89" y="44"/>
                      </a:lnTo>
                      <a:lnTo>
                        <a:pt x="102" y="41"/>
                      </a:lnTo>
                      <a:lnTo>
                        <a:pt x="110" y="38"/>
                      </a:lnTo>
                      <a:lnTo>
                        <a:pt x="116" y="34"/>
                      </a:lnTo>
                      <a:lnTo>
                        <a:pt x="121" y="33"/>
                      </a:lnTo>
                      <a:lnTo>
                        <a:pt x="124" y="30"/>
                      </a:lnTo>
                      <a:lnTo>
                        <a:pt x="127" y="27"/>
                      </a:lnTo>
                      <a:lnTo>
                        <a:pt x="128" y="23"/>
                      </a:lnTo>
                      <a:lnTo>
                        <a:pt x="128" y="17"/>
                      </a:lnTo>
                      <a:lnTo>
                        <a:pt x="125" y="9"/>
                      </a:lnTo>
                      <a:lnTo>
                        <a:pt x="121" y="3"/>
                      </a:lnTo>
                      <a:lnTo>
                        <a:pt x="114" y="0"/>
                      </a:lnTo>
                      <a:lnTo>
                        <a:pt x="108" y="3"/>
                      </a:lnTo>
                      <a:lnTo>
                        <a:pt x="99" y="8"/>
                      </a:lnTo>
                      <a:lnTo>
                        <a:pt x="88" y="16"/>
                      </a:lnTo>
                      <a:lnTo>
                        <a:pt x="74" y="20"/>
                      </a:lnTo>
                      <a:lnTo>
                        <a:pt x="64" y="22"/>
                      </a:lnTo>
                      <a:lnTo>
                        <a:pt x="55" y="23"/>
                      </a:lnTo>
                      <a:lnTo>
                        <a:pt x="44" y="25"/>
                      </a:lnTo>
                      <a:lnTo>
                        <a:pt x="33" y="25"/>
                      </a:lnTo>
                      <a:lnTo>
                        <a:pt x="23" y="25"/>
                      </a:lnTo>
                      <a:lnTo>
                        <a:pt x="16" y="25"/>
                      </a:lnTo>
                      <a:lnTo>
                        <a:pt x="11" y="25"/>
                      </a:lnTo>
                      <a:lnTo>
                        <a:pt x="9" y="25"/>
                      </a:lnTo>
                      <a:close/>
                    </a:path>
                  </a:pathLst>
                </a:custGeom>
                <a:solidFill>
                  <a:srgbClr val="FF7226"/>
                </a:solidFill>
                <a:ln w="9525">
                  <a:noFill/>
                  <a:round/>
                  <a:headEnd/>
                  <a:tailEnd/>
                </a:ln>
              </p:spPr>
              <p:txBody>
                <a:bodyPr/>
                <a:lstStyle/>
                <a:p>
                  <a:endParaRPr lang="en-US"/>
                </a:p>
              </p:txBody>
            </p:sp>
            <p:sp>
              <p:nvSpPr>
                <p:cNvPr id="29841" name="Freeform 102"/>
                <p:cNvSpPr>
                  <a:spLocks/>
                </p:cNvSpPr>
                <p:nvPr/>
              </p:nvSpPr>
              <p:spPr bwMode="auto">
                <a:xfrm>
                  <a:off x="2168" y="3516"/>
                  <a:ext cx="14" cy="17"/>
                </a:xfrm>
                <a:custGeom>
                  <a:avLst/>
                  <a:gdLst>
                    <a:gd name="T0" fmla="*/ 1 w 28"/>
                    <a:gd name="T1" fmla="*/ 0 h 35"/>
                    <a:gd name="T2" fmla="*/ 1 w 28"/>
                    <a:gd name="T3" fmla="*/ 0 h 35"/>
                    <a:gd name="T4" fmla="*/ 1 w 28"/>
                    <a:gd name="T5" fmla="*/ 0 h 35"/>
                    <a:gd name="T6" fmla="*/ 1 w 28"/>
                    <a:gd name="T7" fmla="*/ 0 h 35"/>
                    <a:gd name="T8" fmla="*/ 0 w 28"/>
                    <a:gd name="T9" fmla="*/ 0 h 35"/>
                    <a:gd name="T10" fmla="*/ 1 w 28"/>
                    <a:gd name="T11" fmla="*/ 0 h 35"/>
                    <a:gd name="T12" fmla="*/ 0 w 28"/>
                    <a:gd name="T13" fmla="*/ 0 h 35"/>
                    <a:gd name="T14" fmla="*/ 0 w 28"/>
                    <a:gd name="T15" fmla="*/ 0 h 35"/>
                    <a:gd name="T16" fmla="*/ 1 w 28"/>
                    <a:gd name="T17" fmla="*/ 0 h 35"/>
                    <a:gd name="T18" fmla="*/ 1 w 28"/>
                    <a:gd name="T19" fmla="*/ 0 h 35"/>
                    <a:gd name="T20" fmla="*/ 1 w 28"/>
                    <a:gd name="T21" fmla="*/ 0 h 35"/>
                    <a:gd name="T22" fmla="*/ 1 w 28"/>
                    <a:gd name="T23" fmla="*/ 0 h 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
                    <a:gd name="T37" fmla="*/ 0 h 35"/>
                    <a:gd name="T38" fmla="*/ 28 w 28"/>
                    <a:gd name="T39" fmla="*/ 35 h 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 h="35">
                      <a:moveTo>
                        <a:pt x="14" y="14"/>
                      </a:moveTo>
                      <a:lnTo>
                        <a:pt x="18" y="29"/>
                      </a:lnTo>
                      <a:lnTo>
                        <a:pt x="28" y="10"/>
                      </a:lnTo>
                      <a:lnTo>
                        <a:pt x="9" y="0"/>
                      </a:lnTo>
                      <a:lnTo>
                        <a:pt x="0" y="19"/>
                      </a:lnTo>
                      <a:lnTo>
                        <a:pt x="4" y="33"/>
                      </a:lnTo>
                      <a:lnTo>
                        <a:pt x="0" y="19"/>
                      </a:lnTo>
                      <a:lnTo>
                        <a:pt x="0" y="27"/>
                      </a:lnTo>
                      <a:lnTo>
                        <a:pt x="4" y="33"/>
                      </a:lnTo>
                      <a:lnTo>
                        <a:pt x="12" y="35"/>
                      </a:lnTo>
                      <a:lnTo>
                        <a:pt x="18" y="29"/>
                      </a:lnTo>
                      <a:lnTo>
                        <a:pt x="14" y="14"/>
                      </a:lnTo>
                      <a:close/>
                    </a:path>
                  </a:pathLst>
                </a:custGeom>
                <a:solidFill>
                  <a:srgbClr val="000000"/>
                </a:solidFill>
                <a:ln w="9525">
                  <a:noFill/>
                  <a:round/>
                  <a:headEnd/>
                  <a:tailEnd/>
                </a:ln>
              </p:spPr>
              <p:txBody>
                <a:bodyPr/>
                <a:lstStyle/>
                <a:p>
                  <a:endParaRPr lang="en-US"/>
                </a:p>
              </p:txBody>
            </p:sp>
            <p:sp>
              <p:nvSpPr>
                <p:cNvPr id="29842" name="Freeform 103"/>
                <p:cNvSpPr>
                  <a:spLocks/>
                </p:cNvSpPr>
                <p:nvPr/>
              </p:nvSpPr>
              <p:spPr bwMode="auto">
                <a:xfrm>
                  <a:off x="2170" y="3522"/>
                  <a:ext cx="42" cy="15"/>
                </a:xfrm>
                <a:custGeom>
                  <a:avLst/>
                  <a:gdLst>
                    <a:gd name="T0" fmla="*/ 1 w 83"/>
                    <a:gd name="T1" fmla="*/ 1 h 30"/>
                    <a:gd name="T2" fmla="*/ 1 w 83"/>
                    <a:gd name="T3" fmla="*/ 1 h 30"/>
                    <a:gd name="T4" fmla="*/ 1 w 83"/>
                    <a:gd name="T5" fmla="*/ 1 h 30"/>
                    <a:gd name="T6" fmla="*/ 1 w 83"/>
                    <a:gd name="T7" fmla="*/ 1 h 30"/>
                    <a:gd name="T8" fmla="*/ 1 w 83"/>
                    <a:gd name="T9" fmla="*/ 1 h 30"/>
                    <a:gd name="T10" fmla="*/ 1 w 83"/>
                    <a:gd name="T11" fmla="*/ 1 h 30"/>
                    <a:gd name="T12" fmla="*/ 1 w 83"/>
                    <a:gd name="T13" fmla="*/ 1 h 30"/>
                    <a:gd name="T14" fmla="*/ 1 w 83"/>
                    <a:gd name="T15" fmla="*/ 1 h 30"/>
                    <a:gd name="T16" fmla="*/ 1 w 83"/>
                    <a:gd name="T17" fmla="*/ 0 h 30"/>
                    <a:gd name="T18" fmla="*/ 1 w 83"/>
                    <a:gd name="T19" fmla="*/ 1 h 30"/>
                    <a:gd name="T20" fmla="*/ 0 w 83"/>
                    <a:gd name="T21" fmla="*/ 1 h 30"/>
                    <a:gd name="T22" fmla="*/ 1 w 83"/>
                    <a:gd name="T23" fmla="*/ 1 h 30"/>
                    <a:gd name="T24" fmla="*/ 1 w 83"/>
                    <a:gd name="T25" fmla="*/ 1 h 30"/>
                    <a:gd name="T26" fmla="*/ 1 w 83"/>
                    <a:gd name="T27" fmla="*/ 1 h 30"/>
                    <a:gd name="T28" fmla="*/ 1 w 83"/>
                    <a:gd name="T29" fmla="*/ 1 h 30"/>
                    <a:gd name="T30" fmla="*/ 1 w 83"/>
                    <a:gd name="T31" fmla="*/ 1 h 30"/>
                    <a:gd name="T32" fmla="*/ 1 w 83"/>
                    <a:gd name="T33" fmla="*/ 1 h 30"/>
                    <a:gd name="T34" fmla="*/ 1 w 83"/>
                    <a:gd name="T35" fmla="*/ 1 h 30"/>
                    <a:gd name="T36" fmla="*/ 1 w 83"/>
                    <a:gd name="T37" fmla="*/ 1 h 30"/>
                    <a:gd name="T38" fmla="*/ 1 w 83"/>
                    <a:gd name="T39" fmla="*/ 1 h 30"/>
                    <a:gd name="T40" fmla="*/ 1 w 83"/>
                    <a:gd name="T41" fmla="*/ 1 h 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3"/>
                    <a:gd name="T64" fmla="*/ 0 h 30"/>
                    <a:gd name="T65" fmla="*/ 83 w 83"/>
                    <a:gd name="T66" fmla="*/ 30 h 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3" h="30">
                      <a:moveTo>
                        <a:pt x="79" y="3"/>
                      </a:moveTo>
                      <a:lnTo>
                        <a:pt x="77" y="3"/>
                      </a:lnTo>
                      <a:lnTo>
                        <a:pt x="63" y="6"/>
                      </a:lnTo>
                      <a:lnTo>
                        <a:pt x="49" y="8"/>
                      </a:lnTo>
                      <a:lnTo>
                        <a:pt x="36" y="6"/>
                      </a:lnTo>
                      <a:lnTo>
                        <a:pt x="27" y="6"/>
                      </a:lnTo>
                      <a:lnTo>
                        <a:pt x="21" y="3"/>
                      </a:lnTo>
                      <a:lnTo>
                        <a:pt x="13" y="1"/>
                      </a:lnTo>
                      <a:lnTo>
                        <a:pt x="10" y="0"/>
                      </a:lnTo>
                      <a:lnTo>
                        <a:pt x="10" y="1"/>
                      </a:lnTo>
                      <a:lnTo>
                        <a:pt x="0" y="20"/>
                      </a:lnTo>
                      <a:lnTo>
                        <a:pt x="3" y="22"/>
                      </a:lnTo>
                      <a:lnTo>
                        <a:pt x="7" y="23"/>
                      </a:lnTo>
                      <a:lnTo>
                        <a:pt x="14" y="25"/>
                      </a:lnTo>
                      <a:lnTo>
                        <a:pt x="24" y="28"/>
                      </a:lnTo>
                      <a:lnTo>
                        <a:pt x="36" y="28"/>
                      </a:lnTo>
                      <a:lnTo>
                        <a:pt x="49" y="30"/>
                      </a:lnTo>
                      <a:lnTo>
                        <a:pt x="66" y="28"/>
                      </a:lnTo>
                      <a:lnTo>
                        <a:pt x="83" y="25"/>
                      </a:lnTo>
                      <a:lnTo>
                        <a:pt x="82" y="25"/>
                      </a:lnTo>
                      <a:lnTo>
                        <a:pt x="79" y="3"/>
                      </a:lnTo>
                      <a:close/>
                    </a:path>
                  </a:pathLst>
                </a:custGeom>
                <a:solidFill>
                  <a:srgbClr val="000000"/>
                </a:solidFill>
                <a:ln w="9525">
                  <a:noFill/>
                  <a:round/>
                  <a:headEnd/>
                  <a:tailEnd/>
                </a:ln>
              </p:spPr>
              <p:txBody>
                <a:bodyPr/>
                <a:lstStyle/>
                <a:p>
                  <a:endParaRPr lang="en-US"/>
                </a:p>
              </p:txBody>
            </p:sp>
            <p:sp>
              <p:nvSpPr>
                <p:cNvPr id="29843" name="Freeform 104"/>
                <p:cNvSpPr>
                  <a:spLocks/>
                </p:cNvSpPr>
                <p:nvPr/>
              </p:nvSpPr>
              <p:spPr bwMode="auto">
                <a:xfrm>
                  <a:off x="2209" y="3515"/>
                  <a:ext cx="32" cy="20"/>
                </a:xfrm>
                <a:custGeom>
                  <a:avLst/>
                  <a:gdLst>
                    <a:gd name="T0" fmla="*/ 1 w 64"/>
                    <a:gd name="T1" fmla="*/ 0 h 41"/>
                    <a:gd name="T2" fmla="*/ 1 w 64"/>
                    <a:gd name="T3" fmla="*/ 0 h 41"/>
                    <a:gd name="T4" fmla="*/ 1 w 64"/>
                    <a:gd name="T5" fmla="*/ 0 h 41"/>
                    <a:gd name="T6" fmla="*/ 1 w 64"/>
                    <a:gd name="T7" fmla="*/ 0 h 41"/>
                    <a:gd name="T8" fmla="*/ 1 w 64"/>
                    <a:gd name="T9" fmla="*/ 0 h 41"/>
                    <a:gd name="T10" fmla="*/ 1 w 64"/>
                    <a:gd name="T11" fmla="*/ 0 h 41"/>
                    <a:gd name="T12" fmla="*/ 1 w 64"/>
                    <a:gd name="T13" fmla="*/ 0 h 41"/>
                    <a:gd name="T14" fmla="*/ 1 w 64"/>
                    <a:gd name="T15" fmla="*/ 0 h 41"/>
                    <a:gd name="T16" fmla="*/ 1 w 64"/>
                    <a:gd name="T17" fmla="*/ 0 h 41"/>
                    <a:gd name="T18" fmla="*/ 0 w 64"/>
                    <a:gd name="T19" fmla="*/ 0 h 41"/>
                    <a:gd name="T20" fmla="*/ 1 w 64"/>
                    <a:gd name="T21" fmla="*/ 0 h 41"/>
                    <a:gd name="T22" fmla="*/ 1 w 64"/>
                    <a:gd name="T23" fmla="*/ 0 h 41"/>
                    <a:gd name="T24" fmla="*/ 1 w 64"/>
                    <a:gd name="T25" fmla="*/ 0 h 41"/>
                    <a:gd name="T26" fmla="*/ 1 w 64"/>
                    <a:gd name="T27" fmla="*/ 0 h 41"/>
                    <a:gd name="T28" fmla="*/ 1 w 64"/>
                    <a:gd name="T29" fmla="*/ 0 h 41"/>
                    <a:gd name="T30" fmla="*/ 1 w 64"/>
                    <a:gd name="T31" fmla="*/ 0 h 41"/>
                    <a:gd name="T32" fmla="*/ 1 w 64"/>
                    <a:gd name="T33" fmla="*/ 0 h 41"/>
                    <a:gd name="T34" fmla="*/ 1 w 64"/>
                    <a:gd name="T35" fmla="*/ 0 h 41"/>
                    <a:gd name="T36" fmla="*/ 1 w 64"/>
                    <a:gd name="T37" fmla="*/ 0 h 41"/>
                    <a:gd name="T38" fmla="*/ 1 w 64"/>
                    <a:gd name="T39" fmla="*/ 0 h 41"/>
                    <a:gd name="T40" fmla="*/ 1 w 64"/>
                    <a:gd name="T41" fmla="*/ 0 h 4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41"/>
                    <a:gd name="T65" fmla="*/ 64 w 64"/>
                    <a:gd name="T66" fmla="*/ 41 h 4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41">
                      <a:moveTo>
                        <a:pt x="45" y="0"/>
                      </a:moveTo>
                      <a:lnTo>
                        <a:pt x="45" y="2"/>
                      </a:lnTo>
                      <a:lnTo>
                        <a:pt x="43" y="3"/>
                      </a:lnTo>
                      <a:lnTo>
                        <a:pt x="42" y="5"/>
                      </a:lnTo>
                      <a:lnTo>
                        <a:pt x="40" y="6"/>
                      </a:lnTo>
                      <a:lnTo>
                        <a:pt x="37" y="8"/>
                      </a:lnTo>
                      <a:lnTo>
                        <a:pt x="31" y="11"/>
                      </a:lnTo>
                      <a:lnTo>
                        <a:pt x="25" y="13"/>
                      </a:lnTo>
                      <a:lnTo>
                        <a:pt x="12" y="16"/>
                      </a:lnTo>
                      <a:lnTo>
                        <a:pt x="0" y="19"/>
                      </a:lnTo>
                      <a:lnTo>
                        <a:pt x="3" y="41"/>
                      </a:lnTo>
                      <a:lnTo>
                        <a:pt x="18" y="38"/>
                      </a:lnTo>
                      <a:lnTo>
                        <a:pt x="31" y="35"/>
                      </a:lnTo>
                      <a:lnTo>
                        <a:pt x="40" y="30"/>
                      </a:lnTo>
                      <a:lnTo>
                        <a:pt x="47" y="27"/>
                      </a:lnTo>
                      <a:lnTo>
                        <a:pt x="53" y="25"/>
                      </a:lnTo>
                      <a:lnTo>
                        <a:pt x="57" y="21"/>
                      </a:lnTo>
                      <a:lnTo>
                        <a:pt x="62" y="16"/>
                      </a:lnTo>
                      <a:lnTo>
                        <a:pt x="64" y="11"/>
                      </a:lnTo>
                      <a:lnTo>
                        <a:pt x="64" y="13"/>
                      </a:lnTo>
                      <a:lnTo>
                        <a:pt x="45" y="0"/>
                      </a:lnTo>
                      <a:close/>
                    </a:path>
                  </a:pathLst>
                </a:custGeom>
                <a:solidFill>
                  <a:srgbClr val="000000"/>
                </a:solidFill>
                <a:ln w="9525">
                  <a:noFill/>
                  <a:round/>
                  <a:headEnd/>
                  <a:tailEnd/>
                </a:ln>
              </p:spPr>
              <p:txBody>
                <a:bodyPr/>
                <a:lstStyle/>
                <a:p>
                  <a:endParaRPr lang="en-US"/>
                </a:p>
              </p:txBody>
            </p:sp>
            <p:sp>
              <p:nvSpPr>
                <p:cNvPr id="29844" name="Freeform 105"/>
                <p:cNvSpPr>
                  <a:spLocks/>
                </p:cNvSpPr>
                <p:nvPr/>
              </p:nvSpPr>
              <p:spPr bwMode="auto">
                <a:xfrm>
                  <a:off x="2229" y="3501"/>
                  <a:ext cx="13" cy="20"/>
                </a:xfrm>
                <a:custGeom>
                  <a:avLst/>
                  <a:gdLst>
                    <a:gd name="T0" fmla="*/ 1 w 26"/>
                    <a:gd name="T1" fmla="*/ 0 h 41"/>
                    <a:gd name="T2" fmla="*/ 1 w 26"/>
                    <a:gd name="T3" fmla="*/ 0 h 41"/>
                    <a:gd name="T4" fmla="*/ 0 w 26"/>
                    <a:gd name="T5" fmla="*/ 0 h 41"/>
                    <a:gd name="T6" fmla="*/ 1 w 26"/>
                    <a:gd name="T7" fmla="*/ 0 h 41"/>
                    <a:gd name="T8" fmla="*/ 1 w 26"/>
                    <a:gd name="T9" fmla="*/ 0 h 41"/>
                    <a:gd name="T10" fmla="*/ 1 w 26"/>
                    <a:gd name="T11" fmla="*/ 0 h 41"/>
                    <a:gd name="T12" fmla="*/ 1 w 26"/>
                    <a:gd name="T13" fmla="*/ 0 h 41"/>
                    <a:gd name="T14" fmla="*/ 1 w 26"/>
                    <a:gd name="T15" fmla="*/ 0 h 41"/>
                    <a:gd name="T16" fmla="*/ 1 w 26"/>
                    <a:gd name="T17" fmla="*/ 0 h 41"/>
                    <a:gd name="T18" fmla="*/ 1 w 26"/>
                    <a:gd name="T19" fmla="*/ 0 h 41"/>
                    <a:gd name="T20" fmla="*/ 1 w 26"/>
                    <a:gd name="T21" fmla="*/ 0 h 41"/>
                    <a:gd name="T22" fmla="*/ 1 w 26"/>
                    <a:gd name="T23" fmla="*/ 0 h 41"/>
                    <a:gd name="T24" fmla="*/ 1 w 26"/>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
                    <a:gd name="T40" fmla="*/ 0 h 41"/>
                    <a:gd name="T41" fmla="*/ 26 w 26"/>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 h="41">
                      <a:moveTo>
                        <a:pt x="1" y="22"/>
                      </a:moveTo>
                      <a:lnTo>
                        <a:pt x="1" y="22"/>
                      </a:lnTo>
                      <a:lnTo>
                        <a:pt x="0" y="22"/>
                      </a:lnTo>
                      <a:lnTo>
                        <a:pt x="3" y="25"/>
                      </a:lnTo>
                      <a:lnTo>
                        <a:pt x="4" y="31"/>
                      </a:lnTo>
                      <a:lnTo>
                        <a:pt x="6" y="28"/>
                      </a:lnTo>
                      <a:lnTo>
                        <a:pt x="25" y="41"/>
                      </a:lnTo>
                      <a:lnTo>
                        <a:pt x="26" y="25"/>
                      </a:lnTo>
                      <a:lnTo>
                        <a:pt x="22" y="16"/>
                      </a:lnTo>
                      <a:lnTo>
                        <a:pt x="15" y="6"/>
                      </a:lnTo>
                      <a:lnTo>
                        <a:pt x="1" y="0"/>
                      </a:lnTo>
                      <a:lnTo>
                        <a:pt x="1" y="22"/>
                      </a:lnTo>
                      <a:close/>
                    </a:path>
                  </a:pathLst>
                </a:custGeom>
                <a:solidFill>
                  <a:srgbClr val="000000"/>
                </a:solidFill>
                <a:ln w="9525">
                  <a:noFill/>
                  <a:round/>
                  <a:headEnd/>
                  <a:tailEnd/>
                </a:ln>
              </p:spPr>
              <p:txBody>
                <a:bodyPr/>
                <a:lstStyle/>
                <a:p>
                  <a:endParaRPr lang="en-US"/>
                </a:p>
              </p:txBody>
            </p:sp>
            <p:sp>
              <p:nvSpPr>
                <p:cNvPr id="29845" name="Freeform 106"/>
                <p:cNvSpPr>
                  <a:spLocks/>
                </p:cNvSpPr>
                <p:nvPr/>
              </p:nvSpPr>
              <p:spPr bwMode="auto">
                <a:xfrm>
                  <a:off x="2208" y="3501"/>
                  <a:ext cx="22" cy="21"/>
                </a:xfrm>
                <a:custGeom>
                  <a:avLst/>
                  <a:gdLst>
                    <a:gd name="T0" fmla="*/ 1 w 44"/>
                    <a:gd name="T1" fmla="*/ 1 h 42"/>
                    <a:gd name="T2" fmla="*/ 1 w 44"/>
                    <a:gd name="T3" fmla="*/ 1 h 42"/>
                    <a:gd name="T4" fmla="*/ 1 w 44"/>
                    <a:gd name="T5" fmla="*/ 1 h 42"/>
                    <a:gd name="T6" fmla="*/ 1 w 44"/>
                    <a:gd name="T7" fmla="*/ 1 h 42"/>
                    <a:gd name="T8" fmla="*/ 1 w 44"/>
                    <a:gd name="T9" fmla="*/ 1 h 42"/>
                    <a:gd name="T10" fmla="*/ 1 w 44"/>
                    <a:gd name="T11" fmla="*/ 1 h 42"/>
                    <a:gd name="T12" fmla="*/ 1 w 44"/>
                    <a:gd name="T13" fmla="*/ 0 h 42"/>
                    <a:gd name="T14" fmla="*/ 1 w 44"/>
                    <a:gd name="T15" fmla="*/ 1 h 42"/>
                    <a:gd name="T16" fmla="*/ 1 w 44"/>
                    <a:gd name="T17" fmla="*/ 1 h 42"/>
                    <a:gd name="T18" fmla="*/ 1 w 44"/>
                    <a:gd name="T19" fmla="*/ 1 h 42"/>
                    <a:gd name="T20" fmla="*/ 1 w 44"/>
                    <a:gd name="T21" fmla="*/ 1 h 42"/>
                    <a:gd name="T22" fmla="*/ 0 w 44"/>
                    <a:gd name="T23" fmla="*/ 1 h 42"/>
                    <a:gd name="T24" fmla="*/ 1 w 44"/>
                    <a:gd name="T25" fmla="*/ 1 h 4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4"/>
                    <a:gd name="T40" fmla="*/ 0 h 42"/>
                    <a:gd name="T41" fmla="*/ 44 w 44"/>
                    <a:gd name="T42" fmla="*/ 42 h 4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4" h="42">
                      <a:moveTo>
                        <a:pt x="7" y="42"/>
                      </a:moveTo>
                      <a:lnTo>
                        <a:pt x="5" y="42"/>
                      </a:lnTo>
                      <a:lnTo>
                        <a:pt x="22" y="36"/>
                      </a:lnTo>
                      <a:lnTo>
                        <a:pt x="35" y="28"/>
                      </a:lnTo>
                      <a:lnTo>
                        <a:pt x="43" y="24"/>
                      </a:lnTo>
                      <a:lnTo>
                        <a:pt x="44" y="22"/>
                      </a:lnTo>
                      <a:lnTo>
                        <a:pt x="44" y="0"/>
                      </a:lnTo>
                      <a:lnTo>
                        <a:pt x="33" y="5"/>
                      </a:lnTo>
                      <a:lnTo>
                        <a:pt x="22" y="9"/>
                      </a:lnTo>
                      <a:lnTo>
                        <a:pt x="13" y="17"/>
                      </a:lnTo>
                      <a:lnTo>
                        <a:pt x="2" y="20"/>
                      </a:lnTo>
                      <a:lnTo>
                        <a:pt x="0" y="20"/>
                      </a:lnTo>
                      <a:lnTo>
                        <a:pt x="7" y="42"/>
                      </a:lnTo>
                      <a:close/>
                    </a:path>
                  </a:pathLst>
                </a:custGeom>
                <a:solidFill>
                  <a:srgbClr val="000000"/>
                </a:solidFill>
                <a:ln w="9525">
                  <a:noFill/>
                  <a:round/>
                  <a:headEnd/>
                  <a:tailEnd/>
                </a:ln>
              </p:spPr>
              <p:txBody>
                <a:bodyPr/>
                <a:lstStyle/>
                <a:p>
                  <a:endParaRPr lang="en-US"/>
                </a:p>
              </p:txBody>
            </p:sp>
            <p:sp>
              <p:nvSpPr>
                <p:cNvPr id="29846" name="Freeform 107"/>
                <p:cNvSpPr>
                  <a:spLocks/>
                </p:cNvSpPr>
                <p:nvPr/>
              </p:nvSpPr>
              <p:spPr bwMode="auto">
                <a:xfrm>
                  <a:off x="2172" y="3511"/>
                  <a:ext cx="39" cy="13"/>
                </a:xfrm>
                <a:custGeom>
                  <a:avLst/>
                  <a:gdLst>
                    <a:gd name="T0" fmla="*/ 0 w 79"/>
                    <a:gd name="T1" fmla="*/ 0 h 27"/>
                    <a:gd name="T2" fmla="*/ 0 w 79"/>
                    <a:gd name="T3" fmla="*/ 0 h 27"/>
                    <a:gd name="T4" fmla="*/ 0 w 79"/>
                    <a:gd name="T5" fmla="*/ 0 h 27"/>
                    <a:gd name="T6" fmla="*/ 0 w 79"/>
                    <a:gd name="T7" fmla="*/ 0 h 27"/>
                    <a:gd name="T8" fmla="*/ 0 w 79"/>
                    <a:gd name="T9" fmla="*/ 0 h 27"/>
                    <a:gd name="T10" fmla="*/ 0 w 79"/>
                    <a:gd name="T11" fmla="*/ 0 h 27"/>
                    <a:gd name="T12" fmla="*/ 0 w 79"/>
                    <a:gd name="T13" fmla="*/ 0 h 27"/>
                    <a:gd name="T14" fmla="*/ 0 w 79"/>
                    <a:gd name="T15" fmla="*/ 0 h 27"/>
                    <a:gd name="T16" fmla="*/ 0 w 79"/>
                    <a:gd name="T17" fmla="*/ 0 h 27"/>
                    <a:gd name="T18" fmla="*/ 0 w 79"/>
                    <a:gd name="T19" fmla="*/ 0 h 27"/>
                    <a:gd name="T20" fmla="*/ 0 w 79"/>
                    <a:gd name="T21" fmla="*/ 0 h 27"/>
                    <a:gd name="T22" fmla="*/ 0 w 79"/>
                    <a:gd name="T23" fmla="*/ 0 h 27"/>
                    <a:gd name="T24" fmla="*/ 0 w 79"/>
                    <a:gd name="T25" fmla="*/ 0 h 27"/>
                    <a:gd name="T26" fmla="*/ 0 w 79"/>
                    <a:gd name="T27" fmla="*/ 0 h 27"/>
                    <a:gd name="T28" fmla="*/ 0 w 79"/>
                    <a:gd name="T29" fmla="*/ 0 h 27"/>
                    <a:gd name="T30" fmla="*/ 0 w 79"/>
                    <a:gd name="T31" fmla="*/ 0 h 27"/>
                    <a:gd name="T32" fmla="*/ 0 w 79"/>
                    <a:gd name="T33" fmla="*/ 0 h 27"/>
                    <a:gd name="T34" fmla="*/ 0 w 79"/>
                    <a:gd name="T35" fmla="*/ 0 h 27"/>
                    <a:gd name="T36" fmla="*/ 0 w 79"/>
                    <a:gd name="T37" fmla="*/ 0 h 27"/>
                    <a:gd name="T38" fmla="*/ 0 w 79"/>
                    <a:gd name="T39" fmla="*/ 0 h 27"/>
                    <a:gd name="T40" fmla="*/ 0 w 79"/>
                    <a:gd name="T41" fmla="*/ 0 h 27"/>
                    <a:gd name="T42" fmla="*/ 0 w 79"/>
                    <a:gd name="T43" fmla="*/ 0 h 27"/>
                    <a:gd name="T44" fmla="*/ 0 w 79"/>
                    <a:gd name="T45" fmla="*/ 0 h 27"/>
                    <a:gd name="T46" fmla="*/ 0 w 79"/>
                    <a:gd name="T47" fmla="*/ 0 h 27"/>
                    <a:gd name="T48" fmla="*/ 0 w 79"/>
                    <a:gd name="T49" fmla="*/ 0 h 27"/>
                    <a:gd name="T50" fmla="*/ 0 w 79"/>
                    <a:gd name="T51" fmla="*/ 0 h 2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9"/>
                    <a:gd name="T79" fmla="*/ 0 h 27"/>
                    <a:gd name="T80" fmla="*/ 79 w 79"/>
                    <a:gd name="T81" fmla="*/ 27 h 2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9" h="27">
                      <a:moveTo>
                        <a:pt x="21" y="21"/>
                      </a:moveTo>
                      <a:lnTo>
                        <a:pt x="11" y="27"/>
                      </a:lnTo>
                      <a:lnTo>
                        <a:pt x="13" y="27"/>
                      </a:lnTo>
                      <a:lnTo>
                        <a:pt x="18" y="27"/>
                      </a:lnTo>
                      <a:lnTo>
                        <a:pt x="25" y="27"/>
                      </a:lnTo>
                      <a:lnTo>
                        <a:pt x="35" y="27"/>
                      </a:lnTo>
                      <a:lnTo>
                        <a:pt x="46" y="27"/>
                      </a:lnTo>
                      <a:lnTo>
                        <a:pt x="58" y="25"/>
                      </a:lnTo>
                      <a:lnTo>
                        <a:pt x="68" y="24"/>
                      </a:lnTo>
                      <a:lnTo>
                        <a:pt x="79" y="22"/>
                      </a:lnTo>
                      <a:lnTo>
                        <a:pt x="72" y="0"/>
                      </a:lnTo>
                      <a:lnTo>
                        <a:pt x="65" y="2"/>
                      </a:lnTo>
                      <a:lnTo>
                        <a:pt x="55" y="4"/>
                      </a:lnTo>
                      <a:lnTo>
                        <a:pt x="46" y="5"/>
                      </a:lnTo>
                      <a:lnTo>
                        <a:pt x="35" y="5"/>
                      </a:lnTo>
                      <a:lnTo>
                        <a:pt x="25" y="5"/>
                      </a:lnTo>
                      <a:lnTo>
                        <a:pt x="18" y="5"/>
                      </a:lnTo>
                      <a:lnTo>
                        <a:pt x="13" y="5"/>
                      </a:lnTo>
                      <a:lnTo>
                        <a:pt x="11" y="5"/>
                      </a:lnTo>
                      <a:lnTo>
                        <a:pt x="2" y="11"/>
                      </a:lnTo>
                      <a:lnTo>
                        <a:pt x="11" y="5"/>
                      </a:lnTo>
                      <a:lnTo>
                        <a:pt x="4" y="8"/>
                      </a:lnTo>
                      <a:lnTo>
                        <a:pt x="0" y="16"/>
                      </a:lnTo>
                      <a:lnTo>
                        <a:pt x="4" y="24"/>
                      </a:lnTo>
                      <a:lnTo>
                        <a:pt x="11" y="27"/>
                      </a:lnTo>
                      <a:lnTo>
                        <a:pt x="21" y="21"/>
                      </a:lnTo>
                      <a:close/>
                    </a:path>
                  </a:pathLst>
                </a:custGeom>
                <a:solidFill>
                  <a:srgbClr val="000000"/>
                </a:solidFill>
                <a:ln w="9525">
                  <a:noFill/>
                  <a:round/>
                  <a:headEnd/>
                  <a:tailEnd/>
                </a:ln>
              </p:spPr>
              <p:txBody>
                <a:bodyPr/>
                <a:lstStyle/>
                <a:p>
                  <a:endParaRPr lang="en-US"/>
                </a:p>
              </p:txBody>
            </p:sp>
            <p:sp>
              <p:nvSpPr>
                <p:cNvPr id="29847" name="Freeform 108"/>
                <p:cNvSpPr>
                  <a:spLocks/>
                </p:cNvSpPr>
                <p:nvPr/>
              </p:nvSpPr>
              <p:spPr bwMode="auto">
                <a:xfrm>
                  <a:off x="1990" y="3505"/>
                  <a:ext cx="272" cy="336"/>
                </a:xfrm>
                <a:custGeom>
                  <a:avLst/>
                  <a:gdLst>
                    <a:gd name="T0" fmla="*/ 1 w 543"/>
                    <a:gd name="T1" fmla="*/ 1 h 672"/>
                    <a:gd name="T2" fmla="*/ 1 w 543"/>
                    <a:gd name="T3" fmla="*/ 1 h 672"/>
                    <a:gd name="T4" fmla="*/ 1 w 543"/>
                    <a:gd name="T5" fmla="*/ 1 h 672"/>
                    <a:gd name="T6" fmla="*/ 1 w 543"/>
                    <a:gd name="T7" fmla="*/ 1 h 672"/>
                    <a:gd name="T8" fmla="*/ 1 w 543"/>
                    <a:gd name="T9" fmla="*/ 1 h 672"/>
                    <a:gd name="T10" fmla="*/ 1 w 543"/>
                    <a:gd name="T11" fmla="*/ 1 h 672"/>
                    <a:gd name="T12" fmla="*/ 1 w 543"/>
                    <a:gd name="T13" fmla="*/ 1 h 672"/>
                    <a:gd name="T14" fmla="*/ 1 w 543"/>
                    <a:gd name="T15" fmla="*/ 1 h 672"/>
                    <a:gd name="T16" fmla="*/ 1 w 543"/>
                    <a:gd name="T17" fmla="*/ 1 h 672"/>
                    <a:gd name="T18" fmla="*/ 1 w 543"/>
                    <a:gd name="T19" fmla="*/ 1 h 672"/>
                    <a:gd name="T20" fmla="*/ 1 w 543"/>
                    <a:gd name="T21" fmla="*/ 1 h 672"/>
                    <a:gd name="T22" fmla="*/ 1 w 543"/>
                    <a:gd name="T23" fmla="*/ 1 h 672"/>
                    <a:gd name="T24" fmla="*/ 1 w 543"/>
                    <a:gd name="T25" fmla="*/ 1 h 672"/>
                    <a:gd name="T26" fmla="*/ 1 w 543"/>
                    <a:gd name="T27" fmla="*/ 1 h 672"/>
                    <a:gd name="T28" fmla="*/ 1 w 543"/>
                    <a:gd name="T29" fmla="*/ 1 h 672"/>
                    <a:gd name="T30" fmla="*/ 1 w 543"/>
                    <a:gd name="T31" fmla="*/ 1 h 672"/>
                    <a:gd name="T32" fmla="*/ 1 w 543"/>
                    <a:gd name="T33" fmla="*/ 1 h 672"/>
                    <a:gd name="T34" fmla="*/ 1 w 543"/>
                    <a:gd name="T35" fmla="*/ 1 h 672"/>
                    <a:gd name="T36" fmla="*/ 1 w 543"/>
                    <a:gd name="T37" fmla="*/ 1 h 672"/>
                    <a:gd name="T38" fmla="*/ 1 w 543"/>
                    <a:gd name="T39" fmla="*/ 1 h 672"/>
                    <a:gd name="T40" fmla="*/ 1 w 543"/>
                    <a:gd name="T41" fmla="*/ 1 h 672"/>
                    <a:gd name="T42" fmla="*/ 1 w 543"/>
                    <a:gd name="T43" fmla="*/ 1 h 672"/>
                    <a:gd name="T44" fmla="*/ 1 w 543"/>
                    <a:gd name="T45" fmla="*/ 0 h 672"/>
                    <a:gd name="T46" fmla="*/ 1 w 543"/>
                    <a:gd name="T47" fmla="*/ 1 h 672"/>
                    <a:gd name="T48" fmla="*/ 1 w 543"/>
                    <a:gd name="T49" fmla="*/ 1 h 672"/>
                    <a:gd name="T50" fmla="*/ 1 w 543"/>
                    <a:gd name="T51" fmla="*/ 1 h 672"/>
                    <a:gd name="T52" fmla="*/ 1 w 543"/>
                    <a:gd name="T53" fmla="*/ 1 h 672"/>
                    <a:gd name="T54" fmla="*/ 1 w 543"/>
                    <a:gd name="T55" fmla="*/ 1 h 672"/>
                    <a:gd name="T56" fmla="*/ 1 w 543"/>
                    <a:gd name="T57" fmla="*/ 1 h 672"/>
                    <a:gd name="T58" fmla="*/ 1 w 543"/>
                    <a:gd name="T59" fmla="*/ 1 h 672"/>
                    <a:gd name="T60" fmla="*/ 1 w 543"/>
                    <a:gd name="T61" fmla="*/ 1 h 672"/>
                    <a:gd name="T62" fmla="*/ 1 w 543"/>
                    <a:gd name="T63" fmla="*/ 1 h 672"/>
                    <a:gd name="T64" fmla="*/ 1 w 543"/>
                    <a:gd name="T65" fmla="*/ 1 h 672"/>
                    <a:gd name="T66" fmla="*/ 1 w 543"/>
                    <a:gd name="T67" fmla="*/ 1 h 672"/>
                    <a:gd name="T68" fmla="*/ 1 w 543"/>
                    <a:gd name="T69" fmla="*/ 1 h 672"/>
                    <a:gd name="T70" fmla="*/ 1 w 543"/>
                    <a:gd name="T71" fmla="*/ 1 h 672"/>
                    <a:gd name="T72" fmla="*/ 1 w 543"/>
                    <a:gd name="T73" fmla="*/ 1 h 672"/>
                    <a:gd name="T74" fmla="*/ 1 w 543"/>
                    <a:gd name="T75" fmla="*/ 1 h 672"/>
                    <a:gd name="T76" fmla="*/ 1 w 543"/>
                    <a:gd name="T77" fmla="*/ 1 h 672"/>
                    <a:gd name="T78" fmla="*/ 1 w 543"/>
                    <a:gd name="T79" fmla="*/ 1 h 672"/>
                    <a:gd name="T80" fmla="*/ 1 w 543"/>
                    <a:gd name="T81" fmla="*/ 1 h 672"/>
                    <a:gd name="T82" fmla="*/ 1 w 543"/>
                    <a:gd name="T83" fmla="*/ 1 h 672"/>
                    <a:gd name="T84" fmla="*/ 1 w 543"/>
                    <a:gd name="T85" fmla="*/ 1 h 672"/>
                    <a:gd name="T86" fmla="*/ 1 w 543"/>
                    <a:gd name="T87" fmla="*/ 1 h 672"/>
                    <a:gd name="T88" fmla="*/ 1 w 543"/>
                    <a:gd name="T89" fmla="*/ 1 h 672"/>
                    <a:gd name="T90" fmla="*/ 1 w 543"/>
                    <a:gd name="T91" fmla="*/ 1 h 672"/>
                    <a:gd name="T92" fmla="*/ 0 w 543"/>
                    <a:gd name="T93" fmla="*/ 1 h 672"/>
                    <a:gd name="T94" fmla="*/ 0 w 543"/>
                    <a:gd name="T95" fmla="*/ 1 h 672"/>
                    <a:gd name="T96" fmla="*/ 1 w 543"/>
                    <a:gd name="T97" fmla="*/ 1 h 672"/>
                    <a:gd name="T98" fmla="*/ 1 w 543"/>
                    <a:gd name="T99" fmla="*/ 1 h 672"/>
                    <a:gd name="T100" fmla="*/ 1 w 543"/>
                    <a:gd name="T101" fmla="*/ 1 h 672"/>
                    <a:gd name="T102" fmla="*/ 1 w 543"/>
                    <a:gd name="T103" fmla="*/ 1 h 672"/>
                    <a:gd name="T104" fmla="*/ 1 w 543"/>
                    <a:gd name="T105" fmla="*/ 1 h 672"/>
                    <a:gd name="T106" fmla="*/ 1 w 543"/>
                    <a:gd name="T107" fmla="*/ 1 h 672"/>
                    <a:gd name="T108" fmla="*/ 1 w 543"/>
                    <a:gd name="T109" fmla="*/ 1 h 672"/>
                    <a:gd name="T110" fmla="*/ 1 w 543"/>
                    <a:gd name="T111" fmla="*/ 1 h 672"/>
                    <a:gd name="T112" fmla="*/ 1 w 543"/>
                    <a:gd name="T113" fmla="*/ 1 h 672"/>
                    <a:gd name="T114" fmla="*/ 1 w 543"/>
                    <a:gd name="T115" fmla="*/ 1 h 672"/>
                    <a:gd name="T116" fmla="*/ 1 w 543"/>
                    <a:gd name="T117" fmla="*/ 1 h 672"/>
                    <a:gd name="T118" fmla="*/ 1 w 543"/>
                    <a:gd name="T119" fmla="*/ 1 h 672"/>
                    <a:gd name="T120" fmla="*/ 1 w 543"/>
                    <a:gd name="T121" fmla="*/ 1 h 67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43"/>
                    <a:gd name="T184" fmla="*/ 0 h 672"/>
                    <a:gd name="T185" fmla="*/ 543 w 543"/>
                    <a:gd name="T186" fmla="*/ 672 h 67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43" h="672">
                      <a:moveTo>
                        <a:pt x="343" y="431"/>
                      </a:moveTo>
                      <a:lnTo>
                        <a:pt x="329" y="424"/>
                      </a:lnTo>
                      <a:lnTo>
                        <a:pt x="316" y="417"/>
                      </a:lnTo>
                      <a:lnTo>
                        <a:pt x="307" y="410"/>
                      </a:lnTo>
                      <a:lnTo>
                        <a:pt x="301" y="403"/>
                      </a:lnTo>
                      <a:lnTo>
                        <a:pt x="298" y="396"/>
                      </a:lnTo>
                      <a:lnTo>
                        <a:pt x="296" y="392"/>
                      </a:lnTo>
                      <a:lnTo>
                        <a:pt x="296" y="390"/>
                      </a:lnTo>
                      <a:lnTo>
                        <a:pt x="291" y="266"/>
                      </a:lnTo>
                      <a:lnTo>
                        <a:pt x="293" y="265"/>
                      </a:lnTo>
                      <a:lnTo>
                        <a:pt x="299" y="260"/>
                      </a:lnTo>
                      <a:lnTo>
                        <a:pt x="305" y="254"/>
                      </a:lnTo>
                      <a:lnTo>
                        <a:pt x="313" y="248"/>
                      </a:lnTo>
                      <a:lnTo>
                        <a:pt x="321" y="241"/>
                      </a:lnTo>
                      <a:lnTo>
                        <a:pt x="327" y="237"/>
                      </a:lnTo>
                      <a:lnTo>
                        <a:pt x="331" y="234"/>
                      </a:lnTo>
                      <a:lnTo>
                        <a:pt x="331" y="235"/>
                      </a:lnTo>
                      <a:lnTo>
                        <a:pt x="321" y="243"/>
                      </a:lnTo>
                      <a:lnTo>
                        <a:pt x="309" y="254"/>
                      </a:lnTo>
                      <a:lnTo>
                        <a:pt x="296" y="263"/>
                      </a:lnTo>
                      <a:lnTo>
                        <a:pt x="291" y="266"/>
                      </a:lnTo>
                      <a:lnTo>
                        <a:pt x="257" y="266"/>
                      </a:lnTo>
                      <a:lnTo>
                        <a:pt x="255" y="263"/>
                      </a:lnTo>
                      <a:lnTo>
                        <a:pt x="251" y="257"/>
                      </a:lnTo>
                      <a:lnTo>
                        <a:pt x="246" y="249"/>
                      </a:lnTo>
                      <a:lnTo>
                        <a:pt x="240" y="241"/>
                      </a:lnTo>
                      <a:lnTo>
                        <a:pt x="233" y="230"/>
                      </a:lnTo>
                      <a:lnTo>
                        <a:pt x="229" y="218"/>
                      </a:lnTo>
                      <a:lnTo>
                        <a:pt x="224" y="205"/>
                      </a:lnTo>
                      <a:lnTo>
                        <a:pt x="222" y="201"/>
                      </a:lnTo>
                      <a:lnTo>
                        <a:pt x="224" y="198"/>
                      </a:lnTo>
                      <a:lnTo>
                        <a:pt x="230" y="187"/>
                      </a:lnTo>
                      <a:lnTo>
                        <a:pt x="240" y="174"/>
                      </a:lnTo>
                      <a:lnTo>
                        <a:pt x="251" y="160"/>
                      </a:lnTo>
                      <a:lnTo>
                        <a:pt x="258" y="151"/>
                      </a:lnTo>
                      <a:lnTo>
                        <a:pt x="266" y="138"/>
                      </a:lnTo>
                      <a:lnTo>
                        <a:pt x="277" y="124"/>
                      </a:lnTo>
                      <a:lnTo>
                        <a:pt x="287" y="107"/>
                      </a:lnTo>
                      <a:lnTo>
                        <a:pt x="298" y="93"/>
                      </a:lnTo>
                      <a:lnTo>
                        <a:pt x="307" y="79"/>
                      </a:lnTo>
                      <a:lnTo>
                        <a:pt x="315" y="68"/>
                      </a:lnTo>
                      <a:lnTo>
                        <a:pt x="321" y="60"/>
                      </a:lnTo>
                      <a:lnTo>
                        <a:pt x="334" y="52"/>
                      </a:lnTo>
                      <a:lnTo>
                        <a:pt x="346" y="47"/>
                      </a:lnTo>
                      <a:lnTo>
                        <a:pt x="357" y="46"/>
                      </a:lnTo>
                      <a:lnTo>
                        <a:pt x="362" y="46"/>
                      </a:lnTo>
                      <a:lnTo>
                        <a:pt x="365" y="47"/>
                      </a:lnTo>
                      <a:lnTo>
                        <a:pt x="371" y="49"/>
                      </a:lnTo>
                      <a:lnTo>
                        <a:pt x="382" y="52"/>
                      </a:lnTo>
                      <a:lnTo>
                        <a:pt x="393" y="54"/>
                      </a:lnTo>
                      <a:lnTo>
                        <a:pt x="399" y="54"/>
                      </a:lnTo>
                      <a:lnTo>
                        <a:pt x="409" y="54"/>
                      </a:lnTo>
                      <a:lnTo>
                        <a:pt x="418" y="52"/>
                      </a:lnTo>
                      <a:lnTo>
                        <a:pt x="428" y="51"/>
                      </a:lnTo>
                      <a:lnTo>
                        <a:pt x="437" y="49"/>
                      </a:lnTo>
                      <a:lnTo>
                        <a:pt x="448" y="46"/>
                      </a:lnTo>
                      <a:lnTo>
                        <a:pt x="457" y="44"/>
                      </a:lnTo>
                      <a:lnTo>
                        <a:pt x="465" y="41"/>
                      </a:lnTo>
                      <a:lnTo>
                        <a:pt x="478" y="35"/>
                      </a:lnTo>
                      <a:lnTo>
                        <a:pt x="487" y="29"/>
                      </a:lnTo>
                      <a:lnTo>
                        <a:pt x="492" y="24"/>
                      </a:lnTo>
                      <a:lnTo>
                        <a:pt x="493" y="22"/>
                      </a:lnTo>
                      <a:lnTo>
                        <a:pt x="492" y="19"/>
                      </a:lnTo>
                      <a:lnTo>
                        <a:pt x="489" y="13"/>
                      </a:lnTo>
                      <a:lnTo>
                        <a:pt x="486" y="5"/>
                      </a:lnTo>
                      <a:lnTo>
                        <a:pt x="487" y="2"/>
                      </a:lnTo>
                      <a:lnTo>
                        <a:pt x="490" y="0"/>
                      </a:lnTo>
                      <a:lnTo>
                        <a:pt x="496" y="0"/>
                      </a:lnTo>
                      <a:lnTo>
                        <a:pt x="503" y="2"/>
                      </a:lnTo>
                      <a:lnTo>
                        <a:pt x="511" y="2"/>
                      </a:lnTo>
                      <a:lnTo>
                        <a:pt x="517" y="4"/>
                      </a:lnTo>
                      <a:lnTo>
                        <a:pt x="525" y="5"/>
                      </a:lnTo>
                      <a:lnTo>
                        <a:pt x="531" y="7"/>
                      </a:lnTo>
                      <a:lnTo>
                        <a:pt x="536" y="8"/>
                      </a:lnTo>
                      <a:lnTo>
                        <a:pt x="539" y="15"/>
                      </a:lnTo>
                      <a:lnTo>
                        <a:pt x="540" y="25"/>
                      </a:lnTo>
                      <a:lnTo>
                        <a:pt x="542" y="41"/>
                      </a:lnTo>
                      <a:lnTo>
                        <a:pt x="543" y="58"/>
                      </a:lnTo>
                      <a:lnTo>
                        <a:pt x="543" y="76"/>
                      </a:lnTo>
                      <a:lnTo>
                        <a:pt x="543" y="91"/>
                      </a:lnTo>
                      <a:lnTo>
                        <a:pt x="543" y="101"/>
                      </a:lnTo>
                      <a:lnTo>
                        <a:pt x="543" y="105"/>
                      </a:lnTo>
                      <a:lnTo>
                        <a:pt x="543" y="110"/>
                      </a:lnTo>
                      <a:lnTo>
                        <a:pt x="543" y="121"/>
                      </a:lnTo>
                      <a:lnTo>
                        <a:pt x="543" y="138"/>
                      </a:lnTo>
                      <a:lnTo>
                        <a:pt x="542" y="162"/>
                      </a:lnTo>
                      <a:lnTo>
                        <a:pt x="540" y="190"/>
                      </a:lnTo>
                      <a:lnTo>
                        <a:pt x="539" y="219"/>
                      </a:lnTo>
                      <a:lnTo>
                        <a:pt x="536" y="252"/>
                      </a:lnTo>
                      <a:lnTo>
                        <a:pt x="531" y="287"/>
                      </a:lnTo>
                      <a:lnTo>
                        <a:pt x="526" y="321"/>
                      </a:lnTo>
                      <a:lnTo>
                        <a:pt x="520" y="356"/>
                      </a:lnTo>
                      <a:lnTo>
                        <a:pt x="512" y="387"/>
                      </a:lnTo>
                      <a:lnTo>
                        <a:pt x="504" y="417"/>
                      </a:lnTo>
                      <a:lnTo>
                        <a:pt x="493" y="442"/>
                      </a:lnTo>
                      <a:lnTo>
                        <a:pt x="481" y="460"/>
                      </a:lnTo>
                      <a:lnTo>
                        <a:pt x="467" y="475"/>
                      </a:lnTo>
                      <a:lnTo>
                        <a:pt x="451" y="482"/>
                      </a:lnTo>
                      <a:lnTo>
                        <a:pt x="418" y="489"/>
                      </a:lnTo>
                      <a:lnTo>
                        <a:pt x="387" y="493"/>
                      </a:lnTo>
                      <a:lnTo>
                        <a:pt x="359" y="496"/>
                      </a:lnTo>
                      <a:lnTo>
                        <a:pt x="331" y="498"/>
                      </a:lnTo>
                      <a:lnTo>
                        <a:pt x="305" y="500"/>
                      </a:lnTo>
                      <a:lnTo>
                        <a:pt x="282" y="498"/>
                      </a:lnTo>
                      <a:lnTo>
                        <a:pt x="260" y="495"/>
                      </a:lnTo>
                      <a:lnTo>
                        <a:pt x="240" y="490"/>
                      </a:lnTo>
                      <a:lnTo>
                        <a:pt x="221" y="484"/>
                      </a:lnTo>
                      <a:lnTo>
                        <a:pt x="204" y="479"/>
                      </a:lnTo>
                      <a:lnTo>
                        <a:pt x="186" y="476"/>
                      </a:lnTo>
                      <a:lnTo>
                        <a:pt x="169" y="473"/>
                      </a:lnTo>
                      <a:lnTo>
                        <a:pt x="155" y="471"/>
                      </a:lnTo>
                      <a:lnTo>
                        <a:pt x="144" y="470"/>
                      </a:lnTo>
                      <a:lnTo>
                        <a:pt x="133" y="470"/>
                      </a:lnTo>
                      <a:lnTo>
                        <a:pt x="127" y="470"/>
                      </a:lnTo>
                      <a:lnTo>
                        <a:pt x="119" y="471"/>
                      </a:lnTo>
                      <a:lnTo>
                        <a:pt x="114" y="473"/>
                      </a:lnTo>
                      <a:lnTo>
                        <a:pt x="113" y="475"/>
                      </a:lnTo>
                      <a:lnTo>
                        <a:pt x="113" y="476"/>
                      </a:lnTo>
                      <a:lnTo>
                        <a:pt x="111" y="489"/>
                      </a:lnTo>
                      <a:lnTo>
                        <a:pt x="118" y="659"/>
                      </a:lnTo>
                      <a:lnTo>
                        <a:pt x="116" y="659"/>
                      </a:lnTo>
                      <a:lnTo>
                        <a:pt x="114" y="662"/>
                      </a:lnTo>
                      <a:lnTo>
                        <a:pt x="110" y="664"/>
                      </a:lnTo>
                      <a:lnTo>
                        <a:pt x="102" y="667"/>
                      </a:lnTo>
                      <a:lnTo>
                        <a:pt x="94" y="669"/>
                      </a:lnTo>
                      <a:lnTo>
                        <a:pt x="83" y="672"/>
                      </a:lnTo>
                      <a:lnTo>
                        <a:pt x="72" y="672"/>
                      </a:lnTo>
                      <a:lnTo>
                        <a:pt x="58" y="672"/>
                      </a:lnTo>
                      <a:lnTo>
                        <a:pt x="35" y="669"/>
                      </a:lnTo>
                      <a:lnTo>
                        <a:pt x="22" y="665"/>
                      </a:lnTo>
                      <a:lnTo>
                        <a:pt x="16" y="664"/>
                      </a:lnTo>
                      <a:lnTo>
                        <a:pt x="14" y="662"/>
                      </a:lnTo>
                      <a:lnTo>
                        <a:pt x="14" y="656"/>
                      </a:lnTo>
                      <a:lnTo>
                        <a:pt x="11" y="642"/>
                      </a:lnTo>
                      <a:lnTo>
                        <a:pt x="10" y="620"/>
                      </a:lnTo>
                      <a:lnTo>
                        <a:pt x="6" y="595"/>
                      </a:lnTo>
                      <a:lnTo>
                        <a:pt x="3" y="567"/>
                      </a:lnTo>
                      <a:lnTo>
                        <a:pt x="2" y="540"/>
                      </a:lnTo>
                      <a:lnTo>
                        <a:pt x="0" y="517"/>
                      </a:lnTo>
                      <a:lnTo>
                        <a:pt x="0" y="500"/>
                      </a:lnTo>
                      <a:lnTo>
                        <a:pt x="0" y="485"/>
                      </a:lnTo>
                      <a:lnTo>
                        <a:pt x="0" y="468"/>
                      </a:lnTo>
                      <a:lnTo>
                        <a:pt x="0" y="451"/>
                      </a:lnTo>
                      <a:lnTo>
                        <a:pt x="0" y="434"/>
                      </a:lnTo>
                      <a:lnTo>
                        <a:pt x="2" y="418"/>
                      </a:lnTo>
                      <a:lnTo>
                        <a:pt x="5" y="403"/>
                      </a:lnTo>
                      <a:lnTo>
                        <a:pt x="11" y="390"/>
                      </a:lnTo>
                      <a:lnTo>
                        <a:pt x="20" y="381"/>
                      </a:lnTo>
                      <a:lnTo>
                        <a:pt x="35" y="373"/>
                      </a:lnTo>
                      <a:lnTo>
                        <a:pt x="55" y="367"/>
                      </a:lnTo>
                      <a:lnTo>
                        <a:pt x="78" y="360"/>
                      </a:lnTo>
                      <a:lnTo>
                        <a:pt x="108" y="356"/>
                      </a:lnTo>
                      <a:lnTo>
                        <a:pt x="139" y="352"/>
                      </a:lnTo>
                      <a:lnTo>
                        <a:pt x="174" y="352"/>
                      </a:lnTo>
                      <a:lnTo>
                        <a:pt x="212" y="354"/>
                      </a:lnTo>
                      <a:lnTo>
                        <a:pt x="251" y="357"/>
                      </a:lnTo>
                      <a:lnTo>
                        <a:pt x="248" y="357"/>
                      </a:lnTo>
                      <a:lnTo>
                        <a:pt x="241" y="356"/>
                      </a:lnTo>
                      <a:lnTo>
                        <a:pt x="232" y="356"/>
                      </a:lnTo>
                      <a:lnTo>
                        <a:pt x="219" y="354"/>
                      </a:lnTo>
                      <a:lnTo>
                        <a:pt x="205" y="354"/>
                      </a:lnTo>
                      <a:lnTo>
                        <a:pt x="190" y="352"/>
                      </a:lnTo>
                      <a:lnTo>
                        <a:pt x="174" y="352"/>
                      </a:lnTo>
                      <a:lnTo>
                        <a:pt x="158" y="352"/>
                      </a:lnTo>
                      <a:lnTo>
                        <a:pt x="135" y="352"/>
                      </a:lnTo>
                      <a:lnTo>
                        <a:pt x="122" y="354"/>
                      </a:lnTo>
                      <a:lnTo>
                        <a:pt x="118" y="356"/>
                      </a:lnTo>
                      <a:lnTo>
                        <a:pt x="116" y="356"/>
                      </a:lnTo>
                      <a:lnTo>
                        <a:pt x="113" y="343"/>
                      </a:lnTo>
                      <a:lnTo>
                        <a:pt x="113" y="342"/>
                      </a:lnTo>
                      <a:lnTo>
                        <a:pt x="114" y="335"/>
                      </a:lnTo>
                      <a:lnTo>
                        <a:pt x="121" y="327"/>
                      </a:lnTo>
                      <a:lnTo>
                        <a:pt x="135" y="321"/>
                      </a:lnTo>
                      <a:lnTo>
                        <a:pt x="149" y="318"/>
                      </a:lnTo>
                      <a:lnTo>
                        <a:pt x="168" y="315"/>
                      </a:lnTo>
                      <a:lnTo>
                        <a:pt x="191" y="310"/>
                      </a:lnTo>
                      <a:lnTo>
                        <a:pt x="216" y="307"/>
                      </a:lnTo>
                      <a:lnTo>
                        <a:pt x="241" y="304"/>
                      </a:lnTo>
                      <a:lnTo>
                        <a:pt x="263" y="301"/>
                      </a:lnTo>
                      <a:lnTo>
                        <a:pt x="280" y="299"/>
                      </a:lnTo>
                      <a:lnTo>
                        <a:pt x="291" y="299"/>
                      </a:lnTo>
                      <a:lnTo>
                        <a:pt x="343" y="431"/>
                      </a:lnTo>
                      <a:close/>
                    </a:path>
                  </a:pathLst>
                </a:custGeom>
                <a:solidFill>
                  <a:srgbClr val="00FFB2"/>
                </a:solidFill>
                <a:ln w="9525">
                  <a:noFill/>
                  <a:round/>
                  <a:headEnd/>
                  <a:tailEnd/>
                </a:ln>
              </p:spPr>
              <p:txBody>
                <a:bodyPr/>
                <a:lstStyle/>
                <a:p>
                  <a:endParaRPr lang="en-US"/>
                </a:p>
              </p:txBody>
            </p:sp>
            <p:sp>
              <p:nvSpPr>
                <p:cNvPr id="29848" name="Freeform 109"/>
                <p:cNvSpPr>
                  <a:spLocks/>
                </p:cNvSpPr>
                <p:nvPr/>
              </p:nvSpPr>
              <p:spPr bwMode="auto">
                <a:xfrm>
                  <a:off x="2136" y="3703"/>
                  <a:ext cx="27" cy="23"/>
                </a:xfrm>
                <a:custGeom>
                  <a:avLst/>
                  <a:gdLst>
                    <a:gd name="T0" fmla="*/ 0 w 55"/>
                    <a:gd name="T1" fmla="*/ 1 h 46"/>
                    <a:gd name="T2" fmla="*/ 0 w 55"/>
                    <a:gd name="T3" fmla="*/ 1 h 46"/>
                    <a:gd name="T4" fmla="*/ 0 w 55"/>
                    <a:gd name="T5" fmla="*/ 1 h 46"/>
                    <a:gd name="T6" fmla="*/ 0 w 55"/>
                    <a:gd name="T7" fmla="*/ 1 h 46"/>
                    <a:gd name="T8" fmla="*/ 0 w 55"/>
                    <a:gd name="T9" fmla="*/ 1 h 46"/>
                    <a:gd name="T10" fmla="*/ 0 w 55"/>
                    <a:gd name="T11" fmla="*/ 1 h 46"/>
                    <a:gd name="T12" fmla="*/ 0 w 55"/>
                    <a:gd name="T13" fmla="*/ 1 h 46"/>
                    <a:gd name="T14" fmla="*/ 0 w 55"/>
                    <a:gd name="T15" fmla="*/ 1 h 46"/>
                    <a:gd name="T16" fmla="*/ 0 w 55"/>
                    <a:gd name="T17" fmla="*/ 1 h 46"/>
                    <a:gd name="T18" fmla="*/ 0 w 55"/>
                    <a:gd name="T19" fmla="*/ 1 h 46"/>
                    <a:gd name="T20" fmla="*/ 0 w 55"/>
                    <a:gd name="T21" fmla="*/ 0 h 46"/>
                    <a:gd name="T22" fmla="*/ 0 w 55"/>
                    <a:gd name="T23" fmla="*/ 1 h 46"/>
                    <a:gd name="T24" fmla="*/ 0 w 55"/>
                    <a:gd name="T25" fmla="*/ 1 h 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46"/>
                    <a:gd name="T41" fmla="*/ 55 w 55"/>
                    <a:gd name="T42" fmla="*/ 46 h 4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46">
                      <a:moveTo>
                        <a:pt x="0" y="11"/>
                      </a:moveTo>
                      <a:lnTo>
                        <a:pt x="0" y="13"/>
                      </a:lnTo>
                      <a:lnTo>
                        <a:pt x="8" y="22"/>
                      </a:lnTo>
                      <a:lnTo>
                        <a:pt x="19" y="30"/>
                      </a:lnTo>
                      <a:lnTo>
                        <a:pt x="33" y="38"/>
                      </a:lnTo>
                      <a:lnTo>
                        <a:pt x="49" y="46"/>
                      </a:lnTo>
                      <a:lnTo>
                        <a:pt x="55" y="24"/>
                      </a:lnTo>
                      <a:lnTo>
                        <a:pt x="43" y="19"/>
                      </a:lnTo>
                      <a:lnTo>
                        <a:pt x="32" y="11"/>
                      </a:lnTo>
                      <a:lnTo>
                        <a:pt x="24" y="7"/>
                      </a:lnTo>
                      <a:lnTo>
                        <a:pt x="19" y="0"/>
                      </a:lnTo>
                      <a:lnTo>
                        <a:pt x="19" y="2"/>
                      </a:lnTo>
                      <a:lnTo>
                        <a:pt x="0" y="11"/>
                      </a:lnTo>
                      <a:close/>
                    </a:path>
                  </a:pathLst>
                </a:custGeom>
                <a:solidFill>
                  <a:srgbClr val="000000"/>
                </a:solidFill>
                <a:ln w="9525">
                  <a:noFill/>
                  <a:round/>
                  <a:headEnd/>
                  <a:tailEnd/>
                </a:ln>
              </p:spPr>
              <p:txBody>
                <a:bodyPr/>
                <a:lstStyle/>
                <a:p>
                  <a:endParaRPr lang="en-US"/>
                </a:p>
              </p:txBody>
            </p:sp>
            <p:sp>
              <p:nvSpPr>
                <p:cNvPr id="29849" name="Freeform 110"/>
                <p:cNvSpPr>
                  <a:spLocks/>
                </p:cNvSpPr>
                <p:nvPr/>
              </p:nvSpPr>
              <p:spPr bwMode="auto">
                <a:xfrm>
                  <a:off x="2133" y="3695"/>
                  <a:ext cx="12" cy="14"/>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1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0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0" y="11"/>
                      </a:moveTo>
                      <a:lnTo>
                        <a:pt x="3" y="3"/>
                      </a:lnTo>
                      <a:lnTo>
                        <a:pt x="0" y="11"/>
                      </a:lnTo>
                      <a:lnTo>
                        <a:pt x="0" y="16"/>
                      </a:lnTo>
                      <a:lnTo>
                        <a:pt x="3" y="22"/>
                      </a:lnTo>
                      <a:lnTo>
                        <a:pt x="6" y="28"/>
                      </a:lnTo>
                      <a:lnTo>
                        <a:pt x="25" y="19"/>
                      </a:lnTo>
                      <a:lnTo>
                        <a:pt x="22" y="13"/>
                      </a:lnTo>
                      <a:lnTo>
                        <a:pt x="22" y="9"/>
                      </a:lnTo>
                      <a:lnTo>
                        <a:pt x="22" y="11"/>
                      </a:lnTo>
                      <a:lnTo>
                        <a:pt x="19" y="19"/>
                      </a:lnTo>
                      <a:lnTo>
                        <a:pt x="22" y="11"/>
                      </a:lnTo>
                      <a:lnTo>
                        <a:pt x="19" y="19"/>
                      </a:lnTo>
                      <a:lnTo>
                        <a:pt x="22" y="11"/>
                      </a:lnTo>
                      <a:lnTo>
                        <a:pt x="19" y="3"/>
                      </a:lnTo>
                      <a:lnTo>
                        <a:pt x="11" y="0"/>
                      </a:lnTo>
                      <a:lnTo>
                        <a:pt x="3" y="3"/>
                      </a:lnTo>
                      <a:lnTo>
                        <a:pt x="0" y="11"/>
                      </a:lnTo>
                      <a:close/>
                    </a:path>
                  </a:pathLst>
                </a:custGeom>
                <a:solidFill>
                  <a:srgbClr val="000000"/>
                </a:solidFill>
                <a:ln w="9525">
                  <a:noFill/>
                  <a:round/>
                  <a:headEnd/>
                  <a:tailEnd/>
                </a:ln>
              </p:spPr>
              <p:txBody>
                <a:bodyPr/>
                <a:lstStyle/>
                <a:p>
                  <a:endParaRPr lang="en-US"/>
                </a:p>
              </p:txBody>
            </p:sp>
            <p:sp>
              <p:nvSpPr>
                <p:cNvPr id="29850" name="Freeform 111"/>
                <p:cNvSpPr>
                  <a:spLocks/>
                </p:cNvSpPr>
                <p:nvPr/>
              </p:nvSpPr>
              <p:spPr bwMode="auto">
                <a:xfrm>
                  <a:off x="2130" y="3633"/>
                  <a:ext cx="14" cy="67"/>
                </a:xfrm>
                <a:custGeom>
                  <a:avLst/>
                  <a:gdLst>
                    <a:gd name="T0" fmla="*/ 1 w 27"/>
                    <a:gd name="T1" fmla="*/ 0 h 135"/>
                    <a:gd name="T2" fmla="*/ 0 w 27"/>
                    <a:gd name="T3" fmla="*/ 0 h 135"/>
                    <a:gd name="T4" fmla="*/ 1 w 27"/>
                    <a:gd name="T5" fmla="*/ 0 h 135"/>
                    <a:gd name="T6" fmla="*/ 1 w 27"/>
                    <a:gd name="T7" fmla="*/ 0 h 135"/>
                    <a:gd name="T8" fmla="*/ 1 w 27"/>
                    <a:gd name="T9" fmla="*/ 0 h 135"/>
                    <a:gd name="T10" fmla="*/ 1 w 27"/>
                    <a:gd name="T11" fmla="*/ 0 h 135"/>
                    <a:gd name="T12" fmla="*/ 1 w 27"/>
                    <a:gd name="T13" fmla="*/ 0 h 135"/>
                    <a:gd name="T14" fmla="*/ 1 w 27"/>
                    <a:gd name="T15" fmla="*/ 0 h 135"/>
                    <a:gd name="T16" fmla="*/ 1 w 27"/>
                    <a:gd name="T17" fmla="*/ 0 h 135"/>
                    <a:gd name="T18" fmla="*/ 1 w 27"/>
                    <a:gd name="T19" fmla="*/ 0 h 135"/>
                    <a:gd name="T20" fmla="*/ 0 w 27"/>
                    <a:gd name="T21" fmla="*/ 0 h 135"/>
                    <a:gd name="T22" fmla="*/ 1 w 27"/>
                    <a:gd name="T23" fmla="*/ 0 h 1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35"/>
                    <a:gd name="T38" fmla="*/ 27 w 27"/>
                    <a:gd name="T39" fmla="*/ 135 h 1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35">
                      <a:moveTo>
                        <a:pt x="4" y="4"/>
                      </a:moveTo>
                      <a:lnTo>
                        <a:pt x="0" y="11"/>
                      </a:lnTo>
                      <a:lnTo>
                        <a:pt x="5" y="135"/>
                      </a:lnTo>
                      <a:lnTo>
                        <a:pt x="27" y="135"/>
                      </a:lnTo>
                      <a:lnTo>
                        <a:pt x="22" y="11"/>
                      </a:lnTo>
                      <a:lnTo>
                        <a:pt x="19" y="19"/>
                      </a:lnTo>
                      <a:lnTo>
                        <a:pt x="22" y="11"/>
                      </a:lnTo>
                      <a:lnTo>
                        <a:pt x="19" y="4"/>
                      </a:lnTo>
                      <a:lnTo>
                        <a:pt x="11" y="0"/>
                      </a:lnTo>
                      <a:lnTo>
                        <a:pt x="4" y="4"/>
                      </a:lnTo>
                      <a:lnTo>
                        <a:pt x="0" y="11"/>
                      </a:lnTo>
                      <a:lnTo>
                        <a:pt x="4" y="4"/>
                      </a:lnTo>
                      <a:close/>
                    </a:path>
                  </a:pathLst>
                </a:custGeom>
                <a:solidFill>
                  <a:srgbClr val="000000"/>
                </a:solidFill>
                <a:ln w="9525">
                  <a:noFill/>
                  <a:round/>
                  <a:headEnd/>
                  <a:tailEnd/>
                </a:ln>
              </p:spPr>
              <p:txBody>
                <a:bodyPr/>
                <a:lstStyle/>
                <a:p>
                  <a:endParaRPr lang="en-US"/>
                </a:p>
              </p:txBody>
            </p:sp>
            <p:sp>
              <p:nvSpPr>
                <p:cNvPr id="29851" name="Freeform 112"/>
                <p:cNvSpPr>
                  <a:spLocks/>
                </p:cNvSpPr>
                <p:nvPr/>
              </p:nvSpPr>
              <p:spPr bwMode="auto">
                <a:xfrm>
                  <a:off x="2132" y="3617"/>
                  <a:ext cx="27" cy="25"/>
                </a:xfrm>
                <a:custGeom>
                  <a:avLst/>
                  <a:gdLst>
                    <a:gd name="T0" fmla="*/ 1 w 54"/>
                    <a:gd name="T1" fmla="*/ 1 h 50"/>
                    <a:gd name="T2" fmla="*/ 1 w 54"/>
                    <a:gd name="T3" fmla="*/ 1 h 50"/>
                    <a:gd name="T4" fmla="*/ 1 w 54"/>
                    <a:gd name="T5" fmla="*/ 0 h 50"/>
                    <a:gd name="T6" fmla="*/ 1 w 54"/>
                    <a:gd name="T7" fmla="*/ 1 h 50"/>
                    <a:gd name="T8" fmla="*/ 1 w 54"/>
                    <a:gd name="T9" fmla="*/ 1 h 50"/>
                    <a:gd name="T10" fmla="*/ 1 w 54"/>
                    <a:gd name="T11" fmla="*/ 1 h 50"/>
                    <a:gd name="T12" fmla="*/ 1 w 54"/>
                    <a:gd name="T13" fmla="*/ 1 h 50"/>
                    <a:gd name="T14" fmla="*/ 1 w 54"/>
                    <a:gd name="T15" fmla="*/ 1 h 50"/>
                    <a:gd name="T16" fmla="*/ 1 w 54"/>
                    <a:gd name="T17" fmla="*/ 1 h 50"/>
                    <a:gd name="T18" fmla="*/ 0 w 54"/>
                    <a:gd name="T19" fmla="*/ 1 h 50"/>
                    <a:gd name="T20" fmla="*/ 1 w 54"/>
                    <a:gd name="T21" fmla="*/ 1 h 50"/>
                    <a:gd name="T22" fmla="*/ 1 w 54"/>
                    <a:gd name="T23" fmla="*/ 1 h 50"/>
                    <a:gd name="T24" fmla="*/ 1 w 54"/>
                    <a:gd name="T25" fmla="*/ 1 h 50"/>
                    <a:gd name="T26" fmla="*/ 1 w 54"/>
                    <a:gd name="T27" fmla="*/ 1 h 50"/>
                    <a:gd name="T28" fmla="*/ 1 w 54"/>
                    <a:gd name="T29" fmla="*/ 1 h 50"/>
                    <a:gd name="T30" fmla="*/ 1 w 54"/>
                    <a:gd name="T31" fmla="*/ 1 h 50"/>
                    <a:gd name="T32" fmla="*/ 1 w 54"/>
                    <a:gd name="T33" fmla="*/ 1 h 50"/>
                    <a:gd name="T34" fmla="*/ 1 w 54"/>
                    <a:gd name="T35" fmla="*/ 1 h 50"/>
                    <a:gd name="T36" fmla="*/ 1 w 54"/>
                    <a:gd name="T37" fmla="*/ 1 h 50"/>
                    <a:gd name="T38" fmla="*/ 1 w 54"/>
                    <a:gd name="T39" fmla="*/ 1 h 50"/>
                    <a:gd name="T40" fmla="*/ 1 w 54"/>
                    <a:gd name="T41" fmla="*/ 1 h 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4"/>
                    <a:gd name="T64" fmla="*/ 0 h 50"/>
                    <a:gd name="T65" fmla="*/ 54 w 54"/>
                    <a:gd name="T66" fmla="*/ 50 h 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4" h="50">
                      <a:moveTo>
                        <a:pt x="54" y="17"/>
                      </a:moveTo>
                      <a:lnTo>
                        <a:pt x="54" y="17"/>
                      </a:lnTo>
                      <a:lnTo>
                        <a:pt x="42" y="0"/>
                      </a:lnTo>
                      <a:lnTo>
                        <a:pt x="37" y="5"/>
                      </a:lnTo>
                      <a:lnTo>
                        <a:pt x="31" y="8"/>
                      </a:lnTo>
                      <a:lnTo>
                        <a:pt x="23" y="16"/>
                      </a:lnTo>
                      <a:lnTo>
                        <a:pt x="14" y="22"/>
                      </a:lnTo>
                      <a:lnTo>
                        <a:pt x="7" y="28"/>
                      </a:lnTo>
                      <a:lnTo>
                        <a:pt x="3" y="33"/>
                      </a:lnTo>
                      <a:lnTo>
                        <a:pt x="0" y="35"/>
                      </a:lnTo>
                      <a:lnTo>
                        <a:pt x="15" y="50"/>
                      </a:lnTo>
                      <a:lnTo>
                        <a:pt x="15" y="49"/>
                      </a:lnTo>
                      <a:lnTo>
                        <a:pt x="23" y="44"/>
                      </a:lnTo>
                      <a:lnTo>
                        <a:pt x="29" y="38"/>
                      </a:lnTo>
                      <a:lnTo>
                        <a:pt x="36" y="31"/>
                      </a:lnTo>
                      <a:lnTo>
                        <a:pt x="43" y="27"/>
                      </a:lnTo>
                      <a:lnTo>
                        <a:pt x="50" y="21"/>
                      </a:lnTo>
                      <a:lnTo>
                        <a:pt x="51" y="19"/>
                      </a:lnTo>
                      <a:lnTo>
                        <a:pt x="39" y="5"/>
                      </a:lnTo>
                      <a:lnTo>
                        <a:pt x="54" y="17"/>
                      </a:lnTo>
                      <a:close/>
                    </a:path>
                  </a:pathLst>
                </a:custGeom>
                <a:solidFill>
                  <a:srgbClr val="000000"/>
                </a:solidFill>
                <a:ln w="9525">
                  <a:noFill/>
                  <a:round/>
                  <a:headEnd/>
                  <a:tailEnd/>
                </a:ln>
              </p:spPr>
              <p:txBody>
                <a:bodyPr/>
                <a:lstStyle/>
                <a:p>
                  <a:endParaRPr lang="en-US"/>
                </a:p>
              </p:txBody>
            </p:sp>
            <p:sp>
              <p:nvSpPr>
                <p:cNvPr id="29852" name="Freeform 113"/>
                <p:cNvSpPr>
                  <a:spLocks/>
                </p:cNvSpPr>
                <p:nvPr/>
              </p:nvSpPr>
              <p:spPr bwMode="auto">
                <a:xfrm>
                  <a:off x="2130" y="3619"/>
                  <a:ext cx="29" cy="25"/>
                </a:xfrm>
                <a:custGeom>
                  <a:avLst/>
                  <a:gdLst>
                    <a:gd name="T0" fmla="*/ 1 w 58"/>
                    <a:gd name="T1" fmla="*/ 1 h 48"/>
                    <a:gd name="T2" fmla="*/ 1 w 58"/>
                    <a:gd name="T3" fmla="*/ 1 h 48"/>
                    <a:gd name="T4" fmla="*/ 1 w 58"/>
                    <a:gd name="T5" fmla="*/ 1 h 48"/>
                    <a:gd name="T6" fmla="*/ 1 w 58"/>
                    <a:gd name="T7" fmla="*/ 1 h 48"/>
                    <a:gd name="T8" fmla="*/ 1 w 58"/>
                    <a:gd name="T9" fmla="*/ 1 h 48"/>
                    <a:gd name="T10" fmla="*/ 1 w 58"/>
                    <a:gd name="T11" fmla="*/ 1 h 48"/>
                    <a:gd name="T12" fmla="*/ 1 w 58"/>
                    <a:gd name="T13" fmla="*/ 0 h 48"/>
                    <a:gd name="T14" fmla="*/ 1 w 58"/>
                    <a:gd name="T15" fmla="*/ 1 h 48"/>
                    <a:gd name="T16" fmla="*/ 1 w 58"/>
                    <a:gd name="T17" fmla="*/ 1 h 48"/>
                    <a:gd name="T18" fmla="*/ 1 w 58"/>
                    <a:gd name="T19" fmla="*/ 1 h 48"/>
                    <a:gd name="T20" fmla="*/ 1 w 58"/>
                    <a:gd name="T21" fmla="*/ 1 h 48"/>
                    <a:gd name="T22" fmla="*/ 1 w 58"/>
                    <a:gd name="T23" fmla="*/ 1 h 48"/>
                    <a:gd name="T24" fmla="*/ 1 w 58"/>
                    <a:gd name="T25" fmla="*/ 1 h 48"/>
                    <a:gd name="T26" fmla="*/ 0 w 58"/>
                    <a:gd name="T27" fmla="*/ 1 h 48"/>
                    <a:gd name="T28" fmla="*/ 1 w 58"/>
                    <a:gd name="T29" fmla="*/ 1 h 48"/>
                    <a:gd name="T30" fmla="*/ 1 w 58"/>
                    <a:gd name="T31" fmla="*/ 1 h 48"/>
                    <a:gd name="T32" fmla="*/ 1 w 58"/>
                    <a:gd name="T33" fmla="*/ 1 h 48"/>
                    <a:gd name="T34" fmla="*/ 1 w 58"/>
                    <a:gd name="T35" fmla="*/ 1 h 4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8"/>
                    <a:gd name="T55" fmla="*/ 0 h 48"/>
                    <a:gd name="T56" fmla="*/ 58 w 58"/>
                    <a:gd name="T57" fmla="*/ 48 h 4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8" h="48">
                      <a:moveTo>
                        <a:pt x="11" y="48"/>
                      </a:moveTo>
                      <a:lnTo>
                        <a:pt x="18" y="47"/>
                      </a:lnTo>
                      <a:lnTo>
                        <a:pt x="22" y="44"/>
                      </a:lnTo>
                      <a:lnTo>
                        <a:pt x="35" y="33"/>
                      </a:lnTo>
                      <a:lnTo>
                        <a:pt x="49" y="22"/>
                      </a:lnTo>
                      <a:lnTo>
                        <a:pt x="58" y="12"/>
                      </a:lnTo>
                      <a:lnTo>
                        <a:pt x="43" y="0"/>
                      </a:lnTo>
                      <a:lnTo>
                        <a:pt x="33" y="6"/>
                      </a:lnTo>
                      <a:lnTo>
                        <a:pt x="22" y="17"/>
                      </a:lnTo>
                      <a:lnTo>
                        <a:pt x="10" y="25"/>
                      </a:lnTo>
                      <a:lnTo>
                        <a:pt x="5" y="28"/>
                      </a:lnTo>
                      <a:lnTo>
                        <a:pt x="11" y="26"/>
                      </a:lnTo>
                      <a:lnTo>
                        <a:pt x="5" y="28"/>
                      </a:lnTo>
                      <a:lnTo>
                        <a:pt x="0" y="36"/>
                      </a:lnTo>
                      <a:lnTo>
                        <a:pt x="2" y="44"/>
                      </a:lnTo>
                      <a:lnTo>
                        <a:pt x="8" y="48"/>
                      </a:lnTo>
                      <a:lnTo>
                        <a:pt x="18" y="47"/>
                      </a:lnTo>
                      <a:lnTo>
                        <a:pt x="11" y="48"/>
                      </a:lnTo>
                      <a:close/>
                    </a:path>
                  </a:pathLst>
                </a:custGeom>
                <a:solidFill>
                  <a:srgbClr val="000000"/>
                </a:solidFill>
                <a:ln w="9525">
                  <a:noFill/>
                  <a:round/>
                  <a:headEnd/>
                  <a:tailEnd/>
                </a:ln>
              </p:spPr>
              <p:txBody>
                <a:bodyPr/>
                <a:lstStyle/>
                <a:p>
                  <a:endParaRPr lang="en-US"/>
                </a:p>
              </p:txBody>
            </p:sp>
            <p:sp>
              <p:nvSpPr>
                <p:cNvPr id="29853" name="Freeform 114"/>
                <p:cNvSpPr>
                  <a:spLocks/>
                </p:cNvSpPr>
                <p:nvPr/>
              </p:nvSpPr>
              <p:spPr bwMode="auto">
                <a:xfrm>
                  <a:off x="2113" y="3633"/>
                  <a:ext cx="23" cy="11"/>
                </a:xfrm>
                <a:custGeom>
                  <a:avLst/>
                  <a:gdLst>
                    <a:gd name="T0" fmla="*/ 1 w 45"/>
                    <a:gd name="T1" fmla="*/ 1 h 22"/>
                    <a:gd name="T2" fmla="*/ 1 w 45"/>
                    <a:gd name="T3" fmla="*/ 1 h 22"/>
                    <a:gd name="T4" fmla="*/ 1 w 45"/>
                    <a:gd name="T5" fmla="*/ 1 h 22"/>
                    <a:gd name="T6" fmla="*/ 1 w 45"/>
                    <a:gd name="T7" fmla="*/ 0 h 22"/>
                    <a:gd name="T8" fmla="*/ 1 w 45"/>
                    <a:gd name="T9" fmla="*/ 0 h 22"/>
                    <a:gd name="T10" fmla="*/ 1 w 45"/>
                    <a:gd name="T11" fmla="*/ 1 h 22"/>
                    <a:gd name="T12" fmla="*/ 1 w 45"/>
                    <a:gd name="T13" fmla="*/ 0 h 22"/>
                    <a:gd name="T14" fmla="*/ 1 w 45"/>
                    <a:gd name="T15" fmla="*/ 1 h 22"/>
                    <a:gd name="T16" fmla="*/ 0 w 45"/>
                    <a:gd name="T17" fmla="*/ 1 h 22"/>
                    <a:gd name="T18" fmla="*/ 1 w 45"/>
                    <a:gd name="T19" fmla="*/ 1 h 22"/>
                    <a:gd name="T20" fmla="*/ 1 w 45"/>
                    <a:gd name="T21" fmla="*/ 1 h 22"/>
                    <a:gd name="T22" fmla="*/ 1 w 45"/>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5"/>
                    <a:gd name="T37" fmla="*/ 0 h 22"/>
                    <a:gd name="T38" fmla="*/ 45 w 45"/>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5" h="22">
                      <a:moveTo>
                        <a:pt x="2" y="18"/>
                      </a:moveTo>
                      <a:lnTo>
                        <a:pt x="11" y="22"/>
                      </a:lnTo>
                      <a:lnTo>
                        <a:pt x="45" y="22"/>
                      </a:lnTo>
                      <a:lnTo>
                        <a:pt x="45" y="0"/>
                      </a:lnTo>
                      <a:lnTo>
                        <a:pt x="11" y="0"/>
                      </a:lnTo>
                      <a:lnTo>
                        <a:pt x="20" y="5"/>
                      </a:lnTo>
                      <a:lnTo>
                        <a:pt x="11" y="0"/>
                      </a:lnTo>
                      <a:lnTo>
                        <a:pt x="3" y="4"/>
                      </a:lnTo>
                      <a:lnTo>
                        <a:pt x="0" y="11"/>
                      </a:lnTo>
                      <a:lnTo>
                        <a:pt x="3" y="19"/>
                      </a:lnTo>
                      <a:lnTo>
                        <a:pt x="11" y="22"/>
                      </a:lnTo>
                      <a:lnTo>
                        <a:pt x="2" y="18"/>
                      </a:lnTo>
                      <a:close/>
                    </a:path>
                  </a:pathLst>
                </a:custGeom>
                <a:solidFill>
                  <a:srgbClr val="000000"/>
                </a:solidFill>
                <a:ln w="9525">
                  <a:noFill/>
                  <a:round/>
                  <a:headEnd/>
                  <a:tailEnd/>
                </a:ln>
              </p:spPr>
              <p:txBody>
                <a:bodyPr/>
                <a:lstStyle/>
                <a:p>
                  <a:endParaRPr lang="en-US"/>
                </a:p>
              </p:txBody>
            </p:sp>
            <p:sp>
              <p:nvSpPr>
                <p:cNvPr id="29854" name="Freeform 115"/>
                <p:cNvSpPr>
                  <a:spLocks/>
                </p:cNvSpPr>
                <p:nvPr/>
              </p:nvSpPr>
              <p:spPr bwMode="auto">
                <a:xfrm>
                  <a:off x="2106" y="3623"/>
                  <a:ext cx="17" cy="18"/>
                </a:xfrm>
                <a:custGeom>
                  <a:avLst/>
                  <a:gdLst>
                    <a:gd name="T0" fmla="*/ 0 w 34"/>
                    <a:gd name="T1" fmla="*/ 0 h 38"/>
                    <a:gd name="T2" fmla="*/ 0 w 34"/>
                    <a:gd name="T3" fmla="*/ 0 h 38"/>
                    <a:gd name="T4" fmla="*/ 1 w 34"/>
                    <a:gd name="T5" fmla="*/ 0 h 38"/>
                    <a:gd name="T6" fmla="*/ 1 w 34"/>
                    <a:gd name="T7" fmla="*/ 0 h 38"/>
                    <a:gd name="T8" fmla="*/ 1 w 34"/>
                    <a:gd name="T9" fmla="*/ 0 h 38"/>
                    <a:gd name="T10" fmla="*/ 1 w 34"/>
                    <a:gd name="T11" fmla="*/ 0 h 38"/>
                    <a:gd name="T12" fmla="*/ 1 w 34"/>
                    <a:gd name="T13" fmla="*/ 0 h 38"/>
                    <a:gd name="T14" fmla="*/ 1 w 34"/>
                    <a:gd name="T15" fmla="*/ 0 h 38"/>
                    <a:gd name="T16" fmla="*/ 1 w 34"/>
                    <a:gd name="T17" fmla="*/ 0 h 38"/>
                    <a:gd name="T18" fmla="*/ 1 w 34"/>
                    <a:gd name="T19" fmla="*/ 0 h 38"/>
                    <a:gd name="T20" fmla="*/ 1 w 34"/>
                    <a:gd name="T21" fmla="*/ 0 h 38"/>
                    <a:gd name="T22" fmla="*/ 1 w 34"/>
                    <a:gd name="T23" fmla="*/ 0 h 38"/>
                    <a:gd name="T24" fmla="*/ 0 w 34"/>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4"/>
                    <a:gd name="T40" fmla="*/ 0 h 38"/>
                    <a:gd name="T41" fmla="*/ 34 w 34"/>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4" h="38">
                      <a:moveTo>
                        <a:pt x="0" y="13"/>
                      </a:moveTo>
                      <a:lnTo>
                        <a:pt x="0" y="13"/>
                      </a:lnTo>
                      <a:lnTo>
                        <a:pt x="5" y="20"/>
                      </a:lnTo>
                      <a:lnTo>
                        <a:pt x="9" y="28"/>
                      </a:lnTo>
                      <a:lnTo>
                        <a:pt x="14" y="35"/>
                      </a:lnTo>
                      <a:lnTo>
                        <a:pt x="16" y="38"/>
                      </a:lnTo>
                      <a:lnTo>
                        <a:pt x="34" y="25"/>
                      </a:lnTo>
                      <a:lnTo>
                        <a:pt x="33" y="22"/>
                      </a:lnTo>
                      <a:lnTo>
                        <a:pt x="28" y="16"/>
                      </a:lnTo>
                      <a:lnTo>
                        <a:pt x="23" y="8"/>
                      </a:lnTo>
                      <a:lnTo>
                        <a:pt x="16" y="0"/>
                      </a:lnTo>
                      <a:lnTo>
                        <a:pt x="0" y="13"/>
                      </a:lnTo>
                      <a:close/>
                    </a:path>
                  </a:pathLst>
                </a:custGeom>
                <a:solidFill>
                  <a:srgbClr val="000000"/>
                </a:solidFill>
                <a:ln w="9525">
                  <a:noFill/>
                  <a:round/>
                  <a:headEnd/>
                  <a:tailEnd/>
                </a:ln>
              </p:spPr>
              <p:txBody>
                <a:bodyPr/>
                <a:lstStyle/>
                <a:p>
                  <a:endParaRPr lang="en-US"/>
                </a:p>
              </p:txBody>
            </p:sp>
            <p:sp>
              <p:nvSpPr>
                <p:cNvPr id="29855" name="Freeform 116"/>
                <p:cNvSpPr>
                  <a:spLocks/>
                </p:cNvSpPr>
                <p:nvPr/>
              </p:nvSpPr>
              <p:spPr bwMode="auto">
                <a:xfrm>
                  <a:off x="2096" y="3600"/>
                  <a:ext cx="18" cy="29"/>
                </a:xfrm>
                <a:custGeom>
                  <a:avLst/>
                  <a:gdLst>
                    <a:gd name="T0" fmla="*/ 1 w 36"/>
                    <a:gd name="T1" fmla="*/ 1 h 58"/>
                    <a:gd name="T2" fmla="*/ 0 w 36"/>
                    <a:gd name="T3" fmla="*/ 1 h 58"/>
                    <a:gd name="T4" fmla="*/ 1 w 36"/>
                    <a:gd name="T5" fmla="*/ 1 h 58"/>
                    <a:gd name="T6" fmla="*/ 1 w 36"/>
                    <a:gd name="T7" fmla="*/ 1 h 58"/>
                    <a:gd name="T8" fmla="*/ 1 w 36"/>
                    <a:gd name="T9" fmla="*/ 1 h 58"/>
                    <a:gd name="T10" fmla="*/ 1 w 36"/>
                    <a:gd name="T11" fmla="*/ 1 h 58"/>
                    <a:gd name="T12" fmla="*/ 1 w 36"/>
                    <a:gd name="T13" fmla="*/ 1 h 58"/>
                    <a:gd name="T14" fmla="*/ 1 w 36"/>
                    <a:gd name="T15" fmla="*/ 1 h 58"/>
                    <a:gd name="T16" fmla="*/ 1 w 36"/>
                    <a:gd name="T17" fmla="*/ 1 h 58"/>
                    <a:gd name="T18" fmla="*/ 1 w 36"/>
                    <a:gd name="T19" fmla="*/ 1 h 58"/>
                    <a:gd name="T20" fmla="*/ 1 w 36"/>
                    <a:gd name="T21" fmla="*/ 1 h 58"/>
                    <a:gd name="T22" fmla="*/ 1 w 36"/>
                    <a:gd name="T23" fmla="*/ 1 h 58"/>
                    <a:gd name="T24" fmla="*/ 1 w 36"/>
                    <a:gd name="T25" fmla="*/ 1 h 58"/>
                    <a:gd name="T26" fmla="*/ 1 w 36"/>
                    <a:gd name="T27" fmla="*/ 1 h 58"/>
                    <a:gd name="T28" fmla="*/ 1 w 36"/>
                    <a:gd name="T29" fmla="*/ 0 h 58"/>
                    <a:gd name="T30" fmla="*/ 1 w 36"/>
                    <a:gd name="T31" fmla="*/ 1 h 58"/>
                    <a:gd name="T32" fmla="*/ 0 w 36"/>
                    <a:gd name="T33" fmla="*/ 1 h 58"/>
                    <a:gd name="T34" fmla="*/ 1 w 36"/>
                    <a:gd name="T35" fmla="*/ 1 h 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6"/>
                    <a:gd name="T55" fmla="*/ 0 h 58"/>
                    <a:gd name="T56" fmla="*/ 36 w 36"/>
                    <a:gd name="T57" fmla="*/ 58 h 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6" h="58">
                      <a:moveTo>
                        <a:pt x="1" y="6"/>
                      </a:moveTo>
                      <a:lnTo>
                        <a:pt x="0" y="14"/>
                      </a:lnTo>
                      <a:lnTo>
                        <a:pt x="1" y="19"/>
                      </a:lnTo>
                      <a:lnTo>
                        <a:pt x="6" y="31"/>
                      </a:lnTo>
                      <a:lnTo>
                        <a:pt x="12" y="45"/>
                      </a:lnTo>
                      <a:lnTo>
                        <a:pt x="20" y="58"/>
                      </a:lnTo>
                      <a:lnTo>
                        <a:pt x="36" y="45"/>
                      </a:lnTo>
                      <a:lnTo>
                        <a:pt x="31" y="36"/>
                      </a:lnTo>
                      <a:lnTo>
                        <a:pt x="28" y="25"/>
                      </a:lnTo>
                      <a:lnTo>
                        <a:pt x="23" y="12"/>
                      </a:lnTo>
                      <a:lnTo>
                        <a:pt x="21" y="8"/>
                      </a:lnTo>
                      <a:lnTo>
                        <a:pt x="20" y="15"/>
                      </a:lnTo>
                      <a:lnTo>
                        <a:pt x="21" y="8"/>
                      </a:lnTo>
                      <a:lnTo>
                        <a:pt x="17" y="1"/>
                      </a:lnTo>
                      <a:lnTo>
                        <a:pt x="9" y="0"/>
                      </a:lnTo>
                      <a:lnTo>
                        <a:pt x="1" y="4"/>
                      </a:lnTo>
                      <a:lnTo>
                        <a:pt x="0" y="14"/>
                      </a:lnTo>
                      <a:lnTo>
                        <a:pt x="1" y="6"/>
                      </a:lnTo>
                      <a:close/>
                    </a:path>
                  </a:pathLst>
                </a:custGeom>
                <a:solidFill>
                  <a:srgbClr val="000000"/>
                </a:solidFill>
                <a:ln w="9525">
                  <a:noFill/>
                  <a:round/>
                  <a:headEnd/>
                  <a:tailEnd/>
                </a:ln>
              </p:spPr>
              <p:txBody>
                <a:bodyPr/>
                <a:lstStyle/>
                <a:p>
                  <a:endParaRPr lang="en-US"/>
                </a:p>
              </p:txBody>
            </p:sp>
            <p:sp>
              <p:nvSpPr>
                <p:cNvPr id="29856" name="Freeform 117"/>
                <p:cNvSpPr>
                  <a:spLocks/>
                </p:cNvSpPr>
                <p:nvPr/>
              </p:nvSpPr>
              <p:spPr bwMode="auto">
                <a:xfrm>
                  <a:off x="2097" y="3581"/>
                  <a:ext cx="22" cy="27"/>
                </a:xfrm>
                <a:custGeom>
                  <a:avLst/>
                  <a:gdLst>
                    <a:gd name="T0" fmla="*/ 0 w 45"/>
                    <a:gd name="T1" fmla="*/ 0 h 53"/>
                    <a:gd name="T2" fmla="*/ 0 w 45"/>
                    <a:gd name="T3" fmla="*/ 1 h 53"/>
                    <a:gd name="T4" fmla="*/ 0 w 45"/>
                    <a:gd name="T5" fmla="*/ 1 h 53"/>
                    <a:gd name="T6" fmla="*/ 0 w 45"/>
                    <a:gd name="T7" fmla="*/ 1 h 53"/>
                    <a:gd name="T8" fmla="*/ 0 w 45"/>
                    <a:gd name="T9" fmla="*/ 1 h 53"/>
                    <a:gd name="T10" fmla="*/ 0 w 45"/>
                    <a:gd name="T11" fmla="*/ 1 h 53"/>
                    <a:gd name="T12" fmla="*/ 0 w 45"/>
                    <a:gd name="T13" fmla="*/ 1 h 53"/>
                    <a:gd name="T14" fmla="*/ 0 w 45"/>
                    <a:gd name="T15" fmla="*/ 1 h 53"/>
                    <a:gd name="T16" fmla="*/ 0 w 45"/>
                    <a:gd name="T17" fmla="*/ 1 h 53"/>
                    <a:gd name="T18" fmla="*/ 0 w 45"/>
                    <a:gd name="T19" fmla="*/ 1 h 53"/>
                    <a:gd name="T20" fmla="*/ 0 w 45"/>
                    <a:gd name="T21" fmla="*/ 1 h 53"/>
                    <a:gd name="T22" fmla="*/ 0 w 45"/>
                    <a:gd name="T23" fmla="*/ 1 h 53"/>
                    <a:gd name="T24" fmla="*/ 0 w 45"/>
                    <a:gd name="T25" fmla="*/ 0 h 5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53"/>
                    <a:gd name="T41" fmla="*/ 45 w 45"/>
                    <a:gd name="T42" fmla="*/ 53 h 5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53">
                      <a:moveTo>
                        <a:pt x="30" y="0"/>
                      </a:moveTo>
                      <a:lnTo>
                        <a:pt x="30" y="2"/>
                      </a:lnTo>
                      <a:lnTo>
                        <a:pt x="17" y="16"/>
                      </a:lnTo>
                      <a:lnTo>
                        <a:pt x="8" y="28"/>
                      </a:lnTo>
                      <a:lnTo>
                        <a:pt x="2" y="41"/>
                      </a:lnTo>
                      <a:lnTo>
                        <a:pt x="0" y="44"/>
                      </a:lnTo>
                      <a:lnTo>
                        <a:pt x="19" y="53"/>
                      </a:lnTo>
                      <a:lnTo>
                        <a:pt x="20" y="50"/>
                      </a:lnTo>
                      <a:lnTo>
                        <a:pt x="27" y="41"/>
                      </a:lnTo>
                      <a:lnTo>
                        <a:pt x="36" y="28"/>
                      </a:lnTo>
                      <a:lnTo>
                        <a:pt x="45" y="14"/>
                      </a:lnTo>
                      <a:lnTo>
                        <a:pt x="45" y="16"/>
                      </a:lnTo>
                      <a:lnTo>
                        <a:pt x="30" y="0"/>
                      </a:lnTo>
                      <a:close/>
                    </a:path>
                  </a:pathLst>
                </a:custGeom>
                <a:solidFill>
                  <a:srgbClr val="000000"/>
                </a:solidFill>
                <a:ln w="9525">
                  <a:noFill/>
                  <a:round/>
                  <a:headEnd/>
                  <a:tailEnd/>
                </a:ln>
              </p:spPr>
              <p:txBody>
                <a:bodyPr/>
                <a:lstStyle/>
                <a:p>
                  <a:endParaRPr lang="en-US"/>
                </a:p>
              </p:txBody>
            </p:sp>
            <p:sp>
              <p:nvSpPr>
                <p:cNvPr id="29857" name="Freeform 118"/>
                <p:cNvSpPr>
                  <a:spLocks/>
                </p:cNvSpPr>
                <p:nvPr/>
              </p:nvSpPr>
              <p:spPr bwMode="auto">
                <a:xfrm>
                  <a:off x="2111" y="3531"/>
                  <a:ext cx="43" cy="58"/>
                </a:xfrm>
                <a:custGeom>
                  <a:avLst/>
                  <a:gdLst>
                    <a:gd name="T0" fmla="*/ 1 w 86"/>
                    <a:gd name="T1" fmla="*/ 0 h 116"/>
                    <a:gd name="T2" fmla="*/ 1 w 86"/>
                    <a:gd name="T3" fmla="*/ 0 h 116"/>
                    <a:gd name="T4" fmla="*/ 1 w 86"/>
                    <a:gd name="T5" fmla="*/ 1 h 116"/>
                    <a:gd name="T6" fmla="*/ 1 w 86"/>
                    <a:gd name="T7" fmla="*/ 1 h 116"/>
                    <a:gd name="T8" fmla="*/ 1 w 86"/>
                    <a:gd name="T9" fmla="*/ 1 h 116"/>
                    <a:gd name="T10" fmla="*/ 1 w 86"/>
                    <a:gd name="T11" fmla="*/ 1 h 116"/>
                    <a:gd name="T12" fmla="*/ 1 w 86"/>
                    <a:gd name="T13" fmla="*/ 1 h 116"/>
                    <a:gd name="T14" fmla="*/ 1 w 86"/>
                    <a:gd name="T15" fmla="*/ 1 h 116"/>
                    <a:gd name="T16" fmla="*/ 1 w 86"/>
                    <a:gd name="T17" fmla="*/ 1 h 116"/>
                    <a:gd name="T18" fmla="*/ 0 w 86"/>
                    <a:gd name="T19" fmla="*/ 1 h 116"/>
                    <a:gd name="T20" fmla="*/ 1 w 86"/>
                    <a:gd name="T21" fmla="*/ 1 h 116"/>
                    <a:gd name="T22" fmla="*/ 1 w 86"/>
                    <a:gd name="T23" fmla="*/ 1 h 116"/>
                    <a:gd name="T24" fmla="*/ 1 w 86"/>
                    <a:gd name="T25" fmla="*/ 1 h 116"/>
                    <a:gd name="T26" fmla="*/ 1 w 86"/>
                    <a:gd name="T27" fmla="*/ 1 h 116"/>
                    <a:gd name="T28" fmla="*/ 1 w 86"/>
                    <a:gd name="T29" fmla="*/ 1 h 116"/>
                    <a:gd name="T30" fmla="*/ 1 w 86"/>
                    <a:gd name="T31" fmla="*/ 1 h 116"/>
                    <a:gd name="T32" fmla="*/ 1 w 86"/>
                    <a:gd name="T33" fmla="*/ 1 h 116"/>
                    <a:gd name="T34" fmla="*/ 1 w 86"/>
                    <a:gd name="T35" fmla="*/ 1 h 116"/>
                    <a:gd name="T36" fmla="*/ 1 w 86"/>
                    <a:gd name="T37" fmla="*/ 1 h 116"/>
                    <a:gd name="T38" fmla="*/ 1 w 86"/>
                    <a:gd name="T39" fmla="*/ 1 h 116"/>
                    <a:gd name="T40" fmla="*/ 1 w 86"/>
                    <a:gd name="T41" fmla="*/ 0 h 11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6"/>
                    <a:gd name="T64" fmla="*/ 0 h 116"/>
                    <a:gd name="T65" fmla="*/ 86 w 86"/>
                    <a:gd name="T66" fmla="*/ 116 h 11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6" h="116">
                      <a:moveTo>
                        <a:pt x="70" y="0"/>
                      </a:moveTo>
                      <a:lnTo>
                        <a:pt x="70" y="0"/>
                      </a:lnTo>
                      <a:lnTo>
                        <a:pt x="62" y="9"/>
                      </a:lnTo>
                      <a:lnTo>
                        <a:pt x="55" y="20"/>
                      </a:lnTo>
                      <a:lnTo>
                        <a:pt x="45" y="35"/>
                      </a:lnTo>
                      <a:lnTo>
                        <a:pt x="34" y="49"/>
                      </a:lnTo>
                      <a:lnTo>
                        <a:pt x="25" y="66"/>
                      </a:lnTo>
                      <a:lnTo>
                        <a:pt x="14" y="80"/>
                      </a:lnTo>
                      <a:lnTo>
                        <a:pt x="6" y="92"/>
                      </a:lnTo>
                      <a:lnTo>
                        <a:pt x="0" y="100"/>
                      </a:lnTo>
                      <a:lnTo>
                        <a:pt x="15" y="116"/>
                      </a:lnTo>
                      <a:lnTo>
                        <a:pt x="25" y="105"/>
                      </a:lnTo>
                      <a:lnTo>
                        <a:pt x="33" y="92"/>
                      </a:lnTo>
                      <a:lnTo>
                        <a:pt x="44" y="78"/>
                      </a:lnTo>
                      <a:lnTo>
                        <a:pt x="53" y="61"/>
                      </a:lnTo>
                      <a:lnTo>
                        <a:pt x="64" y="47"/>
                      </a:lnTo>
                      <a:lnTo>
                        <a:pt x="73" y="33"/>
                      </a:lnTo>
                      <a:lnTo>
                        <a:pt x="81" y="22"/>
                      </a:lnTo>
                      <a:lnTo>
                        <a:pt x="86" y="16"/>
                      </a:lnTo>
                      <a:lnTo>
                        <a:pt x="70" y="0"/>
                      </a:lnTo>
                      <a:close/>
                    </a:path>
                  </a:pathLst>
                </a:custGeom>
                <a:solidFill>
                  <a:srgbClr val="000000"/>
                </a:solidFill>
                <a:ln w="9525">
                  <a:noFill/>
                  <a:round/>
                  <a:headEnd/>
                  <a:tailEnd/>
                </a:ln>
              </p:spPr>
              <p:txBody>
                <a:bodyPr/>
                <a:lstStyle/>
                <a:p>
                  <a:endParaRPr lang="en-US"/>
                </a:p>
              </p:txBody>
            </p:sp>
            <p:sp>
              <p:nvSpPr>
                <p:cNvPr id="29858" name="Freeform 119"/>
                <p:cNvSpPr>
                  <a:spLocks/>
                </p:cNvSpPr>
                <p:nvPr/>
              </p:nvSpPr>
              <p:spPr bwMode="auto">
                <a:xfrm>
                  <a:off x="2147" y="3522"/>
                  <a:ext cx="29" cy="17"/>
                </a:xfrm>
                <a:custGeom>
                  <a:avLst/>
                  <a:gdLst>
                    <a:gd name="T0" fmla="*/ 0 w 60"/>
                    <a:gd name="T1" fmla="*/ 1 h 33"/>
                    <a:gd name="T2" fmla="*/ 0 w 60"/>
                    <a:gd name="T3" fmla="*/ 0 h 33"/>
                    <a:gd name="T4" fmla="*/ 0 w 60"/>
                    <a:gd name="T5" fmla="*/ 0 h 33"/>
                    <a:gd name="T6" fmla="*/ 0 w 60"/>
                    <a:gd name="T7" fmla="*/ 1 h 33"/>
                    <a:gd name="T8" fmla="*/ 0 w 60"/>
                    <a:gd name="T9" fmla="*/ 1 h 33"/>
                    <a:gd name="T10" fmla="*/ 0 w 60"/>
                    <a:gd name="T11" fmla="*/ 1 h 33"/>
                    <a:gd name="T12" fmla="*/ 0 w 60"/>
                    <a:gd name="T13" fmla="*/ 1 h 33"/>
                    <a:gd name="T14" fmla="*/ 0 w 60"/>
                    <a:gd name="T15" fmla="*/ 1 h 33"/>
                    <a:gd name="T16" fmla="*/ 0 w 60"/>
                    <a:gd name="T17" fmla="*/ 1 h 33"/>
                    <a:gd name="T18" fmla="*/ 0 w 60"/>
                    <a:gd name="T19" fmla="*/ 1 h 33"/>
                    <a:gd name="T20" fmla="*/ 0 w 60"/>
                    <a:gd name="T21" fmla="*/ 1 h 33"/>
                    <a:gd name="T22" fmla="*/ 0 w 60"/>
                    <a:gd name="T23" fmla="*/ 1 h 33"/>
                    <a:gd name="T24" fmla="*/ 0 w 60"/>
                    <a:gd name="T25" fmla="*/ 1 h 33"/>
                    <a:gd name="T26" fmla="*/ 0 w 60"/>
                    <a:gd name="T27" fmla="*/ 1 h 33"/>
                    <a:gd name="T28" fmla="*/ 0 w 60"/>
                    <a:gd name="T29" fmla="*/ 1 h 33"/>
                    <a:gd name="T30" fmla="*/ 0 w 60"/>
                    <a:gd name="T31" fmla="*/ 1 h 33"/>
                    <a:gd name="T32" fmla="*/ 0 w 60"/>
                    <a:gd name="T33" fmla="*/ 0 h 33"/>
                    <a:gd name="T34" fmla="*/ 0 w 60"/>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0"/>
                    <a:gd name="T55" fmla="*/ 0 h 33"/>
                    <a:gd name="T56" fmla="*/ 60 w 60"/>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0" h="33">
                      <a:moveTo>
                        <a:pt x="54" y="1"/>
                      </a:moveTo>
                      <a:lnTo>
                        <a:pt x="49" y="0"/>
                      </a:lnTo>
                      <a:lnTo>
                        <a:pt x="43" y="0"/>
                      </a:lnTo>
                      <a:lnTo>
                        <a:pt x="30" y="1"/>
                      </a:lnTo>
                      <a:lnTo>
                        <a:pt x="16" y="8"/>
                      </a:lnTo>
                      <a:lnTo>
                        <a:pt x="0" y="17"/>
                      </a:lnTo>
                      <a:lnTo>
                        <a:pt x="16" y="33"/>
                      </a:lnTo>
                      <a:lnTo>
                        <a:pt x="25" y="26"/>
                      </a:lnTo>
                      <a:lnTo>
                        <a:pt x="36" y="23"/>
                      </a:lnTo>
                      <a:lnTo>
                        <a:pt x="46" y="22"/>
                      </a:lnTo>
                      <a:lnTo>
                        <a:pt x="49" y="22"/>
                      </a:lnTo>
                      <a:lnTo>
                        <a:pt x="44" y="20"/>
                      </a:lnTo>
                      <a:lnTo>
                        <a:pt x="49" y="22"/>
                      </a:lnTo>
                      <a:lnTo>
                        <a:pt x="57" y="19"/>
                      </a:lnTo>
                      <a:lnTo>
                        <a:pt x="60" y="11"/>
                      </a:lnTo>
                      <a:lnTo>
                        <a:pt x="57" y="3"/>
                      </a:lnTo>
                      <a:lnTo>
                        <a:pt x="49" y="0"/>
                      </a:lnTo>
                      <a:lnTo>
                        <a:pt x="54" y="1"/>
                      </a:lnTo>
                      <a:close/>
                    </a:path>
                  </a:pathLst>
                </a:custGeom>
                <a:solidFill>
                  <a:srgbClr val="000000"/>
                </a:solidFill>
                <a:ln w="9525">
                  <a:noFill/>
                  <a:round/>
                  <a:headEnd/>
                  <a:tailEnd/>
                </a:ln>
              </p:spPr>
              <p:txBody>
                <a:bodyPr/>
                <a:lstStyle/>
                <a:p>
                  <a:endParaRPr lang="en-US"/>
                </a:p>
              </p:txBody>
            </p:sp>
            <p:sp>
              <p:nvSpPr>
                <p:cNvPr id="29859" name="Freeform 120"/>
                <p:cNvSpPr>
                  <a:spLocks/>
                </p:cNvSpPr>
                <p:nvPr/>
              </p:nvSpPr>
              <p:spPr bwMode="auto">
                <a:xfrm>
                  <a:off x="2169" y="3523"/>
                  <a:ext cx="18" cy="14"/>
                </a:xfrm>
                <a:custGeom>
                  <a:avLst/>
                  <a:gdLst>
                    <a:gd name="T0" fmla="*/ 0 w 38"/>
                    <a:gd name="T1" fmla="*/ 0 h 29"/>
                    <a:gd name="T2" fmla="*/ 0 w 38"/>
                    <a:gd name="T3" fmla="*/ 0 h 29"/>
                    <a:gd name="T4" fmla="*/ 0 w 38"/>
                    <a:gd name="T5" fmla="*/ 0 h 29"/>
                    <a:gd name="T6" fmla="*/ 0 w 38"/>
                    <a:gd name="T7" fmla="*/ 0 h 29"/>
                    <a:gd name="T8" fmla="*/ 0 w 38"/>
                    <a:gd name="T9" fmla="*/ 0 h 29"/>
                    <a:gd name="T10" fmla="*/ 0 w 38"/>
                    <a:gd name="T11" fmla="*/ 0 h 29"/>
                    <a:gd name="T12" fmla="*/ 0 w 38"/>
                    <a:gd name="T13" fmla="*/ 0 h 29"/>
                    <a:gd name="T14" fmla="*/ 0 w 38"/>
                    <a:gd name="T15" fmla="*/ 0 h 29"/>
                    <a:gd name="T16" fmla="*/ 0 w 38"/>
                    <a:gd name="T17" fmla="*/ 0 h 29"/>
                    <a:gd name="T18" fmla="*/ 0 w 38"/>
                    <a:gd name="T19" fmla="*/ 0 h 29"/>
                    <a:gd name="T20" fmla="*/ 0 w 38"/>
                    <a:gd name="T21" fmla="*/ 0 h 29"/>
                    <a:gd name="T22" fmla="*/ 0 w 38"/>
                    <a:gd name="T23" fmla="*/ 0 h 29"/>
                    <a:gd name="T24" fmla="*/ 0 w 38"/>
                    <a:gd name="T25" fmla="*/ 0 h 2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29"/>
                    <a:gd name="T41" fmla="*/ 38 w 38"/>
                    <a:gd name="T42" fmla="*/ 29 h 2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29">
                      <a:moveTo>
                        <a:pt x="38" y="7"/>
                      </a:moveTo>
                      <a:lnTo>
                        <a:pt x="38" y="7"/>
                      </a:lnTo>
                      <a:lnTo>
                        <a:pt x="27" y="5"/>
                      </a:lnTo>
                      <a:lnTo>
                        <a:pt x="17" y="2"/>
                      </a:lnTo>
                      <a:lnTo>
                        <a:pt x="11" y="0"/>
                      </a:lnTo>
                      <a:lnTo>
                        <a:pt x="10" y="0"/>
                      </a:lnTo>
                      <a:lnTo>
                        <a:pt x="0" y="19"/>
                      </a:lnTo>
                      <a:lnTo>
                        <a:pt x="5" y="22"/>
                      </a:lnTo>
                      <a:lnTo>
                        <a:pt x="11" y="24"/>
                      </a:lnTo>
                      <a:lnTo>
                        <a:pt x="24" y="27"/>
                      </a:lnTo>
                      <a:lnTo>
                        <a:pt x="35" y="29"/>
                      </a:lnTo>
                      <a:lnTo>
                        <a:pt x="38" y="7"/>
                      </a:lnTo>
                      <a:close/>
                    </a:path>
                  </a:pathLst>
                </a:custGeom>
                <a:solidFill>
                  <a:srgbClr val="000000"/>
                </a:solidFill>
                <a:ln w="9525">
                  <a:noFill/>
                  <a:round/>
                  <a:headEnd/>
                  <a:tailEnd/>
                </a:ln>
              </p:spPr>
              <p:txBody>
                <a:bodyPr/>
                <a:lstStyle/>
                <a:p>
                  <a:endParaRPr lang="en-US"/>
                </a:p>
              </p:txBody>
            </p:sp>
            <p:sp>
              <p:nvSpPr>
                <p:cNvPr id="29860" name="Freeform 121"/>
                <p:cNvSpPr>
                  <a:spLocks/>
                </p:cNvSpPr>
                <p:nvPr/>
              </p:nvSpPr>
              <p:spPr bwMode="auto">
                <a:xfrm>
                  <a:off x="2186" y="3520"/>
                  <a:ext cx="38" cy="17"/>
                </a:xfrm>
                <a:custGeom>
                  <a:avLst/>
                  <a:gdLst>
                    <a:gd name="T0" fmla="*/ 1 w 76"/>
                    <a:gd name="T1" fmla="*/ 0 h 35"/>
                    <a:gd name="T2" fmla="*/ 1 w 76"/>
                    <a:gd name="T3" fmla="*/ 0 h 35"/>
                    <a:gd name="T4" fmla="*/ 1 w 76"/>
                    <a:gd name="T5" fmla="*/ 0 h 35"/>
                    <a:gd name="T6" fmla="*/ 1 w 76"/>
                    <a:gd name="T7" fmla="*/ 0 h 35"/>
                    <a:gd name="T8" fmla="*/ 1 w 76"/>
                    <a:gd name="T9" fmla="*/ 0 h 35"/>
                    <a:gd name="T10" fmla="*/ 1 w 76"/>
                    <a:gd name="T11" fmla="*/ 0 h 35"/>
                    <a:gd name="T12" fmla="*/ 1 w 76"/>
                    <a:gd name="T13" fmla="*/ 0 h 35"/>
                    <a:gd name="T14" fmla="*/ 1 w 76"/>
                    <a:gd name="T15" fmla="*/ 0 h 35"/>
                    <a:gd name="T16" fmla="*/ 1 w 76"/>
                    <a:gd name="T17" fmla="*/ 0 h 35"/>
                    <a:gd name="T18" fmla="*/ 1 w 76"/>
                    <a:gd name="T19" fmla="*/ 0 h 35"/>
                    <a:gd name="T20" fmla="*/ 0 w 76"/>
                    <a:gd name="T21" fmla="*/ 0 h 35"/>
                    <a:gd name="T22" fmla="*/ 1 w 76"/>
                    <a:gd name="T23" fmla="*/ 0 h 35"/>
                    <a:gd name="T24" fmla="*/ 1 w 76"/>
                    <a:gd name="T25" fmla="*/ 0 h 35"/>
                    <a:gd name="T26" fmla="*/ 1 w 76"/>
                    <a:gd name="T27" fmla="*/ 0 h 35"/>
                    <a:gd name="T28" fmla="*/ 1 w 76"/>
                    <a:gd name="T29" fmla="*/ 0 h 35"/>
                    <a:gd name="T30" fmla="*/ 1 w 76"/>
                    <a:gd name="T31" fmla="*/ 0 h 35"/>
                    <a:gd name="T32" fmla="*/ 1 w 76"/>
                    <a:gd name="T33" fmla="*/ 0 h 35"/>
                    <a:gd name="T34" fmla="*/ 1 w 76"/>
                    <a:gd name="T35" fmla="*/ 0 h 35"/>
                    <a:gd name="T36" fmla="*/ 1 w 76"/>
                    <a:gd name="T37" fmla="*/ 0 h 35"/>
                    <a:gd name="T38" fmla="*/ 1 w 76"/>
                    <a:gd name="T39" fmla="*/ 0 h 35"/>
                    <a:gd name="T40" fmla="*/ 1 w 76"/>
                    <a:gd name="T41" fmla="*/ 0 h 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35"/>
                    <a:gd name="T65" fmla="*/ 76 w 76"/>
                    <a:gd name="T66" fmla="*/ 35 h 3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35">
                      <a:moveTo>
                        <a:pt x="70" y="0"/>
                      </a:moveTo>
                      <a:lnTo>
                        <a:pt x="70" y="0"/>
                      </a:lnTo>
                      <a:lnTo>
                        <a:pt x="62" y="3"/>
                      </a:lnTo>
                      <a:lnTo>
                        <a:pt x="53" y="5"/>
                      </a:lnTo>
                      <a:lnTo>
                        <a:pt x="42" y="8"/>
                      </a:lnTo>
                      <a:lnTo>
                        <a:pt x="34" y="10"/>
                      </a:lnTo>
                      <a:lnTo>
                        <a:pt x="25" y="11"/>
                      </a:lnTo>
                      <a:lnTo>
                        <a:pt x="15" y="13"/>
                      </a:lnTo>
                      <a:lnTo>
                        <a:pt x="7" y="13"/>
                      </a:lnTo>
                      <a:lnTo>
                        <a:pt x="3" y="13"/>
                      </a:lnTo>
                      <a:lnTo>
                        <a:pt x="0" y="35"/>
                      </a:lnTo>
                      <a:lnTo>
                        <a:pt x="7" y="35"/>
                      </a:lnTo>
                      <a:lnTo>
                        <a:pt x="18" y="35"/>
                      </a:lnTo>
                      <a:lnTo>
                        <a:pt x="28" y="33"/>
                      </a:lnTo>
                      <a:lnTo>
                        <a:pt x="37" y="31"/>
                      </a:lnTo>
                      <a:lnTo>
                        <a:pt x="48" y="30"/>
                      </a:lnTo>
                      <a:lnTo>
                        <a:pt x="59" y="27"/>
                      </a:lnTo>
                      <a:lnTo>
                        <a:pt x="68" y="25"/>
                      </a:lnTo>
                      <a:lnTo>
                        <a:pt x="76" y="22"/>
                      </a:lnTo>
                      <a:lnTo>
                        <a:pt x="70" y="0"/>
                      </a:lnTo>
                      <a:close/>
                    </a:path>
                  </a:pathLst>
                </a:custGeom>
                <a:solidFill>
                  <a:srgbClr val="000000"/>
                </a:solidFill>
                <a:ln w="9525">
                  <a:noFill/>
                  <a:round/>
                  <a:headEnd/>
                  <a:tailEnd/>
                </a:ln>
              </p:spPr>
              <p:txBody>
                <a:bodyPr/>
                <a:lstStyle/>
                <a:p>
                  <a:endParaRPr lang="en-US"/>
                </a:p>
              </p:txBody>
            </p:sp>
            <p:sp>
              <p:nvSpPr>
                <p:cNvPr id="29861" name="Freeform 122"/>
                <p:cNvSpPr>
                  <a:spLocks/>
                </p:cNvSpPr>
                <p:nvPr/>
              </p:nvSpPr>
              <p:spPr bwMode="auto">
                <a:xfrm>
                  <a:off x="2221" y="3511"/>
                  <a:ext cx="21" cy="20"/>
                </a:xfrm>
                <a:custGeom>
                  <a:avLst/>
                  <a:gdLst>
                    <a:gd name="T0" fmla="*/ 1 w 42"/>
                    <a:gd name="T1" fmla="*/ 0 h 41"/>
                    <a:gd name="T2" fmla="*/ 1 w 42"/>
                    <a:gd name="T3" fmla="*/ 0 h 41"/>
                    <a:gd name="T4" fmla="*/ 1 w 42"/>
                    <a:gd name="T5" fmla="*/ 0 h 41"/>
                    <a:gd name="T6" fmla="*/ 1 w 42"/>
                    <a:gd name="T7" fmla="*/ 0 h 41"/>
                    <a:gd name="T8" fmla="*/ 1 w 42"/>
                    <a:gd name="T9" fmla="*/ 0 h 41"/>
                    <a:gd name="T10" fmla="*/ 0 w 42"/>
                    <a:gd name="T11" fmla="*/ 0 h 41"/>
                    <a:gd name="T12" fmla="*/ 1 w 42"/>
                    <a:gd name="T13" fmla="*/ 0 h 41"/>
                    <a:gd name="T14" fmla="*/ 1 w 42"/>
                    <a:gd name="T15" fmla="*/ 0 h 41"/>
                    <a:gd name="T16" fmla="*/ 1 w 42"/>
                    <a:gd name="T17" fmla="*/ 0 h 41"/>
                    <a:gd name="T18" fmla="*/ 1 w 42"/>
                    <a:gd name="T19" fmla="*/ 0 h 41"/>
                    <a:gd name="T20" fmla="*/ 1 w 42"/>
                    <a:gd name="T21" fmla="*/ 0 h 41"/>
                    <a:gd name="T22" fmla="*/ 1 w 42"/>
                    <a:gd name="T23" fmla="*/ 0 h 41"/>
                    <a:gd name="T24" fmla="*/ 1 w 42"/>
                    <a:gd name="T25" fmla="*/ 0 h 41"/>
                    <a:gd name="T26" fmla="*/ 1 w 42"/>
                    <a:gd name="T27" fmla="*/ 0 h 41"/>
                    <a:gd name="T28" fmla="*/ 1 w 42"/>
                    <a:gd name="T29" fmla="*/ 0 h 41"/>
                    <a:gd name="T30" fmla="*/ 1 w 42"/>
                    <a:gd name="T31" fmla="*/ 0 h 41"/>
                    <a:gd name="T32" fmla="*/ 1 w 42"/>
                    <a:gd name="T33" fmla="*/ 0 h 41"/>
                    <a:gd name="T34" fmla="*/ 1 w 42"/>
                    <a:gd name="T35" fmla="*/ 0 h 4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2"/>
                    <a:gd name="T55" fmla="*/ 0 h 41"/>
                    <a:gd name="T56" fmla="*/ 42 w 42"/>
                    <a:gd name="T57" fmla="*/ 41 h 4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2" h="41">
                      <a:moveTo>
                        <a:pt x="22" y="18"/>
                      </a:moveTo>
                      <a:lnTo>
                        <a:pt x="22" y="5"/>
                      </a:lnTo>
                      <a:lnTo>
                        <a:pt x="19" y="8"/>
                      </a:lnTo>
                      <a:lnTo>
                        <a:pt x="11" y="14"/>
                      </a:lnTo>
                      <a:lnTo>
                        <a:pt x="0" y="19"/>
                      </a:lnTo>
                      <a:lnTo>
                        <a:pt x="6" y="41"/>
                      </a:lnTo>
                      <a:lnTo>
                        <a:pt x="20" y="33"/>
                      </a:lnTo>
                      <a:lnTo>
                        <a:pt x="31" y="27"/>
                      </a:lnTo>
                      <a:lnTo>
                        <a:pt x="38" y="21"/>
                      </a:lnTo>
                      <a:lnTo>
                        <a:pt x="41" y="18"/>
                      </a:lnTo>
                      <a:lnTo>
                        <a:pt x="41" y="5"/>
                      </a:lnTo>
                      <a:lnTo>
                        <a:pt x="41" y="18"/>
                      </a:lnTo>
                      <a:lnTo>
                        <a:pt x="42" y="8"/>
                      </a:lnTo>
                      <a:lnTo>
                        <a:pt x="38" y="2"/>
                      </a:lnTo>
                      <a:lnTo>
                        <a:pt x="30" y="0"/>
                      </a:lnTo>
                      <a:lnTo>
                        <a:pt x="22" y="5"/>
                      </a:lnTo>
                      <a:lnTo>
                        <a:pt x="22" y="18"/>
                      </a:lnTo>
                      <a:close/>
                    </a:path>
                  </a:pathLst>
                </a:custGeom>
                <a:solidFill>
                  <a:srgbClr val="000000"/>
                </a:solidFill>
                <a:ln w="9525">
                  <a:noFill/>
                  <a:round/>
                  <a:headEnd/>
                  <a:tailEnd/>
                </a:ln>
              </p:spPr>
              <p:txBody>
                <a:bodyPr/>
                <a:lstStyle/>
                <a:p>
                  <a:endParaRPr lang="en-US"/>
                </a:p>
              </p:txBody>
            </p:sp>
            <p:sp>
              <p:nvSpPr>
                <p:cNvPr id="29862" name="Freeform 123"/>
                <p:cNvSpPr>
                  <a:spLocks/>
                </p:cNvSpPr>
                <p:nvPr/>
              </p:nvSpPr>
              <p:spPr bwMode="auto">
                <a:xfrm>
                  <a:off x="2227" y="3501"/>
                  <a:ext cx="14" cy="18"/>
                </a:xfrm>
                <a:custGeom>
                  <a:avLst/>
                  <a:gdLst>
                    <a:gd name="T0" fmla="*/ 1 w 28"/>
                    <a:gd name="T1" fmla="*/ 0 h 38"/>
                    <a:gd name="T2" fmla="*/ 1 w 28"/>
                    <a:gd name="T3" fmla="*/ 0 h 38"/>
                    <a:gd name="T4" fmla="*/ 0 w 28"/>
                    <a:gd name="T5" fmla="*/ 0 h 38"/>
                    <a:gd name="T6" fmla="*/ 1 w 28"/>
                    <a:gd name="T7" fmla="*/ 0 h 38"/>
                    <a:gd name="T8" fmla="*/ 1 w 28"/>
                    <a:gd name="T9" fmla="*/ 0 h 38"/>
                    <a:gd name="T10" fmla="*/ 1 w 28"/>
                    <a:gd name="T11" fmla="*/ 0 h 38"/>
                    <a:gd name="T12" fmla="*/ 1 w 28"/>
                    <a:gd name="T13" fmla="*/ 0 h 38"/>
                    <a:gd name="T14" fmla="*/ 1 w 28"/>
                    <a:gd name="T15" fmla="*/ 0 h 38"/>
                    <a:gd name="T16" fmla="*/ 1 w 28"/>
                    <a:gd name="T17" fmla="*/ 0 h 38"/>
                    <a:gd name="T18" fmla="*/ 1 w 28"/>
                    <a:gd name="T19" fmla="*/ 0 h 38"/>
                    <a:gd name="T20" fmla="*/ 1 w 28"/>
                    <a:gd name="T21" fmla="*/ 0 h 38"/>
                    <a:gd name="T22" fmla="*/ 1 w 28"/>
                    <a:gd name="T23" fmla="*/ 0 h 38"/>
                    <a:gd name="T24" fmla="*/ 1 w 28"/>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8"/>
                    <a:gd name="T41" fmla="*/ 28 w 28"/>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8">
                      <a:moveTo>
                        <a:pt x="7" y="2"/>
                      </a:moveTo>
                      <a:lnTo>
                        <a:pt x="9" y="0"/>
                      </a:lnTo>
                      <a:lnTo>
                        <a:pt x="0" y="16"/>
                      </a:lnTo>
                      <a:lnTo>
                        <a:pt x="4" y="27"/>
                      </a:lnTo>
                      <a:lnTo>
                        <a:pt x="7" y="33"/>
                      </a:lnTo>
                      <a:lnTo>
                        <a:pt x="9" y="38"/>
                      </a:lnTo>
                      <a:lnTo>
                        <a:pt x="28" y="25"/>
                      </a:lnTo>
                      <a:lnTo>
                        <a:pt x="26" y="24"/>
                      </a:lnTo>
                      <a:lnTo>
                        <a:pt x="23" y="17"/>
                      </a:lnTo>
                      <a:lnTo>
                        <a:pt x="21" y="13"/>
                      </a:lnTo>
                      <a:lnTo>
                        <a:pt x="15" y="22"/>
                      </a:lnTo>
                      <a:lnTo>
                        <a:pt x="17" y="20"/>
                      </a:lnTo>
                      <a:lnTo>
                        <a:pt x="7" y="2"/>
                      </a:lnTo>
                      <a:close/>
                    </a:path>
                  </a:pathLst>
                </a:custGeom>
                <a:solidFill>
                  <a:srgbClr val="000000"/>
                </a:solidFill>
                <a:ln w="9525">
                  <a:noFill/>
                  <a:round/>
                  <a:headEnd/>
                  <a:tailEnd/>
                </a:ln>
              </p:spPr>
              <p:txBody>
                <a:bodyPr/>
                <a:lstStyle/>
                <a:p>
                  <a:endParaRPr lang="en-US"/>
                </a:p>
              </p:txBody>
            </p:sp>
            <p:sp>
              <p:nvSpPr>
                <p:cNvPr id="29863" name="Freeform 124"/>
                <p:cNvSpPr>
                  <a:spLocks/>
                </p:cNvSpPr>
                <p:nvPr/>
              </p:nvSpPr>
              <p:spPr bwMode="auto">
                <a:xfrm>
                  <a:off x="2231" y="3500"/>
                  <a:ext cx="29" cy="14"/>
                </a:xfrm>
                <a:custGeom>
                  <a:avLst/>
                  <a:gdLst>
                    <a:gd name="T0" fmla="*/ 1 w 58"/>
                    <a:gd name="T1" fmla="*/ 0 h 29"/>
                    <a:gd name="T2" fmla="*/ 1 w 58"/>
                    <a:gd name="T3" fmla="*/ 0 h 29"/>
                    <a:gd name="T4" fmla="*/ 1 w 58"/>
                    <a:gd name="T5" fmla="*/ 0 h 29"/>
                    <a:gd name="T6" fmla="*/ 1 w 58"/>
                    <a:gd name="T7" fmla="*/ 0 h 29"/>
                    <a:gd name="T8" fmla="*/ 1 w 58"/>
                    <a:gd name="T9" fmla="*/ 0 h 29"/>
                    <a:gd name="T10" fmla="*/ 1 w 58"/>
                    <a:gd name="T11" fmla="*/ 0 h 29"/>
                    <a:gd name="T12" fmla="*/ 1 w 58"/>
                    <a:gd name="T13" fmla="*/ 0 h 29"/>
                    <a:gd name="T14" fmla="*/ 1 w 58"/>
                    <a:gd name="T15" fmla="*/ 0 h 29"/>
                    <a:gd name="T16" fmla="*/ 1 w 58"/>
                    <a:gd name="T17" fmla="*/ 0 h 29"/>
                    <a:gd name="T18" fmla="*/ 0 w 58"/>
                    <a:gd name="T19" fmla="*/ 0 h 29"/>
                    <a:gd name="T20" fmla="*/ 1 w 58"/>
                    <a:gd name="T21" fmla="*/ 0 h 29"/>
                    <a:gd name="T22" fmla="*/ 1 w 58"/>
                    <a:gd name="T23" fmla="*/ 0 h 29"/>
                    <a:gd name="T24" fmla="*/ 1 w 58"/>
                    <a:gd name="T25" fmla="*/ 0 h 29"/>
                    <a:gd name="T26" fmla="*/ 1 w 58"/>
                    <a:gd name="T27" fmla="*/ 0 h 29"/>
                    <a:gd name="T28" fmla="*/ 1 w 58"/>
                    <a:gd name="T29" fmla="*/ 0 h 29"/>
                    <a:gd name="T30" fmla="*/ 1 w 58"/>
                    <a:gd name="T31" fmla="*/ 0 h 29"/>
                    <a:gd name="T32" fmla="*/ 1 w 58"/>
                    <a:gd name="T33" fmla="*/ 0 h 29"/>
                    <a:gd name="T34" fmla="*/ 1 w 58"/>
                    <a:gd name="T35" fmla="*/ 0 h 29"/>
                    <a:gd name="T36" fmla="*/ 1 w 58"/>
                    <a:gd name="T37" fmla="*/ 0 h 29"/>
                    <a:gd name="T38" fmla="*/ 1 w 58"/>
                    <a:gd name="T39" fmla="*/ 0 h 29"/>
                    <a:gd name="T40" fmla="*/ 1 w 58"/>
                    <a:gd name="T41" fmla="*/ 0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29"/>
                    <a:gd name="T65" fmla="*/ 58 w 58"/>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29">
                      <a:moveTo>
                        <a:pt x="58" y="10"/>
                      </a:moveTo>
                      <a:lnTo>
                        <a:pt x="58" y="10"/>
                      </a:lnTo>
                      <a:lnTo>
                        <a:pt x="52" y="7"/>
                      </a:lnTo>
                      <a:lnTo>
                        <a:pt x="46" y="5"/>
                      </a:lnTo>
                      <a:lnTo>
                        <a:pt x="38" y="4"/>
                      </a:lnTo>
                      <a:lnTo>
                        <a:pt x="30" y="2"/>
                      </a:lnTo>
                      <a:lnTo>
                        <a:pt x="22" y="2"/>
                      </a:lnTo>
                      <a:lnTo>
                        <a:pt x="16" y="0"/>
                      </a:lnTo>
                      <a:lnTo>
                        <a:pt x="7" y="0"/>
                      </a:lnTo>
                      <a:lnTo>
                        <a:pt x="0" y="4"/>
                      </a:lnTo>
                      <a:lnTo>
                        <a:pt x="10" y="22"/>
                      </a:lnTo>
                      <a:lnTo>
                        <a:pt x="13" y="22"/>
                      </a:lnTo>
                      <a:lnTo>
                        <a:pt x="19" y="24"/>
                      </a:lnTo>
                      <a:lnTo>
                        <a:pt x="27" y="24"/>
                      </a:lnTo>
                      <a:lnTo>
                        <a:pt x="32" y="26"/>
                      </a:lnTo>
                      <a:lnTo>
                        <a:pt x="40" y="27"/>
                      </a:lnTo>
                      <a:lnTo>
                        <a:pt x="46" y="29"/>
                      </a:lnTo>
                      <a:lnTo>
                        <a:pt x="49" y="29"/>
                      </a:lnTo>
                      <a:lnTo>
                        <a:pt x="58" y="10"/>
                      </a:lnTo>
                      <a:close/>
                    </a:path>
                  </a:pathLst>
                </a:custGeom>
                <a:solidFill>
                  <a:srgbClr val="000000"/>
                </a:solidFill>
                <a:ln w="9525">
                  <a:noFill/>
                  <a:round/>
                  <a:headEnd/>
                  <a:tailEnd/>
                </a:ln>
              </p:spPr>
              <p:txBody>
                <a:bodyPr/>
                <a:lstStyle/>
                <a:p>
                  <a:endParaRPr lang="en-US"/>
                </a:p>
              </p:txBody>
            </p:sp>
            <p:sp>
              <p:nvSpPr>
                <p:cNvPr id="29864" name="Freeform 125"/>
                <p:cNvSpPr>
                  <a:spLocks/>
                </p:cNvSpPr>
                <p:nvPr/>
              </p:nvSpPr>
              <p:spPr bwMode="auto">
                <a:xfrm>
                  <a:off x="2254" y="3504"/>
                  <a:ext cx="13" cy="59"/>
                </a:xfrm>
                <a:custGeom>
                  <a:avLst/>
                  <a:gdLst>
                    <a:gd name="T0" fmla="*/ 1 w 26"/>
                    <a:gd name="T1" fmla="*/ 1 h 117"/>
                    <a:gd name="T2" fmla="*/ 1 w 26"/>
                    <a:gd name="T3" fmla="*/ 1 h 117"/>
                    <a:gd name="T4" fmla="*/ 1 w 26"/>
                    <a:gd name="T5" fmla="*/ 1 h 117"/>
                    <a:gd name="T6" fmla="*/ 1 w 26"/>
                    <a:gd name="T7" fmla="*/ 1 h 117"/>
                    <a:gd name="T8" fmla="*/ 1 w 26"/>
                    <a:gd name="T9" fmla="*/ 1 h 117"/>
                    <a:gd name="T10" fmla="*/ 1 w 26"/>
                    <a:gd name="T11" fmla="*/ 1 h 117"/>
                    <a:gd name="T12" fmla="*/ 1 w 26"/>
                    <a:gd name="T13" fmla="*/ 1 h 117"/>
                    <a:gd name="T14" fmla="*/ 1 w 26"/>
                    <a:gd name="T15" fmla="*/ 1 h 117"/>
                    <a:gd name="T16" fmla="*/ 1 w 26"/>
                    <a:gd name="T17" fmla="*/ 1 h 117"/>
                    <a:gd name="T18" fmla="*/ 1 w 26"/>
                    <a:gd name="T19" fmla="*/ 0 h 117"/>
                    <a:gd name="T20" fmla="*/ 1 w 26"/>
                    <a:gd name="T21" fmla="*/ 1 h 117"/>
                    <a:gd name="T22" fmla="*/ 0 w 26"/>
                    <a:gd name="T23" fmla="*/ 1 h 117"/>
                    <a:gd name="T24" fmla="*/ 1 w 26"/>
                    <a:gd name="T25" fmla="*/ 1 h 117"/>
                    <a:gd name="T26" fmla="*/ 1 w 26"/>
                    <a:gd name="T27" fmla="*/ 1 h 117"/>
                    <a:gd name="T28" fmla="*/ 1 w 26"/>
                    <a:gd name="T29" fmla="*/ 1 h 117"/>
                    <a:gd name="T30" fmla="*/ 1 w 26"/>
                    <a:gd name="T31" fmla="*/ 1 h 117"/>
                    <a:gd name="T32" fmla="*/ 1 w 26"/>
                    <a:gd name="T33" fmla="*/ 1 h 117"/>
                    <a:gd name="T34" fmla="*/ 1 w 26"/>
                    <a:gd name="T35" fmla="*/ 1 h 117"/>
                    <a:gd name="T36" fmla="*/ 1 w 26"/>
                    <a:gd name="T37" fmla="*/ 1 h 117"/>
                    <a:gd name="T38" fmla="*/ 1 w 26"/>
                    <a:gd name="T39" fmla="*/ 1 h 117"/>
                    <a:gd name="T40" fmla="*/ 1 w 26"/>
                    <a:gd name="T41" fmla="*/ 1 h 117"/>
                    <a:gd name="T42" fmla="*/ 1 w 26"/>
                    <a:gd name="T43" fmla="*/ 1 h 117"/>
                    <a:gd name="T44" fmla="*/ 1 w 26"/>
                    <a:gd name="T45" fmla="*/ 1 h 117"/>
                    <a:gd name="T46" fmla="*/ 1 w 26"/>
                    <a:gd name="T47" fmla="*/ 1 h 117"/>
                    <a:gd name="T48" fmla="*/ 1 w 26"/>
                    <a:gd name="T49" fmla="*/ 1 h 1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6"/>
                    <a:gd name="T76" fmla="*/ 0 h 117"/>
                    <a:gd name="T77" fmla="*/ 26 w 26"/>
                    <a:gd name="T78" fmla="*/ 117 h 11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6" h="117">
                      <a:moveTo>
                        <a:pt x="26" y="106"/>
                      </a:moveTo>
                      <a:lnTo>
                        <a:pt x="26" y="106"/>
                      </a:lnTo>
                      <a:lnTo>
                        <a:pt x="26" y="102"/>
                      </a:lnTo>
                      <a:lnTo>
                        <a:pt x="26" y="92"/>
                      </a:lnTo>
                      <a:lnTo>
                        <a:pt x="26" y="77"/>
                      </a:lnTo>
                      <a:lnTo>
                        <a:pt x="26" y="59"/>
                      </a:lnTo>
                      <a:lnTo>
                        <a:pt x="25" y="41"/>
                      </a:lnTo>
                      <a:lnTo>
                        <a:pt x="23" y="25"/>
                      </a:lnTo>
                      <a:lnTo>
                        <a:pt x="22" y="12"/>
                      </a:lnTo>
                      <a:lnTo>
                        <a:pt x="12" y="0"/>
                      </a:lnTo>
                      <a:lnTo>
                        <a:pt x="3" y="19"/>
                      </a:lnTo>
                      <a:lnTo>
                        <a:pt x="0" y="19"/>
                      </a:lnTo>
                      <a:lnTo>
                        <a:pt x="1" y="28"/>
                      </a:lnTo>
                      <a:lnTo>
                        <a:pt x="3" y="44"/>
                      </a:lnTo>
                      <a:lnTo>
                        <a:pt x="4" y="59"/>
                      </a:lnTo>
                      <a:lnTo>
                        <a:pt x="4" y="77"/>
                      </a:lnTo>
                      <a:lnTo>
                        <a:pt x="4" y="92"/>
                      </a:lnTo>
                      <a:lnTo>
                        <a:pt x="4" y="102"/>
                      </a:lnTo>
                      <a:lnTo>
                        <a:pt x="4" y="106"/>
                      </a:lnTo>
                      <a:lnTo>
                        <a:pt x="8" y="114"/>
                      </a:lnTo>
                      <a:lnTo>
                        <a:pt x="15" y="117"/>
                      </a:lnTo>
                      <a:lnTo>
                        <a:pt x="23" y="114"/>
                      </a:lnTo>
                      <a:lnTo>
                        <a:pt x="26" y="106"/>
                      </a:lnTo>
                      <a:close/>
                    </a:path>
                  </a:pathLst>
                </a:custGeom>
                <a:solidFill>
                  <a:srgbClr val="000000"/>
                </a:solidFill>
                <a:ln w="9525">
                  <a:noFill/>
                  <a:round/>
                  <a:headEnd/>
                  <a:tailEnd/>
                </a:ln>
              </p:spPr>
              <p:txBody>
                <a:bodyPr/>
                <a:lstStyle/>
                <a:p>
                  <a:endParaRPr lang="en-US"/>
                </a:p>
              </p:txBody>
            </p:sp>
            <p:sp>
              <p:nvSpPr>
                <p:cNvPr id="29865" name="Freeform 126"/>
                <p:cNvSpPr>
                  <a:spLocks/>
                </p:cNvSpPr>
                <p:nvPr/>
              </p:nvSpPr>
              <p:spPr bwMode="auto">
                <a:xfrm>
                  <a:off x="2215" y="3558"/>
                  <a:ext cx="52" cy="194"/>
                </a:xfrm>
                <a:custGeom>
                  <a:avLst/>
                  <a:gdLst>
                    <a:gd name="T0" fmla="*/ 1 w 104"/>
                    <a:gd name="T1" fmla="*/ 1 h 388"/>
                    <a:gd name="T2" fmla="*/ 1 w 104"/>
                    <a:gd name="T3" fmla="*/ 1 h 388"/>
                    <a:gd name="T4" fmla="*/ 1 w 104"/>
                    <a:gd name="T5" fmla="*/ 1 h 388"/>
                    <a:gd name="T6" fmla="*/ 1 w 104"/>
                    <a:gd name="T7" fmla="*/ 1 h 388"/>
                    <a:gd name="T8" fmla="*/ 1 w 104"/>
                    <a:gd name="T9" fmla="*/ 1 h 388"/>
                    <a:gd name="T10" fmla="*/ 1 w 104"/>
                    <a:gd name="T11" fmla="*/ 1 h 388"/>
                    <a:gd name="T12" fmla="*/ 1 w 104"/>
                    <a:gd name="T13" fmla="*/ 1 h 388"/>
                    <a:gd name="T14" fmla="*/ 1 w 104"/>
                    <a:gd name="T15" fmla="*/ 1 h 388"/>
                    <a:gd name="T16" fmla="*/ 1 w 104"/>
                    <a:gd name="T17" fmla="*/ 1 h 388"/>
                    <a:gd name="T18" fmla="*/ 1 w 104"/>
                    <a:gd name="T19" fmla="*/ 1 h 388"/>
                    <a:gd name="T20" fmla="*/ 1 w 104"/>
                    <a:gd name="T21" fmla="*/ 1 h 388"/>
                    <a:gd name="T22" fmla="*/ 1 w 104"/>
                    <a:gd name="T23" fmla="*/ 1 h 388"/>
                    <a:gd name="T24" fmla="*/ 1 w 104"/>
                    <a:gd name="T25" fmla="*/ 1 h 388"/>
                    <a:gd name="T26" fmla="*/ 1 w 104"/>
                    <a:gd name="T27" fmla="*/ 1 h 388"/>
                    <a:gd name="T28" fmla="*/ 1 w 104"/>
                    <a:gd name="T29" fmla="*/ 1 h 388"/>
                    <a:gd name="T30" fmla="*/ 1 w 104"/>
                    <a:gd name="T31" fmla="*/ 1 h 388"/>
                    <a:gd name="T32" fmla="*/ 1 w 104"/>
                    <a:gd name="T33" fmla="*/ 1 h 388"/>
                    <a:gd name="T34" fmla="*/ 1 w 104"/>
                    <a:gd name="T35" fmla="*/ 0 h 388"/>
                    <a:gd name="T36" fmla="*/ 1 w 104"/>
                    <a:gd name="T37" fmla="*/ 0 h 388"/>
                    <a:gd name="T38" fmla="*/ 1 w 104"/>
                    <a:gd name="T39" fmla="*/ 1 h 388"/>
                    <a:gd name="T40" fmla="*/ 1 w 104"/>
                    <a:gd name="T41" fmla="*/ 1 h 388"/>
                    <a:gd name="T42" fmla="*/ 1 w 104"/>
                    <a:gd name="T43" fmla="*/ 1 h 388"/>
                    <a:gd name="T44" fmla="*/ 1 w 104"/>
                    <a:gd name="T45" fmla="*/ 1 h 388"/>
                    <a:gd name="T46" fmla="*/ 1 w 104"/>
                    <a:gd name="T47" fmla="*/ 1 h 388"/>
                    <a:gd name="T48" fmla="*/ 1 w 104"/>
                    <a:gd name="T49" fmla="*/ 1 h 388"/>
                    <a:gd name="T50" fmla="*/ 1 w 104"/>
                    <a:gd name="T51" fmla="*/ 1 h 388"/>
                    <a:gd name="T52" fmla="*/ 1 w 104"/>
                    <a:gd name="T53" fmla="*/ 1 h 388"/>
                    <a:gd name="T54" fmla="*/ 1 w 104"/>
                    <a:gd name="T55" fmla="*/ 1 h 388"/>
                    <a:gd name="T56" fmla="*/ 1 w 104"/>
                    <a:gd name="T57" fmla="*/ 1 h 388"/>
                    <a:gd name="T58" fmla="*/ 1 w 104"/>
                    <a:gd name="T59" fmla="*/ 1 h 388"/>
                    <a:gd name="T60" fmla="*/ 1 w 104"/>
                    <a:gd name="T61" fmla="*/ 1 h 388"/>
                    <a:gd name="T62" fmla="*/ 1 w 104"/>
                    <a:gd name="T63" fmla="*/ 1 h 388"/>
                    <a:gd name="T64" fmla="*/ 1 w 104"/>
                    <a:gd name="T65" fmla="*/ 1 h 388"/>
                    <a:gd name="T66" fmla="*/ 1 w 104"/>
                    <a:gd name="T67" fmla="*/ 1 h 388"/>
                    <a:gd name="T68" fmla="*/ 0 w 104"/>
                    <a:gd name="T69" fmla="*/ 1 h 388"/>
                    <a:gd name="T70" fmla="*/ 0 w 104"/>
                    <a:gd name="T71" fmla="*/ 1 h 388"/>
                    <a:gd name="T72" fmla="*/ 1 w 104"/>
                    <a:gd name="T73" fmla="*/ 1 h 38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4"/>
                    <a:gd name="T112" fmla="*/ 0 h 388"/>
                    <a:gd name="T113" fmla="*/ 104 w 104"/>
                    <a:gd name="T114" fmla="*/ 388 h 38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4" h="388">
                      <a:moveTo>
                        <a:pt x="3" y="388"/>
                      </a:moveTo>
                      <a:lnTo>
                        <a:pt x="3" y="388"/>
                      </a:lnTo>
                      <a:lnTo>
                        <a:pt x="23" y="379"/>
                      </a:lnTo>
                      <a:lnTo>
                        <a:pt x="39" y="362"/>
                      </a:lnTo>
                      <a:lnTo>
                        <a:pt x="53" y="341"/>
                      </a:lnTo>
                      <a:lnTo>
                        <a:pt x="65" y="315"/>
                      </a:lnTo>
                      <a:lnTo>
                        <a:pt x="73" y="285"/>
                      </a:lnTo>
                      <a:lnTo>
                        <a:pt x="81" y="252"/>
                      </a:lnTo>
                      <a:lnTo>
                        <a:pt x="87" y="218"/>
                      </a:lnTo>
                      <a:lnTo>
                        <a:pt x="92" y="183"/>
                      </a:lnTo>
                      <a:lnTo>
                        <a:pt x="97" y="149"/>
                      </a:lnTo>
                      <a:lnTo>
                        <a:pt x="100" y="116"/>
                      </a:lnTo>
                      <a:lnTo>
                        <a:pt x="101" y="85"/>
                      </a:lnTo>
                      <a:lnTo>
                        <a:pt x="103" y="57"/>
                      </a:lnTo>
                      <a:lnTo>
                        <a:pt x="104" y="33"/>
                      </a:lnTo>
                      <a:lnTo>
                        <a:pt x="104" y="16"/>
                      </a:lnTo>
                      <a:lnTo>
                        <a:pt x="104" y="5"/>
                      </a:lnTo>
                      <a:lnTo>
                        <a:pt x="104" y="0"/>
                      </a:lnTo>
                      <a:lnTo>
                        <a:pt x="82" y="0"/>
                      </a:lnTo>
                      <a:lnTo>
                        <a:pt x="82" y="5"/>
                      </a:lnTo>
                      <a:lnTo>
                        <a:pt x="82" y="16"/>
                      </a:lnTo>
                      <a:lnTo>
                        <a:pt x="82" y="33"/>
                      </a:lnTo>
                      <a:lnTo>
                        <a:pt x="81" y="57"/>
                      </a:lnTo>
                      <a:lnTo>
                        <a:pt x="79" y="85"/>
                      </a:lnTo>
                      <a:lnTo>
                        <a:pt x="78" y="113"/>
                      </a:lnTo>
                      <a:lnTo>
                        <a:pt x="75" y="146"/>
                      </a:lnTo>
                      <a:lnTo>
                        <a:pt x="70" y="180"/>
                      </a:lnTo>
                      <a:lnTo>
                        <a:pt x="65" y="215"/>
                      </a:lnTo>
                      <a:lnTo>
                        <a:pt x="59" y="249"/>
                      </a:lnTo>
                      <a:lnTo>
                        <a:pt x="51" y="279"/>
                      </a:lnTo>
                      <a:lnTo>
                        <a:pt x="43" y="308"/>
                      </a:lnTo>
                      <a:lnTo>
                        <a:pt x="34" y="332"/>
                      </a:lnTo>
                      <a:lnTo>
                        <a:pt x="23" y="349"/>
                      </a:lnTo>
                      <a:lnTo>
                        <a:pt x="10" y="360"/>
                      </a:lnTo>
                      <a:lnTo>
                        <a:pt x="0" y="366"/>
                      </a:lnTo>
                      <a:lnTo>
                        <a:pt x="3" y="388"/>
                      </a:lnTo>
                      <a:close/>
                    </a:path>
                  </a:pathLst>
                </a:custGeom>
                <a:solidFill>
                  <a:srgbClr val="000000"/>
                </a:solidFill>
                <a:ln w="9525">
                  <a:noFill/>
                  <a:round/>
                  <a:headEnd/>
                  <a:tailEnd/>
                </a:ln>
              </p:spPr>
              <p:txBody>
                <a:bodyPr/>
                <a:lstStyle/>
                <a:p>
                  <a:endParaRPr lang="en-US"/>
                </a:p>
              </p:txBody>
            </p:sp>
            <p:sp>
              <p:nvSpPr>
                <p:cNvPr id="29866" name="Freeform 127"/>
                <p:cNvSpPr>
                  <a:spLocks/>
                </p:cNvSpPr>
                <p:nvPr/>
              </p:nvSpPr>
              <p:spPr bwMode="auto">
                <a:xfrm>
                  <a:off x="2108" y="3741"/>
                  <a:ext cx="108" cy="19"/>
                </a:xfrm>
                <a:custGeom>
                  <a:avLst/>
                  <a:gdLst>
                    <a:gd name="T0" fmla="*/ 0 w 216"/>
                    <a:gd name="T1" fmla="*/ 0 h 40"/>
                    <a:gd name="T2" fmla="*/ 0 w 216"/>
                    <a:gd name="T3" fmla="*/ 0 h 40"/>
                    <a:gd name="T4" fmla="*/ 1 w 216"/>
                    <a:gd name="T5" fmla="*/ 0 h 40"/>
                    <a:gd name="T6" fmla="*/ 1 w 216"/>
                    <a:gd name="T7" fmla="*/ 0 h 40"/>
                    <a:gd name="T8" fmla="*/ 1 w 216"/>
                    <a:gd name="T9" fmla="*/ 0 h 40"/>
                    <a:gd name="T10" fmla="*/ 1 w 216"/>
                    <a:gd name="T11" fmla="*/ 0 h 40"/>
                    <a:gd name="T12" fmla="*/ 1 w 216"/>
                    <a:gd name="T13" fmla="*/ 0 h 40"/>
                    <a:gd name="T14" fmla="*/ 1 w 216"/>
                    <a:gd name="T15" fmla="*/ 0 h 40"/>
                    <a:gd name="T16" fmla="*/ 1 w 216"/>
                    <a:gd name="T17" fmla="*/ 0 h 40"/>
                    <a:gd name="T18" fmla="*/ 1 w 216"/>
                    <a:gd name="T19" fmla="*/ 0 h 40"/>
                    <a:gd name="T20" fmla="*/ 1 w 216"/>
                    <a:gd name="T21" fmla="*/ 0 h 40"/>
                    <a:gd name="T22" fmla="*/ 1 w 216"/>
                    <a:gd name="T23" fmla="*/ 0 h 40"/>
                    <a:gd name="T24" fmla="*/ 1 w 216"/>
                    <a:gd name="T25" fmla="*/ 0 h 40"/>
                    <a:gd name="T26" fmla="*/ 1 w 216"/>
                    <a:gd name="T27" fmla="*/ 0 h 40"/>
                    <a:gd name="T28" fmla="*/ 1 w 216"/>
                    <a:gd name="T29" fmla="*/ 0 h 40"/>
                    <a:gd name="T30" fmla="*/ 1 w 216"/>
                    <a:gd name="T31" fmla="*/ 0 h 40"/>
                    <a:gd name="T32" fmla="*/ 1 w 216"/>
                    <a:gd name="T33" fmla="*/ 0 h 40"/>
                    <a:gd name="T34" fmla="*/ 1 w 216"/>
                    <a:gd name="T35" fmla="*/ 0 h 40"/>
                    <a:gd name="T36" fmla="*/ 1 w 216"/>
                    <a:gd name="T37" fmla="*/ 0 h 40"/>
                    <a:gd name="T38" fmla="*/ 1 w 216"/>
                    <a:gd name="T39" fmla="*/ 0 h 40"/>
                    <a:gd name="T40" fmla="*/ 0 w 216"/>
                    <a:gd name="T41" fmla="*/ 0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6"/>
                    <a:gd name="T64" fmla="*/ 0 h 40"/>
                    <a:gd name="T65" fmla="*/ 216 w 216"/>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6" h="40">
                      <a:moveTo>
                        <a:pt x="0" y="30"/>
                      </a:moveTo>
                      <a:lnTo>
                        <a:pt x="0" y="30"/>
                      </a:lnTo>
                      <a:lnTo>
                        <a:pt x="21" y="35"/>
                      </a:lnTo>
                      <a:lnTo>
                        <a:pt x="43" y="38"/>
                      </a:lnTo>
                      <a:lnTo>
                        <a:pt x="68" y="40"/>
                      </a:lnTo>
                      <a:lnTo>
                        <a:pt x="94" y="38"/>
                      </a:lnTo>
                      <a:lnTo>
                        <a:pt x="123" y="36"/>
                      </a:lnTo>
                      <a:lnTo>
                        <a:pt x="151" y="33"/>
                      </a:lnTo>
                      <a:lnTo>
                        <a:pt x="183" y="29"/>
                      </a:lnTo>
                      <a:lnTo>
                        <a:pt x="216" y="22"/>
                      </a:lnTo>
                      <a:lnTo>
                        <a:pt x="213" y="0"/>
                      </a:lnTo>
                      <a:lnTo>
                        <a:pt x="180" y="7"/>
                      </a:lnTo>
                      <a:lnTo>
                        <a:pt x="148" y="11"/>
                      </a:lnTo>
                      <a:lnTo>
                        <a:pt x="120" y="14"/>
                      </a:lnTo>
                      <a:lnTo>
                        <a:pt x="94" y="16"/>
                      </a:lnTo>
                      <a:lnTo>
                        <a:pt x="68" y="18"/>
                      </a:lnTo>
                      <a:lnTo>
                        <a:pt x="47" y="16"/>
                      </a:lnTo>
                      <a:lnTo>
                        <a:pt x="25" y="13"/>
                      </a:lnTo>
                      <a:lnTo>
                        <a:pt x="6" y="8"/>
                      </a:lnTo>
                      <a:lnTo>
                        <a:pt x="0" y="30"/>
                      </a:lnTo>
                      <a:close/>
                    </a:path>
                  </a:pathLst>
                </a:custGeom>
                <a:solidFill>
                  <a:srgbClr val="000000"/>
                </a:solidFill>
                <a:ln w="9525">
                  <a:noFill/>
                  <a:round/>
                  <a:headEnd/>
                  <a:tailEnd/>
                </a:ln>
              </p:spPr>
              <p:txBody>
                <a:bodyPr/>
                <a:lstStyle/>
                <a:p>
                  <a:endParaRPr lang="en-US"/>
                </a:p>
              </p:txBody>
            </p:sp>
            <p:sp>
              <p:nvSpPr>
                <p:cNvPr id="29867" name="Freeform 128"/>
                <p:cNvSpPr>
                  <a:spLocks/>
                </p:cNvSpPr>
                <p:nvPr/>
              </p:nvSpPr>
              <p:spPr bwMode="auto">
                <a:xfrm>
                  <a:off x="2053" y="3734"/>
                  <a:ext cx="58" cy="22"/>
                </a:xfrm>
                <a:custGeom>
                  <a:avLst/>
                  <a:gdLst>
                    <a:gd name="T0" fmla="*/ 0 w 116"/>
                    <a:gd name="T1" fmla="*/ 1 h 42"/>
                    <a:gd name="T2" fmla="*/ 0 w 116"/>
                    <a:gd name="T3" fmla="*/ 1 h 42"/>
                    <a:gd name="T4" fmla="*/ 1 w 116"/>
                    <a:gd name="T5" fmla="*/ 1 h 42"/>
                    <a:gd name="T6" fmla="*/ 1 w 116"/>
                    <a:gd name="T7" fmla="*/ 1 h 42"/>
                    <a:gd name="T8" fmla="*/ 1 w 116"/>
                    <a:gd name="T9" fmla="*/ 1 h 42"/>
                    <a:gd name="T10" fmla="*/ 1 w 116"/>
                    <a:gd name="T11" fmla="*/ 1 h 42"/>
                    <a:gd name="T12" fmla="*/ 1 w 116"/>
                    <a:gd name="T13" fmla="*/ 1 h 42"/>
                    <a:gd name="T14" fmla="*/ 1 w 116"/>
                    <a:gd name="T15" fmla="*/ 1 h 42"/>
                    <a:gd name="T16" fmla="*/ 1 w 116"/>
                    <a:gd name="T17" fmla="*/ 1 h 42"/>
                    <a:gd name="T18" fmla="*/ 1 w 116"/>
                    <a:gd name="T19" fmla="*/ 1 h 42"/>
                    <a:gd name="T20" fmla="*/ 1 w 116"/>
                    <a:gd name="T21" fmla="*/ 1 h 42"/>
                    <a:gd name="T22" fmla="*/ 1 w 116"/>
                    <a:gd name="T23" fmla="*/ 1 h 42"/>
                    <a:gd name="T24" fmla="*/ 1 w 116"/>
                    <a:gd name="T25" fmla="*/ 1 h 42"/>
                    <a:gd name="T26" fmla="*/ 1 w 116"/>
                    <a:gd name="T27" fmla="*/ 1 h 42"/>
                    <a:gd name="T28" fmla="*/ 1 w 116"/>
                    <a:gd name="T29" fmla="*/ 1 h 42"/>
                    <a:gd name="T30" fmla="*/ 1 w 116"/>
                    <a:gd name="T31" fmla="*/ 1 h 42"/>
                    <a:gd name="T32" fmla="*/ 1 w 116"/>
                    <a:gd name="T33" fmla="*/ 0 h 42"/>
                    <a:gd name="T34" fmla="*/ 1 w 116"/>
                    <a:gd name="T35" fmla="*/ 0 h 42"/>
                    <a:gd name="T36" fmla="*/ 0 w 116"/>
                    <a:gd name="T37" fmla="*/ 0 h 42"/>
                    <a:gd name="T38" fmla="*/ 0 w 116"/>
                    <a:gd name="T39" fmla="*/ 0 h 42"/>
                    <a:gd name="T40" fmla="*/ 0 w 116"/>
                    <a:gd name="T41" fmla="*/ 1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6"/>
                    <a:gd name="T64" fmla="*/ 0 h 42"/>
                    <a:gd name="T65" fmla="*/ 116 w 116"/>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6" h="42">
                      <a:moveTo>
                        <a:pt x="0" y="22"/>
                      </a:moveTo>
                      <a:lnTo>
                        <a:pt x="0" y="22"/>
                      </a:lnTo>
                      <a:lnTo>
                        <a:pt x="6" y="22"/>
                      </a:lnTo>
                      <a:lnTo>
                        <a:pt x="17" y="22"/>
                      </a:lnTo>
                      <a:lnTo>
                        <a:pt x="27" y="23"/>
                      </a:lnTo>
                      <a:lnTo>
                        <a:pt x="41" y="25"/>
                      </a:lnTo>
                      <a:lnTo>
                        <a:pt x="58" y="28"/>
                      </a:lnTo>
                      <a:lnTo>
                        <a:pt x="74" y="31"/>
                      </a:lnTo>
                      <a:lnTo>
                        <a:pt x="91" y="36"/>
                      </a:lnTo>
                      <a:lnTo>
                        <a:pt x="110" y="42"/>
                      </a:lnTo>
                      <a:lnTo>
                        <a:pt x="116" y="20"/>
                      </a:lnTo>
                      <a:lnTo>
                        <a:pt x="97" y="14"/>
                      </a:lnTo>
                      <a:lnTo>
                        <a:pt x="80" y="9"/>
                      </a:lnTo>
                      <a:lnTo>
                        <a:pt x="61" y="6"/>
                      </a:lnTo>
                      <a:lnTo>
                        <a:pt x="44" y="3"/>
                      </a:lnTo>
                      <a:lnTo>
                        <a:pt x="30" y="1"/>
                      </a:lnTo>
                      <a:lnTo>
                        <a:pt x="17" y="0"/>
                      </a:lnTo>
                      <a:lnTo>
                        <a:pt x="6" y="0"/>
                      </a:lnTo>
                      <a:lnTo>
                        <a:pt x="0" y="0"/>
                      </a:lnTo>
                      <a:lnTo>
                        <a:pt x="0" y="22"/>
                      </a:lnTo>
                      <a:close/>
                    </a:path>
                  </a:pathLst>
                </a:custGeom>
                <a:solidFill>
                  <a:srgbClr val="000000"/>
                </a:solidFill>
                <a:ln w="9525">
                  <a:noFill/>
                  <a:round/>
                  <a:headEnd/>
                  <a:tailEnd/>
                </a:ln>
              </p:spPr>
              <p:txBody>
                <a:bodyPr/>
                <a:lstStyle/>
                <a:p>
                  <a:endParaRPr lang="en-US"/>
                </a:p>
              </p:txBody>
            </p:sp>
            <p:sp>
              <p:nvSpPr>
                <p:cNvPr id="29868" name="Freeform 129"/>
                <p:cNvSpPr>
                  <a:spLocks/>
                </p:cNvSpPr>
                <p:nvPr/>
              </p:nvSpPr>
              <p:spPr bwMode="auto">
                <a:xfrm>
                  <a:off x="2041" y="3734"/>
                  <a:ext cx="12" cy="15"/>
                </a:xfrm>
                <a:custGeom>
                  <a:avLst/>
                  <a:gdLst>
                    <a:gd name="T0" fmla="*/ 0 w 25"/>
                    <a:gd name="T1" fmla="*/ 1 h 28"/>
                    <a:gd name="T2" fmla="*/ 0 w 25"/>
                    <a:gd name="T3" fmla="*/ 1 h 28"/>
                    <a:gd name="T4" fmla="*/ 0 w 25"/>
                    <a:gd name="T5" fmla="*/ 1 h 28"/>
                    <a:gd name="T6" fmla="*/ 0 w 25"/>
                    <a:gd name="T7" fmla="*/ 1 h 28"/>
                    <a:gd name="T8" fmla="*/ 0 w 25"/>
                    <a:gd name="T9" fmla="*/ 1 h 28"/>
                    <a:gd name="T10" fmla="*/ 0 w 25"/>
                    <a:gd name="T11" fmla="*/ 1 h 28"/>
                    <a:gd name="T12" fmla="*/ 0 w 25"/>
                    <a:gd name="T13" fmla="*/ 0 h 28"/>
                    <a:gd name="T14" fmla="*/ 0 w 25"/>
                    <a:gd name="T15" fmla="*/ 1 h 28"/>
                    <a:gd name="T16" fmla="*/ 0 w 25"/>
                    <a:gd name="T17" fmla="*/ 1 h 28"/>
                    <a:gd name="T18" fmla="*/ 0 w 25"/>
                    <a:gd name="T19" fmla="*/ 1 h 28"/>
                    <a:gd name="T20" fmla="*/ 0 w 25"/>
                    <a:gd name="T21" fmla="*/ 1 h 28"/>
                    <a:gd name="T22" fmla="*/ 0 w 25"/>
                    <a:gd name="T23" fmla="*/ 1 h 28"/>
                    <a:gd name="T24" fmla="*/ 0 w 25"/>
                    <a:gd name="T25" fmla="*/ 1 h 28"/>
                    <a:gd name="T26" fmla="*/ 0 w 25"/>
                    <a:gd name="T27" fmla="*/ 1 h 28"/>
                    <a:gd name="T28" fmla="*/ 0 w 25"/>
                    <a:gd name="T29" fmla="*/ 1 h 28"/>
                    <a:gd name="T30" fmla="*/ 0 w 25"/>
                    <a:gd name="T31" fmla="*/ 1 h 28"/>
                    <a:gd name="T32" fmla="*/ 0 w 25"/>
                    <a:gd name="T33" fmla="*/ 1 h 28"/>
                    <a:gd name="T34" fmla="*/ 0 w 25"/>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8"/>
                    <a:gd name="T56" fmla="*/ 25 w 25"/>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8">
                      <a:moveTo>
                        <a:pt x="22" y="19"/>
                      </a:moveTo>
                      <a:lnTo>
                        <a:pt x="22" y="17"/>
                      </a:lnTo>
                      <a:lnTo>
                        <a:pt x="20" y="20"/>
                      </a:lnTo>
                      <a:lnTo>
                        <a:pt x="17" y="23"/>
                      </a:lnTo>
                      <a:lnTo>
                        <a:pt x="20" y="23"/>
                      </a:lnTo>
                      <a:lnTo>
                        <a:pt x="25" y="22"/>
                      </a:lnTo>
                      <a:lnTo>
                        <a:pt x="25" y="0"/>
                      </a:lnTo>
                      <a:lnTo>
                        <a:pt x="14" y="1"/>
                      </a:lnTo>
                      <a:lnTo>
                        <a:pt x="8" y="5"/>
                      </a:lnTo>
                      <a:lnTo>
                        <a:pt x="1" y="11"/>
                      </a:lnTo>
                      <a:lnTo>
                        <a:pt x="0" y="17"/>
                      </a:lnTo>
                      <a:lnTo>
                        <a:pt x="0" y="16"/>
                      </a:lnTo>
                      <a:lnTo>
                        <a:pt x="0" y="17"/>
                      </a:lnTo>
                      <a:lnTo>
                        <a:pt x="3" y="25"/>
                      </a:lnTo>
                      <a:lnTo>
                        <a:pt x="11" y="28"/>
                      </a:lnTo>
                      <a:lnTo>
                        <a:pt x="19" y="25"/>
                      </a:lnTo>
                      <a:lnTo>
                        <a:pt x="22" y="17"/>
                      </a:lnTo>
                      <a:lnTo>
                        <a:pt x="22" y="19"/>
                      </a:lnTo>
                      <a:close/>
                    </a:path>
                  </a:pathLst>
                </a:custGeom>
                <a:solidFill>
                  <a:srgbClr val="000000"/>
                </a:solidFill>
                <a:ln w="9525">
                  <a:noFill/>
                  <a:round/>
                  <a:headEnd/>
                  <a:tailEnd/>
                </a:ln>
              </p:spPr>
              <p:txBody>
                <a:bodyPr/>
                <a:lstStyle/>
                <a:p>
                  <a:endParaRPr lang="en-US"/>
                </a:p>
              </p:txBody>
            </p:sp>
            <p:sp>
              <p:nvSpPr>
                <p:cNvPr id="29869" name="Freeform 130"/>
                <p:cNvSpPr>
                  <a:spLocks/>
                </p:cNvSpPr>
                <p:nvPr/>
              </p:nvSpPr>
              <p:spPr bwMode="auto">
                <a:xfrm>
                  <a:off x="2040" y="3742"/>
                  <a:ext cx="12" cy="13"/>
                </a:xfrm>
                <a:custGeom>
                  <a:avLst/>
                  <a:gdLst>
                    <a:gd name="T0" fmla="*/ 1 w 24"/>
                    <a:gd name="T1" fmla="*/ 1 h 25"/>
                    <a:gd name="T2" fmla="*/ 1 w 24"/>
                    <a:gd name="T3" fmla="*/ 1 h 25"/>
                    <a:gd name="T4" fmla="*/ 1 w 24"/>
                    <a:gd name="T5" fmla="*/ 1 h 25"/>
                    <a:gd name="T6" fmla="*/ 1 w 24"/>
                    <a:gd name="T7" fmla="*/ 0 h 25"/>
                    <a:gd name="T8" fmla="*/ 0 w 24"/>
                    <a:gd name="T9" fmla="*/ 1 h 25"/>
                    <a:gd name="T10" fmla="*/ 0 w 24"/>
                    <a:gd name="T11" fmla="*/ 1 h 25"/>
                    <a:gd name="T12" fmla="*/ 0 w 24"/>
                    <a:gd name="T13" fmla="*/ 1 h 25"/>
                    <a:gd name="T14" fmla="*/ 1 w 24"/>
                    <a:gd name="T15" fmla="*/ 1 h 25"/>
                    <a:gd name="T16" fmla="*/ 1 w 24"/>
                    <a:gd name="T17" fmla="*/ 1 h 25"/>
                    <a:gd name="T18" fmla="*/ 1 w 24"/>
                    <a:gd name="T19" fmla="*/ 1 h 25"/>
                    <a:gd name="T20" fmla="*/ 1 w 24"/>
                    <a:gd name="T21" fmla="*/ 1 h 25"/>
                    <a:gd name="T22" fmla="*/ 1 w 24"/>
                    <a:gd name="T23" fmla="*/ 1 h 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5"/>
                    <a:gd name="T38" fmla="*/ 24 w 24"/>
                    <a:gd name="T39" fmla="*/ 25 h 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5">
                      <a:moveTo>
                        <a:pt x="22" y="14"/>
                      </a:moveTo>
                      <a:lnTo>
                        <a:pt x="22" y="15"/>
                      </a:lnTo>
                      <a:lnTo>
                        <a:pt x="24" y="3"/>
                      </a:lnTo>
                      <a:lnTo>
                        <a:pt x="2" y="0"/>
                      </a:lnTo>
                      <a:lnTo>
                        <a:pt x="0" y="12"/>
                      </a:lnTo>
                      <a:lnTo>
                        <a:pt x="0" y="14"/>
                      </a:lnTo>
                      <a:lnTo>
                        <a:pt x="0" y="12"/>
                      </a:lnTo>
                      <a:lnTo>
                        <a:pt x="3" y="20"/>
                      </a:lnTo>
                      <a:lnTo>
                        <a:pt x="10" y="25"/>
                      </a:lnTo>
                      <a:lnTo>
                        <a:pt x="18" y="23"/>
                      </a:lnTo>
                      <a:lnTo>
                        <a:pt x="22" y="15"/>
                      </a:lnTo>
                      <a:lnTo>
                        <a:pt x="22" y="14"/>
                      </a:lnTo>
                      <a:close/>
                    </a:path>
                  </a:pathLst>
                </a:custGeom>
                <a:solidFill>
                  <a:srgbClr val="000000"/>
                </a:solidFill>
                <a:ln w="9525">
                  <a:noFill/>
                  <a:round/>
                  <a:headEnd/>
                  <a:tailEnd/>
                </a:ln>
              </p:spPr>
              <p:txBody>
                <a:bodyPr/>
                <a:lstStyle/>
                <a:p>
                  <a:endParaRPr lang="en-US"/>
                </a:p>
              </p:txBody>
            </p:sp>
            <p:sp>
              <p:nvSpPr>
                <p:cNvPr id="29870" name="Freeform 131"/>
                <p:cNvSpPr>
                  <a:spLocks/>
                </p:cNvSpPr>
                <p:nvPr/>
              </p:nvSpPr>
              <p:spPr bwMode="auto">
                <a:xfrm>
                  <a:off x="2040" y="3749"/>
                  <a:ext cx="14" cy="91"/>
                </a:xfrm>
                <a:custGeom>
                  <a:avLst/>
                  <a:gdLst>
                    <a:gd name="T0" fmla="*/ 0 w 29"/>
                    <a:gd name="T1" fmla="*/ 1 h 181"/>
                    <a:gd name="T2" fmla="*/ 0 w 29"/>
                    <a:gd name="T3" fmla="*/ 1 h 181"/>
                    <a:gd name="T4" fmla="*/ 0 w 29"/>
                    <a:gd name="T5" fmla="*/ 0 h 181"/>
                    <a:gd name="T6" fmla="*/ 0 w 29"/>
                    <a:gd name="T7" fmla="*/ 0 h 181"/>
                    <a:gd name="T8" fmla="*/ 0 w 29"/>
                    <a:gd name="T9" fmla="*/ 1 h 181"/>
                    <a:gd name="T10" fmla="*/ 0 w 29"/>
                    <a:gd name="T11" fmla="*/ 1 h 181"/>
                    <a:gd name="T12" fmla="*/ 0 w 29"/>
                    <a:gd name="T13" fmla="*/ 1 h 181"/>
                    <a:gd name="T14" fmla="*/ 0 w 29"/>
                    <a:gd name="T15" fmla="*/ 1 h 181"/>
                    <a:gd name="T16" fmla="*/ 0 w 29"/>
                    <a:gd name="T17" fmla="*/ 1 h 181"/>
                    <a:gd name="T18" fmla="*/ 0 w 29"/>
                    <a:gd name="T19" fmla="*/ 1 h 181"/>
                    <a:gd name="T20" fmla="*/ 0 w 29"/>
                    <a:gd name="T21" fmla="*/ 1 h 181"/>
                    <a:gd name="T22" fmla="*/ 0 w 29"/>
                    <a:gd name="T23" fmla="*/ 1 h 18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
                    <a:gd name="T37" fmla="*/ 0 h 181"/>
                    <a:gd name="T38" fmla="*/ 29 w 29"/>
                    <a:gd name="T39" fmla="*/ 181 h 18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 h="181">
                      <a:moveTo>
                        <a:pt x="24" y="180"/>
                      </a:moveTo>
                      <a:lnTo>
                        <a:pt x="29" y="170"/>
                      </a:lnTo>
                      <a:lnTo>
                        <a:pt x="22" y="0"/>
                      </a:lnTo>
                      <a:lnTo>
                        <a:pt x="0" y="0"/>
                      </a:lnTo>
                      <a:lnTo>
                        <a:pt x="7" y="170"/>
                      </a:lnTo>
                      <a:lnTo>
                        <a:pt x="11" y="161"/>
                      </a:lnTo>
                      <a:lnTo>
                        <a:pt x="7" y="170"/>
                      </a:lnTo>
                      <a:lnTo>
                        <a:pt x="10" y="178"/>
                      </a:lnTo>
                      <a:lnTo>
                        <a:pt x="18" y="181"/>
                      </a:lnTo>
                      <a:lnTo>
                        <a:pt x="25" y="178"/>
                      </a:lnTo>
                      <a:lnTo>
                        <a:pt x="29" y="170"/>
                      </a:lnTo>
                      <a:lnTo>
                        <a:pt x="24" y="180"/>
                      </a:lnTo>
                      <a:close/>
                    </a:path>
                  </a:pathLst>
                </a:custGeom>
                <a:solidFill>
                  <a:srgbClr val="000000"/>
                </a:solidFill>
                <a:ln w="9525">
                  <a:noFill/>
                  <a:round/>
                  <a:headEnd/>
                  <a:tailEnd/>
                </a:ln>
              </p:spPr>
              <p:txBody>
                <a:bodyPr/>
                <a:lstStyle/>
                <a:p>
                  <a:endParaRPr lang="en-US"/>
                </a:p>
              </p:txBody>
            </p:sp>
            <p:sp>
              <p:nvSpPr>
                <p:cNvPr id="29871" name="Freeform 132"/>
                <p:cNvSpPr>
                  <a:spLocks/>
                </p:cNvSpPr>
                <p:nvPr/>
              </p:nvSpPr>
              <p:spPr bwMode="auto">
                <a:xfrm>
                  <a:off x="2018" y="3830"/>
                  <a:ext cx="34" cy="16"/>
                </a:xfrm>
                <a:custGeom>
                  <a:avLst/>
                  <a:gdLst>
                    <a:gd name="T0" fmla="*/ 0 w 67"/>
                    <a:gd name="T1" fmla="*/ 0 h 33"/>
                    <a:gd name="T2" fmla="*/ 0 w 67"/>
                    <a:gd name="T3" fmla="*/ 0 h 33"/>
                    <a:gd name="T4" fmla="*/ 1 w 67"/>
                    <a:gd name="T5" fmla="*/ 0 h 33"/>
                    <a:gd name="T6" fmla="*/ 1 w 67"/>
                    <a:gd name="T7" fmla="*/ 0 h 33"/>
                    <a:gd name="T8" fmla="*/ 1 w 67"/>
                    <a:gd name="T9" fmla="*/ 0 h 33"/>
                    <a:gd name="T10" fmla="*/ 1 w 67"/>
                    <a:gd name="T11" fmla="*/ 0 h 33"/>
                    <a:gd name="T12" fmla="*/ 1 w 67"/>
                    <a:gd name="T13" fmla="*/ 0 h 33"/>
                    <a:gd name="T14" fmla="*/ 1 w 67"/>
                    <a:gd name="T15" fmla="*/ 0 h 33"/>
                    <a:gd name="T16" fmla="*/ 1 w 67"/>
                    <a:gd name="T17" fmla="*/ 0 h 33"/>
                    <a:gd name="T18" fmla="*/ 1 w 67"/>
                    <a:gd name="T19" fmla="*/ 0 h 33"/>
                    <a:gd name="T20" fmla="*/ 1 w 67"/>
                    <a:gd name="T21" fmla="*/ 0 h 33"/>
                    <a:gd name="T22" fmla="*/ 1 w 67"/>
                    <a:gd name="T23" fmla="*/ 0 h 33"/>
                    <a:gd name="T24" fmla="*/ 1 w 67"/>
                    <a:gd name="T25" fmla="*/ 0 h 33"/>
                    <a:gd name="T26" fmla="*/ 1 w 67"/>
                    <a:gd name="T27" fmla="*/ 0 h 33"/>
                    <a:gd name="T28" fmla="*/ 1 w 67"/>
                    <a:gd name="T29" fmla="*/ 0 h 33"/>
                    <a:gd name="T30" fmla="*/ 1 w 67"/>
                    <a:gd name="T31" fmla="*/ 0 h 33"/>
                    <a:gd name="T32" fmla="*/ 1 w 67"/>
                    <a:gd name="T33" fmla="*/ 0 h 33"/>
                    <a:gd name="T34" fmla="*/ 1 w 67"/>
                    <a:gd name="T35" fmla="*/ 0 h 33"/>
                    <a:gd name="T36" fmla="*/ 1 w 67"/>
                    <a:gd name="T37" fmla="*/ 0 h 33"/>
                    <a:gd name="T38" fmla="*/ 1 w 67"/>
                    <a:gd name="T39" fmla="*/ 0 h 33"/>
                    <a:gd name="T40" fmla="*/ 0 w 67"/>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7"/>
                    <a:gd name="T64" fmla="*/ 0 h 33"/>
                    <a:gd name="T65" fmla="*/ 67 w 67"/>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7" h="33">
                      <a:moveTo>
                        <a:pt x="0" y="33"/>
                      </a:moveTo>
                      <a:lnTo>
                        <a:pt x="0" y="33"/>
                      </a:lnTo>
                      <a:lnTo>
                        <a:pt x="15" y="33"/>
                      </a:lnTo>
                      <a:lnTo>
                        <a:pt x="28" y="33"/>
                      </a:lnTo>
                      <a:lnTo>
                        <a:pt x="40" y="29"/>
                      </a:lnTo>
                      <a:lnTo>
                        <a:pt x="48" y="28"/>
                      </a:lnTo>
                      <a:lnTo>
                        <a:pt x="56" y="25"/>
                      </a:lnTo>
                      <a:lnTo>
                        <a:pt x="64" y="22"/>
                      </a:lnTo>
                      <a:lnTo>
                        <a:pt x="67" y="17"/>
                      </a:lnTo>
                      <a:lnTo>
                        <a:pt x="67" y="19"/>
                      </a:lnTo>
                      <a:lnTo>
                        <a:pt x="54" y="0"/>
                      </a:lnTo>
                      <a:lnTo>
                        <a:pt x="51" y="1"/>
                      </a:lnTo>
                      <a:lnTo>
                        <a:pt x="51" y="3"/>
                      </a:lnTo>
                      <a:lnTo>
                        <a:pt x="50" y="3"/>
                      </a:lnTo>
                      <a:lnTo>
                        <a:pt x="42" y="6"/>
                      </a:lnTo>
                      <a:lnTo>
                        <a:pt x="34" y="8"/>
                      </a:lnTo>
                      <a:lnTo>
                        <a:pt x="25" y="11"/>
                      </a:lnTo>
                      <a:lnTo>
                        <a:pt x="15" y="11"/>
                      </a:lnTo>
                      <a:lnTo>
                        <a:pt x="3" y="11"/>
                      </a:lnTo>
                      <a:lnTo>
                        <a:pt x="0" y="33"/>
                      </a:lnTo>
                      <a:close/>
                    </a:path>
                  </a:pathLst>
                </a:custGeom>
                <a:solidFill>
                  <a:srgbClr val="000000"/>
                </a:solidFill>
                <a:ln w="9525">
                  <a:noFill/>
                  <a:round/>
                  <a:headEnd/>
                  <a:tailEnd/>
                </a:ln>
              </p:spPr>
              <p:txBody>
                <a:bodyPr/>
                <a:lstStyle/>
                <a:p>
                  <a:endParaRPr lang="en-US"/>
                </a:p>
              </p:txBody>
            </p:sp>
            <p:sp>
              <p:nvSpPr>
                <p:cNvPr id="29872" name="Freeform 133"/>
                <p:cNvSpPr>
                  <a:spLocks/>
                </p:cNvSpPr>
                <p:nvPr/>
              </p:nvSpPr>
              <p:spPr bwMode="auto">
                <a:xfrm>
                  <a:off x="1992" y="3831"/>
                  <a:ext cx="28" cy="15"/>
                </a:xfrm>
                <a:custGeom>
                  <a:avLst/>
                  <a:gdLst>
                    <a:gd name="T0" fmla="*/ 0 w 57"/>
                    <a:gd name="T1" fmla="*/ 0 h 32"/>
                    <a:gd name="T2" fmla="*/ 0 w 57"/>
                    <a:gd name="T3" fmla="*/ 0 h 32"/>
                    <a:gd name="T4" fmla="*/ 0 w 57"/>
                    <a:gd name="T5" fmla="*/ 0 h 32"/>
                    <a:gd name="T6" fmla="*/ 0 w 57"/>
                    <a:gd name="T7" fmla="*/ 0 h 32"/>
                    <a:gd name="T8" fmla="*/ 0 w 57"/>
                    <a:gd name="T9" fmla="*/ 0 h 32"/>
                    <a:gd name="T10" fmla="*/ 0 w 57"/>
                    <a:gd name="T11" fmla="*/ 0 h 32"/>
                    <a:gd name="T12" fmla="*/ 0 w 57"/>
                    <a:gd name="T13" fmla="*/ 0 h 32"/>
                    <a:gd name="T14" fmla="*/ 0 w 57"/>
                    <a:gd name="T15" fmla="*/ 0 h 32"/>
                    <a:gd name="T16" fmla="*/ 0 w 57"/>
                    <a:gd name="T17" fmla="*/ 0 h 32"/>
                    <a:gd name="T18" fmla="*/ 0 w 57"/>
                    <a:gd name="T19" fmla="*/ 0 h 32"/>
                    <a:gd name="T20" fmla="*/ 0 w 57"/>
                    <a:gd name="T21" fmla="*/ 0 h 32"/>
                    <a:gd name="T22" fmla="*/ 0 w 57"/>
                    <a:gd name="T23" fmla="*/ 0 h 32"/>
                    <a:gd name="T24" fmla="*/ 0 w 57"/>
                    <a:gd name="T25" fmla="*/ 0 h 32"/>
                    <a:gd name="T26" fmla="*/ 0 w 57"/>
                    <a:gd name="T27" fmla="*/ 0 h 32"/>
                    <a:gd name="T28" fmla="*/ 0 w 57"/>
                    <a:gd name="T29" fmla="*/ 0 h 32"/>
                    <a:gd name="T30" fmla="*/ 0 w 57"/>
                    <a:gd name="T31" fmla="*/ 0 h 32"/>
                    <a:gd name="T32" fmla="*/ 0 w 57"/>
                    <a:gd name="T33" fmla="*/ 0 h 32"/>
                    <a:gd name="T34" fmla="*/ 0 w 57"/>
                    <a:gd name="T35" fmla="*/ 0 h 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7"/>
                    <a:gd name="T55" fmla="*/ 0 h 32"/>
                    <a:gd name="T56" fmla="*/ 57 w 57"/>
                    <a:gd name="T57" fmla="*/ 32 h 3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7" h="32">
                      <a:moveTo>
                        <a:pt x="0" y="13"/>
                      </a:moveTo>
                      <a:lnTo>
                        <a:pt x="2" y="18"/>
                      </a:lnTo>
                      <a:lnTo>
                        <a:pt x="8" y="24"/>
                      </a:lnTo>
                      <a:lnTo>
                        <a:pt x="16" y="25"/>
                      </a:lnTo>
                      <a:lnTo>
                        <a:pt x="30" y="28"/>
                      </a:lnTo>
                      <a:lnTo>
                        <a:pt x="54" y="32"/>
                      </a:lnTo>
                      <a:lnTo>
                        <a:pt x="57" y="10"/>
                      </a:lnTo>
                      <a:lnTo>
                        <a:pt x="33" y="7"/>
                      </a:lnTo>
                      <a:lnTo>
                        <a:pt x="22" y="3"/>
                      </a:lnTo>
                      <a:lnTo>
                        <a:pt x="17" y="2"/>
                      </a:lnTo>
                      <a:lnTo>
                        <a:pt x="21" y="5"/>
                      </a:lnTo>
                      <a:lnTo>
                        <a:pt x="22" y="10"/>
                      </a:lnTo>
                      <a:lnTo>
                        <a:pt x="21" y="5"/>
                      </a:lnTo>
                      <a:lnTo>
                        <a:pt x="13" y="0"/>
                      </a:lnTo>
                      <a:lnTo>
                        <a:pt x="5" y="2"/>
                      </a:lnTo>
                      <a:lnTo>
                        <a:pt x="0" y="8"/>
                      </a:lnTo>
                      <a:lnTo>
                        <a:pt x="2" y="18"/>
                      </a:lnTo>
                      <a:lnTo>
                        <a:pt x="0" y="13"/>
                      </a:lnTo>
                      <a:close/>
                    </a:path>
                  </a:pathLst>
                </a:custGeom>
                <a:solidFill>
                  <a:srgbClr val="000000"/>
                </a:solidFill>
                <a:ln w="9525">
                  <a:noFill/>
                  <a:round/>
                  <a:headEnd/>
                  <a:tailEnd/>
                </a:ln>
              </p:spPr>
              <p:txBody>
                <a:bodyPr/>
                <a:lstStyle/>
                <a:p>
                  <a:endParaRPr lang="en-US"/>
                </a:p>
              </p:txBody>
            </p:sp>
            <p:sp>
              <p:nvSpPr>
                <p:cNvPr id="29873" name="Freeform 134"/>
                <p:cNvSpPr>
                  <a:spLocks/>
                </p:cNvSpPr>
                <p:nvPr/>
              </p:nvSpPr>
              <p:spPr bwMode="auto">
                <a:xfrm>
                  <a:off x="1985" y="3754"/>
                  <a:ext cx="18" cy="83"/>
                </a:xfrm>
                <a:custGeom>
                  <a:avLst/>
                  <a:gdLst>
                    <a:gd name="T0" fmla="*/ 0 w 36"/>
                    <a:gd name="T1" fmla="*/ 0 h 166"/>
                    <a:gd name="T2" fmla="*/ 0 w 36"/>
                    <a:gd name="T3" fmla="*/ 0 h 166"/>
                    <a:gd name="T4" fmla="*/ 0 w 36"/>
                    <a:gd name="T5" fmla="*/ 1 h 166"/>
                    <a:gd name="T6" fmla="*/ 1 w 36"/>
                    <a:gd name="T7" fmla="*/ 1 h 166"/>
                    <a:gd name="T8" fmla="*/ 1 w 36"/>
                    <a:gd name="T9" fmla="*/ 1 h 166"/>
                    <a:gd name="T10" fmla="*/ 1 w 36"/>
                    <a:gd name="T11" fmla="*/ 1 h 166"/>
                    <a:gd name="T12" fmla="*/ 1 w 36"/>
                    <a:gd name="T13" fmla="*/ 1 h 166"/>
                    <a:gd name="T14" fmla="*/ 1 w 36"/>
                    <a:gd name="T15" fmla="*/ 1 h 166"/>
                    <a:gd name="T16" fmla="*/ 1 w 36"/>
                    <a:gd name="T17" fmla="*/ 1 h 166"/>
                    <a:gd name="T18" fmla="*/ 1 w 36"/>
                    <a:gd name="T19" fmla="*/ 1 h 166"/>
                    <a:gd name="T20" fmla="*/ 1 w 36"/>
                    <a:gd name="T21" fmla="*/ 1 h 166"/>
                    <a:gd name="T22" fmla="*/ 1 w 36"/>
                    <a:gd name="T23" fmla="*/ 1 h 166"/>
                    <a:gd name="T24" fmla="*/ 1 w 36"/>
                    <a:gd name="T25" fmla="*/ 1 h 166"/>
                    <a:gd name="T26" fmla="*/ 1 w 36"/>
                    <a:gd name="T27" fmla="*/ 1 h 166"/>
                    <a:gd name="T28" fmla="*/ 1 w 36"/>
                    <a:gd name="T29" fmla="*/ 1 h 166"/>
                    <a:gd name="T30" fmla="*/ 1 w 36"/>
                    <a:gd name="T31" fmla="*/ 1 h 166"/>
                    <a:gd name="T32" fmla="*/ 1 w 36"/>
                    <a:gd name="T33" fmla="*/ 1 h 166"/>
                    <a:gd name="T34" fmla="*/ 1 w 36"/>
                    <a:gd name="T35" fmla="*/ 1 h 166"/>
                    <a:gd name="T36" fmla="*/ 1 w 36"/>
                    <a:gd name="T37" fmla="*/ 1 h 166"/>
                    <a:gd name="T38" fmla="*/ 1 w 36"/>
                    <a:gd name="T39" fmla="*/ 1 h 166"/>
                    <a:gd name="T40" fmla="*/ 0 w 36"/>
                    <a:gd name="T41" fmla="*/ 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6"/>
                    <a:gd name="T64" fmla="*/ 0 h 166"/>
                    <a:gd name="T65" fmla="*/ 36 w 36"/>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6" h="166">
                      <a:moveTo>
                        <a:pt x="0" y="0"/>
                      </a:moveTo>
                      <a:lnTo>
                        <a:pt x="0" y="0"/>
                      </a:lnTo>
                      <a:lnTo>
                        <a:pt x="0" y="19"/>
                      </a:lnTo>
                      <a:lnTo>
                        <a:pt x="2" y="42"/>
                      </a:lnTo>
                      <a:lnTo>
                        <a:pt x="3" y="70"/>
                      </a:lnTo>
                      <a:lnTo>
                        <a:pt x="6" y="99"/>
                      </a:lnTo>
                      <a:lnTo>
                        <a:pt x="10" y="124"/>
                      </a:lnTo>
                      <a:lnTo>
                        <a:pt x="11" y="145"/>
                      </a:lnTo>
                      <a:lnTo>
                        <a:pt x="14" y="160"/>
                      </a:lnTo>
                      <a:lnTo>
                        <a:pt x="14" y="166"/>
                      </a:lnTo>
                      <a:lnTo>
                        <a:pt x="36" y="163"/>
                      </a:lnTo>
                      <a:lnTo>
                        <a:pt x="36" y="156"/>
                      </a:lnTo>
                      <a:lnTo>
                        <a:pt x="33" y="142"/>
                      </a:lnTo>
                      <a:lnTo>
                        <a:pt x="31" y="120"/>
                      </a:lnTo>
                      <a:lnTo>
                        <a:pt x="28" y="95"/>
                      </a:lnTo>
                      <a:lnTo>
                        <a:pt x="25" y="67"/>
                      </a:lnTo>
                      <a:lnTo>
                        <a:pt x="24" y="42"/>
                      </a:lnTo>
                      <a:lnTo>
                        <a:pt x="22" y="19"/>
                      </a:lnTo>
                      <a:lnTo>
                        <a:pt x="22" y="3"/>
                      </a:lnTo>
                      <a:lnTo>
                        <a:pt x="0" y="0"/>
                      </a:lnTo>
                      <a:close/>
                    </a:path>
                  </a:pathLst>
                </a:custGeom>
                <a:solidFill>
                  <a:srgbClr val="000000"/>
                </a:solidFill>
                <a:ln w="9525">
                  <a:noFill/>
                  <a:round/>
                  <a:headEnd/>
                  <a:tailEnd/>
                </a:ln>
              </p:spPr>
              <p:txBody>
                <a:bodyPr/>
                <a:lstStyle/>
                <a:p>
                  <a:endParaRPr lang="en-US"/>
                </a:p>
              </p:txBody>
            </p:sp>
            <p:sp>
              <p:nvSpPr>
                <p:cNvPr id="29874" name="Freeform 135"/>
                <p:cNvSpPr>
                  <a:spLocks/>
                </p:cNvSpPr>
                <p:nvPr/>
              </p:nvSpPr>
              <p:spPr bwMode="auto">
                <a:xfrm>
                  <a:off x="1985" y="3691"/>
                  <a:ext cx="18" cy="65"/>
                </a:xfrm>
                <a:custGeom>
                  <a:avLst/>
                  <a:gdLst>
                    <a:gd name="T0" fmla="*/ 0 w 38"/>
                    <a:gd name="T1" fmla="*/ 0 h 130"/>
                    <a:gd name="T2" fmla="*/ 0 w 38"/>
                    <a:gd name="T3" fmla="*/ 0 h 130"/>
                    <a:gd name="T4" fmla="*/ 0 w 38"/>
                    <a:gd name="T5" fmla="*/ 1 h 130"/>
                    <a:gd name="T6" fmla="*/ 0 w 38"/>
                    <a:gd name="T7" fmla="*/ 1 h 130"/>
                    <a:gd name="T8" fmla="*/ 0 w 38"/>
                    <a:gd name="T9" fmla="*/ 1 h 130"/>
                    <a:gd name="T10" fmla="*/ 0 w 38"/>
                    <a:gd name="T11" fmla="*/ 1 h 130"/>
                    <a:gd name="T12" fmla="*/ 0 w 38"/>
                    <a:gd name="T13" fmla="*/ 1 h 130"/>
                    <a:gd name="T14" fmla="*/ 0 w 38"/>
                    <a:gd name="T15" fmla="*/ 1 h 130"/>
                    <a:gd name="T16" fmla="*/ 0 w 38"/>
                    <a:gd name="T17" fmla="*/ 1 h 130"/>
                    <a:gd name="T18" fmla="*/ 0 w 38"/>
                    <a:gd name="T19" fmla="*/ 1 h 130"/>
                    <a:gd name="T20" fmla="*/ 0 w 38"/>
                    <a:gd name="T21" fmla="*/ 1 h 130"/>
                    <a:gd name="T22" fmla="*/ 0 w 38"/>
                    <a:gd name="T23" fmla="*/ 1 h 130"/>
                    <a:gd name="T24" fmla="*/ 0 w 38"/>
                    <a:gd name="T25" fmla="*/ 1 h 130"/>
                    <a:gd name="T26" fmla="*/ 0 w 38"/>
                    <a:gd name="T27" fmla="*/ 1 h 130"/>
                    <a:gd name="T28" fmla="*/ 0 w 38"/>
                    <a:gd name="T29" fmla="*/ 1 h 130"/>
                    <a:gd name="T30" fmla="*/ 0 w 38"/>
                    <a:gd name="T31" fmla="*/ 1 h 130"/>
                    <a:gd name="T32" fmla="*/ 0 w 38"/>
                    <a:gd name="T33" fmla="*/ 1 h 130"/>
                    <a:gd name="T34" fmla="*/ 0 w 38"/>
                    <a:gd name="T35" fmla="*/ 1 h 130"/>
                    <a:gd name="T36" fmla="*/ 0 w 38"/>
                    <a:gd name="T37" fmla="*/ 1 h 130"/>
                    <a:gd name="T38" fmla="*/ 0 w 38"/>
                    <a:gd name="T39" fmla="*/ 1 h 130"/>
                    <a:gd name="T40" fmla="*/ 0 w 38"/>
                    <a:gd name="T41" fmla="*/ 0 h 1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8"/>
                    <a:gd name="T64" fmla="*/ 0 h 130"/>
                    <a:gd name="T65" fmla="*/ 38 w 38"/>
                    <a:gd name="T66" fmla="*/ 130 h 1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8" h="130">
                      <a:moveTo>
                        <a:pt x="25" y="0"/>
                      </a:moveTo>
                      <a:lnTo>
                        <a:pt x="25" y="0"/>
                      </a:lnTo>
                      <a:lnTo>
                        <a:pt x="13" y="13"/>
                      </a:lnTo>
                      <a:lnTo>
                        <a:pt x="5" y="28"/>
                      </a:lnTo>
                      <a:lnTo>
                        <a:pt x="2" y="46"/>
                      </a:lnTo>
                      <a:lnTo>
                        <a:pt x="0" y="63"/>
                      </a:lnTo>
                      <a:lnTo>
                        <a:pt x="0" y="80"/>
                      </a:lnTo>
                      <a:lnTo>
                        <a:pt x="0" y="97"/>
                      </a:lnTo>
                      <a:lnTo>
                        <a:pt x="0" y="114"/>
                      </a:lnTo>
                      <a:lnTo>
                        <a:pt x="0" y="127"/>
                      </a:lnTo>
                      <a:lnTo>
                        <a:pt x="22" y="130"/>
                      </a:lnTo>
                      <a:lnTo>
                        <a:pt x="22" y="114"/>
                      </a:lnTo>
                      <a:lnTo>
                        <a:pt x="22" y="97"/>
                      </a:lnTo>
                      <a:lnTo>
                        <a:pt x="22" y="80"/>
                      </a:lnTo>
                      <a:lnTo>
                        <a:pt x="22" y="63"/>
                      </a:lnTo>
                      <a:lnTo>
                        <a:pt x="24" y="49"/>
                      </a:lnTo>
                      <a:lnTo>
                        <a:pt x="27" y="35"/>
                      </a:lnTo>
                      <a:lnTo>
                        <a:pt x="31" y="25"/>
                      </a:lnTo>
                      <a:lnTo>
                        <a:pt x="38" y="19"/>
                      </a:lnTo>
                      <a:lnTo>
                        <a:pt x="25" y="0"/>
                      </a:lnTo>
                      <a:close/>
                    </a:path>
                  </a:pathLst>
                </a:custGeom>
                <a:solidFill>
                  <a:srgbClr val="000000"/>
                </a:solidFill>
                <a:ln w="9525">
                  <a:noFill/>
                  <a:round/>
                  <a:headEnd/>
                  <a:tailEnd/>
                </a:ln>
              </p:spPr>
              <p:txBody>
                <a:bodyPr/>
                <a:lstStyle/>
                <a:p>
                  <a:endParaRPr lang="en-US"/>
                </a:p>
              </p:txBody>
            </p:sp>
            <p:sp>
              <p:nvSpPr>
                <p:cNvPr id="29875" name="Freeform 136"/>
                <p:cNvSpPr>
                  <a:spLocks/>
                </p:cNvSpPr>
                <p:nvPr/>
              </p:nvSpPr>
              <p:spPr bwMode="auto">
                <a:xfrm>
                  <a:off x="1997" y="3676"/>
                  <a:ext cx="119" cy="24"/>
                </a:xfrm>
                <a:custGeom>
                  <a:avLst/>
                  <a:gdLst>
                    <a:gd name="T0" fmla="*/ 1 w 238"/>
                    <a:gd name="T1" fmla="*/ 1 h 48"/>
                    <a:gd name="T2" fmla="*/ 1 w 238"/>
                    <a:gd name="T3" fmla="*/ 1 h 48"/>
                    <a:gd name="T4" fmla="*/ 1 w 238"/>
                    <a:gd name="T5" fmla="*/ 1 h 48"/>
                    <a:gd name="T6" fmla="*/ 1 w 238"/>
                    <a:gd name="T7" fmla="*/ 0 h 48"/>
                    <a:gd name="T8" fmla="*/ 1 w 238"/>
                    <a:gd name="T9" fmla="*/ 0 h 48"/>
                    <a:gd name="T10" fmla="*/ 1 w 238"/>
                    <a:gd name="T11" fmla="*/ 1 h 48"/>
                    <a:gd name="T12" fmla="*/ 1 w 238"/>
                    <a:gd name="T13" fmla="*/ 1 h 48"/>
                    <a:gd name="T14" fmla="*/ 1 w 238"/>
                    <a:gd name="T15" fmla="*/ 1 h 48"/>
                    <a:gd name="T16" fmla="*/ 1 w 238"/>
                    <a:gd name="T17" fmla="*/ 1 h 48"/>
                    <a:gd name="T18" fmla="*/ 0 w 238"/>
                    <a:gd name="T19" fmla="*/ 1 h 48"/>
                    <a:gd name="T20" fmla="*/ 1 w 238"/>
                    <a:gd name="T21" fmla="*/ 1 h 48"/>
                    <a:gd name="T22" fmla="*/ 1 w 238"/>
                    <a:gd name="T23" fmla="*/ 1 h 48"/>
                    <a:gd name="T24" fmla="*/ 1 w 238"/>
                    <a:gd name="T25" fmla="*/ 1 h 48"/>
                    <a:gd name="T26" fmla="*/ 1 w 238"/>
                    <a:gd name="T27" fmla="*/ 1 h 48"/>
                    <a:gd name="T28" fmla="*/ 1 w 238"/>
                    <a:gd name="T29" fmla="*/ 1 h 48"/>
                    <a:gd name="T30" fmla="*/ 1 w 238"/>
                    <a:gd name="T31" fmla="*/ 1 h 48"/>
                    <a:gd name="T32" fmla="*/ 1 w 238"/>
                    <a:gd name="T33" fmla="*/ 1 h 48"/>
                    <a:gd name="T34" fmla="*/ 1 w 238"/>
                    <a:gd name="T35" fmla="*/ 1 h 48"/>
                    <a:gd name="T36" fmla="*/ 1 w 238"/>
                    <a:gd name="T37" fmla="*/ 1 h 48"/>
                    <a:gd name="T38" fmla="*/ 1 w 238"/>
                    <a:gd name="T39" fmla="*/ 1 h 48"/>
                    <a:gd name="T40" fmla="*/ 1 w 238"/>
                    <a:gd name="T41" fmla="*/ 1 h 4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38"/>
                    <a:gd name="T64" fmla="*/ 0 h 48"/>
                    <a:gd name="T65" fmla="*/ 238 w 238"/>
                    <a:gd name="T66" fmla="*/ 48 h 4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38" h="48">
                      <a:moveTo>
                        <a:pt x="235" y="26"/>
                      </a:moveTo>
                      <a:lnTo>
                        <a:pt x="238" y="4"/>
                      </a:lnTo>
                      <a:lnTo>
                        <a:pt x="198" y="1"/>
                      </a:lnTo>
                      <a:lnTo>
                        <a:pt x="160" y="0"/>
                      </a:lnTo>
                      <a:lnTo>
                        <a:pt x="125" y="0"/>
                      </a:lnTo>
                      <a:lnTo>
                        <a:pt x="93" y="3"/>
                      </a:lnTo>
                      <a:lnTo>
                        <a:pt x="63" y="7"/>
                      </a:lnTo>
                      <a:lnTo>
                        <a:pt x="38" y="14"/>
                      </a:lnTo>
                      <a:lnTo>
                        <a:pt x="16" y="21"/>
                      </a:lnTo>
                      <a:lnTo>
                        <a:pt x="0" y="29"/>
                      </a:lnTo>
                      <a:lnTo>
                        <a:pt x="13" y="48"/>
                      </a:lnTo>
                      <a:lnTo>
                        <a:pt x="25" y="40"/>
                      </a:lnTo>
                      <a:lnTo>
                        <a:pt x="44" y="36"/>
                      </a:lnTo>
                      <a:lnTo>
                        <a:pt x="66" y="29"/>
                      </a:lnTo>
                      <a:lnTo>
                        <a:pt x="96" y="25"/>
                      </a:lnTo>
                      <a:lnTo>
                        <a:pt x="125" y="21"/>
                      </a:lnTo>
                      <a:lnTo>
                        <a:pt x="160" y="21"/>
                      </a:lnTo>
                      <a:lnTo>
                        <a:pt x="198" y="23"/>
                      </a:lnTo>
                      <a:lnTo>
                        <a:pt x="235" y="26"/>
                      </a:lnTo>
                      <a:lnTo>
                        <a:pt x="238" y="4"/>
                      </a:lnTo>
                      <a:lnTo>
                        <a:pt x="235" y="26"/>
                      </a:lnTo>
                      <a:close/>
                    </a:path>
                  </a:pathLst>
                </a:custGeom>
                <a:solidFill>
                  <a:srgbClr val="000000"/>
                </a:solidFill>
                <a:ln w="9525">
                  <a:noFill/>
                  <a:round/>
                  <a:headEnd/>
                  <a:tailEnd/>
                </a:ln>
              </p:spPr>
              <p:txBody>
                <a:bodyPr/>
                <a:lstStyle/>
                <a:p>
                  <a:endParaRPr lang="en-US"/>
                </a:p>
              </p:txBody>
            </p:sp>
            <p:sp>
              <p:nvSpPr>
                <p:cNvPr id="29876" name="Freeform 137"/>
                <p:cNvSpPr>
                  <a:spLocks/>
                </p:cNvSpPr>
                <p:nvPr/>
              </p:nvSpPr>
              <p:spPr bwMode="auto">
                <a:xfrm>
                  <a:off x="2069" y="3676"/>
                  <a:ext cx="47" cy="13"/>
                </a:xfrm>
                <a:custGeom>
                  <a:avLst/>
                  <a:gdLst>
                    <a:gd name="T0" fmla="*/ 0 w 94"/>
                    <a:gd name="T1" fmla="*/ 1 h 26"/>
                    <a:gd name="T2" fmla="*/ 0 w 94"/>
                    <a:gd name="T3" fmla="*/ 1 h 26"/>
                    <a:gd name="T4" fmla="*/ 1 w 94"/>
                    <a:gd name="T5" fmla="*/ 1 h 26"/>
                    <a:gd name="T6" fmla="*/ 1 w 94"/>
                    <a:gd name="T7" fmla="*/ 1 h 26"/>
                    <a:gd name="T8" fmla="*/ 1 w 94"/>
                    <a:gd name="T9" fmla="*/ 1 h 26"/>
                    <a:gd name="T10" fmla="*/ 1 w 94"/>
                    <a:gd name="T11" fmla="*/ 1 h 26"/>
                    <a:gd name="T12" fmla="*/ 1 w 94"/>
                    <a:gd name="T13" fmla="*/ 1 h 26"/>
                    <a:gd name="T14" fmla="*/ 1 w 94"/>
                    <a:gd name="T15" fmla="*/ 1 h 26"/>
                    <a:gd name="T16" fmla="*/ 1 w 94"/>
                    <a:gd name="T17" fmla="*/ 1 h 26"/>
                    <a:gd name="T18" fmla="*/ 1 w 94"/>
                    <a:gd name="T19" fmla="*/ 1 h 26"/>
                    <a:gd name="T20" fmla="*/ 1 w 94"/>
                    <a:gd name="T21" fmla="*/ 1 h 26"/>
                    <a:gd name="T22" fmla="*/ 1 w 94"/>
                    <a:gd name="T23" fmla="*/ 1 h 26"/>
                    <a:gd name="T24" fmla="*/ 1 w 94"/>
                    <a:gd name="T25" fmla="*/ 1 h 26"/>
                    <a:gd name="T26" fmla="*/ 1 w 94"/>
                    <a:gd name="T27" fmla="*/ 1 h 26"/>
                    <a:gd name="T28" fmla="*/ 1 w 94"/>
                    <a:gd name="T29" fmla="*/ 1 h 26"/>
                    <a:gd name="T30" fmla="*/ 1 w 94"/>
                    <a:gd name="T31" fmla="*/ 1 h 26"/>
                    <a:gd name="T32" fmla="*/ 1 w 94"/>
                    <a:gd name="T33" fmla="*/ 0 h 26"/>
                    <a:gd name="T34" fmla="*/ 1 w 94"/>
                    <a:gd name="T35" fmla="*/ 0 h 26"/>
                    <a:gd name="T36" fmla="*/ 0 w 94"/>
                    <a:gd name="T37" fmla="*/ 0 h 26"/>
                    <a:gd name="T38" fmla="*/ 0 w 94"/>
                    <a:gd name="T39" fmla="*/ 0 h 26"/>
                    <a:gd name="T40" fmla="*/ 0 w 94"/>
                    <a:gd name="T41" fmla="*/ 1 h 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26"/>
                    <a:gd name="T65" fmla="*/ 94 w 94"/>
                    <a:gd name="T66" fmla="*/ 26 h 2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26">
                      <a:moveTo>
                        <a:pt x="0" y="21"/>
                      </a:moveTo>
                      <a:lnTo>
                        <a:pt x="0" y="21"/>
                      </a:lnTo>
                      <a:lnTo>
                        <a:pt x="16" y="21"/>
                      </a:lnTo>
                      <a:lnTo>
                        <a:pt x="32" y="21"/>
                      </a:lnTo>
                      <a:lnTo>
                        <a:pt x="47" y="23"/>
                      </a:lnTo>
                      <a:lnTo>
                        <a:pt x="61" y="23"/>
                      </a:lnTo>
                      <a:lnTo>
                        <a:pt x="74" y="25"/>
                      </a:lnTo>
                      <a:lnTo>
                        <a:pt x="82" y="25"/>
                      </a:lnTo>
                      <a:lnTo>
                        <a:pt x="88" y="26"/>
                      </a:lnTo>
                      <a:lnTo>
                        <a:pt x="91" y="26"/>
                      </a:lnTo>
                      <a:lnTo>
                        <a:pt x="94" y="4"/>
                      </a:lnTo>
                      <a:lnTo>
                        <a:pt x="91" y="4"/>
                      </a:lnTo>
                      <a:lnTo>
                        <a:pt x="85" y="3"/>
                      </a:lnTo>
                      <a:lnTo>
                        <a:pt x="74" y="3"/>
                      </a:lnTo>
                      <a:lnTo>
                        <a:pt x="61" y="1"/>
                      </a:lnTo>
                      <a:lnTo>
                        <a:pt x="47" y="1"/>
                      </a:lnTo>
                      <a:lnTo>
                        <a:pt x="32" y="0"/>
                      </a:lnTo>
                      <a:lnTo>
                        <a:pt x="16" y="0"/>
                      </a:lnTo>
                      <a:lnTo>
                        <a:pt x="0" y="0"/>
                      </a:lnTo>
                      <a:lnTo>
                        <a:pt x="0" y="21"/>
                      </a:lnTo>
                      <a:close/>
                    </a:path>
                  </a:pathLst>
                </a:custGeom>
                <a:solidFill>
                  <a:srgbClr val="000000"/>
                </a:solidFill>
                <a:ln w="9525">
                  <a:noFill/>
                  <a:round/>
                  <a:headEnd/>
                  <a:tailEnd/>
                </a:ln>
              </p:spPr>
              <p:txBody>
                <a:bodyPr/>
                <a:lstStyle/>
                <a:p>
                  <a:endParaRPr lang="en-US"/>
                </a:p>
              </p:txBody>
            </p:sp>
            <p:sp>
              <p:nvSpPr>
                <p:cNvPr id="29877" name="Freeform 138"/>
                <p:cNvSpPr>
                  <a:spLocks/>
                </p:cNvSpPr>
                <p:nvPr/>
              </p:nvSpPr>
              <p:spPr bwMode="auto">
                <a:xfrm>
                  <a:off x="2043" y="3676"/>
                  <a:ext cx="26" cy="12"/>
                </a:xfrm>
                <a:custGeom>
                  <a:avLst/>
                  <a:gdLst>
                    <a:gd name="T0" fmla="*/ 0 w 53"/>
                    <a:gd name="T1" fmla="*/ 0 h 25"/>
                    <a:gd name="T2" fmla="*/ 0 w 53"/>
                    <a:gd name="T3" fmla="*/ 0 h 25"/>
                    <a:gd name="T4" fmla="*/ 0 w 53"/>
                    <a:gd name="T5" fmla="*/ 0 h 25"/>
                    <a:gd name="T6" fmla="*/ 0 w 53"/>
                    <a:gd name="T7" fmla="*/ 0 h 25"/>
                    <a:gd name="T8" fmla="*/ 0 w 53"/>
                    <a:gd name="T9" fmla="*/ 0 h 25"/>
                    <a:gd name="T10" fmla="*/ 0 w 53"/>
                    <a:gd name="T11" fmla="*/ 0 h 25"/>
                    <a:gd name="T12" fmla="*/ 0 w 53"/>
                    <a:gd name="T13" fmla="*/ 0 h 25"/>
                    <a:gd name="T14" fmla="*/ 0 w 53"/>
                    <a:gd name="T15" fmla="*/ 0 h 25"/>
                    <a:gd name="T16" fmla="*/ 0 w 53"/>
                    <a:gd name="T17" fmla="*/ 0 h 25"/>
                    <a:gd name="T18" fmla="*/ 0 w 53"/>
                    <a:gd name="T19" fmla="*/ 0 h 25"/>
                    <a:gd name="T20" fmla="*/ 0 w 53"/>
                    <a:gd name="T21" fmla="*/ 0 h 25"/>
                    <a:gd name="T22" fmla="*/ 0 w 53"/>
                    <a:gd name="T23" fmla="*/ 0 h 25"/>
                    <a:gd name="T24" fmla="*/ 0 w 53"/>
                    <a:gd name="T25" fmla="*/ 0 h 25"/>
                    <a:gd name="T26" fmla="*/ 0 w 53"/>
                    <a:gd name="T27" fmla="*/ 0 h 25"/>
                    <a:gd name="T28" fmla="*/ 0 w 53"/>
                    <a:gd name="T29" fmla="*/ 0 h 25"/>
                    <a:gd name="T30" fmla="*/ 0 w 53"/>
                    <a:gd name="T31" fmla="*/ 0 h 25"/>
                    <a:gd name="T32" fmla="*/ 0 w 53"/>
                    <a:gd name="T33" fmla="*/ 0 h 25"/>
                    <a:gd name="T34" fmla="*/ 0 w 53"/>
                    <a:gd name="T35" fmla="*/ 0 h 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3"/>
                    <a:gd name="T55" fmla="*/ 0 h 25"/>
                    <a:gd name="T56" fmla="*/ 53 w 53"/>
                    <a:gd name="T57" fmla="*/ 25 h 2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3" h="25">
                      <a:moveTo>
                        <a:pt x="0" y="17"/>
                      </a:moveTo>
                      <a:lnTo>
                        <a:pt x="19" y="21"/>
                      </a:lnTo>
                      <a:lnTo>
                        <a:pt x="16" y="25"/>
                      </a:lnTo>
                      <a:lnTo>
                        <a:pt x="19" y="23"/>
                      </a:lnTo>
                      <a:lnTo>
                        <a:pt x="30" y="21"/>
                      </a:lnTo>
                      <a:lnTo>
                        <a:pt x="53" y="21"/>
                      </a:lnTo>
                      <a:lnTo>
                        <a:pt x="53" y="0"/>
                      </a:lnTo>
                      <a:lnTo>
                        <a:pt x="30" y="0"/>
                      </a:lnTo>
                      <a:lnTo>
                        <a:pt x="16" y="1"/>
                      </a:lnTo>
                      <a:lnTo>
                        <a:pt x="9" y="3"/>
                      </a:lnTo>
                      <a:lnTo>
                        <a:pt x="3" y="6"/>
                      </a:lnTo>
                      <a:lnTo>
                        <a:pt x="22" y="10"/>
                      </a:lnTo>
                      <a:lnTo>
                        <a:pt x="3" y="6"/>
                      </a:lnTo>
                      <a:lnTo>
                        <a:pt x="0" y="14"/>
                      </a:lnTo>
                      <a:lnTo>
                        <a:pt x="5" y="20"/>
                      </a:lnTo>
                      <a:lnTo>
                        <a:pt x="11" y="25"/>
                      </a:lnTo>
                      <a:lnTo>
                        <a:pt x="19" y="21"/>
                      </a:lnTo>
                      <a:lnTo>
                        <a:pt x="0" y="17"/>
                      </a:lnTo>
                      <a:close/>
                    </a:path>
                  </a:pathLst>
                </a:custGeom>
                <a:solidFill>
                  <a:srgbClr val="000000"/>
                </a:solidFill>
                <a:ln w="9525">
                  <a:noFill/>
                  <a:round/>
                  <a:headEnd/>
                  <a:tailEnd/>
                </a:ln>
              </p:spPr>
              <p:txBody>
                <a:bodyPr/>
                <a:lstStyle/>
                <a:p>
                  <a:endParaRPr lang="en-US"/>
                </a:p>
              </p:txBody>
            </p:sp>
            <p:sp>
              <p:nvSpPr>
                <p:cNvPr id="29878" name="Freeform 139"/>
                <p:cNvSpPr>
                  <a:spLocks/>
                </p:cNvSpPr>
                <p:nvPr/>
              </p:nvSpPr>
              <p:spPr bwMode="auto">
                <a:xfrm>
                  <a:off x="2041" y="3671"/>
                  <a:ext cx="12" cy="13"/>
                </a:xfrm>
                <a:custGeom>
                  <a:avLst/>
                  <a:gdLst>
                    <a:gd name="T0" fmla="*/ 0 w 25"/>
                    <a:gd name="T1" fmla="*/ 0 h 27"/>
                    <a:gd name="T2" fmla="*/ 0 w 25"/>
                    <a:gd name="T3" fmla="*/ 0 h 27"/>
                    <a:gd name="T4" fmla="*/ 0 w 25"/>
                    <a:gd name="T5" fmla="*/ 0 h 27"/>
                    <a:gd name="T6" fmla="*/ 0 w 25"/>
                    <a:gd name="T7" fmla="*/ 0 h 27"/>
                    <a:gd name="T8" fmla="*/ 0 w 25"/>
                    <a:gd name="T9" fmla="*/ 0 h 27"/>
                    <a:gd name="T10" fmla="*/ 0 w 25"/>
                    <a:gd name="T11" fmla="*/ 0 h 27"/>
                    <a:gd name="T12" fmla="*/ 0 w 25"/>
                    <a:gd name="T13" fmla="*/ 0 h 27"/>
                    <a:gd name="T14" fmla="*/ 0 w 25"/>
                    <a:gd name="T15" fmla="*/ 0 h 27"/>
                    <a:gd name="T16" fmla="*/ 0 w 25"/>
                    <a:gd name="T17" fmla="*/ 0 h 27"/>
                    <a:gd name="T18" fmla="*/ 0 w 25"/>
                    <a:gd name="T19" fmla="*/ 0 h 27"/>
                    <a:gd name="T20" fmla="*/ 0 w 25"/>
                    <a:gd name="T21" fmla="*/ 0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
                    <a:gd name="T34" fmla="*/ 0 h 27"/>
                    <a:gd name="T35" fmla="*/ 25 w 25"/>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 h="27">
                      <a:moveTo>
                        <a:pt x="0" y="14"/>
                      </a:moveTo>
                      <a:lnTo>
                        <a:pt x="0" y="14"/>
                      </a:lnTo>
                      <a:lnTo>
                        <a:pt x="3" y="27"/>
                      </a:lnTo>
                      <a:lnTo>
                        <a:pt x="25" y="20"/>
                      </a:lnTo>
                      <a:lnTo>
                        <a:pt x="22" y="8"/>
                      </a:lnTo>
                      <a:lnTo>
                        <a:pt x="17" y="2"/>
                      </a:lnTo>
                      <a:lnTo>
                        <a:pt x="9" y="0"/>
                      </a:lnTo>
                      <a:lnTo>
                        <a:pt x="1" y="5"/>
                      </a:lnTo>
                      <a:lnTo>
                        <a:pt x="0" y="14"/>
                      </a:lnTo>
                      <a:close/>
                    </a:path>
                  </a:pathLst>
                </a:custGeom>
                <a:solidFill>
                  <a:srgbClr val="000000"/>
                </a:solidFill>
                <a:ln w="9525">
                  <a:noFill/>
                  <a:round/>
                  <a:headEnd/>
                  <a:tailEnd/>
                </a:ln>
              </p:spPr>
              <p:txBody>
                <a:bodyPr/>
                <a:lstStyle/>
                <a:p>
                  <a:endParaRPr lang="en-US"/>
                </a:p>
              </p:txBody>
            </p:sp>
            <p:sp>
              <p:nvSpPr>
                <p:cNvPr id="29879" name="Freeform 140"/>
                <p:cNvSpPr>
                  <a:spLocks/>
                </p:cNvSpPr>
                <p:nvPr/>
              </p:nvSpPr>
              <p:spPr bwMode="auto">
                <a:xfrm>
                  <a:off x="2041" y="3660"/>
                  <a:ext cx="18" cy="18"/>
                </a:xfrm>
                <a:custGeom>
                  <a:avLst/>
                  <a:gdLst>
                    <a:gd name="T0" fmla="*/ 1 w 36"/>
                    <a:gd name="T1" fmla="*/ 0 h 36"/>
                    <a:gd name="T2" fmla="*/ 1 w 36"/>
                    <a:gd name="T3" fmla="*/ 0 h 36"/>
                    <a:gd name="T4" fmla="*/ 1 w 36"/>
                    <a:gd name="T5" fmla="*/ 1 h 36"/>
                    <a:gd name="T6" fmla="*/ 1 w 36"/>
                    <a:gd name="T7" fmla="*/ 1 h 36"/>
                    <a:gd name="T8" fmla="*/ 0 w 36"/>
                    <a:gd name="T9" fmla="*/ 1 h 36"/>
                    <a:gd name="T10" fmla="*/ 0 w 36"/>
                    <a:gd name="T11" fmla="*/ 1 h 36"/>
                    <a:gd name="T12" fmla="*/ 1 w 36"/>
                    <a:gd name="T13" fmla="*/ 1 h 36"/>
                    <a:gd name="T14" fmla="*/ 1 w 36"/>
                    <a:gd name="T15" fmla="*/ 1 h 36"/>
                    <a:gd name="T16" fmla="*/ 1 w 36"/>
                    <a:gd name="T17" fmla="*/ 1 h 36"/>
                    <a:gd name="T18" fmla="*/ 1 w 36"/>
                    <a:gd name="T19" fmla="*/ 1 h 36"/>
                    <a:gd name="T20" fmla="*/ 1 w 36"/>
                    <a:gd name="T21" fmla="*/ 1 h 36"/>
                    <a:gd name="T22" fmla="*/ 1 w 36"/>
                    <a:gd name="T23" fmla="*/ 1 h 36"/>
                    <a:gd name="T24" fmla="*/ 1 w 36"/>
                    <a:gd name="T25" fmla="*/ 0 h 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6"/>
                    <a:gd name="T40" fmla="*/ 0 h 36"/>
                    <a:gd name="T41" fmla="*/ 36 w 36"/>
                    <a:gd name="T42" fmla="*/ 36 h 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6" h="36">
                      <a:moveTo>
                        <a:pt x="30" y="0"/>
                      </a:moveTo>
                      <a:lnTo>
                        <a:pt x="30" y="0"/>
                      </a:lnTo>
                      <a:lnTo>
                        <a:pt x="12" y="8"/>
                      </a:lnTo>
                      <a:lnTo>
                        <a:pt x="3" y="21"/>
                      </a:lnTo>
                      <a:lnTo>
                        <a:pt x="0" y="30"/>
                      </a:lnTo>
                      <a:lnTo>
                        <a:pt x="0" y="36"/>
                      </a:lnTo>
                      <a:lnTo>
                        <a:pt x="22" y="30"/>
                      </a:lnTo>
                      <a:lnTo>
                        <a:pt x="22" y="33"/>
                      </a:lnTo>
                      <a:lnTo>
                        <a:pt x="22" y="30"/>
                      </a:lnTo>
                      <a:lnTo>
                        <a:pt x="25" y="27"/>
                      </a:lnTo>
                      <a:lnTo>
                        <a:pt x="36" y="22"/>
                      </a:lnTo>
                      <a:lnTo>
                        <a:pt x="30" y="0"/>
                      </a:lnTo>
                      <a:close/>
                    </a:path>
                  </a:pathLst>
                </a:custGeom>
                <a:solidFill>
                  <a:srgbClr val="000000"/>
                </a:solidFill>
                <a:ln w="9525">
                  <a:noFill/>
                  <a:round/>
                  <a:headEnd/>
                  <a:tailEnd/>
                </a:ln>
              </p:spPr>
              <p:txBody>
                <a:bodyPr/>
                <a:lstStyle/>
                <a:p>
                  <a:endParaRPr lang="en-US"/>
                </a:p>
              </p:txBody>
            </p:sp>
            <p:sp>
              <p:nvSpPr>
                <p:cNvPr id="29880" name="Freeform 141"/>
                <p:cNvSpPr>
                  <a:spLocks/>
                </p:cNvSpPr>
                <p:nvPr/>
              </p:nvSpPr>
              <p:spPr bwMode="auto">
                <a:xfrm>
                  <a:off x="2056" y="3649"/>
                  <a:ext cx="80" cy="22"/>
                </a:xfrm>
                <a:custGeom>
                  <a:avLst/>
                  <a:gdLst>
                    <a:gd name="T0" fmla="*/ 0 w 161"/>
                    <a:gd name="T1" fmla="*/ 0 h 44"/>
                    <a:gd name="T2" fmla="*/ 0 w 161"/>
                    <a:gd name="T3" fmla="*/ 0 h 44"/>
                    <a:gd name="T4" fmla="*/ 0 w 161"/>
                    <a:gd name="T5" fmla="*/ 1 h 44"/>
                    <a:gd name="T6" fmla="*/ 0 w 161"/>
                    <a:gd name="T7" fmla="*/ 1 h 44"/>
                    <a:gd name="T8" fmla="*/ 0 w 161"/>
                    <a:gd name="T9" fmla="*/ 1 h 44"/>
                    <a:gd name="T10" fmla="*/ 0 w 161"/>
                    <a:gd name="T11" fmla="*/ 1 h 44"/>
                    <a:gd name="T12" fmla="*/ 0 w 161"/>
                    <a:gd name="T13" fmla="*/ 1 h 44"/>
                    <a:gd name="T14" fmla="*/ 0 w 161"/>
                    <a:gd name="T15" fmla="*/ 1 h 44"/>
                    <a:gd name="T16" fmla="*/ 0 w 161"/>
                    <a:gd name="T17" fmla="*/ 1 h 44"/>
                    <a:gd name="T18" fmla="*/ 0 w 161"/>
                    <a:gd name="T19" fmla="*/ 1 h 44"/>
                    <a:gd name="T20" fmla="*/ 0 w 161"/>
                    <a:gd name="T21" fmla="*/ 1 h 44"/>
                    <a:gd name="T22" fmla="*/ 0 w 161"/>
                    <a:gd name="T23" fmla="*/ 1 h 44"/>
                    <a:gd name="T24" fmla="*/ 0 w 161"/>
                    <a:gd name="T25" fmla="*/ 1 h 44"/>
                    <a:gd name="T26" fmla="*/ 0 w 161"/>
                    <a:gd name="T27" fmla="*/ 1 h 44"/>
                    <a:gd name="T28" fmla="*/ 0 w 161"/>
                    <a:gd name="T29" fmla="*/ 1 h 44"/>
                    <a:gd name="T30" fmla="*/ 0 w 161"/>
                    <a:gd name="T31" fmla="*/ 1 h 44"/>
                    <a:gd name="T32" fmla="*/ 0 w 161"/>
                    <a:gd name="T33" fmla="*/ 1 h 44"/>
                    <a:gd name="T34" fmla="*/ 0 w 161"/>
                    <a:gd name="T35" fmla="*/ 1 h 44"/>
                    <a:gd name="T36" fmla="*/ 0 w 161"/>
                    <a:gd name="T37" fmla="*/ 0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1"/>
                    <a:gd name="T58" fmla="*/ 0 h 44"/>
                    <a:gd name="T59" fmla="*/ 161 w 161"/>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1" h="44">
                      <a:moveTo>
                        <a:pt x="161" y="0"/>
                      </a:moveTo>
                      <a:lnTo>
                        <a:pt x="148" y="0"/>
                      </a:lnTo>
                      <a:lnTo>
                        <a:pt x="130" y="2"/>
                      </a:lnTo>
                      <a:lnTo>
                        <a:pt x="108" y="5"/>
                      </a:lnTo>
                      <a:lnTo>
                        <a:pt x="83" y="8"/>
                      </a:lnTo>
                      <a:lnTo>
                        <a:pt x="58" y="11"/>
                      </a:lnTo>
                      <a:lnTo>
                        <a:pt x="34" y="16"/>
                      </a:lnTo>
                      <a:lnTo>
                        <a:pt x="15" y="19"/>
                      </a:lnTo>
                      <a:lnTo>
                        <a:pt x="0" y="22"/>
                      </a:lnTo>
                      <a:lnTo>
                        <a:pt x="6" y="44"/>
                      </a:lnTo>
                      <a:lnTo>
                        <a:pt x="18" y="41"/>
                      </a:lnTo>
                      <a:lnTo>
                        <a:pt x="37" y="38"/>
                      </a:lnTo>
                      <a:lnTo>
                        <a:pt x="61" y="33"/>
                      </a:lnTo>
                      <a:lnTo>
                        <a:pt x="86" y="30"/>
                      </a:lnTo>
                      <a:lnTo>
                        <a:pt x="111" y="27"/>
                      </a:lnTo>
                      <a:lnTo>
                        <a:pt x="133" y="24"/>
                      </a:lnTo>
                      <a:lnTo>
                        <a:pt x="148" y="22"/>
                      </a:lnTo>
                      <a:lnTo>
                        <a:pt x="158" y="22"/>
                      </a:lnTo>
                      <a:lnTo>
                        <a:pt x="161" y="0"/>
                      </a:lnTo>
                      <a:close/>
                    </a:path>
                  </a:pathLst>
                </a:custGeom>
                <a:solidFill>
                  <a:srgbClr val="000000"/>
                </a:solidFill>
                <a:ln w="9525">
                  <a:noFill/>
                  <a:round/>
                  <a:headEnd/>
                  <a:tailEnd/>
                </a:ln>
              </p:spPr>
              <p:txBody>
                <a:bodyPr/>
                <a:lstStyle/>
                <a:p>
                  <a:endParaRPr lang="en-US"/>
                </a:p>
              </p:txBody>
            </p:sp>
            <p:sp>
              <p:nvSpPr>
                <p:cNvPr id="29881" name="Freeform 142"/>
                <p:cNvSpPr>
                  <a:spLocks/>
                </p:cNvSpPr>
                <p:nvPr/>
              </p:nvSpPr>
              <p:spPr bwMode="auto">
                <a:xfrm>
                  <a:off x="2160" y="3770"/>
                  <a:ext cx="21" cy="68"/>
                </a:xfrm>
                <a:custGeom>
                  <a:avLst/>
                  <a:gdLst>
                    <a:gd name="T0" fmla="*/ 0 w 42"/>
                    <a:gd name="T1" fmla="*/ 0 h 138"/>
                    <a:gd name="T2" fmla="*/ 0 w 42"/>
                    <a:gd name="T3" fmla="*/ 0 h 138"/>
                    <a:gd name="T4" fmla="*/ 0 w 42"/>
                    <a:gd name="T5" fmla="*/ 0 h 138"/>
                    <a:gd name="T6" fmla="*/ 1 w 42"/>
                    <a:gd name="T7" fmla="*/ 0 h 138"/>
                    <a:gd name="T8" fmla="*/ 1 w 42"/>
                    <a:gd name="T9" fmla="*/ 0 h 138"/>
                    <a:gd name="T10" fmla="*/ 1 w 42"/>
                    <a:gd name="T11" fmla="*/ 0 h 138"/>
                    <a:gd name="T12" fmla="*/ 1 w 42"/>
                    <a:gd name="T13" fmla="*/ 0 h 138"/>
                    <a:gd name="T14" fmla="*/ 1 w 42"/>
                    <a:gd name="T15" fmla="*/ 0 h 138"/>
                    <a:gd name="T16" fmla="*/ 1 w 42"/>
                    <a:gd name="T17" fmla="*/ 0 h 138"/>
                    <a:gd name="T18" fmla="*/ 1 w 42"/>
                    <a:gd name="T19" fmla="*/ 0 h 138"/>
                    <a:gd name="T20" fmla="*/ 1 w 42"/>
                    <a:gd name="T21" fmla="*/ 0 h 138"/>
                    <a:gd name="T22" fmla="*/ 0 w 42"/>
                    <a:gd name="T23" fmla="*/ 0 h 1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138"/>
                    <a:gd name="T38" fmla="*/ 42 w 42"/>
                    <a:gd name="T39" fmla="*/ 138 h 1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138">
                      <a:moveTo>
                        <a:pt x="0" y="2"/>
                      </a:moveTo>
                      <a:lnTo>
                        <a:pt x="0" y="121"/>
                      </a:lnTo>
                      <a:lnTo>
                        <a:pt x="0" y="124"/>
                      </a:lnTo>
                      <a:lnTo>
                        <a:pt x="3" y="129"/>
                      </a:lnTo>
                      <a:lnTo>
                        <a:pt x="9" y="135"/>
                      </a:lnTo>
                      <a:lnTo>
                        <a:pt x="22" y="138"/>
                      </a:lnTo>
                      <a:lnTo>
                        <a:pt x="34" y="135"/>
                      </a:lnTo>
                      <a:lnTo>
                        <a:pt x="41" y="129"/>
                      </a:lnTo>
                      <a:lnTo>
                        <a:pt x="42" y="121"/>
                      </a:lnTo>
                      <a:lnTo>
                        <a:pt x="42" y="118"/>
                      </a:lnTo>
                      <a:lnTo>
                        <a:pt x="42" y="0"/>
                      </a:lnTo>
                      <a:lnTo>
                        <a:pt x="0" y="2"/>
                      </a:lnTo>
                      <a:close/>
                    </a:path>
                  </a:pathLst>
                </a:custGeom>
                <a:solidFill>
                  <a:srgbClr val="FF7226"/>
                </a:solidFill>
                <a:ln w="9525">
                  <a:noFill/>
                  <a:round/>
                  <a:headEnd/>
                  <a:tailEnd/>
                </a:ln>
              </p:spPr>
              <p:txBody>
                <a:bodyPr/>
                <a:lstStyle/>
                <a:p>
                  <a:endParaRPr lang="en-US"/>
                </a:p>
              </p:txBody>
            </p:sp>
            <p:sp>
              <p:nvSpPr>
                <p:cNvPr id="29882" name="Freeform 143"/>
                <p:cNvSpPr>
                  <a:spLocks/>
                </p:cNvSpPr>
                <p:nvPr/>
              </p:nvSpPr>
              <p:spPr bwMode="auto">
                <a:xfrm>
                  <a:off x="2154" y="3770"/>
                  <a:ext cx="11" cy="65"/>
                </a:xfrm>
                <a:custGeom>
                  <a:avLst/>
                  <a:gdLst>
                    <a:gd name="T0" fmla="*/ 1 w 22"/>
                    <a:gd name="T1" fmla="*/ 1 h 130"/>
                    <a:gd name="T2" fmla="*/ 1 w 22"/>
                    <a:gd name="T3" fmla="*/ 1 h 130"/>
                    <a:gd name="T4" fmla="*/ 1 w 22"/>
                    <a:gd name="T5" fmla="*/ 0 h 130"/>
                    <a:gd name="T6" fmla="*/ 0 w 22"/>
                    <a:gd name="T7" fmla="*/ 0 h 130"/>
                    <a:gd name="T8" fmla="*/ 0 w 22"/>
                    <a:gd name="T9" fmla="*/ 1 h 130"/>
                    <a:gd name="T10" fmla="*/ 0 w 22"/>
                    <a:gd name="T11" fmla="*/ 1 h 130"/>
                    <a:gd name="T12" fmla="*/ 0 w 22"/>
                    <a:gd name="T13" fmla="*/ 1 h 130"/>
                    <a:gd name="T14" fmla="*/ 1 w 22"/>
                    <a:gd name="T15" fmla="*/ 1 h 130"/>
                    <a:gd name="T16" fmla="*/ 1 w 22"/>
                    <a:gd name="T17" fmla="*/ 1 h 130"/>
                    <a:gd name="T18" fmla="*/ 1 w 22"/>
                    <a:gd name="T19" fmla="*/ 1 h 130"/>
                    <a:gd name="T20" fmla="*/ 1 w 22"/>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
                    <a:gd name="T34" fmla="*/ 0 h 130"/>
                    <a:gd name="T35" fmla="*/ 22 w 22"/>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 h="130">
                      <a:moveTo>
                        <a:pt x="22" y="119"/>
                      </a:moveTo>
                      <a:lnTo>
                        <a:pt x="22" y="119"/>
                      </a:lnTo>
                      <a:lnTo>
                        <a:pt x="22" y="0"/>
                      </a:lnTo>
                      <a:lnTo>
                        <a:pt x="0" y="0"/>
                      </a:lnTo>
                      <a:lnTo>
                        <a:pt x="0" y="119"/>
                      </a:lnTo>
                      <a:lnTo>
                        <a:pt x="3" y="127"/>
                      </a:lnTo>
                      <a:lnTo>
                        <a:pt x="11" y="130"/>
                      </a:lnTo>
                      <a:lnTo>
                        <a:pt x="19" y="127"/>
                      </a:lnTo>
                      <a:lnTo>
                        <a:pt x="22" y="119"/>
                      </a:lnTo>
                      <a:close/>
                    </a:path>
                  </a:pathLst>
                </a:custGeom>
                <a:solidFill>
                  <a:srgbClr val="000000"/>
                </a:solidFill>
                <a:ln w="9525">
                  <a:noFill/>
                  <a:round/>
                  <a:headEnd/>
                  <a:tailEnd/>
                </a:ln>
              </p:spPr>
              <p:txBody>
                <a:bodyPr/>
                <a:lstStyle/>
                <a:p>
                  <a:endParaRPr lang="en-US"/>
                </a:p>
              </p:txBody>
            </p:sp>
            <p:sp>
              <p:nvSpPr>
                <p:cNvPr id="29883" name="Freeform 144"/>
                <p:cNvSpPr>
                  <a:spLocks/>
                </p:cNvSpPr>
                <p:nvPr/>
              </p:nvSpPr>
              <p:spPr bwMode="auto">
                <a:xfrm>
                  <a:off x="2154" y="3829"/>
                  <a:ext cx="17" cy="15"/>
                </a:xfrm>
                <a:custGeom>
                  <a:avLst/>
                  <a:gdLst>
                    <a:gd name="T0" fmla="*/ 1 w 33"/>
                    <a:gd name="T1" fmla="*/ 1 h 30"/>
                    <a:gd name="T2" fmla="*/ 1 w 33"/>
                    <a:gd name="T3" fmla="*/ 1 h 30"/>
                    <a:gd name="T4" fmla="*/ 1 w 33"/>
                    <a:gd name="T5" fmla="*/ 1 h 30"/>
                    <a:gd name="T6" fmla="*/ 1 w 33"/>
                    <a:gd name="T7" fmla="*/ 1 h 30"/>
                    <a:gd name="T8" fmla="*/ 1 w 33"/>
                    <a:gd name="T9" fmla="*/ 0 h 30"/>
                    <a:gd name="T10" fmla="*/ 1 w 33"/>
                    <a:gd name="T11" fmla="*/ 1 h 30"/>
                    <a:gd name="T12" fmla="*/ 0 w 33"/>
                    <a:gd name="T13" fmla="*/ 1 h 30"/>
                    <a:gd name="T14" fmla="*/ 0 w 33"/>
                    <a:gd name="T15" fmla="*/ 1 h 30"/>
                    <a:gd name="T16" fmla="*/ 1 w 33"/>
                    <a:gd name="T17" fmla="*/ 1 h 30"/>
                    <a:gd name="T18" fmla="*/ 1 w 33"/>
                    <a:gd name="T19" fmla="*/ 1 h 30"/>
                    <a:gd name="T20" fmla="*/ 1 w 33"/>
                    <a:gd name="T21" fmla="*/ 1 h 30"/>
                    <a:gd name="T22" fmla="*/ 1 w 33"/>
                    <a:gd name="T23" fmla="*/ 1 h 30"/>
                    <a:gd name="T24" fmla="*/ 1 w 33"/>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0"/>
                    <a:gd name="T41" fmla="*/ 33 w 33"/>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0">
                      <a:moveTo>
                        <a:pt x="33" y="8"/>
                      </a:moveTo>
                      <a:lnTo>
                        <a:pt x="33" y="8"/>
                      </a:lnTo>
                      <a:lnTo>
                        <a:pt x="25" y="6"/>
                      </a:lnTo>
                      <a:lnTo>
                        <a:pt x="22" y="2"/>
                      </a:lnTo>
                      <a:lnTo>
                        <a:pt x="22" y="0"/>
                      </a:lnTo>
                      <a:lnTo>
                        <a:pt x="22" y="2"/>
                      </a:lnTo>
                      <a:lnTo>
                        <a:pt x="0" y="2"/>
                      </a:lnTo>
                      <a:lnTo>
                        <a:pt x="0" y="10"/>
                      </a:lnTo>
                      <a:lnTo>
                        <a:pt x="6" y="17"/>
                      </a:lnTo>
                      <a:lnTo>
                        <a:pt x="16" y="25"/>
                      </a:lnTo>
                      <a:lnTo>
                        <a:pt x="33" y="30"/>
                      </a:lnTo>
                      <a:lnTo>
                        <a:pt x="33" y="8"/>
                      </a:lnTo>
                      <a:close/>
                    </a:path>
                  </a:pathLst>
                </a:custGeom>
                <a:solidFill>
                  <a:srgbClr val="000000"/>
                </a:solidFill>
                <a:ln w="9525">
                  <a:noFill/>
                  <a:round/>
                  <a:headEnd/>
                  <a:tailEnd/>
                </a:ln>
              </p:spPr>
              <p:txBody>
                <a:bodyPr/>
                <a:lstStyle/>
                <a:p>
                  <a:endParaRPr lang="en-US"/>
                </a:p>
              </p:txBody>
            </p:sp>
            <p:sp>
              <p:nvSpPr>
                <p:cNvPr id="29884" name="Freeform 145"/>
                <p:cNvSpPr>
                  <a:spLocks/>
                </p:cNvSpPr>
                <p:nvPr/>
              </p:nvSpPr>
              <p:spPr bwMode="auto">
                <a:xfrm>
                  <a:off x="2171" y="3823"/>
                  <a:ext cx="16" cy="21"/>
                </a:xfrm>
                <a:custGeom>
                  <a:avLst/>
                  <a:gdLst>
                    <a:gd name="T0" fmla="*/ 1 w 31"/>
                    <a:gd name="T1" fmla="*/ 1 h 42"/>
                    <a:gd name="T2" fmla="*/ 1 w 31"/>
                    <a:gd name="T3" fmla="*/ 1 h 42"/>
                    <a:gd name="T4" fmla="*/ 1 w 31"/>
                    <a:gd name="T5" fmla="*/ 1 h 42"/>
                    <a:gd name="T6" fmla="*/ 1 w 31"/>
                    <a:gd name="T7" fmla="*/ 1 h 42"/>
                    <a:gd name="T8" fmla="*/ 1 w 31"/>
                    <a:gd name="T9" fmla="*/ 1 h 42"/>
                    <a:gd name="T10" fmla="*/ 0 w 31"/>
                    <a:gd name="T11" fmla="*/ 1 h 42"/>
                    <a:gd name="T12" fmla="*/ 0 w 31"/>
                    <a:gd name="T13" fmla="*/ 1 h 42"/>
                    <a:gd name="T14" fmla="*/ 1 w 31"/>
                    <a:gd name="T15" fmla="*/ 1 h 42"/>
                    <a:gd name="T16" fmla="*/ 1 w 31"/>
                    <a:gd name="T17" fmla="*/ 1 h 42"/>
                    <a:gd name="T18" fmla="*/ 1 w 31"/>
                    <a:gd name="T19" fmla="*/ 1 h 42"/>
                    <a:gd name="T20" fmla="*/ 1 w 31"/>
                    <a:gd name="T21" fmla="*/ 1 h 42"/>
                    <a:gd name="T22" fmla="*/ 1 w 31"/>
                    <a:gd name="T23" fmla="*/ 1 h 42"/>
                    <a:gd name="T24" fmla="*/ 1 w 31"/>
                    <a:gd name="T25" fmla="*/ 1 h 42"/>
                    <a:gd name="T26" fmla="*/ 1 w 31"/>
                    <a:gd name="T27" fmla="*/ 1 h 42"/>
                    <a:gd name="T28" fmla="*/ 1 w 31"/>
                    <a:gd name="T29" fmla="*/ 0 h 42"/>
                    <a:gd name="T30" fmla="*/ 1 w 31"/>
                    <a:gd name="T31" fmla="*/ 1 h 42"/>
                    <a:gd name="T32" fmla="*/ 1 w 31"/>
                    <a:gd name="T33" fmla="*/ 1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42"/>
                    <a:gd name="T53" fmla="*/ 31 w 31"/>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42">
                      <a:moveTo>
                        <a:pt x="9" y="11"/>
                      </a:moveTo>
                      <a:lnTo>
                        <a:pt x="9" y="11"/>
                      </a:lnTo>
                      <a:lnTo>
                        <a:pt x="9" y="12"/>
                      </a:lnTo>
                      <a:lnTo>
                        <a:pt x="9" y="17"/>
                      </a:lnTo>
                      <a:lnTo>
                        <a:pt x="8" y="18"/>
                      </a:lnTo>
                      <a:lnTo>
                        <a:pt x="0" y="20"/>
                      </a:lnTo>
                      <a:lnTo>
                        <a:pt x="0" y="42"/>
                      </a:lnTo>
                      <a:lnTo>
                        <a:pt x="17" y="37"/>
                      </a:lnTo>
                      <a:lnTo>
                        <a:pt x="28" y="26"/>
                      </a:lnTo>
                      <a:lnTo>
                        <a:pt x="31" y="15"/>
                      </a:lnTo>
                      <a:lnTo>
                        <a:pt x="31" y="11"/>
                      </a:lnTo>
                      <a:lnTo>
                        <a:pt x="28" y="3"/>
                      </a:lnTo>
                      <a:lnTo>
                        <a:pt x="20" y="0"/>
                      </a:lnTo>
                      <a:lnTo>
                        <a:pt x="12" y="3"/>
                      </a:lnTo>
                      <a:lnTo>
                        <a:pt x="9" y="11"/>
                      </a:lnTo>
                      <a:close/>
                    </a:path>
                  </a:pathLst>
                </a:custGeom>
                <a:solidFill>
                  <a:srgbClr val="000000"/>
                </a:solidFill>
                <a:ln w="9525">
                  <a:noFill/>
                  <a:round/>
                  <a:headEnd/>
                  <a:tailEnd/>
                </a:ln>
              </p:spPr>
              <p:txBody>
                <a:bodyPr/>
                <a:lstStyle/>
                <a:p>
                  <a:endParaRPr lang="en-US"/>
                </a:p>
              </p:txBody>
            </p:sp>
            <p:sp>
              <p:nvSpPr>
                <p:cNvPr id="29885" name="Freeform 146"/>
                <p:cNvSpPr>
                  <a:spLocks/>
                </p:cNvSpPr>
                <p:nvPr/>
              </p:nvSpPr>
              <p:spPr bwMode="auto">
                <a:xfrm>
                  <a:off x="2176" y="3764"/>
                  <a:ext cx="11" cy="64"/>
                </a:xfrm>
                <a:custGeom>
                  <a:avLst/>
                  <a:gdLst>
                    <a:gd name="T0" fmla="*/ 1 w 22"/>
                    <a:gd name="T1" fmla="*/ 0 h 129"/>
                    <a:gd name="T2" fmla="*/ 0 w 22"/>
                    <a:gd name="T3" fmla="*/ 0 h 129"/>
                    <a:gd name="T4" fmla="*/ 0 w 22"/>
                    <a:gd name="T5" fmla="*/ 0 h 129"/>
                    <a:gd name="T6" fmla="*/ 1 w 22"/>
                    <a:gd name="T7" fmla="*/ 0 h 129"/>
                    <a:gd name="T8" fmla="*/ 1 w 22"/>
                    <a:gd name="T9" fmla="*/ 0 h 129"/>
                    <a:gd name="T10" fmla="*/ 1 w 22"/>
                    <a:gd name="T11" fmla="*/ 0 h 129"/>
                    <a:gd name="T12" fmla="*/ 1 w 22"/>
                    <a:gd name="T13" fmla="*/ 0 h 129"/>
                    <a:gd name="T14" fmla="*/ 1 w 22"/>
                    <a:gd name="T15" fmla="*/ 0 h 129"/>
                    <a:gd name="T16" fmla="*/ 1 w 22"/>
                    <a:gd name="T17" fmla="*/ 0 h 129"/>
                    <a:gd name="T18" fmla="*/ 1 w 22"/>
                    <a:gd name="T19" fmla="*/ 0 h 129"/>
                    <a:gd name="T20" fmla="*/ 0 w 22"/>
                    <a:gd name="T21" fmla="*/ 0 h 129"/>
                    <a:gd name="T22" fmla="*/ 1 w 22"/>
                    <a:gd name="T23" fmla="*/ 0 h 12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129"/>
                    <a:gd name="T38" fmla="*/ 22 w 22"/>
                    <a:gd name="T39" fmla="*/ 129 h 12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129">
                      <a:moveTo>
                        <a:pt x="11" y="22"/>
                      </a:moveTo>
                      <a:lnTo>
                        <a:pt x="0" y="11"/>
                      </a:lnTo>
                      <a:lnTo>
                        <a:pt x="0" y="129"/>
                      </a:lnTo>
                      <a:lnTo>
                        <a:pt x="22" y="129"/>
                      </a:lnTo>
                      <a:lnTo>
                        <a:pt x="22" y="11"/>
                      </a:lnTo>
                      <a:lnTo>
                        <a:pt x="11" y="0"/>
                      </a:lnTo>
                      <a:lnTo>
                        <a:pt x="22" y="11"/>
                      </a:lnTo>
                      <a:lnTo>
                        <a:pt x="19" y="3"/>
                      </a:lnTo>
                      <a:lnTo>
                        <a:pt x="11" y="0"/>
                      </a:lnTo>
                      <a:lnTo>
                        <a:pt x="3" y="3"/>
                      </a:lnTo>
                      <a:lnTo>
                        <a:pt x="0" y="11"/>
                      </a:lnTo>
                      <a:lnTo>
                        <a:pt x="11" y="22"/>
                      </a:lnTo>
                      <a:close/>
                    </a:path>
                  </a:pathLst>
                </a:custGeom>
                <a:solidFill>
                  <a:srgbClr val="000000"/>
                </a:solidFill>
                <a:ln w="9525">
                  <a:noFill/>
                  <a:round/>
                  <a:headEnd/>
                  <a:tailEnd/>
                </a:ln>
              </p:spPr>
              <p:txBody>
                <a:bodyPr/>
                <a:lstStyle/>
                <a:p>
                  <a:endParaRPr lang="en-US"/>
                </a:p>
              </p:txBody>
            </p:sp>
            <p:sp>
              <p:nvSpPr>
                <p:cNvPr id="29886" name="Freeform 147"/>
                <p:cNvSpPr>
                  <a:spLocks/>
                </p:cNvSpPr>
                <p:nvPr/>
              </p:nvSpPr>
              <p:spPr bwMode="auto">
                <a:xfrm>
                  <a:off x="2154" y="3764"/>
                  <a:ext cx="27" cy="12"/>
                </a:xfrm>
                <a:custGeom>
                  <a:avLst/>
                  <a:gdLst>
                    <a:gd name="T0" fmla="*/ 1 w 53"/>
                    <a:gd name="T1" fmla="*/ 1 h 24"/>
                    <a:gd name="T2" fmla="*/ 1 w 53"/>
                    <a:gd name="T3" fmla="*/ 1 h 24"/>
                    <a:gd name="T4" fmla="*/ 1 w 53"/>
                    <a:gd name="T5" fmla="*/ 1 h 24"/>
                    <a:gd name="T6" fmla="*/ 1 w 53"/>
                    <a:gd name="T7" fmla="*/ 0 h 24"/>
                    <a:gd name="T8" fmla="*/ 1 w 53"/>
                    <a:gd name="T9" fmla="*/ 1 h 24"/>
                    <a:gd name="T10" fmla="*/ 0 w 53"/>
                    <a:gd name="T11" fmla="*/ 1 h 24"/>
                    <a:gd name="T12" fmla="*/ 1 w 53"/>
                    <a:gd name="T13" fmla="*/ 1 h 24"/>
                    <a:gd name="T14" fmla="*/ 1 w 53"/>
                    <a:gd name="T15" fmla="*/ 1 h 24"/>
                    <a:gd name="T16" fmla="*/ 0 w 53"/>
                    <a:gd name="T17" fmla="*/ 1 h 24"/>
                    <a:gd name="T18" fmla="*/ 1 w 53"/>
                    <a:gd name="T19" fmla="*/ 1 h 24"/>
                    <a:gd name="T20" fmla="*/ 1 w 53"/>
                    <a:gd name="T21" fmla="*/ 1 h 24"/>
                    <a:gd name="T22" fmla="*/ 1 w 53"/>
                    <a:gd name="T23" fmla="*/ 1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3"/>
                    <a:gd name="T37" fmla="*/ 0 h 24"/>
                    <a:gd name="T38" fmla="*/ 53 w 53"/>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3" h="24">
                      <a:moveTo>
                        <a:pt x="22" y="13"/>
                      </a:moveTo>
                      <a:lnTo>
                        <a:pt x="11" y="24"/>
                      </a:lnTo>
                      <a:lnTo>
                        <a:pt x="53" y="22"/>
                      </a:lnTo>
                      <a:lnTo>
                        <a:pt x="53" y="0"/>
                      </a:lnTo>
                      <a:lnTo>
                        <a:pt x="11" y="2"/>
                      </a:lnTo>
                      <a:lnTo>
                        <a:pt x="0" y="13"/>
                      </a:lnTo>
                      <a:lnTo>
                        <a:pt x="11" y="2"/>
                      </a:lnTo>
                      <a:lnTo>
                        <a:pt x="3" y="5"/>
                      </a:lnTo>
                      <a:lnTo>
                        <a:pt x="0" y="13"/>
                      </a:lnTo>
                      <a:lnTo>
                        <a:pt x="3" y="21"/>
                      </a:lnTo>
                      <a:lnTo>
                        <a:pt x="11" y="24"/>
                      </a:lnTo>
                      <a:lnTo>
                        <a:pt x="22" y="13"/>
                      </a:lnTo>
                      <a:close/>
                    </a:path>
                  </a:pathLst>
                </a:custGeom>
                <a:solidFill>
                  <a:srgbClr val="000000"/>
                </a:solidFill>
                <a:ln w="9525">
                  <a:noFill/>
                  <a:round/>
                  <a:headEnd/>
                  <a:tailEnd/>
                </a:ln>
              </p:spPr>
              <p:txBody>
                <a:bodyPr/>
                <a:lstStyle/>
                <a:p>
                  <a:endParaRPr lang="en-US"/>
                </a:p>
              </p:txBody>
            </p:sp>
            <p:sp>
              <p:nvSpPr>
                <p:cNvPr id="29887" name="Freeform 148"/>
                <p:cNvSpPr>
                  <a:spLocks/>
                </p:cNvSpPr>
                <p:nvPr/>
              </p:nvSpPr>
              <p:spPr bwMode="auto">
                <a:xfrm>
                  <a:off x="2168" y="3561"/>
                  <a:ext cx="105" cy="191"/>
                </a:xfrm>
                <a:custGeom>
                  <a:avLst/>
                  <a:gdLst>
                    <a:gd name="T0" fmla="*/ 0 w 211"/>
                    <a:gd name="T1" fmla="*/ 1 h 381"/>
                    <a:gd name="T2" fmla="*/ 0 w 211"/>
                    <a:gd name="T3" fmla="*/ 1 h 381"/>
                    <a:gd name="T4" fmla="*/ 0 w 211"/>
                    <a:gd name="T5" fmla="*/ 1 h 381"/>
                    <a:gd name="T6" fmla="*/ 0 w 211"/>
                    <a:gd name="T7" fmla="*/ 1 h 381"/>
                    <a:gd name="T8" fmla="*/ 0 w 211"/>
                    <a:gd name="T9" fmla="*/ 1 h 381"/>
                    <a:gd name="T10" fmla="*/ 0 w 211"/>
                    <a:gd name="T11" fmla="*/ 1 h 381"/>
                    <a:gd name="T12" fmla="*/ 0 w 211"/>
                    <a:gd name="T13" fmla="*/ 1 h 381"/>
                    <a:gd name="T14" fmla="*/ 0 w 211"/>
                    <a:gd name="T15" fmla="*/ 1 h 381"/>
                    <a:gd name="T16" fmla="*/ 0 w 211"/>
                    <a:gd name="T17" fmla="*/ 1 h 381"/>
                    <a:gd name="T18" fmla="*/ 0 w 211"/>
                    <a:gd name="T19" fmla="*/ 1 h 381"/>
                    <a:gd name="T20" fmla="*/ 0 w 211"/>
                    <a:gd name="T21" fmla="*/ 1 h 381"/>
                    <a:gd name="T22" fmla="*/ 0 w 211"/>
                    <a:gd name="T23" fmla="*/ 1 h 381"/>
                    <a:gd name="T24" fmla="*/ 0 w 211"/>
                    <a:gd name="T25" fmla="*/ 1 h 381"/>
                    <a:gd name="T26" fmla="*/ 0 w 211"/>
                    <a:gd name="T27" fmla="*/ 1 h 381"/>
                    <a:gd name="T28" fmla="*/ 0 w 211"/>
                    <a:gd name="T29" fmla="*/ 1 h 381"/>
                    <a:gd name="T30" fmla="*/ 0 w 211"/>
                    <a:gd name="T31" fmla="*/ 1 h 381"/>
                    <a:gd name="T32" fmla="*/ 0 w 211"/>
                    <a:gd name="T33" fmla="*/ 1 h 381"/>
                    <a:gd name="T34" fmla="*/ 0 w 211"/>
                    <a:gd name="T35" fmla="*/ 1 h 381"/>
                    <a:gd name="T36" fmla="*/ 0 w 211"/>
                    <a:gd name="T37" fmla="*/ 1 h 381"/>
                    <a:gd name="T38" fmla="*/ 0 w 211"/>
                    <a:gd name="T39" fmla="*/ 1 h 381"/>
                    <a:gd name="T40" fmla="*/ 0 w 211"/>
                    <a:gd name="T41" fmla="*/ 1 h 381"/>
                    <a:gd name="T42" fmla="*/ 0 w 211"/>
                    <a:gd name="T43" fmla="*/ 1 h 381"/>
                    <a:gd name="T44" fmla="*/ 0 w 211"/>
                    <a:gd name="T45" fmla="*/ 1 h 381"/>
                    <a:gd name="T46" fmla="*/ 0 w 211"/>
                    <a:gd name="T47" fmla="*/ 1 h 381"/>
                    <a:gd name="T48" fmla="*/ 0 w 211"/>
                    <a:gd name="T49" fmla="*/ 1 h 381"/>
                    <a:gd name="T50" fmla="*/ 0 w 211"/>
                    <a:gd name="T51" fmla="*/ 1 h 381"/>
                    <a:gd name="T52" fmla="*/ 0 w 211"/>
                    <a:gd name="T53" fmla="*/ 1 h 381"/>
                    <a:gd name="T54" fmla="*/ 0 w 211"/>
                    <a:gd name="T55" fmla="*/ 1 h 381"/>
                    <a:gd name="T56" fmla="*/ 0 w 211"/>
                    <a:gd name="T57" fmla="*/ 1 h 381"/>
                    <a:gd name="T58" fmla="*/ 0 w 211"/>
                    <a:gd name="T59" fmla="*/ 1 h 381"/>
                    <a:gd name="T60" fmla="*/ 0 w 211"/>
                    <a:gd name="T61" fmla="*/ 1 h 381"/>
                    <a:gd name="T62" fmla="*/ 0 w 211"/>
                    <a:gd name="T63" fmla="*/ 1 h 38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381"/>
                    <a:gd name="T98" fmla="*/ 211 w 211"/>
                    <a:gd name="T99" fmla="*/ 381 h 38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381">
                      <a:moveTo>
                        <a:pt x="114" y="359"/>
                      </a:moveTo>
                      <a:lnTo>
                        <a:pt x="122" y="356"/>
                      </a:lnTo>
                      <a:lnTo>
                        <a:pt x="131" y="348"/>
                      </a:lnTo>
                      <a:lnTo>
                        <a:pt x="145" y="337"/>
                      </a:lnTo>
                      <a:lnTo>
                        <a:pt x="161" y="319"/>
                      </a:lnTo>
                      <a:lnTo>
                        <a:pt x="175" y="294"/>
                      </a:lnTo>
                      <a:lnTo>
                        <a:pt x="189" y="259"/>
                      </a:lnTo>
                      <a:lnTo>
                        <a:pt x="198" y="214"/>
                      </a:lnTo>
                      <a:lnTo>
                        <a:pt x="206" y="156"/>
                      </a:lnTo>
                      <a:lnTo>
                        <a:pt x="209" y="101"/>
                      </a:lnTo>
                      <a:lnTo>
                        <a:pt x="211" y="62"/>
                      </a:lnTo>
                      <a:lnTo>
                        <a:pt x="211" y="36"/>
                      </a:lnTo>
                      <a:lnTo>
                        <a:pt x="211" y="20"/>
                      </a:lnTo>
                      <a:lnTo>
                        <a:pt x="211" y="12"/>
                      </a:lnTo>
                      <a:lnTo>
                        <a:pt x="209" y="9"/>
                      </a:lnTo>
                      <a:lnTo>
                        <a:pt x="208" y="10"/>
                      </a:lnTo>
                      <a:lnTo>
                        <a:pt x="206" y="9"/>
                      </a:lnTo>
                      <a:lnTo>
                        <a:pt x="205" y="4"/>
                      </a:lnTo>
                      <a:lnTo>
                        <a:pt x="200" y="1"/>
                      </a:lnTo>
                      <a:lnTo>
                        <a:pt x="194" y="0"/>
                      </a:lnTo>
                      <a:lnTo>
                        <a:pt x="187" y="1"/>
                      </a:lnTo>
                      <a:lnTo>
                        <a:pt x="181" y="4"/>
                      </a:lnTo>
                      <a:lnTo>
                        <a:pt x="175" y="7"/>
                      </a:lnTo>
                      <a:lnTo>
                        <a:pt x="170" y="12"/>
                      </a:lnTo>
                      <a:lnTo>
                        <a:pt x="167" y="18"/>
                      </a:lnTo>
                      <a:lnTo>
                        <a:pt x="159" y="26"/>
                      </a:lnTo>
                      <a:lnTo>
                        <a:pt x="148" y="36"/>
                      </a:lnTo>
                      <a:lnTo>
                        <a:pt x="133" y="45"/>
                      </a:lnTo>
                      <a:lnTo>
                        <a:pt x="123" y="48"/>
                      </a:lnTo>
                      <a:lnTo>
                        <a:pt x="112" y="53"/>
                      </a:lnTo>
                      <a:lnTo>
                        <a:pt x="101" y="56"/>
                      </a:lnTo>
                      <a:lnTo>
                        <a:pt x="90" y="59"/>
                      </a:lnTo>
                      <a:lnTo>
                        <a:pt x="79" y="62"/>
                      </a:lnTo>
                      <a:lnTo>
                        <a:pt x="70" y="65"/>
                      </a:lnTo>
                      <a:lnTo>
                        <a:pt x="62" y="67"/>
                      </a:lnTo>
                      <a:lnTo>
                        <a:pt x="57" y="68"/>
                      </a:lnTo>
                      <a:lnTo>
                        <a:pt x="51" y="70"/>
                      </a:lnTo>
                      <a:lnTo>
                        <a:pt x="47" y="73"/>
                      </a:lnTo>
                      <a:lnTo>
                        <a:pt x="43" y="75"/>
                      </a:lnTo>
                      <a:lnTo>
                        <a:pt x="40" y="78"/>
                      </a:lnTo>
                      <a:lnTo>
                        <a:pt x="36" y="86"/>
                      </a:lnTo>
                      <a:lnTo>
                        <a:pt x="28" y="100"/>
                      </a:lnTo>
                      <a:lnTo>
                        <a:pt x="21" y="120"/>
                      </a:lnTo>
                      <a:lnTo>
                        <a:pt x="14" y="143"/>
                      </a:lnTo>
                      <a:lnTo>
                        <a:pt x="7" y="169"/>
                      </a:lnTo>
                      <a:lnTo>
                        <a:pt x="3" y="194"/>
                      </a:lnTo>
                      <a:lnTo>
                        <a:pt x="0" y="215"/>
                      </a:lnTo>
                      <a:lnTo>
                        <a:pt x="0" y="234"/>
                      </a:lnTo>
                      <a:lnTo>
                        <a:pt x="1" y="251"/>
                      </a:lnTo>
                      <a:lnTo>
                        <a:pt x="4" y="273"/>
                      </a:lnTo>
                      <a:lnTo>
                        <a:pt x="7" y="297"/>
                      </a:lnTo>
                      <a:lnTo>
                        <a:pt x="11" y="322"/>
                      </a:lnTo>
                      <a:lnTo>
                        <a:pt x="15" y="344"/>
                      </a:lnTo>
                      <a:lnTo>
                        <a:pt x="20" y="363"/>
                      </a:lnTo>
                      <a:lnTo>
                        <a:pt x="26" y="375"/>
                      </a:lnTo>
                      <a:lnTo>
                        <a:pt x="31" y="381"/>
                      </a:lnTo>
                      <a:lnTo>
                        <a:pt x="37" y="381"/>
                      </a:lnTo>
                      <a:lnTo>
                        <a:pt x="47" y="381"/>
                      </a:lnTo>
                      <a:lnTo>
                        <a:pt x="59" y="378"/>
                      </a:lnTo>
                      <a:lnTo>
                        <a:pt x="72" y="375"/>
                      </a:lnTo>
                      <a:lnTo>
                        <a:pt x="86" y="370"/>
                      </a:lnTo>
                      <a:lnTo>
                        <a:pt x="98" y="367"/>
                      </a:lnTo>
                      <a:lnTo>
                        <a:pt x="108" y="363"/>
                      </a:lnTo>
                      <a:lnTo>
                        <a:pt x="114" y="359"/>
                      </a:lnTo>
                      <a:close/>
                    </a:path>
                  </a:pathLst>
                </a:custGeom>
                <a:solidFill>
                  <a:srgbClr val="FF7226"/>
                </a:solidFill>
                <a:ln w="9525">
                  <a:noFill/>
                  <a:round/>
                  <a:headEnd/>
                  <a:tailEnd/>
                </a:ln>
              </p:spPr>
              <p:txBody>
                <a:bodyPr/>
                <a:lstStyle/>
                <a:p>
                  <a:endParaRPr lang="en-US"/>
                </a:p>
              </p:txBody>
            </p:sp>
            <p:sp>
              <p:nvSpPr>
                <p:cNvPr id="29888" name="Freeform 149"/>
                <p:cNvSpPr>
                  <a:spLocks/>
                </p:cNvSpPr>
                <p:nvPr/>
              </p:nvSpPr>
              <p:spPr bwMode="auto">
                <a:xfrm>
                  <a:off x="2223" y="3639"/>
                  <a:ext cx="54" cy="106"/>
                </a:xfrm>
                <a:custGeom>
                  <a:avLst/>
                  <a:gdLst>
                    <a:gd name="T0" fmla="*/ 1 w 108"/>
                    <a:gd name="T1" fmla="*/ 0 h 213"/>
                    <a:gd name="T2" fmla="*/ 1 w 108"/>
                    <a:gd name="T3" fmla="*/ 0 h 213"/>
                    <a:gd name="T4" fmla="*/ 1 w 108"/>
                    <a:gd name="T5" fmla="*/ 0 h 213"/>
                    <a:gd name="T6" fmla="*/ 1 w 108"/>
                    <a:gd name="T7" fmla="*/ 0 h 213"/>
                    <a:gd name="T8" fmla="*/ 1 w 108"/>
                    <a:gd name="T9" fmla="*/ 0 h 213"/>
                    <a:gd name="T10" fmla="*/ 1 w 108"/>
                    <a:gd name="T11" fmla="*/ 0 h 213"/>
                    <a:gd name="T12" fmla="*/ 1 w 108"/>
                    <a:gd name="T13" fmla="*/ 0 h 213"/>
                    <a:gd name="T14" fmla="*/ 1 w 108"/>
                    <a:gd name="T15" fmla="*/ 0 h 213"/>
                    <a:gd name="T16" fmla="*/ 1 w 108"/>
                    <a:gd name="T17" fmla="*/ 0 h 213"/>
                    <a:gd name="T18" fmla="*/ 0 w 108"/>
                    <a:gd name="T19" fmla="*/ 0 h 213"/>
                    <a:gd name="T20" fmla="*/ 1 w 108"/>
                    <a:gd name="T21" fmla="*/ 0 h 213"/>
                    <a:gd name="T22" fmla="*/ 1 w 108"/>
                    <a:gd name="T23" fmla="*/ 0 h 213"/>
                    <a:gd name="T24" fmla="*/ 1 w 108"/>
                    <a:gd name="T25" fmla="*/ 0 h 213"/>
                    <a:gd name="T26" fmla="*/ 1 w 108"/>
                    <a:gd name="T27" fmla="*/ 0 h 213"/>
                    <a:gd name="T28" fmla="*/ 1 w 108"/>
                    <a:gd name="T29" fmla="*/ 0 h 213"/>
                    <a:gd name="T30" fmla="*/ 1 w 108"/>
                    <a:gd name="T31" fmla="*/ 0 h 213"/>
                    <a:gd name="T32" fmla="*/ 1 w 108"/>
                    <a:gd name="T33" fmla="*/ 0 h 213"/>
                    <a:gd name="T34" fmla="*/ 1 w 108"/>
                    <a:gd name="T35" fmla="*/ 0 h 213"/>
                    <a:gd name="T36" fmla="*/ 1 w 108"/>
                    <a:gd name="T37" fmla="*/ 0 h 213"/>
                    <a:gd name="T38" fmla="*/ 1 w 108"/>
                    <a:gd name="T39" fmla="*/ 0 h 213"/>
                    <a:gd name="T40" fmla="*/ 1 w 108"/>
                    <a:gd name="T41" fmla="*/ 0 h 2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8"/>
                    <a:gd name="T64" fmla="*/ 0 h 213"/>
                    <a:gd name="T65" fmla="*/ 108 w 108"/>
                    <a:gd name="T66" fmla="*/ 213 h 21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8" h="213">
                      <a:moveTo>
                        <a:pt x="86" y="0"/>
                      </a:moveTo>
                      <a:lnTo>
                        <a:pt x="86" y="0"/>
                      </a:lnTo>
                      <a:lnTo>
                        <a:pt x="78" y="56"/>
                      </a:lnTo>
                      <a:lnTo>
                        <a:pt x="69" y="100"/>
                      </a:lnTo>
                      <a:lnTo>
                        <a:pt x="57" y="133"/>
                      </a:lnTo>
                      <a:lnTo>
                        <a:pt x="42" y="156"/>
                      </a:lnTo>
                      <a:lnTo>
                        <a:pt x="28" y="174"/>
                      </a:lnTo>
                      <a:lnTo>
                        <a:pt x="16" y="185"/>
                      </a:lnTo>
                      <a:lnTo>
                        <a:pt x="6" y="191"/>
                      </a:lnTo>
                      <a:lnTo>
                        <a:pt x="0" y="194"/>
                      </a:lnTo>
                      <a:lnTo>
                        <a:pt x="10" y="213"/>
                      </a:lnTo>
                      <a:lnTo>
                        <a:pt x="19" y="210"/>
                      </a:lnTo>
                      <a:lnTo>
                        <a:pt x="28" y="200"/>
                      </a:lnTo>
                      <a:lnTo>
                        <a:pt x="44" y="189"/>
                      </a:lnTo>
                      <a:lnTo>
                        <a:pt x="61" y="169"/>
                      </a:lnTo>
                      <a:lnTo>
                        <a:pt x="75" y="142"/>
                      </a:lnTo>
                      <a:lnTo>
                        <a:pt x="91" y="106"/>
                      </a:lnTo>
                      <a:lnTo>
                        <a:pt x="100" y="59"/>
                      </a:lnTo>
                      <a:lnTo>
                        <a:pt x="108" y="0"/>
                      </a:lnTo>
                      <a:lnTo>
                        <a:pt x="86" y="0"/>
                      </a:lnTo>
                      <a:close/>
                    </a:path>
                  </a:pathLst>
                </a:custGeom>
                <a:solidFill>
                  <a:srgbClr val="000000"/>
                </a:solidFill>
                <a:ln w="9525">
                  <a:noFill/>
                  <a:round/>
                  <a:headEnd/>
                  <a:tailEnd/>
                </a:ln>
              </p:spPr>
              <p:txBody>
                <a:bodyPr/>
                <a:lstStyle/>
                <a:p>
                  <a:endParaRPr lang="en-US"/>
                </a:p>
              </p:txBody>
            </p:sp>
            <p:sp>
              <p:nvSpPr>
                <p:cNvPr id="29889" name="Freeform 150"/>
                <p:cNvSpPr>
                  <a:spLocks/>
                </p:cNvSpPr>
                <p:nvPr/>
              </p:nvSpPr>
              <p:spPr bwMode="auto">
                <a:xfrm>
                  <a:off x="2266" y="3561"/>
                  <a:ext cx="13" cy="78"/>
                </a:xfrm>
                <a:custGeom>
                  <a:avLst/>
                  <a:gdLst>
                    <a:gd name="T0" fmla="*/ 0 w 27"/>
                    <a:gd name="T1" fmla="*/ 1 h 156"/>
                    <a:gd name="T2" fmla="*/ 0 w 27"/>
                    <a:gd name="T3" fmla="*/ 1 h 156"/>
                    <a:gd name="T4" fmla="*/ 0 w 27"/>
                    <a:gd name="T5" fmla="*/ 1 h 156"/>
                    <a:gd name="T6" fmla="*/ 0 w 27"/>
                    <a:gd name="T7" fmla="*/ 1 h 156"/>
                    <a:gd name="T8" fmla="*/ 0 w 27"/>
                    <a:gd name="T9" fmla="*/ 1 h 156"/>
                    <a:gd name="T10" fmla="*/ 0 w 27"/>
                    <a:gd name="T11" fmla="*/ 1 h 156"/>
                    <a:gd name="T12" fmla="*/ 0 w 27"/>
                    <a:gd name="T13" fmla="*/ 1 h 156"/>
                    <a:gd name="T14" fmla="*/ 0 w 27"/>
                    <a:gd name="T15" fmla="*/ 1 h 156"/>
                    <a:gd name="T16" fmla="*/ 0 w 27"/>
                    <a:gd name="T17" fmla="*/ 1 h 156"/>
                    <a:gd name="T18" fmla="*/ 0 w 27"/>
                    <a:gd name="T19" fmla="*/ 1 h 156"/>
                    <a:gd name="T20" fmla="*/ 0 w 27"/>
                    <a:gd name="T21" fmla="*/ 1 h 156"/>
                    <a:gd name="T22" fmla="*/ 0 w 27"/>
                    <a:gd name="T23" fmla="*/ 1 h 156"/>
                    <a:gd name="T24" fmla="*/ 0 w 27"/>
                    <a:gd name="T25" fmla="*/ 1 h 156"/>
                    <a:gd name="T26" fmla="*/ 0 w 27"/>
                    <a:gd name="T27" fmla="*/ 1 h 156"/>
                    <a:gd name="T28" fmla="*/ 0 w 27"/>
                    <a:gd name="T29" fmla="*/ 1 h 156"/>
                    <a:gd name="T30" fmla="*/ 0 w 27"/>
                    <a:gd name="T31" fmla="*/ 1 h 156"/>
                    <a:gd name="T32" fmla="*/ 0 w 27"/>
                    <a:gd name="T33" fmla="*/ 0 h 156"/>
                    <a:gd name="T34" fmla="*/ 0 w 27"/>
                    <a:gd name="T35" fmla="*/ 1 h 156"/>
                    <a:gd name="T36" fmla="*/ 0 w 27"/>
                    <a:gd name="T37" fmla="*/ 1 h 156"/>
                    <a:gd name="T38" fmla="*/ 0 w 27"/>
                    <a:gd name="T39" fmla="*/ 1 h 156"/>
                    <a:gd name="T40" fmla="*/ 0 w 27"/>
                    <a:gd name="T41" fmla="*/ 1 h 156"/>
                    <a:gd name="T42" fmla="*/ 0 w 27"/>
                    <a:gd name="T43" fmla="*/ 1 h 156"/>
                    <a:gd name="T44" fmla="*/ 0 w 27"/>
                    <a:gd name="T45" fmla="*/ 1 h 156"/>
                    <a:gd name="T46" fmla="*/ 0 w 27"/>
                    <a:gd name="T47" fmla="*/ 1 h 156"/>
                    <a:gd name="T48" fmla="*/ 0 w 27"/>
                    <a:gd name="T49" fmla="*/ 1 h 156"/>
                    <a:gd name="T50" fmla="*/ 0 w 27"/>
                    <a:gd name="T51" fmla="*/ 1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7"/>
                    <a:gd name="T79" fmla="*/ 0 h 156"/>
                    <a:gd name="T80" fmla="*/ 27 w 27"/>
                    <a:gd name="T81" fmla="*/ 156 h 15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7" h="156">
                      <a:moveTo>
                        <a:pt x="3" y="15"/>
                      </a:moveTo>
                      <a:lnTo>
                        <a:pt x="22" y="15"/>
                      </a:lnTo>
                      <a:lnTo>
                        <a:pt x="21" y="18"/>
                      </a:lnTo>
                      <a:lnTo>
                        <a:pt x="10" y="18"/>
                      </a:lnTo>
                      <a:lnTo>
                        <a:pt x="5" y="14"/>
                      </a:lnTo>
                      <a:lnTo>
                        <a:pt x="5" y="20"/>
                      </a:lnTo>
                      <a:lnTo>
                        <a:pt x="5" y="36"/>
                      </a:lnTo>
                      <a:lnTo>
                        <a:pt x="5" y="62"/>
                      </a:lnTo>
                      <a:lnTo>
                        <a:pt x="3" y="101"/>
                      </a:lnTo>
                      <a:lnTo>
                        <a:pt x="0" y="156"/>
                      </a:lnTo>
                      <a:lnTo>
                        <a:pt x="22" y="156"/>
                      </a:lnTo>
                      <a:lnTo>
                        <a:pt x="25" y="101"/>
                      </a:lnTo>
                      <a:lnTo>
                        <a:pt x="27" y="62"/>
                      </a:lnTo>
                      <a:lnTo>
                        <a:pt x="27" y="36"/>
                      </a:lnTo>
                      <a:lnTo>
                        <a:pt x="27" y="20"/>
                      </a:lnTo>
                      <a:lnTo>
                        <a:pt x="27" y="10"/>
                      </a:lnTo>
                      <a:lnTo>
                        <a:pt x="19" y="0"/>
                      </a:lnTo>
                      <a:lnTo>
                        <a:pt x="5" y="3"/>
                      </a:lnTo>
                      <a:lnTo>
                        <a:pt x="3" y="6"/>
                      </a:lnTo>
                      <a:lnTo>
                        <a:pt x="22" y="6"/>
                      </a:lnTo>
                      <a:lnTo>
                        <a:pt x="2" y="6"/>
                      </a:lnTo>
                      <a:lnTo>
                        <a:pt x="2" y="15"/>
                      </a:lnTo>
                      <a:lnTo>
                        <a:pt x="8" y="21"/>
                      </a:lnTo>
                      <a:lnTo>
                        <a:pt x="18" y="21"/>
                      </a:lnTo>
                      <a:lnTo>
                        <a:pt x="24" y="15"/>
                      </a:lnTo>
                      <a:lnTo>
                        <a:pt x="3" y="15"/>
                      </a:lnTo>
                      <a:close/>
                    </a:path>
                  </a:pathLst>
                </a:custGeom>
                <a:solidFill>
                  <a:srgbClr val="000000"/>
                </a:solidFill>
                <a:ln w="9525">
                  <a:noFill/>
                  <a:round/>
                  <a:headEnd/>
                  <a:tailEnd/>
                </a:ln>
              </p:spPr>
              <p:txBody>
                <a:bodyPr/>
                <a:lstStyle/>
                <a:p>
                  <a:endParaRPr lang="en-US"/>
                </a:p>
              </p:txBody>
            </p:sp>
            <p:sp>
              <p:nvSpPr>
                <p:cNvPr id="29890" name="Freeform 151"/>
                <p:cNvSpPr>
                  <a:spLocks/>
                </p:cNvSpPr>
                <p:nvPr/>
              </p:nvSpPr>
              <p:spPr bwMode="auto">
                <a:xfrm>
                  <a:off x="2265" y="3555"/>
                  <a:ext cx="12" cy="14"/>
                </a:xfrm>
                <a:custGeom>
                  <a:avLst/>
                  <a:gdLst>
                    <a:gd name="T0" fmla="*/ 0 w 23"/>
                    <a:gd name="T1" fmla="*/ 1 h 26"/>
                    <a:gd name="T2" fmla="*/ 0 w 23"/>
                    <a:gd name="T3" fmla="*/ 1 h 26"/>
                    <a:gd name="T4" fmla="*/ 1 w 23"/>
                    <a:gd name="T5" fmla="*/ 1 h 26"/>
                    <a:gd name="T6" fmla="*/ 1 w 23"/>
                    <a:gd name="T7" fmla="*/ 1 h 26"/>
                    <a:gd name="T8" fmla="*/ 1 w 23"/>
                    <a:gd name="T9" fmla="*/ 1 h 26"/>
                    <a:gd name="T10" fmla="*/ 1 w 23"/>
                    <a:gd name="T11" fmla="*/ 1 h 26"/>
                    <a:gd name="T12" fmla="*/ 1 w 23"/>
                    <a:gd name="T13" fmla="*/ 1 h 26"/>
                    <a:gd name="T14" fmla="*/ 1 w 23"/>
                    <a:gd name="T15" fmla="*/ 1 h 26"/>
                    <a:gd name="T16" fmla="*/ 1 w 23"/>
                    <a:gd name="T17" fmla="*/ 1 h 26"/>
                    <a:gd name="T18" fmla="*/ 1 w 23"/>
                    <a:gd name="T19" fmla="*/ 1 h 26"/>
                    <a:gd name="T20" fmla="*/ 0 w 23"/>
                    <a:gd name="T21" fmla="*/ 0 h 26"/>
                    <a:gd name="T22" fmla="*/ 0 w 23"/>
                    <a:gd name="T23" fmla="*/ 0 h 26"/>
                    <a:gd name="T24" fmla="*/ 0 w 23"/>
                    <a:gd name="T25" fmla="*/ 1 h 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6"/>
                    <a:gd name="T41" fmla="*/ 23 w 23"/>
                    <a:gd name="T42" fmla="*/ 26 h 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6">
                      <a:moveTo>
                        <a:pt x="0" y="21"/>
                      </a:moveTo>
                      <a:lnTo>
                        <a:pt x="0" y="21"/>
                      </a:lnTo>
                      <a:lnTo>
                        <a:pt x="1" y="21"/>
                      </a:lnTo>
                      <a:lnTo>
                        <a:pt x="3" y="21"/>
                      </a:lnTo>
                      <a:lnTo>
                        <a:pt x="3" y="25"/>
                      </a:lnTo>
                      <a:lnTo>
                        <a:pt x="4" y="26"/>
                      </a:lnTo>
                      <a:lnTo>
                        <a:pt x="23" y="17"/>
                      </a:lnTo>
                      <a:lnTo>
                        <a:pt x="22" y="15"/>
                      </a:lnTo>
                      <a:lnTo>
                        <a:pt x="19" y="9"/>
                      </a:lnTo>
                      <a:lnTo>
                        <a:pt x="11" y="3"/>
                      </a:lnTo>
                      <a:lnTo>
                        <a:pt x="0" y="0"/>
                      </a:lnTo>
                      <a:lnTo>
                        <a:pt x="0" y="21"/>
                      </a:lnTo>
                      <a:close/>
                    </a:path>
                  </a:pathLst>
                </a:custGeom>
                <a:solidFill>
                  <a:srgbClr val="000000"/>
                </a:solidFill>
                <a:ln w="9525">
                  <a:noFill/>
                  <a:round/>
                  <a:headEnd/>
                  <a:tailEnd/>
                </a:ln>
              </p:spPr>
              <p:txBody>
                <a:bodyPr/>
                <a:lstStyle/>
                <a:p>
                  <a:endParaRPr lang="en-US"/>
                </a:p>
              </p:txBody>
            </p:sp>
            <p:sp>
              <p:nvSpPr>
                <p:cNvPr id="29891" name="Freeform 152"/>
                <p:cNvSpPr>
                  <a:spLocks/>
                </p:cNvSpPr>
                <p:nvPr/>
              </p:nvSpPr>
              <p:spPr bwMode="auto">
                <a:xfrm>
                  <a:off x="2248" y="3555"/>
                  <a:ext cx="17" cy="16"/>
                </a:xfrm>
                <a:custGeom>
                  <a:avLst/>
                  <a:gdLst>
                    <a:gd name="T0" fmla="*/ 1 w 33"/>
                    <a:gd name="T1" fmla="*/ 1 h 31"/>
                    <a:gd name="T2" fmla="*/ 1 w 33"/>
                    <a:gd name="T3" fmla="*/ 1 h 31"/>
                    <a:gd name="T4" fmla="*/ 1 w 33"/>
                    <a:gd name="T5" fmla="*/ 1 h 31"/>
                    <a:gd name="T6" fmla="*/ 1 w 33"/>
                    <a:gd name="T7" fmla="*/ 1 h 31"/>
                    <a:gd name="T8" fmla="*/ 1 w 33"/>
                    <a:gd name="T9" fmla="*/ 1 h 31"/>
                    <a:gd name="T10" fmla="*/ 1 w 33"/>
                    <a:gd name="T11" fmla="*/ 1 h 31"/>
                    <a:gd name="T12" fmla="*/ 1 w 33"/>
                    <a:gd name="T13" fmla="*/ 0 h 31"/>
                    <a:gd name="T14" fmla="*/ 1 w 33"/>
                    <a:gd name="T15" fmla="*/ 1 h 31"/>
                    <a:gd name="T16" fmla="*/ 1 w 33"/>
                    <a:gd name="T17" fmla="*/ 1 h 31"/>
                    <a:gd name="T18" fmla="*/ 1 w 33"/>
                    <a:gd name="T19" fmla="*/ 1 h 31"/>
                    <a:gd name="T20" fmla="*/ 1 w 33"/>
                    <a:gd name="T21" fmla="*/ 1 h 31"/>
                    <a:gd name="T22" fmla="*/ 0 w 33"/>
                    <a:gd name="T23" fmla="*/ 1 h 31"/>
                    <a:gd name="T24" fmla="*/ 1 w 33"/>
                    <a:gd name="T25" fmla="*/ 1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31"/>
                    <a:gd name="T41" fmla="*/ 33 w 33"/>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31">
                      <a:moveTo>
                        <a:pt x="19" y="28"/>
                      </a:moveTo>
                      <a:lnTo>
                        <a:pt x="17" y="31"/>
                      </a:lnTo>
                      <a:lnTo>
                        <a:pt x="20" y="28"/>
                      </a:lnTo>
                      <a:lnTo>
                        <a:pt x="25" y="25"/>
                      </a:lnTo>
                      <a:lnTo>
                        <a:pt x="30" y="23"/>
                      </a:lnTo>
                      <a:lnTo>
                        <a:pt x="33" y="21"/>
                      </a:lnTo>
                      <a:lnTo>
                        <a:pt x="33" y="0"/>
                      </a:lnTo>
                      <a:lnTo>
                        <a:pt x="23" y="1"/>
                      </a:lnTo>
                      <a:lnTo>
                        <a:pt x="15" y="6"/>
                      </a:lnTo>
                      <a:lnTo>
                        <a:pt x="8" y="9"/>
                      </a:lnTo>
                      <a:lnTo>
                        <a:pt x="1" y="15"/>
                      </a:lnTo>
                      <a:lnTo>
                        <a:pt x="0" y="18"/>
                      </a:lnTo>
                      <a:lnTo>
                        <a:pt x="19" y="28"/>
                      </a:lnTo>
                      <a:close/>
                    </a:path>
                  </a:pathLst>
                </a:custGeom>
                <a:solidFill>
                  <a:srgbClr val="000000"/>
                </a:solidFill>
                <a:ln w="9525">
                  <a:noFill/>
                  <a:round/>
                  <a:headEnd/>
                  <a:tailEnd/>
                </a:ln>
              </p:spPr>
              <p:txBody>
                <a:bodyPr/>
                <a:lstStyle/>
                <a:p>
                  <a:endParaRPr lang="en-US"/>
                </a:p>
              </p:txBody>
            </p:sp>
            <p:sp>
              <p:nvSpPr>
                <p:cNvPr id="29892" name="Freeform 153"/>
                <p:cNvSpPr>
                  <a:spLocks/>
                </p:cNvSpPr>
                <p:nvPr/>
              </p:nvSpPr>
              <p:spPr bwMode="auto">
                <a:xfrm>
                  <a:off x="2232" y="3565"/>
                  <a:ext cx="26" cy="23"/>
                </a:xfrm>
                <a:custGeom>
                  <a:avLst/>
                  <a:gdLst>
                    <a:gd name="T0" fmla="*/ 1 w 52"/>
                    <a:gd name="T1" fmla="*/ 0 h 47"/>
                    <a:gd name="T2" fmla="*/ 1 w 52"/>
                    <a:gd name="T3" fmla="*/ 0 h 47"/>
                    <a:gd name="T4" fmla="*/ 1 w 52"/>
                    <a:gd name="T5" fmla="*/ 0 h 47"/>
                    <a:gd name="T6" fmla="*/ 1 w 52"/>
                    <a:gd name="T7" fmla="*/ 0 h 47"/>
                    <a:gd name="T8" fmla="*/ 1 w 52"/>
                    <a:gd name="T9" fmla="*/ 0 h 47"/>
                    <a:gd name="T10" fmla="*/ 1 w 52"/>
                    <a:gd name="T11" fmla="*/ 0 h 47"/>
                    <a:gd name="T12" fmla="*/ 1 w 52"/>
                    <a:gd name="T13" fmla="*/ 0 h 47"/>
                    <a:gd name="T14" fmla="*/ 1 w 52"/>
                    <a:gd name="T15" fmla="*/ 0 h 47"/>
                    <a:gd name="T16" fmla="*/ 1 w 52"/>
                    <a:gd name="T17" fmla="*/ 0 h 47"/>
                    <a:gd name="T18" fmla="*/ 1 w 52"/>
                    <a:gd name="T19" fmla="*/ 0 h 47"/>
                    <a:gd name="T20" fmla="*/ 0 w 52"/>
                    <a:gd name="T21" fmla="*/ 0 h 47"/>
                    <a:gd name="T22" fmla="*/ 0 w 52"/>
                    <a:gd name="T23" fmla="*/ 0 h 47"/>
                    <a:gd name="T24" fmla="*/ 1 w 52"/>
                    <a:gd name="T25" fmla="*/ 0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
                    <a:gd name="T40" fmla="*/ 0 h 47"/>
                    <a:gd name="T41" fmla="*/ 52 w 52"/>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 h="47">
                      <a:moveTo>
                        <a:pt x="9" y="47"/>
                      </a:moveTo>
                      <a:lnTo>
                        <a:pt x="9" y="47"/>
                      </a:lnTo>
                      <a:lnTo>
                        <a:pt x="27" y="38"/>
                      </a:lnTo>
                      <a:lnTo>
                        <a:pt x="39" y="27"/>
                      </a:lnTo>
                      <a:lnTo>
                        <a:pt x="48" y="18"/>
                      </a:lnTo>
                      <a:lnTo>
                        <a:pt x="52" y="10"/>
                      </a:lnTo>
                      <a:lnTo>
                        <a:pt x="33" y="0"/>
                      </a:lnTo>
                      <a:lnTo>
                        <a:pt x="30" y="5"/>
                      </a:lnTo>
                      <a:lnTo>
                        <a:pt x="23" y="11"/>
                      </a:lnTo>
                      <a:lnTo>
                        <a:pt x="14" y="19"/>
                      </a:lnTo>
                      <a:lnTo>
                        <a:pt x="0" y="29"/>
                      </a:lnTo>
                      <a:lnTo>
                        <a:pt x="9" y="47"/>
                      </a:lnTo>
                      <a:close/>
                    </a:path>
                  </a:pathLst>
                </a:custGeom>
                <a:solidFill>
                  <a:srgbClr val="000000"/>
                </a:solidFill>
                <a:ln w="9525">
                  <a:noFill/>
                  <a:round/>
                  <a:headEnd/>
                  <a:tailEnd/>
                </a:ln>
              </p:spPr>
              <p:txBody>
                <a:bodyPr/>
                <a:lstStyle/>
                <a:p>
                  <a:endParaRPr lang="en-US"/>
                </a:p>
              </p:txBody>
            </p:sp>
            <p:sp>
              <p:nvSpPr>
                <p:cNvPr id="29893" name="Freeform 154"/>
                <p:cNvSpPr>
                  <a:spLocks/>
                </p:cNvSpPr>
                <p:nvPr/>
              </p:nvSpPr>
              <p:spPr bwMode="auto">
                <a:xfrm>
                  <a:off x="2196" y="3579"/>
                  <a:ext cx="41" cy="22"/>
                </a:xfrm>
                <a:custGeom>
                  <a:avLst/>
                  <a:gdLst>
                    <a:gd name="T0" fmla="*/ 1 w 81"/>
                    <a:gd name="T1" fmla="*/ 1 h 43"/>
                    <a:gd name="T2" fmla="*/ 1 w 81"/>
                    <a:gd name="T3" fmla="*/ 1 h 43"/>
                    <a:gd name="T4" fmla="*/ 1 w 81"/>
                    <a:gd name="T5" fmla="*/ 1 h 43"/>
                    <a:gd name="T6" fmla="*/ 1 w 81"/>
                    <a:gd name="T7" fmla="*/ 1 h 43"/>
                    <a:gd name="T8" fmla="*/ 1 w 81"/>
                    <a:gd name="T9" fmla="*/ 1 h 43"/>
                    <a:gd name="T10" fmla="*/ 1 w 81"/>
                    <a:gd name="T11" fmla="*/ 1 h 43"/>
                    <a:gd name="T12" fmla="*/ 1 w 81"/>
                    <a:gd name="T13" fmla="*/ 1 h 43"/>
                    <a:gd name="T14" fmla="*/ 1 w 81"/>
                    <a:gd name="T15" fmla="*/ 1 h 43"/>
                    <a:gd name="T16" fmla="*/ 1 w 81"/>
                    <a:gd name="T17" fmla="*/ 1 h 43"/>
                    <a:gd name="T18" fmla="*/ 1 w 81"/>
                    <a:gd name="T19" fmla="*/ 1 h 43"/>
                    <a:gd name="T20" fmla="*/ 1 w 81"/>
                    <a:gd name="T21" fmla="*/ 0 h 43"/>
                    <a:gd name="T22" fmla="*/ 1 w 81"/>
                    <a:gd name="T23" fmla="*/ 1 h 43"/>
                    <a:gd name="T24" fmla="*/ 1 w 81"/>
                    <a:gd name="T25" fmla="*/ 1 h 43"/>
                    <a:gd name="T26" fmla="*/ 1 w 81"/>
                    <a:gd name="T27" fmla="*/ 1 h 43"/>
                    <a:gd name="T28" fmla="*/ 1 w 81"/>
                    <a:gd name="T29" fmla="*/ 1 h 43"/>
                    <a:gd name="T30" fmla="*/ 1 w 81"/>
                    <a:gd name="T31" fmla="*/ 1 h 43"/>
                    <a:gd name="T32" fmla="*/ 1 w 81"/>
                    <a:gd name="T33" fmla="*/ 1 h 43"/>
                    <a:gd name="T34" fmla="*/ 1 w 81"/>
                    <a:gd name="T35" fmla="*/ 1 h 43"/>
                    <a:gd name="T36" fmla="*/ 0 w 81"/>
                    <a:gd name="T37" fmla="*/ 1 h 43"/>
                    <a:gd name="T38" fmla="*/ 0 w 81"/>
                    <a:gd name="T39" fmla="*/ 1 h 43"/>
                    <a:gd name="T40" fmla="*/ 1 w 81"/>
                    <a:gd name="T41" fmla="*/ 1 h 4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43"/>
                    <a:gd name="T65" fmla="*/ 81 w 81"/>
                    <a:gd name="T66" fmla="*/ 43 h 4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43">
                      <a:moveTo>
                        <a:pt x="3" y="43"/>
                      </a:moveTo>
                      <a:lnTo>
                        <a:pt x="3" y="43"/>
                      </a:lnTo>
                      <a:lnTo>
                        <a:pt x="9" y="42"/>
                      </a:lnTo>
                      <a:lnTo>
                        <a:pt x="17" y="40"/>
                      </a:lnTo>
                      <a:lnTo>
                        <a:pt x="27" y="37"/>
                      </a:lnTo>
                      <a:lnTo>
                        <a:pt x="38" y="34"/>
                      </a:lnTo>
                      <a:lnTo>
                        <a:pt x="48" y="31"/>
                      </a:lnTo>
                      <a:lnTo>
                        <a:pt x="59" y="28"/>
                      </a:lnTo>
                      <a:lnTo>
                        <a:pt x="70" y="23"/>
                      </a:lnTo>
                      <a:lnTo>
                        <a:pt x="81" y="18"/>
                      </a:lnTo>
                      <a:lnTo>
                        <a:pt x="72" y="0"/>
                      </a:lnTo>
                      <a:lnTo>
                        <a:pt x="64" y="1"/>
                      </a:lnTo>
                      <a:lnTo>
                        <a:pt x="53" y="6"/>
                      </a:lnTo>
                      <a:lnTo>
                        <a:pt x="42" y="9"/>
                      </a:lnTo>
                      <a:lnTo>
                        <a:pt x="31" y="12"/>
                      </a:lnTo>
                      <a:lnTo>
                        <a:pt x="20" y="15"/>
                      </a:lnTo>
                      <a:lnTo>
                        <a:pt x="11" y="18"/>
                      </a:lnTo>
                      <a:lnTo>
                        <a:pt x="3" y="20"/>
                      </a:lnTo>
                      <a:lnTo>
                        <a:pt x="0" y="21"/>
                      </a:lnTo>
                      <a:lnTo>
                        <a:pt x="3" y="43"/>
                      </a:lnTo>
                      <a:close/>
                    </a:path>
                  </a:pathLst>
                </a:custGeom>
                <a:solidFill>
                  <a:srgbClr val="000000"/>
                </a:solidFill>
                <a:ln w="9525">
                  <a:noFill/>
                  <a:round/>
                  <a:headEnd/>
                  <a:tailEnd/>
                </a:ln>
              </p:spPr>
              <p:txBody>
                <a:bodyPr/>
                <a:lstStyle/>
                <a:p>
                  <a:endParaRPr lang="en-US"/>
                </a:p>
              </p:txBody>
            </p:sp>
            <p:sp>
              <p:nvSpPr>
                <p:cNvPr id="29894" name="Freeform 155"/>
                <p:cNvSpPr>
                  <a:spLocks/>
                </p:cNvSpPr>
                <p:nvPr/>
              </p:nvSpPr>
              <p:spPr bwMode="auto">
                <a:xfrm>
                  <a:off x="2184" y="3590"/>
                  <a:ext cx="14" cy="15"/>
                </a:xfrm>
                <a:custGeom>
                  <a:avLst/>
                  <a:gdLst>
                    <a:gd name="T0" fmla="*/ 1 w 27"/>
                    <a:gd name="T1" fmla="*/ 1 h 30"/>
                    <a:gd name="T2" fmla="*/ 1 w 27"/>
                    <a:gd name="T3" fmla="*/ 1 h 30"/>
                    <a:gd name="T4" fmla="*/ 1 w 27"/>
                    <a:gd name="T5" fmla="*/ 1 h 30"/>
                    <a:gd name="T6" fmla="*/ 1 w 27"/>
                    <a:gd name="T7" fmla="*/ 1 h 30"/>
                    <a:gd name="T8" fmla="*/ 1 w 27"/>
                    <a:gd name="T9" fmla="*/ 1 h 30"/>
                    <a:gd name="T10" fmla="*/ 1 w 27"/>
                    <a:gd name="T11" fmla="*/ 1 h 30"/>
                    <a:gd name="T12" fmla="*/ 1 w 27"/>
                    <a:gd name="T13" fmla="*/ 0 h 30"/>
                    <a:gd name="T14" fmla="*/ 1 w 27"/>
                    <a:gd name="T15" fmla="*/ 1 h 30"/>
                    <a:gd name="T16" fmla="*/ 1 w 27"/>
                    <a:gd name="T17" fmla="*/ 1 h 30"/>
                    <a:gd name="T18" fmla="*/ 1 w 27"/>
                    <a:gd name="T19" fmla="*/ 1 h 30"/>
                    <a:gd name="T20" fmla="*/ 0 w 27"/>
                    <a:gd name="T21" fmla="*/ 1 h 30"/>
                    <a:gd name="T22" fmla="*/ 1 w 27"/>
                    <a:gd name="T23" fmla="*/ 1 h 30"/>
                    <a:gd name="T24" fmla="*/ 1 w 27"/>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30"/>
                    <a:gd name="T41" fmla="*/ 27 w 27"/>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30">
                      <a:moveTo>
                        <a:pt x="15" y="30"/>
                      </a:moveTo>
                      <a:lnTo>
                        <a:pt x="16" y="29"/>
                      </a:lnTo>
                      <a:lnTo>
                        <a:pt x="18" y="27"/>
                      </a:lnTo>
                      <a:lnTo>
                        <a:pt x="21" y="25"/>
                      </a:lnTo>
                      <a:lnTo>
                        <a:pt x="24" y="22"/>
                      </a:lnTo>
                      <a:lnTo>
                        <a:pt x="27" y="22"/>
                      </a:lnTo>
                      <a:lnTo>
                        <a:pt x="24" y="0"/>
                      </a:lnTo>
                      <a:lnTo>
                        <a:pt x="15" y="4"/>
                      </a:lnTo>
                      <a:lnTo>
                        <a:pt x="8" y="7"/>
                      </a:lnTo>
                      <a:lnTo>
                        <a:pt x="5" y="8"/>
                      </a:lnTo>
                      <a:lnTo>
                        <a:pt x="0" y="13"/>
                      </a:lnTo>
                      <a:lnTo>
                        <a:pt x="2" y="11"/>
                      </a:lnTo>
                      <a:lnTo>
                        <a:pt x="15" y="30"/>
                      </a:lnTo>
                      <a:close/>
                    </a:path>
                  </a:pathLst>
                </a:custGeom>
                <a:solidFill>
                  <a:srgbClr val="000000"/>
                </a:solidFill>
                <a:ln w="9525">
                  <a:noFill/>
                  <a:round/>
                  <a:headEnd/>
                  <a:tailEnd/>
                </a:ln>
              </p:spPr>
              <p:txBody>
                <a:bodyPr/>
                <a:lstStyle/>
                <a:p>
                  <a:endParaRPr lang="en-US"/>
                </a:p>
              </p:txBody>
            </p:sp>
            <p:sp>
              <p:nvSpPr>
                <p:cNvPr id="29895" name="Freeform 156"/>
                <p:cNvSpPr>
                  <a:spLocks/>
                </p:cNvSpPr>
                <p:nvPr/>
              </p:nvSpPr>
              <p:spPr bwMode="auto">
                <a:xfrm>
                  <a:off x="2162" y="3595"/>
                  <a:ext cx="29" cy="84"/>
                </a:xfrm>
                <a:custGeom>
                  <a:avLst/>
                  <a:gdLst>
                    <a:gd name="T0" fmla="*/ 1 w 58"/>
                    <a:gd name="T1" fmla="*/ 1 h 168"/>
                    <a:gd name="T2" fmla="*/ 1 w 58"/>
                    <a:gd name="T3" fmla="*/ 1 h 168"/>
                    <a:gd name="T4" fmla="*/ 1 w 58"/>
                    <a:gd name="T5" fmla="*/ 1 h 168"/>
                    <a:gd name="T6" fmla="*/ 1 w 58"/>
                    <a:gd name="T7" fmla="*/ 1 h 168"/>
                    <a:gd name="T8" fmla="*/ 1 w 58"/>
                    <a:gd name="T9" fmla="*/ 1 h 168"/>
                    <a:gd name="T10" fmla="*/ 1 w 58"/>
                    <a:gd name="T11" fmla="*/ 1 h 168"/>
                    <a:gd name="T12" fmla="*/ 1 w 58"/>
                    <a:gd name="T13" fmla="*/ 1 h 168"/>
                    <a:gd name="T14" fmla="*/ 1 w 58"/>
                    <a:gd name="T15" fmla="*/ 1 h 168"/>
                    <a:gd name="T16" fmla="*/ 1 w 58"/>
                    <a:gd name="T17" fmla="*/ 1 h 168"/>
                    <a:gd name="T18" fmla="*/ 1 w 58"/>
                    <a:gd name="T19" fmla="*/ 1 h 168"/>
                    <a:gd name="T20" fmla="*/ 1 w 58"/>
                    <a:gd name="T21" fmla="*/ 0 h 168"/>
                    <a:gd name="T22" fmla="*/ 1 w 58"/>
                    <a:gd name="T23" fmla="*/ 1 h 168"/>
                    <a:gd name="T24" fmla="*/ 1 w 58"/>
                    <a:gd name="T25" fmla="*/ 1 h 168"/>
                    <a:gd name="T26" fmla="*/ 1 w 58"/>
                    <a:gd name="T27" fmla="*/ 1 h 168"/>
                    <a:gd name="T28" fmla="*/ 1 w 58"/>
                    <a:gd name="T29" fmla="*/ 1 h 168"/>
                    <a:gd name="T30" fmla="*/ 1 w 58"/>
                    <a:gd name="T31" fmla="*/ 1 h 168"/>
                    <a:gd name="T32" fmla="*/ 1 w 58"/>
                    <a:gd name="T33" fmla="*/ 1 h 168"/>
                    <a:gd name="T34" fmla="*/ 0 w 58"/>
                    <a:gd name="T35" fmla="*/ 1 h 168"/>
                    <a:gd name="T36" fmla="*/ 0 w 58"/>
                    <a:gd name="T37" fmla="*/ 1 h 168"/>
                    <a:gd name="T38" fmla="*/ 0 w 58"/>
                    <a:gd name="T39" fmla="*/ 1 h 168"/>
                    <a:gd name="T40" fmla="*/ 1 w 58"/>
                    <a:gd name="T41" fmla="*/ 1 h 1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168"/>
                    <a:gd name="T65" fmla="*/ 58 w 58"/>
                    <a:gd name="T66" fmla="*/ 168 h 1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168">
                      <a:moveTo>
                        <a:pt x="22" y="165"/>
                      </a:moveTo>
                      <a:lnTo>
                        <a:pt x="22" y="165"/>
                      </a:lnTo>
                      <a:lnTo>
                        <a:pt x="22" y="149"/>
                      </a:lnTo>
                      <a:lnTo>
                        <a:pt x="25" y="127"/>
                      </a:lnTo>
                      <a:lnTo>
                        <a:pt x="29" y="102"/>
                      </a:lnTo>
                      <a:lnTo>
                        <a:pt x="36" y="79"/>
                      </a:lnTo>
                      <a:lnTo>
                        <a:pt x="43" y="55"/>
                      </a:lnTo>
                      <a:lnTo>
                        <a:pt x="48" y="36"/>
                      </a:lnTo>
                      <a:lnTo>
                        <a:pt x="56" y="22"/>
                      </a:lnTo>
                      <a:lnTo>
                        <a:pt x="58" y="19"/>
                      </a:lnTo>
                      <a:lnTo>
                        <a:pt x="45" y="0"/>
                      </a:lnTo>
                      <a:lnTo>
                        <a:pt x="37" y="13"/>
                      </a:lnTo>
                      <a:lnTo>
                        <a:pt x="29" y="27"/>
                      </a:lnTo>
                      <a:lnTo>
                        <a:pt x="22" y="49"/>
                      </a:lnTo>
                      <a:lnTo>
                        <a:pt x="14" y="72"/>
                      </a:lnTo>
                      <a:lnTo>
                        <a:pt x="7" y="99"/>
                      </a:lnTo>
                      <a:lnTo>
                        <a:pt x="3" y="124"/>
                      </a:lnTo>
                      <a:lnTo>
                        <a:pt x="0" y="146"/>
                      </a:lnTo>
                      <a:lnTo>
                        <a:pt x="0" y="168"/>
                      </a:lnTo>
                      <a:lnTo>
                        <a:pt x="22" y="165"/>
                      </a:lnTo>
                      <a:close/>
                    </a:path>
                  </a:pathLst>
                </a:custGeom>
                <a:solidFill>
                  <a:srgbClr val="000000"/>
                </a:solidFill>
                <a:ln w="9525">
                  <a:noFill/>
                  <a:round/>
                  <a:headEnd/>
                  <a:tailEnd/>
                </a:ln>
              </p:spPr>
              <p:txBody>
                <a:bodyPr/>
                <a:lstStyle/>
                <a:p>
                  <a:endParaRPr lang="en-US"/>
                </a:p>
              </p:txBody>
            </p:sp>
            <p:sp>
              <p:nvSpPr>
                <p:cNvPr id="29896" name="Freeform 157"/>
                <p:cNvSpPr>
                  <a:spLocks/>
                </p:cNvSpPr>
                <p:nvPr/>
              </p:nvSpPr>
              <p:spPr bwMode="auto">
                <a:xfrm>
                  <a:off x="2162" y="3677"/>
                  <a:ext cx="24" cy="80"/>
                </a:xfrm>
                <a:custGeom>
                  <a:avLst/>
                  <a:gdLst>
                    <a:gd name="T0" fmla="*/ 1 w 47"/>
                    <a:gd name="T1" fmla="*/ 1 h 159"/>
                    <a:gd name="T2" fmla="*/ 1 w 47"/>
                    <a:gd name="T3" fmla="*/ 1 h 159"/>
                    <a:gd name="T4" fmla="*/ 1 w 47"/>
                    <a:gd name="T5" fmla="*/ 1 h 159"/>
                    <a:gd name="T6" fmla="*/ 1 w 47"/>
                    <a:gd name="T7" fmla="*/ 1 h 159"/>
                    <a:gd name="T8" fmla="*/ 1 w 47"/>
                    <a:gd name="T9" fmla="*/ 1 h 159"/>
                    <a:gd name="T10" fmla="*/ 1 w 47"/>
                    <a:gd name="T11" fmla="*/ 1 h 159"/>
                    <a:gd name="T12" fmla="*/ 1 w 47"/>
                    <a:gd name="T13" fmla="*/ 1 h 159"/>
                    <a:gd name="T14" fmla="*/ 1 w 47"/>
                    <a:gd name="T15" fmla="*/ 1 h 159"/>
                    <a:gd name="T16" fmla="*/ 1 w 47"/>
                    <a:gd name="T17" fmla="*/ 1 h 159"/>
                    <a:gd name="T18" fmla="*/ 1 w 47"/>
                    <a:gd name="T19" fmla="*/ 0 h 159"/>
                    <a:gd name="T20" fmla="*/ 0 w 47"/>
                    <a:gd name="T21" fmla="*/ 1 h 159"/>
                    <a:gd name="T22" fmla="*/ 1 w 47"/>
                    <a:gd name="T23" fmla="*/ 1 h 159"/>
                    <a:gd name="T24" fmla="*/ 1 w 47"/>
                    <a:gd name="T25" fmla="*/ 1 h 159"/>
                    <a:gd name="T26" fmla="*/ 1 w 47"/>
                    <a:gd name="T27" fmla="*/ 1 h 159"/>
                    <a:gd name="T28" fmla="*/ 1 w 47"/>
                    <a:gd name="T29" fmla="*/ 1 h 159"/>
                    <a:gd name="T30" fmla="*/ 1 w 47"/>
                    <a:gd name="T31" fmla="*/ 1 h 159"/>
                    <a:gd name="T32" fmla="*/ 1 w 47"/>
                    <a:gd name="T33" fmla="*/ 1 h 159"/>
                    <a:gd name="T34" fmla="*/ 1 w 47"/>
                    <a:gd name="T35" fmla="*/ 1 h 159"/>
                    <a:gd name="T36" fmla="*/ 1 w 47"/>
                    <a:gd name="T37" fmla="*/ 1 h 159"/>
                    <a:gd name="T38" fmla="*/ 1 w 47"/>
                    <a:gd name="T39" fmla="*/ 1 h 159"/>
                    <a:gd name="T40" fmla="*/ 1 w 47"/>
                    <a:gd name="T41" fmla="*/ 1 h 1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159"/>
                    <a:gd name="T65" fmla="*/ 47 w 47"/>
                    <a:gd name="T66" fmla="*/ 159 h 15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159">
                      <a:moveTo>
                        <a:pt x="47" y="139"/>
                      </a:moveTo>
                      <a:lnTo>
                        <a:pt x="45" y="137"/>
                      </a:lnTo>
                      <a:lnTo>
                        <a:pt x="47" y="136"/>
                      </a:lnTo>
                      <a:lnTo>
                        <a:pt x="42" y="126"/>
                      </a:lnTo>
                      <a:lnTo>
                        <a:pt x="37" y="108"/>
                      </a:lnTo>
                      <a:lnTo>
                        <a:pt x="32" y="87"/>
                      </a:lnTo>
                      <a:lnTo>
                        <a:pt x="29" y="62"/>
                      </a:lnTo>
                      <a:lnTo>
                        <a:pt x="26" y="39"/>
                      </a:lnTo>
                      <a:lnTo>
                        <a:pt x="23" y="17"/>
                      </a:lnTo>
                      <a:lnTo>
                        <a:pt x="22" y="0"/>
                      </a:lnTo>
                      <a:lnTo>
                        <a:pt x="0" y="3"/>
                      </a:lnTo>
                      <a:lnTo>
                        <a:pt x="1" y="20"/>
                      </a:lnTo>
                      <a:lnTo>
                        <a:pt x="4" y="42"/>
                      </a:lnTo>
                      <a:lnTo>
                        <a:pt x="7" y="65"/>
                      </a:lnTo>
                      <a:lnTo>
                        <a:pt x="11" y="90"/>
                      </a:lnTo>
                      <a:lnTo>
                        <a:pt x="15" y="114"/>
                      </a:lnTo>
                      <a:lnTo>
                        <a:pt x="20" y="133"/>
                      </a:lnTo>
                      <a:lnTo>
                        <a:pt x="28" y="148"/>
                      </a:lnTo>
                      <a:lnTo>
                        <a:pt x="39" y="159"/>
                      </a:lnTo>
                      <a:lnTo>
                        <a:pt x="37" y="158"/>
                      </a:lnTo>
                      <a:lnTo>
                        <a:pt x="47" y="139"/>
                      </a:lnTo>
                      <a:close/>
                    </a:path>
                  </a:pathLst>
                </a:custGeom>
                <a:solidFill>
                  <a:srgbClr val="000000"/>
                </a:solidFill>
                <a:ln w="9525">
                  <a:noFill/>
                  <a:round/>
                  <a:headEnd/>
                  <a:tailEnd/>
                </a:ln>
              </p:spPr>
              <p:txBody>
                <a:bodyPr/>
                <a:lstStyle/>
                <a:p>
                  <a:endParaRPr lang="en-US"/>
                </a:p>
              </p:txBody>
            </p:sp>
            <p:sp>
              <p:nvSpPr>
                <p:cNvPr id="29897" name="Freeform 158"/>
                <p:cNvSpPr>
                  <a:spLocks/>
                </p:cNvSpPr>
                <p:nvPr/>
              </p:nvSpPr>
              <p:spPr bwMode="auto">
                <a:xfrm>
                  <a:off x="2181" y="3736"/>
                  <a:ext cx="47" cy="21"/>
                </a:xfrm>
                <a:custGeom>
                  <a:avLst/>
                  <a:gdLst>
                    <a:gd name="T0" fmla="*/ 1 w 94"/>
                    <a:gd name="T1" fmla="*/ 0 h 42"/>
                    <a:gd name="T2" fmla="*/ 1 w 94"/>
                    <a:gd name="T3" fmla="*/ 0 h 42"/>
                    <a:gd name="T4" fmla="*/ 1 w 94"/>
                    <a:gd name="T5" fmla="*/ 1 h 42"/>
                    <a:gd name="T6" fmla="*/ 1 w 94"/>
                    <a:gd name="T7" fmla="*/ 1 h 42"/>
                    <a:gd name="T8" fmla="*/ 1 w 94"/>
                    <a:gd name="T9" fmla="*/ 1 h 42"/>
                    <a:gd name="T10" fmla="*/ 1 w 94"/>
                    <a:gd name="T11" fmla="*/ 1 h 42"/>
                    <a:gd name="T12" fmla="*/ 1 w 94"/>
                    <a:gd name="T13" fmla="*/ 1 h 42"/>
                    <a:gd name="T14" fmla="*/ 1 w 94"/>
                    <a:gd name="T15" fmla="*/ 1 h 42"/>
                    <a:gd name="T16" fmla="*/ 1 w 94"/>
                    <a:gd name="T17" fmla="*/ 1 h 42"/>
                    <a:gd name="T18" fmla="*/ 1 w 94"/>
                    <a:gd name="T19" fmla="*/ 1 h 42"/>
                    <a:gd name="T20" fmla="*/ 0 w 94"/>
                    <a:gd name="T21" fmla="*/ 1 h 42"/>
                    <a:gd name="T22" fmla="*/ 1 w 94"/>
                    <a:gd name="T23" fmla="*/ 1 h 42"/>
                    <a:gd name="T24" fmla="*/ 1 w 94"/>
                    <a:gd name="T25" fmla="*/ 1 h 42"/>
                    <a:gd name="T26" fmla="*/ 1 w 94"/>
                    <a:gd name="T27" fmla="*/ 1 h 42"/>
                    <a:gd name="T28" fmla="*/ 1 w 94"/>
                    <a:gd name="T29" fmla="*/ 1 h 42"/>
                    <a:gd name="T30" fmla="*/ 1 w 94"/>
                    <a:gd name="T31" fmla="*/ 1 h 42"/>
                    <a:gd name="T32" fmla="*/ 1 w 94"/>
                    <a:gd name="T33" fmla="*/ 1 h 42"/>
                    <a:gd name="T34" fmla="*/ 1 w 94"/>
                    <a:gd name="T35" fmla="*/ 1 h 42"/>
                    <a:gd name="T36" fmla="*/ 1 w 94"/>
                    <a:gd name="T37" fmla="*/ 1 h 42"/>
                    <a:gd name="T38" fmla="*/ 1 w 94"/>
                    <a:gd name="T39" fmla="*/ 1 h 42"/>
                    <a:gd name="T40" fmla="*/ 1 w 94"/>
                    <a:gd name="T41" fmla="*/ 0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
                    <a:gd name="T64" fmla="*/ 0 h 42"/>
                    <a:gd name="T65" fmla="*/ 94 w 94"/>
                    <a:gd name="T66" fmla="*/ 42 h 4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 h="42">
                      <a:moveTo>
                        <a:pt x="83" y="0"/>
                      </a:moveTo>
                      <a:lnTo>
                        <a:pt x="82" y="0"/>
                      </a:lnTo>
                      <a:lnTo>
                        <a:pt x="77" y="3"/>
                      </a:lnTo>
                      <a:lnTo>
                        <a:pt x="69" y="6"/>
                      </a:lnTo>
                      <a:lnTo>
                        <a:pt x="57" y="9"/>
                      </a:lnTo>
                      <a:lnTo>
                        <a:pt x="42" y="14"/>
                      </a:lnTo>
                      <a:lnTo>
                        <a:pt x="30" y="17"/>
                      </a:lnTo>
                      <a:lnTo>
                        <a:pt x="19" y="20"/>
                      </a:lnTo>
                      <a:lnTo>
                        <a:pt x="11" y="20"/>
                      </a:lnTo>
                      <a:lnTo>
                        <a:pt x="10" y="22"/>
                      </a:lnTo>
                      <a:lnTo>
                        <a:pt x="0" y="41"/>
                      </a:lnTo>
                      <a:lnTo>
                        <a:pt x="11" y="42"/>
                      </a:lnTo>
                      <a:lnTo>
                        <a:pt x="22" y="42"/>
                      </a:lnTo>
                      <a:lnTo>
                        <a:pt x="36" y="39"/>
                      </a:lnTo>
                      <a:lnTo>
                        <a:pt x="49" y="36"/>
                      </a:lnTo>
                      <a:lnTo>
                        <a:pt x="63" y="31"/>
                      </a:lnTo>
                      <a:lnTo>
                        <a:pt x="75" y="28"/>
                      </a:lnTo>
                      <a:lnTo>
                        <a:pt x="86" y="22"/>
                      </a:lnTo>
                      <a:lnTo>
                        <a:pt x="94" y="19"/>
                      </a:lnTo>
                      <a:lnTo>
                        <a:pt x="93" y="19"/>
                      </a:lnTo>
                      <a:lnTo>
                        <a:pt x="83" y="0"/>
                      </a:lnTo>
                      <a:close/>
                    </a:path>
                  </a:pathLst>
                </a:custGeom>
                <a:solidFill>
                  <a:srgbClr val="000000"/>
                </a:solidFill>
                <a:ln w="9525">
                  <a:noFill/>
                  <a:round/>
                  <a:headEnd/>
                  <a:tailEnd/>
                </a:ln>
              </p:spPr>
              <p:txBody>
                <a:bodyPr/>
                <a:lstStyle/>
                <a:p>
                  <a:endParaRPr lang="en-US"/>
                </a:p>
              </p:txBody>
            </p:sp>
            <p:sp>
              <p:nvSpPr>
                <p:cNvPr id="29898" name="Freeform 159"/>
                <p:cNvSpPr>
                  <a:spLocks/>
                </p:cNvSpPr>
                <p:nvPr/>
              </p:nvSpPr>
              <p:spPr bwMode="auto">
                <a:xfrm>
                  <a:off x="2086" y="3813"/>
                  <a:ext cx="162" cy="77"/>
                </a:xfrm>
                <a:custGeom>
                  <a:avLst/>
                  <a:gdLst>
                    <a:gd name="T0" fmla="*/ 0 w 326"/>
                    <a:gd name="T1" fmla="*/ 0 h 155"/>
                    <a:gd name="T2" fmla="*/ 0 w 326"/>
                    <a:gd name="T3" fmla="*/ 0 h 155"/>
                    <a:gd name="T4" fmla="*/ 0 w 326"/>
                    <a:gd name="T5" fmla="*/ 0 h 155"/>
                    <a:gd name="T6" fmla="*/ 0 w 326"/>
                    <a:gd name="T7" fmla="*/ 0 h 155"/>
                    <a:gd name="T8" fmla="*/ 0 w 326"/>
                    <a:gd name="T9" fmla="*/ 0 h 155"/>
                    <a:gd name="T10" fmla="*/ 0 w 326"/>
                    <a:gd name="T11" fmla="*/ 0 h 155"/>
                    <a:gd name="T12" fmla="*/ 0 w 326"/>
                    <a:gd name="T13" fmla="*/ 0 h 155"/>
                    <a:gd name="T14" fmla="*/ 0 w 326"/>
                    <a:gd name="T15" fmla="*/ 0 h 155"/>
                    <a:gd name="T16" fmla="*/ 0 w 326"/>
                    <a:gd name="T17" fmla="*/ 0 h 155"/>
                    <a:gd name="T18" fmla="*/ 0 w 326"/>
                    <a:gd name="T19" fmla="*/ 0 h 155"/>
                    <a:gd name="T20" fmla="*/ 0 w 326"/>
                    <a:gd name="T21" fmla="*/ 0 h 155"/>
                    <a:gd name="T22" fmla="*/ 0 w 326"/>
                    <a:gd name="T23" fmla="*/ 0 h 155"/>
                    <a:gd name="T24" fmla="*/ 0 w 326"/>
                    <a:gd name="T25" fmla="*/ 0 h 155"/>
                    <a:gd name="T26" fmla="*/ 0 w 326"/>
                    <a:gd name="T27" fmla="*/ 0 h 155"/>
                    <a:gd name="T28" fmla="*/ 0 w 326"/>
                    <a:gd name="T29" fmla="*/ 0 h 15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6"/>
                    <a:gd name="T46" fmla="*/ 0 h 155"/>
                    <a:gd name="T47" fmla="*/ 326 w 326"/>
                    <a:gd name="T48" fmla="*/ 155 h 15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6" h="155">
                      <a:moveTo>
                        <a:pt x="144" y="32"/>
                      </a:moveTo>
                      <a:lnTo>
                        <a:pt x="0" y="0"/>
                      </a:lnTo>
                      <a:lnTo>
                        <a:pt x="0" y="21"/>
                      </a:lnTo>
                      <a:lnTo>
                        <a:pt x="118" y="61"/>
                      </a:lnTo>
                      <a:lnTo>
                        <a:pt x="49" y="155"/>
                      </a:lnTo>
                      <a:lnTo>
                        <a:pt x="71" y="155"/>
                      </a:lnTo>
                      <a:lnTo>
                        <a:pt x="160" y="75"/>
                      </a:lnTo>
                      <a:lnTo>
                        <a:pt x="165" y="75"/>
                      </a:lnTo>
                      <a:lnTo>
                        <a:pt x="254" y="155"/>
                      </a:lnTo>
                      <a:lnTo>
                        <a:pt x="276" y="155"/>
                      </a:lnTo>
                      <a:lnTo>
                        <a:pt x="208" y="61"/>
                      </a:lnTo>
                      <a:lnTo>
                        <a:pt x="326" y="21"/>
                      </a:lnTo>
                      <a:lnTo>
                        <a:pt x="326" y="0"/>
                      </a:lnTo>
                      <a:lnTo>
                        <a:pt x="180" y="32"/>
                      </a:lnTo>
                      <a:lnTo>
                        <a:pt x="144" y="32"/>
                      </a:lnTo>
                      <a:close/>
                    </a:path>
                  </a:pathLst>
                </a:custGeom>
                <a:solidFill>
                  <a:srgbClr val="FF7226"/>
                </a:solidFill>
                <a:ln w="9525">
                  <a:noFill/>
                  <a:round/>
                  <a:headEnd/>
                  <a:tailEnd/>
                </a:ln>
              </p:spPr>
              <p:txBody>
                <a:bodyPr/>
                <a:lstStyle/>
                <a:p>
                  <a:endParaRPr lang="en-US"/>
                </a:p>
              </p:txBody>
            </p:sp>
            <p:sp>
              <p:nvSpPr>
                <p:cNvPr id="29899" name="Freeform 160"/>
                <p:cNvSpPr>
                  <a:spLocks/>
                </p:cNvSpPr>
                <p:nvPr/>
              </p:nvSpPr>
              <p:spPr bwMode="auto">
                <a:xfrm>
                  <a:off x="2080" y="3807"/>
                  <a:ext cx="78" cy="27"/>
                </a:xfrm>
                <a:custGeom>
                  <a:avLst/>
                  <a:gdLst>
                    <a:gd name="T0" fmla="*/ 0 w 157"/>
                    <a:gd name="T1" fmla="*/ 1 h 54"/>
                    <a:gd name="T2" fmla="*/ 0 w 157"/>
                    <a:gd name="T3" fmla="*/ 1 h 54"/>
                    <a:gd name="T4" fmla="*/ 0 w 157"/>
                    <a:gd name="T5" fmla="*/ 1 h 54"/>
                    <a:gd name="T6" fmla="*/ 0 w 157"/>
                    <a:gd name="T7" fmla="*/ 1 h 54"/>
                    <a:gd name="T8" fmla="*/ 0 w 157"/>
                    <a:gd name="T9" fmla="*/ 0 h 54"/>
                    <a:gd name="T10" fmla="*/ 0 w 157"/>
                    <a:gd name="T11" fmla="*/ 1 h 54"/>
                    <a:gd name="T12" fmla="*/ 0 w 157"/>
                    <a:gd name="T13" fmla="*/ 0 h 54"/>
                    <a:gd name="T14" fmla="*/ 0 w 157"/>
                    <a:gd name="T15" fmla="*/ 1 h 54"/>
                    <a:gd name="T16" fmla="*/ 0 w 157"/>
                    <a:gd name="T17" fmla="*/ 1 h 54"/>
                    <a:gd name="T18" fmla="*/ 0 w 157"/>
                    <a:gd name="T19" fmla="*/ 1 h 54"/>
                    <a:gd name="T20" fmla="*/ 0 w 157"/>
                    <a:gd name="T21" fmla="*/ 1 h 54"/>
                    <a:gd name="T22" fmla="*/ 0 w 157"/>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7"/>
                    <a:gd name="T37" fmla="*/ 0 h 54"/>
                    <a:gd name="T38" fmla="*/ 157 w 157"/>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7" h="54">
                      <a:moveTo>
                        <a:pt x="22" y="11"/>
                      </a:moveTo>
                      <a:lnTo>
                        <a:pt x="10" y="22"/>
                      </a:lnTo>
                      <a:lnTo>
                        <a:pt x="154" y="54"/>
                      </a:lnTo>
                      <a:lnTo>
                        <a:pt x="157" y="32"/>
                      </a:lnTo>
                      <a:lnTo>
                        <a:pt x="13" y="0"/>
                      </a:lnTo>
                      <a:lnTo>
                        <a:pt x="0" y="11"/>
                      </a:lnTo>
                      <a:lnTo>
                        <a:pt x="13" y="0"/>
                      </a:lnTo>
                      <a:lnTo>
                        <a:pt x="5" y="4"/>
                      </a:lnTo>
                      <a:lnTo>
                        <a:pt x="0" y="10"/>
                      </a:lnTo>
                      <a:lnTo>
                        <a:pt x="2" y="18"/>
                      </a:lnTo>
                      <a:lnTo>
                        <a:pt x="10" y="22"/>
                      </a:lnTo>
                      <a:lnTo>
                        <a:pt x="22" y="11"/>
                      </a:lnTo>
                      <a:close/>
                    </a:path>
                  </a:pathLst>
                </a:custGeom>
                <a:solidFill>
                  <a:srgbClr val="000000"/>
                </a:solidFill>
                <a:ln w="9525">
                  <a:noFill/>
                  <a:round/>
                  <a:headEnd/>
                  <a:tailEnd/>
                </a:ln>
              </p:spPr>
              <p:txBody>
                <a:bodyPr/>
                <a:lstStyle/>
                <a:p>
                  <a:endParaRPr lang="en-US"/>
                </a:p>
              </p:txBody>
            </p:sp>
            <p:sp>
              <p:nvSpPr>
                <p:cNvPr id="29900" name="Freeform 161"/>
                <p:cNvSpPr>
                  <a:spLocks/>
                </p:cNvSpPr>
                <p:nvPr/>
              </p:nvSpPr>
              <p:spPr bwMode="auto">
                <a:xfrm>
                  <a:off x="2080" y="3813"/>
                  <a:ext cx="11" cy="15"/>
                </a:xfrm>
                <a:custGeom>
                  <a:avLst/>
                  <a:gdLst>
                    <a:gd name="T0" fmla="*/ 1 w 22"/>
                    <a:gd name="T1" fmla="*/ 0 h 32"/>
                    <a:gd name="T2" fmla="*/ 1 w 22"/>
                    <a:gd name="T3" fmla="*/ 0 h 32"/>
                    <a:gd name="T4" fmla="*/ 1 w 22"/>
                    <a:gd name="T5" fmla="*/ 0 h 32"/>
                    <a:gd name="T6" fmla="*/ 0 w 22"/>
                    <a:gd name="T7" fmla="*/ 0 h 32"/>
                    <a:gd name="T8" fmla="*/ 0 w 22"/>
                    <a:gd name="T9" fmla="*/ 0 h 32"/>
                    <a:gd name="T10" fmla="*/ 1 w 22"/>
                    <a:gd name="T11" fmla="*/ 0 h 32"/>
                    <a:gd name="T12" fmla="*/ 0 w 22"/>
                    <a:gd name="T13" fmla="*/ 0 h 32"/>
                    <a:gd name="T14" fmla="*/ 1 w 22"/>
                    <a:gd name="T15" fmla="*/ 0 h 32"/>
                    <a:gd name="T16" fmla="*/ 1 w 22"/>
                    <a:gd name="T17" fmla="*/ 0 h 32"/>
                    <a:gd name="T18" fmla="*/ 1 w 22"/>
                    <a:gd name="T19" fmla="*/ 0 h 32"/>
                    <a:gd name="T20" fmla="*/ 1 w 22"/>
                    <a:gd name="T21" fmla="*/ 0 h 32"/>
                    <a:gd name="T22" fmla="*/ 1 w 22"/>
                    <a:gd name="T23" fmla="*/ 0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4" y="10"/>
                      </a:moveTo>
                      <a:lnTo>
                        <a:pt x="22" y="21"/>
                      </a:lnTo>
                      <a:lnTo>
                        <a:pt x="22" y="0"/>
                      </a:lnTo>
                      <a:lnTo>
                        <a:pt x="0" y="0"/>
                      </a:lnTo>
                      <a:lnTo>
                        <a:pt x="0" y="21"/>
                      </a:lnTo>
                      <a:lnTo>
                        <a:pt x="8" y="32"/>
                      </a:lnTo>
                      <a:lnTo>
                        <a:pt x="0" y="21"/>
                      </a:lnTo>
                      <a:lnTo>
                        <a:pt x="3" y="28"/>
                      </a:lnTo>
                      <a:lnTo>
                        <a:pt x="11" y="32"/>
                      </a:lnTo>
                      <a:lnTo>
                        <a:pt x="19" y="28"/>
                      </a:lnTo>
                      <a:lnTo>
                        <a:pt x="22" y="21"/>
                      </a:lnTo>
                      <a:lnTo>
                        <a:pt x="14" y="10"/>
                      </a:lnTo>
                      <a:close/>
                    </a:path>
                  </a:pathLst>
                </a:custGeom>
                <a:solidFill>
                  <a:srgbClr val="000000"/>
                </a:solidFill>
                <a:ln w="9525">
                  <a:noFill/>
                  <a:round/>
                  <a:headEnd/>
                  <a:tailEnd/>
                </a:ln>
              </p:spPr>
              <p:txBody>
                <a:bodyPr/>
                <a:lstStyle/>
                <a:p>
                  <a:endParaRPr lang="en-US"/>
                </a:p>
              </p:txBody>
            </p:sp>
            <p:sp>
              <p:nvSpPr>
                <p:cNvPr id="29901" name="Freeform 162"/>
                <p:cNvSpPr>
                  <a:spLocks/>
                </p:cNvSpPr>
                <p:nvPr/>
              </p:nvSpPr>
              <p:spPr bwMode="auto">
                <a:xfrm>
                  <a:off x="2084" y="3817"/>
                  <a:ext cx="66" cy="32"/>
                </a:xfrm>
                <a:custGeom>
                  <a:avLst/>
                  <a:gdLst>
                    <a:gd name="T0" fmla="*/ 1 w 132"/>
                    <a:gd name="T1" fmla="*/ 1 h 62"/>
                    <a:gd name="T2" fmla="*/ 1 w 132"/>
                    <a:gd name="T3" fmla="*/ 1 h 62"/>
                    <a:gd name="T4" fmla="*/ 1 w 132"/>
                    <a:gd name="T5" fmla="*/ 0 h 62"/>
                    <a:gd name="T6" fmla="*/ 0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1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30" y="58"/>
                      </a:moveTo>
                      <a:lnTo>
                        <a:pt x="124" y="40"/>
                      </a:lnTo>
                      <a:lnTo>
                        <a:pt x="6" y="0"/>
                      </a:lnTo>
                      <a:lnTo>
                        <a:pt x="0" y="22"/>
                      </a:lnTo>
                      <a:lnTo>
                        <a:pt x="117" y="62"/>
                      </a:lnTo>
                      <a:lnTo>
                        <a:pt x="111" y="45"/>
                      </a:lnTo>
                      <a:lnTo>
                        <a:pt x="117" y="62"/>
                      </a:lnTo>
                      <a:lnTo>
                        <a:pt x="127" y="61"/>
                      </a:lnTo>
                      <a:lnTo>
                        <a:pt x="132" y="53"/>
                      </a:lnTo>
                      <a:lnTo>
                        <a:pt x="130" y="45"/>
                      </a:lnTo>
                      <a:lnTo>
                        <a:pt x="124" y="40"/>
                      </a:lnTo>
                      <a:lnTo>
                        <a:pt x="130" y="58"/>
                      </a:lnTo>
                      <a:close/>
                    </a:path>
                  </a:pathLst>
                </a:custGeom>
                <a:solidFill>
                  <a:srgbClr val="000000"/>
                </a:solidFill>
                <a:ln w="9525">
                  <a:noFill/>
                  <a:round/>
                  <a:headEnd/>
                  <a:tailEnd/>
                </a:ln>
              </p:spPr>
              <p:txBody>
                <a:bodyPr/>
                <a:lstStyle/>
                <a:p>
                  <a:endParaRPr lang="en-US"/>
                </a:p>
              </p:txBody>
            </p:sp>
            <p:sp>
              <p:nvSpPr>
                <p:cNvPr id="29902" name="Freeform 163"/>
                <p:cNvSpPr>
                  <a:spLocks/>
                </p:cNvSpPr>
                <p:nvPr/>
              </p:nvSpPr>
              <p:spPr bwMode="auto">
                <a:xfrm>
                  <a:off x="2104" y="3840"/>
                  <a:ext cx="45" cy="56"/>
                </a:xfrm>
                <a:custGeom>
                  <a:avLst/>
                  <a:gdLst>
                    <a:gd name="T0" fmla="*/ 1 w 89"/>
                    <a:gd name="T1" fmla="*/ 1 h 111"/>
                    <a:gd name="T2" fmla="*/ 1 w 89"/>
                    <a:gd name="T3" fmla="*/ 1 h 111"/>
                    <a:gd name="T4" fmla="*/ 1 w 89"/>
                    <a:gd name="T5" fmla="*/ 1 h 111"/>
                    <a:gd name="T6" fmla="*/ 1 w 89"/>
                    <a:gd name="T7" fmla="*/ 0 h 111"/>
                    <a:gd name="T8" fmla="*/ 1 w 89"/>
                    <a:gd name="T9" fmla="*/ 1 h 111"/>
                    <a:gd name="T10" fmla="*/ 1 w 89"/>
                    <a:gd name="T11" fmla="*/ 1 h 111"/>
                    <a:gd name="T12" fmla="*/ 1 w 89"/>
                    <a:gd name="T13" fmla="*/ 1 h 111"/>
                    <a:gd name="T14" fmla="*/ 0 w 89"/>
                    <a:gd name="T15" fmla="*/ 1 h 111"/>
                    <a:gd name="T16" fmla="*/ 1 w 89"/>
                    <a:gd name="T17" fmla="*/ 1 h 111"/>
                    <a:gd name="T18" fmla="*/ 1 w 89"/>
                    <a:gd name="T19" fmla="*/ 1 h 111"/>
                    <a:gd name="T20" fmla="*/ 1 w 89"/>
                    <a:gd name="T21" fmla="*/ 1 h 111"/>
                    <a:gd name="T22" fmla="*/ 1 w 89"/>
                    <a:gd name="T23" fmla="*/ 1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9"/>
                    <a:gd name="T37" fmla="*/ 0 h 111"/>
                    <a:gd name="T38" fmla="*/ 89 w 89"/>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9" h="111">
                      <a:moveTo>
                        <a:pt x="11" y="89"/>
                      </a:moveTo>
                      <a:lnTo>
                        <a:pt x="20" y="106"/>
                      </a:lnTo>
                      <a:lnTo>
                        <a:pt x="89" y="13"/>
                      </a:lnTo>
                      <a:lnTo>
                        <a:pt x="70" y="0"/>
                      </a:lnTo>
                      <a:lnTo>
                        <a:pt x="1" y="94"/>
                      </a:lnTo>
                      <a:lnTo>
                        <a:pt x="11" y="111"/>
                      </a:lnTo>
                      <a:lnTo>
                        <a:pt x="1" y="94"/>
                      </a:lnTo>
                      <a:lnTo>
                        <a:pt x="0" y="103"/>
                      </a:lnTo>
                      <a:lnTo>
                        <a:pt x="4" y="110"/>
                      </a:lnTo>
                      <a:lnTo>
                        <a:pt x="12" y="111"/>
                      </a:lnTo>
                      <a:lnTo>
                        <a:pt x="20" y="106"/>
                      </a:lnTo>
                      <a:lnTo>
                        <a:pt x="11" y="89"/>
                      </a:lnTo>
                      <a:close/>
                    </a:path>
                  </a:pathLst>
                </a:custGeom>
                <a:solidFill>
                  <a:srgbClr val="000000"/>
                </a:solidFill>
                <a:ln w="9525">
                  <a:noFill/>
                  <a:round/>
                  <a:headEnd/>
                  <a:tailEnd/>
                </a:ln>
              </p:spPr>
              <p:txBody>
                <a:bodyPr/>
                <a:lstStyle/>
                <a:p>
                  <a:endParaRPr lang="en-US"/>
                </a:p>
              </p:txBody>
            </p:sp>
            <p:sp>
              <p:nvSpPr>
                <p:cNvPr id="29903" name="Freeform 164"/>
                <p:cNvSpPr>
                  <a:spLocks/>
                </p:cNvSpPr>
                <p:nvPr/>
              </p:nvSpPr>
              <p:spPr bwMode="auto">
                <a:xfrm>
                  <a:off x="2110" y="3885"/>
                  <a:ext cx="16" cy="11"/>
                </a:xfrm>
                <a:custGeom>
                  <a:avLst/>
                  <a:gdLst>
                    <a:gd name="T0" fmla="*/ 0 w 33"/>
                    <a:gd name="T1" fmla="*/ 1 h 22"/>
                    <a:gd name="T2" fmla="*/ 0 w 33"/>
                    <a:gd name="T3" fmla="*/ 0 h 22"/>
                    <a:gd name="T4" fmla="*/ 0 w 33"/>
                    <a:gd name="T5" fmla="*/ 0 h 22"/>
                    <a:gd name="T6" fmla="*/ 0 w 33"/>
                    <a:gd name="T7" fmla="*/ 1 h 22"/>
                    <a:gd name="T8" fmla="*/ 0 w 33"/>
                    <a:gd name="T9" fmla="*/ 1 h 22"/>
                    <a:gd name="T10" fmla="*/ 0 w 33"/>
                    <a:gd name="T11" fmla="*/ 1 h 22"/>
                    <a:gd name="T12" fmla="*/ 0 w 33"/>
                    <a:gd name="T13" fmla="*/ 1 h 22"/>
                    <a:gd name="T14" fmla="*/ 0 w 33"/>
                    <a:gd name="T15" fmla="*/ 1 h 22"/>
                    <a:gd name="T16" fmla="*/ 0 w 33"/>
                    <a:gd name="T17" fmla="*/ 1 h 22"/>
                    <a:gd name="T18" fmla="*/ 0 w 33"/>
                    <a:gd name="T19" fmla="*/ 1 h 22"/>
                    <a:gd name="T20" fmla="*/ 0 w 33"/>
                    <a:gd name="T21" fmla="*/ 0 h 22"/>
                    <a:gd name="T22" fmla="*/ 0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4" y="3"/>
                      </a:moveTo>
                      <a:lnTo>
                        <a:pt x="22" y="0"/>
                      </a:lnTo>
                      <a:lnTo>
                        <a:pt x="0" y="0"/>
                      </a:lnTo>
                      <a:lnTo>
                        <a:pt x="0" y="22"/>
                      </a:lnTo>
                      <a:lnTo>
                        <a:pt x="22" y="22"/>
                      </a:lnTo>
                      <a:lnTo>
                        <a:pt x="29" y="19"/>
                      </a:lnTo>
                      <a:lnTo>
                        <a:pt x="22" y="22"/>
                      </a:lnTo>
                      <a:lnTo>
                        <a:pt x="29" y="19"/>
                      </a:lnTo>
                      <a:lnTo>
                        <a:pt x="33" y="11"/>
                      </a:lnTo>
                      <a:lnTo>
                        <a:pt x="29" y="3"/>
                      </a:lnTo>
                      <a:lnTo>
                        <a:pt x="22" y="0"/>
                      </a:lnTo>
                      <a:lnTo>
                        <a:pt x="14" y="3"/>
                      </a:lnTo>
                      <a:close/>
                    </a:path>
                  </a:pathLst>
                </a:custGeom>
                <a:solidFill>
                  <a:srgbClr val="000000"/>
                </a:solidFill>
                <a:ln w="9525">
                  <a:noFill/>
                  <a:round/>
                  <a:headEnd/>
                  <a:tailEnd/>
                </a:ln>
              </p:spPr>
              <p:txBody>
                <a:bodyPr/>
                <a:lstStyle/>
                <a:p>
                  <a:endParaRPr lang="en-US"/>
                </a:p>
              </p:txBody>
            </p:sp>
            <p:sp>
              <p:nvSpPr>
                <p:cNvPr id="29904" name="Freeform 165"/>
                <p:cNvSpPr>
                  <a:spLocks/>
                </p:cNvSpPr>
                <p:nvPr/>
              </p:nvSpPr>
              <p:spPr bwMode="auto">
                <a:xfrm>
                  <a:off x="2117" y="3845"/>
                  <a:ext cx="54" cy="49"/>
                </a:xfrm>
                <a:custGeom>
                  <a:avLst/>
                  <a:gdLst>
                    <a:gd name="T0" fmla="*/ 1 w 108"/>
                    <a:gd name="T1" fmla="*/ 0 h 99"/>
                    <a:gd name="T2" fmla="*/ 1 w 108"/>
                    <a:gd name="T3" fmla="*/ 0 h 99"/>
                    <a:gd name="T4" fmla="*/ 0 w 108"/>
                    <a:gd name="T5" fmla="*/ 0 h 99"/>
                    <a:gd name="T6" fmla="*/ 1 w 108"/>
                    <a:gd name="T7" fmla="*/ 0 h 99"/>
                    <a:gd name="T8" fmla="*/ 1 w 108"/>
                    <a:gd name="T9" fmla="*/ 0 h 99"/>
                    <a:gd name="T10" fmla="*/ 1 w 108"/>
                    <a:gd name="T11" fmla="*/ 0 h 99"/>
                    <a:gd name="T12" fmla="*/ 1 w 108"/>
                    <a:gd name="T13" fmla="*/ 0 h 99"/>
                    <a:gd name="T14" fmla="*/ 1 w 108"/>
                    <a:gd name="T15" fmla="*/ 0 h 99"/>
                    <a:gd name="T16" fmla="*/ 1 w 108"/>
                    <a:gd name="T17" fmla="*/ 0 h 99"/>
                    <a:gd name="T18" fmla="*/ 1 w 108"/>
                    <a:gd name="T19" fmla="*/ 0 h 99"/>
                    <a:gd name="T20" fmla="*/ 1 w 108"/>
                    <a:gd name="T21" fmla="*/ 0 h 99"/>
                    <a:gd name="T22" fmla="*/ 1 w 108"/>
                    <a:gd name="T23" fmla="*/ 0 h 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9"/>
                    <a:gd name="T38" fmla="*/ 108 w 108"/>
                    <a:gd name="T39" fmla="*/ 99 h 9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9">
                      <a:moveTo>
                        <a:pt x="97" y="0"/>
                      </a:moveTo>
                      <a:lnTo>
                        <a:pt x="89" y="4"/>
                      </a:lnTo>
                      <a:lnTo>
                        <a:pt x="0" y="83"/>
                      </a:lnTo>
                      <a:lnTo>
                        <a:pt x="15" y="99"/>
                      </a:lnTo>
                      <a:lnTo>
                        <a:pt x="105" y="19"/>
                      </a:lnTo>
                      <a:lnTo>
                        <a:pt x="97" y="22"/>
                      </a:lnTo>
                      <a:lnTo>
                        <a:pt x="105" y="19"/>
                      </a:lnTo>
                      <a:lnTo>
                        <a:pt x="108" y="11"/>
                      </a:lnTo>
                      <a:lnTo>
                        <a:pt x="105" y="4"/>
                      </a:lnTo>
                      <a:lnTo>
                        <a:pt x="97" y="0"/>
                      </a:lnTo>
                      <a:lnTo>
                        <a:pt x="89" y="4"/>
                      </a:lnTo>
                      <a:lnTo>
                        <a:pt x="97" y="0"/>
                      </a:lnTo>
                      <a:close/>
                    </a:path>
                  </a:pathLst>
                </a:custGeom>
                <a:solidFill>
                  <a:srgbClr val="000000"/>
                </a:solidFill>
                <a:ln w="9525">
                  <a:noFill/>
                  <a:round/>
                  <a:headEnd/>
                  <a:tailEnd/>
                </a:ln>
              </p:spPr>
              <p:txBody>
                <a:bodyPr/>
                <a:lstStyle/>
                <a:p>
                  <a:endParaRPr lang="en-US"/>
                </a:p>
              </p:txBody>
            </p:sp>
            <p:sp>
              <p:nvSpPr>
                <p:cNvPr id="29905" name="Freeform 166"/>
                <p:cNvSpPr>
                  <a:spLocks/>
                </p:cNvSpPr>
                <p:nvPr/>
              </p:nvSpPr>
              <p:spPr bwMode="auto">
                <a:xfrm>
                  <a:off x="2164" y="3845"/>
                  <a:ext cx="9" cy="11"/>
                </a:xfrm>
                <a:custGeom>
                  <a:avLst/>
                  <a:gdLst>
                    <a:gd name="T0" fmla="*/ 0 w 19"/>
                    <a:gd name="T1" fmla="*/ 1 h 22"/>
                    <a:gd name="T2" fmla="*/ 0 w 19"/>
                    <a:gd name="T3" fmla="*/ 0 h 22"/>
                    <a:gd name="T4" fmla="*/ 0 w 19"/>
                    <a:gd name="T5" fmla="*/ 0 h 22"/>
                    <a:gd name="T6" fmla="*/ 0 w 19"/>
                    <a:gd name="T7" fmla="*/ 1 h 22"/>
                    <a:gd name="T8" fmla="*/ 0 w 19"/>
                    <a:gd name="T9" fmla="*/ 1 h 22"/>
                    <a:gd name="T10" fmla="*/ 0 w 19"/>
                    <a:gd name="T11" fmla="*/ 1 h 22"/>
                    <a:gd name="T12" fmla="*/ 0 w 19"/>
                    <a:gd name="T13" fmla="*/ 1 h 22"/>
                    <a:gd name="T14" fmla="*/ 0 w 19"/>
                    <a:gd name="T15" fmla="*/ 1 h 22"/>
                    <a:gd name="T16" fmla="*/ 0 w 19"/>
                    <a:gd name="T17" fmla="*/ 1 h 22"/>
                    <a:gd name="T18" fmla="*/ 0 w 19"/>
                    <a:gd name="T19" fmla="*/ 1 h 22"/>
                    <a:gd name="T20" fmla="*/ 0 w 19"/>
                    <a:gd name="T21" fmla="*/ 0 h 22"/>
                    <a:gd name="T22" fmla="*/ 0 w 19"/>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2"/>
                    <a:gd name="T38" fmla="*/ 19 w 19"/>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2">
                      <a:moveTo>
                        <a:pt x="15" y="4"/>
                      </a:moveTo>
                      <a:lnTo>
                        <a:pt x="8" y="0"/>
                      </a:lnTo>
                      <a:lnTo>
                        <a:pt x="3" y="0"/>
                      </a:lnTo>
                      <a:lnTo>
                        <a:pt x="3" y="22"/>
                      </a:lnTo>
                      <a:lnTo>
                        <a:pt x="8" y="22"/>
                      </a:lnTo>
                      <a:lnTo>
                        <a:pt x="0" y="19"/>
                      </a:lnTo>
                      <a:lnTo>
                        <a:pt x="8" y="22"/>
                      </a:lnTo>
                      <a:lnTo>
                        <a:pt x="15" y="19"/>
                      </a:lnTo>
                      <a:lnTo>
                        <a:pt x="19" y="11"/>
                      </a:lnTo>
                      <a:lnTo>
                        <a:pt x="15" y="4"/>
                      </a:lnTo>
                      <a:lnTo>
                        <a:pt x="8" y="0"/>
                      </a:lnTo>
                      <a:lnTo>
                        <a:pt x="15" y="4"/>
                      </a:lnTo>
                      <a:close/>
                    </a:path>
                  </a:pathLst>
                </a:custGeom>
                <a:solidFill>
                  <a:srgbClr val="000000"/>
                </a:solidFill>
                <a:ln w="9525">
                  <a:noFill/>
                  <a:round/>
                  <a:headEnd/>
                  <a:tailEnd/>
                </a:ln>
              </p:spPr>
              <p:txBody>
                <a:bodyPr/>
                <a:lstStyle/>
                <a:p>
                  <a:endParaRPr lang="en-US"/>
                </a:p>
              </p:txBody>
            </p:sp>
            <p:sp>
              <p:nvSpPr>
                <p:cNvPr id="29906" name="Freeform 167"/>
                <p:cNvSpPr>
                  <a:spLocks/>
                </p:cNvSpPr>
                <p:nvPr/>
              </p:nvSpPr>
              <p:spPr bwMode="auto">
                <a:xfrm>
                  <a:off x="2164" y="3846"/>
                  <a:ext cx="54" cy="50"/>
                </a:xfrm>
                <a:custGeom>
                  <a:avLst/>
                  <a:gdLst>
                    <a:gd name="T0" fmla="*/ 1 w 108"/>
                    <a:gd name="T1" fmla="*/ 1 h 98"/>
                    <a:gd name="T2" fmla="*/ 1 w 108"/>
                    <a:gd name="T3" fmla="*/ 1 h 98"/>
                    <a:gd name="T4" fmla="*/ 1 w 108"/>
                    <a:gd name="T5" fmla="*/ 0 h 98"/>
                    <a:gd name="T6" fmla="*/ 0 w 108"/>
                    <a:gd name="T7" fmla="*/ 1 h 98"/>
                    <a:gd name="T8" fmla="*/ 1 w 108"/>
                    <a:gd name="T9" fmla="*/ 1 h 98"/>
                    <a:gd name="T10" fmla="*/ 1 w 108"/>
                    <a:gd name="T11" fmla="*/ 1 h 98"/>
                    <a:gd name="T12" fmla="*/ 1 w 108"/>
                    <a:gd name="T13" fmla="*/ 1 h 98"/>
                    <a:gd name="T14" fmla="*/ 1 w 108"/>
                    <a:gd name="T15" fmla="*/ 1 h 98"/>
                    <a:gd name="T16" fmla="*/ 1 w 108"/>
                    <a:gd name="T17" fmla="*/ 1 h 98"/>
                    <a:gd name="T18" fmla="*/ 1 w 108"/>
                    <a:gd name="T19" fmla="*/ 1 h 98"/>
                    <a:gd name="T20" fmla="*/ 1 w 108"/>
                    <a:gd name="T21" fmla="*/ 1 h 98"/>
                    <a:gd name="T22" fmla="*/ 1 w 108"/>
                    <a:gd name="T23" fmla="*/ 1 h 9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8"/>
                    <a:gd name="T37" fmla="*/ 0 h 98"/>
                    <a:gd name="T38" fmla="*/ 108 w 108"/>
                    <a:gd name="T39" fmla="*/ 98 h 9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8" h="98">
                      <a:moveTo>
                        <a:pt x="97" y="76"/>
                      </a:moveTo>
                      <a:lnTo>
                        <a:pt x="105" y="79"/>
                      </a:lnTo>
                      <a:lnTo>
                        <a:pt x="15" y="0"/>
                      </a:lnTo>
                      <a:lnTo>
                        <a:pt x="0" y="15"/>
                      </a:lnTo>
                      <a:lnTo>
                        <a:pt x="89" y="95"/>
                      </a:lnTo>
                      <a:lnTo>
                        <a:pt x="97" y="98"/>
                      </a:lnTo>
                      <a:lnTo>
                        <a:pt x="89" y="95"/>
                      </a:lnTo>
                      <a:lnTo>
                        <a:pt x="97" y="98"/>
                      </a:lnTo>
                      <a:lnTo>
                        <a:pt x="105" y="93"/>
                      </a:lnTo>
                      <a:lnTo>
                        <a:pt x="108" y="87"/>
                      </a:lnTo>
                      <a:lnTo>
                        <a:pt x="105" y="79"/>
                      </a:lnTo>
                      <a:lnTo>
                        <a:pt x="97" y="76"/>
                      </a:lnTo>
                      <a:close/>
                    </a:path>
                  </a:pathLst>
                </a:custGeom>
                <a:solidFill>
                  <a:srgbClr val="000000"/>
                </a:solidFill>
                <a:ln w="9525">
                  <a:noFill/>
                  <a:round/>
                  <a:headEnd/>
                  <a:tailEnd/>
                </a:ln>
              </p:spPr>
              <p:txBody>
                <a:bodyPr/>
                <a:lstStyle/>
                <a:p>
                  <a:endParaRPr lang="en-US"/>
                </a:p>
              </p:txBody>
            </p:sp>
            <p:sp>
              <p:nvSpPr>
                <p:cNvPr id="29907" name="Freeform 168"/>
                <p:cNvSpPr>
                  <a:spLocks/>
                </p:cNvSpPr>
                <p:nvPr/>
              </p:nvSpPr>
              <p:spPr bwMode="auto">
                <a:xfrm>
                  <a:off x="2212" y="3885"/>
                  <a:ext cx="17" cy="11"/>
                </a:xfrm>
                <a:custGeom>
                  <a:avLst/>
                  <a:gdLst>
                    <a:gd name="T0" fmla="*/ 1 w 33"/>
                    <a:gd name="T1" fmla="*/ 1 h 22"/>
                    <a:gd name="T2" fmla="*/ 1 w 33"/>
                    <a:gd name="T3" fmla="*/ 0 h 22"/>
                    <a:gd name="T4" fmla="*/ 0 w 33"/>
                    <a:gd name="T5" fmla="*/ 0 h 22"/>
                    <a:gd name="T6" fmla="*/ 0 w 33"/>
                    <a:gd name="T7" fmla="*/ 1 h 22"/>
                    <a:gd name="T8" fmla="*/ 1 w 33"/>
                    <a:gd name="T9" fmla="*/ 1 h 22"/>
                    <a:gd name="T10" fmla="*/ 1 w 33"/>
                    <a:gd name="T11" fmla="*/ 1 h 22"/>
                    <a:gd name="T12" fmla="*/ 1 w 33"/>
                    <a:gd name="T13" fmla="*/ 1 h 22"/>
                    <a:gd name="T14" fmla="*/ 1 w 33"/>
                    <a:gd name="T15" fmla="*/ 1 h 22"/>
                    <a:gd name="T16" fmla="*/ 1 w 33"/>
                    <a:gd name="T17" fmla="*/ 1 h 22"/>
                    <a:gd name="T18" fmla="*/ 1 w 33"/>
                    <a:gd name="T19" fmla="*/ 1 h 22"/>
                    <a:gd name="T20" fmla="*/ 1 w 33"/>
                    <a:gd name="T21" fmla="*/ 0 h 22"/>
                    <a:gd name="T22" fmla="*/ 1 w 33"/>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2"/>
                    <a:gd name="T38" fmla="*/ 33 w 33"/>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2">
                      <a:moveTo>
                        <a:pt x="12" y="17"/>
                      </a:moveTo>
                      <a:lnTo>
                        <a:pt x="22" y="0"/>
                      </a:lnTo>
                      <a:lnTo>
                        <a:pt x="0" y="0"/>
                      </a:lnTo>
                      <a:lnTo>
                        <a:pt x="0" y="22"/>
                      </a:lnTo>
                      <a:lnTo>
                        <a:pt x="22" y="22"/>
                      </a:lnTo>
                      <a:lnTo>
                        <a:pt x="31" y="5"/>
                      </a:lnTo>
                      <a:lnTo>
                        <a:pt x="22" y="22"/>
                      </a:lnTo>
                      <a:lnTo>
                        <a:pt x="30" y="19"/>
                      </a:lnTo>
                      <a:lnTo>
                        <a:pt x="33" y="11"/>
                      </a:lnTo>
                      <a:lnTo>
                        <a:pt x="30" y="3"/>
                      </a:lnTo>
                      <a:lnTo>
                        <a:pt x="22" y="0"/>
                      </a:lnTo>
                      <a:lnTo>
                        <a:pt x="12" y="17"/>
                      </a:lnTo>
                      <a:close/>
                    </a:path>
                  </a:pathLst>
                </a:custGeom>
                <a:solidFill>
                  <a:srgbClr val="000000"/>
                </a:solidFill>
                <a:ln w="9525">
                  <a:noFill/>
                  <a:round/>
                  <a:headEnd/>
                  <a:tailEnd/>
                </a:ln>
              </p:spPr>
              <p:txBody>
                <a:bodyPr/>
                <a:lstStyle/>
                <a:p>
                  <a:endParaRPr lang="en-US"/>
                </a:p>
              </p:txBody>
            </p:sp>
            <p:sp>
              <p:nvSpPr>
                <p:cNvPr id="29908" name="Freeform 169"/>
                <p:cNvSpPr>
                  <a:spLocks/>
                </p:cNvSpPr>
                <p:nvPr/>
              </p:nvSpPr>
              <p:spPr bwMode="auto">
                <a:xfrm>
                  <a:off x="2184" y="3838"/>
                  <a:ext cx="44" cy="55"/>
                </a:xfrm>
                <a:custGeom>
                  <a:avLst/>
                  <a:gdLst>
                    <a:gd name="T0" fmla="*/ 1 w 88"/>
                    <a:gd name="T1" fmla="*/ 0 h 111"/>
                    <a:gd name="T2" fmla="*/ 1 w 88"/>
                    <a:gd name="T3" fmla="*/ 0 h 111"/>
                    <a:gd name="T4" fmla="*/ 1 w 88"/>
                    <a:gd name="T5" fmla="*/ 0 h 111"/>
                    <a:gd name="T6" fmla="*/ 1 w 88"/>
                    <a:gd name="T7" fmla="*/ 0 h 111"/>
                    <a:gd name="T8" fmla="*/ 1 w 88"/>
                    <a:gd name="T9" fmla="*/ 0 h 111"/>
                    <a:gd name="T10" fmla="*/ 1 w 88"/>
                    <a:gd name="T11" fmla="*/ 0 h 111"/>
                    <a:gd name="T12" fmla="*/ 1 w 88"/>
                    <a:gd name="T13" fmla="*/ 0 h 111"/>
                    <a:gd name="T14" fmla="*/ 1 w 88"/>
                    <a:gd name="T15" fmla="*/ 0 h 111"/>
                    <a:gd name="T16" fmla="*/ 1 w 88"/>
                    <a:gd name="T17" fmla="*/ 0 h 111"/>
                    <a:gd name="T18" fmla="*/ 0 w 88"/>
                    <a:gd name="T19" fmla="*/ 0 h 111"/>
                    <a:gd name="T20" fmla="*/ 1 w 88"/>
                    <a:gd name="T21" fmla="*/ 0 h 111"/>
                    <a:gd name="T22" fmla="*/ 1 w 88"/>
                    <a:gd name="T23" fmla="*/ 0 h 1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8"/>
                    <a:gd name="T37" fmla="*/ 0 h 111"/>
                    <a:gd name="T38" fmla="*/ 88 w 88"/>
                    <a:gd name="T39" fmla="*/ 111 h 1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8" h="111">
                      <a:moveTo>
                        <a:pt x="8" y="0"/>
                      </a:moveTo>
                      <a:lnTo>
                        <a:pt x="2" y="18"/>
                      </a:lnTo>
                      <a:lnTo>
                        <a:pt x="69" y="111"/>
                      </a:lnTo>
                      <a:lnTo>
                        <a:pt x="88" y="99"/>
                      </a:lnTo>
                      <a:lnTo>
                        <a:pt x="21" y="5"/>
                      </a:lnTo>
                      <a:lnTo>
                        <a:pt x="15" y="22"/>
                      </a:lnTo>
                      <a:lnTo>
                        <a:pt x="21" y="5"/>
                      </a:lnTo>
                      <a:lnTo>
                        <a:pt x="13" y="0"/>
                      </a:lnTo>
                      <a:lnTo>
                        <a:pt x="5" y="2"/>
                      </a:lnTo>
                      <a:lnTo>
                        <a:pt x="0" y="8"/>
                      </a:lnTo>
                      <a:lnTo>
                        <a:pt x="2" y="18"/>
                      </a:lnTo>
                      <a:lnTo>
                        <a:pt x="8" y="0"/>
                      </a:lnTo>
                      <a:close/>
                    </a:path>
                  </a:pathLst>
                </a:custGeom>
                <a:solidFill>
                  <a:srgbClr val="000000"/>
                </a:solidFill>
                <a:ln w="9525">
                  <a:noFill/>
                  <a:round/>
                  <a:headEnd/>
                  <a:tailEnd/>
                </a:ln>
              </p:spPr>
              <p:txBody>
                <a:bodyPr/>
                <a:lstStyle/>
                <a:p>
                  <a:endParaRPr lang="en-US"/>
                </a:p>
              </p:txBody>
            </p:sp>
            <p:sp>
              <p:nvSpPr>
                <p:cNvPr id="29909" name="Freeform 170"/>
                <p:cNvSpPr>
                  <a:spLocks/>
                </p:cNvSpPr>
                <p:nvPr/>
              </p:nvSpPr>
              <p:spPr bwMode="auto">
                <a:xfrm>
                  <a:off x="2188" y="3817"/>
                  <a:ext cx="66" cy="32"/>
                </a:xfrm>
                <a:custGeom>
                  <a:avLst/>
                  <a:gdLst>
                    <a:gd name="T0" fmla="*/ 1 w 132"/>
                    <a:gd name="T1" fmla="*/ 1 h 62"/>
                    <a:gd name="T2" fmla="*/ 1 w 132"/>
                    <a:gd name="T3" fmla="*/ 0 h 62"/>
                    <a:gd name="T4" fmla="*/ 0 w 132"/>
                    <a:gd name="T5" fmla="*/ 1 h 62"/>
                    <a:gd name="T6" fmla="*/ 1 w 132"/>
                    <a:gd name="T7" fmla="*/ 1 h 62"/>
                    <a:gd name="T8" fmla="*/ 1 w 132"/>
                    <a:gd name="T9" fmla="*/ 1 h 62"/>
                    <a:gd name="T10" fmla="*/ 1 w 132"/>
                    <a:gd name="T11" fmla="*/ 1 h 62"/>
                    <a:gd name="T12" fmla="*/ 1 w 132"/>
                    <a:gd name="T13" fmla="*/ 1 h 62"/>
                    <a:gd name="T14" fmla="*/ 1 w 132"/>
                    <a:gd name="T15" fmla="*/ 1 h 62"/>
                    <a:gd name="T16" fmla="*/ 1 w 132"/>
                    <a:gd name="T17" fmla="*/ 1 h 62"/>
                    <a:gd name="T18" fmla="*/ 1 w 132"/>
                    <a:gd name="T19" fmla="*/ 1 h 62"/>
                    <a:gd name="T20" fmla="*/ 1 w 132"/>
                    <a:gd name="T21" fmla="*/ 0 h 62"/>
                    <a:gd name="T22" fmla="*/ 1 w 132"/>
                    <a:gd name="T23" fmla="*/ 1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62"/>
                    <a:gd name="T38" fmla="*/ 132 w 13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62">
                      <a:moveTo>
                        <a:pt x="110" y="11"/>
                      </a:moveTo>
                      <a:lnTo>
                        <a:pt x="118" y="0"/>
                      </a:lnTo>
                      <a:lnTo>
                        <a:pt x="0" y="40"/>
                      </a:lnTo>
                      <a:lnTo>
                        <a:pt x="7" y="62"/>
                      </a:lnTo>
                      <a:lnTo>
                        <a:pt x="124" y="22"/>
                      </a:lnTo>
                      <a:lnTo>
                        <a:pt x="132" y="11"/>
                      </a:lnTo>
                      <a:lnTo>
                        <a:pt x="124" y="22"/>
                      </a:lnTo>
                      <a:lnTo>
                        <a:pt x="130" y="17"/>
                      </a:lnTo>
                      <a:lnTo>
                        <a:pt x="132" y="8"/>
                      </a:lnTo>
                      <a:lnTo>
                        <a:pt x="127" y="1"/>
                      </a:lnTo>
                      <a:lnTo>
                        <a:pt x="118" y="0"/>
                      </a:lnTo>
                      <a:lnTo>
                        <a:pt x="110" y="11"/>
                      </a:lnTo>
                      <a:close/>
                    </a:path>
                  </a:pathLst>
                </a:custGeom>
                <a:solidFill>
                  <a:srgbClr val="000000"/>
                </a:solidFill>
                <a:ln w="9525">
                  <a:noFill/>
                  <a:round/>
                  <a:headEnd/>
                  <a:tailEnd/>
                </a:ln>
              </p:spPr>
              <p:txBody>
                <a:bodyPr/>
                <a:lstStyle/>
                <a:p>
                  <a:endParaRPr lang="en-US"/>
                </a:p>
              </p:txBody>
            </p:sp>
            <p:sp>
              <p:nvSpPr>
                <p:cNvPr id="29910" name="Freeform 171"/>
                <p:cNvSpPr>
                  <a:spLocks/>
                </p:cNvSpPr>
                <p:nvPr/>
              </p:nvSpPr>
              <p:spPr bwMode="auto">
                <a:xfrm>
                  <a:off x="2243" y="3807"/>
                  <a:ext cx="11" cy="16"/>
                </a:xfrm>
                <a:custGeom>
                  <a:avLst/>
                  <a:gdLst>
                    <a:gd name="T0" fmla="*/ 1 w 22"/>
                    <a:gd name="T1" fmla="*/ 1 h 32"/>
                    <a:gd name="T2" fmla="*/ 0 w 22"/>
                    <a:gd name="T3" fmla="*/ 1 h 32"/>
                    <a:gd name="T4" fmla="*/ 0 w 22"/>
                    <a:gd name="T5" fmla="*/ 1 h 32"/>
                    <a:gd name="T6" fmla="*/ 1 w 22"/>
                    <a:gd name="T7" fmla="*/ 1 h 32"/>
                    <a:gd name="T8" fmla="*/ 1 w 22"/>
                    <a:gd name="T9" fmla="*/ 1 h 32"/>
                    <a:gd name="T10" fmla="*/ 1 w 22"/>
                    <a:gd name="T11" fmla="*/ 0 h 32"/>
                    <a:gd name="T12" fmla="*/ 1 w 22"/>
                    <a:gd name="T13" fmla="*/ 1 h 32"/>
                    <a:gd name="T14" fmla="*/ 1 w 22"/>
                    <a:gd name="T15" fmla="*/ 1 h 32"/>
                    <a:gd name="T16" fmla="*/ 1 w 22"/>
                    <a:gd name="T17" fmla="*/ 0 h 32"/>
                    <a:gd name="T18" fmla="*/ 1 w 22"/>
                    <a:gd name="T19" fmla="*/ 1 h 32"/>
                    <a:gd name="T20" fmla="*/ 0 w 22"/>
                    <a:gd name="T21" fmla="*/ 1 h 32"/>
                    <a:gd name="T22" fmla="*/ 1 w 22"/>
                    <a:gd name="T23" fmla="*/ 1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32"/>
                    <a:gd name="T38" fmla="*/ 22 w 22"/>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32">
                      <a:moveTo>
                        <a:pt x="12" y="22"/>
                      </a:moveTo>
                      <a:lnTo>
                        <a:pt x="0" y="11"/>
                      </a:lnTo>
                      <a:lnTo>
                        <a:pt x="0" y="32"/>
                      </a:lnTo>
                      <a:lnTo>
                        <a:pt x="22" y="32"/>
                      </a:lnTo>
                      <a:lnTo>
                        <a:pt x="22" y="11"/>
                      </a:lnTo>
                      <a:lnTo>
                        <a:pt x="9" y="0"/>
                      </a:lnTo>
                      <a:lnTo>
                        <a:pt x="22" y="11"/>
                      </a:lnTo>
                      <a:lnTo>
                        <a:pt x="19" y="4"/>
                      </a:lnTo>
                      <a:lnTo>
                        <a:pt x="11" y="0"/>
                      </a:lnTo>
                      <a:lnTo>
                        <a:pt x="3" y="4"/>
                      </a:lnTo>
                      <a:lnTo>
                        <a:pt x="0" y="11"/>
                      </a:lnTo>
                      <a:lnTo>
                        <a:pt x="12" y="22"/>
                      </a:lnTo>
                      <a:close/>
                    </a:path>
                  </a:pathLst>
                </a:custGeom>
                <a:solidFill>
                  <a:srgbClr val="000000"/>
                </a:solidFill>
                <a:ln w="9525">
                  <a:noFill/>
                  <a:round/>
                  <a:headEnd/>
                  <a:tailEnd/>
                </a:ln>
              </p:spPr>
              <p:txBody>
                <a:bodyPr/>
                <a:lstStyle/>
                <a:p>
                  <a:endParaRPr lang="en-US"/>
                </a:p>
              </p:txBody>
            </p:sp>
            <p:sp>
              <p:nvSpPr>
                <p:cNvPr id="29911" name="Freeform 172"/>
                <p:cNvSpPr>
                  <a:spLocks/>
                </p:cNvSpPr>
                <p:nvPr/>
              </p:nvSpPr>
              <p:spPr bwMode="auto">
                <a:xfrm>
                  <a:off x="2170" y="3807"/>
                  <a:ext cx="79" cy="27"/>
                </a:xfrm>
                <a:custGeom>
                  <a:avLst/>
                  <a:gdLst>
                    <a:gd name="T0" fmla="*/ 1 w 158"/>
                    <a:gd name="T1" fmla="*/ 1 h 54"/>
                    <a:gd name="T2" fmla="*/ 1 w 158"/>
                    <a:gd name="T3" fmla="*/ 1 h 54"/>
                    <a:gd name="T4" fmla="*/ 1 w 158"/>
                    <a:gd name="T5" fmla="*/ 1 h 54"/>
                    <a:gd name="T6" fmla="*/ 1 w 158"/>
                    <a:gd name="T7" fmla="*/ 0 h 54"/>
                    <a:gd name="T8" fmla="*/ 1 w 158"/>
                    <a:gd name="T9" fmla="*/ 1 h 54"/>
                    <a:gd name="T10" fmla="*/ 1 w 158"/>
                    <a:gd name="T11" fmla="*/ 1 h 54"/>
                    <a:gd name="T12" fmla="*/ 1 w 158"/>
                    <a:gd name="T13" fmla="*/ 1 h 54"/>
                    <a:gd name="T14" fmla="*/ 1 w 158"/>
                    <a:gd name="T15" fmla="*/ 1 h 54"/>
                    <a:gd name="T16" fmla="*/ 0 w 158"/>
                    <a:gd name="T17" fmla="*/ 1 h 54"/>
                    <a:gd name="T18" fmla="*/ 1 w 158"/>
                    <a:gd name="T19" fmla="*/ 1 h 54"/>
                    <a:gd name="T20" fmla="*/ 1 w 158"/>
                    <a:gd name="T21" fmla="*/ 1 h 54"/>
                    <a:gd name="T22" fmla="*/ 1 w 158"/>
                    <a:gd name="T23" fmla="*/ 1 h 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8"/>
                    <a:gd name="T37" fmla="*/ 0 h 54"/>
                    <a:gd name="T38" fmla="*/ 158 w 158"/>
                    <a:gd name="T39" fmla="*/ 54 h 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8" h="54">
                      <a:moveTo>
                        <a:pt x="11" y="54"/>
                      </a:moveTo>
                      <a:lnTo>
                        <a:pt x="13" y="54"/>
                      </a:lnTo>
                      <a:lnTo>
                        <a:pt x="158" y="22"/>
                      </a:lnTo>
                      <a:lnTo>
                        <a:pt x="155" y="0"/>
                      </a:lnTo>
                      <a:lnTo>
                        <a:pt x="10" y="32"/>
                      </a:lnTo>
                      <a:lnTo>
                        <a:pt x="11" y="32"/>
                      </a:lnTo>
                      <a:lnTo>
                        <a:pt x="10" y="32"/>
                      </a:lnTo>
                      <a:lnTo>
                        <a:pt x="2" y="36"/>
                      </a:lnTo>
                      <a:lnTo>
                        <a:pt x="0" y="44"/>
                      </a:lnTo>
                      <a:lnTo>
                        <a:pt x="5" y="50"/>
                      </a:lnTo>
                      <a:lnTo>
                        <a:pt x="13" y="54"/>
                      </a:lnTo>
                      <a:lnTo>
                        <a:pt x="11" y="54"/>
                      </a:lnTo>
                      <a:close/>
                    </a:path>
                  </a:pathLst>
                </a:custGeom>
                <a:solidFill>
                  <a:srgbClr val="000000"/>
                </a:solidFill>
                <a:ln w="9525">
                  <a:noFill/>
                  <a:round/>
                  <a:headEnd/>
                  <a:tailEnd/>
                </a:ln>
              </p:spPr>
              <p:txBody>
                <a:bodyPr/>
                <a:lstStyle/>
                <a:p>
                  <a:endParaRPr lang="en-US"/>
                </a:p>
              </p:txBody>
            </p:sp>
            <p:sp>
              <p:nvSpPr>
                <p:cNvPr id="29912" name="Freeform 173"/>
                <p:cNvSpPr>
                  <a:spLocks/>
                </p:cNvSpPr>
                <p:nvPr/>
              </p:nvSpPr>
              <p:spPr bwMode="auto">
                <a:xfrm>
                  <a:off x="2152" y="3823"/>
                  <a:ext cx="24" cy="11"/>
                </a:xfrm>
                <a:custGeom>
                  <a:avLst/>
                  <a:gdLst>
                    <a:gd name="T0" fmla="*/ 1 w 47"/>
                    <a:gd name="T1" fmla="*/ 1 h 22"/>
                    <a:gd name="T2" fmla="*/ 1 w 47"/>
                    <a:gd name="T3" fmla="*/ 1 h 22"/>
                    <a:gd name="T4" fmla="*/ 1 w 47"/>
                    <a:gd name="T5" fmla="*/ 1 h 22"/>
                    <a:gd name="T6" fmla="*/ 1 w 47"/>
                    <a:gd name="T7" fmla="*/ 0 h 22"/>
                    <a:gd name="T8" fmla="*/ 1 w 47"/>
                    <a:gd name="T9" fmla="*/ 0 h 22"/>
                    <a:gd name="T10" fmla="*/ 1 w 47"/>
                    <a:gd name="T11" fmla="*/ 0 h 22"/>
                    <a:gd name="T12" fmla="*/ 1 w 47"/>
                    <a:gd name="T13" fmla="*/ 0 h 22"/>
                    <a:gd name="T14" fmla="*/ 1 w 47"/>
                    <a:gd name="T15" fmla="*/ 1 h 22"/>
                    <a:gd name="T16" fmla="*/ 0 w 47"/>
                    <a:gd name="T17" fmla="*/ 1 h 22"/>
                    <a:gd name="T18" fmla="*/ 1 w 47"/>
                    <a:gd name="T19" fmla="*/ 1 h 22"/>
                    <a:gd name="T20" fmla="*/ 1 w 47"/>
                    <a:gd name="T21" fmla="*/ 1 h 22"/>
                    <a:gd name="T22" fmla="*/ 1 w 47"/>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
                    <a:gd name="T37" fmla="*/ 0 h 22"/>
                    <a:gd name="T38" fmla="*/ 47 w 47"/>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 h="22">
                      <a:moveTo>
                        <a:pt x="10" y="22"/>
                      </a:moveTo>
                      <a:lnTo>
                        <a:pt x="11" y="22"/>
                      </a:lnTo>
                      <a:lnTo>
                        <a:pt x="47" y="22"/>
                      </a:lnTo>
                      <a:lnTo>
                        <a:pt x="47" y="0"/>
                      </a:lnTo>
                      <a:lnTo>
                        <a:pt x="11" y="0"/>
                      </a:lnTo>
                      <a:lnTo>
                        <a:pt x="13" y="0"/>
                      </a:lnTo>
                      <a:lnTo>
                        <a:pt x="11" y="0"/>
                      </a:lnTo>
                      <a:lnTo>
                        <a:pt x="3" y="3"/>
                      </a:lnTo>
                      <a:lnTo>
                        <a:pt x="0" y="11"/>
                      </a:lnTo>
                      <a:lnTo>
                        <a:pt x="3" y="18"/>
                      </a:lnTo>
                      <a:lnTo>
                        <a:pt x="11" y="22"/>
                      </a:lnTo>
                      <a:lnTo>
                        <a:pt x="10" y="22"/>
                      </a:lnTo>
                      <a:close/>
                    </a:path>
                  </a:pathLst>
                </a:custGeom>
                <a:solidFill>
                  <a:srgbClr val="000000"/>
                </a:solidFill>
                <a:ln w="9525">
                  <a:noFill/>
                  <a:round/>
                  <a:headEnd/>
                  <a:tailEnd/>
                </a:ln>
              </p:spPr>
              <p:txBody>
                <a:bodyPr/>
                <a:lstStyle/>
                <a:p>
                  <a:endParaRPr lang="en-US"/>
                </a:p>
              </p:txBody>
            </p:sp>
            <p:sp>
              <p:nvSpPr>
                <p:cNvPr id="29913" name="Line 174"/>
                <p:cNvSpPr>
                  <a:spLocks noChangeShapeType="1"/>
                </p:cNvSpPr>
                <p:nvPr/>
              </p:nvSpPr>
              <p:spPr bwMode="auto">
                <a:xfrm flipV="1">
                  <a:off x="1933" y="3548"/>
                  <a:ext cx="130" cy="76"/>
                </a:xfrm>
                <a:prstGeom prst="line">
                  <a:avLst/>
                </a:prstGeom>
                <a:noFill/>
                <a:ln w="0">
                  <a:solidFill>
                    <a:srgbClr val="000000"/>
                  </a:solidFill>
                  <a:round/>
                  <a:headEnd/>
                  <a:tailEnd/>
                </a:ln>
              </p:spPr>
              <p:txBody>
                <a:bodyPr/>
                <a:lstStyle/>
                <a:p>
                  <a:endParaRPr lang="en-US"/>
                </a:p>
              </p:txBody>
            </p:sp>
            <p:sp>
              <p:nvSpPr>
                <p:cNvPr id="29914" name="Line 175"/>
                <p:cNvSpPr>
                  <a:spLocks noChangeShapeType="1"/>
                </p:cNvSpPr>
                <p:nvPr/>
              </p:nvSpPr>
              <p:spPr bwMode="auto">
                <a:xfrm flipV="1">
                  <a:off x="1942" y="3553"/>
                  <a:ext cx="129" cy="75"/>
                </a:xfrm>
                <a:prstGeom prst="line">
                  <a:avLst/>
                </a:prstGeom>
                <a:noFill/>
                <a:ln w="0">
                  <a:solidFill>
                    <a:srgbClr val="000000"/>
                  </a:solidFill>
                  <a:round/>
                  <a:headEnd/>
                  <a:tailEnd/>
                </a:ln>
              </p:spPr>
              <p:txBody>
                <a:bodyPr/>
                <a:lstStyle/>
                <a:p>
                  <a:endParaRPr lang="en-US"/>
                </a:p>
              </p:txBody>
            </p:sp>
            <p:sp>
              <p:nvSpPr>
                <p:cNvPr id="29915" name="Line 176"/>
                <p:cNvSpPr>
                  <a:spLocks noChangeShapeType="1"/>
                </p:cNvSpPr>
                <p:nvPr/>
              </p:nvSpPr>
              <p:spPr bwMode="auto">
                <a:xfrm flipV="1">
                  <a:off x="1949" y="3560"/>
                  <a:ext cx="130" cy="75"/>
                </a:xfrm>
                <a:prstGeom prst="line">
                  <a:avLst/>
                </a:prstGeom>
                <a:noFill/>
                <a:ln w="0">
                  <a:solidFill>
                    <a:srgbClr val="000000"/>
                  </a:solidFill>
                  <a:round/>
                  <a:headEnd/>
                  <a:tailEnd/>
                </a:ln>
              </p:spPr>
              <p:txBody>
                <a:bodyPr/>
                <a:lstStyle/>
                <a:p>
                  <a:endParaRPr lang="en-US"/>
                </a:p>
              </p:txBody>
            </p:sp>
            <p:sp>
              <p:nvSpPr>
                <p:cNvPr id="29916" name="Line 177"/>
                <p:cNvSpPr>
                  <a:spLocks noChangeShapeType="1"/>
                </p:cNvSpPr>
                <p:nvPr/>
              </p:nvSpPr>
              <p:spPr bwMode="auto">
                <a:xfrm flipV="1">
                  <a:off x="2019" y="3512"/>
                  <a:ext cx="18" cy="11"/>
                </a:xfrm>
                <a:prstGeom prst="line">
                  <a:avLst/>
                </a:prstGeom>
                <a:noFill/>
                <a:ln w="0">
                  <a:solidFill>
                    <a:srgbClr val="000000"/>
                  </a:solidFill>
                  <a:round/>
                  <a:headEnd/>
                  <a:tailEnd/>
                </a:ln>
              </p:spPr>
              <p:txBody>
                <a:bodyPr/>
                <a:lstStyle/>
                <a:p>
                  <a:endParaRPr lang="en-US"/>
                </a:p>
              </p:txBody>
            </p:sp>
            <p:sp>
              <p:nvSpPr>
                <p:cNvPr id="29917" name="Freeform 178"/>
                <p:cNvSpPr>
                  <a:spLocks/>
                </p:cNvSpPr>
                <p:nvPr/>
              </p:nvSpPr>
              <p:spPr bwMode="auto">
                <a:xfrm>
                  <a:off x="1894" y="3369"/>
                  <a:ext cx="130" cy="194"/>
                </a:xfrm>
                <a:custGeom>
                  <a:avLst/>
                  <a:gdLst>
                    <a:gd name="T0" fmla="*/ 1 w 259"/>
                    <a:gd name="T1" fmla="*/ 0 h 388"/>
                    <a:gd name="T2" fmla="*/ 1 w 259"/>
                    <a:gd name="T3" fmla="*/ 1 h 388"/>
                    <a:gd name="T4" fmla="*/ 0 w 259"/>
                    <a:gd name="T5" fmla="*/ 1 h 388"/>
                    <a:gd name="T6" fmla="*/ 0 w 259"/>
                    <a:gd name="T7" fmla="*/ 1 h 388"/>
                    <a:gd name="T8" fmla="*/ 1 w 259"/>
                    <a:gd name="T9" fmla="*/ 0 h 388"/>
                    <a:gd name="T10" fmla="*/ 0 60000 65536"/>
                    <a:gd name="T11" fmla="*/ 0 60000 65536"/>
                    <a:gd name="T12" fmla="*/ 0 60000 65536"/>
                    <a:gd name="T13" fmla="*/ 0 60000 65536"/>
                    <a:gd name="T14" fmla="*/ 0 60000 65536"/>
                    <a:gd name="T15" fmla="*/ 0 w 259"/>
                    <a:gd name="T16" fmla="*/ 0 h 388"/>
                    <a:gd name="T17" fmla="*/ 259 w 259"/>
                    <a:gd name="T18" fmla="*/ 388 h 388"/>
                  </a:gdLst>
                  <a:ahLst/>
                  <a:cxnLst>
                    <a:cxn ang="T10">
                      <a:pos x="T0" y="T1"/>
                    </a:cxn>
                    <a:cxn ang="T11">
                      <a:pos x="T2" y="T3"/>
                    </a:cxn>
                    <a:cxn ang="T12">
                      <a:pos x="T4" y="T5"/>
                    </a:cxn>
                    <a:cxn ang="T13">
                      <a:pos x="T6" y="T7"/>
                    </a:cxn>
                    <a:cxn ang="T14">
                      <a:pos x="T8" y="T9"/>
                    </a:cxn>
                  </a:cxnLst>
                  <a:rect l="T15" t="T16" r="T17" b="T18"/>
                  <a:pathLst>
                    <a:path w="259" h="388">
                      <a:moveTo>
                        <a:pt x="259" y="0"/>
                      </a:moveTo>
                      <a:lnTo>
                        <a:pt x="259" y="236"/>
                      </a:lnTo>
                      <a:lnTo>
                        <a:pt x="0" y="388"/>
                      </a:lnTo>
                      <a:lnTo>
                        <a:pt x="0" y="150"/>
                      </a:lnTo>
                      <a:lnTo>
                        <a:pt x="259" y="0"/>
                      </a:lnTo>
                      <a:close/>
                    </a:path>
                  </a:pathLst>
                </a:custGeom>
                <a:solidFill>
                  <a:srgbClr val="007FFF"/>
                </a:solidFill>
                <a:ln w="9525">
                  <a:noFill/>
                  <a:round/>
                  <a:headEnd/>
                  <a:tailEnd/>
                </a:ln>
              </p:spPr>
              <p:txBody>
                <a:bodyPr/>
                <a:lstStyle/>
                <a:p>
                  <a:endParaRPr lang="en-US"/>
                </a:p>
              </p:txBody>
            </p:sp>
            <p:sp>
              <p:nvSpPr>
                <p:cNvPr id="29918" name="Freeform 179"/>
                <p:cNvSpPr>
                  <a:spLocks/>
                </p:cNvSpPr>
                <p:nvPr/>
              </p:nvSpPr>
              <p:spPr bwMode="auto">
                <a:xfrm>
                  <a:off x="2018" y="3369"/>
                  <a:ext cx="11" cy="124"/>
                </a:xfrm>
                <a:custGeom>
                  <a:avLst/>
                  <a:gdLst>
                    <a:gd name="T0" fmla="*/ 1 w 21"/>
                    <a:gd name="T1" fmla="*/ 1 h 247"/>
                    <a:gd name="T2" fmla="*/ 1 w 21"/>
                    <a:gd name="T3" fmla="*/ 1 h 247"/>
                    <a:gd name="T4" fmla="*/ 1 w 21"/>
                    <a:gd name="T5" fmla="*/ 0 h 247"/>
                    <a:gd name="T6" fmla="*/ 0 w 21"/>
                    <a:gd name="T7" fmla="*/ 0 h 247"/>
                    <a:gd name="T8" fmla="*/ 0 w 21"/>
                    <a:gd name="T9" fmla="*/ 1 h 247"/>
                    <a:gd name="T10" fmla="*/ 1 w 21"/>
                    <a:gd name="T11" fmla="*/ 1 h 247"/>
                    <a:gd name="T12" fmla="*/ 0 w 21"/>
                    <a:gd name="T13" fmla="*/ 1 h 247"/>
                    <a:gd name="T14" fmla="*/ 1 w 21"/>
                    <a:gd name="T15" fmla="*/ 1 h 247"/>
                    <a:gd name="T16" fmla="*/ 1 w 21"/>
                    <a:gd name="T17" fmla="*/ 1 h 247"/>
                    <a:gd name="T18" fmla="*/ 1 w 21"/>
                    <a:gd name="T19" fmla="*/ 1 h 247"/>
                    <a:gd name="T20" fmla="*/ 1 w 21"/>
                    <a:gd name="T21" fmla="*/ 1 h 247"/>
                    <a:gd name="T22" fmla="*/ 1 w 21"/>
                    <a:gd name="T23" fmla="*/ 1 h 2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47"/>
                    <a:gd name="T38" fmla="*/ 21 w 21"/>
                    <a:gd name="T39" fmla="*/ 247 h 2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47">
                      <a:moveTo>
                        <a:pt x="17" y="246"/>
                      </a:moveTo>
                      <a:lnTo>
                        <a:pt x="21" y="236"/>
                      </a:lnTo>
                      <a:lnTo>
                        <a:pt x="21" y="0"/>
                      </a:lnTo>
                      <a:lnTo>
                        <a:pt x="0" y="0"/>
                      </a:lnTo>
                      <a:lnTo>
                        <a:pt x="0" y="236"/>
                      </a:lnTo>
                      <a:lnTo>
                        <a:pt x="4" y="227"/>
                      </a:lnTo>
                      <a:lnTo>
                        <a:pt x="0" y="236"/>
                      </a:lnTo>
                      <a:lnTo>
                        <a:pt x="3" y="244"/>
                      </a:lnTo>
                      <a:lnTo>
                        <a:pt x="10" y="247"/>
                      </a:lnTo>
                      <a:lnTo>
                        <a:pt x="18" y="244"/>
                      </a:lnTo>
                      <a:lnTo>
                        <a:pt x="21" y="236"/>
                      </a:lnTo>
                      <a:lnTo>
                        <a:pt x="17" y="246"/>
                      </a:lnTo>
                      <a:close/>
                    </a:path>
                  </a:pathLst>
                </a:custGeom>
                <a:solidFill>
                  <a:srgbClr val="000000"/>
                </a:solidFill>
                <a:ln w="9525">
                  <a:noFill/>
                  <a:round/>
                  <a:headEnd/>
                  <a:tailEnd/>
                </a:ln>
              </p:spPr>
              <p:txBody>
                <a:bodyPr/>
                <a:lstStyle/>
                <a:p>
                  <a:endParaRPr lang="en-US"/>
                </a:p>
              </p:txBody>
            </p:sp>
            <p:sp>
              <p:nvSpPr>
                <p:cNvPr id="29919" name="Freeform 180"/>
                <p:cNvSpPr>
                  <a:spLocks/>
                </p:cNvSpPr>
                <p:nvPr/>
              </p:nvSpPr>
              <p:spPr bwMode="auto">
                <a:xfrm>
                  <a:off x="1888" y="3483"/>
                  <a:ext cx="139" cy="86"/>
                </a:xfrm>
                <a:custGeom>
                  <a:avLst/>
                  <a:gdLst>
                    <a:gd name="T0" fmla="*/ 0 w 277"/>
                    <a:gd name="T1" fmla="*/ 1 h 172"/>
                    <a:gd name="T2" fmla="*/ 1 w 277"/>
                    <a:gd name="T3" fmla="*/ 1 h 172"/>
                    <a:gd name="T4" fmla="*/ 1 w 277"/>
                    <a:gd name="T5" fmla="*/ 1 h 172"/>
                    <a:gd name="T6" fmla="*/ 1 w 277"/>
                    <a:gd name="T7" fmla="*/ 0 h 172"/>
                    <a:gd name="T8" fmla="*/ 1 w 277"/>
                    <a:gd name="T9" fmla="*/ 1 h 172"/>
                    <a:gd name="T10" fmla="*/ 1 w 277"/>
                    <a:gd name="T11" fmla="*/ 1 h 172"/>
                    <a:gd name="T12" fmla="*/ 1 w 277"/>
                    <a:gd name="T13" fmla="*/ 1 h 172"/>
                    <a:gd name="T14" fmla="*/ 0 w 277"/>
                    <a:gd name="T15" fmla="*/ 1 h 172"/>
                    <a:gd name="T16" fmla="*/ 1 w 277"/>
                    <a:gd name="T17" fmla="*/ 1 h 172"/>
                    <a:gd name="T18" fmla="*/ 1 w 277"/>
                    <a:gd name="T19" fmla="*/ 1 h 172"/>
                    <a:gd name="T20" fmla="*/ 1 w 277"/>
                    <a:gd name="T21" fmla="*/ 1 h 172"/>
                    <a:gd name="T22" fmla="*/ 0 w 277"/>
                    <a:gd name="T23" fmla="*/ 1 h 1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2"/>
                    <a:gd name="T38" fmla="*/ 277 w 277"/>
                    <a:gd name="T39" fmla="*/ 172 h 1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2">
                      <a:moveTo>
                        <a:pt x="0" y="161"/>
                      </a:moveTo>
                      <a:lnTo>
                        <a:pt x="17" y="171"/>
                      </a:lnTo>
                      <a:lnTo>
                        <a:pt x="277" y="19"/>
                      </a:lnTo>
                      <a:lnTo>
                        <a:pt x="264" y="0"/>
                      </a:lnTo>
                      <a:lnTo>
                        <a:pt x="4" y="152"/>
                      </a:lnTo>
                      <a:lnTo>
                        <a:pt x="22" y="161"/>
                      </a:lnTo>
                      <a:lnTo>
                        <a:pt x="4" y="152"/>
                      </a:lnTo>
                      <a:lnTo>
                        <a:pt x="0" y="160"/>
                      </a:lnTo>
                      <a:lnTo>
                        <a:pt x="1" y="167"/>
                      </a:lnTo>
                      <a:lnTo>
                        <a:pt x="7" y="172"/>
                      </a:lnTo>
                      <a:lnTo>
                        <a:pt x="17" y="171"/>
                      </a:lnTo>
                      <a:lnTo>
                        <a:pt x="0" y="161"/>
                      </a:lnTo>
                      <a:close/>
                    </a:path>
                  </a:pathLst>
                </a:custGeom>
                <a:solidFill>
                  <a:srgbClr val="000000"/>
                </a:solidFill>
                <a:ln w="9525">
                  <a:noFill/>
                  <a:round/>
                  <a:headEnd/>
                  <a:tailEnd/>
                </a:ln>
              </p:spPr>
              <p:txBody>
                <a:bodyPr/>
                <a:lstStyle/>
                <a:p>
                  <a:endParaRPr lang="en-US"/>
                </a:p>
              </p:txBody>
            </p:sp>
            <p:sp>
              <p:nvSpPr>
                <p:cNvPr id="29920" name="Freeform 181"/>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4" y="2"/>
                      </a:moveTo>
                      <a:lnTo>
                        <a:pt x="0" y="11"/>
                      </a:lnTo>
                      <a:lnTo>
                        <a:pt x="0" y="249"/>
                      </a:lnTo>
                      <a:lnTo>
                        <a:pt x="22" y="249"/>
                      </a:lnTo>
                      <a:lnTo>
                        <a:pt x="22" y="11"/>
                      </a:lnTo>
                      <a:lnTo>
                        <a:pt x="17" y="21"/>
                      </a:lnTo>
                      <a:lnTo>
                        <a:pt x="22" y="11"/>
                      </a:lnTo>
                      <a:lnTo>
                        <a:pt x="18" y="4"/>
                      </a:lnTo>
                      <a:lnTo>
                        <a:pt x="11" y="0"/>
                      </a:lnTo>
                      <a:lnTo>
                        <a:pt x="3" y="4"/>
                      </a:lnTo>
                      <a:lnTo>
                        <a:pt x="0" y="11"/>
                      </a:lnTo>
                      <a:lnTo>
                        <a:pt x="4" y="2"/>
                      </a:lnTo>
                      <a:close/>
                    </a:path>
                  </a:pathLst>
                </a:custGeom>
                <a:solidFill>
                  <a:srgbClr val="000000"/>
                </a:solidFill>
                <a:ln w="9525">
                  <a:noFill/>
                  <a:round/>
                  <a:headEnd/>
                  <a:tailEnd/>
                </a:ln>
              </p:spPr>
              <p:txBody>
                <a:bodyPr/>
                <a:lstStyle/>
                <a:p>
                  <a:endParaRPr lang="en-US"/>
                </a:p>
              </p:txBody>
            </p:sp>
            <p:sp>
              <p:nvSpPr>
                <p:cNvPr id="29921" name="Freeform 182"/>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77" y="11"/>
                      </a:moveTo>
                      <a:lnTo>
                        <a:pt x="260" y="2"/>
                      </a:lnTo>
                      <a:lnTo>
                        <a:pt x="0" y="152"/>
                      </a:lnTo>
                      <a:lnTo>
                        <a:pt x="13" y="171"/>
                      </a:lnTo>
                      <a:lnTo>
                        <a:pt x="273" y="21"/>
                      </a:lnTo>
                      <a:lnTo>
                        <a:pt x="256" y="11"/>
                      </a:lnTo>
                      <a:lnTo>
                        <a:pt x="273" y="21"/>
                      </a:lnTo>
                      <a:lnTo>
                        <a:pt x="277" y="13"/>
                      </a:lnTo>
                      <a:lnTo>
                        <a:pt x="276" y="5"/>
                      </a:lnTo>
                      <a:lnTo>
                        <a:pt x="270" y="0"/>
                      </a:lnTo>
                      <a:lnTo>
                        <a:pt x="260" y="2"/>
                      </a:lnTo>
                      <a:lnTo>
                        <a:pt x="277" y="11"/>
                      </a:lnTo>
                      <a:close/>
                    </a:path>
                  </a:pathLst>
                </a:custGeom>
                <a:solidFill>
                  <a:srgbClr val="000000"/>
                </a:solidFill>
                <a:ln w="9525">
                  <a:noFill/>
                  <a:round/>
                  <a:headEnd/>
                  <a:tailEnd/>
                </a:ln>
              </p:spPr>
              <p:txBody>
                <a:bodyPr/>
                <a:lstStyle/>
                <a:p>
                  <a:endParaRPr lang="en-US"/>
                </a:p>
              </p:txBody>
            </p:sp>
            <p:sp>
              <p:nvSpPr>
                <p:cNvPr id="29922" name="Freeform 183"/>
                <p:cNvSpPr>
                  <a:spLocks/>
                </p:cNvSpPr>
                <p:nvPr/>
              </p:nvSpPr>
              <p:spPr bwMode="auto">
                <a:xfrm>
                  <a:off x="1851" y="3349"/>
                  <a:ext cx="173" cy="95"/>
                </a:xfrm>
                <a:custGeom>
                  <a:avLst/>
                  <a:gdLst>
                    <a:gd name="T0" fmla="*/ 1 w 344"/>
                    <a:gd name="T1" fmla="*/ 1 h 190"/>
                    <a:gd name="T2" fmla="*/ 1 w 344"/>
                    <a:gd name="T3" fmla="*/ 0 h 190"/>
                    <a:gd name="T4" fmla="*/ 0 w 344"/>
                    <a:gd name="T5" fmla="*/ 1 h 190"/>
                    <a:gd name="T6" fmla="*/ 1 w 344"/>
                    <a:gd name="T7" fmla="*/ 1 h 190"/>
                    <a:gd name="T8" fmla="*/ 1 w 344"/>
                    <a:gd name="T9" fmla="*/ 1 h 190"/>
                    <a:gd name="T10" fmla="*/ 0 60000 65536"/>
                    <a:gd name="T11" fmla="*/ 0 60000 65536"/>
                    <a:gd name="T12" fmla="*/ 0 60000 65536"/>
                    <a:gd name="T13" fmla="*/ 0 60000 65536"/>
                    <a:gd name="T14" fmla="*/ 0 60000 65536"/>
                    <a:gd name="T15" fmla="*/ 0 w 344"/>
                    <a:gd name="T16" fmla="*/ 0 h 190"/>
                    <a:gd name="T17" fmla="*/ 344 w 344"/>
                    <a:gd name="T18" fmla="*/ 190 h 190"/>
                  </a:gdLst>
                  <a:ahLst/>
                  <a:cxnLst>
                    <a:cxn ang="T10">
                      <a:pos x="T0" y="T1"/>
                    </a:cxn>
                    <a:cxn ang="T11">
                      <a:pos x="T2" y="T3"/>
                    </a:cxn>
                    <a:cxn ang="T12">
                      <a:pos x="T4" y="T5"/>
                    </a:cxn>
                    <a:cxn ang="T13">
                      <a:pos x="T6" y="T7"/>
                    </a:cxn>
                    <a:cxn ang="T14">
                      <a:pos x="T8" y="T9"/>
                    </a:cxn>
                  </a:cxnLst>
                  <a:rect l="T15" t="T16" r="T17" b="T18"/>
                  <a:pathLst>
                    <a:path w="344" h="190">
                      <a:moveTo>
                        <a:pt x="344" y="40"/>
                      </a:moveTo>
                      <a:lnTo>
                        <a:pt x="260" y="0"/>
                      </a:lnTo>
                      <a:lnTo>
                        <a:pt x="0" y="150"/>
                      </a:lnTo>
                      <a:lnTo>
                        <a:pt x="85" y="190"/>
                      </a:lnTo>
                      <a:lnTo>
                        <a:pt x="344" y="40"/>
                      </a:lnTo>
                      <a:close/>
                    </a:path>
                  </a:pathLst>
                </a:custGeom>
                <a:solidFill>
                  <a:srgbClr val="99D8FF"/>
                </a:solidFill>
                <a:ln w="9525">
                  <a:noFill/>
                  <a:round/>
                  <a:headEnd/>
                  <a:tailEnd/>
                </a:ln>
              </p:spPr>
              <p:txBody>
                <a:bodyPr/>
                <a:lstStyle/>
                <a:p>
                  <a:endParaRPr lang="en-US"/>
                </a:p>
              </p:txBody>
            </p:sp>
            <p:sp>
              <p:nvSpPr>
                <p:cNvPr id="29923" name="Freeform 184"/>
                <p:cNvSpPr>
                  <a:spLocks/>
                </p:cNvSpPr>
                <p:nvPr/>
              </p:nvSpPr>
              <p:spPr bwMode="auto">
                <a:xfrm>
                  <a:off x="1976" y="3344"/>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1 w 100"/>
                    <a:gd name="T11" fmla="*/ 0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16" y="19"/>
                      </a:moveTo>
                      <a:lnTo>
                        <a:pt x="6" y="19"/>
                      </a:lnTo>
                      <a:lnTo>
                        <a:pt x="91" y="60"/>
                      </a:lnTo>
                      <a:lnTo>
                        <a:pt x="100" y="41"/>
                      </a:lnTo>
                      <a:lnTo>
                        <a:pt x="16" y="0"/>
                      </a:lnTo>
                      <a:lnTo>
                        <a:pt x="6" y="0"/>
                      </a:lnTo>
                      <a:lnTo>
                        <a:pt x="16" y="0"/>
                      </a:lnTo>
                      <a:lnTo>
                        <a:pt x="8" y="0"/>
                      </a:lnTo>
                      <a:lnTo>
                        <a:pt x="2" y="5"/>
                      </a:lnTo>
                      <a:lnTo>
                        <a:pt x="0" y="13"/>
                      </a:lnTo>
                      <a:lnTo>
                        <a:pt x="6" y="19"/>
                      </a:lnTo>
                      <a:lnTo>
                        <a:pt x="16" y="19"/>
                      </a:lnTo>
                      <a:close/>
                    </a:path>
                  </a:pathLst>
                </a:custGeom>
                <a:solidFill>
                  <a:srgbClr val="000000"/>
                </a:solidFill>
                <a:ln w="9525">
                  <a:noFill/>
                  <a:round/>
                  <a:headEnd/>
                  <a:tailEnd/>
                </a:ln>
              </p:spPr>
              <p:txBody>
                <a:bodyPr/>
                <a:lstStyle/>
                <a:p>
                  <a:endParaRPr lang="en-US"/>
                </a:p>
              </p:txBody>
            </p:sp>
            <p:sp>
              <p:nvSpPr>
                <p:cNvPr id="29924" name="Freeform 185"/>
                <p:cNvSpPr>
                  <a:spLocks/>
                </p:cNvSpPr>
                <p:nvPr/>
              </p:nvSpPr>
              <p:spPr bwMode="auto">
                <a:xfrm>
                  <a:off x="1846" y="3344"/>
                  <a:ext cx="138" cy="85"/>
                </a:xfrm>
                <a:custGeom>
                  <a:avLst/>
                  <a:gdLst>
                    <a:gd name="T0" fmla="*/ 1 w 276"/>
                    <a:gd name="T1" fmla="*/ 1 h 169"/>
                    <a:gd name="T2" fmla="*/ 1 w 276"/>
                    <a:gd name="T3" fmla="*/ 1 h 169"/>
                    <a:gd name="T4" fmla="*/ 1 w 276"/>
                    <a:gd name="T5" fmla="*/ 1 h 169"/>
                    <a:gd name="T6" fmla="*/ 1 w 276"/>
                    <a:gd name="T7" fmla="*/ 0 h 169"/>
                    <a:gd name="T8" fmla="*/ 1 w 276"/>
                    <a:gd name="T9" fmla="*/ 1 h 169"/>
                    <a:gd name="T10" fmla="*/ 1 w 276"/>
                    <a:gd name="T11" fmla="*/ 1 h 169"/>
                    <a:gd name="T12" fmla="*/ 1 w 276"/>
                    <a:gd name="T13" fmla="*/ 1 h 169"/>
                    <a:gd name="T14" fmla="*/ 0 w 276"/>
                    <a:gd name="T15" fmla="*/ 1 h 169"/>
                    <a:gd name="T16" fmla="*/ 1 w 276"/>
                    <a:gd name="T17" fmla="*/ 1 h 169"/>
                    <a:gd name="T18" fmla="*/ 1 w 276"/>
                    <a:gd name="T19" fmla="*/ 1 h 169"/>
                    <a:gd name="T20" fmla="*/ 1 w 276"/>
                    <a:gd name="T21" fmla="*/ 1 h 169"/>
                    <a:gd name="T22" fmla="*/ 1 w 276"/>
                    <a:gd name="T23" fmla="*/ 1 h 16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6"/>
                    <a:gd name="T37" fmla="*/ 0 h 169"/>
                    <a:gd name="T38" fmla="*/ 276 w 276"/>
                    <a:gd name="T39" fmla="*/ 169 h 16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6" h="169">
                      <a:moveTo>
                        <a:pt x="16" y="150"/>
                      </a:moveTo>
                      <a:lnTo>
                        <a:pt x="16" y="169"/>
                      </a:lnTo>
                      <a:lnTo>
                        <a:pt x="276" y="19"/>
                      </a:lnTo>
                      <a:lnTo>
                        <a:pt x="266" y="0"/>
                      </a:lnTo>
                      <a:lnTo>
                        <a:pt x="6" y="150"/>
                      </a:lnTo>
                      <a:lnTo>
                        <a:pt x="6" y="169"/>
                      </a:lnTo>
                      <a:lnTo>
                        <a:pt x="6" y="150"/>
                      </a:lnTo>
                      <a:lnTo>
                        <a:pt x="0" y="157"/>
                      </a:lnTo>
                      <a:lnTo>
                        <a:pt x="2" y="164"/>
                      </a:lnTo>
                      <a:lnTo>
                        <a:pt x="8" y="169"/>
                      </a:lnTo>
                      <a:lnTo>
                        <a:pt x="16" y="169"/>
                      </a:lnTo>
                      <a:lnTo>
                        <a:pt x="16" y="150"/>
                      </a:lnTo>
                      <a:close/>
                    </a:path>
                  </a:pathLst>
                </a:custGeom>
                <a:solidFill>
                  <a:srgbClr val="000000"/>
                </a:solidFill>
                <a:ln w="9525">
                  <a:noFill/>
                  <a:round/>
                  <a:headEnd/>
                  <a:tailEnd/>
                </a:ln>
              </p:spPr>
              <p:txBody>
                <a:bodyPr/>
                <a:lstStyle/>
                <a:p>
                  <a:endParaRPr lang="en-US"/>
                </a:p>
              </p:txBody>
            </p:sp>
            <p:sp>
              <p:nvSpPr>
                <p:cNvPr id="29925" name="Freeform 186"/>
                <p:cNvSpPr>
                  <a:spLocks/>
                </p:cNvSpPr>
                <p:nvPr/>
              </p:nvSpPr>
              <p:spPr bwMode="auto">
                <a:xfrm>
                  <a:off x="1849" y="3419"/>
                  <a:ext cx="50" cy="30"/>
                </a:xfrm>
                <a:custGeom>
                  <a:avLst/>
                  <a:gdLst>
                    <a:gd name="T0" fmla="*/ 0 w 101"/>
                    <a:gd name="T1" fmla="*/ 1 h 60"/>
                    <a:gd name="T2" fmla="*/ 0 w 101"/>
                    <a:gd name="T3" fmla="*/ 1 h 60"/>
                    <a:gd name="T4" fmla="*/ 0 w 101"/>
                    <a:gd name="T5" fmla="*/ 0 h 60"/>
                    <a:gd name="T6" fmla="*/ 0 w 101"/>
                    <a:gd name="T7" fmla="*/ 1 h 60"/>
                    <a:gd name="T8" fmla="*/ 0 w 101"/>
                    <a:gd name="T9" fmla="*/ 1 h 60"/>
                    <a:gd name="T10" fmla="*/ 0 w 101"/>
                    <a:gd name="T11" fmla="*/ 1 h 60"/>
                    <a:gd name="T12" fmla="*/ 0 w 101"/>
                    <a:gd name="T13" fmla="*/ 1 h 60"/>
                    <a:gd name="T14" fmla="*/ 0 w 101"/>
                    <a:gd name="T15" fmla="*/ 1 h 60"/>
                    <a:gd name="T16" fmla="*/ 0 w 101"/>
                    <a:gd name="T17" fmla="*/ 1 h 60"/>
                    <a:gd name="T18" fmla="*/ 0 w 101"/>
                    <a:gd name="T19" fmla="*/ 1 h 60"/>
                    <a:gd name="T20" fmla="*/ 0 w 101"/>
                    <a:gd name="T21" fmla="*/ 1 h 60"/>
                    <a:gd name="T22" fmla="*/ 0 w 101"/>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0"/>
                    <a:gd name="T38" fmla="*/ 101 w 101"/>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0">
                      <a:moveTo>
                        <a:pt x="83" y="41"/>
                      </a:moveTo>
                      <a:lnTo>
                        <a:pt x="94" y="41"/>
                      </a:lnTo>
                      <a:lnTo>
                        <a:pt x="10" y="0"/>
                      </a:lnTo>
                      <a:lnTo>
                        <a:pt x="0" y="19"/>
                      </a:lnTo>
                      <a:lnTo>
                        <a:pt x="85" y="60"/>
                      </a:lnTo>
                      <a:lnTo>
                        <a:pt x="96" y="60"/>
                      </a:lnTo>
                      <a:lnTo>
                        <a:pt x="85" y="60"/>
                      </a:lnTo>
                      <a:lnTo>
                        <a:pt x="93" y="60"/>
                      </a:lnTo>
                      <a:lnTo>
                        <a:pt x="99" y="55"/>
                      </a:lnTo>
                      <a:lnTo>
                        <a:pt x="101" y="47"/>
                      </a:lnTo>
                      <a:lnTo>
                        <a:pt x="94" y="41"/>
                      </a:lnTo>
                      <a:lnTo>
                        <a:pt x="83" y="41"/>
                      </a:lnTo>
                      <a:close/>
                    </a:path>
                  </a:pathLst>
                </a:custGeom>
                <a:solidFill>
                  <a:srgbClr val="000000"/>
                </a:solidFill>
                <a:ln w="9525">
                  <a:noFill/>
                  <a:round/>
                  <a:headEnd/>
                  <a:tailEnd/>
                </a:ln>
              </p:spPr>
              <p:txBody>
                <a:bodyPr/>
                <a:lstStyle/>
                <a:p>
                  <a:endParaRPr lang="en-US"/>
                </a:p>
              </p:txBody>
            </p:sp>
            <p:sp>
              <p:nvSpPr>
                <p:cNvPr id="29926" name="Freeform 187"/>
                <p:cNvSpPr>
                  <a:spLocks/>
                </p:cNvSpPr>
                <p:nvPr/>
              </p:nvSpPr>
              <p:spPr bwMode="auto">
                <a:xfrm>
                  <a:off x="1891" y="3364"/>
                  <a:ext cx="138" cy="85"/>
                </a:xfrm>
                <a:custGeom>
                  <a:avLst/>
                  <a:gdLst>
                    <a:gd name="T0" fmla="*/ 0 w 277"/>
                    <a:gd name="T1" fmla="*/ 0 h 171"/>
                    <a:gd name="T2" fmla="*/ 0 w 277"/>
                    <a:gd name="T3" fmla="*/ 0 h 171"/>
                    <a:gd name="T4" fmla="*/ 0 w 277"/>
                    <a:gd name="T5" fmla="*/ 0 h 171"/>
                    <a:gd name="T6" fmla="*/ 0 w 277"/>
                    <a:gd name="T7" fmla="*/ 0 h 171"/>
                    <a:gd name="T8" fmla="*/ 0 w 277"/>
                    <a:gd name="T9" fmla="*/ 0 h 171"/>
                    <a:gd name="T10" fmla="*/ 0 w 277"/>
                    <a:gd name="T11" fmla="*/ 0 h 171"/>
                    <a:gd name="T12" fmla="*/ 0 w 277"/>
                    <a:gd name="T13" fmla="*/ 0 h 171"/>
                    <a:gd name="T14" fmla="*/ 0 w 277"/>
                    <a:gd name="T15" fmla="*/ 0 h 171"/>
                    <a:gd name="T16" fmla="*/ 0 w 277"/>
                    <a:gd name="T17" fmla="*/ 0 h 171"/>
                    <a:gd name="T18" fmla="*/ 0 w 277"/>
                    <a:gd name="T19" fmla="*/ 0 h 171"/>
                    <a:gd name="T20" fmla="*/ 0 w 277"/>
                    <a:gd name="T21" fmla="*/ 0 h 171"/>
                    <a:gd name="T22" fmla="*/ 0 w 277"/>
                    <a:gd name="T23" fmla="*/ 0 h 1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7"/>
                    <a:gd name="T37" fmla="*/ 0 h 171"/>
                    <a:gd name="T38" fmla="*/ 277 w 277"/>
                    <a:gd name="T39" fmla="*/ 171 h 17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7" h="171">
                      <a:moveTo>
                        <a:pt x="262" y="21"/>
                      </a:moveTo>
                      <a:lnTo>
                        <a:pt x="260" y="2"/>
                      </a:lnTo>
                      <a:lnTo>
                        <a:pt x="0" y="152"/>
                      </a:lnTo>
                      <a:lnTo>
                        <a:pt x="13" y="171"/>
                      </a:lnTo>
                      <a:lnTo>
                        <a:pt x="273" y="21"/>
                      </a:lnTo>
                      <a:lnTo>
                        <a:pt x="271" y="2"/>
                      </a:lnTo>
                      <a:lnTo>
                        <a:pt x="273" y="21"/>
                      </a:lnTo>
                      <a:lnTo>
                        <a:pt x="277" y="13"/>
                      </a:lnTo>
                      <a:lnTo>
                        <a:pt x="276" y="5"/>
                      </a:lnTo>
                      <a:lnTo>
                        <a:pt x="270" y="0"/>
                      </a:lnTo>
                      <a:lnTo>
                        <a:pt x="260" y="2"/>
                      </a:lnTo>
                      <a:lnTo>
                        <a:pt x="262" y="21"/>
                      </a:lnTo>
                      <a:close/>
                    </a:path>
                  </a:pathLst>
                </a:custGeom>
                <a:solidFill>
                  <a:srgbClr val="000000"/>
                </a:solidFill>
                <a:ln w="9525">
                  <a:noFill/>
                  <a:round/>
                  <a:headEnd/>
                  <a:tailEnd/>
                </a:ln>
              </p:spPr>
              <p:txBody>
                <a:bodyPr/>
                <a:lstStyle/>
                <a:p>
                  <a:endParaRPr lang="en-US"/>
                </a:p>
              </p:txBody>
            </p:sp>
            <p:sp>
              <p:nvSpPr>
                <p:cNvPr id="29927" name="Freeform 188"/>
                <p:cNvSpPr>
                  <a:spLocks/>
                </p:cNvSpPr>
                <p:nvPr/>
              </p:nvSpPr>
              <p:spPr bwMode="auto">
                <a:xfrm>
                  <a:off x="1797" y="3350"/>
                  <a:ext cx="175" cy="82"/>
                </a:xfrm>
                <a:custGeom>
                  <a:avLst/>
                  <a:gdLst>
                    <a:gd name="T0" fmla="*/ 1 w 349"/>
                    <a:gd name="T1" fmla="*/ 0 h 166"/>
                    <a:gd name="T2" fmla="*/ 1 w 349"/>
                    <a:gd name="T3" fmla="*/ 0 h 166"/>
                    <a:gd name="T4" fmla="*/ 1 w 349"/>
                    <a:gd name="T5" fmla="*/ 0 h 166"/>
                    <a:gd name="T6" fmla="*/ 0 w 349"/>
                    <a:gd name="T7" fmla="*/ 0 h 166"/>
                    <a:gd name="T8" fmla="*/ 1 w 349"/>
                    <a:gd name="T9" fmla="*/ 0 h 166"/>
                    <a:gd name="T10" fmla="*/ 1 w 349"/>
                    <a:gd name="T11" fmla="*/ 0 h 166"/>
                    <a:gd name="T12" fmla="*/ 0 60000 65536"/>
                    <a:gd name="T13" fmla="*/ 0 60000 65536"/>
                    <a:gd name="T14" fmla="*/ 0 60000 65536"/>
                    <a:gd name="T15" fmla="*/ 0 60000 65536"/>
                    <a:gd name="T16" fmla="*/ 0 60000 65536"/>
                    <a:gd name="T17" fmla="*/ 0 60000 65536"/>
                    <a:gd name="T18" fmla="*/ 0 w 349"/>
                    <a:gd name="T19" fmla="*/ 0 h 166"/>
                    <a:gd name="T20" fmla="*/ 349 w 349"/>
                    <a:gd name="T21" fmla="*/ 166 h 166"/>
                  </a:gdLst>
                  <a:ahLst/>
                  <a:cxnLst>
                    <a:cxn ang="T12">
                      <a:pos x="T0" y="T1"/>
                    </a:cxn>
                    <a:cxn ang="T13">
                      <a:pos x="T2" y="T3"/>
                    </a:cxn>
                    <a:cxn ang="T14">
                      <a:pos x="T4" y="T5"/>
                    </a:cxn>
                    <a:cxn ang="T15">
                      <a:pos x="T6" y="T7"/>
                    </a:cxn>
                    <a:cxn ang="T16">
                      <a:pos x="T8" y="T9"/>
                    </a:cxn>
                    <a:cxn ang="T17">
                      <a:pos x="T10" y="T11"/>
                    </a:cxn>
                  </a:cxnLst>
                  <a:rect l="T18" t="T19" r="T20" b="T21"/>
                  <a:pathLst>
                    <a:path w="349" h="166">
                      <a:moveTo>
                        <a:pt x="349" y="9"/>
                      </a:moveTo>
                      <a:lnTo>
                        <a:pt x="110" y="149"/>
                      </a:lnTo>
                      <a:lnTo>
                        <a:pt x="108" y="166"/>
                      </a:lnTo>
                      <a:lnTo>
                        <a:pt x="0" y="157"/>
                      </a:lnTo>
                      <a:lnTo>
                        <a:pt x="266" y="0"/>
                      </a:lnTo>
                      <a:lnTo>
                        <a:pt x="349" y="9"/>
                      </a:lnTo>
                      <a:close/>
                    </a:path>
                  </a:pathLst>
                </a:custGeom>
                <a:solidFill>
                  <a:srgbClr val="99D8FF"/>
                </a:solidFill>
                <a:ln w="9525">
                  <a:noFill/>
                  <a:round/>
                  <a:headEnd/>
                  <a:tailEnd/>
                </a:ln>
              </p:spPr>
              <p:txBody>
                <a:bodyPr/>
                <a:lstStyle/>
                <a:p>
                  <a:endParaRPr lang="en-US"/>
                </a:p>
              </p:txBody>
            </p:sp>
            <p:sp>
              <p:nvSpPr>
                <p:cNvPr id="29928" name="Freeform 189"/>
                <p:cNvSpPr>
                  <a:spLocks/>
                </p:cNvSpPr>
                <p:nvPr/>
              </p:nvSpPr>
              <p:spPr bwMode="auto">
                <a:xfrm>
                  <a:off x="1847" y="3350"/>
                  <a:ext cx="127" cy="79"/>
                </a:xfrm>
                <a:custGeom>
                  <a:avLst/>
                  <a:gdLst>
                    <a:gd name="T0" fmla="*/ 0 w 255"/>
                    <a:gd name="T1" fmla="*/ 1 h 158"/>
                    <a:gd name="T2" fmla="*/ 0 w 255"/>
                    <a:gd name="T3" fmla="*/ 1 h 158"/>
                    <a:gd name="T4" fmla="*/ 0 w 255"/>
                    <a:gd name="T5" fmla="*/ 1 h 158"/>
                    <a:gd name="T6" fmla="*/ 0 w 255"/>
                    <a:gd name="T7" fmla="*/ 0 h 158"/>
                    <a:gd name="T8" fmla="*/ 0 w 255"/>
                    <a:gd name="T9" fmla="*/ 1 h 158"/>
                    <a:gd name="T10" fmla="*/ 0 w 255"/>
                    <a:gd name="T11" fmla="*/ 1 h 158"/>
                    <a:gd name="T12" fmla="*/ 0 w 255"/>
                    <a:gd name="T13" fmla="*/ 1 h 158"/>
                    <a:gd name="T14" fmla="*/ 0 w 255"/>
                    <a:gd name="T15" fmla="*/ 1 h 158"/>
                    <a:gd name="T16" fmla="*/ 0 w 255"/>
                    <a:gd name="T17" fmla="*/ 1 h 158"/>
                    <a:gd name="T18" fmla="*/ 0 w 255"/>
                    <a:gd name="T19" fmla="*/ 1 h 158"/>
                    <a:gd name="T20" fmla="*/ 0 w 255"/>
                    <a:gd name="T21" fmla="*/ 1 h 158"/>
                    <a:gd name="T22" fmla="*/ 0 w 255"/>
                    <a:gd name="T23" fmla="*/ 1 h 1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55"/>
                    <a:gd name="T37" fmla="*/ 0 h 158"/>
                    <a:gd name="T38" fmla="*/ 255 w 255"/>
                    <a:gd name="T39" fmla="*/ 158 h 1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55" h="158">
                      <a:moveTo>
                        <a:pt x="22" y="150"/>
                      </a:moveTo>
                      <a:lnTo>
                        <a:pt x="15" y="158"/>
                      </a:lnTo>
                      <a:lnTo>
                        <a:pt x="255" y="19"/>
                      </a:lnTo>
                      <a:lnTo>
                        <a:pt x="245" y="0"/>
                      </a:lnTo>
                      <a:lnTo>
                        <a:pt x="6" y="139"/>
                      </a:lnTo>
                      <a:lnTo>
                        <a:pt x="0" y="147"/>
                      </a:lnTo>
                      <a:lnTo>
                        <a:pt x="6" y="139"/>
                      </a:lnTo>
                      <a:lnTo>
                        <a:pt x="0" y="146"/>
                      </a:lnTo>
                      <a:lnTo>
                        <a:pt x="1" y="153"/>
                      </a:lnTo>
                      <a:lnTo>
                        <a:pt x="7" y="158"/>
                      </a:lnTo>
                      <a:lnTo>
                        <a:pt x="15" y="158"/>
                      </a:lnTo>
                      <a:lnTo>
                        <a:pt x="22" y="150"/>
                      </a:lnTo>
                      <a:close/>
                    </a:path>
                  </a:pathLst>
                </a:custGeom>
                <a:solidFill>
                  <a:srgbClr val="000000"/>
                </a:solidFill>
                <a:ln w="9525">
                  <a:noFill/>
                  <a:round/>
                  <a:headEnd/>
                  <a:tailEnd/>
                </a:ln>
              </p:spPr>
              <p:txBody>
                <a:bodyPr/>
                <a:lstStyle/>
                <a:p>
                  <a:endParaRPr lang="en-US"/>
                </a:p>
              </p:txBody>
            </p:sp>
            <p:sp>
              <p:nvSpPr>
                <p:cNvPr id="29929" name="Freeform 190"/>
                <p:cNvSpPr>
                  <a:spLocks/>
                </p:cNvSpPr>
                <p:nvPr/>
              </p:nvSpPr>
              <p:spPr bwMode="auto">
                <a:xfrm>
                  <a:off x="1846" y="3423"/>
                  <a:ext cx="12" cy="15"/>
                </a:xfrm>
                <a:custGeom>
                  <a:avLst/>
                  <a:gdLst>
                    <a:gd name="T0" fmla="*/ 1 w 24"/>
                    <a:gd name="T1" fmla="*/ 1 h 30"/>
                    <a:gd name="T2" fmla="*/ 1 w 24"/>
                    <a:gd name="T3" fmla="*/ 1 h 30"/>
                    <a:gd name="T4" fmla="*/ 1 w 24"/>
                    <a:gd name="T5" fmla="*/ 1 h 30"/>
                    <a:gd name="T6" fmla="*/ 1 w 24"/>
                    <a:gd name="T7" fmla="*/ 0 h 30"/>
                    <a:gd name="T8" fmla="*/ 0 w 24"/>
                    <a:gd name="T9" fmla="*/ 1 h 30"/>
                    <a:gd name="T10" fmla="*/ 1 w 24"/>
                    <a:gd name="T11" fmla="*/ 1 h 30"/>
                    <a:gd name="T12" fmla="*/ 0 w 24"/>
                    <a:gd name="T13" fmla="*/ 1 h 30"/>
                    <a:gd name="T14" fmla="*/ 1 w 24"/>
                    <a:gd name="T15" fmla="*/ 1 h 30"/>
                    <a:gd name="T16" fmla="*/ 1 w 24"/>
                    <a:gd name="T17" fmla="*/ 1 h 30"/>
                    <a:gd name="T18" fmla="*/ 1 w 24"/>
                    <a:gd name="T19" fmla="*/ 1 h 30"/>
                    <a:gd name="T20" fmla="*/ 1 w 24"/>
                    <a:gd name="T21" fmla="*/ 1 h 30"/>
                    <a:gd name="T22" fmla="*/ 1 w 24"/>
                    <a:gd name="T23" fmla="*/ 1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30"/>
                    <a:gd name="T38" fmla="*/ 24 w 24"/>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30">
                      <a:moveTo>
                        <a:pt x="9" y="30"/>
                      </a:moveTo>
                      <a:lnTo>
                        <a:pt x="22" y="21"/>
                      </a:lnTo>
                      <a:lnTo>
                        <a:pt x="24" y="3"/>
                      </a:lnTo>
                      <a:lnTo>
                        <a:pt x="2" y="0"/>
                      </a:lnTo>
                      <a:lnTo>
                        <a:pt x="0" y="17"/>
                      </a:lnTo>
                      <a:lnTo>
                        <a:pt x="13" y="8"/>
                      </a:lnTo>
                      <a:lnTo>
                        <a:pt x="0" y="17"/>
                      </a:lnTo>
                      <a:lnTo>
                        <a:pt x="3" y="25"/>
                      </a:lnTo>
                      <a:lnTo>
                        <a:pt x="9" y="30"/>
                      </a:lnTo>
                      <a:lnTo>
                        <a:pt x="17" y="28"/>
                      </a:lnTo>
                      <a:lnTo>
                        <a:pt x="22" y="21"/>
                      </a:lnTo>
                      <a:lnTo>
                        <a:pt x="9" y="30"/>
                      </a:lnTo>
                      <a:close/>
                    </a:path>
                  </a:pathLst>
                </a:custGeom>
                <a:solidFill>
                  <a:srgbClr val="000000"/>
                </a:solidFill>
                <a:ln w="9525">
                  <a:noFill/>
                  <a:round/>
                  <a:headEnd/>
                  <a:tailEnd/>
                </a:ln>
              </p:spPr>
              <p:txBody>
                <a:bodyPr/>
                <a:lstStyle/>
                <a:p>
                  <a:endParaRPr lang="en-US"/>
                </a:p>
              </p:txBody>
            </p:sp>
            <p:sp>
              <p:nvSpPr>
                <p:cNvPr id="29930" name="Freeform 191"/>
                <p:cNvSpPr>
                  <a:spLocks/>
                </p:cNvSpPr>
                <p:nvPr/>
              </p:nvSpPr>
              <p:spPr bwMode="auto">
                <a:xfrm>
                  <a:off x="1792" y="3422"/>
                  <a:ext cx="60" cy="16"/>
                </a:xfrm>
                <a:custGeom>
                  <a:avLst/>
                  <a:gdLst>
                    <a:gd name="T0" fmla="*/ 0 w 121"/>
                    <a:gd name="T1" fmla="*/ 1 h 31"/>
                    <a:gd name="T2" fmla="*/ 0 w 121"/>
                    <a:gd name="T3" fmla="*/ 1 h 31"/>
                    <a:gd name="T4" fmla="*/ 0 w 121"/>
                    <a:gd name="T5" fmla="*/ 1 h 31"/>
                    <a:gd name="T6" fmla="*/ 0 w 121"/>
                    <a:gd name="T7" fmla="*/ 1 h 31"/>
                    <a:gd name="T8" fmla="*/ 0 w 121"/>
                    <a:gd name="T9" fmla="*/ 0 h 31"/>
                    <a:gd name="T10" fmla="*/ 0 w 121"/>
                    <a:gd name="T11" fmla="*/ 1 h 31"/>
                    <a:gd name="T12" fmla="*/ 0 w 121"/>
                    <a:gd name="T13" fmla="*/ 0 h 31"/>
                    <a:gd name="T14" fmla="*/ 0 w 121"/>
                    <a:gd name="T15" fmla="*/ 1 h 31"/>
                    <a:gd name="T16" fmla="*/ 0 w 121"/>
                    <a:gd name="T17" fmla="*/ 1 h 31"/>
                    <a:gd name="T18" fmla="*/ 0 w 121"/>
                    <a:gd name="T19" fmla="*/ 1 h 31"/>
                    <a:gd name="T20" fmla="*/ 0 w 121"/>
                    <a:gd name="T21" fmla="*/ 1 h 31"/>
                    <a:gd name="T22" fmla="*/ 0 w 121"/>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1"/>
                    <a:gd name="T37" fmla="*/ 0 h 31"/>
                    <a:gd name="T38" fmla="*/ 121 w 12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1" h="31">
                      <a:moveTo>
                        <a:pt x="5" y="1"/>
                      </a:moveTo>
                      <a:lnTo>
                        <a:pt x="9" y="22"/>
                      </a:lnTo>
                      <a:lnTo>
                        <a:pt x="117" y="31"/>
                      </a:lnTo>
                      <a:lnTo>
                        <a:pt x="121" y="9"/>
                      </a:lnTo>
                      <a:lnTo>
                        <a:pt x="13" y="0"/>
                      </a:lnTo>
                      <a:lnTo>
                        <a:pt x="17" y="20"/>
                      </a:lnTo>
                      <a:lnTo>
                        <a:pt x="13" y="0"/>
                      </a:lnTo>
                      <a:lnTo>
                        <a:pt x="5" y="3"/>
                      </a:lnTo>
                      <a:lnTo>
                        <a:pt x="0" y="9"/>
                      </a:lnTo>
                      <a:lnTo>
                        <a:pt x="2" y="17"/>
                      </a:lnTo>
                      <a:lnTo>
                        <a:pt x="9" y="22"/>
                      </a:lnTo>
                      <a:lnTo>
                        <a:pt x="5" y="1"/>
                      </a:lnTo>
                      <a:close/>
                    </a:path>
                  </a:pathLst>
                </a:custGeom>
                <a:solidFill>
                  <a:srgbClr val="000000"/>
                </a:solidFill>
                <a:ln w="9525">
                  <a:noFill/>
                  <a:round/>
                  <a:headEnd/>
                  <a:tailEnd/>
                </a:ln>
              </p:spPr>
              <p:txBody>
                <a:bodyPr/>
                <a:lstStyle/>
                <a:p>
                  <a:endParaRPr lang="en-US"/>
                </a:p>
              </p:txBody>
            </p:sp>
            <p:sp>
              <p:nvSpPr>
                <p:cNvPr id="29931" name="Freeform 192"/>
                <p:cNvSpPr>
                  <a:spLocks/>
                </p:cNvSpPr>
                <p:nvPr/>
              </p:nvSpPr>
              <p:spPr bwMode="auto">
                <a:xfrm>
                  <a:off x="1794" y="3344"/>
                  <a:ext cx="142" cy="88"/>
                </a:xfrm>
                <a:custGeom>
                  <a:avLst/>
                  <a:gdLst>
                    <a:gd name="T0" fmla="*/ 1 w 283"/>
                    <a:gd name="T1" fmla="*/ 0 h 177"/>
                    <a:gd name="T2" fmla="*/ 1 w 283"/>
                    <a:gd name="T3" fmla="*/ 0 h 177"/>
                    <a:gd name="T4" fmla="*/ 0 w 283"/>
                    <a:gd name="T5" fmla="*/ 0 h 177"/>
                    <a:gd name="T6" fmla="*/ 1 w 283"/>
                    <a:gd name="T7" fmla="*/ 0 h 177"/>
                    <a:gd name="T8" fmla="*/ 1 w 283"/>
                    <a:gd name="T9" fmla="*/ 0 h 177"/>
                    <a:gd name="T10" fmla="*/ 1 w 283"/>
                    <a:gd name="T11" fmla="*/ 0 h 177"/>
                    <a:gd name="T12" fmla="*/ 1 w 283"/>
                    <a:gd name="T13" fmla="*/ 0 h 177"/>
                    <a:gd name="T14" fmla="*/ 1 w 283"/>
                    <a:gd name="T15" fmla="*/ 0 h 177"/>
                    <a:gd name="T16" fmla="*/ 1 w 283"/>
                    <a:gd name="T17" fmla="*/ 0 h 177"/>
                    <a:gd name="T18" fmla="*/ 1 w 283"/>
                    <a:gd name="T19" fmla="*/ 0 h 177"/>
                    <a:gd name="T20" fmla="*/ 1 w 283"/>
                    <a:gd name="T21" fmla="*/ 0 h 177"/>
                    <a:gd name="T22" fmla="*/ 1 w 283"/>
                    <a:gd name="T23" fmla="*/ 0 h 1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3"/>
                    <a:gd name="T37" fmla="*/ 0 h 177"/>
                    <a:gd name="T38" fmla="*/ 283 w 283"/>
                    <a:gd name="T39" fmla="*/ 177 h 1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3" h="177">
                      <a:moveTo>
                        <a:pt x="274" y="0"/>
                      </a:moveTo>
                      <a:lnTo>
                        <a:pt x="266" y="2"/>
                      </a:lnTo>
                      <a:lnTo>
                        <a:pt x="0" y="158"/>
                      </a:lnTo>
                      <a:lnTo>
                        <a:pt x="12" y="177"/>
                      </a:lnTo>
                      <a:lnTo>
                        <a:pt x="278" y="20"/>
                      </a:lnTo>
                      <a:lnTo>
                        <a:pt x="271" y="22"/>
                      </a:lnTo>
                      <a:lnTo>
                        <a:pt x="278" y="20"/>
                      </a:lnTo>
                      <a:lnTo>
                        <a:pt x="283" y="13"/>
                      </a:lnTo>
                      <a:lnTo>
                        <a:pt x="282" y="5"/>
                      </a:lnTo>
                      <a:lnTo>
                        <a:pt x="275" y="0"/>
                      </a:lnTo>
                      <a:lnTo>
                        <a:pt x="266" y="2"/>
                      </a:lnTo>
                      <a:lnTo>
                        <a:pt x="274" y="0"/>
                      </a:lnTo>
                      <a:close/>
                    </a:path>
                  </a:pathLst>
                </a:custGeom>
                <a:solidFill>
                  <a:srgbClr val="000000"/>
                </a:solidFill>
                <a:ln w="9525">
                  <a:noFill/>
                  <a:round/>
                  <a:headEnd/>
                  <a:tailEnd/>
                </a:ln>
              </p:spPr>
              <p:txBody>
                <a:bodyPr/>
                <a:lstStyle/>
                <a:p>
                  <a:endParaRPr lang="en-US"/>
                </a:p>
              </p:txBody>
            </p:sp>
            <p:sp>
              <p:nvSpPr>
                <p:cNvPr id="29932" name="Freeform 193"/>
                <p:cNvSpPr>
                  <a:spLocks/>
                </p:cNvSpPr>
                <p:nvPr/>
              </p:nvSpPr>
              <p:spPr bwMode="auto">
                <a:xfrm>
                  <a:off x="1930" y="3344"/>
                  <a:ext cx="48" cy="16"/>
                </a:xfrm>
                <a:custGeom>
                  <a:avLst/>
                  <a:gdLst>
                    <a:gd name="T0" fmla="*/ 1 w 95"/>
                    <a:gd name="T1" fmla="*/ 1 h 31"/>
                    <a:gd name="T2" fmla="*/ 1 w 95"/>
                    <a:gd name="T3" fmla="*/ 1 h 31"/>
                    <a:gd name="T4" fmla="*/ 1 w 95"/>
                    <a:gd name="T5" fmla="*/ 0 h 31"/>
                    <a:gd name="T6" fmla="*/ 0 w 95"/>
                    <a:gd name="T7" fmla="*/ 1 h 31"/>
                    <a:gd name="T8" fmla="*/ 1 w 95"/>
                    <a:gd name="T9" fmla="*/ 1 h 31"/>
                    <a:gd name="T10" fmla="*/ 1 w 95"/>
                    <a:gd name="T11" fmla="*/ 1 h 31"/>
                    <a:gd name="T12" fmla="*/ 1 w 95"/>
                    <a:gd name="T13" fmla="*/ 1 h 31"/>
                    <a:gd name="T14" fmla="*/ 1 w 95"/>
                    <a:gd name="T15" fmla="*/ 1 h 31"/>
                    <a:gd name="T16" fmla="*/ 1 w 95"/>
                    <a:gd name="T17" fmla="*/ 1 h 31"/>
                    <a:gd name="T18" fmla="*/ 1 w 95"/>
                    <a:gd name="T19" fmla="*/ 1 h 31"/>
                    <a:gd name="T20" fmla="*/ 1 w 95"/>
                    <a:gd name="T21" fmla="*/ 1 h 31"/>
                    <a:gd name="T22" fmla="*/ 1 w 95"/>
                    <a:gd name="T23" fmla="*/ 1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5"/>
                    <a:gd name="T37" fmla="*/ 0 h 31"/>
                    <a:gd name="T38" fmla="*/ 95 w 95"/>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5" h="31">
                      <a:moveTo>
                        <a:pt x="89" y="30"/>
                      </a:moveTo>
                      <a:lnTo>
                        <a:pt x="86" y="10"/>
                      </a:lnTo>
                      <a:lnTo>
                        <a:pt x="3" y="0"/>
                      </a:lnTo>
                      <a:lnTo>
                        <a:pt x="0" y="22"/>
                      </a:lnTo>
                      <a:lnTo>
                        <a:pt x="83" y="31"/>
                      </a:lnTo>
                      <a:lnTo>
                        <a:pt x="79" y="11"/>
                      </a:lnTo>
                      <a:lnTo>
                        <a:pt x="83" y="31"/>
                      </a:lnTo>
                      <a:lnTo>
                        <a:pt x="90" y="28"/>
                      </a:lnTo>
                      <a:lnTo>
                        <a:pt x="95" y="22"/>
                      </a:lnTo>
                      <a:lnTo>
                        <a:pt x="94" y="14"/>
                      </a:lnTo>
                      <a:lnTo>
                        <a:pt x="86" y="10"/>
                      </a:lnTo>
                      <a:lnTo>
                        <a:pt x="89" y="30"/>
                      </a:lnTo>
                      <a:close/>
                    </a:path>
                  </a:pathLst>
                </a:custGeom>
                <a:solidFill>
                  <a:srgbClr val="000000"/>
                </a:solidFill>
                <a:ln w="9525">
                  <a:noFill/>
                  <a:round/>
                  <a:headEnd/>
                  <a:tailEnd/>
                </a:ln>
              </p:spPr>
              <p:txBody>
                <a:bodyPr/>
                <a:lstStyle/>
                <a:p>
                  <a:endParaRPr lang="en-US"/>
                </a:p>
              </p:txBody>
            </p:sp>
            <p:sp>
              <p:nvSpPr>
                <p:cNvPr id="29933" name="Freeform 194"/>
                <p:cNvSpPr>
                  <a:spLocks/>
                </p:cNvSpPr>
                <p:nvPr/>
              </p:nvSpPr>
              <p:spPr bwMode="auto">
                <a:xfrm>
                  <a:off x="2152" y="3416"/>
                  <a:ext cx="83" cy="90"/>
                </a:xfrm>
                <a:custGeom>
                  <a:avLst/>
                  <a:gdLst>
                    <a:gd name="T0" fmla="*/ 1 w 166"/>
                    <a:gd name="T1" fmla="*/ 1 h 180"/>
                    <a:gd name="T2" fmla="*/ 1 w 166"/>
                    <a:gd name="T3" fmla="*/ 1 h 180"/>
                    <a:gd name="T4" fmla="*/ 1 w 166"/>
                    <a:gd name="T5" fmla="*/ 1 h 180"/>
                    <a:gd name="T6" fmla="*/ 1 w 166"/>
                    <a:gd name="T7" fmla="*/ 1 h 180"/>
                    <a:gd name="T8" fmla="*/ 1 w 166"/>
                    <a:gd name="T9" fmla="*/ 1 h 180"/>
                    <a:gd name="T10" fmla="*/ 1 w 166"/>
                    <a:gd name="T11" fmla="*/ 1 h 180"/>
                    <a:gd name="T12" fmla="*/ 1 w 166"/>
                    <a:gd name="T13" fmla="*/ 1 h 180"/>
                    <a:gd name="T14" fmla="*/ 1 w 166"/>
                    <a:gd name="T15" fmla="*/ 1 h 180"/>
                    <a:gd name="T16" fmla="*/ 1 w 166"/>
                    <a:gd name="T17" fmla="*/ 1 h 180"/>
                    <a:gd name="T18" fmla="*/ 1 w 166"/>
                    <a:gd name="T19" fmla="*/ 1 h 180"/>
                    <a:gd name="T20" fmla="*/ 1 w 166"/>
                    <a:gd name="T21" fmla="*/ 1 h 180"/>
                    <a:gd name="T22" fmla="*/ 1 w 166"/>
                    <a:gd name="T23" fmla="*/ 1 h 180"/>
                    <a:gd name="T24" fmla="*/ 1 w 166"/>
                    <a:gd name="T25" fmla="*/ 1 h 180"/>
                    <a:gd name="T26" fmla="*/ 1 w 166"/>
                    <a:gd name="T27" fmla="*/ 1 h 180"/>
                    <a:gd name="T28" fmla="*/ 1 w 166"/>
                    <a:gd name="T29" fmla="*/ 0 h 180"/>
                    <a:gd name="T30" fmla="*/ 1 w 166"/>
                    <a:gd name="T31" fmla="*/ 0 h 180"/>
                    <a:gd name="T32" fmla="*/ 1 w 166"/>
                    <a:gd name="T33" fmla="*/ 0 h 180"/>
                    <a:gd name="T34" fmla="*/ 1 w 166"/>
                    <a:gd name="T35" fmla="*/ 0 h 180"/>
                    <a:gd name="T36" fmla="*/ 1 w 166"/>
                    <a:gd name="T37" fmla="*/ 1 h 180"/>
                    <a:gd name="T38" fmla="*/ 1 w 166"/>
                    <a:gd name="T39" fmla="*/ 1 h 180"/>
                    <a:gd name="T40" fmla="*/ 0 w 166"/>
                    <a:gd name="T41" fmla="*/ 1 h 180"/>
                    <a:gd name="T42" fmla="*/ 0 w 166"/>
                    <a:gd name="T43" fmla="*/ 1 h 180"/>
                    <a:gd name="T44" fmla="*/ 1 w 166"/>
                    <a:gd name="T45" fmla="*/ 1 h 180"/>
                    <a:gd name="T46" fmla="*/ 1 w 166"/>
                    <a:gd name="T47" fmla="*/ 1 h 180"/>
                    <a:gd name="T48" fmla="*/ 1 w 166"/>
                    <a:gd name="T49" fmla="*/ 1 h 180"/>
                    <a:gd name="T50" fmla="*/ 1 w 166"/>
                    <a:gd name="T51" fmla="*/ 1 h 180"/>
                    <a:gd name="T52" fmla="*/ 1 w 166"/>
                    <a:gd name="T53" fmla="*/ 1 h 180"/>
                    <a:gd name="T54" fmla="*/ 1 w 166"/>
                    <a:gd name="T55" fmla="*/ 1 h 180"/>
                    <a:gd name="T56" fmla="*/ 1 w 166"/>
                    <a:gd name="T57" fmla="*/ 1 h 180"/>
                    <a:gd name="T58" fmla="*/ 1 w 166"/>
                    <a:gd name="T59" fmla="*/ 1 h 180"/>
                    <a:gd name="T60" fmla="*/ 1 w 166"/>
                    <a:gd name="T61" fmla="*/ 1 h 180"/>
                    <a:gd name="T62" fmla="*/ 1 w 166"/>
                    <a:gd name="T63" fmla="*/ 1 h 180"/>
                    <a:gd name="T64" fmla="*/ 1 w 166"/>
                    <a:gd name="T65" fmla="*/ 1 h 180"/>
                    <a:gd name="T66" fmla="*/ 1 w 166"/>
                    <a:gd name="T67" fmla="*/ 1 h 18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6"/>
                    <a:gd name="T103" fmla="*/ 0 h 180"/>
                    <a:gd name="T104" fmla="*/ 166 w 166"/>
                    <a:gd name="T105" fmla="*/ 180 h 18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6" h="180">
                      <a:moveTo>
                        <a:pt x="72" y="180"/>
                      </a:moveTo>
                      <a:lnTo>
                        <a:pt x="77" y="180"/>
                      </a:lnTo>
                      <a:lnTo>
                        <a:pt x="88" y="180"/>
                      </a:lnTo>
                      <a:lnTo>
                        <a:pt x="100" y="180"/>
                      </a:lnTo>
                      <a:lnTo>
                        <a:pt x="111" y="178"/>
                      </a:lnTo>
                      <a:lnTo>
                        <a:pt x="119" y="177"/>
                      </a:lnTo>
                      <a:lnTo>
                        <a:pt x="124" y="174"/>
                      </a:lnTo>
                      <a:lnTo>
                        <a:pt x="130" y="171"/>
                      </a:lnTo>
                      <a:lnTo>
                        <a:pt x="135" y="169"/>
                      </a:lnTo>
                      <a:lnTo>
                        <a:pt x="140" y="169"/>
                      </a:lnTo>
                      <a:lnTo>
                        <a:pt x="146" y="169"/>
                      </a:lnTo>
                      <a:lnTo>
                        <a:pt x="151" y="169"/>
                      </a:lnTo>
                      <a:lnTo>
                        <a:pt x="152" y="169"/>
                      </a:lnTo>
                      <a:lnTo>
                        <a:pt x="154" y="164"/>
                      </a:lnTo>
                      <a:lnTo>
                        <a:pt x="157" y="153"/>
                      </a:lnTo>
                      <a:lnTo>
                        <a:pt x="160" y="141"/>
                      </a:lnTo>
                      <a:lnTo>
                        <a:pt x="162" y="128"/>
                      </a:lnTo>
                      <a:lnTo>
                        <a:pt x="162" y="121"/>
                      </a:lnTo>
                      <a:lnTo>
                        <a:pt x="163" y="106"/>
                      </a:lnTo>
                      <a:lnTo>
                        <a:pt x="165" y="89"/>
                      </a:lnTo>
                      <a:lnTo>
                        <a:pt x="166" y="70"/>
                      </a:lnTo>
                      <a:lnTo>
                        <a:pt x="166" y="52"/>
                      </a:lnTo>
                      <a:lnTo>
                        <a:pt x="163" y="35"/>
                      </a:lnTo>
                      <a:lnTo>
                        <a:pt x="158" y="20"/>
                      </a:lnTo>
                      <a:lnTo>
                        <a:pt x="151" y="13"/>
                      </a:lnTo>
                      <a:lnTo>
                        <a:pt x="141" y="8"/>
                      </a:lnTo>
                      <a:lnTo>
                        <a:pt x="130" y="5"/>
                      </a:lnTo>
                      <a:lnTo>
                        <a:pt x="121" y="3"/>
                      </a:lnTo>
                      <a:lnTo>
                        <a:pt x="111" y="2"/>
                      </a:lnTo>
                      <a:lnTo>
                        <a:pt x="104" y="0"/>
                      </a:lnTo>
                      <a:lnTo>
                        <a:pt x="96" y="0"/>
                      </a:lnTo>
                      <a:lnTo>
                        <a:pt x="88" y="0"/>
                      </a:lnTo>
                      <a:lnTo>
                        <a:pt x="83" y="0"/>
                      </a:lnTo>
                      <a:lnTo>
                        <a:pt x="77" y="0"/>
                      </a:lnTo>
                      <a:lnTo>
                        <a:pt x="68" y="0"/>
                      </a:lnTo>
                      <a:lnTo>
                        <a:pt x="57" y="0"/>
                      </a:lnTo>
                      <a:lnTo>
                        <a:pt x="44" y="2"/>
                      </a:lnTo>
                      <a:lnTo>
                        <a:pt x="30" y="5"/>
                      </a:lnTo>
                      <a:lnTo>
                        <a:pt x="19" y="8"/>
                      </a:lnTo>
                      <a:lnTo>
                        <a:pt x="10" y="14"/>
                      </a:lnTo>
                      <a:lnTo>
                        <a:pt x="3" y="22"/>
                      </a:lnTo>
                      <a:lnTo>
                        <a:pt x="0" y="30"/>
                      </a:lnTo>
                      <a:lnTo>
                        <a:pt x="0" y="38"/>
                      </a:lnTo>
                      <a:lnTo>
                        <a:pt x="0" y="45"/>
                      </a:lnTo>
                      <a:lnTo>
                        <a:pt x="2" y="53"/>
                      </a:lnTo>
                      <a:lnTo>
                        <a:pt x="3" y="60"/>
                      </a:lnTo>
                      <a:lnTo>
                        <a:pt x="5" y="66"/>
                      </a:lnTo>
                      <a:lnTo>
                        <a:pt x="8" y="70"/>
                      </a:lnTo>
                      <a:lnTo>
                        <a:pt x="10" y="74"/>
                      </a:lnTo>
                      <a:lnTo>
                        <a:pt x="14" y="80"/>
                      </a:lnTo>
                      <a:lnTo>
                        <a:pt x="19" y="88"/>
                      </a:lnTo>
                      <a:lnTo>
                        <a:pt x="22" y="96"/>
                      </a:lnTo>
                      <a:lnTo>
                        <a:pt x="24" y="102"/>
                      </a:lnTo>
                      <a:lnTo>
                        <a:pt x="24" y="106"/>
                      </a:lnTo>
                      <a:lnTo>
                        <a:pt x="24" y="113"/>
                      </a:lnTo>
                      <a:lnTo>
                        <a:pt x="24" y="119"/>
                      </a:lnTo>
                      <a:lnTo>
                        <a:pt x="24" y="121"/>
                      </a:lnTo>
                      <a:lnTo>
                        <a:pt x="25" y="121"/>
                      </a:lnTo>
                      <a:lnTo>
                        <a:pt x="30" y="122"/>
                      </a:lnTo>
                      <a:lnTo>
                        <a:pt x="35" y="122"/>
                      </a:lnTo>
                      <a:lnTo>
                        <a:pt x="41" y="124"/>
                      </a:lnTo>
                      <a:lnTo>
                        <a:pt x="46" y="127"/>
                      </a:lnTo>
                      <a:lnTo>
                        <a:pt x="49" y="133"/>
                      </a:lnTo>
                      <a:lnTo>
                        <a:pt x="53" y="142"/>
                      </a:lnTo>
                      <a:lnTo>
                        <a:pt x="57" y="152"/>
                      </a:lnTo>
                      <a:lnTo>
                        <a:pt x="61" y="163"/>
                      </a:lnTo>
                      <a:lnTo>
                        <a:pt x="66" y="171"/>
                      </a:lnTo>
                      <a:lnTo>
                        <a:pt x="71" y="177"/>
                      </a:lnTo>
                      <a:lnTo>
                        <a:pt x="72" y="180"/>
                      </a:lnTo>
                      <a:close/>
                    </a:path>
                  </a:pathLst>
                </a:custGeom>
                <a:solidFill>
                  <a:srgbClr val="994C19"/>
                </a:solidFill>
                <a:ln w="9525">
                  <a:noFill/>
                  <a:round/>
                  <a:headEnd/>
                  <a:tailEnd/>
                </a:ln>
              </p:spPr>
              <p:txBody>
                <a:bodyPr/>
                <a:lstStyle/>
                <a:p>
                  <a:endParaRPr lang="en-US"/>
                </a:p>
              </p:txBody>
            </p:sp>
            <p:sp>
              <p:nvSpPr>
                <p:cNvPr id="29934" name="Freeform 195"/>
                <p:cNvSpPr>
                  <a:spLocks/>
                </p:cNvSpPr>
                <p:nvPr/>
              </p:nvSpPr>
              <p:spPr bwMode="auto">
                <a:xfrm>
                  <a:off x="2188" y="3500"/>
                  <a:ext cx="20" cy="11"/>
                </a:xfrm>
                <a:custGeom>
                  <a:avLst/>
                  <a:gdLst>
                    <a:gd name="T0" fmla="*/ 0 w 41"/>
                    <a:gd name="T1" fmla="*/ 0 h 24"/>
                    <a:gd name="T2" fmla="*/ 0 w 41"/>
                    <a:gd name="T3" fmla="*/ 0 h 24"/>
                    <a:gd name="T4" fmla="*/ 0 w 41"/>
                    <a:gd name="T5" fmla="*/ 0 h 24"/>
                    <a:gd name="T6" fmla="*/ 0 w 41"/>
                    <a:gd name="T7" fmla="*/ 0 h 24"/>
                    <a:gd name="T8" fmla="*/ 0 w 41"/>
                    <a:gd name="T9" fmla="*/ 0 h 24"/>
                    <a:gd name="T10" fmla="*/ 0 w 41"/>
                    <a:gd name="T11" fmla="*/ 0 h 24"/>
                    <a:gd name="T12" fmla="*/ 0 w 41"/>
                    <a:gd name="T13" fmla="*/ 0 h 24"/>
                    <a:gd name="T14" fmla="*/ 0 w 41"/>
                    <a:gd name="T15" fmla="*/ 0 h 24"/>
                    <a:gd name="T16" fmla="*/ 0 w 41"/>
                    <a:gd name="T17" fmla="*/ 0 h 24"/>
                    <a:gd name="T18" fmla="*/ 0 w 41"/>
                    <a:gd name="T19" fmla="*/ 0 h 24"/>
                    <a:gd name="T20" fmla="*/ 0 w 41"/>
                    <a:gd name="T21" fmla="*/ 0 h 24"/>
                    <a:gd name="T22" fmla="*/ 0 w 41"/>
                    <a:gd name="T23" fmla="*/ 0 h 24"/>
                    <a:gd name="T24" fmla="*/ 0 w 41"/>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1"/>
                    <a:gd name="T40" fmla="*/ 0 h 24"/>
                    <a:gd name="T41" fmla="*/ 41 w 41"/>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1" h="24">
                      <a:moveTo>
                        <a:pt x="38" y="0"/>
                      </a:moveTo>
                      <a:lnTo>
                        <a:pt x="38" y="0"/>
                      </a:lnTo>
                      <a:lnTo>
                        <a:pt x="28" y="2"/>
                      </a:lnTo>
                      <a:lnTo>
                        <a:pt x="16" y="2"/>
                      </a:lnTo>
                      <a:lnTo>
                        <a:pt x="5" y="2"/>
                      </a:lnTo>
                      <a:lnTo>
                        <a:pt x="0" y="2"/>
                      </a:lnTo>
                      <a:lnTo>
                        <a:pt x="0" y="24"/>
                      </a:lnTo>
                      <a:lnTo>
                        <a:pt x="5" y="24"/>
                      </a:lnTo>
                      <a:lnTo>
                        <a:pt x="16" y="24"/>
                      </a:lnTo>
                      <a:lnTo>
                        <a:pt x="28" y="24"/>
                      </a:lnTo>
                      <a:lnTo>
                        <a:pt x="41" y="22"/>
                      </a:lnTo>
                      <a:lnTo>
                        <a:pt x="38" y="0"/>
                      </a:lnTo>
                      <a:close/>
                    </a:path>
                  </a:pathLst>
                </a:custGeom>
                <a:solidFill>
                  <a:srgbClr val="000000"/>
                </a:solidFill>
                <a:ln w="9525">
                  <a:noFill/>
                  <a:round/>
                  <a:headEnd/>
                  <a:tailEnd/>
                </a:ln>
              </p:spPr>
              <p:txBody>
                <a:bodyPr/>
                <a:lstStyle/>
                <a:p>
                  <a:endParaRPr lang="en-US"/>
                </a:p>
              </p:txBody>
            </p:sp>
            <p:sp>
              <p:nvSpPr>
                <p:cNvPr id="29935" name="Freeform 196"/>
                <p:cNvSpPr>
                  <a:spLocks/>
                </p:cNvSpPr>
                <p:nvPr/>
              </p:nvSpPr>
              <p:spPr bwMode="auto">
                <a:xfrm>
                  <a:off x="2207" y="3495"/>
                  <a:ext cx="14" cy="16"/>
                </a:xfrm>
                <a:custGeom>
                  <a:avLst/>
                  <a:gdLst>
                    <a:gd name="T0" fmla="*/ 1 w 28"/>
                    <a:gd name="T1" fmla="*/ 0 h 31"/>
                    <a:gd name="T2" fmla="*/ 1 w 28"/>
                    <a:gd name="T3" fmla="*/ 0 h 31"/>
                    <a:gd name="T4" fmla="*/ 1 w 28"/>
                    <a:gd name="T5" fmla="*/ 1 h 31"/>
                    <a:gd name="T6" fmla="*/ 1 w 28"/>
                    <a:gd name="T7" fmla="*/ 1 h 31"/>
                    <a:gd name="T8" fmla="*/ 1 w 28"/>
                    <a:gd name="T9" fmla="*/ 1 h 31"/>
                    <a:gd name="T10" fmla="*/ 0 w 28"/>
                    <a:gd name="T11" fmla="*/ 1 h 31"/>
                    <a:gd name="T12" fmla="*/ 1 w 28"/>
                    <a:gd name="T13" fmla="*/ 1 h 31"/>
                    <a:gd name="T14" fmla="*/ 1 w 28"/>
                    <a:gd name="T15" fmla="*/ 1 h 31"/>
                    <a:gd name="T16" fmla="*/ 1 w 28"/>
                    <a:gd name="T17" fmla="*/ 1 h 31"/>
                    <a:gd name="T18" fmla="*/ 1 w 28"/>
                    <a:gd name="T19" fmla="*/ 1 h 31"/>
                    <a:gd name="T20" fmla="*/ 1 w 28"/>
                    <a:gd name="T21" fmla="*/ 1 h 31"/>
                    <a:gd name="T22" fmla="*/ 1 w 28"/>
                    <a:gd name="T23" fmla="*/ 1 h 31"/>
                    <a:gd name="T24" fmla="*/ 1 w 28"/>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1"/>
                    <a:gd name="T41" fmla="*/ 28 w 28"/>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1">
                      <a:moveTo>
                        <a:pt x="22" y="0"/>
                      </a:moveTo>
                      <a:lnTo>
                        <a:pt x="23" y="0"/>
                      </a:lnTo>
                      <a:lnTo>
                        <a:pt x="16" y="3"/>
                      </a:lnTo>
                      <a:lnTo>
                        <a:pt x="9" y="6"/>
                      </a:lnTo>
                      <a:lnTo>
                        <a:pt x="6" y="8"/>
                      </a:lnTo>
                      <a:lnTo>
                        <a:pt x="0" y="9"/>
                      </a:lnTo>
                      <a:lnTo>
                        <a:pt x="3" y="31"/>
                      </a:lnTo>
                      <a:lnTo>
                        <a:pt x="12" y="30"/>
                      </a:lnTo>
                      <a:lnTo>
                        <a:pt x="19" y="25"/>
                      </a:lnTo>
                      <a:lnTo>
                        <a:pt x="25" y="22"/>
                      </a:lnTo>
                      <a:lnTo>
                        <a:pt x="26" y="22"/>
                      </a:lnTo>
                      <a:lnTo>
                        <a:pt x="28" y="22"/>
                      </a:lnTo>
                      <a:lnTo>
                        <a:pt x="22" y="0"/>
                      </a:lnTo>
                      <a:close/>
                    </a:path>
                  </a:pathLst>
                </a:custGeom>
                <a:solidFill>
                  <a:srgbClr val="000000"/>
                </a:solidFill>
                <a:ln w="9525">
                  <a:noFill/>
                  <a:round/>
                  <a:headEnd/>
                  <a:tailEnd/>
                </a:ln>
              </p:spPr>
              <p:txBody>
                <a:bodyPr/>
                <a:lstStyle/>
                <a:p>
                  <a:endParaRPr lang="en-US"/>
                </a:p>
              </p:txBody>
            </p:sp>
            <p:sp>
              <p:nvSpPr>
                <p:cNvPr id="29936" name="Freeform 197"/>
                <p:cNvSpPr>
                  <a:spLocks/>
                </p:cNvSpPr>
                <p:nvPr/>
              </p:nvSpPr>
              <p:spPr bwMode="auto">
                <a:xfrm>
                  <a:off x="2218" y="3495"/>
                  <a:ext cx="16" cy="11"/>
                </a:xfrm>
                <a:custGeom>
                  <a:avLst/>
                  <a:gdLst>
                    <a:gd name="T0" fmla="*/ 1 w 31"/>
                    <a:gd name="T1" fmla="*/ 1 h 22"/>
                    <a:gd name="T2" fmla="*/ 1 w 31"/>
                    <a:gd name="T3" fmla="*/ 0 h 22"/>
                    <a:gd name="T4" fmla="*/ 1 w 31"/>
                    <a:gd name="T5" fmla="*/ 0 h 22"/>
                    <a:gd name="T6" fmla="*/ 1 w 31"/>
                    <a:gd name="T7" fmla="*/ 0 h 22"/>
                    <a:gd name="T8" fmla="*/ 1 w 31"/>
                    <a:gd name="T9" fmla="*/ 0 h 22"/>
                    <a:gd name="T10" fmla="*/ 0 w 31"/>
                    <a:gd name="T11" fmla="*/ 0 h 22"/>
                    <a:gd name="T12" fmla="*/ 1 w 31"/>
                    <a:gd name="T13" fmla="*/ 1 h 22"/>
                    <a:gd name="T14" fmla="*/ 1 w 31"/>
                    <a:gd name="T15" fmla="*/ 1 h 22"/>
                    <a:gd name="T16" fmla="*/ 1 w 31"/>
                    <a:gd name="T17" fmla="*/ 1 h 22"/>
                    <a:gd name="T18" fmla="*/ 1 w 31"/>
                    <a:gd name="T19" fmla="*/ 1 h 22"/>
                    <a:gd name="T20" fmla="*/ 1 w 31"/>
                    <a:gd name="T21" fmla="*/ 1 h 22"/>
                    <a:gd name="T22" fmla="*/ 1 w 31"/>
                    <a:gd name="T23" fmla="*/ 1 h 22"/>
                    <a:gd name="T24" fmla="*/ 1 w 31"/>
                    <a:gd name="T25" fmla="*/ 1 h 22"/>
                    <a:gd name="T26" fmla="*/ 1 w 31"/>
                    <a:gd name="T27" fmla="*/ 1 h 22"/>
                    <a:gd name="T28" fmla="*/ 1 w 31"/>
                    <a:gd name="T29" fmla="*/ 1 h 22"/>
                    <a:gd name="T30" fmla="*/ 1 w 31"/>
                    <a:gd name="T31" fmla="*/ 1 h 22"/>
                    <a:gd name="T32" fmla="*/ 1 w 31"/>
                    <a:gd name="T33" fmla="*/ 0 h 22"/>
                    <a:gd name="T34" fmla="*/ 1 w 31"/>
                    <a:gd name="T35" fmla="*/ 1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22"/>
                    <a:gd name="T56" fmla="*/ 31 w 31"/>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22">
                      <a:moveTo>
                        <a:pt x="9" y="8"/>
                      </a:moveTo>
                      <a:lnTo>
                        <a:pt x="22" y="0"/>
                      </a:lnTo>
                      <a:lnTo>
                        <a:pt x="19" y="0"/>
                      </a:lnTo>
                      <a:lnTo>
                        <a:pt x="14" y="0"/>
                      </a:lnTo>
                      <a:lnTo>
                        <a:pt x="8" y="0"/>
                      </a:lnTo>
                      <a:lnTo>
                        <a:pt x="0" y="0"/>
                      </a:lnTo>
                      <a:lnTo>
                        <a:pt x="6" y="22"/>
                      </a:lnTo>
                      <a:lnTo>
                        <a:pt x="8" y="22"/>
                      </a:lnTo>
                      <a:lnTo>
                        <a:pt x="14" y="22"/>
                      </a:lnTo>
                      <a:lnTo>
                        <a:pt x="19" y="22"/>
                      </a:lnTo>
                      <a:lnTo>
                        <a:pt x="31" y="14"/>
                      </a:lnTo>
                      <a:lnTo>
                        <a:pt x="19" y="22"/>
                      </a:lnTo>
                      <a:lnTo>
                        <a:pt x="26" y="19"/>
                      </a:lnTo>
                      <a:lnTo>
                        <a:pt x="31" y="13"/>
                      </a:lnTo>
                      <a:lnTo>
                        <a:pt x="30" y="5"/>
                      </a:lnTo>
                      <a:lnTo>
                        <a:pt x="22" y="0"/>
                      </a:lnTo>
                      <a:lnTo>
                        <a:pt x="9" y="8"/>
                      </a:lnTo>
                      <a:close/>
                    </a:path>
                  </a:pathLst>
                </a:custGeom>
                <a:solidFill>
                  <a:srgbClr val="000000"/>
                </a:solidFill>
                <a:ln w="9525">
                  <a:noFill/>
                  <a:round/>
                  <a:headEnd/>
                  <a:tailEnd/>
                </a:ln>
              </p:spPr>
              <p:txBody>
                <a:bodyPr/>
                <a:lstStyle/>
                <a:p>
                  <a:endParaRPr lang="en-US"/>
                </a:p>
              </p:txBody>
            </p:sp>
            <p:sp>
              <p:nvSpPr>
                <p:cNvPr id="29937" name="Freeform 198"/>
                <p:cNvSpPr>
                  <a:spLocks/>
                </p:cNvSpPr>
                <p:nvPr/>
              </p:nvSpPr>
              <p:spPr bwMode="auto">
                <a:xfrm>
                  <a:off x="2223" y="3480"/>
                  <a:ext cx="15" cy="22"/>
                </a:xfrm>
                <a:custGeom>
                  <a:avLst/>
                  <a:gdLst>
                    <a:gd name="T0" fmla="*/ 0 w 31"/>
                    <a:gd name="T1" fmla="*/ 0 h 44"/>
                    <a:gd name="T2" fmla="*/ 0 w 31"/>
                    <a:gd name="T3" fmla="*/ 0 h 44"/>
                    <a:gd name="T4" fmla="*/ 0 w 31"/>
                    <a:gd name="T5" fmla="*/ 1 h 44"/>
                    <a:gd name="T6" fmla="*/ 0 w 31"/>
                    <a:gd name="T7" fmla="*/ 1 h 44"/>
                    <a:gd name="T8" fmla="*/ 0 w 31"/>
                    <a:gd name="T9" fmla="*/ 1 h 44"/>
                    <a:gd name="T10" fmla="*/ 0 w 31"/>
                    <a:gd name="T11" fmla="*/ 1 h 44"/>
                    <a:gd name="T12" fmla="*/ 0 w 31"/>
                    <a:gd name="T13" fmla="*/ 1 h 44"/>
                    <a:gd name="T14" fmla="*/ 0 w 31"/>
                    <a:gd name="T15" fmla="*/ 1 h 44"/>
                    <a:gd name="T16" fmla="*/ 0 w 31"/>
                    <a:gd name="T17" fmla="*/ 1 h 44"/>
                    <a:gd name="T18" fmla="*/ 0 w 31"/>
                    <a:gd name="T19" fmla="*/ 1 h 44"/>
                    <a:gd name="T20" fmla="*/ 0 w 31"/>
                    <a:gd name="T21" fmla="*/ 0 h 44"/>
                    <a:gd name="T22" fmla="*/ 0 w 31"/>
                    <a:gd name="T23" fmla="*/ 0 h 44"/>
                    <a:gd name="T24" fmla="*/ 0 w 31"/>
                    <a:gd name="T25" fmla="*/ 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44"/>
                    <a:gd name="T41" fmla="*/ 31 w 31"/>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44">
                      <a:moveTo>
                        <a:pt x="10" y="0"/>
                      </a:moveTo>
                      <a:lnTo>
                        <a:pt x="10" y="0"/>
                      </a:lnTo>
                      <a:lnTo>
                        <a:pt x="8" y="11"/>
                      </a:lnTo>
                      <a:lnTo>
                        <a:pt x="5" y="22"/>
                      </a:lnTo>
                      <a:lnTo>
                        <a:pt x="2" y="33"/>
                      </a:lnTo>
                      <a:lnTo>
                        <a:pt x="0" y="38"/>
                      </a:lnTo>
                      <a:lnTo>
                        <a:pt x="22" y="44"/>
                      </a:lnTo>
                      <a:lnTo>
                        <a:pt x="24" y="39"/>
                      </a:lnTo>
                      <a:lnTo>
                        <a:pt x="27" y="29"/>
                      </a:lnTo>
                      <a:lnTo>
                        <a:pt x="30" y="14"/>
                      </a:lnTo>
                      <a:lnTo>
                        <a:pt x="31" y="0"/>
                      </a:lnTo>
                      <a:lnTo>
                        <a:pt x="10" y="0"/>
                      </a:lnTo>
                      <a:close/>
                    </a:path>
                  </a:pathLst>
                </a:custGeom>
                <a:solidFill>
                  <a:srgbClr val="000000"/>
                </a:solidFill>
                <a:ln w="9525">
                  <a:noFill/>
                  <a:round/>
                  <a:headEnd/>
                  <a:tailEnd/>
                </a:ln>
              </p:spPr>
              <p:txBody>
                <a:bodyPr/>
                <a:lstStyle/>
                <a:p>
                  <a:endParaRPr lang="en-US"/>
                </a:p>
              </p:txBody>
            </p:sp>
            <p:sp>
              <p:nvSpPr>
                <p:cNvPr id="29938" name="Freeform 199"/>
                <p:cNvSpPr>
                  <a:spLocks/>
                </p:cNvSpPr>
                <p:nvPr/>
              </p:nvSpPr>
              <p:spPr bwMode="auto">
                <a:xfrm>
                  <a:off x="2225" y="3418"/>
                  <a:ext cx="16" cy="62"/>
                </a:xfrm>
                <a:custGeom>
                  <a:avLst/>
                  <a:gdLst>
                    <a:gd name="T0" fmla="*/ 0 w 31"/>
                    <a:gd name="T1" fmla="*/ 0 h 125"/>
                    <a:gd name="T2" fmla="*/ 0 w 31"/>
                    <a:gd name="T3" fmla="*/ 0 h 125"/>
                    <a:gd name="T4" fmla="*/ 1 w 31"/>
                    <a:gd name="T5" fmla="*/ 0 h 125"/>
                    <a:gd name="T6" fmla="*/ 1 w 31"/>
                    <a:gd name="T7" fmla="*/ 0 h 125"/>
                    <a:gd name="T8" fmla="*/ 1 w 31"/>
                    <a:gd name="T9" fmla="*/ 0 h 125"/>
                    <a:gd name="T10" fmla="*/ 1 w 31"/>
                    <a:gd name="T11" fmla="*/ 0 h 125"/>
                    <a:gd name="T12" fmla="*/ 1 w 31"/>
                    <a:gd name="T13" fmla="*/ 0 h 125"/>
                    <a:gd name="T14" fmla="*/ 1 w 31"/>
                    <a:gd name="T15" fmla="*/ 0 h 125"/>
                    <a:gd name="T16" fmla="*/ 1 w 31"/>
                    <a:gd name="T17" fmla="*/ 0 h 125"/>
                    <a:gd name="T18" fmla="*/ 1 w 31"/>
                    <a:gd name="T19" fmla="*/ 0 h 125"/>
                    <a:gd name="T20" fmla="*/ 1 w 31"/>
                    <a:gd name="T21" fmla="*/ 0 h 125"/>
                    <a:gd name="T22" fmla="*/ 1 w 31"/>
                    <a:gd name="T23" fmla="*/ 0 h 125"/>
                    <a:gd name="T24" fmla="*/ 1 w 31"/>
                    <a:gd name="T25" fmla="*/ 0 h 125"/>
                    <a:gd name="T26" fmla="*/ 1 w 31"/>
                    <a:gd name="T27" fmla="*/ 0 h 125"/>
                    <a:gd name="T28" fmla="*/ 1 w 31"/>
                    <a:gd name="T29" fmla="*/ 0 h 125"/>
                    <a:gd name="T30" fmla="*/ 1 w 31"/>
                    <a:gd name="T31" fmla="*/ 0 h 125"/>
                    <a:gd name="T32" fmla="*/ 1 w 31"/>
                    <a:gd name="T33" fmla="*/ 0 h 125"/>
                    <a:gd name="T34" fmla="*/ 1 w 31"/>
                    <a:gd name="T35" fmla="*/ 0 h 125"/>
                    <a:gd name="T36" fmla="*/ 1 w 31"/>
                    <a:gd name="T37" fmla="*/ 0 h 125"/>
                    <a:gd name="T38" fmla="*/ 1 w 31"/>
                    <a:gd name="T39" fmla="*/ 0 h 125"/>
                    <a:gd name="T40" fmla="*/ 0 w 31"/>
                    <a:gd name="T41" fmla="*/ 0 h 12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1"/>
                    <a:gd name="T64" fmla="*/ 0 h 125"/>
                    <a:gd name="T65" fmla="*/ 31 w 31"/>
                    <a:gd name="T66" fmla="*/ 125 h 12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1" h="125">
                      <a:moveTo>
                        <a:pt x="0" y="19"/>
                      </a:moveTo>
                      <a:lnTo>
                        <a:pt x="0" y="19"/>
                      </a:lnTo>
                      <a:lnTo>
                        <a:pt x="3" y="22"/>
                      </a:lnTo>
                      <a:lnTo>
                        <a:pt x="6" y="35"/>
                      </a:lnTo>
                      <a:lnTo>
                        <a:pt x="9" y="50"/>
                      </a:lnTo>
                      <a:lnTo>
                        <a:pt x="9" y="67"/>
                      </a:lnTo>
                      <a:lnTo>
                        <a:pt x="8" y="85"/>
                      </a:lnTo>
                      <a:lnTo>
                        <a:pt x="6" y="102"/>
                      </a:lnTo>
                      <a:lnTo>
                        <a:pt x="5" y="118"/>
                      </a:lnTo>
                      <a:lnTo>
                        <a:pt x="5" y="125"/>
                      </a:lnTo>
                      <a:lnTo>
                        <a:pt x="26" y="125"/>
                      </a:lnTo>
                      <a:lnTo>
                        <a:pt x="26" y="118"/>
                      </a:lnTo>
                      <a:lnTo>
                        <a:pt x="28" y="105"/>
                      </a:lnTo>
                      <a:lnTo>
                        <a:pt x="30" y="88"/>
                      </a:lnTo>
                      <a:lnTo>
                        <a:pt x="31" y="67"/>
                      </a:lnTo>
                      <a:lnTo>
                        <a:pt x="31" y="47"/>
                      </a:lnTo>
                      <a:lnTo>
                        <a:pt x="28" y="28"/>
                      </a:lnTo>
                      <a:lnTo>
                        <a:pt x="22" y="13"/>
                      </a:lnTo>
                      <a:lnTo>
                        <a:pt x="9" y="0"/>
                      </a:lnTo>
                      <a:lnTo>
                        <a:pt x="0" y="19"/>
                      </a:lnTo>
                      <a:close/>
                    </a:path>
                  </a:pathLst>
                </a:custGeom>
                <a:solidFill>
                  <a:srgbClr val="000000"/>
                </a:solidFill>
                <a:ln w="9525">
                  <a:noFill/>
                  <a:round/>
                  <a:headEnd/>
                  <a:tailEnd/>
                </a:ln>
              </p:spPr>
              <p:txBody>
                <a:bodyPr/>
                <a:lstStyle/>
                <a:p>
                  <a:endParaRPr lang="en-US"/>
                </a:p>
              </p:txBody>
            </p:sp>
            <p:sp>
              <p:nvSpPr>
                <p:cNvPr id="29939" name="Freeform 200"/>
                <p:cNvSpPr>
                  <a:spLocks/>
                </p:cNvSpPr>
                <p:nvPr/>
              </p:nvSpPr>
              <p:spPr bwMode="auto">
                <a:xfrm>
                  <a:off x="2194" y="3411"/>
                  <a:ext cx="36" cy="16"/>
                </a:xfrm>
                <a:custGeom>
                  <a:avLst/>
                  <a:gdLst>
                    <a:gd name="T0" fmla="*/ 0 w 72"/>
                    <a:gd name="T1" fmla="*/ 0 h 33"/>
                    <a:gd name="T2" fmla="*/ 0 w 72"/>
                    <a:gd name="T3" fmla="*/ 0 h 33"/>
                    <a:gd name="T4" fmla="*/ 1 w 72"/>
                    <a:gd name="T5" fmla="*/ 0 h 33"/>
                    <a:gd name="T6" fmla="*/ 1 w 72"/>
                    <a:gd name="T7" fmla="*/ 0 h 33"/>
                    <a:gd name="T8" fmla="*/ 1 w 72"/>
                    <a:gd name="T9" fmla="*/ 0 h 33"/>
                    <a:gd name="T10" fmla="*/ 1 w 72"/>
                    <a:gd name="T11" fmla="*/ 0 h 33"/>
                    <a:gd name="T12" fmla="*/ 1 w 72"/>
                    <a:gd name="T13" fmla="*/ 0 h 33"/>
                    <a:gd name="T14" fmla="*/ 1 w 72"/>
                    <a:gd name="T15" fmla="*/ 0 h 33"/>
                    <a:gd name="T16" fmla="*/ 1 w 72"/>
                    <a:gd name="T17" fmla="*/ 0 h 33"/>
                    <a:gd name="T18" fmla="*/ 1 w 72"/>
                    <a:gd name="T19" fmla="*/ 0 h 33"/>
                    <a:gd name="T20" fmla="*/ 1 w 72"/>
                    <a:gd name="T21" fmla="*/ 0 h 33"/>
                    <a:gd name="T22" fmla="*/ 1 w 72"/>
                    <a:gd name="T23" fmla="*/ 0 h 33"/>
                    <a:gd name="T24" fmla="*/ 1 w 72"/>
                    <a:gd name="T25" fmla="*/ 0 h 33"/>
                    <a:gd name="T26" fmla="*/ 1 w 72"/>
                    <a:gd name="T27" fmla="*/ 0 h 33"/>
                    <a:gd name="T28" fmla="*/ 1 w 72"/>
                    <a:gd name="T29" fmla="*/ 0 h 33"/>
                    <a:gd name="T30" fmla="*/ 1 w 72"/>
                    <a:gd name="T31" fmla="*/ 0 h 33"/>
                    <a:gd name="T32" fmla="*/ 1 w 72"/>
                    <a:gd name="T33" fmla="*/ 0 h 33"/>
                    <a:gd name="T34" fmla="*/ 1 w 72"/>
                    <a:gd name="T35" fmla="*/ 0 h 33"/>
                    <a:gd name="T36" fmla="*/ 0 w 72"/>
                    <a:gd name="T37" fmla="*/ 0 h 33"/>
                    <a:gd name="T38" fmla="*/ 0 w 72"/>
                    <a:gd name="T39" fmla="*/ 0 h 33"/>
                    <a:gd name="T40" fmla="*/ 0 w 72"/>
                    <a:gd name="T41" fmla="*/ 0 h 3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33"/>
                    <a:gd name="T65" fmla="*/ 72 w 72"/>
                    <a:gd name="T66" fmla="*/ 33 h 3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33">
                      <a:moveTo>
                        <a:pt x="0" y="22"/>
                      </a:moveTo>
                      <a:lnTo>
                        <a:pt x="0" y="22"/>
                      </a:lnTo>
                      <a:lnTo>
                        <a:pt x="5" y="22"/>
                      </a:lnTo>
                      <a:lnTo>
                        <a:pt x="13" y="22"/>
                      </a:lnTo>
                      <a:lnTo>
                        <a:pt x="19" y="22"/>
                      </a:lnTo>
                      <a:lnTo>
                        <a:pt x="27" y="24"/>
                      </a:lnTo>
                      <a:lnTo>
                        <a:pt x="36" y="25"/>
                      </a:lnTo>
                      <a:lnTo>
                        <a:pt x="44" y="27"/>
                      </a:lnTo>
                      <a:lnTo>
                        <a:pt x="55" y="30"/>
                      </a:lnTo>
                      <a:lnTo>
                        <a:pt x="63" y="33"/>
                      </a:lnTo>
                      <a:lnTo>
                        <a:pt x="72" y="14"/>
                      </a:lnTo>
                      <a:lnTo>
                        <a:pt x="61" y="8"/>
                      </a:lnTo>
                      <a:lnTo>
                        <a:pt x="50" y="5"/>
                      </a:lnTo>
                      <a:lnTo>
                        <a:pt x="39" y="3"/>
                      </a:lnTo>
                      <a:lnTo>
                        <a:pt x="30" y="2"/>
                      </a:lnTo>
                      <a:lnTo>
                        <a:pt x="22" y="0"/>
                      </a:lnTo>
                      <a:lnTo>
                        <a:pt x="13" y="0"/>
                      </a:lnTo>
                      <a:lnTo>
                        <a:pt x="5" y="0"/>
                      </a:lnTo>
                      <a:lnTo>
                        <a:pt x="0" y="0"/>
                      </a:lnTo>
                      <a:lnTo>
                        <a:pt x="0" y="22"/>
                      </a:lnTo>
                      <a:close/>
                    </a:path>
                  </a:pathLst>
                </a:custGeom>
                <a:solidFill>
                  <a:srgbClr val="000000"/>
                </a:solidFill>
                <a:ln w="9525">
                  <a:noFill/>
                  <a:round/>
                  <a:headEnd/>
                  <a:tailEnd/>
                </a:ln>
              </p:spPr>
              <p:txBody>
                <a:bodyPr/>
                <a:lstStyle/>
                <a:p>
                  <a:endParaRPr lang="en-US"/>
                </a:p>
              </p:txBody>
            </p:sp>
            <p:sp>
              <p:nvSpPr>
                <p:cNvPr id="29940" name="Freeform 201"/>
                <p:cNvSpPr>
                  <a:spLocks/>
                </p:cNvSpPr>
                <p:nvPr/>
              </p:nvSpPr>
              <p:spPr bwMode="auto">
                <a:xfrm>
                  <a:off x="2149" y="3411"/>
                  <a:ext cx="45" cy="18"/>
                </a:xfrm>
                <a:custGeom>
                  <a:avLst/>
                  <a:gdLst>
                    <a:gd name="T0" fmla="*/ 1 w 89"/>
                    <a:gd name="T1" fmla="*/ 0 h 38"/>
                    <a:gd name="T2" fmla="*/ 1 w 89"/>
                    <a:gd name="T3" fmla="*/ 0 h 38"/>
                    <a:gd name="T4" fmla="*/ 1 w 89"/>
                    <a:gd name="T5" fmla="*/ 0 h 38"/>
                    <a:gd name="T6" fmla="*/ 1 w 89"/>
                    <a:gd name="T7" fmla="*/ 0 h 38"/>
                    <a:gd name="T8" fmla="*/ 1 w 89"/>
                    <a:gd name="T9" fmla="*/ 0 h 38"/>
                    <a:gd name="T10" fmla="*/ 1 w 89"/>
                    <a:gd name="T11" fmla="*/ 0 h 38"/>
                    <a:gd name="T12" fmla="*/ 1 w 89"/>
                    <a:gd name="T13" fmla="*/ 0 h 38"/>
                    <a:gd name="T14" fmla="*/ 1 w 89"/>
                    <a:gd name="T15" fmla="*/ 0 h 38"/>
                    <a:gd name="T16" fmla="*/ 1 w 89"/>
                    <a:gd name="T17" fmla="*/ 0 h 38"/>
                    <a:gd name="T18" fmla="*/ 1 w 89"/>
                    <a:gd name="T19" fmla="*/ 0 h 38"/>
                    <a:gd name="T20" fmla="*/ 1 w 89"/>
                    <a:gd name="T21" fmla="*/ 0 h 38"/>
                    <a:gd name="T22" fmla="*/ 1 w 89"/>
                    <a:gd name="T23" fmla="*/ 0 h 38"/>
                    <a:gd name="T24" fmla="*/ 1 w 89"/>
                    <a:gd name="T25" fmla="*/ 0 h 38"/>
                    <a:gd name="T26" fmla="*/ 1 w 89"/>
                    <a:gd name="T27" fmla="*/ 0 h 38"/>
                    <a:gd name="T28" fmla="*/ 1 w 89"/>
                    <a:gd name="T29" fmla="*/ 0 h 38"/>
                    <a:gd name="T30" fmla="*/ 1 w 89"/>
                    <a:gd name="T31" fmla="*/ 0 h 38"/>
                    <a:gd name="T32" fmla="*/ 1 w 89"/>
                    <a:gd name="T33" fmla="*/ 0 h 38"/>
                    <a:gd name="T34" fmla="*/ 1 w 89"/>
                    <a:gd name="T35" fmla="*/ 0 h 38"/>
                    <a:gd name="T36" fmla="*/ 0 w 89"/>
                    <a:gd name="T37" fmla="*/ 0 h 38"/>
                    <a:gd name="T38" fmla="*/ 0 w 89"/>
                    <a:gd name="T39" fmla="*/ 0 h 38"/>
                    <a:gd name="T40" fmla="*/ 1 w 89"/>
                    <a:gd name="T41" fmla="*/ 0 h 3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9"/>
                    <a:gd name="T64" fmla="*/ 0 h 38"/>
                    <a:gd name="T65" fmla="*/ 89 w 89"/>
                    <a:gd name="T66" fmla="*/ 38 h 3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9" h="38">
                      <a:moveTo>
                        <a:pt x="19" y="38"/>
                      </a:moveTo>
                      <a:lnTo>
                        <a:pt x="19" y="38"/>
                      </a:lnTo>
                      <a:lnTo>
                        <a:pt x="23" y="33"/>
                      </a:lnTo>
                      <a:lnTo>
                        <a:pt x="30" y="28"/>
                      </a:lnTo>
                      <a:lnTo>
                        <a:pt x="39" y="27"/>
                      </a:lnTo>
                      <a:lnTo>
                        <a:pt x="52" y="24"/>
                      </a:lnTo>
                      <a:lnTo>
                        <a:pt x="63" y="22"/>
                      </a:lnTo>
                      <a:lnTo>
                        <a:pt x="74" y="22"/>
                      </a:lnTo>
                      <a:lnTo>
                        <a:pt x="83" y="22"/>
                      </a:lnTo>
                      <a:lnTo>
                        <a:pt x="89" y="22"/>
                      </a:lnTo>
                      <a:lnTo>
                        <a:pt x="89" y="0"/>
                      </a:lnTo>
                      <a:lnTo>
                        <a:pt x="83" y="0"/>
                      </a:lnTo>
                      <a:lnTo>
                        <a:pt x="74" y="0"/>
                      </a:lnTo>
                      <a:lnTo>
                        <a:pt x="63" y="0"/>
                      </a:lnTo>
                      <a:lnTo>
                        <a:pt x="49" y="2"/>
                      </a:lnTo>
                      <a:lnTo>
                        <a:pt x="33" y="5"/>
                      </a:lnTo>
                      <a:lnTo>
                        <a:pt x="20" y="10"/>
                      </a:lnTo>
                      <a:lnTo>
                        <a:pt x="8" y="17"/>
                      </a:lnTo>
                      <a:lnTo>
                        <a:pt x="0" y="28"/>
                      </a:lnTo>
                      <a:lnTo>
                        <a:pt x="19" y="38"/>
                      </a:lnTo>
                      <a:close/>
                    </a:path>
                  </a:pathLst>
                </a:custGeom>
                <a:solidFill>
                  <a:srgbClr val="000000"/>
                </a:solidFill>
                <a:ln w="9525">
                  <a:noFill/>
                  <a:round/>
                  <a:headEnd/>
                  <a:tailEnd/>
                </a:ln>
              </p:spPr>
              <p:txBody>
                <a:bodyPr/>
                <a:lstStyle/>
                <a:p>
                  <a:endParaRPr lang="en-US"/>
                </a:p>
              </p:txBody>
            </p:sp>
            <p:sp>
              <p:nvSpPr>
                <p:cNvPr id="29941" name="Freeform 202"/>
                <p:cNvSpPr>
                  <a:spLocks/>
                </p:cNvSpPr>
                <p:nvPr/>
              </p:nvSpPr>
              <p:spPr bwMode="auto">
                <a:xfrm>
                  <a:off x="2147" y="3425"/>
                  <a:ext cx="15" cy="31"/>
                </a:xfrm>
                <a:custGeom>
                  <a:avLst/>
                  <a:gdLst>
                    <a:gd name="T0" fmla="*/ 1 w 30"/>
                    <a:gd name="T1" fmla="*/ 0 h 63"/>
                    <a:gd name="T2" fmla="*/ 1 w 30"/>
                    <a:gd name="T3" fmla="*/ 0 h 63"/>
                    <a:gd name="T4" fmla="*/ 1 w 30"/>
                    <a:gd name="T5" fmla="*/ 0 h 63"/>
                    <a:gd name="T6" fmla="*/ 1 w 30"/>
                    <a:gd name="T7" fmla="*/ 0 h 63"/>
                    <a:gd name="T8" fmla="*/ 1 w 30"/>
                    <a:gd name="T9" fmla="*/ 0 h 63"/>
                    <a:gd name="T10" fmla="*/ 1 w 30"/>
                    <a:gd name="T11" fmla="*/ 0 h 63"/>
                    <a:gd name="T12" fmla="*/ 1 w 30"/>
                    <a:gd name="T13" fmla="*/ 0 h 63"/>
                    <a:gd name="T14" fmla="*/ 1 w 30"/>
                    <a:gd name="T15" fmla="*/ 0 h 63"/>
                    <a:gd name="T16" fmla="*/ 1 w 30"/>
                    <a:gd name="T17" fmla="*/ 0 h 63"/>
                    <a:gd name="T18" fmla="*/ 1 w 30"/>
                    <a:gd name="T19" fmla="*/ 0 h 63"/>
                    <a:gd name="T20" fmla="*/ 1 w 30"/>
                    <a:gd name="T21" fmla="*/ 0 h 63"/>
                    <a:gd name="T22" fmla="*/ 0 w 30"/>
                    <a:gd name="T23" fmla="*/ 0 h 63"/>
                    <a:gd name="T24" fmla="*/ 0 w 30"/>
                    <a:gd name="T25" fmla="*/ 0 h 63"/>
                    <a:gd name="T26" fmla="*/ 0 w 30"/>
                    <a:gd name="T27" fmla="*/ 0 h 63"/>
                    <a:gd name="T28" fmla="*/ 1 w 30"/>
                    <a:gd name="T29" fmla="*/ 0 h 63"/>
                    <a:gd name="T30" fmla="*/ 1 w 30"/>
                    <a:gd name="T31" fmla="*/ 0 h 63"/>
                    <a:gd name="T32" fmla="*/ 1 w 30"/>
                    <a:gd name="T33" fmla="*/ 0 h 63"/>
                    <a:gd name="T34" fmla="*/ 1 w 30"/>
                    <a:gd name="T35" fmla="*/ 0 h 63"/>
                    <a:gd name="T36" fmla="*/ 1 w 30"/>
                    <a:gd name="T37" fmla="*/ 0 h 63"/>
                    <a:gd name="T38" fmla="*/ 1 w 30"/>
                    <a:gd name="T39" fmla="*/ 0 h 63"/>
                    <a:gd name="T40" fmla="*/ 1 w 30"/>
                    <a:gd name="T41" fmla="*/ 0 h 6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0"/>
                    <a:gd name="T64" fmla="*/ 0 h 63"/>
                    <a:gd name="T65" fmla="*/ 30 w 30"/>
                    <a:gd name="T66" fmla="*/ 63 h 6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0" h="63">
                      <a:moveTo>
                        <a:pt x="30" y="50"/>
                      </a:moveTo>
                      <a:lnTo>
                        <a:pt x="30" y="50"/>
                      </a:lnTo>
                      <a:lnTo>
                        <a:pt x="28" y="47"/>
                      </a:lnTo>
                      <a:lnTo>
                        <a:pt x="25" y="44"/>
                      </a:lnTo>
                      <a:lnTo>
                        <a:pt x="25" y="39"/>
                      </a:lnTo>
                      <a:lnTo>
                        <a:pt x="24" y="33"/>
                      </a:lnTo>
                      <a:lnTo>
                        <a:pt x="22" y="27"/>
                      </a:lnTo>
                      <a:lnTo>
                        <a:pt x="22" y="21"/>
                      </a:lnTo>
                      <a:lnTo>
                        <a:pt x="22" y="14"/>
                      </a:lnTo>
                      <a:lnTo>
                        <a:pt x="24" y="10"/>
                      </a:lnTo>
                      <a:lnTo>
                        <a:pt x="5" y="0"/>
                      </a:lnTo>
                      <a:lnTo>
                        <a:pt x="0" y="11"/>
                      </a:lnTo>
                      <a:lnTo>
                        <a:pt x="0" y="21"/>
                      </a:lnTo>
                      <a:lnTo>
                        <a:pt x="0" y="30"/>
                      </a:lnTo>
                      <a:lnTo>
                        <a:pt x="2" y="39"/>
                      </a:lnTo>
                      <a:lnTo>
                        <a:pt x="3" y="46"/>
                      </a:lnTo>
                      <a:lnTo>
                        <a:pt x="7" y="53"/>
                      </a:lnTo>
                      <a:lnTo>
                        <a:pt x="10" y="60"/>
                      </a:lnTo>
                      <a:lnTo>
                        <a:pt x="11" y="63"/>
                      </a:lnTo>
                      <a:lnTo>
                        <a:pt x="30" y="50"/>
                      </a:lnTo>
                      <a:close/>
                    </a:path>
                  </a:pathLst>
                </a:custGeom>
                <a:solidFill>
                  <a:srgbClr val="000000"/>
                </a:solidFill>
                <a:ln w="9525">
                  <a:noFill/>
                  <a:round/>
                  <a:headEnd/>
                  <a:tailEnd/>
                </a:ln>
              </p:spPr>
              <p:txBody>
                <a:bodyPr/>
                <a:lstStyle/>
                <a:p>
                  <a:endParaRPr lang="en-US"/>
                </a:p>
              </p:txBody>
            </p:sp>
            <p:sp>
              <p:nvSpPr>
                <p:cNvPr id="29942" name="Freeform 203"/>
                <p:cNvSpPr>
                  <a:spLocks/>
                </p:cNvSpPr>
                <p:nvPr/>
              </p:nvSpPr>
              <p:spPr bwMode="auto">
                <a:xfrm>
                  <a:off x="2152" y="3450"/>
                  <a:ext cx="17" cy="18"/>
                </a:xfrm>
                <a:custGeom>
                  <a:avLst/>
                  <a:gdLst>
                    <a:gd name="T0" fmla="*/ 0 w 35"/>
                    <a:gd name="T1" fmla="*/ 0 h 38"/>
                    <a:gd name="T2" fmla="*/ 0 w 35"/>
                    <a:gd name="T3" fmla="*/ 0 h 38"/>
                    <a:gd name="T4" fmla="*/ 0 w 35"/>
                    <a:gd name="T5" fmla="*/ 0 h 38"/>
                    <a:gd name="T6" fmla="*/ 0 w 35"/>
                    <a:gd name="T7" fmla="*/ 0 h 38"/>
                    <a:gd name="T8" fmla="*/ 0 w 35"/>
                    <a:gd name="T9" fmla="*/ 0 h 38"/>
                    <a:gd name="T10" fmla="*/ 0 w 35"/>
                    <a:gd name="T11" fmla="*/ 0 h 38"/>
                    <a:gd name="T12" fmla="*/ 0 w 35"/>
                    <a:gd name="T13" fmla="*/ 0 h 38"/>
                    <a:gd name="T14" fmla="*/ 0 w 35"/>
                    <a:gd name="T15" fmla="*/ 0 h 38"/>
                    <a:gd name="T16" fmla="*/ 0 w 35"/>
                    <a:gd name="T17" fmla="*/ 0 h 38"/>
                    <a:gd name="T18" fmla="*/ 0 w 35"/>
                    <a:gd name="T19" fmla="*/ 0 h 38"/>
                    <a:gd name="T20" fmla="*/ 0 w 35"/>
                    <a:gd name="T21" fmla="*/ 0 h 38"/>
                    <a:gd name="T22" fmla="*/ 0 w 35"/>
                    <a:gd name="T23" fmla="*/ 0 h 38"/>
                    <a:gd name="T24" fmla="*/ 0 w 35"/>
                    <a:gd name="T25" fmla="*/ 0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
                    <a:gd name="T40" fmla="*/ 0 h 38"/>
                    <a:gd name="T41" fmla="*/ 35 w 35"/>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 h="38">
                      <a:moveTo>
                        <a:pt x="35" y="35"/>
                      </a:moveTo>
                      <a:lnTo>
                        <a:pt x="35" y="38"/>
                      </a:lnTo>
                      <a:lnTo>
                        <a:pt x="33" y="25"/>
                      </a:lnTo>
                      <a:lnTo>
                        <a:pt x="28" y="16"/>
                      </a:lnTo>
                      <a:lnTo>
                        <a:pt x="24" y="7"/>
                      </a:lnTo>
                      <a:lnTo>
                        <a:pt x="19" y="0"/>
                      </a:lnTo>
                      <a:lnTo>
                        <a:pt x="0" y="13"/>
                      </a:lnTo>
                      <a:lnTo>
                        <a:pt x="5" y="19"/>
                      </a:lnTo>
                      <a:lnTo>
                        <a:pt x="10" y="25"/>
                      </a:lnTo>
                      <a:lnTo>
                        <a:pt x="11" y="32"/>
                      </a:lnTo>
                      <a:lnTo>
                        <a:pt x="13" y="32"/>
                      </a:lnTo>
                      <a:lnTo>
                        <a:pt x="13" y="35"/>
                      </a:lnTo>
                      <a:lnTo>
                        <a:pt x="35" y="35"/>
                      </a:lnTo>
                      <a:close/>
                    </a:path>
                  </a:pathLst>
                </a:custGeom>
                <a:solidFill>
                  <a:srgbClr val="000000"/>
                </a:solidFill>
                <a:ln w="9525">
                  <a:noFill/>
                  <a:round/>
                  <a:headEnd/>
                  <a:tailEnd/>
                </a:ln>
              </p:spPr>
              <p:txBody>
                <a:bodyPr/>
                <a:lstStyle/>
                <a:p>
                  <a:endParaRPr lang="en-US"/>
                </a:p>
              </p:txBody>
            </p:sp>
            <p:sp>
              <p:nvSpPr>
                <p:cNvPr id="29943" name="Freeform 204"/>
                <p:cNvSpPr>
                  <a:spLocks/>
                </p:cNvSpPr>
                <p:nvPr/>
              </p:nvSpPr>
              <p:spPr bwMode="auto">
                <a:xfrm>
                  <a:off x="2158" y="3467"/>
                  <a:ext cx="11" cy="15"/>
                </a:xfrm>
                <a:custGeom>
                  <a:avLst/>
                  <a:gdLst>
                    <a:gd name="T0" fmla="*/ 1 w 22"/>
                    <a:gd name="T1" fmla="*/ 1 h 30"/>
                    <a:gd name="T2" fmla="*/ 1 w 22"/>
                    <a:gd name="T3" fmla="*/ 1 h 30"/>
                    <a:gd name="T4" fmla="*/ 1 w 22"/>
                    <a:gd name="T5" fmla="*/ 1 h 30"/>
                    <a:gd name="T6" fmla="*/ 1 w 22"/>
                    <a:gd name="T7" fmla="*/ 1 h 30"/>
                    <a:gd name="T8" fmla="*/ 1 w 22"/>
                    <a:gd name="T9" fmla="*/ 1 h 30"/>
                    <a:gd name="T10" fmla="*/ 1 w 22"/>
                    <a:gd name="T11" fmla="*/ 0 h 30"/>
                    <a:gd name="T12" fmla="*/ 0 w 22"/>
                    <a:gd name="T13" fmla="*/ 0 h 30"/>
                    <a:gd name="T14" fmla="*/ 0 w 22"/>
                    <a:gd name="T15" fmla="*/ 1 h 30"/>
                    <a:gd name="T16" fmla="*/ 0 w 22"/>
                    <a:gd name="T17" fmla="*/ 1 h 30"/>
                    <a:gd name="T18" fmla="*/ 0 w 22"/>
                    <a:gd name="T19" fmla="*/ 1 h 30"/>
                    <a:gd name="T20" fmla="*/ 0 w 22"/>
                    <a:gd name="T21" fmla="*/ 1 h 30"/>
                    <a:gd name="T22" fmla="*/ 1 w 22"/>
                    <a:gd name="T23" fmla="*/ 1 h 30"/>
                    <a:gd name="T24" fmla="*/ 0 w 22"/>
                    <a:gd name="T25" fmla="*/ 1 h 30"/>
                    <a:gd name="T26" fmla="*/ 1 w 22"/>
                    <a:gd name="T27" fmla="*/ 1 h 30"/>
                    <a:gd name="T28" fmla="*/ 1 w 22"/>
                    <a:gd name="T29" fmla="*/ 1 h 30"/>
                    <a:gd name="T30" fmla="*/ 1 w 22"/>
                    <a:gd name="T31" fmla="*/ 1 h 30"/>
                    <a:gd name="T32" fmla="*/ 1 w 22"/>
                    <a:gd name="T33" fmla="*/ 1 h 30"/>
                    <a:gd name="T34" fmla="*/ 1 w 22"/>
                    <a:gd name="T35" fmla="*/ 1 h 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2"/>
                    <a:gd name="T55" fmla="*/ 0 h 30"/>
                    <a:gd name="T56" fmla="*/ 22 w 22"/>
                    <a:gd name="T57" fmla="*/ 30 h 3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2" h="30">
                      <a:moveTo>
                        <a:pt x="12" y="8"/>
                      </a:moveTo>
                      <a:lnTo>
                        <a:pt x="22" y="19"/>
                      </a:lnTo>
                      <a:lnTo>
                        <a:pt x="22" y="17"/>
                      </a:lnTo>
                      <a:lnTo>
                        <a:pt x="22" y="11"/>
                      </a:lnTo>
                      <a:lnTo>
                        <a:pt x="22" y="4"/>
                      </a:lnTo>
                      <a:lnTo>
                        <a:pt x="22" y="0"/>
                      </a:lnTo>
                      <a:lnTo>
                        <a:pt x="0" y="0"/>
                      </a:lnTo>
                      <a:lnTo>
                        <a:pt x="0" y="4"/>
                      </a:lnTo>
                      <a:lnTo>
                        <a:pt x="0" y="11"/>
                      </a:lnTo>
                      <a:lnTo>
                        <a:pt x="0" y="17"/>
                      </a:lnTo>
                      <a:lnTo>
                        <a:pt x="0" y="19"/>
                      </a:lnTo>
                      <a:lnTo>
                        <a:pt x="9" y="30"/>
                      </a:lnTo>
                      <a:lnTo>
                        <a:pt x="0" y="19"/>
                      </a:lnTo>
                      <a:lnTo>
                        <a:pt x="3" y="26"/>
                      </a:lnTo>
                      <a:lnTo>
                        <a:pt x="11" y="30"/>
                      </a:lnTo>
                      <a:lnTo>
                        <a:pt x="19" y="26"/>
                      </a:lnTo>
                      <a:lnTo>
                        <a:pt x="22" y="19"/>
                      </a:lnTo>
                      <a:lnTo>
                        <a:pt x="12" y="8"/>
                      </a:lnTo>
                      <a:close/>
                    </a:path>
                  </a:pathLst>
                </a:custGeom>
                <a:solidFill>
                  <a:srgbClr val="000000"/>
                </a:solidFill>
                <a:ln w="9525">
                  <a:noFill/>
                  <a:round/>
                  <a:headEnd/>
                  <a:tailEnd/>
                </a:ln>
              </p:spPr>
              <p:txBody>
                <a:bodyPr/>
                <a:lstStyle/>
                <a:p>
                  <a:endParaRPr lang="en-US"/>
                </a:p>
              </p:txBody>
            </p:sp>
            <p:sp>
              <p:nvSpPr>
                <p:cNvPr id="29944" name="Freeform 205"/>
                <p:cNvSpPr>
                  <a:spLocks/>
                </p:cNvSpPr>
                <p:nvPr/>
              </p:nvSpPr>
              <p:spPr bwMode="auto">
                <a:xfrm>
                  <a:off x="2163" y="3471"/>
                  <a:ext cx="12" cy="12"/>
                </a:xfrm>
                <a:custGeom>
                  <a:avLst/>
                  <a:gdLst>
                    <a:gd name="T0" fmla="*/ 1 w 24"/>
                    <a:gd name="T1" fmla="*/ 0 h 25"/>
                    <a:gd name="T2" fmla="*/ 1 w 24"/>
                    <a:gd name="T3" fmla="*/ 0 h 25"/>
                    <a:gd name="T4" fmla="*/ 1 w 24"/>
                    <a:gd name="T5" fmla="*/ 0 h 25"/>
                    <a:gd name="T6" fmla="*/ 1 w 24"/>
                    <a:gd name="T7" fmla="*/ 0 h 25"/>
                    <a:gd name="T8" fmla="*/ 1 w 24"/>
                    <a:gd name="T9" fmla="*/ 0 h 25"/>
                    <a:gd name="T10" fmla="*/ 1 w 24"/>
                    <a:gd name="T11" fmla="*/ 0 h 25"/>
                    <a:gd name="T12" fmla="*/ 0 w 24"/>
                    <a:gd name="T13" fmla="*/ 0 h 25"/>
                    <a:gd name="T14" fmla="*/ 0 w 24"/>
                    <a:gd name="T15" fmla="*/ 0 h 25"/>
                    <a:gd name="T16" fmla="*/ 1 w 24"/>
                    <a:gd name="T17" fmla="*/ 0 h 25"/>
                    <a:gd name="T18" fmla="*/ 1 w 24"/>
                    <a:gd name="T19" fmla="*/ 0 h 25"/>
                    <a:gd name="T20" fmla="*/ 1 w 24"/>
                    <a:gd name="T21" fmla="*/ 0 h 25"/>
                    <a:gd name="T22" fmla="*/ 1 w 24"/>
                    <a:gd name="T23" fmla="*/ 0 h 25"/>
                    <a:gd name="T24" fmla="*/ 1 w 24"/>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5"/>
                    <a:gd name="T41" fmla="*/ 24 w 24"/>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5">
                      <a:moveTo>
                        <a:pt x="24" y="4"/>
                      </a:moveTo>
                      <a:lnTo>
                        <a:pt x="21" y="3"/>
                      </a:lnTo>
                      <a:lnTo>
                        <a:pt x="14" y="1"/>
                      </a:lnTo>
                      <a:lnTo>
                        <a:pt x="10" y="1"/>
                      </a:lnTo>
                      <a:lnTo>
                        <a:pt x="6" y="0"/>
                      </a:lnTo>
                      <a:lnTo>
                        <a:pt x="3" y="0"/>
                      </a:lnTo>
                      <a:lnTo>
                        <a:pt x="0" y="22"/>
                      </a:lnTo>
                      <a:lnTo>
                        <a:pt x="6" y="23"/>
                      </a:lnTo>
                      <a:lnTo>
                        <a:pt x="11" y="23"/>
                      </a:lnTo>
                      <a:lnTo>
                        <a:pt x="17" y="25"/>
                      </a:lnTo>
                      <a:lnTo>
                        <a:pt x="14" y="23"/>
                      </a:lnTo>
                      <a:lnTo>
                        <a:pt x="24" y="4"/>
                      </a:lnTo>
                      <a:close/>
                    </a:path>
                  </a:pathLst>
                </a:custGeom>
                <a:solidFill>
                  <a:srgbClr val="000000"/>
                </a:solidFill>
                <a:ln w="9525">
                  <a:noFill/>
                  <a:round/>
                  <a:headEnd/>
                  <a:tailEnd/>
                </a:ln>
              </p:spPr>
              <p:txBody>
                <a:bodyPr/>
                <a:lstStyle/>
                <a:p>
                  <a:endParaRPr lang="en-US"/>
                </a:p>
              </p:txBody>
            </p:sp>
            <p:sp>
              <p:nvSpPr>
                <p:cNvPr id="29945" name="Freeform 206"/>
                <p:cNvSpPr>
                  <a:spLocks/>
                </p:cNvSpPr>
                <p:nvPr/>
              </p:nvSpPr>
              <p:spPr bwMode="auto">
                <a:xfrm>
                  <a:off x="2170" y="3473"/>
                  <a:ext cx="16" cy="20"/>
                </a:xfrm>
                <a:custGeom>
                  <a:avLst/>
                  <a:gdLst>
                    <a:gd name="T0" fmla="*/ 1 w 32"/>
                    <a:gd name="T1" fmla="*/ 0 h 41"/>
                    <a:gd name="T2" fmla="*/ 1 w 32"/>
                    <a:gd name="T3" fmla="*/ 0 h 41"/>
                    <a:gd name="T4" fmla="*/ 1 w 32"/>
                    <a:gd name="T5" fmla="*/ 0 h 41"/>
                    <a:gd name="T6" fmla="*/ 1 w 32"/>
                    <a:gd name="T7" fmla="*/ 0 h 41"/>
                    <a:gd name="T8" fmla="*/ 1 w 32"/>
                    <a:gd name="T9" fmla="*/ 0 h 41"/>
                    <a:gd name="T10" fmla="*/ 1 w 32"/>
                    <a:gd name="T11" fmla="*/ 0 h 41"/>
                    <a:gd name="T12" fmla="*/ 0 w 32"/>
                    <a:gd name="T13" fmla="*/ 0 h 41"/>
                    <a:gd name="T14" fmla="*/ 1 w 32"/>
                    <a:gd name="T15" fmla="*/ 0 h 41"/>
                    <a:gd name="T16" fmla="*/ 1 w 32"/>
                    <a:gd name="T17" fmla="*/ 0 h 41"/>
                    <a:gd name="T18" fmla="*/ 1 w 32"/>
                    <a:gd name="T19" fmla="*/ 0 h 41"/>
                    <a:gd name="T20" fmla="*/ 1 w 32"/>
                    <a:gd name="T21" fmla="*/ 0 h 41"/>
                    <a:gd name="T22" fmla="*/ 1 w 32"/>
                    <a:gd name="T23" fmla="*/ 0 h 41"/>
                    <a:gd name="T24" fmla="*/ 1 w 32"/>
                    <a:gd name="T25" fmla="*/ 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
                    <a:gd name="T40" fmla="*/ 0 h 41"/>
                    <a:gd name="T41" fmla="*/ 32 w 32"/>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 h="41">
                      <a:moveTo>
                        <a:pt x="32" y="35"/>
                      </a:moveTo>
                      <a:lnTo>
                        <a:pt x="32" y="35"/>
                      </a:lnTo>
                      <a:lnTo>
                        <a:pt x="27" y="24"/>
                      </a:lnTo>
                      <a:lnTo>
                        <a:pt x="22" y="14"/>
                      </a:lnTo>
                      <a:lnTo>
                        <a:pt x="17" y="7"/>
                      </a:lnTo>
                      <a:lnTo>
                        <a:pt x="10" y="0"/>
                      </a:lnTo>
                      <a:lnTo>
                        <a:pt x="0" y="19"/>
                      </a:lnTo>
                      <a:lnTo>
                        <a:pt x="2" y="19"/>
                      </a:lnTo>
                      <a:lnTo>
                        <a:pt x="3" y="24"/>
                      </a:lnTo>
                      <a:lnTo>
                        <a:pt x="8" y="33"/>
                      </a:lnTo>
                      <a:lnTo>
                        <a:pt x="10" y="41"/>
                      </a:lnTo>
                      <a:lnTo>
                        <a:pt x="32" y="35"/>
                      </a:lnTo>
                      <a:close/>
                    </a:path>
                  </a:pathLst>
                </a:custGeom>
                <a:solidFill>
                  <a:srgbClr val="000000"/>
                </a:solidFill>
                <a:ln w="9525">
                  <a:noFill/>
                  <a:round/>
                  <a:headEnd/>
                  <a:tailEnd/>
                </a:ln>
              </p:spPr>
              <p:txBody>
                <a:bodyPr/>
                <a:lstStyle/>
                <a:p>
                  <a:endParaRPr lang="en-US"/>
                </a:p>
              </p:txBody>
            </p:sp>
            <p:sp>
              <p:nvSpPr>
                <p:cNvPr id="29946" name="Freeform 207"/>
                <p:cNvSpPr>
                  <a:spLocks/>
                </p:cNvSpPr>
                <p:nvPr/>
              </p:nvSpPr>
              <p:spPr bwMode="auto">
                <a:xfrm>
                  <a:off x="2175" y="3490"/>
                  <a:ext cx="19" cy="21"/>
                </a:xfrm>
                <a:custGeom>
                  <a:avLst/>
                  <a:gdLst>
                    <a:gd name="T0" fmla="*/ 1 w 37"/>
                    <a:gd name="T1" fmla="*/ 1 h 42"/>
                    <a:gd name="T2" fmla="*/ 1 w 37"/>
                    <a:gd name="T3" fmla="*/ 1 h 42"/>
                    <a:gd name="T4" fmla="*/ 1 w 37"/>
                    <a:gd name="T5" fmla="*/ 1 h 42"/>
                    <a:gd name="T6" fmla="*/ 1 w 37"/>
                    <a:gd name="T7" fmla="*/ 1 h 42"/>
                    <a:gd name="T8" fmla="*/ 1 w 37"/>
                    <a:gd name="T9" fmla="*/ 1 h 42"/>
                    <a:gd name="T10" fmla="*/ 1 w 37"/>
                    <a:gd name="T11" fmla="*/ 0 h 42"/>
                    <a:gd name="T12" fmla="*/ 0 w 37"/>
                    <a:gd name="T13" fmla="*/ 1 h 42"/>
                    <a:gd name="T14" fmla="*/ 1 w 37"/>
                    <a:gd name="T15" fmla="*/ 1 h 42"/>
                    <a:gd name="T16" fmla="*/ 1 w 37"/>
                    <a:gd name="T17" fmla="*/ 1 h 42"/>
                    <a:gd name="T18" fmla="*/ 1 w 37"/>
                    <a:gd name="T19" fmla="*/ 1 h 42"/>
                    <a:gd name="T20" fmla="*/ 1 w 37"/>
                    <a:gd name="T21" fmla="*/ 1 h 42"/>
                    <a:gd name="T22" fmla="*/ 1 w 37"/>
                    <a:gd name="T23" fmla="*/ 1 h 42"/>
                    <a:gd name="T24" fmla="*/ 1 w 37"/>
                    <a:gd name="T25" fmla="*/ 1 h 42"/>
                    <a:gd name="T26" fmla="*/ 1 w 37"/>
                    <a:gd name="T27" fmla="*/ 1 h 42"/>
                    <a:gd name="T28" fmla="*/ 1 w 37"/>
                    <a:gd name="T29" fmla="*/ 1 h 42"/>
                    <a:gd name="T30" fmla="*/ 1 w 37"/>
                    <a:gd name="T31" fmla="*/ 1 h 42"/>
                    <a:gd name="T32" fmla="*/ 1 w 37"/>
                    <a:gd name="T33" fmla="*/ 1 h 42"/>
                    <a:gd name="T34" fmla="*/ 1 w 37"/>
                    <a:gd name="T35" fmla="*/ 1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7"/>
                    <a:gd name="T55" fmla="*/ 0 h 42"/>
                    <a:gd name="T56" fmla="*/ 37 w 37"/>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7" h="42">
                      <a:moveTo>
                        <a:pt x="26" y="20"/>
                      </a:moveTo>
                      <a:lnTo>
                        <a:pt x="36" y="25"/>
                      </a:lnTo>
                      <a:lnTo>
                        <a:pt x="34" y="22"/>
                      </a:lnTo>
                      <a:lnTo>
                        <a:pt x="29" y="15"/>
                      </a:lnTo>
                      <a:lnTo>
                        <a:pt x="25" y="9"/>
                      </a:lnTo>
                      <a:lnTo>
                        <a:pt x="22" y="0"/>
                      </a:lnTo>
                      <a:lnTo>
                        <a:pt x="0" y="6"/>
                      </a:lnTo>
                      <a:lnTo>
                        <a:pt x="6" y="18"/>
                      </a:lnTo>
                      <a:lnTo>
                        <a:pt x="11" y="28"/>
                      </a:lnTo>
                      <a:lnTo>
                        <a:pt x="15" y="34"/>
                      </a:lnTo>
                      <a:lnTo>
                        <a:pt x="17" y="37"/>
                      </a:lnTo>
                      <a:lnTo>
                        <a:pt x="26" y="42"/>
                      </a:lnTo>
                      <a:lnTo>
                        <a:pt x="17" y="37"/>
                      </a:lnTo>
                      <a:lnTo>
                        <a:pt x="25" y="42"/>
                      </a:lnTo>
                      <a:lnTo>
                        <a:pt x="33" y="40"/>
                      </a:lnTo>
                      <a:lnTo>
                        <a:pt x="37" y="34"/>
                      </a:lnTo>
                      <a:lnTo>
                        <a:pt x="36" y="25"/>
                      </a:lnTo>
                      <a:lnTo>
                        <a:pt x="26" y="20"/>
                      </a:lnTo>
                      <a:close/>
                    </a:path>
                  </a:pathLst>
                </a:custGeom>
                <a:solidFill>
                  <a:srgbClr val="000000"/>
                </a:solidFill>
                <a:ln w="9525">
                  <a:noFill/>
                  <a:round/>
                  <a:headEnd/>
                  <a:tailEnd/>
                </a:ln>
              </p:spPr>
              <p:txBody>
                <a:bodyPr/>
                <a:lstStyle/>
                <a:p>
                  <a:endParaRPr lang="en-US"/>
                </a:p>
              </p:txBody>
            </p:sp>
          </p:grpSp>
          <p:sp>
            <p:nvSpPr>
              <p:cNvPr id="29715" name="Freeform 208"/>
              <p:cNvSpPr>
                <a:spLocks/>
              </p:cNvSpPr>
              <p:nvPr/>
            </p:nvSpPr>
            <p:spPr bwMode="auto">
              <a:xfrm>
                <a:off x="1851" y="3424"/>
                <a:ext cx="43" cy="139"/>
              </a:xfrm>
              <a:custGeom>
                <a:avLst/>
                <a:gdLst>
                  <a:gd name="T0" fmla="*/ 0 w 85"/>
                  <a:gd name="T1" fmla="*/ 0 h 278"/>
                  <a:gd name="T2" fmla="*/ 0 w 85"/>
                  <a:gd name="T3" fmla="*/ 1 h 278"/>
                  <a:gd name="T4" fmla="*/ 1 w 85"/>
                  <a:gd name="T5" fmla="*/ 1 h 278"/>
                  <a:gd name="T6" fmla="*/ 1 w 85"/>
                  <a:gd name="T7" fmla="*/ 1 h 278"/>
                  <a:gd name="T8" fmla="*/ 0 w 85"/>
                  <a:gd name="T9" fmla="*/ 0 h 278"/>
                  <a:gd name="T10" fmla="*/ 0 60000 65536"/>
                  <a:gd name="T11" fmla="*/ 0 60000 65536"/>
                  <a:gd name="T12" fmla="*/ 0 60000 65536"/>
                  <a:gd name="T13" fmla="*/ 0 60000 65536"/>
                  <a:gd name="T14" fmla="*/ 0 60000 65536"/>
                  <a:gd name="T15" fmla="*/ 0 w 85"/>
                  <a:gd name="T16" fmla="*/ 0 h 278"/>
                  <a:gd name="T17" fmla="*/ 85 w 85"/>
                  <a:gd name="T18" fmla="*/ 278 h 278"/>
                </a:gdLst>
                <a:ahLst/>
                <a:cxnLst>
                  <a:cxn ang="T10">
                    <a:pos x="T0" y="T1"/>
                  </a:cxn>
                  <a:cxn ang="T11">
                    <a:pos x="T2" y="T3"/>
                  </a:cxn>
                  <a:cxn ang="T12">
                    <a:pos x="T4" y="T5"/>
                  </a:cxn>
                  <a:cxn ang="T13">
                    <a:pos x="T6" y="T7"/>
                  </a:cxn>
                  <a:cxn ang="T14">
                    <a:pos x="T8" y="T9"/>
                  </a:cxn>
                </a:cxnLst>
                <a:rect l="T15" t="T16" r="T17" b="T18"/>
                <a:pathLst>
                  <a:path w="85" h="278">
                    <a:moveTo>
                      <a:pt x="0" y="0"/>
                    </a:moveTo>
                    <a:lnTo>
                      <a:pt x="0" y="234"/>
                    </a:lnTo>
                    <a:lnTo>
                      <a:pt x="85" y="278"/>
                    </a:lnTo>
                    <a:lnTo>
                      <a:pt x="85" y="40"/>
                    </a:lnTo>
                    <a:lnTo>
                      <a:pt x="0" y="0"/>
                    </a:lnTo>
                    <a:close/>
                  </a:path>
                </a:pathLst>
              </a:custGeom>
              <a:solidFill>
                <a:srgbClr val="4CB2FF"/>
              </a:solidFill>
              <a:ln w="9525">
                <a:noFill/>
                <a:round/>
                <a:headEnd/>
                <a:tailEnd/>
              </a:ln>
            </p:spPr>
            <p:txBody>
              <a:bodyPr/>
              <a:lstStyle/>
              <a:p>
                <a:endParaRPr lang="en-US"/>
              </a:p>
            </p:txBody>
          </p:sp>
          <p:sp>
            <p:nvSpPr>
              <p:cNvPr id="29716" name="Freeform 209"/>
              <p:cNvSpPr>
                <a:spLocks/>
              </p:cNvSpPr>
              <p:nvPr/>
            </p:nvSpPr>
            <p:spPr bwMode="auto">
              <a:xfrm>
                <a:off x="1846" y="3424"/>
                <a:ext cx="11" cy="123"/>
              </a:xfrm>
              <a:custGeom>
                <a:avLst/>
                <a:gdLst>
                  <a:gd name="T0" fmla="*/ 1 w 22"/>
                  <a:gd name="T1" fmla="*/ 1 h 245"/>
                  <a:gd name="T2" fmla="*/ 1 w 22"/>
                  <a:gd name="T3" fmla="*/ 1 h 245"/>
                  <a:gd name="T4" fmla="*/ 1 w 22"/>
                  <a:gd name="T5" fmla="*/ 0 h 245"/>
                  <a:gd name="T6" fmla="*/ 0 w 22"/>
                  <a:gd name="T7" fmla="*/ 0 h 245"/>
                  <a:gd name="T8" fmla="*/ 0 w 22"/>
                  <a:gd name="T9" fmla="*/ 1 h 245"/>
                  <a:gd name="T10" fmla="*/ 1 w 22"/>
                  <a:gd name="T11" fmla="*/ 1 h 245"/>
                  <a:gd name="T12" fmla="*/ 0 w 22"/>
                  <a:gd name="T13" fmla="*/ 1 h 245"/>
                  <a:gd name="T14" fmla="*/ 1 w 22"/>
                  <a:gd name="T15" fmla="*/ 1 h 245"/>
                  <a:gd name="T16" fmla="*/ 1 w 22"/>
                  <a:gd name="T17" fmla="*/ 1 h 245"/>
                  <a:gd name="T18" fmla="*/ 1 w 22"/>
                  <a:gd name="T19" fmla="*/ 1 h 245"/>
                  <a:gd name="T20" fmla="*/ 1 w 22"/>
                  <a:gd name="T21" fmla="*/ 1 h 245"/>
                  <a:gd name="T22" fmla="*/ 1 w 22"/>
                  <a:gd name="T23" fmla="*/ 1 h 2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5"/>
                  <a:gd name="T38" fmla="*/ 22 w 22"/>
                  <a:gd name="T39" fmla="*/ 245 h 2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5">
                    <a:moveTo>
                      <a:pt x="16" y="225"/>
                    </a:moveTo>
                    <a:lnTo>
                      <a:pt x="22" y="234"/>
                    </a:lnTo>
                    <a:lnTo>
                      <a:pt x="22" y="0"/>
                    </a:lnTo>
                    <a:lnTo>
                      <a:pt x="0" y="0"/>
                    </a:lnTo>
                    <a:lnTo>
                      <a:pt x="0" y="234"/>
                    </a:lnTo>
                    <a:lnTo>
                      <a:pt x="6" y="244"/>
                    </a:lnTo>
                    <a:lnTo>
                      <a:pt x="0" y="234"/>
                    </a:lnTo>
                    <a:lnTo>
                      <a:pt x="3" y="242"/>
                    </a:lnTo>
                    <a:lnTo>
                      <a:pt x="11" y="245"/>
                    </a:lnTo>
                    <a:lnTo>
                      <a:pt x="19" y="242"/>
                    </a:lnTo>
                    <a:lnTo>
                      <a:pt x="22" y="234"/>
                    </a:lnTo>
                    <a:lnTo>
                      <a:pt x="16" y="225"/>
                    </a:lnTo>
                    <a:close/>
                  </a:path>
                </a:pathLst>
              </a:custGeom>
              <a:solidFill>
                <a:srgbClr val="000000"/>
              </a:solidFill>
              <a:ln w="9525">
                <a:noFill/>
                <a:round/>
                <a:headEnd/>
                <a:tailEnd/>
              </a:ln>
            </p:spPr>
            <p:txBody>
              <a:bodyPr/>
              <a:lstStyle/>
              <a:p>
                <a:endParaRPr lang="en-US"/>
              </a:p>
            </p:txBody>
          </p:sp>
          <p:sp>
            <p:nvSpPr>
              <p:cNvPr id="29717" name="Freeform 210"/>
              <p:cNvSpPr>
                <a:spLocks/>
              </p:cNvSpPr>
              <p:nvPr/>
            </p:nvSpPr>
            <p:spPr bwMode="auto">
              <a:xfrm>
                <a:off x="1849" y="3537"/>
                <a:ext cx="50" cy="31"/>
              </a:xfrm>
              <a:custGeom>
                <a:avLst/>
                <a:gdLst>
                  <a:gd name="T0" fmla="*/ 0 w 101"/>
                  <a:gd name="T1" fmla="*/ 0 h 63"/>
                  <a:gd name="T2" fmla="*/ 0 w 101"/>
                  <a:gd name="T3" fmla="*/ 0 h 63"/>
                  <a:gd name="T4" fmla="*/ 0 w 101"/>
                  <a:gd name="T5" fmla="*/ 0 h 63"/>
                  <a:gd name="T6" fmla="*/ 0 w 101"/>
                  <a:gd name="T7" fmla="*/ 0 h 63"/>
                  <a:gd name="T8" fmla="*/ 0 w 101"/>
                  <a:gd name="T9" fmla="*/ 0 h 63"/>
                  <a:gd name="T10" fmla="*/ 0 w 101"/>
                  <a:gd name="T11" fmla="*/ 0 h 63"/>
                  <a:gd name="T12" fmla="*/ 0 w 101"/>
                  <a:gd name="T13" fmla="*/ 0 h 63"/>
                  <a:gd name="T14" fmla="*/ 0 w 101"/>
                  <a:gd name="T15" fmla="*/ 0 h 63"/>
                  <a:gd name="T16" fmla="*/ 0 w 101"/>
                  <a:gd name="T17" fmla="*/ 0 h 63"/>
                  <a:gd name="T18" fmla="*/ 0 w 101"/>
                  <a:gd name="T19" fmla="*/ 0 h 63"/>
                  <a:gd name="T20" fmla="*/ 0 w 101"/>
                  <a:gd name="T21" fmla="*/ 0 h 63"/>
                  <a:gd name="T22" fmla="*/ 0 w 101"/>
                  <a:gd name="T23" fmla="*/ 0 h 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1"/>
                  <a:gd name="T37" fmla="*/ 0 h 63"/>
                  <a:gd name="T38" fmla="*/ 101 w 101"/>
                  <a:gd name="T39" fmla="*/ 63 h 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1" h="63">
                    <a:moveTo>
                      <a:pt x="79" y="53"/>
                    </a:moveTo>
                    <a:lnTo>
                      <a:pt x="94" y="44"/>
                    </a:lnTo>
                    <a:lnTo>
                      <a:pt x="10" y="0"/>
                    </a:lnTo>
                    <a:lnTo>
                      <a:pt x="0" y="19"/>
                    </a:lnTo>
                    <a:lnTo>
                      <a:pt x="85" y="63"/>
                    </a:lnTo>
                    <a:lnTo>
                      <a:pt x="101" y="53"/>
                    </a:lnTo>
                    <a:lnTo>
                      <a:pt x="85" y="63"/>
                    </a:lnTo>
                    <a:lnTo>
                      <a:pt x="93" y="63"/>
                    </a:lnTo>
                    <a:lnTo>
                      <a:pt x="99" y="58"/>
                    </a:lnTo>
                    <a:lnTo>
                      <a:pt x="101" y="50"/>
                    </a:lnTo>
                    <a:lnTo>
                      <a:pt x="94" y="44"/>
                    </a:lnTo>
                    <a:lnTo>
                      <a:pt x="79" y="53"/>
                    </a:lnTo>
                    <a:close/>
                  </a:path>
                </a:pathLst>
              </a:custGeom>
              <a:solidFill>
                <a:srgbClr val="000000"/>
              </a:solidFill>
              <a:ln w="9525">
                <a:noFill/>
                <a:round/>
                <a:headEnd/>
                <a:tailEnd/>
              </a:ln>
            </p:spPr>
            <p:txBody>
              <a:bodyPr/>
              <a:lstStyle/>
              <a:p>
                <a:endParaRPr lang="en-US"/>
              </a:p>
            </p:txBody>
          </p:sp>
          <p:sp>
            <p:nvSpPr>
              <p:cNvPr id="29718" name="Freeform 211"/>
              <p:cNvSpPr>
                <a:spLocks/>
              </p:cNvSpPr>
              <p:nvPr/>
            </p:nvSpPr>
            <p:spPr bwMode="auto">
              <a:xfrm>
                <a:off x="1888" y="3439"/>
                <a:ext cx="11" cy="124"/>
              </a:xfrm>
              <a:custGeom>
                <a:avLst/>
                <a:gdLst>
                  <a:gd name="T0" fmla="*/ 1 w 22"/>
                  <a:gd name="T1" fmla="*/ 0 h 249"/>
                  <a:gd name="T2" fmla="*/ 0 w 22"/>
                  <a:gd name="T3" fmla="*/ 0 h 249"/>
                  <a:gd name="T4" fmla="*/ 0 w 22"/>
                  <a:gd name="T5" fmla="*/ 0 h 249"/>
                  <a:gd name="T6" fmla="*/ 1 w 22"/>
                  <a:gd name="T7" fmla="*/ 0 h 249"/>
                  <a:gd name="T8" fmla="*/ 1 w 22"/>
                  <a:gd name="T9" fmla="*/ 0 h 249"/>
                  <a:gd name="T10" fmla="*/ 1 w 22"/>
                  <a:gd name="T11" fmla="*/ 0 h 249"/>
                  <a:gd name="T12" fmla="*/ 1 w 22"/>
                  <a:gd name="T13" fmla="*/ 0 h 249"/>
                  <a:gd name="T14" fmla="*/ 1 w 22"/>
                  <a:gd name="T15" fmla="*/ 0 h 249"/>
                  <a:gd name="T16" fmla="*/ 1 w 22"/>
                  <a:gd name="T17" fmla="*/ 0 h 249"/>
                  <a:gd name="T18" fmla="*/ 1 w 22"/>
                  <a:gd name="T19" fmla="*/ 0 h 249"/>
                  <a:gd name="T20" fmla="*/ 0 w 22"/>
                  <a:gd name="T21" fmla="*/ 0 h 249"/>
                  <a:gd name="T22" fmla="*/ 1 w 22"/>
                  <a:gd name="T23" fmla="*/ 0 h 2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9"/>
                  <a:gd name="T38" fmla="*/ 22 w 22"/>
                  <a:gd name="T39" fmla="*/ 249 h 24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9">
                    <a:moveTo>
                      <a:pt x="6" y="21"/>
                    </a:moveTo>
                    <a:lnTo>
                      <a:pt x="0" y="11"/>
                    </a:lnTo>
                    <a:lnTo>
                      <a:pt x="0" y="249"/>
                    </a:lnTo>
                    <a:lnTo>
                      <a:pt x="22" y="249"/>
                    </a:lnTo>
                    <a:lnTo>
                      <a:pt x="22" y="11"/>
                    </a:lnTo>
                    <a:lnTo>
                      <a:pt x="15" y="2"/>
                    </a:lnTo>
                    <a:lnTo>
                      <a:pt x="22" y="11"/>
                    </a:lnTo>
                    <a:lnTo>
                      <a:pt x="18" y="4"/>
                    </a:lnTo>
                    <a:lnTo>
                      <a:pt x="11" y="0"/>
                    </a:lnTo>
                    <a:lnTo>
                      <a:pt x="3" y="4"/>
                    </a:lnTo>
                    <a:lnTo>
                      <a:pt x="0" y="11"/>
                    </a:lnTo>
                    <a:lnTo>
                      <a:pt x="6" y="21"/>
                    </a:lnTo>
                    <a:close/>
                  </a:path>
                </a:pathLst>
              </a:custGeom>
              <a:solidFill>
                <a:srgbClr val="000000"/>
              </a:solidFill>
              <a:ln w="9525">
                <a:noFill/>
                <a:round/>
                <a:headEnd/>
                <a:tailEnd/>
              </a:ln>
            </p:spPr>
            <p:txBody>
              <a:bodyPr/>
              <a:lstStyle/>
              <a:p>
                <a:endParaRPr lang="en-US"/>
              </a:p>
            </p:txBody>
          </p:sp>
          <p:sp>
            <p:nvSpPr>
              <p:cNvPr id="29719" name="Freeform 212"/>
              <p:cNvSpPr>
                <a:spLocks/>
              </p:cNvSpPr>
              <p:nvPr/>
            </p:nvSpPr>
            <p:spPr bwMode="auto">
              <a:xfrm>
                <a:off x="1846" y="3419"/>
                <a:ext cx="50" cy="30"/>
              </a:xfrm>
              <a:custGeom>
                <a:avLst/>
                <a:gdLst>
                  <a:gd name="T0" fmla="*/ 1 w 100"/>
                  <a:gd name="T1" fmla="*/ 1 h 60"/>
                  <a:gd name="T2" fmla="*/ 1 w 100"/>
                  <a:gd name="T3" fmla="*/ 1 h 60"/>
                  <a:gd name="T4" fmla="*/ 1 w 100"/>
                  <a:gd name="T5" fmla="*/ 1 h 60"/>
                  <a:gd name="T6" fmla="*/ 1 w 100"/>
                  <a:gd name="T7" fmla="*/ 1 h 60"/>
                  <a:gd name="T8" fmla="*/ 1 w 100"/>
                  <a:gd name="T9" fmla="*/ 0 h 60"/>
                  <a:gd name="T10" fmla="*/ 0 w 100"/>
                  <a:gd name="T11" fmla="*/ 1 h 60"/>
                  <a:gd name="T12" fmla="*/ 1 w 100"/>
                  <a:gd name="T13" fmla="*/ 0 h 60"/>
                  <a:gd name="T14" fmla="*/ 1 w 100"/>
                  <a:gd name="T15" fmla="*/ 0 h 60"/>
                  <a:gd name="T16" fmla="*/ 1 w 100"/>
                  <a:gd name="T17" fmla="*/ 1 h 60"/>
                  <a:gd name="T18" fmla="*/ 0 w 100"/>
                  <a:gd name="T19" fmla="*/ 1 h 60"/>
                  <a:gd name="T20" fmla="*/ 1 w 100"/>
                  <a:gd name="T21" fmla="*/ 1 h 60"/>
                  <a:gd name="T22" fmla="*/ 1 w 100"/>
                  <a:gd name="T23" fmla="*/ 1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0"/>
                  <a:gd name="T37" fmla="*/ 0 h 60"/>
                  <a:gd name="T38" fmla="*/ 100 w 100"/>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0" h="60">
                    <a:moveTo>
                      <a:pt x="22" y="10"/>
                    </a:moveTo>
                    <a:lnTo>
                      <a:pt x="6" y="19"/>
                    </a:lnTo>
                    <a:lnTo>
                      <a:pt x="91" y="60"/>
                    </a:lnTo>
                    <a:lnTo>
                      <a:pt x="100" y="41"/>
                    </a:lnTo>
                    <a:lnTo>
                      <a:pt x="16" y="0"/>
                    </a:lnTo>
                    <a:lnTo>
                      <a:pt x="0" y="10"/>
                    </a:lnTo>
                    <a:lnTo>
                      <a:pt x="16" y="0"/>
                    </a:lnTo>
                    <a:lnTo>
                      <a:pt x="8" y="0"/>
                    </a:lnTo>
                    <a:lnTo>
                      <a:pt x="2" y="5"/>
                    </a:lnTo>
                    <a:lnTo>
                      <a:pt x="0" y="13"/>
                    </a:lnTo>
                    <a:lnTo>
                      <a:pt x="6" y="19"/>
                    </a:lnTo>
                    <a:lnTo>
                      <a:pt x="22" y="10"/>
                    </a:lnTo>
                    <a:close/>
                  </a:path>
                </a:pathLst>
              </a:custGeom>
              <a:solidFill>
                <a:srgbClr val="000000"/>
              </a:solidFill>
              <a:ln w="9525">
                <a:noFill/>
                <a:round/>
                <a:headEnd/>
                <a:tailEnd/>
              </a:ln>
            </p:spPr>
            <p:txBody>
              <a:bodyPr/>
              <a:lstStyle/>
              <a:p>
                <a:endParaRPr lang="en-US"/>
              </a:p>
            </p:txBody>
          </p:sp>
          <p:sp>
            <p:nvSpPr>
              <p:cNvPr id="29720" name="Freeform 213"/>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close/>
                  </a:path>
                </a:pathLst>
              </a:custGeom>
              <a:solidFill>
                <a:srgbClr val="B2B2B2"/>
              </a:solidFill>
              <a:ln w="9525">
                <a:noFill/>
                <a:round/>
                <a:headEnd/>
                <a:tailEnd/>
              </a:ln>
            </p:spPr>
            <p:txBody>
              <a:bodyPr/>
              <a:lstStyle/>
              <a:p>
                <a:endParaRPr lang="en-US"/>
              </a:p>
            </p:txBody>
          </p:sp>
          <p:sp>
            <p:nvSpPr>
              <p:cNvPr id="29721" name="Freeform 214"/>
              <p:cNvSpPr>
                <a:spLocks/>
              </p:cNvSpPr>
              <p:nvPr/>
            </p:nvSpPr>
            <p:spPr bwMode="auto">
              <a:xfrm>
                <a:off x="1909" y="3390"/>
                <a:ext cx="100" cy="150"/>
              </a:xfrm>
              <a:custGeom>
                <a:avLst/>
                <a:gdLst>
                  <a:gd name="T0" fmla="*/ 0 w 201"/>
                  <a:gd name="T1" fmla="*/ 1 h 299"/>
                  <a:gd name="T2" fmla="*/ 0 w 201"/>
                  <a:gd name="T3" fmla="*/ 0 h 299"/>
                  <a:gd name="T4" fmla="*/ 0 w 201"/>
                  <a:gd name="T5" fmla="*/ 1 h 299"/>
                  <a:gd name="T6" fmla="*/ 0 w 201"/>
                  <a:gd name="T7" fmla="*/ 1 h 299"/>
                  <a:gd name="T8" fmla="*/ 0 w 201"/>
                  <a:gd name="T9" fmla="*/ 1 h 299"/>
                  <a:gd name="T10" fmla="*/ 0 60000 65536"/>
                  <a:gd name="T11" fmla="*/ 0 60000 65536"/>
                  <a:gd name="T12" fmla="*/ 0 60000 65536"/>
                  <a:gd name="T13" fmla="*/ 0 60000 65536"/>
                  <a:gd name="T14" fmla="*/ 0 60000 65536"/>
                  <a:gd name="T15" fmla="*/ 0 w 201"/>
                  <a:gd name="T16" fmla="*/ 0 h 299"/>
                  <a:gd name="T17" fmla="*/ 201 w 201"/>
                  <a:gd name="T18" fmla="*/ 299 h 299"/>
                </a:gdLst>
                <a:ahLst/>
                <a:cxnLst>
                  <a:cxn ang="T10">
                    <a:pos x="T0" y="T1"/>
                  </a:cxn>
                  <a:cxn ang="T11">
                    <a:pos x="T2" y="T3"/>
                  </a:cxn>
                  <a:cxn ang="T12">
                    <a:pos x="T4" y="T5"/>
                  </a:cxn>
                  <a:cxn ang="T13">
                    <a:pos x="T6" y="T7"/>
                  </a:cxn>
                  <a:cxn ang="T14">
                    <a:pos x="T8" y="T9"/>
                  </a:cxn>
                </a:cxnLst>
                <a:rect l="T15" t="T16" r="T17" b="T18"/>
                <a:pathLst>
                  <a:path w="201" h="299">
                    <a:moveTo>
                      <a:pt x="201" y="180"/>
                    </a:moveTo>
                    <a:lnTo>
                      <a:pt x="201" y="0"/>
                    </a:lnTo>
                    <a:lnTo>
                      <a:pt x="0" y="119"/>
                    </a:lnTo>
                    <a:lnTo>
                      <a:pt x="0" y="299"/>
                    </a:lnTo>
                    <a:lnTo>
                      <a:pt x="201" y="180"/>
                    </a:lnTo>
                  </a:path>
                </a:pathLst>
              </a:custGeom>
              <a:noFill/>
              <a:ln w="0">
                <a:solidFill>
                  <a:srgbClr val="000000"/>
                </a:solidFill>
                <a:round/>
                <a:headEnd/>
                <a:tailEnd/>
              </a:ln>
            </p:spPr>
            <p:txBody>
              <a:bodyPr/>
              <a:lstStyle/>
              <a:p>
                <a:endParaRPr lang="en-US"/>
              </a:p>
            </p:txBody>
          </p:sp>
          <p:sp>
            <p:nvSpPr>
              <p:cNvPr id="29722" name="Freeform 215"/>
              <p:cNvSpPr>
                <a:spLocks/>
              </p:cNvSpPr>
              <p:nvPr/>
            </p:nvSpPr>
            <p:spPr bwMode="auto">
              <a:xfrm>
                <a:off x="1974" y="3604"/>
                <a:ext cx="142" cy="50"/>
              </a:xfrm>
              <a:custGeom>
                <a:avLst/>
                <a:gdLst>
                  <a:gd name="T0" fmla="*/ 0 w 285"/>
                  <a:gd name="T1" fmla="*/ 1 h 100"/>
                  <a:gd name="T2" fmla="*/ 0 w 285"/>
                  <a:gd name="T3" fmla="*/ 1 h 100"/>
                  <a:gd name="T4" fmla="*/ 0 w 285"/>
                  <a:gd name="T5" fmla="*/ 1 h 100"/>
                  <a:gd name="T6" fmla="*/ 0 w 285"/>
                  <a:gd name="T7" fmla="*/ 1 h 100"/>
                  <a:gd name="T8" fmla="*/ 0 w 285"/>
                  <a:gd name="T9" fmla="*/ 1 h 100"/>
                  <a:gd name="T10" fmla="*/ 0 w 285"/>
                  <a:gd name="T11" fmla="*/ 1 h 100"/>
                  <a:gd name="T12" fmla="*/ 0 w 285"/>
                  <a:gd name="T13" fmla="*/ 1 h 100"/>
                  <a:gd name="T14" fmla="*/ 0 w 285"/>
                  <a:gd name="T15" fmla="*/ 1 h 100"/>
                  <a:gd name="T16" fmla="*/ 0 w 285"/>
                  <a:gd name="T17" fmla="*/ 1 h 100"/>
                  <a:gd name="T18" fmla="*/ 0 w 285"/>
                  <a:gd name="T19" fmla="*/ 1 h 100"/>
                  <a:gd name="T20" fmla="*/ 0 w 285"/>
                  <a:gd name="T21" fmla="*/ 1 h 100"/>
                  <a:gd name="T22" fmla="*/ 0 w 285"/>
                  <a:gd name="T23" fmla="*/ 1 h 100"/>
                  <a:gd name="T24" fmla="*/ 0 w 285"/>
                  <a:gd name="T25" fmla="*/ 1 h 100"/>
                  <a:gd name="T26" fmla="*/ 0 w 285"/>
                  <a:gd name="T27" fmla="*/ 1 h 100"/>
                  <a:gd name="T28" fmla="*/ 0 w 285"/>
                  <a:gd name="T29" fmla="*/ 1 h 100"/>
                  <a:gd name="T30" fmla="*/ 0 w 285"/>
                  <a:gd name="T31" fmla="*/ 1 h 100"/>
                  <a:gd name="T32" fmla="*/ 0 w 285"/>
                  <a:gd name="T33" fmla="*/ 1 h 100"/>
                  <a:gd name="T34" fmla="*/ 0 w 285"/>
                  <a:gd name="T35" fmla="*/ 1 h 100"/>
                  <a:gd name="T36" fmla="*/ 0 w 285"/>
                  <a:gd name="T37" fmla="*/ 1 h 100"/>
                  <a:gd name="T38" fmla="*/ 0 w 285"/>
                  <a:gd name="T39" fmla="*/ 1 h 100"/>
                  <a:gd name="T40" fmla="*/ 0 w 285"/>
                  <a:gd name="T41" fmla="*/ 1 h 100"/>
                  <a:gd name="T42" fmla="*/ 0 w 285"/>
                  <a:gd name="T43" fmla="*/ 0 h 100"/>
                  <a:gd name="T44" fmla="*/ 0 w 285"/>
                  <a:gd name="T45" fmla="*/ 1 h 100"/>
                  <a:gd name="T46" fmla="*/ 0 w 285"/>
                  <a:gd name="T47" fmla="*/ 1 h 100"/>
                  <a:gd name="T48" fmla="*/ 0 w 285"/>
                  <a:gd name="T49" fmla="*/ 1 h 100"/>
                  <a:gd name="T50" fmla="*/ 0 w 285"/>
                  <a:gd name="T51" fmla="*/ 1 h 100"/>
                  <a:gd name="T52" fmla="*/ 0 w 285"/>
                  <a:gd name="T53" fmla="*/ 1 h 100"/>
                  <a:gd name="T54" fmla="*/ 0 w 285"/>
                  <a:gd name="T55" fmla="*/ 1 h 100"/>
                  <a:gd name="T56" fmla="*/ 0 w 285"/>
                  <a:gd name="T57" fmla="*/ 1 h 100"/>
                  <a:gd name="T58" fmla="*/ 0 w 285"/>
                  <a:gd name="T59" fmla="*/ 1 h 100"/>
                  <a:gd name="T60" fmla="*/ 0 w 285"/>
                  <a:gd name="T61" fmla="*/ 1 h 100"/>
                  <a:gd name="T62" fmla="*/ 0 w 285"/>
                  <a:gd name="T63" fmla="*/ 1 h 100"/>
                  <a:gd name="T64" fmla="*/ 0 w 285"/>
                  <a:gd name="T65" fmla="*/ 1 h 100"/>
                  <a:gd name="T66" fmla="*/ 0 w 285"/>
                  <a:gd name="T67" fmla="*/ 1 h 100"/>
                  <a:gd name="T68" fmla="*/ 0 w 285"/>
                  <a:gd name="T69" fmla="*/ 1 h 1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85"/>
                  <a:gd name="T106" fmla="*/ 0 h 100"/>
                  <a:gd name="T107" fmla="*/ 285 w 285"/>
                  <a:gd name="T108" fmla="*/ 100 h 1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85" h="100">
                    <a:moveTo>
                      <a:pt x="284" y="65"/>
                    </a:moveTo>
                    <a:lnTo>
                      <a:pt x="224" y="98"/>
                    </a:lnTo>
                    <a:lnTo>
                      <a:pt x="215" y="100"/>
                    </a:lnTo>
                    <a:lnTo>
                      <a:pt x="208" y="98"/>
                    </a:lnTo>
                    <a:lnTo>
                      <a:pt x="191" y="95"/>
                    </a:lnTo>
                    <a:lnTo>
                      <a:pt x="168" y="90"/>
                    </a:lnTo>
                    <a:lnTo>
                      <a:pt x="140" y="84"/>
                    </a:lnTo>
                    <a:lnTo>
                      <a:pt x="110" y="78"/>
                    </a:lnTo>
                    <a:lnTo>
                      <a:pt x="83" y="72"/>
                    </a:lnTo>
                    <a:lnTo>
                      <a:pt x="61" y="65"/>
                    </a:lnTo>
                    <a:lnTo>
                      <a:pt x="47" y="62"/>
                    </a:lnTo>
                    <a:lnTo>
                      <a:pt x="22" y="57"/>
                    </a:lnTo>
                    <a:lnTo>
                      <a:pt x="19" y="57"/>
                    </a:lnTo>
                    <a:lnTo>
                      <a:pt x="21" y="64"/>
                    </a:lnTo>
                    <a:lnTo>
                      <a:pt x="16" y="65"/>
                    </a:lnTo>
                    <a:lnTo>
                      <a:pt x="14" y="65"/>
                    </a:lnTo>
                    <a:lnTo>
                      <a:pt x="10" y="62"/>
                    </a:lnTo>
                    <a:lnTo>
                      <a:pt x="7" y="59"/>
                    </a:lnTo>
                    <a:lnTo>
                      <a:pt x="3" y="54"/>
                    </a:lnTo>
                    <a:lnTo>
                      <a:pt x="2" y="50"/>
                    </a:lnTo>
                    <a:lnTo>
                      <a:pt x="0" y="47"/>
                    </a:lnTo>
                    <a:lnTo>
                      <a:pt x="0" y="45"/>
                    </a:lnTo>
                    <a:lnTo>
                      <a:pt x="2" y="43"/>
                    </a:lnTo>
                    <a:lnTo>
                      <a:pt x="5" y="42"/>
                    </a:lnTo>
                    <a:lnTo>
                      <a:pt x="5" y="37"/>
                    </a:lnTo>
                    <a:lnTo>
                      <a:pt x="7" y="34"/>
                    </a:lnTo>
                    <a:lnTo>
                      <a:pt x="8" y="32"/>
                    </a:lnTo>
                    <a:lnTo>
                      <a:pt x="11" y="29"/>
                    </a:lnTo>
                    <a:lnTo>
                      <a:pt x="14" y="26"/>
                    </a:lnTo>
                    <a:lnTo>
                      <a:pt x="19" y="23"/>
                    </a:lnTo>
                    <a:lnTo>
                      <a:pt x="22" y="20"/>
                    </a:lnTo>
                    <a:lnTo>
                      <a:pt x="25" y="18"/>
                    </a:lnTo>
                    <a:lnTo>
                      <a:pt x="28" y="14"/>
                    </a:lnTo>
                    <a:lnTo>
                      <a:pt x="30" y="11"/>
                    </a:lnTo>
                    <a:lnTo>
                      <a:pt x="33" y="7"/>
                    </a:lnTo>
                    <a:lnTo>
                      <a:pt x="39" y="9"/>
                    </a:lnTo>
                    <a:lnTo>
                      <a:pt x="50" y="14"/>
                    </a:lnTo>
                    <a:lnTo>
                      <a:pt x="58" y="18"/>
                    </a:lnTo>
                    <a:lnTo>
                      <a:pt x="63" y="20"/>
                    </a:lnTo>
                    <a:lnTo>
                      <a:pt x="60" y="17"/>
                    </a:lnTo>
                    <a:lnTo>
                      <a:pt x="61" y="6"/>
                    </a:lnTo>
                    <a:lnTo>
                      <a:pt x="61" y="4"/>
                    </a:lnTo>
                    <a:lnTo>
                      <a:pt x="63" y="3"/>
                    </a:lnTo>
                    <a:lnTo>
                      <a:pt x="66" y="0"/>
                    </a:lnTo>
                    <a:lnTo>
                      <a:pt x="68" y="0"/>
                    </a:lnTo>
                    <a:lnTo>
                      <a:pt x="69" y="1"/>
                    </a:lnTo>
                    <a:lnTo>
                      <a:pt x="71" y="4"/>
                    </a:lnTo>
                    <a:lnTo>
                      <a:pt x="71" y="6"/>
                    </a:lnTo>
                    <a:lnTo>
                      <a:pt x="69" y="9"/>
                    </a:lnTo>
                    <a:lnTo>
                      <a:pt x="71" y="14"/>
                    </a:lnTo>
                    <a:lnTo>
                      <a:pt x="74" y="20"/>
                    </a:lnTo>
                    <a:lnTo>
                      <a:pt x="77" y="26"/>
                    </a:lnTo>
                    <a:lnTo>
                      <a:pt x="82" y="29"/>
                    </a:lnTo>
                    <a:lnTo>
                      <a:pt x="90" y="31"/>
                    </a:lnTo>
                    <a:lnTo>
                      <a:pt x="104" y="32"/>
                    </a:lnTo>
                    <a:lnTo>
                      <a:pt x="124" y="34"/>
                    </a:lnTo>
                    <a:lnTo>
                      <a:pt x="147" y="37"/>
                    </a:lnTo>
                    <a:lnTo>
                      <a:pt x="169" y="39"/>
                    </a:lnTo>
                    <a:lnTo>
                      <a:pt x="190" y="40"/>
                    </a:lnTo>
                    <a:lnTo>
                      <a:pt x="204" y="42"/>
                    </a:lnTo>
                    <a:lnTo>
                      <a:pt x="208" y="42"/>
                    </a:lnTo>
                    <a:lnTo>
                      <a:pt x="212" y="39"/>
                    </a:lnTo>
                    <a:lnTo>
                      <a:pt x="221" y="32"/>
                    </a:lnTo>
                    <a:lnTo>
                      <a:pt x="230" y="25"/>
                    </a:lnTo>
                    <a:lnTo>
                      <a:pt x="241" y="20"/>
                    </a:lnTo>
                    <a:lnTo>
                      <a:pt x="249" y="15"/>
                    </a:lnTo>
                    <a:lnTo>
                      <a:pt x="254" y="9"/>
                    </a:lnTo>
                    <a:lnTo>
                      <a:pt x="255" y="6"/>
                    </a:lnTo>
                    <a:lnTo>
                      <a:pt x="257" y="4"/>
                    </a:lnTo>
                    <a:lnTo>
                      <a:pt x="285" y="61"/>
                    </a:lnTo>
                    <a:lnTo>
                      <a:pt x="284" y="65"/>
                    </a:lnTo>
                    <a:close/>
                  </a:path>
                </a:pathLst>
              </a:custGeom>
              <a:solidFill>
                <a:srgbClr val="FFB27F"/>
              </a:solidFill>
              <a:ln w="9525">
                <a:noFill/>
                <a:round/>
                <a:headEnd/>
                <a:tailEnd/>
              </a:ln>
            </p:spPr>
            <p:txBody>
              <a:bodyPr/>
              <a:lstStyle/>
              <a:p>
                <a:endParaRPr lang="en-US"/>
              </a:p>
            </p:txBody>
          </p:sp>
          <p:sp>
            <p:nvSpPr>
              <p:cNvPr id="29723" name="Freeform 216"/>
              <p:cNvSpPr>
                <a:spLocks/>
              </p:cNvSpPr>
              <p:nvPr/>
            </p:nvSpPr>
            <p:spPr bwMode="auto">
              <a:xfrm>
                <a:off x="2080" y="3632"/>
                <a:ext cx="38" cy="27"/>
              </a:xfrm>
              <a:custGeom>
                <a:avLst/>
                <a:gdLst>
                  <a:gd name="T0" fmla="*/ 1 w 75"/>
                  <a:gd name="T1" fmla="*/ 1 h 53"/>
                  <a:gd name="T2" fmla="*/ 1 w 75"/>
                  <a:gd name="T3" fmla="*/ 1 h 53"/>
                  <a:gd name="T4" fmla="*/ 1 w 75"/>
                  <a:gd name="T5" fmla="*/ 1 h 53"/>
                  <a:gd name="T6" fmla="*/ 1 w 75"/>
                  <a:gd name="T7" fmla="*/ 0 h 53"/>
                  <a:gd name="T8" fmla="*/ 1 w 75"/>
                  <a:gd name="T9" fmla="*/ 1 h 53"/>
                  <a:gd name="T10" fmla="*/ 1 w 75"/>
                  <a:gd name="T11" fmla="*/ 1 h 53"/>
                  <a:gd name="T12" fmla="*/ 1 w 75"/>
                  <a:gd name="T13" fmla="*/ 1 h 53"/>
                  <a:gd name="T14" fmla="*/ 0 w 75"/>
                  <a:gd name="T15" fmla="*/ 1 h 53"/>
                  <a:gd name="T16" fmla="*/ 1 w 75"/>
                  <a:gd name="T17" fmla="*/ 1 h 53"/>
                  <a:gd name="T18" fmla="*/ 1 w 75"/>
                  <a:gd name="T19" fmla="*/ 1 h 53"/>
                  <a:gd name="T20" fmla="*/ 1 w 75"/>
                  <a:gd name="T21" fmla="*/ 1 h 53"/>
                  <a:gd name="T22" fmla="*/ 1 w 75"/>
                  <a:gd name="T23" fmla="*/ 1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5"/>
                  <a:gd name="T37" fmla="*/ 0 h 53"/>
                  <a:gd name="T38" fmla="*/ 75 w 75"/>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5" h="53">
                    <a:moveTo>
                      <a:pt x="13" y="53"/>
                    </a:moveTo>
                    <a:lnTo>
                      <a:pt x="16" y="52"/>
                    </a:lnTo>
                    <a:lnTo>
                      <a:pt x="75" y="19"/>
                    </a:lnTo>
                    <a:lnTo>
                      <a:pt x="66" y="0"/>
                    </a:lnTo>
                    <a:lnTo>
                      <a:pt x="6" y="33"/>
                    </a:lnTo>
                    <a:lnTo>
                      <a:pt x="10" y="31"/>
                    </a:lnTo>
                    <a:lnTo>
                      <a:pt x="6" y="33"/>
                    </a:lnTo>
                    <a:lnTo>
                      <a:pt x="0" y="39"/>
                    </a:lnTo>
                    <a:lnTo>
                      <a:pt x="2" y="47"/>
                    </a:lnTo>
                    <a:lnTo>
                      <a:pt x="8" y="52"/>
                    </a:lnTo>
                    <a:lnTo>
                      <a:pt x="16" y="52"/>
                    </a:lnTo>
                    <a:lnTo>
                      <a:pt x="13" y="53"/>
                    </a:lnTo>
                    <a:close/>
                  </a:path>
                </a:pathLst>
              </a:custGeom>
              <a:solidFill>
                <a:srgbClr val="000000"/>
              </a:solidFill>
              <a:ln w="9525">
                <a:noFill/>
                <a:round/>
                <a:headEnd/>
                <a:tailEnd/>
              </a:ln>
            </p:spPr>
            <p:txBody>
              <a:bodyPr/>
              <a:lstStyle/>
              <a:p>
                <a:endParaRPr lang="en-US"/>
              </a:p>
            </p:txBody>
          </p:sp>
          <p:sp>
            <p:nvSpPr>
              <p:cNvPr id="29724" name="Freeform 217"/>
              <p:cNvSpPr>
                <a:spLocks/>
              </p:cNvSpPr>
              <p:nvPr/>
            </p:nvSpPr>
            <p:spPr bwMode="auto">
              <a:xfrm>
                <a:off x="2075" y="3648"/>
                <a:ext cx="11" cy="11"/>
              </a:xfrm>
              <a:custGeom>
                <a:avLst/>
                <a:gdLst>
                  <a:gd name="T0" fmla="*/ 1 w 22"/>
                  <a:gd name="T1" fmla="*/ 0 h 24"/>
                  <a:gd name="T2" fmla="*/ 1 w 22"/>
                  <a:gd name="T3" fmla="*/ 0 h 24"/>
                  <a:gd name="T4" fmla="*/ 1 w 22"/>
                  <a:gd name="T5" fmla="*/ 0 h 24"/>
                  <a:gd name="T6" fmla="*/ 1 w 22"/>
                  <a:gd name="T7" fmla="*/ 0 h 24"/>
                  <a:gd name="T8" fmla="*/ 1 w 22"/>
                  <a:gd name="T9" fmla="*/ 0 h 24"/>
                  <a:gd name="T10" fmla="*/ 1 w 22"/>
                  <a:gd name="T11" fmla="*/ 0 h 24"/>
                  <a:gd name="T12" fmla="*/ 1 w 22"/>
                  <a:gd name="T13" fmla="*/ 0 h 24"/>
                  <a:gd name="T14" fmla="*/ 1 w 22"/>
                  <a:gd name="T15" fmla="*/ 0 h 24"/>
                  <a:gd name="T16" fmla="*/ 0 w 22"/>
                  <a:gd name="T17" fmla="*/ 0 h 24"/>
                  <a:gd name="T18" fmla="*/ 1 w 22"/>
                  <a:gd name="T19" fmla="*/ 0 h 24"/>
                  <a:gd name="T20" fmla="*/ 1 w 22"/>
                  <a:gd name="T21" fmla="*/ 0 h 24"/>
                  <a:gd name="T22" fmla="*/ 1 w 22"/>
                  <a:gd name="T23" fmla="*/ 0 h 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4"/>
                  <a:gd name="T38" fmla="*/ 22 w 22"/>
                  <a:gd name="T39" fmla="*/ 24 h 2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4">
                    <a:moveTo>
                      <a:pt x="9" y="24"/>
                    </a:moveTo>
                    <a:lnTo>
                      <a:pt x="12" y="24"/>
                    </a:lnTo>
                    <a:lnTo>
                      <a:pt x="22" y="22"/>
                    </a:lnTo>
                    <a:lnTo>
                      <a:pt x="19" y="0"/>
                    </a:lnTo>
                    <a:lnTo>
                      <a:pt x="9" y="2"/>
                    </a:lnTo>
                    <a:lnTo>
                      <a:pt x="12" y="2"/>
                    </a:lnTo>
                    <a:lnTo>
                      <a:pt x="9" y="2"/>
                    </a:lnTo>
                    <a:lnTo>
                      <a:pt x="1" y="6"/>
                    </a:lnTo>
                    <a:lnTo>
                      <a:pt x="0" y="14"/>
                    </a:lnTo>
                    <a:lnTo>
                      <a:pt x="4" y="21"/>
                    </a:lnTo>
                    <a:lnTo>
                      <a:pt x="12" y="24"/>
                    </a:lnTo>
                    <a:lnTo>
                      <a:pt x="9" y="24"/>
                    </a:lnTo>
                    <a:close/>
                  </a:path>
                </a:pathLst>
              </a:custGeom>
              <a:solidFill>
                <a:srgbClr val="000000"/>
              </a:solidFill>
              <a:ln w="9525">
                <a:noFill/>
                <a:round/>
                <a:headEnd/>
                <a:tailEnd/>
              </a:ln>
            </p:spPr>
            <p:txBody>
              <a:bodyPr/>
              <a:lstStyle/>
              <a:p>
                <a:endParaRPr lang="en-US"/>
              </a:p>
            </p:txBody>
          </p:sp>
          <p:sp>
            <p:nvSpPr>
              <p:cNvPr id="29725" name="Freeform 218"/>
              <p:cNvSpPr>
                <a:spLocks/>
              </p:cNvSpPr>
              <p:nvPr/>
            </p:nvSpPr>
            <p:spPr bwMode="auto">
              <a:xfrm>
                <a:off x="1996" y="3630"/>
                <a:ext cx="86" cy="29"/>
              </a:xfrm>
              <a:custGeom>
                <a:avLst/>
                <a:gdLst>
                  <a:gd name="T0" fmla="*/ 1 w 172"/>
                  <a:gd name="T1" fmla="*/ 0 h 60"/>
                  <a:gd name="T2" fmla="*/ 0 w 172"/>
                  <a:gd name="T3" fmla="*/ 0 h 60"/>
                  <a:gd name="T4" fmla="*/ 1 w 172"/>
                  <a:gd name="T5" fmla="*/ 0 h 60"/>
                  <a:gd name="T6" fmla="*/ 1 w 172"/>
                  <a:gd name="T7" fmla="*/ 0 h 60"/>
                  <a:gd name="T8" fmla="*/ 1 w 172"/>
                  <a:gd name="T9" fmla="*/ 0 h 60"/>
                  <a:gd name="T10" fmla="*/ 1 w 172"/>
                  <a:gd name="T11" fmla="*/ 0 h 60"/>
                  <a:gd name="T12" fmla="*/ 1 w 172"/>
                  <a:gd name="T13" fmla="*/ 0 h 60"/>
                  <a:gd name="T14" fmla="*/ 1 w 172"/>
                  <a:gd name="T15" fmla="*/ 0 h 60"/>
                  <a:gd name="T16" fmla="*/ 1 w 172"/>
                  <a:gd name="T17" fmla="*/ 0 h 60"/>
                  <a:gd name="T18" fmla="*/ 1 w 172"/>
                  <a:gd name="T19" fmla="*/ 0 h 60"/>
                  <a:gd name="T20" fmla="*/ 1 w 172"/>
                  <a:gd name="T21" fmla="*/ 0 h 60"/>
                  <a:gd name="T22" fmla="*/ 1 w 172"/>
                  <a:gd name="T23" fmla="*/ 0 h 60"/>
                  <a:gd name="T24" fmla="*/ 1 w 172"/>
                  <a:gd name="T25" fmla="*/ 0 h 60"/>
                  <a:gd name="T26" fmla="*/ 1 w 172"/>
                  <a:gd name="T27" fmla="*/ 0 h 60"/>
                  <a:gd name="T28" fmla="*/ 1 w 172"/>
                  <a:gd name="T29" fmla="*/ 0 h 60"/>
                  <a:gd name="T30" fmla="*/ 1 w 172"/>
                  <a:gd name="T31" fmla="*/ 0 h 60"/>
                  <a:gd name="T32" fmla="*/ 1 w 172"/>
                  <a:gd name="T33" fmla="*/ 0 h 60"/>
                  <a:gd name="T34" fmla="*/ 1 w 172"/>
                  <a:gd name="T35" fmla="*/ 0 h 60"/>
                  <a:gd name="T36" fmla="*/ 1 w 172"/>
                  <a:gd name="T37" fmla="*/ 0 h 60"/>
                  <a:gd name="T38" fmla="*/ 1 w 172"/>
                  <a:gd name="T39" fmla="*/ 0 h 60"/>
                  <a:gd name="T40" fmla="*/ 1 w 172"/>
                  <a:gd name="T41" fmla="*/ 0 h 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2"/>
                  <a:gd name="T64" fmla="*/ 0 h 60"/>
                  <a:gd name="T65" fmla="*/ 172 w 172"/>
                  <a:gd name="T66" fmla="*/ 60 h 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2" h="60">
                    <a:moveTo>
                      <a:pt x="2" y="22"/>
                    </a:moveTo>
                    <a:lnTo>
                      <a:pt x="0" y="22"/>
                    </a:lnTo>
                    <a:lnTo>
                      <a:pt x="14" y="25"/>
                    </a:lnTo>
                    <a:lnTo>
                      <a:pt x="36" y="32"/>
                    </a:lnTo>
                    <a:lnTo>
                      <a:pt x="63" y="38"/>
                    </a:lnTo>
                    <a:lnTo>
                      <a:pt x="94" y="44"/>
                    </a:lnTo>
                    <a:lnTo>
                      <a:pt x="122" y="50"/>
                    </a:lnTo>
                    <a:lnTo>
                      <a:pt x="146" y="55"/>
                    </a:lnTo>
                    <a:lnTo>
                      <a:pt x="163" y="58"/>
                    </a:lnTo>
                    <a:lnTo>
                      <a:pt x="169" y="60"/>
                    </a:lnTo>
                    <a:lnTo>
                      <a:pt x="172" y="38"/>
                    </a:lnTo>
                    <a:lnTo>
                      <a:pt x="166" y="36"/>
                    </a:lnTo>
                    <a:lnTo>
                      <a:pt x="149" y="33"/>
                    </a:lnTo>
                    <a:lnTo>
                      <a:pt x="125" y="28"/>
                    </a:lnTo>
                    <a:lnTo>
                      <a:pt x="97" y="22"/>
                    </a:lnTo>
                    <a:lnTo>
                      <a:pt x="69" y="16"/>
                    </a:lnTo>
                    <a:lnTo>
                      <a:pt x="42" y="10"/>
                    </a:lnTo>
                    <a:lnTo>
                      <a:pt x="20" y="3"/>
                    </a:lnTo>
                    <a:lnTo>
                      <a:pt x="6" y="0"/>
                    </a:lnTo>
                    <a:lnTo>
                      <a:pt x="5" y="0"/>
                    </a:lnTo>
                    <a:lnTo>
                      <a:pt x="2" y="22"/>
                    </a:lnTo>
                    <a:close/>
                  </a:path>
                </a:pathLst>
              </a:custGeom>
              <a:solidFill>
                <a:srgbClr val="000000"/>
              </a:solidFill>
              <a:ln w="9525">
                <a:noFill/>
                <a:round/>
                <a:headEnd/>
                <a:tailEnd/>
              </a:ln>
            </p:spPr>
            <p:txBody>
              <a:bodyPr/>
              <a:lstStyle/>
              <a:p>
                <a:endParaRPr lang="en-US"/>
              </a:p>
            </p:txBody>
          </p:sp>
          <p:sp>
            <p:nvSpPr>
              <p:cNvPr id="29726" name="Freeform 219"/>
              <p:cNvSpPr>
                <a:spLocks/>
              </p:cNvSpPr>
              <p:nvPr/>
            </p:nvSpPr>
            <p:spPr bwMode="auto">
              <a:xfrm>
                <a:off x="1979" y="3627"/>
                <a:ext cx="19" cy="14"/>
              </a:xfrm>
              <a:custGeom>
                <a:avLst/>
                <a:gdLst>
                  <a:gd name="T0" fmla="*/ 1 w 38"/>
                  <a:gd name="T1" fmla="*/ 1 h 26"/>
                  <a:gd name="T2" fmla="*/ 1 w 38"/>
                  <a:gd name="T3" fmla="*/ 1 h 26"/>
                  <a:gd name="T4" fmla="*/ 1 w 38"/>
                  <a:gd name="T5" fmla="*/ 1 h 26"/>
                  <a:gd name="T6" fmla="*/ 1 w 38"/>
                  <a:gd name="T7" fmla="*/ 1 h 26"/>
                  <a:gd name="T8" fmla="*/ 1 w 38"/>
                  <a:gd name="T9" fmla="*/ 0 h 26"/>
                  <a:gd name="T10" fmla="*/ 1 w 38"/>
                  <a:gd name="T11" fmla="*/ 0 h 26"/>
                  <a:gd name="T12" fmla="*/ 1 w 38"/>
                  <a:gd name="T13" fmla="*/ 0 h 26"/>
                  <a:gd name="T14" fmla="*/ 1 w 38"/>
                  <a:gd name="T15" fmla="*/ 1 h 26"/>
                  <a:gd name="T16" fmla="*/ 0 w 38"/>
                  <a:gd name="T17" fmla="*/ 1 h 26"/>
                  <a:gd name="T18" fmla="*/ 1 w 38"/>
                  <a:gd name="T19" fmla="*/ 1 h 26"/>
                  <a:gd name="T20" fmla="*/ 1 w 38"/>
                  <a:gd name="T21" fmla="*/ 1 h 26"/>
                  <a:gd name="T22" fmla="*/ 1 w 38"/>
                  <a:gd name="T23" fmla="*/ 1 h 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
                  <a:gd name="T37" fmla="*/ 0 h 26"/>
                  <a:gd name="T38" fmla="*/ 38 w 38"/>
                  <a:gd name="T39" fmla="*/ 26 h 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 h="26">
                    <a:moveTo>
                      <a:pt x="11" y="21"/>
                    </a:moveTo>
                    <a:lnTo>
                      <a:pt x="10" y="21"/>
                    </a:lnTo>
                    <a:lnTo>
                      <a:pt x="35" y="26"/>
                    </a:lnTo>
                    <a:lnTo>
                      <a:pt x="38" y="4"/>
                    </a:lnTo>
                    <a:lnTo>
                      <a:pt x="13" y="0"/>
                    </a:lnTo>
                    <a:lnTo>
                      <a:pt x="11" y="0"/>
                    </a:lnTo>
                    <a:lnTo>
                      <a:pt x="13" y="0"/>
                    </a:lnTo>
                    <a:lnTo>
                      <a:pt x="5" y="3"/>
                    </a:lnTo>
                    <a:lnTo>
                      <a:pt x="0" y="9"/>
                    </a:lnTo>
                    <a:lnTo>
                      <a:pt x="2" y="17"/>
                    </a:lnTo>
                    <a:lnTo>
                      <a:pt x="10" y="21"/>
                    </a:lnTo>
                    <a:lnTo>
                      <a:pt x="11" y="21"/>
                    </a:lnTo>
                    <a:close/>
                  </a:path>
                </a:pathLst>
              </a:custGeom>
              <a:solidFill>
                <a:srgbClr val="000000"/>
              </a:solidFill>
              <a:ln w="9525">
                <a:noFill/>
                <a:round/>
                <a:headEnd/>
                <a:tailEnd/>
              </a:ln>
            </p:spPr>
            <p:txBody>
              <a:bodyPr/>
              <a:lstStyle/>
              <a:p>
                <a:endParaRPr lang="en-US"/>
              </a:p>
            </p:txBody>
          </p:sp>
          <p:sp>
            <p:nvSpPr>
              <p:cNvPr id="29727" name="Freeform 220"/>
              <p:cNvSpPr>
                <a:spLocks/>
              </p:cNvSpPr>
              <p:nvPr/>
            </p:nvSpPr>
            <p:spPr bwMode="auto">
              <a:xfrm>
                <a:off x="1978" y="3627"/>
                <a:ext cx="11" cy="11"/>
              </a:xfrm>
              <a:custGeom>
                <a:avLst/>
                <a:gdLst>
                  <a:gd name="T0" fmla="*/ 1 w 22"/>
                  <a:gd name="T1" fmla="*/ 1 h 21"/>
                  <a:gd name="T2" fmla="*/ 1 w 22"/>
                  <a:gd name="T3" fmla="*/ 1 h 21"/>
                  <a:gd name="T4" fmla="*/ 1 w 22"/>
                  <a:gd name="T5" fmla="*/ 1 h 21"/>
                  <a:gd name="T6" fmla="*/ 1 w 22"/>
                  <a:gd name="T7" fmla="*/ 0 h 21"/>
                  <a:gd name="T8" fmla="*/ 1 w 22"/>
                  <a:gd name="T9" fmla="*/ 0 h 21"/>
                  <a:gd name="T10" fmla="*/ 0 w 22"/>
                  <a:gd name="T11" fmla="*/ 1 h 21"/>
                  <a:gd name="T12" fmla="*/ 1 w 22"/>
                  <a:gd name="T13" fmla="*/ 0 h 21"/>
                  <a:gd name="T14" fmla="*/ 1 w 22"/>
                  <a:gd name="T15" fmla="*/ 1 h 21"/>
                  <a:gd name="T16" fmla="*/ 0 w 22"/>
                  <a:gd name="T17" fmla="*/ 1 h 21"/>
                  <a:gd name="T18" fmla="*/ 1 w 22"/>
                  <a:gd name="T19" fmla="*/ 1 h 21"/>
                  <a:gd name="T20" fmla="*/ 1 w 22"/>
                  <a:gd name="T21" fmla="*/ 1 h 21"/>
                  <a:gd name="T22" fmla="*/ 1 w 22"/>
                  <a:gd name="T23" fmla="*/ 1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22" y="7"/>
                    </a:moveTo>
                    <a:lnTo>
                      <a:pt x="11" y="21"/>
                    </a:lnTo>
                    <a:lnTo>
                      <a:pt x="14" y="21"/>
                    </a:lnTo>
                    <a:lnTo>
                      <a:pt x="14" y="0"/>
                    </a:lnTo>
                    <a:lnTo>
                      <a:pt x="11" y="0"/>
                    </a:lnTo>
                    <a:lnTo>
                      <a:pt x="0" y="14"/>
                    </a:lnTo>
                    <a:lnTo>
                      <a:pt x="11" y="0"/>
                    </a:lnTo>
                    <a:lnTo>
                      <a:pt x="3" y="3"/>
                    </a:lnTo>
                    <a:lnTo>
                      <a:pt x="0" y="10"/>
                    </a:lnTo>
                    <a:lnTo>
                      <a:pt x="3" y="18"/>
                    </a:lnTo>
                    <a:lnTo>
                      <a:pt x="11" y="21"/>
                    </a:lnTo>
                    <a:lnTo>
                      <a:pt x="22" y="7"/>
                    </a:lnTo>
                    <a:close/>
                  </a:path>
                </a:pathLst>
              </a:custGeom>
              <a:solidFill>
                <a:srgbClr val="000000"/>
              </a:solidFill>
              <a:ln w="9525">
                <a:noFill/>
                <a:round/>
                <a:headEnd/>
                <a:tailEnd/>
              </a:ln>
            </p:spPr>
            <p:txBody>
              <a:bodyPr/>
              <a:lstStyle/>
              <a:p>
                <a:endParaRPr lang="en-US"/>
              </a:p>
            </p:txBody>
          </p:sp>
          <p:sp>
            <p:nvSpPr>
              <p:cNvPr id="29728" name="Freeform 221"/>
              <p:cNvSpPr>
                <a:spLocks/>
              </p:cNvSpPr>
              <p:nvPr/>
            </p:nvSpPr>
            <p:spPr bwMode="auto">
              <a:xfrm>
                <a:off x="1978" y="3630"/>
                <a:ext cx="11" cy="11"/>
              </a:xfrm>
              <a:custGeom>
                <a:avLst/>
                <a:gdLst>
                  <a:gd name="T0" fmla="*/ 0 w 24"/>
                  <a:gd name="T1" fmla="*/ 1 h 22"/>
                  <a:gd name="T2" fmla="*/ 0 w 24"/>
                  <a:gd name="T3" fmla="*/ 1 h 22"/>
                  <a:gd name="T4" fmla="*/ 0 w 24"/>
                  <a:gd name="T5" fmla="*/ 1 h 22"/>
                  <a:gd name="T6" fmla="*/ 0 w 24"/>
                  <a:gd name="T7" fmla="*/ 1 h 22"/>
                  <a:gd name="T8" fmla="*/ 0 w 24"/>
                  <a:gd name="T9" fmla="*/ 1 h 22"/>
                  <a:gd name="T10" fmla="*/ 0 w 24"/>
                  <a:gd name="T11" fmla="*/ 0 h 22"/>
                  <a:gd name="T12" fmla="*/ 0 w 24"/>
                  <a:gd name="T13" fmla="*/ 1 h 22"/>
                  <a:gd name="T14" fmla="*/ 0 w 24"/>
                  <a:gd name="T15" fmla="*/ 1 h 22"/>
                  <a:gd name="T16" fmla="*/ 0 w 24"/>
                  <a:gd name="T17" fmla="*/ 1 h 22"/>
                  <a:gd name="T18" fmla="*/ 0 w 24"/>
                  <a:gd name="T19" fmla="*/ 1 h 22"/>
                  <a:gd name="T20" fmla="*/ 0 w 24"/>
                  <a:gd name="T21" fmla="*/ 1 h 22"/>
                  <a:gd name="T22" fmla="*/ 0 w 24"/>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4"/>
                  <a:gd name="T37" fmla="*/ 0 h 22"/>
                  <a:gd name="T38" fmla="*/ 24 w 24"/>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4" h="22">
                    <a:moveTo>
                      <a:pt x="16" y="22"/>
                    </a:moveTo>
                    <a:lnTo>
                      <a:pt x="24" y="8"/>
                    </a:lnTo>
                    <a:lnTo>
                      <a:pt x="22" y="1"/>
                    </a:lnTo>
                    <a:lnTo>
                      <a:pt x="0" y="8"/>
                    </a:lnTo>
                    <a:lnTo>
                      <a:pt x="2" y="14"/>
                    </a:lnTo>
                    <a:lnTo>
                      <a:pt x="9" y="0"/>
                    </a:lnTo>
                    <a:lnTo>
                      <a:pt x="2" y="14"/>
                    </a:lnTo>
                    <a:lnTo>
                      <a:pt x="6" y="20"/>
                    </a:lnTo>
                    <a:lnTo>
                      <a:pt x="16" y="22"/>
                    </a:lnTo>
                    <a:lnTo>
                      <a:pt x="22" y="17"/>
                    </a:lnTo>
                    <a:lnTo>
                      <a:pt x="24" y="8"/>
                    </a:lnTo>
                    <a:lnTo>
                      <a:pt x="16" y="22"/>
                    </a:lnTo>
                    <a:close/>
                  </a:path>
                </a:pathLst>
              </a:custGeom>
              <a:solidFill>
                <a:srgbClr val="000000"/>
              </a:solidFill>
              <a:ln w="9525">
                <a:noFill/>
                <a:round/>
                <a:headEnd/>
                <a:tailEnd/>
              </a:ln>
            </p:spPr>
            <p:txBody>
              <a:bodyPr/>
              <a:lstStyle/>
              <a:p>
                <a:endParaRPr lang="en-US"/>
              </a:p>
            </p:txBody>
          </p:sp>
          <p:sp>
            <p:nvSpPr>
              <p:cNvPr id="29729" name="Freeform 222"/>
              <p:cNvSpPr>
                <a:spLocks/>
              </p:cNvSpPr>
              <p:nvPr/>
            </p:nvSpPr>
            <p:spPr bwMode="auto">
              <a:xfrm>
                <a:off x="1976" y="3630"/>
                <a:ext cx="9" cy="12"/>
              </a:xfrm>
              <a:custGeom>
                <a:avLst/>
                <a:gdLst>
                  <a:gd name="T0" fmla="*/ 0 w 19"/>
                  <a:gd name="T1" fmla="*/ 1 h 23"/>
                  <a:gd name="T2" fmla="*/ 0 w 19"/>
                  <a:gd name="T3" fmla="*/ 1 h 23"/>
                  <a:gd name="T4" fmla="*/ 0 w 19"/>
                  <a:gd name="T5" fmla="*/ 1 h 23"/>
                  <a:gd name="T6" fmla="*/ 0 w 19"/>
                  <a:gd name="T7" fmla="*/ 0 h 23"/>
                  <a:gd name="T8" fmla="*/ 0 w 19"/>
                  <a:gd name="T9" fmla="*/ 1 h 23"/>
                  <a:gd name="T10" fmla="*/ 0 w 19"/>
                  <a:gd name="T11" fmla="*/ 1 h 23"/>
                  <a:gd name="T12" fmla="*/ 0 w 19"/>
                  <a:gd name="T13" fmla="*/ 1 h 23"/>
                  <a:gd name="T14" fmla="*/ 0 w 19"/>
                  <a:gd name="T15" fmla="*/ 1 h 23"/>
                  <a:gd name="T16" fmla="*/ 0 w 19"/>
                  <a:gd name="T17" fmla="*/ 1 h 23"/>
                  <a:gd name="T18" fmla="*/ 0 w 19"/>
                  <a:gd name="T19" fmla="*/ 1 h 23"/>
                  <a:gd name="T20" fmla="*/ 0 w 19"/>
                  <a:gd name="T21" fmla="*/ 1 h 23"/>
                  <a:gd name="T22" fmla="*/ 0 w 19"/>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3"/>
                  <a:gd name="T38" fmla="*/ 19 w 19"/>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3">
                    <a:moveTo>
                      <a:pt x="8" y="23"/>
                    </a:moveTo>
                    <a:lnTo>
                      <a:pt x="14" y="23"/>
                    </a:lnTo>
                    <a:lnTo>
                      <a:pt x="19" y="22"/>
                    </a:lnTo>
                    <a:lnTo>
                      <a:pt x="12" y="0"/>
                    </a:lnTo>
                    <a:lnTo>
                      <a:pt x="8" y="1"/>
                    </a:lnTo>
                    <a:lnTo>
                      <a:pt x="14" y="1"/>
                    </a:lnTo>
                    <a:lnTo>
                      <a:pt x="8" y="1"/>
                    </a:lnTo>
                    <a:lnTo>
                      <a:pt x="2" y="6"/>
                    </a:lnTo>
                    <a:lnTo>
                      <a:pt x="0" y="14"/>
                    </a:lnTo>
                    <a:lnTo>
                      <a:pt x="5" y="22"/>
                    </a:lnTo>
                    <a:lnTo>
                      <a:pt x="14" y="23"/>
                    </a:lnTo>
                    <a:lnTo>
                      <a:pt x="8" y="23"/>
                    </a:lnTo>
                    <a:close/>
                  </a:path>
                </a:pathLst>
              </a:custGeom>
              <a:solidFill>
                <a:srgbClr val="000000"/>
              </a:solidFill>
              <a:ln w="9525">
                <a:noFill/>
                <a:round/>
                <a:headEnd/>
                <a:tailEnd/>
              </a:ln>
            </p:spPr>
            <p:txBody>
              <a:bodyPr/>
              <a:lstStyle/>
              <a:p>
                <a:endParaRPr lang="en-US"/>
              </a:p>
            </p:txBody>
          </p:sp>
          <p:sp>
            <p:nvSpPr>
              <p:cNvPr id="29730" name="Freeform 223"/>
              <p:cNvSpPr>
                <a:spLocks/>
              </p:cNvSpPr>
              <p:nvPr/>
            </p:nvSpPr>
            <p:spPr bwMode="auto">
              <a:xfrm>
                <a:off x="1970" y="3630"/>
                <a:ext cx="13" cy="12"/>
              </a:xfrm>
              <a:custGeom>
                <a:avLst/>
                <a:gdLst>
                  <a:gd name="T0" fmla="*/ 0 w 27"/>
                  <a:gd name="T1" fmla="*/ 0 h 25"/>
                  <a:gd name="T2" fmla="*/ 0 w 27"/>
                  <a:gd name="T3" fmla="*/ 0 h 25"/>
                  <a:gd name="T4" fmla="*/ 0 w 27"/>
                  <a:gd name="T5" fmla="*/ 0 h 25"/>
                  <a:gd name="T6" fmla="*/ 0 w 27"/>
                  <a:gd name="T7" fmla="*/ 0 h 25"/>
                  <a:gd name="T8" fmla="*/ 0 w 27"/>
                  <a:gd name="T9" fmla="*/ 0 h 25"/>
                  <a:gd name="T10" fmla="*/ 0 w 27"/>
                  <a:gd name="T11" fmla="*/ 0 h 25"/>
                  <a:gd name="T12" fmla="*/ 0 w 27"/>
                  <a:gd name="T13" fmla="*/ 0 h 25"/>
                  <a:gd name="T14" fmla="*/ 0 w 27"/>
                  <a:gd name="T15" fmla="*/ 0 h 25"/>
                  <a:gd name="T16" fmla="*/ 0 w 27"/>
                  <a:gd name="T17" fmla="*/ 0 h 25"/>
                  <a:gd name="T18" fmla="*/ 0 w 27"/>
                  <a:gd name="T19" fmla="*/ 0 h 25"/>
                  <a:gd name="T20" fmla="*/ 0 w 27"/>
                  <a:gd name="T21" fmla="*/ 0 h 25"/>
                  <a:gd name="T22" fmla="*/ 0 w 27"/>
                  <a:gd name="T23" fmla="*/ 0 h 25"/>
                  <a:gd name="T24" fmla="*/ 0 w 27"/>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7"/>
                  <a:gd name="T40" fmla="*/ 0 h 25"/>
                  <a:gd name="T41" fmla="*/ 27 w 27"/>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7" h="25">
                    <a:moveTo>
                      <a:pt x="0" y="6"/>
                    </a:moveTo>
                    <a:lnTo>
                      <a:pt x="0" y="5"/>
                    </a:lnTo>
                    <a:lnTo>
                      <a:pt x="7" y="14"/>
                    </a:lnTo>
                    <a:lnTo>
                      <a:pt x="11" y="19"/>
                    </a:lnTo>
                    <a:lnTo>
                      <a:pt x="18" y="24"/>
                    </a:lnTo>
                    <a:lnTo>
                      <a:pt x="21" y="25"/>
                    </a:lnTo>
                    <a:lnTo>
                      <a:pt x="27" y="3"/>
                    </a:lnTo>
                    <a:lnTo>
                      <a:pt x="27" y="5"/>
                    </a:lnTo>
                    <a:lnTo>
                      <a:pt x="24" y="3"/>
                    </a:lnTo>
                    <a:lnTo>
                      <a:pt x="22" y="2"/>
                    </a:lnTo>
                    <a:lnTo>
                      <a:pt x="22" y="0"/>
                    </a:lnTo>
                    <a:lnTo>
                      <a:pt x="0" y="6"/>
                    </a:lnTo>
                    <a:close/>
                  </a:path>
                </a:pathLst>
              </a:custGeom>
              <a:solidFill>
                <a:srgbClr val="000000"/>
              </a:solidFill>
              <a:ln w="9525">
                <a:noFill/>
                <a:round/>
                <a:headEnd/>
                <a:tailEnd/>
              </a:ln>
            </p:spPr>
            <p:txBody>
              <a:bodyPr/>
              <a:lstStyle/>
              <a:p>
                <a:endParaRPr lang="en-US"/>
              </a:p>
            </p:txBody>
          </p:sp>
          <p:sp>
            <p:nvSpPr>
              <p:cNvPr id="29731" name="Freeform 224"/>
              <p:cNvSpPr>
                <a:spLocks/>
              </p:cNvSpPr>
              <p:nvPr/>
            </p:nvSpPr>
            <p:spPr bwMode="auto">
              <a:xfrm>
                <a:off x="1968" y="3620"/>
                <a:ext cx="13" cy="13"/>
              </a:xfrm>
              <a:custGeom>
                <a:avLst/>
                <a:gdLst>
                  <a:gd name="T0" fmla="*/ 1 w 25"/>
                  <a:gd name="T1" fmla="*/ 0 h 25"/>
                  <a:gd name="T2" fmla="*/ 1 w 25"/>
                  <a:gd name="T3" fmla="*/ 1 h 25"/>
                  <a:gd name="T4" fmla="*/ 1 w 25"/>
                  <a:gd name="T5" fmla="*/ 1 h 25"/>
                  <a:gd name="T6" fmla="*/ 0 w 25"/>
                  <a:gd name="T7" fmla="*/ 1 h 25"/>
                  <a:gd name="T8" fmla="*/ 1 w 25"/>
                  <a:gd name="T9" fmla="*/ 1 h 25"/>
                  <a:gd name="T10" fmla="*/ 1 w 25"/>
                  <a:gd name="T11" fmla="*/ 1 h 25"/>
                  <a:gd name="T12" fmla="*/ 1 w 25"/>
                  <a:gd name="T13" fmla="*/ 1 h 25"/>
                  <a:gd name="T14" fmla="*/ 1 w 25"/>
                  <a:gd name="T15" fmla="*/ 1 h 25"/>
                  <a:gd name="T16" fmla="*/ 1 w 25"/>
                  <a:gd name="T17" fmla="*/ 1 h 25"/>
                  <a:gd name="T18" fmla="*/ 1 w 25"/>
                  <a:gd name="T19" fmla="*/ 1 h 25"/>
                  <a:gd name="T20" fmla="*/ 1 w 25"/>
                  <a:gd name="T21" fmla="*/ 1 h 25"/>
                  <a:gd name="T22" fmla="*/ 1 w 25"/>
                  <a:gd name="T23" fmla="*/ 1 h 25"/>
                  <a:gd name="T24" fmla="*/ 1 w 25"/>
                  <a:gd name="T25" fmla="*/ 0 h 2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25"/>
                  <a:gd name="T41" fmla="*/ 25 w 25"/>
                  <a:gd name="T42" fmla="*/ 25 h 2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25">
                    <a:moveTo>
                      <a:pt x="10" y="0"/>
                    </a:moveTo>
                    <a:lnTo>
                      <a:pt x="8" y="2"/>
                    </a:lnTo>
                    <a:lnTo>
                      <a:pt x="2" y="8"/>
                    </a:lnTo>
                    <a:lnTo>
                      <a:pt x="0" y="18"/>
                    </a:lnTo>
                    <a:lnTo>
                      <a:pt x="2" y="22"/>
                    </a:lnTo>
                    <a:lnTo>
                      <a:pt x="3" y="25"/>
                    </a:lnTo>
                    <a:lnTo>
                      <a:pt x="25" y="19"/>
                    </a:lnTo>
                    <a:lnTo>
                      <a:pt x="24" y="13"/>
                    </a:lnTo>
                    <a:lnTo>
                      <a:pt x="22" y="11"/>
                    </a:lnTo>
                    <a:lnTo>
                      <a:pt x="21" y="18"/>
                    </a:lnTo>
                    <a:lnTo>
                      <a:pt x="18" y="21"/>
                    </a:lnTo>
                    <a:lnTo>
                      <a:pt x="16" y="22"/>
                    </a:lnTo>
                    <a:lnTo>
                      <a:pt x="10" y="0"/>
                    </a:lnTo>
                    <a:close/>
                  </a:path>
                </a:pathLst>
              </a:custGeom>
              <a:solidFill>
                <a:srgbClr val="000000"/>
              </a:solidFill>
              <a:ln w="9525">
                <a:noFill/>
                <a:round/>
                <a:headEnd/>
                <a:tailEnd/>
              </a:ln>
            </p:spPr>
            <p:txBody>
              <a:bodyPr/>
              <a:lstStyle/>
              <a:p>
                <a:endParaRPr lang="en-US"/>
              </a:p>
            </p:txBody>
          </p:sp>
          <p:sp>
            <p:nvSpPr>
              <p:cNvPr id="29732" name="Freeform 225"/>
              <p:cNvSpPr>
                <a:spLocks/>
              </p:cNvSpPr>
              <p:nvPr/>
            </p:nvSpPr>
            <p:spPr bwMode="auto">
              <a:xfrm>
                <a:off x="1970" y="3616"/>
                <a:ext cx="11" cy="15"/>
              </a:xfrm>
              <a:custGeom>
                <a:avLst/>
                <a:gdLst>
                  <a:gd name="T0" fmla="*/ 1 w 22"/>
                  <a:gd name="T1" fmla="*/ 0 h 31"/>
                  <a:gd name="T2" fmla="*/ 1 w 22"/>
                  <a:gd name="T3" fmla="*/ 0 h 31"/>
                  <a:gd name="T4" fmla="*/ 1 w 22"/>
                  <a:gd name="T5" fmla="*/ 0 h 31"/>
                  <a:gd name="T6" fmla="*/ 0 w 22"/>
                  <a:gd name="T7" fmla="*/ 0 h 31"/>
                  <a:gd name="T8" fmla="*/ 1 w 22"/>
                  <a:gd name="T9" fmla="*/ 0 h 31"/>
                  <a:gd name="T10" fmla="*/ 1 w 22"/>
                  <a:gd name="T11" fmla="*/ 0 h 31"/>
                  <a:gd name="T12" fmla="*/ 1 w 22"/>
                  <a:gd name="T13" fmla="*/ 0 h 31"/>
                  <a:gd name="T14" fmla="*/ 1 w 22"/>
                  <a:gd name="T15" fmla="*/ 0 h 31"/>
                  <a:gd name="T16" fmla="*/ 1 w 22"/>
                  <a:gd name="T17" fmla="*/ 0 h 31"/>
                  <a:gd name="T18" fmla="*/ 1 w 22"/>
                  <a:gd name="T19" fmla="*/ 0 h 31"/>
                  <a:gd name="T20" fmla="*/ 1 w 22"/>
                  <a:gd name="T21" fmla="*/ 0 h 31"/>
                  <a:gd name="T22" fmla="*/ 1 w 22"/>
                  <a:gd name="T23" fmla="*/ 0 h 31"/>
                  <a:gd name="T24" fmla="*/ 1 w 22"/>
                  <a:gd name="T25" fmla="*/ 0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1"/>
                  <a:gd name="T41" fmla="*/ 22 w 22"/>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1">
                    <a:moveTo>
                      <a:pt x="9" y="0"/>
                    </a:moveTo>
                    <a:lnTo>
                      <a:pt x="9" y="0"/>
                    </a:lnTo>
                    <a:lnTo>
                      <a:pt x="3" y="5"/>
                    </a:lnTo>
                    <a:lnTo>
                      <a:pt x="0" y="13"/>
                    </a:lnTo>
                    <a:lnTo>
                      <a:pt x="2" y="14"/>
                    </a:lnTo>
                    <a:lnTo>
                      <a:pt x="5" y="9"/>
                    </a:lnTo>
                    <a:lnTo>
                      <a:pt x="11" y="31"/>
                    </a:lnTo>
                    <a:lnTo>
                      <a:pt x="20" y="24"/>
                    </a:lnTo>
                    <a:lnTo>
                      <a:pt x="22" y="16"/>
                    </a:lnTo>
                    <a:lnTo>
                      <a:pt x="22" y="17"/>
                    </a:lnTo>
                    <a:lnTo>
                      <a:pt x="19" y="19"/>
                    </a:lnTo>
                    <a:lnTo>
                      <a:pt x="9" y="0"/>
                    </a:lnTo>
                    <a:close/>
                  </a:path>
                </a:pathLst>
              </a:custGeom>
              <a:solidFill>
                <a:srgbClr val="000000"/>
              </a:solidFill>
              <a:ln w="9525">
                <a:noFill/>
                <a:round/>
                <a:headEnd/>
                <a:tailEnd/>
              </a:ln>
            </p:spPr>
            <p:txBody>
              <a:bodyPr/>
              <a:lstStyle/>
              <a:p>
                <a:endParaRPr lang="en-US"/>
              </a:p>
            </p:txBody>
          </p:sp>
          <p:sp>
            <p:nvSpPr>
              <p:cNvPr id="29733" name="Freeform 226"/>
              <p:cNvSpPr>
                <a:spLocks/>
              </p:cNvSpPr>
              <p:nvPr/>
            </p:nvSpPr>
            <p:spPr bwMode="auto">
              <a:xfrm>
                <a:off x="1975" y="3608"/>
                <a:ext cx="11" cy="17"/>
              </a:xfrm>
              <a:custGeom>
                <a:avLst/>
                <a:gdLst>
                  <a:gd name="T0" fmla="*/ 1 w 22"/>
                  <a:gd name="T1" fmla="*/ 0 h 33"/>
                  <a:gd name="T2" fmla="*/ 1 w 22"/>
                  <a:gd name="T3" fmla="*/ 0 h 33"/>
                  <a:gd name="T4" fmla="*/ 1 w 22"/>
                  <a:gd name="T5" fmla="*/ 1 h 33"/>
                  <a:gd name="T6" fmla="*/ 1 w 22"/>
                  <a:gd name="T7" fmla="*/ 1 h 33"/>
                  <a:gd name="T8" fmla="*/ 0 w 22"/>
                  <a:gd name="T9" fmla="*/ 1 h 33"/>
                  <a:gd name="T10" fmla="*/ 0 w 22"/>
                  <a:gd name="T11" fmla="*/ 1 h 33"/>
                  <a:gd name="T12" fmla="*/ 1 w 22"/>
                  <a:gd name="T13" fmla="*/ 1 h 33"/>
                  <a:gd name="T14" fmla="*/ 1 w 22"/>
                  <a:gd name="T15" fmla="*/ 1 h 33"/>
                  <a:gd name="T16" fmla="*/ 1 w 22"/>
                  <a:gd name="T17" fmla="*/ 1 h 33"/>
                  <a:gd name="T18" fmla="*/ 1 w 22"/>
                  <a:gd name="T19" fmla="*/ 1 h 33"/>
                  <a:gd name="T20" fmla="*/ 1 w 22"/>
                  <a:gd name="T21" fmla="*/ 1 h 33"/>
                  <a:gd name="T22" fmla="*/ 1 w 22"/>
                  <a:gd name="T23" fmla="*/ 1 h 33"/>
                  <a:gd name="T24" fmla="*/ 1 w 22"/>
                  <a:gd name="T25" fmla="*/ 0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3"/>
                  <a:gd name="T41" fmla="*/ 22 w 22"/>
                  <a:gd name="T42" fmla="*/ 33 h 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3">
                    <a:moveTo>
                      <a:pt x="19" y="0"/>
                    </a:moveTo>
                    <a:lnTo>
                      <a:pt x="16" y="0"/>
                    </a:lnTo>
                    <a:lnTo>
                      <a:pt x="10" y="6"/>
                    </a:lnTo>
                    <a:lnTo>
                      <a:pt x="5" y="9"/>
                    </a:lnTo>
                    <a:lnTo>
                      <a:pt x="0" y="12"/>
                    </a:lnTo>
                    <a:lnTo>
                      <a:pt x="0" y="14"/>
                    </a:lnTo>
                    <a:lnTo>
                      <a:pt x="10" y="33"/>
                    </a:lnTo>
                    <a:lnTo>
                      <a:pt x="16" y="28"/>
                    </a:lnTo>
                    <a:lnTo>
                      <a:pt x="18" y="25"/>
                    </a:lnTo>
                    <a:lnTo>
                      <a:pt x="22" y="22"/>
                    </a:lnTo>
                    <a:lnTo>
                      <a:pt x="19" y="22"/>
                    </a:lnTo>
                    <a:lnTo>
                      <a:pt x="19" y="0"/>
                    </a:lnTo>
                    <a:close/>
                  </a:path>
                </a:pathLst>
              </a:custGeom>
              <a:solidFill>
                <a:srgbClr val="000000"/>
              </a:solidFill>
              <a:ln w="9525">
                <a:noFill/>
                <a:round/>
                <a:headEnd/>
                <a:tailEnd/>
              </a:ln>
            </p:spPr>
            <p:txBody>
              <a:bodyPr/>
              <a:lstStyle/>
              <a:p>
                <a:endParaRPr lang="en-US"/>
              </a:p>
            </p:txBody>
          </p:sp>
          <p:sp>
            <p:nvSpPr>
              <p:cNvPr id="29734" name="Freeform 227"/>
              <p:cNvSpPr>
                <a:spLocks/>
              </p:cNvSpPr>
              <p:nvPr/>
            </p:nvSpPr>
            <p:spPr bwMode="auto">
              <a:xfrm>
                <a:off x="1982" y="3602"/>
                <a:ext cx="11" cy="17"/>
              </a:xfrm>
              <a:custGeom>
                <a:avLst/>
                <a:gdLst>
                  <a:gd name="T0" fmla="*/ 1 w 22"/>
                  <a:gd name="T1" fmla="*/ 0 h 35"/>
                  <a:gd name="T2" fmla="*/ 1 w 22"/>
                  <a:gd name="T3" fmla="*/ 0 h 35"/>
                  <a:gd name="T4" fmla="*/ 1 w 22"/>
                  <a:gd name="T5" fmla="*/ 0 h 35"/>
                  <a:gd name="T6" fmla="*/ 1 w 22"/>
                  <a:gd name="T7" fmla="*/ 0 h 35"/>
                  <a:gd name="T8" fmla="*/ 0 w 22"/>
                  <a:gd name="T9" fmla="*/ 0 h 35"/>
                  <a:gd name="T10" fmla="*/ 1 w 22"/>
                  <a:gd name="T11" fmla="*/ 0 h 35"/>
                  <a:gd name="T12" fmla="*/ 1 w 22"/>
                  <a:gd name="T13" fmla="*/ 0 h 35"/>
                  <a:gd name="T14" fmla="*/ 1 w 22"/>
                  <a:gd name="T15" fmla="*/ 0 h 35"/>
                  <a:gd name="T16" fmla="*/ 1 w 22"/>
                  <a:gd name="T17" fmla="*/ 0 h 35"/>
                  <a:gd name="T18" fmla="*/ 1 w 22"/>
                  <a:gd name="T19" fmla="*/ 0 h 35"/>
                  <a:gd name="T20" fmla="*/ 1 w 22"/>
                  <a:gd name="T21" fmla="*/ 0 h 35"/>
                  <a:gd name="T22" fmla="*/ 1 w 22"/>
                  <a:gd name="T23" fmla="*/ 0 h 35"/>
                  <a:gd name="T24" fmla="*/ 1 w 22"/>
                  <a:gd name="T25" fmla="*/ 0 h 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35"/>
                  <a:gd name="T41" fmla="*/ 22 w 22"/>
                  <a:gd name="T42" fmla="*/ 35 h 3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35">
                    <a:moveTo>
                      <a:pt x="13" y="0"/>
                    </a:moveTo>
                    <a:lnTo>
                      <a:pt x="13" y="0"/>
                    </a:lnTo>
                    <a:lnTo>
                      <a:pt x="4" y="8"/>
                    </a:lnTo>
                    <a:lnTo>
                      <a:pt x="2" y="11"/>
                    </a:lnTo>
                    <a:lnTo>
                      <a:pt x="0" y="15"/>
                    </a:lnTo>
                    <a:lnTo>
                      <a:pt x="5" y="13"/>
                    </a:lnTo>
                    <a:lnTo>
                      <a:pt x="5" y="35"/>
                    </a:lnTo>
                    <a:lnTo>
                      <a:pt x="16" y="30"/>
                    </a:lnTo>
                    <a:lnTo>
                      <a:pt x="21" y="24"/>
                    </a:lnTo>
                    <a:lnTo>
                      <a:pt x="22" y="21"/>
                    </a:lnTo>
                    <a:lnTo>
                      <a:pt x="19" y="22"/>
                    </a:lnTo>
                    <a:lnTo>
                      <a:pt x="13" y="0"/>
                    </a:lnTo>
                    <a:close/>
                  </a:path>
                </a:pathLst>
              </a:custGeom>
              <a:solidFill>
                <a:srgbClr val="000000"/>
              </a:solidFill>
              <a:ln w="9525">
                <a:noFill/>
                <a:round/>
                <a:headEnd/>
                <a:tailEnd/>
              </a:ln>
            </p:spPr>
            <p:txBody>
              <a:bodyPr/>
              <a:lstStyle/>
              <a:p>
                <a:endParaRPr lang="en-US"/>
              </a:p>
            </p:txBody>
          </p:sp>
          <p:sp>
            <p:nvSpPr>
              <p:cNvPr id="29735" name="Freeform 228"/>
              <p:cNvSpPr>
                <a:spLocks/>
              </p:cNvSpPr>
              <p:nvPr/>
            </p:nvSpPr>
            <p:spPr bwMode="auto">
              <a:xfrm>
                <a:off x="1989" y="3602"/>
                <a:ext cx="21" cy="17"/>
              </a:xfrm>
              <a:custGeom>
                <a:avLst/>
                <a:gdLst>
                  <a:gd name="T0" fmla="*/ 0 w 44"/>
                  <a:gd name="T1" fmla="*/ 1 h 33"/>
                  <a:gd name="T2" fmla="*/ 0 w 44"/>
                  <a:gd name="T3" fmla="*/ 1 h 33"/>
                  <a:gd name="T4" fmla="*/ 0 w 44"/>
                  <a:gd name="T5" fmla="*/ 1 h 33"/>
                  <a:gd name="T6" fmla="*/ 0 w 44"/>
                  <a:gd name="T7" fmla="*/ 1 h 33"/>
                  <a:gd name="T8" fmla="*/ 0 w 44"/>
                  <a:gd name="T9" fmla="*/ 1 h 33"/>
                  <a:gd name="T10" fmla="*/ 0 w 44"/>
                  <a:gd name="T11" fmla="*/ 0 h 33"/>
                  <a:gd name="T12" fmla="*/ 0 w 44"/>
                  <a:gd name="T13" fmla="*/ 1 h 33"/>
                  <a:gd name="T14" fmla="*/ 0 w 44"/>
                  <a:gd name="T15" fmla="*/ 1 h 33"/>
                  <a:gd name="T16" fmla="*/ 0 w 44"/>
                  <a:gd name="T17" fmla="*/ 1 h 33"/>
                  <a:gd name="T18" fmla="*/ 0 w 44"/>
                  <a:gd name="T19" fmla="*/ 1 h 33"/>
                  <a:gd name="T20" fmla="*/ 0 w 44"/>
                  <a:gd name="T21" fmla="*/ 1 h 33"/>
                  <a:gd name="T22" fmla="*/ 0 w 44"/>
                  <a:gd name="T23" fmla="*/ 1 h 33"/>
                  <a:gd name="T24" fmla="*/ 0 w 44"/>
                  <a:gd name="T25" fmla="*/ 1 h 33"/>
                  <a:gd name="T26" fmla="*/ 0 w 44"/>
                  <a:gd name="T27" fmla="*/ 1 h 33"/>
                  <a:gd name="T28" fmla="*/ 0 w 44"/>
                  <a:gd name="T29" fmla="*/ 1 h 33"/>
                  <a:gd name="T30" fmla="*/ 0 w 44"/>
                  <a:gd name="T31" fmla="*/ 1 h 33"/>
                  <a:gd name="T32" fmla="*/ 0 w 44"/>
                  <a:gd name="T33" fmla="*/ 1 h 33"/>
                  <a:gd name="T34" fmla="*/ 0 w 44"/>
                  <a:gd name="T35" fmla="*/ 1 h 3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4"/>
                  <a:gd name="T55" fmla="*/ 0 h 33"/>
                  <a:gd name="T56" fmla="*/ 44 w 44"/>
                  <a:gd name="T57" fmla="*/ 33 h 3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4" h="33">
                    <a:moveTo>
                      <a:pt x="25" y="32"/>
                    </a:moveTo>
                    <a:lnTo>
                      <a:pt x="38" y="15"/>
                    </a:lnTo>
                    <a:lnTo>
                      <a:pt x="33" y="13"/>
                    </a:lnTo>
                    <a:lnTo>
                      <a:pt x="25" y="8"/>
                    </a:lnTo>
                    <a:lnTo>
                      <a:pt x="13" y="2"/>
                    </a:lnTo>
                    <a:lnTo>
                      <a:pt x="0" y="0"/>
                    </a:lnTo>
                    <a:lnTo>
                      <a:pt x="6" y="22"/>
                    </a:lnTo>
                    <a:lnTo>
                      <a:pt x="6" y="24"/>
                    </a:lnTo>
                    <a:lnTo>
                      <a:pt x="16" y="27"/>
                    </a:lnTo>
                    <a:lnTo>
                      <a:pt x="23" y="32"/>
                    </a:lnTo>
                    <a:lnTo>
                      <a:pt x="28" y="33"/>
                    </a:lnTo>
                    <a:lnTo>
                      <a:pt x="41" y="16"/>
                    </a:lnTo>
                    <a:lnTo>
                      <a:pt x="28" y="33"/>
                    </a:lnTo>
                    <a:lnTo>
                      <a:pt x="36" y="33"/>
                    </a:lnTo>
                    <a:lnTo>
                      <a:pt x="42" y="29"/>
                    </a:lnTo>
                    <a:lnTo>
                      <a:pt x="44" y="21"/>
                    </a:lnTo>
                    <a:lnTo>
                      <a:pt x="38" y="15"/>
                    </a:lnTo>
                    <a:lnTo>
                      <a:pt x="25" y="32"/>
                    </a:lnTo>
                    <a:close/>
                  </a:path>
                </a:pathLst>
              </a:custGeom>
              <a:solidFill>
                <a:srgbClr val="000000"/>
              </a:solidFill>
              <a:ln w="9525">
                <a:noFill/>
                <a:round/>
                <a:headEnd/>
                <a:tailEnd/>
              </a:ln>
            </p:spPr>
            <p:txBody>
              <a:bodyPr/>
              <a:lstStyle/>
              <a:p>
                <a:endParaRPr lang="en-US"/>
              </a:p>
            </p:txBody>
          </p:sp>
          <p:sp>
            <p:nvSpPr>
              <p:cNvPr id="29736" name="Freeform 229"/>
              <p:cNvSpPr>
                <a:spLocks/>
              </p:cNvSpPr>
              <p:nvPr/>
            </p:nvSpPr>
            <p:spPr bwMode="auto">
              <a:xfrm>
                <a:off x="1998" y="3607"/>
                <a:ext cx="11" cy="11"/>
              </a:xfrm>
              <a:custGeom>
                <a:avLst/>
                <a:gdLst>
                  <a:gd name="T0" fmla="*/ 0 w 22"/>
                  <a:gd name="T1" fmla="*/ 1 h 22"/>
                  <a:gd name="T2" fmla="*/ 1 w 22"/>
                  <a:gd name="T3" fmla="*/ 1 h 22"/>
                  <a:gd name="T4" fmla="*/ 1 w 22"/>
                  <a:gd name="T5" fmla="*/ 1 h 22"/>
                  <a:gd name="T6" fmla="*/ 1 w 22"/>
                  <a:gd name="T7" fmla="*/ 1 h 22"/>
                  <a:gd name="T8" fmla="*/ 1 w 22"/>
                  <a:gd name="T9" fmla="*/ 1 h 22"/>
                  <a:gd name="T10" fmla="*/ 1 w 22"/>
                  <a:gd name="T11" fmla="*/ 1 h 22"/>
                  <a:gd name="T12" fmla="*/ 1 w 22"/>
                  <a:gd name="T13" fmla="*/ 1 h 22"/>
                  <a:gd name="T14" fmla="*/ 1 w 22"/>
                  <a:gd name="T15" fmla="*/ 0 h 22"/>
                  <a:gd name="T16" fmla="*/ 1 w 22"/>
                  <a:gd name="T17" fmla="*/ 1 h 22"/>
                  <a:gd name="T18" fmla="*/ 0 w 22"/>
                  <a:gd name="T19" fmla="*/ 1 h 22"/>
                  <a:gd name="T20" fmla="*/ 1 w 22"/>
                  <a:gd name="T21" fmla="*/ 1 h 22"/>
                  <a:gd name="T22" fmla="*/ 0 w 22"/>
                  <a:gd name="T23" fmla="*/ 1 h 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2"/>
                  <a:gd name="T38" fmla="*/ 22 w 22"/>
                  <a:gd name="T39" fmla="*/ 22 h 2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2">
                    <a:moveTo>
                      <a:pt x="0" y="9"/>
                    </a:moveTo>
                    <a:lnTo>
                      <a:pt x="3" y="19"/>
                    </a:lnTo>
                    <a:lnTo>
                      <a:pt x="6" y="22"/>
                    </a:lnTo>
                    <a:lnTo>
                      <a:pt x="22" y="6"/>
                    </a:lnTo>
                    <a:lnTo>
                      <a:pt x="19" y="3"/>
                    </a:lnTo>
                    <a:lnTo>
                      <a:pt x="22" y="12"/>
                    </a:lnTo>
                    <a:lnTo>
                      <a:pt x="19" y="3"/>
                    </a:lnTo>
                    <a:lnTo>
                      <a:pt x="11" y="0"/>
                    </a:lnTo>
                    <a:lnTo>
                      <a:pt x="4" y="3"/>
                    </a:lnTo>
                    <a:lnTo>
                      <a:pt x="0" y="11"/>
                    </a:lnTo>
                    <a:lnTo>
                      <a:pt x="3" y="19"/>
                    </a:lnTo>
                    <a:lnTo>
                      <a:pt x="0" y="9"/>
                    </a:lnTo>
                    <a:close/>
                  </a:path>
                </a:pathLst>
              </a:custGeom>
              <a:solidFill>
                <a:srgbClr val="000000"/>
              </a:solidFill>
              <a:ln w="9525">
                <a:noFill/>
                <a:round/>
                <a:headEnd/>
                <a:tailEnd/>
              </a:ln>
            </p:spPr>
            <p:txBody>
              <a:bodyPr/>
              <a:lstStyle/>
              <a:p>
                <a:endParaRPr lang="en-US"/>
              </a:p>
            </p:txBody>
          </p:sp>
          <p:sp>
            <p:nvSpPr>
              <p:cNvPr id="29737" name="Freeform 230"/>
              <p:cNvSpPr>
                <a:spLocks/>
              </p:cNvSpPr>
              <p:nvPr/>
            </p:nvSpPr>
            <p:spPr bwMode="auto">
              <a:xfrm>
                <a:off x="1998" y="3601"/>
                <a:ext cx="12" cy="12"/>
              </a:xfrm>
              <a:custGeom>
                <a:avLst/>
                <a:gdLst>
                  <a:gd name="T0" fmla="*/ 1 w 23"/>
                  <a:gd name="T1" fmla="*/ 1 h 23"/>
                  <a:gd name="T2" fmla="*/ 1 w 23"/>
                  <a:gd name="T3" fmla="*/ 1 h 23"/>
                  <a:gd name="T4" fmla="*/ 0 w 23"/>
                  <a:gd name="T5" fmla="*/ 1 h 23"/>
                  <a:gd name="T6" fmla="*/ 1 w 23"/>
                  <a:gd name="T7" fmla="*/ 1 h 23"/>
                  <a:gd name="T8" fmla="*/ 1 w 23"/>
                  <a:gd name="T9" fmla="*/ 1 h 23"/>
                  <a:gd name="T10" fmla="*/ 1 w 23"/>
                  <a:gd name="T11" fmla="*/ 1 h 23"/>
                  <a:gd name="T12" fmla="*/ 1 w 23"/>
                  <a:gd name="T13" fmla="*/ 1 h 23"/>
                  <a:gd name="T14" fmla="*/ 1 w 23"/>
                  <a:gd name="T15" fmla="*/ 1 h 23"/>
                  <a:gd name="T16" fmla="*/ 1 w 23"/>
                  <a:gd name="T17" fmla="*/ 0 h 23"/>
                  <a:gd name="T18" fmla="*/ 1 w 23"/>
                  <a:gd name="T19" fmla="*/ 1 h 23"/>
                  <a:gd name="T20" fmla="*/ 1 w 23"/>
                  <a:gd name="T21" fmla="*/ 1 h 23"/>
                  <a:gd name="T22" fmla="*/ 1 w 23"/>
                  <a:gd name="T23" fmla="*/ 1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
                  <a:gd name="T37" fmla="*/ 0 h 23"/>
                  <a:gd name="T38" fmla="*/ 23 w 23"/>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 h="23">
                    <a:moveTo>
                      <a:pt x="3" y="6"/>
                    </a:moveTo>
                    <a:lnTo>
                      <a:pt x="1" y="9"/>
                    </a:lnTo>
                    <a:lnTo>
                      <a:pt x="0" y="20"/>
                    </a:lnTo>
                    <a:lnTo>
                      <a:pt x="22" y="23"/>
                    </a:lnTo>
                    <a:lnTo>
                      <a:pt x="23" y="12"/>
                    </a:lnTo>
                    <a:lnTo>
                      <a:pt x="22" y="16"/>
                    </a:lnTo>
                    <a:lnTo>
                      <a:pt x="23" y="12"/>
                    </a:lnTo>
                    <a:lnTo>
                      <a:pt x="20" y="5"/>
                    </a:lnTo>
                    <a:lnTo>
                      <a:pt x="14" y="0"/>
                    </a:lnTo>
                    <a:lnTo>
                      <a:pt x="6" y="1"/>
                    </a:lnTo>
                    <a:lnTo>
                      <a:pt x="1" y="9"/>
                    </a:lnTo>
                    <a:lnTo>
                      <a:pt x="3" y="6"/>
                    </a:lnTo>
                    <a:close/>
                  </a:path>
                </a:pathLst>
              </a:custGeom>
              <a:solidFill>
                <a:srgbClr val="000000"/>
              </a:solidFill>
              <a:ln w="9525">
                <a:noFill/>
                <a:round/>
                <a:headEnd/>
                <a:tailEnd/>
              </a:ln>
            </p:spPr>
            <p:txBody>
              <a:bodyPr/>
              <a:lstStyle/>
              <a:p>
                <a:endParaRPr lang="en-US"/>
              </a:p>
            </p:txBody>
          </p:sp>
          <p:sp>
            <p:nvSpPr>
              <p:cNvPr id="29738" name="Freeform 231"/>
              <p:cNvSpPr>
                <a:spLocks/>
              </p:cNvSpPr>
              <p:nvPr/>
            </p:nvSpPr>
            <p:spPr bwMode="auto">
              <a:xfrm>
                <a:off x="1999" y="3599"/>
                <a:ext cx="12" cy="10"/>
              </a:xfrm>
              <a:custGeom>
                <a:avLst/>
                <a:gdLst>
                  <a:gd name="T0" fmla="*/ 1 w 23"/>
                  <a:gd name="T1" fmla="*/ 0 h 21"/>
                  <a:gd name="T2" fmla="*/ 1 w 23"/>
                  <a:gd name="T3" fmla="*/ 0 h 21"/>
                  <a:gd name="T4" fmla="*/ 1 w 23"/>
                  <a:gd name="T5" fmla="*/ 0 h 21"/>
                  <a:gd name="T6" fmla="*/ 1 w 23"/>
                  <a:gd name="T7" fmla="*/ 0 h 21"/>
                  <a:gd name="T8" fmla="*/ 0 w 23"/>
                  <a:gd name="T9" fmla="*/ 0 h 21"/>
                  <a:gd name="T10" fmla="*/ 0 w 23"/>
                  <a:gd name="T11" fmla="*/ 0 h 21"/>
                  <a:gd name="T12" fmla="*/ 1 w 23"/>
                  <a:gd name="T13" fmla="*/ 0 h 21"/>
                  <a:gd name="T14" fmla="*/ 1 w 23"/>
                  <a:gd name="T15" fmla="*/ 0 h 21"/>
                  <a:gd name="T16" fmla="*/ 1 w 23"/>
                  <a:gd name="T17" fmla="*/ 0 h 21"/>
                  <a:gd name="T18" fmla="*/ 1 w 23"/>
                  <a:gd name="T19" fmla="*/ 0 h 21"/>
                  <a:gd name="T20" fmla="*/ 1 w 23"/>
                  <a:gd name="T21" fmla="*/ 0 h 21"/>
                  <a:gd name="T22" fmla="*/ 1 w 23"/>
                  <a:gd name="T23" fmla="*/ 0 h 21"/>
                  <a:gd name="T24" fmla="*/ 1 w 23"/>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21"/>
                  <a:gd name="T41" fmla="*/ 23 w 23"/>
                  <a:gd name="T42" fmla="*/ 21 h 2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21">
                    <a:moveTo>
                      <a:pt x="23" y="2"/>
                    </a:moveTo>
                    <a:lnTo>
                      <a:pt x="20" y="0"/>
                    </a:lnTo>
                    <a:lnTo>
                      <a:pt x="8" y="0"/>
                    </a:lnTo>
                    <a:lnTo>
                      <a:pt x="3" y="5"/>
                    </a:lnTo>
                    <a:lnTo>
                      <a:pt x="0" y="10"/>
                    </a:lnTo>
                    <a:lnTo>
                      <a:pt x="0" y="11"/>
                    </a:lnTo>
                    <a:lnTo>
                      <a:pt x="19" y="21"/>
                    </a:lnTo>
                    <a:lnTo>
                      <a:pt x="19" y="19"/>
                    </a:lnTo>
                    <a:lnTo>
                      <a:pt x="19" y="21"/>
                    </a:lnTo>
                    <a:lnTo>
                      <a:pt x="20" y="19"/>
                    </a:lnTo>
                    <a:lnTo>
                      <a:pt x="11" y="19"/>
                    </a:lnTo>
                    <a:lnTo>
                      <a:pt x="8" y="17"/>
                    </a:lnTo>
                    <a:lnTo>
                      <a:pt x="23" y="2"/>
                    </a:lnTo>
                    <a:close/>
                  </a:path>
                </a:pathLst>
              </a:custGeom>
              <a:solidFill>
                <a:srgbClr val="000000"/>
              </a:solidFill>
              <a:ln w="9525">
                <a:noFill/>
                <a:round/>
                <a:headEnd/>
                <a:tailEnd/>
              </a:ln>
            </p:spPr>
            <p:txBody>
              <a:bodyPr/>
              <a:lstStyle/>
              <a:p>
                <a:endParaRPr lang="en-US"/>
              </a:p>
            </p:txBody>
          </p:sp>
          <p:sp>
            <p:nvSpPr>
              <p:cNvPr id="29739" name="Freeform 232"/>
              <p:cNvSpPr>
                <a:spLocks/>
              </p:cNvSpPr>
              <p:nvPr/>
            </p:nvSpPr>
            <p:spPr bwMode="auto">
              <a:xfrm>
                <a:off x="2003" y="3600"/>
                <a:ext cx="11" cy="10"/>
              </a:xfrm>
              <a:custGeom>
                <a:avLst/>
                <a:gdLst>
                  <a:gd name="T0" fmla="*/ 0 w 24"/>
                  <a:gd name="T1" fmla="*/ 1 h 20"/>
                  <a:gd name="T2" fmla="*/ 0 w 24"/>
                  <a:gd name="T3" fmla="*/ 1 h 20"/>
                  <a:gd name="T4" fmla="*/ 0 w 24"/>
                  <a:gd name="T5" fmla="*/ 1 h 20"/>
                  <a:gd name="T6" fmla="*/ 0 w 24"/>
                  <a:gd name="T7" fmla="*/ 1 h 20"/>
                  <a:gd name="T8" fmla="*/ 0 w 24"/>
                  <a:gd name="T9" fmla="*/ 1 h 20"/>
                  <a:gd name="T10" fmla="*/ 0 w 24"/>
                  <a:gd name="T11" fmla="*/ 0 h 20"/>
                  <a:gd name="T12" fmla="*/ 0 w 24"/>
                  <a:gd name="T13" fmla="*/ 1 h 20"/>
                  <a:gd name="T14" fmla="*/ 0 w 24"/>
                  <a:gd name="T15" fmla="*/ 1 h 20"/>
                  <a:gd name="T16" fmla="*/ 0 w 24"/>
                  <a:gd name="T17" fmla="*/ 1 h 20"/>
                  <a:gd name="T18" fmla="*/ 0 w 24"/>
                  <a:gd name="T19" fmla="*/ 1 h 20"/>
                  <a:gd name="T20" fmla="*/ 0 w 24"/>
                  <a:gd name="T21" fmla="*/ 1 h 20"/>
                  <a:gd name="T22" fmla="*/ 0 w 24"/>
                  <a:gd name="T23" fmla="*/ 1 h 20"/>
                  <a:gd name="T24" fmla="*/ 0 w 24"/>
                  <a:gd name="T25" fmla="*/ 1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
                  <a:gd name="T40" fmla="*/ 0 h 20"/>
                  <a:gd name="T41" fmla="*/ 24 w 24"/>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 h="20">
                    <a:moveTo>
                      <a:pt x="22" y="17"/>
                    </a:moveTo>
                    <a:lnTo>
                      <a:pt x="22" y="20"/>
                    </a:lnTo>
                    <a:lnTo>
                      <a:pt x="24" y="17"/>
                    </a:lnTo>
                    <a:lnTo>
                      <a:pt x="24" y="9"/>
                    </a:lnTo>
                    <a:lnTo>
                      <a:pt x="21" y="3"/>
                    </a:lnTo>
                    <a:lnTo>
                      <a:pt x="17" y="0"/>
                    </a:lnTo>
                    <a:lnTo>
                      <a:pt x="2" y="15"/>
                    </a:lnTo>
                    <a:lnTo>
                      <a:pt x="2" y="11"/>
                    </a:lnTo>
                    <a:lnTo>
                      <a:pt x="0" y="14"/>
                    </a:lnTo>
                    <a:lnTo>
                      <a:pt x="0" y="17"/>
                    </a:lnTo>
                    <a:lnTo>
                      <a:pt x="22" y="17"/>
                    </a:lnTo>
                    <a:close/>
                  </a:path>
                </a:pathLst>
              </a:custGeom>
              <a:solidFill>
                <a:srgbClr val="000000"/>
              </a:solidFill>
              <a:ln w="9525">
                <a:noFill/>
                <a:round/>
                <a:headEnd/>
                <a:tailEnd/>
              </a:ln>
            </p:spPr>
            <p:txBody>
              <a:bodyPr/>
              <a:lstStyle/>
              <a:p>
                <a:endParaRPr lang="en-US"/>
              </a:p>
            </p:txBody>
          </p:sp>
          <p:sp>
            <p:nvSpPr>
              <p:cNvPr id="29740" name="Freeform 233"/>
              <p:cNvSpPr>
                <a:spLocks/>
              </p:cNvSpPr>
              <p:nvPr/>
            </p:nvSpPr>
            <p:spPr bwMode="auto">
              <a:xfrm>
                <a:off x="2003" y="3608"/>
                <a:ext cx="14" cy="15"/>
              </a:xfrm>
              <a:custGeom>
                <a:avLst/>
                <a:gdLst>
                  <a:gd name="T0" fmla="*/ 1 w 28"/>
                  <a:gd name="T1" fmla="*/ 1 h 30"/>
                  <a:gd name="T2" fmla="*/ 1 w 28"/>
                  <a:gd name="T3" fmla="*/ 1 h 30"/>
                  <a:gd name="T4" fmla="*/ 1 w 28"/>
                  <a:gd name="T5" fmla="*/ 1 h 30"/>
                  <a:gd name="T6" fmla="*/ 1 w 28"/>
                  <a:gd name="T7" fmla="*/ 1 h 30"/>
                  <a:gd name="T8" fmla="*/ 1 w 28"/>
                  <a:gd name="T9" fmla="*/ 0 h 30"/>
                  <a:gd name="T10" fmla="*/ 1 w 28"/>
                  <a:gd name="T11" fmla="*/ 0 h 30"/>
                  <a:gd name="T12" fmla="*/ 0 w 28"/>
                  <a:gd name="T13" fmla="*/ 0 h 30"/>
                  <a:gd name="T14" fmla="*/ 1 w 28"/>
                  <a:gd name="T15" fmla="*/ 1 h 30"/>
                  <a:gd name="T16" fmla="*/ 1 w 28"/>
                  <a:gd name="T17" fmla="*/ 1 h 30"/>
                  <a:gd name="T18" fmla="*/ 1 w 28"/>
                  <a:gd name="T19" fmla="*/ 1 h 30"/>
                  <a:gd name="T20" fmla="*/ 1 w 28"/>
                  <a:gd name="T21" fmla="*/ 1 h 30"/>
                  <a:gd name="T22" fmla="*/ 1 w 28"/>
                  <a:gd name="T23" fmla="*/ 1 h 30"/>
                  <a:gd name="T24" fmla="*/ 1 w 28"/>
                  <a:gd name="T25" fmla="*/ 1 h 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
                  <a:gd name="T40" fmla="*/ 0 h 30"/>
                  <a:gd name="T41" fmla="*/ 28 w 28"/>
                  <a:gd name="T42" fmla="*/ 30 h 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 h="30">
                    <a:moveTo>
                      <a:pt x="28" y="11"/>
                    </a:moveTo>
                    <a:lnTo>
                      <a:pt x="28" y="11"/>
                    </a:lnTo>
                    <a:lnTo>
                      <a:pt x="27" y="11"/>
                    </a:lnTo>
                    <a:lnTo>
                      <a:pt x="25" y="6"/>
                    </a:lnTo>
                    <a:lnTo>
                      <a:pt x="22" y="0"/>
                    </a:lnTo>
                    <a:lnTo>
                      <a:pt x="0" y="0"/>
                    </a:lnTo>
                    <a:lnTo>
                      <a:pt x="3" y="9"/>
                    </a:lnTo>
                    <a:lnTo>
                      <a:pt x="6" y="16"/>
                    </a:lnTo>
                    <a:lnTo>
                      <a:pt x="11" y="23"/>
                    </a:lnTo>
                    <a:lnTo>
                      <a:pt x="19" y="30"/>
                    </a:lnTo>
                    <a:lnTo>
                      <a:pt x="28" y="11"/>
                    </a:lnTo>
                    <a:close/>
                  </a:path>
                </a:pathLst>
              </a:custGeom>
              <a:solidFill>
                <a:srgbClr val="000000"/>
              </a:solidFill>
              <a:ln w="9525">
                <a:noFill/>
                <a:round/>
                <a:headEnd/>
                <a:tailEnd/>
              </a:ln>
            </p:spPr>
            <p:txBody>
              <a:bodyPr/>
              <a:lstStyle/>
              <a:p>
                <a:endParaRPr lang="en-US"/>
              </a:p>
            </p:txBody>
          </p:sp>
          <p:sp>
            <p:nvSpPr>
              <p:cNvPr id="29741" name="Freeform 234"/>
              <p:cNvSpPr>
                <a:spLocks/>
              </p:cNvSpPr>
              <p:nvPr/>
            </p:nvSpPr>
            <p:spPr bwMode="auto">
              <a:xfrm>
                <a:off x="2012" y="3614"/>
                <a:ext cx="71" cy="16"/>
              </a:xfrm>
              <a:custGeom>
                <a:avLst/>
                <a:gdLst>
                  <a:gd name="T0" fmla="*/ 1 w 142"/>
                  <a:gd name="T1" fmla="*/ 0 h 33"/>
                  <a:gd name="T2" fmla="*/ 1 w 142"/>
                  <a:gd name="T3" fmla="*/ 0 h 33"/>
                  <a:gd name="T4" fmla="*/ 1 w 142"/>
                  <a:gd name="T5" fmla="*/ 0 h 33"/>
                  <a:gd name="T6" fmla="*/ 1 w 142"/>
                  <a:gd name="T7" fmla="*/ 0 h 33"/>
                  <a:gd name="T8" fmla="*/ 1 w 142"/>
                  <a:gd name="T9" fmla="*/ 0 h 33"/>
                  <a:gd name="T10" fmla="*/ 1 w 142"/>
                  <a:gd name="T11" fmla="*/ 0 h 33"/>
                  <a:gd name="T12" fmla="*/ 1 w 142"/>
                  <a:gd name="T13" fmla="*/ 0 h 33"/>
                  <a:gd name="T14" fmla="*/ 1 w 142"/>
                  <a:gd name="T15" fmla="*/ 0 h 33"/>
                  <a:gd name="T16" fmla="*/ 1 w 142"/>
                  <a:gd name="T17" fmla="*/ 0 h 33"/>
                  <a:gd name="T18" fmla="*/ 1 w 142"/>
                  <a:gd name="T19" fmla="*/ 0 h 33"/>
                  <a:gd name="T20" fmla="*/ 0 w 142"/>
                  <a:gd name="T21" fmla="*/ 0 h 33"/>
                  <a:gd name="T22" fmla="*/ 1 w 142"/>
                  <a:gd name="T23" fmla="*/ 0 h 33"/>
                  <a:gd name="T24" fmla="*/ 1 w 142"/>
                  <a:gd name="T25" fmla="*/ 0 h 33"/>
                  <a:gd name="T26" fmla="*/ 1 w 142"/>
                  <a:gd name="T27" fmla="*/ 0 h 33"/>
                  <a:gd name="T28" fmla="*/ 1 w 142"/>
                  <a:gd name="T29" fmla="*/ 0 h 33"/>
                  <a:gd name="T30" fmla="*/ 1 w 142"/>
                  <a:gd name="T31" fmla="*/ 0 h 33"/>
                  <a:gd name="T32" fmla="*/ 1 w 142"/>
                  <a:gd name="T33" fmla="*/ 0 h 33"/>
                  <a:gd name="T34" fmla="*/ 1 w 142"/>
                  <a:gd name="T35" fmla="*/ 0 h 33"/>
                  <a:gd name="T36" fmla="*/ 1 w 142"/>
                  <a:gd name="T37" fmla="*/ 0 h 33"/>
                  <a:gd name="T38" fmla="*/ 1 w 142"/>
                  <a:gd name="T39" fmla="*/ 0 h 33"/>
                  <a:gd name="T40" fmla="*/ 1 w 142"/>
                  <a:gd name="T41" fmla="*/ 0 h 33"/>
                  <a:gd name="T42" fmla="*/ 1 w 142"/>
                  <a:gd name="T43" fmla="*/ 0 h 33"/>
                  <a:gd name="T44" fmla="*/ 1 w 142"/>
                  <a:gd name="T45" fmla="*/ 0 h 33"/>
                  <a:gd name="T46" fmla="*/ 1 w 142"/>
                  <a:gd name="T47" fmla="*/ 0 h 33"/>
                  <a:gd name="T48" fmla="*/ 1 w 142"/>
                  <a:gd name="T49" fmla="*/ 0 h 33"/>
                  <a:gd name="T50" fmla="*/ 1 w 142"/>
                  <a:gd name="T51" fmla="*/ 0 h 3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2"/>
                  <a:gd name="T79" fmla="*/ 0 h 33"/>
                  <a:gd name="T80" fmla="*/ 142 w 142"/>
                  <a:gd name="T81" fmla="*/ 33 h 3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2" h="33">
                    <a:moveTo>
                      <a:pt x="124" y="14"/>
                    </a:moveTo>
                    <a:lnTo>
                      <a:pt x="133" y="11"/>
                    </a:lnTo>
                    <a:lnTo>
                      <a:pt x="128" y="11"/>
                    </a:lnTo>
                    <a:lnTo>
                      <a:pt x="114" y="9"/>
                    </a:lnTo>
                    <a:lnTo>
                      <a:pt x="92" y="8"/>
                    </a:lnTo>
                    <a:lnTo>
                      <a:pt x="72" y="6"/>
                    </a:lnTo>
                    <a:lnTo>
                      <a:pt x="49" y="3"/>
                    </a:lnTo>
                    <a:lnTo>
                      <a:pt x="28" y="1"/>
                    </a:lnTo>
                    <a:lnTo>
                      <a:pt x="14" y="0"/>
                    </a:lnTo>
                    <a:lnTo>
                      <a:pt x="9" y="0"/>
                    </a:lnTo>
                    <a:lnTo>
                      <a:pt x="0" y="19"/>
                    </a:lnTo>
                    <a:lnTo>
                      <a:pt x="11" y="22"/>
                    </a:lnTo>
                    <a:lnTo>
                      <a:pt x="25" y="23"/>
                    </a:lnTo>
                    <a:lnTo>
                      <a:pt x="45" y="25"/>
                    </a:lnTo>
                    <a:lnTo>
                      <a:pt x="69" y="28"/>
                    </a:lnTo>
                    <a:lnTo>
                      <a:pt x="92" y="30"/>
                    </a:lnTo>
                    <a:lnTo>
                      <a:pt x="111" y="31"/>
                    </a:lnTo>
                    <a:lnTo>
                      <a:pt x="125" y="33"/>
                    </a:lnTo>
                    <a:lnTo>
                      <a:pt x="130" y="33"/>
                    </a:lnTo>
                    <a:lnTo>
                      <a:pt x="139" y="30"/>
                    </a:lnTo>
                    <a:lnTo>
                      <a:pt x="130" y="33"/>
                    </a:lnTo>
                    <a:lnTo>
                      <a:pt x="138" y="30"/>
                    </a:lnTo>
                    <a:lnTo>
                      <a:pt x="142" y="23"/>
                    </a:lnTo>
                    <a:lnTo>
                      <a:pt x="141" y="16"/>
                    </a:lnTo>
                    <a:lnTo>
                      <a:pt x="133" y="11"/>
                    </a:lnTo>
                    <a:lnTo>
                      <a:pt x="124" y="14"/>
                    </a:lnTo>
                    <a:close/>
                  </a:path>
                </a:pathLst>
              </a:custGeom>
              <a:solidFill>
                <a:srgbClr val="000000"/>
              </a:solidFill>
              <a:ln w="9525">
                <a:noFill/>
                <a:round/>
                <a:headEnd/>
                <a:tailEnd/>
              </a:ln>
            </p:spPr>
            <p:txBody>
              <a:bodyPr/>
              <a:lstStyle/>
              <a:p>
                <a:endParaRPr lang="en-US"/>
              </a:p>
            </p:txBody>
          </p:sp>
          <p:sp>
            <p:nvSpPr>
              <p:cNvPr id="29742" name="Freeform 235"/>
              <p:cNvSpPr>
                <a:spLocks/>
              </p:cNvSpPr>
              <p:nvPr/>
            </p:nvSpPr>
            <p:spPr bwMode="auto">
              <a:xfrm>
                <a:off x="2074" y="3608"/>
                <a:ext cx="23" cy="21"/>
              </a:xfrm>
              <a:custGeom>
                <a:avLst/>
                <a:gdLst>
                  <a:gd name="T0" fmla="*/ 1 w 45"/>
                  <a:gd name="T1" fmla="*/ 1 h 41"/>
                  <a:gd name="T2" fmla="*/ 1 w 45"/>
                  <a:gd name="T3" fmla="*/ 0 h 41"/>
                  <a:gd name="T4" fmla="*/ 1 w 45"/>
                  <a:gd name="T5" fmla="*/ 1 h 41"/>
                  <a:gd name="T6" fmla="*/ 1 w 45"/>
                  <a:gd name="T7" fmla="*/ 1 h 41"/>
                  <a:gd name="T8" fmla="*/ 1 w 45"/>
                  <a:gd name="T9" fmla="*/ 1 h 41"/>
                  <a:gd name="T10" fmla="*/ 0 w 45"/>
                  <a:gd name="T11" fmla="*/ 1 h 41"/>
                  <a:gd name="T12" fmla="*/ 1 w 45"/>
                  <a:gd name="T13" fmla="*/ 1 h 41"/>
                  <a:gd name="T14" fmla="*/ 1 w 45"/>
                  <a:gd name="T15" fmla="*/ 1 h 41"/>
                  <a:gd name="T16" fmla="*/ 1 w 45"/>
                  <a:gd name="T17" fmla="*/ 1 h 41"/>
                  <a:gd name="T18" fmla="*/ 1 w 45"/>
                  <a:gd name="T19" fmla="*/ 1 h 41"/>
                  <a:gd name="T20" fmla="*/ 1 w 45"/>
                  <a:gd name="T21" fmla="*/ 1 h 41"/>
                  <a:gd name="T22" fmla="*/ 1 w 45"/>
                  <a:gd name="T23" fmla="*/ 1 h 41"/>
                  <a:gd name="T24" fmla="*/ 1 w 45"/>
                  <a:gd name="T25" fmla="*/ 1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5"/>
                  <a:gd name="T40" fmla="*/ 0 h 41"/>
                  <a:gd name="T41" fmla="*/ 45 w 45"/>
                  <a:gd name="T42" fmla="*/ 41 h 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5" h="41">
                    <a:moveTo>
                      <a:pt x="36" y="2"/>
                    </a:moveTo>
                    <a:lnTo>
                      <a:pt x="37" y="0"/>
                    </a:lnTo>
                    <a:lnTo>
                      <a:pt x="23" y="6"/>
                    </a:lnTo>
                    <a:lnTo>
                      <a:pt x="14" y="14"/>
                    </a:lnTo>
                    <a:lnTo>
                      <a:pt x="4" y="20"/>
                    </a:lnTo>
                    <a:lnTo>
                      <a:pt x="0" y="25"/>
                    </a:lnTo>
                    <a:lnTo>
                      <a:pt x="15" y="41"/>
                    </a:lnTo>
                    <a:lnTo>
                      <a:pt x="17" y="39"/>
                    </a:lnTo>
                    <a:lnTo>
                      <a:pt x="26" y="33"/>
                    </a:lnTo>
                    <a:lnTo>
                      <a:pt x="36" y="25"/>
                    </a:lnTo>
                    <a:lnTo>
                      <a:pt x="44" y="22"/>
                    </a:lnTo>
                    <a:lnTo>
                      <a:pt x="45" y="20"/>
                    </a:lnTo>
                    <a:lnTo>
                      <a:pt x="36" y="2"/>
                    </a:lnTo>
                    <a:close/>
                  </a:path>
                </a:pathLst>
              </a:custGeom>
              <a:solidFill>
                <a:srgbClr val="000000"/>
              </a:solidFill>
              <a:ln w="9525">
                <a:noFill/>
                <a:round/>
                <a:headEnd/>
                <a:tailEnd/>
              </a:ln>
            </p:spPr>
            <p:txBody>
              <a:bodyPr/>
              <a:lstStyle/>
              <a:p>
                <a:endParaRPr lang="en-US"/>
              </a:p>
            </p:txBody>
          </p:sp>
          <p:sp>
            <p:nvSpPr>
              <p:cNvPr id="29743" name="Freeform 236"/>
              <p:cNvSpPr>
                <a:spLocks/>
              </p:cNvSpPr>
              <p:nvPr/>
            </p:nvSpPr>
            <p:spPr bwMode="auto">
              <a:xfrm>
                <a:off x="2092" y="3601"/>
                <a:ext cx="15" cy="18"/>
              </a:xfrm>
              <a:custGeom>
                <a:avLst/>
                <a:gdLst>
                  <a:gd name="T0" fmla="*/ 1 w 29"/>
                  <a:gd name="T1" fmla="*/ 1 h 36"/>
                  <a:gd name="T2" fmla="*/ 1 w 29"/>
                  <a:gd name="T3" fmla="*/ 1 h 36"/>
                  <a:gd name="T4" fmla="*/ 1 w 29"/>
                  <a:gd name="T5" fmla="*/ 1 h 36"/>
                  <a:gd name="T6" fmla="*/ 1 w 29"/>
                  <a:gd name="T7" fmla="*/ 1 h 36"/>
                  <a:gd name="T8" fmla="*/ 1 w 29"/>
                  <a:gd name="T9" fmla="*/ 1 h 36"/>
                  <a:gd name="T10" fmla="*/ 0 w 29"/>
                  <a:gd name="T11" fmla="*/ 1 h 36"/>
                  <a:gd name="T12" fmla="*/ 1 w 29"/>
                  <a:gd name="T13" fmla="*/ 1 h 36"/>
                  <a:gd name="T14" fmla="*/ 1 w 29"/>
                  <a:gd name="T15" fmla="*/ 1 h 36"/>
                  <a:gd name="T16" fmla="*/ 1 w 29"/>
                  <a:gd name="T17" fmla="*/ 1 h 36"/>
                  <a:gd name="T18" fmla="*/ 1 w 29"/>
                  <a:gd name="T19" fmla="*/ 1 h 36"/>
                  <a:gd name="T20" fmla="*/ 1 w 29"/>
                  <a:gd name="T21" fmla="*/ 1 h 36"/>
                  <a:gd name="T22" fmla="*/ 1 w 29"/>
                  <a:gd name="T23" fmla="*/ 1 h 36"/>
                  <a:gd name="T24" fmla="*/ 1 w 29"/>
                  <a:gd name="T25" fmla="*/ 1 h 36"/>
                  <a:gd name="T26" fmla="*/ 1 w 29"/>
                  <a:gd name="T27" fmla="*/ 1 h 36"/>
                  <a:gd name="T28" fmla="*/ 1 w 29"/>
                  <a:gd name="T29" fmla="*/ 1 h 36"/>
                  <a:gd name="T30" fmla="*/ 1 w 29"/>
                  <a:gd name="T31" fmla="*/ 0 h 36"/>
                  <a:gd name="T32" fmla="*/ 1 w 29"/>
                  <a:gd name="T33" fmla="*/ 1 h 36"/>
                  <a:gd name="T34" fmla="*/ 1 w 29"/>
                  <a:gd name="T35" fmla="*/ 1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
                  <a:gd name="T55" fmla="*/ 0 h 36"/>
                  <a:gd name="T56" fmla="*/ 29 w 29"/>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 h="36">
                    <a:moveTo>
                      <a:pt x="29" y="7"/>
                    </a:moveTo>
                    <a:lnTo>
                      <a:pt x="11" y="7"/>
                    </a:lnTo>
                    <a:lnTo>
                      <a:pt x="9" y="7"/>
                    </a:lnTo>
                    <a:lnTo>
                      <a:pt x="8" y="10"/>
                    </a:lnTo>
                    <a:lnTo>
                      <a:pt x="4" y="14"/>
                    </a:lnTo>
                    <a:lnTo>
                      <a:pt x="0" y="18"/>
                    </a:lnTo>
                    <a:lnTo>
                      <a:pt x="9" y="36"/>
                    </a:lnTo>
                    <a:lnTo>
                      <a:pt x="20" y="30"/>
                    </a:lnTo>
                    <a:lnTo>
                      <a:pt x="26" y="22"/>
                    </a:lnTo>
                    <a:lnTo>
                      <a:pt x="28" y="19"/>
                    </a:lnTo>
                    <a:lnTo>
                      <a:pt x="29" y="16"/>
                    </a:lnTo>
                    <a:lnTo>
                      <a:pt x="11" y="16"/>
                    </a:lnTo>
                    <a:lnTo>
                      <a:pt x="29" y="16"/>
                    </a:lnTo>
                    <a:lnTo>
                      <a:pt x="29" y="8"/>
                    </a:lnTo>
                    <a:lnTo>
                      <a:pt x="25" y="2"/>
                    </a:lnTo>
                    <a:lnTo>
                      <a:pt x="17" y="0"/>
                    </a:lnTo>
                    <a:lnTo>
                      <a:pt x="11" y="7"/>
                    </a:lnTo>
                    <a:lnTo>
                      <a:pt x="29" y="7"/>
                    </a:lnTo>
                    <a:close/>
                  </a:path>
                </a:pathLst>
              </a:custGeom>
              <a:solidFill>
                <a:srgbClr val="000000"/>
              </a:solidFill>
              <a:ln w="9525">
                <a:noFill/>
                <a:round/>
                <a:headEnd/>
                <a:tailEnd/>
              </a:ln>
            </p:spPr>
            <p:txBody>
              <a:bodyPr/>
              <a:lstStyle/>
              <a:p>
                <a:endParaRPr lang="en-US"/>
              </a:p>
            </p:txBody>
          </p:sp>
          <p:sp>
            <p:nvSpPr>
              <p:cNvPr id="29744" name="Freeform 237"/>
              <p:cNvSpPr>
                <a:spLocks/>
              </p:cNvSpPr>
              <p:nvPr/>
            </p:nvSpPr>
            <p:spPr bwMode="auto">
              <a:xfrm>
                <a:off x="2097" y="3604"/>
                <a:ext cx="24" cy="33"/>
              </a:xfrm>
              <a:custGeom>
                <a:avLst/>
                <a:gdLst>
                  <a:gd name="T0" fmla="*/ 1 w 47"/>
                  <a:gd name="T1" fmla="*/ 1 h 65"/>
                  <a:gd name="T2" fmla="*/ 1 w 47"/>
                  <a:gd name="T3" fmla="*/ 1 h 65"/>
                  <a:gd name="T4" fmla="*/ 1 w 47"/>
                  <a:gd name="T5" fmla="*/ 0 h 65"/>
                  <a:gd name="T6" fmla="*/ 0 w 47"/>
                  <a:gd name="T7" fmla="*/ 1 h 65"/>
                  <a:gd name="T8" fmla="*/ 1 w 47"/>
                  <a:gd name="T9" fmla="*/ 1 h 65"/>
                  <a:gd name="T10" fmla="*/ 1 w 47"/>
                  <a:gd name="T11" fmla="*/ 1 h 65"/>
                  <a:gd name="T12" fmla="*/ 0 60000 65536"/>
                  <a:gd name="T13" fmla="*/ 0 60000 65536"/>
                  <a:gd name="T14" fmla="*/ 0 60000 65536"/>
                  <a:gd name="T15" fmla="*/ 0 60000 65536"/>
                  <a:gd name="T16" fmla="*/ 0 60000 65536"/>
                  <a:gd name="T17" fmla="*/ 0 60000 65536"/>
                  <a:gd name="T18" fmla="*/ 0 w 47"/>
                  <a:gd name="T19" fmla="*/ 0 h 65"/>
                  <a:gd name="T20" fmla="*/ 47 w 47"/>
                  <a:gd name="T21" fmla="*/ 65 h 65"/>
                </a:gdLst>
                <a:ahLst/>
                <a:cxnLst>
                  <a:cxn ang="T12">
                    <a:pos x="T0" y="T1"/>
                  </a:cxn>
                  <a:cxn ang="T13">
                    <a:pos x="T2" y="T3"/>
                  </a:cxn>
                  <a:cxn ang="T14">
                    <a:pos x="T4" y="T5"/>
                  </a:cxn>
                  <a:cxn ang="T15">
                    <a:pos x="T6" y="T7"/>
                  </a:cxn>
                  <a:cxn ang="T16">
                    <a:pos x="T8" y="T9"/>
                  </a:cxn>
                  <a:cxn ang="T17">
                    <a:pos x="T10" y="T11"/>
                  </a:cxn>
                </a:cxnLst>
                <a:rect l="T18" t="T19" r="T20" b="T21"/>
                <a:pathLst>
                  <a:path w="47" h="65">
                    <a:moveTo>
                      <a:pt x="37" y="61"/>
                    </a:moveTo>
                    <a:lnTo>
                      <a:pt x="47" y="56"/>
                    </a:lnTo>
                    <a:lnTo>
                      <a:pt x="18" y="0"/>
                    </a:lnTo>
                    <a:lnTo>
                      <a:pt x="0" y="9"/>
                    </a:lnTo>
                    <a:lnTo>
                      <a:pt x="28" y="65"/>
                    </a:lnTo>
                    <a:lnTo>
                      <a:pt x="37" y="61"/>
                    </a:lnTo>
                    <a:close/>
                  </a:path>
                </a:pathLst>
              </a:custGeom>
              <a:solidFill>
                <a:srgbClr val="000000"/>
              </a:solidFill>
              <a:ln w="9525">
                <a:noFill/>
                <a:round/>
                <a:headEnd/>
                <a:tailEnd/>
              </a:ln>
            </p:spPr>
            <p:txBody>
              <a:bodyPr/>
              <a:lstStyle/>
              <a:p>
                <a:endParaRPr lang="en-US"/>
              </a:p>
            </p:txBody>
          </p:sp>
          <p:sp>
            <p:nvSpPr>
              <p:cNvPr id="29745" name="Freeform 238"/>
              <p:cNvSpPr>
                <a:spLocks/>
              </p:cNvSpPr>
              <p:nvPr/>
            </p:nvSpPr>
            <p:spPr bwMode="auto">
              <a:xfrm>
                <a:off x="2046" y="3834"/>
                <a:ext cx="1" cy="14"/>
              </a:xfrm>
              <a:custGeom>
                <a:avLst/>
                <a:gdLst>
                  <a:gd name="T0" fmla="*/ 0 w 1"/>
                  <a:gd name="T1" fmla="*/ 1 h 28"/>
                  <a:gd name="T2" fmla="*/ 0 w 1"/>
                  <a:gd name="T3" fmla="*/ 0 h 28"/>
                  <a:gd name="T4" fmla="*/ 0 w 1"/>
                  <a:gd name="T5" fmla="*/ 1 h 28"/>
                  <a:gd name="T6" fmla="*/ 0 60000 65536"/>
                  <a:gd name="T7" fmla="*/ 0 60000 65536"/>
                  <a:gd name="T8" fmla="*/ 0 60000 65536"/>
                  <a:gd name="T9" fmla="*/ 0 w 1"/>
                  <a:gd name="T10" fmla="*/ 0 h 28"/>
                  <a:gd name="T11" fmla="*/ 1 w 1"/>
                  <a:gd name="T12" fmla="*/ 28 h 28"/>
                </a:gdLst>
                <a:ahLst/>
                <a:cxnLst>
                  <a:cxn ang="T6">
                    <a:pos x="T0" y="T1"/>
                  </a:cxn>
                  <a:cxn ang="T7">
                    <a:pos x="T2" y="T3"/>
                  </a:cxn>
                  <a:cxn ang="T8">
                    <a:pos x="T4" y="T5"/>
                  </a:cxn>
                </a:cxnLst>
                <a:rect l="T9" t="T10" r="T11" b="T12"/>
                <a:pathLst>
                  <a:path w="1" h="28">
                    <a:moveTo>
                      <a:pt x="0" y="28"/>
                    </a:moveTo>
                    <a:lnTo>
                      <a:pt x="0" y="0"/>
                    </a:lnTo>
                    <a:lnTo>
                      <a:pt x="0" y="28"/>
                    </a:lnTo>
                    <a:close/>
                  </a:path>
                </a:pathLst>
              </a:custGeom>
              <a:solidFill>
                <a:srgbClr val="FF7226"/>
              </a:solidFill>
              <a:ln w="9525">
                <a:noFill/>
                <a:round/>
                <a:headEnd/>
                <a:tailEnd/>
              </a:ln>
            </p:spPr>
            <p:txBody>
              <a:bodyPr/>
              <a:lstStyle/>
              <a:p>
                <a:endParaRPr lang="en-US"/>
              </a:p>
            </p:txBody>
          </p:sp>
          <p:sp>
            <p:nvSpPr>
              <p:cNvPr id="29746" name="Freeform 239"/>
              <p:cNvSpPr>
                <a:spLocks/>
              </p:cNvSpPr>
              <p:nvPr/>
            </p:nvSpPr>
            <p:spPr bwMode="auto">
              <a:xfrm>
                <a:off x="2040" y="3834"/>
                <a:ext cx="11" cy="14"/>
              </a:xfrm>
              <a:custGeom>
                <a:avLst/>
                <a:gdLst>
                  <a:gd name="T0" fmla="*/ 1 w 22"/>
                  <a:gd name="T1" fmla="*/ 0 h 28"/>
                  <a:gd name="T2" fmla="*/ 0 w 22"/>
                  <a:gd name="T3" fmla="*/ 0 h 28"/>
                  <a:gd name="T4" fmla="*/ 0 w 22"/>
                  <a:gd name="T5" fmla="*/ 1 h 28"/>
                  <a:gd name="T6" fmla="*/ 1 w 22"/>
                  <a:gd name="T7" fmla="*/ 1 h 28"/>
                  <a:gd name="T8" fmla="*/ 1 w 22"/>
                  <a:gd name="T9" fmla="*/ 0 h 28"/>
                  <a:gd name="T10" fmla="*/ 1 w 22"/>
                  <a:gd name="T11" fmla="*/ 0 h 28"/>
                  <a:gd name="T12" fmla="*/ 0 60000 65536"/>
                  <a:gd name="T13" fmla="*/ 0 60000 65536"/>
                  <a:gd name="T14" fmla="*/ 0 60000 65536"/>
                  <a:gd name="T15" fmla="*/ 0 60000 65536"/>
                  <a:gd name="T16" fmla="*/ 0 60000 65536"/>
                  <a:gd name="T17" fmla="*/ 0 60000 65536"/>
                  <a:gd name="T18" fmla="*/ 0 w 22"/>
                  <a:gd name="T19" fmla="*/ 0 h 28"/>
                  <a:gd name="T20" fmla="*/ 22 w 22"/>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2" h="28">
                    <a:moveTo>
                      <a:pt x="11" y="0"/>
                    </a:moveTo>
                    <a:lnTo>
                      <a:pt x="0" y="0"/>
                    </a:lnTo>
                    <a:lnTo>
                      <a:pt x="0" y="28"/>
                    </a:lnTo>
                    <a:lnTo>
                      <a:pt x="22" y="28"/>
                    </a:lnTo>
                    <a:lnTo>
                      <a:pt x="22" y="0"/>
                    </a:lnTo>
                    <a:lnTo>
                      <a:pt x="11" y="0"/>
                    </a:lnTo>
                    <a:close/>
                  </a:path>
                </a:pathLst>
              </a:custGeom>
              <a:solidFill>
                <a:srgbClr val="000000"/>
              </a:solidFill>
              <a:ln w="9525">
                <a:noFill/>
                <a:round/>
                <a:headEnd/>
                <a:tailEnd/>
              </a:ln>
            </p:spPr>
            <p:txBody>
              <a:bodyPr/>
              <a:lstStyle/>
              <a:p>
                <a:endParaRPr lang="en-US"/>
              </a:p>
            </p:txBody>
          </p:sp>
        </p:grpSp>
        <p:sp>
          <p:nvSpPr>
            <p:cNvPr id="29707" name="Line 240"/>
            <p:cNvSpPr>
              <a:spLocks noChangeShapeType="1"/>
            </p:cNvSpPr>
            <p:nvPr/>
          </p:nvSpPr>
          <p:spPr bwMode="auto">
            <a:xfrm>
              <a:off x="1981200" y="5203825"/>
              <a:ext cx="5562600" cy="0"/>
            </a:xfrm>
            <a:prstGeom prst="line">
              <a:avLst/>
            </a:prstGeom>
            <a:noFill/>
            <a:ln w="12700" cap="sq">
              <a:solidFill>
                <a:schemeClr val="bg1"/>
              </a:solidFill>
              <a:round/>
              <a:headEnd type="none" w="sm" len="sm"/>
              <a:tailEnd type="none" w="sm" len="sm"/>
            </a:ln>
          </p:spPr>
          <p:txBody>
            <a:bodyPr wrap="none"/>
            <a:lstStyle/>
            <a:p>
              <a:endParaRPr lang="en-US"/>
            </a:p>
          </p:txBody>
        </p:sp>
        <p:sp>
          <p:nvSpPr>
            <p:cNvPr id="29708" name="Text Box 241"/>
            <p:cNvSpPr txBox="1">
              <a:spLocks noChangeArrowheads="1"/>
            </p:cNvSpPr>
            <p:nvPr/>
          </p:nvSpPr>
          <p:spPr bwMode="auto">
            <a:xfrm>
              <a:off x="7662863" y="4098925"/>
              <a:ext cx="660400" cy="369888"/>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RAS</a:t>
              </a:r>
            </a:p>
          </p:txBody>
        </p:sp>
        <p:pic>
          <p:nvPicPr>
            <p:cNvPr id="29709" name="Picture 242" descr="C:\My Documents\Ray\NETDRAW4\INTERNET\INTRNET.WMF"/>
            <p:cNvPicPr>
              <a:picLocks noChangeAspect="1" noChangeArrowheads="1"/>
            </p:cNvPicPr>
            <p:nvPr/>
          </p:nvPicPr>
          <p:blipFill>
            <a:blip r:embed="rId4" cstate="print"/>
            <a:srcRect/>
            <a:stretch>
              <a:fillRect/>
            </a:stretch>
          </p:blipFill>
          <p:spPr bwMode="auto">
            <a:xfrm>
              <a:off x="4918075" y="4710113"/>
              <a:ext cx="1600200" cy="985837"/>
            </a:xfrm>
            <a:prstGeom prst="rect">
              <a:avLst/>
            </a:prstGeom>
            <a:noFill/>
            <a:ln w="9525">
              <a:noFill/>
              <a:miter lim="800000"/>
              <a:headEnd/>
              <a:tailEnd/>
            </a:ln>
          </p:spPr>
        </p:pic>
        <p:pic>
          <p:nvPicPr>
            <p:cNvPr id="29710" name="Picture 243" descr="F:\NETDRAW4\ISOMETRC\FILSERVI.WMF"/>
            <p:cNvPicPr>
              <a:picLocks noChangeAspect="1" noChangeArrowheads="1"/>
            </p:cNvPicPr>
            <p:nvPr/>
          </p:nvPicPr>
          <p:blipFill>
            <a:blip r:embed="rId3" cstate="print"/>
            <a:srcRect/>
            <a:stretch>
              <a:fillRect/>
            </a:stretch>
          </p:blipFill>
          <p:spPr bwMode="auto">
            <a:xfrm>
              <a:off x="3055938" y="4572000"/>
              <a:ext cx="727075" cy="1262063"/>
            </a:xfrm>
            <a:prstGeom prst="rect">
              <a:avLst/>
            </a:prstGeom>
            <a:noFill/>
            <a:ln w="9525">
              <a:noFill/>
              <a:miter lim="800000"/>
              <a:headEnd/>
              <a:tailEnd/>
            </a:ln>
          </p:spPr>
        </p:pic>
        <p:sp>
          <p:nvSpPr>
            <p:cNvPr id="29711" name="Text Box 244"/>
            <p:cNvSpPr txBox="1">
              <a:spLocks noChangeArrowheads="1"/>
            </p:cNvSpPr>
            <p:nvPr/>
          </p:nvSpPr>
          <p:spPr bwMode="auto">
            <a:xfrm>
              <a:off x="1935163" y="5638800"/>
              <a:ext cx="1519237" cy="646113"/>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Access</a:t>
              </a:r>
            </a:p>
            <a:p>
              <a:pPr algn="ctr"/>
              <a:r>
                <a:rPr lang="en-US" altLang="en-US">
                  <a:solidFill>
                    <a:schemeClr val="bg1"/>
                  </a:solidFill>
                </a:rPr>
                <a:t>Concentrator</a:t>
              </a:r>
            </a:p>
          </p:txBody>
        </p:sp>
        <p:sp>
          <p:nvSpPr>
            <p:cNvPr id="29712" name="Rectangle 245"/>
            <p:cNvSpPr>
              <a:spLocks noChangeArrowheads="1"/>
            </p:cNvSpPr>
            <p:nvPr/>
          </p:nvSpPr>
          <p:spPr bwMode="auto">
            <a:xfrm>
              <a:off x="4114800" y="5105400"/>
              <a:ext cx="762000" cy="228600"/>
            </a:xfrm>
            <a:prstGeom prst="rect">
              <a:avLst/>
            </a:prstGeom>
            <a:solidFill>
              <a:schemeClr val="hlink"/>
            </a:solidFill>
            <a:ln w="12700" cap="sq">
              <a:solidFill>
                <a:schemeClr val="tx1"/>
              </a:solidFill>
              <a:miter lim="800000"/>
              <a:headEnd type="none" w="sm" len="sm"/>
              <a:tailEnd type="none" w="sm" len="sm"/>
            </a:ln>
          </p:spPr>
          <p:txBody>
            <a:bodyPr wrap="none" anchor="ctr"/>
            <a:lstStyle/>
            <a:p>
              <a:endParaRPr lang="en-US" altLang="en-US"/>
            </a:p>
          </p:txBody>
        </p:sp>
        <p:sp>
          <p:nvSpPr>
            <p:cNvPr id="29713" name="Text Box 246"/>
            <p:cNvSpPr txBox="1">
              <a:spLocks noChangeArrowheads="1"/>
            </p:cNvSpPr>
            <p:nvPr/>
          </p:nvSpPr>
          <p:spPr bwMode="auto">
            <a:xfrm>
              <a:off x="4062413" y="5527675"/>
              <a:ext cx="871537" cy="369888"/>
            </a:xfrm>
            <a:prstGeom prst="rect">
              <a:avLst/>
            </a:prstGeom>
            <a:noFill/>
            <a:ln w="12700" cap="sq">
              <a:noFill/>
              <a:miter lim="800000"/>
              <a:headEnd type="none" w="sm" len="sm"/>
              <a:tailEnd type="none" w="sm" len="sm"/>
            </a:ln>
          </p:spPr>
          <p:txBody>
            <a:bodyPr wrap="none">
              <a:spAutoFit/>
            </a:bodyPr>
            <a:lstStyle/>
            <a:p>
              <a:pPr algn="ctr"/>
              <a:r>
                <a:rPr lang="en-US" altLang="en-US">
                  <a:solidFill>
                    <a:schemeClr val="bg1"/>
                  </a:solidFill>
                </a:rPr>
                <a:t>Tunnel</a:t>
              </a:r>
            </a:p>
          </p:txBody>
        </p:sp>
      </p:gr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endParaRPr lang="en-US" smtClean="0"/>
          </a:p>
        </p:txBody>
      </p:sp>
      <p:sp>
        <p:nvSpPr>
          <p:cNvPr id="3" name="Content Placeholder 2"/>
          <p:cNvSpPr>
            <a:spLocks noGrp="1"/>
          </p:cNvSpPr>
          <p:nvPr>
            <p:ph idx="1"/>
          </p:nvPr>
        </p:nvSpPr>
        <p:spPr/>
        <p:txBody>
          <a:bodyPr/>
          <a:lstStyle/>
          <a:p>
            <a:pPr>
              <a:defRPr/>
            </a:pPr>
            <a:endParaRPr lang="en-US"/>
          </a:p>
        </p:txBody>
      </p:sp>
      <p:sp>
        <p:nvSpPr>
          <p:cNvPr id="4" name="Slide Number Placeholder 3"/>
          <p:cNvSpPr>
            <a:spLocks noGrp="1"/>
          </p:cNvSpPr>
          <p:nvPr>
            <p:ph type="sldNum" sz="quarter" idx="10"/>
          </p:nvPr>
        </p:nvSpPr>
        <p:spPr/>
        <p:txBody>
          <a:bodyPr/>
          <a:lstStyle/>
          <a:p>
            <a:pPr>
              <a:defRPr/>
            </a:pPr>
            <a:r>
              <a:rPr lang="en-US"/>
              <a:t>-</a:t>
            </a:r>
            <a:fld id="{937F2B60-F839-4FB0-830E-46FBAF88BBC8}" type="slidenum">
              <a:rPr lang="ar-SA"/>
              <a:pPr>
                <a:defRPr/>
              </a:pPr>
              <a:t>28</a:t>
            </a:fld>
            <a:r>
              <a:rPr lang="en-US"/>
              <a:t>-</a:t>
            </a:r>
            <a:endParaRPr lang="en-US" sz="800">
              <a:effectLst>
                <a:outerShdw blurRad="38100" dist="38100" dir="2700000" algn="tl">
                  <a:srgbClr val="FFFFFF"/>
                </a:outerShdw>
              </a:effectLst>
            </a:endParaRPr>
          </a:p>
        </p:txBody>
      </p:sp>
      <p:pic>
        <p:nvPicPr>
          <p:cNvPr id="30725" name="Picture 2"/>
          <p:cNvPicPr>
            <a:picLocks noChangeAspect="1" noChangeArrowheads="1"/>
          </p:cNvPicPr>
          <p:nvPr/>
        </p:nvPicPr>
        <p:blipFill>
          <a:blip r:embed="rId2" cstate="print"/>
          <a:srcRect/>
          <a:stretch>
            <a:fillRect/>
          </a:stretch>
        </p:blipFill>
        <p:spPr bwMode="auto">
          <a:xfrm>
            <a:off x="228600" y="3429000"/>
            <a:ext cx="8653463" cy="3429000"/>
          </a:xfrm>
          <a:prstGeom prst="rect">
            <a:avLst/>
          </a:prstGeom>
          <a:noFill/>
          <a:ln w="9525">
            <a:noFill/>
            <a:miter lim="800000"/>
            <a:headEnd/>
            <a:tailEnd/>
          </a:ln>
        </p:spPr>
      </p:pic>
      <p:pic>
        <p:nvPicPr>
          <p:cNvPr id="30726" name="Picture 3"/>
          <p:cNvPicPr>
            <a:picLocks noChangeAspect="1" noChangeArrowheads="1"/>
          </p:cNvPicPr>
          <p:nvPr/>
        </p:nvPicPr>
        <p:blipFill>
          <a:blip r:embed="rId3" cstate="print"/>
          <a:srcRect/>
          <a:stretch>
            <a:fillRect/>
          </a:stretch>
        </p:blipFill>
        <p:spPr bwMode="auto">
          <a:xfrm>
            <a:off x="533400" y="990600"/>
            <a:ext cx="7870825" cy="16002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endParaRPr lang="en-US" smtClean="0"/>
          </a:p>
        </p:txBody>
      </p:sp>
      <p:sp>
        <p:nvSpPr>
          <p:cNvPr id="3" name="Content Placeholder 2"/>
          <p:cNvSpPr>
            <a:spLocks noGrp="1"/>
          </p:cNvSpPr>
          <p:nvPr>
            <p:ph idx="1"/>
          </p:nvPr>
        </p:nvSpPr>
        <p:spPr/>
        <p:txBody>
          <a:bodyPr/>
          <a:lstStyle/>
          <a:p>
            <a:pPr>
              <a:defRPr/>
            </a:pPr>
            <a:endParaRPr lang="en-US"/>
          </a:p>
        </p:txBody>
      </p:sp>
      <p:sp>
        <p:nvSpPr>
          <p:cNvPr id="4" name="Slide Number Placeholder 3"/>
          <p:cNvSpPr>
            <a:spLocks noGrp="1"/>
          </p:cNvSpPr>
          <p:nvPr>
            <p:ph type="sldNum" sz="quarter" idx="10"/>
          </p:nvPr>
        </p:nvSpPr>
        <p:spPr/>
        <p:txBody>
          <a:bodyPr/>
          <a:lstStyle/>
          <a:p>
            <a:pPr>
              <a:defRPr/>
            </a:pPr>
            <a:r>
              <a:rPr lang="en-US"/>
              <a:t>-</a:t>
            </a:r>
            <a:fld id="{A37B6F88-DC5F-4030-83CF-050B89D141CF}" type="slidenum">
              <a:rPr lang="ar-SA"/>
              <a:pPr>
                <a:defRPr/>
              </a:pPr>
              <a:t>29</a:t>
            </a:fld>
            <a:r>
              <a:rPr lang="en-US"/>
              <a:t>-</a:t>
            </a:r>
            <a:endParaRPr lang="en-US" sz="800">
              <a:effectLst>
                <a:outerShdw blurRad="38100" dist="38100" dir="2700000" algn="tl">
                  <a:srgbClr val="FFFFFF"/>
                </a:outerShdw>
              </a:effectLst>
            </a:endParaRPr>
          </a:p>
        </p:txBody>
      </p:sp>
      <p:pic>
        <p:nvPicPr>
          <p:cNvPr id="31749" name="Picture 2"/>
          <p:cNvPicPr>
            <a:picLocks noChangeAspect="1" noChangeArrowheads="1"/>
          </p:cNvPicPr>
          <p:nvPr/>
        </p:nvPicPr>
        <p:blipFill>
          <a:blip r:embed="rId2" cstate="print"/>
          <a:srcRect/>
          <a:stretch>
            <a:fillRect/>
          </a:stretch>
        </p:blipFill>
        <p:spPr bwMode="auto">
          <a:xfrm>
            <a:off x="228600" y="2438400"/>
            <a:ext cx="8578850" cy="4800600"/>
          </a:xfrm>
          <a:prstGeom prst="rect">
            <a:avLst/>
          </a:prstGeom>
          <a:noFill/>
          <a:ln w="9525">
            <a:noFill/>
            <a:miter lim="800000"/>
            <a:headEnd/>
            <a:tailEnd/>
          </a:ln>
        </p:spPr>
      </p:pic>
      <p:pic>
        <p:nvPicPr>
          <p:cNvPr id="31750" name="Picture 3"/>
          <p:cNvPicPr>
            <a:picLocks noChangeAspect="1" noChangeArrowheads="1"/>
          </p:cNvPicPr>
          <p:nvPr/>
        </p:nvPicPr>
        <p:blipFill>
          <a:blip r:embed="rId3" cstate="print"/>
          <a:srcRect/>
          <a:stretch>
            <a:fillRect/>
          </a:stretch>
        </p:blipFill>
        <p:spPr bwMode="auto">
          <a:xfrm>
            <a:off x="0" y="0"/>
            <a:ext cx="6400800" cy="25304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smtClean="0"/>
              <a:t>IPSec</a:t>
            </a:r>
            <a:endParaRPr lang="en-AU" smtClean="0"/>
          </a:p>
        </p:txBody>
      </p:sp>
      <p:sp>
        <p:nvSpPr>
          <p:cNvPr id="22531" name="Rectangle 3"/>
          <p:cNvSpPr>
            <a:spLocks noGrp="1" noChangeArrowheads="1"/>
          </p:cNvSpPr>
          <p:nvPr>
            <p:ph type="body" idx="1"/>
          </p:nvPr>
        </p:nvSpPr>
        <p:spPr/>
        <p:txBody>
          <a:bodyPr/>
          <a:lstStyle/>
          <a:p>
            <a:pPr eaLnBrk="1" hangingPunct="1">
              <a:defRPr/>
            </a:pPr>
            <a:r>
              <a:rPr lang="en-US" b="1" dirty="0" smtClean="0"/>
              <a:t>IPSec</a:t>
            </a:r>
            <a:r>
              <a:rPr lang="en-US" dirty="0" smtClean="0"/>
              <a:t> is an Internet Engineering Task Force (IETF) standard suite of protocols that provides data</a:t>
            </a:r>
          </a:p>
          <a:p>
            <a:pPr lvl="1" eaLnBrk="1" hangingPunct="1">
              <a:defRPr/>
            </a:pPr>
            <a:r>
              <a:rPr lang="en-US" dirty="0" smtClean="0"/>
              <a:t>authentication</a:t>
            </a:r>
          </a:p>
          <a:p>
            <a:pPr lvl="1" eaLnBrk="1" hangingPunct="1">
              <a:defRPr/>
            </a:pPr>
            <a:r>
              <a:rPr lang="en-US" dirty="0" smtClean="0"/>
              <a:t>confidentiality</a:t>
            </a:r>
          </a:p>
          <a:p>
            <a:pPr lvl="1" eaLnBrk="1" hangingPunct="1">
              <a:defRPr/>
            </a:pPr>
            <a:r>
              <a:rPr lang="en-US" dirty="0" smtClean="0"/>
              <a:t>key management</a:t>
            </a:r>
          </a:p>
          <a:p>
            <a:pPr eaLnBrk="1" hangingPunct="1">
              <a:defRPr/>
            </a:pPr>
            <a:r>
              <a:rPr lang="en-US" dirty="0" smtClean="0"/>
              <a:t>Applicable to use over LANs, across public &amp; private WANs, &amp; for the Internet</a:t>
            </a:r>
            <a:endParaRPr lang="en-AU" dirty="0" smtClean="0"/>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989013" y="254000"/>
            <a:ext cx="7772400" cy="1143000"/>
          </a:xfrm>
        </p:spPr>
        <p:txBody>
          <a:bodyPr/>
          <a:lstStyle/>
          <a:p>
            <a:pPr eaLnBrk="1" hangingPunct="1"/>
            <a:r>
              <a:rPr lang="en-US" smtClean="0"/>
              <a:t>IPSec Uses</a:t>
            </a:r>
            <a:endParaRPr lang="en-AU" smtClean="0"/>
          </a:p>
        </p:txBody>
      </p:sp>
      <p:pic>
        <p:nvPicPr>
          <p:cNvPr id="33795" name="Picture 3"/>
          <p:cNvPicPr>
            <a:picLocks noGrp="1" noChangeAspect="1" noChangeArrowheads="1"/>
          </p:cNvPicPr>
          <p:nvPr>
            <p:ph type="body" idx="1"/>
          </p:nvPr>
        </p:nvPicPr>
        <p:blipFill>
          <a:blip r:embed="rId3" cstate="print"/>
          <a:srcRect/>
          <a:stretch>
            <a:fillRect/>
          </a:stretch>
        </p:blipFill>
        <p:spPr>
          <a:xfrm>
            <a:off x="0" y="1506538"/>
            <a:ext cx="9099550" cy="4816475"/>
          </a:xfrm>
        </p:spPr>
      </p:pic>
      <p:grpSp>
        <p:nvGrpSpPr>
          <p:cNvPr id="33796" name="Group 6"/>
          <p:cNvGrpSpPr>
            <a:grpSpLocks/>
          </p:cNvGrpSpPr>
          <p:nvPr/>
        </p:nvGrpSpPr>
        <p:grpSpPr bwMode="auto">
          <a:xfrm>
            <a:off x="2019300" y="3557588"/>
            <a:ext cx="1514475" cy="1047750"/>
            <a:chOff x="1272" y="2241"/>
            <a:chExt cx="954" cy="660"/>
          </a:xfrm>
        </p:grpSpPr>
        <p:sp>
          <p:nvSpPr>
            <p:cNvPr id="900100" name="AutoShape 4"/>
            <p:cNvSpPr>
              <a:spLocks noChangeArrowheads="1"/>
            </p:cNvSpPr>
            <p:nvPr/>
          </p:nvSpPr>
          <p:spPr bwMode="auto">
            <a:xfrm>
              <a:off x="1272" y="2241"/>
              <a:ext cx="927" cy="660"/>
            </a:xfrm>
            <a:prstGeom prst="wedgeEllipseCallout">
              <a:avLst>
                <a:gd name="adj1" fmla="val 60787"/>
                <a:gd name="adj2" fmla="val 89241"/>
              </a:avLst>
            </a:prstGeom>
            <a:noFill/>
            <a:ln w="12700">
              <a:solidFill>
                <a:schemeClr val="bg2"/>
              </a:solidFill>
              <a:miter lim="800000"/>
              <a:headEnd type="none" w="sm" len="sm"/>
              <a:tailEnd type="none" w="sm" len="sm"/>
            </a:ln>
            <a:effectLst/>
          </p:spPr>
          <p:txBody>
            <a:bodyPr/>
            <a:lstStyle/>
            <a:p>
              <a:pPr algn="ctr">
                <a:defRPr/>
              </a:pPr>
              <a:endParaRPr lang="en-US">
                <a:effectLst>
                  <a:outerShdw blurRad="38100" dist="38100" dir="2700000" algn="tl">
                    <a:srgbClr val="000000"/>
                  </a:outerShdw>
                </a:effectLst>
              </a:endParaRPr>
            </a:p>
          </p:txBody>
        </p:sp>
        <p:sp>
          <p:nvSpPr>
            <p:cNvPr id="900101" name="Text Box 5"/>
            <p:cNvSpPr txBox="1">
              <a:spLocks noChangeArrowheads="1"/>
            </p:cNvSpPr>
            <p:nvPr/>
          </p:nvSpPr>
          <p:spPr bwMode="auto">
            <a:xfrm>
              <a:off x="1290" y="2473"/>
              <a:ext cx="936" cy="231"/>
            </a:xfrm>
            <a:prstGeom prst="rect">
              <a:avLst/>
            </a:prstGeom>
            <a:noFill/>
            <a:ln w="12700">
              <a:noFill/>
              <a:miter lim="800000"/>
              <a:headEnd type="none" w="sm" len="sm"/>
              <a:tailEnd type="none" w="sm" len="sm"/>
            </a:ln>
            <a:effectLst/>
          </p:spPr>
          <p:txBody>
            <a:bodyPr wrap="none">
              <a:spAutoFit/>
            </a:bodyPr>
            <a:lstStyle/>
            <a:p>
              <a:pPr>
                <a:defRPr/>
              </a:pPr>
              <a:r>
                <a:rPr lang="en-US">
                  <a:solidFill>
                    <a:schemeClr val="bg2"/>
                  </a:solidFill>
                  <a:effectLst>
                    <a:outerShdw blurRad="38100" dist="38100" dir="2700000" algn="tl">
                      <a:srgbClr val="FFFFFF"/>
                    </a:outerShdw>
                  </a:effectLst>
                </a:rPr>
                <a:t>Transparency</a:t>
              </a:r>
              <a:r>
                <a:rPr lang="en-US">
                  <a:effectLst>
                    <a:outerShdw blurRad="38100" dist="38100" dir="2700000" algn="tl">
                      <a:srgbClr val="000000"/>
                    </a:outerShdw>
                  </a:effectLst>
                </a:rPr>
                <a:t> </a:t>
              </a:r>
            </a:p>
          </p:txBody>
        </p:sp>
      </p:gr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smtClean="0"/>
              <a:t>Benefits of IPSec</a:t>
            </a:r>
            <a:endParaRPr lang="en-AU" smtClean="0"/>
          </a:p>
        </p:txBody>
      </p:sp>
      <p:sp>
        <p:nvSpPr>
          <p:cNvPr id="24579" name="Rectangle 3"/>
          <p:cNvSpPr>
            <a:spLocks noGrp="1" noChangeArrowheads="1"/>
          </p:cNvSpPr>
          <p:nvPr>
            <p:ph type="body" idx="1"/>
          </p:nvPr>
        </p:nvSpPr>
        <p:spPr>
          <a:xfrm>
            <a:off x="490538" y="1981200"/>
            <a:ext cx="8424862" cy="4275138"/>
          </a:xfrm>
        </p:spPr>
        <p:txBody>
          <a:bodyPr/>
          <a:lstStyle/>
          <a:p>
            <a:pPr eaLnBrk="1" hangingPunct="1">
              <a:lnSpc>
                <a:spcPct val="90000"/>
              </a:lnSpc>
              <a:defRPr/>
            </a:pPr>
            <a:r>
              <a:rPr lang="en-US" dirty="0" smtClean="0"/>
              <a:t>Its below transport layer, hence transparent to applications</a:t>
            </a:r>
          </a:p>
          <a:p>
            <a:pPr eaLnBrk="1" hangingPunct="1">
              <a:lnSpc>
                <a:spcPct val="90000"/>
              </a:lnSpc>
              <a:defRPr/>
            </a:pPr>
            <a:r>
              <a:rPr lang="en-US" dirty="0" smtClean="0"/>
              <a:t>Can be transparent to end users</a:t>
            </a:r>
          </a:p>
          <a:p>
            <a:pPr eaLnBrk="1" hangingPunct="1">
              <a:lnSpc>
                <a:spcPct val="90000"/>
              </a:lnSpc>
              <a:defRPr/>
            </a:pPr>
            <a:r>
              <a:rPr lang="en-US" dirty="0" smtClean="0"/>
              <a:t>Can provide security for individual users</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096963" y="258763"/>
            <a:ext cx="7772400" cy="1143000"/>
          </a:xfrm>
        </p:spPr>
        <p:txBody>
          <a:bodyPr/>
          <a:lstStyle/>
          <a:p>
            <a:pPr eaLnBrk="1" hangingPunct="1"/>
            <a:r>
              <a:rPr lang="en-US" smtClean="0"/>
              <a:t>Architecture &amp; Concepts</a:t>
            </a:r>
          </a:p>
        </p:txBody>
      </p:sp>
      <p:sp>
        <p:nvSpPr>
          <p:cNvPr id="26627" name="Rectangle 3"/>
          <p:cNvSpPr>
            <a:spLocks noGrp="1" noChangeArrowheads="1"/>
          </p:cNvSpPr>
          <p:nvPr>
            <p:ph type="body" idx="1"/>
          </p:nvPr>
        </p:nvSpPr>
        <p:spPr>
          <a:xfrm>
            <a:off x="773113" y="1447800"/>
            <a:ext cx="7831137" cy="5068888"/>
          </a:xfrm>
        </p:spPr>
        <p:txBody>
          <a:bodyPr/>
          <a:lstStyle/>
          <a:p>
            <a:pPr eaLnBrk="1" hangingPunct="1">
              <a:defRPr/>
            </a:pPr>
            <a:r>
              <a:rPr lang="en-US" dirty="0" smtClean="0"/>
              <a:t>Tunnel vs. Transport mode</a:t>
            </a:r>
          </a:p>
          <a:p>
            <a:pPr eaLnBrk="1" hangingPunct="1">
              <a:defRPr/>
            </a:pPr>
            <a:r>
              <a:rPr lang="en-US" dirty="0" smtClean="0"/>
              <a:t>Security association (SA)</a:t>
            </a:r>
          </a:p>
          <a:p>
            <a:pPr lvl="1" eaLnBrk="1" hangingPunct="1">
              <a:defRPr/>
            </a:pPr>
            <a:r>
              <a:rPr lang="en-US" dirty="0" smtClean="0"/>
              <a:t>Security parameter index (SPI)</a:t>
            </a:r>
          </a:p>
          <a:p>
            <a:pPr lvl="1" eaLnBrk="1" hangingPunct="1">
              <a:defRPr/>
            </a:pPr>
            <a:r>
              <a:rPr lang="en-US" dirty="0" smtClean="0"/>
              <a:t>Security policy database (SPD)</a:t>
            </a:r>
          </a:p>
          <a:p>
            <a:pPr lvl="1" eaLnBrk="1" hangingPunct="1">
              <a:defRPr/>
            </a:pPr>
            <a:r>
              <a:rPr lang="en-US" dirty="0" smtClean="0"/>
              <a:t>SA database (SAD)</a:t>
            </a:r>
          </a:p>
          <a:p>
            <a:pPr eaLnBrk="1" hangingPunct="1">
              <a:defRPr/>
            </a:pPr>
            <a:r>
              <a:rPr lang="en-US" dirty="0" smtClean="0"/>
              <a:t>Authentication header (AH) Protocol</a:t>
            </a:r>
          </a:p>
          <a:p>
            <a:pPr eaLnBrk="1" hangingPunct="1">
              <a:defRPr/>
            </a:pPr>
            <a:r>
              <a:rPr lang="en-US" dirty="0" smtClean="0"/>
              <a:t>Encapsulating security payload (ESP) Protocol</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762000" y="4473575"/>
            <a:ext cx="450850" cy="528638"/>
          </a:xfrm>
          <a:prstGeom prst="rect">
            <a:avLst/>
          </a:prstGeom>
          <a:solidFill>
            <a:srgbClr val="800080"/>
          </a:solidFill>
          <a:ln w="9525">
            <a:solidFill>
              <a:schemeClr val="tx2"/>
            </a:solidFill>
            <a:miter lim="800000"/>
            <a:headEnd/>
            <a:tailEnd/>
          </a:ln>
        </p:spPr>
        <p:txBody>
          <a:bodyPr wrap="none">
            <a:spAutoFit/>
          </a:bodyPr>
          <a:lstStyle/>
          <a:p>
            <a:r>
              <a:rPr lang="en-US" altLang="en-US" sz="2800" b="1">
                <a:solidFill>
                  <a:schemeClr val="bg1"/>
                </a:solidFill>
              </a:rPr>
              <a:t>A</a:t>
            </a:r>
          </a:p>
        </p:txBody>
      </p:sp>
      <p:sp>
        <p:nvSpPr>
          <p:cNvPr id="36867" name="Rectangle 3"/>
          <p:cNvSpPr>
            <a:spLocks noChangeArrowheads="1"/>
          </p:cNvSpPr>
          <p:nvPr/>
        </p:nvSpPr>
        <p:spPr bwMode="auto">
          <a:xfrm>
            <a:off x="7759700" y="4473575"/>
            <a:ext cx="450850" cy="528638"/>
          </a:xfrm>
          <a:prstGeom prst="rect">
            <a:avLst/>
          </a:prstGeom>
          <a:solidFill>
            <a:srgbClr val="FF0000"/>
          </a:solidFill>
          <a:ln w="9525">
            <a:solidFill>
              <a:schemeClr val="tx1"/>
            </a:solidFill>
            <a:miter lim="800000"/>
            <a:headEnd/>
            <a:tailEnd/>
          </a:ln>
        </p:spPr>
        <p:txBody>
          <a:bodyPr wrap="none">
            <a:spAutoFit/>
          </a:bodyPr>
          <a:lstStyle/>
          <a:p>
            <a:r>
              <a:rPr lang="en-US" altLang="en-US" sz="2800" b="1">
                <a:solidFill>
                  <a:schemeClr val="bg1"/>
                </a:solidFill>
              </a:rPr>
              <a:t>B</a:t>
            </a:r>
          </a:p>
        </p:txBody>
      </p:sp>
      <p:grpSp>
        <p:nvGrpSpPr>
          <p:cNvPr id="36868" name="Group 4"/>
          <p:cNvGrpSpPr>
            <a:grpSpLocks/>
          </p:cNvGrpSpPr>
          <p:nvPr/>
        </p:nvGrpSpPr>
        <p:grpSpPr bwMode="auto">
          <a:xfrm>
            <a:off x="762000" y="3849688"/>
            <a:ext cx="638175" cy="550862"/>
            <a:chOff x="582" y="534"/>
            <a:chExt cx="614" cy="530"/>
          </a:xfrm>
        </p:grpSpPr>
        <p:sp>
          <p:nvSpPr>
            <p:cNvPr id="36921" name="Arc 5"/>
            <p:cNvSpPr>
              <a:spLocks/>
            </p:cNvSpPr>
            <p:nvPr/>
          </p:nvSpPr>
          <p:spPr bwMode="auto">
            <a:xfrm>
              <a:off x="1059" y="918"/>
              <a:ext cx="118" cy="80"/>
            </a:xfrm>
            <a:custGeom>
              <a:avLst/>
              <a:gdLst>
                <a:gd name="T0" fmla="*/ 0 w 38176"/>
                <a:gd name="T1" fmla="*/ 0 h 34923"/>
                <a:gd name="T2" fmla="*/ 0 w 38176"/>
                <a:gd name="T3" fmla="*/ 0 h 34923"/>
                <a:gd name="T4" fmla="*/ 0 w 38176"/>
                <a:gd name="T5" fmla="*/ 0 h 34923"/>
                <a:gd name="T6" fmla="*/ 0 60000 65536"/>
                <a:gd name="T7" fmla="*/ 0 60000 65536"/>
                <a:gd name="T8" fmla="*/ 0 60000 65536"/>
                <a:gd name="T9" fmla="*/ 0 w 38176"/>
                <a:gd name="T10" fmla="*/ 0 h 34923"/>
                <a:gd name="T11" fmla="*/ 38176 w 38176"/>
                <a:gd name="T12" fmla="*/ 34923 h 34923"/>
              </a:gdLst>
              <a:ahLst/>
              <a:cxnLst>
                <a:cxn ang="T6">
                  <a:pos x="T0" y="T1"/>
                </a:cxn>
                <a:cxn ang="T7">
                  <a:pos x="T2" y="T3"/>
                </a:cxn>
                <a:cxn ang="T8">
                  <a:pos x="T4" y="T5"/>
                </a:cxn>
              </a:cxnLst>
              <a:rect l="T9" t="T10" r="T11" b="T12"/>
              <a:pathLst>
                <a:path w="38176" h="34923" fill="none" extrusionOk="0">
                  <a:moveTo>
                    <a:pt x="-1" y="7750"/>
                  </a:moveTo>
                  <a:cubicBezTo>
                    <a:pt x="4103" y="2838"/>
                    <a:pt x="10175" y="-1"/>
                    <a:pt x="16576" y="0"/>
                  </a:cubicBezTo>
                  <a:cubicBezTo>
                    <a:pt x="28505" y="0"/>
                    <a:pt x="38176" y="9670"/>
                    <a:pt x="38176" y="21600"/>
                  </a:cubicBezTo>
                  <a:cubicBezTo>
                    <a:pt x="38176" y="26430"/>
                    <a:pt x="36557" y="31120"/>
                    <a:pt x="33577" y="34922"/>
                  </a:cubicBezTo>
                </a:path>
                <a:path w="38176" h="34923" stroke="0" extrusionOk="0">
                  <a:moveTo>
                    <a:pt x="-1" y="7750"/>
                  </a:moveTo>
                  <a:cubicBezTo>
                    <a:pt x="4103" y="2838"/>
                    <a:pt x="10175" y="-1"/>
                    <a:pt x="16576" y="0"/>
                  </a:cubicBezTo>
                  <a:cubicBezTo>
                    <a:pt x="28505" y="0"/>
                    <a:pt x="38176" y="9670"/>
                    <a:pt x="38176" y="21600"/>
                  </a:cubicBezTo>
                  <a:cubicBezTo>
                    <a:pt x="38176" y="26430"/>
                    <a:pt x="36557" y="31120"/>
                    <a:pt x="33577" y="34922"/>
                  </a:cubicBezTo>
                  <a:lnTo>
                    <a:pt x="16576" y="21600"/>
                  </a:lnTo>
                  <a:lnTo>
                    <a:pt x="-1" y="7750"/>
                  </a:lnTo>
                  <a:close/>
                </a:path>
              </a:pathLst>
            </a:custGeom>
            <a:noFill/>
            <a:ln w="20638">
              <a:solidFill>
                <a:srgbClr val="0078AA"/>
              </a:solidFill>
              <a:round/>
              <a:headEnd/>
              <a:tailEnd/>
            </a:ln>
          </p:spPr>
          <p:txBody>
            <a:bodyPr/>
            <a:lstStyle/>
            <a:p>
              <a:endParaRPr lang="en-US"/>
            </a:p>
          </p:txBody>
        </p:sp>
        <p:sp>
          <p:nvSpPr>
            <p:cNvPr id="36922" name="Arc 6"/>
            <p:cNvSpPr>
              <a:spLocks/>
            </p:cNvSpPr>
            <p:nvPr/>
          </p:nvSpPr>
          <p:spPr bwMode="auto">
            <a:xfrm>
              <a:off x="1060" y="919"/>
              <a:ext cx="118" cy="79"/>
            </a:xfrm>
            <a:custGeom>
              <a:avLst/>
              <a:gdLst>
                <a:gd name="T0" fmla="*/ 0 w 38322"/>
                <a:gd name="T1" fmla="*/ 0 h 34803"/>
                <a:gd name="T2" fmla="*/ 0 w 38322"/>
                <a:gd name="T3" fmla="*/ 0 h 34803"/>
                <a:gd name="T4" fmla="*/ 0 w 38322"/>
                <a:gd name="T5" fmla="*/ 0 h 34803"/>
                <a:gd name="T6" fmla="*/ 0 60000 65536"/>
                <a:gd name="T7" fmla="*/ 0 60000 65536"/>
                <a:gd name="T8" fmla="*/ 0 60000 65536"/>
                <a:gd name="T9" fmla="*/ 0 w 38322"/>
                <a:gd name="T10" fmla="*/ 0 h 34803"/>
                <a:gd name="T11" fmla="*/ 38322 w 38322"/>
                <a:gd name="T12" fmla="*/ 34803 h 34803"/>
              </a:gdLst>
              <a:ahLst/>
              <a:cxnLst>
                <a:cxn ang="T6">
                  <a:pos x="T0" y="T1"/>
                </a:cxn>
                <a:cxn ang="T7">
                  <a:pos x="T2" y="T3"/>
                </a:cxn>
                <a:cxn ang="T8">
                  <a:pos x="T4" y="T5"/>
                </a:cxn>
              </a:cxnLst>
              <a:rect l="T9" t="T10" r="T11" b="T12"/>
              <a:pathLst>
                <a:path w="38322" h="34803" fill="none" extrusionOk="0">
                  <a:moveTo>
                    <a:pt x="-1" y="7927"/>
                  </a:moveTo>
                  <a:cubicBezTo>
                    <a:pt x="4102" y="2910"/>
                    <a:pt x="10240" y="-1"/>
                    <a:pt x="16722" y="0"/>
                  </a:cubicBezTo>
                  <a:cubicBezTo>
                    <a:pt x="28651" y="0"/>
                    <a:pt x="38322" y="9670"/>
                    <a:pt x="38322" y="21600"/>
                  </a:cubicBezTo>
                  <a:cubicBezTo>
                    <a:pt x="38322" y="26378"/>
                    <a:pt x="36737" y="31021"/>
                    <a:pt x="33817" y="34803"/>
                  </a:cubicBezTo>
                </a:path>
                <a:path w="38322" h="34803" stroke="0" extrusionOk="0">
                  <a:moveTo>
                    <a:pt x="-1" y="7927"/>
                  </a:moveTo>
                  <a:cubicBezTo>
                    <a:pt x="4102" y="2910"/>
                    <a:pt x="10240" y="-1"/>
                    <a:pt x="16722" y="0"/>
                  </a:cubicBezTo>
                  <a:cubicBezTo>
                    <a:pt x="28651" y="0"/>
                    <a:pt x="38322" y="9670"/>
                    <a:pt x="38322" y="21600"/>
                  </a:cubicBezTo>
                  <a:cubicBezTo>
                    <a:pt x="38322" y="26378"/>
                    <a:pt x="36737" y="31021"/>
                    <a:pt x="33817" y="34803"/>
                  </a:cubicBezTo>
                  <a:lnTo>
                    <a:pt x="16722" y="21600"/>
                  </a:lnTo>
                  <a:lnTo>
                    <a:pt x="-1" y="7927"/>
                  </a:lnTo>
                  <a:close/>
                </a:path>
              </a:pathLst>
            </a:custGeom>
            <a:noFill/>
            <a:ln w="9525">
              <a:solidFill>
                <a:srgbClr val="AAE6FF"/>
              </a:solidFill>
              <a:round/>
              <a:headEnd/>
              <a:tailEnd/>
            </a:ln>
          </p:spPr>
          <p:txBody>
            <a:bodyPr/>
            <a:lstStyle/>
            <a:p>
              <a:endParaRPr lang="en-US"/>
            </a:p>
          </p:txBody>
        </p:sp>
        <p:sp>
          <p:nvSpPr>
            <p:cNvPr id="36923" name="Freeform 7"/>
            <p:cNvSpPr>
              <a:spLocks/>
            </p:cNvSpPr>
            <p:nvPr/>
          </p:nvSpPr>
          <p:spPr bwMode="auto">
            <a:xfrm>
              <a:off x="661" y="859"/>
              <a:ext cx="455" cy="50"/>
            </a:xfrm>
            <a:custGeom>
              <a:avLst/>
              <a:gdLst>
                <a:gd name="T0" fmla="*/ 0 w 455"/>
                <a:gd name="T1" fmla="*/ 50 h 50"/>
                <a:gd name="T2" fmla="*/ 54 w 455"/>
                <a:gd name="T3" fmla="*/ 0 h 50"/>
                <a:gd name="T4" fmla="*/ 455 w 455"/>
                <a:gd name="T5" fmla="*/ 0 h 50"/>
                <a:gd name="T6" fmla="*/ 402 w 455"/>
                <a:gd name="T7" fmla="*/ 50 h 50"/>
                <a:gd name="T8" fmla="*/ 0 w 455"/>
                <a:gd name="T9" fmla="*/ 50 h 50"/>
                <a:gd name="T10" fmla="*/ 0 60000 65536"/>
                <a:gd name="T11" fmla="*/ 0 60000 65536"/>
                <a:gd name="T12" fmla="*/ 0 60000 65536"/>
                <a:gd name="T13" fmla="*/ 0 60000 65536"/>
                <a:gd name="T14" fmla="*/ 0 60000 65536"/>
                <a:gd name="T15" fmla="*/ 0 w 455"/>
                <a:gd name="T16" fmla="*/ 0 h 50"/>
                <a:gd name="T17" fmla="*/ 455 w 455"/>
                <a:gd name="T18" fmla="*/ 50 h 50"/>
              </a:gdLst>
              <a:ahLst/>
              <a:cxnLst>
                <a:cxn ang="T10">
                  <a:pos x="T0" y="T1"/>
                </a:cxn>
                <a:cxn ang="T11">
                  <a:pos x="T2" y="T3"/>
                </a:cxn>
                <a:cxn ang="T12">
                  <a:pos x="T4" y="T5"/>
                </a:cxn>
                <a:cxn ang="T13">
                  <a:pos x="T6" y="T7"/>
                </a:cxn>
                <a:cxn ang="T14">
                  <a:pos x="T8" y="T9"/>
                </a:cxn>
              </a:cxnLst>
              <a:rect l="T15" t="T16" r="T17" b="T18"/>
              <a:pathLst>
                <a:path w="455" h="50">
                  <a:moveTo>
                    <a:pt x="0" y="50"/>
                  </a:moveTo>
                  <a:lnTo>
                    <a:pt x="54" y="0"/>
                  </a:lnTo>
                  <a:lnTo>
                    <a:pt x="455" y="0"/>
                  </a:lnTo>
                  <a:lnTo>
                    <a:pt x="402" y="50"/>
                  </a:lnTo>
                  <a:lnTo>
                    <a:pt x="0" y="50"/>
                  </a:lnTo>
                  <a:close/>
                </a:path>
              </a:pathLst>
            </a:custGeom>
            <a:solidFill>
              <a:srgbClr val="00B4FF"/>
            </a:solidFill>
            <a:ln w="9525">
              <a:noFill/>
              <a:round/>
              <a:headEnd/>
              <a:tailEnd/>
            </a:ln>
          </p:spPr>
          <p:txBody>
            <a:bodyPr/>
            <a:lstStyle/>
            <a:p>
              <a:endParaRPr lang="en-US"/>
            </a:p>
          </p:txBody>
        </p:sp>
        <p:sp>
          <p:nvSpPr>
            <p:cNvPr id="36924" name="Freeform 8"/>
            <p:cNvSpPr>
              <a:spLocks/>
            </p:cNvSpPr>
            <p:nvPr/>
          </p:nvSpPr>
          <p:spPr bwMode="auto">
            <a:xfrm>
              <a:off x="661" y="859"/>
              <a:ext cx="455" cy="50"/>
            </a:xfrm>
            <a:custGeom>
              <a:avLst/>
              <a:gdLst>
                <a:gd name="T0" fmla="*/ 0 w 455"/>
                <a:gd name="T1" fmla="*/ 50 h 50"/>
                <a:gd name="T2" fmla="*/ 54 w 455"/>
                <a:gd name="T3" fmla="*/ 0 h 50"/>
                <a:gd name="T4" fmla="*/ 455 w 455"/>
                <a:gd name="T5" fmla="*/ 0 h 50"/>
                <a:gd name="T6" fmla="*/ 402 w 455"/>
                <a:gd name="T7" fmla="*/ 50 h 50"/>
                <a:gd name="T8" fmla="*/ 0 w 455"/>
                <a:gd name="T9" fmla="*/ 50 h 50"/>
                <a:gd name="T10" fmla="*/ 0 60000 65536"/>
                <a:gd name="T11" fmla="*/ 0 60000 65536"/>
                <a:gd name="T12" fmla="*/ 0 60000 65536"/>
                <a:gd name="T13" fmla="*/ 0 60000 65536"/>
                <a:gd name="T14" fmla="*/ 0 60000 65536"/>
                <a:gd name="T15" fmla="*/ 0 w 455"/>
                <a:gd name="T16" fmla="*/ 0 h 50"/>
                <a:gd name="T17" fmla="*/ 455 w 455"/>
                <a:gd name="T18" fmla="*/ 50 h 50"/>
              </a:gdLst>
              <a:ahLst/>
              <a:cxnLst>
                <a:cxn ang="T10">
                  <a:pos x="T0" y="T1"/>
                </a:cxn>
                <a:cxn ang="T11">
                  <a:pos x="T2" y="T3"/>
                </a:cxn>
                <a:cxn ang="T12">
                  <a:pos x="T4" y="T5"/>
                </a:cxn>
                <a:cxn ang="T13">
                  <a:pos x="T6" y="T7"/>
                </a:cxn>
                <a:cxn ang="T14">
                  <a:pos x="T8" y="T9"/>
                </a:cxn>
              </a:cxnLst>
              <a:rect l="T15" t="T16" r="T17" b="T18"/>
              <a:pathLst>
                <a:path w="455" h="50">
                  <a:moveTo>
                    <a:pt x="0" y="50"/>
                  </a:moveTo>
                  <a:lnTo>
                    <a:pt x="54" y="0"/>
                  </a:lnTo>
                  <a:lnTo>
                    <a:pt x="455" y="0"/>
                  </a:lnTo>
                  <a:lnTo>
                    <a:pt x="402" y="50"/>
                  </a:lnTo>
                  <a:lnTo>
                    <a:pt x="0" y="50"/>
                  </a:lnTo>
                  <a:close/>
                </a:path>
              </a:pathLst>
            </a:custGeom>
            <a:solidFill>
              <a:srgbClr val="00B4FF"/>
            </a:solidFill>
            <a:ln w="4763">
              <a:solidFill>
                <a:srgbClr val="AAE6FF"/>
              </a:solidFill>
              <a:round/>
              <a:headEnd/>
              <a:tailEnd/>
            </a:ln>
          </p:spPr>
          <p:txBody>
            <a:bodyPr/>
            <a:lstStyle/>
            <a:p>
              <a:endParaRPr lang="en-US"/>
            </a:p>
          </p:txBody>
        </p:sp>
        <p:sp>
          <p:nvSpPr>
            <p:cNvPr id="36925" name="Rectangle 9"/>
            <p:cNvSpPr>
              <a:spLocks noChangeArrowheads="1"/>
            </p:cNvSpPr>
            <p:nvPr/>
          </p:nvSpPr>
          <p:spPr bwMode="auto">
            <a:xfrm>
              <a:off x="661" y="909"/>
              <a:ext cx="402" cy="76"/>
            </a:xfrm>
            <a:prstGeom prst="rect">
              <a:avLst/>
            </a:prstGeom>
            <a:solidFill>
              <a:srgbClr val="0096D5"/>
            </a:solidFill>
            <a:ln w="9525">
              <a:noFill/>
              <a:miter lim="800000"/>
              <a:headEnd/>
              <a:tailEnd/>
            </a:ln>
          </p:spPr>
          <p:txBody>
            <a:bodyPr/>
            <a:lstStyle/>
            <a:p>
              <a:endParaRPr lang="en-US" altLang="en-US">
                <a:solidFill>
                  <a:schemeClr val="bg1"/>
                </a:solidFill>
              </a:endParaRPr>
            </a:p>
          </p:txBody>
        </p:sp>
        <p:sp>
          <p:nvSpPr>
            <p:cNvPr id="36926" name="Rectangle 10"/>
            <p:cNvSpPr>
              <a:spLocks noChangeArrowheads="1"/>
            </p:cNvSpPr>
            <p:nvPr/>
          </p:nvSpPr>
          <p:spPr bwMode="auto">
            <a:xfrm>
              <a:off x="662" y="910"/>
              <a:ext cx="400" cy="74"/>
            </a:xfrm>
            <a:prstGeom prst="rect">
              <a:avLst/>
            </a:prstGeom>
            <a:solidFill>
              <a:srgbClr val="0096D5"/>
            </a:solidFill>
            <a:ln w="4763">
              <a:solidFill>
                <a:srgbClr val="AAE6FF"/>
              </a:solidFill>
              <a:miter lim="800000"/>
              <a:headEnd/>
              <a:tailEnd/>
            </a:ln>
          </p:spPr>
          <p:txBody>
            <a:bodyPr/>
            <a:lstStyle/>
            <a:p>
              <a:endParaRPr lang="en-US" altLang="en-US">
                <a:solidFill>
                  <a:schemeClr val="bg1"/>
                </a:solidFill>
              </a:endParaRPr>
            </a:p>
          </p:txBody>
        </p:sp>
        <p:sp>
          <p:nvSpPr>
            <p:cNvPr id="36927" name="Freeform 11"/>
            <p:cNvSpPr>
              <a:spLocks/>
            </p:cNvSpPr>
            <p:nvPr/>
          </p:nvSpPr>
          <p:spPr bwMode="auto">
            <a:xfrm>
              <a:off x="1063" y="859"/>
              <a:ext cx="53" cy="126"/>
            </a:xfrm>
            <a:custGeom>
              <a:avLst/>
              <a:gdLst>
                <a:gd name="T0" fmla="*/ 0 w 53"/>
                <a:gd name="T1" fmla="*/ 126 h 126"/>
                <a:gd name="T2" fmla="*/ 53 w 53"/>
                <a:gd name="T3" fmla="*/ 72 h 126"/>
                <a:gd name="T4" fmla="*/ 53 w 53"/>
                <a:gd name="T5" fmla="*/ 0 h 126"/>
                <a:gd name="T6" fmla="*/ 0 w 53"/>
                <a:gd name="T7" fmla="*/ 50 h 126"/>
                <a:gd name="T8" fmla="*/ 0 w 53"/>
                <a:gd name="T9" fmla="*/ 126 h 126"/>
                <a:gd name="T10" fmla="*/ 0 60000 65536"/>
                <a:gd name="T11" fmla="*/ 0 60000 65536"/>
                <a:gd name="T12" fmla="*/ 0 60000 65536"/>
                <a:gd name="T13" fmla="*/ 0 60000 65536"/>
                <a:gd name="T14" fmla="*/ 0 60000 65536"/>
                <a:gd name="T15" fmla="*/ 0 w 53"/>
                <a:gd name="T16" fmla="*/ 0 h 126"/>
                <a:gd name="T17" fmla="*/ 53 w 53"/>
                <a:gd name="T18" fmla="*/ 126 h 126"/>
              </a:gdLst>
              <a:ahLst/>
              <a:cxnLst>
                <a:cxn ang="T10">
                  <a:pos x="T0" y="T1"/>
                </a:cxn>
                <a:cxn ang="T11">
                  <a:pos x="T2" y="T3"/>
                </a:cxn>
                <a:cxn ang="T12">
                  <a:pos x="T4" y="T5"/>
                </a:cxn>
                <a:cxn ang="T13">
                  <a:pos x="T6" y="T7"/>
                </a:cxn>
                <a:cxn ang="T14">
                  <a:pos x="T8" y="T9"/>
                </a:cxn>
              </a:cxnLst>
              <a:rect l="T15" t="T16" r="T17" b="T18"/>
              <a:pathLst>
                <a:path w="53" h="126">
                  <a:moveTo>
                    <a:pt x="0" y="126"/>
                  </a:moveTo>
                  <a:lnTo>
                    <a:pt x="53" y="72"/>
                  </a:lnTo>
                  <a:lnTo>
                    <a:pt x="53" y="0"/>
                  </a:lnTo>
                  <a:lnTo>
                    <a:pt x="0" y="50"/>
                  </a:lnTo>
                  <a:lnTo>
                    <a:pt x="0" y="126"/>
                  </a:lnTo>
                  <a:close/>
                </a:path>
              </a:pathLst>
            </a:custGeom>
            <a:solidFill>
              <a:srgbClr val="005A80"/>
            </a:solidFill>
            <a:ln w="9525">
              <a:noFill/>
              <a:round/>
              <a:headEnd/>
              <a:tailEnd/>
            </a:ln>
          </p:spPr>
          <p:txBody>
            <a:bodyPr/>
            <a:lstStyle/>
            <a:p>
              <a:endParaRPr lang="en-US"/>
            </a:p>
          </p:txBody>
        </p:sp>
        <p:sp>
          <p:nvSpPr>
            <p:cNvPr id="36928" name="Freeform 12"/>
            <p:cNvSpPr>
              <a:spLocks/>
            </p:cNvSpPr>
            <p:nvPr/>
          </p:nvSpPr>
          <p:spPr bwMode="auto">
            <a:xfrm>
              <a:off x="1063" y="859"/>
              <a:ext cx="53" cy="126"/>
            </a:xfrm>
            <a:custGeom>
              <a:avLst/>
              <a:gdLst>
                <a:gd name="T0" fmla="*/ 0 w 53"/>
                <a:gd name="T1" fmla="*/ 126 h 126"/>
                <a:gd name="T2" fmla="*/ 53 w 53"/>
                <a:gd name="T3" fmla="*/ 72 h 126"/>
                <a:gd name="T4" fmla="*/ 53 w 53"/>
                <a:gd name="T5" fmla="*/ 0 h 126"/>
                <a:gd name="T6" fmla="*/ 0 w 53"/>
                <a:gd name="T7" fmla="*/ 50 h 126"/>
                <a:gd name="T8" fmla="*/ 0 w 53"/>
                <a:gd name="T9" fmla="*/ 126 h 126"/>
                <a:gd name="T10" fmla="*/ 0 60000 65536"/>
                <a:gd name="T11" fmla="*/ 0 60000 65536"/>
                <a:gd name="T12" fmla="*/ 0 60000 65536"/>
                <a:gd name="T13" fmla="*/ 0 60000 65536"/>
                <a:gd name="T14" fmla="*/ 0 60000 65536"/>
                <a:gd name="T15" fmla="*/ 0 w 53"/>
                <a:gd name="T16" fmla="*/ 0 h 126"/>
                <a:gd name="T17" fmla="*/ 53 w 53"/>
                <a:gd name="T18" fmla="*/ 126 h 126"/>
              </a:gdLst>
              <a:ahLst/>
              <a:cxnLst>
                <a:cxn ang="T10">
                  <a:pos x="T0" y="T1"/>
                </a:cxn>
                <a:cxn ang="T11">
                  <a:pos x="T2" y="T3"/>
                </a:cxn>
                <a:cxn ang="T12">
                  <a:pos x="T4" y="T5"/>
                </a:cxn>
                <a:cxn ang="T13">
                  <a:pos x="T6" y="T7"/>
                </a:cxn>
                <a:cxn ang="T14">
                  <a:pos x="T8" y="T9"/>
                </a:cxn>
              </a:cxnLst>
              <a:rect l="T15" t="T16" r="T17" b="T18"/>
              <a:pathLst>
                <a:path w="53" h="126">
                  <a:moveTo>
                    <a:pt x="0" y="126"/>
                  </a:moveTo>
                  <a:lnTo>
                    <a:pt x="53" y="72"/>
                  </a:lnTo>
                  <a:lnTo>
                    <a:pt x="53" y="0"/>
                  </a:lnTo>
                  <a:lnTo>
                    <a:pt x="0" y="50"/>
                  </a:lnTo>
                  <a:lnTo>
                    <a:pt x="0" y="126"/>
                  </a:lnTo>
                  <a:close/>
                </a:path>
              </a:pathLst>
            </a:custGeom>
            <a:solidFill>
              <a:srgbClr val="005A80"/>
            </a:solidFill>
            <a:ln w="4763">
              <a:solidFill>
                <a:srgbClr val="AAE6FF"/>
              </a:solidFill>
              <a:round/>
              <a:headEnd/>
              <a:tailEnd/>
            </a:ln>
          </p:spPr>
          <p:txBody>
            <a:bodyPr/>
            <a:lstStyle/>
            <a:p>
              <a:endParaRPr lang="en-US"/>
            </a:p>
          </p:txBody>
        </p:sp>
        <p:sp>
          <p:nvSpPr>
            <p:cNvPr id="36929" name="Freeform 13"/>
            <p:cNvSpPr>
              <a:spLocks/>
            </p:cNvSpPr>
            <p:nvPr/>
          </p:nvSpPr>
          <p:spPr bwMode="auto">
            <a:xfrm>
              <a:off x="674" y="859"/>
              <a:ext cx="433" cy="41"/>
            </a:xfrm>
            <a:custGeom>
              <a:avLst/>
              <a:gdLst>
                <a:gd name="T0" fmla="*/ 0 w 433"/>
                <a:gd name="T1" fmla="*/ 41 h 41"/>
                <a:gd name="T2" fmla="*/ 41 w 433"/>
                <a:gd name="T3" fmla="*/ 0 h 41"/>
                <a:gd name="T4" fmla="*/ 433 w 433"/>
                <a:gd name="T5" fmla="*/ 0 h 41"/>
                <a:gd name="T6" fmla="*/ 392 w 433"/>
                <a:gd name="T7" fmla="*/ 41 h 41"/>
                <a:gd name="T8" fmla="*/ 0 w 433"/>
                <a:gd name="T9" fmla="*/ 41 h 41"/>
                <a:gd name="T10" fmla="*/ 0 60000 65536"/>
                <a:gd name="T11" fmla="*/ 0 60000 65536"/>
                <a:gd name="T12" fmla="*/ 0 60000 65536"/>
                <a:gd name="T13" fmla="*/ 0 60000 65536"/>
                <a:gd name="T14" fmla="*/ 0 60000 65536"/>
                <a:gd name="T15" fmla="*/ 0 w 433"/>
                <a:gd name="T16" fmla="*/ 0 h 41"/>
                <a:gd name="T17" fmla="*/ 433 w 433"/>
                <a:gd name="T18" fmla="*/ 41 h 41"/>
              </a:gdLst>
              <a:ahLst/>
              <a:cxnLst>
                <a:cxn ang="T10">
                  <a:pos x="T0" y="T1"/>
                </a:cxn>
                <a:cxn ang="T11">
                  <a:pos x="T2" y="T3"/>
                </a:cxn>
                <a:cxn ang="T12">
                  <a:pos x="T4" y="T5"/>
                </a:cxn>
                <a:cxn ang="T13">
                  <a:pos x="T6" y="T7"/>
                </a:cxn>
                <a:cxn ang="T14">
                  <a:pos x="T8" y="T9"/>
                </a:cxn>
              </a:cxnLst>
              <a:rect l="T15" t="T16" r="T17" b="T18"/>
              <a:pathLst>
                <a:path w="433" h="41">
                  <a:moveTo>
                    <a:pt x="0" y="41"/>
                  </a:moveTo>
                  <a:lnTo>
                    <a:pt x="41" y="0"/>
                  </a:lnTo>
                  <a:lnTo>
                    <a:pt x="433" y="0"/>
                  </a:lnTo>
                  <a:lnTo>
                    <a:pt x="392" y="41"/>
                  </a:lnTo>
                  <a:lnTo>
                    <a:pt x="0" y="41"/>
                  </a:lnTo>
                  <a:close/>
                </a:path>
              </a:pathLst>
            </a:custGeom>
            <a:solidFill>
              <a:srgbClr val="000000"/>
            </a:solidFill>
            <a:ln w="9525">
              <a:noFill/>
              <a:round/>
              <a:headEnd/>
              <a:tailEnd/>
            </a:ln>
          </p:spPr>
          <p:txBody>
            <a:bodyPr/>
            <a:lstStyle/>
            <a:p>
              <a:endParaRPr lang="en-US"/>
            </a:p>
          </p:txBody>
        </p:sp>
        <p:sp>
          <p:nvSpPr>
            <p:cNvPr id="36930" name="Freeform 14"/>
            <p:cNvSpPr>
              <a:spLocks/>
            </p:cNvSpPr>
            <p:nvPr/>
          </p:nvSpPr>
          <p:spPr bwMode="auto">
            <a:xfrm>
              <a:off x="674" y="859"/>
              <a:ext cx="433" cy="41"/>
            </a:xfrm>
            <a:custGeom>
              <a:avLst/>
              <a:gdLst>
                <a:gd name="T0" fmla="*/ 0 w 433"/>
                <a:gd name="T1" fmla="*/ 41 h 41"/>
                <a:gd name="T2" fmla="*/ 41 w 433"/>
                <a:gd name="T3" fmla="*/ 0 h 41"/>
                <a:gd name="T4" fmla="*/ 433 w 433"/>
                <a:gd name="T5" fmla="*/ 0 h 41"/>
                <a:gd name="T6" fmla="*/ 392 w 433"/>
                <a:gd name="T7" fmla="*/ 41 h 41"/>
                <a:gd name="T8" fmla="*/ 0 w 433"/>
                <a:gd name="T9" fmla="*/ 41 h 41"/>
                <a:gd name="T10" fmla="*/ 0 60000 65536"/>
                <a:gd name="T11" fmla="*/ 0 60000 65536"/>
                <a:gd name="T12" fmla="*/ 0 60000 65536"/>
                <a:gd name="T13" fmla="*/ 0 60000 65536"/>
                <a:gd name="T14" fmla="*/ 0 60000 65536"/>
                <a:gd name="T15" fmla="*/ 0 w 433"/>
                <a:gd name="T16" fmla="*/ 0 h 41"/>
                <a:gd name="T17" fmla="*/ 433 w 433"/>
                <a:gd name="T18" fmla="*/ 41 h 41"/>
              </a:gdLst>
              <a:ahLst/>
              <a:cxnLst>
                <a:cxn ang="T10">
                  <a:pos x="T0" y="T1"/>
                </a:cxn>
                <a:cxn ang="T11">
                  <a:pos x="T2" y="T3"/>
                </a:cxn>
                <a:cxn ang="T12">
                  <a:pos x="T4" y="T5"/>
                </a:cxn>
                <a:cxn ang="T13">
                  <a:pos x="T6" y="T7"/>
                </a:cxn>
                <a:cxn ang="T14">
                  <a:pos x="T8" y="T9"/>
                </a:cxn>
              </a:cxnLst>
              <a:rect l="T15" t="T16" r="T17" b="T18"/>
              <a:pathLst>
                <a:path w="433" h="41">
                  <a:moveTo>
                    <a:pt x="0" y="41"/>
                  </a:moveTo>
                  <a:lnTo>
                    <a:pt x="41" y="0"/>
                  </a:lnTo>
                  <a:lnTo>
                    <a:pt x="433" y="0"/>
                  </a:lnTo>
                  <a:lnTo>
                    <a:pt x="392" y="41"/>
                  </a:lnTo>
                  <a:lnTo>
                    <a:pt x="0" y="41"/>
                  </a:lnTo>
                  <a:close/>
                </a:path>
              </a:pathLst>
            </a:custGeom>
            <a:solidFill>
              <a:srgbClr val="000000"/>
            </a:solidFill>
            <a:ln w="4763">
              <a:solidFill>
                <a:srgbClr val="000000"/>
              </a:solidFill>
              <a:round/>
              <a:headEnd/>
              <a:tailEnd/>
            </a:ln>
          </p:spPr>
          <p:txBody>
            <a:bodyPr/>
            <a:lstStyle/>
            <a:p>
              <a:endParaRPr lang="en-US"/>
            </a:p>
          </p:txBody>
        </p:sp>
        <p:sp>
          <p:nvSpPr>
            <p:cNvPr id="36931" name="Freeform 15"/>
            <p:cNvSpPr>
              <a:spLocks/>
            </p:cNvSpPr>
            <p:nvPr/>
          </p:nvSpPr>
          <p:spPr bwMode="auto">
            <a:xfrm>
              <a:off x="661" y="534"/>
              <a:ext cx="446" cy="41"/>
            </a:xfrm>
            <a:custGeom>
              <a:avLst/>
              <a:gdLst>
                <a:gd name="T0" fmla="*/ 0 w 446"/>
                <a:gd name="T1" fmla="*/ 41 h 41"/>
                <a:gd name="T2" fmla="*/ 45 w 446"/>
                <a:gd name="T3" fmla="*/ 0 h 41"/>
                <a:gd name="T4" fmla="*/ 446 w 446"/>
                <a:gd name="T5" fmla="*/ 0 h 41"/>
                <a:gd name="T6" fmla="*/ 402 w 446"/>
                <a:gd name="T7" fmla="*/ 41 h 41"/>
                <a:gd name="T8" fmla="*/ 0 w 446"/>
                <a:gd name="T9" fmla="*/ 41 h 41"/>
                <a:gd name="T10" fmla="*/ 0 60000 65536"/>
                <a:gd name="T11" fmla="*/ 0 60000 65536"/>
                <a:gd name="T12" fmla="*/ 0 60000 65536"/>
                <a:gd name="T13" fmla="*/ 0 60000 65536"/>
                <a:gd name="T14" fmla="*/ 0 60000 65536"/>
                <a:gd name="T15" fmla="*/ 0 w 446"/>
                <a:gd name="T16" fmla="*/ 0 h 41"/>
                <a:gd name="T17" fmla="*/ 446 w 446"/>
                <a:gd name="T18" fmla="*/ 41 h 41"/>
              </a:gdLst>
              <a:ahLst/>
              <a:cxnLst>
                <a:cxn ang="T10">
                  <a:pos x="T0" y="T1"/>
                </a:cxn>
                <a:cxn ang="T11">
                  <a:pos x="T2" y="T3"/>
                </a:cxn>
                <a:cxn ang="T12">
                  <a:pos x="T4" y="T5"/>
                </a:cxn>
                <a:cxn ang="T13">
                  <a:pos x="T6" y="T7"/>
                </a:cxn>
                <a:cxn ang="T14">
                  <a:pos x="T8" y="T9"/>
                </a:cxn>
              </a:cxnLst>
              <a:rect l="T15" t="T16" r="T17" b="T18"/>
              <a:pathLst>
                <a:path w="446" h="41">
                  <a:moveTo>
                    <a:pt x="0" y="41"/>
                  </a:moveTo>
                  <a:lnTo>
                    <a:pt x="45" y="0"/>
                  </a:lnTo>
                  <a:lnTo>
                    <a:pt x="446" y="0"/>
                  </a:lnTo>
                  <a:lnTo>
                    <a:pt x="402" y="41"/>
                  </a:lnTo>
                  <a:lnTo>
                    <a:pt x="0" y="41"/>
                  </a:lnTo>
                  <a:close/>
                </a:path>
              </a:pathLst>
            </a:custGeom>
            <a:solidFill>
              <a:srgbClr val="00B4FF"/>
            </a:solidFill>
            <a:ln w="9525">
              <a:noFill/>
              <a:round/>
              <a:headEnd/>
              <a:tailEnd/>
            </a:ln>
          </p:spPr>
          <p:txBody>
            <a:bodyPr/>
            <a:lstStyle/>
            <a:p>
              <a:endParaRPr lang="en-US"/>
            </a:p>
          </p:txBody>
        </p:sp>
        <p:sp>
          <p:nvSpPr>
            <p:cNvPr id="36932" name="Freeform 16"/>
            <p:cNvSpPr>
              <a:spLocks/>
            </p:cNvSpPr>
            <p:nvPr/>
          </p:nvSpPr>
          <p:spPr bwMode="auto">
            <a:xfrm>
              <a:off x="661" y="534"/>
              <a:ext cx="446" cy="41"/>
            </a:xfrm>
            <a:custGeom>
              <a:avLst/>
              <a:gdLst>
                <a:gd name="T0" fmla="*/ 0 w 446"/>
                <a:gd name="T1" fmla="*/ 41 h 41"/>
                <a:gd name="T2" fmla="*/ 45 w 446"/>
                <a:gd name="T3" fmla="*/ 0 h 41"/>
                <a:gd name="T4" fmla="*/ 446 w 446"/>
                <a:gd name="T5" fmla="*/ 0 h 41"/>
                <a:gd name="T6" fmla="*/ 402 w 446"/>
                <a:gd name="T7" fmla="*/ 41 h 41"/>
                <a:gd name="T8" fmla="*/ 0 w 446"/>
                <a:gd name="T9" fmla="*/ 41 h 41"/>
                <a:gd name="T10" fmla="*/ 0 60000 65536"/>
                <a:gd name="T11" fmla="*/ 0 60000 65536"/>
                <a:gd name="T12" fmla="*/ 0 60000 65536"/>
                <a:gd name="T13" fmla="*/ 0 60000 65536"/>
                <a:gd name="T14" fmla="*/ 0 60000 65536"/>
                <a:gd name="T15" fmla="*/ 0 w 446"/>
                <a:gd name="T16" fmla="*/ 0 h 41"/>
                <a:gd name="T17" fmla="*/ 446 w 446"/>
                <a:gd name="T18" fmla="*/ 41 h 41"/>
              </a:gdLst>
              <a:ahLst/>
              <a:cxnLst>
                <a:cxn ang="T10">
                  <a:pos x="T0" y="T1"/>
                </a:cxn>
                <a:cxn ang="T11">
                  <a:pos x="T2" y="T3"/>
                </a:cxn>
                <a:cxn ang="T12">
                  <a:pos x="T4" y="T5"/>
                </a:cxn>
                <a:cxn ang="T13">
                  <a:pos x="T6" y="T7"/>
                </a:cxn>
                <a:cxn ang="T14">
                  <a:pos x="T8" y="T9"/>
                </a:cxn>
              </a:cxnLst>
              <a:rect l="T15" t="T16" r="T17" b="T18"/>
              <a:pathLst>
                <a:path w="446" h="41">
                  <a:moveTo>
                    <a:pt x="0" y="41"/>
                  </a:moveTo>
                  <a:lnTo>
                    <a:pt x="45" y="0"/>
                  </a:lnTo>
                  <a:lnTo>
                    <a:pt x="446" y="0"/>
                  </a:lnTo>
                  <a:lnTo>
                    <a:pt x="402" y="41"/>
                  </a:lnTo>
                  <a:lnTo>
                    <a:pt x="0" y="41"/>
                  </a:lnTo>
                  <a:close/>
                </a:path>
              </a:pathLst>
            </a:custGeom>
            <a:solidFill>
              <a:srgbClr val="00B4FF"/>
            </a:solidFill>
            <a:ln w="4763">
              <a:solidFill>
                <a:srgbClr val="AAE6FF"/>
              </a:solidFill>
              <a:round/>
              <a:headEnd/>
              <a:tailEnd/>
            </a:ln>
          </p:spPr>
          <p:txBody>
            <a:bodyPr/>
            <a:lstStyle/>
            <a:p>
              <a:endParaRPr lang="en-US"/>
            </a:p>
          </p:txBody>
        </p:sp>
        <p:sp>
          <p:nvSpPr>
            <p:cNvPr id="36933" name="Rectangle 17"/>
            <p:cNvSpPr>
              <a:spLocks noChangeArrowheads="1"/>
            </p:cNvSpPr>
            <p:nvPr/>
          </p:nvSpPr>
          <p:spPr bwMode="auto">
            <a:xfrm>
              <a:off x="662" y="576"/>
              <a:ext cx="403" cy="317"/>
            </a:xfrm>
            <a:prstGeom prst="rect">
              <a:avLst/>
            </a:prstGeom>
            <a:solidFill>
              <a:srgbClr val="0096D5"/>
            </a:solidFill>
            <a:ln w="4763">
              <a:solidFill>
                <a:srgbClr val="AAE6FF"/>
              </a:solidFill>
              <a:miter lim="800000"/>
              <a:headEnd/>
              <a:tailEnd/>
            </a:ln>
          </p:spPr>
          <p:txBody>
            <a:bodyPr/>
            <a:lstStyle/>
            <a:p>
              <a:endParaRPr lang="en-US" altLang="en-US">
                <a:solidFill>
                  <a:schemeClr val="bg1"/>
                </a:solidFill>
              </a:endParaRPr>
            </a:p>
          </p:txBody>
        </p:sp>
        <p:sp>
          <p:nvSpPr>
            <p:cNvPr id="36934" name="Rectangle 18"/>
            <p:cNvSpPr>
              <a:spLocks noChangeArrowheads="1"/>
            </p:cNvSpPr>
            <p:nvPr/>
          </p:nvSpPr>
          <p:spPr bwMode="auto">
            <a:xfrm>
              <a:off x="697" y="617"/>
              <a:ext cx="333" cy="244"/>
            </a:xfrm>
            <a:prstGeom prst="rect">
              <a:avLst/>
            </a:prstGeom>
            <a:solidFill>
              <a:srgbClr val="FFFFFF"/>
            </a:solidFill>
            <a:ln w="4763">
              <a:solidFill>
                <a:srgbClr val="003C55"/>
              </a:solidFill>
              <a:miter lim="800000"/>
              <a:headEnd/>
              <a:tailEnd/>
            </a:ln>
          </p:spPr>
          <p:txBody>
            <a:bodyPr/>
            <a:lstStyle/>
            <a:p>
              <a:endParaRPr lang="en-US" altLang="en-US">
                <a:solidFill>
                  <a:schemeClr val="bg1"/>
                </a:solidFill>
              </a:endParaRPr>
            </a:p>
          </p:txBody>
        </p:sp>
        <p:sp>
          <p:nvSpPr>
            <p:cNvPr id="36935" name="Freeform 19"/>
            <p:cNvSpPr>
              <a:spLocks/>
            </p:cNvSpPr>
            <p:nvPr/>
          </p:nvSpPr>
          <p:spPr bwMode="auto">
            <a:xfrm>
              <a:off x="1063" y="534"/>
              <a:ext cx="44" cy="356"/>
            </a:xfrm>
            <a:custGeom>
              <a:avLst/>
              <a:gdLst>
                <a:gd name="T0" fmla="*/ 0 w 44"/>
                <a:gd name="T1" fmla="*/ 356 h 356"/>
                <a:gd name="T2" fmla="*/ 44 w 44"/>
                <a:gd name="T3" fmla="*/ 312 h 356"/>
                <a:gd name="T4" fmla="*/ 44 w 44"/>
                <a:gd name="T5" fmla="*/ 0 h 356"/>
                <a:gd name="T6" fmla="*/ 0 w 44"/>
                <a:gd name="T7" fmla="*/ 41 h 356"/>
                <a:gd name="T8" fmla="*/ 0 w 44"/>
                <a:gd name="T9" fmla="*/ 356 h 356"/>
                <a:gd name="T10" fmla="*/ 0 60000 65536"/>
                <a:gd name="T11" fmla="*/ 0 60000 65536"/>
                <a:gd name="T12" fmla="*/ 0 60000 65536"/>
                <a:gd name="T13" fmla="*/ 0 60000 65536"/>
                <a:gd name="T14" fmla="*/ 0 60000 65536"/>
                <a:gd name="T15" fmla="*/ 0 w 44"/>
                <a:gd name="T16" fmla="*/ 0 h 356"/>
                <a:gd name="T17" fmla="*/ 44 w 44"/>
                <a:gd name="T18" fmla="*/ 356 h 356"/>
              </a:gdLst>
              <a:ahLst/>
              <a:cxnLst>
                <a:cxn ang="T10">
                  <a:pos x="T0" y="T1"/>
                </a:cxn>
                <a:cxn ang="T11">
                  <a:pos x="T2" y="T3"/>
                </a:cxn>
                <a:cxn ang="T12">
                  <a:pos x="T4" y="T5"/>
                </a:cxn>
                <a:cxn ang="T13">
                  <a:pos x="T6" y="T7"/>
                </a:cxn>
                <a:cxn ang="T14">
                  <a:pos x="T8" y="T9"/>
                </a:cxn>
              </a:cxnLst>
              <a:rect l="T15" t="T16" r="T17" b="T18"/>
              <a:pathLst>
                <a:path w="44" h="356">
                  <a:moveTo>
                    <a:pt x="0" y="356"/>
                  </a:moveTo>
                  <a:lnTo>
                    <a:pt x="44" y="312"/>
                  </a:lnTo>
                  <a:lnTo>
                    <a:pt x="44" y="0"/>
                  </a:lnTo>
                  <a:lnTo>
                    <a:pt x="0" y="41"/>
                  </a:lnTo>
                  <a:lnTo>
                    <a:pt x="0" y="356"/>
                  </a:lnTo>
                  <a:close/>
                </a:path>
              </a:pathLst>
            </a:custGeom>
            <a:solidFill>
              <a:srgbClr val="005A80"/>
            </a:solidFill>
            <a:ln w="9525">
              <a:noFill/>
              <a:round/>
              <a:headEnd/>
              <a:tailEnd/>
            </a:ln>
          </p:spPr>
          <p:txBody>
            <a:bodyPr/>
            <a:lstStyle/>
            <a:p>
              <a:endParaRPr lang="en-US"/>
            </a:p>
          </p:txBody>
        </p:sp>
        <p:sp>
          <p:nvSpPr>
            <p:cNvPr id="36936" name="Freeform 20"/>
            <p:cNvSpPr>
              <a:spLocks/>
            </p:cNvSpPr>
            <p:nvPr/>
          </p:nvSpPr>
          <p:spPr bwMode="auto">
            <a:xfrm>
              <a:off x="1063" y="534"/>
              <a:ext cx="44" cy="356"/>
            </a:xfrm>
            <a:custGeom>
              <a:avLst/>
              <a:gdLst>
                <a:gd name="T0" fmla="*/ 0 w 44"/>
                <a:gd name="T1" fmla="*/ 356 h 356"/>
                <a:gd name="T2" fmla="*/ 44 w 44"/>
                <a:gd name="T3" fmla="*/ 312 h 356"/>
                <a:gd name="T4" fmla="*/ 44 w 44"/>
                <a:gd name="T5" fmla="*/ 0 h 356"/>
                <a:gd name="T6" fmla="*/ 0 w 44"/>
                <a:gd name="T7" fmla="*/ 41 h 356"/>
                <a:gd name="T8" fmla="*/ 0 w 44"/>
                <a:gd name="T9" fmla="*/ 356 h 356"/>
                <a:gd name="T10" fmla="*/ 0 60000 65536"/>
                <a:gd name="T11" fmla="*/ 0 60000 65536"/>
                <a:gd name="T12" fmla="*/ 0 60000 65536"/>
                <a:gd name="T13" fmla="*/ 0 60000 65536"/>
                <a:gd name="T14" fmla="*/ 0 60000 65536"/>
                <a:gd name="T15" fmla="*/ 0 w 44"/>
                <a:gd name="T16" fmla="*/ 0 h 356"/>
                <a:gd name="T17" fmla="*/ 44 w 44"/>
                <a:gd name="T18" fmla="*/ 356 h 356"/>
              </a:gdLst>
              <a:ahLst/>
              <a:cxnLst>
                <a:cxn ang="T10">
                  <a:pos x="T0" y="T1"/>
                </a:cxn>
                <a:cxn ang="T11">
                  <a:pos x="T2" y="T3"/>
                </a:cxn>
                <a:cxn ang="T12">
                  <a:pos x="T4" y="T5"/>
                </a:cxn>
                <a:cxn ang="T13">
                  <a:pos x="T6" y="T7"/>
                </a:cxn>
                <a:cxn ang="T14">
                  <a:pos x="T8" y="T9"/>
                </a:cxn>
              </a:cxnLst>
              <a:rect l="T15" t="T16" r="T17" b="T18"/>
              <a:pathLst>
                <a:path w="44" h="356">
                  <a:moveTo>
                    <a:pt x="0" y="356"/>
                  </a:moveTo>
                  <a:lnTo>
                    <a:pt x="44" y="312"/>
                  </a:lnTo>
                  <a:lnTo>
                    <a:pt x="44" y="0"/>
                  </a:lnTo>
                  <a:lnTo>
                    <a:pt x="0" y="41"/>
                  </a:lnTo>
                  <a:lnTo>
                    <a:pt x="0" y="356"/>
                  </a:lnTo>
                  <a:close/>
                </a:path>
              </a:pathLst>
            </a:custGeom>
            <a:solidFill>
              <a:srgbClr val="005A80"/>
            </a:solidFill>
            <a:ln w="4763">
              <a:solidFill>
                <a:srgbClr val="AAE6FF"/>
              </a:solidFill>
              <a:round/>
              <a:headEnd/>
              <a:tailEnd/>
            </a:ln>
          </p:spPr>
          <p:txBody>
            <a:bodyPr/>
            <a:lstStyle/>
            <a:p>
              <a:endParaRPr lang="en-US"/>
            </a:p>
          </p:txBody>
        </p:sp>
        <p:sp>
          <p:nvSpPr>
            <p:cNvPr id="36937" name="Freeform 21"/>
            <p:cNvSpPr>
              <a:spLocks/>
            </p:cNvSpPr>
            <p:nvPr/>
          </p:nvSpPr>
          <p:spPr bwMode="auto">
            <a:xfrm>
              <a:off x="582" y="969"/>
              <a:ext cx="500" cy="79"/>
            </a:xfrm>
            <a:custGeom>
              <a:avLst/>
              <a:gdLst>
                <a:gd name="T0" fmla="*/ 0 w 500"/>
                <a:gd name="T1" fmla="*/ 79 h 79"/>
                <a:gd name="T2" fmla="*/ 64 w 500"/>
                <a:gd name="T3" fmla="*/ 0 h 79"/>
                <a:gd name="T4" fmla="*/ 500 w 500"/>
                <a:gd name="T5" fmla="*/ 0 h 79"/>
                <a:gd name="T6" fmla="*/ 437 w 500"/>
                <a:gd name="T7" fmla="*/ 79 h 79"/>
                <a:gd name="T8" fmla="*/ 0 w 500"/>
                <a:gd name="T9" fmla="*/ 79 h 79"/>
                <a:gd name="T10" fmla="*/ 0 60000 65536"/>
                <a:gd name="T11" fmla="*/ 0 60000 65536"/>
                <a:gd name="T12" fmla="*/ 0 60000 65536"/>
                <a:gd name="T13" fmla="*/ 0 60000 65536"/>
                <a:gd name="T14" fmla="*/ 0 60000 65536"/>
                <a:gd name="T15" fmla="*/ 0 w 500"/>
                <a:gd name="T16" fmla="*/ 0 h 79"/>
                <a:gd name="T17" fmla="*/ 500 w 500"/>
                <a:gd name="T18" fmla="*/ 79 h 79"/>
              </a:gdLst>
              <a:ahLst/>
              <a:cxnLst>
                <a:cxn ang="T10">
                  <a:pos x="T0" y="T1"/>
                </a:cxn>
                <a:cxn ang="T11">
                  <a:pos x="T2" y="T3"/>
                </a:cxn>
                <a:cxn ang="T12">
                  <a:pos x="T4" y="T5"/>
                </a:cxn>
                <a:cxn ang="T13">
                  <a:pos x="T6" y="T7"/>
                </a:cxn>
                <a:cxn ang="T14">
                  <a:pos x="T8" y="T9"/>
                </a:cxn>
              </a:cxnLst>
              <a:rect l="T15" t="T16" r="T17" b="T18"/>
              <a:pathLst>
                <a:path w="500" h="79">
                  <a:moveTo>
                    <a:pt x="0" y="79"/>
                  </a:moveTo>
                  <a:lnTo>
                    <a:pt x="64" y="0"/>
                  </a:lnTo>
                  <a:lnTo>
                    <a:pt x="500" y="0"/>
                  </a:lnTo>
                  <a:lnTo>
                    <a:pt x="437" y="79"/>
                  </a:lnTo>
                  <a:lnTo>
                    <a:pt x="0" y="79"/>
                  </a:lnTo>
                  <a:close/>
                </a:path>
              </a:pathLst>
            </a:custGeom>
            <a:solidFill>
              <a:srgbClr val="00B4FF"/>
            </a:solidFill>
            <a:ln w="9525">
              <a:noFill/>
              <a:round/>
              <a:headEnd/>
              <a:tailEnd/>
            </a:ln>
          </p:spPr>
          <p:txBody>
            <a:bodyPr/>
            <a:lstStyle/>
            <a:p>
              <a:endParaRPr lang="en-US"/>
            </a:p>
          </p:txBody>
        </p:sp>
        <p:sp>
          <p:nvSpPr>
            <p:cNvPr id="36938" name="Freeform 22"/>
            <p:cNvSpPr>
              <a:spLocks/>
            </p:cNvSpPr>
            <p:nvPr/>
          </p:nvSpPr>
          <p:spPr bwMode="auto">
            <a:xfrm>
              <a:off x="582" y="969"/>
              <a:ext cx="500" cy="79"/>
            </a:xfrm>
            <a:custGeom>
              <a:avLst/>
              <a:gdLst>
                <a:gd name="T0" fmla="*/ 0 w 500"/>
                <a:gd name="T1" fmla="*/ 79 h 79"/>
                <a:gd name="T2" fmla="*/ 64 w 500"/>
                <a:gd name="T3" fmla="*/ 0 h 79"/>
                <a:gd name="T4" fmla="*/ 500 w 500"/>
                <a:gd name="T5" fmla="*/ 0 h 79"/>
                <a:gd name="T6" fmla="*/ 437 w 500"/>
                <a:gd name="T7" fmla="*/ 79 h 79"/>
                <a:gd name="T8" fmla="*/ 0 w 500"/>
                <a:gd name="T9" fmla="*/ 79 h 79"/>
                <a:gd name="T10" fmla="*/ 0 60000 65536"/>
                <a:gd name="T11" fmla="*/ 0 60000 65536"/>
                <a:gd name="T12" fmla="*/ 0 60000 65536"/>
                <a:gd name="T13" fmla="*/ 0 60000 65536"/>
                <a:gd name="T14" fmla="*/ 0 60000 65536"/>
                <a:gd name="T15" fmla="*/ 0 w 500"/>
                <a:gd name="T16" fmla="*/ 0 h 79"/>
                <a:gd name="T17" fmla="*/ 500 w 500"/>
                <a:gd name="T18" fmla="*/ 79 h 79"/>
              </a:gdLst>
              <a:ahLst/>
              <a:cxnLst>
                <a:cxn ang="T10">
                  <a:pos x="T0" y="T1"/>
                </a:cxn>
                <a:cxn ang="T11">
                  <a:pos x="T2" y="T3"/>
                </a:cxn>
                <a:cxn ang="T12">
                  <a:pos x="T4" y="T5"/>
                </a:cxn>
                <a:cxn ang="T13">
                  <a:pos x="T6" y="T7"/>
                </a:cxn>
                <a:cxn ang="T14">
                  <a:pos x="T8" y="T9"/>
                </a:cxn>
              </a:cxnLst>
              <a:rect l="T15" t="T16" r="T17" b="T18"/>
              <a:pathLst>
                <a:path w="500" h="79">
                  <a:moveTo>
                    <a:pt x="0" y="79"/>
                  </a:moveTo>
                  <a:lnTo>
                    <a:pt x="64" y="0"/>
                  </a:lnTo>
                  <a:lnTo>
                    <a:pt x="500" y="0"/>
                  </a:lnTo>
                  <a:lnTo>
                    <a:pt x="437" y="79"/>
                  </a:lnTo>
                  <a:lnTo>
                    <a:pt x="0" y="79"/>
                  </a:lnTo>
                  <a:close/>
                </a:path>
              </a:pathLst>
            </a:custGeom>
            <a:solidFill>
              <a:srgbClr val="00B4FF"/>
            </a:solidFill>
            <a:ln w="4763">
              <a:solidFill>
                <a:srgbClr val="AAE6FF"/>
              </a:solidFill>
              <a:round/>
              <a:headEnd/>
              <a:tailEnd/>
            </a:ln>
          </p:spPr>
          <p:txBody>
            <a:bodyPr/>
            <a:lstStyle/>
            <a:p>
              <a:endParaRPr lang="en-US"/>
            </a:p>
          </p:txBody>
        </p:sp>
        <p:sp>
          <p:nvSpPr>
            <p:cNvPr id="36939" name="Freeform 23"/>
            <p:cNvSpPr>
              <a:spLocks/>
            </p:cNvSpPr>
            <p:nvPr/>
          </p:nvSpPr>
          <p:spPr bwMode="auto">
            <a:xfrm>
              <a:off x="1019" y="969"/>
              <a:ext cx="63" cy="95"/>
            </a:xfrm>
            <a:custGeom>
              <a:avLst/>
              <a:gdLst>
                <a:gd name="T0" fmla="*/ 0 w 63"/>
                <a:gd name="T1" fmla="*/ 95 h 95"/>
                <a:gd name="T2" fmla="*/ 63 w 63"/>
                <a:gd name="T3" fmla="*/ 29 h 95"/>
                <a:gd name="T4" fmla="*/ 63 w 63"/>
                <a:gd name="T5" fmla="*/ 0 h 95"/>
                <a:gd name="T6" fmla="*/ 0 w 63"/>
                <a:gd name="T7" fmla="*/ 79 h 95"/>
                <a:gd name="T8" fmla="*/ 0 w 63"/>
                <a:gd name="T9" fmla="*/ 95 h 95"/>
                <a:gd name="T10" fmla="*/ 0 60000 65536"/>
                <a:gd name="T11" fmla="*/ 0 60000 65536"/>
                <a:gd name="T12" fmla="*/ 0 60000 65536"/>
                <a:gd name="T13" fmla="*/ 0 60000 65536"/>
                <a:gd name="T14" fmla="*/ 0 60000 65536"/>
                <a:gd name="T15" fmla="*/ 0 w 63"/>
                <a:gd name="T16" fmla="*/ 0 h 95"/>
                <a:gd name="T17" fmla="*/ 63 w 63"/>
                <a:gd name="T18" fmla="*/ 95 h 95"/>
              </a:gdLst>
              <a:ahLst/>
              <a:cxnLst>
                <a:cxn ang="T10">
                  <a:pos x="T0" y="T1"/>
                </a:cxn>
                <a:cxn ang="T11">
                  <a:pos x="T2" y="T3"/>
                </a:cxn>
                <a:cxn ang="T12">
                  <a:pos x="T4" y="T5"/>
                </a:cxn>
                <a:cxn ang="T13">
                  <a:pos x="T6" y="T7"/>
                </a:cxn>
                <a:cxn ang="T14">
                  <a:pos x="T8" y="T9"/>
                </a:cxn>
              </a:cxnLst>
              <a:rect l="T15" t="T16" r="T17" b="T18"/>
              <a:pathLst>
                <a:path w="63" h="95">
                  <a:moveTo>
                    <a:pt x="0" y="95"/>
                  </a:moveTo>
                  <a:lnTo>
                    <a:pt x="63" y="29"/>
                  </a:lnTo>
                  <a:lnTo>
                    <a:pt x="63" y="0"/>
                  </a:lnTo>
                  <a:lnTo>
                    <a:pt x="0" y="79"/>
                  </a:lnTo>
                  <a:lnTo>
                    <a:pt x="0" y="95"/>
                  </a:lnTo>
                  <a:close/>
                </a:path>
              </a:pathLst>
            </a:custGeom>
            <a:solidFill>
              <a:srgbClr val="005A80"/>
            </a:solidFill>
            <a:ln w="9525">
              <a:noFill/>
              <a:round/>
              <a:headEnd/>
              <a:tailEnd/>
            </a:ln>
          </p:spPr>
          <p:txBody>
            <a:bodyPr/>
            <a:lstStyle/>
            <a:p>
              <a:endParaRPr lang="en-US"/>
            </a:p>
          </p:txBody>
        </p:sp>
        <p:sp>
          <p:nvSpPr>
            <p:cNvPr id="36940" name="Freeform 24"/>
            <p:cNvSpPr>
              <a:spLocks/>
            </p:cNvSpPr>
            <p:nvPr/>
          </p:nvSpPr>
          <p:spPr bwMode="auto">
            <a:xfrm>
              <a:off x="1019" y="969"/>
              <a:ext cx="63" cy="95"/>
            </a:xfrm>
            <a:custGeom>
              <a:avLst/>
              <a:gdLst>
                <a:gd name="T0" fmla="*/ 0 w 63"/>
                <a:gd name="T1" fmla="*/ 95 h 95"/>
                <a:gd name="T2" fmla="*/ 63 w 63"/>
                <a:gd name="T3" fmla="*/ 29 h 95"/>
                <a:gd name="T4" fmla="*/ 63 w 63"/>
                <a:gd name="T5" fmla="*/ 0 h 95"/>
                <a:gd name="T6" fmla="*/ 0 w 63"/>
                <a:gd name="T7" fmla="*/ 79 h 95"/>
                <a:gd name="T8" fmla="*/ 0 w 63"/>
                <a:gd name="T9" fmla="*/ 95 h 95"/>
                <a:gd name="T10" fmla="*/ 0 60000 65536"/>
                <a:gd name="T11" fmla="*/ 0 60000 65536"/>
                <a:gd name="T12" fmla="*/ 0 60000 65536"/>
                <a:gd name="T13" fmla="*/ 0 60000 65536"/>
                <a:gd name="T14" fmla="*/ 0 60000 65536"/>
                <a:gd name="T15" fmla="*/ 0 w 63"/>
                <a:gd name="T16" fmla="*/ 0 h 95"/>
                <a:gd name="T17" fmla="*/ 63 w 63"/>
                <a:gd name="T18" fmla="*/ 95 h 95"/>
              </a:gdLst>
              <a:ahLst/>
              <a:cxnLst>
                <a:cxn ang="T10">
                  <a:pos x="T0" y="T1"/>
                </a:cxn>
                <a:cxn ang="T11">
                  <a:pos x="T2" y="T3"/>
                </a:cxn>
                <a:cxn ang="T12">
                  <a:pos x="T4" y="T5"/>
                </a:cxn>
                <a:cxn ang="T13">
                  <a:pos x="T6" y="T7"/>
                </a:cxn>
                <a:cxn ang="T14">
                  <a:pos x="T8" y="T9"/>
                </a:cxn>
              </a:cxnLst>
              <a:rect l="T15" t="T16" r="T17" b="T18"/>
              <a:pathLst>
                <a:path w="63" h="95">
                  <a:moveTo>
                    <a:pt x="0" y="95"/>
                  </a:moveTo>
                  <a:lnTo>
                    <a:pt x="63" y="29"/>
                  </a:lnTo>
                  <a:lnTo>
                    <a:pt x="63" y="0"/>
                  </a:lnTo>
                  <a:lnTo>
                    <a:pt x="0" y="79"/>
                  </a:lnTo>
                  <a:lnTo>
                    <a:pt x="0" y="95"/>
                  </a:lnTo>
                  <a:close/>
                </a:path>
              </a:pathLst>
            </a:custGeom>
            <a:solidFill>
              <a:srgbClr val="005A80"/>
            </a:solidFill>
            <a:ln w="4763">
              <a:solidFill>
                <a:srgbClr val="AAE6FF"/>
              </a:solidFill>
              <a:round/>
              <a:headEnd/>
              <a:tailEnd/>
            </a:ln>
          </p:spPr>
          <p:txBody>
            <a:bodyPr/>
            <a:lstStyle/>
            <a:p>
              <a:endParaRPr lang="en-US"/>
            </a:p>
          </p:txBody>
        </p:sp>
        <p:sp>
          <p:nvSpPr>
            <p:cNvPr id="36941" name="Rectangle 25"/>
            <p:cNvSpPr>
              <a:spLocks noChangeArrowheads="1"/>
            </p:cNvSpPr>
            <p:nvPr/>
          </p:nvSpPr>
          <p:spPr bwMode="auto">
            <a:xfrm>
              <a:off x="582" y="1048"/>
              <a:ext cx="437" cy="16"/>
            </a:xfrm>
            <a:prstGeom prst="rect">
              <a:avLst/>
            </a:prstGeom>
            <a:solidFill>
              <a:srgbClr val="0096D5"/>
            </a:solidFill>
            <a:ln w="9525">
              <a:noFill/>
              <a:miter lim="800000"/>
              <a:headEnd/>
              <a:tailEnd/>
            </a:ln>
          </p:spPr>
          <p:txBody>
            <a:bodyPr/>
            <a:lstStyle/>
            <a:p>
              <a:endParaRPr lang="en-US" altLang="en-US">
                <a:solidFill>
                  <a:schemeClr val="bg1"/>
                </a:solidFill>
              </a:endParaRPr>
            </a:p>
          </p:txBody>
        </p:sp>
        <p:sp>
          <p:nvSpPr>
            <p:cNvPr id="36942" name="Rectangle 26"/>
            <p:cNvSpPr>
              <a:spLocks noChangeArrowheads="1"/>
            </p:cNvSpPr>
            <p:nvPr/>
          </p:nvSpPr>
          <p:spPr bwMode="auto">
            <a:xfrm>
              <a:off x="583" y="1049"/>
              <a:ext cx="435" cy="14"/>
            </a:xfrm>
            <a:prstGeom prst="rect">
              <a:avLst/>
            </a:prstGeom>
            <a:solidFill>
              <a:srgbClr val="0096D5"/>
            </a:solidFill>
            <a:ln w="4763">
              <a:solidFill>
                <a:srgbClr val="AAE6FF"/>
              </a:solidFill>
              <a:miter lim="800000"/>
              <a:headEnd/>
              <a:tailEnd/>
            </a:ln>
          </p:spPr>
          <p:txBody>
            <a:bodyPr/>
            <a:lstStyle/>
            <a:p>
              <a:endParaRPr lang="en-US" altLang="en-US">
                <a:solidFill>
                  <a:schemeClr val="bg1"/>
                </a:solidFill>
              </a:endParaRPr>
            </a:p>
          </p:txBody>
        </p:sp>
        <p:sp>
          <p:nvSpPr>
            <p:cNvPr id="36943" name="Freeform 27"/>
            <p:cNvSpPr>
              <a:spLocks/>
            </p:cNvSpPr>
            <p:nvPr/>
          </p:nvSpPr>
          <p:spPr bwMode="auto">
            <a:xfrm>
              <a:off x="1107" y="991"/>
              <a:ext cx="89" cy="47"/>
            </a:xfrm>
            <a:custGeom>
              <a:avLst/>
              <a:gdLst>
                <a:gd name="T0" fmla="*/ 0 w 89"/>
                <a:gd name="T1" fmla="*/ 47 h 47"/>
                <a:gd name="T2" fmla="*/ 32 w 89"/>
                <a:gd name="T3" fmla="*/ 0 h 47"/>
                <a:gd name="T4" fmla="*/ 89 w 89"/>
                <a:gd name="T5" fmla="*/ 0 h 47"/>
                <a:gd name="T6" fmla="*/ 57 w 89"/>
                <a:gd name="T7" fmla="*/ 47 h 47"/>
                <a:gd name="T8" fmla="*/ 0 w 89"/>
                <a:gd name="T9" fmla="*/ 47 h 47"/>
                <a:gd name="T10" fmla="*/ 0 60000 65536"/>
                <a:gd name="T11" fmla="*/ 0 60000 65536"/>
                <a:gd name="T12" fmla="*/ 0 60000 65536"/>
                <a:gd name="T13" fmla="*/ 0 60000 65536"/>
                <a:gd name="T14" fmla="*/ 0 60000 65536"/>
                <a:gd name="T15" fmla="*/ 0 w 89"/>
                <a:gd name="T16" fmla="*/ 0 h 47"/>
                <a:gd name="T17" fmla="*/ 89 w 89"/>
                <a:gd name="T18" fmla="*/ 47 h 47"/>
              </a:gdLst>
              <a:ahLst/>
              <a:cxnLst>
                <a:cxn ang="T10">
                  <a:pos x="T0" y="T1"/>
                </a:cxn>
                <a:cxn ang="T11">
                  <a:pos x="T2" y="T3"/>
                </a:cxn>
                <a:cxn ang="T12">
                  <a:pos x="T4" y="T5"/>
                </a:cxn>
                <a:cxn ang="T13">
                  <a:pos x="T6" y="T7"/>
                </a:cxn>
                <a:cxn ang="T14">
                  <a:pos x="T8" y="T9"/>
                </a:cxn>
              </a:cxnLst>
              <a:rect l="T15" t="T16" r="T17" b="T18"/>
              <a:pathLst>
                <a:path w="89" h="47">
                  <a:moveTo>
                    <a:pt x="0" y="47"/>
                  </a:moveTo>
                  <a:lnTo>
                    <a:pt x="32" y="0"/>
                  </a:lnTo>
                  <a:lnTo>
                    <a:pt x="89" y="0"/>
                  </a:lnTo>
                  <a:lnTo>
                    <a:pt x="57" y="47"/>
                  </a:lnTo>
                  <a:lnTo>
                    <a:pt x="0" y="47"/>
                  </a:lnTo>
                  <a:close/>
                </a:path>
              </a:pathLst>
            </a:custGeom>
            <a:solidFill>
              <a:srgbClr val="00B4FF"/>
            </a:solidFill>
            <a:ln w="9525">
              <a:noFill/>
              <a:round/>
              <a:headEnd/>
              <a:tailEnd/>
            </a:ln>
          </p:spPr>
          <p:txBody>
            <a:bodyPr/>
            <a:lstStyle/>
            <a:p>
              <a:endParaRPr lang="en-US"/>
            </a:p>
          </p:txBody>
        </p:sp>
        <p:sp>
          <p:nvSpPr>
            <p:cNvPr id="36944" name="Freeform 28"/>
            <p:cNvSpPr>
              <a:spLocks/>
            </p:cNvSpPr>
            <p:nvPr/>
          </p:nvSpPr>
          <p:spPr bwMode="auto">
            <a:xfrm>
              <a:off x="1107" y="991"/>
              <a:ext cx="89" cy="47"/>
            </a:xfrm>
            <a:custGeom>
              <a:avLst/>
              <a:gdLst>
                <a:gd name="T0" fmla="*/ 0 w 89"/>
                <a:gd name="T1" fmla="*/ 47 h 47"/>
                <a:gd name="T2" fmla="*/ 32 w 89"/>
                <a:gd name="T3" fmla="*/ 0 h 47"/>
                <a:gd name="T4" fmla="*/ 89 w 89"/>
                <a:gd name="T5" fmla="*/ 0 h 47"/>
                <a:gd name="T6" fmla="*/ 57 w 89"/>
                <a:gd name="T7" fmla="*/ 47 h 47"/>
                <a:gd name="T8" fmla="*/ 0 w 89"/>
                <a:gd name="T9" fmla="*/ 47 h 47"/>
                <a:gd name="T10" fmla="*/ 0 60000 65536"/>
                <a:gd name="T11" fmla="*/ 0 60000 65536"/>
                <a:gd name="T12" fmla="*/ 0 60000 65536"/>
                <a:gd name="T13" fmla="*/ 0 60000 65536"/>
                <a:gd name="T14" fmla="*/ 0 60000 65536"/>
                <a:gd name="T15" fmla="*/ 0 w 89"/>
                <a:gd name="T16" fmla="*/ 0 h 47"/>
                <a:gd name="T17" fmla="*/ 89 w 89"/>
                <a:gd name="T18" fmla="*/ 47 h 47"/>
              </a:gdLst>
              <a:ahLst/>
              <a:cxnLst>
                <a:cxn ang="T10">
                  <a:pos x="T0" y="T1"/>
                </a:cxn>
                <a:cxn ang="T11">
                  <a:pos x="T2" y="T3"/>
                </a:cxn>
                <a:cxn ang="T12">
                  <a:pos x="T4" y="T5"/>
                </a:cxn>
                <a:cxn ang="T13">
                  <a:pos x="T6" y="T7"/>
                </a:cxn>
                <a:cxn ang="T14">
                  <a:pos x="T8" y="T9"/>
                </a:cxn>
              </a:cxnLst>
              <a:rect l="T15" t="T16" r="T17" b="T18"/>
              <a:pathLst>
                <a:path w="89" h="47">
                  <a:moveTo>
                    <a:pt x="0" y="47"/>
                  </a:moveTo>
                  <a:lnTo>
                    <a:pt x="32" y="0"/>
                  </a:lnTo>
                  <a:lnTo>
                    <a:pt x="89" y="0"/>
                  </a:lnTo>
                  <a:lnTo>
                    <a:pt x="57" y="47"/>
                  </a:lnTo>
                  <a:lnTo>
                    <a:pt x="0" y="47"/>
                  </a:lnTo>
                  <a:close/>
                </a:path>
              </a:pathLst>
            </a:custGeom>
            <a:solidFill>
              <a:srgbClr val="00B4FF"/>
            </a:solidFill>
            <a:ln w="4763">
              <a:solidFill>
                <a:srgbClr val="AAE6FF"/>
              </a:solidFill>
              <a:round/>
              <a:headEnd/>
              <a:tailEnd/>
            </a:ln>
          </p:spPr>
          <p:txBody>
            <a:bodyPr/>
            <a:lstStyle/>
            <a:p>
              <a:endParaRPr lang="en-US"/>
            </a:p>
          </p:txBody>
        </p:sp>
        <p:sp>
          <p:nvSpPr>
            <p:cNvPr id="36945" name="Freeform 29"/>
            <p:cNvSpPr>
              <a:spLocks/>
            </p:cNvSpPr>
            <p:nvPr/>
          </p:nvSpPr>
          <p:spPr bwMode="auto">
            <a:xfrm>
              <a:off x="1164" y="991"/>
              <a:ext cx="32" cy="63"/>
            </a:xfrm>
            <a:custGeom>
              <a:avLst/>
              <a:gdLst>
                <a:gd name="T0" fmla="*/ 0 w 32"/>
                <a:gd name="T1" fmla="*/ 63 h 63"/>
                <a:gd name="T2" fmla="*/ 32 w 32"/>
                <a:gd name="T3" fmla="*/ 29 h 63"/>
                <a:gd name="T4" fmla="*/ 32 w 32"/>
                <a:gd name="T5" fmla="*/ 0 h 63"/>
                <a:gd name="T6" fmla="*/ 0 w 32"/>
                <a:gd name="T7" fmla="*/ 47 h 63"/>
                <a:gd name="T8" fmla="*/ 0 w 32"/>
                <a:gd name="T9" fmla="*/ 63 h 63"/>
                <a:gd name="T10" fmla="*/ 0 60000 65536"/>
                <a:gd name="T11" fmla="*/ 0 60000 65536"/>
                <a:gd name="T12" fmla="*/ 0 60000 65536"/>
                <a:gd name="T13" fmla="*/ 0 60000 65536"/>
                <a:gd name="T14" fmla="*/ 0 60000 65536"/>
                <a:gd name="T15" fmla="*/ 0 w 32"/>
                <a:gd name="T16" fmla="*/ 0 h 63"/>
                <a:gd name="T17" fmla="*/ 32 w 32"/>
                <a:gd name="T18" fmla="*/ 63 h 63"/>
              </a:gdLst>
              <a:ahLst/>
              <a:cxnLst>
                <a:cxn ang="T10">
                  <a:pos x="T0" y="T1"/>
                </a:cxn>
                <a:cxn ang="T11">
                  <a:pos x="T2" y="T3"/>
                </a:cxn>
                <a:cxn ang="T12">
                  <a:pos x="T4" y="T5"/>
                </a:cxn>
                <a:cxn ang="T13">
                  <a:pos x="T6" y="T7"/>
                </a:cxn>
                <a:cxn ang="T14">
                  <a:pos x="T8" y="T9"/>
                </a:cxn>
              </a:cxnLst>
              <a:rect l="T15" t="T16" r="T17" b="T18"/>
              <a:pathLst>
                <a:path w="32" h="63">
                  <a:moveTo>
                    <a:pt x="0" y="63"/>
                  </a:moveTo>
                  <a:lnTo>
                    <a:pt x="32" y="29"/>
                  </a:lnTo>
                  <a:lnTo>
                    <a:pt x="32" y="0"/>
                  </a:lnTo>
                  <a:lnTo>
                    <a:pt x="0" y="47"/>
                  </a:lnTo>
                  <a:lnTo>
                    <a:pt x="0" y="63"/>
                  </a:lnTo>
                  <a:close/>
                </a:path>
              </a:pathLst>
            </a:custGeom>
            <a:solidFill>
              <a:srgbClr val="005A80"/>
            </a:solidFill>
            <a:ln w="9525">
              <a:noFill/>
              <a:round/>
              <a:headEnd/>
              <a:tailEnd/>
            </a:ln>
          </p:spPr>
          <p:txBody>
            <a:bodyPr/>
            <a:lstStyle/>
            <a:p>
              <a:endParaRPr lang="en-US"/>
            </a:p>
          </p:txBody>
        </p:sp>
        <p:sp>
          <p:nvSpPr>
            <p:cNvPr id="36946" name="Freeform 30"/>
            <p:cNvSpPr>
              <a:spLocks/>
            </p:cNvSpPr>
            <p:nvPr/>
          </p:nvSpPr>
          <p:spPr bwMode="auto">
            <a:xfrm>
              <a:off x="1164" y="991"/>
              <a:ext cx="32" cy="63"/>
            </a:xfrm>
            <a:custGeom>
              <a:avLst/>
              <a:gdLst>
                <a:gd name="T0" fmla="*/ 0 w 32"/>
                <a:gd name="T1" fmla="*/ 63 h 63"/>
                <a:gd name="T2" fmla="*/ 32 w 32"/>
                <a:gd name="T3" fmla="*/ 29 h 63"/>
                <a:gd name="T4" fmla="*/ 32 w 32"/>
                <a:gd name="T5" fmla="*/ 0 h 63"/>
                <a:gd name="T6" fmla="*/ 0 w 32"/>
                <a:gd name="T7" fmla="*/ 47 h 63"/>
                <a:gd name="T8" fmla="*/ 0 w 32"/>
                <a:gd name="T9" fmla="*/ 63 h 63"/>
                <a:gd name="T10" fmla="*/ 0 60000 65536"/>
                <a:gd name="T11" fmla="*/ 0 60000 65536"/>
                <a:gd name="T12" fmla="*/ 0 60000 65536"/>
                <a:gd name="T13" fmla="*/ 0 60000 65536"/>
                <a:gd name="T14" fmla="*/ 0 60000 65536"/>
                <a:gd name="T15" fmla="*/ 0 w 32"/>
                <a:gd name="T16" fmla="*/ 0 h 63"/>
                <a:gd name="T17" fmla="*/ 32 w 32"/>
                <a:gd name="T18" fmla="*/ 63 h 63"/>
              </a:gdLst>
              <a:ahLst/>
              <a:cxnLst>
                <a:cxn ang="T10">
                  <a:pos x="T0" y="T1"/>
                </a:cxn>
                <a:cxn ang="T11">
                  <a:pos x="T2" y="T3"/>
                </a:cxn>
                <a:cxn ang="T12">
                  <a:pos x="T4" y="T5"/>
                </a:cxn>
                <a:cxn ang="T13">
                  <a:pos x="T6" y="T7"/>
                </a:cxn>
                <a:cxn ang="T14">
                  <a:pos x="T8" y="T9"/>
                </a:cxn>
              </a:cxnLst>
              <a:rect l="T15" t="T16" r="T17" b="T18"/>
              <a:pathLst>
                <a:path w="32" h="63">
                  <a:moveTo>
                    <a:pt x="0" y="63"/>
                  </a:moveTo>
                  <a:lnTo>
                    <a:pt x="32" y="29"/>
                  </a:lnTo>
                  <a:lnTo>
                    <a:pt x="32" y="0"/>
                  </a:lnTo>
                  <a:lnTo>
                    <a:pt x="0" y="47"/>
                  </a:lnTo>
                  <a:lnTo>
                    <a:pt x="0" y="63"/>
                  </a:lnTo>
                  <a:close/>
                </a:path>
              </a:pathLst>
            </a:custGeom>
            <a:solidFill>
              <a:srgbClr val="005A80"/>
            </a:solidFill>
            <a:ln w="4763">
              <a:solidFill>
                <a:srgbClr val="AAE6FF"/>
              </a:solidFill>
              <a:round/>
              <a:headEnd/>
              <a:tailEnd/>
            </a:ln>
          </p:spPr>
          <p:txBody>
            <a:bodyPr/>
            <a:lstStyle/>
            <a:p>
              <a:endParaRPr lang="en-US"/>
            </a:p>
          </p:txBody>
        </p:sp>
        <p:sp>
          <p:nvSpPr>
            <p:cNvPr id="36947" name="Rectangle 31"/>
            <p:cNvSpPr>
              <a:spLocks noChangeArrowheads="1"/>
            </p:cNvSpPr>
            <p:nvPr/>
          </p:nvSpPr>
          <p:spPr bwMode="auto">
            <a:xfrm>
              <a:off x="1107" y="1038"/>
              <a:ext cx="57" cy="16"/>
            </a:xfrm>
            <a:prstGeom prst="rect">
              <a:avLst/>
            </a:prstGeom>
            <a:solidFill>
              <a:srgbClr val="0096D5"/>
            </a:solidFill>
            <a:ln w="9525">
              <a:noFill/>
              <a:miter lim="800000"/>
              <a:headEnd/>
              <a:tailEnd/>
            </a:ln>
          </p:spPr>
          <p:txBody>
            <a:bodyPr/>
            <a:lstStyle/>
            <a:p>
              <a:endParaRPr lang="en-US" altLang="en-US">
                <a:solidFill>
                  <a:schemeClr val="bg1"/>
                </a:solidFill>
              </a:endParaRPr>
            </a:p>
          </p:txBody>
        </p:sp>
        <p:sp>
          <p:nvSpPr>
            <p:cNvPr id="36948" name="Rectangle 32"/>
            <p:cNvSpPr>
              <a:spLocks noChangeArrowheads="1"/>
            </p:cNvSpPr>
            <p:nvPr/>
          </p:nvSpPr>
          <p:spPr bwMode="auto">
            <a:xfrm>
              <a:off x="1108" y="1039"/>
              <a:ext cx="55" cy="14"/>
            </a:xfrm>
            <a:prstGeom prst="rect">
              <a:avLst/>
            </a:prstGeom>
            <a:solidFill>
              <a:srgbClr val="0096D5"/>
            </a:solidFill>
            <a:ln w="4763">
              <a:solidFill>
                <a:srgbClr val="AAE6FF"/>
              </a:solidFill>
              <a:miter lim="800000"/>
              <a:headEnd/>
              <a:tailEnd/>
            </a:ln>
          </p:spPr>
          <p:txBody>
            <a:bodyPr/>
            <a:lstStyle/>
            <a:p>
              <a:endParaRPr lang="en-US" altLang="en-US">
                <a:solidFill>
                  <a:schemeClr val="bg1"/>
                </a:solidFill>
              </a:endParaRPr>
            </a:p>
          </p:txBody>
        </p:sp>
      </p:grpSp>
      <p:grpSp>
        <p:nvGrpSpPr>
          <p:cNvPr id="36869" name="Group 33"/>
          <p:cNvGrpSpPr>
            <a:grpSpLocks/>
          </p:cNvGrpSpPr>
          <p:nvPr/>
        </p:nvGrpSpPr>
        <p:grpSpPr bwMode="auto">
          <a:xfrm>
            <a:off x="7667625" y="3849688"/>
            <a:ext cx="638175" cy="550862"/>
            <a:chOff x="582" y="534"/>
            <a:chExt cx="614" cy="530"/>
          </a:xfrm>
        </p:grpSpPr>
        <p:sp>
          <p:nvSpPr>
            <p:cNvPr id="36893" name="Arc 34"/>
            <p:cNvSpPr>
              <a:spLocks/>
            </p:cNvSpPr>
            <p:nvPr/>
          </p:nvSpPr>
          <p:spPr bwMode="auto">
            <a:xfrm>
              <a:off x="1059" y="918"/>
              <a:ext cx="118" cy="80"/>
            </a:xfrm>
            <a:custGeom>
              <a:avLst/>
              <a:gdLst>
                <a:gd name="T0" fmla="*/ 0 w 38176"/>
                <a:gd name="T1" fmla="*/ 0 h 34923"/>
                <a:gd name="T2" fmla="*/ 0 w 38176"/>
                <a:gd name="T3" fmla="*/ 0 h 34923"/>
                <a:gd name="T4" fmla="*/ 0 w 38176"/>
                <a:gd name="T5" fmla="*/ 0 h 34923"/>
                <a:gd name="T6" fmla="*/ 0 60000 65536"/>
                <a:gd name="T7" fmla="*/ 0 60000 65536"/>
                <a:gd name="T8" fmla="*/ 0 60000 65536"/>
                <a:gd name="T9" fmla="*/ 0 w 38176"/>
                <a:gd name="T10" fmla="*/ 0 h 34923"/>
                <a:gd name="T11" fmla="*/ 38176 w 38176"/>
                <a:gd name="T12" fmla="*/ 34923 h 34923"/>
              </a:gdLst>
              <a:ahLst/>
              <a:cxnLst>
                <a:cxn ang="T6">
                  <a:pos x="T0" y="T1"/>
                </a:cxn>
                <a:cxn ang="T7">
                  <a:pos x="T2" y="T3"/>
                </a:cxn>
                <a:cxn ang="T8">
                  <a:pos x="T4" y="T5"/>
                </a:cxn>
              </a:cxnLst>
              <a:rect l="T9" t="T10" r="T11" b="T12"/>
              <a:pathLst>
                <a:path w="38176" h="34923" fill="none" extrusionOk="0">
                  <a:moveTo>
                    <a:pt x="-1" y="7750"/>
                  </a:moveTo>
                  <a:cubicBezTo>
                    <a:pt x="4103" y="2838"/>
                    <a:pt x="10175" y="-1"/>
                    <a:pt x="16576" y="0"/>
                  </a:cubicBezTo>
                  <a:cubicBezTo>
                    <a:pt x="28505" y="0"/>
                    <a:pt x="38176" y="9670"/>
                    <a:pt x="38176" y="21600"/>
                  </a:cubicBezTo>
                  <a:cubicBezTo>
                    <a:pt x="38176" y="26430"/>
                    <a:pt x="36557" y="31120"/>
                    <a:pt x="33577" y="34922"/>
                  </a:cubicBezTo>
                </a:path>
                <a:path w="38176" h="34923" stroke="0" extrusionOk="0">
                  <a:moveTo>
                    <a:pt x="-1" y="7750"/>
                  </a:moveTo>
                  <a:cubicBezTo>
                    <a:pt x="4103" y="2838"/>
                    <a:pt x="10175" y="-1"/>
                    <a:pt x="16576" y="0"/>
                  </a:cubicBezTo>
                  <a:cubicBezTo>
                    <a:pt x="28505" y="0"/>
                    <a:pt x="38176" y="9670"/>
                    <a:pt x="38176" y="21600"/>
                  </a:cubicBezTo>
                  <a:cubicBezTo>
                    <a:pt x="38176" y="26430"/>
                    <a:pt x="36557" y="31120"/>
                    <a:pt x="33577" y="34922"/>
                  </a:cubicBezTo>
                  <a:lnTo>
                    <a:pt x="16576" y="21600"/>
                  </a:lnTo>
                  <a:lnTo>
                    <a:pt x="-1" y="7750"/>
                  </a:lnTo>
                  <a:close/>
                </a:path>
              </a:pathLst>
            </a:custGeom>
            <a:noFill/>
            <a:ln w="20638">
              <a:solidFill>
                <a:srgbClr val="0078AA"/>
              </a:solidFill>
              <a:round/>
              <a:headEnd/>
              <a:tailEnd/>
            </a:ln>
          </p:spPr>
          <p:txBody>
            <a:bodyPr/>
            <a:lstStyle/>
            <a:p>
              <a:endParaRPr lang="en-US"/>
            </a:p>
          </p:txBody>
        </p:sp>
        <p:sp>
          <p:nvSpPr>
            <p:cNvPr id="36894" name="Arc 35"/>
            <p:cNvSpPr>
              <a:spLocks/>
            </p:cNvSpPr>
            <p:nvPr/>
          </p:nvSpPr>
          <p:spPr bwMode="auto">
            <a:xfrm>
              <a:off x="1060" y="919"/>
              <a:ext cx="118" cy="79"/>
            </a:xfrm>
            <a:custGeom>
              <a:avLst/>
              <a:gdLst>
                <a:gd name="T0" fmla="*/ 0 w 38322"/>
                <a:gd name="T1" fmla="*/ 0 h 34803"/>
                <a:gd name="T2" fmla="*/ 0 w 38322"/>
                <a:gd name="T3" fmla="*/ 0 h 34803"/>
                <a:gd name="T4" fmla="*/ 0 w 38322"/>
                <a:gd name="T5" fmla="*/ 0 h 34803"/>
                <a:gd name="T6" fmla="*/ 0 60000 65536"/>
                <a:gd name="T7" fmla="*/ 0 60000 65536"/>
                <a:gd name="T8" fmla="*/ 0 60000 65536"/>
                <a:gd name="T9" fmla="*/ 0 w 38322"/>
                <a:gd name="T10" fmla="*/ 0 h 34803"/>
                <a:gd name="T11" fmla="*/ 38322 w 38322"/>
                <a:gd name="T12" fmla="*/ 34803 h 34803"/>
              </a:gdLst>
              <a:ahLst/>
              <a:cxnLst>
                <a:cxn ang="T6">
                  <a:pos x="T0" y="T1"/>
                </a:cxn>
                <a:cxn ang="T7">
                  <a:pos x="T2" y="T3"/>
                </a:cxn>
                <a:cxn ang="T8">
                  <a:pos x="T4" y="T5"/>
                </a:cxn>
              </a:cxnLst>
              <a:rect l="T9" t="T10" r="T11" b="T12"/>
              <a:pathLst>
                <a:path w="38322" h="34803" fill="none" extrusionOk="0">
                  <a:moveTo>
                    <a:pt x="-1" y="7927"/>
                  </a:moveTo>
                  <a:cubicBezTo>
                    <a:pt x="4102" y="2910"/>
                    <a:pt x="10240" y="-1"/>
                    <a:pt x="16722" y="0"/>
                  </a:cubicBezTo>
                  <a:cubicBezTo>
                    <a:pt x="28651" y="0"/>
                    <a:pt x="38322" y="9670"/>
                    <a:pt x="38322" y="21600"/>
                  </a:cubicBezTo>
                  <a:cubicBezTo>
                    <a:pt x="38322" y="26378"/>
                    <a:pt x="36737" y="31021"/>
                    <a:pt x="33817" y="34803"/>
                  </a:cubicBezTo>
                </a:path>
                <a:path w="38322" h="34803" stroke="0" extrusionOk="0">
                  <a:moveTo>
                    <a:pt x="-1" y="7927"/>
                  </a:moveTo>
                  <a:cubicBezTo>
                    <a:pt x="4102" y="2910"/>
                    <a:pt x="10240" y="-1"/>
                    <a:pt x="16722" y="0"/>
                  </a:cubicBezTo>
                  <a:cubicBezTo>
                    <a:pt x="28651" y="0"/>
                    <a:pt x="38322" y="9670"/>
                    <a:pt x="38322" y="21600"/>
                  </a:cubicBezTo>
                  <a:cubicBezTo>
                    <a:pt x="38322" y="26378"/>
                    <a:pt x="36737" y="31021"/>
                    <a:pt x="33817" y="34803"/>
                  </a:cubicBezTo>
                  <a:lnTo>
                    <a:pt x="16722" y="21600"/>
                  </a:lnTo>
                  <a:lnTo>
                    <a:pt x="-1" y="7927"/>
                  </a:lnTo>
                  <a:close/>
                </a:path>
              </a:pathLst>
            </a:custGeom>
            <a:noFill/>
            <a:ln w="9525">
              <a:solidFill>
                <a:srgbClr val="AAE6FF"/>
              </a:solidFill>
              <a:round/>
              <a:headEnd/>
              <a:tailEnd/>
            </a:ln>
          </p:spPr>
          <p:txBody>
            <a:bodyPr/>
            <a:lstStyle/>
            <a:p>
              <a:endParaRPr lang="en-US"/>
            </a:p>
          </p:txBody>
        </p:sp>
        <p:sp>
          <p:nvSpPr>
            <p:cNvPr id="36895" name="Freeform 36"/>
            <p:cNvSpPr>
              <a:spLocks/>
            </p:cNvSpPr>
            <p:nvPr/>
          </p:nvSpPr>
          <p:spPr bwMode="auto">
            <a:xfrm>
              <a:off x="661" y="859"/>
              <a:ext cx="455" cy="50"/>
            </a:xfrm>
            <a:custGeom>
              <a:avLst/>
              <a:gdLst>
                <a:gd name="T0" fmla="*/ 0 w 455"/>
                <a:gd name="T1" fmla="*/ 50 h 50"/>
                <a:gd name="T2" fmla="*/ 54 w 455"/>
                <a:gd name="T3" fmla="*/ 0 h 50"/>
                <a:gd name="T4" fmla="*/ 455 w 455"/>
                <a:gd name="T5" fmla="*/ 0 h 50"/>
                <a:gd name="T6" fmla="*/ 402 w 455"/>
                <a:gd name="T7" fmla="*/ 50 h 50"/>
                <a:gd name="T8" fmla="*/ 0 w 455"/>
                <a:gd name="T9" fmla="*/ 50 h 50"/>
                <a:gd name="T10" fmla="*/ 0 60000 65536"/>
                <a:gd name="T11" fmla="*/ 0 60000 65536"/>
                <a:gd name="T12" fmla="*/ 0 60000 65536"/>
                <a:gd name="T13" fmla="*/ 0 60000 65536"/>
                <a:gd name="T14" fmla="*/ 0 60000 65536"/>
                <a:gd name="T15" fmla="*/ 0 w 455"/>
                <a:gd name="T16" fmla="*/ 0 h 50"/>
                <a:gd name="T17" fmla="*/ 455 w 455"/>
                <a:gd name="T18" fmla="*/ 50 h 50"/>
              </a:gdLst>
              <a:ahLst/>
              <a:cxnLst>
                <a:cxn ang="T10">
                  <a:pos x="T0" y="T1"/>
                </a:cxn>
                <a:cxn ang="T11">
                  <a:pos x="T2" y="T3"/>
                </a:cxn>
                <a:cxn ang="T12">
                  <a:pos x="T4" y="T5"/>
                </a:cxn>
                <a:cxn ang="T13">
                  <a:pos x="T6" y="T7"/>
                </a:cxn>
                <a:cxn ang="T14">
                  <a:pos x="T8" y="T9"/>
                </a:cxn>
              </a:cxnLst>
              <a:rect l="T15" t="T16" r="T17" b="T18"/>
              <a:pathLst>
                <a:path w="455" h="50">
                  <a:moveTo>
                    <a:pt x="0" y="50"/>
                  </a:moveTo>
                  <a:lnTo>
                    <a:pt x="54" y="0"/>
                  </a:lnTo>
                  <a:lnTo>
                    <a:pt x="455" y="0"/>
                  </a:lnTo>
                  <a:lnTo>
                    <a:pt x="402" y="50"/>
                  </a:lnTo>
                  <a:lnTo>
                    <a:pt x="0" y="50"/>
                  </a:lnTo>
                  <a:close/>
                </a:path>
              </a:pathLst>
            </a:custGeom>
            <a:solidFill>
              <a:srgbClr val="00B4FF"/>
            </a:solidFill>
            <a:ln w="9525">
              <a:noFill/>
              <a:round/>
              <a:headEnd/>
              <a:tailEnd/>
            </a:ln>
          </p:spPr>
          <p:txBody>
            <a:bodyPr/>
            <a:lstStyle/>
            <a:p>
              <a:endParaRPr lang="en-US"/>
            </a:p>
          </p:txBody>
        </p:sp>
        <p:sp>
          <p:nvSpPr>
            <p:cNvPr id="36896" name="Freeform 37"/>
            <p:cNvSpPr>
              <a:spLocks/>
            </p:cNvSpPr>
            <p:nvPr/>
          </p:nvSpPr>
          <p:spPr bwMode="auto">
            <a:xfrm>
              <a:off x="661" y="859"/>
              <a:ext cx="455" cy="50"/>
            </a:xfrm>
            <a:custGeom>
              <a:avLst/>
              <a:gdLst>
                <a:gd name="T0" fmla="*/ 0 w 455"/>
                <a:gd name="T1" fmla="*/ 50 h 50"/>
                <a:gd name="T2" fmla="*/ 54 w 455"/>
                <a:gd name="T3" fmla="*/ 0 h 50"/>
                <a:gd name="T4" fmla="*/ 455 w 455"/>
                <a:gd name="T5" fmla="*/ 0 h 50"/>
                <a:gd name="T6" fmla="*/ 402 w 455"/>
                <a:gd name="T7" fmla="*/ 50 h 50"/>
                <a:gd name="T8" fmla="*/ 0 w 455"/>
                <a:gd name="T9" fmla="*/ 50 h 50"/>
                <a:gd name="T10" fmla="*/ 0 60000 65536"/>
                <a:gd name="T11" fmla="*/ 0 60000 65536"/>
                <a:gd name="T12" fmla="*/ 0 60000 65536"/>
                <a:gd name="T13" fmla="*/ 0 60000 65536"/>
                <a:gd name="T14" fmla="*/ 0 60000 65536"/>
                <a:gd name="T15" fmla="*/ 0 w 455"/>
                <a:gd name="T16" fmla="*/ 0 h 50"/>
                <a:gd name="T17" fmla="*/ 455 w 455"/>
                <a:gd name="T18" fmla="*/ 50 h 50"/>
              </a:gdLst>
              <a:ahLst/>
              <a:cxnLst>
                <a:cxn ang="T10">
                  <a:pos x="T0" y="T1"/>
                </a:cxn>
                <a:cxn ang="T11">
                  <a:pos x="T2" y="T3"/>
                </a:cxn>
                <a:cxn ang="T12">
                  <a:pos x="T4" y="T5"/>
                </a:cxn>
                <a:cxn ang="T13">
                  <a:pos x="T6" y="T7"/>
                </a:cxn>
                <a:cxn ang="T14">
                  <a:pos x="T8" y="T9"/>
                </a:cxn>
              </a:cxnLst>
              <a:rect l="T15" t="T16" r="T17" b="T18"/>
              <a:pathLst>
                <a:path w="455" h="50">
                  <a:moveTo>
                    <a:pt x="0" y="50"/>
                  </a:moveTo>
                  <a:lnTo>
                    <a:pt x="54" y="0"/>
                  </a:lnTo>
                  <a:lnTo>
                    <a:pt x="455" y="0"/>
                  </a:lnTo>
                  <a:lnTo>
                    <a:pt x="402" y="50"/>
                  </a:lnTo>
                  <a:lnTo>
                    <a:pt x="0" y="50"/>
                  </a:lnTo>
                  <a:close/>
                </a:path>
              </a:pathLst>
            </a:custGeom>
            <a:solidFill>
              <a:srgbClr val="00B4FF"/>
            </a:solidFill>
            <a:ln w="4763">
              <a:solidFill>
                <a:srgbClr val="AAE6FF"/>
              </a:solidFill>
              <a:round/>
              <a:headEnd/>
              <a:tailEnd/>
            </a:ln>
          </p:spPr>
          <p:txBody>
            <a:bodyPr/>
            <a:lstStyle/>
            <a:p>
              <a:endParaRPr lang="en-US"/>
            </a:p>
          </p:txBody>
        </p:sp>
        <p:sp>
          <p:nvSpPr>
            <p:cNvPr id="36897" name="Rectangle 38"/>
            <p:cNvSpPr>
              <a:spLocks noChangeArrowheads="1"/>
            </p:cNvSpPr>
            <p:nvPr/>
          </p:nvSpPr>
          <p:spPr bwMode="auto">
            <a:xfrm>
              <a:off x="661" y="909"/>
              <a:ext cx="402" cy="76"/>
            </a:xfrm>
            <a:prstGeom prst="rect">
              <a:avLst/>
            </a:prstGeom>
            <a:solidFill>
              <a:srgbClr val="0096D5"/>
            </a:solidFill>
            <a:ln w="9525">
              <a:noFill/>
              <a:miter lim="800000"/>
              <a:headEnd/>
              <a:tailEnd/>
            </a:ln>
          </p:spPr>
          <p:txBody>
            <a:bodyPr/>
            <a:lstStyle/>
            <a:p>
              <a:endParaRPr lang="en-US" altLang="en-US">
                <a:solidFill>
                  <a:schemeClr val="bg1"/>
                </a:solidFill>
              </a:endParaRPr>
            </a:p>
          </p:txBody>
        </p:sp>
        <p:sp>
          <p:nvSpPr>
            <p:cNvPr id="36898" name="Rectangle 39"/>
            <p:cNvSpPr>
              <a:spLocks noChangeArrowheads="1"/>
            </p:cNvSpPr>
            <p:nvPr/>
          </p:nvSpPr>
          <p:spPr bwMode="auto">
            <a:xfrm>
              <a:off x="662" y="910"/>
              <a:ext cx="400" cy="74"/>
            </a:xfrm>
            <a:prstGeom prst="rect">
              <a:avLst/>
            </a:prstGeom>
            <a:solidFill>
              <a:srgbClr val="0096D5"/>
            </a:solidFill>
            <a:ln w="4763">
              <a:solidFill>
                <a:srgbClr val="AAE6FF"/>
              </a:solidFill>
              <a:miter lim="800000"/>
              <a:headEnd/>
              <a:tailEnd/>
            </a:ln>
          </p:spPr>
          <p:txBody>
            <a:bodyPr/>
            <a:lstStyle/>
            <a:p>
              <a:endParaRPr lang="en-US" altLang="en-US">
                <a:solidFill>
                  <a:schemeClr val="bg1"/>
                </a:solidFill>
              </a:endParaRPr>
            </a:p>
          </p:txBody>
        </p:sp>
        <p:sp>
          <p:nvSpPr>
            <p:cNvPr id="36899" name="Freeform 40"/>
            <p:cNvSpPr>
              <a:spLocks/>
            </p:cNvSpPr>
            <p:nvPr/>
          </p:nvSpPr>
          <p:spPr bwMode="auto">
            <a:xfrm>
              <a:off x="1063" y="859"/>
              <a:ext cx="53" cy="126"/>
            </a:xfrm>
            <a:custGeom>
              <a:avLst/>
              <a:gdLst>
                <a:gd name="T0" fmla="*/ 0 w 53"/>
                <a:gd name="T1" fmla="*/ 126 h 126"/>
                <a:gd name="T2" fmla="*/ 53 w 53"/>
                <a:gd name="T3" fmla="*/ 72 h 126"/>
                <a:gd name="T4" fmla="*/ 53 w 53"/>
                <a:gd name="T5" fmla="*/ 0 h 126"/>
                <a:gd name="T6" fmla="*/ 0 w 53"/>
                <a:gd name="T7" fmla="*/ 50 h 126"/>
                <a:gd name="T8" fmla="*/ 0 w 53"/>
                <a:gd name="T9" fmla="*/ 126 h 126"/>
                <a:gd name="T10" fmla="*/ 0 60000 65536"/>
                <a:gd name="T11" fmla="*/ 0 60000 65536"/>
                <a:gd name="T12" fmla="*/ 0 60000 65536"/>
                <a:gd name="T13" fmla="*/ 0 60000 65536"/>
                <a:gd name="T14" fmla="*/ 0 60000 65536"/>
                <a:gd name="T15" fmla="*/ 0 w 53"/>
                <a:gd name="T16" fmla="*/ 0 h 126"/>
                <a:gd name="T17" fmla="*/ 53 w 53"/>
                <a:gd name="T18" fmla="*/ 126 h 126"/>
              </a:gdLst>
              <a:ahLst/>
              <a:cxnLst>
                <a:cxn ang="T10">
                  <a:pos x="T0" y="T1"/>
                </a:cxn>
                <a:cxn ang="T11">
                  <a:pos x="T2" y="T3"/>
                </a:cxn>
                <a:cxn ang="T12">
                  <a:pos x="T4" y="T5"/>
                </a:cxn>
                <a:cxn ang="T13">
                  <a:pos x="T6" y="T7"/>
                </a:cxn>
                <a:cxn ang="T14">
                  <a:pos x="T8" y="T9"/>
                </a:cxn>
              </a:cxnLst>
              <a:rect l="T15" t="T16" r="T17" b="T18"/>
              <a:pathLst>
                <a:path w="53" h="126">
                  <a:moveTo>
                    <a:pt x="0" y="126"/>
                  </a:moveTo>
                  <a:lnTo>
                    <a:pt x="53" y="72"/>
                  </a:lnTo>
                  <a:lnTo>
                    <a:pt x="53" y="0"/>
                  </a:lnTo>
                  <a:lnTo>
                    <a:pt x="0" y="50"/>
                  </a:lnTo>
                  <a:lnTo>
                    <a:pt x="0" y="126"/>
                  </a:lnTo>
                  <a:close/>
                </a:path>
              </a:pathLst>
            </a:custGeom>
            <a:solidFill>
              <a:srgbClr val="005A80"/>
            </a:solidFill>
            <a:ln w="9525">
              <a:noFill/>
              <a:round/>
              <a:headEnd/>
              <a:tailEnd/>
            </a:ln>
          </p:spPr>
          <p:txBody>
            <a:bodyPr/>
            <a:lstStyle/>
            <a:p>
              <a:endParaRPr lang="en-US"/>
            </a:p>
          </p:txBody>
        </p:sp>
        <p:sp>
          <p:nvSpPr>
            <p:cNvPr id="36900" name="Freeform 41"/>
            <p:cNvSpPr>
              <a:spLocks/>
            </p:cNvSpPr>
            <p:nvPr/>
          </p:nvSpPr>
          <p:spPr bwMode="auto">
            <a:xfrm>
              <a:off x="1063" y="859"/>
              <a:ext cx="53" cy="126"/>
            </a:xfrm>
            <a:custGeom>
              <a:avLst/>
              <a:gdLst>
                <a:gd name="T0" fmla="*/ 0 w 53"/>
                <a:gd name="T1" fmla="*/ 126 h 126"/>
                <a:gd name="T2" fmla="*/ 53 w 53"/>
                <a:gd name="T3" fmla="*/ 72 h 126"/>
                <a:gd name="T4" fmla="*/ 53 w 53"/>
                <a:gd name="T5" fmla="*/ 0 h 126"/>
                <a:gd name="T6" fmla="*/ 0 w 53"/>
                <a:gd name="T7" fmla="*/ 50 h 126"/>
                <a:gd name="T8" fmla="*/ 0 w 53"/>
                <a:gd name="T9" fmla="*/ 126 h 126"/>
                <a:gd name="T10" fmla="*/ 0 60000 65536"/>
                <a:gd name="T11" fmla="*/ 0 60000 65536"/>
                <a:gd name="T12" fmla="*/ 0 60000 65536"/>
                <a:gd name="T13" fmla="*/ 0 60000 65536"/>
                <a:gd name="T14" fmla="*/ 0 60000 65536"/>
                <a:gd name="T15" fmla="*/ 0 w 53"/>
                <a:gd name="T16" fmla="*/ 0 h 126"/>
                <a:gd name="T17" fmla="*/ 53 w 53"/>
                <a:gd name="T18" fmla="*/ 126 h 126"/>
              </a:gdLst>
              <a:ahLst/>
              <a:cxnLst>
                <a:cxn ang="T10">
                  <a:pos x="T0" y="T1"/>
                </a:cxn>
                <a:cxn ang="T11">
                  <a:pos x="T2" y="T3"/>
                </a:cxn>
                <a:cxn ang="T12">
                  <a:pos x="T4" y="T5"/>
                </a:cxn>
                <a:cxn ang="T13">
                  <a:pos x="T6" y="T7"/>
                </a:cxn>
                <a:cxn ang="T14">
                  <a:pos x="T8" y="T9"/>
                </a:cxn>
              </a:cxnLst>
              <a:rect l="T15" t="T16" r="T17" b="T18"/>
              <a:pathLst>
                <a:path w="53" h="126">
                  <a:moveTo>
                    <a:pt x="0" y="126"/>
                  </a:moveTo>
                  <a:lnTo>
                    <a:pt x="53" y="72"/>
                  </a:lnTo>
                  <a:lnTo>
                    <a:pt x="53" y="0"/>
                  </a:lnTo>
                  <a:lnTo>
                    <a:pt x="0" y="50"/>
                  </a:lnTo>
                  <a:lnTo>
                    <a:pt x="0" y="126"/>
                  </a:lnTo>
                  <a:close/>
                </a:path>
              </a:pathLst>
            </a:custGeom>
            <a:solidFill>
              <a:srgbClr val="005A80"/>
            </a:solidFill>
            <a:ln w="4763">
              <a:solidFill>
                <a:srgbClr val="AAE6FF"/>
              </a:solidFill>
              <a:round/>
              <a:headEnd/>
              <a:tailEnd/>
            </a:ln>
          </p:spPr>
          <p:txBody>
            <a:bodyPr/>
            <a:lstStyle/>
            <a:p>
              <a:endParaRPr lang="en-US"/>
            </a:p>
          </p:txBody>
        </p:sp>
        <p:sp>
          <p:nvSpPr>
            <p:cNvPr id="36901" name="Freeform 42"/>
            <p:cNvSpPr>
              <a:spLocks/>
            </p:cNvSpPr>
            <p:nvPr/>
          </p:nvSpPr>
          <p:spPr bwMode="auto">
            <a:xfrm>
              <a:off x="674" y="859"/>
              <a:ext cx="433" cy="41"/>
            </a:xfrm>
            <a:custGeom>
              <a:avLst/>
              <a:gdLst>
                <a:gd name="T0" fmla="*/ 0 w 433"/>
                <a:gd name="T1" fmla="*/ 41 h 41"/>
                <a:gd name="T2" fmla="*/ 41 w 433"/>
                <a:gd name="T3" fmla="*/ 0 h 41"/>
                <a:gd name="T4" fmla="*/ 433 w 433"/>
                <a:gd name="T5" fmla="*/ 0 h 41"/>
                <a:gd name="T6" fmla="*/ 392 w 433"/>
                <a:gd name="T7" fmla="*/ 41 h 41"/>
                <a:gd name="T8" fmla="*/ 0 w 433"/>
                <a:gd name="T9" fmla="*/ 41 h 41"/>
                <a:gd name="T10" fmla="*/ 0 60000 65536"/>
                <a:gd name="T11" fmla="*/ 0 60000 65536"/>
                <a:gd name="T12" fmla="*/ 0 60000 65536"/>
                <a:gd name="T13" fmla="*/ 0 60000 65536"/>
                <a:gd name="T14" fmla="*/ 0 60000 65536"/>
                <a:gd name="T15" fmla="*/ 0 w 433"/>
                <a:gd name="T16" fmla="*/ 0 h 41"/>
                <a:gd name="T17" fmla="*/ 433 w 433"/>
                <a:gd name="T18" fmla="*/ 41 h 41"/>
              </a:gdLst>
              <a:ahLst/>
              <a:cxnLst>
                <a:cxn ang="T10">
                  <a:pos x="T0" y="T1"/>
                </a:cxn>
                <a:cxn ang="T11">
                  <a:pos x="T2" y="T3"/>
                </a:cxn>
                <a:cxn ang="T12">
                  <a:pos x="T4" y="T5"/>
                </a:cxn>
                <a:cxn ang="T13">
                  <a:pos x="T6" y="T7"/>
                </a:cxn>
                <a:cxn ang="T14">
                  <a:pos x="T8" y="T9"/>
                </a:cxn>
              </a:cxnLst>
              <a:rect l="T15" t="T16" r="T17" b="T18"/>
              <a:pathLst>
                <a:path w="433" h="41">
                  <a:moveTo>
                    <a:pt x="0" y="41"/>
                  </a:moveTo>
                  <a:lnTo>
                    <a:pt x="41" y="0"/>
                  </a:lnTo>
                  <a:lnTo>
                    <a:pt x="433" y="0"/>
                  </a:lnTo>
                  <a:lnTo>
                    <a:pt x="392" y="41"/>
                  </a:lnTo>
                  <a:lnTo>
                    <a:pt x="0" y="41"/>
                  </a:lnTo>
                  <a:close/>
                </a:path>
              </a:pathLst>
            </a:custGeom>
            <a:solidFill>
              <a:srgbClr val="000000"/>
            </a:solidFill>
            <a:ln w="9525">
              <a:noFill/>
              <a:round/>
              <a:headEnd/>
              <a:tailEnd/>
            </a:ln>
          </p:spPr>
          <p:txBody>
            <a:bodyPr/>
            <a:lstStyle/>
            <a:p>
              <a:endParaRPr lang="en-US"/>
            </a:p>
          </p:txBody>
        </p:sp>
        <p:sp>
          <p:nvSpPr>
            <p:cNvPr id="36902" name="Freeform 43"/>
            <p:cNvSpPr>
              <a:spLocks/>
            </p:cNvSpPr>
            <p:nvPr/>
          </p:nvSpPr>
          <p:spPr bwMode="auto">
            <a:xfrm>
              <a:off x="674" y="859"/>
              <a:ext cx="433" cy="41"/>
            </a:xfrm>
            <a:custGeom>
              <a:avLst/>
              <a:gdLst>
                <a:gd name="T0" fmla="*/ 0 w 433"/>
                <a:gd name="T1" fmla="*/ 41 h 41"/>
                <a:gd name="T2" fmla="*/ 41 w 433"/>
                <a:gd name="T3" fmla="*/ 0 h 41"/>
                <a:gd name="T4" fmla="*/ 433 w 433"/>
                <a:gd name="T5" fmla="*/ 0 h 41"/>
                <a:gd name="T6" fmla="*/ 392 w 433"/>
                <a:gd name="T7" fmla="*/ 41 h 41"/>
                <a:gd name="T8" fmla="*/ 0 w 433"/>
                <a:gd name="T9" fmla="*/ 41 h 41"/>
                <a:gd name="T10" fmla="*/ 0 60000 65536"/>
                <a:gd name="T11" fmla="*/ 0 60000 65536"/>
                <a:gd name="T12" fmla="*/ 0 60000 65536"/>
                <a:gd name="T13" fmla="*/ 0 60000 65536"/>
                <a:gd name="T14" fmla="*/ 0 60000 65536"/>
                <a:gd name="T15" fmla="*/ 0 w 433"/>
                <a:gd name="T16" fmla="*/ 0 h 41"/>
                <a:gd name="T17" fmla="*/ 433 w 433"/>
                <a:gd name="T18" fmla="*/ 41 h 41"/>
              </a:gdLst>
              <a:ahLst/>
              <a:cxnLst>
                <a:cxn ang="T10">
                  <a:pos x="T0" y="T1"/>
                </a:cxn>
                <a:cxn ang="T11">
                  <a:pos x="T2" y="T3"/>
                </a:cxn>
                <a:cxn ang="T12">
                  <a:pos x="T4" y="T5"/>
                </a:cxn>
                <a:cxn ang="T13">
                  <a:pos x="T6" y="T7"/>
                </a:cxn>
                <a:cxn ang="T14">
                  <a:pos x="T8" y="T9"/>
                </a:cxn>
              </a:cxnLst>
              <a:rect l="T15" t="T16" r="T17" b="T18"/>
              <a:pathLst>
                <a:path w="433" h="41">
                  <a:moveTo>
                    <a:pt x="0" y="41"/>
                  </a:moveTo>
                  <a:lnTo>
                    <a:pt x="41" y="0"/>
                  </a:lnTo>
                  <a:lnTo>
                    <a:pt x="433" y="0"/>
                  </a:lnTo>
                  <a:lnTo>
                    <a:pt x="392" y="41"/>
                  </a:lnTo>
                  <a:lnTo>
                    <a:pt x="0" y="41"/>
                  </a:lnTo>
                  <a:close/>
                </a:path>
              </a:pathLst>
            </a:custGeom>
            <a:solidFill>
              <a:srgbClr val="000000"/>
            </a:solidFill>
            <a:ln w="4763">
              <a:solidFill>
                <a:srgbClr val="000000"/>
              </a:solidFill>
              <a:round/>
              <a:headEnd/>
              <a:tailEnd/>
            </a:ln>
          </p:spPr>
          <p:txBody>
            <a:bodyPr/>
            <a:lstStyle/>
            <a:p>
              <a:endParaRPr lang="en-US"/>
            </a:p>
          </p:txBody>
        </p:sp>
        <p:sp>
          <p:nvSpPr>
            <p:cNvPr id="36903" name="Freeform 44"/>
            <p:cNvSpPr>
              <a:spLocks/>
            </p:cNvSpPr>
            <p:nvPr/>
          </p:nvSpPr>
          <p:spPr bwMode="auto">
            <a:xfrm>
              <a:off x="661" y="534"/>
              <a:ext cx="446" cy="41"/>
            </a:xfrm>
            <a:custGeom>
              <a:avLst/>
              <a:gdLst>
                <a:gd name="T0" fmla="*/ 0 w 446"/>
                <a:gd name="T1" fmla="*/ 41 h 41"/>
                <a:gd name="T2" fmla="*/ 45 w 446"/>
                <a:gd name="T3" fmla="*/ 0 h 41"/>
                <a:gd name="T4" fmla="*/ 446 w 446"/>
                <a:gd name="T5" fmla="*/ 0 h 41"/>
                <a:gd name="T6" fmla="*/ 402 w 446"/>
                <a:gd name="T7" fmla="*/ 41 h 41"/>
                <a:gd name="T8" fmla="*/ 0 w 446"/>
                <a:gd name="T9" fmla="*/ 41 h 41"/>
                <a:gd name="T10" fmla="*/ 0 60000 65536"/>
                <a:gd name="T11" fmla="*/ 0 60000 65536"/>
                <a:gd name="T12" fmla="*/ 0 60000 65536"/>
                <a:gd name="T13" fmla="*/ 0 60000 65536"/>
                <a:gd name="T14" fmla="*/ 0 60000 65536"/>
                <a:gd name="T15" fmla="*/ 0 w 446"/>
                <a:gd name="T16" fmla="*/ 0 h 41"/>
                <a:gd name="T17" fmla="*/ 446 w 446"/>
                <a:gd name="T18" fmla="*/ 41 h 41"/>
              </a:gdLst>
              <a:ahLst/>
              <a:cxnLst>
                <a:cxn ang="T10">
                  <a:pos x="T0" y="T1"/>
                </a:cxn>
                <a:cxn ang="T11">
                  <a:pos x="T2" y="T3"/>
                </a:cxn>
                <a:cxn ang="T12">
                  <a:pos x="T4" y="T5"/>
                </a:cxn>
                <a:cxn ang="T13">
                  <a:pos x="T6" y="T7"/>
                </a:cxn>
                <a:cxn ang="T14">
                  <a:pos x="T8" y="T9"/>
                </a:cxn>
              </a:cxnLst>
              <a:rect l="T15" t="T16" r="T17" b="T18"/>
              <a:pathLst>
                <a:path w="446" h="41">
                  <a:moveTo>
                    <a:pt x="0" y="41"/>
                  </a:moveTo>
                  <a:lnTo>
                    <a:pt x="45" y="0"/>
                  </a:lnTo>
                  <a:lnTo>
                    <a:pt x="446" y="0"/>
                  </a:lnTo>
                  <a:lnTo>
                    <a:pt x="402" y="41"/>
                  </a:lnTo>
                  <a:lnTo>
                    <a:pt x="0" y="41"/>
                  </a:lnTo>
                  <a:close/>
                </a:path>
              </a:pathLst>
            </a:custGeom>
            <a:solidFill>
              <a:srgbClr val="00B4FF"/>
            </a:solidFill>
            <a:ln w="9525">
              <a:noFill/>
              <a:round/>
              <a:headEnd/>
              <a:tailEnd/>
            </a:ln>
          </p:spPr>
          <p:txBody>
            <a:bodyPr/>
            <a:lstStyle/>
            <a:p>
              <a:endParaRPr lang="en-US"/>
            </a:p>
          </p:txBody>
        </p:sp>
        <p:sp>
          <p:nvSpPr>
            <p:cNvPr id="36904" name="Freeform 45"/>
            <p:cNvSpPr>
              <a:spLocks/>
            </p:cNvSpPr>
            <p:nvPr/>
          </p:nvSpPr>
          <p:spPr bwMode="auto">
            <a:xfrm>
              <a:off x="661" y="534"/>
              <a:ext cx="446" cy="41"/>
            </a:xfrm>
            <a:custGeom>
              <a:avLst/>
              <a:gdLst>
                <a:gd name="T0" fmla="*/ 0 w 446"/>
                <a:gd name="T1" fmla="*/ 41 h 41"/>
                <a:gd name="T2" fmla="*/ 45 w 446"/>
                <a:gd name="T3" fmla="*/ 0 h 41"/>
                <a:gd name="T4" fmla="*/ 446 w 446"/>
                <a:gd name="T5" fmla="*/ 0 h 41"/>
                <a:gd name="T6" fmla="*/ 402 w 446"/>
                <a:gd name="T7" fmla="*/ 41 h 41"/>
                <a:gd name="T8" fmla="*/ 0 w 446"/>
                <a:gd name="T9" fmla="*/ 41 h 41"/>
                <a:gd name="T10" fmla="*/ 0 60000 65536"/>
                <a:gd name="T11" fmla="*/ 0 60000 65536"/>
                <a:gd name="T12" fmla="*/ 0 60000 65536"/>
                <a:gd name="T13" fmla="*/ 0 60000 65536"/>
                <a:gd name="T14" fmla="*/ 0 60000 65536"/>
                <a:gd name="T15" fmla="*/ 0 w 446"/>
                <a:gd name="T16" fmla="*/ 0 h 41"/>
                <a:gd name="T17" fmla="*/ 446 w 446"/>
                <a:gd name="T18" fmla="*/ 41 h 41"/>
              </a:gdLst>
              <a:ahLst/>
              <a:cxnLst>
                <a:cxn ang="T10">
                  <a:pos x="T0" y="T1"/>
                </a:cxn>
                <a:cxn ang="T11">
                  <a:pos x="T2" y="T3"/>
                </a:cxn>
                <a:cxn ang="T12">
                  <a:pos x="T4" y="T5"/>
                </a:cxn>
                <a:cxn ang="T13">
                  <a:pos x="T6" y="T7"/>
                </a:cxn>
                <a:cxn ang="T14">
                  <a:pos x="T8" y="T9"/>
                </a:cxn>
              </a:cxnLst>
              <a:rect l="T15" t="T16" r="T17" b="T18"/>
              <a:pathLst>
                <a:path w="446" h="41">
                  <a:moveTo>
                    <a:pt x="0" y="41"/>
                  </a:moveTo>
                  <a:lnTo>
                    <a:pt x="45" y="0"/>
                  </a:lnTo>
                  <a:lnTo>
                    <a:pt x="446" y="0"/>
                  </a:lnTo>
                  <a:lnTo>
                    <a:pt x="402" y="41"/>
                  </a:lnTo>
                  <a:lnTo>
                    <a:pt x="0" y="41"/>
                  </a:lnTo>
                  <a:close/>
                </a:path>
              </a:pathLst>
            </a:custGeom>
            <a:solidFill>
              <a:srgbClr val="00B4FF"/>
            </a:solidFill>
            <a:ln w="4763">
              <a:solidFill>
                <a:srgbClr val="AAE6FF"/>
              </a:solidFill>
              <a:round/>
              <a:headEnd/>
              <a:tailEnd/>
            </a:ln>
          </p:spPr>
          <p:txBody>
            <a:bodyPr/>
            <a:lstStyle/>
            <a:p>
              <a:endParaRPr lang="en-US"/>
            </a:p>
          </p:txBody>
        </p:sp>
        <p:sp>
          <p:nvSpPr>
            <p:cNvPr id="36905" name="Rectangle 46"/>
            <p:cNvSpPr>
              <a:spLocks noChangeArrowheads="1"/>
            </p:cNvSpPr>
            <p:nvPr/>
          </p:nvSpPr>
          <p:spPr bwMode="auto">
            <a:xfrm>
              <a:off x="662" y="576"/>
              <a:ext cx="403" cy="317"/>
            </a:xfrm>
            <a:prstGeom prst="rect">
              <a:avLst/>
            </a:prstGeom>
            <a:solidFill>
              <a:srgbClr val="0096D5"/>
            </a:solidFill>
            <a:ln w="4763">
              <a:solidFill>
                <a:srgbClr val="AAE6FF"/>
              </a:solidFill>
              <a:miter lim="800000"/>
              <a:headEnd/>
              <a:tailEnd/>
            </a:ln>
          </p:spPr>
          <p:txBody>
            <a:bodyPr/>
            <a:lstStyle/>
            <a:p>
              <a:endParaRPr lang="en-US" altLang="en-US">
                <a:solidFill>
                  <a:schemeClr val="bg1"/>
                </a:solidFill>
              </a:endParaRPr>
            </a:p>
          </p:txBody>
        </p:sp>
        <p:sp>
          <p:nvSpPr>
            <p:cNvPr id="36906" name="Rectangle 47"/>
            <p:cNvSpPr>
              <a:spLocks noChangeArrowheads="1"/>
            </p:cNvSpPr>
            <p:nvPr/>
          </p:nvSpPr>
          <p:spPr bwMode="auto">
            <a:xfrm>
              <a:off x="697" y="617"/>
              <a:ext cx="333" cy="244"/>
            </a:xfrm>
            <a:prstGeom prst="rect">
              <a:avLst/>
            </a:prstGeom>
            <a:solidFill>
              <a:srgbClr val="FFFFFF"/>
            </a:solidFill>
            <a:ln w="4763">
              <a:solidFill>
                <a:srgbClr val="003C55"/>
              </a:solidFill>
              <a:miter lim="800000"/>
              <a:headEnd/>
              <a:tailEnd/>
            </a:ln>
          </p:spPr>
          <p:txBody>
            <a:bodyPr/>
            <a:lstStyle/>
            <a:p>
              <a:endParaRPr lang="en-US" altLang="en-US">
                <a:solidFill>
                  <a:schemeClr val="bg1"/>
                </a:solidFill>
              </a:endParaRPr>
            </a:p>
          </p:txBody>
        </p:sp>
        <p:sp>
          <p:nvSpPr>
            <p:cNvPr id="36907" name="Freeform 48"/>
            <p:cNvSpPr>
              <a:spLocks/>
            </p:cNvSpPr>
            <p:nvPr/>
          </p:nvSpPr>
          <p:spPr bwMode="auto">
            <a:xfrm>
              <a:off x="1063" y="534"/>
              <a:ext cx="44" cy="356"/>
            </a:xfrm>
            <a:custGeom>
              <a:avLst/>
              <a:gdLst>
                <a:gd name="T0" fmla="*/ 0 w 44"/>
                <a:gd name="T1" fmla="*/ 356 h 356"/>
                <a:gd name="T2" fmla="*/ 44 w 44"/>
                <a:gd name="T3" fmla="*/ 312 h 356"/>
                <a:gd name="T4" fmla="*/ 44 w 44"/>
                <a:gd name="T5" fmla="*/ 0 h 356"/>
                <a:gd name="T6" fmla="*/ 0 w 44"/>
                <a:gd name="T7" fmla="*/ 41 h 356"/>
                <a:gd name="T8" fmla="*/ 0 w 44"/>
                <a:gd name="T9" fmla="*/ 356 h 356"/>
                <a:gd name="T10" fmla="*/ 0 60000 65536"/>
                <a:gd name="T11" fmla="*/ 0 60000 65536"/>
                <a:gd name="T12" fmla="*/ 0 60000 65536"/>
                <a:gd name="T13" fmla="*/ 0 60000 65536"/>
                <a:gd name="T14" fmla="*/ 0 60000 65536"/>
                <a:gd name="T15" fmla="*/ 0 w 44"/>
                <a:gd name="T16" fmla="*/ 0 h 356"/>
                <a:gd name="T17" fmla="*/ 44 w 44"/>
                <a:gd name="T18" fmla="*/ 356 h 356"/>
              </a:gdLst>
              <a:ahLst/>
              <a:cxnLst>
                <a:cxn ang="T10">
                  <a:pos x="T0" y="T1"/>
                </a:cxn>
                <a:cxn ang="T11">
                  <a:pos x="T2" y="T3"/>
                </a:cxn>
                <a:cxn ang="T12">
                  <a:pos x="T4" y="T5"/>
                </a:cxn>
                <a:cxn ang="T13">
                  <a:pos x="T6" y="T7"/>
                </a:cxn>
                <a:cxn ang="T14">
                  <a:pos x="T8" y="T9"/>
                </a:cxn>
              </a:cxnLst>
              <a:rect l="T15" t="T16" r="T17" b="T18"/>
              <a:pathLst>
                <a:path w="44" h="356">
                  <a:moveTo>
                    <a:pt x="0" y="356"/>
                  </a:moveTo>
                  <a:lnTo>
                    <a:pt x="44" y="312"/>
                  </a:lnTo>
                  <a:lnTo>
                    <a:pt x="44" y="0"/>
                  </a:lnTo>
                  <a:lnTo>
                    <a:pt x="0" y="41"/>
                  </a:lnTo>
                  <a:lnTo>
                    <a:pt x="0" y="356"/>
                  </a:lnTo>
                  <a:close/>
                </a:path>
              </a:pathLst>
            </a:custGeom>
            <a:solidFill>
              <a:srgbClr val="005A80"/>
            </a:solidFill>
            <a:ln w="9525">
              <a:noFill/>
              <a:round/>
              <a:headEnd/>
              <a:tailEnd/>
            </a:ln>
          </p:spPr>
          <p:txBody>
            <a:bodyPr/>
            <a:lstStyle/>
            <a:p>
              <a:endParaRPr lang="en-US"/>
            </a:p>
          </p:txBody>
        </p:sp>
        <p:sp>
          <p:nvSpPr>
            <p:cNvPr id="36908" name="Freeform 49"/>
            <p:cNvSpPr>
              <a:spLocks/>
            </p:cNvSpPr>
            <p:nvPr/>
          </p:nvSpPr>
          <p:spPr bwMode="auto">
            <a:xfrm>
              <a:off x="1063" y="534"/>
              <a:ext cx="44" cy="356"/>
            </a:xfrm>
            <a:custGeom>
              <a:avLst/>
              <a:gdLst>
                <a:gd name="T0" fmla="*/ 0 w 44"/>
                <a:gd name="T1" fmla="*/ 356 h 356"/>
                <a:gd name="T2" fmla="*/ 44 w 44"/>
                <a:gd name="T3" fmla="*/ 312 h 356"/>
                <a:gd name="T4" fmla="*/ 44 w 44"/>
                <a:gd name="T5" fmla="*/ 0 h 356"/>
                <a:gd name="T6" fmla="*/ 0 w 44"/>
                <a:gd name="T7" fmla="*/ 41 h 356"/>
                <a:gd name="T8" fmla="*/ 0 w 44"/>
                <a:gd name="T9" fmla="*/ 356 h 356"/>
                <a:gd name="T10" fmla="*/ 0 60000 65536"/>
                <a:gd name="T11" fmla="*/ 0 60000 65536"/>
                <a:gd name="T12" fmla="*/ 0 60000 65536"/>
                <a:gd name="T13" fmla="*/ 0 60000 65536"/>
                <a:gd name="T14" fmla="*/ 0 60000 65536"/>
                <a:gd name="T15" fmla="*/ 0 w 44"/>
                <a:gd name="T16" fmla="*/ 0 h 356"/>
                <a:gd name="T17" fmla="*/ 44 w 44"/>
                <a:gd name="T18" fmla="*/ 356 h 356"/>
              </a:gdLst>
              <a:ahLst/>
              <a:cxnLst>
                <a:cxn ang="T10">
                  <a:pos x="T0" y="T1"/>
                </a:cxn>
                <a:cxn ang="T11">
                  <a:pos x="T2" y="T3"/>
                </a:cxn>
                <a:cxn ang="T12">
                  <a:pos x="T4" y="T5"/>
                </a:cxn>
                <a:cxn ang="T13">
                  <a:pos x="T6" y="T7"/>
                </a:cxn>
                <a:cxn ang="T14">
                  <a:pos x="T8" y="T9"/>
                </a:cxn>
              </a:cxnLst>
              <a:rect l="T15" t="T16" r="T17" b="T18"/>
              <a:pathLst>
                <a:path w="44" h="356">
                  <a:moveTo>
                    <a:pt x="0" y="356"/>
                  </a:moveTo>
                  <a:lnTo>
                    <a:pt x="44" y="312"/>
                  </a:lnTo>
                  <a:lnTo>
                    <a:pt x="44" y="0"/>
                  </a:lnTo>
                  <a:lnTo>
                    <a:pt x="0" y="41"/>
                  </a:lnTo>
                  <a:lnTo>
                    <a:pt x="0" y="356"/>
                  </a:lnTo>
                  <a:close/>
                </a:path>
              </a:pathLst>
            </a:custGeom>
            <a:solidFill>
              <a:srgbClr val="005A80"/>
            </a:solidFill>
            <a:ln w="4763">
              <a:solidFill>
                <a:srgbClr val="AAE6FF"/>
              </a:solidFill>
              <a:round/>
              <a:headEnd/>
              <a:tailEnd/>
            </a:ln>
          </p:spPr>
          <p:txBody>
            <a:bodyPr/>
            <a:lstStyle/>
            <a:p>
              <a:endParaRPr lang="en-US"/>
            </a:p>
          </p:txBody>
        </p:sp>
        <p:sp>
          <p:nvSpPr>
            <p:cNvPr id="36909" name="Freeform 50"/>
            <p:cNvSpPr>
              <a:spLocks/>
            </p:cNvSpPr>
            <p:nvPr/>
          </p:nvSpPr>
          <p:spPr bwMode="auto">
            <a:xfrm>
              <a:off x="582" y="969"/>
              <a:ext cx="500" cy="79"/>
            </a:xfrm>
            <a:custGeom>
              <a:avLst/>
              <a:gdLst>
                <a:gd name="T0" fmla="*/ 0 w 500"/>
                <a:gd name="T1" fmla="*/ 79 h 79"/>
                <a:gd name="T2" fmla="*/ 64 w 500"/>
                <a:gd name="T3" fmla="*/ 0 h 79"/>
                <a:gd name="T4" fmla="*/ 500 w 500"/>
                <a:gd name="T5" fmla="*/ 0 h 79"/>
                <a:gd name="T6" fmla="*/ 437 w 500"/>
                <a:gd name="T7" fmla="*/ 79 h 79"/>
                <a:gd name="T8" fmla="*/ 0 w 500"/>
                <a:gd name="T9" fmla="*/ 79 h 79"/>
                <a:gd name="T10" fmla="*/ 0 60000 65536"/>
                <a:gd name="T11" fmla="*/ 0 60000 65536"/>
                <a:gd name="T12" fmla="*/ 0 60000 65536"/>
                <a:gd name="T13" fmla="*/ 0 60000 65536"/>
                <a:gd name="T14" fmla="*/ 0 60000 65536"/>
                <a:gd name="T15" fmla="*/ 0 w 500"/>
                <a:gd name="T16" fmla="*/ 0 h 79"/>
                <a:gd name="T17" fmla="*/ 500 w 500"/>
                <a:gd name="T18" fmla="*/ 79 h 79"/>
              </a:gdLst>
              <a:ahLst/>
              <a:cxnLst>
                <a:cxn ang="T10">
                  <a:pos x="T0" y="T1"/>
                </a:cxn>
                <a:cxn ang="T11">
                  <a:pos x="T2" y="T3"/>
                </a:cxn>
                <a:cxn ang="T12">
                  <a:pos x="T4" y="T5"/>
                </a:cxn>
                <a:cxn ang="T13">
                  <a:pos x="T6" y="T7"/>
                </a:cxn>
                <a:cxn ang="T14">
                  <a:pos x="T8" y="T9"/>
                </a:cxn>
              </a:cxnLst>
              <a:rect l="T15" t="T16" r="T17" b="T18"/>
              <a:pathLst>
                <a:path w="500" h="79">
                  <a:moveTo>
                    <a:pt x="0" y="79"/>
                  </a:moveTo>
                  <a:lnTo>
                    <a:pt x="64" y="0"/>
                  </a:lnTo>
                  <a:lnTo>
                    <a:pt x="500" y="0"/>
                  </a:lnTo>
                  <a:lnTo>
                    <a:pt x="437" y="79"/>
                  </a:lnTo>
                  <a:lnTo>
                    <a:pt x="0" y="79"/>
                  </a:lnTo>
                  <a:close/>
                </a:path>
              </a:pathLst>
            </a:custGeom>
            <a:solidFill>
              <a:srgbClr val="00B4FF"/>
            </a:solidFill>
            <a:ln w="9525">
              <a:noFill/>
              <a:round/>
              <a:headEnd/>
              <a:tailEnd/>
            </a:ln>
          </p:spPr>
          <p:txBody>
            <a:bodyPr/>
            <a:lstStyle/>
            <a:p>
              <a:endParaRPr lang="en-US"/>
            </a:p>
          </p:txBody>
        </p:sp>
        <p:sp>
          <p:nvSpPr>
            <p:cNvPr id="36910" name="Freeform 51"/>
            <p:cNvSpPr>
              <a:spLocks/>
            </p:cNvSpPr>
            <p:nvPr/>
          </p:nvSpPr>
          <p:spPr bwMode="auto">
            <a:xfrm>
              <a:off x="582" y="969"/>
              <a:ext cx="500" cy="79"/>
            </a:xfrm>
            <a:custGeom>
              <a:avLst/>
              <a:gdLst>
                <a:gd name="T0" fmla="*/ 0 w 500"/>
                <a:gd name="T1" fmla="*/ 79 h 79"/>
                <a:gd name="T2" fmla="*/ 64 w 500"/>
                <a:gd name="T3" fmla="*/ 0 h 79"/>
                <a:gd name="T4" fmla="*/ 500 w 500"/>
                <a:gd name="T5" fmla="*/ 0 h 79"/>
                <a:gd name="T6" fmla="*/ 437 w 500"/>
                <a:gd name="T7" fmla="*/ 79 h 79"/>
                <a:gd name="T8" fmla="*/ 0 w 500"/>
                <a:gd name="T9" fmla="*/ 79 h 79"/>
                <a:gd name="T10" fmla="*/ 0 60000 65536"/>
                <a:gd name="T11" fmla="*/ 0 60000 65536"/>
                <a:gd name="T12" fmla="*/ 0 60000 65536"/>
                <a:gd name="T13" fmla="*/ 0 60000 65536"/>
                <a:gd name="T14" fmla="*/ 0 60000 65536"/>
                <a:gd name="T15" fmla="*/ 0 w 500"/>
                <a:gd name="T16" fmla="*/ 0 h 79"/>
                <a:gd name="T17" fmla="*/ 500 w 500"/>
                <a:gd name="T18" fmla="*/ 79 h 79"/>
              </a:gdLst>
              <a:ahLst/>
              <a:cxnLst>
                <a:cxn ang="T10">
                  <a:pos x="T0" y="T1"/>
                </a:cxn>
                <a:cxn ang="T11">
                  <a:pos x="T2" y="T3"/>
                </a:cxn>
                <a:cxn ang="T12">
                  <a:pos x="T4" y="T5"/>
                </a:cxn>
                <a:cxn ang="T13">
                  <a:pos x="T6" y="T7"/>
                </a:cxn>
                <a:cxn ang="T14">
                  <a:pos x="T8" y="T9"/>
                </a:cxn>
              </a:cxnLst>
              <a:rect l="T15" t="T16" r="T17" b="T18"/>
              <a:pathLst>
                <a:path w="500" h="79">
                  <a:moveTo>
                    <a:pt x="0" y="79"/>
                  </a:moveTo>
                  <a:lnTo>
                    <a:pt x="64" y="0"/>
                  </a:lnTo>
                  <a:lnTo>
                    <a:pt x="500" y="0"/>
                  </a:lnTo>
                  <a:lnTo>
                    <a:pt x="437" y="79"/>
                  </a:lnTo>
                  <a:lnTo>
                    <a:pt x="0" y="79"/>
                  </a:lnTo>
                  <a:close/>
                </a:path>
              </a:pathLst>
            </a:custGeom>
            <a:solidFill>
              <a:srgbClr val="00B4FF"/>
            </a:solidFill>
            <a:ln w="4763">
              <a:solidFill>
                <a:srgbClr val="AAE6FF"/>
              </a:solidFill>
              <a:round/>
              <a:headEnd/>
              <a:tailEnd/>
            </a:ln>
          </p:spPr>
          <p:txBody>
            <a:bodyPr/>
            <a:lstStyle/>
            <a:p>
              <a:endParaRPr lang="en-US"/>
            </a:p>
          </p:txBody>
        </p:sp>
        <p:sp>
          <p:nvSpPr>
            <p:cNvPr id="36911" name="Freeform 52"/>
            <p:cNvSpPr>
              <a:spLocks/>
            </p:cNvSpPr>
            <p:nvPr/>
          </p:nvSpPr>
          <p:spPr bwMode="auto">
            <a:xfrm>
              <a:off x="1019" y="969"/>
              <a:ext cx="63" cy="95"/>
            </a:xfrm>
            <a:custGeom>
              <a:avLst/>
              <a:gdLst>
                <a:gd name="T0" fmla="*/ 0 w 63"/>
                <a:gd name="T1" fmla="*/ 95 h 95"/>
                <a:gd name="T2" fmla="*/ 63 w 63"/>
                <a:gd name="T3" fmla="*/ 29 h 95"/>
                <a:gd name="T4" fmla="*/ 63 w 63"/>
                <a:gd name="T5" fmla="*/ 0 h 95"/>
                <a:gd name="T6" fmla="*/ 0 w 63"/>
                <a:gd name="T7" fmla="*/ 79 h 95"/>
                <a:gd name="T8" fmla="*/ 0 w 63"/>
                <a:gd name="T9" fmla="*/ 95 h 95"/>
                <a:gd name="T10" fmla="*/ 0 60000 65536"/>
                <a:gd name="T11" fmla="*/ 0 60000 65536"/>
                <a:gd name="T12" fmla="*/ 0 60000 65536"/>
                <a:gd name="T13" fmla="*/ 0 60000 65536"/>
                <a:gd name="T14" fmla="*/ 0 60000 65536"/>
                <a:gd name="T15" fmla="*/ 0 w 63"/>
                <a:gd name="T16" fmla="*/ 0 h 95"/>
                <a:gd name="T17" fmla="*/ 63 w 63"/>
                <a:gd name="T18" fmla="*/ 95 h 95"/>
              </a:gdLst>
              <a:ahLst/>
              <a:cxnLst>
                <a:cxn ang="T10">
                  <a:pos x="T0" y="T1"/>
                </a:cxn>
                <a:cxn ang="T11">
                  <a:pos x="T2" y="T3"/>
                </a:cxn>
                <a:cxn ang="T12">
                  <a:pos x="T4" y="T5"/>
                </a:cxn>
                <a:cxn ang="T13">
                  <a:pos x="T6" y="T7"/>
                </a:cxn>
                <a:cxn ang="T14">
                  <a:pos x="T8" y="T9"/>
                </a:cxn>
              </a:cxnLst>
              <a:rect l="T15" t="T16" r="T17" b="T18"/>
              <a:pathLst>
                <a:path w="63" h="95">
                  <a:moveTo>
                    <a:pt x="0" y="95"/>
                  </a:moveTo>
                  <a:lnTo>
                    <a:pt x="63" y="29"/>
                  </a:lnTo>
                  <a:lnTo>
                    <a:pt x="63" y="0"/>
                  </a:lnTo>
                  <a:lnTo>
                    <a:pt x="0" y="79"/>
                  </a:lnTo>
                  <a:lnTo>
                    <a:pt x="0" y="95"/>
                  </a:lnTo>
                  <a:close/>
                </a:path>
              </a:pathLst>
            </a:custGeom>
            <a:solidFill>
              <a:srgbClr val="005A80"/>
            </a:solidFill>
            <a:ln w="9525">
              <a:noFill/>
              <a:round/>
              <a:headEnd/>
              <a:tailEnd/>
            </a:ln>
          </p:spPr>
          <p:txBody>
            <a:bodyPr/>
            <a:lstStyle/>
            <a:p>
              <a:endParaRPr lang="en-US"/>
            </a:p>
          </p:txBody>
        </p:sp>
        <p:sp>
          <p:nvSpPr>
            <p:cNvPr id="36912" name="Freeform 53"/>
            <p:cNvSpPr>
              <a:spLocks/>
            </p:cNvSpPr>
            <p:nvPr/>
          </p:nvSpPr>
          <p:spPr bwMode="auto">
            <a:xfrm>
              <a:off x="1019" y="969"/>
              <a:ext cx="63" cy="95"/>
            </a:xfrm>
            <a:custGeom>
              <a:avLst/>
              <a:gdLst>
                <a:gd name="T0" fmla="*/ 0 w 63"/>
                <a:gd name="T1" fmla="*/ 95 h 95"/>
                <a:gd name="T2" fmla="*/ 63 w 63"/>
                <a:gd name="T3" fmla="*/ 29 h 95"/>
                <a:gd name="T4" fmla="*/ 63 w 63"/>
                <a:gd name="T5" fmla="*/ 0 h 95"/>
                <a:gd name="T6" fmla="*/ 0 w 63"/>
                <a:gd name="T7" fmla="*/ 79 h 95"/>
                <a:gd name="T8" fmla="*/ 0 w 63"/>
                <a:gd name="T9" fmla="*/ 95 h 95"/>
                <a:gd name="T10" fmla="*/ 0 60000 65536"/>
                <a:gd name="T11" fmla="*/ 0 60000 65536"/>
                <a:gd name="T12" fmla="*/ 0 60000 65536"/>
                <a:gd name="T13" fmla="*/ 0 60000 65536"/>
                <a:gd name="T14" fmla="*/ 0 60000 65536"/>
                <a:gd name="T15" fmla="*/ 0 w 63"/>
                <a:gd name="T16" fmla="*/ 0 h 95"/>
                <a:gd name="T17" fmla="*/ 63 w 63"/>
                <a:gd name="T18" fmla="*/ 95 h 95"/>
              </a:gdLst>
              <a:ahLst/>
              <a:cxnLst>
                <a:cxn ang="T10">
                  <a:pos x="T0" y="T1"/>
                </a:cxn>
                <a:cxn ang="T11">
                  <a:pos x="T2" y="T3"/>
                </a:cxn>
                <a:cxn ang="T12">
                  <a:pos x="T4" y="T5"/>
                </a:cxn>
                <a:cxn ang="T13">
                  <a:pos x="T6" y="T7"/>
                </a:cxn>
                <a:cxn ang="T14">
                  <a:pos x="T8" y="T9"/>
                </a:cxn>
              </a:cxnLst>
              <a:rect l="T15" t="T16" r="T17" b="T18"/>
              <a:pathLst>
                <a:path w="63" h="95">
                  <a:moveTo>
                    <a:pt x="0" y="95"/>
                  </a:moveTo>
                  <a:lnTo>
                    <a:pt x="63" y="29"/>
                  </a:lnTo>
                  <a:lnTo>
                    <a:pt x="63" y="0"/>
                  </a:lnTo>
                  <a:lnTo>
                    <a:pt x="0" y="79"/>
                  </a:lnTo>
                  <a:lnTo>
                    <a:pt x="0" y="95"/>
                  </a:lnTo>
                  <a:close/>
                </a:path>
              </a:pathLst>
            </a:custGeom>
            <a:solidFill>
              <a:srgbClr val="005A80"/>
            </a:solidFill>
            <a:ln w="4763">
              <a:solidFill>
                <a:srgbClr val="AAE6FF"/>
              </a:solidFill>
              <a:round/>
              <a:headEnd/>
              <a:tailEnd/>
            </a:ln>
          </p:spPr>
          <p:txBody>
            <a:bodyPr/>
            <a:lstStyle/>
            <a:p>
              <a:endParaRPr lang="en-US"/>
            </a:p>
          </p:txBody>
        </p:sp>
        <p:sp>
          <p:nvSpPr>
            <p:cNvPr id="36913" name="Rectangle 54"/>
            <p:cNvSpPr>
              <a:spLocks noChangeArrowheads="1"/>
            </p:cNvSpPr>
            <p:nvPr/>
          </p:nvSpPr>
          <p:spPr bwMode="auto">
            <a:xfrm>
              <a:off x="582" y="1048"/>
              <a:ext cx="437" cy="16"/>
            </a:xfrm>
            <a:prstGeom prst="rect">
              <a:avLst/>
            </a:prstGeom>
            <a:solidFill>
              <a:srgbClr val="0096D5"/>
            </a:solidFill>
            <a:ln w="9525">
              <a:noFill/>
              <a:miter lim="800000"/>
              <a:headEnd/>
              <a:tailEnd/>
            </a:ln>
          </p:spPr>
          <p:txBody>
            <a:bodyPr/>
            <a:lstStyle/>
            <a:p>
              <a:endParaRPr lang="en-US" altLang="en-US">
                <a:solidFill>
                  <a:schemeClr val="bg1"/>
                </a:solidFill>
              </a:endParaRPr>
            </a:p>
          </p:txBody>
        </p:sp>
        <p:sp>
          <p:nvSpPr>
            <p:cNvPr id="36914" name="Rectangle 55"/>
            <p:cNvSpPr>
              <a:spLocks noChangeArrowheads="1"/>
            </p:cNvSpPr>
            <p:nvPr/>
          </p:nvSpPr>
          <p:spPr bwMode="auto">
            <a:xfrm>
              <a:off x="583" y="1049"/>
              <a:ext cx="435" cy="14"/>
            </a:xfrm>
            <a:prstGeom prst="rect">
              <a:avLst/>
            </a:prstGeom>
            <a:solidFill>
              <a:srgbClr val="0096D5"/>
            </a:solidFill>
            <a:ln w="4763">
              <a:solidFill>
                <a:srgbClr val="AAE6FF"/>
              </a:solidFill>
              <a:miter lim="800000"/>
              <a:headEnd/>
              <a:tailEnd/>
            </a:ln>
          </p:spPr>
          <p:txBody>
            <a:bodyPr/>
            <a:lstStyle/>
            <a:p>
              <a:endParaRPr lang="en-US" altLang="en-US">
                <a:solidFill>
                  <a:schemeClr val="bg1"/>
                </a:solidFill>
              </a:endParaRPr>
            </a:p>
          </p:txBody>
        </p:sp>
        <p:sp>
          <p:nvSpPr>
            <p:cNvPr id="36915" name="Freeform 56"/>
            <p:cNvSpPr>
              <a:spLocks/>
            </p:cNvSpPr>
            <p:nvPr/>
          </p:nvSpPr>
          <p:spPr bwMode="auto">
            <a:xfrm>
              <a:off x="1107" y="991"/>
              <a:ext cx="89" cy="47"/>
            </a:xfrm>
            <a:custGeom>
              <a:avLst/>
              <a:gdLst>
                <a:gd name="T0" fmla="*/ 0 w 89"/>
                <a:gd name="T1" fmla="*/ 47 h 47"/>
                <a:gd name="T2" fmla="*/ 32 w 89"/>
                <a:gd name="T3" fmla="*/ 0 h 47"/>
                <a:gd name="T4" fmla="*/ 89 w 89"/>
                <a:gd name="T5" fmla="*/ 0 h 47"/>
                <a:gd name="T6" fmla="*/ 57 w 89"/>
                <a:gd name="T7" fmla="*/ 47 h 47"/>
                <a:gd name="T8" fmla="*/ 0 w 89"/>
                <a:gd name="T9" fmla="*/ 47 h 47"/>
                <a:gd name="T10" fmla="*/ 0 60000 65536"/>
                <a:gd name="T11" fmla="*/ 0 60000 65536"/>
                <a:gd name="T12" fmla="*/ 0 60000 65536"/>
                <a:gd name="T13" fmla="*/ 0 60000 65536"/>
                <a:gd name="T14" fmla="*/ 0 60000 65536"/>
                <a:gd name="T15" fmla="*/ 0 w 89"/>
                <a:gd name="T16" fmla="*/ 0 h 47"/>
                <a:gd name="T17" fmla="*/ 89 w 89"/>
                <a:gd name="T18" fmla="*/ 47 h 47"/>
              </a:gdLst>
              <a:ahLst/>
              <a:cxnLst>
                <a:cxn ang="T10">
                  <a:pos x="T0" y="T1"/>
                </a:cxn>
                <a:cxn ang="T11">
                  <a:pos x="T2" y="T3"/>
                </a:cxn>
                <a:cxn ang="T12">
                  <a:pos x="T4" y="T5"/>
                </a:cxn>
                <a:cxn ang="T13">
                  <a:pos x="T6" y="T7"/>
                </a:cxn>
                <a:cxn ang="T14">
                  <a:pos x="T8" y="T9"/>
                </a:cxn>
              </a:cxnLst>
              <a:rect l="T15" t="T16" r="T17" b="T18"/>
              <a:pathLst>
                <a:path w="89" h="47">
                  <a:moveTo>
                    <a:pt x="0" y="47"/>
                  </a:moveTo>
                  <a:lnTo>
                    <a:pt x="32" y="0"/>
                  </a:lnTo>
                  <a:lnTo>
                    <a:pt x="89" y="0"/>
                  </a:lnTo>
                  <a:lnTo>
                    <a:pt x="57" y="47"/>
                  </a:lnTo>
                  <a:lnTo>
                    <a:pt x="0" y="47"/>
                  </a:lnTo>
                  <a:close/>
                </a:path>
              </a:pathLst>
            </a:custGeom>
            <a:solidFill>
              <a:srgbClr val="00B4FF"/>
            </a:solidFill>
            <a:ln w="9525">
              <a:noFill/>
              <a:round/>
              <a:headEnd/>
              <a:tailEnd/>
            </a:ln>
          </p:spPr>
          <p:txBody>
            <a:bodyPr/>
            <a:lstStyle/>
            <a:p>
              <a:endParaRPr lang="en-US"/>
            </a:p>
          </p:txBody>
        </p:sp>
        <p:sp>
          <p:nvSpPr>
            <p:cNvPr id="36916" name="Freeform 57"/>
            <p:cNvSpPr>
              <a:spLocks/>
            </p:cNvSpPr>
            <p:nvPr/>
          </p:nvSpPr>
          <p:spPr bwMode="auto">
            <a:xfrm>
              <a:off x="1107" y="991"/>
              <a:ext cx="89" cy="47"/>
            </a:xfrm>
            <a:custGeom>
              <a:avLst/>
              <a:gdLst>
                <a:gd name="T0" fmla="*/ 0 w 89"/>
                <a:gd name="T1" fmla="*/ 47 h 47"/>
                <a:gd name="T2" fmla="*/ 32 w 89"/>
                <a:gd name="T3" fmla="*/ 0 h 47"/>
                <a:gd name="T4" fmla="*/ 89 w 89"/>
                <a:gd name="T5" fmla="*/ 0 h 47"/>
                <a:gd name="T6" fmla="*/ 57 w 89"/>
                <a:gd name="T7" fmla="*/ 47 h 47"/>
                <a:gd name="T8" fmla="*/ 0 w 89"/>
                <a:gd name="T9" fmla="*/ 47 h 47"/>
                <a:gd name="T10" fmla="*/ 0 60000 65536"/>
                <a:gd name="T11" fmla="*/ 0 60000 65536"/>
                <a:gd name="T12" fmla="*/ 0 60000 65536"/>
                <a:gd name="T13" fmla="*/ 0 60000 65536"/>
                <a:gd name="T14" fmla="*/ 0 60000 65536"/>
                <a:gd name="T15" fmla="*/ 0 w 89"/>
                <a:gd name="T16" fmla="*/ 0 h 47"/>
                <a:gd name="T17" fmla="*/ 89 w 89"/>
                <a:gd name="T18" fmla="*/ 47 h 47"/>
              </a:gdLst>
              <a:ahLst/>
              <a:cxnLst>
                <a:cxn ang="T10">
                  <a:pos x="T0" y="T1"/>
                </a:cxn>
                <a:cxn ang="T11">
                  <a:pos x="T2" y="T3"/>
                </a:cxn>
                <a:cxn ang="T12">
                  <a:pos x="T4" y="T5"/>
                </a:cxn>
                <a:cxn ang="T13">
                  <a:pos x="T6" y="T7"/>
                </a:cxn>
                <a:cxn ang="T14">
                  <a:pos x="T8" y="T9"/>
                </a:cxn>
              </a:cxnLst>
              <a:rect l="T15" t="T16" r="T17" b="T18"/>
              <a:pathLst>
                <a:path w="89" h="47">
                  <a:moveTo>
                    <a:pt x="0" y="47"/>
                  </a:moveTo>
                  <a:lnTo>
                    <a:pt x="32" y="0"/>
                  </a:lnTo>
                  <a:lnTo>
                    <a:pt x="89" y="0"/>
                  </a:lnTo>
                  <a:lnTo>
                    <a:pt x="57" y="47"/>
                  </a:lnTo>
                  <a:lnTo>
                    <a:pt x="0" y="47"/>
                  </a:lnTo>
                  <a:close/>
                </a:path>
              </a:pathLst>
            </a:custGeom>
            <a:solidFill>
              <a:srgbClr val="00B4FF"/>
            </a:solidFill>
            <a:ln w="4763">
              <a:solidFill>
                <a:srgbClr val="AAE6FF"/>
              </a:solidFill>
              <a:round/>
              <a:headEnd/>
              <a:tailEnd/>
            </a:ln>
          </p:spPr>
          <p:txBody>
            <a:bodyPr/>
            <a:lstStyle/>
            <a:p>
              <a:endParaRPr lang="en-US"/>
            </a:p>
          </p:txBody>
        </p:sp>
        <p:sp>
          <p:nvSpPr>
            <p:cNvPr id="36917" name="Freeform 58"/>
            <p:cNvSpPr>
              <a:spLocks/>
            </p:cNvSpPr>
            <p:nvPr/>
          </p:nvSpPr>
          <p:spPr bwMode="auto">
            <a:xfrm>
              <a:off x="1164" y="991"/>
              <a:ext cx="32" cy="63"/>
            </a:xfrm>
            <a:custGeom>
              <a:avLst/>
              <a:gdLst>
                <a:gd name="T0" fmla="*/ 0 w 32"/>
                <a:gd name="T1" fmla="*/ 63 h 63"/>
                <a:gd name="T2" fmla="*/ 32 w 32"/>
                <a:gd name="T3" fmla="*/ 29 h 63"/>
                <a:gd name="T4" fmla="*/ 32 w 32"/>
                <a:gd name="T5" fmla="*/ 0 h 63"/>
                <a:gd name="T6" fmla="*/ 0 w 32"/>
                <a:gd name="T7" fmla="*/ 47 h 63"/>
                <a:gd name="T8" fmla="*/ 0 w 32"/>
                <a:gd name="T9" fmla="*/ 63 h 63"/>
                <a:gd name="T10" fmla="*/ 0 60000 65536"/>
                <a:gd name="T11" fmla="*/ 0 60000 65536"/>
                <a:gd name="T12" fmla="*/ 0 60000 65536"/>
                <a:gd name="T13" fmla="*/ 0 60000 65536"/>
                <a:gd name="T14" fmla="*/ 0 60000 65536"/>
                <a:gd name="T15" fmla="*/ 0 w 32"/>
                <a:gd name="T16" fmla="*/ 0 h 63"/>
                <a:gd name="T17" fmla="*/ 32 w 32"/>
                <a:gd name="T18" fmla="*/ 63 h 63"/>
              </a:gdLst>
              <a:ahLst/>
              <a:cxnLst>
                <a:cxn ang="T10">
                  <a:pos x="T0" y="T1"/>
                </a:cxn>
                <a:cxn ang="T11">
                  <a:pos x="T2" y="T3"/>
                </a:cxn>
                <a:cxn ang="T12">
                  <a:pos x="T4" y="T5"/>
                </a:cxn>
                <a:cxn ang="T13">
                  <a:pos x="T6" y="T7"/>
                </a:cxn>
                <a:cxn ang="T14">
                  <a:pos x="T8" y="T9"/>
                </a:cxn>
              </a:cxnLst>
              <a:rect l="T15" t="T16" r="T17" b="T18"/>
              <a:pathLst>
                <a:path w="32" h="63">
                  <a:moveTo>
                    <a:pt x="0" y="63"/>
                  </a:moveTo>
                  <a:lnTo>
                    <a:pt x="32" y="29"/>
                  </a:lnTo>
                  <a:lnTo>
                    <a:pt x="32" y="0"/>
                  </a:lnTo>
                  <a:lnTo>
                    <a:pt x="0" y="47"/>
                  </a:lnTo>
                  <a:lnTo>
                    <a:pt x="0" y="63"/>
                  </a:lnTo>
                  <a:close/>
                </a:path>
              </a:pathLst>
            </a:custGeom>
            <a:solidFill>
              <a:srgbClr val="005A80"/>
            </a:solidFill>
            <a:ln w="9525">
              <a:noFill/>
              <a:round/>
              <a:headEnd/>
              <a:tailEnd/>
            </a:ln>
          </p:spPr>
          <p:txBody>
            <a:bodyPr/>
            <a:lstStyle/>
            <a:p>
              <a:endParaRPr lang="en-US"/>
            </a:p>
          </p:txBody>
        </p:sp>
        <p:sp>
          <p:nvSpPr>
            <p:cNvPr id="36918" name="Freeform 59"/>
            <p:cNvSpPr>
              <a:spLocks/>
            </p:cNvSpPr>
            <p:nvPr/>
          </p:nvSpPr>
          <p:spPr bwMode="auto">
            <a:xfrm>
              <a:off x="1164" y="991"/>
              <a:ext cx="32" cy="63"/>
            </a:xfrm>
            <a:custGeom>
              <a:avLst/>
              <a:gdLst>
                <a:gd name="T0" fmla="*/ 0 w 32"/>
                <a:gd name="T1" fmla="*/ 63 h 63"/>
                <a:gd name="T2" fmla="*/ 32 w 32"/>
                <a:gd name="T3" fmla="*/ 29 h 63"/>
                <a:gd name="T4" fmla="*/ 32 w 32"/>
                <a:gd name="T5" fmla="*/ 0 h 63"/>
                <a:gd name="T6" fmla="*/ 0 w 32"/>
                <a:gd name="T7" fmla="*/ 47 h 63"/>
                <a:gd name="T8" fmla="*/ 0 w 32"/>
                <a:gd name="T9" fmla="*/ 63 h 63"/>
                <a:gd name="T10" fmla="*/ 0 60000 65536"/>
                <a:gd name="T11" fmla="*/ 0 60000 65536"/>
                <a:gd name="T12" fmla="*/ 0 60000 65536"/>
                <a:gd name="T13" fmla="*/ 0 60000 65536"/>
                <a:gd name="T14" fmla="*/ 0 60000 65536"/>
                <a:gd name="T15" fmla="*/ 0 w 32"/>
                <a:gd name="T16" fmla="*/ 0 h 63"/>
                <a:gd name="T17" fmla="*/ 32 w 32"/>
                <a:gd name="T18" fmla="*/ 63 h 63"/>
              </a:gdLst>
              <a:ahLst/>
              <a:cxnLst>
                <a:cxn ang="T10">
                  <a:pos x="T0" y="T1"/>
                </a:cxn>
                <a:cxn ang="T11">
                  <a:pos x="T2" y="T3"/>
                </a:cxn>
                <a:cxn ang="T12">
                  <a:pos x="T4" y="T5"/>
                </a:cxn>
                <a:cxn ang="T13">
                  <a:pos x="T6" y="T7"/>
                </a:cxn>
                <a:cxn ang="T14">
                  <a:pos x="T8" y="T9"/>
                </a:cxn>
              </a:cxnLst>
              <a:rect l="T15" t="T16" r="T17" b="T18"/>
              <a:pathLst>
                <a:path w="32" h="63">
                  <a:moveTo>
                    <a:pt x="0" y="63"/>
                  </a:moveTo>
                  <a:lnTo>
                    <a:pt x="32" y="29"/>
                  </a:lnTo>
                  <a:lnTo>
                    <a:pt x="32" y="0"/>
                  </a:lnTo>
                  <a:lnTo>
                    <a:pt x="0" y="47"/>
                  </a:lnTo>
                  <a:lnTo>
                    <a:pt x="0" y="63"/>
                  </a:lnTo>
                  <a:close/>
                </a:path>
              </a:pathLst>
            </a:custGeom>
            <a:solidFill>
              <a:srgbClr val="005A80"/>
            </a:solidFill>
            <a:ln w="4763">
              <a:solidFill>
                <a:srgbClr val="AAE6FF"/>
              </a:solidFill>
              <a:round/>
              <a:headEnd/>
              <a:tailEnd/>
            </a:ln>
          </p:spPr>
          <p:txBody>
            <a:bodyPr/>
            <a:lstStyle/>
            <a:p>
              <a:endParaRPr lang="en-US"/>
            </a:p>
          </p:txBody>
        </p:sp>
        <p:sp>
          <p:nvSpPr>
            <p:cNvPr id="36919" name="Rectangle 60"/>
            <p:cNvSpPr>
              <a:spLocks noChangeArrowheads="1"/>
            </p:cNvSpPr>
            <p:nvPr/>
          </p:nvSpPr>
          <p:spPr bwMode="auto">
            <a:xfrm>
              <a:off x="1107" y="1038"/>
              <a:ext cx="57" cy="16"/>
            </a:xfrm>
            <a:prstGeom prst="rect">
              <a:avLst/>
            </a:prstGeom>
            <a:solidFill>
              <a:srgbClr val="0096D5"/>
            </a:solidFill>
            <a:ln w="9525">
              <a:noFill/>
              <a:miter lim="800000"/>
              <a:headEnd/>
              <a:tailEnd/>
            </a:ln>
          </p:spPr>
          <p:txBody>
            <a:bodyPr/>
            <a:lstStyle/>
            <a:p>
              <a:endParaRPr lang="en-US" altLang="en-US">
                <a:solidFill>
                  <a:schemeClr val="bg1"/>
                </a:solidFill>
              </a:endParaRPr>
            </a:p>
          </p:txBody>
        </p:sp>
        <p:sp>
          <p:nvSpPr>
            <p:cNvPr id="36920" name="Rectangle 61"/>
            <p:cNvSpPr>
              <a:spLocks noChangeArrowheads="1"/>
            </p:cNvSpPr>
            <p:nvPr/>
          </p:nvSpPr>
          <p:spPr bwMode="auto">
            <a:xfrm>
              <a:off x="1108" y="1039"/>
              <a:ext cx="55" cy="14"/>
            </a:xfrm>
            <a:prstGeom prst="rect">
              <a:avLst/>
            </a:prstGeom>
            <a:solidFill>
              <a:srgbClr val="0096D5"/>
            </a:solidFill>
            <a:ln w="4763">
              <a:solidFill>
                <a:srgbClr val="AAE6FF"/>
              </a:solidFill>
              <a:miter lim="800000"/>
              <a:headEnd/>
              <a:tailEnd/>
            </a:ln>
          </p:spPr>
          <p:txBody>
            <a:bodyPr/>
            <a:lstStyle/>
            <a:p>
              <a:endParaRPr lang="en-US" altLang="en-US">
                <a:solidFill>
                  <a:schemeClr val="bg1"/>
                </a:solidFill>
              </a:endParaRPr>
            </a:p>
          </p:txBody>
        </p:sp>
      </p:grpSp>
      <p:sp>
        <p:nvSpPr>
          <p:cNvPr id="36870" name="AutoShape 62"/>
          <p:cNvSpPr>
            <a:spLocks noChangeArrowheads="1"/>
          </p:cNvSpPr>
          <p:nvPr/>
        </p:nvSpPr>
        <p:spPr bwMode="auto">
          <a:xfrm rot="-5400000">
            <a:off x="4295775" y="3011488"/>
            <a:ext cx="228600" cy="2209800"/>
          </a:xfrm>
          <a:prstGeom prst="can">
            <a:avLst>
              <a:gd name="adj" fmla="val 122221"/>
            </a:avLst>
          </a:prstGeom>
          <a:solidFill>
            <a:srgbClr val="CCFFCC"/>
          </a:solidFill>
          <a:ln w="12700" cap="sq">
            <a:solidFill>
              <a:srgbClr val="969696"/>
            </a:solidFill>
            <a:round/>
            <a:headEnd type="none" w="sm" len="sm"/>
            <a:tailEnd type="none" w="sm" len="sm"/>
          </a:ln>
        </p:spPr>
        <p:txBody>
          <a:bodyPr wrap="none" anchor="ctr"/>
          <a:lstStyle/>
          <a:p>
            <a:endParaRPr lang="en-US" altLang="en-US">
              <a:solidFill>
                <a:schemeClr val="bg1"/>
              </a:solidFill>
            </a:endParaRPr>
          </a:p>
        </p:txBody>
      </p:sp>
      <p:pic>
        <p:nvPicPr>
          <p:cNvPr id="36871" name="Picture 63"/>
          <p:cNvPicPr>
            <a:picLocks noChangeArrowheads="1"/>
          </p:cNvPicPr>
          <p:nvPr/>
        </p:nvPicPr>
        <p:blipFill>
          <a:blip r:embed="rId3" cstate="print"/>
          <a:srcRect/>
          <a:stretch>
            <a:fillRect/>
          </a:stretch>
        </p:blipFill>
        <p:spPr bwMode="auto">
          <a:xfrm>
            <a:off x="2749550" y="3773488"/>
            <a:ext cx="555625" cy="765175"/>
          </a:xfrm>
          <a:prstGeom prst="rect">
            <a:avLst/>
          </a:prstGeom>
          <a:noFill/>
          <a:ln w="12700">
            <a:noFill/>
            <a:miter lim="800000"/>
            <a:headEnd/>
            <a:tailEnd/>
          </a:ln>
        </p:spPr>
      </p:pic>
      <p:pic>
        <p:nvPicPr>
          <p:cNvPr id="36872" name="Picture 64"/>
          <p:cNvPicPr>
            <a:picLocks noChangeArrowheads="1"/>
          </p:cNvPicPr>
          <p:nvPr/>
        </p:nvPicPr>
        <p:blipFill>
          <a:blip r:embed="rId3" cstate="print"/>
          <a:srcRect/>
          <a:stretch>
            <a:fillRect/>
          </a:stretch>
        </p:blipFill>
        <p:spPr bwMode="auto">
          <a:xfrm>
            <a:off x="5514975" y="3770313"/>
            <a:ext cx="555625" cy="765175"/>
          </a:xfrm>
          <a:prstGeom prst="rect">
            <a:avLst/>
          </a:prstGeom>
          <a:noFill/>
          <a:ln w="12700">
            <a:noFill/>
            <a:miter lim="800000"/>
            <a:headEnd/>
            <a:tailEnd/>
          </a:ln>
        </p:spPr>
      </p:pic>
      <p:sp>
        <p:nvSpPr>
          <p:cNvPr id="834625" name="Line 65"/>
          <p:cNvSpPr>
            <a:spLocks noChangeShapeType="1"/>
          </p:cNvSpPr>
          <p:nvPr/>
        </p:nvSpPr>
        <p:spPr bwMode="auto">
          <a:xfrm flipV="1">
            <a:off x="1371600" y="4154488"/>
            <a:ext cx="1323975" cy="457200"/>
          </a:xfrm>
          <a:prstGeom prst="line">
            <a:avLst/>
          </a:prstGeom>
          <a:noFill/>
          <a:ln w="38100" cap="sq">
            <a:solidFill>
              <a:schemeClr val="tx1"/>
            </a:solidFill>
            <a:round/>
            <a:headEnd type="none" w="sm" len="sm"/>
            <a:tailEnd type="triangle" w="sm" len="sm"/>
          </a:ln>
        </p:spPr>
        <p:txBody>
          <a:bodyPr wrap="none"/>
          <a:lstStyle/>
          <a:p>
            <a:endParaRPr lang="en-US"/>
          </a:p>
        </p:txBody>
      </p:sp>
      <p:sp>
        <p:nvSpPr>
          <p:cNvPr id="834626" name="Line 66"/>
          <p:cNvSpPr>
            <a:spLocks noChangeShapeType="1"/>
          </p:cNvSpPr>
          <p:nvPr/>
        </p:nvSpPr>
        <p:spPr bwMode="auto">
          <a:xfrm>
            <a:off x="6200775" y="4154488"/>
            <a:ext cx="1419225" cy="381000"/>
          </a:xfrm>
          <a:prstGeom prst="line">
            <a:avLst/>
          </a:prstGeom>
          <a:noFill/>
          <a:ln w="38100" cap="sq">
            <a:solidFill>
              <a:schemeClr val="tx1"/>
            </a:solidFill>
            <a:round/>
            <a:headEnd type="none" w="sm" len="sm"/>
            <a:tailEnd type="triangle" w="sm" len="sm"/>
          </a:ln>
        </p:spPr>
        <p:txBody>
          <a:bodyPr wrap="none"/>
          <a:lstStyle/>
          <a:p>
            <a:endParaRPr lang="en-US"/>
          </a:p>
        </p:txBody>
      </p:sp>
      <p:sp>
        <p:nvSpPr>
          <p:cNvPr id="834627" name="Line 67"/>
          <p:cNvSpPr>
            <a:spLocks noChangeShapeType="1"/>
          </p:cNvSpPr>
          <p:nvPr/>
        </p:nvSpPr>
        <p:spPr bwMode="auto">
          <a:xfrm>
            <a:off x="3305175" y="4154488"/>
            <a:ext cx="2133600" cy="0"/>
          </a:xfrm>
          <a:prstGeom prst="line">
            <a:avLst/>
          </a:prstGeom>
          <a:noFill/>
          <a:ln w="38100">
            <a:solidFill>
              <a:srgbClr val="333333"/>
            </a:solidFill>
            <a:prstDash val="sysDot"/>
            <a:round/>
            <a:headEnd type="none" w="sm" len="sm"/>
            <a:tailEnd type="triangle" w="sm" len="sm"/>
          </a:ln>
        </p:spPr>
        <p:txBody>
          <a:bodyPr wrap="none"/>
          <a:lstStyle/>
          <a:p>
            <a:endParaRPr lang="en-US"/>
          </a:p>
        </p:txBody>
      </p:sp>
      <p:sp>
        <p:nvSpPr>
          <p:cNvPr id="36876" name="Text Box 68"/>
          <p:cNvSpPr txBox="1">
            <a:spLocks noChangeArrowheads="1"/>
          </p:cNvSpPr>
          <p:nvPr/>
        </p:nvSpPr>
        <p:spPr bwMode="auto">
          <a:xfrm>
            <a:off x="3352800" y="2706688"/>
            <a:ext cx="2368550" cy="434975"/>
          </a:xfrm>
          <a:prstGeom prst="rect">
            <a:avLst/>
          </a:prstGeom>
          <a:solidFill>
            <a:srgbClr val="FFFF99"/>
          </a:solidFill>
          <a:ln w="38100" cap="sq">
            <a:solidFill>
              <a:srgbClr val="000000"/>
            </a:solidFill>
            <a:miter lim="800000"/>
            <a:headEnd type="none" w="sm" len="sm"/>
            <a:tailEnd type="none" w="sm" len="sm"/>
          </a:ln>
        </p:spPr>
        <p:txBody>
          <a:bodyPr wrap="none">
            <a:spAutoFit/>
          </a:bodyPr>
          <a:lstStyle/>
          <a:p>
            <a:r>
              <a:rPr lang="en-US" altLang="en-US" sz="2000" b="1">
                <a:solidFill>
                  <a:srgbClr val="000000"/>
                </a:solidFill>
              </a:rPr>
              <a:t>Encrypted Tunnel</a:t>
            </a:r>
          </a:p>
        </p:txBody>
      </p:sp>
      <p:sp>
        <p:nvSpPr>
          <p:cNvPr id="36877" name="Text Box 69"/>
          <p:cNvSpPr txBox="1">
            <a:spLocks noChangeArrowheads="1"/>
          </p:cNvSpPr>
          <p:nvPr/>
        </p:nvSpPr>
        <p:spPr bwMode="auto">
          <a:xfrm>
            <a:off x="2466975" y="3468688"/>
            <a:ext cx="1276350" cy="366712"/>
          </a:xfrm>
          <a:prstGeom prst="rect">
            <a:avLst/>
          </a:prstGeom>
          <a:noFill/>
          <a:ln w="12700" cap="sq">
            <a:noFill/>
            <a:miter lim="800000"/>
            <a:headEnd type="none" w="sm" len="sm"/>
            <a:tailEnd type="none" w="sm" len="sm"/>
          </a:ln>
        </p:spPr>
        <p:txBody>
          <a:bodyPr wrap="none">
            <a:spAutoFit/>
          </a:bodyPr>
          <a:lstStyle/>
          <a:p>
            <a:r>
              <a:rPr lang="en-US" altLang="en-US">
                <a:solidFill>
                  <a:schemeClr val="bg1"/>
                </a:solidFill>
              </a:rPr>
              <a:t>Gateway 1</a:t>
            </a:r>
          </a:p>
        </p:txBody>
      </p:sp>
      <p:sp>
        <p:nvSpPr>
          <p:cNvPr id="36878" name="Rectangle 70"/>
          <p:cNvSpPr>
            <a:spLocks noChangeArrowheads="1"/>
          </p:cNvSpPr>
          <p:nvPr/>
        </p:nvSpPr>
        <p:spPr bwMode="auto">
          <a:xfrm>
            <a:off x="5267325" y="3468688"/>
            <a:ext cx="1276350" cy="366712"/>
          </a:xfrm>
          <a:prstGeom prst="rect">
            <a:avLst/>
          </a:prstGeom>
          <a:noFill/>
          <a:ln w="12700" cap="sq">
            <a:noFill/>
            <a:miter lim="800000"/>
            <a:headEnd type="none" w="sm" len="sm"/>
            <a:tailEnd type="none" w="sm" len="sm"/>
          </a:ln>
        </p:spPr>
        <p:txBody>
          <a:bodyPr wrap="none">
            <a:spAutoFit/>
          </a:bodyPr>
          <a:lstStyle/>
          <a:p>
            <a:r>
              <a:rPr lang="en-US" altLang="en-US">
                <a:solidFill>
                  <a:schemeClr val="bg1"/>
                </a:solidFill>
              </a:rPr>
              <a:t>Gateway 2</a:t>
            </a:r>
          </a:p>
        </p:txBody>
      </p:sp>
      <p:grpSp>
        <p:nvGrpSpPr>
          <p:cNvPr id="4" name="Group 71"/>
          <p:cNvGrpSpPr>
            <a:grpSpLocks/>
          </p:cNvGrpSpPr>
          <p:nvPr/>
        </p:nvGrpSpPr>
        <p:grpSpPr bwMode="auto">
          <a:xfrm>
            <a:off x="2133600" y="6015038"/>
            <a:ext cx="4725988" cy="646112"/>
            <a:chOff x="1440" y="2468"/>
            <a:chExt cx="2977" cy="407"/>
          </a:xfrm>
        </p:grpSpPr>
        <p:sp>
          <p:nvSpPr>
            <p:cNvPr id="36888" name="Text Box 72"/>
            <p:cNvSpPr txBox="1">
              <a:spLocks noChangeArrowheads="1"/>
            </p:cNvSpPr>
            <p:nvPr/>
          </p:nvSpPr>
          <p:spPr bwMode="auto">
            <a:xfrm>
              <a:off x="1440" y="2468"/>
              <a:ext cx="634" cy="407"/>
            </a:xfrm>
            <a:prstGeom prst="rect">
              <a:avLst/>
            </a:prstGeom>
            <a:solidFill>
              <a:srgbClr val="99CCFF"/>
            </a:solidFill>
            <a:ln w="12700" cap="sq">
              <a:solidFill>
                <a:srgbClr val="000000"/>
              </a:solidFill>
              <a:miter lim="800000"/>
              <a:headEnd type="none" w="sm" len="sm"/>
              <a:tailEnd type="none" w="sm" len="sm"/>
            </a:ln>
          </p:spPr>
          <p:txBody>
            <a:bodyPr>
              <a:spAutoFit/>
            </a:bodyPr>
            <a:lstStyle/>
            <a:p>
              <a:r>
                <a:rPr lang="en-US" altLang="en-US">
                  <a:solidFill>
                    <a:srgbClr val="000000"/>
                  </a:solidFill>
                </a:rPr>
                <a:t>New IP Header</a:t>
              </a:r>
            </a:p>
          </p:txBody>
        </p:sp>
        <p:sp>
          <p:nvSpPr>
            <p:cNvPr id="36889" name="Text Box 73"/>
            <p:cNvSpPr txBox="1">
              <a:spLocks noChangeArrowheads="1"/>
            </p:cNvSpPr>
            <p:nvPr/>
          </p:nvSpPr>
          <p:spPr bwMode="auto">
            <a:xfrm>
              <a:off x="2074" y="2468"/>
              <a:ext cx="864" cy="407"/>
            </a:xfrm>
            <a:prstGeom prst="rect">
              <a:avLst/>
            </a:prstGeom>
            <a:solidFill>
              <a:srgbClr val="99CCFF"/>
            </a:solidFill>
            <a:ln w="12700" cap="sq">
              <a:solidFill>
                <a:srgbClr val="000000"/>
              </a:solidFill>
              <a:miter lim="800000"/>
              <a:headEnd type="none" w="sm" len="sm"/>
              <a:tailEnd type="none" w="sm" len="sm"/>
            </a:ln>
          </p:spPr>
          <p:txBody>
            <a:bodyPr>
              <a:spAutoFit/>
            </a:bodyPr>
            <a:lstStyle/>
            <a:p>
              <a:r>
                <a:rPr lang="en-US" altLang="en-US">
                  <a:solidFill>
                    <a:srgbClr val="000000"/>
                  </a:solidFill>
                </a:rPr>
                <a:t>AH or ESP Header</a:t>
              </a:r>
            </a:p>
          </p:txBody>
        </p:sp>
        <p:sp>
          <p:nvSpPr>
            <p:cNvPr id="36890" name="Text Box 74"/>
            <p:cNvSpPr txBox="1">
              <a:spLocks noChangeArrowheads="1"/>
            </p:cNvSpPr>
            <p:nvPr/>
          </p:nvSpPr>
          <p:spPr bwMode="auto">
            <a:xfrm>
              <a:off x="3562" y="2468"/>
              <a:ext cx="432" cy="407"/>
            </a:xfrm>
            <a:prstGeom prst="rect">
              <a:avLst/>
            </a:prstGeom>
            <a:solidFill>
              <a:srgbClr val="00FFFF"/>
            </a:solidFill>
            <a:ln w="12700" cap="sq">
              <a:solidFill>
                <a:srgbClr val="000000"/>
              </a:solidFill>
              <a:miter lim="800000"/>
              <a:headEnd type="none" w="sm" len="sm"/>
              <a:tailEnd type="none" w="sm" len="sm"/>
            </a:ln>
          </p:spPr>
          <p:txBody>
            <a:bodyPr>
              <a:spAutoFit/>
            </a:bodyPr>
            <a:lstStyle/>
            <a:p>
              <a:r>
                <a:rPr lang="en-US" altLang="en-US">
                  <a:solidFill>
                    <a:srgbClr val="000000"/>
                  </a:solidFill>
                </a:rPr>
                <a:t>TCP</a:t>
              </a:r>
            </a:p>
            <a:p>
              <a:endParaRPr lang="en-US" altLang="en-US">
                <a:solidFill>
                  <a:srgbClr val="000000"/>
                </a:solidFill>
              </a:endParaRPr>
            </a:p>
          </p:txBody>
        </p:sp>
        <p:sp>
          <p:nvSpPr>
            <p:cNvPr id="36891" name="Text Box 75"/>
            <p:cNvSpPr txBox="1">
              <a:spLocks noChangeArrowheads="1"/>
            </p:cNvSpPr>
            <p:nvPr/>
          </p:nvSpPr>
          <p:spPr bwMode="auto">
            <a:xfrm>
              <a:off x="3994" y="2468"/>
              <a:ext cx="423" cy="407"/>
            </a:xfrm>
            <a:prstGeom prst="rect">
              <a:avLst/>
            </a:prstGeom>
            <a:solidFill>
              <a:srgbClr val="00FFFF"/>
            </a:solidFill>
            <a:ln w="12700" cap="sq">
              <a:solidFill>
                <a:srgbClr val="000000"/>
              </a:solidFill>
              <a:miter lim="800000"/>
              <a:headEnd type="none" w="sm" len="sm"/>
              <a:tailEnd type="none" w="sm" len="sm"/>
            </a:ln>
          </p:spPr>
          <p:txBody>
            <a:bodyPr wrap="none">
              <a:spAutoFit/>
            </a:bodyPr>
            <a:lstStyle/>
            <a:p>
              <a:r>
                <a:rPr lang="en-US" altLang="en-US">
                  <a:solidFill>
                    <a:srgbClr val="000000"/>
                  </a:solidFill>
                </a:rPr>
                <a:t>Data</a:t>
              </a:r>
            </a:p>
            <a:p>
              <a:endParaRPr lang="en-US" altLang="en-US">
                <a:solidFill>
                  <a:srgbClr val="000000"/>
                </a:solidFill>
              </a:endParaRPr>
            </a:p>
          </p:txBody>
        </p:sp>
        <p:sp>
          <p:nvSpPr>
            <p:cNvPr id="36892" name="Rectangle 76"/>
            <p:cNvSpPr>
              <a:spLocks noChangeArrowheads="1"/>
            </p:cNvSpPr>
            <p:nvPr/>
          </p:nvSpPr>
          <p:spPr bwMode="auto">
            <a:xfrm>
              <a:off x="2938" y="2468"/>
              <a:ext cx="624" cy="407"/>
            </a:xfrm>
            <a:prstGeom prst="rect">
              <a:avLst/>
            </a:prstGeom>
            <a:solidFill>
              <a:srgbClr val="00FFFF"/>
            </a:solidFill>
            <a:ln w="12700" cap="sq">
              <a:solidFill>
                <a:srgbClr val="000000"/>
              </a:solidFill>
              <a:miter lim="800000"/>
              <a:headEnd type="none" w="sm" len="sm"/>
              <a:tailEnd type="none" w="sm" len="sm"/>
            </a:ln>
          </p:spPr>
          <p:txBody>
            <a:bodyPr>
              <a:spAutoFit/>
            </a:bodyPr>
            <a:lstStyle/>
            <a:p>
              <a:r>
                <a:rPr lang="en-US" altLang="en-US">
                  <a:solidFill>
                    <a:srgbClr val="000000"/>
                  </a:solidFill>
                </a:rPr>
                <a:t>Orig IP Header</a:t>
              </a:r>
            </a:p>
          </p:txBody>
        </p:sp>
      </p:grpSp>
      <p:grpSp>
        <p:nvGrpSpPr>
          <p:cNvPr id="5" name="Group 77"/>
          <p:cNvGrpSpPr>
            <a:grpSpLocks/>
          </p:cNvGrpSpPr>
          <p:nvPr/>
        </p:nvGrpSpPr>
        <p:grpSpPr bwMode="auto">
          <a:xfrm>
            <a:off x="2133600" y="4535488"/>
            <a:ext cx="4724400" cy="1447800"/>
            <a:chOff x="1344" y="1536"/>
            <a:chExt cx="2976" cy="912"/>
          </a:xfrm>
        </p:grpSpPr>
        <p:sp>
          <p:nvSpPr>
            <p:cNvPr id="36886" name="Line 78"/>
            <p:cNvSpPr>
              <a:spLocks noChangeShapeType="1"/>
            </p:cNvSpPr>
            <p:nvPr/>
          </p:nvSpPr>
          <p:spPr bwMode="auto">
            <a:xfrm flipV="1">
              <a:off x="1344" y="1536"/>
              <a:ext cx="528" cy="912"/>
            </a:xfrm>
            <a:prstGeom prst="line">
              <a:avLst/>
            </a:prstGeom>
            <a:noFill/>
            <a:ln w="25400">
              <a:solidFill>
                <a:schemeClr val="tx1"/>
              </a:solidFill>
              <a:prstDash val="dash"/>
              <a:round/>
              <a:headEnd type="none" w="sm" len="sm"/>
              <a:tailEnd type="none" w="sm" len="sm"/>
            </a:ln>
          </p:spPr>
          <p:txBody>
            <a:bodyPr wrap="none"/>
            <a:lstStyle/>
            <a:p>
              <a:endParaRPr lang="en-US"/>
            </a:p>
          </p:txBody>
        </p:sp>
        <p:sp>
          <p:nvSpPr>
            <p:cNvPr id="36887" name="Line 79"/>
            <p:cNvSpPr>
              <a:spLocks noChangeShapeType="1"/>
            </p:cNvSpPr>
            <p:nvPr/>
          </p:nvSpPr>
          <p:spPr bwMode="auto">
            <a:xfrm flipH="1" flipV="1">
              <a:off x="3648" y="1536"/>
              <a:ext cx="672" cy="912"/>
            </a:xfrm>
            <a:prstGeom prst="line">
              <a:avLst/>
            </a:prstGeom>
            <a:noFill/>
            <a:ln w="25400">
              <a:solidFill>
                <a:schemeClr val="tx1"/>
              </a:solidFill>
              <a:prstDash val="dash"/>
              <a:round/>
              <a:headEnd type="none" w="sm" len="sm"/>
              <a:tailEnd type="none" w="sm" len="sm"/>
            </a:ln>
          </p:spPr>
          <p:txBody>
            <a:bodyPr wrap="none"/>
            <a:lstStyle/>
            <a:p>
              <a:endParaRPr lang="en-US"/>
            </a:p>
          </p:txBody>
        </p:sp>
      </p:grpSp>
      <p:sp>
        <p:nvSpPr>
          <p:cNvPr id="834640" name="Text Box 80"/>
          <p:cNvSpPr txBox="1">
            <a:spLocks noChangeArrowheads="1"/>
          </p:cNvSpPr>
          <p:nvPr/>
        </p:nvSpPr>
        <p:spPr bwMode="auto">
          <a:xfrm>
            <a:off x="3892550" y="4267200"/>
            <a:ext cx="1212850" cy="366713"/>
          </a:xfrm>
          <a:prstGeom prst="rect">
            <a:avLst/>
          </a:prstGeom>
          <a:noFill/>
          <a:ln w="12700" cap="sq">
            <a:noFill/>
            <a:miter lim="800000"/>
            <a:headEnd type="none" w="sm" len="sm"/>
            <a:tailEnd type="none" w="sm" len="sm"/>
          </a:ln>
        </p:spPr>
        <p:txBody>
          <a:bodyPr wrap="none">
            <a:spAutoFit/>
          </a:bodyPr>
          <a:lstStyle/>
          <a:p>
            <a:r>
              <a:rPr lang="en-US" altLang="en-US">
                <a:solidFill>
                  <a:schemeClr val="bg1"/>
                </a:solidFill>
              </a:rPr>
              <a:t>Encrypted</a:t>
            </a:r>
          </a:p>
        </p:txBody>
      </p:sp>
      <p:sp>
        <p:nvSpPr>
          <p:cNvPr id="834641" name="Text Box 81"/>
          <p:cNvSpPr txBox="1">
            <a:spLocks noChangeArrowheads="1"/>
          </p:cNvSpPr>
          <p:nvPr/>
        </p:nvSpPr>
        <p:spPr bwMode="auto">
          <a:xfrm rot="-1088962">
            <a:off x="1295400" y="4459288"/>
            <a:ext cx="1479550" cy="366712"/>
          </a:xfrm>
          <a:prstGeom prst="rect">
            <a:avLst/>
          </a:prstGeom>
          <a:noFill/>
          <a:ln w="12700" cap="sq">
            <a:noFill/>
            <a:miter lim="800000"/>
            <a:headEnd type="none" w="sm" len="sm"/>
            <a:tailEnd type="none" w="sm" len="sm"/>
          </a:ln>
        </p:spPr>
        <p:txBody>
          <a:bodyPr wrap="none">
            <a:spAutoFit/>
          </a:bodyPr>
          <a:lstStyle/>
          <a:p>
            <a:r>
              <a:rPr lang="en-US" altLang="en-US">
                <a:solidFill>
                  <a:schemeClr val="bg1"/>
                </a:solidFill>
              </a:rPr>
              <a:t>Unencrypted</a:t>
            </a:r>
          </a:p>
        </p:txBody>
      </p:sp>
      <p:sp>
        <p:nvSpPr>
          <p:cNvPr id="834642" name="Text Box 82"/>
          <p:cNvSpPr txBox="1">
            <a:spLocks noChangeArrowheads="1"/>
          </p:cNvSpPr>
          <p:nvPr/>
        </p:nvSpPr>
        <p:spPr bwMode="auto">
          <a:xfrm rot="878624">
            <a:off x="6096000" y="4383088"/>
            <a:ext cx="1479550" cy="366712"/>
          </a:xfrm>
          <a:prstGeom prst="rect">
            <a:avLst/>
          </a:prstGeom>
          <a:noFill/>
          <a:ln w="12700" cap="sq">
            <a:noFill/>
            <a:miter lim="800000"/>
            <a:headEnd type="none" w="sm" len="sm"/>
            <a:tailEnd type="none" w="sm" len="sm"/>
          </a:ln>
        </p:spPr>
        <p:txBody>
          <a:bodyPr wrap="none">
            <a:spAutoFit/>
          </a:bodyPr>
          <a:lstStyle/>
          <a:p>
            <a:r>
              <a:rPr lang="en-US" altLang="en-US">
                <a:solidFill>
                  <a:schemeClr val="bg1"/>
                </a:solidFill>
              </a:rPr>
              <a:t>Unencrypted</a:t>
            </a:r>
          </a:p>
        </p:txBody>
      </p:sp>
      <p:sp>
        <p:nvSpPr>
          <p:cNvPr id="36884" name="Rectangle 83"/>
          <p:cNvSpPr>
            <a:spLocks noChangeArrowheads="1"/>
          </p:cNvSpPr>
          <p:nvPr/>
        </p:nvSpPr>
        <p:spPr bwMode="auto">
          <a:xfrm>
            <a:off x="608013" y="-31750"/>
            <a:ext cx="7772400" cy="1143000"/>
          </a:xfrm>
          <a:prstGeom prst="rect">
            <a:avLst/>
          </a:prstGeom>
          <a:noFill/>
          <a:ln w="9525">
            <a:noFill/>
            <a:miter lim="800000"/>
            <a:headEnd/>
            <a:tailEnd/>
          </a:ln>
        </p:spPr>
        <p:txBody>
          <a:bodyPr lIns="92075" tIns="46038" rIns="92075" bIns="46038" anchor="ctr"/>
          <a:lstStyle/>
          <a:p>
            <a:pPr algn="ctr"/>
            <a:r>
              <a:rPr lang="en-US" altLang="en-US" sz="4000">
                <a:solidFill>
                  <a:srgbClr val="FFC000"/>
                </a:solidFill>
              </a:rPr>
              <a:t>Transport Mode vs. Tunnel Mode</a:t>
            </a:r>
          </a:p>
        </p:txBody>
      </p:sp>
      <p:sp>
        <p:nvSpPr>
          <p:cNvPr id="36885" name="Rectangle 85"/>
          <p:cNvSpPr>
            <a:spLocks noChangeArrowheads="1"/>
          </p:cNvSpPr>
          <p:nvPr/>
        </p:nvSpPr>
        <p:spPr bwMode="auto">
          <a:xfrm>
            <a:off x="0" y="933450"/>
            <a:ext cx="9007475" cy="1423988"/>
          </a:xfrm>
          <a:prstGeom prst="rect">
            <a:avLst/>
          </a:prstGeom>
          <a:noFill/>
          <a:ln w="9525">
            <a:noFill/>
            <a:miter lim="800000"/>
            <a:headEnd/>
            <a:tailEnd/>
          </a:ln>
        </p:spPr>
        <p:txBody>
          <a:bodyPr lIns="92075" tIns="46038" rIns="92075" bIns="46038"/>
          <a:lstStyle/>
          <a:p>
            <a:pPr marL="342900" indent="-342900">
              <a:spcBef>
                <a:spcPct val="20000"/>
              </a:spcBef>
              <a:buClr>
                <a:schemeClr val="tx2"/>
              </a:buClr>
              <a:buSzPct val="75000"/>
              <a:buFont typeface="Monotype Sorts" pitchFamily="2" charset="2"/>
              <a:buChar char="n"/>
            </a:pPr>
            <a:r>
              <a:rPr lang="en-US" altLang="en-US" sz="3200" dirty="0"/>
              <a:t>Transport mode: host -&gt; host</a:t>
            </a:r>
          </a:p>
          <a:p>
            <a:pPr marL="342900" indent="-342900">
              <a:spcBef>
                <a:spcPct val="20000"/>
              </a:spcBef>
              <a:buClr>
                <a:schemeClr val="tx2"/>
              </a:buClr>
              <a:buSzPct val="75000"/>
              <a:buFont typeface="Monotype Sorts" pitchFamily="2" charset="2"/>
              <a:buChar char="n"/>
            </a:pPr>
            <a:r>
              <a:rPr lang="en-US" altLang="en-US" sz="3200" dirty="0"/>
              <a:t>Tunnel mode: </a:t>
            </a:r>
            <a:r>
              <a:rPr lang="en-US" altLang="en-US" sz="3200" dirty="0" smtClean="0"/>
              <a:t>gateway-</a:t>
            </a:r>
            <a:r>
              <a:rPr lang="en-US" altLang="en-US" sz="3200" dirty="0"/>
              <a:t>&gt;gateway</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34625"/>
                                        </p:tgtEl>
                                        <p:attrNameLst>
                                          <p:attrName>style.visibility</p:attrName>
                                        </p:attrNameLst>
                                      </p:cBhvr>
                                      <p:to>
                                        <p:strVal val="visible"/>
                                      </p:to>
                                    </p:set>
                                    <p:animEffect transition="in" filter="wipe(left)">
                                      <p:cBhvr>
                                        <p:cTn id="7" dur="500"/>
                                        <p:tgtEl>
                                          <p:spTgt spid="834625"/>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834641"/>
                                        </p:tgtEl>
                                        <p:attrNameLst>
                                          <p:attrName>style.visibility</p:attrName>
                                        </p:attrNameLst>
                                      </p:cBhvr>
                                      <p:to>
                                        <p:strVal val="visible"/>
                                      </p:to>
                                    </p:set>
                                    <p:anim calcmode="lin" valueType="num">
                                      <p:cBhvr additive="base">
                                        <p:cTn id="11" dur="500" fill="hold"/>
                                        <p:tgtEl>
                                          <p:spTgt spid="834641"/>
                                        </p:tgtEl>
                                        <p:attrNameLst>
                                          <p:attrName>ppt_x</p:attrName>
                                        </p:attrNameLst>
                                      </p:cBhvr>
                                      <p:tavLst>
                                        <p:tav tm="0">
                                          <p:val>
                                            <p:strVal val="0-#ppt_w/2"/>
                                          </p:val>
                                        </p:tav>
                                        <p:tav tm="100000">
                                          <p:val>
                                            <p:strVal val="#ppt_x"/>
                                          </p:val>
                                        </p:tav>
                                      </p:tavLst>
                                    </p:anim>
                                    <p:anim calcmode="lin" valueType="num">
                                      <p:cBhvr additive="base">
                                        <p:cTn id="12" dur="500" fill="hold"/>
                                        <p:tgtEl>
                                          <p:spTgt spid="834641"/>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2" presetClass="entr" presetSubtype="8" fill="hold" grpId="0" nodeType="afterEffect">
                                  <p:stCondLst>
                                    <p:cond delay="2000"/>
                                  </p:stCondLst>
                                  <p:childTnLst>
                                    <p:set>
                                      <p:cBhvr>
                                        <p:cTn id="15" dur="1" fill="hold">
                                          <p:stCondLst>
                                            <p:cond delay="0"/>
                                          </p:stCondLst>
                                        </p:cTn>
                                        <p:tgtEl>
                                          <p:spTgt spid="834627"/>
                                        </p:tgtEl>
                                        <p:attrNameLst>
                                          <p:attrName>style.visibility</p:attrName>
                                        </p:attrNameLst>
                                      </p:cBhvr>
                                      <p:to>
                                        <p:strVal val="visible"/>
                                      </p:to>
                                    </p:set>
                                    <p:animEffect transition="in" filter="wipe(left)">
                                      <p:cBhvr>
                                        <p:cTn id="16" dur="500"/>
                                        <p:tgtEl>
                                          <p:spTgt spid="834627"/>
                                        </p:tgtEl>
                                      </p:cBhvr>
                                    </p:animEffect>
                                  </p:childTnLst>
                                </p:cTn>
                              </p:par>
                            </p:childTnLst>
                          </p:cTn>
                        </p:par>
                        <p:par>
                          <p:cTn id="17" fill="hold" nodeType="afterGroup">
                            <p:stCondLst>
                              <p:cond delay="3500"/>
                            </p:stCondLst>
                            <p:childTnLst>
                              <p:par>
                                <p:cTn id="18" presetID="2" presetClass="entr" presetSubtype="1" fill="hold" grpId="0" nodeType="afterEffect">
                                  <p:stCondLst>
                                    <p:cond delay="0"/>
                                  </p:stCondLst>
                                  <p:childTnLst>
                                    <p:set>
                                      <p:cBhvr>
                                        <p:cTn id="19" dur="1" fill="hold">
                                          <p:stCondLst>
                                            <p:cond delay="0"/>
                                          </p:stCondLst>
                                        </p:cTn>
                                        <p:tgtEl>
                                          <p:spTgt spid="834640"/>
                                        </p:tgtEl>
                                        <p:attrNameLst>
                                          <p:attrName>style.visibility</p:attrName>
                                        </p:attrNameLst>
                                      </p:cBhvr>
                                      <p:to>
                                        <p:strVal val="visible"/>
                                      </p:to>
                                    </p:set>
                                    <p:anim calcmode="lin" valueType="num">
                                      <p:cBhvr additive="base">
                                        <p:cTn id="20" dur="500" fill="hold"/>
                                        <p:tgtEl>
                                          <p:spTgt spid="834640"/>
                                        </p:tgtEl>
                                        <p:attrNameLst>
                                          <p:attrName>ppt_x</p:attrName>
                                        </p:attrNameLst>
                                      </p:cBhvr>
                                      <p:tavLst>
                                        <p:tav tm="0">
                                          <p:val>
                                            <p:strVal val="#ppt_x"/>
                                          </p:val>
                                        </p:tav>
                                        <p:tav tm="100000">
                                          <p:val>
                                            <p:strVal val="#ppt_x"/>
                                          </p:val>
                                        </p:tav>
                                      </p:tavLst>
                                    </p:anim>
                                    <p:anim calcmode="lin" valueType="num">
                                      <p:cBhvr additive="base">
                                        <p:cTn id="21" dur="500" fill="hold"/>
                                        <p:tgtEl>
                                          <p:spTgt spid="834640"/>
                                        </p:tgtEl>
                                        <p:attrNameLst>
                                          <p:attrName>ppt_y</p:attrName>
                                        </p:attrNameLst>
                                      </p:cBhvr>
                                      <p:tavLst>
                                        <p:tav tm="0">
                                          <p:val>
                                            <p:strVal val="0-#ppt_h/2"/>
                                          </p:val>
                                        </p:tav>
                                        <p:tav tm="100000">
                                          <p:val>
                                            <p:strVal val="#ppt_y"/>
                                          </p:val>
                                        </p:tav>
                                      </p:tavLst>
                                    </p:anim>
                                  </p:childTnLst>
                                </p:cTn>
                              </p:par>
                            </p:childTnLst>
                          </p:cTn>
                        </p:par>
                        <p:par>
                          <p:cTn id="22" fill="hold" nodeType="afterGroup">
                            <p:stCondLst>
                              <p:cond delay="4000"/>
                            </p:stCondLst>
                            <p:childTnLst>
                              <p:par>
                                <p:cTn id="23" presetID="22" presetClass="entr" presetSubtype="8" fill="hold" grpId="0" nodeType="afterEffect">
                                  <p:stCondLst>
                                    <p:cond delay="2000"/>
                                  </p:stCondLst>
                                  <p:childTnLst>
                                    <p:set>
                                      <p:cBhvr>
                                        <p:cTn id="24" dur="1" fill="hold">
                                          <p:stCondLst>
                                            <p:cond delay="0"/>
                                          </p:stCondLst>
                                        </p:cTn>
                                        <p:tgtEl>
                                          <p:spTgt spid="834626"/>
                                        </p:tgtEl>
                                        <p:attrNameLst>
                                          <p:attrName>style.visibility</p:attrName>
                                        </p:attrNameLst>
                                      </p:cBhvr>
                                      <p:to>
                                        <p:strVal val="visible"/>
                                      </p:to>
                                    </p:set>
                                    <p:animEffect transition="in" filter="wipe(left)">
                                      <p:cBhvr>
                                        <p:cTn id="25" dur="500"/>
                                        <p:tgtEl>
                                          <p:spTgt spid="834626"/>
                                        </p:tgtEl>
                                      </p:cBhvr>
                                    </p:animEffect>
                                  </p:childTnLst>
                                </p:cTn>
                              </p:par>
                            </p:childTnLst>
                          </p:cTn>
                        </p:par>
                        <p:par>
                          <p:cTn id="26" fill="hold" nodeType="afterGroup">
                            <p:stCondLst>
                              <p:cond delay="6500"/>
                            </p:stCondLst>
                            <p:childTnLst>
                              <p:par>
                                <p:cTn id="27" presetID="2" presetClass="entr" presetSubtype="2" fill="hold" grpId="0" nodeType="afterEffect">
                                  <p:stCondLst>
                                    <p:cond delay="0"/>
                                  </p:stCondLst>
                                  <p:childTnLst>
                                    <p:set>
                                      <p:cBhvr>
                                        <p:cTn id="28" dur="1" fill="hold">
                                          <p:stCondLst>
                                            <p:cond delay="0"/>
                                          </p:stCondLst>
                                        </p:cTn>
                                        <p:tgtEl>
                                          <p:spTgt spid="834642"/>
                                        </p:tgtEl>
                                        <p:attrNameLst>
                                          <p:attrName>style.visibility</p:attrName>
                                        </p:attrNameLst>
                                      </p:cBhvr>
                                      <p:to>
                                        <p:strVal val="visible"/>
                                      </p:to>
                                    </p:set>
                                    <p:anim calcmode="lin" valueType="num">
                                      <p:cBhvr additive="base">
                                        <p:cTn id="29" dur="500" fill="hold"/>
                                        <p:tgtEl>
                                          <p:spTgt spid="834642"/>
                                        </p:tgtEl>
                                        <p:attrNameLst>
                                          <p:attrName>ppt_x</p:attrName>
                                        </p:attrNameLst>
                                      </p:cBhvr>
                                      <p:tavLst>
                                        <p:tav tm="0">
                                          <p:val>
                                            <p:strVal val="1+#ppt_w/2"/>
                                          </p:val>
                                        </p:tav>
                                        <p:tav tm="100000">
                                          <p:val>
                                            <p:strVal val="#ppt_x"/>
                                          </p:val>
                                        </p:tav>
                                      </p:tavLst>
                                    </p:anim>
                                    <p:anim calcmode="lin" valueType="num">
                                      <p:cBhvr additive="base">
                                        <p:cTn id="30" dur="500" fill="hold"/>
                                        <p:tgtEl>
                                          <p:spTgt spid="834642"/>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par>
                          <p:cTn id="37" fill="hold" nodeType="afterGroup">
                            <p:stCondLst>
                              <p:cond delay="500"/>
                            </p:stCondLst>
                            <p:childTnLst>
                              <p:par>
                                <p:cTn id="38" presetID="22" presetClass="entr" presetSubtype="1" fill="hold" nodeType="after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up)">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4625" grpId="0" animBg="1"/>
      <p:bldP spid="834626" grpId="0" animBg="1"/>
      <p:bldP spid="834627" grpId="0" animBg="1"/>
      <p:bldP spid="834640" grpId="0" autoUpdateAnimBg="0"/>
      <p:bldP spid="834641" grpId="0" autoUpdateAnimBg="0"/>
      <p:bldP spid="834642"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90600" y="228600"/>
            <a:ext cx="7239000" cy="1143000"/>
          </a:xfrm>
        </p:spPr>
        <p:txBody>
          <a:bodyPr/>
          <a:lstStyle/>
          <a:p>
            <a:pPr eaLnBrk="1" hangingPunct="1"/>
            <a:r>
              <a:rPr lang="en-US" smtClean="0"/>
              <a:t>Transport Mode</a:t>
            </a:r>
          </a:p>
        </p:txBody>
      </p:sp>
      <p:sp>
        <p:nvSpPr>
          <p:cNvPr id="28675" name="Rectangle 3"/>
          <p:cNvSpPr>
            <a:spLocks noGrp="1" noChangeArrowheads="1"/>
          </p:cNvSpPr>
          <p:nvPr>
            <p:ph type="body" idx="1"/>
          </p:nvPr>
        </p:nvSpPr>
        <p:spPr>
          <a:xfrm>
            <a:off x="1143000" y="4876800"/>
            <a:ext cx="7772400" cy="1524000"/>
          </a:xfrm>
        </p:spPr>
        <p:txBody>
          <a:bodyPr/>
          <a:lstStyle/>
          <a:p>
            <a:pPr eaLnBrk="1" hangingPunct="1">
              <a:lnSpc>
                <a:spcPct val="90000"/>
              </a:lnSpc>
              <a:defRPr/>
            </a:pPr>
            <a:r>
              <a:rPr lang="en-US" sz="2800" smtClean="0"/>
              <a:t>ESP protects higher layer payload only</a:t>
            </a:r>
          </a:p>
          <a:p>
            <a:pPr eaLnBrk="1" hangingPunct="1">
              <a:lnSpc>
                <a:spcPct val="90000"/>
              </a:lnSpc>
              <a:defRPr/>
            </a:pPr>
            <a:r>
              <a:rPr lang="en-US" sz="2800" dirty="0" smtClean="0"/>
              <a:t>AH can protect IP headers as well as higher layer payload</a:t>
            </a:r>
          </a:p>
        </p:txBody>
      </p:sp>
      <p:sp>
        <p:nvSpPr>
          <p:cNvPr id="37892" name="Rectangle 4"/>
          <p:cNvSpPr>
            <a:spLocks noChangeArrowheads="1"/>
          </p:cNvSpPr>
          <p:nvPr/>
        </p:nvSpPr>
        <p:spPr bwMode="auto">
          <a:xfrm>
            <a:off x="1143000" y="1600200"/>
            <a:ext cx="1143000" cy="7620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altLang="en-US" sz="2400">
                <a:solidFill>
                  <a:schemeClr val="bg1"/>
                </a:solidFill>
              </a:rPr>
              <a:t>IP</a:t>
            </a:r>
          </a:p>
          <a:p>
            <a:pPr algn="ctr"/>
            <a:r>
              <a:rPr lang="en-US" altLang="en-US" sz="2400">
                <a:solidFill>
                  <a:schemeClr val="bg1"/>
                </a:solidFill>
              </a:rPr>
              <a:t>header</a:t>
            </a:r>
          </a:p>
        </p:txBody>
      </p:sp>
      <p:sp>
        <p:nvSpPr>
          <p:cNvPr id="37893" name="Rectangle 5"/>
          <p:cNvSpPr>
            <a:spLocks noChangeArrowheads="1"/>
          </p:cNvSpPr>
          <p:nvPr/>
        </p:nvSpPr>
        <p:spPr bwMode="auto">
          <a:xfrm>
            <a:off x="2362200" y="1600200"/>
            <a:ext cx="1219200" cy="7620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altLang="en-US" sz="2400">
                <a:solidFill>
                  <a:schemeClr val="bg1"/>
                </a:solidFill>
              </a:rPr>
              <a:t>IP</a:t>
            </a:r>
          </a:p>
          <a:p>
            <a:pPr algn="ctr"/>
            <a:r>
              <a:rPr lang="en-US" altLang="en-US" sz="2400">
                <a:solidFill>
                  <a:schemeClr val="bg1"/>
                </a:solidFill>
              </a:rPr>
              <a:t>options</a:t>
            </a:r>
          </a:p>
        </p:txBody>
      </p:sp>
      <p:sp>
        <p:nvSpPr>
          <p:cNvPr id="37894" name="Rectangle 6"/>
          <p:cNvSpPr>
            <a:spLocks noChangeArrowheads="1"/>
          </p:cNvSpPr>
          <p:nvPr/>
        </p:nvSpPr>
        <p:spPr bwMode="auto">
          <a:xfrm>
            <a:off x="3657600" y="1600200"/>
            <a:ext cx="1295400" cy="762000"/>
          </a:xfrm>
          <a:prstGeom prst="rect">
            <a:avLst/>
          </a:prstGeom>
          <a:solidFill>
            <a:schemeClr val="accent2"/>
          </a:solidFill>
          <a:ln w="12700">
            <a:solidFill>
              <a:schemeClr val="tx1"/>
            </a:solidFill>
            <a:miter lim="800000"/>
            <a:headEnd type="none" w="sm" len="sm"/>
            <a:tailEnd type="none" w="sm" len="sm"/>
          </a:ln>
        </p:spPr>
        <p:txBody>
          <a:bodyPr wrap="none" anchor="ctr"/>
          <a:lstStyle/>
          <a:p>
            <a:pPr algn="ctr"/>
            <a:r>
              <a:rPr lang="en-US" altLang="en-US" sz="2400">
                <a:solidFill>
                  <a:schemeClr val="bg1"/>
                </a:solidFill>
              </a:rPr>
              <a:t>IPSec</a:t>
            </a:r>
          </a:p>
          <a:p>
            <a:pPr algn="ctr"/>
            <a:r>
              <a:rPr lang="en-US" altLang="en-US" sz="2400">
                <a:solidFill>
                  <a:schemeClr val="bg1"/>
                </a:solidFill>
              </a:rPr>
              <a:t>header</a:t>
            </a:r>
          </a:p>
        </p:txBody>
      </p:sp>
      <p:sp>
        <p:nvSpPr>
          <p:cNvPr id="37895" name="Rectangle 7"/>
          <p:cNvSpPr>
            <a:spLocks noChangeArrowheads="1"/>
          </p:cNvSpPr>
          <p:nvPr/>
        </p:nvSpPr>
        <p:spPr bwMode="auto">
          <a:xfrm>
            <a:off x="5029200" y="1600200"/>
            <a:ext cx="2209800" cy="7620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altLang="en-US" sz="2400">
                <a:solidFill>
                  <a:schemeClr val="bg1"/>
                </a:solidFill>
              </a:rPr>
              <a:t>Higher</a:t>
            </a:r>
          </a:p>
          <a:p>
            <a:pPr algn="ctr"/>
            <a:r>
              <a:rPr lang="en-US" altLang="en-US" sz="2400">
                <a:solidFill>
                  <a:schemeClr val="bg1"/>
                </a:solidFill>
              </a:rPr>
              <a:t>layer protocol</a:t>
            </a:r>
          </a:p>
        </p:txBody>
      </p:sp>
      <p:sp>
        <p:nvSpPr>
          <p:cNvPr id="37896" name="Rectangle 8"/>
          <p:cNvSpPr>
            <a:spLocks noChangeArrowheads="1"/>
          </p:cNvSpPr>
          <p:nvPr/>
        </p:nvSpPr>
        <p:spPr bwMode="auto">
          <a:xfrm>
            <a:off x="3657600" y="2590800"/>
            <a:ext cx="1295400" cy="762000"/>
          </a:xfrm>
          <a:prstGeom prst="rect">
            <a:avLst/>
          </a:prstGeom>
          <a:solidFill>
            <a:schemeClr val="accent2"/>
          </a:solidFill>
          <a:ln w="12700">
            <a:solidFill>
              <a:schemeClr val="tx1"/>
            </a:solidFill>
            <a:miter lim="800000"/>
            <a:headEnd type="none" w="sm" len="sm"/>
            <a:tailEnd type="none" w="sm" len="sm"/>
          </a:ln>
        </p:spPr>
        <p:txBody>
          <a:bodyPr wrap="none" anchor="ctr"/>
          <a:lstStyle/>
          <a:p>
            <a:pPr algn="ctr"/>
            <a:r>
              <a:rPr lang="en-US" altLang="en-US" sz="2400">
                <a:solidFill>
                  <a:schemeClr val="bg1"/>
                </a:solidFill>
              </a:rPr>
              <a:t>ESP</a:t>
            </a:r>
          </a:p>
        </p:txBody>
      </p:sp>
      <p:sp>
        <p:nvSpPr>
          <p:cNvPr id="37897" name="Rectangle 9"/>
          <p:cNvSpPr>
            <a:spLocks noChangeArrowheads="1"/>
          </p:cNvSpPr>
          <p:nvPr/>
        </p:nvSpPr>
        <p:spPr bwMode="auto">
          <a:xfrm>
            <a:off x="3657600" y="3810000"/>
            <a:ext cx="1295400" cy="762000"/>
          </a:xfrm>
          <a:prstGeom prst="rect">
            <a:avLst/>
          </a:prstGeom>
          <a:solidFill>
            <a:schemeClr val="accent2"/>
          </a:solidFill>
          <a:ln w="12700">
            <a:solidFill>
              <a:schemeClr val="tx1"/>
            </a:solidFill>
            <a:miter lim="800000"/>
            <a:headEnd type="none" w="sm" len="sm"/>
            <a:tailEnd type="none" w="sm" len="sm"/>
          </a:ln>
        </p:spPr>
        <p:txBody>
          <a:bodyPr wrap="none" anchor="ctr"/>
          <a:lstStyle/>
          <a:p>
            <a:pPr algn="ctr"/>
            <a:r>
              <a:rPr lang="en-US" altLang="en-US" sz="2400">
                <a:solidFill>
                  <a:schemeClr val="bg1"/>
                </a:solidFill>
              </a:rPr>
              <a:t>AH</a:t>
            </a:r>
          </a:p>
        </p:txBody>
      </p:sp>
      <p:sp>
        <p:nvSpPr>
          <p:cNvPr id="37898" name="AutoShape 10"/>
          <p:cNvSpPr>
            <a:spLocks noChangeArrowheads="1"/>
          </p:cNvSpPr>
          <p:nvPr/>
        </p:nvSpPr>
        <p:spPr bwMode="auto">
          <a:xfrm>
            <a:off x="4953000" y="3276600"/>
            <a:ext cx="2209800" cy="228600"/>
          </a:xfrm>
          <a:prstGeom prst="rightArrow">
            <a:avLst>
              <a:gd name="adj1" fmla="val 50000"/>
              <a:gd name="adj2" fmla="val 241667"/>
            </a:avLst>
          </a:prstGeom>
          <a:solidFill>
            <a:schemeClr val="accent1"/>
          </a:solidFill>
          <a:ln w="12700">
            <a:solidFill>
              <a:schemeClr val="tx1"/>
            </a:solidFill>
            <a:miter lim="800000"/>
            <a:headEnd type="none" w="sm" len="sm"/>
            <a:tailEnd type="none" w="sm" len="sm"/>
          </a:ln>
        </p:spPr>
        <p:txBody>
          <a:bodyPr wrap="none" anchor="ctr"/>
          <a:lstStyle/>
          <a:p>
            <a:endParaRPr lang="en-US" altLang="en-US" sz="1600">
              <a:solidFill>
                <a:schemeClr val="bg1"/>
              </a:solidFill>
            </a:endParaRPr>
          </a:p>
        </p:txBody>
      </p:sp>
      <p:sp>
        <p:nvSpPr>
          <p:cNvPr id="37899" name="AutoShape 11"/>
          <p:cNvSpPr>
            <a:spLocks noChangeArrowheads="1"/>
          </p:cNvSpPr>
          <p:nvPr/>
        </p:nvSpPr>
        <p:spPr bwMode="auto">
          <a:xfrm>
            <a:off x="1600200" y="4495800"/>
            <a:ext cx="5562600" cy="228600"/>
          </a:xfrm>
          <a:prstGeom prst="leftRightArrow">
            <a:avLst>
              <a:gd name="adj1" fmla="val 50000"/>
              <a:gd name="adj2" fmla="val 486667"/>
            </a:avLst>
          </a:prstGeom>
          <a:solidFill>
            <a:schemeClr val="accent1"/>
          </a:solidFill>
          <a:ln w="12700">
            <a:solidFill>
              <a:schemeClr val="tx1"/>
            </a:solidFill>
            <a:miter lim="800000"/>
            <a:headEnd type="none" w="sm" len="sm"/>
            <a:tailEnd type="none" w="sm" len="sm"/>
          </a:ln>
        </p:spPr>
        <p:txBody>
          <a:bodyPr wrap="none" anchor="ctr"/>
          <a:lstStyle/>
          <a:p>
            <a:endParaRPr lang="en-US" altLang="en-US" sz="1600">
              <a:solidFill>
                <a:schemeClr val="bg1"/>
              </a:solidFill>
            </a:endParaRPr>
          </a:p>
        </p:txBody>
      </p:sp>
      <p:sp>
        <p:nvSpPr>
          <p:cNvPr id="37900" name="Line 12"/>
          <p:cNvSpPr>
            <a:spLocks noChangeShapeType="1"/>
          </p:cNvSpPr>
          <p:nvPr/>
        </p:nvSpPr>
        <p:spPr bwMode="auto">
          <a:xfrm flipV="1">
            <a:off x="1752600" y="2438400"/>
            <a:ext cx="152400" cy="457200"/>
          </a:xfrm>
          <a:prstGeom prst="line">
            <a:avLst/>
          </a:prstGeom>
          <a:noFill/>
          <a:ln w="12700">
            <a:solidFill>
              <a:schemeClr val="bg1"/>
            </a:solidFill>
            <a:round/>
            <a:headEnd type="none" w="sm" len="sm"/>
            <a:tailEnd type="triangle" w="sm" len="sm"/>
          </a:ln>
        </p:spPr>
        <p:txBody>
          <a:bodyPr wrap="none" anchor="ctr"/>
          <a:lstStyle/>
          <a:p>
            <a:endParaRPr lang="en-US"/>
          </a:p>
        </p:txBody>
      </p:sp>
      <p:sp>
        <p:nvSpPr>
          <p:cNvPr id="37901" name="Text Box 13"/>
          <p:cNvSpPr txBox="1">
            <a:spLocks noChangeArrowheads="1"/>
          </p:cNvSpPr>
          <p:nvPr/>
        </p:nvSpPr>
        <p:spPr bwMode="auto">
          <a:xfrm>
            <a:off x="1050925" y="2809875"/>
            <a:ext cx="1674813" cy="830263"/>
          </a:xfrm>
          <a:prstGeom prst="rect">
            <a:avLst/>
          </a:prstGeom>
          <a:noFill/>
          <a:ln w="12700">
            <a:noFill/>
            <a:miter lim="800000"/>
            <a:headEnd type="none" w="sm" len="sm"/>
            <a:tailEnd type="none" w="sm" len="sm"/>
          </a:ln>
        </p:spPr>
        <p:txBody>
          <a:bodyPr wrap="none">
            <a:spAutoFit/>
          </a:bodyPr>
          <a:lstStyle/>
          <a:p>
            <a:r>
              <a:rPr lang="en-US" altLang="en-US" sz="2400">
                <a:solidFill>
                  <a:schemeClr val="bg1"/>
                </a:solidFill>
              </a:rPr>
              <a:t>Real IP</a:t>
            </a:r>
          </a:p>
          <a:p>
            <a:r>
              <a:rPr lang="en-US" altLang="en-US" sz="2400">
                <a:solidFill>
                  <a:schemeClr val="bg1"/>
                </a:solidFill>
              </a:rPr>
              <a:t>destination</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143000" y="304800"/>
            <a:ext cx="7772400" cy="1143000"/>
          </a:xfrm>
        </p:spPr>
        <p:txBody>
          <a:bodyPr/>
          <a:lstStyle/>
          <a:p>
            <a:pPr eaLnBrk="1" hangingPunct="1"/>
            <a:r>
              <a:rPr lang="en-US" smtClean="0"/>
              <a:t>Tunnel Mode</a:t>
            </a:r>
          </a:p>
        </p:txBody>
      </p:sp>
      <p:sp>
        <p:nvSpPr>
          <p:cNvPr id="29699" name="Rectangle 3"/>
          <p:cNvSpPr>
            <a:spLocks noGrp="1" noChangeArrowheads="1"/>
          </p:cNvSpPr>
          <p:nvPr>
            <p:ph type="body" idx="1"/>
          </p:nvPr>
        </p:nvSpPr>
        <p:spPr>
          <a:xfrm>
            <a:off x="990600" y="5029200"/>
            <a:ext cx="7772400" cy="1600200"/>
          </a:xfrm>
        </p:spPr>
        <p:txBody>
          <a:bodyPr/>
          <a:lstStyle/>
          <a:p>
            <a:pPr eaLnBrk="1" hangingPunct="1">
              <a:lnSpc>
                <a:spcPct val="90000"/>
              </a:lnSpc>
              <a:defRPr/>
            </a:pPr>
            <a:r>
              <a:rPr lang="en-US" sz="2800" smtClean="0"/>
              <a:t>ESP applies only to the tunneled packet</a:t>
            </a:r>
          </a:p>
          <a:p>
            <a:pPr eaLnBrk="1" hangingPunct="1">
              <a:lnSpc>
                <a:spcPct val="90000"/>
              </a:lnSpc>
              <a:defRPr/>
            </a:pPr>
            <a:r>
              <a:rPr lang="en-US" sz="2800" dirty="0" smtClean="0"/>
              <a:t>AH can be applied to portions of the outer header</a:t>
            </a:r>
          </a:p>
        </p:txBody>
      </p:sp>
      <p:sp>
        <p:nvSpPr>
          <p:cNvPr id="38916" name="Rectangle 4"/>
          <p:cNvSpPr>
            <a:spLocks noChangeArrowheads="1"/>
          </p:cNvSpPr>
          <p:nvPr/>
        </p:nvSpPr>
        <p:spPr bwMode="auto">
          <a:xfrm>
            <a:off x="1828800" y="1676400"/>
            <a:ext cx="1219200" cy="7620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altLang="en-US" sz="2400">
                <a:solidFill>
                  <a:schemeClr val="bg1"/>
                </a:solidFill>
              </a:rPr>
              <a:t>Outer IP</a:t>
            </a:r>
          </a:p>
          <a:p>
            <a:pPr algn="ctr"/>
            <a:r>
              <a:rPr lang="en-US" altLang="en-US" sz="2400">
                <a:solidFill>
                  <a:schemeClr val="bg1"/>
                </a:solidFill>
              </a:rPr>
              <a:t>header</a:t>
            </a:r>
          </a:p>
        </p:txBody>
      </p:sp>
      <p:sp>
        <p:nvSpPr>
          <p:cNvPr id="38917" name="Rectangle 5"/>
          <p:cNvSpPr>
            <a:spLocks noChangeArrowheads="1"/>
          </p:cNvSpPr>
          <p:nvPr/>
        </p:nvSpPr>
        <p:spPr bwMode="auto">
          <a:xfrm>
            <a:off x="4495800" y="1676400"/>
            <a:ext cx="1219200" cy="7620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altLang="en-US" sz="2400">
                <a:solidFill>
                  <a:schemeClr val="bg1"/>
                </a:solidFill>
              </a:rPr>
              <a:t>Inner IP</a:t>
            </a:r>
          </a:p>
          <a:p>
            <a:pPr algn="ctr"/>
            <a:r>
              <a:rPr lang="en-US" altLang="en-US" sz="2400">
                <a:solidFill>
                  <a:schemeClr val="bg1"/>
                </a:solidFill>
              </a:rPr>
              <a:t>header</a:t>
            </a:r>
          </a:p>
        </p:txBody>
      </p:sp>
      <p:sp>
        <p:nvSpPr>
          <p:cNvPr id="38918" name="Rectangle 6"/>
          <p:cNvSpPr>
            <a:spLocks noChangeArrowheads="1"/>
          </p:cNvSpPr>
          <p:nvPr/>
        </p:nvSpPr>
        <p:spPr bwMode="auto">
          <a:xfrm>
            <a:off x="3124200" y="1676400"/>
            <a:ext cx="1295400" cy="762000"/>
          </a:xfrm>
          <a:prstGeom prst="rect">
            <a:avLst/>
          </a:prstGeom>
          <a:solidFill>
            <a:schemeClr val="accent2"/>
          </a:solidFill>
          <a:ln w="12700">
            <a:solidFill>
              <a:schemeClr val="tx1"/>
            </a:solidFill>
            <a:miter lim="800000"/>
            <a:headEnd type="none" w="sm" len="sm"/>
            <a:tailEnd type="none" w="sm" len="sm"/>
          </a:ln>
        </p:spPr>
        <p:txBody>
          <a:bodyPr wrap="none" anchor="ctr"/>
          <a:lstStyle/>
          <a:p>
            <a:pPr algn="ctr"/>
            <a:r>
              <a:rPr lang="en-US" altLang="en-US" sz="2400">
                <a:solidFill>
                  <a:schemeClr val="bg1"/>
                </a:solidFill>
              </a:rPr>
              <a:t>IPSec</a:t>
            </a:r>
          </a:p>
          <a:p>
            <a:pPr algn="ctr"/>
            <a:r>
              <a:rPr lang="en-US" altLang="en-US" sz="2400">
                <a:solidFill>
                  <a:schemeClr val="bg1"/>
                </a:solidFill>
              </a:rPr>
              <a:t>header</a:t>
            </a:r>
          </a:p>
        </p:txBody>
      </p:sp>
      <p:sp>
        <p:nvSpPr>
          <p:cNvPr id="38919" name="Rectangle 7"/>
          <p:cNvSpPr>
            <a:spLocks noChangeArrowheads="1"/>
          </p:cNvSpPr>
          <p:nvPr/>
        </p:nvSpPr>
        <p:spPr bwMode="auto">
          <a:xfrm>
            <a:off x="5791200" y="1676400"/>
            <a:ext cx="2209800" cy="7620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altLang="en-US" sz="2400">
                <a:solidFill>
                  <a:schemeClr val="bg1"/>
                </a:solidFill>
              </a:rPr>
              <a:t>Higher</a:t>
            </a:r>
          </a:p>
          <a:p>
            <a:pPr algn="ctr"/>
            <a:r>
              <a:rPr lang="en-US" altLang="en-US" sz="2400">
                <a:solidFill>
                  <a:schemeClr val="bg1"/>
                </a:solidFill>
              </a:rPr>
              <a:t>layer protocol</a:t>
            </a:r>
          </a:p>
        </p:txBody>
      </p:sp>
      <p:sp>
        <p:nvSpPr>
          <p:cNvPr id="38920" name="Rectangle 8"/>
          <p:cNvSpPr>
            <a:spLocks noChangeArrowheads="1"/>
          </p:cNvSpPr>
          <p:nvPr/>
        </p:nvSpPr>
        <p:spPr bwMode="auto">
          <a:xfrm>
            <a:off x="3124200" y="2667000"/>
            <a:ext cx="1295400" cy="762000"/>
          </a:xfrm>
          <a:prstGeom prst="rect">
            <a:avLst/>
          </a:prstGeom>
          <a:solidFill>
            <a:schemeClr val="accent2"/>
          </a:solidFill>
          <a:ln w="12700">
            <a:solidFill>
              <a:schemeClr val="tx1"/>
            </a:solidFill>
            <a:miter lim="800000"/>
            <a:headEnd type="none" w="sm" len="sm"/>
            <a:tailEnd type="none" w="sm" len="sm"/>
          </a:ln>
        </p:spPr>
        <p:txBody>
          <a:bodyPr wrap="none" anchor="ctr"/>
          <a:lstStyle/>
          <a:p>
            <a:pPr algn="ctr"/>
            <a:r>
              <a:rPr lang="en-US" altLang="en-US" sz="2400">
                <a:solidFill>
                  <a:schemeClr val="bg1"/>
                </a:solidFill>
              </a:rPr>
              <a:t>ESP</a:t>
            </a:r>
          </a:p>
        </p:txBody>
      </p:sp>
      <p:sp>
        <p:nvSpPr>
          <p:cNvPr id="38921" name="Rectangle 9"/>
          <p:cNvSpPr>
            <a:spLocks noChangeArrowheads="1"/>
          </p:cNvSpPr>
          <p:nvPr/>
        </p:nvSpPr>
        <p:spPr bwMode="auto">
          <a:xfrm>
            <a:off x="3124200" y="3886200"/>
            <a:ext cx="1295400" cy="762000"/>
          </a:xfrm>
          <a:prstGeom prst="rect">
            <a:avLst/>
          </a:prstGeom>
          <a:solidFill>
            <a:schemeClr val="accent2"/>
          </a:solidFill>
          <a:ln w="12700">
            <a:solidFill>
              <a:schemeClr val="tx1"/>
            </a:solidFill>
            <a:miter lim="800000"/>
            <a:headEnd type="none" w="sm" len="sm"/>
            <a:tailEnd type="none" w="sm" len="sm"/>
          </a:ln>
        </p:spPr>
        <p:txBody>
          <a:bodyPr wrap="none" anchor="ctr"/>
          <a:lstStyle/>
          <a:p>
            <a:pPr algn="ctr"/>
            <a:r>
              <a:rPr lang="en-US" altLang="en-US" sz="2400">
                <a:solidFill>
                  <a:schemeClr val="bg1"/>
                </a:solidFill>
              </a:rPr>
              <a:t>AH</a:t>
            </a:r>
          </a:p>
        </p:txBody>
      </p:sp>
      <p:sp>
        <p:nvSpPr>
          <p:cNvPr id="38922" name="AutoShape 10"/>
          <p:cNvSpPr>
            <a:spLocks noChangeArrowheads="1"/>
          </p:cNvSpPr>
          <p:nvPr/>
        </p:nvSpPr>
        <p:spPr bwMode="auto">
          <a:xfrm>
            <a:off x="4419600" y="3352800"/>
            <a:ext cx="2209800" cy="228600"/>
          </a:xfrm>
          <a:prstGeom prst="rightArrow">
            <a:avLst>
              <a:gd name="adj1" fmla="val 50000"/>
              <a:gd name="adj2" fmla="val 241667"/>
            </a:avLst>
          </a:prstGeom>
          <a:solidFill>
            <a:schemeClr val="accent1"/>
          </a:solidFill>
          <a:ln w="12700">
            <a:solidFill>
              <a:schemeClr val="tx1"/>
            </a:solidFill>
            <a:miter lim="800000"/>
            <a:headEnd type="none" w="sm" len="sm"/>
            <a:tailEnd type="none" w="sm" len="sm"/>
          </a:ln>
        </p:spPr>
        <p:txBody>
          <a:bodyPr wrap="none" anchor="ctr"/>
          <a:lstStyle/>
          <a:p>
            <a:endParaRPr lang="en-US" altLang="en-US" sz="1600">
              <a:solidFill>
                <a:schemeClr val="bg1"/>
              </a:solidFill>
            </a:endParaRPr>
          </a:p>
        </p:txBody>
      </p:sp>
      <p:sp>
        <p:nvSpPr>
          <p:cNvPr id="38923" name="AutoShape 11"/>
          <p:cNvSpPr>
            <a:spLocks noChangeArrowheads="1"/>
          </p:cNvSpPr>
          <p:nvPr/>
        </p:nvSpPr>
        <p:spPr bwMode="auto">
          <a:xfrm>
            <a:off x="1981200" y="4572000"/>
            <a:ext cx="5562600" cy="228600"/>
          </a:xfrm>
          <a:prstGeom prst="leftRightArrow">
            <a:avLst>
              <a:gd name="adj1" fmla="val 50000"/>
              <a:gd name="adj2" fmla="val 486667"/>
            </a:avLst>
          </a:prstGeom>
          <a:solidFill>
            <a:schemeClr val="accent1"/>
          </a:solidFill>
          <a:ln w="12700">
            <a:solidFill>
              <a:schemeClr val="tx1"/>
            </a:solidFill>
            <a:miter lim="800000"/>
            <a:headEnd type="none" w="sm" len="sm"/>
            <a:tailEnd type="none" w="sm" len="sm"/>
          </a:ln>
        </p:spPr>
        <p:txBody>
          <a:bodyPr wrap="none" anchor="ctr"/>
          <a:lstStyle/>
          <a:p>
            <a:endParaRPr lang="en-US" altLang="en-US" sz="1600">
              <a:solidFill>
                <a:schemeClr val="bg1"/>
              </a:solidFill>
            </a:endParaRPr>
          </a:p>
        </p:txBody>
      </p:sp>
      <p:sp>
        <p:nvSpPr>
          <p:cNvPr id="38924" name="Line 12"/>
          <p:cNvSpPr>
            <a:spLocks noChangeShapeType="1"/>
          </p:cNvSpPr>
          <p:nvPr/>
        </p:nvSpPr>
        <p:spPr bwMode="auto">
          <a:xfrm flipV="1">
            <a:off x="2057400" y="2514600"/>
            <a:ext cx="381000" cy="381000"/>
          </a:xfrm>
          <a:prstGeom prst="line">
            <a:avLst/>
          </a:prstGeom>
          <a:noFill/>
          <a:ln w="12700">
            <a:solidFill>
              <a:schemeClr val="bg1"/>
            </a:solidFill>
            <a:round/>
            <a:headEnd type="none" w="sm" len="sm"/>
            <a:tailEnd type="triangle" w="sm" len="sm"/>
          </a:ln>
        </p:spPr>
        <p:txBody>
          <a:bodyPr wrap="none" anchor="ctr"/>
          <a:lstStyle/>
          <a:p>
            <a:endParaRPr lang="en-US"/>
          </a:p>
        </p:txBody>
      </p:sp>
      <p:sp>
        <p:nvSpPr>
          <p:cNvPr id="38925" name="Line 13"/>
          <p:cNvSpPr>
            <a:spLocks noChangeShapeType="1"/>
          </p:cNvSpPr>
          <p:nvPr/>
        </p:nvSpPr>
        <p:spPr bwMode="auto">
          <a:xfrm flipH="1" flipV="1">
            <a:off x="5029200" y="2514600"/>
            <a:ext cx="838200" cy="457200"/>
          </a:xfrm>
          <a:prstGeom prst="line">
            <a:avLst/>
          </a:prstGeom>
          <a:noFill/>
          <a:ln w="12700">
            <a:solidFill>
              <a:schemeClr val="bg1"/>
            </a:solidFill>
            <a:round/>
            <a:headEnd type="none" w="sm" len="sm"/>
            <a:tailEnd type="triangle" w="sm" len="sm"/>
          </a:ln>
        </p:spPr>
        <p:txBody>
          <a:bodyPr wrap="none" anchor="ctr"/>
          <a:lstStyle/>
          <a:p>
            <a:endParaRPr lang="en-US"/>
          </a:p>
        </p:txBody>
      </p:sp>
      <p:sp>
        <p:nvSpPr>
          <p:cNvPr id="38926" name="Text Box 14"/>
          <p:cNvSpPr txBox="1">
            <a:spLocks noChangeArrowheads="1"/>
          </p:cNvSpPr>
          <p:nvPr/>
        </p:nvSpPr>
        <p:spPr bwMode="auto">
          <a:xfrm>
            <a:off x="5867400" y="2667000"/>
            <a:ext cx="2759075" cy="461963"/>
          </a:xfrm>
          <a:prstGeom prst="rect">
            <a:avLst/>
          </a:prstGeom>
          <a:noFill/>
          <a:ln w="12700">
            <a:noFill/>
            <a:miter lim="800000"/>
            <a:headEnd type="none" w="sm" len="sm"/>
            <a:tailEnd type="none" w="sm" len="sm"/>
          </a:ln>
        </p:spPr>
        <p:txBody>
          <a:bodyPr wrap="none">
            <a:spAutoFit/>
          </a:bodyPr>
          <a:lstStyle/>
          <a:p>
            <a:r>
              <a:rPr lang="en-US" altLang="en-US" sz="2400">
                <a:solidFill>
                  <a:schemeClr val="bg1"/>
                </a:solidFill>
              </a:rPr>
              <a:t>Real IP destination</a:t>
            </a:r>
          </a:p>
        </p:txBody>
      </p:sp>
      <p:sp>
        <p:nvSpPr>
          <p:cNvPr id="38927" name="Text Box 15"/>
          <p:cNvSpPr txBox="1">
            <a:spLocks noChangeArrowheads="1"/>
          </p:cNvSpPr>
          <p:nvPr/>
        </p:nvSpPr>
        <p:spPr bwMode="auto">
          <a:xfrm>
            <a:off x="1279525" y="2733675"/>
            <a:ext cx="1727200" cy="1200150"/>
          </a:xfrm>
          <a:prstGeom prst="rect">
            <a:avLst/>
          </a:prstGeom>
          <a:noFill/>
          <a:ln w="12700">
            <a:noFill/>
            <a:miter lim="800000"/>
            <a:headEnd type="none" w="sm" len="sm"/>
            <a:tailEnd type="none" w="sm" len="sm"/>
          </a:ln>
        </p:spPr>
        <p:txBody>
          <a:bodyPr wrap="none">
            <a:spAutoFit/>
          </a:bodyPr>
          <a:lstStyle/>
          <a:p>
            <a:r>
              <a:rPr lang="en-US" altLang="en-US" sz="2400">
                <a:solidFill>
                  <a:schemeClr val="bg1"/>
                </a:solidFill>
              </a:rPr>
              <a:t>Destination</a:t>
            </a:r>
          </a:p>
          <a:p>
            <a:r>
              <a:rPr lang="en-US" altLang="en-US" sz="2400">
                <a:solidFill>
                  <a:schemeClr val="bg1"/>
                </a:solidFill>
              </a:rPr>
              <a:t>IPSec</a:t>
            </a:r>
          </a:p>
          <a:p>
            <a:r>
              <a:rPr lang="en-US" altLang="en-US" sz="2400">
                <a:solidFill>
                  <a:schemeClr val="bg1"/>
                </a:solidFill>
              </a:rPr>
              <a:t>entity</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CPtemplate200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Ptemplate2000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Ptemplate2000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Ptemplate2000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Ptemplate2000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Ptemplate2000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Ptemplate2000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Ptemplate2000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12581</TotalTime>
  <Words>1557</Words>
  <Application>Microsoft Macintosh PowerPoint</Application>
  <PresentationFormat>On-screen Show (4:3)</PresentationFormat>
  <Paragraphs>280</Paragraphs>
  <Slides>36</Slides>
  <Notes>19</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7" baseType="lpstr">
      <vt:lpstr>B Lotus</vt:lpstr>
      <vt:lpstr>Calibri</vt:lpstr>
      <vt:lpstr>Cambria</vt:lpstr>
      <vt:lpstr>Helvetica</vt:lpstr>
      <vt:lpstr>Monotype Sorts</vt:lpstr>
      <vt:lpstr>Times New Roman</vt:lpstr>
      <vt:lpstr>Times-Roman</vt:lpstr>
      <vt:lpstr>Wingdings</vt:lpstr>
      <vt:lpstr>Arial</vt:lpstr>
      <vt:lpstr>CPtemplate2000</vt:lpstr>
      <vt:lpstr>Clip</vt:lpstr>
      <vt:lpstr>Virtual Private Network</vt:lpstr>
      <vt:lpstr>Virtual Private Networks</vt:lpstr>
      <vt:lpstr>Virtual Private Network is a type of private network that uses public telecommunication, such as the Internet, instead of leased lines to communicate.   VPNs enabled more flexible use of larger networks by removing network geography constraints from shared-insider LAN/Intranet associations and services.   </vt:lpstr>
      <vt:lpstr>What problems do VPNs solve ?</vt:lpstr>
      <vt:lpstr>What security problems do VPNs not solve ?</vt:lpstr>
      <vt:lpstr>Tunneling</vt:lpstr>
      <vt:lpstr>VPN Architecture</vt:lpstr>
      <vt:lpstr>Encapsulation</vt:lpstr>
      <vt:lpstr>PowerPoint Presentation</vt:lpstr>
      <vt:lpstr>Authentication</vt:lpstr>
      <vt:lpstr>Encryption</vt:lpstr>
      <vt:lpstr>VPN Topology: Types of VPNs</vt:lpstr>
      <vt:lpstr>Types of VPNs</vt:lpstr>
      <vt:lpstr>Types of VPNs</vt:lpstr>
      <vt:lpstr>Types of VPNs</vt:lpstr>
      <vt:lpstr>Types of VPNs</vt:lpstr>
      <vt:lpstr>VPN Topology: How it works</vt:lpstr>
      <vt:lpstr>VPN Components: Protocols</vt:lpstr>
      <vt:lpstr>VPN Components: Protocols </vt:lpstr>
      <vt:lpstr>Point-to-Point Tunneling Protocol (PPTP)</vt:lpstr>
      <vt:lpstr>PPP</vt:lpstr>
      <vt:lpstr>PPTP</vt:lpstr>
      <vt:lpstr>PPTP</vt:lpstr>
      <vt:lpstr>PPTP</vt:lpstr>
      <vt:lpstr>PPTP</vt:lpstr>
      <vt:lpstr>PPTP</vt:lpstr>
      <vt:lpstr>PPTP</vt:lpstr>
      <vt:lpstr>PowerPoint Presentation</vt:lpstr>
      <vt:lpstr>PowerPoint Presentation</vt:lpstr>
      <vt:lpstr>IPSec</vt:lpstr>
      <vt:lpstr>IPSec Uses</vt:lpstr>
      <vt:lpstr>Benefits of IPSec</vt:lpstr>
      <vt:lpstr>Architecture &amp; Concepts</vt:lpstr>
      <vt:lpstr>PowerPoint Presentation</vt:lpstr>
      <vt:lpstr>Transport Mode</vt:lpstr>
      <vt:lpstr>Tunnel Mode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VPN Technology</dc:title>
  <dc:creator>Ali</dc:creator>
  <cp:lastModifiedBy>Microsoft Office User</cp:lastModifiedBy>
  <cp:revision>97</cp:revision>
  <dcterms:modified xsi:type="dcterms:W3CDTF">2018-05-14T06:38:26Z</dcterms:modified>
</cp:coreProperties>
</file>